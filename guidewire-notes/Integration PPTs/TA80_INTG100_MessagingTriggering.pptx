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26.xml" ContentType="application/vnd.openxmlformats-officedocument.presentationml.slide+xml"/>
  <Override PartName="/ppt/slides/slide13.xml" ContentType="application/vnd.openxmlformats-officedocument.presentationml.slide+xml"/>
  <Override PartName="/ppt/slides/slide15.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14.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16.xml" ContentType="application/vnd.openxmlformats-officedocument.presentationml.notesSlide+xml"/>
  <Override PartName="/ppt/notesSlides/notesSlide21.xml" ContentType="application/vnd.openxmlformats-officedocument.presentationml.notesSlide+xml"/>
  <Override PartName="/ppt/slideMasters/slideMaster1.xml" ContentType="application/vnd.openxmlformats-officedocument.presentationml.slideMaster+xml"/>
  <Override PartName="/ppt/notesSlides/notesSlide26.xml" ContentType="application/vnd.openxmlformats-officedocument.presentationml.notes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22.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slideLayouts/slideLayout23.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20.xml" ContentType="application/vnd.openxmlformats-officedocument.presentationml.slideLayout+xml"/>
  <Override PartName="/ppt/slideLayouts/slideLayout19.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31.xml" ContentType="application/vnd.openxmlformats-officedocument.presentationml.slideLayout+xml"/>
  <Override PartName="/ppt/slideLayouts/slideLayout30.xml" ContentType="application/vnd.openxmlformats-officedocument.presentationml.slideLayout+xml"/>
  <Override PartName="/ppt/slideLayouts/slideLayout29.xml" ContentType="application/vnd.openxmlformats-officedocument.presentationml.slideLayout+xml"/>
  <Override PartName="/ppt/slideLayouts/slideLayout28.xml" ContentType="application/vnd.openxmlformats-officedocument.presentationml.slideLayout+xml"/>
  <Override PartName="/ppt/slideLayouts/slideLayout2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5.xml" ContentType="application/vnd.openxmlformats-officedocument.presentationml.notesSlide+xml"/>
  <Override PartName="/ppt/slideLayouts/slideLayout40.xml" ContentType="application/vnd.openxmlformats-officedocument.presentationml.slideLayout+xml"/>
  <Override PartName="/ppt/slideLayouts/slideLayout39.xml" ContentType="application/vnd.openxmlformats-officedocument.presentationml.slideLayout+xml"/>
  <Override PartName="/ppt/slideLayouts/slideLayout38.xml" ContentType="application/vnd.openxmlformats-officedocument.presentationml.slideLayout+xml"/>
  <Override PartName="/ppt/slideLayouts/slideLayout3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commentAuthors.xml" ContentType="application/vnd.openxmlformats-officedocument.presentationml.commentAuthor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3" r:id="rId1"/>
  </p:sldMasterIdLst>
  <p:notesMasterIdLst>
    <p:notesMasterId r:id="rId28"/>
  </p:notesMasterIdLst>
  <p:handoutMasterIdLst>
    <p:handoutMasterId r:id="rId29"/>
  </p:handoutMasterIdLst>
  <p:sldIdLst>
    <p:sldId id="256" r:id="rId2"/>
    <p:sldId id="258" r:id="rId3"/>
    <p:sldId id="260" r:id="rId4"/>
    <p:sldId id="262" r:id="rId5"/>
    <p:sldId id="267" r:id="rId6"/>
    <p:sldId id="268" r:id="rId7"/>
    <p:sldId id="270" r:id="rId8"/>
    <p:sldId id="269" r:id="rId9"/>
    <p:sldId id="271" r:id="rId10"/>
    <p:sldId id="263" r:id="rId11"/>
    <p:sldId id="264" r:id="rId12"/>
    <p:sldId id="272" r:id="rId13"/>
    <p:sldId id="273" r:id="rId14"/>
    <p:sldId id="274" r:id="rId15"/>
    <p:sldId id="265" r:id="rId16"/>
    <p:sldId id="277" r:id="rId17"/>
    <p:sldId id="278" r:id="rId18"/>
    <p:sldId id="276" r:id="rId19"/>
    <p:sldId id="279" r:id="rId20"/>
    <p:sldId id="266" r:id="rId21"/>
    <p:sldId id="280" r:id="rId22"/>
    <p:sldId id="281" r:id="rId23"/>
    <p:sldId id="285" r:id="rId24"/>
    <p:sldId id="259" r:id="rId25"/>
    <p:sldId id="261" r:id="rId26"/>
    <p:sldId id="257"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26AE2123-7141-408B-B47D-13C5F80DF105}">
          <p14:sldIdLst>
            <p14:sldId id="256"/>
            <p14:sldId id="258"/>
          </p14:sldIdLst>
        </p14:section>
        <p14:section name="Entities" id="{84194DF8-A8CF-4C0F-95D8-8FD1EE64D905}">
          <p14:sldIdLst>
            <p14:sldId id="260"/>
            <p14:sldId id="262"/>
            <p14:sldId id="267"/>
            <p14:sldId id="268"/>
            <p14:sldId id="270"/>
            <p14:sldId id="269"/>
            <p14:sldId id="271"/>
          </p14:sldIdLst>
        </p14:section>
        <p14:section name="Destinations" id="{4AD0C565-5A55-462A-8A51-6A3E06A9A765}">
          <p14:sldIdLst>
            <p14:sldId id="263"/>
            <p14:sldId id="264"/>
            <p14:sldId id="272"/>
            <p14:sldId id="273"/>
            <p14:sldId id="274"/>
          </p14:sldIdLst>
        </p14:section>
        <p14:section name="Event Fired Rules" id="{DD9E96CF-9738-4120-A9DD-963887FA4F74}">
          <p14:sldIdLst>
            <p14:sldId id="265"/>
            <p14:sldId id="277"/>
            <p14:sldId id="278"/>
            <p14:sldId id="276"/>
            <p14:sldId id="279"/>
            <p14:sldId id="266"/>
            <p14:sldId id="280"/>
            <p14:sldId id="281"/>
            <p14:sldId id="285"/>
          </p14:sldIdLst>
        </p14:section>
        <p14:section name="Review" id="{1208A69D-98E7-43F0-9816-CD597CFBB601}">
          <p14:sldIdLst>
            <p14:sldId id="259"/>
            <p14:sldId id="261"/>
            <p14:sldId id="257"/>
          </p14:sldIdLst>
        </p14:section>
      </p14:section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eth Luersen" initials="sl" lastIdx="7" clrIdx="0"/>
  <p:cmAuthor id="1" name="Guidewire Education" initials="sluersen" lastIdx="13"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24520" autoAdjust="0"/>
    <p:restoredTop sz="66390" autoAdjust="0"/>
  </p:normalViewPr>
  <p:slideViewPr>
    <p:cSldViewPr showGuides="1">
      <p:cViewPr varScale="1">
        <p:scale>
          <a:sx n="88" d="100"/>
          <a:sy n="88" d="100"/>
        </p:scale>
        <p:origin x="-1260" y="-114"/>
      </p:cViewPr>
      <p:guideLst>
        <p:guide orient="horz"/>
        <p:guide orient="horz" pos="2352"/>
        <p:guide orient="horz" pos="576"/>
        <p:guide orient="horz" pos="3072"/>
        <p:guide pos="2784"/>
        <p:guide pos="4176"/>
      </p:guideLst>
    </p:cSldViewPr>
  </p:slideViewPr>
  <p:notesTextViewPr>
    <p:cViewPr>
      <p:scale>
        <a:sx n="150" d="100"/>
        <a:sy n="150" d="100"/>
      </p:scale>
      <p:origin x="0" y="0"/>
    </p:cViewPr>
  </p:notesTextViewPr>
  <p:sorterViewPr>
    <p:cViewPr>
      <p:scale>
        <a:sx n="66" d="100"/>
        <a:sy n="66" d="100"/>
      </p:scale>
      <p:origin x="0" y="0"/>
    </p:cViewPr>
  </p:sorterViewPr>
  <p:notesViewPr>
    <p:cSldViewPr showGuides="1">
      <p:cViewPr varScale="1">
        <p:scale>
          <a:sx n="84" d="100"/>
          <a:sy n="84" d="100"/>
        </p:scale>
        <p:origin x="-3762" y="-90"/>
      </p:cViewPr>
      <p:guideLst>
        <p:guide orient="horz"/>
        <p:guide/>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37"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commentAuthors" Target="commentAuthors.xml"/><Relationship Id="rId35" Type="http://schemas.openxmlformats.org/officeDocument/2006/relationships/customXml" Target="../customXml/item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B0435FB-616F-428E-8B59-652E1B735B94}" type="datetimeFigureOut">
              <a:rPr lang="en-US" smtClean="0"/>
              <a:t>5/16/2014</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29F476C-716D-4D92-B0B8-B6A8CF4642D9}" type="slidenum">
              <a:rPr lang="en-US" smtClean="0"/>
              <a:t>‹#›</a:t>
            </a:fld>
            <a:endParaRPr lang="en-US" dirty="0"/>
          </a:p>
        </p:txBody>
      </p:sp>
    </p:spTree>
    <p:extLst>
      <p:ext uri="{BB962C8B-B14F-4D97-AF65-F5344CB8AC3E}">
        <p14:creationId xmlns:p14="http://schemas.microsoft.com/office/powerpoint/2010/main" val="14312022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012" y="1"/>
            <a:ext cx="6862011" cy="228599"/>
          </a:xfrm>
          <a:prstGeom prst="rect">
            <a:avLst/>
          </a:prstGeom>
        </p:spPr>
        <p:txBody>
          <a:bodyPr vert="horz" lIns="91440" tIns="45720" rIns="91440" bIns="45720" rtlCol="0"/>
          <a:lstStyle>
            <a:lvl1pPr algn="l">
              <a:defRPr sz="1200">
                <a:latin typeface="Arial" pitchFamily="34" charset="0"/>
                <a:cs typeface="Arial" pitchFamily="34" charset="0"/>
              </a:defRPr>
            </a:lvl1pPr>
          </a:lstStyle>
          <a:p>
            <a:endParaRPr lang="en-US" dirty="0"/>
          </a:p>
        </p:txBody>
      </p:sp>
      <p:sp>
        <p:nvSpPr>
          <p:cNvPr id="4" name="Slide Image Placeholder 3"/>
          <p:cNvSpPr>
            <a:spLocks noGrp="1" noRot="1" noChangeAspect="1"/>
          </p:cNvSpPr>
          <p:nvPr>
            <p:ph type="sldImg" idx="2"/>
          </p:nvPr>
        </p:nvSpPr>
        <p:spPr>
          <a:xfrm>
            <a:off x="800100" y="304800"/>
            <a:ext cx="5257800" cy="394335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152400" y="4343400"/>
            <a:ext cx="6553200" cy="4343400"/>
          </a:xfrm>
          <a:prstGeom prst="rect">
            <a:avLst/>
          </a:prstGeom>
        </p:spPr>
        <p:txBody>
          <a:bodyPr vert="horz" lIns="91440" tIns="45720" rIns="91440" bIns="45720" rtlCol="0"/>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hidden="1"/>
          <p:cNvSpPr>
            <a:spLocks noGrp="1"/>
          </p:cNvSpPr>
          <p:nvPr>
            <p:ph type="ftr" sz="quarter" idx="4"/>
          </p:nvPr>
        </p:nvSpPr>
        <p:spPr>
          <a:xfrm>
            <a:off x="76200" y="8799443"/>
            <a:ext cx="3581400" cy="303213"/>
          </a:xfrm>
          <a:prstGeom prst="rect">
            <a:avLst/>
          </a:prstGeom>
        </p:spPr>
        <p:txBody>
          <a:bodyPr vert="horz" lIns="91440" tIns="45720" rIns="91440" bIns="45720" rtlCol="0" anchor="b"/>
          <a:lstStyle>
            <a:lvl1pPr algn="l">
              <a:defRPr sz="800">
                <a:latin typeface="Arial" pitchFamily="34" charset="0"/>
                <a:cs typeface="Arial" pitchFamily="34" charset="0"/>
              </a:defRPr>
            </a:lvl1pPr>
          </a:lstStyle>
          <a:p>
            <a:endParaRPr lang="en-US" dirty="0"/>
          </a:p>
        </p:txBody>
      </p:sp>
      <p:sp>
        <p:nvSpPr>
          <p:cNvPr id="7" name="Slide Number Placeholder 6"/>
          <p:cNvSpPr>
            <a:spLocks noGrp="1"/>
          </p:cNvSpPr>
          <p:nvPr>
            <p:ph type="sldNum" sz="quarter" idx="5"/>
          </p:nvPr>
        </p:nvSpPr>
        <p:spPr>
          <a:xfrm>
            <a:off x="3884613" y="8775380"/>
            <a:ext cx="2971800" cy="303212"/>
          </a:xfrm>
          <a:prstGeom prst="rect">
            <a:avLst/>
          </a:prstGeom>
        </p:spPr>
        <p:txBody>
          <a:bodyPr vert="horz" lIns="91440" tIns="45720" rIns="91440" bIns="45720" rtlCol="0" anchor="b"/>
          <a:lstStyle>
            <a:lvl1pPr algn="r">
              <a:defRPr sz="800">
                <a:latin typeface="Arial" pitchFamily="34" charset="0"/>
                <a:cs typeface="Arial" pitchFamily="34" charset="0"/>
              </a:defRPr>
            </a:lvl1pPr>
          </a:lstStyle>
          <a:p>
            <a:fld id="{BC59C1E8-2E88-4BF4-A80C-B8AE78323CDF}" type="slidenum">
              <a:rPr lang="en-US" smtClean="0"/>
              <a:pPr/>
              <a:t>‹#›</a:t>
            </a:fld>
            <a:endParaRPr lang="en-US" dirty="0"/>
          </a:p>
        </p:txBody>
      </p:sp>
      <p:sp>
        <p:nvSpPr>
          <p:cNvPr id="8" name="txt_CopyrightFooter"/>
          <p:cNvSpPr/>
          <p:nvPr/>
        </p:nvSpPr>
        <p:spPr>
          <a:xfrm>
            <a:off x="76200" y="8763000"/>
            <a:ext cx="3581400" cy="338554"/>
          </a:xfrm>
          <a:prstGeom prst="rect">
            <a:avLst/>
          </a:prstGeom>
        </p:spPr>
        <p:txBody>
          <a:bodyPr vert="horz" lIns="91440" tIns="45720" rIns="91440" bIns="45720" rtlCol="0" anchor="b"/>
          <a:lstStyle/>
          <a:p>
            <a:pPr lvl="0"/>
            <a:r>
              <a:rPr lang="en-US" sz="800" dirty="0" smtClean="0">
                <a:latin typeface="Arial" pitchFamily="34" charset="0"/>
                <a:cs typeface="Arial" pitchFamily="34" charset="0"/>
              </a:rPr>
              <a:t>© Guidewire Software, Inc. 2001-2014. All rights reserved.</a:t>
            </a:r>
            <a:br>
              <a:rPr lang="en-US" sz="800" dirty="0" smtClean="0">
                <a:latin typeface="Arial" pitchFamily="34" charset="0"/>
                <a:cs typeface="Arial" pitchFamily="34" charset="0"/>
              </a:rPr>
            </a:br>
            <a:r>
              <a:rPr lang="en-US" sz="800" dirty="0" smtClean="0">
                <a:latin typeface="Arial" pitchFamily="34" charset="0"/>
                <a:cs typeface="Arial" pitchFamily="34" charset="0"/>
              </a:rPr>
              <a:t>Do not distribute without permission.</a:t>
            </a:r>
            <a:endParaRPr lang="en-US" sz="800" dirty="0">
              <a:latin typeface="Arial" pitchFamily="34" charset="0"/>
              <a:cs typeface="Arial" pitchFamily="34" charset="0"/>
            </a:endParaRPr>
          </a:p>
        </p:txBody>
      </p:sp>
    </p:spTree>
    <p:extLst>
      <p:ext uri="{BB962C8B-B14F-4D97-AF65-F5344CB8AC3E}">
        <p14:creationId xmlns:p14="http://schemas.microsoft.com/office/powerpoint/2010/main" val="2150224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Arial" pitchFamily="34" charset="0"/>
      </a:defRPr>
    </a:lvl1pPr>
    <a:lvl2pPr marL="228600" indent="0" algn="l" defTabSz="914400" rtl="0" eaLnBrk="1" latinLnBrk="0" hangingPunct="1">
      <a:defRPr sz="1000" kern="1200">
        <a:solidFill>
          <a:schemeClr val="tx1"/>
        </a:solidFill>
        <a:latin typeface="Arial" pitchFamily="34" charset="0"/>
        <a:ea typeface="+mn-ea"/>
        <a:cs typeface="Arial" pitchFamily="34" charset="0"/>
      </a:defRPr>
    </a:lvl2pPr>
    <a:lvl3pPr marL="457200" indent="0" algn="l" defTabSz="914400" rtl="0" eaLnBrk="1" latinLnBrk="0" hangingPunct="1">
      <a:defRPr sz="1000" kern="1200">
        <a:solidFill>
          <a:schemeClr val="tx1"/>
        </a:solidFill>
        <a:latin typeface="Arial" pitchFamily="34" charset="0"/>
        <a:ea typeface="+mn-ea"/>
        <a:cs typeface="Arial" pitchFamily="34" charset="0"/>
      </a:defRPr>
    </a:lvl3pPr>
    <a:lvl4pPr marL="685800" indent="0" algn="l" defTabSz="914400" rtl="0" eaLnBrk="1" latinLnBrk="0" hangingPunct="1">
      <a:defRPr sz="1000" kern="1200">
        <a:solidFill>
          <a:schemeClr val="tx1"/>
        </a:solidFill>
        <a:latin typeface="Arial" pitchFamily="34" charset="0"/>
        <a:ea typeface="+mn-ea"/>
        <a:cs typeface="Arial" pitchFamily="34" charset="0"/>
      </a:defRPr>
    </a:lvl4pPr>
    <a:lvl5pPr marL="914400" indent="0" algn="l" defTabSz="914400" rtl="0" eaLnBrk="1" latinLnBrk="0" hangingPunct="1">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Guidewire training materials contain Guidewire proprietary information that is subject to confidentiality and non-disclosure agreements. You agree to use the information in this manual solely for the purpose of training to implement Guidewire software solutions. You also agree not to disclose the information in this manual to third parties or copy this manual without prior written consent from Guidewire. Guidewire training may be given only by Guidewire employees or certified Guidewire partners under the appropriate agreement with Guidewire.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a:t>
            </a:fld>
            <a:endParaRPr lang="en-US" dirty="0"/>
          </a:p>
        </p:txBody>
      </p:sp>
    </p:spTree>
    <p:extLst>
      <p:ext uri="{BB962C8B-B14F-4D97-AF65-F5344CB8AC3E}">
        <p14:creationId xmlns:p14="http://schemas.microsoft.com/office/powerpoint/2010/main" val="30639066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a:t>
            </a:fld>
            <a:endParaRPr lang="en-US" dirty="0"/>
          </a:p>
        </p:txBody>
      </p:sp>
    </p:spTree>
    <p:extLst>
      <p:ext uri="{BB962C8B-B14F-4D97-AF65-F5344CB8AC3E}">
        <p14:creationId xmlns:p14="http://schemas.microsoft.com/office/powerpoint/2010/main" val="1011680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a:t>
            </a:fld>
            <a:endParaRPr lang="en-US" dirty="0"/>
          </a:p>
        </p:txBody>
      </p:sp>
    </p:spTree>
    <p:extLst>
      <p:ext uri="{BB962C8B-B14F-4D97-AF65-F5344CB8AC3E}">
        <p14:creationId xmlns:p14="http://schemas.microsoft.com/office/powerpoint/2010/main" val="33016092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Most</a:t>
            </a:r>
            <a:r>
              <a:rPr lang="en-US" baseline="0" dirty="0" smtClean="0"/>
              <a:t> entities are persistent</a:t>
            </a:r>
            <a:r>
              <a:rPr lang="en-US" dirty="0" smtClean="0"/>
              <a:t> entities.  Persistent entities</a:t>
            </a:r>
            <a:r>
              <a:rPr lang="en-US" baseline="0" dirty="0" smtClean="0"/>
              <a:t> describe specific </a:t>
            </a:r>
            <a:r>
              <a:rPr lang="en-US" dirty="0" smtClean="0"/>
              <a:t>information</a:t>
            </a:r>
            <a:r>
              <a:rPr lang="en-US" baseline="0" dirty="0" smtClean="0"/>
              <a:t> and store data i</a:t>
            </a:r>
            <a:r>
              <a:rPr lang="en-US" dirty="0" smtClean="0"/>
              <a:t>n the database. An</a:t>
            </a:r>
            <a:r>
              <a:rPr lang="en-US" baseline="0" dirty="0" smtClean="0"/>
              <a:t> event-aware entity is specifies an &lt;events /&gt; element in its definition which means that the entity delegates to the EventAware delegate. </a:t>
            </a:r>
            <a:r>
              <a:rPr lang="en-US" sz="1200" b="0" i="0" kern="1200" dirty="0" smtClean="0">
                <a:solidFill>
                  <a:schemeClr val="tx1"/>
                </a:solidFill>
                <a:effectLst/>
                <a:latin typeface="Arial" pitchFamily="34" charset="0"/>
                <a:ea typeface="+mn-ea"/>
                <a:cs typeface="Arial" pitchFamily="34" charset="0"/>
              </a:rPr>
              <a:t>A delegate is an entity associated with an implemented interface that multiple parent entities can reuse.  The</a:t>
            </a:r>
            <a:r>
              <a:rPr lang="en-US" sz="1200" b="0" i="0" kern="1200" baseline="0" dirty="0" smtClean="0">
                <a:solidFill>
                  <a:schemeClr val="tx1"/>
                </a:solidFill>
                <a:effectLst/>
                <a:latin typeface="Arial" pitchFamily="34" charset="0"/>
                <a:ea typeface="+mn-ea"/>
                <a:cs typeface="Arial" pitchFamily="34" charset="0"/>
              </a:rPr>
              <a:t> EventAware entity is an internal, non-persistent entity that implements the messaging interface.  For all entities that implement the EventAware delegate, the Guidewire application automatically creates specific events: entityNameChanged, entityNameRemoved, and entityNameAdded.  </a:t>
            </a:r>
            <a:endParaRPr lang="en-US" baseline="0" dirty="0" smtClean="0"/>
          </a:p>
          <a:p>
            <a:endParaRPr lang="en-US" dirty="0" smtClean="0"/>
          </a:p>
          <a:p>
            <a:r>
              <a:rPr lang="en-US" dirty="0" smtClean="0"/>
              <a:t>MessageContext is an internal,</a:t>
            </a:r>
            <a:r>
              <a:rPr lang="en-US" baseline="0" dirty="0" smtClean="0"/>
              <a:t> non-p</a:t>
            </a:r>
            <a:r>
              <a:rPr lang="en-US" dirty="0" smtClean="0"/>
              <a:t>ersistent</a:t>
            </a:r>
            <a:r>
              <a:rPr lang="en-US" baseline="0" dirty="0" smtClean="0"/>
              <a:t> entity. Internal, non-persistent entities are virtual entities that are created a run-time and do not store data in the database.</a:t>
            </a:r>
          </a:p>
          <a:p>
            <a:endParaRPr lang="en-US" baseline="0" dirty="0" smtClean="0"/>
          </a:p>
          <a:p>
            <a:r>
              <a:rPr lang="en-US" baseline="0" dirty="0" smtClean="0"/>
              <a:t>Message is a persistent entity that stores information about the message process in the Message database table.  Users do not create message entities.</a:t>
            </a:r>
          </a:p>
        </p:txBody>
      </p:sp>
      <p:sp>
        <p:nvSpPr>
          <p:cNvPr id="4" name="Slide Number Placeholder 3"/>
          <p:cNvSpPr>
            <a:spLocks noGrp="1"/>
          </p:cNvSpPr>
          <p:nvPr>
            <p:ph type="sldNum" sz="quarter" idx="10"/>
          </p:nvPr>
        </p:nvSpPr>
        <p:spPr/>
        <p:txBody>
          <a:bodyPr/>
          <a:lstStyle/>
          <a:p>
            <a:fld id="{BC59C1E8-2E88-4BF4-A80C-B8AE78323CDF}" type="slidenum">
              <a:rPr lang="en-US" smtClean="0"/>
              <a:pPr/>
              <a:t>4</a:t>
            </a:fld>
            <a:endParaRPr lang="en-US" dirty="0"/>
          </a:p>
        </p:txBody>
      </p:sp>
    </p:spTree>
    <p:extLst>
      <p:ext uri="{BB962C8B-B14F-4D97-AF65-F5344CB8AC3E}">
        <p14:creationId xmlns:p14="http://schemas.microsoft.com/office/powerpoint/2010/main" val="34479293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t>You can identify that an entity is EventAware by reviewing the entity</a:t>
            </a:r>
            <a:r>
              <a:rPr lang="en-US" baseline="0" dirty="0" smtClean="0"/>
              <a:t> in the Entity Editor in Guidewire Studio. You can also review t</a:t>
            </a:r>
            <a:r>
              <a:rPr lang="en-US" dirty="0" smtClean="0"/>
              <a:t>he Data Dictionary to see the entity</a:t>
            </a:r>
            <a:r>
              <a:rPr lang="en-US" baseline="0" dirty="0" smtClean="0"/>
              <a:t> </a:t>
            </a:r>
            <a:r>
              <a:rPr lang="en-US" dirty="0" smtClean="0"/>
              <a:t>implements the EventAware delegate. </a:t>
            </a:r>
          </a:p>
          <a:p>
            <a:pPr eaLnBrk="1" hangingPunct="1"/>
            <a:endParaRPr lang="en-US" dirty="0" smtClean="0"/>
          </a:p>
        </p:txBody>
      </p:sp>
      <p:sp>
        <p:nvSpPr>
          <p:cNvPr id="4" name="Slide Number Placeholder 3"/>
          <p:cNvSpPr>
            <a:spLocks noGrp="1"/>
          </p:cNvSpPr>
          <p:nvPr>
            <p:ph type="sldNum" sz="quarter" idx="10"/>
          </p:nvPr>
        </p:nvSpPr>
        <p:spPr/>
        <p:txBody>
          <a:bodyPr/>
          <a:lstStyle/>
          <a:p>
            <a:fld id="{BC59C1E8-2E88-4BF4-A80C-B8AE78323CDF}" type="slidenum">
              <a:rPr lang="en-US" smtClean="0"/>
              <a:pPr/>
              <a:t>5</a:t>
            </a:fld>
            <a:endParaRPr lang="en-US" dirty="0"/>
          </a:p>
        </p:txBody>
      </p:sp>
    </p:spTree>
    <p:extLst>
      <p:ext uri="{BB962C8B-B14F-4D97-AF65-F5344CB8AC3E}">
        <p14:creationId xmlns:p14="http://schemas.microsoft.com/office/powerpoint/2010/main" val="13077140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messaging event typically occurs when an instance of an EventAware entity is created, changed, or deleted</a:t>
            </a:r>
            <a:r>
              <a:rPr lang="en-US" dirty="0"/>
              <a:t>. Almost every </a:t>
            </a:r>
            <a:r>
              <a:rPr lang="en-US" dirty="0" smtClean="0"/>
              <a:t>EventAware </a:t>
            </a:r>
            <a:r>
              <a:rPr lang="en-US" dirty="0"/>
              <a:t>entity has Added, Changed, and Removed events. </a:t>
            </a:r>
            <a:r>
              <a:rPr lang="en-US" dirty="0" smtClean="0"/>
              <a:t>The full list of events for each application is listed in the application's Integration Guide. You can also find this information in the Data Dictionary. In the Data Dictionary, there is a Messaging Events section that lists the message events for the EventAware entity.  </a:t>
            </a:r>
          </a:p>
          <a:p>
            <a:endParaRPr lang="en-US" dirty="0"/>
          </a:p>
          <a:p>
            <a:r>
              <a:rPr lang="en-US" dirty="0" smtClean="0"/>
              <a:t>An entity can have additional events, such as:</a:t>
            </a:r>
          </a:p>
          <a:p>
            <a:pPr marL="171450" indent="-171450">
              <a:buFont typeface="Arial" pitchFamily="34" charset="0"/>
              <a:buChar char="•"/>
            </a:pPr>
            <a:r>
              <a:rPr lang="en-US" dirty="0" smtClean="0"/>
              <a:t>ClaimCenter: </a:t>
            </a:r>
          </a:p>
          <a:p>
            <a:pPr marL="400050" lvl="1" indent="-171450">
              <a:buFont typeface="Arial" pitchFamily="34" charset="0"/>
              <a:buChar char="•"/>
            </a:pPr>
            <a:r>
              <a:rPr lang="en-US" dirty="0" smtClean="0"/>
              <a:t>Claim entity's ClaimResync event</a:t>
            </a:r>
          </a:p>
          <a:p>
            <a:pPr marL="171450" indent="-171450">
              <a:buFont typeface="Arial" pitchFamily="34" charset="0"/>
              <a:buChar char="•"/>
            </a:pPr>
            <a:r>
              <a:rPr lang="en-US" dirty="0" smtClean="0"/>
              <a:t>PolicyCenter</a:t>
            </a:r>
          </a:p>
          <a:p>
            <a:pPr marL="400050" lvl="1" indent="-171450">
              <a:buFont typeface="Arial" pitchFamily="34" charset="0"/>
              <a:buChar char="•"/>
            </a:pPr>
            <a:r>
              <a:rPr lang="en-US" dirty="0" smtClean="0"/>
              <a:t>Job entity's RequestQuote event</a:t>
            </a:r>
          </a:p>
          <a:p>
            <a:pPr marL="400050" lvl="1" indent="-171450">
              <a:buFont typeface="Arial" pitchFamily="34" charset="0"/>
              <a:buChar char="•"/>
            </a:pPr>
            <a:r>
              <a:rPr lang="en-US" dirty="0" smtClean="0"/>
              <a:t>Submission entity's BindSubmission event</a:t>
            </a:r>
          </a:p>
          <a:p>
            <a:pPr marL="400050" lvl="1" indent="-171450">
              <a:buFont typeface="Arial" pitchFamily="34" charset="0"/>
              <a:buChar char="•"/>
            </a:pPr>
            <a:r>
              <a:rPr lang="en-US" dirty="0" smtClean="0"/>
              <a:t>PolicyPeriod entity, which has a number of events to accommodate policy transactions, such as IssueSubmission, IssueRenewal, and SendCancellationNotices. </a:t>
            </a:r>
          </a:p>
          <a:p>
            <a:pPr marL="171450" indent="-171450">
              <a:buFont typeface="Arial" pitchFamily="34" charset="0"/>
              <a:buChar char="•"/>
            </a:pPr>
            <a:r>
              <a:rPr lang="en-US" dirty="0" smtClean="0"/>
              <a:t>BillingCenter</a:t>
            </a:r>
            <a:endParaRPr lang="en-US" dirty="0"/>
          </a:p>
          <a:p>
            <a:pPr marL="400050" lvl="1" indent="-171450">
              <a:buFont typeface="Arial" pitchFamily="34" charset="0"/>
              <a:buChar char="•"/>
            </a:pPr>
            <a:r>
              <a:rPr lang="en-US" dirty="0" smtClean="0"/>
              <a:t>DelinquencyProcess entity's ConnectToCollectionAgency event</a:t>
            </a:r>
          </a:p>
          <a:p>
            <a:pPr marL="400050" lvl="1" indent="-171450">
              <a:buFont typeface="Arial" pitchFamily="34" charset="0"/>
              <a:buChar char="•"/>
            </a:pPr>
            <a:r>
              <a:rPr lang="en-US" dirty="0" smtClean="0"/>
              <a:t>Invoice entity's InvoiceResent event</a:t>
            </a:r>
          </a:p>
          <a:p>
            <a:pPr marL="400050" lvl="1" indent="-171450">
              <a:buFont typeface="Arial" pitchFamily="34" charset="0"/>
              <a:buChar char="•"/>
            </a:pPr>
            <a:r>
              <a:rPr lang="en-US" dirty="0" smtClean="0"/>
              <a:t>OutgoingPayment entity's OutgoingPaymentStatusChanged event</a:t>
            </a:r>
          </a:p>
          <a:p>
            <a:pPr marL="400050" lvl="1" indent="-171450">
              <a:buFont typeface="Arial" pitchFamily="34" charset="0"/>
              <a:buChar char="•"/>
            </a:pPr>
            <a:r>
              <a:rPr lang="en-US" dirty="0" smtClean="0"/>
              <a:t>Payment entity's PaymentStatusChanged event</a:t>
            </a:r>
          </a:p>
          <a:p>
            <a:endParaRPr lang="en-US" dirty="0" smtClean="0"/>
          </a:p>
          <a:p>
            <a:r>
              <a:rPr lang="en-US" dirty="0" smtClean="0"/>
              <a:t>Data </a:t>
            </a:r>
            <a:r>
              <a:rPr lang="en-US" dirty="0"/>
              <a:t>import tools </a:t>
            </a:r>
            <a:r>
              <a:rPr lang="en-US" dirty="0" smtClean="0"/>
              <a:t>such </a:t>
            </a:r>
            <a:r>
              <a:rPr lang="en-US" dirty="0"/>
              <a:t>as </a:t>
            </a:r>
            <a:r>
              <a:rPr lang="en-US" dirty="0" smtClean="0"/>
              <a:t>ImportToolsAPI </a:t>
            </a:r>
            <a:r>
              <a:rPr lang="en-US" dirty="0"/>
              <a:t>and </a:t>
            </a:r>
            <a:r>
              <a:rPr lang="en-US" dirty="0" smtClean="0"/>
              <a:t>import_tools </a:t>
            </a:r>
            <a:r>
              <a:rPr lang="en-US" dirty="0"/>
              <a:t>command line </a:t>
            </a:r>
            <a:r>
              <a:rPr lang="en-US" dirty="0" smtClean="0"/>
              <a:t>tool  are </a:t>
            </a:r>
            <a:r>
              <a:rPr lang="en-US" dirty="0"/>
              <a:t> generic mechanisms for loading system data or sample data into the system </a:t>
            </a:r>
            <a:r>
              <a:rPr lang="en-US" dirty="0" smtClean="0"/>
              <a:t>and do not trigger messaging events doe EventAware entities. Bulk </a:t>
            </a:r>
            <a:r>
              <a:rPr lang="en-US" dirty="0"/>
              <a:t>data loaded using the table import </a:t>
            </a:r>
            <a:r>
              <a:rPr lang="en-US" dirty="0" smtClean="0"/>
              <a:t>tools also do not trigger messaging events. When </a:t>
            </a:r>
            <a:r>
              <a:rPr lang="en-US" dirty="0"/>
              <a:t>loading business data </a:t>
            </a:r>
            <a:r>
              <a:rPr lang="en-US" dirty="0" smtClean="0"/>
              <a:t>that requires messaging events, do not use these tools, APIs, and mechanisms.</a:t>
            </a:r>
            <a:endParaRPr lang="en-US" dirty="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6</a:t>
            </a:fld>
            <a:endParaRPr lang="en-US" dirty="0"/>
          </a:p>
        </p:txBody>
      </p:sp>
    </p:spTree>
    <p:extLst>
      <p:ext uri="{BB962C8B-B14F-4D97-AF65-F5344CB8AC3E}">
        <p14:creationId xmlns:p14="http://schemas.microsoft.com/office/powerpoint/2010/main" val="34933208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Event Fired</a:t>
            </a:r>
            <a:r>
              <a:rPr lang="en-US" baseline="0" dirty="0" smtClean="0"/>
              <a:t> rules depend on the m</a:t>
            </a:r>
            <a:r>
              <a:rPr lang="en-US" dirty="0" smtClean="0"/>
              <a:t>essage</a:t>
            </a:r>
            <a:r>
              <a:rPr lang="en-US" baseline="0" dirty="0" smtClean="0"/>
              <a:t> c</a:t>
            </a:r>
            <a:r>
              <a:rPr lang="en-US" dirty="0" smtClean="0"/>
              <a:t>ontext object. You</a:t>
            </a:r>
            <a:r>
              <a:rPr lang="en-US" baseline="0" dirty="0" smtClean="0"/>
              <a:t> </a:t>
            </a:r>
            <a:r>
              <a:rPr lang="en-US" dirty="0" smtClean="0"/>
              <a:t>can access this</a:t>
            </a:r>
            <a:r>
              <a:rPr lang="en-US" baseline="0" dirty="0" smtClean="0"/>
              <a:t> object </a:t>
            </a:r>
            <a:r>
              <a:rPr lang="en-US" dirty="0" smtClean="0"/>
              <a:t>using the messageContext variable. The messageContext</a:t>
            </a:r>
            <a:r>
              <a:rPr lang="en-US" baseline="0" dirty="0" smtClean="0"/>
              <a:t> </a:t>
            </a:r>
            <a:r>
              <a:rPr lang="en-US" dirty="0" smtClean="0"/>
              <a:t>object contains information such as the event name, messaging destination ID,</a:t>
            </a:r>
            <a:r>
              <a:rPr lang="en-US" baseline="0" dirty="0" smtClean="0"/>
              <a:t> and the Root object.</a:t>
            </a:r>
            <a:r>
              <a:rPr lang="en-US" dirty="0" smtClean="0"/>
              <a:t> Event Fired rules often generate</a:t>
            </a:r>
            <a:r>
              <a:rPr lang="en-US" baseline="0" dirty="0" smtClean="0"/>
              <a:t> </a:t>
            </a:r>
            <a:r>
              <a:rPr lang="en-US" dirty="0" smtClean="0"/>
              <a:t>one or more messages, although the logic can omit creating messages as appropriate. </a:t>
            </a:r>
            <a:r>
              <a:rPr lang="en-US" sz="1200" b="0" i="0" kern="1200" baseline="0" dirty="0" smtClean="0">
                <a:solidFill>
                  <a:schemeClr val="tx1"/>
                </a:solidFill>
                <a:effectLst/>
                <a:latin typeface="Arial" pitchFamily="34" charset="0"/>
                <a:ea typeface="+mn-ea"/>
                <a:cs typeface="Arial" pitchFamily="34" charset="0"/>
              </a:rPr>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effectLst/>
              <a:latin typeface="Arial" pitchFamily="34" charset="0"/>
              <a:ea typeface="+mn-ea"/>
              <a:cs typeface="Arial" pitchFamily="34" charset="0"/>
            </a:endParaRPr>
          </a:p>
          <a:p>
            <a:endParaRPr lang="en-US" dirty="0" smtClean="0"/>
          </a:p>
        </p:txBody>
      </p:sp>
      <p:sp>
        <p:nvSpPr>
          <p:cNvPr id="4" name="Slide Number Placeholder 3"/>
          <p:cNvSpPr>
            <a:spLocks noGrp="1"/>
          </p:cNvSpPr>
          <p:nvPr>
            <p:ph type="sldNum" sz="quarter" idx="10"/>
          </p:nvPr>
        </p:nvSpPr>
        <p:spPr/>
        <p:txBody>
          <a:bodyPr/>
          <a:lstStyle/>
          <a:p>
            <a:fld id="{BC59C1E8-2E88-4BF4-A80C-B8AE78323CDF}" type="slidenum">
              <a:rPr lang="en-US" smtClean="0"/>
              <a:pPr/>
              <a:t>7</a:t>
            </a:fld>
            <a:endParaRPr lang="en-US" dirty="0"/>
          </a:p>
        </p:txBody>
      </p:sp>
    </p:spTree>
    <p:extLst>
      <p:ext uri="{BB962C8B-B14F-4D97-AF65-F5344CB8AC3E}">
        <p14:creationId xmlns:p14="http://schemas.microsoft.com/office/powerpoint/2010/main" val="40710568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Avoid unnecessarily large or complex messages if possible. </a:t>
            </a:r>
            <a:r>
              <a:rPr lang="en-US" sz="1200" b="0" i="0" kern="1200" dirty="0" smtClean="0">
                <a:solidFill>
                  <a:schemeClr val="tx1"/>
                </a:solidFill>
                <a:effectLst/>
                <a:latin typeface="Arial" pitchFamily="34" charset="0"/>
                <a:ea typeface="+mn-ea"/>
                <a:cs typeface="Arial" pitchFamily="34" charset="0"/>
              </a:rPr>
              <a:t>A message is information to send to an external system in response to an event. </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8</a:t>
            </a:fld>
            <a:endParaRPr lang="en-US" dirty="0"/>
          </a:p>
        </p:txBody>
      </p:sp>
    </p:spTree>
    <p:extLst>
      <p:ext uri="{BB962C8B-B14F-4D97-AF65-F5344CB8AC3E}">
        <p14:creationId xmlns:p14="http://schemas.microsoft.com/office/powerpoint/2010/main" val="42172118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Custom events provide additional flexibility in the messaging architecture. Sometimes,</a:t>
            </a:r>
            <a:r>
              <a:rPr lang="en-US" baseline="0" dirty="0" smtClean="0"/>
              <a:t> </a:t>
            </a:r>
            <a:r>
              <a:rPr lang="en-US" dirty="0" smtClean="0"/>
              <a:t>you may want to trigger a message event in a context where an EventAware object hasn't necessarily been created or changed.</a:t>
            </a:r>
            <a:r>
              <a:rPr lang="en-US" baseline="0" dirty="0" smtClean="0"/>
              <a:t> </a:t>
            </a:r>
            <a:r>
              <a:rPr lang="en-US" dirty="0" smtClean="0"/>
              <a:t>For example, you may want to provide the user with the ability to trigger messaging by clicking a button on the user interface.</a:t>
            </a:r>
            <a:r>
              <a:rPr lang="en-US" baseline="0" dirty="0" smtClean="0"/>
              <a:t> In some cases, y</a:t>
            </a:r>
            <a:r>
              <a:rPr lang="en-US" dirty="0" smtClean="0"/>
              <a:t>ou want to group messaging logic at a more granular level than EntityChanged. </a:t>
            </a:r>
          </a:p>
          <a:p>
            <a:endParaRPr lang="en-US" dirty="0"/>
          </a:p>
          <a:p>
            <a:r>
              <a:rPr lang="en-US" dirty="0" smtClean="0"/>
              <a:t>There may be significantly different messaging requirements for a Request entity that is approved as opposed to one that is denied. I</a:t>
            </a:r>
            <a:r>
              <a:rPr lang="en-US" baseline="0" dirty="0" smtClean="0"/>
              <a:t>n other cases, y</a:t>
            </a:r>
            <a:r>
              <a:rPr lang="en-US" dirty="0" smtClean="0"/>
              <a:t>ou may want to send another message event during the processing of a message acknowledgement. Message events cannot be triggered for non-EventAware entities.</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9</a:t>
            </a:fld>
            <a:endParaRPr lang="en-US" dirty="0"/>
          </a:p>
        </p:txBody>
      </p:sp>
    </p:spTree>
    <p:extLst>
      <p:ext uri="{BB962C8B-B14F-4D97-AF65-F5344CB8AC3E}">
        <p14:creationId xmlns:p14="http://schemas.microsoft.com/office/powerpoint/2010/main" val="41754701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10</a:t>
            </a:fld>
            <a:endParaRPr lang="en-US" dirty="0"/>
          </a:p>
        </p:txBody>
      </p:sp>
    </p:spTree>
    <p:extLst>
      <p:ext uri="{BB962C8B-B14F-4D97-AF65-F5344CB8AC3E}">
        <p14:creationId xmlns:p14="http://schemas.microsoft.com/office/powerpoint/2010/main" val="33016092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Each Guidewire message is sent to a single destination only. If there is a situation where multiple external systems need to receive the same information in response to a single event, then the Event Fired rules should create multiple messages, one for each destination of interest. (The term "multicasting" means that the same message is sent simultaneously to multiple receivers. Guidewire message does not make use of multicasting.)</a:t>
            </a:r>
          </a:p>
          <a:p>
            <a:endParaRPr lang="en-US" baseline="0" dirty="0" smtClean="0"/>
          </a:p>
          <a:p>
            <a:r>
              <a:rPr lang="en-US" baseline="0" dirty="0" smtClean="0"/>
              <a:t>Every message should receive a response. The response indicates to Guidewire that the message has been successfully processed. In some cases, the response comes immediately upon sending the message and simply indicates the message was successfully consumed. In other cases, the response comes sometime after the message is sent. The response can also contain data from the external system (such as a verification code or a report).</a:t>
            </a:r>
          </a:p>
          <a:p>
            <a:endParaRPr lang="en-US" baseline="0" dirty="0" smtClean="0"/>
          </a:p>
          <a:p>
            <a:r>
              <a:rPr lang="en-US" baseline="0" dirty="0" smtClean="0"/>
              <a:t>The mechanism for the external system response depends on if the message is synchronous or asynchronous. For synchronous replies, often the message transport plugin is the reply mechanism. For asynchronous replies, often a Guidewire Application published web service or a message reply plugin is the reply mechanism. </a:t>
            </a:r>
          </a:p>
        </p:txBody>
      </p:sp>
      <p:sp>
        <p:nvSpPr>
          <p:cNvPr id="4" name="Slide Number Placeholder 3"/>
          <p:cNvSpPr>
            <a:spLocks noGrp="1"/>
          </p:cNvSpPr>
          <p:nvPr>
            <p:ph type="sldNum" sz="quarter" idx="10"/>
          </p:nvPr>
        </p:nvSpPr>
        <p:spPr/>
        <p:txBody>
          <a:bodyPr/>
          <a:lstStyle/>
          <a:p>
            <a:fld id="{BC59C1E8-2E88-4BF4-A80C-B8AE78323CDF}" type="slidenum">
              <a:rPr lang="en-US" smtClean="0"/>
              <a:pPr/>
              <a:t>11</a:t>
            </a:fld>
            <a:endParaRPr lang="en-US" dirty="0"/>
          </a:p>
        </p:txBody>
      </p:sp>
    </p:spTree>
    <p:extLst>
      <p:ext uri="{BB962C8B-B14F-4D97-AF65-F5344CB8AC3E}">
        <p14:creationId xmlns:p14="http://schemas.microsoft.com/office/powerpoint/2010/main" val="34479293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the example above, BankAccount 2637 is an instance of BankAccount, an event-aware entity. There are also three destinations. Destinations 13 and 14 listen for the BankAccountChanged event. Destination 15 does not. When BankAccount 2637 changes, a MessageContext object is created for destination 13 and destination 14. But because destination 15 does not listen for BankAccountChanged events, no MessageContext is created for BankAccount 2637.</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12</a:t>
            </a:fld>
            <a:endParaRPr lang="en-US" dirty="0"/>
          </a:p>
        </p:txBody>
      </p:sp>
    </p:spTree>
    <p:extLst>
      <p:ext uri="{BB962C8B-B14F-4D97-AF65-F5344CB8AC3E}">
        <p14:creationId xmlns:p14="http://schemas.microsoft.com/office/powerpoint/2010/main" val="7063106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message ID must be an integer from 0 to 63, inclusive. Values greater than 63 are reserved by Guidewire. The message destination can specify up to three messaging plugins: message transport plugin, message request plugin,</a:t>
            </a:r>
            <a:r>
              <a:rPr lang="en-US" baseline="0" dirty="0" smtClean="0"/>
              <a:t> and </a:t>
            </a:r>
            <a:r>
              <a:rPr lang="en-US" dirty="0" smtClean="0"/>
              <a:t>message reply plugin.</a:t>
            </a:r>
          </a:p>
          <a:p>
            <a:endParaRPr lang="en-US" dirty="0" smtClean="0"/>
          </a:p>
          <a:p>
            <a:r>
              <a:rPr lang="en-US" dirty="0" smtClean="0"/>
              <a:t>The message transport plugin is responsible for sending your message to the external system. The nature of this plugin will vary depending on the external system and/or the technology used to communicate to the external system (such as a JMS queue, a web service request to an external system, or an FTP call). Every destination must provide a message transport plugin implementation, but multiple destinations can use the same implementation.</a:t>
            </a:r>
          </a:p>
          <a:p>
            <a:endParaRPr lang="en-US" dirty="0" smtClean="0"/>
          </a:p>
          <a:p>
            <a:r>
              <a:rPr lang="en-US" dirty="0" smtClean="0"/>
              <a:t>The message request plugin transforms a message's payload immediately before sending it. For example, two messages might be sent from a single event, but data received in a reply to the first message (such as an external identification code) might need to be included in the second. Because this identifier is not known at the time the message payloads are initially created, the request plugin is needed to transform the payload of the second message. If a given destination requires no payload transformation, then this plugin is not implemented.</a:t>
            </a:r>
          </a:p>
          <a:p>
            <a:endParaRPr lang="en-US" dirty="0" smtClean="0"/>
          </a:p>
          <a:p>
            <a:r>
              <a:rPr lang="en-US" dirty="0" smtClean="0"/>
              <a:t>The message reply plugin initializes a listener queue and associates it with the destination. This plugin is used for destinations that receive asynchronous replies via a listener queue. If a given destination does not reply asynchronously (or it does reply asynchronously, but the replies are received through some other mechanism, such as a web service), then this plugin is not implemented.</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13</a:t>
            </a:fld>
            <a:endParaRPr lang="en-US" dirty="0"/>
          </a:p>
        </p:txBody>
      </p:sp>
    </p:spTree>
    <p:extLst>
      <p:ext uri="{BB962C8B-B14F-4D97-AF65-F5344CB8AC3E}">
        <p14:creationId xmlns:p14="http://schemas.microsoft.com/office/powerpoint/2010/main" val="18961279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sz="1000" dirty="0" smtClean="0"/>
              <a:t>For messaging plugins, you can implement any number of MessageRequest, MessageTransport, and MessageReply plugins, though each destination can use at most one of each type.  Every destination can use only one message reply plugin. However, a given message reply plugin class can be used by multiple destinations.</a:t>
            </a:r>
          </a:p>
          <a:p>
            <a:pPr eaLnBrk="1" hangingPunct="1"/>
            <a:endParaRPr lang="en-US" sz="1000" dirty="0" smtClean="0"/>
          </a:p>
          <a:p>
            <a:pPr eaLnBrk="1" hangingPunct="1"/>
            <a:r>
              <a:rPr lang="en-US" sz="1000" dirty="0" smtClean="0"/>
              <a:t>The strings in the Events list are regex patterns. For example, if the Events list included the string "BankAccount", then the destination would listen for "BankAccountAdded", "BankAccountChanged", and "BankAccountRemoved". In practice, though, it is best to explicitly list all the events a destination listens to.</a:t>
            </a:r>
          </a:p>
          <a:p>
            <a:pPr eaLnBrk="1" hangingPunct="1"/>
            <a:r>
              <a:rPr lang="en-US" sz="1000" dirty="0" smtClean="0"/>
              <a:t>Developers must be careful to spell the regex patterns in the Events list correctly, as the destination will not work as expected if they are spelled incorrectly. For example, a destination that listens for "BankAccountChanged" will not respond to a BankAccountChang</a:t>
            </a:r>
            <a:r>
              <a:rPr lang="en-US" sz="1000" i="0" dirty="0" smtClean="0"/>
              <a:t>ed</a:t>
            </a:r>
            <a:r>
              <a:rPr lang="en-US" sz="1000" dirty="0" smtClean="0"/>
              <a:t> message event.</a:t>
            </a:r>
          </a:p>
          <a:p>
            <a:pPr eaLnBrk="1" hangingPunct="1"/>
            <a:endParaRPr lang="en-US" sz="1000" dirty="0" smtClean="0"/>
          </a:p>
          <a:p>
            <a:pPr eaLnBrk="1" hangingPunct="1"/>
            <a:r>
              <a:rPr lang="en-US" sz="1000" dirty="0" smtClean="0"/>
              <a:t>You can have multiple sender threads for a single destination, which allows multithreaded access to the plugins and potentially better performance when sending messages. Multiple sender threads are meant primarily to accommodate destinations that use synchronous web service calls and other synchronous remote calls, which are stateless. If you choose to assign multiple sender threads, be careful that your plugins are actually thread safe (for example, sharing a JMS Session across threads would NOT be thread safe) and that the resulting higher load on the reply plugin (if used) is acceptable. Do NOT set the sender threads value above 1 for destinations using transport or request plugins that are not thread safe. Such thread safety is often dependent on the external system itself being able to handle multithreaded communications properly.</a:t>
            </a:r>
          </a:p>
          <a:p>
            <a:pPr eaLnBrk="1" hangingPunct="1"/>
            <a:endParaRPr lang="en-US" sz="1000" dirty="0" smtClean="0"/>
          </a:p>
          <a:p>
            <a:pPr eaLnBrk="1" hangingPunct="1"/>
            <a:r>
              <a:rPr lang="en-US" sz="1000" dirty="0" smtClean="0"/>
              <a:t>The Enabled checkbox controls whether the Event Fired rules are run for a destination.</a:t>
            </a:r>
          </a:p>
          <a:p>
            <a:pPr eaLnBrk="1" hangingPunct="1"/>
            <a:endParaRPr lang="en-US" sz="1000" dirty="0" smtClean="0"/>
          </a:p>
          <a:p>
            <a:endParaRPr lang="en-US" sz="1000"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14</a:t>
            </a:fld>
            <a:endParaRPr lang="en-US" dirty="0"/>
          </a:p>
        </p:txBody>
      </p:sp>
    </p:spTree>
    <p:extLst>
      <p:ext uri="{BB962C8B-B14F-4D97-AF65-F5344CB8AC3E}">
        <p14:creationId xmlns:p14="http://schemas.microsoft.com/office/powerpoint/2010/main" val="11526660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15</a:t>
            </a:fld>
            <a:endParaRPr lang="en-US" dirty="0"/>
          </a:p>
        </p:txBody>
      </p:sp>
    </p:spTree>
    <p:extLst>
      <p:ext uri="{BB962C8B-B14F-4D97-AF65-F5344CB8AC3E}">
        <p14:creationId xmlns:p14="http://schemas.microsoft.com/office/powerpoint/2010/main" val="33016092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Business rules are covered in the Business Rules lesson in Configuration Fundamentals. Your instructor may discuss this and the next slide in detail or skip over them depending on whether that lesson was covered in your delivery of the Configuration Fundamentals course.</a:t>
            </a:r>
          </a:p>
          <a:p>
            <a:endParaRPr lang="en-US" dirty="0" smtClean="0"/>
          </a:p>
          <a:p>
            <a:r>
              <a:rPr lang="en-US" dirty="0" smtClean="0"/>
              <a:t>Setting a rule condition to true</a:t>
            </a:r>
            <a:r>
              <a:rPr lang="en-US" baseline="0" dirty="0" smtClean="0"/>
              <a:t> </a:t>
            </a:r>
            <a:r>
              <a:rPr lang="en-US" dirty="0" smtClean="0"/>
              <a:t>means that the action will always be performed whenever the rule is evaluated.</a:t>
            </a:r>
          </a:p>
          <a:p>
            <a:endParaRPr lang="en-US" dirty="0" smtClean="0"/>
          </a:p>
          <a:p>
            <a:r>
              <a:rPr lang="en-US" dirty="0" smtClean="0"/>
              <a:t>Notice that there is no condition test. It is implied. The only valid condition is a Boolean expression.</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16</a:t>
            </a:fld>
            <a:endParaRPr lang="en-US" dirty="0"/>
          </a:p>
        </p:txBody>
      </p:sp>
    </p:spTree>
    <p:extLst>
      <p:ext uri="{BB962C8B-B14F-4D97-AF65-F5344CB8AC3E}">
        <p14:creationId xmlns:p14="http://schemas.microsoft.com/office/powerpoint/2010/main" val="8716256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If a rule has child rules and the parent rule condition is false, neither the parent action nor the child rules are executed.</a:t>
            </a:r>
          </a:p>
          <a:p>
            <a:endParaRPr lang="en-US" dirty="0" smtClean="0"/>
          </a:p>
          <a:p>
            <a:r>
              <a:rPr lang="en-US" dirty="0" smtClean="0"/>
              <a:t>All top-level rules in a rule set are executed unless an explicit "exit" is encountered.</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17</a:t>
            </a:fld>
            <a:endParaRPr lang="en-US" dirty="0"/>
          </a:p>
        </p:txBody>
      </p:sp>
    </p:spTree>
    <p:extLst>
      <p:ext uri="{BB962C8B-B14F-4D97-AF65-F5344CB8AC3E}">
        <p14:creationId xmlns:p14="http://schemas.microsoft.com/office/powerpoint/2010/main" val="1204745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sz="1000" dirty="0" smtClean="0"/>
              <a:t>You can think of a rule set as a logical grouping of rules that are specific to a business function. You typically organize these rules sets into a hierarchy that fits your business model.  Guidewire strongly recommends that you implement a rule-naming scheme that is hierarchal in nature.  A hierarchal naming convention will reflect the hierarchal structure when you create rules and organize rules into a hierarchy.  However, the naming scheme for rules corresponds to the file structure on disk. So, if it has too many levels customers can run into problems with file names being too long on Windows.</a:t>
            </a:r>
          </a:p>
          <a:p>
            <a:endParaRPr lang="en-US" sz="1000" dirty="0" smtClean="0"/>
          </a:p>
          <a:p>
            <a:r>
              <a:rPr lang="en-US" sz="1000" dirty="0" smtClean="0"/>
              <a:t>A rule set combines many individual rules into a useful set to consider as a group. A rule set is a collection of rules that share the same root entity and share common triggers.  In the example above, the rule set is Event </a:t>
            </a:r>
            <a:r>
              <a:rPr lang="en-US" sz="1000" dirty="0" err="1" smtClean="0"/>
              <a:t>Fired.grs</a:t>
            </a:r>
            <a:r>
              <a:rPr lang="en-US" sz="1000" dirty="0" smtClean="0"/>
              <a:t>. Selecting the rule set in the editor displays the rule set description and details the root entity.  In this example, the root entity is </a:t>
            </a:r>
            <a:r>
              <a:rPr lang="en-US" sz="1000" dirty="0" err="1" smtClean="0"/>
              <a:t>entity.MessageContext</a:t>
            </a:r>
            <a:r>
              <a:rPr lang="en-US" sz="1000" dirty="0" smtClean="0"/>
              <a:t>.</a:t>
            </a:r>
          </a:p>
          <a:p>
            <a:endParaRPr lang="en-US" sz="1000" dirty="0" smtClean="0"/>
          </a:p>
          <a:p>
            <a:r>
              <a:rPr lang="en-US" sz="1000" dirty="0" smtClean="0"/>
              <a:t>In a rule set, a Guidewire application evaluates the individual rules recursively in the hierarchy, unless an exit action is encountered. The process starts with the first direct child of the root and then evaluates all children and siblings. All rules in a rule set are processed unless an explicit "exit" is encountered. </a:t>
            </a:r>
          </a:p>
          <a:p>
            <a:endParaRPr lang="en-US" sz="1000" dirty="0" smtClean="0"/>
          </a:p>
          <a:p>
            <a:r>
              <a:rPr lang="en-US" sz="1000" dirty="0" smtClean="0"/>
              <a:t>Individual rule files have the file extension .gr.  For each rule, there is a condition and action.   The Rule Editor provides overlays to segment the condition and action. When a rule condition evaluates to true, the Guidewire application executes the rule action. </a:t>
            </a:r>
          </a:p>
          <a:p>
            <a:endParaRPr lang="en-US" sz="1000" dirty="0" smtClean="0"/>
          </a:p>
          <a:p>
            <a:r>
              <a:rPr lang="en-US" sz="1000" dirty="0" smtClean="0"/>
              <a:t>An inactive rule is not executed. You can activate and deactivate rules to get the rules engine to selective process and ignore rules. To deactivate a rule, disable the check box that appears to the left of the rule name. Inactive rules appear in gray. To reactivate the rule, enable the check box.  To delete or rename a rule, right-click the rule and select the appropriate command from the context menu.</a:t>
            </a:r>
          </a:p>
          <a:p>
            <a:endParaRPr lang="en-US" sz="1000" dirty="0" smtClean="0"/>
          </a:p>
          <a:p>
            <a:r>
              <a:rPr lang="en-US" sz="1000" dirty="0" smtClean="0"/>
              <a:t> </a:t>
            </a:r>
            <a:endParaRPr lang="en-US" sz="1000"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18</a:t>
            </a:fld>
            <a:endParaRPr lang="en-US" dirty="0"/>
          </a:p>
        </p:txBody>
      </p:sp>
      <p:sp>
        <p:nvSpPr>
          <p:cNvPr id="7" name="Slide Image Placeholder 6"/>
          <p:cNvSpPr>
            <a:spLocks noGrp="1" noRot="1" noChangeAspect="1"/>
          </p:cNvSpPr>
          <p:nvPr>
            <p:ph type="sldImg"/>
          </p:nvPr>
        </p:nvSpPr>
        <p:spPr/>
      </p:sp>
    </p:spTree>
    <p:extLst>
      <p:ext uri="{BB962C8B-B14F-4D97-AF65-F5344CB8AC3E}">
        <p14:creationId xmlns:p14="http://schemas.microsoft.com/office/powerpoint/2010/main" val="40001703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top-level Event Fired rule conditions are checked for every entity-event/destination combination. For example, if seven destinations listen to a given event, and you have 20 Event Fired rules, then every time the event is fired, 140 checks need to be made. Thus, it is critical to keep your Event Fired rules organized to avoid duplicate checks.</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19</a:t>
            </a:fld>
            <a:endParaRPr lang="en-US" dirty="0"/>
          </a:p>
        </p:txBody>
      </p:sp>
    </p:spTree>
    <p:extLst>
      <p:ext uri="{BB962C8B-B14F-4D97-AF65-F5344CB8AC3E}">
        <p14:creationId xmlns:p14="http://schemas.microsoft.com/office/powerpoint/2010/main" val="5125383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Every MessageContext is processed by the entire Event Fired rule set.  However, each is typically of interest to a small subset of rules. Therefore, you should create a hierarchy to filter MessageContexts whenever possible.</a:t>
            </a:r>
          </a:p>
        </p:txBody>
      </p:sp>
      <p:sp>
        <p:nvSpPr>
          <p:cNvPr id="4" name="Slide Number Placeholder 3"/>
          <p:cNvSpPr>
            <a:spLocks noGrp="1"/>
          </p:cNvSpPr>
          <p:nvPr>
            <p:ph type="sldNum" sz="quarter" idx="10"/>
          </p:nvPr>
        </p:nvSpPr>
        <p:spPr/>
        <p:txBody>
          <a:bodyPr/>
          <a:lstStyle/>
          <a:p>
            <a:fld id="{BC59C1E8-2E88-4BF4-A80C-B8AE78323CDF}" type="slidenum">
              <a:rPr lang="en-US" smtClean="0"/>
              <a:pPr/>
              <a:t>20</a:t>
            </a:fld>
            <a:endParaRPr lang="en-US" dirty="0"/>
          </a:p>
        </p:txBody>
      </p:sp>
    </p:spTree>
    <p:extLst>
      <p:ext uri="{BB962C8B-B14F-4D97-AF65-F5344CB8AC3E}">
        <p14:creationId xmlns:p14="http://schemas.microsoft.com/office/powerpoint/2010/main" val="34479293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the example above, the message payload is simply "Payload for account xxx" where "xxx" is the account number. This does not match the payload that was shown in the messaging example earlier in this lesson. The following lesson discusses how to generate payloads. Prior to that discussion, the simpler "Payload for account xxx" payload will be used in the examples.</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21</a:t>
            </a:fld>
            <a:endParaRPr lang="en-US" dirty="0"/>
          </a:p>
        </p:txBody>
      </p:sp>
    </p:spTree>
    <p:extLst>
      <p:ext uri="{BB962C8B-B14F-4D97-AF65-F5344CB8AC3E}">
        <p14:creationId xmlns:p14="http://schemas.microsoft.com/office/powerpoint/2010/main" val="9271815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the diagram above, the triggering entity, the message context, the Event Fired rules, and the Message all sit on a single blue arrow. This arrow represents the one transaction in which all of these entities belong and in which the Event Fired rules work. Any exception that is thrown before the message gets committed to the xx_message table will roll back all changes back to and including the change in the triggering entity.</a:t>
            </a:r>
          </a:p>
          <a:p>
            <a:endParaRPr lang="en-US" dirty="0" smtClean="0"/>
          </a:p>
          <a:p>
            <a:r>
              <a:rPr lang="en-US" dirty="0" smtClean="0"/>
              <a:t>The sending of the message occurs in a separate transaction.</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22</a:t>
            </a:fld>
            <a:endParaRPr lang="en-US" dirty="0"/>
          </a:p>
        </p:txBody>
      </p:sp>
    </p:spTree>
    <p:extLst>
      <p:ext uri="{BB962C8B-B14F-4D97-AF65-F5344CB8AC3E}">
        <p14:creationId xmlns:p14="http://schemas.microsoft.com/office/powerpoint/2010/main" val="32595688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You must restart the server when you create or modify</a:t>
            </a:r>
            <a:r>
              <a:rPr lang="en-US" baseline="0" dirty="0" smtClean="0"/>
              <a:t> d</a:t>
            </a:r>
            <a:r>
              <a:rPr lang="en-US" dirty="0" smtClean="0"/>
              <a:t>estinations.</a:t>
            </a:r>
          </a:p>
          <a:p>
            <a:endParaRPr lang="en-US" dirty="0" smtClean="0"/>
          </a:p>
          <a:p>
            <a:r>
              <a:rPr lang="en-US" dirty="0" smtClean="0"/>
              <a:t>For</a:t>
            </a:r>
            <a:r>
              <a:rPr lang="en-US" baseline="0" dirty="0" smtClean="0"/>
              <a:t> t</a:t>
            </a:r>
            <a:r>
              <a:rPr lang="en-US" dirty="0" smtClean="0"/>
              <a:t>ransport plugins</a:t>
            </a:r>
            <a:r>
              <a:rPr lang="en-US" baseline="0" dirty="0" smtClean="0"/>
              <a:t> and/or c</a:t>
            </a:r>
            <a:r>
              <a:rPr lang="en-US" dirty="0" smtClean="0"/>
              <a:t>ustom web service classes, you must reload</a:t>
            </a:r>
            <a:r>
              <a:rPr lang="en-US" baseline="0" dirty="0" smtClean="0"/>
              <a:t> changed classes</a:t>
            </a:r>
            <a:r>
              <a:rPr lang="en-US" dirty="0" smtClean="0"/>
              <a:t>. If your classes reference newly created display keys,</a:t>
            </a:r>
            <a:r>
              <a:rPr lang="en-US" baseline="0" dirty="0" smtClean="0"/>
              <a:t> you must reload PCFs (ALT+SHIFT+L).</a:t>
            </a:r>
          </a:p>
          <a:p>
            <a:endParaRPr lang="en-US" dirty="0" smtClean="0"/>
          </a:p>
          <a:p>
            <a:r>
              <a:rPr lang="en-US" dirty="0" smtClean="0"/>
              <a:t>For newly created and modified</a:t>
            </a:r>
            <a:r>
              <a:rPr lang="en-US" baseline="0" dirty="0" smtClean="0"/>
              <a:t> </a:t>
            </a:r>
            <a:r>
              <a:rPr lang="en-US" dirty="0" smtClean="0"/>
              <a:t>event fired rules, you must </a:t>
            </a:r>
            <a:r>
              <a:rPr lang="en-US" baseline="0" dirty="0" smtClean="0"/>
              <a:t>reload changed classes.  If you create a rule hierarchy (parent rule and then children rules), you must restart the server.</a:t>
            </a:r>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23</a:t>
            </a:fld>
            <a:endParaRPr lang="en-US" dirty="0"/>
          </a:p>
        </p:txBody>
      </p:sp>
    </p:spTree>
    <p:extLst>
      <p:ext uri="{BB962C8B-B14F-4D97-AF65-F5344CB8AC3E}">
        <p14:creationId xmlns:p14="http://schemas.microsoft.com/office/powerpoint/2010/main" val="27366402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24</a:t>
            </a:fld>
            <a:endParaRPr lang="en-US" dirty="0"/>
          </a:p>
        </p:txBody>
      </p:sp>
    </p:spTree>
    <p:extLst>
      <p:ext uri="{BB962C8B-B14F-4D97-AF65-F5344CB8AC3E}">
        <p14:creationId xmlns:p14="http://schemas.microsoft.com/office/powerpoint/2010/main" val="6375066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smtClean="0"/>
              <a:t>Answers</a:t>
            </a:r>
          </a:p>
          <a:p>
            <a:r>
              <a:rPr lang="en-US" dirty="0" smtClean="0"/>
              <a:t>1) </a:t>
            </a:r>
            <a:r>
              <a:rPr lang="en-US" dirty="0" smtClean="0"/>
              <a:t>Typically, a message event gets triggered when an event-aware entity is created, changed, or removed. (There are also other application-specific message events.)</a:t>
            </a:r>
          </a:p>
          <a:p>
            <a:r>
              <a:rPr lang="en-US" dirty="0" smtClean="0"/>
              <a:t>2) </a:t>
            </a:r>
            <a:r>
              <a:rPr lang="en-US" dirty="0" smtClean="0"/>
              <a:t>The primary purpose of the MessageContext entity is to create messages using information from the message event and the triggering entity.</a:t>
            </a:r>
          </a:p>
          <a:p>
            <a:r>
              <a:rPr lang="en-US" dirty="0" smtClean="0"/>
              <a:t>3) </a:t>
            </a:r>
            <a:r>
              <a:rPr lang="en-US" dirty="0" smtClean="0"/>
              <a:t>Seven, which would occur if all seven destinations listen to EscalationAdded. Zero, which would occur if none of the destinations listen to EscalationAdded.</a:t>
            </a:r>
          </a:p>
          <a:p>
            <a:r>
              <a:rPr lang="en-US" dirty="0" smtClean="0"/>
              <a:t>4) </a:t>
            </a:r>
            <a:r>
              <a:rPr lang="en-US" dirty="0" smtClean="0"/>
              <a:t>MessageTransport, which sends the message to the external system.</a:t>
            </a:r>
          </a:p>
          <a:p>
            <a:r>
              <a:rPr lang="en-US" dirty="0" smtClean="0"/>
              <a:t>5) </a:t>
            </a:r>
            <a:r>
              <a:rPr lang="en-US" dirty="0" smtClean="0"/>
              <a:t>MessageContext.Root is of type Object, but message payloads typically need to work with the  MessageContext.Root as the type of entity that triggered the message event. Therefore, the MessageContext.Root entity must be cast to be of that type.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25</a:t>
            </a:fld>
            <a:endParaRPr lang="en-US" dirty="0"/>
          </a:p>
        </p:txBody>
      </p:sp>
    </p:spTree>
    <p:extLst>
      <p:ext uri="{BB962C8B-B14F-4D97-AF65-F5344CB8AC3E}">
        <p14:creationId xmlns:p14="http://schemas.microsoft.com/office/powerpoint/2010/main" val="26070319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26</a:t>
            </a:fld>
            <a:endParaRPr lang="en-US" dirty="0"/>
          </a:p>
        </p:txBody>
      </p:sp>
    </p:spTree>
    <p:extLst>
      <p:ext uri="{BB962C8B-B14F-4D97-AF65-F5344CB8AC3E}">
        <p14:creationId xmlns:p14="http://schemas.microsoft.com/office/powerpoint/2010/main" val="413696707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Layout">
    <p:spTree>
      <p:nvGrpSpPr>
        <p:cNvPr id="1" name=""/>
        <p:cNvGrpSpPr/>
        <p:nvPr/>
      </p:nvGrpSpPr>
      <p:grpSpPr>
        <a:xfrm>
          <a:off x="0" y="0"/>
          <a:ext cx="0" cy="0"/>
          <a:chOff x="0" y="0"/>
          <a:chExt cx="0" cy="0"/>
        </a:xfrm>
      </p:grpSpPr>
      <p:sp>
        <p:nvSpPr>
          <p:cNvPr id="19" name="rec Background Gradient"/>
          <p:cNvSpPr/>
          <p:nvPr/>
        </p:nvSpPr>
        <p:spPr bwMode="auto">
          <a:xfrm>
            <a:off x="81938" y="0"/>
            <a:ext cx="9089231" cy="6858000"/>
          </a:xfrm>
          <a:prstGeom prst="rect">
            <a:avLst/>
          </a:prstGeom>
          <a:gradFill flip="none" rotWithShape="1">
            <a:gsLst>
              <a:gs pos="1000">
                <a:srgbClr val="04628C"/>
              </a:gs>
              <a:gs pos="99000">
                <a:srgbClr val="07A6ED"/>
              </a:gs>
            </a:gsLst>
            <a:lin ang="8100000" scaled="1"/>
            <a:tileRect/>
          </a:gradFill>
          <a:ln w="317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109538" marR="0" indent="-109538" algn="ctr" defTabSz="914400" rtl="0" eaLnBrk="1" fontAlgn="base" latinLnBrk="0" hangingPunct="1">
              <a:lnSpc>
                <a:spcPct val="100000"/>
              </a:lnSpc>
              <a:spcBef>
                <a:spcPct val="50000"/>
              </a:spcBef>
              <a:spcAft>
                <a:spcPct val="0"/>
              </a:spcAft>
              <a:buClr>
                <a:schemeClr val="tx2"/>
              </a:buClr>
              <a:buSzTx/>
              <a:buFont typeface="Arial" charset="0"/>
              <a:buNone/>
              <a:tabLst/>
            </a:pPr>
            <a:endParaRPr kumimoji="0" lang="en-US" sz="1600" b="0" i="0" u="none" strike="noStrike" cap="none" normalizeH="0" baseline="0" dirty="0" smtClean="0">
              <a:ln>
                <a:noFill/>
              </a:ln>
              <a:solidFill>
                <a:srgbClr val="333333"/>
              </a:solidFill>
              <a:effectLst/>
              <a:latin typeface="+mj-lt"/>
            </a:endParaRPr>
          </a:p>
        </p:txBody>
      </p:sp>
      <p:grpSp>
        <p:nvGrpSpPr>
          <p:cNvPr id="2" name="rec GW Sidebar"/>
          <p:cNvGrpSpPr/>
          <p:nvPr/>
        </p:nvGrpSpPr>
        <p:grpSpPr>
          <a:xfrm>
            <a:off x="0" y="0"/>
            <a:ext cx="109538" cy="6858000"/>
            <a:chOff x="0" y="0"/>
            <a:chExt cx="109538" cy="6858000"/>
          </a:xfrm>
        </p:grpSpPr>
        <p:sp>
          <p:nvSpPr>
            <p:cNvPr id="22"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4"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5"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6"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7"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8"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grpSp>
      <p:sp>
        <p:nvSpPr>
          <p:cNvPr id="20" name="txt Copyright 2001-2013"/>
          <p:cNvSpPr txBox="1"/>
          <p:nvPr/>
        </p:nvSpPr>
        <p:spPr>
          <a:xfrm>
            <a:off x="5410200" y="6553200"/>
            <a:ext cx="3409950" cy="184666"/>
          </a:xfrm>
          <a:prstGeom prst="rect">
            <a:avLst/>
          </a:prstGeom>
          <a:noFill/>
        </p:spPr>
        <p:txBody>
          <a:bodyPr wrap="square" lIns="0" tIns="0" rIns="0" bIns="0">
            <a:spAutoFit/>
          </a:bodyPr>
          <a:lstStyle/>
          <a:p>
            <a:pPr algn="r">
              <a:spcBef>
                <a:spcPts val="600"/>
              </a:spcBef>
              <a:buClr>
                <a:schemeClr val="tx2"/>
              </a:buClr>
              <a:buFont typeface="Arial" charset="0"/>
              <a:buNone/>
              <a:defRPr/>
            </a:pPr>
            <a:r>
              <a:rPr lang="en-US" sz="600" dirty="0">
                <a:solidFill>
                  <a:schemeClr val="tx1"/>
                </a:solidFill>
                <a:latin typeface="+mn-lt"/>
                <a:cs typeface="Arial" pitchFamily="34" charset="0"/>
              </a:rPr>
              <a:t>© Guidewire Software, Inc. </a:t>
            </a:r>
            <a:r>
              <a:rPr lang="en-US" sz="600" dirty="0" smtClean="0">
                <a:solidFill>
                  <a:schemeClr val="tx1"/>
                </a:solidFill>
                <a:latin typeface="+mn-lt"/>
                <a:cs typeface="Arial" pitchFamily="34" charset="0"/>
              </a:rPr>
              <a:t>2001-2014. All </a:t>
            </a:r>
            <a:r>
              <a:rPr lang="en-US" sz="600" dirty="0">
                <a:solidFill>
                  <a:schemeClr val="tx1"/>
                </a:solidFill>
                <a:latin typeface="+mn-lt"/>
                <a:cs typeface="Arial" pitchFamily="34" charset="0"/>
              </a:rPr>
              <a:t>rights reserved</a:t>
            </a:r>
            <a:r>
              <a:rPr lang="en-US" sz="600" dirty="0" smtClean="0">
                <a:solidFill>
                  <a:schemeClr val="tx1"/>
                </a:solidFill>
                <a:latin typeface="+mn-lt"/>
                <a:cs typeface="Arial" pitchFamily="34" charset="0"/>
              </a:rPr>
              <a:t>.</a:t>
            </a:r>
            <a:br>
              <a:rPr lang="en-US" sz="600" dirty="0" smtClean="0">
                <a:solidFill>
                  <a:schemeClr val="tx1"/>
                </a:solidFill>
                <a:latin typeface="+mn-lt"/>
                <a:cs typeface="Arial" pitchFamily="34" charset="0"/>
              </a:rPr>
            </a:br>
            <a:r>
              <a:rPr lang="en-US" sz="600" dirty="0" smtClean="0">
                <a:solidFill>
                  <a:schemeClr val="tx1"/>
                </a:solidFill>
                <a:latin typeface="+mn-lt"/>
                <a:cs typeface="Arial" pitchFamily="34" charset="0"/>
              </a:rPr>
              <a:t>Do </a:t>
            </a:r>
            <a:r>
              <a:rPr lang="en-US" sz="600" dirty="0">
                <a:solidFill>
                  <a:schemeClr val="tx1"/>
                </a:solidFill>
                <a:latin typeface="+mn-lt"/>
                <a:cs typeface="Arial" pitchFamily="34" charset="0"/>
              </a:rPr>
              <a:t>not distribute without </a:t>
            </a:r>
            <a:r>
              <a:rPr lang="en-US" sz="600" dirty="0" smtClean="0">
                <a:solidFill>
                  <a:schemeClr val="tx1"/>
                </a:solidFill>
                <a:latin typeface="+mn-lt"/>
                <a:cs typeface="Arial" pitchFamily="34" charset="0"/>
              </a:rPr>
              <a:t>permission.</a:t>
            </a:r>
            <a:endParaRPr lang="en-US" sz="600" dirty="0">
              <a:solidFill>
                <a:schemeClr val="tx1"/>
              </a:solidFill>
              <a:latin typeface="+mn-lt"/>
              <a:cs typeface="Arial" pitchFamily="34" charset="0"/>
            </a:endParaRPr>
          </a:p>
        </p:txBody>
      </p:sp>
      <p:pic>
        <p:nvPicPr>
          <p:cNvPr id="6" name="pic Logo 2013 small" descr="Guidewire_logo+tagline_white.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66344" y="5998464"/>
            <a:ext cx="1819311" cy="521208"/>
          </a:xfrm>
          <a:prstGeom prst="rect">
            <a:avLst/>
          </a:prstGeom>
        </p:spPr>
      </p:pic>
      <p:sp>
        <p:nvSpPr>
          <p:cNvPr id="7" name="txt Lesson Subtitle"/>
          <p:cNvSpPr>
            <a:spLocks noGrp="1"/>
          </p:cNvSpPr>
          <p:nvPr>
            <p:ph type="body" sz="quarter" idx="10"/>
          </p:nvPr>
        </p:nvSpPr>
        <p:spPr>
          <a:xfrm>
            <a:off x="5718125" y="5946570"/>
            <a:ext cx="3089327" cy="273255"/>
          </a:xfrm>
        </p:spPr>
        <p:txBody>
          <a:bodyPr/>
          <a:lstStyle>
            <a:lvl1pPr algn="r">
              <a:buNone/>
              <a:defRPr sz="1600">
                <a:solidFill>
                  <a:schemeClr val="tx1"/>
                </a:solidFill>
                <a:latin typeface="Arial" pitchFamily="34" charset="0"/>
                <a:cs typeface="Arial" pitchFamily="34" charset="0"/>
              </a:defRPr>
            </a:lvl1pPr>
          </a:lstStyle>
          <a:p>
            <a:pPr lvl="0"/>
            <a:r>
              <a:rPr lang="en-US" smtClean="0"/>
              <a:t>Click to edit Master text styles</a:t>
            </a:r>
          </a:p>
        </p:txBody>
      </p:sp>
      <p:sp>
        <p:nvSpPr>
          <p:cNvPr id="33794" name="txt Lesson Title"/>
          <p:cNvSpPr>
            <a:spLocks noGrp="1" noChangeArrowheads="1"/>
          </p:cNvSpPr>
          <p:nvPr>
            <p:ph type="ctrTitle"/>
          </p:nvPr>
        </p:nvSpPr>
        <p:spPr>
          <a:xfrm>
            <a:off x="458788" y="2957371"/>
            <a:ext cx="8348662" cy="700229"/>
          </a:xfrm>
        </p:spPr>
        <p:txBody>
          <a:bodyPr anchor="t"/>
          <a:lstStyle>
            <a:lvl1pPr algn="r">
              <a:lnSpc>
                <a:spcPct val="100000"/>
              </a:lnSpc>
              <a:spcAft>
                <a:spcPct val="20000"/>
              </a:spcAft>
              <a:defRPr sz="3600" b="1">
                <a:solidFill>
                  <a:schemeClr val="tx1"/>
                </a:solidFill>
                <a:latin typeface="Arial" pitchFamily="34" charset="0"/>
                <a:cs typeface="Arial" pitchFamily="34" charset="0"/>
              </a:defRPr>
            </a:lvl1pPr>
          </a:lstStyle>
          <a:p>
            <a:r>
              <a:rPr lang="en-US" altLang="en-US" smtClean="0"/>
              <a:t>Click to edit Master title style</a:t>
            </a:r>
            <a:endParaRPr lang="en-US" altLang="en-US" dirty="0"/>
          </a:p>
        </p:txBody>
      </p:sp>
      <p:sp>
        <p:nvSpPr>
          <p:cNvPr id="14" name="rec Background Gradient"/>
          <p:cNvSpPr/>
          <p:nvPr userDrawn="1"/>
        </p:nvSpPr>
        <p:spPr bwMode="auto">
          <a:xfrm>
            <a:off x="81938" y="0"/>
            <a:ext cx="9089231" cy="6858000"/>
          </a:xfrm>
          <a:prstGeom prst="rect">
            <a:avLst/>
          </a:prstGeom>
          <a:gradFill flip="none" rotWithShape="1">
            <a:gsLst>
              <a:gs pos="1000">
                <a:srgbClr val="04628C"/>
              </a:gs>
              <a:gs pos="99000">
                <a:srgbClr val="07A6ED"/>
              </a:gs>
            </a:gsLst>
            <a:lin ang="8100000" scaled="1"/>
            <a:tileRect/>
          </a:gradFill>
          <a:ln w="317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109538" marR="0" indent="-109538" algn="ctr" defTabSz="914400" rtl="0" eaLnBrk="1" fontAlgn="base" latinLnBrk="0" hangingPunct="1">
              <a:lnSpc>
                <a:spcPct val="100000"/>
              </a:lnSpc>
              <a:spcBef>
                <a:spcPct val="50000"/>
              </a:spcBef>
              <a:spcAft>
                <a:spcPct val="0"/>
              </a:spcAft>
              <a:buClr>
                <a:schemeClr val="tx2"/>
              </a:buClr>
              <a:buSzTx/>
              <a:buFont typeface="Arial" charset="0"/>
              <a:buNone/>
              <a:tabLst/>
            </a:pPr>
            <a:endParaRPr kumimoji="0" lang="en-US" sz="1600" b="0" i="0" u="none" strike="noStrike" cap="none" normalizeH="0" baseline="0" dirty="0" smtClean="0">
              <a:ln>
                <a:noFill/>
              </a:ln>
              <a:solidFill>
                <a:srgbClr val="333333"/>
              </a:solidFill>
              <a:effectLst/>
              <a:latin typeface="+mj-lt"/>
            </a:endParaRPr>
          </a:p>
        </p:txBody>
      </p:sp>
      <p:grpSp>
        <p:nvGrpSpPr>
          <p:cNvPr id="15" name="rec GW Sidebar"/>
          <p:cNvGrpSpPr/>
          <p:nvPr userDrawn="1"/>
        </p:nvGrpSpPr>
        <p:grpSpPr>
          <a:xfrm>
            <a:off x="0" y="0"/>
            <a:ext cx="109538" cy="6858000"/>
            <a:chOff x="0" y="0"/>
            <a:chExt cx="109538" cy="6858000"/>
          </a:xfrm>
        </p:grpSpPr>
        <p:sp>
          <p:nvSpPr>
            <p:cNvPr id="16"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17"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18"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1"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3"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9"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grpSp>
      <p:sp>
        <p:nvSpPr>
          <p:cNvPr id="30" name="txt Copyright 2001-2013"/>
          <p:cNvSpPr txBox="1"/>
          <p:nvPr userDrawn="1"/>
        </p:nvSpPr>
        <p:spPr>
          <a:xfrm>
            <a:off x="5410200" y="6553200"/>
            <a:ext cx="3409950" cy="184666"/>
          </a:xfrm>
          <a:prstGeom prst="rect">
            <a:avLst/>
          </a:prstGeom>
          <a:noFill/>
        </p:spPr>
        <p:txBody>
          <a:bodyPr wrap="square" lIns="0" tIns="0" rIns="0" bIns="0">
            <a:spAutoFit/>
          </a:bodyPr>
          <a:lstStyle/>
          <a:p>
            <a:pPr algn="r">
              <a:spcBef>
                <a:spcPts val="600"/>
              </a:spcBef>
              <a:buClr>
                <a:schemeClr val="tx2"/>
              </a:buClr>
              <a:buFont typeface="Arial" charset="0"/>
              <a:buNone/>
              <a:defRPr/>
            </a:pPr>
            <a:r>
              <a:rPr lang="en-US" sz="600" dirty="0">
                <a:solidFill>
                  <a:schemeClr val="tx1"/>
                </a:solidFill>
                <a:latin typeface="+mn-lt"/>
                <a:cs typeface="Arial" pitchFamily="34" charset="0"/>
              </a:rPr>
              <a:t>© Guidewire Software, Inc. </a:t>
            </a:r>
            <a:r>
              <a:rPr lang="en-US" sz="600" dirty="0" smtClean="0">
                <a:solidFill>
                  <a:schemeClr val="tx1"/>
                </a:solidFill>
                <a:latin typeface="+mn-lt"/>
                <a:cs typeface="Arial" pitchFamily="34" charset="0"/>
              </a:rPr>
              <a:t>2001-2014. All </a:t>
            </a:r>
            <a:r>
              <a:rPr lang="en-US" sz="600" dirty="0">
                <a:solidFill>
                  <a:schemeClr val="tx1"/>
                </a:solidFill>
                <a:latin typeface="+mn-lt"/>
                <a:cs typeface="Arial" pitchFamily="34" charset="0"/>
              </a:rPr>
              <a:t>rights reserved</a:t>
            </a:r>
            <a:r>
              <a:rPr lang="en-US" sz="600" dirty="0" smtClean="0">
                <a:solidFill>
                  <a:schemeClr val="tx1"/>
                </a:solidFill>
                <a:latin typeface="+mn-lt"/>
                <a:cs typeface="Arial" pitchFamily="34" charset="0"/>
              </a:rPr>
              <a:t>.</a:t>
            </a:r>
            <a:br>
              <a:rPr lang="en-US" sz="600" dirty="0" smtClean="0">
                <a:solidFill>
                  <a:schemeClr val="tx1"/>
                </a:solidFill>
                <a:latin typeface="+mn-lt"/>
                <a:cs typeface="Arial" pitchFamily="34" charset="0"/>
              </a:rPr>
            </a:br>
            <a:r>
              <a:rPr lang="en-US" sz="600" dirty="0" smtClean="0">
                <a:solidFill>
                  <a:schemeClr val="tx1"/>
                </a:solidFill>
                <a:latin typeface="+mn-lt"/>
                <a:cs typeface="Arial" pitchFamily="34" charset="0"/>
              </a:rPr>
              <a:t>Do </a:t>
            </a:r>
            <a:r>
              <a:rPr lang="en-US" sz="600" dirty="0">
                <a:solidFill>
                  <a:schemeClr val="tx1"/>
                </a:solidFill>
                <a:latin typeface="+mn-lt"/>
                <a:cs typeface="Arial" pitchFamily="34" charset="0"/>
              </a:rPr>
              <a:t>not distribute without </a:t>
            </a:r>
            <a:r>
              <a:rPr lang="en-US" sz="600" dirty="0" smtClean="0">
                <a:solidFill>
                  <a:schemeClr val="tx1"/>
                </a:solidFill>
                <a:latin typeface="+mn-lt"/>
                <a:cs typeface="Arial" pitchFamily="34" charset="0"/>
              </a:rPr>
              <a:t>permission.</a:t>
            </a:r>
            <a:endParaRPr lang="en-US" sz="600" dirty="0">
              <a:solidFill>
                <a:schemeClr val="tx1"/>
              </a:solidFill>
              <a:latin typeface="+mn-lt"/>
              <a:cs typeface="Arial" pitchFamily="34" charset="0"/>
            </a:endParaRPr>
          </a:p>
        </p:txBody>
      </p:sp>
      <p:pic>
        <p:nvPicPr>
          <p:cNvPr id="31" name="pic Logo 2013 small" descr="Guidewire_logo+tagline_white.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66344" y="5998464"/>
            <a:ext cx="1819311" cy="521208"/>
          </a:xfrm>
          <a:prstGeom prst="rect">
            <a:avLst/>
          </a:prstGeom>
        </p:spPr>
      </p:pic>
    </p:spTree>
    <p:extLst>
      <p:ext uri="{BB962C8B-B14F-4D97-AF65-F5344CB8AC3E}">
        <p14:creationId xmlns:p14="http://schemas.microsoft.com/office/powerpoint/2010/main" val="2625288171"/>
      </p:ext>
    </p:extLst>
  </p:cSld>
  <p:clrMapOvr>
    <a:masterClrMapping/>
  </p:clrMapOv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Content"/>
          <p:cNvSpPr>
            <a:spLocks noGrp="1"/>
          </p:cNvSpPr>
          <p:nvPr>
            <p:ph idx="1"/>
          </p:nvPr>
        </p:nvSpPr>
        <p:spPr>
          <a:xfrm>
            <a:off x="521208" y="914400"/>
            <a:ext cx="832104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148485534"/>
      </p:ext>
    </p:extLst>
  </p:cSld>
  <p:clrMapOvr>
    <a:masterClrMapping/>
  </p:clrMapOv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xt Title"/>
          <p:cNvSpPr>
            <a:spLocks noGrp="1"/>
          </p:cNvSpPr>
          <p:nvPr>
            <p:ph type="title"/>
          </p:nvPr>
        </p:nvSpPr>
        <p:spPr>
          <a:xfrm>
            <a:off x="493776" y="118872"/>
            <a:ext cx="8321040" cy="742951"/>
          </a:xfrm>
        </p:spPr>
        <p:txBody>
          <a:bodyPr/>
          <a:lstStyle>
            <a:lvl1pPr>
              <a:defRPr sz="3200">
                <a:solidFill>
                  <a:srgbClr val="04628C"/>
                </a:solidFill>
                <a:latin typeface="+mj-lt"/>
                <a:cs typeface="Arial" pitchFamily="34" charset="0"/>
              </a:defRPr>
            </a:lvl1pPr>
          </a:lstStyle>
          <a:p>
            <a:r>
              <a:rPr lang="en-US" smtClean="0"/>
              <a:t>Click to edit Master title style</a:t>
            </a:r>
            <a:endParaRPr lang="en-US" dirty="0"/>
          </a:p>
        </p:txBody>
      </p:sp>
      <p:sp>
        <p:nvSpPr>
          <p:cNvPr id="5" name="txt SubTitle"/>
          <p:cNvSpPr>
            <a:spLocks noGrp="1"/>
          </p:cNvSpPr>
          <p:nvPr>
            <p:ph type="body" sz="quarter" idx="10"/>
          </p:nvPr>
        </p:nvSpPr>
        <p:spPr>
          <a:xfrm>
            <a:off x="493776" y="486102"/>
            <a:ext cx="8321040" cy="381000"/>
          </a:xfrm>
        </p:spPr>
        <p:txBody>
          <a:bodyPr/>
          <a:lstStyle>
            <a:lvl1pPr marL="0" indent="0">
              <a:buNone/>
              <a:defRPr lang="en-US" sz="2800" b="1" dirty="0">
                <a:solidFill>
                  <a:srgbClr val="04628C"/>
                </a:solidFill>
                <a:latin typeface="+mj-lt"/>
                <a:ea typeface="Arial" pitchFamily="34" charset="0"/>
                <a:cs typeface="Arial" pitchFamily="34" charset="0"/>
              </a:defRPr>
            </a:lvl1pPr>
          </a:lstStyle>
          <a:p>
            <a:pPr lvl="0"/>
            <a:r>
              <a:rPr lang="en-US" smtClean="0"/>
              <a:t>Click to edit Master text styles</a:t>
            </a:r>
          </a:p>
        </p:txBody>
      </p:sp>
      <p:sp>
        <p:nvSpPr>
          <p:cNvPr id="3" name="txt Content"/>
          <p:cNvSpPr>
            <a:spLocks noGrp="1"/>
          </p:cNvSpPr>
          <p:nvPr>
            <p:ph idx="1"/>
          </p:nvPr>
        </p:nvSpPr>
        <p:spPr>
          <a:xfrm>
            <a:off x="521208" y="914400"/>
            <a:ext cx="832104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718696925"/>
      </p:ext>
    </p:extLst>
  </p:cSld>
  <p:clrMapOvr>
    <a:masterClrMapping/>
  </p:clrMapOv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3" y="914399"/>
            <a:ext cx="4083050" cy="54864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Right Col Content"/>
          <p:cNvSpPr>
            <a:spLocks noGrp="1"/>
          </p:cNvSpPr>
          <p:nvPr>
            <p:ph sz="half" idx="2"/>
          </p:nvPr>
        </p:nvSpPr>
        <p:spPr>
          <a:xfrm>
            <a:off x="4754563" y="914399"/>
            <a:ext cx="408305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470386826"/>
      </p:ext>
    </p:extLst>
  </p:cSld>
  <p:clrMapOvr>
    <a:masterClrMapping/>
  </p:clrMapOv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lumn SubTitles">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smtClean="0"/>
              <a:t>Click to edit Master title style</a:t>
            </a:r>
            <a:endParaRPr lang="en-US" dirty="0"/>
          </a:p>
        </p:txBody>
      </p:sp>
      <p:sp>
        <p:nvSpPr>
          <p:cNvPr id="5" name="txt Left Col SubTitle"/>
          <p:cNvSpPr>
            <a:spLocks noGrp="1" noChangeArrowheads="1"/>
          </p:cNvSpPr>
          <p:nvPr>
            <p:ph type="subTitle" idx="10" hasCustomPrompt="1"/>
          </p:nvPr>
        </p:nvSpPr>
        <p:spPr>
          <a:xfrm>
            <a:off x="521208" y="914400"/>
            <a:ext cx="4087368" cy="838200"/>
          </a:xfrm>
          <a:ln algn="ctr"/>
        </p:spPr>
        <p:txBody>
          <a:bodyPr/>
          <a:lstStyle>
            <a:lvl1pPr marL="0" indent="0">
              <a:buClr>
                <a:srgbClr val="800000"/>
              </a:buClr>
              <a:buFont typeface="Wingdings 3" pitchFamily="18" charset="2"/>
              <a:buNone/>
              <a:defRPr sz="2400" baseline="0"/>
            </a:lvl1pPr>
          </a:lstStyle>
          <a:p>
            <a:r>
              <a:rPr lang="en-US" altLang="en-US" dirty="0" smtClean="0"/>
              <a:t>Click to edit Left Column Subtitle</a:t>
            </a:r>
            <a:endParaRPr lang="en-US" altLang="en-US" dirty="0"/>
          </a:p>
        </p:txBody>
      </p:sp>
      <p:sp>
        <p:nvSpPr>
          <p:cNvPr id="8" name="txt Right Col SubTitle"/>
          <p:cNvSpPr>
            <a:spLocks noGrp="1"/>
          </p:cNvSpPr>
          <p:nvPr>
            <p:ph type="body" sz="quarter" idx="11" hasCustomPrompt="1"/>
          </p:nvPr>
        </p:nvSpPr>
        <p:spPr>
          <a:xfrm>
            <a:off x="4754880" y="914400"/>
            <a:ext cx="4087368" cy="838200"/>
          </a:xfrm>
        </p:spPr>
        <p:txBody>
          <a:bodyPr/>
          <a:lstStyle>
            <a:lvl1pPr marL="0" indent="0">
              <a:buFontTx/>
              <a:buNone/>
              <a:defRPr/>
            </a:lvl1pPr>
          </a:lstStyle>
          <a:p>
            <a:r>
              <a:rPr lang="en-US" altLang="en-US" dirty="0" smtClean="0"/>
              <a:t>Click to edit Right Column Subtitle</a:t>
            </a:r>
            <a:endParaRPr lang="en-US" altLang="en-US" dirty="0"/>
          </a:p>
        </p:txBody>
      </p:sp>
      <p:sp>
        <p:nvSpPr>
          <p:cNvPr id="4" name="txt Left Col Content"/>
          <p:cNvSpPr>
            <a:spLocks noGrp="1"/>
          </p:cNvSpPr>
          <p:nvPr>
            <p:ph sz="half" idx="2"/>
          </p:nvPr>
        </p:nvSpPr>
        <p:spPr>
          <a:xfrm>
            <a:off x="4754563" y="1752600"/>
            <a:ext cx="4083050" cy="4637088"/>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3" name="txt Right Col Content"/>
          <p:cNvSpPr>
            <a:spLocks noGrp="1"/>
          </p:cNvSpPr>
          <p:nvPr>
            <p:ph sz="half" idx="1"/>
          </p:nvPr>
        </p:nvSpPr>
        <p:spPr>
          <a:xfrm>
            <a:off x="519113" y="1752600"/>
            <a:ext cx="4083050" cy="4637088"/>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044806687"/>
      </p:ext>
    </p:extLst>
  </p:cSld>
  <p:clrMapOvr>
    <a:masterClrMapping/>
  </p:clrMapOvr>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hree Columns">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cs typeface="Arial" pitchFamily="34" charset="0"/>
              </a:defRPr>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399"/>
            <a:ext cx="2651760" cy="54864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txt Center Col Content"/>
          <p:cNvSpPr>
            <a:spLocks noGrp="1"/>
          </p:cNvSpPr>
          <p:nvPr>
            <p:ph sz="half" idx="10"/>
          </p:nvPr>
        </p:nvSpPr>
        <p:spPr>
          <a:xfrm>
            <a:off x="3352800" y="914399"/>
            <a:ext cx="265176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Right Col Content"/>
          <p:cNvSpPr>
            <a:spLocks noGrp="1"/>
          </p:cNvSpPr>
          <p:nvPr>
            <p:ph sz="half" idx="2"/>
          </p:nvPr>
        </p:nvSpPr>
        <p:spPr>
          <a:xfrm>
            <a:off x="6172200" y="914399"/>
            <a:ext cx="265176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330886176"/>
      </p:ext>
    </p:extLst>
  </p:cSld>
  <p:clrMapOvr>
    <a:masterClrMapping/>
  </p:clrMapOvr>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hree Columns SubTitles">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1752601"/>
            <a:ext cx="2651760" cy="46370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txt Center Col Content"/>
          <p:cNvSpPr>
            <a:spLocks noGrp="1"/>
          </p:cNvSpPr>
          <p:nvPr>
            <p:ph sz="half" idx="10"/>
          </p:nvPr>
        </p:nvSpPr>
        <p:spPr>
          <a:xfrm>
            <a:off x="33528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Right Col Content"/>
          <p:cNvSpPr>
            <a:spLocks noGrp="1"/>
          </p:cNvSpPr>
          <p:nvPr>
            <p:ph sz="half" idx="2"/>
          </p:nvPr>
        </p:nvSpPr>
        <p:spPr>
          <a:xfrm>
            <a:off x="61722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8" name="txt Left Col SubTitle"/>
          <p:cNvSpPr>
            <a:spLocks noGrp="1" noChangeArrowheads="1"/>
          </p:cNvSpPr>
          <p:nvPr>
            <p:ph type="subTitle" idx="11" hasCustomPrompt="1"/>
          </p:nvPr>
        </p:nvSpPr>
        <p:spPr>
          <a:xfrm>
            <a:off x="521208"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Left Column Subtitle</a:t>
            </a:r>
            <a:endParaRPr lang="en-US" altLang="en-US" dirty="0"/>
          </a:p>
        </p:txBody>
      </p:sp>
      <p:sp>
        <p:nvSpPr>
          <p:cNvPr id="13" name="txt Center Col SubTitle"/>
          <p:cNvSpPr>
            <a:spLocks noGrp="1"/>
          </p:cNvSpPr>
          <p:nvPr>
            <p:ph type="body" sz="quarter" idx="12" hasCustomPrompt="1"/>
          </p:nvPr>
        </p:nvSpPr>
        <p:spPr>
          <a:xfrm>
            <a:off x="3355848" y="914400"/>
            <a:ext cx="2651760" cy="841248"/>
          </a:xfrm>
        </p:spPr>
        <p:txBody>
          <a:bodyPr/>
          <a:lstStyle>
            <a:lvl1pPr marL="0" indent="0">
              <a:buNone/>
              <a:defRPr>
                <a:solidFill>
                  <a:schemeClr val="bg1"/>
                </a:solidFill>
              </a:defRPr>
            </a:lvl1pPr>
            <a:lvl2pPr marL="400050" indent="0">
              <a:buNone/>
              <a:defRPr/>
            </a:lvl2pPr>
            <a:lvl3pPr marL="742950" indent="0">
              <a:buNone/>
              <a:defRPr/>
            </a:lvl3pPr>
            <a:lvl4pPr marL="1084263" indent="0">
              <a:buNone/>
              <a:defRPr/>
            </a:lvl4pPr>
            <a:lvl5pPr marL="1716088" indent="0">
              <a:buNone/>
              <a:defRPr/>
            </a:lvl5pPr>
          </a:lstStyle>
          <a:p>
            <a:r>
              <a:rPr lang="en-US" altLang="en-US" dirty="0" smtClean="0"/>
              <a:t>Click to edit Center Column Subtitle</a:t>
            </a:r>
            <a:endParaRPr lang="en-US" altLang="en-US" dirty="0"/>
          </a:p>
        </p:txBody>
      </p:sp>
      <p:sp>
        <p:nvSpPr>
          <p:cNvPr id="15" name="txt Right Col SubTitle"/>
          <p:cNvSpPr>
            <a:spLocks noGrp="1"/>
          </p:cNvSpPr>
          <p:nvPr>
            <p:ph type="body" sz="quarter" idx="13" hasCustomPrompt="1"/>
          </p:nvPr>
        </p:nvSpPr>
        <p:spPr>
          <a:xfrm>
            <a:off x="6172200" y="914400"/>
            <a:ext cx="2651760" cy="841248"/>
          </a:xfrm>
        </p:spPr>
        <p:txBody>
          <a:bodyPr/>
          <a:lstStyle>
            <a:lvl1pPr marL="0" indent="0">
              <a:buNone/>
              <a:defRPr>
                <a:solidFill>
                  <a:schemeClr val="bg1"/>
                </a:solidFill>
              </a:defRPr>
            </a:lvl1pPr>
            <a:lvl2pPr marL="400050" indent="0">
              <a:buNone/>
              <a:defRPr/>
            </a:lvl2pPr>
            <a:lvl3pPr marL="742950" indent="0">
              <a:buNone/>
              <a:defRPr/>
            </a:lvl3pPr>
            <a:lvl4pPr marL="1084263" indent="0">
              <a:buNone/>
              <a:defRPr/>
            </a:lvl4pPr>
            <a:lvl5pPr marL="1716088" indent="0">
              <a:buNone/>
              <a:defRPr/>
            </a:lvl5pPr>
          </a:lstStyle>
          <a:p>
            <a:r>
              <a:rPr lang="en-US" altLang="en-US" dirty="0" smtClean="0"/>
              <a:t>Click to edit Right Column Subtitle</a:t>
            </a:r>
            <a:endParaRPr lang="en-US" altLang="en-US" dirty="0"/>
          </a:p>
        </p:txBody>
      </p:sp>
    </p:spTree>
    <p:extLst>
      <p:ext uri="{BB962C8B-B14F-4D97-AF65-F5344CB8AC3E}">
        <p14:creationId xmlns:p14="http://schemas.microsoft.com/office/powerpoint/2010/main" val="3581193381"/>
      </p:ext>
    </p:extLst>
  </p:cSld>
  <p:clrMapOvr>
    <a:masterClrMapping/>
  </p:clrMapOvr>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Bottom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Arial" pitchFamily="34" charset="0"/>
              </a:defRPr>
            </a:lvl1pPr>
          </a:lstStyle>
          <a:p>
            <a:r>
              <a:rPr lang="en-US" smtClean="0"/>
              <a:t>Click to edit Master title style</a:t>
            </a:r>
            <a:endParaRPr lang="en-US" dirty="0"/>
          </a:p>
        </p:txBody>
      </p:sp>
      <p:sp>
        <p:nvSpPr>
          <p:cNvPr id="3" name="txt Bottom Content"/>
          <p:cNvSpPr>
            <a:spLocks noGrp="1"/>
          </p:cNvSpPr>
          <p:nvPr>
            <p:ph idx="1"/>
          </p:nvPr>
        </p:nvSpPr>
        <p:spPr>
          <a:xfrm>
            <a:off x="519113" y="36576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554733541"/>
      </p:ext>
    </p:extLst>
  </p:cSld>
  <p:clrMapOvr>
    <a:masterClrMapping/>
  </p:clrMapOvr>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Top And Bottom Content">
    <p:spTree>
      <p:nvGrpSpPr>
        <p:cNvPr id="1" name=""/>
        <p:cNvGrpSpPr/>
        <p:nvPr/>
      </p:nvGrpSpPr>
      <p:grpSpPr>
        <a:xfrm>
          <a:off x="0" y="0"/>
          <a:ext cx="0" cy="0"/>
          <a:chOff x="0" y="0"/>
          <a:chExt cx="0" cy="0"/>
        </a:xfrm>
      </p:grpSpPr>
      <p:sp>
        <p:nvSpPr>
          <p:cNvPr id="2" name="txt Title"/>
          <p:cNvSpPr>
            <a:spLocks noGrp="1"/>
          </p:cNvSpPr>
          <p:nvPr>
            <p:ph type="title"/>
          </p:nvPr>
        </p:nvSpPr>
        <p:spPr>
          <a:xfrm>
            <a:off x="493776" y="120650"/>
            <a:ext cx="8318500" cy="742951"/>
          </a:xfrm>
        </p:spPr>
        <p:txBody>
          <a:bodyPr/>
          <a:lstStyle>
            <a:lvl1pPr>
              <a:defRPr sz="3200">
                <a:solidFill>
                  <a:srgbClr val="04628C"/>
                </a:solidFill>
                <a:latin typeface="+mj-lt"/>
                <a:cs typeface="Arial" pitchFamily="34" charset="0"/>
              </a:defRPr>
            </a:lvl1pPr>
          </a:lstStyle>
          <a:p>
            <a:r>
              <a:rPr lang="en-US" smtClean="0"/>
              <a:t>Click to edit Master title style</a:t>
            </a:r>
            <a:endParaRPr lang="en-US" dirty="0"/>
          </a:p>
        </p:txBody>
      </p:sp>
      <p:sp>
        <p:nvSpPr>
          <p:cNvPr id="3" name="txt Bottom Content"/>
          <p:cNvSpPr>
            <a:spLocks noGrp="1"/>
          </p:cNvSpPr>
          <p:nvPr>
            <p:ph idx="1"/>
          </p:nvPr>
        </p:nvSpPr>
        <p:spPr>
          <a:xfrm>
            <a:off x="519113" y="36576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txt Top Content"/>
          <p:cNvSpPr>
            <a:spLocks noGrp="1"/>
          </p:cNvSpPr>
          <p:nvPr>
            <p:ph type="body" sz="quarter" idx="10"/>
          </p:nvPr>
        </p:nvSpPr>
        <p:spPr>
          <a:xfrm>
            <a:off x="521208" y="914400"/>
            <a:ext cx="8321040" cy="27432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168248584"/>
      </p:ext>
    </p:extLst>
  </p:cSld>
  <p:clrMapOvr>
    <a:masterClrMapping/>
  </p:clrMapOvr>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Top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Calibri" pitchFamily="34" charset="0"/>
              </a:defRPr>
            </a:lvl1pPr>
          </a:lstStyle>
          <a:p>
            <a:r>
              <a:rPr lang="en-US" smtClean="0"/>
              <a:t>Click to edit Master title style</a:t>
            </a:r>
            <a:endParaRPr lang="en-US" dirty="0"/>
          </a:p>
        </p:txBody>
      </p:sp>
      <p:sp>
        <p:nvSpPr>
          <p:cNvPr id="3" name="txt Top Content"/>
          <p:cNvSpPr>
            <a:spLocks noGrp="1"/>
          </p:cNvSpPr>
          <p:nvPr>
            <p:ph idx="1"/>
          </p:nvPr>
        </p:nvSpPr>
        <p:spPr>
          <a:xfrm>
            <a:off x="519113" y="9144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361761630"/>
      </p:ext>
    </p:extLst>
  </p:cSld>
  <p:clrMapOvr>
    <a:masterClrMapping/>
  </p:clrMapOvr>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Bottom Content"/>
          <p:cNvSpPr>
            <a:spLocks noGrp="1"/>
          </p:cNvSpPr>
          <p:nvPr>
            <p:ph idx="1"/>
          </p:nvPr>
        </p:nvSpPr>
        <p:spPr>
          <a:xfrm>
            <a:off x="519113" y="45720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704636995"/>
      </p:ext>
    </p:extLst>
  </p:cSld>
  <p:clrMapOvr>
    <a:masterClrMapping/>
  </p:clrMapOvr>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Top Middle Bottom">
    <p:spTree>
      <p:nvGrpSpPr>
        <p:cNvPr id="1" name=""/>
        <p:cNvGrpSpPr/>
        <p:nvPr/>
      </p:nvGrpSpPr>
      <p:grpSpPr>
        <a:xfrm>
          <a:off x="0" y="0"/>
          <a:ext cx="0" cy="0"/>
          <a:chOff x="0" y="0"/>
          <a:chExt cx="0" cy="0"/>
        </a:xfrm>
      </p:grpSpPr>
      <p:sp>
        <p:nvSpPr>
          <p:cNvPr id="2" name="txt Title"/>
          <p:cNvSpPr>
            <a:spLocks noGrp="1"/>
          </p:cNvSpPr>
          <p:nvPr>
            <p:ph type="title"/>
          </p:nvPr>
        </p:nvSpPr>
        <p:spPr>
          <a:xfrm>
            <a:off x="493776" y="120650"/>
            <a:ext cx="8318500" cy="742951"/>
          </a:xfrm>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5" name="txt Top Content"/>
          <p:cNvSpPr>
            <a:spLocks noGrp="1"/>
          </p:cNvSpPr>
          <p:nvPr>
            <p:ph type="body" sz="quarter" idx="10"/>
          </p:nvPr>
        </p:nvSpPr>
        <p:spPr>
          <a:xfrm>
            <a:off x="521208" y="914400"/>
            <a:ext cx="8321040" cy="18288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txt Middle Content"/>
          <p:cNvSpPr>
            <a:spLocks noGrp="1"/>
          </p:cNvSpPr>
          <p:nvPr>
            <p:ph idx="11"/>
          </p:nvPr>
        </p:nvSpPr>
        <p:spPr>
          <a:xfrm>
            <a:off x="520700" y="27432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3" name="txt Bottom Content"/>
          <p:cNvSpPr>
            <a:spLocks noGrp="1"/>
          </p:cNvSpPr>
          <p:nvPr>
            <p:ph idx="1"/>
          </p:nvPr>
        </p:nvSpPr>
        <p:spPr>
          <a:xfrm>
            <a:off x="519113" y="45720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683751491"/>
      </p:ext>
    </p:extLst>
  </p:cSld>
  <p:clrMapOvr>
    <a:masterClrMapping/>
  </p:clrMapOvr>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Top Content"/>
          <p:cNvSpPr>
            <a:spLocks noGrp="1"/>
          </p:cNvSpPr>
          <p:nvPr>
            <p:ph idx="1"/>
          </p:nvPr>
        </p:nvSpPr>
        <p:spPr>
          <a:xfrm>
            <a:off x="519113" y="9144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165869696"/>
      </p:ext>
    </p:extLst>
  </p:cSld>
  <p:clrMapOvr>
    <a:masterClrMapping/>
  </p:clrMapOvr>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Left Small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401"/>
            <a:ext cx="2651760" cy="54752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353529206"/>
      </p:ext>
    </p:extLst>
  </p:cSld>
  <p:clrMapOvr>
    <a:masterClrMapping/>
  </p:clrMapOvr>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Left Small Column SubTitle">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1752601"/>
            <a:ext cx="2651760" cy="46370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8" name="txt Left Col SubTitle"/>
          <p:cNvSpPr>
            <a:spLocks noGrp="1" noChangeArrowheads="1"/>
          </p:cNvSpPr>
          <p:nvPr>
            <p:ph type="subTitle" idx="11" hasCustomPrompt="1"/>
          </p:nvPr>
        </p:nvSpPr>
        <p:spPr>
          <a:xfrm>
            <a:off x="521208"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Left Column Subtitle</a:t>
            </a:r>
            <a:endParaRPr lang="en-US" altLang="en-US" dirty="0"/>
          </a:p>
        </p:txBody>
      </p:sp>
    </p:spTree>
    <p:extLst>
      <p:ext uri="{BB962C8B-B14F-4D97-AF65-F5344CB8AC3E}">
        <p14:creationId xmlns:p14="http://schemas.microsoft.com/office/powerpoint/2010/main" val="1366646524"/>
      </p:ext>
    </p:extLst>
  </p:cSld>
  <p:clrMapOvr>
    <a:masterClrMapping/>
  </p:clrMapOvr>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Lef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3" y="914401"/>
            <a:ext cx="4083050" cy="5475289"/>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132715863"/>
      </p:ext>
    </p:extLst>
  </p:cSld>
  <p:clrMapOvr>
    <a:masterClrMapping/>
  </p:clrMapOvr>
  <p:transition/>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Left Half Column SubTitle">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smtClean="0"/>
              <a:t>Click to edit Master title style</a:t>
            </a:r>
            <a:endParaRPr lang="en-US" dirty="0"/>
          </a:p>
        </p:txBody>
      </p:sp>
      <p:sp>
        <p:nvSpPr>
          <p:cNvPr id="5" name="txt Left Col SubTitle"/>
          <p:cNvSpPr>
            <a:spLocks noGrp="1" noChangeArrowheads="1"/>
          </p:cNvSpPr>
          <p:nvPr>
            <p:ph type="subTitle" idx="10" hasCustomPrompt="1"/>
          </p:nvPr>
        </p:nvSpPr>
        <p:spPr>
          <a:xfrm>
            <a:off x="521208" y="914400"/>
            <a:ext cx="4087368"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Left Column Subtitle</a:t>
            </a:r>
            <a:endParaRPr lang="en-US" altLang="en-US" dirty="0"/>
          </a:p>
        </p:txBody>
      </p:sp>
      <p:sp>
        <p:nvSpPr>
          <p:cNvPr id="3" name="txt Right Col Content"/>
          <p:cNvSpPr>
            <a:spLocks noGrp="1"/>
          </p:cNvSpPr>
          <p:nvPr>
            <p:ph sz="half" idx="1"/>
          </p:nvPr>
        </p:nvSpPr>
        <p:spPr>
          <a:xfrm>
            <a:off x="519113" y="1752600"/>
            <a:ext cx="4083050" cy="4637088"/>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487866613"/>
      </p:ext>
    </p:extLst>
  </p:cSld>
  <p:clrMapOvr>
    <a:masterClrMapping/>
  </p:clrMapOvr>
  <p:transition/>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Left Big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1" y="914399"/>
            <a:ext cx="5532120" cy="54864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597061337"/>
      </p:ext>
    </p:extLst>
  </p:cSld>
  <p:clrMapOvr>
    <a:masterClrMapping/>
  </p:clrMapOvr>
  <p:transition/>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4722577"/>
      </p:ext>
    </p:extLst>
  </p:cSld>
  <p:clrMapOvr>
    <a:masterClrMapping/>
  </p:clrMapOvr>
  <p:transition/>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Right Small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914401"/>
            <a:ext cx="2651760" cy="54752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313684978"/>
      </p:ext>
    </p:extLst>
  </p:cSld>
  <p:clrMapOvr>
    <a:masterClrMapping/>
  </p:clrMapOvr>
  <p:transition/>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Right Small Column SubTitle">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11" name="txt Right Col SubTitle"/>
          <p:cNvSpPr>
            <a:spLocks noGrp="1" noChangeArrowheads="1"/>
          </p:cNvSpPr>
          <p:nvPr>
            <p:ph type="subTitle" idx="11" hasCustomPrompt="1"/>
          </p:nvPr>
        </p:nvSpPr>
        <p:spPr>
          <a:xfrm>
            <a:off x="6172200"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Right Column Subtitle</a:t>
            </a:r>
            <a:endParaRPr lang="en-US" altLang="en-US" dirty="0"/>
          </a:p>
        </p:txBody>
      </p:sp>
    </p:spTree>
    <p:extLst>
      <p:ext uri="{BB962C8B-B14F-4D97-AF65-F5344CB8AC3E}">
        <p14:creationId xmlns:p14="http://schemas.microsoft.com/office/powerpoint/2010/main" val="4276675117"/>
      </p:ext>
    </p:extLst>
  </p:cSld>
  <p:clrMapOvr>
    <a:masterClrMapping/>
  </p:clrMapOvr>
  <p:transition/>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Righ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4754563" y="914401"/>
            <a:ext cx="4083050" cy="54752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037283543"/>
      </p:ext>
    </p:extLst>
  </p:cSld>
  <p:clrMapOvr>
    <a:masterClrMapping/>
  </p:clrMapOvr>
  <p:transition/>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Right Half Column SubTitle">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smtClean="0"/>
              <a:t>Click to edit Master title style</a:t>
            </a:r>
            <a:endParaRPr lang="en-US"/>
          </a:p>
        </p:txBody>
      </p:sp>
      <p:sp>
        <p:nvSpPr>
          <p:cNvPr id="8" name="txt Right Col SubTitle"/>
          <p:cNvSpPr>
            <a:spLocks noGrp="1"/>
          </p:cNvSpPr>
          <p:nvPr>
            <p:ph type="body" sz="quarter" idx="11" hasCustomPrompt="1"/>
          </p:nvPr>
        </p:nvSpPr>
        <p:spPr>
          <a:xfrm>
            <a:off x="4754880" y="914400"/>
            <a:ext cx="4087368" cy="838200"/>
          </a:xfrm>
        </p:spPr>
        <p:txBody>
          <a:bodyPr/>
          <a:lstStyle>
            <a:lvl1pPr marL="0" indent="0">
              <a:buFontTx/>
              <a:buNone/>
              <a:defRPr/>
            </a:lvl1pPr>
          </a:lstStyle>
          <a:p>
            <a:r>
              <a:rPr lang="en-US" altLang="en-US" dirty="0" smtClean="0"/>
              <a:t>Click to edit Right Column Subtitle</a:t>
            </a:r>
            <a:endParaRPr lang="en-US" altLang="en-US" dirty="0"/>
          </a:p>
        </p:txBody>
      </p:sp>
      <p:sp>
        <p:nvSpPr>
          <p:cNvPr id="4" name="txt Right Col Content"/>
          <p:cNvSpPr>
            <a:spLocks noGrp="1"/>
          </p:cNvSpPr>
          <p:nvPr>
            <p:ph sz="half" idx="2"/>
          </p:nvPr>
        </p:nvSpPr>
        <p:spPr>
          <a:xfrm>
            <a:off x="4754563" y="1752600"/>
            <a:ext cx="4083050" cy="4637088"/>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967609076"/>
      </p:ext>
    </p:extLst>
  </p:cSld>
  <p:clrMapOvr>
    <a:masterClrMapping/>
  </p:clrMapOvr>
  <p:transition/>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Right Big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3305175" y="914400"/>
            <a:ext cx="553212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272425577"/>
      </p:ext>
    </p:extLst>
  </p:cSld>
  <p:clrMapOvr>
    <a:masterClrMapping/>
  </p:clrMapOvr>
  <p:transition/>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Notes Only">
    <p:spTree>
      <p:nvGrpSpPr>
        <p:cNvPr id="1" name=""/>
        <p:cNvGrpSpPr/>
        <p:nvPr/>
      </p:nvGrpSpPr>
      <p:grpSpPr>
        <a:xfrm>
          <a:off x="0" y="0"/>
          <a:ext cx="0" cy="0"/>
          <a:chOff x="0" y="0"/>
          <a:chExt cx="0" cy="0"/>
        </a:xfrm>
      </p:grpSpPr>
      <p:sp>
        <p:nvSpPr>
          <p:cNvPr id="4" name="txt Title Fixed NotesOnly"/>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solidFill>
                  <a:srgbClr val="CC0099"/>
                </a:solidFill>
                <a:latin typeface="+mj-lt"/>
                <a:cs typeface="Arial" pitchFamily="34" charset="0"/>
              </a:rPr>
              <a:t>(Notes only slide)</a:t>
            </a:r>
            <a:endParaRPr lang="en-US" sz="3200" dirty="0" smtClean="0">
              <a:latin typeface="+mj-lt"/>
              <a:cs typeface="Arial" pitchFamily="34" charset="0"/>
            </a:endParaRPr>
          </a:p>
        </p:txBody>
      </p:sp>
      <p:sp>
        <p:nvSpPr>
          <p:cNvPr id="3" name="txt Title Fixed NotesOnly"/>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solidFill>
                  <a:srgbClr val="CC0099"/>
                </a:solidFill>
                <a:latin typeface="+mj-lt"/>
                <a:cs typeface="Arial" pitchFamily="34" charset="0"/>
              </a:rPr>
              <a:t>(Notes only slide)</a:t>
            </a:r>
            <a:endParaRPr lang="en-US" sz="3200" dirty="0" smtClean="0">
              <a:latin typeface="+mj-lt"/>
              <a:cs typeface="Arial" pitchFamily="34" charset="0"/>
            </a:endParaRPr>
          </a:p>
        </p:txBody>
      </p:sp>
    </p:spTree>
    <p:extLst>
      <p:ext uri="{BB962C8B-B14F-4D97-AF65-F5344CB8AC3E}">
        <p14:creationId xmlns:p14="http://schemas.microsoft.com/office/powerpoint/2010/main" val="3199647868"/>
      </p:ext>
    </p:extLst>
  </p:cSld>
  <p:clrMapOvr>
    <a:masterClrMapping/>
  </p:clrMapOvr>
  <p:transition/>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Left Small Column +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400"/>
            <a:ext cx="2651760" cy="36576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Bottom Content"/>
          <p:cNvSpPr>
            <a:spLocks noGrp="1"/>
          </p:cNvSpPr>
          <p:nvPr>
            <p:ph idx="10"/>
          </p:nvPr>
        </p:nvSpPr>
        <p:spPr>
          <a:xfrm>
            <a:off x="521208" y="45720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503653025"/>
      </p:ext>
    </p:extLst>
  </p:cSld>
  <p:clrMapOvr>
    <a:masterClrMapping/>
  </p:clrMapOvr>
  <p:transition/>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Left Small Column + Bottom">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400"/>
            <a:ext cx="2651760" cy="27432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Bottom Content"/>
          <p:cNvSpPr>
            <a:spLocks noGrp="1"/>
          </p:cNvSpPr>
          <p:nvPr>
            <p:ph idx="10"/>
          </p:nvPr>
        </p:nvSpPr>
        <p:spPr>
          <a:xfrm>
            <a:off x="521208" y="36576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897130001"/>
      </p:ext>
    </p:extLst>
  </p:cSld>
  <p:clrMapOvr>
    <a:masterClrMapping/>
  </p:clrMapOvr>
  <p:transition/>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eft Small Column + Top">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3657600"/>
            <a:ext cx="2651760" cy="27432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Top Content"/>
          <p:cNvSpPr>
            <a:spLocks noGrp="1"/>
          </p:cNvSpPr>
          <p:nvPr>
            <p:ph idx="10"/>
          </p:nvPr>
        </p:nvSpPr>
        <p:spPr>
          <a:xfrm>
            <a:off x="521208" y="9144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059471830"/>
      </p:ext>
    </p:extLst>
  </p:cSld>
  <p:clrMapOvr>
    <a:masterClrMapping/>
  </p:clrMapOvr>
  <p:transition/>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Left Small Column +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2743200"/>
            <a:ext cx="2651760" cy="36576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Top Content"/>
          <p:cNvSpPr>
            <a:spLocks noGrp="1"/>
          </p:cNvSpPr>
          <p:nvPr>
            <p:ph idx="10"/>
          </p:nvPr>
        </p:nvSpPr>
        <p:spPr>
          <a:xfrm>
            <a:off x="521208" y="914400"/>
            <a:ext cx="8321040" cy="18288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728369848"/>
      </p:ext>
    </p:extLst>
  </p:cSld>
  <p:clrMapOvr>
    <a:masterClrMapping/>
  </p:clrMapOvr>
  <p:transition/>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Tree>
    <p:extLst>
      <p:ext uri="{BB962C8B-B14F-4D97-AF65-F5344CB8AC3E}">
        <p14:creationId xmlns:p14="http://schemas.microsoft.com/office/powerpoint/2010/main" val="1860621709"/>
      </p:ext>
    </p:extLst>
  </p:cSld>
  <p:clrMapOvr>
    <a:masterClrMapping/>
  </p:clrMapOvr>
  <p:transition/>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Lesson Outline">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outline</a:t>
            </a:r>
          </a:p>
        </p:txBody>
      </p:sp>
      <p:sp>
        <p:nvSpPr>
          <p:cNvPr id="3" name="txt Topic Content"/>
          <p:cNvSpPr>
            <a:spLocks noGrp="1"/>
          </p:cNvSpPr>
          <p:nvPr>
            <p:ph idx="1" hasCustomPrompt="1"/>
          </p:nvPr>
        </p:nvSpPr>
        <p:spPr>
          <a:xfrm>
            <a:off x="519113" y="914400"/>
            <a:ext cx="8318500" cy="5486400"/>
          </a:xfrm>
        </p:spPr>
        <p:txBody>
          <a:bodyPr/>
          <a:lstStyle>
            <a:lvl1pPr marL="285750" indent="-285750" algn="l" rtl="0" eaLnBrk="0" fontAlgn="base" hangingPunct="0">
              <a:lnSpc>
                <a:spcPct val="150000"/>
              </a:lnSpc>
              <a:spcBef>
                <a:spcPct val="40000"/>
              </a:spcBef>
              <a:spcAft>
                <a:spcPct val="0"/>
              </a:spcAft>
              <a:buClr>
                <a:srgbClr val="04628C"/>
              </a:buClr>
              <a:buSzPct val="90000"/>
              <a:buFont typeface="Arial" charset="0"/>
              <a:buChar char="•"/>
              <a:defRPr lang="en-US" sz="2800" baseline="0" dirty="0" smtClean="0">
                <a:solidFill>
                  <a:srgbClr val="C0C0C0"/>
                </a:solidFill>
                <a:latin typeface="+mn-lt"/>
                <a:ea typeface="Calibri" pitchFamily="34" charset="0"/>
                <a:cs typeface="Calibri" pitchFamily="34" charset="0"/>
              </a:defRPr>
            </a:lvl1pPr>
            <a:lvl2pPr marL="400050" indent="0">
              <a:buClr>
                <a:srgbClr val="04628C"/>
              </a:buClr>
              <a:buFontTx/>
              <a:buNone/>
              <a:defRPr/>
            </a:lvl2pPr>
            <a:lvl3pPr marL="742950" indent="0">
              <a:buClr>
                <a:srgbClr val="04628C"/>
              </a:buClr>
              <a:buFontTx/>
              <a:buNone/>
              <a:defRPr/>
            </a:lvl3pPr>
            <a:lvl4pPr marL="1084263" indent="0">
              <a:buClr>
                <a:srgbClr val="04628C"/>
              </a:buClr>
              <a:buFontTx/>
              <a:buNone/>
              <a:defRPr/>
            </a:lvl4pPr>
            <a:lvl5pPr>
              <a:buClr>
                <a:srgbClr val="04628C"/>
              </a:buClr>
              <a:buFont typeface="Calibri" pitchFamily="34" charset="0"/>
              <a:buChar char="-"/>
              <a:defRPr/>
            </a:lvl5pPr>
          </a:lstStyle>
          <a:p>
            <a:pPr lvl="0"/>
            <a:r>
              <a:rPr lang="en-US" dirty="0" smtClean="0"/>
              <a:t>Topic 01 (Current topic = black font color)</a:t>
            </a:r>
          </a:p>
          <a:p>
            <a:pPr lvl="0"/>
            <a:r>
              <a:rPr lang="en-US" dirty="0" smtClean="0"/>
              <a:t>Topic 02</a:t>
            </a:r>
          </a:p>
          <a:p>
            <a:pPr lvl="0"/>
            <a:r>
              <a:rPr lang="en-US" dirty="0" smtClean="0"/>
              <a:t>Topic 03</a:t>
            </a:r>
          </a:p>
          <a:p>
            <a:pPr lvl="0"/>
            <a:r>
              <a:rPr lang="en-US" dirty="0" smtClean="0"/>
              <a:t>Topic 04</a:t>
            </a:r>
          </a:p>
          <a:p>
            <a:pPr lvl="0"/>
            <a:endParaRPr lang="en-US" dirty="0" smtClean="0"/>
          </a:p>
        </p:txBody>
      </p:sp>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outline</a:t>
            </a:r>
          </a:p>
        </p:txBody>
      </p:sp>
      <p:sp>
        <p:nvSpPr>
          <p:cNvPr id="6" name="txt Title Fixed"/>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outline</a:t>
            </a:r>
          </a:p>
        </p:txBody>
      </p:sp>
    </p:spTree>
    <p:extLst>
      <p:ext uri="{BB962C8B-B14F-4D97-AF65-F5344CB8AC3E}">
        <p14:creationId xmlns:p14="http://schemas.microsoft.com/office/powerpoint/2010/main" val="1370566639"/>
      </p:ext>
    </p:extLst>
  </p:cSld>
  <p:clrMapOvr>
    <a:masterClrMapping/>
  </p:clrMapOvr>
  <p:transition/>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Right Small Column +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914400"/>
            <a:ext cx="2651760" cy="36576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t Bottom Content"/>
          <p:cNvSpPr>
            <a:spLocks noGrp="1"/>
          </p:cNvSpPr>
          <p:nvPr>
            <p:ph idx="10"/>
          </p:nvPr>
        </p:nvSpPr>
        <p:spPr>
          <a:xfrm>
            <a:off x="521208" y="45720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409623783"/>
      </p:ext>
    </p:extLst>
  </p:cSld>
  <p:clrMapOvr>
    <a:masterClrMapping/>
  </p:clrMapOvr>
  <p:transition/>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Right Small Column + Bottom">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914400"/>
            <a:ext cx="2651760" cy="27432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t Bottom Content"/>
          <p:cNvSpPr>
            <a:spLocks noGrp="1"/>
          </p:cNvSpPr>
          <p:nvPr>
            <p:ph idx="10"/>
          </p:nvPr>
        </p:nvSpPr>
        <p:spPr>
          <a:xfrm>
            <a:off x="521208" y="36576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97995710"/>
      </p:ext>
    </p:extLst>
  </p:cSld>
  <p:clrMapOvr>
    <a:masterClrMapping/>
  </p:clrMapOvr>
  <p:transition/>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Right Small Column + Top">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defRPr>
            </a:lvl1pPr>
          </a:lstStyle>
          <a:p>
            <a:r>
              <a:rPr lang="en-US" smtClean="0"/>
              <a:t>Click to edit Master title style</a:t>
            </a:r>
            <a:endParaRPr lang="en-US" dirty="0"/>
          </a:p>
        </p:txBody>
      </p:sp>
      <p:sp>
        <p:nvSpPr>
          <p:cNvPr id="4" name="txt Right Col Content"/>
          <p:cNvSpPr>
            <a:spLocks noGrp="1"/>
          </p:cNvSpPr>
          <p:nvPr>
            <p:ph sz="half" idx="2"/>
          </p:nvPr>
        </p:nvSpPr>
        <p:spPr>
          <a:xfrm>
            <a:off x="6172200" y="3657600"/>
            <a:ext cx="2651760" cy="27432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 Top Content"/>
          <p:cNvSpPr>
            <a:spLocks noGrp="1"/>
          </p:cNvSpPr>
          <p:nvPr>
            <p:ph idx="10"/>
          </p:nvPr>
        </p:nvSpPr>
        <p:spPr>
          <a:xfrm>
            <a:off x="521208" y="9144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840261398"/>
      </p:ext>
    </p:extLst>
  </p:cSld>
  <p:clrMapOvr>
    <a:masterClrMapping/>
  </p:clrMapOvr>
  <p:transition/>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Right Small Column +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defRPr>
            </a:lvl1pPr>
          </a:lstStyle>
          <a:p>
            <a:r>
              <a:rPr lang="en-US" smtClean="0"/>
              <a:t>Click to edit Master title style</a:t>
            </a:r>
            <a:endParaRPr lang="en-US" dirty="0"/>
          </a:p>
        </p:txBody>
      </p:sp>
      <p:sp>
        <p:nvSpPr>
          <p:cNvPr id="4" name="txt Right Col Content"/>
          <p:cNvSpPr>
            <a:spLocks noGrp="1"/>
          </p:cNvSpPr>
          <p:nvPr>
            <p:ph sz="half" idx="2"/>
          </p:nvPr>
        </p:nvSpPr>
        <p:spPr>
          <a:xfrm>
            <a:off x="6172200" y="2743200"/>
            <a:ext cx="2651760" cy="36576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 Top Content"/>
          <p:cNvSpPr>
            <a:spLocks noGrp="1"/>
          </p:cNvSpPr>
          <p:nvPr>
            <p:ph idx="10"/>
          </p:nvPr>
        </p:nvSpPr>
        <p:spPr>
          <a:xfrm>
            <a:off x="521208" y="9144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513376759"/>
      </p:ext>
    </p:extLst>
  </p:cSld>
  <p:clrMapOvr>
    <a:masterClrMapping/>
  </p:clrMapOvr>
  <p:transition/>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Lesson Objectives">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objectives</a:t>
            </a:r>
          </a:p>
        </p:txBody>
      </p:sp>
      <p:sp>
        <p:nvSpPr>
          <p:cNvPr id="5" name="txt Print Instructions Fixed"/>
          <p:cNvSpPr>
            <a:spLocks noChangeArrowheads="1"/>
          </p:cNvSpPr>
          <p:nvPr/>
        </p:nvSpPr>
        <p:spPr bwMode="auto">
          <a:xfrm>
            <a:off x="533400" y="5791200"/>
            <a:ext cx="8305800" cy="997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p>
            <a:pPr marL="0" lvl="1" indent="0">
              <a:spcBef>
                <a:spcPct val="20000"/>
              </a:spcBef>
              <a:buSzPct val="90000"/>
              <a:buFont typeface="Wingdings 2" pitchFamily="18" charset="2"/>
              <a:buNone/>
            </a:pPr>
            <a:r>
              <a:rPr lang="en-US" sz="1600" b="0" dirty="0" smtClean="0">
                <a:solidFill>
                  <a:schemeClr val="accent1"/>
                </a:solidFill>
              </a:rPr>
              <a:t>This lesson uses the notes section for </a:t>
            </a:r>
            <a:r>
              <a:rPr lang="en-US" sz="1600" b="0" dirty="0">
                <a:solidFill>
                  <a:schemeClr val="accent1"/>
                </a:solidFill>
              </a:rPr>
              <a:t>additional explanation and </a:t>
            </a:r>
            <a:r>
              <a:rPr lang="en-US" sz="1600" b="0" dirty="0" smtClean="0">
                <a:solidFill>
                  <a:schemeClr val="accent1"/>
                </a:solidFill>
              </a:rPr>
              <a:t>information.</a:t>
            </a:r>
            <a:r>
              <a:rPr lang="en-US" sz="1600" dirty="0" smtClean="0">
                <a:solidFill>
                  <a:schemeClr val="accent1"/>
                </a:solidFill>
              </a:rPr>
              <a:t> </a:t>
            </a:r>
            <a:br>
              <a:rPr lang="en-US" sz="1600" dirty="0" smtClean="0">
                <a:solidFill>
                  <a:schemeClr val="accent1"/>
                </a:solidFill>
              </a:rPr>
            </a:br>
            <a:r>
              <a:rPr lang="en-US" sz="1600" b="0" dirty="0" smtClean="0">
                <a:solidFill>
                  <a:schemeClr val="accent1"/>
                </a:solidFill>
              </a:rPr>
              <a:t>To </a:t>
            </a:r>
            <a:r>
              <a:rPr lang="en-US" sz="1600" b="0" dirty="0">
                <a:solidFill>
                  <a:schemeClr val="accent1"/>
                </a:solidFill>
              </a:rPr>
              <a:t>view the notes in PowerPoint, </a:t>
            </a:r>
            <a:r>
              <a:rPr lang="en-US" sz="1600" b="0" dirty="0" smtClean="0">
                <a:solidFill>
                  <a:schemeClr val="accent1"/>
                </a:solidFill>
              </a:rPr>
              <a:t>select View </a:t>
            </a:r>
            <a:r>
              <a:rPr lang="en-US" sz="1600" b="0" dirty="0" smtClean="0">
                <a:solidFill>
                  <a:schemeClr val="accent1"/>
                </a:solidFill>
                <a:sym typeface="Wingdings" pitchFamily="2" charset="2"/>
              </a:rPr>
              <a:t> Normal </a:t>
            </a:r>
            <a:r>
              <a:rPr lang="en-US" sz="1600" b="0" dirty="0">
                <a:solidFill>
                  <a:schemeClr val="accent1"/>
                </a:solidFill>
                <a:sym typeface="Wingdings" pitchFamily="2" charset="2"/>
              </a:rPr>
              <a:t>or </a:t>
            </a:r>
            <a:r>
              <a:rPr lang="en-US" sz="1600" b="0" dirty="0" smtClean="0">
                <a:solidFill>
                  <a:schemeClr val="accent1"/>
                </a:solidFill>
              </a:rPr>
              <a:t>View </a:t>
            </a:r>
            <a:r>
              <a:rPr lang="en-US" sz="1600" b="0" dirty="0" smtClean="0">
                <a:solidFill>
                  <a:schemeClr val="accent1"/>
                </a:solidFill>
                <a:sym typeface="Wingdings" pitchFamily="2" charset="2"/>
              </a:rPr>
              <a:t> </a:t>
            </a:r>
            <a:r>
              <a:rPr lang="en-US" sz="1600" b="0" dirty="0" smtClean="0">
                <a:solidFill>
                  <a:schemeClr val="accent1"/>
                </a:solidFill>
              </a:rPr>
              <a:t>Notes </a:t>
            </a:r>
            <a:r>
              <a:rPr lang="en-US" sz="1600" b="0" dirty="0">
                <a:solidFill>
                  <a:schemeClr val="accent1"/>
                </a:solidFill>
              </a:rPr>
              <a:t>Page</a:t>
            </a:r>
            <a:r>
              <a:rPr lang="en-US" sz="1600" b="0" dirty="0" smtClean="0">
                <a:solidFill>
                  <a:schemeClr val="accent1"/>
                </a:solidFill>
              </a:rPr>
              <a:t>. </a:t>
            </a:r>
            <a:br>
              <a:rPr lang="en-US" sz="1600" b="0" dirty="0" smtClean="0">
                <a:solidFill>
                  <a:schemeClr val="accent1"/>
                </a:solidFill>
              </a:rPr>
            </a:br>
            <a:r>
              <a:rPr lang="en-US" sz="1600" b="0" dirty="0" smtClean="0">
                <a:solidFill>
                  <a:schemeClr val="accent1"/>
                </a:solidFill>
              </a:rPr>
              <a:t>When printing </a:t>
            </a:r>
            <a:r>
              <a:rPr lang="en-US" sz="1600" dirty="0" smtClean="0">
                <a:solidFill>
                  <a:schemeClr val="accent1"/>
                </a:solidFill>
              </a:rPr>
              <a:t>notes, select Note Pages and</a:t>
            </a:r>
            <a:r>
              <a:rPr lang="en-US" sz="1600" baseline="0" dirty="0" smtClean="0">
                <a:solidFill>
                  <a:schemeClr val="accent1"/>
                </a:solidFill>
              </a:rPr>
              <a:t> </a:t>
            </a:r>
            <a:r>
              <a:rPr lang="en-US" sz="1600" b="0" dirty="0" smtClean="0">
                <a:solidFill>
                  <a:schemeClr val="accent1"/>
                </a:solidFill>
              </a:rPr>
              <a:t>Print </a:t>
            </a:r>
            <a:r>
              <a:rPr lang="en-US" sz="1600" b="0" dirty="0">
                <a:solidFill>
                  <a:schemeClr val="accent1"/>
                </a:solidFill>
              </a:rPr>
              <a:t>hidden slides</a:t>
            </a:r>
            <a:r>
              <a:rPr lang="en-US" sz="1600" b="0" dirty="0" smtClean="0">
                <a:solidFill>
                  <a:schemeClr val="accent1"/>
                </a:solidFill>
              </a:rPr>
              <a:t>.</a:t>
            </a:r>
            <a:endParaRPr lang="en-US" sz="1600" b="0" dirty="0">
              <a:solidFill>
                <a:schemeClr val="accent1"/>
              </a:solidFill>
            </a:endParaRPr>
          </a:p>
          <a:p>
            <a:pPr lvl="1" algn="l">
              <a:spcBef>
                <a:spcPct val="20000"/>
              </a:spcBef>
              <a:buSzPct val="90000"/>
              <a:buFont typeface="Wingdings 2" pitchFamily="18" charset="2"/>
              <a:buNone/>
            </a:pPr>
            <a:endParaRPr lang="en-US" sz="1400" b="0" dirty="0">
              <a:solidFill>
                <a:srgbClr val="AA3704"/>
              </a:solidFill>
            </a:endParaRPr>
          </a:p>
        </p:txBody>
      </p:sp>
      <p:sp>
        <p:nvSpPr>
          <p:cNvPr id="9" name="txt Content Fixed"/>
          <p:cNvSpPr/>
          <p:nvPr/>
        </p:nvSpPr>
        <p:spPr>
          <a:xfrm>
            <a:off x="521208" y="914400"/>
            <a:ext cx="832104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dirty="0" smtClean="0">
                <a:solidFill>
                  <a:schemeClr val="bg1"/>
                </a:solidFill>
                <a:ea typeface="Calibri" pitchFamily="34" charset="0"/>
                <a:cs typeface="Calibri" pitchFamily="34" charset="0"/>
              </a:rPr>
              <a:t>By the end of this lesson, you should be able to:</a:t>
            </a:r>
          </a:p>
        </p:txBody>
      </p:sp>
      <p:sp>
        <p:nvSpPr>
          <p:cNvPr id="11" name="txt Content"/>
          <p:cNvSpPr>
            <a:spLocks noGrp="1"/>
          </p:cNvSpPr>
          <p:nvPr>
            <p:ph type="body" sz="quarter" idx="10" hasCustomPrompt="1"/>
          </p:nvPr>
        </p:nvSpPr>
        <p:spPr>
          <a:xfrm>
            <a:off x="520699" y="1344168"/>
            <a:ext cx="8321040" cy="4343400"/>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Identify…</a:t>
            </a:r>
          </a:p>
        </p:txBody>
      </p:sp>
    </p:spTree>
    <p:extLst>
      <p:ext uri="{BB962C8B-B14F-4D97-AF65-F5344CB8AC3E}">
        <p14:creationId xmlns:p14="http://schemas.microsoft.com/office/powerpoint/2010/main" val="795622096"/>
      </p:ext>
    </p:extLst>
  </p:cSld>
  <p:clrMapOvr>
    <a:masterClrMapping/>
  </p:clrMapOvr>
  <p:transition/>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Lesson Objectives Review">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objectives review</a:t>
            </a:r>
          </a:p>
        </p:txBody>
      </p:sp>
      <p:sp>
        <p:nvSpPr>
          <p:cNvPr id="9" name="txt Content Fixed"/>
          <p:cNvSpPr/>
          <p:nvPr/>
        </p:nvSpPr>
        <p:spPr>
          <a:xfrm>
            <a:off x="521208" y="914400"/>
            <a:ext cx="832104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dirty="0" smtClean="0">
                <a:solidFill>
                  <a:schemeClr val="bg1"/>
                </a:solidFill>
                <a:ea typeface="Calibri" pitchFamily="34" charset="0"/>
                <a:cs typeface="Calibri" pitchFamily="34" charset="0"/>
              </a:rPr>
              <a:t>You should now be able to:</a:t>
            </a:r>
          </a:p>
        </p:txBody>
      </p:sp>
      <p:sp>
        <p:nvSpPr>
          <p:cNvPr id="11" name="txt Content"/>
          <p:cNvSpPr>
            <a:spLocks noGrp="1"/>
          </p:cNvSpPr>
          <p:nvPr>
            <p:ph type="body" sz="quarter" idx="10" hasCustomPrompt="1"/>
          </p:nvPr>
        </p:nvSpPr>
        <p:spPr>
          <a:xfrm>
            <a:off x="520699" y="1344168"/>
            <a:ext cx="8321040" cy="5056632"/>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Identify…</a:t>
            </a:r>
          </a:p>
        </p:txBody>
      </p:sp>
    </p:spTree>
    <p:extLst>
      <p:ext uri="{BB962C8B-B14F-4D97-AF65-F5344CB8AC3E}">
        <p14:creationId xmlns:p14="http://schemas.microsoft.com/office/powerpoint/2010/main" val="1377342622"/>
      </p:ext>
    </p:extLst>
  </p:cSld>
  <p:clrMapOvr>
    <a:masterClrMapping/>
  </p:clrMapOvr>
  <p:transition/>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Review Questions Standard">
    <p:spTree>
      <p:nvGrpSpPr>
        <p:cNvPr id="1" name=""/>
        <p:cNvGrpSpPr/>
        <p:nvPr/>
      </p:nvGrpSpPr>
      <p:grpSpPr>
        <a:xfrm>
          <a:off x="0" y="0"/>
          <a:ext cx="0" cy="0"/>
          <a:chOff x="0" y="0"/>
          <a:chExt cx="0" cy="0"/>
        </a:xfrm>
      </p:grpSpPr>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Review</a:t>
            </a:r>
            <a:r>
              <a:rPr lang="en-US" sz="3200" dirty="0" smtClean="0">
                <a:latin typeface="Arial" pitchFamily="34" charset="0"/>
                <a:cs typeface="Arial" pitchFamily="34" charset="0"/>
              </a:rPr>
              <a:t> questions</a:t>
            </a:r>
          </a:p>
        </p:txBody>
      </p:sp>
      <p:sp>
        <p:nvSpPr>
          <p:cNvPr id="3" name="txt Content"/>
          <p:cNvSpPr>
            <a:spLocks noGrp="1"/>
          </p:cNvSpPr>
          <p:nvPr>
            <p:ph idx="1" hasCustomPrompt="1"/>
          </p:nvPr>
        </p:nvSpPr>
        <p:spPr>
          <a:xfrm>
            <a:off x="519113" y="914400"/>
            <a:ext cx="8318500" cy="54864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sz="2400" baseline="0">
                <a:solidFill>
                  <a:schemeClr val="bg1"/>
                </a:solidFill>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smtClean="0"/>
              <a:t>Question…?</a:t>
            </a:r>
          </a:p>
          <a:p>
            <a:pPr lvl="0"/>
            <a:r>
              <a:rPr lang="en-US" dirty="0" smtClean="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smtClean="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smtClean="0"/>
              <a:t>Question…?</a:t>
            </a:r>
          </a:p>
          <a:p>
            <a:pPr lvl="0"/>
            <a:endParaRPr lang="en-US" dirty="0" smtClean="0"/>
          </a:p>
        </p:txBody>
      </p:sp>
      <p:sp>
        <p:nvSpPr>
          <p:cNvPr id="4" name="txt Title Fixed"/>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Review</a:t>
            </a:r>
            <a:r>
              <a:rPr lang="en-US" sz="3200" dirty="0" smtClean="0">
                <a:latin typeface="Arial" pitchFamily="34" charset="0"/>
                <a:cs typeface="Arial" pitchFamily="34" charset="0"/>
              </a:rPr>
              <a:t> questions</a:t>
            </a:r>
          </a:p>
        </p:txBody>
      </p:sp>
    </p:spTree>
    <p:extLst>
      <p:ext uri="{BB962C8B-B14F-4D97-AF65-F5344CB8AC3E}">
        <p14:creationId xmlns:p14="http://schemas.microsoft.com/office/powerpoint/2010/main" val="4292018842"/>
      </p:ext>
    </p:extLst>
  </p:cSld>
  <p:clrMapOvr>
    <a:masterClrMapping/>
  </p:clrMapOvr>
  <p:transition/>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Review Questions True False">
    <p:spTree>
      <p:nvGrpSpPr>
        <p:cNvPr id="1" name=""/>
        <p:cNvGrpSpPr/>
        <p:nvPr/>
      </p:nvGrpSpPr>
      <p:grpSpPr>
        <a:xfrm>
          <a:off x="0" y="0"/>
          <a:ext cx="0" cy="0"/>
          <a:chOff x="0" y="0"/>
          <a:chExt cx="0" cy="0"/>
        </a:xfrm>
      </p:grpSpPr>
      <p:sp>
        <p:nvSpPr>
          <p:cNvPr id="6"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Review</a:t>
            </a:r>
            <a:r>
              <a:rPr lang="en-US" sz="3200" dirty="0" smtClean="0">
                <a:latin typeface="+mj-lt"/>
              </a:rPr>
              <a:t> questions</a:t>
            </a:r>
          </a:p>
        </p:txBody>
      </p:sp>
      <p:sp>
        <p:nvSpPr>
          <p:cNvPr id="7" name="txt Content Fixed"/>
          <p:cNvSpPr/>
          <p:nvPr/>
        </p:nvSpPr>
        <p:spPr>
          <a:xfrm>
            <a:off x="521208" y="914400"/>
            <a:ext cx="832104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lvl="0" indent="0" eaLnBrk="0" fontAlgn="base" hangingPunct="0">
              <a:spcBef>
                <a:spcPct val="40000"/>
              </a:spcBef>
              <a:spcAft>
                <a:spcPct val="0"/>
              </a:spcAft>
              <a:buClr>
                <a:srgbClr val="04628C"/>
              </a:buClr>
              <a:buSzPct val="90000"/>
              <a:buFont typeface="Arial" pitchFamily="34" charset="0"/>
              <a:buNone/>
            </a:pPr>
            <a:r>
              <a:rPr lang="en-US" sz="2400" dirty="0" smtClean="0">
                <a:solidFill>
                  <a:schemeClr val="bg1"/>
                </a:solidFill>
                <a:ea typeface="Calibri" pitchFamily="34" charset="0"/>
                <a:cs typeface="Calibri" pitchFamily="34" charset="0"/>
              </a:rPr>
              <a:t>Identify if each question is true or false:</a:t>
            </a:r>
          </a:p>
          <a:p>
            <a:pPr marL="0" lvl="0" indent="0" eaLnBrk="0" fontAlgn="base" hangingPunct="0">
              <a:spcBef>
                <a:spcPct val="40000"/>
              </a:spcBef>
              <a:spcAft>
                <a:spcPct val="0"/>
              </a:spcAft>
              <a:buClr>
                <a:srgbClr val="04628C"/>
              </a:buClr>
              <a:buSzPct val="90000"/>
              <a:buFont typeface="Arial" pitchFamily="34" charset="0"/>
              <a:buNone/>
            </a:pPr>
            <a:endParaRPr lang="en-US" sz="2400" dirty="0" smtClean="0">
              <a:solidFill>
                <a:schemeClr val="bg1"/>
              </a:solidFill>
              <a:ea typeface="Calibri" pitchFamily="34" charset="0"/>
              <a:cs typeface="Calibri" pitchFamily="34" charset="0"/>
            </a:endParaRPr>
          </a:p>
        </p:txBody>
      </p:sp>
      <p:sp>
        <p:nvSpPr>
          <p:cNvPr id="3" name="txt Content"/>
          <p:cNvSpPr>
            <a:spLocks noGrp="1"/>
          </p:cNvSpPr>
          <p:nvPr>
            <p:ph idx="1" hasCustomPrompt="1"/>
          </p:nvPr>
        </p:nvSpPr>
        <p:spPr>
          <a:xfrm>
            <a:off x="519113" y="1447800"/>
            <a:ext cx="8318500" cy="49530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baseline="0"/>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smtClean="0"/>
              <a:t>Statement.</a:t>
            </a:r>
          </a:p>
          <a:p>
            <a:pPr lvl="0"/>
            <a:r>
              <a:rPr lang="en-US" dirty="0" smtClean="0"/>
              <a:t>Statement.</a:t>
            </a:r>
          </a:p>
          <a:p>
            <a:pPr lvl="0"/>
            <a:r>
              <a:rPr lang="en-US" dirty="0" smtClean="0"/>
              <a:t>Statement.</a:t>
            </a:r>
          </a:p>
          <a:p>
            <a:pPr lvl="0"/>
            <a:r>
              <a:rPr lang="en-US" dirty="0" smtClean="0"/>
              <a:t>Statement.</a:t>
            </a:r>
          </a:p>
        </p:txBody>
      </p:sp>
    </p:spTree>
    <p:extLst>
      <p:ext uri="{BB962C8B-B14F-4D97-AF65-F5344CB8AC3E}">
        <p14:creationId xmlns:p14="http://schemas.microsoft.com/office/powerpoint/2010/main" val="2696677930"/>
      </p:ext>
    </p:extLst>
  </p:cSld>
  <p:clrMapOvr>
    <a:masterClrMapping/>
  </p:clrMapOvr>
  <p:transition/>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otices Mandatory">
    <p:spTree>
      <p:nvGrpSpPr>
        <p:cNvPr id="1" name=""/>
        <p:cNvGrpSpPr/>
        <p:nvPr/>
      </p:nvGrpSpPr>
      <p:grpSpPr>
        <a:xfrm>
          <a:off x="0" y="0"/>
          <a:ext cx="0" cy="0"/>
          <a:chOff x="0" y="0"/>
          <a:chExt cx="0" cy="0"/>
        </a:xfrm>
      </p:grpSpPr>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Notices</a:t>
            </a:r>
            <a:endParaRPr lang="en-US" sz="3200" dirty="0" smtClean="0">
              <a:latin typeface="+mj-lt"/>
            </a:endParaRPr>
          </a:p>
        </p:txBody>
      </p:sp>
      <p:sp>
        <p:nvSpPr>
          <p:cNvPr id="4" name="txt Notice Fixed"/>
          <p:cNvSpPr/>
          <p:nvPr userDrawn="1"/>
        </p:nvSpPr>
        <p:spPr>
          <a:xfrm>
            <a:off x="521208" y="914400"/>
            <a:ext cx="8289417" cy="5410200"/>
          </a:xfrm>
          <a:prstGeom prst="rect">
            <a:avLst/>
          </a:prstGeom>
          <a:ln w="9525">
            <a:solidFill>
              <a:schemeClr val="tx1"/>
            </a:solidFill>
          </a:ln>
        </p:spPr>
        <p:txBody>
          <a:bodyPr wrap="square" lIns="0" tIns="0" rIns="0" bIns="0">
            <a:noAutofit/>
          </a:bodyPr>
          <a:lstStyle/>
          <a:p>
            <a:pPr marL="0" indent="0">
              <a:buFont typeface="Wingdings 3" pitchFamily="18" charset="2"/>
              <a:buNone/>
            </a:pPr>
            <a:r>
              <a:rPr lang="en-US" sz="1600" b="1" dirty="0" smtClean="0">
                <a:solidFill>
                  <a:schemeClr val="bg1"/>
                </a:solidFill>
              </a:rPr>
              <a:t>Copyright © 2001-2014 Guidewire Software, Inc. All rights reserved.</a:t>
            </a:r>
            <a:br>
              <a:rPr lang="en-US" sz="1600" b="1" dirty="0" smtClean="0">
                <a:solidFill>
                  <a:schemeClr val="bg1"/>
                </a:solidFill>
              </a:rPr>
            </a:br>
            <a:endParaRPr lang="en-US" sz="1600" b="1" dirty="0" smtClean="0">
              <a:solidFill>
                <a:schemeClr val="bg1"/>
              </a:solidFill>
            </a:endParaRPr>
          </a:p>
          <a:p>
            <a:pPr marL="0" indent="0">
              <a:buFont typeface="Wingdings 3" pitchFamily="18" charset="2"/>
              <a:buNone/>
            </a:pPr>
            <a:r>
              <a:rPr lang="en-US" sz="1400" b="0" dirty="0" smtClean="0">
                <a:solidFill>
                  <a:schemeClr val="bg1"/>
                </a:solidFill>
              </a:rPr>
              <a:t>Guidewire, Guidewire Software, Guidewire ClaimCenter, Guidewire PolicyCenter, Guidewire BillingCenter, Guidewire Reinsurance Management, Guidewire ContactManager, Guidewire Vendor Data Management, Guidewire Client Data Management, Guidewire Rating Management, Guidewire InsuranceSuite, Guidewire ContactCenter, Guidewire Studio, Guidewire Product Designer, Guidewire Live, Guidewire </a:t>
            </a:r>
            <a:r>
              <a:rPr lang="en-US" sz="1400" b="0" dirty="0" err="1" smtClean="0">
                <a:solidFill>
                  <a:schemeClr val="bg1"/>
                </a:solidFill>
              </a:rPr>
              <a:t>DataHub</a:t>
            </a:r>
            <a:r>
              <a:rPr lang="en-US" sz="1400" b="0" dirty="0" smtClean="0">
                <a:solidFill>
                  <a:schemeClr val="bg1"/>
                </a:solidFill>
              </a:rPr>
              <a:t>, Guidewire </a:t>
            </a:r>
            <a:r>
              <a:rPr lang="en-US" sz="1400" b="0" dirty="0" err="1" smtClean="0">
                <a:solidFill>
                  <a:schemeClr val="bg1"/>
                </a:solidFill>
              </a:rPr>
              <a:t>InfoCenter</a:t>
            </a:r>
            <a:r>
              <a:rPr lang="en-US" sz="1400" b="0" dirty="0" smtClean="0">
                <a:solidFill>
                  <a:schemeClr val="bg1"/>
                </a:solidFill>
              </a:rPr>
              <a:t>, Guidewire Standard Reporting, Guidewire ExampleCenter, Guidewire Account Manager Portal, Guidewire Claim Portal, Guidewire Policyholder Portal, ClaimCenter, BillingCenter, PolicyCenter, InsuranceSuite, Gosu, Deliver Insurance Your Way, and the Guidewire logo are trademarks, service marks, or registered trademarks of Guidewire Software, Inc. in the United States and/or other countries.</a:t>
            </a:r>
            <a:br>
              <a:rPr lang="en-US" sz="1400" b="0" dirty="0" smtClean="0">
                <a:solidFill>
                  <a:schemeClr val="bg1"/>
                </a:solidFill>
              </a:rPr>
            </a:br>
            <a:endParaRPr lang="en-US" sz="1400" b="0" dirty="0" smtClean="0">
              <a:solidFill>
                <a:schemeClr val="bg1"/>
              </a:solidFill>
            </a:endParaRPr>
          </a:p>
          <a:p>
            <a:pPr marL="0" indent="0">
              <a:buFont typeface="Wingdings 3" pitchFamily="18" charset="2"/>
              <a:buNone/>
            </a:pPr>
            <a:r>
              <a:rPr lang="en-US" sz="1400" b="0" dirty="0" smtClean="0">
                <a:solidFill>
                  <a:schemeClr val="bg1"/>
                </a:solidFill>
              </a:rPr>
              <a:t>All other trademarks are the property of their respective owners.</a:t>
            </a:r>
          </a:p>
          <a:p>
            <a:pPr marL="0" indent="0">
              <a:buFont typeface="Wingdings 3" pitchFamily="18" charset="2"/>
              <a:buNone/>
            </a:pPr>
            <a:endParaRPr lang="en-US" sz="1600" b="0" dirty="0" smtClean="0">
              <a:solidFill>
                <a:schemeClr val="bg1"/>
              </a:solidFill>
            </a:endParaRPr>
          </a:p>
          <a:p>
            <a:pPr marL="0" indent="0">
              <a:buFont typeface="Wingdings 3" pitchFamily="18" charset="2"/>
              <a:buNone/>
            </a:pPr>
            <a:r>
              <a:rPr lang="en-US" sz="1600" b="1" dirty="0" smtClean="0">
                <a:solidFill>
                  <a:schemeClr val="bg1"/>
                </a:solidFill>
              </a:rPr>
              <a:t>This material is confidential and proprietary to Guidewire and subject to the confidentiality terms in the applicable license agreement and/or separate nondisclosure agreement.</a:t>
            </a:r>
          </a:p>
          <a:p>
            <a:pPr marL="0" indent="0">
              <a:buFont typeface="Wingdings 3" pitchFamily="18" charset="2"/>
              <a:buNone/>
            </a:pPr>
            <a:endParaRPr lang="en-US" sz="1600" b="0" dirty="0" smtClean="0">
              <a:solidFill>
                <a:schemeClr val="bg1"/>
              </a:solidFill>
            </a:endParaRPr>
          </a:p>
          <a:p>
            <a:pPr marL="0" indent="0">
              <a:buFont typeface="Wingdings 3" pitchFamily="18" charset="2"/>
              <a:buNone/>
            </a:pPr>
            <a:r>
              <a:rPr lang="en-US" sz="1400" b="0" dirty="0" smtClean="0">
                <a:solidFill>
                  <a:schemeClr val="bg1"/>
                </a:solidFill>
              </a:rPr>
              <a:t>This file and the contents herein are the property of Guidewire Software, Inc. Use of this course material is restricted to students officially registered in this specific Guidewire-instructed course, or for other use expressly authorized by Guidewire. Replication or distribution of this course material in electronic, paper, or other format is prohibited without express permission from Guidewire.</a:t>
            </a:r>
            <a:br>
              <a:rPr lang="en-US" sz="1400" b="0" dirty="0" smtClean="0">
                <a:solidFill>
                  <a:schemeClr val="bg1"/>
                </a:solidFill>
              </a:rPr>
            </a:br>
            <a:endParaRPr lang="en-US" sz="1400" b="0" dirty="0" smtClean="0">
              <a:solidFill>
                <a:schemeClr val="bg1"/>
              </a:solidFill>
            </a:endParaRPr>
          </a:p>
          <a:p>
            <a:pPr marL="0" indent="0">
              <a:buFont typeface="Wingdings 3" pitchFamily="18" charset="2"/>
              <a:buNone/>
            </a:pPr>
            <a:r>
              <a:rPr lang="en-US" sz="1400" b="0" dirty="0" smtClean="0">
                <a:solidFill>
                  <a:schemeClr val="bg1"/>
                </a:solidFill>
              </a:rPr>
              <a:t>Guidewire products are protected by one or more United States patents.</a:t>
            </a:r>
          </a:p>
        </p:txBody>
      </p:sp>
    </p:spTree>
    <p:extLst>
      <p:ext uri="{BB962C8B-B14F-4D97-AF65-F5344CB8AC3E}">
        <p14:creationId xmlns:p14="http://schemas.microsoft.com/office/powerpoint/2010/main" val="2118631640"/>
      </p:ext>
    </p:extLst>
  </p:cSld>
  <p:clrMapOvr>
    <a:masterClrMapping/>
  </p:clrMapOvr>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3" name="txt Guidewire Copyright"/>
          <p:cNvSpPr txBox="1"/>
          <p:nvPr/>
        </p:nvSpPr>
        <p:spPr>
          <a:xfrm>
            <a:off x="304800" y="6553413"/>
            <a:ext cx="3673988" cy="92333"/>
          </a:xfrm>
          <a:prstGeom prst="rect">
            <a:avLst/>
          </a:prstGeom>
          <a:noFill/>
        </p:spPr>
        <p:txBody>
          <a:bodyPr wrap="square" lIns="0" tIns="0" rIns="0" bIns="0">
            <a:spAutoFit/>
          </a:bodyPr>
          <a:lstStyle/>
          <a:p>
            <a:pPr algn="l">
              <a:spcBef>
                <a:spcPts val="600"/>
              </a:spcBef>
              <a:buClr>
                <a:schemeClr val="tx2"/>
              </a:buClr>
              <a:buFont typeface="Arial" charset="0"/>
              <a:buNone/>
              <a:defRPr/>
            </a:pPr>
            <a:r>
              <a:rPr lang="en-US" sz="600" dirty="0">
                <a:solidFill>
                  <a:srgbClr val="B2B2B2"/>
                </a:solidFill>
                <a:latin typeface="+mn-lt"/>
              </a:rPr>
              <a:t>© Guidewire Software, Inc. </a:t>
            </a:r>
            <a:r>
              <a:rPr lang="en-US" sz="600" dirty="0" smtClean="0">
                <a:solidFill>
                  <a:srgbClr val="B2B2B2"/>
                </a:solidFill>
                <a:latin typeface="+mn-lt"/>
              </a:rPr>
              <a:t> 2001-2014. All </a:t>
            </a:r>
            <a:r>
              <a:rPr lang="en-US" sz="600" dirty="0">
                <a:solidFill>
                  <a:srgbClr val="B2B2B2"/>
                </a:solidFill>
                <a:latin typeface="+mn-lt"/>
              </a:rPr>
              <a:t>rights reserved. Do not distribute without permission.</a:t>
            </a:r>
          </a:p>
        </p:txBody>
      </p:sp>
      <p:grpSp>
        <p:nvGrpSpPr>
          <p:cNvPr id="12" name="rec GW Sidebar"/>
          <p:cNvGrpSpPr/>
          <p:nvPr/>
        </p:nvGrpSpPr>
        <p:grpSpPr>
          <a:xfrm>
            <a:off x="0" y="0"/>
            <a:ext cx="109538" cy="6858000"/>
            <a:chOff x="0" y="0"/>
            <a:chExt cx="109538" cy="6858000"/>
          </a:xfrm>
        </p:grpSpPr>
        <p:sp>
          <p:nvSpPr>
            <p:cNvPr id="15"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16"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17"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18"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19"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0"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grpSp>
      <p:pic>
        <p:nvPicPr>
          <p:cNvPr id="1031" name="pic Logo Text" descr="guidewire.png"/>
          <p:cNvPicPr>
            <a:picLocks noChangeAspect="1"/>
          </p:cNvPicPr>
          <p:nvPr/>
        </p:nvPicPr>
        <p:blipFill>
          <a:blip r:embed="rId42" cstate="print">
            <a:extLst>
              <a:ext uri="{28A0092B-C50C-407E-A947-70E740481C1C}">
                <a14:useLocalDpi xmlns:a14="http://schemas.microsoft.com/office/drawing/2010/main" val="0"/>
              </a:ext>
            </a:extLst>
          </a:blip>
          <a:srcRect/>
          <a:stretch>
            <a:fillRect/>
          </a:stretch>
        </p:blipFill>
        <p:spPr bwMode="auto">
          <a:xfrm>
            <a:off x="7412040" y="6543676"/>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xt Title"/>
          <p:cNvSpPr>
            <a:spLocks noGrp="1" noChangeArrowheads="1"/>
          </p:cNvSpPr>
          <p:nvPr>
            <p:ph type="title"/>
          </p:nvPr>
        </p:nvSpPr>
        <p:spPr bwMode="auto">
          <a:xfrm>
            <a:off x="493776" y="118872"/>
            <a:ext cx="832104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title style</a:t>
            </a:r>
            <a:endParaRPr lang="en-US" altLang="en-US" dirty="0" smtClean="0"/>
          </a:p>
        </p:txBody>
      </p:sp>
      <p:sp>
        <p:nvSpPr>
          <p:cNvPr id="1028" name="txt Content"/>
          <p:cNvSpPr>
            <a:spLocks noGrp="1" noChangeArrowheads="1"/>
          </p:cNvSpPr>
          <p:nvPr>
            <p:ph type="body" idx="1"/>
          </p:nvPr>
        </p:nvSpPr>
        <p:spPr bwMode="auto">
          <a:xfrm>
            <a:off x="521208" y="914400"/>
            <a:ext cx="832104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dirty="0" smtClean="0"/>
              <a:t>Click to edit Master text styles </a:t>
            </a:r>
          </a:p>
          <a:p>
            <a:pPr lvl="1"/>
            <a:r>
              <a:rPr lang="en-US" altLang="en-US" dirty="0" smtClean="0"/>
              <a:t>Second level</a:t>
            </a:r>
          </a:p>
          <a:p>
            <a:pPr lvl="2"/>
            <a:r>
              <a:rPr lang="en-US" altLang="en-US" dirty="0" smtClean="0"/>
              <a:t>Third level</a:t>
            </a:r>
          </a:p>
          <a:p>
            <a:pPr lvl="3"/>
            <a:r>
              <a:rPr lang="en-US" altLang="en-US" dirty="0" smtClean="0"/>
              <a:t>Fourth level</a:t>
            </a:r>
          </a:p>
        </p:txBody>
      </p:sp>
      <p:sp>
        <p:nvSpPr>
          <p:cNvPr id="1127" name="txt Centered PageNumberBox"/>
          <p:cNvSpPr txBox="1">
            <a:spLocks noChangeArrowheads="1"/>
          </p:cNvSpPr>
          <p:nvPr/>
        </p:nvSpPr>
        <p:spPr bwMode="auto">
          <a:xfrm>
            <a:off x="4307365" y="6475146"/>
            <a:ext cx="519113" cy="227013"/>
          </a:xfrm>
          <a:prstGeom prst="rect">
            <a:avLst/>
          </a:prstGeom>
          <a:noFill/>
          <a:ln w="6350" algn="ctr">
            <a:noFill/>
            <a:miter lim="800000"/>
            <a:headEnd/>
            <a:tailEnd/>
          </a:ln>
          <a:effectLst/>
        </p:spPr>
        <p:txBody>
          <a:bodyPr lIns="0" tIns="0" rIns="0" bIns="0"/>
          <a:lstStyle/>
          <a:p>
            <a:pPr algn="ctr">
              <a:lnSpc>
                <a:spcPts val="1800"/>
              </a:lnSpc>
              <a:spcBef>
                <a:spcPts val="600"/>
              </a:spcBef>
              <a:buFont typeface="Wingdings" pitchFamily="2" charset="2"/>
              <a:buNone/>
              <a:defRPr/>
            </a:pPr>
            <a:fld id="{FABFFE1B-5FD5-480D-9A32-98AB62D1BF82}" type="slidenum">
              <a:rPr lang="en-US" sz="1200">
                <a:solidFill>
                  <a:srgbClr val="B2B2B2"/>
                </a:solidFill>
                <a:latin typeface="Arial" pitchFamily="34" charset="0"/>
                <a:cs typeface="Arial" pitchFamily="34" charset="0"/>
              </a:rPr>
              <a:pPr algn="ctr">
                <a:lnSpc>
                  <a:spcPts val="1800"/>
                </a:lnSpc>
                <a:spcBef>
                  <a:spcPts val="600"/>
                </a:spcBef>
                <a:buFont typeface="Wingdings" pitchFamily="2" charset="2"/>
                <a:buNone/>
                <a:defRPr/>
              </a:pPr>
              <a:t>‹#›</a:t>
            </a:fld>
            <a:r>
              <a:rPr lang="en-US" i="1" dirty="0">
                <a:solidFill>
                  <a:srgbClr val="B2B2B2"/>
                </a:solidFill>
                <a:cs typeface="Times New Roman" pitchFamily="18" charset="0"/>
              </a:rPr>
              <a:t> </a:t>
            </a:r>
          </a:p>
        </p:txBody>
      </p:sp>
    </p:spTree>
    <p:extLst>
      <p:ext uri="{BB962C8B-B14F-4D97-AF65-F5344CB8AC3E}">
        <p14:creationId xmlns:p14="http://schemas.microsoft.com/office/powerpoint/2010/main" val="338705985"/>
      </p:ext>
    </p:extLst>
  </p:cSld>
  <p:clrMap bg1="dk2" tx1="lt1" bg2="dk1" tx2="lt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 id="2147483775" r:id="rId12"/>
    <p:sldLayoutId id="2147483776" r:id="rId13"/>
    <p:sldLayoutId id="2147483777" r:id="rId14"/>
    <p:sldLayoutId id="2147483778" r:id="rId15"/>
    <p:sldLayoutId id="2147483779" r:id="rId16"/>
    <p:sldLayoutId id="2147483780" r:id="rId17"/>
    <p:sldLayoutId id="2147483781" r:id="rId18"/>
    <p:sldLayoutId id="2147483782" r:id="rId19"/>
    <p:sldLayoutId id="2147483783" r:id="rId20"/>
    <p:sldLayoutId id="2147483784" r:id="rId21"/>
    <p:sldLayoutId id="2147483785" r:id="rId22"/>
    <p:sldLayoutId id="2147483786" r:id="rId23"/>
    <p:sldLayoutId id="2147483787" r:id="rId24"/>
    <p:sldLayoutId id="2147483788" r:id="rId25"/>
    <p:sldLayoutId id="2147483789" r:id="rId26"/>
    <p:sldLayoutId id="2147483790" r:id="rId27"/>
    <p:sldLayoutId id="2147483791" r:id="rId28"/>
    <p:sldLayoutId id="2147483792" r:id="rId29"/>
    <p:sldLayoutId id="2147483793" r:id="rId30"/>
    <p:sldLayoutId id="2147483794" r:id="rId31"/>
    <p:sldLayoutId id="2147483795" r:id="rId32"/>
    <p:sldLayoutId id="2147483796" r:id="rId33"/>
    <p:sldLayoutId id="2147483797" r:id="rId34"/>
    <p:sldLayoutId id="2147483798" r:id="rId35"/>
    <p:sldLayoutId id="2147483799" r:id="rId36"/>
    <p:sldLayoutId id="2147483800" r:id="rId37"/>
    <p:sldLayoutId id="2147483801" r:id="rId38"/>
    <p:sldLayoutId id="2147483802" r:id="rId39"/>
    <p:sldLayoutId id="2147483803" r:id="rId40"/>
  </p:sldLayoutIdLst>
  <p:transition/>
  <p:timing>
    <p:tnLst>
      <p:par>
        <p:cTn id="1" dur="indefinite" restart="never" nodeType="tmRoot"/>
      </p:par>
    </p:tnLst>
  </p:timing>
  <p:txStyles>
    <p:title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p:titleStyle>
    <p:bodyStyle>
      <a:lvl1pPr marL="285750" indent="-285750" algn="l" rtl="0" eaLnBrk="1" fontAlgn="base" hangingPunct="1">
        <a:spcBef>
          <a:spcPct val="40000"/>
        </a:spcBef>
        <a:spcAft>
          <a:spcPct val="0"/>
        </a:spcAft>
        <a:buClr>
          <a:srgbClr val="04628C"/>
        </a:buClr>
        <a:buSzPct val="90000"/>
        <a:buFont typeface="Arial"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Arial"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Arial"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Arial"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146AD"/>
        </a:buClr>
        <a:buSzPct val="12000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1.xml"/></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7" Type="http://schemas.openxmlformats.org/officeDocument/2006/relationships/image" Target="../media/image7.emf"/><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6.emf"/><Relationship Id="rId5" Type="http://schemas.openxmlformats.org/officeDocument/2006/relationships/image" Target="../media/image5.emf"/><Relationship Id="rId4" Type="http://schemas.openxmlformats.org/officeDocument/2006/relationships/image" Target="../media/image4.emf"/></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4.emf"/></Relationships>
</file>

<file path=ppt/slides/_rels/slide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6.emf"/><Relationship Id="rId4" Type="http://schemas.openxmlformats.org/officeDocument/2006/relationships/image" Target="../media/image5.emf"/></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7.emf"/><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14.emf"/><Relationship Id="rId5" Type="http://schemas.openxmlformats.org/officeDocument/2006/relationships/image" Target="../media/image13.emf"/><Relationship Id="rId4" Type="http://schemas.openxmlformats.org/officeDocument/2006/relationships/image" Target="../media/image12.emf"/></Relationships>
</file>

<file path=ppt/slides/_rels/slide12.xml.rels><?xml version="1.0" encoding="UTF-8" standalone="yes"?>
<Relationships xmlns="http://schemas.openxmlformats.org/package/2006/relationships"><Relationship Id="rId3" Type="http://schemas.openxmlformats.org/officeDocument/2006/relationships/image" Target="../media/image4.emf"/><Relationship Id="rId7" Type="http://schemas.openxmlformats.org/officeDocument/2006/relationships/image" Target="../media/image7.emf"/><Relationship Id="rId2" Type="http://schemas.openxmlformats.org/officeDocument/2006/relationships/notesSlide" Target="../notesSlides/notesSlide12.xml"/><Relationship Id="rId1" Type="http://schemas.openxmlformats.org/officeDocument/2006/relationships/slideLayout" Target="../slideLayouts/slideLayout11.xml"/><Relationship Id="rId6" Type="http://schemas.openxmlformats.org/officeDocument/2006/relationships/image" Target="../media/image16.emf"/><Relationship Id="rId5" Type="http://schemas.openxmlformats.org/officeDocument/2006/relationships/image" Target="../media/image15.emf"/><Relationship Id="rId4" Type="http://schemas.openxmlformats.org/officeDocument/2006/relationships/image" Target="../media/image5.emf"/></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7.emf"/><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1.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3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image" Target="../media/image22.png"/><Relationship Id="rId7" Type="http://schemas.openxmlformats.org/officeDocument/2006/relationships/image" Target="../media/image6.emf"/><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image" Target="../media/image5.emf"/><Relationship Id="rId5" Type="http://schemas.openxmlformats.org/officeDocument/2006/relationships/image" Target="../media/image23.png"/><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8.xml"/><Relationship Id="rId5" Type="http://schemas.openxmlformats.org/officeDocument/2006/relationships/image" Target="../media/image5.emf"/><Relationship Id="rId4" Type="http://schemas.openxmlformats.org/officeDocument/2006/relationships/image" Target="../media/image4.emf"/></Relationships>
</file>

<file path=ppt/slides/_rels/slide2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3.xml"/><Relationship Id="rId1" Type="http://schemas.openxmlformats.org/officeDocument/2006/relationships/slideLayout" Target="../slideLayouts/slideLayout5.xml"/><Relationship Id="rId5" Type="http://schemas.openxmlformats.org/officeDocument/2006/relationships/image" Target="../media/image3.emf"/><Relationship Id="rId4" Type="http://schemas.openxmlformats.org/officeDocument/2006/relationships/image" Target="../media/image26.emf"/></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smtClean="0"/>
              <a:t>April 20</a:t>
            </a:r>
            <a:r>
              <a:rPr lang="en-US" dirty="0" smtClean="0"/>
              <a:t>, </a:t>
            </a:r>
            <a:r>
              <a:rPr lang="en-US" dirty="0" smtClean="0"/>
              <a:t>2014</a:t>
            </a:r>
            <a:endParaRPr lang="en-US" dirty="0"/>
          </a:p>
        </p:txBody>
      </p:sp>
      <p:sp>
        <p:nvSpPr>
          <p:cNvPr id="3" name="Title 2"/>
          <p:cNvSpPr>
            <a:spLocks noGrp="1"/>
          </p:cNvSpPr>
          <p:nvPr>
            <p:ph type="ctrTitle"/>
          </p:nvPr>
        </p:nvSpPr>
        <p:spPr/>
        <p:txBody>
          <a:bodyPr/>
          <a:lstStyle/>
          <a:p>
            <a:r>
              <a:rPr lang="en-US" dirty="0"/>
              <a:t>Triggering Messages</a:t>
            </a:r>
            <a:br>
              <a:rPr lang="en-US" dirty="0"/>
            </a:br>
            <a:endParaRPr lang="en-US" dirty="0"/>
          </a:p>
        </p:txBody>
      </p:sp>
    </p:spTree>
    <p:extLst>
      <p:ext uri="{BB962C8B-B14F-4D97-AF65-F5344CB8AC3E}">
        <p14:creationId xmlns:p14="http://schemas.microsoft.com/office/powerpoint/2010/main" val="2551511982"/>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pPr lvl="1"/>
            <a:r>
              <a:rPr lang="en-US" dirty="0"/>
              <a:t>Describe how event messages are triggered</a:t>
            </a:r>
          </a:p>
          <a:p>
            <a:pPr lvl="1"/>
            <a:r>
              <a:rPr lang="en-US" dirty="0"/>
              <a:t>Create destinations</a:t>
            </a:r>
          </a:p>
          <a:p>
            <a:pPr lvl="1"/>
            <a:r>
              <a:rPr lang="en-US" dirty="0"/>
              <a:t>Create </a:t>
            </a:r>
            <a:r>
              <a:rPr lang="en-US" dirty="0" smtClean="0"/>
              <a:t>messages </a:t>
            </a:r>
            <a:r>
              <a:rPr lang="en-US" dirty="0"/>
              <a:t>in </a:t>
            </a:r>
            <a:r>
              <a:rPr lang="en-US" dirty="0" smtClean="0"/>
              <a:t>Event Fired </a:t>
            </a:r>
            <a:r>
              <a:rPr lang="en-US" dirty="0"/>
              <a:t>rules</a:t>
            </a:r>
          </a:p>
          <a:p>
            <a:endParaRPr lang="en-US" dirty="0"/>
          </a:p>
        </p:txBody>
      </p:sp>
    </p:spTree>
    <p:extLst>
      <p:ext uri="{BB962C8B-B14F-4D97-AF65-F5344CB8AC3E}">
        <p14:creationId xmlns:p14="http://schemas.microsoft.com/office/powerpoint/2010/main" val="4282305785"/>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solidFill>
                  <a:schemeClr val="bg1"/>
                </a:solidFill>
              </a:rPr>
              <a:t>Entities used to trigger messaging</a:t>
            </a:r>
          </a:p>
          <a:p>
            <a:r>
              <a:rPr lang="en-US" dirty="0"/>
              <a:t>Destinations</a:t>
            </a:r>
          </a:p>
          <a:p>
            <a:r>
              <a:rPr lang="en-US" dirty="0" smtClean="0"/>
              <a:t>Event Fired </a:t>
            </a:r>
            <a:r>
              <a:rPr lang="en-US" dirty="0"/>
              <a:t>rules</a:t>
            </a:r>
          </a:p>
          <a:p>
            <a:endParaRPr lang="en-US" dirty="0"/>
          </a:p>
        </p:txBody>
      </p:sp>
    </p:spTree>
    <p:extLst>
      <p:ext uri="{BB962C8B-B14F-4D97-AF65-F5344CB8AC3E}">
        <p14:creationId xmlns:p14="http://schemas.microsoft.com/office/powerpoint/2010/main" val="2269969366"/>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4" name="tbl XX_Msg"/>
          <p:cNvGraphicFramePr>
            <a:graphicFrameLocks noGrp="1"/>
          </p:cNvGraphicFramePr>
          <p:nvPr>
            <p:extLst>
              <p:ext uri="{D42A27DB-BD31-4B8C-83A1-F6EECF244321}">
                <p14:modId xmlns:p14="http://schemas.microsoft.com/office/powerpoint/2010/main" val="924974173"/>
              </p:ext>
            </p:extLst>
          </p:nvPr>
        </p:nvGraphicFramePr>
        <p:xfrm>
          <a:off x="7315200" y="4648200"/>
          <a:ext cx="1600200" cy="1402080"/>
        </p:xfrm>
        <a:graphic>
          <a:graphicData uri="http://schemas.openxmlformats.org/drawingml/2006/table">
            <a:tbl>
              <a:tblPr firstRow="1" bandRow="1">
                <a:effectLst>
                  <a:outerShdw blurRad="50800" dist="38100" dir="2700000" algn="tl" rotWithShape="0">
                    <a:prstClr val="black">
                      <a:alpha val="40000"/>
                    </a:prstClr>
                  </a:outerShdw>
                </a:effectLst>
                <a:tableStyleId>{93296810-A885-4BE3-A3E7-6D5BEEA58F35}</a:tableStyleId>
              </a:tblPr>
              <a:tblGrid>
                <a:gridCol w="533400"/>
                <a:gridCol w="533400"/>
                <a:gridCol w="533400"/>
              </a:tblGrid>
              <a:tr h="317500">
                <a:tc gridSpan="3">
                  <a:txBody>
                    <a:bodyPr/>
                    <a:lstStyle/>
                    <a:p>
                      <a:pPr algn="ctr"/>
                      <a:r>
                        <a:rPr lang="en-US" sz="1600" dirty="0" smtClean="0"/>
                        <a:t>xx_message</a:t>
                      </a:r>
                      <a:endParaRPr lang="en-US" sz="1600" dirty="0"/>
                    </a:p>
                  </a:txBody>
                  <a:tcPr/>
                </a:tc>
                <a:tc hMerge="1">
                  <a:txBody>
                    <a:bodyPr/>
                    <a:lstStyle/>
                    <a:p>
                      <a:endParaRPr lang="en-US" dirty="0"/>
                    </a:p>
                  </a:txBody>
                  <a:tcPr/>
                </a:tc>
                <a:tc hMerge="1">
                  <a:txBody>
                    <a:bodyPr/>
                    <a:lstStyle/>
                    <a:p>
                      <a:endParaRPr lang="en-US" dirty="0"/>
                    </a:p>
                  </a:txBody>
                  <a:tcPr/>
                </a:tc>
              </a:tr>
              <a:tr h="211485">
                <a:tc>
                  <a:txBody>
                    <a:bodyPr/>
                    <a:lstStyle/>
                    <a:p>
                      <a:endParaRPr lang="en-US" sz="800" dirty="0"/>
                    </a:p>
                  </a:txBody>
                  <a:tcPr/>
                </a:tc>
                <a:tc>
                  <a:txBody>
                    <a:bodyPr/>
                    <a:lstStyle/>
                    <a:p>
                      <a:endParaRPr lang="en-US" sz="800"/>
                    </a:p>
                  </a:txBody>
                  <a:tcPr/>
                </a:tc>
                <a:tc>
                  <a:txBody>
                    <a:bodyPr/>
                    <a:lstStyle/>
                    <a:p>
                      <a:endParaRPr lang="en-US" sz="800" dirty="0"/>
                    </a:p>
                  </a:txBody>
                  <a:tcPr/>
                </a:tc>
              </a:tr>
              <a:tr h="202719">
                <a:tc>
                  <a:txBody>
                    <a:bodyPr/>
                    <a:lstStyle/>
                    <a:p>
                      <a:endParaRPr lang="en-US" sz="800" dirty="0"/>
                    </a:p>
                  </a:txBody>
                  <a:tcPr/>
                </a:tc>
                <a:tc>
                  <a:txBody>
                    <a:bodyPr/>
                    <a:lstStyle/>
                    <a:p>
                      <a:endParaRPr lang="en-US" sz="800" dirty="0"/>
                    </a:p>
                  </a:txBody>
                  <a:tcPr/>
                </a:tc>
                <a:tc>
                  <a:txBody>
                    <a:bodyPr/>
                    <a:lstStyle/>
                    <a:p>
                      <a:endParaRPr lang="en-US" sz="800"/>
                    </a:p>
                  </a:txBody>
                  <a:tcPr/>
                </a:tc>
              </a:tr>
              <a:tr h="202719">
                <a:tc>
                  <a:txBody>
                    <a:bodyPr/>
                    <a:lstStyle/>
                    <a:p>
                      <a:endParaRPr lang="en-US" sz="800" dirty="0"/>
                    </a:p>
                  </a:txBody>
                  <a:tcPr/>
                </a:tc>
                <a:tc>
                  <a:txBody>
                    <a:bodyPr/>
                    <a:lstStyle/>
                    <a:p>
                      <a:endParaRPr lang="en-US" sz="800" dirty="0"/>
                    </a:p>
                  </a:txBody>
                  <a:tcPr/>
                </a:tc>
                <a:tc>
                  <a:txBody>
                    <a:bodyPr/>
                    <a:lstStyle/>
                    <a:p>
                      <a:endParaRPr lang="en-US" sz="800" dirty="0"/>
                    </a:p>
                  </a:txBody>
                  <a:tcPr/>
                </a:tc>
              </a:tr>
              <a:tr h="202719">
                <a:tc>
                  <a:txBody>
                    <a:bodyPr/>
                    <a:lstStyle/>
                    <a:p>
                      <a:endParaRPr lang="en-US" sz="800"/>
                    </a:p>
                  </a:txBody>
                  <a:tcPr/>
                </a:tc>
                <a:tc>
                  <a:txBody>
                    <a:bodyPr/>
                    <a:lstStyle/>
                    <a:p>
                      <a:endParaRPr lang="en-US" sz="800" dirty="0"/>
                    </a:p>
                  </a:txBody>
                  <a:tcPr/>
                </a:tc>
                <a:tc>
                  <a:txBody>
                    <a:bodyPr/>
                    <a:lstStyle/>
                    <a:p>
                      <a:endParaRPr lang="en-US" sz="800" dirty="0"/>
                    </a:p>
                  </a:txBody>
                  <a:tcPr/>
                </a:tc>
              </a:tr>
              <a:tr h="202719">
                <a:tc>
                  <a:txBody>
                    <a:bodyPr/>
                    <a:lstStyle/>
                    <a:p>
                      <a:endParaRPr lang="en-US" sz="800"/>
                    </a:p>
                  </a:txBody>
                  <a:tcPr/>
                </a:tc>
                <a:tc>
                  <a:txBody>
                    <a:bodyPr/>
                    <a:lstStyle/>
                    <a:p>
                      <a:endParaRPr lang="en-US" sz="800" dirty="0"/>
                    </a:p>
                  </a:txBody>
                  <a:tcPr/>
                </a:tc>
                <a:tc>
                  <a:txBody>
                    <a:bodyPr/>
                    <a:lstStyle/>
                    <a:p>
                      <a:endParaRPr lang="en-US" sz="800" dirty="0"/>
                    </a:p>
                  </a:txBody>
                  <a:tcPr/>
                </a:tc>
              </a:tr>
            </a:tbl>
          </a:graphicData>
        </a:graphic>
      </p:graphicFrame>
      <p:sp>
        <p:nvSpPr>
          <p:cNvPr id="70" name="Rectangle 101"/>
          <p:cNvSpPr>
            <a:spLocks noChangeArrowheads="1"/>
          </p:cNvSpPr>
          <p:nvPr/>
        </p:nvSpPr>
        <p:spPr bwMode="auto">
          <a:xfrm>
            <a:off x="5029201" y="4687354"/>
            <a:ext cx="1904998" cy="1678284"/>
          </a:xfrm>
          <a:prstGeom prst="rect">
            <a:avLst/>
          </a:prstGeom>
          <a:noFill/>
          <a:ln w="28575" algn="ctr">
            <a:solidFill>
              <a:srgbClr val="6666FF"/>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dirty="0"/>
          </a:p>
        </p:txBody>
      </p:sp>
      <p:sp>
        <p:nvSpPr>
          <p:cNvPr id="69" name="Rectangle 85"/>
          <p:cNvSpPr>
            <a:spLocks noChangeArrowheads="1"/>
          </p:cNvSpPr>
          <p:nvPr/>
        </p:nvSpPr>
        <p:spPr bwMode="auto">
          <a:xfrm>
            <a:off x="2514600" y="4687354"/>
            <a:ext cx="1912527" cy="1667726"/>
          </a:xfrm>
          <a:prstGeom prst="rect">
            <a:avLst/>
          </a:prstGeom>
          <a:noFill/>
          <a:ln w="28575" algn="ctr">
            <a:solidFill>
              <a:srgbClr val="A50021"/>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dirty="0"/>
          </a:p>
        </p:txBody>
      </p:sp>
      <p:sp>
        <p:nvSpPr>
          <p:cNvPr id="3" name="Title 2"/>
          <p:cNvSpPr>
            <a:spLocks noGrp="1"/>
          </p:cNvSpPr>
          <p:nvPr>
            <p:ph type="title"/>
          </p:nvPr>
        </p:nvSpPr>
        <p:spPr/>
        <p:txBody>
          <a:bodyPr/>
          <a:lstStyle/>
          <a:p>
            <a:r>
              <a:rPr lang="en-US" dirty="0"/>
              <a:t>Messaging entities</a:t>
            </a:r>
          </a:p>
        </p:txBody>
      </p:sp>
      <p:sp>
        <p:nvSpPr>
          <p:cNvPr id="2" name="Content Placeholder 1"/>
          <p:cNvSpPr>
            <a:spLocks noGrp="1"/>
          </p:cNvSpPr>
          <p:nvPr>
            <p:ph sz="half" idx="1"/>
          </p:nvPr>
        </p:nvSpPr>
        <p:spPr/>
        <p:txBody>
          <a:bodyPr/>
          <a:lstStyle/>
          <a:p>
            <a:r>
              <a:rPr lang="en-US" dirty="0" smtClean="0"/>
              <a:t>EventAware Entity</a:t>
            </a:r>
          </a:p>
          <a:p>
            <a:pPr lvl="1"/>
            <a:r>
              <a:rPr lang="en-US" dirty="0" smtClean="0"/>
              <a:t>Entity </a:t>
            </a:r>
            <a:r>
              <a:rPr lang="en-US" dirty="0"/>
              <a:t>whose instances can initiate </a:t>
            </a:r>
            <a:r>
              <a:rPr lang="en-US" dirty="0" smtClean="0"/>
              <a:t>messaging</a:t>
            </a:r>
          </a:p>
          <a:p>
            <a:pPr lvl="1"/>
            <a:r>
              <a:rPr lang="en-US" dirty="0" smtClean="0"/>
              <a:t>Specified </a:t>
            </a:r>
            <a:br>
              <a:rPr lang="en-US" dirty="0" smtClean="0"/>
            </a:br>
            <a:r>
              <a:rPr lang="en-US" dirty="0" smtClean="0"/>
              <a:t> &lt;event /&gt; element</a:t>
            </a:r>
            <a:endParaRPr lang="en-US" dirty="0"/>
          </a:p>
        </p:txBody>
      </p:sp>
      <p:sp>
        <p:nvSpPr>
          <p:cNvPr id="6" name="Content Placeholder 5"/>
          <p:cNvSpPr>
            <a:spLocks noGrp="1"/>
          </p:cNvSpPr>
          <p:nvPr>
            <p:ph sz="half" idx="10"/>
          </p:nvPr>
        </p:nvSpPr>
        <p:spPr/>
        <p:txBody>
          <a:bodyPr/>
          <a:lstStyle/>
          <a:p>
            <a:r>
              <a:rPr lang="en-US" dirty="0" smtClean="0"/>
              <a:t>Message Context</a:t>
            </a:r>
          </a:p>
          <a:p>
            <a:pPr lvl="1"/>
            <a:r>
              <a:rPr lang="en-US" dirty="0" smtClean="0"/>
              <a:t>Internal, non-persistent, virtual entity</a:t>
            </a:r>
          </a:p>
          <a:p>
            <a:pPr lvl="1"/>
            <a:r>
              <a:rPr lang="en-US" dirty="0" smtClean="0"/>
              <a:t>Run-time only</a:t>
            </a:r>
          </a:p>
          <a:p>
            <a:pPr lvl="1"/>
            <a:endParaRPr lang="en-US" dirty="0"/>
          </a:p>
        </p:txBody>
      </p:sp>
      <p:sp>
        <p:nvSpPr>
          <p:cNvPr id="5" name="Content Placeholder 4"/>
          <p:cNvSpPr>
            <a:spLocks noGrp="1"/>
          </p:cNvSpPr>
          <p:nvPr>
            <p:ph sz="half" idx="2"/>
          </p:nvPr>
        </p:nvSpPr>
        <p:spPr/>
        <p:txBody>
          <a:bodyPr/>
          <a:lstStyle/>
          <a:p>
            <a:r>
              <a:rPr lang="en-US" dirty="0" smtClean="0"/>
              <a:t>Message</a:t>
            </a:r>
          </a:p>
          <a:p>
            <a:pPr lvl="1"/>
            <a:r>
              <a:rPr lang="en-US" dirty="0" smtClean="0"/>
              <a:t>Contains details about the message</a:t>
            </a:r>
          </a:p>
          <a:p>
            <a:pPr lvl="1"/>
            <a:r>
              <a:rPr lang="en-US" dirty="0" smtClean="0"/>
              <a:t>Stores details </a:t>
            </a:r>
            <a:br>
              <a:rPr lang="en-US" dirty="0" smtClean="0"/>
            </a:br>
            <a:r>
              <a:rPr lang="en-US" dirty="0" smtClean="0"/>
              <a:t>in the XX_MESSAGE database table</a:t>
            </a:r>
            <a:endParaRPr lang="en-US" dirty="0"/>
          </a:p>
        </p:txBody>
      </p:sp>
      <p:sp>
        <p:nvSpPr>
          <p:cNvPr id="7" name="Line 2"/>
          <p:cNvSpPr>
            <a:spLocks noChangeShapeType="1"/>
          </p:cNvSpPr>
          <p:nvPr/>
        </p:nvSpPr>
        <p:spPr bwMode="auto">
          <a:xfrm>
            <a:off x="4089400" y="5297251"/>
            <a:ext cx="3281362" cy="0"/>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8" name="Text Box 4"/>
          <p:cNvSpPr txBox="1">
            <a:spLocks noChangeArrowheads="1"/>
          </p:cNvSpPr>
          <p:nvPr/>
        </p:nvSpPr>
        <p:spPr bwMode="auto">
          <a:xfrm>
            <a:off x="6198008" y="4085534"/>
            <a:ext cx="1172753"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eaLnBrk="1" hangingPunct="1">
              <a:spcAft>
                <a:spcPct val="30000"/>
              </a:spcAft>
              <a:buClr>
                <a:schemeClr val="tx1"/>
              </a:buClr>
              <a:buFontTx/>
              <a:buNone/>
            </a:pPr>
            <a:r>
              <a:rPr lang="en-US" sz="1600" dirty="0" smtClean="0">
                <a:solidFill>
                  <a:schemeClr val="bg1"/>
                </a:solidFill>
              </a:rPr>
              <a:t>Event Fired Rules</a:t>
            </a:r>
            <a:endParaRPr lang="en-US" sz="1600" dirty="0">
              <a:solidFill>
                <a:schemeClr val="bg1"/>
              </a:solidFill>
            </a:endParaRPr>
          </a:p>
        </p:txBody>
      </p:sp>
      <p:sp>
        <p:nvSpPr>
          <p:cNvPr id="17" name="Text Box 13"/>
          <p:cNvSpPr txBox="1">
            <a:spLocks noChangeArrowheads="1"/>
          </p:cNvSpPr>
          <p:nvPr/>
        </p:nvSpPr>
        <p:spPr bwMode="auto">
          <a:xfrm>
            <a:off x="609600" y="5727700"/>
            <a:ext cx="1360487"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sz="1600" dirty="0" smtClean="0">
                <a:solidFill>
                  <a:schemeClr val="bg1"/>
                </a:solidFill>
              </a:rPr>
              <a:t>EventAware</a:t>
            </a:r>
            <a:r>
              <a:rPr lang="en-US" sz="1600" dirty="0">
                <a:solidFill>
                  <a:schemeClr val="bg1"/>
                </a:solidFill>
              </a:rPr>
              <a:t/>
            </a:r>
            <a:br>
              <a:rPr lang="en-US" sz="1600" dirty="0">
                <a:solidFill>
                  <a:schemeClr val="bg1"/>
                </a:solidFill>
              </a:rPr>
            </a:br>
            <a:r>
              <a:rPr lang="en-US" sz="1600" dirty="0">
                <a:solidFill>
                  <a:schemeClr val="bg1"/>
                </a:solidFill>
              </a:rPr>
              <a:t>entity</a:t>
            </a:r>
          </a:p>
        </p:txBody>
      </p:sp>
      <p:sp>
        <p:nvSpPr>
          <p:cNvPr id="18" name="Text Box 14"/>
          <p:cNvSpPr txBox="1">
            <a:spLocks noChangeArrowheads="1"/>
          </p:cNvSpPr>
          <p:nvPr/>
        </p:nvSpPr>
        <p:spPr bwMode="auto">
          <a:xfrm>
            <a:off x="2897187" y="5759450"/>
            <a:ext cx="103822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sz="1600" dirty="0">
                <a:solidFill>
                  <a:schemeClr val="bg1"/>
                </a:solidFill>
              </a:rPr>
              <a:t>message</a:t>
            </a:r>
            <a:br>
              <a:rPr lang="en-US" sz="1600" dirty="0">
                <a:solidFill>
                  <a:schemeClr val="bg1"/>
                </a:solidFill>
              </a:rPr>
            </a:br>
            <a:r>
              <a:rPr lang="en-US" sz="1600" dirty="0">
                <a:solidFill>
                  <a:schemeClr val="bg1"/>
                </a:solidFill>
              </a:rPr>
              <a:t>context</a:t>
            </a:r>
          </a:p>
        </p:txBody>
      </p:sp>
      <p:sp>
        <p:nvSpPr>
          <p:cNvPr id="62" name="Line 75"/>
          <p:cNvSpPr>
            <a:spLocks noChangeShapeType="1"/>
          </p:cNvSpPr>
          <p:nvPr/>
        </p:nvSpPr>
        <p:spPr bwMode="auto">
          <a:xfrm>
            <a:off x="1603375" y="5275026"/>
            <a:ext cx="1308100" cy="0"/>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63" name="Text Box 76"/>
          <p:cNvSpPr txBox="1">
            <a:spLocks noChangeArrowheads="1"/>
          </p:cNvSpPr>
          <p:nvPr/>
        </p:nvSpPr>
        <p:spPr bwMode="auto">
          <a:xfrm>
            <a:off x="1700440" y="4144662"/>
            <a:ext cx="96656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sz="1600" dirty="0" smtClean="0">
                <a:solidFill>
                  <a:schemeClr val="bg1"/>
                </a:solidFill>
              </a:rPr>
              <a:t>Entity </a:t>
            </a:r>
            <a:br>
              <a:rPr lang="en-US" sz="1600" dirty="0" smtClean="0">
                <a:solidFill>
                  <a:schemeClr val="bg1"/>
                </a:solidFill>
              </a:rPr>
            </a:br>
            <a:r>
              <a:rPr lang="en-US" sz="1600" dirty="0" smtClean="0">
                <a:solidFill>
                  <a:schemeClr val="bg1"/>
                </a:solidFill>
              </a:rPr>
              <a:t>Event</a:t>
            </a:r>
            <a:endParaRPr lang="en-US" sz="1600" dirty="0">
              <a:solidFill>
                <a:schemeClr val="bg1"/>
              </a:solidFill>
            </a:endParaRPr>
          </a:p>
        </p:txBody>
      </p:sp>
      <p:sp>
        <p:nvSpPr>
          <p:cNvPr id="68" name="Text Box 84"/>
          <p:cNvSpPr txBox="1">
            <a:spLocks noChangeArrowheads="1"/>
          </p:cNvSpPr>
          <p:nvPr/>
        </p:nvSpPr>
        <p:spPr bwMode="auto">
          <a:xfrm>
            <a:off x="5475287" y="5759450"/>
            <a:ext cx="11557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sz="1600" dirty="0">
                <a:solidFill>
                  <a:schemeClr val="bg1"/>
                </a:solidFill>
              </a:rPr>
              <a:t>message</a:t>
            </a:r>
          </a:p>
        </p:txBody>
      </p:sp>
      <p:sp>
        <p:nvSpPr>
          <p:cNvPr id="84" name="Text Box 4"/>
          <p:cNvSpPr txBox="1">
            <a:spLocks noChangeArrowheads="1"/>
          </p:cNvSpPr>
          <p:nvPr/>
        </p:nvSpPr>
        <p:spPr bwMode="auto">
          <a:xfrm>
            <a:off x="3593134" y="4267774"/>
            <a:ext cx="117650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eaLnBrk="1" hangingPunct="1">
              <a:spcAft>
                <a:spcPct val="30000"/>
              </a:spcAft>
              <a:buClr>
                <a:schemeClr val="tx1"/>
              </a:buClr>
              <a:buFontTx/>
              <a:buNone/>
            </a:pPr>
            <a:r>
              <a:rPr lang="en-US" sz="1600" dirty="0" smtClean="0">
                <a:solidFill>
                  <a:schemeClr val="bg1"/>
                </a:solidFill>
              </a:rPr>
              <a:t>Destination</a:t>
            </a:r>
            <a:endParaRPr lang="en-US" sz="1600" dirty="0">
              <a:solidFill>
                <a:schemeClr val="bg1"/>
              </a:solidFill>
            </a:endParaRPr>
          </a:p>
        </p:txBody>
      </p:sp>
      <p:pic>
        <p:nvPicPr>
          <p:cNvPr id="7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77810" y="3663577"/>
            <a:ext cx="1020199" cy="9144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73" name="Group 72"/>
          <p:cNvGrpSpPr/>
          <p:nvPr/>
        </p:nvGrpSpPr>
        <p:grpSpPr>
          <a:xfrm>
            <a:off x="685273" y="4494462"/>
            <a:ext cx="991127" cy="1161320"/>
            <a:chOff x="2448995" y="2044222"/>
            <a:chExt cx="1532365" cy="1795498"/>
          </a:xfrm>
        </p:grpSpPr>
        <p:pic>
          <p:nvPicPr>
            <p:cNvPr id="74"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48995" y="2044222"/>
              <a:ext cx="1532365" cy="179549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75" name="Group 74"/>
            <p:cNvGrpSpPr/>
            <p:nvPr/>
          </p:nvGrpSpPr>
          <p:grpSpPr>
            <a:xfrm>
              <a:off x="3298002" y="2109793"/>
              <a:ext cx="569146" cy="552157"/>
              <a:chOff x="8351520" y="2281418"/>
              <a:chExt cx="1021080" cy="990600"/>
            </a:xfrm>
          </p:grpSpPr>
          <p:sp>
            <p:nvSpPr>
              <p:cNvPr id="76" name="Arc 75"/>
              <p:cNvSpPr/>
              <p:nvPr/>
            </p:nvSpPr>
            <p:spPr bwMode="auto">
              <a:xfrm>
                <a:off x="8351520" y="2357618"/>
                <a:ext cx="838201" cy="838200"/>
              </a:xfrm>
              <a:prstGeom prst="arc">
                <a:avLst>
                  <a:gd name="adj1" fmla="val 17911168"/>
                  <a:gd name="adj2" fmla="val 3597263"/>
                </a:avLst>
              </a:prstGeom>
              <a:noFill/>
              <a:ln w="28575" cap="rnd" cmpd="sng" algn="ctr">
                <a:solidFill>
                  <a:schemeClr val="tx2">
                    <a:lumMod val="50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30000"/>
                  </a:spcAft>
                  <a:buClr>
                    <a:schemeClr val="tx1"/>
                  </a:buClr>
                  <a:buSzTx/>
                  <a:buFontTx/>
                  <a:buNone/>
                  <a:tabLst/>
                </a:pPr>
                <a:endParaRPr kumimoji="0" lang="en-US" sz="2000" b="1" i="0" u="none" strike="noStrike" cap="none" normalizeH="0" baseline="0" smtClean="0">
                  <a:ln>
                    <a:noFill/>
                  </a:ln>
                  <a:solidFill>
                    <a:srgbClr val="FF0000"/>
                  </a:solidFill>
                  <a:effectLst/>
                  <a:latin typeface="Arial" charset="0"/>
                </a:endParaRPr>
              </a:p>
            </p:txBody>
          </p:sp>
          <p:sp>
            <p:nvSpPr>
              <p:cNvPr id="77" name="Arc 76"/>
              <p:cNvSpPr/>
              <p:nvPr/>
            </p:nvSpPr>
            <p:spPr bwMode="auto">
              <a:xfrm>
                <a:off x="8382000" y="2281418"/>
                <a:ext cx="990600" cy="990600"/>
              </a:xfrm>
              <a:prstGeom prst="arc">
                <a:avLst>
                  <a:gd name="adj1" fmla="val 17911168"/>
                  <a:gd name="adj2" fmla="val 3597263"/>
                </a:avLst>
              </a:prstGeom>
              <a:noFill/>
              <a:ln w="28575" cap="rnd" cmpd="sng" algn="ctr">
                <a:solidFill>
                  <a:schemeClr val="tx2">
                    <a:lumMod val="50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30000"/>
                  </a:spcAft>
                  <a:buClr>
                    <a:schemeClr val="tx1"/>
                  </a:buClr>
                  <a:buSzTx/>
                  <a:buFontTx/>
                  <a:buNone/>
                  <a:tabLst/>
                </a:pPr>
                <a:endParaRPr kumimoji="0" lang="en-US" sz="2000" b="1" i="0" u="none" strike="noStrike" cap="none" normalizeH="0" baseline="0" smtClean="0">
                  <a:ln>
                    <a:noFill/>
                  </a:ln>
                  <a:solidFill>
                    <a:srgbClr val="FF0000"/>
                  </a:solidFill>
                  <a:effectLst/>
                  <a:latin typeface="Arial" charset="0"/>
                </a:endParaRPr>
              </a:p>
            </p:txBody>
          </p:sp>
        </p:grpSp>
      </p:grpSp>
      <p:pic>
        <p:nvPicPr>
          <p:cNvPr id="4"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71286" y="4721768"/>
            <a:ext cx="967314" cy="92711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43753" y="4928729"/>
            <a:ext cx="952091" cy="61117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5" name="icn Msg Destination"/>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21550" y="3663577"/>
            <a:ext cx="766476" cy="94921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04775991"/>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EventAware entity</a:t>
            </a:r>
            <a:endParaRPr lang="en-US" dirty="0"/>
          </a:p>
        </p:txBody>
      </p:sp>
      <p:sp>
        <p:nvSpPr>
          <p:cNvPr id="3" name="Content Placeholder 2"/>
          <p:cNvSpPr>
            <a:spLocks noGrp="1"/>
          </p:cNvSpPr>
          <p:nvPr>
            <p:ph idx="1"/>
          </p:nvPr>
        </p:nvSpPr>
        <p:spPr>
          <a:xfrm>
            <a:off x="519113" y="4114800"/>
            <a:ext cx="8318500" cy="2286000"/>
          </a:xfrm>
        </p:spPr>
        <p:txBody>
          <a:bodyPr/>
          <a:lstStyle/>
          <a:p>
            <a:r>
              <a:rPr lang="en-US" dirty="0" smtClean="0"/>
              <a:t>An </a:t>
            </a:r>
            <a:r>
              <a:rPr lang="en-US" b="1" dirty="0" smtClean="0"/>
              <a:t>EventAware </a:t>
            </a:r>
            <a:r>
              <a:rPr lang="en-US" b="1" dirty="0"/>
              <a:t>entity </a:t>
            </a:r>
            <a:r>
              <a:rPr lang="en-US" dirty="0"/>
              <a:t>is an entity whose instances can initiate </a:t>
            </a:r>
            <a:r>
              <a:rPr lang="en-US" dirty="0" smtClean="0"/>
              <a:t>messaging and store </a:t>
            </a:r>
            <a:r>
              <a:rPr lang="en-US" dirty="0"/>
              <a:t>data that is of interest to external systems</a:t>
            </a:r>
          </a:p>
          <a:p>
            <a:r>
              <a:rPr lang="en-US" dirty="0" smtClean="0"/>
              <a:t>&lt;event /&gt;</a:t>
            </a:r>
          </a:p>
          <a:p>
            <a:pPr lvl="1"/>
            <a:r>
              <a:rPr lang="en-US" dirty="0" smtClean="0"/>
              <a:t>EventAware </a:t>
            </a:r>
            <a:r>
              <a:rPr lang="en-US" dirty="0"/>
              <a:t>entities delegate to the EventAware data model delegate</a:t>
            </a:r>
          </a:p>
          <a:p>
            <a:endParaRPr lang="en-US" dirty="0"/>
          </a:p>
        </p:txBody>
      </p:sp>
      <p:pic>
        <p:nvPicPr>
          <p:cNvPr id="2050" name="Picture 2" descr="C:\Users\sluersen\AppData\Local\Temp\SNAGHTML3c923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762001"/>
            <a:ext cx="4964762" cy="1720953"/>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4" name="Picture 8" descr="BankAccount in D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00748" y="2257425"/>
            <a:ext cx="5790477" cy="1676191"/>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Rounded Rectangle 7"/>
          <p:cNvSpPr/>
          <p:nvPr/>
        </p:nvSpPr>
        <p:spPr bwMode="auto">
          <a:xfrm>
            <a:off x="609601" y="1933575"/>
            <a:ext cx="985452" cy="276982"/>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cxnSp>
        <p:nvCxnSpPr>
          <p:cNvPr id="9" name="Elbow Connector 8"/>
          <p:cNvCxnSpPr>
            <a:stCxn id="8" idx="3"/>
            <a:endCxn id="11" idx="0"/>
          </p:cNvCxnSpPr>
          <p:nvPr/>
        </p:nvCxnSpPr>
        <p:spPr bwMode="auto">
          <a:xfrm>
            <a:off x="1595053" y="2072066"/>
            <a:ext cx="6555821" cy="243265"/>
          </a:xfrm>
          <a:prstGeom prst="bentConnector2">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sp>
        <p:nvSpPr>
          <p:cNvPr id="11" name="Rounded Rectangle 10"/>
          <p:cNvSpPr/>
          <p:nvPr/>
        </p:nvSpPr>
        <p:spPr bwMode="auto">
          <a:xfrm>
            <a:off x="7658148" y="2315331"/>
            <a:ext cx="985452" cy="380243"/>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spTree>
    <p:extLst>
      <p:ext uri="{BB962C8B-B14F-4D97-AF65-F5344CB8AC3E}">
        <p14:creationId xmlns:p14="http://schemas.microsoft.com/office/powerpoint/2010/main" val="3162314365"/>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Messaging Events</a:t>
            </a:r>
            <a:endParaRPr lang="en-US" dirty="0"/>
          </a:p>
        </p:txBody>
      </p:sp>
      <p:sp>
        <p:nvSpPr>
          <p:cNvPr id="3" name="Content Placeholder 2"/>
          <p:cNvSpPr>
            <a:spLocks noGrp="1"/>
          </p:cNvSpPr>
          <p:nvPr>
            <p:ph idx="1"/>
          </p:nvPr>
        </p:nvSpPr>
        <p:spPr>
          <a:xfrm>
            <a:off x="519113" y="3703638"/>
            <a:ext cx="8318500" cy="2697162"/>
          </a:xfrm>
        </p:spPr>
        <p:txBody>
          <a:bodyPr/>
          <a:lstStyle/>
          <a:p>
            <a:r>
              <a:rPr lang="en-US" dirty="0"/>
              <a:t>A </a:t>
            </a:r>
            <a:r>
              <a:rPr lang="en-US" b="1" dirty="0" smtClean="0"/>
              <a:t>messaging event </a:t>
            </a:r>
            <a:r>
              <a:rPr lang="en-US" dirty="0" smtClean="0"/>
              <a:t>often occurs </a:t>
            </a:r>
            <a:r>
              <a:rPr lang="en-US" dirty="0"/>
              <a:t>when </a:t>
            </a:r>
            <a:r>
              <a:rPr lang="en-US" dirty="0" smtClean="0"/>
              <a:t/>
            </a:r>
            <a:br>
              <a:rPr lang="en-US" dirty="0" smtClean="0"/>
            </a:br>
            <a:r>
              <a:rPr lang="en-US" dirty="0" smtClean="0"/>
              <a:t>adding, changing, or removing </a:t>
            </a:r>
            <a:br>
              <a:rPr lang="en-US" dirty="0" smtClean="0"/>
            </a:br>
            <a:r>
              <a:rPr lang="en-US" dirty="0" smtClean="0"/>
              <a:t>an instance of an EventAware entity</a:t>
            </a:r>
            <a:endParaRPr lang="en-US" dirty="0"/>
          </a:p>
          <a:p>
            <a:r>
              <a:rPr lang="en-US" b="1" dirty="0" smtClean="0">
                <a:latin typeface="Courier New" pitchFamily="49" charset="0"/>
                <a:cs typeface="Courier New" pitchFamily="49" charset="0"/>
              </a:rPr>
              <a:t>&lt;</a:t>
            </a:r>
            <a:r>
              <a:rPr lang="en-US" b="1" dirty="0">
                <a:latin typeface="Courier New" pitchFamily="49" charset="0"/>
                <a:cs typeface="Courier New" pitchFamily="49" charset="0"/>
              </a:rPr>
              <a:t>entity&gt;&lt;typeOfChange</a:t>
            </a:r>
            <a:r>
              <a:rPr lang="en-US" b="1" dirty="0" smtClean="0">
                <a:latin typeface="Courier New" pitchFamily="49" charset="0"/>
                <a:cs typeface="Courier New" pitchFamily="49" charset="0"/>
              </a:rPr>
              <a:t>&gt;</a:t>
            </a:r>
          </a:p>
          <a:p>
            <a:pPr lvl="1"/>
            <a:r>
              <a:rPr lang="en-US" dirty="0"/>
              <a:t>Naming convention </a:t>
            </a:r>
            <a:endParaRPr lang="en-US" dirty="0" smtClean="0"/>
          </a:p>
          <a:p>
            <a:pPr lvl="1"/>
            <a:r>
              <a:rPr lang="en-US" b="1" dirty="0" smtClean="0">
                <a:latin typeface="Courier New" pitchFamily="49" charset="0"/>
                <a:cs typeface="Courier New" pitchFamily="49" charset="0"/>
              </a:rPr>
              <a:t>&lt;typeOfChange&gt; </a:t>
            </a:r>
            <a:r>
              <a:rPr lang="en-US" dirty="0" smtClean="0"/>
              <a:t>is  default is Added, Changed, </a:t>
            </a:r>
            <a:br>
              <a:rPr lang="en-US" dirty="0" smtClean="0"/>
            </a:br>
            <a:r>
              <a:rPr lang="en-US" dirty="0" smtClean="0"/>
              <a:t>or Removed</a:t>
            </a:r>
          </a:p>
          <a:p>
            <a:endParaRPr lang="en-US" dirty="0"/>
          </a:p>
        </p:txBody>
      </p:sp>
      <p:pic>
        <p:nvPicPr>
          <p:cNvPr id="4" name="Picture 8" descr="BankAccount in D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5088" y="914400"/>
            <a:ext cx="7527620" cy="2179048"/>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5" name="Elbow Connector 4"/>
          <p:cNvCxnSpPr>
            <a:stCxn id="6" idx="3"/>
            <a:endCxn id="8" idx="3"/>
          </p:cNvCxnSpPr>
          <p:nvPr/>
        </p:nvCxnSpPr>
        <p:spPr bwMode="auto">
          <a:xfrm flipH="1">
            <a:off x="2783281" y="1250294"/>
            <a:ext cx="5174081" cy="1433284"/>
          </a:xfrm>
          <a:prstGeom prst="bentConnector3">
            <a:avLst>
              <a:gd name="adj1" fmla="val -4418"/>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sp>
        <p:nvSpPr>
          <p:cNvPr id="6" name="Rounded Rectangle 5"/>
          <p:cNvSpPr/>
          <p:nvPr/>
        </p:nvSpPr>
        <p:spPr bwMode="auto">
          <a:xfrm>
            <a:off x="6725010" y="997911"/>
            <a:ext cx="1232352" cy="504765"/>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8" name="Rounded Rectangle 7"/>
          <p:cNvSpPr/>
          <p:nvPr/>
        </p:nvSpPr>
        <p:spPr bwMode="auto">
          <a:xfrm>
            <a:off x="753214" y="2319155"/>
            <a:ext cx="2030067" cy="728845"/>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15" name="Text Box 14"/>
          <p:cNvSpPr txBox="1">
            <a:spLocks noChangeArrowheads="1"/>
          </p:cNvSpPr>
          <p:nvPr/>
        </p:nvSpPr>
        <p:spPr bwMode="auto">
          <a:xfrm>
            <a:off x="6391832" y="5010070"/>
            <a:ext cx="2570162"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dirty="0" smtClean="0">
                <a:solidFill>
                  <a:srgbClr val="FF6600"/>
                </a:solidFill>
              </a:rPr>
              <a:t>BankAccountChanged</a:t>
            </a:r>
            <a:endParaRPr lang="en-US" dirty="0">
              <a:solidFill>
                <a:srgbClr val="FF6600"/>
              </a:solidFill>
            </a:endParaRPr>
          </a:p>
        </p:txBody>
      </p:sp>
      <p:grpSp>
        <p:nvGrpSpPr>
          <p:cNvPr id="21" name="Group 20"/>
          <p:cNvGrpSpPr>
            <a:grpSpLocks noChangeAspect="1"/>
          </p:cNvGrpSpPr>
          <p:nvPr/>
        </p:nvGrpSpPr>
        <p:grpSpPr>
          <a:xfrm>
            <a:off x="6781800" y="2777950"/>
            <a:ext cx="1905000" cy="2232120"/>
            <a:chOff x="2448995" y="2044222"/>
            <a:chExt cx="1532365" cy="1795498"/>
          </a:xfrm>
        </p:grpSpPr>
        <p:pic>
          <p:nvPicPr>
            <p:cNvPr id="22"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48995" y="2044222"/>
              <a:ext cx="1532365" cy="179549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3" name="Group 22"/>
            <p:cNvGrpSpPr/>
            <p:nvPr/>
          </p:nvGrpSpPr>
          <p:grpSpPr>
            <a:xfrm>
              <a:off x="3298002" y="2109793"/>
              <a:ext cx="569146" cy="552157"/>
              <a:chOff x="8351520" y="2281418"/>
              <a:chExt cx="1021080" cy="990600"/>
            </a:xfrm>
          </p:grpSpPr>
          <p:sp>
            <p:nvSpPr>
              <p:cNvPr id="24" name="Arc 23"/>
              <p:cNvSpPr/>
              <p:nvPr/>
            </p:nvSpPr>
            <p:spPr bwMode="auto">
              <a:xfrm>
                <a:off x="8351520" y="2357618"/>
                <a:ext cx="838201" cy="838200"/>
              </a:xfrm>
              <a:prstGeom prst="arc">
                <a:avLst>
                  <a:gd name="adj1" fmla="val 17911168"/>
                  <a:gd name="adj2" fmla="val 3597263"/>
                </a:avLst>
              </a:prstGeom>
              <a:noFill/>
              <a:ln w="28575" cap="rnd" cmpd="sng" algn="ctr">
                <a:solidFill>
                  <a:schemeClr val="tx2">
                    <a:lumMod val="50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30000"/>
                  </a:spcAft>
                  <a:buClr>
                    <a:schemeClr val="tx1"/>
                  </a:buClr>
                  <a:buSzTx/>
                  <a:buFontTx/>
                  <a:buNone/>
                  <a:tabLst/>
                </a:pPr>
                <a:endParaRPr kumimoji="0" lang="en-US" sz="2000" b="1" i="0" u="none" strike="noStrike" cap="none" normalizeH="0" baseline="0" smtClean="0">
                  <a:ln>
                    <a:noFill/>
                  </a:ln>
                  <a:solidFill>
                    <a:srgbClr val="FF0000"/>
                  </a:solidFill>
                  <a:effectLst/>
                  <a:latin typeface="Arial" charset="0"/>
                </a:endParaRPr>
              </a:p>
            </p:txBody>
          </p:sp>
          <p:sp>
            <p:nvSpPr>
              <p:cNvPr id="25" name="Arc 24"/>
              <p:cNvSpPr/>
              <p:nvPr/>
            </p:nvSpPr>
            <p:spPr bwMode="auto">
              <a:xfrm>
                <a:off x="8382000" y="2281418"/>
                <a:ext cx="990600" cy="990600"/>
              </a:xfrm>
              <a:prstGeom prst="arc">
                <a:avLst>
                  <a:gd name="adj1" fmla="val 17911168"/>
                  <a:gd name="adj2" fmla="val 3597263"/>
                </a:avLst>
              </a:prstGeom>
              <a:noFill/>
              <a:ln w="28575" cap="rnd" cmpd="sng" algn="ctr">
                <a:solidFill>
                  <a:schemeClr val="tx2">
                    <a:lumMod val="50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30000"/>
                  </a:spcAft>
                  <a:buClr>
                    <a:schemeClr val="tx1"/>
                  </a:buClr>
                  <a:buSzTx/>
                  <a:buFontTx/>
                  <a:buNone/>
                  <a:tabLst/>
                </a:pPr>
                <a:endParaRPr kumimoji="0" lang="en-US" sz="2000" b="1" i="0" u="none" strike="noStrike" cap="none" normalizeH="0" baseline="0" smtClean="0">
                  <a:ln>
                    <a:noFill/>
                  </a:ln>
                  <a:solidFill>
                    <a:srgbClr val="FF0000"/>
                  </a:solidFill>
                  <a:effectLst/>
                  <a:latin typeface="Arial" charset="0"/>
                </a:endParaRPr>
              </a:p>
            </p:txBody>
          </p:sp>
        </p:grpSp>
      </p:grpSp>
    </p:spTree>
    <p:extLst>
      <p:ext uri="{BB962C8B-B14F-4D97-AF65-F5344CB8AC3E}">
        <p14:creationId xmlns:p14="http://schemas.microsoft.com/office/powerpoint/2010/main" val="3417745727"/>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ight Arrow 3"/>
          <p:cNvSpPr/>
          <p:nvPr/>
        </p:nvSpPr>
        <p:spPr bwMode="auto">
          <a:xfrm>
            <a:off x="2220947" y="1429030"/>
            <a:ext cx="4127183" cy="381000"/>
          </a:xfrm>
          <a:prstGeom prst="rightArrow">
            <a:avLst>
              <a:gd name="adj1" fmla="val 50000"/>
              <a:gd name="adj2" fmla="val 80000"/>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dirty="0" smtClean="0"/>
              <a:t>MessageContext </a:t>
            </a:r>
            <a:r>
              <a:rPr lang="en-US" dirty="0"/>
              <a:t>entity</a:t>
            </a:r>
          </a:p>
        </p:txBody>
      </p:sp>
      <p:sp>
        <p:nvSpPr>
          <p:cNvPr id="3" name="Content Placeholder 2"/>
          <p:cNvSpPr>
            <a:spLocks noGrp="1"/>
          </p:cNvSpPr>
          <p:nvPr>
            <p:ph idx="1"/>
          </p:nvPr>
        </p:nvSpPr>
        <p:spPr/>
        <p:txBody>
          <a:bodyPr/>
          <a:lstStyle/>
          <a:p>
            <a:r>
              <a:rPr lang="en-US" b="1" dirty="0"/>
              <a:t>MessageContex</a:t>
            </a:r>
            <a:r>
              <a:rPr lang="en-US" dirty="0"/>
              <a:t>t is </a:t>
            </a:r>
            <a:r>
              <a:rPr lang="en-US" dirty="0" smtClean="0"/>
              <a:t>an internal</a:t>
            </a:r>
            <a:r>
              <a:rPr lang="en-US" dirty="0"/>
              <a:t>, non-persistent, virtual </a:t>
            </a:r>
            <a:r>
              <a:rPr lang="en-US" dirty="0" smtClean="0"/>
              <a:t>entity only </a:t>
            </a:r>
            <a:r>
              <a:rPr lang="en-US" dirty="0"/>
              <a:t>used in </a:t>
            </a:r>
            <a:r>
              <a:rPr lang="en-US" dirty="0" smtClean="0"/>
              <a:t>Event Fired </a:t>
            </a:r>
            <a:r>
              <a:rPr lang="en-US" dirty="0"/>
              <a:t>rules to create messages</a:t>
            </a:r>
          </a:p>
          <a:p>
            <a:pPr lvl="1"/>
            <a:r>
              <a:rPr lang="en-US" dirty="0" smtClean="0"/>
              <a:t>Identifies the event</a:t>
            </a:r>
            <a:endParaRPr lang="en-US" dirty="0"/>
          </a:p>
          <a:p>
            <a:pPr lvl="1"/>
            <a:r>
              <a:rPr lang="en-US" dirty="0"/>
              <a:t>It can be used to reference data from the triggering entity</a:t>
            </a:r>
          </a:p>
          <a:p>
            <a:endParaRPr lang="en-US" dirty="0"/>
          </a:p>
        </p:txBody>
      </p:sp>
      <p:sp>
        <p:nvSpPr>
          <p:cNvPr id="12" name="Text Box 35"/>
          <p:cNvSpPr txBox="1">
            <a:spLocks noChangeArrowheads="1"/>
          </p:cNvSpPr>
          <p:nvPr/>
        </p:nvSpPr>
        <p:spPr bwMode="auto">
          <a:xfrm>
            <a:off x="1247776" y="2197105"/>
            <a:ext cx="1711325" cy="554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dirty="0" smtClean="0">
                <a:solidFill>
                  <a:schemeClr val="bg1"/>
                </a:solidFill>
              </a:rPr>
              <a:t>EventAware entity</a:t>
            </a:r>
            <a:endParaRPr lang="en-US" dirty="0">
              <a:solidFill>
                <a:schemeClr val="bg1"/>
              </a:solidFill>
            </a:endParaRPr>
          </a:p>
        </p:txBody>
      </p:sp>
      <p:sp>
        <p:nvSpPr>
          <p:cNvPr id="13" name="Text Box 36"/>
          <p:cNvSpPr txBox="1">
            <a:spLocks noChangeArrowheads="1"/>
          </p:cNvSpPr>
          <p:nvPr/>
        </p:nvSpPr>
        <p:spPr bwMode="auto">
          <a:xfrm>
            <a:off x="3429001" y="2197105"/>
            <a:ext cx="203041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dirty="0">
                <a:solidFill>
                  <a:schemeClr val="bg1"/>
                </a:solidFill>
              </a:rPr>
              <a:t>MessageContext</a:t>
            </a:r>
          </a:p>
        </p:txBody>
      </p:sp>
      <p:sp>
        <p:nvSpPr>
          <p:cNvPr id="14" name="Text Box 37"/>
          <p:cNvSpPr txBox="1">
            <a:spLocks noChangeArrowheads="1"/>
          </p:cNvSpPr>
          <p:nvPr/>
        </p:nvSpPr>
        <p:spPr bwMode="auto">
          <a:xfrm>
            <a:off x="6246325" y="2197105"/>
            <a:ext cx="11557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dirty="0">
                <a:solidFill>
                  <a:schemeClr val="bg1"/>
                </a:solidFill>
              </a:rPr>
              <a:t>Message</a:t>
            </a:r>
          </a:p>
        </p:txBody>
      </p:sp>
      <p:grpSp>
        <p:nvGrpSpPr>
          <p:cNvPr id="43" name="Group 42"/>
          <p:cNvGrpSpPr/>
          <p:nvPr/>
        </p:nvGrpSpPr>
        <p:grpSpPr>
          <a:xfrm>
            <a:off x="1520719" y="914400"/>
            <a:ext cx="991127" cy="1161320"/>
            <a:chOff x="2448995" y="2044222"/>
            <a:chExt cx="1532365" cy="1795498"/>
          </a:xfrm>
        </p:grpSpPr>
        <p:pic>
          <p:nvPicPr>
            <p:cNvPr id="44"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48995" y="2044222"/>
              <a:ext cx="1532365" cy="179549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45" name="Group 44"/>
            <p:cNvGrpSpPr/>
            <p:nvPr/>
          </p:nvGrpSpPr>
          <p:grpSpPr>
            <a:xfrm>
              <a:off x="3298002" y="2109793"/>
              <a:ext cx="569146" cy="552157"/>
              <a:chOff x="8351520" y="2281418"/>
              <a:chExt cx="1021080" cy="990600"/>
            </a:xfrm>
          </p:grpSpPr>
          <p:sp>
            <p:nvSpPr>
              <p:cNvPr id="46" name="Arc 45"/>
              <p:cNvSpPr/>
              <p:nvPr/>
            </p:nvSpPr>
            <p:spPr bwMode="auto">
              <a:xfrm>
                <a:off x="8351520" y="2357618"/>
                <a:ext cx="838201" cy="838200"/>
              </a:xfrm>
              <a:prstGeom prst="arc">
                <a:avLst>
                  <a:gd name="adj1" fmla="val 17911168"/>
                  <a:gd name="adj2" fmla="val 3597263"/>
                </a:avLst>
              </a:prstGeom>
              <a:noFill/>
              <a:ln w="28575" cap="rnd" cmpd="sng" algn="ctr">
                <a:solidFill>
                  <a:schemeClr val="tx2">
                    <a:lumMod val="50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30000"/>
                  </a:spcAft>
                  <a:buClr>
                    <a:schemeClr val="tx1"/>
                  </a:buClr>
                  <a:buSzTx/>
                  <a:buFontTx/>
                  <a:buNone/>
                  <a:tabLst/>
                </a:pPr>
                <a:endParaRPr kumimoji="0" lang="en-US" sz="2000" b="1" i="0" u="none" strike="noStrike" cap="none" normalizeH="0" baseline="0" smtClean="0">
                  <a:ln>
                    <a:noFill/>
                  </a:ln>
                  <a:solidFill>
                    <a:srgbClr val="FF0000"/>
                  </a:solidFill>
                  <a:effectLst/>
                  <a:latin typeface="Arial" charset="0"/>
                </a:endParaRPr>
              </a:p>
            </p:txBody>
          </p:sp>
          <p:sp>
            <p:nvSpPr>
              <p:cNvPr id="47" name="Arc 46"/>
              <p:cNvSpPr/>
              <p:nvPr/>
            </p:nvSpPr>
            <p:spPr bwMode="auto">
              <a:xfrm>
                <a:off x="8382000" y="2281418"/>
                <a:ext cx="990600" cy="990600"/>
              </a:xfrm>
              <a:prstGeom prst="arc">
                <a:avLst>
                  <a:gd name="adj1" fmla="val 17911168"/>
                  <a:gd name="adj2" fmla="val 3597263"/>
                </a:avLst>
              </a:prstGeom>
              <a:noFill/>
              <a:ln w="28575" cap="rnd" cmpd="sng" algn="ctr">
                <a:solidFill>
                  <a:schemeClr val="tx2">
                    <a:lumMod val="50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30000"/>
                  </a:spcAft>
                  <a:buClr>
                    <a:schemeClr val="tx1"/>
                  </a:buClr>
                  <a:buSzTx/>
                  <a:buFontTx/>
                  <a:buNone/>
                  <a:tabLst/>
                </a:pPr>
                <a:endParaRPr kumimoji="0" lang="en-US" sz="2000" b="1" i="0" u="none" strike="noStrike" cap="none" normalizeH="0" baseline="0" smtClean="0">
                  <a:ln>
                    <a:noFill/>
                  </a:ln>
                  <a:solidFill>
                    <a:srgbClr val="FF0000"/>
                  </a:solidFill>
                  <a:effectLst/>
                  <a:latin typeface="Arial" charset="0"/>
                </a:endParaRPr>
              </a:p>
            </p:txBody>
          </p:sp>
        </p:grpSp>
      </p:grpSp>
      <p:pic>
        <p:nvPicPr>
          <p:cNvPr id="4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85686" y="1143000"/>
            <a:ext cx="967314" cy="92711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9"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48130" y="1313944"/>
            <a:ext cx="952091" cy="61117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122387"/>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Message entity</a:t>
            </a:r>
            <a:endParaRPr lang="en-US" dirty="0"/>
          </a:p>
        </p:txBody>
      </p:sp>
      <p:sp>
        <p:nvSpPr>
          <p:cNvPr id="3" name="Content Placeholder 2"/>
          <p:cNvSpPr>
            <a:spLocks noGrp="1"/>
          </p:cNvSpPr>
          <p:nvPr>
            <p:ph sz="half" idx="1"/>
          </p:nvPr>
        </p:nvSpPr>
        <p:spPr/>
        <p:txBody>
          <a:bodyPr/>
          <a:lstStyle/>
          <a:p>
            <a:r>
              <a:rPr lang="en-US" dirty="0" smtClean="0"/>
              <a:t>MessageRoot </a:t>
            </a:r>
            <a:r>
              <a:rPr lang="en-US" dirty="0"/>
              <a:t>is a pointer to the triggering entity instance</a:t>
            </a:r>
          </a:p>
          <a:p>
            <a:r>
              <a:rPr lang="en-US" dirty="0"/>
              <a:t>Payload is a text field with the information to communicate</a:t>
            </a:r>
          </a:p>
          <a:p>
            <a:endParaRPr lang="en-US" dirty="0"/>
          </a:p>
        </p:txBody>
      </p:sp>
      <p:sp>
        <p:nvSpPr>
          <p:cNvPr id="5" name="Content Placeholder 4"/>
          <p:cNvSpPr>
            <a:spLocks noGrp="1"/>
          </p:cNvSpPr>
          <p:nvPr>
            <p:ph idx="10"/>
          </p:nvPr>
        </p:nvSpPr>
        <p:spPr/>
        <p:txBody>
          <a:bodyPr/>
          <a:lstStyle/>
          <a:p>
            <a:r>
              <a:rPr lang="en-US" dirty="0" smtClean="0"/>
              <a:t>Message entity a </a:t>
            </a:r>
            <a:r>
              <a:rPr lang="en-US" dirty="0"/>
              <a:t>payload containing the data to be sent to </a:t>
            </a:r>
            <a:r>
              <a:rPr lang="en-US" dirty="0" smtClean="0"/>
              <a:t>an external system</a:t>
            </a:r>
          </a:p>
          <a:p>
            <a:r>
              <a:rPr lang="en-US" dirty="0" smtClean="0"/>
              <a:t>EventName describes the name that triggered the message</a:t>
            </a:r>
            <a:endParaRPr lang="en-US" dirty="0"/>
          </a:p>
        </p:txBody>
      </p:sp>
      <p:pic>
        <p:nvPicPr>
          <p:cNvPr id="4" name="Picture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0500" y="2975949"/>
            <a:ext cx="5196191" cy="2965546"/>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3045851"/>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Triggering message events </a:t>
            </a:r>
            <a:r>
              <a:rPr lang="en-US" dirty="0" smtClean="0"/>
              <a:t>in code</a:t>
            </a:r>
            <a:endParaRPr lang="en-US" dirty="0"/>
          </a:p>
        </p:txBody>
      </p:sp>
      <p:sp>
        <p:nvSpPr>
          <p:cNvPr id="3" name="Content Placeholder 2"/>
          <p:cNvSpPr>
            <a:spLocks noGrp="1"/>
          </p:cNvSpPr>
          <p:nvPr>
            <p:ph idx="1"/>
          </p:nvPr>
        </p:nvSpPr>
        <p:spPr>
          <a:xfrm>
            <a:off x="519113" y="3070320"/>
            <a:ext cx="8318500" cy="3330480"/>
          </a:xfrm>
        </p:spPr>
        <p:txBody>
          <a:bodyPr/>
          <a:lstStyle/>
          <a:p>
            <a:r>
              <a:rPr lang="en-US" b="1" dirty="0" smtClean="0">
                <a:latin typeface="Courier New" pitchFamily="49" charset="0"/>
                <a:cs typeface="Courier New" pitchFamily="49" charset="0"/>
              </a:rPr>
              <a:t>entity.addEvent("customEventName")</a:t>
            </a:r>
          </a:p>
          <a:p>
            <a:pPr lvl="1"/>
            <a:r>
              <a:rPr lang="en-US" dirty="0" smtClean="0"/>
              <a:t>Only for EventAware entity &lt;events /&gt;</a:t>
            </a:r>
          </a:p>
          <a:p>
            <a:pPr lvl="1"/>
            <a:r>
              <a:rPr lang="en-US" dirty="0" smtClean="0"/>
              <a:t>Triggered </a:t>
            </a:r>
            <a:r>
              <a:rPr lang="en-US" dirty="0"/>
              <a:t>manually in </a:t>
            </a:r>
            <a:r>
              <a:rPr lang="en-US" dirty="0" smtClean="0"/>
              <a:t>code</a:t>
            </a:r>
          </a:p>
          <a:p>
            <a:pPr lvl="1"/>
            <a:r>
              <a:rPr lang="en-US" dirty="0" smtClean="0"/>
              <a:t>When </a:t>
            </a:r>
            <a:r>
              <a:rPr lang="en-US" dirty="0"/>
              <a:t>the object is </a:t>
            </a:r>
            <a:r>
              <a:rPr lang="en-US" dirty="0" smtClean="0"/>
              <a:t>committed, the event is triggered</a:t>
            </a:r>
            <a:endParaRPr lang="en-US" dirty="0"/>
          </a:p>
          <a:p>
            <a:r>
              <a:rPr lang="en-US" dirty="0" smtClean="0"/>
              <a:t>Example:</a:t>
            </a:r>
          </a:p>
          <a:p>
            <a:pPr lvl="1"/>
            <a:r>
              <a:rPr lang="en-US" b="1" dirty="0" smtClean="0">
                <a:latin typeface="Courier New" pitchFamily="49" charset="0"/>
                <a:cs typeface="Courier New" pitchFamily="49" charset="0"/>
              </a:rPr>
              <a:t>anABContact.addEvent("ABContactRecommended")</a:t>
            </a:r>
            <a:endParaRPr lang="en-US" b="1" dirty="0">
              <a:latin typeface="Courier New" pitchFamily="49" charset="0"/>
              <a:cs typeface="Courier New" pitchFamily="49" charset="0"/>
            </a:endParaRPr>
          </a:p>
          <a:p>
            <a:r>
              <a:rPr lang="en-US" dirty="0" smtClean="0"/>
              <a:t>Useful </a:t>
            </a:r>
            <a:r>
              <a:rPr lang="en-US" dirty="0"/>
              <a:t>when messaging must be initiated by something that cannot be captured in a standard message event</a:t>
            </a:r>
          </a:p>
          <a:p>
            <a:pPr lvl="1"/>
            <a:endParaRPr lang="en-US" dirty="0"/>
          </a:p>
        </p:txBody>
      </p:sp>
      <p:sp>
        <p:nvSpPr>
          <p:cNvPr id="80" name="Text Box 12"/>
          <p:cNvSpPr txBox="1">
            <a:spLocks noChangeArrowheads="1"/>
          </p:cNvSpPr>
          <p:nvPr/>
        </p:nvSpPr>
        <p:spPr bwMode="auto">
          <a:xfrm>
            <a:off x="2666999" y="1033462"/>
            <a:ext cx="350520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dirty="0" smtClean="0">
                <a:solidFill>
                  <a:srgbClr val="FF6600"/>
                </a:solidFill>
              </a:rPr>
              <a:t>ABContactRecommended</a:t>
            </a:r>
            <a:endParaRPr lang="en-US" dirty="0">
              <a:solidFill>
                <a:srgbClr val="FF6600"/>
              </a:solidFill>
            </a:endParaRPr>
          </a:p>
        </p:txBody>
      </p:sp>
      <p:grpSp>
        <p:nvGrpSpPr>
          <p:cNvPr id="11" name="Group 10"/>
          <p:cNvGrpSpPr>
            <a:grpSpLocks noChangeAspect="1"/>
          </p:cNvGrpSpPr>
          <p:nvPr/>
        </p:nvGrpSpPr>
        <p:grpSpPr>
          <a:xfrm>
            <a:off x="533400" y="892080"/>
            <a:ext cx="1905000" cy="2232120"/>
            <a:chOff x="2448995" y="2044222"/>
            <a:chExt cx="1532365" cy="1795498"/>
          </a:xfrm>
        </p:grpSpPr>
        <p:pic>
          <p:nvPicPr>
            <p:cNvPr id="12"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48995" y="2044222"/>
              <a:ext cx="1532365" cy="179549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3" name="Group 12"/>
            <p:cNvGrpSpPr/>
            <p:nvPr/>
          </p:nvGrpSpPr>
          <p:grpSpPr>
            <a:xfrm>
              <a:off x="3298002" y="2109793"/>
              <a:ext cx="569146" cy="552157"/>
              <a:chOff x="8351520" y="2281418"/>
              <a:chExt cx="1021080" cy="990600"/>
            </a:xfrm>
          </p:grpSpPr>
          <p:sp>
            <p:nvSpPr>
              <p:cNvPr id="14" name="Arc 13"/>
              <p:cNvSpPr/>
              <p:nvPr/>
            </p:nvSpPr>
            <p:spPr bwMode="auto">
              <a:xfrm>
                <a:off x="8351520" y="2357618"/>
                <a:ext cx="838201" cy="838200"/>
              </a:xfrm>
              <a:prstGeom prst="arc">
                <a:avLst>
                  <a:gd name="adj1" fmla="val 17911168"/>
                  <a:gd name="adj2" fmla="val 3597263"/>
                </a:avLst>
              </a:prstGeom>
              <a:noFill/>
              <a:ln w="28575" cap="rnd" cmpd="sng" algn="ctr">
                <a:solidFill>
                  <a:schemeClr val="tx2">
                    <a:lumMod val="50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30000"/>
                  </a:spcAft>
                  <a:buClr>
                    <a:schemeClr val="tx1"/>
                  </a:buClr>
                  <a:buSzTx/>
                  <a:buFontTx/>
                  <a:buNone/>
                  <a:tabLst/>
                </a:pPr>
                <a:endParaRPr kumimoji="0" lang="en-US" sz="2000" b="1" i="0" u="none" strike="noStrike" cap="none" normalizeH="0" baseline="0" smtClean="0">
                  <a:ln>
                    <a:noFill/>
                  </a:ln>
                  <a:solidFill>
                    <a:srgbClr val="FF0000"/>
                  </a:solidFill>
                  <a:effectLst/>
                  <a:latin typeface="Arial" charset="0"/>
                </a:endParaRPr>
              </a:p>
            </p:txBody>
          </p:sp>
          <p:sp>
            <p:nvSpPr>
              <p:cNvPr id="15" name="Arc 14"/>
              <p:cNvSpPr/>
              <p:nvPr/>
            </p:nvSpPr>
            <p:spPr bwMode="auto">
              <a:xfrm>
                <a:off x="8382000" y="2281418"/>
                <a:ext cx="990600" cy="990600"/>
              </a:xfrm>
              <a:prstGeom prst="arc">
                <a:avLst>
                  <a:gd name="adj1" fmla="val 17911168"/>
                  <a:gd name="adj2" fmla="val 3597263"/>
                </a:avLst>
              </a:prstGeom>
              <a:noFill/>
              <a:ln w="28575" cap="rnd" cmpd="sng" algn="ctr">
                <a:solidFill>
                  <a:schemeClr val="tx2">
                    <a:lumMod val="50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30000"/>
                  </a:spcAft>
                  <a:buClr>
                    <a:schemeClr val="tx1"/>
                  </a:buClr>
                  <a:buSzTx/>
                  <a:buFontTx/>
                  <a:buNone/>
                  <a:tabLst/>
                </a:pPr>
                <a:endParaRPr kumimoji="0" lang="en-US" sz="2000" b="1" i="0" u="none" strike="noStrike" cap="none" normalizeH="0" baseline="0" smtClean="0">
                  <a:ln>
                    <a:noFill/>
                  </a:ln>
                  <a:solidFill>
                    <a:srgbClr val="FF0000"/>
                  </a:solidFill>
                  <a:effectLst/>
                  <a:latin typeface="Arial" charset="0"/>
                </a:endParaRPr>
              </a:p>
            </p:txBody>
          </p:sp>
        </p:grpSp>
      </p:grpSp>
    </p:spTree>
    <p:extLst>
      <p:ext uri="{BB962C8B-B14F-4D97-AF65-F5344CB8AC3E}">
        <p14:creationId xmlns:p14="http://schemas.microsoft.com/office/powerpoint/2010/main" val="2465351276"/>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Entities used to trigger messaging</a:t>
            </a:r>
          </a:p>
          <a:p>
            <a:r>
              <a:rPr lang="en-US" dirty="0">
                <a:solidFill>
                  <a:schemeClr val="bg1"/>
                </a:solidFill>
              </a:rPr>
              <a:t>Destinations</a:t>
            </a:r>
          </a:p>
          <a:p>
            <a:r>
              <a:rPr lang="en-US" dirty="0" smtClean="0"/>
              <a:t>Event Fired </a:t>
            </a:r>
            <a:r>
              <a:rPr lang="en-US" dirty="0"/>
              <a:t>rules</a:t>
            </a:r>
          </a:p>
          <a:p>
            <a:endParaRPr lang="en-US" dirty="0"/>
          </a:p>
        </p:txBody>
      </p:sp>
    </p:spTree>
    <p:extLst>
      <p:ext uri="{BB962C8B-B14F-4D97-AF65-F5344CB8AC3E}">
        <p14:creationId xmlns:p14="http://schemas.microsoft.com/office/powerpoint/2010/main" val="3146053430"/>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Destination</a:t>
            </a:r>
            <a:endParaRPr lang="en-US" dirty="0"/>
          </a:p>
        </p:txBody>
      </p:sp>
      <p:sp>
        <p:nvSpPr>
          <p:cNvPr id="4" name="Content Placeholder 3"/>
          <p:cNvSpPr>
            <a:spLocks noGrp="1"/>
          </p:cNvSpPr>
          <p:nvPr>
            <p:ph idx="1"/>
          </p:nvPr>
        </p:nvSpPr>
        <p:spPr>
          <a:xfrm>
            <a:off x="519113" y="3276600"/>
            <a:ext cx="8318500" cy="3124200"/>
          </a:xfrm>
        </p:spPr>
        <p:txBody>
          <a:bodyPr/>
          <a:lstStyle/>
          <a:p>
            <a:r>
              <a:rPr lang="en-US" dirty="0"/>
              <a:t>A </a:t>
            </a:r>
            <a:r>
              <a:rPr lang="en-US" dirty="0" smtClean="0"/>
              <a:t>message </a:t>
            </a:r>
            <a:r>
              <a:rPr lang="en-US" b="1" dirty="0" smtClean="0"/>
              <a:t>destination</a:t>
            </a:r>
            <a:r>
              <a:rPr lang="en-US" dirty="0" smtClean="0"/>
              <a:t> </a:t>
            </a:r>
            <a:r>
              <a:rPr lang="en-US" dirty="0"/>
              <a:t>is an abstraction of an external system that receives and replies to messages</a:t>
            </a:r>
          </a:p>
          <a:p>
            <a:r>
              <a:rPr lang="en-US" dirty="0"/>
              <a:t>Examples:</a:t>
            </a:r>
          </a:p>
          <a:p>
            <a:pPr lvl="1"/>
            <a:r>
              <a:rPr lang="en-US" dirty="0"/>
              <a:t>PC: Billing system that receives charges for new policies</a:t>
            </a:r>
          </a:p>
          <a:p>
            <a:pPr lvl="1"/>
            <a:r>
              <a:rPr lang="en-US" dirty="0"/>
              <a:t>BC: Policy administration system that receives request to cancel policy when payment is not received</a:t>
            </a:r>
          </a:p>
          <a:p>
            <a:pPr lvl="1"/>
            <a:r>
              <a:rPr lang="en-US" dirty="0"/>
              <a:t>CC: Police report system that receives requests for police reports concerning auto accidents</a:t>
            </a:r>
          </a:p>
          <a:p>
            <a:endParaRPr lang="en-US" dirty="0"/>
          </a:p>
        </p:txBody>
      </p:sp>
      <p:sp>
        <p:nvSpPr>
          <p:cNvPr id="5" name="rec GWRE"/>
          <p:cNvSpPr>
            <a:spLocks noChangeArrowheads="1"/>
          </p:cNvSpPr>
          <p:nvPr/>
        </p:nvSpPr>
        <p:spPr bwMode="auto">
          <a:xfrm>
            <a:off x="760916" y="926545"/>
            <a:ext cx="1463040" cy="1295401"/>
          </a:xfrm>
          <a:prstGeom prst="rect">
            <a:avLst/>
          </a:prstGeom>
          <a:solidFill>
            <a:schemeClr val="accent1">
              <a:lumMod val="60000"/>
              <a:lumOff val="40000"/>
              <a:alpha val="25098"/>
            </a:schemeClr>
          </a:solidFill>
          <a:ln w="28575" algn="ctr">
            <a:solidFill>
              <a:schemeClr val="accent1"/>
            </a:solidFill>
            <a:miter lim="800000"/>
            <a:headEnd/>
            <a:tailEnd/>
          </a:ln>
        </p:spPr>
        <p:txBody>
          <a:bodyPr wrap="square" lIns="0" tIns="0" rIns="0" bIns="0" anchor="ctr">
            <a:spAutoFit/>
          </a:bodyPr>
          <a:lstStyle/>
          <a:p>
            <a:endParaRPr lang="en-US" dirty="0"/>
          </a:p>
        </p:txBody>
      </p:sp>
      <p:pic>
        <p:nvPicPr>
          <p:cNvPr id="6" name="icon GWRE app" descr="icon_TrainingAp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2841" y="1023144"/>
            <a:ext cx="1119187" cy="1116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 Ext Sys"/>
          <p:cNvSpPr>
            <a:spLocks noChangeArrowheads="1"/>
          </p:cNvSpPr>
          <p:nvPr/>
        </p:nvSpPr>
        <p:spPr bwMode="auto">
          <a:xfrm>
            <a:off x="7243762" y="913052"/>
            <a:ext cx="1463426" cy="1295400"/>
          </a:xfrm>
          <a:prstGeom prst="rect">
            <a:avLst/>
          </a:prstGeom>
          <a:solidFill>
            <a:schemeClr val="accent6">
              <a:alpha val="25098"/>
            </a:schemeClr>
          </a:solidFill>
          <a:ln w="28575" algn="ctr">
            <a:solidFill>
              <a:schemeClr val="accent6"/>
            </a:solidFill>
            <a:miter lim="800000"/>
            <a:headEnd/>
            <a:tailEnd/>
          </a:ln>
        </p:spPr>
        <p:txBody>
          <a:bodyPr wrap="square" lIns="0" tIns="0" rIns="0" bIns="0" anchor="ctr">
            <a:spAutoFit/>
          </a:bodyPr>
          <a:lstStyle/>
          <a:p>
            <a:endParaRPr lang="en-US" dirty="0"/>
          </a:p>
        </p:txBody>
      </p:sp>
      <p:sp>
        <p:nvSpPr>
          <p:cNvPr id="9" name="ln Send 1"/>
          <p:cNvSpPr>
            <a:spLocks noChangeShapeType="1"/>
          </p:cNvSpPr>
          <p:nvPr/>
        </p:nvSpPr>
        <p:spPr bwMode="auto">
          <a:xfrm>
            <a:off x="2206624" y="1536146"/>
            <a:ext cx="5037138"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19" name="ln Retry 2"/>
          <p:cNvSpPr>
            <a:spLocks noChangeShapeType="1"/>
          </p:cNvSpPr>
          <p:nvPr/>
        </p:nvSpPr>
        <p:spPr bwMode="auto">
          <a:xfrm flipH="1">
            <a:off x="2223956" y="1795576"/>
            <a:ext cx="5019806" cy="0"/>
          </a:xfrm>
          <a:prstGeom prst="line">
            <a:avLst/>
          </a:prstGeom>
          <a:noFill/>
          <a:ln w="28575">
            <a:solidFill>
              <a:schemeClr val="accent6"/>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20" name="Text Box 10"/>
          <p:cNvSpPr txBox="1">
            <a:spLocks noChangeArrowheads="1"/>
          </p:cNvSpPr>
          <p:nvPr/>
        </p:nvSpPr>
        <p:spPr bwMode="auto">
          <a:xfrm>
            <a:off x="675667" y="2316004"/>
            <a:ext cx="1633538"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eaLnBrk="1" hangingPunct="1">
              <a:spcAft>
                <a:spcPct val="30000"/>
              </a:spcAft>
              <a:buClr>
                <a:schemeClr val="tx1"/>
              </a:buClr>
              <a:buFontTx/>
              <a:buNone/>
            </a:pPr>
            <a:r>
              <a:rPr lang="en-US" sz="1600" dirty="0" smtClean="0">
                <a:solidFill>
                  <a:schemeClr val="bg1"/>
                </a:solidFill>
              </a:rPr>
              <a:t>Guidewire Application</a:t>
            </a:r>
            <a:endParaRPr lang="en-US" sz="1600" dirty="0">
              <a:solidFill>
                <a:schemeClr val="bg1"/>
              </a:solidFill>
            </a:endParaRPr>
          </a:p>
        </p:txBody>
      </p:sp>
      <p:sp>
        <p:nvSpPr>
          <p:cNvPr id="21" name="Text Box 31"/>
          <p:cNvSpPr txBox="1">
            <a:spLocks noChangeArrowheads="1"/>
          </p:cNvSpPr>
          <p:nvPr/>
        </p:nvSpPr>
        <p:spPr bwMode="auto">
          <a:xfrm>
            <a:off x="7158706" y="2316004"/>
            <a:ext cx="1633538"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eaLnBrk="1" hangingPunct="1">
              <a:spcAft>
                <a:spcPct val="30000"/>
              </a:spcAft>
              <a:buClr>
                <a:schemeClr val="tx1"/>
              </a:buClr>
              <a:buFontTx/>
              <a:buNone/>
            </a:pPr>
            <a:r>
              <a:rPr lang="en-US" sz="1600" dirty="0" smtClean="0">
                <a:solidFill>
                  <a:schemeClr val="bg1"/>
                </a:solidFill>
              </a:rPr>
              <a:t>External </a:t>
            </a:r>
            <a:br>
              <a:rPr lang="en-US" sz="1600" dirty="0" smtClean="0">
                <a:solidFill>
                  <a:schemeClr val="bg1"/>
                </a:solidFill>
              </a:rPr>
            </a:br>
            <a:r>
              <a:rPr lang="en-US" sz="1600" dirty="0" smtClean="0">
                <a:solidFill>
                  <a:schemeClr val="bg1"/>
                </a:solidFill>
              </a:rPr>
              <a:t>System</a:t>
            </a:r>
            <a:endParaRPr lang="en-US" sz="1600" dirty="0">
              <a:solidFill>
                <a:schemeClr val="bg1"/>
              </a:solidFill>
            </a:endParaRPr>
          </a:p>
        </p:txBody>
      </p:sp>
      <p:sp>
        <p:nvSpPr>
          <p:cNvPr id="43" name="Text Box 32"/>
          <p:cNvSpPr txBox="1">
            <a:spLocks noChangeArrowheads="1"/>
          </p:cNvSpPr>
          <p:nvPr/>
        </p:nvSpPr>
        <p:spPr bwMode="auto">
          <a:xfrm>
            <a:off x="4157662" y="2320655"/>
            <a:ext cx="125253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eaLnBrk="1" hangingPunct="1">
              <a:spcAft>
                <a:spcPct val="30000"/>
              </a:spcAft>
              <a:buClr>
                <a:schemeClr val="tx1"/>
              </a:buClr>
              <a:buFontTx/>
              <a:buNone/>
            </a:pPr>
            <a:r>
              <a:rPr lang="en-US" sz="1600" dirty="0" smtClean="0">
                <a:solidFill>
                  <a:schemeClr val="bg1"/>
                </a:solidFill>
              </a:rPr>
              <a:t>Destination</a:t>
            </a:r>
            <a:endParaRPr lang="en-US" sz="1600" dirty="0">
              <a:solidFill>
                <a:schemeClr val="bg1"/>
              </a:solidFill>
            </a:endParaRPr>
          </a:p>
        </p:txBody>
      </p:sp>
      <p:pic>
        <p:nvPicPr>
          <p:cNvPr id="44" name="icn External Syste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99609" y="1157721"/>
            <a:ext cx="1355292" cy="89845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5" name="icn Msg Ack"/>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14747" y="1676400"/>
            <a:ext cx="894645" cy="6091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6" name="icn Msg Send"/>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57400" y="1140002"/>
            <a:ext cx="900990" cy="58374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7"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89444" y="908844"/>
            <a:ext cx="988974" cy="122475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75035369"/>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Destination message events</a:t>
            </a:r>
            <a:endParaRPr lang="en-US" dirty="0"/>
          </a:p>
        </p:txBody>
      </p:sp>
      <p:sp>
        <p:nvSpPr>
          <p:cNvPr id="3" name="Content Placeholder 2"/>
          <p:cNvSpPr>
            <a:spLocks noGrp="1"/>
          </p:cNvSpPr>
          <p:nvPr>
            <p:ph idx="1"/>
          </p:nvPr>
        </p:nvSpPr>
        <p:spPr>
          <a:xfrm>
            <a:off x="519113" y="4191000"/>
            <a:ext cx="8318500" cy="2209800"/>
          </a:xfrm>
        </p:spPr>
        <p:txBody>
          <a:bodyPr/>
          <a:lstStyle/>
          <a:p>
            <a:r>
              <a:rPr lang="en-US" dirty="0" smtClean="0"/>
              <a:t>Messaging destination </a:t>
            </a:r>
            <a:r>
              <a:rPr lang="en-US" dirty="0"/>
              <a:t>listens to one or more specific </a:t>
            </a:r>
            <a:r>
              <a:rPr lang="en-US" dirty="0" smtClean="0"/>
              <a:t>message events</a:t>
            </a:r>
          </a:p>
          <a:p>
            <a:r>
              <a:rPr lang="en-US" dirty="0" smtClean="0"/>
              <a:t>When a message event occurs:</a:t>
            </a:r>
          </a:p>
          <a:p>
            <a:pPr lvl="1"/>
            <a:r>
              <a:rPr lang="en-US" dirty="0" smtClean="0"/>
              <a:t>One </a:t>
            </a:r>
            <a:r>
              <a:rPr lang="en-US" dirty="0"/>
              <a:t>MessageContext is created for each destination that listens to that event</a:t>
            </a:r>
          </a:p>
          <a:p>
            <a:pPr lvl="1"/>
            <a:r>
              <a:rPr lang="en-US" dirty="0"/>
              <a:t>Each MessageContext is then processed by business rules</a:t>
            </a:r>
          </a:p>
          <a:p>
            <a:endParaRPr lang="en-US" dirty="0"/>
          </a:p>
        </p:txBody>
      </p:sp>
      <p:sp>
        <p:nvSpPr>
          <p:cNvPr id="11" name="txt EventChanged"/>
          <p:cNvSpPr txBox="1">
            <a:spLocks noChangeArrowheads="1"/>
          </p:cNvSpPr>
          <p:nvPr/>
        </p:nvSpPr>
        <p:spPr bwMode="auto">
          <a:xfrm>
            <a:off x="711200" y="906463"/>
            <a:ext cx="1574801"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sz="1600" dirty="0" smtClean="0">
                <a:solidFill>
                  <a:schemeClr val="accent4"/>
                </a:solidFill>
              </a:rPr>
              <a:t>BankAccount</a:t>
            </a:r>
            <a:br>
              <a:rPr lang="en-US" sz="1600" dirty="0" smtClean="0">
                <a:solidFill>
                  <a:schemeClr val="accent4"/>
                </a:solidFill>
              </a:rPr>
            </a:br>
            <a:r>
              <a:rPr lang="en-US" sz="1600" dirty="0" smtClean="0">
                <a:solidFill>
                  <a:schemeClr val="accent4"/>
                </a:solidFill>
              </a:rPr>
              <a:t>Changed</a:t>
            </a:r>
            <a:endParaRPr lang="en-US" sz="1600" dirty="0">
              <a:solidFill>
                <a:schemeClr val="accent4"/>
              </a:solidFill>
            </a:endParaRPr>
          </a:p>
        </p:txBody>
      </p:sp>
      <p:sp>
        <p:nvSpPr>
          <p:cNvPr id="53" name="txt BankEvent2"/>
          <p:cNvSpPr txBox="1">
            <a:spLocks noChangeArrowheads="1"/>
          </p:cNvSpPr>
          <p:nvPr/>
        </p:nvSpPr>
        <p:spPr bwMode="auto">
          <a:xfrm>
            <a:off x="3886200" y="1168871"/>
            <a:ext cx="236220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eaLnBrk="1" hangingPunct="1">
              <a:spcAft>
                <a:spcPct val="30000"/>
              </a:spcAft>
              <a:buClr>
                <a:schemeClr val="tx1"/>
              </a:buClr>
              <a:buFontTx/>
              <a:buNone/>
            </a:pPr>
            <a:r>
              <a:rPr lang="en-US" sz="1600" dirty="0" smtClean="0">
                <a:solidFill>
                  <a:schemeClr val="accent5">
                    <a:lumMod val="75000"/>
                  </a:schemeClr>
                </a:solidFill>
              </a:rPr>
              <a:t>BankAccountAdded</a:t>
            </a:r>
            <a:r>
              <a:rPr lang="en-US" sz="1600" dirty="0">
                <a:solidFill>
                  <a:schemeClr val="accent5">
                    <a:lumMod val="75000"/>
                  </a:schemeClr>
                </a:solidFill>
              </a:rPr>
              <a:t/>
            </a:r>
            <a:br>
              <a:rPr lang="en-US" sz="1600" dirty="0">
                <a:solidFill>
                  <a:schemeClr val="accent5">
                    <a:lumMod val="75000"/>
                  </a:schemeClr>
                </a:solidFill>
              </a:rPr>
            </a:br>
            <a:r>
              <a:rPr lang="en-US" sz="1600" dirty="0" smtClean="0">
                <a:solidFill>
                  <a:schemeClr val="accent4"/>
                </a:solidFill>
              </a:rPr>
              <a:t>BankAccountChanged</a:t>
            </a:r>
            <a:endParaRPr lang="en-US" sz="1600" dirty="0">
              <a:solidFill>
                <a:schemeClr val="accent4"/>
              </a:solidFill>
            </a:endParaRPr>
          </a:p>
        </p:txBody>
      </p:sp>
      <p:sp>
        <p:nvSpPr>
          <p:cNvPr id="54" name="txt BankEvent1"/>
          <p:cNvSpPr txBox="1">
            <a:spLocks noChangeArrowheads="1"/>
          </p:cNvSpPr>
          <p:nvPr/>
        </p:nvSpPr>
        <p:spPr bwMode="auto">
          <a:xfrm>
            <a:off x="3886200" y="2296519"/>
            <a:ext cx="236220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eaLnBrk="1" hangingPunct="1">
              <a:spcAft>
                <a:spcPct val="30000"/>
              </a:spcAft>
              <a:buClr>
                <a:schemeClr val="tx1"/>
              </a:buClr>
              <a:buFontTx/>
              <a:buNone/>
            </a:pPr>
            <a:r>
              <a:rPr lang="en-US" sz="1600" dirty="0" smtClean="0">
                <a:solidFill>
                  <a:schemeClr val="accent4"/>
                </a:solidFill>
              </a:rPr>
              <a:t>BankAccountChanged</a:t>
            </a:r>
            <a:endParaRPr lang="en-US" sz="1600" dirty="0">
              <a:solidFill>
                <a:schemeClr val="accent4"/>
              </a:solidFill>
            </a:endParaRPr>
          </a:p>
        </p:txBody>
      </p:sp>
      <p:sp>
        <p:nvSpPr>
          <p:cNvPr id="55" name="txt ActivityEvent"/>
          <p:cNvSpPr txBox="1">
            <a:spLocks noChangeArrowheads="1"/>
          </p:cNvSpPr>
          <p:nvPr/>
        </p:nvSpPr>
        <p:spPr bwMode="auto">
          <a:xfrm>
            <a:off x="3886200" y="3359299"/>
            <a:ext cx="23622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eaLnBrk="1" hangingPunct="1">
              <a:spcAft>
                <a:spcPct val="30000"/>
              </a:spcAft>
              <a:buClr>
                <a:schemeClr val="tx1"/>
              </a:buClr>
              <a:buFontTx/>
              <a:buNone/>
            </a:pPr>
            <a:r>
              <a:rPr lang="en-US" sz="1600" dirty="0">
                <a:solidFill>
                  <a:schemeClr val="accent1"/>
                </a:solidFill>
              </a:rPr>
              <a:t>ActivityAdded</a:t>
            </a:r>
            <a:br>
              <a:rPr lang="en-US" sz="1600" dirty="0">
                <a:solidFill>
                  <a:schemeClr val="accent1"/>
                </a:solidFill>
              </a:rPr>
            </a:br>
            <a:r>
              <a:rPr lang="en-US" sz="1600" dirty="0">
                <a:solidFill>
                  <a:schemeClr val="accent1"/>
                </a:solidFill>
              </a:rPr>
              <a:t>ActivityChanged</a:t>
            </a:r>
          </a:p>
        </p:txBody>
      </p:sp>
      <p:sp>
        <p:nvSpPr>
          <p:cNvPr id="131" name="txt BankAccount2637"/>
          <p:cNvSpPr txBox="1">
            <a:spLocks noChangeArrowheads="1"/>
          </p:cNvSpPr>
          <p:nvPr/>
        </p:nvSpPr>
        <p:spPr bwMode="auto">
          <a:xfrm>
            <a:off x="374217" y="2971800"/>
            <a:ext cx="145140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dirty="0" smtClean="0">
                <a:solidFill>
                  <a:schemeClr val="bg1"/>
                </a:solidFill>
              </a:rPr>
              <a:t>Bank</a:t>
            </a:r>
          </a:p>
          <a:p>
            <a:pPr algn="ctr"/>
            <a:r>
              <a:rPr lang="en-US" dirty="0" smtClean="0">
                <a:solidFill>
                  <a:schemeClr val="bg1"/>
                </a:solidFill>
              </a:rPr>
              <a:t>Account </a:t>
            </a:r>
            <a:r>
              <a:rPr lang="en-US" dirty="0">
                <a:solidFill>
                  <a:schemeClr val="bg1"/>
                </a:solidFill>
              </a:rPr>
              <a:t/>
            </a:r>
            <a:br>
              <a:rPr lang="en-US" dirty="0">
                <a:solidFill>
                  <a:schemeClr val="bg1"/>
                </a:solidFill>
              </a:rPr>
            </a:br>
            <a:r>
              <a:rPr lang="en-US" sz="1600" dirty="0">
                <a:solidFill>
                  <a:schemeClr val="bg1"/>
                </a:solidFill>
              </a:rPr>
              <a:t>2637</a:t>
            </a:r>
          </a:p>
        </p:txBody>
      </p:sp>
      <p:sp>
        <p:nvSpPr>
          <p:cNvPr id="149" name="txt Dest 13"/>
          <p:cNvSpPr txBox="1">
            <a:spLocks noChangeArrowheads="1"/>
          </p:cNvSpPr>
          <p:nvPr/>
        </p:nvSpPr>
        <p:spPr bwMode="auto">
          <a:xfrm>
            <a:off x="7486650" y="1660525"/>
            <a:ext cx="16335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eaLnBrk="1" hangingPunct="1">
              <a:spcAft>
                <a:spcPct val="30000"/>
              </a:spcAft>
              <a:buClr>
                <a:schemeClr val="tx1"/>
              </a:buClr>
              <a:buFontTx/>
              <a:buNone/>
            </a:pPr>
            <a:r>
              <a:rPr lang="en-US" sz="1600" dirty="0">
                <a:solidFill>
                  <a:schemeClr val="bg1"/>
                </a:solidFill>
              </a:rPr>
              <a:t>Destination 13</a:t>
            </a:r>
          </a:p>
        </p:txBody>
      </p:sp>
      <p:sp>
        <p:nvSpPr>
          <p:cNvPr id="150" name="txt Dest 14"/>
          <p:cNvSpPr txBox="1">
            <a:spLocks noChangeArrowheads="1"/>
          </p:cNvSpPr>
          <p:nvPr/>
        </p:nvSpPr>
        <p:spPr bwMode="auto">
          <a:xfrm>
            <a:off x="7486650" y="2651125"/>
            <a:ext cx="16335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eaLnBrk="1" hangingPunct="1">
              <a:spcAft>
                <a:spcPct val="30000"/>
              </a:spcAft>
              <a:buClr>
                <a:schemeClr val="tx1"/>
              </a:buClr>
              <a:buFontTx/>
              <a:buNone/>
            </a:pPr>
            <a:r>
              <a:rPr lang="en-US" sz="1600" dirty="0">
                <a:solidFill>
                  <a:schemeClr val="bg1"/>
                </a:solidFill>
              </a:rPr>
              <a:t>Destination 14</a:t>
            </a:r>
          </a:p>
        </p:txBody>
      </p:sp>
      <p:sp>
        <p:nvSpPr>
          <p:cNvPr id="151" name="txt Dest 15"/>
          <p:cNvSpPr txBox="1">
            <a:spLocks noChangeArrowheads="1"/>
          </p:cNvSpPr>
          <p:nvPr/>
        </p:nvSpPr>
        <p:spPr bwMode="auto">
          <a:xfrm>
            <a:off x="7486650" y="3794125"/>
            <a:ext cx="16335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eaLnBrk="1" hangingPunct="1">
              <a:spcAft>
                <a:spcPct val="30000"/>
              </a:spcAft>
              <a:buClr>
                <a:schemeClr val="tx1"/>
              </a:buClr>
              <a:buFontTx/>
              <a:buNone/>
            </a:pPr>
            <a:r>
              <a:rPr lang="en-US" sz="1600" dirty="0">
                <a:solidFill>
                  <a:schemeClr val="bg1"/>
                </a:solidFill>
              </a:rPr>
              <a:t>Destination 15</a:t>
            </a:r>
          </a:p>
        </p:txBody>
      </p:sp>
      <p:cxnSp>
        <p:nvCxnSpPr>
          <p:cNvPr id="218" name="arw Wire 1"/>
          <p:cNvCxnSpPr/>
          <p:nvPr/>
        </p:nvCxnSpPr>
        <p:spPr bwMode="auto">
          <a:xfrm flipV="1">
            <a:off x="1600200" y="1448116"/>
            <a:ext cx="990600" cy="964488"/>
          </a:xfrm>
          <a:prstGeom prst="bentConnector3">
            <a:avLst>
              <a:gd name="adj1" fmla="val 63462"/>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228" name="arw Wire 2"/>
          <p:cNvCxnSpPr/>
          <p:nvPr/>
        </p:nvCxnSpPr>
        <p:spPr bwMode="auto">
          <a:xfrm>
            <a:off x="1607704" y="2561604"/>
            <a:ext cx="934457" cy="0"/>
          </a:xfrm>
          <a:prstGeom prst="straightConnector1">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grpSp>
        <p:nvGrpSpPr>
          <p:cNvPr id="244" name="icn AnimStop"/>
          <p:cNvGrpSpPr>
            <a:grpSpLocks/>
          </p:cNvGrpSpPr>
          <p:nvPr/>
        </p:nvGrpSpPr>
        <p:grpSpPr bwMode="auto">
          <a:xfrm>
            <a:off x="8632825" y="79375"/>
            <a:ext cx="431800" cy="461963"/>
            <a:chOff x="2967" y="1718"/>
            <a:chExt cx="467" cy="499"/>
          </a:xfrm>
        </p:grpSpPr>
        <p:sp>
          <p:nvSpPr>
            <p:cNvPr id="245" name="Rectangle 118"/>
            <p:cNvSpPr>
              <a:spLocks noChangeArrowheads="1"/>
            </p:cNvSpPr>
            <p:nvPr/>
          </p:nvSpPr>
          <p:spPr bwMode="hidden">
            <a:xfrm>
              <a:off x="2967" y="171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dirty="0"/>
            </a:p>
          </p:txBody>
        </p:sp>
        <p:sp>
          <p:nvSpPr>
            <p:cNvPr id="246" name="Rectangle 119"/>
            <p:cNvSpPr>
              <a:spLocks noChangeArrowheads="1"/>
            </p:cNvSpPr>
            <p:nvPr/>
          </p:nvSpPr>
          <p:spPr bwMode="hidden">
            <a:xfrm>
              <a:off x="3043" y="1810"/>
              <a:ext cx="315" cy="315"/>
            </a:xfrm>
            <a:prstGeom prst="rect">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dirty="0"/>
            </a:p>
          </p:txBody>
        </p:sp>
      </p:grpSp>
      <p:grpSp>
        <p:nvGrpSpPr>
          <p:cNvPr id="247" name="icn AnimPlay"/>
          <p:cNvGrpSpPr>
            <a:grpSpLocks/>
          </p:cNvGrpSpPr>
          <p:nvPr/>
        </p:nvGrpSpPr>
        <p:grpSpPr bwMode="auto">
          <a:xfrm>
            <a:off x="8623300" y="79375"/>
            <a:ext cx="431800" cy="461963"/>
            <a:chOff x="3777" y="1768"/>
            <a:chExt cx="467" cy="499"/>
          </a:xfrm>
        </p:grpSpPr>
        <p:sp>
          <p:nvSpPr>
            <p:cNvPr id="248" name="Rectangle 115"/>
            <p:cNvSpPr>
              <a:spLocks noChangeArrowheads="1"/>
            </p:cNvSpPr>
            <p:nvPr/>
          </p:nvSpPr>
          <p:spPr bwMode="hidden">
            <a:xfrm>
              <a:off x="3777" y="176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dirty="0"/>
            </a:p>
          </p:txBody>
        </p:sp>
        <p:sp>
          <p:nvSpPr>
            <p:cNvPr id="249" name="AutoShape 116"/>
            <p:cNvSpPr>
              <a:spLocks noChangeArrowheads="1"/>
            </p:cNvSpPr>
            <p:nvPr/>
          </p:nvSpPr>
          <p:spPr bwMode="hidden">
            <a:xfrm rot="18896145" flipH="1">
              <a:off x="3789" y="1841"/>
              <a:ext cx="353" cy="353"/>
            </a:xfrm>
            <a:prstGeom prst="rtTriangle">
              <a:avLst/>
            </a:prstGeom>
            <a:solidFill>
              <a:srgbClr val="33CC3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dirty="0"/>
            </a:p>
          </p:txBody>
        </p:sp>
      </p:grpSp>
      <p:grpSp>
        <p:nvGrpSpPr>
          <p:cNvPr id="217" name="icn Entity EventAware"/>
          <p:cNvGrpSpPr>
            <a:grpSpLocks noChangeAspect="1"/>
          </p:cNvGrpSpPr>
          <p:nvPr/>
        </p:nvGrpSpPr>
        <p:grpSpPr>
          <a:xfrm>
            <a:off x="521190" y="1444294"/>
            <a:ext cx="1307610" cy="1532148"/>
            <a:chOff x="2448995" y="2044222"/>
            <a:chExt cx="1532365" cy="1795498"/>
          </a:xfrm>
        </p:grpSpPr>
        <p:pic>
          <p:nvPicPr>
            <p:cNvPr id="21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48995" y="2044222"/>
              <a:ext cx="1532365" cy="179549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20" name="Group 219"/>
            <p:cNvGrpSpPr/>
            <p:nvPr/>
          </p:nvGrpSpPr>
          <p:grpSpPr>
            <a:xfrm>
              <a:off x="3298002" y="2109793"/>
              <a:ext cx="569146" cy="552157"/>
              <a:chOff x="8351520" y="2281418"/>
              <a:chExt cx="1021080" cy="990600"/>
            </a:xfrm>
          </p:grpSpPr>
          <p:sp>
            <p:nvSpPr>
              <p:cNvPr id="221" name="Arc 220"/>
              <p:cNvSpPr/>
              <p:nvPr/>
            </p:nvSpPr>
            <p:spPr bwMode="auto">
              <a:xfrm>
                <a:off x="8351520" y="2357618"/>
                <a:ext cx="838201" cy="838200"/>
              </a:xfrm>
              <a:prstGeom prst="arc">
                <a:avLst>
                  <a:gd name="adj1" fmla="val 17911168"/>
                  <a:gd name="adj2" fmla="val 3597263"/>
                </a:avLst>
              </a:prstGeom>
              <a:noFill/>
              <a:ln w="28575" cap="rnd" cmpd="sng" algn="ctr">
                <a:solidFill>
                  <a:schemeClr val="tx2">
                    <a:lumMod val="50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30000"/>
                  </a:spcAft>
                  <a:buClr>
                    <a:schemeClr val="tx1"/>
                  </a:buClr>
                  <a:buSzTx/>
                  <a:buFontTx/>
                  <a:buNone/>
                  <a:tabLst/>
                </a:pPr>
                <a:endParaRPr kumimoji="0" lang="en-US" sz="2000" b="1" i="0" u="none" strike="noStrike" cap="none" normalizeH="0" baseline="0" smtClean="0">
                  <a:ln>
                    <a:noFill/>
                  </a:ln>
                  <a:solidFill>
                    <a:srgbClr val="FF0000"/>
                  </a:solidFill>
                  <a:effectLst/>
                  <a:latin typeface="Arial" charset="0"/>
                </a:endParaRPr>
              </a:p>
            </p:txBody>
          </p:sp>
          <p:sp>
            <p:nvSpPr>
              <p:cNvPr id="222" name="Arc 221"/>
              <p:cNvSpPr/>
              <p:nvPr/>
            </p:nvSpPr>
            <p:spPr bwMode="auto">
              <a:xfrm>
                <a:off x="8382000" y="2281418"/>
                <a:ext cx="990600" cy="990600"/>
              </a:xfrm>
              <a:prstGeom prst="arc">
                <a:avLst>
                  <a:gd name="adj1" fmla="val 17911168"/>
                  <a:gd name="adj2" fmla="val 3597263"/>
                </a:avLst>
              </a:prstGeom>
              <a:noFill/>
              <a:ln w="28575" cap="rnd" cmpd="sng" algn="ctr">
                <a:solidFill>
                  <a:schemeClr val="tx2">
                    <a:lumMod val="50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30000"/>
                  </a:spcAft>
                  <a:buClr>
                    <a:schemeClr val="tx1"/>
                  </a:buClr>
                  <a:buSzTx/>
                  <a:buFontTx/>
                  <a:buNone/>
                  <a:tabLst/>
                </a:pPr>
                <a:endParaRPr kumimoji="0" lang="en-US" sz="2000" b="1" i="0" u="none" strike="noStrike" cap="none" normalizeH="0" baseline="0" smtClean="0">
                  <a:ln>
                    <a:noFill/>
                  </a:ln>
                  <a:solidFill>
                    <a:srgbClr val="FF0000"/>
                  </a:solidFill>
                  <a:effectLst/>
                  <a:latin typeface="Arial" charset="0"/>
                </a:endParaRPr>
              </a:p>
            </p:txBody>
          </p:sp>
        </p:grpSp>
      </p:grpSp>
      <p:pic>
        <p:nvPicPr>
          <p:cNvPr id="223" name="icn Msg Contex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75511" y="999537"/>
            <a:ext cx="967314" cy="92711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24" name="icn Msg Contex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0286" y="2067136"/>
            <a:ext cx="967314" cy="92711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icn Msg Context 3 (Entit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90286" y="3103522"/>
            <a:ext cx="814914" cy="93507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5" name="icn Msg Destination Listen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73812" y="1066800"/>
            <a:ext cx="816592" cy="60886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25" name="icn Msg Destination Listen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73812" y="2134338"/>
            <a:ext cx="816592" cy="60886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26" name="icn Msg Destination Listen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73812" y="3277338"/>
            <a:ext cx="816592" cy="60886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6" name="inc Dest 13"/>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820874" y="914400"/>
            <a:ext cx="574857" cy="71190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7" name="inc Dest 14"/>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820874" y="1955091"/>
            <a:ext cx="574857" cy="71190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8" name="inc Dest 15"/>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820874" y="3098091"/>
            <a:ext cx="574857" cy="71190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6243055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500"/>
                                        <p:tgtEl>
                                          <p:spTgt spid="11"/>
                                        </p:tgtEl>
                                      </p:cBhvr>
                                    </p:animEffect>
                                    <p:anim calcmode="lin" valueType="num">
                                      <p:cBhvr>
                                        <p:cTn id="8" dur="1500" fill="hold"/>
                                        <p:tgtEl>
                                          <p:spTgt spid="11"/>
                                        </p:tgtEl>
                                        <p:attrNameLst>
                                          <p:attrName>ppt_x</p:attrName>
                                        </p:attrNameLst>
                                      </p:cBhvr>
                                      <p:tavLst>
                                        <p:tav tm="0">
                                          <p:val>
                                            <p:strVal val="#ppt_x"/>
                                          </p:val>
                                        </p:tav>
                                        <p:tav tm="100000">
                                          <p:val>
                                            <p:strVal val="#ppt_x"/>
                                          </p:val>
                                        </p:tav>
                                      </p:tavLst>
                                    </p:anim>
                                    <p:anim calcmode="lin" valueType="num">
                                      <p:cBhvr>
                                        <p:cTn id="9" dur="1500" fill="hold"/>
                                        <p:tgtEl>
                                          <p:spTgt spid="11"/>
                                        </p:tgtEl>
                                        <p:attrNameLst>
                                          <p:attrName>ppt_y</p:attrName>
                                        </p:attrNameLst>
                                      </p:cBhvr>
                                      <p:tavLst>
                                        <p:tav tm="0">
                                          <p:val>
                                            <p:strVal val="#ppt_y+.1"/>
                                          </p:val>
                                        </p:tav>
                                        <p:tav tm="100000">
                                          <p:val>
                                            <p:strVal val="#ppt_y"/>
                                          </p:val>
                                        </p:tav>
                                      </p:tavLst>
                                    </p:anim>
                                  </p:childTnLst>
                                </p:cTn>
                              </p:par>
                              <p:par>
                                <p:cTn id="10" presetID="22" presetClass="entr" presetSubtype="8" fill="hold" nodeType="withEffect">
                                  <p:stCondLst>
                                    <p:cond delay="1000"/>
                                  </p:stCondLst>
                                  <p:childTnLst>
                                    <p:set>
                                      <p:cBhvr>
                                        <p:cTn id="11" dur="1" fill="hold">
                                          <p:stCondLst>
                                            <p:cond delay="0"/>
                                          </p:stCondLst>
                                        </p:cTn>
                                        <p:tgtEl>
                                          <p:spTgt spid="218"/>
                                        </p:tgtEl>
                                        <p:attrNameLst>
                                          <p:attrName>style.visibility</p:attrName>
                                        </p:attrNameLst>
                                      </p:cBhvr>
                                      <p:to>
                                        <p:strVal val="visible"/>
                                      </p:to>
                                    </p:set>
                                    <p:animEffect transition="in" filter="wipe(left)">
                                      <p:cBhvr>
                                        <p:cTn id="12" dur="1500"/>
                                        <p:tgtEl>
                                          <p:spTgt spid="218"/>
                                        </p:tgtEl>
                                      </p:cBhvr>
                                    </p:animEffect>
                                  </p:childTnLst>
                                </p:cTn>
                              </p:par>
                              <p:par>
                                <p:cTn id="13" presetID="22" presetClass="entr" presetSubtype="8" fill="hold" nodeType="withEffect">
                                  <p:stCondLst>
                                    <p:cond delay="1000"/>
                                  </p:stCondLst>
                                  <p:childTnLst>
                                    <p:set>
                                      <p:cBhvr>
                                        <p:cTn id="14" dur="1" fill="hold">
                                          <p:stCondLst>
                                            <p:cond delay="0"/>
                                          </p:stCondLst>
                                        </p:cTn>
                                        <p:tgtEl>
                                          <p:spTgt spid="228"/>
                                        </p:tgtEl>
                                        <p:attrNameLst>
                                          <p:attrName>style.visibility</p:attrName>
                                        </p:attrNameLst>
                                      </p:cBhvr>
                                      <p:to>
                                        <p:strVal val="visible"/>
                                      </p:to>
                                    </p:set>
                                    <p:animEffect transition="in" filter="wipe(left)">
                                      <p:cBhvr>
                                        <p:cTn id="15" dur="1500"/>
                                        <p:tgtEl>
                                          <p:spTgt spid="228"/>
                                        </p:tgtEl>
                                      </p:cBhvr>
                                    </p:animEffect>
                                  </p:childTnLst>
                                </p:cTn>
                              </p:par>
                              <p:par>
                                <p:cTn id="16" presetID="22" presetClass="entr" presetSubtype="8" fill="hold" nodeType="withEffect">
                                  <p:stCondLst>
                                    <p:cond delay="2000"/>
                                  </p:stCondLst>
                                  <p:childTnLst>
                                    <p:set>
                                      <p:cBhvr>
                                        <p:cTn id="17" dur="1" fill="hold">
                                          <p:stCondLst>
                                            <p:cond delay="0"/>
                                          </p:stCondLst>
                                        </p:cTn>
                                        <p:tgtEl>
                                          <p:spTgt spid="223"/>
                                        </p:tgtEl>
                                        <p:attrNameLst>
                                          <p:attrName>style.visibility</p:attrName>
                                        </p:attrNameLst>
                                      </p:cBhvr>
                                      <p:to>
                                        <p:strVal val="visible"/>
                                      </p:to>
                                    </p:set>
                                    <p:animEffect transition="in" filter="wipe(left)">
                                      <p:cBhvr>
                                        <p:cTn id="18" dur="1500"/>
                                        <p:tgtEl>
                                          <p:spTgt spid="223"/>
                                        </p:tgtEl>
                                      </p:cBhvr>
                                    </p:animEffect>
                                  </p:childTnLst>
                                </p:cTn>
                              </p:par>
                              <p:par>
                                <p:cTn id="19" presetID="22" presetClass="entr" presetSubtype="8" fill="hold" nodeType="withEffect">
                                  <p:stCondLst>
                                    <p:cond delay="2000"/>
                                  </p:stCondLst>
                                  <p:childTnLst>
                                    <p:set>
                                      <p:cBhvr>
                                        <p:cTn id="20" dur="1" fill="hold">
                                          <p:stCondLst>
                                            <p:cond delay="0"/>
                                          </p:stCondLst>
                                        </p:cTn>
                                        <p:tgtEl>
                                          <p:spTgt spid="224"/>
                                        </p:tgtEl>
                                        <p:attrNameLst>
                                          <p:attrName>style.visibility</p:attrName>
                                        </p:attrNameLst>
                                      </p:cBhvr>
                                      <p:to>
                                        <p:strVal val="visible"/>
                                      </p:to>
                                    </p:set>
                                    <p:animEffect transition="in" filter="wipe(left)">
                                      <p:cBhvr>
                                        <p:cTn id="21" dur="1500"/>
                                        <p:tgtEl>
                                          <p:spTgt spid="224"/>
                                        </p:tgtEl>
                                      </p:cBhvr>
                                    </p:animEffect>
                                  </p:childTnLst>
                                </p:cTn>
                              </p:par>
                              <p:par>
                                <p:cTn id="22" presetID="22" presetClass="entr" presetSubtype="8" fill="hold" grpId="0" nodeType="withEffect">
                                  <p:stCondLst>
                                    <p:cond delay="3000"/>
                                  </p:stCondLst>
                                  <p:childTnLst>
                                    <p:set>
                                      <p:cBhvr>
                                        <p:cTn id="23" dur="1" fill="hold">
                                          <p:stCondLst>
                                            <p:cond delay="0"/>
                                          </p:stCondLst>
                                        </p:cTn>
                                        <p:tgtEl>
                                          <p:spTgt spid="53"/>
                                        </p:tgtEl>
                                        <p:attrNameLst>
                                          <p:attrName>style.visibility</p:attrName>
                                        </p:attrNameLst>
                                      </p:cBhvr>
                                      <p:to>
                                        <p:strVal val="visible"/>
                                      </p:to>
                                    </p:set>
                                    <p:animEffect transition="in" filter="wipe(left)">
                                      <p:cBhvr>
                                        <p:cTn id="24" dur="1500"/>
                                        <p:tgtEl>
                                          <p:spTgt spid="53"/>
                                        </p:tgtEl>
                                      </p:cBhvr>
                                    </p:animEffect>
                                  </p:childTnLst>
                                </p:cTn>
                              </p:par>
                              <p:par>
                                <p:cTn id="25" presetID="22" presetClass="entr" presetSubtype="8" fill="hold" grpId="0" nodeType="withEffect">
                                  <p:stCondLst>
                                    <p:cond delay="3000"/>
                                  </p:stCondLst>
                                  <p:childTnLst>
                                    <p:set>
                                      <p:cBhvr>
                                        <p:cTn id="26" dur="1" fill="hold">
                                          <p:stCondLst>
                                            <p:cond delay="0"/>
                                          </p:stCondLst>
                                        </p:cTn>
                                        <p:tgtEl>
                                          <p:spTgt spid="54"/>
                                        </p:tgtEl>
                                        <p:attrNameLst>
                                          <p:attrName>style.visibility</p:attrName>
                                        </p:attrNameLst>
                                      </p:cBhvr>
                                      <p:to>
                                        <p:strVal val="visible"/>
                                      </p:to>
                                    </p:set>
                                    <p:animEffect transition="in" filter="wipe(left)">
                                      <p:cBhvr>
                                        <p:cTn id="27" dur="1500"/>
                                        <p:tgtEl>
                                          <p:spTgt spid="54"/>
                                        </p:tgtEl>
                                      </p:cBhvr>
                                    </p:animEffect>
                                  </p:childTnLst>
                                </p:cTn>
                              </p:par>
                              <p:par>
                                <p:cTn id="28" presetID="26" presetClass="emph" presetSubtype="0" fill="hold" nodeType="withEffect">
                                  <p:stCondLst>
                                    <p:cond delay="4000"/>
                                  </p:stCondLst>
                                  <p:childTnLst>
                                    <p:animEffect transition="out" filter="fade">
                                      <p:cBhvr>
                                        <p:cTn id="29" dur="1500" tmFilter="0, 0; .2, .5; .8, .5; 1, 0"/>
                                        <p:tgtEl>
                                          <p:spTgt spid="2055"/>
                                        </p:tgtEl>
                                      </p:cBhvr>
                                    </p:animEffect>
                                    <p:animScale>
                                      <p:cBhvr>
                                        <p:cTn id="30" dur="750" autoRev="1" fill="hold"/>
                                        <p:tgtEl>
                                          <p:spTgt spid="2055"/>
                                        </p:tgtEl>
                                      </p:cBhvr>
                                      <p:by x="105000" y="105000"/>
                                    </p:animScale>
                                  </p:childTnLst>
                                </p:cTn>
                              </p:par>
                              <p:par>
                                <p:cTn id="31" presetID="26" presetClass="emph" presetSubtype="0" fill="hold" nodeType="withEffect">
                                  <p:stCondLst>
                                    <p:cond delay="4000"/>
                                  </p:stCondLst>
                                  <p:childTnLst>
                                    <p:animEffect transition="out" filter="fade">
                                      <p:cBhvr>
                                        <p:cTn id="32" dur="1500" tmFilter="0, 0; .2, .5; .8, .5; 1, 0"/>
                                        <p:tgtEl>
                                          <p:spTgt spid="225"/>
                                        </p:tgtEl>
                                      </p:cBhvr>
                                    </p:animEffect>
                                    <p:animScale>
                                      <p:cBhvr>
                                        <p:cTn id="33" dur="750" autoRev="1" fill="hold"/>
                                        <p:tgtEl>
                                          <p:spTgt spid="225"/>
                                        </p:tgtEl>
                                      </p:cBhvr>
                                      <p:by x="105000" y="105000"/>
                                    </p:animScale>
                                  </p:childTnLst>
                                </p:cTn>
                              </p:par>
                              <p:par>
                                <p:cTn id="34" presetID="26" presetClass="emph" presetSubtype="0" fill="hold" nodeType="withEffect">
                                  <p:stCondLst>
                                    <p:cond delay="5000"/>
                                  </p:stCondLst>
                                  <p:childTnLst>
                                    <p:animEffect transition="out" filter="fade">
                                      <p:cBhvr>
                                        <p:cTn id="35" dur="1500" tmFilter="0, 0; .2, .5; .8, .5; 1, 0"/>
                                        <p:tgtEl>
                                          <p:spTgt spid="76"/>
                                        </p:tgtEl>
                                      </p:cBhvr>
                                    </p:animEffect>
                                    <p:animScale>
                                      <p:cBhvr>
                                        <p:cTn id="36" dur="750" autoRev="1" fill="hold"/>
                                        <p:tgtEl>
                                          <p:spTgt spid="76"/>
                                        </p:tgtEl>
                                      </p:cBhvr>
                                      <p:by x="105000" y="105000"/>
                                    </p:animScale>
                                  </p:childTnLst>
                                </p:cTn>
                              </p:par>
                              <p:par>
                                <p:cTn id="37" presetID="26" presetClass="emph" presetSubtype="0" fill="hold" nodeType="withEffect">
                                  <p:stCondLst>
                                    <p:cond delay="5000"/>
                                  </p:stCondLst>
                                  <p:childTnLst>
                                    <p:animEffect transition="out" filter="fade">
                                      <p:cBhvr>
                                        <p:cTn id="38" dur="1500" tmFilter="0, 0; .2, .5; .8, .5; 1, 0"/>
                                        <p:tgtEl>
                                          <p:spTgt spid="77"/>
                                        </p:tgtEl>
                                      </p:cBhvr>
                                    </p:animEffect>
                                    <p:animScale>
                                      <p:cBhvr>
                                        <p:cTn id="39" dur="750" autoRev="1" fill="hold"/>
                                        <p:tgtEl>
                                          <p:spTgt spid="77"/>
                                        </p:tgtEl>
                                      </p:cBhvr>
                                      <p:by x="105000" y="105000"/>
                                    </p:animScale>
                                  </p:childTnLst>
                                </p:cTn>
                              </p:par>
                            </p:childTnLst>
                          </p:cTn>
                        </p:par>
                        <p:par>
                          <p:cTn id="40" fill="hold">
                            <p:stCondLst>
                              <p:cond delay="6500"/>
                            </p:stCondLst>
                            <p:childTnLst>
                              <p:par>
                                <p:cTn id="41" presetID="17" presetClass="entr" presetSubtype="10" fill="hold" nodeType="afterEffect">
                                  <p:stCondLst>
                                    <p:cond delay="0"/>
                                  </p:stCondLst>
                                  <p:childTnLst>
                                    <p:set>
                                      <p:cBhvr>
                                        <p:cTn id="42" dur="1" fill="hold">
                                          <p:stCondLst>
                                            <p:cond delay="0"/>
                                          </p:stCondLst>
                                        </p:cTn>
                                        <p:tgtEl>
                                          <p:spTgt spid="244"/>
                                        </p:tgtEl>
                                        <p:attrNameLst>
                                          <p:attrName>style.visibility</p:attrName>
                                        </p:attrNameLst>
                                      </p:cBhvr>
                                      <p:to>
                                        <p:strVal val="visible"/>
                                      </p:to>
                                    </p:set>
                                    <p:anim calcmode="lin" valueType="num">
                                      <p:cBhvr>
                                        <p:cTn id="43" dur="1000" fill="hold"/>
                                        <p:tgtEl>
                                          <p:spTgt spid="244"/>
                                        </p:tgtEl>
                                        <p:attrNameLst>
                                          <p:attrName>ppt_w</p:attrName>
                                        </p:attrNameLst>
                                      </p:cBhvr>
                                      <p:tavLst>
                                        <p:tav tm="0">
                                          <p:val>
                                            <p:fltVal val="0"/>
                                          </p:val>
                                        </p:tav>
                                        <p:tav tm="100000">
                                          <p:val>
                                            <p:strVal val="#ppt_w"/>
                                          </p:val>
                                        </p:tav>
                                      </p:tavLst>
                                    </p:anim>
                                    <p:anim calcmode="lin" valueType="num">
                                      <p:cBhvr>
                                        <p:cTn id="44" dur="1000" fill="hold"/>
                                        <p:tgtEl>
                                          <p:spTgt spid="24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53" grpId="0"/>
      <p:bldP spid="5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Defining a messaging destination</a:t>
            </a:r>
            <a:endParaRPr lang="en-US" dirty="0"/>
          </a:p>
        </p:txBody>
      </p:sp>
      <p:sp>
        <p:nvSpPr>
          <p:cNvPr id="3" name="Content Placeholder 2"/>
          <p:cNvSpPr>
            <a:spLocks noGrp="1"/>
          </p:cNvSpPr>
          <p:nvPr>
            <p:ph idx="1"/>
          </p:nvPr>
        </p:nvSpPr>
        <p:spPr/>
        <p:txBody>
          <a:bodyPr/>
          <a:lstStyle/>
          <a:p>
            <a:r>
              <a:rPr lang="en-US" dirty="0" smtClean="0"/>
              <a:t>Required fields</a:t>
            </a:r>
          </a:p>
          <a:p>
            <a:pPr lvl="1"/>
            <a:r>
              <a:rPr lang="en-US" dirty="0" smtClean="0"/>
              <a:t>Unique ID value from 0 to 63</a:t>
            </a:r>
            <a:endParaRPr lang="en-US" dirty="0"/>
          </a:p>
          <a:p>
            <a:pPr lvl="1"/>
            <a:r>
              <a:rPr lang="en-US" dirty="0" smtClean="0"/>
              <a:t>Unique Name</a:t>
            </a:r>
          </a:p>
          <a:p>
            <a:pPr lvl="1"/>
            <a:r>
              <a:rPr lang="en-US" dirty="0" smtClean="0"/>
              <a:t>Messaging events that the destination listens for</a:t>
            </a:r>
          </a:p>
          <a:p>
            <a:r>
              <a:rPr lang="en-US" dirty="0" smtClean="0"/>
              <a:t>Transport plugin is required</a:t>
            </a:r>
          </a:p>
          <a:p>
            <a:pPr lvl="1"/>
            <a:r>
              <a:rPr lang="en-US" dirty="0" smtClean="0"/>
              <a:t>Sends message </a:t>
            </a:r>
            <a:r>
              <a:rPr lang="en-US" dirty="0"/>
              <a:t>to </a:t>
            </a:r>
            <a:r>
              <a:rPr lang="en-US" dirty="0" smtClean="0"/>
              <a:t/>
            </a:r>
            <a:br>
              <a:rPr lang="en-US" dirty="0" smtClean="0"/>
            </a:br>
            <a:r>
              <a:rPr lang="en-US" dirty="0" smtClean="0"/>
              <a:t>external system(s)</a:t>
            </a:r>
          </a:p>
          <a:p>
            <a:r>
              <a:rPr lang="en-US" dirty="0" smtClean="0"/>
              <a:t>Optional plugins</a:t>
            </a:r>
          </a:p>
          <a:p>
            <a:pPr lvl="1"/>
            <a:r>
              <a:rPr lang="en-US" dirty="0" smtClean="0"/>
              <a:t>Request plugin transforms  </a:t>
            </a:r>
            <a:br>
              <a:rPr lang="en-US" dirty="0" smtClean="0"/>
            </a:br>
            <a:r>
              <a:rPr lang="en-US" dirty="0" smtClean="0"/>
              <a:t>the payload</a:t>
            </a:r>
          </a:p>
          <a:p>
            <a:pPr lvl="1"/>
            <a:r>
              <a:rPr lang="en-US" dirty="0" smtClean="0"/>
              <a:t>Reply plugin manages </a:t>
            </a:r>
            <a:br>
              <a:rPr lang="en-US" dirty="0" smtClean="0"/>
            </a:br>
            <a:r>
              <a:rPr lang="en-US" dirty="0" smtClean="0"/>
              <a:t>asynchronous acknowledgements</a:t>
            </a:r>
          </a:p>
          <a:p>
            <a:r>
              <a:rPr lang="en-US" dirty="0" smtClean="0"/>
              <a:t>Additional parameters</a:t>
            </a:r>
          </a:p>
          <a:p>
            <a:pPr lvl="1"/>
            <a:r>
              <a:rPr lang="en-US" dirty="0" smtClean="0"/>
              <a:t>See Acknowledging Messages lesson</a:t>
            </a:r>
            <a:endParaRPr lang="en-US" dirty="0"/>
          </a:p>
          <a:p>
            <a:pPr marL="0" indent="0">
              <a:buNone/>
            </a:pPr>
            <a:endParaRPr lang="en-US" dirty="0"/>
          </a:p>
        </p:txBody>
      </p:sp>
      <p:sp>
        <p:nvSpPr>
          <p:cNvPr id="53" name="Text Box 32"/>
          <p:cNvSpPr txBox="1">
            <a:spLocks noChangeArrowheads="1"/>
          </p:cNvSpPr>
          <p:nvPr/>
        </p:nvSpPr>
        <p:spPr bwMode="auto">
          <a:xfrm>
            <a:off x="7543800" y="2193925"/>
            <a:ext cx="129244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eaLnBrk="1" hangingPunct="1">
              <a:spcAft>
                <a:spcPct val="30000"/>
              </a:spcAft>
              <a:buClr>
                <a:schemeClr val="tx1"/>
              </a:buClr>
              <a:buFontTx/>
              <a:buNone/>
            </a:pPr>
            <a:r>
              <a:rPr lang="en-US" sz="1600" dirty="0" smtClean="0">
                <a:solidFill>
                  <a:schemeClr val="bg1"/>
                </a:solidFill>
              </a:rPr>
              <a:t>Destination</a:t>
            </a:r>
            <a:endParaRPr lang="en-US" sz="1600" dirty="0">
              <a:solidFill>
                <a:schemeClr val="bg1"/>
              </a:solidFill>
            </a:endParaRPr>
          </a:p>
        </p:txBody>
      </p:sp>
      <p:pic>
        <p:nvPicPr>
          <p:cNvPr id="54" name="Picture 4" descr="C:\Users\sluersen\AppData\Local\Temp\SNAGHTML1f1bd01.PNG"/>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15000"/>
                    </a14:imgEffect>
                    <a14:imgEffect>
                      <a14:brightnessContrast bright="-10000" contrast="15000"/>
                    </a14:imgEffect>
                  </a14:imgLayer>
                </a14:imgProps>
              </a:ext>
              <a:ext uri="{28A0092B-C50C-407E-A947-70E740481C1C}">
                <a14:useLocalDpi xmlns:a14="http://schemas.microsoft.com/office/drawing/2010/main" val="0"/>
              </a:ext>
            </a:extLst>
          </a:blip>
          <a:srcRect/>
          <a:stretch>
            <a:fillRect/>
          </a:stretch>
        </p:blipFill>
        <p:spPr bwMode="auto">
          <a:xfrm>
            <a:off x="4517419" y="3124200"/>
            <a:ext cx="4318821" cy="2369428"/>
          </a:xfrm>
          <a:prstGeom prst="rect">
            <a:avLst/>
          </a:prstGeom>
          <a:noFill/>
          <a:ln w="9525">
            <a:solidFill>
              <a:srgbClr val="000000"/>
            </a:solidFill>
            <a:miter lim="800000"/>
            <a:headEnd/>
            <a:tailEnd/>
          </a:ln>
          <a:effectLst>
            <a:outerShdw blurRad="50800" dist="38100" dir="2700000" algn="tl" rotWithShape="0">
              <a:prstClr val="black">
                <a:alpha val="40000"/>
              </a:prstClr>
            </a:outerShdw>
          </a:effectLst>
          <a:scene3d>
            <a:camera prst="perspectiveHeroicExtremeLeftFacing"/>
            <a:lightRig rig="threePt" dir="t"/>
          </a:scene3d>
          <a:extLst>
            <a:ext uri="{909E8E84-426E-40DD-AFC4-6F175D3DCCD1}">
              <a14:hiddenFill xmlns:a14="http://schemas.microsoft.com/office/drawing/2010/main">
                <a:solidFill>
                  <a:srgbClr val="FFFFFF"/>
                </a:solidFill>
              </a14:hiddenFill>
            </a:ext>
          </a:extLst>
        </p:spPr>
      </p:pic>
      <p:pic>
        <p:nvPicPr>
          <p:cNvPr id="21" name="Picture 8"/>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710973" y="914397"/>
            <a:ext cx="958095" cy="118651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03515161"/>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Messaging editor</a:t>
            </a:r>
            <a:endParaRPr lang="en-US" dirty="0"/>
          </a:p>
        </p:txBody>
      </p:sp>
      <p:sp>
        <p:nvSpPr>
          <p:cNvPr id="2055" name="Content Placeholder 2054"/>
          <p:cNvSpPr>
            <a:spLocks noGrp="1"/>
          </p:cNvSpPr>
          <p:nvPr>
            <p:ph idx="1"/>
          </p:nvPr>
        </p:nvSpPr>
        <p:spPr>
          <a:xfrm>
            <a:off x="519113" y="5029200"/>
            <a:ext cx="8318500" cy="1371600"/>
          </a:xfrm>
        </p:spPr>
        <p:txBody>
          <a:bodyPr/>
          <a:lstStyle/>
          <a:p>
            <a:r>
              <a:rPr lang="en-US" dirty="0" smtClean="0"/>
              <a:t>Specify required field values</a:t>
            </a:r>
          </a:p>
          <a:p>
            <a:r>
              <a:rPr lang="en-US" dirty="0" smtClean="0"/>
              <a:t>Specify the messaging events</a:t>
            </a:r>
          </a:p>
          <a:p>
            <a:pPr lvl="1"/>
            <a:r>
              <a:rPr lang="en-US" dirty="0" smtClean="0"/>
              <a:t>Use  </a:t>
            </a:r>
            <a:r>
              <a:rPr lang="en-US" b="1" dirty="0">
                <a:latin typeface="Courier New" pitchFamily="49" charset="0"/>
                <a:cs typeface="Courier New" pitchFamily="49" charset="0"/>
              </a:rPr>
              <a:t>&lt;entity&gt;&lt;typeOfChange&gt;</a:t>
            </a:r>
          </a:p>
          <a:p>
            <a:endParaRPr lang="en-US" dirty="0"/>
          </a:p>
        </p:txBody>
      </p:sp>
      <p:pic>
        <p:nvPicPr>
          <p:cNvPr id="2052" name="Picture 4" descr="C:\Users\sluersen\AppData\Local\Temp\SNAGHTML1f1bd0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2925" y="761999"/>
            <a:ext cx="7482788" cy="4105275"/>
          </a:xfrm>
          <a:prstGeom prst="rect">
            <a:avLst/>
          </a:prstGeom>
          <a:noFill/>
          <a:ln w="9525">
            <a:solidFill>
              <a:srgbClr val="000000"/>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Rounded Rectangle 9"/>
          <p:cNvSpPr/>
          <p:nvPr/>
        </p:nvSpPr>
        <p:spPr bwMode="auto">
          <a:xfrm>
            <a:off x="6476999" y="1905000"/>
            <a:ext cx="2446175" cy="304800"/>
          </a:xfrm>
          <a:prstGeom prst="roundRect">
            <a:avLst/>
          </a:prstGeom>
          <a:solidFill>
            <a:schemeClr val="tx1"/>
          </a:solidFill>
          <a:ln w="19050"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sz="1600" dirty="0" smtClean="0">
                <a:solidFill>
                  <a:schemeClr val="bg1"/>
                </a:solidFill>
              </a:rPr>
              <a:t>Required Transport Plugin</a:t>
            </a:r>
            <a:endParaRPr lang="en-US" sz="1600" dirty="0">
              <a:solidFill>
                <a:schemeClr val="bg1"/>
              </a:solidFill>
            </a:endParaRPr>
          </a:p>
        </p:txBody>
      </p:sp>
      <p:sp>
        <p:nvSpPr>
          <p:cNvPr id="11" name="Rounded Rectangle 10"/>
          <p:cNvSpPr/>
          <p:nvPr/>
        </p:nvSpPr>
        <p:spPr bwMode="auto">
          <a:xfrm>
            <a:off x="7313450" y="2314575"/>
            <a:ext cx="1600200" cy="304800"/>
          </a:xfrm>
          <a:prstGeom prst="roundRect">
            <a:avLst/>
          </a:prstGeom>
          <a:solidFill>
            <a:schemeClr val="tx1"/>
          </a:solidFill>
          <a:ln w="19050" algn="ctr">
            <a:solidFill>
              <a:schemeClr val="accent5"/>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sz="1600" dirty="0" smtClean="0">
                <a:solidFill>
                  <a:schemeClr val="bg1"/>
                </a:solidFill>
              </a:rPr>
              <a:t>Optional Plugins</a:t>
            </a:r>
            <a:endParaRPr lang="en-US" sz="1600" dirty="0">
              <a:solidFill>
                <a:schemeClr val="bg1"/>
              </a:solidFill>
            </a:endParaRPr>
          </a:p>
        </p:txBody>
      </p:sp>
      <p:sp>
        <p:nvSpPr>
          <p:cNvPr id="12" name="Rounded Rectangle 11"/>
          <p:cNvSpPr/>
          <p:nvPr/>
        </p:nvSpPr>
        <p:spPr bwMode="auto">
          <a:xfrm>
            <a:off x="7620000" y="4105275"/>
            <a:ext cx="1219200" cy="762000"/>
          </a:xfrm>
          <a:prstGeom prst="roundRect">
            <a:avLst/>
          </a:prstGeom>
          <a:solidFill>
            <a:schemeClr val="tx1"/>
          </a:solidFill>
          <a:ln w="19050"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sz="1600" dirty="0" smtClean="0">
                <a:solidFill>
                  <a:schemeClr val="bg1"/>
                </a:solidFill>
              </a:rPr>
              <a:t>Messaging</a:t>
            </a:r>
            <a:br>
              <a:rPr lang="en-US" sz="1600" dirty="0" smtClean="0">
                <a:solidFill>
                  <a:schemeClr val="bg1"/>
                </a:solidFill>
              </a:rPr>
            </a:br>
            <a:r>
              <a:rPr lang="en-US" sz="1600" dirty="0" smtClean="0">
                <a:solidFill>
                  <a:schemeClr val="bg1"/>
                </a:solidFill>
              </a:rPr>
              <a:t> Events</a:t>
            </a:r>
            <a:endParaRPr lang="en-US" sz="1600" dirty="0">
              <a:solidFill>
                <a:schemeClr val="bg1"/>
              </a:solidFill>
            </a:endParaRPr>
          </a:p>
        </p:txBody>
      </p:sp>
      <p:sp>
        <p:nvSpPr>
          <p:cNvPr id="5" name="Rounded Rectangle 4"/>
          <p:cNvSpPr/>
          <p:nvPr/>
        </p:nvSpPr>
        <p:spPr bwMode="auto">
          <a:xfrm>
            <a:off x="7928250" y="1143000"/>
            <a:ext cx="985400" cy="304800"/>
          </a:xfrm>
          <a:prstGeom prst="roundRect">
            <a:avLst/>
          </a:prstGeom>
          <a:solidFill>
            <a:schemeClr val="tx1"/>
          </a:solidFill>
          <a:ln w="19050"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sz="1600" dirty="0" smtClean="0">
                <a:solidFill>
                  <a:schemeClr val="bg1"/>
                </a:solidFill>
              </a:rPr>
              <a:t>Unique ID</a:t>
            </a:r>
            <a:endParaRPr lang="en-US" sz="1600" dirty="0">
              <a:solidFill>
                <a:schemeClr val="bg1"/>
              </a:solidFill>
            </a:endParaRPr>
          </a:p>
        </p:txBody>
      </p:sp>
      <p:sp>
        <p:nvSpPr>
          <p:cNvPr id="9" name="Rounded Rectangle 8"/>
          <p:cNvSpPr/>
          <p:nvPr/>
        </p:nvSpPr>
        <p:spPr bwMode="auto">
          <a:xfrm>
            <a:off x="7589675" y="1524000"/>
            <a:ext cx="1333500" cy="304800"/>
          </a:xfrm>
          <a:prstGeom prst="roundRect">
            <a:avLst/>
          </a:prstGeom>
          <a:solidFill>
            <a:schemeClr val="tx1"/>
          </a:solidFill>
          <a:ln w="19050"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sz="1600" dirty="0">
                <a:solidFill>
                  <a:schemeClr val="bg1"/>
                </a:solidFill>
              </a:rPr>
              <a:t>Unique Name</a:t>
            </a:r>
          </a:p>
        </p:txBody>
      </p:sp>
      <p:sp>
        <p:nvSpPr>
          <p:cNvPr id="15" name="Rounded Rectangle 14"/>
          <p:cNvSpPr/>
          <p:nvPr/>
        </p:nvSpPr>
        <p:spPr bwMode="auto">
          <a:xfrm>
            <a:off x="7524725" y="2781300"/>
            <a:ext cx="1333500" cy="838200"/>
          </a:xfrm>
          <a:prstGeom prst="roundRect">
            <a:avLst/>
          </a:prstGeom>
          <a:solidFill>
            <a:schemeClr val="tx1"/>
          </a:solidFill>
          <a:ln w="19050" algn="ctr">
            <a:solidFill>
              <a:schemeClr val="accent5"/>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sz="1600" dirty="0" smtClean="0">
                <a:solidFill>
                  <a:schemeClr val="bg1"/>
                </a:solidFill>
              </a:rPr>
              <a:t>Connectivity </a:t>
            </a:r>
            <a:br>
              <a:rPr lang="en-US" sz="1600" dirty="0" smtClean="0">
                <a:solidFill>
                  <a:schemeClr val="bg1"/>
                </a:solidFill>
              </a:rPr>
            </a:br>
            <a:r>
              <a:rPr lang="en-US" sz="1600" dirty="0" smtClean="0">
                <a:solidFill>
                  <a:schemeClr val="bg1"/>
                </a:solidFill>
              </a:rPr>
              <a:t>and Error </a:t>
            </a:r>
            <a:br>
              <a:rPr lang="en-US" sz="1600" dirty="0" smtClean="0">
                <a:solidFill>
                  <a:schemeClr val="bg1"/>
                </a:solidFill>
              </a:rPr>
            </a:br>
            <a:r>
              <a:rPr lang="en-US" sz="1600" dirty="0" smtClean="0">
                <a:solidFill>
                  <a:schemeClr val="bg1"/>
                </a:solidFill>
              </a:rPr>
              <a:t>Parameters</a:t>
            </a:r>
            <a:endParaRPr lang="en-US" sz="1600" dirty="0">
              <a:solidFill>
                <a:schemeClr val="bg1"/>
              </a:solidFill>
            </a:endParaRPr>
          </a:p>
        </p:txBody>
      </p:sp>
    </p:spTree>
    <p:extLst>
      <p:ext uri="{BB962C8B-B14F-4D97-AF65-F5344CB8AC3E}">
        <p14:creationId xmlns:p14="http://schemas.microsoft.com/office/powerpoint/2010/main" val="3370060820"/>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Entities used to trigger messaging</a:t>
            </a:r>
          </a:p>
          <a:p>
            <a:r>
              <a:rPr lang="en-US" dirty="0"/>
              <a:t>Destinations</a:t>
            </a:r>
          </a:p>
          <a:p>
            <a:r>
              <a:rPr lang="en-US" dirty="0" smtClean="0">
                <a:solidFill>
                  <a:schemeClr val="bg1"/>
                </a:solidFill>
              </a:rPr>
              <a:t>Event Fired </a:t>
            </a:r>
            <a:r>
              <a:rPr lang="en-US" dirty="0">
                <a:solidFill>
                  <a:schemeClr val="bg1"/>
                </a:solidFill>
              </a:rPr>
              <a:t>rules</a:t>
            </a:r>
          </a:p>
          <a:p>
            <a:endParaRPr lang="en-US" dirty="0">
              <a:solidFill>
                <a:schemeClr val="bg1"/>
              </a:solidFill>
            </a:endParaRPr>
          </a:p>
        </p:txBody>
      </p:sp>
    </p:spTree>
    <p:extLst>
      <p:ext uri="{BB962C8B-B14F-4D97-AF65-F5344CB8AC3E}">
        <p14:creationId xmlns:p14="http://schemas.microsoft.com/office/powerpoint/2010/main" val="1091224594"/>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234" y="914400"/>
            <a:ext cx="3268766" cy="4283579"/>
          </a:xfrm>
          <a:prstGeom prst="rect">
            <a:avLst/>
          </a:prstGeom>
          <a:noFill/>
          <a:ln w="9525">
            <a:solidFill>
              <a:srgbClr val="000000"/>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3" name="Title 2"/>
          <p:cNvSpPr>
            <a:spLocks noGrp="1"/>
          </p:cNvSpPr>
          <p:nvPr>
            <p:ph type="title"/>
          </p:nvPr>
        </p:nvSpPr>
        <p:spPr/>
        <p:txBody>
          <a:bodyPr/>
          <a:lstStyle/>
          <a:p>
            <a:r>
              <a:rPr lang="en-US" dirty="0"/>
              <a:t>Guidewire business rules</a:t>
            </a:r>
          </a:p>
        </p:txBody>
      </p:sp>
      <p:sp>
        <p:nvSpPr>
          <p:cNvPr id="4" name="Content Placeholder 3"/>
          <p:cNvSpPr>
            <a:spLocks noGrp="1"/>
          </p:cNvSpPr>
          <p:nvPr>
            <p:ph sz="half" idx="2"/>
          </p:nvPr>
        </p:nvSpPr>
        <p:spPr>
          <a:xfrm>
            <a:off x="4419600" y="914400"/>
            <a:ext cx="4404360" cy="3657600"/>
          </a:xfrm>
        </p:spPr>
        <p:txBody>
          <a:bodyPr/>
          <a:lstStyle/>
          <a:p>
            <a:r>
              <a:rPr lang="en-US" dirty="0"/>
              <a:t>Three types of </a:t>
            </a:r>
            <a:r>
              <a:rPr lang="en-US" dirty="0" smtClean="0"/>
              <a:t/>
            </a:r>
            <a:br>
              <a:rPr lang="en-US" dirty="0" smtClean="0"/>
            </a:br>
            <a:r>
              <a:rPr lang="en-US" dirty="0" smtClean="0"/>
              <a:t>Rule </a:t>
            </a:r>
            <a:r>
              <a:rPr lang="en-US" dirty="0"/>
              <a:t>Set </a:t>
            </a:r>
            <a:r>
              <a:rPr lang="en-US" dirty="0" smtClean="0"/>
              <a:t>Categories</a:t>
            </a:r>
            <a:endParaRPr lang="en-US" dirty="0"/>
          </a:p>
          <a:p>
            <a:pPr lvl="1"/>
            <a:r>
              <a:rPr lang="en-US" dirty="0" smtClean="0"/>
              <a:t>EventMessage</a:t>
            </a:r>
            <a:endParaRPr lang="en-US" dirty="0"/>
          </a:p>
          <a:p>
            <a:pPr lvl="1"/>
            <a:r>
              <a:rPr lang="en-US" dirty="0"/>
              <a:t>Preupdate</a:t>
            </a:r>
          </a:p>
          <a:p>
            <a:pPr lvl="1"/>
            <a:r>
              <a:rPr lang="en-US" dirty="0" smtClean="0"/>
              <a:t>Validation</a:t>
            </a:r>
          </a:p>
          <a:p>
            <a:r>
              <a:rPr lang="en-US" dirty="0"/>
              <a:t>Rule condition code resolves to true or false</a:t>
            </a:r>
          </a:p>
          <a:p>
            <a:r>
              <a:rPr lang="en-US" dirty="0"/>
              <a:t>When condition is true, Rule action code executes</a:t>
            </a:r>
          </a:p>
          <a:p>
            <a:pPr lvl="1"/>
            <a:endParaRPr lang="en-US" dirty="0"/>
          </a:p>
        </p:txBody>
      </p:sp>
      <p:sp>
        <p:nvSpPr>
          <p:cNvPr id="2" name="Content Placeholder 1"/>
          <p:cNvSpPr>
            <a:spLocks noGrp="1"/>
          </p:cNvSpPr>
          <p:nvPr>
            <p:ph idx="10"/>
          </p:nvPr>
        </p:nvSpPr>
        <p:spPr>
          <a:xfrm>
            <a:off x="521208" y="5410200"/>
            <a:ext cx="8321040" cy="990600"/>
          </a:xfrm>
        </p:spPr>
        <p:txBody>
          <a:bodyPr/>
          <a:lstStyle/>
          <a:p>
            <a:r>
              <a:rPr lang="en-US" dirty="0"/>
              <a:t>A </a:t>
            </a:r>
            <a:r>
              <a:rPr lang="en-US" b="1" dirty="0"/>
              <a:t>business </a:t>
            </a:r>
            <a:r>
              <a:rPr lang="en-US" b="1" dirty="0" smtClean="0"/>
              <a:t>rule </a:t>
            </a:r>
            <a:r>
              <a:rPr lang="en-US" dirty="0" smtClean="0"/>
              <a:t>written </a:t>
            </a:r>
            <a:r>
              <a:rPr lang="en-US" dirty="0"/>
              <a:t>in </a:t>
            </a:r>
            <a:r>
              <a:rPr lang="en-US" dirty="0" smtClean="0"/>
              <a:t>Gosu accomplishes </a:t>
            </a:r>
            <a:r>
              <a:rPr lang="en-US" dirty="0"/>
              <a:t>some task for a given entity, </a:t>
            </a:r>
            <a:r>
              <a:rPr lang="en-US" dirty="0" smtClean="0"/>
              <a:t>and executes </a:t>
            </a:r>
            <a:r>
              <a:rPr lang="en-US" dirty="0"/>
              <a:t>when a specific event occurs to instances of that entity</a:t>
            </a:r>
          </a:p>
          <a:p>
            <a:endParaRPr lang="en-US" dirty="0"/>
          </a:p>
          <a:p>
            <a:endParaRPr lang="en-US" dirty="0"/>
          </a:p>
        </p:txBody>
      </p:sp>
    </p:spTree>
    <p:extLst>
      <p:ext uri="{BB962C8B-B14F-4D97-AF65-F5344CB8AC3E}">
        <p14:creationId xmlns:p14="http://schemas.microsoft.com/office/powerpoint/2010/main" val="2182262562"/>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C:\Users\sluersen\AppData\Local\Temp\SNAGHTMLe26ff5.PNG"/>
          <p:cNvPicPr>
            <a:picLocks noChangeAspect="1" noChangeArrowheads="1"/>
          </p:cNvPicPr>
          <p:nvPr/>
        </p:nvPicPr>
        <p:blipFill rotWithShape="1">
          <a:blip r:embed="rId3">
            <a:extLst>
              <a:ext uri="{28A0092B-C50C-407E-A947-70E740481C1C}">
                <a14:useLocalDpi xmlns:a14="http://schemas.microsoft.com/office/drawing/2010/main" val="0"/>
              </a:ext>
            </a:extLst>
          </a:blip>
          <a:srcRect b="10402"/>
          <a:stretch/>
        </p:blipFill>
        <p:spPr bwMode="auto">
          <a:xfrm>
            <a:off x="714892" y="914401"/>
            <a:ext cx="4161908" cy="2476499"/>
          </a:xfrm>
          <a:prstGeom prst="rect">
            <a:avLst/>
          </a:prstGeom>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dirty="0" smtClean="0"/>
              <a:t>Rule set execution</a:t>
            </a:r>
            <a:endParaRPr lang="en-US" dirty="0"/>
          </a:p>
        </p:txBody>
      </p:sp>
      <p:sp>
        <p:nvSpPr>
          <p:cNvPr id="3" name="Content Placeholder 2"/>
          <p:cNvSpPr>
            <a:spLocks noGrp="1"/>
          </p:cNvSpPr>
          <p:nvPr>
            <p:ph sz="half" idx="2"/>
          </p:nvPr>
        </p:nvSpPr>
        <p:spPr>
          <a:xfrm>
            <a:off x="5105400" y="914401"/>
            <a:ext cx="3718560" cy="5475289"/>
          </a:xfrm>
        </p:spPr>
        <p:txBody>
          <a:bodyPr/>
          <a:lstStyle/>
          <a:p>
            <a:r>
              <a:rPr lang="en-US" dirty="0" smtClean="0"/>
              <a:t>Rules executed after triggering event</a:t>
            </a:r>
          </a:p>
          <a:p>
            <a:r>
              <a:rPr lang="en-US" dirty="0" smtClean="0"/>
              <a:t>Rule execution follows order </a:t>
            </a:r>
            <a:r>
              <a:rPr lang="en-US" dirty="0"/>
              <a:t>listed in </a:t>
            </a:r>
            <a:r>
              <a:rPr lang="en-US" dirty="0" smtClean="0"/>
              <a:t>Studio</a:t>
            </a:r>
            <a:endParaRPr lang="en-US" dirty="0"/>
          </a:p>
          <a:p>
            <a:r>
              <a:rPr lang="en-US" dirty="0" smtClean="0"/>
              <a:t>Per node, Rules are executed in a hierarchy of rules</a:t>
            </a:r>
          </a:p>
          <a:p>
            <a:r>
              <a:rPr lang="en-US" dirty="0" smtClean="0"/>
              <a:t>If parent </a:t>
            </a:r>
            <a:r>
              <a:rPr lang="en-US" dirty="0"/>
              <a:t>rule condition is </a:t>
            </a:r>
            <a:r>
              <a:rPr lang="en-US" dirty="0" smtClean="0"/>
              <a:t>true, then child rules executed</a:t>
            </a:r>
            <a:endParaRPr lang="en-US" dirty="0"/>
          </a:p>
          <a:p>
            <a:endParaRPr lang="en-US" dirty="0"/>
          </a:p>
        </p:txBody>
      </p:sp>
      <p:sp>
        <p:nvSpPr>
          <p:cNvPr id="2055" name="Arc 2054"/>
          <p:cNvSpPr/>
          <p:nvPr/>
        </p:nvSpPr>
        <p:spPr bwMode="auto">
          <a:xfrm flipH="1">
            <a:off x="543537" y="1462305"/>
            <a:ext cx="476155" cy="275124"/>
          </a:xfrm>
          <a:prstGeom prst="arc">
            <a:avLst>
              <a:gd name="adj1" fmla="val 16200000"/>
              <a:gd name="adj2" fmla="val 5436811"/>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40" name="Arc 39"/>
          <p:cNvSpPr/>
          <p:nvPr/>
        </p:nvSpPr>
        <p:spPr bwMode="auto">
          <a:xfrm flipH="1">
            <a:off x="772184" y="2416047"/>
            <a:ext cx="476155" cy="275124"/>
          </a:xfrm>
          <a:prstGeom prst="arc">
            <a:avLst>
              <a:gd name="adj1" fmla="val 16200000"/>
              <a:gd name="adj2" fmla="val 5806353"/>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41" name="Arc 40"/>
          <p:cNvSpPr/>
          <p:nvPr/>
        </p:nvSpPr>
        <p:spPr bwMode="auto">
          <a:xfrm flipH="1">
            <a:off x="1496037" y="3048000"/>
            <a:ext cx="476155" cy="275124"/>
          </a:xfrm>
          <a:prstGeom prst="arc">
            <a:avLst>
              <a:gd name="adj1" fmla="val 16200000"/>
              <a:gd name="adj2" fmla="val 9069165"/>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43" name="Arc 42"/>
          <p:cNvSpPr/>
          <p:nvPr/>
        </p:nvSpPr>
        <p:spPr bwMode="auto">
          <a:xfrm flipH="1">
            <a:off x="534107" y="1805205"/>
            <a:ext cx="476155" cy="275124"/>
          </a:xfrm>
          <a:prstGeom prst="arc">
            <a:avLst>
              <a:gd name="adj1" fmla="val 16200000"/>
              <a:gd name="adj2" fmla="val 5436811"/>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44" name="Arc 43"/>
          <p:cNvSpPr/>
          <p:nvPr/>
        </p:nvSpPr>
        <p:spPr bwMode="auto">
          <a:xfrm flipH="1">
            <a:off x="534107" y="2114550"/>
            <a:ext cx="476155" cy="275124"/>
          </a:xfrm>
          <a:prstGeom prst="arc">
            <a:avLst>
              <a:gd name="adj1" fmla="val 16200000"/>
              <a:gd name="adj2" fmla="val 5436811"/>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45" name="Arc 44"/>
          <p:cNvSpPr/>
          <p:nvPr/>
        </p:nvSpPr>
        <p:spPr bwMode="auto">
          <a:xfrm flipH="1">
            <a:off x="1124419" y="2691171"/>
            <a:ext cx="476155" cy="275124"/>
          </a:xfrm>
          <a:prstGeom prst="arc">
            <a:avLst>
              <a:gd name="adj1" fmla="val 16200000"/>
              <a:gd name="adj2" fmla="val 5806353"/>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Tree>
    <p:extLst>
      <p:ext uri="{BB962C8B-B14F-4D97-AF65-F5344CB8AC3E}">
        <p14:creationId xmlns:p14="http://schemas.microsoft.com/office/powerpoint/2010/main" val="2433670752"/>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Rule set editor</a:t>
            </a:r>
            <a:endParaRPr lang="en-US" dirty="0"/>
          </a:p>
        </p:txBody>
      </p:sp>
      <p:sp>
        <p:nvSpPr>
          <p:cNvPr id="6" name="txt Rule Hiearchy"/>
          <p:cNvSpPr>
            <a:spLocks noGrp="1"/>
          </p:cNvSpPr>
          <p:nvPr>
            <p:ph sz="half" idx="1"/>
          </p:nvPr>
        </p:nvSpPr>
        <p:spPr>
          <a:xfrm>
            <a:off x="519113" y="4038600"/>
            <a:ext cx="4083050" cy="2362198"/>
          </a:xfrm>
        </p:spPr>
        <p:txBody>
          <a:bodyPr/>
          <a:lstStyle/>
          <a:p>
            <a:r>
              <a:rPr lang="en-US" dirty="0" smtClean="0"/>
              <a:t>Rule Hierarchy</a:t>
            </a:r>
          </a:p>
          <a:p>
            <a:pPr lvl="1"/>
            <a:r>
              <a:rPr lang="en-US" dirty="0" smtClean="0"/>
              <a:t>Context menu </a:t>
            </a:r>
          </a:p>
          <a:p>
            <a:pPr lvl="1"/>
            <a:r>
              <a:rPr lang="en-US" dirty="0" smtClean="0"/>
              <a:t>Activate/Deactivate </a:t>
            </a:r>
            <a:r>
              <a:rPr lang="en-US" dirty="0"/>
              <a:t>checkbox</a:t>
            </a:r>
          </a:p>
          <a:p>
            <a:pPr lvl="1"/>
            <a:r>
              <a:rPr lang="en-US" dirty="0"/>
              <a:t>Drag-and-drop </a:t>
            </a:r>
            <a:r>
              <a:rPr lang="en-US" dirty="0" smtClean="0"/>
              <a:t>ordering</a:t>
            </a:r>
            <a:endParaRPr lang="en-US" dirty="0"/>
          </a:p>
        </p:txBody>
      </p:sp>
      <p:sp>
        <p:nvSpPr>
          <p:cNvPr id="7" name="txt Rule Editor"/>
          <p:cNvSpPr>
            <a:spLocks noGrp="1"/>
          </p:cNvSpPr>
          <p:nvPr>
            <p:ph sz="half" idx="2"/>
          </p:nvPr>
        </p:nvSpPr>
        <p:spPr>
          <a:xfrm>
            <a:off x="4754563" y="4033551"/>
            <a:ext cx="4083050" cy="2156789"/>
          </a:xfrm>
        </p:spPr>
        <p:txBody>
          <a:bodyPr/>
          <a:lstStyle/>
          <a:p>
            <a:r>
              <a:rPr lang="en-US" dirty="0"/>
              <a:t>Rule Editor</a:t>
            </a:r>
          </a:p>
          <a:p>
            <a:pPr lvl="1"/>
            <a:r>
              <a:rPr lang="en-US" dirty="0" smtClean="0"/>
              <a:t>Overlays segment Uses, Condition, and Action</a:t>
            </a:r>
          </a:p>
          <a:p>
            <a:r>
              <a:rPr lang="en-US" dirty="0" smtClean="0"/>
              <a:t>IMPORTANT</a:t>
            </a:r>
          </a:p>
          <a:p>
            <a:pPr lvl="1"/>
            <a:r>
              <a:rPr lang="en-US" dirty="0" smtClean="0"/>
              <a:t>Do NOT delete keyword return in condition</a:t>
            </a:r>
          </a:p>
          <a:p>
            <a:pPr lvl="1"/>
            <a:endParaRPr lang="en-US" dirty="0"/>
          </a:p>
          <a:p>
            <a:endParaRPr lang="en-US" dirty="0"/>
          </a:p>
        </p:txBody>
      </p:sp>
      <p:pic>
        <p:nvPicPr>
          <p:cNvPr id="6146" name="pic Edito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268" y="1447800"/>
            <a:ext cx="8297932" cy="2478203"/>
          </a:xfrm>
          <a:prstGeom prst="rect">
            <a:avLst/>
          </a:prstGeom>
          <a:noFill/>
          <a:ln w="9525">
            <a:solidFill>
              <a:srgbClr val="000000"/>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8" name="recEditor"/>
          <p:cNvSpPr/>
          <p:nvPr/>
        </p:nvSpPr>
        <p:spPr bwMode="auto">
          <a:xfrm>
            <a:off x="2992820" y="1640003"/>
            <a:ext cx="5816246" cy="2179320"/>
          </a:xfrm>
          <a:prstGeom prst="roundRect">
            <a:avLst>
              <a:gd name="adj" fmla="val 2476"/>
            </a:avLst>
          </a:prstGeom>
          <a:noFill/>
          <a:ln w="19050" algn="ctr">
            <a:solidFill>
              <a:schemeClr val="accent4"/>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9" name="rec ProjectWindow"/>
          <p:cNvSpPr/>
          <p:nvPr/>
        </p:nvSpPr>
        <p:spPr bwMode="auto">
          <a:xfrm>
            <a:off x="541268" y="1642822"/>
            <a:ext cx="2354332" cy="2192641"/>
          </a:xfrm>
          <a:prstGeom prst="roundRect">
            <a:avLst>
              <a:gd name="adj" fmla="val 2402"/>
            </a:avLst>
          </a:prstGeom>
          <a:noFill/>
          <a:ln w="19050" algn="ctr">
            <a:solidFill>
              <a:schemeClr val="accent6"/>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10" name="Rounded Rectangle 9"/>
          <p:cNvSpPr/>
          <p:nvPr/>
        </p:nvSpPr>
        <p:spPr bwMode="auto">
          <a:xfrm>
            <a:off x="425918" y="3261674"/>
            <a:ext cx="1752600" cy="304800"/>
          </a:xfrm>
          <a:prstGeom prst="roundRect">
            <a:avLst/>
          </a:prstGeom>
          <a:solidFill>
            <a:schemeClr val="tx1"/>
          </a:solidFill>
          <a:ln w="19050" algn="ctr">
            <a:solidFill>
              <a:schemeClr val="accent6"/>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dirty="0" smtClean="0">
                <a:solidFill>
                  <a:schemeClr val="bg1"/>
                </a:solidFill>
              </a:rPr>
              <a:t>Rule Hierarchy</a:t>
            </a:r>
            <a:endParaRPr lang="en-US" dirty="0">
              <a:solidFill>
                <a:schemeClr val="bg1"/>
              </a:solidFill>
            </a:endParaRPr>
          </a:p>
        </p:txBody>
      </p:sp>
      <p:sp>
        <p:nvSpPr>
          <p:cNvPr id="11" name="Rounded Rectangle 10"/>
          <p:cNvSpPr/>
          <p:nvPr/>
        </p:nvSpPr>
        <p:spPr bwMode="auto">
          <a:xfrm>
            <a:off x="6629400" y="1524000"/>
            <a:ext cx="1828800" cy="304800"/>
          </a:xfrm>
          <a:prstGeom prst="roundRect">
            <a:avLst/>
          </a:prstGeom>
          <a:solidFill>
            <a:schemeClr val="tx1"/>
          </a:solidFill>
          <a:ln w="19050" algn="ctr">
            <a:solidFill>
              <a:schemeClr val="accent4"/>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dirty="0" smtClean="0">
                <a:solidFill>
                  <a:schemeClr val="bg1"/>
                </a:solidFill>
              </a:rPr>
              <a:t>Rule Editor</a:t>
            </a:r>
            <a:endParaRPr lang="en-US" dirty="0">
              <a:solidFill>
                <a:schemeClr val="bg1"/>
              </a:solidFill>
            </a:endParaRPr>
          </a:p>
        </p:txBody>
      </p:sp>
      <p:sp>
        <p:nvSpPr>
          <p:cNvPr id="17" name="txt View Edit Rule Restart"/>
          <p:cNvSpPr txBox="1">
            <a:spLocks/>
          </p:cNvSpPr>
          <p:nvPr/>
        </p:nvSpPr>
        <p:spPr>
          <a:xfrm>
            <a:off x="425918" y="914400"/>
            <a:ext cx="8321040" cy="1219200"/>
          </a:xfrm>
          <a:prstGeom prst="rect">
            <a:avLst/>
          </a:prstGeom>
        </p:spPr>
        <p:txBody>
          <a:bodyPr/>
          <a:lstStyle>
            <a:lvl1pPr marL="285750" indent="-285750" algn="l" rtl="0" eaLnBrk="1" fontAlgn="base" hangingPunct="1">
              <a:spcBef>
                <a:spcPct val="40000"/>
              </a:spcBef>
              <a:spcAft>
                <a:spcPct val="0"/>
              </a:spcAft>
              <a:buClr>
                <a:srgbClr val="04628C"/>
              </a:buClr>
              <a:buSzPct val="90000"/>
              <a:buFont typeface="Arial" charset="0"/>
              <a:buChar char="•"/>
              <a:defRPr sz="2400">
                <a:solidFill>
                  <a:schemeClr val="bg1"/>
                </a:solidFill>
                <a:latin typeface="+mn-lt"/>
                <a:ea typeface="Calibri" pitchFamily="34" charset="0"/>
                <a:cs typeface="Calibri" pitchFamily="34" charset="0"/>
              </a:defRPr>
            </a:lvl1pPr>
            <a:lvl2pPr marL="628650" indent="-228600" algn="l" rtl="0" eaLnBrk="1" fontAlgn="base" hangingPunct="1">
              <a:spcBef>
                <a:spcPct val="20000"/>
              </a:spcBef>
              <a:spcAft>
                <a:spcPct val="0"/>
              </a:spcAft>
              <a:buClr>
                <a:srgbClr val="04628C"/>
              </a:buClr>
              <a:buSzPct val="90000"/>
              <a:buFont typeface="Arial" charset="0"/>
              <a:buChar char="-"/>
              <a:defRPr sz="2000">
                <a:solidFill>
                  <a:schemeClr val="bg1"/>
                </a:solidFill>
                <a:latin typeface="+mn-lt"/>
                <a:ea typeface="Calibri" pitchFamily="34" charset="0"/>
                <a:cs typeface="Calibri" pitchFamily="34" charset="0"/>
              </a:defRPr>
            </a:lvl2pPr>
            <a:lvl3pPr marL="969963" indent="-227013" algn="l" rtl="0" eaLnBrk="1" fontAlgn="base" hangingPunct="1">
              <a:spcBef>
                <a:spcPct val="20000"/>
              </a:spcBef>
              <a:spcAft>
                <a:spcPct val="0"/>
              </a:spcAft>
              <a:buClr>
                <a:srgbClr val="04628C"/>
              </a:buClr>
              <a:buSzPct val="85000"/>
              <a:buFont typeface="Arial" charset="0"/>
              <a:buChar char="-"/>
              <a:defRPr sz="1800">
                <a:solidFill>
                  <a:schemeClr val="bg1"/>
                </a:solidFill>
                <a:latin typeface="+mn-lt"/>
                <a:ea typeface="Calibri" pitchFamily="34" charset="0"/>
                <a:cs typeface="Calibri" pitchFamily="34" charset="0"/>
              </a:defRPr>
            </a:lvl3pPr>
            <a:lvl4pPr marL="1376363" indent="-292100" algn="l" rtl="0" eaLnBrk="1" fontAlgn="base" hangingPunct="1">
              <a:spcBef>
                <a:spcPct val="20000"/>
              </a:spcBef>
              <a:spcAft>
                <a:spcPct val="0"/>
              </a:spcAft>
              <a:buClr>
                <a:srgbClr val="04628C"/>
              </a:buClr>
              <a:buSzPct val="85000"/>
              <a:buFont typeface="Arial" charset="0"/>
              <a:buChar char="-"/>
              <a:defRPr sz="1600">
                <a:solidFill>
                  <a:schemeClr val="bg1"/>
                </a:solidFill>
                <a:latin typeface="+mn-lt"/>
                <a:ea typeface="Calibri" pitchFamily="34" charset="0"/>
                <a:cs typeface="Calibri" pitchFamily="34" charset="0"/>
              </a:defRPr>
            </a:lvl4pPr>
            <a:lvl5pPr marL="1941513" indent="-225425" algn="l" rtl="0" eaLnBrk="1" fontAlgn="base" hangingPunct="1">
              <a:spcBef>
                <a:spcPct val="20000"/>
              </a:spcBef>
              <a:spcAft>
                <a:spcPct val="0"/>
              </a:spcAft>
              <a:buClr>
                <a:srgbClr val="0146AD"/>
              </a:buClr>
              <a:buSzPct val="120000"/>
              <a:buChar char="•"/>
              <a:defRPr sz="1400">
                <a:solidFill>
                  <a:schemeClr val="bg1"/>
                </a:solidFill>
                <a:latin typeface="+mn-lt"/>
                <a:ea typeface="Calibri" pitchFamily="34" charset="0"/>
                <a:cs typeface="Calibri" pitchFamily="34"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a:lstStyle>
          <a:p>
            <a:r>
              <a:rPr lang="en-US" kern="0" dirty="0" smtClean="0"/>
              <a:t>View and edit Rule Set and Rules</a:t>
            </a:r>
          </a:p>
        </p:txBody>
      </p:sp>
    </p:spTree>
    <p:extLst>
      <p:ext uri="{BB962C8B-B14F-4D97-AF65-F5344CB8AC3E}">
        <p14:creationId xmlns:p14="http://schemas.microsoft.com/office/powerpoint/2010/main" val="3200448673"/>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Event Fired rule set</a:t>
            </a:r>
            <a:endParaRPr lang="en-US" dirty="0"/>
          </a:p>
        </p:txBody>
      </p:sp>
      <p:sp>
        <p:nvSpPr>
          <p:cNvPr id="3" name="Content Placeholder 2"/>
          <p:cNvSpPr>
            <a:spLocks noGrp="1"/>
          </p:cNvSpPr>
          <p:nvPr>
            <p:ph sz="half" idx="1"/>
          </p:nvPr>
        </p:nvSpPr>
        <p:spPr/>
        <p:txBody>
          <a:bodyPr/>
          <a:lstStyle/>
          <a:p>
            <a:r>
              <a:rPr lang="en-US" dirty="0" smtClean="0"/>
              <a:t>Responsible for </a:t>
            </a:r>
          </a:p>
          <a:p>
            <a:pPr lvl="1"/>
            <a:r>
              <a:rPr lang="en-US" dirty="0" smtClean="0"/>
              <a:t>Creating messages</a:t>
            </a:r>
          </a:p>
          <a:p>
            <a:pPr lvl="1"/>
            <a:r>
              <a:rPr lang="en-US" dirty="0" smtClean="0"/>
              <a:t>Generating message payloads</a:t>
            </a:r>
            <a:endParaRPr lang="en-US" dirty="0"/>
          </a:p>
        </p:txBody>
      </p:sp>
      <p:sp>
        <p:nvSpPr>
          <p:cNvPr id="4" name="Content Placeholder 3"/>
          <p:cNvSpPr>
            <a:spLocks noGrp="1"/>
          </p:cNvSpPr>
          <p:nvPr>
            <p:ph sz="half" idx="2"/>
          </p:nvPr>
        </p:nvSpPr>
        <p:spPr/>
        <p:txBody>
          <a:bodyPr/>
          <a:lstStyle/>
          <a:p>
            <a:r>
              <a:rPr lang="en-US" dirty="0" smtClean="0"/>
              <a:t>NOT </a:t>
            </a:r>
            <a:r>
              <a:rPr lang="en-US" dirty="0"/>
              <a:t>responsible for:</a:t>
            </a:r>
          </a:p>
          <a:p>
            <a:pPr lvl="1"/>
            <a:r>
              <a:rPr lang="en-US" dirty="0" smtClean="0"/>
              <a:t>Sending messages</a:t>
            </a:r>
          </a:p>
          <a:p>
            <a:pPr lvl="2"/>
            <a:r>
              <a:rPr lang="en-US" dirty="0" smtClean="0"/>
              <a:t>Transport plugins sends</a:t>
            </a:r>
          </a:p>
          <a:p>
            <a:pPr lvl="1"/>
            <a:r>
              <a:rPr lang="en-US" dirty="0" smtClean="0"/>
              <a:t>Acknowledging messages</a:t>
            </a:r>
          </a:p>
          <a:p>
            <a:pPr lvl="2"/>
            <a:r>
              <a:rPr lang="en-US" dirty="0" smtClean="0"/>
              <a:t>Transport or reply plugins acknowledge message</a:t>
            </a:r>
          </a:p>
          <a:p>
            <a:endParaRPr lang="en-US" dirty="0"/>
          </a:p>
        </p:txBody>
      </p:sp>
      <p:pic>
        <p:nvPicPr>
          <p:cNvPr id="6146" name="Picture 2" descr="C:\Users\sluersen\AppData\Local\Temp\SNAGHTMLd220bd.PNG" hidden="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23495" y="6499452"/>
            <a:ext cx="3763809" cy="3268572"/>
          </a:xfrm>
          <a:prstGeom prst="rect">
            <a:avLst/>
          </a:prstGeom>
          <a:noFill/>
          <a:ln w="9525">
            <a:solidFill>
              <a:srgbClr val="000000"/>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3" name="Picture 3" hidden="1"/>
          <p:cNvPicPr>
            <a:picLocks noChangeAspect="1" noChangeArrowheads="1"/>
          </p:cNvPicPr>
          <p:nvPr/>
        </p:nvPicPr>
        <p:blipFill rotWithShape="1">
          <a:blip r:embed="rId4">
            <a:extLst>
              <a:ext uri="{28A0092B-C50C-407E-A947-70E740481C1C}">
                <a14:useLocalDpi xmlns:a14="http://schemas.microsoft.com/office/drawing/2010/main" val="0"/>
              </a:ext>
            </a:extLst>
          </a:blip>
          <a:srcRect b="44632"/>
          <a:stretch/>
        </p:blipFill>
        <p:spPr bwMode="auto">
          <a:xfrm>
            <a:off x="-1828800" y="5294540"/>
            <a:ext cx="3268766" cy="2371725"/>
          </a:xfrm>
          <a:prstGeom prst="rect">
            <a:avLst/>
          </a:prstGeom>
          <a:noFill/>
          <a:ln w="9525">
            <a:solidFill>
              <a:srgbClr val="000000"/>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15" name="Text Box 4"/>
          <p:cNvSpPr txBox="1">
            <a:spLocks noChangeArrowheads="1"/>
          </p:cNvSpPr>
          <p:nvPr/>
        </p:nvSpPr>
        <p:spPr bwMode="auto">
          <a:xfrm>
            <a:off x="4694647" y="3710392"/>
            <a:ext cx="1172753"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eaLnBrk="1" hangingPunct="1">
              <a:spcAft>
                <a:spcPct val="30000"/>
              </a:spcAft>
              <a:buClr>
                <a:schemeClr val="tx1"/>
              </a:buClr>
              <a:buFontTx/>
              <a:buNone/>
            </a:pPr>
            <a:r>
              <a:rPr lang="en-US" sz="1600" dirty="0" smtClean="0">
                <a:solidFill>
                  <a:schemeClr val="bg1"/>
                </a:solidFill>
              </a:rPr>
              <a:t>Event Fired Rules</a:t>
            </a:r>
            <a:endParaRPr lang="en-US" sz="1600" dirty="0">
              <a:solidFill>
                <a:schemeClr val="bg1"/>
              </a:solidFill>
            </a:endParaRPr>
          </a:p>
        </p:txBody>
      </p:sp>
      <p:sp>
        <p:nvSpPr>
          <p:cNvPr id="21" name="Rectangle 101"/>
          <p:cNvSpPr>
            <a:spLocks noChangeArrowheads="1"/>
          </p:cNvSpPr>
          <p:nvPr/>
        </p:nvSpPr>
        <p:spPr bwMode="auto">
          <a:xfrm>
            <a:off x="3576637" y="4267200"/>
            <a:ext cx="1828800" cy="2011680"/>
          </a:xfrm>
          <a:prstGeom prst="rect">
            <a:avLst/>
          </a:prstGeom>
          <a:noFill/>
          <a:ln w="28575" algn="ctr">
            <a:solidFill>
              <a:srgbClr val="6666FF"/>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dirty="0"/>
          </a:p>
        </p:txBody>
      </p:sp>
      <p:sp>
        <p:nvSpPr>
          <p:cNvPr id="22" name="Rectangle 85"/>
          <p:cNvSpPr>
            <a:spLocks noChangeArrowheads="1"/>
          </p:cNvSpPr>
          <p:nvPr/>
        </p:nvSpPr>
        <p:spPr bwMode="auto">
          <a:xfrm>
            <a:off x="1069566" y="4265880"/>
            <a:ext cx="1828800" cy="2011680"/>
          </a:xfrm>
          <a:prstGeom prst="rect">
            <a:avLst/>
          </a:prstGeom>
          <a:noFill/>
          <a:ln w="28575" algn="ctr">
            <a:solidFill>
              <a:srgbClr val="A50021"/>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dirty="0"/>
          </a:p>
        </p:txBody>
      </p:sp>
      <p:sp>
        <p:nvSpPr>
          <p:cNvPr id="23" name="Line 2"/>
          <p:cNvSpPr>
            <a:spLocks noChangeShapeType="1"/>
          </p:cNvSpPr>
          <p:nvPr/>
        </p:nvSpPr>
        <p:spPr bwMode="auto">
          <a:xfrm>
            <a:off x="2560638" y="5183910"/>
            <a:ext cx="3281362" cy="0"/>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34" name="Text Box 14"/>
          <p:cNvSpPr txBox="1">
            <a:spLocks noChangeArrowheads="1"/>
          </p:cNvSpPr>
          <p:nvPr/>
        </p:nvSpPr>
        <p:spPr bwMode="auto">
          <a:xfrm>
            <a:off x="1368425" y="5472835"/>
            <a:ext cx="103822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sz="1600" dirty="0">
                <a:solidFill>
                  <a:schemeClr val="bg1"/>
                </a:solidFill>
              </a:rPr>
              <a:t>message</a:t>
            </a:r>
            <a:br>
              <a:rPr lang="en-US" sz="1600" dirty="0">
                <a:solidFill>
                  <a:schemeClr val="bg1"/>
                </a:solidFill>
              </a:rPr>
            </a:br>
            <a:r>
              <a:rPr lang="en-US" sz="1600" dirty="0">
                <a:solidFill>
                  <a:schemeClr val="bg1"/>
                </a:solidFill>
              </a:rPr>
              <a:t>context</a:t>
            </a:r>
          </a:p>
        </p:txBody>
      </p:sp>
      <p:sp>
        <p:nvSpPr>
          <p:cNvPr id="80" name="Text Box 84"/>
          <p:cNvSpPr txBox="1">
            <a:spLocks noChangeArrowheads="1"/>
          </p:cNvSpPr>
          <p:nvPr/>
        </p:nvSpPr>
        <p:spPr bwMode="auto">
          <a:xfrm>
            <a:off x="3946525" y="5472835"/>
            <a:ext cx="11557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sz="1600" dirty="0">
                <a:solidFill>
                  <a:schemeClr val="bg1"/>
                </a:solidFill>
              </a:rPr>
              <a:t>message</a:t>
            </a:r>
          </a:p>
        </p:txBody>
      </p:sp>
      <p:sp>
        <p:nvSpPr>
          <p:cNvPr id="86" name="Text Box 4"/>
          <p:cNvSpPr txBox="1">
            <a:spLocks noChangeArrowheads="1"/>
          </p:cNvSpPr>
          <p:nvPr/>
        </p:nvSpPr>
        <p:spPr bwMode="auto">
          <a:xfrm>
            <a:off x="1905000" y="3962400"/>
            <a:ext cx="117650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eaLnBrk="1" hangingPunct="1">
              <a:spcAft>
                <a:spcPct val="30000"/>
              </a:spcAft>
              <a:buClr>
                <a:schemeClr val="tx1"/>
              </a:buClr>
              <a:buFontTx/>
              <a:buNone/>
            </a:pPr>
            <a:r>
              <a:rPr lang="en-US" sz="1600" dirty="0" smtClean="0">
                <a:solidFill>
                  <a:schemeClr val="bg1"/>
                </a:solidFill>
              </a:rPr>
              <a:t>Destination</a:t>
            </a:r>
            <a:endParaRPr lang="en-US" sz="1600" dirty="0">
              <a:solidFill>
                <a:schemeClr val="bg1"/>
              </a:solidFill>
            </a:endParaRPr>
          </a:p>
        </p:txBody>
      </p:sp>
      <p:pic>
        <p:nvPicPr>
          <p:cNvPr id="78" name="icn Rule Set"/>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581400" y="3241709"/>
            <a:ext cx="1135982" cy="1025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9" name="icn Msg Context"/>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62494" y="4560221"/>
            <a:ext cx="967314" cy="92711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7" name="icn Ms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26422" y="4886253"/>
            <a:ext cx="745588" cy="4797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4" name="Picture 8"/>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368425" y="2971800"/>
            <a:ext cx="958095" cy="118651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29" name="tbl XX_Msg"/>
          <p:cNvGraphicFramePr>
            <a:graphicFrameLocks noGrp="1"/>
          </p:cNvGraphicFramePr>
          <p:nvPr>
            <p:extLst>
              <p:ext uri="{D42A27DB-BD31-4B8C-83A1-F6EECF244321}">
                <p14:modId xmlns:p14="http://schemas.microsoft.com/office/powerpoint/2010/main" val="427538609"/>
              </p:ext>
            </p:extLst>
          </p:nvPr>
        </p:nvGraphicFramePr>
        <p:xfrm>
          <a:off x="5867400" y="4648200"/>
          <a:ext cx="1600200" cy="1402080"/>
        </p:xfrm>
        <a:graphic>
          <a:graphicData uri="http://schemas.openxmlformats.org/drawingml/2006/table">
            <a:tbl>
              <a:tblPr firstRow="1" bandRow="1">
                <a:effectLst>
                  <a:outerShdw blurRad="50800" dist="38100" dir="2700000" algn="tl" rotWithShape="0">
                    <a:prstClr val="black">
                      <a:alpha val="40000"/>
                    </a:prstClr>
                  </a:outerShdw>
                </a:effectLst>
                <a:tableStyleId>{93296810-A885-4BE3-A3E7-6D5BEEA58F35}</a:tableStyleId>
              </a:tblPr>
              <a:tblGrid>
                <a:gridCol w="533400"/>
                <a:gridCol w="533400"/>
                <a:gridCol w="533400"/>
              </a:tblGrid>
              <a:tr h="317500">
                <a:tc gridSpan="3">
                  <a:txBody>
                    <a:bodyPr/>
                    <a:lstStyle/>
                    <a:p>
                      <a:pPr algn="ctr"/>
                      <a:r>
                        <a:rPr lang="en-US" sz="1600" dirty="0" smtClean="0"/>
                        <a:t>xx_message</a:t>
                      </a:r>
                      <a:endParaRPr lang="en-US" sz="1600" dirty="0"/>
                    </a:p>
                  </a:txBody>
                  <a:tcPr/>
                </a:tc>
                <a:tc hMerge="1">
                  <a:txBody>
                    <a:bodyPr/>
                    <a:lstStyle/>
                    <a:p>
                      <a:endParaRPr lang="en-US" dirty="0"/>
                    </a:p>
                  </a:txBody>
                  <a:tcPr/>
                </a:tc>
                <a:tc hMerge="1">
                  <a:txBody>
                    <a:bodyPr/>
                    <a:lstStyle/>
                    <a:p>
                      <a:endParaRPr lang="en-US" dirty="0"/>
                    </a:p>
                  </a:txBody>
                  <a:tcPr/>
                </a:tc>
              </a:tr>
              <a:tr h="211485">
                <a:tc>
                  <a:txBody>
                    <a:bodyPr/>
                    <a:lstStyle/>
                    <a:p>
                      <a:endParaRPr lang="en-US" sz="800" dirty="0"/>
                    </a:p>
                  </a:txBody>
                  <a:tcPr/>
                </a:tc>
                <a:tc>
                  <a:txBody>
                    <a:bodyPr/>
                    <a:lstStyle/>
                    <a:p>
                      <a:endParaRPr lang="en-US" sz="800" dirty="0"/>
                    </a:p>
                  </a:txBody>
                  <a:tcPr/>
                </a:tc>
                <a:tc>
                  <a:txBody>
                    <a:bodyPr/>
                    <a:lstStyle/>
                    <a:p>
                      <a:endParaRPr lang="en-US" sz="800" dirty="0"/>
                    </a:p>
                  </a:txBody>
                  <a:tcPr/>
                </a:tc>
              </a:tr>
              <a:tr h="202719">
                <a:tc>
                  <a:txBody>
                    <a:bodyPr/>
                    <a:lstStyle/>
                    <a:p>
                      <a:endParaRPr lang="en-US" sz="800" dirty="0"/>
                    </a:p>
                  </a:txBody>
                  <a:tcPr/>
                </a:tc>
                <a:tc>
                  <a:txBody>
                    <a:bodyPr/>
                    <a:lstStyle/>
                    <a:p>
                      <a:endParaRPr lang="en-US" sz="800" dirty="0"/>
                    </a:p>
                  </a:txBody>
                  <a:tcPr/>
                </a:tc>
                <a:tc>
                  <a:txBody>
                    <a:bodyPr/>
                    <a:lstStyle/>
                    <a:p>
                      <a:endParaRPr lang="en-US" sz="800"/>
                    </a:p>
                  </a:txBody>
                  <a:tcPr/>
                </a:tc>
              </a:tr>
              <a:tr h="202719">
                <a:tc>
                  <a:txBody>
                    <a:bodyPr/>
                    <a:lstStyle/>
                    <a:p>
                      <a:endParaRPr lang="en-US" sz="800" dirty="0"/>
                    </a:p>
                  </a:txBody>
                  <a:tcPr/>
                </a:tc>
                <a:tc>
                  <a:txBody>
                    <a:bodyPr/>
                    <a:lstStyle/>
                    <a:p>
                      <a:endParaRPr lang="en-US" sz="800" dirty="0"/>
                    </a:p>
                  </a:txBody>
                  <a:tcPr/>
                </a:tc>
                <a:tc>
                  <a:txBody>
                    <a:bodyPr/>
                    <a:lstStyle/>
                    <a:p>
                      <a:endParaRPr lang="en-US" sz="800" dirty="0"/>
                    </a:p>
                  </a:txBody>
                  <a:tcPr/>
                </a:tc>
              </a:tr>
              <a:tr h="202719">
                <a:tc>
                  <a:txBody>
                    <a:bodyPr/>
                    <a:lstStyle/>
                    <a:p>
                      <a:endParaRPr lang="en-US" sz="800"/>
                    </a:p>
                  </a:txBody>
                  <a:tcPr/>
                </a:tc>
                <a:tc>
                  <a:txBody>
                    <a:bodyPr/>
                    <a:lstStyle/>
                    <a:p>
                      <a:endParaRPr lang="en-US" sz="800" dirty="0"/>
                    </a:p>
                  </a:txBody>
                  <a:tcPr/>
                </a:tc>
                <a:tc>
                  <a:txBody>
                    <a:bodyPr/>
                    <a:lstStyle/>
                    <a:p>
                      <a:endParaRPr lang="en-US" sz="800" dirty="0"/>
                    </a:p>
                  </a:txBody>
                  <a:tcPr/>
                </a:tc>
              </a:tr>
              <a:tr h="202719">
                <a:tc>
                  <a:txBody>
                    <a:bodyPr/>
                    <a:lstStyle/>
                    <a:p>
                      <a:endParaRPr lang="en-US" sz="800"/>
                    </a:p>
                  </a:txBody>
                  <a:tcPr/>
                </a:tc>
                <a:tc>
                  <a:txBody>
                    <a:bodyPr/>
                    <a:lstStyle/>
                    <a:p>
                      <a:endParaRPr lang="en-US" sz="800" dirty="0"/>
                    </a:p>
                  </a:txBody>
                  <a:tcPr/>
                </a:tc>
                <a:tc>
                  <a:txBody>
                    <a:bodyPr/>
                    <a:lstStyle/>
                    <a:p>
                      <a:endParaRPr lang="en-US" sz="800" dirty="0"/>
                    </a:p>
                  </a:txBody>
                  <a:tcPr/>
                </a:tc>
              </a:tr>
            </a:tbl>
          </a:graphicData>
        </a:graphic>
      </p:graphicFrame>
    </p:spTree>
    <p:extLst>
      <p:ext uri="{BB962C8B-B14F-4D97-AF65-F5344CB8AC3E}">
        <p14:creationId xmlns:p14="http://schemas.microsoft.com/office/powerpoint/2010/main" val="1117182366"/>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Event Fired </a:t>
            </a:r>
            <a:r>
              <a:rPr lang="en-US" dirty="0"/>
              <a:t>rule set </a:t>
            </a:r>
            <a:r>
              <a:rPr lang="en-US" dirty="0" smtClean="0"/>
              <a:t>hierarchy structure</a:t>
            </a:r>
            <a:endParaRPr lang="en-US" dirty="0"/>
          </a:p>
        </p:txBody>
      </p:sp>
      <p:sp>
        <p:nvSpPr>
          <p:cNvPr id="4" name="Content Placeholder 3"/>
          <p:cNvSpPr>
            <a:spLocks noGrp="1"/>
          </p:cNvSpPr>
          <p:nvPr>
            <p:ph idx="1"/>
          </p:nvPr>
        </p:nvSpPr>
        <p:spPr>
          <a:xfrm>
            <a:off x="519113" y="3048000"/>
            <a:ext cx="8318500" cy="3352800"/>
          </a:xfrm>
        </p:spPr>
        <p:txBody>
          <a:bodyPr/>
          <a:lstStyle/>
          <a:p>
            <a:r>
              <a:rPr lang="en-US" dirty="0" smtClean="0"/>
              <a:t>Create </a:t>
            </a:r>
            <a:r>
              <a:rPr lang="en-US" dirty="0"/>
              <a:t>a rule hierarchy to </a:t>
            </a:r>
            <a:r>
              <a:rPr lang="en-US" dirty="0" smtClean="0"/>
              <a:t/>
            </a:r>
            <a:br>
              <a:rPr lang="en-US" dirty="0" smtClean="0"/>
            </a:br>
            <a:r>
              <a:rPr lang="en-US" dirty="0" smtClean="0"/>
              <a:t>filter MessageContexts</a:t>
            </a:r>
          </a:p>
          <a:p>
            <a:r>
              <a:rPr lang="en-US" dirty="0" smtClean="0"/>
              <a:t>First</a:t>
            </a:r>
            <a:r>
              <a:rPr lang="en-US" dirty="0"/>
              <a:t>, by destination ID</a:t>
            </a:r>
            <a:r>
              <a:rPr lang="en-US" dirty="0" smtClean="0"/>
              <a:t>...</a:t>
            </a:r>
          </a:p>
          <a:p>
            <a:r>
              <a:rPr lang="en-US" dirty="0" smtClean="0"/>
              <a:t>Then</a:t>
            </a:r>
            <a:r>
              <a:rPr lang="en-US" dirty="0"/>
              <a:t>, by root entity type</a:t>
            </a:r>
            <a:r>
              <a:rPr lang="en-US" dirty="0" smtClean="0"/>
              <a:t>...</a:t>
            </a:r>
          </a:p>
          <a:p>
            <a:r>
              <a:rPr lang="en-US" dirty="0" smtClean="0"/>
              <a:t>Then</a:t>
            </a:r>
            <a:r>
              <a:rPr lang="en-US" dirty="0"/>
              <a:t>, by event name</a:t>
            </a:r>
            <a:r>
              <a:rPr lang="en-US" dirty="0" smtClean="0"/>
              <a:t>...</a:t>
            </a:r>
          </a:p>
          <a:p>
            <a:r>
              <a:rPr lang="en-US" dirty="0" smtClean="0"/>
              <a:t>And </a:t>
            </a:r>
            <a:r>
              <a:rPr lang="en-US" dirty="0"/>
              <a:t>finally, by any other relevant </a:t>
            </a:r>
            <a:r>
              <a:rPr lang="en-US" dirty="0" smtClean="0"/>
              <a:t>logic such as field changed</a:t>
            </a:r>
            <a:endParaRPr lang="en-US" dirty="0"/>
          </a:p>
          <a:p>
            <a:endParaRPr lang="en-US" dirty="0"/>
          </a:p>
        </p:txBody>
      </p:sp>
      <p:sp>
        <p:nvSpPr>
          <p:cNvPr id="2" name="Rectangle 1"/>
          <p:cNvSpPr/>
          <p:nvPr/>
        </p:nvSpPr>
        <p:spPr>
          <a:xfrm>
            <a:off x="5038725" y="912474"/>
            <a:ext cx="4038600" cy="3914918"/>
          </a:xfrm>
          <a:prstGeom prst="rect">
            <a:avLst/>
          </a:prstGeom>
        </p:spPr>
        <p:txBody>
          <a:bodyPr wrap="square">
            <a:sp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smtClean="0">
                <a:solidFill>
                  <a:srgbClr val="000000"/>
                </a:solidFill>
                <a:latin typeface="Courier New"/>
                <a:ea typeface="Times New Roman"/>
                <a:cs typeface="Times New Roman"/>
              </a:rPr>
              <a:t>messageContext.DestID </a:t>
            </a:r>
            <a:br>
              <a:rPr lang="en-US" b="1" dirty="0" smtClean="0">
                <a:solidFill>
                  <a:srgbClr val="000000"/>
                </a:solidFill>
                <a:latin typeface="Courier New"/>
                <a:ea typeface="Times New Roman"/>
                <a:cs typeface="Times New Roman"/>
              </a:rPr>
            </a:br>
            <a:r>
              <a:rPr lang="en-US" b="1" dirty="0" smtClean="0">
                <a:solidFill>
                  <a:srgbClr val="000000"/>
                </a:solidFill>
                <a:latin typeface="Courier New"/>
                <a:ea typeface="Times New Roman"/>
                <a:cs typeface="Times New Roman"/>
              </a:rPr>
              <a:t>  == </a:t>
            </a:r>
            <a:r>
              <a:rPr lang="en-US" b="1" dirty="0" smtClean="0">
                <a:solidFill>
                  <a:srgbClr val="0000FF"/>
                </a:solidFill>
                <a:latin typeface="Courier New"/>
                <a:ea typeface="Times New Roman"/>
                <a:cs typeface="Times New Roman"/>
              </a:rPr>
              <a:t>13</a:t>
            </a:r>
            <a:r>
              <a:rPr lang="en-US" dirty="0" smtClean="0">
                <a:solidFill>
                  <a:srgbClr val="000000"/>
                </a:solidFill>
                <a:latin typeface="Courier New"/>
                <a:ea typeface="Times New Roman"/>
                <a:cs typeface="Times New Roman"/>
              </a:rPr>
              <a:t> </a:t>
            </a:r>
            <a:br>
              <a:rPr lang="en-US" dirty="0" smtClean="0">
                <a:solidFill>
                  <a:srgbClr val="000000"/>
                </a:solidFill>
                <a:latin typeface="Courier New"/>
                <a:ea typeface="Times New Roman"/>
                <a:cs typeface="Times New Roman"/>
              </a:rPr>
            </a:br>
            <a:r>
              <a:rPr lang="en-US" b="1" dirty="0" smtClean="0">
                <a:solidFill>
                  <a:srgbClr val="000000"/>
                </a:solidFill>
                <a:latin typeface="Courier New"/>
                <a:ea typeface="Times New Roman"/>
                <a:cs typeface="Times New Roman"/>
              </a:rPr>
              <a:t/>
            </a:r>
            <a:br>
              <a:rPr lang="en-US" b="1" dirty="0" smtClean="0">
                <a:solidFill>
                  <a:srgbClr val="000000"/>
                </a:solidFill>
                <a:latin typeface="Courier New"/>
                <a:ea typeface="Times New Roman"/>
                <a:cs typeface="Times New Roman"/>
              </a:rPr>
            </a:br>
            <a:r>
              <a:rPr lang="en-US" b="1" dirty="0">
                <a:solidFill>
                  <a:srgbClr val="000000"/>
                </a:solidFill>
                <a:latin typeface="Courier New"/>
                <a:ea typeface="Times New Roman"/>
                <a:cs typeface="Times New Roman"/>
              </a:rPr>
              <a:t>messageContext.Root </a:t>
            </a:r>
            <a:r>
              <a:rPr lang="en-US" b="1" dirty="0" smtClean="0">
                <a:solidFill>
                  <a:srgbClr val="000080"/>
                </a:solidFill>
                <a:latin typeface="Courier New"/>
                <a:ea typeface="Times New Roman"/>
                <a:cs typeface="Times New Roman"/>
              </a:rPr>
              <a:t>typeis</a:t>
            </a:r>
            <a:br>
              <a:rPr lang="en-US" b="1" dirty="0" smtClean="0">
                <a:solidFill>
                  <a:srgbClr val="000080"/>
                </a:solidFill>
                <a:latin typeface="Courier New"/>
                <a:ea typeface="Times New Roman"/>
                <a:cs typeface="Times New Roman"/>
              </a:rPr>
            </a:br>
            <a:r>
              <a:rPr lang="en-US" b="1" dirty="0" smtClean="0">
                <a:solidFill>
                  <a:srgbClr val="000080"/>
                </a:solidFill>
                <a:latin typeface="Courier New"/>
                <a:ea typeface="Times New Roman"/>
                <a:cs typeface="Times New Roman"/>
              </a:rPr>
              <a:t>  </a:t>
            </a:r>
            <a:r>
              <a:rPr lang="en-US" b="1" dirty="0" smtClean="0">
                <a:solidFill>
                  <a:srgbClr val="000000"/>
                </a:solidFill>
                <a:latin typeface="Courier New"/>
                <a:ea typeface="Times New Roman"/>
                <a:cs typeface="Times New Roman"/>
              </a:rPr>
              <a:t>BankAccount</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US" b="1" dirty="0" smtClean="0">
              <a:solidFill>
                <a:srgbClr val="000000"/>
              </a:solidFill>
              <a:latin typeface="Courier New"/>
              <a:ea typeface="Times New Roman"/>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smtClean="0">
                <a:solidFill>
                  <a:srgbClr val="000000"/>
                </a:solidFill>
                <a:latin typeface="Courier New"/>
                <a:ea typeface="Times New Roman"/>
                <a:cs typeface="Times New Roman"/>
              </a:rPr>
              <a:t>messageContext.EventName </a:t>
            </a:r>
            <a:br>
              <a:rPr lang="en-US" b="1" dirty="0" smtClean="0">
                <a:solidFill>
                  <a:srgbClr val="000000"/>
                </a:solidFill>
                <a:latin typeface="Courier New"/>
                <a:ea typeface="Times New Roman"/>
                <a:cs typeface="Times New Roman"/>
              </a:rPr>
            </a:br>
            <a:r>
              <a:rPr lang="en-US" b="1" dirty="0" smtClean="0">
                <a:solidFill>
                  <a:srgbClr val="000000"/>
                </a:solidFill>
                <a:latin typeface="Courier New"/>
                <a:ea typeface="Times New Roman"/>
                <a:cs typeface="Times New Roman"/>
              </a:rPr>
              <a:t>  == </a:t>
            </a:r>
            <a:r>
              <a:rPr lang="en-US" b="1" dirty="0" smtClean="0">
                <a:solidFill>
                  <a:srgbClr val="008000"/>
                </a:solidFill>
                <a:latin typeface="Courier New"/>
                <a:ea typeface="Times New Roman"/>
                <a:cs typeface="Times New Roman"/>
              </a:rPr>
              <a:t>"</a:t>
            </a:r>
            <a:r>
              <a:rPr lang="en-US" b="1" dirty="0">
                <a:solidFill>
                  <a:srgbClr val="008000"/>
                </a:solidFill>
                <a:latin typeface="Courier New"/>
                <a:ea typeface="Times New Roman"/>
                <a:cs typeface="Times New Roman"/>
              </a:rPr>
              <a:t>BankAccountAdded" </a:t>
            </a:r>
            <a:r>
              <a:rPr lang="en-US" b="1" dirty="0" smtClean="0">
                <a:solidFill>
                  <a:srgbClr val="000080"/>
                </a:solidFill>
                <a:latin typeface="Courier New"/>
                <a:ea typeface="Times New Roman"/>
                <a:cs typeface="Times New Roman"/>
              </a:rPr>
              <a:t>or…</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smtClean="0">
                <a:solidFill>
                  <a:srgbClr val="000080"/>
                </a:solidFill>
                <a:latin typeface="Courier New"/>
                <a:ea typeface="Times New Roman"/>
                <a:cs typeface="Times New Roman"/>
              </a:rPr>
              <a:t> </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smtClean="0">
                <a:solidFill>
                  <a:srgbClr val="000000"/>
                </a:solidFill>
                <a:latin typeface="Courier New"/>
                <a:ea typeface="Times New Roman"/>
              </a:rPr>
              <a:t>(messageContext.Root </a:t>
            </a:r>
            <a:r>
              <a:rPr lang="en-US" b="1" dirty="0" smtClean="0">
                <a:solidFill>
                  <a:srgbClr val="000080"/>
                </a:solidFill>
                <a:latin typeface="Courier New"/>
                <a:ea typeface="Times New Roman"/>
              </a:rPr>
              <a:t>as </a:t>
            </a:r>
            <a:r>
              <a:rPr lang="en-US" b="1" dirty="0" smtClean="0">
                <a:solidFill>
                  <a:srgbClr val="000000"/>
                </a:solidFill>
                <a:latin typeface="Courier New"/>
                <a:ea typeface="Times New Roman"/>
              </a:rPr>
              <a:t>BankAccount).isFieldChanged</a:t>
            </a:r>
            <a:br>
              <a:rPr lang="en-US" b="1" dirty="0" smtClean="0">
                <a:solidFill>
                  <a:srgbClr val="000000"/>
                </a:solidFill>
                <a:latin typeface="Courier New"/>
                <a:ea typeface="Times New Roman"/>
              </a:rPr>
            </a:br>
            <a:r>
              <a:rPr lang="en-US" b="1" dirty="0" smtClean="0">
                <a:solidFill>
                  <a:srgbClr val="000000"/>
                </a:solidFill>
                <a:latin typeface="Courier New"/>
                <a:ea typeface="Times New Roman"/>
              </a:rPr>
              <a:t>("BankName")</a:t>
            </a:r>
            <a:endParaRPr lang="en-US" dirty="0">
              <a:effectLst/>
              <a:latin typeface="Calibri"/>
              <a:ea typeface="Calibri"/>
              <a:cs typeface="Times New Roman"/>
            </a:endParaRPr>
          </a:p>
        </p:txBody>
      </p:sp>
      <p:pic>
        <p:nvPicPr>
          <p:cNvPr id="14338" name="Picture 2" descr="C:\Users\sluersen\AppData\Local\Temp\SNAGHTMLf10c06.PNG"/>
          <p:cNvPicPr>
            <a:picLocks noChangeAspect="1" noChangeArrowheads="1"/>
          </p:cNvPicPr>
          <p:nvPr/>
        </p:nvPicPr>
        <p:blipFill rotWithShape="1">
          <a:blip r:embed="rId3">
            <a:extLst>
              <a:ext uri="{28A0092B-C50C-407E-A947-70E740481C1C}">
                <a14:useLocalDpi xmlns:a14="http://schemas.microsoft.com/office/drawing/2010/main" val="0"/>
              </a:ext>
            </a:extLst>
          </a:blip>
          <a:srcRect b="12775"/>
          <a:stretch/>
        </p:blipFill>
        <p:spPr bwMode="auto">
          <a:xfrm>
            <a:off x="533400" y="885826"/>
            <a:ext cx="4104996" cy="1885950"/>
          </a:xfrm>
          <a:prstGeom prst="rect">
            <a:avLst/>
          </a:prstGeom>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15" name="Elbow Connector 14"/>
          <p:cNvCxnSpPr/>
          <p:nvPr/>
        </p:nvCxnSpPr>
        <p:spPr bwMode="auto">
          <a:xfrm flipV="1">
            <a:off x="4153832" y="1143000"/>
            <a:ext cx="884893" cy="473362"/>
          </a:xfrm>
          <a:prstGeom prst="bentConnector3">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18" name="Elbow Connector 17"/>
          <p:cNvCxnSpPr/>
          <p:nvPr/>
        </p:nvCxnSpPr>
        <p:spPr bwMode="auto">
          <a:xfrm flipV="1">
            <a:off x="3886200" y="1768761"/>
            <a:ext cx="1152525" cy="288641"/>
          </a:xfrm>
          <a:prstGeom prst="bentConnector3">
            <a:avLst>
              <a:gd name="adj1" fmla="val 50000"/>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25" name="Elbow Connector 24"/>
          <p:cNvCxnSpPr/>
          <p:nvPr/>
        </p:nvCxnSpPr>
        <p:spPr bwMode="auto">
          <a:xfrm>
            <a:off x="4402136" y="2302162"/>
            <a:ext cx="636589" cy="440184"/>
          </a:xfrm>
          <a:prstGeom prst="bentConnector3">
            <a:avLst>
              <a:gd name="adj1" fmla="val 70948"/>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grpSp>
        <p:nvGrpSpPr>
          <p:cNvPr id="75" name="Group 74"/>
          <p:cNvGrpSpPr/>
          <p:nvPr/>
        </p:nvGrpSpPr>
        <p:grpSpPr>
          <a:xfrm>
            <a:off x="4395787" y="2722116"/>
            <a:ext cx="722314" cy="983109"/>
            <a:chOff x="4395787" y="2647952"/>
            <a:chExt cx="722314" cy="983109"/>
          </a:xfrm>
        </p:grpSpPr>
        <p:cxnSp>
          <p:nvCxnSpPr>
            <p:cNvPr id="84" name="Elbow Connector 83"/>
            <p:cNvCxnSpPr/>
            <p:nvPr/>
          </p:nvCxnSpPr>
          <p:spPr bwMode="auto">
            <a:xfrm>
              <a:off x="4601042" y="3190877"/>
              <a:ext cx="517059" cy="440184"/>
            </a:xfrm>
            <a:prstGeom prst="bentConnector3">
              <a:avLst>
                <a:gd name="adj1" fmla="val 50000"/>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72" name="Straight Connector 71"/>
            <p:cNvCxnSpPr/>
            <p:nvPr/>
          </p:nvCxnSpPr>
          <p:spPr bwMode="auto">
            <a:xfrm>
              <a:off x="4395787" y="2647952"/>
              <a:ext cx="228600" cy="0"/>
            </a:xfrm>
            <a:prstGeom prst="line">
              <a:avLst/>
            </a:prstGeom>
            <a:noFill/>
            <a:ln w="28575" cap="flat" cmpd="sng" algn="ctr">
              <a:solidFill>
                <a:schemeClr val="accent1"/>
              </a:solidFill>
              <a:prstDash val="solid"/>
              <a:round/>
              <a:headEnd type="none" w="med" len="med"/>
              <a:tailEnd type="none" w="med" len="med"/>
            </a:ln>
            <a:effectLst>
              <a:outerShdw blurRad="50800" dist="38100" dir="2700000" algn="tl" rotWithShape="0">
                <a:prstClr val="black">
                  <a:alpha val="40000"/>
                </a:prstClr>
              </a:outerShdw>
            </a:effectLst>
          </p:spPr>
        </p:cxnSp>
        <p:cxnSp>
          <p:nvCxnSpPr>
            <p:cNvPr id="107" name="Straight Connector 106"/>
            <p:cNvCxnSpPr/>
            <p:nvPr/>
          </p:nvCxnSpPr>
          <p:spPr bwMode="auto">
            <a:xfrm>
              <a:off x="4610567" y="2647952"/>
              <a:ext cx="0" cy="533400"/>
            </a:xfrm>
            <a:prstGeom prst="line">
              <a:avLst/>
            </a:prstGeom>
            <a:noFill/>
            <a:ln w="28575" cap="flat" cmpd="sng" algn="ctr">
              <a:solidFill>
                <a:schemeClr val="accent1"/>
              </a:solidFill>
              <a:prstDash val="solid"/>
              <a:round/>
              <a:headEnd type="none" w="med" len="med"/>
              <a:tailEnd type="none" w="med" len="med"/>
            </a:ln>
            <a:effectLst>
              <a:outerShdw blurRad="50800" dist="38100" dir="2700000" algn="tl" rotWithShape="0">
                <a:prstClr val="black">
                  <a:alpha val="40000"/>
                </a:prstClr>
              </a:outerShdw>
            </a:effectLst>
          </p:spPr>
        </p:cxnSp>
      </p:grpSp>
    </p:spTree>
    <p:extLst>
      <p:ext uri="{BB962C8B-B14F-4D97-AF65-F5344CB8AC3E}">
        <p14:creationId xmlns:p14="http://schemas.microsoft.com/office/powerpoint/2010/main" val="4243921562"/>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messages from MessageContexts</a:t>
            </a:r>
          </a:p>
        </p:txBody>
      </p:sp>
      <p:sp>
        <p:nvSpPr>
          <p:cNvPr id="3" name="Content Placeholder 2"/>
          <p:cNvSpPr>
            <a:spLocks noGrp="1"/>
          </p:cNvSpPr>
          <p:nvPr>
            <p:ph idx="1"/>
          </p:nvPr>
        </p:nvSpPr>
        <p:spPr>
          <a:xfrm>
            <a:off x="521208" y="2514600"/>
            <a:ext cx="8321040" cy="3886200"/>
          </a:xfrm>
        </p:spPr>
        <p:txBody>
          <a:bodyPr/>
          <a:lstStyle/>
          <a:p>
            <a:r>
              <a:rPr lang="en-US" b="1" dirty="0" smtClean="0">
                <a:solidFill>
                  <a:srgbClr val="000000"/>
                </a:solidFill>
                <a:latin typeface="Courier New"/>
                <a:ea typeface="Times New Roman"/>
                <a:cs typeface="Times New Roman"/>
              </a:rPr>
              <a:t>messageContext.Root </a:t>
            </a:r>
            <a:r>
              <a:rPr lang="en-US" b="1" dirty="0" smtClean="0">
                <a:solidFill>
                  <a:srgbClr val="000080"/>
                </a:solidFill>
                <a:latin typeface="Courier New"/>
                <a:ea typeface="Times New Roman"/>
                <a:cs typeface="Times New Roman"/>
              </a:rPr>
              <a:t>typeis </a:t>
            </a:r>
            <a:r>
              <a:rPr lang="en-US" b="1" dirty="0" smtClean="0">
                <a:solidFill>
                  <a:srgbClr val="000000"/>
                </a:solidFill>
                <a:latin typeface="Courier New"/>
                <a:ea typeface="Times New Roman"/>
                <a:cs typeface="Times New Roman"/>
              </a:rPr>
              <a:t>BankAccount</a:t>
            </a:r>
          </a:p>
          <a:p>
            <a:pPr lvl="1"/>
            <a:r>
              <a:rPr lang="en-US" dirty="0" smtClean="0"/>
              <a:t>Root field </a:t>
            </a:r>
            <a:r>
              <a:rPr lang="en-US" dirty="0"/>
              <a:t>is of type Object</a:t>
            </a:r>
          </a:p>
          <a:p>
            <a:pPr lvl="1"/>
            <a:r>
              <a:rPr lang="en-US" dirty="0"/>
              <a:t>To extract information from it, </a:t>
            </a:r>
            <a:r>
              <a:rPr lang="en-US" dirty="0" smtClean="0"/>
              <a:t>cast object it </a:t>
            </a:r>
            <a:r>
              <a:rPr lang="en-US" dirty="0"/>
              <a:t>to the appropriate type</a:t>
            </a:r>
          </a:p>
          <a:p>
            <a:r>
              <a:rPr lang="en-US" b="1" dirty="0" smtClean="0">
                <a:latin typeface="Courier New" pitchFamily="49" charset="0"/>
                <a:cs typeface="Courier New" pitchFamily="49" charset="0"/>
              </a:rPr>
              <a:t>messageContext.createMessage(PayloadString)</a:t>
            </a:r>
          </a:p>
          <a:p>
            <a:pPr lvl="1"/>
            <a:r>
              <a:rPr lang="en-US" dirty="0" smtClean="0"/>
              <a:t>Returns message object</a:t>
            </a:r>
          </a:p>
          <a:p>
            <a:pPr lvl="1"/>
            <a:r>
              <a:rPr lang="en-US" dirty="0" smtClean="0"/>
              <a:t>Use for creating payload</a:t>
            </a:r>
          </a:p>
          <a:p>
            <a:r>
              <a:rPr lang="en-US" b="1" dirty="0" smtClean="0">
                <a:latin typeface="Courier New" pitchFamily="49" charset="0"/>
                <a:cs typeface="Courier New" pitchFamily="49" charset="0"/>
              </a:rPr>
              <a:t>messageContext.createMessage(MessageObject)</a:t>
            </a:r>
          </a:p>
          <a:p>
            <a:pPr lvl="1"/>
            <a:r>
              <a:rPr lang="en-US" dirty="0"/>
              <a:t>Returns message object</a:t>
            </a:r>
          </a:p>
          <a:p>
            <a:endParaRPr lang="en-US" dirty="0"/>
          </a:p>
          <a:p>
            <a:pPr lvl="1"/>
            <a:endParaRPr lang="en-US" dirty="0" smtClean="0"/>
          </a:p>
          <a:p>
            <a:endParaRPr lang="en-US" dirty="0"/>
          </a:p>
        </p:txBody>
      </p:sp>
      <p:pic>
        <p:nvPicPr>
          <p:cNvPr id="1536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399" y="914400"/>
            <a:ext cx="8305801" cy="1284259"/>
          </a:xfrm>
          <a:prstGeom prst="rect">
            <a:avLst/>
          </a:prstGeom>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71400660"/>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Down Arrow 60"/>
          <p:cNvSpPr/>
          <p:nvPr/>
        </p:nvSpPr>
        <p:spPr bwMode="auto">
          <a:xfrm rot="16200000">
            <a:off x="4167682" y="-1378265"/>
            <a:ext cx="296372" cy="5888534"/>
          </a:xfrm>
          <a:prstGeom prst="downArrow">
            <a:avLst>
              <a:gd name="adj1" fmla="val 50000"/>
              <a:gd name="adj2" fmla="val 88566"/>
            </a:avLst>
          </a:prstGeom>
          <a:ln>
            <a:solidFill>
              <a:schemeClr val="accent1"/>
            </a:solidFill>
            <a:headEnd/>
            <a:tailEn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2" name="Title 1"/>
          <p:cNvSpPr>
            <a:spLocks noGrp="1"/>
          </p:cNvSpPr>
          <p:nvPr>
            <p:ph type="title"/>
          </p:nvPr>
        </p:nvSpPr>
        <p:spPr/>
        <p:txBody>
          <a:bodyPr/>
          <a:lstStyle/>
          <a:p>
            <a:r>
              <a:rPr lang="en-US" dirty="0"/>
              <a:t>Modifying data in </a:t>
            </a:r>
            <a:r>
              <a:rPr lang="en-US" dirty="0" smtClean="0"/>
              <a:t>Event Fired </a:t>
            </a:r>
            <a:r>
              <a:rPr lang="en-US" dirty="0"/>
              <a:t>rules</a:t>
            </a:r>
          </a:p>
        </p:txBody>
      </p:sp>
      <p:sp>
        <p:nvSpPr>
          <p:cNvPr id="3" name="Content Placeholder 2"/>
          <p:cNvSpPr>
            <a:spLocks noGrp="1"/>
          </p:cNvSpPr>
          <p:nvPr>
            <p:ph idx="1"/>
          </p:nvPr>
        </p:nvSpPr>
        <p:spPr>
          <a:xfrm>
            <a:off x="519113" y="2590800"/>
            <a:ext cx="8318500" cy="3810000"/>
          </a:xfrm>
        </p:spPr>
        <p:txBody>
          <a:bodyPr/>
          <a:lstStyle/>
          <a:p>
            <a:r>
              <a:rPr lang="en-US" dirty="0"/>
              <a:t>Data changes in Event Fired rules do NOT trigger </a:t>
            </a:r>
            <a:br>
              <a:rPr lang="en-US" dirty="0"/>
            </a:br>
            <a:r>
              <a:rPr lang="en-US" dirty="0" smtClean="0"/>
              <a:t>pre-update </a:t>
            </a:r>
            <a:r>
              <a:rPr lang="en-US" dirty="0"/>
              <a:t>rules or validation logic</a:t>
            </a:r>
          </a:p>
          <a:p>
            <a:r>
              <a:rPr lang="en-US" dirty="0" smtClean="0"/>
              <a:t>Avoid </a:t>
            </a:r>
            <a:r>
              <a:rPr lang="en-US" dirty="0"/>
              <a:t>changing data (except for the message itself)</a:t>
            </a:r>
          </a:p>
          <a:p>
            <a:pPr lvl="1"/>
            <a:r>
              <a:rPr lang="en-US" dirty="0" smtClean="0"/>
              <a:t>Do NOT change </a:t>
            </a:r>
            <a:r>
              <a:rPr lang="en-US" dirty="0"/>
              <a:t>properties used outside of </a:t>
            </a:r>
            <a:r>
              <a:rPr lang="en-US" dirty="0" smtClean="0"/>
              <a:t>Event Fired </a:t>
            </a:r>
            <a:r>
              <a:rPr lang="en-US" dirty="0"/>
              <a:t>rules</a:t>
            </a:r>
          </a:p>
          <a:p>
            <a:pPr lvl="1"/>
            <a:r>
              <a:rPr lang="en-US" dirty="0" smtClean="0"/>
              <a:t>Do NOT  </a:t>
            </a:r>
            <a:r>
              <a:rPr lang="en-US" dirty="0"/>
              <a:t>add or delete entity instances</a:t>
            </a:r>
          </a:p>
          <a:p>
            <a:r>
              <a:rPr lang="en-US" dirty="0" smtClean="0"/>
              <a:t>Event </a:t>
            </a:r>
            <a:r>
              <a:rPr lang="en-US" dirty="0"/>
              <a:t>Fired rules execute within the same database transaction as the initial data change</a:t>
            </a:r>
          </a:p>
          <a:p>
            <a:r>
              <a:rPr lang="en-US" dirty="0"/>
              <a:t>Exceptions thrown in Event Fired rules roll back the transaction and all of its data changes</a:t>
            </a:r>
          </a:p>
          <a:p>
            <a:endParaRPr lang="en-US" dirty="0"/>
          </a:p>
        </p:txBody>
      </p:sp>
      <p:sp>
        <p:nvSpPr>
          <p:cNvPr id="13" name="Text Box 8"/>
          <p:cNvSpPr txBox="1">
            <a:spLocks noChangeArrowheads="1"/>
          </p:cNvSpPr>
          <p:nvPr/>
        </p:nvSpPr>
        <p:spPr bwMode="auto">
          <a:xfrm>
            <a:off x="5676900" y="2025650"/>
            <a:ext cx="11557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sz="1600" dirty="0">
                <a:solidFill>
                  <a:schemeClr val="bg1"/>
                </a:solidFill>
              </a:rPr>
              <a:t>Message</a:t>
            </a:r>
          </a:p>
        </p:txBody>
      </p:sp>
      <p:sp>
        <p:nvSpPr>
          <p:cNvPr id="14" name="Text Box 9"/>
          <p:cNvSpPr txBox="1">
            <a:spLocks noChangeArrowheads="1"/>
          </p:cNvSpPr>
          <p:nvPr/>
        </p:nvSpPr>
        <p:spPr bwMode="auto">
          <a:xfrm>
            <a:off x="4049713" y="2025650"/>
            <a:ext cx="128746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eaLnBrk="1" hangingPunct="1">
              <a:spcAft>
                <a:spcPct val="30000"/>
              </a:spcAft>
              <a:buClr>
                <a:schemeClr val="tx1"/>
              </a:buClr>
              <a:buFontTx/>
              <a:buNone/>
            </a:pPr>
            <a:r>
              <a:rPr lang="en-US" sz="1600" dirty="0" smtClean="0">
                <a:solidFill>
                  <a:schemeClr val="bg1"/>
                </a:solidFill>
              </a:rPr>
              <a:t>Event Fired</a:t>
            </a:r>
            <a:r>
              <a:rPr lang="en-US" sz="1600" dirty="0">
                <a:solidFill>
                  <a:schemeClr val="bg1"/>
                </a:solidFill>
              </a:rPr>
              <a:t/>
            </a:r>
            <a:br>
              <a:rPr lang="en-US" sz="1600" dirty="0">
                <a:solidFill>
                  <a:schemeClr val="bg1"/>
                </a:solidFill>
              </a:rPr>
            </a:br>
            <a:r>
              <a:rPr lang="en-US" sz="1600" dirty="0">
                <a:solidFill>
                  <a:schemeClr val="bg1"/>
                </a:solidFill>
              </a:rPr>
              <a:t>Rules</a:t>
            </a:r>
          </a:p>
        </p:txBody>
      </p:sp>
      <p:sp>
        <p:nvSpPr>
          <p:cNvPr id="15" name="Text Box 24"/>
          <p:cNvSpPr txBox="1">
            <a:spLocks noChangeArrowheads="1"/>
          </p:cNvSpPr>
          <p:nvPr/>
        </p:nvSpPr>
        <p:spPr bwMode="auto">
          <a:xfrm>
            <a:off x="419100" y="2025650"/>
            <a:ext cx="1360488"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sz="1600" dirty="0">
                <a:solidFill>
                  <a:schemeClr val="bg1"/>
                </a:solidFill>
              </a:rPr>
              <a:t>triggering</a:t>
            </a:r>
            <a:br>
              <a:rPr lang="en-US" sz="1600" dirty="0">
                <a:solidFill>
                  <a:schemeClr val="bg1"/>
                </a:solidFill>
              </a:rPr>
            </a:br>
            <a:r>
              <a:rPr lang="en-US" sz="1600" dirty="0">
                <a:solidFill>
                  <a:schemeClr val="bg1"/>
                </a:solidFill>
              </a:rPr>
              <a:t>entity</a:t>
            </a:r>
          </a:p>
        </p:txBody>
      </p:sp>
      <p:sp>
        <p:nvSpPr>
          <p:cNvPr id="16" name="Text Box 25"/>
          <p:cNvSpPr txBox="1">
            <a:spLocks noChangeArrowheads="1"/>
          </p:cNvSpPr>
          <p:nvPr/>
        </p:nvSpPr>
        <p:spPr bwMode="auto">
          <a:xfrm>
            <a:off x="2109788" y="2025650"/>
            <a:ext cx="103822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sz="1600" dirty="0">
                <a:solidFill>
                  <a:schemeClr val="bg1"/>
                </a:solidFill>
              </a:rPr>
              <a:t>message</a:t>
            </a:r>
            <a:br>
              <a:rPr lang="en-US" sz="1600" dirty="0">
                <a:solidFill>
                  <a:schemeClr val="bg1"/>
                </a:solidFill>
              </a:rPr>
            </a:br>
            <a:r>
              <a:rPr lang="en-US" sz="1600" dirty="0">
                <a:solidFill>
                  <a:schemeClr val="bg1"/>
                </a:solidFill>
              </a:rPr>
              <a:t>context</a:t>
            </a:r>
          </a:p>
        </p:txBody>
      </p:sp>
      <p:pic>
        <p:nvPicPr>
          <p:cNvPr id="62" name="icn Rule Set"/>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74218" y="914400"/>
            <a:ext cx="1135982" cy="1025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63" name="icn Entity EventAware"/>
          <p:cNvGrpSpPr/>
          <p:nvPr/>
        </p:nvGrpSpPr>
        <p:grpSpPr>
          <a:xfrm>
            <a:off x="666887" y="895350"/>
            <a:ext cx="991127" cy="1161320"/>
            <a:chOff x="2448995" y="2044222"/>
            <a:chExt cx="1532365" cy="1795498"/>
          </a:xfrm>
        </p:grpSpPr>
        <p:pic>
          <p:nvPicPr>
            <p:cNvPr id="64"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48995" y="2044222"/>
              <a:ext cx="1532365" cy="179549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65" name="Group 64"/>
            <p:cNvGrpSpPr/>
            <p:nvPr/>
          </p:nvGrpSpPr>
          <p:grpSpPr>
            <a:xfrm>
              <a:off x="3298002" y="2109793"/>
              <a:ext cx="569146" cy="552157"/>
              <a:chOff x="8351520" y="2281418"/>
              <a:chExt cx="1021080" cy="990600"/>
            </a:xfrm>
          </p:grpSpPr>
          <p:sp>
            <p:nvSpPr>
              <p:cNvPr id="66" name="Arc 65"/>
              <p:cNvSpPr/>
              <p:nvPr/>
            </p:nvSpPr>
            <p:spPr bwMode="auto">
              <a:xfrm>
                <a:off x="8351520" y="2357618"/>
                <a:ext cx="838201" cy="838200"/>
              </a:xfrm>
              <a:prstGeom prst="arc">
                <a:avLst>
                  <a:gd name="adj1" fmla="val 17911168"/>
                  <a:gd name="adj2" fmla="val 3597263"/>
                </a:avLst>
              </a:prstGeom>
              <a:noFill/>
              <a:ln w="28575" cap="rnd" cmpd="sng" algn="ctr">
                <a:solidFill>
                  <a:schemeClr val="tx2">
                    <a:lumMod val="50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30000"/>
                  </a:spcAft>
                  <a:buClr>
                    <a:schemeClr val="tx1"/>
                  </a:buClr>
                  <a:buSzTx/>
                  <a:buFontTx/>
                  <a:buNone/>
                  <a:tabLst/>
                </a:pPr>
                <a:endParaRPr kumimoji="0" lang="en-US" sz="2000" b="1" i="0" u="none" strike="noStrike" cap="none" normalizeH="0" baseline="0" smtClean="0">
                  <a:ln>
                    <a:noFill/>
                  </a:ln>
                  <a:solidFill>
                    <a:srgbClr val="FF0000"/>
                  </a:solidFill>
                  <a:effectLst/>
                  <a:latin typeface="Arial" charset="0"/>
                </a:endParaRPr>
              </a:p>
            </p:txBody>
          </p:sp>
          <p:sp>
            <p:nvSpPr>
              <p:cNvPr id="67" name="Arc 66"/>
              <p:cNvSpPr/>
              <p:nvPr/>
            </p:nvSpPr>
            <p:spPr bwMode="auto">
              <a:xfrm>
                <a:off x="8382000" y="2281418"/>
                <a:ext cx="990600" cy="990600"/>
              </a:xfrm>
              <a:prstGeom prst="arc">
                <a:avLst>
                  <a:gd name="adj1" fmla="val 17911168"/>
                  <a:gd name="adj2" fmla="val 3597263"/>
                </a:avLst>
              </a:prstGeom>
              <a:noFill/>
              <a:ln w="28575" cap="rnd" cmpd="sng" algn="ctr">
                <a:solidFill>
                  <a:schemeClr val="tx2">
                    <a:lumMod val="50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30000"/>
                  </a:spcAft>
                  <a:buClr>
                    <a:schemeClr val="tx1"/>
                  </a:buClr>
                  <a:buSzTx/>
                  <a:buFontTx/>
                  <a:buNone/>
                  <a:tabLst/>
                </a:pPr>
                <a:endParaRPr kumimoji="0" lang="en-US" sz="2000" b="1" i="0" u="none" strike="noStrike" cap="none" normalizeH="0" baseline="0" smtClean="0">
                  <a:ln>
                    <a:noFill/>
                  </a:ln>
                  <a:solidFill>
                    <a:srgbClr val="FF0000"/>
                  </a:solidFill>
                  <a:effectLst/>
                  <a:latin typeface="Arial" charset="0"/>
                </a:endParaRPr>
              </a:p>
            </p:txBody>
          </p:sp>
        </p:grpSp>
      </p:grpSp>
      <p:pic>
        <p:nvPicPr>
          <p:cNvPr id="29" name="icn Msg Context"/>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9274" y="1150264"/>
            <a:ext cx="967314" cy="92711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30" name="tbl XX_Msg"/>
          <p:cNvGraphicFramePr>
            <a:graphicFrameLocks noGrp="1"/>
          </p:cNvGraphicFramePr>
          <p:nvPr>
            <p:extLst>
              <p:ext uri="{D42A27DB-BD31-4B8C-83A1-F6EECF244321}">
                <p14:modId xmlns:p14="http://schemas.microsoft.com/office/powerpoint/2010/main" val="1611347092"/>
              </p:ext>
            </p:extLst>
          </p:nvPr>
        </p:nvGraphicFramePr>
        <p:xfrm>
          <a:off x="7315200" y="914400"/>
          <a:ext cx="1600200" cy="1402080"/>
        </p:xfrm>
        <a:graphic>
          <a:graphicData uri="http://schemas.openxmlformats.org/drawingml/2006/table">
            <a:tbl>
              <a:tblPr firstRow="1" bandRow="1">
                <a:effectLst>
                  <a:outerShdw blurRad="50800" dist="38100" dir="2700000" algn="tl" rotWithShape="0">
                    <a:prstClr val="black">
                      <a:alpha val="40000"/>
                    </a:prstClr>
                  </a:outerShdw>
                </a:effectLst>
                <a:tableStyleId>{93296810-A885-4BE3-A3E7-6D5BEEA58F35}</a:tableStyleId>
              </a:tblPr>
              <a:tblGrid>
                <a:gridCol w="533400"/>
                <a:gridCol w="533400"/>
                <a:gridCol w="533400"/>
              </a:tblGrid>
              <a:tr h="317500">
                <a:tc gridSpan="3">
                  <a:txBody>
                    <a:bodyPr/>
                    <a:lstStyle/>
                    <a:p>
                      <a:pPr algn="ctr"/>
                      <a:r>
                        <a:rPr lang="en-US" sz="1600" dirty="0" smtClean="0"/>
                        <a:t>xx_message</a:t>
                      </a:r>
                      <a:endParaRPr lang="en-US" sz="1600" dirty="0"/>
                    </a:p>
                  </a:txBody>
                  <a:tcPr/>
                </a:tc>
                <a:tc hMerge="1">
                  <a:txBody>
                    <a:bodyPr/>
                    <a:lstStyle/>
                    <a:p>
                      <a:endParaRPr lang="en-US" dirty="0"/>
                    </a:p>
                  </a:txBody>
                  <a:tcPr/>
                </a:tc>
                <a:tc hMerge="1">
                  <a:txBody>
                    <a:bodyPr/>
                    <a:lstStyle/>
                    <a:p>
                      <a:endParaRPr lang="en-US" dirty="0"/>
                    </a:p>
                  </a:txBody>
                  <a:tcPr/>
                </a:tc>
              </a:tr>
              <a:tr h="211485">
                <a:tc>
                  <a:txBody>
                    <a:bodyPr/>
                    <a:lstStyle/>
                    <a:p>
                      <a:endParaRPr lang="en-US" sz="800" dirty="0"/>
                    </a:p>
                  </a:txBody>
                  <a:tcPr/>
                </a:tc>
                <a:tc>
                  <a:txBody>
                    <a:bodyPr/>
                    <a:lstStyle/>
                    <a:p>
                      <a:endParaRPr lang="en-US" sz="800"/>
                    </a:p>
                  </a:txBody>
                  <a:tcPr/>
                </a:tc>
                <a:tc>
                  <a:txBody>
                    <a:bodyPr/>
                    <a:lstStyle/>
                    <a:p>
                      <a:endParaRPr lang="en-US" sz="800" dirty="0"/>
                    </a:p>
                  </a:txBody>
                  <a:tcPr/>
                </a:tc>
              </a:tr>
              <a:tr h="202719">
                <a:tc>
                  <a:txBody>
                    <a:bodyPr/>
                    <a:lstStyle/>
                    <a:p>
                      <a:endParaRPr lang="en-US" sz="800" dirty="0"/>
                    </a:p>
                  </a:txBody>
                  <a:tcPr/>
                </a:tc>
                <a:tc>
                  <a:txBody>
                    <a:bodyPr/>
                    <a:lstStyle/>
                    <a:p>
                      <a:endParaRPr lang="en-US" sz="800" dirty="0"/>
                    </a:p>
                  </a:txBody>
                  <a:tcPr/>
                </a:tc>
                <a:tc>
                  <a:txBody>
                    <a:bodyPr/>
                    <a:lstStyle/>
                    <a:p>
                      <a:endParaRPr lang="en-US" sz="800"/>
                    </a:p>
                  </a:txBody>
                  <a:tcPr/>
                </a:tc>
              </a:tr>
              <a:tr h="202719">
                <a:tc>
                  <a:txBody>
                    <a:bodyPr/>
                    <a:lstStyle/>
                    <a:p>
                      <a:endParaRPr lang="en-US" sz="800" dirty="0"/>
                    </a:p>
                  </a:txBody>
                  <a:tcPr/>
                </a:tc>
                <a:tc>
                  <a:txBody>
                    <a:bodyPr/>
                    <a:lstStyle/>
                    <a:p>
                      <a:endParaRPr lang="en-US" sz="800" dirty="0"/>
                    </a:p>
                  </a:txBody>
                  <a:tcPr/>
                </a:tc>
                <a:tc>
                  <a:txBody>
                    <a:bodyPr/>
                    <a:lstStyle/>
                    <a:p>
                      <a:endParaRPr lang="en-US" sz="800" dirty="0"/>
                    </a:p>
                  </a:txBody>
                  <a:tcPr/>
                </a:tc>
              </a:tr>
              <a:tr h="202719">
                <a:tc>
                  <a:txBody>
                    <a:bodyPr/>
                    <a:lstStyle/>
                    <a:p>
                      <a:endParaRPr lang="en-US" sz="800"/>
                    </a:p>
                  </a:txBody>
                  <a:tcPr/>
                </a:tc>
                <a:tc>
                  <a:txBody>
                    <a:bodyPr/>
                    <a:lstStyle/>
                    <a:p>
                      <a:endParaRPr lang="en-US" sz="800" dirty="0"/>
                    </a:p>
                  </a:txBody>
                  <a:tcPr/>
                </a:tc>
                <a:tc>
                  <a:txBody>
                    <a:bodyPr/>
                    <a:lstStyle/>
                    <a:p>
                      <a:endParaRPr lang="en-US" sz="800" dirty="0"/>
                    </a:p>
                  </a:txBody>
                  <a:tcPr/>
                </a:tc>
              </a:tr>
              <a:tr h="202719">
                <a:tc>
                  <a:txBody>
                    <a:bodyPr/>
                    <a:lstStyle/>
                    <a:p>
                      <a:endParaRPr lang="en-US" sz="800"/>
                    </a:p>
                  </a:txBody>
                  <a:tcPr/>
                </a:tc>
                <a:tc>
                  <a:txBody>
                    <a:bodyPr/>
                    <a:lstStyle/>
                    <a:p>
                      <a:endParaRPr lang="en-US" sz="800" dirty="0"/>
                    </a:p>
                  </a:txBody>
                  <a:tcPr/>
                </a:tc>
                <a:tc>
                  <a:txBody>
                    <a:bodyPr/>
                    <a:lstStyle/>
                    <a:p>
                      <a:endParaRPr lang="en-US" sz="800" dirty="0"/>
                    </a:p>
                  </a:txBody>
                  <a:tcPr/>
                </a:tc>
              </a:tr>
            </a:tbl>
          </a:graphicData>
        </a:graphic>
      </p:graphicFrame>
    </p:spTree>
    <p:extLst>
      <p:ext uri="{BB962C8B-B14F-4D97-AF65-F5344CB8AC3E}">
        <p14:creationId xmlns:p14="http://schemas.microsoft.com/office/powerpoint/2010/main" val="2990194380"/>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Rounded Rectangle 87"/>
          <p:cNvSpPr/>
          <p:nvPr/>
        </p:nvSpPr>
        <p:spPr bwMode="auto">
          <a:xfrm>
            <a:off x="4800600" y="3581400"/>
            <a:ext cx="3810000" cy="2743200"/>
          </a:xfrm>
          <a:prstGeom prst="roundRect">
            <a:avLst>
              <a:gd name="adj" fmla="val 8642"/>
            </a:avLst>
          </a:prstGeom>
          <a:ln>
            <a:solidFill>
              <a:schemeClr val="accent6"/>
            </a:solidFill>
            <a:headEnd/>
            <a:tailEnd/>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80" name="Rounded Rectangle 79"/>
          <p:cNvSpPr/>
          <p:nvPr/>
        </p:nvSpPr>
        <p:spPr bwMode="auto">
          <a:xfrm>
            <a:off x="562028" y="3581400"/>
            <a:ext cx="3628972" cy="2743200"/>
          </a:xfrm>
          <a:prstGeom prst="roundRect">
            <a:avLst>
              <a:gd name="adj" fmla="val 8642"/>
            </a:avLst>
          </a:prstGeom>
          <a:ln>
            <a:headEnd/>
            <a:tailEnd/>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2" name="Title 1"/>
          <p:cNvSpPr>
            <a:spLocks noGrp="1"/>
          </p:cNvSpPr>
          <p:nvPr>
            <p:ph type="title"/>
          </p:nvPr>
        </p:nvSpPr>
        <p:spPr/>
        <p:txBody>
          <a:bodyPr/>
          <a:lstStyle/>
          <a:p>
            <a:r>
              <a:rPr lang="en-US" dirty="0" smtClean="0"/>
              <a:t>Deploy Destination and Event Fired Rules</a:t>
            </a:r>
            <a:endParaRPr lang="en-US" dirty="0"/>
          </a:p>
        </p:txBody>
      </p:sp>
      <p:sp>
        <p:nvSpPr>
          <p:cNvPr id="6" name="Subtitle 5"/>
          <p:cNvSpPr>
            <a:spLocks noGrp="1"/>
          </p:cNvSpPr>
          <p:nvPr>
            <p:ph type="subTitle" idx="10"/>
          </p:nvPr>
        </p:nvSpPr>
        <p:spPr/>
        <p:txBody>
          <a:bodyPr/>
          <a:lstStyle/>
          <a:p>
            <a:r>
              <a:rPr lang="en-US" dirty="0" smtClean="0"/>
              <a:t>Restart Server</a:t>
            </a:r>
            <a:endParaRPr lang="en-US" dirty="0"/>
          </a:p>
        </p:txBody>
      </p:sp>
      <p:sp>
        <p:nvSpPr>
          <p:cNvPr id="7" name="Text Placeholder 6"/>
          <p:cNvSpPr>
            <a:spLocks noGrp="1"/>
          </p:cNvSpPr>
          <p:nvPr>
            <p:ph type="body" sz="quarter" idx="11"/>
          </p:nvPr>
        </p:nvSpPr>
        <p:spPr/>
        <p:txBody>
          <a:bodyPr/>
          <a:lstStyle/>
          <a:p>
            <a:r>
              <a:rPr lang="en-US" dirty="0" smtClean="0"/>
              <a:t>Reload Changed Classes </a:t>
            </a:r>
            <a:br>
              <a:rPr lang="en-US" dirty="0" smtClean="0"/>
            </a:br>
            <a:endParaRPr lang="en-US" dirty="0"/>
          </a:p>
        </p:txBody>
      </p:sp>
      <p:sp>
        <p:nvSpPr>
          <p:cNvPr id="5" name="Content Placeholder 4"/>
          <p:cNvSpPr>
            <a:spLocks noGrp="1"/>
          </p:cNvSpPr>
          <p:nvPr>
            <p:ph sz="half" idx="2"/>
          </p:nvPr>
        </p:nvSpPr>
        <p:spPr/>
        <p:txBody>
          <a:bodyPr/>
          <a:lstStyle/>
          <a:p>
            <a:r>
              <a:rPr lang="en-US" dirty="0"/>
              <a:t>Event Fired rules</a:t>
            </a:r>
          </a:p>
          <a:p>
            <a:pPr lvl="1"/>
            <a:r>
              <a:rPr lang="en-US" dirty="0" smtClean="0"/>
              <a:t>Assuming </a:t>
            </a:r>
            <a:r>
              <a:rPr lang="en-US" dirty="0"/>
              <a:t>Studio is </a:t>
            </a:r>
            <a:r>
              <a:rPr lang="en-US" dirty="0" smtClean="0"/>
              <a:t>running/debugging the application</a:t>
            </a:r>
            <a:endParaRPr lang="en-US" dirty="0"/>
          </a:p>
        </p:txBody>
      </p:sp>
      <p:sp>
        <p:nvSpPr>
          <p:cNvPr id="4" name="Content Placeholder 3"/>
          <p:cNvSpPr>
            <a:spLocks noGrp="1"/>
          </p:cNvSpPr>
          <p:nvPr>
            <p:ph sz="half" idx="1"/>
          </p:nvPr>
        </p:nvSpPr>
        <p:spPr/>
        <p:txBody>
          <a:bodyPr/>
          <a:lstStyle/>
          <a:p>
            <a:r>
              <a:rPr lang="en-US" dirty="0" smtClean="0"/>
              <a:t>Destinations</a:t>
            </a:r>
          </a:p>
          <a:p>
            <a:pPr lvl="1"/>
            <a:r>
              <a:rPr lang="en-US" dirty="0"/>
              <a:t>Read only at server startup</a:t>
            </a:r>
          </a:p>
          <a:p>
            <a:pPr lvl="1"/>
            <a:r>
              <a:rPr lang="en-US" dirty="0"/>
              <a:t>Any changes to destinations require a server restart</a:t>
            </a:r>
          </a:p>
        </p:txBody>
      </p:sp>
      <p:sp>
        <p:nvSpPr>
          <p:cNvPr id="85" name="Rectangle 84"/>
          <p:cNvSpPr/>
          <p:nvPr/>
        </p:nvSpPr>
        <p:spPr>
          <a:xfrm>
            <a:off x="755441" y="5459381"/>
            <a:ext cx="1301959" cy="338554"/>
          </a:xfrm>
          <a:prstGeom prst="rect">
            <a:avLst/>
          </a:prstGeom>
        </p:spPr>
        <p:txBody>
          <a:bodyPr wrap="none">
            <a:spAutoFit/>
          </a:bodyPr>
          <a:lstStyle/>
          <a:p>
            <a:r>
              <a:rPr lang="en-US" sz="1600" b="1" dirty="0" smtClean="0">
                <a:solidFill>
                  <a:schemeClr val="bg1"/>
                </a:solidFill>
              </a:rPr>
              <a:t>Destination</a:t>
            </a:r>
            <a:endParaRPr lang="en-US" sz="1600" b="1" dirty="0">
              <a:solidFill>
                <a:schemeClr val="bg1"/>
              </a:solidFill>
            </a:endParaRPr>
          </a:p>
        </p:txBody>
      </p:sp>
      <p:pic>
        <p:nvPicPr>
          <p:cNvPr id="31" name="Picture 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22453" y="3724731"/>
            <a:ext cx="1134947" cy="140553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 name="icon Rule Class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62689" y="3809233"/>
            <a:ext cx="1337526" cy="153599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 name="txt Rule Class 1"/>
          <p:cNvSpPr/>
          <p:nvPr/>
        </p:nvSpPr>
        <p:spPr>
          <a:xfrm>
            <a:off x="6830319" y="5334000"/>
            <a:ext cx="1316239" cy="584775"/>
          </a:xfrm>
          <a:prstGeom prst="rect">
            <a:avLst/>
          </a:prstGeom>
        </p:spPr>
        <p:txBody>
          <a:bodyPr wrap="square">
            <a:spAutoFit/>
          </a:bodyPr>
          <a:lstStyle/>
          <a:p>
            <a:pPr algn="ctr"/>
            <a:r>
              <a:rPr lang="en-US" sz="1600" b="1" dirty="0" smtClean="0">
                <a:solidFill>
                  <a:schemeClr val="bg1"/>
                </a:solidFill>
              </a:rPr>
              <a:t>Rule </a:t>
            </a:r>
            <a:br>
              <a:rPr lang="en-US" sz="1600" b="1" dirty="0" smtClean="0">
                <a:solidFill>
                  <a:schemeClr val="bg1"/>
                </a:solidFill>
              </a:rPr>
            </a:br>
            <a:r>
              <a:rPr lang="en-US" sz="1600" b="1" dirty="0" smtClean="0">
                <a:solidFill>
                  <a:schemeClr val="bg1"/>
                </a:solidFill>
              </a:rPr>
              <a:t>Class (.gr)</a:t>
            </a:r>
            <a:endParaRPr lang="en-US" sz="1600" b="1" dirty="0">
              <a:solidFill>
                <a:schemeClr val="bg1"/>
              </a:solidFill>
            </a:endParaRPr>
          </a:p>
        </p:txBody>
      </p:sp>
      <p:pic>
        <p:nvPicPr>
          <p:cNvPr id="15" name="icon Rule Set Class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05400" y="3724731"/>
            <a:ext cx="1515947" cy="135681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 name="txt Rule Set Class 1"/>
          <p:cNvSpPr/>
          <p:nvPr/>
        </p:nvSpPr>
        <p:spPr>
          <a:xfrm>
            <a:off x="5105400" y="5336271"/>
            <a:ext cx="1460304" cy="584775"/>
          </a:xfrm>
          <a:prstGeom prst="rect">
            <a:avLst/>
          </a:prstGeom>
        </p:spPr>
        <p:txBody>
          <a:bodyPr wrap="square">
            <a:spAutoFit/>
          </a:bodyPr>
          <a:lstStyle/>
          <a:p>
            <a:pPr algn="ctr"/>
            <a:r>
              <a:rPr lang="en-US" sz="1600" b="1" dirty="0" smtClean="0">
                <a:solidFill>
                  <a:schemeClr val="bg1"/>
                </a:solidFill>
              </a:rPr>
              <a:t>Event Fired rule set</a:t>
            </a:r>
            <a:endParaRPr lang="en-US" sz="1600" b="1" dirty="0">
              <a:solidFill>
                <a:schemeClr val="bg1"/>
              </a:solidFill>
            </a:endParaRPr>
          </a:p>
        </p:txBody>
      </p:sp>
    </p:spTree>
    <p:extLst>
      <p:ext uri="{BB962C8B-B14F-4D97-AF65-F5344CB8AC3E}">
        <p14:creationId xmlns:p14="http://schemas.microsoft.com/office/powerpoint/2010/main" val="842626738"/>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lvl="1"/>
            <a:r>
              <a:rPr lang="en-US" dirty="0"/>
              <a:t>Describe how event messages are triggered</a:t>
            </a:r>
          </a:p>
          <a:p>
            <a:pPr lvl="1"/>
            <a:r>
              <a:rPr lang="en-US" dirty="0"/>
              <a:t>Create destinations</a:t>
            </a:r>
          </a:p>
          <a:p>
            <a:pPr lvl="1"/>
            <a:r>
              <a:rPr lang="en-US" dirty="0"/>
              <a:t>Create messages in </a:t>
            </a:r>
            <a:r>
              <a:rPr lang="en-US" dirty="0" smtClean="0"/>
              <a:t>Event Fired </a:t>
            </a:r>
            <a:r>
              <a:rPr lang="en-US" dirty="0"/>
              <a:t>rules</a:t>
            </a:r>
          </a:p>
          <a:p>
            <a:endParaRPr lang="en-US" dirty="0"/>
          </a:p>
        </p:txBody>
      </p:sp>
    </p:spTree>
    <p:extLst>
      <p:ext uri="{BB962C8B-B14F-4D97-AF65-F5344CB8AC3E}">
        <p14:creationId xmlns:p14="http://schemas.microsoft.com/office/powerpoint/2010/main" val="1696604355"/>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When does a message event get triggered?</a:t>
            </a:r>
          </a:p>
          <a:p>
            <a:r>
              <a:rPr lang="en-US" dirty="0"/>
              <a:t>What is the primary purpose of the MessageContext entity?</a:t>
            </a:r>
          </a:p>
          <a:p>
            <a:r>
              <a:rPr lang="en-US" dirty="0"/>
              <a:t>A Guidewire application has seven destinations and an event-aware entity called Escalation. When an Escalation is created, what is the maximum number of MessageContexts that might get created? What is the minimum?</a:t>
            </a:r>
          </a:p>
          <a:p>
            <a:r>
              <a:rPr lang="en-US" dirty="0"/>
              <a:t>What plugin is required for every destination? What does this plugin do?</a:t>
            </a:r>
          </a:p>
          <a:p>
            <a:r>
              <a:rPr lang="en-US" dirty="0"/>
              <a:t>Why does every </a:t>
            </a:r>
            <a:r>
              <a:rPr lang="en-US" dirty="0" smtClean="0"/>
              <a:t>Event Fired </a:t>
            </a:r>
            <a:r>
              <a:rPr lang="en-US" dirty="0"/>
              <a:t>rule cast the MessageContext.Root object it receives?</a:t>
            </a:r>
          </a:p>
          <a:p>
            <a:endParaRPr lang="en-US" dirty="0"/>
          </a:p>
        </p:txBody>
      </p:sp>
    </p:spTree>
    <p:extLst>
      <p:ext uri="{BB962C8B-B14F-4D97-AF65-F5344CB8AC3E}">
        <p14:creationId xmlns:p14="http://schemas.microsoft.com/office/powerpoint/2010/main" val="1418831828"/>
      </p:ext>
    </p:extLst>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2613362"/>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Emerald_Template">
  <a:themeElements>
    <a:clrScheme name="TA80_CurrDev_ThemeColorsSetA">
      <a:dk1>
        <a:srgbClr val="000000"/>
      </a:dk1>
      <a:lt1>
        <a:srgbClr val="FFFFFF"/>
      </a:lt1>
      <a:dk2>
        <a:srgbClr val="000000"/>
      </a:dk2>
      <a:lt2>
        <a:srgbClr val="FFFFFF"/>
      </a:lt2>
      <a:accent1>
        <a:srgbClr val="D33941"/>
      </a:accent1>
      <a:accent2>
        <a:srgbClr val="E5BA03"/>
      </a:accent2>
      <a:accent3>
        <a:srgbClr val="645893"/>
      </a:accent3>
      <a:accent4>
        <a:srgbClr val="D8691E"/>
      </a:accent4>
      <a:accent5>
        <a:srgbClr val="3F8E39"/>
      </a:accent5>
      <a:accent6>
        <a:srgbClr val="04628C"/>
      </a:accent6>
      <a:hlink>
        <a:srgbClr val="0000CC"/>
      </a:hlink>
      <a:folHlink>
        <a:srgbClr val="333399"/>
      </a:folHlink>
    </a:clrScheme>
    <a:fontScheme name="TA80_CurrDev_Theme_fontScheme">
      <a:majorFont>
        <a:latin typeface="Arial"/>
        <a:ea typeface=""/>
        <a:cs typeface=""/>
      </a:majorFont>
      <a:minorFont>
        <a:latin typeface="Arial"/>
        <a:ea typeface=""/>
        <a:cs typeface=""/>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noAutofit/>
      </a:bodyPr>
      <a:lstStyle>
        <a:defPPr>
          <a:defRPr dirty="0" smtClean="0">
            <a:solidFill>
              <a:srgbClr val="C00000"/>
            </a:solidFill>
            <a:latin typeface="Arial" pitchFamily="32" charset="0"/>
            <a:cs typeface="Arial" pitchFamily="32"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FE25F46BE72C745BC3597C411E6D698" ma:contentTypeVersion="7" ma:contentTypeDescription="Create a new document." ma:contentTypeScope="" ma:versionID="42cc1264122cb5f1b00ff050e8ed06f3">
  <xsd:schema xmlns:xsd="http://www.w3.org/2001/XMLSchema" xmlns:xs="http://www.w3.org/2001/XMLSchema" xmlns:p="http://schemas.microsoft.com/office/2006/metadata/properties" xmlns:ns2="cc6d5ae3-247c-49fe-9479-82cb21687850" targetNamespace="http://schemas.microsoft.com/office/2006/metadata/properties" ma:root="true" ma:fieldsID="3428103ad3fab95bdcad552e0b740dff" ns2:_="">
    <xsd:import namespace="cc6d5ae3-247c-49fe-9479-82cb2168785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c6d5ae3-247c-49fe-9479-82cb216878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3F08608-69F4-488B-892C-AA449270ABF5}"/>
</file>

<file path=customXml/itemProps2.xml><?xml version="1.0" encoding="utf-8"?>
<ds:datastoreItem xmlns:ds="http://schemas.openxmlformats.org/officeDocument/2006/customXml" ds:itemID="{402644E1-AC8B-4094-837C-50B37D30E04A}"/>
</file>

<file path=customXml/itemProps3.xml><?xml version="1.0" encoding="utf-8"?>
<ds:datastoreItem xmlns:ds="http://schemas.openxmlformats.org/officeDocument/2006/customXml" ds:itemID="{CD5C0249-907E-4662-A5DF-04D56C0634E2}"/>
</file>

<file path=docProps/app.xml><?xml version="1.0" encoding="utf-8"?>
<Properties xmlns="http://schemas.openxmlformats.org/officeDocument/2006/extended-properties" xmlns:vt="http://schemas.openxmlformats.org/officeDocument/2006/docPropsVTypes">
  <Template>Emerald_Template</Template>
  <TotalTime>1408</TotalTime>
  <Words>3389</Words>
  <Application>Microsoft Office PowerPoint</Application>
  <PresentationFormat>On-screen Show (4:3)</PresentationFormat>
  <Paragraphs>310</Paragraphs>
  <Slides>26</Slides>
  <Notes>26</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Emerald_Template</vt:lpstr>
      <vt:lpstr>Triggering Messages </vt:lpstr>
      <vt:lpstr>PowerPoint Presentation</vt:lpstr>
      <vt:lpstr>PowerPoint Presentation</vt:lpstr>
      <vt:lpstr>Messaging entities</vt:lpstr>
      <vt:lpstr>EventAware entity</vt:lpstr>
      <vt:lpstr>Messaging Events</vt:lpstr>
      <vt:lpstr>MessageContext entity</vt:lpstr>
      <vt:lpstr>Message entity</vt:lpstr>
      <vt:lpstr>Triggering message events in code</vt:lpstr>
      <vt:lpstr>PowerPoint Presentation</vt:lpstr>
      <vt:lpstr>Destination</vt:lpstr>
      <vt:lpstr>Destination message events</vt:lpstr>
      <vt:lpstr>Defining a messaging destination</vt:lpstr>
      <vt:lpstr>Messaging editor</vt:lpstr>
      <vt:lpstr>PowerPoint Presentation</vt:lpstr>
      <vt:lpstr>Guidewire business rules</vt:lpstr>
      <vt:lpstr>Rule set execution</vt:lpstr>
      <vt:lpstr>Rule set editor</vt:lpstr>
      <vt:lpstr>Event Fired rule set</vt:lpstr>
      <vt:lpstr>Event Fired rule set hierarchy structure</vt:lpstr>
      <vt:lpstr>Creating messages from MessageContexts</vt:lpstr>
      <vt:lpstr>Modifying data in Event Fired rules</vt:lpstr>
      <vt:lpstr>Deploy Destination and Event Fired Rules</vt:lpstr>
      <vt:lpstr>PowerPoint Presentation</vt:lpstr>
      <vt:lpstr>PowerPoint Presentation</vt:lpstr>
      <vt:lpstr>PowerPoint Presentation</vt:lpstr>
    </vt:vector>
  </TitlesOfParts>
  <Company>Guidewire, Inc.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Messaging Triggering</dc:title>
  <dc:subject>Guidewire 8.0 Application Integration Messaging Triggering</dc:subject>
  <dc:creator>Seth Luersen</dc:creator>
  <cp:keywords>Emerald;Guidewire 8.0 Application Integration;Messaging Triggering</cp:keywords>
  <cp:lastModifiedBy>Guidewire Education</cp:lastModifiedBy>
  <cp:revision>113</cp:revision>
  <dcterms:created xsi:type="dcterms:W3CDTF">2013-08-19T16:16:51Z</dcterms:created>
  <dcterms:modified xsi:type="dcterms:W3CDTF">2014-05-16T21:10:32Z</dcterms:modified>
  <cp:contentStatus>Final</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MarkAsFinal">
    <vt:bool>true</vt:bool>
  </property>
  <property fmtid="{D5CDD505-2E9C-101B-9397-08002B2CF9AE}" pid="3" name="ContentTypeId">
    <vt:lpwstr>0x0101004FE25F46BE72C745BC3597C411E6D698</vt:lpwstr>
  </property>
</Properties>
</file>