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s/slide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7.xml" ContentType="application/vnd.openxmlformats-officedocument.presentationml.slide+xml"/>
  <Override PartName="/ppt/slides/slide35.xml" ContentType="application/vnd.openxmlformats-officedocument.presentationml.slide+xml"/>
  <Override PartName="/ppt/slides/slide37.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36.xml" ContentType="application/vnd.openxmlformats-officedocument.presentationml.slide+xml"/>
  <Override PartName="/ppt/slides/slide50.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7.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slideMasters/slideMaster1.xml" ContentType="application/vnd.openxmlformats-officedocument.presentationml.slideMaster+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47.xml" ContentType="application/vnd.openxmlformats-officedocument.presentationml.notesSlide+xml"/>
  <Override PartName="/ppt/notesSlides/notesSlide50.xml" ContentType="application/vnd.openxmlformats-officedocument.presentationml.notesSlide+xml"/>
  <Override PartName="/ppt/slideLayouts/slideLayout1.xml" ContentType="application/vnd.openxmlformats-officedocument.presentationml.slideLayout+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xml" ContentType="application/vnd.openxmlformats-officedocument.presentationml.notesSlide+xml"/>
  <Override PartName="/ppt/slideLayouts/slideLayout40.xml" ContentType="application/vnd.openxmlformats-officedocument.presentationml.slideLayout+xml"/>
  <Override PartName="/ppt/slideLayouts/slideLayout39.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46.xml" ContentType="application/vnd.openxmlformats-officedocument.presentationml.notesSlide+xml"/>
  <Override PartName="/ppt/notesSlides/notesSlide15.xml" ContentType="application/vnd.openxmlformats-officedocument.presentationml.notesSlide+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25.xml" ContentType="application/vnd.openxmlformats-officedocument.presentationml.slideLayout+xml"/>
  <Override PartName="/ppt/slideLayouts/slideLayout24.xml" ContentType="application/vnd.openxmlformats-officedocument.presentationml.slideLayout+xml"/>
  <Override PartName="/ppt/slideLayouts/slideLayout23.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notesSlides/notesSlide24.xml" ContentType="application/vnd.openxmlformats-officedocument.presentationml.notesSlide+xml"/>
  <Override PartName="/ppt/notesSlides/notesSlide14.xml" ContentType="application/vnd.openxmlformats-officedocument.presentationml.notesSlide+xml"/>
  <Override PartName="/ppt/notesSlides/notesSlide36.xml" ContentType="application/vnd.openxmlformats-officedocument.presentationml.notesSlide+xml"/>
  <Override PartName="/ppt/notesSlides/notesSlide31.xml" ContentType="application/vnd.openxmlformats-officedocument.presentationml.notesSlide+xml"/>
  <Override PartName="/ppt/notesSlides/notesSlide35.xml" ContentType="application/vnd.openxmlformats-officedocument.presentationml.notesSlide+xml"/>
  <Override PartName="/ppt/notesSlides/notesSlide43.xml" ContentType="application/vnd.openxmlformats-officedocument.presentationml.notesSlide+xml"/>
  <Override PartName="/ppt/notesSlides/notesSlide30.xml" ContentType="application/vnd.openxmlformats-officedocument.presentationml.notesSlide+xml"/>
  <Override PartName="/ppt/notesSlides/notesSlide29.xml" ContentType="application/vnd.openxmlformats-officedocument.presentationml.notesSlide+xml"/>
  <Override PartName="/ppt/notesSlides/notesSlide28.xml" ContentType="application/vnd.openxmlformats-officedocument.presentationml.notesSlide+xml"/>
  <Override PartName="/ppt/notesSlides/notesSlide41.xml" ContentType="application/vnd.openxmlformats-officedocument.presentationml.notesSlide+xml"/>
  <Override PartName="/ppt/notesSlides/notesSlide40.xml" ContentType="application/vnd.openxmlformats-officedocument.presentationml.notesSlide+xml"/>
  <Override PartName="/ppt/notesSlides/notesSlide32.xml" ContentType="application/vnd.openxmlformats-officedocument.presentationml.notesSlide+xml"/>
  <Override PartName="/ppt/notesSlides/notesSlide34.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33.xml" ContentType="application/vnd.openxmlformats-officedocument.presentationml.notesSlide+xml"/>
  <Override PartName="/ppt/notesSlides/notesSlide27.xml" ContentType="application/vnd.openxmlformats-officedocument.presentationml.notesSlide+xml"/>
  <Override PartName="/ppt/notesSlides/notesSlide42.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45.xml" ContentType="application/vnd.openxmlformats-officedocument.presentationml.notesSlide+xml"/>
  <Override PartName="/ppt/notesSlides/notesSlide44.xml" ContentType="application/vnd.openxmlformats-officedocument.presentationml.notesSlide+xml"/>
  <Override PartName="/ppt/theme/theme1.xml" ContentType="application/vnd.openxmlformats-officedocument.theme+xml"/>
  <Override PartName="/ppt/theme/theme3.xml" ContentType="application/vnd.openxmlformats-officedocument.theme+xml"/>
  <Override PartName="/ppt/theme/theme2.xml" ContentType="application/vnd.openxmlformats-officedocument.theme+xml"/>
  <Override PartName="/ppt/commentAuthors.xml" ContentType="application/vnd.openxmlformats-officedocument.presentationml.commentAuthors+xml"/>
  <Override PartName="/ppt/theme/themeOverride1.xml" ContentType="application/vnd.openxmlformats-officedocument.themeOverrid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1"/>
  </p:sldMasterIdLst>
  <p:notesMasterIdLst>
    <p:notesMasterId r:id="rId56"/>
  </p:notesMasterIdLst>
  <p:handoutMasterIdLst>
    <p:handoutMasterId r:id="rId57"/>
  </p:handoutMasterIdLst>
  <p:sldIdLst>
    <p:sldId id="256" r:id="rId2"/>
    <p:sldId id="257" r:id="rId3"/>
    <p:sldId id="258" r:id="rId4"/>
    <p:sldId id="289" r:id="rId5"/>
    <p:sldId id="290" r:id="rId6"/>
    <p:sldId id="291" r:id="rId7"/>
    <p:sldId id="281" r:id="rId8"/>
    <p:sldId id="263" r:id="rId9"/>
    <p:sldId id="305" r:id="rId10"/>
    <p:sldId id="299" r:id="rId11"/>
    <p:sldId id="300" r:id="rId12"/>
    <p:sldId id="301" r:id="rId13"/>
    <p:sldId id="306" r:id="rId14"/>
    <p:sldId id="375" r:id="rId15"/>
    <p:sldId id="376" r:id="rId16"/>
    <p:sldId id="303" r:id="rId17"/>
    <p:sldId id="327" r:id="rId18"/>
    <p:sldId id="328" r:id="rId19"/>
    <p:sldId id="329" r:id="rId20"/>
    <p:sldId id="368" r:id="rId21"/>
    <p:sldId id="304" r:id="rId22"/>
    <p:sldId id="360" r:id="rId23"/>
    <p:sldId id="285" r:id="rId24"/>
    <p:sldId id="337" r:id="rId25"/>
    <p:sldId id="349" r:id="rId26"/>
    <p:sldId id="350" r:id="rId27"/>
    <p:sldId id="341" r:id="rId28"/>
    <p:sldId id="343" r:id="rId29"/>
    <p:sldId id="374" r:id="rId30"/>
    <p:sldId id="344" r:id="rId31"/>
    <p:sldId id="346" r:id="rId32"/>
    <p:sldId id="347" r:id="rId33"/>
    <p:sldId id="348" r:id="rId34"/>
    <p:sldId id="377" r:id="rId35"/>
    <p:sldId id="371" r:id="rId36"/>
    <p:sldId id="287" r:id="rId37"/>
    <p:sldId id="358" r:id="rId38"/>
    <p:sldId id="316" r:id="rId39"/>
    <p:sldId id="338" r:id="rId40"/>
    <p:sldId id="318" r:id="rId41"/>
    <p:sldId id="319" r:id="rId42"/>
    <p:sldId id="320" r:id="rId43"/>
    <p:sldId id="321" r:id="rId44"/>
    <p:sldId id="325" r:id="rId45"/>
    <p:sldId id="362" r:id="rId46"/>
    <p:sldId id="373" r:id="rId47"/>
    <p:sldId id="363" r:id="rId48"/>
    <p:sldId id="364" r:id="rId49"/>
    <p:sldId id="365" r:id="rId50"/>
    <p:sldId id="369" r:id="rId51"/>
    <p:sldId id="370" r:id="rId52"/>
    <p:sldId id="372" r:id="rId53"/>
    <p:sldId id="260" r:id="rId54"/>
    <p:sldId id="262" r:id="rId5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BBE88CA-60B1-41F9-9D82-E2AD85DAA7FD}">
          <p14:sldIdLst>
            <p14:sldId id="256"/>
            <p14:sldId id="257"/>
          </p14:sldIdLst>
        </p14:section>
        <p14:section name="Overview" id="{0CA6634F-C6FD-4BBA-B04E-9ED03905FDE5}">
          <p14:sldIdLst>
            <p14:sldId id="258"/>
            <p14:sldId id="289"/>
            <p14:sldId id="290"/>
            <p14:sldId id="291"/>
            <p14:sldId id="281"/>
          </p14:sldIdLst>
        </p14:section>
        <p14:section name="Search Retrieval" id="{9AB265C6-82C7-403F-A73D-4F5DDCF28E70}">
          <p14:sldIdLst>
            <p14:sldId id="263"/>
            <p14:sldId id="305"/>
            <p14:sldId id="299"/>
            <p14:sldId id="300"/>
            <p14:sldId id="301"/>
            <p14:sldId id="306"/>
            <p14:sldId id="375"/>
            <p14:sldId id="376"/>
            <p14:sldId id="303"/>
            <p14:sldId id="327"/>
            <p14:sldId id="328"/>
            <p14:sldId id="329"/>
            <p14:sldId id="368"/>
            <p14:sldId id="304"/>
            <p14:sldId id="360"/>
          </p14:sldIdLst>
        </p14:section>
        <p14:section name="Large Loss" id="{6B47C053-8AE8-4597-A5C0-7395324E1480}">
          <p14:sldIdLst>
            <p14:sldId id="285"/>
            <p14:sldId id="337"/>
            <p14:sldId id="349"/>
            <p14:sldId id="350"/>
            <p14:sldId id="341"/>
            <p14:sldId id="343"/>
            <p14:sldId id="374"/>
            <p14:sldId id="344"/>
            <p14:sldId id="346"/>
            <p14:sldId id="347"/>
            <p14:sldId id="348"/>
            <p14:sldId id="377"/>
            <p14:sldId id="371"/>
          </p14:sldIdLst>
        </p14:section>
        <p14:section name="Risk Analysis" id="{A7F3B8F0-AFD3-4BBA-903F-7DAE80FAB403}">
          <p14:sldIdLst>
            <p14:sldId id="287"/>
            <p14:sldId id="358"/>
            <p14:sldId id="316"/>
            <p14:sldId id="338"/>
            <p14:sldId id="318"/>
            <p14:sldId id="319"/>
            <p14:sldId id="320"/>
            <p14:sldId id="321"/>
            <p14:sldId id="325"/>
            <p14:sldId id="362"/>
            <p14:sldId id="373"/>
            <p14:sldId id="363"/>
            <p14:sldId id="364"/>
            <p14:sldId id="365"/>
            <p14:sldId id="369"/>
            <p14:sldId id="370"/>
            <p14:sldId id="372"/>
          </p14:sldIdLst>
        </p14:section>
        <p14:section name="Review" id="{CD3E2942-0691-4B15-B842-079311E6BD2A}">
          <p14:sldIdLst>
            <p14:sldId id="260"/>
            <p14:sldId id="262"/>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uidewire Education" initials="sluersen" lastIdx="18"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429" autoAdjust="0"/>
    <p:restoredTop sz="75483" autoAdjust="0"/>
  </p:normalViewPr>
  <p:slideViewPr>
    <p:cSldViewPr showGuides="1">
      <p:cViewPr varScale="1">
        <p:scale>
          <a:sx n="81" d="100"/>
          <a:sy n="81" d="100"/>
        </p:scale>
        <p:origin x="-90" y="-426"/>
      </p:cViewPr>
      <p:guideLst>
        <p:guide orient="horz"/>
        <p:guide/>
      </p:guideLst>
    </p:cSldViewPr>
  </p:slideViewPr>
  <p:notesTextViewPr>
    <p:cViewPr>
      <p:scale>
        <a:sx n="125" d="100"/>
        <a:sy n="125" d="100"/>
      </p:scale>
      <p:origin x="0" y="0"/>
    </p:cViewPr>
  </p:notesTextViewPr>
  <p:sorterViewPr>
    <p:cViewPr>
      <p:scale>
        <a:sx n="100" d="100"/>
        <a:sy n="100" d="100"/>
      </p:scale>
      <p:origin x="0" y="0"/>
    </p:cViewPr>
  </p:sorterViewPr>
  <p:notesViewPr>
    <p:cSldViewPr showGuides="1">
      <p:cViewPr>
        <p:scale>
          <a:sx n="125" d="100"/>
          <a:sy n="125" d="100"/>
        </p:scale>
        <p:origin x="-420" y="-72"/>
      </p:cViewPr>
      <p:guideLst>
        <p:guide orient="horz"/>
        <p:guide/>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64" Type="http://schemas.openxmlformats.org/officeDocument/2006/relationships/customXml" Target="../customXml/item2.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65"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B0435FB-616F-428E-8B59-652E1B735B94}" type="datetimeFigureOut">
              <a:rPr lang="en-US" smtClean="0"/>
              <a:t>10/29/2014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29F476C-716D-4D92-B0B8-B6A8CF4642D9}" type="slidenum">
              <a:rPr lang="en-US" smtClean="0"/>
              <a:t>‹#›</a:t>
            </a:fld>
            <a:endParaRPr lang="en-US"/>
          </a:p>
        </p:txBody>
      </p:sp>
    </p:spTree>
    <p:extLst>
      <p:ext uri="{BB962C8B-B14F-4D97-AF65-F5344CB8AC3E}">
        <p14:creationId xmlns:p14="http://schemas.microsoft.com/office/powerpoint/2010/main" val="14312022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hidden="1"/>
          <p:cNvSpPr>
            <a:spLocks noGrp="1"/>
          </p:cNvSpPr>
          <p:nvPr>
            <p:ph type="hdr" sz="quarter"/>
          </p:nvPr>
        </p:nvSpPr>
        <p:spPr>
          <a:xfrm>
            <a:off x="-4012" y="1"/>
            <a:ext cx="6862011" cy="228599"/>
          </a:xfrm>
          <a:prstGeom prst="rect">
            <a:avLst/>
          </a:prstGeom>
        </p:spPr>
        <p:txBody>
          <a:bodyPr vert="horz" lIns="91440" tIns="45720" rIns="91440" bIns="45720" rtlCol="0"/>
          <a:lstStyle>
            <a:lvl1pPr algn="l">
              <a:defRPr sz="1200">
                <a:latin typeface="Arial" pitchFamily="34" charset="0"/>
                <a:cs typeface="Arial" pitchFamily="34" charset="0"/>
              </a:defRPr>
            </a:lvl1pPr>
          </a:lstStyle>
          <a:p>
            <a:endParaRPr lang="en-US"/>
          </a:p>
        </p:txBody>
      </p:sp>
      <p:sp>
        <p:nvSpPr>
          <p:cNvPr id="6" name="Footer Placeholder 5" hidden="1"/>
          <p:cNvSpPr>
            <a:spLocks noGrp="1"/>
          </p:cNvSpPr>
          <p:nvPr>
            <p:ph type="ftr" sz="quarter" idx="4"/>
          </p:nvPr>
        </p:nvSpPr>
        <p:spPr>
          <a:xfrm>
            <a:off x="76200" y="8799443"/>
            <a:ext cx="3581400" cy="303213"/>
          </a:xfrm>
          <a:prstGeom prst="rect">
            <a:avLst/>
          </a:prstGeom>
        </p:spPr>
        <p:txBody>
          <a:bodyPr vert="horz" lIns="91440" tIns="45720" rIns="91440" bIns="45720" rtlCol="0" anchor="b"/>
          <a:lstStyle>
            <a:lvl1pPr algn="l">
              <a:defRPr sz="800">
                <a:latin typeface="Arial" pitchFamily="34" charset="0"/>
                <a:cs typeface="Arial" pitchFamily="34" charset="0"/>
              </a:defRPr>
            </a:lvl1pPr>
          </a:lstStyle>
          <a:p>
            <a:endParaRPr lang="en-US"/>
          </a:p>
        </p:txBody>
      </p:sp>
      <p:sp>
        <p:nvSpPr>
          <p:cNvPr id="4" name="Slide Image Placeholder 3"/>
          <p:cNvSpPr>
            <a:spLocks noGrp="1" noRot="1" noChangeAspect="1"/>
          </p:cNvSpPr>
          <p:nvPr>
            <p:ph type="sldImg" idx="2"/>
          </p:nvPr>
        </p:nvSpPr>
        <p:spPr>
          <a:xfrm>
            <a:off x="800100" y="304800"/>
            <a:ext cx="5257800" cy="39433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52400" y="4343400"/>
            <a:ext cx="6553200" cy="4343400"/>
          </a:xfrm>
          <a:prstGeom prst="rect">
            <a:avLst/>
          </a:prstGeom>
        </p:spPr>
        <p:txBody>
          <a:bodyPr vert="horz" lIns="91440" tIns="45720" rIns="91440" bIns="45720" rtlCol="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Slide Number Placeholder 6"/>
          <p:cNvSpPr>
            <a:spLocks noGrp="1"/>
          </p:cNvSpPr>
          <p:nvPr>
            <p:ph type="sldNum" sz="quarter" idx="5"/>
          </p:nvPr>
        </p:nvSpPr>
        <p:spPr>
          <a:xfrm>
            <a:off x="3884613" y="8775380"/>
            <a:ext cx="2971800" cy="303212"/>
          </a:xfrm>
          <a:prstGeom prst="rect">
            <a:avLst/>
          </a:prstGeom>
        </p:spPr>
        <p:txBody>
          <a:bodyPr vert="horz" lIns="91440" tIns="45720" rIns="91440" bIns="45720" rtlCol="0" anchor="b"/>
          <a:lstStyle>
            <a:lvl1pPr algn="r">
              <a:defRPr sz="800">
                <a:latin typeface="Arial" pitchFamily="34" charset="0"/>
                <a:cs typeface="Arial" pitchFamily="34" charset="0"/>
              </a:defRPr>
            </a:lvl1pPr>
          </a:lstStyle>
          <a:p>
            <a:fld id="{BC59C1E8-2E88-4BF4-A80C-B8AE78323CDF}" type="slidenum">
              <a:rPr lang="en-US" smtClean="0"/>
              <a:pPr/>
              <a:t>‹#›</a:t>
            </a:fld>
            <a:endParaRPr lang="en-US"/>
          </a:p>
        </p:txBody>
      </p:sp>
      <p:sp>
        <p:nvSpPr>
          <p:cNvPr id="8" name="txt_CopyrightFooter"/>
          <p:cNvSpPr/>
          <p:nvPr/>
        </p:nvSpPr>
        <p:spPr>
          <a:xfrm>
            <a:off x="76200" y="8763000"/>
            <a:ext cx="3581400" cy="338554"/>
          </a:xfrm>
          <a:prstGeom prst="rect">
            <a:avLst/>
          </a:prstGeom>
        </p:spPr>
        <p:txBody>
          <a:bodyPr vert="horz" lIns="91440" tIns="45720" rIns="91440" bIns="45720" rtlCol="0" anchor="b"/>
          <a:lstStyle/>
          <a:p>
            <a:pPr lvl="0"/>
            <a:r>
              <a:rPr lang="en-US" sz="800" smtClean="0">
                <a:latin typeface="Arial" pitchFamily="34" charset="0"/>
                <a:cs typeface="Arial" pitchFamily="34" charset="0"/>
              </a:rPr>
              <a:t>© Guidewire Software, Inc. 2001-2014. All rights reserved.</a:t>
            </a:r>
            <a:br>
              <a:rPr lang="en-US" sz="800" smtClean="0">
                <a:latin typeface="Arial" pitchFamily="34" charset="0"/>
                <a:cs typeface="Arial" pitchFamily="34" charset="0"/>
              </a:rPr>
            </a:br>
            <a:r>
              <a:rPr lang="en-US" sz="800" smtClean="0">
                <a:latin typeface="Arial" pitchFamily="34" charset="0"/>
                <a:cs typeface="Arial" pitchFamily="34" charset="0"/>
              </a:rPr>
              <a:t>Do not distribute without permission.</a:t>
            </a:r>
            <a:endParaRPr lang="en-US" sz="800">
              <a:latin typeface="Arial" pitchFamily="34" charset="0"/>
              <a:cs typeface="Arial" pitchFamily="34" charset="0"/>
            </a:endParaRPr>
          </a:p>
        </p:txBody>
      </p:sp>
    </p:spTree>
    <p:extLst>
      <p:ext uri="{BB962C8B-B14F-4D97-AF65-F5344CB8AC3E}">
        <p14:creationId xmlns:p14="http://schemas.microsoft.com/office/powerpoint/2010/main" val="2150224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Arial" pitchFamily="34" charset="0"/>
      </a:defRPr>
    </a:lvl1pPr>
    <a:lvl2pPr marL="228600" indent="0" algn="l" defTabSz="914400" rtl="0" eaLnBrk="1" latinLnBrk="0" hangingPunct="1">
      <a:defRPr sz="1000" kern="1200">
        <a:solidFill>
          <a:schemeClr val="tx1"/>
        </a:solidFill>
        <a:latin typeface="Arial" pitchFamily="34" charset="0"/>
        <a:ea typeface="+mn-ea"/>
        <a:cs typeface="Arial" pitchFamily="34" charset="0"/>
      </a:defRPr>
    </a:lvl2pPr>
    <a:lvl3pPr marL="457200" indent="0" algn="l" defTabSz="914400" rtl="0" eaLnBrk="1" latinLnBrk="0" hangingPunct="1">
      <a:defRPr sz="1000" kern="1200">
        <a:solidFill>
          <a:schemeClr val="tx1"/>
        </a:solidFill>
        <a:latin typeface="Arial" pitchFamily="34" charset="0"/>
        <a:ea typeface="+mn-ea"/>
        <a:cs typeface="Arial" pitchFamily="34" charset="0"/>
      </a:defRPr>
    </a:lvl3pPr>
    <a:lvl4pPr marL="685800" indent="0" algn="l" defTabSz="914400" rtl="0" eaLnBrk="1" latinLnBrk="0" hangingPunct="1">
      <a:defRPr sz="1000" kern="1200">
        <a:solidFill>
          <a:schemeClr val="tx1"/>
        </a:solidFill>
        <a:latin typeface="Arial" pitchFamily="34" charset="0"/>
        <a:ea typeface="+mn-ea"/>
        <a:cs typeface="Arial" pitchFamily="34" charset="0"/>
      </a:defRPr>
    </a:lvl4pPr>
    <a:lvl5pPr marL="914400" indent="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a:t>
            </a:fld>
            <a:endParaRPr lang="en-US"/>
          </a:p>
        </p:txBody>
      </p:sp>
    </p:spTree>
    <p:extLst>
      <p:ext uri="{BB962C8B-B14F-4D97-AF65-F5344CB8AC3E}">
        <p14:creationId xmlns:p14="http://schemas.microsoft.com/office/powerpoint/2010/main" val="2677385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a:t>
            </a:fld>
            <a:endParaRPr lang="en-US"/>
          </a:p>
        </p:txBody>
      </p:sp>
    </p:spTree>
    <p:extLst>
      <p:ext uri="{BB962C8B-B14F-4D97-AF65-F5344CB8AC3E}">
        <p14:creationId xmlns:p14="http://schemas.microsoft.com/office/powerpoint/2010/main" val="21197888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a:t>
            </a:fld>
            <a:endParaRPr lang="en-US"/>
          </a:p>
        </p:txBody>
      </p:sp>
    </p:spTree>
    <p:extLst>
      <p:ext uri="{BB962C8B-B14F-4D97-AF65-F5344CB8AC3E}">
        <p14:creationId xmlns:p14="http://schemas.microsoft.com/office/powerpoint/2010/main" val="39528473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Every Guidewire application is designed to exchange information with other Guidewire applications. Each point of exchange is known as a cross-application integration point. The cross-application integration points are designed to:</a:t>
            </a:r>
          </a:p>
          <a:p>
            <a:pPr marL="171450" indent="-171450">
              <a:buFont typeface="Arial" pitchFamily="34" charset="0"/>
              <a:buChar char="•"/>
            </a:pPr>
            <a:r>
              <a:rPr lang="en-US" dirty="0" smtClean="0"/>
              <a:t>Require minimal work to enable</a:t>
            </a:r>
          </a:p>
          <a:p>
            <a:pPr marL="171450" indent="-171450">
              <a:buFont typeface="Arial" pitchFamily="34" charset="0"/>
              <a:buChar char="•"/>
            </a:pPr>
            <a:r>
              <a:rPr lang="en-US" dirty="0" smtClean="0"/>
              <a:t>Require as little configuration work as possible to meet the needs of any customer</a:t>
            </a:r>
          </a:p>
          <a:p>
            <a:pPr marL="171450" indent="-171450">
              <a:buFont typeface="Arial" pitchFamily="34" charset="0"/>
              <a:buChar char="•"/>
            </a:pPr>
            <a:r>
              <a:rPr lang="en-US" dirty="0" smtClean="0"/>
              <a:t>There are also cross-application integration points between:</a:t>
            </a:r>
          </a:p>
          <a:p>
            <a:pPr marL="171450" indent="-171450">
              <a:buFont typeface="Arial" pitchFamily="34" charset="0"/>
              <a:buChar char="•"/>
            </a:pPr>
            <a:r>
              <a:rPr lang="en-US" dirty="0" smtClean="0"/>
              <a:t>ContactManager and BillingCenter</a:t>
            </a:r>
          </a:p>
          <a:p>
            <a:pPr marL="171450" indent="-171450">
              <a:buFont typeface="Arial" pitchFamily="34" charset="0"/>
              <a:buChar char="•"/>
            </a:pPr>
            <a:r>
              <a:rPr lang="en-US" dirty="0" smtClean="0"/>
              <a:t>ContactManager and PolicyCenter</a:t>
            </a:r>
          </a:p>
          <a:p>
            <a:pPr marL="171450" indent="-171450">
              <a:buFont typeface="Arial" pitchFamily="34" charset="0"/>
              <a:buChar char="•"/>
            </a:pPr>
            <a:r>
              <a:rPr lang="en-US" dirty="0" smtClean="0"/>
              <a:t>ContactManager and ClaimCenter</a:t>
            </a:r>
          </a:p>
          <a:p>
            <a:endParaRPr lang="en-US" dirty="0" smtClean="0"/>
          </a:p>
          <a:p>
            <a:r>
              <a:rPr lang="en-US" dirty="0" smtClean="0"/>
              <a:t>There are no cross-application integration points between BillingCenter and ClaimCenter.</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a:t>
            </a:fld>
            <a:endParaRPr lang="en-US"/>
          </a:p>
        </p:txBody>
      </p:sp>
    </p:spTree>
    <p:extLst>
      <p:ext uri="{BB962C8B-B14F-4D97-AF65-F5344CB8AC3E}">
        <p14:creationId xmlns:p14="http://schemas.microsoft.com/office/powerpoint/2010/main" val="34176946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Cross-application integration points are built almost entirely from the standard Guidewire integration mechanisms. Some of the integration points use functionality that are not strictly integration mechanisms, such as xml files, assignment rules, and activity patterns.</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5</a:t>
            </a:fld>
            <a:endParaRPr lang="en-US"/>
          </a:p>
        </p:txBody>
      </p:sp>
    </p:spTree>
    <p:extLst>
      <p:ext uri="{BB962C8B-B14F-4D97-AF65-F5344CB8AC3E}">
        <p14:creationId xmlns:p14="http://schemas.microsoft.com/office/powerpoint/2010/main" val="17772173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mtClean="0"/>
              <a:t>The suite-config.xml file exists in every Guidewire application. For a given instance of a Guidewire application, the file specifies</a:t>
            </a:r>
            <a:r>
              <a:rPr lang="en-US" baseline="0" smtClean="0"/>
              <a:t> </a:t>
            </a:r>
            <a:r>
              <a:rPr lang="en-US" smtClean="0"/>
              <a:t>the URLs required to connect to other Guidewire applications.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mtClean="0"/>
              <a:t>When enabling cross-application integration points, edit the file</a:t>
            </a:r>
            <a:r>
              <a:rPr lang="en-US" baseline="0" smtClean="0"/>
              <a:t> and specify the correct URLs for each application.</a:t>
            </a:r>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6</a:t>
            </a:fld>
            <a:endParaRPr lang="en-US"/>
          </a:p>
        </p:txBody>
      </p:sp>
    </p:spTree>
    <p:extLst>
      <p:ext uri="{BB962C8B-B14F-4D97-AF65-F5344CB8AC3E}">
        <p14:creationId xmlns:p14="http://schemas.microsoft.com/office/powerpoint/2010/main" val="33744465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the slide example, the diagram shows a high-level view of PolicyCenter and ClaimCenter integration.</a:t>
            </a:r>
          </a:p>
          <a:p>
            <a:endParaRPr lang="en-US" dirty="0" smtClean="0"/>
          </a:p>
          <a:p>
            <a:r>
              <a:rPr lang="en-US" dirty="0" smtClean="0"/>
              <a:t>Policy search and retrieval consists of ClaimCenter requesting policy summaries from PolicyCenter that match a given set of criteria (policy search) and then requesting one policy from a set of policy summaries (policy retrieval).</a:t>
            </a:r>
          </a:p>
          <a:p>
            <a:endParaRPr lang="en-US" dirty="0" smtClean="0"/>
          </a:p>
          <a:p>
            <a:r>
              <a:rPr lang="en-US" dirty="0" smtClean="0"/>
              <a:t>Large loss notification consists of ClaimCenter sending notification to PolicyCenter when the reserves associated to a given claim exceed a given threshold.</a:t>
            </a:r>
          </a:p>
          <a:p>
            <a:endParaRPr lang="en-US" dirty="0" smtClean="0"/>
          </a:p>
          <a:p>
            <a:r>
              <a:rPr lang="en-US" dirty="0" smtClean="0"/>
              <a:t>Risk analysis consists of PolicyCenter requesting information about claims filed against a given policy so that the risk of the policy can be assessed (typically when the policy is up for renewal).</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7</a:t>
            </a:fld>
            <a:endParaRPr lang="en-US"/>
          </a:p>
        </p:txBody>
      </p:sp>
    </p:spTree>
    <p:extLst>
      <p:ext uri="{BB962C8B-B14F-4D97-AF65-F5344CB8AC3E}">
        <p14:creationId xmlns:p14="http://schemas.microsoft.com/office/powerpoint/2010/main" val="27986759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8</a:t>
            </a:fld>
            <a:endParaRPr lang="en-US"/>
          </a:p>
        </p:txBody>
      </p:sp>
    </p:spTree>
    <p:extLst>
      <p:ext uri="{BB962C8B-B14F-4D97-AF65-F5344CB8AC3E}">
        <p14:creationId xmlns:p14="http://schemas.microsoft.com/office/powerpoint/2010/main" val="41398717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latin typeface="Arial" pitchFamily="34" charset="0"/>
              </a:rPr>
              <a:t>Policy search occurs on the first step of the New Claim wizard. It consists of taking the search criteria entered by the user, querying PolicyCenter for policies matching the criteria, and then displaying the search results for the user.</a:t>
            </a:r>
          </a:p>
          <a:p>
            <a:endParaRPr lang="en-US" dirty="0" smtClean="0">
              <a:latin typeface="Arial" pitchFamily="34" charset="0"/>
            </a:endParaRPr>
          </a:p>
          <a:p>
            <a:r>
              <a:rPr lang="en-US" dirty="0" smtClean="0">
                <a:latin typeface="Arial" pitchFamily="34" charset="0"/>
              </a:rPr>
              <a:t>Policy retrieval typically occurs between the first and second steps of the New Claim wizard. It consists of retrieving a full copy of the policy selected by the adjuster in step 1 of the New Claim wizard, and then mapping the data in that policy to the ClaimCenter data model.</a:t>
            </a:r>
          </a:p>
          <a:p>
            <a:endParaRPr lang="en-US" dirty="0" smtClean="0">
              <a:latin typeface="Arial" pitchFamily="34" charset="0"/>
            </a:endParaRPr>
          </a:p>
          <a:p>
            <a:r>
              <a:rPr lang="en-US" dirty="0" smtClean="0">
                <a:latin typeface="Arial" pitchFamily="34" charset="0"/>
              </a:rPr>
              <a:t>For a given ClaimCenter claim, adjusters can also view the policy for that claim in PolicyCenter.</a:t>
            </a:r>
          </a:p>
          <a:p>
            <a:endParaRPr lang="en-US" dirty="0" smtClean="0">
              <a:latin typeface="Arial"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latin typeface="Arial" pitchFamily="34" charset="0"/>
            </a:endParaRP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9</a:t>
            </a:fld>
            <a:endParaRPr lang="en-US"/>
          </a:p>
        </p:txBody>
      </p:sp>
    </p:spTree>
    <p:extLst>
      <p:ext uri="{BB962C8B-B14F-4D97-AF65-F5344CB8AC3E}">
        <p14:creationId xmlns:p14="http://schemas.microsoft.com/office/powerpoint/2010/main" val="35515464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Step 1 of the New Claim wizard in ClaimCenter involves ensuring that a policy exists. This step enables you to direct ClaimCenter to search for an existing policy in PolicyCenter.</a:t>
            </a:r>
          </a:p>
          <a:p>
            <a:r>
              <a:rPr lang="en-US" dirty="0" smtClean="0"/>
              <a:t> </a:t>
            </a:r>
          </a:p>
          <a:p>
            <a:r>
              <a:rPr lang="en-US" dirty="0" smtClean="0"/>
              <a:t>In the ClaimCenter base application, policy search against PolicyCenter is enabled for personal auto and worker's comp policies only. Searching for policies for other lines of business results in an error.</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10</a:t>
            </a:fld>
            <a:endParaRPr lang="en-US"/>
          </a:p>
        </p:txBody>
      </p:sp>
    </p:spTree>
    <p:extLst>
      <p:ext uri="{BB962C8B-B14F-4D97-AF65-F5344CB8AC3E}">
        <p14:creationId xmlns:p14="http://schemas.microsoft.com/office/powerpoint/2010/main" val="22081205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If the policy exists, the details are retrieved from PolicyCenter. The New Claim wizard utilizes the policy and coverage dates, coverage types, and terms. It also uses other information specified on the policy such as locations, classifications, and objects such as a vehicle or building.</a:t>
            </a:r>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11</a:t>
            </a:fld>
            <a:endParaRPr lang="en-US"/>
          </a:p>
        </p:txBody>
      </p:sp>
    </p:spTree>
    <p:extLst>
      <p:ext uri="{BB962C8B-B14F-4D97-AF65-F5344CB8AC3E}">
        <p14:creationId xmlns:p14="http://schemas.microsoft.com/office/powerpoint/2010/main" val="18168115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"View Policy in Policy System" button is a navigation widget that pushes the user to the "View Policy" exit point. </a:t>
            </a:r>
          </a:p>
          <a:p>
            <a:endParaRPr lang="en-US" dirty="0"/>
          </a:p>
          <a:p>
            <a:r>
              <a:rPr lang="en-US" dirty="0" smtClean="0"/>
              <a:t>In order for the button to be visible:</a:t>
            </a:r>
          </a:p>
          <a:p>
            <a:pPr marL="171450" indent="-171450">
              <a:buFont typeface="Arial" pitchFamily="34" charset="0"/>
              <a:buChar char="•"/>
            </a:pPr>
            <a:r>
              <a:rPr lang="en-US" dirty="0" smtClean="0"/>
              <a:t>The value of the </a:t>
            </a:r>
            <a:r>
              <a:rPr lang="en-US" dirty="0" err="1" smtClean="0"/>
              <a:t>PolicySystemURL</a:t>
            </a:r>
            <a:r>
              <a:rPr lang="en-US" dirty="0" smtClean="0"/>
              <a:t> parameter in config.xml must be set.</a:t>
            </a:r>
          </a:p>
          <a:p>
            <a:pPr marL="171450" indent="-171450">
              <a:buFont typeface="Arial" pitchFamily="34" charset="0"/>
              <a:buChar char="•"/>
            </a:pPr>
            <a:r>
              <a:rPr lang="en-US" dirty="0" smtClean="0"/>
              <a:t>The user must have the "</a:t>
            </a:r>
            <a:r>
              <a:rPr lang="en-US" dirty="0" err="1" smtClean="0"/>
              <a:t>viewpolicysystem</a:t>
            </a:r>
            <a:r>
              <a:rPr lang="en-US" dirty="0" smtClean="0"/>
              <a:t>" system permission.</a:t>
            </a:r>
          </a:p>
          <a:p>
            <a:endParaRPr lang="en-US" dirty="0" smtClean="0"/>
          </a:p>
          <a:p>
            <a:r>
              <a:rPr lang="en-US" dirty="0" smtClean="0"/>
              <a:t>When the user clicks the button, the user must also authenticate against PolicyCenter.</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12</a:t>
            </a:fld>
            <a:endParaRPr lang="en-US"/>
          </a:p>
        </p:txBody>
      </p:sp>
    </p:spTree>
    <p:extLst>
      <p:ext uri="{BB962C8B-B14F-4D97-AF65-F5344CB8AC3E}">
        <p14:creationId xmlns:p14="http://schemas.microsoft.com/office/powerpoint/2010/main" val="24634919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Once </a:t>
            </a:r>
            <a:r>
              <a:rPr lang="en-US" dirty="0"/>
              <a:t>it is enabled, policy search and retrieval works in the following way:</a:t>
            </a:r>
          </a:p>
          <a:p>
            <a:pPr marL="228600" indent="-228600">
              <a:buFont typeface="+mj-lt"/>
              <a:buAutoNum type="arabicPeriod"/>
            </a:pPr>
            <a:r>
              <a:rPr lang="en-US" dirty="0"/>
              <a:t>During the New Claim wizard, the user enters criteria and search for policies. The search results are a set of zero to many policy summaries. The user later selects a given policy summary, and the full details of the policy are retrieved.</a:t>
            </a:r>
          </a:p>
          <a:p>
            <a:pPr marL="228600" indent="-228600">
              <a:buFont typeface="+mj-lt"/>
              <a:buAutoNum type="arabicPeriod"/>
            </a:pPr>
            <a:r>
              <a:rPr lang="en-US" dirty="0"/>
              <a:t>Both search and retrieval trigger the </a:t>
            </a:r>
            <a:r>
              <a:rPr lang="en-US" dirty="0" err="1"/>
              <a:t>IPolicyAdapter</a:t>
            </a:r>
            <a:r>
              <a:rPr lang="en-US" dirty="0"/>
              <a:t> plugin. The plugin registry entry for this plugin points to gw.plugin.pcintegration.pc800.PolicySearchPCPlugin.</a:t>
            </a:r>
          </a:p>
          <a:p>
            <a:pPr marL="228600" indent="-228600">
              <a:buFont typeface="+mj-lt"/>
              <a:buAutoNum type="arabicPeriod"/>
            </a:pPr>
            <a:r>
              <a:rPr lang="en-US" dirty="0"/>
              <a:t>The </a:t>
            </a:r>
            <a:r>
              <a:rPr lang="en-US" dirty="0" err="1"/>
              <a:t>PolicySearchPCPlugin</a:t>
            </a:r>
            <a:r>
              <a:rPr lang="en-US" dirty="0"/>
              <a:t> class makes use of a web service collection that references the PolicyCenter web </a:t>
            </a:r>
            <a:r>
              <a:rPr lang="en-US" dirty="0" smtClean="0"/>
              <a:t>service, </a:t>
            </a:r>
            <a:r>
              <a:rPr lang="en-US" dirty="0" err="1" smtClean="0"/>
              <a:t>CCPolicySearchIntegration</a:t>
            </a:r>
            <a:r>
              <a:rPr lang="en-US" dirty="0"/>
              <a:t>.</a:t>
            </a:r>
          </a:p>
          <a:p>
            <a:pPr marL="228600" indent="-228600">
              <a:buFont typeface="+mj-lt"/>
              <a:buAutoNum type="arabicPeriod"/>
            </a:pPr>
            <a:r>
              <a:rPr lang="en-US" dirty="0"/>
              <a:t>PolicyCenter publishes a </a:t>
            </a:r>
            <a:r>
              <a:rPr lang="en-US" dirty="0" err="1"/>
              <a:t>CCPolicySearchIntegration</a:t>
            </a:r>
            <a:r>
              <a:rPr lang="en-US" dirty="0"/>
              <a:t> web service collection (wsi.remote.gw.webservice.pc.pc800.ccpolicysearchintegration.CCPolicySearchIntegration) which contains methods called by </a:t>
            </a:r>
            <a:r>
              <a:rPr lang="en-US" dirty="0" err="1"/>
              <a:t>PolicySearchPCPlugin</a:t>
            </a:r>
            <a:r>
              <a:rPr lang="en-US" dirty="0"/>
              <a:t> for both policy search and policy retrieval.</a:t>
            </a:r>
          </a:p>
          <a:p>
            <a:endParaRPr lang="en-US" dirty="0"/>
          </a:p>
          <a:p>
            <a:r>
              <a:rPr lang="en-US" dirty="0"/>
              <a:t>In order to re-retrieve a copy of the policy from PolicyCenter during the policy refresh process, ClaimCenter </a:t>
            </a:r>
            <a:r>
              <a:rPr lang="en-US" dirty="0" smtClean="0"/>
              <a:t>also utilizes </a:t>
            </a:r>
            <a:r>
              <a:rPr lang="en-US" dirty="0"/>
              <a:t>the </a:t>
            </a:r>
            <a:r>
              <a:rPr lang="en-US" dirty="0" err="1"/>
              <a:t>IPolicyAdapter</a:t>
            </a:r>
            <a:r>
              <a:rPr lang="en-US" dirty="0"/>
              <a:t>.</a:t>
            </a:r>
          </a:p>
          <a:p>
            <a:endParaRPr lang="en-US" dirty="0"/>
          </a:p>
          <a:p>
            <a:r>
              <a:rPr lang="en-US" dirty="0"/>
              <a:t>In the slide example, the diagram describes integration between PolicyCenter 8.0.2 and ClaimCenter 8.0.2. Later versions of either product may come with updated versions of resources that are more appropriate to use. For example, when integrating with a version of ClaimCenter later than 8.0.2, there may be a more up-to-date web service endpoint to use. If you are integrating products later than 8.0.2, consult the installation guides for each product to determine the best resources to use.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13</a:t>
            </a:fld>
            <a:endParaRPr lang="en-US"/>
          </a:p>
        </p:txBody>
      </p:sp>
    </p:spTree>
    <p:extLst>
      <p:ext uri="{BB962C8B-B14F-4D97-AF65-F5344CB8AC3E}">
        <p14:creationId xmlns:p14="http://schemas.microsoft.com/office/powerpoint/2010/main" val="30864203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steps identify </a:t>
            </a:r>
            <a:r>
              <a:rPr lang="en-US" dirty="0"/>
              <a:t>the </a:t>
            </a:r>
            <a:r>
              <a:rPr lang="en-US" dirty="0" smtClean="0"/>
              <a:t>800 </a:t>
            </a:r>
            <a:r>
              <a:rPr lang="en-US" dirty="0"/>
              <a:t>version of the plugin </a:t>
            </a:r>
            <a:r>
              <a:rPr lang="en-US" dirty="0" smtClean="0"/>
              <a:t>class and pertains to a  PolicyCenter 8.0.2 integration with ClaimCenter. </a:t>
            </a:r>
            <a:r>
              <a:rPr lang="en-US" dirty="0"/>
              <a:t>If you are integrating ClaimCenter with a version of PolicyCenter later than </a:t>
            </a:r>
            <a:r>
              <a:rPr lang="en-US" dirty="0" smtClean="0"/>
              <a:t>8.0.2, consult </a:t>
            </a:r>
            <a:r>
              <a:rPr lang="en-US" dirty="0"/>
              <a:t>the ClaimCenter </a:t>
            </a:r>
            <a:r>
              <a:rPr lang="en-US" dirty="0" smtClean="0"/>
              <a:t>Installation Guide for specific integration related  configurations.</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14</a:t>
            </a:fld>
            <a:endParaRPr lang="en-US"/>
          </a:p>
        </p:txBody>
      </p:sp>
    </p:spTree>
    <p:extLst>
      <p:ext uri="{BB962C8B-B14F-4D97-AF65-F5344CB8AC3E}">
        <p14:creationId xmlns:p14="http://schemas.microsoft.com/office/powerpoint/2010/main" val="16348857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15</a:t>
            </a:fld>
            <a:endParaRPr lang="en-US"/>
          </a:p>
        </p:txBody>
      </p:sp>
    </p:spTree>
    <p:extLst>
      <p:ext uri="{BB962C8B-B14F-4D97-AF65-F5344CB8AC3E}">
        <p14:creationId xmlns:p14="http://schemas.microsoft.com/office/powerpoint/2010/main" val="8557516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16</a:t>
            </a:fld>
            <a:endParaRPr lang="en-US"/>
          </a:p>
        </p:txBody>
      </p:sp>
    </p:spTree>
    <p:extLst>
      <p:ext uri="{BB962C8B-B14F-4D97-AF65-F5344CB8AC3E}">
        <p14:creationId xmlns:p14="http://schemas.microsoft.com/office/powerpoint/2010/main" val="24671574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17</a:t>
            </a:fld>
            <a:endParaRPr lang="en-US"/>
          </a:p>
        </p:txBody>
      </p:sp>
    </p:spTree>
    <p:extLst>
      <p:ext uri="{BB962C8B-B14F-4D97-AF65-F5344CB8AC3E}">
        <p14:creationId xmlns:p14="http://schemas.microsoft.com/office/powerpoint/2010/main" val="19442599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In a development environment,</a:t>
            </a:r>
            <a:r>
              <a:rPr lang="en-US" baseline="0" dirty="0" smtClean="0"/>
              <a:t> </a:t>
            </a:r>
            <a:r>
              <a:rPr lang="en-US" dirty="0" smtClean="0"/>
              <a:t>the plugin registry element parameters can usually be set to "su" with a password of "gw".  </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In a production environment,</a:t>
            </a:r>
            <a:r>
              <a:rPr lang="en-US" baseline="0" dirty="0" smtClean="0"/>
              <a:t> t</a:t>
            </a:r>
            <a:r>
              <a:rPr lang="en-US" dirty="0" smtClean="0"/>
              <a:t>he plugin registry element parameters should be set to an appropriate PolicyCenter user name and password for executing searches in PolicyCenter.</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18</a:t>
            </a:fld>
            <a:endParaRPr lang="en-US"/>
          </a:p>
        </p:txBody>
      </p:sp>
    </p:spTree>
    <p:extLst>
      <p:ext uri="{BB962C8B-B14F-4D97-AF65-F5344CB8AC3E}">
        <p14:creationId xmlns:p14="http://schemas.microsoft.com/office/powerpoint/2010/main" val="19442599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a development environment,</a:t>
            </a:r>
            <a:r>
              <a:rPr lang="en-US" baseline="0" dirty="0" smtClean="0"/>
              <a:t> t</a:t>
            </a:r>
            <a:r>
              <a:rPr lang="en-US" dirty="0" smtClean="0"/>
              <a:t>he web service URL does not need to be modified if both applications are on the same machine and ClaimCenter is using the default port (8080).</a:t>
            </a:r>
          </a:p>
          <a:p>
            <a:endParaRPr lang="en-US" dirty="0" smtClean="0"/>
          </a:p>
          <a:p>
            <a:r>
              <a:rPr lang="en-US" dirty="0" smtClean="0"/>
              <a:t>In a production</a:t>
            </a:r>
            <a:r>
              <a:rPr lang="en-US" baseline="0" dirty="0" smtClean="0"/>
              <a:t> environment, t</a:t>
            </a:r>
            <a:r>
              <a:rPr lang="en-US" dirty="0" smtClean="0"/>
              <a:t>he web service URL may need to be modified if both applications are not on the same machine or if ClaimCenter is not using the default port (8080).</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19</a:t>
            </a:fld>
            <a:endParaRPr lang="en-US"/>
          </a:p>
        </p:txBody>
      </p:sp>
    </p:spTree>
    <p:extLst>
      <p:ext uri="{BB962C8B-B14F-4D97-AF65-F5344CB8AC3E}">
        <p14:creationId xmlns:p14="http://schemas.microsoft.com/office/powerpoint/2010/main" val="5904160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mtClean="0"/>
              <a:t>The PolicyCenter server must be running in order to fetch the</a:t>
            </a:r>
            <a:r>
              <a:rPr lang="en-US" baseline="0" smtClean="0"/>
              <a:t> WSDL.</a:t>
            </a:r>
            <a:endParaRPr lang="en-US" smtClean="0"/>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20</a:t>
            </a:fld>
            <a:endParaRPr lang="en-US"/>
          </a:p>
        </p:txBody>
      </p:sp>
    </p:spTree>
    <p:extLst>
      <p:ext uri="{BB962C8B-B14F-4D97-AF65-F5344CB8AC3E}">
        <p14:creationId xmlns:p14="http://schemas.microsoft.com/office/powerpoint/2010/main" val="9188129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find these resources in:</a:t>
            </a:r>
            <a:br>
              <a:rPr lang="en-US" dirty="0"/>
            </a:br>
            <a:r>
              <a:rPr lang="en-US" dirty="0">
                <a:latin typeface="Courier New" pitchFamily="49" charset="0"/>
                <a:cs typeface="Courier New" pitchFamily="49" charset="0"/>
              </a:rPr>
              <a:t>…\PolicyCenter\modules\configuration\</a:t>
            </a:r>
            <a:r>
              <a:rPr lang="en-US" dirty="0" err="1">
                <a:latin typeface="Courier New" pitchFamily="49" charset="0"/>
                <a:cs typeface="Courier New" pitchFamily="49" charset="0"/>
              </a:rPr>
              <a:t>gsrc</a:t>
            </a:r>
            <a:r>
              <a:rPr lang="en-US" dirty="0">
                <a:latin typeface="Courier New" pitchFamily="49" charset="0"/>
                <a:cs typeface="Courier New" pitchFamily="49" charset="0"/>
              </a:rPr>
              <a:t>\gw\</a:t>
            </a:r>
            <a:r>
              <a:rPr lang="en-US" dirty="0" err="1">
                <a:latin typeface="Courier New" pitchFamily="49" charset="0"/>
                <a:cs typeface="Courier New" pitchFamily="49" charset="0"/>
              </a:rPr>
              <a:t>webservice</a:t>
            </a:r>
            <a:r>
              <a:rPr lang="en-US" dirty="0">
                <a:latin typeface="Courier New" pitchFamily="49" charset="0"/>
                <a:cs typeface="Courier New" pitchFamily="49" charset="0"/>
              </a:rPr>
              <a:t>\pc\pc800</a:t>
            </a:r>
            <a:r>
              <a:rPr lang="en-US" dirty="0" smtClean="0">
                <a:latin typeface="Courier New" pitchFamily="49" charset="0"/>
                <a:cs typeface="Courier New" pitchFamily="49" charset="0"/>
              </a:rPr>
              <a:t>\</a:t>
            </a:r>
            <a:br>
              <a:rPr lang="en-US" dirty="0" smtClean="0">
                <a:latin typeface="Courier New" pitchFamily="49" charset="0"/>
                <a:cs typeface="Courier New" pitchFamily="49" charset="0"/>
              </a:rPr>
            </a:br>
            <a:r>
              <a:rPr lang="en-US" dirty="0" smtClean="0">
                <a:latin typeface="Courier New" pitchFamily="49" charset="0"/>
                <a:cs typeface="Courier New" pitchFamily="49" charset="0"/>
              </a:rPr>
              <a:t>ccintegration\CCPolicyGenerator.gs</a:t>
            </a:r>
            <a:r>
              <a:rPr lang="en-US" dirty="0"/>
              <a:t/>
            </a:r>
            <a:br>
              <a:rPr lang="en-US" dirty="0"/>
            </a:br>
            <a:r>
              <a:rPr lang="en-US" dirty="0" smtClean="0"/>
              <a:t>and</a:t>
            </a:r>
            <a:endParaRPr lang="en-US" dirty="0"/>
          </a:p>
          <a:p>
            <a:r>
              <a:rPr lang="en-US" dirty="0" smtClean="0">
                <a:latin typeface="Courier New" pitchFamily="49" charset="0"/>
                <a:cs typeface="Courier New" pitchFamily="49" charset="0"/>
              </a:rPr>
              <a:t>…\ClaimCenter\modules\configuration\config\</a:t>
            </a:r>
            <a:r>
              <a:rPr lang="en-US" dirty="0" err="1" smtClean="0">
                <a:latin typeface="Courier New" pitchFamily="49" charset="0"/>
                <a:cs typeface="Courier New" pitchFamily="49" charset="0"/>
              </a:rPr>
              <a:t>datamapping</a:t>
            </a:r>
            <a:r>
              <a:rPr lang="en-US" dirty="0" smtClean="0">
                <a:latin typeface="Courier New" pitchFamily="49" charset="0"/>
                <a:cs typeface="Courier New" pitchFamily="49" charset="0"/>
              </a:rPr>
              <a:t>\pc\800\</a:t>
            </a:r>
            <a:br>
              <a:rPr lang="en-US" dirty="0" smtClean="0">
                <a:latin typeface="Courier New" pitchFamily="49" charset="0"/>
                <a:cs typeface="Courier New" pitchFamily="49" charset="0"/>
              </a:rPr>
            </a:br>
            <a:r>
              <a:rPr lang="en-US" dirty="0" smtClean="0">
                <a:latin typeface="Courier New" pitchFamily="49" charset="0"/>
                <a:cs typeface="Courier New" pitchFamily="49" charset="0"/>
              </a:rPr>
              <a:t>pc-to-cc-data-mapping.xml</a:t>
            </a:r>
            <a:r>
              <a:rPr lang="en-US" dirty="0" smtClean="0"/>
              <a:t/>
            </a:r>
            <a:br>
              <a:rPr lang="en-US" dirty="0" smtClean="0"/>
            </a:br>
            <a:endParaRPr lang="en-US" dirty="0" smtClean="0"/>
          </a:p>
          <a:p>
            <a:r>
              <a:rPr lang="en-US" dirty="0" smtClean="0"/>
              <a:t>The logic to transform a PC policy into a CC policy is captured in several additional classes and files, including</a:t>
            </a:r>
            <a:r>
              <a:rPr lang="en-US" baseline="0" dirty="0" smtClean="0"/>
              <a:t> </a:t>
            </a:r>
            <a:r>
              <a:rPr lang="en-US" dirty="0" smtClean="0"/>
              <a:t>PolicyCenter's </a:t>
            </a:r>
            <a:r>
              <a:rPr lang="en-US" dirty="0" err="1" smtClean="0"/>
              <a:t>CCPolicy</a:t>
            </a:r>
            <a:r>
              <a:rPr lang="en-US" dirty="0" smtClean="0"/>
              <a:t> Generator class and ClaimCenter's pc-to-cc-data-mapping.  </a:t>
            </a:r>
          </a:p>
          <a:p>
            <a:endParaRPr lang="en-US" dirty="0" smtClean="0"/>
          </a:p>
          <a:p>
            <a:r>
              <a:rPr lang="en-US" dirty="0" smtClean="0"/>
              <a:t>In certain</a:t>
            </a:r>
            <a:r>
              <a:rPr lang="en-US" baseline="0" dirty="0" smtClean="0"/>
              <a:t> cases, the class and the xml file may need to be customized. </a:t>
            </a:r>
          </a:p>
          <a:p>
            <a:r>
              <a:rPr lang="en-US" dirty="0" smtClean="0"/>
              <a:t/>
            </a:r>
            <a:br>
              <a:rPr lang="en-US" dirty="0" smtClean="0"/>
            </a:br>
            <a:r>
              <a:rPr lang="en-US" dirty="0" smtClean="0">
                <a:latin typeface="Arial" pitchFamily="34" charset="0"/>
              </a:rPr>
              <a:t>In the base applications, policy search and retrieval is enabled only for two lines of business: personal auto and workers' comp. To modify the policy construction for these lines of business, and/or to add lines of business, one must modify the files that execute this transformation.</a:t>
            </a:r>
          </a:p>
          <a:p>
            <a:endParaRPr lang="en-US" dirty="0" smtClean="0">
              <a:latin typeface="Arial" pitchFamily="34" charset="0"/>
            </a:endParaRPr>
          </a:p>
          <a:p>
            <a:r>
              <a:rPr lang="en-US" dirty="0" smtClean="0">
                <a:latin typeface="Arial" pitchFamily="34" charset="0"/>
              </a:rPr>
              <a:t>For further information on what the files are and how to modify them, you should refer to the </a:t>
            </a:r>
            <a:r>
              <a:rPr lang="en-US" i="1" dirty="0" smtClean="0">
                <a:latin typeface="Arial" pitchFamily="34" charset="0"/>
              </a:rPr>
              <a:t>ClaimCenter 8.0 Integration Guide</a:t>
            </a:r>
            <a:r>
              <a:rPr lang="en-US" dirty="0" smtClean="0">
                <a:latin typeface="Arial" pitchFamily="34" charset="0"/>
              </a:rPr>
              <a:t>, in the section on claim and policy integration.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21</a:t>
            </a:fld>
            <a:endParaRPr lang="en-US"/>
          </a:p>
        </p:txBody>
      </p:sp>
    </p:spTree>
    <p:extLst>
      <p:ext uri="{BB962C8B-B14F-4D97-AF65-F5344CB8AC3E}">
        <p14:creationId xmlns:p14="http://schemas.microsoft.com/office/powerpoint/2010/main" val="17127148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mtClean="0"/>
              <a:t>You must restart the server when you create or modify destinations, plugin registry elements, and/or reply plugins.</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22</a:t>
            </a:fld>
            <a:endParaRPr lang="en-US"/>
          </a:p>
        </p:txBody>
      </p:sp>
    </p:spTree>
    <p:extLst>
      <p:ext uri="{BB962C8B-B14F-4D97-AF65-F5344CB8AC3E}">
        <p14:creationId xmlns:p14="http://schemas.microsoft.com/office/powerpoint/2010/main" val="20538362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23</a:t>
            </a:fld>
            <a:endParaRPr lang="en-US"/>
          </a:p>
        </p:txBody>
      </p:sp>
    </p:spTree>
    <p:extLst>
      <p:ext uri="{BB962C8B-B14F-4D97-AF65-F5344CB8AC3E}">
        <p14:creationId xmlns:p14="http://schemas.microsoft.com/office/powerpoint/2010/main" val="12640232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Sending notifications to the policy’s underwriter helps in determining risk and ultimately granting a policy renewal (or not).</a:t>
            </a:r>
          </a:p>
          <a:p>
            <a:endParaRPr lang="en-US" dirty="0" smtClean="0"/>
          </a:p>
          <a:p>
            <a:r>
              <a:rPr lang="en-US" dirty="0" smtClean="0"/>
              <a:t>Sometimes a claim has a large loss associated with it. The amount of the large loss threshold is defined in ClaimCenter and varies depending on the line of business (policy type). For example, a personal auto large loss notification would generally be based on a smaller threshold than one for a homeowner’s policy. The large loss information is critical to an underwriter who uses the information in determining risk and ultimately granting (or denying) a policy renewal. </a:t>
            </a:r>
          </a:p>
          <a:p>
            <a:endParaRPr lang="en-US" dirty="0" smtClean="0"/>
          </a:p>
          <a:p>
            <a:r>
              <a:rPr lang="en-US" dirty="0" smtClean="0"/>
              <a:t>When a claim’s loss reaches the predefined threshold, ClaimCenter creates a message that results in an activity being created in PolicyCenter on the account. The underwriter needs this type of information in deciding whether to grant a policy renewal. If ClaimCenter has already sent a large loss notification to PolicyCenter for the claim, it does not send an additional notification.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24</a:t>
            </a:fld>
            <a:endParaRPr lang="en-US"/>
          </a:p>
        </p:txBody>
      </p:sp>
    </p:spTree>
    <p:extLst>
      <p:ext uri="{BB962C8B-B14F-4D97-AF65-F5344CB8AC3E}">
        <p14:creationId xmlns:p14="http://schemas.microsoft.com/office/powerpoint/2010/main" val="12767756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25</a:t>
            </a:fld>
            <a:endParaRPr lang="en-US"/>
          </a:p>
        </p:txBody>
      </p:sp>
    </p:spTree>
    <p:extLst>
      <p:ext uri="{BB962C8B-B14F-4D97-AF65-F5344CB8AC3E}">
        <p14:creationId xmlns:p14="http://schemas.microsoft.com/office/powerpoint/2010/main" val="38344042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You can reach the large loss threshold in either of the following ways from the user interface:</a:t>
            </a:r>
          </a:p>
          <a:p>
            <a:r>
              <a:rPr lang="en-US" dirty="0" smtClean="0"/>
              <a:t>(a) Create a claim in ClaimCenter with reserves such that gross total incurred on the claim exceeds the large loss gross total incurred threshold for the claim’s policy type, or</a:t>
            </a:r>
          </a:p>
          <a:p>
            <a:r>
              <a:rPr lang="en-US" dirty="0" smtClean="0"/>
              <a:t>(b) Add a new reserve, or new eroding future scheduled payment, or new payment to an existing claim such that the gross total incurred for that claim exceeds the large loss gross total incurred threshold. </a:t>
            </a:r>
          </a:p>
          <a:p>
            <a:endParaRPr lang="en-US" dirty="0" smtClean="0"/>
          </a:p>
          <a:p>
            <a:r>
              <a:rPr lang="en-US" dirty="0" smtClean="0"/>
              <a:t>In the slide example, the new reserve of $30,000 pushes the gross total incurred for the claim above its large loss threshold. In this instance,</a:t>
            </a:r>
            <a:r>
              <a:rPr lang="en-US" baseline="0" dirty="0" smtClean="0"/>
              <a:t> </a:t>
            </a:r>
            <a:r>
              <a:rPr lang="en-US" dirty="0" smtClean="0"/>
              <a:t>ClaimCenter informs</a:t>
            </a:r>
            <a:r>
              <a:rPr lang="en-US" baseline="0" dirty="0" smtClean="0"/>
              <a:t> </a:t>
            </a:r>
            <a:r>
              <a:rPr lang="en-US" dirty="0" smtClean="0"/>
              <a:t>PolicyCenter. PolicyCenter creates an activity for the account to alert the underwriter of the large loss amount. In addition, PolicyCenter creates a UW referral reason and attaches it to the policy to block binding of the renewal until the issue is resolved.</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26</a:t>
            </a:fld>
            <a:endParaRPr lang="en-US"/>
          </a:p>
        </p:txBody>
      </p:sp>
    </p:spTree>
    <p:extLst>
      <p:ext uri="{BB962C8B-B14F-4D97-AF65-F5344CB8AC3E}">
        <p14:creationId xmlns:p14="http://schemas.microsoft.com/office/powerpoint/2010/main" val="39367224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dirty="0" smtClean="0"/>
              <a:t>Large loss notification is an</a:t>
            </a:r>
            <a:r>
              <a:rPr lang="en-US" baseline="0" dirty="0" smtClean="0"/>
              <a:t> cross-application integration that consists of a t</a:t>
            </a:r>
            <a:r>
              <a:rPr lang="en-US" dirty="0" smtClean="0"/>
              <a:t>ransaction</a:t>
            </a:r>
            <a:r>
              <a:rPr lang="en-US" baseline="0" dirty="0" smtClean="0"/>
              <a:t>, various rules, messaging destination, messaging plugins, and a web service API.  A key aspect of the system architecture is to separate </a:t>
            </a:r>
            <a:r>
              <a:rPr lang="en-US" dirty="0" smtClean="0"/>
              <a:t>message creation (which most customers will not need to modify) from the message transport</a:t>
            </a:r>
            <a:r>
              <a:rPr lang="en-US" baseline="0" dirty="0" smtClean="0"/>
              <a:t> </a:t>
            </a:r>
            <a:r>
              <a:rPr lang="en-US" dirty="0" smtClean="0"/>
              <a:t>(which most customers would need to modify). The message</a:t>
            </a:r>
            <a:r>
              <a:rPr lang="en-US" baseline="0" dirty="0" smtClean="0"/>
              <a:t> </a:t>
            </a:r>
            <a:r>
              <a:rPr lang="en-US" dirty="0" smtClean="0"/>
              <a:t>transport plugin calls a predefined plugin. In most cases, customers will modify</a:t>
            </a:r>
            <a:r>
              <a:rPr lang="en-US" baseline="0" dirty="0" smtClean="0"/>
              <a:t> this </a:t>
            </a:r>
            <a:r>
              <a:rPr lang="en-US" dirty="0" smtClean="0"/>
              <a:t>predefined class. Once it is enabled, large loss notification works in the following way:</a:t>
            </a:r>
          </a:p>
          <a:p>
            <a:pPr marL="228600" indent="-228600">
              <a:buFont typeface="+mj-lt"/>
              <a:buAutoNum type="arabicPeriod"/>
            </a:pPr>
            <a:r>
              <a:rPr lang="en-US" i="1" dirty="0" smtClean="0"/>
              <a:t>TPU5000 - Large Loss Notification</a:t>
            </a:r>
            <a:r>
              <a:rPr lang="en-US" i="1" baseline="0" dirty="0" smtClean="0"/>
              <a:t> </a:t>
            </a:r>
            <a:r>
              <a:rPr lang="en-US" baseline="0" dirty="0" smtClean="0"/>
              <a:t>is a preupdate rule that </a:t>
            </a:r>
            <a:r>
              <a:rPr lang="en-US" dirty="0" smtClean="0"/>
              <a:t>checks to see if a newly created or modified transaction exceeds a large loss notification threshold for the first time for a given claim. When</a:t>
            </a:r>
            <a:r>
              <a:rPr lang="en-US" baseline="0" dirty="0" smtClean="0"/>
              <a:t> the rule condition</a:t>
            </a:r>
            <a:r>
              <a:rPr lang="en-US" dirty="0" smtClean="0"/>
              <a:t> is met, the rule action adds a </a:t>
            </a:r>
            <a:r>
              <a:rPr lang="en-US" i="1" dirty="0" err="1" smtClean="0"/>
              <a:t>ClaimExceedsLargeLoss</a:t>
            </a:r>
            <a:r>
              <a:rPr lang="en-US" dirty="0" smtClean="0"/>
              <a:t> event to the claim.</a:t>
            </a:r>
          </a:p>
          <a:p>
            <a:pPr marL="228600" indent="-228600">
              <a:buFont typeface="+mj-lt"/>
              <a:buAutoNum type="arabicPeriod"/>
            </a:pPr>
            <a:r>
              <a:rPr lang="en-US" dirty="0" smtClean="0"/>
              <a:t>The </a:t>
            </a:r>
            <a:r>
              <a:rPr lang="en-US" i="1" dirty="0" smtClean="0"/>
              <a:t>Policy System Notification</a:t>
            </a:r>
            <a:r>
              <a:rPr lang="en-US" dirty="0" smtClean="0"/>
              <a:t> messaging destination listens for the </a:t>
            </a:r>
            <a:r>
              <a:rPr lang="en-US" dirty="0" err="1" smtClean="0"/>
              <a:t>ClaimExceedsLargeLoss</a:t>
            </a:r>
            <a:r>
              <a:rPr lang="en-US" dirty="0" smtClean="0"/>
              <a:t> event and creates a MessageContext entity. </a:t>
            </a:r>
          </a:p>
          <a:p>
            <a:pPr marL="228600" indent="-228600">
              <a:buFont typeface="+mj-lt"/>
              <a:buAutoNum type="arabicPeriod"/>
            </a:pPr>
            <a:r>
              <a:rPr lang="en-US" dirty="0" smtClean="0"/>
              <a:t>The </a:t>
            </a:r>
            <a:r>
              <a:rPr lang="en-US" i="1" dirty="0" smtClean="0"/>
              <a:t>EFRO6000 - Policy System Notification</a:t>
            </a:r>
            <a:r>
              <a:rPr lang="en-US" dirty="0" smtClean="0"/>
              <a:t> event fired rule</a:t>
            </a:r>
            <a:r>
              <a:rPr lang="en-US" baseline="0" dirty="0" smtClean="0"/>
              <a:t> is associated with the Policy System Notification messaging destination. </a:t>
            </a:r>
            <a:r>
              <a:rPr lang="en-US" dirty="0" smtClean="0"/>
              <a:t>From the Policy System Notification event, t</a:t>
            </a:r>
            <a:r>
              <a:rPr lang="en-US" baseline="0" dirty="0" smtClean="0"/>
              <a:t>he rule</a:t>
            </a:r>
            <a:r>
              <a:rPr lang="en-US" dirty="0" smtClean="0"/>
              <a:t> executes in response</a:t>
            </a:r>
            <a:r>
              <a:rPr lang="en-US" baseline="0" dirty="0" smtClean="0"/>
              <a:t> to </a:t>
            </a:r>
            <a:r>
              <a:rPr lang="en-US" dirty="0" smtClean="0"/>
              <a:t>the </a:t>
            </a:r>
            <a:r>
              <a:rPr lang="en-US" dirty="0" err="1" smtClean="0"/>
              <a:t>ClaimExceedsLargeLoss</a:t>
            </a:r>
            <a:r>
              <a:rPr lang="en-US" dirty="0" smtClean="0"/>
              <a:t> event.</a:t>
            </a:r>
          </a:p>
          <a:p>
            <a:pPr marL="228600" indent="-228600">
              <a:buFont typeface="+mj-lt"/>
              <a:buAutoNum type="arabicPeriod"/>
            </a:pPr>
            <a:r>
              <a:rPr lang="en-US" dirty="0" smtClean="0"/>
              <a:t>The </a:t>
            </a:r>
            <a:r>
              <a:rPr lang="en-US" i="1" dirty="0" err="1" smtClean="0"/>
              <a:t>gw.plugin.policy.impl.PolicySystemNotificationMessageTransport</a:t>
            </a:r>
            <a:r>
              <a:rPr lang="en-US" dirty="0" smtClean="0"/>
              <a:t> plugin class sends</a:t>
            </a:r>
            <a:r>
              <a:rPr lang="en-US" baseline="0" dirty="0" smtClean="0"/>
              <a:t> and acknowledges the message using </a:t>
            </a:r>
            <a:r>
              <a:rPr lang="en-US" dirty="0" smtClean="0"/>
              <a:t>the send() method of the </a:t>
            </a:r>
            <a:r>
              <a:rPr lang="en-US" dirty="0" err="1" smtClean="0"/>
              <a:t>IPolicySystemNotification</a:t>
            </a:r>
            <a:r>
              <a:rPr lang="en-US" dirty="0" smtClean="0"/>
              <a:t> predefined plugin class.</a:t>
            </a:r>
          </a:p>
          <a:p>
            <a:pPr marL="228600" indent="-228600">
              <a:buFont typeface="+mj-lt"/>
              <a:buAutoNum type="arabicPeriod"/>
            </a:pPr>
            <a:r>
              <a:rPr lang="en-US" dirty="0" smtClean="0"/>
              <a:t>The </a:t>
            </a:r>
            <a:r>
              <a:rPr lang="en-US" dirty="0" err="1" smtClean="0"/>
              <a:t>IPolicySystemNotification</a:t>
            </a:r>
            <a:r>
              <a:rPr lang="en-US" dirty="0" smtClean="0"/>
              <a:t> predefined</a:t>
            </a:r>
            <a:r>
              <a:rPr lang="en-US" baseline="0" dirty="0" smtClean="0"/>
              <a:t> </a:t>
            </a:r>
            <a:r>
              <a:rPr lang="en-US" dirty="0" smtClean="0"/>
              <a:t>plugin class</a:t>
            </a:r>
            <a:r>
              <a:rPr lang="en-US" baseline="0" dirty="0" smtClean="0"/>
              <a:t> is </a:t>
            </a:r>
            <a:r>
              <a:rPr lang="en-US" i="1" dirty="0" smtClean="0"/>
              <a:t>gw.plugin.policy.notification.pc800.PCPolicySystemNotificationPlugin</a:t>
            </a:r>
            <a:r>
              <a:rPr lang="en-US" dirty="0" smtClean="0"/>
              <a:t>. This class sends the message using</a:t>
            </a:r>
            <a:r>
              <a:rPr lang="en-US" baseline="0" dirty="0" smtClean="0"/>
              <a:t> </a:t>
            </a:r>
            <a:r>
              <a:rPr lang="en-US" dirty="0" smtClean="0"/>
              <a:t>the </a:t>
            </a:r>
            <a:r>
              <a:rPr lang="en-US" i="1" dirty="0" smtClean="0"/>
              <a:t>wsi.remote.gw.webservice.pc.p800.ClaimToPolicySystemNotificationAPI</a:t>
            </a:r>
            <a:r>
              <a:rPr lang="en-US" dirty="0" smtClean="0"/>
              <a:t>,</a:t>
            </a:r>
            <a:r>
              <a:rPr lang="en-US" baseline="0" dirty="0" smtClean="0"/>
              <a:t> a web service in PolicyCenter.  </a:t>
            </a:r>
            <a:endParaRPr lang="en-US" dirty="0" smtClean="0"/>
          </a:p>
          <a:p>
            <a:pPr marL="171450" indent="-171450">
              <a:buFont typeface="Arial" pitchFamily="34" charset="0"/>
              <a:buChar char="•"/>
            </a:pPr>
            <a:endParaRPr lang="en-US" dirty="0" smtClean="0"/>
          </a:p>
          <a:p>
            <a:pPr marL="0" indent="0">
              <a:buFont typeface="Arial" pitchFamily="34" charset="0"/>
              <a:buNone/>
            </a:pPr>
            <a:r>
              <a:rPr lang="en-US" dirty="0" smtClean="0"/>
              <a:t>This slide describes integration between PolicyCenter 8.0.2 and ClaimCenter 8.0.2. Later versions of either product may come with updated versions of resources that are more appropriate to use. (For example, when integrating with a version of PolicyCenter later than 8.0.2, there may be a more up-to-date web service endpoint to use.) If you are integrating products later than 8.0.2, you should consult the installation guides for each product to determine the best resources to use.</a:t>
            </a:r>
          </a:p>
          <a:p>
            <a:pPr marL="0" indent="0">
              <a:buFont typeface="Arial" pitchFamily="34" charset="0"/>
              <a:buNone/>
            </a:pPr>
            <a:endParaRPr lang="en-US" dirty="0" smtClean="0"/>
          </a:p>
          <a:p>
            <a:pPr marL="0" indent="0">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BC59C1E8-2E88-4BF4-A80C-B8AE78323CDF}" type="slidenum">
              <a:rPr lang="en-US" smtClean="0"/>
              <a:pPr/>
              <a:t>27</a:t>
            </a:fld>
            <a:endParaRPr lang="en-US"/>
          </a:p>
        </p:txBody>
      </p:sp>
    </p:spTree>
    <p:extLst>
      <p:ext uri="{BB962C8B-B14F-4D97-AF65-F5344CB8AC3E}">
        <p14:creationId xmlns:p14="http://schemas.microsoft.com/office/powerpoint/2010/main" val="30864203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steps identify </a:t>
            </a:r>
            <a:r>
              <a:rPr lang="en-US" dirty="0"/>
              <a:t>the </a:t>
            </a:r>
            <a:r>
              <a:rPr lang="en-US" dirty="0" smtClean="0"/>
              <a:t>800 </a:t>
            </a:r>
            <a:r>
              <a:rPr lang="en-US" dirty="0"/>
              <a:t>version of the plugin </a:t>
            </a:r>
            <a:r>
              <a:rPr lang="en-US" dirty="0" smtClean="0"/>
              <a:t>class and pertains to a  PolicyCenter 8.0.2 integration with ClaimCenter. </a:t>
            </a:r>
            <a:r>
              <a:rPr lang="en-US" dirty="0"/>
              <a:t>If you are integrating ClaimCenter with a version of PolicyCenter later than </a:t>
            </a:r>
            <a:r>
              <a:rPr lang="en-US" dirty="0" smtClean="0"/>
              <a:t>8.0.2, consult </a:t>
            </a:r>
            <a:r>
              <a:rPr lang="en-US" dirty="0"/>
              <a:t>the ClaimCenter </a:t>
            </a:r>
            <a:r>
              <a:rPr lang="en-US" dirty="0" smtClean="0"/>
              <a:t>Installation Guide for specific integration related  configurations.</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28</a:t>
            </a:fld>
            <a:endParaRPr lang="en-US"/>
          </a:p>
        </p:txBody>
      </p:sp>
    </p:spTree>
    <p:extLst>
      <p:ext uri="{BB962C8B-B14F-4D97-AF65-F5344CB8AC3E}">
        <p14:creationId xmlns:p14="http://schemas.microsoft.com/office/powerpoint/2010/main" val="16348857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29</a:t>
            </a:fld>
            <a:endParaRPr lang="en-US"/>
          </a:p>
        </p:txBody>
      </p:sp>
    </p:spTree>
    <p:extLst>
      <p:ext uri="{BB962C8B-B14F-4D97-AF65-F5344CB8AC3E}">
        <p14:creationId xmlns:p14="http://schemas.microsoft.com/office/powerpoint/2010/main" val="85575162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30</a:t>
            </a:fld>
            <a:endParaRPr lang="en-US"/>
          </a:p>
        </p:txBody>
      </p:sp>
    </p:spTree>
    <p:extLst>
      <p:ext uri="{BB962C8B-B14F-4D97-AF65-F5344CB8AC3E}">
        <p14:creationId xmlns:p14="http://schemas.microsoft.com/office/powerpoint/2010/main" val="25630806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31</a:t>
            </a:fld>
            <a:endParaRPr lang="en-US"/>
          </a:p>
        </p:txBody>
      </p:sp>
    </p:spTree>
    <p:extLst>
      <p:ext uri="{BB962C8B-B14F-4D97-AF65-F5344CB8AC3E}">
        <p14:creationId xmlns:p14="http://schemas.microsoft.com/office/powerpoint/2010/main" val="7027479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baseline="0" smtClean="0">
              <a:solidFill>
                <a:schemeClr val="tx1"/>
              </a:solidFill>
              <a:effectLst/>
              <a:latin typeface="Arial" pitchFamily="34" charset="0"/>
              <a:ea typeface="+mn-ea"/>
              <a:cs typeface="Arial" pitchFamily="34" charset="0"/>
            </a:endParaRPr>
          </a:p>
        </p:txBody>
      </p:sp>
      <p:sp>
        <p:nvSpPr>
          <p:cNvPr id="4" name="Slide Number Placeholder 3"/>
          <p:cNvSpPr>
            <a:spLocks noGrp="1"/>
          </p:cNvSpPr>
          <p:nvPr>
            <p:ph type="sldNum" sz="quarter" idx="10"/>
          </p:nvPr>
        </p:nvSpPr>
        <p:spPr/>
        <p:txBody>
          <a:bodyPr/>
          <a:lstStyle/>
          <a:p>
            <a:fld id="{BC59C1E8-2E88-4BF4-A80C-B8AE78323CDF}" type="slidenum">
              <a:rPr lang="en-US" smtClean="0"/>
              <a:pPr/>
              <a:t>32</a:t>
            </a:fld>
            <a:endParaRPr lang="en-US"/>
          </a:p>
        </p:txBody>
      </p:sp>
    </p:spTree>
    <p:extLst>
      <p:ext uri="{BB962C8B-B14F-4D97-AF65-F5344CB8AC3E}">
        <p14:creationId xmlns:p14="http://schemas.microsoft.com/office/powerpoint/2010/main" val="34495559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33</a:t>
            </a:fld>
            <a:endParaRPr lang="en-US"/>
          </a:p>
        </p:txBody>
      </p:sp>
    </p:spTree>
    <p:extLst>
      <p:ext uri="{BB962C8B-B14F-4D97-AF65-F5344CB8AC3E}">
        <p14:creationId xmlns:p14="http://schemas.microsoft.com/office/powerpoint/2010/main" val="215873009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mtClean="0"/>
              <a:t>The PolicyCenter server must be running in order to fetch the</a:t>
            </a:r>
            <a:r>
              <a:rPr lang="en-US" baseline="0" smtClean="0"/>
              <a:t> WSDL.</a:t>
            </a:r>
            <a:endParaRPr lang="en-US" smtClean="0"/>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34</a:t>
            </a:fld>
            <a:endParaRPr lang="en-US"/>
          </a:p>
        </p:txBody>
      </p:sp>
    </p:spTree>
    <p:extLst>
      <p:ext uri="{BB962C8B-B14F-4D97-AF65-F5344CB8AC3E}">
        <p14:creationId xmlns:p14="http://schemas.microsoft.com/office/powerpoint/2010/main" val="91881290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You must restart the server when you create or modify destinations, plugin registry elements, and/or reply plugins.</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You can</a:t>
            </a:r>
            <a:r>
              <a:rPr lang="en-US" baseline="0" dirty="0" smtClean="0"/>
              <a:t> deploy modified rules when the s</a:t>
            </a:r>
            <a:r>
              <a:rPr lang="en-US" dirty="0" smtClean="0"/>
              <a:t>erver is running in run or debug server process.</a:t>
            </a:r>
            <a:r>
              <a:rPr lang="en-US" baseline="0" dirty="0" smtClean="0"/>
              <a:t> </a:t>
            </a:r>
            <a:r>
              <a:rPr lang="en-US" dirty="0" smtClean="0"/>
              <a:t>If the rules exists in a new rule set, then you</a:t>
            </a:r>
            <a:r>
              <a:rPr lang="en-US" baseline="0" dirty="0" smtClean="0"/>
              <a:t> must restart the server.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When you activate a deactivated</a:t>
            </a:r>
            <a:r>
              <a:rPr lang="en-US" baseline="0" dirty="0" smtClean="0"/>
              <a:t> rule in a rule set or deactivate an activated rule in a rule set, you have modified the rule set (.grs) class.</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35</a:t>
            </a:fld>
            <a:endParaRPr lang="en-US"/>
          </a:p>
        </p:txBody>
      </p:sp>
    </p:spTree>
    <p:extLst>
      <p:ext uri="{BB962C8B-B14F-4D97-AF65-F5344CB8AC3E}">
        <p14:creationId xmlns:p14="http://schemas.microsoft.com/office/powerpoint/2010/main" val="205383629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36</a:t>
            </a:fld>
            <a:endParaRPr lang="en-US"/>
          </a:p>
        </p:txBody>
      </p:sp>
    </p:spTree>
    <p:extLst>
      <p:ext uri="{BB962C8B-B14F-4D97-AF65-F5344CB8AC3E}">
        <p14:creationId xmlns:p14="http://schemas.microsoft.com/office/powerpoint/2010/main" val="276471619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From PolicyCenter, you can view losses on a policy or an account.  In addition, you can review a claim in more detail in ClaimCenter.</a:t>
            </a:r>
          </a:p>
          <a:p>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37</a:t>
            </a:fld>
            <a:endParaRPr lang="en-US"/>
          </a:p>
        </p:txBody>
      </p:sp>
    </p:spTree>
    <p:extLst>
      <p:ext uri="{BB962C8B-B14F-4D97-AF65-F5344CB8AC3E}">
        <p14:creationId xmlns:p14="http://schemas.microsoft.com/office/powerpoint/2010/main" val="355154643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You can view loss claims from the Policy File (Tools </a:t>
            </a:r>
            <a:r>
              <a:rPr lang="en-US" dirty="0" smtClean="0">
                <a:sym typeface="Wingdings" pitchFamily="2" charset="2"/>
              </a:rPr>
              <a:t> </a:t>
            </a:r>
            <a:r>
              <a:rPr lang="en-US" dirty="0" smtClean="0"/>
              <a:t>Risk Analysis </a:t>
            </a:r>
            <a:r>
              <a:rPr lang="en-US" dirty="0" smtClean="0">
                <a:sym typeface="Wingdings" pitchFamily="2" charset="2"/>
              </a:rPr>
              <a:t> Claims).</a:t>
            </a:r>
            <a:r>
              <a:rPr lang="en-US" dirty="0" smtClean="0"/>
              <a:t> </a:t>
            </a:r>
          </a:p>
          <a:p>
            <a:endParaRPr lang="en-US" dirty="0"/>
          </a:p>
          <a:p>
            <a:r>
              <a:rPr lang="en-US" dirty="0" smtClean="0"/>
              <a:t>As part of the decision to grant a policy renewal, it is primarily the underwriter and risk management staff who look for loss information from within a single policy. As the renewal date for a policy approaches, the underwriter looks at a particular policy period, examining the losses for the previous year to see if there is anything unusual. The underwriter</a:t>
            </a:r>
            <a:r>
              <a:rPr lang="en-US" baseline="0" dirty="0" smtClean="0"/>
              <a:t> assesses whether </a:t>
            </a:r>
            <a:r>
              <a:rPr lang="en-US" dirty="0" smtClean="0"/>
              <a:t>the level of claim activity is what</a:t>
            </a:r>
            <a:r>
              <a:rPr lang="en-US" baseline="0" dirty="0" smtClean="0"/>
              <a:t> can be reasonably </a:t>
            </a:r>
            <a:r>
              <a:rPr lang="en-US" dirty="0" smtClean="0"/>
              <a:t>expected for this type of business.</a:t>
            </a:r>
          </a:p>
          <a:p>
            <a:endParaRPr lang="en-US" dirty="0" smtClean="0"/>
          </a:p>
          <a:p>
            <a:r>
              <a:rPr lang="en-US" dirty="0" smtClean="0"/>
              <a:t>For the Policy Period drop-down list, the "All" selection requests that PolicyCenter sends ClaimCenter all the policy period numbers for the same policy to retrieve all the claims for the policy. A date range selection requests that PolicyCenter sends ClaimCenter the policy period numbers for the search date range so that ClaimCenter can provide PolicyCenter details about claims which occurred during that time. </a:t>
            </a:r>
          </a:p>
          <a:p>
            <a:endParaRPr lang="en-US" dirty="0" smtClean="0"/>
          </a:p>
          <a:p>
            <a:r>
              <a:rPr lang="en-US" dirty="0" smtClean="0"/>
              <a:t>When any claims are returned, the Policy Period filter enables you to filter the results for a given policy period or view all claims returned by the search.</a:t>
            </a:r>
          </a:p>
          <a:p>
            <a:endParaRPr lang="en-US" dirty="0" smtClean="0"/>
          </a:p>
          <a:p>
            <a:r>
              <a:rPr lang="en-US" dirty="0" smtClean="0"/>
              <a:t>As the renewal date for a policy approaches, the underwriter looks at a particular policy period, examining the losses for the previous year to see if there is anything unusual</a:t>
            </a:r>
            <a:r>
              <a:rPr lang="en-US" baseline="0" dirty="0" smtClean="0"/>
              <a:t>, for example, the l</a:t>
            </a:r>
            <a:r>
              <a:rPr lang="en-US" dirty="0" smtClean="0"/>
              <a:t>evel of claim activity.</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38</a:t>
            </a:fld>
            <a:endParaRPr lang="en-US"/>
          </a:p>
        </p:txBody>
      </p:sp>
    </p:spTree>
    <p:extLst>
      <p:ext uri="{BB962C8B-B14F-4D97-AF65-F5344CB8AC3E}">
        <p14:creationId xmlns:p14="http://schemas.microsoft.com/office/powerpoint/2010/main" val="170342775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mtClean="0"/>
              <a:t>For any policy, an underwriter with the correct ClaimCenter credentials can view more detailed claim information through an exit point in PolicyCenter to ClaimCenter.</a:t>
            </a:r>
          </a:p>
          <a:p>
            <a:endParaRPr lang="en-US" smtClean="0"/>
          </a:p>
        </p:txBody>
      </p:sp>
      <p:sp>
        <p:nvSpPr>
          <p:cNvPr id="409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0285" eaLnBrk="0" hangingPunct="0">
              <a:tabLst>
                <a:tab pos="2712495" algn="ctr"/>
              </a:tabLst>
              <a:defRPr sz="1800" b="1">
                <a:solidFill>
                  <a:srgbClr val="FF0000"/>
                </a:solidFill>
                <a:latin typeface="Arial" charset="0"/>
              </a:defRPr>
            </a:lvl1pPr>
            <a:lvl2pPr marL="685817" indent="-263776" defTabSz="920285" eaLnBrk="0" hangingPunct="0">
              <a:tabLst>
                <a:tab pos="2712495" algn="ctr"/>
              </a:tabLst>
              <a:defRPr sz="1800" b="1">
                <a:solidFill>
                  <a:srgbClr val="FF0000"/>
                </a:solidFill>
                <a:latin typeface="Arial" charset="0"/>
              </a:defRPr>
            </a:lvl2pPr>
            <a:lvl3pPr marL="1055103" indent="-211021" defTabSz="920285" eaLnBrk="0" hangingPunct="0">
              <a:tabLst>
                <a:tab pos="2712495" algn="ctr"/>
              </a:tabLst>
              <a:defRPr sz="1800" b="1">
                <a:solidFill>
                  <a:srgbClr val="FF0000"/>
                </a:solidFill>
                <a:latin typeface="Arial" charset="0"/>
              </a:defRPr>
            </a:lvl3pPr>
            <a:lvl4pPr marL="1477145" indent="-211021" defTabSz="920285" eaLnBrk="0" hangingPunct="0">
              <a:tabLst>
                <a:tab pos="2712495" algn="ctr"/>
              </a:tabLst>
              <a:defRPr sz="1800" b="1">
                <a:solidFill>
                  <a:srgbClr val="FF0000"/>
                </a:solidFill>
                <a:latin typeface="Arial" charset="0"/>
              </a:defRPr>
            </a:lvl4pPr>
            <a:lvl5pPr marL="1899186" indent="-211021" defTabSz="920285" eaLnBrk="0" hangingPunct="0">
              <a:tabLst>
                <a:tab pos="2712495" algn="ctr"/>
              </a:tabLst>
              <a:defRPr sz="1800" b="1">
                <a:solidFill>
                  <a:srgbClr val="FF0000"/>
                </a:solidFill>
                <a:latin typeface="Arial" charset="0"/>
              </a:defRPr>
            </a:lvl5pPr>
            <a:lvl6pPr marL="2321227" indent="-211021" algn="ctr" defTabSz="920285" eaLnBrk="0" fontAlgn="base" hangingPunct="0">
              <a:spcBef>
                <a:spcPct val="50000"/>
              </a:spcBef>
              <a:spcAft>
                <a:spcPct val="30000"/>
              </a:spcAft>
              <a:buClr>
                <a:schemeClr val="tx1"/>
              </a:buClr>
              <a:tabLst>
                <a:tab pos="2712495" algn="ctr"/>
              </a:tabLst>
              <a:defRPr sz="1800" b="1">
                <a:solidFill>
                  <a:srgbClr val="FF0000"/>
                </a:solidFill>
                <a:latin typeface="Arial" charset="0"/>
              </a:defRPr>
            </a:lvl6pPr>
            <a:lvl7pPr marL="2743269" indent="-211021" algn="ctr" defTabSz="920285" eaLnBrk="0" fontAlgn="base" hangingPunct="0">
              <a:spcBef>
                <a:spcPct val="50000"/>
              </a:spcBef>
              <a:spcAft>
                <a:spcPct val="30000"/>
              </a:spcAft>
              <a:buClr>
                <a:schemeClr val="tx1"/>
              </a:buClr>
              <a:tabLst>
                <a:tab pos="2712495" algn="ctr"/>
              </a:tabLst>
              <a:defRPr sz="1800" b="1">
                <a:solidFill>
                  <a:srgbClr val="FF0000"/>
                </a:solidFill>
                <a:latin typeface="Arial" charset="0"/>
              </a:defRPr>
            </a:lvl7pPr>
            <a:lvl8pPr marL="3165310" indent="-211021" algn="ctr" defTabSz="920285" eaLnBrk="0" fontAlgn="base" hangingPunct="0">
              <a:spcBef>
                <a:spcPct val="50000"/>
              </a:spcBef>
              <a:spcAft>
                <a:spcPct val="30000"/>
              </a:spcAft>
              <a:buClr>
                <a:schemeClr val="tx1"/>
              </a:buClr>
              <a:tabLst>
                <a:tab pos="2712495" algn="ctr"/>
              </a:tabLst>
              <a:defRPr sz="1800" b="1">
                <a:solidFill>
                  <a:srgbClr val="FF0000"/>
                </a:solidFill>
                <a:latin typeface="Arial" charset="0"/>
              </a:defRPr>
            </a:lvl8pPr>
            <a:lvl9pPr marL="3587351" indent="-211021" algn="ctr" defTabSz="920285" eaLnBrk="0" fontAlgn="base" hangingPunct="0">
              <a:spcBef>
                <a:spcPct val="50000"/>
              </a:spcBef>
              <a:spcAft>
                <a:spcPct val="30000"/>
              </a:spcAft>
              <a:buClr>
                <a:schemeClr val="tx1"/>
              </a:buClr>
              <a:tabLst>
                <a:tab pos="2712495" algn="ctr"/>
              </a:tabLst>
              <a:defRPr sz="1800" b="1">
                <a:solidFill>
                  <a:srgbClr val="FF0000"/>
                </a:solidFill>
                <a:latin typeface="Arial" charset="0"/>
              </a:defRPr>
            </a:lvl9pPr>
          </a:lstStyle>
          <a:p>
            <a:pPr eaLnBrk="1" hangingPunct="1"/>
            <a:r>
              <a:rPr lang="en-US" altLang="en-US" sz="1200" b="0">
                <a:solidFill>
                  <a:schemeClr val="tx1"/>
                </a:solidFill>
              </a:rPr>
              <a:t>	Searching for Claims for Risk Analysis - </a:t>
            </a:r>
            <a:fld id="{62F8DBCA-F73A-4C7A-A494-48679B3EB378}" type="slidenum">
              <a:rPr lang="en-US" altLang="en-US" sz="1200" b="0">
                <a:solidFill>
                  <a:schemeClr val="tx1"/>
                </a:solidFill>
              </a:rPr>
              <a:pPr eaLnBrk="1" hangingPunct="1"/>
              <a:t>39</a:t>
            </a:fld>
            <a:endParaRPr lang="en-US" altLang="en-US" sz="1200" b="0">
              <a:solidFill>
                <a:schemeClr val="tx1"/>
              </a:solidFill>
            </a:endParaRPr>
          </a:p>
        </p:txBody>
      </p:sp>
      <p:sp>
        <p:nvSpPr>
          <p:cNvPr id="40965"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008" eaLnBrk="0" hangingPunct="0">
              <a:tabLst>
                <a:tab pos="5529035" algn="r"/>
              </a:tabLst>
              <a:defRPr sz="1800" b="1">
                <a:solidFill>
                  <a:srgbClr val="FF0000"/>
                </a:solidFill>
                <a:latin typeface="Arial" charset="0"/>
              </a:defRPr>
            </a:lvl1pPr>
            <a:lvl2pPr marL="685817" indent="-263776" defTabSz="932008" eaLnBrk="0" hangingPunct="0">
              <a:tabLst>
                <a:tab pos="5529035" algn="r"/>
              </a:tabLst>
              <a:defRPr sz="1800" b="1">
                <a:solidFill>
                  <a:srgbClr val="FF0000"/>
                </a:solidFill>
                <a:latin typeface="Arial" charset="0"/>
              </a:defRPr>
            </a:lvl2pPr>
            <a:lvl3pPr marL="1055103" indent="-211021" defTabSz="932008" eaLnBrk="0" hangingPunct="0">
              <a:tabLst>
                <a:tab pos="5529035" algn="r"/>
              </a:tabLst>
              <a:defRPr sz="1800" b="1">
                <a:solidFill>
                  <a:srgbClr val="FF0000"/>
                </a:solidFill>
                <a:latin typeface="Arial" charset="0"/>
              </a:defRPr>
            </a:lvl3pPr>
            <a:lvl4pPr marL="1477145" indent="-211021" defTabSz="932008" eaLnBrk="0" hangingPunct="0">
              <a:tabLst>
                <a:tab pos="5529035" algn="r"/>
              </a:tabLst>
              <a:defRPr sz="1800" b="1">
                <a:solidFill>
                  <a:srgbClr val="FF0000"/>
                </a:solidFill>
                <a:latin typeface="Arial" charset="0"/>
              </a:defRPr>
            </a:lvl4pPr>
            <a:lvl5pPr marL="1899186" indent="-211021" defTabSz="932008" eaLnBrk="0" hangingPunct="0">
              <a:tabLst>
                <a:tab pos="5529035" algn="r"/>
              </a:tabLst>
              <a:defRPr sz="1800" b="1">
                <a:solidFill>
                  <a:srgbClr val="FF0000"/>
                </a:solidFill>
                <a:latin typeface="Arial" charset="0"/>
              </a:defRPr>
            </a:lvl5pPr>
            <a:lvl6pPr marL="2321227" indent="-211021" algn="ctr" defTabSz="932008" eaLnBrk="0" fontAlgn="base" hangingPunct="0">
              <a:spcBef>
                <a:spcPct val="50000"/>
              </a:spcBef>
              <a:spcAft>
                <a:spcPct val="30000"/>
              </a:spcAft>
              <a:buClr>
                <a:schemeClr val="tx1"/>
              </a:buClr>
              <a:tabLst>
                <a:tab pos="5529035" algn="r"/>
              </a:tabLst>
              <a:defRPr sz="1800" b="1">
                <a:solidFill>
                  <a:srgbClr val="FF0000"/>
                </a:solidFill>
                <a:latin typeface="Arial" charset="0"/>
              </a:defRPr>
            </a:lvl6pPr>
            <a:lvl7pPr marL="2743269" indent="-211021" algn="ctr" defTabSz="932008" eaLnBrk="0" fontAlgn="base" hangingPunct="0">
              <a:spcBef>
                <a:spcPct val="50000"/>
              </a:spcBef>
              <a:spcAft>
                <a:spcPct val="30000"/>
              </a:spcAft>
              <a:buClr>
                <a:schemeClr val="tx1"/>
              </a:buClr>
              <a:tabLst>
                <a:tab pos="5529035" algn="r"/>
              </a:tabLst>
              <a:defRPr sz="1800" b="1">
                <a:solidFill>
                  <a:srgbClr val="FF0000"/>
                </a:solidFill>
                <a:latin typeface="Arial" charset="0"/>
              </a:defRPr>
            </a:lvl7pPr>
            <a:lvl8pPr marL="3165310" indent="-211021" algn="ctr" defTabSz="932008" eaLnBrk="0" fontAlgn="base" hangingPunct="0">
              <a:spcBef>
                <a:spcPct val="50000"/>
              </a:spcBef>
              <a:spcAft>
                <a:spcPct val="30000"/>
              </a:spcAft>
              <a:buClr>
                <a:schemeClr val="tx1"/>
              </a:buClr>
              <a:tabLst>
                <a:tab pos="5529035" algn="r"/>
              </a:tabLst>
              <a:defRPr sz="1800" b="1">
                <a:solidFill>
                  <a:srgbClr val="FF0000"/>
                </a:solidFill>
                <a:latin typeface="Arial" charset="0"/>
              </a:defRPr>
            </a:lvl8pPr>
            <a:lvl9pPr marL="3587351" indent="-211021" algn="ctr" defTabSz="932008" eaLnBrk="0" fontAlgn="base" hangingPunct="0">
              <a:spcBef>
                <a:spcPct val="50000"/>
              </a:spcBef>
              <a:spcAft>
                <a:spcPct val="30000"/>
              </a:spcAft>
              <a:buClr>
                <a:schemeClr val="tx1"/>
              </a:buClr>
              <a:tabLst>
                <a:tab pos="5529035" algn="r"/>
              </a:tabLst>
              <a:defRPr sz="1800" b="1">
                <a:solidFill>
                  <a:srgbClr val="FF0000"/>
                </a:solidFill>
                <a:latin typeface="Arial" charset="0"/>
              </a:defRPr>
            </a:lvl9pPr>
          </a:lstStyle>
          <a:p>
            <a:pPr>
              <a:lnSpc>
                <a:spcPts val="1858"/>
              </a:lnSpc>
              <a:spcBef>
                <a:spcPts val="623"/>
              </a:spcBef>
            </a:pPr>
            <a:r>
              <a:rPr lang="en-US" altLang="en-US" sz="1200" b="0">
                <a:solidFill>
                  <a:schemeClr val="tx1"/>
                </a:solidFill>
              </a:rPr>
              <a:t>	</a:t>
            </a:r>
            <a:endParaRPr lang="en-US" sz="1200" b="0">
              <a:solidFill>
                <a:schemeClr val="tx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From PolicyCenter, you can view all the claims associated with an Account file. </a:t>
            </a:r>
          </a:p>
          <a:p>
            <a:endParaRPr lang="en-US" dirty="0" smtClean="0"/>
          </a:p>
          <a:p>
            <a:r>
              <a:rPr lang="en-US" dirty="0" smtClean="0"/>
              <a:t>The Account </a:t>
            </a:r>
            <a:r>
              <a:rPr lang="en-US" dirty="0" smtClean="0">
                <a:sym typeface="Wingdings" pitchFamily="2" charset="2"/>
              </a:rPr>
              <a:t> </a:t>
            </a:r>
            <a:r>
              <a:rPr lang="en-US" dirty="0" smtClean="0"/>
              <a:t>Claims page is similar to Policy </a:t>
            </a:r>
            <a:r>
              <a:rPr lang="en-US" dirty="0" smtClean="0">
                <a:sym typeface="Wingdings" pitchFamily="2" charset="2"/>
              </a:rPr>
              <a:t> </a:t>
            </a:r>
            <a:r>
              <a:rPr lang="en-US" dirty="0" smtClean="0"/>
              <a:t>Claims page, except that this page allows you to get all the claims for the policies associated with the account. The claims that are retrieved from ClaimCenter are all claims logged against the policy periods on the account with a loss date that falls within the selected loss date criterion. Notice that the policy number and product are also shown on the page. Because there can be multiple products for the account, a product filter enables you to filter the claims based on the product type. The Product drop-down list shows only products for which the account has at least one policy. </a:t>
            </a:r>
          </a:p>
          <a:p>
            <a:endParaRPr lang="en-US" dirty="0" smtClean="0">
              <a:latin typeface="Arial" pitchFamily="34" charset="0"/>
            </a:endParaRPr>
          </a:p>
          <a:p>
            <a:r>
              <a:rPr lang="en-US" dirty="0" smtClean="0">
                <a:latin typeface="Arial" pitchFamily="34" charset="0"/>
              </a:rPr>
              <a:t>There are several reasons to look at all the losses for a given account. For example, you may want to:</a:t>
            </a:r>
          </a:p>
          <a:p>
            <a:pPr marL="171450" indent="-171450">
              <a:buFont typeface="Arial" pitchFamily="34" charset="0"/>
              <a:buChar char="•"/>
            </a:pPr>
            <a:r>
              <a:rPr lang="en-US" dirty="0" smtClean="0">
                <a:latin typeface="Arial" pitchFamily="34" charset="0"/>
              </a:rPr>
              <a:t>Evaluate the account to assign a score that will determine the pricing of policies</a:t>
            </a:r>
          </a:p>
          <a:p>
            <a:pPr marL="171450" indent="-171450">
              <a:buFont typeface="Arial" pitchFamily="34" charset="0"/>
              <a:buChar char="•"/>
            </a:pPr>
            <a:r>
              <a:rPr lang="en-US" dirty="0" smtClean="0">
                <a:latin typeface="Arial" pitchFamily="34" charset="0"/>
              </a:rPr>
              <a:t>Determine whether this is a priority account that requires a dedicated claim resource</a:t>
            </a:r>
          </a:p>
          <a:p>
            <a:pPr marL="171450" indent="-171450">
              <a:buFont typeface="Arial" pitchFamily="34" charset="0"/>
              <a:buChar char="•"/>
            </a:pPr>
            <a:r>
              <a:rPr lang="en-US" dirty="0" smtClean="0">
                <a:latin typeface="Arial" pitchFamily="34" charset="0"/>
              </a:rPr>
              <a:t>Analyze the claim activity for the account by product</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40</a:t>
            </a:fld>
            <a:endParaRPr lang="en-US"/>
          </a:p>
        </p:txBody>
      </p:sp>
    </p:spTree>
    <p:extLst>
      <p:ext uri="{BB962C8B-B14F-4D97-AF65-F5344CB8AC3E}">
        <p14:creationId xmlns:p14="http://schemas.microsoft.com/office/powerpoint/2010/main" val="2257508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For any account, an underwriter with a user account in ClaimCenter can view more detailed claim information through an exit point to ClaimCenter.</a:t>
            </a:r>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41</a:t>
            </a:fld>
            <a:endParaRPr lang="en-US"/>
          </a:p>
        </p:txBody>
      </p:sp>
    </p:spTree>
    <p:extLst>
      <p:ext uri="{BB962C8B-B14F-4D97-AF65-F5344CB8AC3E}">
        <p14:creationId xmlns:p14="http://schemas.microsoft.com/office/powerpoint/2010/main" val="394014245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latin typeface="Arial" pitchFamily="34" charset="0"/>
              </a:rPr>
              <a:t>The renewal process is largely automated. When a renewal kicks off for a policy, PolicyCenter automatically executes the Evaluation rule sets at specific points in the process. The rules perform checks to identify and generate underwriting issues. When exceptions are generated due to blocking issues, these are caught and the renewal is then escalated to the underwriter's attention. When a new policy term is initiated, the evaluation checks likely include running a search for claims against the policy in ClaimCenter. In the default configuration, this is true for both automated and manual renewals.</a:t>
            </a:r>
          </a:p>
          <a:p>
            <a:endParaRPr lang="en-US" dirty="0" smtClean="0">
              <a:latin typeface="Arial" pitchFamily="34" charset="0"/>
            </a:endParaRPr>
          </a:p>
          <a:p>
            <a:r>
              <a:rPr lang="en-US" dirty="0" smtClean="0">
                <a:latin typeface="Arial" pitchFamily="34" charset="0"/>
              </a:rPr>
              <a:t>The following UW issues are defined in the base application:</a:t>
            </a:r>
          </a:p>
          <a:p>
            <a:pPr marL="400050" lvl="1" indent="-171450">
              <a:buFont typeface="Arial" pitchFamily="34" charset="0"/>
              <a:buChar char="•"/>
              <a:tabLst>
                <a:tab pos="2286000" algn="l"/>
              </a:tabLst>
            </a:pPr>
            <a:r>
              <a:rPr lang="en-US" sz="1200" dirty="0" smtClean="0">
                <a:latin typeface="Arial" pitchFamily="34" charset="0"/>
              </a:rPr>
              <a:t>Manual claim review needed</a:t>
            </a:r>
          </a:p>
          <a:p>
            <a:pPr marL="400050" lvl="1" indent="-171450">
              <a:buFont typeface="Arial" pitchFamily="34" charset="0"/>
              <a:buChar char="•"/>
              <a:tabLst>
                <a:tab pos="2286000" algn="l"/>
              </a:tabLst>
            </a:pPr>
            <a:r>
              <a:rPr lang="en-US" sz="1200" dirty="0" smtClean="0">
                <a:latin typeface="Arial" pitchFamily="34" charset="0"/>
              </a:rPr>
              <a:t>Ratio of claims total incurred to policy written premium</a:t>
            </a:r>
          </a:p>
          <a:p>
            <a:pPr marL="400050" lvl="1" indent="-171450">
              <a:buFont typeface="Arial" pitchFamily="34" charset="0"/>
              <a:buChar char="•"/>
              <a:tabLst>
                <a:tab pos="2286000" algn="l"/>
              </a:tabLst>
            </a:pPr>
            <a:r>
              <a:rPr lang="en-US" sz="1200" dirty="0" smtClean="0">
                <a:latin typeface="Arial" pitchFamily="34" charset="0"/>
              </a:rPr>
              <a:t>Incidence of claims</a:t>
            </a:r>
          </a:p>
          <a:p>
            <a:pPr marL="400050" lvl="1" indent="-171450">
              <a:buFont typeface="Arial" pitchFamily="34" charset="0"/>
              <a:buChar char="•"/>
              <a:tabLst>
                <a:tab pos="2286000" algn="l"/>
              </a:tabLst>
            </a:pPr>
            <a:r>
              <a:rPr lang="en-US" sz="1200" dirty="0" smtClean="0">
                <a:latin typeface="Arial" pitchFamily="34" charset="0"/>
              </a:rPr>
              <a:t>Unable to retrieve claims information</a:t>
            </a:r>
          </a:p>
          <a:p>
            <a:pPr marL="400050" lvl="1" indent="-171450">
              <a:buFont typeface="Arial" pitchFamily="34" charset="0"/>
              <a:buChar char="•"/>
              <a:tabLst>
                <a:tab pos="2286000" algn="l"/>
              </a:tabLst>
            </a:pPr>
            <a:r>
              <a:rPr lang="en-US" sz="1200" dirty="0" smtClean="0">
                <a:latin typeface="Arial" pitchFamily="34" charset="0"/>
              </a:rPr>
              <a:t>Claim total incurred (highest cost claim)</a:t>
            </a:r>
          </a:p>
          <a:p>
            <a:r>
              <a:rPr lang="en-US" dirty="0" smtClean="0">
                <a:latin typeface="Arial" pitchFamily="34" charset="0"/>
              </a:rPr>
              <a:t>All of the above issues are evaluated only for renewal jobs and can block bind.</a:t>
            </a:r>
          </a:p>
          <a:p>
            <a:endParaRPr lang="en-US" dirty="0" smtClean="0">
              <a:latin typeface="Arial" pitchFamily="34" charset="0"/>
            </a:endParaRP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42</a:t>
            </a:fld>
            <a:endParaRPr lang="en-US"/>
          </a:p>
        </p:txBody>
      </p:sp>
    </p:spTree>
    <p:extLst>
      <p:ext uri="{BB962C8B-B14F-4D97-AF65-F5344CB8AC3E}">
        <p14:creationId xmlns:p14="http://schemas.microsoft.com/office/powerpoint/2010/main" val="46962179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the slide example, the Risk Analysis screen contains a UW Issues card view panel. The card view panel shows the issues that block the binding of a policy renewal.</a:t>
            </a:r>
          </a:p>
          <a:p>
            <a:endParaRPr lang="en-US" dirty="0"/>
          </a:p>
          <a:p>
            <a:r>
              <a:rPr lang="en-US" dirty="0" smtClean="0"/>
              <a:t>The View Issues Blocking drop-down list acts as a filter.  A user can see the issues blocking the current user or all associated issues.</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43</a:t>
            </a:fld>
            <a:endParaRPr lang="en-US"/>
          </a:p>
        </p:txBody>
      </p:sp>
    </p:spTree>
    <p:extLst>
      <p:ext uri="{BB962C8B-B14F-4D97-AF65-F5344CB8AC3E}">
        <p14:creationId xmlns:p14="http://schemas.microsoft.com/office/powerpoint/2010/main" val="335097854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dirty="0" smtClean="0"/>
              <a:t>Once it is enabled, risk analysis works in the following way:</a:t>
            </a:r>
          </a:p>
          <a:p>
            <a:pPr marL="228600" indent="-228600">
              <a:buFont typeface="+mj-lt"/>
              <a:buAutoNum type="arabicPeriod"/>
              <a:defRPr/>
            </a:pPr>
            <a:r>
              <a:rPr lang="en-US" dirty="0" smtClean="0"/>
              <a:t>When a renewal is being processed (or when a user executes a claim search manually), the </a:t>
            </a:r>
            <a:r>
              <a:rPr lang="en-US" dirty="0" err="1" smtClean="0"/>
              <a:t>IClaimSearch</a:t>
            </a:r>
            <a:r>
              <a:rPr lang="en-US" dirty="0" smtClean="0"/>
              <a:t> predefined plugin is called.</a:t>
            </a:r>
          </a:p>
          <a:p>
            <a:pPr marL="228600" indent="-228600">
              <a:buFont typeface="+mj-lt"/>
              <a:buAutoNum type="arabicPeriod"/>
              <a:defRPr/>
            </a:pPr>
            <a:r>
              <a:rPr lang="en-US" dirty="0" smtClean="0"/>
              <a:t>The </a:t>
            </a:r>
            <a:r>
              <a:rPr lang="en-US" dirty="0" err="1" smtClean="0"/>
              <a:t>IClaimSearch</a:t>
            </a:r>
            <a:r>
              <a:rPr lang="en-US" dirty="0" smtClean="0"/>
              <a:t> plugin registry element points to gw.plugin.claimsearch.cc800.GWClaimSearchPlugin. This class calls the </a:t>
            </a:r>
            <a:r>
              <a:rPr lang="en-US" dirty="0" err="1" smtClean="0"/>
              <a:t>PCClaimSearchIntegrationAPI</a:t>
            </a:r>
            <a:r>
              <a:rPr lang="en-US" dirty="0" smtClean="0"/>
              <a:t>, which is declared in web service </a:t>
            </a:r>
            <a:r>
              <a:rPr lang="en-US" dirty="0" err="1" smtClean="0"/>
              <a:t>CCClaimSearchAPI</a:t>
            </a:r>
            <a:r>
              <a:rPr lang="en-US" dirty="0" smtClean="0"/>
              <a:t>.</a:t>
            </a:r>
          </a:p>
          <a:p>
            <a:pPr marL="228600" indent="-228600">
              <a:buFont typeface="+mj-lt"/>
              <a:buAutoNum type="arabicPeriod"/>
              <a:defRPr/>
            </a:pPr>
            <a:r>
              <a:rPr lang="en-US" dirty="0" smtClean="0"/>
              <a:t>If a user clicks the "View Claim in ClaimCenter" button, this button navigates to the PolicyCenter View Claim exit point, which in turn navigates to the </a:t>
            </a:r>
            <a:r>
              <a:rPr lang="en-US" dirty="0" err="1" smtClean="0"/>
              <a:t>ClaimSummaryLink</a:t>
            </a:r>
            <a:r>
              <a:rPr lang="en-US" dirty="0" smtClean="0"/>
              <a:t> entry point.</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44</a:t>
            </a:fld>
            <a:endParaRPr lang="en-US"/>
          </a:p>
        </p:txBody>
      </p:sp>
    </p:spTree>
    <p:extLst>
      <p:ext uri="{BB962C8B-B14F-4D97-AF65-F5344CB8AC3E}">
        <p14:creationId xmlns:p14="http://schemas.microsoft.com/office/powerpoint/2010/main" val="308642030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45</a:t>
            </a:fld>
            <a:endParaRPr lang="en-US"/>
          </a:p>
        </p:txBody>
      </p:sp>
    </p:spTree>
    <p:extLst>
      <p:ext uri="{BB962C8B-B14F-4D97-AF65-F5344CB8AC3E}">
        <p14:creationId xmlns:p14="http://schemas.microsoft.com/office/powerpoint/2010/main" val="60114388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46</a:t>
            </a:fld>
            <a:endParaRPr lang="en-US"/>
          </a:p>
        </p:txBody>
      </p:sp>
    </p:spTree>
    <p:extLst>
      <p:ext uri="{BB962C8B-B14F-4D97-AF65-F5344CB8AC3E}">
        <p14:creationId xmlns:p14="http://schemas.microsoft.com/office/powerpoint/2010/main" val="85575162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47</a:t>
            </a:fld>
            <a:endParaRPr lang="en-US"/>
          </a:p>
        </p:txBody>
      </p:sp>
    </p:spTree>
    <p:extLst>
      <p:ext uri="{BB962C8B-B14F-4D97-AF65-F5344CB8AC3E}">
        <p14:creationId xmlns:p14="http://schemas.microsoft.com/office/powerpoint/2010/main" val="246715744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48</a:t>
            </a:fld>
            <a:endParaRPr lang="en-US"/>
          </a:p>
        </p:txBody>
      </p:sp>
    </p:spTree>
    <p:extLst>
      <p:ext uri="{BB962C8B-B14F-4D97-AF65-F5344CB8AC3E}">
        <p14:creationId xmlns:p14="http://schemas.microsoft.com/office/powerpoint/2010/main" val="194425991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mtClean="0"/>
              <a:t>In a development environment,</a:t>
            </a:r>
            <a:r>
              <a:rPr lang="en-US" baseline="0" smtClean="0"/>
              <a:t> </a:t>
            </a:r>
            <a:r>
              <a:rPr lang="en-US" smtClean="0"/>
              <a:t>the plugin registry element parameters can usually be set to "su" with a password of "gw".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mtClean="0"/>
              <a:t>In a production environment,</a:t>
            </a:r>
            <a:r>
              <a:rPr lang="en-US" baseline="0" smtClean="0"/>
              <a:t> t</a:t>
            </a:r>
            <a:r>
              <a:rPr lang="en-US" smtClean="0"/>
              <a:t>he plugin registry element parameters should be set to an appropriate ClaimCenter user name and password for executing searches in ClaimCenter.</a:t>
            </a:r>
          </a:p>
        </p:txBody>
      </p:sp>
      <p:sp>
        <p:nvSpPr>
          <p:cNvPr id="4" name="Slide Number Placeholder 3"/>
          <p:cNvSpPr>
            <a:spLocks noGrp="1"/>
          </p:cNvSpPr>
          <p:nvPr>
            <p:ph type="sldNum" sz="quarter" idx="10"/>
          </p:nvPr>
        </p:nvSpPr>
        <p:spPr/>
        <p:txBody>
          <a:bodyPr/>
          <a:lstStyle/>
          <a:p>
            <a:fld id="{BC59C1E8-2E88-4BF4-A80C-B8AE78323CDF}" type="slidenum">
              <a:rPr lang="en-US" smtClean="0"/>
              <a:pPr/>
              <a:t>49</a:t>
            </a:fld>
            <a:endParaRPr lang="en-US"/>
          </a:p>
        </p:txBody>
      </p:sp>
    </p:spTree>
    <p:extLst>
      <p:ext uri="{BB962C8B-B14F-4D97-AF65-F5344CB8AC3E}">
        <p14:creationId xmlns:p14="http://schemas.microsoft.com/office/powerpoint/2010/main" val="194425991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a development environment,</a:t>
            </a:r>
            <a:r>
              <a:rPr lang="en-US" baseline="0" dirty="0" smtClean="0"/>
              <a:t> t</a:t>
            </a:r>
            <a:r>
              <a:rPr lang="en-US" dirty="0" smtClean="0"/>
              <a:t>he web service URL does not need to be modified if both applications are on the same machine and ClaimCenter is using the default port (8080).</a:t>
            </a:r>
          </a:p>
          <a:p>
            <a:endParaRPr lang="en-US" dirty="0" smtClean="0"/>
          </a:p>
          <a:p>
            <a:r>
              <a:rPr lang="en-US" dirty="0" smtClean="0"/>
              <a:t>In a production</a:t>
            </a:r>
            <a:r>
              <a:rPr lang="en-US" baseline="0" dirty="0" smtClean="0"/>
              <a:t> environment, t</a:t>
            </a:r>
            <a:r>
              <a:rPr lang="en-US" dirty="0" smtClean="0"/>
              <a:t>he web service URL may need to be modified if both applications are not on the same machine or if ClaimCenter is not using the default port (8080).</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50</a:t>
            </a:fld>
            <a:endParaRPr lang="en-US"/>
          </a:p>
        </p:txBody>
      </p:sp>
    </p:spTree>
    <p:extLst>
      <p:ext uri="{BB962C8B-B14F-4D97-AF65-F5344CB8AC3E}">
        <p14:creationId xmlns:p14="http://schemas.microsoft.com/office/powerpoint/2010/main" val="246882913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The ClaimCenter server must be running in order to fetch the</a:t>
            </a:r>
            <a:r>
              <a:rPr lang="en-US" baseline="0" smtClean="0"/>
              <a:t> WSDL.</a:t>
            </a:r>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51</a:t>
            </a:fld>
            <a:endParaRPr lang="en-US"/>
          </a:p>
        </p:txBody>
      </p:sp>
    </p:spTree>
    <p:extLst>
      <p:ext uri="{BB962C8B-B14F-4D97-AF65-F5344CB8AC3E}">
        <p14:creationId xmlns:p14="http://schemas.microsoft.com/office/powerpoint/2010/main" val="190012963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mtClean="0"/>
              <a:t>You must restart the server when you create or modify destinations, plugin registry elements, and/or reply plugins.</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52</a:t>
            </a:fld>
            <a:endParaRPr lang="en-US"/>
          </a:p>
        </p:txBody>
      </p:sp>
    </p:spTree>
    <p:extLst>
      <p:ext uri="{BB962C8B-B14F-4D97-AF65-F5344CB8AC3E}">
        <p14:creationId xmlns:p14="http://schemas.microsoft.com/office/powerpoint/2010/main" val="205383629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53</a:t>
            </a:fld>
            <a:endParaRPr lang="en-US"/>
          </a:p>
        </p:txBody>
      </p:sp>
    </p:spTree>
    <p:extLst>
      <p:ext uri="{BB962C8B-B14F-4D97-AF65-F5344CB8AC3E}">
        <p14:creationId xmlns:p14="http://schemas.microsoft.com/office/powerpoint/2010/main" val="38909115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54</a:t>
            </a:fld>
            <a:endParaRPr lang="en-US"/>
          </a:p>
        </p:txBody>
      </p:sp>
    </p:spTree>
    <p:extLst>
      <p:ext uri="{BB962C8B-B14F-4D97-AF65-F5344CB8AC3E}">
        <p14:creationId xmlns:p14="http://schemas.microsoft.com/office/powerpoint/2010/main" val="23703529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Layout">
    <p:spTree>
      <p:nvGrpSpPr>
        <p:cNvPr id="1" name=""/>
        <p:cNvGrpSpPr/>
        <p:nvPr/>
      </p:nvGrpSpPr>
      <p:grpSpPr>
        <a:xfrm>
          <a:off x="0" y="0"/>
          <a:ext cx="0" cy="0"/>
          <a:chOff x="0" y="0"/>
          <a:chExt cx="0" cy="0"/>
        </a:xfrm>
      </p:grpSpPr>
      <p:sp>
        <p:nvSpPr>
          <p:cNvPr id="19" name="rec Background Gradient"/>
          <p:cNvSpPr/>
          <p:nvPr/>
        </p:nvSpPr>
        <p:spPr bwMode="auto">
          <a:xfrm>
            <a:off x="81938" y="0"/>
            <a:ext cx="9089231" cy="6858000"/>
          </a:xfrm>
          <a:prstGeom prst="rect">
            <a:avLst/>
          </a:prstGeom>
          <a:gradFill flip="none" rotWithShape="1">
            <a:gsLst>
              <a:gs pos="1000">
                <a:srgbClr val="04628C"/>
              </a:gs>
              <a:gs pos="99000">
                <a:srgbClr val="07A6ED"/>
              </a:gs>
            </a:gsLst>
            <a:lin ang="8100000" scaled="1"/>
            <a:tileRect/>
          </a:gradFill>
          <a:ln w="317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109538" marR="0" indent="-109538" algn="ctr" defTabSz="914400" rtl="0" eaLnBrk="1" fontAlgn="base" latinLnBrk="0" hangingPunct="1">
              <a:lnSpc>
                <a:spcPct val="100000"/>
              </a:lnSpc>
              <a:spcBef>
                <a:spcPct val="50000"/>
              </a:spcBef>
              <a:spcAft>
                <a:spcPct val="0"/>
              </a:spcAft>
              <a:buClr>
                <a:schemeClr val="tx2"/>
              </a:buClr>
              <a:buSzTx/>
              <a:buFont typeface="Arial" charset="0"/>
              <a:buNone/>
              <a:tabLst/>
            </a:pPr>
            <a:endParaRPr kumimoji="0" lang="en-US" sz="1600" b="0" i="0" u="none" strike="noStrike" cap="none" normalizeH="0" baseline="0" smtClean="0">
              <a:ln>
                <a:noFill/>
              </a:ln>
              <a:solidFill>
                <a:srgbClr val="333333"/>
              </a:solidFill>
              <a:effectLst/>
              <a:latin typeface="+mj-lt"/>
            </a:endParaRPr>
          </a:p>
        </p:txBody>
      </p:sp>
      <p:grpSp>
        <p:nvGrpSpPr>
          <p:cNvPr id="2" name="rec GW Sidebar"/>
          <p:cNvGrpSpPr/>
          <p:nvPr/>
        </p:nvGrpSpPr>
        <p:grpSpPr>
          <a:xfrm>
            <a:off x="0" y="0"/>
            <a:ext cx="109538" cy="6858000"/>
            <a:chOff x="0" y="0"/>
            <a:chExt cx="109538" cy="6858000"/>
          </a:xfrm>
        </p:grpSpPr>
        <p:sp>
          <p:nvSpPr>
            <p:cNvPr id="22"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4"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5"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6"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7"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8"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grpSp>
      <p:sp>
        <p:nvSpPr>
          <p:cNvPr id="20" name="txt Copyright 2001-2013"/>
          <p:cNvSpPr txBox="1"/>
          <p:nvPr/>
        </p:nvSpPr>
        <p:spPr>
          <a:xfrm>
            <a:off x="5410200" y="6553200"/>
            <a:ext cx="3409950" cy="184666"/>
          </a:xfrm>
          <a:prstGeom prst="rect">
            <a:avLst/>
          </a:prstGeom>
          <a:noFill/>
        </p:spPr>
        <p:txBody>
          <a:bodyPr wrap="square" lIns="0" tIns="0" rIns="0" bIns="0">
            <a:spAutoFit/>
          </a:bodyPr>
          <a:lstStyle/>
          <a:p>
            <a:pPr algn="r">
              <a:spcBef>
                <a:spcPts val="600"/>
              </a:spcBef>
              <a:buClr>
                <a:schemeClr val="tx2"/>
              </a:buClr>
              <a:buFont typeface="Arial" charset="0"/>
              <a:buNone/>
              <a:defRPr/>
            </a:pPr>
            <a:r>
              <a:rPr lang="en-US" sz="600">
                <a:solidFill>
                  <a:schemeClr val="tx1"/>
                </a:solidFill>
                <a:latin typeface="+mn-lt"/>
                <a:cs typeface="Arial" pitchFamily="34" charset="0"/>
              </a:rPr>
              <a:t>© Guidewire Software, Inc. </a:t>
            </a:r>
            <a:r>
              <a:rPr lang="en-US" sz="600" smtClean="0">
                <a:solidFill>
                  <a:schemeClr val="tx1"/>
                </a:solidFill>
                <a:latin typeface="+mn-lt"/>
                <a:cs typeface="Arial" pitchFamily="34" charset="0"/>
              </a:rPr>
              <a:t>2001-2014. All </a:t>
            </a:r>
            <a:r>
              <a:rPr lang="en-US" sz="600">
                <a:solidFill>
                  <a:schemeClr val="tx1"/>
                </a:solidFill>
                <a:latin typeface="+mn-lt"/>
                <a:cs typeface="Arial" pitchFamily="34" charset="0"/>
              </a:rPr>
              <a:t>rights reserved</a:t>
            </a:r>
            <a:r>
              <a:rPr lang="en-US" sz="600" smtClean="0">
                <a:solidFill>
                  <a:schemeClr val="tx1"/>
                </a:solidFill>
                <a:latin typeface="+mn-lt"/>
                <a:cs typeface="Arial" pitchFamily="34" charset="0"/>
              </a:rPr>
              <a:t>.</a:t>
            </a:r>
            <a:br>
              <a:rPr lang="en-US" sz="600" smtClean="0">
                <a:solidFill>
                  <a:schemeClr val="tx1"/>
                </a:solidFill>
                <a:latin typeface="+mn-lt"/>
                <a:cs typeface="Arial" pitchFamily="34" charset="0"/>
              </a:rPr>
            </a:br>
            <a:r>
              <a:rPr lang="en-US" sz="600" smtClean="0">
                <a:solidFill>
                  <a:schemeClr val="tx1"/>
                </a:solidFill>
                <a:latin typeface="+mn-lt"/>
                <a:cs typeface="Arial" pitchFamily="34" charset="0"/>
              </a:rPr>
              <a:t>Do </a:t>
            </a:r>
            <a:r>
              <a:rPr lang="en-US" sz="600">
                <a:solidFill>
                  <a:schemeClr val="tx1"/>
                </a:solidFill>
                <a:latin typeface="+mn-lt"/>
                <a:cs typeface="Arial" pitchFamily="34" charset="0"/>
              </a:rPr>
              <a:t>not distribute without </a:t>
            </a:r>
            <a:r>
              <a:rPr lang="en-US" sz="600" smtClean="0">
                <a:solidFill>
                  <a:schemeClr val="tx1"/>
                </a:solidFill>
                <a:latin typeface="+mn-lt"/>
                <a:cs typeface="Arial" pitchFamily="34" charset="0"/>
              </a:rPr>
              <a:t>permission.</a:t>
            </a:r>
            <a:endParaRPr lang="en-US" sz="600">
              <a:solidFill>
                <a:schemeClr val="tx1"/>
              </a:solidFill>
              <a:latin typeface="+mn-lt"/>
              <a:cs typeface="Arial" pitchFamily="34" charset="0"/>
            </a:endParaRPr>
          </a:p>
        </p:txBody>
      </p:sp>
      <p:pic>
        <p:nvPicPr>
          <p:cNvPr id="6" name="pic Logo 2013 small" descr="Guidewire_logo+tagline_white.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66344" y="5998464"/>
            <a:ext cx="1819311" cy="521208"/>
          </a:xfrm>
          <a:prstGeom prst="rect">
            <a:avLst/>
          </a:prstGeom>
        </p:spPr>
      </p:pic>
      <p:sp>
        <p:nvSpPr>
          <p:cNvPr id="7" name="txt Lesson Subtitle"/>
          <p:cNvSpPr>
            <a:spLocks noGrp="1"/>
          </p:cNvSpPr>
          <p:nvPr>
            <p:ph type="body" sz="quarter" idx="10"/>
          </p:nvPr>
        </p:nvSpPr>
        <p:spPr>
          <a:xfrm>
            <a:off x="5718125" y="5946570"/>
            <a:ext cx="3089327" cy="273255"/>
          </a:xfrm>
        </p:spPr>
        <p:txBody>
          <a:bodyPr/>
          <a:lstStyle>
            <a:lvl1pPr algn="r">
              <a:buNone/>
              <a:defRPr sz="1600">
                <a:solidFill>
                  <a:schemeClr val="tx1"/>
                </a:solidFill>
                <a:latin typeface="Arial" pitchFamily="34" charset="0"/>
                <a:cs typeface="Arial" pitchFamily="34" charset="0"/>
              </a:defRPr>
            </a:lvl1pPr>
          </a:lstStyle>
          <a:p>
            <a:pPr lvl="0"/>
            <a:r>
              <a:rPr lang="en-US" smtClean="0"/>
              <a:t>Click to edit Master text styles</a:t>
            </a:r>
          </a:p>
        </p:txBody>
      </p:sp>
      <p:sp>
        <p:nvSpPr>
          <p:cNvPr id="33794" name="txt Lesson Title"/>
          <p:cNvSpPr>
            <a:spLocks noGrp="1" noChangeArrowheads="1"/>
          </p:cNvSpPr>
          <p:nvPr>
            <p:ph type="ctrTitle"/>
          </p:nvPr>
        </p:nvSpPr>
        <p:spPr>
          <a:xfrm>
            <a:off x="458788" y="2957371"/>
            <a:ext cx="8348662" cy="700229"/>
          </a:xfrm>
        </p:spPr>
        <p:txBody>
          <a:bodyPr anchor="t"/>
          <a:lstStyle>
            <a:lvl1pPr algn="r">
              <a:lnSpc>
                <a:spcPct val="100000"/>
              </a:lnSpc>
              <a:spcAft>
                <a:spcPct val="20000"/>
              </a:spcAft>
              <a:defRPr sz="3600" b="1">
                <a:solidFill>
                  <a:schemeClr val="tx1"/>
                </a:solidFill>
                <a:latin typeface="Arial" pitchFamily="34" charset="0"/>
                <a:cs typeface="Arial" pitchFamily="34" charset="0"/>
              </a:defRPr>
            </a:lvl1pPr>
          </a:lstStyle>
          <a:p>
            <a:r>
              <a:rPr lang="en-US" altLang="en-US" smtClean="0"/>
              <a:t>Click to edit Master title style</a:t>
            </a:r>
            <a:endParaRPr lang="en-US" altLang="en-US" dirty="0"/>
          </a:p>
        </p:txBody>
      </p:sp>
    </p:spTree>
    <p:extLst>
      <p:ext uri="{BB962C8B-B14F-4D97-AF65-F5344CB8AC3E}">
        <p14:creationId xmlns:p14="http://schemas.microsoft.com/office/powerpoint/2010/main" val="2625288171"/>
      </p:ext>
    </p:extLst>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Content"/>
          <p:cNvSpPr>
            <a:spLocks noGrp="1"/>
          </p:cNvSpPr>
          <p:nvPr>
            <p:ph idx="1"/>
          </p:nvPr>
        </p:nvSpPr>
        <p:spPr>
          <a:xfrm>
            <a:off x="521208" y="914400"/>
            <a:ext cx="832104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148485534"/>
      </p:ext>
    </p:extLst>
  </p:cSld>
  <p:clrMapOvr>
    <a:masterClrMapping/>
  </p:clrMapOv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xt Title"/>
          <p:cNvSpPr>
            <a:spLocks noGrp="1"/>
          </p:cNvSpPr>
          <p:nvPr>
            <p:ph type="title"/>
          </p:nvPr>
        </p:nvSpPr>
        <p:spPr>
          <a:xfrm>
            <a:off x="493776" y="118872"/>
            <a:ext cx="8321040" cy="742951"/>
          </a:xfrm>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5" name="txt SubTitle"/>
          <p:cNvSpPr>
            <a:spLocks noGrp="1"/>
          </p:cNvSpPr>
          <p:nvPr>
            <p:ph type="body" sz="quarter" idx="10"/>
          </p:nvPr>
        </p:nvSpPr>
        <p:spPr>
          <a:xfrm>
            <a:off x="493776" y="486102"/>
            <a:ext cx="8321040" cy="381000"/>
          </a:xfrm>
        </p:spPr>
        <p:txBody>
          <a:bodyPr/>
          <a:lstStyle>
            <a:lvl1pPr marL="0" indent="0">
              <a:buNone/>
              <a:defRPr lang="en-US" sz="2800" b="1" dirty="0">
                <a:solidFill>
                  <a:srgbClr val="04628C"/>
                </a:solidFill>
                <a:latin typeface="+mj-lt"/>
                <a:ea typeface="Arial" pitchFamily="34" charset="0"/>
                <a:cs typeface="Arial" pitchFamily="34" charset="0"/>
              </a:defRPr>
            </a:lvl1pPr>
          </a:lstStyle>
          <a:p>
            <a:pPr lvl="0"/>
            <a:r>
              <a:rPr lang="en-US" smtClean="0"/>
              <a:t>Click to edit Master text styles</a:t>
            </a:r>
          </a:p>
        </p:txBody>
      </p:sp>
      <p:sp>
        <p:nvSpPr>
          <p:cNvPr id="3" name="txt Content"/>
          <p:cNvSpPr>
            <a:spLocks noGrp="1"/>
          </p:cNvSpPr>
          <p:nvPr>
            <p:ph idx="1"/>
          </p:nvPr>
        </p:nvSpPr>
        <p:spPr>
          <a:xfrm>
            <a:off x="521208" y="914400"/>
            <a:ext cx="832104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18696925"/>
      </p:ext>
    </p:extLst>
  </p:cSld>
  <p:clrMapOvr>
    <a:masterClrMapping/>
  </p:clrMapOv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3" y="914399"/>
            <a:ext cx="4083050"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4754563" y="914399"/>
            <a:ext cx="408305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470386826"/>
      </p:ext>
    </p:extLst>
  </p:cSld>
  <p:clrMapOvr>
    <a:masterClrMapping/>
  </p:clrMapOv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lumn SubTitles">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dirty="0"/>
          </a:p>
        </p:txBody>
      </p:sp>
      <p:sp>
        <p:nvSpPr>
          <p:cNvPr id="5" name="txt Left Col SubTitle"/>
          <p:cNvSpPr>
            <a:spLocks noGrp="1" noChangeArrowheads="1"/>
          </p:cNvSpPr>
          <p:nvPr>
            <p:ph type="subTitle" idx="10" hasCustomPrompt="1"/>
          </p:nvPr>
        </p:nvSpPr>
        <p:spPr>
          <a:xfrm>
            <a:off x="521208" y="914400"/>
            <a:ext cx="4087368" cy="838200"/>
          </a:xfrm>
          <a:ln algn="ctr"/>
        </p:spPr>
        <p:txBody>
          <a:bodyPr/>
          <a:lstStyle>
            <a:lvl1pPr marL="0" indent="0">
              <a:buClr>
                <a:srgbClr val="800000"/>
              </a:buClr>
              <a:buFont typeface="Wingdings 3" pitchFamily="18" charset="2"/>
              <a:buNone/>
              <a:defRPr sz="2400" baseline="0"/>
            </a:lvl1pPr>
          </a:lstStyle>
          <a:p>
            <a:r>
              <a:rPr lang="en-US" altLang="en-US" dirty="0" smtClean="0"/>
              <a:t>Click to edit Left Column Subtitle</a:t>
            </a:r>
            <a:endParaRPr lang="en-US" altLang="en-US" dirty="0"/>
          </a:p>
        </p:txBody>
      </p:sp>
      <p:sp>
        <p:nvSpPr>
          <p:cNvPr id="8" name="txt Right Col SubTitle"/>
          <p:cNvSpPr>
            <a:spLocks noGrp="1"/>
          </p:cNvSpPr>
          <p:nvPr>
            <p:ph type="body" sz="quarter" idx="11" hasCustomPrompt="1"/>
          </p:nvPr>
        </p:nvSpPr>
        <p:spPr>
          <a:xfrm>
            <a:off x="4754880" y="914400"/>
            <a:ext cx="4087368" cy="838200"/>
          </a:xfrm>
        </p:spPr>
        <p:txBody>
          <a:bodyPr/>
          <a:lstStyle>
            <a:lvl1pPr marL="0" indent="0">
              <a:buFontTx/>
              <a:buNone/>
              <a:defRPr/>
            </a:lvl1pPr>
          </a:lstStyle>
          <a:p>
            <a:r>
              <a:rPr lang="en-US" altLang="en-US" dirty="0" smtClean="0"/>
              <a:t>Click to edit Right Column Subtitle</a:t>
            </a:r>
            <a:endParaRPr lang="en-US" altLang="en-US" dirty="0"/>
          </a:p>
        </p:txBody>
      </p:sp>
      <p:sp>
        <p:nvSpPr>
          <p:cNvPr id="4" name="txt Left Col Content"/>
          <p:cNvSpPr>
            <a:spLocks noGrp="1"/>
          </p:cNvSpPr>
          <p:nvPr>
            <p:ph sz="half" idx="2"/>
          </p:nvPr>
        </p:nvSpPr>
        <p:spPr>
          <a:xfrm>
            <a:off x="4754563" y="1752600"/>
            <a:ext cx="4083050"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3" name="txt Right Col Content"/>
          <p:cNvSpPr>
            <a:spLocks noGrp="1"/>
          </p:cNvSpPr>
          <p:nvPr>
            <p:ph sz="half" idx="1"/>
          </p:nvPr>
        </p:nvSpPr>
        <p:spPr>
          <a:xfrm>
            <a:off x="519113" y="1752600"/>
            <a:ext cx="4083050" cy="4637088"/>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044806687"/>
      </p:ext>
    </p:extLst>
  </p:cSld>
  <p:clrMapOvr>
    <a:masterClrMapping/>
  </p:clrMapOv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hree Column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cs typeface="Arial" pitchFamily="34" charset="0"/>
              </a:defRPr>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399"/>
            <a:ext cx="2651760"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Center Col Content"/>
          <p:cNvSpPr>
            <a:spLocks noGrp="1"/>
          </p:cNvSpPr>
          <p:nvPr>
            <p:ph sz="half" idx="10"/>
          </p:nvPr>
        </p:nvSpPr>
        <p:spPr>
          <a:xfrm>
            <a:off x="3352800" y="914399"/>
            <a:ext cx="26517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6172200" y="914399"/>
            <a:ext cx="26517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330886176"/>
      </p:ext>
    </p:extLst>
  </p:cSld>
  <p:clrMapOvr>
    <a:masterClrMapping/>
  </p:clrMapOv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hree Columns SubTitle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1752601"/>
            <a:ext cx="265176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Center Col Content"/>
          <p:cNvSpPr>
            <a:spLocks noGrp="1"/>
          </p:cNvSpPr>
          <p:nvPr>
            <p:ph sz="half" idx="10"/>
          </p:nvPr>
        </p:nvSpPr>
        <p:spPr>
          <a:xfrm>
            <a:off x="33528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61722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8" name="txt Left Col SubTitle"/>
          <p:cNvSpPr>
            <a:spLocks noGrp="1" noChangeArrowheads="1"/>
          </p:cNvSpPr>
          <p:nvPr>
            <p:ph type="subTitle" idx="11" hasCustomPrompt="1"/>
          </p:nvPr>
        </p:nvSpPr>
        <p:spPr>
          <a:xfrm>
            <a:off x="521208"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
        <p:nvSpPr>
          <p:cNvPr id="13" name="txt Center Col SubTitle"/>
          <p:cNvSpPr>
            <a:spLocks noGrp="1"/>
          </p:cNvSpPr>
          <p:nvPr>
            <p:ph type="body" sz="quarter" idx="12" hasCustomPrompt="1"/>
          </p:nvPr>
        </p:nvSpPr>
        <p:spPr>
          <a:xfrm>
            <a:off x="3355848" y="914400"/>
            <a:ext cx="265176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smtClean="0"/>
              <a:t>Click to edit Center Column Subtitle</a:t>
            </a:r>
            <a:endParaRPr lang="en-US" altLang="en-US" dirty="0"/>
          </a:p>
        </p:txBody>
      </p:sp>
      <p:sp>
        <p:nvSpPr>
          <p:cNvPr id="15" name="txt Right Col SubTitle"/>
          <p:cNvSpPr>
            <a:spLocks noGrp="1"/>
          </p:cNvSpPr>
          <p:nvPr>
            <p:ph type="body" sz="quarter" idx="13" hasCustomPrompt="1"/>
          </p:nvPr>
        </p:nvSpPr>
        <p:spPr>
          <a:xfrm>
            <a:off x="6172200" y="914400"/>
            <a:ext cx="265176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smtClean="0"/>
              <a:t>Click to edit Right Column Subtitle</a:t>
            </a:r>
            <a:endParaRPr lang="en-US" altLang="en-US" dirty="0"/>
          </a:p>
        </p:txBody>
      </p:sp>
    </p:spTree>
    <p:extLst>
      <p:ext uri="{BB962C8B-B14F-4D97-AF65-F5344CB8AC3E}">
        <p14:creationId xmlns:p14="http://schemas.microsoft.com/office/powerpoint/2010/main" val="3581193381"/>
      </p:ext>
    </p:extLst>
  </p:cSld>
  <p:clrMapOvr>
    <a:masterClrMapping/>
  </p:clrMapOv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Bottom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36576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554733541"/>
      </p:ext>
    </p:extLst>
  </p:cSld>
  <p:clrMapOvr>
    <a:masterClrMapping/>
  </p:clrMapOv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Top And Bottom Content">
    <p:spTree>
      <p:nvGrpSpPr>
        <p:cNvPr id="1" name=""/>
        <p:cNvGrpSpPr/>
        <p:nvPr/>
      </p:nvGrpSpPr>
      <p:grpSpPr>
        <a:xfrm>
          <a:off x="0" y="0"/>
          <a:ext cx="0" cy="0"/>
          <a:chOff x="0" y="0"/>
          <a:chExt cx="0" cy="0"/>
        </a:xfrm>
      </p:grpSpPr>
      <p:sp>
        <p:nvSpPr>
          <p:cNvPr id="2" name="txt Title"/>
          <p:cNvSpPr>
            <a:spLocks noGrp="1"/>
          </p:cNvSpPr>
          <p:nvPr>
            <p:ph type="title"/>
          </p:nvPr>
        </p:nvSpPr>
        <p:spPr>
          <a:xfrm>
            <a:off x="493776" y="120650"/>
            <a:ext cx="8318500" cy="742951"/>
          </a:xfrm>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36576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Top Content"/>
          <p:cNvSpPr>
            <a:spLocks noGrp="1"/>
          </p:cNvSpPr>
          <p:nvPr>
            <p:ph type="body" sz="quarter" idx="10"/>
          </p:nvPr>
        </p:nvSpPr>
        <p:spPr>
          <a:xfrm>
            <a:off x="521208" y="914400"/>
            <a:ext cx="8321040" cy="2743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68248584"/>
      </p:ext>
    </p:extLst>
  </p:cSld>
  <p:clrMapOvr>
    <a:masterClrMapping/>
  </p:clrMapOv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Top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Calibri" pitchFamily="34" charset="0"/>
              </a:defRPr>
            </a:lvl1pPr>
          </a:lstStyle>
          <a:p>
            <a:r>
              <a:rPr lang="en-US" smtClean="0"/>
              <a:t>Click to edit Master title style</a:t>
            </a:r>
            <a:endParaRPr lang="en-US" dirty="0"/>
          </a:p>
        </p:txBody>
      </p:sp>
      <p:sp>
        <p:nvSpPr>
          <p:cNvPr id="3" name="txt Top Content"/>
          <p:cNvSpPr>
            <a:spLocks noGrp="1"/>
          </p:cNvSpPr>
          <p:nvPr>
            <p:ph idx="1"/>
          </p:nvPr>
        </p:nvSpPr>
        <p:spPr>
          <a:xfrm>
            <a:off x="519113" y="9144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361761630"/>
      </p:ext>
    </p:extLst>
  </p:cSld>
  <p:clrMapOvr>
    <a:masterClrMapping/>
  </p:clrMapOv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45720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04636995"/>
      </p:ext>
    </p:extLst>
  </p:cSld>
  <p:clrMapOvr>
    <a:masterClrMapping/>
  </p:clrMapOvr>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Top Middle Bottom">
    <p:spTree>
      <p:nvGrpSpPr>
        <p:cNvPr id="1" name=""/>
        <p:cNvGrpSpPr/>
        <p:nvPr/>
      </p:nvGrpSpPr>
      <p:grpSpPr>
        <a:xfrm>
          <a:off x="0" y="0"/>
          <a:ext cx="0" cy="0"/>
          <a:chOff x="0" y="0"/>
          <a:chExt cx="0" cy="0"/>
        </a:xfrm>
      </p:grpSpPr>
      <p:sp>
        <p:nvSpPr>
          <p:cNvPr id="2" name="txt Title"/>
          <p:cNvSpPr>
            <a:spLocks noGrp="1"/>
          </p:cNvSpPr>
          <p:nvPr>
            <p:ph type="title"/>
          </p:nvPr>
        </p:nvSpPr>
        <p:spPr>
          <a:xfrm>
            <a:off x="493776" y="120650"/>
            <a:ext cx="8318500" cy="742951"/>
          </a:xfrm>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5" name="txt Top Content"/>
          <p:cNvSpPr>
            <a:spLocks noGrp="1"/>
          </p:cNvSpPr>
          <p:nvPr>
            <p:ph type="body" sz="quarter" idx="10"/>
          </p:nvPr>
        </p:nvSpPr>
        <p:spPr>
          <a:xfrm>
            <a:off x="521208" y="914400"/>
            <a:ext cx="8321040" cy="18288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xt Middle Content"/>
          <p:cNvSpPr>
            <a:spLocks noGrp="1"/>
          </p:cNvSpPr>
          <p:nvPr>
            <p:ph idx="11"/>
          </p:nvPr>
        </p:nvSpPr>
        <p:spPr>
          <a:xfrm>
            <a:off x="520700" y="27432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3" name="txt Bottom Content"/>
          <p:cNvSpPr>
            <a:spLocks noGrp="1"/>
          </p:cNvSpPr>
          <p:nvPr>
            <p:ph idx="1"/>
          </p:nvPr>
        </p:nvSpPr>
        <p:spPr>
          <a:xfrm>
            <a:off x="519113" y="45720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683751491"/>
      </p:ext>
    </p:extLst>
  </p:cSld>
  <p:clrMapOvr>
    <a:masterClrMapping/>
  </p:clrMapOvr>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Top Content"/>
          <p:cNvSpPr>
            <a:spLocks noGrp="1"/>
          </p:cNvSpPr>
          <p:nvPr>
            <p:ph idx="1"/>
          </p:nvPr>
        </p:nvSpPr>
        <p:spPr>
          <a:xfrm>
            <a:off x="519113" y="9144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165869696"/>
      </p:ext>
    </p:extLst>
  </p:cSld>
  <p:clrMapOvr>
    <a:masterClrMapping/>
  </p:clrMapOvr>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Lef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1"/>
            <a:ext cx="2651760" cy="54752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353529206"/>
      </p:ext>
    </p:extLst>
  </p:cSld>
  <p:clrMapOvr>
    <a:masterClrMapping/>
  </p:clrMapOvr>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ef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1752601"/>
            <a:ext cx="265176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8" name="txt Left Col SubTitle"/>
          <p:cNvSpPr>
            <a:spLocks noGrp="1" noChangeArrowheads="1"/>
          </p:cNvSpPr>
          <p:nvPr>
            <p:ph type="subTitle" idx="11" hasCustomPrompt="1"/>
          </p:nvPr>
        </p:nvSpPr>
        <p:spPr>
          <a:xfrm>
            <a:off x="521208"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Tree>
    <p:extLst>
      <p:ext uri="{BB962C8B-B14F-4D97-AF65-F5344CB8AC3E}">
        <p14:creationId xmlns:p14="http://schemas.microsoft.com/office/powerpoint/2010/main" val="1366646524"/>
      </p:ext>
    </p:extLst>
  </p:cSld>
  <p:clrMapOvr>
    <a:masterClrMapping/>
  </p:clrMapOvr>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Lef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3" y="914401"/>
            <a:ext cx="4083050" cy="5475289"/>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132715863"/>
      </p:ext>
    </p:extLst>
  </p:cSld>
  <p:clrMapOvr>
    <a:masterClrMapping/>
  </p:clrMapOvr>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ef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dirty="0"/>
          </a:p>
        </p:txBody>
      </p:sp>
      <p:sp>
        <p:nvSpPr>
          <p:cNvPr id="5" name="txt Left Col SubTitle"/>
          <p:cNvSpPr>
            <a:spLocks noGrp="1" noChangeArrowheads="1"/>
          </p:cNvSpPr>
          <p:nvPr>
            <p:ph type="subTitle" idx="10" hasCustomPrompt="1"/>
          </p:nvPr>
        </p:nvSpPr>
        <p:spPr>
          <a:xfrm>
            <a:off x="521208" y="914400"/>
            <a:ext cx="4087368"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
        <p:nvSpPr>
          <p:cNvPr id="3" name="txt Right Col Content"/>
          <p:cNvSpPr>
            <a:spLocks noGrp="1"/>
          </p:cNvSpPr>
          <p:nvPr>
            <p:ph sz="half" idx="1"/>
          </p:nvPr>
        </p:nvSpPr>
        <p:spPr>
          <a:xfrm>
            <a:off x="519113" y="1752600"/>
            <a:ext cx="4083050" cy="4637088"/>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487866613"/>
      </p:ext>
    </p:extLst>
  </p:cSld>
  <p:clrMapOvr>
    <a:masterClrMapping/>
  </p:clrMapOvr>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Lef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1" y="914399"/>
            <a:ext cx="5532120" cy="54864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597061337"/>
      </p:ext>
    </p:extLst>
  </p:cSld>
  <p:clrMapOvr>
    <a:masterClrMapping/>
  </p:clrMapOvr>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4722577"/>
      </p:ext>
    </p:extLst>
  </p:cSld>
  <p:clrMapOvr>
    <a:masterClrMapping/>
  </p:clrMapOvr>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Righ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1"/>
            <a:ext cx="265176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313684978"/>
      </p:ext>
    </p:extLst>
  </p:cSld>
  <p:clrMapOvr>
    <a:masterClrMapping/>
  </p:clrMapOvr>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Righ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1" name="txt Right Col SubTitle"/>
          <p:cNvSpPr>
            <a:spLocks noGrp="1" noChangeArrowheads="1"/>
          </p:cNvSpPr>
          <p:nvPr>
            <p:ph type="subTitle" idx="11" hasCustomPrompt="1"/>
          </p:nvPr>
        </p:nvSpPr>
        <p:spPr>
          <a:xfrm>
            <a:off x="6172200"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Right Column Subtitle</a:t>
            </a:r>
            <a:endParaRPr lang="en-US" altLang="en-US" dirty="0"/>
          </a:p>
        </p:txBody>
      </p:sp>
    </p:spTree>
    <p:extLst>
      <p:ext uri="{BB962C8B-B14F-4D97-AF65-F5344CB8AC3E}">
        <p14:creationId xmlns:p14="http://schemas.microsoft.com/office/powerpoint/2010/main" val="4276675117"/>
      </p:ext>
    </p:extLst>
  </p:cSld>
  <p:clrMapOvr>
    <a:masterClrMapping/>
  </p:clrMapOvr>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Righ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4754563" y="914401"/>
            <a:ext cx="408305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037283543"/>
      </p:ext>
    </p:extLst>
  </p:cSld>
  <p:clrMapOvr>
    <a:masterClrMapping/>
  </p:clrMapOvr>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Righ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a:p>
        </p:txBody>
      </p:sp>
      <p:sp>
        <p:nvSpPr>
          <p:cNvPr id="8" name="txt Right Col SubTitle"/>
          <p:cNvSpPr>
            <a:spLocks noGrp="1"/>
          </p:cNvSpPr>
          <p:nvPr>
            <p:ph type="body" sz="quarter" idx="11" hasCustomPrompt="1"/>
          </p:nvPr>
        </p:nvSpPr>
        <p:spPr>
          <a:xfrm>
            <a:off x="4754880" y="914400"/>
            <a:ext cx="4087368" cy="838200"/>
          </a:xfrm>
        </p:spPr>
        <p:txBody>
          <a:bodyPr/>
          <a:lstStyle>
            <a:lvl1pPr marL="0" indent="0">
              <a:buFontTx/>
              <a:buNone/>
              <a:defRPr/>
            </a:lvl1pPr>
          </a:lstStyle>
          <a:p>
            <a:r>
              <a:rPr lang="en-US" altLang="en-US" dirty="0" smtClean="0"/>
              <a:t>Click to edit Right Column Subtitle</a:t>
            </a:r>
            <a:endParaRPr lang="en-US" altLang="en-US" dirty="0"/>
          </a:p>
        </p:txBody>
      </p:sp>
      <p:sp>
        <p:nvSpPr>
          <p:cNvPr id="4" name="txt Right Col Content"/>
          <p:cNvSpPr>
            <a:spLocks noGrp="1"/>
          </p:cNvSpPr>
          <p:nvPr>
            <p:ph sz="half" idx="2"/>
          </p:nvPr>
        </p:nvSpPr>
        <p:spPr>
          <a:xfrm>
            <a:off x="4754563" y="1752600"/>
            <a:ext cx="4083050"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967609076"/>
      </p:ext>
    </p:extLst>
  </p:cSld>
  <p:clrMapOvr>
    <a:masterClrMapping/>
  </p:clrMapOvr>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Righ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3305175" y="914400"/>
            <a:ext cx="553212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272425577"/>
      </p:ext>
    </p:extLst>
  </p:cSld>
  <p:clrMapOvr>
    <a:masterClrMapping/>
  </p:clrMapOvr>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Notes Only">
    <p:spTree>
      <p:nvGrpSpPr>
        <p:cNvPr id="1" name=""/>
        <p:cNvGrpSpPr/>
        <p:nvPr/>
      </p:nvGrpSpPr>
      <p:grpSpPr>
        <a:xfrm>
          <a:off x="0" y="0"/>
          <a:ext cx="0" cy="0"/>
          <a:chOff x="0" y="0"/>
          <a:chExt cx="0" cy="0"/>
        </a:xfrm>
      </p:grpSpPr>
      <p:sp>
        <p:nvSpPr>
          <p:cNvPr id="4" name="txt Title Fixed NotesOnly"/>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smtClean="0">
                <a:solidFill>
                  <a:srgbClr val="CC0099"/>
                </a:solidFill>
                <a:latin typeface="+mj-lt"/>
                <a:cs typeface="Arial" pitchFamily="34" charset="0"/>
              </a:rPr>
              <a:t>(Notes only slide)</a:t>
            </a:r>
            <a:endParaRPr lang="en-US" sz="3200" smtClean="0">
              <a:latin typeface="+mj-lt"/>
              <a:cs typeface="Arial" pitchFamily="34" charset="0"/>
            </a:endParaRPr>
          </a:p>
        </p:txBody>
      </p:sp>
      <p:sp>
        <p:nvSpPr>
          <p:cNvPr id="3" name="txt Title Fixed NotesOnly"/>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smtClean="0">
                <a:solidFill>
                  <a:srgbClr val="CC0099"/>
                </a:solidFill>
                <a:latin typeface="+mj-lt"/>
                <a:cs typeface="Arial" pitchFamily="34" charset="0"/>
              </a:rPr>
              <a:t>(Notes only slide)</a:t>
            </a:r>
            <a:endParaRPr lang="en-US" sz="3200" smtClean="0">
              <a:latin typeface="+mj-lt"/>
              <a:cs typeface="Arial" pitchFamily="34" charset="0"/>
            </a:endParaRPr>
          </a:p>
        </p:txBody>
      </p:sp>
    </p:spTree>
    <p:extLst>
      <p:ext uri="{BB962C8B-B14F-4D97-AF65-F5344CB8AC3E}">
        <p14:creationId xmlns:p14="http://schemas.microsoft.com/office/powerpoint/2010/main" val="3199647868"/>
      </p:ext>
    </p:extLst>
  </p:cSld>
  <p:clrMapOvr>
    <a:masterClrMapping/>
  </p:clrMapOvr>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Lef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0"/>
            <a:ext cx="2651760" cy="36576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Bottom Content"/>
          <p:cNvSpPr>
            <a:spLocks noGrp="1"/>
          </p:cNvSpPr>
          <p:nvPr>
            <p:ph idx="10"/>
          </p:nvPr>
        </p:nvSpPr>
        <p:spPr>
          <a:xfrm>
            <a:off x="521208" y="45720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503653025"/>
      </p:ext>
    </p:extLst>
  </p:cSld>
  <p:clrMapOvr>
    <a:masterClrMapping/>
  </p:clrMapOvr>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Lef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0"/>
            <a:ext cx="265176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Bottom Content"/>
          <p:cNvSpPr>
            <a:spLocks noGrp="1"/>
          </p:cNvSpPr>
          <p:nvPr>
            <p:ph idx="10"/>
          </p:nvPr>
        </p:nvSpPr>
        <p:spPr>
          <a:xfrm>
            <a:off x="521208" y="36576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897130001"/>
      </p:ext>
    </p:extLst>
  </p:cSld>
  <p:clrMapOvr>
    <a:masterClrMapping/>
  </p:clrMapOvr>
  <p:transition/>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ef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3657600"/>
            <a:ext cx="265176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Top Content"/>
          <p:cNvSpPr>
            <a:spLocks noGrp="1"/>
          </p:cNvSpPr>
          <p:nvPr>
            <p:ph idx="10"/>
          </p:nvPr>
        </p:nvSpPr>
        <p:spPr>
          <a:xfrm>
            <a:off x="521208" y="9144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059471830"/>
      </p:ext>
    </p:extLst>
  </p:cSld>
  <p:clrMapOvr>
    <a:masterClrMapping/>
  </p:clrMapOvr>
  <p:transition/>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Lef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2743200"/>
            <a:ext cx="2651760" cy="36576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Top Content"/>
          <p:cNvSpPr>
            <a:spLocks noGrp="1"/>
          </p:cNvSpPr>
          <p:nvPr>
            <p:ph idx="10"/>
          </p:nvPr>
        </p:nvSpPr>
        <p:spPr>
          <a:xfrm>
            <a:off x="521208" y="914400"/>
            <a:ext cx="8321040" cy="18288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28369848"/>
      </p:ext>
    </p:extLst>
  </p:cSld>
  <p:clrMapOvr>
    <a:masterClrMapping/>
  </p:clrMapOvr>
  <p:transition/>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Tree>
    <p:extLst>
      <p:ext uri="{BB962C8B-B14F-4D97-AF65-F5344CB8AC3E}">
        <p14:creationId xmlns:p14="http://schemas.microsoft.com/office/powerpoint/2010/main" val="1860621709"/>
      </p:ext>
    </p:extLst>
  </p:cSld>
  <p:clrMapOvr>
    <a:masterClrMapping/>
  </p:clrMapOvr>
  <p:transition/>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esson Outline">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smtClean="0">
                <a:latin typeface="+mj-lt"/>
                <a:cs typeface="Arial" pitchFamily="34" charset="0"/>
              </a:rPr>
              <a:t>Lesson</a:t>
            </a:r>
            <a:r>
              <a:rPr lang="en-US" sz="3200" smtClean="0">
                <a:latin typeface="Arial" pitchFamily="34" charset="0"/>
                <a:cs typeface="Arial" pitchFamily="34" charset="0"/>
              </a:rPr>
              <a:t> outline</a:t>
            </a:r>
          </a:p>
        </p:txBody>
      </p:sp>
      <p:sp>
        <p:nvSpPr>
          <p:cNvPr id="3" name="txt Topic Content"/>
          <p:cNvSpPr>
            <a:spLocks noGrp="1"/>
          </p:cNvSpPr>
          <p:nvPr>
            <p:ph idx="1" hasCustomPrompt="1"/>
          </p:nvPr>
        </p:nvSpPr>
        <p:spPr>
          <a:xfrm>
            <a:off x="519113" y="914400"/>
            <a:ext cx="8318500" cy="5486400"/>
          </a:xfrm>
        </p:spPr>
        <p:txBody>
          <a:bodyPr/>
          <a:lstStyle>
            <a:lvl1pPr marL="285750" indent="-285750" algn="l" rtl="0" eaLnBrk="0" fontAlgn="base" hangingPunct="0">
              <a:lnSpc>
                <a:spcPct val="150000"/>
              </a:lnSpc>
              <a:spcBef>
                <a:spcPct val="40000"/>
              </a:spcBef>
              <a:spcAft>
                <a:spcPct val="0"/>
              </a:spcAft>
              <a:buClr>
                <a:srgbClr val="04628C"/>
              </a:buClr>
              <a:buSzPct val="90000"/>
              <a:buFont typeface="Arial" charset="0"/>
              <a:buChar char="•"/>
              <a:defRPr lang="en-US" sz="2800" baseline="0" dirty="0" smtClean="0">
                <a:solidFill>
                  <a:srgbClr val="C0C0C0"/>
                </a:solidFill>
                <a:latin typeface="+mn-lt"/>
                <a:ea typeface="Calibri" pitchFamily="34" charset="0"/>
                <a:cs typeface="Calibri" pitchFamily="34" charset="0"/>
              </a:defRPr>
            </a:lvl1pPr>
            <a:lvl2pPr marL="400050" indent="0">
              <a:buClr>
                <a:srgbClr val="04628C"/>
              </a:buClr>
              <a:buFontTx/>
              <a:buNone/>
              <a:defRPr/>
            </a:lvl2pPr>
            <a:lvl3pPr marL="742950" indent="0">
              <a:buClr>
                <a:srgbClr val="04628C"/>
              </a:buClr>
              <a:buFontTx/>
              <a:buNone/>
              <a:defRPr/>
            </a:lvl3pPr>
            <a:lvl4pPr marL="1084263" indent="0">
              <a:buClr>
                <a:srgbClr val="04628C"/>
              </a:buClr>
              <a:buFontTx/>
              <a:buNone/>
              <a:defRPr/>
            </a:lvl4pPr>
            <a:lvl5pPr>
              <a:buClr>
                <a:srgbClr val="04628C"/>
              </a:buClr>
              <a:buFont typeface="Calibri" pitchFamily="34" charset="0"/>
              <a:buChar char="-"/>
              <a:defRPr/>
            </a:lvl5pPr>
          </a:lstStyle>
          <a:p>
            <a:pPr lvl="0"/>
            <a:r>
              <a:rPr lang="en-US" dirty="0" smtClean="0"/>
              <a:t>Topic 01 (Current topic = black font color)</a:t>
            </a:r>
          </a:p>
          <a:p>
            <a:pPr lvl="0"/>
            <a:r>
              <a:rPr lang="en-US" dirty="0" smtClean="0"/>
              <a:t>Topic 02</a:t>
            </a:r>
          </a:p>
          <a:p>
            <a:pPr lvl="0"/>
            <a:r>
              <a:rPr lang="en-US" dirty="0" smtClean="0"/>
              <a:t>Topic 03</a:t>
            </a:r>
          </a:p>
          <a:p>
            <a:pPr lvl="0"/>
            <a:r>
              <a:rPr lang="en-US" dirty="0" smtClean="0"/>
              <a:t>Topic 04</a:t>
            </a:r>
          </a:p>
          <a:p>
            <a:pPr lvl="0"/>
            <a:endParaRPr lang="en-US" dirty="0" smtClean="0"/>
          </a:p>
        </p:txBody>
      </p:sp>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smtClean="0">
                <a:latin typeface="+mj-lt"/>
                <a:cs typeface="Arial" pitchFamily="34" charset="0"/>
              </a:rPr>
              <a:t>Lesson</a:t>
            </a:r>
            <a:r>
              <a:rPr lang="en-US" sz="3200" smtClean="0">
                <a:latin typeface="Arial" pitchFamily="34" charset="0"/>
                <a:cs typeface="Arial" pitchFamily="34" charset="0"/>
              </a:rPr>
              <a:t> outline</a:t>
            </a:r>
          </a:p>
        </p:txBody>
      </p:sp>
      <p:sp>
        <p:nvSpPr>
          <p:cNvPr id="6" name="txt Title Fixed"/>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smtClean="0">
                <a:latin typeface="+mj-lt"/>
                <a:cs typeface="Arial" pitchFamily="34" charset="0"/>
              </a:rPr>
              <a:t>Lesson</a:t>
            </a:r>
            <a:r>
              <a:rPr lang="en-US" sz="3200" smtClean="0">
                <a:latin typeface="Arial" pitchFamily="34" charset="0"/>
                <a:cs typeface="Arial" pitchFamily="34" charset="0"/>
              </a:rPr>
              <a:t> outline</a:t>
            </a:r>
          </a:p>
        </p:txBody>
      </p:sp>
    </p:spTree>
    <p:extLst>
      <p:ext uri="{BB962C8B-B14F-4D97-AF65-F5344CB8AC3E}">
        <p14:creationId xmlns:p14="http://schemas.microsoft.com/office/powerpoint/2010/main" val="1370566639"/>
      </p:ext>
    </p:extLst>
  </p:cSld>
  <p:clrMapOvr>
    <a:masterClrMapping/>
  </p:clrMapOvr>
  <p:transition/>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Righ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0"/>
            <a:ext cx="265176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t Bottom Content"/>
          <p:cNvSpPr>
            <a:spLocks noGrp="1"/>
          </p:cNvSpPr>
          <p:nvPr>
            <p:ph idx="10"/>
          </p:nvPr>
        </p:nvSpPr>
        <p:spPr>
          <a:xfrm>
            <a:off x="521208" y="45720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409623783"/>
      </p:ext>
    </p:extLst>
  </p:cSld>
  <p:clrMapOvr>
    <a:masterClrMapping/>
  </p:clrMapOvr>
  <p:transition/>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Righ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0"/>
            <a:ext cx="265176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t Bottom Content"/>
          <p:cNvSpPr>
            <a:spLocks noGrp="1"/>
          </p:cNvSpPr>
          <p:nvPr>
            <p:ph idx="10"/>
          </p:nvPr>
        </p:nvSpPr>
        <p:spPr>
          <a:xfrm>
            <a:off x="521208" y="36576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97995710"/>
      </p:ext>
    </p:extLst>
  </p:cSld>
  <p:clrMapOvr>
    <a:masterClrMapping/>
  </p:clrMapOvr>
  <p:transition/>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Righ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smtClean="0"/>
              <a:t>Click to edit Master title style</a:t>
            </a:r>
            <a:endParaRPr lang="en-US" dirty="0"/>
          </a:p>
        </p:txBody>
      </p:sp>
      <p:sp>
        <p:nvSpPr>
          <p:cNvPr id="4" name="txt Right Col Content"/>
          <p:cNvSpPr>
            <a:spLocks noGrp="1"/>
          </p:cNvSpPr>
          <p:nvPr>
            <p:ph sz="half" idx="2"/>
          </p:nvPr>
        </p:nvSpPr>
        <p:spPr>
          <a:xfrm>
            <a:off x="6172200" y="3657600"/>
            <a:ext cx="265176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 Top Content"/>
          <p:cNvSpPr>
            <a:spLocks noGrp="1"/>
          </p:cNvSpPr>
          <p:nvPr>
            <p:ph idx="10"/>
          </p:nvPr>
        </p:nvSpPr>
        <p:spPr>
          <a:xfrm>
            <a:off x="521208" y="9144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840261398"/>
      </p:ext>
    </p:extLst>
  </p:cSld>
  <p:clrMapOvr>
    <a:masterClrMapping/>
  </p:clrMapOvr>
  <p:transition/>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Righ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smtClean="0"/>
              <a:t>Click to edit Master title style</a:t>
            </a:r>
            <a:endParaRPr lang="en-US" dirty="0"/>
          </a:p>
        </p:txBody>
      </p:sp>
      <p:sp>
        <p:nvSpPr>
          <p:cNvPr id="4" name="txt Right Col Content"/>
          <p:cNvSpPr>
            <a:spLocks noGrp="1"/>
          </p:cNvSpPr>
          <p:nvPr>
            <p:ph sz="half" idx="2"/>
          </p:nvPr>
        </p:nvSpPr>
        <p:spPr>
          <a:xfrm>
            <a:off x="6172200" y="2743200"/>
            <a:ext cx="265176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 Top Content"/>
          <p:cNvSpPr>
            <a:spLocks noGrp="1"/>
          </p:cNvSpPr>
          <p:nvPr>
            <p:ph idx="10"/>
          </p:nvPr>
        </p:nvSpPr>
        <p:spPr>
          <a:xfrm>
            <a:off x="521208" y="9144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513376759"/>
      </p:ext>
    </p:extLst>
  </p:cSld>
  <p:clrMapOvr>
    <a:masterClrMapping/>
  </p:clrMapOvr>
  <p:transition/>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Lesson Objectives">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smtClean="0">
                <a:latin typeface="+mj-lt"/>
                <a:cs typeface="Arial" pitchFamily="34" charset="0"/>
              </a:rPr>
              <a:t>Lesson</a:t>
            </a:r>
            <a:r>
              <a:rPr lang="en-US" sz="3200" smtClean="0">
                <a:latin typeface="Arial" pitchFamily="34" charset="0"/>
                <a:cs typeface="Arial" pitchFamily="34" charset="0"/>
              </a:rPr>
              <a:t> objectives</a:t>
            </a:r>
          </a:p>
        </p:txBody>
      </p:sp>
      <p:sp>
        <p:nvSpPr>
          <p:cNvPr id="5" name="txt Print Instructions Fixed"/>
          <p:cNvSpPr>
            <a:spLocks noChangeArrowheads="1"/>
          </p:cNvSpPr>
          <p:nvPr/>
        </p:nvSpPr>
        <p:spPr bwMode="auto">
          <a:xfrm>
            <a:off x="533400" y="5791200"/>
            <a:ext cx="8305800" cy="99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p>
            <a:pPr marL="0" lvl="1" indent="0">
              <a:spcBef>
                <a:spcPct val="20000"/>
              </a:spcBef>
              <a:buSzPct val="90000"/>
              <a:buFont typeface="Wingdings 2" pitchFamily="18" charset="2"/>
              <a:buNone/>
            </a:pPr>
            <a:r>
              <a:rPr lang="en-US" sz="1600" b="0" smtClean="0">
                <a:solidFill>
                  <a:schemeClr val="accent1"/>
                </a:solidFill>
              </a:rPr>
              <a:t>This lesson uses the notes section for </a:t>
            </a:r>
            <a:r>
              <a:rPr lang="en-US" sz="1600" b="0">
                <a:solidFill>
                  <a:schemeClr val="accent1"/>
                </a:solidFill>
              </a:rPr>
              <a:t>additional explanation and </a:t>
            </a:r>
            <a:r>
              <a:rPr lang="en-US" sz="1600" b="0" smtClean="0">
                <a:solidFill>
                  <a:schemeClr val="accent1"/>
                </a:solidFill>
              </a:rPr>
              <a:t>information.</a:t>
            </a:r>
            <a:r>
              <a:rPr lang="en-US" sz="1600" smtClean="0">
                <a:solidFill>
                  <a:schemeClr val="accent1"/>
                </a:solidFill>
              </a:rPr>
              <a:t> </a:t>
            </a:r>
            <a:br>
              <a:rPr lang="en-US" sz="1600" smtClean="0">
                <a:solidFill>
                  <a:schemeClr val="accent1"/>
                </a:solidFill>
              </a:rPr>
            </a:br>
            <a:r>
              <a:rPr lang="en-US" sz="1600" b="0" smtClean="0">
                <a:solidFill>
                  <a:schemeClr val="accent1"/>
                </a:solidFill>
              </a:rPr>
              <a:t>To </a:t>
            </a:r>
            <a:r>
              <a:rPr lang="en-US" sz="1600" b="0">
                <a:solidFill>
                  <a:schemeClr val="accent1"/>
                </a:solidFill>
              </a:rPr>
              <a:t>view the notes in PowerPoint, </a:t>
            </a:r>
            <a:r>
              <a:rPr lang="en-US" sz="1600" b="0" smtClean="0">
                <a:solidFill>
                  <a:schemeClr val="accent1"/>
                </a:solidFill>
              </a:rPr>
              <a:t>select View </a:t>
            </a:r>
            <a:r>
              <a:rPr lang="en-US" sz="1600" b="0" smtClean="0">
                <a:solidFill>
                  <a:schemeClr val="accent1"/>
                </a:solidFill>
                <a:sym typeface="Wingdings" pitchFamily="2" charset="2"/>
              </a:rPr>
              <a:t> Normal </a:t>
            </a:r>
            <a:r>
              <a:rPr lang="en-US" sz="1600" b="0">
                <a:solidFill>
                  <a:schemeClr val="accent1"/>
                </a:solidFill>
                <a:sym typeface="Wingdings" pitchFamily="2" charset="2"/>
              </a:rPr>
              <a:t>or </a:t>
            </a:r>
            <a:r>
              <a:rPr lang="en-US" sz="1600" b="0" smtClean="0">
                <a:solidFill>
                  <a:schemeClr val="accent1"/>
                </a:solidFill>
              </a:rPr>
              <a:t>View </a:t>
            </a:r>
            <a:r>
              <a:rPr lang="en-US" sz="1600" b="0" smtClean="0">
                <a:solidFill>
                  <a:schemeClr val="accent1"/>
                </a:solidFill>
                <a:sym typeface="Wingdings" pitchFamily="2" charset="2"/>
              </a:rPr>
              <a:t> </a:t>
            </a:r>
            <a:r>
              <a:rPr lang="en-US" sz="1600" b="0" smtClean="0">
                <a:solidFill>
                  <a:schemeClr val="accent1"/>
                </a:solidFill>
              </a:rPr>
              <a:t>Notes </a:t>
            </a:r>
            <a:r>
              <a:rPr lang="en-US" sz="1600" b="0">
                <a:solidFill>
                  <a:schemeClr val="accent1"/>
                </a:solidFill>
              </a:rPr>
              <a:t>Page</a:t>
            </a:r>
            <a:r>
              <a:rPr lang="en-US" sz="1600" b="0" smtClean="0">
                <a:solidFill>
                  <a:schemeClr val="accent1"/>
                </a:solidFill>
              </a:rPr>
              <a:t>. </a:t>
            </a:r>
            <a:br>
              <a:rPr lang="en-US" sz="1600" b="0" smtClean="0">
                <a:solidFill>
                  <a:schemeClr val="accent1"/>
                </a:solidFill>
              </a:rPr>
            </a:br>
            <a:r>
              <a:rPr lang="en-US" sz="1600" b="0" smtClean="0">
                <a:solidFill>
                  <a:schemeClr val="accent1"/>
                </a:solidFill>
              </a:rPr>
              <a:t>When printing </a:t>
            </a:r>
            <a:r>
              <a:rPr lang="en-US" sz="1600" smtClean="0">
                <a:solidFill>
                  <a:schemeClr val="accent1"/>
                </a:solidFill>
              </a:rPr>
              <a:t>notes, select Note Pages and</a:t>
            </a:r>
            <a:r>
              <a:rPr lang="en-US" sz="1600" baseline="0" smtClean="0">
                <a:solidFill>
                  <a:schemeClr val="accent1"/>
                </a:solidFill>
              </a:rPr>
              <a:t> </a:t>
            </a:r>
            <a:r>
              <a:rPr lang="en-US" sz="1600" b="0" smtClean="0">
                <a:solidFill>
                  <a:schemeClr val="accent1"/>
                </a:solidFill>
              </a:rPr>
              <a:t>Print </a:t>
            </a:r>
            <a:r>
              <a:rPr lang="en-US" sz="1600" b="0">
                <a:solidFill>
                  <a:schemeClr val="accent1"/>
                </a:solidFill>
              </a:rPr>
              <a:t>hidden slides</a:t>
            </a:r>
            <a:r>
              <a:rPr lang="en-US" sz="1600" b="0" smtClean="0">
                <a:solidFill>
                  <a:schemeClr val="accent1"/>
                </a:solidFill>
              </a:rPr>
              <a:t>.</a:t>
            </a:r>
            <a:endParaRPr lang="en-US" sz="1600" b="0">
              <a:solidFill>
                <a:schemeClr val="accent1"/>
              </a:solidFill>
            </a:endParaRPr>
          </a:p>
          <a:p>
            <a:pPr lvl="1" algn="l">
              <a:spcBef>
                <a:spcPct val="20000"/>
              </a:spcBef>
              <a:buSzPct val="90000"/>
              <a:buFont typeface="Wingdings 2" pitchFamily="18" charset="2"/>
              <a:buNone/>
            </a:pPr>
            <a:endParaRPr lang="en-US" sz="1400" b="0">
              <a:solidFill>
                <a:srgbClr val="AA3704"/>
              </a:solidFill>
            </a:endParaRPr>
          </a:p>
        </p:txBody>
      </p:sp>
      <p:sp>
        <p:nvSpPr>
          <p:cNvPr id="9" name="txt Content Fixed"/>
          <p:cNvSpPr/>
          <p:nvPr/>
        </p:nvSpPr>
        <p:spPr>
          <a:xfrm>
            <a:off x="521208" y="914400"/>
            <a:ext cx="832104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smtClean="0">
                <a:solidFill>
                  <a:schemeClr val="bg1"/>
                </a:solidFill>
                <a:ea typeface="Calibri" pitchFamily="34" charset="0"/>
                <a:cs typeface="Calibri" pitchFamily="34" charset="0"/>
              </a:rPr>
              <a:t>By the end of this lesson, you should be able to:</a:t>
            </a:r>
          </a:p>
        </p:txBody>
      </p:sp>
      <p:sp>
        <p:nvSpPr>
          <p:cNvPr id="11" name="txt Content"/>
          <p:cNvSpPr>
            <a:spLocks noGrp="1"/>
          </p:cNvSpPr>
          <p:nvPr>
            <p:ph type="body" sz="quarter" idx="10" hasCustomPrompt="1"/>
          </p:nvPr>
        </p:nvSpPr>
        <p:spPr>
          <a:xfrm>
            <a:off x="520699" y="1344168"/>
            <a:ext cx="8321040" cy="4343400"/>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Identify…</a:t>
            </a:r>
          </a:p>
        </p:txBody>
      </p:sp>
    </p:spTree>
    <p:extLst>
      <p:ext uri="{BB962C8B-B14F-4D97-AF65-F5344CB8AC3E}">
        <p14:creationId xmlns:p14="http://schemas.microsoft.com/office/powerpoint/2010/main" val="795622096"/>
      </p:ext>
    </p:extLst>
  </p:cSld>
  <p:clrMapOvr>
    <a:masterClrMapping/>
  </p:clrMapOvr>
  <p:transition/>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Lesson Objectives Review">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smtClean="0">
                <a:latin typeface="+mj-lt"/>
                <a:cs typeface="Arial" pitchFamily="34" charset="0"/>
              </a:rPr>
              <a:t>Lesson</a:t>
            </a:r>
            <a:r>
              <a:rPr lang="en-US" sz="3200" smtClean="0">
                <a:latin typeface="Arial" pitchFamily="34" charset="0"/>
                <a:cs typeface="Arial" pitchFamily="34" charset="0"/>
              </a:rPr>
              <a:t> objectives review</a:t>
            </a:r>
          </a:p>
        </p:txBody>
      </p:sp>
      <p:sp>
        <p:nvSpPr>
          <p:cNvPr id="9" name="txt Content Fixed"/>
          <p:cNvSpPr/>
          <p:nvPr/>
        </p:nvSpPr>
        <p:spPr>
          <a:xfrm>
            <a:off x="521208" y="914400"/>
            <a:ext cx="832104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smtClean="0">
                <a:solidFill>
                  <a:schemeClr val="bg1"/>
                </a:solidFill>
                <a:ea typeface="Calibri" pitchFamily="34" charset="0"/>
                <a:cs typeface="Calibri" pitchFamily="34" charset="0"/>
              </a:rPr>
              <a:t>You should now be able to:</a:t>
            </a:r>
          </a:p>
        </p:txBody>
      </p:sp>
      <p:sp>
        <p:nvSpPr>
          <p:cNvPr id="11" name="txt Content"/>
          <p:cNvSpPr>
            <a:spLocks noGrp="1"/>
          </p:cNvSpPr>
          <p:nvPr>
            <p:ph type="body" sz="quarter" idx="10" hasCustomPrompt="1"/>
          </p:nvPr>
        </p:nvSpPr>
        <p:spPr>
          <a:xfrm>
            <a:off x="520699" y="1344168"/>
            <a:ext cx="8321040" cy="5056632"/>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Identify…</a:t>
            </a:r>
          </a:p>
        </p:txBody>
      </p:sp>
    </p:spTree>
    <p:extLst>
      <p:ext uri="{BB962C8B-B14F-4D97-AF65-F5344CB8AC3E}">
        <p14:creationId xmlns:p14="http://schemas.microsoft.com/office/powerpoint/2010/main" val="1377342622"/>
      </p:ext>
    </p:extLst>
  </p:cSld>
  <p:clrMapOvr>
    <a:masterClrMapping/>
  </p:clrMapOvr>
  <p:transition/>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Review Questions Standard">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smtClean="0">
                <a:latin typeface="+mj-lt"/>
                <a:cs typeface="Arial" pitchFamily="34" charset="0"/>
              </a:rPr>
              <a:t>Review</a:t>
            </a:r>
            <a:r>
              <a:rPr lang="en-US" sz="3200" smtClean="0">
                <a:latin typeface="Arial" pitchFamily="34" charset="0"/>
                <a:cs typeface="Arial" pitchFamily="34" charset="0"/>
              </a:rPr>
              <a:t> questions</a:t>
            </a:r>
          </a:p>
        </p:txBody>
      </p:sp>
      <p:sp>
        <p:nvSpPr>
          <p:cNvPr id="3" name="txt Content"/>
          <p:cNvSpPr>
            <a:spLocks noGrp="1"/>
          </p:cNvSpPr>
          <p:nvPr>
            <p:ph idx="1" hasCustomPrompt="1"/>
          </p:nvPr>
        </p:nvSpPr>
        <p:spPr>
          <a:xfrm>
            <a:off x="519113" y="914400"/>
            <a:ext cx="8318500" cy="54864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sz="2400" baseline="0">
                <a:solidFill>
                  <a:schemeClr val="bg1"/>
                </a:solidFill>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Question…?</a:t>
            </a:r>
          </a:p>
          <a:p>
            <a:pPr lvl="0"/>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lvl="0"/>
            <a:endParaRPr lang="en-US" dirty="0" smtClean="0"/>
          </a:p>
        </p:txBody>
      </p:sp>
      <p:sp>
        <p:nvSpPr>
          <p:cNvPr id="4" name="txt Title Fixed"/>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smtClean="0">
                <a:latin typeface="+mj-lt"/>
                <a:cs typeface="Arial" pitchFamily="34" charset="0"/>
              </a:rPr>
              <a:t>Review</a:t>
            </a:r>
            <a:r>
              <a:rPr lang="en-US" sz="3200" smtClean="0">
                <a:latin typeface="Arial" pitchFamily="34" charset="0"/>
                <a:cs typeface="Arial" pitchFamily="34" charset="0"/>
              </a:rPr>
              <a:t> questions</a:t>
            </a:r>
          </a:p>
        </p:txBody>
      </p:sp>
    </p:spTree>
    <p:extLst>
      <p:ext uri="{BB962C8B-B14F-4D97-AF65-F5344CB8AC3E}">
        <p14:creationId xmlns:p14="http://schemas.microsoft.com/office/powerpoint/2010/main" val="4292018842"/>
      </p:ext>
    </p:extLst>
  </p:cSld>
  <p:clrMapOvr>
    <a:masterClrMapping/>
  </p:clrMapOvr>
  <p:transition/>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Review Questions True False">
    <p:spTree>
      <p:nvGrpSpPr>
        <p:cNvPr id="1" name=""/>
        <p:cNvGrpSpPr/>
        <p:nvPr/>
      </p:nvGrpSpPr>
      <p:grpSpPr>
        <a:xfrm>
          <a:off x="0" y="0"/>
          <a:ext cx="0" cy="0"/>
          <a:chOff x="0" y="0"/>
          <a:chExt cx="0" cy="0"/>
        </a:xfrm>
      </p:grpSpPr>
      <p:sp>
        <p:nvSpPr>
          <p:cNvPr id="6"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smtClean="0">
                <a:latin typeface="+mj-lt"/>
                <a:cs typeface="Arial" pitchFamily="34" charset="0"/>
              </a:rPr>
              <a:t>Review</a:t>
            </a:r>
            <a:r>
              <a:rPr lang="en-US" sz="3200" smtClean="0">
                <a:latin typeface="+mj-lt"/>
              </a:rPr>
              <a:t> questions</a:t>
            </a:r>
          </a:p>
        </p:txBody>
      </p:sp>
      <p:sp>
        <p:nvSpPr>
          <p:cNvPr id="7" name="txt Content Fixed"/>
          <p:cNvSpPr/>
          <p:nvPr/>
        </p:nvSpPr>
        <p:spPr>
          <a:xfrm>
            <a:off x="521208" y="914400"/>
            <a:ext cx="832104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lvl="0" indent="0" eaLnBrk="0" fontAlgn="base" hangingPunct="0">
              <a:spcBef>
                <a:spcPct val="40000"/>
              </a:spcBef>
              <a:spcAft>
                <a:spcPct val="0"/>
              </a:spcAft>
              <a:buClr>
                <a:srgbClr val="04628C"/>
              </a:buClr>
              <a:buSzPct val="90000"/>
              <a:buFont typeface="Arial" pitchFamily="34" charset="0"/>
              <a:buNone/>
            </a:pPr>
            <a:r>
              <a:rPr lang="en-US" sz="2400" smtClean="0">
                <a:solidFill>
                  <a:schemeClr val="bg1"/>
                </a:solidFill>
                <a:ea typeface="Calibri" pitchFamily="34" charset="0"/>
                <a:cs typeface="Calibri" pitchFamily="34" charset="0"/>
              </a:rPr>
              <a:t>Identify if each question is true or false:</a:t>
            </a:r>
          </a:p>
          <a:p>
            <a:pPr marL="0" lvl="0" indent="0" eaLnBrk="0" fontAlgn="base" hangingPunct="0">
              <a:spcBef>
                <a:spcPct val="40000"/>
              </a:spcBef>
              <a:spcAft>
                <a:spcPct val="0"/>
              </a:spcAft>
              <a:buClr>
                <a:srgbClr val="04628C"/>
              </a:buClr>
              <a:buSzPct val="90000"/>
              <a:buFont typeface="Arial" pitchFamily="34" charset="0"/>
              <a:buNone/>
            </a:pPr>
            <a:endParaRPr lang="en-US" sz="2400" smtClean="0">
              <a:solidFill>
                <a:schemeClr val="bg1"/>
              </a:solidFill>
              <a:ea typeface="Calibri" pitchFamily="34" charset="0"/>
              <a:cs typeface="Calibri" pitchFamily="34" charset="0"/>
            </a:endParaRPr>
          </a:p>
        </p:txBody>
      </p:sp>
      <p:sp>
        <p:nvSpPr>
          <p:cNvPr id="3" name="txt Content"/>
          <p:cNvSpPr>
            <a:spLocks noGrp="1"/>
          </p:cNvSpPr>
          <p:nvPr>
            <p:ph idx="1" hasCustomPrompt="1"/>
          </p:nvPr>
        </p:nvSpPr>
        <p:spPr>
          <a:xfrm>
            <a:off x="519113" y="1447800"/>
            <a:ext cx="8318500" cy="49530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baseline="0"/>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Statement.</a:t>
            </a:r>
          </a:p>
          <a:p>
            <a:pPr lvl="0"/>
            <a:r>
              <a:rPr lang="en-US" dirty="0" smtClean="0"/>
              <a:t>Statement.</a:t>
            </a:r>
          </a:p>
          <a:p>
            <a:pPr lvl="0"/>
            <a:r>
              <a:rPr lang="en-US" dirty="0" smtClean="0"/>
              <a:t>Statement.</a:t>
            </a:r>
          </a:p>
          <a:p>
            <a:pPr lvl="0"/>
            <a:r>
              <a:rPr lang="en-US" dirty="0" smtClean="0"/>
              <a:t>Statement.</a:t>
            </a:r>
          </a:p>
        </p:txBody>
      </p:sp>
    </p:spTree>
    <p:extLst>
      <p:ext uri="{BB962C8B-B14F-4D97-AF65-F5344CB8AC3E}">
        <p14:creationId xmlns:p14="http://schemas.microsoft.com/office/powerpoint/2010/main" val="2696677930"/>
      </p:ext>
    </p:extLst>
  </p:cSld>
  <p:clrMapOvr>
    <a:masterClrMapping/>
  </p:clrMapOvr>
  <p:transition/>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otices Mandatory2">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smtClean="0">
                <a:latin typeface="+mj-lt"/>
                <a:cs typeface="Arial" pitchFamily="34" charset="0"/>
              </a:rPr>
              <a:t>Notices</a:t>
            </a:r>
            <a:endParaRPr lang="en-US" sz="3200" smtClean="0">
              <a:latin typeface="+mj-lt"/>
            </a:endParaRPr>
          </a:p>
        </p:txBody>
      </p:sp>
      <p:sp>
        <p:nvSpPr>
          <p:cNvPr id="6" name="txt Notice Fixed"/>
          <p:cNvSpPr/>
          <p:nvPr userDrawn="1"/>
        </p:nvSpPr>
        <p:spPr>
          <a:xfrm>
            <a:off x="521208" y="914400"/>
            <a:ext cx="8289417" cy="5410200"/>
          </a:xfrm>
          <a:prstGeom prst="rect">
            <a:avLst/>
          </a:prstGeom>
          <a:ln w="9525">
            <a:solidFill>
              <a:schemeClr val="tx1"/>
            </a:solidFill>
          </a:ln>
        </p:spPr>
        <p:txBody>
          <a:bodyPr wrap="square" lIns="0" tIns="0" rIns="0" bIns="0">
            <a:noAutofit/>
          </a:bodyPr>
          <a:lstStyle/>
          <a:p>
            <a:pPr marL="0" indent="0">
              <a:buFont typeface="Wingdings 3" pitchFamily="18" charset="2"/>
              <a:buNone/>
            </a:pPr>
            <a:r>
              <a:rPr lang="en-US" sz="1600" b="1" smtClean="0">
                <a:solidFill>
                  <a:schemeClr val="bg1"/>
                </a:solidFill>
              </a:rPr>
              <a:t>Copyright © 2001-2014 Guidewire Software, Inc. All rights reserved.</a:t>
            </a:r>
            <a:br>
              <a:rPr lang="en-US" sz="1600" b="1" smtClean="0">
                <a:solidFill>
                  <a:schemeClr val="bg1"/>
                </a:solidFill>
              </a:rPr>
            </a:br>
            <a:endParaRPr lang="en-US" sz="1600" b="1" smtClean="0">
              <a:solidFill>
                <a:schemeClr val="bg1"/>
              </a:solidFill>
            </a:endParaRPr>
          </a:p>
          <a:p>
            <a:pPr marL="0" indent="0">
              <a:buFont typeface="Wingdings 3" pitchFamily="18" charset="2"/>
              <a:buNone/>
            </a:pPr>
            <a:r>
              <a:rPr lang="en-US" sz="1400" b="0" smtClean="0">
                <a:solidFill>
                  <a:schemeClr val="bg1"/>
                </a:solidFill>
              </a:rPr>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a:t>
            </a:r>
            <a:r>
              <a:rPr lang="en-US" sz="1400" b="0" err="1" smtClean="0">
                <a:solidFill>
                  <a:schemeClr val="bg1"/>
                </a:solidFill>
              </a:rPr>
              <a:t>DataHub</a:t>
            </a:r>
            <a:r>
              <a:rPr lang="en-US" sz="1400" b="0" smtClean="0">
                <a:solidFill>
                  <a:schemeClr val="bg1"/>
                </a:solidFill>
              </a:rPr>
              <a:t>, Guidewire </a:t>
            </a:r>
            <a:r>
              <a:rPr lang="en-US" sz="1400" b="0" err="1" smtClean="0">
                <a:solidFill>
                  <a:schemeClr val="bg1"/>
                </a:solidFill>
              </a:rPr>
              <a:t>InfoCenter</a:t>
            </a:r>
            <a:r>
              <a:rPr lang="en-US" sz="1400" b="0" smtClean="0">
                <a:solidFill>
                  <a:schemeClr val="bg1"/>
                </a:solidFill>
              </a:rPr>
              <a:t>, Guidewire Standard Reporting, Guidewire ExampleCenter, Guidewire Account Manager Portal, Guidewire Claim Portal, Guidewire Policyholder Portal, ClaimCenter, BillingCenter, PolicyCenter, InsuranceSuite, Gosu, Deliver Insurance Your Way, and the Guidewire logo are trademarks, service marks, or registered trademarks of Guidewire Software, Inc. in the United States and/or other countries.</a:t>
            </a:r>
            <a:br>
              <a:rPr lang="en-US" sz="1400" b="0" smtClean="0">
                <a:solidFill>
                  <a:schemeClr val="bg1"/>
                </a:solidFill>
              </a:rPr>
            </a:br>
            <a:endParaRPr lang="en-US" sz="1400" b="0" smtClean="0">
              <a:solidFill>
                <a:schemeClr val="bg1"/>
              </a:solidFill>
            </a:endParaRPr>
          </a:p>
          <a:p>
            <a:pPr marL="0" indent="0">
              <a:buFont typeface="Wingdings 3" pitchFamily="18" charset="2"/>
              <a:buNone/>
            </a:pPr>
            <a:r>
              <a:rPr lang="en-US" sz="1400" b="0" smtClean="0">
                <a:solidFill>
                  <a:schemeClr val="bg1"/>
                </a:solidFill>
              </a:rPr>
              <a:t>All other trademarks are the property of their respective owners.</a:t>
            </a:r>
          </a:p>
          <a:p>
            <a:pPr marL="0" indent="0">
              <a:buFont typeface="Wingdings 3" pitchFamily="18" charset="2"/>
              <a:buNone/>
            </a:pPr>
            <a:endParaRPr lang="en-US" sz="1600" b="0" smtClean="0">
              <a:solidFill>
                <a:schemeClr val="bg1"/>
              </a:solidFill>
            </a:endParaRPr>
          </a:p>
          <a:p>
            <a:pPr marL="0" indent="0">
              <a:buFont typeface="Wingdings 3" pitchFamily="18" charset="2"/>
              <a:buNone/>
            </a:pPr>
            <a:r>
              <a:rPr lang="en-US" sz="1600" b="1" smtClean="0">
                <a:solidFill>
                  <a:schemeClr val="bg1"/>
                </a:solidFill>
              </a:rPr>
              <a:t>This material is confidential and proprietary to Guidewire and subject to the confidentiality terms in the applicable license agreement and/or separate nondisclosure agreement.</a:t>
            </a:r>
          </a:p>
          <a:p>
            <a:pPr marL="0" indent="0">
              <a:buFont typeface="Wingdings 3" pitchFamily="18" charset="2"/>
              <a:buNone/>
            </a:pPr>
            <a:endParaRPr lang="en-US" sz="1600" b="0" smtClean="0">
              <a:solidFill>
                <a:schemeClr val="bg1"/>
              </a:solidFill>
            </a:endParaRPr>
          </a:p>
          <a:p>
            <a:pPr marL="0" indent="0">
              <a:buFont typeface="Wingdings 3" pitchFamily="18" charset="2"/>
              <a:buNone/>
            </a:pPr>
            <a:r>
              <a:rPr lang="en-US" sz="1400" b="0" smtClean="0">
                <a:solidFill>
                  <a:schemeClr val="bg1"/>
                </a:solidFill>
              </a:rPr>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br>
              <a:rPr lang="en-US" sz="1400" b="0" smtClean="0">
                <a:solidFill>
                  <a:schemeClr val="bg1"/>
                </a:solidFill>
              </a:rPr>
            </a:br>
            <a:endParaRPr lang="en-US" sz="1400" b="0" smtClean="0">
              <a:solidFill>
                <a:schemeClr val="bg1"/>
              </a:solidFill>
            </a:endParaRPr>
          </a:p>
          <a:p>
            <a:pPr marL="0" indent="0">
              <a:buFont typeface="Wingdings 3" pitchFamily="18" charset="2"/>
              <a:buNone/>
            </a:pPr>
            <a:r>
              <a:rPr lang="en-US" sz="1400" b="0" smtClean="0">
                <a:solidFill>
                  <a:schemeClr val="bg1"/>
                </a:solidFill>
              </a:rPr>
              <a:t>Guidewire products are protected by one or more United States patents.</a:t>
            </a:r>
          </a:p>
        </p:txBody>
      </p:sp>
    </p:spTree>
    <p:extLst>
      <p:ext uri="{BB962C8B-B14F-4D97-AF65-F5344CB8AC3E}">
        <p14:creationId xmlns:p14="http://schemas.microsoft.com/office/powerpoint/2010/main" val="2118631640"/>
      </p:ext>
    </p:extLst>
  </p:cSld>
  <p:clrMapOvr>
    <a:masterClrMapping/>
  </p:clrMapOv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3" name="txt Guidewire Copyright"/>
          <p:cNvSpPr txBox="1"/>
          <p:nvPr/>
        </p:nvSpPr>
        <p:spPr>
          <a:xfrm>
            <a:off x="304800" y="6553413"/>
            <a:ext cx="3673988" cy="92333"/>
          </a:xfrm>
          <a:prstGeom prst="rect">
            <a:avLst/>
          </a:prstGeom>
          <a:noFill/>
        </p:spPr>
        <p:txBody>
          <a:bodyPr wrap="square" lIns="0" tIns="0" rIns="0" bIns="0">
            <a:spAutoFit/>
          </a:bodyPr>
          <a:lstStyle/>
          <a:p>
            <a:pPr algn="l">
              <a:spcBef>
                <a:spcPts val="600"/>
              </a:spcBef>
              <a:buClr>
                <a:schemeClr val="tx2"/>
              </a:buClr>
              <a:buFont typeface="Arial" charset="0"/>
              <a:buNone/>
              <a:defRPr/>
            </a:pPr>
            <a:r>
              <a:rPr lang="en-US" sz="600">
                <a:solidFill>
                  <a:srgbClr val="B2B2B2"/>
                </a:solidFill>
                <a:latin typeface="+mn-lt"/>
              </a:rPr>
              <a:t>© Guidewire Software, Inc. </a:t>
            </a:r>
            <a:r>
              <a:rPr lang="en-US" sz="600" smtClean="0">
                <a:solidFill>
                  <a:srgbClr val="B2B2B2"/>
                </a:solidFill>
                <a:latin typeface="+mn-lt"/>
              </a:rPr>
              <a:t> 2001-2014. All </a:t>
            </a:r>
            <a:r>
              <a:rPr lang="en-US" sz="600">
                <a:solidFill>
                  <a:srgbClr val="B2B2B2"/>
                </a:solidFill>
                <a:latin typeface="+mn-lt"/>
              </a:rPr>
              <a:t>rights reserved. Do not distribute without permission.</a:t>
            </a:r>
          </a:p>
        </p:txBody>
      </p:sp>
      <p:grpSp>
        <p:nvGrpSpPr>
          <p:cNvPr id="12" name="rec GW Sidebar"/>
          <p:cNvGrpSpPr/>
          <p:nvPr/>
        </p:nvGrpSpPr>
        <p:grpSpPr>
          <a:xfrm>
            <a:off x="0" y="0"/>
            <a:ext cx="109538" cy="6858000"/>
            <a:chOff x="0" y="0"/>
            <a:chExt cx="109538" cy="6858000"/>
          </a:xfrm>
        </p:grpSpPr>
        <p:sp>
          <p:nvSpPr>
            <p:cNvPr id="15"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6"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7"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8"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9"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0"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grpSp>
      <p:pic>
        <p:nvPicPr>
          <p:cNvPr id="1031" name="pic Logo Text" descr="guidewire.png"/>
          <p:cNvPicPr>
            <a:picLocks noChangeAspect="1"/>
          </p:cNvPicPr>
          <p:nvPr/>
        </p:nvPicPr>
        <p:blipFill>
          <a:blip r:embed="rId42" cstate="print">
            <a:extLst>
              <a:ext uri="{28A0092B-C50C-407E-A947-70E740481C1C}">
                <a14:useLocalDpi xmlns:a14="http://schemas.microsoft.com/office/drawing/2010/main" val="0"/>
              </a:ext>
            </a:extLst>
          </a:blip>
          <a:srcRect/>
          <a:stretch>
            <a:fillRect/>
          </a:stretch>
        </p:blipFill>
        <p:spPr bwMode="auto">
          <a:xfrm>
            <a:off x="7412040" y="6543676"/>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xt Title"/>
          <p:cNvSpPr>
            <a:spLocks noGrp="1" noChangeArrowheads="1"/>
          </p:cNvSpPr>
          <p:nvPr>
            <p:ph type="title"/>
          </p:nvPr>
        </p:nvSpPr>
        <p:spPr bwMode="auto">
          <a:xfrm>
            <a:off x="493776" y="118872"/>
            <a:ext cx="832104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endParaRPr lang="en-US" altLang="en-US" dirty="0" smtClean="0"/>
          </a:p>
        </p:txBody>
      </p:sp>
      <p:sp>
        <p:nvSpPr>
          <p:cNvPr id="1028" name="txt Content"/>
          <p:cNvSpPr>
            <a:spLocks noGrp="1" noChangeArrowheads="1"/>
          </p:cNvSpPr>
          <p:nvPr>
            <p:ph type="body" idx="1"/>
          </p:nvPr>
        </p:nvSpPr>
        <p:spPr bwMode="auto">
          <a:xfrm>
            <a:off x="521208" y="914400"/>
            <a:ext cx="832104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dirty="0" smtClean="0"/>
              <a:t>Click to edit Master text styles </a:t>
            </a:r>
          </a:p>
          <a:p>
            <a:pPr lvl="1"/>
            <a:r>
              <a:rPr lang="en-US" altLang="en-US" dirty="0" smtClean="0"/>
              <a:t>Second level</a:t>
            </a:r>
          </a:p>
          <a:p>
            <a:pPr lvl="2"/>
            <a:r>
              <a:rPr lang="en-US" altLang="en-US" dirty="0" smtClean="0"/>
              <a:t>Third level</a:t>
            </a:r>
          </a:p>
          <a:p>
            <a:pPr lvl="3"/>
            <a:r>
              <a:rPr lang="en-US" altLang="en-US" dirty="0" smtClean="0"/>
              <a:t>Fourth level</a:t>
            </a:r>
          </a:p>
        </p:txBody>
      </p:sp>
      <p:sp>
        <p:nvSpPr>
          <p:cNvPr id="1127" name="txt Centered PageNumberBox"/>
          <p:cNvSpPr txBox="1">
            <a:spLocks noChangeArrowheads="1"/>
          </p:cNvSpPr>
          <p:nvPr/>
        </p:nvSpPr>
        <p:spPr bwMode="auto">
          <a:xfrm>
            <a:off x="4307365" y="6475146"/>
            <a:ext cx="519113" cy="227013"/>
          </a:xfrm>
          <a:prstGeom prst="rect">
            <a:avLst/>
          </a:prstGeom>
          <a:noFill/>
          <a:ln w="6350" algn="ctr">
            <a:noFill/>
            <a:miter lim="800000"/>
            <a:headEnd/>
            <a:tailEnd/>
          </a:ln>
          <a:effectLst/>
        </p:spPr>
        <p:txBody>
          <a:bodyPr lIns="0" tIns="0" rIns="0" bIns="0"/>
          <a:lstStyle/>
          <a:p>
            <a:pPr algn="ctr">
              <a:lnSpc>
                <a:spcPts val="1800"/>
              </a:lnSpc>
              <a:spcBef>
                <a:spcPts val="600"/>
              </a:spcBef>
              <a:buFont typeface="Wingdings" pitchFamily="2" charset="2"/>
              <a:buNone/>
              <a:defRPr/>
            </a:pPr>
            <a:fld id="{FABFFE1B-5FD5-480D-9A32-98AB62D1BF82}" type="slidenum">
              <a:rPr lang="en-US" sz="1200">
                <a:solidFill>
                  <a:srgbClr val="B2B2B2"/>
                </a:solidFill>
                <a:latin typeface="Arial" pitchFamily="34" charset="0"/>
                <a:cs typeface="Arial" pitchFamily="34" charset="0"/>
              </a:rPr>
              <a:pPr algn="ctr">
                <a:lnSpc>
                  <a:spcPts val="1800"/>
                </a:lnSpc>
                <a:spcBef>
                  <a:spcPts val="600"/>
                </a:spcBef>
                <a:buFont typeface="Wingdings" pitchFamily="2" charset="2"/>
                <a:buNone/>
                <a:defRPr/>
              </a:pPr>
              <a:t>‹#›</a:t>
            </a:fld>
            <a:r>
              <a:rPr lang="en-US" i="1">
                <a:solidFill>
                  <a:srgbClr val="B2B2B2"/>
                </a:solidFill>
                <a:cs typeface="Times New Roman" pitchFamily="18" charset="0"/>
              </a:rPr>
              <a:t> </a:t>
            </a:r>
          </a:p>
        </p:txBody>
      </p:sp>
    </p:spTree>
    <p:extLst>
      <p:ext uri="{BB962C8B-B14F-4D97-AF65-F5344CB8AC3E}">
        <p14:creationId xmlns:p14="http://schemas.microsoft.com/office/powerpoint/2010/main" val="338705985"/>
      </p:ext>
    </p:extLst>
  </p:cSld>
  <p:clrMap bg1="dk2" tx1="lt1" bg2="dk1" tx2="lt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 id="2147483776" r:id="rId13"/>
    <p:sldLayoutId id="2147483777" r:id="rId14"/>
    <p:sldLayoutId id="2147483778" r:id="rId15"/>
    <p:sldLayoutId id="2147483779" r:id="rId16"/>
    <p:sldLayoutId id="2147483780" r:id="rId17"/>
    <p:sldLayoutId id="2147483781" r:id="rId18"/>
    <p:sldLayoutId id="2147483782" r:id="rId19"/>
    <p:sldLayoutId id="2147483783" r:id="rId20"/>
    <p:sldLayoutId id="2147483784" r:id="rId21"/>
    <p:sldLayoutId id="2147483785" r:id="rId22"/>
    <p:sldLayoutId id="2147483786" r:id="rId23"/>
    <p:sldLayoutId id="2147483787" r:id="rId24"/>
    <p:sldLayoutId id="2147483788" r:id="rId25"/>
    <p:sldLayoutId id="2147483789" r:id="rId26"/>
    <p:sldLayoutId id="2147483790" r:id="rId27"/>
    <p:sldLayoutId id="2147483791" r:id="rId28"/>
    <p:sldLayoutId id="2147483792" r:id="rId29"/>
    <p:sldLayoutId id="2147483793" r:id="rId30"/>
    <p:sldLayoutId id="2147483794" r:id="rId31"/>
    <p:sldLayoutId id="2147483795" r:id="rId32"/>
    <p:sldLayoutId id="2147483796" r:id="rId33"/>
    <p:sldLayoutId id="2147483797" r:id="rId34"/>
    <p:sldLayoutId id="2147483798" r:id="rId35"/>
    <p:sldLayoutId id="2147483799" r:id="rId36"/>
    <p:sldLayoutId id="2147483800" r:id="rId37"/>
    <p:sldLayoutId id="2147483801" r:id="rId38"/>
    <p:sldLayoutId id="2147483802" r:id="rId39"/>
    <p:sldLayoutId id="2147483803" r:id="rId40"/>
  </p:sldLayoutIdLst>
  <p:transition/>
  <p:timing>
    <p:tnLst>
      <p:par>
        <p:cTn id="1" dur="indefinite" restart="never" nodeType="tmRoot"/>
      </p:par>
    </p:tnLst>
  </p:timing>
  <p:txStyles>
    <p:title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p:titleStyle>
    <p:body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8.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image" Target="../media/image6.emf"/><Relationship Id="rId7" Type="http://schemas.openxmlformats.org/officeDocument/2006/relationships/image" Target="../media/image10.emf"/><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9.emf"/><Relationship Id="rId5" Type="http://schemas.openxmlformats.org/officeDocument/2006/relationships/image" Target="../media/image8.emf"/><Relationship Id="rId4" Type="http://schemas.openxmlformats.org/officeDocument/2006/relationships/image" Target="../media/image7.emf"/><Relationship Id="rId9" Type="http://schemas.openxmlformats.org/officeDocument/2006/relationships/image" Target="../media/image12.emf"/></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2.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30.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1.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30.xml"/><Relationship Id="rId5" Type="http://schemas.openxmlformats.org/officeDocument/2006/relationships/image" Target="../media/image17.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0.xml"/><Relationship Id="rId6" Type="http://schemas.openxmlformats.org/officeDocument/2006/relationships/image" Target="../media/image15.png"/><Relationship Id="rId5" Type="http://schemas.openxmlformats.org/officeDocument/2006/relationships/image" Target="../media/image19.png"/><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0.xml"/><Relationship Id="rId6" Type="http://schemas.openxmlformats.org/officeDocument/2006/relationships/image" Target="../media/image15.png"/><Relationship Id="rId5" Type="http://schemas.openxmlformats.org/officeDocument/2006/relationships/image" Target="../media/image17.png"/><Relationship Id="rId4" Type="http://schemas.microsoft.com/office/2007/relationships/hdphoto" Target="../media/hdphoto2.wdp"/></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0.xml"/><Relationship Id="rId6" Type="http://schemas.openxmlformats.org/officeDocument/2006/relationships/image" Target="../media/image16.png"/><Relationship Id="rId5" Type="http://schemas.openxmlformats.org/officeDocument/2006/relationships/image" Target="../media/image17.png"/><Relationship Id="rId4" Type="http://schemas.microsoft.com/office/2007/relationships/hdphoto" Target="../media/hdphoto3.wdp"/></Relationships>
</file>

<file path=ppt/slides/_rels/slide13.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image" Target="../media/image22.png"/><Relationship Id="rId7" Type="http://schemas.openxmlformats.org/officeDocument/2006/relationships/image" Target="../media/image8.emf"/><Relationship Id="rId2" Type="http://schemas.openxmlformats.org/officeDocument/2006/relationships/notesSlide" Target="../notesSlides/notesSlide13.xml"/><Relationship Id="rId1" Type="http://schemas.openxmlformats.org/officeDocument/2006/relationships/slideLayout" Target="../slideLayouts/slideLayout30.xml"/><Relationship Id="rId6" Type="http://schemas.openxmlformats.org/officeDocument/2006/relationships/image" Target="../media/image7.emf"/><Relationship Id="rId5" Type="http://schemas.openxmlformats.org/officeDocument/2006/relationships/image" Target="../media/image6.emf"/><Relationship Id="rId4" Type="http://schemas.openxmlformats.org/officeDocument/2006/relationships/image" Target="../media/image16.png"/><Relationship Id="rId9"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22.xml"/><Relationship Id="rId5" Type="http://schemas.openxmlformats.org/officeDocument/2006/relationships/image" Target="../media/image1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10.xml"/><Relationship Id="rId5" Type="http://schemas.openxmlformats.org/officeDocument/2006/relationships/image" Target="../media/image15.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22.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10.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10.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6.png"/><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22.xml"/><Relationship Id="rId1" Type="http://schemas.openxmlformats.org/officeDocument/2006/relationships/slideLayout" Target="../slideLayouts/slideLayout5.xml"/><Relationship Id="rId5" Type="http://schemas.openxmlformats.org/officeDocument/2006/relationships/image" Target="../media/image15.png"/><Relationship Id="rId4" Type="http://schemas.openxmlformats.org/officeDocument/2006/relationships/image" Target="../media/image8.e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1.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20.xml"/><Relationship Id="rId5" Type="http://schemas.openxmlformats.org/officeDocument/2006/relationships/image" Target="../media/image15.png"/><Relationship Id="rId4" Type="http://schemas.microsoft.com/office/2007/relationships/hdphoto" Target="../media/hdphoto4.wdp"/></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5.xml"/><Relationship Id="rId5" Type="http://schemas.openxmlformats.org/officeDocument/2006/relationships/image" Target="../media/image16.png"/><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image" Target="../media/image15.png"/><Relationship Id="rId5" Type="http://schemas.openxmlformats.org/officeDocument/2006/relationships/image" Target="../media/image36.png"/><Relationship Id="rId4" Type="http://schemas.openxmlformats.org/officeDocument/2006/relationships/image" Target="../media/image35.png"/></Relationships>
</file>

<file path=ppt/slides/_rels/slide2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6.png"/><Relationship Id="rId7" Type="http://schemas.openxmlformats.org/officeDocument/2006/relationships/image" Target="../media/image9.emf"/><Relationship Id="rId2" Type="http://schemas.openxmlformats.org/officeDocument/2006/relationships/notesSlide" Target="../notesSlides/notesSlide27.xml"/><Relationship Id="rId1" Type="http://schemas.openxmlformats.org/officeDocument/2006/relationships/slideLayout" Target="../slideLayouts/slideLayout30.xml"/><Relationship Id="rId6" Type="http://schemas.openxmlformats.org/officeDocument/2006/relationships/image" Target="../media/image8.emf"/><Relationship Id="rId11" Type="http://schemas.openxmlformats.org/officeDocument/2006/relationships/image" Target="../media/image12.emf"/><Relationship Id="rId5" Type="http://schemas.openxmlformats.org/officeDocument/2006/relationships/image" Target="../media/image7.emf"/><Relationship Id="rId10" Type="http://schemas.openxmlformats.org/officeDocument/2006/relationships/image" Target="../media/image11.emf"/><Relationship Id="rId4" Type="http://schemas.openxmlformats.org/officeDocument/2006/relationships/image" Target="../media/image6.emf"/><Relationship Id="rId9" Type="http://schemas.openxmlformats.org/officeDocument/2006/relationships/image" Target="../media/image10.emf"/></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5.xml"/><Relationship Id="rId5" Type="http://schemas.openxmlformats.org/officeDocument/2006/relationships/image" Target="../media/image15.png"/><Relationship Id="rId4" Type="http://schemas.openxmlformats.org/officeDocument/2006/relationships/image" Target="../media/image38.png"/></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1.xml"/><Relationship Id="rId1" Type="http://schemas.openxmlformats.org/officeDocument/2006/relationships/slideLayout" Target="../slideLayouts/slideLayout11.xml"/><Relationship Id="rId4" Type="http://schemas.openxmlformats.org/officeDocument/2006/relationships/image" Target="../media/image15.png"/></Relationships>
</file>

<file path=ppt/slides/_rels/slide3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2.xml"/><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3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3.xml"/><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4.xml"/><Relationship Id="rId1" Type="http://schemas.openxmlformats.org/officeDocument/2006/relationships/slideLayout" Target="../slideLayouts/slideLayout10.xml"/><Relationship Id="rId4" Type="http://schemas.openxmlformats.org/officeDocument/2006/relationships/image" Target="../media/image15.png"/></Relationships>
</file>

<file path=ppt/slides/_rels/slide35.xml.rels><?xml version="1.0" encoding="UTF-8" standalone="yes"?>
<Relationships xmlns="http://schemas.openxmlformats.org/package/2006/relationships"><Relationship Id="rId3" Type="http://schemas.openxmlformats.org/officeDocument/2006/relationships/image" Target="../media/image11.emf"/><Relationship Id="rId7" Type="http://schemas.openxmlformats.org/officeDocument/2006/relationships/image" Target="../media/image15.png"/><Relationship Id="rId2" Type="http://schemas.openxmlformats.org/officeDocument/2006/relationships/notesSlide" Target="../notesSlides/notesSlide35.xml"/><Relationship Id="rId1" Type="http://schemas.openxmlformats.org/officeDocument/2006/relationships/slideLayout" Target="../slideLayouts/slideLayout5.xml"/><Relationship Id="rId6" Type="http://schemas.openxmlformats.org/officeDocument/2006/relationships/image" Target="../media/image12.emf"/><Relationship Id="rId5" Type="http://schemas.openxmlformats.org/officeDocument/2006/relationships/image" Target="../media/image43.emf"/><Relationship Id="rId4" Type="http://schemas.openxmlformats.org/officeDocument/2006/relationships/image" Target="../media/image8.emf"/></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1.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46.png"/><Relationship Id="rId2" Type="http://schemas.openxmlformats.org/officeDocument/2006/relationships/notesSlide" Target="../notesSlides/notesSlide37.xml"/><Relationship Id="rId1" Type="http://schemas.openxmlformats.org/officeDocument/2006/relationships/slideLayout" Target="../slideLayouts/slideLayout30.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15.png"/></Relationships>
</file>

<file path=ppt/slides/_rels/slide3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8.xml"/><Relationship Id="rId1" Type="http://schemas.openxmlformats.org/officeDocument/2006/relationships/slideLayout" Target="../slideLayouts/slideLayout20.xml"/><Relationship Id="rId5" Type="http://schemas.openxmlformats.org/officeDocument/2006/relationships/image" Target="../media/image16.png"/><Relationship Id="rId4" Type="http://schemas.microsoft.com/office/2007/relationships/hdphoto" Target="../media/hdphoto5.wdp"/></Relationships>
</file>

<file path=ppt/slides/_rels/slide39.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15.png"/><Relationship Id="rId2" Type="http://schemas.openxmlformats.org/officeDocument/2006/relationships/notesSlide" Target="../notesSlides/notesSlide39.xml"/><Relationship Id="rId1" Type="http://schemas.openxmlformats.org/officeDocument/2006/relationships/slideLayout" Target="../slideLayouts/slideLayout22.xml"/><Relationship Id="rId6" Type="http://schemas.openxmlformats.org/officeDocument/2006/relationships/image" Target="../media/image16.png"/><Relationship Id="rId5" Type="http://schemas.openxmlformats.org/officeDocument/2006/relationships/image" Target="../media/image49.png"/><Relationship Id="rId4" Type="http://schemas.microsoft.com/office/2007/relationships/hdphoto" Target="../media/hdphoto6.wdp"/></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0.xml"/><Relationship Id="rId1" Type="http://schemas.openxmlformats.org/officeDocument/2006/relationships/themeOverride" Target="../theme/themeOverride1.xml"/><Relationship Id="rId6" Type="http://schemas.openxmlformats.org/officeDocument/2006/relationships/image" Target="../media/image16.png"/><Relationship Id="rId5" Type="http://schemas.microsoft.com/office/2007/relationships/hdphoto" Target="../media/hdphoto7.wdp"/><Relationship Id="rId4" Type="http://schemas.openxmlformats.org/officeDocument/2006/relationships/image" Target="../media/image50.png"/></Relationships>
</file>

<file path=ppt/slides/_rels/slide41.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15.png"/><Relationship Id="rId2" Type="http://schemas.openxmlformats.org/officeDocument/2006/relationships/notesSlide" Target="../notesSlides/notesSlide41.xml"/><Relationship Id="rId1" Type="http://schemas.openxmlformats.org/officeDocument/2006/relationships/slideLayout" Target="../slideLayouts/slideLayout22.xml"/><Relationship Id="rId6" Type="http://schemas.openxmlformats.org/officeDocument/2006/relationships/image" Target="../media/image49.png"/><Relationship Id="rId5" Type="http://schemas.openxmlformats.org/officeDocument/2006/relationships/image" Target="../media/image16.png"/><Relationship Id="rId4" Type="http://schemas.microsoft.com/office/2007/relationships/hdphoto" Target="../media/hdphoto8.wdp"/></Relationships>
</file>

<file path=ppt/slides/_rels/slide4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2.xml"/><Relationship Id="rId1" Type="http://schemas.openxmlformats.org/officeDocument/2006/relationships/slideLayout" Target="../slideLayouts/slideLayout4.xml"/><Relationship Id="rId4" Type="http://schemas.openxmlformats.org/officeDocument/2006/relationships/image" Target="../media/image52.wmf"/></Relationships>
</file>

<file path=ppt/slides/_rels/slide4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22.png"/><Relationship Id="rId7" Type="http://schemas.openxmlformats.org/officeDocument/2006/relationships/image" Target="../media/image6.emf"/><Relationship Id="rId2" Type="http://schemas.openxmlformats.org/officeDocument/2006/relationships/notesSlide" Target="../notesSlides/notesSlide44.xml"/><Relationship Id="rId1" Type="http://schemas.openxmlformats.org/officeDocument/2006/relationships/slideLayout" Target="../slideLayouts/slideLayout30.xml"/><Relationship Id="rId6" Type="http://schemas.openxmlformats.org/officeDocument/2006/relationships/image" Target="../media/image9.emf"/><Relationship Id="rId11" Type="http://schemas.openxmlformats.org/officeDocument/2006/relationships/image" Target="../media/image15.png"/><Relationship Id="rId5" Type="http://schemas.openxmlformats.org/officeDocument/2006/relationships/image" Target="../media/image8.emf"/><Relationship Id="rId10" Type="http://schemas.openxmlformats.org/officeDocument/2006/relationships/image" Target="../media/image16.png"/><Relationship Id="rId4" Type="http://schemas.openxmlformats.org/officeDocument/2006/relationships/image" Target="../media/image7.emf"/><Relationship Id="rId9" Type="http://schemas.openxmlformats.org/officeDocument/2006/relationships/image" Target="../media/image55.png"/></Relationships>
</file>

<file path=ppt/slides/_rels/slide4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5.xml"/><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4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7.xml"/><Relationship Id="rId1" Type="http://schemas.openxmlformats.org/officeDocument/2006/relationships/slideLayout" Target="../slideLayouts/slideLayout22.xml"/><Relationship Id="rId5" Type="http://schemas.openxmlformats.org/officeDocument/2006/relationships/image" Target="../media/image16.png"/><Relationship Id="rId4" Type="http://schemas.openxmlformats.org/officeDocument/2006/relationships/image" Target="../media/image57.png"/></Relationships>
</file>

<file path=ppt/slides/_rels/slide4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8.xml"/><Relationship Id="rId1" Type="http://schemas.openxmlformats.org/officeDocument/2006/relationships/slideLayout" Target="../slideLayouts/slideLayout10.xml"/><Relationship Id="rId5" Type="http://schemas.openxmlformats.org/officeDocument/2006/relationships/image" Target="../media/image16.png"/><Relationship Id="rId4" Type="http://schemas.openxmlformats.org/officeDocument/2006/relationships/image" Target="../media/image59.png"/></Relationships>
</file>

<file path=ppt/slides/_rels/slide4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9.xml"/><Relationship Id="rId1" Type="http://schemas.openxmlformats.org/officeDocument/2006/relationships/slideLayout" Target="../slideLayouts/slideLayout22.xml"/><Relationship Id="rId4" Type="http://schemas.openxmlformats.org/officeDocument/2006/relationships/image" Target="../media/image16.png"/></Relationships>
</file>

<file path=ppt/slides/_rels/slide5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0.xml"/><Relationship Id="rId1" Type="http://schemas.openxmlformats.org/officeDocument/2006/relationships/slideLayout" Target="../slideLayouts/slideLayout9.xml"/><Relationship Id="rId5" Type="http://schemas.openxmlformats.org/officeDocument/2006/relationships/image" Target="../media/image16.png"/><Relationship Id="rId4" Type="http://schemas.openxmlformats.org/officeDocument/2006/relationships/image" Target="../media/image62.png"/></Relationships>
</file>

<file path=ppt/slides/_rels/slide5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1.xml"/><Relationship Id="rId1" Type="http://schemas.openxmlformats.org/officeDocument/2006/relationships/slideLayout" Target="../slideLayouts/slideLayout10.xml"/><Relationship Id="rId4" Type="http://schemas.openxmlformats.org/officeDocument/2006/relationships/image" Target="../media/image16.png"/></Relationships>
</file>

<file path=ppt/slides/_rels/slide5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52.xml"/><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October </a:t>
            </a:r>
            <a:r>
              <a:rPr lang="en-US" dirty="0" smtClean="0"/>
              <a:t>31, </a:t>
            </a:r>
            <a:r>
              <a:rPr lang="en-US" dirty="0" smtClean="0"/>
              <a:t>2014</a:t>
            </a:r>
            <a:endParaRPr lang="en-US" dirty="0"/>
          </a:p>
        </p:txBody>
      </p:sp>
      <p:sp>
        <p:nvSpPr>
          <p:cNvPr id="3" name="Title 2"/>
          <p:cNvSpPr>
            <a:spLocks noGrp="1"/>
          </p:cNvSpPr>
          <p:nvPr>
            <p:ph type="ctrTitle"/>
          </p:nvPr>
        </p:nvSpPr>
        <p:spPr/>
        <p:txBody>
          <a:bodyPr/>
          <a:lstStyle/>
          <a:p>
            <a:r>
              <a:rPr lang="en-US" dirty="0"/>
              <a:t>Integrating PolicyCenter with </a:t>
            </a:r>
            <a:r>
              <a:rPr lang="en-US" dirty="0" smtClean="0"/>
              <a:t>ClaimCenter</a:t>
            </a:r>
            <a:endParaRPr lang="en-US" dirty="0"/>
          </a:p>
        </p:txBody>
      </p:sp>
    </p:spTree>
    <p:extLst>
      <p:ext uri="{BB962C8B-B14F-4D97-AF65-F5344CB8AC3E}">
        <p14:creationId xmlns:p14="http://schemas.microsoft.com/office/powerpoint/2010/main" val="3540183417"/>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pPr lvl="1"/>
            <a:r>
              <a:rPr lang="en-US"/>
              <a:t>Describe the cross-application integration points between PolicyCenter and ClaimCenter</a:t>
            </a:r>
          </a:p>
          <a:p>
            <a:pPr lvl="1"/>
            <a:r>
              <a:rPr lang="en-US"/>
              <a:t>Enable policy search and retrieval</a:t>
            </a:r>
          </a:p>
          <a:p>
            <a:pPr lvl="1"/>
            <a:r>
              <a:rPr lang="en-US"/>
              <a:t>Enable large loss notification</a:t>
            </a:r>
          </a:p>
          <a:p>
            <a:pPr lvl="1"/>
            <a:r>
              <a:rPr lang="en-US"/>
              <a:t>Enable risk analysis</a:t>
            </a:r>
          </a:p>
          <a:p>
            <a:pPr lvl="1"/>
            <a:endParaRPr lang="en-US"/>
          </a:p>
        </p:txBody>
      </p:sp>
    </p:spTree>
    <p:extLst>
      <p:ext uri="{BB962C8B-B14F-4D97-AF65-F5344CB8AC3E}">
        <p14:creationId xmlns:p14="http://schemas.microsoft.com/office/powerpoint/2010/main" val="2990688167"/>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solidFill>
                  <a:schemeClr val="bg1"/>
                </a:solidFill>
              </a:rPr>
              <a:t>Overview of PC/CC integration</a:t>
            </a:r>
          </a:p>
          <a:p>
            <a:r>
              <a:rPr lang="en-US" dirty="0" smtClean="0"/>
              <a:t>Policy </a:t>
            </a:r>
            <a:r>
              <a:rPr lang="en-US" dirty="0"/>
              <a:t>search and retrieval</a:t>
            </a:r>
          </a:p>
          <a:p>
            <a:r>
              <a:rPr lang="en-US" dirty="0"/>
              <a:t>Large loss notification</a:t>
            </a:r>
          </a:p>
          <a:p>
            <a:r>
              <a:rPr lang="en-US" dirty="0"/>
              <a:t>Risk </a:t>
            </a:r>
            <a:r>
              <a:rPr lang="en-US" dirty="0" smtClean="0"/>
              <a:t>analysis</a:t>
            </a:r>
            <a:endParaRPr lang="en-US" dirty="0"/>
          </a:p>
        </p:txBody>
      </p:sp>
    </p:spTree>
    <p:extLst>
      <p:ext uri="{BB962C8B-B14F-4D97-AF65-F5344CB8AC3E}">
        <p14:creationId xmlns:p14="http://schemas.microsoft.com/office/powerpoint/2010/main" val="1672720995"/>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Cross-application integration points</a:t>
            </a:r>
          </a:p>
        </p:txBody>
      </p:sp>
      <p:sp>
        <p:nvSpPr>
          <p:cNvPr id="2" name="Content Placeholder 1"/>
          <p:cNvSpPr>
            <a:spLocks noGrp="1"/>
          </p:cNvSpPr>
          <p:nvPr>
            <p:ph idx="1"/>
          </p:nvPr>
        </p:nvSpPr>
        <p:spPr/>
        <p:txBody>
          <a:bodyPr/>
          <a:lstStyle/>
          <a:p>
            <a:r>
              <a:rPr lang="en-US" dirty="0" smtClean="0"/>
              <a:t>Guidewire applications are designed to </a:t>
            </a:r>
            <a:r>
              <a:rPr lang="en-US" dirty="0"/>
              <a:t>exchange information with other Guidewire applications</a:t>
            </a:r>
          </a:p>
          <a:p>
            <a:r>
              <a:rPr lang="en-US" dirty="0" smtClean="0"/>
              <a:t>A </a:t>
            </a:r>
            <a:r>
              <a:rPr lang="en-US" b="1" dirty="0" smtClean="0"/>
              <a:t>cross-application </a:t>
            </a:r>
            <a:r>
              <a:rPr lang="en-US" b="1" dirty="0"/>
              <a:t>integration </a:t>
            </a:r>
            <a:r>
              <a:rPr lang="en-US" b="1" dirty="0" smtClean="0"/>
              <a:t>point</a:t>
            </a:r>
            <a:r>
              <a:rPr lang="en-US" dirty="0" smtClean="0"/>
              <a:t> represents an exchange of information between two Guidewire applications</a:t>
            </a: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4681" y="1143000"/>
            <a:ext cx="1465190" cy="1421546"/>
          </a:xfrm>
          <a:prstGeom prst="rect">
            <a:avLst/>
          </a:prstGeom>
          <a:effectLst>
            <a:outerShdw blurRad="50800" dist="38100" dir="2700000" algn="tl" rotWithShape="0">
              <a:prstClr val="black">
                <a:alpha val="40000"/>
              </a:prstClr>
            </a:outerShdw>
          </a:effectLst>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176585" y="1143000"/>
            <a:ext cx="1434015" cy="1390371"/>
          </a:xfrm>
          <a:prstGeom prst="rect">
            <a:avLst/>
          </a:prstGeom>
          <a:effectLst>
            <a:outerShdw blurRad="50800" dist="38100" dir="2700000" algn="tl" rotWithShape="0">
              <a:prstClr val="black">
                <a:alpha val="40000"/>
              </a:prstClr>
            </a:outerShdw>
          </a:effectLst>
        </p:spPr>
      </p:pic>
      <p:pic>
        <p:nvPicPr>
          <p:cNvPr id="7" name="Picture 6" descr="PolicyCenter.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976221" y="1143000"/>
            <a:ext cx="1434015" cy="1390371"/>
          </a:xfrm>
          <a:prstGeom prst="rect">
            <a:avLst/>
          </a:prstGeom>
          <a:effectLst>
            <a:outerShdw blurRad="50800" dist="38100" dir="2700000" algn="tl" rotWithShape="0">
              <a:prstClr val="black">
                <a:alpha val="40000"/>
              </a:prstClr>
            </a:outerShdw>
          </a:effectLst>
        </p:spPr>
      </p:pic>
      <p:sp>
        <p:nvSpPr>
          <p:cNvPr id="9" name="Left-Right Arrow 8"/>
          <p:cNvSpPr/>
          <p:nvPr/>
        </p:nvSpPr>
        <p:spPr bwMode="auto">
          <a:xfrm>
            <a:off x="2292946" y="1747708"/>
            <a:ext cx="1600200" cy="385892"/>
          </a:xfrm>
          <a:prstGeom prst="leftRightArrow">
            <a:avLst/>
          </a:prstGeom>
          <a:gradFill flip="none" rotWithShape="1">
            <a:gsLst>
              <a:gs pos="0">
                <a:schemeClr val="accent4"/>
              </a:gs>
              <a:gs pos="100000">
                <a:schemeClr val="accent3"/>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11" name="Left-Right Arrow 10"/>
          <p:cNvSpPr/>
          <p:nvPr/>
        </p:nvSpPr>
        <p:spPr bwMode="auto">
          <a:xfrm>
            <a:off x="5493311" y="1747708"/>
            <a:ext cx="1600200" cy="385892"/>
          </a:xfrm>
          <a:prstGeom prst="leftRightArrow">
            <a:avLst/>
          </a:prstGeom>
          <a:gradFill flip="none" rotWithShape="1">
            <a:gsLst>
              <a:gs pos="0">
                <a:schemeClr val="accent3"/>
              </a:gs>
              <a:gs pos="100000">
                <a:schemeClr val="accent5"/>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2396647924"/>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Cross-application integration points </a:t>
            </a:r>
            <a:endParaRPr lang="en-US"/>
          </a:p>
        </p:txBody>
      </p:sp>
      <p:sp>
        <p:nvSpPr>
          <p:cNvPr id="4" name="Content Placeholder 3"/>
          <p:cNvSpPr>
            <a:spLocks noGrp="1"/>
          </p:cNvSpPr>
          <p:nvPr>
            <p:ph sz="half" idx="1"/>
          </p:nvPr>
        </p:nvSpPr>
        <p:spPr/>
        <p:txBody>
          <a:bodyPr/>
          <a:lstStyle/>
          <a:p>
            <a:r>
              <a:rPr lang="en-US" dirty="0" smtClean="0"/>
              <a:t>Consist of Guidewire integration mechanisms:</a:t>
            </a:r>
          </a:p>
          <a:p>
            <a:pPr lvl="1"/>
            <a:r>
              <a:rPr lang="en-US" dirty="0" smtClean="0"/>
              <a:t>Plugins registry elements</a:t>
            </a:r>
          </a:p>
          <a:p>
            <a:pPr lvl="1"/>
            <a:r>
              <a:rPr lang="en-US" dirty="0" smtClean="0"/>
              <a:t>Preupdate and event fired rules</a:t>
            </a:r>
          </a:p>
          <a:p>
            <a:pPr lvl="1"/>
            <a:r>
              <a:rPr lang="en-US" dirty="0" smtClean="0"/>
              <a:t>Messaging destinations</a:t>
            </a:r>
          </a:p>
          <a:p>
            <a:pPr lvl="1"/>
            <a:r>
              <a:rPr lang="en-US" dirty="0" smtClean="0"/>
              <a:t>Web service collections </a:t>
            </a:r>
            <a:br>
              <a:rPr lang="en-US" dirty="0" smtClean="0"/>
            </a:br>
            <a:r>
              <a:rPr lang="en-US" dirty="0" smtClean="0"/>
              <a:t>and APIs</a:t>
            </a:r>
          </a:p>
          <a:p>
            <a:endParaRPr lang="en-US" dirty="0"/>
          </a:p>
        </p:txBody>
      </p:sp>
      <p:sp>
        <p:nvSpPr>
          <p:cNvPr id="7" name="Content Placeholder 6"/>
          <p:cNvSpPr>
            <a:spLocks noGrp="1"/>
          </p:cNvSpPr>
          <p:nvPr>
            <p:ph sz="half" idx="2"/>
          </p:nvPr>
        </p:nvSpPr>
        <p:spPr/>
        <p:txBody>
          <a:bodyPr/>
          <a:lstStyle/>
          <a:p>
            <a:r>
              <a:rPr lang="en-US" dirty="0" smtClean="0"/>
              <a:t>Enablement consists of basic configurations:</a:t>
            </a:r>
          </a:p>
          <a:p>
            <a:pPr lvl="1"/>
            <a:r>
              <a:rPr lang="en-US" dirty="0" smtClean="0"/>
              <a:t>Enable </a:t>
            </a:r>
            <a:r>
              <a:rPr lang="en-US" dirty="0"/>
              <a:t>rules</a:t>
            </a:r>
          </a:p>
          <a:p>
            <a:pPr lvl="1"/>
            <a:r>
              <a:rPr lang="en-US" dirty="0"/>
              <a:t>Enable messaging destinations</a:t>
            </a:r>
          </a:p>
          <a:p>
            <a:pPr lvl="1"/>
            <a:r>
              <a:rPr lang="en-US" dirty="0"/>
              <a:t>Configure and enable plugins</a:t>
            </a:r>
          </a:p>
          <a:p>
            <a:pPr lvl="1"/>
            <a:r>
              <a:rPr lang="en-US" dirty="0"/>
              <a:t>Edit xml files</a:t>
            </a:r>
          </a:p>
          <a:p>
            <a:pPr lvl="1"/>
            <a:r>
              <a:rPr lang="en-US" dirty="0"/>
              <a:t>Refresh web service </a:t>
            </a:r>
            <a:r>
              <a:rPr lang="en-US" dirty="0" smtClean="0"/>
              <a:t>collections</a:t>
            </a:r>
            <a:endParaRPr lang="en-US" dirty="0"/>
          </a:p>
          <a:p>
            <a:endParaRPr lang="en-US" dirty="0"/>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47465" y="5167533"/>
            <a:ext cx="888614" cy="94921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icn Plugin Gosu"/>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26212" y="5167533"/>
            <a:ext cx="998388" cy="108158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7" name="icon GWP file"/>
          <p:cNvGrpSpPr>
            <a:grpSpLocks noChangeAspect="1"/>
          </p:cNvGrpSpPr>
          <p:nvPr/>
        </p:nvGrpSpPr>
        <p:grpSpPr>
          <a:xfrm>
            <a:off x="609600" y="5167533"/>
            <a:ext cx="771450" cy="860459"/>
            <a:chOff x="4558702" y="2146900"/>
            <a:chExt cx="1246792" cy="1390650"/>
          </a:xfrm>
        </p:grpSpPr>
        <p:pic>
          <p:nvPicPr>
            <p:cNvPr id="1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59616" y="2146900"/>
              <a:ext cx="1058863" cy="1390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9" name="icon Plugin"/>
            <p:cNvGrpSpPr>
              <a:grpSpLocks/>
            </p:cNvGrpSpPr>
            <p:nvPr/>
          </p:nvGrpSpPr>
          <p:grpSpPr bwMode="auto">
            <a:xfrm>
              <a:off x="4592771" y="2308825"/>
              <a:ext cx="542255" cy="639158"/>
              <a:chOff x="4500" y="2762"/>
              <a:chExt cx="247" cy="291"/>
            </a:xfrm>
            <a:effectLst>
              <a:outerShdw blurRad="50800" dist="38100" dir="2700000" algn="tl" rotWithShape="0">
                <a:prstClr val="black">
                  <a:alpha val="40000"/>
                </a:prstClr>
              </a:outerShdw>
            </a:effectLst>
          </p:grpSpPr>
          <p:sp>
            <p:nvSpPr>
              <p:cNvPr id="21"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22"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23"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4"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sp>
          <p:nvSpPr>
            <p:cNvPr id="20" name="TextBox 19"/>
            <p:cNvSpPr txBox="1"/>
            <p:nvPr/>
          </p:nvSpPr>
          <p:spPr>
            <a:xfrm>
              <a:off x="4558702" y="2936002"/>
              <a:ext cx="1246792" cy="485656"/>
            </a:xfrm>
            <a:prstGeom prst="rect">
              <a:avLst/>
            </a:prstGeom>
            <a:noFill/>
          </p:spPr>
          <p:txBody>
            <a:bodyPr wrap="square" rtlCol="0">
              <a:noAutofit/>
            </a:bodyPr>
            <a:lstStyle/>
            <a:p>
              <a:pPr algn="ctr"/>
              <a:r>
                <a:rPr lang="en-US" sz="1600" b="1" smtClean="0">
                  <a:solidFill>
                    <a:schemeClr val="bg2"/>
                  </a:solidFill>
                  <a:latin typeface="Arial" pitchFamily="32" charset="0"/>
                  <a:cs typeface="Arial" pitchFamily="32" charset="0"/>
                </a:rPr>
                <a:t>GWP</a:t>
              </a:r>
            </a:p>
          </p:txBody>
        </p:sp>
      </p:grpSp>
      <p:pic>
        <p:nvPicPr>
          <p:cNvPr id="25"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38833" y="5167533"/>
            <a:ext cx="1057368" cy="86663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 name="inc Plg Transport"/>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66285" y="5167533"/>
            <a:ext cx="850966" cy="10287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 name="icn Msg Destination"/>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74501" y="5167533"/>
            <a:ext cx="766476" cy="94921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 name="icon Rule Class 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02486" y="5167532"/>
            <a:ext cx="874850" cy="100466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62305932"/>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suite-config.xml</a:t>
            </a:r>
          </a:p>
        </p:txBody>
      </p:sp>
      <p:sp>
        <p:nvSpPr>
          <p:cNvPr id="3" name="Content Placeholder 2"/>
          <p:cNvSpPr>
            <a:spLocks noGrp="1"/>
          </p:cNvSpPr>
          <p:nvPr>
            <p:ph sz="half" idx="2"/>
          </p:nvPr>
        </p:nvSpPr>
        <p:spPr/>
        <p:txBody>
          <a:bodyPr/>
          <a:lstStyle/>
          <a:p>
            <a:r>
              <a:rPr lang="en-US" b="1" dirty="0"/>
              <a:t>suite-config.xml</a:t>
            </a:r>
            <a:r>
              <a:rPr lang="en-US" dirty="0"/>
              <a:t> </a:t>
            </a:r>
            <a:r>
              <a:rPr lang="en-US" dirty="0" smtClean="0"/>
              <a:t> specifies the Guidewire product URLs so that applications know where to connect to each other</a:t>
            </a:r>
            <a:endParaRPr lang="en-US" dirty="0"/>
          </a:p>
          <a:p>
            <a:endParaRPr lang="en-US" dirty="0"/>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r="5555" b="5516"/>
          <a:stretch/>
        </p:blipFill>
        <p:spPr bwMode="auto">
          <a:xfrm>
            <a:off x="533400" y="914400"/>
            <a:ext cx="2741154" cy="308377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0" name="Picture 6" descr="C:\Users\sluersen\AppData\Local\Temp\SNAGHTML1a0cdb2.PNG"/>
          <p:cNvPicPr>
            <a:picLocks noChangeAspect="1" noChangeArrowheads="1"/>
          </p:cNvPicPr>
          <p:nvPr/>
        </p:nvPicPr>
        <p:blipFill rotWithShape="1">
          <a:blip r:embed="rId4">
            <a:extLst>
              <a:ext uri="{28A0092B-C50C-407E-A947-70E740481C1C}">
                <a14:useLocalDpi xmlns:a14="http://schemas.microsoft.com/office/drawing/2010/main" val="0"/>
              </a:ext>
            </a:extLst>
          </a:blip>
          <a:srcRect b="10537"/>
          <a:stretch/>
        </p:blipFill>
        <p:spPr bwMode="auto">
          <a:xfrm>
            <a:off x="533401" y="4410076"/>
            <a:ext cx="8300001" cy="187872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5" name="Straight Arrow Connector 4"/>
          <p:cNvCxnSpPr/>
          <p:nvPr/>
        </p:nvCxnSpPr>
        <p:spPr bwMode="auto">
          <a:xfrm>
            <a:off x="1295400" y="3912454"/>
            <a:ext cx="0" cy="497622"/>
          </a:xfrm>
          <a:prstGeom prst="straightConnector1">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778050920"/>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ounded Rectangle 30"/>
          <p:cNvSpPr/>
          <p:nvPr/>
        </p:nvSpPr>
        <p:spPr bwMode="auto">
          <a:xfrm>
            <a:off x="533400" y="1371600"/>
            <a:ext cx="2560320" cy="5105400"/>
          </a:xfrm>
          <a:prstGeom prst="roundRect">
            <a:avLst>
              <a:gd name="adj" fmla="val 5270"/>
            </a:avLst>
          </a:prstGeom>
          <a:solidFill>
            <a:schemeClr val="accent3">
              <a:lumMod val="60000"/>
              <a:lumOff val="40000"/>
            </a:schemeClr>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8" name="Rounded Rectangle 7"/>
          <p:cNvSpPr/>
          <p:nvPr/>
        </p:nvSpPr>
        <p:spPr bwMode="auto">
          <a:xfrm>
            <a:off x="6324600" y="1374648"/>
            <a:ext cx="2560320" cy="5102352"/>
          </a:xfrm>
          <a:prstGeom prst="roundRect">
            <a:avLst>
              <a:gd name="adj" fmla="val 5270"/>
            </a:avLst>
          </a:prstGeom>
          <a:solidFill>
            <a:schemeClr val="accent5">
              <a:lumMod val="60000"/>
              <a:lumOff val="40000"/>
            </a:schemeClr>
          </a:solidFill>
          <a:ln w="19050" algn="ctr">
            <a:solidFill>
              <a:schemeClr val="accent5">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9" name="Rounded Rectangle 28"/>
          <p:cNvSpPr/>
          <p:nvPr/>
        </p:nvSpPr>
        <p:spPr bwMode="auto">
          <a:xfrm>
            <a:off x="6400800" y="2590800"/>
            <a:ext cx="2377440" cy="3254276"/>
          </a:xfrm>
          <a:prstGeom prst="roundRect">
            <a:avLst>
              <a:gd name="adj" fmla="val 4734"/>
            </a:avLst>
          </a:prstGeom>
          <a:solidFill>
            <a:schemeClr val="accent5">
              <a:lumMod val="20000"/>
              <a:lumOff val="80000"/>
            </a:schemeClr>
          </a:solidFill>
          <a:ln w="19050" algn="ctr">
            <a:solidFill>
              <a:schemeClr val="accent5">
                <a:lumMod val="75000"/>
              </a:schemeClr>
            </a:solidFill>
            <a:round/>
            <a:headEnd/>
            <a:tailEnd/>
          </a:ln>
          <a:effectLst>
            <a:outerShdw blurRad="50800" dist="38100" dir="2700000" algn="tl" rotWithShape="0">
              <a:prstClr val="black">
                <a:alpha val="40000"/>
              </a:prstClr>
            </a:outerShdw>
          </a:effectLst>
        </p:spPr>
        <p:txBody>
          <a:bodyPr rot="0" spcFirstLastPara="0" vertOverflow="overflow" horzOverflow="overflow" vert="horz" wrap="none" lIns="45720" tIns="0" rIns="45720" bIns="0" numCol="1" spcCol="0" rtlCol="0" fromWordArt="0" anchor="t" anchorCtr="0" forceAA="0" compatLnSpc="1">
            <a:prstTxWarp prst="textNoShape">
              <a:avLst/>
            </a:prstTxWarp>
            <a:noAutofit/>
          </a:bodyPr>
          <a:lstStyle/>
          <a:p>
            <a:pPr>
              <a:spcBef>
                <a:spcPct val="50000"/>
              </a:spcBef>
              <a:spcAft>
                <a:spcPct val="30000"/>
              </a:spcAft>
              <a:buClr>
                <a:schemeClr val="tx1"/>
              </a:buClr>
            </a:pPr>
            <a:endParaRPr lang="en-US">
              <a:solidFill>
                <a:schemeClr val="bg1"/>
              </a:solidFill>
            </a:endParaRPr>
          </a:p>
        </p:txBody>
      </p:sp>
      <p:sp>
        <p:nvSpPr>
          <p:cNvPr id="28" name="Rounded Rectangle 27"/>
          <p:cNvSpPr/>
          <p:nvPr/>
        </p:nvSpPr>
        <p:spPr bwMode="auto">
          <a:xfrm>
            <a:off x="609600" y="3585369"/>
            <a:ext cx="2377440" cy="2176882"/>
          </a:xfrm>
          <a:prstGeom prst="roundRect">
            <a:avLst>
              <a:gd name="adj" fmla="val 4734"/>
            </a:avLst>
          </a:prstGeom>
          <a:solidFill>
            <a:schemeClr val="accent3">
              <a:lumMod val="20000"/>
              <a:lumOff val="80000"/>
            </a:schemeClr>
          </a:solidFill>
          <a:ln w="19050" algn="ctr">
            <a:solidFill>
              <a:schemeClr val="accent3"/>
            </a:solidFill>
            <a:round/>
            <a:headEnd/>
            <a:tailEnd/>
          </a:ln>
          <a:effectLst>
            <a:outerShdw blurRad="50800" dist="38100" dir="2700000" algn="tl" rotWithShape="0">
              <a:prstClr val="black">
                <a:alpha val="40000"/>
              </a:prstClr>
            </a:outerShdw>
          </a:effectLst>
        </p:spPr>
        <p:txBody>
          <a:bodyPr rot="0" spcFirstLastPara="0" vertOverflow="overflow" horzOverflow="overflow" vert="horz" wrap="none" lIns="45720" tIns="0" rIns="45720" bIns="0" numCol="1" spcCol="0" rtlCol="0" fromWordArt="0" anchor="t" anchorCtr="0" forceAA="0" compatLnSpc="1">
            <a:prstTxWarp prst="textNoShape">
              <a:avLst/>
            </a:prstTxWarp>
            <a:noAutofit/>
          </a:bodyPr>
          <a:lstStyle/>
          <a:p>
            <a:pPr>
              <a:spcBef>
                <a:spcPct val="50000"/>
              </a:spcBef>
              <a:spcAft>
                <a:spcPct val="30000"/>
              </a:spcAft>
              <a:buClr>
                <a:schemeClr val="tx1"/>
              </a:buClr>
            </a:pPr>
            <a:endParaRPr lang="en-US">
              <a:solidFill>
                <a:schemeClr val="bg1"/>
              </a:solidFill>
            </a:endParaRPr>
          </a:p>
        </p:txBody>
      </p:sp>
      <p:sp>
        <p:nvSpPr>
          <p:cNvPr id="4" name="Title 3"/>
          <p:cNvSpPr>
            <a:spLocks noGrp="1"/>
          </p:cNvSpPr>
          <p:nvPr>
            <p:ph type="title"/>
          </p:nvPr>
        </p:nvSpPr>
        <p:spPr/>
        <p:txBody>
          <a:bodyPr/>
          <a:lstStyle/>
          <a:p>
            <a:r>
              <a:rPr lang="en-US"/>
              <a:t>Cross-application integration points:</a:t>
            </a:r>
          </a:p>
        </p:txBody>
      </p:sp>
      <p:sp>
        <p:nvSpPr>
          <p:cNvPr id="13" name="Text Box 6"/>
          <p:cNvSpPr txBox="1">
            <a:spLocks noChangeArrowheads="1"/>
          </p:cNvSpPr>
          <p:nvPr/>
        </p:nvSpPr>
        <p:spPr bwMode="hidden">
          <a:xfrm>
            <a:off x="3808029" y="4191000"/>
            <a:ext cx="1828800" cy="731520"/>
          </a:xfrm>
          <a:prstGeom prst="rect">
            <a:avLst/>
          </a:prstGeom>
          <a:solidFill>
            <a:schemeClr val="tx1">
              <a:lumMod val="95000"/>
            </a:schemeClr>
          </a:solidFill>
          <a:ln>
            <a:noFill/>
          </a:ln>
        </p:spPr>
        <p:txBody>
          <a:bodyPr wrap="none" lIns="91440" tIns="41029" rIns="91440" bIns="41029">
            <a:noAutofit/>
          </a:bodyPr>
          <a:lstStyle>
            <a:defPPr>
              <a:defRPr lang="en-US"/>
            </a:defPPr>
            <a:lvl1pPr algn="ctr">
              <a:defRPr sz="2000" b="0">
                <a:solidFill>
                  <a:schemeClr val="bg1"/>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r>
              <a:rPr lang="en-US"/>
              <a:t>Risk </a:t>
            </a:r>
            <a:r>
              <a:rPr lang="en-US" smtClean="0"/>
              <a:t/>
            </a:r>
            <a:br>
              <a:rPr lang="en-US" smtClean="0"/>
            </a:br>
            <a:r>
              <a:rPr lang="en-US" smtClean="0"/>
              <a:t>analysis</a:t>
            </a:r>
            <a:endParaRPr lang="en-US"/>
          </a:p>
        </p:txBody>
      </p:sp>
      <p:sp>
        <p:nvSpPr>
          <p:cNvPr id="14" name="Text Box 12"/>
          <p:cNvSpPr txBox="1">
            <a:spLocks noChangeArrowheads="1"/>
          </p:cNvSpPr>
          <p:nvPr/>
        </p:nvSpPr>
        <p:spPr bwMode="hidden">
          <a:xfrm>
            <a:off x="3810000" y="1515157"/>
            <a:ext cx="1828800" cy="731520"/>
          </a:xfrm>
          <a:prstGeom prst="rect">
            <a:avLst/>
          </a:prstGeom>
          <a:solidFill>
            <a:schemeClr val="tx1">
              <a:lumMod val="95000"/>
            </a:schemeClr>
          </a:solidFill>
          <a:ln>
            <a:noFill/>
          </a:ln>
        </p:spPr>
        <p:txBody>
          <a:bodyPr wrap="none" lIns="91440" tIns="41029" rIns="91440" bIns="41029">
            <a:noAutofit/>
          </a:bodyPr>
          <a:lstStyle>
            <a:defPPr>
              <a:defRPr lang="en-US"/>
            </a:defPPr>
            <a:lvl1pPr algn="ctr">
              <a:defRPr sz="2000" b="0">
                <a:solidFill>
                  <a:schemeClr val="bg1"/>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r>
              <a:rPr lang="en-US"/>
              <a:t>Policy search</a:t>
            </a:r>
            <a:br>
              <a:rPr lang="en-US"/>
            </a:br>
            <a:r>
              <a:rPr lang="en-US"/>
              <a:t>and retrieval</a:t>
            </a:r>
          </a:p>
        </p:txBody>
      </p:sp>
      <p:sp>
        <p:nvSpPr>
          <p:cNvPr id="15" name="Text Box 28"/>
          <p:cNvSpPr txBox="1">
            <a:spLocks noChangeArrowheads="1"/>
          </p:cNvSpPr>
          <p:nvPr/>
        </p:nvSpPr>
        <p:spPr bwMode="hidden">
          <a:xfrm>
            <a:off x="3794760" y="2810165"/>
            <a:ext cx="1828800" cy="731520"/>
          </a:xfrm>
          <a:prstGeom prst="rect">
            <a:avLst/>
          </a:prstGeom>
          <a:solidFill>
            <a:schemeClr val="tx1">
              <a:lumMod val="95000"/>
            </a:schemeClr>
          </a:solidFill>
          <a:ln>
            <a:noFill/>
          </a:ln>
        </p:spPr>
        <p:txBody>
          <a:bodyPr wrap="none" lIns="91440" tIns="41029" rIns="91440" bIns="41029">
            <a:noAutofit/>
          </a:bodyPr>
          <a:lstStyle>
            <a:defPPr>
              <a:defRPr lang="en-US"/>
            </a:defPPr>
            <a:lvl1pPr algn="ctr">
              <a:defRPr sz="2000" b="0">
                <a:solidFill>
                  <a:schemeClr val="bg1"/>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r>
              <a:rPr lang="en-US"/>
              <a:t>Large loss </a:t>
            </a:r>
            <a:r>
              <a:rPr lang="en-US" smtClean="0"/>
              <a:t/>
            </a:r>
            <a:br>
              <a:rPr lang="en-US" smtClean="0"/>
            </a:br>
            <a:r>
              <a:rPr lang="en-US" smtClean="0"/>
              <a:t>notifications</a:t>
            </a:r>
            <a:endParaRPr lang="en-US"/>
          </a:p>
        </p:txBody>
      </p:sp>
      <p:sp>
        <p:nvSpPr>
          <p:cNvPr id="16" name="Rounded Rectangle 15"/>
          <p:cNvSpPr/>
          <p:nvPr/>
        </p:nvSpPr>
        <p:spPr bwMode="auto">
          <a:xfrm>
            <a:off x="685800" y="1600200"/>
            <a:ext cx="2103120" cy="365760"/>
          </a:xfrm>
          <a:prstGeom prst="roundRect">
            <a:avLst/>
          </a:prstGeom>
          <a:solidFill>
            <a:schemeClr val="tx1"/>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smtClean="0">
                <a:solidFill>
                  <a:schemeClr val="bg1"/>
                </a:solidFill>
              </a:rPr>
              <a:t>Policy Data</a:t>
            </a:r>
            <a:endParaRPr lang="en-US">
              <a:solidFill>
                <a:schemeClr val="bg1"/>
              </a:solidFill>
            </a:endParaRPr>
          </a:p>
        </p:txBody>
      </p:sp>
      <p:sp>
        <p:nvSpPr>
          <p:cNvPr id="17" name="Rounded Rectangle 16"/>
          <p:cNvSpPr/>
          <p:nvPr/>
        </p:nvSpPr>
        <p:spPr bwMode="auto">
          <a:xfrm>
            <a:off x="685800" y="2795588"/>
            <a:ext cx="2103120" cy="640080"/>
          </a:xfrm>
          <a:prstGeom prst="roundRect">
            <a:avLst/>
          </a:prstGeom>
          <a:solidFill>
            <a:schemeClr val="tx1"/>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smtClean="0">
                <a:solidFill>
                  <a:schemeClr val="bg1"/>
                </a:solidFill>
              </a:rPr>
              <a:t>Underwriting </a:t>
            </a:r>
            <a:br>
              <a:rPr lang="en-US" smtClean="0">
                <a:solidFill>
                  <a:schemeClr val="bg1"/>
                </a:solidFill>
              </a:rPr>
            </a:br>
            <a:r>
              <a:rPr lang="en-US" smtClean="0">
                <a:solidFill>
                  <a:schemeClr val="bg1"/>
                </a:solidFill>
              </a:rPr>
              <a:t>Notification</a:t>
            </a:r>
            <a:endParaRPr lang="en-US">
              <a:solidFill>
                <a:schemeClr val="bg1"/>
              </a:solidFill>
            </a:endParaRPr>
          </a:p>
        </p:txBody>
      </p:sp>
      <p:sp>
        <p:nvSpPr>
          <p:cNvPr id="18" name="Rounded Rectangle 17"/>
          <p:cNvSpPr/>
          <p:nvPr/>
        </p:nvSpPr>
        <p:spPr bwMode="auto">
          <a:xfrm>
            <a:off x="727364" y="3810000"/>
            <a:ext cx="2103120" cy="365760"/>
          </a:xfrm>
          <a:prstGeom prst="roundRect">
            <a:avLst/>
          </a:prstGeom>
          <a:solidFill>
            <a:schemeClr val="tx1"/>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smtClean="0">
                <a:solidFill>
                  <a:schemeClr val="bg1"/>
                </a:solidFill>
              </a:rPr>
              <a:t>Claims View</a:t>
            </a:r>
            <a:endParaRPr lang="en-US">
              <a:solidFill>
                <a:schemeClr val="bg1"/>
              </a:solidFill>
            </a:endParaRPr>
          </a:p>
        </p:txBody>
      </p:sp>
      <p:sp>
        <p:nvSpPr>
          <p:cNvPr id="19" name="Rounded Rectangle 18"/>
          <p:cNvSpPr/>
          <p:nvPr/>
        </p:nvSpPr>
        <p:spPr bwMode="auto">
          <a:xfrm>
            <a:off x="741218" y="4887767"/>
            <a:ext cx="2103120" cy="640080"/>
          </a:xfrm>
          <a:prstGeom prst="roundRect">
            <a:avLst/>
          </a:prstGeom>
          <a:solidFill>
            <a:schemeClr val="tx1"/>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smtClean="0">
                <a:solidFill>
                  <a:schemeClr val="bg1"/>
                </a:solidFill>
              </a:rPr>
              <a:t>Renewal </a:t>
            </a:r>
            <a:br>
              <a:rPr lang="en-US" smtClean="0">
                <a:solidFill>
                  <a:schemeClr val="bg1"/>
                </a:solidFill>
              </a:rPr>
            </a:br>
            <a:r>
              <a:rPr lang="en-US" smtClean="0">
                <a:solidFill>
                  <a:schemeClr val="bg1"/>
                </a:solidFill>
              </a:rPr>
              <a:t>Processing</a:t>
            </a:r>
            <a:endParaRPr lang="en-US">
              <a:solidFill>
                <a:schemeClr val="bg1"/>
              </a:solidFill>
            </a:endParaRPr>
          </a:p>
        </p:txBody>
      </p:sp>
      <p:sp>
        <p:nvSpPr>
          <p:cNvPr id="20" name="Rounded Rectangle 19"/>
          <p:cNvSpPr/>
          <p:nvPr/>
        </p:nvSpPr>
        <p:spPr bwMode="auto">
          <a:xfrm>
            <a:off x="6515100" y="1600200"/>
            <a:ext cx="2103120" cy="365760"/>
          </a:xfrm>
          <a:prstGeom prst="roundRect">
            <a:avLst/>
          </a:prstGeom>
          <a:solidFill>
            <a:schemeClr val="tx1"/>
          </a:solidFill>
          <a:ln w="19050" algn="ctr">
            <a:solidFill>
              <a:schemeClr val="accent5"/>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smtClean="0">
                <a:solidFill>
                  <a:schemeClr val="bg1"/>
                </a:solidFill>
              </a:rPr>
              <a:t>FNOL</a:t>
            </a:r>
            <a:endParaRPr lang="en-US">
              <a:solidFill>
                <a:schemeClr val="bg1"/>
              </a:solidFill>
            </a:endParaRPr>
          </a:p>
        </p:txBody>
      </p:sp>
      <p:sp>
        <p:nvSpPr>
          <p:cNvPr id="21" name="Rounded Rectangle 20"/>
          <p:cNvSpPr/>
          <p:nvPr/>
        </p:nvSpPr>
        <p:spPr bwMode="auto">
          <a:xfrm>
            <a:off x="6515100" y="3672840"/>
            <a:ext cx="2103120" cy="365760"/>
          </a:xfrm>
          <a:prstGeom prst="roundRect">
            <a:avLst/>
          </a:prstGeom>
          <a:solidFill>
            <a:schemeClr val="tx1"/>
          </a:solidFill>
          <a:ln w="19050" algn="ctr">
            <a:solidFill>
              <a:schemeClr val="accent5"/>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smtClean="0">
                <a:solidFill>
                  <a:schemeClr val="bg1"/>
                </a:solidFill>
              </a:rPr>
              <a:t>Claim Financials</a:t>
            </a:r>
            <a:endParaRPr lang="en-US">
              <a:solidFill>
                <a:schemeClr val="bg1"/>
              </a:solidFill>
            </a:endParaRPr>
          </a:p>
        </p:txBody>
      </p:sp>
      <p:sp>
        <p:nvSpPr>
          <p:cNvPr id="23" name="Right Arrow 22"/>
          <p:cNvSpPr/>
          <p:nvPr/>
        </p:nvSpPr>
        <p:spPr bwMode="auto">
          <a:xfrm>
            <a:off x="3048000" y="4249960"/>
            <a:ext cx="651379" cy="528415"/>
          </a:xfrm>
          <a:prstGeom prst="rightArrow">
            <a:avLst/>
          </a:prstGeom>
          <a:gradFill flip="none" rotWithShape="1">
            <a:gsLst>
              <a:gs pos="0">
                <a:schemeClr val="accent3"/>
              </a:gs>
              <a:gs pos="100000">
                <a:schemeClr val="accent5"/>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5" name="Left Arrow 24"/>
          <p:cNvSpPr/>
          <p:nvPr/>
        </p:nvSpPr>
        <p:spPr bwMode="auto">
          <a:xfrm>
            <a:off x="5718941" y="2879726"/>
            <a:ext cx="651379" cy="533400"/>
          </a:xfrm>
          <a:prstGeom prst="leftArrow">
            <a:avLst/>
          </a:prstGeom>
          <a:gradFill flip="none" rotWithShape="1">
            <a:gsLst>
              <a:gs pos="0">
                <a:schemeClr val="accent3"/>
              </a:gs>
              <a:gs pos="100000">
                <a:schemeClr val="accent5"/>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6" name="Right Arrow 25"/>
          <p:cNvSpPr/>
          <p:nvPr/>
        </p:nvSpPr>
        <p:spPr bwMode="auto">
          <a:xfrm>
            <a:off x="5718941" y="1600200"/>
            <a:ext cx="651379" cy="528415"/>
          </a:xfrm>
          <a:prstGeom prst="rightArrow">
            <a:avLst/>
          </a:prstGeom>
          <a:gradFill flip="none" rotWithShape="1">
            <a:gsLst>
              <a:gs pos="0">
                <a:schemeClr val="accent3"/>
              </a:gs>
              <a:gs pos="100000">
                <a:schemeClr val="accent5"/>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7" name="Right Arrow 26"/>
          <p:cNvSpPr/>
          <p:nvPr/>
        </p:nvSpPr>
        <p:spPr bwMode="auto">
          <a:xfrm>
            <a:off x="5718941" y="4249960"/>
            <a:ext cx="651379" cy="528415"/>
          </a:xfrm>
          <a:prstGeom prst="rightArrow">
            <a:avLst/>
          </a:prstGeom>
          <a:gradFill flip="none" rotWithShape="1">
            <a:gsLst>
              <a:gs pos="0">
                <a:schemeClr val="accent3"/>
              </a:gs>
              <a:gs pos="100000">
                <a:schemeClr val="accent5"/>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11" name="Right Arrow 10"/>
          <p:cNvSpPr/>
          <p:nvPr/>
        </p:nvSpPr>
        <p:spPr bwMode="auto">
          <a:xfrm>
            <a:off x="3048000" y="1600200"/>
            <a:ext cx="651379" cy="528415"/>
          </a:xfrm>
          <a:prstGeom prst="rightArrow">
            <a:avLst/>
          </a:prstGeom>
          <a:gradFill flip="none" rotWithShape="1">
            <a:gsLst>
              <a:gs pos="0">
                <a:schemeClr val="accent3"/>
              </a:gs>
              <a:gs pos="100000">
                <a:schemeClr val="accent5"/>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12" name="Left Arrow 11"/>
          <p:cNvSpPr/>
          <p:nvPr/>
        </p:nvSpPr>
        <p:spPr bwMode="auto">
          <a:xfrm>
            <a:off x="3048000" y="2879726"/>
            <a:ext cx="651379" cy="533400"/>
          </a:xfrm>
          <a:prstGeom prst="leftArrow">
            <a:avLst/>
          </a:prstGeom>
          <a:gradFill flip="none" rotWithShape="1">
            <a:gsLst>
              <a:gs pos="0">
                <a:schemeClr val="accent3"/>
              </a:gs>
              <a:gs pos="100000">
                <a:schemeClr val="accent5"/>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24" name="Picture 2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16315" y="895350"/>
            <a:ext cx="565862" cy="548640"/>
          </a:xfrm>
          <a:prstGeom prst="rect">
            <a:avLst/>
          </a:prstGeom>
          <a:effectLst>
            <a:outerShdw blurRad="50800" dist="38100" dir="2700000" algn="tl" rotWithShape="0">
              <a:prstClr val="black">
                <a:alpha val="40000"/>
              </a:prstClr>
            </a:outerShdw>
          </a:effectLst>
        </p:spPr>
      </p:pic>
      <p:pic>
        <p:nvPicPr>
          <p:cNvPr id="30" name="Picture 29" descr="PolicyCenter.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4738" y="899160"/>
            <a:ext cx="565862" cy="548640"/>
          </a:xfrm>
          <a:prstGeom prst="rect">
            <a:avLst/>
          </a:prstGeom>
          <a:effectLst>
            <a:outerShdw blurRad="50800" dist="38100" dir="2700000" algn="tl" rotWithShape="0">
              <a:prstClr val="black">
                <a:alpha val="40000"/>
              </a:prstClr>
            </a:outerShdw>
          </a:effectLst>
        </p:spPr>
      </p:pic>
      <p:sp>
        <p:nvSpPr>
          <p:cNvPr id="32"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dirty="0"/>
              <a:t>PolicyCenter and ClaimCenter</a:t>
            </a:r>
          </a:p>
        </p:txBody>
      </p:sp>
    </p:spTree>
    <p:extLst>
      <p:ext uri="{BB962C8B-B14F-4D97-AF65-F5344CB8AC3E}">
        <p14:creationId xmlns:p14="http://schemas.microsoft.com/office/powerpoint/2010/main" val="411647278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Overview of </a:t>
            </a:r>
            <a:r>
              <a:rPr lang="en-US" dirty="0" smtClean="0"/>
              <a:t>PC/CC </a:t>
            </a:r>
            <a:r>
              <a:rPr lang="en-US" dirty="0"/>
              <a:t>integration</a:t>
            </a:r>
          </a:p>
          <a:p>
            <a:r>
              <a:rPr lang="en-US" dirty="0">
                <a:solidFill>
                  <a:schemeClr val="bg1"/>
                </a:solidFill>
              </a:rPr>
              <a:t>Policy search and retrieval</a:t>
            </a:r>
          </a:p>
          <a:p>
            <a:r>
              <a:rPr lang="en-US" dirty="0"/>
              <a:t>Large loss notification</a:t>
            </a:r>
          </a:p>
          <a:p>
            <a:r>
              <a:rPr lang="en-US" dirty="0"/>
              <a:t>Risk </a:t>
            </a:r>
            <a:r>
              <a:rPr lang="en-US" dirty="0" smtClean="0"/>
              <a:t>analysis</a:t>
            </a:r>
            <a:endParaRPr lang="en-US" dirty="0"/>
          </a:p>
        </p:txBody>
      </p:sp>
    </p:spTree>
    <p:extLst>
      <p:ext uri="{BB962C8B-B14F-4D97-AF65-F5344CB8AC3E}">
        <p14:creationId xmlns:p14="http://schemas.microsoft.com/office/powerpoint/2010/main" val="2416289463"/>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bwMode="auto">
          <a:xfrm>
            <a:off x="6324600" y="1371600"/>
            <a:ext cx="2560320" cy="5105400"/>
          </a:xfrm>
          <a:prstGeom prst="roundRect">
            <a:avLst>
              <a:gd name="adj" fmla="val 5270"/>
            </a:avLst>
          </a:prstGeom>
          <a:solidFill>
            <a:schemeClr val="accent5">
              <a:lumMod val="60000"/>
              <a:lumOff val="40000"/>
            </a:schemeClr>
          </a:solidFill>
          <a:ln w="19050" algn="ctr">
            <a:solidFill>
              <a:schemeClr val="accent5">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51" name="Rounded Rectangle 50"/>
          <p:cNvSpPr/>
          <p:nvPr/>
        </p:nvSpPr>
        <p:spPr bwMode="auto">
          <a:xfrm>
            <a:off x="6416040" y="4191000"/>
            <a:ext cx="2377440" cy="1839164"/>
          </a:xfrm>
          <a:prstGeom prst="roundRect">
            <a:avLst>
              <a:gd name="adj" fmla="val 4734"/>
            </a:avLst>
          </a:prstGeom>
          <a:solidFill>
            <a:schemeClr val="accent5">
              <a:lumMod val="20000"/>
              <a:lumOff val="80000"/>
            </a:schemeClr>
          </a:solidFill>
          <a:ln w="19050" algn="ctr">
            <a:solidFill>
              <a:schemeClr val="accent5"/>
            </a:solidFill>
            <a:round/>
            <a:headEnd/>
            <a:tailEnd/>
          </a:ln>
          <a:effectLst>
            <a:outerShdw blurRad="50800" dist="38100" dir="2700000" algn="tl" rotWithShape="0">
              <a:prstClr val="black">
                <a:alpha val="40000"/>
              </a:prstClr>
            </a:outerShdw>
          </a:effectLst>
        </p:spPr>
        <p:txBody>
          <a:bodyPr rot="0" spcFirstLastPara="0" vertOverflow="overflow" horzOverflow="overflow" vert="horz" wrap="none" lIns="45720" tIns="0" rIns="45720" bIns="0" numCol="1" spcCol="0" rtlCol="0" fromWordArt="0" anchor="t" anchorCtr="0" forceAA="0" compatLnSpc="1">
            <a:prstTxWarp prst="textNoShape">
              <a:avLst/>
            </a:prstTxWarp>
            <a:noAutofit/>
          </a:bodyPr>
          <a:lstStyle/>
          <a:p>
            <a:pPr>
              <a:spcBef>
                <a:spcPct val="50000"/>
              </a:spcBef>
              <a:spcAft>
                <a:spcPct val="30000"/>
              </a:spcAft>
              <a:buClr>
                <a:schemeClr val="tx1"/>
              </a:buClr>
            </a:pPr>
            <a:endParaRPr lang="en-US">
              <a:solidFill>
                <a:schemeClr val="bg1"/>
              </a:solidFill>
            </a:endParaRPr>
          </a:p>
        </p:txBody>
      </p:sp>
      <p:sp>
        <p:nvSpPr>
          <p:cNvPr id="37" name="Rounded Rectangle 36"/>
          <p:cNvSpPr/>
          <p:nvPr/>
        </p:nvSpPr>
        <p:spPr bwMode="auto">
          <a:xfrm>
            <a:off x="533400" y="1371600"/>
            <a:ext cx="2560320" cy="5105400"/>
          </a:xfrm>
          <a:prstGeom prst="roundRect">
            <a:avLst>
              <a:gd name="adj" fmla="val 5270"/>
            </a:avLst>
          </a:prstGeom>
          <a:solidFill>
            <a:schemeClr val="accent3">
              <a:lumMod val="60000"/>
              <a:lumOff val="40000"/>
            </a:schemeClr>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38" name="Rounded Rectangle 37"/>
          <p:cNvSpPr/>
          <p:nvPr/>
        </p:nvSpPr>
        <p:spPr bwMode="auto">
          <a:xfrm>
            <a:off x="609600" y="1524000"/>
            <a:ext cx="2377440" cy="2176882"/>
          </a:xfrm>
          <a:prstGeom prst="roundRect">
            <a:avLst>
              <a:gd name="adj" fmla="val 4734"/>
            </a:avLst>
          </a:prstGeom>
          <a:solidFill>
            <a:schemeClr val="accent3">
              <a:lumMod val="20000"/>
              <a:lumOff val="80000"/>
            </a:schemeClr>
          </a:solidFill>
          <a:ln w="19050" algn="ctr">
            <a:solidFill>
              <a:schemeClr val="accent3"/>
            </a:solidFill>
            <a:round/>
            <a:headEnd/>
            <a:tailEnd/>
          </a:ln>
          <a:effectLst>
            <a:outerShdw blurRad="50800" dist="38100" dir="2700000" algn="tl" rotWithShape="0">
              <a:prstClr val="black">
                <a:alpha val="40000"/>
              </a:prstClr>
            </a:outerShdw>
          </a:effectLst>
        </p:spPr>
        <p:txBody>
          <a:bodyPr rot="0" spcFirstLastPara="0" vertOverflow="overflow" horzOverflow="overflow" vert="horz" wrap="none" lIns="45720" tIns="0" rIns="45720" bIns="0" numCol="1" spcCol="0" rtlCol="0" fromWordArt="0" anchor="t" anchorCtr="0" forceAA="0" compatLnSpc="1">
            <a:prstTxWarp prst="textNoShape">
              <a:avLst/>
            </a:prstTxWarp>
            <a:noAutofit/>
          </a:bodyPr>
          <a:lstStyle/>
          <a:p>
            <a:pPr>
              <a:spcBef>
                <a:spcPct val="50000"/>
              </a:spcBef>
              <a:spcAft>
                <a:spcPct val="30000"/>
              </a:spcAft>
              <a:buClr>
                <a:schemeClr val="tx1"/>
              </a:buClr>
            </a:pPr>
            <a:endParaRPr lang="en-US">
              <a:solidFill>
                <a:schemeClr val="bg1"/>
              </a:solidFill>
            </a:endParaRPr>
          </a:p>
        </p:txBody>
      </p:sp>
      <p:sp>
        <p:nvSpPr>
          <p:cNvPr id="4" name="Title 3"/>
          <p:cNvSpPr>
            <a:spLocks noGrp="1"/>
          </p:cNvSpPr>
          <p:nvPr>
            <p:ph type="title"/>
          </p:nvPr>
        </p:nvSpPr>
        <p:spPr/>
        <p:txBody>
          <a:bodyPr/>
          <a:lstStyle/>
          <a:p>
            <a:r>
              <a:rPr lang="en-US" smtClean="0"/>
              <a:t>Policy search and retrieval during intake</a:t>
            </a:r>
            <a:endParaRPr lang="en-US"/>
          </a:p>
        </p:txBody>
      </p:sp>
      <p:sp>
        <p:nvSpPr>
          <p:cNvPr id="21" name="Rounded Rectangle 20"/>
          <p:cNvSpPr/>
          <p:nvPr/>
        </p:nvSpPr>
        <p:spPr bwMode="auto">
          <a:xfrm>
            <a:off x="6515100" y="4288885"/>
            <a:ext cx="2103120" cy="365760"/>
          </a:xfrm>
          <a:prstGeom prst="roundRect">
            <a:avLst/>
          </a:prstGeom>
          <a:solidFill>
            <a:schemeClr val="tx1"/>
          </a:solidFill>
          <a:ln w="19050" algn="ctr">
            <a:solidFill>
              <a:schemeClr val="accent5"/>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smtClean="0">
                <a:solidFill>
                  <a:schemeClr val="bg1"/>
                </a:solidFill>
              </a:rPr>
              <a:t>Claim File</a:t>
            </a:r>
            <a:endParaRPr lang="en-US">
              <a:solidFill>
                <a:schemeClr val="bg1"/>
              </a:solidFill>
            </a:endParaRPr>
          </a:p>
        </p:txBody>
      </p:sp>
      <p:pic>
        <p:nvPicPr>
          <p:cNvPr id="23" name="Picture 22" descr="PolicyCenter.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4738" y="899160"/>
            <a:ext cx="565862" cy="548640"/>
          </a:xfrm>
          <a:prstGeom prst="rect">
            <a:avLst/>
          </a:prstGeom>
          <a:effectLst>
            <a:outerShdw blurRad="50800" dist="38100" dir="2700000" algn="tl" rotWithShape="0">
              <a:prstClr val="black">
                <a:alpha val="40000"/>
              </a:prstClr>
            </a:outerShdw>
          </a:effectLst>
        </p:spPr>
      </p:pic>
      <p:sp>
        <p:nvSpPr>
          <p:cNvPr id="36" name="Rounded Rectangle 35"/>
          <p:cNvSpPr/>
          <p:nvPr/>
        </p:nvSpPr>
        <p:spPr bwMode="auto">
          <a:xfrm>
            <a:off x="685800" y="1600200"/>
            <a:ext cx="2103120" cy="365760"/>
          </a:xfrm>
          <a:prstGeom prst="roundRect">
            <a:avLst/>
          </a:prstGeom>
          <a:solidFill>
            <a:schemeClr val="tx1"/>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smtClean="0">
                <a:solidFill>
                  <a:schemeClr val="bg1"/>
                </a:solidFill>
              </a:rPr>
              <a:t>Policy Data</a:t>
            </a:r>
            <a:endParaRPr lang="en-US">
              <a:solidFill>
                <a:schemeClr val="bg1"/>
              </a:solidFill>
            </a:endParaRPr>
          </a:p>
        </p:txBody>
      </p:sp>
      <p:pic>
        <p:nvPicPr>
          <p:cNvPr id="39" name="Picture 3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16315" y="895350"/>
            <a:ext cx="565862" cy="548640"/>
          </a:xfrm>
          <a:prstGeom prst="rect">
            <a:avLst/>
          </a:prstGeom>
          <a:effectLst>
            <a:outerShdw blurRad="50800" dist="38100" dir="2700000" algn="tl" rotWithShape="0">
              <a:prstClr val="black">
                <a:alpha val="40000"/>
              </a:prstClr>
            </a:outerShdw>
          </a:effectLst>
        </p:spPr>
      </p:pic>
      <p:pic>
        <p:nvPicPr>
          <p:cNvPr id="49"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09600" y="4306032"/>
            <a:ext cx="2377440" cy="1608744"/>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50" name="Rounded Rectangle 49"/>
          <p:cNvSpPr/>
          <p:nvPr/>
        </p:nvSpPr>
        <p:spPr bwMode="auto">
          <a:xfrm>
            <a:off x="6400800" y="1524000"/>
            <a:ext cx="2377440" cy="2176882"/>
          </a:xfrm>
          <a:prstGeom prst="roundRect">
            <a:avLst>
              <a:gd name="adj" fmla="val 4734"/>
            </a:avLst>
          </a:prstGeom>
          <a:solidFill>
            <a:schemeClr val="accent5">
              <a:lumMod val="20000"/>
              <a:lumOff val="80000"/>
            </a:schemeClr>
          </a:solidFill>
          <a:ln w="19050" algn="ctr">
            <a:solidFill>
              <a:schemeClr val="accent5"/>
            </a:solidFill>
            <a:round/>
            <a:headEnd/>
            <a:tailEnd/>
          </a:ln>
          <a:effectLst>
            <a:outerShdw blurRad="50800" dist="38100" dir="2700000" algn="tl" rotWithShape="0">
              <a:prstClr val="black">
                <a:alpha val="40000"/>
              </a:prstClr>
            </a:outerShdw>
          </a:effectLst>
        </p:spPr>
        <p:txBody>
          <a:bodyPr rot="0" spcFirstLastPara="0" vertOverflow="overflow" horzOverflow="overflow" vert="horz" wrap="none" lIns="45720" tIns="0" rIns="45720" bIns="0" numCol="1" spcCol="0" rtlCol="0" fromWordArt="0" anchor="t" anchorCtr="0" forceAA="0" compatLnSpc="1">
            <a:prstTxWarp prst="textNoShape">
              <a:avLst/>
            </a:prstTxWarp>
            <a:noAutofit/>
          </a:bodyPr>
          <a:lstStyle/>
          <a:p>
            <a:pPr>
              <a:spcBef>
                <a:spcPct val="50000"/>
              </a:spcBef>
              <a:spcAft>
                <a:spcPct val="30000"/>
              </a:spcAft>
              <a:buClr>
                <a:schemeClr val="tx1"/>
              </a:buClr>
            </a:pPr>
            <a:endParaRPr lang="en-US">
              <a:solidFill>
                <a:schemeClr val="bg1"/>
              </a:solidFill>
            </a:endParaRPr>
          </a:p>
        </p:txBody>
      </p:sp>
      <p:sp>
        <p:nvSpPr>
          <p:cNvPr id="20" name="Rounded Rectangle 19"/>
          <p:cNvSpPr/>
          <p:nvPr/>
        </p:nvSpPr>
        <p:spPr bwMode="auto">
          <a:xfrm>
            <a:off x="6515100" y="1600200"/>
            <a:ext cx="2103120" cy="365760"/>
          </a:xfrm>
          <a:prstGeom prst="roundRect">
            <a:avLst/>
          </a:prstGeom>
          <a:solidFill>
            <a:schemeClr val="tx1"/>
          </a:solidFill>
          <a:ln w="19050" algn="ctr">
            <a:solidFill>
              <a:schemeClr val="accent5"/>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smtClean="0">
                <a:solidFill>
                  <a:schemeClr val="bg1"/>
                </a:solidFill>
              </a:rPr>
              <a:t>FNOL</a:t>
            </a:r>
            <a:endParaRPr lang="en-US">
              <a:solidFill>
                <a:schemeClr val="bg1"/>
              </a:solidFill>
            </a:endParaRPr>
          </a:p>
        </p:txBody>
      </p:sp>
      <p:grpSp>
        <p:nvGrpSpPr>
          <p:cNvPr id="22" name="Group 9"/>
          <p:cNvGrpSpPr>
            <a:grpSpLocks/>
          </p:cNvGrpSpPr>
          <p:nvPr/>
        </p:nvGrpSpPr>
        <p:grpSpPr bwMode="auto">
          <a:xfrm>
            <a:off x="7694612" y="685800"/>
            <a:ext cx="1068388" cy="717550"/>
            <a:chOff x="2984" y="3331"/>
            <a:chExt cx="845" cy="569"/>
          </a:xfrm>
          <a:effectLst>
            <a:outerShdw blurRad="50800" dist="38100" dir="2700000" algn="tl" rotWithShape="0">
              <a:prstClr val="black">
                <a:alpha val="40000"/>
              </a:prstClr>
            </a:outerShdw>
          </a:effectLst>
        </p:grpSpPr>
        <p:sp>
          <p:nvSpPr>
            <p:cNvPr id="24" name="AutoShape 10"/>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25" name="Group 11"/>
            <p:cNvGrpSpPr>
              <a:grpSpLocks/>
            </p:cNvGrpSpPr>
            <p:nvPr/>
          </p:nvGrpSpPr>
          <p:grpSpPr bwMode="auto">
            <a:xfrm>
              <a:off x="3386" y="3487"/>
              <a:ext cx="443" cy="398"/>
              <a:chOff x="4838" y="2218"/>
              <a:chExt cx="395" cy="355"/>
            </a:xfrm>
          </p:grpSpPr>
          <p:sp>
            <p:nvSpPr>
              <p:cNvPr id="26" name="Freeform 12"/>
              <p:cNvSpPr>
                <a:spLocks/>
              </p:cNvSpPr>
              <p:nvPr/>
            </p:nvSpPr>
            <p:spPr bwMode="auto">
              <a:xfrm>
                <a:off x="4888" y="2251"/>
                <a:ext cx="294" cy="113"/>
              </a:xfrm>
              <a:custGeom>
                <a:avLst/>
                <a:gdLst>
                  <a:gd name="T0" fmla="*/ 0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0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 name="Freeform 13"/>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 name="Freeform 14"/>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 name="Freeform 15"/>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 name="Freeform 16"/>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 name="Freeform 17"/>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 name="Freeform 18"/>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 name="Rectangle 19"/>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43" name="Rectangle 20"/>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44" name="Freeform 21"/>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 name="Rectangle 22"/>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61" name="Left Arrow 60"/>
          <p:cNvSpPr/>
          <p:nvPr/>
        </p:nvSpPr>
        <p:spPr bwMode="auto">
          <a:xfrm>
            <a:off x="5718941" y="4922520"/>
            <a:ext cx="651379" cy="533400"/>
          </a:xfrm>
          <a:prstGeom prst="leftArrow">
            <a:avLst/>
          </a:prstGeom>
          <a:gradFill flip="none" rotWithShape="1">
            <a:gsLst>
              <a:gs pos="0">
                <a:schemeClr val="accent3"/>
              </a:gs>
              <a:gs pos="100000">
                <a:schemeClr val="accent5"/>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62" name="Left Arrow 61"/>
          <p:cNvSpPr/>
          <p:nvPr/>
        </p:nvSpPr>
        <p:spPr bwMode="auto">
          <a:xfrm>
            <a:off x="3048000" y="4922520"/>
            <a:ext cx="651379" cy="533400"/>
          </a:xfrm>
          <a:prstGeom prst="leftArrow">
            <a:avLst/>
          </a:prstGeom>
          <a:gradFill flip="none" rotWithShape="1">
            <a:gsLst>
              <a:gs pos="0">
                <a:schemeClr val="accent3"/>
              </a:gs>
              <a:gs pos="100000">
                <a:schemeClr val="accent5"/>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63" name="Text Box 6"/>
          <p:cNvSpPr txBox="1">
            <a:spLocks noChangeArrowheads="1"/>
          </p:cNvSpPr>
          <p:nvPr/>
        </p:nvSpPr>
        <p:spPr bwMode="hidden">
          <a:xfrm>
            <a:off x="3808029" y="4648200"/>
            <a:ext cx="1828800" cy="1066800"/>
          </a:xfrm>
          <a:prstGeom prst="rect">
            <a:avLst/>
          </a:prstGeom>
          <a:solidFill>
            <a:schemeClr val="tx1">
              <a:lumMod val="95000"/>
            </a:schemeClr>
          </a:solidFill>
          <a:ln>
            <a:noFill/>
          </a:ln>
        </p:spPr>
        <p:txBody>
          <a:bodyPr wrap="none" lIns="91440" tIns="41029" rIns="91440" bIns="41029">
            <a:noAutofit/>
          </a:bodyPr>
          <a:lstStyle>
            <a:defPPr>
              <a:defRPr lang="en-US"/>
            </a:defPPr>
            <a:lvl1pPr algn="ctr">
              <a:defRPr sz="2000" b="0">
                <a:solidFill>
                  <a:schemeClr val="bg1"/>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r>
              <a:rPr lang="en-US" smtClean="0"/>
              <a:t>View in </a:t>
            </a:r>
            <a:br>
              <a:rPr lang="en-US" smtClean="0"/>
            </a:br>
            <a:r>
              <a:rPr lang="en-US" smtClean="0"/>
              <a:t>PolicyCenter</a:t>
            </a:r>
            <a:br>
              <a:rPr lang="en-US" smtClean="0"/>
            </a:br>
            <a:r>
              <a:rPr lang="en-US" smtClean="0"/>
              <a:t>as needed</a:t>
            </a:r>
            <a:endParaRPr lang="en-US"/>
          </a:p>
        </p:txBody>
      </p:sp>
      <p:sp>
        <p:nvSpPr>
          <p:cNvPr id="64" name="Text Box 12"/>
          <p:cNvSpPr txBox="1">
            <a:spLocks noChangeArrowheads="1"/>
          </p:cNvSpPr>
          <p:nvPr/>
        </p:nvSpPr>
        <p:spPr bwMode="hidden">
          <a:xfrm>
            <a:off x="3810000" y="1676400"/>
            <a:ext cx="1828800" cy="731520"/>
          </a:xfrm>
          <a:prstGeom prst="rect">
            <a:avLst/>
          </a:prstGeom>
          <a:solidFill>
            <a:schemeClr val="tx1">
              <a:lumMod val="95000"/>
            </a:schemeClr>
          </a:solidFill>
          <a:ln>
            <a:noFill/>
          </a:ln>
        </p:spPr>
        <p:txBody>
          <a:bodyPr wrap="none" lIns="91440" tIns="41029" rIns="91440" bIns="41029">
            <a:noAutofit/>
          </a:bodyPr>
          <a:lstStyle>
            <a:defPPr>
              <a:defRPr lang="en-US"/>
            </a:defPPr>
            <a:lvl1pPr algn="ctr">
              <a:defRPr sz="2000" b="0">
                <a:solidFill>
                  <a:schemeClr val="bg1"/>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r>
              <a:rPr lang="en-US" smtClean="0"/>
              <a:t>Search</a:t>
            </a:r>
            <a:r>
              <a:rPr lang="en-US"/>
              <a:t/>
            </a:r>
            <a:br>
              <a:rPr lang="en-US"/>
            </a:br>
            <a:r>
              <a:rPr lang="en-US" smtClean="0"/>
              <a:t>for policy</a:t>
            </a:r>
            <a:endParaRPr lang="en-US"/>
          </a:p>
        </p:txBody>
      </p:sp>
      <p:sp>
        <p:nvSpPr>
          <p:cNvPr id="65" name="Text Box 28"/>
          <p:cNvSpPr txBox="1">
            <a:spLocks noChangeArrowheads="1"/>
          </p:cNvSpPr>
          <p:nvPr/>
        </p:nvSpPr>
        <p:spPr bwMode="hidden">
          <a:xfrm>
            <a:off x="3794760" y="2810164"/>
            <a:ext cx="1828800" cy="1043117"/>
          </a:xfrm>
          <a:prstGeom prst="rect">
            <a:avLst/>
          </a:prstGeom>
          <a:solidFill>
            <a:schemeClr val="tx1">
              <a:lumMod val="95000"/>
            </a:schemeClr>
          </a:solidFill>
          <a:ln>
            <a:noFill/>
          </a:ln>
        </p:spPr>
        <p:txBody>
          <a:bodyPr wrap="none" lIns="91440" tIns="41029" rIns="91440" bIns="41029">
            <a:noAutofit/>
          </a:bodyPr>
          <a:lstStyle>
            <a:defPPr>
              <a:defRPr lang="en-US"/>
            </a:defPPr>
            <a:lvl1pPr algn="ctr">
              <a:defRPr sz="2000" b="0">
                <a:solidFill>
                  <a:schemeClr val="bg1"/>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r>
              <a:rPr lang="en-US" smtClean="0"/>
              <a:t>Retrieve</a:t>
            </a:r>
            <a:br>
              <a:rPr lang="en-US" smtClean="0"/>
            </a:br>
            <a:r>
              <a:rPr lang="en-US" smtClean="0"/>
              <a:t> loss date </a:t>
            </a:r>
            <a:br>
              <a:rPr lang="en-US" smtClean="0"/>
            </a:br>
            <a:r>
              <a:rPr lang="en-US" smtClean="0"/>
              <a:t>policy snapshot</a:t>
            </a:r>
            <a:endParaRPr lang="en-US"/>
          </a:p>
        </p:txBody>
      </p:sp>
      <p:sp>
        <p:nvSpPr>
          <p:cNvPr id="66" name="Right Arrow 65"/>
          <p:cNvSpPr/>
          <p:nvPr/>
        </p:nvSpPr>
        <p:spPr bwMode="auto">
          <a:xfrm>
            <a:off x="3048000" y="3052985"/>
            <a:ext cx="651379" cy="528415"/>
          </a:xfrm>
          <a:prstGeom prst="rightArrow">
            <a:avLst/>
          </a:prstGeom>
          <a:gradFill flip="none" rotWithShape="1">
            <a:gsLst>
              <a:gs pos="0">
                <a:schemeClr val="accent3"/>
              </a:gs>
              <a:gs pos="100000">
                <a:schemeClr val="accent5"/>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67" name="Right Arrow 66"/>
          <p:cNvSpPr/>
          <p:nvPr/>
        </p:nvSpPr>
        <p:spPr bwMode="auto">
          <a:xfrm>
            <a:off x="5718941" y="3052985"/>
            <a:ext cx="651379" cy="528415"/>
          </a:xfrm>
          <a:prstGeom prst="rightArrow">
            <a:avLst/>
          </a:prstGeom>
          <a:gradFill flip="none" rotWithShape="1">
            <a:gsLst>
              <a:gs pos="0">
                <a:schemeClr val="accent3"/>
              </a:gs>
              <a:gs pos="100000">
                <a:schemeClr val="accent5"/>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 name="Down Arrow 1"/>
          <p:cNvSpPr/>
          <p:nvPr/>
        </p:nvSpPr>
        <p:spPr bwMode="auto">
          <a:xfrm>
            <a:off x="1600200" y="3505200"/>
            <a:ext cx="388180" cy="783685"/>
          </a:xfrm>
          <a:prstGeom prst="downArrow">
            <a:avLst/>
          </a:prstGeom>
          <a:ln>
            <a:headEnd/>
            <a:tailEnd/>
          </a:ln>
          <a:effectLst>
            <a:glow rad="63500">
              <a:schemeClr val="accent3">
                <a:alpha val="45000"/>
                <a:satMod val="120000"/>
              </a:schemeClr>
            </a:glow>
            <a:outerShdw blurRad="50800" dist="38100" dir="2700000" algn="tl" rotWithShape="0">
              <a:prstClr val="black">
                <a:alpha val="40000"/>
              </a:prstClr>
            </a:outerShdw>
          </a:effectLst>
        </p:spPr>
        <p:style>
          <a:lnRef idx="3">
            <a:schemeClr val="lt1"/>
          </a:lnRef>
          <a:fillRef idx="1">
            <a:schemeClr val="accent3"/>
          </a:fillRef>
          <a:effectRef idx="1">
            <a:schemeClr val="accent3"/>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46" name="Left Arrow 45"/>
          <p:cNvSpPr/>
          <p:nvPr/>
        </p:nvSpPr>
        <p:spPr bwMode="auto">
          <a:xfrm>
            <a:off x="5718941" y="1752600"/>
            <a:ext cx="651379" cy="533400"/>
          </a:xfrm>
          <a:prstGeom prst="leftArrow">
            <a:avLst/>
          </a:prstGeom>
          <a:gradFill flip="none" rotWithShape="1">
            <a:gsLst>
              <a:gs pos="0">
                <a:schemeClr val="accent3"/>
              </a:gs>
              <a:gs pos="100000">
                <a:schemeClr val="accent5"/>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47" name="Left Arrow 46"/>
          <p:cNvSpPr/>
          <p:nvPr/>
        </p:nvSpPr>
        <p:spPr bwMode="auto">
          <a:xfrm>
            <a:off x="3048000" y="1752600"/>
            <a:ext cx="651379" cy="533400"/>
          </a:xfrm>
          <a:prstGeom prst="leftArrow">
            <a:avLst/>
          </a:prstGeom>
          <a:gradFill flip="none" rotWithShape="1">
            <a:gsLst>
              <a:gs pos="0">
                <a:schemeClr val="accent3"/>
              </a:gs>
              <a:gs pos="100000">
                <a:schemeClr val="accent5"/>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48580183"/>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Policy search </a:t>
            </a:r>
            <a:r>
              <a:rPr lang="en-US" smtClean="0"/>
              <a:t>in </a:t>
            </a:r>
            <a:r>
              <a:rPr lang="en-US"/>
              <a:t>PolicyCenter</a:t>
            </a:r>
          </a:p>
        </p:txBody>
      </p:sp>
      <p:sp>
        <p:nvSpPr>
          <p:cNvPr id="4" name="Content Placeholder 3"/>
          <p:cNvSpPr>
            <a:spLocks noGrp="1"/>
          </p:cNvSpPr>
          <p:nvPr>
            <p:ph sz="half" idx="2"/>
          </p:nvPr>
        </p:nvSpPr>
        <p:spPr>
          <a:xfrm>
            <a:off x="6400800" y="914401"/>
            <a:ext cx="2423160" cy="5475289"/>
          </a:xfrm>
        </p:spPr>
        <p:txBody>
          <a:bodyPr/>
          <a:lstStyle/>
          <a:p>
            <a:r>
              <a:rPr lang="en-US" dirty="0" smtClean="0"/>
              <a:t>Wizard Step 1 searches for policy</a:t>
            </a:r>
          </a:p>
          <a:p>
            <a:r>
              <a:rPr lang="en-US" dirty="0" smtClean="0"/>
              <a:t>Personal </a:t>
            </a:r>
            <a:r>
              <a:rPr lang="en-US" dirty="0"/>
              <a:t>auto and worker's comp policies </a:t>
            </a:r>
            <a:r>
              <a:rPr lang="en-US" dirty="0" smtClean="0"/>
              <a:t>are the default search configuration</a:t>
            </a:r>
            <a:endParaRPr lang="en-US" dirty="0"/>
          </a:p>
        </p:txBody>
      </p:sp>
      <p:pic>
        <p:nvPicPr>
          <p:cNvPr id="17411" name="Picture 3"/>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15000"/>
                    </a14:imgEffect>
                    <a14:imgEffect>
                      <a14:brightnessContrast bright="-10000" contrast="15000"/>
                    </a14:imgEffect>
                  </a14:imgLayer>
                </a14:imgProps>
              </a:ext>
              <a:ext uri="{28A0092B-C50C-407E-A947-70E740481C1C}">
                <a14:useLocalDpi xmlns:a14="http://schemas.microsoft.com/office/drawing/2010/main" val="0"/>
              </a:ext>
            </a:extLst>
          </a:blip>
          <a:srcRect/>
          <a:stretch>
            <a:fillRect/>
          </a:stretch>
        </p:blipFill>
        <p:spPr bwMode="auto">
          <a:xfrm>
            <a:off x="228600" y="990600"/>
            <a:ext cx="7161213" cy="4586343"/>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scene3d>
            <a:camera prst="perspectiveContrastingRightFacing"/>
            <a:lightRig rig="threePt" dir="t"/>
          </a:scene3d>
          <a:extLst>
            <a:ext uri="{909E8E84-426E-40DD-AFC4-6F175D3DCCD1}">
              <a14:hiddenFill xmlns:a14="http://schemas.microsoft.com/office/drawing/2010/main">
                <a:solidFill>
                  <a:schemeClr val="accent1"/>
                </a:solidFill>
              </a14:hiddenFill>
            </a:ext>
          </a:extLst>
        </p:spPr>
      </p:pic>
      <p:sp>
        <p:nvSpPr>
          <p:cNvPr id="5" name="Rounded Rectangle 4"/>
          <p:cNvSpPr/>
          <p:nvPr/>
        </p:nvSpPr>
        <p:spPr bwMode="auto">
          <a:xfrm rot="120000">
            <a:off x="3492748" y="3790637"/>
            <a:ext cx="1450034" cy="372909"/>
          </a:xfrm>
          <a:prstGeom prst="roundRect">
            <a:avLst/>
          </a:prstGeom>
          <a:noFill/>
          <a:ln w="28575" algn="ctr">
            <a:solidFill>
              <a:srgbClr val="C00000"/>
            </a:solidFill>
            <a:round/>
            <a:headEnd/>
            <a:tailEnd/>
          </a:ln>
          <a:effectLst>
            <a:outerShdw blurRad="50800" dist="38100" dir="2700000" algn="tl" rotWithShape="0">
              <a:prstClr val="black">
                <a:alpha val="40000"/>
              </a:prstClr>
            </a:outerShdw>
          </a:effectLst>
          <a:scene3d>
            <a:camera prst="perspectiveContrastingRightFacing"/>
            <a:lightRig rig="threePt" dir="t"/>
          </a:scene3d>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1741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24400" y="3200400"/>
            <a:ext cx="1762125" cy="319087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10200" y="895350"/>
            <a:ext cx="565862"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6682170"/>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Policy details </a:t>
            </a:r>
            <a:r>
              <a:rPr lang="en-US" smtClean="0"/>
              <a:t>from </a:t>
            </a:r>
            <a:r>
              <a:rPr lang="en-US"/>
              <a:t>PolicyCenter</a:t>
            </a:r>
          </a:p>
        </p:txBody>
      </p:sp>
      <p:sp>
        <p:nvSpPr>
          <p:cNvPr id="4" name="Content Placeholder 3"/>
          <p:cNvSpPr>
            <a:spLocks noGrp="1"/>
          </p:cNvSpPr>
          <p:nvPr>
            <p:ph sz="half" idx="2"/>
          </p:nvPr>
        </p:nvSpPr>
        <p:spPr/>
        <p:txBody>
          <a:bodyPr/>
          <a:lstStyle/>
          <a:p>
            <a:r>
              <a:rPr lang="en-US" smtClean="0"/>
              <a:t>New Claim wizard utilizes </a:t>
            </a:r>
            <a:r>
              <a:rPr lang="en-US"/>
              <a:t>the policy and coverage dates, coverage types, and terms</a:t>
            </a:r>
          </a:p>
        </p:txBody>
      </p:sp>
      <p:pic>
        <p:nvPicPr>
          <p:cNvPr id="18434" name="Picture 2"/>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15000"/>
                    </a14:imgEffect>
                    <a14:imgEffect>
                      <a14:brightnessContrast bright="-10000" contrast="15000"/>
                    </a14:imgEffect>
                  </a14:imgLayer>
                </a14:imgProps>
              </a:ext>
              <a:ext uri="{28A0092B-C50C-407E-A947-70E740481C1C}">
                <a14:useLocalDpi xmlns:a14="http://schemas.microsoft.com/office/drawing/2010/main" val="0"/>
              </a:ext>
            </a:extLst>
          </a:blip>
          <a:srcRect/>
          <a:stretch>
            <a:fillRect/>
          </a:stretch>
        </p:blipFill>
        <p:spPr bwMode="auto">
          <a:xfrm>
            <a:off x="249018" y="995704"/>
            <a:ext cx="7142382" cy="4566896"/>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scene3d>
            <a:camera prst="perspectiveContrastingRightFacing"/>
            <a:lightRig rig="threePt" dir="t"/>
          </a:scene3d>
          <a:extLst>
            <a:ext uri="{909E8E84-426E-40DD-AFC4-6F175D3DCCD1}">
              <a14:hiddenFill xmlns:a14="http://schemas.microsoft.com/office/drawing/2010/main">
                <a:solidFill>
                  <a:schemeClr val="accent1"/>
                </a:solidFill>
              </a14:hiddenFill>
            </a:ext>
          </a:extLst>
        </p:spPr>
      </p:pic>
      <p:pic>
        <p:nvPicPr>
          <p:cNvPr id="2355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12605" y="3581400"/>
            <a:ext cx="4170909" cy="2822332"/>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7" name="Left Arrow 6"/>
          <p:cNvSpPr/>
          <p:nvPr/>
        </p:nvSpPr>
        <p:spPr bwMode="auto">
          <a:xfrm>
            <a:off x="4267200" y="4024829"/>
            <a:ext cx="651379" cy="533400"/>
          </a:xfrm>
          <a:prstGeom prst="leftArrow">
            <a:avLst/>
          </a:prstGeom>
          <a:gradFill flip="none" rotWithShape="1">
            <a:gsLst>
              <a:gs pos="0">
                <a:schemeClr val="accent3"/>
              </a:gs>
              <a:gs pos="100000">
                <a:schemeClr val="accent5"/>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8" name="Picture 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10200" y="895350"/>
            <a:ext cx="565862" cy="548640"/>
          </a:xfrm>
          <a:prstGeom prst="rect">
            <a:avLst/>
          </a:prstGeom>
          <a:effectLst>
            <a:outerShdw blurRad="50800" dist="38100" dir="2700000" algn="tl" rotWithShape="0">
              <a:prstClr val="black">
                <a:alpha val="40000"/>
              </a:prstClr>
            </a:outerShdw>
          </a:effectLst>
        </p:spPr>
      </p:pic>
      <p:pic>
        <p:nvPicPr>
          <p:cNvPr id="9" name="Picture 8" descr="PolicyCenter.png"/>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498407" y="5943600"/>
            <a:ext cx="565862"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78299064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9" name="pic CC"/>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15000"/>
                    </a14:imgEffect>
                    <a14:imgEffect>
                      <a14:brightnessContrast bright="-10000" contrast="15000"/>
                    </a14:imgEffect>
                  </a14:imgLayer>
                </a14:imgProps>
              </a:ext>
              <a:ext uri="{28A0092B-C50C-407E-A947-70E740481C1C}">
                <a14:useLocalDpi xmlns:a14="http://schemas.microsoft.com/office/drawing/2010/main" val="0"/>
              </a:ext>
            </a:extLst>
          </a:blip>
          <a:srcRect/>
          <a:stretch>
            <a:fillRect/>
          </a:stretch>
        </p:blipFill>
        <p:spPr bwMode="auto">
          <a:xfrm>
            <a:off x="147276" y="954266"/>
            <a:ext cx="6754361" cy="4732159"/>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scene3d>
            <a:camera prst="perspectiveContrastingRightFacing"/>
            <a:lightRig rig="threePt" dir="t"/>
          </a:scene3d>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p:txBody>
          <a:bodyPr/>
          <a:lstStyle/>
          <a:p>
            <a:r>
              <a:rPr lang="en-US"/>
              <a:t>Viewing the policy in PolicyCenter</a:t>
            </a:r>
          </a:p>
        </p:txBody>
      </p:sp>
      <p:sp>
        <p:nvSpPr>
          <p:cNvPr id="4" name="Content Placeholder 3"/>
          <p:cNvSpPr>
            <a:spLocks noGrp="1"/>
          </p:cNvSpPr>
          <p:nvPr>
            <p:ph sz="half" idx="2"/>
          </p:nvPr>
        </p:nvSpPr>
        <p:spPr>
          <a:xfrm>
            <a:off x="6172200" y="914401"/>
            <a:ext cx="2651760" cy="5475289"/>
          </a:xfrm>
        </p:spPr>
        <p:txBody>
          <a:bodyPr/>
          <a:lstStyle/>
          <a:p>
            <a:r>
              <a:rPr lang="en-US" smtClean="0"/>
              <a:t>Requires user permissions and config.xml settings</a:t>
            </a:r>
            <a:endParaRPr lang="en-US"/>
          </a:p>
        </p:txBody>
      </p:sp>
      <p:pic>
        <p:nvPicPr>
          <p:cNvPr id="6" name="pic P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12605" y="3581400"/>
            <a:ext cx="4170909" cy="2822332"/>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7" name="pic Log PC" descr="PolicyCenter.png"/>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498407" y="5943600"/>
            <a:ext cx="565862" cy="548640"/>
          </a:xfrm>
          <a:prstGeom prst="rect">
            <a:avLst/>
          </a:prstGeom>
          <a:effectLst>
            <a:outerShdw blurRad="50800" dist="38100" dir="2700000" algn="tl" rotWithShape="0">
              <a:prstClr val="black">
                <a:alpha val="40000"/>
              </a:prstClr>
            </a:outerShdw>
          </a:effectLst>
        </p:spPr>
      </p:pic>
      <p:pic>
        <p:nvPicPr>
          <p:cNvPr id="11" name="pic Logo CC"/>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410200" y="895350"/>
            <a:ext cx="565862" cy="548640"/>
          </a:xfrm>
          <a:prstGeom prst="rect">
            <a:avLst/>
          </a:prstGeom>
          <a:effectLst>
            <a:outerShdw blurRad="50800" dist="38100" dir="2700000" algn="tl" rotWithShape="0">
              <a:prstClr val="black">
                <a:alpha val="40000"/>
              </a:prstClr>
            </a:outerShdw>
          </a:effectLst>
        </p:spPr>
      </p:pic>
      <p:sp>
        <p:nvSpPr>
          <p:cNvPr id="12" name="rec Highlight"/>
          <p:cNvSpPr/>
          <p:nvPr/>
        </p:nvSpPr>
        <p:spPr bwMode="auto">
          <a:xfrm rot="120000">
            <a:off x="4152006" y="1982185"/>
            <a:ext cx="1700278" cy="351297"/>
          </a:xfrm>
          <a:prstGeom prst="roundRect">
            <a:avLst/>
          </a:prstGeom>
          <a:noFill/>
          <a:ln w="28575" algn="ctr">
            <a:solidFill>
              <a:srgbClr val="C00000"/>
            </a:solidFill>
            <a:round/>
            <a:headEnd/>
            <a:tailEnd/>
          </a:ln>
          <a:effectLst>
            <a:outerShdw blurRad="50800" dist="38100" dir="2700000" algn="tl" rotWithShape="0">
              <a:prstClr val="black">
                <a:alpha val="40000"/>
              </a:prstClr>
            </a:outerShdw>
          </a:effectLst>
          <a:scene3d>
            <a:camera prst="perspectiveContrastingRightFacing"/>
            <a:lightRig rig="threePt" dir="t"/>
          </a:scene3d>
        </p:spPr>
        <p:txBody>
          <a:bodyPr wrap="none" lIns="0" tIns="0" rIns="0" bIns="0" rtlCol="0" anchor="ctr">
            <a:noAutofit/>
          </a:bodyPr>
          <a:lstStyle/>
          <a:p>
            <a:pPr algn="ctr">
              <a:spcBef>
                <a:spcPct val="50000"/>
              </a:spcBef>
              <a:spcAft>
                <a:spcPct val="30000"/>
              </a:spcAft>
              <a:buClr>
                <a:schemeClr val="tx1"/>
              </a:buClr>
            </a:pPr>
            <a:endParaRPr lang="en-US"/>
          </a:p>
        </p:txBody>
      </p:sp>
      <p:sp>
        <p:nvSpPr>
          <p:cNvPr id="9" name="Left Arrow 8"/>
          <p:cNvSpPr/>
          <p:nvPr/>
        </p:nvSpPr>
        <p:spPr bwMode="auto">
          <a:xfrm rot="10800000">
            <a:off x="4205291" y="4038600"/>
            <a:ext cx="651379" cy="533400"/>
          </a:xfrm>
          <a:prstGeom prst="leftArrow">
            <a:avLst/>
          </a:prstGeom>
          <a:gradFill flip="none" rotWithShape="1">
            <a:gsLst>
              <a:gs pos="0">
                <a:schemeClr val="accent3"/>
              </a:gs>
              <a:gs pos="100000">
                <a:schemeClr val="accent5"/>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2491915415"/>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hid Rec"/>
          <p:cNvSpPr/>
          <p:nvPr/>
        </p:nvSpPr>
        <p:spPr bwMode="auto">
          <a:xfrm>
            <a:off x="4212999" y="3543300"/>
            <a:ext cx="435201" cy="228600"/>
          </a:xfrm>
          <a:prstGeom prst="roundRect">
            <a:avLst/>
          </a:prstGeom>
          <a:solidFill>
            <a:schemeClr val="tx1"/>
          </a:solidFill>
          <a:ln w="28575" algn="ctr">
            <a:solidFill>
              <a:schemeClr val="tx1"/>
            </a:solidFill>
            <a:round/>
            <a:headEnd/>
            <a:tailEnd/>
          </a:ln>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11" name="Title 10"/>
          <p:cNvSpPr>
            <a:spLocks noGrp="1"/>
          </p:cNvSpPr>
          <p:nvPr>
            <p:ph type="title"/>
          </p:nvPr>
        </p:nvSpPr>
        <p:spPr>
          <a:xfrm>
            <a:off x="493776" y="118872"/>
            <a:ext cx="8650224" cy="742951"/>
          </a:xfrm>
        </p:spPr>
        <p:txBody>
          <a:bodyPr/>
          <a:lstStyle/>
          <a:p>
            <a:r>
              <a:rPr lang="en-US"/>
              <a:t>How does policy search and retrieval </a:t>
            </a:r>
            <a:r>
              <a:rPr lang="en-US" smtClean="0"/>
              <a:t>work?</a:t>
            </a:r>
            <a:endParaRPr lang="en-US"/>
          </a:p>
        </p:txBody>
      </p:sp>
      <p:sp>
        <p:nvSpPr>
          <p:cNvPr id="5" name="Rounded Rectangle 4"/>
          <p:cNvSpPr/>
          <p:nvPr/>
        </p:nvSpPr>
        <p:spPr bwMode="auto">
          <a:xfrm>
            <a:off x="3730752" y="1371600"/>
            <a:ext cx="5184648" cy="5105400"/>
          </a:xfrm>
          <a:prstGeom prst="roundRect">
            <a:avLst>
              <a:gd name="adj" fmla="val 2472"/>
            </a:avLst>
          </a:prstGeom>
          <a:solidFill>
            <a:schemeClr val="accent5">
              <a:lumMod val="20000"/>
              <a:lumOff val="80000"/>
            </a:schemeClr>
          </a:solidFill>
          <a:ln w="19050" algn="ctr">
            <a:solidFill>
              <a:schemeClr val="accent5"/>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6" name="Rounded Rectangle 5"/>
          <p:cNvSpPr/>
          <p:nvPr/>
        </p:nvSpPr>
        <p:spPr bwMode="auto">
          <a:xfrm>
            <a:off x="533400" y="1371600"/>
            <a:ext cx="2560320" cy="5105400"/>
          </a:xfrm>
          <a:prstGeom prst="roundRect">
            <a:avLst>
              <a:gd name="adj" fmla="val 2845"/>
            </a:avLst>
          </a:prstGeom>
          <a:solidFill>
            <a:schemeClr val="accent3">
              <a:lumMod val="20000"/>
              <a:lumOff val="80000"/>
            </a:schemeClr>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57600" y="895350"/>
            <a:ext cx="565485" cy="548640"/>
          </a:xfrm>
          <a:prstGeom prst="rect">
            <a:avLst/>
          </a:prstGeom>
          <a:effectLst>
            <a:outerShdw blurRad="50800" dist="38100" dir="2700000" algn="tl" rotWithShape="0">
              <a:prstClr val="black">
                <a:alpha val="40000"/>
              </a:prstClr>
            </a:outerShdw>
          </a:effectLst>
        </p:spPr>
      </p:pic>
      <p:pic>
        <p:nvPicPr>
          <p:cNvPr id="8" name="Picture 7" descr="PolicyCenter.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4738" y="899160"/>
            <a:ext cx="565862" cy="548640"/>
          </a:xfrm>
          <a:prstGeom prst="rect">
            <a:avLst/>
          </a:prstGeom>
          <a:effectLst>
            <a:outerShdw blurRad="50800" dist="38100" dir="2700000" algn="tl" rotWithShape="0">
              <a:prstClr val="black">
                <a:alpha val="40000"/>
              </a:prstClr>
            </a:outerShdw>
          </a:effectLst>
        </p:spPr>
      </p:pic>
      <p:sp>
        <p:nvSpPr>
          <p:cNvPr id="28" name="TextBox 87"/>
          <p:cNvSpPr txBox="1">
            <a:spLocks noChangeArrowheads="1"/>
          </p:cNvSpPr>
          <p:nvPr/>
        </p:nvSpPr>
        <p:spPr bwMode="auto">
          <a:xfrm>
            <a:off x="7744067" y="4238625"/>
            <a:ext cx="95733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algn="ctr" eaLnBrk="1" hangingPunct="1"/>
            <a:r>
              <a:rPr lang="en-US" sz="1600">
                <a:solidFill>
                  <a:schemeClr val="bg1"/>
                </a:solidFill>
                <a:latin typeface="+mn-lt"/>
              </a:rPr>
              <a:t>IPolicy</a:t>
            </a:r>
            <a:br>
              <a:rPr lang="en-US" sz="1600">
                <a:solidFill>
                  <a:schemeClr val="bg1"/>
                </a:solidFill>
                <a:latin typeface="+mn-lt"/>
              </a:rPr>
            </a:br>
            <a:r>
              <a:rPr lang="en-US" sz="1600" smtClean="0">
                <a:solidFill>
                  <a:schemeClr val="bg1"/>
                </a:solidFill>
                <a:latin typeface="+mn-lt"/>
              </a:rPr>
              <a:t>Search</a:t>
            </a:r>
            <a:br>
              <a:rPr lang="en-US" sz="1600" smtClean="0">
                <a:solidFill>
                  <a:schemeClr val="bg1"/>
                </a:solidFill>
                <a:latin typeface="+mn-lt"/>
              </a:rPr>
            </a:br>
            <a:r>
              <a:rPr lang="en-US" sz="1600" smtClean="0">
                <a:solidFill>
                  <a:schemeClr val="bg1"/>
                </a:solidFill>
                <a:latin typeface="+mn-lt"/>
              </a:rPr>
              <a:t>Adapter</a:t>
            </a:r>
            <a:endParaRPr lang="en-US" sz="1600">
              <a:solidFill>
                <a:schemeClr val="bg1"/>
              </a:solidFill>
              <a:latin typeface="+mn-lt"/>
            </a:endParaRPr>
          </a:p>
        </p:txBody>
      </p:sp>
      <p:sp>
        <p:nvSpPr>
          <p:cNvPr id="29" name="TextBox 84"/>
          <p:cNvSpPr txBox="1">
            <a:spLocks noChangeArrowheads="1"/>
          </p:cNvSpPr>
          <p:nvPr/>
        </p:nvSpPr>
        <p:spPr bwMode="auto">
          <a:xfrm>
            <a:off x="609600" y="4233351"/>
            <a:ext cx="146970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600" b="1">
                <a:solidFill>
                  <a:schemeClr val="bg1"/>
                </a:solidFill>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r>
              <a:rPr lang="en-US"/>
              <a:t>CC</a:t>
            </a:r>
            <a:br>
              <a:rPr lang="en-US"/>
            </a:br>
            <a:r>
              <a:rPr lang="en-US"/>
              <a:t>PolicySearch</a:t>
            </a:r>
            <a:br>
              <a:rPr lang="en-US"/>
            </a:br>
            <a:r>
              <a:rPr lang="en-US"/>
              <a:t>Integration</a:t>
            </a:r>
          </a:p>
        </p:txBody>
      </p:sp>
      <p:sp>
        <p:nvSpPr>
          <p:cNvPr id="31" name="TextBox 86"/>
          <p:cNvSpPr txBox="1">
            <a:spLocks noChangeArrowheads="1"/>
          </p:cNvSpPr>
          <p:nvPr/>
        </p:nvSpPr>
        <p:spPr bwMode="auto">
          <a:xfrm>
            <a:off x="4212999" y="4226091"/>
            <a:ext cx="124618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algn="ctr" eaLnBrk="1" hangingPunct="1"/>
            <a:r>
              <a:rPr lang="en-US" sz="1600" smtClean="0">
                <a:solidFill>
                  <a:schemeClr val="bg1"/>
                </a:solidFill>
                <a:latin typeface="+mn-lt"/>
              </a:rPr>
              <a:t>pc800.wsc</a:t>
            </a:r>
            <a:endParaRPr lang="en-US" sz="1600">
              <a:solidFill>
                <a:schemeClr val="bg1"/>
              </a:solidFill>
              <a:latin typeface="+mn-lt"/>
            </a:endParaRPr>
          </a:p>
        </p:txBody>
      </p:sp>
      <p:sp>
        <p:nvSpPr>
          <p:cNvPr id="32" name="TextBox 84"/>
          <p:cNvSpPr txBox="1">
            <a:spLocks noChangeArrowheads="1"/>
          </p:cNvSpPr>
          <p:nvPr/>
        </p:nvSpPr>
        <p:spPr bwMode="auto">
          <a:xfrm>
            <a:off x="7493000" y="1606127"/>
            <a:ext cx="13462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algn="ctr" eaLnBrk="1" hangingPunct="1"/>
            <a:r>
              <a:rPr lang="en-US" sz="1600" smtClean="0">
                <a:solidFill>
                  <a:schemeClr val="bg1"/>
                </a:solidFill>
                <a:latin typeface="+mn-lt"/>
              </a:rPr>
              <a:t>New Claim Wizard</a:t>
            </a:r>
            <a:endParaRPr lang="en-US" sz="1600">
              <a:solidFill>
                <a:schemeClr val="bg1"/>
              </a:solidFill>
              <a:latin typeface="+mn-lt"/>
            </a:endParaRPr>
          </a:p>
        </p:txBody>
      </p:sp>
      <p:cxnSp>
        <p:nvCxnSpPr>
          <p:cNvPr id="36" name="Straight Arrow Connector 35"/>
          <p:cNvCxnSpPr/>
          <p:nvPr/>
        </p:nvCxnSpPr>
        <p:spPr bwMode="auto">
          <a:xfrm>
            <a:off x="8154118" y="2425700"/>
            <a:ext cx="0" cy="457200"/>
          </a:xfrm>
          <a:prstGeom prst="straightConnector1">
            <a:avLst/>
          </a:prstGeom>
          <a:noFill/>
          <a:ln w="28575" cap="flat" cmpd="sng" algn="ctr">
            <a:solidFill>
              <a:schemeClr val="bg1"/>
            </a:solidFill>
            <a:prstDash val="solid"/>
            <a:round/>
            <a:headEnd type="none" w="med" len="med"/>
            <a:tailEnd type="arrow" w="lg" len="med"/>
          </a:ln>
          <a:effectLst>
            <a:outerShdw blurRad="50800" dist="38100" dir="2700000" algn="tl" rotWithShape="0">
              <a:prstClr val="black">
                <a:alpha val="40000"/>
              </a:prstClr>
            </a:outerShdw>
          </a:effectLst>
        </p:spPr>
      </p:cxnSp>
      <p:pic>
        <p:nvPicPr>
          <p:cNvPr id="43"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 y="3040380"/>
            <a:ext cx="1164906" cy="124434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5" name="icn Plugin Gosu"/>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01163" y="3026350"/>
            <a:ext cx="1268492" cy="13742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46" name="icon GWP file"/>
          <p:cNvGrpSpPr/>
          <p:nvPr/>
        </p:nvGrpSpPr>
        <p:grpSpPr>
          <a:xfrm>
            <a:off x="7772400" y="3048000"/>
            <a:ext cx="893396" cy="1103661"/>
            <a:chOff x="4592771" y="2146900"/>
            <a:chExt cx="1125708" cy="1390650"/>
          </a:xfrm>
        </p:grpSpPr>
        <p:pic>
          <p:nvPicPr>
            <p:cNvPr id="47"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59616" y="2146900"/>
              <a:ext cx="1058863" cy="1390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48" name="icon Plugin"/>
            <p:cNvGrpSpPr>
              <a:grpSpLocks/>
            </p:cNvGrpSpPr>
            <p:nvPr/>
          </p:nvGrpSpPr>
          <p:grpSpPr bwMode="auto">
            <a:xfrm>
              <a:off x="4592771" y="2308825"/>
              <a:ext cx="542255" cy="639158"/>
              <a:chOff x="4500" y="2762"/>
              <a:chExt cx="247" cy="291"/>
            </a:xfrm>
            <a:effectLst>
              <a:outerShdw blurRad="50800" dist="38100" dir="2700000" algn="tl" rotWithShape="0">
                <a:prstClr val="black">
                  <a:alpha val="40000"/>
                </a:prstClr>
              </a:outerShdw>
            </a:effectLst>
          </p:grpSpPr>
          <p:sp>
            <p:nvSpPr>
              <p:cNvPr id="50"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51"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52"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53"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sp>
          <p:nvSpPr>
            <p:cNvPr id="49" name="TextBox 48"/>
            <p:cNvSpPr txBox="1"/>
            <p:nvPr/>
          </p:nvSpPr>
          <p:spPr>
            <a:xfrm>
              <a:off x="4758824" y="3097051"/>
              <a:ext cx="843636" cy="328617"/>
            </a:xfrm>
            <a:prstGeom prst="rect">
              <a:avLst/>
            </a:prstGeom>
            <a:noFill/>
          </p:spPr>
          <p:txBody>
            <a:bodyPr wrap="square" rtlCol="0">
              <a:noAutofit/>
            </a:bodyPr>
            <a:lstStyle/>
            <a:p>
              <a:pPr algn="ctr"/>
              <a:r>
                <a:rPr lang="en-US" sz="1600" b="1" smtClean="0">
                  <a:solidFill>
                    <a:schemeClr val="bg2"/>
                  </a:solidFill>
                  <a:latin typeface="Arial" pitchFamily="32" charset="0"/>
                  <a:cs typeface="Arial" pitchFamily="32" charset="0"/>
                </a:rPr>
                <a:t>GWP</a:t>
              </a:r>
            </a:p>
          </p:txBody>
        </p:sp>
      </p:grpSp>
      <p:cxnSp>
        <p:nvCxnSpPr>
          <p:cNvPr id="54" name="Straight Arrow Connector 53"/>
          <p:cNvCxnSpPr/>
          <p:nvPr/>
        </p:nvCxnSpPr>
        <p:spPr bwMode="auto">
          <a:xfrm flipH="1">
            <a:off x="5410200" y="3667125"/>
            <a:ext cx="377303" cy="0"/>
          </a:xfrm>
          <a:prstGeom prst="straightConnector1">
            <a:avLst/>
          </a:prstGeom>
          <a:noFill/>
          <a:ln w="28575" cap="flat" cmpd="sng" algn="ctr">
            <a:solidFill>
              <a:schemeClr val="bg1"/>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55" name="Straight Arrow Connector 54"/>
          <p:cNvCxnSpPr/>
          <p:nvPr/>
        </p:nvCxnSpPr>
        <p:spPr bwMode="auto">
          <a:xfrm flipH="1">
            <a:off x="7239000" y="3667125"/>
            <a:ext cx="377303" cy="0"/>
          </a:xfrm>
          <a:prstGeom prst="straightConnector1">
            <a:avLst/>
          </a:prstGeom>
          <a:noFill/>
          <a:ln w="28575" cap="flat" cmpd="sng" algn="ctr">
            <a:solidFill>
              <a:schemeClr val="bg1"/>
            </a:solidFill>
            <a:prstDash val="solid"/>
            <a:round/>
            <a:headEnd type="none" w="med" len="med"/>
            <a:tailEnd type="arrow" w="lg" len="med"/>
          </a:ln>
          <a:effectLst>
            <a:outerShdw blurRad="50800" dist="38100" dir="2700000" algn="tl" rotWithShape="0">
              <a:prstClr val="black">
                <a:alpha val="40000"/>
              </a:prstClr>
            </a:outerShdw>
          </a:effectLst>
        </p:spPr>
      </p:cxnSp>
      <p:sp>
        <p:nvSpPr>
          <p:cNvPr id="56" name="TextBox 87"/>
          <p:cNvSpPr txBox="1">
            <a:spLocks noChangeArrowheads="1"/>
          </p:cNvSpPr>
          <p:nvPr/>
        </p:nvSpPr>
        <p:spPr bwMode="auto">
          <a:xfrm>
            <a:off x="5901164" y="4234398"/>
            <a:ext cx="126849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algn="ctr" eaLnBrk="1" hangingPunct="1"/>
            <a:r>
              <a:rPr lang="en-US" sz="1600" smtClean="0">
                <a:solidFill>
                  <a:schemeClr val="bg1"/>
                </a:solidFill>
                <a:latin typeface="+mn-lt"/>
              </a:rPr>
              <a:t>Policy</a:t>
            </a:r>
            <a:br>
              <a:rPr lang="en-US" sz="1600" smtClean="0">
                <a:solidFill>
                  <a:schemeClr val="bg1"/>
                </a:solidFill>
                <a:latin typeface="+mn-lt"/>
              </a:rPr>
            </a:br>
            <a:r>
              <a:rPr lang="en-US" sz="1600" smtClean="0">
                <a:solidFill>
                  <a:schemeClr val="bg1"/>
                </a:solidFill>
                <a:latin typeface="+mn-lt"/>
              </a:rPr>
              <a:t>Search</a:t>
            </a:r>
            <a:br>
              <a:rPr lang="en-US" sz="1600" smtClean="0">
                <a:solidFill>
                  <a:schemeClr val="bg1"/>
                </a:solidFill>
                <a:latin typeface="+mn-lt"/>
              </a:rPr>
            </a:br>
            <a:r>
              <a:rPr lang="en-US" sz="1600" smtClean="0">
                <a:solidFill>
                  <a:schemeClr val="bg1"/>
                </a:solidFill>
                <a:latin typeface="+mn-lt"/>
              </a:rPr>
              <a:t>PCPlugin</a:t>
            </a:r>
            <a:endParaRPr lang="en-US" sz="1600">
              <a:solidFill>
                <a:schemeClr val="bg1"/>
              </a:solidFill>
              <a:latin typeface="+mn-lt"/>
            </a:endParaRPr>
          </a:p>
        </p:txBody>
      </p:sp>
      <p:pic>
        <p:nvPicPr>
          <p:cNvPr id="22"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87062" y="3045400"/>
            <a:ext cx="1299338" cy="106634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3" name="Picture 3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657600" y="895350"/>
            <a:ext cx="565862" cy="548640"/>
          </a:xfrm>
          <a:prstGeom prst="rect">
            <a:avLst/>
          </a:prstGeom>
          <a:effectLst>
            <a:outerShdw blurRad="50800" dist="38100" dir="2700000" algn="tl" rotWithShape="0">
              <a:prstClr val="black">
                <a:alpha val="40000"/>
              </a:prstClr>
            </a:outerShdw>
          </a:effectLst>
        </p:spPr>
      </p:pic>
      <p:cxnSp>
        <p:nvCxnSpPr>
          <p:cNvPr id="34" name="Straight Arrow Connector 33"/>
          <p:cNvCxnSpPr/>
          <p:nvPr/>
        </p:nvCxnSpPr>
        <p:spPr bwMode="auto">
          <a:xfrm flipH="1">
            <a:off x="2208046" y="3665220"/>
            <a:ext cx="1732486" cy="0"/>
          </a:xfrm>
          <a:prstGeom prst="straightConnector1">
            <a:avLst/>
          </a:prstGeom>
          <a:noFill/>
          <a:ln w="28575" cap="flat" cmpd="sng" algn="ctr">
            <a:solidFill>
              <a:schemeClr val="bg1"/>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3021851987"/>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logo PC 2" descr="PolicyCenter.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4350" y="885825"/>
            <a:ext cx="565862" cy="548640"/>
          </a:xfrm>
          <a:prstGeom prst="rect">
            <a:avLst/>
          </a:prstGeom>
          <a:effectLst>
            <a:outerShdw blurRad="50800" dist="38100" dir="2700000" algn="tl" rotWithShape="0">
              <a:prstClr val="black">
                <a:alpha val="40000"/>
              </a:prstClr>
            </a:outerShdw>
          </a:effectLst>
        </p:spPr>
      </p:pic>
      <p:sp>
        <p:nvSpPr>
          <p:cNvPr id="2" name="Title 1"/>
          <p:cNvSpPr>
            <a:spLocks noGrp="1"/>
          </p:cNvSpPr>
          <p:nvPr>
            <p:ph type="title"/>
          </p:nvPr>
        </p:nvSpPr>
        <p:spPr/>
        <p:txBody>
          <a:bodyPr/>
          <a:lstStyle/>
          <a:p>
            <a:r>
              <a:rPr lang="en-US" smtClean="0"/>
              <a:t>Steps to enable policy search and retrieval  </a:t>
            </a:r>
            <a:endParaRPr lang="en-US"/>
          </a:p>
        </p:txBody>
      </p:sp>
      <p:sp>
        <p:nvSpPr>
          <p:cNvPr id="5" name="Subtitle 4"/>
          <p:cNvSpPr>
            <a:spLocks noGrp="1"/>
          </p:cNvSpPr>
          <p:nvPr>
            <p:ph type="subTitle" idx="10"/>
          </p:nvPr>
        </p:nvSpPr>
        <p:spPr/>
        <p:txBody>
          <a:bodyPr/>
          <a:lstStyle/>
          <a:p>
            <a:r>
              <a:rPr lang="en-US" smtClean="0"/>
              <a:t>        PolicyCenter</a:t>
            </a:r>
            <a:endParaRPr lang="en-US"/>
          </a:p>
        </p:txBody>
      </p:sp>
      <p:sp>
        <p:nvSpPr>
          <p:cNvPr id="12" name="Text Placeholder 11"/>
          <p:cNvSpPr>
            <a:spLocks noGrp="1"/>
          </p:cNvSpPr>
          <p:nvPr>
            <p:ph type="body" sz="quarter" idx="11"/>
          </p:nvPr>
        </p:nvSpPr>
        <p:spPr/>
        <p:txBody>
          <a:bodyPr/>
          <a:lstStyle/>
          <a:p>
            <a:r>
              <a:rPr lang="en-US" smtClean="0"/>
              <a:t>        ClaimCenter</a:t>
            </a:r>
            <a:endParaRPr lang="en-US"/>
          </a:p>
        </p:txBody>
      </p:sp>
      <p:sp>
        <p:nvSpPr>
          <p:cNvPr id="11" name="Content Placeholder 10"/>
          <p:cNvSpPr>
            <a:spLocks noGrp="1"/>
          </p:cNvSpPr>
          <p:nvPr>
            <p:ph sz="half" idx="2"/>
          </p:nvPr>
        </p:nvSpPr>
        <p:spPr>
          <a:xfrm>
            <a:off x="4754562" y="1752600"/>
            <a:ext cx="4313237" cy="4637088"/>
          </a:xfrm>
        </p:spPr>
        <p:txBody>
          <a:bodyPr/>
          <a:lstStyle/>
          <a:p>
            <a:pPr marL="457200" indent="-457200">
              <a:buFont typeface="+mj-lt"/>
              <a:buAutoNum type="arabicPeriod" startAt="2"/>
            </a:pPr>
            <a:r>
              <a:rPr lang="en-US" dirty="0"/>
              <a:t>Open </a:t>
            </a:r>
            <a:r>
              <a:rPr lang="en-US" dirty="0" err="1"/>
              <a:t>IPolicySearchAdapter</a:t>
            </a:r>
            <a:endParaRPr lang="en-US" dirty="0"/>
          </a:p>
          <a:p>
            <a:pPr marL="457200" indent="-457200">
              <a:buFont typeface="+mj-lt"/>
              <a:buAutoNum type="arabicPeriod" startAt="2"/>
            </a:pPr>
            <a:r>
              <a:rPr lang="en-US" dirty="0"/>
              <a:t>Change the Gosu class</a:t>
            </a:r>
          </a:p>
          <a:p>
            <a:pPr marL="457200" indent="-457200">
              <a:buFont typeface="+mj-lt"/>
              <a:buAutoNum type="arabicPeriod" startAt="2"/>
            </a:pPr>
            <a:r>
              <a:rPr lang="en-US" dirty="0"/>
              <a:t>Edit the plugin configuration</a:t>
            </a:r>
          </a:p>
          <a:p>
            <a:pPr marL="457200" indent="-457200">
              <a:buFont typeface="+mj-lt"/>
              <a:buAutoNum type="arabicPeriod" startAt="2"/>
            </a:pPr>
            <a:r>
              <a:rPr lang="en-US" dirty="0"/>
              <a:t>Edit </a:t>
            </a:r>
            <a:r>
              <a:rPr lang="en-US" dirty="0" smtClean="0"/>
              <a:t>suite-config.xml</a:t>
            </a:r>
            <a:endParaRPr lang="en-US" dirty="0"/>
          </a:p>
          <a:p>
            <a:pPr marL="457200" indent="-457200">
              <a:buFont typeface="+mj-lt"/>
              <a:buAutoNum type="arabicPeriod" startAt="2"/>
            </a:pPr>
            <a:r>
              <a:rPr lang="en-US" dirty="0"/>
              <a:t>Refresh the Web Service collection WSDL</a:t>
            </a:r>
          </a:p>
          <a:p>
            <a:pPr marL="457200" indent="-457200">
              <a:buFont typeface="+mj-lt"/>
              <a:buAutoNum type="arabicPeriod" startAt="2"/>
            </a:pPr>
            <a:r>
              <a:rPr lang="en-US" dirty="0" smtClean="0"/>
              <a:t>[</a:t>
            </a:r>
            <a:r>
              <a:rPr lang="en-US" dirty="0" smtClean="0"/>
              <a:t>Optional] Update </a:t>
            </a:r>
            <a:r>
              <a:rPr lang="en-US" dirty="0"/>
              <a:t>class and mapping files</a:t>
            </a:r>
          </a:p>
          <a:p>
            <a:pPr marL="457200" indent="-457200">
              <a:buFont typeface="+mj-lt"/>
              <a:buAutoNum type="arabicPeriod" startAt="2"/>
            </a:pPr>
            <a:r>
              <a:rPr lang="en-US" dirty="0"/>
              <a:t>Deploy your changes</a:t>
            </a:r>
          </a:p>
          <a:p>
            <a:endParaRPr lang="en-US" dirty="0"/>
          </a:p>
          <a:p>
            <a:pPr marL="457200" indent="-457200">
              <a:buFont typeface="+mj-lt"/>
              <a:buAutoNum type="arabicPeriod" startAt="2"/>
            </a:pPr>
            <a:endParaRPr lang="en-US" dirty="0" smtClean="0"/>
          </a:p>
        </p:txBody>
      </p:sp>
      <p:sp>
        <p:nvSpPr>
          <p:cNvPr id="3" name="Content Placeholder 2"/>
          <p:cNvSpPr>
            <a:spLocks noGrp="1"/>
          </p:cNvSpPr>
          <p:nvPr>
            <p:ph sz="half" idx="1"/>
          </p:nvPr>
        </p:nvSpPr>
        <p:spPr/>
        <p:txBody>
          <a:bodyPr/>
          <a:lstStyle/>
          <a:p>
            <a:pPr marL="457200" indent="-457200">
              <a:buFont typeface="+mj-lt"/>
              <a:buAutoNum type="arabicPeriod"/>
            </a:pPr>
            <a:r>
              <a:rPr lang="en-US" dirty="0"/>
              <a:t>Start </a:t>
            </a:r>
            <a:r>
              <a:rPr lang="en-US" dirty="0" smtClean="0"/>
              <a:t>PolicyCenter</a:t>
            </a:r>
          </a:p>
          <a:p>
            <a:pPr marL="0" indent="0">
              <a:buNone/>
            </a:pPr>
            <a:r>
              <a:rPr lang="en-US" dirty="0"/>
              <a:t> </a:t>
            </a:r>
            <a:endParaRPr lang="en-US" dirty="0" smtClean="0"/>
          </a:p>
          <a:p>
            <a:pPr marL="457200" indent="-457200">
              <a:buFont typeface="+mj-lt"/>
              <a:buAutoNum type="arabicPeriod"/>
            </a:pPr>
            <a:endParaRPr lang="en-US" dirty="0"/>
          </a:p>
          <a:p>
            <a:pPr marL="457200" indent="-457200">
              <a:buFont typeface="+mj-lt"/>
              <a:buAutoNum type="arabicPeriod"/>
            </a:pPr>
            <a:endParaRPr lang="en-US" dirty="0" smtClean="0"/>
          </a:p>
          <a:p>
            <a:pPr marL="0" indent="0">
              <a:buNone/>
            </a:pPr>
            <a:r>
              <a:rPr lang="en-US" dirty="0"/>
              <a:t/>
            </a:r>
            <a:br>
              <a:rPr lang="en-US" dirty="0"/>
            </a:br>
            <a:endParaRPr lang="en-US" dirty="0" smtClean="0"/>
          </a:p>
          <a:p>
            <a:pPr marL="457200" indent="-457200">
              <a:buFont typeface="+mj-lt"/>
              <a:buAutoNum type="arabicPeriod" startAt="7"/>
            </a:pPr>
            <a:r>
              <a:rPr lang="en-US" dirty="0" smtClean="0"/>
              <a:t>[</a:t>
            </a:r>
            <a:r>
              <a:rPr lang="en-US" dirty="0" smtClean="0"/>
              <a:t>Optional] Update </a:t>
            </a:r>
            <a:r>
              <a:rPr lang="en-US" dirty="0"/>
              <a:t>class and mapping files</a:t>
            </a:r>
          </a:p>
          <a:p>
            <a:pPr marL="457200" indent="-457200">
              <a:buFont typeface="+mj-lt"/>
              <a:buAutoNum type="arabicPeriod" startAt="7"/>
            </a:pPr>
            <a:endParaRPr lang="en-US" dirty="0"/>
          </a:p>
          <a:p>
            <a:endParaRPr lang="en-US" dirty="0"/>
          </a:p>
        </p:txBody>
      </p:sp>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24400" y="885825"/>
            <a:ext cx="565862"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029043494"/>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Start PolicyCenter</a:t>
            </a:r>
            <a:endParaRPr lang="en-US"/>
          </a:p>
        </p:txBody>
      </p:sp>
      <p:sp>
        <p:nvSpPr>
          <p:cNvPr id="3" name="Content Placeholder 2"/>
          <p:cNvSpPr>
            <a:spLocks noGrp="1"/>
          </p:cNvSpPr>
          <p:nvPr>
            <p:ph idx="1"/>
          </p:nvPr>
        </p:nvSpPr>
        <p:spPr/>
        <p:txBody>
          <a:bodyPr/>
          <a:lstStyle/>
          <a:p>
            <a:r>
              <a:rPr lang="en-US" b="1" dirty="0" err="1" smtClean="0">
                <a:latin typeface="Courier New" pitchFamily="49" charset="0"/>
                <a:cs typeface="Courier New" pitchFamily="49" charset="0"/>
              </a:rPr>
              <a:t>gwpc</a:t>
            </a:r>
            <a:r>
              <a:rPr lang="en-US" b="1" dirty="0" smtClean="0">
                <a:latin typeface="Courier New" pitchFamily="49" charset="0"/>
                <a:cs typeface="Courier New" pitchFamily="49" charset="0"/>
              </a:rPr>
              <a:t> </a:t>
            </a:r>
            <a:r>
              <a:rPr lang="en-US" b="1" dirty="0" err="1" smtClean="0">
                <a:latin typeface="Courier New" pitchFamily="49" charset="0"/>
                <a:cs typeface="Courier New" pitchFamily="49" charset="0"/>
              </a:rPr>
              <a:t>dev</a:t>
            </a:r>
            <a:r>
              <a:rPr lang="en-US" b="1" dirty="0" smtClean="0">
                <a:latin typeface="Courier New" pitchFamily="49" charset="0"/>
                <a:cs typeface="Courier New" pitchFamily="49" charset="0"/>
              </a:rPr>
              <a:t>-start</a:t>
            </a:r>
          </a:p>
          <a:p>
            <a:r>
              <a:rPr lang="en-US" dirty="0" smtClean="0"/>
              <a:t>Starts PolicyCenter </a:t>
            </a:r>
          </a:p>
          <a:p>
            <a:r>
              <a:rPr lang="en-US" dirty="0" err="1" smtClean="0"/>
              <a:t>CCPolicySearchIntegration</a:t>
            </a:r>
            <a:r>
              <a:rPr lang="en-US" dirty="0" smtClean="0"/>
              <a:t> web service starts</a:t>
            </a:r>
          </a:p>
          <a:p>
            <a:endParaRPr lang="en-US" dirty="0"/>
          </a:p>
        </p:txBody>
      </p:sp>
      <p:sp>
        <p:nvSpPr>
          <p:cNvPr id="4" name="Rectangle 3"/>
          <p:cNvSpPr/>
          <p:nvPr/>
        </p:nvSpPr>
        <p:spPr bwMode="auto">
          <a:xfrm>
            <a:off x="533400" y="3276600"/>
            <a:ext cx="8229600" cy="3048000"/>
          </a:xfrm>
          <a:prstGeom prst="rect">
            <a:avLst/>
          </a:prstGeom>
          <a:solidFill>
            <a:schemeClr val="tx2">
              <a:lumMod val="75000"/>
            </a:schemeClr>
          </a:solidFill>
          <a:ln w="19050" algn="ctr">
            <a:solidFill>
              <a:schemeClr val="tx2">
                <a:lumMod val="75000"/>
              </a:schemeClr>
            </a:solidFill>
            <a:round/>
            <a:headEnd/>
            <a:tailEnd/>
          </a:ln>
        </p:spPr>
        <p:txBody>
          <a:bodyPr wrap="none" lIns="91440" tIns="91440" rIns="0" bIns="91440" rtlCol="0" anchor="t" anchorCtr="0">
            <a:noAutofit/>
          </a:bodyPr>
          <a:lstStyle/>
          <a:p>
            <a:pPr>
              <a:spcBef>
                <a:spcPct val="50000"/>
              </a:spcBef>
              <a:spcAft>
                <a:spcPct val="30000"/>
              </a:spcAft>
              <a:buClr>
                <a:schemeClr val="tx1"/>
              </a:buClr>
            </a:pPr>
            <a:r>
              <a:rPr lang="en-US" sz="1600">
                <a:solidFill>
                  <a:schemeClr val="bg1"/>
                </a:solidFill>
                <a:latin typeface="Lucida Console" pitchFamily="49" charset="0"/>
              </a:rPr>
              <a:t>C:\</a:t>
            </a:r>
            <a:r>
              <a:rPr lang="en-US" sz="1600" smtClean="0">
                <a:solidFill>
                  <a:schemeClr val="bg1"/>
                </a:solidFill>
                <a:latin typeface="Lucida Console" pitchFamily="49" charset="0"/>
              </a:rPr>
              <a:t>Guidewire\PolicyCenter\bin&gt;gwpc </a:t>
            </a:r>
            <a:r>
              <a:rPr lang="en-US" sz="1600">
                <a:solidFill>
                  <a:schemeClr val="bg1"/>
                </a:solidFill>
                <a:latin typeface="Lucida Console" pitchFamily="49" charset="0"/>
              </a:rPr>
              <a:t>dev-start</a:t>
            </a:r>
          </a:p>
          <a:p>
            <a:pPr>
              <a:spcBef>
                <a:spcPct val="50000"/>
              </a:spcBef>
              <a:spcAft>
                <a:spcPct val="30000"/>
              </a:spcAft>
              <a:buClr>
                <a:schemeClr val="tx1"/>
              </a:buClr>
            </a:pPr>
            <a:r>
              <a:rPr lang="en-US" sz="1600">
                <a:solidFill>
                  <a:schemeClr val="bg1"/>
                </a:solidFill>
                <a:latin typeface="Lucida Console" pitchFamily="49" charset="0"/>
              </a:rPr>
              <a:t>dev-start</a:t>
            </a:r>
            <a:r>
              <a:rPr lang="en-US" sz="1600" smtClean="0">
                <a:solidFill>
                  <a:schemeClr val="bg1"/>
                </a:solidFill>
                <a:latin typeface="Lucida Console" pitchFamily="49" charset="0"/>
              </a:rPr>
              <a:t>:</a:t>
            </a:r>
            <a:br>
              <a:rPr lang="en-US" sz="1600" smtClean="0">
                <a:solidFill>
                  <a:schemeClr val="bg1"/>
                </a:solidFill>
                <a:latin typeface="Lucida Console" pitchFamily="49" charset="0"/>
              </a:rPr>
            </a:br>
            <a:r>
              <a:rPr lang="en-US" sz="1600" smtClean="0">
                <a:solidFill>
                  <a:schemeClr val="bg1"/>
                </a:solidFill>
                <a:latin typeface="Lucida Console" pitchFamily="49" charset="0"/>
              </a:rPr>
              <a:t>====================================================</a:t>
            </a:r>
            <a:br>
              <a:rPr lang="en-US" sz="1600" smtClean="0">
                <a:solidFill>
                  <a:schemeClr val="bg1"/>
                </a:solidFill>
                <a:latin typeface="Lucida Console" pitchFamily="49" charset="0"/>
              </a:rPr>
            </a:br>
            <a:r>
              <a:rPr lang="en-US" sz="1600" smtClean="0">
                <a:solidFill>
                  <a:schemeClr val="bg1"/>
                </a:solidFill>
                <a:latin typeface="Lucida Console" pitchFamily="49" charset="0"/>
              </a:rPr>
              <a:t>= </a:t>
            </a:r>
            <a:r>
              <a:rPr lang="en-US" sz="1600">
                <a:solidFill>
                  <a:schemeClr val="bg1"/>
                </a:solidFill>
                <a:latin typeface="Lucida Console" pitchFamily="49" charset="0"/>
              </a:rPr>
              <a:t>Running main class: </a:t>
            </a:r>
            <a:r>
              <a:rPr lang="en-US" sz="1600" smtClean="0">
                <a:solidFill>
                  <a:schemeClr val="bg1"/>
                </a:solidFill>
                <a:latin typeface="Lucida Console" pitchFamily="49" charset="0"/>
              </a:rPr>
              <a:t/>
            </a:r>
            <a:br>
              <a:rPr lang="en-US" sz="1600" smtClean="0">
                <a:solidFill>
                  <a:schemeClr val="bg1"/>
                </a:solidFill>
                <a:latin typeface="Lucida Console" pitchFamily="49" charset="0"/>
              </a:rPr>
            </a:br>
            <a:r>
              <a:rPr lang="en-US" sz="1600" smtClean="0">
                <a:solidFill>
                  <a:schemeClr val="bg1"/>
                </a:solidFill>
                <a:latin typeface="Lucida Console" pitchFamily="49" charset="0"/>
              </a:rPr>
              <a:t> com.guidewire.commons.jetty.GWServerJettyServerMain</a:t>
            </a:r>
          </a:p>
          <a:p>
            <a:pPr>
              <a:spcBef>
                <a:spcPct val="50000"/>
              </a:spcBef>
              <a:spcAft>
                <a:spcPct val="30000"/>
              </a:spcAft>
              <a:buClr>
                <a:schemeClr val="tx1"/>
              </a:buClr>
            </a:pPr>
            <a:r>
              <a:rPr lang="en-US" sz="1600" smtClean="0">
                <a:solidFill>
                  <a:schemeClr val="bg1"/>
                </a:solidFill>
                <a:latin typeface="Lucida Console" pitchFamily="49" charset="0"/>
              </a:rPr>
              <a:t>…</a:t>
            </a:r>
          </a:p>
          <a:p>
            <a:pPr>
              <a:spcBef>
                <a:spcPct val="50000"/>
              </a:spcBef>
              <a:spcAft>
                <a:spcPct val="30000"/>
              </a:spcAft>
              <a:buClr>
                <a:schemeClr val="tx1"/>
              </a:buClr>
            </a:pPr>
            <a:r>
              <a:rPr lang="en-US" sz="1600" smtClean="0">
                <a:solidFill>
                  <a:schemeClr val="bg1"/>
                </a:solidFill>
                <a:latin typeface="Lucida Console" pitchFamily="49" charset="0"/>
              </a:rPr>
              <a:t>[JAVA] machine   2014-10-10  INFO </a:t>
            </a:r>
            <a:r>
              <a:rPr lang="en-US" sz="1600">
                <a:solidFill>
                  <a:schemeClr val="bg1"/>
                </a:solidFill>
                <a:latin typeface="Lucida Console" pitchFamily="49" charset="0"/>
              </a:rPr>
              <a:t>***** </a:t>
            </a:r>
            <a:r>
              <a:rPr lang="en-US" sz="1600" smtClean="0">
                <a:solidFill>
                  <a:schemeClr val="bg1"/>
                </a:solidFill>
                <a:latin typeface="Lucida Console" pitchFamily="49" charset="0"/>
              </a:rPr>
              <a:t>PolicyCenter </a:t>
            </a:r>
            <a:r>
              <a:rPr lang="en-US" sz="1600">
                <a:solidFill>
                  <a:schemeClr val="bg1"/>
                </a:solidFill>
                <a:latin typeface="Lucida Console" pitchFamily="49" charset="0"/>
              </a:rPr>
              <a:t>ready *****</a:t>
            </a:r>
          </a:p>
        </p:txBody>
      </p:sp>
      <p:sp>
        <p:nvSpPr>
          <p:cNvPr id="5"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dirty="0"/>
              <a:t>Step 1</a:t>
            </a:r>
          </a:p>
        </p:txBody>
      </p:sp>
      <p:pic>
        <p:nvPicPr>
          <p:cNvPr id="7" name="pic Logo PC" descr="PolicyCenter.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98738" y="133350"/>
            <a:ext cx="565862"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61443984"/>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Open IPolicySearchAdapter</a:t>
            </a:r>
            <a:endParaRPr lang="en-US"/>
          </a:p>
        </p:txBody>
      </p:sp>
      <p:sp>
        <p:nvSpPr>
          <p:cNvPr id="4" name="Content Placeholder 3"/>
          <p:cNvSpPr>
            <a:spLocks noGrp="1"/>
          </p:cNvSpPr>
          <p:nvPr>
            <p:ph sz="half" idx="2"/>
          </p:nvPr>
        </p:nvSpPr>
        <p:spPr>
          <a:xfrm>
            <a:off x="3886200" y="914401"/>
            <a:ext cx="4951413" cy="5475289"/>
          </a:xfrm>
        </p:spPr>
        <p:txBody>
          <a:bodyPr/>
          <a:lstStyle/>
          <a:p>
            <a:r>
              <a:rPr lang="en-US" dirty="0"/>
              <a:t>In Guidewire Studio for </a:t>
            </a:r>
            <a:r>
              <a:rPr lang="en-US" dirty="0" smtClean="0"/>
              <a:t>ClaimCenter</a:t>
            </a:r>
            <a:r>
              <a:rPr lang="en-US" dirty="0"/>
              <a:t>, open</a:t>
            </a:r>
            <a:br>
              <a:rPr lang="en-US" dirty="0"/>
            </a:br>
            <a:r>
              <a:rPr lang="en-US" dirty="0" err="1"/>
              <a:t>IPolicySearchAdapterPlugin.gwp</a:t>
            </a:r>
            <a:endParaRPr lang="en-US" dirty="0"/>
          </a:p>
          <a:p>
            <a:endParaRPr lang="en-US" dirty="0"/>
          </a:p>
        </p:txBody>
      </p:sp>
      <p:pic>
        <p:nvPicPr>
          <p:cNvPr id="20482" name="Picture 2" descr="C:\Users\sluersen\AppData\Local\Temp\SNAGHTMLaf013b.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398" y="3657600"/>
            <a:ext cx="7200000" cy="281000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1"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398" y="914400"/>
            <a:ext cx="2737159" cy="251085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7" name="Straight Arrow Connector 6"/>
          <p:cNvCxnSpPr/>
          <p:nvPr/>
        </p:nvCxnSpPr>
        <p:spPr bwMode="auto">
          <a:xfrm>
            <a:off x="1600200" y="3368108"/>
            <a:ext cx="0" cy="260917"/>
          </a:xfrm>
          <a:prstGeom prst="straightConnector1">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sp>
        <p:nvSpPr>
          <p:cNvPr id="8"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dirty="0"/>
              <a:t>Step </a:t>
            </a:r>
            <a:r>
              <a:rPr lang="en-US" dirty="0" smtClean="0"/>
              <a:t>2</a:t>
            </a:r>
            <a:endParaRPr lang="en-US" dirty="0"/>
          </a:p>
        </p:txBody>
      </p:sp>
      <p:pic>
        <p:nvPicPr>
          <p:cNvPr id="9" name="Picture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92388" y="130810"/>
            <a:ext cx="565862"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119984821"/>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sluersen\AppData\Local\Temp\SNAGHTMLaae0f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760" y="3657600"/>
            <a:ext cx="7200000" cy="281000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3" name="Picture 2" descr="C:\Users\sluersen\AppData\Local\Temp\SNAGHTML18a5307.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1550" y="2133600"/>
            <a:ext cx="4210050" cy="208597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smtClean="0"/>
              <a:t>Change the Gosu class</a:t>
            </a:r>
            <a:endParaRPr lang="en-US"/>
          </a:p>
        </p:txBody>
      </p:sp>
      <p:sp>
        <p:nvSpPr>
          <p:cNvPr id="3" name="Content Placeholder 2"/>
          <p:cNvSpPr>
            <a:spLocks noGrp="1"/>
          </p:cNvSpPr>
          <p:nvPr>
            <p:ph idx="1"/>
          </p:nvPr>
        </p:nvSpPr>
        <p:spPr/>
        <p:txBody>
          <a:bodyPr/>
          <a:lstStyle/>
          <a:p>
            <a:r>
              <a:rPr lang="en-US" dirty="0" smtClean="0"/>
              <a:t>In </a:t>
            </a:r>
            <a:r>
              <a:rPr lang="en-US" dirty="0"/>
              <a:t>Plugin Editor, </a:t>
            </a:r>
            <a:r>
              <a:rPr lang="en-US" dirty="0" smtClean="0"/>
              <a:t>change the Gosu class</a:t>
            </a:r>
          </a:p>
          <a:p>
            <a:pPr marL="857250" lvl="1" indent="-457200">
              <a:buFont typeface="+mj-lt"/>
              <a:buAutoNum type="arabicPeriod"/>
            </a:pPr>
            <a:r>
              <a:rPr lang="en-US" dirty="0" smtClean="0"/>
              <a:t>Click ellipse (…) </a:t>
            </a:r>
            <a:endParaRPr lang="en-US" dirty="0"/>
          </a:p>
          <a:p>
            <a:pPr marL="857250" lvl="1" indent="-457200">
              <a:buFont typeface="+mj-lt"/>
              <a:buAutoNum type="arabicPeriod"/>
            </a:pPr>
            <a:r>
              <a:rPr lang="en-US" dirty="0"/>
              <a:t>Search for </a:t>
            </a:r>
            <a:r>
              <a:rPr lang="en-US" dirty="0" err="1" smtClean="0"/>
              <a:t>PolicySearchPCPlugin</a:t>
            </a:r>
            <a:r>
              <a:rPr lang="en-US" dirty="0" smtClean="0"/>
              <a:t> (pc800</a:t>
            </a:r>
            <a:r>
              <a:rPr lang="en-US" dirty="0"/>
              <a:t>)</a:t>
            </a:r>
          </a:p>
          <a:p>
            <a:pPr marL="0" indent="0">
              <a:buNone/>
            </a:pPr>
            <a:endParaRPr lang="en-US" dirty="0"/>
          </a:p>
        </p:txBody>
      </p:sp>
      <p:sp>
        <p:nvSpPr>
          <p:cNvPr id="10" name="num3"/>
          <p:cNvSpPr/>
          <p:nvPr/>
        </p:nvSpPr>
        <p:spPr bwMode="auto">
          <a:xfrm>
            <a:off x="4724400" y="274320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smtClean="0">
                <a:solidFill>
                  <a:schemeClr val="accent1"/>
                </a:solidFill>
              </a:rPr>
              <a:t>2</a:t>
            </a:r>
            <a:endParaRPr lang="en-US"/>
          </a:p>
        </p:txBody>
      </p:sp>
      <p:sp>
        <p:nvSpPr>
          <p:cNvPr id="11" name="num1"/>
          <p:cNvSpPr/>
          <p:nvPr/>
        </p:nvSpPr>
        <p:spPr bwMode="auto">
          <a:xfrm>
            <a:off x="7503062" y="4345057"/>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smtClean="0">
                <a:solidFill>
                  <a:schemeClr val="accent1"/>
                </a:solidFill>
              </a:rPr>
              <a:t>1</a:t>
            </a:r>
            <a:endParaRPr lang="en-US"/>
          </a:p>
        </p:txBody>
      </p:sp>
      <p:sp>
        <p:nvSpPr>
          <p:cNvPr id="8"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a:t>Step </a:t>
            </a:r>
            <a:r>
              <a:rPr lang="en-US" smtClean="0"/>
              <a:t>3</a:t>
            </a:r>
            <a:endParaRPr lang="en-US"/>
          </a:p>
        </p:txBody>
      </p:sp>
      <p:pic>
        <p:nvPicPr>
          <p:cNvPr id="9" name="pic Logo CC"/>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92388" y="130810"/>
            <a:ext cx="565862"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800822091"/>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descr="C:\Users\sluersen\AppData\Local\Temp\SNAGHTMLb20d7b.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453" y="3657600"/>
            <a:ext cx="7200000" cy="281000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smtClean="0"/>
              <a:t>Edit the plugin configuration</a:t>
            </a:r>
            <a:endParaRPr lang="en-US"/>
          </a:p>
        </p:txBody>
      </p:sp>
      <p:sp>
        <p:nvSpPr>
          <p:cNvPr id="3" name="Content Placeholder 2"/>
          <p:cNvSpPr>
            <a:spLocks noGrp="1"/>
          </p:cNvSpPr>
          <p:nvPr>
            <p:ph sz="half" idx="2"/>
          </p:nvPr>
        </p:nvSpPr>
        <p:spPr>
          <a:xfrm>
            <a:off x="533400" y="914401"/>
            <a:ext cx="8534400" cy="5475289"/>
          </a:xfrm>
        </p:spPr>
        <p:txBody>
          <a:bodyPr/>
          <a:lstStyle/>
          <a:p>
            <a:pPr marL="457200" indent="-457200">
              <a:buFont typeface="+mj-lt"/>
              <a:buAutoNum type="arabicPeriod"/>
            </a:pPr>
            <a:r>
              <a:rPr lang="en-US" smtClean="0"/>
              <a:t>Enable, if disabled</a:t>
            </a:r>
          </a:p>
          <a:p>
            <a:pPr marL="457200" indent="-457200">
              <a:buFont typeface="+mj-lt"/>
              <a:buAutoNum type="arabicPeriod"/>
            </a:pPr>
            <a:r>
              <a:rPr lang="en-US" smtClean="0"/>
              <a:t>Add username and password parameters</a:t>
            </a:r>
          </a:p>
          <a:p>
            <a:endParaRPr lang="en-US"/>
          </a:p>
        </p:txBody>
      </p:sp>
      <p:pic>
        <p:nvPicPr>
          <p:cNvPr id="16" name="pic Logo CC"/>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92388" y="130810"/>
            <a:ext cx="565862" cy="548640"/>
          </a:xfrm>
          <a:prstGeom prst="rect">
            <a:avLst/>
          </a:prstGeom>
          <a:effectLst>
            <a:outerShdw blurRad="50800" dist="38100" dir="2700000" algn="tl" rotWithShape="0">
              <a:prstClr val="black">
                <a:alpha val="40000"/>
              </a:prstClr>
            </a:outerShdw>
          </a:effectLst>
        </p:spPr>
      </p:pic>
      <p:sp>
        <p:nvSpPr>
          <p:cNvPr id="10" name="num3"/>
          <p:cNvSpPr/>
          <p:nvPr/>
        </p:nvSpPr>
        <p:spPr bwMode="auto">
          <a:xfrm>
            <a:off x="4139340" y="573405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smtClean="0">
                <a:solidFill>
                  <a:schemeClr val="accent1"/>
                </a:solidFill>
              </a:rPr>
              <a:t>2</a:t>
            </a:r>
            <a:endParaRPr lang="en-US"/>
          </a:p>
        </p:txBody>
      </p:sp>
      <p:sp>
        <p:nvSpPr>
          <p:cNvPr id="7"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a:t>Step </a:t>
            </a:r>
            <a:r>
              <a:rPr lang="en-US" smtClean="0"/>
              <a:t>4</a:t>
            </a:r>
            <a:endParaRPr lang="en-US"/>
          </a:p>
        </p:txBody>
      </p:sp>
      <p:sp>
        <p:nvSpPr>
          <p:cNvPr id="15" name="num1"/>
          <p:cNvSpPr/>
          <p:nvPr/>
        </p:nvSpPr>
        <p:spPr bwMode="auto">
          <a:xfrm>
            <a:off x="4139340" y="518160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smtClean="0">
                <a:solidFill>
                  <a:schemeClr val="accent1"/>
                </a:solidFill>
              </a:rPr>
              <a:t>1</a:t>
            </a:r>
            <a:endParaRPr lang="en-US"/>
          </a:p>
        </p:txBody>
      </p:sp>
    </p:spTree>
    <p:extLst>
      <p:ext uri="{BB962C8B-B14F-4D97-AF65-F5344CB8AC3E}">
        <p14:creationId xmlns:p14="http://schemas.microsoft.com/office/powerpoint/2010/main" val="3200274445"/>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457200" indent="-457200"/>
            <a:r>
              <a:rPr lang="en-US" dirty="0"/>
              <a:t>Edit suite-config.xml</a:t>
            </a:r>
          </a:p>
        </p:txBody>
      </p:sp>
      <p:sp>
        <p:nvSpPr>
          <p:cNvPr id="15" name="Text Placeholder 14"/>
          <p:cNvSpPr>
            <a:spLocks noGrp="1"/>
          </p:cNvSpPr>
          <p:nvPr>
            <p:ph idx="1"/>
          </p:nvPr>
        </p:nvSpPr>
        <p:spPr/>
        <p:txBody>
          <a:bodyPr/>
          <a:lstStyle/>
          <a:p>
            <a:r>
              <a:rPr lang="en-US" smtClean="0"/>
              <a:t>Specify the URL for PolicyCenter in suite-config.xml</a:t>
            </a:r>
          </a:p>
          <a:p>
            <a:endParaRPr lang="en-US" smtClean="0"/>
          </a:p>
          <a:p>
            <a:endParaRPr lang="en-US"/>
          </a:p>
        </p:txBody>
      </p:sp>
      <p:sp>
        <p:nvSpPr>
          <p:cNvPr id="10"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a:t>Step </a:t>
            </a:r>
            <a:r>
              <a:rPr lang="en-US" smtClean="0"/>
              <a:t>5</a:t>
            </a:r>
            <a:endParaRPr lang="en-US"/>
          </a:p>
        </p:txBody>
      </p:sp>
      <p:pic>
        <p:nvPicPr>
          <p:cNvPr id="5122" name="Picture 2" descr="C:\Users\sluersen\AppData\Local\Temp\SNAGHTML73fa6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1526" y="1504750"/>
            <a:ext cx="7614287" cy="1871429"/>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0" name="Rounded Rectangle 19"/>
          <p:cNvSpPr/>
          <p:nvPr/>
        </p:nvSpPr>
        <p:spPr bwMode="auto">
          <a:xfrm>
            <a:off x="3434390" y="2357975"/>
            <a:ext cx="3373506" cy="277402"/>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11" name="pic Logo CC"/>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92388" y="130810"/>
            <a:ext cx="565862"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628860555"/>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Refresh web service collection WSDL</a:t>
            </a:r>
          </a:p>
        </p:txBody>
      </p:sp>
      <p:sp>
        <p:nvSpPr>
          <p:cNvPr id="3" name="Content Placeholder 2"/>
          <p:cNvSpPr>
            <a:spLocks noGrp="1"/>
          </p:cNvSpPr>
          <p:nvPr>
            <p:ph idx="1"/>
          </p:nvPr>
        </p:nvSpPr>
        <p:spPr/>
        <p:txBody>
          <a:bodyPr/>
          <a:lstStyle/>
          <a:p>
            <a:r>
              <a:rPr lang="en-US" dirty="0"/>
              <a:t>Open the </a:t>
            </a:r>
            <a:r>
              <a:rPr lang="en-US" dirty="0" smtClean="0"/>
              <a:t>pc800.wsc </a:t>
            </a:r>
            <a:r>
              <a:rPr lang="en-US" dirty="0"/>
              <a:t>collection in Studio</a:t>
            </a:r>
          </a:p>
          <a:p>
            <a:pPr lvl="1"/>
            <a:r>
              <a:rPr lang="en-US" b="1" dirty="0" smtClean="0">
                <a:latin typeface="Courier New" pitchFamily="49" charset="0"/>
                <a:cs typeface="Courier New" pitchFamily="49" charset="0"/>
              </a:rPr>
              <a:t>…\</a:t>
            </a:r>
            <a:r>
              <a:rPr lang="en-US" b="1" dirty="0" err="1" smtClean="0">
                <a:latin typeface="Courier New" pitchFamily="49" charset="0"/>
                <a:cs typeface="Courier New" pitchFamily="49" charset="0"/>
              </a:rPr>
              <a:t>gsrc</a:t>
            </a:r>
            <a:r>
              <a:rPr lang="en-US" b="1" dirty="0" smtClean="0">
                <a:latin typeface="Courier New" pitchFamily="49" charset="0"/>
                <a:cs typeface="Courier New" pitchFamily="49" charset="0"/>
              </a:rPr>
              <a:t>\</a:t>
            </a:r>
            <a:r>
              <a:rPr lang="en-US" b="1" dirty="0" err="1" smtClean="0">
                <a:latin typeface="Courier New" pitchFamily="49" charset="0"/>
                <a:cs typeface="Courier New" pitchFamily="49" charset="0"/>
              </a:rPr>
              <a:t>wsi</a:t>
            </a:r>
            <a:r>
              <a:rPr lang="en-US" b="1" dirty="0" smtClean="0">
                <a:latin typeface="Courier New" pitchFamily="49" charset="0"/>
                <a:cs typeface="Courier New" pitchFamily="49" charset="0"/>
              </a:rPr>
              <a:t>\remote\gw\</a:t>
            </a:r>
            <a:r>
              <a:rPr lang="en-US" b="1" dirty="0" err="1" smtClean="0">
                <a:latin typeface="Courier New" pitchFamily="49" charset="0"/>
                <a:cs typeface="Courier New" pitchFamily="49" charset="0"/>
              </a:rPr>
              <a:t>webservice</a:t>
            </a:r>
            <a:r>
              <a:rPr lang="en-US" b="1" dirty="0" smtClean="0">
                <a:latin typeface="Courier New" pitchFamily="49" charset="0"/>
                <a:cs typeface="Courier New" pitchFamily="49" charset="0"/>
              </a:rPr>
              <a:t>\pc\pc800.wsc</a:t>
            </a:r>
            <a:endParaRPr lang="en-US" b="1" dirty="0">
              <a:latin typeface="Courier New" pitchFamily="49" charset="0"/>
              <a:cs typeface="Courier New" pitchFamily="49" charset="0"/>
            </a:endParaRPr>
          </a:p>
          <a:p>
            <a:r>
              <a:rPr lang="en-US" dirty="0">
                <a:cs typeface="Courier New" pitchFamily="49" charset="0"/>
              </a:rPr>
              <a:t>To refresh the web service collection WSDL, click Fetch Updates</a:t>
            </a:r>
          </a:p>
        </p:txBody>
      </p:sp>
      <p:pic>
        <p:nvPicPr>
          <p:cNvPr id="4" name="pic PC800.wsc" descr="C:\Users\sluersen\AppData\Local\Temp\SNAGHTML1a3fba5.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667000"/>
            <a:ext cx="5552858" cy="3778572"/>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8" name="Straight Arrow Connector 7"/>
          <p:cNvCxnSpPr/>
          <p:nvPr/>
        </p:nvCxnSpPr>
        <p:spPr bwMode="auto">
          <a:xfrm flipH="1">
            <a:off x="4724399" y="4100812"/>
            <a:ext cx="247325" cy="0"/>
          </a:xfrm>
          <a:prstGeom prst="straightConnector1">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sp>
        <p:nvSpPr>
          <p:cNvPr id="10"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dirty="0"/>
              <a:t>Step </a:t>
            </a:r>
            <a:r>
              <a:rPr lang="en-US" dirty="0" smtClean="0"/>
              <a:t>6</a:t>
            </a:r>
            <a:endParaRPr lang="en-US" dirty="0"/>
          </a:p>
        </p:txBody>
      </p:sp>
      <p:pic>
        <p:nvPicPr>
          <p:cNvPr id="9" name="pic Logo CC"/>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92388" y="130810"/>
            <a:ext cx="565862"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548747775"/>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[Optional] Update class and mapping files</a:t>
            </a:r>
            <a:endParaRPr lang="en-US"/>
          </a:p>
        </p:txBody>
      </p:sp>
      <p:sp>
        <p:nvSpPr>
          <p:cNvPr id="3" name="Content Placeholder 2"/>
          <p:cNvSpPr>
            <a:spLocks noGrp="1"/>
          </p:cNvSpPr>
          <p:nvPr>
            <p:ph idx="1"/>
          </p:nvPr>
        </p:nvSpPr>
        <p:spPr/>
        <p:txBody>
          <a:bodyPr/>
          <a:lstStyle/>
          <a:p>
            <a:r>
              <a:rPr lang="en-US" smtClean="0"/>
              <a:t>In PolicyCenter, modify </a:t>
            </a:r>
            <a:r>
              <a:rPr lang="en-US" b="1" smtClean="0">
                <a:latin typeface="Courier New" pitchFamily="49" charset="0"/>
                <a:cs typeface="Courier New" pitchFamily="49" charset="0"/>
              </a:rPr>
              <a:t>CCPolicyGenerator.cs</a:t>
            </a:r>
            <a:r>
              <a:rPr lang="en-US" smtClean="0"/>
              <a:t> </a:t>
            </a:r>
          </a:p>
          <a:p>
            <a:r>
              <a:rPr lang="en-US" smtClean="0"/>
              <a:t>In ClaimCenter, modify </a:t>
            </a:r>
            <a:r>
              <a:rPr lang="en-US" b="1" smtClean="0">
                <a:latin typeface="Courier New" pitchFamily="49" charset="0"/>
                <a:cs typeface="Courier New" pitchFamily="49" charset="0"/>
              </a:rPr>
              <a:t>pc-to-cc-data-mapping.xml</a:t>
            </a:r>
            <a:r>
              <a:rPr lang="en-US" smtClean="0"/>
              <a:t> </a:t>
            </a:r>
            <a:endParaRPr lang="en-US" b="1">
              <a:latin typeface="Courier New" pitchFamily="49" charset="0"/>
              <a:cs typeface="Courier New" pitchFamily="49" charset="0"/>
            </a:endParaRPr>
          </a:p>
          <a:p>
            <a:endParaRPr lang="en-US"/>
          </a:p>
        </p:txBody>
      </p:sp>
      <p:pic>
        <p:nvPicPr>
          <p:cNvPr id="1030" name="Picture 6" descr="C:\Users\sluersen\AppData\Local\Temp\SNAGHTML1807fe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875" y="1981619"/>
            <a:ext cx="7047620" cy="3352381"/>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28" name="Picture 4" descr="C:\Users\sluersen\AppData\Local\Temp\SNAGHTML17cb725.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2744" y="4753190"/>
            <a:ext cx="6380953" cy="172381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6" name="Picture 5" descr="PolicyCenter.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140931" y="1856405"/>
            <a:ext cx="565862" cy="548640"/>
          </a:xfrm>
          <a:prstGeom prst="rect">
            <a:avLst/>
          </a:prstGeom>
          <a:effectLst>
            <a:outerShdw blurRad="50800" dist="38100" dir="2700000" algn="tl" rotWithShape="0">
              <a:prstClr val="black">
                <a:alpha val="40000"/>
              </a:prstClr>
            </a:outerShdw>
          </a:effectLst>
        </p:spPr>
      </p:pic>
      <p:pic>
        <p:nvPicPr>
          <p:cNvPr id="7" name="Picture 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425738" y="4573394"/>
            <a:ext cx="565862" cy="548640"/>
          </a:xfrm>
          <a:prstGeom prst="rect">
            <a:avLst/>
          </a:prstGeom>
          <a:effectLst>
            <a:outerShdw blurRad="50800" dist="38100" dir="2700000" algn="tl" rotWithShape="0">
              <a:prstClr val="black">
                <a:alpha val="40000"/>
              </a:prstClr>
            </a:outerShdw>
          </a:effectLst>
        </p:spPr>
      </p:pic>
      <p:sp>
        <p:nvSpPr>
          <p:cNvPr id="8"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a:t>Step </a:t>
            </a:r>
            <a:r>
              <a:rPr lang="en-US" smtClean="0"/>
              <a:t>7</a:t>
            </a:r>
            <a:endParaRPr lang="en-US"/>
          </a:p>
        </p:txBody>
      </p:sp>
    </p:spTree>
    <p:extLst>
      <p:ext uri="{BB962C8B-B14F-4D97-AF65-F5344CB8AC3E}">
        <p14:creationId xmlns:p14="http://schemas.microsoft.com/office/powerpoint/2010/main" val="1098805782"/>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Deploy your changes</a:t>
            </a:r>
            <a:endParaRPr lang="en-US"/>
          </a:p>
        </p:txBody>
      </p:sp>
      <p:sp>
        <p:nvSpPr>
          <p:cNvPr id="21" name="Subtitle 20"/>
          <p:cNvSpPr>
            <a:spLocks noGrp="1"/>
          </p:cNvSpPr>
          <p:nvPr>
            <p:ph type="subTitle" idx="10"/>
          </p:nvPr>
        </p:nvSpPr>
        <p:spPr/>
        <p:txBody>
          <a:bodyPr/>
          <a:lstStyle/>
          <a:p>
            <a:r>
              <a:rPr lang="en-US" smtClean="0"/>
              <a:t>Restart Server</a:t>
            </a:r>
          </a:p>
          <a:p>
            <a:endParaRPr lang="en-US"/>
          </a:p>
        </p:txBody>
      </p:sp>
      <p:sp>
        <p:nvSpPr>
          <p:cNvPr id="28" name="Text Placeholder 27"/>
          <p:cNvSpPr>
            <a:spLocks noGrp="1"/>
          </p:cNvSpPr>
          <p:nvPr>
            <p:ph type="body" sz="quarter" idx="11"/>
          </p:nvPr>
        </p:nvSpPr>
        <p:spPr/>
        <p:txBody>
          <a:bodyPr/>
          <a:lstStyle/>
          <a:p>
            <a:r>
              <a:rPr lang="en-US"/>
              <a:t>Reload Changed Classes</a:t>
            </a:r>
          </a:p>
          <a:p>
            <a:endParaRPr lang="en-US"/>
          </a:p>
        </p:txBody>
      </p:sp>
      <p:sp>
        <p:nvSpPr>
          <p:cNvPr id="27" name="Content Placeholder 26"/>
          <p:cNvSpPr>
            <a:spLocks noGrp="1"/>
          </p:cNvSpPr>
          <p:nvPr>
            <p:ph sz="half" idx="2"/>
          </p:nvPr>
        </p:nvSpPr>
        <p:spPr/>
        <p:txBody>
          <a:bodyPr/>
          <a:lstStyle/>
          <a:p>
            <a:r>
              <a:rPr lang="en-US"/>
              <a:t>Class and mapping files</a:t>
            </a:r>
          </a:p>
          <a:p>
            <a:endParaRPr lang="en-US"/>
          </a:p>
        </p:txBody>
      </p:sp>
      <p:sp>
        <p:nvSpPr>
          <p:cNvPr id="19" name="Content Placeholder 18"/>
          <p:cNvSpPr>
            <a:spLocks noGrp="1"/>
          </p:cNvSpPr>
          <p:nvPr>
            <p:ph sz="half" idx="1"/>
          </p:nvPr>
        </p:nvSpPr>
        <p:spPr/>
        <p:txBody>
          <a:bodyPr/>
          <a:lstStyle/>
          <a:p>
            <a:r>
              <a:rPr lang="en-US" dirty="0" smtClean="0"/>
              <a:t>Plugin registry elements</a:t>
            </a:r>
          </a:p>
          <a:p>
            <a:r>
              <a:rPr lang="en-US" dirty="0"/>
              <a:t>Always required for</a:t>
            </a:r>
            <a:br>
              <a:rPr lang="en-US" dirty="0"/>
            </a:br>
            <a:r>
              <a:rPr lang="en-US" dirty="0"/>
              <a:t>cross-point integration</a:t>
            </a:r>
          </a:p>
          <a:p>
            <a:endParaRPr lang="en-US" dirty="0" smtClean="0"/>
          </a:p>
          <a:p>
            <a:endParaRPr lang="en-US" dirty="0"/>
          </a:p>
        </p:txBody>
      </p:sp>
      <p:sp>
        <p:nvSpPr>
          <p:cNvPr id="4"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a:t>Step </a:t>
            </a:r>
            <a:r>
              <a:rPr lang="en-US" smtClean="0"/>
              <a:t>8</a:t>
            </a:r>
            <a:endParaRPr lang="en-US"/>
          </a:p>
        </p:txBody>
      </p:sp>
      <p:sp>
        <p:nvSpPr>
          <p:cNvPr id="29" name="Rounded Rectangle 28"/>
          <p:cNvSpPr/>
          <p:nvPr/>
        </p:nvSpPr>
        <p:spPr bwMode="auto">
          <a:xfrm>
            <a:off x="4800600" y="3581400"/>
            <a:ext cx="3810000" cy="2743200"/>
          </a:xfrm>
          <a:prstGeom prst="roundRect">
            <a:avLst>
              <a:gd name="adj" fmla="val 8642"/>
            </a:avLst>
          </a:prstGeom>
          <a:ln w="28575">
            <a:solidFill>
              <a:schemeClr val="accent6"/>
            </a:solidFill>
            <a:headEnd/>
            <a:tailEnd/>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30" name="Rounded Rectangle 29"/>
          <p:cNvSpPr/>
          <p:nvPr/>
        </p:nvSpPr>
        <p:spPr bwMode="auto">
          <a:xfrm>
            <a:off x="562028" y="3581400"/>
            <a:ext cx="3628972" cy="2743200"/>
          </a:xfrm>
          <a:prstGeom prst="roundRect">
            <a:avLst>
              <a:gd name="adj" fmla="val 8642"/>
            </a:avLst>
          </a:prstGeom>
          <a:ln w="28575">
            <a:headEnd/>
            <a:tailEnd/>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31" name="Rectangle 30"/>
          <p:cNvSpPr/>
          <p:nvPr/>
        </p:nvSpPr>
        <p:spPr>
          <a:xfrm>
            <a:off x="4800600" y="5334000"/>
            <a:ext cx="1667765" cy="584775"/>
          </a:xfrm>
          <a:prstGeom prst="rect">
            <a:avLst/>
          </a:prstGeom>
        </p:spPr>
        <p:txBody>
          <a:bodyPr wrap="square">
            <a:spAutoFit/>
          </a:bodyPr>
          <a:lstStyle/>
          <a:p>
            <a:pPr algn="ctr"/>
            <a:r>
              <a:rPr lang="en-US" sz="1600" b="1" smtClean="0">
                <a:solidFill>
                  <a:schemeClr val="bg1"/>
                </a:solidFill>
              </a:rPr>
              <a:t>Gosu</a:t>
            </a:r>
            <a:br>
              <a:rPr lang="en-US" sz="1600" b="1" smtClean="0">
                <a:solidFill>
                  <a:schemeClr val="bg1"/>
                </a:solidFill>
              </a:rPr>
            </a:br>
            <a:r>
              <a:rPr lang="en-US" sz="1600" b="1" smtClean="0">
                <a:solidFill>
                  <a:schemeClr val="bg1"/>
                </a:solidFill>
              </a:rPr>
              <a:t> Class</a:t>
            </a:r>
            <a:endParaRPr lang="en-US" sz="1600" b="1">
              <a:solidFill>
                <a:schemeClr val="bg1"/>
              </a:solidFill>
            </a:endParaRPr>
          </a:p>
        </p:txBody>
      </p:sp>
      <p:pic>
        <p:nvPicPr>
          <p:cNvPr id="3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5786" y="3800062"/>
            <a:ext cx="1443614" cy="166289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8" name="Rectangle 37"/>
          <p:cNvSpPr/>
          <p:nvPr/>
        </p:nvSpPr>
        <p:spPr>
          <a:xfrm>
            <a:off x="685800" y="5334000"/>
            <a:ext cx="1400976" cy="584775"/>
          </a:xfrm>
          <a:prstGeom prst="rect">
            <a:avLst/>
          </a:prstGeom>
        </p:spPr>
        <p:txBody>
          <a:bodyPr wrap="square">
            <a:spAutoFit/>
          </a:bodyPr>
          <a:lstStyle/>
          <a:p>
            <a:pPr algn="ctr"/>
            <a:r>
              <a:rPr lang="en-US" sz="1600" b="1" smtClean="0">
                <a:solidFill>
                  <a:schemeClr val="bg1"/>
                </a:solidFill>
              </a:rPr>
              <a:t>Plugin </a:t>
            </a:r>
            <a:br>
              <a:rPr lang="en-US" sz="1600" b="1" smtClean="0">
                <a:solidFill>
                  <a:schemeClr val="bg1"/>
                </a:solidFill>
              </a:rPr>
            </a:br>
            <a:r>
              <a:rPr lang="en-US" sz="1600" b="1" smtClean="0">
                <a:solidFill>
                  <a:schemeClr val="bg1"/>
                </a:solidFill>
              </a:rPr>
              <a:t>Registry</a:t>
            </a:r>
            <a:endParaRPr lang="en-US" sz="1600" b="1">
              <a:solidFill>
                <a:schemeClr val="bg1"/>
              </a:solidFill>
            </a:endParaRPr>
          </a:p>
        </p:txBody>
      </p:sp>
      <p:grpSp>
        <p:nvGrpSpPr>
          <p:cNvPr id="39" name="icon GWP file"/>
          <p:cNvGrpSpPr>
            <a:grpSpLocks noChangeAspect="1"/>
          </p:cNvGrpSpPr>
          <p:nvPr/>
        </p:nvGrpSpPr>
        <p:grpSpPr>
          <a:xfrm>
            <a:off x="914400" y="3809234"/>
            <a:ext cx="1204992" cy="1344023"/>
            <a:chOff x="4558702" y="2146900"/>
            <a:chExt cx="1246792" cy="1390650"/>
          </a:xfrm>
        </p:grpSpPr>
        <p:pic>
          <p:nvPicPr>
            <p:cNvPr id="4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9616" y="2146900"/>
              <a:ext cx="1058863" cy="1390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41" name="icon Plugin"/>
            <p:cNvGrpSpPr>
              <a:grpSpLocks/>
            </p:cNvGrpSpPr>
            <p:nvPr/>
          </p:nvGrpSpPr>
          <p:grpSpPr bwMode="auto">
            <a:xfrm>
              <a:off x="4592771" y="2308825"/>
              <a:ext cx="542255" cy="639158"/>
              <a:chOff x="4500" y="2762"/>
              <a:chExt cx="247" cy="291"/>
            </a:xfrm>
            <a:effectLst>
              <a:outerShdw blurRad="50800" dist="38100" dir="2700000" algn="tl" rotWithShape="0">
                <a:prstClr val="black">
                  <a:alpha val="40000"/>
                </a:prstClr>
              </a:outerShdw>
            </a:effectLst>
          </p:grpSpPr>
          <p:sp>
            <p:nvSpPr>
              <p:cNvPr id="43"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44"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45"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46"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sp>
          <p:nvSpPr>
            <p:cNvPr id="42" name="TextBox 41"/>
            <p:cNvSpPr txBox="1"/>
            <p:nvPr/>
          </p:nvSpPr>
          <p:spPr>
            <a:xfrm>
              <a:off x="4558702" y="2936002"/>
              <a:ext cx="1246792" cy="485656"/>
            </a:xfrm>
            <a:prstGeom prst="rect">
              <a:avLst/>
            </a:prstGeom>
            <a:noFill/>
          </p:spPr>
          <p:txBody>
            <a:bodyPr wrap="square" rtlCol="0">
              <a:noAutofit/>
            </a:bodyPr>
            <a:lstStyle/>
            <a:p>
              <a:pPr algn="ctr"/>
              <a:r>
                <a:rPr lang="en-US" sz="2400" b="1" smtClean="0">
                  <a:solidFill>
                    <a:schemeClr val="bg2"/>
                  </a:solidFill>
                  <a:latin typeface="Arial" pitchFamily="32" charset="0"/>
                  <a:cs typeface="Arial" pitchFamily="32" charset="0"/>
                </a:rPr>
                <a:t>GWP</a:t>
              </a:r>
            </a:p>
          </p:txBody>
        </p:sp>
      </p:grpSp>
      <p:pic>
        <p:nvPicPr>
          <p:cNvPr id="22" name="pic Logo CC"/>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92388" y="130810"/>
            <a:ext cx="565862"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855001301"/>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Overview of </a:t>
            </a:r>
            <a:r>
              <a:rPr lang="en-US" dirty="0" smtClean="0"/>
              <a:t>PC/CC </a:t>
            </a:r>
            <a:r>
              <a:rPr lang="en-US" dirty="0"/>
              <a:t>integration</a:t>
            </a:r>
          </a:p>
          <a:p>
            <a:r>
              <a:rPr lang="en-US" dirty="0"/>
              <a:t>Policy search and retrieval</a:t>
            </a:r>
          </a:p>
          <a:p>
            <a:r>
              <a:rPr lang="en-US" dirty="0">
                <a:solidFill>
                  <a:schemeClr val="bg1"/>
                </a:solidFill>
              </a:rPr>
              <a:t>Large loss notification</a:t>
            </a:r>
          </a:p>
          <a:p>
            <a:r>
              <a:rPr lang="en-US" dirty="0"/>
              <a:t>Risk </a:t>
            </a:r>
            <a:r>
              <a:rPr lang="en-US" dirty="0" smtClean="0"/>
              <a:t>analysis</a:t>
            </a:r>
            <a:endParaRPr lang="en-US" dirty="0"/>
          </a:p>
        </p:txBody>
      </p:sp>
    </p:spTree>
    <p:extLst>
      <p:ext uri="{BB962C8B-B14F-4D97-AF65-F5344CB8AC3E}">
        <p14:creationId xmlns:p14="http://schemas.microsoft.com/office/powerpoint/2010/main" val="3611693566"/>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10000"/>
                    </a14:imgEffect>
                    <a14:imgEffect>
                      <a14:brightnessContrast bright="-10000" contrast="15000"/>
                    </a14:imgEffect>
                  </a14:imgLayer>
                </a14:imgProps>
              </a:ext>
              <a:ext uri="{28A0092B-C50C-407E-A947-70E740481C1C}">
                <a14:useLocalDpi xmlns:a14="http://schemas.microsoft.com/office/drawing/2010/main" val="0"/>
              </a:ext>
            </a:extLst>
          </a:blip>
          <a:srcRect/>
          <a:stretch>
            <a:fillRect/>
          </a:stretch>
        </p:blipFill>
        <p:spPr bwMode="auto">
          <a:xfrm>
            <a:off x="171450" y="1057275"/>
            <a:ext cx="7065963" cy="4581525"/>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scene3d>
            <a:camera prst="perspectiveContrastingRightFacing"/>
            <a:lightRig rig="threePt" dir="t"/>
          </a:scene3d>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p:txBody>
          <a:bodyPr/>
          <a:lstStyle/>
          <a:p>
            <a:r>
              <a:rPr lang="en-US" smtClean="0"/>
              <a:t>Large loss notification</a:t>
            </a:r>
            <a:endParaRPr lang="en-US"/>
          </a:p>
        </p:txBody>
      </p:sp>
      <p:sp>
        <p:nvSpPr>
          <p:cNvPr id="4" name="Content Placeholder 3"/>
          <p:cNvSpPr>
            <a:spLocks noGrp="1"/>
          </p:cNvSpPr>
          <p:nvPr>
            <p:ph sz="half" idx="2"/>
          </p:nvPr>
        </p:nvSpPr>
        <p:spPr/>
        <p:txBody>
          <a:bodyPr/>
          <a:lstStyle/>
          <a:p>
            <a:r>
              <a:rPr lang="en-US" dirty="0" smtClean="0"/>
              <a:t>When the gross </a:t>
            </a:r>
            <a:r>
              <a:rPr lang="en-US" dirty="0"/>
              <a:t>total incurred for a claim reaches </a:t>
            </a:r>
            <a:r>
              <a:rPr lang="en-US" dirty="0" smtClean="0"/>
              <a:t>a predefined amount, </a:t>
            </a:r>
            <a:r>
              <a:rPr lang="en-US" dirty="0"/>
              <a:t>ClaimCenter sends </a:t>
            </a:r>
            <a:r>
              <a:rPr lang="en-US" dirty="0" smtClean="0"/>
              <a:t>a notification </a:t>
            </a:r>
            <a:r>
              <a:rPr lang="en-US" dirty="0"/>
              <a:t>to </a:t>
            </a:r>
            <a:r>
              <a:rPr lang="en-US" dirty="0" smtClean="0"/>
              <a:t>PolicyCenter</a:t>
            </a:r>
          </a:p>
          <a:p>
            <a:r>
              <a:rPr lang="en-US" dirty="0"/>
              <a:t>Large loss threshold amount varies with </a:t>
            </a:r>
            <a:r>
              <a:rPr lang="en-US" dirty="0" smtClean="0"/>
              <a:t/>
            </a:r>
            <a:br>
              <a:rPr lang="en-US" dirty="0" smtClean="0"/>
            </a:br>
            <a:r>
              <a:rPr lang="en-US" dirty="0" smtClean="0"/>
              <a:t>line of business</a:t>
            </a:r>
            <a:endParaRPr lang="en-US" dirty="0"/>
          </a:p>
        </p:txBody>
      </p:sp>
      <p:sp>
        <p:nvSpPr>
          <p:cNvPr id="5" name="Rounded Rectangle 4"/>
          <p:cNvSpPr/>
          <p:nvPr/>
        </p:nvSpPr>
        <p:spPr bwMode="auto">
          <a:xfrm rot="120000">
            <a:off x="2432240" y="2481873"/>
            <a:ext cx="2506419" cy="865566"/>
          </a:xfrm>
          <a:prstGeom prst="roundRect">
            <a:avLst/>
          </a:prstGeom>
          <a:noFill/>
          <a:ln w="28575" algn="ctr">
            <a:solidFill>
              <a:srgbClr val="C00000"/>
            </a:solidFill>
            <a:round/>
            <a:headEnd/>
            <a:tailEnd/>
          </a:ln>
          <a:effectLst>
            <a:outerShdw blurRad="50800" dist="38100" dir="2700000" algn="tl" rotWithShape="0">
              <a:prstClr val="black">
                <a:alpha val="40000"/>
              </a:prstClr>
            </a:outerShdw>
          </a:effectLst>
          <a:scene3d>
            <a:camera prst="perspectiveContrastingRightFacing"/>
            <a:lightRig rig="threePt" dir="t"/>
          </a:scene3d>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7" name="Picture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34000" y="1051560"/>
            <a:ext cx="565862"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222470242"/>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Large loss notification actions</a:t>
            </a:r>
          </a:p>
        </p:txBody>
      </p:sp>
      <p:sp>
        <p:nvSpPr>
          <p:cNvPr id="8" name="Subtitle 7"/>
          <p:cNvSpPr>
            <a:spLocks noGrp="1"/>
          </p:cNvSpPr>
          <p:nvPr>
            <p:ph type="subTitle" idx="10"/>
          </p:nvPr>
        </p:nvSpPr>
        <p:spPr/>
        <p:txBody>
          <a:bodyPr/>
          <a:lstStyle/>
          <a:p>
            <a:r>
              <a:rPr lang="en-US" smtClean="0"/>
              <a:t>        ClaimCenter</a:t>
            </a:r>
            <a:endParaRPr lang="en-US"/>
          </a:p>
        </p:txBody>
      </p:sp>
      <p:sp>
        <p:nvSpPr>
          <p:cNvPr id="9" name="Text Placeholder 8"/>
          <p:cNvSpPr>
            <a:spLocks noGrp="1"/>
          </p:cNvSpPr>
          <p:nvPr>
            <p:ph type="body" sz="quarter" idx="11"/>
          </p:nvPr>
        </p:nvSpPr>
        <p:spPr/>
        <p:txBody>
          <a:bodyPr/>
          <a:lstStyle/>
          <a:p>
            <a:r>
              <a:rPr lang="en-US" smtClean="0"/>
              <a:t>        PolicyCenter</a:t>
            </a:r>
            <a:endParaRPr lang="en-US"/>
          </a:p>
        </p:txBody>
      </p:sp>
      <p:sp>
        <p:nvSpPr>
          <p:cNvPr id="7" name="Content Placeholder 6"/>
          <p:cNvSpPr>
            <a:spLocks noGrp="1"/>
          </p:cNvSpPr>
          <p:nvPr>
            <p:ph sz="half" idx="2"/>
          </p:nvPr>
        </p:nvSpPr>
        <p:spPr/>
        <p:txBody>
          <a:bodyPr/>
          <a:lstStyle/>
          <a:p>
            <a:r>
              <a:rPr lang="en-US" dirty="0"/>
              <a:t>Finds the policy</a:t>
            </a:r>
          </a:p>
          <a:p>
            <a:r>
              <a:rPr lang="en-US" dirty="0"/>
              <a:t>Adds a large loss UW referral reason to the </a:t>
            </a:r>
            <a:r>
              <a:rPr lang="en-US" dirty="0" smtClean="0"/>
              <a:t/>
            </a:r>
            <a:br>
              <a:rPr lang="en-US" dirty="0" smtClean="0"/>
            </a:br>
            <a:r>
              <a:rPr lang="en-US" dirty="0" smtClean="0"/>
              <a:t>Policy </a:t>
            </a:r>
            <a:r>
              <a:rPr lang="en-US" dirty="0"/>
              <a:t>file</a:t>
            </a:r>
          </a:p>
          <a:p>
            <a:pPr lvl="1"/>
            <a:r>
              <a:rPr lang="en-US" dirty="0"/>
              <a:t>When  certain policy jobs (renewal, rewrite, policy change) are initiated, UW referral reason is translated into new UW issue</a:t>
            </a:r>
          </a:p>
          <a:p>
            <a:r>
              <a:rPr lang="en-US" dirty="0"/>
              <a:t>Adds an activity on the policy's account to examine large loss</a:t>
            </a:r>
          </a:p>
          <a:p>
            <a:endParaRPr lang="en-US" dirty="0"/>
          </a:p>
        </p:txBody>
      </p:sp>
      <p:sp>
        <p:nvSpPr>
          <p:cNvPr id="5" name="Content Placeholder 4"/>
          <p:cNvSpPr>
            <a:spLocks noGrp="1"/>
          </p:cNvSpPr>
          <p:nvPr>
            <p:ph sz="half" idx="1"/>
          </p:nvPr>
        </p:nvSpPr>
        <p:spPr/>
        <p:txBody>
          <a:bodyPr/>
          <a:lstStyle/>
          <a:p>
            <a:r>
              <a:rPr lang="en-US" smtClean="0"/>
              <a:t>Policy type </a:t>
            </a:r>
            <a:br>
              <a:rPr lang="en-US" smtClean="0"/>
            </a:br>
            <a:r>
              <a:rPr lang="en-US" smtClean="0"/>
              <a:t>defines </a:t>
            </a:r>
            <a:br>
              <a:rPr lang="en-US" smtClean="0"/>
            </a:br>
            <a:r>
              <a:rPr lang="en-US" smtClean="0"/>
              <a:t>critical </a:t>
            </a:r>
            <a:br>
              <a:rPr lang="en-US" smtClean="0"/>
            </a:br>
            <a:r>
              <a:rPr lang="en-US" smtClean="0"/>
              <a:t>threshold</a:t>
            </a:r>
          </a:p>
          <a:p>
            <a:endParaRPr lang="en-US"/>
          </a:p>
          <a:p>
            <a:endParaRPr lang="en-US" smtClean="0"/>
          </a:p>
          <a:p>
            <a:pPr marL="0" indent="0">
              <a:buNone/>
            </a:pPr>
            <a:r>
              <a:rPr lang="en-US" smtClean="0"/>
              <a:t/>
            </a:r>
            <a:br>
              <a:rPr lang="en-US" smtClean="0"/>
            </a:br>
            <a:endParaRPr lang="en-US"/>
          </a:p>
          <a:p>
            <a:r>
              <a:rPr lang="en-US"/>
              <a:t>Notifies PolicyCenter </a:t>
            </a:r>
            <a:br>
              <a:rPr lang="en-US"/>
            </a:br>
            <a:r>
              <a:rPr lang="en-US"/>
              <a:t>when a claim reaches</a:t>
            </a:r>
            <a:br>
              <a:rPr lang="en-US"/>
            </a:br>
            <a:r>
              <a:rPr lang="en-US"/>
              <a:t>the critical threshold</a:t>
            </a:r>
          </a:p>
          <a:p>
            <a:endParaRPr lang="en-US"/>
          </a:p>
          <a:p>
            <a:pPr marL="0" indent="0">
              <a:buNone/>
            </a:pPr>
            <a:endParaRPr lang="en-US"/>
          </a:p>
          <a:p>
            <a:endParaRPr lang="en-US"/>
          </a:p>
        </p:txBody>
      </p:sp>
      <p:pic>
        <p:nvPicPr>
          <p:cNvPr id="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7165"/>
          <a:stretch/>
        </p:blipFill>
        <p:spPr bwMode="auto">
          <a:xfrm>
            <a:off x="2524125" y="1828800"/>
            <a:ext cx="1762125" cy="2962275"/>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10" name="logo CC"/>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0938" y="883920"/>
            <a:ext cx="565862" cy="548640"/>
          </a:xfrm>
          <a:prstGeom prst="rect">
            <a:avLst/>
          </a:prstGeom>
          <a:effectLst>
            <a:outerShdw blurRad="50800" dist="38100" dir="2700000" algn="tl" rotWithShape="0">
              <a:prstClr val="black">
                <a:alpha val="40000"/>
              </a:prstClr>
            </a:outerShdw>
          </a:effectLst>
        </p:spPr>
      </p:pic>
      <p:pic>
        <p:nvPicPr>
          <p:cNvPr id="11" name="logo PC 2" descr="PolicyCenter.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91938" y="895350"/>
            <a:ext cx="565862"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388181685"/>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hid Rec 1"/>
          <p:cNvSpPr/>
          <p:nvPr/>
        </p:nvSpPr>
        <p:spPr bwMode="auto">
          <a:xfrm>
            <a:off x="695325" y="5939790"/>
            <a:ext cx="381000" cy="247650"/>
          </a:xfrm>
          <a:prstGeom prst="roundRect">
            <a:avLst/>
          </a:prstGeom>
          <a:solidFill>
            <a:schemeClr val="tx1"/>
          </a:solidFill>
          <a:ln w="19050" algn="ctr">
            <a:solidFill>
              <a:schemeClr val="tx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4" name="Text Placeholder 23" hidden="1"/>
          <p:cNvSpPr>
            <a:spLocks noGrp="1"/>
          </p:cNvSpPr>
          <p:nvPr>
            <p:ph type="body" sz="quarter" idx="10"/>
          </p:nvPr>
        </p:nvSpPr>
        <p:spPr/>
        <p:txBody>
          <a:bodyPr/>
          <a:lstStyle/>
          <a:p>
            <a:endParaRPr lang="en-US"/>
          </a:p>
        </p:txBody>
      </p:sp>
      <p:sp>
        <p:nvSpPr>
          <p:cNvPr id="10" name="Content Placeholder 9" hidden="1"/>
          <p:cNvSpPr>
            <a:spLocks noGrp="1"/>
          </p:cNvSpPr>
          <p:nvPr>
            <p:ph idx="1"/>
          </p:nvPr>
        </p:nvSpPr>
        <p:spPr/>
        <p:txBody>
          <a:bodyPr/>
          <a:lstStyle/>
          <a:p>
            <a:endParaRPr lang="en-US"/>
          </a:p>
        </p:txBody>
      </p:sp>
      <p:sp>
        <p:nvSpPr>
          <p:cNvPr id="15" name="hid Rec 1"/>
          <p:cNvSpPr/>
          <p:nvPr/>
        </p:nvSpPr>
        <p:spPr bwMode="auto">
          <a:xfrm>
            <a:off x="685800" y="4629150"/>
            <a:ext cx="381000" cy="247650"/>
          </a:xfrm>
          <a:prstGeom prst="roundRect">
            <a:avLst/>
          </a:prstGeom>
          <a:solidFill>
            <a:schemeClr val="tx1"/>
          </a:solidFill>
          <a:ln w="19050" algn="ctr">
            <a:solidFill>
              <a:schemeClr val="tx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1032" name="pic Risk Analysis"/>
          <p:cNvPicPr>
            <a:picLocks noChangeAspect="1" noChangeArrowheads="1"/>
          </p:cNvPicPr>
          <p:nvPr/>
        </p:nvPicPr>
        <p:blipFill rotWithShape="1">
          <a:blip r:embed="rId3">
            <a:extLst>
              <a:ext uri="{28A0092B-C50C-407E-A947-70E740481C1C}">
                <a14:useLocalDpi xmlns:a14="http://schemas.microsoft.com/office/drawing/2010/main" val="0"/>
              </a:ext>
            </a:extLst>
          </a:blip>
          <a:srcRect t="5926" r="1149" b="4232"/>
          <a:stretch/>
        </p:blipFill>
        <p:spPr bwMode="auto">
          <a:xfrm>
            <a:off x="608556" y="3289935"/>
            <a:ext cx="4830219" cy="1617345"/>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p:txBody>
          <a:bodyPr/>
          <a:lstStyle/>
          <a:p>
            <a:r>
              <a:rPr lang="en-US" smtClean="0"/>
              <a:t>Large loss notification example</a:t>
            </a:r>
            <a:endParaRPr lang="en-US"/>
          </a:p>
        </p:txBody>
      </p:sp>
      <p:sp>
        <p:nvSpPr>
          <p:cNvPr id="25" name="txt Gross Total"/>
          <p:cNvSpPr>
            <a:spLocks noGrp="1"/>
          </p:cNvSpPr>
          <p:nvPr>
            <p:ph idx="11"/>
          </p:nvPr>
        </p:nvSpPr>
        <p:spPr>
          <a:xfrm>
            <a:off x="5791200" y="4267200"/>
            <a:ext cx="3048000" cy="2209800"/>
          </a:xfrm>
        </p:spPr>
        <p:txBody>
          <a:bodyPr/>
          <a:lstStyle/>
          <a:p>
            <a:r>
              <a:rPr lang="en-US" dirty="0"/>
              <a:t>Gross total incurred reaches </a:t>
            </a:r>
            <a:r>
              <a:rPr lang="en-US" dirty="0" smtClean="0"/>
              <a:t>large </a:t>
            </a:r>
            <a:r>
              <a:rPr lang="en-US" dirty="0"/>
              <a:t>loss threshold for </a:t>
            </a:r>
            <a:r>
              <a:rPr lang="en-US" dirty="0" smtClean="0"/>
              <a:t/>
            </a:r>
            <a:br>
              <a:rPr lang="en-US" dirty="0" smtClean="0"/>
            </a:br>
            <a:r>
              <a:rPr lang="en-US" dirty="0" smtClean="0"/>
              <a:t>policy </a:t>
            </a:r>
            <a:r>
              <a:rPr lang="en-US" dirty="0"/>
              <a:t>type</a:t>
            </a:r>
          </a:p>
          <a:p>
            <a:endParaRPr lang="en-US" dirty="0"/>
          </a:p>
        </p:txBody>
      </p:sp>
      <p:pic>
        <p:nvPicPr>
          <p:cNvPr id="1031" name="Picture 7"/>
          <p:cNvPicPr>
            <a:picLocks noChangeAspect="1" noChangeArrowheads="1"/>
          </p:cNvPicPr>
          <p:nvPr/>
        </p:nvPicPr>
        <p:blipFill rotWithShape="1">
          <a:blip r:embed="rId4">
            <a:extLst>
              <a:ext uri="{28A0092B-C50C-407E-A947-70E740481C1C}">
                <a14:useLocalDpi xmlns:a14="http://schemas.microsoft.com/office/drawing/2010/main" val="0"/>
              </a:ext>
            </a:extLst>
          </a:blip>
          <a:srcRect t="2828"/>
          <a:stretch/>
        </p:blipFill>
        <p:spPr bwMode="auto">
          <a:xfrm>
            <a:off x="533403" y="1063226"/>
            <a:ext cx="8365715" cy="1832374"/>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8" name="Rounded Rectangle 7"/>
          <p:cNvSpPr/>
          <p:nvPr/>
        </p:nvSpPr>
        <p:spPr bwMode="auto">
          <a:xfrm>
            <a:off x="6603311" y="2642223"/>
            <a:ext cx="1195177" cy="253377"/>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0075" y="5311140"/>
            <a:ext cx="4838700" cy="876300"/>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9" name="txt New Claim"/>
          <p:cNvSpPr/>
          <p:nvPr/>
        </p:nvSpPr>
        <p:spPr bwMode="auto">
          <a:xfrm>
            <a:off x="5562600" y="883920"/>
            <a:ext cx="2967967" cy="411480"/>
          </a:xfrm>
          <a:prstGeom prst="roundRect">
            <a:avLst/>
          </a:prstGeom>
          <a:ln>
            <a:headEnd/>
            <a:tailEnd/>
          </a:ln>
          <a:effectLst>
            <a:outerShdw blurRad="50800" dist="38100" dir="2700000" algn="tl"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wrap="none" lIns="0" tIns="0" rIns="0" bIns="0" rtlCol="0" anchor="ctr">
            <a:noAutofit/>
          </a:bodyPr>
          <a:lstStyle/>
          <a:p>
            <a:pPr algn="ctr">
              <a:spcBef>
                <a:spcPct val="50000"/>
              </a:spcBef>
              <a:spcAft>
                <a:spcPct val="30000"/>
              </a:spcAft>
              <a:buClr>
                <a:schemeClr val="tx1"/>
              </a:buClr>
            </a:pPr>
            <a:r>
              <a:rPr lang="en-US" smtClean="0">
                <a:solidFill>
                  <a:schemeClr val="bg1"/>
                </a:solidFill>
              </a:rPr>
              <a:t>New Claim / New Reserve</a:t>
            </a:r>
            <a:endParaRPr lang="en-US">
              <a:solidFill>
                <a:schemeClr val="bg1"/>
              </a:solidFill>
            </a:endParaRPr>
          </a:p>
        </p:txBody>
      </p:sp>
      <p:pic>
        <p:nvPicPr>
          <p:cNvPr id="14" name="logo CC"/>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425738" y="990600"/>
            <a:ext cx="565862" cy="548640"/>
          </a:xfrm>
          <a:prstGeom prst="rect">
            <a:avLst/>
          </a:prstGeom>
          <a:effectLst>
            <a:outerShdw blurRad="50800" dist="38100" dir="2700000" algn="tl" rotWithShape="0">
              <a:prstClr val="black">
                <a:alpha val="40000"/>
              </a:prstClr>
            </a:outerShdw>
          </a:effectLst>
        </p:spPr>
      </p:pic>
      <p:sp>
        <p:nvSpPr>
          <p:cNvPr id="17" name="txt Account"/>
          <p:cNvSpPr/>
          <p:nvPr/>
        </p:nvSpPr>
        <p:spPr bwMode="auto">
          <a:xfrm>
            <a:off x="3705225" y="5105400"/>
            <a:ext cx="1333479" cy="411480"/>
          </a:xfrm>
          <a:prstGeom prst="roundRect">
            <a:avLst/>
          </a:prstGeom>
          <a:ln>
            <a:headEnd/>
            <a:tailEnd/>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none" lIns="0" tIns="0" rIns="0" bIns="0" rtlCol="0" anchor="ctr">
            <a:noAutofit/>
          </a:bodyPr>
          <a:lstStyle/>
          <a:p>
            <a:pPr algn="ctr">
              <a:spcBef>
                <a:spcPct val="50000"/>
              </a:spcBef>
              <a:spcAft>
                <a:spcPct val="30000"/>
              </a:spcAft>
              <a:buClr>
                <a:schemeClr val="tx1"/>
              </a:buClr>
            </a:pPr>
            <a:r>
              <a:rPr lang="en-US" smtClean="0">
                <a:solidFill>
                  <a:schemeClr val="bg1"/>
                </a:solidFill>
              </a:rPr>
              <a:t>Account</a:t>
            </a:r>
            <a:endParaRPr lang="en-US">
              <a:solidFill>
                <a:schemeClr val="bg1"/>
              </a:solidFill>
            </a:endParaRPr>
          </a:p>
        </p:txBody>
      </p:sp>
      <p:pic>
        <p:nvPicPr>
          <p:cNvPr id="20" name="logo PC 1" descr="PolicyCenter.png"/>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943475" y="5166360"/>
            <a:ext cx="565862" cy="548640"/>
          </a:xfrm>
          <a:prstGeom prst="rect">
            <a:avLst/>
          </a:prstGeom>
          <a:effectLst>
            <a:outerShdw blurRad="50800" dist="38100" dir="2700000" algn="tl" rotWithShape="0">
              <a:prstClr val="black">
                <a:alpha val="40000"/>
              </a:prstClr>
            </a:outerShdw>
          </a:effectLst>
        </p:spPr>
      </p:pic>
      <p:sp>
        <p:nvSpPr>
          <p:cNvPr id="21" name="txt Policy"/>
          <p:cNvSpPr/>
          <p:nvPr/>
        </p:nvSpPr>
        <p:spPr bwMode="auto">
          <a:xfrm>
            <a:off x="3705225" y="3078480"/>
            <a:ext cx="1333479" cy="411480"/>
          </a:xfrm>
          <a:prstGeom prst="roundRect">
            <a:avLst/>
          </a:prstGeom>
          <a:ln>
            <a:headEnd/>
            <a:tailEnd/>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none" lIns="0" tIns="0" rIns="0" bIns="0" rtlCol="0" anchor="ctr">
            <a:noAutofit/>
          </a:bodyPr>
          <a:lstStyle/>
          <a:p>
            <a:pPr algn="ctr">
              <a:spcBef>
                <a:spcPct val="50000"/>
              </a:spcBef>
              <a:spcAft>
                <a:spcPct val="30000"/>
              </a:spcAft>
              <a:buClr>
                <a:schemeClr val="tx1"/>
              </a:buClr>
            </a:pPr>
            <a:r>
              <a:rPr lang="en-US" smtClean="0">
                <a:solidFill>
                  <a:schemeClr val="bg1"/>
                </a:solidFill>
              </a:rPr>
              <a:t>Policy</a:t>
            </a:r>
            <a:endParaRPr lang="en-US">
              <a:solidFill>
                <a:schemeClr val="bg1"/>
              </a:solidFill>
            </a:endParaRPr>
          </a:p>
        </p:txBody>
      </p:sp>
      <p:pic>
        <p:nvPicPr>
          <p:cNvPr id="19" name="logo PC 2" descr="PolicyCenter.png"/>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943475" y="3139440"/>
            <a:ext cx="565862" cy="548640"/>
          </a:xfrm>
          <a:prstGeom prst="rect">
            <a:avLst/>
          </a:prstGeom>
          <a:effectLst>
            <a:outerShdw blurRad="50800" dist="38100" dir="2700000" algn="tl" rotWithShape="0">
              <a:prstClr val="black">
                <a:alpha val="40000"/>
              </a:prstClr>
            </a:outerShdw>
          </a:effectLst>
        </p:spPr>
      </p:pic>
      <p:cxnSp>
        <p:nvCxnSpPr>
          <p:cNvPr id="44" name="Elbow Connector 43"/>
          <p:cNvCxnSpPr>
            <a:stCxn id="8" idx="2"/>
            <a:endCxn id="47" idx="1"/>
          </p:cNvCxnSpPr>
          <p:nvPr/>
        </p:nvCxnSpPr>
        <p:spPr bwMode="auto">
          <a:xfrm rot="5400000">
            <a:off x="2364106" y="1226820"/>
            <a:ext cx="3168015" cy="6505575"/>
          </a:xfrm>
          <a:prstGeom prst="bentConnector4">
            <a:avLst>
              <a:gd name="adj1" fmla="val 32111"/>
              <a:gd name="adj2" fmla="val 103807"/>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12" name="Elbow Connector 11"/>
          <p:cNvCxnSpPr>
            <a:stCxn id="8" idx="2"/>
            <a:endCxn id="15" idx="1"/>
          </p:cNvCxnSpPr>
          <p:nvPr/>
        </p:nvCxnSpPr>
        <p:spPr bwMode="auto">
          <a:xfrm rot="5400000">
            <a:off x="3014663" y="566737"/>
            <a:ext cx="1857375" cy="6515100"/>
          </a:xfrm>
          <a:prstGeom prst="bentConnector4">
            <a:avLst>
              <a:gd name="adj1" fmla="val 54872"/>
              <a:gd name="adj2" fmla="val 103509"/>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970834006"/>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hid Rec"/>
          <p:cNvSpPr/>
          <p:nvPr/>
        </p:nvSpPr>
        <p:spPr bwMode="auto">
          <a:xfrm>
            <a:off x="4212999" y="3543300"/>
            <a:ext cx="435201" cy="228600"/>
          </a:xfrm>
          <a:prstGeom prst="roundRect">
            <a:avLst/>
          </a:prstGeom>
          <a:solidFill>
            <a:schemeClr val="tx1"/>
          </a:solidFill>
          <a:ln w="28575" algn="ctr">
            <a:solidFill>
              <a:schemeClr val="tx1"/>
            </a:solidFill>
            <a:round/>
            <a:headEnd/>
            <a:tailEnd/>
          </a:ln>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11" name="Title 10"/>
          <p:cNvSpPr>
            <a:spLocks noGrp="1"/>
          </p:cNvSpPr>
          <p:nvPr>
            <p:ph type="title"/>
          </p:nvPr>
        </p:nvSpPr>
        <p:spPr/>
        <p:txBody>
          <a:bodyPr/>
          <a:lstStyle/>
          <a:p>
            <a:r>
              <a:rPr lang="en-US" sz="2800" smtClean="0"/>
              <a:t>Large loss notification process</a:t>
            </a:r>
            <a:endParaRPr lang="en-US" sz="2800"/>
          </a:p>
        </p:txBody>
      </p:sp>
      <p:sp>
        <p:nvSpPr>
          <p:cNvPr id="5" name="Rounded Rectangle 4"/>
          <p:cNvSpPr/>
          <p:nvPr/>
        </p:nvSpPr>
        <p:spPr bwMode="auto">
          <a:xfrm>
            <a:off x="2819400" y="1371600"/>
            <a:ext cx="6096000" cy="5105400"/>
          </a:xfrm>
          <a:prstGeom prst="roundRect">
            <a:avLst>
              <a:gd name="adj" fmla="val 1542"/>
            </a:avLst>
          </a:prstGeom>
          <a:solidFill>
            <a:schemeClr val="accent5">
              <a:lumMod val="20000"/>
              <a:lumOff val="80000"/>
            </a:schemeClr>
          </a:solidFill>
          <a:ln w="19050" algn="ctr">
            <a:solidFill>
              <a:schemeClr val="accent5"/>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6" name="Rounded Rectangle 5"/>
          <p:cNvSpPr/>
          <p:nvPr/>
        </p:nvSpPr>
        <p:spPr bwMode="auto">
          <a:xfrm>
            <a:off x="533400" y="1371600"/>
            <a:ext cx="1752600" cy="5105400"/>
          </a:xfrm>
          <a:prstGeom prst="roundRect">
            <a:avLst>
              <a:gd name="adj" fmla="val 2845"/>
            </a:avLst>
          </a:prstGeom>
          <a:solidFill>
            <a:schemeClr val="accent3">
              <a:lumMod val="20000"/>
              <a:lumOff val="80000"/>
            </a:schemeClr>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8" name="Picture 7" descr="PolicyCenter.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4738" y="899160"/>
            <a:ext cx="565862" cy="548640"/>
          </a:xfrm>
          <a:prstGeom prst="rect">
            <a:avLst/>
          </a:prstGeom>
          <a:effectLst>
            <a:outerShdw blurRad="50800" dist="38100" dir="2700000" algn="tl" rotWithShape="0">
              <a:prstClr val="black">
                <a:alpha val="40000"/>
              </a:prstClr>
            </a:outerShdw>
          </a:effectLst>
        </p:spPr>
      </p:pic>
      <p:sp>
        <p:nvSpPr>
          <p:cNvPr id="29" name="TextBox 84"/>
          <p:cNvSpPr txBox="1">
            <a:spLocks noChangeArrowheads="1"/>
          </p:cNvSpPr>
          <p:nvPr/>
        </p:nvSpPr>
        <p:spPr bwMode="auto">
          <a:xfrm>
            <a:off x="533400" y="5638800"/>
            <a:ext cx="167464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600" b="1">
                <a:solidFill>
                  <a:schemeClr val="bg1"/>
                </a:solidFill>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r>
              <a:rPr lang="en-US"/>
              <a:t>ClaimToPolicySystem</a:t>
            </a:r>
            <a:br>
              <a:rPr lang="en-US"/>
            </a:br>
            <a:r>
              <a:rPr lang="en-US"/>
              <a:t>NotificationAPI</a:t>
            </a:r>
          </a:p>
        </p:txBody>
      </p:sp>
      <p:sp>
        <p:nvSpPr>
          <p:cNvPr id="31" name="TextBox 86"/>
          <p:cNvSpPr txBox="1">
            <a:spLocks noChangeArrowheads="1"/>
          </p:cNvSpPr>
          <p:nvPr/>
        </p:nvSpPr>
        <p:spPr bwMode="auto">
          <a:xfrm>
            <a:off x="2895600" y="5638800"/>
            <a:ext cx="124618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algn="ctr" eaLnBrk="1" hangingPunct="1"/>
            <a:r>
              <a:rPr lang="en-US" sz="1600" smtClean="0">
                <a:solidFill>
                  <a:schemeClr val="bg1"/>
                </a:solidFill>
                <a:latin typeface="+mn-lt"/>
              </a:rPr>
              <a:t>pc800.wsc</a:t>
            </a:r>
            <a:endParaRPr lang="en-US" sz="1600">
              <a:solidFill>
                <a:schemeClr val="bg1"/>
              </a:solidFill>
              <a:latin typeface="+mn-lt"/>
            </a:endParaRPr>
          </a:p>
        </p:txBody>
      </p:sp>
      <p:pic>
        <p:nvPicPr>
          <p:cNvPr id="43"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4802960"/>
            <a:ext cx="844135" cy="9017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5" name="icn Plugin Gosu"/>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8200" y="4774658"/>
            <a:ext cx="927385" cy="100466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46" name="icon GWP file"/>
          <p:cNvGrpSpPr>
            <a:grpSpLocks noChangeAspect="1"/>
          </p:cNvGrpSpPr>
          <p:nvPr/>
        </p:nvGrpSpPr>
        <p:grpSpPr>
          <a:xfrm>
            <a:off x="6264225" y="4760025"/>
            <a:ext cx="771450" cy="860459"/>
            <a:chOff x="4558702" y="2146900"/>
            <a:chExt cx="1246792" cy="1390650"/>
          </a:xfrm>
        </p:grpSpPr>
        <p:pic>
          <p:nvPicPr>
            <p:cNvPr id="47"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59616" y="2146900"/>
              <a:ext cx="1058863" cy="1390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48" name="icon Plugin"/>
            <p:cNvGrpSpPr>
              <a:grpSpLocks/>
            </p:cNvGrpSpPr>
            <p:nvPr/>
          </p:nvGrpSpPr>
          <p:grpSpPr bwMode="auto">
            <a:xfrm>
              <a:off x="4592771" y="2308825"/>
              <a:ext cx="542255" cy="639158"/>
              <a:chOff x="4500" y="2762"/>
              <a:chExt cx="247" cy="291"/>
            </a:xfrm>
            <a:effectLst>
              <a:outerShdw blurRad="50800" dist="38100" dir="2700000" algn="tl" rotWithShape="0">
                <a:prstClr val="black">
                  <a:alpha val="40000"/>
                </a:prstClr>
              </a:outerShdw>
            </a:effectLst>
          </p:grpSpPr>
          <p:sp>
            <p:nvSpPr>
              <p:cNvPr id="50"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51"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52"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53"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sp>
          <p:nvSpPr>
            <p:cNvPr id="49" name="TextBox 48"/>
            <p:cNvSpPr txBox="1"/>
            <p:nvPr/>
          </p:nvSpPr>
          <p:spPr>
            <a:xfrm>
              <a:off x="4558702" y="2936002"/>
              <a:ext cx="1246792" cy="485656"/>
            </a:xfrm>
            <a:prstGeom prst="rect">
              <a:avLst/>
            </a:prstGeom>
            <a:noFill/>
          </p:spPr>
          <p:txBody>
            <a:bodyPr wrap="square" rtlCol="0">
              <a:noAutofit/>
            </a:bodyPr>
            <a:lstStyle/>
            <a:p>
              <a:pPr algn="ctr"/>
              <a:r>
                <a:rPr lang="en-US" sz="1600" b="1" smtClean="0">
                  <a:solidFill>
                    <a:schemeClr val="bg2"/>
                  </a:solidFill>
                  <a:latin typeface="Arial" pitchFamily="32" charset="0"/>
                  <a:cs typeface="Arial" pitchFamily="32" charset="0"/>
                </a:rPr>
                <a:t>GWP</a:t>
              </a:r>
            </a:p>
          </p:txBody>
        </p:sp>
      </p:grpSp>
      <p:cxnSp>
        <p:nvCxnSpPr>
          <p:cNvPr id="54" name="Straight Arrow Connector 53"/>
          <p:cNvCxnSpPr/>
          <p:nvPr/>
        </p:nvCxnSpPr>
        <p:spPr bwMode="auto">
          <a:xfrm flipH="1">
            <a:off x="4093097" y="5235825"/>
            <a:ext cx="377303" cy="0"/>
          </a:xfrm>
          <a:prstGeom prst="straightConnector1">
            <a:avLst/>
          </a:prstGeom>
          <a:noFill/>
          <a:ln w="28575" cap="flat" cmpd="sng" algn="ctr">
            <a:solidFill>
              <a:schemeClr val="bg1"/>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55" name="Straight Arrow Connector 54"/>
          <p:cNvCxnSpPr/>
          <p:nvPr/>
        </p:nvCxnSpPr>
        <p:spPr bwMode="auto">
          <a:xfrm flipH="1">
            <a:off x="5639682" y="5235825"/>
            <a:ext cx="377303" cy="0"/>
          </a:xfrm>
          <a:prstGeom prst="straightConnector1">
            <a:avLst/>
          </a:prstGeom>
          <a:noFill/>
          <a:ln w="28575" cap="flat" cmpd="sng" algn="ctr">
            <a:solidFill>
              <a:schemeClr val="bg1"/>
            </a:solidFill>
            <a:prstDash val="solid"/>
            <a:round/>
            <a:headEnd type="none" w="med" len="med"/>
            <a:tailEnd type="arrow" w="lg" len="med"/>
          </a:ln>
          <a:effectLst>
            <a:outerShdw blurRad="50800" dist="38100" dir="2700000" algn="tl" rotWithShape="0">
              <a:prstClr val="black">
                <a:alpha val="40000"/>
              </a:prstClr>
            </a:outerShdw>
          </a:effectLst>
        </p:spPr>
      </p:cxnSp>
      <p:sp>
        <p:nvSpPr>
          <p:cNvPr id="56" name="TextBox 87"/>
          <p:cNvSpPr txBox="1">
            <a:spLocks noChangeArrowheads="1"/>
          </p:cNvSpPr>
          <p:nvPr/>
        </p:nvSpPr>
        <p:spPr bwMode="auto">
          <a:xfrm>
            <a:off x="4178050" y="5638800"/>
            <a:ext cx="184175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600" b="1">
                <a:solidFill>
                  <a:schemeClr val="bg1"/>
                </a:solidFill>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r>
              <a:rPr lang="en-US"/>
              <a:t>PCPolicySystem</a:t>
            </a:r>
            <a:br>
              <a:rPr lang="en-US"/>
            </a:br>
            <a:r>
              <a:rPr lang="en-US" smtClean="0"/>
              <a:t>Notification</a:t>
            </a:r>
            <a:br>
              <a:rPr lang="en-US" smtClean="0"/>
            </a:br>
            <a:r>
              <a:rPr lang="en-US" smtClean="0"/>
              <a:t>Plugin</a:t>
            </a:r>
            <a:endParaRPr lang="en-US"/>
          </a:p>
        </p:txBody>
      </p:sp>
      <p:pic>
        <p:nvPicPr>
          <p:cNvPr id="22"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88588" y="4718050"/>
            <a:ext cx="1123397" cy="9207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3" name="Picture 3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710738" y="895350"/>
            <a:ext cx="565862" cy="548640"/>
          </a:xfrm>
          <a:prstGeom prst="rect">
            <a:avLst/>
          </a:prstGeom>
          <a:effectLst>
            <a:outerShdw blurRad="50800" dist="38100" dir="2700000" algn="tl" rotWithShape="0">
              <a:prstClr val="black">
                <a:alpha val="40000"/>
              </a:prstClr>
            </a:outerShdw>
          </a:effectLst>
        </p:spPr>
      </p:pic>
      <p:pic>
        <p:nvPicPr>
          <p:cNvPr id="30" name="inc Plg Transport"/>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270992" y="3238500"/>
            <a:ext cx="850966" cy="10287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5" name="icn Msg Destination"/>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22162" y="1424736"/>
            <a:ext cx="766476" cy="94921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7" name="icon Rule Class 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320177" y="1589952"/>
            <a:ext cx="786780" cy="90352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8" name="TextBox 84"/>
          <p:cNvSpPr txBox="1">
            <a:spLocks noChangeArrowheads="1"/>
          </p:cNvSpPr>
          <p:nvPr/>
        </p:nvSpPr>
        <p:spPr bwMode="auto">
          <a:xfrm>
            <a:off x="7191374" y="4789487"/>
            <a:ext cx="172402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eaLnBrk="1" hangingPunct="1"/>
            <a:r>
              <a:rPr lang="en-US" sz="1600">
                <a:solidFill>
                  <a:schemeClr val="bg1"/>
                </a:solidFill>
                <a:latin typeface="+mn-lt"/>
              </a:rPr>
              <a:t>IPolicySystem</a:t>
            </a:r>
            <a:br>
              <a:rPr lang="en-US" sz="1600">
                <a:solidFill>
                  <a:schemeClr val="bg1"/>
                </a:solidFill>
                <a:latin typeface="+mn-lt"/>
              </a:rPr>
            </a:br>
            <a:r>
              <a:rPr lang="en-US" sz="1600">
                <a:solidFill>
                  <a:schemeClr val="bg1"/>
                </a:solidFill>
                <a:latin typeface="+mn-lt"/>
              </a:rPr>
              <a:t>Notification</a:t>
            </a:r>
            <a:br>
              <a:rPr lang="en-US" sz="1600">
                <a:solidFill>
                  <a:schemeClr val="bg1"/>
                </a:solidFill>
                <a:latin typeface="+mn-lt"/>
              </a:rPr>
            </a:br>
            <a:r>
              <a:rPr lang="en-US" sz="1600">
                <a:solidFill>
                  <a:schemeClr val="bg1"/>
                </a:solidFill>
                <a:latin typeface="+mn-lt"/>
              </a:rPr>
              <a:t>Plugin</a:t>
            </a:r>
          </a:p>
        </p:txBody>
      </p:sp>
      <p:sp>
        <p:nvSpPr>
          <p:cNvPr id="39" name="TextBox 98"/>
          <p:cNvSpPr txBox="1">
            <a:spLocks noChangeArrowheads="1"/>
          </p:cNvSpPr>
          <p:nvPr/>
        </p:nvSpPr>
        <p:spPr bwMode="auto">
          <a:xfrm>
            <a:off x="2667000" y="2436204"/>
            <a:ext cx="1677324"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algn="ctr" eaLnBrk="1" hangingPunct="1"/>
            <a:r>
              <a:rPr lang="en-US" sz="1600" smtClean="0">
                <a:solidFill>
                  <a:schemeClr val="bg1"/>
                </a:solidFill>
                <a:latin typeface="+mn-lt"/>
              </a:rPr>
              <a:t>Preupdate</a:t>
            </a:r>
            <a:r>
              <a:rPr lang="en-US" sz="1600">
                <a:solidFill>
                  <a:schemeClr val="bg1"/>
                </a:solidFill>
                <a:latin typeface="+mn-lt"/>
              </a:rPr>
              <a:t/>
            </a:r>
            <a:br>
              <a:rPr lang="en-US" sz="1600">
                <a:solidFill>
                  <a:schemeClr val="bg1"/>
                </a:solidFill>
                <a:latin typeface="+mn-lt"/>
              </a:rPr>
            </a:br>
            <a:r>
              <a:rPr lang="en-US" sz="1600">
                <a:solidFill>
                  <a:schemeClr val="bg1"/>
                </a:solidFill>
                <a:latin typeface="+mn-lt"/>
              </a:rPr>
              <a:t>LargeLoss</a:t>
            </a:r>
            <a:br>
              <a:rPr lang="en-US" sz="1600">
                <a:solidFill>
                  <a:schemeClr val="bg1"/>
                </a:solidFill>
                <a:latin typeface="+mn-lt"/>
              </a:rPr>
            </a:br>
            <a:r>
              <a:rPr lang="en-US" sz="1600">
                <a:solidFill>
                  <a:schemeClr val="bg1"/>
                </a:solidFill>
                <a:latin typeface="+mn-lt"/>
              </a:rPr>
              <a:t>Notification</a:t>
            </a:r>
          </a:p>
        </p:txBody>
      </p:sp>
      <p:sp>
        <p:nvSpPr>
          <p:cNvPr id="40" name="TextBox 99"/>
          <p:cNvSpPr txBox="1">
            <a:spLocks noChangeArrowheads="1"/>
          </p:cNvSpPr>
          <p:nvPr/>
        </p:nvSpPr>
        <p:spPr bwMode="auto">
          <a:xfrm>
            <a:off x="7191374" y="1600200"/>
            <a:ext cx="173764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eaLnBrk="1" hangingPunct="1"/>
            <a:r>
              <a:rPr lang="en-US" sz="1600">
                <a:solidFill>
                  <a:schemeClr val="bg1"/>
                </a:solidFill>
                <a:latin typeface="+mn-lt"/>
              </a:rPr>
              <a:t>EventFired:</a:t>
            </a:r>
            <a:br>
              <a:rPr lang="en-US" sz="1600">
                <a:solidFill>
                  <a:schemeClr val="bg1"/>
                </a:solidFill>
                <a:latin typeface="+mn-lt"/>
              </a:rPr>
            </a:br>
            <a:r>
              <a:rPr lang="en-US" sz="1600">
                <a:solidFill>
                  <a:schemeClr val="bg1"/>
                </a:solidFill>
                <a:latin typeface="+mn-lt"/>
              </a:rPr>
              <a:t>Policy System</a:t>
            </a:r>
            <a:br>
              <a:rPr lang="en-US" sz="1600">
                <a:solidFill>
                  <a:schemeClr val="bg1"/>
                </a:solidFill>
                <a:latin typeface="+mn-lt"/>
              </a:rPr>
            </a:br>
            <a:r>
              <a:rPr lang="en-US" sz="1600">
                <a:solidFill>
                  <a:schemeClr val="bg1"/>
                </a:solidFill>
                <a:latin typeface="+mn-lt"/>
              </a:rPr>
              <a:t>Notification</a:t>
            </a:r>
          </a:p>
        </p:txBody>
      </p:sp>
      <p:sp>
        <p:nvSpPr>
          <p:cNvPr id="41" name="TextBox 112"/>
          <p:cNvSpPr txBox="1">
            <a:spLocks noChangeArrowheads="1"/>
          </p:cNvSpPr>
          <p:nvPr/>
        </p:nvSpPr>
        <p:spPr bwMode="auto">
          <a:xfrm>
            <a:off x="4419600" y="2433506"/>
            <a:ext cx="13716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algn="ctr" eaLnBrk="1" hangingPunct="1"/>
            <a:r>
              <a:rPr lang="en-US" sz="1600">
                <a:solidFill>
                  <a:schemeClr val="bg1"/>
                </a:solidFill>
                <a:latin typeface="+mn-lt"/>
              </a:rPr>
              <a:t>Policy</a:t>
            </a:r>
            <a:br>
              <a:rPr lang="en-US" sz="1600">
                <a:solidFill>
                  <a:schemeClr val="bg1"/>
                </a:solidFill>
                <a:latin typeface="+mn-lt"/>
              </a:rPr>
            </a:br>
            <a:r>
              <a:rPr lang="en-US" sz="1600">
                <a:solidFill>
                  <a:schemeClr val="bg1"/>
                </a:solidFill>
                <a:latin typeface="+mn-lt"/>
              </a:rPr>
              <a:t>System</a:t>
            </a:r>
            <a:br>
              <a:rPr lang="en-US" sz="1600">
                <a:solidFill>
                  <a:schemeClr val="bg1"/>
                </a:solidFill>
                <a:latin typeface="+mn-lt"/>
              </a:rPr>
            </a:br>
            <a:r>
              <a:rPr lang="en-US" sz="1600">
                <a:solidFill>
                  <a:schemeClr val="bg1"/>
                </a:solidFill>
                <a:latin typeface="+mn-lt"/>
              </a:rPr>
              <a:t>Notification</a:t>
            </a:r>
          </a:p>
        </p:txBody>
      </p:sp>
      <p:sp>
        <p:nvSpPr>
          <p:cNvPr id="42" name="TextBox 125"/>
          <p:cNvSpPr txBox="1">
            <a:spLocks noChangeArrowheads="1"/>
          </p:cNvSpPr>
          <p:nvPr/>
        </p:nvSpPr>
        <p:spPr bwMode="auto">
          <a:xfrm>
            <a:off x="7191374" y="3283803"/>
            <a:ext cx="173764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eaLnBrk="1" hangingPunct="1"/>
            <a:r>
              <a:rPr lang="en-US" sz="1600">
                <a:solidFill>
                  <a:schemeClr val="bg1"/>
                </a:solidFill>
                <a:latin typeface="+mn-lt"/>
              </a:rPr>
              <a:t>Policy System</a:t>
            </a:r>
            <a:br>
              <a:rPr lang="en-US" sz="1600">
                <a:solidFill>
                  <a:schemeClr val="bg1"/>
                </a:solidFill>
                <a:latin typeface="+mn-lt"/>
              </a:rPr>
            </a:br>
            <a:r>
              <a:rPr lang="en-US" sz="1600">
                <a:solidFill>
                  <a:schemeClr val="bg1"/>
                </a:solidFill>
                <a:latin typeface="+mn-lt"/>
              </a:rPr>
              <a:t>Notification</a:t>
            </a:r>
            <a:br>
              <a:rPr lang="en-US" sz="1600">
                <a:solidFill>
                  <a:schemeClr val="bg1"/>
                </a:solidFill>
                <a:latin typeface="+mn-lt"/>
              </a:rPr>
            </a:br>
            <a:r>
              <a:rPr lang="en-US" sz="1600">
                <a:solidFill>
                  <a:schemeClr val="bg1"/>
                </a:solidFill>
                <a:latin typeface="+mn-lt"/>
              </a:rPr>
              <a:t>Transport</a:t>
            </a:r>
          </a:p>
        </p:txBody>
      </p:sp>
      <p:pic>
        <p:nvPicPr>
          <p:cNvPr id="44" name="icon Rule Class 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12272" y="1573040"/>
            <a:ext cx="786780" cy="90352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8" name="Straight Arrow Connector 57"/>
          <p:cNvCxnSpPr/>
          <p:nvPr/>
        </p:nvCxnSpPr>
        <p:spPr bwMode="auto">
          <a:xfrm>
            <a:off x="5773694" y="1963318"/>
            <a:ext cx="322306" cy="0"/>
          </a:xfrm>
          <a:prstGeom prst="straightConnector1">
            <a:avLst/>
          </a:prstGeom>
          <a:noFill/>
          <a:ln w="28575" cap="flat" cmpd="sng" algn="ctr">
            <a:solidFill>
              <a:schemeClr val="bg1"/>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60" name="Straight Arrow Connector 59"/>
          <p:cNvCxnSpPr/>
          <p:nvPr/>
        </p:nvCxnSpPr>
        <p:spPr bwMode="auto">
          <a:xfrm>
            <a:off x="4140091" y="1963318"/>
            <a:ext cx="322306" cy="0"/>
          </a:xfrm>
          <a:prstGeom prst="straightConnector1">
            <a:avLst/>
          </a:prstGeom>
          <a:noFill/>
          <a:ln w="28575" cap="flat" cmpd="sng" algn="ctr">
            <a:solidFill>
              <a:schemeClr val="bg1"/>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61" name="Straight Arrow Connector 60"/>
          <p:cNvCxnSpPr/>
          <p:nvPr/>
        </p:nvCxnSpPr>
        <p:spPr bwMode="auto">
          <a:xfrm>
            <a:off x="6641793" y="2597150"/>
            <a:ext cx="0" cy="286918"/>
          </a:xfrm>
          <a:prstGeom prst="straightConnector1">
            <a:avLst/>
          </a:prstGeom>
          <a:noFill/>
          <a:ln w="28575" cap="flat" cmpd="sng" algn="ctr">
            <a:solidFill>
              <a:schemeClr val="bg1"/>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62" name="Straight Arrow Connector 61"/>
          <p:cNvCxnSpPr/>
          <p:nvPr/>
        </p:nvCxnSpPr>
        <p:spPr bwMode="auto">
          <a:xfrm>
            <a:off x="6641793" y="4352341"/>
            <a:ext cx="0" cy="286918"/>
          </a:xfrm>
          <a:prstGeom prst="straightConnector1">
            <a:avLst/>
          </a:prstGeom>
          <a:noFill/>
          <a:ln w="28575" cap="flat" cmpd="sng" algn="ctr">
            <a:solidFill>
              <a:schemeClr val="bg1"/>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64" name="Straight Arrow Connector 63"/>
          <p:cNvCxnSpPr/>
          <p:nvPr/>
        </p:nvCxnSpPr>
        <p:spPr bwMode="auto">
          <a:xfrm flipH="1">
            <a:off x="2032000" y="5230499"/>
            <a:ext cx="863324" cy="0"/>
          </a:xfrm>
          <a:prstGeom prst="straightConnector1">
            <a:avLst/>
          </a:prstGeom>
          <a:noFill/>
          <a:ln w="28575" cap="flat" cmpd="sng" algn="ctr">
            <a:solidFill>
              <a:schemeClr val="bg1"/>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2575261946"/>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logo PC 2" descr="PolicyCenter.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4350" y="885825"/>
            <a:ext cx="565862" cy="548640"/>
          </a:xfrm>
          <a:prstGeom prst="rect">
            <a:avLst/>
          </a:prstGeom>
          <a:effectLst>
            <a:outerShdw blurRad="50800" dist="38100" dir="2700000" algn="tl" rotWithShape="0">
              <a:prstClr val="black">
                <a:alpha val="40000"/>
              </a:prstClr>
            </a:outerShdw>
          </a:effectLst>
        </p:spPr>
      </p:pic>
      <p:sp>
        <p:nvSpPr>
          <p:cNvPr id="2" name="Title 1"/>
          <p:cNvSpPr>
            <a:spLocks noGrp="1"/>
          </p:cNvSpPr>
          <p:nvPr>
            <p:ph type="title"/>
          </p:nvPr>
        </p:nvSpPr>
        <p:spPr/>
        <p:txBody>
          <a:bodyPr/>
          <a:lstStyle/>
          <a:p>
            <a:r>
              <a:rPr lang="en-US" smtClean="0"/>
              <a:t>Steps to enable large loss notification</a:t>
            </a:r>
            <a:endParaRPr lang="en-US"/>
          </a:p>
        </p:txBody>
      </p:sp>
      <p:sp>
        <p:nvSpPr>
          <p:cNvPr id="5" name="Subtitle 4"/>
          <p:cNvSpPr>
            <a:spLocks noGrp="1"/>
          </p:cNvSpPr>
          <p:nvPr>
            <p:ph type="subTitle" idx="10"/>
          </p:nvPr>
        </p:nvSpPr>
        <p:spPr/>
        <p:txBody>
          <a:bodyPr/>
          <a:lstStyle/>
          <a:p>
            <a:r>
              <a:rPr lang="en-US" smtClean="0"/>
              <a:t>        PolicyCenter</a:t>
            </a:r>
            <a:endParaRPr lang="en-US"/>
          </a:p>
        </p:txBody>
      </p:sp>
      <p:sp>
        <p:nvSpPr>
          <p:cNvPr id="12" name="Text Placeholder 11"/>
          <p:cNvSpPr>
            <a:spLocks noGrp="1"/>
          </p:cNvSpPr>
          <p:nvPr>
            <p:ph type="body" sz="quarter" idx="11"/>
          </p:nvPr>
        </p:nvSpPr>
        <p:spPr/>
        <p:txBody>
          <a:bodyPr/>
          <a:lstStyle/>
          <a:p>
            <a:r>
              <a:rPr lang="en-US" smtClean="0"/>
              <a:t>        ClaimCenter</a:t>
            </a:r>
            <a:endParaRPr lang="en-US"/>
          </a:p>
        </p:txBody>
      </p:sp>
      <p:sp>
        <p:nvSpPr>
          <p:cNvPr id="11" name="Content Placeholder 10"/>
          <p:cNvSpPr>
            <a:spLocks noGrp="1"/>
          </p:cNvSpPr>
          <p:nvPr>
            <p:ph sz="half" idx="2"/>
          </p:nvPr>
        </p:nvSpPr>
        <p:spPr/>
        <p:txBody>
          <a:bodyPr/>
          <a:lstStyle/>
          <a:p>
            <a:pPr marL="457200" indent="-457200">
              <a:buFont typeface="+mj-lt"/>
              <a:buAutoNum type="arabicPeriod" startAt="2"/>
            </a:pPr>
            <a:r>
              <a:rPr lang="en-US" dirty="0" smtClean="0"/>
              <a:t>Enable </a:t>
            </a:r>
            <a:r>
              <a:rPr lang="en-US" dirty="0"/>
              <a:t>rules</a:t>
            </a:r>
          </a:p>
          <a:p>
            <a:pPr marL="457200" indent="-457200">
              <a:buFont typeface="+mj-lt"/>
              <a:buAutoNum type="arabicPeriod" startAt="2"/>
            </a:pPr>
            <a:r>
              <a:rPr lang="en-US" dirty="0"/>
              <a:t>Enable the messaging destination</a:t>
            </a:r>
          </a:p>
          <a:p>
            <a:pPr marL="457200" indent="-457200">
              <a:buFont typeface="+mj-lt"/>
              <a:buAutoNum type="arabicPeriod" startAt="2"/>
            </a:pPr>
            <a:r>
              <a:rPr lang="en-US" dirty="0"/>
              <a:t>Enable the message transport plugin </a:t>
            </a:r>
          </a:p>
          <a:p>
            <a:pPr marL="457200" indent="-457200">
              <a:buFont typeface="+mj-lt"/>
              <a:buAutoNum type="arabicPeriod" startAt="2"/>
            </a:pPr>
            <a:r>
              <a:rPr lang="en-US" dirty="0" smtClean="0"/>
              <a:t>Edit the </a:t>
            </a:r>
            <a:r>
              <a:rPr lang="en-US" dirty="0" err="1" smtClean="0"/>
              <a:t>IPolicySystemNotificationPlugin</a:t>
            </a:r>
            <a:endParaRPr lang="en-US" dirty="0" smtClean="0"/>
          </a:p>
          <a:p>
            <a:pPr marL="457200" indent="-457200">
              <a:buFont typeface="+mj-lt"/>
              <a:buAutoNum type="arabicPeriod" startAt="2"/>
            </a:pPr>
            <a:r>
              <a:rPr lang="en-US" dirty="0" smtClean="0"/>
              <a:t>Refresh </a:t>
            </a:r>
            <a:r>
              <a:rPr lang="en-US" dirty="0"/>
              <a:t>the Web Service collection WSDL</a:t>
            </a:r>
          </a:p>
          <a:p>
            <a:pPr marL="457200" indent="-457200">
              <a:buFont typeface="+mj-lt"/>
              <a:buAutoNum type="arabicPeriod" startAt="2"/>
            </a:pPr>
            <a:r>
              <a:rPr lang="en-US" dirty="0" smtClean="0"/>
              <a:t>Deploy </a:t>
            </a:r>
            <a:r>
              <a:rPr lang="en-US" dirty="0"/>
              <a:t>your changes</a:t>
            </a:r>
          </a:p>
          <a:p>
            <a:pPr marL="457200" indent="-457200">
              <a:buFont typeface="+mj-lt"/>
              <a:buAutoNum type="arabicPeriod" startAt="2"/>
            </a:pPr>
            <a:endParaRPr lang="en-US" dirty="0" smtClean="0"/>
          </a:p>
        </p:txBody>
      </p:sp>
      <p:sp>
        <p:nvSpPr>
          <p:cNvPr id="3" name="Content Placeholder 2"/>
          <p:cNvSpPr>
            <a:spLocks noGrp="1"/>
          </p:cNvSpPr>
          <p:nvPr>
            <p:ph sz="half" idx="1"/>
          </p:nvPr>
        </p:nvSpPr>
        <p:spPr/>
        <p:txBody>
          <a:bodyPr/>
          <a:lstStyle/>
          <a:p>
            <a:pPr marL="457200" indent="-457200">
              <a:buFont typeface="+mj-lt"/>
              <a:buAutoNum type="arabicPeriod"/>
            </a:pPr>
            <a:r>
              <a:rPr lang="en-US" dirty="0"/>
              <a:t>Start PolicyCenter</a:t>
            </a:r>
          </a:p>
          <a:p>
            <a:endParaRPr lang="en-US" dirty="0"/>
          </a:p>
        </p:txBody>
      </p:sp>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24400" y="885825"/>
            <a:ext cx="565862"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120914699"/>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Start PolicyCenter</a:t>
            </a:r>
            <a:endParaRPr lang="en-US"/>
          </a:p>
        </p:txBody>
      </p:sp>
      <p:sp>
        <p:nvSpPr>
          <p:cNvPr id="3" name="Content Placeholder 2"/>
          <p:cNvSpPr>
            <a:spLocks noGrp="1"/>
          </p:cNvSpPr>
          <p:nvPr>
            <p:ph idx="1"/>
          </p:nvPr>
        </p:nvSpPr>
        <p:spPr/>
        <p:txBody>
          <a:bodyPr/>
          <a:lstStyle/>
          <a:p>
            <a:r>
              <a:rPr lang="en-US" b="1" dirty="0" err="1" smtClean="0">
                <a:latin typeface="Courier New" pitchFamily="49" charset="0"/>
                <a:cs typeface="Courier New" pitchFamily="49" charset="0"/>
              </a:rPr>
              <a:t>gwpc</a:t>
            </a:r>
            <a:r>
              <a:rPr lang="en-US" b="1" dirty="0" smtClean="0">
                <a:latin typeface="Courier New" pitchFamily="49" charset="0"/>
                <a:cs typeface="Courier New" pitchFamily="49" charset="0"/>
              </a:rPr>
              <a:t> </a:t>
            </a:r>
            <a:r>
              <a:rPr lang="en-US" b="1" dirty="0" err="1" smtClean="0">
                <a:latin typeface="Courier New" pitchFamily="49" charset="0"/>
                <a:cs typeface="Courier New" pitchFamily="49" charset="0"/>
              </a:rPr>
              <a:t>dev</a:t>
            </a:r>
            <a:r>
              <a:rPr lang="en-US" b="1" dirty="0" smtClean="0">
                <a:latin typeface="Courier New" pitchFamily="49" charset="0"/>
                <a:cs typeface="Courier New" pitchFamily="49" charset="0"/>
              </a:rPr>
              <a:t>-start</a:t>
            </a:r>
          </a:p>
          <a:p>
            <a:r>
              <a:rPr lang="en-US" dirty="0" smtClean="0"/>
              <a:t>Starts PolicyCenter </a:t>
            </a:r>
          </a:p>
          <a:p>
            <a:r>
              <a:rPr lang="en-US" dirty="0" err="1" smtClean="0"/>
              <a:t>ClaimToPolicySystemNotificationAPI</a:t>
            </a:r>
            <a:r>
              <a:rPr lang="en-US" dirty="0" smtClean="0"/>
              <a:t> web service starts</a:t>
            </a:r>
            <a:endParaRPr lang="en-US" dirty="0"/>
          </a:p>
          <a:p>
            <a:endParaRPr lang="en-US" dirty="0"/>
          </a:p>
        </p:txBody>
      </p:sp>
      <p:sp>
        <p:nvSpPr>
          <p:cNvPr id="4" name="Rectangle 3"/>
          <p:cNvSpPr/>
          <p:nvPr/>
        </p:nvSpPr>
        <p:spPr bwMode="auto">
          <a:xfrm>
            <a:off x="533400" y="3276600"/>
            <a:ext cx="8229600" cy="3048000"/>
          </a:xfrm>
          <a:prstGeom prst="rect">
            <a:avLst/>
          </a:prstGeom>
          <a:solidFill>
            <a:schemeClr val="tx2">
              <a:lumMod val="75000"/>
            </a:schemeClr>
          </a:solidFill>
          <a:ln w="19050" algn="ctr">
            <a:solidFill>
              <a:schemeClr val="tx2">
                <a:lumMod val="75000"/>
              </a:schemeClr>
            </a:solidFill>
            <a:round/>
            <a:headEnd/>
            <a:tailEnd/>
          </a:ln>
        </p:spPr>
        <p:txBody>
          <a:bodyPr wrap="none" lIns="91440" tIns="91440" rIns="0" bIns="91440" rtlCol="0" anchor="t" anchorCtr="0">
            <a:noAutofit/>
          </a:bodyPr>
          <a:lstStyle/>
          <a:p>
            <a:pPr>
              <a:spcBef>
                <a:spcPct val="50000"/>
              </a:spcBef>
              <a:spcAft>
                <a:spcPct val="30000"/>
              </a:spcAft>
              <a:buClr>
                <a:schemeClr val="tx1"/>
              </a:buClr>
            </a:pPr>
            <a:r>
              <a:rPr lang="en-US" sz="1600">
                <a:solidFill>
                  <a:schemeClr val="bg1"/>
                </a:solidFill>
                <a:latin typeface="Lucida Console" pitchFamily="49" charset="0"/>
              </a:rPr>
              <a:t>C:\</a:t>
            </a:r>
            <a:r>
              <a:rPr lang="en-US" sz="1600" smtClean="0">
                <a:solidFill>
                  <a:schemeClr val="bg1"/>
                </a:solidFill>
                <a:latin typeface="Lucida Console" pitchFamily="49" charset="0"/>
              </a:rPr>
              <a:t>Guidewire\PolicyCenter\bin&gt;gwpc </a:t>
            </a:r>
            <a:r>
              <a:rPr lang="en-US" sz="1600">
                <a:solidFill>
                  <a:schemeClr val="bg1"/>
                </a:solidFill>
                <a:latin typeface="Lucida Console" pitchFamily="49" charset="0"/>
              </a:rPr>
              <a:t>dev-start</a:t>
            </a:r>
          </a:p>
          <a:p>
            <a:pPr>
              <a:spcBef>
                <a:spcPct val="50000"/>
              </a:spcBef>
              <a:spcAft>
                <a:spcPct val="30000"/>
              </a:spcAft>
              <a:buClr>
                <a:schemeClr val="tx1"/>
              </a:buClr>
            </a:pPr>
            <a:r>
              <a:rPr lang="en-US" sz="1600">
                <a:solidFill>
                  <a:schemeClr val="bg1"/>
                </a:solidFill>
                <a:latin typeface="Lucida Console" pitchFamily="49" charset="0"/>
              </a:rPr>
              <a:t>dev-start</a:t>
            </a:r>
            <a:r>
              <a:rPr lang="en-US" sz="1600" smtClean="0">
                <a:solidFill>
                  <a:schemeClr val="bg1"/>
                </a:solidFill>
                <a:latin typeface="Lucida Console" pitchFamily="49" charset="0"/>
              </a:rPr>
              <a:t>:</a:t>
            </a:r>
            <a:br>
              <a:rPr lang="en-US" sz="1600" smtClean="0">
                <a:solidFill>
                  <a:schemeClr val="bg1"/>
                </a:solidFill>
                <a:latin typeface="Lucida Console" pitchFamily="49" charset="0"/>
              </a:rPr>
            </a:br>
            <a:r>
              <a:rPr lang="en-US" sz="1600" smtClean="0">
                <a:solidFill>
                  <a:schemeClr val="bg1"/>
                </a:solidFill>
                <a:latin typeface="Lucida Console" pitchFamily="49" charset="0"/>
              </a:rPr>
              <a:t>====================================================</a:t>
            </a:r>
            <a:br>
              <a:rPr lang="en-US" sz="1600" smtClean="0">
                <a:solidFill>
                  <a:schemeClr val="bg1"/>
                </a:solidFill>
                <a:latin typeface="Lucida Console" pitchFamily="49" charset="0"/>
              </a:rPr>
            </a:br>
            <a:r>
              <a:rPr lang="en-US" sz="1600" smtClean="0">
                <a:solidFill>
                  <a:schemeClr val="bg1"/>
                </a:solidFill>
                <a:latin typeface="Lucida Console" pitchFamily="49" charset="0"/>
              </a:rPr>
              <a:t>= </a:t>
            </a:r>
            <a:r>
              <a:rPr lang="en-US" sz="1600">
                <a:solidFill>
                  <a:schemeClr val="bg1"/>
                </a:solidFill>
                <a:latin typeface="Lucida Console" pitchFamily="49" charset="0"/>
              </a:rPr>
              <a:t>Running main class: </a:t>
            </a:r>
            <a:r>
              <a:rPr lang="en-US" sz="1600" smtClean="0">
                <a:solidFill>
                  <a:schemeClr val="bg1"/>
                </a:solidFill>
                <a:latin typeface="Lucida Console" pitchFamily="49" charset="0"/>
              </a:rPr>
              <a:t/>
            </a:r>
            <a:br>
              <a:rPr lang="en-US" sz="1600" smtClean="0">
                <a:solidFill>
                  <a:schemeClr val="bg1"/>
                </a:solidFill>
                <a:latin typeface="Lucida Console" pitchFamily="49" charset="0"/>
              </a:rPr>
            </a:br>
            <a:r>
              <a:rPr lang="en-US" sz="1600" smtClean="0">
                <a:solidFill>
                  <a:schemeClr val="bg1"/>
                </a:solidFill>
                <a:latin typeface="Lucida Console" pitchFamily="49" charset="0"/>
              </a:rPr>
              <a:t> com.guidewire.commons.jetty.GWServerJettyServerMain</a:t>
            </a:r>
          </a:p>
          <a:p>
            <a:pPr>
              <a:spcBef>
                <a:spcPct val="50000"/>
              </a:spcBef>
              <a:spcAft>
                <a:spcPct val="30000"/>
              </a:spcAft>
              <a:buClr>
                <a:schemeClr val="tx1"/>
              </a:buClr>
            </a:pPr>
            <a:r>
              <a:rPr lang="en-US" sz="1600" smtClean="0">
                <a:solidFill>
                  <a:schemeClr val="bg1"/>
                </a:solidFill>
                <a:latin typeface="Lucida Console" pitchFamily="49" charset="0"/>
              </a:rPr>
              <a:t>…</a:t>
            </a:r>
          </a:p>
          <a:p>
            <a:pPr>
              <a:spcBef>
                <a:spcPct val="50000"/>
              </a:spcBef>
              <a:spcAft>
                <a:spcPct val="30000"/>
              </a:spcAft>
              <a:buClr>
                <a:schemeClr val="tx1"/>
              </a:buClr>
            </a:pPr>
            <a:r>
              <a:rPr lang="en-US" sz="1600" smtClean="0">
                <a:solidFill>
                  <a:schemeClr val="bg1"/>
                </a:solidFill>
                <a:latin typeface="Lucida Console" pitchFamily="49" charset="0"/>
              </a:rPr>
              <a:t>[JAVA] machine   2014-10-10  INFO </a:t>
            </a:r>
            <a:r>
              <a:rPr lang="en-US" sz="1600">
                <a:solidFill>
                  <a:schemeClr val="bg1"/>
                </a:solidFill>
                <a:latin typeface="Lucida Console" pitchFamily="49" charset="0"/>
              </a:rPr>
              <a:t>***** </a:t>
            </a:r>
            <a:r>
              <a:rPr lang="en-US" sz="1600" smtClean="0">
                <a:solidFill>
                  <a:schemeClr val="bg1"/>
                </a:solidFill>
                <a:latin typeface="Lucida Console" pitchFamily="49" charset="0"/>
              </a:rPr>
              <a:t>PolicyCenter </a:t>
            </a:r>
            <a:r>
              <a:rPr lang="en-US" sz="1600">
                <a:solidFill>
                  <a:schemeClr val="bg1"/>
                </a:solidFill>
                <a:latin typeface="Lucida Console" pitchFamily="49" charset="0"/>
              </a:rPr>
              <a:t>ready *****</a:t>
            </a:r>
          </a:p>
        </p:txBody>
      </p:sp>
      <p:sp>
        <p:nvSpPr>
          <p:cNvPr id="5"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a:t>Step 1</a:t>
            </a:r>
          </a:p>
        </p:txBody>
      </p:sp>
      <p:pic>
        <p:nvPicPr>
          <p:cNvPr id="7" name="Picture 6" descr="PolicyCenter.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98738" y="133350"/>
            <a:ext cx="565862"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21191727"/>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Enable rules</a:t>
            </a:r>
            <a:endParaRPr lang="en-US"/>
          </a:p>
        </p:txBody>
      </p:sp>
      <p:sp>
        <p:nvSpPr>
          <p:cNvPr id="5" name="Subtitle 4"/>
          <p:cNvSpPr>
            <a:spLocks noGrp="1"/>
          </p:cNvSpPr>
          <p:nvPr>
            <p:ph type="subTitle" idx="10"/>
          </p:nvPr>
        </p:nvSpPr>
        <p:spPr/>
        <p:txBody>
          <a:bodyPr/>
          <a:lstStyle/>
          <a:p>
            <a:r>
              <a:rPr lang="en-US" smtClean="0"/>
              <a:t>Preupdate</a:t>
            </a:r>
            <a:endParaRPr lang="en-US"/>
          </a:p>
        </p:txBody>
      </p:sp>
      <p:sp>
        <p:nvSpPr>
          <p:cNvPr id="6" name="Text Placeholder 5"/>
          <p:cNvSpPr>
            <a:spLocks noGrp="1"/>
          </p:cNvSpPr>
          <p:nvPr>
            <p:ph type="body" sz="quarter" idx="11"/>
          </p:nvPr>
        </p:nvSpPr>
        <p:spPr/>
        <p:txBody>
          <a:bodyPr/>
          <a:lstStyle/>
          <a:p>
            <a:r>
              <a:rPr lang="en-US" smtClean="0"/>
              <a:t>EventMessage rules</a:t>
            </a:r>
            <a:endParaRPr lang="en-US"/>
          </a:p>
        </p:txBody>
      </p:sp>
      <p:sp>
        <p:nvSpPr>
          <p:cNvPr id="4" name="Content Placeholder 3"/>
          <p:cNvSpPr>
            <a:spLocks noGrp="1"/>
          </p:cNvSpPr>
          <p:nvPr>
            <p:ph sz="half" idx="2"/>
          </p:nvPr>
        </p:nvSpPr>
        <p:spPr/>
        <p:txBody>
          <a:bodyPr/>
          <a:lstStyle/>
          <a:p>
            <a:r>
              <a:rPr lang="en-US" smtClean="0"/>
              <a:t>EventFired</a:t>
            </a:r>
            <a:br>
              <a:rPr lang="en-US" smtClean="0"/>
            </a:br>
            <a:r>
              <a:rPr lang="en-US" smtClean="0">
                <a:sym typeface="Wingdings"/>
              </a:rPr>
              <a:t> </a:t>
            </a:r>
            <a:r>
              <a:rPr lang="en-US" smtClean="0"/>
              <a:t>EFRO6000 - Policy System Notification</a:t>
            </a:r>
          </a:p>
          <a:p>
            <a:endParaRPr lang="en-US"/>
          </a:p>
        </p:txBody>
      </p:sp>
      <p:sp>
        <p:nvSpPr>
          <p:cNvPr id="3" name="Content Placeholder 2"/>
          <p:cNvSpPr>
            <a:spLocks noGrp="1"/>
          </p:cNvSpPr>
          <p:nvPr>
            <p:ph sz="half" idx="1"/>
          </p:nvPr>
        </p:nvSpPr>
        <p:spPr/>
        <p:txBody>
          <a:bodyPr/>
          <a:lstStyle/>
          <a:p>
            <a:r>
              <a:rPr lang="en-US" smtClean="0"/>
              <a:t>TransactionSetPreupdate</a:t>
            </a:r>
            <a:br>
              <a:rPr lang="en-US" smtClean="0"/>
            </a:br>
            <a:r>
              <a:rPr lang="en-US" smtClean="0">
                <a:sym typeface="Wingdings"/>
              </a:rPr>
              <a:t></a:t>
            </a:r>
            <a:r>
              <a:rPr lang="en-US" smtClean="0"/>
              <a:t> </a:t>
            </a:r>
            <a:r>
              <a:rPr lang="en-US"/>
              <a:t>TPU5000 - Large Loss Notification</a:t>
            </a:r>
          </a:p>
          <a:p>
            <a:endParaRPr lang="en-US"/>
          </a:p>
        </p:txBody>
      </p:sp>
      <p:pic>
        <p:nvPicPr>
          <p:cNvPr id="1030" name="Picture 6" descr="C:\Users\sluersen\AppData\Local\Temp\SNAGHTMLac27d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4243250"/>
            <a:ext cx="3838095" cy="193142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32" name="Picture 8" descr="C:\Users\sluersen\AppData\Local\Temp\SNAGHTMLac5360.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4271553"/>
            <a:ext cx="3838095" cy="193142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1" name="Straight Arrow Connector 10"/>
          <p:cNvCxnSpPr/>
          <p:nvPr/>
        </p:nvCxnSpPr>
        <p:spPr bwMode="auto">
          <a:xfrm flipH="1">
            <a:off x="7905206" y="6019800"/>
            <a:ext cx="228600" cy="0"/>
          </a:xfrm>
          <a:prstGeom prst="straightConnector1">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14" name="Straight Arrow Connector 13"/>
          <p:cNvCxnSpPr/>
          <p:nvPr/>
        </p:nvCxnSpPr>
        <p:spPr bwMode="auto">
          <a:xfrm flipH="1">
            <a:off x="3505200" y="5867400"/>
            <a:ext cx="228600" cy="0"/>
          </a:xfrm>
          <a:prstGeom prst="straightConnector1">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sp>
        <p:nvSpPr>
          <p:cNvPr id="15"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a:t>Step </a:t>
            </a:r>
            <a:r>
              <a:rPr lang="en-US" smtClean="0"/>
              <a:t>2</a:t>
            </a:r>
            <a:endParaRPr lang="en-US"/>
          </a:p>
        </p:txBody>
      </p:sp>
      <p:pic>
        <p:nvPicPr>
          <p:cNvPr id="16" name="Picture 1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92388" y="130810"/>
            <a:ext cx="565862"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00894654"/>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Enable the messaging destination</a:t>
            </a:r>
            <a:endParaRPr lang="en-US"/>
          </a:p>
        </p:txBody>
      </p:sp>
      <p:sp>
        <p:nvSpPr>
          <p:cNvPr id="4" name="Content Placeholder 3"/>
          <p:cNvSpPr>
            <a:spLocks noGrp="1"/>
          </p:cNvSpPr>
          <p:nvPr>
            <p:ph idx="1"/>
          </p:nvPr>
        </p:nvSpPr>
        <p:spPr>
          <a:xfrm>
            <a:off x="519113" y="5791200"/>
            <a:ext cx="8318500" cy="609600"/>
          </a:xfrm>
        </p:spPr>
        <p:txBody>
          <a:bodyPr/>
          <a:lstStyle/>
          <a:p>
            <a:r>
              <a:rPr lang="en-US" smtClean="0"/>
              <a:t>Enable PolicySystemNotification messaging destination</a:t>
            </a:r>
            <a:endParaRPr lang="en-US"/>
          </a:p>
        </p:txBody>
      </p:sp>
      <p:pic>
        <p:nvPicPr>
          <p:cNvPr id="2052" name="Picture 4" descr="C:\Users\sluersen\AppData\Local\Temp\SNAGHTMLb9572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953" y="914400"/>
            <a:ext cx="8303622" cy="4703667"/>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7" name="Straight Arrow Connector 6"/>
          <p:cNvCxnSpPr/>
          <p:nvPr/>
        </p:nvCxnSpPr>
        <p:spPr bwMode="auto">
          <a:xfrm flipH="1">
            <a:off x="8255726" y="1758791"/>
            <a:ext cx="228600" cy="0"/>
          </a:xfrm>
          <a:prstGeom prst="straightConnector1">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sp>
        <p:nvSpPr>
          <p:cNvPr id="9"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a:t>Step </a:t>
            </a:r>
            <a:r>
              <a:rPr lang="en-US" smtClean="0"/>
              <a:t>3</a:t>
            </a:r>
            <a:endParaRPr lang="en-US"/>
          </a:p>
        </p:txBody>
      </p:sp>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92388" y="130810"/>
            <a:ext cx="565862"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866390169"/>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3776" y="118872"/>
            <a:ext cx="8726424" cy="742951"/>
          </a:xfrm>
        </p:spPr>
        <p:txBody>
          <a:bodyPr/>
          <a:lstStyle/>
          <a:p>
            <a:r>
              <a:rPr lang="en-US" smtClean="0"/>
              <a:t>Enable the message transport </a:t>
            </a:r>
            <a:r>
              <a:rPr lang="en-US"/>
              <a:t>plugin </a:t>
            </a:r>
            <a:br>
              <a:rPr lang="en-US"/>
            </a:br>
            <a:r>
              <a:rPr lang="en-US" smtClean="0"/>
              <a:t> </a:t>
            </a:r>
            <a:endParaRPr lang="en-US"/>
          </a:p>
        </p:txBody>
      </p:sp>
      <p:sp>
        <p:nvSpPr>
          <p:cNvPr id="5" name="Content Placeholder 4"/>
          <p:cNvSpPr>
            <a:spLocks noGrp="1"/>
          </p:cNvSpPr>
          <p:nvPr>
            <p:ph idx="1"/>
          </p:nvPr>
        </p:nvSpPr>
        <p:spPr/>
        <p:txBody>
          <a:bodyPr/>
          <a:lstStyle/>
          <a:p>
            <a:r>
              <a:rPr lang="en-US" smtClean="0"/>
              <a:t>Enable the policySystemNotificationTransport plugin</a:t>
            </a:r>
            <a:endParaRPr lang="en-US"/>
          </a:p>
        </p:txBody>
      </p:sp>
      <p:pic>
        <p:nvPicPr>
          <p:cNvPr id="3074" name="Picture 2" descr="C:\Users\sluersen\AppData\Local\Temp\SNAGHTMLfde34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1" y="3657600"/>
            <a:ext cx="8305799" cy="2738396"/>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6" name="Straight Arrow Connector 5"/>
          <p:cNvCxnSpPr/>
          <p:nvPr/>
        </p:nvCxnSpPr>
        <p:spPr bwMode="auto">
          <a:xfrm>
            <a:off x="4686300" y="5372100"/>
            <a:ext cx="228600" cy="0"/>
          </a:xfrm>
          <a:prstGeom prst="straightConnector1">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sp>
        <p:nvSpPr>
          <p:cNvPr id="8"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a:t>Step </a:t>
            </a:r>
            <a:r>
              <a:rPr lang="en-US" smtClean="0"/>
              <a:t>4</a:t>
            </a:r>
            <a:endParaRPr lang="en-US"/>
          </a:p>
        </p:txBody>
      </p: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92388" y="130810"/>
            <a:ext cx="565862"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241862257"/>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Picture 6" descr="C:\Users\sluersen\AppData\Local\Temp\SNAGHTML1a28398.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3657599"/>
            <a:ext cx="8406762" cy="272704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493776" y="118872"/>
            <a:ext cx="8650224" cy="742951"/>
          </a:xfrm>
        </p:spPr>
        <p:txBody>
          <a:bodyPr/>
          <a:lstStyle/>
          <a:p>
            <a:r>
              <a:rPr lang="en-US" smtClean="0"/>
              <a:t>Edit IPolicySystemNotificationPlugin</a:t>
            </a:r>
            <a:endParaRPr lang="en-US"/>
          </a:p>
        </p:txBody>
      </p:sp>
      <p:sp>
        <p:nvSpPr>
          <p:cNvPr id="3" name="Content Placeholder 2"/>
          <p:cNvSpPr>
            <a:spLocks noGrp="1"/>
          </p:cNvSpPr>
          <p:nvPr>
            <p:ph idx="1"/>
          </p:nvPr>
        </p:nvSpPr>
        <p:spPr/>
        <p:txBody>
          <a:bodyPr/>
          <a:lstStyle/>
          <a:p>
            <a:r>
              <a:rPr lang="en-US"/>
              <a:t>Open the </a:t>
            </a:r>
            <a:r>
              <a:rPr lang="en-US" smtClean="0"/>
              <a:t>IPolicySystemNotificationPlugin</a:t>
            </a:r>
          </a:p>
          <a:p>
            <a:pPr marL="800100" lvl="1" indent="-457200">
              <a:buFont typeface="+mj-lt"/>
              <a:buAutoNum type="arabicPeriod"/>
            </a:pPr>
            <a:r>
              <a:rPr lang="en-US" smtClean="0"/>
              <a:t>Change </a:t>
            </a:r>
            <a:r>
              <a:rPr lang="en-US"/>
              <a:t>the Gosu class </a:t>
            </a:r>
            <a:r>
              <a:rPr lang="en-US" smtClean="0"/>
              <a:t>to </a:t>
            </a:r>
            <a:r>
              <a:rPr lang="en-US" b="1" smtClean="0">
                <a:latin typeface="Courier New" pitchFamily="49" charset="0"/>
                <a:cs typeface="Courier New" pitchFamily="49" charset="0"/>
              </a:rPr>
              <a:t>gw.plugin.policy.notification.pc800.</a:t>
            </a:r>
            <a:br>
              <a:rPr lang="en-US" b="1" smtClean="0">
                <a:latin typeface="Courier New" pitchFamily="49" charset="0"/>
                <a:cs typeface="Courier New" pitchFamily="49" charset="0"/>
              </a:rPr>
            </a:br>
            <a:r>
              <a:rPr lang="en-US" b="1" smtClean="0">
                <a:latin typeface="Courier New" pitchFamily="49" charset="0"/>
                <a:cs typeface="Courier New" pitchFamily="49" charset="0"/>
              </a:rPr>
              <a:t>PCPolicySystemNotificationPlugin</a:t>
            </a:r>
            <a:endParaRPr lang="en-US" b="1">
              <a:latin typeface="Courier New" pitchFamily="49" charset="0"/>
              <a:cs typeface="Courier New" pitchFamily="49" charset="0"/>
            </a:endParaRPr>
          </a:p>
          <a:p>
            <a:pPr marL="800100" lvl="1" indent="-457200">
              <a:buFont typeface="+mj-lt"/>
              <a:buAutoNum type="arabicPeriod"/>
            </a:pPr>
            <a:r>
              <a:rPr lang="en-US" smtClean="0"/>
              <a:t>If disabled, enable plugin configuration</a:t>
            </a:r>
            <a:endParaRPr lang="en-US"/>
          </a:p>
        </p:txBody>
      </p:sp>
      <p:sp>
        <p:nvSpPr>
          <p:cNvPr id="5" name="num3"/>
          <p:cNvSpPr/>
          <p:nvPr/>
        </p:nvSpPr>
        <p:spPr bwMode="auto">
          <a:xfrm>
            <a:off x="4686300" y="518160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smtClean="0">
                <a:solidFill>
                  <a:schemeClr val="accent1"/>
                </a:solidFill>
              </a:rPr>
              <a:t>2</a:t>
            </a:r>
            <a:endParaRPr lang="en-US"/>
          </a:p>
        </p:txBody>
      </p:sp>
      <p:sp>
        <p:nvSpPr>
          <p:cNvPr id="6" name="num1"/>
          <p:cNvSpPr/>
          <p:nvPr/>
        </p:nvSpPr>
        <p:spPr bwMode="auto">
          <a:xfrm>
            <a:off x="8229600" y="4318139"/>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smtClean="0">
                <a:solidFill>
                  <a:schemeClr val="accent1"/>
                </a:solidFill>
              </a:rPr>
              <a:t>1</a:t>
            </a:r>
            <a:endParaRPr lang="en-US"/>
          </a:p>
        </p:txBody>
      </p:sp>
      <p:sp>
        <p:nvSpPr>
          <p:cNvPr id="8"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a:t>Step </a:t>
            </a:r>
            <a:r>
              <a:rPr lang="en-US" smtClean="0"/>
              <a:t>5</a:t>
            </a:r>
            <a:endParaRPr lang="en-US"/>
          </a:p>
        </p:txBody>
      </p: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92388" y="130810"/>
            <a:ext cx="565862"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871877092"/>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sluersen\AppData\Local\Temp\SNAGHTMLe05d9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667000"/>
            <a:ext cx="5552858" cy="37790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a:t>Refresh web service collection WSDL</a:t>
            </a:r>
          </a:p>
        </p:txBody>
      </p:sp>
      <p:sp>
        <p:nvSpPr>
          <p:cNvPr id="3" name="Content Placeholder 2"/>
          <p:cNvSpPr>
            <a:spLocks noGrp="1"/>
          </p:cNvSpPr>
          <p:nvPr>
            <p:ph idx="1"/>
          </p:nvPr>
        </p:nvSpPr>
        <p:spPr/>
        <p:txBody>
          <a:bodyPr/>
          <a:lstStyle/>
          <a:p>
            <a:r>
              <a:rPr lang="en-US" dirty="0"/>
              <a:t>Open the </a:t>
            </a:r>
            <a:r>
              <a:rPr lang="en-US" dirty="0" smtClean="0"/>
              <a:t>pc800.wsc </a:t>
            </a:r>
            <a:r>
              <a:rPr lang="en-US" dirty="0"/>
              <a:t>collection in Studio</a:t>
            </a:r>
          </a:p>
          <a:p>
            <a:pPr lvl="1"/>
            <a:r>
              <a:rPr lang="en-US" b="1" dirty="0" smtClean="0">
                <a:latin typeface="Courier New" pitchFamily="49" charset="0"/>
                <a:cs typeface="Courier New" pitchFamily="49" charset="0"/>
              </a:rPr>
              <a:t>…\</a:t>
            </a:r>
            <a:r>
              <a:rPr lang="en-US" b="1" dirty="0" err="1" smtClean="0">
                <a:latin typeface="Courier New" pitchFamily="49" charset="0"/>
                <a:cs typeface="Courier New" pitchFamily="49" charset="0"/>
              </a:rPr>
              <a:t>gsrc</a:t>
            </a:r>
            <a:r>
              <a:rPr lang="en-US" b="1" dirty="0" smtClean="0">
                <a:latin typeface="Courier New" pitchFamily="49" charset="0"/>
                <a:cs typeface="Courier New" pitchFamily="49" charset="0"/>
              </a:rPr>
              <a:t>\</a:t>
            </a:r>
            <a:r>
              <a:rPr lang="en-US" b="1" dirty="0" err="1" smtClean="0">
                <a:latin typeface="Courier New" pitchFamily="49" charset="0"/>
                <a:cs typeface="Courier New" pitchFamily="49" charset="0"/>
              </a:rPr>
              <a:t>wsi</a:t>
            </a:r>
            <a:r>
              <a:rPr lang="en-US" b="1" dirty="0" smtClean="0">
                <a:latin typeface="Courier New" pitchFamily="49" charset="0"/>
                <a:cs typeface="Courier New" pitchFamily="49" charset="0"/>
              </a:rPr>
              <a:t>\remote\gw\</a:t>
            </a:r>
            <a:r>
              <a:rPr lang="en-US" b="1" dirty="0" err="1" smtClean="0">
                <a:latin typeface="Courier New" pitchFamily="49" charset="0"/>
                <a:cs typeface="Courier New" pitchFamily="49" charset="0"/>
              </a:rPr>
              <a:t>webservice</a:t>
            </a:r>
            <a:r>
              <a:rPr lang="en-US" b="1" dirty="0" smtClean="0">
                <a:latin typeface="Courier New" pitchFamily="49" charset="0"/>
                <a:cs typeface="Courier New" pitchFamily="49" charset="0"/>
              </a:rPr>
              <a:t>\pc\pc800.wsc</a:t>
            </a:r>
            <a:endParaRPr lang="en-US" b="1" dirty="0">
              <a:latin typeface="Courier New" pitchFamily="49" charset="0"/>
              <a:cs typeface="Courier New" pitchFamily="49" charset="0"/>
            </a:endParaRPr>
          </a:p>
          <a:p>
            <a:r>
              <a:rPr lang="en-US" dirty="0">
                <a:cs typeface="Courier New" pitchFamily="49" charset="0"/>
              </a:rPr>
              <a:t>To refresh the web service collection WSDL, click Fetch Updates</a:t>
            </a:r>
          </a:p>
        </p:txBody>
      </p:sp>
      <p:cxnSp>
        <p:nvCxnSpPr>
          <p:cNvPr id="8" name="Straight Arrow Connector 7"/>
          <p:cNvCxnSpPr/>
          <p:nvPr/>
        </p:nvCxnSpPr>
        <p:spPr bwMode="auto">
          <a:xfrm flipH="1">
            <a:off x="4724399" y="4100812"/>
            <a:ext cx="247325" cy="0"/>
          </a:xfrm>
          <a:prstGeom prst="straightConnector1">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sp>
        <p:nvSpPr>
          <p:cNvPr id="10"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dirty="0"/>
              <a:t>Step </a:t>
            </a:r>
            <a:r>
              <a:rPr lang="en-US" dirty="0" smtClean="0"/>
              <a:t>6</a:t>
            </a:r>
            <a:endParaRPr lang="en-US" dirty="0"/>
          </a:p>
        </p:txBody>
      </p:sp>
      <p:pic>
        <p:nvPicPr>
          <p:cNvPr id="9" name="pic Logo CC"/>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92388" y="130810"/>
            <a:ext cx="565862"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337060641"/>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ounded Rectangle 29"/>
          <p:cNvSpPr/>
          <p:nvPr/>
        </p:nvSpPr>
        <p:spPr bwMode="auto">
          <a:xfrm>
            <a:off x="562028" y="3581400"/>
            <a:ext cx="3628972" cy="2743200"/>
          </a:xfrm>
          <a:prstGeom prst="roundRect">
            <a:avLst>
              <a:gd name="adj" fmla="val 8642"/>
            </a:avLst>
          </a:prstGeom>
          <a:ln w="28575">
            <a:headEnd/>
            <a:tailEnd/>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smtClean="0"/>
              <a:t>Deploy your changes</a:t>
            </a:r>
            <a:endParaRPr lang="en-US"/>
          </a:p>
        </p:txBody>
      </p:sp>
      <p:sp>
        <p:nvSpPr>
          <p:cNvPr id="21" name="Subtitle 20"/>
          <p:cNvSpPr>
            <a:spLocks noGrp="1"/>
          </p:cNvSpPr>
          <p:nvPr>
            <p:ph type="subTitle" idx="10"/>
          </p:nvPr>
        </p:nvSpPr>
        <p:spPr/>
        <p:txBody>
          <a:bodyPr/>
          <a:lstStyle/>
          <a:p>
            <a:r>
              <a:rPr lang="en-US" smtClean="0"/>
              <a:t>Restart Server</a:t>
            </a:r>
          </a:p>
          <a:p>
            <a:endParaRPr lang="en-US"/>
          </a:p>
        </p:txBody>
      </p:sp>
      <p:sp>
        <p:nvSpPr>
          <p:cNvPr id="28" name="Text Placeholder 27"/>
          <p:cNvSpPr>
            <a:spLocks noGrp="1"/>
          </p:cNvSpPr>
          <p:nvPr>
            <p:ph type="body" sz="quarter" idx="11"/>
          </p:nvPr>
        </p:nvSpPr>
        <p:spPr/>
        <p:txBody>
          <a:bodyPr/>
          <a:lstStyle/>
          <a:p>
            <a:r>
              <a:rPr lang="en-US"/>
              <a:t>Reload Changed Classes</a:t>
            </a:r>
          </a:p>
          <a:p>
            <a:endParaRPr lang="en-US"/>
          </a:p>
        </p:txBody>
      </p:sp>
      <p:sp>
        <p:nvSpPr>
          <p:cNvPr id="27" name="Content Placeholder 26"/>
          <p:cNvSpPr>
            <a:spLocks noGrp="1"/>
          </p:cNvSpPr>
          <p:nvPr>
            <p:ph sz="half" idx="2"/>
          </p:nvPr>
        </p:nvSpPr>
        <p:spPr/>
        <p:txBody>
          <a:bodyPr/>
          <a:lstStyle/>
          <a:p>
            <a:r>
              <a:rPr lang="en-US"/>
              <a:t>Class and mapping files</a:t>
            </a:r>
          </a:p>
          <a:p>
            <a:endParaRPr lang="en-US"/>
          </a:p>
        </p:txBody>
      </p:sp>
      <p:sp>
        <p:nvSpPr>
          <p:cNvPr id="19" name="Content Placeholder 18"/>
          <p:cNvSpPr>
            <a:spLocks noGrp="1"/>
          </p:cNvSpPr>
          <p:nvPr>
            <p:ph sz="half" idx="1"/>
          </p:nvPr>
        </p:nvSpPr>
        <p:spPr/>
        <p:txBody>
          <a:bodyPr/>
          <a:lstStyle/>
          <a:p>
            <a:r>
              <a:rPr lang="en-US" dirty="0" smtClean="0"/>
              <a:t>Messaging destination</a:t>
            </a:r>
          </a:p>
          <a:p>
            <a:r>
              <a:rPr lang="en-US" dirty="0"/>
              <a:t>Plugin registry </a:t>
            </a:r>
            <a:r>
              <a:rPr lang="en-US" dirty="0" smtClean="0"/>
              <a:t>elements</a:t>
            </a:r>
          </a:p>
          <a:p>
            <a:r>
              <a:rPr lang="en-US" dirty="0"/>
              <a:t>Always required for</a:t>
            </a:r>
            <a:br>
              <a:rPr lang="en-US" dirty="0"/>
            </a:br>
            <a:r>
              <a:rPr lang="en-US" dirty="0"/>
              <a:t>cross-point integration</a:t>
            </a:r>
          </a:p>
          <a:p>
            <a:endParaRPr lang="en-US" dirty="0"/>
          </a:p>
          <a:p>
            <a:endParaRPr lang="en-US" dirty="0" smtClean="0"/>
          </a:p>
          <a:p>
            <a:endParaRPr lang="en-US" dirty="0"/>
          </a:p>
        </p:txBody>
      </p:sp>
      <p:sp>
        <p:nvSpPr>
          <p:cNvPr id="4"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dirty="0"/>
              <a:t>Step </a:t>
            </a:r>
            <a:r>
              <a:rPr lang="en-US" dirty="0" smtClean="0"/>
              <a:t>6</a:t>
            </a:r>
            <a:endParaRPr lang="en-US" dirty="0"/>
          </a:p>
        </p:txBody>
      </p:sp>
      <p:pic>
        <p:nvPicPr>
          <p:cNvPr id="17" name="icn Msg Destin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1227" y="3765352"/>
            <a:ext cx="1090613" cy="135062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9" name="Rounded Rectangle 28"/>
          <p:cNvSpPr/>
          <p:nvPr/>
        </p:nvSpPr>
        <p:spPr bwMode="auto">
          <a:xfrm>
            <a:off x="4800600" y="3581400"/>
            <a:ext cx="3810000" cy="2743200"/>
          </a:xfrm>
          <a:prstGeom prst="roundRect">
            <a:avLst>
              <a:gd name="adj" fmla="val 8642"/>
            </a:avLst>
          </a:prstGeom>
          <a:ln w="28575">
            <a:solidFill>
              <a:schemeClr val="accent6"/>
            </a:solidFill>
            <a:headEnd/>
            <a:tailEnd/>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33" name="Rectangle 32"/>
          <p:cNvSpPr/>
          <p:nvPr/>
        </p:nvSpPr>
        <p:spPr>
          <a:xfrm>
            <a:off x="685800" y="5334000"/>
            <a:ext cx="1400976" cy="584775"/>
          </a:xfrm>
          <a:prstGeom prst="rect">
            <a:avLst/>
          </a:prstGeom>
        </p:spPr>
        <p:txBody>
          <a:bodyPr wrap="square">
            <a:spAutoFit/>
          </a:bodyPr>
          <a:lstStyle/>
          <a:p>
            <a:pPr algn="ctr"/>
            <a:r>
              <a:rPr lang="en-US" sz="1600" b="1" smtClean="0">
                <a:solidFill>
                  <a:schemeClr val="bg1"/>
                </a:solidFill>
              </a:rPr>
              <a:t>Plugin </a:t>
            </a:r>
            <a:br>
              <a:rPr lang="en-US" sz="1600" b="1" smtClean="0">
                <a:solidFill>
                  <a:schemeClr val="bg1"/>
                </a:solidFill>
              </a:rPr>
            </a:br>
            <a:r>
              <a:rPr lang="en-US" sz="1600" b="1" smtClean="0">
                <a:solidFill>
                  <a:schemeClr val="bg1"/>
                </a:solidFill>
              </a:rPr>
              <a:t>Registry</a:t>
            </a:r>
            <a:endParaRPr lang="en-US" sz="1600" b="1">
              <a:solidFill>
                <a:schemeClr val="bg1"/>
              </a:solidFill>
            </a:endParaRPr>
          </a:p>
        </p:txBody>
      </p:sp>
      <p:grpSp>
        <p:nvGrpSpPr>
          <p:cNvPr id="7" name="icon GWP file"/>
          <p:cNvGrpSpPr>
            <a:grpSpLocks noChangeAspect="1"/>
          </p:cNvGrpSpPr>
          <p:nvPr/>
        </p:nvGrpSpPr>
        <p:grpSpPr>
          <a:xfrm>
            <a:off x="914400" y="3809234"/>
            <a:ext cx="1204992" cy="1344023"/>
            <a:chOff x="4558702" y="2146900"/>
            <a:chExt cx="1246792" cy="1390650"/>
          </a:xfrm>
        </p:grpSpPr>
        <p:pic>
          <p:nvPicPr>
            <p:cNvPr id="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9616" y="2146900"/>
              <a:ext cx="1058863" cy="1390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9" name="icon Plugin"/>
            <p:cNvGrpSpPr>
              <a:grpSpLocks/>
            </p:cNvGrpSpPr>
            <p:nvPr/>
          </p:nvGrpSpPr>
          <p:grpSpPr bwMode="auto">
            <a:xfrm>
              <a:off x="4592771" y="2308825"/>
              <a:ext cx="542255" cy="639158"/>
              <a:chOff x="4500" y="2762"/>
              <a:chExt cx="247" cy="291"/>
            </a:xfrm>
            <a:effectLst>
              <a:outerShdw blurRad="50800" dist="38100" dir="2700000" algn="tl" rotWithShape="0">
                <a:prstClr val="black">
                  <a:alpha val="40000"/>
                </a:prstClr>
              </a:outerShdw>
            </a:effectLst>
          </p:grpSpPr>
          <p:sp>
            <p:nvSpPr>
              <p:cNvPr id="11"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12"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13"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4"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sp>
          <p:nvSpPr>
            <p:cNvPr id="10" name="TextBox 9"/>
            <p:cNvSpPr txBox="1"/>
            <p:nvPr/>
          </p:nvSpPr>
          <p:spPr>
            <a:xfrm>
              <a:off x="4558702" y="2936002"/>
              <a:ext cx="1246792" cy="485656"/>
            </a:xfrm>
            <a:prstGeom prst="rect">
              <a:avLst/>
            </a:prstGeom>
            <a:noFill/>
          </p:spPr>
          <p:txBody>
            <a:bodyPr wrap="square" rtlCol="0">
              <a:noAutofit/>
            </a:bodyPr>
            <a:lstStyle/>
            <a:p>
              <a:pPr algn="ctr"/>
              <a:r>
                <a:rPr lang="en-US" sz="2400" b="1" smtClean="0">
                  <a:solidFill>
                    <a:schemeClr val="bg2"/>
                  </a:solidFill>
                  <a:latin typeface="Arial" pitchFamily="32" charset="0"/>
                  <a:cs typeface="Arial" pitchFamily="32" charset="0"/>
                </a:rPr>
                <a:t>GWP</a:t>
              </a:r>
            </a:p>
          </p:txBody>
        </p:sp>
      </p:grpSp>
      <p:sp>
        <p:nvSpPr>
          <p:cNvPr id="34" name="Rectangle 33"/>
          <p:cNvSpPr/>
          <p:nvPr/>
        </p:nvSpPr>
        <p:spPr>
          <a:xfrm>
            <a:off x="2356636" y="5329008"/>
            <a:ext cx="1400976" cy="584775"/>
          </a:xfrm>
          <a:prstGeom prst="rect">
            <a:avLst/>
          </a:prstGeom>
        </p:spPr>
        <p:txBody>
          <a:bodyPr wrap="square">
            <a:spAutoFit/>
          </a:bodyPr>
          <a:lstStyle/>
          <a:p>
            <a:pPr algn="ctr"/>
            <a:r>
              <a:rPr lang="en-US" sz="1600" b="1" smtClean="0">
                <a:solidFill>
                  <a:schemeClr val="bg1"/>
                </a:solidFill>
              </a:rPr>
              <a:t>Messaging Destination</a:t>
            </a:r>
            <a:endParaRPr lang="en-US" sz="1600" b="1">
              <a:solidFill>
                <a:schemeClr val="bg1"/>
              </a:solidFill>
            </a:endParaRPr>
          </a:p>
        </p:txBody>
      </p:sp>
      <p:pic>
        <p:nvPicPr>
          <p:cNvPr id="35" name="icon Rule Set Clas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29201" y="3724732"/>
            <a:ext cx="1515947" cy="135681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6" name="txt Rule Set Class"/>
          <p:cNvSpPr/>
          <p:nvPr/>
        </p:nvSpPr>
        <p:spPr>
          <a:xfrm>
            <a:off x="5029200" y="5336272"/>
            <a:ext cx="1460305" cy="584775"/>
          </a:xfrm>
          <a:prstGeom prst="rect">
            <a:avLst/>
          </a:prstGeom>
        </p:spPr>
        <p:txBody>
          <a:bodyPr wrap="square">
            <a:spAutoFit/>
          </a:bodyPr>
          <a:lstStyle/>
          <a:p>
            <a:pPr algn="ctr"/>
            <a:r>
              <a:rPr lang="en-US" sz="1600" b="1" smtClean="0">
                <a:solidFill>
                  <a:schemeClr val="bg1"/>
                </a:solidFill>
              </a:rPr>
              <a:t>Rule Set </a:t>
            </a:r>
            <a:br>
              <a:rPr lang="en-US" sz="1600" b="1" smtClean="0">
                <a:solidFill>
                  <a:schemeClr val="bg1"/>
                </a:solidFill>
              </a:rPr>
            </a:br>
            <a:r>
              <a:rPr lang="en-US" sz="1600" b="1" smtClean="0">
                <a:solidFill>
                  <a:schemeClr val="bg1"/>
                </a:solidFill>
              </a:rPr>
              <a:t>Class (.grs)</a:t>
            </a:r>
            <a:endParaRPr lang="en-US" sz="1600" b="1">
              <a:solidFill>
                <a:schemeClr val="bg1"/>
              </a:solidFill>
            </a:endParaRPr>
          </a:p>
        </p:txBody>
      </p:sp>
      <p:pic>
        <p:nvPicPr>
          <p:cNvPr id="38" name="icon Rule Class"/>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15874" y="3809234"/>
            <a:ext cx="1337526" cy="153599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9" name="txt Rule Class"/>
          <p:cNvSpPr/>
          <p:nvPr/>
        </p:nvSpPr>
        <p:spPr>
          <a:xfrm>
            <a:off x="6750572" y="5334000"/>
            <a:ext cx="1276866" cy="584775"/>
          </a:xfrm>
          <a:prstGeom prst="rect">
            <a:avLst/>
          </a:prstGeom>
        </p:spPr>
        <p:txBody>
          <a:bodyPr wrap="square">
            <a:spAutoFit/>
          </a:bodyPr>
          <a:lstStyle/>
          <a:p>
            <a:pPr algn="ctr"/>
            <a:r>
              <a:rPr lang="en-US" sz="1600" b="1" smtClean="0">
                <a:solidFill>
                  <a:schemeClr val="bg1"/>
                </a:solidFill>
              </a:rPr>
              <a:t>Rule </a:t>
            </a:r>
            <a:br>
              <a:rPr lang="en-US" sz="1600" b="1" smtClean="0">
                <a:solidFill>
                  <a:schemeClr val="bg1"/>
                </a:solidFill>
              </a:rPr>
            </a:br>
            <a:r>
              <a:rPr lang="en-US" sz="1600" b="1" smtClean="0">
                <a:solidFill>
                  <a:schemeClr val="bg1"/>
                </a:solidFill>
              </a:rPr>
              <a:t>Class (.gr)</a:t>
            </a:r>
            <a:endParaRPr lang="en-US" sz="1600" b="1">
              <a:solidFill>
                <a:schemeClr val="bg1"/>
              </a:solidFill>
            </a:endParaRPr>
          </a:p>
        </p:txBody>
      </p:sp>
      <p:pic>
        <p:nvPicPr>
          <p:cNvPr id="25" name="Picture 2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292388" y="130810"/>
            <a:ext cx="565862"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776734802"/>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Overview of </a:t>
            </a:r>
            <a:r>
              <a:rPr lang="en-US" dirty="0" smtClean="0"/>
              <a:t>PC/CC </a:t>
            </a:r>
            <a:r>
              <a:rPr lang="en-US" dirty="0"/>
              <a:t>integration</a:t>
            </a:r>
          </a:p>
          <a:p>
            <a:r>
              <a:rPr lang="en-US" dirty="0"/>
              <a:t>Policy search and retrieval</a:t>
            </a:r>
          </a:p>
          <a:p>
            <a:r>
              <a:rPr lang="en-US" dirty="0"/>
              <a:t>Large loss notification</a:t>
            </a:r>
          </a:p>
          <a:p>
            <a:r>
              <a:rPr lang="en-US" dirty="0">
                <a:solidFill>
                  <a:schemeClr val="bg1"/>
                </a:solidFill>
              </a:rPr>
              <a:t>Risk </a:t>
            </a:r>
            <a:r>
              <a:rPr lang="en-US" dirty="0" smtClean="0">
                <a:solidFill>
                  <a:schemeClr val="bg1"/>
                </a:solidFill>
              </a:rPr>
              <a:t>analysis</a:t>
            </a:r>
            <a:endParaRPr lang="en-US" dirty="0">
              <a:solidFill>
                <a:schemeClr val="bg1"/>
              </a:solidFill>
            </a:endParaRPr>
          </a:p>
        </p:txBody>
      </p:sp>
    </p:spTree>
    <p:extLst>
      <p:ext uri="{BB962C8B-B14F-4D97-AF65-F5344CB8AC3E}">
        <p14:creationId xmlns:p14="http://schemas.microsoft.com/office/powerpoint/2010/main" val="1665384982"/>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bwMode="auto">
          <a:xfrm>
            <a:off x="6324600" y="1371600"/>
            <a:ext cx="2560320" cy="5105400"/>
          </a:xfrm>
          <a:prstGeom prst="roundRect">
            <a:avLst>
              <a:gd name="adj" fmla="val 5270"/>
            </a:avLst>
          </a:prstGeom>
          <a:solidFill>
            <a:schemeClr val="accent5">
              <a:lumMod val="60000"/>
              <a:lumOff val="40000"/>
            </a:schemeClr>
          </a:solidFill>
          <a:ln w="19050" algn="ctr">
            <a:solidFill>
              <a:schemeClr val="accent5">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37" name="Rounded Rectangle 36"/>
          <p:cNvSpPr/>
          <p:nvPr/>
        </p:nvSpPr>
        <p:spPr bwMode="auto">
          <a:xfrm>
            <a:off x="533400" y="1371600"/>
            <a:ext cx="2560320" cy="5105400"/>
          </a:xfrm>
          <a:prstGeom prst="roundRect">
            <a:avLst>
              <a:gd name="adj" fmla="val 5270"/>
            </a:avLst>
          </a:prstGeom>
          <a:solidFill>
            <a:schemeClr val="accent3">
              <a:lumMod val="60000"/>
              <a:lumOff val="40000"/>
            </a:schemeClr>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38" name="Rounded Rectangle 37"/>
          <p:cNvSpPr/>
          <p:nvPr/>
        </p:nvSpPr>
        <p:spPr bwMode="auto">
          <a:xfrm>
            <a:off x="609600" y="1524000"/>
            <a:ext cx="2377440" cy="2176882"/>
          </a:xfrm>
          <a:prstGeom prst="roundRect">
            <a:avLst>
              <a:gd name="adj" fmla="val 4734"/>
            </a:avLst>
          </a:prstGeom>
          <a:solidFill>
            <a:schemeClr val="accent3">
              <a:lumMod val="20000"/>
              <a:lumOff val="80000"/>
            </a:schemeClr>
          </a:solidFill>
          <a:ln w="19050" algn="ctr">
            <a:solidFill>
              <a:schemeClr val="accent3"/>
            </a:solidFill>
            <a:round/>
            <a:headEnd/>
            <a:tailEnd/>
          </a:ln>
          <a:effectLst>
            <a:outerShdw blurRad="50800" dist="38100" dir="2700000" algn="tl" rotWithShape="0">
              <a:prstClr val="black">
                <a:alpha val="40000"/>
              </a:prstClr>
            </a:outerShdw>
          </a:effectLst>
        </p:spPr>
        <p:txBody>
          <a:bodyPr rot="0" spcFirstLastPara="0" vertOverflow="overflow" horzOverflow="overflow" vert="horz" wrap="none" lIns="45720" tIns="0" rIns="45720" bIns="0" numCol="1" spcCol="0" rtlCol="0" fromWordArt="0" anchor="t" anchorCtr="0" forceAA="0" compatLnSpc="1">
            <a:prstTxWarp prst="textNoShape">
              <a:avLst/>
            </a:prstTxWarp>
            <a:noAutofit/>
          </a:bodyPr>
          <a:lstStyle/>
          <a:p>
            <a:pPr>
              <a:spcBef>
                <a:spcPct val="50000"/>
              </a:spcBef>
              <a:spcAft>
                <a:spcPct val="30000"/>
              </a:spcAft>
              <a:buClr>
                <a:schemeClr val="tx1"/>
              </a:buClr>
            </a:pPr>
            <a:endParaRPr lang="en-US">
              <a:solidFill>
                <a:schemeClr val="bg1"/>
              </a:solidFill>
            </a:endParaRPr>
          </a:p>
        </p:txBody>
      </p:sp>
      <p:sp>
        <p:nvSpPr>
          <p:cNvPr id="4" name="Title 3"/>
          <p:cNvSpPr>
            <a:spLocks noGrp="1"/>
          </p:cNvSpPr>
          <p:nvPr>
            <p:ph type="title"/>
          </p:nvPr>
        </p:nvSpPr>
        <p:spPr/>
        <p:txBody>
          <a:bodyPr/>
          <a:lstStyle/>
          <a:p>
            <a:r>
              <a:rPr lang="en-US"/>
              <a:t>Claim information in PolicyCenter</a:t>
            </a:r>
          </a:p>
        </p:txBody>
      </p:sp>
      <p:pic>
        <p:nvPicPr>
          <p:cNvPr id="23" name="Picture 22" descr="PolicyCenter.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4738" y="899160"/>
            <a:ext cx="565862" cy="548640"/>
          </a:xfrm>
          <a:prstGeom prst="rect">
            <a:avLst/>
          </a:prstGeom>
          <a:effectLst>
            <a:outerShdw blurRad="50800" dist="38100" dir="2700000" algn="tl" rotWithShape="0">
              <a:prstClr val="black">
                <a:alpha val="40000"/>
              </a:prstClr>
            </a:outerShdw>
          </a:effectLst>
        </p:spPr>
      </p:pic>
      <p:sp>
        <p:nvSpPr>
          <p:cNvPr id="36" name="Rounded Rectangle 35"/>
          <p:cNvSpPr/>
          <p:nvPr/>
        </p:nvSpPr>
        <p:spPr bwMode="auto">
          <a:xfrm>
            <a:off x="685800" y="1600200"/>
            <a:ext cx="2103120" cy="365760"/>
          </a:xfrm>
          <a:prstGeom prst="roundRect">
            <a:avLst/>
          </a:prstGeom>
          <a:solidFill>
            <a:schemeClr val="tx1"/>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smtClean="0">
                <a:solidFill>
                  <a:schemeClr val="bg1"/>
                </a:solidFill>
              </a:rPr>
              <a:t>Loss History</a:t>
            </a:r>
            <a:endParaRPr lang="en-US">
              <a:solidFill>
                <a:schemeClr val="bg1"/>
              </a:solidFill>
            </a:endParaRPr>
          </a:p>
        </p:txBody>
      </p:sp>
      <p:pic>
        <p:nvPicPr>
          <p:cNvPr id="39" name="Picture 3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16315" y="895350"/>
            <a:ext cx="565862" cy="548640"/>
          </a:xfrm>
          <a:prstGeom prst="rect">
            <a:avLst/>
          </a:prstGeom>
          <a:effectLst>
            <a:outerShdw blurRad="50800" dist="38100" dir="2700000" algn="tl" rotWithShape="0">
              <a:prstClr val="black">
                <a:alpha val="40000"/>
              </a:prstClr>
            </a:outerShdw>
          </a:effectLst>
        </p:spPr>
      </p:pic>
      <p:sp>
        <p:nvSpPr>
          <p:cNvPr id="50" name="Rounded Rectangle 49"/>
          <p:cNvSpPr/>
          <p:nvPr/>
        </p:nvSpPr>
        <p:spPr bwMode="auto">
          <a:xfrm>
            <a:off x="6400800" y="1524000"/>
            <a:ext cx="2377440" cy="2176882"/>
          </a:xfrm>
          <a:prstGeom prst="roundRect">
            <a:avLst>
              <a:gd name="adj" fmla="val 4734"/>
            </a:avLst>
          </a:prstGeom>
          <a:solidFill>
            <a:schemeClr val="accent5">
              <a:lumMod val="20000"/>
              <a:lumOff val="80000"/>
            </a:schemeClr>
          </a:solidFill>
          <a:ln w="19050" algn="ctr">
            <a:solidFill>
              <a:schemeClr val="accent5"/>
            </a:solidFill>
            <a:round/>
            <a:headEnd/>
            <a:tailEnd/>
          </a:ln>
          <a:effectLst>
            <a:outerShdw blurRad="50800" dist="38100" dir="2700000" algn="tl" rotWithShape="0">
              <a:prstClr val="black">
                <a:alpha val="40000"/>
              </a:prstClr>
            </a:outerShdw>
          </a:effectLst>
        </p:spPr>
        <p:txBody>
          <a:bodyPr rot="0" spcFirstLastPara="0" vertOverflow="overflow" horzOverflow="overflow" vert="horz" wrap="none" lIns="45720" tIns="0" rIns="45720" bIns="0" numCol="1" spcCol="0" rtlCol="0" fromWordArt="0" anchor="t" anchorCtr="0" forceAA="0" compatLnSpc="1">
            <a:prstTxWarp prst="textNoShape">
              <a:avLst/>
            </a:prstTxWarp>
            <a:noAutofit/>
          </a:bodyPr>
          <a:lstStyle/>
          <a:p>
            <a:pPr>
              <a:spcBef>
                <a:spcPct val="50000"/>
              </a:spcBef>
              <a:spcAft>
                <a:spcPct val="30000"/>
              </a:spcAft>
              <a:buClr>
                <a:schemeClr val="tx1"/>
              </a:buClr>
            </a:pPr>
            <a:endParaRPr lang="en-US">
              <a:solidFill>
                <a:schemeClr val="bg1"/>
              </a:solidFill>
            </a:endParaRPr>
          </a:p>
        </p:txBody>
      </p:sp>
      <p:sp>
        <p:nvSpPr>
          <p:cNvPr id="20" name="Rounded Rectangle 19"/>
          <p:cNvSpPr/>
          <p:nvPr/>
        </p:nvSpPr>
        <p:spPr bwMode="auto">
          <a:xfrm>
            <a:off x="6515100" y="1600200"/>
            <a:ext cx="2103120" cy="365760"/>
          </a:xfrm>
          <a:prstGeom prst="roundRect">
            <a:avLst/>
          </a:prstGeom>
          <a:solidFill>
            <a:schemeClr val="tx1"/>
          </a:solidFill>
          <a:ln w="19050" algn="ctr">
            <a:solidFill>
              <a:schemeClr val="accent5"/>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smtClean="0">
                <a:solidFill>
                  <a:schemeClr val="bg1"/>
                </a:solidFill>
              </a:rPr>
              <a:t>Claims</a:t>
            </a:r>
            <a:endParaRPr lang="en-US">
              <a:solidFill>
                <a:schemeClr val="bg1"/>
              </a:solidFill>
            </a:endParaRPr>
          </a:p>
        </p:txBody>
      </p:sp>
      <p:sp>
        <p:nvSpPr>
          <p:cNvPr id="63" name="Text Box 6"/>
          <p:cNvSpPr txBox="1">
            <a:spLocks noChangeArrowheads="1"/>
          </p:cNvSpPr>
          <p:nvPr/>
        </p:nvSpPr>
        <p:spPr bwMode="hidden">
          <a:xfrm>
            <a:off x="3733799" y="5181600"/>
            <a:ext cx="1903029" cy="696442"/>
          </a:xfrm>
          <a:prstGeom prst="rect">
            <a:avLst/>
          </a:prstGeom>
          <a:solidFill>
            <a:schemeClr val="tx1">
              <a:lumMod val="95000"/>
            </a:schemeClr>
          </a:solidFill>
          <a:ln>
            <a:noFill/>
          </a:ln>
        </p:spPr>
        <p:txBody>
          <a:bodyPr wrap="none" lIns="91440" tIns="41029" rIns="91440" bIns="41029">
            <a:noAutofit/>
          </a:bodyPr>
          <a:lstStyle>
            <a:defPPr>
              <a:defRPr lang="en-US"/>
            </a:defPPr>
            <a:lvl1pPr algn="ctr">
              <a:defRPr sz="2000" b="0">
                <a:solidFill>
                  <a:schemeClr val="bg1"/>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r>
              <a:rPr lang="en-US" dirty="0" smtClean="0"/>
              <a:t>View the claim </a:t>
            </a:r>
            <a:br>
              <a:rPr lang="en-US" dirty="0" smtClean="0"/>
            </a:br>
            <a:r>
              <a:rPr lang="en-US" dirty="0" smtClean="0"/>
              <a:t>in ClaimCenter</a:t>
            </a:r>
            <a:endParaRPr lang="en-US" dirty="0"/>
          </a:p>
        </p:txBody>
      </p:sp>
      <p:sp>
        <p:nvSpPr>
          <p:cNvPr id="65" name="Text Box 28"/>
          <p:cNvSpPr txBox="1">
            <a:spLocks noChangeArrowheads="1"/>
          </p:cNvSpPr>
          <p:nvPr/>
        </p:nvSpPr>
        <p:spPr bwMode="hidden">
          <a:xfrm>
            <a:off x="3733799" y="1928683"/>
            <a:ext cx="1903029" cy="1043117"/>
          </a:xfrm>
          <a:prstGeom prst="rect">
            <a:avLst/>
          </a:prstGeom>
          <a:solidFill>
            <a:schemeClr val="tx1">
              <a:lumMod val="95000"/>
            </a:schemeClr>
          </a:solidFill>
          <a:ln>
            <a:noFill/>
          </a:ln>
        </p:spPr>
        <p:txBody>
          <a:bodyPr wrap="none" lIns="91440" tIns="41029" rIns="91440" bIns="41029">
            <a:noAutofit/>
          </a:bodyPr>
          <a:lstStyle>
            <a:defPPr>
              <a:defRPr lang="en-US"/>
            </a:defPPr>
            <a:lvl1pPr algn="ctr">
              <a:defRPr sz="2000" b="0">
                <a:solidFill>
                  <a:schemeClr val="bg1"/>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r>
              <a:rPr lang="en-US" dirty="0" smtClean="0"/>
              <a:t>ClaimCenter </a:t>
            </a:r>
            <a:br>
              <a:rPr lang="en-US" dirty="0" smtClean="0"/>
            </a:br>
            <a:r>
              <a:rPr lang="en-US" dirty="0" smtClean="0"/>
              <a:t>provides loss</a:t>
            </a:r>
            <a:br>
              <a:rPr lang="en-US" dirty="0" smtClean="0"/>
            </a:br>
            <a:r>
              <a:rPr lang="en-US" dirty="0" smtClean="0"/>
              <a:t>history</a:t>
            </a:r>
            <a:endParaRPr lang="en-US" dirty="0"/>
          </a:p>
        </p:txBody>
      </p:sp>
      <p:sp>
        <p:nvSpPr>
          <p:cNvPr id="66" name="Right Arrow 65"/>
          <p:cNvSpPr/>
          <p:nvPr/>
        </p:nvSpPr>
        <p:spPr bwMode="auto">
          <a:xfrm>
            <a:off x="3048000" y="5257800"/>
            <a:ext cx="651379" cy="528415"/>
          </a:xfrm>
          <a:prstGeom prst="rightArrow">
            <a:avLst/>
          </a:prstGeom>
          <a:gradFill flip="none" rotWithShape="1">
            <a:gsLst>
              <a:gs pos="0">
                <a:schemeClr val="accent3"/>
              </a:gs>
              <a:gs pos="100000">
                <a:schemeClr val="accent5"/>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3074"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45795" y="4197045"/>
            <a:ext cx="2341245" cy="1898955"/>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3075"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3804" y="5562600"/>
            <a:ext cx="2425226" cy="3446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6" name="Left Arrow 45"/>
          <p:cNvSpPr/>
          <p:nvPr/>
        </p:nvSpPr>
        <p:spPr bwMode="auto">
          <a:xfrm>
            <a:off x="5720846" y="2059991"/>
            <a:ext cx="651379" cy="533400"/>
          </a:xfrm>
          <a:prstGeom prst="leftArrow">
            <a:avLst/>
          </a:prstGeom>
          <a:gradFill flip="none" rotWithShape="1">
            <a:gsLst>
              <a:gs pos="0">
                <a:schemeClr val="accent3"/>
              </a:gs>
              <a:gs pos="100000">
                <a:schemeClr val="accent5"/>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47" name="Left Arrow 46"/>
          <p:cNvSpPr/>
          <p:nvPr/>
        </p:nvSpPr>
        <p:spPr bwMode="auto">
          <a:xfrm>
            <a:off x="3048000" y="2059991"/>
            <a:ext cx="651379" cy="533400"/>
          </a:xfrm>
          <a:prstGeom prst="leftArrow">
            <a:avLst/>
          </a:prstGeom>
          <a:gradFill flip="none" rotWithShape="1">
            <a:gsLst>
              <a:gs pos="0">
                <a:schemeClr val="accent3"/>
              </a:gs>
              <a:gs pos="100000">
                <a:schemeClr val="accent5"/>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48" name="Right Arrow 47"/>
          <p:cNvSpPr/>
          <p:nvPr/>
        </p:nvSpPr>
        <p:spPr bwMode="auto">
          <a:xfrm>
            <a:off x="5730371" y="5257993"/>
            <a:ext cx="651379" cy="528415"/>
          </a:xfrm>
          <a:prstGeom prst="rightArrow">
            <a:avLst/>
          </a:prstGeom>
          <a:gradFill flip="none" rotWithShape="1">
            <a:gsLst>
              <a:gs pos="0">
                <a:schemeClr val="accent3"/>
              </a:gs>
              <a:gs pos="100000">
                <a:schemeClr val="accent5"/>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3076" name="Picture 4"/>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441733" y="4229749"/>
            <a:ext cx="2365082" cy="1903702"/>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059676612"/>
      </p:ext>
    </p:extLst>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10000"/>
                    </a14:imgEffect>
                    <a14:imgEffect>
                      <a14:brightnessContrast bright="-10000" contrast="15000"/>
                    </a14:imgEffect>
                  </a14:imgLayer>
                </a14:imgProps>
              </a:ext>
              <a:ext uri="{28A0092B-C50C-407E-A947-70E740481C1C}">
                <a14:useLocalDpi xmlns:a14="http://schemas.microsoft.com/office/drawing/2010/main" val="0"/>
              </a:ext>
            </a:extLst>
          </a:blip>
          <a:srcRect/>
          <a:stretch>
            <a:fillRect/>
          </a:stretch>
        </p:blipFill>
        <p:spPr bwMode="auto">
          <a:xfrm>
            <a:off x="173771" y="895350"/>
            <a:ext cx="4969758" cy="5123798"/>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scene3d>
            <a:camera prst="perspectiveContrastingRightFacing"/>
            <a:lightRig rig="threePt" dir="t"/>
          </a:scene3d>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p:txBody>
          <a:bodyPr/>
          <a:lstStyle/>
          <a:p>
            <a:r>
              <a:rPr lang="en-US"/>
              <a:t>Claims search and view on a policy </a:t>
            </a:r>
          </a:p>
        </p:txBody>
      </p:sp>
      <p:sp>
        <p:nvSpPr>
          <p:cNvPr id="5" name="Content Placeholder 4"/>
          <p:cNvSpPr>
            <a:spLocks noGrp="1"/>
          </p:cNvSpPr>
          <p:nvPr>
            <p:ph sz="half" idx="2"/>
          </p:nvPr>
        </p:nvSpPr>
        <p:spPr>
          <a:xfrm>
            <a:off x="5029200" y="1981200"/>
            <a:ext cx="3794760" cy="4408490"/>
          </a:xfrm>
        </p:spPr>
        <p:txBody>
          <a:bodyPr/>
          <a:lstStyle/>
          <a:p>
            <a:r>
              <a:rPr lang="en-US" smtClean="0"/>
              <a:t>To </a:t>
            </a:r>
            <a:r>
              <a:rPr lang="en-US"/>
              <a:t>determine whether to renew a </a:t>
            </a:r>
            <a:r>
              <a:rPr lang="en-US" smtClean="0"/>
              <a:t>policy, underwriter </a:t>
            </a:r>
            <a:r>
              <a:rPr lang="en-US"/>
              <a:t>or risk manager searches for </a:t>
            </a:r>
            <a:r>
              <a:rPr lang="en-US" smtClean="0"/>
              <a:t>claims</a:t>
            </a:r>
          </a:p>
          <a:p>
            <a:pPr marL="457200" indent="-457200">
              <a:buFont typeface="+mj-lt"/>
              <a:buAutoNum type="arabicPeriod"/>
            </a:pPr>
            <a:r>
              <a:rPr lang="en-US" smtClean="0"/>
              <a:t>Filter by Policy Period</a:t>
            </a:r>
          </a:p>
          <a:p>
            <a:pPr marL="457200" indent="-457200">
              <a:buFont typeface="+mj-lt"/>
              <a:buAutoNum type="arabicPeriod"/>
            </a:pPr>
            <a:r>
              <a:rPr lang="en-US" smtClean="0"/>
              <a:t>Select claim in results</a:t>
            </a:r>
          </a:p>
          <a:p>
            <a:pPr marL="457200" indent="-457200">
              <a:buFont typeface="+mj-lt"/>
              <a:buAutoNum type="arabicPeriod"/>
            </a:pPr>
            <a:r>
              <a:rPr lang="en-US" smtClean="0"/>
              <a:t>View basic claim details</a:t>
            </a:r>
          </a:p>
          <a:p>
            <a:pPr marL="457200" indent="-457200">
              <a:buFont typeface="+mj-lt"/>
              <a:buAutoNum type="arabicPeriod"/>
            </a:pPr>
            <a:r>
              <a:rPr lang="en-US" smtClean="0"/>
              <a:t>Open in ClaimCenter</a:t>
            </a:r>
            <a:endParaRPr lang="en-US"/>
          </a:p>
        </p:txBody>
      </p:sp>
      <p:sp>
        <p:nvSpPr>
          <p:cNvPr id="8" name="Text Box 41"/>
          <p:cNvSpPr txBox="1">
            <a:spLocks noChangeArrowheads="1"/>
          </p:cNvSpPr>
          <p:nvPr/>
        </p:nvSpPr>
        <p:spPr bwMode="auto">
          <a:xfrm>
            <a:off x="4988460" y="1549051"/>
            <a:ext cx="1246188" cy="246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algn="ctr" eaLnBrk="1" hangingPunct="1"/>
            <a:r>
              <a:rPr lang="en-US" sz="1600" b="0">
                <a:solidFill>
                  <a:schemeClr val="bg1"/>
                </a:solidFill>
              </a:rPr>
              <a:t>Underwriter</a:t>
            </a:r>
          </a:p>
        </p:txBody>
      </p:sp>
      <p:grpSp>
        <p:nvGrpSpPr>
          <p:cNvPr id="9" name="Group 155"/>
          <p:cNvGrpSpPr>
            <a:grpSpLocks/>
          </p:cNvGrpSpPr>
          <p:nvPr/>
        </p:nvGrpSpPr>
        <p:grpSpPr bwMode="auto">
          <a:xfrm>
            <a:off x="5372027" y="828654"/>
            <a:ext cx="626733" cy="564532"/>
            <a:chOff x="370" y="1819"/>
            <a:chExt cx="696" cy="627"/>
          </a:xfrm>
          <a:effectLst>
            <a:outerShdw blurRad="50800" dist="38100" dir="2700000" algn="tl" rotWithShape="0">
              <a:prstClr val="black">
                <a:alpha val="40000"/>
              </a:prstClr>
            </a:outerShdw>
          </a:effectLst>
        </p:grpSpPr>
        <p:sp>
          <p:nvSpPr>
            <p:cNvPr id="10" name="AutoShape 156"/>
            <p:cNvSpPr>
              <a:spLocks noChangeArrowheads="1"/>
            </p:cNvSpPr>
            <p:nvPr/>
          </p:nvSpPr>
          <p:spPr bwMode="auto">
            <a:xfrm>
              <a:off x="370" y="1819"/>
              <a:ext cx="532" cy="543"/>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1" name="Group 157"/>
            <p:cNvGrpSpPr>
              <a:grpSpLocks/>
            </p:cNvGrpSpPr>
            <p:nvPr/>
          </p:nvGrpSpPr>
          <p:grpSpPr bwMode="auto">
            <a:xfrm>
              <a:off x="760" y="2101"/>
              <a:ext cx="306" cy="345"/>
              <a:chOff x="2768" y="2267"/>
              <a:chExt cx="624" cy="704"/>
            </a:xfrm>
          </p:grpSpPr>
          <p:sp>
            <p:nvSpPr>
              <p:cNvPr id="12" name="AutoShape 158"/>
              <p:cNvSpPr>
                <a:spLocks noChangeArrowheads="1"/>
              </p:cNvSpPr>
              <p:nvPr/>
            </p:nvSpPr>
            <p:spPr bwMode="auto">
              <a:xfrm rot="-5400000">
                <a:off x="2728" y="2307"/>
                <a:ext cx="704" cy="624"/>
              </a:xfrm>
              <a:prstGeom prst="foldedCorner">
                <a:avLst>
                  <a:gd name="adj" fmla="val 20287"/>
                </a:avLst>
              </a:pr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 name="Freeform 159"/>
              <p:cNvSpPr>
                <a:spLocks/>
              </p:cNvSpPr>
              <p:nvPr/>
            </p:nvSpPr>
            <p:spPr bwMode="auto">
              <a:xfrm>
                <a:off x="2847" y="2357"/>
                <a:ext cx="153" cy="198"/>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FFFF99"/>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14" name="Freeform 160"/>
              <p:cNvSpPr>
                <a:spLocks/>
              </p:cNvSpPr>
              <p:nvPr/>
            </p:nvSpPr>
            <p:spPr bwMode="auto">
              <a:xfrm>
                <a:off x="2847" y="2648"/>
                <a:ext cx="153" cy="196"/>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FFFF99"/>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grpSp>
            <p:nvGrpSpPr>
              <p:cNvPr id="15" name="Group 161"/>
              <p:cNvGrpSpPr>
                <a:grpSpLocks/>
              </p:cNvGrpSpPr>
              <p:nvPr/>
            </p:nvGrpSpPr>
            <p:grpSpPr bwMode="auto">
              <a:xfrm>
                <a:off x="3136" y="2620"/>
                <a:ext cx="231" cy="343"/>
                <a:chOff x="2784" y="3210"/>
                <a:chExt cx="523" cy="772"/>
              </a:xfrm>
            </p:grpSpPr>
            <p:sp>
              <p:nvSpPr>
                <p:cNvPr id="16" name="AutoShape 162"/>
                <p:cNvSpPr>
                  <a:spLocks noChangeArrowheads="1"/>
                </p:cNvSpPr>
                <p:nvPr/>
              </p:nvSpPr>
              <p:spPr bwMode="auto">
                <a:xfrm rot="16736225" flipH="1">
                  <a:off x="2714" y="3670"/>
                  <a:ext cx="487" cy="138"/>
                </a:xfrm>
                <a:prstGeom prst="parallelogram">
                  <a:avLst>
                    <a:gd name="adj" fmla="val 88225"/>
                  </a:avLst>
                </a:prstGeom>
                <a:solidFill>
                  <a:srgbClr val="FFFF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anchor="ctr"/>
                <a:lstStyle/>
                <a:p>
                  <a:endParaRPr lang="en-US"/>
                </a:p>
              </p:txBody>
            </p:sp>
            <p:sp>
              <p:nvSpPr>
                <p:cNvPr id="17" name="AutoShape 163"/>
                <p:cNvSpPr>
                  <a:spLocks noChangeArrowheads="1"/>
                </p:cNvSpPr>
                <p:nvPr/>
              </p:nvSpPr>
              <p:spPr bwMode="auto">
                <a:xfrm rot="4863775">
                  <a:off x="2853" y="3662"/>
                  <a:ext cx="501" cy="128"/>
                </a:xfrm>
                <a:prstGeom prst="parallelogram">
                  <a:avLst>
                    <a:gd name="adj" fmla="val 97852"/>
                  </a:avLst>
                </a:prstGeom>
                <a:solidFill>
                  <a:srgbClr val="FFFF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anchor="ctr"/>
                <a:lstStyle/>
                <a:p>
                  <a:endParaRPr lang="en-US"/>
                </a:p>
              </p:txBody>
            </p:sp>
            <p:sp>
              <p:nvSpPr>
                <p:cNvPr id="18" name="AutoShape 164"/>
                <p:cNvSpPr>
                  <a:spLocks noChangeArrowheads="1"/>
                </p:cNvSpPr>
                <p:nvPr/>
              </p:nvSpPr>
              <p:spPr bwMode="auto">
                <a:xfrm>
                  <a:off x="2784" y="3210"/>
                  <a:ext cx="523" cy="523"/>
                </a:xfrm>
                <a:prstGeom prst="star16">
                  <a:avLst>
                    <a:gd name="adj" fmla="val 37500"/>
                  </a:avLst>
                </a:prstGeom>
                <a:solidFill>
                  <a:srgbClr val="FFFF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anchor="ctr"/>
                <a:lstStyle/>
                <a:p>
                  <a:endParaRPr lang="en-US"/>
                </a:p>
              </p:txBody>
            </p:sp>
            <p:sp>
              <p:nvSpPr>
                <p:cNvPr id="19" name="Oval 165"/>
                <p:cNvSpPr>
                  <a:spLocks noChangeArrowheads="1"/>
                </p:cNvSpPr>
                <p:nvPr/>
              </p:nvSpPr>
              <p:spPr bwMode="auto">
                <a:xfrm>
                  <a:off x="2880" y="3307"/>
                  <a:ext cx="320" cy="320"/>
                </a:xfrm>
                <a:prstGeom prst="ellipse">
                  <a:avLst/>
                </a:prstGeom>
                <a:solidFill>
                  <a:srgbClr val="FFFF99"/>
                </a:solidFill>
                <a:ln>
                  <a:noFill/>
                </a:ln>
                <a:extLst>
                  <a:ext uri="{91240B29-F687-4F45-9708-019B960494DF}">
                    <a14:hiddenLine xmlns:a14="http://schemas.microsoft.com/office/drawing/2010/main" w="12700" algn="ctr">
                      <a:solidFill>
                        <a:srgbClr val="000000"/>
                      </a:solidFill>
                      <a:round/>
                      <a:headEnd/>
                      <a:tailEnd/>
                    </a14:hiddenLine>
                  </a:ext>
                </a:extLst>
              </p:spPr>
              <p:txBody>
                <a:bodyPr wrap="none" anchor="ctr"/>
                <a:lstStyle/>
                <a:p>
                  <a:endParaRPr lang="en-US"/>
                </a:p>
              </p:txBody>
            </p:sp>
          </p:grpSp>
        </p:grpSp>
      </p:grpSp>
      <p:grpSp>
        <p:nvGrpSpPr>
          <p:cNvPr id="21" name="Group 101"/>
          <p:cNvGrpSpPr>
            <a:grpSpLocks/>
          </p:cNvGrpSpPr>
          <p:nvPr/>
        </p:nvGrpSpPr>
        <p:grpSpPr bwMode="auto">
          <a:xfrm>
            <a:off x="7620000" y="818640"/>
            <a:ext cx="527752" cy="739957"/>
            <a:chOff x="3870" y="2092"/>
            <a:chExt cx="570" cy="800"/>
          </a:xfrm>
          <a:effectLst>
            <a:outerShdw blurRad="50800" dist="38100" dir="2700000" algn="tl" rotWithShape="0">
              <a:prstClr val="black">
                <a:alpha val="40000"/>
              </a:prstClr>
            </a:outerShdw>
          </a:effectLst>
        </p:grpSpPr>
        <p:sp>
          <p:nvSpPr>
            <p:cNvPr id="23" name="Line 102"/>
            <p:cNvSpPr>
              <a:spLocks noChangeShapeType="1"/>
            </p:cNvSpPr>
            <p:nvPr/>
          </p:nvSpPr>
          <p:spPr bwMode="auto">
            <a:xfrm>
              <a:off x="4238" y="2570"/>
              <a:ext cx="189" cy="132"/>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 name="Line 103"/>
            <p:cNvSpPr>
              <a:spLocks noChangeShapeType="1"/>
            </p:cNvSpPr>
            <p:nvPr/>
          </p:nvSpPr>
          <p:spPr bwMode="auto">
            <a:xfrm flipH="1">
              <a:off x="3870" y="2570"/>
              <a:ext cx="189" cy="132"/>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 name="AutoShape 104"/>
            <p:cNvSpPr>
              <a:spLocks noChangeArrowheads="1"/>
            </p:cNvSpPr>
            <p:nvPr/>
          </p:nvSpPr>
          <p:spPr bwMode="auto">
            <a:xfrm rot="10800000">
              <a:off x="4122" y="2645"/>
              <a:ext cx="89" cy="70"/>
            </a:xfrm>
            <a:prstGeom prst="pentagon">
              <a:avLst/>
            </a:prstGeom>
            <a:solidFill>
              <a:srgbClr val="CC9900"/>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p>
              <a:endParaRPr lang="en-US"/>
            </a:p>
          </p:txBody>
        </p:sp>
        <p:sp>
          <p:nvSpPr>
            <p:cNvPr id="26" name="Freeform 105"/>
            <p:cNvSpPr>
              <a:spLocks/>
            </p:cNvSpPr>
            <p:nvPr/>
          </p:nvSpPr>
          <p:spPr bwMode="auto">
            <a:xfrm>
              <a:off x="4114" y="2691"/>
              <a:ext cx="97" cy="201"/>
            </a:xfrm>
            <a:custGeom>
              <a:avLst/>
              <a:gdLst>
                <a:gd name="T0" fmla="*/ 9951 w 75"/>
                <a:gd name="T1" fmla="*/ 956 h 156"/>
                <a:gd name="T2" fmla="*/ 0 w 75"/>
                <a:gd name="T3" fmla="*/ 38812 h 156"/>
                <a:gd name="T4" fmla="*/ 14387 w 75"/>
                <a:gd name="T5" fmla="*/ 53056 h 156"/>
                <a:gd name="T6" fmla="*/ 27843 w 75"/>
                <a:gd name="T7" fmla="*/ 38812 h 156"/>
                <a:gd name="T8" fmla="*/ 17597 w 75"/>
                <a:gd name="T9" fmla="*/ 0 h 156"/>
                <a:gd name="T10" fmla="*/ 0 60000 65536"/>
                <a:gd name="T11" fmla="*/ 0 60000 65536"/>
                <a:gd name="T12" fmla="*/ 0 60000 65536"/>
                <a:gd name="T13" fmla="*/ 0 60000 65536"/>
                <a:gd name="T14" fmla="*/ 0 60000 65536"/>
                <a:gd name="T15" fmla="*/ 0 w 75"/>
                <a:gd name="T16" fmla="*/ 0 h 156"/>
                <a:gd name="T17" fmla="*/ 75 w 75"/>
                <a:gd name="T18" fmla="*/ 156 h 156"/>
              </a:gdLst>
              <a:ahLst/>
              <a:cxnLst>
                <a:cxn ang="T10">
                  <a:pos x="T0" y="T1"/>
                </a:cxn>
                <a:cxn ang="T11">
                  <a:pos x="T2" y="T3"/>
                </a:cxn>
                <a:cxn ang="T12">
                  <a:pos x="T4" y="T5"/>
                </a:cxn>
                <a:cxn ang="T13">
                  <a:pos x="T6" y="T7"/>
                </a:cxn>
                <a:cxn ang="T14">
                  <a:pos x="T8" y="T9"/>
                </a:cxn>
              </a:cxnLst>
              <a:rect l="T15" t="T16" r="T17" b="T18"/>
              <a:pathLst>
                <a:path w="75" h="156">
                  <a:moveTo>
                    <a:pt x="27" y="3"/>
                  </a:moveTo>
                  <a:lnTo>
                    <a:pt x="0" y="114"/>
                  </a:lnTo>
                  <a:lnTo>
                    <a:pt x="39" y="156"/>
                  </a:lnTo>
                  <a:lnTo>
                    <a:pt x="75" y="114"/>
                  </a:lnTo>
                  <a:lnTo>
                    <a:pt x="48" y="0"/>
                  </a:lnTo>
                </a:path>
              </a:pathLst>
            </a:custGeom>
            <a:solidFill>
              <a:srgbClr val="CC9900"/>
            </a:solidFill>
            <a:ln>
              <a:noFill/>
            </a:ln>
            <a:extLst>
              <a:ext uri="{91240B29-F687-4F45-9708-019B960494DF}">
                <a14:hiddenLine xmlns:a14="http://schemas.microsoft.com/office/drawing/2010/main" w="28575">
                  <a:solidFill>
                    <a:srgbClr val="000000"/>
                  </a:solidFill>
                  <a:round/>
                  <a:headEnd/>
                  <a:tailEnd/>
                </a14:hiddenLine>
              </a:ext>
            </a:extLst>
          </p:spPr>
          <p:txBody>
            <a:bodyPr wrap="none" anchor="ctr"/>
            <a:lstStyle/>
            <a:p>
              <a:endParaRPr lang="en-US"/>
            </a:p>
          </p:txBody>
        </p:sp>
        <p:sp>
          <p:nvSpPr>
            <p:cNvPr id="27" name="AutoShape 106"/>
            <p:cNvSpPr>
              <a:spLocks noChangeArrowheads="1"/>
            </p:cNvSpPr>
            <p:nvPr/>
          </p:nvSpPr>
          <p:spPr bwMode="auto">
            <a:xfrm>
              <a:off x="3887" y="2092"/>
              <a:ext cx="553" cy="56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sp>
        <p:nvSpPr>
          <p:cNvPr id="22" name="Text Box 41"/>
          <p:cNvSpPr txBox="1">
            <a:spLocks noChangeArrowheads="1"/>
          </p:cNvSpPr>
          <p:nvPr/>
        </p:nvSpPr>
        <p:spPr bwMode="auto">
          <a:xfrm>
            <a:off x="7245090" y="1545101"/>
            <a:ext cx="1291460" cy="246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algn="ctr" eaLnBrk="1" hangingPunct="1"/>
            <a:r>
              <a:rPr lang="en-US" sz="1600" b="0">
                <a:solidFill>
                  <a:schemeClr val="bg1"/>
                </a:solidFill>
              </a:rPr>
              <a:t>Risk manager</a:t>
            </a:r>
          </a:p>
        </p:txBody>
      </p:sp>
      <p:sp>
        <p:nvSpPr>
          <p:cNvPr id="44" name="num3"/>
          <p:cNvSpPr/>
          <p:nvPr/>
        </p:nvSpPr>
        <p:spPr bwMode="auto">
          <a:xfrm>
            <a:off x="1824228" y="3457249"/>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smtClean="0">
                <a:solidFill>
                  <a:schemeClr val="accent1"/>
                </a:solidFill>
              </a:rPr>
              <a:t>2</a:t>
            </a:r>
            <a:endParaRPr lang="en-US"/>
          </a:p>
        </p:txBody>
      </p:sp>
      <p:sp>
        <p:nvSpPr>
          <p:cNvPr id="45" name="num1"/>
          <p:cNvSpPr/>
          <p:nvPr/>
        </p:nvSpPr>
        <p:spPr bwMode="auto">
          <a:xfrm>
            <a:off x="2430050" y="266700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smtClean="0">
                <a:solidFill>
                  <a:schemeClr val="accent1"/>
                </a:solidFill>
              </a:rPr>
              <a:t>1</a:t>
            </a:r>
            <a:endParaRPr lang="en-US"/>
          </a:p>
        </p:txBody>
      </p:sp>
      <p:sp>
        <p:nvSpPr>
          <p:cNvPr id="46" name="num3"/>
          <p:cNvSpPr/>
          <p:nvPr/>
        </p:nvSpPr>
        <p:spPr bwMode="auto">
          <a:xfrm>
            <a:off x="2819400" y="4416552"/>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smtClean="0">
                <a:solidFill>
                  <a:schemeClr val="accent1"/>
                </a:solidFill>
              </a:rPr>
              <a:t>3</a:t>
            </a:r>
            <a:endParaRPr lang="en-US"/>
          </a:p>
        </p:txBody>
      </p:sp>
      <p:sp>
        <p:nvSpPr>
          <p:cNvPr id="47" name="num3"/>
          <p:cNvSpPr/>
          <p:nvPr/>
        </p:nvSpPr>
        <p:spPr bwMode="auto">
          <a:xfrm>
            <a:off x="2057400" y="4416552"/>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smtClean="0">
                <a:solidFill>
                  <a:schemeClr val="accent1"/>
                </a:solidFill>
              </a:rPr>
              <a:t>4</a:t>
            </a:r>
            <a:endParaRPr lang="en-US"/>
          </a:p>
        </p:txBody>
      </p:sp>
      <p:pic>
        <p:nvPicPr>
          <p:cNvPr id="48" name="Picture 47" descr="PolicyCenter.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886200" y="891631"/>
            <a:ext cx="565862"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365337772"/>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6" name="Picture 6"/>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10000"/>
                    </a14:imgEffect>
                    <a14:imgEffect>
                      <a14:brightnessContrast bright="-10000" contrast="15000"/>
                    </a14:imgEffect>
                  </a14:imgLayer>
                </a14:imgProps>
              </a:ext>
              <a:ext uri="{28A0092B-C50C-407E-A947-70E740481C1C}">
                <a14:useLocalDpi xmlns:a14="http://schemas.microsoft.com/office/drawing/2010/main" val="0"/>
              </a:ext>
            </a:extLst>
          </a:blip>
          <a:srcRect/>
          <a:stretch>
            <a:fillRect/>
          </a:stretch>
        </p:blipFill>
        <p:spPr bwMode="auto">
          <a:xfrm>
            <a:off x="196295" y="1051264"/>
            <a:ext cx="6218212" cy="4709456"/>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scene3d>
            <a:camera prst="perspectiveContrastingRightFacing"/>
            <a:lightRig rig="threePt" dir="t"/>
          </a:scene3d>
          <a:extLst>
            <a:ext uri="{909E8E84-426E-40DD-AFC4-6F175D3DCCD1}">
              <a14:hiddenFill xmlns:a14="http://schemas.microsoft.com/office/drawing/2010/main">
                <a:solidFill>
                  <a:schemeClr val="accent1"/>
                </a:solidFill>
              </a14:hiddenFill>
            </a:ext>
          </a:extLst>
        </p:spPr>
      </p:pic>
      <p:sp>
        <p:nvSpPr>
          <p:cNvPr id="11269" name="Title 1"/>
          <p:cNvSpPr>
            <a:spLocks noGrp="1"/>
          </p:cNvSpPr>
          <p:nvPr>
            <p:ph type="title"/>
          </p:nvPr>
        </p:nvSpPr>
        <p:spPr>
          <a:solidFill>
            <a:schemeClr val="tx1">
              <a:alpha val="80000"/>
            </a:schemeClr>
          </a:solidFill>
        </p:spPr>
        <p:txBody>
          <a:bodyPr/>
          <a:lstStyle/>
          <a:p>
            <a:r>
              <a:rPr lang="en-US" dirty="0" smtClean="0"/>
              <a:t>Viewing claim information for a policy</a:t>
            </a:r>
            <a:br>
              <a:rPr lang="en-US" dirty="0" smtClean="0"/>
            </a:br>
            <a:endParaRPr lang="en-US" sz="2600" dirty="0" smtClean="0"/>
          </a:p>
        </p:txBody>
      </p:sp>
      <p:sp>
        <p:nvSpPr>
          <p:cNvPr id="2" name="Content Placeholder 1"/>
          <p:cNvSpPr>
            <a:spLocks noGrp="1"/>
          </p:cNvSpPr>
          <p:nvPr>
            <p:ph sz="half" idx="2"/>
          </p:nvPr>
        </p:nvSpPr>
        <p:spPr>
          <a:xfrm>
            <a:off x="5410200" y="914401"/>
            <a:ext cx="3613862" cy="5475289"/>
          </a:xfrm>
        </p:spPr>
        <p:txBody>
          <a:bodyPr/>
          <a:lstStyle/>
          <a:p>
            <a:r>
              <a:rPr lang="en-US"/>
              <a:t>For </a:t>
            </a:r>
            <a:r>
              <a:rPr lang="en-US" smtClean="0"/>
              <a:t>a policy, </a:t>
            </a:r>
            <a:r>
              <a:rPr lang="en-US"/>
              <a:t>underwriters with a ClaimCenter user account can view a claim in </a:t>
            </a:r>
            <a:r>
              <a:rPr lang="en-US" smtClean="0"/>
              <a:t>ClaimCenter</a:t>
            </a:r>
            <a:endParaRPr lang="en-US"/>
          </a:p>
          <a:p>
            <a:endParaRPr lang="en-US"/>
          </a:p>
        </p:txBody>
      </p:sp>
      <p:pic>
        <p:nvPicPr>
          <p:cNvPr id="5125" name="Picture 5"/>
          <p:cNvPicPr>
            <a:picLocks noChangeAspect="1" noChangeArrowheads="1"/>
          </p:cNvPicPr>
          <p:nvPr/>
        </p:nvPicPr>
        <p:blipFill rotWithShape="1">
          <a:blip r:embed="rId5">
            <a:extLst>
              <a:ext uri="{28A0092B-C50C-407E-A947-70E740481C1C}">
                <a14:useLocalDpi xmlns:a14="http://schemas.microsoft.com/office/drawing/2010/main" val="0"/>
              </a:ext>
            </a:extLst>
          </a:blip>
          <a:srcRect r="18118"/>
          <a:stretch/>
        </p:blipFill>
        <p:spPr bwMode="auto">
          <a:xfrm>
            <a:off x="3450336" y="3058012"/>
            <a:ext cx="5388864" cy="3418704"/>
          </a:xfrm>
          <a:prstGeom prst="rect">
            <a:avLst/>
          </a:prstGeom>
          <a:noFill/>
          <a:ln w="9525">
            <a:solidFill>
              <a:schemeClr val="bg1"/>
            </a:solidFill>
            <a:miter lim="800000"/>
            <a:headEnd/>
            <a:tailEnd/>
          </a:ln>
          <a:effectLst>
            <a:outerShdw blurRad="63500" dist="35921" dir="2700000" algn="ctr" rotWithShape="0">
              <a:schemeClr val="tx1">
                <a:lumMod val="65000"/>
              </a:schemeClr>
            </a:outerShdw>
          </a:effectLst>
          <a:extLst>
            <a:ext uri="{909E8E84-426E-40DD-AFC4-6F175D3DCCD1}">
              <a14:hiddenFill xmlns:a14="http://schemas.microsoft.com/office/drawing/2010/main">
                <a:solidFill>
                  <a:schemeClr val="accent1"/>
                </a:solidFill>
              </a14:hiddenFill>
            </a:ext>
          </a:extLst>
        </p:spPr>
      </p:pic>
      <p:sp>
        <p:nvSpPr>
          <p:cNvPr id="13" name="Rounded Rectangle 12"/>
          <p:cNvSpPr/>
          <p:nvPr/>
        </p:nvSpPr>
        <p:spPr bwMode="auto">
          <a:xfrm>
            <a:off x="572017" y="4546600"/>
            <a:ext cx="2074663" cy="333005"/>
          </a:xfrm>
          <a:prstGeom prst="roundRect">
            <a:avLst/>
          </a:prstGeom>
          <a:noFill/>
          <a:ln w="28575" algn="ctr">
            <a:solidFill>
              <a:srgbClr val="C00000"/>
            </a:solidFill>
            <a:round/>
            <a:headEnd/>
            <a:tailEnd/>
          </a:ln>
          <a:effectLst>
            <a:outerShdw blurRad="50800" dist="38100" dir="2700000" algn="tl" rotWithShape="0">
              <a:prstClr val="black">
                <a:alpha val="40000"/>
              </a:prstClr>
            </a:outerShdw>
          </a:effectLst>
          <a:scene3d>
            <a:camera prst="perspectiveContrastingRightFacing"/>
            <a:lightRig rig="threePt" dir="t"/>
          </a:scene3d>
        </p:spPr>
        <p:txBody>
          <a:bodyPr wrap="none" lIns="0" tIns="0" rIns="0" bIns="0" rtlCol="0" anchor="ctr">
            <a:noAutofit/>
          </a:bodyPr>
          <a:lstStyle/>
          <a:p>
            <a:pPr algn="ctr">
              <a:spcBef>
                <a:spcPct val="50000"/>
              </a:spcBef>
              <a:spcAft>
                <a:spcPct val="30000"/>
              </a:spcAft>
              <a:buClr>
                <a:schemeClr val="tx1"/>
              </a:buClr>
            </a:pPr>
            <a:endParaRPr lang="en-US"/>
          </a:p>
        </p:txBody>
      </p:sp>
      <p:sp>
        <p:nvSpPr>
          <p:cNvPr id="14" name="Right Arrow 13"/>
          <p:cNvSpPr/>
          <p:nvPr/>
        </p:nvSpPr>
        <p:spPr bwMode="auto">
          <a:xfrm>
            <a:off x="2930021" y="4526280"/>
            <a:ext cx="651379" cy="528415"/>
          </a:xfrm>
          <a:prstGeom prst="rightArrow">
            <a:avLst/>
          </a:prstGeom>
          <a:gradFill flip="none" rotWithShape="1">
            <a:gsLst>
              <a:gs pos="0">
                <a:schemeClr val="accent3"/>
              </a:gs>
              <a:gs pos="100000">
                <a:schemeClr val="accent5"/>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15" name="Picture 14" descr="PolicyCenter.png"/>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724400" y="891631"/>
            <a:ext cx="565862" cy="548640"/>
          </a:xfrm>
          <a:prstGeom prst="rect">
            <a:avLst/>
          </a:prstGeom>
          <a:effectLst>
            <a:outerShdw blurRad="50800" dist="38100" dir="2700000" algn="tl" rotWithShape="0">
              <a:prstClr val="black">
                <a:alpha val="40000"/>
              </a:prstClr>
            </a:outerShdw>
          </a:effectLst>
        </p:spPr>
      </p:pic>
      <p:pic>
        <p:nvPicPr>
          <p:cNvPr id="16" name="Picture 15"/>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382000" y="2880360"/>
            <a:ext cx="565862" cy="548640"/>
          </a:xfrm>
          <a:prstGeom prst="rect">
            <a:avLst/>
          </a:prstGeom>
          <a:effectLst>
            <a:outerShdw blurRad="50800" dist="38100" dir="2700000" algn="tl" rotWithShape="0">
              <a:prstClr val="black">
                <a:alpha val="40000"/>
              </a:prstClr>
            </a:outerShdw>
          </a:effectLst>
        </p:spPr>
      </p:pic>
      <p:sp>
        <p:nvSpPr>
          <p:cNvPr id="10"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dirty="0"/>
              <a:t>through an exit point to ClaimCenter</a:t>
            </a:r>
          </a:p>
        </p:txBody>
      </p:sp>
    </p:spTree>
    <p:extLst>
      <p:ext uri="{BB962C8B-B14F-4D97-AF65-F5344CB8AC3E}">
        <p14:creationId xmlns:p14="http://schemas.microsoft.com/office/powerpoint/2010/main" val="3653052223"/>
      </p:ext>
    </p:extLst>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Accessing all claims for an account</a:t>
            </a:r>
          </a:p>
        </p:txBody>
      </p:sp>
      <p:sp>
        <p:nvSpPr>
          <p:cNvPr id="5" name="Content Placeholder 4"/>
          <p:cNvSpPr>
            <a:spLocks noGrp="1"/>
          </p:cNvSpPr>
          <p:nvPr>
            <p:ph sz="half" idx="2"/>
          </p:nvPr>
        </p:nvSpPr>
        <p:spPr>
          <a:xfrm>
            <a:off x="5943600" y="914401"/>
            <a:ext cx="2880360" cy="5475289"/>
          </a:xfrm>
        </p:spPr>
        <p:txBody>
          <a:bodyPr/>
          <a:lstStyle/>
          <a:p>
            <a:r>
              <a:rPr lang="en-US" smtClean="0"/>
              <a:t>Search all claims associated with the account</a:t>
            </a:r>
          </a:p>
          <a:p>
            <a:pPr marL="457200" indent="-457200">
              <a:buFont typeface="+mj-lt"/>
              <a:buAutoNum type="arabicPeriod"/>
            </a:pPr>
            <a:r>
              <a:rPr lang="en-US"/>
              <a:t>Filter by Policy </a:t>
            </a:r>
            <a:r>
              <a:rPr lang="en-US" smtClean="0"/>
              <a:t>Period</a:t>
            </a:r>
          </a:p>
          <a:p>
            <a:pPr marL="457200" indent="-457200">
              <a:buFont typeface="+mj-lt"/>
              <a:buAutoNum type="arabicPeriod"/>
            </a:pPr>
            <a:r>
              <a:rPr lang="en-US" smtClean="0"/>
              <a:t>Filter by Product</a:t>
            </a:r>
            <a:endParaRPr lang="en-US"/>
          </a:p>
          <a:p>
            <a:pPr marL="457200" indent="-457200">
              <a:buFont typeface="+mj-lt"/>
              <a:buAutoNum type="arabicPeriod"/>
            </a:pPr>
            <a:r>
              <a:rPr lang="en-US"/>
              <a:t>Select claim in results</a:t>
            </a:r>
          </a:p>
          <a:p>
            <a:pPr marL="457200" indent="-457200">
              <a:buFont typeface="+mj-lt"/>
              <a:buAutoNum type="arabicPeriod"/>
            </a:pPr>
            <a:r>
              <a:rPr lang="en-US"/>
              <a:t>View basic claim details</a:t>
            </a:r>
          </a:p>
          <a:p>
            <a:pPr marL="457200" indent="-457200">
              <a:buFont typeface="+mj-lt"/>
              <a:buAutoNum type="arabicPeriod"/>
            </a:pPr>
            <a:r>
              <a:rPr lang="en-US"/>
              <a:t>Open in ClaimCenter</a:t>
            </a:r>
          </a:p>
        </p:txBody>
      </p:sp>
      <p:pic>
        <p:nvPicPr>
          <p:cNvPr id="4" name="Picture 3"/>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10000"/>
                    </a14:imgEffect>
                    <a14:imgEffect>
                      <a14:brightnessContrast bright="-10000" contrast="15000"/>
                    </a14:imgEffect>
                  </a14:imgLayer>
                </a14:imgProps>
              </a:ext>
              <a:ext uri="{28A0092B-C50C-407E-A947-70E740481C1C}">
                <a14:useLocalDpi xmlns:a14="http://schemas.microsoft.com/office/drawing/2010/main" val="0"/>
              </a:ext>
            </a:extLst>
          </a:blip>
          <a:srcRect/>
          <a:stretch>
            <a:fillRect/>
          </a:stretch>
        </p:blipFill>
        <p:spPr bwMode="auto">
          <a:xfrm>
            <a:off x="204216" y="950977"/>
            <a:ext cx="6883399" cy="4724399"/>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scene3d>
            <a:camera prst="perspectiveContrastingRightFacing"/>
            <a:lightRig rig="threePt" dir="t"/>
          </a:scene3d>
          <a:extLst>
            <a:ext uri="{909E8E84-426E-40DD-AFC4-6F175D3DCCD1}">
              <a14:hiddenFill xmlns:a14="http://schemas.microsoft.com/office/drawing/2010/main">
                <a:solidFill>
                  <a:schemeClr val="accent1"/>
                </a:solidFill>
              </a14:hiddenFill>
            </a:ext>
          </a:extLst>
        </p:spPr>
      </p:pic>
      <p:sp>
        <p:nvSpPr>
          <p:cNvPr id="6" name="num3"/>
          <p:cNvSpPr/>
          <p:nvPr/>
        </p:nvSpPr>
        <p:spPr bwMode="auto">
          <a:xfrm>
            <a:off x="5486400" y="289560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smtClean="0">
                <a:solidFill>
                  <a:schemeClr val="accent1"/>
                </a:solidFill>
              </a:rPr>
              <a:t>2</a:t>
            </a:r>
            <a:endParaRPr lang="en-US"/>
          </a:p>
        </p:txBody>
      </p:sp>
      <p:sp>
        <p:nvSpPr>
          <p:cNvPr id="7" name="num1"/>
          <p:cNvSpPr/>
          <p:nvPr/>
        </p:nvSpPr>
        <p:spPr bwMode="auto">
          <a:xfrm>
            <a:off x="3823716" y="3198876"/>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smtClean="0">
                <a:solidFill>
                  <a:schemeClr val="accent1"/>
                </a:solidFill>
              </a:rPr>
              <a:t>1</a:t>
            </a:r>
            <a:endParaRPr lang="en-US"/>
          </a:p>
        </p:txBody>
      </p:sp>
      <p:sp>
        <p:nvSpPr>
          <p:cNvPr id="20" name="num3"/>
          <p:cNvSpPr/>
          <p:nvPr/>
        </p:nvSpPr>
        <p:spPr bwMode="auto">
          <a:xfrm>
            <a:off x="2438400" y="426720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smtClean="0">
                <a:solidFill>
                  <a:schemeClr val="accent1"/>
                </a:solidFill>
              </a:rPr>
              <a:t>3</a:t>
            </a:r>
            <a:endParaRPr lang="en-US"/>
          </a:p>
        </p:txBody>
      </p:sp>
      <p:sp>
        <p:nvSpPr>
          <p:cNvPr id="21" name="num3"/>
          <p:cNvSpPr/>
          <p:nvPr/>
        </p:nvSpPr>
        <p:spPr bwMode="auto">
          <a:xfrm>
            <a:off x="4762500" y="480060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smtClean="0">
                <a:solidFill>
                  <a:schemeClr val="accent1"/>
                </a:solidFill>
              </a:rPr>
              <a:t>4</a:t>
            </a:r>
            <a:endParaRPr lang="en-US"/>
          </a:p>
        </p:txBody>
      </p:sp>
      <p:sp>
        <p:nvSpPr>
          <p:cNvPr id="22" name="num3"/>
          <p:cNvSpPr/>
          <p:nvPr/>
        </p:nvSpPr>
        <p:spPr bwMode="auto">
          <a:xfrm>
            <a:off x="3823716" y="4627685"/>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smtClean="0">
                <a:solidFill>
                  <a:schemeClr val="accent1"/>
                </a:solidFill>
              </a:rPr>
              <a:t>5</a:t>
            </a:r>
            <a:endParaRPr lang="en-US"/>
          </a:p>
        </p:txBody>
      </p:sp>
      <p:pic>
        <p:nvPicPr>
          <p:cNvPr id="23" name="Picture 22" descr="PolicyCenter.png"/>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724400" y="891631"/>
            <a:ext cx="565862"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527719692"/>
      </p:ext>
    </p:extLst>
  </p:cSld>
  <p:clrMapOvr>
    <a:overrideClrMapping bg1="dk2" tx1="lt1" bg2="dk1" tx2="lt2" accent1="accent1" accent2="accent2" accent3="accent3" accent4="accent4" accent5="accent5" accent6="accent6" hlink="hlink" folHlink="folHlink"/>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10000"/>
                    </a14:imgEffect>
                    <a14:imgEffect>
                      <a14:brightnessContrast bright="-10000" contrast="15000"/>
                    </a14:imgEffect>
                  </a14:imgLayer>
                </a14:imgProps>
              </a:ext>
              <a:ext uri="{28A0092B-C50C-407E-A947-70E740481C1C}">
                <a14:useLocalDpi xmlns:a14="http://schemas.microsoft.com/office/drawing/2010/main" val="0"/>
              </a:ext>
            </a:extLst>
          </a:blip>
          <a:srcRect/>
          <a:stretch>
            <a:fillRect/>
          </a:stretch>
        </p:blipFill>
        <p:spPr bwMode="auto">
          <a:xfrm>
            <a:off x="152400" y="1216884"/>
            <a:ext cx="5765796" cy="4650516"/>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scene3d>
            <a:camera prst="perspectiveContrastingRightFacing"/>
            <a:lightRig rig="threePt" dir="t"/>
          </a:scene3d>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p:txBody>
          <a:bodyPr/>
          <a:lstStyle/>
          <a:p>
            <a:r>
              <a:rPr lang="en-US" dirty="0"/>
              <a:t>Viewing claim information for an account</a:t>
            </a:r>
            <a:br>
              <a:rPr lang="en-US" dirty="0"/>
            </a:br>
            <a:endParaRPr lang="en-US" sz="2800" dirty="0"/>
          </a:p>
        </p:txBody>
      </p:sp>
      <p:sp>
        <p:nvSpPr>
          <p:cNvPr id="9" name="Content Placeholder 8"/>
          <p:cNvSpPr>
            <a:spLocks noGrp="1"/>
          </p:cNvSpPr>
          <p:nvPr>
            <p:ph sz="half" idx="2"/>
          </p:nvPr>
        </p:nvSpPr>
        <p:spPr>
          <a:xfrm>
            <a:off x="5410199" y="914401"/>
            <a:ext cx="3427413" cy="5475289"/>
          </a:xfrm>
        </p:spPr>
        <p:txBody>
          <a:bodyPr/>
          <a:lstStyle/>
          <a:p>
            <a:r>
              <a:rPr lang="en-US" smtClean="0"/>
              <a:t>For an account, underwriters </a:t>
            </a:r>
            <a:r>
              <a:rPr lang="en-US"/>
              <a:t>with a </a:t>
            </a:r>
            <a:r>
              <a:rPr lang="en-US" smtClean="0"/>
              <a:t>ClaimCenter user </a:t>
            </a:r>
            <a:r>
              <a:rPr lang="en-US"/>
              <a:t>account </a:t>
            </a:r>
            <a:r>
              <a:rPr lang="en-US" smtClean="0"/>
              <a:t>can </a:t>
            </a:r>
            <a:r>
              <a:rPr lang="en-US"/>
              <a:t>view </a:t>
            </a:r>
            <a:r>
              <a:rPr lang="en-US" smtClean="0"/>
              <a:t>a claim in ClaimCenter</a:t>
            </a:r>
            <a:endParaRPr lang="en-US"/>
          </a:p>
          <a:p>
            <a:endParaRPr lang="en-US"/>
          </a:p>
        </p:txBody>
      </p:sp>
      <p:sp>
        <p:nvSpPr>
          <p:cNvPr id="5" name="Rounded Rectangle 4"/>
          <p:cNvSpPr/>
          <p:nvPr/>
        </p:nvSpPr>
        <p:spPr bwMode="auto">
          <a:xfrm rot="21214937">
            <a:off x="501051" y="5188023"/>
            <a:ext cx="2531483" cy="418640"/>
          </a:xfrm>
          <a:prstGeom prst="roundRect">
            <a:avLst/>
          </a:prstGeom>
          <a:noFill/>
          <a:ln w="28575" algn="ctr">
            <a:solidFill>
              <a:srgbClr val="C00000"/>
            </a:solidFill>
            <a:round/>
            <a:headEnd/>
            <a:tailEnd/>
          </a:ln>
          <a:effectLst>
            <a:outerShdw blurRad="50800" dist="38100" dir="2700000" algn="tl" rotWithShape="0">
              <a:prstClr val="black">
                <a:alpha val="40000"/>
              </a:prstClr>
            </a:outerShdw>
          </a:effectLst>
          <a:scene3d>
            <a:camera prst="perspectiveContrastingRightFacing"/>
            <a:lightRig rig="threePt" dir="t"/>
          </a:scene3d>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7" name="Picture 6" descr="PolicyCenter.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191000" y="891631"/>
            <a:ext cx="565862" cy="548640"/>
          </a:xfrm>
          <a:prstGeom prst="rect">
            <a:avLst/>
          </a:prstGeom>
          <a:effectLst>
            <a:outerShdw blurRad="50800" dist="38100" dir="2700000" algn="tl" rotWithShape="0">
              <a:prstClr val="black">
                <a:alpha val="40000"/>
              </a:prstClr>
            </a:outerShdw>
          </a:effectLst>
        </p:spPr>
      </p:pic>
      <p:pic>
        <p:nvPicPr>
          <p:cNvPr id="10" name="Picture 5"/>
          <p:cNvPicPr>
            <a:picLocks noChangeAspect="1" noChangeArrowheads="1"/>
          </p:cNvPicPr>
          <p:nvPr/>
        </p:nvPicPr>
        <p:blipFill rotWithShape="1">
          <a:blip r:embed="rId6">
            <a:extLst>
              <a:ext uri="{28A0092B-C50C-407E-A947-70E740481C1C}">
                <a14:useLocalDpi xmlns:a14="http://schemas.microsoft.com/office/drawing/2010/main" val="0"/>
              </a:ext>
            </a:extLst>
          </a:blip>
          <a:srcRect r="18118"/>
          <a:stretch/>
        </p:blipFill>
        <p:spPr bwMode="auto">
          <a:xfrm>
            <a:off x="3450336" y="3058012"/>
            <a:ext cx="5388864" cy="3418704"/>
          </a:xfrm>
          <a:prstGeom prst="rect">
            <a:avLst/>
          </a:prstGeom>
          <a:noFill/>
          <a:ln w="9525">
            <a:solidFill>
              <a:schemeClr val="bg1"/>
            </a:solidFill>
            <a:miter lim="800000"/>
            <a:headEnd/>
            <a:tailEnd/>
          </a:ln>
          <a:effectLst>
            <a:outerShdw blurRad="63500" dist="35921" dir="2700000" algn="ctr" rotWithShape="0">
              <a:schemeClr val="tx1">
                <a:lumMod val="65000"/>
              </a:schemeClr>
            </a:outerShdw>
          </a:effectLst>
          <a:extLst>
            <a:ext uri="{909E8E84-426E-40DD-AFC4-6F175D3DCCD1}">
              <a14:hiddenFill xmlns:a14="http://schemas.microsoft.com/office/drawing/2010/main">
                <a:solidFill>
                  <a:schemeClr val="accent1"/>
                </a:solidFill>
              </a14:hiddenFill>
            </a:ext>
          </a:extLst>
        </p:spPr>
      </p:pic>
      <p:sp>
        <p:nvSpPr>
          <p:cNvPr id="11" name="Right Arrow 10"/>
          <p:cNvSpPr/>
          <p:nvPr/>
        </p:nvSpPr>
        <p:spPr bwMode="auto">
          <a:xfrm>
            <a:off x="2930021" y="4526280"/>
            <a:ext cx="651379" cy="528415"/>
          </a:xfrm>
          <a:prstGeom prst="rightArrow">
            <a:avLst/>
          </a:prstGeom>
          <a:gradFill flip="none" rotWithShape="1">
            <a:gsLst>
              <a:gs pos="0">
                <a:schemeClr val="accent3"/>
              </a:gs>
              <a:gs pos="100000">
                <a:schemeClr val="accent5"/>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12" name="Picture 1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382000" y="2880360"/>
            <a:ext cx="565862" cy="548640"/>
          </a:xfrm>
          <a:prstGeom prst="rect">
            <a:avLst/>
          </a:prstGeom>
          <a:effectLst>
            <a:outerShdw blurRad="50800" dist="38100" dir="2700000" algn="tl" rotWithShape="0">
              <a:prstClr val="black">
                <a:alpha val="40000"/>
              </a:prstClr>
            </a:outerShdw>
          </a:effectLst>
        </p:spPr>
      </p:pic>
      <p:sp>
        <p:nvSpPr>
          <p:cNvPr id="13"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dirty="0"/>
              <a:t>through an exit point to ClaimCenter</a:t>
            </a:r>
          </a:p>
        </p:txBody>
      </p:sp>
    </p:spTree>
    <p:extLst>
      <p:ext uri="{BB962C8B-B14F-4D97-AF65-F5344CB8AC3E}">
        <p14:creationId xmlns:p14="http://schemas.microsoft.com/office/powerpoint/2010/main" val="559168264"/>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Renewal processing</a:t>
            </a:r>
            <a:endParaRPr lang="en-US"/>
          </a:p>
        </p:txBody>
      </p:sp>
      <p:sp>
        <p:nvSpPr>
          <p:cNvPr id="3" name="Content Placeholder 2"/>
          <p:cNvSpPr>
            <a:spLocks noGrp="1"/>
          </p:cNvSpPr>
          <p:nvPr>
            <p:ph sz="half" idx="1"/>
          </p:nvPr>
        </p:nvSpPr>
        <p:spPr/>
        <p:txBody>
          <a:bodyPr/>
          <a:lstStyle/>
          <a:p>
            <a:r>
              <a:rPr lang="en-US" dirty="0" smtClean="0"/>
              <a:t>During the renewal process, PolicyCenter automatically searches for policy claims</a:t>
            </a:r>
          </a:p>
          <a:p>
            <a:pPr lvl="1"/>
            <a:r>
              <a:rPr lang="en-US" dirty="0" smtClean="0"/>
              <a:t>Same set of checks run for automated renewal workflow and manual renewal</a:t>
            </a:r>
          </a:p>
          <a:p>
            <a:r>
              <a:rPr lang="en-US" dirty="0" smtClean="0"/>
              <a:t>Possible to configure the renewal process to create UW issues based on </a:t>
            </a:r>
            <a:br>
              <a:rPr lang="en-US" dirty="0" smtClean="0"/>
            </a:br>
            <a:r>
              <a:rPr lang="en-US" dirty="0" smtClean="0"/>
              <a:t>claim data</a:t>
            </a:r>
          </a:p>
          <a:p>
            <a:pPr lvl="1"/>
            <a:r>
              <a:rPr lang="en-US" dirty="0" smtClean="0"/>
              <a:t>Severe UW issues block automatic processing, including renewal</a:t>
            </a:r>
          </a:p>
          <a:p>
            <a:endParaRPr lang="en-US" dirty="0"/>
          </a:p>
        </p:txBody>
      </p:sp>
      <p:sp>
        <p:nvSpPr>
          <p:cNvPr id="4" name="Content Placeholder 3"/>
          <p:cNvSpPr>
            <a:spLocks noGrp="1"/>
          </p:cNvSpPr>
          <p:nvPr>
            <p:ph sz="half" idx="2"/>
          </p:nvPr>
        </p:nvSpPr>
        <p:spPr/>
        <p:txBody>
          <a:bodyPr/>
          <a:lstStyle/>
          <a:p>
            <a:r>
              <a:rPr lang="en-US" dirty="0" smtClean="0"/>
              <a:t>Base </a:t>
            </a:r>
            <a:br>
              <a:rPr lang="en-US" dirty="0" smtClean="0"/>
            </a:br>
            <a:r>
              <a:rPr lang="en-US" dirty="0" smtClean="0"/>
              <a:t>application </a:t>
            </a:r>
            <a:br>
              <a:rPr lang="en-US" dirty="0" smtClean="0"/>
            </a:br>
            <a:r>
              <a:rPr lang="en-US" dirty="0" smtClean="0"/>
              <a:t>defines some </a:t>
            </a:r>
            <a:br>
              <a:rPr lang="en-US" dirty="0" smtClean="0"/>
            </a:br>
            <a:r>
              <a:rPr lang="en-US" dirty="0" smtClean="0"/>
              <a:t>claim-related </a:t>
            </a:r>
            <a:br>
              <a:rPr lang="en-US" dirty="0" smtClean="0"/>
            </a:br>
            <a:r>
              <a:rPr lang="en-US" dirty="0" smtClean="0"/>
              <a:t>UW issues</a:t>
            </a:r>
          </a:p>
          <a:p>
            <a:pPr lvl="1"/>
            <a:r>
              <a:rPr lang="en-US" dirty="0" smtClean="0"/>
              <a:t>Manual claim review needed</a:t>
            </a:r>
          </a:p>
          <a:p>
            <a:pPr lvl="1"/>
            <a:r>
              <a:rPr lang="en-US" dirty="0" smtClean="0"/>
              <a:t>Ratio of claims total incurred to policy written premium</a:t>
            </a:r>
          </a:p>
          <a:p>
            <a:pPr lvl="1"/>
            <a:r>
              <a:rPr lang="en-US" dirty="0" smtClean="0"/>
              <a:t>Incidence of claims</a:t>
            </a:r>
          </a:p>
          <a:p>
            <a:pPr lvl="1"/>
            <a:r>
              <a:rPr lang="en-US" dirty="0" smtClean="0"/>
              <a:t>Unable to retrieve claims information</a:t>
            </a:r>
          </a:p>
          <a:p>
            <a:pPr lvl="1"/>
            <a:r>
              <a:rPr lang="en-US" dirty="0" smtClean="0"/>
              <a:t>Claim total incurred (highest cost claim)</a:t>
            </a:r>
          </a:p>
          <a:p>
            <a:endParaRPr lang="en-US" dirty="0"/>
          </a:p>
        </p:txBody>
      </p:sp>
      <p:pic>
        <p:nvPicPr>
          <p:cNvPr id="6" name="Picture 5" descr="PolicyCenter.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74547" y="868995"/>
            <a:ext cx="1055053" cy="1022942"/>
          </a:xfrm>
          <a:prstGeom prst="rect">
            <a:avLst/>
          </a:prstGeom>
          <a:effectLst>
            <a:outerShdw blurRad="50800" dist="38100" dir="2700000" algn="tl" rotWithShape="0">
              <a:prstClr val="black">
                <a:alpha val="40000"/>
              </a:prstClr>
            </a:outerShdw>
          </a:effectLst>
        </p:spPr>
      </p:pic>
      <p:pic>
        <p:nvPicPr>
          <p:cNvPr id="8" name="Picture 3" descr="MCj03191780000[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7802880" y="1752600"/>
            <a:ext cx="1066800" cy="987709"/>
          </a:xfrm>
          <a:prstGeom prst="rect">
            <a:avLst/>
          </a:prstGeom>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31931877"/>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UW issues of a renewal job</a:t>
            </a:r>
          </a:p>
        </p:txBody>
      </p:sp>
      <p:sp>
        <p:nvSpPr>
          <p:cNvPr id="7" name="Content Placeholder 6"/>
          <p:cNvSpPr>
            <a:spLocks noGrp="1"/>
          </p:cNvSpPr>
          <p:nvPr>
            <p:ph idx="1"/>
          </p:nvPr>
        </p:nvSpPr>
        <p:spPr>
          <a:xfrm>
            <a:off x="519113" y="5105400"/>
            <a:ext cx="8318500" cy="1295400"/>
          </a:xfrm>
        </p:spPr>
        <p:txBody>
          <a:bodyPr/>
          <a:lstStyle/>
          <a:p>
            <a:r>
              <a:rPr lang="en-US" smtClean="0"/>
              <a:t>For a policy renewal, the Risk Analysis UW Issues card view panel shows the issues that block </a:t>
            </a:r>
            <a:r>
              <a:rPr lang="en-US"/>
              <a:t>the underwriter from binding the renewal</a:t>
            </a:r>
          </a:p>
          <a:p>
            <a:endParaRPr lang="en-US"/>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b="5971"/>
          <a:stretch/>
        </p:blipFill>
        <p:spPr bwMode="auto">
          <a:xfrm>
            <a:off x="537079" y="914399"/>
            <a:ext cx="8454521" cy="3975539"/>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4023114109"/>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a:t>How does risk analysis work?</a:t>
            </a:r>
          </a:p>
        </p:txBody>
      </p:sp>
      <p:sp>
        <p:nvSpPr>
          <p:cNvPr id="5" name="Rounded Rectangle 4"/>
          <p:cNvSpPr/>
          <p:nvPr/>
        </p:nvSpPr>
        <p:spPr bwMode="auto">
          <a:xfrm>
            <a:off x="6324600" y="1371600"/>
            <a:ext cx="2560320" cy="5105400"/>
          </a:xfrm>
          <a:prstGeom prst="roundRect">
            <a:avLst>
              <a:gd name="adj" fmla="val 5270"/>
            </a:avLst>
          </a:prstGeom>
          <a:solidFill>
            <a:schemeClr val="accent5">
              <a:lumMod val="20000"/>
              <a:lumOff val="80000"/>
            </a:schemeClr>
          </a:solidFill>
          <a:ln w="19050" algn="ctr">
            <a:solidFill>
              <a:schemeClr val="accent5"/>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6" name="Rounded Rectangle 5"/>
          <p:cNvSpPr/>
          <p:nvPr/>
        </p:nvSpPr>
        <p:spPr bwMode="auto">
          <a:xfrm>
            <a:off x="533400" y="1371600"/>
            <a:ext cx="5181600" cy="5105400"/>
          </a:xfrm>
          <a:prstGeom prst="roundRect">
            <a:avLst>
              <a:gd name="adj" fmla="val 2845"/>
            </a:avLst>
          </a:prstGeom>
          <a:solidFill>
            <a:schemeClr val="accent3">
              <a:lumMod val="20000"/>
              <a:lumOff val="80000"/>
            </a:schemeClr>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16315" y="895350"/>
            <a:ext cx="565485" cy="548640"/>
          </a:xfrm>
          <a:prstGeom prst="rect">
            <a:avLst/>
          </a:prstGeom>
          <a:effectLst>
            <a:outerShdw blurRad="50800" dist="38100" dir="2700000" algn="tl" rotWithShape="0">
              <a:prstClr val="black">
                <a:alpha val="40000"/>
              </a:prstClr>
            </a:outerShdw>
          </a:effectLst>
        </p:spPr>
      </p:pic>
      <p:pic>
        <p:nvPicPr>
          <p:cNvPr id="12" name="icn Plugin Gosu"/>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4462" y="3045400"/>
            <a:ext cx="1268492" cy="13742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4" name="icon GWP file"/>
          <p:cNvGrpSpPr/>
          <p:nvPr/>
        </p:nvGrpSpPr>
        <p:grpSpPr>
          <a:xfrm>
            <a:off x="815050" y="3045400"/>
            <a:ext cx="893396" cy="1103661"/>
            <a:chOff x="4592771" y="2146900"/>
            <a:chExt cx="1125708" cy="1390650"/>
          </a:xfrm>
        </p:grpSpPr>
        <p:pic>
          <p:nvPicPr>
            <p:cNvPr id="15"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59616" y="2146900"/>
              <a:ext cx="1058863" cy="1390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6" name="icon Plugin"/>
            <p:cNvGrpSpPr>
              <a:grpSpLocks/>
            </p:cNvGrpSpPr>
            <p:nvPr/>
          </p:nvGrpSpPr>
          <p:grpSpPr bwMode="auto">
            <a:xfrm>
              <a:off x="4592771" y="2308825"/>
              <a:ext cx="542255" cy="639158"/>
              <a:chOff x="4500" y="2762"/>
              <a:chExt cx="247" cy="291"/>
            </a:xfrm>
            <a:effectLst>
              <a:outerShdw blurRad="50800" dist="38100" dir="2700000" algn="tl" rotWithShape="0">
                <a:prstClr val="black">
                  <a:alpha val="40000"/>
                </a:prstClr>
              </a:outerShdw>
            </a:effectLst>
          </p:grpSpPr>
          <p:sp>
            <p:nvSpPr>
              <p:cNvPr id="18"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19"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20"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1"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sp>
          <p:nvSpPr>
            <p:cNvPr id="17" name="TextBox 16"/>
            <p:cNvSpPr txBox="1"/>
            <p:nvPr/>
          </p:nvSpPr>
          <p:spPr>
            <a:xfrm>
              <a:off x="4758824" y="3097051"/>
              <a:ext cx="843636" cy="328617"/>
            </a:xfrm>
            <a:prstGeom prst="rect">
              <a:avLst/>
            </a:prstGeom>
            <a:noFill/>
          </p:spPr>
          <p:txBody>
            <a:bodyPr wrap="square" rtlCol="0">
              <a:noAutofit/>
            </a:bodyPr>
            <a:lstStyle/>
            <a:p>
              <a:pPr algn="ctr"/>
              <a:r>
                <a:rPr lang="en-US" sz="1600" b="1" smtClean="0">
                  <a:solidFill>
                    <a:schemeClr val="bg2"/>
                  </a:solidFill>
                  <a:latin typeface="Arial" pitchFamily="32" charset="0"/>
                  <a:cs typeface="Arial" pitchFamily="32" charset="0"/>
                </a:rPr>
                <a:t>GWP</a:t>
              </a:r>
            </a:p>
          </p:txBody>
        </p:sp>
      </p:grpSp>
      <p:pic>
        <p:nvPicPr>
          <p:cNvPr id="22"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87062" y="3045400"/>
            <a:ext cx="1299338" cy="106634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17605" y="3045400"/>
            <a:ext cx="1164906" cy="124434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8" name="TextBox 87"/>
          <p:cNvSpPr txBox="1">
            <a:spLocks noChangeArrowheads="1"/>
          </p:cNvSpPr>
          <p:nvPr/>
        </p:nvSpPr>
        <p:spPr bwMode="auto">
          <a:xfrm>
            <a:off x="6535409" y="4273550"/>
            <a:ext cx="1541791"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algn="ctr" eaLnBrk="1" hangingPunct="1"/>
            <a:r>
              <a:rPr lang="en-US" sz="1600" smtClean="0">
                <a:solidFill>
                  <a:schemeClr val="bg1"/>
                </a:solidFill>
                <a:latin typeface="+mn-lt"/>
              </a:rPr>
              <a:t>PCClaim</a:t>
            </a:r>
            <a:br>
              <a:rPr lang="en-US" sz="1600" smtClean="0">
                <a:solidFill>
                  <a:schemeClr val="bg1"/>
                </a:solidFill>
                <a:latin typeface="+mn-lt"/>
              </a:rPr>
            </a:br>
            <a:r>
              <a:rPr lang="en-US" sz="1600" smtClean="0">
                <a:solidFill>
                  <a:schemeClr val="bg1"/>
                </a:solidFill>
                <a:latin typeface="+mn-lt"/>
              </a:rPr>
              <a:t>Search</a:t>
            </a:r>
            <a:r>
              <a:rPr lang="en-US" sz="1600">
                <a:solidFill>
                  <a:schemeClr val="bg1"/>
                </a:solidFill>
                <a:latin typeface="+mn-lt"/>
              </a:rPr>
              <a:t/>
            </a:r>
            <a:br>
              <a:rPr lang="en-US" sz="1600">
                <a:solidFill>
                  <a:schemeClr val="bg1"/>
                </a:solidFill>
                <a:latin typeface="+mn-lt"/>
              </a:rPr>
            </a:br>
            <a:r>
              <a:rPr lang="en-US" sz="1600" smtClean="0">
                <a:solidFill>
                  <a:schemeClr val="bg1"/>
                </a:solidFill>
                <a:latin typeface="+mn-lt"/>
              </a:rPr>
              <a:t>Integration</a:t>
            </a:r>
            <a:br>
              <a:rPr lang="en-US" sz="1600" smtClean="0">
                <a:solidFill>
                  <a:schemeClr val="bg1"/>
                </a:solidFill>
                <a:latin typeface="+mn-lt"/>
              </a:rPr>
            </a:br>
            <a:r>
              <a:rPr lang="en-US" sz="1600" smtClean="0">
                <a:solidFill>
                  <a:schemeClr val="bg1"/>
                </a:solidFill>
                <a:latin typeface="+mn-lt"/>
              </a:rPr>
              <a:t>API</a:t>
            </a:r>
            <a:endParaRPr lang="en-US" sz="1600">
              <a:solidFill>
                <a:schemeClr val="bg1"/>
              </a:solidFill>
              <a:latin typeface="+mn-lt"/>
            </a:endParaRPr>
          </a:p>
        </p:txBody>
      </p:sp>
      <p:sp>
        <p:nvSpPr>
          <p:cNvPr id="29" name="TextBox 84"/>
          <p:cNvSpPr txBox="1">
            <a:spLocks noChangeArrowheads="1"/>
          </p:cNvSpPr>
          <p:nvPr/>
        </p:nvSpPr>
        <p:spPr bwMode="auto">
          <a:xfrm>
            <a:off x="615173" y="4273550"/>
            <a:ext cx="13462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algn="ctr" eaLnBrk="1" hangingPunct="1"/>
            <a:r>
              <a:rPr lang="en-US" sz="1600" smtClean="0">
                <a:solidFill>
                  <a:schemeClr val="bg1"/>
                </a:solidFill>
                <a:latin typeface="+mn-lt"/>
              </a:rPr>
              <a:t>IClaim</a:t>
            </a:r>
            <a:br>
              <a:rPr lang="en-US" sz="1600" smtClean="0">
                <a:solidFill>
                  <a:schemeClr val="bg1"/>
                </a:solidFill>
                <a:latin typeface="+mn-lt"/>
              </a:rPr>
            </a:br>
            <a:r>
              <a:rPr lang="en-US" sz="1600" smtClean="0">
                <a:solidFill>
                  <a:schemeClr val="bg1"/>
                </a:solidFill>
                <a:latin typeface="+mn-lt"/>
              </a:rPr>
              <a:t>Search</a:t>
            </a:r>
            <a:r>
              <a:rPr lang="en-US" sz="1600">
                <a:solidFill>
                  <a:schemeClr val="bg1"/>
                </a:solidFill>
                <a:latin typeface="+mn-lt"/>
              </a:rPr>
              <a:t/>
            </a:r>
            <a:br>
              <a:rPr lang="en-US" sz="1600">
                <a:solidFill>
                  <a:schemeClr val="bg1"/>
                </a:solidFill>
                <a:latin typeface="+mn-lt"/>
              </a:rPr>
            </a:br>
            <a:r>
              <a:rPr lang="en-US" sz="1600">
                <a:solidFill>
                  <a:schemeClr val="bg1"/>
                </a:solidFill>
                <a:latin typeface="+mn-lt"/>
              </a:rPr>
              <a:t>Plugin</a:t>
            </a:r>
          </a:p>
        </p:txBody>
      </p:sp>
      <p:sp>
        <p:nvSpPr>
          <p:cNvPr id="30" name="TextBox 85"/>
          <p:cNvSpPr txBox="1">
            <a:spLocks noChangeArrowheads="1"/>
          </p:cNvSpPr>
          <p:nvPr/>
        </p:nvSpPr>
        <p:spPr bwMode="auto">
          <a:xfrm>
            <a:off x="2110907" y="4270547"/>
            <a:ext cx="187642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algn="ctr" eaLnBrk="1" hangingPunct="1"/>
            <a:r>
              <a:rPr lang="en-US" sz="1600" smtClean="0">
                <a:solidFill>
                  <a:schemeClr val="bg1"/>
                </a:solidFill>
                <a:latin typeface="+mn-lt"/>
              </a:rPr>
              <a:t>GWClaim</a:t>
            </a:r>
            <a:br>
              <a:rPr lang="en-US" sz="1600" smtClean="0">
                <a:solidFill>
                  <a:schemeClr val="bg1"/>
                </a:solidFill>
                <a:latin typeface="+mn-lt"/>
              </a:rPr>
            </a:br>
            <a:r>
              <a:rPr lang="en-US" sz="1600" smtClean="0">
                <a:solidFill>
                  <a:schemeClr val="bg1"/>
                </a:solidFill>
                <a:latin typeface="+mn-lt"/>
              </a:rPr>
              <a:t>Search</a:t>
            </a:r>
            <a:r>
              <a:rPr lang="en-US" sz="1600">
                <a:solidFill>
                  <a:schemeClr val="bg1"/>
                </a:solidFill>
                <a:latin typeface="+mn-lt"/>
              </a:rPr>
              <a:t/>
            </a:r>
            <a:br>
              <a:rPr lang="en-US" sz="1600">
                <a:solidFill>
                  <a:schemeClr val="bg1"/>
                </a:solidFill>
                <a:latin typeface="+mn-lt"/>
              </a:rPr>
            </a:br>
            <a:r>
              <a:rPr lang="en-US" sz="1600">
                <a:solidFill>
                  <a:schemeClr val="bg1"/>
                </a:solidFill>
                <a:latin typeface="+mn-lt"/>
              </a:rPr>
              <a:t>Plugin</a:t>
            </a:r>
          </a:p>
        </p:txBody>
      </p:sp>
      <p:sp>
        <p:nvSpPr>
          <p:cNvPr id="31" name="TextBox 86"/>
          <p:cNvSpPr txBox="1">
            <a:spLocks noChangeArrowheads="1"/>
          </p:cNvSpPr>
          <p:nvPr/>
        </p:nvSpPr>
        <p:spPr bwMode="auto">
          <a:xfrm>
            <a:off x="4212999" y="4226091"/>
            <a:ext cx="124618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algn="ctr" eaLnBrk="1" hangingPunct="1"/>
            <a:r>
              <a:rPr lang="en-US" sz="1600" smtClean="0">
                <a:solidFill>
                  <a:schemeClr val="bg1"/>
                </a:solidFill>
                <a:latin typeface="+mn-lt"/>
              </a:rPr>
              <a:t>CCClaim</a:t>
            </a:r>
            <a:br>
              <a:rPr lang="en-US" sz="1600" smtClean="0">
                <a:solidFill>
                  <a:schemeClr val="bg1"/>
                </a:solidFill>
                <a:latin typeface="+mn-lt"/>
              </a:rPr>
            </a:br>
            <a:r>
              <a:rPr lang="en-US" sz="1600" smtClean="0">
                <a:solidFill>
                  <a:schemeClr val="bg1"/>
                </a:solidFill>
                <a:latin typeface="+mn-lt"/>
              </a:rPr>
              <a:t>Search</a:t>
            </a:r>
            <a:r>
              <a:rPr lang="en-US" sz="1600">
                <a:solidFill>
                  <a:schemeClr val="bg1"/>
                </a:solidFill>
                <a:latin typeface="+mn-lt"/>
              </a:rPr>
              <a:t/>
            </a:r>
            <a:br>
              <a:rPr lang="en-US" sz="1600">
                <a:solidFill>
                  <a:schemeClr val="bg1"/>
                </a:solidFill>
                <a:latin typeface="+mn-lt"/>
              </a:rPr>
            </a:br>
            <a:r>
              <a:rPr lang="en-US" sz="1600">
                <a:solidFill>
                  <a:schemeClr val="bg1"/>
                </a:solidFill>
                <a:latin typeface="+mn-lt"/>
              </a:rPr>
              <a:t>API</a:t>
            </a:r>
          </a:p>
        </p:txBody>
      </p:sp>
      <p:sp>
        <p:nvSpPr>
          <p:cNvPr id="32" name="TextBox 84"/>
          <p:cNvSpPr txBox="1">
            <a:spLocks noChangeArrowheads="1"/>
          </p:cNvSpPr>
          <p:nvPr/>
        </p:nvSpPr>
        <p:spPr bwMode="auto">
          <a:xfrm>
            <a:off x="533401" y="1531203"/>
            <a:ext cx="12954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algn="ctr" eaLnBrk="1" hangingPunct="1"/>
            <a:r>
              <a:rPr lang="en-US" sz="1600" smtClean="0">
                <a:solidFill>
                  <a:schemeClr val="bg1"/>
                </a:solidFill>
                <a:latin typeface="+mn-lt"/>
              </a:rPr>
              <a:t>Renewal Processing / Claim Search</a:t>
            </a:r>
            <a:endParaRPr lang="en-US" sz="1600">
              <a:solidFill>
                <a:schemeClr val="bg1"/>
              </a:solidFill>
              <a:latin typeface="+mn-lt"/>
            </a:endParaRPr>
          </a:p>
        </p:txBody>
      </p:sp>
      <p:cxnSp>
        <p:nvCxnSpPr>
          <p:cNvPr id="34" name="Straight Arrow Connector 33"/>
          <p:cNvCxnSpPr/>
          <p:nvPr/>
        </p:nvCxnSpPr>
        <p:spPr bwMode="auto">
          <a:xfrm>
            <a:off x="1879600" y="3665219"/>
            <a:ext cx="377303" cy="0"/>
          </a:xfrm>
          <a:prstGeom prst="straightConnector1">
            <a:avLst/>
          </a:prstGeom>
          <a:noFill/>
          <a:ln w="28575" cap="flat" cmpd="sng" algn="ctr">
            <a:solidFill>
              <a:schemeClr val="bg1"/>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36" name="Straight Arrow Connector 35"/>
          <p:cNvCxnSpPr/>
          <p:nvPr/>
        </p:nvCxnSpPr>
        <p:spPr bwMode="auto">
          <a:xfrm>
            <a:off x="1194518" y="2608421"/>
            <a:ext cx="0" cy="274479"/>
          </a:xfrm>
          <a:prstGeom prst="straightConnector1">
            <a:avLst/>
          </a:prstGeom>
          <a:noFill/>
          <a:ln w="28575" cap="flat" cmpd="sng" algn="ctr">
            <a:solidFill>
              <a:schemeClr val="bg1"/>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38" name="Straight Arrow Connector 37"/>
          <p:cNvCxnSpPr/>
          <p:nvPr/>
        </p:nvCxnSpPr>
        <p:spPr bwMode="auto">
          <a:xfrm>
            <a:off x="3702954" y="3665219"/>
            <a:ext cx="377303" cy="0"/>
          </a:xfrm>
          <a:prstGeom prst="straightConnector1">
            <a:avLst/>
          </a:prstGeom>
          <a:noFill/>
          <a:ln w="28575" cap="flat" cmpd="sng" algn="ctr">
            <a:solidFill>
              <a:schemeClr val="bg1"/>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39" name="Straight Arrow Connector 38"/>
          <p:cNvCxnSpPr/>
          <p:nvPr/>
        </p:nvCxnSpPr>
        <p:spPr bwMode="auto">
          <a:xfrm>
            <a:off x="5510892" y="3583468"/>
            <a:ext cx="1024517" cy="0"/>
          </a:xfrm>
          <a:prstGeom prst="straightConnector1">
            <a:avLst/>
          </a:prstGeom>
          <a:noFill/>
          <a:ln w="28575" cap="flat" cmpd="sng" algn="ctr">
            <a:solidFill>
              <a:schemeClr val="bg1"/>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40" name="Straight Arrow Connector 39"/>
          <p:cNvCxnSpPr/>
          <p:nvPr/>
        </p:nvCxnSpPr>
        <p:spPr bwMode="auto">
          <a:xfrm flipH="1">
            <a:off x="5459186" y="3810000"/>
            <a:ext cx="1051731" cy="0"/>
          </a:xfrm>
          <a:prstGeom prst="straightConnector1">
            <a:avLst/>
          </a:prstGeom>
          <a:noFill/>
          <a:ln w="28575" cap="flat" cmpd="sng" algn="ctr">
            <a:solidFill>
              <a:schemeClr val="bg1"/>
            </a:solidFill>
            <a:prstDash val="solid"/>
            <a:round/>
            <a:headEnd type="none" w="med" len="med"/>
            <a:tailEnd type="arrow" w="lg" len="med"/>
          </a:ln>
          <a:effectLst>
            <a:outerShdw blurRad="50800" dist="38100" dir="2700000" algn="tl" rotWithShape="0">
              <a:prstClr val="black">
                <a:alpha val="40000"/>
              </a:prstClr>
            </a:outerShdw>
          </a:effectLst>
        </p:spPr>
      </p:cxnSp>
      <p:pic>
        <p:nvPicPr>
          <p:cNvPr id="33" name="Picture 2" descr="C:\Users\sluersen\AppData\Local\Temp\SNAGHTML24dd7d3.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629400" y="5482006"/>
            <a:ext cx="650572" cy="61114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35" name="Picture 11" descr="C:\Users\sluersen\AppData\Local\Temp\SNAGHTML1d825e1.PN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578271" y="5488591"/>
            <a:ext cx="652762" cy="60895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37" name="Straight Arrow Connector 36"/>
          <p:cNvCxnSpPr>
            <a:stCxn id="35" idx="3"/>
          </p:cNvCxnSpPr>
          <p:nvPr/>
        </p:nvCxnSpPr>
        <p:spPr bwMode="auto">
          <a:xfrm flipV="1">
            <a:off x="4231033" y="5791971"/>
            <a:ext cx="2304376" cy="1096"/>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
        <p:nvSpPr>
          <p:cNvPr id="41" name="TextBox 86"/>
          <p:cNvSpPr txBox="1">
            <a:spLocks noChangeArrowheads="1"/>
          </p:cNvSpPr>
          <p:nvPr/>
        </p:nvSpPr>
        <p:spPr bwMode="auto">
          <a:xfrm>
            <a:off x="1828800" y="5502526"/>
            <a:ext cx="174947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algn="r" eaLnBrk="1" hangingPunct="1"/>
            <a:r>
              <a:rPr lang="en-US" sz="1600">
                <a:solidFill>
                  <a:schemeClr val="bg1"/>
                </a:solidFill>
                <a:latin typeface="+mn-lt"/>
              </a:rPr>
              <a:t>ViewClaim</a:t>
            </a:r>
            <a:br>
              <a:rPr lang="en-US" sz="1600">
                <a:solidFill>
                  <a:schemeClr val="bg1"/>
                </a:solidFill>
                <a:latin typeface="+mn-lt"/>
              </a:rPr>
            </a:br>
            <a:r>
              <a:rPr lang="en-US" sz="1600">
                <a:solidFill>
                  <a:schemeClr val="bg1"/>
                </a:solidFill>
                <a:latin typeface="+mn-lt"/>
              </a:rPr>
              <a:t>(exit point)</a:t>
            </a:r>
          </a:p>
        </p:txBody>
      </p:sp>
      <p:sp>
        <p:nvSpPr>
          <p:cNvPr id="42" name="TextBox 86"/>
          <p:cNvSpPr txBox="1">
            <a:spLocks noChangeArrowheads="1"/>
          </p:cNvSpPr>
          <p:nvPr/>
        </p:nvSpPr>
        <p:spPr bwMode="auto">
          <a:xfrm>
            <a:off x="7306304" y="5381625"/>
            <a:ext cx="157861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eaLnBrk="1" hangingPunct="1"/>
            <a:r>
              <a:rPr lang="en-US" sz="1600" smtClean="0">
                <a:solidFill>
                  <a:schemeClr val="bg1"/>
                </a:solidFill>
                <a:latin typeface="+mn-lt"/>
              </a:rPr>
              <a:t>Claim</a:t>
            </a:r>
            <a:br>
              <a:rPr lang="en-US" sz="1600" smtClean="0">
                <a:solidFill>
                  <a:schemeClr val="bg1"/>
                </a:solidFill>
                <a:latin typeface="+mn-lt"/>
              </a:rPr>
            </a:br>
            <a:r>
              <a:rPr lang="en-US" sz="1600" smtClean="0">
                <a:solidFill>
                  <a:schemeClr val="bg1"/>
                </a:solidFill>
                <a:latin typeface="+mn-lt"/>
              </a:rPr>
              <a:t>SummaryLink</a:t>
            </a:r>
            <a:br>
              <a:rPr lang="en-US" sz="1600" smtClean="0">
                <a:solidFill>
                  <a:schemeClr val="bg1"/>
                </a:solidFill>
                <a:latin typeface="+mn-lt"/>
              </a:rPr>
            </a:br>
            <a:r>
              <a:rPr lang="en-US" sz="1600" smtClean="0">
                <a:solidFill>
                  <a:schemeClr val="bg1"/>
                </a:solidFill>
                <a:latin typeface="+mn-lt"/>
              </a:rPr>
              <a:t>(entry point)</a:t>
            </a:r>
            <a:endParaRPr lang="en-US" sz="1600">
              <a:solidFill>
                <a:schemeClr val="bg1"/>
              </a:solidFill>
              <a:latin typeface="+mn-lt"/>
            </a:endParaRPr>
          </a:p>
        </p:txBody>
      </p:sp>
      <p:pic>
        <p:nvPicPr>
          <p:cNvPr id="43" name="Picture 42" descr="PolicyCenter.png"/>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24738" y="899160"/>
            <a:ext cx="565862" cy="548640"/>
          </a:xfrm>
          <a:prstGeom prst="rect">
            <a:avLst/>
          </a:prstGeom>
          <a:effectLst>
            <a:outerShdw blurRad="50800" dist="38100" dir="2700000" algn="tl" rotWithShape="0">
              <a:prstClr val="black">
                <a:alpha val="40000"/>
              </a:prstClr>
            </a:outerShdw>
          </a:effectLst>
        </p:spPr>
      </p:pic>
      <p:pic>
        <p:nvPicPr>
          <p:cNvPr id="44" name="Picture 43"/>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215938" y="895350"/>
            <a:ext cx="565862"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811991947"/>
      </p:ext>
    </p:extLst>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Steps to enable risk anaylsis</a:t>
            </a:r>
            <a:endParaRPr lang="en-US"/>
          </a:p>
        </p:txBody>
      </p:sp>
      <p:sp>
        <p:nvSpPr>
          <p:cNvPr id="5" name="Subtitle 4"/>
          <p:cNvSpPr>
            <a:spLocks noGrp="1"/>
          </p:cNvSpPr>
          <p:nvPr>
            <p:ph type="subTitle" idx="10"/>
          </p:nvPr>
        </p:nvSpPr>
        <p:spPr/>
        <p:txBody>
          <a:bodyPr/>
          <a:lstStyle/>
          <a:p>
            <a:r>
              <a:rPr lang="en-US" smtClean="0"/>
              <a:t>       </a:t>
            </a:r>
            <a:r>
              <a:rPr lang="en-US"/>
              <a:t>ClaimCenter</a:t>
            </a:r>
          </a:p>
          <a:p>
            <a:endParaRPr lang="en-US"/>
          </a:p>
        </p:txBody>
      </p:sp>
      <p:sp>
        <p:nvSpPr>
          <p:cNvPr id="6" name="Text Placeholder 5"/>
          <p:cNvSpPr>
            <a:spLocks noGrp="1"/>
          </p:cNvSpPr>
          <p:nvPr>
            <p:ph type="body" sz="quarter" idx="11"/>
          </p:nvPr>
        </p:nvSpPr>
        <p:spPr/>
        <p:txBody>
          <a:bodyPr/>
          <a:lstStyle/>
          <a:p>
            <a:r>
              <a:rPr lang="en-US" smtClean="0"/>
              <a:t>        PolicyCenter</a:t>
            </a:r>
            <a:endParaRPr lang="en-US"/>
          </a:p>
        </p:txBody>
      </p:sp>
      <p:sp>
        <p:nvSpPr>
          <p:cNvPr id="4" name="Content Placeholder 3"/>
          <p:cNvSpPr>
            <a:spLocks noGrp="1"/>
          </p:cNvSpPr>
          <p:nvPr>
            <p:ph sz="half" idx="2"/>
          </p:nvPr>
        </p:nvSpPr>
        <p:spPr/>
        <p:txBody>
          <a:bodyPr/>
          <a:lstStyle/>
          <a:p>
            <a:pPr marL="457200" indent="-457200">
              <a:buFont typeface="+mj-lt"/>
              <a:buAutoNum type="arabicPeriod" startAt="2"/>
            </a:pPr>
            <a:r>
              <a:rPr lang="en-US" dirty="0" smtClean="0"/>
              <a:t>Open </a:t>
            </a:r>
            <a:r>
              <a:rPr lang="en-US" dirty="0" err="1"/>
              <a:t>IClaimSearchPlugin</a:t>
            </a:r>
            <a:endParaRPr lang="en-US" dirty="0"/>
          </a:p>
          <a:p>
            <a:pPr marL="457200" indent="-457200">
              <a:buFont typeface="+mj-lt"/>
              <a:buAutoNum type="arabicPeriod" startAt="2"/>
            </a:pPr>
            <a:r>
              <a:rPr lang="en-US" dirty="0"/>
              <a:t>Change the Gosu class</a:t>
            </a:r>
          </a:p>
          <a:p>
            <a:pPr marL="457200" indent="-457200">
              <a:buFont typeface="+mj-lt"/>
              <a:buAutoNum type="arabicPeriod" startAt="2"/>
            </a:pPr>
            <a:r>
              <a:rPr lang="en-US" dirty="0"/>
              <a:t>Edit the plugin configuration</a:t>
            </a:r>
          </a:p>
          <a:p>
            <a:pPr marL="457200" indent="-457200">
              <a:buFont typeface="+mj-lt"/>
              <a:buAutoNum type="arabicPeriod" startAt="2"/>
            </a:pPr>
            <a:r>
              <a:rPr lang="en-US" dirty="0"/>
              <a:t>Edit configuration xml files</a:t>
            </a:r>
          </a:p>
          <a:p>
            <a:pPr marL="457200" indent="-457200">
              <a:buFont typeface="+mj-lt"/>
              <a:buAutoNum type="arabicPeriod" startAt="2"/>
            </a:pPr>
            <a:r>
              <a:rPr lang="en-US" dirty="0"/>
              <a:t>Refresh the Web Service collection WSDL</a:t>
            </a:r>
          </a:p>
          <a:p>
            <a:pPr marL="457200" indent="-457200">
              <a:buFont typeface="+mj-lt"/>
              <a:buAutoNum type="arabicPeriod" startAt="2"/>
            </a:pPr>
            <a:r>
              <a:rPr lang="en-US" dirty="0" smtClean="0"/>
              <a:t>Deploy </a:t>
            </a:r>
            <a:r>
              <a:rPr lang="en-US" dirty="0"/>
              <a:t>your changes</a:t>
            </a:r>
          </a:p>
          <a:p>
            <a:pPr marL="457200" indent="-457200">
              <a:buFont typeface="+mj-lt"/>
              <a:buAutoNum type="arabicPeriod" startAt="2"/>
            </a:pPr>
            <a:endParaRPr lang="en-US" dirty="0"/>
          </a:p>
        </p:txBody>
      </p:sp>
      <p:sp>
        <p:nvSpPr>
          <p:cNvPr id="3" name="Content Placeholder 2"/>
          <p:cNvSpPr>
            <a:spLocks noGrp="1"/>
          </p:cNvSpPr>
          <p:nvPr>
            <p:ph sz="half" idx="1"/>
          </p:nvPr>
        </p:nvSpPr>
        <p:spPr/>
        <p:txBody>
          <a:bodyPr/>
          <a:lstStyle/>
          <a:p>
            <a:pPr marL="457200" indent="-457200">
              <a:buFont typeface="+mj-lt"/>
              <a:buAutoNum type="arabicPeriod"/>
            </a:pPr>
            <a:r>
              <a:rPr lang="en-US" smtClean="0"/>
              <a:t>Start ClaimCenter</a:t>
            </a:r>
            <a:endParaRPr lang="en-US"/>
          </a:p>
        </p:txBody>
      </p:sp>
      <p:pic>
        <p:nvPicPr>
          <p:cNvPr id="7" name="Picture 6" descr="PolicyCenter.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91938" y="899160"/>
            <a:ext cx="565862" cy="548640"/>
          </a:xfrm>
          <a:prstGeom prst="rect">
            <a:avLst/>
          </a:prstGeom>
          <a:effectLst>
            <a:outerShdw blurRad="50800" dist="38100" dir="2700000" algn="tl" rotWithShape="0">
              <a:prstClr val="black">
                <a:alpha val="40000"/>
              </a:prstClr>
            </a:outerShdw>
          </a:effectLst>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5300" y="899160"/>
            <a:ext cx="565862"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453093287"/>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Start ClaimCenter</a:t>
            </a:r>
            <a:endParaRPr lang="en-US"/>
          </a:p>
        </p:txBody>
      </p:sp>
      <p:sp>
        <p:nvSpPr>
          <p:cNvPr id="3" name="Content Placeholder 2"/>
          <p:cNvSpPr>
            <a:spLocks noGrp="1"/>
          </p:cNvSpPr>
          <p:nvPr>
            <p:ph idx="1"/>
          </p:nvPr>
        </p:nvSpPr>
        <p:spPr/>
        <p:txBody>
          <a:bodyPr/>
          <a:lstStyle/>
          <a:p>
            <a:r>
              <a:rPr lang="en-US" b="1" dirty="0" err="1" smtClean="0">
                <a:latin typeface="Courier New" pitchFamily="49" charset="0"/>
                <a:cs typeface="Courier New" pitchFamily="49" charset="0"/>
              </a:rPr>
              <a:t>gwcc</a:t>
            </a:r>
            <a:r>
              <a:rPr lang="en-US" b="1" dirty="0" smtClean="0">
                <a:latin typeface="Courier New" pitchFamily="49" charset="0"/>
                <a:cs typeface="Courier New" pitchFamily="49" charset="0"/>
              </a:rPr>
              <a:t> </a:t>
            </a:r>
            <a:r>
              <a:rPr lang="en-US" b="1" dirty="0" err="1" smtClean="0">
                <a:latin typeface="Courier New" pitchFamily="49" charset="0"/>
                <a:cs typeface="Courier New" pitchFamily="49" charset="0"/>
              </a:rPr>
              <a:t>dev</a:t>
            </a:r>
            <a:r>
              <a:rPr lang="en-US" b="1" dirty="0" smtClean="0">
                <a:latin typeface="Courier New" pitchFamily="49" charset="0"/>
                <a:cs typeface="Courier New" pitchFamily="49" charset="0"/>
              </a:rPr>
              <a:t>-start</a:t>
            </a:r>
          </a:p>
          <a:p>
            <a:r>
              <a:rPr lang="en-US" dirty="0" smtClean="0"/>
              <a:t>Starts ClaimCenter</a:t>
            </a:r>
            <a:r>
              <a:rPr lang="en-US" dirty="0"/>
              <a:t> </a:t>
            </a:r>
            <a:endParaRPr lang="en-US" dirty="0" smtClean="0"/>
          </a:p>
          <a:p>
            <a:r>
              <a:rPr lang="en-US" dirty="0" err="1" smtClean="0"/>
              <a:t>PCClaimSearchIntegrationAPI</a:t>
            </a:r>
            <a:r>
              <a:rPr lang="en-US" dirty="0" smtClean="0"/>
              <a:t> web service starts</a:t>
            </a:r>
            <a:endParaRPr lang="en-US" dirty="0"/>
          </a:p>
          <a:p>
            <a:endParaRPr lang="en-US" dirty="0"/>
          </a:p>
        </p:txBody>
      </p:sp>
      <p:sp>
        <p:nvSpPr>
          <p:cNvPr id="4" name="Rectangle 3"/>
          <p:cNvSpPr/>
          <p:nvPr/>
        </p:nvSpPr>
        <p:spPr bwMode="auto">
          <a:xfrm>
            <a:off x="533400" y="3276600"/>
            <a:ext cx="8229600" cy="3048000"/>
          </a:xfrm>
          <a:prstGeom prst="rect">
            <a:avLst/>
          </a:prstGeom>
          <a:solidFill>
            <a:schemeClr val="tx2">
              <a:lumMod val="75000"/>
            </a:schemeClr>
          </a:solidFill>
          <a:ln w="19050" algn="ctr">
            <a:solidFill>
              <a:schemeClr val="tx2">
                <a:lumMod val="75000"/>
              </a:schemeClr>
            </a:solidFill>
            <a:round/>
            <a:headEnd/>
            <a:tailEnd/>
          </a:ln>
        </p:spPr>
        <p:txBody>
          <a:bodyPr wrap="none" lIns="91440" tIns="91440" rIns="0" bIns="91440" rtlCol="0" anchor="t" anchorCtr="0">
            <a:noAutofit/>
          </a:bodyPr>
          <a:lstStyle/>
          <a:p>
            <a:pPr>
              <a:spcBef>
                <a:spcPct val="50000"/>
              </a:spcBef>
              <a:spcAft>
                <a:spcPct val="30000"/>
              </a:spcAft>
              <a:buClr>
                <a:schemeClr val="tx1"/>
              </a:buClr>
            </a:pPr>
            <a:r>
              <a:rPr lang="en-US" sz="1600">
                <a:solidFill>
                  <a:schemeClr val="bg1"/>
                </a:solidFill>
                <a:latin typeface="Lucida Console" pitchFamily="49" charset="0"/>
              </a:rPr>
              <a:t>C:\Guidewire\ClaimCenter\bin&gt;gwcc dev-start</a:t>
            </a:r>
          </a:p>
          <a:p>
            <a:pPr>
              <a:spcBef>
                <a:spcPct val="50000"/>
              </a:spcBef>
              <a:spcAft>
                <a:spcPct val="30000"/>
              </a:spcAft>
              <a:buClr>
                <a:schemeClr val="tx1"/>
              </a:buClr>
            </a:pPr>
            <a:r>
              <a:rPr lang="en-US" sz="1600">
                <a:solidFill>
                  <a:schemeClr val="bg1"/>
                </a:solidFill>
                <a:latin typeface="Lucida Console" pitchFamily="49" charset="0"/>
              </a:rPr>
              <a:t>dev-start</a:t>
            </a:r>
            <a:r>
              <a:rPr lang="en-US" sz="1600" smtClean="0">
                <a:solidFill>
                  <a:schemeClr val="bg1"/>
                </a:solidFill>
                <a:latin typeface="Lucida Console" pitchFamily="49" charset="0"/>
              </a:rPr>
              <a:t>:</a:t>
            </a:r>
            <a:br>
              <a:rPr lang="en-US" sz="1600" smtClean="0">
                <a:solidFill>
                  <a:schemeClr val="bg1"/>
                </a:solidFill>
                <a:latin typeface="Lucida Console" pitchFamily="49" charset="0"/>
              </a:rPr>
            </a:br>
            <a:r>
              <a:rPr lang="en-US" sz="1600" smtClean="0">
                <a:solidFill>
                  <a:schemeClr val="bg1"/>
                </a:solidFill>
                <a:latin typeface="Lucida Console" pitchFamily="49" charset="0"/>
              </a:rPr>
              <a:t>====================================================</a:t>
            </a:r>
            <a:br>
              <a:rPr lang="en-US" sz="1600" smtClean="0">
                <a:solidFill>
                  <a:schemeClr val="bg1"/>
                </a:solidFill>
                <a:latin typeface="Lucida Console" pitchFamily="49" charset="0"/>
              </a:rPr>
            </a:br>
            <a:r>
              <a:rPr lang="en-US" sz="1600" smtClean="0">
                <a:solidFill>
                  <a:schemeClr val="bg1"/>
                </a:solidFill>
                <a:latin typeface="Lucida Console" pitchFamily="49" charset="0"/>
              </a:rPr>
              <a:t>= </a:t>
            </a:r>
            <a:r>
              <a:rPr lang="en-US" sz="1600">
                <a:solidFill>
                  <a:schemeClr val="bg1"/>
                </a:solidFill>
                <a:latin typeface="Lucida Console" pitchFamily="49" charset="0"/>
              </a:rPr>
              <a:t>Running main class: </a:t>
            </a:r>
            <a:r>
              <a:rPr lang="en-US" sz="1600" smtClean="0">
                <a:solidFill>
                  <a:schemeClr val="bg1"/>
                </a:solidFill>
                <a:latin typeface="Lucida Console" pitchFamily="49" charset="0"/>
              </a:rPr>
              <a:t/>
            </a:r>
            <a:br>
              <a:rPr lang="en-US" sz="1600" smtClean="0">
                <a:solidFill>
                  <a:schemeClr val="bg1"/>
                </a:solidFill>
                <a:latin typeface="Lucida Console" pitchFamily="49" charset="0"/>
              </a:rPr>
            </a:br>
            <a:r>
              <a:rPr lang="en-US" sz="1600" smtClean="0">
                <a:solidFill>
                  <a:schemeClr val="bg1"/>
                </a:solidFill>
                <a:latin typeface="Lucida Console" pitchFamily="49" charset="0"/>
              </a:rPr>
              <a:t> com.guidewire.commons.jetty.GWServerJettyServerMain</a:t>
            </a:r>
          </a:p>
          <a:p>
            <a:pPr>
              <a:spcBef>
                <a:spcPct val="50000"/>
              </a:spcBef>
              <a:spcAft>
                <a:spcPct val="30000"/>
              </a:spcAft>
              <a:buClr>
                <a:schemeClr val="tx1"/>
              </a:buClr>
            </a:pPr>
            <a:r>
              <a:rPr lang="en-US" sz="1600" smtClean="0">
                <a:solidFill>
                  <a:schemeClr val="bg1"/>
                </a:solidFill>
                <a:latin typeface="Lucida Console" pitchFamily="49" charset="0"/>
              </a:rPr>
              <a:t>…</a:t>
            </a:r>
          </a:p>
          <a:p>
            <a:pPr>
              <a:spcBef>
                <a:spcPct val="50000"/>
              </a:spcBef>
              <a:spcAft>
                <a:spcPct val="30000"/>
              </a:spcAft>
              <a:buClr>
                <a:schemeClr val="tx1"/>
              </a:buClr>
            </a:pPr>
            <a:r>
              <a:rPr lang="en-US" sz="1600" smtClean="0">
                <a:solidFill>
                  <a:schemeClr val="bg1"/>
                </a:solidFill>
                <a:latin typeface="Lucida Console" pitchFamily="49" charset="0"/>
              </a:rPr>
              <a:t>[JAVA] machine   2014-10-10  INFO </a:t>
            </a:r>
            <a:r>
              <a:rPr lang="en-US" sz="1600">
                <a:solidFill>
                  <a:schemeClr val="bg1"/>
                </a:solidFill>
                <a:latin typeface="Lucida Console" pitchFamily="49" charset="0"/>
              </a:rPr>
              <a:t>***** ClaimCenter ready *****</a:t>
            </a:r>
          </a:p>
        </p:txBody>
      </p:sp>
      <p:sp>
        <p:nvSpPr>
          <p:cNvPr id="5"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a:t>Step 1</a:t>
            </a: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92388" y="130810"/>
            <a:ext cx="565862"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223706279"/>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C:\Users\sluersen\AppData\Local\Temp\SNAGHTML22f7a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399" y="3657600"/>
            <a:ext cx="7350000" cy="28300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399" y="914400"/>
            <a:ext cx="2737157" cy="242464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US" smtClean="0"/>
              <a:t>Open IClaimSearchPlugin</a:t>
            </a:r>
            <a:endParaRPr lang="en-US"/>
          </a:p>
        </p:txBody>
      </p:sp>
      <p:sp>
        <p:nvSpPr>
          <p:cNvPr id="4" name="Content Placeholder 3"/>
          <p:cNvSpPr>
            <a:spLocks noGrp="1"/>
          </p:cNvSpPr>
          <p:nvPr>
            <p:ph sz="half" idx="2"/>
          </p:nvPr>
        </p:nvSpPr>
        <p:spPr>
          <a:xfrm>
            <a:off x="3886200" y="914401"/>
            <a:ext cx="4951413" cy="5475289"/>
          </a:xfrm>
        </p:spPr>
        <p:txBody>
          <a:bodyPr/>
          <a:lstStyle/>
          <a:p>
            <a:r>
              <a:rPr lang="en-US" dirty="0"/>
              <a:t>In Guidewire Studio for </a:t>
            </a:r>
            <a:r>
              <a:rPr lang="en-US" dirty="0" smtClean="0"/>
              <a:t>PolicyCenter, open </a:t>
            </a:r>
            <a:r>
              <a:rPr lang="en-US" dirty="0" err="1" smtClean="0"/>
              <a:t>IClaimSearchPlugin.gwp</a:t>
            </a:r>
            <a:endParaRPr lang="en-US" dirty="0"/>
          </a:p>
          <a:p>
            <a:endParaRPr lang="en-US" dirty="0"/>
          </a:p>
        </p:txBody>
      </p:sp>
      <p:cxnSp>
        <p:nvCxnSpPr>
          <p:cNvPr id="7" name="Straight Arrow Connector 6"/>
          <p:cNvCxnSpPr/>
          <p:nvPr/>
        </p:nvCxnSpPr>
        <p:spPr bwMode="auto">
          <a:xfrm>
            <a:off x="1600200" y="3305419"/>
            <a:ext cx="0" cy="326755"/>
          </a:xfrm>
          <a:prstGeom prst="straightConnector1">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sp>
        <p:nvSpPr>
          <p:cNvPr id="8"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a:t>Step </a:t>
            </a:r>
            <a:r>
              <a:rPr lang="en-US" smtClean="0"/>
              <a:t>2</a:t>
            </a:r>
            <a:endParaRPr lang="en-US"/>
          </a:p>
        </p:txBody>
      </p:sp>
      <p:pic>
        <p:nvPicPr>
          <p:cNvPr id="9" name="Picture 8" descr="PolicyCenter.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98738" y="133350"/>
            <a:ext cx="565862"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915222250"/>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6" name="Picture 8" descr="C:\Users\sluersen\AppData\Local\Temp\SNAGHTML35115f.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399" y="3657599"/>
            <a:ext cx="7350000" cy="28300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052" name="Picture 4" descr="C:\Users\sluersen\AppData\Local\Temp\SNAGHTML307a2f.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1550" y="2133600"/>
            <a:ext cx="4210050" cy="196070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smtClean="0"/>
              <a:t>Change the Gosu class</a:t>
            </a:r>
            <a:endParaRPr lang="en-US"/>
          </a:p>
        </p:txBody>
      </p:sp>
      <p:sp>
        <p:nvSpPr>
          <p:cNvPr id="3" name="Content Placeholder 2"/>
          <p:cNvSpPr>
            <a:spLocks noGrp="1"/>
          </p:cNvSpPr>
          <p:nvPr>
            <p:ph idx="1"/>
          </p:nvPr>
        </p:nvSpPr>
        <p:spPr/>
        <p:txBody>
          <a:bodyPr/>
          <a:lstStyle/>
          <a:p>
            <a:r>
              <a:rPr lang="en-US" dirty="0" smtClean="0"/>
              <a:t>In </a:t>
            </a:r>
            <a:r>
              <a:rPr lang="en-US" dirty="0"/>
              <a:t>Plugin Editor, </a:t>
            </a:r>
            <a:r>
              <a:rPr lang="en-US" dirty="0" smtClean="0"/>
              <a:t>change the Gosu class</a:t>
            </a:r>
          </a:p>
          <a:p>
            <a:pPr marL="857250" lvl="1" indent="-457200">
              <a:buFont typeface="+mj-lt"/>
              <a:buAutoNum type="arabicPeriod"/>
            </a:pPr>
            <a:r>
              <a:rPr lang="en-US" dirty="0" smtClean="0"/>
              <a:t>Click ellipse (…) </a:t>
            </a:r>
            <a:endParaRPr lang="en-US" dirty="0"/>
          </a:p>
          <a:p>
            <a:pPr marL="857250" lvl="1" indent="-457200">
              <a:buFont typeface="+mj-lt"/>
              <a:buAutoNum type="arabicPeriod"/>
            </a:pPr>
            <a:r>
              <a:rPr lang="en-US" dirty="0"/>
              <a:t>Search for </a:t>
            </a:r>
            <a:r>
              <a:rPr lang="en-US" dirty="0" err="1" smtClean="0"/>
              <a:t>GWClaimSearchPlugin</a:t>
            </a:r>
            <a:r>
              <a:rPr lang="en-US" dirty="0" smtClean="0"/>
              <a:t> (cc800</a:t>
            </a:r>
            <a:r>
              <a:rPr lang="en-US" dirty="0"/>
              <a:t>)</a:t>
            </a:r>
          </a:p>
          <a:p>
            <a:pPr marL="0" indent="0">
              <a:buNone/>
            </a:pPr>
            <a:endParaRPr lang="en-US" dirty="0"/>
          </a:p>
        </p:txBody>
      </p:sp>
      <p:sp>
        <p:nvSpPr>
          <p:cNvPr id="10" name="num3"/>
          <p:cNvSpPr/>
          <p:nvPr/>
        </p:nvSpPr>
        <p:spPr bwMode="auto">
          <a:xfrm>
            <a:off x="4724400" y="274320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smtClean="0">
                <a:solidFill>
                  <a:schemeClr val="accent1"/>
                </a:solidFill>
              </a:rPr>
              <a:t>2</a:t>
            </a:r>
            <a:endParaRPr lang="en-US"/>
          </a:p>
        </p:txBody>
      </p:sp>
      <p:sp>
        <p:nvSpPr>
          <p:cNvPr id="11" name="num1"/>
          <p:cNvSpPr/>
          <p:nvPr/>
        </p:nvSpPr>
        <p:spPr bwMode="auto">
          <a:xfrm>
            <a:off x="7503062" y="4345057"/>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smtClean="0">
                <a:solidFill>
                  <a:schemeClr val="accent1"/>
                </a:solidFill>
              </a:rPr>
              <a:t>1</a:t>
            </a:r>
            <a:endParaRPr lang="en-US"/>
          </a:p>
        </p:txBody>
      </p:sp>
      <p:sp>
        <p:nvSpPr>
          <p:cNvPr id="8"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a:t>Step </a:t>
            </a:r>
            <a:r>
              <a:rPr lang="en-US" smtClean="0"/>
              <a:t>3</a:t>
            </a:r>
            <a:endParaRPr lang="en-US"/>
          </a:p>
        </p:txBody>
      </p:sp>
      <p:pic>
        <p:nvPicPr>
          <p:cNvPr id="9" name="Picture 8" descr="PolicyCenter.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98738" y="133350"/>
            <a:ext cx="565862"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64203976"/>
      </p:ext>
    </p:extLst>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6" descr="C:\Users\sluersen\AppData\Local\Temp\SNAGHTML32b93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3657598"/>
            <a:ext cx="7350000" cy="28300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smtClean="0"/>
              <a:t>Edit the plugin configuration</a:t>
            </a:r>
            <a:endParaRPr lang="en-US"/>
          </a:p>
        </p:txBody>
      </p:sp>
      <p:sp>
        <p:nvSpPr>
          <p:cNvPr id="3" name="Content Placeholder 2"/>
          <p:cNvSpPr>
            <a:spLocks noGrp="1"/>
          </p:cNvSpPr>
          <p:nvPr>
            <p:ph sz="half" idx="2"/>
          </p:nvPr>
        </p:nvSpPr>
        <p:spPr>
          <a:xfrm>
            <a:off x="533400" y="914401"/>
            <a:ext cx="8534400" cy="5475289"/>
          </a:xfrm>
        </p:spPr>
        <p:txBody>
          <a:bodyPr/>
          <a:lstStyle/>
          <a:p>
            <a:pPr marL="457200" indent="-457200">
              <a:buFont typeface="+mj-lt"/>
              <a:buAutoNum type="arabicPeriod"/>
            </a:pPr>
            <a:r>
              <a:rPr lang="en-US" smtClean="0"/>
              <a:t>Enable, if disabled</a:t>
            </a:r>
          </a:p>
          <a:p>
            <a:pPr marL="457200" indent="-457200">
              <a:buFont typeface="+mj-lt"/>
              <a:buAutoNum type="arabicPeriod"/>
            </a:pPr>
            <a:r>
              <a:rPr lang="en-US" smtClean="0"/>
              <a:t>Add username and password parameters</a:t>
            </a:r>
          </a:p>
          <a:p>
            <a:endParaRPr lang="en-US"/>
          </a:p>
        </p:txBody>
      </p:sp>
      <p:sp>
        <p:nvSpPr>
          <p:cNvPr id="10" name="num3"/>
          <p:cNvSpPr/>
          <p:nvPr/>
        </p:nvSpPr>
        <p:spPr bwMode="auto">
          <a:xfrm>
            <a:off x="4114800" y="561975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smtClean="0">
                <a:solidFill>
                  <a:schemeClr val="accent1"/>
                </a:solidFill>
              </a:rPr>
              <a:t>2</a:t>
            </a:r>
            <a:endParaRPr lang="en-US"/>
          </a:p>
        </p:txBody>
      </p:sp>
      <p:sp>
        <p:nvSpPr>
          <p:cNvPr id="11" name="num1"/>
          <p:cNvSpPr/>
          <p:nvPr/>
        </p:nvSpPr>
        <p:spPr bwMode="auto">
          <a:xfrm>
            <a:off x="4914900" y="506730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smtClean="0">
                <a:solidFill>
                  <a:schemeClr val="accent1"/>
                </a:solidFill>
              </a:rPr>
              <a:t>1</a:t>
            </a:r>
            <a:endParaRPr lang="en-US"/>
          </a:p>
        </p:txBody>
      </p:sp>
      <p:sp>
        <p:nvSpPr>
          <p:cNvPr id="7"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a:t>Step </a:t>
            </a:r>
            <a:r>
              <a:rPr lang="en-US" smtClean="0"/>
              <a:t>4</a:t>
            </a:r>
            <a:endParaRPr lang="en-US"/>
          </a:p>
        </p:txBody>
      </p:sp>
      <p:pic>
        <p:nvPicPr>
          <p:cNvPr id="9" name="Picture 8" descr="PolicyCenter.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98738" y="133350"/>
            <a:ext cx="565862"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61756012"/>
      </p:ext>
    </p:extLst>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2" name="Picture 4" descr="C:\Users\sluersen\AppData\Local\Temp\SNAGHTML8655a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1526" y="1504750"/>
            <a:ext cx="7614287" cy="1871429"/>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7170" name="Picture 2" descr="C:\Users\sluersen\AppData\Local\Temp\SNAGHTML85315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1526" y="4258375"/>
            <a:ext cx="7628572" cy="981026"/>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pPr marL="457200" indent="-457200"/>
            <a:r>
              <a:rPr lang="en-US"/>
              <a:t>Edit configuration xml files</a:t>
            </a:r>
          </a:p>
        </p:txBody>
      </p:sp>
      <p:sp>
        <p:nvSpPr>
          <p:cNvPr id="3" name="Content Placeholder 2"/>
          <p:cNvSpPr>
            <a:spLocks noGrp="1"/>
          </p:cNvSpPr>
          <p:nvPr>
            <p:ph idx="1"/>
          </p:nvPr>
        </p:nvSpPr>
        <p:spPr/>
        <p:txBody>
          <a:bodyPr/>
          <a:lstStyle/>
          <a:p>
            <a:r>
              <a:rPr lang="en-US" smtClean="0"/>
              <a:t>Add the exit point URL for ClaimCenter in config.xml</a:t>
            </a:r>
          </a:p>
        </p:txBody>
      </p:sp>
      <p:sp>
        <p:nvSpPr>
          <p:cNvPr id="15" name="Text Placeholder 14"/>
          <p:cNvSpPr>
            <a:spLocks noGrp="1"/>
          </p:cNvSpPr>
          <p:nvPr>
            <p:ph type="body" sz="quarter" idx="10"/>
          </p:nvPr>
        </p:nvSpPr>
        <p:spPr/>
        <p:txBody>
          <a:bodyPr/>
          <a:lstStyle/>
          <a:p>
            <a:r>
              <a:rPr lang="en-US" smtClean="0"/>
              <a:t>Specify the URL for ClaimCenter in suite-config.xml</a:t>
            </a:r>
          </a:p>
          <a:p>
            <a:endParaRPr lang="en-US" smtClean="0"/>
          </a:p>
          <a:p>
            <a:endParaRPr lang="en-US"/>
          </a:p>
        </p:txBody>
      </p:sp>
      <p:sp>
        <p:nvSpPr>
          <p:cNvPr id="10"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a:t>Step </a:t>
            </a:r>
            <a:r>
              <a:rPr lang="en-US" smtClean="0"/>
              <a:t>5</a:t>
            </a:r>
            <a:endParaRPr lang="en-US"/>
          </a:p>
        </p:txBody>
      </p:sp>
      <p:sp>
        <p:nvSpPr>
          <p:cNvPr id="18" name="Rounded Rectangle 17"/>
          <p:cNvSpPr/>
          <p:nvPr/>
        </p:nvSpPr>
        <p:spPr bwMode="auto">
          <a:xfrm>
            <a:off x="4730036" y="4904198"/>
            <a:ext cx="3616854" cy="277402"/>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0" name="Rounded Rectangle 19"/>
          <p:cNvSpPr/>
          <p:nvPr/>
        </p:nvSpPr>
        <p:spPr bwMode="auto">
          <a:xfrm>
            <a:off x="3441610" y="2086275"/>
            <a:ext cx="3373506" cy="277402"/>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11" name="Picture 10" descr="PolicyCenter.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98738" y="133350"/>
            <a:ext cx="565862"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836816567"/>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C:\Users\sluersen\AppData\Local\Temp\SNAGHTML8888d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196" y="2667000"/>
            <a:ext cx="6001905" cy="3296667"/>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a:t>Refresh web service collection WSDL</a:t>
            </a:r>
          </a:p>
        </p:txBody>
      </p:sp>
      <p:sp>
        <p:nvSpPr>
          <p:cNvPr id="3" name="Content Placeholder 2"/>
          <p:cNvSpPr>
            <a:spLocks noGrp="1"/>
          </p:cNvSpPr>
          <p:nvPr>
            <p:ph idx="1"/>
          </p:nvPr>
        </p:nvSpPr>
        <p:spPr/>
        <p:txBody>
          <a:bodyPr/>
          <a:lstStyle/>
          <a:p>
            <a:r>
              <a:rPr lang="en-US" dirty="0"/>
              <a:t>Open the </a:t>
            </a:r>
            <a:r>
              <a:rPr lang="en-US" dirty="0" smtClean="0"/>
              <a:t>cc800.wsc collection </a:t>
            </a:r>
            <a:r>
              <a:rPr lang="en-US" dirty="0"/>
              <a:t>in Studio</a:t>
            </a:r>
          </a:p>
          <a:p>
            <a:pPr lvl="1"/>
            <a:r>
              <a:rPr lang="en-US" b="1" dirty="0" smtClean="0">
                <a:latin typeface="Courier New" pitchFamily="49" charset="0"/>
                <a:cs typeface="Courier New" pitchFamily="49" charset="0"/>
              </a:rPr>
              <a:t>…\</a:t>
            </a:r>
            <a:r>
              <a:rPr lang="en-US" b="1" dirty="0" err="1" smtClean="0">
                <a:latin typeface="Courier New" pitchFamily="49" charset="0"/>
                <a:cs typeface="Courier New" pitchFamily="49" charset="0"/>
              </a:rPr>
              <a:t>gsrc</a:t>
            </a:r>
            <a:r>
              <a:rPr lang="en-US" b="1" dirty="0" smtClean="0">
                <a:latin typeface="Courier New" pitchFamily="49" charset="0"/>
                <a:cs typeface="Courier New" pitchFamily="49" charset="0"/>
              </a:rPr>
              <a:t>\</a:t>
            </a:r>
            <a:r>
              <a:rPr lang="en-US" b="1" dirty="0" err="1" smtClean="0">
                <a:latin typeface="Courier New" pitchFamily="49" charset="0"/>
                <a:cs typeface="Courier New" pitchFamily="49" charset="0"/>
              </a:rPr>
              <a:t>wsi</a:t>
            </a:r>
            <a:r>
              <a:rPr lang="en-US" b="1" dirty="0" smtClean="0">
                <a:latin typeface="Courier New" pitchFamily="49" charset="0"/>
                <a:cs typeface="Courier New" pitchFamily="49" charset="0"/>
              </a:rPr>
              <a:t>\remote\gw\</a:t>
            </a:r>
            <a:r>
              <a:rPr lang="en-US" b="1" dirty="0" err="1" smtClean="0">
                <a:latin typeface="Courier New" pitchFamily="49" charset="0"/>
                <a:cs typeface="Courier New" pitchFamily="49" charset="0"/>
              </a:rPr>
              <a:t>webservice</a:t>
            </a:r>
            <a:r>
              <a:rPr lang="en-US" b="1" dirty="0" smtClean="0">
                <a:latin typeface="Courier New" pitchFamily="49" charset="0"/>
                <a:cs typeface="Courier New" pitchFamily="49" charset="0"/>
              </a:rPr>
              <a:t>\cc\cc800.wsc</a:t>
            </a:r>
            <a:endParaRPr lang="en-US" b="1" dirty="0">
              <a:latin typeface="Courier New" pitchFamily="49" charset="0"/>
              <a:cs typeface="Courier New" pitchFamily="49" charset="0"/>
            </a:endParaRPr>
          </a:p>
          <a:p>
            <a:r>
              <a:rPr lang="en-US" dirty="0">
                <a:cs typeface="Courier New" pitchFamily="49" charset="0"/>
              </a:rPr>
              <a:t>To refresh the web service collection WSDL, click Fetch Updates</a:t>
            </a:r>
          </a:p>
        </p:txBody>
      </p:sp>
      <p:cxnSp>
        <p:nvCxnSpPr>
          <p:cNvPr id="8" name="Straight Arrow Connector 7"/>
          <p:cNvCxnSpPr/>
          <p:nvPr/>
        </p:nvCxnSpPr>
        <p:spPr bwMode="auto">
          <a:xfrm flipH="1">
            <a:off x="4724400" y="3657600"/>
            <a:ext cx="247325" cy="0"/>
          </a:xfrm>
          <a:prstGeom prst="straightConnector1">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sp>
        <p:nvSpPr>
          <p:cNvPr id="10"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a:t>Step </a:t>
            </a:r>
            <a:r>
              <a:rPr lang="en-US" smtClean="0"/>
              <a:t>6</a:t>
            </a:r>
            <a:endParaRPr lang="en-US"/>
          </a:p>
        </p:txBody>
      </p:sp>
      <p:pic>
        <p:nvPicPr>
          <p:cNvPr id="7" name="Picture 6" descr="PolicyCenter.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98738" y="133350"/>
            <a:ext cx="565862"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646761060"/>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Deploy your changes</a:t>
            </a:r>
            <a:endParaRPr lang="en-US"/>
          </a:p>
        </p:txBody>
      </p:sp>
      <p:sp>
        <p:nvSpPr>
          <p:cNvPr id="21" name="Subtitle 20"/>
          <p:cNvSpPr>
            <a:spLocks noGrp="1"/>
          </p:cNvSpPr>
          <p:nvPr>
            <p:ph type="subTitle" idx="10"/>
          </p:nvPr>
        </p:nvSpPr>
        <p:spPr/>
        <p:txBody>
          <a:bodyPr/>
          <a:lstStyle/>
          <a:p>
            <a:r>
              <a:rPr lang="en-US" smtClean="0"/>
              <a:t>Restart Server</a:t>
            </a:r>
          </a:p>
          <a:p>
            <a:endParaRPr lang="en-US"/>
          </a:p>
        </p:txBody>
      </p:sp>
      <p:sp>
        <p:nvSpPr>
          <p:cNvPr id="19" name="Content Placeholder 18"/>
          <p:cNvSpPr>
            <a:spLocks noGrp="1"/>
          </p:cNvSpPr>
          <p:nvPr>
            <p:ph sz="half" idx="1"/>
          </p:nvPr>
        </p:nvSpPr>
        <p:spPr/>
        <p:txBody>
          <a:bodyPr/>
          <a:lstStyle/>
          <a:p>
            <a:r>
              <a:rPr lang="en-US" dirty="0" smtClean="0"/>
              <a:t>Plugin registry elements</a:t>
            </a:r>
          </a:p>
          <a:p>
            <a:r>
              <a:rPr lang="en-US" dirty="0"/>
              <a:t>Always required for</a:t>
            </a:r>
            <a:br>
              <a:rPr lang="en-US" dirty="0"/>
            </a:br>
            <a:r>
              <a:rPr lang="en-US" dirty="0"/>
              <a:t>cross-point integration</a:t>
            </a:r>
          </a:p>
          <a:p>
            <a:endParaRPr lang="en-US" dirty="0" smtClean="0"/>
          </a:p>
          <a:p>
            <a:endParaRPr lang="en-US" dirty="0"/>
          </a:p>
        </p:txBody>
      </p:sp>
      <p:sp>
        <p:nvSpPr>
          <p:cNvPr id="4"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a:t>Step </a:t>
            </a:r>
            <a:r>
              <a:rPr lang="en-US" smtClean="0"/>
              <a:t>7</a:t>
            </a:r>
            <a:endParaRPr lang="en-US"/>
          </a:p>
        </p:txBody>
      </p:sp>
      <p:sp>
        <p:nvSpPr>
          <p:cNvPr id="30" name="Rounded Rectangle 29"/>
          <p:cNvSpPr/>
          <p:nvPr/>
        </p:nvSpPr>
        <p:spPr bwMode="auto">
          <a:xfrm>
            <a:off x="562028" y="3581400"/>
            <a:ext cx="3628972" cy="2743200"/>
          </a:xfrm>
          <a:prstGeom prst="roundRect">
            <a:avLst>
              <a:gd name="adj" fmla="val 8642"/>
            </a:avLst>
          </a:prstGeom>
          <a:ln w="28575">
            <a:headEnd/>
            <a:tailEnd/>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38" name="Rectangle 37"/>
          <p:cNvSpPr/>
          <p:nvPr/>
        </p:nvSpPr>
        <p:spPr>
          <a:xfrm>
            <a:off x="685800" y="5334000"/>
            <a:ext cx="1400976" cy="584775"/>
          </a:xfrm>
          <a:prstGeom prst="rect">
            <a:avLst/>
          </a:prstGeom>
        </p:spPr>
        <p:txBody>
          <a:bodyPr wrap="square">
            <a:spAutoFit/>
          </a:bodyPr>
          <a:lstStyle/>
          <a:p>
            <a:pPr algn="ctr"/>
            <a:r>
              <a:rPr lang="en-US" sz="1600" b="1" smtClean="0">
                <a:solidFill>
                  <a:schemeClr val="bg1"/>
                </a:solidFill>
              </a:rPr>
              <a:t>Plugin </a:t>
            </a:r>
            <a:br>
              <a:rPr lang="en-US" sz="1600" b="1" smtClean="0">
                <a:solidFill>
                  <a:schemeClr val="bg1"/>
                </a:solidFill>
              </a:rPr>
            </a:br>
            <a:r>
              <a:rPr lang="en-US" sz="1600" b="1" smtClean="0">
                <a:solidFill>
                  <a:schemeClr val="bg1"/>
                </a:solidFill>
              </a:rPr>
              <a:t>Registry</a:t>
            </a:r>
            <a:endParaRPr lang="en-US" sz="1600" b="1">
              <a:solidFill>
                <a:schemeClr val="bg1"/>
              </a:solidFill>
            </a:endParaRPr>
          </a:p>
        </p:txBody>
      </p:sp>
      <p:grpSp>
        <p:nvGrpSpPr>
          <p:cNvPr id="39" name="icon GWP file"/>
          <p:cNvGrpSpPr>
            <a:grpSpLocks noChangeAspect="1"/>
          </p:cNvGrpSpPr>
          <p:nvPr/>
        </p:nvGrpSpPr>
        <p:grpSpPr>
          <a:xfrm>
            <a:off x="914400" y="3809234"/>
            <a:ext cx="1204992" cy="1344023"/>
            <a:chOff x="4558702" y="2146900"/>
            <a:chExt cx="1246792" cy="1390650"/>
          </a:xfrm>
        </p:grpSpPr>
        <p:pic>
          <p:nvPicPr>
            <p:cNvPr id="4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9616" y="2146900"/>
              <a:ext cx="1058863" cy="1390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41" name="icon Plugin"/>
            <p:cNvGrpSpPr>
              <a:grpSpLocks/>
            </p:cNvGrpSpPr>
            <p:nvPr/>
          </p:nvGrpSpPr>
          <p:grpSpPr bwMode="auto">
            <a:xfrm>
              <a:off x="4592771" y="2308825"/>
              <a:ext cx="542255" cy="639158"/>
              <a:chOff x="4500" y="2762"/>
              <a:chExt cx="247" cy="291"/>
            </a:xfrm>
            <a:effectLst>
              <a:outerShdw blurRad="50800" dist="38100" dir="2700000" algn="tl" rotWithShape="0">
                <a:prstClr val="black">
                  <a:alpha val="40000"/>
                </a:prstClr>
              </a:outerShdw>
            </a:effectLst>
          </p:grpSpPr>
          <p:sp>
            <p:nvSpPr>
              <p:cNvPr id="43"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44"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45"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46"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sp>
          <p:nvSpPr>
            <p:cNvPr id="42" name="TextBox 41"/>
            <p:cNvSpPr txBox="1"/>
            <p:nvPr/>
          </p:nvSpPr>
          <p:spPr>
            <a:xfrm>
              <a:off x="4558702" y="2936002"/>
              <a:ext cx="1246792" cy="485656"/>
            </a:xfrm>
            <a:prstGeom prst="rect">
              <a:avLst/>
            </a:prstGeom>
            <a:noFill/>
          </p:spPr>
          <p:txBody>
            <a:bodyPr wrap="square" rtlCol="0">
              <a:noAutofit/>
            </a:bodyPr>
            <a:lstStyle/>
            <a:p>
              <a:pPr algn="ctr"/>
              <a:r>
                <a:rPr lang="en-US" sz="2400" b="1" smtClean="0">
                  <a:solidFill>
                    <a:schemeClr val="bg2"/>
                  </a:solidFill>
                  <a:latin typeface="Arial" pitchFamily="32" charset="0"/>
                  <a:cs typeface="Arial" pitchFamily="32" charset="0"/>
                </a:rPr>
                <a:t>GWP</a:t>
              </a:r>
            </a:p>
          </p:txBody>
        </p:sp>
      </p:grpSp>
      <p:sp>
        <p:nvSpPr>
          <p:cNvPr id="3" name="Text Placeholder 2" hidden="1"/>
          <p:cNvSpPr>
            <a:spLocks noGrp="1"/>
          </p:cNvSpPr>
          <p:nvPr>
            <p:ph type="body" sz="quarter" idx="11"/>
          </p:nvPr>
        </p:nvSpPr>
        <p:spPr/>
        <p:txBody>
          <a:bodyPr/>
          <a:lstStyle/>
          <a:p>
            <a:endParaRPr lang="en-US"/>
          </a:p>
        </p:txBody>
      </p:sp>
      <p:sp>
        <p:nvSpPr>
          <p:cNvPr id="5" name="Content Placeholder 4" hidden="1"/>
          <p:cNvSpPr>
            <a:spLocks noGrp="1"/>
          </p:cNvSpPr>
          <p:nvPr>
            <p:ph sz="half" idx="2"/>
          </p:nvPr>
        </p:nvSpPr>
        <p:spPr/>
        <p:txBody>
          <a:bodyPr/>
          <a:lstStyle/>
          <a:p>
            <a:endParaRPr lang="en-US"/>
          </a:p>
        </p:txBody>
      </p:sp>
      <p:pic>
        <p:nvPicPr>
          <p:cNvPr id="18" name="Picture 17" descr="PolicyCenter.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98738" y="133350"/>
            <a:ext cx="565862"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473212276"/>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pPr lvl="1"/>
            <a:r>
              <a:rPr lang="en-US"/>
              <a:t>Describe the cross-application integration points between PolicyCenter and ClaimCenter</a:t>
            </a:r>
          </a:p>
          <a:p>
            <a:pPr lvl="1"/>
            <a:r>
              <a:rPr lang="en-US"/>
              <a:t>Enable policy search and retrieval</a:t>
            </a:r>
          </a:p>
          <a:p>
            <a:pPr lvl="1"/>
            <a:r>
              <a:rPr lang="en-US"/>
              <a:t>Enable large loss notification</a:t>
            </a:r>
          </a:p>
          <a:p>
            <a:pPr lvl="1"/>
            <a:r>
              <a:rPr lang="en-US"/>
              <a:t>Enable risk analysis</a:t>
            </a:r>
          </a:p>
          <a:p>
            <a:pPr lvl="1"/>
            <a:endParaRPr lang="en-US"/>
          </a:p>
        </p:txBody>
      </p:sp>
    </p:spTree>
    <p:extLst>
      <p:ext uri="{BB962C8B-B14F-4D97-AF65-F5344CB8AC3E}">
        <p14:creationId xmlns:p14="http://schemas.microsoft.com/office/powerpoint/2010/main" val="306334402"/>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3073612"/>
      </p:ext>
    </p:extLst>
  </p:cSld>
  <p:clrMapOvr>
    <a:masterClrMapping/>
  </p:clrMapOvr>
  <p:transition/>
</p:sld>
</file>

<file path=ppt/theme/theme1.xml><?xml version="1.0" encoding="utf-8"?>
<a:theme xmlns:a="http://schemas.openxmlformats.org/drawingml/2006/main" name="Emerald_Template">
  <a:themeElements>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fontScheme name="TA80_CurrDev_Theme_fontScheme">
      <a:majorFont>
        <a:latin typeface="Arial"/>
        <a:ea typeface=""/>
        <a:cs typeface=""/>
      </a:majorFont>
      <a:minorFont>
        <a:latin typeface="Arial"/>
        <a:ea typeface=""/>
        <a:cs typeface=""/>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a:spPr>
      <a:bodyPr/>
      <a:lstStyle/>
    </a:lnDef>
    <a:txDef>
      <a:spPr>
        <a:noFill/>
      </a:spPr>
      <a:bodyPr wrap="none" rtlCol="0">
        <a:noAutofit/>
      </a:bodyPr>
      <a:lstStyle>
        <a:defPPr>
          <a:defRPr dirty="0" smtClean="0">
            <a:solidFill>
              <a:srgbClr val="C00000"/>
            </a:solidFill>
            <a:latin typeface="Arial" pitchFamily="32" charset="0"/>
            <a:cs typeface="Arial" pitchFamily="32"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FE25F46BE72C745BC3597C411E6D698" ma:contentTypeVersion="7" ma:contentTypeDescription="Create a new document." ma:contentTypeScope="" ma:versionID="42cc1264122cb5f1b00ff050e8ed06f3">
  <xsd:schema xmlns:xsd="http://www.w3.org/2001/XMLSchema" xmlns:xs="http://www.w3.org/2001/XMLSchema" xmlns:p="http://schemas.microsoft.com/office/2006/metadata/properties" xmlns:ns2="cc6d5ae3-247c-49fe-9479-82cb21687850" targetNamespace="http://schemas.microsoft.com/office/2006/metadata/properties" ma:root="true" ma:fieldsID="3428103ad3fab95bdcad552e0b740dff" ns2:_="">
    <xsd:import namespace="cc6d5ae3-247c-49fe-9479-82cb2168785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6d5ae3-247c-49fe-9479-82cb216878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1182127-B473-48A7-9D9B-C28B6624586A}"/>
</file>

<file path=customXml/itemProps2.xml><?xml version="1.0" encoding="utf-8"?>
<ds:datastoreItem xmlns:ds="http://schemas.openxmlformats.org/officeDocument/2006/customXml" ds:itemID="{099499CA-8AA3-4B99-86AE-8B293ED4AA4B}"/>
</file>

<file path=customXml/itemProps3.xml><?xml version="1.0" encoding="utf-8"?>
<ds:datastoreItem xmlns:ds="http://schemas.openxmlformats.org/officeDocument/2006/customXml" ds:itemID="{F8087BA1-5EA8-46DC-A21D-6749087A0555}"/>
</file>

<file path=docProps/app.xml><?xml version="1.0" encoding="utf-8"?>
<Properties xmlns="http://schemas.openxmlformats.org/officeDocument/2006/extended-properties" xmlns:vt="http://schemas.openxmlformats.org/officeDocument/2006/docPropsVTypes">
  <Template/>
  <TotalTime>7189</TotalTime>
  <Words>4079</Words>
  <Application>Microsoft Office PowerPoint</Application>
  <PresentationFormat>On-screen Show (4:3)</PresentationFormat>
  <Paragraphs>523</Paragraphs>
  <Slides>54</Slides>
  <Notes>54</Notes>
  <HiddenSlides>0</HiddenSlides>
  <MMClips>0</MMClips>
  <ScaleCrop>false</ScaleCrop>
  <HeadingPairs>
    <vt:vector size="4" baseType="variant">
      <vt:variant>
        <vt:lpstr>Theme</vt:lpstr>
      </vt:variant>
      <vt:variant>
        <vt:i4>1</vt:i4>
      </vt:variant>
      <vt:variant>
        <vt:lpstr>Slide Titles</vt:lpstr>
      </vt:variant>
      <vt:variant>
        <vt:i4>54</vt:i4>
      </vt:variant>
    </vt:vector>
  </HeadingPairs>
  <TitlesOfParts>
    <vt:vector size="55" baseType="lpstr">
      <vt:lpstr>Emerald_Template</vt:lpstr>
      <vt:lpstr>Integrating PolicyCenter with ClaimCenter</vt:lpstr>
      <vt:lpstr>PowerPoint Presentation</vt:lpstr>
      <vt:lpstr>PowerPoint Presentation</vt:lpstr>
      <vt:lpstr>Cross-application integration points</vt:lpstr>
      <vt:lpstr>Cross-application integration points </vt:lpstr>
      <vt:lpstr>suite-config.xml</vt:lpstr>
      <vt:lpstr>Cross-application integration points:</vt:lpstr>
      <vt:lpstr>PowerPoint Presentation</vt:lpstr>
      <vt:lpstr>Policy search and retrieval during intake</vt:lpstr>
      <vt:lpstr>Policy search in PolicyCenter</vt:lpstr>
      <vt:lpstr>Policy details from PolicyCenter</vt:lpstr>
      <vt:lpstr>Viewing the policy in PolicyCenter</vt:lpstr>
      <vt:lpstr>How does policy search and retrieval work?</vt:lpstr>
      <vt:lpstr>Steps to enable policy search and retrieval  </vt:lpstr>
      <vt:lpstr>Start PolicyCenter</vt:lpstr>
      <vt:lpstr>Open IPolicySearchAdapter</vt:lpstr>
      <vt:lpstr>Change the Gosu class</vt:lpstr>
      <vt:lpstr>Edit the plugin configuration</vt:lpstr>
      <vt:lpstr>Edit suite-config.xml</vt:lpstr>
      <vt:lpstr>Refresh web service collection WSDL</vt:lpstr>
      <vt:lpstr>[Optional] Update class and mapping files</vt:lpstr>
      <vt:lpstr>Deploy your changes</vt:lpstr>
      <vt:lpstr>PowerPoint Presentation</vt:lpstr>
      <vt:lpstr>Large loss notification</vt:lpstr>
      <vt:lpstr>Large loss notification actions</vt:lpstr>
      <vt:lpstr>Large loss notification example</vt:lpstr>
      <vt:lpstr>Large loss notification process</vt:lpstr>
      <vt:lpstr>Steps to enable large loss notification</vt:lpstr>
      <vt:lpstr>Start PolicyCenter</vt:lpstr>
      <vt:lpstr>Enable rules</vt:lpstr>
      <vt:lpstr>Enable the messaging destination</vt:lpstr>
      <vt:lpstr>Enable the message transport plugin   </vt:lpstr>
      <vt:lpstr>Edit IPolicySystemNotificationPlugin</vt:lpstr>
      <vt:lpstr>Refresh web service collection WSDL</vt:lpstr>
      <vt:lpstr>Deploy your changes</vt:lpstr>
      <vt:lpstr>PowerPoint Presentation</vt:lpstr>
      <vt:lpstr>Claim information in PolicyCenter</vt:lpstr>
      <vt:lpstr>Claims search and view on a policy </vt:lpstr>
      <vt:lpstr>Viewing claim information for a policy </vt:lpstr>
      <vt:lpstr>Accessing all claims for an account</vt:lpstr>
      <vt:lpstr>Viewing claim information for an account </vt:lpstr>
      <vt:lpstr>Renewal processing</vt:lpstr>
      <vt:lpstr>UW issues of a renewal job</vt:lpstr>
      <vt:lpstr>How does risk analysis work?</vt:lpstr>
      <vt:lpstr>Steps to enable risk anaylsis</vt:lpstr>
      <vt:lpstr>Start ClaimCenter</vt:lpstr>
      <vt:lpstr>Open IClaimSearchPlugin</vt:lpstr>
      <vt:lpstr>Change the Gosu class</vt:lpstr>
      <vt:lpstr>Edit the plugin configuration</vt:lpstr>
      <vt:lpstr>Edit configuration xml files</vt:lpstr>
      <vt:lpstr>Refresh web service collection WSDL</vt:lpstr>
      <vt:lpstr>Deploy your changes</vt:lpstr>
      <vt:lpstr>PowerPoint Presentation</vt:lpstr>
      <vt:lpstr>PowerPoint Presentation</vt:lpstr>
    </vt:vector>
  </TitlesOfParts>
  <Company>GW</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PolicyCenter ClaimCenter Suite Integration</dc:title>
  <dc:subject>Emerald PowerPoint 2010 Template</dc:subject>
  <dc:creator>Guidewire Education;sluersen@guidewire.com</dc:creator>
  <cp:keywords>Emerald;Integration;IntegrationPoint</cp:keywords>
  <cp:lastModifiedBy>Guidewire Education</cp:lastModifiedBy>
  <cp:revision>251</cp:revision>
  <dcterms:created xsi:type="dcterms:W3CDTF">2014-09-08T16:31:40Z</dcterms:created>
  <dcterms:modified xsi:type="dcterms:W3CDTF">2014-10-29T21:13:37Z</dcterms:modified>
  <cp:contentStatus>Final</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arkAsFinal">
    <vt:bool>true</vt:bool>
  </property>
  <property fmtid="{D5CDD505-2E9C-101B-9397-08002B2CF9AE}" pid="3" name="ContentTypeId">
    <vt:lpwstr>0x0101004FE25F46BE72C745BC3597C411E6D698</vt:lpwstr>
  </property>
</Properties>
</file>