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2.xml" ContentType="application/vnd.openxmlformats-officedocument.presentationml.slide+xml"/>
  <Override PartName="/ppt/slides/slide27.xml" ContentType="application/vnd.openxmlformats-officedocument.presentationml.slide+xml"/>
  <Override PartName="/ppt/slides/slide26.xml" ContentType="application/vnd.openxmlformats-officedocument.presentationml.slide+xml"/>
  <Override PartName="/ppt/slides/slide25.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18.xml" ContentType="application/vnd.openxmlformats-officedocument.presentationml.slide+xml"/>
  <Override PartName="/ppt/slides/slide17.xml" ContentType="application/vnd.openxmlformats-officedocument.presentationml.slide+xml"/>
  <Override PartName="/ppt/slides/slide16.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28.xml" ContentType="application/vnd.openxmlformats-officedocument.presentationml.slide+xml"/>
  <Override PartName="/ppt/slides/slide30.xml" ContentType="application/vnd.openxmlformats-officedocument.presentationml.slide+xml"/>
  <Override PartName="/ppt/slides/slide29.xml" ContentType="application/vnd.openxmlformats-officedocument.presentationml.slide+xml"/>
  <Override PartName="/ppt/notesSlides/notesSlide24.xml" ContentType="application/vnd.openxmlformats-officedocument.presentationml.notesSlide+xml"/>
  <Override PartName="/ppt/notesSlides/notesSlide23.xml" ContentType="application/vnd.openxmlformats-officedocument.presentationml.notesSlide+xml"/>
  <Override PartName="/ppt/notesSlides/notesSlide22.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0.xml" ContentType="application/vnd.openxmlformats-officedocument.presentationml.notesSlide+xml"/>
  <Override PartName="/ppt/notesSlides/notesSlide29.xml" ContentType="application/vnd.openxmlformats-officedocument.presentationml.notesSlide+xml"/>
  <Override PartName="/ppt/notesSlides/notesSlide28.xml" ContentType="application/vnd.openxmlformats-officedocument.presentationml.notesSlide+xml"/>
  <Override PartName="/ppt/notesSlides/notesSlide27.xml" ContentType="application/vnd.openxmlformats-officedocument.presentationml.notesSlide+xml"/>
  <Override PartName="/ppt/notesSlides/notesSlide21.xml" ContentType="application/vnd.openxmlformats-officedocument.presentationml.notesSlide+xml"/>
  <Override PartName="/ppt/notesSlides/notesSlide20.xml" ContentType="application/vnd.openxmlformats-officedocument.presentationml.notesSlide+xml"/>
  <Override PartName="/ppt/slideLayouts/slideLayout25.xml" ContentType="application/vnd.openxmlformats-officedocument.presentationml.slideLayout+xml"/>
  <Override PartName="/ppt/slideLayouts/slideLayout24.xml" ContentType="application/vnd.openxmlformats-officedocument.presentationml.slideLayout+xml"/>
  <Override PartName="/ppt/slideLayouts/slideLayout23.xml" ContentType="application/vnd.openxmlformats-officedocument.presentationml.slideLayout+xml"/>
  <Override PartName="/ppt/slideLayouts/slideLayout22.xml" ContentType="application/vnd.openxmlformats-officedocument.presentationml.slideLayout+xml"/>
  <Override PartName="/ppt/slideLayouts/slideLayout21.xml" ContentType="application/vnd.openxmlformats-officedocument.presentationml.slideLayout+xml"/>
  <Override PartName="/ppt/slideLayouts/slideLayout20.xml" ContentType="application/vnd.openxmlformats-officedocument.presentationml.slideLayout+xml"/>
  <Override PartName="/ppt/slideLayouts/slideLayout19.xml" ContentType="application/vnd.openxmlformats-officedocument.presentationml.slideLayout+xml"/>
  <Override PartName="/ppt/slideLayouts/slideLayout18.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6.xml" ContentType="application/vnd.openxmlformats-officedocument.presentationml.slideLayout+xml"/>
  <Override PartName="/ppt/slideLayouts/slideLayout35.xml" ContentType="application/vnd.openxmlformats-officedocument.presentationml.slideLayout+xml"/>
  <Override PartName="/ppt/slideLayouts/slideLayout34.xml" ContentType="application/vnd.openxmlformats-officedocument.presentationml.slideLayout+xml"/>
  <Override PartName="/ppt/slideLayouts/slideLayout33.xml" ContentType="application/vnd.openxmlformats-officedocument.presentationml.slideLayout+xml"/>
  <Override PartName="/ppt/slideLayouts/slideLayout32.xml" ContentType="application/vnd.openxmlformats-officedocument.presentationml.slideLayout+xml"/>
  <Override PartName="/ppt/slideLayouts/slideLayout31.xml" ContentType="application/vnd.openxmlformats-officedocument.presentationml.slideLayout+xml"/>
  <Override PartName="/ppt/slideLayouts/slideLayout30.xml" ContentType="application/vnd.openxmlformats-officedocument.presentationml.slideLayout+xml"/>
  <Override PartName="/ppt/slideLayouts/slideLayout29.xml" ContentType="application/vnd.openxmlformats-officedocument.presentationml.slideLayout+xml"/>
  <Override PartName="/ppt/slideLayouts/slideLayout17.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8.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notesSlides/notesSlide12.xml" ContentType="application/vnd.openxmlformats-officedocument.presentationml.notesSlide+xml"/>
  <Override PartName="/ppt/notesSlides/notesSlide11.xml" ContentType="application/vnd.openxmlformats-officedocument.presentationml.notesSlide+xml"/>
  <Override PartName="/ppt/notesSlides/notesSlide10.xml" ContentType="application/vnd.openxmlformats-officedocument.presentationml.notesSlide+xml"/>
  <Override PartName="/ppt/notesSlides/notesSlide9.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9.xml" ContentType="application/vnd.openxmlformats-officedocument.presentationml.notesSlide+xml"/>
  <Override PartName="/ppt/notesSlides/notesSlide18.xml" ContentType="application/vnd.openxmlformats-officedocument.presentationml.notesSlide+xml"/>
  <Override PartName="/ppt/notesSlides/notesSlide17.xml" ContentType="application/vnd.openxmlformats-officedocument.presentationml.notesSlide+xml"/>
  <Override PartName="/ppt/notesSlides/notesSlide16.xml" ContentType="application/vnd.openxmlformats-officedocument.presentationml.notesSlide+xml"/>
  <Override PartName="/ppt/notesSlides/notesSlide8.xml" ContentType="application/vnd.openxmlformats-officedocument.presentationml.notesSlide+xml"/>
  <Override PartName="/ppt/notesSlides/notesSlide3.xml" ContentType="application/vnd.openxmlformats-officedocument.presentationml.notesSlide+xml"/>
  <Override PartName="/ppt/notesSlides/notesSlide2.xml" ContentType="application/vnd.openxmlformats-officedocument.presentationml.notesSlide+xml"/>
  <Override PartName="/ppt/notesSlides/notesSlide1.xml" ContentType="application/vnd.openxmlformats-officedocument.presentationml.notesSlide+xml"/>
  <Override PartName="/ppt/slideLayouts/slideLayout40.xml" ContentType="application/vnd.openxmlformats-officedocument.presentationml.slideLayout+xml"/>
  <Override PartName="/ppt/notesSlides/notesSlide4.xml" ContentType="application/vnd.openxmlformats-officedocument.presentationml.notesSlide+xml"/>
  <Override PartName="/ppt/notesSlides/notesSlide7.xml" ContentType="application/vnd.openxmlformats-officedocument.presentationml.notesSlide+xml"/>
  <Override PartName="/ppt/notesSlides/notesSlide6.xml" ContentType="application/vnd.openxmlformats-officedocument.presentationml.notesSlide+xml"/>
  <Override PartName="/ppt/notesSlides/notesSlide5.xml" ContentType="application/vnd.openxmlformats-officedocument.presentationml.notesSlide+xml"/>
  <Override PartName="/ppt/commentAuthors.xml" ContentType="application/vnd.openxmlformats-officedocument.presentationml.commentAuthor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viewProps.xml" ContentType="application/vnd.openxmlformats-officedocument.presentationml.viewProps+xml"/>
  <Override PartName="/ppt/tableStyles.xml" ContentType="application/vnd.openxmlformats-officedocument.presentationml.tableStyles+xml"/>
  <Override PartName="/ppt/presProps.xml" ContentType="application/vnd.openxmlformats-officedocument.presentationml.presProps+xml"/>
  <Override PartName="/docProps/app.xml" ContentType="application/vnd.openxmlformats-officedocument.extended-properties+xml"/>
  <Override PartName="/docProps/custom.xml" ContentType="application/vnd.openxmlformats-officedocument.custom-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3" r:id="rId1"/>
  </p:sldMasterIdLst>
  <p:notesMasterIdLst>
    <p:notesMasterId r:id="rId32"/>
  </p:notesMasterIdLst>
  <p:handoutMasterIdLst>
    <p:handoutMasterId r:id="rId33"/>
  </p:handoutMasterIdLst>
  <p:sldIdLst>
    <p:sldId id="256" r:id="rId2"/>
    <p:sldId id="258" r:id="rId3"/>
    <p:sldId id="260" r:id="rId4"/>
    <p:sldId id="262" r:id="rId5"/>
    <p:sldId id="269" r:id="rId6"/>
    <p:sldId id="270" r:id="rId7"/>
    <p:sldId id="283" r:id="rId8"/>
    <p:sldId id="271" r:id="rId9"/>
    <p:sldId id="275" r:id="rId10"/>
    <p:sldId id="276" r:id="rId11"/>
    <p:sldId id="277" r:id="rId12"/>
    <p:sldId id="278" r:id="rId13"/>
    <p:sldId id="263" r:id="rId14"/>
    <p:sldId id="279" r:id="rId15"/>
    <p:sldId id="280" r:id="rId16"/>
    <p:sldId id="265" r:id="rId17"/>
    <p:sldId id="266" r:id="rId18"/>
    <p:sldId id="281" r:id="rId19"/>
    <p:sldId id="282" r:id="rId20"/>
    <p:sldId id="267" r:id="rId21"/>
    <p:sldId id="268" r:id="rId22"/>
    <p:sldId id="284" r:id="rId23"/>
    <p:sldId id="285" r:id="rId24"/>
    <p:sldId id="286" r:id="rId25"/>
    <p:sldId id="287" r:id="rId26"/>
    <p:sldId id="288" r:id="rId27"/>
    <p:sldId id="289" r:id="rId28"/>
    <p:sldId id="259" r:id="rId29"/>
    <p:sldId id="261" r:id="rId30"/>
    <p:sldId id="257"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 id="{92C05595-256C-42BB-A6BE-A274030A8C59}">
          <p14:sldIdLst>
            <p14:sldId id="256"/>
            <p14:sldId id="258"/>
          </p14:sldIdLst>
        </p14:section>
        <p14:section name="Publishing" id="{33CDE81B-983D-4421-8D9E-B13EA7F0E4A6}">
          <p14:sldIdLst>
            <p14:sldId id="260"/>
            <p14:sldId id="262"/>
            <p14:sldId id="269"/>
            <p14:sldId id="270"/>
            <p14:sldId id="283"/>
            <p14:sldId id="271"/>
            <p14:sldId id="275"/>
            <p14:sldId id="276"/>
            <p14:sldId id="277"/>
            <p14:sldId id="278"/>
          </p14:sldIdLst>
        </p14:section>
        <p14:section name="Returning objects" id="{A7770BFA-827E-456A-9EC1-0F9876FB7EBA}">
          <p14:sldIdLst>
            <p14:sldId id="263"/>
            <p14:sldId id="279"/>
            <p14:sldId id="280"/>
          </p14:sldIdLst>
        </p14:section>
        <p14:section name="Testing" id="{52E9F615-AD29-493B-968E-10CEF29E6D22}">
          <p14:sldIdLst>
            <p14:sldId id="265"/>
            <p14:sldId id="266"/>
            <p14:sldId id="281"/>
            <p14:sldId id="282"/>
          </p14:sldIdLst>
        </p14:section>
        <p14:section name="Consuming published" id="{BDBA0625-3084-4B50-92FC-E5C3B2957F9A}">
          <p14:sldIdLst>
            <p14:sldId id="267"/>
            <p14:sldId id="268"/>
            <p14:sldId id="284"/>
            <p14:sldId id="285"/>
            <p14:sldId id="286"/>
            <p14:sldId id="287"/>
            <p14:sldId id="288"/>
            <p14:sldId id="289"/>
          </p14:sldIdLst>
        </p14:section>
        <p14:section name="Review" id="{57E05765-6217-4BAB-9F92-18FB43A606D3}">
          <p14:sldIdLst>
            <p14:sldId id="259"/>
            <p14:sldId id="261"/>
            <p14:sldId id="257"/>
          </p14:sldIdLst>
        </p14:section>
      </p14:section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Seth Luersen" initials="sl" lastIdx="7"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vertBarState="maximized">
    <p:restoredLeft sz="15620"/>
    <p:restoredTop sz="69782" autoAdjust="0"/>
  </p:normalViewPr>
  <p:slideViewPr>
    <p:cSldViewPr showGuides="1">
      <p:cViewPr>
        <p:scale>
          <a:sx n="100" d="100"/>
          <a:sy n="100" d="100"/>
        </p:scale>
        <p:origin x="-900" y="-72"/>
      </p:cViewPr>
      <p:guideLst>
        <p:guide orient="horz"/>
        <p:guide/>
      </p:guideLst>
    </p:cSldViewPr>
  </p:slideViewPr>
  <p:notesTextViewPr>
    <p:cViewPr>
      <p:scale>
        <a:sx n="150" d="100"/>
        <a:sy n="150" d="100"/>
      </p:scale>
      <p:origin x="0" y="0"/>
    </p:cViewPr>
  </p:notesTextViewPr>
  <p:sorterViewPr>
    <p:cViewPr>
      <p:scale>
        <a:sx n="100" d="100"/>
        <a:sy n="100" d="100"/>
      </p:scale>
      <p:origin x="0" y="0"/>
    </p:cViewPr>
  </p:sorterViewPr>
  <p:notesViewPr>
    <p:cSldViewPr showGuides="1">
      <p:cViewPr varScale="1">
        <p:scale>
          <a:sx n="64" d="100"/>
          <a:sy n="64" d="100"/>
        </p:scale>
        <p:origin x="-2418" y="-114"/>
      </p:cViewPr>
      <p:guideLst>
        <p:guide orient="horz"/>
        <p:guide/>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customXml" Target="../customXml/item1.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customXml" Target="../customXml/item3.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40" Type="http://schemas.openxmlformats.org/officeDocument/2006/relationships/customXml" Target="../customXml/item2.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9B0435FB-616F-428E-8B59-652E1B735B94}" type="datetimeFigureOut">
              <a:rPr lang="en-US" smtClean="0"/>
              <a:t>5/16/2014</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529F476C-716D-4D92-B0B8-B6A8CF4642D9}" type="slidenum">
              <a:rPr lang="en-US" smtClean="0"/>
              <a:t>‹#›</a:t>
            </a:fld>
            <a:endParaRPr lang="en-US"/>
          </a:p>
        </p:txBody>
      </p:sp>
    </p:spTree>
    <p:extLst>
      <p:ext uri="{BB962C8B-B14F-4D97-AF65-F5344CB8AC3E}">
        <p14:creationId xmlns:p14="http://schemas.microsoft.com/office/powerpoint/2010/main" val="143120220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4012" y="1"/>
            <a:ext cx="6862011" cy="228599"/>
          </a:xfrm>
          <a:prstGeom prst="rect">
            <a:avLst/>
          </a:prstGeom>
        </p:spPr>
        <p:txBody>
          <a:bodyPr vert="horz" lIns="91440" tIns="45720" rIns="91440" bIns="45720" rtlCol="0"/>
          <a:lstStyle>
            <a:lvl1pPr algn="l">
              <a:defRPr sz="1200">
                <a:latin typeface="Arial" pitchFamily="34" charset="0"/>
                <a:cs typeface="Arial" pitchFamily="34" charset="0"/>
              </a:defRPr>
            </a:lvl1pPr>
          </a:lstStyle>
          <a:p>
            <a:endParaRPr lang="en-US" dirty="0"/>
          </a:p>
        </p:txBody>
      </p:sp>
      <p:sp>
        <p:nvSpPr>
          <p:cNvPr id="4" name="Slide Image Placeholder 3"/>
          <p:cNvSpPr>
            <a:spLocks noGrp="1" noRot="1" noChangeAspect="1"/>
          </p:cNvSpPr>
          <p:nvPr>
            <p:ph type="sldImg" idx="2"/>
          </p:nvPr>
        </p:nvSpPr>
        <p:spPr>
          <a:xfrm>
            <a:off x="800100" y="304800"/>
            <a:ext cx="5257800" cy="394335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52400" y="4343400"/>
            <a:ext cx="6553200" cy="4343400"/>
          </a:xfrm>
          <a:prstGeom prst="rect">
            <a:avLst/>
          </a:prstGeom>
        </p:spPr>
        <p:txBody>
          <a:bodyPr vert="horz" lIns="91440" tIns="45720" rIns="91440" bIns="45720" rtlCol="0"/>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6" name="Footer Placeholder 5" hidden="1"/>
          <p:cNvSpPr>
            <a:spLocks noGrp="1"/>
          </p:cNvSpPr>
          <p:nvPr>
            <p:ph type="ftr" sz="quarter" idx="4"/>
          </p:nvPr>
        </p:nvSpPr>
        <p:spPr>
          <a:xfrm>
            <a:off x="76200" y="8799443"/>
            <a:ext cx="3581400" cy="303213"/>
          </a:xfrm>
          <a:prstGeom prst="rect">
            <a:avLst/>
          </a:prstGeom>
        </p:spPr>
        <p:txBody>
          <a:bodyPr vert="horz" lIns="91440" tIns="45720" rIns="91440" bIns="45720" rtlCol="0" anchor="b"/>
          <a:lstStyle>
            <a:lvl1pPr algn="l">
              <a:defRPr sz="800">
                <a:latin typeface="Arial" pitchFamily="34" charset="0"/>
                <a:cs typeface="Arial" pitchFamily="34" charset="0"/>
              </a:defRPr>
            </a:lvl1pPr>
          </a:lstStyle>
          <a:p>
            <a:endParaRPr lang="en-US" dirty="0"/>
          </a:p>
        </p:txBody>
      </p:sp>
      <p:sp>
        <p:nvSpPr>
          <p:cNvPr id="7" name="Slide Number Placeholder 6"/>
          <p:cNvSpPr>
            <a:spLocks noGrp="1"/>
          </p:cNvSpPr>
          <p:nvPr>
            <p:ph type="sldNum" sz="quarter" idx="5"/>
          </p:nvPr>
        </p:nvSpPr>
        <p:spPr>
          <a:xfrm>
            <a:off x="3884613" y="8775380"/>
            <a:ext cx="2971800" cy="303212"/>
          </a:xfrm>
          <a:prstGeom prst="rect">
            <a:avLst/>
          </a:prstGeom>
        </p:spPr>
        <p:txBody>
          <a:bodyPr vert="horz" lIns="91440" tIns="45720" rIns="91440" bIns="45720" rtlCol="0" anchor="b"/>
          <a:lstStyle>
            <a:lvl1pPr algn="r">
              <a:defRPr sz="800">
                <a:latin typeface="Arial" pitchFamily="34" charset="0"/>
                <a:cs typeface="Arial" pitchFamily="34" charset="0"/>
              </a:defRPr>
            </a:lvl1pPr>
          </a:lstStyle>
          <a:p>
            <a:fld id="{BC59C1E8-2E88-4BF4-A80C-B8AE78323CDF}" type="slidenum">
              <a:rPr lang="en-US" smtClean="0"/>
              <a:pPr/>
              <a:t>‹#›</a:t>
            </a:fld>
            <a:endParaRPr lang="en-US"/>
          </a:p>
        </p:txBody>
      </p:sp>
      <p:sp>
        <p:nvSpPr>
          <p:cNvPr id="8" name="txt_CopyrightFooter"/>
          <p:cNvSpPr/>
          <p:nvPr/>
        </p:nvSpPr>
        <p:spPr>
          <a:xfrm>
            <a:off x="76200" y="8763000"/>
            <a:ext cx="3581400" cy="338554"/>
          </a:xfrm>
          <a:prstGeom prst="rect">
            <a:avLst/>
          </a:prstGeom>
        </p:spPr>
        <p:txBody>
          <a:bodyPr vert="horz" lIns="91440" tIns="45720" rIns="91440" bIns="45720" rtlCol="0" anchor="b"/>
          <a:lstStyle/>
          <a:p>
            <a:pPr lvl="0"/>
            <a:r>
              <a:rPr lang="en-US" sz="800" dirty="0" smtClean="0">
                <a:latin typeface="Arial" pitchFamily="34" charset="0"/>
                <a:cs typeface="Arial" pitchFamily="34" charset="0"/>
              </a:rPr>
              <a:t>© Guidewire Software, Inc. 2001-2014. All rights reserved.</a:t>
            </a:r>
            <a:br>
              <a:rPr lang="en-US" sz="800" dirty="0" smtClean="0">
                <a:latin typeface="Arial" pitchFamily="34" charset="0"/>
                <a:cs typeface="Arial" pitchFamily="34" charset="0"/>
              </a:rPr>
            </a:br>
            <a:r>
              <a:rPr lang="en-US" sz="800" dirty="0" smtClean="0">
                <a:latin typeface="Arial" pitchFamily="34" charset="0"/>
                <a:cs typeface="Arial" pitchFamily="34" charset="0"/>
              </a:rPr>
              <a:t>Do not distribute without permission.</a:t>
            </a:r>
            <a:endParaRPr lang="en-US" sz="800" dirty="0">
              <a:latin typeface="Arial" pitchFamily="34" charset="0"/>
              <a:cs typeface="Arial" pitchFamily="34" charset="0"/>
            </a:endParaRPr>
          </a:p>
        </p:txBody>
      </p:sp>
    </p:spTree>
    <p:extLst>
      <p:ext uri="{BB962C8B-B14F-4D97-AF65-F5344CB8AC3E}">
        <p14:creationId xmlns:p14="http://schemas.microsoft.com/office/powerpoint/2010/main" val="21502241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itchFamily="34" charset="0"/>
        <a:ea typeface="+mn-ea"/>
        <a:cs typeface="Arial" pitchFamily="34" charset="0"/>
      </a:defRPr>
    </a:lvl1pPr>
    <a:lvl2pPr marL="228600" indent="0" algn="l" defTabSz="914400" rtl="0" eaLnBrk="1" latinLnBrk="0" hangingPunct="1">
      <a:defRPr sz="1000" kern="1200">
        <a:solidFill>
          <a:schemeClr val="tx1"/>
        </a:solidFill>
        <a:latin typeface="Arial" pitchFamily="34" charset="0"/>
        <a:ea typeface="+mn-ea"/>
        <a:cs typeface="Arial" pitchFamily="34" charset="0"/>
      </a:defRPr>
    </a:lvl2pPr>
    <a:lvl3pPr marL="457200" indent="0" algn="l" defTabSz="914400" rtl="0" eaLnBrk="1" latinLnBrk="0" hangingPunct="1">
      <a:defRPr sz="1000" kern="1200">
        <a:solidFill>
          <a:schemeClr val="tx1"/>
        </a:solidFill>
        <a:latin typeface="Arial" pitchFamily="34" charset="0"/>
        <a:ea typeface="+mn-ea"/>
        <a:cs typeface="Arial" pitchFamily="34" charset="0"/>
      </a:defRPr>
    </a:lvl3pPr>
    <a:lvl4pPr marL="685800" indent="0" algn="l" defTabSz="914400" rtl="0" eaLnBrk="1" latinLnBrk="0" hangingPunct="1">
      <a:defRPr sz="1000" kern="1200">
        <a:solidFill>
          <a:schemeClr val="tx1"/>
        </a:solidFill>
        <a:latin typeface="Arial" pitchFamily="34" charset="0"/>
        <a:ea typeface="+mn-ea"/>
        <a:cs typeface="Arial" pitchFamily="34" charset="0"/>
      </a:defRPr>
    </a:lvl4pPr>
    <a:lvl5pPr marL="914400" indent="0" algn="l" defTabSz="914400" rtl="0" eaLnBrk="1" latinLnBrk="0" hangingPunct="1">
      <a:defRPr sz="1000" kern="1200">
        <a:solidFill>
          <a:schemeClr val="tx1"/>
        </a:solidFill>
        <a:latin typeface="Arial" pitchFamily="34" charset="0"/>
        <a:ea typeface="+mn-ea"/>
        <a:cs typeface="Arial" pitchFamily="34"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Guidewire training materials contain Guidewire proprietary information that is subject to confidentiality and non-disclosure agreements. You agree to use the information in this manual solely for the purpose of training to implement Guidewire software solutions. You also agree not to disclose the information in this manual to third parties or copy this manual without prior written consent from Guidewire. Guidewire training may be given only by Guidewire employees or certified Guidewire partners under the appropriate agreement with Guidewire.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a:t>
            </a:fld>
            <a:endParaRPr lang="en-US" dirty="0"/>
          </a:p>
        </p:txBody>
      </p:sp>
    </p:spTree>
    <p:extLst>
      <p:ext uri="{BB962C8B-B14F-4D97-AF65-F5344CB8AC3E}">
        <p14:creationId xmlns:p14="http://schemas.microsoft.com/office/powerpoint/2010/main" val="306390662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a:t>
            </a:fld>
            <a:endParaRPr lang="en-US" dirty="0"/>
          </a:p>
        </p:txBody>
      </p:sp>
    </p:spTree>
    <p:extLst>
      <p:ext uri="{BB962C8B-B14F-4D97-AF65-F5344CB8AC3E}">
        <p14:creationId xmlns:p14="http://schemas.microsoft.com/office/powerpoint/2010/main" val="10116805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3</a:t>
            </a:fld>
            <a:endParaRPr lang="en-US" dirty="0"/>
          </a:p>
        </p:txBody>
      </p:sp>
    </p:spTree>
    <p:extLst>
      <p:ext uri="{BB962C8B-B14F-4D97-AF65-F5344CB8AC3E}">
        <p14:creationId xmlns:p14="http://schemas.microsoft.com/office/powerpoint/2010/main" val="330160920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Every Guidewire application comes with a set of base application web services. By convention, web services have names that end in "API“. In some situations, the web service needed by an integration point may already exist.</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r>
              <a:rPr lang="en-US" dirty="0" smtClean="0"/>
              <a:t>For web services that manipulate system data,</a:t>
            </a:r>
            <a:r>
              <a:rPr lang="en-US" baseline="0" dirty="0" smtClean="0"/>
              <a:t> </a:t>
            </a:r>
            <a:r>
              <a:rPr lang="en-US" dirty="0" smtClean="0"/>
              <a:t>Guidewire recommends you use the web services provided in the base application. An</a:t>
            </a:r>
            <a:r>
              <a:rPr lang="en-US" baseline="0" dirty="0" smtClean="0"/>
              <a:t> example is </a:t>
            </a:r>
            <a:r>
              <a:rPr lang="en-US" dirty="0" smtClean="0"/>
              <a:t>MaintenanceToolsAPI.</a:t>
            </a:r>
            <a:r>
              <a:rPr lang="en-US" baseline="0" dirty="0" smtClean="0"/>
              <a:t> The MaintenanceToolsAPI WsiWebService c</a:t>
            </a:r>
            <a:r>
              <a:rPr lang="en-US" dirty="0" smtClean="0"/>
              <a:t>an start a batch process remotely.</a:t>
            </a:r>
          </a:p>
          <a:p>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For web services that manipulate business data, Guidewire recommends that you create a custom web service, even if there is already a similar web service in the base application. Custom web services ensure that exactly the correct data is being exchanged. One of the greatest benefits of custom web services is the ability to control the amount of data transferred, which can yield significant performance improvements. For example, a getABContact() API might it return a large ABContact instance with multiple fields and complex data, but the given integration point needs only the public ID, the name, and the primary address. </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4</a:t>
            </a:fld>
            <a:endParaRPr lang="en-US" dirty="0"/>
          </a:p>
        </p:txBody>
      </p:sp>
    </p:spTree>
    <p:extLst>
      <p:ext uri="{BB962C8B-B14F-4D97-AF65-F5344CB8AC3E}">
        <p14:creationId xmlns:p14="http://schemas.microsoft.com/office/powerpoint/2010/main" val="3447929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For information on how to write a Guidewire web service using RPCE, refer to the Integration Guide.  Guidewire 8 deprecates the publishing of RPCE web services.</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5</a:t>
            </a:fld>
            <a:endParaRPr lang="en-US" dirty="0"/>
          </a:p>
        </p:txBody>
      </p:sp>
    </p:spTree>
    <p:extLst>
      <p:ext uri="{BB962C8B-B14F-4D97-AF65-F5344CB8AC3E}">
        <p14:creationId xmlns:p14="http://schemas.microsoft.com/office/powerpoint/2010/main" val="333986012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Any method that modifies Guidewire data must create and commit a bundle.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6</a:t>
            </a:fld>
            <a:endParaRPr lang="en-US" dirty="0"/>
          </a:p>
        </p:txBody>
      </p:sp>
    </p:spTree>
    <p:extLst>
      <p:ext uri="{BB962C8B-B14F-4D97-AF65-F5344CB8AC3E}">
        <p14:creationId xmlns:p14="http://schemas.microsoft.com/office/powerpoint/2010/main" val="219303569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To create a package:</a:t>
            </a:r>
          </a:p>
          <a:p>
            <a:r>
              <a:rPr lang="en-US" dirty="0" smtClean="0"/>
              <a:t>1. Right-click the package that is to be parent of new package.</a:t>
            </a:r>
          </a:p>
          <a:p>
            <a:r>
              <a:rPr lang="en-US" dirty="0" smtClean="0"/>
              <a:t>2. Name the package. The name must be unique for the given parent.</a:t>
            </a:r>
          </a:p>
          <a:p>
            <a:r>
              <a:rPr lang="en-US" dirty="0" smtClean="0"/>
              <a:t>The package roots "com.guidewire" and "gw" are reserved. You should not create any child packages in either of these packages.</a:t>
            </a:r>
          </a:p>
          <a:p>
            <a:r>
              <a:rPr lang="en-US" dirty="0" smtClean="0"/>
              <a:t>For more information on recommended naming conventions for packages, refer to the "Gosu for Integration"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7</a:t>
            </a:fld>
            <a:endParaRPr lang="en-US" dirty="0"/>
          </a:p>
        </p:txBody>
      </p:sp>
    </p:spTree>
    <p:extLst>
      <p:ext uri="{BB962C8B-B14F-4D97-AF65-F5344CB8AC3E}">
        <p14:creationId xmlns:p14="http://schemas.microsoft.com/office/powerpoint/2010/main" val="39400861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8</a:t>
            </a:fld>
            <a:endParaRPr lang="en-US" dirty="0"/>
          </a:p>
        </p:txBody>
      </p:sp>
    </p:spTree>
    <p:extLst>
      <p:ext uri="{BB962C8B-B14F-4D97-AF65-F5344CB8AC3E}">
        <p14:creationId xmlns:p14="http://schemas.microsoft.com/office/powerpoint/2010/main" val="3230511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a:t>
            </a:r>
            <a:r>
              <a:rPr lang="en-US" dirty="0" err="1" smtClean="0"/>
              <a:t>WsiPermissions</a:t>
            </a:r>
            <a:r>
              <a:rPr lang="en-US" dirty="0" smtClean="0"/>
              <a:t> annotation specifies the permissions a user needs to invoke a web service. Permissions are specified as an array of </a:t>
            </a:r>
            <a:r>
              <a:rPr lang="en-US" dirty="0" err="1" smtClean="0"/>
              <a:t>SystemPermissionType</a:t>
            </a:r>
            <a:r>
              <a:rPr lang="en-US" dirty="0" smtClean="0"/>
              <a:t> typekey values.</a:t>
            </a:r>
          </a:p>
          <a:p>
            <a:r>
              <a:rPr lang="en-US" dirty="0" smtClean="0"/>
              <a:t>If the annotation is omitted, the permissions default to "</a:t>
            </a:r>
            <a:r>
              <a:rPr lang="en-US" dirty="0" err="1" smtClean="0"/>
              <a:t>soapadmin</a:t>
            </a:r>
            <a:r>
              <a:rPr lang="en-US" dirty="0" smtClean="0"/>
              <a:t>". </a:t>
            </a:r>
          </a:p>
          <a:p>
            <a:r>
              <a:rPr lang="en-US" dirty="0" smtClean="0"/>
              <a:t>If no permissions are required, then the annotation should be specified but have an empty array: </a:t>
            </a:r>
            <a:r>
              <a:rPr lang="en-US" dirty="0" err="1" smtClean="0"/>
              <a:t>WsiPermissions</a:t>
            </a:r>
            <a:r>
              <a:rPr lang="en-US" dirty="0" smtClean="0"/>
              <a:t>({}). Multiple permissions can be specified within the array as in: @</a:t>
            </a:r>
            <a:r>
              <a:rPr lang="en-US" dirty="0" err="1" smtClean="0"/>
              <a:t>WsiPermissions</a:t>
            </a:r>
            <a:r>
              <a:rPr lang="en-US" dirty="0" smtClean="0"/>
              <a:t>({"</a:t>
            </a:r>
            <a:r>
              <a:rPr lang="en-US" dirty="0" err="1" smtClean="0"/>
              <a:t>abcreate</a:t>
            </a:r>
            <a:r>
              <a:rPr lang="en-US" dirty="0" smtClean="0"/>
              <a:t>", "</a:t>
            </a:r>
            <a:r>
              <a:rPr lang="en-US" dirty="0" err="1" smtClean="0"/>
              <a:t>abedit</a:t>
            </a:r>
            <a:r>
              <a:rPr lang="en-US" dirty="0" smtClean="0"/>
              <a:t>"}).  The @</a:t>
            </a:r>
            <a:r>
              <a:rPr lang="en-US" dirty="0" err="1" smtClean="0"/>
              <a:t>WsiPermissions</a:t>
            </a:r>
            <a:r>
              <a:rPr lang="en-US" dirty="0" smtClean="0"/>
              <a:t> annotation can also be used for methods in the class. A method-level annotation always takes precedence over a class-level annotation.</a:t>
            </a:r>
          </a:p>
          <a:p>
            <a:endParaRPr lang="en-US" dirty="0" smtClean="0"/>
          </a:p>
          <a:p>
            <a:r>
              <a:rPr lang="en-US" dirty="0"/>
              <a:t>The @</a:t>
            </a:r>
            <a:r>
              <a:rPr lang="en-US" dirty="0" err="1" smtClean="0"/>
              <a:t>WsiAvailability</a:t>
            </a:r>
            <a:r>
              <a:rPr lang="en-US" dirty="0" smtClean="0"/>
              <a:t> annotation specifies the minimum system run level when a web service becomes available. Valid values include:</a:t>
            </a:r>
          </a:p>
          <a:p>
            <a:r>
              <a:rPr lang="en-US" dirty="0" smtClean="0"/>
              <a:t>MULTIUSER </a:t>
            </a:r>
            <a:r>
              <a:rPr lang="en-US" dirty="0"/>
              <a:t>– Normal state just after start up. Product is live and users can login to UI.</a:t>
            </a:r>
          </a:p>
          <a:p>
            <a:r>
              <a:rPr lang="en-US" dirty="0"/>
              <a:t>SHUTDOWN – The app server is up, but the product is not available</a:t>
            </a:r>
          </a:p>
          <a:p>
            <a:r>
              <a:rPr lang="en-US" dirty="0" smtClean="0"/>
              <a:t>DAEMONS – The product is running and background processes can run, but users cannot log in to the UI.</a:t>
            </a:r>
          </a:p>
          <a:p>
            <a:r>
              <a:rPr lang="en-US" dirty="0"/>
              <a:t>MAINTENANCE </a:t>
            </a:r>
            <a:r>
              <a:rPr lang="en-US" dirty="0" smtClean="0"/>
              <a:t>– </a:t>
            </a:r>
            <a:r>
              <a:rPr lang="en-US" dirty="0"/>
              <a:t>This is the default value</a:t>
            </a:r>
            <a:r>
              <a:rPr lang="en-US" dirty="0" smtClean="0"/>
              <a:t>. </a:t>
            </a:r>
            <a:r>
              <a:rPr lang="en-US" dirty="0"/>
              <a:t>(Also known as "</a:t>
            </a:r>
            <a:r>
              <a:rPr lang="en-US" dirty="0" err="1"/>
              <a:t>NODAEMONS</a:t>
            </a:r>
            <a:r>
              <a:rPr lang="en-US" dirty="0"/>
              <a:t>") The app server and product are running, but no </a:t>
            </a:r>
            <a:r>
              <a:rPr lang="en-US" dirty="0" smtClean="0"/>
              <a:t>background processes</a:t>
            </a:r>
            <a:r>
              <a:rPr lang="en-US" dirty="0"/>
              <a:t>.</a:t>
            </a:r>
            <a:endParaRPr lang="en-US" dirty="0" smtClean="0"/>
          </a:p>
          <a:p>
            <a:r>
              <a:rPr lang="en-US" dirty="0" smtClean="0"/>
              <a:t/>
            </a:r>
            <a:br>
              <a:rPr lang="en-US" dirty="0" smtClean="0"/>
            </a:br>
            <a:r>
              <a:rPr lang="en-US" dirty="0" smtClean="0"/>
              <a:t>The term "background processes" can be misleading, because there should be only one </a:t>
            </a:r>
            <a:r>
              <a:rPr lang="en-US" dirty="0" err="1" smtClean="0"/>
              <a:t>JVM</a:t>
            </a:r>
            <a:r>
              <a:rPr lang="en-US" dirty="0" smtClean="0"/>
              <a:t> process involved in running a Guidewire server instance. These background processes are actually run by additional threads within the </a:t>
            </a:r>
            <a:r>
              <a:rPr lang="en-US" dirty="0" err="1" smtClean="0"/>
              <a:t>JVM</a:t>
            </a:r>
            <a:r>
              <a:rPr lang="en-US" dirty="0" smtClean="0"/>
              <a:t> process.</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9</a:t>
            </a:fld>
            <a:endParaRPr lang="en-US"/>
          </a:p>
        </p:txBody>
      </p:sp>
    </p:spTree>
    <p:extLst>
      <p:ext uri="{BB962C8B-B14F-4D97-AF65-F5344CB8AC3E}">
        <p14:creationId xmlns:p14="http://schemas.microsoft.com/office/powerpoint/2010/main" val="172779679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For methods that calculate and return simple values, there is no difference between the syntax for a non-web service Gosu class and a web service Gosu class.</a:t>
            </a:r>
          </a:p>
          <a:p>
            <a:pPr marL="0" marR="0" indent="0" algn="l" defTabSz="914400" rtl="0" eaLnBrk="1" fontAlgn="auto" latinLnBrk="0" hangingPunct="1">
              <a:lnSpc>
                <a:spcPct val="100000"/>
              </a:lnSpc>
              <a:spcBef>
                <a:spcPts val="0"/>
              </a:spcBef>
              <a:spcAft>
                <a:spcPts val="0"/>
              </a:spcAft>
              <a:buClrTx/>
              <a:buSzTx/>
              <a:buFontTx/>
              <a:buNone/>
              <a:tabLst/>
              <a:defRPr/>
            </a:pPr>
            <a:endParaRPr lang="en-US"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a:t>
            </a:r>
            <a:r>
              <a:rPr lang="en-US" dirty="0" err="1" smtClean="0"/>
              <a:t>doesAccountExist</a:t>
            </a:r>
            <a:r>
              <a:rPr lang="en-US" dirty="0" smtClean="0"/>
              <a:t>() method example</a:t>
            </a:r>
            <a:r>
              <a:rPr lang="en-US" baseline="0" dirty="0" smtClean="0"/>
              <a:t> specifies an argument for a </a:t>
            </a:r>
            <a:r>
              <a:rPr lang="en-US" baseline="0" dirty="0" err="1" smtClean="0"/>
              <a:t>publicId</a:t>
            </a:r>
            <a:r>
              <a:rPr lang="en-US" baseline="0" dirty="0" smtClean="0"/>
              <a:t>.  The </a:t>
            </a:r>
            <a:r>
              <a:rPr lang="en-US" baseline="0" dirty="0" err="1" smtClean="0"/>
              <a:t>publicId</a:t>
            </a:r>
            <a:r>
              <a:rPr lang="en-US" baseline="0" dirty="0" smtClean="0"/>
              <a:t> argument represents </a:t>
            </a:r>
            <a:r>
              <a:rPr lang="en-US" dirty="0" smtClean="0"/>
              <a:t>a unique value that identifies a specific entity in the Guidewire database. From carrier to carrier,  the value will most likely vary, but it is not unusual for it to be a tax ID, FEIN (Federal Employer Identification Number), or some similar type of value.</a:t>
            </a:r>
          </a:p>
          <a:p>
            <a:endParaRPr lang="en-US" dirty="0"/>
          </a:p>
          <a:p>
            <a:pPr marL="0" marR="0" lvl="1" indent="0" algn="l" defTabSz="914400" rtl="0" eaLnBrk="1" fontAlgn="auto" latinLnBrk="0" hangingPunct="1">
              <a:lnSpc>
                <a:spcPct val="100000"/>
              </a:lnSpc>
              <a:spcBef>
                <a:spcPts val="0"/>
              </a:spcBef>
              <a:spcAft>
                <a:spcPts val="0"/>
              </a:spcAft>
              <a:buClrTx/>
              <a:buSzTx/>
              <a:buFontTx/>
              <a:buNone/>
              <a:tabLst/>
              <a:defRPr/>
            </a:pPr>
            <a:r>
              <a:rPr lang="en-US" sz="1200" dirty="0"/>
              <a:t>When writing a "does...Exist()" method, Guidewire recommends writing a Gosu query that queries for the object using a unique identifier and then reads the result object's Empty property. The Empty property returns true only if the query found no matching rows. This is the least resource-intensive approach to determine whether or not the number of results is 0.</a:t>
            </a:r>
            <a:r>
              <a:rPr lang="en-US" dirty="0" smtClean="0"/>
              <a:t/>
            </a:r>
            <a:br>
              <a:rPr lang="en-US" dirty="0" smtClean="0"/>
            </a:br>
            <a:r>
              <a:rPr lang="en-US" dirty="0" smtClean="0"/>
              <a:t/>
            </a:r>
            <a:br>
              <a:rPr lang="en-US" dirty="0" smtClean="0"/>
            </a:br>
            <a:r>
              <a:rPr lang="en-US" sz="1200" dirty="0"/>
              <a:t>A </a:t>
            </a:r>
            <a:r>
              <a:rPr lang="en-US" sz="1200" dirty="0" err="1"/>
              <a:t>WS</a:t>
            </a:r>
            <a:r>
              <a:rPr lang="en-US" sz="1200" dirty="0"/>
              <a:t>-I web service cannot return an instance of a Guidewire data model entity.</a:t>
            </a:r>
          </a:p>
          <a:p>
            <a:endParaRPr lang="en-US" dirty="0" smtClean="0"/>
          </a:p>
          <a:p>
            <a:endParaRPr lang="en-US" dirty="0" smtClean="0"/>
          </a:p>
          <a:p>
            <a:endParaRPr lang="en-US" dirty="0" smtClean="0"/>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10</a:t>
            </a:fld>
            <a:endParaRPr lang="en-US"/>
          </a:p>
        </p:txBody>
      </p:sp>
      <p:sp>
        <p:nvSpPr>
          <p:cNvPr id="7" name="Slide Image Placeholder 6"/>
          <p:cNvSpPr>
            <a:spLocks noGrp="1" noRot="1" noChangeAspect="1"/>
          </p:cNvSpPr>
          <p:nvPr>
            <p:ph type="sldImg"/>
          </p:nvPr>
        </p:nvSpPr>
        <p:spPr/>
      </p:sp>
    </p:spTree>
    <p:extLst>
      <p:ext uri="{BB962C8B-B14F-4D97-AF65-F5344CB8AC3E}">
        <p14:creationId xmlns:p14="http://schemas.microsoft.com/office/powerpoint/2010/main" val="172779679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 data must be committed to the database,</a:t>
            </a:r>
            <a:r>
              <a:rPr lang="en-US" baseline="0" dirty="0" smtClean="0"/>
              <a:t> </a:t>
            </a:r>
            <a:r>
              <a:rPr lang="en-US" dirty="0" smtClean="0"/>
              <a:t>create a new bundle using the </a:t>
            </a:r>
            <a:r>
              <a:rPr lang="en-US" dirty="0" err="1" smtClean="0"/>
              <a:t>runWithNewBundle</a:t>
            </a:r>
            <a:r>
              <a:rPr lang="en-US" dirty="0" smtClean="0"/>
              <a:t>() method. Bundles created with </a:t>
            </a:r>
            <a:r>
              <a:rPr lang="en-US" dirty="0" err="1" smtClean="0"/>
              <a:t>runWithNewBundle</a:t>
            </a:r>
            <a:r>
              <a:rPr lang="en-US" dirty="0" smtClean="0"/>
              <a:t>() are writeable.</a:t>
            </a:r>
            <a:r>
              <a:rPr lang="en-US" baseline="0" dirty="0" smtClean="0"/>
              <a:t> </a:t>
            </a:r>
            <a:r>
              <a:rPr lang="en-US" dirty="0" smtClean="0"/>
              <a:t>The method takes a block argument.  </a:t>
            </a:r>
          </a:p>
          <a:p>
            <a:endParaRPr lang="en-US" dirty="0" smtClean="0"/>
          </a:p>
          <a:p>
            <a:r>
              <a:rPr lang="en-US" dirty="0" smtClean="0"/>
              <a:t>In the example above,</a:t>
            </a:r>
            <a:r>
              <a:rPr lang="en-US" baseline="0" dirty="0" smtClean="0"/>
              <a:t> t</a:t>
            </a:r>
            <a:r>
              <a:rPr lang="en-US" dirty="0" smtClean="0"/>
              <a:t>he first portion of the block simply names the new bundle object as </a:t>
            </a:r>
            <a:r>
              <a:rPr lang="en-US" dirty="0" err="1" smtClean="0"/>
              <a:t>newBundle</a:t>
            </a:r>
            <a:r>
              <a:rPr lang="en-US" dirty="0" smtClean="0"/>
              <a:t>. The second part of the block specifies the code execute,</a:t>
            </a:r>
            <a:r>
              <a:rPr lang="en-US" baseline="0" dirty="0" smtClean="0"/>
              <a:t> i.e., creating and editing data, within closure of the bun</a:t>
            </a:r>
            <a:r>
              <a:rPr lang="en-US" dirty="0" smtClean="0"/>
              <a:t>dle. At the closure</a:t>
            </a:r>
            <a:r>
              <a:rPr lang="en-US" baseline="0" dirty="0" smtClean="0"/>
              <a:t> of the block, </a:t>
            </a:r>
            <a:r>
              <a:rPr lang="en-US" dirty="0" smtClean="0"/>
              <a:t>the application executes an implicit commit</a:t>
            </a:r>
            <a:r>
              <a:rPr lang="en-US" baseline="0" dirty="0" smtClean="0"/>
              <a:t> of the bundle data.  </a:t>
            </a:r>
            <a:r>
              <a:rPr lang="en-US" dirty="0" smtClean="0"/>
              <a:t>Do not explicitly commit a bundle – e.g., </a:t>
            </a:r>
            <a:r>
              <a:rPr lang="en-US" dirty="0" err="1" smtClean="0"/>
              <a:t>bundle.commit</a:t>
            </a:r>
            <a:r>
              <a:rPr lang="en-US" dirty="0" smtClean="0"/>
              <a:t>()</a:t>
            </a:r>
            <a:r>
              <a:rPr lang="en-US" baseline="0" dirty="0" smtClean="0"/>
              <a:t> </a:t>
            </a:r>
            <a:r>
              <a:rPr lang="en-US" dirty="0" smtClean="0"/>
              <a:t>– </a:t>
            </a:r>
            <a:r>
              <a:rPr lang="en-US" baseline="0" dirty="0" smtClean="0"/>
              <a:t> in a </a:t>
            </a:r>
            <a:r>
              <a:rPr lang="en-US" dirty="0" err="1" smtClean="0"/>
              <a:t>runWithNewBundle</a:t>
            </a:r>
            <a:r>
              <a:rPr lang="en-US" dirty="0" smtClean="0"/>
              <a:t>() block. </a:t>
            </a:r>
          </a:p>
          <a:p>
            <a:endParaRPr lang="en-US" dirty="0" smtClean="0"/>
          </a:p>
          <a:p>
            <a:r>
              <a:rPr lang="en-US" dirty="0" smtClean="0"/>
              <a:t>Queries</a:t>
            </a:r>
            <a:r>
              <a:rPr lang="en-US" baseline="0" dirty="0" smtClean="0"/>
              <a:t> for data model objects always </a:t>
            </a:r>
            <a:r>
              <a:rPr lang="en-US" dirty="0" smtClean="0"/>
              <a:t>return a read-only bundle. Line 35</a:t>
            </a:r>
            <a:r>
              <a:rPr lang="en-US" baseline="0" dirty="0" smtClean="0"/>
              <a:t> is a query that returns a single entity of the type ABContact that is read-only. To modify a read-only data model object, </a:t>
            </a:r>
            <a:r>
              <a:rPr lang="en-US" dirty="0" smtClean="0"/>
              <a:t>copy the</a:t>
            </a:r>
            <a:r>
              <a:rPr lang="en-US" baseline="0" dirty="0" smtClean="0"/>
              <a:t> object</a:t>
            </a:r>
            <a:r>
              <a:rPr lang="en-US" dirty="0" smtClean="0"/>
              <a:t> to a writeable bundle.  Line 39 copies the queried object into the writeable bundle</a:t>
            </a:r>
            <a:r>
              <a:rPr lang="en-US" baseline="0" dirty="0" smtClean="0"/>
              <a:t> using the add() method.</a:t>
            </a:r>
            <a:endParaRPr lang="en-US" dirty="0" smtClean="0"/>
          </a:p>
          <a:p>
            <a:endParaRPr lang="en-US" dirty="0" smtClean="0"/>
          </a:p>
          <a:p>
            <a:r>
              <a:rPr lang="en-US" dirty="0" smtClean="0"/>
              <a:t>For more information on bundles, refer to the Gosu Bundles lesson.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11</a:t>
            </a:fld>
            <a:endParaRPr lang="en-US"/>
          </a:p>
        </p:txBody>
      </p:sp>
    </p:spTree>
    <p:extLst>
      <p:ext uri="{BB962C8B-B14F-4D97-AF65-F5344CB8AC3E}">
        <p14:creationId xmlns:p14="http://schemas.microsoft.com/office/powerpoint/2010/main" val="14815883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As long as the Gosu class is known to the server when the request comes in, the server can generate the WSDL. The WSDL itself is not generated until an external web service requests it.</a:t>
            </a:r>
          </a:p>
          <a:p>
            <a:endParaRPr lang="en-US" dirty="0" smtClean="0"/>
          </a:p>
          <a:p>
            <a:r>
              <a:rPr lang="en-US" dirty="0" smtClean="0"/>
              <a:t>Redeployment of the Gosu web service class on the server which contains web service method signature changes, newly added web service methods, and/or deleted web service methods, will require that you regenerate the WSDL for</a:t>
            </a:r>
            <a:r>
              <a:rPr lang="en-US" baseline="0" dirty="0" smtClean="0"/>
              <a:t> the </a:t>
            </a:r>
            <a:r>
              <a:rPr lang="en-US" dirty="0" smtClean="0"/>
              <a:t>web service consumer (client).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12</a:t>
            </a:fld>
            <a:endParaRPr lang="en-US"/>
          </a:p>
        </p:txBody>
      </p:sp>
    </p:spTree>
    <p:extLst>
      <p:ext uri="{BB962C8B-B14F-4D97-AF65-F5344CB8AC3E}">
        <p14:creationId xmlns:p14="http://schemas.microsoft.com/office/powerpoint/2010/main" val="26214221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13</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t>A common use case for returning an object from a web service is a summary or "info" object that contains selected fields from a much larger object. Complex data can also be returned as an XML structure.</a:t>
            </a:r>
          </a:p>
          <a:p>
            <a:endParaRPr lang="en-US" dirty="0" smtClean="0"/>
          </a:p>
          <a:p>
            <a:endParaRPr lang="en-US" i="1"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14</a:t>
            </a:fld>
            <a:endParaRPr lang="en-US"/>
          </a:p>
        </p:txBody>
      </p:sp>
    </p:spTree>
    <p:extLst>
      <p:ext uri="{BB962C8B-B14F-4D97-AF65-F5344CB8AC3E}">
        <p14:creationId xmlns:p14="http://schemas.microsoft.com/office/powerpoint/2010/main" val="14815883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A Gosu class whose instances are used as return types for web services must</a:t>
            </a:r>
            <a:r>
              <a:rPr lang="en-US" baseline="0" dirty="0" smtClean="0"/>
              <a:t> include the @</a:t>
            </a:r>
            <a:r>
              <a:rPr lang="en-US" dirty="0" err="1" smtClean="0"/>
              <a:t>WsiExportable</a:t>
            </a:r>
            <a:r>
              <a:rPr lang="en-US" dirty="0" smtClean="0"/>
              <a:t> annotation and be marked</a:t>
            </a:r>
            <a:r>
              <a:rPr lang="en-US" baseline="0" dirty="0" smtClean="0"/>
              <a:t> as final.</a:t>
            </a:r>
          </a:p>
          <a:p>
            <a:endParaRPr lang="en-US" baseline="0" dirty="0" smtClean="0"/>
          </a:p>
          <a:p>
            <a:r>
              <a:rPr lang="en-US" dirty="0" smtClean="0"/>
              <a:t>The @</a:t>
            </a:r>
            <a:r>
              <a:rPr lang="en-US" dirty="0" err="1" smtClean="0"/>
              <a:t>WsiExportable</a:t>
            </a:r>
            <a:r>
              <a:rPr lang="en-US" dirty="0" smtClean="0"/>
              <a:t> annotation ensure that instances of the class can be easily serialized into XML. </a:t>
            </a:r>
          </a:p>
          <a:p>
            <a:endParaRPr lang="en-US" dirty="0" smtClean="0"/>
          </a:p>
          <a:p>
            <a:r>
              <a:rPr lang="en-US" dirty="0" smtClean="0"/>
              <a:t>A class that can be subtyped has the potential to introduce complexity into a web service architecture that is difficult to maintain. To ensure that Guidewire web services provide maximum flexibility with minimal maintenance, Gosu classes used as web service return types cannot be subtyped. For this reason, the class must be marked as final.</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15</a:t>
            </a:fld>
            <a:endParaRPr lang="en-US"/>
          </a:p>
        </p:txBody>
      </p:sp>
    </p:spTree>
    <p:extLst>
      <p:ext uri="{BB962C8B-B14F-4D97-AF65-F5344CB8AC3E}">
        <p14:creationId xmlns:p14="http://schemas.microsoft.com/office/powerpoint/2010/main" val="14815883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16</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 production environment, two systems are involved in the use of a Guidewire web service: the publisher and consumer.</a:t>
            </a:r>
          </a:p>
          <a:p>
            <a:endParaRPr lang="en-US" dirty="0" smtClean="0"/>
          </a:p>
          <a:p>
            <a:r>
              <a:rPr lang="en-US" dirty="0" smtClean="0"/>
              <a:t>In the instance where Guidewire</a:t>
            </a:r>
            <a:r>
              <a:rPr lang="en-US" baseline="0" dirty="0" smtClean="0"/>
              <a:t> is the publisher, Guidewire generates the WSDL for a web service with the consumer request.  The external system is the consumer. The consumer </a:t>
            </a:r>
            <a:r>
              <a:rPr lang="en-US" dirty="0" smtClean="0"/>
              <a:t>stores a copy of the WSDL and uses that copy to make requests.</a:t>
            </a:r>
          </a:p>
          <a:p>
            <a:endParaRPr lang="en-US" dirty="0" smtClean="0"/>
          </a:p>
          <a:p>
            <a:r>
              <a:rPr lang="en-US" dirty="0" smtClean="0"/>
              <a:t>It is possible to test web services within a single instance of Guidewire by assuming</a:t>
            </a:r>
            <a:r>
              <a:rPr lang="en-US" baseline="0" dirty="0" smtClean="0"/>
              <a:t> the ro</a:t>
            </a:r>
            <a:r>
              <a:rPr lang="en-US" dirty="0" smtClean="0"/>
              <a:t>les of both publisher and consumer</a:t>
            </a:r>
            <a:r>
              <a:rPr lang="en-US" baseline="0" dirty="0" smtClean="0"/>
              <a:t> for the web service.</a:t>
            </a:r>
            <a:r>
              <a:rPr lang="en-US" dirty="0" smtClean="0"/>
              <a:t> </a:t>
            </a:r>
            <a:r>
              <a:rPr lang="en-US" dirty="0"/>
              <a:t>The only additional step involved is the creation a "local WSDL" that Gosu code can use for testing purposes</a:t>
            </a:r>
            <a:r>
              <a:rPr lang="en-US" dirty="0" smtClean="0"/>
              <a:t>.</a:t>
            </a:r>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17</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If</a:t>
            </a:r>
            <a:r>
              <a:rPr lang="en-US" baseline="0" dirty="0" smtClean="0"/>
              <a:t> y</a:t>
            </a:r>
            <a:r>
              <a:rPr lang="en-US" dirty="0" smtClean="0"/>
              <a:t>ou generate a local</a:t>
            </a:r>
            <a:r>
              <a:rPr lang="en-US" baseline="0" dirty="0" smtClean="0"/>
              <a:t> </a:t>
            </a:r>
            <a:r>
              <a:rPr lang="en-US" dirty="0" smtClean="0"/>
              <a:t>WSDL from the command line while Guidewire</a:t>
            </a:r>
            <a:r>
              <a:rPr lang="en-US" baseline="0" dirty="0" smtClean="0"/>
              <a:t> S</a:t>
            </a:r>
            <a:r>
              <a:rPr lang="en-US" dirty="0" smtClean="0"/>
              <a:t>tudio is open, you will need to restart</a:t>
            </a:r>
            <a:r>
              <a:rPr lang="en-US" baseline="0" dirty="0" smtClean="0"/>
              <a:t> the Guidewire application in order for Gosu Scratchpad to execute the reference to the local </a:t>
            </a:r>
            <a:r>
              <a:rPr lang="en-US" baseline="0" dirty="0" err="1" smtClean="0"/>
              <a:t>wsi</a:t>
            </a:r>
            <a:r>
              <a:rPr lang="en-US" baseline="0" dirty="0" smtClean="0"/>
              <a:t>.</a:t>
            </a:r>
          </a:p>
          <a:p>
            <a:endParaRPr lang="en-US" baseline="0" dirty="0" smtClean="0"/>
          </a:p>
          <a:p>
            <a:r>
              <a:rPr lang="en-US" baseline="0" dirty="0" smtClean="0"/>
              <a:t>To restart the application while in Guidewire Studio, follow these steps:</a:t>
            </a:r>
          </a:p>
          <a:p>
            <a:pPr marL="171450" indent="-171450">
              <a:buFont typeface="Arial" pitchFamily="34" charset="0"/>
              <a:buChar char="•"/>
            </a:pPr>
            <a:r>
              <a:rPr lang="en-US" baseline="0" dirty="0" smtClean="0"/>
              <a:t>If Studio is Running or Debugging the Server, Stop the server in Studio.</a:t>
            </a:r>
          </a:p>
          <a:p>
            <a:pPr marL="171450" indent="-171450">
              <a:buFont typeface="Arial" pitchFamily="34" charset="0"/>
              <a:buChar char="•"/>
            </a:pPr>
            <a:r>
              <a:rPr lang="en-US" baseline="0" dirty="0" smtClean="0"/>
              <a:t>After the server stops, then Run or Debug the Server from Studio.</a:t>
            </a:r>
          </a:p>
        </p:txBody>
      </p:sp>
      <p:sp>
        <p:nvSpPr>
          <p:cNvPr id="4" name="Slide Number Placeholder 3"/>
          <p:cNvSpPr>
            <a:spLocks noGrp="1"/>
          </p:cNvSpPr>
          <p:nvPr>
            <p:ph type="sldNum" sz="quarter" idx="10"/>
          </p:nvPr>
        </p:nvSpPr>
        <p:spPr/>
        <p:txBody>
          <a:bodyPr/>
          <a:lstStyle/>
          <a:p>
            <a:fld id="{BC59C1E8-2E88-4BF4-A80C-B8AE78323CDF}" type="slidenum">
              <a:rPr lang="en-US" smtClean="0"/>
              <a:pPr/>
              <a:t>18</a:t>
            </a:fld>
            <a:endParaRPr lang="en-US"/>
          </a:p>
        </p:txBody>
      </p:sp>
    </p:spTree>
    <p:extLst>
      <p:ext uri="{BB962C8B-B14F-4D97-AF65-F5344CB8AC3E}">
        <p14:creationId xmlns:p14="http://schemas.microsoft.com/office/powerpoint/2010/main" val="369592484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Use code completion to easily determine the class and service names.</a:t>
            </a:r>
          </a:p>
          <a:p>
            <a:endParaRPr lang="en-US" dirty="0" smtClean="0"/>
          </a:p>
          <a:p>
            <a:r>
              <a:rPr lang="en-US" dirty="0" smtClean="0"/>
              <a:t>When testing a Guidewire web service locally, it is not necessary</a:t>
            </a:r>
            <a:r>
              <a:rPr lang="en-US" baseline="0" dirty="0" smtClean="0"/>
              <a:t> </a:t>
            </a:r>
            <a:r>
              <a:rPr lang="en-US" dirty="0" smtClean="0"/>
              <a:t>to create a web service collection that points to the web service to be tested.</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19</a:t>
            </a:fld>
            <a:endParaRPr lang="en-US"/>
          </a:p>
        </p:txBody>
      </p:sp>
    </p:spTree>
    <p:extLst>
      <p:ext uri="{BB962C8B-B14F-4D97-AF65-F5344CB8AC3E}">
        <p14:creationId xmlns:p14="http://schemas.microsoft.com/office/powerpoint/2010/main" val="1481588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20</a:t>
            </a:fld>
            <a:endParaRPr lang="en-US"/>
          </a:p>
        </p:txBody>
      </p:sp>
    </p:spTree>
    <p:extLst>
      <p:ext uri="{BB962C8B-B14F-4D97-AF65-F5344CB8AC3E}">
        <p14:creationId xmlns:p14="http://schemas.microsoft.com/office/powerpoint/2010/main" val="330160920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steps needed to get a third-party application to consume a Guidewire-published web service vary based on the nature of the third-party application. It isn't possible to exhaustively discuss the different scenarios an integration developer might encounter. The following slides attempt to provide an overview of the process by walking through one specific example. This is intended for use as an overview only. The high-level steps are applicable in most situations, but the specifics will vary.</a:t>
            </a:r>
          </a:p>
          <a:p>
            <a:endParaRPr lang="en-US" dirty="0" smtClean="0"/>
          </a:p>
          <a:p>
            <a:r>
              <a:rPr lang="en-US" dirty="0" smtClean="0"/>
              <a:t>The example in the following slides involves a third-party application written in Java that needs to consume a Guidewire web service called </a:t>
            </a:r>
            <a:r>
              <a:rPr lang="en-US" dirty="0" err="1" smtClean="0"/>
              <a:t>ContactAPI</a:t>
            </a:r>
            <a:r>
              <a:rPr lang="en-US" dirty="0" smtClean="0"/>
              <a:t>. The third-party application is coded using Eclipse. Apache </a:t>
            </a:r>
            <a:r>
              <a:rPr lang="en-US" dirty="0" err="1" smtClean="0"/>
              <a:t>CXF</a:t>
            </a:r>
            <a:r>
              <a:rPr lang="en-US" dirty="0" smtClean="0"/>
              <a:t> version 2.3.0 is used to create Java code for the third-party application from the WSDL.</a:t>
            </a:r>
          </a:p>
          <a:p>
            <a:endParaRPr lang="en-US" dirty="0" smtClean="0"/>
          </a:p>
          <a:p>
            <a:r>
              <a:rPr lang="en-US" dirty="0" smtClean="0"/>
              <a:t>Guidewire web services can also be called from .NET and from any external system that has binding implementations of WSDL and SOAP. For more information on non-Java consumption of Guidewire web services, refer to the Integration Guide.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21</a:t>
            </a:fld>
            <a:endParaRPr lang="en-US"/>
          </a:p>
        </p:txBody>
      </p:sp>
    </p:spTree>
    <p:extLst>
      <p:ext uri="{BB962C8B-B14F-4D97-AF65-F5344CB8AC3E}">
        <p14:creationId xmlns:p14="http://schemas.microsoft.com/office/powerpoint/2010/main" val="34479293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First, the integration developer working with the third-party system must access the WSDL for the Guidewire web service. All WSDLs for Guidewire-published web services can be accessed following the instructions below.</a:t>
            </a:r>
          </a:p>
          <a:p>
            <a:endParaRPr lang="en-US" dirty="0" smtClean="0"/>
          </a:p>
          <a:p>
            <a:r>
              <a:rPr lang="en-US" dirty="0" smtClean="0"/>
              <a:t>To determine the URL for the WSDL:</a:t>
            </a:r>
          </a:p>
          <a:p>
            <a:pPr marL="228600" indent="-228600">
              <a:buFont typeface="+mj-lt"/>
              <a:buAutoNum type="arabicPeriod"/>
            </a:pPr>
            <a:r>
              <a:rPr lang="en-US" dirty="0" smtClean="0"/>
              <a:t>While the application</a:t>
            </a:r>
            <a:r>
              <a:rPr lang="en-US" baseline="0" dirty="0" smtClean="0"/>
              <a:t> </a:t>
            </a:r>
            <a:r>
              <a:rPr lang="en-US" dirty="0" smtClean="0"/>
              <a:t>server is running, connect to http://&lt;machine&gt;:&lt;port&gt;/&lt;appcode&gt;/ws.</a:t>
            </a:r>
          </a:p>
          <a:p>
            <a:pPr marL="228600" indent="-228600">
              <a:buFont typeface="+mj-lt"/>
              <a:buAutoNum type="arabicPeriod"/>
            </a:pPr>
            <a:r>
              <a:rPr lang="en-US" dirty="0" smtClean="0"/>
              <a:t>Expand the Document/Literal Web Services node until the desired web service name is displayed.</a:t>
            </a:r>
          </a:p>
          <a:p>
            <a:pPr marL="228600" indent="-228600">
              <a:buFont typeface="+mj-lt"/>
              <a:buAutoNum type="arabicPeriod"/>
            </a:pPr>
            <a:r>
              <a:rPr lang="en-US" dirty="0" smtClean="0"/>
              <a:t>Click the web service name. This loads the XSD for the WSDL.</a:t>
            </a:r>
          </a:p>
          <a:p>
            <a:pPr marL="228600" indent="-228600">
              <a:buFont typeface="+mj-lt"/>
              <a:buAutoNum type="arabicPeriod"/>
            </a:pPr>
            <a:r>
              <a:rPr lang="en-US" dirty="0" smtClean="0"/>
              <a:t>Copy the URL.</a:t>
            </a:r>
          </a:p>
          <a:p>
            <a:endParaRPr lang="en-US" dirty="0" smtClean="0"/>
          </a:p>
          <a:p>
            <a:r>
              <a:rPr lang="en-US" dirty="0" smtClean="0"/>
              <a:t>The information above applies only for WSDLs for document literal web services. For information on how to find WSDLs for deprecated RPCE web services, consult the Integration Guide.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22</a:t>
            </a:fld>
            <a:endParaRPr lang="en-US"/>
          </a:p>
        </p:txBody>
      </p:sp>
    </p:spTree>
    <p:extLst>
      <p:ext uri="{BB962C8B-B14F-4D97-AF65-F5344CB8AC3E}">
        <p14:creationId xmlns:p14="http://schemas.microsoft.com/office/powerpoint/2010/main" val="35730872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In Apache </a:t>
            </a:r>
            <a:r>
              <a:rPr lang="en-US" dirty="0" err="1" smtClean="0"/>
              <a:t>CXF</a:t>
            </a:r>
            <a:r>
              <a:rPr lang="en-US" dirty="0" smtClean="0"/>
              <a:t>, from the bin directory, run the wsdl2java ("</a:t>
            </a:r>
            <a:r>
              <a:rPr lang="en-US" dirty="0" err="1" smtClean="0"/>
              <a:t>wsdl</a:t>
            </a:r>
            <a:r>
              <a:rPr lang="en-US" dirty="0" smtClean="0"/>
              <a:t> to java") command and specify the WSDL's URL. This creates a /com subdirectory containing the Java stubs.</a:t>
            </a:r>
          </a:p>
          <a:p>
            <a:endParaRPr lang="en-US" dirty="0"/>
          </a:p>
          <a:p>
            <a:r>
              <a:rPr lang="en-US" dirty="0"/>
              <a:t>Apache </a:t>
            </a:r>
            <a:r>
              <a:rPr lang="en-US" dirty="0" err="1"/>
              <a:t>CXF</a:t>
            </a:r>
            <a:r>
              <a:rPr lang="en-US" dirty="0"/>
              <a:t> includes a "wsdl2java" tool that creates a set of Java classes from a WSDL. The tool is run from the command line. It takes a WSDL as an input parameter and creates a set of Java stubs from the WSDL.</a:t>
            </a:r>
          </a:p>
          <a:p>
            <a:endParaRPr lang="en-US" dirty="0"/>
          </a:p>
          <a:p>
            <a:r>
              <a:rPr lang="en-US" dirty="0"/>
              <a:t>In the example above, the integration developer runs wsdl2java, and this tool creates a com directory from the appropriate WSDL.</a:t>
            </a:r>
          </a:p>
          <a:p>
            <a:endParaRPr lang="en-US" dirty="0"/>
          </a:p>
          <a:p>
            <a:r>
              <a:rPr lang="en-US" dirty="0" smtClean="0"/>
              <a:t>A WSDL is simply an XML file that defines a web service. In its XML format, it cannot be understood by a Java program. To make it understandable to a Java program, a set of Java classes must be created based on the information in the WSDL. One class will represent the web service itself. Other classes may represent input parameters, return types, and/or exceptions that a web service method might throw.</a:t>
            </a:r>
          </a:p>
          <a:p>
            <a:endParaRPr lang="en-US" dirty="0" smtClean="0"/>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23</a:t>
            </a:fld>
            <a:endParaRPr lang="en-US"/>
          </a:p>
        </p:txBody>
      </p:sp>
    </p:spTree>
    <p:extLst>
      <p:ext uri="{BB962C8B-B14F-4D97-AF65-F5344CB8AC3E}">
        <p14:creationId xmlns:p14="http://schemas.microsoft.com/office/powerpoint/2010/main" val="304943545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The Java classes created from the WSDL must be available to the development environment in which the third-party application is configured.</a:t>
            </a:r>
          </a:p>
          <a:p>
            <a:endParaRPr lang="en-US" dirty="0" smtClean="0"/>
          </a:p>
          <a:p>
            <a:r>
              <a:rPr lang="en-US" dirty="0" smtClean="0"/>
              <a:t>In the example above, the com directory and all its Java classes created from the WSDL are made available to the Eclipse project that is being used to configure the third-party application.</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24</a:t>
            </a:fld>
            <a:endParaRPr lang="en-US"/>
          </a:p>
        </p:txBody>
      </p:sp>
    </p:spTree>
    <p:extLst>
      <p:ext uri="{BB962C8B-B14F-4D97-AF65-F5344CB8AC3E}">
        <p14:creationId xmlns:p14="http://schemas.microsoft.com/office/powerpoint/2010/main" val="17207531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slide above simply shows the various classes generated by wsdl2java as seen in </a:t>
            </a:r>
            <a:r>
              <a:rPr lang="en-US" dirty="0" smtClean="0"/>
              <a:t>Eclipse. The </a:t>
            </a:r>
            <a:r>
              <a:rPr lang="en-US" dirty="0"/>
              <a:t>slide also includes two classes in each package, ObjectFactory.java and package-info.java. These classes are Apache </a:t>
            </a:r>
            <a:r>
              <a:rPr lang="en-US" dirty="0" err="1"/>
              <a:t>CXF</a:t>
            </a:r>
            <a:r>
              <a:rPr lang="en-US" dirty="0"/>
              <a:t> artifacts that are not relevant to the example. </a:t>
            </a:r>
            <a:r>
              <a:rPr lang="en-US" dirty="0" smtClean="0"/>
              <a:t>The </a:t>
            </a:r>
            <a:r>
              <a:rPr lang="en-US" dirty="0"/>
              <a:t>first class can be used to create instances of the class. The second provides annotation information. For more information, refer to the Apache </a:t>
            </a:r>
            <a:r>
              <a:rPr lang="en-US" dirty="0" err="1"/>
              <a:t>CXF</a:t>
            </a:r>
            <a:r>
              <a:rPr lang="en-US" dirty="0"/>
              <a:t> documentation</a:t>
            </a:r>
            <a:r>
              <a:rPr lang="en-US" dirty="0" smtClean="0"/>
              <a:t>.</a:t>
            </a:r>
            <a:endParaRPr lang="en-US" dirty="0"/>
          </a:p>
          <a:p>
            <a:endParaRPr lang="en-US" dirty="0" smtClean="0"/>
          </a:p>
          <a:p>
            <a:r>
              <a:rPr lang="en-US" dirty="0" smtClean="0"/>
              <a:t>Every WSDL for a Guidewire-published web service contains all the information needed to connect to the web service, make a request using one of the web service methods, and receive the response. This includes:</a:t>
            </a:r>
          </a:p>
          <a:p>
            <a:pPr marL="171450" indent="-171450">
              <a:buFont typeface="Arial" pitchFamily="34" charset="0"/>
              <a:buChar char="•"/>
            </a:pPr>
            <a:r>
              <a:rPr lang="en-US" dirty="0" smtClean="0"/>
              <a:t>Classes that defines any "@</a:t>
            </a:r>
            <a:r>
              <a:rPr lang="en-US" dirty="0" err="1" smtClean="0"/>
              <a:t>WsiExportable</a:t>
            </a:r>
            <a:r>
              <a:rPr lang="en-US" dirty="0" smtClean="0"/>
              <a:t>" customer type the web service might </a:t>
            </a:r>
            <a:r>
              <a:rPr lang="en-US" dirty="0" err="1" smtClean="0"/>
              <a:t>return.In</a:t>
            </a:r>
            <a:r>
              <a:rPr lang="en-US" dirty="0" smtClean="0"/>
              <a:t> the screenshot above, ContactInfo.java is an example of this.</a:t>
            </a:r>
          </a:p>
          <a:p>
            <a:pPr marL="171450" indent="-171450">
              <a:buFont typeface="Arial" pitchFamily="34" charset="0"/>
              <a:buChar char="•"/>
            </a:pPr>
            <a:r>
              <a:rPr lang="en-US" dirty="0" smtClean="0"/>
              <a:t>A class that defines the web service itself (the "@</a:t>
            </a:r>
            <a:r>
              <a:rPr lang="en-US" dirty="0" err="1" smtClean="0"/>
              <a:t>WsiWebService</a:t>
            </a:r>
            <a:r>
              <a:rPr lang="en-US" dirty="0" smtClean="0"/>
              <a:t>" class). In the screenshot above, ContactAPI.java is an example of this.</a:t>
            </a:r>
          </a:p>
          <a:p>
            <a:pPr marL="171450" indent="-171450">
              <a:buFont typeface="Arial" pitchFamily="34" charset="0"/>
              <a:buChar char="•"/>
            </a:pPr>
            <a:r>
              <a:rPr lang="en-US" dirty="0" smtClean="0"/>
              <a:t>Classes for any exception that the web service might throw. In the screenshot above, BadIdentifierException_Exception.java, </a:t>
            </a:r>
            <a:r>
              <a:rPr lang="en-US" dirty="0" err="1" smtClean="0"/>
              <a:t>BadIdentifierException</a:t>
            </a:r>
            <a:r>
              <a:rPr lang="en-US" dirty="0" smtClean="0"/>
              <a:t>, PermissionException_Exception.java, PermissionException.java, ServerStateException_Exception.java, and ServerStateException.java are examples of this.</a:t>
            </a:r>
          </a:p>
          <a:p>
            <a:pPr marL="171450" indent="-171450">
              <a:buFont typeface="Arial" pitchFamily="34" charset="0"/>
              <a:buChar char="•"/>
            </a:pPr>
            <a:r>
              <a:rPr lang="en-US" dirty="0" smtClean="0"/>
              <a:t>Classes for the connection information. In the screenshot above, ContactApiPortType.java is an example of this.</a:t>
            </a:r>
          </a:p>
          <a:p>
            <a:pPr marL="171450" indent="-171450">
              <a:buFont typeface="Arial" pitchFamily="34" charset="0"/>
              <a:buChar char="•"/>
            </a:pPr>
            <a:r>
              <a:rPr lang="en-US" dirty="0" smtClean="0"/>
              <a:t>Classes for the methods and method responses.  In the screenshot above, DoesContactExist.java, DoesContactExistResponse.java, GetContactInfo.java, GetContactInfoResponse.java, SetContactEmail.java, and SetContactEmailResponse.java are examples of this.</a:t>
            </a:r>
          </a:p>
          <a:p>
            <a:endParaRPr lang="en-US" dirty="0" smtClean="0"/>
          </a:p>
          <a:p>
            <a:endParaRPr lang="en-US" dirty="0" smtClean="0"/>
          </a:p>
        </p:txBody>
      </p:sp>
      <p:sp>
        <p:nvSpPr>
          <p:cNvPr id="4" name="Slide Number Placeholder 3"/>
          <p:cNvSpPr>
            <a:spLocks noGrp="1"/>
          </p:cNvSpPr>
          <p:nvPr>
            <p:ph type="sldNum" sz="quarter" idx="10"/>
          </p:nvPr>
        </p:nvSpPr>
        <p:spPr/>
        <p:txBody>
          <a:bodyPr/>
          <a:lstStyle/>
          <a:p>
            <a:fld id="{BC59C1E8-2E88-4BF4-A80C-B8AE78323CDF}" type="slidenum">
              <a:rPr lang="en-US" smtClean="0"/>
              <a:pPr/>
              <a:t>25</a:t>
            </a:fld>
            <a:endParaRPr lang="en-US"/>
          </a:p>
        </p:txBody>
      </p:sp>
    </p:spTree>
    <p:extLst>
      <p:ext uri="{BB962C8B-B14F-4D97-AF65-F5344CB8AC3E}">
        <p14:creationId xmlns:p14="http://schemas.microsoft.com/office/powerpoint/2010/main" val="47648186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Once the Java classes are available to the IDE, any code in the IDE can make use of the classes.  In the example above:</a:t>
            </a:r>
          </a:p>
          <a:p>
            <a:pPr marL="171450" indent="-171450">
              <a:buFont typeface="Arial" pitchFamily="34" charset="0"/>
              <a:buChar char="•"/>
            </a:pPr>
            <a:r>
              <a:rPr lang="en-US" dirty="0" smtClean="0"/>
              <a:t>Lines 3-5: imports the </a:t>
            </a:r>
            <a:r>
              <a:rPr lang="en-US" dirty="0" err="1" smtClean="0"/>
              <a:t>WSDLtoJava</a:t>
            </a:r>
            <a:r>
              <a:rPr lang="en-US" dirty="0" smtClean="0"/>
              <a:t> generated Java classes.</a:t>
            </a:r>
          </a:p>
          <a:p>
            <a:pPr marL="171450" indent="-171450">
              <a:buFont typeface="Arial" pitchFamily="34" charset="0"/>
              <a:buChar char="•"/>
            </a:pPr>
            <a:r>
              <a:rPr lang="en-US" dirty="0" smtClean="0"/>
              <a:t>Line 9</a:t>
            </a:r>
            <a:r>
              <a:rPr lang="en-US" dirty="0"/>
              <a:t>:</a:t>
            </a:r>
            <a:r>
              <a:rPr lang="en-US" dirty="0" smtClean="0"/>
              <a:t> a Java main() method is used to emulate the third-party application.</a:t>
            </a:r>
          </a:p>
          <a:p>
            <a:pPr marL="171450" indent="-171450">
              <a:buFont typeface="Arial" pitchFamily="34" charset="0"/>
              <a:buChar char="•"/>
            </a:pPr>
            <a:r>
              <a:rPr lang="en-US" dirty="0" smtClean="0"/>
              <a:t>Line 13:  creates a new instance of the </a:t>
            </a:r>
            <a:r>
              <a:rPr lang="en-US" dirty="0" err="1" smtClean="0"/>
              <a:t>ContactAPI</a:t>
            </a:r>
            <a:r>
              <a:rPr lang="en-US" dirty="0" smtClean="0"/>
              <a:t> web service called "api". Note that this instance is based on the </a:t>
            </a:r>
            <a:r>
              <a:rPr lang="en-US" dirty="0" err="1" smtClean="0"/>
              <a:t>ContactAPI</a:t>
            </a:r>
            <a:r>
              <a:rPr lang="en-US" dirty="0" smtClean="0"/>
              <a:t> class, which is one of the Java classes created from the WSDL.</a:t>
            </a:r>
          </a:p>
          <a:p>
            <a:pPr marL="171450" indent="-171450">
              <a:buFont typeface="Arial" pitchFamily="34" charset="0"/>
              <a:buChar char="•"/>
            </a:pPr>
            <a:r>
              <a:rPr lang="en-US" dirty="0" smtClean="0"/>
              <a:t>Line 14: creates a new instance of </a:t>
            </a:r>
            <a:r>
              <a:rPr lang="en-US" dirty="0" err="1" smtClean="0"/>
              <a:t>ContactAPIPortType</a:t>
            </a:r>
            <a:r>
              <a:rPr lang="en-US" dirty="0" smtClean="0"/>
              <a:t> called "port". Note that this instance is based on the </a:t>
            </a:r>
            <a:r>
              <a:rPr lang="en-US" dirty="0" err="1" smtClean="0"/>
              <a:t>ContactAPIPortType</a:t>
            </a:r>
            <a:r>
              <a:rPr lang="en-US" dirty="0" smtClean="0"/>
              <a:t> class, which is one of the Java classes created from the WSDL. Its value is set using a method from the </a:t>
            </a:r>
            <a:r>
              <a:rPr lang="en-US" dirty="0" err="1" smtClean="0"/>
              <a:t>ContactAPI</a:t>
            </a:r>
            <a:r>
              <a:rPr lang="en-US" dirty="0" smtClean="0"/>
              <a:t> instance.</a:t>
            </a:r>
          </a:p>
          <a:p>
            <a:pPr marL="171450" indent="-171450">
              <a:buFont typeface="Arial" pitchFamily="34" charset="0"/>
              <a:buChar char="•"/>
            </a:pPr>
            <a:r>
              <a:rPr lang="en-US" dirty="0" smtClean="0"/>
              <a:t>Line 16:  a call is made to the web service ("</a:t>
            </a:r>
            <a:r>
              <a:rPr lang="en-US" dirty="0" err="1" smtClean="0"/>
              <a:t>port.doesContactExist</a:t>
            </a:r>
            <a:r>
              <a:rPr lang="en-US" dirty="0" smtClean="0"/>
              <a:t>(</a:t>
            </a:r>
            <a:r>
              <a:rPr lang="en-US" dirty="0" err="1" smtClean="0"/>
              <a:t>contactPID</a:t>
            </a:r>
            <a:r>
              <a:rPr lang="en-US" dirty="0" smtClean="0"/>
              <a:t>)"). This call passes a string ("ab:5") to the Guidewire web service and gets a </a:t>
            </a:r>
            <a:r>
              <a:rPr lang="en-US" dirty="0" err="1" smtClean="0"/>
              <a:t>boolean</a:t>
            </a:r>
            <a:r>
              <a:rPr lang="en-US" dirty="0" smtClean="0"/>
              <a:t> response (true). The rest of line 16 then prints "Does William Andy exist?: " and the </a:t>
            </a:r>
            <a:r>
              <a:rPr lang="en-US" dirty="0" err="1" smtClean="0"/>
              <a:t>boolean</a:t>
            </a:r>
            <a:r>
              <a:rPr lang="en-US" dirty="0" smtClean="0"/>
              <a:t> value. You can see this print statement in the Console window at the bottom of the screenshot.</a:t>
            </a:r>
          </a:p>
          <a:p>
            <a:pPr marL="171450" indent="-171450">
              <a:buFont typeface="Arial" pitchFamily="34" charset="0"/>
              <a:buChar char="•"/>
            </a:pPr>
            <a:r>
              <a:rPr lang="en-US" dirty="0" smtClean="0"/>
              <a:t>Line 17: creates a new instance of </a:t>
            </a:r>
            <a:r>
              <a:rPr lang="en-US" dirty="0" err="1" smtClean="0"/>
              <a:t>ContactInfo</a:t>
            </a:r>
            <a:r>
              <a:rPr lang="en-US" dirty="0" smtClean="0"/>
              <a:t>. It is called "</a:t>
            </a:r>
            <a:r>
              <a:rPr lang="en-US" dirty="0" err="1" smtClean="0"/>
              <a:t>contactInfo</a:t>
            </a:r>
            <a:r>
              <a:rPr lang="en-US" dirty="0" smtClean="0"/>
              <a:t>". Note that this instance is based on the </a:t>
            </a:r>
            <a:r>
              <a:rPr lang="en-US" dirty="0" err="1" smtClean="0"/>
              <a:t>ContactInfo</a:t>
            </a:r>
            <a:r>
              <a:rPr lang="en-US" dirty="0" smtClean="0"/>
              <a:t> class, which is one of the Java classes created from the WSDL. It is set using the </a:t>
            </a:r>
            <a:r>
              <a:rPr lang="en-US" dirty="0" err="1" smtClean="0"/>
              <a:t>getContactInfo</a:t>
            </a:r>
            <a:r>
              <a:rPr lang="en-US" dirty="0" smtClean="0"/>
              <a:t>() method of the web service and passes in "ab:5" as an input parameter. In other words, the third-party application requests a </a:t>
            </a:r>
            <a:r>
              <a:rPr lang="en-US" dirty="0" err="1" smtClean="0"/>
              <a:t>ContactInfo</a:t>
            </a:r>
            <a:r>
              <a:rPr lang="en-US" dirty="0" smtClean="0"/>
              <a:t> instance for the contact with public ID "ab:5" and stored this instance in the local </a:t>
            </a:r>
            <a:r>
              <a:rPr lang="en-US" dirty="0" err="1" smtClean="0"/>
              <a:t>contactInfo</a:t>
            </a:r>
            <a:r>
              <a:rPr lang="en-US" dirty="0" smtClean="0"/>
              <a:t> object.</a:t>
            </a:r>
          </a:p>
          <a:p>
            <a:pPr marL="171450" indent="-171450">
              <a:buFont typeface="Arial" pitchFamily="34" charset="0"/>
              <a:buChar char="•"/>
            </a:pPr>
            <a:r>
              <a:rPr lang="en-US" dirty="0" smtClean="0"/>
              <a:t>Line18: prints the value of the </a:t>
            </a:r>
            <a:r>
              <a:rPr lang="en-US" dirty="0" err="1" smtClean="0"/>
              <a:t>contactInfo</a:t>
            </a:r>
            <a:r>
              <a:rPr lang="en-US" dirty="0" smtClean="0"/>
              <a:t> object's email. This is done by retrieving the value of the Email field using </a:t>
            </a:r>
            <a:r>
              <a:rPr lang="en-US" dirty="0" err="1" smtClean="0"/>
              <a:t>getEmail</a:t>
            </a:r>
            <a:r>
              <a:rPr lang="en-US" dirty="0" smtClean="0"/>
              <a:t>() and then printing it to the console. You can see the results of the print statement in the Console window at the bottom of the screenshot.</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26</a:t>
            </a:fld>
            <a:endParaRPr lang="en-US"/>
          </a:p>
        </p:txBody>
      </p:sp>
    </p:spTree>
    <p:extLst>
      <p:ext uri="{BB962C8B-B14F-4D97-AF65-F5344CB8AC3E}">
        <p14:creationId xmlns:p14="http://schemas.microsoft.com/office/powerpoint/2010/main" val="91704684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Remember that the WSDL only provides the XML grammar for describing how a consumer of a web service can interact with a web service.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27</a:t>
            </a:fld>
            <a:endParaRPr lang="en-US"/>
          </a:p>
        </p:txBody>
      </p:sp>
    </p:spTree>
    <p:extLst>
      <p:ext uri="{BB962C8B-B14F-4D97-AF65-F5344CB8AC3E}">
        <p14:creationId xmlns:p14="http://schemas.microsoft.com/office/powerpoint/2010/main" val="283624927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28</a:t>
            </a:fld>
            <a:endParaRPr lang="en-US"/>
          </a:p>
        </p:txBody>
      </p:sp>
    </p:spTree>
    <p:extLst>
      <p:ext uri="{BB962C8B-B14F-4D97-AF65-F5344CB8AC3E}">
        <p14:creationId xmlns:p14="http://schemas.microsoft.com/office/powerpoint/2010/main" val="63750669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09550" indent="-209550"/>
            <a:r>
              <a:rPr lang="en-US" b="1" dirty="0" smtClean="0"/>
              <a:t>Answers</a:t>
            </a:r>
          </a:p>
          <a:p>
            <a:pPr marL="209550" indent="-209550"/>
            <a:r>
              <a:rPr lang="en-US" dirty="0" smtClean="0"/>
              <a:t>1.	a) The @</a:t>
            </a:r>
            <a:r>
              <a:rPr lang="en-US" dirty="0" err="1" smtClean="0"/>
              <a:t>WsiWebService</a:t>
            </a:r>
            <a:r>
              <a:rPr lang="en-US" dirty="0" smtClean="0"/>
              <a:t> annotation is the only thing required to make a Gosu class a Guidewire web service.</a:t>
            </a:r>
          </a:p>
          <a:p>
            <a:pPr marL="209550" indent="-209550"/>
            <a:r>
              <a:rPr lang="en-US" dirty="0" smtClean="0"/>
              <a:t>	b) The @</a:t>
            </a:r>
            <a:r>
              <a:rPr lang="en-US" dirty="0" err="1" smtClean="0"/>
              <a:t>WsiExportable</a:t>
            </a:r>
            <a:r>
              <a:rPr lang="en-US" dirty="0" smtClean="0"/>
              <a:t> annotation and the keyword "final".</a:t>
            </a:r>
          </a:p>
          <a:p>
            <a:pPr marL="209550" indent="-209550"/>
            <a:r>
              <a:rPr lang="en-US" dirty="0" smtClean="0"/>
              <a:t>2.	a) True.</a:t>
            </a:r>
          </a:p>
          <a:p>
            <a:pPr marL="209550" indent="-209550"/>
            <a:r>
              <a:rPr lang="en-US" dirty="0" smtClean="0"/>
              <a:t>	b) False. (It can return only instances of Gosu classes that are final and have the @</a:t>
            </a:r>
            <a:r>
              <a:rPr lang="en-US" dirty="0" err="1" smtClean="0"/>
              <a:t>WsiExportable</a:t>
            </a:r>
            <a:r>
              <a:rPr lang="en-US" dirty="0" smtClean="0"/>
              <a:t> annotation.)</a:t>
            </a:r>
          </a:p>
          <a:p>
            <a:pPr marL="209550" indent="-209550"/>
            <a:r>
              <a:rPr lang="en-US" dirty="0" smtClean="0"/>
              <a:t>	c) False. (Instances of Guidewire data model entities cannot be returned from </a:t>
            </a:r>
            <a:r>
              <a:rPr lang="en-US" dirty="0" err="1" smtClean="0"/>
              <a:t>WS</a:t>
            </a:r>
            <a:r>
              <a:rPr lang="en-US" dirty="0" smtClean="0"/>
              <a:t>-I web service methods.)</a:t>
            </a:r>
          </a:p>
          <a:p>
            <a:pPr marL="209550" indent="-209550"/>
            <a:r>
              <a:rPr lang="en-US" dirty="0" smtClean="0"/>
              <a:t>	d) False. (The WSDL is generated when an external system requests it.)</a:t>
            </a:r>
          </a:p>
          <a:p>
            <a:pPr marL="209550" indent="-209550"/>
            <a:r>
              <a:rPr lang="en-US" dirty="0" smtClean="0"/>
              <a:t>	e) True.</a:t>
            </a:r>
          </a:p>
          <a:p>
            <a:pPr marL="209550" indent="-209550"/>
            <a:r>
              <a:rPr lang="en-US" dirty="0" smtClean="0"/>
              <a:t>	f) True.</a:t>
            </a:r>
          </a:p>
          <a:p>
            <a:endParaRPr lang="en-US" dirty="0"/>
          </a:p>
        </p:txBody>
      </p:sp>
      <p:sp>
        <p:nvSpPr>
          <p:cNvPr id="4" name="Slide Number Placeholder 3"/>
          <p:cNvSpPr>
            <a:spLocks noGrp="1"/>
          </p:cNvSpPr>
          <p:nvPr>
            <p:ph type="sldNum" sz="quarter" idx="10"/>
          </p:nvPr>
        </p:nvSpPr>
        <p:spPr/>
        <p:txBody>
          <a:bodyPr/>
          <a:lstStyle/>
          <a:p>
            <a:fld id="{BC59C1E8-2E88-4BF4-A80C-B8AE78323CDF}" type="slidenum">
              <a:rPr lang="en-US" smtClean="0"/>
              <a:pPr/>
              <a:t>29</a:t>
            </a:fld>
            <a:endParaRPr lang="en-US"/>
          </a:p>
        </p:txBody>
      </p:sp>
    </p:spTree>
    <p:extLst>
      <p:ext uri="{BB962C8B-B14F-4D97-AF65-F5344CB8AC3E}">
        <p14:creationId xmlns:p14="http://schemas.microsoft.com/office/powerpoint/2010/main" val="260703199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C59C1E8-2E88-4BF4-A80C-B8AE78323CDF}" type="slidenum">
              <a:rPr lang="en-US" smtClean="0"/>
              <a:pPr/>
              <a:t>30</a:t>
            </a:fld>
            <a:endParaRPr lang="en-US"/>
          </a:p>
        </p:txBody>
      </p:sp>
    </p:spTree>
    <p:extLst>
      <p:ext uri="{BB962C8B-B14F-4D97-AF65-F5344CB8AC3E}">
        <p14:creationId xmlns:p14="http://schemas.microsoft.com/office/powerpoint/2010/main" val="41369670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 Slide Layout">
    <p:spTree>
      <p:nvGrpSpPr>
        <p:cNvPr id="1" name=""/>
        <p:cNvGrpSpPr/>
        <p:nvPr/>
      </p:nvGrpSpPr>
      <p:grpSpPr>
        <a:xfrm>
          <a:off x="0" y="0"/>
          <a:ext cx="0" cy="0"/>
          <a:chOff x="0" y="0"/>
          <a:chExt cx="0" cy="0"/>
        </a:xfrm>
      </p:grpSpPr>
      <p:sp>
        <p:nvSpPr>
          <p:cNvPr id="19" name="rec Background Gradient"/>
          <p:cNvSpPr/>
          <p:nvPr/>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2" name="rec GW Sidebar"/>
          <p:cNvGrpSpPr/>
          <p:nvPr/>
        </p:nvGrpSpPr>
        <p:grpSpPr>
          <a:xfrm>
            <a:off x="0" y="0"/>
            <a:ext cx="109538" cy="6858000"/>
            <a:chOff x="0" y="0"/>
            <a:chExt cx="109538" cy="6858000"/>
          </a:xfrm>
        </p:grpSpPr>
        <p:sp>
          <p:nvSpPr>
            <p:cNvPr id="22"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4"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5"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6"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7"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8"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20" name="txt Copyright 2001-2013"/>
          <p:cNvSpPr txBox="1"/>
          <p:nvPr/>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6" name="pic Logo 2013 small" descr="Guidewire_logo+tagline_white.png"/>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
        <p:nvSpPr>
          <p:cNvPr id="7" name="txt Lesson Subtitle"/>
          <p:cNvSpPr>
            <a:spLocks noGrp="1"/>
          </p:cNvSpPr>
          <p:nvPr>
            <p:ph type="body" sz="quarter" idx="10"/>
          </p:nvPr>
        </p:nvSpPr>
        <p:spPr>
          <a:xfrm>
            <a:off x="5718125" y="5946570"/>
            <a:ext cx="3089327" cy="273255"/>
          </a:xfrm>
        </p:spPr>
        <p:txBody>
          <a:bodyPr/>
          <a:lstStyle>
            <a:lvl1pPr algn="r">
              <a:buNone/>
              <a:defRPr sz="1600">
                <a:solidFill>
                  <a:schemeClr val="tx1"/>
                </a:solidFill>
                <a:latin typeface="Arial" pitchFamily="34" charset="0"/>
                <a:cs typeface="Arial" pitchFamily="34" charset="0"/>
              </a:defRPr>
            </a:lvl1pPr>
          </a:lstStyle>
          <a:p>
            <a:pPr lvl="0"/>
            <a:r>
              <a:rPr lang="en-US" smtClean="0"/>
              <a:t>Click to edit Master text styles</a:t>
            </a:r>
          </a:p>
        </p:txBody>
      </p:sp>
      <p:sp>
        <p:nvSpPr>
          <p:cNvPr id="33794" name="txt Lesson Title"/>
          <p:cNvSpPr>
            <a:spLocks noGrp="1" noChangeArrowheads="1"/>
          </p:cNvSpPr>
          <p:nvPr>
            <p:ph type="ctrTitle"/>
          </p:nvPr>
        </p:nvSpPr>
        <p:spPr>
          <a:xfrm>
            <a:off x="458788" y="2957371"/>
            <a:ext cx="8348662" cy="700229"/>
          </a:xfrm>
        </p:spPr>
        <p:txBody>
          <a:bodyPr anchor="t"/>
          <a:lstStyle>
            <a:lvl1pPr algn="r">
              <a:lnSpc>
                <a:spcPct val="100000"/>
              </a:lnSpc>
              <a:spcAft>
                <a:spcPct val="20000"/>
              </a:spcAft>
              <a:defRPr sz="3600" b="1">
                <a:solidFill>
                  <a:schemeClr val="tx1"/>
                </a:solidFill>
                <a:latin typeface="Arial" pitchFamily="34" charset="0"/>
                <a:cs typeface="Arial" pitchFamily="34" charset="0"/>
              </a:defRPr>
            </a:lvl1pPr>
          </a:lstStyle>
          <a:p>
            <a:r>
              <a:rPr lang="en-US" altLang="en-US" smtClean="0"/>
              <a:t>Click to edit Master title style</a:t>
            </a:r>
            <a:endParaRPr lang="en-US" altLang="en-US" dirty="0"/>
          </a:p>
        </p:txBody>
      </p:sp>
      <p:sp>
        <p:nvSpPr>
          <p:cNvPr id="14" name="rec Background Gradient"/>
          <p:cNvSpPr/>
          <p:nvPr userDrawn="1"/>
        </p:nvSpPr>
        <p:spPr bwMode="auto">
          <a:xfrm>
            <a:off x="81938" y="0"/>
            <a:ext cx="9089231" cy="6858000"/>
          </a:xfrm>
          <a:prstGeom prst="rect">
            <a:avLst/>
          </a:prstGeom>
          <a:gradFill flip="none" rotWithShape="1">
            <a:gsLst>
              <a:gs pos="1000">
                <a:srgbClr val="04628C"/>
              </a:gs>
              <a:gs pos="99000">
                <a:srgbClr val="07A6ED"/>
              </a:gs>
            </a:gsLst>
            <a:lin ang="8100000" scaled="1"/>
            <a:tileRect/>
          </a:gradFill>
          <a:ln w="3175" cap="flat" cmpd="sng" algn="ctr">
            <a:noFill/>
            <a:prstDash val="solid"/>
            <a:round/>
            <a:headEnd type="none" w="med" len="med"/>
            <a:tailEnd type="none" w="med" len="med"/>
          </a:ln>
          <a:effectLst/>
        </p:spPr>
        <p:txBody>
          <a:bodyPr vert="horz" wrap="none" lIns="0" tIns="0" rIns="0" bIns="0" numCol="1" rtlCol="0" anchor="ctr" anchorCtr="0" compatLnSpc="1">
            <a:prstTxWarp prst="textNoShape">
              <a:avLst/>
            </a:prstTxWarp>
            <a:noAutofit/>
          </a:bodyPr>
          <a:lstStyle/>
          <a:p>
            <a:pPr marL="109538" marR="0" indent="-109538" algn="ctr" defTabSz="914400" rtl="0" eaLnBrk="1" fontAlgn="base" latinLnBrk="0" hangingPunct="1">
              <a:lnSpc>
                <a:spcPct val="100000"/>
              </a:lnSpc>
              <a:spcBef>
                <a:spcPct val="50000"/>
              </a:spcBef>
              <a:spcAft>
                <a:spcPct val="0"/>
              </a:spcAft>
              <a:buClr>
                <a:schemeClr val="tx2"/>
              </a:buClr>
              <a:buSzTx/>
              <a:buFont typeface="Arial" charset="0"/>
              <a:buNone/>
              <a:tabLst/>
            </a:pPr>
            <a:endParaRPr kumimoji="0" lang="en-US" sz="1600" b="0" i="0" u="none" strike="noStrike" cap="none" normalizeH="0" baseline="0" dirty="0" smtClean="0">
              <a:ln>
                <a:noFill/>
              </a:ln>
              <a:solidFill>
                <a:srgbClr val="333333"/>
              </a:solidFill>
              <a:effectLst/>
              <a:latin typeface="+mj-lt"/>
            </a:endParaRPr>
          </a:p>
        </p:txBody>
      </p:sp>
      <p:grpSp>
        <p:nvGrpSpPr>
          <p:cNvPr id="15" name="rec GW Sidebar"/>
          <p:cNvGrpSpPr/>
          <p:nvPr userDrawn="1"/>
        </p:nvGrpSpPr>
        <p:grpSpPr>
          <a:xfrm>
            <a:off x="0" y="0"/>
            <a:ext cx="109538" cy="6858000"/>
            <a:chOff x="0" y="0"/>
            <a:chExt cx="109538" cy="6858000"/>
          </a:xfrm>
        </p:grpSpPr>
        <p:sp>
          <p:nvSpPr>
            <p:cNvPr id="16"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1"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3"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9"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sp>
        <p:nvSpPr>
          <p:cNvPr id="30" name="txt Copyright 2001-2013"/>
          <p:cNvSpPr txBox="1"/>
          <p:nvPr userDrawn="1"/>
        </p:nvSpPr>
        <p:spPr>
          <a:xfrm>
            <a:off x="5410200" y="6553200"/>
            <a:ext cx="3409950" cy="184666"/>
          </a:xfrm>
          <a:prstGeom prst="rect">
            <a:avLst/>
          </a:prstGeom>
          <a:noFill/>
        </p:spPr>
        <p:txBody>
          <a:bodyPr wrap="square" lIns="0" tIns="0" rIns="0" bIns="0">
            <a:spAutoFit/>
          </a:bodyPr>
          <a:lstStyle/>
          <a:p>
            <a:pPr algn="r">
              <a:spcBef>
                <a:spcPts val="600"/>
              </a:spcBef>
              <a:buClr>
                <a:schemeClr val="tx2"/>
              </a:buClr>
              <a:buFont typeface="Arial" charset="0"/>
              <a:buNone/>
              <a:defRPr/>
            </a:pPr>
            <a:r>
              <a:rPr lang="en-US" sz="600" dirty="0">
                <a:solidFill>
                  <a:schemeClr val="tx1"/>
                </a:solidFill>
                <a:latin typeface="+mn-lt"/>
                <a:cs typeface="Arial" pitchFamily="34" charset="0"/>
              </a:rPr>
              <a:t>© Guidewire Software, Inc. </a:t>
            </a:r>
            <a:r>
              <a:rPr lang="en-US" sz="600" dirty="0" smtClean="0">
                <a:solidFill>
                  <a:schemeClr val="tx1"/>
                </a:solidFill>
                <a:latin typeface="+mn-lt"/>
                <a:cs typeface="Arial" pitchFamily="34" charset="0"/>
              </a:rPr>
              <a:t>2001-2014. All </a:t>
            </a:r>
            <a:r>
              <a:rPr lang="en-US" sz="600" dirty="0">
                <a:solidFill>
                  <a:schemeClr val="tx1"/>
                </a:solidFill>
                <a:latin typeface="+mn-lt"/>
                <a:cs typeface="Arial" pitchFamily="34" charset="0"/>
              </a:rPr>
              <a:t>rights reserved</a:t>
            </a:r>
            <a:r>
              <a:rPr lang="en-US" sz="600" dirty="0" smtClean="0">
                <a:solidFill>
                  <a:schemeClr val="tx1"/>
                </a:solidFill>
                <a:latin typeface="+mn-lt"/>
                <a:cs typeface="Arial" pitchFamily="34" charset="0"/>
              </a:rPr>
              <a:t>.</a:t>
            </a:r>
            <a:br>
              <a:rPr lang="en-US" sz="600" dirty="0" smtClean="0">
                <a:solidFill>
                  <a:schemeClr val="tx1"/>
                </a:solidFill>
                <a:latin typeface="+mn-lt"/>
                <a:cs typeface="Arial" pitchFamily="34" charset="0"/>
              </a:rPr>
            </a:br>
            <a:r>
              <a:rPr lang="en-US" sz="600" dirty="0" smtClean="0">
                <a:solidFill>
                  <a:schemeClr val="tx1"/>
                </a:solidFill>
                <a:latin typeface="+mn-lt"/>
                <a:cs typeface="Arial" pitchFamily="34" charset="0"/>
              </a:rPr>
              <a:t>Do </a:t>
            </a:r>
            <a:r>
              <a:rPr lang="en-US" sz="600" dirty="0">
                <a:solidFill>
                  <a:schemeClr val="tx1"/>
                </a:solidFill>
                <a:latin typeface="+mn-lt"/>
                <a:cs typeface="Arial" pitchFamily="34" charset="0"/>
              </a:rPr>
              <a:t>not distribute without </a:t>
            </a:r>
            <a:r>
              <a:rPr lang="en-US" sz="600" dirty="0" smtClean="0">
                <a:solidFill>
                  <a:schemeClr val="tx1"/>
                </a:solidFill>
                <a:latin typeface="+mn-lt"/>
                <a:cs typeface="Arial" pitchFamily="34" charset="0"/>
              </a:rPr>
              <a:t>permission.</a:t>
            </a:r>
            <a:endParaRPr lang="en-US" sz="600" dirty="0">
              <a:solidFill>
                <a:schemeClr val="tx1"/>
              </a:solidFill>
              <a:latin typeface="+mn-lt"/>
              <a:cs typeface="Arial" pitchFamily="34" charset="0"/>
            </a:endParaRPr>
          </a:p>
        </p:txBody>
      </p:sp>
      <p:pic>
        <p:nvPicPr>
          <p:cNvPr id="31" name="pic Logo 2013 small" descr="Guidewire_logo+tagline_white.png"/>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466344" y="5998464"/>
            <a:ext cx="1819311" cy="521208"/>
          </a:xfrm>
          <a:prstGeom prst="rect">
            <a:avLst/>
          </a:prstGeom>
        </p:spPr>
      </p:pic>
    </p:spTree>
    <p:extLst>
      <p:ext uri="{BB962C8B-B14F-4D97-AF65-F5344CB8AC3E}">
        <p14:creationId xmlns:p14="http://schemas.microsoft.com/office/powerpoint/2010/main" val="2625288171"/>
      </p:ext>
    </p:extLst>
  </p:cSld>
  <p:clrMapOvr>
    <a:masterClrMapping/>
  </p:clrMapOvr>
  <p:transition/>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48485534"/>
      </p:ext>
    </p:extLst>
  </p:cSld>
  <p:clrMapOvr>
    <a:masterClrMapping/>
  </p:clrMapOvr>
  <p:transition/>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SubTitle and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18872"/>
            <a:ext cx="832104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5" name="txt SubTitle"/>
          <p:cNvSpPr>
            <a:spLocks noGrp="1"/>
          </p:cNvSpPr>
          <p:nvPr>
            <p:ph type="body" sz="quarter" idx="10"/>
          </p:nvPr>
        </p:nvSpPr>
        <p:spPr>
          <a:xfrm>
            <a:off x="493776" y="486102"/>
            <a:ext cx="8321040" cy="381000"/>
          </a:xfrm>
        </p:spPr>
        <p:txBody>
          <a:bodyPr/>
          <a:lstStyle>
            <a:lvl1pPr marL="0" indent="0">
              <a:buNone/>
              <a:defRPr lang="en-US" sz="2800" b="1" dirty="0">
                <a:solidFill>
                  <a:srgbClr val="04628C"/>
                </a:solidFill>
                <a:latin typeface="+mj-lt"/>
                <a:ea typeface="Arial" pitchFamily="34" charset="0"/>
                <a:cs typeface="Arial" pitchFamily="34" charset="0"/>
              </a:defRPr>
            </a:lvl1pPr>
          </a:lstStyle>
          <a:p>
            <a:pPr lvl="0"/>
            <a:r>
              <a:rPr lang="en-US" smtClean="0"/>
              <a:t>Click to edit Master text styles</a:t>
            </a:r>
          </a:p>
        </p:txBody>
      </p:sp>
      <p:sp>
        <p:nvSpPr>
          <p:cNvPr id="3" name="txt Content"/>
          <p:cNvSpPr>
            <a:spLocks noGrp="1"/>
          </p:cNvSpPr>
          <p:nvPr>
            <p:ph idx="1"/>
          </p:nvPr>
        </p:nvSpPr>
        <p:spPr>
          <a:xfrm>
            <a:off x="521208" y="914400"/>
            <a:ext cx="8321040" cy="54864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18696925"/>
      </p:ext>
    </p:extLst>
  </p:cSld>
  <p:clrMapOvr>
    <a:masterClrMapping/>
  </p:clrMapOvr>
  <p:transition/>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399"/>
            <a:ext cx="408305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4754563" y="914399"/>
            <a:ext cx="408305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470386826"/>
      </p:ext>
    </p:extLst>
  </p:cSld>
  <p:clrMapOvr>
    <a:masterClrMapping/>
  </p:clrMapOvr>
  <p:transition/>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wo Column SubTitles">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lvl1pPr>
          </a:lstStyle>
          <a:p>
            <a:r>
              <a:rPr lang="en-US" altLang="en-US" dirty="0" smtClean="0"/>
              <a:t>Click to edit Left Column Subtitle</a:t>
            </a:r>
            <a:endParaRPr lang="en-US" altLang="en-US" dirty="0"/>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Lef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044806687"/>
      </p:ext>
    </p:extLst>
  </p:cSld>
  <p:clrMapOvr>
    <a:masterClrMapping/>
  </p:clrMapOvr>
  <p:transition/>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hree Column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cs typeface="Arial" pitchFamily="34" charset="0"/>
              </a:defRPr>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399"/>
            <a:ext cx="2651760" cy="54864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914399"/>
            <a:ext cx="265176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30886176"/>
      </p:ext>
    </p:extLst>
  </p:cSld>
  <p:clrMapOvr>
    <a:masterClrMapping/>
  </p:clrMapOvr>
  <p:transition/>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hree Columns SubTitles">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Center Col Content"/>
          <p:cNvSpPr>
            <a:spLocks noGrp="1"/>
          </p:cNvSpPr>
          <p:nvPr>
            <p:ph sz="half" idx="10"/>
          </p:nvPr>
        </p:nvSpPr>
        <p:spPr>
          <a:xfrm>
            <a:off x="33528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13" name="txt Center Col SubTitle"/>
          <p:cNvSpPr>
            <a:spLocks noGrp="1"/>
          </p:cNvSpPr>
          <p:nvPr>
            <p:ph type="body" sz="quarter" idx="12" hasCustomPrompt="1"/>
          </p:nvPr>
        </p:nvSpPr>
        <p:spPr>
          <a:xfrm>
            <a:off x="3355848"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Center Column Subtitle</a:t>
            </a:r>
            <a:endParaRPr lang="en-US" altLang="en-US" dirty="0"/>
          </a:p>
        </p:txBody>
      </p:sp>
      <p:sp>
        <p:nvSpPr>
          <p:cNvPr id="15" name="txt Right Col SubTitle"/>
          <p:cNvSpPr>
            <a:spLocks noGrp="1"/>
          </p:cNvSpPr>
          <p:nvPr>
            <p:ph type="body" sz="quarter" idx="13" hasCustomPrompt="1"/>
          </p:nvPr>
        </p:nvSpPr>
        <p:spPr>
          <a:xfrm>
            <a:off x="6172200" y="914400"/>
            <a:ext cx="2651760" cy="841248"/>
          </a:xfrm>
        </p:spPr>
        <p:txBody>
          <a:bodyPr/>
          <a:lstStyle>
            <a:lvl1pPr marL="0" indent="0">
              <a:buNone/>
              <a:defRPr>
                <a:solidFill>
                  <a:schemeClr val="bg1"/>
                </a:solidFill>
              </a:defRPr>
            </a:lvl1pPr>
            <a:lvl2pPr marL="400050" indent="0">
              <a:buNone/>
              <a:defRPr/>
            </a:lvl2pPr>
            <a:lvl3pPr marL="742950" indent="0">
              <a:buNone/>
              <a:defRPr/>
            </a:lvl3pPr>
            <a:lvl4pPr marL="1084263" indent="0">
              <a:buNone/>
              <a:defRPr/>
            </a:lvl4pPr>
            <a:lvl5pPr marL="1716088" indent="0">
              <a:buNone/>
              <a:defRPr/>
            </a:lvl5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3581193381"/>
      </p:ext>
    </p:extLst>
  </p:cSld>
  <p:clrMapOvr>
    <a:masterClrMapping/>
  </p:clrMapOvr>
  <p:transition/>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itle and Bottom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54733541"/>
      </p:ext>
    </p:extLst>
  </p:cSld>
  <p:clrMapOvr>
    <a:masterClrMapping/>
  </p:clrMapOvr>
  <p:transition/>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itle Top And Bottom Content">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sz="3200">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36576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5" name="txt Top Content"/>
          <p:cNvSpPr>
            <a:spLocks noGrp="1"/>
          </p:cNvSpPr>
          <p:nvPr>
            <p:ph type="body" sz="quarter" idx="10"/>
          </p:nvPr>
        </p:nvSpPr>
        <p:spPr>
          <a:xfrm>
            <a:off x="521208" y="914400"/>
            <a:ext cx="8321040" cy="27432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168248584"/>
      </p:ext>
    </p:extLst>
  </p:cSld>
  <p:clrMapOvr>
    <a:masterClrMapping/>
  </p:clrMapOvr>
  <p:transition/>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Title and Top Content">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solidFill>
                  <a:srgbClr val="04628C"/>
                </a:solidFill>
                <a:latin typeface="+mj-lt"/>
                <a:cs typeface="Calibri"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61761630"/>
      </p:ext>
    </p:extLst>
  </p:cSld>
  <p:clrMapOvr>
    <a:masterClrMapping/>
  </p:clrMapOvr>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Title and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04636995"/>
      </p:ext>
    </p:extLst>
  </p:cSld>
  <p:clrMapOvr>
    <a:masterClrMapping/>
  </p:clrMapOvr>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itle Top Middle Bottom">
    <p:spTree>
      <p:nvGrpSpPr>
        <p:cNvPr id="1" name=""/>
        <p:cNvGrpSpPr/>
        <p:nvPr/>
      </p:nvGrpSpPr>
      <p:grpSpPr>
        <a:xfrm>
          <a:off x="0" y="0"/>
          <a:ext cx="0" cy="0"/>
          <a:chOff x="0" y="0"/>
          <a:chExt cx="0" cy="0"/>
        </a:xfrm>
      </p:grpSpPr>
      <p:sp>
        <p:nvSpPr>
          <p:cNvPr id="2" name="txt Title"/>
          <p:cNvSpPr>
            <a:spLocks noGrp="1"/>
          </p:cNvSpPr>
          <p:nvPr>
            <p:ph type="title"/>
          </p:nvPr>
        </p:nvSpPr>
        <p:spPr>
          <a:xfrm>
            <a:off x="493776" y="120650"/>
            <a:ext cx="8318500" cy="742951"/>
          </a:xfrm>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5" name="txt Top Content"/>
          <p:cNvSpPr>
            <a:spLocks noGrp="1"/>
          </p:cNvSpPr>
          <p:nvPr>
            <p:ph type="body" sz="quarter" idx="10"/>
          </p:nvPr>
        </p:nvSpPr>
        <p:spPr>
          <a:xfrm>
            <a:off x="521208" y="914400"/>
            <a:ext cx="8321040" cy="1828800"/>
          </a:xfrm>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txt Middle Content"/>
          <p:cNvSpPr>
            <a:spLocks noGrp="1"/>
          </p:cNvSpPr>
          <p:nvPr>
            <p:ph idx="11"/>
          </p:nvPr>
        </p:nvSpPr>
        <p:spPr>
          <a:xfrm>
            <a:off x="520700" y="27432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3" name="txt Bottom Content"/>
          <p:cNvSpPr>
            <a:spLocks noGrp="1"/>
          </p:cNvSpPr>
          <p:nvPr>
            <p:ph idx="1"/>
          </p:nvPr>
        </p:nvSpPr>
        <p:spPr>
          <a:xfrm>
            <a:off x="519113" y="45720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683751491"/>
      </p:ext>
    </p:extLst>
  </p:cSld>
  <p:clrMapOvr>
    <a:masterClrMapping/>
  </p:clrMapOvr>
  <p:transition/>
  <p:timing>
    <p:tnLst>
      <p:par>
        <p:cTn id="1" dur="indefinite" restart="never" nodeType="tmRoot"/>
      </p:par>
    </p:tnLst>
  </p:timing>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a:solidFill>
                  <a:srgbClr val="04628C"/>
                </a:solidFill>
                <a:latin typeface="+mj-lt"/>
                <a:cs typeface="Arial" pitchFamily="34" charset="0"/>
              </a:defRPr>
            </a:lvl1pPr>
          </a:lstStyle>
          <a:p>
            <a:r>
              <a:rPr lang="en-US" smtClean="0"/>
              <a:t>Click to edit Master title style</a:t>
            </a:r>
            <a:endParaRPr lang="en-US" dirty="0"/>
          </a:p>
        </p:txBody>
      </p:sp>
      <p:sp>
        <p:nvSpPr>
          <p:cNvPr id="3" name="txt Top Content"/>
          <p:cNvSpPr>
            <a:spLocks noGrp="1"/>
          </p:cNvSpPr>
          <p:nvPr>
            <p:ph idx="1"/>
          </p:nvPr>
        </p:nvSpPr>
        <p:spPr>
          <a:xfrm>
            <a:off x="519113" y="914400"/>
            <a:ext cx="831850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165869696"/>
      </p:ext>
    </p:extLst>
  </p:cSld>
  <p:clrMapOvr>
    <a:masterClrMapping/>
  </p:clrMapOvr>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Lef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1"/>
            <a:ext cx="2651760" cy="54752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353529206"/>
      </p:ext>
    </p:extLst>
  </p:cSld>
  <p:clrMapOvr>
    <a:masterClrMapping/>
  </p:clrMapOvr>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ef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1752601"/>
            <a:ext cx="2651760" cy="4637089"/>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8" name="txt Left Col SubTitle"/>
          <p:cNvSpPr>
            <a:spLocks noGrp="1" noChangeArrowheads="1"/>
          </p:cNvSpPr>
          <p:nvPr>
            <p:ph type="subTitle" idx="11" hasCustomPrompt="1"/>
          </p:nvPr>
        </p:nvSpPr>
        <p:spPr>
          <a:xfrm>
            <a:off x="521208"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Tree>
    <p:extLst>
      <p:ext uri="{BB962C8B-B14F-4D97-AF65-F5344CB8AC3E}">
        <p14:creationId xmlns:p14="http://schemas.microsoft.com/office/powerpoint/2010/main" val="1366646524"/>
      </p:ext>
    </p:extLst>
  </p:cSld>
  <p:clrMapOvr>
    <a:masterClrMapping/>
  </p:clrMapOvr>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Lef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3" y="914401"/>
            <a:ext cx="4083050" cy="5475289"/>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132715863"/>
      </p:ext>
    </p:extLst>
  </p:cSld>
  <p:clrMapOvr>
    <a:masterClrMapping/>
  </p:clrMapOvr>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ef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dirty="0"/>
          </a:p>
        </p:txBody>
      </p:sp>
      <p:sp>
        <p:nvSpPr>
          <p:cNvPr id="5" name="txt Left Col SubTitle"/>
          <p:cNvSpPr>
            <a:spLocks noGrp="1" noChangeArrowheads="1"/>
          </p:cNvSpPr>
          <p:nvPr>
            <p:ph type="subTitle" idx="10" hasCustomPrompt="1"/>
          </p:nvPr>
        </p:nvSpPr>
        <p:spPr>
          <a:xfrm>
            <a:off x="521208" y="914400"/>
            <a:ext cx="4087368"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Left Column Subtitle</a:t>
            </a:r>
            <a:endParaRPr lang="en-US" altLang="en-US" dirty="0"/>
          </a:p>
        </p:txBody>
      </p:sp>
      <p:sp>
        <p:nvSpPr>
          <p:cNvPr id="3" name="txt Right Col Content"/>
          <p:cNvSpPr>
            <a:spLocks noGrp="1"/>
          </p:cNvSpPr>
          <p:nvPr>
            <p:ph sz="half" idx="1"/>
          </p:nvPr>
        </p:nvSpPr>
        <p:spPr>
          <a:xfrm>
            <a:off x="519113" y="1752600"/>
            <a:ext cx="4083050" cy="4637088"/>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487866613"/>
      </p:ext>
    </p:extLst>
  </p:cSld>
  <p:clrMapOvr>
    <a:masterClrMapping/>
  </p:clrMapOvr>
  <p:transition/>
  <p:timing>
    <p:tnLst>
      <p:par>
        <p:cTn id="1" dur="indefinite" restart="never" nodeType="tmRoot"/>
      </p:par>
    </p:tn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Lef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1" y="914399"/>
            <a:ext cx="5532120" cy="54864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597061337"/>
      </p:ext>
    </p:extLst>
  </p:cSld>
  <p:clrMapOvr>
    <a:masterClrMapping/>
  </p:clrMapOvr>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744722577"/>
      </p:ext>
    </p:extLst>
  </p:cSld>
  <p:clrMapOvr>
    <a:masterClrMapping/>
  </p:clrMapOvr>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Right Small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1"/>
            <a:ext cx="265176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313684978"/>
      </p:ext>
    </p:extLst>
  </p:cSld>
  <p:clrMapOvr>
    <a:masterClrMapping/>
  </p:clrMapOvr>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Right Small Column SubTitle">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1752601"/>
            <a:ext cx="2651760" cy="46370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11" name="txt Right Col SubTitle"/>
          <p:cNvSpPr>
            <a:spLocks noGrp="1" noChangeArrowheads="1"/>
          </p:cNvSpPr>
          <p:nvPr>
            <p:ph type="subTitle" idx="11" hasCustomPrompt="1"/>
          </p:nvPr>
        </p:nvSpPr>
        <p:spPr>
          <a:xfrm>
            <a:off x="6172200" y="914400"/>
            <a:ext cx="2651760" cy="838200"/>
          </a:xfrm>
          <a:ln algn="ctr"/>
        </p:spPr>
        <p:txBody>
          <a:bodyPr/>
          <a:lstStyle>
            <a:lvl1pPr marL="0" indent="0">
              <a:buClr>
                <a:srgbClr val="800000"/>
              </a:buClr>
              <a:buFont typeface="Wingdings 3" pitchFamily="18" charset="2"/>
              <a:buNone/>
              <a:defRPr sz="2400" baseline="0">
                <a:solidFill>
                  <a:schemeClr val="bg1"/>
                </a:solidFill>
              </a:defRPr>
            </a:lvl1pPr>
          </a:lstStyle>
          <a:p>
            <a:r>
              <a:rPr lang="en-US" altLang="en-US" dirty="0" smtClean="0"/>
              <a:t>Click to edit Right Column Subtitle</a:t>
            </a:r>
            <a:endParaRPr lang="en-US" altLang="en-US" dirty="0"/>
          </a:p>
        </p:txBody>
      </p:sp>
    </p:spTree>
    <p:extLst>
      <p:ext uri="{BB962C8B-B14F-4D97-AF65-F5344CB8AC3E}">
        <p14:creationId xmlns:p14="http://schemas.microsoft.com/office/powerpoint/2010/main" val="4276675117"/>
      </p:ext>
    </p:extLst>
  </p:cSld>
  <p:clrMapOvr>
    <a:masterClrMapping/>
  </p:clrMapOvr>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Right Half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4754563" y="914401"/>
            <a:ext cx="4083050" cy="5475289"/>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037283543"/>
      </p:ext>
    </p:extLst>
  </p:cSld>
  <p:clrMapOvr>
    <a:masterClrMapping/>
  </p:clrMapOvr>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Right Half Column SubTitle">
    <p:spTree>
      <p:nvGrpSpPr>
        <p:cNvPr id="1" name=""/>
        <p:cNvGrpSpPr/>
        <p:nvPr/>
      </p:nvGrpSpPr>
      <p:grpSpPr>
        <a:xfrm>
          <a:off x="0" y="0"/>
          <a:ext cx="0" cy="0"/>
          <a:chOff x="0" y="0"/>
          <a:chExt cx="0" cy="0"/>
        </a:xfrm>
      </p:grpSpPr>
      <p:sp>
        <p:nvSpPr>
          <p:cNvPr id="11" name="txt Title"/>
          <p:cNvSpPr>
            <a:spLocks noGrp="1"/>
          </p:cNvSpPr>
          <p:nvPr>
            <p:ph type="title"/>
          </p:nvPr>
        </p:nvSpPr>
        <p:spPr/>
        <p:txBody>
          <a:bodyPr/>
          <a:lstStyle/>
          <a:p>
            <a:r>
              <a:rPr lang="en-US" smtClean="0"/>
              <a:t>Click to edit Master title style</a:t>
            </a:r>
            <a:endParaRPr lang="en-US"/>
          </a:p>
        </p:txBody>
      </p:sp>
      <p:sp>
        <p:nvSpPr>
          <p:cNvPr id="8" name="txt Right Col SubTitle"/>
          <p:cNvSpPr>
            <a:spLocks noGrp="1"/>
          </p:cNvSpPr>
          <p:nvPr>
            <p:ph type="body" sz="quarter" idx="11" hasCustomPrompt="1"/>
          </p:nvPr>
        </p:nvSpPr>
        <p:spPr>
          <a:xfrm>
            <a:off x="4754880" y="914400"/>
            <a:ext cx="4087368" cy="838200"/>
          </a:xfrm>
        </p:spPr>
        <p:txBody>
          <a:bodyPr/>
          <a:lstStyle>
            <a:lvl1pPr marL="0" indent="0">
              <a:buFontTx/>
              <a:buNone/>
              <a:defRPr/>
            </a:lvl1pPr>
          </a:lstStyle>
          <a:p>
            <a:r>
              <a:rPr lang="en-US" altLang="en-US" dirty="0" smtClean="0"/>
              <a:t>Click to edit Right Column Subtitle</a:t>
            </a:r>
            <a:endParaRPr lang="en-US" altLang="en-US" dirty="0"/>
          </a:p>
        </p:txBody>
      </p:sp>
      <p:sp>
        <p:nvSpPr>
          <p:cNvPr id="4" name="txt Right Col Content"/>
          <p:cNvSpPr>
            <a:spLocks noGrp="1"/>
          </p:cNvSpPr>
          <p:nvPr>
            <p:ph sz="half" idx="2"/>
          </p:nvPr>
        </p:nvSpPr>
        <p:spPr>
          <a:xfrm>
            <a:off x="4754563" y="1752600"/>
            <a:ext cx="4083050" cy="4637088"/>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67609076"/>
      </p:ext>
    </p:extLst>
  </p:cSld>
  <p:clrMapOvr>
    <a:masterClrMapping/>
  </p:clrMapOvr>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Right Big Column">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3305175" y="914400"/>
            <a:ext cx="5532120" cy="54864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latin typeface="+mn-lt"/>
              </a:defRPr>
            </a:lvl2pPr>
            <a:lvl3pPr>
              <a:buClr>
                <a:srgbClr val="04628C"/>
              </a:buClr>
              <a:buFont typeface="Arial" pitchFamily="34" charset="0"/>
              <a:buChar char="-"/>
              <a:defRPr sz="1800">
                <a:latin typeface="+mn-lt"/>
              </a:defRPr>
            </a:lvl3pPr>
            <a:lvl4pPr>
              <a:buClr>
                <a:srgbClr val="04628C"/>
              </a:buClr>
              <a:buFont typeface="Arial" pitchFamily="34" charset="0"/>
              <a:buChar char="-"/>
              <a:defRPr sz="1600">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272425577"/>
      </p:ext>
    </p:extLst>
  </p:cSld>
  <p:clrMapOvr>
    <a:masterClrMapping/>
  </p:clrMapOvr>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Notes Only">
    <p:spTree>
      <p:nvGrpSpPr>
        <p:cNvPr id="1" name=""/>
        <p:cNvGrpSpPr/>
        <p:nvPr/>
      </p:nvGrpSpPr>
      <p:grpSpPr>
        <a:xfrm>
          <a:off x="0" y="0"/>
          <a:ext cx="0" cy="0"/>
          <a:chOff x="0" y="0"/>
          <a:chExt cx="0" cy="0"/>
        </a:xfrm>
      </p:grpSpPr>
      <p:sp>
        <p:nvSpPr>
          <p:cNvPr id="4" name="txt Title Fixed NotesOnly"/>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
        <p:nvSpPr>
          <p:cNvPr id="3" name="txt Title Fixed NotesOnly"/>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solidFill>
                  <a:srgbClr val="CC0099"/>
                </a:solidFill>
                <a:latin typeface="+mj-lt"/>
                <a:cs typeface="Arial" pitchFamily="34" charset="0"/>
              </a:rPr>
              <a:t>(Notes only slide)</a:t>
            </a:r>
            <a:endParaRPr lang="en-US" sz="3200" dirty="0" smtClean="0">
              <a:latin typeface="+mj-lt"/>
              <a:cs typeface="Arial" pitchFamily="34" charset="0"/>
            </a:endParaRPr>
          </a:p>
        </p:txBody>
      </p:sp>
    </p:spTree>
    <p:extLst>
      <p:ext uri="{BB962C8B-B14F-4D97-AF65-F5344CB8AC3E}">
        <p14:creationId xmlns:p14="http://schemas.microsoft.com/office/powerpoint/2010/main" val="3199647868"/>
      </p:ext>
    </p:extLst>
  </p:cSld>
  <p:clrMapOvr>
    <a:masterClrMapping/>
  </p:clrMapOvr>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Lef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36576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1503653025"/>
      </p:ext>
    </p:extLst>
  </p:cSld>
  <p:clrMapOvr>
    <a:masterClrMapping/>
  </p:clrMapOvr>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Lef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9144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97130001"/>
      </p:ext>
    </p:extLst>
  </p:cSld>
  <p:clrMapOvr>
    <a:masterClrMapping/>
  </p:clrMapOvr>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ef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3657600"/>
            <a:ext cx="2651760" cy="2743200"/>
          </a:xfrm>
        </p:spPr>
        <p:txBody>
          <a:bodyPr/>
          <a:lstStyle>
            <a:lvl1pPr>
              <a:buSzPct val="90000"/>
              <a:buFont typeface="Arial" pitchFamily="34" charset="0"/>
              <a:buChar char="•"/>
              <a:defRPr sz="2400">
                <a:solidFill>
                  <a:schemeClr val="bg1"/>
                </a:solidFill>
              </a:defRPr>
            </a:lvl1pPr>
            <a:lvl2pPr>
              <a:buClr>
                <a:srgbClr val="04628C"/>
              </a:buClr>
              <a:buFont typeface="Arial" pitchFamily="34" charset="0"/>
              <a:buChar char="-"/>
              <a:defRPr sz="2000">
                <a:solidFill>
                  <a:schemeClr val="bg1"/>
                </a:solidFill>
              </a:defRPr>
            </a:lvl2pPr>
            <a:lvl3pPr>
              <a:buClr>
                <a:srgbClr val="04628C"/>
              </a:buClr>
              <a:buFont typeface="Arial" pitchFamily="34" charset="0"/>
              <a:buChar char="-"/>
              <a:defRPr sz="1800">
                <a:solidFill>
                  <a:schemeClr val="bg1"/>
                </a:solidFill>
              </a:defRPr>
            </a:lvl3pPr>
            <a:lvl4pPr>
              <a:buClr>
                <a:srgbClr val="04628C"/>
              </a:buClr>
              <a:buFont typeface="Arial" pitchFamily="34" charset="0"/>
              <a:buChar char="-"/>
              <a:defRPr sz="1600">
                <a:solidFill>
                  <a:schemeClr val="bg1"/>
                </a:solidFill>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2059471830"/>
      </p:ext>
    </p:extLst>
  </p:cSld>
  <p:clrMapOvr>
    <a:masterClrMapping/>
  </p:clrMapOvr>
  <p:transition/>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Lef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3" name="txt Left Col Content"/>
          <p:cNvSpPr>
            <a:spLocks noGrp="1"/>
          </p:cNvSpPr>
          <p:nvPr>
            <p:ph sz="half" idx="1"/>
          </p:nvPr>
        </p:nvSpPr>
        <p:spPr>
          <a:xfrm>
            <a:off x="519112" y="2743200"/>
            <a:ext cx="2651760" cy="3657600"/>
          </a:xfrm>
        </p:spPr>
        <p:txBody>
          <a:bodyPr/>
          <a:lstStyle>
            <a:lvl1pPr>
              <a:buSzPct val="90000"/>
              <a:buFont typeface="Arial" pitchFamily="34" charset="0"/>
              <a:buChar char="•"/>
              <a:defRPr sz="2400"/>
            </a:lvl1pPr>
            <a:lvl2pPr>
              <a:buClr>
                <a:srgbClr val="04628C"/>
              </a:buClr>
              <a:buFont typeface="Arial" pitchFamily="34" charset="0"/>
              <a:buChar char="-"/>
              <a:defRPr sz="2000"/>
            </a:lvl2pPr>
            <a:lvl3pPr>
              <a:buClr>
                <a:srgbClr val="04628C"/>
              </a:buClr>
              <a:buFont typeface="Arial" pitchFamily="34" charset="0"/>
              <a:buChar char="-"/>
              <a:defRPr sz="1800"/>
            </a:lvl3pPr>
            <a:lvl4pPr>
              <a:buClr>
                <a:srgbClr val="04628C"/>
              </a:buClr>
              <a:buFont typeface="Arial" pitchFamily="34" charset="0"/>
              <a:buChar char="-"/>
              <a:defRPr sz="1600"/>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4" name="txt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728369848"/>
      </p:ext>
    </p:extLst>
  </p:cSld>
  <p:clrMapOvr>
    <a:masterClrMapping/>
  </p:clrMapOvr>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Tree>
    <p:extLst>
      <p:ext uri="{BB962C8B-B14F-4D97-AF65-F5344CB8AC3E}">
        <p14:creationId xmlns:p14="http://schemas.microsoft.com/office/powerpoint/2010/main" val="1860621709"/>
      </p:ext>
    </p:extLst>
  </p:cSld>
  <p:clrMapOvr>
    <a:masterClrMapping/>
  </p:clrMapOvr>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3" name="txt Topic Content"/>
          <p:cNvSpPr>
            <a:spLocks noGrp="1"/>
          </p:cNvSpPr>
          <p:nvPr>
            <p:ph idx="1" hasCustomPrompt="1"/>
          </p:nvPr>
        </p:nvSpPr>
        <p:spPr>
          <a:xfrm>
            <a:off x="519113" y="914400"/>
            <a:ext cx="8318500" cy="5486400"/>
          </a:xfrm>
        </p:spPr>
        <p:txBody>
          <a:bodyPr/>
          <a:lstStyle>
            <a:lvl1pPr marL="285750" indent="-285750" algn="l" rtl="0" eaLnBrk="0" fontAlgn="base" hangingPunct="0">
              <a:lnSpc>
                <a:spcPct val="150000"/>
              </a:lnSpc>
              <a:spcBef>
                <a:spcPct val="40000"/>
              </a:spcBef>
              <a:spcAft>
                <a:spcPct val="0"/>
              </a:spcAft>
              <a:buClr>
                <a:srgbClr val="04628C"/>
              </a:buClr>
              <a:buSzPct val="90000"/>
              <a:buFont typeface="Arial" charset="0"/>
              <a:buChar char="•"/>
              <a:defRPr lang="en-US" sz="2800" baseline="0" dirty="0" smtClean="0">
                <a:solidFill>
                  <a:srgbClr val="C0C0C0"/>
                </a:solidFill>
                <a:latin typeface="+mn-lt"/>
                <a:ea typeface="Calibri" pitchFamily="34" charset="0"/>
                <a:cs typeface="Calibri" pitchFamily="34" charset="0"/>
              </a:defRPr>
            </a:lvl1pPr>
            <a:lvl2pPr marL="400050" indent="0">
              <a:buClr>
                <a:srgbClr val="04628C"/>
              </a:buClr>
              <a:buFontTx/>
              <a:buNone/>
              <a:defRPr/>
            </a:lvl2pPr>
            <a:lvl3pPr marL="742950" indent="0">
              <a:buClr>
                <a:srgbClr val="04628C"/>
              </a:buClr>
              <a:buFontTx/>
              <a:buNone/>
              <a:defRPr/>
            </a:lvl3pPr>
            <a:lvl4pPr marL="1084263" indent="0">
              <a:buClr>
                <a:srgbClr val="04628C"/>
              </a:buClr>
              <a:buFontTx/>
              <a:buNone/>
              <a:defRPr/>
            </a:lvl4pPr>
            <a:lvl5pPr>
              <a:buClr>
                <a:srgbClr val="04628C"/>
              </a:buClr>
              <a:buFont typeface="Calibri" pitchFamily="34" charset="0"/>
              <a:buChar char="-"/>
              <a:defRPr/>
            </a:lvl5pPr>
          </a:lstStyle>
          <a:p>
            <a:pPr lvl="0"/>
            <a:r>
              <a:rPr lang="en-US" dirty="0" smtClean="0"/>
              <a:t>Topic 01 (Current topic = black font color)</a:t>
            </a:r>
          </a:p>
          <a:p>
            <a:pPr lvl="0"/>
            <a:r>
              <a:rPr lang="en-US" dirty="0" smtClean="0"/>
              <a:t>Topic 02</a:t>
            </a:r>
          </a:p>
          <a:p>
            <a:pPr lvl="0"/>
            <a:r>
              <a:rPr lang="en-US" dirty="0" smtClean="0"/>
              <a:t>Topic 03</a:t>
            </a:r>
          </a:p>
          <a:p>
            <a:pPr lvl="0"/>
            <a:r>
              <a:rPr lang="en-US" dirty="0" smtClean="0"/>
              <a:t>Topic 04</a:t>
            </a:r>
          </a:p>
          <a:p>
            <a:pPr lvl="0"/>
            <a:endParaRPr lang="en-US" dirty="0" smtClean="0"/>
          </a:p>
        </p:txBody>
      </p:sp>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
        <p:nvSpPr>
          <p:cNvPr id="6"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outline</a:t>
            </a:r>
          </a:p>
        </p:txBody>
      </p:sp>
    </p:spTree>
    <p:extLst>
      <p:ext uri="{BB962C8B-B14F-4D97-AF65-F5344CB8AC3E}">
        <p14:creationId xmlns:p14="http://schemas.microsoft.com/office/powerpoint/2010/main" val="1370566639"/>
      </p:ext>
    </p:extLst>
  </p:cSld>
  <p:clrMapOvr>
    <a:masterClrMapping/>
  </p:clrMapOvr>
  <p:transition/>
  <p:timing>
    <p:tnLst>
      <p:par>
        <p:cTn id="1" dur="indefinite" restart="never" nodeType="tmRoot"/>
      </p:par>
    </p:tn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Right Small Column + Bottom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45720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409623783"/>
      </p:ext>
    </p:extLst>
  </p:cSld>
  <p:clrMapOvr>
    <a:masterClrMapping/>
  </p:clrMapOvr>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Right Small Column + Bottom">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vl1pPr>
          </a:lstStyle>
          <a:p>
            <a:r>
              <a:rPr lang="en-US" smtClean="0"/>
              <a:t>Click to edit Master title style</a:t>
            </a:r>
            <a:endParaRPr lang="en-US" dirty="0"/>
          </a:p>
        </p:txBody>
      </p:sp>
      <p:sp>
        <p:nvSpPr>
          <p:cNvPr id="4" name="txt Right Col Content"/>
          <p:cNvSpPr>
            <a:spLocks noGrp="1"/>
          </p:cNvSpPr>
          <p:nvPr>
            <p:ph sz="half" idx="2"/>
          </p:nvPr>
        </p:nvSpPr>
        <p:spPr>
          <a:xfrm>
            <a:off x="6172200" y="9144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t Bottom Content"/>
          <p:cNvSpPr>
            <a:spLocks noGrp="1"/>
          </p:cNvSpPr>
          <p:nvPr>
            <p:ph idx="10"/>
          </p:nvPr>
        </p:nvSpPr>
        <p:spPr>
          <a:xfrm>
            <a:off x="521208" y="36576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97995710"/>
      </p:ext>
    </p:extLst>
  </p:cSld>
  <p:clrMapOvr>
    <a:masterClrMapping/>
  </p:clrMapOvr>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Right Small Column + Top">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3657600"/>
            <a:ext cx="2651760" cy="27432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27432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840261398"/>
      </p:ext>
    </p:extLst>
  </p:cSld>
  <p:clrMapOvr>
    <a:masterClrMapping/>
  </p:clrMapOvr>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Right Small Column + Top 3rd">
    <p:spTree>
      <p:nvGrpSpPr>
        <p:cNvPr id="1" name=""/>
        <p:cNvGrpSpPr/>
        <p:nvPr/>
      </p:nvGrpSpPr>
      <p:grpSpPr>
        <a:xfrm>
          <a:off x="0" y="0"/>
          <a:ext cx="0" cy="0"/>
          <a:chOff x="0" y="0"/>
          <a:chExt cx="0" cy="0"/>
        </a:xfrm>
      </p:grpSpPr>
      <p:sp>
        <p:nvSpPr>
          <p:cNvPr id="2" name="txt Title"/>
          <p:cNvSpPr>
            <a:spLocks noGrp="1"/>
          </p:cNvSpPr>
          <p:nvPr>
            <p:ph type="title"/>
          </p:nvPr>
        </p:nvSpPr>
        <p:spPr/>
        <p:txBody>
          <a:bodyPr/>
          <a:lstStyle>
            <a:lvl1pPr>
              <a:defRPr sz="3200">
                <a:latin typeface="+mj-lt"/>
              </a:defRPr>
            </a:lvl1pPr>
          </a:lstStyle>
          <a:p>
            <a:r>
              <a:rPr lang="en-US" smtClean="0"/>
              <a:t>Click to edit Master title style</a:t>
            </a:r>
            <a:endParaRPr lang="en-US" dirty="0"/>
          </a:p>
        </p:txBody>
      </p:sp>
      <p:sp>
        <p:nvSpPr>
          <p:cNvPr id="4" name="txt Right Col Content"/>
          <p:cNvSpPr>
            <a:spLocks noGrp="1"/>
          </p:cNvSpPr>
          <p:nvPr>
            <p:ph sz="half" idx="2"/>
          </p:nvPr>
        </p:nvSpPr>
        <p:spPr>
          <a:xfrm>
            <a:off x="6172200" y="2743200"/>
            <a:ext cx="2651760" cy="3657600"/>
          </a:xfrm>
        </p:spPr>
        <p:txBody>
          <a:bodyPr/>
          <a:lstStyle>
            <a:lvl1pPr>
              <a:defRPr lang="en-US" sz="2400" dirty="0" smtClean="0">
                <a:solidFill>
                  <a:schemeClr val="bg1"/>
                </a:solidFill>
                <a:latin typeface="+mn-lt"/>
                <a:ea typeface="+mn-ea"/>
                <a:cs typeface="Calibri" pitchFamily="34" charset="0"/>
              </a:defRPr>
            </a:lvl1pPr>
            <a:lvl2pPr>
              <a:buClr>
                <a:srgbClr val="04628C"/>
              </a:buClr>
              <a:buFont typeface="Arial" pitchFamily="34" charset="0"/>
              <a:buChar char="-"/>
              <a:defRPr sz="2000">
                <a:solidFill>
                  <a:schemeClr val="bg1"/>
                </a:solidFill>
                <a:latin typeface="+mn-lt"/>
              </a:defRPr>
            </a:lvl2pPr>
            <a:lvl3pPr>
              <a:buClr>
                <a:srgbClr val="04628C"/>
              </a:buClr>
              <a:buFont typeface="Arial" pitchFamily="34" charset="0"/>
              <a:buChar char="-"/>
              <a:defRPr sz="1800">
                <a:solidFill>
                  <a:schemeClr val="bg1"/>
                </a:solidFill>
                <a:latin typeface="+mn-lt"/>
              </a:defRPr>
            </a:lvl3pPr>
            <a:lvl4pPr>
              <a:buClr>
                <a:srgbClr val="04628C"/>
              </a:buClr>
              <a:buFont typeface="Arial" pitchFamily="34" charset="0"/>
              <a:buChar char="-"/>
              <a:defRPr sz="1600">
                <a:solidFill>
                  <a:schemeClr val="bg1"/>
                </a:solidFill>
                <a:latin typeface="+mn-lt"/>
              </a:defRPr>
            </a:lvl4pPr>
            <a:lvl5pPr>
              <a:buClr>
                <a:srgbClr val="04628C"/>
              </a:buClr>
              <a:buFont typeface="Arial" pitchFamily="34" charset="0"/>
              <a:buChar cha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
        <p:nvSpPr>
          <p:cNvPr id="6" name="tx Top Content"/>
          <p:cNvSpPr>
            <a:spLocks noGrp="1"/>
          </p:cNvSpPr>
          <p:nvPr>
            <p:ph idx="10"/>
          </p:nvPr>
        </p:nvSpPr>
        <p:spPr>
          <a:xfrm>
            <a:off x="521208" y="914400"/>
            <a:ext cx="8321040" cy="1828800"/>
          </a:xfrm>
        </p:spPr>
        <p:txBody>
          <a:bodyPr/>
          <a:lstStyle>
            <a:lvl1pPr>
              <a:buClr>
                <a:srgbClr val="04628C"/>
              </a:buClr>
              <a:buSzPct val="90000"/>
              <a:buFont typeface="Arial" pitchFamily="34" charset="0"/>
              <a:buChar char="•"/>
              <a:defRPr>
                <a:solidFill>
                  <a:schemeClr val="bg1"/>
                </a:solidFill>
              </a:defRPr>
            </a:lvl1pPr>
            <a:lvl2pPr>
              <a:buClr>
                <a:srgbClr val="04628C"/>
              </a:buClr>
              <a:buFont typeface="Calibri" pitchFamily="34" charset="0"/>
              <a:buChar char="-"/>
              <a:defRPr>
                <a:solidFill>
                  <a:schemeClr val="bg1"/>
                </a:solidFill>
              </a:defRPr>
            </a:lvl2pPr>
            <a:lvl3pPr>
              <a:buClr>
                <a:srgbClr val="04628C"/>
              </a:buClr>
              <a:buFont typeface="Calibri" pitchFamily="34" charset="0"/>
              <a:buChar char="-"/>
              <a:defRPr>
                <a:solidFill>
                  <a:schemeClr val="bg1"/>
                </a:solidFill>
              </a:defRPr>
            </a:lvl3pPr>
            <a:lvl4pPr>
              <a:buClr>
                <a:srgbClr val="04628C"/>
              </a:buClr>
              <a:buFont typeface="Calibri" pitchFamily="34" charset="0"/>
              <a:buChar char="-"/>
              <a:defRPr>
                <a:solidFill>
                  <a:schemeClr val="bg1"/>
                </a:solidFill>
              </a:defRPr>
            </a:lvl4pPr>
            <a:lvl5pPr>
              <a:buClr>
                <a:srgbClr val="04628C"/>
              </a:buClr>
              <a:buFont typeface="Calibri" pitchFamily="34" charset="0"/>
              <a:buChar char="-"/>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p:txBody>
      </p:sp>
    </p:spTree>
    <p:extLst>
      <p:ext uri="{BB962C8B-B14F-4D97-AF65-F5344CB8AC3E}">
        <p14:creationId xmlns:p14="http://schemas.microsoft.com/office/powerpoint/2010/main" val="3513376759"/>
      </p:ext>
    </p:extLst>
  </p:cSld>
  <p:clrMapOvr>
    <a:masterClrMapping/>
  </p:clrMapOvr>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Lesson Objectives">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a:t>
            </a:r>
          </a:p>
        </p:txBody>
      </p:sp>
      <p:sp>
        <p:nvSpPr>
          <p:cNvPr id="5" name="txt Print Instructions Fixed"/>
          <p:cNvSpPr>
            <a:spLocks noChangeArrowheads="1"/>
          </p:cNvSpPr>
          <p:nvPr/>
        </p:nvSpPr>
        <p:spPr bwMode="auto">
          <a:xfrm>
            <a:off x="533400" y="5791200"/>
            <a:ext cx="8305800" cy="9971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square" lIns="0" tIns="0" rIns="0" bIns="0">
            <a:spAutoFit/>
          </a:bodyPr>
          <a:lstStyle/>
          <a:p>
            <a:pPr marL="0" lvl="1" indent="0">
              <a:spcBef>
                <a:spcPct val="20000"/>
              </a:spcBef>
              <a:buSzPct val="90000"/>
              <a:buFont typeface="Wingdings 2" pitchFamily="18" charset="2"/>
              <a:buNone/>
            </a:pPr>
            <a:r>
              <a:rPr lang="en-US" sz="1600" b="0" dirty="0" smtClean="0">
                <a:solidFill>
                  <a:schemeClr val="accent1"/>
                </a:solidFill>
              </a:rPr>
              <a:t>This lesson uses the notes section for </a:t>
            </a:r>
            <a:r>
              <a:rPr lang="en-US" sz="1600" b="0" dirty="0">
                <a:solidFill>
                  <a:schemeClr val="accent1"/>
                </a:solidFill>
              </a:rPr>
              <a:t>additional explanation and </a:t>
            </a:r>
            <a:r>
              <a:rPr lang="en-US" sz="1600" b="0" dirty="0" smtClean="0">
                <a:solidFill>
                  <a:schemeClr val="accent1"/>
                </a:solidFill>
              </a:rPr>
              <a:t>information.</a:t>
            </a:r>
            <a:r>
              <a:rPr lang="en-US" sz="1600" dirty="0" smtClean="0">
                <a:solidFill>
                  <a:schemeClr val="accent1"/>
                </a:solidFill>
              </a:rPr>
              <a:t> </a:t>
            </a:r>
            <a:br>
              <a:rPr lang="en-US" sz="1600" dirty="0" smtClean="0">
                <a:solidFill>
                  <a:schemeClr val="accent1"/>
                </a:solidFill>
              </a:rPr>
            </a:br>
            <a:r>
              <a:rPr lang="en-US" sz="1600" b="0" dirty="0" smtClean="0">
                <a:solidFill>
                  <a:schemeClr val="accent1"/>
                </a:solidFill>
              </a:rPr>
              <a:t>To </a:t>
            </a:r>
            <a:r>
              <a:rPr lang="en-US" sz="1600" b="0" dirty="0">
                <a:solidFill>
                  <a:schemeClr val="accent1"/>
                </a:solidFill>
              </a:rPr>
              <a:t>view the notes in PowerPoint, </a:t>
            </a:r>
            <a:r>
              <a:rPr lang="en-US" sz="1600" b="0" dirty="0" smtClean="0">
                <a:solidFill>
                  <a:schemeClr val="accent1"/>
                </a:solidFill>
              </a:rPr>
              <a:t>select View </a:t>
            </a:r>
            <a:r>
              <a:rPr lang="en-US" sz="1600" b="0" dirty="0" smtClean="0">
                <a:solidFill>
                  <a:schemeClr val="accent1"/>
                </a:solidFill>
                <a:sym typeface="Wingdings" pitchFamily="2" charset="2"/>
              </a:rPr>
              <a:t> Normal </a:t>
            </a:r>
            <a:r>
              <a:rPr lang="en-US" sz="1600" b="0" dirty="0">
                <a:solidFill>
                  <a:schemeClr val="accent1"/>
                </a:solidFill>
                <a:sym typeface="Wingdings" pitchFamily="2" charset="2"/>
              </a:rPr>
              <a:t>or </a:t>
            </a:r>
            <a:r>
              <a:rPr lang="en-US" sz="1600" b="0" dirty="0" smtClean="0">
                <a:solidFill>
                  <a:schemeClr val="accent1"/>
                </a:solidFill>
              </a:rPr>
              <a:t>View </a:t>
            </a:r>
            <a:r>
              <a:rPr lang="en-US" sz="1600" b="0" dirty="0" smtClean="0">
                <a:solidFill>
                  <a:schemeClr val="accent1"/>
                </a:solidFill>
                <a:sym typeface="Wingdings" pitchFamily="2" charset="2"/>
              </a:rPr>
              <a:t> </a:t>
            </a:r>
            <a:r>
              <a:rPr lang="en-US" sz="1600" b="0" dirty="0" smtClean="0">
                <a:solidFill>
                  <a:schemeClr val="accent1"/>
                </a:solidFill>
              </a:rPr>
              <a:t>Notes </a:t>
            </a:r>
            <a:r>
              <a:rPr lang="en-US" sz="1600" b="0" dirty="0">
                <a:solidFill>
                  <a:schemeClr val="accent1"/>
                </a:solidFill>
              </a:rPr>
              <a:t>Page</a:t>
            </a:r>
            <a:r>
              <a:rPr lang="en-US" sz="1600" b="0" dirty="0" smtClean="0">
                <a:solidFill>
                  <a:schemeClr val="accent1"/>
                </a:solidFill>
              </a:rPr>
              <a:t>. </a:t>
            </a:r>
            <a:br>
              <a:rPr lang="en-US" sz="1600" b="0" dirty="0" smtClean="0">
                <a:solidFill>
                  <a:schemeClr val="accent1"/>
                </a:solidFill>
              </a:rPr>
            </a:br>
            <a:r>
              <a:rPr lang="en-US" sz="1600" b="0" dirty="0" smtClean="0">
                <a:solidFill>
                  <a:schemeClr val="accent1"/>
                </a:solidFill>
              </a:rPr>
              <a:t>When printing </a:t>
            </a:r>
            <a:r>
              <a:rPr lang="en-US" sz="1600" dirty="0" smtClean="0">
                <a:solidFill>
                  <a:schemeClr val="accent1"/>
                </a:solidFill>
              </a:rPr>
              <a:t>notes, select Note Pages and</a:t>
            </a:r>
            <a:r>
              <a:rPr lang="en-US" sz="1600" baseline="0" dirty="0" smtClean="0">
                <a:solidFill>
                  <a:schemeClr val="accent1"/>
                </a:solidFill>
              </a:rPr>
              <a:t> </a:t>
            </a:r>
            <a:r>
              <a:rPr lang="en-US" sz="1600" b="0" dirty="0" smtClean="0">
                <a:solidFill>
                  <a:schemeClr val="accent1"/>
                </a:solidFill>
              </a:rPr>
              <a:t>Print </a:t>
            </a:r>
            <a:r>
              <a:rPr lang="en-US" sz="1600" b="0" dirty="0">
                <a:solidFill>
                  <a:schemeClr val="accent1"/>
                </a:solidFill>
              </a:rPr>
              <a:t>hidden slides</a:t>
            </a:r>
            <a:r>
              <a:rPr lang="en-US" sz="1600" b="0" dirty="0" smtClean="0">
                <a:solidFill>
                  <a:schemeClr val="accent1"/>
                </a:solidFill>
              </a:rPr>
              <a:t>.</a:t>
            </a:r>
            <a:endParaRPr lang="en-US" sz="1600" b="0" dirty="0">
              <a:solidFill>
                <a:schemeClr val="accent1"/>
              </a:solidFill>
            </a:endParaRPr>
          </a:p>
          <a:p>
            <a:pPr lvl="1" algn="l">
              <a:spcBef>
                <a:spcPct val="20000"/>
              </a:spcBef>
              <a:buSzPct val="90000"/>
              <a:buFont typeface="Wingdings 2" pitchFamily="18" charset="2"/>
              <a:buNone/>
            </a:pPr>
            <a:endParaRPr lang="en-US" sz="1400" b="0" dirty="0">
              <a:solidFill>
                <a:srgbClr val="AA3704"/>
              </a:solidFill>
            </a:endParaRP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By the end of this lesson, you should be able to:</a:t>
            </a:r>
          </a:p>
        </p:txBody>
      </p:sp>
      <p:sp>
        <p:nvSpPr>
          <p:cNvPr id="11" name="txt Content"/>
          <p:cNvSpPr>
            <a:spLocks noGrp="1"/>
          </p:cNvSpPr>
          <p:nvPr>
            <p:ph type="body" sz="quarter" idx="10" hasCustomPrompt="1"/>
          </p:nvPr>
        </p:nvSpPr>
        <p:spPr>
          <a:xfrm>
            <a:off x="520699" y="1344168"/>
            <a:ext cx="8321040" cy="4343400"/>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795622096"/>
      </p:ext>
    </p:extLst>
  </p:cSld>
  <p:clrMapOvr>
    <a:masterClrMapping/>
  </p:clrMapOvr>
  <p:transition/>
  <p:timing>
    <p:tnLst>
      <p:par>
        <p:cTn id="1" dur="indefinite" restart="never" nodeType="tmRoot"/>
      </p:par>
    </p:tnLst>
  </p:timing>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Lesson Objectives Review">
    <p:spTree>
      <p:nvGrpSpPr>
        <p:cNvPr id="1" name=""/>
        <p:cNvGrpSpPr/>
        <p:nvPr/>
      </p:nvGrpSpPr>
      <p:grpSpPr>
        <a:xfrm>
          <a:off x="0" y="0"/>
          <a:ext cx="0" cy="0"/>
          <a:chOff x="0" y="0"/>
          <a:chExt cx="0" cy="0"/>
        </a:xfrm>
      </p:grpSpPr>
      <p:sp>
        <p:nvSpPr>
          <p:cNvPr id="4"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Lesson</a:t>
            </a:r>
            <a:r>
              <a:rPr lang="en-US" sz="3200" dirty="0" smtClean="0">
                <a:latin typeface="Arial" pitchFamily="34" charset="0"/>
                <a:cs typeface="Arial" pitchFamily="34" charset="0"/>
              </a:rPr>
              <a:t> objectives review</a:t>
            </a:r>
          </a:p>
        </p:txBody>
      </p:sp>
      <p:sp>
        <p:nvSpPr>
          <p:cNvPr id="9" name="txt Content Fixed"/>
          <p:cNvSpPr/>
          <p:nvPr/>
        </p:nvSpPr>
        <p:spPr>
          <a:xfrm>
            <a:off x="521208" y="914400"/>
            <a:ext cx="8321040" cy="5303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285750" lvl="0" indent="-285750" eaLnBrk="0" fontAlgn="base" hangingPunct="0">
              <a:spcBef>
                <a:spcPct val="40000"/>
              </a:spcBef>
              <a:spcAft>
                <a:spcPct val="0"/>
              </a:spcAft>
              <a:buClr>
                <a:srgbClr val="04628C"/>
              </a:buClr>
              <a:buSzPct val="90000"/>
              <a:buFont typeface="Arial" pitchFamily="34" charset="0"/>
              <a:buChar char="•"/>
            </a:pPr>
            <a:r>
              <a:rPr lang="en-US" sz="2400" dirty="0" smtClean="0">
                <a:solidFill>
                  <a:schemeClr val="bg1"/>
                </a:solidFill>
                <a:ea typeface="Calibri" pitchFamily="34" charset="0"/>
                <a:cs typeface="Calibri" pitchFamily="34" charset="0"/>
              </a:rPr>
              <a:t>You should now be able to:</a:t>
            </a:r>
          </a:p>
        </p:txBody>
      </p:sp>
      <p:sp>
        <p:nvSpPr>
          <p:cNvPr id="11" name="txt Content"/>
          <p:cNvSpPr>
            <a:spLocks noGrp="1"/>
          </p:cNvSpPr>
          <p:nvPr>
            <p:ph type="body" sz="quarter" idx="10" hasCustomPrompt="1"/>
          </p:nvPr>
        </p:nvSpPr>
        <p:spPr>
          <a:xfrm>
            <a:off x="520699" y="1344168"/>
            <a:ext cx="8321040" cy="5056632"/>
          </a:xfrm>
        </p:spPr>
        <p:txBody>
          <a:bodyPr/>
          <a:lstStyle>
            <a:lvl2pPr marL="628650" indent="-228600">
              <a:buFont typeface="Calibri" pitchFamily="34" charset="0"/>
              <a:buChar char="-"/>
              <a:defRPr lang="en-US" sz="2000" dirty="0" smtClean="0">
                <a:solidFill>
                  <a:schemeClr val="bg1"/>
                </a:solidFill>
                <a:latin typeface="+mn-lt"/>
                <a:ea typeface="Calibri" pitchFamily="34" charset="0"/>
                <a:cs typeface="Calibri" pitchFamily="34" charset="0"/>
              </a:defRPr>
            </a:lvl2pPr>
          </a:lstStyle>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Click to add text…</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Describe…</a:t>
            </a:r>
          </a:p>
          <a:p>
            <a:pPr marL="628650" lvl="1" indent="-228600" algn="l" rtl="0" eaLnBrk="0" fontAlgn="base" hangingPunct="0">
              <a:spcBef>
                <a:spcPct val="20000"/>
              </a:spcBef>
              <a:spcAft>
                <a:spcPct val="0"/>
              </a:spcAft>
              <a:buClr>
                <a:srgbClr val="04628C"/>
              </a:buClr>
              <a:buSzPct val="90000"/>
              <a:buFont typeface="Calibri" pitchFamily="34" charset="0"/>
              <a:buChar char="-"/>
            </a:pPr>
            <a:r>
              <a:rPr lang="en-US" dirty="0" smtClean="0"/>
              <a:t>Identify…</a:t>
            </a:r>
          </a:p>
        </p:txBody>
      </p:sp>
    </p:spTree>
    <p:extLst>
      <p:ext uri="{BB962C8B-B14F-4D97-AF65-F5344CB8AC3E}">
        <p14:creationId xmlns:p14="http://schemas.microsoft.com/office/powerpoint/2010/main" val="1377342622"/>
      </p:ext>
    </p:extLst>
  </p:cSld>
  <p:clrMapOvr>
    <a:masterClrMapping/>
  </p:clrMapOvr>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Review Questions Standard">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
        <p:nvSpPr>
          <p:cNvPr id="3" name="txt Content"/>
          <p:cNvSpPr>
            <a:spLocks noGrp="1"/>
          </p:cNvSpPr>
          <p:nvPr>
            <p:ph idx="1" hasCustomPrompt="1"/>
          </p:nvPr>
        </p:nvSpPr>
        <p:spPr>
          <a:xfrm>
            <a:off x="519113" y="914400"/>
            <a:ext cx="8318500" cy="54864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sz="2400" baseline="0">
                <a:solidFill>
                  <a:schemeClr val="bg1"/>
                </a:solidFill>
              </a:defRPr>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Question…?</a:t>
            </a:r>
          </a:p>
          <a:p>
            <a:pPr lvl="0"/>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marL="457200" marR="0" lvl="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a:pPr>
            <a:r>
              <a:rPr lang="en-US" dirty="0" smtClean="0"/>
              <a:t>Question…?</a:t>
            </a:r>
          </a:p>
          <a:p>
            <a:pPr lvl="0"/>
            <a:endParaRPr lang="en-US" dirty="0" smtClean="0"/>
          </a:p>
        </p:txBody>
      </p:sp>
      <p:sp>
        <p:nvSpPr>
          <p:cNvPr id="4" name="txt Title Fixed"/>
          <p:cNvSpPr txBox="1">
            <a:spLocks noChangeArrowheads="1"/>
          </p:cNvSpPr>
          <p:nvPr userDrawn="1"/>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Arial" pitchFamily="34" charset="0"/>
                <a:cs typeface="Arial" pitchFamily="34" charset="0"/>
              </a:rPr>
              <a:t> questions</a:t>
            </a:r>
          </a:p>
        </p:txBody>
      </p:sp>
    </p:spTree>
    <p:extLst>
      <p:ext uri="{BB962C8B-B14F-4D97-AF65-F5344CB8AC3E}">
        <p14:creationId xmlns:p14="http://schemas.microsoft.com/office/powerpoint/2010/main" val="4292018842"/>
      </p:ext>
    </p:extLst>
  </p:cSld>
  <p:clrMapOvr>
    <a:masterClrMapping/>
  </p:clrMapOvr>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Review Questions True False">
    <p:spTree>
      <p:nvGrpSpPr>
        <p:cNvPr id="1" name=""/>
        <p:cNvGrpSpPr/>
        <p:nvPr/>
      </p:nvGrpSpPr>
      <p:grpSpPr>
        <a:xfrm>
          <a:off x="0" y="0"/>
          <a:ext cx="0" cy="0"/>
          <a:chOff x="0" y="0"/>
          <a:chExt cx="0" cy="0"/>
        </a:xfrm>
      </p:grpSpPr>
      <p:sp>
        <p:nvSpPr>
          <p:cNvPr id="6"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Review</a:t>
            </a:r>
            <a:r>
              <a:rPr lang="en-US" sz="3200" dirty="0" smtClean="0">
                <a:latin typeface="+mj-lt"/>
              </a:rPr>
              <a:t> questions</a:t>
            </a:r>
          </a:p>
        </p:txBody>
      </p:sp>
      <p:sp>
        <p:nvSpPr>
          <p:cNvPr id="7" name="txt Content Fixed"/>
          <p:cNvSpPr/>
          <p:nvPr/>
        </p:nvSpPr>
        <p:spPr>
          <a:xfrm>
            <a:off x="521208" y="914400"/>
            <a:ext cx="832104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marL="0" lvl="0" indent="0" eaLnBrk="0" fontAlgn="base" hangingPunct="0">
              <a:spcBef>
                <a:spcPct val="40000"/>
              </a:spcBef>
              <a:spcAft>
                <a:spcPct val="0"/>
              </a:spcAft>
              <a:buClr>
                <a:srgbClr val="04628C"/>
              </a:buClr>
              <a:buSzPct val="90000"/>
              <a:buFont typeface="Arial" pitchFamily="34" charset="0"/>
              <a:buNone/>
            </a:pPr>
            <a:r>
              <a:rPr lang="en-US" sz="2400" dirty="0" smtClean="0">
                <a:solidFill>
                  <a:schemeClr val="bg1"/>
                </a:solidFill>
                <a:ea typeface="Calibri" pitchFamily="34" charset="0"/>
                <a:cs typeface="Calibri" pitchFamily="34" charset="0"/>
              </a:rPr>
              <a:t>Identify if each question is true or false:</a:t>
            </a:r>
          </a:p>
          <a:p>
            <a:pPr marL="0" lvl="0" indent="0" eaLnBrk="0" fontAlgn="base" hangingPunct="0">
              <a:spcBef>
                <a:spcPct val="40000"/>
              </a:spcBef>
              <a:spcAft>
                <a:spcPct val="0"/>
              </a:spcAft>
              <a:buClr>
                <a:srgbClr val="04628C"/>
              </a:buClr>
              <a:buSzPct val="90000"/>
              <a:buFont typeface="Arial" pitchFamily="34" charset="0"/>
              <a:buNone/>
            </a:pPr>
            <a:endParaRPr lang="en-US" sz="2400" dirty="0" smtClean="0">
              <a:solidFill>
                <a:schemeClr val="bg1"/>
              </a:solidFill>
              <a:ea typeface="Calibri" pitchFamily="34" charset="0"/>
              <a:cs typeface="Calibri" pitchFamily="34" charset="0"/>
            </a:endParaRPr>
          </a:p>
        </p:txBody>
      </p:sp>
      <p:sp>
        <p:nvSpPr>
          <p:cNvPr id="3" name="txt Content"/>
          <p:cNvSpPr>
            <a:spLocks noGrp="1"/>
          </p:cNvSpPr>
          <p:nvPr>
            <p:ph idx="1" hasCustomPrompt="1"/>
          </p:nvPr>
        </p:nvSpPr>
        <p:spPr>
          <a:xfrm>
            <a:off x="519113" y="1447800"/>
            <a:ext cx="8318500" cy="4953000"/>
          </a:xfrm>
        </p:spPr>
        <p:txBody>
          <a:bodyPr/>
          <a:lstStyle>
            <a:lvl1pPr marL="457200" marR="0" indent="-457200" algn="l" defTabSz="914400" rtl="0" eaLnBrk="0" fontAlgn="base" latinLnBrk="0" hangingPunct="0">
              <a:lnSpc>
                <a:spcPct val="100000"/>
              </a:lnSpc>
              <a:spcBef>
                <a:spcPct val="40000"/>
              </a:spcBef>
              <a:spcAft>
                <a:spcPct val="0"/>
              </a:spcAft>
              <a:buClr>
                <a:srgbClr val="04628C"/>
              </a:buClr>
              <a:buSzPct val="90000"/>
              <a:buFont typeface="+mj-lt"/>
              <a:buAutoNum type="arabicPeriod"/>
              <a:tabLst/>
              <a:defRPr baseline="0"/>
            </a:lvl1pPr>
            <a:lvl2pPr>
              <a:buClr>
                <a:srgbClr val="04628C"/>
              </a:buClr>
              <a:buFont typeface="Calibri" pitchFamily="34" charset="0"/>
              <a:buChar char="-"/>
              <a:defRPr/>
            </a:lvl2pPr>
            <a:lvl3pPr>
              <a:buClr>
                <a:srgbClr val="04628C"/>
              </a:buClr>
              <a:buFont typeface="Calibri" pitchFamily="34" charset="0"/>
              <a:buChar char="-"/>
              <a:defRPr/>
            </a:lvl3pPr>
            <a:lvl4pPr>
              <a:buClr>
                <a:srgbClr val="04628C"/>
              </a:buClr>
              <a:buFont typeface="Calibri" pitchFamily="34" charset="0"/>
              <a:buChar char="-"/>
              <a:defRPr/>
            </a:lvl4pPr>
            <a:lvl5pPr>
              <a:buClr>
                <a:srgbClr val="04628C"/>
              </a:buClr>
              <a:buFont typeface="Calibri" pitchFamily="34" charset="0"/>
              <a:buChar char="-"/>
              <a:defRPr/>
            </a:lvl5pPr>
          </a:lstStyle>
          <a:p>
            <a:pPr lvl="0"/>
            <a:r>
              <a:rPr lang="en-US" dirty="0" smtClean="0"/>
              <a:t>Statement.</a:t>
            </a:r>
          </a:p>
          <a:p>
            <a:pPr lvl="0"/>
            <a:r>
              <a:rPr lang="en-US" dirty="0" smtClean="0"/>
              <a:t>Statement.</a:t>
            </a:r>
          </a:p>
          <a:p>
            <a:pPr lvl="0"/>
            <a:r>
              <a:rPr lang="en-US" dirty="0" smtClean="0"/>
              <a:t>Statement.</a:t>
            </a:r>
          </a:p>
          <a:p>
            <a:pPr lvl="0"/>
            <a:r>
              <a:rPr lang="en-US" dirty="0" smtClean="0"/>
              <a:t>Statement.</a:t>
            </a:r>
          </a:p>
        </p:txBody>
      </p:sp>
    </p:spTree>
    <p:extLst>
      <p:ext uri="{BB962C8B-B14F-4D97-AF65-F5344CB8AC3E}">
        <p14:creationId xmlns:p14="http://schemas.microsoft.com/office/powerpoint/2010/main" val="2696677930"/>
      </p:ext>
    </p:extLst>
  </p:cSld>
  <p:clrMapOvr>
    <a:masterClrMapping/>
  </p:clrMapOvr>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otices Mandatory">
    <p:spTree>
      <p:nvGrpSpPr>
        <p:cNvPr id="1" name=""/>
        <p:cNvGrpSpPr/>
        <p:nvPr/>
      </p:nvGrpSpPr>
      <p:grpSpPr>
        <a:xfrm>
          <a:off x="0" y="0"/>
          <a:ext cx="0" cy="0"/>
          <a:chOff x="0" y="0"/>
          <a:chExt cx="0" cy="0"/>
        </a:xfrm>
      </p:grpSpPr>
      <p:sp>
        <p:nvSpPr>
          <p:cNvPr id="5" name="txt Title Fixed"/>
          <p:cNvSpPr txBox="1">
            <a:spLocks noChangeArrowheads="1"/>
          </p:cNvSpPr>
          <p:nvPr/>
        </p:nvSpPr>
        <p:spPr bwMode="auto">
          <a:xfrm>
            <a:off x="492125" y="114301"/>
            <a:ext cx="831850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1pPr>
            <a:lvl2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2pPr>
            <a:lvl3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3pPr>
            <a:lvl4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4pPr>
            <a:lvl5pPr algn="l" rtl="0" eaLnBrk="0" fontAlgn="base" hangingPunct="0">
              <a:lnSpc>
                <a:spcPct val="90000"/>
              </a:lnSpc>
              <a:spcBef>
                <a:spcPct val="0"/>
              </a:spcBef>
              <a:spcAft>
                <a:spcPct val="0"/>
              </a:spcAft>
              <a:defRPr sz="3400" b="1">
                <a:solidFill>
                  <a:srgbClr val="04628C"/>
                </a:solidFill>
                <a:latin typeface="Calibri" pitchFamily="34" charset="0"/>
                <a:ea typeface="Calibri" pitchFamily="34" charset="0"/>
                <a:cs typeface="Calibri" pitchFamily="34" charset="0"/>
              </a:defRPr>
            </a:lvl5pPr>
            <a:lvl6pPr marL="457200" algn="l" rtl="0" fontAlgn="base">
              <a:lnSpc>
                <a:spcPct val="90000"/>
              </a:lnSpc>
              <a:spcBef>
                <a:spcPct val="0"/>
              </a:spcBef>
              <a:spcAft>
                <a:spcPct val="0"/>
              </a:spcAft>
              <a:defRPr sz="3000" b="1">
                <a:solidFill>
                  <a:schemeClr val="accent1"/>
                </a:solidFill>
                <a:latin typeface="Arial" charset="0"/>
              </a:defRPr>
            </a:lvl6pPr>
            <a:lvl7pPr marL="914400" algn="l" rtl="0" fontAlgn="base">
              <a:lnSpc>
                <a:spcPct val="90000"/>
              </a:lnSpc>
              <a:spcBef>
                <a:spcPct val="0"/>
              </a:spcBef>
              <a:spcAft>
                <a:spcPct val="0"/>
              </a:spcAft>
              <a:defRPr sz="3000" b="1">
                <a:solidFill>
                  <a:schemeClr val="accent1"/>
                </a:solidFill>
                <a:latin typeface="Arial" charset="0"/>
              </a:defRPr>
            </a:lvl7pPr>
            <a:lvl8pPr marL="1371600" algn="l" rtl="0" fontAlgn="base">
              <a:lnSpc>
                <a:spcPct val="90000"/>
              </a:lnSpc>
              <a:spcBef>
                <a:spcPct val="0"/>
              </a:spcBef>
              <a:spcAft>
                <a:spcPct val="0"/>
              </a:spcAft>
              <a:defRPr sz="3000" b="1">
                <a:solidFill>
                  <a:schemeClr val="accent1"/>
                </a:solidFill>
                <a:latin typeface="Arial" charset="0"/>
              </a:defRPr>
            </a:lvl8pPr>
            <a:lvl9pPr marL="1828800" algn="l" rtl="0" fontAlgn="base">
              <a:lnSpc>
                <a:spcPct val="90000"/>
              </a:lnSpc>
              <a:spcBef>
                <a:spcPct val="0"/>
              </a:spcBef>
              <a:spcAft>
                <a:spcPct val="0"/>
              </a:spcAft>
              <a:defRPr sz="3000" b="1">
                <a:solidFill>
                  <a:schemeClr val="accent1"/>
                </a:solidFill>
                <a:latin typeface="Arial" charset="0"/>
              </a:defRPr>
            </a:lvl9pPr>
          </a:lstStyle>
          <a:p>
            <a:r>
              <a:rPr lang="en-US" sz="3200" dirty="0" smtClean="0">
                <a:latin typeface="+mj-lt"/>
                <a:cs typeface="Arial" pitchFamily="34" charset="0"/>
              </a:rPr>
              <a:t>Notices</a:t>
            </a:r>
            <a:endParaRPr lang="en-US" sz="3200" dirty="0" smtClean="0">
              <a:latin typeface="+mj-lt"/>
            </a:endParaRPr>
          </a:p>
        </p:txBody>
      </p:sp>
      <p:sp>
        <p:nvSpPr>
          <p:cNvPr id="4" name="txt Notice Fixed"/>
          <p:cNvSpPr/>
          <p:nvPr userDrawn="1"/>
        </p:nvSpPr>
        <p:spPr>
          <a:xfrm>
            <a:off x="521208" y="914400"/>
            <a:ext cx="8289417" cy="5410200"/>
          </a:xfrm>
          <a:prstGeom prst="rect">
            <a:avLst/>
          </a:prstGeom>
          <a:ln w="9525">
            <a:solidFill>
              <a:schemeClr val="tx1"/>
            </a:solidFill>
          </a:ln>
        </p:spPr>
        <p:txBody>
          <a:bodyPr wrap="square" lIns="0" tIns="0" rIns="0" bIns="0">
            <a:noAutofit/>
          </a:bodyPr>
          <a:lstStyle/>
          <a:p>
            <a:pPr marL="0" indent="0">
              <a:buFont typeface="Wingdings 3" pitchFamily="18" charset="2"/>
              <a:buNone/>
            </a:pPr>
            <a:r>
              <a:rPr lang="en-US" sz="1600" b="1" dirty="0" smtClean="0">
                <a:solidFill>
                  <a:schemeClr val="bg1"/>
                </a:solidFill>
              </a:rPr>
              <a:t>Copyright © 2001-2014 Guidewire Software, Inc. All rights reserved.</a:t>
            </a:r>
            <a:br>
              <a:rPr lang="en-US" sz="1600" b="1" dirty="0" smtClean="0">
                <a:solidFill>
                  <a:schemeClr val="bg1"/>
                </a:solidFill>
              </a:rPr>
            </a:br>
            <a:endParaRPr lang="en-US" sz="1600" b="1" dirty="0" smtClean="0">
              <a:solidFill>
                <a:schemeClr val="bg1"/>
              </a:solidFill>
            </a:endParaRPr>
          </a:p>
          <a:p>
            <a:pPr marL="0" indent="0">
              <a:buFont typeface="Wingdings 3" pitchFamily="18" charset="2"/>
              <a:buNone/>
            </a:pPr>
            <a:r>
              <a:rPr lang="en-US" sz="1400" b="0" dirty="0" smtClean="0">
                <a:solidFill>
                  <a:schemeClr val="bg1"/>
                </a:solidFill>
              </a:rPr>
              <a:t>Guidewire, Guidewire Software, Guidewire ClaimCenter, Guidewire PolicyCenter, Guidewire BillingCenter, Guidewire Reinsurance Management, Guidewire ContactManager, Guidewire Vendor Data Management, Guidewire Client Data Management, Guidewire Rating Management, Guidewire InsuranceSuite, Guidewire ContactCenter, Guidewire Studio, Guidewire Product Designer, Guidewire Live, Guidewire </a:t>
            </a:r>
            <a:r>
              <a:rPr lang="en-US" sz="1400" b="0" dirty="0" err="1" smtClean="0">
                <a:solidFill>
                  <a:schemeClr val="bg1"/>
                </a:solidFill>
              </a:rPr>
              <a:t>DataHub</a:t>
            </a:r>
            <a:r>
              <a:rPr lang="en-US" sz="1400" b="0" dirty="0" smtClean="0">
                <a:solidFill>
                  <a:schemeClr val="bg1"/>
                </a:solidFill>
              </a:rPr>
              <a:t>, Guidewire </a:t>
            </a:r>
            <a:r>
              <a:rPr lang="en-US" sz="1400" b="0" dirty="0" err="1" smtClean="0">
                <a:solidFill>
                  <a:schemeClr val="bg1"/>
                </a:solidFill>
              </a:rPr>
              <a:t>InfoCenter</a:t>
            </a:r>
            <a:r>
              <a:rPr lang="en-US" sz="1400" b="0" dirty="0" smtClean="0">
                <a:solidFill>
                  <a:schemeClr val="bg1"/>
                </a:solidFill>
              </a:rPr>
              <a:t>, Guidewire Standard Reporting, Guidewire ExampleCenter, Guidewire Account Manager Portal, Guidewire Claim Portal, Guidewire Policyholder Portal, ClaimCenter, BillingCenter, PolicyCenter, InsuranceSuite, Gosu, Deliver Insurance Your Way, and the Guidewire logo are trademarks, service marks, or registered trademarks of Guidewire Software, Inc. in the United States and/or other countries.</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All other trademarks are the property of their respective owners.</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600" b="1" dirty="0" smtClean="0">
                <a:solidFill>
                  <a:schemeClr val="bg1"/>
                </a:solidFill>
              </a:rPr>
              <a:t>This material is confidential and proprietary to Guidewire and subject to the confidentiality terms in the applicable license agreement and/or separate nondisclosure agreement.</a:t>
            </a:r>
          </a:p>
          <a:p>
            <a:pPr marL="0" indent="0">
              <a:buFont typeface="Wingdings 3" pitchFamily="18" charset="2"/>
              <a:buNone/>
            </a:pPr>
            <a:endParaRPr lang="en-US" sz="1600" b="0" dirty="0" smtClean="0">
              <a:solidFill>
                <a:schemeClr val="bg1"/>
              </a:solidFill>
            </a:endParaRPr>
          </a:p>
          <a:p>
            <a:pPr marL="0" indent="0">
              <a:buFont typeface="Wingdings 3" pitchFamily="18" charset="2"/>
              <a:buNone/>
            </a:pPr>
            <a:r>
              <a:rPr lang="en-US" sz="1400" b="0" dirty="0" smtClean="0">
                <a:solidFill>
                  <a:schemeClr val="bg1"/>
                </a:solidFill>
              </a:rPr>
              <a:t>This file and the contents herein are the property of Guidewire Software, Inc. Use of this course material is restricted to students officially registered in this specific Guidewire-instructed course, or for other use expressly authorized by Guidewire. Replication or distribution of this course material in electronic, paper, or other format is prohibited without express permission from Guidewire.</a:t>
            </a:r>
            <a:br>
              <a:rPr lang="en-US" sz="1400" b="0" dirty="0" smtClean="0">
                <a:solidFill>
                  <a:schemeClr val="bg1"/>
                </a:solidFill>
              </a:rPr>
            </a:br>
            <a:endParaRPr lang="en-US" sz="1400" b="0" dirty="0" smtClean="0">
              <a:solidFill>
                <a:schemeClr val="bg1"/>
              </a:solidFill>
            </a:endParaRPr>
          </a:p>
          <a:p>
            <a:pPr marL="0" indent="0">
              <a:buFont typeface="Wingdings 3" pitchFamily="18" charset="2"/>
              <a:buNone/>
            </a:pPr>
            <a:r>
              <a:rPr lang="en-US" sz="1400" b="0" dirty="0" smtClean="0">
                <a:solidFill>
                  <a:schemeClr val="bg1"/>
                </a:solidFill>
              </a:rPr>
              <a:t>Guidewire products are protected by one or more United States patents.</a:t>
            </a:r>
          </a:p>
        </p:txBody>
      </p:sp>
    </p:spTree>
    <p:extLst>
      <p:ext uri="{BB962C8B-B14F-4D97-AF65-F5344CB8AC3E}">
        <p14:creationId xmlns:p14="http://schemas.microsoft.com/office/powerpoint/2010/main" val="2118631640"/>
      </p:ext>
    </p:extLst>
  </p:cSld>
  <p:clrMapOvr>
    <a:masterClrMapping/>
  </p:clrMapOvr>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tx1"/>
        </a:solidFill>
        <a:effectLst/>
      </p:bgPr>
    </p:bg>
    <p:spTree>
      <p:nvGrpSpPr>
        <p:cNvPr id="1" name=""/>
        <p:cNvGrpSpPr/>
        <p:nvPr/>
      </p:nvGrpSpPr>
      <p:grpSpPr>
        <a:xfrm>
          <a:off x="0" y="0"/>
          <a:ext cx="0" cy="0"/>
          <a:chOff x="0" y="0"/>
          <a:chExt cx="0" cy="0"/>
        </a:xfrm>
      </p:grpSpPr>
      <p:sp>
        <p:nvSpPr>
          <p:cNvPr id="13" name="txt Guidewire Copyright"/>
          <p:cNvSpPr txBox="1"/>
          <p:nvPr/>
        </p:nvSpPr>
        <p:spPr>
          <a:xfrm>
            <a:off x="304800" y="6553413"/>
            <a:ext cx="3673988" cy="92333"/>
          </a:xfrm>
          <a:prstGeom prst="rect">
            <a:avLst/>
          </a:prstGeom>
          <a:noFill/>
        </p:spPr>
        <p:txBody>
          <a:bodyPr wrap="square" lIns="0" tIns="0" rIns="0" bIns="0">
            <a:spAutoFit/>
          </a:bodyPr>
          <a:lstStyle/>
          <a:p>
            <a:pPr algn="l">
              <a:spcBef>
                <a:spcPts val="600"/>
              </a:spcBef>
              <a:buClr>
                <a:schemeClr val="tx2"/>
              </a:buClr>
              <a:buFont typeface="Arial" charset="0"/>
              <a:buNone/>
              <a:defRPr/>
            </a:pPr>
            <a:r>
              <a:rPr lang="en-US" sz="600" dirty="0">
                <a:solidFill>
                  <a:srgbClr val="B2B2B2"/>
                </a:solidFill>
                <a:latin typeface="+mn-lt"/>
              </a:rPr>
              <a:t>© Guidewire Software, Inc. </a:t>
            </a:r>
            <a:r>
              <a:rPr lang="en-US" sz="600" dirty="0" smtClean="0">
                <a:solidFill>
                  <a:srgbClr val="B2B2B2"/>
                </a:solidFill>
                <a:latin typeface="+mn-lt"/>
              </a:rPr>
              <a:t> 2001-2014. All </a:t>
            </a:r>
            <a:r>
              <a:rPr lang="en-US" sz="600" dirty="0">
                <a:solidFill>
                  <a:srgbClr val="B2B2B2"/>
                </a:solidFill>
                <a:latin typeface="+mn-lt"/>
              </a:rPr>
              <a:t>rights reserved. Do not distribute without permission.</a:t>
            </a:r>
          </a:p>
        </p:txBody>
      </p:sp>
      <p:grpSp>
        <p:nvGrpSpPr>
          <p:cNvPr id="12" name="rec GW Sidebar"/>
          <p:cNvGrpSpPr/>
          <p:nvPr/>
        </p:nvGrpSpPr>
        <p:grpSpPr>
          <a:xfrm>
            <a:off x="0" y="0"/>
            <a:ext cx="109538" cy="6858000"/>
            <a:chOff x="0" y="0"/>
            <a:chExt cx="109538" cy="6858000"/>
          </a:xfrm>
        </p:grpSpPr>
        <p:sp>
          <p:nvSpPr>
            <p:cNvPr id="15" name="rec GW Blue"/>
            <p:cNvSpPr/>
            <p:nvPr userDrawn="1"/>
          </p:nvSpPr>
          <p:spPr bwMode="auto">
            <a:xfrm>
              <a:off x="0" y="1325563"/>
              <a:ext cx="109538" cy="5532437"/>
            </a:xfrm>
            <a:prstGeom prst="rect">
              <a:avLst/>
            </a:prstGeom>
            <a:solidFill>
              <a:srgbClr val="04628C"/>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6" name="rec GW Green"/>
            <p:cNvSpPr/>
            <p:nvPr userDrawn="1"/>
          </p:nvSpPr>
          <p:spPr bwMode="auto">
            <a:xfrm>
              <a:off x="0" y="1060450"/>
              <a:ext cx="109538" cy="265113"/>
            </a:xfrm>
            <a:prstGeom prst="rect">
              <a:avLst/>
            </a:prstGeom>
            <a:solidFill>
              <a:srgbClr val="3F8E3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7" name="rec GW Orange"/>
            <p:cNvSpPr/>
            <p:nvPr userDrawn="1"/>
          </p:nvSpPr>
          <p:spPr bwMode="auto">
            <a:xfrm>
              <a:off x="0" y="795338"/>
              <a:ext cx="109538" cy="265112"/>
            </a:xfrm>
            <a:prstGeom prst="rect">
              <a:avLst/>
            </a:prstGeom>
            <a:solidFill>
              <a:srgbClr val="D8691E"/>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8" name="rec GW Purple"/>
            <p:cNvSpPr/>
            <p:nvPr userDrawn="1"/>
          </p:nvSpPr>
          <p:spPr bwMode="auto">
            <a:xfrm>
              <a:off x="0" y="530225"/>
              <a:ext cx="109538" cy="265113"/>
            </a:xfrm>
            <a:prstGeom prst="rect">
              <a:avLst/>
            </a:prstGeom>
            <a:solidFill>
              <a:srgbClr val="64589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19" name="rec GW Gold"/>
            <p:cNvSpPr/>
            <p:nvPr userDrawn="1"/>
          </p:nvSpPr>
          <p:spPr bwMode="auto">
            <a:xfrm>
              <a:off x="0" y="265113"/>
              <a:ext cx="109538" cy="265112"/>
            </a:xfrm>
            <a:prstGeom prst="rect">
              <a:avLst/>
            </a:prstGeom>
            <a:solidFill>
              <a:srgbClr val="E5BA03"/>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sp>
          <p:nvSpPr>
            <p:cNvPr id="20" name="rec GW Red"/>
            <p:cNvSpPr/>
            <p:nvPr userDrawn="1"/>
          </p:nvSpPr>
          <p:spPr bwMode="auto">
            <a:xfrm>
              <a:off x="0" y="0"/>
              <a:ext cx="109538" cy="265113"/>
            </a:xfrm>
            <a:prstGeom prst="rect">
              <a:avLst/>
            </a:prstGeom>
            <a:solidFill>
              <a:srgbClr val="D33819"/>
            </a:solidFill>
            <a:ln w="3175" cap="flat" cmpd="sng" algn="ctr">
              <a:noFill/>
              <a:prstDash val="solid"/>
              <a:round/>
              <a:headEnd type="none" w="med" len="med"/>
              <a:tailEnd type="none" w="med" len="med"/>
            </a:ln>
            <a:effectLst/>
          </p:spPr>
          <p:txBody>
            <a:bodyPr wrap="none" lIns="0" tIns="0" rIns="0" bIns="0" anchor="ctr"/>
            <a:lstStyle/>
            <a:p>
              <a:pPr marL="109538" indent="-109538" algn="ctr">
                <a:spcBef>
                  <a:spcPct val="50000"/>
                </a:spcBef>
                <a:buClr>
                  <a:schemeClr val="tx2"/>
                </a:buClr>
                <a:buFont typeface="Arial" charset="0"/>
                <a:buNone/>
                <a:defRPr/>
              </a:pPr>
              <a:endParaRPr lang="en-US">
                <a:latin typeface="+mj-lt"/>
              </a:endParaRPr>
            </a:p>
          </p:txBody>
        </p:sp>
      </p:grpSp>
      <p:pic>
        <p:nvPicPr>
          <p:cNvPr id="1031" name="pic Logo Text" descr="guidewire.png"/>
          <p:cNvPicPr>
            <a:picLocks noChangeAspect="1"/>
          </p:cNvPicPr>
          <p:nvPr/>
        </p:nvPicPr>
        <p:blipFill>
          <a:blip r:embed="rId42" cstate="print">
            <a:extLst>
              <a:ext uri="{28A0092B-C50C-407E-A947-70E740481C1C}">
                <a14:useLocalDpi xmlns:a14="http://schemas.microsoft.com/office/drawing/2010/main" val="0"/>
              </a:ext>
            </a:extLst>
          </a:blip>
          <a:srcRect/>
          <a:stretch>
            <a:fillRect/>
          </a:stretch>
        </p:blipFill>
        <p:spPr bwMode="auto">
          <a:xfrm>
            <a:off x="7412040" y="6543676"/>
            <a:ext cx="1608137" cy="136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7" name="txt Title"/>
          <p:cNvSpPr>
            <a:spLocks noGrp="1" noChangeArrowheads="1"/>
          </p:cNvSpPr>
          <p:nvPr>
            <p:ph type="title"/>
          </p:nvPr>
        </p:nvSpPr>
        <p:spPr bwMode="auto">
          <a:xfrm>
            <a:off x="493776" y="118872"/>
            <a:ext cx="8321040" cy="7429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smtClean="0"/>
              <a:t>Click to edit Master title style</a:t>
            </a:r>
            <a:endParaRPr lang="en-US" altLang="en-US" dirty="0" smtClean="0"/>
          </a:p>
        </p:txBody>
      </p:sp>
      <p:sp>
        <p:nvSpPr>
          <p:cNvPr id="1028" name="txt Content"/>
          <p:cNvSpPr>
            <a:spLocks noGrp="1" noChangeArrowheads="1"/>
          </p:cNvSpPr>
          <p:nvPr>
            <p:ph type="body" idx="1"/>
          </p:nvPr>
        </p:nvSpPr>
        <p:spPr bwMode="auto">
          <a:xfrm>
            <a:off x="521208" y="914400"/>
            <a:ext cx="8321040" cy="548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p>
            <a:pPr lvl="0"/>
            <a:r>
              <a:rPr lang="en-US" altLang="en-US" dirty="0" smtClean="0"/>
              <a:t>Click to edit Master text styles </a:t>
            </a:r>
          </a:p>
          <a:p>
            <a:pPr lvl="1"/>
            <a:r>
              <a:rPr lang="en-US" altLang="en-US" dirty="0" smtClean="0"/>
              <a:t>Second level</a:t>
            </a:r>
          </a:p>
          <a:p>
            <a:pPr lvl="2"/>
            <a:r>
              <a:rPr lang="en-US" altLang="en-US" dirty="0" smtClean="0"/>
              <a:t>Third level</a:t>
            </a:r>
          </a:p>
          <a:p>
            <a:pPr lvl="3"/>
            <a:r>
              <a:rPr lang="en-US" altLang="en-US" dirty="0" smtClean="0"/>
              <a:t>Fourth level</a:t>
            </a:r>
          </a:p>
        </p:txBody>
      </p:sp>
      <p:sp>
        <p:nvSpPr>
          <p:cNvPr id="1127" name="txt Centered PageNumberBox"/>
          <p:cNvSpPr txBox="1">
            <a:spLocks noChangeArrowheads="1"/>
          </p:cNvSpPr>
          <p:nvPr/>
        </p:nvSpPr>
        <p:spPr bwMode="auto">
          <a:xfrm>
            <a:off x="4307365" y="6475146"/>
            <a:ext cx="519113" cy="227013"/>
          </a:xfrm>
          <a:prstGeom prst="rect">
            <a:avLst/>
          </a:prstGeom>
          <a:noFill/>
          <a:ln w="6350" algn="ctr">
            <a:noFill/>
            <a:miter lim="800000"/>
            <a:headEnd/>
            <a:tailEnd/>
          </a:ln>
          <a:effectLst/>
        </p:spPr>
        <p:txBody>
          <a:bodyPr lIns="0" tIns="0" rIns="0" bIns="0"/>
          <a:lstStyle/>
          <a:p>
            <a:pPr algn="ctr">
              <a:lnSpc>
                <a:spcPts val="1800"/>
              </a:lnSpc>
              <a:spcBef>
                <a:spcPts val="600"/>
              </a:spcBef>
              <a:buFont typeface="Wingdings" pitchFamily="2" charset="2"/>
              <a:buNone/>
              <a:defRPr/>
            </a:pPr>
            <a:fld id="{FABFFE1B-5FD5-480D-9A32-98AB62D1BF82}" type="slidenum">
              <a:rPr lang="en-US" sz="1200">
                <a:solidFill>
                  <a:srgbClr val="B2B2B2"/>
                </a:solidFill>
                <a:latin typeface="Arial" pitchFamily="34" charset="0"/>
                <a:cs typeface="Arial" pitchFamily="34" charset="0"/>
              </a:rPr>
              <a:pPr algn="ctr">
                <a:lnSpc>
                  <a:spcPts val="1800"/>
                </a:lnSpc>
                <a:spcBef>
                  <a:spcPts val="600"/>
                </a:spcBef>
                <a:buFont typeface="Wingdings" pitchFamily="2" charset="2"/>
                <a:buNone/>
                <a:defRPr/>
              </a:pPr>
              <a:t>‹#›</a:t>
            </a:fld>
            <a:r>
              <a:rPr lang="en-US" i="1" dirty="0">
                <a:solidFill>
                  <a:srgbClr val="B2B2B2"/>
                </a:solidFill>
                <a:cs typeface="Times New Roman" pitchFamily="18" charset="0"/>
              </a:rPr>
              <a:t> </a:t>
            </a:r>
          </a:p>
        </p:txBody>
      </p:sp>
    </p:spTree>
    <p:extLst>
      <p:ext uri="{BB962C8B-B14F-4D97-AF65-F5344CB8AC3E}">
        <p14:creationId xmlns:p14="http://schemas.microsoft.com/office/powerpoint/2010/main" val="338705985"/>
      </p:ext>
    </p:extLst>
  </p:cSld>
  <p:clrMap bg1="dk2" tx1="lt1" bg2="dk1" tx2="lt2" accent1="accent1" accent2="accent2" accent3="accent3" accent4="accent4" accent5="accent5" accent6="accent6" hlink="hlink" folHlink="folHlink"/>
  <p:sldLayoutIdLst>
    <p:sldLayoutId id="2147483764" r:id="rId1"/>
    <p:sldLayoutId id="2147483765" r:id="rId2"/>
    <p:sldLayoutId id="2147483766" r:id="rId3"/>
    <p:sldLayoutId id="2147483767" r:id="rId4"/>
    <p:sldLayoutId id="2147483768" r:id="rId5"/>
    <p:sldLayoutId id="2147483769" r:id="rId6"/>
    <p:sldLayoutId id="2147483770" r:id="rId7"/>
    <p:sldLayoutId id="2147483771" r:id="rId8"/>
    <p:sldLayoutId id="2147483772" r:id="rId9"/>
    <p:sldLayoutId id="2147483773" r:id="rId10"/>
    <p:sldLayoutId id="2147483774" r:id="rId11"/>
    <p:sldLayoutId id="2147483775" r:id="rId12"/>
    <p:sldLayoutId id="2147483776" r:id="rId13"/>
    <p:sldLayoutId id="2147483777" r:id="rId14"/>
    <p:sldLayoutId id="2147483778" r:id="rId15"/>
    <p:sldLayoutId id="2147483779" r:id="rId16"/>
    <p:sldLayoutId id="2147483780" r:id="rId17"/>
    <p:sldLayoutId id="2147483781" r:id="rId18"/>
    <p:sldLayoutId id="2147483782" r:id="rId19"/>
    <p:sldLayoutId id="2147483783" r:id="rId20"/>
    <p:sldLayoutId id="2147483784" r:id="rId21"/>
    <p:sldLayoutId id="2147483785" r:id="rId22"/>
    <p:sldLayoutId id="2147483786" r:id="rId23"/>
    <p:sldLayoutId id="2147483787" r:id="rId24"/>
    <p:sldLayoutId id="2147483788" r:id="rId25"/>
    <p:sldLayoutId id="2147483789" r:id="rId26"/>
    <p:sldLayoutId id="2147483790" r:id="rId27"/>
    <p:sldLayoutId id="2147483791" r:id="rId28"/>
    <p:sldLayoutId id="2147483792" r:id="rId29"/>
    <p:sldLayoutId id="2147483793" r:id="rId30"/>
    <p:sldLayoutId id="2147483794" r:id="rId31"/>
    <p:sldLayoutId id="2147483795" r:id="rId32"/>
    <p:sldLayoutId id="2147483796" r:id="rId33"/>
    <p:sldLayoutId id="2147483797" r:id="rId34"/>
    <p:sldLayoutId id="2147483798" r:id="rId35"/>
    <p:sldLayoutId id="2147483799" r:id="rId36"/>
    <p:sldLayoutId id="2147483800" r:id="rId37"/>
    <p:sldLayoutId id="2147483801" r:id="rId38"/>
    <p:sldLayoutId id="2147483802" r:id="rId39"/>
    <p:sldLayoutId id="2147483803" r:id="rId40"/>
  </p:sldLayoutIdLst>
  <p:transition/>
  <p:timing>
    <p:tnLst>
      <p:par>
        <p:cTn id="1" dur="indefinite" restart="never" nodeType="tmRoot"/>
      </p:par>
    </p:tnLst>
  </p:timing>
  <p:txStyles>
    <p:titleStyle>
      <a:lvl1pPr algn="l" rtl="0" eaLnBrk="1" fontAlgn="base" hangingPunct="1">
        <a:lnSpc>
          <a:spcPct val="90000"/>
        </a:lnSpc>
        <a:spcBef>
          <a:spcPct val="0"/>
        </a:spcBef>
        <a:spcAft>
          <a:spcPct val="0"/>
        </a:spcAft>
        <a:defRPr sz="3200" b="1">
          <a:solidFill>
            <a:srgbClr val="04628C"/>
          </a:solidFill>
          <a:latin typeface="+mj-lt"/>
          <a:ea typeface="Arial" pitchFamily="34" charset="0"/>
          <a:cs typeface="Arial" pitchFamily="34" charset="0"/>
        </a:defRPr>
      </a:lvl1pPr>
      <a:lvl2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2pPr>
      <a:lvl3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3pPr>
      <a:lvl4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4pPr>
      <a:lvl5pPr algn="l" rtl="0" eaLnBrk="1" fontAlgn="base" hangingPunct="1">
        <a:lnSpc>
          <a:spcPct val="90000"/>
        </a:lnSpc>
        <a:spcBef>
          <a:spcPct val="0"/>
        </a:spcBef>
        <a:spcAft>
          <a:spcPct val="0"/>
        </a:spcAft>
        <a:defRPr sz="3400" b="1">
          <a:solidFill>
            <a:srgbClr val="04628C"/>
          </a:solidFill>
          <a:latin typeface="Arial" pitchFamily="32" charset="0"/>
          <a:ea typeface="Arial" pitchFamily="32" charset="0"/>
          <a:cs typeface="Arial" pitchFamily="32" charset="0"/>
        </a:defRPr>
      </a:lvl5pPr>
      <a:lvl6pPr marL="457200" algn="l" rtl="0" eaLnBrk="1" fontAlgn="base" hangingPunct="1">
        <a:lnSpc>
          <a:spcPct val="90000"/>
        </a:lnSpc>
        <a:spcBef>
          <a:spcPct val="0"/>
        </a:spcBef>
        <a:spcAft>
          <a:spcPct val="0"/>
        </a:spcAft>
        <a:defRPr sz="3000" b="1">
          <a:solidFill>
            <a:schemeClr val="accent1"/>
          </a:solidFill>
          <a:latin typeface="Arial" charset="0"/>
        </a:defRPr>
      </a:lvl6pPr>
      <a:lvl7pPr marL="914400" algn="l" rtl="0" eaLnBrk="1" fontAlgn="base" hangingPunct="1">
        <a:lnSpc>
          <a:spcPct val="90000"/>
        </a:lnSpc>
        <a:spcBef>
          <a:spcPct val="0"/>
        </a:spcBef>
        <a:spcAft>
          <a:spcPct val="0"/>
        </a:spcAft>
        <a:defRPr sz="3000" b="1">
          <a:solidFill>
            <a:schemeClr val="accent1"/>
          </a:solidFill>
          <a:latin typeface="Arial" charset="0"/>
        </a:defRPr>
      </a:lvl7pPr>
      <a:lvl8pPr marL="1371600" algn="l" rtl="0" eaLnBrk="1" fontAlgn="base" hangingPunct="1">
        <a:lnSpc>
          <a:spcPct val="90000"/>
        </a:lnSpc>
        <a:spcBef>
          <a:spcPct val="0"/>
        </a:spcBef>
        <a:spcAft>
          <a:spcPct val="0"/>
        </a:spcAft>
        <a:defRPr sz="3000" b="1">
          <a:solidFill>
            <a:schemeClr val="accent1"/>
          </a:solidFill>
          <a:latin typeface="Arial" charset="0"/>
        </a:defRPr>
      </a:lvl8pPr>
      <a:lvl9pPr marL="1828800" algn="l" rtl="0" eaLnBrk="1" fontAlgn="base" hangingPunct="1">
        <a:lnSpc>
          <a:spcPct val="90000"/>
        </a:lnSpc>
        <a:spcBef>
          <a:spcPct val="0"/>
        </a:spcBef>
        <a:spcAft>
          <a:spcPct val="0"/>
        </a:spcAft>
        <a:defRPr sz="3000" b="1">
          <a:solidFill>
            <a:schemeClr val="accent1"/>
          </a:solidFill>
          <a:latin typeface="Arial" charset="0"/>
        </a:defRPr>
      </a:lvl9pPr>
    </p:titleStyle>
    <p:body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6.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1.xml"/></Relationships>
</file>

<file path=ppt/slides/_rels/slide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8.xml"/><Relationship Id="rId5" Type="http://schemas.openxmlformats.org/officeDocument/2006/relationships/image" Target="../media/image5.emf"/><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2.xml"/><Relationship Id="rId5" Type="http://schemas.openxmlformats.org/officeDocument/2006/relationships/image" Target="../media/image10.pn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7.emf"/><Relationship Id="rId5" Type="http://schemas.openxmlformats.org/officeDocument/2006/relationships/image" Target="../media/image5.emf"/><Relationship Id="rId4" Type="http://schemas.openxmlformats.org/officeDocument/2006/relationships/image" Target="../media/image14.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1.xml"/></Relationships>
</file>

<file path=ppt/slides/_rels/slide17.xml.rels><?xml version="1.0" encoding="UTF-8" standalone="yes"?>
<Relationships xmlns="http://schemas.openxmlformats.org/package/2006/relationships"><Relationship Id="rId3" Type="http://schemas.openxmlformats.org/officeDocument/2006/relationships/image" Target="../media/image3.emf"/><Relationship Id="rId7" Type="http://schemas.openxmlformats.org/officeDocument/2006/relationships/image" Target="../media/image15.emf"/><Relationship Id="rId2" Type="http://schemas.openxmlformats.org/officeDocument/2006/relationships/notesSlide" Target="../notesSlides/notesSlide17.xml"/><Relationship Id="rId1" Type="http://schemas.openxmlformats.org/officeDocument/2006/relationships/slideLayout" Target="../slideLayouts/slideLayout11.xml"/><Relationship Id="rId6" Type="http://schemas.openxmlformats.org/officeDocument/2006/relationships/image" Target="../media/image7.emf"/><Relationship Id="rId5" Type="http://schemas.openxmlformats.org/officeDocument/2006/relationships/image" Target="../media/image5.emf"/><Relationship Id="rId4"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8.xml"/><Relationship Id="rId1" Type="http://schemas.openxmlformats.org/officeDocument/2006/relationships/slideLayout" Target="../slideLayouts/slideLayout16.xml"/><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1.xml"/></Relationships>
</file>

<file path=ppt/slides/_rels/slide2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16.xml"/></Relationships>
</file>

<file path=ppt/slides/_rels/slide2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2.xml"/><Relationship Id="rId1" Type="http://schemas.openxmlformats.org/officeDocument/2006/relationships/slideLayout" Target="../slideLayouts/slideLayout22.xml"/><Relationship Id="rId4" Type="http://schemas.openxmlformats.org/officeDocument/2006/relationships/image" Target="../media/image21.png"/></Relationships>
</file>

<file path=ppt/slides/_rels/slide2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3.xml"/><Relationship Id="rId1" Type="http://schemas.openxmlformats.org/officeDocument/2006/relationships/slideLayout" Target="../slideLayouts/slideLayout8.xml"/><Relationship Id="rId4" Type="http://schemas.openxmlformats.org/officeDocument/2006/relationships/image" Target="../media/image23.png"/></Relationships>
</file>

<file path=ppt/slides/_rels/slide24.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image" Target="../media/image25.png"/></Relationships>
</file>

<file path=ppt/slides/_rels/slide25.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5.xml"/><Relationship Id="rId1" Type="http://schemas.openxmlformats.org/officeDocument/2006/relationships/slideLayout" Target="../slideLayouts/slideLayout14.xml"/></Relationships>
</file>

<file path=ppt/slides/_rels/slide26.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6.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0"/>
          </p:nvPr>
        </p:nvSpPr>
        <p:spPr/>
        <p:txBody>
          <a:bodyPr/>
          <a:lstStyle/>
          <a:p>
            <a:r>
              <a:rPr lang="en-US" dirty="0" smtClean="0"/>
              <a:t>May 1, 2014</a:t>
            </a:r>
            <a:endParaRPr lang="en-US" dirty="0"/>
          </a:p>
        </p:txBody>
      </p:sp>
      <p:sp>
        <p:nvSpPr>
          <p:cNvPr id="3" name="Title 2"/>
          <p:cNvSpPr>
            <a:spLocks noGrp="1"/>
          </p:cNvSpPr>
          <p:nvPr>
            <p:ph type="ctrTitle"/>
          </p:nvPr>
        </p:nvSpPr>
        <p:spPr/>
        <p:txBody>
          <a:bodyPr/>
          <a:lstStyle/>
          <a:p>
            <a:r>
              <a:rPr lang="en-US" dirty="0"/>
              <a:t>Publishing </a:t>
            </a:r>
            <a:r>
              <a:rPr lang="en-US" dirty="0" smtClean="0"/>
              <a:t>Guidewire Web Services</a:t>
            </a:r>
            <a:endParaRPr lang="en-US" dirty="0"/>
          </a:p>
        </p:txBody>
      </p:sp>
    </p:spTree>
    <p:extLst>
      <p:ext uri="{BB962C8B-B14F-4D97-AF65-F5344CB8AC3E}">
        <p14:creationId xmlns:p14="http://schemas.microsoft.com/office/powerpoint/2010/main" val="2551511982"/>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p:txBody>
          <a:bodyPr/>
          <a:lstStyle/>
          <a:p>
            <a:pPr lvl="1"/>
            <a:r>
              <a:rPr lang="en-US" dirty="0" smtClean="0"/>
              <a:t>Publish </a:t>
            </a:r>
            <a:r>
              <a:rPr lang="en-US" dirty="0"/>
              <a:t>a Guidewire web service</a:t>
            </a:r>
          </a:p>
          <a:p>
            <a:pPr lvl="1"/>
            <a:r>
              <a:rPr lang="en-US" dirty="0"/>
              <a:t>Return instances of a Gosu class from a web service</a:t>
            </a:r>
          </a:p>
          <a:p>
            <a:pPr lvl="1"/>
            <a:r>
              <a:rPr lang="en-US" dirty="0"/>
              <a:t>Test web services locally</a:t>
            </a:r>
          </a:p>
          <a:p>
            <a:pPr lvl="1"/>
            <a:r>
              <a:rPr lang="en-US" dirty="0"/>
              <a:t>Describe how external systems connect to a Guidewire web service</a:t>
            </a:r>
          </a:p>
          <a:p>
            <a:endParaRPr lang="en-US" dirty="0"/>
          </a:p>
        </p:txBody>
      </p:sp>
    </p:spTree>
    <p:extLst>
      <p:ext uri="{BB962C8B-B14F-4D97-AF65-F5344CB8AC3E}">
        <p14:creationId xmlns:p14="http://schemas.microsoft.com/office/powerpoint/2010/main" val="4282305785"/>
      </p:ext>
    </p:extLst>
  </p:cSld>
  <p:clrMapOvr>
    <a:masterClrMapping/>
  </p:clrMapOvr>
  <p:transition/>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solidFill>
                  <a:schemeClr val="bg1"/>
                </a:solidFill>
              </a:rPr>
              <a:t>Publishing Guidewire web services</a:t>
            </a:r>
          </a:p>
          <a:p>
            <a:r>
              <a:rPr lang="en-US" dirty="0"/>
              <a:t>Returning objects from web services</a:t>
            </a:r>
          </a:p>
          <a:p>
            <a:r>
              <a:rPr lang="en-US" dirty="0"/>
              <a:t>Testing web services</a:t>
            </a:r>
          </a:p>
          <a:p>
            <a:r>
              <a:rPr lang="en-US" dirty="0"/>
              <a:t>Consuming Guidewire web services</a:t>
            </a:r>
          </a:p>
          <a:p>
            <a:endParaRPr lang="en-US" dirty="0"/>
          </a:p>
        </p:txBody>
      </p:sp>
    </p:spTree>
    <p:extLst>
      <p:ext uri="{BB962C8B-B14F-4D97-AF65-F5344CB8AC3E}">
        <p14:creationId xmlns:p14="http://schemas.microsoft.com/office/powerpoint/2010/main" val="2269969366"/>
      </p:ext>
    </p:extLst>
  </p:cSld>
  <p:clrMapOvr>
    <a:masterClrMapping/>
  </p:clrMapOvr>
  <p:transition/>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603574"/>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 name="Picture 26"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8200" y="1349375"/>
            <a:ext cx="979488" cy="97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le 1"/>
          <p:cNvSpPr>
            <a:spLocks noGrp="1"/>
          </p:cNvSpPr>
          <p:nvPr>
            <p:ph type="title"/>
          </p:nvPr>
        </p:nvSpPr>
        <p:spPr/>
        <p:txBody>
          <a:bodyPr/>
          <a:lstStyle/>
          <a:p>
            <a:r>
              <a:rPr lang="en-US" dirty="0"/>
              <a:t>Guidewire web services</a:t>
            </a:r>
          </a:p>
        </p:txBody>
      </p:sp>
      <p:sp>
        <p:nvSpPr>
          <p:cNvPr id="5" name="Content Placeholder 4"/>
          <p:cNvSpPr>
            <a:spLocks noGrp="1"/>
          </p:cNvSpPr>
          <p:nvPr>
            <p:ph idx="1"/>
          </p:nvPr>
        </p:nvSpPr>
        <p:spPr/>
        <p:txBody>
          <a:bodyPr/>
          <a:lstStyle/>
          <a:p>
            <a:r>
              <a:rPr lang="en-US" dirty="0"/>
              <a:t>A </a:t>
            </a:r>
            <a:r>
              <a:rPr lang="en-US" b="1" dirty="0"/>
              <a:t>Guidewire web service</a:t>
            </a:r>
            <a:r>
              <a:rPr lang="en-US" dirty="0"/>
              <a:t> is a web service hosted by the Guidewire application that external systems use</a:t>
            </a:r>
          </a:p>
          <a:p>
            <a:r>
              <a:rPr lang="en-US" dirty="0"/>
              <a:t>Guidewire web services are appropriate for integration points where:</a:t>
            </a:r>
          </a:p>
          <a:p>
            <a:pPr lvl="1"/>
            <a:r>
              <a:rPr lang="en-US" dirty="0"/>
              <a:t>External requests are </a:t>
            </a:r>
            <a:r>
              <a:rPr lang="en-US" dirty="0" smtClean="0"/>
              <a:t>synchronous</a:t>
            </a:r>
            <a:endParaRPr lang="en-US" dirty="0"/>
          </a:p>
          <a:p>
            <a:pPr lvl="1"/>
            <a:r>
              <a:rPr lang="en-US" dirty="0" smtClean="0"/>
              <a:t>External </a:t>
            </a:r>
            <a:r>
              <a:rPr lang="en-US" dirty="0"/>
              <a:t>requests use the SOAP protocol</a:t>
            </a:r>
          </a:p>
          <a:p>
            <a:endParaRPr lang="en-US" dirty="0"/>
          </a:p>
        </p:txBody>
      </p:sp>
      <p:sp>
        <p:nvSpPr>
          <p:cNvPr id="23" name="Text Box 20"/>
          <p:cNvSpPr txBox="1">
            <a:spLocks noChangeArrowheads="1"/>
          </p:cNvSpPr>
          <p:nvPr/>
        </p:nvSpPr>
        <p:spPr bwMode="auto">
          <a:xfrm>
            <a:off x="2955925" y="1638300"/>
            <a:ext cx="28352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doesContactExist()</a:t>
            </a:r>
          </a:p>
        </p:txBody>
      </p:sp>
      <p:sp>
        <p:nvSpPr>
          <p:cNvPr id="24" name="Text Box 21"/>
          <p:cNvSpPr txBox="1">
            <a:spLocks noChangeArrowheads="1"/>
          </p:cNvSpPr>
          <p:nvPr/>
        </p:nvSpPr>
        <p:spPr bwMode="auto">
          <a:xfrm>
            <a:off x="1444626" y="2693175"/>
            <a:ext cx="1463675"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a:solidFill>
                  <a:schemeClr val="bg1"/>
                </a:solidFill>
              </a:rPr>
              <a:t>ContactAPI</a:t>
            </a:r>
          </a:p>
        </p:txBody>
      </p:sp>
      <p:sp>
        <p:nvSpPr>
          <p:cNvPr id="25" name="Text Box 29"/>
          <p:cNvSpPr txBox="1">
            <a:spLocks noChangeArrowheads="1"/>
          </p:cNvSpPr>
          <p:nvPr/>
        </p:nvSpPr>
        <p:spPr bwMode="auto">
          <a:xfrm>
            <a:off x="2955925" y="1995488"/>
            <a:ext cx="21034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getContactInfo()</a:t>
            </a:r>
          </a:p>
        </p:txBody>
      </p:sp>
      <p:sp>
        <p:nvSpPr>
          <p:cNvPr id="26" name="Text Box 30"/>
          <p:cNvSpPr txBox="1">
            <a:spLocks noChangeArrowheads="1"/>
          </p:cNvSpPr>
          <p:nvPr/>
        </p:nvSpPr>
        <p:spPr bwMode="auto">
          <a:xfrm>
            <a:off x="2955925" y="2352675"/>
            <a:ext cx="2408237" cy="2769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setContactEmail()</a:t>
            </a:r>
          </a:p>
        </p:txBody>
      </p:sp>
      <p:sp>
        <p:nvSpPr>
          <p:cNvPr id="27" name="Line 31"/>
          <p:cNvSpPr>
            <a:spLocks noChangeShapeType="1"/>
          </p:cNvSpPr>
          <p:nvPr/>
        </p:nvSpPr>
        <p:spPr bwMode="auto">
          <a:xfrm flipH="1">
            <a:off x="5191125" y="1768475"/>
            <a:ext cx="1371600" cy="0"/>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none" lIns="0" tIns="0" rIns="0" bIns="0" anchor="ctr">
            <a:spAutoFit/>
          </a:bodyPr>
          <a:lstStyle/>
          <a:p>
            <a:endParaRPr lang="en-US" dirty="0"/>
          </a:p>
        </p:txBody>
      </p:sp>
      <p:sp>
        <p:nvSpPr>
          <p:cNvPr id="28" name="Line 32"/>
          <p:cNvSpPr>
            <a:spLocks noChangeShapeType="1"/>
          </p:cNvSpPr>
          <p:nvPr/>
        </p:nvSpPr>
        <p:spPr bwMode="auto">
          <a:xfrm flipH="1">
            <a:off x="4886325" y="2141538"/>
            <a:ext cx="1676400" cy="0"/>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sp>
        <p:nvSpPr>
          <p:cNvPr id="29" name="Line 33"/>
          <p:cNvSpPr>
            <a:spLocks noChangeShapeType="1"/>
          </p:cNvSpPr>
          <p:nvPr/>
        </p:nvSpPr>
        <p:spPr bwMode="auto">
          <a:xfrm flipH="1">
            <a:off x="5114925" y="2514600"/>
            <a:ext cx="1447800" cy="0"/>
          </a:xfrm>
          <a:prstGeom prst="line">
            <a:avLst/>
          </a:prstGeom>
          <a:noFill/>
          <a:ln w="28575">
            <a:solidFill>
              <a:schemeClr val="accent1"/>
            </a:solidFill>
            <a:round/>
            <a:headEnd type="arrow" w="lg" len="me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lIns="0" tIns="0" rIns="0" bIns="0" anchor="ctr">
            <a:spAutoFit/>
          </a:bodyPr>
          <a:lstStyle/>
          <a:p>
            <a:endParaRPr lang="en-US" dirty="0"/>
          </a:p>
        </p:txBody>
      </p:sp>
      <p:pic>
        <p:nvPicPr>
          <p:cNvPr id="31"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06767" y="1501319"/>
            <a:ext cx="1121162" cy="119185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6" name="Text Box 5"/>
          <p:cNvSpPr txBox="1">
            <a:spLocks noChangeArrowheads="1"/>
          </p:cNvSpPr>
          <p:nvPr/>
        </p:nvSpPr>
        <p:spPr bwMode="auto">
          <a:xfrm>
            <a:off x="7131844"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Tree>
    <p:extLst>
      <p:ext uri="{BB962C8B-B14F-4D97-AF65-F5344CB8AC3E}">
        <p14:creationId xmlns:p14="http://schemas.microsoft.com/office/powerpoint/2010/main" val="2704775991"/>
      </p:ext>
    </p:extLst>
  </p:cSld>
  <p:clrMapOvr>
    <a:masterClrMapping/>
  </p:clrMapOvr>
  <p:transition/>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Guidewire support for WS-I web services</a:t>
            </a:r>
            <a:endParaRPr lang="en-US" dirty="0"/>
          </a:p>
        </p:txBody>
      </p:sp>
      <p:sp>
        <p:nvSpPr>
          <p:cNvPr id="3" name="Content Placeholder 2"/>
          <p:cNvSpPr>
            <a:spLocks noGrp="1"/>
          </p:cNvSpPr>
          <p:nvPr>
            <p:ph idx="1"/>
          </p:nvPr>
        </p:nvSpPr>
        <p:spPr/>
        <p:txBody>
          <a:bodyPr/>
          <a:lstStyle/>
          <a:p>
            <a:r>
              <a:rPr lang="en-US" dirty="0"/>
              <a:t>WS-I </a:t>
            </a:r>
            <a:r>
              <a:rPr lang="en-US" dirty="0" smtClean="0"/>
              <a:t>is a common, industry standard</a:t>
            </a:r>
          </a:p>
          <a:p>
            <a:r>
              <a:rPr lang="en-US" dirty="0" smtClean="0"/>
              <a:t>WS-I </a:t>
            </a:r>
            <a:r>
              <a:rPr lang="en-US" dirty="0"/>
              <a:t>provides </a:t>
            </a:r>
            <a:r>
              <a:rPr lang="en-US" dirty="0" smtClean="0"/>
              <a:t>an XSD for </a:t>
            </a:r>
            <a:r>
              <a:rPr lang="en-US" dirty="0"/>
              <a:t>a </a:t>
            </a:r>
            <a:r>
              <a:rPr lang="en-US" dirty="0" smtClean="0"/>
              <a:t>data </a:t>
            </a:r>
            <a:r>
              <a:rPr lang="en-US" dirty="0"/>
              <a:t>validation </a:t>
            </a:r>
            <a:endParaRPr lang="en-US" dirty="0" smtClean="0"/>
          </a:p>
          <a:p>
            <a:pPr lvl="1"/>
            <a:r>
              <a:rPr lang="en-US" dirty="0" smtClean="0"/>
              <a:t>XSD is a schema definition document</a:t>
            </a:r>
            <a:endParaRPr lang="en-US" dirty="0"/>
          </a:p>
          <a:p>
            <a:r>
              <a:rPr lang="en-US" dirty="0"/>
              <a:t>Guidewire 8 deprecates the publishing of RPCE web </a:t>
            </a:r>
            <a:r>
              <a:rPr lang="en-US" dirty="0" smtClean="0"/>
              <a:t>services</a:t>
            </a:r>
            <a:endParaRPr lang="en-US" dirty="0"/>
          </a:p>
          <a:p>
            <a:endParaRPr lang="en-US" dirty="0"/>
          </a:p>
        </p:txBody>
      </p:sp>
      <p:sp>
        <p:nvSpPr>
          <p:cNvPr id="75" name="Text Box 101"/>
          <p:cNvSpPr txBox="1">
            <a:spLocks noChangeArrowheads="1"/>
          </p:cNvSpPr>
          <p:nvPr/>
        </p:nvSpPr>
        <p:spPr bwMode="auto">
          <a:xfrm>
            <a:off x="3377513" y="2524703"/>
            <a:ext cx="921470" cy="4924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wrap="square"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2"/>
                </a:solidFill>
              </a:rPr>
              <a:t>WS-I   </a:t>
            </a:r>
            <a:br>
              <a:rPr lang="en-US" sz="1600" dirty="0" smtClean="0">
                <a:solidFill>
                  <a:schemeClr val="bg2"/>
                </a:solidFill>
              </a:rPr>
            </a:br>
            <a:r>
              <a:rPr lang="en-US" sz="1600" dirty="0" smtClean="0">
                <a:solidFill>
                  <a:schemeClr val="bg2"/>
                </a:solidFill>
              </a:rPr>
              <a:t>WSDL</a:t>
            </a:r>
            <a:endParaRPr lang="en-US" sz="1600" dirty="0">
              <a:solidFill>
                <a:schemeClr val="bg2"/>
              </a:solidFill>
            </a:endParaRPr>
          </a:p>
        </p:txBody>
      </p:sp>
      <p:sp>
        <p:nvSpPr>
          <p:cNvPr id="76" name="Text Box 102"/>
          <p:cNvSpPr txBox="1">
            <a:spLocks noChangeArrowheads="1"/>
          </p:cNvSpPr>
          <p:nvPr/>
        </p:nvSpPr>
        <p:spPr bwMode="auto">
          <a:xfrm>
            <a:off x="4856472" y="2524703"/>
            <a:ext cx="588963"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smtClean="0">
                <a:solidFill>
                  <a:schemeClr val="bg2"/>
                </a:solidFill>
              </a:rPr>
              <a:t>XSD</a:t>
            </a:r>
            <a:endParaRPr lang="en-US" sz="1600" dirty="0">
              <a:solidFill>
                <a:schemeClr val="bg2"/>
              </a:solidFill>
            </a:endParaRPr>
          </a:p>
        </p:txBody>
      </p:sp>
      <p:sp>
        <p:nvSpPr>
          <p:cNvPr id="77" name="Line 105"/>
          <p:cNvSpPr>
            <a:spLocks noChangeShapeType="1"/>
          </p:cNvSpPr>
          <p:nvPr/>
        </p:nvSpPr>
        <p:spPr bwMode="auto">
          <a:xfrm>
            <a:off x="4012027" y="1549978"/>
            <a:ext cx="1046122" cy="0"/>
          </a:xfrm>
          <a:prstGeom prst="line">
            <a:avLst/>
          </a:prstGeom>
          <a:noFill/>
          <a:ln w="28575">
            <a:solidFill>
              <a:schemeClr val="bg2"/>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noFill/>
              </a14:hiddenFill>
            </a:ext>
          </a:extLst>
        </p:spPr>
        <p:txBody>
          <a:bodyPr wrap="square" lIns="0" tIns="0" rIns="0" bIns="0" anchor="ctr">
            <a:spAutoFit/>
          </a:bodyPr>
          <a:lstStyle/>
          <a:p>
            <a:endParaRPr lang="en-US"/>
          </a:p>
        </p:txBody>
      </p:sp>
      <p:pic>
        <p:nvPicPr>
          <p:cNvPr id="78"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6472" y="1189614"/>
            <a:ext cx="907846" cy="109537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9"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7513" y="1186439"/>
            <a:ext cx="1271588" cy="133191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752732409"/>
      </p:ext>
    </p:extLst>
  </p:cSld>
  <p:clrMapOvr>
    <a:masterClrMapping/>
  </p:clrMapOvr>
  <p:transition/>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Create a Guidewire WS-I web service</a:t>
            </a:r>
            <a:endParaRPr lang="en-US" dirty="0"/>
          </a:p>
        </p:txBody>
      </p:sp>
      <p:sp>
        <p:nvSpPr>
          <p:cNvPr id="3" name="Content Placeholder 2"/>
          <p:cNvSpPr>
            <a:spLocks noGrp="1"/>
          </p:cNvSpPr>
          <p:nvPr>
            <p:ph idx="1"/>
          </p:nvPr>
        </p:nvSpPr>
        <p:spPr/>
        <p:txBody>
          <a:bodyPr/>
          <a:lstStyle/>
          <a:p>
            <a:pPr marL="457200" indent="-457200">
              <a:buFont typeface="+mj-lt"/>
              <a:buAutoNum type="arabicPeriod"/>
            </a:pPr>
            <a:r>
              <a:rPr lang="en-US" dirty="0"/>
              <a:t>Create the </a:t>
            </a:r>
            <a:r>
              <a:rPr lang="en-US" dirty="0" smtClean="0"/>
              <a:t>package</a:t>
            </a:r>
          </a:p>
          <a:p>
            <a:pPr marL="457200" indent="-457200">
              <a:buFont typeface="+mj-lt"/>
              <a:buAutoNum type="arabicPeriod"/>
            </a:pPr>
            <a:r>
              <a:rPr lang="en-US" dirty="0" smtClean="0"/>
              <a:t>Create the Gosu class</a:t>
            </a:r>
          </a:p>
          <a:p>
            <a:pPr marL="457200" indent="-457200">
              <a:buFont typeface="+mj-lt"/>
              <a:buAutoNum type="arabicPeriod"/>
            </a:pPr>
            <a:r>
              <a:rPr lang="en-US" dirty="0" smtClean="0"/>
              <a:t>Add </a:t>
            </a:r>
            <a:r>
              <a:rPr lang="en-US" dirty="0"/>
              <a:t>the web service annotations</a:t>
            </a:r>
          </a:p>
          <a:p>
            <a:pPr marL="457200" indent="-457200">
              <a:buFont typeface="+mj-lt"/>
              <a:buAutoNum type="arabicPeriod"/>
            </a:pPr>
            <a:r>
              <a:rPr lang="en-US" dirty="0"/>
              <a:t>Add </a:t>
            </a:r>
            <a:r>
              <a:rPr lang="en-US" dirty="0" smtClean="0"/>
              <a:t>methods</a:t>
            </a:r>
          </a:p>
          <a:p>
            <a:pPr lvl="1"/>
            <a:r>
              <a:rPr lang="en-US" dirty="0" smtClean="0"/>
              <a:t>Method </a:t>
            </a:r>
            <a:r>
              <a:rPr lang="en-US" dirty="0"/>
              <a:t>that </a:t>
            </a:r>
            <a:r>
              <a:rPr lang="en-US" dirty="0" smtClean="0"/>
              <a:t>modify Guidewire </a:t>
            </a:r>
            <a:r>
              <a:rPr lang="en-US" dirty="0"/>
              <a:t>data must create and commit a bundle</a:t>
            </a:r>
          </a:p>
          <a:p>
            <a:pPr marL="457200" indent="-457200">
              <a:buFont typeface="+mj-lt"/>
              <a:buAutoNum type="arabicPeriod"/>
            </a:pPr>
            <a:r>
              <a:rPr lang="en-US" dirty="0" smtClean="0"/>
              <a:t>Deploy </a:t>
            </a:r>
            <a:r>
              <a:rPr lang="en-US" dirty="0"/>
              <a:t>your changes</a:t>
            </a:r>
          </a:p>
          <a:p>
            <a:endParaRPr lang="en-US" dirty="0"/>
          </a:p>
        </p:txBody>
      </p:sp>
    </p:spTree>
    <p:extLst>
      <p:ext uri="{BB962C8B-B14F-4D97-AF65-F5344CB8AC3E}">
        <p14:creationId xmlns:p14="http://schemas.microsoft.com/office/powerpoint/2010/main" val="3576415578"/>
      </p:ext>
    </p:extLst>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0699" y="889000"/>
            <a:ext cx="4053283" cy="31496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Title 1"/>
          <p:cNvSpPr>
            <a:spLocks noGrp="1"/>
          </p:cNvSpPr>
          <p:nvPr>
            <p:ph type="title"/>
          </p:nvPr>
        </p:nvSpPr>
        <p:spPr/>
        <p:txBody>
          <a:bodyPr/>
          <a:lstStyle/>
          <a:p>
            <a:r>
              <a:rPr lang="en-US" dirty="0"/>
              <a:t>Step 1: Create a </a:t>
            </a:r>
            <a:r>
              <a:rPr lang="en-US" dirty="0" smtClean="0"/>
              <a:t>package</a:t>
            </a:r>
            <a:endParaRPr lang="en-US" dirty="0"/>
          </a:p>
        </p:txBody>
      </p:sp>
      <p:sp>
        <p:nvSpPr>
          <p:cNvPr id="3" name="Content Placeholder 2"/>
          <p:cNvSpPr>
            <a:spLocks noGrp="1"/>
          </p:cNvSpPr>
          <p:nvPr>
            <p:ph sz="half" idx="2"/>
          </p:nvPr>
        </p:nvSpPr>
        <p:spPr>
          <a:xfrm>
            <a:off x="4887283" y="899886"/>
            <a:ext cx="3947160" cy="3657600"/>
          </a:xfrm>
        </p:spPr>
        <p:txBody>
          <a:bodyPr/>
          <a:lstStyle/>
          <a:p>
            <a:r>
              <a:rPr lang="en-US" b="1" dirty="0" smtClean="0">
                <a:latin typeface="Courier New" pitchFamily="49" charset="0"/>
                <a:cs typeface="Courier New" pitchFamily="49" charset="0"/>
              </a:rPr>
              <a:t>/configuration/gsrc/</a:t>
            </a:r>
          </a:p>
          <a:p>
            <a:pPr lvl="1"/>
            <a:r>
              <a:rPr lang="en-US" dirty="0">
                <a:cs typeface="Courier New" pitchFamily="49" charset="0"/>
              </a:rPr>
              <a:t>Create </a:t>
            </a:r>
            <a:r>
              <a:rPr lang="en-US" dirty="0" smtClean="0">
                <a:cs typeface="Courier New" pitchFamily="49" charset="0"/>
              </a:rPr>
              <a:t>package</a:t>
            </a:r>
          </a:p>
          <a:p>
            <a:pPr lvl="1"/>
            <a:r>
              <a:rPr lang="en-US" dirty="0">
                <a:cs typeface="Courier New" pitchFamily="49" charset="0"/>
              </a:rPr>
              <a:t>New </a:t>
            </a:r>
            <a:r>
              <a:rPr lang="en-US" dirty="0">
                <a:cs typeface="Courier New" pitchFamily="49" charset="0"/>
                <a:sym typeface="Wingdings" pitchFamily="2" charset="2"/>
              </a:rPr>
              <a:t> Package</a:t>
            </a:r>
            <a:r>
              <a:rPr lang="en-US" dirty="0" smtClean="0">
                <a:cs typeface="Courier New" pitchFamily="49" charset="0"/>
              </a:rPr>
              <a:t/>
            </a:r>
            <a:br>
              <a:rPr lang="en-US" dirty="0" smtClean="0">
                <a:cs typeface="Courier New" pitchFamily="49" charset="0"/>
              </a:rPr>
            </a:br>
            <a:r>
              <a:rPr lang="en-US" dirty="0" smtClean="0">
                <a:cs typeface="Courier New" pitchFamily="49" charset="0"/>
              </a:rPr>
              <a:t/>
            </a:r>
            <a:br>
              <a:rPr lang="en-US" dirty="0" smtClean="0">
                <a:cs typeface="Courier New" pitchFamily="49" charset="0"/>
              </a:rPr>
            </a:br>
            <a:r>
              <a:rPr lang="en-US" dirty="0" smtClean="0">
                <a:cs typeface="Courier New" pitchFamily="49" charset="0"/>
              </a:rPr>
              <a:t/>
            </a:r>
            <a:br>
              <a:rPr lang="en-US" dirty="0" smtClean="0">
                <a:cs typeface="Courier New" pitchFamily="49" charset="0"/>
              </a:rPr>
            </a:br>
            <a:r>
              <a:rPr lang="en-US" dirty="0" smtClean="0">
                <a:cs typeface="Courier New" pitchFamily="49" charset="0"/>
              </a:rPr>
              <a:t/>
            </a:r>
            <a:br>
              <a:rPr lang="en-US" dirty="0" smtClean="0">
                <a:cs typeface="Courier New" pitchFamily="49" charset="0"/>
              </a:rPr>
            </a:br>
            <a:endParaRPr lang="en-US" dirty="0" smtClean="0">
              <a:cs typeface="Courier New" pitchFamily="49" charset="0"/>
            </a:endParaRPr>
          </a:p>
          <a:p>
            <a:pPr lvl="1"/>
            <a:endParaRPr lang="en-US" b="1" dirty="0" smtClean="0">
              <a:latin typeface="Courier New" pitchFamily="49" charset="0"/>
              <a:cs typeface="Courier New" pitchFamily="49" charset="0"/>
            </a:endParaRPr>
          </a:p>
          <a:p>
            <a:pPr lvl="1"/>
            <a:endParaRPr lang="en-US" b="1" dirty="0">
              <a:latin typeface="Courier New" pitchFamily="49" charset="0"/>
              <a:cs typeface="Courier New" pitchFamily="49" charset="0"/>
            </a:endParaRPr>
          </a:p>
        </p:txBody>
      </p:sp>
      <p:sp>
        <p:nvSpPr>
          <p:cNvPr id="4" name="Content Placeholder 3"/>
          <p:cNvSpPr>
            <a:spLocks noGrp="1"/>
          </p:cNvSpPr>
          <p:nvPr>
            <p:ph idx="10"/>
          </p:nvPr>
        </p:nvSpPr>
        <p:spPr>
          <a:xfrm>
            <a:off x="521208" y="5181600"/>
            <a:ext cx="8321040" cy="1219200"/>
          </a:xfrm>
        </p:spPr>
        <p:txBody>
          <a:bodyPr/>
          <a:lstStyle/>
          <a:p>
            <a:r>
              <a:rPr lang="en-US" dirty="0" smtClean="0"/>
              <a:t>Guidewire </a:t>
            </a:r>
            <a:r>
              <a:rPr lang="en-US" dirty="0"/>
              <a:t>naming convention recommendation </a:t>
            </a:r>
          </a:p>
          <a:p>
            <a:pPr lvl="1"/>
            <a:r>
              <a:rPr lang="en-US" b="1" dirty="0" smtClean="0">
                <a:latin typeface="Courier New" pitchFamily="49" charset="0"/>
                <a:cs typeface="Courier New" pitchFamily="49" charset="0"/>
              </a:rPr>
              <a:t>&lt;company&gt;.&lt;app_code&gt;.webservice.&lt;functional_area&gt;</a:t>
            </a:r>
            <a:endParaRPr lang="en-US" dirty="0"/>
          </a:p>
          <a:p>
            <a:pPr lvl="1"/>
            <a:r>
              <a:rPr lang="en-US" dirty="0"/>
              <a:t>Example</a:t>
            </a:r>
            <a:r>
              <a:rPr lang="en-US" dirty="0" smtClean="0"/>
              <a:t>: </a:t>
            </a:r>
            <a:r>
              <a:rPr lang="en-US" b="1" dirty="0" smtClean="0">
                <a:latin typeface="Courier New" pitchFamily="49" charset="0"/>
                <a:cs typeface="Courier New" pitchFamily="49" charset="0"/>
              </a:rPr>
              <a:t>acme.ta.webservice.contact</a:t>
            </a:r>
            <a:endParaRPr lang="en-US" b="1" dirty="0">
              <a:latin typeface="Courier New" pitchFamily="49" charset="0"/>
              <a:cs typeface="Courier New" pitchFamily="49" charset="0"/>
            </a:endParaRPr>
          </a:p>
          <a:p>
            <a:endParaRPr lang="en-US" dirty="0"/>
          </a:p>
        </p:txBody>
      </p:sp>
      <p:pic>
        <p:nvPicPr>
          <p:cNvPr id="3078" name="Picture 6" descr="C:\Users\sluersen\AppData\Local\Temp\SNAGHTML2158540.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60040" y="2639840"/>
            <a:ext cx="3165714" cy="2365715"/>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1029" name="Picture 5" descr="C:\Users\sluersen\AppData\Local\Temp\SNAGHTML4db107.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200" y="3200400"/>
            <a:ext cx="3430180" cy="1370013"/>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21" name="Down Arrow 20"/>
          <p:cNvSpPr/>
          <p:nvPr/>
        </p:nvSpPr>
        <p:spPr bwMode="auto">
          <a:xfrm rot="16200000">
            <a:off x="5535254" y="4287947"/>
            <a:ext cx="381000" cy="717332"/>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1584429070"/>
      </p:ext>
    </p:extLst>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399" y="914400"/>
            <a:ext cx="4038601" cy="3337364"/>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
        <p:nvSpPr>
          <p:cNvPr id="2" name="Title 1"/>
          <p:cNvSpPr>
            <a:spLocks noGrp="1"/>
          </p:cNvSpPr>
          <p:nvPr>
            <p:ph type="title"/>
          </p:nvPr>
        </p:nvSpPr>
        <p:spPr/>
        <p:txBody>
          <a:bodyPr/>
          <a:lstStyle/>
          <a:p>
            <a:r>
              <a:rPr lang="en-US" dirty="0"/>
              <a:t>Step </a:t>
            </a:r>
            <a:r>
              <a:rPr lang="en-US" dirty="0" smtClean="0"/>
              <a:t>2: Create Gosu class</a:t>
            </a:r>
            <a:endParaRPr lang="en-US" dirty="0"/>
          </a:p>
        </p:txBody>
      </p:sp>
      <p:sp>
        <p:nvSpPr>
          <p:cNvPr id="3" name="Content Placeholder 2"/>
          <p:cNvSpPr>
            <a:spLocks noGrp="1"/>
          </p:cNvSpPr>
          <p:nvPr>
            <p:ph idx="1"/>
          </p:nvPr>
        </p:nvSpPr>
        <p:spPr>
          <a:xfrm>
            <a:off x="519113" y="5233855"/>
            <a:ext cx="8318500" cy="1166944"/>
          </a:xfrm>
        </p:spPr>
        <p:txBody>
          <a:bodyPr/>
          <a:lstStyle/>
          <a:p>
            <a:r>
              <a:rPr lang="en-US" dirty="0" smtClean="0"/>
              <a:t>Naming convention for web service class:</a:t>
            </a:r>
          </a:p>
          <a:p>
            <a:pPr lvl="1"/>
            <a:r>
              <a:rPr lang="en-US" b="1" dirty="0" smtClean="0">
                <a:latin typeface="Courier New" pitchFamily="49" charset="0"/>
                <a:cs typeface="Courier New" pitchFamily="49" charset="0"/>
              </a:rPr>
              <a:t>&lt;meaningfulName&gt;API</a:t>
            </a:r>
          </a:p>
          <a:p>
            <a:r>
              <a:rPr lang="en-US" dirty="0"/>
              <a:t>Example</a:t>
            </a:r>
            <a:r>
              <a:rPr lang="en-US" dirty="0" smtClean="0"/>
              <a:t>: </a:t>
            </a:r>
            <a:r>
              <a:rPr lang="en-US" b="1" dirty="0" smtClean="0">
                <a:latin typeface="Courier New" pitchFamily="49" charset="0"/>
                <a:cs typeface="Courier New" pitchFamily="49" charset="0"/>
              </a:rPr>
              <a:t>ContactAPI</a:t>
            </a:r>
            <a:endParaRPr lang="en-US" b="1" dirty="0">
              <a:latin typeface="Courier New" pitchFamily="49" charset="0"/>
              <a:cs typeface="Courier New" pitchFamily="49" charset="0"/>
            </a:endParaRPr>
          </a:p>
          <a:p>
            <a:pPr lvl="1"/>
            <a:endParaRPr lang="en-US" b="1" dirty="0" smtClean="0">
              <a:latin typeface="Courier New" pitchFamily="49" charset="0"/>
              <a:cs typeface="Courier New" pitchFamily="49" charset="0"/>
            </a:endParaRPr>
          </a:p>
          <a:p>
            <a:pPr lvl="1"/>
            <a:endParaRPr lang="en-US" b="1" dirty="0">
              <a:latin typeface="Courier New" pitchFamily="49" charset="0"/>
              <a:cs typeface="Courier New" pitchFamily="49" charset="0"/>
            </a:endParaRPr>
          </a:p>
        </p:txBody>
      </p:sp>
      <p:pic>
        <p:nvPicPr>
          <p:cNvPr id="4" name="Picture 2" descr="C:\Users\sluersen\AppData\Local\Temp\SNAGHTML4ffbcd.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95600" y="2819400"/>
            <a:ext cx="3177143" cy="2342857"/>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2053" name="Picture 5" descr="C:\Users\sluersen\AppData\Local\Temp\SNAGHTML8fd4ce.PNG"/>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662354" y="2971800"/>
            <a:ext cx="3347708" cy="136388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Down Arrow 7"/>
          <p:cNvSpPr/>
          <p:nvPr/>
        </p:nvSpPr>
        <p:spPr bwMode="auto">
          <a:xfrm rot="16200000">
            <a:off x="5644932" y="3794235"/>
            <a:ext cx="381000" cy="717332"/>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dirty="0"/>
          </a:p>
        </p:txBody>
      </p:sp>
    </p:spTree>
    <p:extLst>
      <p:ext uri="{BB962C8B-B14F-4D97-AF65-F5344CB8AC3E}">
        <p14:creationId xmlns:p14="http://schemas.microsoft.com/office/powerpoint/2010/main" val="626114300"/>
      </p:ext>
    </p:extLst>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68300" y="914400"/>
            <a:ext cx="393700" cy="3203402"/>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dirty="0"/>
          </a:p>
        </p:txBody>
      </p:sp>
      <p:sp>
        <p:nvSpPr>
          <p:cNvPr id="2" name="Title 1"/>
          <p:cNvSpPr>
            <a:spLocks noGrp="1"/>
          </p:cNvSpPr>
          <p:nvPr>
            <p:ph type="title"/>
          </p:nvPr>
        </p:nvSpPr>
        <p:spPr/>
        <p:txBody>
          <a:bodyPr/>
          <a:lstStyle/>
          <a:p>
            <a:r>
              <a:rPr lang="en-US" dirty="0" smtClean="0"/>
              <a:t>Step 3: Add web service class annotations</a:t>
            </a:r>
            <a:endParaRPr lang="en-US" dirty="0"/>
          </a:p>
        </p:txBody>
      </p:sp>
      <p:sp>
        <p:nvSpPr>
          <p:cNvPr id="3" name="Content Placeholder 2"/>
          <p:cNvSpPr>
            <a:spLocks noGrp="1"/>
          </p:cNvSpPr>
          <p:nvPr>
            <p:ph idx="1"/>
          </p:nvPr>
        </p:nvSpPr>
        <p:spPr>
          <a:xfrm>
            <a:off x="519113" y="4343400"/>
            <a:ext cx="8318500" cy="2057400"/>
          </a:xfrm>
        </p:spPr>
        <p:txBody>
          <a:bodyPr/>
          <a:lstStyle/>
          <a:p>
            <a:r>
              <a:rPr lang="en-US" dirty="0" smtClean="0"/>
              <a:t>Required</a:t>
            </a:r>
          </a:p>
          <a:p>
            <a:pPr lvl="1"/>
            <a:r>
              <a:rPr lang="en-US" dirty="0" smtClean="0"/>
              <a:t>@</a:t>
            </a:r>
            <a:r>
              <a:rPr lang="en-US" dirty="0" err="1" smtClean="0"/>
              <a:t>WsiWebService</a:t>
            </a:r>
            <a:r>
              <a:rPr lang="en-US" dirty="0" smtClean="0"/>
              <a:t> </a:t>
            </a:r>
            <a:r>
              <a:rPr lang="en-US" dirty="0"/>
              <a:t>annotation </a:t>
            </a:r>
            <a:r>
              <a:rPr lang="en-US" dirty="0" smtClean="0"/>
              <a:t>is required </a:t>
            </a:r>
            <a:r>
              <a:rPr lang="en-US" dirty="0"/>
              <a:t>for </a:t>
            </a:r>
            <a:r>
              <a:rPr lang="en-US" dirty="0" err="1" smtClean="0"/>
              <a:t>WS</a:t>
            </a:r>
            <a:r>
              <a:rPr lang="en-US" dirty="0" smtClean="0"/>
              <a:t>-I web </a:t>
            </a:r>
            <a:r>
              <a:rPr lang="en-US" dirty="0"/>
              <a:t>service </a:t>
            </a:r>
            <a:r>
              <a:rPr lang="en-US" dirty="0" smtClean="0"/>
              <a:t>class</a:t>
            </a:r>
          </a:p>
          <a:p>
            <a:r>
              <a:rPr lang="en-US" dirty="0" smtClean="0"/>
              <a:t>Optional</a:t>
            </a:r>
          </a:p>
          <a:p>
            <a:pPr lvl="1"/>
            <a:r>
              <a:rPr lang="en-US" dirty="0"/>
              <a:t>@</a:t>
            </a:r>
            <a:r>
              <a:rPr lang="en-US" dirty="0" err="1" smtClean="0"/>
              <a:t>WsiPermissions</a:t>
            </a:r>
            <a:r>
              <a:rPr lang="en-US" dirty="0" smtClean="0"/>
              <a:t> specifies user permissions; default to </a:t>
            </a:r>
            <a:r>
              <a:rPr lang="en-US" dirty="0" err="1" smtClean="0"/>
              <a:t>soapadmin</a:t>
            </a:r>
            <a:endParaRPr lang="en-US" dirty="0"/>
          </a:p>
          <a:p>
            <a:pPr lvl="1"/>
            <a:r>
              <a:rPr lang="en-US" dirty="0"/>
              <a:t>@</a:t>
            </a:r>
            <a:r>
              <a:rPr lang="en-US" dirty="0" err="1" smtClean="0"/>
              <a:t>WsiAvailability</a:t>
            </a:r>
            <a:r>
              <a:rPr lang="en-US" dirty="0" smtClean="0"/>
              <a:t> first usable run level; default is </a:t>
            </a:r>
            <a:r>
              <a:rPr lang="en-US" dirty="0" err="1" smtClean="0"/>
              <a:t>maintenacnce</a:t>
            </a:r>
            <a:endParaRPr lang="en-US" dirty="0"/>
          </a:p>
          <a:p>
            <a:pPr lvl="1"/>
            <a:endParaRPr lang="en-US" dirty="0"/>
          </a:p>
        </p:txBody>
      </p:sp>
      <p:sp>
        <p:nvSpPr>
          <p:cNvPr id="4" name="Rectangle 3"/>
          <p:cNvSpPr/>
          <p:nvPr/>
        </p:nvSpPr>
        <p:spPr>
          <a:xfrm>
            <a:off x="349468" y="910770"/>
            <a:ext cx="9359900" cy="3207032"/>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gw.xml.ws.annotation.WsiWebService</a:t>
            </a:r>
            <a:r>
              <a:rPr lang="en-US" sz="1600" b="1" dirty="0">
                <a:solidFill>
                  <a:srgbClr val="000000"/>
                </a:solidFill>
                <a:latin typeface="Courier New"/>
                <a:ea typeface="Times New Roman"/>
                <a:cs typeface="Times New Roman"/>
              </a:rPr>
              <a:t>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gw.xml.ws.annotation.WsiPermissions</a:t>
            </a:r>
            <a:r>
              <a:rPr lang="en-US" sz="1600" b="1" dirty="0">
                <a:solidFill>
                  <a:srgbClr val="000000"/>
                </a:solidFill>
                <a:latin typeface="Courier New"/>
                <a:ea typeface="Times New Roman"/>
                <a:cs typeface="Times New Roman"/>
              </a:rPr>
              <a:t>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gw.xml.ws.annotation.WsiAvailability</a:t>
            </a:r>
            <a:r>
              <a:rPr lang="en-US" sz="1600" b="1" dirty="0">
                <a:solidFill>
                  <a:srgbClr val="000000"/>
                </a:solidFill>
                <a:latin typeface="Courier New"/>
                <a:ea typeface="Times New Roman"/>
                <a:cs typeface="Times New Roman"/>
              </a:rPr>
              <a:t>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gw.xml.ws.annotation.WsiGenInToolkit</a:t>
            </a:r>
            <a:r>
              <a:rPr lang="en-US" sz="1600" b="1" dirty="0">
                <a:solidFill>
                  <a:srgbClr val="000000"/>
                </a:solidFill>
                <a:latin typeface="Courier New"/>
                <a:ea typeface="Times New Roman"/>
                <a:cs typeface="Times New Roman"/>
              </a:rPr>
              <a:t>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10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11 </a:t>
            </a: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WsiWebService</a:t>
            </a:r>
            <a:r>
              <a:rPr lang="en-US" sz="1600" b="1" dirty="0">
                <a:solidFill>
                  <a:srgbClr val="000000"/>
                </a:solidFill>
                <a:latin typeface="Courier New"/>
                <a:ea typeface="Times New Roman"/>
                <a:cs typeface="Times New Roman"/>
              </a:rPr>
              <a:t>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12 </a:t>
            </a: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WsiPermissions</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abedit</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13 </a:t>
            </a: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WsiAvailability</a:t>
            </a:r>
            <a:r>
              <a:rPr lang="en-US" sz="1600" b="1" dirty="0">
                <a:solidFill>
                  <a:srgbClr val="000000"/>
                </a:solidFill>
                <a:latin typeface="Courier New"/>
                <a:ea typeface="Times New Roman"/>
                <a:cs typeface="Times New Roman"/>
              </a:rPr>
              <a:t>(MAINTENANCE)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14 </a:t>
            </a: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WsiGenInToolkit</a:t>
            </a:r>
            <a:r>
              <a:rPr lang="en-US" sz="1600" b="1" dirty="0">
                <a:solidFill>
                  <a:srgbClr val="000000"/>
                </a:solidFill>
                <a:latin typeface="Courier New"/>
                <a:ea typeface="Times New Roman"/>
                <a:cs typeface="Times New Roman"/>
              </a:rPr>
              <a:t> </a:t>
            </a:r>
            <a:endParaRPr lang="en-US" sz="20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15    </a:t>
            </a:r>
            <a:endParaRPr lang="en-US" sz="2000" b="1" dirty="0">
              <a:latin typeface="Calibri"/>
              <a:ea typeface="Calibri"/>
              <a:cs typeface="Times New Roman"/>
            </a:endParaRPr>
          </a:p>
          <a:p>
            <a:pPr>
              <a:lnSpc>
                <a:spcPct val="115000"/>
              </a:lnSpc>
              <a:spcAft>
                <a:spcPts val="1000"/>
              </a:spcAft>
            </a:pPr>
            <a:r>
              <a:rPr lang="en-US" sz="1600" b="1" dirty="0">
                <a:solidFill>
                  <a:srgbClr val="000000"/>
                </a:solidFill>
                <a:latin typeface="Courier New"/>
                <a:ea typeface="Times New Roman"/>
                <a:cs typeface="Times New Roman"/>
              </a:rPr>
              <a:t>16 </a:t>
            </a:r>
            <a:r>
              <a:rPr lang="en-US" sz="1600" b="1" dirty="0" smtClean="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class </a:t>
            </a:r>
            <a:r>
              <a:rPr lang="en-US" sz="1600" b="1" dirty="0" err="1">
                <a:solidFill>
                  <a:srgbClr val="000000"/>
                </a:solidFill>
                <a:latin typeface="Courier New"/>
                <a:ea typeface="Times New Roman"/>
                <a:cs typeface="Times New Roman"/>
              </a:rPr>
              <a:t>ContactAPI</a:t>
            </a:r>
            <a:r>
              <a:rPr lang="en-US" sz="1600" b="1" dirty="0">
                <a:solidFill>
                  <a:srgbClr val="000000"/>
                </a:solidFill>
                <a:latin typeface="Courier New"/>
                <a:ea typeface="Times New Roman"/>
                <a:cs typeface="Times New Roman"/>
              </a:rPr>
              <a:t> {</a:t>
            </a:r>
            <a:endParaRPr lang="en-US" sz="2000" b="1" dirty="0">
              <a:effectLst/>
              <a:latin typeface="Calibri"/>
              <a:ea typeface="Calibri"/>
              <a:cs typeface="Times New Roman"/>
            </a:endParaRPr>
          </a:p>
        </p:txBody>
      </p:sp>
      <p:sp>
        <p:nvSpPr>
          <p:cNvPr id="8" name="AutoShape 5"/>
          <p:cNvSpPr>
            <a:spLocks noChangeArrowheads="1"/>
          </p:cNvSpPr>
          <p:nvPr/>
        </p:nvSpPr>
        <p:spPr bwMode="auto">
          <a:xfrm>
            <a:off x="303764" y="2362970"/>
            <a:ext cx="4364617" cy="825545"/>
          </a:xfrm>
          <a:prstGeom prst="roundRect">
            <a:avLst>
              <a:gd name="adj" fmla="val 16667"/>
            </a:avLst>
          </a:prstGeom>
          <a:noFill/>
          <a:ln w="28575" algn="ctr">
            <a:solidFill>
              <a:srgbClr val="C00000"/>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Tree>
    <p:extLst>
      <p:ext uri="{BB962C8B-B14F-4D97-AF65-F5344CB8AC3E}">
        <p14:creationId xmlns:p14="http://schemas.microsoft.com/office/powerpoint/2010/main" val="2054783002"/>
      </p:ext>
    </p:extLst>
  </p:cSld>
  <p:clrMapOvr>
    <a:masterClrMapping/>
  </p:clrMapOvr>
  <p:transition/>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68300" y="914400"/>
            <a:ext cx="393700" cy="1787630"/>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Step 4: Add methods</a:t>
            </a:r>
            <a:endParaRPr lang="en-US" dirty="0"/>
          </a:p>
        </p:txBody>
      </p:sp>
      <p:sp>
        <p:nvSpPr>
          <p:cNvPr id="6" name="Content Placeholder 5"/>
          <p:cNvSpPr>
            <a:spLocks noGrp="1"/>
          </p:cNvSpPr>
          <p:nvPr>
            <p:ph idx="1"/>
          </p:nvPr>
        </p:nvSpPr>
        <p:spPr>
          <a:xfrm>
            <a:off x="519113" y="3276600"/>
            <a:ext cx="8318500" cy="3124200"/>
          </a:xfrm>
        </p:spPr>
        <p:txBody>
          <a:bodyPr/>
          <a:lstStyle/>
          <a:p>
            <a:r>
              <a:rPr lang="en-US" dirty="0" smtClean="0"/>
              <a:t>Method </a:t>
            </a:r>
            <a:r>
              <a:rPr lang="en-US" dirty="0"/>
              <a:t>can accept </a:t>
            </a:r>
            <a:r>
              <a:rPr lang="en-US" dirty="0" smtClean="0"/>
              <a:t>and/or </a:t>
            </a:r>
            <a:r>
              <a:rPr lang="en-US" dirty="0"/>
              <a:t>return:</a:t>
            </a:r>
          </a:p>
          <a:p>
            <a:pPr lvl="1"/>
            <a:r>
              <a:rPr lang="en-US" dirty="0"/>
              <a:t>Simple </a:t>
            </a:r>
            <a:r>
              <a:rPr lang="en-US" dirty="0" smtClean="0"/>
              <a:t>values: Booleans</a:t>
            </a:r>
            <a:r>
              <a:rPr lang="en-US" dirty="0"/>
              <a:t>, numbers, strings, lists, arrays</a:t>
            </a:r>
          </a:p>
          <a:p>
            <a:pPr lvl="1"/>
            <a:r>
              <a:rPr lang="en-US" dirty="0"/>
              <a:t>XML types</a:t>
            </a:r>
          </a:p>
          <a:p>
            <a:pPr lvl="1"/>
            <a:r>
              <a:rPr lang="en-US" dirty="0"/>
              <a:t>Gosu </a:t>
            </a:r>
            <a:r>
              <a:rPr lang="en-US" dirty="0" smtClean="0"/>
              <a:t>objects (discussed </a:t>
            </a:r>
            <a:r>
              <a:rPr lang="en-US" dirty="0"/>
              <a:t>later in this </a:t>
            </a:r>
            <a:r>
              <a:rPr lang="en-US" dirty="0" smtClean="0"/>
              <a:t>lesson)</a:t>
            </a:r>
          </a:p>
          <a:p>
            <a:r>
              <a:rPr lang="en-US" dirty="0" smtClean="0"/>
              <a:t>Method cannot </a:t>
            </a:r>
            <a:r>
              <a:rPr lang="en-US" dirty="0"/>
              <a:t>accept or return an instance of </a:t>
            </a:r>
            <a:r>
              <a:rPr lang="en-US" dirty="0" smtClean="0"/>
              <a:t>a </a:t>
            </a:r>
            <a:br>
              <a:rPr lang="en-US" dirty="0" smtClean="0"/>
            </a:br>
            <a:r>
              <a:rPr lang="en-US" dirty="0" smtClean="0"/>
              <a:t>data </a:t>
            </a:r>
            <a:r>
              <a:rPr lang="en-US" dirty="0"/>
              <a:t>model entity</a:t>
            </a:r>
            <a:r>
              <a:rPr lang="en-US" dirty="0" smtClean="0"/>
              <a:t>!</a:t>
            </a:r>
            <a:endParaRPr lang="en-US" dirty="0"/>
          </a:p>
        </p:txBody>
      </p:sp>
      <p:sp>
        <p:nvSpPr>
          <p:cNvPr id="4" name="Rectangle 3"/>
          <p:cNvSpPr/>
          <p:nvPr/>
        </p:nvSpPr>
        <p:spPr>
          <a:xfrm>
            <a:off x="368300" y="910770"/>
            <a:ext cx="8623300" cy="1791260"/>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23 </a:t>
            </a:r>
            <a:r>
              <a:rPr lang="en-US" sz="1600" b="1" dirty="0" smtClean="0">
                <a:solidFill>
                  <a:srgbClr val="000000"/>
                </a:solidFill>
                <a:latin typeface="Courier New"/>
                <a:ea typeface="Times New Roman"/>
                <a:cs typeface="Times New Roman"/>
              </a:rPr>
              <a:t>  </a:t>
            </a:r>
            <a:r>
              <a:rPr lang="en-US" sz="1600" b="1" i="1" dirty="0" smtClean="0">
                <a:solidFill>
                  <a:srgbClr val="969696"/>
                </a:solidFill>
                <a:latin typeface="Courier New"/>
                <a:ea typeface="Times New Roman"/>
                <a:cs typeface="Times New Roman"/>
              </a:rPr>
              <a:t>// </a:t>
            </a:r>
            <a:r>
              <a:rPr lang="en-US" sz="1600" b="1" i="1" dirty="0">
                <a:solidFill>
                  <a:srgbClr val="969696"/>
                </a:solidFill>
                <a:latin typeface="Courier New"/>
                <a:ea typeface="Times New Roman"/>
                <a:cs typeface="Times New Roman"/>
              </a:rPr>
              <a:t>Method that simply returns a value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24 </a:t>
            </a:r>
            <a:r>
              <a:rPr lang="en-US" sz="1600" b="1" dirty="0" smtClean="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function </a:t>
            </a:r>
            <a:r>
              <a:rPr lang="en-US" sz="1600" b="1" dirty="0" err="1" smtClean="0">
                <a:solidFill>
                  <a:srgbClr val="000000"/>
                </a:solidFill>
                <a:latin typeface="Courier New"/>
                <a:ea typeface="Times New Roman"/>
                <a:cs typeface="Times New Roman"/>
              </a:rPr>
              <a:t>doesContactExist</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publicId</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String ) : </a:t>
            </a:r>
            <a:r>
              <a:rPr lang="en-US" sz="1600" b="1" dirty="0" err="1">
                <a:solidFill>
                  <a:srgbClr val="000000"/>
                </a:solidFill>
                <a:latin typeface="Courier New"/>
                <a:ea typeface="Times New Roman"/>
                <a:cs typeface="Times New Roman"/>
              </a:rPr>
              <a:t>boolean</a:t>
            </a:r>
            <a:r>
              <a:rPr lang="en-US" sz="1600" b="1" dirty="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25    </a:t>
            </a:r>
            <a:r>
              <a:rPr lang="en-US" sz="1600" b="1" dirty="0" smtClean="0">
                <a:solidFill>
                  <a:srgbClr val="000000"/>
                </a:solidFill>
                <a:latin typeface="Courier New"/>
                <a:ea typeface="Times New Roman"/>
                <a:cs typeface="Times New Roman"/>
              </a:rPr>
              <a:t>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queryObj = gw.api.database.Query.make(</a:t>
            </a:r>
            <a:r>
              <a:rPr lang="en-US" sz="1600" b="1" dirty="0" err="1">
                <a:solidFill>
                  <a:srgbClr val="000000"/>
                </a:solidFill>
                <a:latin typeface="Courier New"/>
                <a:ea typeface="Times New Roman"/>
                <a:cs typeface="Times New Roman"/>
              </a:rPr>
              <a:t>ABContact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26     </a:t>
            </a:r>
            <a:r>
              <a:rPr lang="en-US" sz="1600" b="1" dirty="0" err="1" smtClean="0">
                <a:solidFill>
                  <a:srgbClr val="000000"/>
                </a:solidFill>
                <a:latin typeface="Courier New"/>
                <a:ea typeface="Times New Roman"/>
                <a:cs typeface="Times New Roman"/>
              </a:rPr>
              <a:t>queryObj.compare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PublicID</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Equals, </a:t>
            </a:r>
            <a:r>
              <a:rPr lang="en-US" sz="1600" b="1" dirty="0" err="1">
                <a:solidFill>
                  <a:srgbClr val="000000"/>
                </a:solidFill>
                <a:latin typeface="Courier New"/>
                <a:ea typeface="Times New Roman"/>
                <a:cs typeface="Times New Roman"/>
              </a:rPr>
              <a:t>publicId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27     </a:t>
            </a:r>
            <a:r>
              <a:rPr lang="en-US" sz="1600" b="1" dirty="0" smtClean="0">
                <a:solidFill>
                  <a:srgbClr val="000080"/>
                </a:solidFill>
                <a:latin typeface="Courier New"/>
                <a:ea typeface="Times New Roman"/>
                <a:cs typeface="Times New Roman"/>
              </a:rPr>
              <a:t>return </a:t>
            </a:r>
            <a:r>
              <a:rPr lang="en-US" sz="1600" b="1" dirty="0">
                <a:solidFill>
                  <a:srgbClr val="000000"/>
                </a:solidFill>
                <a:latin typeface="Courier New"/>
                <a:ea typeface="Times New Roman"/>
                <a:cs typeface="Times New Roman"/>
              </a:rPr>
              <a:t>(</a:t>
            </a:r>
            <a:r>
              <a:rPr lang="en-US" sz="1600" b="1" dirty="0">
                <a:solidFill>
                  <a:srgbClr val="000080"/>
                </a:solidFill>
                <a:latin typeface="Courier New"/>
                <a:ea typeface="Times New Roman"/>
                <a:cs typeface="Times New Roman"/>
              </a:rPr>
              <a:t>not </a:t>
            </a:r>
            <a:r>
              <a:rPr lang="en-US" sz="1600" b="1" dirty="0" err="1">
                <a:solidFill>
                  <a:srgbClr val="000000"/>
                </a:solidFill>
                <a:latin typeface="Courier New"/>
                <a:ea typeface="Times New Roman"/>
                <a:cs typeface="Times New Roman"/>
              </a:rPr>
              <a:t>queryObj.select</a:t>
            </a:r>
            <a:r>
              <a:rPr lang="en-US" sz="1600" b="1" dirty="0">
                <a:solidFill>
                  <a:srgbClr val="000000"/>
                </a:solidFill>
                <a:latin typeface="Courier New"/>
                <a:ea typeface="Times New Roman"/>
                <a:cs typeface="Times New Roman"/>
              </a:rPr>
              <a:t>().Empty)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28   </a:t>
            </a:r>
            <a:r>
              <a:rPr lang="en-US" sz="1600" b="1" dirty="0" smtClean="0">
                <a:solidFill>
                  <a:srgbClr val="000000"/>
                </a:solidFill>
                <a:latin typeface="Courier New"/>
                <a:ea typeface="Times New Roman"/>
                <a:cs typeface="Times New Roman"/>
              </a:rPr>
              <a:t>}</a:t>
            </a:r>
            <a:endParaRPr lang="en-US" sz="1600" b="1" dirty="0">
              <a:effectLst/>
              <a:latin typeface="Calibri"/>
              <a:ea typeface="Calibri"/>
              <a:cs typeface="Times New Roman"/>
            </a:endParaRPr>
          </a:p>
        </p:txBody>
      </p:sp>
    </p:spTree>
    <p:extLst>
      <p:ext uri="{BB962C8B-B14F-4D97-AF65-F5344CB8AC3E}">
        <p14:creationId xmlns:p14="http://schemas.microsoft.com/office/powerpoint/2010/main" val="2235654924"/>
      </p:ext>
    </p:extLst>
  </p:cSld>
  <p:clrMapOvr>
    <a:masterClrMapping/>
  </p:clrMapOvr>
  <p:transition/>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68300" y="914399"/>
            <a:ext cx="393700" cy="4330417"/>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err="1" smtClean="0"/>
              <a:t>runWithNewBundle</a:t>
            </a:r>
            <a:r>
              <a:rPr lang="en-US" dirty="0" smtClean="0"/>
              <a:t>() for </a:t>
            </a:r>
            <a:r>
              <a:rPr lang="en-US" dirty="0" err="1" smtClean="0"/>
              <a:t>WS</a:t>
            </a:r>
            <a:r>
              <a:rPr lang="en-US" dirty="0" smtClean="0"/>
              <a:t>-I web service</a:t>
            </a:r>
            <a:endParaRPr lang="en-US" dirty="0"/>
          </a:p>
        </p:txBody>
      </p:sp>
      <p:sp>
        <p:nvSpPr>
          <p:cNvPr id="3" name="Content Placeholder 2"/>
          <p:cNvSpPr>
            <a:spLocks noGrp="1"/>
          </p:cNvSpPr>
          <p:nvPr>
            <p:ph idx="1"/>
          </p:nvPr>
        </p:nvSpPr>
        <p:spPr>
          <a:xfrm>
            <a:off x="519113" y="5466414"/>
            <a:ext cx="8318500" cy="934385"/>
          </a:xfrm>
        </p:spPr>
        <p:txBody>
          <a:bodyPr/>
          <a:lstStyle/>
          <a:p>
            <a:r>
              <a:rPr lang="en-US" dirty="0" smtClean="0"/>
              <a:t>For web service methods committing data, create a bundle</a:t>
            </a:r>
          </a:p>
          <a:p>
            <a:pPr lvl="1"/>
            <a:r>
              <a:rPr lang="en-US" b="1" dirty="0" err="1" smtClean="0">
                <a:solidFill>
                  <a:srgbClr val="000000"/>
                </a:solidFill>
                <a:latin typeface="Courier New"/>
                <a:ea typeface="Times New Roman"/>
                <a:cs typeface="Times New Roman"/>
              </a:rPr>
              <a:t>gw.transaction.Transaction.runWithNewBundle</a:t>
            </a:r>
            <a:r>
              <a:rPr lang="en-US" b="1" dirty="0" smtClean="0">
                <a:solidFill>
                  <a:srgbClr val="000000"/>
                </a:solidFill>
                <a:latin typeface="Courier New"/>
                <a:ea typeface="Times New Roman"/>
                <a:cs typeface="Times New Roman"/>
              </a:rPr>
              <a:t>()</a:t>
            </a:r>
            <a:endParaRPr lang="en-US" dirty="0"/>
          </a:p>
        </p:txBody>
      </p:sp>
      <p:sp>
        <p:nvSpPr>
          <p:cNvPr id="4" name="Rectangle 3"/>
          <p:cNvSpPr/>
          <p:nvPr/>
        </p:nvSpPr>
        <p:spPr>
          <a:xfrm>
            <a:off x="361373" y="914400"/>
            <a:ext cx="8477827" cy="4330416"/>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30  </a:t>
            </a:r>
            <a:r>
              <a:rPr lang="en-US" sz="1600" b="1" dirty="0" smtClean="0">
                <a:solidFill>
                  <a:srgbClr val="000080"/>
                </a:solidFill>
                <a:latin typeface="Courier New"/>
                <a:ea typeface="Times New Roman"/>
                <a:cs typeface="Times New Roman"/>
              </a:rPr>
              <a:t>function </a:t>
            </a:r>
            <a:r>
              <a:rPr lang="en-US" sz="1600" b="1" dirty="0" err="1" smtClean="0">
                <a:solidFill>
                  <a:srgbClr val="000000"/>
                </a:solidFill>
                <a:latin typeface="Courier New"/>
                <a:ea typeface="Times New Roman"/>
                <a:cs typeface="Times New Roman"/>
              </a:rPr>
              <a:t>setContactEmail</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publicId</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String, email : String) </a:t>
            </a:r>
            <a:r>
              <a:rPr lang="en-US" sz="1600" b="1" dirty="0" smtClean="0">
                <a:solidFill>
                  <a:srgbClr val="000000"/>
                </a:solidFill>
                <a:latin typeface="Courier New"/>
                <a:ea typeface="Times New Roman"/>
                <a:cs typeface="Times New Roman"/>
              </a:rPr>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31  	   : </a:t>
            </a:r>
            <a:r>
              <a:rPr lang="en-US" sz="1600" b="1" dirty="0">
                <a:solidFill>
                  <a:srgbClr val="000080"/>
                </a:solidFill>
                <a:latin typeface="Courier New"/>
                <a:ea typeface="Times New Roman"/>
                <a:cs typeface="Times New Roman"/>
              </a:rPr>
              <a:t>void </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32    </a:t>
            </a:r>
            <a:r>
              <a:rPr lang="en-US" sz="1600" b="1" i="1" dirty="0" smtClean="0">
                <a:solidFill>
                  <a:srgbClr val="969696"/>
                </a:solidFill>
                <a:latin typeface="Courier New"/>
                <a:ea typeface="Times New Roman"/>
                <a:cs typeface="Times New Roman"/>
              </a:rPr>
              <a:t>// </a:t>
            </a:r>
            <a:r>
              <a:rPr lang="en-US" sz="1600" b="1" i="1" dirty="0">
                <a:solidFill>
                  <a:srgbClr val="969696"/>
                </a:solidFill>
                <a:latin typeface="Courier New"/>
                <a:ea typeface="Times New Roman"/>
                <a:cs typeface="Times New Roman"/>
              </a:rPr>
              <a:t>query for contact with given public ID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33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queryObj = gw.api.database.Query.make(</a:t>
            </a:r>
            <a:r>
              <a:rPr lang="en-US" sz="1600" b="1" dirty="0" err="1">
                <a:solidFill>
                  <a:srgbClr val="000000"/>
                </a:solidFill>
                <a:latin typeface="Courier New"/>
                <a:ea typeface="Times New Roman"/>
                <a:cs typeface="Times New Roman"/>
              </a:rPr>
              <a:t>ABContact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34    </a:t>
            </a:r>
            <a:r>
              <a:rPr lang="en-US" sz="1600" b="1" dirty="0" err="1" smtClean="0">
                <a:solidFill>
                  <a:srgbClr val="000000"/>
                </a:solidFill>
                <a:latin typeface="Courier New"/>
                <a:ea typeface="Times New Roman"/>
                <a:cs typeface="Times New Roman"/>
              </a:rPr>
              <a:t>queryObj.compare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PublicID</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Equals, </a:t>
            </a:r>
            <a:r>
              <a:rPr lang="en-US" sz="1600" b="1" dirty="0" err="1">
                <a:solidFill>
                  <a:srgbClr val="000000"/>
                </a:solidFill>
                <a:latin typeface="Courier New"/>
                <a:ea typeface="Times New Roman"/>
                <a:cs typeface="Times New Roman"/>
              </a:rPr>
              <a:t>publicId</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35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targetContact = </a:t>
            </a:r>
            <a:r>
              <a:rPr lang="en-US" sz="1600" b="1" dirty="0" err="1">
                <a:solidFill>
                  <a:srgbClr val="000000"/>
                </a:solidFill>
                <a:latin typeface="Courier New"/>
                <a:ea typeface="Times New Roman"/>
                <a:cs typeface="Times New Roman"/>
              </a:rPr>
              <a:t>queryObj.select</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AtMostOneRow</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36    </a:t>
            </a:r>
            <a:r>
              <a:rPr lang="en-US" sz="1600" b="1" i="1" dirty="0" smtClean="0">
                <a:solidFill>
                  <a:srgbClr val="969696"/>
                </a:solidFill>
                <a:latin typeface="Courier New"/>
                <a:ea typeface="Times New Roman"/>
                <a:cs typeface="Times New Roman"/>
              </a:rPr>
              <a:t>// </a:t>
            </a:r>
            <a:r>
              <a:rPr lang="en-US" sz="1600" b="1" i="1" dirty="0">
                <a:solidFill>
                  <a:srgbClr val="969696"/>
                </a:solidFill>
                <a:latin typeface="Courier New"/>
                <a:ea typeface="Times New Roman"/>
                <a:cs typeface="Times New Roman"/>
              </a:rPr>
              <a:t>create new bundle    </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37    </a:t>
            </a:r>
            <a:r>
              <a:rPr lang="en-US" sz="1600" b="1" dirty="0" err="1" smtClean="0">
                <a:solidFill>
                  <a:srgbClr val="000000"/>
                </a:solidFill>
                <a:latin typeface="Courier New"/>
                <a:ea typeface="Times New Roman"/>
                <a:cs typeface="Times New Roman"/>
              </a:rPr>
              <a:t>gw.transaction.Transaction.runWithNewBundle</a:t>
            </a:r>
            <a:r>
              <a:rPr lang="en-US" sz="1600" b="1" dirty="0">
                <a:solidFill>
                  <a:srgbClr val="000000"/>
                </a:solidFill>
                <a:latin typeface="Courier New"/>
                <a:ea typeface="Times New Roman"/>
                <a:cs typeface="Times New Roman"/>
              </a:rPr>
              <a:t>( \ </a:t>
            </a:r>
            <a:r>
              <a:rPr lang="en-US" sz="1600" b="1" dirty="0" err="1">
                <a:solidFill>
                  <a:srgbClr val="000000"/>
                </a:solidFill>
                <a:latin typeface="Courier New"/>
                <a:ea typeface="Times New Roman"/>
                <a:cs typeface="Times New Roman"/>
              </a:rPr>
              <a:t>newBundle</a:t>
            </a:r>
            <a:r>
              <a:rPr lang="en-US" sz="1600" b="1" dirty="0">
                <a:solidFill>
                  <a:srgbClr val="000000"/>
                </a:solidFill>
                <a:latin typeface="Courier New"/>
                <a:ea typeface="Times New Roman"/>
                <a:cs typeface="Times New Roman"/>
              </a:rPr>
              <a:t> -&gt;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38     </a:t>
            </a:r>
            <a:r>
              <a:rPr lang="en-US" sz="1600" b="1" i="1" dirty="0" smtClean="0">
                <a:solidFill>
                  <a:srgbClr val="969696"/>
                </a:solidFill>
                <a:latin typeface="Courier New"/>
                <a:ea typeface="Times New Roman"/>
                <a:cs typeface="Times New Roman"/>
              </a:rPr>
              <a:t>// targetContact </a:t>
            </a:r>
            <a:r>
              <a:rPr lang="en-US" sz="1600" b="1" i="1" dirty="0">
                <a:solidFill>
                  <a:srgbClr val="969696"/>
                </a:solidFill>
                <a:latin typeface="Courier New"/>
                <a:ea typeface="Times New Roman"/>
                <a:cs typeface="Times New Roman"/>
              </a:rPr>
              <a:t>is in </a:t>
            </a:r>
            <a:r>
              <a:rPr lang="en-US" sz="1600" b="1" i="1" dirty="0" smtClean="0">
                <a:solidFill>
                  <a:srgbClr val="969696"/>
                </a:solidFill>
                <a:latin typeface="Courier New"/>
                <a:ea typeface="Times New Roman"/>
                <a:cs typeface="Times New Roman"/>
              </a:rPr>
              <a:t>read-only. </a:t>
            </a:r>
            <a:r>
              <a:rPr lang="en-US" sz="1600" b="1" i="1" dirty="0">
                <a:solidFill>
                  <a:srgbClr val="969696"/>
                </a:solidFill>
                <a:latin typeface="Courier New"/>
                <a:ea typeface="Times New Roman"/>
                <a:cs typeface="Times New Roman"/>
              </a:rPr>
              <a:t>Add it to </a:t>
            </a:r>
            <a:r>
              <a:rPr lang="en-US" sz="1600" b="1" i="1" dirty="0" err="1" smtClean="0">
                <a:solidFill>
                  <a:srgbClr val="969696"/>
                </a:solidFill>
                <a:latin typeface="Courier New"/>
                <a:ea typeface="Times New Roman"/>
                <a:cs typeface="Times New Roman"/>
              </a:rPr>
              <a:t>newBundle</a:t>
            </a:r>
            <a:r>
              <a:rPr lang="en-US" sz="1600" b="1" dirty="0" smtClean="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39     targetContact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newBundle.add</a:t>
            </a:r>
            <a:r>
              <a:rPr lang="en-US" sz="1600" b="1" dirty="0">
                <a:solidFill>
                  <a:srgbClr val="000000"/>
                </a:solidFill>
                <a:latin typeface="Courier New"/>
                <a:ea typeface="Times New Roman"/>
                <a:cs typeface="Times New Roman"/>
              </a:rPr>
              <a:t>(targetContact)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40     </a:t>
            </a:r>
            <a:r>
              <a:rPr lang="en-US" sz="1600" b="1" i="1" dirty="0" smtClean="0">
                <a:solidFill>
                  <a:srgbClr val="969696"/>
                </a:solidFill>
                <a:latin typeface="Courier New"/>
                <a:ea typeface="Times New Roman"/>
                <a:cs typeface="Times New Roman"/>
              </a:rPr>
              <a:t>// </a:t>
            </a:r>
            <a:r>
              <a:rPr lang="en-US" sz="1600" b="1" i="1" dirty="0">
                <a:solidFill>
                  <a:srgbClr val="969696"/>
                </a:solidFill>
                <a:latin typeface="Courier New"/>
                <a:ea typeface="Times New Roman"/>
                <a:cs typeface="Times New Roman"/>
              </a:rPr>
              <a:t>Modify contact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41     targetContact.EmailAddress1 </a:t>
            </a:r>
            <a:r>
              <a:rPr lang="en-US" sz="1600" b="1" dirty="0">
                <a:solidFill>
                  <a:srgbClr val="000000"/>
                </a:solidFill>
                <a:latin typeface="Courier New"/>
                <a:ea typeface="Times New Roman"/>
                <a:cs typeface="Times New Roman"/>
              </a:rPr>
              <a:t>= email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42     </a:t>
            </a:r>
            <a:r>
              <a:rPr lang="en-US" sz="1600" b="1" i="1" dirty="0" smtClean="0">
                <a:solidFill>
                  <a:srgbClr val="969696"/>
                </a:solidFill>
                <a:latin typeface="Courier New"/>
                <a:ea typeface="Times New Roman"/>
                <a:cs typeface="Times New Roman"/>
              </a:rPr>
              <a:t>// </a:t>
            </a:r>
            <a:r>
              <a:rPr lang="en-US" sz="1600" b="1" i="1" dirty="0" err="1">
                <a:solidFill>
                  <a:srgbClr val="969696"/>
                </a:solidFill>
                <a:latin typeface="Courier New"/>
                <a:ea typeface="Times New Roman"/>
                <a:cs typeface="Times New Roman"/>
              </a:rPr>
              <a:t>runWithNewBundle</a:t>
            </a:r>
            <a:r>
              <a:rPr lang="en-US" sz="1600" b="1" i="1" dirty="0">
                <a:solidFill>
                  <a:srgbClr val="969696"/>
                </a:solidFill>
                <a:latin typeface="Courier New"/>
                <a:ea typeface="Times New Roman"/>
                <a:cs typeface="Times New Roman"/>
              </a:rPr>
              <a:t> implicitly commits bundle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43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44  }</a:t>
            </a:r>
            <a:endParaRPr lang="en-US" sz="1600" b="1" dirty="0">
              <a:effectLst/>
              <a:latin typeface="Calibri"/>
              <a:ea typeface="Calibri"/>
              <a:cs typeface="Times New Roman"/>
            </a:endParaRPr>
          </a:p>
        </p:txBody>
      </p:sp>
    </p:spTree>
    <p:extLst>
      <p:ext uri="{BB962C8B-B14F-4D97-AF65-F5344CB8AC3E}">
        <p14:creationId xmlns:p14="http://schemas.microsoft.com/office/powerpoint/2010/main" val="174114733"/>
      </p:ext>
    </p:extLst>
  </p:cSld>
  <p:clrMapOvr>
    <a:masterClrMapping/>
  </p:clrMapOvr>
  <p:transition/>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400" y="1600200"/>
            <a:ext cx="1855364" cy="1215826"/>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1" name="Freeform 54"/>
          <p:cNvSpPr>
            <a:spLocks/>
          </p:cNvSpPr>
          <p:nvPr/>
        </p:nvSpPr>
        <p:spPr bwMode="auto">
          <a:xfrm>
            <a:off x="2524125" y="1982788"/>
            <a:ext cx="4033838" cy="515937"/>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arrow" w="lg"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 name="Title 1"/>
          <p:cNvSpPr>
            <a:spLocks noGrp="1"/>
          </p:cNvSpPr>
          <p:nvPr>
            <p:ph type="title"/>
          </p:nvPr>
        </p:nvSpPr>
        <p:spPr/>
        <p:txBody>
          <a:bodyPr/>
          <a:lstStyle/>
          <a:p>
            <a:r>
              <a:rPr lang="en-US" dirty="0" smtClean="0"/>
              <a:t>Step 5: Deploy your changes</a:t>
            </a:r>
            <a:endParaRPr lang="en-US" dirty="0"/>
          </a:p>
        </p:txBody>
      </p:sp>
      <p:sp>
        <p:nvSpPr>
          <p:cNvPr id="3" name="Content Placeholder 2"/>
          <p:cNvSpPr>
            <a:spLocks noGrp="1"/>
          </p:cNvSpPr>
          <p:nvPr>
            <p:ph idx="1"/>
          </p:nvPr>
        </p:nvSpPr>
        <p:spPr/>
        <p:txBody>
          <a:bodyPr/>
          <a:lstStyle/>
          <a:p>
            <a:r>
              <a:rPr lang="en-US" dirty="0" smtClean="0"/>
              <a:t>Deploy happens when consumer requests WSDL</a:t>
            </a:r>
          </a:p>
          <a:p>
            <a:pPr lvl="1"/>
            <a:r>
              <a:rPr lang="en-US" dirty="0" smtClean="0"/>
              <a:t>Client requests WSDL</a:t>
            </a:r>
          </a:p>
          <a:p>
            <a:pPr lvl="2"/>
            <a:r>
              <a:rPr lang="en-US" dirty="0" smtClean="0"/>
              <a:t>http://&lt;host&gt;:&lt;port&gt;/&lt;appcode&gt;/ws/&lt;package&gt;/&lt;class&gt;?WSDL </a:t>
            </a:r>
          </a:p>
          <a:p>
            <a:r>
              <a:rPr lang="en-US" dirty="0" smtClean="0"/>
              <a:t>Publisher</a:t>
            </a:r>
          </a:p>
          <a:p>
            <a:pPr lvl="1"/>
            <a:r>
              <a:rPr lang="en-US" dirty="0" smtClean="0"/>
              <a:t>Running Guidewire application server generates WSDL </a:t>
            </a:r>
          </a:p>
          <a:p>
            <a:pPr lvl="1"/>
            <a:r>
              <a:rPr lang="en-US" dirty="0" smtClean="0"/>
              <a:t>Not generated until consumer requests</a:t>
            </a:r>
            <a:endParaRPr lang="en-US" dirty="0"/>
          </a:p>
        </p:txBody>
      </p:sp>
      <p:sp>
        <p:nvSpPr>
          <p:cNvPr id="7" name="Rectangle 74"/>
          <p:cNvSpPr>
            <a:spLocks noChangeArrowheads="1"/>
          </p:cNvSpPr>
          <p:nvPr/>
        </p:nvSpPr>
        <p:spPr bwMode="auto">
          <a:xfrm rot="2899852">
            <a:off x="1835945" y="2488406"/>
            <a:ext cx="614362" cy="142875"/>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nchor="ctr">
            <a:spAutoFit/>
          </a:bodyPr>
          <a:lstStyle/>
          <a:p>
            <a:endParaRPr lang="en-US"/>
          </a:p>
        </p:txBody>
      </p:sp>
      <p:sp>
        <p:nvSpPr>
          <p:cNvPr id="9" name="Text Box 20"/>
          <p:cNvSpPr txBox="1">
            <a:spLocks noChangeArrowheads="1"/>
          </p:cNvSpPr>
          <p:nvPr/>
        </p:nvSpPr>
        <p:spPr bwMode="auto">
          <a:xfrm>
            <a:off x="447922" y="3087688"/>
            <a:ext cx="146367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800" dirty="0" err="1">
                <a:solidFill>
                  <a:schemeClr val="bg2"/>
                </a:solidFill>
              </a:rPr>
              <a:t>ContactAPI</a:t>
            </a:r>
            <a:endParaRPr lang="en-US" sz="1800" dirty="0">
              <a:solidFill>
                <a:schemeClr val="bg2"/>
              </a:solidFill>
            </a:endParaRPr>
          </a:p>
        </p:txBody>
      </p:sp>
      <p:pic>
        <p:nvPicPr>
          <p:cNvPr id="10" name="Picture 21"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57325" y="1660525"/>
            <a:ext cx="1081088" cy="10795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 name="Rectangle 56"/>
          <p:cNvSpPr>
            <a:spLocks noChangeArrowheads="1"/>
          </p:cNvSpPr>
          <p:nvPr/>
        </p:nvSpPr>
        <p:spPr bwMode="auto">
          <a:xfrm>
            <a:off x="2292350" y="2689225"/>
            <a:ext cx="614363" cy="142875"/>
          </a:xfrm>
          <a:prstGeom prst="rect">
            <a:avLst/>
          </a:prstGeom>
          <a:solidFill>
            <a:schemeClr val="bg1"/>
          </a:solidFill>
          <a:ln>
            <a:noFill/>
          </a:ln>
          <a:extLst>
            <a:ext uri="{91240B29-F687-4F45-9708-019B960494DF}">
              <a14:hiddenLine xmlns:a14="http://schemas.microsoft.com/office/drawing/2010/main" w="19050" algn="ctr">
                <a:solidFill>
                  <a:srgbClr val="000000"/>
                </a:solidFill>
                <a:miter lim="800000"/>
                <a:headEnd/>
                <a:tailEnd/>
              </a14:hiddenLine>
            </a:ext>
          </a:extLst>
        </p:spPr>
        <p:txBody>
          <a:bodyPr lIns="0" tIns="0" rIns="0" bIns="0" anchor="ctr">
            <a:spAutoFit/>
          </a:bodyPr>
          <a:lstStyle/>
          <a:p>
            <a:endParaRPr lang="en-US"/>
          </a:p>
        </p:txBody>
      </p:sp>
      <p:grpSp>
        <p:nvGrpSpPr>
          <p:cNvPr id="27" name="Group 57"/>
          <p:cNvGrpSpPr>
            <a:grpSpLocks/>
          </p:cNvGrpSpPr>
          <p:nvPr/>
        </p:nvGrpSpPr>
        <p:grpSpPr bwMode="auto">
          <a:xfrm>
            <a:off x="2787650" y="2409825"/>
            <a:ext cx="700088" cy="571500"/>
            <a:chOff x="729" y="3059"/>
            <a:chExt cx="607" cy="495"/>
          </a:xfrm>
        </p:grpSpPr>
        <p:grpSp>
          <p:nvGrpSpPr>
            <p:cNvPr id="28" name="Group 58"/>
            <p:cNvGrpSpPr>
              <a:grpSpLocks/>
            </p:cNvGrpSpPr>
            <p:nvPr/>
          </p:nvGrpSpPr>
          <p:grpSpPr bwMode="auto">
            <a:xfrm>
              <a:off x="836" y="3059"/>
              <a:ext cx="500" cy="495"/>
              <a:chOff x="2064" y="3278"/>
              <a:chExt cx="500" cy="495"/>
            </a:xfrm>
          </p:grpSpPr>
          <p:sp>
            <p:nvSpPr>
              <p:cNvPr id="39" name="Rectangle 59"/>
              <p:cNvSpPr>
                <a:spLocks noChangeArrowheads="1"/>
              </p:cNvSpPr>
              <p:nvPr/>
            </p:nvSpPr>
            <p:spPr bwMode="auto">
              <a:xfrm rot="-2963728">
                <a:off x="2240" y="3267"/>
                <a:ext cx="144" cy="496"/>
              </a:xfrm>
              <a:prstGeom prst="rect">
                <a:avLst/>
              </a:prstGeom>
              <a:solidFill>
                <a:srgbClr val="FFCC00"/>
              </a:solidFill>
              <a:ln w="12700">
                <a:solidFill>
                  <a:schemeClr val="bg1"/>
                </a:solidFill>
                <a:miter lim="800000"/>
                <a:headEnd/>
                <a:tailEnd/>
              </a:ln>
            </p:spPr>
            <p:txBody>
              <a:bodyPr anchor="ctr">
                <a:spAutoFit/>
              </a:bodyPr>
              <a:lstStyle/>
              <a:p>
                <a:endParaRPr lang="en-US"/>
              </a:p>
            </p:txBody>
          </p:sp>
          <p:sp>
            <p:nvSpPr>
              <p:cNvPr id="40" name="Rectangle 60"/>
              <p:cNvSpPr>
                <a:spLocks noChangeArrowheads="1"/>
              </p:cNvSpPr>
              <p:nvPr/>
            </p:nvSpPr>
            <p:spPr bwMode="auto">
              <a:xfrm rot="-2963728">
                <a:off x="2050" y="3313"/>
                <a:ext cx="144" cy="73"/>
              </a:xfrm>
              <a:prstGeom prst="rect">
                <a:avLst/>
              </a:prstGeom>
              <a:solidFill>
                <a:srgbClr val="FF66FF"/>
              </a:solidFill>
              <a:ln w="12700">
                <a:solidFill>
                  <a:schemeClr val="bg1"/>
                </a:solidFill>
                <a:miter lim="800000"/>
                <a:headEnd/>
                <a:tailEnd/>
              </a:ln>
            </p:spPr>
            <p:txBody>
              <a:bodyPr anchor="ctr">
                <a:spAutoFit/>
              </a:bodyPr>
              <a:lstStyle/>
              <a:p>
                <a:endParaRPr lang="en-US"/>
              </a:p>
            </p:txBody>
          </p:sp>
          <p:sp>
            <p:nvSpPr>
              <p:cNvPr id="41" name="AutoShape 61"/>
              <p:cNvSpPr>
                <a:spLocks noChangeArrowheads="1"/>
              </p:cNvSpPr>
              <p:nvPr/>
            </p:nvSpPr>
            <p:spPr bwMode="auto">
              <a:xfrm rot="18636272" flipV="1">
                <a:off x="2456" y="3664"/>
                <a:ext cx="144" cy="73"/>
              </a:xfrm>
              <a:prstGeom prst="triangle">
                <a:avLst>
                  <a:gd name="adj" fmla="val 49995"/>
                </a:avLst>
              </a:prstGeom>
              <a:solidFill>
                <a:schemeClr val="hlink"/>
              </a:solidFill>
              <a:ln w="12700">
                <a:solidFill>
                  <a:schemeClr val="bg1"/>
                </a:solidFill>
                <a:miter lim="800000"/>
                <a:headEnd/>
                <a:tailEnd/>
              </a:ln>
            </p:spPr>
            <p:txBody>
              <a:bodyPr anchor="ctr">
                <a:spAutoFit/>
              </a:bodyPr>
              <a:lstStyle/>
              <a:p>
                <a:endParaRPr lang="en-US"/>
              </a:p>
            </p:txBody>
          </p:sp>
        </p:grpSp>
        <p:grpSp>
          <p:nvGrpSpPr>
            <p:cNvPr id="29" name="Group 62"/>
            <p:cNvGrpSpPr>
              <a:grpSpLocks/>
            </p:cNvGrpSpPr>
            <p:nvPr/>
          </p:nvGrpSpPr>
          <p:grpSpPr bwMode="auto">
            <a:xfrm>
              <a:off x="729" y="3115"/>
              <a:ext cx="512" cy="334"/>
              <a:chOff x="4250" y="2059"/>
              <a:chExt cx="438" cy="286"/>
            </a:xfrm>
          </p:grpSpPr>
          <p:sp>
            <p:nvSpPr>
              <p:cNvPr id="30" name="Freeform 63"/>
              <p:cNvSpPr>
                <a:spLocks/>
              </p:cNvSpPr>
              <p:nvPr/>
            </p:nvSpPr>
            <p:spPr bwMode="auto">
              <a:xfrm rot="3766183" flipH="1">
                <a:off x="4235" y="2207"/>
                <a:ext cx="153" cy="124"/>
              </a:xfrm>
              <a:custGeom>
                <a:avLst/>
                <a:gdLst>
                  <a:gd name="T0" fmla="*/ 57 w 153"/>
                  <a:gd name="T1" fmla="*/ 7 h 124"/>
                  <a:gd name="T2" fmla="*/ 57 w 153"/>
                  <a:gd name="T3" fmla="*/ 7 h 124"/>
                  <a:gd name="T4" fmla="*/ 73 w 153"/>
                  <a:gd name="T5" fmla="*/ 2 h 124"/>
                  <a:gd name="T6" fmla="*/ 88 w 153"/>
                  <a:gd name="T7" fmla="*/ 0 h 124"/>
                  <a:gd name="T8" fmla="*/ 101 w 153"/>
                  <a:gd name="T9" fmla="*/ 0 h 124"/>
                  <a:gd name="T10" fmla="*/ 115 w 153"/>
                  <a:gd name="T11" fmla="*/ 2 h 124"/>
                  <a:gd name="T12" fmla="*/ 127 w 153"/>
                  <a:gd name="T13" fmla="*/ 7 h 124"/>
                  <a:gd name="T14" fmla="*/ 137 w 153"/>
                  <a:gd name="T15" fmla="*/ 14 h 124"/>
                  <a:gd name="T16" fmla="*/ 142 w 153"/>
                  <a:gd name="T17" fmla="*/ 17 h 124"/>
                  <a:gd name="T18" fmla="*/ 146 w 153"/>
                  <a:gd name="T19" fmla="*/ 22 h 124"/>
                  <a:gd name="T20" fmla="*/ 148 w 153"/>
                  <a:gd name="T21" fmla="*/ 27 h 124"/>
                  <a:gd name="T22" fmla="*/ 151 w 153"/>
                  <a:gd name="T23" fmla="*/ 32 h 124"/>
                  <a:gd name="T24" fmla="*/ 151 w 153"/>
                  <a:gd name="T25" fmla="*/ 32 h 124"/>
                  <a:gd name="T26" fmla="*/ 152 w 153"/>
                  <a:gd name="T27" fmla="*/ 38 h 124"/>
                  <a:gd name="T28" fmla="*/ 153 w 153"/>
                  <a:gd name="T29" fmla="*/ 45 h 124"/>
                  <a:gd name="T30" fmla="*/ 153 w 153"/>
                  <a:gd name="T31" fmla="*/ 49 h 124"/>
                  <a:gd name="T32" fmla="*/ 152 w 153"/>
                  <a:gd name="T33" fmla="*/ 56 h 124"/>
                  <a:gd name="T34" fmla="*/ 148 w 153"/>
                  <a:gd name="T35" fmla="*/ 68 h 124"/>
                  <a:gd name="T36" fmla="*/ 142 w 153"/>
                  <a:gd name="T37" fmla="*/ 80 h 124"/>
                  <a:gd name="T38" fmla="*/ 133 w 153"/>
                  <a:gd name="T39" fmla="*/ 91 h 124"/>
                  <a:gd name="T40" fmla="*/ 123 w 153"/>
                  <a:gd name="T41" fmla="*/ 101 h 124"/>
                  <a:gd name="T42" fmla="*/ 110 w 153"/>
                  <a:gd name="T43" fmla="*/ 110 h 124"/>
                  <a:gd name="T44" fmla="*/ 96 w 153"/>
                  <a:gd name="T45" fmla="*/ 116 h 124"/>
                  <a:gd name="T46" fmla="*/ 96 w 153"/>
                  <a:gd name="T47" fmla="*/ 116 h 124"/>
                  <a:gd name="T48" fmla="*/ 80 w 153"/>
                  <a:gd name="T49" fmla="*/ 121 h 124"/>
                  <a:gd name="T50" fmla="*/ 65 w 153"/>
                  <a:gd name="T51" fmla="*/ 124 h 124"/>
                  <a:gd name="T52" fmla="*/ 50 w 153"/>
                  <a:gd name="T53" fmla="*/ 124 h 124"/>
                  <a:gd name="T54" fmla="*/ 38 w 153"/>
                  <a:gd name="T55" fmla="*/ 121 h 124"/>
                  <a:gd name="T56" fmla="*/ 26 w 153"/>
                  <a:gd name="T57" fmla="*/ 117 h 124"/>
                  <a:gd name="T58" fmla="*/ 16 w 153"/>
                  <a:gd name="T59" fmla="*/ 110 h 124"/>
                  <a:gd name="T60" fmla="*/ 11 w 153"/>
                  <a:gd name="T61" fmla="*/ 106 h 124"/>
                  <a:gd name="T62" fmla="*/ 7 w 153"/>
                  <a:gd name="T63" fmla="*/ 101 h 124"/>
                  <a:gd name="T64" fmla="*/ 5 w 153"/>
                  <a:gd name="T65" fmla="*/ 96 h 124"/>
                  <a:gd name="T66" fmla="*/ 2 w 153"/>
                  <a:gd name="T67" fmla="*/ 91 h 124"/>
                  <a:gd name="T68" fmla="*/ 2 w 153"/>
                  <a:gd name="T69" fmla="*/ 91 h 124"/>
                  <a:gd name="T70" fmla="*/ 1 w 153"/>
                  <a:gd name="T71" fmla="*/ 85 h 124"/>
                  <a:gd name="T72" fmla="*/ 0 w 153"/>
                  <a:gd name="T73" fmla="*/ 80 h 124"/>
                  <a:gd name="T74" fmla="*/ 0 w 153"/>
                  <a:gd name="T75" fmla="*/ 74 h 124"/>
                  <a:gd name="T76" fmla="*/ 0 w 153"/>
                  <a:gd name="T77" fmla="*/ 68 h 124"/>
                  <a:gd name="T78" fmla="*/ 3 w 153"/>
                  <a:gd name="T79" fmla="*/ 56 h 124"/>
                  <a:gd name="T80" fmla="*/ 10 w 153"/>
                  <a:gd name="T81" fmla="*/ 45 h 124"/>
                  <a:gd name="T82" fmla="*/ 18 w 153"/>
                  <a:gd name="T83" fmla="*/ 33 h 124"/>
                  <a:gd name="T84" fmla="*/ 29 w 153"/>
                  <a:gd name="T85" fmla="*/ 23 h 124"/>
                  <a:gd name="T86" fmla="*/ 42 w 153"/>
                  <a:gd name="T87" fmla="*/ 15 h 124"/>
                  <a:gd name="T88" fmla="*/ 57 w 153"/>
                  <a:gd name="T89" fmla="*/ 7 h 124"/>
                  <a:gd name="T90" fmla="*/ 57 w 153"/>
                  <a:gd name="T91" fmla="*/ 7 h 124"/>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w 153"/>
                  <a:gd name="T139" fmla="*/ 0 h 124"/>
                  <a:gd name="T140" fmla="*/ 153 w 153"/>
                  <a:gd name="T141" fmla="*/ 124 h 124"/>
                </a:gdLst>
                <a:ahLst/>
                <a:cxnLst>
                  <a:cxn ang="T92">
                    <a:pos x="T0" y="T1"/>
                  </a:cxn>
                  <a:cxn ang="T93">
                    <a:pos x="T2" y="T3"/>
                  </a:cxn>
                  <a:cxn ang="T94">
                    <a:pos x="T4" y="T5"/>
                  </a:cxn>
                  <a:cxn ang="T95">
                    <a:pos x="T6" y="T7"/>
                  </a:cxn>
                  <a:cxn ang="T96">
                    <a:pos x="T8" y="T9"/>
                  </a:cxn>
                  <a:cxn ang="T97">
                    <a:pos x="T10" y="T11"/>
                  </a:cxn>
                  <a:cxn ang="T98">
                    <a:pos x="T12" y="T13"/>
                  </a:cxn>
                  <a:cxn ang="T99">
                    <a:pos x="T14" y="T15"/>
                  </a:cxn>
                  <a:cxn ang="T100">
                    <a:pos x="T16" y="T17"/>
                  </a:cxn>
                  <a:cxn ang="T101">
                    <a:pos x="T18" y="T19"/>
                  </a:cxn>
                  <a:cxn ang="T102">
                    <a:pos x="T20" y="T21"/>
                  </a:cxn>
                  <a:cxn ang="T103">
                    <a:pos x="T22" y="T23"/>
                  </a:cxn>
                  <a:cxn ang="T104">
                    <a:pos x="T24" y="T25"/>
                  </a:cxn>
                  <a:cxn ang="T105">
                    <a:pos x="T26" y="T27"/>
                  </a:cxn>
                  <a:cxn ang="T106">
                    <a:pos x="T28" y="T29"/>
                  </a:cxn>
                  <a:cxn ang="T107">
                    <a:pos x="T30" y="T31"/>
                  </a:cxn>
                  <a:cxn ang="T108">
                    <a:pos x="T32" y="T33"/>
                  </a:cxn>
                  <a:cxn ang="T109">
                    <a:pos x="T34" y="T35"/>
                  </a:cxn>
                  <a:cxn ang="T110">
                    <a:pos x="T36" y="T37"/>
                  </a:cxn>
                  <a:cxn ang="T111">
                    <a:pos x="T38" y="T39"/>
                  </a:cxn>
                  <a:cxn ang="T112">
                    <a:pos x="T40" y="T41"/>
                  </a:cxn>
                  <a:cxn ang="T113">
                    <a:pos x="T42" y="T43"/>
                  </a:cxn>
                  <a:cxn ang="T114">
                    <a:pos x="T44" y="T45"/>
                  </a:cxn>
                  <a:cxn ang="T115">
                    <a:pos x="T46" y="T47"/>
                  </a:cxn>
                  <a:cxn ang="T116">
                    <a:pos x="T48" y="T49"/>
                  </a:cxn>
                  <a:cxn ang="T117">
                    <a:pos x="T50" y="T51"/>
                  </a:cxn>
                  <a:cxn ang="T118">
                    <a:pos x="T52" y="T53"/>
                  </a:cxn>
                  <a:cxn ang="T119">
                    <a:pos x="T54" y="T55"/>
                  </a:cxn>
                  <a:cxn ang="T120">
                    <a:pos x="T56" y="T57"/>
                  </a:cxn>
                  <a:cxn ang="T121">
                    <a:pos x="T58" y="T59"/>
                  </a:cxn>
                  <a:cxn ang="T122">
                    <a:pos x="T60" y="T61"/>
                  </a:cxn>
                  <a:cxn ang="T123">
                    <a:pos x="T62" y="T63"/>
                  </a:cxn>
                  <a:cxn ang="T124">
                    <a:pos x="T64" y="T65"/>
                  </a:cxn>
                  <a:cxn ang="T125">
                    <a:pos x="T66" y="T67"/>
                  </a:cxn>
                  <a:cxn ang="T126">
                    <a:pos x="T68" y="T69"/>
                  </a:cxn>
                  <a:cxn ang="T127">
                    <a:pos x="T70" y="T71"/>
                  </a:cxn>
                  <a:cxn ang="T128">
                    <a:pos x="T72" y="T73"/>
                  </a:cxn>
                  <a:cxn ang="T129">
                    <a:pos x="T74" y="T75"/>
                  </a:cxn>
                  <a:cxn ang="T130">
                    <a:pos x="T76" y="T77"/>
                  </a:cxn>
                  <a:cxn ang="T131">
                    <a:pos x="T78" y="T79"/>
                  </a:cxn>
                  <a:cxn ang="T132">
                    <a:pos x="T80" y="T81"/>
                  </a:cxn>
                  <a:cxn ang="T133">
                    <a:pos x="T82" y="T83"/>
                  </a:cxn>
                  <a:cxn ang="T134">
                    <a:pos x="T84" y="T85"/>
                  </a:cxn>
                  <a:cxn ang="T135">
                    <a:pos x="T86" y="T87"/>
                  </a:cxn>
                  <a:cxn ang="T136">
                    <a:pos x="T88" y="T89"/>
                  </a:cxn>
                  <a:cxn ang="T137">
                    <a:pos x="T90" y="T91"/>
                  </a:cxn>
                </a:cxnLst>
                <a:rect l="T138" t="T139" r="T140" b="T141"/>
                <a:pathLst>
                  <a:path w="153" h="124">
                    <a:moveTo>
                      <a:pt x="57" y="7"/>
                    </a:moveTo>
                    <a:lnTo>
                      <a:pt x="57" y="7"/>
                    </a:lnTo>
                    <a:lnTo>
                      <a:pt x="73" y="2"/>
                    </a:lnTo>
                    <a:lnTo>
                      <a:pt x="88" y="0"/>
                    </a:lnTo>
                    <a:lnTo>
                      <a:pt x="101" y="0"/>
                    </a:lnTo>
                    <a:lnTo>
                      <a:pt x="115" y="2"/>
                    </a:lnTo>
                    <a:lnTo>
                      <a:pt x="127" y="7"/>
                    </a:lnTo>
                    <a:lnTo>
                      <a:pt x="137" y="14"/>
                    </a:lnTo>
                    <a:lnTo>
                      <a:pt x="142" y="17"/>
                    </a:lnTo>
                    <a:lnTo>
                      <a:pt x="146" y="22"/>
                    </a:lnTo>
                    <a:lnTo>
                      <a:pt x="148" y="27"/>
                    </a:lnTo>
                    <a:lnTo>
                      <a:pt x="151" y="32"/>
                    </a:lnTo>
                    <a:lnTo>
                      <a:pt x="152" y="38"/>
                    </a:lnTo>
                    <a:lnTo>
                      <a:pt x="153" y="45"/>
                    </a:lnTo>
                    <a:lnTo>
                      <a:pt x="153" y="49"/>
                    </a:lnTo>
                    <a:lnTo>
                      <a:pt x="152" y="56"/>
                    </a:lnTo>
                    <a:lnTo>
                      <a:pt x="148" y="68"/>
                    </a:lnTo>
                    <a:lnTo>
                      <a:pt x="142" y="80"/>
                    </a:lnTo>
                    <a:lnTo>
                      <a:pt x="133" y="91"/>
                    </a:lnTo>
                    <a:lnTo>
                      <a:pt x="123" y="101"/>
                    </a:lnTo>
                    <a:lnTo>
                      <a:pt x="110" y="110"/>
                    </a:lnTo>
                    <a:lnTo>
                      <a:pt x="96" y="116"/>
                    </a:lnTo>
                    <a:lnTo>
                      <a:pt x="80" y="121"/>
                    </a:lnTo>
                    <a:lnTo>
                      <a:pt x="65" y="124"/>
                    </a:lnTo>
                    <a:lnTo>
                      <a:pt x="50" y="124"/>
                    </a:lnTo>
                    <a:lnTo>
                      <a:pt x="38" y="121"/>
                    </a:lnTo>
                    <a:lnTo>
                      <a:pt x="26" y="117"/>
                    </a:lnTo>
                    <a:lnTo>
                      <a:pt x="16" y="110"/>
                    </a:lnTo>
                    <a:lnTo>
                      <a:pt x="11" y="106"/>
                    </a:lnTo>
                    <a:lnTo>
                      <a:pt x="7" y="101"/>
                    </a:lnTo>
                    <a:lnTo>
                      <a:pt x="5" y="96"/>
                    </a:lnTo>
                    <a:lnTo>
                      <a:pt x="2" y="91"/>
                    </a:lnTo>
                    <a:lnTo>
                      <a:pt x="1" y="85"/>
                    </a:lnTo>
                    <a:lnTo>
                      <a:pt x="0" y="80"/>
                    </a:lnTo>
                    <a:lnTo>
                      <a:pt x="0" y="74"/>
                    </a:lnTo>
                    <a:lnTo>
                      <a:pt x="0" y="68"/>
                    </a:lnTo>
                    <a:lnTo>
                      <a:pt x="3" y="56"/>
                    </a:lnTo>
                    <a:lnTo>
                      <a:pt x="10" y="45"/>
                    </a:lnTo>
                    <a:lnTo>
                      <a:pt x="18" y="33"/>
                    </a:lnTo>
                    <a:lnTo>
                      <a:pt x="29" y="23"/>
                    </a:lnTo>
                    <a:lnTo>
                      <a:pt x="42" y="15"/>
                    </a:lnTo>
                    <a:lnTo>
                      <a:pt x="57" y="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1" name="Freeform 64"/>
              <p:cNvSpPr>
                <a:spLocks/>
              </p:cNvSpPr>
              <p:nvPr/>
            </p:nvSpPr>
            <p:spPr bwMode="auto">
              <a:xfrm rot="3766183" flipH="1">
                <a:off x="4245" y="2218"/>
                <a:ext cx="133" cy="102"/>
              </a:xfrm>
              <a:custGeom>
                <a:avLst/>
                <a:gdLst>
                  <a:gd name="T0" fmla="*/ 49 w 133"/>
                  <a:gd name="T1" fmla="*/ 6 h 102"/>
                  <a:gd name="T2" fmla="*/ 49 w 133"/>
                  <a:gd name="T3" fmla="*/ 6 h 102"/>
                  <a:gd name="T4" fmla="*/ 63 w 133"/>
                  <a:gd name="T5" fmla="*/ 3 h 102"/>
                  <a:gd name="T6" fmla="*/ 76 w 133"/>
                  <a:gd name="T7" fmla="*/ 0 h 102"/>
                  <a:gd name="T8" fmla="*/ 89 w 133"/>
                  <a:gd name="T9" fmla="*/ 0 h 102"/>
                  <a:gd name="T10" fmla="*/ 100 w 133"/>
                  <a:gd name="T11" fmla="*/ 3 h 102"/>
                  <a:gd name="T12" fmla="*/ 111 w 133"/>
                  <a:gd name="T13" fmla="*/ 6 h 102"/>
                  <a:gd name="T14" fmla="*/ 120 w 133"/>
                  <a:gd name="T15" fmla="*/ 11 h 102"/>
                  <a:gd name="T16" fmla="*/ 126 w 133"/>
                  <a:gd name="T17" fmla="*/ 19 h 102"/>
                  <a:gd name="T18" fmla="*/ 131 w 133"/>
                  <a:gd name="T19" fmla="*/ 27 h 102"/>
                  <a:gd name="T20" fmla="*/ 131 w 133"/>
                  <a:gd name="T21" fmla="*/ 27 h 102"/>
                  <a:gd name="T22" fmla="*/ 133 w 133"/>
                  <a:gd name="T23" fmla="*/ 36 h 102"/>
                  <a:gd name="T24" fmla="*/ 132 w 133"/>
                  <a:gd name="T25" fmla="*/ 46 h 102"/>
                  <a:gd name="T26" fmla="*/ 130 w 133"/>
                  <a:gd name="T27" fmla="*/ 56 h 102"/>
                  <a:gd name="T28" fmla="*/ 123 w 133"/>
                  <a:gd name="T29" fmla="*/ 66 h 102"/>
                  <a:gd name="T30" fmla="*/ 116 w 133"/>
                  <a:gd name="T31" fmla="*/ 74 h 102"/>
                  <a:gd name="T32" fmla="*/ 107 w 133"/>
                  <a:gd name="T33" fmla="*/ 83 h 102"/>
                  <a:gd name="T34" fmla="*/ 96 w 133"/>
                  <a:gd name="T35" fmla="*/ 90 h 102"/>
                  <a:gd name="T36" fmla="*/ 84 w 133"/>
                  <a:gd name="T37" fmla="*/ 97 h 102"/>
                  <a:gd name="T38" fmla="*/ 84 w 133"/>
                  <a:gd name="T39" fmla="*/ 97 h 102"/>
                  <a:gd name="T40" fmla="*/ 70 w 133"/>
                  <a:gd name="T41" fmla="*/ 100 h 102"/>
                  <a:gd name="T42" fmla="*/ 57 w 133"/>
                  <a:gd name="T43" fmla="*/ 102 h 102"/>
                  <a:gd name="T44" fmla="*/ 44 w 133"/>
                  <a:gd name="T45" fmla="*/ 102 h 102"/>
                  <a:gd name="T46" fmla="*/ 33 w 133"/>
                  <a:gd name="T47" fmla="*/ 100 h 102"/>
                  <a:gd name="T48" fmla="*/ 22 w 133"/>
                  <a:gd name="T49" fmla="*/ 97 h 102"/>
                  <a:gd name="T50" fmla="*/ 13 w 133"/>
                  <a:gd name="T51" fmla="*/ 90 h 102"/>
                  <a:gd name="T52" fmla="*/ 6 w 133"/>
                  <a:gd name="T53" fmla="*/ 84 h 102"/>
                  <a:gd name="T54" fmla="*/ 2 w 133"/>
                  <a:gd name="T55" fmla="*/ 76 h 102"/>
                  <a:gd name="T56" fmla="*/ 2 w 133"/>
                  <a:gd name="T57" fmla="*/ 76 h 102"/>
                  <a:gd name="T58" fmla="*/ 0 w 133"/>
                  <a:gd name="T59" fmla="*/ 66 h 102"/>
                  <a:gd name="T60" fmla="*/ 0 w 133"/>
                  <a:gd name="T61" fmla="*/ 56 h 102"/>
                  <a:gd name="T62" fmla="*/ 3 w 133"/>
                  <a:gd name="T63" fmla="*/ 46 h 102"/>
                  <a:gd name="T64" fmla="*/ 8 w 133"/>
                  <a:gd name="T65" fmla="*/ 36 h 102"/>
                  <a:gd name="T66" fmla="*/ 16 w 133"/>
                  <a:gd name="T67" fmla="*/ 27 h 102"/>
                  <a:gd name="T68" fmla="*/ 26 w 133"/>
                  <a:gd name="T69" fmla="*/ 19 h 102"/>
                  <a:gd name="T70" fmla="*/ 37 w 133"/>
                  <a:gd name="T71" fmla="*/ 11 h 102"/>
                  <a:gd name="T72" fmla="*/ 49 w 133"/>
                  <a:gd name="T73" fmla="*/ 6 h 102"/>
                  <a:gd name="T74" fmla="*/ 49 w 133"/>
                  <a:gd name="T75" fmla="*/ 6 h 102"/>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w 133"/>
                  <a:gd name="T115" fmla="*/ 0 h 102"/>
                  <a:gd name="T116" fmla="*/ 133 w 133"/>
                  <a:gd name="T117" fmla="*/ 102 h 102"/>
                </a:gdLst>
                <a:ahLst/>
                <a:cxnLst>
                  <a:cxn ang="T76">
                    <a:pos x="T0" y="T1"/>
                  </a:cxn>
                  <a:cxn ang="T77">
                    <a:pos x="T2" y="T3"/>
                  </a:cxn>
                  <a:cxn ang="T78">
                    <a:pos x="T4" y="T5"/>
                  </a:cxn>
                  <a:cxn ang="T79">
                    <a:pos x="T6" y="T7"/>
                  </a:cxn>
                  <a:cxn ang="T80">
                    <a:pos x="T8" y="T9"/>
                  </a:cxn>
                  <a:cxn ang="T81">
                    <a:pos x="T10" y="T11"/>
                  </a:cxn>
                  <a:cxn ang="T82">
                    <a:pos x="T12" y="T13"/>
                  </a:cxn>
                  <a:cxn ang="T83">
                    <a:pos x="T14" y="T15"/>
                  </a:cxn>
                  <a:cxn ang="T84">
                    <a:pos x="T16" y="T17"/>
                  </a:cxn>
                  <a:cxn ang="T85">
                    <a:pos x="T18" y="T19"/>
                  </a:cxn>
                  <a:cxn ang="T86">
                    <a:pos x="T20" y="T21"/>
                  </a:cxn>
                  <a:cxn ang="T87">
                    <a:pos x="T22" y="T23"/>
                  </a:cxn>
                  <a:cxn ang="T88">
                    <a:pos x="T24" y="T25"/>
                  </a:cxn>
                  <a:cxn ang="T89">
                    <a:pos x="T26" y="T27"/>
                  </a:cxn>
                  <a:cxn ang="T90">
                    <a:pos x="T28" y="T29"/>
                  </a:cxn>
                  <a:cxn ang="T91">
                    <a:pos x="T30" y="T31"/>
                  </a:cxn>
                  <a:cxn ang="T92">
                    <a:pos x="T32" y="T33"/>
                  </a:cxn>
                  <a:cxn ang="T93">
                    <a:pos x="T34" y="T35"/>
                  </a:cxn>
                  <a:cxn ang="T94">
                    <a:pos x="T36" y="T37"/>
                  </a:cxn>
                  <a:cxn ang="T95">
                    <a:pos x="T38" y="T39"/>
                  </a:cxn>
                  <a:cxn ang="T96">
                    <a:pos x="T40" y="T41"/>
                  </a:cxn>
                  <a:cxn ang="T97">
                    <a:pos x="T42" y="T43"/>
                  </a:cxn>
                  <a:cxn ang="T98">
                    <a:pos x="T44" y="T45"/>
                  </a:cxn>
                  <a:cxn ang="T99">
                    <a:pos x="T46" y="T47"/>
                  </a:cxn>
                  <a:cxn ang="T100">
                    <a:pos x="T48" y="T49"/>
                  </a:cxn>
                  <a:cxn ang="T101">
                    <a:pos x="T50" y="T51"/>
                  </a:cxn>
                  <a:cxn ang="T102">
                    <a:pos x="T52" y="T53"/>
                  </a:cxn>
                  <a:cxn ang="T103">
                    <a:pos x="T54" y="T55"/>
                  </a:cxn>
                  <a:cxn ang="T104">
                    <a:pos x="T56" y="T57"/>
                  </a:cxn>
                  <a:cxn ang="T105">
                    <a:pos x="T58" y="T59"/>
                  </a:cxn>
                  <a:cxn ang="T106">
                    <a:pos x="T60" y="T61"/>
                  </a:cxn>
                  <a:cxn ang="T107">
                    <a:pos x="T62" y="T63"/>
                  </a:cxn>
                  <a:cxn ang="T108">
                    <a:pos x="T64" y="T65"/>
                  </a:cxn>
                  <a:cxn ang="T109">
                    <a:pos x="T66" y="T67"/>
                  </a:cxn>
                  <a:cxn ang="T110">
                    <a:pos x="T68" y="T69"/>
                  </a:cxn>
                  <a:cxn ang="T111">
                    <a:pos x="T70" y="T71"/>
                  </a:cxn>
                  <a:cxn ang="T112">
                    <a:pos x="T72" y="T73"/>
                  </a:cxn>
                  <a:cxn ang="T113">
                    <a:pos x="T74" y="T75"/>
                  </a:cxn>
                </a:cxnLst>
                <a:rect l="T114" t="T115" r="T116" b="T117"/>
                <a:pathLst>
                  <a:path w="133" h="102">
                    <a:moveTo>
                      <a:pt x="49" y="6"/>
                    </a:moveTo>
                    <a:lnTo>
                      <a:pt x="49" y="6"/>
                    </a:lnTo>
                    <a:lnTo>
                      <a:pt x="63" y="3"/>
                    </a:lnTo>
                    <a:lnTo>
                      <a:pt x="76" y="0"/>
                    </a:lnTo>
                    <a:lnTo>
                      <a:pt x="89" y="0"/>
                    </a:lnTo>
                    <a:lnTo>
                      <a:pt x="100" y="3"/>
                    </a:lnTo>
                    <a:lnTo>
                      <a:pt x="111" y="6"/>
                    </a:lnTo>
                    <a:lnTo>
                      <a:pt x="120" y="11"/>
                    </a:lnTo>
                    <a:lnTo>
                      <a:pt x="126" y="19"/>
                    </a:lnTo>
                    <a:lnTo>
                      <a:pt x="131" y="27"/>
                    </a:lnTo>
                    <a:lnTo>
                      <a:pt x="133" y="36"/>
                    </a:lnTo>
                    <a:lnTo>
                      <a:pt x="132" y="46"/>
                    </a:lnTo>
                    <a:lnTo>
                      <a:pt x="130" y="56"/>
                    </a:lnTo>
                    <a:lnTo>
                      <a:pt x="123" y="66"/>
                    </a:lnTo>
                    <a:lnTo>
                      <a:pt x="116" y="74"/>
                    </a:lnTo>
                    <a:lnTo>
                      <a:pt x="107" y="83"/>
                    </a:lnTo>
                    <a:lnTo>
                      <a:pt x="96" y="90"/>
                    </a:lnTo>
                    <a:lnTo>
                      <a:pt x="84" y="97"/>
                    </a:lnTo>
                    <a:lnTo>
                      <a:pt x="70" y="100"/>
                    </a:lnTo>
                    <a:lnTo>
                      <a:pt x="57" y="102"/>
                    </a:lnTo>
                    <a:lnTo>
                      <a:pt x="44" y="102"/>
                    </a:lnTo>
                    <a:lnTo>
                      <a:pt x="33" y="100"/>
                    </a:lnTo>
                    <a:lnTo>
                      <a:pt x="22" y="97"/>
                    </a:lnTo>
                    <a:lnTo>
                      <a:pt x="13" y="90"/>
                    </a:lnTo>
                    <a:lnTo>
                      <a:pt x="6" y="84"/>
                    </a:lnTo>
                    <a:lnTo>
                      <a:pt x="2" y="76"/>
                    </a:lnTo>
                    <a:lnTo>
                      <a:pt x="0" y="66"/>
                    </a:lnTo>
                    <a:lnTo>
                      <a:pt x="0" y="56"/>
                    </a:lnTo>
                    <a:lnTo>
                      <a:pt x="3" y="46"/>
                    </a:lnTo>
                    <a:lnTo>
                      <a:pt x="8" y="36"/>
                    </a:lnTo>
                    <a:lnTo>
                      <a:pt x="16" y="27"/>
                    </a:lnTo>
                    <a:lnTo>
                      <a:pt x="26" y="19"/>
                    </a:lnTo>
                    <a:lnTo>
                      <a:pt x="37" y="11"/>
                    </a:lnTo>
                    <a:lnTo>
                      <a:pt x="49" y="6"/>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2" name="Freeform 65"/>
              <p:cNvSpPr>
                <a:spLocks/>
              </p:cNvSpPr>
              <p:nvPr/>
            </p:nvSpPr>
            <p:spPr bwMode="auto">
              <a:xfrm rot="3766183" flipH="1">
                <a:off x="4376" y="2101"/>
                <a:ext cx="150" cy="276"/>
              </a:xfrm>
              <a:custGeom>
                <a:avLst/>
                <a:gdLst>
                  <a:gd name="T0" fmla="*/ 2 w 150"/>
                  <a:gd name="T1" fmla="*/ 199 h 276"/>
                  <a:gd name="T2" fmla="*/ 2 w 150"/>
                  <a:gd name="T3" fmla="*/ 199 h 276"/>
                  <a:gd name="T4" fmla="*/ 7 w 150"/>
                  <a:gd name="T5" fmla="*/ 209 h 276"/>
                  <a:gd name="T6" fmla="*/ 13 w 150"/>
                  <a:gd name="T7" fmla="*/ 220 h 276"/>
                  <a:gd name="T8" fmla="*/ 21 w 150"/>
                  <a:gd name="T9" fmla="*/ 230 h 276"/>
                  <a:gd name="T10" fmla="*/ 28 w 150"/>
                  <a:gd name="T11" fmla="*/ 240 h 276"/>
                  <a:gd name="T12" fmla="*/ 46 w 150"/>
                  <a:gd name="T13" fmla="*/ 258 h 276"/>
                  <a:gd name="T14" fmla="*/ 62 w 150"/>
                  <a:gd name="T15" fmla="*/ 276 h 276"/>
                  <a:gd name="T16" fmla="*/ 62 w 150"/>
                  <a:gd name="T17" fmla="*/ 276 h 276"/>
                  <a:gd name="T18" fmla="*/ 73 w 150"/>
                  <a:gd name="T19" fmla="*/ 272 h 276"/>
                  <a:gd name="T20" fmla="*/ 86 w 150"/>
                  <a:gd name="T21" fmla="*/ 269 h 276"/>
                  <a:gd name="T22" fmla="*/ 100 w 150"/>
                  <a:gd name="T23" fmla="*/ 266 h 276"/>
                  <a:gd name="T24" fmla="*/ 115 w 150"/>
                  <a:gd name="T25" fmla="*/ 262 h 276"/>
                  <a:gd name="T26" fmla="*/ 122 w 150"/>
                  <a:gd name="T27" fmla="*/ 260 h 276"/>
                  <a:gd name="T28" fmla="*/ 129 w 150"/>
                  <a:gd name="T29" fmla="*/ 258 h 276"/>
                  <a:gd name="T30" fmla="*/ 135 w 150"/>
                  <a:gd name="T31" fmla="*/ 254 h 276"/>
                  <a:gd name="T32" fmla="*/ 140 w 150"/>
                  <a:gd name="T33" fmla="*/ 249 h 276"/>
                  <a:gd name="T34" fmla="*/ 143 w 150"/>
                  <a:gd name="T35" fmla="*/ 243 h 276"/>
                  <a:gd name="T36" fmla="*/ 147 w 150"/>
                  <a:gd name="T37" fmla="*/ 236 h 276"/>
                  <a:gd name="T38" fmla="*/ 148 w 150"/>
                  <a:gd name="T39" fmla="*/ 229 h 276"/>
                  <a:gd name="T40" fmla="*/ 150 w 150"/>
                  <a:gd name="T41" fmla="*/ 220 h 276"/>
                  <a:gd name="T42" fmla="*/ 150 w 150"/>
                  <a:gd name="T43" fmla="*/ 220 h 276"/>
                  <a:gd name="T44" fmla="*/ 145 w 150"/>
                  <a:gd name="T45" fmla="*/ 217 h 276"/>
                  <a:gd name="T46" fmla="*/ 141 w 150"/>
                  <a:gd name="T47" fmla="*/ 213 h 276"/>
                  <a:gd name="T48" fmla="*/ 138 w 150"/>
                  <a:gd name="T49" fmla="*/ 208 h 276"/>
                  <a:gd name="T50" fmla="*/ 136 w 150"/>
                  <a:gd name="T51" fmla="*/ 203 h 276"/>
                  <a:gd name="T52" fmla="*/ 133 w 150"/>
                  <a:gd name="T53" fmla="*/ 191 h 276"/>
                  <a:gd name="T54" fmla="*/ 132 w 150"/>
                  <a:gd name="T55" fmla="*/ 178 h 276"/>
                  <a:gd name="T56" fmla="*/ 133 w 150"/>
                  <a:gd name="T57" fmla="*/ 164 h 276"/>
                  <a:gd name="T58" fmla="*/ 135 w 150"/>
                  <a:gd name="T59" fmla="*/ 150 h 276"/>
                  <a:gd name="T60" fmla="*/ 138 w 150"/>
                  <a:gd name="T61" fmla="*/ 124 h 276"/>
                  <a:gd name="T62" fmla="*/ 138 w 150"/>
                  <a:gd name="T63" fmla="*/ 124 h 276"/>
                  <a:gd name="T64" fmla="*/ 143 w 150"/>
                  <a:gd name="T65" fmla="*/ 96 h 276"/>
                  <a:gd name="T66" fmla="*/ 146 w 150"/>
                  <a:gd name="T67" fmla="*/ 67 h 276"/>
                  <a:gd name="T68" fmla="*/ 147 w 150"/>
                  <a:gd name="T69" fmla="*/ 39 h 276"/>
                  <a:gd name="T70" fmla="*/ 146 w 150"/>
                  <a:gd name="T71" fmla="*/ 9 h 276"/>
                  <a:gd name="T72" fmla="*/ 121 w 150"/>
                  <a:gd name="T73" fmla="*/ 0 h 276"/>
                  <a:gd name="T74" fmla="*/ 121 w 150"/>
                  <a:gd name="T75" fmla="*/ 0 h 276"/>
                  <a:gd name="T76" fmla="*/ 101 w 150"/>
                  <a:gd name="T77" fmla="*/ 19 h 276"/>
                  <a:gd name="T78" fmla="*/ 84 w 150"/>
                  <a:gd name="T79" fmla="*/ 39 h 276"/>
                  <a:gd name="T80" fmla="*/ 68 w 150"/>
                  <a:gd name="T81" fmla="*/ 61 h 276"/>
                  <a:gd name="T82" fmla="*/ 52 w 150"/>
                  <a:gd name="T83" fmla="*/ 83 h 276"/>
                  <a:gd name="T84" fmla="*/ 52 w 150"/>
                  <a:gd name="T85" fmla="*/ 83 h 276"/>
                  <a:gd name="T86" fmla="*/ 48 w 150"/>
                  <a:gd name="T87" fmla="*/ 88 h 276"/>
                  <a:gd name="T88" fmla="*/ 43 w 150"/>
                  <a:gd name="T89" fmla="*/ 92 h 276"/>
                  <a:gd name="T90" fmla="*/ 39 w 150"/>
                  <a:gd name="T91" fmla="*/ 96 h 276"/>
                  <a:gd name="T92" fmla="*/ 36 w 150"/>
                  <a:gd name="T93" fmla="*/ 100 h 276"/>
                  <a:gd name="T94" fmla="*/ 36 w 150"/>
                  <a:gd name="T95" fmla="*/ 100 h 276"/>
                  <a:gd name="T96" fmla="*/ 36 w 150"/>
                  <a:gd name="T97" fmla="*/ 70 h 276"/>
                  <a:gd name="T98" fmla="*/ 36 w 150"/>
                  <a:gd name="T99" fmla="*/ 70 h 276"/>
                  <a:gd name="T100" fmla="*/ 27 w 150"/>
                  <a:gd name="T101" fmla="*/ 84 h 276"/>
                  <a:gd name="T102" fmla="*/ 18 w 150"/>
                  <a:gd name="T103" fmla="*/ 99 h 276"/>
                  <a:gd name="T104" fmla="*/ 11 w 150"/>
                  <a:gd name="T105" fmla="*/ 115 h 276"/>
                  <a:gd name="T106" fmla="*/ 6 w 150"/>
                  <a:gd name="T107" fmla="*/ 130 h 276"/>
                  <a:gd name="T108" fmla="*/ 1 w 150"/>
                  <a:gd name="T109" fmla="*/ 147 h 276"/>
                  <a:gd name="T110" fmla="*/ 0 w 150"/>
                  <a:gd name="T111" fmla="*/ 164 h 276"/>
                  <a:gd name="T112" fmla="*/ 0 w 150"/>
                  <a:gd name="T113" fmla="*/ 181 h 276"/>
                  <a:gd name="T114" fmla="*/ 2 w 150"/>
                  <a:gd name="T115" fmla="*/ 199 h 276"/>
                  <a:gd name="T116" fmla="*/ 2 w 150"/>
                  <a:gd name="T117" fmla="*/ 199 h 27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 name="T174" fmla="*/ 0 60000 65536"/>
                  <a:gd name="T175" fmla="*/ 0 60000 65536"/>
                  <a:gd name="T176" fmla="*/ 0 60000 65536"/>
                  <a:gd name="T177" fmla="*/ 0 w 150"/>
                  <a:gd name="T178" fmla="*/ 0 h 276"/>
                  <a:gd name="T179" fmla="*/ 150 w 150"/>
                  <a:gd name="T180" fmla="*/ 276 h 276"/>
                </a:gdLst>
                <a:ahLst/>
                <a:cxnLst>
                  <a:cxn ang="T118">
                    <a:pos x="T0" y="T1"/>
                  </a:cxn>
                  <a:cxn ang="T119">
                    <a:pos x="T2" y="T3"/>
                  </a:cxn>
                  <a:cxn ang="T120">
                    <a:pos x="T4" y="T5"/>
                  </a:cxn>
                  <a:cxn ang="T121">
                    <a:pos x="T6" y="T7"/>
                  </a:cxn>
                  <a:cxn ang="T122">
                    <a:pos x="T8" y="T9"/>
                  </a:cxn>
                  <a:cxn ang="T123">
                    <a:pos x="T10" y="T11"/>
                  </a:cxn>
                  <a:cxn ang="T124">
                    <a:pos x="T12" y="T13"/>
                  </a:cxn>
                  <a:cxn ang="T125">
                    <a:pos x="T14" y="T15"/>
                  </a:cxn>
                  <a:cxn ang="T126">
                    <a:pos x="T16" y="T17"/>
                  </a:cxn>
                  <a:cxn ang="T127">
                    <a:pos x="T18" y="T19"/>
                  </a:cxn>
                  <a:cxn ang="T128">
                    <a:pos x="T20" y="T21"/>
                  </a:cxn>
                  <a:cxn ang="T129">
                    <a:pos x="T22" y="T23"/>
                  </a:cxn>
                  <a:cxn ang="T130">
                    <a:pos x="T24" y="T25"/>
                  </a:cxn>
                  <a:cxn ang="T131">
                    <a:pos x="T26" y="T27"/>
                  </a:cxn>
                  <a:cxn ang="T132">
                    <a:pos x="T28" y="T29"/>
                  </a:cxn>
                  <a:cxn ang="T133">
                    <a:pos x="T30" y="T31"/>
                  </a:cxn>
                  <a:cxn ang="T134">
                    <a:pos x="T32" y="T33"/>
                  </a:cxn>
                  <a:cxn ang="T135">
                    <a:pos x="T34" y="T35"/>
                  </a:cxn>
                  <a:cxn ang="T136">
                    <a:pos x="T36" y="T37"/>
                  </a:cxn>
                  <a:cxn ang="T137">
                    <a:pos x="T38" y="T39"/>
                  </a:cxn>
                  <a:cxn ang="T138">
                    <a:pos x="T40" y="T41"/>
                  </a:cxn>
                  <a:cxn ang="T139">
                    <a:pos x="T42" y="T43"/>
                  </a:cxn>
                  <a:cxn ang="T140">
                    <a:pos x="T44" y="T45"/>
                  </a:cxn>
                  <a:cxn ang="T141">
                    <a:pos x="T46" y="T47"/>
                  </a:cxn>
                  <a:cxn ang="T142">
                    <a:pos x="T48" y="T49"/>
                  </a:cxn>
                  <a:cxn ang="T143">
                    <a:pos x="T50" y="T51"/>
                  </a:cxn>
                  <a:cxn ang="T144">
                    <a:pos x="T52" y="T53"/>
                  </a:cxn>
                  <a:cxn ang="T145">
                    <a:pos x="T54" y="T55"/>
                  </a:cxn>
                  <a:cxn ang="T146">
                    <a:pos x="T56" y="T57"/>
                  </a:cxn>
                  <a:cxn ang="T147">
                    <a:pos x="T58" y="T59"/>
                  </a:cxn>
                  <a:cxn ang="T148">
                    <a:pos x="T60" y="T61"/>
                  </a:cxn>
                  <a:cxn ang="T149">
                    <a:pos x="T62" y="T63"/>
                  </a:cxn>
                  <a:cxn ang="T150">
                    <a:pos x="T64" y="T65"/>
                  </a:cxn>
                  <a:cxn ang="T151">
                    <a:pos x="T66" y="T67"/>
                  </a:cxn>
                  <a:cxn ang="T152">
                    <a:pos x="T68" y="T69"/>
                  </a:cxn>
                  <a:cxn ang="T153">
                    <a:pos x="T70" y="T71"/>
                  </a:cxn>
                  <a:cxn ang="T154">
                    <a:pos x="T72" y="T73"/>
                  </a:cxn>
                  <a:cxn ang="T155">
                    <a:pos x="T74" y="T75"/>
                  </a:cxn>
                  <a:cxn ang="T156">
                    <a:pos x="T76" y="T77"/>
                  </a:cxn>
                  <a:cxn ang="T157">
                    <a:pos x="T78" y="T79"/>
                  </a:cxn>
                  <a:cxn ang="T158">
                    <a:pos x="T80" y="T81"/>
                  </a:cxn>
                  <a:cxn ang="T159">
                    <a:pos x="T82" y="T83"/>
                  </a:cxn>
                  <a:cxn ang="T160">
                    <a:pos x="T84" y="T85"/>
                  </a:cxn>
                  <a:cxn ang="T161">
                    <a:pos x="T86" y="T87"/>
                  </a:cxn>
                  <a:cxn ang="T162">
                    <a:pos x="T88" y="T89"/>
                  </a:cxn>
                  <a:cxn ang="T163">
                    <a:pos x="T90" y="T91"/>
                  </a:cxn>
                  <a:cxn ang="T164">
                    <a:pos x="T92" y="T93"/>
                  </a:cxn>
                  <a:cxn ang="T165">
                    <a:pos x="T94" y="T95"/>
                  </a:cxn>
                  <a:cxn ang="T166">
                    <a:pos x="T96" y="T97"/>
                  </a:cxn>
                  <a:cxn ang="T167">
                    <a:pos x="T98" y="T99"/>
                  </a:cxn>
                  <a:cxn ang="T168">
                    <a:pos x="T100" y="T101"/>
                  </a:cxn>
                  <a:cxn ang="T169">
                    <a:pos x="T102" y="T103"/>
                  </a:cxn>
                  <a:cxn ang="T170">
                    <a:pos x="T104" y="T105"/>
                  </a:cxn>
                  <a:cxn ang="T171">
                    <a:pos x="T106" y="T107"/>
                  </a:cxn>
                  <a:cxn ang="T172">
                    <a:pos x="T108" y="T109"/>
                  </a:cxn>
                  <a:cxn ang="T173">
                    <a:pos x="T110" y="T111"/>
                  </a:cxn>
                  <a:cxn ang="T174">
                    <a:pos x="T112" y="T113"/>
                  </a:cxn>
                  <a:cxn ang="T175">
                    <a:pos x="T114" y="T115"/>
                  </a:cxn>
                  <a:cxn ang="T176">
                    <a:pos x="T116" y="T117"/>
                  </a:cxn>
                </a:cxnLst>
                <a:rect l="T177" t="T178" r="T179" b="T180"/>
                <a:pathLst>
                  <a:path w="150" h="276">
                    <a:moveTo>
                      <a:pt x="2" y="199"/>
                    </a:moveTo>
                    <a:lnTo>
                      <a:pt x="2" y="199"/>
                    </a:lnTo>
                    <a:lnTo>
                      <a:pt x="7" y="209"/>
                    </a:lnTo>
                    <a:lnTo>
                      <a:pt x="13" y="220"/>
                    </a:lnTo>
                    <a:lnTo>
                      <a:pt x="21" y="230"/>
                    </a:lnTo>
                    <a:lnTo>
                      <a:pt x="28" y="240"/>
                    </a:lnTo>
                    <a:lnTo>
                      <a:pt x="46" y="258"/>
                    </a:lnTo>
                    <a:lnTo>
                      <a:pt x="62" y="276"/>
                    </a:lnTo>
                    <a:lnTo>
                      <a:pt x="73" y="272"/>
                    </a:lnTo>
                    <a:lnTo>
                      <a:pt x="86" y="269"/>
                    </a:lnTo>
                    <a:lnTo>
                      <a:pt x="100" y="266"/>
                    </a:lnTo>
                    <a:lnTo>
                      <a:pt x="115" y="262"/>
                    </a:lnTo>
                    <a:lnTo>
                      <a:pt x="122" y="260"/>
                    </a:lnTo>
                    <a:lnTo>
                      <a:pt x="129" y="258"/>
                    </a:lnTo>
                    <a:lnTo>
                      <a:pt x="135" y="254"/>
                    </a:lnTo>
                    <a:lnTo>
                      <a:pt x="140" y="249"/>
                    </a:lnTo>
                    <a:lnTo>
                      <a:pt x="143" y="243"/>
                    </a:lnTo>
                    <a:lnTo>
                      <a:pt x="147" y="236"/>
                    </a:lnTo>
                    <a:lnTo>
                      <a:pt x="148" y="229"/>
                    </a:lnTo>
                    <a:lnTo>
                      <a:pt x="150" y="220"/>
                    </a:lnTo>
                    <a:lnTo>
                      <a:pt x="145" y="217"/>
                    </a:lnTo>
                    <a:lnTo>
                      <a:pt x="141" y="213"/>
                    </a:lnTo>
                    <a:lnTo>
                      <a:pt x="138" y="208"/>
                    </a:lnTo>
                    <a:lnTo>
                      <a:pt x="136" y="203"/>
                    </a:lnTo>
                    <a:lnTo>
                      <a:pt x="133" y="191"/>
                    </a:lnTo>
                    <a:lnTo>
                      <a:pt x="132" y="178"/>
                    </a:lnTo>
                    <a:lnTo>
                      <a:pt x="133" y="164"/>
                    </a:lnTo>
                    <a:lnTo>
                      <a:pt x="135" y="150"/>
                    </a:lnTo>
                    <a:lnTo>
                      <a:pt x="138" y="124"/>
                    </a:lnTo>
                    <a:lnTo>
                      <a:pt x="143" y="96"/>
                    </a:lnTo>
                    <a:lnTo>
                      <a:pt x="146" y="67"/>
                    </a:lnTo>
                    <a:lnTo>
                      <a:pt x="147" y="39"/>
                    </a:lnTo>
                    <a:lnTo>
                      <a:pt x="146" y="9"/>
                    </a:lnTo>
                    <a:lnTo>
                      <a:pt x="121" y="0"/>
                    </a:lnTo>
                    <a:lnTo>
                      <a:pt x="101" y="19"/>
                    </a:lnTo>
                    <a:lnTo>
                      <a:pt x="84" y="39"/>
                    </a:lnTo>
                    <a:lnTo>
                      <a:pt x="68" y="61"/>
                    </a:lnTo>
                    <a:lnTo>
                      <a:pt x="52" y="83"/>
                    </a:lnTo>
                    <a:lnTo>
                      <a:pt x="48" y="88"/>
                    </a:lnTo>
                    <a:lnTo>
                      <a:pt x="43" y="92"/>
                    </a:lnTo>
                    <a:lnTo>
                      <a:pt x="39" y="96"/>
                    </a:lnTo>
                    <a:lnTo>
                      <a:pt x="36" y="100"/>
                    </a:lnTo>
                    <a:lnTo>
                      <a:pt x="36" y="70"/>
                    </a:lnTo>
                    <a:lnTo>
                      <a:pt x="27" y="84"/>
                    </a:lnTo>
                    <a:lnTo>
                      <a:pt x="18" y="99"/>
                    </a:lnTo>
                    <a:lnTo>
                      <a:pt x="11" y="115"/>
                    </a:lnTo>
                    <a:lnTo>
                      <a:pt x="6" y="130"/>
                    </a:lnTo>
                    <a:lnTo>
                      <a:pt x="1" y="147"/>
                    </a:lnTo>
                    <a:lnTo>
                      <a:pt x="0" y="164"/>
                    </a:lnTo>
                    <a:lnTo>
                      <a:pt x="0" y="181"/>
                    </a:lnTo>
                    <a:lnTo>
                      <a:pt x="2" y="199"/>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3" name="Freeform 66"/>
              <p:cNvSpPr>
                <a:spLocks/>
              </p:cNvSpPr>
              <p:nvPr/>
            </p:nvSpPr>
            <p:spPr bwMode="auto">
              <a:xfrm rot="3766183" flipH="1">
                <a:off x="4373" y="2104"/>
                <a:ext cx="145" cy="268"/>
              </a:xfrm>
              <a:custGeom>
                <a:avLst/>
                <a:gdLst>
                  <a:gd name="T0" fmla="*/ 22 w 145"/>
                  <a:gd name="T1" fmla="*/ 88 h 268"/>
                  <a:gd name="T2" fmla="*/ 11 w 145"/>
                  <a:gd name="T3" fmla="*/ 112 h 268"/>
                  <a:gd name="T4" fmla="*/ 1 w 145"/>
                  <a:gd name="T5" fmla="*/ 148 h 268"/>
                  <a:gd name="T6" fmla="*/ 0 w 145"/>
                  <a:gd name="T7" fmla="*/ 168 h 268"/>
                  <a:gd name="T8" fmla="*/ 4 w 145"/>
                  <a:gd name="T9" fmla="*/ 189 h 268"/>
                  <a:gd name="T10" fmla="*/ 14 w 145"/>
                  <a:gd name="T11" fmla="*/ 209 h 268"/>
                  <a:gd name="T12" fmla="*/ 24 w 145"/>
                  <a:gd name="T13" fmla="*/ 224 h 268"/>
                  <a:gd name="T14" fmla="*/ 63 w 145"/>
                  <a:gd name="T15" fmla="*/ 268 h 268"/>
                  <a:gd name="T16" fmla="*/ 72 w 145"/>
                  <a:gd name="T17" fmla="*/ 267 h 268"/>
                  <a:gd name="T18" fmla="*/ 88 w 145"/>
                  <a:gd name="T19" fmla="*/ 263 h 268"/>
                  <a:gd name="T20" fmla="*/ 109 w 145"/>
                  <a:gd name="T21" fmla="*/ 251 h 268"/>
                  <a:gd name="T22" fmla="*/ 132 w 145"/>
                  <a:gd name="T23" fmla="*/ 232 h 268"/>
                  <a:gd name="T24" fmla="*/ 144 w 145"/>
                  <a:gd name="T25" fmla="*/ 217 h 268"/>
                  <a:gd name="T26" fmla="*/ 145 w 145"/>
                  <a:gd name="T27" fmla="*/ 215 h 268"/>
                  <a:gd name="T28" fmla="*/ 137 w 145"/>
                  <a:gd name="T29" fmla="*/ 203 h 268"/>
                  <a:gd name="T30" fmla="*/ 127 w 145"/>
                  <a:gd name="T31" fmla="*/ 180 h 268"/>
                  <a:gd name="T32" fmla="*/ 123 w 145"/>
                  <a:gd name="T33" fmla="*/ 162 h 268"/>
                  <a:gd name="T34" fmla="*/ 123 w 145"/>
                  <a:gd name="T35" fmla="*/ 133 h 268"/>
                  <a:gd name="T36" fmla="*/ 129 w 145"/>
                  <a:gd name="T37" fmla="*/ 94 h 268"/>
                  <a:gd name="T38" fmla="*/ 135 w 145"/>
                  <a:gd name="T39" fmla="*/ 42 h 268"/>
                  <a:gd name="T40" fmla="*/ 134 w 145"/>
                  <a:gd name="T41" fmla="*/ 16 h 268"/>
                  <a:gd name="T42" fmla="*/ 134 w 145"/>
                  <a:gd name="T43" fmla="*/ 6 h 268"/>
                  <a:gd name="T44" fmla="*/ 118 w 145"/>
                  <a:gd name="T45" fmla="*/ 0 h 268"/>
                  <a:gd name="T46" fmla="*/ 95 w 145"/>
                  <a:gd name="T47" fmla="*/ 21 h 268"/>
                  <a:gd name="T48" fmla="*/ 87 w 145"/>
                  <a:gd name="T49" fmla="*/ 28 h 268"/>
                  <a:gd name="T50" fmla="*/ 49 w 145"/>
                  <a:gd name="T51" fmla="*/ 81 h 268"/>
                  <a:gd name="T52" fmla="*/ 46 w 145"/>
                  <a:gd name="T53" fmla="*/ 86 h 268"/>
                  <a:gd name="T54" fmla="*/ 33 w 145"/>
                  <a:gd name="T55" fmla="*/ 100 h 268"/>
                  <a:gd name="T56" fmla="*/ 28 w 145"/>
                  <a:gd name="T57" fmla="*/ 112 h 268"/>
                  <a:gd name="T58" fmla="*/ 26 w 145"/>
                  <a:gd name="T59" fmla="*/ 117 h 268"/>
                  <a:gd name="T60" fmla="*/ 25 w 145"/>
                  <a:gd name="T61" fmla="*/ 117 h 268"/>
                  <a:gd name="T62" fmla="*/ 24 w 145"/>
                  <a:gd name="T63" fmla="*/ 107 h 268"/>
                  <a:gd name="T64" fmla="*/ 22 w 145"/>
                  <a:gd name="T65" fmla="*/ 88 h 268"/>
                  <a:gd name="T66" fmla="*/ 0 60000 65536"/>
                  <a:gd name="T67" fmla="*/ 0 60000 65536"/>
                  <a:gd name="T68" fmla="*/ 0 60000 65536"/>
                  <a:gd name="T69" fmla="*/ 0 60000 65536"/>
                  <a:gd name="T70" fmla="*/ 0 60000 65536"/>
                  <a:gd name="T71" fmla="*/ 0 60000 65536"/>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w 145"/>
                  <a:gd name="T100" fmla="*/ 0 h 268"/>
                  <a:gd name="T101" fmla="*/ 145 w 145"/>
                  <a:gd name="T102" fmla="*/ 268 h 268"/>
                </a:gdLst>
                <a:ahLst/>
                <a:cxnLst>
                  <a:cxn ang="T66">
                    <a:pos x="T0" y="T1"/>
                  </a:cxn>
                  <a:cxn ang="T67">
                    <a:pos x="T2" y="T3"/>
                  </a:cxn>
                  <a:cxn ang="T68">
                    <a:pos x="T4" y="T5"/>
                  </a:cxn>
                  <a:cxn ang="T69">
                    <a:pos x="T6" y="T7"/>
                  </a:cxn>
                  <a:cxn ang="T70">
                    <a:pos x="T8" y="T9"/>
                  </a:cxn>
                  <a:cxn ang="T71">
                    <a:pos x="T10" y="T11"/>
                  </a:cxn>
                  <a:cxn ang="T72">
                    <a:pos x="T12" y="T13"/>
                  </a:cxn>
                  <a:cxn ang="T73">
                    <a:pos x="T14" y="T15"/>
                  </a:cxn>
                  <a:cxn ang="T74">
                    <a:pos x="T16" y="T17"/>
                  </a:cxn>
                  <a:cxn ang="T75">
                    <a:pos x="T18" y="T19"/>
                  </a:cxn>
                  <a:cxn ang="T76">
                    <a:pos x="T20" y="T21"/>
                  </a:cxn>
                  <a:cxn ang="T77">
                    <a:pos x="T22" y="T23"/>
                  </a:cxn>
                  <a:cxn ang="T78">
                    <a:pos x="T24" y="T25"/>
                  </a:cxn>
                  <a:cxn ang="T79">
                    <a:pos x="T26" y="T27"/>
                  </a:cxn>
                  <a:cxn ang="T80">
                    <a:pos x="T28" y="T29"/>
                  </a:cxn>
                  <a:cxn ang="T81">
                    <a:pos x="T30" y="T31"/>
                  </a:cxn>
                  <a:cxn ang="T82">
                    <a:pos x="T32" y="T33"/>
                  </a:cxn>
                  <a:cxn ang="T83">
                    <a:pos x="T34" y="T35"/>
                  </a:cxn>
                  <a:cxn ang="T84">
                    <a:pos x="T36" y="T37"/>
                  </a:cxn>
                  <a:cxn ang="T85">
                    <a:pos x="T38" y="T39"/>
                  </a:cxn>
                  <a:cxn ang="T86">
                    <a:pos x="T40" y="T41"/>
                  </a:cxn>
                  <a:cxn ang="T87">
                    <a:pos x="T42" y="T43"/>
                  </a:cxn>
                  <a:cxn ang="T88">
                    <a:pos x="T44" y="T45"/>
                  </a:cxn>
                  <a:cxn ang="T89">
                    <a:pos x="T46" y="T47"/>
                  </a:cxn>
                  <a:cxn ang="T90">
                    <a:pos x="T48" y="T49"/>
                  </a:cxn>
                  <a:cxn ang="T91">
                    <a:pos x="T50" y="T51"/>
                  </a:cxn>
                  <a:cxn ang="T92">
                    <a:pos x="T52" y="T53"/>
                  </a:cxn>
                  <a:cxn ang="T93">
                    <a:pos x="T54" y="T55"/>
                  </a:cxn>
                  <a:cxn ang="T94">
                    <a:pos x="T56" y="T57"/>
                  </a:cxn>
                  <a:cxn ang="T95">
                    <a:pos x="T58" y="T59"/>
                  </a:cxn>
                  <a:cxn ang="T96">
                    <a:pos x="T60" y="T61"/>
                  </a:cxn>
                  <a:cxn ang="T97">
                    <a:pos x="T62" y="T63"/>
                  </a:cxn>
                  <a:cxn ang="T98">
                    <a:pos x="T64" y="T65"/>
                  </a:cxn>
                </a:cxnLst>
                <a:rect l="T99" t="T100" r="T101" b="T102"/>
                <a:pathLst>
                  <a:path w="145" h="268">
                    <a:moveTo>
                      <a:pt x="22" y="88"/>
                    </a:moveTo>
                    <a:lnTo>
                      <a:pt x="22" y="88"/>
                    </a:lnTo>
                    <a:lnTo>
                      <a:pt x="16" y="99"/>
                    </a:lnTo>
                    <a:lnTo>
                      <a:pt x="11" y="112"/>
                    </a:lnTo>
                    <a:lnTo>
                      <a:pt x="5" y="128"/>
                    </a:lnTo>
                    <a:lnTo>
                      <a:pt x="1" y="148"/>
                    </a:lnTo>
                    <a:lnTo>
                      <a:pt x="0" y="158"/>
                    </a:lnTo>
                    <a:lnTo>
                      <a:pt x="0" y="168"/>
                    </a:lnTo>
                    <a:lnTo>
                      <a:pt x="1" y="179"/>
                    </a:lnTo>
                    <a:lnTo>
                      <a:pt x="4" y="189"/>
                    </a:lnTo>
                    <a:lnTo>
                      <a:pt x="7" y="199"/>
                    </a:lnTo>
                    <a:lnTo>
                      <a:pt x="14" y="209"/>
                    </a:lnTo>
                    <a:lnTo>
                      <a:pt x="24" y="224"/>
                    </a:lnTo>
                    <a:lnTo>
                      <a:pt x="36" y="238"/>
                    </a:lnTo>
                    <a:lnTo>
                      <a:pt x="63" y="268"/>
                    </a:lnTo>
                    <a:lnTo>
                      <a:pt x="72" y="267"/>
                    </a:lnTo>
                    <a:lnTo>
                      <a:pt x="79" y="266"/>
                    </a:lnTo>
                    <a:lnTo>
                      <a:pt x="88" y="263"/>
                    </a:lnTo>
                    <a:lnTo>
                      <a:pt x="95" y="259"/>
                    </a:lnTo>
                    <a:lnTo>
                      <a:pt x="109" y="251"/>
                    </a:lnTo>
                    <a:lnTo>
                      <a:pt x="123" y="242"/>
                    </a:lnTo>
                    <a:lnTo>
                      <a:pt x="132" y="232"/>
                    </a:lnTo>
                    <a:lnTo>
                      <a:pt x="140" y="224"/>
                    </a:lnTo>
                    <a:lnTo>
                      <a:pt x="144" y="217"/>
                    </a:lnTo>
                    <a:lnTo>
                      <a:pt x="145" y="216"/>
                    </a:lnTo>
                    <a:lnTo>
                      <a:pt x="145" y="215"/>
                    </a:lnTo>
                    <a:lnTo>
                      <a:pt x="137" y="203"/>
                    </a:lnTo>
                    <a:lnTo>
                      <a:pt x="131" y="191"/>
                    </a:lnTo>
                    <a:lnTo>
                      <a:pt x="127" y="180"/>
                    </a:lnTo>
                    <a:lnTo>
                      <a:pt x="125" y="170"/>
                    </a:lnTo>
                    <a:lnTo>
                      <a:pt x="123" y="162"/>
                    </a:lnTo>
                    <a:lnTo>
                      <a:pt x="123" y="152"/>
                    </a:lnTo>
                    <a:lnTo>
                      <a:pt x="123" y="133"/>
                    </a:lnTo>
                    <a:lnTo>
                      <a:pt x="125" y="115"/>
                    </a:lnTo>
                    <a:lnTo>
                      <a:pt x="129" y="94"/>
                    </a:lnTo>
                    <a:lnTo>
                      <a:pt x="132" y="70"/>
                    </a:lnTo>
                    <a:lnTo>
                      <a:pt x="135" y="42"/>
                    </a:lnTo>
                    <a:lnTo>
                      <a:pt x="134" y="16"/>
                    </a:lnTo>
                    <a:lnTo>
                      <a:pt x="134" y="6"/>
                    </a:lnTo>
                    <a:lnTo>
                      <a:pt x="118" y="0"/>
                    </a:lnTo>
                    <a:lnTo>
                      <a:pt x="105" y="11"/>
                    </a:lnTo>
                    <a:lnTo>
                      <a:pt x="95" y="21"/>
                    </a:lnTo>
                    <a:lnTo>
                      <a:pt x="87" y="28"/>
                    </a:lnTo>
                    <a:lnTo>
                      <a:pt x="68" y="55"/>
                    </a:lnTo>
                    <a:lnTo>
                      <a:pt x="49" y="81"/>
                    </a:lnTo>
                    <a:lnTo>
                      <a:pt x="46" y="86"/>
                    </a:lnTo>
                    <a:lnTo>
                      <a:pt x="40" y="92"/>
                    </a:lnTo>
                    <a:lnTo>
                      <a:pt x="33" y="100"/>
                    </a:lnTo>
                    <a:lnTo>
                      <a:pt x="31" y="106"/>
                    </a:lnTo>
                    <a:lnTo>
                      <a:pt x="28" y="112"/>
                    </a:lnTo>
                    <a:lnTo>
                      <a:pt x="26" y="117"/>
                    </a:lnTo>
                    <a:lnTo>
                      <a:pt x="25" y="118"/>
                    </a:lnTo>
                    <a:lnTo>
                      <a:pt x="25" y="117"/>
                    </a:lnTo>
                    <a:lnTo>
                      <a:pt x="24" y="113"/>
                    </a:lnTo>
                    <a:lnTo>
                      <a:pt x="24" y="107"/>
                    </a:lnTo>
                    <a:lnTo>
                      <a:pt x="22" y="88"/>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4" name="Freeform 67"/>
              <p:cNvSpPr>
                <a:spLocks/>
              </p:cNvSpPr>
              <p:nvPr/>
            </p:nvSpPr>
            <p:spPr bwMode="auto">
              <a:xfrm rot="3766183" flipH="1">
                <a:off x="4377" y="1953"/>
                <a:ext cx="205" cy="417"/>
              </a:xfrm>
              <a:custGeom>
                <a:avLst/>
                <a:gdLst>
                  <a:gd name="T0" fmla="*/ 26 w 205"/>
                  <a:gd name="T1" fmla="*/ 67 h 417"/>
                  <a:gd name="T2" fmla="*/ 5 w 205"/>
                  <a:gd name="T3" fmla="*/ 90 h 417"/>
                  <a:gd name="T4" fmla="*/ 5 w 205"/>
                  <a:gd name="T5" fmla="*/ 103 h 417"/>
                  <a:gd name="T6" fmla="*/ 16 w 205"/>
                  <a:gd name="T7" fmla="*/ 113 h 417"/>
                  <a:gd name="T8" fmla="*/ 5 w 205"/>
                  <a:gd name="T9" fmla="*/ 130 h 417"/>
                  <a:gd name="T10" fmla="*/ 0 w 205"/>
                  <a:gd name="T11" fmla="*/ 148 h 417"/>
                  <a:gd name="T12" fmla="*/ 6 w 205"/>
                  <a:gd name="T13" fmla="*/ 157 h 417"/>
                  <a:gd name="T14" fmla="*/ 5 w 205"/>
                  <a:gd name="T15" fmla="*/ 164 h 417"/>
                  <a:gd name="T16" fmla="*/ 3 w 205"/>
                  <a:gd name="T17" fmla="*/ 181 h 417"/>
                  <a:gd name="T18" fmla="*/ 15 w 205"/>
                  <a:gd name="T19" fmla="*/ 193 h 417"/>
                  <a:gd name="T20" fmla="*/ 34 w 205"/>
                  <a:gd name="T21" fmla="*/ 197 h 417"/>
                  <a:gd name="T22" fmla="*/ 51 w 205"/>
                  <a:gd name="T23" fmla="*/ 189 h 417"/>
                  <a:gd name="T24" fmla="*/ 60 w 205"/>
                  <a:gd name="T25" fmla="*/ 168 h 417"/>
                  <a:gd name="T26" fmla="*/ 71 w 205"/>
                  <a:gd name="T27" fmla="*/ 183 h 417"/>
                  <a:gd name="T28" fmla="*/ 55 w 205"/>
                  <a:gd name="T29" fmla="*/ 202 h 417"/>
                  <a:gd name="T30" fmla="*/ 44 w 205"/>
                  <a:gd name="T31" fmla="*/ 224 h 417"/>
                  <a:gd name="T32" fmla="*/ 18 w 205"/>
                  <a:gd name="T33" fmla="*/ 267 h 417"/>
                  <a:gd name="T34" fmla="*/ 6 w 205"/>
                  <a:gd name="T35" fmla="*/ 299 h 417"/>
                  <a:gd name="T36" fmla="*/ 8 w 205"/>
                  <a:gd name="T37" fmla="*/ 320 h 417"/>
                  <a:gd name="T38" fmla="*/ 15 w 205"/>
                  <a:gd name="T39" fmla="*/ 338 h 417"/>
                  <a:gd name="T40" fmla="*/ 20 w 205"/>
                  <a:gd name="T41" fmla="*/ 362 h 417"/>
                  <a:gd name="T42" fmla="*/ 24 w 205"/>
                  <a:gd name="T43" fmla="*/ 373 h 417"/>
                  <a:gd name="T44" fmla="*/ 20 w 205"/>
                  <a:gd name="T45" fmla="*/ 383 h 417"/>
                  <a:gd name="T46" fmla="*/ 11 w 205"/>
                  <a:gd name="T47" fmla="*/ 378 h 417"/>
                  <a:gd name="T48" fmla="*/ 20 w 205"/>
                  <a:gd name="T49" fmla="*/ 398 h 417"/>
                  <a:gd name="T50" fmla="*/ 35 w 205"/>
                  <a:gd name="T51" fmla="*/ 412 h 417"/>
                  <a:gd name="T52" fmla="*/ 60 w 205"/>
                  <a:gd name="T53" fmla="*/ 417 h 417"/>
                  <a:gd name="T54" fmla="*/ 91 w 205"/>
                  <a:gd name="T55" fmla="*/ 415 h 417"/>
                  <a:gd name="T56" fmla="*/ 108 w 205"/>
                  <a:gd name="T57" fmla="*/ 408 h 417"/>
                  <a:gd name="T58" fmla="*/ 122 w 205"/>
                  <a:gd name="T59" fmla="*/ 394 h 417"/>
                  <a:gd name="T60" fmla="*/ 129 w 205"/>
                  <a:gd name="T61" fmla="*/ 375 h 417"/>
                  <a:gd name="T62" fmla="*/ 129 w 205"/>
                  <a:gd name="T63" fmla="*/ 346 h 417"/>
                  <a:gd name="T64" fmla="*/ 133 w 205"/>
                  <a:gd name="T65" fmla="*/ 308 h 417"/>
                  <a:gd name="T66" fmla="*/ 154 w 205"/>
                  <a:gd name="T67" fmla="*/ 252 h 417"/>
                  <a:gd name="T68" fmla="*/ 188 w 205"/>
                  <a:gd name="T69" fmla="*/ 205 h 417"/>
                  <a:gd name="T70" fmla="*/ 201 w 205"/>
                  <a:gd name="T71" fmla="*/ 189 h 417"/>
                  <a:gd name="T72" fmla="*/ 205 w 205"/>
                  <a:gd name="T73" fmla="*/ 166 h 417"/>
                  <a:gd name="T74" fmla="*/ 198 w 205"/>
                  <a:gd name="T75" fmla="*/ 137 h 417"/>
                  <a:gd name="T76" fmla="*/ 171 w 205"/>
                  <a:gd name="T77" fmla="*/ 44 h 417"/>
                  <a:gd name="T78" fmla="*/ 154 w 205"/>
                  <a:gd name="T79" fmla="*/ 10 h 417"/>
                  <a:gd name="T80" fmla="*/ 141 w 205"/>
                  <a:gd name="T81" fmla="*/ 0 h 417"/>
                  <a:gd name="T82" fmla="*/ 131 w 205"/>
                  <a:gd name="T83" fmla="*/ 2 h 417"/>
                  <a:gd name="T84" fmla="*/ 122 w 205"/>
                  <a:gd name="T85" fmla="*/ 16 h 417"/>
                  <a:gd name="T86" fmla="*/ 117 w 205"/>
                  <a:gd name="T87" fmla="*/ 36 h 417"/>
                  <a:gd name="T88" fmla="*/ 118 w 205"/>
                  <a:gd name="T89" fmla="*/ 57 h 417"/>
                  <a:gd name="T90" fmla="*/ 89 w 205"/>
                  <a:gd name="T91" fmla="*/ 40 h 417"/>
                  <a:gd name="T92" fmla="*/ 61 w 205"/>
                  <a:gd name="T93" fmla="*/ 43 h 417"/>
                  <a:gd name="T94" fmla="*/ 41 w 205"/>
                  <a:gd name="T95" fmla="*/ 54 h 417"/>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w 205"/>
                  <a:gd name="T145" fmla="*/ 0 h 417"/>
                  <a:gd name="T146" fmla="*/ 205 w 205"/>
                  <a:gd name="T147" fmla="*/ 417 h 417"/>
                </a:gdLst>
                <a:ahLst/>
                <a:cxnLst>
                  <a:cxn ang="T96">
                    <a:pos x="T0" y="T1"/>
                  </a:cxn>
                  <a:cxn ang="T97">
                    <a:pos x="T2" y="T3"/>
                  </a:cxn>
                  <a:cxn ang="T98">
                    <a:pos x="T4" y="T5"/>
                  </a:cxn>
                  <a:cxn ang="T99">
                    <a:pos x="T6" y="T7"/>
                  </a:cxn>
                  <a:cxn ang="T100">
                    <a:pos x="T8" y="T9"/>
                  </a:cxn>
                  <a:cxn ang="T101">
                    <a:pos x="T10" y="T11"/>
                  </a:cxn>
                  <a:cxn ang="T102">
                    <a:pos x="T12" y="T13"/>
                  </a:cxn>
                  <a:cxn ang="T103">
                    <a:pos x="T14" y="T15"/>
                  </a:cxn>
                  <a:cxn ang="T104">
                    <a:pos x="T16" y="T17"/>
                  </a:cxn>
                  <a:cxn ang="T105">
                    <a:pos x="T18" y="T19"/>
                  </a:cxn>
                  <a:cxn ang="T106">
                    <a:pos x="T20" y="T21"/>
                  </a:cxn>
                  <a:cxn ang="T107">
                    <a:pos x="T22" y="T23"/>
                  </a:cxn>
                  <a:cxn ang="T108">
                    <a:pos x="T24" y="T25"/>
                  </a:cxn>
                  <a:cxn ang="T109">
                    <a:pos x="T26" y="T27"/>
                  </a:cxn>
                  <a:cxn ang="T110">
                    <a:pos x="T28" y="T29"/>
                  </a:cxn>
                  <a:cxn ang="T111">
                    <a:pos x="T30" y="T31"/>
                  </a:cxn>
                  <a:cxn ang="T112">
                    <a:pos x="T32" y="T33"/>
                  </a:cxn>
                  <a:cxn ang="T113">
                    <a:pos x="T34" y="T35"/>
                  </a:cxn>
                  <a:cxn ang="T114">
                    <a:pos x="T36" y="T37"/>
                  </a:cxn>
                  <a:cxn ang="T115">
                    <a:pos x="T38" y="T39"/>
                  </a:cxn>
                  <a:cxn ang="T116">
                    <a:pos x="T40" y="T41"/>
                  </a:cxn>
                  <a:cxn ang="T117">
                    <a:pos x="T42" y="T43"/>
                  </a:cxn>
                  <a:cxn ang="T118">
                    <a:pos x="T44" y="T45"/>
                  </a:cxn>
                  <a:cxn ang="T119">
                    <a:pos x="T46" y="T47"/>
                  </a:cxn>
                  <a:cxn ang="T120">
                    <a:pos x="T48" y="T49"/>
                  </a:cxn>
                  <a:cxn ang="T121">
                    <a:pos x="T50" y="T51"/>
                  </a:cxn>
                  <a:cxn ang="T122">
                    <a:pos x="T52" y="T53"/>
                  </a:cxn>
                  <a:cxn ang="T123">
                    <a:pos x="T54" y="T55"/>
                  </a:cxn>
                  <a:cxn ang="T124">
                    <a:pos x="T56" y="T57"/>
                  </a:cxn>
                  <a:cxn ang="T125">
                    <a:pos x="T58" y="T59"/>
                  </a:cxn>
                  <a:cxn ang="T126">
                    <a:pos x="T60" y="T61"/>
                  </a:cxn>
                  <a:cxn ang="T127">
                    <a:pos x="T62" y="T63"/>
                  </a:cxn>
                  <a:cxn ang="T128">
                    <a:pos x="T64" y="T65"/>
                  </a:cxn>
                  <a:cxn ang="T129">
                    <a:pos x="T66" y="T67"/>
                  </a:cxn>
                  <a:cxn ang="T130">
                    <a:pos x="T68" y="T69"/>
                  </a:cxn>
                  <a:cxn ang="T131">
                    <a:pos x="T70" y="T71"/>
                  </a:cxn>
                  <a:cxn ang="T132">
                    <a:pos x="T72" y="T73"/>
                  </a:cxn>
                  <a:cxn ang="T133">
                    <a:pos x="T74" y="T75"/>
                  </a:cxn>
                  <a:cxn ang="T134">
                    <a:pos x="T76" y="T77"/>
                  </a:cxn>
                  <a:cxn ang="T135">
                    <a:pos x="T78" y="T79"/>
                  </a:cxn>
                  <a:cxn ang="T136">
                    <a:pos x="T80" y="T81"/>
                  </a:cxn>
                  <a:cxn ang="T137">
                    <a:pos x="T82" y="T83"/>
                  </a:cxn>
                  <a:cxn ang="T138">
                    <a:pos x="T84" y="T85"/>
                  </a:cxn>
                  <a:cxn ang="T139">
                    <a:pos x="T86" y="T87"/>
                  </a:cxn>
                  <a:cxn ang="T140">
                    <a:pos x="T88" y="T89"/>
                  </a:cxn>
                  <a:cxn ang="T141">
                    <a:pos x="T90" y="T91"/>
                  </a:cxn>
                  <a:cxn ang="T142">
                    <a:pos x="T92" y="T93"/>
                  </a:cxn>
                  <a:cxn ang="T143">
                    <a:pos x="T94" y="T95"/>
                  </a:cxn>
                </a:cxnLst>
                <a:rect l="T144" t="T145" r="T146" b="T147"/>
                <a:pathLst>
                  <a:path w="205" h="417">
                    <a:moveTo>
                      <a:pt x="41" y="54"/>
                    </a:moveTo>
                    <a:lnTo>
                      <a:pt x="41" y="54"/>
                    </a:lnTo>
                    <a:lnTo>
                      <a:pt x="26" y="67"/>
                    </a:lnTo>
                    <a:lnTo>
                      <a:pt x="18" y="74"/>
                    </a:lnTo>
                    <a:lnTo>
                      <a:pt x="10" y="82"/>
                    </a:lnTo>
                    <a:lnTo>
                      <a:pt x="5" y="90"/>
                    </a:lnTo>
                    <a:lnTo>
                      <a:pt x="4" y="94"/>
                    </a:lnTo>
                    <a:lnTo>
                      <a:pt x="4" y="99"/>
                    </a:lnTo>
                    <a:lnTo>
                      <a:pt x="5" y="103"/>
                    </a:lnTo>
                    <a:lnTo>
                      <a:pt x="8" y="106"/>
                    </a:lnTo>
                    <a:lnTo>
                      <a:pt x="11" y="109"/>
                    </a:lnTo>
                    <a:lnTo>
                      <a:pt x="16" y="113"/>
                    </a:lnTo>
                    <a:lnTo>
                      <a:pt x="9" y="124"/>
                    </a:lnTo>
                    <a:lnTo>
                      <a:pt x="5" y="130"/>
                    </a:lnTo>
                    <a:lnTo>
                      <a:pt x="2" y="136"/>
                    </a:lnTo>
                    <a:lnTo>
                      <a:pt x="0" y="142"/>
                    </a:lnTo>
                    <a:lnTo>
                      <a:pt x="0" y="148"/>
                    </a:lnTo>
                    <a:lnTo>
                      <a:pt x="2" y="152"/>
                    </a:lnTo>
                    <a:lnTo>
                      <a:pt x="4" y="155"/>
                    </a:lnTo>
                    <a:lnTo>
                      <a:pt x="6" y="157"/>
                    </a:lnTo>
                    <a:lnTo>
                      <a:pt x="10" y="159"/>
                    </a:lnTo>
                    <a:lnTo>
                      <a:pt x="5" y="164"/>
                    </a:lnTo>
                    <a:lnTo>
                      <a:pt x="3" y="171"/>
                    </a:lnTo>
                    <a:lnTo>
                      <a:pt x="2" y="176"/>
                    </a:lnTo>
                    <a:lnTo>
                      <a:pt x="3" y="181"/>
                    </a:lnTo>
                    <a:lnTo>
                      <a:pt x="5" y="185"/>
                    </a:lnTo>
                    <a:lnTo>
                      <a:pt x="10" y="189"/>
                    </a:lnTo>
                    <a:lnTo>
                      <a:pt x="15" y="193"/>
                    </a:lnTo>
                    <a:lnTo>
                      <a:pt x="21" y="194"/>
                    </a:lnTo>
                    <a:lnTo>
                      <a:pt x="27" y="195"/>
                    </a:lnTo>
                    <a:lnTo>
                      <a:pt x="34" y="197"/>
                    </a:lnTo>
                    <a:lnTo>
                      <a:pt x="40" y="195"/>
                    </a:lnTo>
                    <a:lnTo>
                      <a:pt x="46" y="193"/>
                    </a:lnTo>
                    <a:lnTo>
                      <a:pt x="51" y="189"/>
                    </a:lnTo>
                    <a:lnTo>
                      <a:pt x="56" y="184"/>
                    </a:lnTo>
                    <a:lnTo>
                      <a:pt x="58" y="177"/>
                    </a:lnTo>
                    <a:lnTo>
                      <a:pt x="60" y="168"/>
                    </a:lnTo>
                    <a:lnTo>
                      <a:pt x="71" y="183"/>
                    </a:lnTo>
                    <a:lnTo>
                      <a:pt x="66" y="187"/>
                    </a:lnTo>
                    <a:lnTo>
                      <a:pt x="61" y="192"/>
                    </a:lnTo>
                    <a:lnTo>
                      <a:pt x="55" y="202"/>
                    </a:lnTo>
                    <a:lnTo>
                      <a:pt x="49" y="213"/>
                    </a:lnTo>
                    <a:lnTo>
                      <a:pt x="44" y="224"/>
                    </a:lnTo>
                    <a:lnTo>
                      <a:pt x="34" y="240"/>
                    </a:lnTo>
                    <a:lnTo>
                      <a:pt x="25" y="253"/>
                    </a:lnTo>
                    <a:lnTo>
                      <a:pt x="18" y="267"/>
                    </a:lnTo>
                    <a:lnTo>
                      <a:pt x="11" y="279"/>
                    </a:lnTo>
                    <a:lnTo>
                      <a:pt x="8" y="293"/>
                    </a:lnTo>
                    <a:lnTo>
                      <a:pt x="6" y="299"/>
                    </a:lnTo>
                    <a:lnTo>
                      <a:pt x="6" y="307"/>
                    </a:lnTo>
                    <a:lnTo>
                      <a:pt x="6" y="313"/>
                    </a:lnTo>
                    <a:lnTo>
                      <a:pt x="8" y="320"/>
                    </a:lnTo>
                    <a:lnTo>
                      <a:pt x="11" y="329"/>
                    </a:lnTo>
                    <a:lnTo>
                      <a:pt x="15" y="338"/>
                    </a:lnTo>
                    <a:lnTo>
                      <a:pt x="18" y="343"/>
                    </a:lnTo>
                    <a:lnTo>
                      <a:pt x="19" y="350"/>
                    </a:lnTo>
                    <a:lnTo>
                      <a:pt x="20" y="362"/>
                    </a:lnTo>
                    <a:lnTo>
                      <a:pt x="23" y="368"/>
                    </a:lnTo>
                    <a:lnTo>
                      <a:pt x="24" y="373"/>
                    </a:lnTo>
                    <a:lnTo>
                      <a:pt x="24" y="377"/>
                    </a:lnTo>
                    <a:lnTo>
                      <a:pt x="23" y="381"/>
                    </a:lnTo>
                    <a:lnTo>
                      <a:pt x="20" y="383"/>
                    </a:lnTo>
                    <a:lnTo>
                      <a:pt x="18" y="383"/>
                    </a:lnTo>
                    <a:lnTo>
                      <a:pt x="15" y="382"/>
                    </a:lnTo>
                    <a:lnTo>
                      <a:pt x="11" y="378"/>
                    </a:lnTo>
                    <a:lnTo>
                      <a:pt x="15" y="388"/>
                    </a:lnTo>
                    <a:lnTo>
                      <a:pt x="20" y="398"/>
                    </a:lnTo>
                    <a:lnTo>
                      <a:pt x="27" y="407"/>
                    </a:lnTo>
                    <a:lnTo>
                      <a:pt x="31" y="409"/>
                    </a:lnTo>
                    <a:lnTo>
                      <a:pt x="35" y="412"/>
                    </a:lnTo>
                    <a:lnTo>
                      <a:pt x="49" y="414"/>
                    </a:lnTo>
                    <a:lnTo>
                      <a:pt x="60" y="417"/>
                    </a:lnTo>
                    <a:lnTo>
                      <a:pt x="76" y="417"/>
                    </a:lnTo>
                    <a:lnTo>
                      <a:pt x="91" y="415"/>
                    </a:lnTo>
                    <a:lnTo>
                      <a:pt x="97" y="413"/>
                    </a:lnTo>
                    <a:lnTo>
                      <a:pt x="103" y="411"/>
                    </a:lnTo>
                    <a:lnTo>
                      <a:pt x="108" y="408"/>
                    </a:lnTo>
                    <a:lnTo>
                      <a:pt x="113" y="404"/>
                    </a:lnTo>
                    <a:lnTo>
                      <a:pt x="118" y="399"/>
                    </a:lnTo>
                    <a:lnTo>
                      <a:pt x="122" y="394"/>
                    </a:lnTo>
                    <a:lnTo>
                      <a:pt x="124" y="388"/>
                    </a:lnTo>
                    <a:lnTo>
                      <a:pt x="127" y="382"/>
                    </a:lnTo>
                    <a:lnTo>
                      <a:pt x="129" y="375"/>
                    </a:lnTo>
                    <a:lnTo>
                      <a:pt x="129" y="366"/>
                    </a:lnTo>
                    <a:lnTo>
                      <a:pt x="129" y="356"/>
                    </a:lnTo>
                    <a:lnTo>
                      <a:pt x="129" y="346"/>
                    </a:lnTo>
                    <a:lnTo>
                      <a:pt x="129" y="328"/>
                    </a:lnTo>
                    <a:lnTo>
                      <a:pt x="133" y="308"/>
                    </a:lnTo>
                    <a:lnTo>
                      <a:pt x="138" y="288"/>
                    </a:lnTo>
                    <a:lnTo>
                      <a:pt x="144" y="270"/>
                    </a:lnTo>
                    <a:lnTo>
                      <a:pt x="154" y="252"/>
                    </a:lnTo>
                    <a:lnTo>
                      <a:pt x="164" y="235"/>
                    </a:lnTo>
                    <a:lnTo>
                      <a:pt x="175" y="219"/>
                    </a:lnTo>
                    <a:lnTo>
                      <a:pt x="188" y="205"/>
                    </a:lnTo>
                    <a:lnTo>
                      <a:pt x="196" y="198"/>
                    </a:lnTo>
                    <a:lnTo>
                      <a:pt x="201" y="189"/>
                    </a:lnTo>
                    <a:lnTo>
                      <a:pt x="203" y="182"/>
                    </a:lnTo>
                    <a:lnTo>
                      <a:pt x="205" y="174"/>
                    </a:lnTo>
                    <a:lnTo>
                      <a:pt x="205" y="166"/>
                    </a:lnTo>
                    <a:lnTo>
                      <a:pt x="202" y="157"/>
                    </a:lnTo>
                    <a:lnTo>
                      <a:pt x="198" y="137"/>
                    </a:lnTo>
                    <a:lnTo>
                      <a:pt x="190" y="103"/>
                    </a:lnTo>
                    <a:lnTo>
                      <a:pt x="181" y="74"/>
                    </a:lnTo>
                    <a:lnTo>
                      <a:pt x="171" y="44"/>
                    </a:lnTo>
                    <a:lnTo>
                      <a:pt x="166" y="32"/>
                    </a:lnTo>
                    <a:lnTo>
                      <a:pt x="160" y="20"/>
                    </a:lnTo>
                    <a:lnTo>
                      <a:pt x="154" y="10"/>
                    </a:lnTo>
                    <a:lnTo>
                      <a:pt x="148" y="4"/>
                    </a:lnTo>
                    <a:lnTo>
                      <a:pt x="144" y="1"/>
                    </a:lnTo>
                    <a:lnTo>
                      <a:pt x="141" y="0"/>
                    </a:lnTo>
                    <a:lnTo>
                      <a:pt x="138" y="0"/>
                    </a:lnTo>
                    <a:lnTo>
                      <a:pt x="134" y="0"/>
                    </a:lnTo>
                    <a:lnTo>
                      <a:pt x="131" y="2"/>
                    </a:lnTo>
                    <a:lnTo>
                      <a:pt x="128" y="6"/>
                    </a:lnTo>
                    <a:lnTo>
                      <a:pt x="125" y="10"/>
                    </a:lnTo>
                    <a:lnTo>
                      <a:pt x="122" y="16"/>
                    </a:lnTo>
                    <a:lnTo>
                      <a:pt x="118" y="26"/>
                    </a:lnTo>
                    <a:lnTo>
                      <a:pt x="117" y="36"/>
                    </a:lnTo>
                    <a:lnTo>
                      <a:pt x="117" y="47"/>
                    </a:lnTo>
                    <a:lnTo>
                      <a:pt x="118" y="57"/>
                    </a:lnTo>
                    <a:lnTo>
                      <a:pt x="108" y="48"/>
                    </a:lnTo>
                    <a:lnTo>
                      <a:pt x="98" y="42"/>
                    </a:lnTo>
                    <a:lnTo>
                      <a:pt x="89" y="40"/>
                    </a:lnTo>
                    <a:lnTo>
                      <a:pt x="79" y="38"/>
                    </a:lnTo>
                    <a:lnTo>
                      <a:pt x="71" y="40"/>
                    </a:lnTo>
                    <a:lnTo>
                      <a:pt x="61" y="43"/>
                    </a:lnTo>
                    <a:lnTo>
                      <a:pt x="52" y="48"/>
                    </a:lnTo>
                    <a:lnTo>
                      <a:pt x="41" y="5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5" name="Freeform 68"/>
              <p:cNvSpPr>
                <a:spLocks/>
              </p:cNvSpPr>
              <p:nvPr/>
            </p:nvSpPr>
            <p:spPr bwMode="auto">
              <a:xfrm rot="3766183" flipH="1">
                <a:off x="4385" y="1958"/>
                <a:ext cx="190" cy="405"/>
              </a:xfrm>
              <a:custGeom>
                <a:avLst/>
                <a:gdLst>
                  <a:gd name="T0" fmla="*/ 114 w 190"/>
                  <a:gd name="T1" fmla="*/ 330 h 405"/>
                  <a:gd name="T2" fmla="*/ 121 w 190"/>
                  <a:gd name="T3" fmla="*/ 290 h 405"/>
                  <a:gd name="T4" fmla="*/ 137 w 190"/>
                  <a:gd name="T5" fmla="*/ 245 h 405"/>
                  <a:gd name="T6" fmla="*/ 149 w 190"/>
                  <a:gd name="T7" fmla="*/ 222 h 405"/>
                  <a:gd name="T8" fmla="*/ 184 w 190"/>
                  <a:gd name="T9" fmla="*/ 186 h 405"/>
                  <a:gd name="T10" fmla="*/ 190 w 190"/>
                  <a:gd name="T11" fmla="*/ 176 h 405"/>
                  <a:gd name="T12" fmla="*/ 178 w 190"/>
                  <a:gd name="T13" fmla="*/ 111 h 405"/>
                  <a:gd name="T14" fmla="*/ 158 w 190"/>
                  <a:gd name="T15" fmla="*/ 41 h 405"/>
                  <a:gd name="T16" fmla="*/ 143 w 190"/>
                  <a:gd name="T17" fmla="*/ 11 h 405"/>
                  <a:gd name="T18" fmla="*/ 133 w 190"/>
                  <a:gd name="T19" fmla="*/ 0 h 405"/>
                  <a:gd name="T20" fmla="*/ 125 w 190"/>
                  <a:gd name="T21" fmla="*/ 5 h 405"/>
                  <a:gd name="T22" fmla="*/ 116 w 190"/>
                  <a:gd name="T23" fmla="*/ 29 h 405"/>
                  <a:gd name="T24" fmla="*/ 120 w 190"/>
                  <a:gd name="T25" fmla="*/ 56 h 405"/>
                  <a:gd name="T26" fmla="*/ 125 w 190"/>
                  <a:gd name="T27" fmla="*/ 62 h 405"/>
                  <a:gd name="T28" fmla="*/ 121 w 190"/>
                  <a:gd name="T29" fmla="*/ 73 h 405"/>
                  <a:gd name="T30" fmla="*/ 88 w 190"/>
                  <a:gd name="T31" fmla="*/ 42 h 405"/>
                  <a:gd name="T32" fmla="*/ 70 w 190"/>
                  <a:gd name="T33" fmla="*/ 38 h 405"/>
                  <a:gd name="T34" fmla="*/ 55 w 190"/>
                  <a:gd name="T35" fmla="*/ 43 h 405"/>
                  <a:gd name="T36" fmla="*/ 28 w 190"/>
                  <a:gd name="T37" fmla="*/ 62 h 405"/>
                  <a:gd name="T38" fmla="*/ 11 w 190"/>
                  <a:gd name="T39" fmla="*/ 77 h 405"/>
                  <a:gd name="T40" fmla="*/ 3 w 190"/>
                  <a:gd name="T41" fmla="*/ 92 h 405"/>
                  <a:gd name="T42" fmla="*/ 8 w 190"/>
                  <a:gd name="T43" fmla="*/ 98 h 405"/>
                  <a:gd name="T44" fmla="*/ 23 w 190"/>
                  <a:gd name="T45" fmla="*/ 98 h 405"/>
                  <a:gd name="T46" fmla="*/ 8 w 190"/>
                  <a:gd name="T47" fmla="*/ 118 h 405"/>
                  <a:gd name="T48" fmla="*/ 1 w 190"/>
                  <a:gd name="T49" fmla="*/ 129 h 405"/>
                  <a:gd name="T50" fmla="*/ 1 w 190"/>
                  <a:gd name="T51" fmla="*/ 141 h 405"/>
                  <a:gd name="T52" fmla="*/ 10 w 190"/>
                  <a:gd name="T53" fmla="*/ 146 h 405"/>
                  <a:gd name="T54" fmla="*/ 23 w 190"/>
                  <a:gd name="T55" fmla="*/ 137 h 405"/>
                  <a:gd name="T56" fmla="*/ 32 w 190"/>
                  <a:gd name="T57" fmla="*/ 135 h 405"/>
                  <a:gd name="T58" fmla="*/ 8 w 190"/>
                  <a:gd name="T59" fmla="*/ 157 h 405"/>
                  <a:gd name="T60" fmla="*/ 2 w 190"/>
                  <a:gd name="T61" fmla="*/ 166 h 405"/>
                  <a:gd name="T62" fmla="*/ 2 w 190"/>
                  <a:gd name="T63" fmla="*/ 175 h 405"/>
                  <a:gd name="T64" fmla="*/ 19 w 190"/>
                  <a:gd name="T65" fmla="*/ 183 h 405"/>
                  <a:gd name="T66" fmla="*/ 34 w 190"/>
                  <a:gd name="T67" fmla="*/ 179 h 405"/>
                  <a:gd name="T68" fmla="*/ 44 w 190"/>
                  <a:gd name="T69" fmla="*/ 167 h 405"/>
                  <a:gd name="T70" fmla="*/ 48 w 190"/>
                  <a:gd name="T71" fmla="*/ 150 h 405"/>
                  <a:gd name="T72" fmla="*/ 62 w 190"/>
                  <a:gd name="T73" fmla="*/ 165 h 405"/>
                  <a:gd name="T74" fmla="*/ 74 w 190"/>
                  <a:gd name="T75" fmla="*/ 179 h 405"/>
                  <a:gd name="T76" fmla="*/ 65 w 190"/>
                  <a:gd name="T77" fmla="*/ 184 h 405"/>
                  <a:gd name="T78" fmla="*/ 50 w 190"/>
                  <a:gd name="T79" fmla="*/ 203 h 405"/>
                  <a:gd name="T80" fmla="*/ 38 w 190"/>
                  <a:gd name="T81" fmla="*/ 226 h 405"/>
                  <a:gd name="T82" fmla="*/ 10 w 190"/>
                  <a:gd name="T83" fmla="*/ 272 h 405"/>
                  <a:gd name="T84" fmla="*/ 1 w 190"/>
                  <a:gd name="T85" fmla="*/ 304 h 405"/>
                  <a:gd name="T86" fmla="*/ 5 w 190"/>
                  <a:gd name="T87" fmla="*/ 341 h 405"/>
                  <a:gd name="T88" fmla="*/ 13 w 190"/>
                  <a:gd name="T89" fmla="*/ 380 h 405"/>
                  <a:gd name="T90" fmla="*/ 24 w 190"/>
                  <a:gd name="T91" fmla="*/ 396 h 405"/>
                  <a:gd name="T92" fmla="*/ 29 w 190"/>
                  <a:gd name="T93" fmla="*/ 400 h 405"/>
                  <a:gd name="T94" fmla="*/ 75 w 190"/>
                  <a:gd name="T95" fmla="*/ 405 h 405"/>
                  <a:gd name="T96" fmla="*/ 95 w 190"/>
                  <a:gd name="T97" fmla="*/ 398 h 405"/>
                  <a:gd name="T98" fmla="*/ 110 w 190"/>
                  <a:gd name="T99" fmla="*/ 382 h 405"/>
                  <a:gd name="T100" fmla="*/ 115 w 190"/>
                  <a:gd name="T101" fmla="*/ 354 h 405"/>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w 190"/>
                  <a:gd name="T154" fmla="*/ 0 h 405"/>
                  <a:gd name="T155" fmla="*/ 190 w 190"/>
                  <a:gd name="T156" fmla="*/ 405 h 405"/>
                </a:gdLst>
                <a:ahLst/>
                <a:cxnLst>
                  <a:cxn ang="T102">
                    <a:pos x="T0" y="T1"/>
                  </a:cxn>
                  <a:cxn ang="T103">
                    <a:pos x="T2" y="T3"/>
                  </a:cxn>
                  <a:cxn ang="T104">
                    <a:pos x="T4" y="T5"/>
                  </a:cxn>
                  <a:cxn ang="T105">
                    <a:pos x="T6" y="T7"/>
                  </a:cxn>
                  <a:cxn ang="T106">
                    <a:pos x="T8" y="T9"/>
                  </a:cxn>
                  <a:cxn ang="T107">
                    <a:pos x="T10" y="T11"/>
                  </a:cxn>
                  <a:cxn ang="T108">
                    <a:pos x="T12" y="T13"/>
                  </a:cxn>
                  <a:cxn ang="T109">
                    <a:pos x="T14" y="T15"/>
                  </a:cxn>
                  <a:cxn ang="T110">
                    <a:pos x="T16" y="T17"/>
                  </a:cxn>
                  <a:cxn ang="T111">
                    <a:pos x="T18" y="T19"/>
                  </a:cxn>
                  <a:cxn ang="T112">
                    <a:pos x="T20" y="T21"/>
                  </a:cxn>
                  <a:cxn ang="T113">
                    <a:pos x="T22" y="T23"/>
                  </a:cxn>
                  <a:cxn ang="T114">
                    <a:pos x="T24" y="T25"/>
                  </a:cxn>
                  <a:cxn ang="T115">
                    <a:pos x="T26" y="T27"/>
                  </a:cxn>
                  <a:cxn ang="T116">
                    <a:pos x="T28" y="T29"/>
                  </a:cxn>
                  <a:cxn ang="T117">
                    <a:pos x="T30" y="T31"/>
                  </a:cxn>
                  <a:cxn ang="T118">
                    <a:pos x="T32" y="T33"/>
                  </a:cxn>
                  <a:cxn ang="T119">
                    <a:pos x="T34" y="T35"/>
                  </a:cxn>
                  <a:cxn ang="T120">
                    <a:pos x="T36" y="T37"/>
                  </a:cxn>
                  <a:cxn ang="T121">
                    <a:pos x="T38" y="T39"/>
                  </a:cxn>
                  <a:cxn ang="T122">
                    <a:pos x="T40" y="T41"/>
                  </a:cxn>
                  <a:cxn ang="T123">
                    <a:pos x="T42" y="T43"/>
                  </a:cxn>
                  <a:cxn ang="T124">
                    <a:pos x="T44" y="T45"/>
                  </a:cxn>
                  <a:cxn ang="T125">
                    <a:pos x="T46" y="T47"/>
                  </a:cxn>
                  <a:cxn ang="T126">
                    <a:pos x="T48" y="T49"/>
                  </a:cxn>
                  <a:cxn ang="T127">
                    <a:pos x="T50" y="T51"/>
                  </a:cxn>
                  <a:cxn ang="T128">
                    <a:pos x="T52" y="T53"/>
                  </a:cxn>
                  <a:cxn ang="T129">
                    <a:pos x="T54" y="T55"/>
                  </a:cxn>
                  <a:cxn ang="T130">
                    <a:pos x="T56" y="T57"/>
                  </a:cxn>
                  <a:cxn ang="T131">
                    <a:pos x="T58" y="T59"/>
                  </a:cxn>
                  <a:cxn ang="T132">
                    <a:pos x="T60" y="T61"/>
                  </a:cxn>
                  <a:cxn ang="T133">
                    <a:pos x="T62" y="T63"/>
                  </a:cxn>
                  <a:cxn ang="T134">
                    <a:pos x="T64" y="T65"/>
                  </a:cxn>
                  <a:cxn ang="T135">
                    <a:pos x="T66" y="T67"/>
                  </a:cxn>
                  <a:cxn ang="T136">
                    <a:pos x="T68" y="T69"/>
                  </a:cxn>
                  <a:cxn ang="T137">
                    <a:pos x="T70" y="T71"/>
                  </a:cxn>
                  <a:cxn ang="T138">
                    <a:pos x="T72" y="T73"/>
                  </a:cxn>
                  <a:cxn ang="T139">
                    <a:pos x="T74" y="T75"/>
                  </a:cxn>
                  <a:cxn ang="T140">
                    <a:pos x="T76" y="T77"/>
                  </a:cxn>
                  <a:cxn ang="T141">
                    <a:pos x="T78" y="T79"/>
                  </a:cxn>
                  <a:cxn ang="T142">
                    <a:pos x="T80" y="T81"/>
                  </a:cxn>
                  <a:cxn ang="T143">
                    <a:pos x="T82" y="T83"/>
                  </a:cxn>
                  <a:cxn ang="T144">
                    <a:pos x="T84" y="T85"/>
                  </a:cxn>
                  <a:cxn ang="T145">
                    <a:pos x="T86" y="T87"/>
                  </a:cxn>
                  <a:cxn ang="T146">
                    <a:pos x="T88" y="T89"/>
                  </a:cxn>
                  <a:cxn ang="T147">
                    <a:pos x="T90" y="T91"/>
                  </a:cxn>
                  <a:cxn ang="T148">
                    <a:pos x="T92" y="T93"/>
                  </a:cxn>
                  <a:cxn ang="T149">
                    <a:pos x="T94" y="T95"/>
                  </a:cxn>
                  <a:cxn ang="T150">
                    <a:pos x="T96" y="T97"/>
                  </a:cxn>
                  <a:cxn ang="T151">
                    <a:pos x="T98" y="T99"/>
                  </a:cxn>
                  <a:cxn ang="T152">
                    <a:pos x="T100" y="T101"/>
                  </a:cxn>
                </a:cxnLst>
                <a:rect l="T153" t="T154" r="T155" b="T156"/>
                <a:pathLst>
                  <a:path w="190" h="405">
                    <a:moveTo>
                      <a:pt x="114" y="341"/>
                    </a:moveTo>
                    <a:lnTo>
                      <a:pt x="114" y="341"/>
                    </a:lnTo>
                    <a:lnTo>
                      <a:pt x="114" y="330"/>
                    </a:lnTo>
                    <a:lnTo>
                      <a:pt x="115" y="318"/>
                    </a:lnTo>
                    <a:lnTo>
                      <a:pt x="117" y="304"/>
                    </a:lnTo>
                    <a:lnTo>
                      <a:pt x="121" y="290"/>
                    </a:lnTo>
                    <a:lnTo>
                      <a:pt x="126" y="273"/>
                    </a:lnTo>
                    <a:lnTo>
                      <a:pt x="131" y="259"/>
                    </a:lnTo>
                    <a:lnTo>
                      <a:pt x="137" y="245"/>
                    </a:lnTo>
                    <a:lnTo>
                      <a:pt x="143" y="233"/>
                    </a:lnTo>
                    <a:lnTo>
                      <a:pt x="149" y="222"/>
                    </a:lnTo>
                    <a:lnTo>
                      <a:pt x="157" y="213"/>
                    </a:lnTo>
                    <a:lnTo>
                      <a:pt x="172" y="198"/>
                    </a:lnTo>
                    <a:lnTo>
                      <a:pt x="184" y="186"/>
                    </a:lnTo>
                    <a:lnTo>
                      <a:pt x="188" y="181"/>
                    </a:lnTo>
                    <a:lnTo>
                      <a:pt x="190" y="176"/>
                    </a:lnTo>
                    <a:lnTo>
                      <a:pt x="189" y="167"/>
                    </a:lnTo>
                    <a:lnTo>
                      <a:pt x="187" y="152"/>
                    </a:lnTo>
                    <a:lnTo>
                      <a:pt x="178" y="111"/>
                    </a:lnTo>
                    <a:lnTo>
                      <a:pt x="167" y="68"/>
                    </a:lnTo>
                    <a:lnTo>
                      <a:pt x="162" y="52"/>
                    </a:lnTo>
                    <a:lnTo>
                      <a:pt x="158" y="41"/>
                    </a:lnTo>
                    <a:lnTo>
                      <a:pt x="151" y="26"/>
                    </a:lnTo>
                    <a:lnTo>
                      <a:pt x="143" y="11"/>
                    </a:lnTo>
                    <a:lnTo>
                      <a:pt x="140" y="6"/>
                    </a:lnTo>
                    <a:lnTo>
                      <a:pt x="136" y="3"/>
                    </a:lnTo>
                    <a:lnTo>
                      <a:pt x="133" y="0"/>
                    </a:lnTo>
                    <a:lnTo>
                      <a:pt x="130" y="1"/>
                    </a:lnTo>
                    <a:lnTo>
                      <a:pt x="125" y="5"/>
                    </a:lnTo>
                    <a:lnTo>
                      <a:pt x="121" y="11"/>
                    </a:lnTo>
                    <a:lnTo>
                      <a:pt x="119" y="19"/>
                    </a:lnTo>
                    <a:lnTo>
                      <a:pt x="116" y="29"/>
                    </a:lnTo>
                    <a:lnTo>
                      <a:pt x="116" y="38"/>
                    </a:lnTo>
                    <a:lnTo>
                      <a:pt x="116" y="47"/>
                    </a:lnTo>
                    <a:lnTo>
                      <a:pt x="120" y="56"/>
                    </a:lnTo>
                    <a:lnTo>
                      <a:pt x="122" y="60"/>
                    </a:lnTo>
                    <a:lnTo>
                      <a:pt x="125" y="62"/>
                    </a:lnTo>
                    <a:lnTo>
                      <a:pt x="127" y="79"/>
                    </a:lnTo>
                    <a:lnTo>
                      <a:pt x="121" y="73"/>
                    </a:lnTo>
                    <a:lnTo>
                      <a:pt x="106" y="57"/>
                    </a:lnTo>
                    <a:lnTo>
                      <a:pt x="97" y="50"/>
                    </a:lnTo>
                    <a:lnTo>
                      <a:pt x="88" y="42"/>
                    </a:lnTo>
                    <a:lnTo>
                      <a:pt x="79" y="38"/>
                    </a:lnTo>
                    <a:lnTo>
                      <a:pt x="74" y="38"/>
                    </a:lnTo>
                    <a:lnTo>
                      <a:pt x="70" y="38"/>
                    </a:lnTo>
                    <a:lnTo>
                      <a:pt x="63" y="41"/>
                    </a:lnTo>
                    <a:lnTo>
                      <a:pt x="55" y="43"/>
                    </a:lnTo>
                    <a:lnTo>
                      <a:pt x="44" y="50"/>
                    </a:lnTo>
                    <a:lnTo>
                      <a:pt x="36" y="56"/>
                    </a:lnTo>
                    <a:lnTo>
                      <a:pt x="28" y="62"/>
                    </a:lnTo>
                    <a:lnTo>
                      <a:pt x="19" y="68"/>
                    </a:lnTo>
                    <a:lnTo>
                      <a:pt x="11" y="77"/>
                    </a:lnTo>
                    <a:lnTo>
                      <a:pt x="5" y="85"/>
                    </a:lnTo>
                    <a:lnTo>
                      <a:pt x="3" y="89"/>
                    </a:lnTo>
                    <a:lnTo>
                      <a:pt x="3" y="92"/>
                    </a:lnTo>
                    <a:lnTo>
                      <a:pt x="6" y="95"/>
                    </a:lnTo>
                    <a:lnTo>
                      <a:pt x="8" y="98"/>
                    </a:lnTo>
                    <a:lnTo>
                      <a:pt x="11" y="99"/>
                    </a:lnTo>
                    <a:lnTo>
                      <a:pt x="23" y="98"/>
                    </a:lnTo>
                    <a:lnTo>
                      <a:pt x="16" y="109"/>
                    </a:lnTo>
                    <a:lnTo>
                      <a:pt x="8" y="118"/>
                    </a:lnTo>
                    <a:lnTo>
                      <a:pt x="2" y="126"/>
                    </a:lnTo>
                    <a:lnTo>
                      <a:pt x="1" y="129"/>
                    </a:lnTo>
                    <a:lnTo>
                      <a:pt x="0" y="132"/>
                    </a:lnTo>
                    <a:lnTo>
                      <a:pt x="0" y="137"/>
                    </a:lnTo>
                    <a:lnTo>
                      <a:pt x="1" y="141"/>
                    </a:lnTo>
                    <a:lnTo>
                      <a:pt x="2" y="145"/>
                    </a:lnTo>
                    <a:lnTo>
                      <a:pt x="6" y="146"/>
                    </a:lnTo>
                    <a:lnTo>
                      <a:pt x="10" y="146"/>
                    </a:lnTo>
                    <a:lnTo>
                      <a:pt x="15" y="144"/>
                    </a:lnTo>
                    <a:lnTo>
                      <a:pt x="23" y="137"/>
                    </a:lnTo>
                    <a:lnTo>
                      <a:pt x="28" y="135"/>
                    </a:lnTo>
                    <a:lnTo>
                      <a:pt x="32" y="135"/>
                    </a:lnTo>
                    <a:lnTo>
                      <a:pt x="23" y="144"/>
                    </a:lnTo>
                    <a:lnTo>
                      <a:pt x="8" y="157"/>
                    </a:lnTo>
                    <a:lnTo>
                      <a:pt x="6" y="160"/>
                    </a:lnTo>
                    <a:lnTo>
                      <a:pt x="3" y="163"/>
                    </a:lnTo>
                    <a:lnTo>
                      <a:pt x="2" y="166"/>
                    </a:lnTo>
                    <a:lnTo>
                      <a:pt x="1" y="170"/>
                    </a:lnTo>
                    <a:lnTo>
                      <a:pt x="1" y="172"/>
                    </a:lnTo>
                    <a:lnTo>
                      <a:pt x="2" y="175"/>
                    </a:lnTo>
                    <a:lnTo>
                      <a:pt x="7" y="179"/>
                    </a:lnTo>
                    <a:lnTo>
                      <a:pt x="12" y="182"/>
                    </a:lnTo>
                    <a:lnTo>
                      <a:pt x="19" y="183"/>
                    </a:lnTo>
                    <a:lnTo>
                      <a:pt x="27" y="183"/>
                    </a:lnTo>
                    <a:lnTo>
                      <a:pt x="34" y="179"/>
                    </a:lnTo>
                    <a:lnTo>
                      <a:pt x="39" y="176"/>
                    </a:lnTo>
                    <a:lnTo>
                      <a:pt x="43" y="172"/>
                    </a:lnTo>
                    <a:lnTo>
                      <a:pt x="44" y="167"/>
                    </a:lnTo>
                    <a:lnTo>
                      <a:pt x="44" y="163"/>
                    </a:lnTo>
                    <a:lnTo>
                      <a:pt x="45" y="155"/>
                    </a:lnTo>
                    <a:lnTo>
                      <a:pt x="48" y="150"/>
                    </a:lnTo>
                    <a:lnTo>
                      <a:pt x="50" y="145"/>
                    </a:lnTo>
                    <a:lnTo>
                      <a:pt x="62" y="165"/>
                    </a:lnTo>
                    <a:lnTo>
                      <a:pt x="68" y="173"/>
                    </a:lnTo>
                    <a:lnTo>
                      <a:pt x="74" y="179"/>
                    </a:lnTo>
                    <a:lnTo>
                      <a:pt x="71" y="181"/>
                    </a:lnTo>
                    <a:lnTo>
                      <a:pt x="69" y="182"/>
                    </a:lnTo>
                    <a:lnTo>
                      <a:pt x="65" y="184"/>
                    </a:lnTo>
                    <a:lnTo>
                      <a:pt x="62" y="188"/>
                    </a:lnTo>
                    <a:lnTo>
                      <a:pt x="55" y="194"/>
                    </a:lnTo>
                    <a:lnTo>
                      <a:pt x="50" y="203"/>
                    </a:lnTo>
                    <a:lnTo>
                      <a:pt x="44" y="214"/>
                    </a:lnTo>
                    <a:lnTo>
                      <a:pt x="38" y="226"/>
                    </a:lnTo>
                    <a:lnTo>
                      <a:pt x="31" y="239"/>
                    </a:lnTo>
                    <a:lnTo>
                      <a:pt x="17" y="261"/>
                    </a:lnTo>
                    <a:lnTo>
                      <a:pt x="10" y="272"/>
                    </a:lnTo>
                    <a:lnTo>
                      <a:pt x="5" y="282"/>
                    </a:lnTo>
                    <a:lnTo>
                      <a:pt x="2" y="293"/>
                    </a:lnTo>
                    <a:lnTo>
                      <a:pt x="1" y="304"/>
                    </a:lnTo>
                    <a:lnTo>
                      <a:pt x="2" y="323"/>
                    </a:lnTo>
                    <a:lnTo>
                      <a:pt x="5" y="341"/>
                    </a:lnTo>
                    <a:lnTo>
                      <a:pt x="8" y="361"/>
                    </a:lnTo>
                    <a:lnTo>
                      <a:pt x="13" y="380"/>
                    </a:lnTo>
                    <a:lnTo>
                      <a:pt x="17" y="384"/>
                    </a:lnTo>
                    <a:lnTo>
                      <a:pt x="21" y="390"/>
                    </a:lnTo>
                    <a:lnTo>
                      <a:pt x="24" y="396"/>
                    </a:lnTo>
                    <a:lnTo>
                      <a:pt x="27" y="398"/>
                    </a:lnTo>
                    <a:lnTo>
                      <a:pt x="29" y="400"/>
                    </a:lnTo>
                    <a:lnTo>
                      <a:pt x="44" y="402"/>
                    </a:lnTo>
                    <a:lnTo>
                      <a:pt x="59" y="405"/>
                    </a:lnTo>
                    <a:lnTo>
                      <a:pt x="75" y="405"/>
                    </a:lnTo>
                    <a:lnTo>
                      <a:pt x="83" y="403"/>
                    </a:lnTo>
                    <a:lnTo>
                      <a:pt x="89" y="401"/>
                    </a:lnTo>
                    <a:lnTo>
                      <a:pt x="95" y="398"/>
                    </a:lnTo>
                    <a:lnTo>
                      <a:pt x="101" y="393"/>
                    </a:lnTo>
                    <a:lnTo>
                      <a:pt x="106" y="388"/>
                    </a:lnTo>
                    <a:lnTo>
                      <a:pt x="110" y="382"/>
                    </a:lnTo>
                    <a:lnTo>
                      <a:pt x="112" y="374"/>
                    </a:lnTo>
                    <a:lnTo>
                      <a:pt x="115" y="365"/>
                    </a:lnTo>
                    <a:lnTo>
                      <a:pt x="115" y="354"/>
                    </a:lnTo>
                    <a:lnTo>
                      <a:pt x="114" y="341"/>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6" name="Freeform 69"/>
              <p:cNvSpPr>
                <a:spLocks/>
              </p:cNvSpPr>
              <p:nvPr/>
            </p:nvSpPr>
            <p:spPr bwMode="auto">
              <a:xfrm rot="3766183" flipH="1">
                <a:off x="4501" y="2131"/>
                <a:ext cx="122" cy="58"/>
              </a:xfrm>
              <a:custGeom>
                <a:avLst/>
                <a:gdLst>
                  <a:gd name="T0" fmla="*/ 0 w 122"/>
                  <a:gd name="T1" fmla="*/ 42 h 58"/>
                  <a:gd name="T2" fmla="*/ 0 w 122"/>
                  <a:gd name="T3" fmla="*/ 42 h 58"/>
                  <a:gd name="T4" fmla="*/ 14 w 122"/>
                  <a:gd name="T5" fmla="*/ 32 h 58"/>
                  <a:gd name="T6" fmla="*/ 25 w 122"/>
                  <a:gd name="T7" fmla="*/ 23 h 58"/>
                  <a:gd name="T8" fmla="*/ 36 w 122"/>
                  <a:gd name="T9" fmla="*/ 13 h 58"/>
                  <a:gd name="T10" fmla="*/ 36 w 122"/>
                  <a:gd name="T11" fmla="*/ 13 h 58"/>
                  <a:gd name="T12" fmla="*/ 45 w 122"/>
                  <a:gd name="T13" fmla="*/ 5 h 58"/>
                  <a:gd name="T14" fmla="*/ 51 w 122"/>
                  <a:gd name="T15" fmla="*/ 2 h 58"/>
                  <a:gd name="T16" fmla="*/ 57 w 122"/>
                  <a:gd name="T17" fmla="*/ 0 h 58"/>
                  <a:gd name="T18" fmla="*/ 64 w 122"/>
                  <a:gd name="T19" fmla="*/ 3 h 58"/>
                  <a:gd name="T20" fmla="*/ 64 w 122"/>
                  <a:gd name="T21" fmla="*/ 3 h 58"/>
                  <a:gd name="T22" fmla="*/ 72 w 122"/>
                  <a:gd name="T23" fmla="*/ 8 h 58"/>
                  <a:gd name="T24" fmla="*/ 85 w 122"/>
                  <a:gd name="T25" fmla="*/ 14 h 58"/>
                  <a:gd name="T26" fmla="*/ 107 w 122"/>
                  <a:gd name="T27" fmla="*/ 29 h 58"/>
                  <a:gd name="T28" fmla="*/ 107 w 122"/>
                  <a:gd name="T29" fmla="*/ 29 h 58"/>
                  <a:gd name="T30" fmla="*/ 113 w 122"/>
                  <a:gd name="T31" fmla="*/ 35 h 58"/>
                  <a:gd name="T32" fmla="*/ 118 w 122"/>
                  <a:gd name="T33" fmla="*/ 41 h 58"/>
                  <a:gd name="T34" fmla="*/ 122 w 122"/>
                  <a:gd name="T35" fmla="*/ 47 h 58"/>
                  <a:gd name="T36" fmla="*/ 122 w 122"/>
                  <a:gd name="T37" fmla="*/ 47 h 58"/>
                  <a:gd name="T38" fmla="*/ 112 w 122"/>
                  <a:gd name="T39" fmla="*/ 40 h 58"/>
                  <a:gd name="T40" fmla="*/ 91 w 122"/>
                  <a:gd name="T41" fmla="*/ 26 h 58"/>
                  <a:gd name="T42" fmla="*/ 78 w 122"/>
                  <a:gd name="T43" fmla="*/ 19 h 58"/>
                  <a:gd name="T44" fmla="*/ 67 w 122"/>
                  <a:gd name="T45" fmla="*/ 14 h 58"/>
                  <a:gd name="T46" fmla="*/ 59 w 122"/>
                  <a:gd name="T47" fmla="*/ 10 h 58"/>
                  <a:gd name="T48" fmla="*/ 55 w 122"/>
                  <a:gd name="T49" fmla="*/ 10 h 58"/>
                  <a:gd name="T50" fmla="*/ 52 w 122"/>
                  <a:gd name="T51" fmla="*/ 10 h 58"/>
                  <a:gd name="T52" fmla="*/ 52 w 122"/>
                  <a:gd name="T53" fmla="*/ 10 h 58"/>
                  <a:gd name="T54" fmla="*/ 47 w 122"/>
                  <a:gd name="T55" fmla="*/ 15 h 58"/>
                  <a:gd name="T56" fmla="*/ 43 w 122"/>
                  <a:gd name="T57" fmla="*/ 21 h 58"/>
                  <a:gd name="T58" fmla="*/ 30 w 122"/>
                  <a:gd name="T59" fmla="*/ 39 h 58"/>
                  <a:gd name="T60" fmla="*/ 30 w 122"/>
                  <a:gd name="T61" fmla="*/ 39 h 58"/>
                  <a:gd name="T62" fmla="*/ 26 w 122"/>
                  <a:gd name="T63" fmla="*/ 45 h 58"/>
                  <a:gd name="T64" fmla="*/ 21 w 122"/>
                  <a:gd name="T65" fmla="*/ 49 h 58"/>
                  <a:gd name="T66" fmla="*/ 13 w 122"/>
                  <a:gd name="T67" fmla="*/ 55 h 58"/>
                  <a:gd name="T68" fmla="*/ 7 w 122"/>
                  <a:gd name="T69" fmla="*/ 57 h 58"/>
                  <a:gd name="T70" fmla="*/ 4 w 122"/>
                  <a:gd name="T71" fmla="*/ 58 h 58"/>
                  <a:gd name="T72" fmla="*/ 4 w 122"/>
                  <a:gd name="T73" fmla="*/ 58 h 58"/>
                  <a:gd name="T74" fmla="*/ 2 w 122"/>
                  <a:gd name="T75" fmla="*/ 51 h 58"/>
                  <a:gd name="T76" fmla="*/ 0 w 122"/>
                  <a:gd name="T77" fmla="*/ 45 h 58"/>
                  <a:gd name="T78" fmla="*/ 0 w 122"/>
                  <a:gd name="T79" fmla="*/ 42 h 58"/>
                  <a:gd name="T80" fmla="*/ 0 w 122"/>
                  <a:gd name="T81" fmla="*/ 42 h 58"/>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w 122"/>
                  <a:gd name="T124" fmla="*/ 0 h 58"/>
                  <a:gd name="T125" fmla="*/ 122 w 122"/>
                  <a:gd name="T126" fmla="*/ 58 h 58"/>
                </a:gdLst>
                <a:ahLst/>
                <a:cxnLst>
                  <a:cxn ang="T82">
                    <a:pos x="T0" y="T1"/>
                  </a:cxn>
                  <a:cxn ang="T83">
                    <a:pos x="T2" y="T3"/>
                  </a:cxn>
                  <a:cxn ang="T84">
                    <a:pos x="T4" y="T5"/>
                  </a:cxn>
                  <a:cxn ang="T85">
                    <a:pos x="T6" y="T7"/>
                  </a:cxn>
                  <a:cxn ang="T86">
                    <a:pos x="T8" y="T9"/>
                  </a:cxn>
                  <a:cxn ang="T87">
                    <a:pos x="T10" y="T11"/>
                  </a:cxn>
                  <a:cxn ang="T88">
                    <a:pos x="T12" y="T13"/>
                  </a:cxn>
                  <a:cxn ang="T89">
                    <a:pos x="T14" y="T15"/>
                  </a:cxn>
                  <a:cxn ang="T90">
                    <a:pos x="T16" y="T17"/>
                  </a:cxn>
                  <a:cxn ang="T91">
                    <a:pos x="T18" y="T19"/>
                  </a:cxn>
                  <a:cxn ang="T92">
                    <a:pos x="T20" y="T21"/>
                  </a:cxn>
                  <a:cxn ang="T93">
                    <a:pos x="T22" y="T23"/>
                  </a:cxn>
                  <a:cxn ang="T94">
                    <a:pos x="T24" y="T25"/>
                  </a:cxn>
                  <a:cxn ang="T95">
                    <a:pos x="T26" y="T27"/>
                  </a:cxn>
                  <a:cxn ang="T96">
                    <a:pos x="T28" y="T29"/>
                  </a:cxn>
                  <a:cxn ang="T97">
                    <a:pos x="T30" y="T31"/>
                  </a:cxn>
                  <a:cxn ang="T98">
                    <a:pos x="T32" y="T33"/>
                  </a:cxn>
                  <a:cxn ang="T99">
                    <a:pos x="T34" y="T35"/>
                  </a:cxn>
                  <a:cxn ang="T100">
                    <a:pos x="T36" y="T37"/>
                  </a:cxn>
                  <a:cxn ang="T101">
                    <a:pos x="T38" y="T39"/>
                  </a:cxn>
                  <a:cxn ang="T102">
                    <a:pos x="T40" y="T41"/>
                  </a:cxn>
                  <a:cxn ang="T103">
                    <a:pos x="T42" y="T43"/>
                  </a:cxn>
                  <a:cxn ang="T104">
                    <a:pos x="T44" y="T45"/>
                  </a:cxn>
                  <a:cxn ang="T105">
                    <a:pos x="T46" y="T47"/>
                  </a:cxn>
                  <a:cxn ang="T106">
                    <a:pos x="T48" y="T49"/>
                  </a:cxn>
                  <a:cxn ang="T107">
                    <a:pos x="T50" y="T51"/>
                  </a:cxn>
                  <a:cxn ang="T108">
                    <a:pos x="T52" y="T53"/>
                  </a:cxn>
                  <a:cxn ang="T109">
                    <a:pos x="T54" y="T55"/>
                  </a:cxn>
                  <a:cxn ang="T110">
                    <a:pos x="T56" y="T57"/>
                  </a:cxn>
                  <a:cxn ang="T111">
                    <a:pos x="T58" y="T59"/>
                  </a:cxn>
                  <a:cxn ang="T112">
                    <a:pos x="T60" y="T61"/>
                  </a:cxn>
                  <a:cxn ang="T113">
                    <a:pos x="T62" y="T63"/>
                  </a:cxn>
                  <a:cxn ang="T114">
                    <a:pos x="T64" y="T65"/>
                  </a:cxn>
                  <a:cxn ang="T115">
                    <a:pos x="T66" y="T67"/>
                  </a:cxn>
                  <a:cxn ang="T116">
                    <a:pos x="T68" y="T69"/>
                  </a:cxn>
                  <a:cxn ang="T117">
                    <a:pos x="T70" y="T71"/>
                  </a:cxn>
                  <a:cxn ang="T118">
                    <a:pos x="T72" y="T73"/>
                  </a:cxn>
                  <a:cxn ang="T119">
                    <a:pos x="T74" y="T75"/>
                  </a:cxn>
                  <a:cxn ang="T120">
                    <a:pos x="T76" y="T77"/>
                  </a:cxn>
                  <a:cxn ang="T121">
                    <a:pos x="T78" y="T79"/>
                  </a:cxn>
                  <a:cxn ang="T122">
                    <a:pos x="T80" y="T81"/>
                  </a:cxn>
                </a:cxnLst>
                <a:rect l="T123" t="T124" r="T125" b="T126"/>
                <a:pathLst>
                  <a:path w="122" h="58">
                    <a:moveTo>
                      <a:pt x="0" y="42"/>
                    </a:moveTo>
                    <a:lnTo>
                      <a:pt x="0" y="42"/>
                    </a:lnTo>
                    <a:lnTo>
                      <a:pt x="14" y="32"/>
                    </a:lnTo>
                    <a:lnTo>
                      <a:pt x="25" y="23"/>
                    </a:lnTo>
                    <a:lnTo>
                      <a:pt x="36" y="13"/>
                    </a:lnTo>
                    <a:lnTo>
                      <a:pt x="45" y="5"/>
                    </a:lnTo>
                    <a:lnTo>
                      <a:pt x="51" y="2"/>
                    </a:lnTo>
                    <a:lnTo>
                      <a:pt x="57" y="0"/>
                    </a:lnTo>
                    <a:lnTo>
                      <a:pt x="64" y="3"/>
                    </a:lnTo>
                    <a:lnTo>
                      <a:pt x="72" y="8"/>
                    </a:lnTo>
                    <a:lnTo>
                      <a:pt x="85" y="14"/>
                    </a:lnTo>
                    <a:lnTo>
                      <a:pt x="107" y="29"/>
                    </a:lnTo>
                    <a:lnTo>
                      <a:pt x="113" y="35"/>
                    </a:lnTo>
                    <a:lnTo>
                      <a:pt x="118" y="41"/>
                    </a:lnTo>
                    <a:lnTo>
                      <a:pt x="122" y="47"/>
                    </a:lnTo>
                    <a:lnTo>
                      <a:pt x="112" y="40"/>
                    </a:lnTo>
                    <a:lnTo>
                      <a:pt x="91" y="26"/>
                    </a:lnTo>
                    <a:lnTo>
                      <a:pt x="78" y="19"/>
                    </a:lnTo>
                    <a:lnTo>
                      <a:pt x="67" y="14"/>
                    </a:lnTo>
                    <a:lnTo>
                      <a:pt x="59" y="10"/>
                    </a:lnTo>
                    <a:lnTo>
                      <a:pt x="55" y="10"/>
                    </a:lnTo>
                    <a:lnTo>
                      <a:pt x="52" y="10"/>
                    </a:lnTo>
                    <a:lnTo>
                      <a:pt x="47" y="15"/>
                    </a:lnTo>
                    <a:lnTo>
                      <a:pt x="43" y="21"/>
                    </a:lnTo>
                    <a:lnTo>
                      <a:pt x="30" y="39"/>
                    </a:lnTo>
                    <a:lnTo>
                      <a:pt x="26" y="45"/>
                    </a:lnTo>
                    <a:lnTo>
                      <a:pt x="21" y="49"/>
                    </a:lnTo>
                    <a:lnTo>
                      <a:pt x="13" y="55"/>
                    </a:lnTo>
                    <a:lnTo>
                      <a:pt x="7" y="57"/>
                    </a:lnTo>
                    <a:lnTo>
                      <a:pt x="4" y="58"/>
                    </a:lnTo>
                    <a:lnTo>
                      <a:pt x="2" y="51"/>
                    </a:lnTo>
                    <a:lnTo>
                      <a:pt x="0" y="45"/>
                    </a:lnTo>
                    <a:lnTo>
                      <a:pt x="0" y="4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7" name="Freeform 70"/>
              <p:cNvSpPr>
                <a:spLocks/>
              </p:cNvSpPr>
              <p:nvPr/>
            </p:nvSpPr>
            <p:spPr bwMode="auto">
              <a:xfrm rot="3766183" flipH="1">
                <a:off x="4528" y="2104"/>
                <a:ext cx="120" cy="41"/>
              </a:xfrm>
              <a:custGeom>
                <a:avLst/>
                <a:gdLst>
                  <a:gd name="T0" fmla="*/ 0 w 120"/>
                  <a:gd name="T1" fmla="*/ 34 h 41"/>
                  <a:gd name="T2" fmla="*/ 0 w 120"/>
                  <a:gd name="T3" fmla="*/ 34 h 41"/>
                  <a:gd name="T4" fmla="*/ 3 w 120"/>
                  <a:gd name="T5" fmla="*/ 31 h 41"/>
                  <a:gd name="T6" fmla="*/ 9 w 120"/>
                  <a:gd name="T7" fmla="*/ 24 h 41"/>
                  <a:gd name="T8" fmla="*/ 19 w 120"/>
                  <a:gd name="T9" fmla="*/ 16 h 41"/>
                  <a:gd name="T10" fmla="*/ 25 w 120"/>
                  <a:gd name="T11" fmla="*/ 13 h 41"/>
                  <a:gd name="T12" fmla="*/ 32 w 120"/>
                  <a:gd name="T13" fmla="*/ 10 h 41"/>
                  <a:gd name="T14" fmla="*/ 32 w 120"/>
                  <a:gd name="T15" fmla="*/ 10 h 41"/>
                  <a:gd name="T16" fmla="*/ 45 w 120"/>
                  <a:gd name="T17" fmla="*/ 8 h 41"/>
                  <a:gd name="T18" fmla="*/ 52 w 120"/>
                  <a:gd name="T19" fmla="*/ 8 h 41"/>
                  <a:gd name="T20" fmla="*/ 58 w 120"/>
                  <a:gd name="T21" fmla="*/ 9 h 41"/>
                  <a:gd name="T22" fmla="*/ 65 w 120"/>
                  <a:gd name="T23" fmla="*/ 12 h 41"/>
                  <a:gd name="T24" fmla="*/ 65 w 120"/>
                  <a:gd name="T25" fmla="*/ 12 h 41"/>
                  <a:gd name="T26" fmla="*/ 84 w 120"/>
                  <a:gd name="T27" fmla="*/ 19 h 41"/>
                  <a:gd name="T28" fmla="*/ 94 w 120"/>
                  <a:gd name="T29" fmla="*/ 24 h 41"/>
                  <a:gd name="T30" fmla="*/ 103 w 120"/>
                  <a:gd name="T31" fmla="*/ 29 h 41"/>
                  <a:gd name="T32" fmla="*/ 103 w 120"/>
                  <a:gd name="T33" fmla="*/ 29 h 41"/>
                  <a:gd name="T34" fmla="*/ 120 w 120"/>
                  <a:gd name="T35" fmla="*/ 41 h 41"/>
                  <a:gd name="T36" fmla="*/ 120 w 120"/>
                  <a:gd name="T37" fmla="*/ 41 h 41"/>
                  <a:gd name="T38" fmla="*/ 114 w 120"/>
                  <a:gd name="T39" fmla="*/ 35 h 41"/>
                  <a:gd name="T40" fmla="*/ 97 w 120"/>
                  <a:gd name="T41" fmla="*/ 20 h 41"/>
                  <a:gd name="T42" fmla="*/ 87 w 120"/>
                  <a:gd name="T43" fmla="*/ 13 h 41"/>
                  <a:gd name="T44" fmla="*/ 76 w 120"/>
                  <a:gd name="T45" fmla="*/ 7 h 41"/>
                  <a:gd name="T46" fmla="*/ 66 w 120"/>
                  <a:gd name="T47" fmla="*/ 3 h 41"/>
                  <a:gd name="T48" fmla="*/ 61 w 120"/>
                  <a:gd name="T49" fmla="*/ 2 h 41"/>
                  <a:gd name="T50" fmla="*/ 56 w 120"/>
                  <a:gd name="T51" fmla="*/ 0 h 41"/>
                  <a:gd name="T52" fmla="*/ 56 w 120"/>
                  <a:gd name="T53" fmla="*/ 0 h 41"/>
                  <a:gd name="T54" fmla="*/ 41 w 120"/>
                  <a:gd name="T55" fmla="*/ 3 h 41"/>
                  <a:gd name="T56" fmla="*/ 29 w 120"/>
                  <a:gd name="T57" fmla="*/ 5 h 41"/>
                  <a:gd name="T58" fmla="*/ 19 w 120"/>
                  <a:gd name="T59" fmla="*/ 10 h 41"/>
                  <a:gd name="T60" fmla="*/ 11 w 120"/>
                  <a:gd name="T61" fmla="*/ 16 h 41"/>
                  <a:gd name="T62" fmla="*/ 11 w 120"/>
                  <a:gd name="T63" fmla="*/ 16 h 41"/>
                  <a:gd name="T64" fmla="*/ 6 w 120"/>
                  <a:gd name="T65" fmla="*/ 23 h 41"/>
                  <a:gd name="T66" fmla="*/ 3 w 120"/>
                  <a:gd name="T67" fmla="*/ 28 h 41"/>
                  <a:gd name="T68" fmla="*/ 0 w 120"/>
                  <a:gd name="T69" fmla="*/ 34 h 41"/>
                  <a:gd name="T70" fmla="*/ 0 w 120"/>
                  <a:gd name="T71" fmla="*/ 34 h 41"/>
                  <a:gd name="T72" fmla="*/ 0 60000 65536"/>
                  <a:gd name="T73" fmla="*/ 0 60000 65536"/>
                  <a:gd name="T74" fmla="*/ 0 60000 65536"/>
                  <a:gd name="T75" fmla="*/ 0 60000 65536"/>
                  <a:gd name="T76" fmla="*/ 0 60000 65536"/>
                  <a:gd name="T77" fmla="*/ 0 60000 65536"/>
                  <a:gd name="T78" fmla="*/ 0 60000 65536"/>
                  <a:gd name="T79" fmla="*/ 0 60000 65536"/>
                  <a:gd name="T80" fmla="*/ 0 60000 65536"/>
                  <a:gd name="T81" fmla="*/ 0 60000 65536"/>
                  <a:gd name="T82" fmla="*/ 0 60000 65536"/>
                  <a:gd name="T83" fmla="*/ 0 60000 65536"/>
                  <a:gd name="T84" fmla="*/ 0 60000 65536"/>
                  <a:gd name="T85" fmla="*/ 0 60000 65536"/>
                  <a:gd name="T86" fmla="*/ 0 60000 65536"/>
                  <a:gd name="T87" fmla="*/ 0 60000 65536"/>
                  <a:gd name="T88" fmla="*/ 0 60000 65536"/>
                  <a:gd name="T89" fmla="*/ 0 60000 65536"/>
                  <a:gd name="T90" fmla="*/ 0 60000 65536"/>
                  <a:gd name="T91" fmla="*/ 0 60000 65536"/>
                  <a:gd name="T92" fmla="*/ 0 60000 65536"/>
                  <a:gd name="T93" fmla="*/ 0 60000 65536"/>
                  <a:gd name="T94" fmla="*/ 0 60000 65536"/>
                  <a:gd name="T95" fmla="*/ 0 60000 65536"/>
                  <a:gd name="T96" fmla="*/ 0 60000 65536"/>
                  <a:gd name="T97" fmla="*/ 0 60000 65536"/>
                  <a:gd name="T98" fmla="*/ 0 60000 65536"/>
                  <a:gd name="T99" fmla="*/ 0 60000 65536"/>
                  <a:gd name="T100" fmla="*/ 0 60000 65536"/>
                  <a:gd name="T101" fmla="*/ 0 60000 65536"/>
                  <a:gd name="T102" fmla="*/ 0 60000 65536"/>
                  <a:gd name="T103" fmla="*/ 0 60000 65536"/>
                  <a:gd name="T104" fmla="*/ 0 60000 65536"/>
                  <a:gd name="T105" fmla="*/ 0 60000 65536"/>
                  <a:gd name="T106" fmla="*/ 0 60000 65536"/>
                  <a:gd name="T107" fmla="*/ 0 60000 65536"/>
                  <a:gd name="T108" fmla="*/ 0 w 120"/>
                  <a:gd name="T109" fmla="*/ 0 h 41"/>
                  <a:gd name="T110" fmla="*/ 120 w 120"/>
                  <a:gd name="T111" fmla="*/ 41 h 41"/>
                </a:gdLst>
                <a:ahLst/>
                <a:cxnLst>
                  <a:cxn ang="T72">
                    <a:pos x="T0" y="T1"/>
                  </a:cxn>
                  <a:cxn ang="T73">
                    <a:pos x="T2" y="T3"/>
                  </a:cxn>
                  <a:cxn ang="T74">
                    <a:pos x="T4" y="T5"/>
                  </a:cxn>
                  <a:cxn ang="T75">
                    <a:pos x="T6" y="T7"/>
                  </a:cxn>
                  <a:cxn ang="T76">
                    <a:pos x="T8" y="T9"/>
                  </a:cxn>
                  <a:cxn ang="T77">
                    <a:pos x="T10" y="T11"/>
                  </a:cxn>
                  <a:cxn ang="T78">
                    <a:pos x="T12" y="T13"/>
                  </a:cxn>
                  <a:cxn ang="T79">
                    <a:pos x="T14" y="T15"/>
                  </a:cxn>
                  <a:cxn ang="T80">
                    <a:pos x="T16" y="T17"/>
                  </a:cxn>
                  <a:cxn ang="T81">
                    <a:pos x="T18" y="T19"/>
                  </a:cxn>
                  <a:cxn ang="T82">
                    <a:pos x="T20" y="T21"/>
                  </a:cxn>
                  <a:cxn ang="T83">
                    <a:pos x="T22" y="T23"/>
                  </a:cxn>
                  <a:cxn ang="T84">
                    <a:pos x="T24" y="T25"/>
                  </a:cxn>
                  <a:cxn ang="T85">
                    <a:pos x="T26" y="T27"/>
                  </a:cxn>
                  <a:cxn ang="T86">
                    <a:pos x="T28" y="T29"/>
                  </a:cxn>
                  <a:cxn ang="T87">
                    <a:pos x="T30" y="T31"/>
                  </a:cxn>
                  <a:cxn ang="T88">
                    <a:pos x="T32" y="T33"/>
                  </a:cxn>
                  <a:cxn ang="T89">
                    <a:pos x="T34" y="T35"/>
                  </a:cxn>
                  <a:cxn ang="T90">
                    <a:pos x="T36" y="T37"/>
                  </a:cxn>
                  <a:cxn ang="T91">
                    <a:pos x="T38" y="T39"/>
                  </a:cxn>
                  <a:cxn ang="T92">
                    <a:pos x="T40" y="T41"/>
                  </a:cxn>
                  <a:cxn ang="T93">
                    <a:pos x="T42" y="T43"/>
                  </a:cxn>
                  <a:cxn ang="T94">
                    <a:pos x="T44" y="T45"/>
                  </a:cxn>
                  <a:cxn ang="T95">
                    <a:pos x="T46" y="T47"/>
                  </a:cxn>
                  <a:cxn ang="T96">
                    <a:pos x="T48" y="T49"/>
                  </a:cxn>
                  <a:cxn ang="T97">
                    <a:pos x="T50" y="T51"/>
                  </a:cxn>
                  <a:cxn ang="T98">
                    <a:pos x="T52" y="T53"/>
                  </a:cxn>
                  <a:cxn ang="T99">
                    <a:pos x="T54" y="T55"/>
                  </a:cxn>
                  <a:cxn ang="T100">
                    <a:pos x="T56" y="T57"/>
                  </a:cxn>
                  <a:cxn ang="T101">
                    <a:pos x="T58" y="T59"/>
                  </a:cxn>
                  <a:cxn ang="T102">
                    <a:pos x="T60" y="T61"/>
                  </a:cxn>
                  <a:cxn ang="T103">
                    <a:pos x="T62" y="T63"/>
                  </a:cxn>
                  <a:cxn ang="T104">
                    <a:pos x="T64" y="T65"/>
                  </a:cxn>
                  <a:cxn ang="T105">
                    <a:pos x="T66" y="T67"/>
                  </a:cxn>
                  <a:cxn ang="T106">
                    <a:pos x="T68" y="T69"/>
                  </a:cxn>
                  <a:cxn ang="T107">
                    <a:pos x="T70" y="T71"/>
                  </a:cxn>
                </a:cxnLst>
                <a:rect l="T108" t="T109" r="T110" b="T111"/>
                <a:pathLst>
                  <a:path w="120" h="41">
                    <a:moveTo>
                      <a:pt x="0" y="34"/>
                    </a:moveTo>
                    <a:lnTo>
                      <a:pt x="0" y="34"/>
                    </a:lnTo>
                    <a:lnTo>
                      <a:pt x="3" y="31"/>
                    </a:lnTo>
                    <a:lnTo>
                      <a:pt x="9" y="24"/>
                    </a:lnTo>
                    <a:lnTo>
                      <a:pt x="19" y="16"/>
                    </a:lnTo>
                    <a:lnTo>
                      <a:pt x="25" y="13"/>
                    </a:lnTo>
                    <a:lnTo>
                      <a:pt x="32" y="10"/>
                    </a:lnTo>
                    <a:lnTo>
                      <a:pt x="45" y="8"/>
                    </a:lnTo>
                    <a:lnTo>
                      <a:pt x="52" y="8"/>
                    </a:lnTo>
                    <a:lnTo>
                      <a:pt x="58" y="9"/>
                    </a:lnTo>
                    <a:lnTo>
                      <a:pt x="65" y="12"/>
                    </a:lnTo>
                    <a:lnTo>
                      <a:pt x="84" y="19"/>
                    </a:lnTo>
                    <a:lnTo>
                      <a:pt x="94" y="24"/>
                    </a:lnTo>
                    <a:lnTo>
                      <a:pt x="103" y="29"/>
                    </a:lnTo>
                    <a:lnTo>
                      <a:pt x="120" y="41"/>
                    </a:lnTo>
                    <a:lnTo>
                      <a:pt x="114" y="35"/>
                    </a:lnTo>
                    <a:lnTo>
                      <a:pt x="97" y="20"/>
                    </a:lnTo>
                    <a:lnTo>
                      <a:pt x="87" y="13"/>
                    </a:lnTo>
                    <a:lnTo>
                      <a:pt x="76" y="7"/>
                    </a:lnTo>
                    <a:lnTo>
                      <a:pt x="66" y="3"/>
                    </a:lnTo>
                    <a:lnTo>
                      <a:pt x="61" y="2"/>
                    </a:lnTo>
                    <a:lnTo>
                      <a:pt x="56" y="0"/>
                    </a:lnTo>
                    <a:lnTo>
                      <a:pt x="41" y="3"/>
                    </a:lnTo>
                    <a:lnTo>
                      <a:pt x="29" y="5"/>
                    </a:lnTo>
                    <a:lnTo>
                      <a:pt x="19" y="10"/>
                    </a:lnTo>
                    <a:lnTo>
                      <a:pt x="11" y="16"/>
                    </a:lnTo>
                    <a:lnTo>
                      <a:pt x="6" y="23"/>
                    </a:lnTo>
                    <a:lnTo>
                      <a:pt x="3" y="28"/>
                    </a:lnTo>
                    <a:lnTo>
                      <a:pt x="0" y="34"/>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sp>
            <p:nvSpPr>
              <p:cNvPr id="38" name="Freeform 71"/>
              <p:cNvSpPr>
                <a:spLocks/>
              </p:cNvSpPr>
              <p:nvPr/>
            </p:nvSpPr>
            <p:spPr bwMode="auto">
              <a:xfrm rot="3766183" flipH="1">
                <a:off x="4504" y="2033"/>
                <a:ext cx="20" cy="80"/>
              </a:xfrm>
              <a:custGeom>
                <a:avLst/>
                <a:gdLst>
                  <a:gd name="T0" fmla="*/ 0 w 20"/>
                  <a:gd name="T1" fmla="*/ 80 h 80"/>
                  <a:gd name="T2" fmla="*/ 0 w 20"/>
                  <a:gd name="T3" fmla="*/ 80 h 80"/>
                  <a:gd name="T4" fmla="*/ 0 w 20"/>
                  <a:gd name="T5" fmla="*/ 76 h 80"/>
                  <a:gd name="T6" fmla="*/ 1 w 20"/>
                  <a:gd name="T7" fmla="*/ 69 h 80"/>
                  <a:gd name="T8" fmla="*/ 6 w 20"/>
                  <a:gd name="T9" fmla="*/ 53 h 80"/>
                  <a:gd name="T10" fmla="*/ 11 w 20"/>
                  <a:gd name="T11" fmla="*/ 36 h 80"/>
                  <a:gd name="T12" fmla="*/ 13 w 20"/>
                  <a:gd name="T13" fmla="*/ 22 h 80"/>
                  <a:gd name="T14" fmla="*/ 13 w 20"/>
                  <a:gd name="T15" fmla="*/ 22 h 80"/>
                  <a:gd name="T16" fmla="*/ 13 w 20"/>
                  <a:gd name="T17" fmla="*/ 13 h 80"/>
                  <a:gd name="T18" fmla="*/ 10 w 20"/>
                  <a:gd name="T19" fmla="*/ 7 h 80"/>
                  <a:gd name="T20" fmla="*/ 8 w 20"/>
                  <a:gd name="T21" fmla="*/ 0 h 80"/>
                  <a:gd name="T22" fmla="*/ 8 w 20"/>
                  <a:gd name="T23" fmla="*/ 0 h 80"/>
                  <a:gd name="T24" fmla="*/ 10 w 20"/>
                  <a:gd name="T25" fmla="*/ 1 h 80"/>
                  <a:gd name="T26" fmla="*/ 13 w 20"/>
                  <a:gd name="T27" fmla="*/ 3 h 80"/>
                  <a:gd name="T28" fmla="*/ 15 w 20"/>
                  <a:gd name="T29" fmla="*/ 6 h 80"/>
                  <a:gd name="T30" fmla="*/ 18 w 20"/>
                  <a:gd name="T31" fmla="*/ 10 h 80"/>
                  <a:gd name="T32" fmla="*/ 19 w 20"/>
                  <a:gd name="T33" fmla="*/ 15 h 80"/>
                  <a:gd name="T34" fmla="*/ 20 w 20"/>
                  <a:gd name="T35" fmla="*/ 22 h 80"/>
                  <a:gd name="T36" fmla="*/ 19 w 20"/>
                  <a:gd name="T37" fmla="*/ 29 h 80"/>
                  <a:gd name="T38" fmla="*/ 19 w 20"/>
                  <a:gd name="T39" fmla="*/ 29 h 80"/>
                  <a:gd name="T40" fmla="*/ 14 w 20"/>
                  <a:gd name="T41" fmla="*/ 48 h 80"/>
                  <a:gd name="T42" fmla="*/ 8 w 20"/>
                  <a:gd name="T43" fmla="*/ 64 h 80"/>
                  <a:gd name="T44" fmla="*/ 0 w 20"/>
                  <a:gd name="T45" fmla="*/ 80 h 80"/>
                  <a:gd name="T46" fmla="*/ 0 w 20"/>
                  <a:gd name="T47" fmla="*/ 80 h 80"/>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 name="T57" fmla="*/ 0 60000 65536"/>
                  <a:gd name="T58" fmla="*/ 0 60000 65536"/>
                  <a:gd name="T59" fmla="*/ 0 60000 65536"/>
                  <a:gd name="T60" fmla="*/ 0 60000 65536"/>
                  <a:gd name="T61" fmla="*/ 0 60000 65536"/>
                  <a:gd name="T62" fmla="*/ 0 60000 65536"/>
                  <a:gd name="T63" fmla="*/ 0 60000 65536"/>
                  <a:gd name="T64" fmla="*/ 0 60000 65536"/>
                  <a:gd name="T65" fmla="*/ 0 60000 65536"/>
                  <a:gd name="T66" fmla="*/ 0 60000 65536"/>
                  <a:gd name="T67" fmla="*/ 0 60000 65536"/>
                  <a:gd name="T68" fmla="*/ 0 60000 65536"/>
                  <a:gd name="T69" fmla="*/ 0 60000 65536"/>
                  <a:gd name="T70" fmla="*/ 0 60000 65536"/>
                  <a:gd name="T71" fmla="*/ 0 60000 65536"/>
                  <a:gd name="T72" fmla="*/ 0 w 20"/>
                  <a:gd name="T73" fmla="*/ 0 h 80"/>
                  <a:gd name="T74" fmla="*/ 20 w 20"/>
                  <a:gd name="T75" fmla="*/ 80 h 80"/>
                </a:gdLst>
                <a:ahLst/>
                <a:cxnLst>
                  <a:cxn ang="T48">
                    <a:pos x="T0" y="T1"/>
                  </a:cxn>
                  <a:cxn ang="T49">
                    <a:pos x="T2" y="T3"/>
                  </a:cxn>
                  <a:cxn ang="T50">
                    <a:pos x="T4" y="T5"/>
                  </a:cxn>
                  <a:cxn ang="T51">
                    <a:pos x="T6" y="T7"/>
                  </a:cxn>
                  <a:cxn ang="T52">
                    <a:pos x="T8" y="T9"/>
                  </a:cxn>
                  <a:cxn ang="T53">
                    <a:pos x="T10" y="T11"/>
                  </a:cxn>
                  <a:cxn ang="T54">
                    <a:pos x="T12" y="T13"/>
                  </a:cxn>
                  <a:cxn ang="T55">
                    <a:pos x="T14" y="T15"/>
                  </a:cxn>
                  <a:cxn ang="T56">
                    <a:pos x="T16" y="T17"/>
                  </a:cxn>
                  <a:cxn ang="T57">
                    <a:pos x="T18" y="T19"/>
                  </a:cxn>
                  <a:cxn ang="T58">
                    <a:pos x="T20" y="T21"/>
                  </a:cxn>
                  <a:cxn ang="T59">
                    <a:pos x="T22" y="T23"/>
                  </a:cxn>
                  <a:cxn ang="T60">
                    <a:pos x="T24" y="T25"/>
                  </a:cxn>
                  <a:cxn ang="T61">
                    <a:pos x="T26" y="T27"/>
                  </a:cxn>
                  <a:cxn ang="T62">
                    <a:pos x="T28" y="T29"/>
                  </a:cxn>
                  <a:cxn ang="T63">
                    <a:pos x="T30" y="T31"/>
                  </a:cxn>
                  <a:cxn ang="T64">
                    <a:pos x="T32" y="T33"/>
                  </a:cxn>
                  <a:cxn ang="T65">
                    <a:pos x="T34" y="T35"/>
                  </a:cxn>
                  <a:cxn ang="T66">
                    <a:pos x="T36" y="T37"/>
                  </a:cxn>
                  <a:cxn ang="T67">
                    <a:pos x="T38" y="T39"/>
                  </a:cxn>
                  <a:cxn ang="T68">
                    <a:pos x="T40" y="T41"/>
                  </a:cxn>
                  <a:cxn ang="T69">
                    <a:pos x="T42" y="T43"/>
                  </a:cxn>
                  <a:cxn ang="T70">
                    <a:pos x="T44" y="T45"/>
                  </a:cxn>
                  <a:cxn ang="T71">
                    <a:pos x="T46" y="T47"/>
                  </a:cxn>
                </a:cxnLst>
                <a:rect l="T72" t="T73" r="T74" b="T75"/>
                <a:pathLst>
                  <a:path w="20" h="80">
                    <a:moveTo>
                      <a:pt x="0" y="80"/>
                    </a:moveTo>
                    <a:lnTo>
                      <a:pt x="0" y="80"/>
                    </a:lnTo>
                    <a:lnTo>
                      <a:pt x="0" y="76"/>
                    </a:lnTo>
                    <a:lnTo>
                      <a:pt x="1" y="69"/>
                    </a:lnTo>
                    <a:lnTo>
                      <a:pt x="6" y="53"/>
                    </a:lnTo>
                    <a:lnTo>
                      <a:pt x="11" y="36"/>
                    </a:lnTo>
                    <a:lnTo>
                      <a:pt x="13" y="22"/>
                    </a:lnTo>
                    <a:lnTo>
                      <a:pt x="13" y="13"/>
                    </a:lnTo>
                    <a:lnTo>
                      <a:pt x="10" y="7"/>
                    </a:lnTo>
                    <a:lnTo>
                      <a:pt x="8" y="0"/>
                    </a:lnTo>
                    <a:lnTo>
                      <a:pt x="10" y="1"/>
                    </a:lnTo>
                    <a:lnTo>
                      <a:pt x="13" y="3"/>
                    </a:lnTo>
                    <a:lnTo>
                      <a:pt x="15" y="6"/>
                    </a:lnTo>
                    <a:lnTo>
                      <a:pt x="18" y="10"/>
                    </a:lnTo>
                    <a:lnTo>
                      <a:pt x="19" y="15"/>
                    </a:lnTo>
                    <a:lnTo>
                      <a:pt x="20" y="22"/>
                    </a:lnTo>
                    <a:lnTo>
                      <a:pt x="19" y="29"/>
                    </a:lnTo>
                    <a:lnTo>
                      <a:pt x="14" y="48"/>
                    </a:lnTo>
                    <a:lnTo>
                      <a:pt x="8" y="64"/>
                    </a:lnTo>
                    <a:lnTo>
                      <a:pt x="0" y="8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a:lstStyle/>
              <a:p>
                <a:endParaRPr lang="en-US"/>
              </a:p>
            </p:txBody>
          </p:sp>
        </p:grpSp>
      </p:grpSp>
      <p:sp>
        <p:nvSpPr>
          <p:cNvPr id="69" name="Text Box 76"/>
          <p:cNvSpPr txBox="1">
            <a:spLocks noChangeArrowheads="1"/>
          </p:cNvSpPr>
          <p:nvPr/>
        </p:nvSpPr>
        <p:spPr bwMode="auto">
          <a:xfrm>
            <a:off x="3138310" y="3102769"/>
            <a:ext cx="1870075"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eaLnBrk="1" hangingPunct="1"/>
            <a:r>
              <a:rPr lang="en-US" sz="1600" dirty="0" err="1">
                <a:solidFill>
                  <a:schemeClr val="bg2"/>
                </a:solidFill>
              </a:rPr>
              <a:t>ContactAPI?WSDL</a:t>
            </a:r>
            <a:endParaRPr lang="en-US" sz="1600" dirty="0">
              <a:solidFill>
                <a:schemeClr val="bg2"/>
              </a:solidFill>
            </a:endParaRPr>
          </a:p>
        </p:txBody>
      </p:sp>
      <p:sp>
        <p:nvSpPr>
          <p:cNvPr id="4" name="Rounded Rectangular Callout 3"/>
          <p:cNvSpPr/>
          <p:nvPr/>
        </p:nvSpPr>
        <p:spPr bwMode="auto">
          <a:xfrm>
            <a:off x="4083050" y="914399"/>
            <a:ext cx="2317750" cy="619919"/>
          </a:xfrm>
          <a:prstGeom prst="wedgeRoundRectCallout">
            <a:avLst>
              <a:gd name="adj1" fmla="val 52325"/>
              <a:gd name="adj2" fmla="val 108982"/>
              <a:gd name="adj3" fmla="val 16667"/>
            </a:avLst>
          </a:prstGeom>
          <a:noFill/>
          <a:ln w="19050" algn="ctr">
            <a:solidFill>
              <a:srgbClr val="D33941"/>
            </a:solidFill>
            <a:round/>
            <a:headEnd/>
            <a:tailEnd/>
          </a:ln>
        </p:spPr>
        <p:txBody>
          <a:bodyPr wrap="none" lIns="91440" tIns="91440" rIns="91440" bIns="91440" rtlCol="0" anchor="ctr">
            <a:noAutofit/>
          </a:bodyPr>
          <a:lstStyle/>
          <a:p>
            <a:pPr>
              <a:defRPr/>
            </a:pPr>
            <a:r>
              <a:rPr lang="en-US" b="1" dirty="0">
                <a:solidFill>
                  <a:schemeClr val="bg2"/>
                </a:solidFill>
              </a:rPr>
              <a:t>WSDL for </a:t>
            </a:r>
            <a:r>
              <a:rPr lang="en-US" b="1" dirty="0" smtClean="0">
                <a:solidFill>
                  <a:schemeClr val="bg2"/>
                </a:solidFill>
              </a:rPr>
              <a:t/>
            </a:r>
            <a:br>
              <a:rPr lang="en-US" b="1" dirty="0" smtClean="0">
                <a:solidFill>
                  <a:schemeClr val="bg2"/>
                </a:solidFill>
              </a:rPr>
            </a:br>
            <a:r>
              <a:rPr lang="en-US" b="1" dirty="0" err="1" smtClean="0">
                <a:solidFill>
                  <a:schemeClr val="bg2"/>
                </a:solidFill>
              </a:rPr>
              <a:t>ContactAPI</a:t>
            </a:r>
            <a:r>
              <a:rPr lang="en-US" b="1" dirty="0">
                <a:solidFill>
                  <a:schemeClr val="bg2"/>
                </a:solidFill>
              </a:rPr>
              <a:t>, please</a:t>
            </a:r>
          </a:p>
        </p:txBody>
      </p:sp>
      <p:pic>
        <p:nvPicPr>
          <p:cNvPr id="70"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17770" y="1872494"/>
            <a:ext cx="1099096" cy="1168394"/>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1"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680619" y="2282886"/>
            <a:ext cx="842169" cy="8821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3" name="Text Box 5"/>
          <p:cNvSpPr txBox="1">
            <a:spLocks noChangeArrowheads="1"/>
          </p:cNvSpPr>
          <p:nvPr/>
        </p:nvSpPr>
        <p:spPr bwMode="auto">
          <a:xfrm>
            <a:off x="7131844" y="2819400"/>
            <a:ext cx="1069975"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905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ctr">
              <a:spcAft>
                <a:spcPct val="0"/>
              </a:spcAft>
              <a:buClr>
                <a:srgbClr val="0146AD"/>
              </a:buClr>
              <a:buFont typeface="Arial" charset="0"/>
              <a:buNone/>
            </a:pPr>
            <a:r>
              <a:rPr lang="en-US" dirty="0" smtClean="0">
                <a:solidFill>
                  <a:schemeClr val="bg1"/>
                </a:solidFill>
              </a:rPr>
              <a:t>External</a:t>
            </a:r>
            <a:r>
              <a:rPr lang="en-US" dirty="0">
                <a:solidFill>
                  <a:schemeClr val="bg1"/>
                </a:solidFill>
              </a:rPr>
              <a:t/>
            </a:r>
            <a:br>
              <a:rPr lang="en-US" dirty="0">
                <a:solidFill>
                  <a:schemeClr val="bg1"/>
                </a:solidFill>
              </a:rPr>
            </a:br>
            <a:r>
              <a:rPr lang="en-US" dirty="0">
                <a:solidFill>
                  <a:schemeClr val="bg1"/>
                </a:solidFill>
              </a:rPr>
              <a:t>system</a:t>
            </a:r>
          </a:p>
        </p:txBody>
      </p:sp>
    </p:spTree>
    <p:extLst>
      <p:ext uri="{BB962C8B-B14F-4D97-AF65-F5344CB8AC3E}">
        <p14:creationId xmlns:p14="http://schemas.microsoft.com/office/powerpoint/2010/main" val="1851880070"/>
      </p:ext>
    </p:extLst>
  </p:cSld>
  <p:clrMapOvr>
    <a:masterClrMapping/>
  </p:clrMapOvr>
  <p:transition/>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Publishing Guidewire web services</a:t>
            </a:r>
          </a:p>
          <a:p>
            <a:r>
              <a:rPr lang="en-US" dirty="0">
                <a:solidFill>
                  <a:schemeClr val="bg1"/>
                </a:solidFill>
              </a:rPr>
              <a:t>Returning objects from web services</a:t>
            </a:r>
          </a:p>
          <a:p>
            <a:r>
              <a:rPr lang="en-US" dirty="0"/>
              <a:t>Testing web services</a:t>
            </a:r>
          </a:p>
          <a:p>
            <a:r>
              <a:rPr lang="en-US" dirty="0"/>
              <a:t>Consuming Guidewire web services</a:t>
            </a:r>
          </a:p>
          <a:p>
            <a:endParaRPr lang="en-US" dirty="0"/>
          </a:p>
        </p:txBody>
      </p:sp>
    </p:spTree>
    <p:extLst>
      <p:ext uri="{BB962C8B-B14F-4D97-AF65-F5344CB8AC3E}">
        <p14:creationId xmlns:p14="http://schemas.microsoft.com/office/powerpoint/2010/main" val="2648430568"/>
      </p:ext>
    </p:extLst>
  </p:cSld>
  <p:clrMapOvr>
    <a:masterClrMapping/>
  </p:clrMapOvr>
  <p:transition/>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68300" y="914400"/>
            <a:ext cx="393700" cy="3773342"/>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Returned objects from web service</a:t>
            </a:r>
            <a:endParaRPr lang="en-US" dirty="0"/>
          </a:p>
        </p:txBody>
      </p:sp>
      <p:sp>
        <p:nvSpPr>
          <p:cNvPr id="3" name="Content Placeholder 2"/>
          <p:cNvSpPr>
            <a:spLocks noGrp="1"/>
          </p:cNvSpPr>
          <p:nvPr>
            <p:ph idx="1"/>
          </p:nvPr>
        </p:nvSpPr>
        <p:spPr>
          <a:xfrm>
            <a:off x="519113" y="4876800"/>
            <a:ext cx="8318500" cy="1523999"/>
          </a:xfrm>
        </p:spPr>
        <p:txBody>
          <a:bodyPr/>
          <a:lstStyle/>
          <a:p>
            <a:r>
              <a:rPr lang="en-US" dirty="0" smtClean="0"/>
              <a:t>Method can return object</a:t>
            </a:r>
          </a:p>
          <a:p>
            <a:r>
              <a:rPr lang="en-US" dirty="0" smtClean="0"/>
              <a:t>Returned object must be of a Gosu class type that is usable as a web services return type</a:t>
            </a:r>
          </a:p>
        </p:txBody>
      </p:sp>
      <p:sp>
        <p:nvSpPr>
          <p:cNvPr id="4" name="Rectangle 3"/>
          <p:cNvSpPr/>
          <p:nvPr/>
        </p:nvSpPr>
        <p:spPr>
          <a:xfrm>
            <a:off x="361373" y="914400"/>
            <a:ext cx="8477827" cy="3773341"/>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46  </a:t>
            </a:r>
            <a:r>
              <a:rPr lang="en-US" sz="1600" b="1" i="1" dirty="0" smtClean="0">
                <a:solidFill>
                  <a:srgbClr val="969696"/>
                </a:solidFill>
                <a:latin typeface="Courier New"/>
                <a:ea typeface="Times New Roman"/>
                <a:cs typeface="Times New Roman"/>
              </a:rPr>
              <a:t>// </a:t>
            </a:r>
            <a:r>
              <a:rPr lang="en-US" sz="1600" b="1" i="1" dirty="0">
                <a:solidFill>
                  <a:srgbClr val="969696"/>
                </a:solidFill>
                <a:latin typeface="Courier New"/>
                <a:ea typeface="Times New Roman"/>
                <a:cs typeface="Times New Roman"/>
              </a:rPr>
              <a:t>Method that returns instance of a Gosu class</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47  </a:t>
            </a:r>
            <a:r>
              <a:rPr lang="en-US" sz="1600" b="1" dirty="0" smtClean="0">
                <a:solidFill>
                  <a:srgbClr val="000080"/>
                </a:solidFill>
                <a:latin typeface="Courier New"/>
                <a:ea typeface="Times New Roman"/>
                <a:cs typeface="Times New Roman"/>
              </a:rPr>
              <a:t>function </a:t>
            </a:r>
            <a:r>
              <a:rPr lang="en-US" sz="1600" b="1" dirty="0" err="1">
                <a:solidFill>
                  <a:srgbClr val="000000"/>
                </a:solidFill>
                <a:latin typeface="Courier New"/>
                <a:ea typeface="Times New Roman"/>
                <a:cs typeface="Times New Roman"/>
              </a:rPr>
              <a:t>getContactInfo</a:t>
            </a:r>
            <a:r>
              <a:rPr lang="en-US" sz="1600" b="1" dirty="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publicId</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String) : ContactInfo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48  </a:t>
            </a:r>
            <a:r>
              <a:rPr lang="en-US" sz="1600" b="1" dirty="0" smtClean="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queryObj = gw.api.database.Query.make(</a:t>
            </a:r>
            <a:r>
              <a:rPr lang="en-US" sz="1600" b="1" dirty="0" err="1">
                <a:solidFill>
                  <a:srgbClr val="000000"/>
                </a:solidFill>
                <a:latin typeface="Courier New"/>
                <a:ea typeface="Times New Roman"/>
                <a:cs typeface="Times New Roman"/>
              </a:rPr>
              <a:t>ABContact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49  </a:t>
            </a:r>
            <a:r>
              <a:rPr lang="en-US" sz="1600" b="1" dirty="0" smtClean="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queryObj.compare</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PublicID</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Equals, </a:t>
            </a:r>
            <a:r>
              <a:rPr lang="en-US" sz="1600" b="1" dirty="0" err="1" smtClean="0">
                <a:solidFill>
                  <a:srgbClr val="000000"/>
                </a:solidFill>
                <a:latin typeface="Courier New"/>
                <a:ea typeface="Times New Roman"/>
                <a:cs typeface="Times New Roman"/>
              </a:rPr>
              <a:t>publicId</a:t>
            </a:r>
            <a:r>
              <a:rPr lang="en-US" sz="1600" b="1" dirty="0" smtClean="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50  </a:t>
            </a:r>
            <a:r>
              <a:rPr lang="en-US" sz="1600" b="1" dirty="0" smtClean="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targetContact = </a:t>
            </a:r>
            <a:r>
              <a:rPr lang="en-US" sz="1600" b="1" dirty="0" err="1">
                <a:solidFill>
                  <a:srgbClr val="000000"/>
                </a:solidFill>
                <a:latin typeface="Courier New"/>
                <a:ea typeface="Times New Roman"/>
                <a:cs typeface="Times New Roman"/>
              </a:rPr>
              <a:t>queryObj.select</a:t>
            </a:r>
            <a:r>
              <a:rPr lang="en-US" sz="1600" b="1" dirty="0">
                <a:solidFill>
                  <a:srgbClr val="000000"/>
                </a:solidFill>
                <a:latin typeface="Courier New"/>
                <a:ea typeface="Times New Roman"/>
                <a:cs typeface="Times New Roman"/>
              </a:rPr>
              <a:t>().</a:t>
            </a:r>
            <a:r>
              <a:rPr lang="en-US" sz="1600" b="1" dirty="0" err="1">
                <a:solidFill>
                  <a:srgbClr val="000000"/>
                </a:solidFill>
                <a:latin typeface="Courier New"/>
                <a:ea typeface="Times New Roman"/>
                <a:cs typeface="Times New Roman"/>
              </a:rPr>
              <a:t>AtMostOneRow</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51  </a:t>
            </a:r>
            <a:r>
              <a:rPr lang="en-US" sz="1600" b="1" dirty="0" smtClean="0">
                <a:solidFill>
                  <a:srgbClr val="000000"/>
                </a:solidFill>
                <a:latin typeface="Courier New"/>
                <a:ea typeface="Times New Roman"/>
                <a:cs typeface="Times New Roman"/>
              </a:rPr>
              <a:t> </a:t>
            </a:r>
            <a:r>
              <a:rPr lang="en-US" sz="1600" b="1" dirty="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aContactInfo = </a:t>
            </a:r>
            <a:r>
              <a:rPr lang="en-US" sz="1600" b="1" dirty="0">
                <a:solidFill>
                  <a:srgbClr val="000080"/>
                </a:solidFill>
                <a:latin typeface="Courier New"/>
                <a:ea typeface="Times New Roman"/>
                <a:cs typeface="Times New Roman"/>
              </a:rPr>
              <a:t>new </a:t>
            </a:r>
            <a:r>
              <a:rPr lang="en-US" sz="1600" b="1" dirty="0">
                <a:solidFill>
                  <a:srgbClr val="000000"/>
                </a:solidFill>
                <a:latin typeface="Courier New"/>
                <a:ea typeface="Times New Roman"/>
                <a:cs typeface="Times New Roman"/>
              </a:rPr>
              <a:t>ContactInfo()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52  </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aContactInfo.contactName = targetContact.DisplayName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53  </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aContactInfo.contactType = </a:t>
            </a:r>
            <a:r>
              <a:rPr lang="en-US" sz="1600" b="1" dirty="0" smtClean="0">
                <a:solidFill>
                  <a:srgbClr val="000000"/>
                </a:solidFill>
                <a:latin typeface="Courier New"/>
                <a:ea typeface="Times New Roman"/>
                <a:cs typeface="Times New Roman"/>
              </a:rPr>
              <a:t>targetContact.Subtype.DisplayName</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54   </a:t>
            </a:r>
            <a:r>
              <a:rPr lang="en-US" sz="1600" b="1" dirty="0" smtClean="0">
                <a:solidFill>
                  <a:srgbClr val="000000"/>
                </a:solidFill>
                <a:latin typeface="Courier New"/>
                <a:ea typeface="Times New Roman"/>
                <a:cs typeface="Times New Roman"/>
              </a:rPr>
              <a:t>aContactInfo.email </a:t>
            </a:r>
            <a:r>
              <a:rPr lang="en-US" sz="1600" b="1" dirty="0">
                <a:solidFill>
                  <a:srgbClr val="000000"/>
                </a:solidFill>
                <a:latin typeface="Courier New"/>
                <a:ea typeface="Times New Roman"/>
                <a:cs typeface="Times New Roman"/>
              </a:rPr>
              <a:t>= targetContact.EmailAddress1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55   </a:t>
            </a:r>
            <a:r>
              <a:rPr lang="en-US" sz="1600" b="1" dirty="0" smtClean="0">
                <a:solidFill>
                  <a:srgbClr val="000000"/>
                </a:solidFill>
                <a:latin typeface="Courier New"/>
                <a:ea typeface="Times New Roman"/>
                <a:cs typeface="Times New Roman"/>
              </a:rPr>
              <a:t>aContactInfo.primaryPhone </a:t>
            </a:r>
            <a:r>
              <a:rPr lang="en-US" sz="1600" b="1" dirty="0">
                <a:solidFill>
                  <a:srgbClr val="000000"/>
                </a:solidFill>
                <a:latin typeface="Courier New"/>
                <a:ea typeface="Times New Roman"/>
                <a:cs typeface="Times New Roman"/>
              </a:rPr>
              <a:t>= </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56</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targetContact.PrimaryPhone.DisplayName</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57   </a:t>
            </a:r>
            <a:r>
              <a:rPr lang="en-US" sz="1600" b="1" dirty="0">
                <a:solidFill>
                  <a:srgbClr val="000080"/>
                </a:solidFill>
                <a:latin typeface="Courier New"/>
                <a:ea typeface="Times New Roman"/>
                <a:cs typeface="Times New Roman"/>
              </a:rPr>
              <a:t>return </a:t>
            </a:r>
            <a:r>
              <a:rPr lang="en-US" sz="1600" b="1" dirty="0">
                <a:solidFill>
                  <a:srgbClr val="000000"/>
                </a:solidFill>
                <a:latin typeface="Courier New"/>
                <a:ea typeface="Times New Roman"/>
                <a:cs typeface="Times New Roman"/>
              </a:rPr>
              <a:t>aContactInfo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58  } </a:t>
            </a:r>
            <a:endParaRPr lang="en-US" sz="1600" b="1" dirty="0">
              <a:effectLst/>
              <a:latin typeface="Calibri"/>
              <a:ea typeface="Calibri"/>
              <a:cs typeface="Times New Roman"/>
            </a:endParaRPr>
          </a:p>
        </p:txBody>
      </p:sp>
      <p:sp>
        <p:nvSpPr>
          <p:cNvPr id="6" name="AutoShape 7"/>
          <p:cNvSpPr>
            <a:spLocks noChangeArrowheads="1"/>
          </p:cNvSpPr>
          <p:nvPr/>
        </p:nvSpPr>
        <p:spPr bwMode="auto">
          <a:xfrm>
            <a:off x="6477000" y="1219200"/>
            <a:ext cx="1447800" cy="274638"/>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AutoShape 7"/>
          <p:cNvSpPr>
            <a:spLocks noChangeArrowheads="1"/>
          </p:cNvSpPr>
          <p:nvPr/>
        </p:nvSpPr>
        <p:spPr bwMode="auto">
          <a:xfrm>
            <a:off x="914400" y="2362200"/>
            <a:ext cx="7543800" cy="1981200"/>
          </a:xfrm>
          <a:prstGeom prst="roundRect">
            <a:avLst>
              <a:gd name="adj" fmla="val 7844"/>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98398385"/>
      </p:ext>
    </p:extLst>
  </p:cSld>
  <p:clrMapOvr>
    <a:masterClrMapping/>
  </p:clrMapOvr>
  <p:transition/>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bwMode="auto">
          <a:xfrm>
            <a:off x="368300" y="914400"/>
            <a:ext cx="393700" cy="4056495"/>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smtClean="0"/>
              <a:t>Gosu </a:t>
            </a:r>
            <a:r>
              <a:rPr lang="en-US" dirty="0" smtClean="0"/>
              <a:t>class for web service return types</a:t>
            </a:r>
            <a:endParaRPr lang="en-US" dirty="0"/>
          </a:p>
        </p:txBody>
      </p:sp>
      <p:sp>
        <p:nvSpPr>
          <p:cNvPr id="3" name="Content Placeholder 2"/>
          <p:cNvSpPr>
            <a:spLocks noGrp="1"/>
          </p:cNvSpPr>
          <p:nvPr>
            <p:ph idx="1"/>
          </p:nvPr>
        </p:nvSpPr>
        <p:spPr>
          <a:xfrm>
            <a:off x="519112" y="5257800"/>
            <a:ext cx="8472487" cy="1143000"/>
          </a:xfrm>
        </p:spPr>
        <p:txBody>
          <a:bodyPr/>
          <a:lstStyle/>
          <a:p>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WsiExportable</a:t>
            </a:r>
            <a:r>
              <a:rPr lang="en-US" b="1" dirty="0" smtClean="0">
                <a:latin typeface="Courier New" pitchFamily="49" charset="0"/>
                <a:cs typeface="Courier New" pitchFamily="49" charset="0"/>
              </a:rPr>
              <a:t> </a:t>
            </a:r>
            <a:r>
              <a:rPr lang="en-US" dirty="0" smtClean="0"/>
              <a:t>ensures that object is XML </a:t>
            </a:r>
            <a:r>
              <a:rPr lang="en-US" dirty="0" err="1" smtClean="0"/>
              <a:t>serializable</a:t>
            </a:r>
            <a:endParaRPr lang="en-US" dirty="0" smtClean="0"/>
          </a:p>
          <a:p>
            <a:r>
              <a:rPr lang="en-US" b="1" dirty="0" smtClean="0">
                <a:latin typeface="Courier New" pitchFamily="49" charset="0"/>
                <a:cs typeface="Courier New" pitchFamily="49" charset="0"/>
              </a:rPr>
              <a:t>final</a:t>
            </a:r>
            <a:r>
              <a:rPr lang="en-US" dirty="0" smtClean="0"/>
              <a:t>  ensures class cannot be subtyped</a:t>
            </a:r>
            <a:endParaRPr lang="en-US" dirty="0"/>
          </a:p>
        </p:txBody>
      </p:sp>
      <p:sp>
        <p:nvSpPr>
          <p:cNvPr id="4" name="Rectangle 3"/>
          <p:cNvSpPr/>
          <p:nvPr/>
        </p:nvSpPr>
        <p:spPr>
          <a:xfrm>
            <a:off x="361373" y="914400"/>
            <a:ext cx="8477827" cy="4056495"/>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 </a:t>
            </a:r>
            <a:r>
              <a:rPr lang="en-US" sz="1600" b="1" dirty="0" smtClean="0">
                <a:solidFill>
                  <a:srgbClr val="000080"/>
                </a:solidFill>
                <a:latin typeface="Courier New"/>
                <a:ea typeface="Times New Roman"/>
                <a:cs typeface="Times New Roman"/>
              </a:rPr>
              <a:t>package </a:t>
            </a:r>
            <a:r>
              <a:rPr lang="en-US" sz="1600" b="1" dirty="0" err="1">
                <a:solidFill>
                  <a:srgbClr val="000000"/>
                </a:solidFill>
                <a:latin typeface="Courier New"/>
                <a:ea typeface="Times New Roman"/>
                <a:cs typeface="Times New Roman"/>
              </a:rPr>
              <a:t>acme.ta.webservice.contact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 </a:t>
            </a:r>
            <a:r>
              <a:rPr lang="en-US" sz="1600" b="1" dirty="0" smtClean="0">
                <a:solidFill>
                  <a:srgbClr val="000080"/>
                </a:solidFill>
                <a:latin typeface="Courier New"/>
                <a:ea typeface="Times New Roman"/>
                <a:cs typeface="Times New Roman"/>
              </a:rPr>
              <a:t>uses </a:t>
            </a:r>
            <a:r>
              <a:rPr lang="en-US" sz="1600" b="1" dirty="0" err="1">
                <a:solidFill>
                  <a:srgbClr val="000000"/>
                </a:solidFill>
                <a:latin typeface="Courier New"/>
                <a:ea typeface="Times New Roman"/>
                <a:cs typeface="Times New Roman"/>
              </a:rPr>
              <a:t>gw.xml.ws.annotation.WsiExportable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 @</a:t>
            </a:r>
            <a:r>
              <a:rPr lang="en-US" sz="1600" b="1" dirty="0" err="1">
                <a:solidFill>
                  <a:srgbClr val="000000"/>
                </a:solidFill>
                <a:latin typeface="Courier New"/>
                <a:ea typeface="Times New Roman"/>
                <a:cs typeface="Times New Roman"/>
              </a:rPr>
              <a:t>WsiExportable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 </a:t>
            </a:r>
            <a:br>
              <a:rPr lang="en-US" sz="1600" b="1" dirty="0" smtClean="0">
                <a:solidFill>
                  <a:srgbClr val="000000"/>
                </a:solidFill>
                <a:latin typeface="Courier New"/>
                <a:ea typeface="Times New Roman"/>
                <a:cs typeface="Times New Roman"/>
              </a:rPr>
            </a:br>
            <a:r>
              <a:rPr lang="en-US" sz="1600" b="1" dirty="0" smtClean="0">
                <a:solidFill>
                  <a:srgbClr val="000000"/>
                </a:solidFill>
                <a:latin typeface="Courier New"/>
                <a:ea typeface="Times New Roman"/>
                <a:cs typeface="Times New Roman"/>
              </a:rPr>
              <a:t> 6 </a:t>
            </a:r>
            <a:r>
              <a:rPr lang="en-US" sz="1600" b="1" dirty="0" smtClean="0">
                <a:solidFill>
                  <a:srgbClr val="000080"/>
                </a:solidFill>
                <a:latin typeface="Courier New"/>
                <a:ea typeface="Times New Roman"/>
                <a:cs typeface="Times New Roman"/>
              </a:rPr>
              <a:t>final </a:t>
            </a:r>
            <a:r>
              <a:rPr lang="en-US" sz="1600" b="1" dirty="0">
                <a:solidFill>
                  <a:srgbClr val="000080"/>
                </a:solidFill>
                <a:latin typeface="Courier New"/>
                <a:ea typeface="Times New Roman"/>
                <a:cs typeface="Times New Roman"/>
              </a:rPr>
              <a:t>class </a:t>
            </a:r>
            <a:r>
              <a:rPr lang="en-US" sz="1600" b="1" dirty="0">
                <a:solidFill>
                  <a:srgbClr val="000000"/>
                </a:solidFill>
                <a:latin typeface="Courier New"/>
                <a:ea typeface="Times New Roman"/>
                <a:cs typeface="Times New Roman"/>
              </a:rPr>
              <a:t>ContactInfo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r>
              <a:rPr lang="en-US" sz="1600" b="1" dirty="0" smtClean="0">
                <a:solidFill>
                  <a:srgbClr val="000080"/>
                </a:solidFill>
                <a:latin typeface="Courier New"/>
                <a:ea typeface="Times New Roman"/>
                <a:cs typeface="Times New Roman"/>
              </a:rPr>
              <a:t>construct</a:t>
            </a:r>
            <a:r>
              <a:rPr lang="en-US" sz="1600" b="1" dirty="0">
                <a:solidFill>
                  <a:srgbClr val="000000"/>
                </a:solidFill>
                <a:latin typeface="Courier New"/>
                <a:ea typeface="Times New Roman"/>
                <a:cs typeface="Times New Roman"/>
              </a:rPr>
              <a:t>() { </a:t>
            </a:r>
            <a:endParaRPr lang="en-US" sz="1600" b="1" dirty="0" smtClean="0">
              <a:solidFill>
                <a:srgbClr val="000000"/>
              </a:solidFill>
              <a:latin typeface="Courier New"/>
              <a:ea typeface="Times New Roman"/>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a:solidFill>
                  <a:srgbClr val="000000"/>
                </a:solidFill>
                <a:latin typeface="Courier New"/>
                <a:ea typeface="Times New Roman"/>
                <a:cs typeface="Times New Roman"/>
              </a:rPr>
              <a:t> 8</a:t>
            </a:r>
            <a:r>
              <a:rPr lang="en-US" sz="1600" b="1" dirty="0" smtClean="0">
                <a:solidFill>
                  <a:srgbClr val="000000"/>
                </a:solidFill>
                <a:latin typeface="Courier New"/>
                <a:ea typeface="Times New Roman"/>
                <a:cs typeface="Times New Roman"/>
              </a:rPr>
              <a:t>   }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r>
              <a:rPr lang="en-US" sz="1600" b="1" i="1" dirty="0" smtClean="0">
                <a:solidFill>
                  <a:srgbClr val="969696"/>
                </a:solidFill>
                <a:latin typeface="Courier New"/>
                <a:ea typeface="Times New Roman"/>
                <a:cs typeface="Times New Roman"/>
              </a:rPr>
              <a:t>// </a:t>
            </a:r>
            <a:r>
              <a:rPr lang="en-US" sz="1600" b="1" i="1" dirty="0">
                <a:solidFill>
                  <a:srgbClr val="969696"/>
                </a:solidFill>
                <a:latin typeface="Courier New"/>
                <a:ea typeface="Times New Roman"/>
                <a:cs typeface="Times New Roman"/>
              </a:rPr>
              <a:t>ContactInfo class properties</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10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contactName</a:t>
            </a:r>
            <a:r>
              <a:rPr lang="en-US" sz="1600" b="1" dirty="0">
                <a:solidFill>
                  <a:srgbClr val="000000"/>
                </a:solidFill>
                <a:latin typeface="Courier New"/>
                <a:ea typeface="Times New Roman"/>
                <a:cs typeface="Times New Roman"/>
              </a:rPr>
              <a:t> : String </a:t>
            </a:r>
            <a:r>
              <a:rPr lang="en-US" sz="1600" b="1" dirty="0">
                <a:solidFill>
                  <a:srgbClr val="000080"/>
                </a:solidFill>
                <a:latin typeface="Courier New"/>
                <a:ea typeface="Times New Roman"/>
                <a:cs typeface="Times New Roman"/>
              </a:rPr>
              <a:t>as </a:t>
            </a:r>
            <a:r>
              <a:rPr lang="en-US" sz="1600" b="1" dirty="0" err="1">
                <a:solidFill>
                  <a:srgbClr val="000000"/>
                </a:solidFill>
                <a:latin typeface="Courier New"/>
                <a:ea typeface="Times New Roman"/>
                <a:cs typeface="Times New Roman"/>
              </a:rPr>
              <a:t>contactName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11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contactType</a:t>
            </a:r>
            <a:r>
              <a:rPr lang="en-US" sz="1600" b="1" dirty="0">
                <a:solidFill>
                  <a:srgbClr val="000000"/>
                </a:solidFill>
                <a:latin typeface="Courier New"/>
                <a:ea typeface="Times New Roman"/>
                <a:cs typeface="Times New Roman"/>
              </a:rPr>
              <a:t> : String </a:t>
            </a:r>
            <a:r>
              <a:rPr lang="en-US" sz="1600" b="1" dirty="0">
                <a:solidFill>
                  <a:srgbClr val="000080"/>
                </a:solidFill>
                <a:latin typeface="Courier New"/>
                <a:ea typeface="Times New Roman"/>
                <a:cs typeface="Times New Roman"/>
              </a:rPr>
              <a:t>as </a:t>
            </a:r>
            <a:r>
              <a:rPr lang="en-US" sz="1600" b="1" dirty="0" err="1">
                <a:solidFill>
                  <a:srgbClr val="000000"/>
                </a:solidFill>
                <a:latin typeface="Courier New"/>
                <a:ea typeface="Times New Roman"/>
                <a:cs typeface="Times New Roman"/>
              </a:rPr>
              <a:t>contactType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12   v</a:t>
            </a:r>
            <a:r>
              <a:rPr lang="en-US" sz="1600" b="1" dirty="0" smtClean="0">
                <a:solidFill>
                  <a:srgbClr val="000080"/>
                </a:solidFill>
                <a:latin typeface="Courier New"/>
                <a:ea typeface="Times New Roman"/>
                <a:cs typeface="Times New Roman"/>
              </a:rPr>
              <a:t>ar </a:t>
            </a:r>
            <a:r>
              <a:rPr lang="en-US" sz="1600" b="1" dirty="0">
                <a:solidFill>
                  <a:srgbClr val="000000"/>
                </a:solidFill>
                <a:latin typeface="Courier New"/>
                <a:ea typeface="Times New Roman"/>
                <a:cs typeface="Times New Roman"/>
              </a:rPr>
              <a:t>_</a:t>
            </a:r>
            <a:r>
              <a:rPr lang="en-US" sz="1600" b="1" dirty="0" err="1">
                <a:solidFill>
                  <a:srgbClr val="000000"/>
                </a:solidFill>
                <a:latin typeface="Courier New"/>
                <a:ea typeface="Times New Roman"/>
                <a:cs typeface="Times New Roman"/>
              </a:rPr>
              <a:t>primaryPhone</a:t>
            </a:r>
            <a:r>
              <a:rPr lang="en-US" sz="1600" b="1" dirty="0">
                <a:solidFill>
                  <a:srgbClr val="000000"/>
                </a:solidFill>
                <a:latin typeface="Courier New"/>
                <a:ea typeface="Times New Roman"/>
                <a:cs typeface="Times New Roman"/>
              </a:rPr>
              <a:t> : String </a:t>
            </a:r>
            <a:r>
              <a:rPr lang="en-US" sz="1600" b="1" dirty="0">
                <a:solidFill>
                  <a:srgbClr val="000080"/>
                </a:solidFill>
                <a:latin typeface="Courier New"/>
                <a:ea typeface="Times New Roman"/>
                <a:cs typeface="Times New Roman"/>
              </a:rPr>
              <a:t>as </a:t>
            </a:r>
            <a:r>
              <a:rPr lang="en-US" sz="1600" b="1" dirty="0" err="1">
                <a:solidFill>
                  <a:srgbClr val="000000"/>
                </a:solidFill>
                <a:latin typeface="Courier New"/>
                <a:ea typeface="Times New Roman"/>
                <a:cs typeface="Times New Roman"/>
              </a:rPr>
              <a:t>primaryPhone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13   </a:t>
            </a:r>
            <a:r>
              <a:rPr lang="en-US" sz="1600" b="1" dirty="0" smtClean="0">
                <a:solidFill>
                  <a:srgbClr val="000080"/>
                </a:solidFill>
                <a:latin typeface="Courier New"/>
                <a:ea typeface="Times New Roman"/>
                <a:cs typeface="Times New Roman"/>
              </a:rPr>
              <a:t>var </a:t>
            </a:r>
            <a:r>
              <a:rPr lang="en-US" sz="1600" b="1" dirty="0">
                <a:solidFill>
                  <a:srgbClr val="000000"/>
                </a:solidFill>
                <a:latin typeface="Courier New"/>
                <a:ea typeface="Times New Roman"/>
                <a:cs typeface="Times New Roman"/>
              </a:rPr>
              <a:t>_email : String </a:t>
            </a:r>
            <a:r>
              <a:rPr lang="en-US" sz="1600" b="1" dirty="0">
                <a:solidFill>
                  <a:srgbClr val="000080"/>
                </a:solidFill>
                <a:latin typeface="Courier New"/>
                <a:ea typeface="Times New Roman"/>
                <a:cs typeface="Times New Roman"/>
              </a:rPr>
              <a:t>as </a:t>
            </a:r>
            <a:r>
              <a:rPr lang="en-US" sz="1600" b="1" dirty="0">
                <a:solidFill>
                  <a:srgbClr val="000000"/>
                </a:solidFill>
                <a:latin typeface="Courier New"/>
                <a:ea typeface="Times New Roman"/>
                <a:cs typeface="Times New Roman"/>
              </a:rPr>
              <a:t>email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14 }</a:t>
            </a:r>
            <a:endParaRPr lang="en-US" sz="1600" b="1" dirty="0">
              <a:effectLst/>
              <a:latin typeface="Calibri"/>
              <a:ea typeface="Calibri"/>
              <a:cs typeface="Times New Roman"/>
            </a:endParaRPr>
          </a:p>
        </p:txBody>
      </p:sp>
      <p:sp>
        <p:nvSpPr>
          <p:cNvPr id="6" name="AutoShape 7"/>
          <p:cNvSpPr>
            <a:spLocks noChangeArrowheads="1"/>
          </p:cNvSpPr>
          <p:nvPr/>
        </p:nvSpPr>
        <p:spPr bwMode="auto">
          <a:xfrm>
            <a:off x="774700" y="1794923"/>
            <a:ext cx="1828800" cy="322035"/>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7" name="AutoShape 7"/>
          <p:cNvSpPr>
            <a:spLocks noChangeArrowheads="1"/>
          </p:cNvSpPr>
          <p:nvPr/>
        </p:nvSpPr>
        <p:spPr bwMode="auto">
          <a:xfrm>
            <a:off x="786098" y="2344965"/>
            <a:ext cx="717724" cy="322035"/>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Tree>
    <p:extLst>
      <p:ext uri="{BB962C8B-B14F-4D97-AF65-F5344CB8AC3E}">
        <p14:creationId xmlns:p14="http://schemas.microsoft.com/office/powerpoint/2010/main" val="3578265932"/>
      </p:ext>
    </p:extLst>
  </p:cSld>
  <p:clrMapOvr>
    <a:masterClrMapping/>
  </p:clrMapOvr>
  <p:transition/>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Publishing Guidewire web services</a:t>
            </a:r>
          </a:p>
          <a:p>
            <a:r>
              <a:rPr lang="en-US" dirty="0"/>
              <a:t>Returning objects from web services</a:t>
            </a:r>
          </a:p>
          <a:p>
            <a:r>
              <a:rPr lang="en-US" dirty="0">
                <a:solidFill>
                  <a:schemeClr val="bg1"/>
                </a:solidFill>
              </a:rPr>
              <a:t>Testing web services</a:t>
            </a:r>
          </a:p>
          <a:p>
            <a:r>
              <a:rPr lang="en-US" dirty="0"/>
              <a:t>Consuming Guidewire web services</a:t>
            </a:r>
          </a:p>
          <a:p>
            <a:endParaRPr lang="en-US" dirty="0"/>
          </a:p>
        </p:txBody>
      </p:sp>
    </p:spTree>
    <p:extLst>
      <p:ext uri="{BB962C8B-B14F-4D97-AF65-F5344CB8AC3E}">
        <p14:creationId xmlns:p14="http://schemas.microsoft.com/office/powerpoint/2010/main" val="3755686115"/>
      </p:ext>
    </p:extLst>
  </p:cSld>
  <p:clrMapOvr>
    <a:masterClrMapping/>
  </p:clrMapOvr>
  <p:transition/>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24600" y="1447800"/>
            <a:ext cx="1143611" cy="7494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 name="Title 2"/>
          <p:cNvSpPr>
            <a:spLocks noGrp="1"/>
          </p:cNvSpPr>
          <p:nvPr>
            <p:ph type="title"/>
          </p:nvPr>
        </p:nvSpPr>
        <p:spPr/>
        <p:txBody>
          <a:bodyPr/>
          <a:lstStyle/>
          <a:p>
            <a:r>
              <a:rPr lang="en-US" dirty="0"/>
              <a:t>Testing web services</a:t>
            </a:r>
          </a:p>
        </p:txBody>
      </p:sp>
      <p:sp>
        <p:nvSpPr>
          <p:cNvPr id="5" name="Content Placeholder 4"/>
          <p:cNvSpPr>
            <a:spLocks noGrp="1"/>
          </p:cNvSpPr>
          <p:nvPr>
            <p:ph idx="1"/>
          </p:nvPr>
        </p:nvSpPr>
        <p:spPr>
          <a:xfrm>
            <a:off x="519113" y="5105400"/>
            <a:ext cx="8318500" cy="1295400"/>
          </a:xfrm>
        </p:spPr>
        <p:txBody>
          <a:bodyPr/>
          <a:lstStyle/>
          <a:p>
            <a:r>
              <a:rPr lang="en-US" dirty="0" smtClean="0"/>
              <a:t>Play both roles: publisher and consumer</a:t>
            </a:r>
          </a:p>
          <a:p>
            <a:r>
              <a:rPr lang="en-US" dirty="0" smtClean="0"/>
              <a:t>Generate a local WSDL to test Guidewire published web services</a:t>
            </a:r>
          </a:p>
          <a:p>
            <a:endParaRPr lang="en-US" dirty="0"/>
          </a:p>
        </p:txBody>
      </p:sp>
      <p:pic>
        <p:nvPicPr>
          <p:cNvPr id="128" name="icn GWRE prod"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9200" y="1288957"/>
            <a:ext cx="979488" cy="97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0" name="lbl Prod Ws"/>
          <p:cNvSpPr txBox="1">
            <a:spLocks noChangeArrowheads="1"/>
          </p:cNvSpPr>
          <p:nvPr/>
        </p:nvSpPr>
        <p:spPr bwMode="auto">
          <a:xfrm>
            <a:off x="2868613" y="2665319"/>
            <a:ext cx="178435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web service</a:t>
            </a:r>
          </a:p>
        </p:txBody>
      </p:sp>
      <p:sp>
        <p:nvSpPr>
          <p:cNvPr id="171" name="lbl Prod WSDL"/>
          <p:cNvSpPr txBox="1">
            <a:spLocks noChangeArrowheads="1"/>
          </p:cNvSpPr>
          <p:nvPr/>
        </p:nvSpPr>
        <p:spPr bwMode="auto">
          <a:xfrm>
            <a:off x="5964238" y="2649444"/>
            <a:ext cx="1058862"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a:solidFill>
                  <a:schemeClr val="bg1"/>
                </a:solidFill>
              </a:rPr>
              <a:t>WSDL</a:t>
            </a:r>
          </a:p>
        </p:txBody>
      </p:sp>
      <p:sp>
        <p:nvSpPr>
          <p:cNvPr id="172" name="lbl Prod Row Header"/>
          <p:cNvSpPr txBox="1">
            <a:spLocks noChangeArrowheads="1"/>
          </p:cNvSpPr>
          <p:nvPr/>
        </p:nvSpPr>
        <p:spPr bwMode="auto">
          <a:xfrm>
            <a:off x="795338" y="1923957"/>
            <a:ext cx="143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Production</a:t>
            </a:r>
          </a:p>
        </p:txBody>
      </p:sp>
      <p:sp>
        <p:nvSpPr>
          <p:cNvPr id="223" name="lb Consumer Col ehader"/>
          <p:cNvSpPr txBox="1">
            <a:spLocks noChangeArrowheads="1"/>
          </p:cNvSpPr>
          <p:nvPr/>
        </p:nvSpPr>
        <p:spPr bwMode="auto">
          <a:xfrm>
            <a:off x="6289675" y="847632"/>
            <a:ext cx="143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Consumer</a:t>
            </a:r>
          </a:p>
        </p:txBody>
      </p:sp>
      <p:sp>
        <p:nvSpPr>
          <p:cNvPr id="222" name="lb Pub Col Header"/>
          <p:cNvSpPr txBox="1">
            <a:spLocks noChangeArrowheads="1"/>
          </p:cNvSpPr>
          <p:nvPr/>
        </p:nvSpPr>
        <p:spPr bwMode="auto">
          <a:xfrm>
            <a:off x="2974975" y="847632"/>
            <a:ext cx="143510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a:solidFill>
                  <a:schemeClr val="bg1"/>
                </a:solidFill>
              </a:rPr>
              <a:t>Publisher</a:t>
            </a:r>
          </a:p>
        </p:txBody>
      </p:sp>
      <p:sp>
        <p:nvSpPr>
          <p:cNvPr id="224" name="arrow Prod Con-Pub"/>
          <p:cNvSpPr>
            <a:spLocks/>
          </p:cNvSpPr>
          <p:nvPr/>
        </p:nvSpPr>
        <p:spPr bwMode="auto">
          <a:xfrm>
            <a:off x="4238625" y="1887444"/>
            <a:ext cx="1895475" cy="307975"/>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173" name="rec Prod Pub"/>
          <p:cNvSpPr>
            <a:spLocks noChangeArrowheads="1"/>
          </p:cNvSpPr>
          <p:nvPr/>
        </p:nvSpPr>
        <p:spPr bwMode="auto">
          <a:xfrm>
            <a:off x="2227263" y="1241332"/>
            <a:ext cx="2932112" cy="180022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sp>
        <p:nvSpPr>
          <p:cNvPr id="221" name="lb Extern al Sys Pord"/>
          <p:cNvSpPr txBox="1">
            <a:spLocks noChangeArrowheads="1"/>
          </p:cNvSpPr>
          <p:nvPr/>
        </p:nvSpPr>
        <p:spPr bwMode="auto">
          <a:xfrm>
            <a:off x="7526338" y="1596932"/>
            <a:ext cx="1089025"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a:solidFill>
                  <a:schemeClr val="bg1"/>
                </a:solidFill>
              </a:rPr>
              <a:t>external</a:t>
            </a:r>
            <a:br>
              <a:rPr lang="en-US" sz="1800">
                <a:solidFill>
                  <a:schemeClr val="bg1"/>
                </a:solidFill>
              </a:rPr>
            </a:br>
            <a:r>
              <a:rPr lang="en-US" sz="1800">
                <a:solidFill>
                  <a:schemeClr val="bg1"/>
                </a:solidFill>
              </a:rPr>
              <a:t>system</a:t>
            </a:r>
          </a:p>
        </p:txBody>
      </p:sp>
      <p:sp>
        <p:nvSpPr>
          <p:cNvPr id="225" name="arrow Test Con-Pub"/>
          <p:cNvSpPr>
            <a:spLocks/>
          </p:cNvSpPr>
          <p:nvPr/>
        </p:nvSpPr>
        <p:spPr bwMode="auto">
          <a:xfrm>
            <a:off x="4238625" y="3897219"/>
            <a:ext cx="1895475" cy="307975"/>
          </a:xfrm>
          <a:custGeom>
            <a:avLst/>
            <a:gdLst>
              <a:gd name="T0" fmla="*/ 2147483647 w 1931"/>
              <a:gd name="T1" fmla="*/ 0 h 137"/>
              <a:gd name="T2" fmla="*/ 2147483647 w 1931"/>
              <a:gd name="T3" fmla="*/ 2147483647 h 137"/>
              <a:gd name="T4" fmla="*/ 2147483647 w 1931"/>
              <a:gd name="T5" fmla="*/ 2147483647 h 137"/>
              <a:gd name="T6" fmla="*/ 2147483647 w 1931"/>
              <a:gd name="T7" fmla="*/ 2147483647 h 137"/>
              <a:gd name="T8" fmla="*/ 2147483647 w 1931"/>
              <a:gd name="T9" fmla="*/ 2147483647 h 137"/>
              <a:gd name="T10" fmla="*/ 0 w 1931"/>
              <a:gd name="T11" fmla="*/ 2147483647 h 137"/>
              <a:gd name="T12" fmla="*/ 2147483647 w 1931"/>
              <a:gd name="T13" fmla="*/ 2147483647 h 137"/>
              <a:gd name="T14" fmla="*/ 2147483647 w 1931"/>
              <a:gd name="T15" fmla="*/ 2147483647 h 137"/>
              <a:gd name="T16" fmla="*/ 2147483647 w 1931"/>
              <a:gd name="T17" fmla="*/ 2147483647 h 137"/>
              <a:gd name="T18" fmla="*/ 2147483647 w 1931"/>
              <a:gd name="T19" fmla="*/ 2147483647 h 137"/>
              <a:gd name="T20" fmla="*/ 2147483647 w 1931"/>
              <a:gd name="T21" fmla="*/ 2147483647 h 137"/>
              <a:gd name="T22" fmla="*/ 0 60000 65536"/>
              <a:gd name="T23" fmla="*/ 0 60000 65536"/>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w 1931"/>
              <a:gd name="T34" fmla="*/ 0 h 137"/>
              <a:gd name="T35" fmla="*/ 1931 w 1931"/>
              <a:gd name="T36" fmla="*/ 137 h 137"/>
            </a:gdLst>
            <a:ahLst/>
            <a:cxnLst>
              <a:cxn ang="T22">
                <a:pos x="T0" y="T1"/>
              </a:cxn>
              <a:cxn ang="T23">
                <a:pos x="T2" y="T3"/>
              </a:cxn>
              <a:cxn ang="T24">
                <a:pos x="T4" y="T5"/>
              </a:cxn>
              <a:cxn ang="T25">
                <a:pos x="T6" y="T7"/>
              </a:cxn>
              <a:cxn ang="T26">
                <a:pos x="T8" y="T9"/>
              </a:cxn>
              <a:cxn ang="T27">
                <a:pos x="T10" y="T11"/>
              </a:cxn>
              <a:cxn ang="T28">
                <a:pos x="T12" y="T13"/>
              </a:cxn>
              <a:cxn ang="T29">
                <a:pos x="T14" y="T15"/>
              </a:cxn>
              <a:cxn ang="T30">
                <a:pos x="T16" y="T17"/>
              </a:cxn>
              <a:cxn ang="T31">
                <a:pos x="T18" y="T19"/>
              </a:cxn>
              <a:cxn ang="T32">
                <a:pos x="T20" y="T21"/>
              </a:cxn>
            </a:cxnLst>
            <a:rect l="T33" t="T34" r="T35" b="T36"/>
            <a:pathLst>
              <a:path w="1931" h="137">
                <a:moveTo>
                  <a:pt x="1931" y="0"/>
                </a:moveTo>
                <a:lnTo>
                  <a:pt x="80" y="2"/>
                </a:lnTo>
                <a:lnTo>
                  <a:pt x="47" y="5"/>
                </a:lnTo>
                <a:lnTo>
                  <a:pt x="21" y="20"/>
                </a:lnTo>
                <a:lnTo>
                  <a:pt x="6" y="44"/>
                </a:lnTo>
                <a:lnTo>
                  <a:pt x="0" y="74"/>
                </a:lnTo>
                <a:lnTo>
                  <a:pt x="6" y="104"/>
                </a:lnTo>
                <a:lnTo>
                  <a:pt x="27" y="122"/>
                </a:lnTo>
                <a:lnTo>
                  <a:pt x="44" y="134"/>
                </a:lnTo>
                <a:lnTo>
                  <a:pt x="71" y="137"/>
                </a:lnTo>
                <a:lnTo>
                  <a:pt x="1930" y="137"/>
                </a:lnTo>
              </a:path>
            </a:pathLst>
          </a:custGeom>
          <a:noFill/>
          <a:ln w="28575">
            <a:solidFill>
              <a:schemeClr val="accent1"/>
            </a:solidFill>
            <a:round/>
            <a:headEnd/>
            <a:tailEnd type="triangle" w="med" len="me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lIns="0" tIns="0" rIns="0" bIns="0" anchor="ctr">
            <a:spAutoFit/>
          </a:bodyPr>
          <a:lstStyle/>
          <a:p>
            <a:endParaRPr lang="en-US"/>
          </a:p>
        </p:txBody>
      </p:sp>
      <p:pic>
        <p:nvPicPr>
          <p:cNvPr id="174" name="icon GWRE test" descr="icon_TrainingApp"/>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1263" y="3227294"/>
            <a:ext cx="979487" cy="977900"/>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6" name="lb WS test"/>
          <p:cNvSpPr txBox="1">
            <a:spLocks noChangeArrowheads="1"/>
          </p:cNvSpPr>
          <p:nvPr/>
        </p:nvSpPr>
        <p:spPr bwMode="auto">
          <a:xfrm>
            <a:off x="2868613" y="4664457"/>
            <a:ext cx="1784350"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eaLnBrk="1" hangingPunct="1"/>
            <a:r>
              <a:rPr lang="en-US" sz="1800" dirty="0">
                <a:solidFill>
                  <a:schemeClr val="bg1"/>
                </a:solidFill>
              </a:rPr>
              <a:t>web service</a:t>
            </a:r>
          </a:p>
        </p:txBody>
      </p:sp>
      <p:sp>
        <p:nvSpPr>
          <p:cNvPr id="217" name="lbl Local WSDL test"/>
          <p:cNvSpPr txBox="1">
            <a:spLocks noChangeArrowheads="1"/>
          </p:cNvSpPr>
          <p:nvPr/>
        </p:nvSpPr>
        <p:spPr bwMode="auto">
          <a:xfrm>
            <a:off x="5851525" y="4664457"/>
            <a:ext cx="1306513" cy="274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local WSDL</a:t>
            </a:r>
          </a:p>
        </p:txBody>
      </p:sp>
      <p:sp>
        <p:nvSpPr>
          <p:cNvPr id="218" name="lb Test Row Header"/>
          <p:cNvSpPr txBox="1">
            <a:spLocks noChangeArrowheads="1"/>
          </p:cNvSpPr>
          <p:nvPr/>
        </p:nvSpPr>
        <p:spPr bwMode="auto">
          <a:xfrm>
            <a:off x="787400" y="3862294"/>
            <a:ext cx="9286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a:solidFill>
                  <a:schemeClr val="bg1"/>
                </a:solidFill>
              </a:rPr>
              <a:t>Test</a:t>
            </a:r>
          </a:p>
        </p:txBody>
      </p:sp>
      <p:sp>
        <p:nvSpPr>
          <p:cNvPr id="219" name="rec Test"/>
          <p:cNvSpPr>
            <a:spLocks noChangeArrowheads="1"/>
          </p:cNvSpPr>
          <p:nvPr/>
        </p:nvSpPr>
        <p:spPr bwMode="auto">
          <a:xfrm>
            <a:off x="2219325" y="3179669"/>
            <a:ext cx="6619875" cy="1800225"/>
          </a:xfrm>
          <a:prstGeom prst="rect">
            <a:avLst/>
          </a:prstGeom>
          <a:noFill/>
          <a:ln w="12700" algn="ctr">
            <a:solidFill>
              <a:schemeClr val="bg1"/>
            </a:solidFill>
            <a:miter lim="800000"/>
            <a:headEnd/>
            <a:tailEnd/>
          </a:ln>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220" name="lb Test Code Test"/>
          <p:cNvSpPr txBox="1">
            <a:spLocks noChangeArrowheads="1"/>
          </p:cNvSpPr>
          <p:nvPr/>
        </p:nvSpPr>
        <p:spPr bwMode="auto">
          <a:xfrm>
            <a:off x="7848600" y="3724975"/>
            <a:ext cx="798513" cy="830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lgn="ctr">
                <a:solidFill>
                  <a:srgbClr val="000000"/>
                </a:solidFill>
                <a:miter lim="800000"/>
                <a:headEnd/>
                <a:tailEnd/>
              </a14:hiddenLine>
            </a:ext>
          </a:extLst>
        </p:spPr>
        <p:txBody>
          <a:bodyPr lIns="0" tIns="0" rIns="0" bIns="0">
            <a:spAutoFit/>
          </a:bodyPr>
          <a:lstStyle>
            <a:lvl1pPr eaLnBrk="0" hangingPunct="0">
              <a:defRPr sz="2000" b="1">
                <a:solidFill>
                  <a:srgbClr val="FF0000"/>
                </a:solidFill>
                <a:latin typeface="Arial" charset="0"/>
              </a:defRPr>
            </a:lvl1pPr>
            <a:lvl2pPr marL="742950" indent="-285750" eaLnBrk="0" hangingPunct="0">
              <a:defRPr sz="2000" b="1">
                <a:solidFill>
                  <a:srgbClr val="FF0000"/>
                </a:solidFill>
                <a:latin typeface="Arial" charset="0"/>
              </a:defRPr>
            </a:lvl2pPr>
            <a:lvl3pPr marL="1143000" indent="-228600" eaLnBrk="0" hangingPunct="0">
              <a:defRPr sz="2000" b="1">
                <a:solidFill>
                  <a:srgbClr val="FF0000"/>
                </a:solidFill>
                <a:latin typeface="Arial" charset="0"/>
              </a:defRPr>
            </a:lvl3pPr>
            <a:lvl4pPr marL="1600200" indent="-228600" eaLnBrk="0" hangingPunct="0">
              <a:defRPr sz="2000" b="1">
                <a:solidFill>
                  <a:srgbClr val="FF0000"/>
                </a:solidFill>
                <a:latin typeface="Arial" charset="0"/>
              </a:defRPr>
            </a:lvl4pPr>
            <a:lvl5pPr marL="2057400" indent="-228600" eaLnBrk="0" hangingPunct="0">
              <a:defRPr sz="2000" b="1">
                <a:solidFill>
                  <a:srgbClr val="FF0000"/>
                </a:solidFill>
                <a:latin typeface="Arial" charset="0"/>
              </a:defRPr>
            </a:lvl5pPr>
            <a:lvl6pPr marL="2514600" indent="-228600" algn="ctr" eaLnBrk="0" fontAlgn="base" hangingPunct="0">
              <a:spcBef>
                <a:spcPct val="50000"/>
              </a:spcBef>
              <a:spcAft>
                <a:spcPct val="30000"/>
              </a:spcAft>
              <a:buClr>
                <a:schemeClr val="tx1"/>
              </a:buClr>
              <a:defRPr sz="2000" b="1">
                <a:solidFill>
                  <a:srgbClr val="FF0000"/>
                </a:solidFill>
                <a:latin typeface="Arial" charset="0"/>
              </a:defRPr>
            </a:lvl6pPr>
            <a:lvl7pPr marL="2971800" indent="-228600" algn="ctr" eaLnBrk="0" fontAlgn="base" hangingPunct="0">
              <a:spcBef>
                <a:spcPct val="50000"/>
              </a:spcBef>
              <a:spcAft>
                <a:spcPct val="30000"/>
              </a:spcAft>
              <a:buClr>
                <a:schemeClr val="tx1"/>
              </a:buClr>
              <a:defRPr sz="2000" b="1">
                <a:solidFill>
                  <a:srgbClr val="FF0000"/>
                </a:solidFill>
                <a:latin typeface="Arial" charset="0"/>
              </a:defRPr>
            </a:lvl7pPr>
            <a:lvl8pPr marL="3429000" indent="-228600" algn="ctr" eaLnBrk="0" fontAlgn="base" hangingPunct="0">
              <a:spcBef>
                <a:spcPct val="50000"/>
              </a:spcBef>
              <a:spcAft>
                <a:spcPct val="30000"/>
              </a:spcAft>
              <a:buClr>
                <a:schemeClr val="tx1"/>
              </a:buClr>
              <a:defRPr sz="2000" b="1">
                <a:solidFill>
                  <a:srgbClr val="FF0000"/>
                </a:solidFill>
                <a:latin typeface="Arial" charset="0"/>
              </a:defRPr>
            </a:lvl8pPr>
            <a:lvl9pPr marL="3886200" indent="-228600" algn="ctr" eaLnBrk="0" fontAlgn="base" hangingPunct="0">
              <a:spcBef>
                <a:spcPct val="50000"/>
              </a:spcBef>
              <a:spcAft>
                <a:spcPct val="30000"/>
              </a:spcAft>
              <a:buClr>
                <a:schemeClr val="tx1"/>
              </a:buClr>
              <a:defRPr sz="2000" b="1">
                <a:solidFill>
                  <a:srgbClr val="FF0000"/>
                </a:solidFill>
                <a:latin typeface="Arial" charset="0"/>
              </a:defRPr>
            </a:lvl9pPr>
          </a:lstStyle>
          <a:p>
            <a:pPr algn="l" eaLnBrk="1" hangingPunct="1"/>
            <a:r>
              <a:rPr lang="en-US" sz="1800" dirty="0" smtClean="0">
                <a:solidFill>
                  <a:schemeClr val="bg1"/>
                </a:solidFill>
              </a:rPr>
              <a:t>Gosu</a:t>
            </a:r>
            <a:br>
              <a:rPr lang="en-US" sz="1800" dirty="0" smtClean="0">
                <a:solidFill>
                  <a:schemeClr val="bg1"/>
                </a:solidFill>
              </a:rPr>
            </a:br>
            <a:r>
              <a:rPr lang="en-US" sz="1800" dirty="0" smtClean="0">
                <a:solidFill>
                  <a:schemeClr val="bg1"/>
                </a:solidFill>
              </a:rPr>
              <a:t>test</a:t>
            </a:r>
            <a:r>
              <a:rPr lang="en-US" sz="1800" dirty="0">
                <a:solidFill>
                  <a:schemeClr val="bg1"/>
                </a:solidFill>
              </a:rPr>
              <a:t/>
            </a:r>
            <a:br>
              <a:rPr lang="en-US" sz="1800" dirty="0">
                <a:solidFill>
                  <a:schemeClr val="bg1"/>
                </a:solidFill>
              </a:rPr>
            </a:br>
            <a:r>
              <a:rPr lang="en-US" sz="1800" dirty="0">
                <a:solidFill>
                  <a:schemeClr val="bg1"/>
                </a:solidFill>
              </a:rPr>
              <a:t>code</a:t>
            </a:r>
          </a:p>
        </p:txBody>
      </p:sp>
      <p:pic>
        <p:nvPicPr>
          <p:cNvPr id="226"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5618" y="1718484"/>
            <a:ext cx="951107" cy="10110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7" name="Picture 2"/>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355618" y="3657600"/>
            <a:ext cx="951107" cy="1011078"/>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8"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4100" y="1776969"/>
            <a:ext cx="842169" cy="8821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29" name="Picture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34100" y="3794073"/>
            <a:ext cx="842169" cy="882123"/>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9" name="Picture 5"/>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858000" y="3324338"/>
            <a:ext cx="941923" cy="1075912"/>
          </a:xfrm>
          <a:prstGeom prst="rect">
            <a:avLst/>
          </a:prstGeom>
          <a:noFill/>
          <a:ln>
            <a:noFill/>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087768639"/>
      </p:ext>
    </p:extLst>
  </p:cSld>
  <p:clrMapOvr>
    <a:masterClrMapping/>
  </p:clrMapOvr>
  <p:transition/>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AutoShape 7"/>
          <p:cNvSpPr>
            <a:spLocks noChangeArrowheads="1"/>
          </p:cNvSpPr>
          <p:nvPr/>
        </p:nvSpPr>
        <p:spPr bwMode="auto">
          <a:xfrm>
            <a:off x="7299237" y="5044281"/>
            <a:ext cx="1438363" cy="274638"/>
          </a:xfrm>
          <a:prstGeom prst="roundRect">
            <a:avLst>
              <a:gd name="adj" fmla="val 16667"/>
            </a:avLst>
          </a:prstGeom>
          <a:solidFill>
            <a:schemeClr val="tx1"/>
          </a:solidFill>
          <a:ln w="28575" algn="ctr">
            <a:solidFill>
              <a:schemeClr val="tx1"/>
            </a:solidFill>
            <a:round/>
            <a:headEnd/>
            <a:tailEnd/>
          </a:ln>
          <a:effectLst/>
          <a:extLst/>
        </p:spPr>
        <p:txBody>
          <a:bodyPr wrap="square" lIns="0" tIns="0" rIns="0" bIns="0" anchor="ctr">
            <a:spAutoFit/>
          </a:bodyPr>
          <a:lstStyle/>
          <a:p>
            <a:endParaRPr lang="en-US"/>
          </a:p>
        </p:txBody>
      </p:sp>
      <p:sp>
        <p:nvSpPr>
          <p:cNvPr id="2" name="Title 1"/>
          <p:cNvSpPr>
            <a:spLocks noGrp="1"/>
          </p:cNvSpPr>
          <p:nvPr>
            <p:ph type="title"/>
          </p:nvPr>
        </p:nvSpPr>
        <p:spPr/>
        <p:txBody>
          <a:bodyPr/>
          <a:lstStyle/>
          <a:p>
            <a:r>
              <a:rPr lang="en-US" dirty="0"/>
              <a:t>WSDL </a:t>
            </a:r>
            <a:r>
              <a:rPr lang="en-US" dirty="0" smtClean="0"/>
              <a:t>generator </a:t>
            </a:r>
            <a:r>
              <a:rPr lang="en-US" dirty="0"/>
              <a:t>for </a:t>
            </a:r>
            <a:r>
              <a:rPr lang="en-US" dirty="0" smtClean="0"/>
              <a:t>local web services</a:t>
            </a:r>
            <a:endParaRPr lang="en-US" dirty="0"/>
          </a:p>
        </p:txBody>
      </p:sp>
      <p:sp>
        <p:nvSpPr>
          <p:cNvPr id="3" name="Content Placeholder 2"/>
          <p:cNvSpPr>
            <a:spLocks noGrp="1"/>
          </p:cNvSpPr>
          <p:nvPr>
            <p:ph sz="half" idx="1"/>
          </p:nvPr>
        </p:nvSpPr>
        <p:spPr/>
        <p:txBody>
          <a:bodyPr/>
          <a:lstStyle/>
          <a:p>
            <a:r>
              <a:rPr lang="en-US" b="1" dirty="0" err="1">
                <a:latin typeface="Courier New" pitchFamily="49" charset="0"/>
                <a:cs typeface="Courier New" pitchFamily="49" charset="0"/>
              </a:rPr>
              <a:t>gwXX</a:t>
            </a:r>
            <a:r>
              <a:rPr lang="en-US" b="1" dirty="0">
                <a:latin typeface="Courier New" pitchFamily="49" charset="0"/>
                <a:cs typeface="Courier New" pitchFamily="49" charset="0"/>
              </a:rPr>
              <a:t> </a:t>
            </a:r>
            <a:r>
              <a:rPr lang="en-US" b="1" dirty="0" err="1">
                <a:latin typeface="Courier New" pitchFamily="49" charset="0"/>
                <a:cs typeface="Courier New" pitchFamily="49" charset="0"/>
              </a:rPr>
              <a:t>regen</a:t>
            </a:r>
            <a:r>
              <a:rPr lang="en-US" b="1" dirty="0">
                <a:latin typeface="Courier New" pitchFamily="49" charset="0"/>
                <a:cs typeface="Courier New" pitchFamily="49" charset="0"/>
              </a:rPr>
              <a:t>-</a:t>
            </a:r>
            <a:r>
              <a:rPr lang="en-US" b="1" dirty="0" err="1">
                <a:latin typeface="Courier New" pitchFamily="49" charset="0"/>
                <a:cs typeface="Courier New" pitchFamily="49" charset="0"/>
              </a:rPr>
              <a:t>wsi</a:t>
            </a:r>
            <a:r>
              <a:rPr lang="en-US" b="1" dirty="0">
                <a:latin typeface="Courier New" pitchFamily="49" charset="0"/>
                <a:cs typeface="Courier New" pitchFamily="49" charset="0"/>
              </a:rPr>
              <a:t>-local </a:t>
            </a:r>
          </a:p>
          <a:p>
            <a:pPr lvl="1"/>
            <a:r>
              <a:rPr lang="en-US" dirty="0" smtClean="0"/>
              <a:t>Run from command line</a:t>
            </a:r>
          </a:p>
          <a:p>
            <a:r>
              <a:rPr lang="en-US" dirty="0" smtClean="0"/>
              <a:t>Generates local WSDLs </a:t>
            </a:r>
            <a:r>
              <a:rPr lang="en-US" dirty="0"/>
              <a:t>for all web </a:t>
            </a:r>
            <a:r>
              <a:rPr lang="en-US" dirty="0" smtClean="0"/>
              <a:t>services</a:t>
            </a:r>
          </a:p>
          <a:p>
            <a:pPr lvl="1"/>
            <a:r>
              <a:rPr lang="en-US" b="1" dirty="0" err="1" smtClean="0">
                <a:latin typeface="Courier New" pitchFamily="49" charset="0"/>
                <a:cs typeface="Courier New" pitchFamily="49" charset="0"/>
              </a:rPr>
              <a:t>gsrc</a:t>
            </a:r>
            <a:r>
              <a:rPr lang="en-US" b="1" dirty="0" smtClean="0">
                <a:latin typeface="Courier New" pitchFamily="49" charset="0"/>
                <a:cs typeface="Courier New" pitchFamily="49" charset="0"/>
              </a:rPr>
              <a:t>/</a:t>
            </a:r>
            <a:r>
              <a:rPr lang="en-US" b="1" dirty="0" err="1" smtClean="0">
                <a:latin typeface="Courier New" pitchFamily="49" charset="0"/>
                <a:cs typeface="Courier New" pitchFamily="49" charset="0"/>
              </a:rPr>
              <a:t>wsi</a:t>
            </a:r>
            <a:r>
              <a:rPr lang="en-US" b="1" dirty="0" smtClean="0">
                <a:latin typeface="Courier New" pitchFamily="49" charset="0"/>
                <a:cs typeface="Courier New" pitchFamily="49" charset="0"/>
              </a:rPr>
              <a:t>/local/ </a:t>
            </a:r>
          </a:p>
          <a:p>
            <a:r>
              <a:rPr lang="en-US" dirty="0" smtClean="0"/>
              <a:t>Restart the Guidewire application</a:t>
            </a:r>
            <a:endParaRPr lang="en-US" dirty="0"/>
          </a:p>
        </p:txBody>
      </p:sp>
      <p:pic>
        <p:nvPicPr>
          <p:cNvPr id="1028" name="Picture 4" descr="C:\Users\sluersen\AppData\Local\Temp\SNAGHTML1326453.PN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400" y="4343400"/>
            <a:ext cx="6771785" cy="205740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8" name="AutoShape 7"/>
          <p:cNvSpPr>
            <a:spLocks noChangeArrowheads="1"/>
          </p:cNvSpPr>
          <p:nvPr/>
        </p:nvSpPr>
        <p:spPr bwMode="auto">
          <a:xfrm>
            <a:off x="3286037" y="4818142"/>
            <a:ext cx="1438363" cy="214154"/>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9" name="Elbow Connector 8"/>
          <p:cNvCxnSpPr>
            <a:stCxn id="8" idx="2"/>
            <a:endCxn id="11" idx="2"/>
          </p:cNvCxnSpPr>
          <p:nvPr/>
        </p:nvCxnSpPr>
        <p:spPr bwMode="auto">
          <a:xfrm rot="16200000" flipH="1">
            <a:off x="5868508" y="3169007"/>
            <a:ext cx="286623" cy="4013200"/>
          </a:xfrm>
          <a:prstGeom prst="bentConnector3">
            <a:avLst>
              <a:gd name="adj1" fmla="val 179756"/>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pic>
        <p:nvPicPr>
          <p:cNvPr id="4098"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86306" y="848519"/>
            <a:ext cx="3763994" cy="44577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478160284"/>
      </p:ext>
    </p:extLst>
  </p:cSld>
  <p:clrMapOvr>
    <a:masterClrMapping/>
  </p:clrMapOvr>
  <p:transition/>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GreyLineNumbers"/>
          <p:cNvSpPr/>
          <p:nvPr/>
        </p:nvSpPr>
        <p:spPr bwMode="auto">
          <a:xfrm>
            <a:off x="368300" y="914401"/>
            <a:ext cx="393700" cy="2923876"/>
          </a:xfrm>
          <a:prstGeom prst="rect">
            <a:avLst/>
          </a:prstGeom>
          <a:solidFill>
            <a:schemeClr val="tx1">
              <a:lumMod val="85000"/>
            </a:schemeClr>
          </a:solidFill>
          <a:ln w="19050" algn="ctr">
            <a:solidFill>
              <a:schemeClr val="tx1">
                <a:lumMod val="8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2" name="Title 1"/>
          <p:cNvSpPr>
            <a:spLocks noGrp="1"/>
          </p:cNvSpPr>
          <p:nvPr>
            <p:ph type="title"/>
          </p:nvPr>
        </p:nvSpPr>
        <p:spPr/>
        <p:txBody>
          <a:bodyPr/>
          <a:lstStyle/>
          <a:p>
            <a:r>
              <a:rPr lang="en-US" dirty="0" smtClean="0"/>
              <a:t>WSDL local test example</a:t>
            </a:r>
            <a:endParaRPr lang="en-US" dirty="0"/>
          </a:p>
        </p:txBody>
      </p:sp>
      <p:sp>
        <p:nvSpPr>
          <p:cNvPr id="3" name="Content Placeholder 2"/>
          <p:cNvSpPr>
            <a:spLocks noGrp="1"/>
          </p:cNvSpPr>
          <p:nvPr>
            <p:ph idx="1"/>
          </p:nvPr>
        </p:nvSpPr>
        <p:spPr>
          <a:xfrm>
            <a:off x="519112" y="4038600"/>
            <a:ext cx="8472488" cy="2362200"/>
          </a:xfrm>
        </p:spPr>
        <p:txBody>
          <a:bodyPr/>
          <a:lstStyle/>
          <a:p>
            <a:r>
              <a:rPr lang="en-US" dirty="0" smtClean="0">
                <a:cs typeface="Courier New" pitchFamily="49" charset="0"/>
              </a:rPr>
              <a:t>Syntax </a:t>
            </a:r>
            <a:r>
              <a:rPr lang="en-US" dirty="0">
                <a:cs typeface="Courier New" pitchFamily="49" charset="0"/>
              </a:rPr>
              <a:t>to create an API instance from a local test WSDL</a:t>
            </a:r>
          </a:p>
          <a:p>
            <a:pPr lvl="1"/>
            <a:r>
              <a:rPr lang="en-US" b="1" dirty="0">
                <a:latin typeface="Courier New" pitchFamily="49" charset="0"/>
                <a:cs typeface="Courier New" pitchFamily="49" charset="0"/>
              </a:rPr>
              <a:t>var API = new </a:t>
            </a:r>
            <a:r>
              <a:rPr lang="en-US" b="1" dirty="0" err="1">
                <a:latin typeface="Courier New" pitchFamily="49" charset="0"/>
                <a:cs typeface="Courier New" pitchFamily="49" charset="0"/>
              </a:rPr>
              <a:t>wsi.local.package.class.Service</a:t>
            </a:r>
            <a:r>
              <a:rPr lang="en-US" b="1" dirty="0">
                <a:latin typeface="Courier New" pitchFamily="49" charset="0"/>
                <a:cs typeface="Courier New" pitchFamily="49" charset="0"/>
              </a:rPr>
              <a:t>()</a:t>
            </a:r>
          </a:p>
          <a:p>
            <a:r>
              <a:rPr lang="en-US" dirty="0">
                <a:cs typeface="Courier New" pitchFamily="49" charset="0"/>
              </a:rPr>
              <a:t>Debug Server </a:t>
            </a:r>
            <a:r>
              <a:rPr lang="en-US" dirty="0" smtClean="0">
                <a:cs typeface="Courier New" pitchFamily="49" charset="0"/>
                <a:sym typeface="Wingdings" pitchFamily="2" charset="2"/>
              </a:rPr>
              <a:t>  </a:t>
            </a:r>
            <a:br>
              <a:rPr lang="en-US" dirty="0" smtClean="0">
                <a:cs typeface="Courier New" pitchFamily="49" charset="0"/>
                <a:sym typeface="Wingdings" pitchFamily="2" charset="2"/>
              </a:rPr>
            </a:br>
            <a:r>
              <a:rPr lang="en-US" dirty="0" smtClean="0">
                <a:cs typeface="Courier New" pitchFamily="49" charset="0"/>
                <a:sym typeface="Wingdings" pitchFamily="2" charset="2"/>
              </a:rPr>
              <a:t>Gosu </a:t>
            </a:r>
            <a:r>
              <a:rPr lang="en-US" dirty="0">
                <a:cs typeface="Courier New" pitchFamily="49" charset="0"/>
                <a:sym typeface="Wingdings" pitchFamily="2" charset="2"/>
              </a:rPr>
              <a:t>Scratchpad  </a:t>
            </a:r>
            <a:r>
              <a:rPr lang="en-US" dirty="0" smtClean="0">
                <a:cs typeface="Courier New" pitchFamily="49" charset="0"/>
                <a:sym typeface="Wingdings" pitchFamily="2" charset="2"/>
              </a:rPr>
              <a:t/>
            </a:r>
            <a:br>
              <a:rPr lang="en-US" dirty="0" smtClean="0">
                <a:cs typeface="Courier New" pitchFamily="49" charset="0"/>
                <a:sym typeface="Wingdings" pitchFamily="2" charset="2"/>
              </a:rPr>
            </a:br>
            <a:r>
              <a:rPr lang="en-US" dirty="0" smtClean="0">
                <a:cs typeface="Courier New" pitchFamily="49" charset="0"/>
                <a:sym typeface="Wingdings" pitchFamily="2" charset="2"/>
              </a:rPr>
              <a:t>Run </a:t>
            </a:r>
            <a:r>
              <a:rPr lang="en-US" dirty="0">
                <a:cs typeface="Courier New" pitchFamily="49" charset="0"/>
                <a:sym typeface="Wingdings" pitchFamily="2" charset="2"/>
              </a:rPr>
              <a:t>in Debug Process  </a:t>
            </a:r>
            <a:r>
              <a:rPr lang="en-US" dirty="0" smtClean="0">
                <a:cs typeface="Courier New" pitchFamily="49" charset="0"/>
                <a:sym typeface="Wingdings" pitchFamily="2" charset="2"/>
              </a:rPr>
              <a:t/>
            </a:r>
            <a:br>
              <a:rPr lang="en-US" dirty="0" smtClean="0">
                <a:cs typeface="Courier New" pitchFamily="49" charset="0"/>
                <a:sym typeface="Wingdings" pitchFamily="2" charset="2"/>
              </a:rPr>
            </a:br>
            <a:r>
              <a:rPr lang="en-US" dirty="0" smtClean="0">
                <a:cs typeface="Courier New" pitchFamily="49" charset="0"/>
                <a:sym typeface="Wingdings" pitchFamily="2" charset="2"/>
              </a:rPr>
              <a:t>Verify Console output</a:t>
            </a:r>
            <a:endParaRPr lang="en-US" dirty="0">
              <a:cs typeface="Courier New" pitchFamily="49" charset="0"/>
              <a:sym typeface="Wingdings" pitchFamily="2" charset="2"/>
            </a:endParaRPr>
          </a:p>
          <a:p>
            <a:endParaRPr lang="en-US" dirty="0">
              <a:cs typeface="Courier New" pitchFamily="49" charset="0"/>
            </a:endParaRPr>
          </a:p>
        </p:txBody>
      </p:sp>
      <p:sp>
        <p:nvSpPr>
          <p:cNvPr id="9" name="rec Code"/>
          <p:cNvSpPr/>
          <p:nvPr/>
        </p:nvSpPr>
        <p:spPr>
          <a:xfrm>
            <a:off x="368300" y="914400"/>
            <a:ext cx="8699500" cy="2923877"/>
          </a:xfrm>
          <a:prstGeom prst="rect">
            <a:avLst/>
          </a:prstGeom>
        </p:spPr>
        <p:txBody>
          <a:bodyPr wrap="square">
            <a:spAutoFit/>
          </a:bodyPr>
          <a:lstStyle/>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1  </a:t>
            </a:r>
            <a:r>
              <a:rPr lang="en-US" sz="1600" b="1" dirty="0" smtClean="0">
                <a:solidFill>
                  <a:srgbClr val="000080"/>
                </a:solidFill>
                <a:latin typeface="Courier New"/>
                <a:ea typeface="Times New Roman"/>
                <a:cs typeface="Times New Roman"/>
              </a:rPr>
              <a:t>var </a:t>
            </a:r>
            <a:r>
              <a:rPr lang="en-US" sz="1600" b="1" dirty="0" err="1">
                <a:solidFill>
                  <a:srgbClr val="000000"/>
                </a:solidFill>
                <a:latin typeface="Courier New"/>
                <a:ea typeface="Times New Roman"/>
                <a:cs typeface="Times New Roman"/>
              </a:rPr>
              <a:t>localAPI</a:t>
            </a:r>
            <a:r>
              <a:rPr lang="en-US" sz="1600" b="1" dirty="0">
                <a:solidFill>
                  <a:srgbClr val="000000"/>
                </a:solidFill>
                <a:latin typeface="Courier New"/>
                <a:ea typeface="Times New Roman"/>
                <a:cs typeface="Times New Roman"/>
              </a:rPr>
              <a:t> = </a:t>
            </a:r>
            <a:r>
              <a:rPr lang="en-US" sz="1600" b="1" dirty="0">
                <a:solidFill>
                  <a:srgbClr val="000080"/>
                </a:solidFill>
                <a:latin typeface="Courier New"/>
                <a:ea typeface="Times New Roman"/>
                <a:cs typeface="Times New Roman"/>
              </a:rPr>
              <a:t>new </a:t>
            </a:r>
            <a:r>
              <a:rPr lang="en-US" sz="1600" b="1" dirty="0" err="1">
                <a:solidFill>
                  <a:srgbClr val="000000"/>
                </a:solidFill>
                <a:latin typeface="Courier New"/>
                <a:ea typeface="Times New Roman"/>
                <a:cs typeface="Times New Roman"/>
              </a:rPr>
              <a:t>wsi.local.acme.ta.webservice.contact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2                                      .</a:t>
            </a:r>
            <a:r>
              <a:rPr lang="en-US" sz="1600" b="1" dirty="0" err="1">
                <a:solidFill>
                  <a:srgbClr val="000000"/>
                </a:solidFill>
                <a:latin typeface="Courier New"/>
                <a:ea typeface="Times New Roman"/>
                <a:cs typeface="Times New Roman"/>
              </a:rPr>
              <a:t>contactapi.ContactAPI</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3  </a:t>
            </a:r>
            <a:r>
              <a:rPr lang="en-US" sz="1600" b="1" i="1" dirty="0" smtClean="0">
                <a:solidFill>
                  <a:srgbClr val="969696"/>
                </a:solidFill>
                <a:latin typeface="Courier New"/>
                <a:ea typeface="Times New Roman"/>
                <a:cs typeface="Times New Roman"/>
              </a:rPr>
              <a:t>// </a:t>
            </a:r>
            <a:r>
              <a:rPr lang="en-US" sz="1600" b="1" i="1" dirty="0">
                <a:solidFill>
                  <a:srgbClr val="969696"/>
                </a:solidFill>
                <a:latin typeface="Courier New"/>
                <a:ea typeface="Times New Roman"/>
                <a:cs typeface="Times New Roman"/>
              </a:rPr>
              <a:t>authentication settings</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4  </a:t>
            </a:r>
            <a:r>
              <a:rPr lang="en-US" sz="1600" b="1" dirty="0" err="1" smtClean="0">
                <a:solidFill>
                  <a:srgbClr val="000000"/>
                </a:solidFill>
                <a:latin typeface="Courier New"/>
                <a:ea typeface="Times New Roman"/>
                <a:cs typeface="Times New Roman"/>
              </a:rPr>
              <a:t>localAPI.Config.Http.Authentication.Basic.Username</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a:t>
            </a:r>
            <a:r>
              <a:rPr lang="en-US" sz="1600" b="1" dirty="0" err="1">
                <a:solidFill>
                  <a:srgbClr val="008000"/>
                </a:solidFill>
                <a:latin typeface="Courier New"/>
                <a:ea typeface="Times New Roman"/>
                <a:cs typeface="Times New Roman"/>
              </a:rPr>
              <a:t>su</a:t>
            </a:r>
            <a:r>
              <a:rPr lang="en-US" sz="1600" b="1" dirty="0">
                <a:solidFill>
                  <a:srgbClr val="008000"/>
                </a:solidFill>
                <a:latin typeface="Courier New"/>
                <a:ea typeface="Times New Roman"/>
                <a:cs typeface="Times New Roman"/>
              </a:rPr>
              <a:t>"</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5  </a:t>
            </a:r>
            <a:r>
              <a:rPr lang="en-US" sz="1600" b="1" dirty="0" err="1" smtClean="0">
                <a:solidFill>
                  <a:srgbClr val="000000"/>
                </a:solidFill>
                <a:latin typeface="Courier New"/>
                <a:ea typeface="Times New Roman"/>
                <a:cs typeface="Times New Roman"/>
              </a:rPr>
              <a:t>localAPI.Config.Http.Authentication.Basic.Password</a:t>
            </a:r>
            <a:r>
              <a:rPr lang="en-US" sz="1600" b="1" dirty="0" smtClean="0">
                <a:solidFill>
                  <a:srgbClr val="000000"/>
                </a:solidFill>
                <a:latin typeface="Courier New"/>
                <a:ea typeface="Times New Roman"/>
                <a:cs typeface="Times New Roman"/>
              </a:rPr>
              <a:t> </a:t>
            </a:r>
            <a:r>
              <a:rPr lang="en-US" sz="1600" b="1" dirty="0">
                <a:solidFill>
                  <a:srgbClr val="000000"/>
                </a:solidFill>
                <a:latin typeface="Courier New"/>
                <a:ea typeface="Times New Roman"/>
                <a:cs typeface="Times New Roman"/>
              </a:rPr>
              <a:t>= </a:t>
            </a:r>
            <a:r>
              <a:rPr lang="en-US" sz="1600" b="1" dirty="0">
                <a:solidFill>
                  <a:srgbClr val="008000"/>
                </a:solidFill>
                <a:latin typeface="Courier New"/>
                <a:ea typeface="Times New Roman"/>
                <a:cs typeface="Times New Roman"/>
              </a:rPr>
              <a:t>"gw"</a:t>
            </a:r>
            <a:r>
              <a:rPr lang="en-US" sz="1600" b="1" dirty="0">
                <a:solidFill>
                  <a:srgbClr val="000000"/>
                </a:solidFill>
                <a:latin typeface="Courier New"/>
                <a:ea typeface="Times New Roman"/>
                <a:cs typeface="Times New Roman"/>
              </a:rPr>
              <a:t> </a:t>
            </a:r>
            <a:r>
              <a:rPr lang="en-US" sz="1600" b="1" dirty="0" smtClean="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6  </a:t>
            </a:r>
            <a:r>
              <a:rPr lang="en-US" sz="1600" b="1" dirty="0">
                <a:solidFill>
                  <a:srgbClr val="000000"/>
                </a:solidFill>
                <a:latin typeface="Courier New"/>
                <a:ea typeface="Times New Roman"/>
                <a:cs typeface="Times New Roman"/>
              </a:rPr>
              <a:t>print(</a:t>
            </a:r>
            <a:r>
              <a:rPr lang="en-US" sz="1600" b="1" dirty="0" err="1">
                <a:solidFill>
                  <a:srgbClr val="000000"/>
                </a:solidFill>
                <a:latin typeface="Courier New"/>
                <a:ea typeface="Times New Roman"/>
                <a:cs typeface="Times New Roman"/>
              </a:rPr>
              <a:t>localAPI.doesContactExist</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"ab:5"</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7  </a:t>
            </a:r>
            <a:r>
              <a:rPr lang="en-US" sz="1600" b="1" dirty="0" err="1">
                <a:solidFill>
                  <a:srgbClr val="000000"/>
                </a:solidFill>
                <a:latin typeface="Courier New"/>
                <a:ea typeface="Times New Roman"/>
                <a:cs typeface="Times New Roman"/>
              </a:rPr>
              <a:t>localAPI.setContactEmail</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"ab:5"</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"test@acme.com"</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8  </a:t>
            </a:r>
            <a:r>
              <a:rPr lang="en-US" sz="1600" b="1" i="1" dirty="0" smtClean="0">
                <a:solidFill>
                  <a:srgbClr val="969696"/>
                </a:solidFill>
                <a:latin typeface="Courier New"/>
                <a:ea typeface="Times New Roman"/>
                <a:cs typeface="Times New Roman"/>
              </a:rPr>
              <a:t>// </a:t>
            </a:r>
            <a:r>
              <a:rPr lang="en-US" sz="1600" b="1" i="1" dirty="0">
                <a:solidFill>
                  <a:srgbClr val="969696"/>
                </a:solidFill>
                <a:latin typeface="Courier New"/>
                <a:ea typeface="Times New Roman"/>
                <a:cs typeface="Times New Roman"/>
              </a:rPr>
              <a:t>create </a:t>
            </a:r>
            <a:r>
              <a:rPr lang="en-US" sz="1600" b="1" i="1" dirty="0" err="1">
                <a:solidFill>
                  <a:srgbClr val="969696"/>
                </a:solidFill>
                <a:latin typeface="Courier New"/>
                <a:ea typeface="Times New Roman"/>
                <a:cs typeface="Times New Roman"/>
              </a:rPr>
              <a:t>webservice</a:t>
            </a:r>
            <a:r>
              <a:rPr lang="en-US" sz="1600" b="1" i="1" dirty="0">
                <a:solidFill>
                  <a:srgbClr val="969696"/>
                </a:solidFill>
                <a:latin typeface="Courier New"/>
                <a:ea typeface="Times New Roman"/>
                <a:cs typeface="Times New Roman"/>
              </a:rPr>
              <a:t> return type</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 9  </a:t>
            </a:r>
            <a:r>
              <a:rPr lang="en-US" sz="1600" b="1" dirty="0" smtClean="0">
                <a:solidFill>
                  <a:srgbClr val="000080"/>
                </a:solidFill>
                <a:latin typeface="Courier New"/>
                <a:ea typeface="Times New Roman"/>
                <a:cs typeface="Times New Roman"/>
              </a:rPr>
              <a:t>var </a:t>
            </a:r>
            <a:r>
              <a:rPr lang="en-US" sz="1600" b="1" dirty="0" smtClean="0">
                <a:solidFill>
                  <a:srgbClr val="000000"/>
                </a:solidFill>
                <a:latin typeface="Courier New"/>
                <a:ea typeface="Times New Roman"/>
                <a:cs typeface="Times New Roman"/>
              </a:rPr>
              <a:t>info </a:t>
            </a:r>
            <a:r>
              <a:rPr lang="en-US" sz="1600" b="1" dirty="0">
                <a:solidFill>
                  <a:srgbClr val="000000"/>
                </a:solidFill>
                <a:latin typeface="Courier New"/>
                <a:ea typeface="Times New Roman"/>
                <a:cs typeface="Times New Roman"/>
              </a:rPr>
              <a:t>= </a:t>
            </a:r>
            <a:r>
              <a:rPr lang="en-US" sz="1600" b="1" dirty="0" err="1">
                <a:solidFill>
                  <a:srgbClr val="000000"/>
                </a:solidFill>
                <a:latin typeface="Courier New"/>
                <a:ea typeface="Times New Roman"/>
                <a:cs typeface="Times New Roman"/>
              </a:rPr>
              <a:t>localAPI.getContactInfo</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"ab:5"</a:t>
            </a:r>
            <a:r>
              <a:rPr lang="en-US" sz="1600" b="1" dirty="0">
                <a:solidFill>
                  <a:srgbClr val="000000"/>
                </a:solidFill>
                <a:latin typeface="Courier New"/>
                <a:ea typeface="Times New Roman"/>
                <a:cs typeface="Times New Roman"/>
              </a:rPr>
              <a:t>) </a:t>
            </a:r>
            <a:endParaRPr lang="en-US" sz="1600" b="1" dirty="0">
              <a:latin typeface="Calibri"/>
              <a:ea typeface="Calibri"/>
              <a:cs typeface="Times New Roman"/>
            </a:endParaRPr>
          </a:p>
          <a:p>
            <a:pPr>
              <a:lnSpc>
                <a:spcPct val="115000"/>
              </a:lnSpc>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1600" b="1" dirty="0" smtClean="0">
                <a:solidFill>
                  <a:srgbClr val="000000"/>
                </a:solidFill>
                <a:latin typeface="Courier New"/>
                <a:ea typeface="Times New Roman"/>
                <a:cs typeface="Times New Roman"/>
              </a:rPr>
              <a:t>10  print</a:t>
            </a:r>
            <a:r>
              <a:rPr lang="en-US" sz="1600" b="1" dirty="0">
                <a:solidFill>
                  <a:srgbClr val="000000"/>
                </a:solidFill>
                <a:latin typeface="Courier New"/>
                <a:ea typeface="Times New Roman"/>
                <a:cs typeface="Times New Roman"/>
              </a:rPr>
              <a:t>(</a:t>
            </a:r>
            <a:r>
              <a:rPr lang="en-US" sz="1600" b="1" dirty="0">
                <a:solidFill>
                  <a:srgbClr val="008000"/>
                </a:solidFill>
                <a:latin typeface="Courier New"/>
                <a:ea typeface="Times New Roman"/>
                <a:cs typeface="Times New Roman"/>
              </a:rPr>
              <a:t>"Summary: </a:t>
            </a:r>
            <a:r>
              <a:rPr lang="en-US" sz="1600" b="1" dirty="0" smtClean="0">
                <a:solidFill>
                  <a:srgbClr val="008000"/>
                </a:solidFill>
                <a:latin typeface="Courier New"/>
                <a:ea typeface="Times New Roman"/>
                <a:cs typeface="Times New Roman"/>
              </a:rPr>
              <a:t>"</a:t>
            </a:r>
            <a:r>
              <a:rPr lang="en-US" sz="1600" b="1" dirty="0" smtClean="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info.ContactName</a:t>
            </a:r>
            <a:r>
              <a:rPr lang="en-US" sz="1600" b="1" dirty="0" smtClean="0">
                <a:solidFill>
                  <a:srgbClr val="000000"/>
                </a:solidFill>
                <a:latin typeface="Courier New"/>
                <a:ea typeface="Times New Roman"/>
                <a:cs typeface="Times New Roman"/>
              </a:rPr>
              <a:t> + </a:t>
            </a:r>
            <a:r>
              <a:rPr lang="en-US" sz="1600" b="1" dirty="0">
                <a:solidFill>
                  <a:srgbClr val="008000"/>
                </a:solidFill>
                <a:latin typeface="Courier New"/>
                <a:ea typeface="Times New Roman"/>
                <a:cs typeface="Times New Roman"/>
              </a:rPr>
              <a:t>", " </a:t>
            </a:r>
            <a:r>
              <a:rPr lang="en-US" sz="1600" b="1" dirty="0">
                <a:solidFill>
                  <a:srgbClr val="000000"/>
                </a:solidFill>
                <a:latin typeface="Courier New"/>
                <a:ea typeface="Times New Roman"/>
                <a:cs typeface="Times New Roman"/>
              </a:rPr>
              <a:t>+ </a:t>
            </a:r>
            <a:r>
              <a:rPr lang="en-US" sz="1600" b="1" dirty="0" err="1" smtClean="0">
                <a:solidFill>
                  <a:srgbClr val="000000"/>
                </a:solidFill>
                <a:latin typeface="Courier New"/>
                <a:ea typeface="Times New Roman"/>
                <a:cs typeface="Times New Roman"/>
              </a:rPr>
              <a:t>info.Email</a:t>
            </a:r>
            <a:r>
              <a:rPr lang="en-US" sz="1600" b="1" dirty="0">
                <a:solidFill>
                  <a:srgbClr val="000000"/>
                </a:solidFill>
                <a:latin typeface="Courier New"/>
                <a:ea typeface="Times New Roman"/>
                <a:cs typeface="Times New Roman"/>
              </a:rPr>
              <a:t>)</a:t>
            </a:r>
            <a:endParaRPr lang="en-US" sz="1600" b="1" dirty="0">
              <a:effectLst/>
              <a:latin typeface="Calibri"/>
              <a:ea typeface="Calibri"/>
              <a:cs typeface="Times New Roman"/>
            </a:endParaRPr>
          </a:p>
        </p:txBody>
      </p:sp>
      <p:pic>
        <p:nvPicPr>
          <p:cNvPr id="11268"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0" y="4962960"/>
            <a:ext cx="3286125" cy="1428316"/>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spTree>
    <p:extLst>
      <p:ext uri="{BB962C8B-B14F-4D97-AF65-F5344CB8AC3E}">
        <p14:creationId xmlns:p14="http://schemas.microsoft.com/office/powerpoint/2010/main" val="3345940779"/>
      </p:ext>
    </p:extLst>
  </p:cSld>
  <p:clrMapOvr>
    <a:masterClrMapping/>
  </p:clrMapOvr>
  <p:transition/>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Publishing Guidewire web services</a:t>
            </a:r>
          </a:p>
          <a:p>
            <a:r>
              <a:rPr lang="en-US" dirty="0"/>
              <a:t>Returning objects from web services</a:t>
            </a:r>
          </a:p>
          <a:p>
            <a:r>
              <a:rPr lang="en-US" dirty="0"/>
              <a:t>Testing web services</a:t>
            </a:r>
          </a:p>
          <a:p>
            <a:r>
              <a:rPr lang="en-US" dirty="0">
                <a:solidFill>
                  <a:schemeClr val="bg1"/>
                </a:solidFill>
              </a:rPr>
              <a:t>Consuming </a:t>
            </a:r>
            <a:r>
              <a:rPr lang="en-US" dirty="0" smtClean="0">
                <a:solidFill>
                  <a:schemeClr val="bg1"/>
                </a:solidFill>
              </a:rPr>
              <a:t>Guidewire published </a:t>
            </a:r>
            <a:r>
              <a:rPr lang="en-US" dirty="0">
                <a:solidFill>
                  <a:schemeClr val="bg1"/>
                </a:solidFill>
              </a:rPr>
              <a:t>web services</a:t>
            </a:r>
          </a:p>
          <a:p>
            <a:endParaRPr lang="en-US" dirty="0"/>
          </a:p>
        </p:txBody>
      </p:sp>
    </p:spTree>
    <p:extLst>
      <p:ext uri="{BB962C8B-B14F-4D97-AF65-F5344CB8AC3E}">
        <p14:creationId xmlns:p14="http://schemas.microsoft.com/office/powerpoint/2010/main" val="3038700337"/>
      </p:ext>
    </p:extLst>
  </p:cSld>
  <p:clrMapOvr>
    <a:masterClrMapping/>
  </p:clrMapOvr>
  <p:transition/>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Consuming a Guidewire web service</a:t>
            </a:r>
          </a:p>
        </p:txBody>
      </p:sp>
      <p:sp>
        <p:nvSpPr>
          <p:cNvPr id="4" name="Content Placeholder 3"/>
          <p:cNvSpPr>
            <a:spLocks noGrp="1"/>
          </p:cNvSpPr>
          <p:nvPr>
            <p:ph sz="half" idx="1"/>
          </p:nvPr>
        </p:nvSpPr>
        <p:spPr/>
        <p:txBody>
          <a:bodyPr/>
          <a:lstStyle/>
          <a:p>
            <a:r>
              <a:rPr lang="en-US" dirty="0"/>
              <a:t>For Guidewire web services called from Java:</a:t>
            </a:r>
          </a:p>
          <a:p>
            <a:pPr marL="857250" lvl="1" indent="-457200">
              <a:buFont typeface="+mj-lt"/>
              <a:buAutoNum type="arabicPeriod"/>
            </a:pPr>
            <a:r>
              <a:rPr lang="en-US" dirty="0"/>
              <a:t>Guidewire creates the WSDL</a:t>
            </a:r>
          </a:p>
          <a:p>
            <a:pPr marL="857250" lvl="1" indent="-457200">
              <a:buFont typeface="+mj-lt"/>
              <a:buAutoNum type="arabicPeriod"/>
            </a:pPr>
            <a:r>
              <a:rPr lang="en-US" dirty="0"/>
              <a:t>A third-party tool, such as Apache </a:t>
            </a:r>
            <a:r>
              <a:rPr lang="en-US" dirty="0" err="1"/>
              <a:t>CXF</a:t>
            </a:r>
            <a:r>
              <a:rPr lang="en-US" dirty="0"/>
              <a:t> or Axis, creates client code as needed from the WSDL</a:t>
            </a:r>
          </a:p>
          <a:p>
            <a:pPr marL="857250" lvl="1" indent="-457200">
              <a:buFont typeface="+mj-lt"/>
              <a:buAutoNum type="arabicPeriod"/>
            </a:pPr>
            <a:r>
              <a:rPr lang="en-US" dirty="0"/>
              <a:t>The client code must then establish a connection and call the API</a:t>
            </a:r>
          </a:p>
          <a:p>
            <a:r>
              <a:rPr lang="en-US" dirty="0"/>
              <a:t>Details for these steps vary based on the tools chosen</a:t>
            </a:r>
          </a:p>
          <a:p>
            <a:pPr lvl="1"/>
            <a:r>
              <a:rPr lang="en-US" dirty="0" smtClean="0"/>
              <a:t>Next slides show an example</a:t>
            </a:r>
            <a:endParaRPr lang="en-US" dirty="0"/>
          </a:p>
          <a:p>
            <a:endParaRPr lang="en-US" dirty="0"/>
          </a:p>
        </p:txBody>
      </p:sp>
      <p:pic>
        <p:nvPicPr>
          <p:cNvPr id="5" name="Picture 4"/>
          <p:cNvPicPr>
            <a:picLocks noChangeAspect="1" noChangeArrowheads="1"/>
          </p:cNvPicPr>
          <p:nvPr/>
        </p:nvPicPr>
        <p:blipFill rotWithShape="1">
          <a:blip r:embed="rId3">
            <a:extLst>
              <a:ext uri="{28A0092B-C50C-407E-A947-70E740481C1C}">
                <a14:useLocalDpi xmlns:a14="http://schemas.microsoft.com/office/drawing/2010/main" val="0"/>
              </a:ext>
            </a:extLst>
          </a:blip>
          <a:srcRect t="16283"/>
          <a:stretch/>
        </p:blipFill>
        <p:spPr bwMode="auto">
          <a:xfrm>
            <a:off x="5029200" y="1054100"/>
            <a:ext cx="3429000" cy="4952418"/>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0675458"/>
      </p:ext>
    </p:extLst>
  </p:cSld>
  <p:clrMapOvr>
    <a:masterClrMapping/>
  </p:clrMapOvr>
  <p:transition/>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 1: </a:t>
            </a:r>
            <a:r>
              <a:rPr lang="en-US" dirty="0" smtClean="0"/>
              <a:t>Determine WSDL URL</a:t>
            </a:r>
            <a:endParaRPr lang="en-US" dirty="0"/>
          </a:p>
        </p:txBody>
      </p:sp>
      <p:sp>
        <p:nvSpPr>
          <p:cNvPr id="3" name="Content Placeholder 2"/>
          <p:cNvSpPr>
            <a:spLocks noGrp="1"/>
          </p:cNvSpPr>
          <p:nvPr>
            <p:ph sz="half" idx="2"/>
          </p:nvPr>
        </p:nvSpPr>
        <p:spPr>
          <a:xfrm>
            <a:off x="3962400" y="914401"/>
            <a:ext cx="4875213" cy="5475289"/>
          </a:xfrm>
        </p:spPr>
        <p:txBody>
          <a:bodyPr/>
          <a:lstStyle/>
          <a:p>
            <a:r>
              <a:rPr lang="en-US" dirty="0" smtClean="0"/>
              <a:t>Find available WSDL at:</a:t>
            </a:r>
          </a:p>
          <a:p>
            <a:pPr lvl="1"/>
            <a:r>
              <a:rPr lang="en-US" b="1" dirty="0" smtClean="0">
                <a:latin typeface="Courier New" pitchFamily="49" charset="0"/>
                <a:cs typeface="Courier New" pitchFamily="49" charset="0"/>
              </a:rPr>
              <a:t>http</a:t>
            </a:r>
            <a:r>
              <a:rPr lang="en-US" b="1" dirty="0">
                <a:latin typeface="Courier New" pitchFamily="49" charset="0"/>
                <a:cs typeface="Courier New" pitchFamily="49" charset="0"/>
              </a:rPr>
              <a:t>://&lt;machine&gt;:&lt;port</a:t>
            </a:r>
            <a:r>
              <a:rPr lang="en-US" b="1" dirty="0" smtClean="0">
                <a:latin typeface="Courier New" pitchFamily="49" charset="0"/>
                <a:cs typeface="Courier New" pitchFamily="49" charset="0"/>
              </a:rPr>
              <a:t>&gt;/</a:t>
            </a:r>
            <a:br>
              <a:rPr lang="en-US" b="1" dirty="0" smtClean="0">
                <a:latin typeface="Courier New" pitchFamily="49" charset="0"/>
                <a:cs typeface="Courier New" pitchFamily="49" charset="0"/>
              </a:rPr>
            </a:br>
            <a:r>
              <a:rPr lang="en-US" b="1" dirty="0" smtClean="0">
                <a:latin typeface="Courier New" pitchFamily="49" charset="0"/>
                <a:cs typeface="Courier New" pitchFamily="49" charset="0"/>
              </a:rPr>
              <a:t>&lt;</a:t>
            </a:r>
            <a:r>
              <a:rPr lang="en-US" b="1" dirty="0" err="1">
                <a:latin typeface="Courier New" pitchFamily="49" charset="0"/>
                <a:cs typeface="Courier New" pitchFamily="49" charset="0"/>
              </a:rPr>
              <a:t>appcode</a:t>
            </a:r>
            <a:r>
              <a:rPr lang="en-US" b="1" dirty="0">
                <a:latin typeface="Courier New" pitchFamily="49" charset="0"/>
                <a:cs typeface="Courier New" pitchFamily="49" charset="0"/>
              </a:rPr>
              <a:t>&gt;/</a:t>
            </a:r>
            <a:r>
              <a:rPr lang="en-US" b="1" dirty="0" err="1">
                <a:latin typeface="Courier New" pitchFamily="49" charset="0"/>
                <a:cs typeface="Courier New" pitchFamily="49" charset="0"/>
              </a:rPr>
              <a:t>ws</a:t>
            </a:r>
            <a:endParaRPr lang="en-US" b="1" dirty="0">
              <a:latin typeface="Courier New" pitchFamily="49" charset="0"/>
              <a:cs typeface="Courier New" pitchFamily="49" charset="0"/>
            </a:endParaRPr>
          </a:p>
          <a:p>
            <a:endParaRPr lang="en-US" dirty="0"/>
          </a:p>
        </p:txBody>
      </p:sp>
      <p:pic>
        <p:nvPicPr>
          <p:cNvPr id="307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0224" y="914400"/>
            <a:ext cx="3486150" cy="3333750"/>
          </a:xfrm>
          <a:prstGeom prst="rect">
            <a:avLst/>
          </a:prstGeom>
          <a:noFill/>
          <a:ln w="9525">
            <a:solidFill>
              <a:schemeClr val="bg2"/>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chemeClr val="accent1"/>
                </a:solidFill>
              </a14:hiddenFill>
            </a:ext>
          </a:extLst>
        </p:spPr>
      </p:pic>
      <p:pic>
        <p:nvPicPr>
          <p:cNvPr id="3080" name="Picture 8" descr="C:\Users\sluersen\AppData\Local\Temp\SNAGHTML90ba5b.PNG"/>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600" y="3352800"/>
            <a:ext cx="7696200" cy="3080690"/>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AutoShape 7"/>
          <p:cNvSpPr>
            <a:spLocks noChangeArrowheads="1"/>
          </p:cNvSpPr>
          <p:nvPr/>
        </p:nvSpPr>
        <p:spPr bwMode="auto">
          <a:xfrm>
            <a:off x="2135259" y="3888015"/>
            <a:ext cx="5711682" cy="322035"/>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1" name="AutoShape 7"/>
          <p:cNvSpPr>
            <a:spLocks noChangeArrowheads="1"/>
          </p:cNvSpPr>
          <p:nvPr/>
        </p:nvSpPr>
        <p:spPr bwMode="auto">
          <a:xfrm>
            <a:off x="1914437" y="2978263"/>
            <a:ext cx="1438363" cy="274638"/>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7" name="Elbow Connector 6"/>
          <p:cNvCxnSpPr>
            <a:stCxn id="11" idx="3"/>
            <a:endCxn id="10" idx="0"/>
          </p:cNvCxnSpPr>
          <p:nvPr/>
        </p:nvCxnSpPr>
        <p:spPr bwMode="auto">
          <a:xfrm>
            <a:off x="3352800" y="3115582"/>
            <a:ext cx="1638300" cy="772433"/>
          </a:xfrm>
          <a:prstGeom prst="bentConnector2">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962356958"/>
      </p:ext>
    </p:extLst>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2: Generate code the WSDL</a:t>
            </a:r>
            <a:endParaRPr lang="en-US" dirty="0"/>
          </a:p>
        </p:txBody>
      </p:sp>
      <p:sp>
        <p:nvSpPr>
          <p:cNvPr id="4" name="Content Placeholder 3"/>
          <p:cNvSpPr>
            <a:spLocks noGrp="1"/>
          </p:cNvSpPr>
          <p:nvPr>
            <p:ph idx="1"/>
          </p:nvPr>
        </p:nvSpPr>
        <p:spPr>
          <a:xfrm>
            <a:off x="519113" y="4267200"/>
            <a:ext cx="8318500" cy="2133600"/>
          </a:xfrm>
        </p:spPr>
        <p:txBody>
          <a:bodyPr/>
          <a:lstStyle/>
          <a:p>
            <a:r>
              <a:rPr lang="en-US" dirty="0" smtClean="0"/>
              <a:t>Apache </a:t>
            </a:r>
            <a:r>
              <a:rPr lang="en-US" dirty="0" err="1" smtClean="0"/>
              <a:t>CXF</a:t>
            </a:r>
            <a:endParaRPr lang="en-US" dirty="0" smtClean="0"/>
          </a:p>
          <a:p>
            <a:pPr lvl="1"/>
            <a:r>
              <a:rPr lang="en-US" dirty="0" smtClean="0"/>
              <a:t>Open bin directory in Command Window</a:t>
            </a:r>
          </a:p>
          <a:p>
            <a:pPr lvl="1"/>
            <a:r>
              <a:rPr lang="en-US" dirty="0" smtClean="0"/>
              <a:t>Run the wsdl2java  ("</a:t>
            </a:r>
            <a:r>
              <a:rPr lang="en-US" dirty="0" err="1"/>
              <a:t>wsdl</a:t>
            </a:r>
            <a:r>
              <a:rPr lang="en-US" dirty="0"/>
              <a:t> to java</a:t>
            </a:r>
            <a:r>
              <a:rPr lang="en-US" dirty="0" smtClean="0"/>
              <a:t>") </a:t>
            </a:r>
          </a:p>
          <a:p>
            <a:pPr lvl="1"/>
            <a:r>
              <a:rPr lang="en-US" dirty="0" smtClean="0"/>
              <a:t>Specify </a:t>
            </a:r>
            <a:r>
              <a:rPr lang="en-US" dirty="0"/>
              <a:t>the WSDL's URL</a:t>
            </a:r>
          </a:p>
          <a:p>
            <a:r>
              <a:rPr lang="en-US" dirty="0" smtClean="0"/>
              <a:t>Creates </a:t>
            </a:r>
            <a:r>
              <a:rPr lang="en-US" dirty="0"/>
              <a:t>a </a:t>
            </a:r>
            <a:r>
              <a:rPr lang="en-US" b="1" dirty="0">
                <a:latin typeface="Courier New" pitchFamily="49" charset="0"/>
                <a:cs typeface="Courier New" pitchFamily="49" charset="0"/>
              </a:rPr>
              <a:t>/com </a:t>
            </a:r>
            <a:r>
              <a:rPr lang="en-US" dirty="0"/>
              <a:t>subdirectory containing the Java stubs</a:t>
            </a:r>
          </a:p>
          <a:p>
            <a:endParaRPr lang="en-US"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01700"/>
            <a:ext cx="8351837" cy="117157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5122"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1037" y="1747837"/>
            <a:ext cx="5676900" cy="24479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 name="AutoShape 7"/>
          <p:cNvSpPr>
            <a:spLocks noChangeArrowheads="1"/>
          </p:cNvSpPr>
          <p:nvPr/>
        </p:nvSpPr>
        <p:spPr bwMode="auto">
          <a:xfrm>
            <a:off x="2971800" y="1326469"/>
            <a:ext cx="990600" cy="322035"/>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7"/>
          <p:cNvSpPr>
            <a:spLocks noChangeArrowheads="1"/>
          </p:cNvSpPr>
          <p:nvPr/>
        </p:nvSpPr>
        <p:spPr bwMode="auto">
          <a:xfrm>
            <a:off x="7067156" y="2976737"/>
            <a:ext cx="542168" cy="217024"/>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11" name="Elbow Connector 10"/>
          <p:cNvCxnSpPr>
            <a:stCxn id="9" idx="2"/>
            <a:endCxn id="10" idx="3"/>
          </p:cNvCxnSpPr>
          <p:nvPr/>
        </p:nvCxnSpPr>
        <p:spPr bwMode="auto">
          <a:xfrm rot="16200000" flipH="1">
            <a:off x="4819840" y="295764"/>
            <a:ext cx="1436745" cy="4142224"/>
          </a:xfrm>
          <a:prstGeom prst="bentConnector4">
            <a:avLst>
              <a:gd name="adj1" fmla="val 8656"/>
              <a:gd name="adj2" fmla="val 119163"/>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4041133818"/>
      </p:ext>
    </p:extLst>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Step 3: Import code into your IDE</a:t>
            </a:r>
            <a:endParaRPr lang="en-US" dirty="0"/>
          </a:p>
        </p:txBody>
      </p:sp>
      <p:sp>
        <p:nvSpPr>
          <p:cNvPr id="6" name="Content Placeholder 5"/>
          <p:cNvSpPr>
            <a:spLocks noGrp="1"/>
          </p:cNvSpPr>
          <p:nvPr>
            <p:ph idx="1"/>
          </p:nvPr>
        </p:nvSpPr>
        <p:spPr/>
        <p:txBody>
          <a:bodyPr/>
          <a:lstStyle/>
          <a:p>
            <a:r>
              <a:rPr lang="en-US" dirty="0" smtClean="0"/>
              <a:t>To copy files into Eclipse, simply drag the directory </a:t>
            </a:r>
            <a:br>
              <a:rPr lang="en-US" dirty="0" smtClean="0"/>
            </a:br>
            <a:r>
              <a:rPr lang="en-US" dirty="0" smtClean="0"/>
              <a:t>onto the appropriate project</a:t>
            </a:r>
          </a:p>
          <a:p>
            <a:endParaRPr lang="en-US" dirty="0"/>
          </a:p>
        </p:txBody>
      </p:sp>
      <p:pic>
        <p:nvPicPr>
          <p:cNvPr id="4"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1772830"/>
            <a:ext cx="6975270" cy="4654959"/>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5" name="Picture 5" descr="03 copy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940300" y="1521504"/>
            <a:ext cx="3871094" cy="23622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9" name="AutoShape 7"/>
          <p:cNvSpPr>
            <a:spLocks noChangeArrowheads="1"/>
          </p:cNvSpPr>
          <p:nvPr/>
        </p:nvSpPr>
        <p:spPr bwMode="auto">
          <a:xfrm>
            <a:off x="880556" y="3153256"/>
            <a:ext cx="795844" cy="263922"/>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sp>
        <p:nvSpPr>
          <p:cNvPr id="10" name="AutoShape 7"/>
          <p:cNvSpPr>
            <a:spLocks noChangeArrowheads="1"/>
          </p:cNvSpPr>
          <p:nvPr/>
        </p:nvSpPr>
        <p:spPr bwMode="auto">
          <a:xfrm>
            <a:off x="5334000" y="5021936"/>
            <a:ext cx="642092" cy="313616"/>
          </a:xfrm>
          <a:prstGeom prst="roundRect">
            <a:avLst>
              <a:gd name="adj" fmla="val 16667"/>
            </a:avLst>
          </a:prstGeom>
          <a:noFill/>
          <a:ln w="28575" algn="ctr">
            <a:solidFill>
              <a:schemeClr val="accent1"/>
            </a:solidFill>
            <a:round/>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txBody>
          <a:bodyPr wrap="square" lIns="0" tIns="0" rIns="0" bIns="0" anchor="ctr">
            <a:spAutoFit/>
          </a:bodyPr>
          <a:lstStyle/>
          <a:p>
            <a:endParaRPr lang="en-US"/>
          </a:p>
        </p:txBody>
      </p:sp>
      <p:cxnSp>
        <p:nvCxnSpPr>
          <p:cNvPr id="11" name="Elbow Connector 10"/>
          <p:cNvCxnSpPr>
            <a:stCxn id="9" idx="1"/>
            <a:endCxn id="10" idx="2"/>
          </p:cNvCxnSpPr>
          <p:nvPr/>
        </p:nvCxnSpPr>
        <p:spPr bwMode="auto">
          <a:xfrm rot="10800000" flipH="1" flipV="1">
            <a:off x="880556" y="3285216"/>
            <a:ext cx="4774490" cy="2050335"/>
          </a:xfrm>
          <a:prstGeom prst="bentConnector4">
            <a:avLst>
              <a:gd name="adj1" fmla="val -2128"/>
              <a:gd name="adj2" fmla="val 127873"/>
            </a:avLst>
          </a:prstGeom>
          <a:noFill/>
          <a:ln w="28575" cap="flat" cmpd="sng" algn="ctr">
            <a:solidFill>
              <a:schemeClr val="accent1"/>
            </a:solidFill>
            <a:prstDash val="solid"/>
            <a:round/>
            <a:headEnd type="none" w="med" len="med"/>
            <a:tailEnd type="arrow" w="lg" len="med"/>
          </a:ln>
          <a:effectLst>
            <a:outerShdw blurRad="50800" dist="38100" dir="2700000" algn="tl" rotWithShape="0">
              <a:prstClr val="black">
                <a:alpha val="40000"/>
              </a:prstClr>
            </a:outerShdw>
          </a:effectLst>
        </p:spPr>
      </p:cxnSp>
    </p:spTree>
    <p:extLst>
      <p:ext uri="{BB962C8B-B14F-4D97-AF65-F5344CB8AC3E}">
        <p14:creationId xmlns:p14="http://schemas.microsoft.com/office/powerpoint/2010/main" val="255637648"/>
      </p:ext>
    </p:extLst>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Web service and Gosu classes</a:t>
            </a:r>
          </a:p>
        </p:txBody>
      </p:sp>
      <p:sp>
        <p:nvSpPr>
          <p:cNvPr id="3" name="Content Placeholder 2"/>
          <p:cNvSpPr>
            <a:spLocks noGrp="1"/>
          </p:cNvSpPr>
          <p:nvPr>
            <p:ph sz="half" idx="1"/>
          </p:nvPr>
        </p:nvSpPr>
        <p:spPr>
          <a:xfrm>
            <a:off x="519112" y="914401"/>
            <a:ext cx="3062288" cy="5475289"/>
          </a:xfrm>
        </p:spPr>
        <p:txBody>
          <a:bodyPr/>
          <a:lstStyle/>
          <a:p>
            <a:r>
              <a:rPr lang="en-US" dirty="0" smtClean="0"/>
              <a:t>Guidewire's generated WSDL contains:</a:t>
            </a:r>
          </a:p>
          <a:p>
            <a:pPr lvl="1"/>
            <a:r>
              <a:rPr lang="en-US" dirty="0" smtClean="0"/>
              <a:t>Class </a:t>
            </a:r>
            <a:r>
              <a:rPr lang="en-US" dirty="0"/>
              <a:t>definitions for any types used as input parameters or return types</a:t>
            </a:r>
          </a:p>
          <a:p>
            <a:pPr lvl="1"/>
            <a:r>
              <a:rPr lang="en-US" dirty="0"/>
              <a:t>Exceptions declared to be thrown by the web service methods</a:t>
            </a:r>
          </a:p>
          <a:p>
            <a:endParaRPr lang="en-US" dirty="0"/>
          </a:p>
        </p:txBody>
      </p:sp>
      <p:pic>
        <p:nvPicPr>
          <p:cNvPr id="4" name="Picture 11"/>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10000" y="888999"/>
            <a:ext cx="4632325" cy="5364163"/>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5" name="Rounded Rectangle 4"/>
          <p:cNvSpPr/>
          <p:nvPr/>
        </p:nvSpPr>
        <p:spPr bwMode="auto">
          <a:xfrm>
            <a:off x="4191000" y="1524000"/>
            <a:ext cx="4251324" cy="914400"/>
          </a:xfrm>
          <a:prstGeom prst="roundRect">
            <a:avLst>
              <a:gd name="adj" fmla="val 8334"/>
            </a:avLst>
          </a:prstGeom>
          <a:noFill/>
          <a:ln w="28575" algn="ctr">
            <a:solidFill>
              <a:schemeClr val="accent5"/>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6" name="Rounded Rectangle 5"/>
          <p:cNvSpPr/>
          <p:nvPr/>
        </p:nvSpPr>
        <p:spPr bwMode="auto">
          <a:xfrm>
            <a:off x="4208461" y="2438400"/>
            <a:ext cx="4233863" cy="3814762"/>
          </a:xfrm>
          <a:prstGeom prst="roundRect">
            <a:avLst>
              <a:gd name="adj" fmla="val 3673"/>
            </a:avLst>
          </a:prstGeom>
          <a:noFill/>
          <a:ln w="28575" algn="ctr">
            <a:solidFill>
              <a:schemeClr val="accent6">
                <a:lumMod val="75000"/>
              </a:schemeClr>
            </a:solidFill>
            <a:round/>
            <a:headEnd/>
            <a:tailEnd/>
          </a:ln>
        </p:spPr>
        <p:txBody>
          <a:bodyPr wrap="none" lIns="0" tIns="0" rIns="0" bIns="0" rtlCol="0" anchor="ctr">
            <a:noAutofit/>
          </a:bodyPr>
          <a:lstStyle/>
          <a:p>
            <a:pPr algn="ctr">
              <a:spcBef>
                <a:spcPct val="50000"/>
              </a:spcBef>
              <a:spcAft>
                <a:spcPct val="30000"/>
              </a:spcAft>
              <a:buClr>
                <a:schemeClr val="tx1"/>
              </a:buClr>
            </a:pPr>
            <a:endParaRPr lang="en-US"/>
          </a:p>
        </p:txBody>
      </p:sp>
      <p:sp>
        <p:nvSpPr>
          <p:cNvPr id="7" name="Rounded Rectangle 6"/>
          <p:cNvSpPr/>
          <p:nvPr/>
        </p:nvSpPr>
        <p:spPr bwMode="auto">
          <a:xfrm>
            <a:off x="7734300" y="1739900"/>
            <a:ext cx="914400" cy="381000"/>
          </a:xfrm>
          <a:prstGeom prst="roundRect">
            <a:avLst/>
          </a:prstGeom>
          <a:solidFill>
            <a:schemeClr val="tx2"/>
          </a:solidFill>
          <a:ln w="28575" algn="ctr">
            <a:solidFill>
              <a:schemeClr val="accent5"/>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smtClean="0">
                <a:solidFill>
                  <a:schemeClr val="bg1"/>
                </a:solidFill>
              </a:rPr>
              <a:t>Gosu</a:t>
            </a:r>
            <a:endParaRPr lang="en-US" b="1" dirty="0">
              <a:solidFill>
                <a:schemeClr val="bg1"/>
              </a:solidFill>
            </a:endParaRPr>
          </a:p>
        </p:txBody>
      </p:sp>
      <p:sp>
        <p:nvSpPr>
          <p:cNvPr id="8" name="Rounded Rectangle 7"/>
          <p:cNvSpPr/>
          <p:nvPr/>
        </p:nvSpPr>
        <p:spPr bwMode="auto">
          <a:xfrm>
            <a:off x="7010400" y="4495800"/>
            <a:ext cx="1638300" cy="381000"/>
          </a:xfrm>
          <a:prstGeom prst="roundRect">
            <a:avLst/>
          </a:prstGeom>
          <a:solidFill>
            <a:schemeClr val="tx2"/>
          </a:solidFill>
          <a:ln w="28575" algn="ctr">
            <a:solidFill>
              <a:schemeClr val="accent6">
                <a:lumMod val="75000"/>
              </a:schemeClr>
            </a:solidFill>
            <a:round/>
            <a:headEnd/>
            <a:tailEnd/>
          </a:ln>
          <a:effectLst>
            <a:outerShdw blurRad="50800" dist="38100" dir="2700000" algn="tl" rotWithShape="0">
              <a:prstClr val="black">
                <a:alpha val="40000"/>
              </a:prstClr>
            </a:outerShdw>
          </a:effectLst>
        </p:spPr>
        <p:txBody>
          <a:bodyPr wrap="none" lIns="0" tIns="0" rIns="0" bIns="0" rtlCol="0" anchor="ctr">
            <a:noAutofit/>
          </a:bodyPr>
          <a:lstStyle/>
          <a:p>
            <a:pPr algn="ctr">
              <a:spcBef>
                <a:spcPct val="50000"/>
              </a:spcBef>
              <a:spcAft>
                <a:spcPct val="30000"/>
              </a:spcAft>
              <a:buClr>
                <a:schemeClr val="tx1"/>
              </a:buClr>
            </a:pPr>
            <a:r>
              <a:rPr lang="en-US" b="1" dirty="0" smtClean="0">
                <a:solidFill>
                  <a:schemeClr val="bg1"/>
                </a:solidFill>
              </a:rPr>
              <a:t>Web Service</a:t>
            </a:r>
            <a:endParaRPr lang="en-US" b="1" dirty="0">
              <a:solidFill>
                <a:schemeClr val="bg1"/>
              </a:solidFill>
            </a:endParaRPr>
          </a:p>
        </p:txBody>
      </p:sp>
    </p:spTree>
    <p:extLst>
      <p:ext uri="{BB962C8B-B14F-4D97-AF65-F5344CB8AC3E}">
        <p14:creationId xmlns:p14="http://schemas.microsoft.com/office/powerpoint/2010/main" val="795848999"/>
      </p:ext>
    </p:extLst>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Step 4: Writing client code</a:t>
            </a:r>
            <a:endParaRPr lang="en-US" dirty="0"/>
          </a:p>
        </p:txBody>
      </p:sp>
      <p:sp>
        <p:nvSpPr>
          <p:cNvPr id="5" name="Content Placeholder 4"/>
          <p:cNvSpPr>
            <a:spLocks noGrp="1"/>
          </p:cNvSpPr>
          <p:nvPr>
            <p:ph idx="1"/>
          </p:nvPr>
        </p:nvSpPr>
        <p:spPr>
          <a:xfrm>
            <a:off x="519113" y="5943600"/>
            <a:ext cx="8318500" cy="457200"/>
          </a:xfrm>
        </p:spPr>
        <p:txBody>
          <a:bodyPr/>
          <a:lstStyle/>
          <a:p>
            <a:r>
              <a:rPr lang="en-US" dirty="0" smtClean="0"/>
              <a:t>Read slide notes for code details</a:t>
            </a:r>
            <a:endParaRPr lang="en-US" dirty="0"/>
          </a:p>
        </p:txBody>
      </p:sp>
      <p:pic>
        <p:nvPicPr>
          <p:cNvPr id="4"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3400" y="914400"/>
            <a:ext cx="8264845" cy="4876800"/>
          </a:xfrm>
          <a:prstGeom prst="rect">
            <a:avLst/>
          </a:prstGeom>
          <a:noFill/>
          <a:ln w="9525">
            <a:solidFill>
              <a:schemeClr val="bg1"/>
            </a:solidFill>
            <a:miter lim="800000"/>
            <a:headEnd/>
            <a:tailEnd/>
          </a:ln>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78062134"/>
      </p:ext>
    </p:extLst>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Redeploying the web service client code</a:t>
            </a:r>
            <a:br>
              <a:rPr lang="en-US" smtClean="0"/>
            </a:br>
            <a:endParaRPr lang="en-US" dirty="0"/>
          </a:p>
        </p:txBody>
      </p:sp>
      <p:sp>
        <p:nvSpPr>
          <p:cNvPr id="9" name="Rectangle 3"/>
          <p:cNvSpPr txBox="1">
            <a:spLocks noChangeArrowheads="1"/>
          </p:cNvSpPr>
          <p:nvPr/>
        </p:nvSpPr>
        <p:spPr>
          <a:xfrm>
            <a:off x="377825" y="1638300"/>
            <a:ext cx="4083050" cy="4629150"/>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pPr lvl="1"/>
            <a:r>
              <a:rPr lang="en-US" kern="0" dirty="0" smtClean="0"/>
              <a:t>Remove or add a </a:t>
            </a:r>
            <a:br>
              <a:rPr lang="en-US" kern="0" dirty="0" smtClean="0"/>
            </a:br>
            <a:r>
              <a:rPr lang="en-US" kern="0" dirty="0" smtClean="0"/>
              <a:t>method to the web service</a:t>
            </a:r>
          </a:p>
          <a:p>
            <a:pPr lvl="1"/>
            <a:r>
              <a:rPr lang="en-US" kern="0" dirty="0" smtClean="0"/>
              <a:t>Change the signature </a:t>
            </a:r>
            <a:br>
              <a:rPr lang="en-US" kern="0" dirty="0" smtClean="0"/>
            </a:br>
            <a:r>
              <a:rPr lang="en-US" kern="0" dirty="0" smtClean="0"/>
              <a:t>of a method </a:t>
            </a:r>
            <a:br>
              <a:rPr lang="en-US" kern="0" dirty="0" smtClean="0"/>
            </a:br>
            <a:r>
              <a:rPr lang="en-US" kern="0" dirty="0" smtClean="0"/>
              <a:t>including parameters</a:t>
            </a:r>
          </a:p>
          <a:p>
            <a:pPr lvl="1"/>
            <a:r>
              <a:rPr lang="en-US" kern="0" dirty="0" smtClean="0"/>
              <a:t>Change the nature</a:t>
            </a:r>
            <a:br>
              <a:rPr lang="en-US" kern="0" dirty="0" smtClean="0"/>
            </a:br>
            <a:r>
              <a:rPr lang="en-US" kern="0" dirty="0" smtClean="0"/>
              <a:t>of a Gosu class </a:t>
            </a:r>
            <a:br>
              <a:rPr lang="en-US" kern="0" dirty="0" smtClean="0"/>
            </a:br>
            <a:r>
              <a:rPr lang="en-US" kern="0" dirty="0" smtClean="0"/>
              <a:t>returned by a method</a:t>
            </a:r>
          </a:p>
          <a:p>
            <a:pPr lvl="1">
              <a:buFont typeface="Arial" charset="0"/>
              <a:buNone/>
            </a:pPr>
            <a:endParaRPr lang="en-US" kern="0" dirty="0" smtClean="0"/>
          </a:p>
        </p:txBody>
      </p:sp>
      <p:sp>
        <p:nvSpPr>
          <p:cNvPr id="10" name="Content Placeholder 6"/>
          <p:cNvSpPr txBox="1">
            <a:spLocks/>
          </p:cNvSpPr>
          <p:nvPr/>
        </p:nvSpPr>
        <p:spPr>
          <a:xfrm>
            <a:off x="4770438" y="1638300"/>
            <a:ext cx="4067175" cy="3028950"/>
          </a:xfrm>
          <a:prstGeom prst="rect">
            <a:avLst/>
          </a:prstGeom>
        </p:spPr>
        <p:txBody>
          <a:bodyPr/>
          <a:lstStyle>
            <a:lvl1pPr marL="285750" indent="-285750" algn="l" rtl="0" eaLnBrk="1" fontAlgn="base" hangingPunct="1">
              <a:spcBef>
                <a:spcPct val="40000"/>
              </a:spcBef>
              <a:spcAft>
                <a:spcPct val="0"/>
              </a:spcAft>
              <a:buClr>
                <a:srgbClr val="04628C"/>
              </a:buClr>
              <a:buSzPct val="90000"/>
              <a:buFont typeface="Arial" charset="0"/>
              <a:buChar char="•"/>
              <a:defRPr sz="2400">
                <a:solidFill>
                  <a:schemeClr val="bg1"/>
                </a:solidFill>
                <a:latin typeface="+mn-lt"/>
                <a:ea typeface="Arial" pitchFamily="32" charset="0"/>
                <a:cs typeface="Arial" pitchFamily="32" charset="0"/>
              </a:defRPr>
            </a:lvl1pPr>
            <a:lvl2pPr marL="628650" indent="-228600" algn="l" rtl="0" eaLnBrk="1" fontAlgn="base" hangingPunct="1">
              <a:spcBef>
                <a:spcPct val="20000"/>
              </a:spcBef>
              <a:spcAft>
                <a:spcPct val="0"/>
              </a:spcAft>
              <a:buClr>
                <a:srgbClr val="04628C"/>
              </a:buClr>
              <a:buSzPct val="90000"/>
              <a:buFont typeface="Arial" charset="0"/>
              <a:buChar char="-"/>
              <a:defRPr sz="2000">
                <a:solidFill>
                  <a:schemeClr val="bg1"/>
                </a:solidFill>
                <a:latin typeface="+mn-lt"/>
                <a:ea typeface="Arial" pitchFamily="32" charset="0"/>
                <a:cs typeface="Arial" pitchFamily="32" charset="0"/>
              </a:defRPr>
            </a:lvl2pPr>
            <a:lvl3pPr marL="969963" indent="-227013" algn="l" rtl="0" eaLnBrk="1" fontAlgn="base" hangingPunct="1">
              <a:spcBef>
                <a:spcPct val="20000"/>
              </a:spcBef>
              <a:spcAft>
                <a:spcPct val="0"/>
              </a:spcAft>
              <a:buClr>
                <a:srgbClr val="04628C"/>
              </a:buClr>
              <a:buSzPct val="85000"/>
              <a:buFont typeface="Arial" charset="0"/>
              <a:buChar char="-"/>
              <a:defRPr sz="1800">
                <a:solidFill>
                  <a:schemeClr val="bg1"/>
                </a:solidFill>
                <a:latin typeface="+mn-lt"/>
                <a:ea typeface="Arial" pitchFamily="32" charset="0"/>
                <a:cs typeface="Arial" pitchFamily="32" charset="0"/>
              </a:defRPr>
            </a:lvl3pPr>
            <a:lvl4pPr marL="1376363" indent="-292100" algn="l" rtl="0" eaLnBrk="1" fontAlgn="base" hangingPunct="1">
              <a:spcBef>
                <a:spcPct val="20000"/>
              </a:spcBef>
              <a:spcAft>
                <a:spcPct val="0"/>
              </a:spcAft>
              <a:buClr>
                <a:srgbClr val="04628C"/>
              </a:buClr>
              <a:buSzPct val="85000"/>
              <a:buFont typeface="Arial" charset="0"/>
              <a:buChar char="-"/>
              <a:defRPr sz="1600">
                <a:solidFill>
                  <a:schemeClr val="bg1"/>
                </a:solidFill>
                <a:latin typeface="+mn-lt"/>
                <a:ea typeface="Arial" pitchFamily="32" charset="0"/>
                <a:cs typeface="Arial" pitchFamily="32" charset="0"/>
              </a:defRPr>
            </a:lvl4pPr>
            <a:lvl5pPr marL="1941513" indent="-225425" algn="l" rtl="0" eaLnBrk="1" fontAlgn="base" hangingPunct="1">
              <a:spcBef>
                <a:spcPct val="20000"/>
              </a:spcBef>
              <a:spcAft>
                <a:spcPct val="0"/>
              </a:spcAft>
              <a:buClr>
                <a:srgbClr val="0146AD"/>
              </a:buClr>
              <a:buSzPct val="120000"/>
              <a:buChar char="•"/>
              <a:defRPr sz="1400">
                <a:solidFill>
                  <a:schemeClr val="bg1"/>
                </a:solidFill>
                <a:latin typeface="+mn-lt"/>
                <a:ea typeface="Arial" pitchFamily="32" charset="0"/>
                <a:cs typeface="Arial" pitchFamily="32" charset="0"/>
              </a:defRPr>
            </a:lvl5pPr>
            <a:lvl6pPr marL="2398713" indent="-225425" algn="l" rtl="0" eaLnBrk="1" fontAlgn="base" hangingPunct="1">
              <a:spcBef>
                <a:spcPct val="20000"/>
              </a:spcBef>
              <a:spcAft>
                <a:spcPct val="0"/>
              </a:spcAft>
              <a:buClr>
                <a:srgbClr val="0146AD"/>
              </a:buClr>
              <a:buSzPct val="120000"/>
              <a:buChar char="•"/>
              <a:defRPr sz="1400">
                <a:solidFill>
                  <a:schemeClr val="bg1"/>
                </a:solidFill>
                <a:latin typeface="+mn-lt"/>
              </a:defRPr>
            </a:lvl6pPr>
            <a:lvl7pPr marL="2855913" indent="-225425" algn="l" rtl="0" eaLnBrk="1" fontAlgn="base" hangingPunct="1">
              <a:spcBef>
                <a:spcPct val="20000"/>
              </a:spcBef>
              <a:spcAft>
                <a:spcPct val="0"/>
              </a:spcAft>
              <a:buClr>
                <a:srgbClr val="0146AD"/>
              </a:buClr>
              <a:buSzPct val="120000"/>
              <a:buChar char="•"/>
              <a:defRPr sz="1400">
                <a:solidFill>
                  <a:schemeClr val="bg1"/>
                </a:solidFill>
                <a:latin typeface="+mn-lt"/>
              </a:defRPr>
            </a:lvl7pPr>
            <a:lvl8pPr marL="3313113" indent="-225425" algn="l" rtl="0" eaLnBrk="1" fontAlgn="base" hangingPunct="1">
              <a:spcBef>
                <a:spcPct val="20000"/>
              </a:spcBef>
              <a:spcAft>
                <a:spcPct val="0"/>
              </a:spcAft>
              <a:buClr>
                <a:srgbClr val="0146AD"/>
              </a:buClr>
              <a:buSzPct val="120000"/>
              <a:buChar char="•"/>
              <a:defRPr sz="1400">
                <a:solidFill>
                  <a:schemeClr val="bg1"/>
                </a:solidFill>
                <a:latin typeface="+mn-lt"/>
              </a:defRPr>
            </a:lvl8pPr>
            <a:lvl9pPr marL="3770313" indent="-225425" algn="l" rtl="0" eaLnBrk="1" fontAlgn="base" hangingPunct="1">
              <a:spcBef>
                <a:spcPct val="20000"/>
              </a:spcBef>
              <a:spcAft>
                <a:spcPct val="0"/>
              </a:spcAft>
              <a:buClr>
                <a:srgbClr val="0146AD"/>
              </a:buClr>
              <a:buSzPct val="120000"/>
              <a:buChar char="•"/>
              <a:defRPr sz="1400">
                <a:solidFill>
                  <a:schemeClr val="bg1"/>
                </a:solidFill>
                <a:latin typeface="+mn-lt"/>
              </a:defRPr>
            </a:lvl9pPr>
          </a:lstStyle>
          <a:p>
            <a:pPr lvl="1"/>
            <a:r>
              <a:rPr lang="en-US" kern="0" smtClean="0"/>
              <a:t>Change only the internal behavior of one or more methods</a:t>
            </a:r>
          </a:p>
          <a:p>
            <a:pPr lvl="1"/>
            <a:endParaRPr lang="en-US" kern="0" smtClean="0"/>
          </a:p>
          <a:p>
            <a:pPr lvl="1"/>
            <a:endParaRPr lang="en-US" kern="0" smtClean="0"/>
          </a:p>
          <a:p>
            <a:pPr lvl="1"/>
            <a:endParaRPr lang="en-US" kern="0" smtClean="0"/>
          </a:p>
          <a:p>
            <a:pPr lvl="1"/>
            <a:endParaRPr lang="en-US" kern="0" smtClean="0"/>
          </a:p>
          <a:p>
            <a:pPr lvl="1"/>
            <a:endParaRPr lang="en-US" kern="0" smtClean="0"/>
          </a:p>
          <a:p>
            <a:endParaRPr lang="en-US" kern="0" dirty="0" smtClean="0"/>
          </a:p>
        </p:txBody>
      </p:sp>
      <p:sp>
        <p:nvSpPr>
          <p:cNvPr id="11" name="Rectangle 3"/>
          <p:cNvSpPr txBox="1">
            <a:spLocks noChangeArrowheads="1"/>
          </p:cNvSpPr>
          <p:nvPr/>
        </p:nvSpPr>
        <p:spPr bwMode="auto">
          <a:xfrm>
            <a:off x="504825" y="914400"/>
            <a:ext cx="8199438" cy="723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285750" indent="-285750" algn="l" rtl="0" eaLnBrk="0" fontAlgn="base" hangingPunct="0">
              <a:spcBef>
                <a:spcPct val="40000"/>
              </a:spcBef>
              <a:spcAft>
                <a:spcPct val="0"/>
              </a:spcAft>
              <a:buClr>
                <a:srgbClr val="04628C"/>
              </a:buClr>
              <a:buSzPct val="90000"/>
              <a:buFont typeface="Arial" charset="0"/>
              <a:buChar char="•"/>
              <a:defRPr sz="2400">
                <a:solidFill>
                  <a:schemeClr val="bg1"/>
                </a:solidFill>
                <a:latin typeface="+mn-lt"/>
                <a:ea typeface="+mn-ea"/>
                <a:cs typeface="+mn-cs"/>
              </a:defRPr>
            </a:lvl1pPr>
            <a:lvl2pPr marL="628650" indent="-228600" algn="l" rtl="0" eaLnBrk="0" fontAlgn="base" hangingPunct="0">
              <a:spcBef>
                <a:spcPct val="20000"/>
              </a:spcBef>
              <a:spcAft>
                <a:spcPct val="0"/>
              </a:spcAft>
              <a:buClr>
                <a:srgbClr val="04628C"/>
              </a:buClr>
              <a:buSzPct val="90000"/>
              <a:buFont typeface="Arial" charset="0"/>
              <a:buChar char="-"/>
              <a:defRPr sz="2200">
                <a:solidFill>
                  <a:schemeClr val="bg1"/>
                </a:solidFill>
                <a:latin typeface="+mn-lt"/>
              </a:defRPr>
            </a:lvl2pPr>
            <a:lvl3pPr marL="969963" indent="-227013"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defRPr>
            </a:lvl3pPr>
            <a:lvl4pPr marL="1376363" indent="-292100" algn="l" rtl="0" eaLnBrk="0" fontAlgn="base" hangingPunct="0">
              <a:spcBef>
                <a:spcPct val="20000"/>
              </a:spcBef>
              <a:spcAft>
                <a:spcPct val="0"/>
              </a:spcAft>
              <a:buClr>
                <a:srgbClr val="04628C"/>
              </a:buClr>
              <a:buSzPct val="85000"/>
              <a:buFont typeface="Arial" charset="0"/>
              <a:buChar char="-"/>
              <a:defRPr sz="2000">
                <a:solidFill>
                  <a:schemeClr val="bg1"/>
                </a:solidFill>
                <a:latin typeface="+mn-lt"/>
              </a:defRPr>
            </a:lvl4pPr>
            <a:lvl5pPr marL="1941513" indent="-225425" algn="l" rtl="0" eaLnBrk="0" fontAlgn="base" hangingPunct="0">
              <a:spcBef>
                <a:spcPct val="20000"/>
              </a:spcBef>
              <a:spcAft>
                <a:spcPct val="0"/>
              </a:spcAft>
              <a:buClr>
                <a:srgbClr val="0146AD"/>
              </a:buClr>
              <a:buSzPct val="120000"/>
              <a:buChar char="•"/>
              <a:defRPr sz="1400">
                <a:solidFill>
                  <a:schemeClr val="bg1"/>
                </a:solidFill>
                <a:latin typeface="+mn-lt"/>
              </a:defRPr>
            </a:lvl5pPr>
            <a:lvl6pPr marL="2398713" indent="-225425" algn="l" rtl="0" fontAlgn="base">
              <a:spcBef>
                <a:spcPct val="20000"/>
              </a:spcBef>
              <a:spcAft>
                <a:spcPct val="0"/>
              </a:spcAft>
              <a:buClr>
                <a:srgbClr val="0146AD"/>
              </a:buClr>
              <a:buSzPct val="120000"/>
              <a:buChar char="•"/>
              <a:defRPr sz="1400">
                <a:solidFill>
                  <a:schemeClr val="bg1"/>
                </a:solidFill>
                <a:latin typeface="+mn-lt"/>
              </a:defRPr>
            </a:lvl6pPr>
            <a:lvl7pPr marL="2855913" indent="-225425" algn="l" rtl="0" fontAlgn="base">
              <a:spcBef>
                <a:spcPct val="20000"/>
              </a:spcBef>
              <a:spcAft>
                <a:spcPct val="0"/>
              </a:spcAft>
              <a:buClr>
                <a:srgbClr val="0146AD"/>
              </a:buClr>
              <a:buSzPct val="120000"/>
              <a:buChar char="•"/>
              <a:defRPr sz="1400">
                <a:solidFill>
                  <a:schemeClr val="bg1"/>
                </a:solidFill>
                <a:latin typeface="+mn-lt"/>
              </a:defRPr>
            </a:lvl7pPr>
            <a:lvl8pPr marL="3313113" indent="-225425" algn="l" rtl="0" fontAlgn="base">
              <a:spcBef>
                <a:spcPct val="20000"/>
              </a:spcBef>
              <a:spcAft>
                <a:spcPct val="0"/>
              </a:spcAft>
              <a:buClr>
                <a:srgbClr val="0146AD"/>
              </a:buClr>
              <a:buSzPct val="120000"/>
              <a:buChar char="•"/>
              <a:defRPr sz="1400">
                <a:solidFill>
                  <a:schemeClr val="bg1"/>
                </a:solidFill>
                <a:latin typeface="+mn-lt"/>
              </a:defRPr>
            </a:lvl8pPr>
            <a:lvl9pPr marL="3770313" indent="-225425" algn="l" rtl="0" fontAlgn="base">
              <a:spcBef>
                <a:spcPct val="20000"/>
              </a:spcBef>
              <a:spcAft>
                <a:spcPct val="0"/>
              </a:spcAft>
              <a:buClr>
                <a:srgbClr val="0146AD"/>
              </a:buClr>
              <a:buSzPct val="120000"/>
              <a:buChar char="•"/>
              <a:defRPr sz="1400">
                <a:solidFill>
                  <a:schemeClr val="bg1"/>
                </a:solidFill>
                <a:latin typeface="+mn-lt"/>
              </a:defRPr>
            </a:lvl9pPr>
          </a:lstStyle>
          <a:p>
            <a:pPr marL="0" indent="0" eaLnBrk="1" hangingPunct="1">
              <a:buFont typeface="Arial" charset="0"/>
              <a:buNone/>
              <a:defRPr/>
            </a:pPr>
            <a:r>
              <a:rPr lang="en-US" b="0" kern="0" dirty="0" smtClean="0"/>
              <a:t>If you create a client from the WSDL and then:</a:t>
            </a:r>
          </a:p>
        </p:txBody>
      </p:sp>
      <p:sp>
        <p:nvSpPr>
          <p:cNvPr id="12" name="Rectangle 11"/>
          <p:cNvSpPr/>
          <p:nvPr/>
        </p:nvSpPr>
        <p:spPr>
          <a:xfrm>
            <a:off x="5089525" y="5395913"/>
            <a:ext cx="3614738"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l">
              <a:spcBef>
                <a:spcPct val="40000"/>
              </a:spcBef>
              <a:spcAft>
                <a:spcPct val="0"/>
              </a:spcAft>
              <a:buClr>
                <a:srgbClr val="04628C"/>
              </a:buClr>
              <a:buSzPct val="90000"/>
              <a:defRPr/>
            </a:pPr>
            <a:r>
              <a:rPr lang="en-US" sz="2400" b="0" kern="0" dirty="0">
                <a:solidFill>
                  <a:schemeClr val="bg1"/>
                </a:solidFill>
                <a:latin typeface="+mn-lt"/>
              </a:rPr>
              <a:t>Do </a:t>
            </a:r>
            <a:r>
              <a:rPr lang="en-US" sz="2400" b="1" kern="0" dirty="0">
                <a:solidFill>
                  <a:schemeClr val="bg1"/>
                </a:solidFill>
                <a:latin typeface="+mn-lt"/>
              </a:rPr>
              <a:t>NOT</a:t>
            </a:r>
            <a:r>
              <a:rPr lang="en-US" sz="2400" b="0" kern="0" dirty="0">
                <a:solidFill>
                  <a:schemeClr val="bg1"/>
                </a:solidFill>
                <a:latin typeface="+mn-lt"/>
              </a:rPr>
              <a:t> regenerate the web service client</a:t>
            </a:r>
          </a:p>
        </p:txBody>
      </p:sp>
      <p:sp>
        <p:nvSpPr>
          <p:cNvPr id="13" name="Rectangle 12"/>
          <p:cNvSpPr/>
          <p:nvPr/>
        </p:nvSpPr>
        <p:spPr>
          <a:xfrm>
            <a:off x="846138" y="5395913"/>
            <a:ext cx="3344862" cy="814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p>
            <a:pPr algn="l">
              <a:spcBef>
                <a:spcPct val="40000"/>
              </a:spcBef>
              <a:spcAft>
                <a:spcPct val="0"/>
              </a:spcAft>
              <a:buClr>
                <a:srgbClr val="04628C"/>
              </a:buClr>
              <a:buSzPct val="90000"/>
              <a:defRPr/>
            </a:pPr>
            <a:r>
              <a:rPr lang="en-US" sz="2400" b="1" kern="0" dirty="0">
                <a:solidFill>
                  <a:schemeClr val="bg1"/>
                </a:solidFill>
                <a:latin typeface="+mn-lt"/>
              </a:rPr>
              <a:t>Regenerate</a:t>
            </a:r>
            <a:r>
              <a:rPr lang="en-US" sz="2400" b="0" kern="0" dirty="0">
                <a:solidFill>
                  <a:schemeClr val="bg1"/>
                </a:solidFill>
                <a:latin typeface="+mn-lt"/>
              </a:rPr>
              <a:t> the </a:t>
            </a:r>
            <a:br>
              <a:rPr lang="en-US" sz="2400" b="0" kern="0" dirty="0">
                <a:solidFill>
                  <a:schemeClr val="bg1"/>
                </a:solidFill>
                <a:latin typeface="+mn-lt"/>
              </a:rPr>
            </a:br>
            <a:r>
              <a:rPr lang="en-US" sz="2400" b="0" kern="0" dirty="0">
                <a:solidFill>
                  <a:schemeClr val="bg1"/>
                </a:solidFill>
                <a:latin typeface="+mn-lt"/>
              </a:rPr>
              <a:t>web service client!</a:t>
            </a:r>
          </a:p>
        </p:txBody>
      </p:sp>
      <p:cxnSp>
        <p:nvCxnSpPr>
          <p:cNvPr id="14" name="Straight Connector 13"/>
          <p:cNvCxnSpPr/>
          <p:nvPr/>
        </p:nvCxnSpPr>
        <p:spPr bwMode="auto">
          <a:xfrm flipV="1">
            <a:off x="4605338" y="1665288"/>
            <a:ext cx="0" cy="4557712"/>
          </a:xfrm>
          <a:prstGeom prst="line">
            <a:avLst/>
          </a:prstGeom>
          <a:noFill/>
          <a:ln w="28575" cap="flat" cmpd="sng" algn="ctr">
            <a:solidFill>
              <a:schemeClr val="tx1">
                <a:lumMod val="50000"/>
              </a:schemeClr>
            </a:solidFill>
            <a:prstDash val="solid"/>
            <a:round/>
            <a:headEnd type="none" w="med" len="med"/>
            <a:tailEnd type="none" w="med" len="med"/>
          </a:ln>
          <a:effectLst/>
        </p:spPr>
      </p:cxnSp>
      <p:sp>
        <p:nvSpPr>
          <p:cNvPr id="15" name="Down Arrow 14"/>
          <p:cNvSpPr/>
          <p:nvPr/>
        </p:nvSpPr>
        <p:spPr bwMode="auto">
          <a:xfrm>
            <a:off x="6537325" y="4495800"/>
            <a:ext cx="533400" cy="762000"/>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
        <p:nvSpPr>
          <p:cNvPr id="16" name="Down Arrow 15"/>
          <p:cNvSpPr/>
          <p:nvPr/>
        </p:nvSpPr>
        <p:spPr bwMode="auto">
          <a:xfrm>
            <a:off x="2152650" y="4495800"/>
            <a:ext cx="533400" cy="762000"/>
          </a:xfrm>
          <a:prstGeom prst="downArrow">
            <a:avLst/>
          </a:prstGeom>
          <a:ln>
            <a:headEnd/>
            <a:tailEnd/>
          </a:ln>
        </p:spPr>
        <p:style>
          <a:lnRef idx="3">
            <a:schemeClr val="lt1"/>
          </a:lnRef>
          <a:fillRef idx="1">
            <a:schemeClr val="accent1"/>
          </a:fillRef>
          <a:effectRef idx="1">
            <a:schemeClr val="accent1"/>
          </a:effectRef>
          <a:fontRef idx="minor">
            <a:schemeClr val="lt1"/>
          </a:fontRef>
        </p:style>
        <p:txBody>
          <a:bodyPr wrap="none" lIns="0" tIns="0" rIns="0" bIns="0" rtlCol="0" anchor="ctr">
            <a:noAutofit/>
          </a:bodyPr>
          <a:lstStyle/>
          <a:p>
            <a:pPr algn="ctr">
              <a:spcBef>
                <a:spcPct val="50000"/>
              </a:spcBef>
              <a:spcAft>
                <a:spcPct val="30000"/>
              </a:spcAft>
              <a:buClr>
                <a:schemeClr val="tx1"/>
              </a:buClr>
            </a:pPr>
            <a:endParaRPr lang="en-US"/>
          </a:p>
        </p:txBody>
      </p:sp>
    </p:spTree>
    <p:extLst>
      <p:ext uri="{BB962C8B-B14F-4D97-AF65-F5344CB8AC3E}">
        <p14:creationId xmlns:p14="http://schemas.microsoft.com/office/powerpoint/2010/main" val="2450348985"/>
      </p:ext>
    </p:extLst>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p:txBody>
          <a:bodyPr/>
          <a:lstStyle/>
          <a:p>
            <a:pPr lvl="1"/>
            <a:r>
              <a:rPr lang="en-US" dirty="0"/>
              <a:t>Publish a Guidewire web service</a:t>
            </a:r>
          </a:p>
          <a:p>
            <a:pPr lvl="1"/>
            <a:r>
              <a:rPr lang="en-US" dirty="0"/>
              <a:t>Return instances of a Gosu class from a web service</a:t>
            </a:r>
          </a:p>
          <a:p>
            <a:pPr lvl="1"/>
            <a:r>
              <a:rPr lang="en-US" dirty="0"/>
              <a:t>Test web services locally</a:t>
            </a:r>
          </a:p>
          <a:p>
            <a:pPr lvl="1"/>
            <a:r>
              <a:rPr lang="en-US" dirty="0"/>
              <a:t>Describe how external systems connect to a Guidewire web service</a:t>
            </a:r>
          </a:p>
          <a:p>
            <a:endParaRPr lang="en-US" dirty="0"/>
          </a:p>
        </p:txBody>
      </p:sp>
    </p:spTree>
    <p:extLst>
      <p:ext uri="{BB962C8B-B14F-4D97-AF65-F5344CB8AC3E}">
        <p14:creationId xmlns:p14="http://schemas.microsoft.com/office/powerpoint/2010/main" val="1696604355"/>
      </p:ext>
    </p:extLst>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r>
              <a:rPr lang="en-US" dirty="0"/>
              <a:t>What must be added to a Gosu class in order to make it:</a:t>
            </a:r>
          </a:p>
          <a:p>
            <a:pPr marL="857250" lvl="1" indent="-457200">
              <a:buFont typeface="+mj-lt"/>
              <a:buAutoNum type="alphaLcParenR"/>
            </a:pPr>
            <a:r>
              <a:rPr lang="en-US" dirty="0"/>
              <a:t>A Guidewire web service?</a:t>
            </a:r>
          </a:p>
          <a:p>
            <a:pPr marL="857250" lvl="1" indent="-457200">
              <a:buFont typeface="+mj-lt"/>
              <a:buAutoNum type="alphaLcParenR"/>
            </a:pPr>
            <a:r>
              <a:rPr lang="en-US" dirty="0"/>
              <a:t>A valid return type for Guidewire web service methods?</a:t>
            </a:r>
          </a:p>
          <a:p>
            <a:r>
              <a:rPr lang="en-US" dirty="0"/>
              <a:t>Identify if the following are true or false about a Guidewire </a:t>
            </a:r>
            <a:r>
              <a:rPr lang="en-US" dirty="0" err="1"/>
              <a:t>WS</a:t>
            </a:r>
            <a:r>
              <a:rPr lang="en-US" dirty="0"/>
              <a:t>-I web service API:</a:t>
            </a:r>
          </a:p>
          <a:p>
            <a:pPr marL="857250" lvl="1" indent="-457200">
              <a:buFont typeface="+mj-lt"/>
              <a:buAutoNum type="alphaLcParenR"/>
            </a:pPr>
            <a:r>
              <a:rPr lang="en-US" dirty="0"/>
              <a:t>It can return a simple value, such as a </a:t>
            </a:r>
            <a:r>
              <a:rPr lang="en-US" dirty="0" err="1"/>
              <a:t>boolean</a:t>
            </a:r>
            <a:r>
              <a:rPr lang="en-US" dirty="0"/>
              <a:t> or string.</a:t>
            </a:r>
          </a:p>
          <a:p>
            <a:pPr marL="857250" lvl="1" indent="-457200">
              <a:buFont typeface="+mj-lt"/>
              <a:buAutoNum type="alphaLcParenR"/>
            </a:pPr>
            <a:r>
              <a:rPr lang="en-US" dirty="0"/>
              <a:t>It can return an instance of any Gosu class.</a:t>
            </a:r>
          </a:p>
          <a:p>
            <a:pPr marL="857250" lvl="1" indent="-457200">
              <a:buFont typeface="+mj-lt"/>
              <a:buAutoNum type="alphaLcParenR"/>
            </a:pPr>
            <a:r>
              <a:rPr lang="en-US" dirty="0"/>
              <a:t>It can return an instance of any Guidewire data model entity.</a:t>
            </a:r>
          </a:p>
          <a:p>
            <a:pPr marL="857250" lvl="1" indent="-457200">
              <a:buFont typeface="+mj-lt"/>
              <a:buAutoNum type="alphaLcParenR"/>
            </a:pPr>
            <a:r>
              <a:rPr lang="en-US" dirty="0"/>
              <a:t>The WSDL gets generated when you save the class.</a:t>
            </a:r>
          </a:p>
          <a:p>
            <a:pPr marL="857250" lvl="1" indent="-457200">
              <a:buFont typeface="+mj-lt"/>
              <a:buAutoNum type="alphaLcParenR"/>
            </a:pPr>
            <a:r>
              <a:rPr lang="en-US" dirty="0"/>
              <a:t>It can list a set of permissions required to use the API.</a:t>
            </a:r>
          </a:p>
          <a:p>
            <a:pPr marL="857250" lvl="1" indent="-457200">
              <a:buFont typeface="+mj-lt"/>
              <a:buAutoNum type="alphaLcParenR"/>
            </a:pPr>
            <a:r>
              <a:rPr lang="en-US" dirty="0"/>
              <a:t>It can modify Guidewire data.</a:t>
            </a:r>
          </a:p>
          <a:p>
            <a:endParaRPr lang="en-US" dirty="0"/>
          </a:p>
        </p:txBody>
      </p:sp>
    </p:spTree>
    <p:extLst>
      <p:ext uri="{BB962C8B-B14F-4D97-AF65-F5344CB8AC3E}">
        <p14:creationId xmlns:p14="http://schemas.microsoft.com/office/powerpoint/2010/main" val="1418831828"/>
      </p:ext>
    </p:extLst>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2613362"/>
      </p:ext>
    </p:extLst>
  </p:cSld>
  <p:clrMapOvr>
    <a:masterClrMapping/>
  </p:clrMapOvr>
  <p:transition/>
</p:sld>
</file>

<file path=ppt/theme/theme1.xml><?xml version="1.0" encoding="utf-8"?>
<a:theme xmlns:a="http://schemas.openxmlformats.org/drawingml/2006/main" name="Emerald_Template">
  <a:themeElements>
    <a:clrScheme name="TA80_CurrDev_ThemeColorsSetA">
      <a:dk1>
        <a:srgbClr val="000000"/>
      </a:dk1>
      <a:lt1>
        <a:srgbClr val="FFFFFF"/>
      </a:lt1>
      <a:dk2>
        <a:srgbClr val="000000"/>
      </a:dk2>
      <a:lt2>
        <a:srgbClr val="FFFFFF"/>
      </a:lt2>
      <a:accent1>
        <a:srgbClr val="D33941"/>
      </a:accent1>
      <a:accent2>
        <a:srgbClr val="E5BA03"/>
      </a:accent2>
      <a:accent3>
        <a:srgbClr val="645893"/>
      </a:accent3>
      <a:accent4>
        <a:srgbClr val="D8691E"/>
      </a:accent4>
      <a:accent5>
        <a:srgbClr val="3F8E39"/>
      </a:accent5>
      <a:accent6>
        <a:srgbClr val="04628C"/>
      </a:accent6>
      <a:hlink>
        <a:srgbClr val="0000CC"/>
      </a:hlink>
      <a:folHlink>
        <a:srgbClr val="333399"/>
      </a:folHlink>
    </a:clrScheme>
    <a:fontScheme name="TA80_CurrDev_Theme_fontScheme">
      <a:majorFont>
        <a:latin typeface="Arial"/>
        <a:ea typeface=""/>
        <a:cs typeface=""/>
      </a:majorFont>
      <a:minorFont>
        <a:latin typeface="Arial"/>
        <a:ea typeface=""/>
        <a:cs typeface=""/>
      </a:minorFont>
    </a:fontScheme>
    <a:fmtScheme name="Metro">
      <a:fillStyleLst>
        <a:solidFill>
          <a:schemeClr val="phClr"/>
        </a:solidFill>
        <a:gradFill rotWithShape="1">
          <a:gsLst>
            <a:gs pos="0">
              <a:schemeClr val="phClr">
                <a:tint val="25000"/>
                <a:satMod val="125000"/>
              </a:schemeClr>
            </a:gs>
            <a:gs pos="40000">
              <a:schemeClr val="phClr">
                <a:tint val="55000"/>
                <a:satMod val="130000"/>
              </a:schemeClr>
            </a:gs>
            <a:gs pos="50000">
              <a:schemeClr val="phClr">
                <a:tint val="59000"/>
                <a:satMod val="130000"/>
              </a:schemeClr>
            </a:gs>
            <a:gs pos="65000">
              <a:schemeClr val="phClr">
                <a:tint val="55000"/>
                <a:satMod val="130000"/>
              </a:schemeClr>
            </a:gs>
            <a:gs pos="100000">
              <a:schemeClr val="phClr">
                <a:tint val="20000"/>
                <a:satMod val="125000"/>
              </a:schemeClr>
            </a:gs>
          </a:gsLst>
          <a:lin ang="5400000" scaled="0"/>
        </a:gradFill>
        <a:gradFill rotWithShape="1">
          <a:gsLst>
            <a:gs pos="0">
              <a:schemeClr val="phClr">
                <a:tint val="48000"/>
                <a:satMod val="138000"/>
              </a:schemeClr>
            </a:gs>
            <a:gs pos="25000">
              <a:schemeClr val="phClr">
                <a:tint val="85000"/>
              </a:schemeClr>
            </a:gs>
            <a:gs pos="40000">
              <a:schemeClr val="phClr">
                <a:tint val="92000"/>
              </a:schemeClr>
            </a:gs>
            <a:gs pos="50000">
              <a:schemeClr val="phClr">
                <a:tint val="93000"/>
              </a:schemeClr>
            </a:gs>
            <a:gs pos="60000">
              <a:schemeClr val="phClr">
                <a:tint val="92000"/>
              </a:schemeClr>
            </a:gs>
            <a:gs pos="75000">
              <a:schemeClr val="phClr">
                <a:tint val="83000"/>
                <a:satMod val="108000"/>
              </a:schemeClr>
            </a:gs>
            <a:gs pos="100000">
              <a:schemeClr val="phClr">
                <a:tint val="48000"/>
                <a:satMod val="150000"/>
              </a:schemeClr>
            </a:gs>
          </a:gsLst>
          <a:lin ang="5400000" scaled="0"/>
        </a:gradFill>
      </a:fillStyleLst>
      <a:lnStyleLst>
        <a:ln w="12000" cap="flat" cmpd="sng" algn="ctr">
          <a:solidFill>
            <a:schemeClr val="phClr"/>
          </a:solidFill>
          <a:prstDash val="solid"/>
        </a:ln>
        <a:ln w="19050" cap="flat" cmpd="sng" algn="ctr">
          <a:solidFill>
            <a:schemeClr val="phClr"/>
          </a:solidFill>
          <a:prstDash val="solid"/>
        </a:ln>
        <a:ln w="38100" cap="flat" cmpd="sng" algn="ctr">
          <a:solidFill>
            <a:schemeClr val="phClr"/>
          </a:solidFill>
          <a:prstDash val="solid"/>
        </a:ln>
      </a:lnStyleLst>
      <a:effectStyleLst>
        <a:effectStyle>
          <a:effectLst>
            <a:glow rad="63500">
              <a:schemeClr val="phClr">
                <a:alpha val="45000"/>
                <a:satMod val="120000"/>
              </a:schemeClr>
            </a:glow>
          </a:effectLst>
        </a:effectStyle>
        <a:effectStyle>
          <a:effectLst>
            <a:glow rad="63500">
              <a:schemeClr val="phClr">
                <a:alpha val="45000"/>
                <a:satMod val="120000"/>
              </a:schemeClr>
            </a:glow>
          </a:effectLst>
          <a:scene3d>
            <a:camera prst="orthographicFront" fov="0">
              <a:rot lat="0" lon="0" rev="0"/>
            </a:camera>
            <a:lightRig rig="brightRoom" dir="tl">
              <a:rot lat="0" lon="0" rev="8700000"/>
            </a:lightRig>
          </a:scene3d>
          <a:sp3d>
            <a:bevelT w="0" h="0"/>
            <a:contourClr>
              <a:schemeClr val="phClr">
                <a:tint val="70000"/>
              </a:schemeClr>
            </a:contourClr>
          </a:sp3d>
        </a:effectStyle>
        <a:effectStyle>
          <a:effectLst>
            <a:glow rad="101500">
              <a:schemeClr val="phClr">
                <a:alpha val="42000"/>
                <a:satMod val="120000"/>
              </a:schemeClr>
            </a:glow>
          </a:effectLst>
          <a:scene3d>
            <a:camera prst="orthographicFront" fov="0">
              <a:rot lat="0" lon="0" rev="0"/>
            </a:camera>
            <a:lightRig rig="glow" dir="t">
              <a:rot lat="0" lon="0" rev="4800000"/>
            </a:lightRig>
          </a:scene3d>
          <a:sp3d prstMaterial="powder">
            <a:bevelT w="50800" h="50800"/>
            <a:contourClr>
              <a:schemeClr val="ph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w="19050" algn="ctr">
          <a:solidFill>
            <a:srgbClr val="D33941"/>
          </a:solidFill>
          <a:round/>
          <a:headEnd/>
          <a:tailEnd/>
        </a:ln>
      </a:spPr>
      <a:bodyPr wrap="none" lIns="0" tIns="0" rIns="0" bIns="0" anchor="ctr">
        <a:noAutofit/>
      </a:bodyPr>
      <a:lstStyle>
        <a:defPPr algn="ctr">
          <a:spcBef>
            <a:spcPct val="50000"/>
          </a:spcBef>
          <a:spcAft>
            <a:spcPct val="30000"/>
          </a:spcAft>
          <a:buClr>
            <a:schemeClr val="tx1"/>
          </a:buClr>
          <a:defRPr/>
        </a:defPPr>
      </a:lstStyle>
    </a:spDef>
    <a:lnDef>
      <a:spPr bwMode="auto">
        <a:xfrm>
          <a:off x="0" y="0"/>
          <a:ext cx="1" cy="1"/>
        </a:xfrm>
        <a:custGeom>
          <a:avLst/>
          <a:gdLst/>
          <a:ahLst/>
          <a:cxnLst/>
          <a:rect l="0" t="0" r="0" b="0"/>
          <a:pathLst/>
        </a:custGeom>
        <a:noFill/>
        <a:ln w="12700" cap="flat" cmpd="sng" algn="ctr">
          <a:solidFill>
            <a:srgbClr val="FF0000"/>
          </a:solidFill>
          <a:prstDash val="solid"/>
          <a:round/>
          <a:headEnd type="none" w="med" len="med"/>
          <a:tailEnd type="none" w="med" len="med"/>
        </a:ln>
        <a:effectLst/>
      </a:spPr>
      <a:bodyPr vert="horz" wrap="none" lIns="0" tIns="0" rIns="0" bIns="0" numCol="1" anchor="ctr" anchorCtr="0" compatLnSpc="1">
        <a:prstTxWarp prst="textNoShape">
          <a:avLst/>
        </a:prstTxWarp>
        <a:spAutoFit/>
      </a:bodyPr>
      <a:lstStyle>
        <a:defPPr marL="0" marR="0" indent="0" algn="ctr" defTabSz="914400" rtl="0" eaLnBrk="1" fontAlgn="base" latinLnBrk="0" hangingPunct="1">
          <a:lnSpc>
            <a:spcPct val="100000"/>
          </a:lnSpc>
          <a:spcBef>
            <a:spcPct val="50000"/>
          </a:spcBef>
          <a:spcAft>
            <a:spcPct val="30000"/>
          </a:spcAft>
          <a:buClr>
            <a:schemeClr val="tx1"/>
          </a:buClr>
          <a:buSzTx/>
          <a:buFontTx/>
          <a:buNone/>
          <a:tabLst/>
          <a:defRPr kumimoji="0" lang="en-US" sz="2000" b="1" i="0" u="none" strike="noStrike" cap="none" normalizeH="0" baseline="0" smtClean="0">
            <a:ln>
              <a:noFill/>
            </a:ln>
            <a:solidFill>
              <a:srgbClr val="FF0000"/>
            </a:solidFill>
            <a:effectLst/>
            <a:latin typeface="Arial" charset="0"/>
          </a:defRPr>
        </a:defPPr>
      </a:lstStyle>
    </a:lnDef>
    <a:txDef>
      <a:spPr>
        <a:noFill/>
      </a:spPr>
      <a:bodyPr wrap="none" rtlCol="0">
        <a:noAutofit/>
      </a:bodyPr>
      <a:lstStyle>
        <a:defPPr>
          <a:defRPr dirty="0" smtClean="0">
            <a:solidFill>
              <a:srgbClr val="C00000"/>
            </a:solidFill>
            <a:latin typeface="Arial" pitchFamily="32" charset="0"/>
            <a:cs typeface="Arial" pitchFamily="32" charset="0"/>
          </a:defRPr>
        </a:defPPr>
      </a:lstStyle>
    </a:tx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FE25F46BE72C745BC3597C411E6D698" ma:contentTypeVersion="7" ma:contentTypeDescription="Create a new document." ma:contentTypeScope="" ma:versionID="42cc1264122cb5f1b00ff050e8ed06f3">
  <xsd:schema xmlns:xsd="http://www.w3.org/2001/XMLSchema" xmlns:xs="http://www.w3.org/2001/XMLSchema" xmlns:p="http://schemas.microsoft.com/office/2006/metadata/properties" xmlns:ns2="cc6d5ae3-247c-49fe-9479-82cb21687850" targetNamespace="http://schemas.microsoft.com/office/2006/metadata/properties" ma:root="true" ma:fieldsID="3428103ad3fab95bdcad552e0b740dff" ns2:_="">
    <xsd:import namespace="cc6d5ae3-247c-49fe-9479-82cb21687850"/>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c6d5ae3-247c-49fe-9479-82cb2168785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73EE2A0-31D3-4F11-95DF-6B40B289F118}"/>
</file>

<file path=customXml/itemProps2.xml><?xml version="1.0" encoding="utf-8"?>
<ds:datastoreItem xmlns:ds="http://schemas.openxmlformats.org/officeDocument/2006/customXml" ds:itemID="{E5E86056-C995-4F57-AED2-8875D4A333B3}"/>
</file>

<file path=customXml/itemProps3.xml><?xml version="1.0" encoding="utf-8"?>
<ds:datastoreItem xmlns:ds="http://schemas.openxmlformats.org/officeDocument/2006/customXml" ds:itemID="{DC73FCD6-B145-4724-A2EB-A5F50B39E12D}"/>
</file>

<file path=docProps/app.xml><?xml version="1.0" encoding="utf-8"?>
<Properties xmlns="http://schemas.openxmlformats.org/officeDocument/2006/extended-properties" xmlns:vt="http://schemas.openxmlformats.org/officeDocument/2006/docPropsVTypes">
  <Template>Emerald_Template</Template>
  <TotalTime>747</TotalTime>
  <Words>3772</Words>
  <Application>Microsoft Office PowerPoint</Application>
  <PresentationFormat>On-screen Show (4:3)</PresentationFormat>
  <Paragraphs>372</Paragraphs>
  <Slides>30</Slides>
  <Notes>30</Notes>
  <HiddenSlides>0</HiddenSlides>
  <MMClips>0</MMClips>
  <ScaleCrop>false</ScaleCrop>
  <HeadingPairs>
    <vt:vector size="4" baseType="variant">
      <vt:variant>
        <vt:lpstr>Theme</vt:lpstr>
      </vt:variant>
      <vt:variant>
        <vt:i4>1</vt:i4>
      </vt:variant>
      <vt:variant>
        <vt:lpstr>Slide Titles</vt:lpstr>
      </vt:variant>
      <vt:variant>
        <vt:i4>30</vt:i4>
      </vt:variant>
    </vt:vector>
  </HeadingPairs>
  <TitlesOfParts>
    <vt:vector size="31" baseType="lpstr">
      <vt:lpstr>Emerald_Template</vt:lpstr>
      <vt:lpstr>Publishing Guidewire Web Services</vt:lpstr>
      <vt:lpstr>PowerPoint Presentation</vt:lpstr>
      <vt:lpstr>PowerPoint Presentation</vt:lpstr>
      <vt:lpstr>Guidewire web services</vt:lpstr>
      <vt:lpstr>Guidewire support for WS-I web services</vt:lpstr>
      <vt:lpstr>Create a Guidewire WS-I web service</vt:lpstr>
      <vt:lpstr>Step 1: Create a package</vt:lpstr>
      <vt:lpstr>Step 2: Create Gosu class</vt:lpstr>
      <vt:lpstr>Step 3: Add web service class annotations</vt:lpstr>
      <vt:lpstr>Step 4: Add methods</vt:lpstr>
      <vt:lpstr>runWithNewBundle() for WS-I web service</vt:lpstr>
      <vt:lpstr>Step 5: Deploy your changes</vt:lpstr>
      <vt:lpstr>PowerPoint Presentation</vt:lpstr>
      <vt:lpstr>Returned objects from web service</vt:lpstr>
      <vt:lpstr>Gosu class for web service return types</vt:lpstr>
      <vt:lpstr>PowerPoint Presentation</vt:lpstr>
      <vt:lpstr>Testing web services</vt:lpstr>
      <vt:lpstr>WSDL generator for local web services</vt:lpstr>
      <vt:lpstr>WSDL local test example</vt:lpstr>
      <vt:lpstr>PowerPoint Presentation</vt:lpstr>
      <vt:lpstr>Consuming a Guidewire web service</vt:lpstr>
      <vt:lpstr>Step 1: Determine WSDL URL</vt:lpstr>
      <vt:lpstr>Step 2: Generate code the WSDL</vt:lpstr>
      <vt:lpstr>Step 3: Import code into your IDE</vt:lpstr>
      <vt:lpstr>Web service and Gosu classes</vt:lpstr>
      <vt:lpstr>Step 4: Writing client code</vt:lpstr>
      <vt:lpstr>Redeploying the web service client code </vt:lpstr>
      <vt:lpstr>PowerPoint Presentation</vt:lpstr>
      <vt:lpstr>PowerPoint Presentation</vt:lpstr>
      <vt:lpstr>PowerPoint Presentation</vt:lpstr>
    </vt:vector>
  </TitlesOfParts>
  <Company>Guidewire, Inc.</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Publishing Web Services</dc:title>
  <dc:subject>Guidewire 8.0 Application Integration Publishing Web Services</dc:subject>
  <dc:creator>Seth Luersen</dc:creator>
  <cp:keywords>Emerald;Guidewire 8.0 Application Integration;Publishing Web Services</cp:keywords>
  <cp:lastModifiedBy>Guidewire Education</cp:lastModifiedBy>
  <cp:revision>106</cp:revision>
  <dcterms:created xsi:type="dcterms:W3CDTF">2013-08-19T16:16:51Z</dcterms:created>
  <dcterms:modified xsi:type="dcterms:W3CDTF">2014-05-16T20:59:41Z</dcterms:modified>
  <cp:contentStatus>Final</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MarkAsFinal">
    <vt:bool>true</vt:bool>
  </property>
  <property fmtid="{D5CDD505-2E9C-101B-9397-08002B2CF9AE}" pid="3" name="ContentTypeId">
    <vt:lpwstr>0x0101004FE25F46BE72C745BC3597C411E6D698</vt:lpwstr>
  </property>
</Properties>
</file>