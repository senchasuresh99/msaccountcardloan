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s/slide3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0.xml" ContentType="application/vnd.openxmlformats-officedocument.presentationml.slide+xml"/>
  <Override PartName="/ppt/slides/slide51.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61.xml" ContentType="application/vnd.openxmlformats-officedocument.presentationml.slide+xml"/>
  <Override PartName="/ppt/slides/slide60.xml" ContentType="application/vnd.openxmlformats-officedocument.presentationml.slide+xml"/>
  <Override PartName="/ppt/slides/slide59.xml" ContentType="application/vnd.openxmlformats-officedocument.presentationml.slide+xml"/>
  <Override PartName="/ppt/slides/slide58.xml" ContentType="application/vnd.openxmlformats-officedocument.presentationml.slide+xml"/>
  <Override PartName="/ppt/slides/slide50.xml" ContentType="application/vnd.openxmlformats-officedocument.presentationml.slide+xml"/>
  <Override PartName="/ppt/slides/slide52.xml" ContentType="application/vnd.openxmlformats-officedocument.presentationml.slide+xml"/>
  <Override PartName="/ppt/slides/slide48.xml" ContentType="application/vnd.openxmlformats-officedocument.presentationml.slide+xml"/>
  <Override PartName="/ppt/slides/slide1.xml" ContentType="application/vnd.openxmlformats-officedocument.presentationml.slide+xml"/>
  <Override PartName="/ppt/slides/slide4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41.xml" ContentType="application/vnd.openxmlformats-officedocument.presentationml.slide+xml"/>
  <Override PartName="/ppt/slides/slide2.xml" ContentType="application/vnd.openxmlformats-officedocument.presentationml.slide+xml"/>
  <Override PartName="/ppt/slides/slide43.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2.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Slides/notesSlide57.xml" ContentType="application/vnd.openxmlformats-officedocument.presentationml.notesSlide+xml"/>
  <Override PartName="/ppt/notesSlides/notesSlide59.xml" ContentType="application/vnd.openxmlformats-officedocument.presentationml.notesSlide+xml"/>
  <Override PartName="/ppt/notesSlides/notesSlide58.xml" ContentType="application/vnd.openxmlformats-officedocument.presentationml.notesSlide+xml"/>
  <Override PartName="/ppt/notesSlides/notesSlide56.xml" ContentType="application/vnd.openxmlformats-officedocument.presentationml.notesSlide+xml"/>
  <Override PartName="/ppt/notesSlides/notesSlide60.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1.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3.xml" ContentType="application/vnd.openxmlformats-officedocument.presentationml.notesSlide+xml"/>
  <Override PartName="/ppt/notesSlides/notesSlide52.xml" ContentType="application/vnd.openxmlformats-officedocument.presentationml.notesSlide+xml"/>
  <Override PartName="/ppt/notesSlides/notesSlide51.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38.xml" ContentType="application/vnd.openxmlformats-officedocument.presentationml.notesSlide+xml"/>
  <Override PartName="/ppt/notesSlides/notesSlide61.xml" ContentType="application/vnd.openxmlformats-officedocument.presentationml.notesSlid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slideLayouts/slideLayout29.xml" ContentType="application/vnd.openxmlformats-officedocument.presentationml.slideLayout+xml"/>
  <Override PartName="/ppt/slideLayouts/slideLayout28.xml" ContentType="application/vnd.openxmlformats-officedocument.presentationml.slideLayout+xml"/>
  <Override PartName="/ppt/slideLayouts/slideLayout27.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notesSlides/notesSlide7.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5.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5.xml" ContentType="application/vnd.openxmlformats-officedocument.presentationml.notesSlide+xml"/>
  <Override PartName="/ppt/notesSlides/notesSlide34.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2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1.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4.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ommentAuthors.xml" ContentType="application/vnd.openxmlformats-officedocument.presentationml.commentAuthors+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763" r:id="rId1"/>
  </p:sldMasterIdLst>
  <p:notesMasterIdLst>
    <p:notesMasterId r:id="rId63"/>
  </p:notesMasterIdLst>
  <p:handoutMasterIdLst>
    <p:handoutMasterId r:id="rId64"/>
  </p:handoutMasterIdLst>
  <p:sldIdLst>
    <p:sldId id="256" r:id="rId2"/>
    <p:sldId id="257" r:id="rId3"/>
    <p:sldId id="258" r:id="rId4"/>
    <p:sldId id="259" r:id="rId5"/>
    <p:sldId id="352" r:id="rId6"/>
    <p:sldId id="353" r:id="rId7"/>
    <p:sldId id="281" r:id="rId8"/>
    <p:sldId id="263" r:id="rId9"/>
    <p:sldId id="264" r:id="rId10"/>
    <p:sldId id="267" r:id="rId11"/>
    <p:sldId id="324" r:id="rId12"/>
    <p:sldId id="286" r:id="rId13"/>
    <p:sldId id="325" r:id="rId14"/>
    <p:sldId id="287" r:id="rId15"/>
    <p:sldId id="265" r:id="rId16"/>
    <p:sldId id="326" r:id="rId17"/>
    <p:sldId id="266" r:id="rId18"/>
    <p:sldId id="290" r:id="rId19"/>
    <p:sldId id="327" r:id="rId20"/>
    <p:sldId id="329" r:id="rId21"/>
    <p:sldId id="330" r:id="rId22"/>
    <p:sldId id="359" r:id="rId23"/>
    <p:sldId id="355" r:id="rId24"/>
    <p:sldId id="331" r:id="rId25"/>
    <p:sldId id="357" r:id="rId26"/>
    <p:sldId id="356" r:id="rId27"/>
    <p:sldId id="360" r:id="rId28"/>
    <p:sldId id="361" r:id="rId29"/>
    <p:sldId id="363" r:id="rId30"/>
    <p:sldId id="270" r:id="rId31"/>
    <p:sldId id="273" r:id="rId32"/>
    <p:sldId id="309" r:id="rId33"/>
    <p:sldId id="311" r:id="rId34"/>
    <p:sldId id="314" r:id="rId35"/>
    <p:sldId id="316" r:id="rId36"/>
    <p:sldId id="348" r:id="rId37"/>
    <p:sldId id="332" r:id="rId38"/>
    <p:sldId id="364" r:id="rId39"/>
    <p:sldId id="365" r:id="rId40"/>
    <p:sldId id="366" r:id="rId41"/>
    <p:sldId id="367" r:id="rId42"/>
    <p:sldId id="368" r:id="rId43"/>
    <p:sldId id="369" r:id="rId44"/>
    <p:sldId id="370" r:id="rId45"/>
    <p:sldId id="371" r:id="rId46"/>
    <p:sldId id="272" r:id="rId47"/>
    <p:sldId id="349" r:id="rId48"/>
    <p:sldId id="341" r:id="rId49"/>
    <p:sldId id="340" r:id="rId50"/>
    <p:sldId id="343" r:id="rId51"/>
    <p:sldId id="358" r:id="rId52"/>
    <p:sldId id="347" r:id="rId53"/>
    <p:sldId id="372" r:id="rId54"/>
    <p:sldId id="374" r:id="rId55"/>
    <p:sldId id="375" r:id="rId56"/>
    <p:sldId id="376" r:id="rId57"/>
    <p:sldId id="377" r:id="rId58"/>
    <p:sldId id="378" r:id="rId59"/>
    <p:sldId id="379" r:id="rId60"/>
    <p:sldId id="260" r:id="rId61"/>
    <p:sldId id="262" r:id="rId6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BBE88CA-60B1-41F9-9D82-E2AD85DAA7FD}">
          <p14:sldIdLst>
            <p14:sldId id="256"/>
            <p14:sldId id="257"/>
          </p14:sldIdLst>
        </p14:section>
        <p14:section name="Overview" id="{0CA6634F-C6FD-4BBA-B04E-9ED03905FDE5}">
          <p14:sldIdLst>
            <p14:sldId id="258"/>
            <p14:sldId id="259"/>
            <p14:sldId id="352"/>
            <p14:sldId id="353"/>
            <p14:sldId id="281"/>
          </p14:sldIdLst>
        </p14:section>
        <p14:section name="AccountProducer" id="{9AB265C6-82C7-403F-A73D-4F5DDCF28E70}">
          <p14:sldIdLst>
            <p14:sldId id="263"/>
            <p14:sldId id="264"/>
            <p14:sldId id="267"/>
            <p14:sldId id="324"/>
            <p14:sldId id="286"/>
            <p14:sldId id="325"/>
            <p14:sldId id="287"/>
          </p14:sldIdLst>
        </p14:section>
        <p14:section name="Billing instructions" id="{6B47C053-8AE8-4597-A5C0-7395324E1480}">
          <p14:sldIdLst>
            <p14:sldId id="265"/>
            <p14:sldId id="326"/>
            <p14:sldId id="266"/>
            <p14:sldId id="290"/>
            <p14:sldId id="327"/>
            <p14:sldId id="329"/>
            <p14:sldId id="330"/>
            <p14:sldId id="359"/>
            <p14:sldId id="355"/>
            <p14:sldId id="331"/>
            <p14:sldId id="357"/>
            <p14:sldId id="356"/>
            <p14:sldId id="360"/>
            <p14:sldId id="361"/>
            <p14:sldId id="363"/>
          </p14:sldIdLst>
        </p14:section>
        <p14:section name="Billing Status" id="{65203A99-51EB-4DF5-B7B3-F1FE25468D59}">
          <p14:sldIdLst>
            <p14:sldId id="270"/>
            <p14:sldId id="273"/>
            <p14:sldId id="309"/>
            <p14:sldId id="311"/>
            <p14:sldId id="314"/>
            <p14:sldId id="316"/>
            <p14:sldId id="348"/>
            <p14:sldId id="332"/>
            <p14:sldId id="364"/>
            <p14:sldId id="365"/>
            <p14:sldId id="366"/>
            <p14:sldId id="367"/>
            <p14:sldId id="368"/>
            <p14:sldId id="369"/>
            <p14:sldId id="370"/>
            <p14:sldId id="371"/>
          </p14:sldIdLst>
        </p14:section>
        <p14:section name="LatePaymentCancleeation" id="{6B92115A-FE9E-4D14-A51A-A6820A89F306}">
          <p14:sldIdLst>
            <p14:sldId id="272"/>
            <p14:sldId id="349"/>
            <p14:sldId id="341"/>
            <p14:sldId id="340"/>
            <p14:sldId id="343"/>
            <p14:sldId id="358"/>
            <p14:sldId id="347"/>
            <p14:sldId id="372"/>
            <p14:sldId id="374"/>
            <p14:sldId id="375"/>
            <p14:sldId id="376"/>
            <p14:sldId id="377"/>
            <p14:sldId id="378"/>
            <p14:sldId id="379"/>
          </p14:sldIdLst>
        </p14:section>
        <p14:section name="Review" id="{CD3E2942-0691-4B15-B842-079311E6BD2A}">
          <p14:sldIdLst>
            <p14:sldId id="260"/>
            <p14:sldId id="262"/>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Guidewire Education" initials="sluersen" lastIdx="8"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76985" autoAdjust="0"/>
  </p:normalViewPr>
  <p:slideViewPr>
    <p:cSldViewPr showGuides="1">
      <p:cViewPr varScale="1">
        <p:scale>
          <a:sx n="106" d="100"/>
          <a:sy n="106" d="100"/>
        </p:scale>
        <p:origin x="-804" y="-96"/>
      </p:cViewPr>
      <p:guideLst>
        <p:guide orient="horz" pos="1776"/>
        <p:guide/>
      </p:guideLst>
    </p:cSldViewPr>
  </p:slideViewPr>
  <p:notesTextViewPr>
    <p:cViewPr>
      <p:scale>
        <a:sx n="200" d="100"/>
        <a:sy n="200" d="100"/>
      </p:scale>
      <p:origin x="0" y="0"/>
    </p:cViewPr>
  </p:notesTextViewPr>
  <p:sorterViewPr>
    <p:cViewPr>
      <p:scale>
        <a:sx n="100" d="100"/>
        <a:sy n="100" d="100"/>
      </p:scale>
      <p:origin x="0" y="0"/>
    </p:cViewPr>
  </p:sorterViewPr>
  <p:notesViewPr>
    <p:cSldViewPr showGuides="1">
      <p:cViewPr>
        <p:scale>
          <a:sx n="125" d="100"/>
          <a:sy n="125" d="100"/>
        </p:scale>
        <p:origin x="-1968" y="492"/>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customXml" Target="../customXml/item3.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2014-11-14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hidden="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smtClean="0">
                <a:latin typeface="Arial" pitchFamily="34" charset="0"/>
                <a:cs typeface="Arial" pitchFamily="34" charset="0"/>
              </a:rPr>
              <a:t>© Guidewire Software, Inc. 2001-2014. All rights reserved.</a:t>
            </a:r>
            <a:br>
              <a:rPr lang="en-US" sz="800" smtClean="0">
                <a:latin typeface="Arial" pitchFamily="34" charset="0"/>
                <a:cs typeface="Arial" pitchFamily="34" charset="0"/>
              </a:rPr>
            </a:br>
            <a:r>
              <a:rPr lang="en-US" sz="800" smtClean="0">
                <a:latin typeface="Arial" pitchFamily="34" charset="0"/>
                <a:cs typeface="Arial" pitchFamily="34" charset="0"/>
              </a:rPr>
              <a:t>Do not distribute without permission.</a:t>
            </a:r>
            <a:endParaRPr lang="en-US" sz="80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a:p>
        </p:txBody>
      </p:sp>
    </p:spTree>
    <p:extLst>
      <p:ext uri="{BB962C8B-B14F-4D97-AF65-F5344CB8AC3E}">
        <p14:creationId xmlns:p14="http://schemas.microsoft.com/office/powerpoint/2010/main" val="2677385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66225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878212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Every Guidewire application is designed to exchange information with other Guidewire applications. Each point of exchange is known as a cross-application integration point.</a:t>
            </a:r>
          </a:p>
          <a:p>
            <a:r>
              <a:rPr lang="en-US" dirty="0" smtClean="0"/>
              <a:t>The cross-application integration points are designed to</a:t>
            </a:r>
            <a:r>
              <a:rPr lang="en-US" dirty="0"/>
              <a:t> </a:t>
            </a:r>
            <a:r>
              <a:rPr lang="en-US" dirty="0" smtClean="0"/>
              <a:t>require minimal work to enable and re as little configuration work as possible to meet the needs of any customer.</a:t>
            </a:r>
          </a:p>
          <a:p>
            <a:endParaRPr lang="en-US" dirty="0" smtClean="0"/>
          </a:p>
          <a:p>
            <a:r>
              <a:rPr lang="en-US" dirty="0" smtClean="0"/>
              <a:t>There are also cross-application integration points between:</a:t>
            </a:r>
          </a:p>
          <a:p>
            <a:pPr marL="171450" indent="-171450">
              <a:buFont typeface="Arial" pitchFamily="34" charset="0"/>
              <a:buChar char="•"/>
            </a:pPr>
            <a:r>
              <a:rPr lang="en-US" dirty="0" smtClean="0"/>
              <a:t>ContactManager and BillingCenter</a:t>
            </a:r>
          </a:p>
          <a:p>
            <a:pPr marL="171450" indent="-171450">
              <a:buFont typeface="Arial" pitchFamily="34" charset="0"/>
              <a:buChar char="•"/>
            </a:pPr>
            <a:r>
              <a:rPr lang="en-US" dirty="0" smtClean="0"/>
              <a:t>ContactManager and PolicyCenter</a:t>
            </a:r>
          </a:p>
          <a:p>
            <a:pPr marL="171450" indent="-171450">
              <a:buFont typeface="Arial" pitchFamily="34" charset="0"/>
              <a:buChar char="•"/>
            </a:pPr>
            <a:r>
              <a:rPr lang="en-US" dirty="0" smtClean="0"/>
              <a:t>ContactManager and ClaimCenter</a:t>
            </a:r>
          </a:p>
          <a:p>
            <a:pPr marL="171450" indent="-171450">
              <a:buFont typeface="Arial" pitchFamily="34" charset="0"/>
              <a:buChar char="•"/>
            </a:pPr>
            <a:endParaRPr lang="en-US" dirty="0" smtClean="0"/>
          </a:p>
          <a:p>
            <a:r>
              <a:rPr lang="en-US" dirty="0" smtClean="0"/>
              <a:t>There are no cross-application integration points between BillingCenter and ClaimCenter.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4176946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Cross-application integration points are built almost entirely from the standard Guidewire integration mechanisms. Some of the integration points use functionality that are not strictly integration mechanisms, such as xml files, assignment rules, and activity patterns.</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1777217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The suite-config.xml file exists in every Guidewire application. For a given instance of a Guidewire application, the file specifies</a:t>
            </a:r>
            <a:r>
              <a:rPr lang="en-US" baseline="0" smtClean="0"/>
              <a:t> </a:t>
            </a:r>
            <a:r>
              <a:rPr lang="en-US" smtClean="0"/>
              <a:t>the URLs required to connect to other Guidewire applications.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mtClean="0"/>
              <a:t>When enabling cross-application integration points, edit the file</a:t>
            </a:r>
            <a:r>
              <a:rPr lang="en-US" baseline="0" smtClean="0"/>
              <a:t> and specify the correct URLs for each application.</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33744465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slide example, the diagram shows a high-level view of PolicyCenter and BillingCenter integration.</a:t>
            </a:r>
          </a:p>
          <a:p>
            <a:endParaRPr lang="en-US" dirty="0" smtClean="0"/>
          </a:p>
          <a:p>
            <a:r>
              <a:rPr lang="en-US" dirty="0" smtClean="0"/>
              <a:t>Account and producer processing consists of PolicyCenter sending newly created producers, producer codes, and accounts to BillingCenter.</a:t>
            </a:r>
          </a:p>
          <a:p>
            <a:endParaRPr lang="en-US" dirty="0" smtClean="0"/>
          </a:p>
          <a:p>
            <a:r>
              <a:rPr lang="en-US" dirty="0" smtClean="0"/>
              <a:t>Billing instructions consists of PolicyCenter sending a billing instruction to BillingCenter whenever a policy transaction is issued.</a:t>
            </a:r>
          </a:p>
          <a:p>
            <a:endParaRPr lang="en-US" dirty="0" smtClean="0"/>
          </a:p>
          <a:p>
            <a:r>
              <a:rPr lang="en-US" dirty="0" smtClean="0"/>
              <a:t>Late payment cancellation consists of BillingCenter initiating the cancellation process in </a:t>
            </a:r>
          </a:p>
          <a:p>
            <a:endParaRPr lang="en-US" dirty="0" smtClean="0"/>
          </a:p>
          <a:p>
            <a:r>
              <a:rPr lang="en-US" dirty="0" smtClean="0"/>
              <a:t>PolicyCenter when a given account reaches the end of a delinquency process.</a:t>
            </a:r>
          </a:p>
          <a:p>
            <a:r>
              <a:rPr lang="en-US" dirty="0" smtClean="0"/>
              <a:t>Billing status consists of PolicyCenter users viewing data about policy billing in BillingCenter.</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34271397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42945149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Both BillingCenter and the policy administration system maintain shared account, policy period, billing, and other information. While both applications have access to the information, only one application, either PolicyCenter or BillingCenter, is the system of record (</a:t>
            </a:r>
            <a:r>
              <a:rPr lang="en-US" dirty="0" err="1" smtClean="0"/>
              <a:t>SOR</a:t>
            </a:r>
            <a:r>
              <a:rPr lang="en-US" dirty="0" smtClean="0"/>
              <a:t>) for each piece of information. Most information originates in PolicyCenter and the relevant information is "pushed" to BillingCenter. Updates made to accounts, policies, and producers in BillingCenter typically are not updated in PolicyCenter.</a:t>
            </a:r>
          </a:p>
          <a:p>
            <a:endParaRPr lang="en-US" dirty="0" smtClean="0"/>
          </a:p>
          <a:p>
            <a:r>
              <a:rPr lang="en-US" dirty="0" smtClean="0"/>
              <a:t>You can customize some aspects of the integration to use a third party application as the system of record. That system may provide shared information to both BillingCenter and the policy system. For example, a carrier can have a producer management system that manages producers and producer codes for both systems.</a:t>
            </a:r>
          </a:p>
          <a:p>
            <a:endParaRPr lang="en-US" dirty="0" smtClean="0"/>
          </a:p>
          <a:p>
            <a:r>
              <a:rPr lang="en-US" dirty="0" smtClean="0"/>
              <a:t>PolicyCenter retrieves billing information from BillingCenter and displays this billing information in account and policy files to provide PolicyCenter users with various aspects of billing status. A PolicyCenter user with a BillingCenter login can use links to view billing information within BillingCenter.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33383838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PolicyCenter, an organization can have multiple producer codes. An organization in PolicyCenter corresponds to a producer in BillingCenter. In BillingCenter, a producer can have multiple producer codes.</a:t>
            </a:r>
          </a:p>
          <a:p>
            <a:r>
              <a:rPr lang="en-US" dirty="0" smtClean="0"/>
              <a:t>PolicyCenter manages and sends updates to BillingCenter.</a:t>
            </a:r>
          </a:p>
          <a:p>
            <a:endParaRPr lang="en-US" dirty="0" smtClean="0"/>
          </a:p>
          <a:p>
            <a:r>
              <a:rPr lang="en-US" b="1" dirty="0" smtClean="0"/>
              <a:t>External Producer Management</a:t>
            </a:r>
          </a:p>
          <a:p>
            <a:r>
              <a:rPr lang="en-US" dirty="0" smtClean="0"/>
              <a:t>If a carrier has an external producer management system, the external system manages the producer and producer code and sends details to both PolicyCenter and BillingCenter. Additional configuration is necessary to implement this approach. For example, you need to:</a:t>
            </a:r>
          </a:p>
          <a:p>
            <a:pPr marL="171450" indent="-171450">
              <a:buFont typeface="Arial" pitchFamily="34" charset="0"/>
              <a:buChar char="•"/>
            </a:pPr>
            <a:r>
              <a:rPr lang="en-US" dirty="0" smtClean="0"/>
              <a:t>Disable the ability to edit producers and producer codes in the PolicyCenter and BillingCenter applications</a:t>
            </a:r>
          </a:p>
          <a:p>
            <a:pPr marL="171450" indent="-171450">
              <a:buFont typeface="Arial" pitchFamily="34" charset="0"/>
              <a:buChar char="•"/>
            </a:pPr>
            <a:r>
              <a:rPr lang="en-US" dirty="0" smtClean="0"/>
              <a:t>Turn off add/update messaging for producers from PolicyCenter to BillingCenter</a:t>
            </a:r>
          </a:p>
          <a:p>
            <a:pPr marL="171450" indent="-171450">
              <a:buFont typeface="Arial" pitchFamily="34" charset="0"/>
              <a:buChar char="•"/>
            </a:pPr>
            <a:r>
              <a:rPr lang="en-US" dirty="0" smtClean="0"/>
              <a:t>Provide integration to update tables in PolicyCenter and BillingCenter databases</a:t>
            </a:r>
          </a:p>
          <a:p>
            <a:endParaRPr lang="en-US" dirty="0" smtClean="0"/>
          </a:p>
          <a:p>
            <a:r>
              <a:rPr lang="en-US" b="1" dirty="0" smtClean="0"/>
              <a:t>Differences in Producer Models Between PolicyCenter and BillingCenter</a:t>
            </a:r>
          </a:p>
          <a:p>
            <a:r>
              <a:rPr lang="en-US" dirty="0" smtClean="0"/>
              <a:t>BillingCenter customers may have a requirement to integrate to policy administration systems other than PolicyCenter.  For this reason, the producer model in BillingCenter differs in some respects from that in PolicyCenter:</a:t>
            </a:r>
            <a:r>
              <a:rPr lang="en-US" baseline="0" dirty="0" smtClean="0"/>
              <a:t> </a:t>
            </a:r>
            <a:r>
              <a:rPr lang="en-US" dirty="0" smtClean="0"/>
              <a:t>BillingCenter allows a user to transfer multiple policies between a source and destination producer, whereas this feature is not supported in PolicyCenter;</a:t>
            </a:r>
            <a:r>
              <a:rPr lang="en-US" baseline="0" dirty="0" smtClean="0"/>
              <a:t> and </a:t>
            </a:r>
            <a:r>
              <a:rPr lang="en-US" dirty="0" smtClean="0"/>
              <a:t>PolicyCenter users can select a primary producer only, whereas BillingCenter allows selection of primary, secondary, and referrer producers.</a:t>
            </a:r>
          </a:p>
          <a:p>
            <a:r>
              <a:rPr lang="en-US" dirty="0" smtClean="0"/>
              <a:t>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4580698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Users create producer organizations and producer codes in PolicyCenter, which are then pushed into BillingCenter. Public IDs provide the means for matching a PolicyCenter Organization entity with the corresponding BillingCenter Producer entity. At the time the PolicyCenter producer organization is created, PolicyCenter obtains valid agency bill plan choices from BillingCenter. When producer codes are created in PolicyCenter, PolicyCenter obtains valid commission plans from BillingCenter. After PolicyCenter sends a producer to BillingCenter, these plan assignments become the responsibility of BillingCenter. PolicyCenter also sends contact information for producer contacts and sends updates whenever contact details are subsequently changed in PolicyCenter. BillingCenter does not send updates back to PolicyCenter if producer details are changed within BillingCenter. </a:t>
            </a:r>
          </a:p>
          <a:p>
            <a:endParaRPr lang="en-US" dirty="0" smtClean="0"/>
          </a:p>
          <a:p>
            <a:r>
              <a:rPr lang="en-US" b="1" dirty="0" smtClean="0"/>
              <a:t>Transferring Policies Between Producers</a:t>
            </a:r>
          </a:p>
          <a:p>
            <a:r>
              <a:rPr lang="en-US" dirty="0" smtClean="0"/>
              <a:t>The Transfer Producer Wizard in BillingCenter enables you to transfer multiple policies from one producer to another in a single operation. In the default configuration, BillingCenter does not inform PolicyCenter when policies have been transferred to another producer. Typically, a billing representative would inform underwriting to switch the producer of service in PolicyCenter as soon as BillingCenter completes the transfer operation. </a:t>
            </a:r>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4580698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An organization in PolicyCenter corresponds to a producer in BillingCenter. You can group organizations in PolicyCenter.</a:t>
            </a:r>
            <a:r>
              <a:rPr lang="en-US" baseline="0" smtClean="0"/>
              <a:t>  Organizations are grouped in the Actions sidebar as a hiearchy tree.  The hierarchial groupings of producers are not replicated in BillingCenter.</a:t>
            </a:r>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18744490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latin typeface="Arial" pitchFamily="34" charset="0"/>
              </a:rPr>
              <a:t>PolicyCenter sends information about new accounts to BillingCenter only when the account has a bound submission. In many cases, accounts known to PolicyCenter never complete any submission. Therefore, there are typically PolicyCenter accounts that are never made known to BillingCenter.</a:t>
            </a:r>
          </a:p>
          <a:p>
            <a:endParaRPr lang="en-US" dirty="0" smtClean="0">
              <a:latin typeface="Arial" pitchFamily="34" charset="0"/>
            </a:endParaRPr>
          </a:p>
          <a:p>
            <a:r>
              <a:rPr lang="en-US" dirty="0" smtClean="0">
                <a:latin typeface="Arial" pitchFamily="34" charset="0"/>
              </a:rPr>
              <a:t>To avoid duplicating existing billing accounts, PolicyCenter always searches BillingCenter to determine whether the account exists prior to sending a new account. </a:t>
            </a:r>
          </a:p>
          <a:p>
            <a:r>
              <a:rPr lang="en-US" dirty="0" smtClean="0">
                <a:latin typeface="Arial" pitchFamily="34" charset="0"/>
              </a:rPr>
              <a:t>When BillingCenter receives a billing instruction, it becomes the system of record for the billing-related information for an account. Subsequently, BillingCenter matches account updates from PolicyCenter by means of the account number. In the default configuration, a one-to-one relationship is assumed between PolicyCenter and BillingCenter accounts. BillingCenter also can support the creation of subaccounts. In this case, BillingCenter creates new billing accounts that are not stored in PolicyCenter. When you update an account in BillingCenter, BillingCenter does not send the updates to PolicyCenter.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4580698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pitchFamily="34" charset="0"/>
              </a:rPr>
              <a:t>When a job with billing implications is bound, a billing instruction is sent to BillingCenter. If it references an account that is unknown to BillingCenter, then the account is also created in BillingCenter at this time.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7524623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20595814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new policy is created in BillingCenter on submission. In some cases, a new policy can be created on renewal. A new policy period is created for submission, renewal, and rewrite. Any mid-term changes to payment plans or billing method for a policy must be done in BillingCenter directly.</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pitchFamily="34" charset="0"/>
              </a:rPr>
              <a:t>The message sent to BillingCenter includes billing instructions regarding charges and any changes to the policy period. PolicyCenter informs BillingCenter about a new policy, new policy period, cancellation, reinstatement, and so on.</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new </a:t>
            </a:r>
            <a:r>
              <a:rPr lang="en-US" i="1" dirty="0" smtClean="0"/>
              <a:t>policy</a:t>
            </a:r>
            <a:r>
              <a:rPr lang="en-US" dirty="0" smtClean="0"/>
              <a:t> is created in BillingCenter on submission (that is, when a policy is bound or issued). In some cases, a new policy can be created on renewal. A new </a:t>
            </a:r>
            <a:r>
              <a:rPr lang="en-US" i="1" dirty="0" smtClean="0"/>
              <a:t>policy period </a:t>
            </a:r>
            <a:r>
              <a:rPr lang="en-US" dirty="0" smtClean="0"/>
              <a:t>is created for submission, renewal, and rewrite. Any mid-term changes to payment plans or billing method for a policy must be done in BillingCenter directly.</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3551546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Prior to binding a transaction with payment implications, PolicyCenter displays a list of </a:t>
            </a:r>
            <a:r>
              <a:rPr lang="en-US" i="1" dirty="0" smtClean="0"/>
              <a:t>installment</a:t>
            </a:r>
            <a:r>
              <a:rPr lang="en-US" dirty="0" smtClean="0"/>
              <a:t> plans.</a:t>
            </a:r>
            <a:r>
              <a:rPr lang="en-US" baseline="0" dirty="0" smtClean="0"/>
              <a:t> Note that the term "installment plans" in PC refers to BillingCenter </a:t>
            </a:r>
            <a:r>
              <a:rPr lang="en-US" i="1" dirty="0" smtClean="0"/>
              <a:t>payment </a:t>
            </a:r>
            <a:r>
              <a:rPr lang="en-US" dirty="0" smtClean="0"/>
              <a:t>plans with the </a:t>
            </a:r>
            <a:r>
              <a:rPr lang="en-US" dirty="0" err="1" smtClean="0"/>
              <a:t>IsReporting</a:t>
            </a:r>
            <a:r>
              <a:rPr lang="en-US" dirty="0" smtClean="0"/>
              <a:t> property set to No. PolicyCenter queries the plans every time a transaction is quoted because the down payment, installment, and total need to be calculated with every quote, and this calculation occurs in BillingCenter.</a:t>
            </a:r>
          </a:p>
          <a:p>
            <a:endParaRPr lang="en-US" dirty="0" smtClean="0"/>
          </a:p>
          <a:p>
            <a:r>
              <a:rPr lang="en-US" dirty="0" smtClean="0"/>
              <a:t>The sample data payment plans in BillingCenter were not designed with all lines of business in mind. For example, personal auto policies typically have a 6-month term, but all the payment plans are designed to accommodate annual-term policies. </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129655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you have selected a payment plan, the Preview Payments button appears. This provides details about each payment that would occur if the associated plan is selected. The dates, payment types, and amounts come from BillingCenter.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51101739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pitchFamily="34" charset="0"/>
              </a:rPr>
              <a:t>The message sent to BillingCenter includes billing instructions regarding charges and any changes to the policy period. PolicyCenter informs BillingCenter about a new policy, new policy period, cancellation, and reinstatement. </a:t>
            </a:r>
            <a:r>
              <a:rPr lang="en-US" dirty="0" smtClean="0"/>
              <a:t>Note that PolicyCenter does not send an actual billing instruction.  Instead, it sends a message from which BillingCenter generates the billing instruction.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latin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35515464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Arial" pitchFamily="34" charset="0"/>
              </a:rPr>
              <a:t>When a job with billing implications is bound, a billing instruction is sent to BillingCenter. If it references an account that is unknown to BillingCenter, then the account is also created in BillingCenter at this time.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When a transaction with billing implications is bound, PolicyCenter sends a message that results in a billing instruction to BillingCenter. The message sent to BillingCenter includes billing instructions regarding charges and any changes to the policy period. PolicyCenter informs BillingCenter about a new policy, new policy period, cancellation, or reinstatement.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latin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17524623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smtClean="0"/>
              <a:t>Once enabled, account, producer, and billing instruction processing work in the following way:</a:t>
            </a:r>
          </a:p>
          <a:p>
            <a:pPr marL="228600" indent="-228600">
              <a:buFont typeface="+mj-lt"/>
              <a:buAutoNum type="arabicPeriod"/>
              <a:defRPr/>
            </a:pPr>
            <a:r>
              <a:rPr lang="en-US" dirty="0" smtClean="0"/>
              <a:t>Once a policy transaction is issued, the </a:t>
            </a:r>
            <a:r>
              <a:rPr lang="en-US" dirty="0" err="1" smtClean="0"/>
              <a:t>IBillingSystem</a:t>
            </a:r>
            <a:r>
              <a:rPr lang="en-US" dirty="0" smtClean="0"/>
              <a:t> plugin is triggered. The plugin registry entry points to the </a:t>
            </a:r>
            <a:r>
              <a:rPr lang="en-US" dirty="0" smtClean="0">
                <a:solidFill>
                  <a:srgbClr val="FF3300"/>
                </a:solidFill>
              </a:rPr>
              <a:t>gw.plugin.billing.bc800.BCBillingSystemPlugin class.</a:t>
            </a:r>
            <a:endParaRPr lang="en-US" dirty="0" smtClean="0"/>
          </a:p>
          <a:p>
            <a:pPr marL="228600" indent="-228600">
              <a:buFont typeface="+mj-lt"/>
              <a:buAutoNum type="arabicPeriod"/>
              <a:defRPr/>
            </a:pPr>
            <a:r>
              <a:rPr lang="en-US" dirty="0" smtClean="0"/>
              <a:t>The </a:t>
            </a:r>
            <a:r>
              <a:rPr lang="en-US" dirty="0" err="1" smtClean="0">
                <a:solidFill>
                  <a:srgbClr val="FF3300"/>
                </a:solidFill>
              </a:rPr>
              <a:t>BCBillingSystemPlugin</a:t>
            </a:r>
            <a:r>
              <a:rPr lang="en-US" dirty="0" smtClean="0">
                <a:solidFill>
                  <a:srgbClr val="FF3300"/>
                </a:solidFill>
              </a:rPr>
              <a:t> </a:t>
            </a:r>
            <a:r>
              <a:rPr lang="en-US" dirty="0" smtClean="0"/>
              <a:t>class makes use of a web service,  </a:t>
            </a:r>
            <a:r>
              <a:rPr lang="en-US" dirty="0" err="1" smtClean="0"/>
              <a:t>BCBillingSystemAPI</a:t>
            </a:r>
            <a:r>
              <a:rPr lang="en-US" dirty="0" smtClean="0"/>
              <a:t>, that references the BillingCenter web service, </a:t>
            </a:r>
            <a:r>
              <a:rPr lang="en-US" dirty="0" err="1" smtClean="0"/>
              <a:t>BillingAPI</a:t>
            </a:r>
            <a:r>
              <a:rPr lang="en-US" dirty="0" smtClean="0"/>
              <a:t>. This API contains the methods needed to verify the existence of or create producers and accounts, as well as to submit billing instructions to BillingCenter.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30864203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steps identify </a:t>
            </a:r>
            <a:r>
              <a:rPr lang="en-US" dirty="0"/>
              <a:t>the </a:t>
            </a:r>
            <a:r>
              <a:rPr lang="en-US" dirty="0" smtClean="0"/>
              <a:t>800 </a:t>
            </a:r>
            <a:r>
              <a:rPr lang="en-US" dirty="0"/>
              <a:t>version of the plugin </a:t>
            </a:r>
            <a:r>
              <a:rPr lang="en-US" dirty="0" smtClean="0"/>
              <a:t>class and pertains to a PolicyCenter 8.0.2 integration with BillingCenter. </a:t>
            </a:r>
            <a:r>
              <a:rPr lang="en-US" dirty="0"/>
              <a:t>If you are integrating </a:t>
            </a:r>
            <a:r>
              <a:rPr lang="en-US" dirty="0" smtClean="0"/>
              <a:t>BillingCenter </a:t>
            </a:r>
            <a:r>
              <a:rPr lang="en-US" dirty="0"/>
              <a:t>with a version of PolicyCenter later than </a:t>
            </a:r>
            <a:r>
              <a:rPr lang="en-US" dirty="0" smtClean="0"/>
              <a:t>8.0.2, consult </a:t>
            </a:r>
            <a:r>
              <a:rPr lang="en-US" dirty="0"/>
              <a:t>the </a:t>
            </a:r>
            <a:r>
              <a:rPr lang="en-US" dirty="0" smtClean="0"/>
              <a:t>BillingCenter Installation Guide for specific integration related  configurations.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16348857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8557516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dirty="0"/>
          </a:p>
        </p:txBody>
      </p:sp>
    </p:spTree>
    <p:extLst>
      <p:ext uri="{BB962C8B-B14F-4D97-AF65-F5344CB8AC3E}">
        <p14:creationId xmlns:p14="http://schemas.microsoft.com/office/powerpoint/2010/main" val="19442599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
        <p:nvSpPr>
          <p:cNvPr id="5" name="Notes Placeholder 4"/>
          <p:cNvSpPr>
            <a:spLocks noGrp="1"/>
          </p:cNvSpPr>
          <p:nvPr>
            <p:ph type="body" sz="quarter" idx="11"/>
          </p:nvPr>
        </p:nvSpPr>
        <p:spPr/>
        <p:txBody>
          <a:bodyPr/>
          <a:lstStyle/>
          <a:p>
            <a:r>
              <a:rPr lang="en-US" dirty="0" smtClean="0"/>
              <a:t>The </a:t>
            </a:r>
            <a:r>
              <a:rPr lang="en-US" dirty="0"/>
              <a:t>instructions above identify the "</a:t>
            </a:r>
            <a:r>
              <a:rPr lang="en-US" dirty="0" smtClean="0"/>
              <a:t>800" </a:t>
            </a:r>
            <a:r>
              <a:rPr lang="en-US" dirty="0"/>
              <a:t>version of the plugin class. This works when integrating PolicyCenter with BillingCenter 8.0.2, but it may or may not work with later versions of BillingCenter. </a:t>
            </a:r>
            <a:endParaRPr lang="en-US" dirty="0" smtClean="0"/>
          </a:p>
          <a:p>
            <a:endParaRPr lang="en-US" dirty="0"/>
          </a:p>
          <a:p>
            <a:r>
              <a:rPr lang="en-US" dirty="0" smtClean="0"/>
              <a:t>If </a:t>
            </a:r>
            <a:r>
              <a:rPr lang="en-US" dirty="0"/>
              <a:t>you are integrating PolicyCenter with a version of BillingCenter later than </a:t>
            </a:r>
            <a:r>
              <a:rPr lang="en-US" dirty="0" smtClean="0"/>
              <a:t>8.0.2, </a:t>
            </a:r>
            <a:r>
              <a:rPr lang="en-US" dirty="0"/>
              <a:t>you should consult the PolicyCenter Installation Guide to determine if there are later versions of these resource that would be better to use.</a:t>
            </a:r>
          </a:p>
          <a:p>
            <a:endParaRPr lang="en-US" dirty="0"/>
          </a:p>
        </p:txBody>
      </p:sp>
      <p:sp>
        <p:nvSpPr>
          <p:cNvPr id="6" name="Notes Placeholder 5"/>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gw.plugin.billing.bc800.BCBillingSystemPlugin is the fully</a:t>
            </a:r>
            <a:r>
              <a:rPr lang="en-US" baseline="0" dirty="0" smtClean="0"/>
              <a:t> qualified c</a:t>
            </a:r>
            <a:r>
              <a:rPr lang="en-US" dirty="0" smtClean="0"/>
              <a:t>lass</a:t>
            </a:r>
            <a:r>
              <a:rPr lang="en-US" baseline="0" dirty="0" smtClean="0"/>
              <a:t> name.</a:t>
            </a:r>
            <a:endParaRPr lang="en-US" dirty="0" smtClean="0"/>
          </a:p>
          <a:p>
            <a:endParaRPr lang="en-US" dirty="0"/>
          </a:p>
        </p:txBody>
      </p:sp>
    </p:spTree>
    <p:extLst>
      <p:ext uri="{BB962C8B-B14F-4D97-AF65-F5344CB8AC3E}">
        <p14:creationId xmlns:p14="http://schemas.microsoft.com/office/powerpoint/2010/main" val="19442599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Developers should be aware of the fact that when you load sample data into PolicyCenter, the producers and accounts are copied over to BillingCenter. If you are working with integrated instances of PolicyCenter and BillingCenter and wish to have the sample data between the two applications synchronized, then you should load sample data in this order:</a:t>
            </a:r>
          </a:p>
          <a:p>
            <a:pPr marL="228600" indent="-228600">
              <a:buFont typeface="+mj-lt"/>
              <a:buAutoNum type="arabicPeriod"/>
            </a:pPr>
            <a:r>
              <a:rPr lang="en-US" dirty="0" smtClean="0"/>
              <a:t>Start BillingCenter, and load the BillingCenter sample data.</a:t>
            </a:r>
          </a:p>
          <a:p>
            <a:pPr marL="228600" indent="-228600">
              <a:buFont typeface="+mj-lt"/>
              <a:buAutoNum type="arabicPeriod"/>
            </a:pPr>
            <a:r>
              <a:rPr lang="en-US" dirty="0" smtClean="0"/>
              <a:t>If you have already loaded the PolicyCenter sample data, drop the PolicyCenter database. </a:t>
            </a:r>
          </a:p>
          <a:p>
            <a:pPr marL="228600" indent="-228600">
              <a:buFont typeface="+mj-lt"/>
              <a:buAutoNum type="arabicPeriod"/>
            </a:pPr>
            <a:r>
              <a:rPr lang="en-US" dirty="0" smtClean="0"/>
              <a:t>Enable to account, producer, and policy transaction processing integration point per the instructions in the slide above.</a:t>
            </a:r>
          </a:p>
          <a:p>
            <a:pPr marL="228600" indent="-228600">
              <a:buFont typeface="+mj-lt"/>
              <a:buAutoNum type="arabicPeriod"/>
            </a:pPr>
            <a:r>
              <a:rPr lang="en-US" dirty="0" smtClean="0"/>
              <a:t>Start PolicyCenter and load the PolicyCenter sample data. (Because the integration is enabled when the sample data load occurs, the producers and accounts are copied over to BillingCenter.)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 development environment,</a:t>
            </a:r>
            <a:r>
              <a:rPr lang="en-US" baseline="0" dirty="0" smtClean="0"/>
              <a:t> t</a:t>
            </a:r>
            <a:r>
              <a:rPr lang="en-US" dirty="0" smtClean="0"/>
              <a:t>he web service URL does not need to be modified if both applications are on the same machine and BillingCenter is using the default port (8580).</a:t>
            </a:r>
          </a:p>
          <a:p>
            <a:endParaRPr lang="en-US" dirty="0" smtClean="0"/>
          </a:p>
          <a:p>
            <a:r>
              <a:rPr lang="en-US" dirty="0" smtClean="0"/>
              <a:t>In a production</a:t>
            </a:r>
            <a:r>
              <a:rPr lang="en-US" baseline="0" dirty="0" smtClean="0"/>
              <a:t> environment, t</a:t>
            </a:r>
            <a:r>
              <a:rPr lang="en-US" dirty="0" smtClean="0"/>
              <a:t>he web service URL may need to be modified if both applications are not on the same machine or if BillingCenter is not using the default port (8580).</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5904160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BillingCenter server must be running in order to fetch the</a:t>
            </a:r>
            <a:r>
              <a:rPr lang="en-US" baseline="0" dirty="0" smtClean="0"/>
              <a:t> WSDL.</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9188129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You must restart the server when you create or modify destinations, plugin registry elements, and/or reply plugins.</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205383629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10339303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 producer is an independent agent and therefore an external user. </a:t>
            </a:r>
          </a:p>
          <a:p>
            <a:endParaRPr lang="en-US" smtClean="0"/>
          </a:p>
          <a:p>
            <a:r>
              <a:rPr lang="en-US" smtClean="0"/>
              <a:t>If the carrier is a direct writer, the producer could be an employee and therefore an internal user.</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8318447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32</a:t>
            </a:fld>
            <a:endParaRPr lang="en-US"/>
          </a:p>
        </p:txBody>
      </p:sp>
    </p:spTree>
    <p:extLst>
      <p:ext uri="{BB962C8B-B14F-4D97-AF65-F5344CB8AC3E}">
        <p14:creationId xmlns:p14="http://schemas.microsoft.com/office/powerpoint/2010/main" val="69425409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For any account (including sample data account), internal and external users can view account-level billing information on the account's Billing screen in PolicyCenter.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33</a:t>
            </a:fld>
            <a:endParaRPr lang="en-US"/>
          </a:p>
        </p:txBody>
      </p:sp>
    </p:spTree>
    <p:extLst>
      <p:ext uri="{BB962C8B-B14F-4D97-AF65-F5344CB8AC3E}">
        <p14:creationId xmlns:p14="http://schemas.microsoft.com/office/powerpoint/2010/main" val="9846053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latin typeface="Arial" pitchFamily="34" charset="0"/>
              </a:rPr>
              <a:t>For any account (including a sample data account), an underwriter with a user account in BillingCenter can view more detailed billing information through an exit point to BillingCenter.</a:t>
            </a:r>
          </a:p>
          <a:p>
            <a:r>
              <a:rPr lang="en-US" dirty="0" smtClean="0">
                <a:latin typeface="Arial" pitchFamily="34" charset="0"/>
              </a:rPr>
              <a:t> </a:t>
            </a:r>
          </a:p>
          <a:p>
            <a:r>
              <a:rPr lang="en-US" dirty="0" smtClean="0">
                <a:latin typeface="Arial" pitchFamily="34" charset="0"/>
              </a:rPr>
              <a:t>The</a:t>
            </a:r>
            <a:r>
              <a:rPr lang="en-US" baseline="0" dirty="0" smtClean="0">
                <a:latin typeface="Arial" pitchFamily="34" charset="0"/>
              </a:rPr>
              <a:t> "View in BillingCenter" button is visible when there is both a value for the </a:t>
            </a:r>
            <a:r>
              <a:rPr lang="en-US" baseline="0" dirty="0" err="1" smtClean="0">
                <a:latin typeface="Arial" pitchFamily="34" charset="0"/>
              </a:rPr>
              <a:t>BillingSystemURL</a:t>
            </a:r>
            <a:r>
              <a:rPr lang="en-US" baseline="0" dirty="0" smtClean="0">
                <a:latin typeface="Arial" pitchFamily="34" charset="0"/>
              </a:rPr>
              <a:t> attribute in the config.xml file and if the user viewing the Account Billing page belongs to a PolicyCenter role that has the view billing system permissions.</a:t>
            </a:r>
            <a:endParaRPr lang="en-US" dirty="0" smtClean="0">
              <a:latin typeface="Arial" pitchFamily="34" charset="0"/>
            </a:endParaRPr>
          </a:p>
          <a:p>
            <a:endParaRPr lang="en-US" dirty="0" smtClean="0">
              <a:latin typeface="Arial" pitchFamily="34" charset="0"/>
            </a:endParaRP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34</a:t>
            </a:fld>
            <a:endParaRPr lang="en-US"/>
          </a:p>
        </p:txBody>
      </p:sp>
    </p:spTree>
    <p:extLst>
      <p:ext uri="{BB962C8B-B14F-4D97-AF65-F5344CB8AC3E}">
        <p14:creationId xmlns:p14="http://schemas.microsoft.com/office/powerpoint/2010/main" val="370492700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For any policy (including sample data policies), internal and external users can view some billing information on the policy's Billing screen in PolicyCenter.</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35</a:t>
            </a:fld>
            <a:endParaRPr lang="en-US"/>
          </a:p>
        </p:txBody>
      </p:sp>
    </p:spTree>
    <p:extLst>
      <p:ext uri="{BB962C8B-B14F-4D97-AF65-F5344CB8AC3E}">
        <p14:creationId xmlns:p14="http://schemas.microsoft.com/office/powerpoint/2010/main" val="171357780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any policy (including sample data policies), an underwriter with a user account in BillingCenter can view more detailed billing information through an exit point to BillingCenter.</a:t>
            </a:r>
          </a:p>
          <a:p>
            <a:r>
              <a:rPr lang="en-US" dirty="0" smtClean="0">
                <a:latin typeface="Arial" pitchFamily="34" charset="0"/>
              </a:rPr>
              <a:t> </a:t>
            </a:r>
          </a:p>
          <a:p>
            <a:r>
              <a:rPr lang="en-US" dirty="0" smtClean="0">
                <a:latin typeface="Arial" pitchFamily="34" charset="0"/>
              </a:rPr>
              <a:t>The</a:t>
            </a:r>
            <a:r>
              <a:rPr lang="en-US" baseline="0" dirty="0" smtClean="0">
                <a:latin typeface="Arial" pitchFamily="34" charset="0"/>
              </a:rPr>
              <a:t> "View in BillingCenter" button is visible when there is both a value for the </a:t>
            </a:r>
            <a:r>
              <a:rPr lang="en-US" baseline="0" dirty="0" err="1" smtClean="0">
                <a:latin typeface="Arial" pitchFamily="34" charset="0"/>
              </a:rPr>
              <a:t>BillingSystemURL</a:t>
            </a:r>
            <a:r>
              <a:rPr lang="en-US" baseline="0" dirty="0" smtClean="0">
                <a:latin typeface="Arial" pitchFamily="34" charset="0"/>
              </a:rPr>
              <a:t> attribute in the config.xml file and if the user viewing the Account Billing page belongs to a PolicyCenter role that has the view billing system permissions.</a:t>
            </a:r>
            <a:endParaRPr lang="en-US" dirty="0" smtClean="0">
              <a:latin typeface="Arial" pitchFamily="34" charset="0"/>
            </a:endParaRPr>
          </a:p>
          <a:p>
            <a:endParaRPr lang="en-US" dirty="0" smtClean="0">
              <a:latin typeface="Arial" pitchFamily="34" charset="0"/>
            </a:endParaRP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a:p>
        </p:txBody>
      </p:sp>
    </p:spTree>
    <p:extLst>
      <p:ext uri="{BB962C8B-B14F-4D97-AF65-F5344CB8AC3E}">
        <p14:creationId xmlns:p14="http://schemas.microsoft.com/office/powerpoint/2010/main" val="2898004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dirty="0" smtClean="0"/>
              <a:t>Once it is enabled, billing status works in the following way:</a:t>
            </a:r>
          </a:p>
          <a:p>
            <a:pPr marL="171450" indent="-171450">
              <a:buFont typeface="Arial" pitchFamily="34" charset="0"/>
              <a:buChar char="•"/>
            </a:pPr>
            <a:r>
              <a:rPr lang="en-US" dirty="0" smtClean="0"/>
              <a:t>Whenever </a:t>
            </a:r>
            <a:r>
              <a:rPr lang="en-US" dirty="0"/>
              <a:t>a PolicyCenter user requests to view billing information in PolicyCenter, </a:t>
            </a:r>
            <a:r>
              <a:rPr lang="en-US" dirty="0" smtClean="0"/>
              <a:t>the request triggers the </a:t>
            </a:r>
            <a:r>
              <a:rPr lang="en-US" dirty="0" err="1" smtClean="0"/>
              <a:t>IBillingSummary</a:t>
            </a:r>
            <a:r>
              <a:rPr lang="en-US" dirty="0" smtClean="0"/>
              <a:t> plugin. The </a:t>
            </a:r>
            <a:r>
              <a:rPr lang="en-US" dirty="0"/>
              <a:t>plugin registry entry for this plugin points to the gw.plugin.billing.bc800.BCBillingSummaryPlugin class</a:t>
            </a:r>
            <a:r>
              <a:rPr lang="en-US" dirty="0" smtClean="0"/>
              <a:t>.</a:t>
            </a:r>
          </a:p>
          <a:p>
            <a:pPr marL="171450" indent="-171450">
              <a:buFont typeface="Arial" pitchFamily="34" charset="0"/>
              <a:buChar char="•"/>
            </a:pPr>
            <a:endParaRPr lang="en-US" dirty="0"/>
          </a:p>
          <a:p>
            <a:pPr marL="171450" indent="-171450">
              <a:buFont typeface="Arial" pitchFamily="34" charset="0"/>
              <a:buChar char="•"/>
            </a:pPr>
            <a:r>
              <a:rPr lang="en-US" dirty="0"/>
              <a:t>The </a:t>
            </a:r>
            <a:r>
              <a:rPr lang="en-US" dirty="0" err="1"/>
              <a:t>BCBillingSummaryPlugin</a:t>
            </a:r>
            <a:r>
              <a:rPr lang="en-US" dirty="0"/>
              <a:t> class makes use of a web service endpoint, </a:t>
            </a:r>
            <a:r>
              <a:rPr lang="en-US" dirty="0" err="1"/>
              <a:t>BCBillingSummaryAPI</a:t>
            </a:r>
            <a:r>
              <a:rPr lang="en-US" dirty="0"/>
              <a:t>, that references the BillingCenter web </a:t>
            </a:r>
            <a:r>
              <a:rPr lang="en-US" dirty="0" smtClean="0"/>
              <a:t>service, </a:t>
            </a:r>
            <a:r>
              <a:rPr lang="en-US" dirty="0" err="1" smtClean="0"/>
              <a:t>BillingSummaryAPI</a:t>
            </a:r>
            <a:r>
              <a:rPr lang="en-US" dirty="0"/>
              <a:t>. This API contains the methods needed to retrieve information from BillingCenter about the billing status of the policy or account.</a:t>
            </a:r>
          </a:p>
          <a:p>
            <a:pPr marL="171450" indent="-171450">
              <a:buFont typeface="Arial" pitchFamily="34" charset="0"/>
              <a:buChar char="•"/>
            </a:pPr>
            <a:r>
              <a:rPr lang="en-US" dirty="0" smtClean="0"/>
              <a:t>When a PolicyCenter user </a:t>
            </a:r>
            <a:r>
              <a:rPr lang="en-US" dirty="0"/>
              <a:t>clicks the "View in BillingCenter" button, this button navigates to the PolicyCenter </a:t>
            </a:r>
            <a:r>
              <a:rPr lang="en-US" dirty="0" err="1"/>
              <a:t>BCPolicy</a:t>
            </a:r>
            <a:r>
              <a:rPr lang="en-US" dirty="0"/>
              <a:t> exit </a:t>
            </a:r>
            <a:r>
              <a:rPr lang="en-US" dirty="0" smtClean="0"/>
              <a:t>point </a:t>
            </a:r>
            <a:r>
              <a:rPr lang="en-US" dirty="0"/>
              <a:t>which in turn navigates to the </a:t>
            </a:r>
            <a:r>
              <a:rPr lang="en-US" dirty="0" err="1"/>
              <a:t>PolicyPeriodEntry</a:t>
            </a:r>
            <a:r>
              <a:rPr lang="en-US" dirty="0"/>
              <a:t> entry point in BillingCenter.</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Arial" pitchFamily="34" charset="0"/>
                <a:ea typeface="+mn-ea"/>
                <a:cs typeface="Arial" pitchFamily="34" charset="0"/>
              </a:rPr>
              <a:t>Exit point configuration parameters are configured in config.xml and not in suite-config.xml.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smtClean="0">
                <a:solidFill>
                  <a:schemeClr val="tx1"/>
                </a:solidFill>
                <a:effectLst/>
                <a:latin typeface="Arial" pitchFamily="34" charset="0"/>
                <a:ea typeface="+mn-ea"/>
                <a:cs typeface="Arial" pitchFamily="34" charset="0"/>
              </a:rPr>
              <a:t>The configuration parameters in suite-config.xml support integration between Guidewire applications through web services. The exit point configuration parameters in config.xml support integration between web browsers.</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a:p>
        </p:txBody>
      </p:sp>
    </p:spTree>
    <p:extLst>
      <p:ext uri="{BB962C8B-B14F-4D97-AF65-F5344CB8AC3E}">
        <p14:creationId xmlns:p14="http://schemas.microsoft.com/office/powerpoint/2010/main" val="30864203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steps identify </a:t>
            </a:r>
            <a:r>
              <a:rPr lang="en-US" dirty="0"/>
              <a:t>the </a:t>
            </a:r>
            <a:r>
              <a:rPr lang="en-US" dirty="0" smtClean="0"/>
              <a:t>800 </a:t>
            </a:r>
            <a:r>
              <a:rPr lang="en-US" dirty="0"/>
              <a:t>version of the plugin </a:t>
            </a:r>
            <a:r>
              <a:rPr lang="en-US" dirty="0" smtClean="0"/>
              <a:t>class and pertains to a  PolicyCenter 8.0.2 integration with BillingCenter. </a:t>
            </a:r>
            <a:r>
              <a:rPr lang="en-US" dirty="0"/>
              <a:t>If you are integrating </a:t>
            </a:r>
            <a:r>
              <a:rPr lang="en-US" dirty="0" smtClean="0"/>
              <a:t>BillingCenter </a:t>
            </a:r>
            <a:r>
              <a:rPr lang="en-US" dirty="0"/>
              <a:t>with a version of PolicyCenter later than </a:t>
            </a:r>
            <a:r>
              <a:rPr lang="en-US" dirty="0" smtClean="0"/>
              <a:t>8.0.2, consult </a:t>
            </a:r>
            <a:r>
              <a:rPr lang="en-US" dirty="0"/>
              <a:t>the </a:t>
            </a:r>
            <a:r>
              <a:rPr lang="en-US" dirty="0" smtClean="0"/>
              <a:t>BillingCenter Installation Guide for specific integration related  configurations.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a:p>
        </p:txBody>
      </p:sp>
    </p:spTree>
    <p:extLst>
      <p:ext uri="{BB962C8B-B14F-4D97-AF65-F5344CB8AC3E}">
        <p14:creationId xmlns:p14="http://schemas.microsoft.com/office/powerpoint/2010/main" val="16348857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39</a:t>
            </a:fld>
            <a:endParaRPr lang="en-US"/>
          </a:p>
        </p:txBody>
      </p:sp>
    </p:spTree>
    <p:extLst>
      <p:ext uri="{BB962C8B-B14F-4D97-AF65-F5344CB8AC3E}">
        <p14:creationId xmlns:p14="http://schemas.microsoft.com/office/powerpoint/2010/main" val="85575162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40</a:t>
            </a:fld>
            <a:endParaRPr lang="en-US" dirty="0"/>
          </a:p>
        </p:txBody>
      </p:sp>
    </p:spTree>
    <p:extLst>
      <p:ext uri="{BB962C8B-B14F-4D97-AF65-F5344CB8AC3E}">
        <p14:creationId xmlns:p14="http://schemas.microsoft.com/office/powerpoint/2010/main" val="194425991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BC59C1E8-2E88-4BF4-A80C-B8AE78323CDF}" type="slidenum">
              <a:rPr lang="en-US" smtClean="0"/>
              <a:pPr/>
              <a:t>41</a:t>
            </a:fld>
            <a:endParaRPr lang="en-US"/>
          </a:p>
        </p:txBody>
      </p:sp>
      <p:sp>
        <p:nvSpPr>
          <p:cNvPr id="5" name="Notes Placeholder 4"/>
          <p:cNvSpPr>
            <a:spLocks noGrp="1"/>
          </p:cNvSpPr>
          <p:nvPr>
            <p:ph type="body" sz="quarter" idx="11"/>
          </p:nvPr>
        </p:nvSpPr>
        <p:spPr/>
        <p:txBody>
          <a:bodyPr/>
          <a:lstStyle/>
          <a:p>
            <a:r>
              <a:rPr lang="en-US" dirty="0" smtClean="0"/>
              <a:t>The </a:t>
            </a:r>
            <a:r>
              <a:rPr lang="en-US" dirty="0"/>
              <a:t>instructions above identify the "</a:t>
            </a:r>
            <a:r>
              <a:rPr lang="en-US" dirty="0" smtClean="0"/>
              <a:t>800" </a:t>
            </a:r>
            <a:r>
              <a:rPr lang="en-US" dirty="0"/>
              <a:t>version of the plugin class. This works when integrating PolicyCenter with BillingCenter 8.0.2, but it may or may not work with later versions of BillingCenter. </a:t>
            </a:r>
            <a:endParaRPr lang="en-US" dirty="0" smtClean="0"/>
          </a:p>
          <a:p>
            <a:endParaRPr lang="en-US" dirty="0"/>
          </a:p>
          <a:p>
            <a:r>
              <a:rPr lang="en-US" dirty="0" smtClean="0"/>
              <a:t>If </a:t>
            </a:r>
            <a:r>
              <a:rPr lang="en-US" dirty="0"/>
              <a:t>you are integrating PolicyCenter with a version of BillingCenter later than </a:t>
            </a:r>
            <a:r>
              <a:rPr lang="en-US" dirty="0" smtClean="0"/>
              <a:t>8.0.2, </a:t>
            </a:r>
            <a:r>
              <a:rPr lang="en-US" dirty="0"/>
              <a:t>you should consult the PolicyCenter Installation Guide to determine if there are later versions of these resource that would be better to use.</a:t>
            </a:r>
          </a:p>
          <a:p>
            <a:endParaRPr lang="en-US" dirty="0"/>
          </a:p>
        </p:txBody>
      </p:sp>
    </p:spTree>
    <p:extLst>
      <p:ext uri="{BB962C8B-B14F-4D97-AF65-F5344CB8AC3E}">
        <p14:creationId xmlns:p14="http://schemas.microsoft.com/office/powerpoint/2010/main" val="194425991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gw.plugin.billing.bc800.BCBillingSummaryPlugin is the fully</a:t>
            </a:r>
            <a:r>
              <a:rPr lang="en-US" baseline="0" dirty="0" smtClean="0"/>
              <a:t> qualified c</a:t>
            </a:r>
            <a:r>
              <a:rPr lang="en-US" dirty="0" smtClean="0"/>
              <a:t>lass</a:t>
            </a:r>
            <a:r>
              <a:rPr lang="en-US" baseline="0" dirty="0" smtClean="0"/>
              <a:t> name.</a:t>
            </a:r>
            <a:endParaRPr lang="en-US" dirty="0" smtClean="0"/>
          </a:p>
          <a:p>
            <a:endParaRPr lang="en-US" dirty="0" smtClean="0"/>
          </a:p>
          <a:p>
            <a:r>
              <a:rPr lang="en-US" dirty="0" smtClean="0"/>
              <a:t>Developers should be aware of the fact that when you load sample data into PolicyCenter, the producers and accounts are copied over to BillingCenter. If you are working with integrated instances of PolicyCenter and BillingCenter and wish to have the sample data between the two applications synchronized, then you should load sample data in this order:</a:t>
            </a:r>
          </a:p>
          <a:p>
            <a:pPr marL="228600" indent="-228600">
              <a:buFont typeface="+mj-lt"/>
              <a:buAutoNum type="arabicPeriod"/>
            </a:pPr>
            <a:r>
              <a:rPr lang="en-US" dirty="0" smtClean="0"/>
              <a:t>Start BillingCenter, and load the BillingCenter sample data.</a:t>
            </a:r>
          </a:p>
          <a:p>
            <a:pPr marL="228600" indent="-228600">
              <a:buFont typeface="+mj-lt"/>
              <a:buAutoNum type="arabicPeriod"/>
            </a:pPr>
            <a:r>
              <a:rPr lang="en-US" dirty="0" smtClean="0"/>
              <a:t>If you have already loaded the PolicyCenter sample data, drop the PolicyCenter database. </a:t>
            </a:r>
          </a:p>
          <a:p>
            <a:pPr marL="228600" indent="-228600">
              <a:buFont typeface="+mj-lt"/>
              <a:buAutoNum type="arabicPeriod"/>
            </a:pPr>
            <a:r>
              <a:rPr lang="en-US" dirty="0" smtClean="0"/>
              <a:t>Enable to account, producer, and policy transaction processing integration point per the instructions in the slide above.</a:t>
            </a:r>
          </a:p>
          <a:p>
            <a:pPr marL="228600" indent="-228600">
              <a:buFont typeface="+mj-lt"/>
              <a:buAutoNum type="arabicPeriod"/>
            </a:pPr>
            <a:r>
              <a:rPr lang="en-US" dirty="0" smtClean="0"/>
              <a:t>Start PolicyCenter and load the PolicyCenter sample data. (Because the integration is enabled when the sample data load occurs, the producers and accounts are copied over to BillingCenter.)</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42</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 development environment,</a:t>
            </a:r>
            <a:r>
              <a:rPr lang="en-US" baseline="0" dirty="0" smtClean="0"/>
              <a:t> t</a:t>
            </a:r>
            <a:r>
              <a:rPr lang="en-US" dirty="0" smtClean="0"/>
              <a:t>he web service URL does not need to be modified if both applications are on the same machine and BillingCenter is using the default port (8580).</a:t>
            </a:r>
          </a:p>
          <a:p>
            <a:endParaRPr lang="en-US" dirty="0" smtClean="0"/>
          </a:p>
          <a:p>
            <a:r>
              <a:rPr lang="en-US" dirty="0" smtClean="0"/>
              <a:t>In a production</a:t>
            </a:r>
            <a:r>
              <a:rPr lang="en-US" baseline="0" dirty="0" smtClean="0"/>
              <a:t> environment, t</a:t>
            </a:r>
            <a:r>
              <a:rPr lang="en-US" dirty="0" smtClean="0"/>
              <a:t>he web service URL may need to be modified if both applications are not on the same machine or if BillingCenter is not using the default port (8580).</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43</a:t>
            </a:fld>
            <a:endParaRPr lang="en-US"/>
          </a:p>
        </p:txBody>
      </p:sp>
    </p:spTree>
    <p:extLst>
      <p:ext uri="{BB962C8B-B14F-4D97-AF65-F5344CB8AC3E}">
        <p14:creationId xmlns:p14="http://schemas.microsoft.com/office/powerpoint/2010/main" val="59041604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BillingCenter server must be running in order to fetch the</a:t>
            </a:r>
            <a:r>
              <a:rPr lang="en-US" baseline="0" dirty="0" smtClean="0"/>
              <a:t> WSDL.</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Arial" pitchFamily="34" charset="0"/>
                <a:ea typeface="+mn-ea"/>
                <a:cs typeface="Arial" pitchFamily="34" charset="0"/>
              </a:rPr>
              <a:t>If you already updated the WSDL for the bc800.wsc collection, then you do</a:t>
            </a:r>
            <a:r>
              <a:rPr lang="en-US" sz="1200" kern="1200" baseline="0" dirty="0" smtClean="0">
                <a:solidFill>
                  <a:schemeClr val="tx1"/>
                </a:solidFill>
                <a:effectLst/>
                <a:latin typeface="Arial" pitchFamily="34" charset="0"/>
                <a:ea typeface="+mn-ea"/>
                <a:cs typeface="Arial" pitchFamily="34" charset="0"/>
              </a:rPr>
              <a:t> not need to update the WSDL again.</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44</a:t>
            </a:fld>
            <a:endParaRPr lang="en-US"/>
          </a:p>
        </p:txBody>
      </p:sp>
    </p:spTree>
    <p:extLst>
      <p:ext uri="{BB962C8B-B14F-4D97-AF65-F5344CB8AC3E}">
        <p14:creationId xmlns:p14="http://schemas.microsoft.com/office/powerpoint/2010/main" val="9188129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must restart the server when you create or modify destinations, plugin registry elements, and/or reply plugins.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45</a:t>
            </a:fld>
            <a:endParaRPr lang="en-US"/>
          </a:p>
        </p:txBody>
      </p:sp>
    </p:spTree>
    <p:extLst>
      <p:ext uri="{BB962C8B-B14F-4D97-AF65-F5344CB8AC3E}">
        <p14:creationId xmlns:p14="http://schemas.microsoft.com/office/powerpoint/2010/main" val="205383629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46</a:t>
            </a:fld>
            <a:endParaRPr lang="en-US"/>
          </a:p>
        </p:txBody>
      </p:sp>
    </p:spTree>
    <p:extLst>
      <p:ext uri="{BB962C8B-B14F-4D97-AF65-F5344CB8AC3E}">
        <p14:creationId xmlns:p14="http://schemas.microsoft.com/office/powerpoint/2010/main" val="150923675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Cancellations can be initiated by the carrier or the insured.  Cancellation processing starts in either PolicyCenter or BillingCenter. </a:t>
            </a:r>
            <a:r>
              <a:rPr lang="en-US" smtClean="0">
                <a:latin typeface="Arial" pitchFamily="34" charset="0"/>
              </a:rPr>
              <a:t>In the slide example, there</a:t>
            </a:r>
            <a:r>
              <a:rPr lang="en-US" baseline="0" smtClean="0">
                <a:latin typeface="Arial" pitchFamily="34" charset="0"/>
              </a:rPr>
              <a:t> are a few reasons for why</a:t>
            </a:r>
            <a:r>
              <a:rPr lang="en-US" smtClean="0">
                <a:latin typeface="Arial" pitchFamily="34" charset="0"/>
              </a:rPr>
              <a:t> a policy can be cancelled. Regardless of the nature of the cancellation, the Cancellation job is handled by PolicyCenter. </a:t>
            </a:r>
            <a:endParaRPr lang="en-US" smtClean="0"/>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47</a:t>
            </a:fld>
            <a:endParaRPr lang="en-US"/>
          </a:p>
        </p:txBody>
      </p:sp>
    </p:spTree>
    <p:extLst>
      <p:ext uri="{BB962C8B-B14F-4D97-AF65-F5344CB8AC3E}">
        <p14:creationId xmlns:p14="http://schemas.microsoft.com/office/powerpoint/2010/main" val="261868679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mtClean="0"/>
              <a:t>The process for</a:t>
            </a:r>
            <a:r>
              <a:rPr lang="en-US" baseline="0" smtClean="0"/>
              <a:t> a </a:t>
            </a:r>
            <a:r>
              <a:rPr lang="en-US" smtClean="0"/>
              <a:t>late payment cancellation.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48</a:t>
            </a:fld>
            <a:endParaRPr lang="en-US"/>
          </a:p>
        </p:txBody>
      </p:sp>
    </p:spTree>
    <p:extLst>
      <p:ext uri="{BB962C8B-B14F-4D97-AF65-F5344CB8AC3E}">
        <p14:creationId xmlns:p14="http://schemas.microsoft.com/office/powerpoint/2010/main" val="355154643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dirty="0" smtClean="0">
                <a:latin typeface="Arial" pitchFamily="34" charset="0"/>
              </a:rPr>
              <a:t>In the BillingCenter base application, the delinquency workflow does not contain the logic to determine </a:t>
            </a:r>
            <a:r>
              <a:rPr lang="en-US" dirty="0" err="1" smtClean="0">
                <a:latin typeface="Arial" pitchFamily="34" charset="0"/>
              </a:rPr>
              <a:t>ow</a:t>
            </a:r>
            <a:r>
              <a:rPr lang="en-US" dirty="0" smtClean="0">
                <a:latin typeface="Arial" pitchFamily="34" charset="0"/>
              </a:rPr>
              <a:t> to reinstate a policy after the cancellation date.</a:t>
            </a:r>
          </a:p>
          <a:p>
            <a:pPr eaLnBrk="1" hangingPunct="1"/>
            <a:endParaRPr lang="en-US" dirty="0"/>
          </a:p>
          <a:p>
            <a:pPr eaLnBrk="1" hangingPunct="1"/>
            <a:r>
              <a:rPr lang="en-US" dirty="0" smtClean="0">
                <a:latin typeface="Arial" pitchFamily="34" charset="0"/>
              </a:rPr>
              <a:t>In the slide examples, after Step 5,  the billing representative (not BillingCenter) informs PolicyCenter of the late payment. </a:t>
            </a:r>
          </a:p>
          <a:p>
            <a:pPr eaLnBrk="1" hangingPunct="1"/>
            <a:endParaRPr lang="en-US" dirty="0" smtClean="0">
              <a:latin typeface="Arial" pitchFamily="34" charset="0"/>
            </a:endParaRPr>
          </a:p>
          <a:p>
            <a:pPr eaLnBrk="1" hangingPunct="1"/>
            <a:r>
              <a:rPr lang="en-US" dirty="0" smtClean="0">
                <a:latin typeface="Arial" pitchFamily="34" charset="0"/>
              </a:rPr>
              <a:t>A carrier is obligated to rescind a cancellation when payment is received prior to the cancellation effective date. However, the carrier is not obligated to reinstate the policy after the cancellation effective date has been reached (and is “in effect”). This is why someone in PolicyCenter needs to make a decision whether to reinstate (this is, in general, a judgment call).</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49</a:t>
            </a:fld>
            <a:endParaRPr lang="en-US"/>
          </a:p>
        </p:txBody>
      </p:sp>
    </p:spTree>
    <p:extLst>
      <p:ext uri="{BB962C8B-B14F-4D97-AF65-F5344CB8AC3E}">
        <p14:creationId xmlns:p14="http://schemas.microsoft.com/office/powerpoint/2010/main" val="35515464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Once enabled, late payment</a:t>
            </a:r>
            <a:r>
              <a:rPr lang="en-US" baseline="0" dirty="0" smtClean="0"/>
              <a:t> cancellation w</a:t>
            </a:r>
            <a:r>
              <a:rPr lang="en-US" dirty="0" smtClean="0"/>
              <a:t>orks in the following way:</a:t>
            </a:r>
          </a:p>
          <a:p>
            <a:pPr marL="228600" indent="-228600">
              <a:buFont typeface="+mj-lt"/>
              <a:buAutoNum type="arabicPeriod"/>
              <a:defRPr/>
            </a:pPr>
            <a:r>
              <a:rPr lang="en-US" dirty="0" smtClean="0"/>
              <a:t>In </a:t>
            </a:r>
            <a:r>
              <a:rPr lang="en-US" dirty="0"/>
              <a:t>BillingCenter, when a delinquency workflow reaches a cancellation step, it triggers the </a:t>
            </a:r>
            <a:r>
              <a:rPr lang="en-US" dirty="0" err="1"/>
              <a:t>IPolicySystemPlugin</a:t>
            </a:r>
            <a:r>
              <a:rPr lang="en-US" dirty="0"/>
              <a:t>. The plugin registry entry for this plugin points to the gw.plugin.pas.pc800.PCPolicySystemPlugin class</a:t>
            </a:r>
            <a:r>
              <a:rPr lang="en-US" dirty="0" smtClean="0"/>
              <a:t>. </a:t>
            </a:r>
          </a:p>
          <a:p>
            <a:pPr marL="228600" indent="-228600">
              <a:buFont typeface="+mj-lt"/>
              <a:buAutoNum type="arabicPeriod"/>
              <a:defRPr/>
            </a:pPr>
            <a:r>
              <a:rPr lang="en-US" dirty="0" smtClean="0"/>
              <a:t>The </a:t>
            </a:r>
            <a:r>
              <a:rPr lang="en-US" dirty="0" err="1"/>
              <a:t>PCPolicySystemPlugin</a:t>
            </a:r>
            <a:r>
              <a:rPr lang="en-US" dirty="0"/>
              <a:t> class makes use of two web services in the web service collection wsi.remote.gw.webservice.pc.pc800. The web service collection references both the PolicyCenter </a:t>
            </a:r>
            <a:r>
              <a:rPr lang="en-US" dirty="0" err="1"/>
              <a:t>CancellationAPI</a:t>
            </a:r>
            <a:r>
              <a:rPr lang="en-US" dirty="0"/>
              <a:t> web service (PolicyCenter's wsi.remote.gw.webservice.pc.pc800.cancellationapi.CancellationAPI) and </a:t>
            </a:r>
            <a:r>
              <a:rPr lang="en-US" dirty="0" err="1"/>
              <a:t>PolicyRenewalAPI</a:t>
            </a:r>
            <a:r>
              <a:rPr lang="en-US" dirty="0"/>
              <a:t> web service (PolicyCenter's wsi.remote.gw.webservice.pc.pc800.policyrenewalapi.PolicyRenewalAPI). These APIs contain the methods needed to determine if a policy is currently under renewal, and to cancel or reinstate the policy as appropriate</a:t>
            </a:r>
            <a:r>
              <a:rPr lang="en-US" dirty="0" smtClean="0"/>
              <a:t>.</a:t>
            </a:r>
          </a:p>
          <a:p>
            <a:pPr>
              <a:defRPr/>
            </a:pPr>
            <a:endParaRPr lang="en-US" dirty="0"/>
          </a:p>
          <a:p>
            <a:pPr>
              <a:defRPr/>
            </a:pPr>
            <a:r>
              <a:rPr lang="en-US" dirty="0"/>
              <a:t>In the slide example, the diagram describes integration between PolicyCenter </a:t>
            </a:r>
            <a:r>
              <a:rPr lang="en-US" dirty="0" smtClean="0"/>
              <a:t>8.0.2 </a:t>
            </a:r>
            <a:r>
              <a:rPr lang="en-US" dirty="0"/>
              <a:t>and BillingCenter </a:t>
            </a:r>
            <a:r>
              <a:rPr lang="en-US" dirty="0" smtClean="0"/>
              <a:t>8.0.2. </a:t>
            </a:r>
            <a:r>
              <a:rPr lang="en-US" dirty="0"/>
              <a:t>Later versions of either product may come with updated versions of resources that are more appropriate to use. </a:t>
            </a:r>
            <a:r>
              <a:rPr lang="en-US" dirty="0" smtClean="0"/>
              <a:t>For </a:t>
            </a:r>
            <a:r>
              <a:rPr lang="en-US" dirty="0"/>
              <a:t>example, when integrating with a version of BillingCenter later than </a:t>
            </a:r>
            <a:r>
              <a:rPr lang="en-US" dirty="0" smtClean="0"/>
              <a:t>8.0.2, </a:t>
            </a:r>
            <a:r>
              <a:rPr lang="en-US" dirty="0"/>
              <a:t>there may be a more up-to-date web service endpoint to use</a:t>
            </a:r>
            <a:r>
              <a:rPr lang="en-US" dirty="0" smtClean="0"/>
              <a:t>. </a:t>
            </a:r>
            <a:r>
              <a:rPr lang="en-US" dirty="0"/>
              <a:t>If you are integrating products later than </a:t>
            </a:r>
            <a:r>
              <a:rPr lang="en-US" dirty="0" smtClean="0"/>
              <a:t>8.0.2, consult </a:t>
            </a:r>
            <a:r>
              <a:rPr lang="en-US" dirty="0"/>
              <a:t>the installation guides for each product to determine the best resources to use.</a:t>
            </a:r>
          </a:p>
          <a:p>
            <a:pPr>
              <a:defRPr/>
            </a:pP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50</a:t>
            </a:fld>
            <a:endParaRPr lang="en-US"/>
          </a:p>
        </p:txBody>
      </p:sp>
    </p:spTree>
    <p:extLst>
      <p:ext uri="{BB962C8B-B14F-4D97-AF65-F5344CB8AC3E}">
        <p14:creationId xmlns:p14="http://schemas.microsoft.com/office/powerpoint/2010/main" val="308642030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the slide example,</a:t>
            </a:r>
            <a:r>
              <a:rPr lang="en-US" baseline="0" dirty="0" smtClean="0"/>
              <a:t> t</a:t>
            </a:r>
            <a:r>
              <a:rPr lang="en-US" dirty="0" smtClean="0"/>
              <a:t>he steps identify </a:t>
            </a:r>
            <a:r>
              <a:rPr lang="en-US" dirty="0"/>
              <a:t>the </a:t>
            </a:r>
            <a:r>
              <a:rPr lang="en-US" dirty="0" smtClean="0"/>
              <a:t>800 </a:t>
            </a:r>
            <a:r>
              <a:rPr lang="en-US" dirty="0"/>
              <a:t>version of the plugin </a:t>
            </a:r>
            <a:r>
              <a:rPr lang="en-US" dirty="0" smtClean="0"/>
              <a:t>class and pertains to a PolicyCenter 8.0.2 integration with BillingCenter. </a:t>
            </a:r>
            <a:r>
              <a:rPr lang="en-US" dirty="0"/>
              <a:t>If you are integrating </a:t>
            </a:r>
            <a:r>
              <a:rPr lang="en-US" dirty="0" smtClean="0"/>
              <a:t>BillingCenter </a:t>
            </a:r>
            <a:r>
              <a:rPr lang="en-US" dirty="0"/>
              <a:t>with a version of PolicyCenter later than </a:t>
            </a:r>
            <a:r>
              <a:rPr lang="en-US" dirty="0" smtClean="0"/>
              <a:t>8.0.2, consult </a:t>
            </a:r>
            <a:r>
              <a:rPr lang="en-US" dirty="0"/>
              <a:t>the </a:t>
            </a:r>
            <a:r>
              <a:rPr lang="en-US" dirty="0" smtClean="0"/>
              <a:t>BillingCenter Installation Guide for specific integration related  configurations.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51</a:t>
            </a:fld>
            <a:endParaRPr lang="en-US"/>
          </a:p>
        </p:txBody>
      </p:sp>
    </p:spTree>
    <p:extLst>
      <p:ext uri="{BB962C8B-B14F-4D97-AF65-F5344CB8AC3E}">
        <p14:creationId xmlns:p14="http://schemas.microsoft.com/office/powerpoint/2010/main" val="163488572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For modified Gosu plugin classes, you can Make Project or Reload Changed classes</a:t>
            </a:r>
            <a:r>
              <a:rPr lang="en-US" baseline="0" dirty="0" smtClean="0"/>
              <a:t>. </a:t>
            </a:r>
            <a:r>
              <a:rPr lang="en-US" dirty="0" smtClean="0"/>
              <a:t>You must restart the server when you create a new Gosu plugin class.  </a:t>
            </a:r>
            <a:r>
              <a:rPr lang="en-US" baseline="0" dirty="0" smtClean="0"/>
              <a:t>You can r</a:t>
            </a:r>
            <a:r>
              <a:rPr lang="en-US" dirty="0" smtClean="0"/>
              <a:t>estart the server from Studio by stopping a running server (debug mode is ok)</a:t>
            </a:r>
            <a:r>
              <a:rPr lang="en-US" baseline="0" dirty="0" smtClean="0"/>
              <a:t> </a:t>
            </a:r>
            <a:r>
              <a:rPr lang="en-US" dirty="0" smtClean="0"/>
              <a:t>and after</a:t>
            </a:r>
            <a:r>
              <a:rPr lang="en-US" baseline="0" dirty="0" smtClean="0"/>
              <a:t> the server stops, then </a:t>
            </a:r>
            <a:r>
              <a:rPr lang="en-US" dirty="0" smtClean="0"/>
              <a:t>running the server</a:t>
            </a:r>
            <a:r>
              <a:rPr lang="en-US" baseline="0" dirty="0" smtClean="0"/>
              <a:t> again in either Run or Debug mode.</a:t>
            </a:r>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52</a:t>
            </a:fld>
            <a:endParaRPr lang="en-US"/>
          </a:p>
        </p:txBody>
      </p:sp>
    </p:spTree>
    <p:extLst>
      <p:ext uri="{BB962C8B-B14F-4D97-AF65-F5344CB8AC3E}">
        <p14:creationId xmlns:p14="http://schemas.microsoft.com/office/powerpoint/2010/main" val="23446080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err="1" smtClean="0"/>
              <a:t>PolicyRenewalAPI</a:t>
            </a:r>
            <a:r>
              <a:rPr lang="en-US" dirty="0" smtClean="0"/>
              <a:t> manages renewals on policies in PolicyCenter.  The </a:t>
            </a:r>
            <a:r>
              <a:rPr lang="en-US" dirty="0" err="1" smtClean="0"/>
              <a:t>CancellationAPI</a:t>
            </a:r>
            <a:r>
              <a:rPr lang="en-US" dirty="0" smtClean="0"/>
              <a:t> manages cancellations</a:t>
            </a:r>
            <a:r>
              <a:rPr lang="en-US" baseline="0" dirty="0" smtClean="0"/>
              <a:t> on policies in PolicyCenter.</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53</a:t>
            </a:fld>
            <a:endParaRPr lang="en-US"/>
          </a:p>
        </p:txBody>
      </p:sp>
    </p:spTree>
    <p:extLst>
      <p:ext uri="{BB962C8B-B14F-4D97-AF65-F5344CB8AC3E}">
        <p14:creationId xmlns:p14="http://schemas.microsoft.com/office/powerpoint/2010/main" val="85575162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54</a:t>
            </a:fld>
            <a:endParaRPr lang="en-US"/>
          </a:p>
        </p:txBody>
      </p:sp>
    </p:spTree>
    <p:extLst>
      <p:ext uri="{BB962C8B-B14F-4D97-AF65-F5344CB8AC3E}">
        <p14:creationId xmlns:p14="http://schemas.microsoft.com/office/powerpoint/2010/main" val="246715744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gw.plugin.pas.pc800.PCPolicySystemPlugin is the fully</a:t>
            </a:r>
            <a:r>
              <a:rPr lang="en-US" baseline="0" dirty="0" smtClean="0"/>
              <a:t> qualified c</a:t>
            </a:r>
            <a:r>
              <a:rPr lang="en-US" dirty="0" smtClean="0"/>
              <a:t>lass</a:t>
            </a:r>
            <a:r>
              <a:rPr lang="en-US" baseline="0" dirty="0" smtClean="0"/>
              <a:t> name.</a:t>
            </a:r>
          </a:p>
        </p:txBody>
      </p:sp>
      <p:sp>
        <p:nvSpPr>
          <p:cNvPr id="4" name="Slide Number Placeholder 3"/>
          <p:cNvSpPr>
            <a:spLocks noGrp="1"/>
          </p:cNvSpPr>
          <p:nvPr>
            <p:ph type="sldNum" sz="quarter" idx="10"/>
          </p:nvPr>
        </p:nvSpPr>
        <p:spPr/>
        <p:txBody>
          <a:bodyPr/>
          <a:lstStyle/>
          <a:p>
            <a:fld id="{BC59C1E8-2E88-4BF4-A80C-B8AE78323CDF}" type="slidenum">
              <a:rPr lang="en-US" smtClean="0"/>
              <a:pPr/>
              <a:t>55</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a:t>
            </a:r>
            <a:r>
              <a:rPr lang="en-US" baseline="0" dirty="0" smtClean="0"/>
              <a:t> only reads the contents plugin registry directory at server startup. </a:t>
            </a:r>
            <a:r>
              <a:rPr lang="en-US" dirty="0" smtClean="0"/>
              <a:t>You must restart the server when you create or modify plugin registry files.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You must restart the server when you create a new Gosu plugin class. For modified Gosu plugin classes, you can Make Project or Reload Changed classes.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You can r</a:t>
            </a:r>
            <a:r>
              <a:rPr lang="en-US" dirty="0" smtClean="0"/>
              <a:t>estart the server from Studio by stopping a running server (debug mode is ok)</a:t>
            </a:r>
            <a:r>
              <a:rPr lang="en-US" baseline="0" dirty="0" smtClean="0"/>
              <a:t> </a:t>
            </a:r>
            <a:r>
              <a:rPr lang="en-US" dirty="0" smtClean="0"/>
              <a:t>and after</a:t>
            </a:r>
            <a:r>
              <a:rPr lang="en-US" baseline="0" dirty="0" smtClean="0"/>
              <a:t> the server stops, then </a:t>
            </a:r>
            <a:r>
              <a:rPr lang="en-US" dirty="0" smtClean="0"/>
              <a:t>running the server</a:t>
            </a:r>
            <a:r>
              <a:rPr lang="en-US" baseline="0" dirty="0" smtClean="0"/>
              <a:t> again in either Run or Debug mode.</a:t>
            </a:r>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56</a:t>
            </a:fld>
            <a:endParaRPr lang="en-US"/>
          </a:p>
        </p:txBody>
      </p:sp>
    </p:spTree>
    <p:extLst>
      <p:ext uri="{BB962C8B-B14F-4D97-AF65-F5344CB8AC3E}">
        <p14:creationId xmlns:p14="http://schemas.microsoft.com/office/powerpoint/2010/main" val="19442599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 development environment,</a:t>
            </a:r>
            <a:r>
              <a:rPr lang="en-US" baseline="0" dirty="0" smtClean="0"/>
              <a:t> t</a:t>
            </a:r>
            <a:r>
              <a:rPr lang="en-US" dirty="0" smtClean="0"/>
              <a:t>he web service URL does not need to be modified if both applications are on the same machine and PolicyCenter is using the default port (8180).</a:t>
            </a:r>
          </a:p>
          <a:p>
            <a:endParaRPr lang="en-US" dirty="0" smtClean="0"/>
          </a:p>
          <a:p>
            <a:r>
              <a:rPr lang="en-US" dirty="0" smtClean="0"/>
              <a:t>In a production</a:t>
            </a:r>
            <a:r>
              <a:rPr lang="en-US" baseline="0" dirty="0" smtClean="0"/>
              <a:t> environment, t</a:t>
            </a:r>
            <a:r>
              <a:rPr lang="en-US" dirty="0" smtClean="0"/>
              <a:t>he web service URL may need to be modified if both applications are not on the same machine or if PolicyCenter is not using the default port (8180).</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57</a:t>
            </a:fld>
            <a:endParaRPr lang="en-US"/>
          </a:p>
        </p:txBody>
      </p:sp>
    </p:spTree>
    <p:extLst>
      <p:ext uri="{BB962C8B-B14F-4D97-AF65-F5344CB8AC3E}">
        <p14:creationId xmlns:p14="http://schemas.microsoft.com/office/powerpoint/2010/main" val="246882913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PolicyCenter server must be running in order to fetch the</a:t>
            </a:r>
            <a:r>
              <a:rPr lang="en-US" baseline="0" dirty="0" smtClean="0"/>
              <a:t> WSDL.</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58</a:t>
            </a:fld>
            <a:endParaRPr lang="en-US"/>
          </a:p>
        </p:txBody>
      </p:sp>
    </p:spTree>
    <p:extLst>
      <p:ext uri="{BB962C8B-B14F-4D97-AF65-F5344CB8AC3E}">
        <p14:creationId xmlns:p14="http://schemas.microsoft.com/office/powerpoint/2010/main" val="190012963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mtClean="0"/>
              <a:t>You must restart the server when you create or modify destinations, plugin registry elements, and/or reply plugins.</a:t>
            </a:r>
          </a:p>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59</a:t>
            </a:fld>
            <a:endParaRPr lang="en-US"/>
          </a:p>
        </p:txBody>
      </p:sp>
    </p:spTree>
    <p:extLst>
      <p:ext uri="{BB962C8B-B14F-4D97-AF65-F5344CB8AC3E}">
        <p14:creationId xmlns:p14="http://schemas.microsoft.com/office/powerpoint/2010/main" val="205383629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60</a:t>
            </a:fld>
            <a:endParaRPr lang="en-US"/>
          </a:p>
        </p:txBody>
      </p:sp>
    </p:spTree>
    <p:extLst>
      <p:ext uri="{BB962C8B-B14F-4D97-AF65-F5344CB8AC3E}">
        <p14:creationId xmlns:p14="http://schemas.microsoft.com/office/powerpoint/2010/main" val="31301580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61</a:t>
            </a:fld>
            <a:endParaRPr lang="en-US"/>
          </a:p>
        </p:txBody>
      </p:sp>
    </p:spTree>
    <p:extLst>
      <p:ext uri="{BB962C8B-B14F-4D97-AF65-F5344CB8AC3E}">
        <p14:creationId xmlns:p14="http://schemas.microsoft.com/office/powerpoint/2010/main" val="24070337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a:solidFill>
                  <a:schemeClr val="tx1"/>
                </a:solidFill>
                <a:latin typeface="+mn-lt"/>
                <a:cs typeface="Arial" pitchFamily="34" charset="0"/>
              </a:rPr>
              <a:t>© Guidewire Software, Inc. </a:t>
            </a:r>
            <a:r>
              <a:rPr lang="en-US" sz="600" smtClean="0">
                <a:solidFill>
                  <a:schemeClr val="tx1"/>
                </a:solidFill>
                <a:latin typeface="+mn-lt"/>
                <a:cs typeface="Arial" pitchFamily="34" charset="0"/>
              </a:rPr>
              <a:t>2001-2014. All </a:t>
            </a:r>
            <a:r>
              <a:rPr lang="en-US" sz="600">
                <a:solidFill>
                  <a:schemeClr val="tx1"/>
                </a:solidFill>
                <a:latin typeface="+mn-lt"/>
                <a:cs typeface="Arial" pitchFamily="34" charset="0"/>
              </a:rPr>
              <a:t>rights reserved</a:t>
            </a:r>
            <a:r>
              <a:rPr lang="en-US" sz="600" smtClean="0">
                <a:solidFill>
                  <a:schemeClr val="tx1"/>
                </a:solidFill>
                <a:latin typeface="+mn-lt"/>
                <a:cs typeface="Arial" pitchFamily="34" charset="0"/>
              </a:rPr>
              <a:t>.</a:t>
            </a:r>
            <a:br>
              <a:rPr lang="en-US" sz="600" smtClean="0">
                <a:solidFill>
                  <a:schemeClr val="tx1"/>
                </a:solidFill>
                <a:latin typeface="+mn-lt"/>
                <a:cs typeface="Arial" pitchFamily="34" charset="0"/>
              </a:rPr>
            </a:br>
            <a:r>
              <a:rPr lang="en-US" sz="600" smtClean="0">
                <a:solidFill>
                  <a:schemeClr val="tx1"/>
                </a:solidFill>
                <a:latin typeface="+mn-lt"/>
                <a:cs typeface="Arial" pitchFamily="34" charset="0"/>
              </a:rPr>
              <a:t>Do </a:t>
            </a:r>
            <a:r>
              <a:rPr lang="en-US" sz="600">
                <a:solidFill>
                  <a:schemeClr val="tx1"/>
                </a:solidFill>
                <a:latin typeface="+mn-lt"/>
                <a:cs typeface="Arial" pitchFamily="34" charset="0"/>
              </a:rPr>
              <a:t>not distribute without </a:t>
            </a:r>
            <a:r>
              <a:rPr lang="en-US" sz="600" smtClean="0">
                <a:solidFill>
                  <a:schemeClr val="tx1"/>
                </a:solidFill>
                <a:latin typeface="+mn-lt"/>
                <a:cs typeface="Arial" pitchFamily="34" charset="0"/>
              </a:rPr>
              <a:t>permission.</a:t>
            </a:r>
            <a:endParaRPr lang="en-US" sz="60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solidFill>
                  <a:srgbClr val="CC0099"/>
                </a:solidFill>
                <a:latin typeface="+mj-lt"/>
                <a:cs typeface="Arial" pitchFamily="34" charset="0"/>
              </a:rPr>
              <a:t>(Notes only slide)</a:t>
            </a:r>
            <a:endParaRPr lang="en-US" sz="320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solidFill>
                  <a:srgbClr val="CC0099"/>
                </a:solidFill>
                <a:latin typeface="+mj-lt"/>
                <a:cs typeface="Arial" pitchFamily="34" charset="0"/>
              </a:rPr>
              <a:t>(Notes only slide)</a:t>
            </a:r>
            <a:endParaRPr lang="en-US" sz="320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smtClean="0">
                <a:solidFill>
                  <a:schemeClr val="accent1"/>
                </a:solidFill>
              </a:rPr>
              <a:t>This lesson uses the notes section for </a:t>
            </a:r>
            <a:r>
              <a:rPr lang="en-US" sz="1600" b="0">
                <a:solidFill>
                  <a:schemeClr val="accent1"/>
                </a:solidFill>
              </a:rPr>
              <a:t>additional explanation and </a:t>
            </a:r>
            <a:r>
              <a:rPr lang="en-US" sz="1600" b="0" smtClean="0">
                <a:solidFill>
                  <a:schemeClr val="accent1"/>
                </a:solidFill>
              </a:rPr>
              <a:t>information.</a:t>
            </a:r>
            <a:r>
              <a:rPr lang="en-US" sz="1600" smtClean="0">
                <a:solidFill>
                  <a:schemeClr val="accent1"/>
                </a:solidFill>
              </a:rPr>
              <a:t> </a:t>
            </a:r>
            <a:br>
              <a:rPr lang="en-US" sz="1600" smtClean="0">
                <a:solidFill>
                  <a:schemeClr val="accent1"/>
                </a:solidFill>
              </a:rPr>
            </a:br>
            <a:r>
              <a:rPr lang="en-US" sz="1600" b="0" smtClean="0">
                <a:solidFill>
                  <a:schemeClr val="accent1"/>
                </a:solidFill>
              </a:rPr>
              <a:t>To </a:t>
            </a:r>
            <a:r>
              <a:rPr lang="en-US" sz="1600" b="0">
                <a:solidFill>
                  <a:schemeClr val="accent1"/>
                </a:solidFill>
              </a:rPr>
              <a:t>view the notes in PowerPoint, </a:t>
            </a:r>
            <a:r>
              <a:rPr lang="en-US" sz="1600" b="0" smtClean="0">
                <a:solidFill>
                  <a:schemeClr val="accent1"/>
                </a:solidFill>
              </a:rPr>
              <a:t>select View </a:t>
            </a:r>
            <a:r>
              <a:rPr lang="en-US" sz="1600" b="0" smtClean="0">
                <a:solidFill>
                  <a:schemeClr val="accent1"/>
                </a:solidFill>
                <a:sym typeface="Wingdings" pitchFamily="2" charset="2"/>
              </a:rPr>
              <a:t> Normal </a:t>
            </a:r>
            <a:r>
              <a:rPr lang="en-US" sz="1600" b="0">
                <a:solidFill>
                  <a:schemeClr val="accent1"/>
                </a:solidFill>
                <a:sym typeface="Wingdings" pitchFamily="2" charset="2"/>
              </a:rPr>
              <a:t>or </a:t>
            </a:r>
            <a:r>
              <a:rPr lang="en-US" sz="1600" b="0" smtClean="0">
                <a:solidFill>
                  <a:schemeClr val="accent1"/>
                </a:solidFill>
              </a:rPr>
              <a:t>View </a:t>
            </a:r>
            <a:r>
              <a:rPr lang="en-US" sz="1600" b="0" smtClean="0">
                <a:solidFill>
                  <a:schemeClr val="accent1"/>
                </a:solidFill>
                <a:sym typeface="Wingdings" pitchFamily="2" charset="2"/>
              </a:rPr>
              <a:t> </a:t>
            </a:r>
            <a:r>
              <a:rPr lang="en-US" sz="1600" b="0" smtClean="0">
                <a:solidFill>
                  <a:schemeClr val="accent1"/>
                </a:solidFill>
              </a:rPr>
              <a:t>Notes </a:t>
            </a:r>
            <a:r>
              <a:rPr lang="en-US" sz="1600" b="0">
                <a:solidFill>
                  <a:schemeClr val="accent1"/>
                </a:solidFill>
              </a:rPr>
              <a:t>Page</a:t>
            </a:r>
            <a:r>
              <a:rPr lang="en-US" sz="1600" b="0" smtClean="0">
                <a:solidFill>
                  <a:schemeClr val="accent1"/>
                </a:solidFill>
              </a:rPr>
              <a:t>. </a:t>
            </a:r>
            <a:br>
              <a:rPr lang="en-US" sz="1600" b="0" smtClean="0">
                <a:solidFill>
                  <a:schemeClr val="accent1"/>
                </a:solidFill>
              </a:rPr>
            </a:br>
            <a:r>
              <a:rPr lang="en-US" sz="1600" b="0" smtClean="0">
                <a:solidFill>
                  <a:schemeClr val="accent1"/>
                </a:solidFill>
              </a:rPr>
              <a:t>When printing </a:t>
            </a:r>
            <a:r>
              <a:rPr lang="en-US" sz="1600" smtClean="0">
                <a:solidFill>
                  <a:schemeClr val="accent1"/>
                </a:solidFill>
              </a:rPr>
              <a:t>notes, select Note Pages and</a:t>
            </a:r>
            <a:r>
              <a:rPr lang="en-US" sz="1600" baseline="0" smtClean="0">
                <a:solidFill>
                  <a:schemeClr val="accent1"/>
                </a:solidFill>
              </a:rPr>
              <a:t> </a:t>
            </a:r>
            <a:r>
              <a:rPr lang="en-US" sz="1600" b="0" smtClean="0">
                <a:solidFill>
                  <a:schemeClr val="accent1"/>
                </a:solidFill>
              </a:rPr>
              <a:t>Print </a:t>
            </a:r>
            <a:r>
              <a:rPr lang="en-US" sz="1600" b="0">
                <a:solidFill>
                  <a:schemeClr val="accent1"/>
                </a:solidFill>
              </a:rPr>
              <a:t>hidden slides</a:t>
            </a:r>
            <a:r>
              <a:rPr lang="en-US" sz="1600" b="0" smtClean="0">
                <a:solidFill>
                  <a:schemeClr val="accent1"/>
                </a:solidFill>
              </a:rPr>
              <a:t>.</a:t>
            </a:r>
            <a:endParaRPr lang="en-US" sz="1600" b="0">
              <a:solidFill>
                <a:schemeClr val="accent1"/>
              </a:solidFill>
            </a:endParaRPr>
          </a:p>
          <a:p>
            <a:pPr lvl="1" algn="l">
              <a:spcBef>
                <a:spcPct val="20000"/>
              </a:spcBef>
              <a:buSzPct val="90000"/>
              <a:buFont typeface="Wingdings 2" pitchFamily="18" charset="2"/>
              <a:buNone/>
            </a:pPr>
            <a:endParaRPr lang="en-US" sz="1400" b="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Lesson</a:t>
            </a:r>
            <a:r>
              <a:rPr lang="en-US" sz="320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Review</a:t>
            </a:r>
            <a:r>
              <a:rPr lang="en-US" sz="320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Review</a:t>
            </a:r>
            <a:r>
              <a:rPr lang="en-US" sz="320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Review</a:t>
            </a:r>
            <a:r>
              <a:rPr lang="en-US" sz="320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2">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smtClean="0">
                <a:latin typeface="+mj-lt"/>
                <a:cs typeface="Arial" pitchFamily="34" charset="0"/>
              </a:rPr>
              <a:t>Notices</a:t>
            </a:r>
            <a:endParaRPr lang="en-US" sz="3200" smtClean="0">
              <a:latin typeface="+mj-lt"/>
            </a:endParaRPr>
          </a:p>
        </p:txBody>
      </p:sp>
      <p:sp>
        <p:nvSpPr>
          <p:cNvPr id="6"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a:solidFill>
                  <a:srgbClr val="B2B2B2"/>
                </a:solidFill>
                <a:latin typeface="+mn-lt"/>
              </a:rPr>
              <a:t>© Guidewire Software, Inc. </a:t>
            </a:r>
            <a:r>
              <a:rPr lang="en-US" sz="600" smtClean="0">
                <a:solidFill>
                  <a:srgbClr val="B2B2B2"/>
                </a:solidFill>
                <a:latin typeface="+mn-lt"/>
              </a:rPr>
              <a:t> 2001-2014. All </a:t>
            </a:r>
            <a:r>
              <a:rPr lang="en-US" sz="60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image" Target="../media/image6.emf"/><Relationship Id="rId7" Type="http://schemas.openxmlformats.org/officeDocument/2006/relationships/image" Target="../media/image10.emf"/><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 Id="rId9" Type="http://schemas.openxmlformats.org/officeDocument/2006/relationships/image" Target="../media/image12.emf"/></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2.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0.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8.emf"/><Relationship Id="rId5" Type="http://schemas.openxmlformats.org/officeDocument/2006/relationships/image" Target="../media/image17.emf"/><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9.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11.xml"/><Relationship Id="rId6" Type="http://schemas.microsoft.com/office/2007/relationships/hdphoto" Target="../media/hdphoto2.wdp"/><Relationship Id="rId5" Type="http://schemas.openxmlformats.org/officeDocument/2006/relationships/image" Target="../media/image20.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1.png"/><Relationship Id="rId7"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8.xml"/><Relationship Id="rId6" Type="http://schemas.microsoft.com/office/2007/relationships/hdphoto" Target="../media/hdphoto4.wdp"/><Relationship Id="rId5" Type="http://schemas.openxmlformats.org/officeDocument/2006/relationships/image" Target="../media/image22.png"/><Relationship Id="rId4" Type="http://schemas.microsoft.com/office/2007/relationships/hdphoto" Target="../media/hdphoto3.wdp"/></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30.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2.xml"/><Relationship Id="rId5" Type="http://schemas.openxmlformats.org/officeDocument/2006/relationships/image" Target="../media/image24.png"/><Relationship Id="rId4" Type="http://schemas.microsoft.com/office/2007/relationships/hdphoto" Target="../media/hdphoto5.wdp"/></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11.xml"/><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14.xml"/><Relationship Id="rId5" Type="http://schemas.openxmlformats.org/officeDocument/2006/relationships/image" Target="../media/image26.wmf"/><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21.png"/><Relationship Id="rId7"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8.xml"/><Relationship Id="rId6" Type="http://schemas.microsoft.com/office/2007/relationships/hdphoto" Target="../media/hdphoto6.wdp"/><Relationship Id="rId5" Type="http://schemas.openxmlformats.org/officeDocument/2006/relationships/image" Target="../media/image27.png"/><Relationship Id="rId4" Type="http://schemas.microsoft.com/office/2007/relationships/hdphoto" Target="../media/hdphoto3.wdp"/><Relationship Id="rId9" Type="http://schemas.openxmlformats.org/officeDocument/2006/relationships/image" Target="../media/image26.wmf"/></Relationships>
</file>

<file path=ppt/slides/_rels/slide2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6.png"/><Relationship Id="rId7" Type="http://schemas.openxmlformats.org/officeDocument/2006/relationships/image" Target="../media/image6.emf"/><Relationship Id="rId2" Type="http://schemas.openxmlformats.org/officeDocument/2006/relationships/notesSlide" Target="../notesSlides/notesSlide21.xml"/><Relationship Id="rId1" Type="http://schemas.openxmlformats.org/officeDocument/2006/relationships/slideLayout" Target="../slideLayouts/slideLayout30.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2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10.xml"/><Relationship Id="rId6" Type="http://schemas.openxmlformats.org/officeDocument/2006/relationships/image" Target="../media/image30.png"/><Relationship Id="rId5" Type="http://schemas.openxmlformats.org/officeDocument/2006/relationships/image" Target="../media/image32.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6.xml"/><Relationship Id="rId1" Type="http://schemas.openxmlformats.org/officeDocument/2006/relationships/slideLayout" Target="../slideLayouts/slideLayout22.xml"/><Relationship Id="rId4" Type="http://schemas.openxmlformats.org/officeDocument/2006/relationships/image" Target="../media/image15.png"/></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9.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8.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3.xml"/><Relationship Id="rId1" Type="http://schemas.openxmlformats.org/officeDocument/2006/relationships/slideLayout" Target="../slideLayouts/slideLayout20.xml"/><Relationship Id="rId5" Type="http://schemas.openxmlformats.org/officeDocument/2006/relationships/image" Target="../media/image15.png"/><Relationship Id="rId4" Type="http://schemas.microsoft.com/office/2007/relationships/hdphoto" Target="../media/hdphoto7.wdp"/></Relationships>
</file>

<file path=ppt/slides/_rels/slide34.xml.rels><?xml version="1.0" encoding="UTF-8" standalone="yes"?>
<Relationships xmlns="http://schemas.openxmlformats.org/package/2006/relationships"><Relationship Id="rId3" Type="http://schemas.openxmlformats.org/officeDocument/2006/relationships/image" Target="../media/image36.png"/><Relationship Id="rId7"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20.xml"/><Relationship Id="rId6" Type="http://schemas.openxmlformats.org/officeDocument/2006/relationships/image" Target="../media/image16.png"/><Relationship Id="rId5" Type="http://schemas.openxmlformats.org/officeDocument/2006/relationships/image" Target="../media/image37.png"/><Relationship Id="rId4" Type="http://schemas.microsoft.com/office/2007/relationships/hdphoto" Target="../media/hdphoto7.wdp"/></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5.xml"/><Relationship Id="rId1" Type="http://schemas.openxmlformats.org/officeDocument/2006/relationships/slideLayout" Target="../slideLayouts/slideLayout22.xml"/><Relationship Id="rId5" Type="http://schemas.openxmlformats.org/officeDocument/2006/relationships/image" Target="../media/image15.png"/><Relationship Id="rId4" Type="http://schemas.microsoft.com/office/2007/relationships/hdphoto" Target="../media/hdphoto8.wdp"/></Relationships>
</file>

<file path=ppt/slides/_rels/slide36.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16.png"/><Relationship Id="rId2" Type="http://schemas.openxmlformats.org/officeDocument/2006/relationships/notesSlide" Target="../notesSlides/notesSlide36.xml"/><Relationship Id="rId1" Type="http://schemas.openxmlformats.org/officeDocument/2006/relationships/slideLayout" Target="../slideLayouts/slideLayout22.xml"/><Relationship Id="rId6" Type="http://schemas.openxmlformats.org/officeDocument/2006/relationships/image" Target="../media/image39.png"/><Relationship Id="rId5" Type="http://schemas.openxmlformats.org/officeDocument/2006/relationships/image" Target="../media/image15.png"/><Relationship Id="rId4" Type="http://schemas.microsoft.com/office/2007/relationships/hdphoto" Target="../media/hdphoto8.wdp"/></Relationships>
</file>

<file path=ppt/slides/_rels/slide37.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16.png"/><Relationship Id="rId7" Type="http://schemas.openxmlformats.org/officeDocument/2006/relationships/image" Target="../media/image6.emf"/><Relationship Id="rId2" Type="http://schemas.openxmlformats.org/officeDocument/2006/relationships/notesSlide" Target="../notesSlides/notesSlide37.xml"/><Relationship Id="rId1" Type="http://schemas.openxmlformats.org/officeDocument/2006/relationships/slideLayout" Target="../slideLayouts/slideLayout30.xml"/><Relationship Id="rId6" Type="http://schemas.openxmlformats.org/officeDocument/2006/relationships/image" Target="../media/image9.emf"/><Relationship Id="rId5" Type="http://schemas.openxmlformats.org/officeDocument/2006/relationships/image" Target="../media/image8.emf"/><Relationship Id="rId10" Type="http://schemas.openxmlformats.org/officeDocument/2006/relationships/image" Target="../media/image15.png"/><Relationship Id="rId4" Type="http://schemas.openxmlformats.org/officeDocument/2006/relationships/image" Target="../media/image7.emf"/><Relationship Id="rId9" Type="http://schemas.openxmlformats.org/officeDocument/2006/relationships/image" Target="../media/image41.png"/></Relationships>
</file>

<file path=ppt/slides/_rels/slide3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2.xml"/><Relationship Id="rId6" Type="http://schemas.openxmlformats.org/officeDocument/2006/relationships/image" Target="../media/image30.png"/><Relationship Id="rId5" Type="http://schemas.openxmlformats.org/officeDocument/2006/relationships/image" Target="../media/image15.png"/><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1.xml"/><Relationship Id="rId1" Type="http://schemas.openxmlformats.org/officeDocument/2006/relationships/slideLayout" Target="../slideLayouts/slideLayout10.xml"/><Relationship Id="rId6" Type="http://schemas.openxmlformats.org/officeDocument/2006/relationships/image" Target="../media/image45.png"/><Relationship Id="rId5" Type="http://schemas.openxmlformats.org/officeDocument/2006/relationships/image" Target="../media/image30.png"/><Relationship Id="rId4" Type="http://schemas.openxmlformats.org/officeDocument/2006/relationships/image" Target="../media/image15.png"/></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2.xml"/><Relationship Id="rId1" Type="http://schemas.openxmlformats.org/officeDocument/2006/relationships/slideLayout" Target="../slideLayouts/slideLayout22.xml"/><Relationship Id="rId4" Type="http://schemas.openxmlformats.org/officeDocument/2006/relationships/image" Target="../media/image15.png"/></Relationships>
</file>

<file path=ppt/slides/_rels/slide4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9.xml"/><Relationship Id="rId5" Type="http://schemas.openxmlformats.org/officeDocument/2006/relationships/image" Target="../media/image15.png"/><Relationship Id="rId4" Type="http://schemas.openxmlformats.org/officeDocument/2006/relationships/image" Target="../media/image33.png"/></Relationships>
</file>

<file path=ppt/slides/_rels/slide4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image" Target="../media/image15.png"/></Relationships>
</file>

<file path=ppt/slides/_rels/slide45.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image" Target="../media/image15.png"/><Relationship Id="rId4" Type="http://schemas.openxmlformats.org/officeDocument/2006/relationships/image" Target="../media/image8.emf"/></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30.xml"/><Relationship Id="rId4" Type="http://schemas.openxmlformats.org/officeDocument/2006/relationships/image" Target="../media/image15.png"/></Relationships>
</file>

<file path=ppt/slides/_rels/slide4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9.xml"/><Relationship Id="rId1" Type="http://schemas.openxmlformats.org/officeDocument/2006/relationships/slideLayout" Target="../slideLayouts/slideLayout30.xml"/><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16.png"/><Relationship Id="rId7" Type="http://schemas.openxmlformats.org/officeDocument/2006/relationships/image" Target="../media/image8.emf"/><Relationship Id="rId2" Type="http://schemas.openxmlformats.org/officeDocument/2006/relationships/notesSlide" Target="../notesSlides/notesSlide50.xml"/><Relationship Id="rId1" Type="http://schemas.openxmlformats.org/officeDocument/2006/relationships/slideLayout" Target="../slideLayouts/slideLayout30.xml"/><Relationship Id="rId6" Type="http://schemas.openxmlformats.org/officeDocument/2006/relationships/image" Target="../media/image7.emf"/><Relationship Id="rId5" Type="http://schemas.openxmlformats.org/officeDocument/2006/relationships/image" Target="../media/image6.emf"/><Relationship Id="rId4" Type="http://schemas.openxmlformats.org/officeDocument/2006/relationships/image" Target="../media/image15.png"/></Relationships>
</file>

<file path=ppt/slides/_rels/slide5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1.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5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4.xml"/><Relationship Id="rId1" Type="http://schemas.openxmlformats.org/officeDocument/2006/relationships/slideLayout" Target="../slideLayouts/slideLayout22.xml"/><Relationship Id="rId6" Type="http://schemas.openxmlformats.org/officeDocument/2006/relationships/image" Target="../media/image30.png"/><Relationship Id="rId5" Type="http://schemas.openxmlformats.org/officeDocument/2006/relationships/image" Target="../media/image16.png"/><Relationship Id="rId4" Type="http://schemas.openxmlformats.org/officeDocument/2006/relationships/image" Target="../media/image49.png"/></Relationships>
</file>

<file path=ppt/slides/_rels/slide55.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5.xml"/><Relationship Id="rId1" Type="http://schemas.openxmlformats.org/officeDocument/2006/relationships/slideLayout" Target="../slideLayouts/slideLayout10.xml"/><Relationship Id="rId6" Type="http://schemas.openxmlformats.org/officeDocument/2006/relationships/image" Target="../media/image16.png"/><Relationship Id="rId5" Type="http://schemas.openxmlformats.org/officeDocument/2006/relationships/image" Target="../media/image30.png"/><Relationship Id="rId4" Type="http://schemas.openxmlformats.org/officeDocument/2006/relationships/image" Target="../media/image51.png"/></Relationships>
</file>

<file path=ppt/slides/_rels/slide56.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6.xml"/><Relationship Id="rId1" Type="http://schemas.openxmlformats.org/officeDocument/2006/relationships/slideLayout" Target="../slideLayouts/slideLayout22.xml"/><Relationship Id="rId4" Type="http://schemas.openxmlformats.org/officeDocument/2006/relationships/image" Target="../media/image16.png"/></Relationships>
</file>

<file path=ppt/slides/_rels/slide5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7.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8.xml"/><Relationship Id="rId1" Type="http://schemas.openxmlformats.org/officeDocument/2006/relationships/slideLayout" Target="../slideLayouts/slideLayout10.xml"/><Relationship Id="rId4" Type="http://schemas.openxmlformats.org/officeDocument/2006/relationships/image" Target="../media/image16.png"/></Relationships>
</file>

<file path=ppt/slides/_rels/slide5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59.xml"/><Relationship Id="rId1" Type="http://schemas.openxmlformats.org/officeDocument/2006/relationships/slideLayout" Target="../slideLayouts/slideLayout5.xml"/><Relationship Id="rId4" Type="http://schemas.openxmlformats.org/officeDocument/2006/relationships/image" Target="../media/image16.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3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November 14, </a:t>
            </a:r>
            <a:r>
              <a:rPr lang="en-US" dirty="0" smtClean="0"/>
              <a:t>2014</a:t>
            </a:r>
            <a:endParaRPr lang="en-US" dirty="0"/>
          </a:p>
        </p:txBody>
      </p:sp>
      <p:sp>
        <p:nvSpPr>
          <p:cNvPr id="3" name="Title 2"/>
          <p:cNvSpPr>
            <a:spLocks noGrp="1"/>
          </p:cNvSpPr>
          <p:nvPr>
            <p:ph type="ctrTitle"/>
          </p:nvPr>
        </p:nvSpPr>
        <p:spPr/>
        <p:txBody>
          <a:bodyPr/>
          <a:lstStyle/>
          <a:p>
            <a:r>
              <a:rPr lang="en-US" dirty="0"/>
              <a:t>Integrating PolicyCenter with BillingCenter</a:t>
            </a:r>
          </a:p>
        </p:txBody>
      </p:sp>
    </p:spTree>
    <p:extLst>
      <p:ext uri="{BB962C8B-B14F-4D97-AF65-F5344CB8AC3E}">
        <p14:creationId xmlns:p14="http://schemas.microsoft.com/office/powerpoint/2010/main" val="3540183417"/>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cross-application integration points between PolicyCenter and BillingCenter</a:t>
            </a:r>
          </a:p>
          <a:p>
            <a:pPr lvl="1"/>
            <a:r>
              <a:rPr lang="en-US" dirty="0"/>
              <a:t>Enable account and producer management</a:t>
            </a:r>
          </a:p>
          <a:p>
            <a:pPr lvl="1"/>
            <a:r>
              <a:rPr lang="en-US" dirty="0"/>
              <a:t>Enable policy transaction processing</a:t>
            </a:r>
          </a:p>
          <a:p>
            <a:pPr lvl="1"/>
            <a:r>
              <a:rPr lang="en-US" dirty="0"/>
              <a:t>Enable delinquency</a:t>
            </a:r>
          </a:p>
          <a:p>
            <a:pPr lvl="1"/>
            <a:endParaRPr lang="en-US" dirty="0"/>
          </a:p>
        </p:txBody>
      </p:sp>
    </p:spTree>
    <p:extLst>
      <p:ext uri="{BB962C8B-B14F-4D97-AF65-F5344CB8AC3E}">
        <p14:creationId xmlns:p14="http://schemas.microsoft.com/office/powerpoint/2010/main" val="2990688167"/>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Overview of PC/BC integration</a:t>
            </a:r>
          </a:p>
          <a:p>
            <a:r>
              <a:rPr lang="en-US" dirty="0"/>
              <a:t>Account and producer processing</a:t>
            </a:r>
          </a:p>
          <a:p>
            <a:r>
              <a:rPr lang="en-US" dirty="0"/>
              <a:t>Billing instructions</a:t>
            </a:r>
          </a:p>
          <a:p>
            <a:r>
              <a:rPr lang="en-US" dirty="0"/>
              <a:t>Billing status</a:t>
            </a:r>
          </a:p>
          <a:p>
            <a:r>
              <a:rPr lang="en-US" dirty="0"/>
              <a:t>Late payment cancellation</a:t>
            </a:r>
          </a:p>
          <a:p>
            <a:endParaRPr lang="en-US" dirty="0"/>
          </a:p>
        </p:txBody>
      </p:sp>
    </p:spTree>
    <p:extLst>
      <p:ext uri="{BB962C8B-B14F-4D97-AF65-F5344CB8AC3E}">
        <p14:creationId xmlns:p14="http://schemas.microsoft.com/office/powerpoint/2010/main" val="167272099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Cross-application integration points</a:t>
            </a:r>
          </a:p>
        </p:txBody>
      </p:sp>
      <p:sp>
        <p:nvSpPr>
          <p:cNvPr id="2" name="Content Placeholder 1"/>
          <p:cNvSpPr>
            <a:spLocks noGrp="1"/>
          </p:cNvSpPr>
          <p:nvPr>
            <p:ph idx="1"/>
          </p:nvPr>
        </p:nvSpPr>
        <p:spPr/>
        <p:txBody>
          <a:bodyPr/>
          <a:lstStyle/>
          <a:p>
            <a:r>
              <a:rPr lang="en-US" dirty="0" smtClean="0"/>
              <a:t>Guidewire applications are designed to </a:t>
            </a:r>
            <a:r>
              <a:rPr lang="en-US" dirty="0"/>
              <a:t>exchange information with other Guidewire applications</a:t>
            </a:r>
          </a:p>
          <a:p>
            <a:r>
              <a:rPr lang="en-US" dirty="0" smtClean="0"/>
              <a:t>A </a:t>
            </a:r>
            <a:r>
              <a:rPr lang="en-US" b="1" dirty="0" smtClean="0"/>
              <a:t>cross-application </a:t>
            </a:r>
            <a:r>
              <a:rPr lang="en-US" b="1" dirty="0"/>
              <a:t>integration </a:t>
            </a:r>
            <a:r>
              <a:rPr lang="en-US" b="1" dirty="0" smtClean="0"/>
              <a:t>point</a:t>
            </a:r>
            <a:r>
              <a:rPr lang="en-US" dirty="0" smtClean="0"/>
              <a:t> represents an exchange of information between two Guidewire applications</a:t>
            </a: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44681" y="1143000"/>
            <a:ext cx="1465190" cy="1421546"/>
          </a:xfrm>
          <a:prstGeom prst="rect">
            <a:avLst/>
          </a:prstGeom>
          <a:effectLst>
            <a:outerShdw blurRad="50800" dist="38100" dir="2700000" algn="tl" rotWithShape="0">
              <a:prstClr val="black">
                <a:alpha val="40000"/>
              </a:prstClr>
            </a:outerShdw>
          </a:effectLst>
        </p:spPr>
      </p:pic>
      <p:pic>
        <p:nvPicPr>
          <p:cNvPr id="6" name="Picture 5"/>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76585" y="1143000"/>
            <a:ext cx="1434015" cy="1390371"/>
          </a:xfrm>
          <a:prstGeom prst="rect">
            <a:avLst/>
          </a:prstGeom>
          <a:effectLst>
            <a:outerShdw blurRad="50800" dist="38100" dir="2700000" algn="tl" rotWithShape="0">
              <a:prstClr val="black">
                <a:alpha val="40000"/>
              </a:prstClr>
            </a:outerShdw>
          </a:effectLst>
        </p:spPr>
      </p:pic>
      <p:pic>
        <p:nvPicPr>
          <p:cNvPr id="7" name="Picture 6"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976221" y="1143000"/>
            <a:ext cx="1434015" cy="1390371"/>
          </a:xfrm>
          <a:prstGeom prst="rect">
            <a:avLst/>
          </a:prstGeom>
          <a:effectLst>
            <a:outerShdw blurRad="50800" dist="38100" dir="2700000" algn="tl" rotWithShape="0">
              <a:prstClr val="black">
                <a:alpha val="40000"/>
              </a:prstClr>
            </a:outerShdw>
          </a:effectLst>
        </p:spPr>
      </p:pic>
      <p:sp>
        <p:nvSpPr>
          <p:cNvPr id="9" name="Left-Right Arrow 8"/>
          <p:cNvSpPr/>
          <p:nvPr/>
        </p:nvSpPr>
        <p:spPr bwMode="auto">
          <a:xfrm>
            <a:off x="2292946" y="1747708"/>
            <a:ext cx="1600200" cy="385892"/>
          </a:xfrm>
          <a:prstGeom prst="leftRightArrow">
            <a:avLst/>
          </a:prstGeom>
          <a:gradFill flip="none" rotWithShape="1">
            <a:gsLst>
              <a:gs pos="0">
                <a:schemeClr val="accent4"/>
              </a:gs>
              <a:gs pos="100000">
                <a:schemeClr val="accent3"/>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1" name="Left-Right Arrow 10"/>
          <p:cNvSpPr/>
          <p:nvPr/>
        </p:nvSpPr>
        <p:spPr bwMode="auto">
          <a:xfrm>
            <a:off x="5493311" y="1747708"/>
            <a:ext cx="1600200" cy="385892"/>
          </a:xfrm>
          <a:prstGeom prst="leftRightArrow">
            <a:avLst/>
          </a:prstGeom>
          <a:gradFill flip="none" rotWithShape="1">
            <a:gsLst>
              <a:gs pos="0">
                <a:schemeClr val="accent3"/>
              </a:gs>
              <a:gs pos="100000">
                <a:schemeClr val="accent5"/>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632266644"/>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Cross-application integration points </a:t>
            </a:r>
            <a:endParaRPr lang="en-US"/>
          </a:p>
        </p:txBody>
      </p:sp>
      <p:sp>
        <p:nvSpPr>
          <p:cNvPr id="4" name="Content Placeholder 3"/>
          <p:cNvSpPr>
            <a:spLocks noGrp="1"/>
          </p:cNvSpPr>
          <p:nvPr>
            <p:ph sz="half" idx="1"/>
          </p:nvPr>
        </p:nvSpPr>
        <p:spPr/>
        <p:txBody>
          <a:bodyPr/>
          <a:lstStyle/>
          <a:p>
            <a:r>
              <a:rPr lang="en-US" dirty="0" smtClean="0"/>
              <a:t>Consist of Guidewire integration mechanisms:</a:t>
            </a:r>
          </a:p>
          <a:p>
            <a:pPr lvl="1"/>
            <a:r>
              <a:rPr lang="en-US" dirty="0" smtClean="0"/>
              <a:t>Plugins registry elements</a:t>
            </a:r>
          </a:p>
          <a:p>
            <a:pPr lvl="1"/>
            <a:r>
              <a:rPr lang="en-US" dirty="0" smtClean="0"/>
              <a:t>Preupdate and event fired rules</a:t>
            </a:r>
          </a:p>
          <a:p>
            <a:pPr lvl="1"/>
            <a:r>
              <a:rPr lang="en-US" dirty="0" smtClean="0"/>
              <a:t>Messaging destinations</a:t>
            </a:r>
          </a:p>
          <a:p>
            <a:pPr lvl="1"/>
            <a:r>
              <a:rPr lang="en-US" dirty="0" smtClean="0"/>
              <a:t>Web service collections </a:t>
            </a:r>
            <a:br>
              <a:rPr lang="en-US" dirty="0" smtClean="0"/>
            </a:br>
            <a:r>
              <a:rPr lang="en-US" dirty="0" smtClean="0"/>
              <a:t>and APIs</a:t>
            </a:r>
          </a:p>
          <a:p>
            <a:endParaRPr lang="en-US" dirty="0"/>
          </a:p>
        </p:txBody>
      </p:sp>
      <p:sp>
        <p:nvSpPr>
          <p:cNvPr id="7" name="Content Placeholder 6"/>
          <p:cNvSpPr>
            <a:spLocks noGrp="1"/>
          </p:cNvSpPr>
          <p:nvPr>
            <p:ph sz="half" idx="2"/>
          </p:nvPr>
        </p:nvSpPr>
        <p:spPr/>
        <p:txBody>
          <a:bodyPr/>
          <a:lstStyle/>
          <a:p>
            <a:r>
              <a:rPr lang="en-US" dirty="0" smtClean="0"/>
              <a:t>Enablement consists of basic configurations:</a:t>
            </a:r>
          </a:p>
          <a:p>
            <a:pPr lvl="1"/>
            <a:r>
              <a:rPr lang="en-US" dirty="0" smtClean="0"/>
              <a:t>Enable </a:t>
            </a:r>
            <a:r>
              <a:rPr lang="en-US" dirty="0"/>
              <a:t>rules</a:t>
            </a:r>
          </a:p>
          <a:p>
            <a:pPr lvl="1"/>
            <a:r>
              <a:rPr lang="en-US" dirty="0"/>
              <a:t>Enable messaging destinations</a:t>
            </a:r>
          </a:p>
          <a:p>
            <a:pPr lvl="1"/>
            <a:r>
              <a:rPr lang="en-US" dirty="0"/>
              <a:t>Configure and enable plugins</a:t>
            </a:r>
          </a:p>
          <a:p>
            <a:pPr lvl="1"/>
            <a:r>
              <a:rPr lang="en-US" dirty="0"/>
              <a:t>Edit xml files</a:t>
            </a:r>
          </a:p>
          <a:p>
            <a:pPr lvl="1"/>
            <a:r>
              <a:rPr lang="en-US" dirty="0"/>
              <a:t>Refresh web service </a:t>
            </a:r>
            <a:r>
              <a:rPr lang="en-US" dirty="0" smtClean="0"/>
              <a:t>collections</a:t>
            </a:r>
            <a:endParaRPr lang="en-US" dirty="0"/>
          </a:p>
          <a:p>
            <a:endParaRPr lang="en-US" dirty="0"/>
          </a:p>
        </p:txBody>
      </p:sp>
      <p:pic>
        <p:nvPicPr>
          <p:cNvPr id="1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47465" y="5167533"/>
            <a:ext cx="888614"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26212" y="5167533"/>
            <a:ext cx="998388" cy="108158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7" name="icon GWP file"/>
          <p:cNvGrpSpPr>
            <a:grpSpLocks noChangeAspect="1"/>
          </p:cNvGrpSpPr>
          <p:nvPr/>
        </p:nvGrpSpPr>
        <p:grpSpPr>
          <a:xfrm>
            <a:off x="609600" y="5167533"/>
            <a:ext cx="771450" cy="860459"/>
            <a:chOff x="4558702" y="2146900"/>
            <a:chExt cx="1246792" cy="1390650"/>
          </a:xfrm>
        </p:grpSpPr>
        <p:pic>
          <p:nvPicPr>
            <p:cNvPr id="1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9"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21"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2"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23"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24"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20" name="TextBox 19"/>
            <p:cNvSpPr txBox="1"/>
            <p:nvPr/>
          </p:nvSpPr>
          <p:spPr>
            <a:xfrm>
              <a:off x="4558702" y="2936002"/>
              <a:ext cx="1246792" cy="485656"/>
            </a:xfrm>
            <a:prstGeom prst="rect">
              <a:avLst/>
            </a:prstGeom>
            <a:noFill/>
          </p:spPr>
          <p:txBody>
            <a:bodyPr wrap="square" rtlCol="0">
              <a:noAutofit/>
            </a:bodyPr>
            <a:lstStyle/>
            <a:p>
              <a:pPr algn="ctr"/>
              <a:r>
                <a:rPr lang="en-US" sz="1600" b="1" smtClean="0">
                  <a:solidFill>
                    <a:schemeClr val="bg2"/>
                  </a:solidFill>
                  <a:latin typeface="Arial" pitchFamily="32" charset="0"/>
                  <a:cs typeface="Arial" pitchFamily="32" charset="0"/>
                </a:rPr>
                <a:t>GWP</a:t>
              </a:r>
            </a:p>
          </p:txBody>
        </p:sp>
      </p:grpSp>
      <p:pic>
        <p:nvPicPr>
          <p:cNvPr id="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38833" y="5167533"/>
            <a:ext cx="1057368" cy="86663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inc Plg Transpor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6285" y="5167533"/>
            <a:ext cx="850966" cy="10287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icn Msg Destination"/>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74501" y="5167533"/>
            <a:ext cx="766476" cy="9492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8" name="icon Rule Class 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02486" y="5167532"/>
            <a:ext cx="874850" cy="100466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0029899"/>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suite-config.xml</a:t>
            </a:r>
          </a:p>
        </p:txBody>
      </p:sp>
      <p:sp>
        <p:nvSpPr>
          <p:cNvPr id="3" name="Content Placeholder 2"/>
          <p:cNvSpPr>
            <a:spLocks noGrp="1"/>
          </p:cNvSpPr>
          <p:nvPr>
            <p:ph sz="half" idx="2"/>
          </p:nvPr>
        </p:nvSpPr>
        <p:spPr/>
        <p:txBody>
          <a:bodyPr/>
          <a:lstStyle/>
          <a:p>
            <a:r>
              <a:rPr lang="en-US" b="1" dirty="0"/>
              <a:t>suite-config.xml</a:t>
            </a:r>
            <a:r>
              <a:rPr lang="en-US" dirty="0"/>
              <a:t> </a:t>
            </a:r>
            <a:r>
              <a:rPr lang="en-US" dirty="0" smtClean="0"/>
              <a:t> specifies the Guidewire product URLs so that applications know where to connect to each other</a:t>
            </a:r>
            <a:endParaRPr lang="en-US" dirty="0"/>
          </a:p>
          <a:p>
            <a:endParaRPr lang="en-US" dirty="0"/>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r="5555" b="5516"/>
          <a:stretch/>
        </p:blipFill>
        <p:spPr bwMode="auto">
          <a:xfrm>
            <a:off x="533400" y="914400"/>
            <a:ext cx="2741154" cy="30837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0" name="Picture 6" descr="C:\Users\sluersen\AppData\Local\Temp\SNAGHTML1a0cdb2.PNG"/>
          <p:cNvPicPr>
            <a:picLocks noChangeAspect="1" noChangeArrowheads="1"/>
          </p:cNvPicPr>
          <p:nvPr/>
        </p:nvPicPr>
        <p:blipFill rotWithShape="1">
          <a:blip r:embed="rId4">
            <a:extLst>
              <a:ext uri="{28A0092B-C50C-407E-A947-70E740481C1C}">
                <a14:useLocalDpi xmlns:a14="http://schemas.microsoft.com/office/drawing/2010/main" val="0"/>
              </a:ext>
            </a:extLst>
          </a:blip>
          <a:srcRect b="10537"/>
          <a:stretch/>
        </p:blipFill>
        <p:spPr bwMode="auto">
          <a:xfrm>
            <a:off x="533401" y="4410076"/>
            <a:ext cx="8300001" cy="18787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5" name="Straight Arrow Connector 4"/>
          <p:cNvCxnSpPr/>
          <p:nvPr/>
        </p:nvCxnSpPr>
        <p:spPr bwMode="auto">
          <a:xfrm>
            <a:off x="1295400" y="3912454"/>
            <a:ext cx="0" cy="497622"/>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635678459"/>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Rounded Rectangle 43"/>
          <p:cNvSpPr/>
          <p:nvPr/>
        </p:nvSpPr>
        <p:spPr bwMode="auto">
          <a:xfrm>
            <a:off x="533400" y="1371600"/>
            <a:ext cx="2560320" cy="5105400"/>
          </a:xfrm>
          <a:prstGeom prst="roundRect">
            <a:avLst>
              <a:gd name="adj" fmla="val 5270"/>
            </a:avLst>
          </a:prstGeom>
          <a:solidFill>
            <a:schemeClr val="accent3">
              <a:lumMod val="60000"/>
              <a:lumOff val="4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45" name="Picture 44"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46" name="Rounded Rectangle 45"/>
          <p:cNvSpPr/>
          <p:nvPr/>
        </p:nvSpPr>
        <p:spPr bwMode="auto">
          <a:xfrm>
            <a:off x="6324600" y="1371600"/>
            <a:ext cx="2560320" cy="5105400"/>
          </a:xfrm>
          <a:prstGeom prst="roundRect">
            <a:avLst>
              <a:gd name="adj" fmla="val 5270"/>
            </a:avLst>
          </a:prstGeom>
          <a:solidFill>
            <a:schemeClr val="accent4">
              <a:lumMod val="60000"/>
              <a:lumOff val="4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47" name="Picture 4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16315" y="895350"/>
            <a:ext cx="565485" cy="548640"/>
          </a:xfrm>
          <a:prstGeom prst="rect">
            <a:avLst/>
          </a:prstGeom>
          <a:effectLst>
            <a:outerShdw blurRad="50800" dist="38100" dir="2700000" algn="tl" rotWithShape="0">
              <a:prstClr val="black">
                <a:alpha val="40000"/>
              </a:prstClr>
            </a:outerShdw>
          </a:effectLst>
        </p:spPr>
      </p:pic>
      <p:sp>
        <p:nvSpPr>
          <p:cNvPr id="40" name="Rounded Rectangle 39"/>
          <p:cNvSpPr/>
          <p:nvPr/>
        </p:nvSpPr>
        <p:spPr bwMode="auto">
          <a:xfrm>
            <a:off x="6418762" y="2884332"/>
            <a:ext cx="2377440" cy="2236308"/>
          </a:xfrm>
          <a:prstGeom prst="roundRect">
            <a:avLst>
              <a:gd name="adj" fmla="val 4734"/>
            </a:avLst>
          </a:prstGeom>
          <a:solidFill>
            <a:schemeClr val="accent4">
              <a:lumMod val="20000"/>
              <a:lumOff val="8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39" name="Rounded Rectangle 38"/>
          <p:cNvSpPr/>
          <p:nvPr/>
        </p:nvSpPr>
        <p:spPr bwMode="auto">
          <a:xfrm>
            <a:off x="609600" y="2904823"/>
            <a:ext cx="2362200" cy="2906869"/>
          </a:xfrm>
          <a:prstGeom prst="roundRect">
            <a:avLst>
              <a:gd name="adj" fmla="val 4734"/>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4" name="Title 3"/>
          <p:cNvSpPr>
            <a:spLocks noGrp="1"/>
          </p:cNvSpPr>
          <p:nvPr>
            <p:ph type="title"/>
          </p:nvPr>
        </p:nvSpPr>
        <p:spPr/>
        <p:txBody>
          <a:bodyPr/>
          <a:lstStyle/>
          <a:p>
            <a:r>
              <a:rPr lang="en-US" dirty="0"/>
              <a:t>Cross-application integration points:</a:t>
            </a:r>
          </a:p>
        </p:txBody>
      </p:sp>
      <p:sp>
        <p:nvSpPr>
          <p:cNvPr id="16" name="Rounded Rectangle 15"/>
          <p:cNvSpPr/>
          <p:nvPr/>
        </p:nvSpPr>
        <p:spPr bwMode="auto">
          <a:xfrm>
            <a:off x="685800" y="1524000"/>
            <a:ext cx="210312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Producer</a:t>
            </a:r>
            <a:br>
              <a:rPr lang="en-US" dirty="0" smtClean="0">
                <a:solidFill>
                  <a:schemeClr val="bg1"/>
                </a:solidFill>
              </a:rPr>
            </a:br>
            <a:r>
              <a:rPr lang="en-US" dirty="0" smtClean="0">
                <a:solidFill>
                  <a:schemeClr val="bg1"/>
                </a:solidFill>
              </a:rPr>
              <a:t>Organization</a:t>
            </a:r>
            <a:endParaRPr lang="en-US" dirty="0">
              <a:solidFill>
                <a:schemeClr val="bg1"/>
              </a:solidFill>
            </a:endParaRPr>
          </a:p>
        </p:txBody>
      </p:sp>
      <p:sp>
        <p:nvSpPr>
          <p:cNvPr id="17" name="Rounded Rectangle 16"/>
          <p:cNvSpPr/>
          <p:nvPr/>
        </p:nvSpPr>
        <p:spPr bwMode="auto">
          <a:xfrm>
            <a:off x="685800" y="3691731"/>
            <a:ext cx="210312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Endorsement </a:t>
            </a:r>
            <a:br>
              <a:rPr lang="en-US" dirty="0" smtClean="0">
                <a:solidFill>
                  <a:schemeClr val="bg1"/>
                </a:solidFill>
              </a:rPr>
            </a:br>
            <a:r>
              <a:rPr lang="en-US" dirty="0" smtClean="0">
                <a:solidFill>
                  <a:schemeClr val="bg1"/>
                </a:solidFill>
              </a:rPr>
              <a:t>Processing</a:t>
            </a:r>
            <a:endParaRPr lang="en-US" dirty="0">
              <a:solidFill>
                <a:schemeClr val="bg1"/>
              </a:solidFill>
            </a:endParaRPr>
          </a:p>
        </p:txBody>
      </p:sp>
      <p:sp>
        <p:nvSpPr>
          <p:cNvPr id="18" name="Rounded Rectangle 17"/>
          <p:cNvSpPr/>
          <p:nvPr/>
        </p:nvSpPr>
        <p:spPr bwMode="auto">
          <a:xfrm>
            <a:off x="685800" y="4388908"/>
            <a:ext cx="210312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Renewal </a:t>
            </a:r>
            <a:br>
              <a:rPr lang="en-US" dirty="0" smtClean="0">
                <a:solidFill>
                  <a:schemeClr val="bg1"/>
                </a:solidFill>
              </a:rPr>
            </a:br>
            <a:r>
              <a:rPr lang="en-US" dirty="0" smtClean="0">
                <a:solidFill>
                  <a:schemeClr val="bg1"/>
                </a:solidFill>
              </a:rPr>
              <a:t>Processing</a:t>
            </a:r>
            <a:endParaRPr lang="en-US" dirty="0">
              <a:solidFill>
                <a:schemeClr val="bg1"/>
              </a:solidFill>
            </a:endParaRPr>
          </a:p>
        </p:txBody>
      </p:sp>
      <p:sp>
        <p:nvSpPr>
          <p:cNvPr id="19" name="Rounded Rectangle 18"/>
          <p:cNvSpPr/>
          <p:nvPr/>
        </p:nvSpPr>
        <p:spPr bwMode="auto">
          <a:xfrm>
            <a:off x="685800" y="5935662"/>
            <a:ext cx="210312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Billing View</a:t>
            </a:r>
            <a:endParaRPr lang="en-US" dirty="0">
              <a:solidFill>
                <a:schemeClr val="bg1"/>
              </a:solidFill>
            </a:endParaRPr>
          </a:p>
        </p:txBody>
      </p:sp>
      <p:sp>
        <p:nvSpPr>
          <p:cNvPr id="20" name="Rounded Rectangle 19"/>
          <p:cNvSpPr/>
          <p:nvPr/>
        </p:nvSpPr>
        <p:spPr bwMode="auto">
          <a:xfrm>
            <a:off x="6507480" y="1511808"/>
            <a:ext cx="2103120" cy="36576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Producer</a:t>
            </a:r>
            <a:endParaRPr lang="en-US" dirty="0">
              <a:solidFill>
                <a:schemeClr val="bg1"/>
              </a:solidFill>
            </a:endParaRPr>
          </a:p>
        </p:txBody>
      </p:sp>
      <p:sp>
        <p:nvSpPr>
          <p:cNvPr id="21" name="Rounded Rectangle 20"/>
          <p:cNvSpPr/>
          <p:nvPr/>
        </p:nvSpPr>
        <p:spPr bwMode="auto">
          <a:xfrm>
            <a:off x="6507480" y="2197608"/>
            <a:ext cx="2103120" cy="36576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Account</a:t>
            </a:r>
            <a:endParaRPr lang="en-US" dirty="0">
              <a:solidFill>
                <a:schemeClr val="bg1"/>
              </a:solidFill>
            </a:endParaRPr>
          </a:p>
        </p:txBody>
      </p:sp>
      <p:sp>
        <p:nvSpPr>
          <p:cNvPr id="26" name="Right Arrow 25"/>
          <p:cNvSpPr/>
          <p:nvPr/>
        </p:nvSpPr>
        <p:spPr bwMode="auto">
          <a:xfrm>
            <a:off x="5673221" y="1873361"/>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2" name="Rounded Rectangle 21"/>
          <p:cNvSpPr/>
          <p:nvPr/>
        </p:nvSpPr>
        <p:spPr bwMode="auto">
          <a:xfrm>
            <a:off x="6507480" y="3040062"/>
            <a:ext cx="2103120" cy="36576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Billing Plan</a:t>
            </a:r>
            <a:endParaRPr lang="en-US" dirty="0">
              <a:solidFill>
                <a:schemeClr val="bg1"/>
              </a:solidFill>
            </a:endParaRPr>
          </a:p>
        </p:txBody>
      </p:sp>
      <p:sp>
        <p:nvSpPr>
          <p:cNvPr id="27" name="Rounded Rectangle 26"/>
          <p:cNvSpPr/>
          <p:nvPr/>
        </p:nvSpPr>
        <p:spPr bwMode="auto">
          <a:xfrm>
            <a:off x="6507480" y="3561270"/>
            <a:ext cx="2103120" cy="36576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Payment Plan</a:t>
            </a:r>
            <a:endParaRPr lang="en-US" dirty="0">
              <a:solidFill>
                <a:schemeClr val="bg1"/>
              </a:solidFill>
            </a:endParaRPr>
          </a:p>
        </p:txBody>
      </p:sp>
      <p:sp>
        <p:nvSpPr>
          <p:cNvPr id="29" name="Rounded Rectangle 28"/>
          <p:cNvSpPr/>
          <p:nvPr/>
        </p:nvSpPr>
        <p:spPr bwMode="auto">
          <a:xfrm>
            <a:off x="6507480" y="4106862"/>
            <a:ext cx="2103120" cy="36576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Commission Plan</a:t>
            </a:r>
            <a:endParaRPr lang="en-US" dirty="0">
              <a:solidFill>
                <a:schemeClr val="bg1"/>
              </a:solidFill>
            </a:endParaRPr>
          </a:p>
        </p:txBody>
      </p:sp>
      <p:sp>
        <p:nvSpPr>
          <p:cNvPr id="30" name="Rounded Rectangle 29"/>
          <p:cNvSpPr/>
          <p:nvPr/>
        </p:nvSpPr>
        <p:spPr bwMode="auto">
          <a:xfrm>
            <a:off x="6507480" y="4628070"/>
            <a:ext cx="2103120" cy="36576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Invoicing</a:t>
            </a:r>
            <a:endParaRPr lang="en-US" dirty="0">
              <a:solidFill>
                <a:schemeClr val="bg1"/>
              </a:solidFill>
            </a:endParaRPr>
          </a:p>
        </p:txBody>
      </p:sp>
      <p:sp>
        <p:nvSpPr>
          <p:cNvPr id="31" name="Rounded Rectangle 30"/>
          <p:cNvSpPr/>
          <p:nvPr/>
        </p:nvSpPr>
        <p:spPr bwMode="auto">
          <a:xfrm>
            <a:off x="6507480" y="5326062"/>
            <a:ext cx="2103120" cy="388938"/>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Delinquency Plan</a:t>
            </a:r>
            <a:endParaRPr lang="en-US" dirty="0">
              <a:solidFill>
                <a:schemeClr val="bg1"/>
              </a:solidFill>
            </a:endParaRPr>
          </a:p>
        </p:txBody>
      </p:sp>
      <p:sp>
        <p:nvSpPr>
          <p:cNvPr id="32" name="Rounded Rectangle 31"/>
          <p:cNvSpPr/>
          <p:nvPr/>
        </p:nvSpPr>
        <p:spPr bwMode="auto">
          <a:xfrm>
            <a:off x="6507480" y="5935662"/>
            <a:ext cx="2103120" cy="36576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Billing Status</a:t>
            </a:r>
            <a:endParaRPr lang="en-US" dirty="0">
              <a:solidFill>
                <a:schemeClr val="bg1"/>
              </a:solidFill>
            </a:endParaRPr>
          </a:p>
        </p:txBody>
      </p:sp>
      <p:sp>
        <p:nvSpPr>
          <p:cNvPr id="33" name="Rounded Rectangle 32"/>
          <p:cNvSpPr/>
          <p:nvPr/>
        </p:nvSpPr>
        <p:spPr bwMode="auto">
          <a:xfrm>
            <a:off x="685800" y="5086085"/>
            <a:ext cx="210312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Cancellation </a:t>
            </a:r>
            <a:br>
              <a:rPr lang="en-US" dirty="0" smtClean="0">
                <a:solidFill>
                  <a:schemeClr val="bg1"/>
                </a:solidFill>
              </a:rPr>
            </a:br>
            <a:r>
              <a:rPr lang="en-US" dirty="0" smtClean="0">
                <a:solidFill>
                  <a:schemeClr val="bg1"/>
                </a:solidFill>
              </a:rPr>
              <a:t>Processing</a:t>
            </a:r>
            <a:endParaRPr lang="en-US" dirty="0">
              <a:solidFill>
                <a:schemeClr val="bg1"/>
              </a:solidFill>
            </a:endParaRPr>
          </a:p>
        </p:txBody>
      </p:sp>
      <p:sp>
        <p:nvSpPr>
          <p:cNvPr id="34" name="Rounded Rectangle 33"/>
          <p:cNvSpPr/>
          <p:nvPr/>
        </p:nvSpPr>
        <p:spPr bwMode="auto">
          <a:xfrm>
            <a:off x="685800" y="2994554"/>
            <a:ext cx="210312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New Business </a:t>
            </a:r>
            <a:br>
              <a:rPr lang="en-US" dirty="0" smtClean="0">
                <a:solidFill>
                  <a:schemeClr val="bg1"/>
                </a:solidFill>
              </a:rPr>
            </a:br>
            <a:r>
              <a:rPr lang="en-US" dirty="0" smtClean="0">
                <a:solidFill>
                  <a:schemeClr val="bg1"/>
                </a:solidFill>
              </a:rPr>
              <a:t>Processing</a:t>
            </a:r>
            <a:endParaRPr lang="en-US" dirty="0">
              <a:solidFill>
                <a:schemeClr val="bg1"/>
              </a:solidFill>
            </a:endParaRPr>
          </a:p>
        </p:txBody>
      </p:sp>
      <p:sp>
        <p:nvSpPr>
          <p:cNvPr id="35" name="Rounded Rectangle 34"/>
          <p:cNvSpPr/>
          <p:nvPr/>
        </p:nvSpPr>
        <p:spPr bwMode="auto">
          <a:xfrm>
            <a:off x="685800" y="2209800"/>
            <a:ext cx="210312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Account </a:t>
            </a:r>
            <a:br>
              <a:rPr lang="en-US" dirty="0" smtClean="0">
                <a:solidFill>
                  <a:schemeClr val="bg1"/>
                </a:solidFill>
              </a:rPr>
            </a:br>
            <a:r>
              <a:rPr lang="en-US" dirty="0" smtClean="0">
                <a:solidFill>
                  <a:schemeClr val="bg1"/>
                </a:solidFill>
              </a:rPr>
              <a:t>Management</a:t>
            </a:r>
            <a:endParaRPr lang="en-US" dirty="0">
              <a:solidFill>
                <a:schemeClr val="bg1"/>
              </a:solidFill>
            </a:endParaRPr>
          </a:p>
        </p:txBody>
      </p:sp>
      <p:sp>
        <p:nvSpPr>
          <p:cNvPr id="37" name="Text Box 12"/>
          <p:cNvSpPr txBox="1">
            <a:spLocks noChangeArrowheads="1"/>
          </p:cNvSpPr>
          <p:nvPr/>
        </p:nvSpPr>
        <p:spPr bwMode="hidden">
          <a:xfrm>
            <a:off x="3810000" y="1515156"/>
            <a:ext cx="1828800" cy="999443"/>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dirty="0" smtClean="0"/>
              <a:t>Account and </a:t>
            </a:r>
            <a:br>
              <a:rPr lang="en-US" dirty="0" smtClean="0"/>
            </a:br>
            <a:r>
              <a:rPr lang="en-US" dirty="0" smtClean="0"/>
              <a:t>producer </a:t>
            </a:r>
            <a:br>
              <a:rPr lang="en-US" dirty="0" smtClean="0"/>
            </a:br>
            <a:r>
              <a:rPr lang="en-US" dirty="0" smtClean="0"/>
              <a:t>processing</a:t>
            </a:r>
            <a:endParaRPr lang="en-US" dirty="0"/>
          </a:p>
        </p:txBody>
      </p:sp>
      <p:sp>
        <p:nvSpPr>
          <p:cNvPr id="38" name="Text Box 28"/>
          <p:cNvSpPr txBox="1">
            <a:spLocks noChangeArrowheads="1"/>
          </p:cNvSpPr>
          <p:nvPr/>
        </p:nvSpPr>
        <p:spPr bwMode="hidden">
          <a:xfrm>
            <a:off x="3810000" y="3657600"/>
            <a:ext cx="1828800" cy="73152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dirty="0" smtClean="0"/>
              <a:t>Billing</a:t>
            </a:r>
            <a:br>
              <a:rPr lang="en-US" dirty="0" smtClean="0"/>
            </a:br>
            <a:r>
              <a:rPr lang="en-US" dirty="0" smtClean="0"/>
              <a:t> instructions</a:t>
            </a:r>
            <a:endParaRPr lang="en-US" dirty="0"/>
          </a:p>
        </p:txBody>
      </p:sp>
      <p:sp>
        <p:nvSpPr>
          <p:cNvPr id="41" name="Text Box 6"/>
          <p:cNvSpPr txBox="1">
            <a:spLocks noChangeArrowheads="1"/>
          </p:cNvSpPr>
          <p:nvPr/>
        </p:nvSpPr>
        <p:spPr bwMode="hidden">
          <a:xfrm>
            <a:off x="3810001" y="5943600"/>
            <a:ext cx="1828799" cy="45720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mtClean="0"/>
              <a:t>Billing status</a:t>
            </a:r>
            <a:endParaRPr lang="en-US" dirty="0"/>
          </a:p>
        </p:txBody>
      </p:sp>
      <p:sp>
        <p:nvSpPr>
          <p:cNvPr id="11" name="Right Arrow 10"/>
          <p:cNvSpPr/>
          <p:nvPr/>
        </p:nvSpPr>
        <p:spPr bwMode="auto">
          <a:xfrm>
            <a:off x="3048000" y="1828800"/>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8" name="Right Arrow 47"/>
          <p:cNvSpPr/>
          <p:nvPr/>
        </p:nvSpPr>
        <p:spPr bwMode="auto">
          <a:xfrm>
            <a:off x="3048000" y="5948585"/>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9" name="Left Arrow 48"/>
          <p:cNvSpPr/>
          <p:nvPr/>
        </p:nvSpPr>
        <p:spPr bwMode="auto">
          <a:xfrm>
            <a:off x="3048000" y="5086085"/>
            <a:ext cx="651379"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6" name="Text Box 6"/>
          <p:cNvSpPr txBox="1">
            <a:spLocks noChangeArrowheads="1"/>
          </p:cNvSpPr>
          <p:nvPr/>
        </p:nvSpPr>
        <p:spPr bwMode="hidden">
          <a:xfrm>
            <a:off x="3810000" y="4983480"/>
            <a:ext cx="1828800" cy="73152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dirty="0" smtClean="0"/>
              <a:t>Late payment</a:t>
            </a:r>
            <a:br>
              <a:rPr lang="en-US" dirty="0" smtClean="0"/>
            </a:br>
            <a:r>
              <a:rPr lang="en-US" dirty="0" smtClean="0"/>
              <a:t> cancellation</a:t>
            </a:r>
            <a:endParaRPr lang="en-US" dirty="0"/>
          </a:p>
        </p:txBody>
      </p:sp>
      <p:sp>
        <p:nvSpPr>
          <p:cNvPr id="50" name="Right Arrow 49"/>
          <p:cNvSpPr/>
          <p:nvPr/>
        </p:nvSpPr>
        <p:spPr bwMode="auto">
          <a:xfrm>
            <a:off x="5714999" y="5948585"/>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1" name="Left Arrow 50"/>
          <p:cNvSpPr/>
          <p:nvPr/>
        </p:nvSpPr>
        <p:spPr bwMode="auto">
          <a:xfrm>
            <a:off x="5714999" y="5086085"/>
            <a:ext cx="651379"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2" name="Right Arrow 51"/>
          <p:cNvSpPr/>
          <p:nvPr/>
        </p:nvSpPr>
        <p:spPr bwMode="auto">
          <a:xfrm>
            <a:off x="5673221" y="3778361"/>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53" name="Right Arrow 52"/>
          <p:cNvSpPr/>
          <p:nvPr/>
        </p:nvSpPr>
        <p:spPr bwMode="auto">
          <a:xfrm>
            <a:off x="3048000" y="3733800"/>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2"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PolicyCenter and BillingCenter</a:t>
            </a:r>
          </a:p>
        </p:txBody>
      </p:sp>
    </p:spTree>
    <p:extLst>
      <p:ext uri="{BB962C8B-B14F-4D97-AF65-F5344CB8AC3E}">
        <p14:creationId xmlns:p14="http://schemas.microsoft.com/office/powerpoint/2010/main" val="4116472788"/>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PC/BC integration</a:t>
            </a:r>
          </a:p>
          <a:p>
            <a:r>
              <a:rPr lang="en-US" dirty="0">
                <a:solidFill>
                  <a:schemeClr val="bg1"/>
                </a:solidFill>
              </a:rPr>
              <a:t>Account and producer processing</a:t>
            </a:r>
          </a:p>
          <a:p>
            <a:r>
              <a:rPr lang="en-US" dirty="0"/>
              <a:t>Billing instructions</a:t>
            </a:r>
          </a:p>
          <a:p>
            <a:r>
              <a:rPr lang="en-US" dirty="0"/>
              <a:t>Billing status</a:t>
            </a:r>
          </a:p>
          <a:p>
            <a:r>
              <a:rPr lang="en-US" dirty="0"/>
              <a:t>Late payment cancellation</a:t>
            </a:r>
          </a:p>
          <a:p>
            <a:endParaRPr lang="en-US" dirty="0"/>
          </a:p>
        </p:txBody>
      </p:sp>
    </p:spTree>
    <p:extLst>
      <p:ext uri="{BB962C8B-B14F-4D97-AF65-F5344CB8AC3E}">
        <p14:creationId xmlns:p14="http://schemas.microsoft.com/office/powerpoint/2010/main" val="24162894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System of record (</a:t>
            </a:r>
            <a:r>
              <a:rPr lang="en-US" err="1" smtClean="0"/>
              <a:t>SOR</a:t>
            </a:r>
            <a:r>
              <a:rPr lang="en-US" smtClean="0"/>
              <a:t>) appplication</a:t>
            </a:r>
            <a:endParaRPr lang="en-US" dirty="0"/>
          </a:p>
        </p:txBody>
      </p:sp>
      <p:sp>
        <p:nvSpPr>
          <p:cNvPr id="4" name="Content Placeholder 3"/>
          <p:cNvSpPr>
            <a:spLocks noGrp="1"/>
          </p:cNvSpPr>
          <p:nvPr>
            <p:ph idx="1"/>
          </p:nvPr>
        </p:nvSpPr>
        <p:spPr/>
        <p:txBody>
          <a:bodyPr/>
          <a:lstStyle/>
          <a:p>
            <a:r>
              <a:rPr lang="en-US" dirty="0"/>
              <a:t>A </a:t>
            </a:r>
            <a:r>
              <a:rPr lang="en-US" b="1" dirty="0"/>
              <a:t>system of record (</a:t>
            </a:r>
            <a:r>
              <a:rPr lang="en-US" b="1" dirty="0" err="1"/>
              <a:t>SOR</a:t>
            </a:r>
            <a:r>
              <a:rPr lang="en-US" b="1" dirty="0"/>
              <a:t>) </a:t>
            </a:r>
            <a:r>
              <a:rPr lang="en-US" dirty="0"/>
              <a:t>is the authoritative data source for a given piece of information</a:t>
            </a:r>
          </a:p>
          <a:p>
            <a:r>
              <a:rPr lang="en-US" dirty="0"/>
              <a:t>PolicyCenter and BillingCenter share account, policy period, billing, and other information</a:t>
            </a:r>
          </a:p>
          <a:p>
            <a:pPr lvl="1"/>
            <a:r>
              <a:rPr lang="en-US" dirty="0"/>
              <a:t>Most shared information originates in PolicyCenter and is pushed to BillingCenter</a:t>
            </a:r>
          </a:p>
          <a:p>
            <a:pPr lvl="1"/>
            <a:r>
              <a:rPr lang="en-US" dirty="0" smtClean="0"/>
              <a:t>Often, BillingCenter </a:t>
            </a:r>
            <a:r>
              <a:rPr lang="en-US" dirty="0"/>
              <a:t>is </a:t>
            </a:r>
            <a:r>
              <a:rPr lang="en-US" dirty="0" err="1"/>
              <a:t>SOR</a:t>
            </a:r>
            <a:r>
              <a:rPr lang="en-US" dirty="0"/>
              <a:t> for billing-related </a:t>
            </a:r>
            <a:r>
              <a:rPr lang="en-US" dirty="0" smtClean="0"/>
              <a:t>data and </a:t>
            </a:r>
            <a:r>
              <a:rPr lang="en-US" dirty="0"/>
              <a:t>PolicyCenter is </a:t>
            </a:r>
            <a:r>
              <a:rPr lang="en-US" dirty="0" err="1"/>
              <a:t>SOR</a:t>
            </a:r>
            <a:r>
              <a:rPr lang="en-US" dirty="0"/>
              <a:t> for everything else</a:t>
            </a:r>
          </a:p>
          <a:p>
            <a:pPr lvl="1"/>
            <a:r>
              <a:rPr lang="en-US" dirty="0"/>
              <a:t>PolicyCenter and BillingCenter exchange information through web service calls</a:t>
            </a:r>
          </a:p>
          <a:p>
            <a:r>
              <a:rPr lang="en-US" dirty="0"/>
              <a:t>Through integration, a third party can be </a:t>
            </a:r>
            <a:r>
              <a:rPr lang="en-US" dirty="0" err="1"/>
              <a:t>SOR</a:t>
            </a:r>
            <a:r>
              <a:rPr lang="en-US" dirty="0"/>
              <a:t> for information such as producers and producer codes</a:t>
            </a:r>
          </a:p>
          <a:p>
            <a:endParaRPr lang="en-US" dirty="0"/>
          </a:p>
        </p:txBody>
      </p:sp>
    </p:spTree>
    <p:extLst>
      <p:ext uri="{BB962C8B-B14F-4D97-AF65-F5344CB8AC3E}">
        <p14:creationId xmlns:p14="http://schemas.microsoft.com/office/powerpoint/2010/main" val="167845338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PolicyCenter manages producers (1)</a:t>
            </a:r>
            <a:endParaRPr lang="en-US" dirty="0"/>
          </a:p>
        </p:txBody>
      </p:sp>
      <p:sp>
        <p:nvSpPr>
          <p:cNvPr id="2" name="Content Placeholder 1"/>
          <p:cNvSpPr>
            <a:spLocks noGrp="1"/>
          </p:cNvSpPr>
          <p:nvPr>
            <p:ph sz="half" idx="1"/>
          </p:nvPr>
        </p:nvSpPr>
        <p:spPr>
          <a:xfrm>
            <a:off x="519113" y="3429001"/>
            <a:ext cx="4083050" cy="2971798"/>
          </a:xfrm>
        </p:spPr>
        <p:txBody>
          <a:bodyPr/>
          <a:lstStyle/>
          <a:p>
            <a:r>
              <a:rPr lang="en-US" dirty="0"/>
              <a:t>Producer </a:t>
            </a:r>
            <a:r>
              <a:rPr lang="en-US" dirty="0" smtClean="0"/>
              <a:t>code</a:t>
            </a:r>
          </a:p>
          <a:p>
            <a:pPr lvl="1"/>
            <a:r>
              <a:rPr lang="en-US" dirty="0" smtClean="0"/>
              <a:t>Associates policies </a:t>
            </a:r>
            <a:r>
              <a:rPr lang="en-US" dirty="0"/>
              <a:t>to </a:t>
            </a:r>
            <a:r>
              <a:rPr lang="en-US" dirty="0" smtClean="0"/>
              <a:t>the organization </a:t>
            </a:r>
          </a:p>
          <a:p>
            <a:pPr lvl="1"/>
            <a:r>
              <a:rPr lang="en-US" dirty="0" smtClean="0"/>
              <a:t>Manages </a:t>
            </a:r>
            <a:r>
              <a:rPr lang="en-US" dirty="0"/>
              <a:t>permissions and data-level security</a:t>
            </a:r>
          </a:p>
          <a:p>
            <a:r>
              <a:rPr lang="en-US" dirty="0"/>
              <a:t>Agents </a:t>
            </a:r>
            <a:r>
              <a:rPr lang="en-US" dirty="0" smtClean="0"/>
              <a:t>are organization users that have </a:t>
            </a:r>
            <a:r>
              <a:rPr lang="en-US" dirty="0"/>
              <a:t>access </a:t>
            </a:r>
            <a:r>
              <a:rPr lang="en-US" dirty="0" smtClean="0"/>
              <a:t>to producer </a:t>
            </a:r>
            <a:r>
              <a:rPr lang="en-US" dirty="0"/>
              <a:t>codes</a:t>
            </a:r>
          </a:p>
          <a:p>
            <a:endParaRPr lang="en-US" dirty="0"/>
          </a:p>
        </p:txBody>
      </p:sp>
      <p:sp>
        <p:nvSpPr>
          <p:cNvPr id="5" name="Content Placeholder 4"/>
          <p:cNvSpPr>
            <a:spLocks noGrp="1"/>
          </p:cNvSpPr>
          <p:nvPr>
            <p:ph sz="half" idx="2"/>
          </p:nvPr>
        </p:nvSpPr>
        <p:spPr>
          <a:xfrm>
            <a:off x="4754563" y="3429001"/>
            <a:ext cx="4083050" cy="2971798"/>
          </a:xfrm>
        </p:spPr>
        <p:txBody>
          <a:bodyPr/>
          <a:lstStyle/>
          <a:p>
            <a:r>
              <a:rPr lang="en-US" dirty="0"/>
              <a:t>Producer code </a:t>
            </a:r>
            <a:endParaRPr lang="en-US" dirty="0" smtClean="0"/>
          </a:p>
          <a:p>
            <a:pPr lvl="1"/>
            <a:r>
              <a:rPr lang="en-US" dirty="0" smtClean="0"/>
              <a:t>Associates commission </a:t>
            </a:r>
            <a:r>
              <a:rPr lang="en-US" dirty="0"/>
              <a:t>plans to producer</a:t>
            </a:r>
          </a:p>
          <a:p>
            <a:r>
              <a:rPr lang="en-US" dirty="0"/>
              <a:t>Agents do not have direct access to BillingCenter</a:t>
            </a:r>
          </a:p>
          <a:p>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58248" y="878392"/>
            <a:ext cx="1465190" cy="1421546"/>
          </a:xfrm>
          <a:prstGeom prst="rect">
            <a:avLst/>
          </a:prstGeom>
          <a:effectLst>
            <a:outerShdw blurRad="50800" dist="38100" dir="2700000" algn="tl" rotWithShape="0">
              <a:prstClr val="black">
                <a:alpha val="40000"/>
              </a:prstClr>
            </a:outerShdw>
          </a:effectLst>
        </p:spPr>
      </p:pic>
      <p:pic>
        <p:nvPicPr>
          <p:cNvPr id="11" name="Picture 10"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7296" y="874208"/>
            <a:ext cx="1434015" cy="1390371"/>
          </a:xfrm>
          <a:prstGeom prst="rect">
            <a:avLst/>
          </a:prstGeom>
          <a:effectLst>
            <a:outerShdw blurRad="50800" dist="38100" dir="2700000" algn="tl" rotWithShape="0">
              <a:prstClr val="black">
                <a:alpha val="40000"/>
              </a:prstClr>
            </a:outerShdw>
          </a:effec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24400" y="2514600"/>
            <a:ext cx="3871594" cy="77409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 y="2514600"/>
            <a:ext cx="3871594" cy="774090"/>
          </a:xfrm>
          <a:prstGeom prst="rect">
            <a:avLst/>
          </a:prstGeom>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Group 42"/>
          <p:cNvGrpSpPr>
            <a:grpSpLocks/>
          </p:cNvGrpSpPr>
          <p:nvPr/>
        </p:nvGrpSpPr>
        <p:grpSpPr bwMode="auto">
          <a:xfrm>
            <a:off x="8104188" y="179388"/>
            <a:ext cx="703262" cy="906462"/>
            <a:chOff x="2634" y="2618"/>
            <a:chExt cx="538" cy="692"/>
          </a:xfrm>
          <a:effectLst>
            <a:outerShdw blurRad="50800" dist="38100" dir="2700000" algn="tl" rotWithShape="0">
              <a:prstClr val="black">
                <a:alpha val="40000"/>
              </a:prstClr>
            </a:outerShdw>
          </a:effectLst>
        </p:grpSpPr>
        <p:sp>
          <p:nvSpPr>
            <p:cNvPr id="17" name="AutoShape 43"/>
            <p:cNvSpPr>
              <a:spLocks noChangeArrowheads="1"/>
            </p:cNvSpPr>
            <p:nvPr/>
          </p:nvSpPr>
          <p:spPr bwMode="auto">
            <a:xfrm flipH="1">
              <a:off x="2644" y="2618"/>
              <a:ext cx="482" cy="490"/>
            </a:xfrm>
            <a:prstGeom prst="smileyFace">
              <a:avLst>
                <a:gd name="adj" fmla="val 4653"/>
              </a:avLst>
            </a:prstGeom>
            <a:gradFill rotWithShape="1">
              <a:gsLst>
                <a:gs pos="0">
                  <a:srgbClr val="FFCC99"/>
                </a:gs>
                <a:gs pos="100000">
                  <a:srgbClr val="FFFF99"/>
                </a:gs>
              </a:gsLst>
              <a:lin ang="0" scaled="1"/>
            </a:gradFill>
            <a:ln w="12700">
              <a:solidFill>
                <a:srgbClr val="000000"/>
              </a:solidFill>
              <a:round/>
              <a:headEnd/>
              <a:tailEnd/>
            </a:ln>
          </p:spPr>
          <p:txBody>
            <a:bodyPr wrap="none" anchor="ctr"/>
            <a:lstStyle/>
            <a:p>
              <a:endParaRPr lang="en-US"/>
            </a:p>
          </p:txBody>
        </p:sp>
        <p:sp>
          <p:nvSpPr>
            <p:cNvPr id="18" name="Freeform 44"/>
            <p:cNvSpPr>
              <a:spLocks/>
            </p:cNvSpPr>
            <p:nvPr/>
          </p:nvSpPr>
          <p:spPr bwMode="auto">
            <a:xfrm flipH="1">
              <a:off x="2724" y="3066"/>
              <a:ext cx="388" cy="228"/>
            </a:xfrm>
            <a:custGeom>
              <a:avLst/>
              <a:gdLst>
                <a:gd name="T0" fmla="*/ 0 w 941"/>
                <a:gd name="T1" fmla="*/ 0 h 553"/>
                <a:gd name="T2" fmla="*/ 0 w 941"/>
                <a:gd name="T3" fmla="*/ 0 h 553"/>
                <a:gd name="T4" fmla="*/ 0 w 941"/>
                <a:gd name="T5" fmla="*/ 0 h 553"/>
                <a:gd name="T6" fmla="*/ 0 w 941"/>
                <a:gd name="T7" fmla="*/ 0 h 553"/>
                <a:gd name="T8" fmla="*/ 0 w 941"/>
                <a:gd name="T9" fmla="*/ 0 h 553"/>
                <a:gd name="T10" fmla="*/ 0 w 941"/>
                <a:gd name="T11" fmla="*/ 0 h 553"/>
                <a:gd name="T12" fmla="*/ 0 w 941"/>
                <a:gd name="T13" fmla="*/ 0 h 553"/>
                <a:gd name="T14" fmla="*/ 0 w 941"/>
                <a:gd name="T15" fmla="*/ 0 h 553"/>
                <a:gd name="T16" fmla="*/ 0 w 941"/>
                <a:gd name="T17" fmla="*/ 0 h 553"/>
                <a:gd name="T18" fmla="*/ 0 w 941"/>
                <a:gd name="T19" fmla="*/ 0 h 553"/>
                <a:gd name="T20" fmla="*/ 0 w 941"/>
                <a:gd name="T21" fmla="*/ 0 h 553"/>
                <a:gd name="T22" fmla="*/ 0 w 941"/>
                <a:gd name="T23" fmla="*/ 0 h 553"/>
                <a:gd name="T24" fmla="*/ 0 w 941"/>
                <a:gd name="T25" fmla="*/ 0 h 553"/>
                <a:gd name="T26" fmla="*/ 0 w 941"/>
                <a:gd name="T27" fmla="*/ 0 h 553"/>
                <a:gd name="T28" fmla="*/ 0 w 941"/>
                <a:gd name="T29" fmla="*/ 0 h 553"/>
                <a:gd name="T30" fmla="*/ 0 w 941"/>
                <a:gd name="T31" fmla="*/ 0 h 553"/>
                <a:gd name="T32" fmla="*/ 0 w 941"/>
                <a:gd name="T33" fmla="*/ 0 h 553"/>
                <a:gd name="T34" fmla="*/ 0 w 941"/>
                <a:gd name="T35" fmla="*/ 0 h 553"/>
                <a:gd name="T36" fmla="*/ 0 w 941"/>
                <a:gd name="T37" fmla="*/ 0 h 553"/>
                <a:gd name="T38" fmla="*/ 0 w 941"/>
                <a:gd name="T39" fmla="*/ 0 h 553"/>
                <a:gd name="T40" fmla="*/ 0 w 941"/>
                <a:gd name="T41" fmla="*/ 0 h 553"/>
                <a:gd name="T42" fmla="*/ 0 w 941"/>
                <a:gd name="T43" fmla="*/ 0 h 553"/>
                <a:gd name="T44" fmla="*/ 0 w 941"/>
                <a:gd name="T45" fmla="*/ 0 h 553"/>
                <a:gd name="T46" fmla="*/ 0 w 941"/>
                <a:gd name="T47" fmla="*/ 0 h 553"/>
                <a:gd name="T48" fmla="*/ 0 w 941"/>
                <a:gd name="T49" fmla="*/ 0 h 553"/>
                <a:gd name="T50" fmla="*/ 0 w 941"/>
                <a:gd name="T51" fmla="*/ 0 h 553"/>
                <a:gd name="T52" fmla="*/ 0 w 941"/>
                <a:gd name="T53" fmla="*/ 0 h 553"/>
                <a:gd name="T54" fmla="*/ 0 w 941"/>
                <a:gd name="T55" fmla="*/ 0 h 55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1"/>
                <a:gd name="T85" fmla="*/ 0 h 553"/>
                <a:gd name="T86" fmla="*/ 941 w 941"/>
                <a:gd name="T87" fmla="*/ 553 h 55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1" h="553">
                  <a:moveTo>
                    <a:pt x="54" y="55"/>
                  </a:moveTo>
                  <a:cubicBezTo>
                    <a:pt x="108" y="37"/>
                    <a:pt x="292" y="41"/>
                    <a:pt x="354" y="34"/>
                  </a:cubicBezTo>
                  <a:cubicBezTo>
                    <a:pt x="416" y="27"/>
                    <a:pt x="380" y="16"/>
                    <a:pt x="426" y="13"/>
                  </a:cubicBezTo>
                  <a:cubicBezTo>
                    <a:pt x="472" y="10"/>
                    <a:pt x="563" y="0"/>
                    <a:pt x="633" y="16"/>
                  </a:cubicBezTo>
                  <a:cubicBezTo>
                    <a:pt x="703" y="32"/>
                    <a:pt x="801" y="79"/>
                    <a:pt x="849" y="112"/>
                  </a:cubicBezTo>
                  <a:cubicBezTo>
                    <a:pt x="897" y="145"/>
                    <a:pt x="941" y="207"/>
                    <a:pt x="921" y="214"/>
                  </a:cubicBezTo>
                  <a:cubicBezTo>
                    <a:pt x="901" y="221"/>
                    <a:pt x="764" y="159"/>
                    <a:pt x="729" y="151"/>
                  </a:cubicBezTo>
                  <a:cubicBezTo>
                    <a:pt x="694" y="143"/>
                    <a:pt x="692" y="148"/>
                    <a:pt x="708" y="166"/>
                  </a:cubicBezTo>
                  <a:cubicBezTo>
                    <a:pt x="724" y="184"/>
                    <a:pt x="798" y="226"/>
                    <a:pt x="825" y="259"/>
                  </a:cubicBezTo>
                  <a:cubicBezTo>
                    <a:pt x="852" y="292"/>
                    <a:pt x="860" y="340"/>
                    <a:pt x="867" y="364"/>
                  </a:cubicBezTo>
                  <a:cubicBezTo>
                    <a:pt x="874" y="388"/>
                    <a:pt x="874" y="399"/>
                    <a:pt x="867" y="406"/>
                  </a:cubicBezTo>
                  <a:cubicBezTo>
                    <a:pt x="860" y="413"/>
                    <a:pt x="832" y="399"/>
                    <a:pt x="825" y="406"/>
                  </a:cubicBezTo>
                  <a:cubicBezTo>
                    <a:pt x="818" y="413"/>
                    <a:pt x="829" y="442"/>
                    <a:pt x="825" y="451"/>
                  </a:cubicBezTo>
                  <a:cubicBezTo>
                    <a:pt x="821" y="460"/>
                    <a:pt x="811" y="459"/>
                    <a:pt x="804" y="460"/>
                  </a:cubicBezTo>
                  <a:cubicBezTo>
                    <a:pt x="797" y="461"/>
                    <a:pt x="784" y="457"/>
                    <a:pt x="780" y="460"/>
                  </a:cubicBezTo>
                  <a:cubicBezTo>
                    <a:pt x="776" y="463"/>
                    <a:pt x="782" y="469"/>
                    <a:pt x="780" y="478"/>
                  </a:cubicBezTo>
                  <a:cubicBezTo>
                    <a:pt x="778" y="487"/>
                    <a:pt x="776" y="511"/>
                    <a:pt x="765" y="517"/>
                  </a:cubicBezTo>
                  <a:cubicBezTo>
                    <a:pt x="754" y="523"/>
                    <a:pt x="721" y="509"/>
                    <a:pt x="711" y="514"/>
                  </a:cubicBezTo>
                  <a:cubicBezTo>
                    <a:pt x="701" y="519"/>
                    <a:pt x="713" y="541"/>
                    <a:pt x="702" y="547"/>
                  </a:cubicBezTo>
                  <a:cubicBezTo>
                    <a:pt x="691" y="553"/>
                    <a:pt x="666" y="553"/>
                    <a:pt x="645" y="550"/>
                  </a:cubicBezTo>
                  <a:cubicBezTo>
                    <a:pt x="624" y="547"/>
                    <a:pt x="613" y="547"/>
                    <a:pt x="576" y="529"/>
                  </a:cubicBezTo>
                  <a:cubicBezTo>
                    <a:pt x="539" y="511"/>
                    <a:pt x="474" y="468"/>
                    <a:pt x="423" y="442"/>
                  </a:cubicBezTo>
                  <a:cubicBezTo>
                    <a:pt x="372" y="416"/>
                    <a:pt x="311" y="388"/>
                    <a:pt x="270" y="373"/>
                  </a:cubicBezTo>
                  <a:cubicBezTo>
                    <a:pt x="229" y="358"/>
                    <a:pt x="213" y="358"/>
                    <a:pt x="174" y="352"/>
                  </a:cubicBezTo>
                  <a:cubicBezTo>
                    <a:pt x="135" y="346"/>
                    <a:pt x="64" y="339"/>
                    <a:pt x="36" y="337"/>
                  </a:cubicBezTo>
                  <a:cubicBezTo>
                    <a:pt x="8" y="335"/>
                    <a:pt x="6" y="355"/>
                    <a:pt x="3" y="337"/>
                  </a:cubicBezTo>
                  <a:cubicBezTo>
                    <a:pt x="0" y="319"/>
                    <a:pt x="6" y="276"/>
                    <a:pt x="15" y="229"/>
                  </a:cubicBezTo>
                  <a:cubicBezTo>
                    <a:pt x="24" y="182"/>
                    <a:pt x="46" y="91"/>
                    <a:pt x="54" y="55"/>
                  </a:cubicBez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19" name="Freeform 45"/>
            <p:cNvSpPr>
              <a:spLocks/>
            </p:cNvSpPr>
            <p:nvPr/>
          </p:nvSpPr>
          <p:spPr bwMode="auto">
            <a:xfrm flipH="1">
              <a:off x="2692" y="3051"/>
              <a:ext cx="300" cy="174"/>
            </a:xfrm>
            <a:custGeom>
              <a:avLst/>
              <a:gdLst>
                <a:gd name="T0" fmla="*/ 0 w 729"/>
                <a:gd name="T1" fmla="*/ 0 h 420"/>
                <a:gd name="T2" fmla="*/ 0 w 729"/>
                <a:gd name="T3" fmla="*/ 0 h 420"/>
                <a:gd name="T4" fmla="*/ 0 w 729"/>
                <a:gd name="T5" fmla="*/ 0 h 420"/>
                <a:gd name="T6" fmla="*/ 0 w 729"/>
                <a:gd name="T7" fmla="*/ 0 h 420"/>
                <a:gd name="T8" fmla="*/ 0 w 729"/>
                <a:gd name="T9" fmla="*/ 0 h 420"/>
                <a:gd name="T10" fmla="*/ 0 w 729"/>
                <a:gd name="T11" fmla="*/ 0 h 420"/>
                <a:gd name="T12" fmla="*/ 0 w 729"/>
                <a:gd name="T13" fmla="*/ 0 h 420"/>
                <a:gd name="T14" fmla="*/ 0 w 729"/>
                <a:gd name="T15" fmla="*/ 0 h 420"/>
                <a:gd name="T16" fmla="*/ 0 w 729"/>
                <a:gd name="T17" fmla="*/ 0 h 420"/>
                <a:gd name="T18" fmla="*/ 0 w 729"/>
                <a:gd name="T19" fmla="*/ 0 h 420"/>
                <a:gd name="T20" fmla="*/ 0 w 729"/>
                <a:gd name="T21" fmla="*/ 0 h 420"/>
                <a:gd name="T22" fmla="*/ 0 w 729"/>
                <a:gd name="T23" fmla="*/ 0 h 420"/>
                <a:gd name="T24" fmla="*/ 0 w 729"/>
                <a:gd name="T25" fmla="*/ 0 h 420"/>
                <a:gd name="T26" fmla="*/ 0 w 729"/>
                <a:gd name="T27" fmla="*/ 0 h 420"/>
                <a:gd name="T28" fmla="*/ 0 w 729"/>
                <a:gd name="T29" fmla="*/ 0 h 420"/>
                <a:gd name="T30" fmla="*/ 0 w 729"/>
                <a:gd name="T31" fmla="*/ 0 h 420"/>
                <a:gd name="T32" fmla="*/ 0 w 729"/>
                <a:gd name="T33" fmla="*/ 0 h 420"/>
                <a:gd name="T34" fmla="*/ 0 w 729"/>
                <a:gd name="T35" fmla="*/ 0 h 420"/>
                <a:gd name="T36" fmla="*/ 0 w 729"/>
                <a:gd name="T37" fmla="*/ 0 h 420"/>
                <a:gd name="T38" fmla="*/ 0 w 729"/>
                <a:gd name="T39" fmla="*/ 0 h 420"/>
                <a:gd name="T40" fmla="*/ 0 w 729"/>
                <a:gd name="T41" fmla="*/ 0 h 420"/>
                <a:gd name="T42" fmla="*/ 0 w 729"/>
                <a:gd name="T43" fmla="*/ 0 h 420"/>
                <a:gd name="T44" fmla="*/ 0 w 729"/>
                <a:gd name="T45" fmla="*/ 0 h 420"/>
                <a:gd name="T46" fmla="*/ 0 w 729"/>
                <a:gd name="T47" fmla="*/ 0 h 420"/>
                <a:gd name="T48" fmla="*/ 0 w 729"/>
                <a:gd name="T49" fmla="*/ 0 h 420"/>
                <a:gd name="T50" fmla="*/ 0 w 729"/>
                <a:gd name="T51" fmla="*/ 0 h 4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29"/>
                <a:gd name="T79" fmla="*/ 0 h 420"/>
                <a:gd name="T80" fmla="*/ 729 w 729"/>
                <a:gd name="T81" fmla="*/ 420 h 4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29" h="420">
                  <a:moveTo>
                    <a:pt x="647" y="59"/>
                  </a:moveTo>
                  <a:cubicBezTo>
                    <a:pt x="618" y="22"/>
                    <a:pt x="573" y="68"/>
                    <a:pt x="551" y="68"/>
                  </a:cubicBezTo>
                  <a:cubicBezTo>
                    <a:pt x="529" y="68"/>
                    <a:pt x="537" y="68"/>
                    <a:pt x="512" y="59"/>
                  </a:cubicBezTo>
                  <a:cubicBezTo>
                    <a:pt x="487" y="50"/>
                    <a:pt x="432" y="23"/>
                    <a:pt x="398" y="14"/>
                  </a:cubicBezTo>
                  <a:cubicBezTo>
                    <a:pt x="364" y="5"/>
                    <a:pt x="343" y="0"/>
                    <a:pt x="308" y="2"/>
                  </a:cubicBezTo>
                  <a:cubicBezTo>
                    <a:pt x="273" y="4"/>
                    <a:pt x="218" y="16"/>
                    <a:pt x="188" y="26"/>
                  </a:cubicBezTo>
                  <a:cubicBezTo>
                    <a:pt x="158" y="36"/>
                    <a:pt x="149" y="48"/>
                    <a:pt x="128" y="65"/>
                  </a:cubicBezTo>
                  <a:cubicBezTo>
                    <a:pt x="107" y="82"/>
                    <a:pt x="79" y="114"/>
                    <a:pt x="59" y="128"/>
                  </a:cubicBezTo>
                  <a:cubicBezTo>
                    <a:pt x="39" y="142"/>
                    <a:pt x="21" y="137"/>
                    <a:pt x="11" y="146"/>
                  </a:cubicBezTo>
                  <a:cubicBezTo>
                    <a:pt x="1" y="155"/>
                    <a:pt x="1" y="172"/>
                    <a:pt x="2" y="182"/>
                  </a:cubicBezTo>
                  <a:cubicBezTo>
                    <a:pt x="3" y="192"/>
                    <a:pt x="0" y="205"/>
                    <a:pt x="17" y="209"/>
                  </a:cubicBezTo>
                  <a:cubicBezTo>
                    <a:pt x="34" y="213"/>
                    <a:pt x="75" y="212"/>
                    <a:pt x="104" y="206"/>
                  </a:cubicBezTo>
                  <a:cubicBezTo>
                    <a:pt x="133" y="200"/>
                    <a:pt x="172" y="184"/>
                    <a:pt x="191" y="173"/>
                  </a:cubicBezTo>
                  <a:cubicBezTo>
                    <a:pt x="210" y="162"/>
                    <a:pt x="206" y="145"/>
                    <a:pt x="221" y="137"/>
                  </a:cubicBezTo>
                  <a:cubicBezTo>
                    <a:pt x="236" y="129"/>
                    <a:pt x="263" y="126"/>
                    <a:pt x="281" y="125"/>
                  </a:cubicBezTo>
                  <a:cubicBezTo>
                    <a:pt x="299" y="124"/>
                    <a:pt x="312" y="120"/>
                    <a:pt x="332" y="131"/>
                  </a:cubicBezTo>
                  <a:cubicBezTo>
                    <a:pt x="352" y="142"/>
                    <a:pt x="374" y="170"/>
                    <a:pt x="404" y="194"/>
                  </a:cubicBezTo>
                  <a:cubicBezTo>
                    <a:pt x="434" y="218"/>
                    <a:pt x="485" y="248"/>
                    <a:pt x="512" y="278"/>
                  </a:cubicBezTo>
                  <a:cubicBezTo>
                    <a:pt x="539" y="308"/>
                    <a:pt x="558" y="348"/>
                    <a:pt x="569" y="371"/>
                  </a:cubicBezTo>
                  <a:cubicBezTo>
                    <a:pt x="580" y="394"/>
                    <a:pt x="575" y="412"/>
                    <a:pt x="581" y="416"/>
                  </a:cubicBezTo>
                  <a:cubicBezTo>
                    <a:pt x="587" y="420"/>
                    <a:pt x="595" y="403"/>
                    <a:pt x="605" y="395"/>
                  </a:cubicBezTo>
                  <a:cubicBezTo>
                    <a:pt x="615" y="387"/>
                    <a:pt x="628" y="379"/>
                    <a:pt x="641" y="368"/>
                  </a:cubicBezTo>
                  <a:cubicBezTo>
                    <a:pt x="654" y="357"/>
                    <a:pt x="669" y="336"/>
                    <a:pt x="683" y="329"/>
                  </a:cubicBezTo>
                  <a:cubicBezTo>
                    <a:pt x="697" y="322"/>
                    <a:pt x="721" y="340"/>
                    <a:pt x="725" y="323"/>
                  </a:cubicBezTo>
                  <a:cubicBezTo>
                    <a:pt x="729" y="306"/>
                    <a:pt x="717" y="271"/>
                    <a:pt x="704" y="227"/>
                  </a:cubicBezTo>
                  <a:cubicBezTo>
                    <a:pt x="691" y="183"/>
                    <a:pt x="659" y="94"/>
                    <a:pt x="647" y="59"/>
                  </a:cubicBezTo>
                  <a:close/>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sp>
          <p:nvSpPr>
            <p:cNvPr id="20" name="Rectangle 46"/>
            <p:cNvSpPr>
              <a:spLocks noChangeArrowheads="1"/>
            </p:cNvSpPr>
            <p:nvPr/>
          </p:nvSpPr>
          <p:spPr bwMode="auto">
            <a:xfrm rot="21419544" flipH="1">
              <a:off x="3090" y="3069"/>
              <a:ext cx="82" cy="176"/>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1" name="Rectangle 47"/>
            <p:cNvSpPr>
              <a:spLocks noChangeArrowheads="1"/>
            </p:cNvSpPr>
            <p:nvPr/>
          </p:nvSpPr>
          <p:spPr bwMode="auto">
            <a:xfrm rot="1196180" flipH="1">
              <a:off x="2634" y="3044"/>
              <a:ext cx="82" cy="175"/>
            </a:xfrm>
            <a:prstGeom prst="rect">
              <a:avLst/>
            </a:prstGeom>
            <a:solidFill>
              <a:srgbClr val="FFFF99"/>
            </a:solidFill>
            <a:ln w="12700" algn="ctr">
              <a:solidFill>
                <a:schemeClr val="bg1"/>
              </a:solidFill>
              <a:miter lim="800000"/>
              <a:headEnd/>
              <a:tailEnd/>
            </a:ln>
          </p:spPr>
          <p:txBody>
            <a:bodyPr lIns="0" tIns="0" rIns="0" bIns="0" anchor="ctr">
              <a:spAutoFit/>
            </a:bodyPr>
            <a:lstStyle/>
            <a:p>
              <a:endParaRPr lang="en-US"/>
            </a:p>
          </p:txBody>
        </p:sp>
        <p:sp>
          <p:nvSpPr>
            <p:cNvPr id="22" name="Oval 48"/>
            <p:cNvSpPr>
              <a:spLocks noChangeArrowheads="1"/>
            </p:cNvSpPr>
            <p:nvPr/>
          </p:nvSpPr>
          <p:spPr bwMode="auto">
            <a:xfrm flipH="1">
              <a:off x="2961" y="3207"/>
              <a:ext cx="50" cy="58"/>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23" name="Oval 49"/>
            <p:cNvSpPr>
              <a:spLocks noChangeArrowheads="1"/>
            </p:cNvSpPr>
            <p:nvPr/>
          </p:nvSpPr>
          <p:spPr bwMode="auto">
            <a:xfrm flipH="1">
              <a:off x="2926" y="3231"/>
              <a:ext cx="47" cy="63"/>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24" name="Oval 50"/>
            <p:cNvSpPr>
              <a:spLocks noChangeArrowheads="1"/>
            </p:cNvSpPr>
            <p:nvPr/>
          </p:nvSpPr>
          <p:spPr bwMode="auto">
            <a:xfrm rot="20190086" flipH="1">
              <a:off x="2882" y="3246"/>
              <a:ext cx="49" cy="62"/>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25" name="Oval 51"/>
            <p:cNvSpPr>
              <a:spLocks noChangeArrowheads="1"/>
            </p:cNvSpPr>
            <p:nvPr/>
          </p:nvSpPr>
          <p:spPr bwMode="auto">
            <a:xfrm rot="18495068" flipH="1">
              <a:off x="2862" y="3266"/>
              <a:ext cx="30" cy="57"/>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26" name="Freeform 52"/>
            <p:cNvSpPr>
              <a:spLocks/>
            </p:cNvSpPr>
            <p:nvPr/>
          </p:nvSpPr>
          <p:spPr bwMode="auto">
            <a:xfrm flipH="1">
              <a:off x="2769" y="3181"/>
              <a:ext cx="74" cy="50"/>
            </a:xfrm>
            <a:custGeom>
              <a:avLst/>
              <a:gdLst>
                <a:gd name="T0" fmla="*/ 0 w 180"/>
                <a:gd name="T1" fmla="*/ 0 h 123"/>
                <a:gd name="T2" fmla="*/ 0 w 180"/>
                <a:gd name="T3" fmla="*/ 0 h 123"/>
                <a:gd name="T4" fmla="*/ 0 w 180"/>
                <a:gd name="T5" fmla="*/ 0 h 123"/>
                <a:gd name="T6" fmla="*/ 0 60000 65536"/>
                <a:gd name="T7" fmla="*/ 0 60000 65536"/>
                <a:gd name="T8" fmla="*/ 0 60000 65536"/>
                <a:gd name="T9" fmla="*/ 0 w 180"/>
                <a:gd name="T10" fmla="*/ 0 h 123"/>
                <a:gd name="T11" fmla="*/ 180 w 180"/>
                <a:gd name="T12" fmla="*/ 123 h 123"/>
              </a:gdLst>
              <a:ahLst/>
              <a:cxnLst>
                <a:cxn ang="T6">
                  <a:pos x="T0" y="T1"/>
                </a:cxn>
                <a:cxn ang="T7">
                  <a:pos x="T2" y="T3"/>
                </a:cxn>
                <a:cxn ang="T8">
                  <a:pos x="T4" y="T5"/>
                </a:cxn>
              </a:cxnLst>
              <a:rect l="T9" t="T10" r="T11" b="T12"/>
              <a:pathLst>
                <a:path w="180" h="123">
                  <a:moveTo>
                    <a:pt x="180" y="123"/>
                  </a:moveTo>
                  <a:cubicBezTo>
                    <a:pt x="153" y="110"/>
                    <a:pt x="126" y="98"/>
                    <a:pt x="96" y="78"/>
                  </a:cubicBezTo>
                  <a:cubicBezTo>
                    <a:pt x="66" y="58"/>
                    <a:pt x="33" y="29"/>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7" name="Freeform 53"/>
            <p:cNvSpPr>
              <a:spLocks/>
            </p:cNvSpPr>
            <p:nvPr/>
          </p:nvSpPr>
          <p:spPr bwMode="auto">
            <a:xfrm flipH="1">
              <a:off x="2789" y="3197"/>
              <a:ext cx="79" cy="60"/>
            </a:xfrm>
            <a:custGeom>
              <a:avLst/>
              <a:gdLst>
                <a:gd name="T0" fmla="*/ 0 w 189"/>
                <a:gd name="T1" fmla="*/ 0 h 144"/>
                <a:gd name="T2" fmla="*/ 0 w 189"/>
                <a:gd name="T3" fmla="*/ 0 h 144"/>
                <a:gd name="T4" fmla="*/ 0 w 189"/>
                <a:gd name="T5" fmla="*/ 0 h 144"/>
                <a:gd name="T6" fmla="*/ 0 w 189"/>
                <a:gd name="T7" fmla="*/ 0 h 144"/>
                <a:gd name="T8" fmla="*/ 0 60000 65536"/>
                <a:gd name="T9" fmla="*/ 0 60000 65536"/>
                <a:gd name="T10" fmla="*/ 0 60000 65536"/>
                <a:gd name="T11" fmla="*/ 0 60000 65536"/>
                <a:gd name="T12" fmla="*/ 0 w 189"/>
                <a:gd name="T13" fmla="*/ 0 h 144"/>
                <a:gd name="T14" fmla="*/ 189 w 189"/>
                <a:gd name="T15" fmla="*/ 144 h 144"/>
              </a:gdLst>
              <a:ahLst/>
              <a:cxnLst>
                <a:cxn ang="T8">
                  <a:pos x="T0" y="T1"/>
                </a:cxn>
                <a:cxn ang="T9">
                  <a:pos x="T2" y="T3"/>
                </a:cxn>
                <a:cxn ang="T10">
                  <a:pos x="T4" y="T5"/>
                </a:cxn>
                <a:cxn ang="T11">
                  <a:pos x="T6" y="T7"/>
                </a:cxn>
              </a:cxnLst>
              <a:rect l="T12" t="T13" r="T14" b="T15"/>
              <a:pathLst>
                <a:path w="189" h="144">
                  <a:moveTo>
                    <a:pt x="189" y="144"/>
                  </a:moveTo>
                  <a:cubicBezTo>
                    <a:pt x="171" y="141"/>
                    <a:pt x="154" y="139"/>
                    <a:pt x="135" y="129"/>
                  </a:cubicBezTo>
                  <a:cubicBezTo>
                    <a:pt x="116" y="119"/>
                    <a:pt x="97" y="105"/>
                    <a:pt x="75" y="84"/>
                  </a:cubicBezTo>
                  <a:cubicBezTo>
                    <a:pt x="53" y="63"/>
                    <a:pt x="26" y="31"/>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8" name="Freeform 54"/>
            <p:cNvSpPr>
              <a:spLocks/>
            </p:cNvSpPr>
            <p:nvPr/>
          </p:nvSpPr>
          <p:spPr bwMode="auto">
            <a:xfrm flipH="1">
              <a:off x="2820" y="3220"/>
              <a:ext cx="75" cy="58"/>
            </a:xfrm>
            <a:custGeom>
              <a:avLst/>
              <a:gdLst>
                <a:gd name="T0" fmla="*/ 0 w 183"/>
                <a:gd name="T1" fmla="*/ 0 h 141"/>
                <a:gd name="T2" fmla="*/ 0 w 183"/>
                <a:gd name="T3" fmla="*/ 0 h 141"/>
                <a:gd name="T4" fmla="*/ 0 w 183"/>
                <a:gd name="T5" fmla="*/ 0 h 141"/>
                <a:gd name="T6" fmla="*/ 0 w 183"/>
                <a:gd name="T7" fmla="*/ 0 h 141"/>
                <a:gd name="T8" fmla="*/ 0 60000 65536"/>
                <a:gd name="T9" fmla="*/ 0 60000 65536"/>
                <a:gd name="T10" fmla="*/ 0 60000 65536"/>
                <a:gd name="T11" fmla="*/ 0 60000 65536"/>
                <a:gd name="T12" fmla="*/ 0 w 183"/>
                <a:gd name="T13" fmla="*/ 0 h 141"/>
                <a:gd name="T14" fmla="*/ 183 w 183"/>
                <a:gd name="T15" fmla="*/ 141 h 141"/>
              </a:gdLst>
              <a:ahLst/>
              <a:cxnLst>
                <a:cxn ang="T8">
                  <a:pos x="T0" y="T1"/>
                </a:cxn>
                <a:cxn ang="T9">
                  <a:pos x="T2" y="T3"/>
                </a:cxn>
                <a:cxn ang="T10">
                  <a:pos x="T4" y="T5"/>
                </a:cxn>
                <a:cxn ang="T11">
                  <a:pos x="T6" y="T7"/>
                </a:cxn>
              </a:cxnLst>
              <a:rect l="T12" t="T13" r="T14" b="T15"/>
              <a:pathLst>
                <a:path w="183" h="141">
                  <a:moveTo>
                    <a:pt x="183" y="141"/>
                  </a:moveTo>
                  <a:cubicBezTo>
                    <a:pt x="161" y="134"/>
                    <a:pt x="140" y="127"/>
                    <a:pt x="120" y="114"/>
                  </a:cubicBezTo>
                  <a:cubicBezTo>
                    <a:pt x="100" y="101"/>
                    <a:pt x="83" y="82"/>
                    <a:pt x="63" y="63"/>
                  </a:cubicBezTo>
                  <a:cubicBezTo>
                    <a:pt x="43" y="44"/>
                    <a:pt x="21" y="22"/>
                    <a:pt x="0" y="0"/>
                  </a:cubicBezTo>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grpSp>
    </p:spTree>
    <p:extLst>
      <p:ext uri="{BB962C8B-B14F-4D97-AF65-F5344CB8AC3E}">
        <p14:creationId xmlns:p14="http://schemas.microsoft.com/office/powerpoint/2010/main" val="2347152947"/>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13"/>
          <p:cNvSpPr txBox="1">
            <a:spLocks noChangeArrowheads="1"/>
          </p:cNvSpPr>
          <p:nvPr/>
        </p:nvSpPr>
        <p:spPr bwMode="auto">
          <a:xfrm>
            <a:off x="2667000" y="914400"/>
            <a:ext cx="3962400" cy="2000548"/>
          </a:xfrm>
          <a:prstGeom prst="rect">
            <a:avLst/>
          </a:prstGeom>
          <a:solidFill>
            <a:schemeClr val="tx1">
              <a:lumMod val="95000"/>
            </a:schemeClr>
          </a:solidFill>
          <a:ln>
            <a:noFill/>
          </a:ln>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marL="285750" indent="-285750">
              <a:spcBef>
                <a:spcPct val="40000"/>
              </a:spcBef>
              <a:buClr>
                <a:srgbClr val="0146AD"/>
              </a:buClr>
              <a:buFont typeface="Arial" pitchFamily="34" charset="0"/>
              <a:buChar char="•"/>
              <a:defRPr/>
            </a:pPr>
            <a:r>
              <a:rPr lang="en-US" b="0" kern="0">
                <a:solidFill>
                  <a:schemeClr val="bg1"/>
                </a:solidFill>
              </a:rPr>
              <a:t>Add new producer</a:t>
            </a:r>
          </a:p>
          <a:p>
            <a:pPr marL="285750" indent="-285750">
              <a:spcBef>
                <a:spcPct val="40000"/>
              </a:spcBef>
              <a:buClr>
                <a:srgbClr val="0146AD"/>
              </a:buClr>
              <a:buFont typeface="Arial" pitchFamily="34" charset="0"/>
              <a:buChar char="•"/>
              <a:defRPr/>
            </a:pPr>
            <a:r>
              <a:rPr lang="en-US" b="0" kern="0">
                <a:solidFill>
                  <a:schemeClr val="bg1"/>
                </a:solidFill>
              </a:rPr>
              <a:t>Add new producer code</a:t>
            </a:r>
          </a:p>
          <a:p>
            <a:pPr marL="285750" indent="-285750">
              <a:spcBef>
                <a:spcPct val="40000"/>
              </a:spcBef>
              <a:buClr>
                <a:srgbClr val="0146AD"/>
              </a:buClr>
              <a:buFont typeface="Arial" pitchFamily="34" charset="0"/>
              <a:buChar char="•"/>
              <a:defRPr/>
            </a:pPr>
            <a:r>
              <a:rPr lang="en-US" b="0" kern="0">
                <a:solidFill>
                  <a:schemeClr val="bg1"/>
                </a:solidFill>
              </a:rPr>
              <a:t>Change producer name, tier, contact details</a:t>
            </a:r>
          </a:p>
          <a:p>
            <a:pPr marL="285750" indent="-285750">
              <a:spcBef>
                <a:spcPct val="40000"/>
              </a:spcBef>
              <a:buClr>
                <a:srgbClr val="0146AD"/>
              </a:buClr>
              <a:buFont typeface="Arial" pitchFamily="34" charset="0"/>
              <a:buChar char="•"/>
              <a:defRPr/>
            </a:pPr>
            <a:r>
              <a:rPr lang="en-US" b="0" kern="0">
                <a:solidFill>
                  <a:schemeClr val="bg1"/>
                </a:solidFill>
              </a:rPr>
              <a:t>Change producer code status</a:t>
            </a:r>
            <a:endParaRPr lang="en-US" b="0" kern="0" dirty="0">
              <a:solidFill>
                <a:schemeClr val="bg1"/>
              </a:solidFill>
            </a:endParaRPr>
          </a:p>
        </p:txBody>
      </p:sp>
      <p:sp>
        <p:nvSpPr>
          <p:cNvPr id="3" name="Title 2"/>
          <p:cNvSpPr>
            <a:spLocks noGrp="1"/>
          </p:cNvSpPr>
          <p:nvPr>
            <p:ph type="title"/>
          </p:nvPr>
        </p:nvSpPr>
        <p:spPr/>
        <p:txBody>
          <a:bodyPr/>
          <a:lstStyle/>
          <a:p>
            <a:r>
              <a:rPr lang="en-US" dirty="0" smtClean="0"/>
              <a:t>PolicyCenter manages </a:t>
            </a:r>
            <a:r>
              <a:rPr lang="en-US" smtClean="0"/>
              <a:t>producers (2)</a:t>
            </a:r>
            <a:endParaRPr lang="en-US" dirty="0"/>
          </a:p>
        </p:txBody>
      </p:sp>
      <p:sp>
        <p:nvSpPr>
          <p:cNvPr id="2" name="Content Placeholder 1"/>
          <p:cNvSpPr>
            <a:spLocks noGrp="1"/>
          </p:cNvSpPr>
          <p:nvPr>
            <p:ph sz="half" idx="1"/>
          </p:nvPr>
        </p:nvSpPr>
        <p:spPr>
          <a:xfrm>
            <a:off x="519113" y="3429001"/>
            <a:ext cx="4083050" cy="2971798"/>
          </a:xfrm>
        </p:spPr>
        <p:txBody>
          <a:bodyPr/>
          <a:lstStyle/>
          <a:p>
            <a:r>
              <a:rPr lang="en-US"/>
              <a:t>PolicyCenter provides default values for a small set of fields related </a:t>
            </a:r>
            <a:r>
              <a:rPr lang="en-US" smtClean="0"/>
              <a:t>to </a:t>
            </a:r>
            <a:r>
              <a:rPr lang="en-US"/>
              <a:t>commission plans and agency bill </a:t>
            </a:r>
            <a:r>
              <a:rPr lang="en-US" smtClean="0"/>
              <a:t>plans in order to create </a:t>
            </a:r>
            <a:r>
              <a:rPr lang="en-US"/>
              <a:t>producers and producer codes</a:t>
            </a:r>
          </a:p>
          <a:p>
            <a:endParaRPr lang="en-US"/>
          </a:p>
        </p:txBody>
      </p:sp>
      <p:sp>
        <p:nvSpPr>
          <p:cNvPr id="5" name="Content Placeholder 4"/>
          <p:cNvSpPr>
            <a:spLocks noGrp="1"/>
          </p:cNvSpPr>
          <p:nvPr>
            <p:ph sz="half" idx="2"/>
          </p:nvPr>
        </p:nvSpPr>
        <p:spPr>
          <a:xfrm>
            <a:off x="4754563" y="3429001"/>
            <a:ext cx="4083050" cy="2971798"/>
          </a:xfrm>
        </p:spPr>
        <p:txBody>
          <a:bodyPr/>
          <a:lstStyle/>
          <a:p>
            <a:r>
              <a:rPr lang="en-US"/>
              <a:t>BillingCenter is the SOR for anything related to </a:t>
            </a:r>
            <a:endParaRPr lang="en-US" smtClean="0"/>
          </a:p>
          <a:p>
            <a:pPr lvl="1"/>
            <a:r>
              <a:rPr lang="en-US" smtClean="0"/>
              <a:t>Agency </a:t>
            </a:r>
            <a:r>
              <a:rPr lang="en-US"/>
              <a:t>bill plans and commission </a:t>
            </a:r>
            <a:r>
              <a:rPr lang="en-US" smtClean="0"/>
              <a:t>plans</a:t>
            </a:r>
          </a:p>
          <a:p>
            <a:pPr lvl="1"/>
            <a:r>
              <a:rPr lang="en-US" smtClean="0"/>
              <a:t>Assignment </a:t>
            </a:r>
            <a:r>
              <a:rPr lang="en-US"/>
              <a:t>of plans to a producer or producer code</a:t>
            </a:r>
          </a:p>
          <a:p>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74010" y="864454"/>
            <a:ext cx="1465190" cy="1421546"/>
          </a:xfrm>
          <a:prstGeom prst="rect">
            <a:avLst/>
          </a:prstGeom>
          <a:effectLst>
            <a:outerShdw blurRad="50800" dist="38100" dir="2700000" algn="tl" rotWithShape="0">
              <a:prstClr val="black">
                <a:alpha val="40000"/>
              </a:prstClr>
            </a:outerShdw>
          </a:effectLst>
        </p:spPr>
      </p:pic>
      <p:pic>
        <p:nvPicPr>
          <p:cNvPr id="11" name="Picture 10"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7296" y="874208"/>
            <a:ext cx="1434015" cy="1390371"/>
          </a:xfrm>
          <a:prstGeom prst="rect">
            <a:avLst/>
          </a:prstGeom>
          <a:effectLst>
            <a:outerShdw blurRad="50800" dist="38100" dir="2700000" algn="tl" rotWithShape="0">
              <a:prstClr val="black">
                <a:alpha val="40000"/>
              </a:prstClr>
            </a:outerShdw>
          </a:effectLst>
        </p:spPr>
      </p:pic>
      <p:sp>
        <p:nvSpPr>
          <p:cNvPr id="9" name="Right Arrow 8"/>
          <p:cNvSpPr/>
          <p:nvPr/>
        </p:nvSpPr>
        <p:spPr bwMode="auto">
          <a:xfrm>
            <a:off x="1911311" y="1259792"/>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2" name="Right Arrow 11"/>
          <p:cNvSpPr/>
          <p:nvPr/>
        </p:nvSpPr>
        <p:spPr bwMode="auto">
          <a:xfrm>
            <a:off x="6700022" y="1343701"/>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27" name="Group 42"/>
          <p:cNvGrpSpPr>
            <a:grpSpLocks/>
          </p:cNvGrpSpPr>
          <p:nvPr/>
        </p:nvGrpSpPr>
        <p:grpSpPr bwMode="auto">
          <a:xfrm>
            <a:off x="8104188" y="2141538"/>
            <a:ext cx="703262" cy="906462"/>
            <a:chOff x="2634" y="2618"/>
            <a:chExt cx="538" cy="692"/>
          </a:xfrm>
          <a:effectLst>
            <a:outerShdw blurRad="50800" dist="38100" dir="2700000" algn="tl" rotWithShape="0">
              <a:prstClr val="black">
                <a:alpha val="40000"/>
              </a:prstClr>
            </a:outerShdw>
          </a:effectLst>
        </p:grpSpPr>
        <p:sp>
          <p:nvSpPr>
            <p:cNvPr id="28" name="AutoShape 43"/>
            <p:cNvSpPr>
              <a:spLocks noChangeArrowheads="1"/>
            </p:cNvSpPr>
            <p:nvPr/>
          </p:nvSpPr>
          <p:spPr bwMode="auto">
            <a:xfrm flipH="1">
              <a:off x="2644" y="2618"/>
              <a:ext cx="482" cy="490"/>
            </a:xfrm>
            <a:prstGeom prst="smileyFace">
              <a:avLst>
                <a:gd name="adj" fmla="val 4653"/>
              </a:avLst>
            </a:prstGeom>
            <a:gradFill rotWithShape="1">
              <a:gsLst>
                <a:gs pos="0">
                  <a:srgbClr val="FFCC99"/>
                </a:gs>
                <a:gs pos="100000">
                  <a:srgbClr val="FFFF99"/>
                </a:gs>
              </a:gsLst>
              <a:lin ang="0" scaled="1"/>
            </a:gradFill>
            <a:ln w="12700">
              <a:solidFill>
                <a:srgbClr val="000000"/>
              </a:solidFill>
              <a:round/>
              <a:headEnd/>
              <a:tailEnd/>
            </a:ln>
          </p:spPr>
          <p:txBody>
            <a:bodyPr wrap="none" anchor="ctr"/>
            <a:lstStyle/>
            <a:p>
              <a:endParaRPr lang="en-US"/>
            </a:p>
          </p:txBody>
        </p:sp>
        <p:sp>
          <p:nvSpPr>
            <p:cNvPr id="29" name="Freeform 44"/>
            <p:cNvSpPr>
              <a:spLocks/>
            </p:cNvSpPr>
            <p:nvPr/>
          </p:nvSpPr>
          <p:spPr bwMode="auto">
            <a:xfrm flipH="1">
              <a:off x="2724" y="3066"/>
              <a:ext cx="388" cy="228"/>
            </a:xfrm>
            <a:custGeom>
              <a:avLst/>
              <a:gdLst>
                <a:gd name="T0" fmla="*/ 0 w 941"/>
                <a:gd name="T1" fmla="*/ 0 h 553"/>
                <a:gd name="T2" fmla="*/ 0 w 941"/>
                <a:gd name="T3" fmla="*/ 0 h 553"/>
                <a:gd name="T4" fmla="*/ 0 w 941"/>
                <a:gd name="T5" fmla="*/ 0 h 553"/>
                <a:gd name="T6" fmla="*/ 0 w 941"/>
                <a:gd name="T7" fmla="*/ 0 h 553"/>
                <a:gd name="T8" fmla="*/ 0 w 941"/>
                <a:gd name="T9" fmla="*/ 0 h 553"/>
                <a:gd name="T10" fmla="*/ 0 w 941"/>
                <a:gd name="T11" fmla="*/ 0 h 553"/>
                <a:gd name="T12" fmla="*/ 0 w 941"/>
                <a:gd name="T13" fmla="*/ 0 h 553"/>
                <a:gd name="T14" fmla="*/ 0 w 941"/>
                <a:gd name="T15" fmla="*/ 0 h 553"/>
                <a:gd name="T16" fmla="*/ 0 w 941"/>
                <a:gd name="T17" fmla="*/ 0 h 553"/>
                <a:gd name="T18" fmla="*/ 0 w 941"/>
                <a:gd name="T19" fmla="*/ 0 h 553"/>
                <a:gd name="T20" fmla="*/ 0 w 941"/>
                <a:gd name="T21" fmla="*/ 0 h 553"/>
                <a:gd name="T22" fmla="*/ 0 w 941"/>
                <a:gd name="T23" fmla="*/ 0 h 553"/>
                <a:gd name="T24" fmla="*/ 0 w 941"/>
                <a:gd name="T25" fmla="*/ 0 h 553"/>
                <a:gd name="T26" fmla="*/ 0 w 941"/>
                <a:gd name="T27" fmla="*/ 0 h 553"/>
                <a:gd name="T28" fmla="*/ 0 w 941"/>
                <a:gd name="T29" fmla="*/ 0 h 553"/>
                <a:gd name="T30" fmla="*/ 0 w 941"/>
                <a:gd name="T31" fmla="*/ 0 h 553"/>
                <a:gd name="T32" fmla="*/ 0 w 941"/>
                <a:gd name="T33" fmla="*/ 0 h 553"/>
                <a:gd name="T34" fmla="*/ 0 w 941"/>
                <a:gd name="T35" fmla="*/ 0 h 553"/>
                <a:gd name="T36" fmla="*/ 0 w 941"/>
                <a:gd name="T37" fmla="*/ 0 h 553"/>
                <a:gd name="T38" fmla="*/ 0 w 941"/>
                <a:gd name="T39" fmla="*/ 0 h 553"/>
                <a:gd name="T40" fmla="*/ 0 w 941"/>
                <a:gd name="T41" fmla="*/ 0 h 553"/>
                <a:gd name="T42" fmla="*/ 0 w 941"/>
                <a:gd name="T43" fmla="*/ 0 h 553"/>
                <a:gd name="T44" fmla="*/ 0 w 941"/>
                <a:gd name="T45" fmla="*/ 0 h 553"/>
                <a:gd name="T46" fmla="*/ 0 w 941"/>
                <a:gd name="T47" fmla="*/ 0 h 553"/>
                <a:gd name="T48" fmla="*/ 0 w 941"/>
                <a:gd name="T49" fmla="*/ 0 h 553"/>
                <a:gd name="T50" fmla="*/ 0 w 941"/>
                <a:gd name="T51" fmla="*/ 0 h 553"/>
                <a:gd name="T52" fmla="*/ 0 w 941"/>
                <a:gd name="T53" fmla="*/ 0 h 553"/>
                <a:gd name="T54" fmla="*/ 0 w 941"/>
                <a:gd name="T55" fmla="*/ 0 h 55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1"/>
                <a:gd name="T85" fmla="*/ 0 h 553"/>
                <a:gd name="T86" fmla="*/ 941 w 941"/>
                <a:gd name="T87" fmla="*/ 553 h 55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1" h="553">
                  <a:moveTo>
                    <a:pt x="54" y="55"/>
                  </a:moveTo>
                  <a:cubicBezTo>
                    <a:pt x="108" y="37"/>
                    <a:pt x="292" y="41"/>
                    <a:pt x="354" y="34"/>
                  </a:cubicBezTo>
                  <a:cubicBezTo>
                    <a:pt x="416" y="27"/>
                    <a:pt x="380" y="16"/>
                    <a:pt x="426" y="13"/>
                  </a:cubicBezTo>
                  <a:cubicBezTo>
                    <a:pt x="472" y="10"/>
                    <a:pt x="563" y="0"/>
                    <a:pt x="633" y="16"/>
                  </a:cubicBezTo>
                  <a:cubicBezTo>
                    <a:pt x="703" y="32"/>
                    <a:pt x="801" y="79"/>
                    <a:pt x="849" y="112"/>
                  </a:cubicBezTo>
                  <a:cubicBezTo>
                    <a:pt x="897" y="145"/>
                    <a:pt x="941" y="207"/>
                    <a:pt x="921" y="214"/>
                  </a:cubicBezTo>
                  <a:cubicBezTo>
                    <a:pt x="901" y="221"/>
                    <a:pt x="764" y="159"/>
                    <a:pt x="729" y="151"/>
                  </a:cubicBezTo>
                  <a:cubicBezTo>
                    <a:pt x="694" y="143"/>
                    <a:pt x="692" y="148"/>
                    <a:pt x="708" y="166"/>
                  </a:cubicBezTo>
                  <a:cubicBezTo>
                    <a:pt x="724" y="184"/>
                    <a:pt x="798" y="226"/>
                    <a:pt x="825" y="259"/>
                  </a:cubicBezTo>
                  <a:cubicBezTo>
                    <a:pt x="852" y="292"/>
                    <a:pt x="860" y="340"/>
                    <a:pt x="867" y="364"/>
                  </a:cubicBezTo>
                  <a:cubicBezTo>
                    <a:pt x="874" y="388"/>
                    <a:pt x="874" y="399"/>
                    <a:pt x="867" y="406"/>
                  </a:cubicBezTo>
                  <a:cubicBezTo>
                    <a:pt x="860" y="413"/>
                    <a:pt x="832" y="399"/>
                    <a:pt x="825" y="406"/>
                  </a:cubicBezTo>
                  <a:cubicBezTo>
                    <a:pt x="818" y="413"/>
                    <a:pt x="829" y="442"/>
                    <a:pt x="825" y="451"/>
                  </a:cubicBezTo>
                  <a:cubicBezTo>
                    <a:pt x="821" y="460"/>
                    <a:pt x="811" y="459"/>
                    <a:pt x="804" y="460"/>
                  </a:cubicBezTo>
                  <a:cubicBezTo>
                    <a:pt x="797" y="461"/>
                    <a:pt x="784" y="457"/>
                    <a:pt x="780" y="460"/>
                  </a:cubicBezTo>
                  <a:cubicBezTo>
                    <a:pt x="776" y="463"/>
                    <a:pt x="782" y="469"/>
                    <a:pt x="780" y="478"/>
                  </a:cubicBezTo>
                  <a:cubicBezTo>
                    <a:pt x="778" y="487"/>
                    <a:pt x="776" y="511"/>
                    <a:pt x="765" y="517"/>
                  </a:cubicBezTo>
                  <a:cubicBezTo>
                    <a:pt x="754" y="523"/>
                    <a:pt x="721" y="509"/>
                    <a:pt x="711" y="514"/>
                  </a:cubicBezTo>
                  <a:cubicBezTo>
                    <a:pt x="701" y="519"/>
                    <a:pt x="713" y="541"/>
                    <a:pt x="702" y="547"/>
                  </a:cubicBezTo>
                  <a:cubicBezTo>
                    <a:pt x="691" y="553"/>
                    <a:pt x="666" y="553"/>
                    <a:pt x="645" y="550"/>
                  </a:cubicBezTo>
                  <a:cubicBezTo>
                    <a:pt x="624" y="547"/>
                    <a:pt x="613" y="547"/>
                    <a:pt x="576" y="529"/>
                  </a:cubicBezTo>
                  <a:cubicBezTo>
                    <a:pt x="539" y="511"/>
                    <a:pt x="474" y="468"/>
                    <a:pt x="423" y="442"/>
                  </a:cubicBezTo>
                  <a:cubicBezTo>
                    <a:pt x="372" y="416"/>
                    <a:pt x="311" y="388"/>
                    <a:pt x="270" y="373"/>
                  </a:cubicBezTo>
                  <a:cubicBezTo>
                    <a:pt x="229" y="358"/>
                    <a:pt x="213" y="358"/>
                    <a:pt x="174" y="352"/>
                  </a:cubicBezTo>
                  <a:cubicBezTo>
                    <a:pt x="135" y="346"/>
                    <a:pt x="64" y="339"/>
                    <a:pt x="36" y="337"/>
                  </a:cubicBezTo>
                  <a:cubicBezTo>
                    <a:pt x="8" y="335"/>
                    <a:pt x="6" y="355"/>
                    <a:pt x="3" y="337"/>
                  </a:cubicBezTo>
                  <a:cubicBezTo>
                    <a:pt x="0" y="319"/>
                    <a:pt x="6" y="276"/>
                    <a:pt x="15" y="229"/>
                  </a:cubicBezTo>
                  <a:cubicBezTo>
                    <a:pt x="24" y="182"/>
                    <a:pt x="46" y="91"/>
                    <a:pt x="54" y="55"/>
                  </a:cubicBez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30" name="Freeform 45"/>
            <p:cNvSpPr>
              <a:spLocks/>
            </p:cNvSpPr>
            <p:nvPr/>
          </p:nvSpPr>
          <p:spPr bwMode="auto">
            <a:xfrm flipH="1">
              <a:off x="2692" y="3051"/>
              <a:ext cx="300" cy="174"/>
            </a:xfrm>
            <a:custGeom>
              <a:avLst/>
              <a:gdLst>
                <a:gd name="T0" fmla="*/ 0 w 729"/>
                <a:gd name="T1" fmla="*/ 0 h 420"/>
                <a:gd name="T2" fmla="*/ 0 w 729"/>
                <a:gd name="T3" fmla="*/ 0 h 420"/>
                <a:gd name="T4" fmla="*/ 0 w 729"/>
                <a:gd name="T5" fmla="*/ 0 h 420"/>
                <a:gd name="T6" fmla="*/ 0 w 729"/>
                <a:gd name="T7" fmla="*/ 0 h 420"/>
                <a:gd name="T8" fmla="*/ 0 w 729"/>
                <a:gd name="T9" fmla="*/ 0 h 420"/>
                <a:gd name="T10" fmla="*/ 0 w 729"/>
                <a:gd name="T11" fmla="*/ 0 h 420"/>
                <a:gd name="T12" fmla="*/ 0 w 729"/>
                <a:gd name="T13" fmla="*/ 0 h 420"/>
                <a:gd name="T14" fmla="*/ 0 w 729"/>
                <a:gd name="T15" fmla="*/ 0 h 420"/>
                <a:gd name="T16" fmla="*/ 0 w 729"/>
                <a:gd name="T17" fmla="*/ 0 h 420"/>
                <a:gd name="T18" fmla="*/ 0 w 729"/>
                <a:gd name="T19" fmla="*/ 0 h 420"/>
                <a:gd name="T20" fmla="*/ 0 w 729"/>
                <a:gd name="T21" fmla="*/ 0 h 420"/>
                <a:gd name="T22" fmla="*/ 0 w 729"/>
                <a:gd name="T23" fmla="*/ 0 h 420"/>
                <a:gd name="T24" fmla="*/ 0 w 729"/>
                <a:gd name="T25" fmla="*/ 0 h 420"/>
                <a:gd name="T26" fmla="*/ 0 w 729"/>
                <a:gd name="T27" fmla="*/ 0 h 420"/>
                <a:gd name="T28" fmla="*/ 0 w 729"/>
                <a:gd name="T29" fmla="*/ 0 h 420"/>
                <a:gd name="T30" fmla="*/ 0 w 729"/>
                <a:gd name="T31" fmla="*/ 0 h 420"/>
                <a:gd name="T32" fmla="*/ 0 w 729"/>
                <a:gd name="T33" fmla="*/ 0 h 420"/>
                <a:gd name="T34" fmla="*/ 0 w 729"/>
                <a:gd name="T35" fmla="*/ 0 h 420"/>
                <a:gd name="T36" fmla="*/ 0 w 729"/>
                <a:gd name="T37" fmla="*/ 0 h 420"/>
                <a:gd name="T38" fmla="*/ 0 w 729"/>
                <a:gd name="T39" fmla="*/ 0 h 420"/>
                <a:gd name="T40" fmla="*/ 0 w 729"/>
                <a:gd name="T41" fmla="*/ 0 h 420"/>
                <a:gd name="T42" fmla="*/ 0 w 729"/>
                <a:gd name="T43" fmla="*/ 0 h 420"/>
                <a:gd name="T44" fmla="*/ 0 w 729"/>
                <a:gd name="T45" fmla="*/ 0 h 420"/>
                <a:gd name="T46" fmla="*/ 0 w 729"/>
                <a:gd name="T47" fmla="*/ 0 h 420"/>
                <a:gd name="T48" fmla="*/ 0 w 729"/>
                <a:gd name="T49" fmla="*/ 0 h 420"/>
                <a:gd name="T50" fmla="*/ 0 w 729"/>
                <a:gd name="T51" fmla="*/ 0 h 4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29"/>
                <a:gd name="T79" fmla="*/ 0 h 420"/>
                <a:gd name="T80" fmla="*/ 729 w 729"/>
                <a:gd name="T81" fmla="*/ 420 h 4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29" h="420">
                  <a:moveTo>
                    <a:pt x="647" y="59"/>
                  </a:moveTo>
                  <a:cubicBezTo>
                    <a:pt x="618" y="22"/>
                    <a:pt x="573" y="68"/>
                    <a:pt x="551" y="68"/>
                  </a:cubicBezTo>
                  <a:cubicBezTo>
                    <a:pt x="529" y="68"/>
                    <a:pt x="537" y="68"/>
                    <a:pt x="512" y="59"/>
                  </a:cubicBezTo>
                  <a:cubicBezTo>
                    <a:pt x="487" y="50"/>
                    <a:pt x="432" y="23"/>
                    <a:pt x="398" y="14"/>
                  </a:cubicBezTo>
                  <a:cubicBezTo>
                    <a:pt x="364" y="5"/>
                    <a:pt x="343" y="0"/>
                    <a:pt x="308" y="2"/>
                  </a:cubicBezTo>
                  <a:cubicBezTo>
                    <a:pt x="273" y="4"/>
                    <a:pt x="218" y="16"/>
                    <a:pt x="188" y="26"/>
                  </a:cubicBezTo>
                  <a:cubicBezTo>
                    <a:pt x="158" y="36"/>
                    <a:pt x="149" y="48"/>
                    <a:pt x="128" y="65"/>
                  </a:cubicBezTo>
                  <a:cubicBezTo>
                    <a:pt x="107" y="82"/>
                    <a:pt x="79" y="114"/>
                    <a:pt x="59" y="128"/>
                  </a:cubicBezTo>
                  <a:cubicBezTo>
                    <a:pt x="39" y="142"/>
                    <a:pt x="21" y="137"/>
                    <a:pt x="11" y="146"/>
                  </a:cubicBezTo>
                  <a:cubicBezTo>
                    <a:pt x="1" y="155"/>
                    <a:pt x="1" y="172"/>
                    <a:pt x="2" y="182"/>
                  </a:cubicBezTo>
                  <a:cubicBezTo>
                    <a:pt x="3" y="192"/>
                    <a:pt x="0" y="205"/>
                    <a:pt x="17" y="209"/>
                  </a:cubicBezTo>
                  <a:cubicBezTo>
                    <a:pt x="34" y="213"/>
                    <a:pt x="75" y="212"/>
                    <a:pt x="104" y="206"/>
                  </a:cubicBezTo>
                  <a:cubicBezTo>
                    <a:pt x="133" y="200"/>
                    <a:pt x="172" y="184"/>
                    <a:pt x="191" y="173"/>
                  </a:cubicBezTo>
                  <a:cubicBezTo>
                    <a:pt x="210" y="162"/>
                    <a:pt x="206" y="145"/>
                    <a:pt x="221" y="137"/>
                  </a:cubicBezTo>
                  <a:cubicBezTo>
                    <a:pt x="236" y="129"/>
                    <a:pt x="263" y="126"/>
                    <a:pt x="281" y="125"/>
                  </a:cubicBezTo>
                  <a:cubicBezTo>
                    <a:pt x="299" y="124"/>
                    <a:pt x="312" y="120"/>
                    <a:pt x="332" y="131"/>
                  </a:cubicBezTo>
                  <a:cubicBezTo>
                    <a:pt x="352" y="142"/>
                    <a:pt x="374" y="170"/>
                    <a:pt x="404" y="194"/>
                  </a:cubicBezTo>
                  <a:cubicBezTo>
                    <a:pt x="434" y="218"/>
                    <a:pt x="485" y="248"/>
                    <a:pt x="512" y="278"/>
                  </a:cubicBezTo>
                  <a:cubicBezTo>
                    <a:pt x="539" y="308"/>
                    <a:pt x="558" y="348"/>
                    <a:pt x="569" y="371"/>
                  </a:cubicBezTo>
                  <a:cubicBezTo>
                    <a:pt x="580" y="394"/>
                    <a:pt x="575" y="412"/>
                    <a:pt x="581" y="416"/>
                  </a:cubicBezTo>
                  <a:cubicBezTo>
                    <a:pt x="587" y="420"/>
                    <a:pt x="595" y="403"/>
                    <a:pt x="605" y="395"/>
                  </a:cubicBezTo>
                  <a:cubicBezTo>
                    <a:pt x="615" y="387"/>
                    <a:pt x="628" y="379"/>
                    <a:pt x="641" y="368"/>
                  </a:cubicBezTo>
                  <a:cubicBezTo>
                    <a:pt x="654" y="357"/>
                    <a:pt x="669" y="336"/>
                    <a:pt x="683" y="329"/>
                  </a:cubicBezTo>
                  <a:cubicBezTo>
                    <a:pt x="697" y="322"/>
                    <a:pt x="721" y="340"/>
                    <a:pt x="725" y="323"/>
                  </a:cubicBezTo>
                  <a:cubicBezTo>
                    <a:pt x="729" y="306"/>
                    <a:pt x="717" y="271"/>
                    <a:pt x="704" y="227"/>
                  </a:cubicBezTo>
                  <a:cubicBezTo>
                    <a:pt x="691" y="183"/>
                    <a:pt x="659" y="94"/>
                    <a:pt x="647" y="59"/>
                  </a:cubicBezTo>
                  <a:close/>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sp>
          <p:nvSpPr>
            <p:cNvPr id="31" name="Rectangle 46"/>
            <p:cNvSpPr>
              <a:spLocks noChangeArrowheads="1"/>
            </p:cNvSpPr>
            <p:nvPr/>
          </p:nvSpPr>
          <p:spPr bwMode="auto">
            <a:xfrm rot="21419544" flipH="1">
              <a:off x="3090" y="3069"/>
              <a:ext cx="82" cy="176"/>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32" name="Rectangle 47"/>
            <p:cNvSpPr>
              <a:spLocks noChangeArrowheads="1"/>
            </p:cNvSpPr>
            <p:nvPr/>
          </p:nvSpPr>
          <p:spPr bwMode="auto">
            <a:xfrm rot="1196180" flipH="1">
              <a:off x="2634" y="3044"/>
              <a:ext cx="82" cy="175"/>
            </a:xfrm>
            <a:prstGeom prst="rect">
              <a:avLst/>
            </a:prstGeom>
            <a:solidFill>
              <a:srgbClr val="FFFF99"/>
            </a:solidFill>
            <a:ln w="12700" algn="ctr">
              <a:solidFill>
                <a:schemeClr val="bg1"/>
              </a:solidFill>
              <a:miter lim="800000"/>
              <a:headEnd/>
              <a:tailEnd/>
            </a:ln>
          </p:spPr>
          <p:txBody>
            <a:bodyPr lIns="0" tIns="0" rIns="0" bIns="0" anchor="ctr">
              <a:spAutoFit/>
            </a:bodyPr>
            <a:lstStyle/>
            <a:p>
              <a:endParaRPr lang="en-US"/>
            </a:p>
          </p:txBody>
        </p:sp>
        <p:sp>
          <p:nvSpPr>
            <p:cNvPr id="33" name="Oval 48"/>
            <p:cNvSpPr>
              <a:spLocks noChangeArrowheads="1"/>
            </p:cNvSpPr>
            <p:nvPr/>
          </p:nvSpPr>
          <p:spPr bwMode="auto">
            <a:xfrm flipH="1">
              <a:off x="2961" y="3207"/>
              <a:ext cx="50" cy="58"/>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34" name="Oval 49"/>
            <p:cNvSpPr>
              <a:spLocks noChangeArrowheads="1"/>
            </p:cNvSpPr>
            <p:nvPr/>
          </p:nvSpPr>
          <p:spPr bwMode="auto">
            <a:xfrm flipH="1">
              <a:off x="2926" y="3231"/>
              <a:ext cx="47" cy="63"/>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35" name="Oval 50"/>
            <p:cNvSpPr>
              <a:spLocks noChangeArrowheads="1"/>
            </p:cNvSpPr>
            <p:nvPr/>
          </p:nvSpPr>
          <p:spPr bwMode="auto">
            <a:xfrm rot="20190086" flipH="1">
              <a:off x="2882" y="3246"/>
              <a:ext cx="49" cy="62"/>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36" name="Oval 51"/>
            <p:cNvSpPr>
              <a:spLocks noChangeArrowheads="1"/>
            </p:cNvSpPr>
            <p:nvPr/>
          </p:nvSpPr>
          <p:spPr bwMode="auto">
            <a:xfrm rot="18495068" flipH="1">
              <a:off x="2862" y="3266"/>
              <a:ext cx="30" cy="57"/>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37" name="Freeform 52"/>
            <p:cNvSpPr>
              <a:spLocks/>
            </p:cNvSpPr>
            <p:nvPr/>
          </p:nvSpPr>
          <p:spPr bwMode="auto">
            <a:xfrm flipH="1">
              <a:off x="2769" y="3181"/>
              <a:ext cx="74" cy="50"/>
            </a:xfrm>
            <a:custGeom>
              <a:avLst/>
              <a:gdLst>
                <a:gd name="T0" fmla="*/ 0 w 180"/>
                <a:gd name="T1" fmla="*/ 0 h 123"/>
                <a:gd name="T2" fmla="*/ 0 w 180"/>
                <a:gd name="T3" fmla="*/ 0 h 123"/>
                <a:gd name="T4" fmla="*/ 0 w 180"/>
                <a:gd name="T5" fmla="*/ 0 h 123"/>
                <a:gd name="T6" fmla="*/ 0 60000 65536"/>
                <a:gd name="T7" fmla="*/ 0 60000 65536"/>
                <a:gd name="T8" fmla="*/ 0 60000 65536"/>
                <a:gd name="T9" fmla="*/ 0 w 180"/>
                <a:gd name="T10" fmla="*/ 0 h 123"/>
                <a:gd name="T11" fmla="*/ 180 w 180"/>
                <a:gd name="T12" fmla="*/ 123 h 123"/>
              </a:gdLst>
              <a:ahLst/>
              <a:cxnLst>
                <a:cxn ang="T6">
                  <a:pos x="T0" y="T1"/>
                </a:cxn>
                <a:cxn ang="T7">
                  <a:pos x="T2" y="T3"/>
                </a:cxn>
                <a:cxn ang="T8">
                  <a:pos x="T4" y="T5"/>
                </a:cxn>
              </a:cxnLst>
              <a:rect l="T9" t="T10" r="T11" b="T12"/>
              <a:pathLst>
                <a:path w="180" h="123">
                  <a:moveTo>
                    <a:pt x="180" y="123"/>
                  </a:moveTo>
                  <a:cubicBezTo>
                    <a:pt x="153" y="110"/>
                    <a:pt x="126" y="98"/>
                    <a:pt x="96" y="78"/>
                  </a:cubicBezTo>
                  <a:cubicBezTo>
                    <a:pt x="66" y="58"/>
                    <a:pt x="33" y="29"/>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8" name="Freeform 53"/>
            <p:cNvSpPr>
              <a:spLocks/>
            </p:cNvSpPr>
            <p:nvPr/>
          </p:nvSpPr>
          <p:spPr bwMode="auto">
            <a:xfrm flipH="1">
              <a:off x="2789" y="3197"/>
              <a:ext cx="79" cy="60"/>
            </a:xfrm>
            <a:custGeom>
              <a:avLst/>
              <a:gdLst>
                <a:gd name="T0" fmla="*/ 0 w 189"/>
                <a:gd name="T1" fmla="*/ 0 h 144"/>
                <a:gd name="T2" fmla="*/ 0 w 189"/>
                <a:gd name="T3" fmla="*/ 0 h 144"/>
                <a:gd name="T4" fmla="*/ 0 w 189"/>
                <a:gd name="T5" fmla="*/ 0 h 144"/>
                <a:gd name="T6" fmla="*/ 0 w 189"/>
                <a:gd name="T7" fmla="*/ 0 h 144"/>
                <a:gd name="T8" fmla="*/ 0 60000 65536"/>
                <a:gd name="T9" fmla="*/ 0 60000 65536"/>
                <a:gd name="T10" fmla="*/ 0 60000 65536"/>
                <a:gd name="T11" fmla="*/ 0 60000 65536"/>
                <a:gd name="T12" fmla="*/ 0 w 189"/>
                <a:gd name="T13" fmla="*/ 0 h 144"/>
                <a:gd name="T14" fmla="*/ 189 w 189"/>
                <a:gd name="T15" fmla="*/ 144 h 144"/>
              </a:gdLst>
              <a:ahLst/>
              <a:cxnLst>
                <a:cxn ang="T8">
                  <a:pos x="T0" y="T1"/>
                </a:cxn>
                <a:cxn ang="T9">
                  <a:pos x="T2" y="T3"/>
                </a:cxn>
                <a:cxn ang="T10">
                  <a:pos x="T4" y="T5"/>
                </a:cxn>
                <a:cxn ang="T11">
                  <a:pos x="T6" y="T7"/>
                </a:cxn>
              </a:cxnLst>
              <a:rect l="T12" t="T13" r="T14" b="T15"/>
              <a:pathLst>
                <a:path w="189" h="144">
                  <a:moveTo>
                    <a:pt x="189" y="144"/>
                  </a:moveTo>
                  <a:cubicBezTo>
                    <a:pt x="171" y="141"/>
                    <a:pt x="154" y="139"/>
                    <a:pt x="135" y="129"/>
                  </a:cubicBezTo>
                  <a:cubicBezTo>
                    <a:pt x="116" y="119"/>
                    <a:pt x="97" y="105"/>
                    <a:pt x="75" y="84"/>
                  </a:cubicBezTo>
                  <a:cubicBezTo>
                    <a:pt x="53" y="63"/>
                    <a:pt x="26" y="31"/>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9" name="Freeform 54"/>
            <p:cNvSpPr>
              <a:spLocks/>
            </p:cNvSpPr>
            <p:nvPr/>
          </p:nvSpPr>
          <p:spPr bwMode="auto">
            <a:xfrm flipH="1">
              <a:off x="2820" y="3220"/>
              <a:ext cx="75" cy="58"/>
            </a:xfrm>
            <a:custGeom>
              <a:avLst/>
              <a:gdLst>
                <a:gd name="T0" fmla="*/ 0 w 183"/>
                <a:gd name="T1" fmla="*/ 0 h 141"/>
                <a:gd name="T2" fmla="*/ 0 w 183"/>
                <a:gd name="T3" fmla="*/ 0 h 141"/>
                <a:gd name="T4" fmla="*/ 0 w 183"/>
                <a:gd name="T5" fmla="*/ 0 h 141"/>
                <a:gd name="T6" fmla="*/ 0 w 183"/>
                <a:gd name="T7" fmla="*/ 0 h 141"/>
                <a:gd name="T8" fmla="*/ 0 60000 65536"/>
                <a:gd name="T9" fmla="*/ 0 60000 65536"/>
                <a:gd name="T10" fmla="*/ 0 60000 65536"/>
                <a:gd name="T11" fmla="*/ 0 60000 65536"/>
                <a:gd name="T12" fmla="*/ 0 w 183"/>
                <a:gd name="T13" fmla="*/ 0 h 141"/>
                <a:gd name="T14" fmla="*/ 183 w 183"/>
                <a:gd name="T15" fmla="*/ 141 h 141"/>
              </a:gdLst>
              <a:ahLst/>
              <a:cxnLst>
                <a:cxn ang="T8">
                  <a:pos x="T0" y="T1"/>
                </a:cxn>
                <a:cxn ang="T9">
                  <a:pos x="T2" y="T3"/>
                </a:cxn>
                <a:cxn ang="T10">
                  <a:pos x="T4" y="T5"/>
                </a:cxn>
                <a:cxn ang="T11">
                  <a:pos x="T6" y="T7"/>
                </a:cxn>
              </a:cxnLst>
              <a:rect l="T12" t="T13" r="T14" b="T15"/>
              <a:pathLst>
                <a:path w="183" h="141">
                  <a:moveTo>
                    <a:pt x="183" y="141"/>
                  </a:moveTo>
                  <a:cubicBezTo>
                    <a:pt x="161" y="134"/>
                    <a:pt x="140" y="127"/>
                    <a:pt x="120" y="114"/>
                  </a:cubicBezTo>
                  <a:cubicBezTo>
                    <a:pt x="100" y="101"/>
                    <a:pt x="83" y="82"/>
                    <a:pt x="63" y="63"/>
                  </a:cubicBezTo>
                  <a:cubicBezTo>
                    <a:pt x="43" y="44"/>
                    <a:pt x="21" y="22"/>
                    <a:pt x="0" y="0"/>
                  </a:cubicBezTo>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grpSp>
    </p:spTree>
    <p:extLst>
      <p:ext uri="{BB962C8B-B14F-4D97-AF65-F5344CB8AC3E}">
        <p14:creationId xmlns:p14="http://schemas.microsoft.com/office/powerpoint/2010/main" val="332313283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5" name="Picture 7"/>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381000" y="1152525"/>
            <a:ext cx="5010150" cy="3114675"/>
          </a:xfrm>
          <a:prstGeom prst="rect">
            <a:avLst/>
          </a:prstGeom>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493776" y="118872"/>
            <a:ext cx="8802624" cy="742951"/>
          </a:xfrm>
        </p:spPr>
        <p:txBody>
          <a:bodyPr/>
          <a:lstStyle/>
          <a:p>
            <a:r>
              <a:rPr lang="en-US" dirty="0"/>
              <a:t>Producers in PolicyCenter and BillingCenter</a:t>
            </a:r>
          </a:p>
        </p:txBody>
      </p:sp>
      <p:sp>
        <p:nvSpPr>
          <p:cNvPr id="30" name="Content Placeholder 29"/>
          <p:cNvSpPr>
            <a:spLocks noGrp="1"/>
          </p:cNvSpPr>
          <p:nvPr>
            <p:ph idx="1"/>
          </p:nvPr>
        </p:nvSpPr>
        <p:spPr>
          <a:xfrm>
            <a:off x="519113" y="5181600"/>
            <a:ext cx="8318500" cy="1219200"/>
          </a:xfrm>
        </p:spPr>
        <p:txBody>
          <a:bodyPr/>
          <a:lstStyle/>
          <a:p>
            <a:r>
              <a:rPr lang="en-US" dirty="0"/>
              <a:t>An organization in </a:t>
            </a:r>
            <a:r>
              <a:rPr lang="en-US" dirty="0" smtClean="0"/>
              <a:t/>
            </a:r>
            <a:br>
              <a:rPr lang="en-US" dirty="0" smtClean="0"/>
            </a:br>
            <a:r>
              <a:rPr lang="en-US" dirty="0" smtClean="0"/>
              <a:t>PolicyCenter </a:t>
            </a:r>
            <a:r>
              <a:rPr lang="en-US" dirty="0"/>
              <a:t>corresponds </a:t>
            </a:r>
            <a:r>
              <a:rPr lang="en-US" dirty="0" smtClean="0"/>
              <a:t/>
            </a:r>
            <a:br>
              <a:rPr lang="en-US" dirty="0" smtClean="0"/>
            </a:br>
            <a:r>
              <a:rPr lang="en-US" dirty="0" smtClean="0"/>
              <a:t>to </a:t>
            </a:r>
            <a:r>
              <a:rPr lang="en-US" dirty="0"/>
              <a:t>a </a:t>
            </a:r>
            <a:r>
              <a:rPr lang="en-US" dirty="0" smtClean="0"/>
              <a:t>producer in </a:t>
            </a:r>
            <a:r>
              <a:rPr lang="en-US" dirty="0"/>
              <a:t>BillingCenter</a:t>
            </a:r>
          </a:p>
        </p:txBody>
      </p:sp>
      <p:pic>
        <p:nvPicPr>
          <p:cNvPr id="2054" name="Picture 6"/>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4343400" y="1485900"/>
            <a:ext cx="5410200" cy="4457700"/>
          </a:xfrm>
          <a:prstGeom prst="rect">
            <a:avLst/>
          </a:prstGeom>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10" name="Picture 9"/>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343400" y="1290606"/>
            <a:ext cx="565485" cy="548640"/>
          </a:xfrm>
          <a:prstGeom prst="rect">
            <a:avLst/>
          </a:prstGeom>
          <a:effectLst>
            <a:outerShdw blurRad="50800" dist="38100" dir="2700000" algn="tl" rotWithShape="0">
              <a:prstClr val="black">
                <a:alpha val="40000"/>
              </a:prstClr>
            </a:outerShdw>
          </a:effectLst>
        </p:spPr>
      </p:pic>
      <p:pic>
        <p:nvPicPr>
          <p:cNvPr id="11" name="Picture 10" descr="PolicyCenter.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99165" y="899160"/>
            <a:ext cx="565862" cy="548640"/>
          </a:xfrm>
          <a:prstGeom prst="rect">
            <a:avLst/>
          </a:prstGeom>
          <a:effectLst>
            <a:outerShdw blurRad="50800" dist="38100" dir="2700000" algn="tl" rotWithShape="0">
              <a:prstClr val="black">
                <a:alpha val="40000"/>
              </a:prstClr>
            </a:outerShdw>
          </a:effectLst>
        </p:spPr>
      </p:pic>
      <p:sp>
        <p:nvSpPr>
          <p:cNvPr id="5" name="Rounded Rectangle 4"/>
          <p:cNvSpPr/>
          <p:nvPr/>
        </p:nvSpPr>
        <p:spPr bwMode="auto">
          <a:xfrm rot="-120000">
            <a:off x="1600536" y="3967127"/>
            <a:ext cx="1005840" cy="292907"/>
          </a:xfrm>
          <a:prstGeom prst="roundRect">
            <a:avLst/>
          </a:prstGeom>
          <a:noFill/>
          <a:ln w="28575" algn="ctr">
            <a:solidFill>
              <a:schemeClr val="accent1">
                <a:lumMod val="75000"/>
              </a:schemeClr>
            </a:solidFill>
            <a:round/>
            <a:headEnd/>
            <a:tailEnd/>
          </a:ln>
          <a:effectLst>
            <a:outerShdw blurRad="50800" dist="38100" dir="8100000" algn="tr"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2" name="Rounded Rectangle 21"/>
          <p:cNvSpPr/>
          <p:nvPr/>
        </p:nvSpPr>
        <p:spPr bwMode="auto">
          <a:xfrm rot="21240000">
            <a:off x="5242560" y="5849149"/>
            <a:ext cx="1005840" cy="292907"/>
          </a:xfrm>
          <a:prstGeom prst="roundRect">
            <a:avLst/>
          </a:prstGeom>
          <a:noFill/>
          <a:ln w="28575" algn="ctr">
            <a:solidFill>
              <a:schemeClr val="accent1">
                <a:lumMod val="75000"/>
              </a:schemeClr>
            </a:solidFill>
            <a:round/>
            <a:headEnd/>
            <a:tailEnd/>
          </a:ln>
          <a:effectLst>
            <a:outerShdw blurRad="50800" dist="38100" dir="8100000" algn="tr"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388978346"/>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13"/>
          <p:cNvSpPr txBox="1">
            <a:spLocks noChangeArrowheads="1"/>
          </p:cNvSpPr>
          <p:nvPr/>
        </p:nvSpPr>
        <p:spPr bwMode="auto">
          <a:xfrm>
            <a:off x="2667000" y="914400"/>
            <a:ext cx="3962400" cy="2585323"/>
          </a:xfrm>
          <a:prstGeom prst="rect">
            <a:avLst/>
          </a:prstGeom>
          <a:solidFill>
            <a:schemeClr val="tx1">
              <a:lumMod val="95000"/>
            </a:schemeClr>
          </a:solidFill>
          <a:ln>
            <a:noFill/>
          </a:ln>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marL="285750" indent="-285750">
              <a:spcBef>
                <a:spcPct val="40000"/>
              </a:spcBef>
              <a:buClr>
                <a:srgbClr val="0146AD"/>
              </a:buClr>
              <a:buFont typeface="Arial" pitchFamily="34" charset="0"/>
              <a:buChar char="•"/>
              <a:defRPr/>
            </a:pPr>
            <a:r>
              <a:rPr lang="en-US" sz="1800" b="0" kern="0" dirty="0">
                <a:solidFill>
                  <a:schemeClr val="bg1"/>
                </a:solidFill>
              </a:rPr>
              <a:t>Add new account at time of binding first policy</a:t>
            </a:r>
          </a:p>
          <a:p>
            <a:pPr marL="285750" indent="-285750">
              <a:spcBef>
                <a:spcPct val="40000"/>
              </a:spcBef>
              <a:buClr>
                <a:srgbClr val="0146AD"/>
              </a:buClr>
              <a:buFont typeface="Arial" pitchFamily="34" charset="0"/>
              <a:buChar char="•"/>
              <a:defRPr/>
            </a:pPr>
            <a:r>
              <a:rPr lang="en-US" sz="1800" b="0" kern="0" dirty="0">
                <a:solidFill>
                  <a:schemeClr val="bg1"/>
                </a:solidFill>
              </a:rPr>
              <a:t>Change account holder</a:t>
            </a:r>
          </a:p>
          <a:p>
            <a:pPr marL="285750" indent="-285750">
              <a:spcBef>
                <a:spcPct val="40000"/>
              </a:spcBef>
              <a:buClr>
                <a:srgbClr val="0146AD"/>
              </a:buClr>
              <a:buFont typeface="Arial" pitchFamily="34" charset="0"/>
              <a:buChar char="•"/>
              <a:defRPr/>
            </a:pPr>
            <a:r>
              <a:rPr lang="en-US" sz="1800" b="0" kern="0" dirty="0">
                <a:solidFill>
                  <a:schemeClr val="bg1"/>
                </a:solidFill>
              </a:rPr>
              <a:t>Add a billing contact</a:t>
            </a:r>
          </a:p>
          <a:p>
            <a:pPr marL="285750" indent="-285750">
              <a:spcBef>
                <a:spcPct val="40000"/>
              </a:spcBef>
              <a:buClr>
                <a:srgbClr val="0146AD"/>
              </a:buClr>
              <a:buFont typeface="Arial" pitchFamily="34" charset="0"/>
              <a:buChar char="•"/>
              <a:defRPr/>
            </a:pPr>
            <a:r>
              <a:rPr lang="en-US" sz="1800" b="0" kern="0" dirty="0">
                <a:solidFill>
                  <a:schemeClr val="bg1"/>
                </a:solidFill>
              </a:rPr>
              <a:t>Change billing contact info</a:t>
            </a:r>
          </a:p>
          <a:p>
            <a:pPr marL="285750" indent="-285750">
              <a:spcBef>
                <a:spcPct val="40000"/>
              </a:spcBef>
              <a:buClr>
                <a:srgbClr val="0146AD"/>
              </a:buClr>
              <a:buFont typeface="Arial" pitchFamily="34" charset="0"/>
              <a:buChar char="•"/>
              <a:defRPr/>
            </a:pPr>
            <a:r>
              <a:rPr lang="en-US" sz="1800" b="0" kern="0" dirty="0">
                <a:solidFill>
                  <a:schemeClr val="bg1"/>
                </a:solidFill>
              </a:rPr>
              <a:t>Merge accounts</a:t>
            </a:r>
          </a:p>
          <a:p>
            <a:pPr marL="285750" indent="-285750">
              <a:spcBef>
                <a:spcPct val="40000"/>
              </a:spcBef>
              <a:buClr>
                <a:srgbClr val="0146AD"/>
              </a:buClr>
              <a:buFont typeface="Arial" pitchFamily="34" charset="0"/>
              <a:buChar char="•"/>
              <a:defRPr/>
            </a:pPr>
            <a:r>
              <a:rPr lang="en-US" sz="1800" b="0" kern="0" dirty="0">
                <a:solidFill>
                  <a:schemeClr val="bg1"/>
                </a:solidFill>
              </a:rPr>
              <a:t>Transfer policy to another account</a:t>
            </a:r>
          </a:p>
        </p:txBody>
      </p:sp>
      <p:sp>
        <p:nvSpPr>
          <p:cNvPr id="3" name="Title 2"/>
          <p:cNvSpPr>
            <a:spLocks noGrp="1"/>
          </p:cNvSpPr>
          <p:nvPr>
            <p:ph type="title"/>
          </p:nvPr>
        </p:nvSpPr>
        <p:spPr/>
        <p:txBody>
          <a:bodyPr/>
          <a:lstStyle/>
          <a:p>
            <a:r>
              <a:rPr lang="en-US" dirty="0"/>
              <a:t>PolicyCenter manages accounts</a:t>
            </a:r>
          </a:p>
        </p:txBody>
      </p:sp>
      <p:sp>
        <p:nvSpPr>
          <p:cNvPr id="2" name="Content Placeholder 1"/>
          <p:cNvSpPr>
            <a:spLocks noGrp="1"/>
          </p:cNvSpPr>
          <p:nvPr>
            <p:ph sz="half" idx="1"/>
          </p:nvPr>
        </p:nvSpPr>
        <p:spPr>
          <a:xfrm>
            <a:off x="519113" y="3809999"/>
            <a:ext cx="4083050" cy="2590799"/>
          </a:xfrm>
        </p:spPr>
        <p:txBody>
          <a:bodyPr/>
          <a:lstStyle/>
          <a:p>
            <a:r>
              <a:rPr lang="en-US" dirty="0"/>
              <a:t>PolicyCenter provides default values for a small set of account fields that BillingCenter </a:t>
            </a:r>
            <a:r>
              <a:rPr lang="en-US" dirty="0" smtClean="0"/>
              <a:t>maintains in order to create </a:t>
            </a:r>
            <a:r>
              <a:rPr lang="en-US" dirty="0"/>
              <a:t>new accounts</a:t>
            </a:r>
          </a:p>
          <a:p>
            <a:endParaRPr lang="en-US" dirty="0"/>
          </a:p>
        </p:txBody>
      </p:sp>
      <p:sp>
        <p:nvSpPr>
          <p:cNvPr id="5" name="Content Placeholder 4"/>
          <p:cNvSpPr>
            <a:spLocks noGrp="1"/>
          </p:cNvSpPr>
          <p:nvPr>
            <p:ph sz="half" idx="2"/>
          </p:nvPr>
        </p:nvSpPr>
        <p:spPr>
          <a:xfrm>
            <a:off x="4754563" y="3809999"/>
            <a:ext cx="4083050" cy="2590799"/>
          </a:xfrm>
        </p:spPr>
        <p:txBody>
          <a:bodyPr/>
          <a:lstStyle/>
          <a:p>
            <a:r>
              <a:rPr lang="en-US" dirty="0"/>
              <a:t>BillingCenter is the </a:t>
            </a:r>
            <a:r>
              <a:rPr lang="en-US" dirty="0" err="1"/>
              <a:t>SOR</a:t>
            </a:r>
            <a:r>
              <a:rPr lang="en-US" dirty="0"/>
              <a:t> </a:t>
            </a:r>
            <a:r>
              <a:rPr lang="en-US" dirty="0" smtClean="0"/>
              <a:t/>
            </a:r>
            <a:br>
              <a:rPr lang="en-US" dirty="0" smtClean="0"/>
            </a:br>
            <a:r>
              <a:rPr lang="en-US" dirty="0" smtClean="0"/>
              <a:t>for billing plan and </a:t>
            </a:r>
            <a:br>
              <a:rPr lang="en-US" dirty="0" smtClean="0"/>
            </a:br>
            <a:r>
              <a:rPr lang="en-US" dirty="0" smtClean="0"/>
              <a:t>account-level </a:t>
            </a:r>
            <a:r>
              <a:rPr lang="en-US" dirty="0"/>
              <a:t>settings that control invoicing</a:t>
            </a:r>
          </a:p>
          <a:p>
            <a:endParaRPr lang="en-US" dirty="0"/>
          </a:p>
        </p:txBody>
      </p:sp>
      <p:pic>
        <p:nvPicPr>
          <p:cNvPr id="10" name="Pictur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374010" y="864454"/>
            <a:ext cx="1465190" cy="1421546"/>
          </a:xfrm>
          <a:prstGeom prst="rect">
            <a:avLst/>
          </a:prstGeom>
          <a:effectLst>
            <a:outerShdw blurRad="50800" dist="38100" dir="2700000" algn="tl" rotWithShape="0">
              <a:prstClr val="black">
                <a:alpha val="40000"/>
              </a:prstClr>
            </a:outerShdw>
          </a:effectLst>
        </p:spPr>
      </p:pic>
      <p:pic>
        <p:nvPicPr>
          <p:cNvPr id="11" name="Picture 10"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7296" y="874208"/>
            <a:ext cx="1434015" cy="1390371"/>
          </a:xfrm>
          <a:prstGeom prst="rect">
            <a:avLst/>
          </a:prstGeom>
          <a:effectLst>
            <a:outerShdw blurRad="50800" dist="38100" dir="2700000" algn="tl" rotWithShape="0">
              <a:prstClr val="black">
                <a:alpha val="40000"/>
              </a:prstClr>
            </a:outerShdw>
          </a:effectLst>
        </p:spPr>
      </p:pic>
      <p:sp>
        <p:nvSpPr>
          <p:cNvPr id="9" name="Right Arrow 8"/>
          <p:cNvSpPr/>
          <p:nvPr/>
        </p:nvSpPr>
        <p:spPr bwMode="auto">
          <a:xfrm>
            <a:off x="1911311" y="1259792"/>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2" name="Right Arrow 11"/>
          <p:cNvSpPr/>
          <p:nvPr/>
        </p:nvSpPr>
        <p:spPr bwMode="auto">
          <a:xfrm>
            <a:off x="6700022" y="1343701"/>
            <a:ext cx="651379"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14" name="Group 5"/>
          <p:cNvGrpSpPr>
            <a:grpSpLocks/>
          </p:cNvGrpSpPr>
          <p:nvPr/>
        </p:nvGrpSpPr>
        <p:grpSpPr bwMode="auto">
          <a:xfrm>
            <a:off x="8126413" y="2206625"/>
            <a:ext cx="833437" cy="688975"/>
            <a:chOff x="465" y="602"/>
            <a:chExt cx="798" cy="659"/>
          </a:xfrm>
          <a:effectLst>
            <a:outerShdw blurRad="50800" dist="38100" dir="2700000" algn="tl" rotWithShape="0">
              <a:prstClr val="black">
                <a:alpha val="40000"/>
              </a:prstClr>
            </a:outerShdw>
          </a:effectLst>
        </p:grpSpPr>
        <p:sp>
          <p:nvSpPr>
            <p:cNvPr id="15" name="AutoShape 6"/>
            <p:cNvSpPr>
              <a:spLocks noChangeArrowheads="1"/>
            </p:cNvSpPr>
            <p:nvPr/>
          </p:nvSpPr>
          <p:spPr bwMode="auto">
            <a:xfrm>
              <a:off x="465" y="730"/>
              <a:ext cx="798" cy="531"/>
            </a:xfrm>
            <a:prstGeom prst="cube">
              <a:avLst>
                <a:gd name="adj" fmla="val 18921"/>
              </a:avLst>
            </a:prstGeom>
            <a:solidFill>
              <a:srgbClr val="FFCC99"/>
            </a:solidFill>
            <a:ln w="12700">
              <a:solidFill>
                <a:schemeClr val="bg1"/>
              </a:solidFill>
              <a:miter lim="800000"/>
              <a:headEnd/>
              <a:tailEnd/>
            </a:ln>
          </p:spPr>
          <p:txBody>
            <a:bodyPr wrap="none" anchor="ctr"/>
            <a:lstStyle/>
            <a:p>
              <a:endParaRPr lang="en-US"/>
            </a:p>
          </p:txBody>
        </p:sp>
        <p:sp>
          <p:nvSpPr>
            <p:cNvPr id="16" name="Rectangle 7"/>
            <p:cNvSpPr>
              <a:spLocks noChangeArrowheads="1"/>
            </p:cNvSpPr>
            <p:nvPr/>
          </p:nvSpPr>
          <p:spPr bwMode="auto">
            <a:xfrm>
              <a:off x="696" y="893"/>
              <a:ext cx="230" cy="368"/>
            </a:xfrm>
            <a:prstGeom prst="rect">
              <a:avLst/>
            </a:prstGeom>
            <a:solidFill>
              <a:srgbClr val="CC9900"/>
            </a:solidFill>
            <a:ln w="12700">
              <a:solidFill>
                <a:schemeClr val="bg1"/>
              </a:solidFill>
              <a:miter lim="800000"/>
              <a:headEnd/>
              <a:tailEnd/>
            </a:ln>
          </p:spPr>
          <p:txBody>
            <a:bodyPr wrap="none" anchor="ctr"/>
            <a:lstStyle/>
            <a:p>
              <a:endParaRPr lang="en-US"/>
            </a:p>
          </p:txBody>
        </p:sp>
        <p:sp>
          <p:nvSpPr>
            <p:cNvPr id="17" name="Rectangle 8"/>
            <p:cNvSpPr>
              <a:spLocks noChangeArrowheads="1"/>
            </p:cNvSpPr>
            <p:nvPr/>
          </p:nvSpPr>
          <p:spPr bwMode="auto">
            <a:xfrm>
              <a:off x="514" y="893"/>
              <a:ext cx="116" cy="172"/>
            </a:xfrm>
            <a:prstGeom prst="rect">
              <a:avLst/>
            </a:prstGeom>
            <a:solidFill>
              <a:srgbClr val="00CCFF"/>
            </a:solidFill>
            <a:ln w="12700">
              <a:solidFill>
                <a:schemeClr val="bg1"/>
              </a:solidFill>
              <a:miter lim="800000"/>
              <a:headEnd/>
              <a:tailEnd/>
            </a:ln>
          </p:spPr>
          <p:txBody>
            <a:bodyPr wrap="none" anchor="ctr"/>
            <a:lstStyle/>
            <a:p>
              <a:endParaRPr lang="en-US"/>
            </a:p>
          </p:txBody>
        </p:sp>
        <p:sp>
          <p:nvSpPr>
            <p:cNvPr id="18" name="Rectangle 9"/>
            <p:cNvSpPr>
              <a:spLocks noChangeArrowheads="1"/>
            </p:cNvSpPr>
            <p:nvPr/>
          </p:nvSpPr>
          <p:spPr bwMode="auto">
            <a:xfrm>
              <a:off x="984" y="893"/>
              <a:ext cx="120" cy="172"/>
            </a:xfrm>
            <a:prstGeom prst="rect">
              <a:avLst/>
            </a:prstGeom>
            <a:solidFill>
              <a:srgbClr val="00CCFF"/>
            </a:solidFill>
            <a:ln w="12700" algn="ctr">
              <a:solidFill>
                <a:schemeClr val="bg1"/>
              </a:solidFill>
              <a:miter lim="800000"/>
              <a:headEnd/>
              <a:tailEnd/>
            </a:ln>
          </p:spPr>
          <p:txBody>
            <a:bodyPr wrap="none" anchor="ctr"/>
            <a:lstStyle/>
            <a:p>
              <a:endParaRPr lang="en-US"/>
            </a:p>
          </p:txBody>
        </p:sp>
        <p:sp>
          <p:nvSpPr>
            <p:cNvPr id="19" name="Rectangle 10"/>
            <p:cNvSpPr>
              <a:spLocks noChangeArrowheads="1"/>
            </p:cNvSpPr>
            <p:nvPr/>
          </p:nvSpPr>
          <p:spPr bwMode="auto">
            <a:xfrm>
              <a:off x="869" y="1056"/>
              <a:ext cx="32" cy="76"/>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20" name="Rectangle 11"/>
            <p:cNvSpPr>
              <a:spLocks noChangeArrowheads="1"/>
            </p:cNvSpPr>
            <p:nvPr/>
          </p:nvSpPr>
          <p:spPr bwMode="auto">
            <a:xfrm>
              <a:off x="546" y="602"/>
              <a:ext cx="571" cy="223"/>
            </a:xfrm>
            <a:prstGeom prst="rect">
              <a:avLst/>
            </a:prstGeom>
            <a:solidFill>
              <a:srgbClr val="CC9900"/>
            </a:solidFill>
            <a:ln w="12700" algn="ctr">
              <a:solidFill>
                <a:schemeClr val="bg1"/>
              </a:solidFill>
              <a:miter lim="800000"/>
              <a:headEnd/>
              <a:tailEnd/>
            </a:ln>
          </p:spPr>
          <p:txBody>
            <a:bodyPr wrap="none" anchor="ctr"/>
            <a:lstStyle/>
            <a:p>
              <a:endParaRPr lang="en-US"/>
            </a:p>
          </p:txBody>
        </p:sp>
        <p:sp>
          <p:nvSpPr>
            <p:cNvPr id="21" name="Line 12"/>
            <p:cNvSpPr>
              <a:spLocks noChangeShapeType="1"/>
            </p:cNvSpPr>
            <p:nvPr/>
          </p:nvSpPr>
          <p:spPr bwMode="auto">
            <a:xfrm>
              <a:off x="1112" y="652"/>
              <a:ext cx="94" cy="101"/>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2" name="Line 13"/>
            <p:cNvSpPr>
              <a:spLocks noChangeShapeType="1"/>
            </p:cNvSpPr>
            <p:nvPr/>
          </p:nvSpPr>
          <p:spPr bwMode="auto">
            <a:xfrm>
              <a:off x="1119" y="738"/>
              <a:ext cx="50" cy="52"/>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23" name="Group 14"/>
            <p:cNvGrpSpPr>
              <a:grpSpLocks/>
            </p:cNvGrpSpPr>
            <p:nvPr/>
          </p:nvGrpSpPr>
          <p:grpSpPr bwMode="auto">
            <a:xfrm>
              <a:off x="539" y="644"/>
              <a:ext cx="502" cy="139"/>
              <a:chOff x="3046" y="1026"/>
              <a:chExt cx="502" cy="138"/>
            </a:xfrm>
          </p:grpSpPr>
          <p:sp>
            <p:nvSpPr>
              <p:cNvPr id="24" name="Line 15"/>
              <p:cNvSpPr>
                <a:spLocks noChangeShapeType="1"/>
              </p:cNvSpPr>
              <p:nvPr/>
            </p:nvSpPr>
            <p:spPr bwMode="invGray">
              <a:xfrm>
                <a:off x="3174" y="1026"/>
                <a:ext cx="0" cy="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 name="Line 16"/>
              <p:cNvSpPr>
                <a:spLocks noChangeShapeType="1"/>
              </p:cNvSpPr>
              <p:nvPr/>
            </p:nvSpPr>
            <p:spPr bwMode="invGray">
              <a:xfrm>
                <a:off x="3266" y="1026"/>
                <a:ext cx="0" cy="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6" name="Line 17"/>
              <p:cNvSpPr>
                <a:spLocks noChangeShapeType="1"/>
              </p:cNvSpPr>
              <p:nvPr/>
            </p:nvSpPr>
            <p:spPr bwMode="invGray">
              <a:xfrm>
                <a:off x="3169" y="1092"/>
                <a:ext cx="100"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7" name="Line 18"/>
              <p:cNvSpPr>
                <a:spLocks noChangeShapeType="1"/>
              </p:cNvSpPr>
              <p:nvPr/>
            </p:nvSpPr>
            <p:spPr bwMode="invGray">
              <a:xfrm>
                <a:off x="3464" y="1026"/>
                <a:ext cx="0" cy="138"/>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8" name="Line 19"/>
              <p:cNvSpPr>
                <a:spLocks noChangeShapeType="1"/>
              </p:cNvSpPr>
              <p:nvPr/>
            </p:nvSpPr>
            <p:spPr bwMode="invGray">
              <a:xfrm>
                <a:off x="3462" y="1034"/>
                <a:ext cx="6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9" name="Line 20"/>
              <p:cNvSpPr>
                <a:spLocks noChangeShapeType="1"/>
              </p:cNvSpPr>
              <p:nvPr/>
            </p:nvSpPr>
            <p:spPr bwMode="invGray">
              <a:xfrm>
                <a:off x="3462" y="1100"/>
                <a:ext cx="63" cy="0"/>
              </a:xfrm>
              <a:prstGeom prst="line">
                <a:avLst/>
              </a:prstGeom>
              <a:noFill/>
              <a:ln w="28575">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0" name="Oval 21"/>
              <p:cNvSpPr>
                <a:spLocks noChangeArrowheads="1"/>
              </p:cNvSpPr>
              <p:nvPr/>
            </p:nvSpPr>
            <p:spPr bwMode="invGray">
              <a:xfrm>
                <a:off x="3306" y="1032"/>
                <a:ext cx="117" cy="125"/>
              </a:xfrm>
              <a:prstGeom prst="ellipse">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1" name="Freeform 22"/>
              <p:cNvSpPr>
                <a:spLocks/>
              </p:cNvSpPr>
              <p:nvPr/>
            </p:nvSpPr>
            <p:spPr bwMode="invGray">
              <a:xfrm>
                <a:off x="3521" y="1034"/>
                <a:ext cx="27" cy="39"/>
              </a:xfrm>
              <a:custGeom>
                <a:avLst/>
                <a:gdLst>
                  <a:gd name="T0" fmla="*/ 0 w 27"/>
                  <a:gd name="T1" fmla="*/ 0 h 39"/>
                  <a:gd name="T2" fmla="*/ 18 w 27"/>
                  <a:gd name="T3" fmla="*/ 6 h 39"/>
                  <a:gd name="T4" fmla="*/ 25 w 27"/>
                  <a:gd name="T5" fmla="*/ 21 h 39"/>
                  <a:gd name="T6" fmla="*/ 27 w 27"/>
                  <a:gd name="T7" fmla="*/ 39 h 39"/>
                  <a:gd name="T8" fmla="*/ 0 60000 65536"/>
                  <a:gd name="T9" fmla="*/ 0 60000 65536"/>
                  <a:gd name="T10" fmla="*/ 0 60000 65536"/>
                  <a:gd name="T11" fmla="*/ 0 60000 65536"/>
                  <a:gd name="T12" fmla="*/ 0 w 27"/>
                  <a:gd name="T13" fmla="*/ 0 h 39"/>
                  <a:gd name="T14" fmla="*/ 27 w 27"/>
                  <a:gd name="T15" fmla="*/ 39 h 39"/>
                </a:gdLst>
                <a:ahLst/>
                <a:cxnLst>
                  <a:cxn ang="T8">
                    <a:pos x="T0" y="T1"/>
                  </a:cxn>
                  <a:cxn ang="T9">
                    <a:pos x="T2" y="T3"/>
                  </a:cxn>
                  <a:cxn ang="T10">
                    <a:pos x="T4" y="T5"/>
                  </a:cxn>
                  <a:cxn ang="T11">
                    <a:pos x="T6" y="T7"/>
                  </a:cxn>
                </a:cxnLst>
                <a:rect l="T12" t="T13" r="T14" b="T15"/>
                <a:pathLst>
                  <a:path w="27" h="39">
                    <a:moveTo>
                      <a:pt x="0" y="0"/>
                    </a:moveTo>
                    <a:cubicBezTo>
                      <a:pt x="7" y="1"/>
                      <a:pt x="14" y="3"/>
                      <a:pt x="18" y="6"/>
                    </a:cubicBezTo>
                    <a:cubicBezTo>
                      <a:pt x="22" y="9"/>
                      <a:pt x="24" y="16"/>
                      <a:pt x="25" y="21"/>
                    </a:cubicBezTo>
                    <a:cubicBezTo>
                      <a:pt x="26" y="26"/>
                      <a:pt x="26" y="32"/>
                      <a:pt x="27" y="39"/>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2" name="Freeform 23"/>
              <p:cNvSpPr>
                <a:spLocks/>
              </p:cNvSpPr>
              <p:nvPr/>
            </p:nvSpPr>
            <p:spPr bwMode="invGray">
              <a:xfrm flipV="1">
                <a:off x="3520" y="1061"/>
                <a:ext cx="27" cy="39"/>
              </a:xfrm>
              <a:custGeom>
                <a:avLst/>
                <a:gdLst>
                  <a:gd name="T0" fmla="*/ 0 w 27"/>
                  <a:gd name="T1" fmla="*/ 0 h 39"/>
                  <a:gd name="T2" fmla="*/ 18 w 27"/>
                  <a:gd name="T3" fmla="*/ 6 h 39"/>
                  <a:gd name="T4" fmla="*/ 25 w 27"/>
                  <a:gd name="T5" fmla="*/ 21 h 39"/>
                  <a:gd name="T6" fmla="*/ 27 w 27"/>
                  <a:gd name="T7" fmla="*/ 39 h 39"/>
                  <a:gd name="T8" fmla="*/ 0 60000 65536"/>
                  <a:gd name="T9" fmla="*/ 0 60000 65536"/>
                  <a:gd name="T10" fmla="*/ 0 60000 65536"/>
                  <a:gd name="T11" fmla="*/ 0 60000 65536"/>
                  <a:gd name="T12" fmla="*/ 0 w 27"/>
                  <a:gd name="T13" fmla="*/ 0 h 39"/>
                  <a:gd name="T14" fmla="*/ 27 w 27"/>
                  <a:gd name="T15" fmla="*/ 39 h 39"/>
                </a:gdLst>
                <a:ahLst/>
                <a:cxnLst>
                  <a:cxn ang="T8">
                    <a:pos x="T0" y="T1"/>
                  </a:cxn>
                  <a:cxn ang="T9">
                    <a:pos x="T2" y="T3"/>
                  </a:cxn>
                  <a:cxn ang="T10">
                    <a:pos x="T4" y="T5"/>
                  </a:cxn>
                  <a:cxn ang="T11">
                    <a:pos x="T6" y="T7"/>
                  </a:cxn>
                </a:cxnLst>
                <a:rect l="T12" t="T13" r="T14" b="T15"/>
                <a:pathLst>
                  <a:path w="27" h="39">
                    <a:moveTo>
                      <a:pt x="0" y="0"/>
                    </a:moveTo>
                    <a:cubicBezTo>
                      <a:pt x="7" y="1"/>
                      <a:pt x="14" y="3"/>
                      <a:pt x="18" y="6"/>
                    </a:cubicBezTo>
                    <a:cubicBezTo>
                      <a:pt x="22" y="9"/>
                      <a:pt x="24" y="16"/>
                      <a:pt x="25" y="21"/>
                    </a:cubicBezTo>
                    <a:cubicBezTo>
                      <a:pt x="26" y="26"/>
                      <a:pt x="26" y="32"/>
                      <a:pt x="27" y="39"/>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3" name="Freeform 24"/>
              <p:cNvSpPr>
                <a:spLocks/>
              </p:cNvSpPr>
              <p:nvPr/>
            </p:nvSpPr>
            <p:spPr bwMode="invGray">
              <a:xfrm>
                <a:off x="3046" y="1032"/>
                <a:ext cx="83" cy="68"/>
              </a:xfrm>
              <a:custGeom>
                <a:avLst/>
                <a:gdLst>
                  <a:gd name="T0" fmla="*/ 83 w 83"/>
                  <a:gd name="T1" fmla="*/ 30 h 68"/>
                  <a:gd name="T2" fmla="*/ 76 w 83"/>
                  <a:gd name="T3" fmla="*/ 12 h 68"/>
                  <a:gd name="T4" fmla="*/ 55 w 83"/>
                  <a:gd name="T5" fmla="*/ 2 h 68"/>
                  <a:gd name="T6" fmla="*/ 44 w 83"/>
                  <a:gd name="T7" fmla="*/ 0 h 68"/>
                  <a:gd name="T8" fmla="*/ 20 w 83"/>
                  <a:gd name="T9" fmla="*/ 3 h 68"/>
                  <a:gd name="T10" fmla="*/ 5 w 83"/>
                  <a:gd name="T11" fmla="*/ 14 h 68"/>
                  <a:gd name="T12" fmla="*/ 1 w 83"/>
                  <a:gd name="T13" fmla="*/ 33 h 68"/>
                  <a:gd name="T14" fmla="*/ 8 w 83"/>
                  <a:gd name="T15" fmla="*/ 50 h 68"/>
                  <a:gd name="T16" fmla="*/ 34 w 83"/>
                  <a:gd name="T17" fmla="*/ 59 h 68"/>
                  <a:gd name="T18" fmla="*/ 58 w 83"/>
                  <a:gd name="T19" fmla="*/ 63 h 68"/>
                  <a:gd name="T20" fmla="*/ 67 w 83"/>
                  <a:gd name="T21" fmla="*/ 68 h 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3"/>
                  <a:gd name="T34" fmla="*/ 0 h 68"/>
                  <a:gd name="T35" fmla="*/ 83 w 83"/>
                  <a:gd name="T36" fmla="*/ 68 h 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3" h="68">
                    <a:moveTo>
                      <a:pt x="83" y="30"/>
                    </a:moveTo>
                    <a:cubicBezTo>
                      <a:pt x="82" y="23"/>
                      <a:pt x="81" y="17"/>
                      <a:pt x="76" y="12"/>
                    </a:cubicBezTo>
                    <a:cubicBezTo>
                      <a:pt x="71" y="7"/>
                      <a:pt x="60" y="4"/>
                      <a:pt x="55" y="2"/>
                    </a:cubicBezTo>
                    <a:cubicBezTo>
                      <a:pt x="50" y="0"/>
                      <a:pt x="50" y="0"/>
                      <a:pt x="44" y="0"/>
                    </a:cubicBezTo>
                    <a:cubicBezTo>
                      <a:pt x="38" y="0"/>
                      <a:pt x="26" y="1"/>
                      <a:pt x="20" y="3"/>
                    </a:cubicBezTo>
                    <a:cubicBezTo>
                      <a:pt x="14" y="5"/>
                      <a:pt x="8" y="9"/>
                      <a:pt x="5" y="14"/>
                    </a:cubicBezTo>
                    <a:cubicBezTo>
                      <a:pt x="2" y="19"/>
                      <a:pt x="0" y="27"/>
                      <a:pt x="1" y="33"/>
                    </a:cubicBezTo>
                    <a:cubicBezTo>
                      <a:pt x="2" y="39"/>
                      <a:pt x="2" y="46"/>
                      <a:pt x="8" y="50"/>
                    </a:cubicBezTo>
                    <a:cubicBezTo>
                      <a:pt x="14" y="54"/>
                      <a:pt x="26" y="57"/>
                      <a:pt x="34" y="59"/>
                    </a:cubicBezTo>
                    <a:cubicBezTo>
                      <a:pt x="42" y="61"/>
                      <a:pt x="53" y="62"/>
                      <a:pt x="58" y="63"/>
                    </a:cubicBezTo>
                    <a:cubicBezTo>
                      <a:pt x="63" y="64"/>
                      <a:pt x="65" y="66"/>
                      <a:pt x="67" y="68"/>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34" name="Freeform 25"/>
              <p:cNvSpPr>
                <a:spLocks/>
              </p:cNvSpPr>
              <p:nvPr/>
            </p:nvSpPr>
            <p:spPr bwMode="invGray">
              <a:xfrm>
                <a:off x="3047" y="1086"/>
                <a:ext cx="83" cy="68"/>
              </a:xfrm>
              <a:custGeom>
                <a:avLst/>
                <a:gdLst>
                  <a:gd name="T0" fmla="*/ 0 w 83"/>
                  <a:gd name="T1" fmla="*/ 38 h 68"/>
                  <a:gd name="T2" fmla="*/ 7 w 83"/>
                  <a:gd name="T3" fmla="*/ 56 h 68"/>
                  <a:gd name="T4" fmla="*/ 28 w 83"/>
                  <a:gd name="T5" fmla="*/ 66 h 68"/>
                  <a:gd name="T6" fmla="*/ 39 w 83"/>
                  <a:gd name="T7" fmla="*/ 68 h 68"/>
                  <a:gd name="T8" fmla="*/ 63 w 83"/>
                  <a:gd name="T9" fmla="*/ 65 h 68"/>
                  <a:gd name="T10" fmla="*/ 78 w 83"/>
                  <a:gd name="T11" fmla="*/ 54 h 68"/>
                  <a:gd name="T12" fmla="*/ 82 w 83"/>
                  <a:gd name="T13" fmla="*/ 35 h 68"/>
                  <a:gd name="T14" fmla="*/ 75 w 83"/>
                  <a:gd name="T15" fmla="*/ 18 h 68"/>
                  <a:gd name="T16" fmla="*/ 48 w 83"/>
                  <a:gd name="T17" fmla="*/ 11 h 68"/>
                  <a:gd name="T18" fmla="*/ 25 w 83"/>
                  <a:gd name="T19" fmla="*/ 5 h 68"/>
                  <a:gd name="T20" fmla="*/ 16 w 83"/>
                  <a:gd name="T21" fmla="*/ 0 h 68"/>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3"/>
                  <a:gd name="T34" fmla="*/ 0 h 68"/>
                  <a:gd name="T35" fmla="*/ 83 w 83"/>
                  <a:gd name="T36" fmla="*/ 68 h 68"/>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3" h="68">
                    <a:moveTo>
                      <a:pt x="0" y="38"/>
                    </a:moveTo>
                    <a:cubicBezTo>
                      <a:pt x="1" y="45"/>
                      <a:pt x="2" y="51"/>
                      <a:pt x="7" y="56"/>
                    </a:cubicBezTo>
                    <a:cubicBezTo>
                      <a:pt x="12" y="61"/>
                      <a:pt x="23" y="64"/>
                      <a:pt x="28" y="66"/>
                    </a:cubicBezTo>
                    <a:cubicBezTo>
                      <a:pt x="33" y="68"/>
                      <a:pt x="33" y="68"/>
                      <a:pt x="39" y="68"/>
                    </a:cubicBezTo>
                    <a:cubicBezTo>
                      <a:pt x="45" y="68"/>
                      <a:pt x="57" y="67"/>
                      <a:pt x="63" y="65"/>
                    </a:cubicBezTo>
                    <a:cubicBezTo>
                      <a:pt x="69" y="63"/>
                      <a:pt x="75" y="59"/>
                      <a:pt x="78" y="54"/>
                    </a:cubicBezTo>
                    <a:cubicBezTo>
                      <a:pt x="81" y="49"/>
                      <a:pt x="83" y="41"/>
                      <a:pt x="82" y="35"/>
                    </a:cubicBezTo>
                    <a:cubicBezTo>
                      <a:pt x="81" y="29"/>
                      <a:pt x="81" y="22"/>
                      <a:pt x="75" y="18"/>
                    </a:cubicBezTo>
                    <a:cubicBezTo>
                      <a:pt x="69" y="14"/>
                      <a:pt x="56" y="13"/>
                      <a:pt x="48" y="11"/>
                    </a:cubicBezTo>
                    <a:cubicBezTo>
                      <a:pt x="40" y="9"/>
                      <a:pt x="30" y="7"/>
                      <a:pt x="25" y="5"/>
                    </a:cubicBezTo>
                    <a:cubicBezTo>
                      <a:pt x="20" y="3"/>
                      <a:pt x="18" y="2"/>
                      <a:pt x="16" y="0"/>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Tree>
    <p:extLst>
      <p:ext uri="{BB962C8B-B14F-4D97-AF65-F5344CB8AC3E}">
        <p14:creationId xmlns:p14="http://schemas.microsoft.com/office/powerpoint/2010/main" val="87011344"/>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5000" contrast="5000"/>
                    </a14:imgEffect>
                  </a14:imgLayer>
                </a14:imgProps>
              </a:ext>
              <a:ext uri="{28A0092B-C50C-407E-A947-70E740481C1C}">
                <a14:useLocalDpi xmlns:a14="http://schemas.microsoft.com/office/drawing/2010/main" val="0"/>
              </a:ext>
            </a:extLst>
          </a:blip>
          <a:srcRect/>
          <a:stretch>
            <a:fillRect/>
          </a:stretch>
        </p:blipFill>
        <p:spPr bwMode="auto">
          <a:xfrm>
            <a:off x="685800" y="1371600"/>
            <a:ext cx="3705225" cy="218122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Title 4"/>
          <p:cNvSpPr>
            <a:spLocks noGrp="1"/>
          </p:cNvSpPr>
          <p:nvPr>
            <p:ph type="title"/>
          </p:nvPr>
        </p:nvSpPr>
        <p:spPr/>
        <p:txBody>
          <a:bodyPr/>
          <a:lstStyle/>
          <a:p>
            <a:r>
              <a:rPr lang="en-US" dirty="0" smtClean="0"/>
              <a:t>PC job binding sends new accounts to BC</a:t>
            </a:r>
            <a:endParaRPr lang="en-US" dirty="0"/>
          </a:p>
        </p:txBody>
      </p:sp>
      <p:sp>
        <p:nvSpPr>
          <p:cNvPr id="6" name="Content Placeholder 5"/>
          <p:cNvSpPr>
            <a:spLocks noGrp="1"/>
          </p:cNvSpPr>
          <p:nvPr>
            <p:ph idx="1"/>
          </p:nvPr>
        </p:nvSpPr>
        <p:spPr>
          <a:xfrm>
            <a:off x="519113" y="3810000"/>
            <a:ext cx="8318500" cy="2590800"/>
          </a:xfrm>
        </p:spPr>
        <p:txBody>
          <a:bodyPr/>
          <a:lstStyle/>
          <a:p>
            <a:r>
              <a:rPr lang="en-US" dirty="0" smtClean="0"/>
              <a:t>Mechanism</a:t>
            </a:r>
            <a:br>
              <a:rPr lang="en-US" dirty="0" smtClean="0"/>
            </a:br>
            <a:r>
              <a:rPr lang="en-US" dirty="0" smtClean="0"/>
              <a:t>that sends </a:t>
            </a:r>
            <a:br>
              <a:rPr lang="en-US" dirty="0" smtClean="0"/>
            </a:br>
            <a:r>
              <a:rPr lang="en-US" dirty="0" smtClean="0"/>
              <a:t>billing instructions </a:t>
            </a:r>
            <a:br>
              <a:rPr lang="en-US" dirty="0" smtClean="0"/>
            </a:br>
            <a:r>
              <a:rPr lang="en-US" dirty="0" smtClean="0"/>
              <a:t>manages </a:t>
            </a:r>
            <a:br>
              <a:rPr lang="en-US" dirty="0" smtClean="0"/>
            </a:br>
            <a:r>
              <a:rPr lang="en-US" dirty="0" smtClean="0"/>
              <a:t>new account </a:t>
            </a:r>
            <a:r>
              <a:rPr lang="en-US" dirty="0"/>
              <a:t/>
            </a:r>
            <a:br>
              <a:rPr lang="en-US" dirty="0"/>
            </a:br>
            <a:r>
              <a:rPr lang="en-US" dirty="0"/>
              <a:t>and producer </a:t>
            </a:r>
            <a:r>
              <a:rPr lang="en-US" dirty="0" smtClean="0"/>
              <a:t>data</a:t>
            </a:r>
            <a:endParaRPr lang="en-US" dirty="0"/>
          </a:p>
          <a:p>
            <a:endParaRPr lang="en-US" dirty="0"/>
          </a:p>
        </p:txBody>
      </p:sp>
      <p:pic>
        <p:nvPicPr>
          <p:cNvPr id="3075" name="Picture 3"/>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3682204" y="1114425"/>
            <a:ext cx="6551613" cy="4524375"/>
          </a:xfrm>
          <a:prstGeom prst="rect">
            <a:avLst/>
          </a:prstGeom>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82204" y="892200"/>
            <a:ext cx="565485" cy="548640"/>
          </a:xfrm>
          <a:prstGeom prst="rect">
            <a:avLst/>
          </a:prstGeom>
          <a:effectLst>
            <a:outerShdw blurRad="50800" dist="38100" dir="2700000" algn="tl" rotWithShape="0">
              <a:prstClr val="black">
                <a:alpha val="40000"/>
              </a:prstClr>
            </a:outerShdw>
          </a:effectLst>
        </p:spPr>
      </p:pic>
      <p:pic>
        <p:nvPicPr>
          <p:cNvPr id="8" name="Picture 7" descr="PolicyCenter.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79069" y="888882"/>
            <a:ext cx="565862" cy="548640"/>
          </a:xfrm>
          <a:prstGeom prst="rect">
            <a:avLst/>
          </a:prstGeom>
          <a:effectLst>
            <a:outerShdw blurRad="50800" dist="38100" dir="2700000" algn="tl" rotWithShape="0">
              <a:prstClr val="black">
                <a:alpha val="40000"/>
              </a:prstClr>
            </a:outerShdw>
          </a:effectLst>
        </p:spPr>
      </p:pic>
      <p:sp>
        <p:nvSpPr>
          <p:cNvPr id="9" name="Rounded Rectangle 8"/>
          <p:cNvSpPr/>
          <p:nvPr/>
        </p:nvSpPr>
        <p:spPr bwMode="auto">
          <a:xfrm rot="-120000">
            <a:off x="4229876" y="5825734"/>
            <a:ext cx="1338773" cy="292907"/>
          </a:xfrm>
          <a:prstGeom prst="roundRect">
            <a:avLst/>
          </a:prstGeom>
          <a:noFill/>
          <a:ln w="28575" algn="ctr">
            <a:solidFill>
              <a:schemeClr val="accent1">
                <a:lumMod val="75000"/>
              </a:schemeClr>
            </a:solidFill>
            <a:round/>
            <a:headEnd/>
            <a:tailEnd/>
          </a:ln>
          <a:effectLst>
            <a:outerShdw blurRad="50800" dist="38100" dir="8100000" algn="tr"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0" name="Rounded Rectangle 9"/>
          <p:cNvSpPr/>
          <p:nvPr/>
        </p:nvSpPr>
        <p:spPr bwMode="auto">
          <a:xfrm>
            <a:off x="2466619" y="2327516"/>
            <a:ext cx="957022" cy="231291"/>
          </a:xfrm>
          <a:prstGeom prst="roundRect">
            <a:avLst/>
          </a:prstGeom>
          <a:noFill/>
          <a:ln w="28575" algn="ctr">
            <a:solidFill>
              <a:schemeClr val="accent1">
                <a:lumMod val="75000"/>
              </a:schemeClr>
            </a:solidFill>
            <a:round/>
            <a:headEnd/>
            <a:tailEnd/>
          </a:ln>
          <a:effectLst>
            <a:outerShdw blurRad="50800" dist="38100" dir="8100000" algn="tr"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1" name="Rounded Rectangle 10"/>
          <p:cNvSpPr/>
          <p:nvPr/>
        </p:nvSpPr>
        <p:spPr bwMode="auto">
          <a:xfrm rot="120000">
            <a:off x="5257800" y="2279337"/>
            <a:ext cx="1338773" cy="292907"/>
          </a:xfrm>
          <a:prstGeom prst="roundRect">
            <a:avLst/>
          </a:prstGeom>
          <a:noFill/>
          <a:ln w="28575" algn="ctr">
            <a:solidFill>
              <a:schemeClr val="accent1">
                <a:lumMod val="75000"/>
              </a:schemeClr>
            </a:solidFill>
            <a:round/>
            <a:headEnd/>
            <a:tailEnd/>
          </a:ln>
          <a:effectLst>
            <a:outerShdw blurRad="50800" dist="38100" dir="8100000" algn="tr"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2" name="Right Arrow 11"/>
          <p:cNvSpPr/>
          <p:nvPr/>
        </p:nvSpPr>
        <p:spPr bwMode="auto">
          <a:xfrm rot="1800000">
            <a:off x="3429811" y="3387162"/>
            <a:ext cx="888638"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91077555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PC/BC integration</a:t>
            </a:r>
          </a:p>
          <a:p>
            <a:r>
              <a:rPr lang="en-US" dirty="0"/>
              <a:t>Account and producer processing</a:t>
            </a:r>
          </a:p>
          <a:p>
            <a:r>
              <a:rPr lang="en-US" dirty="0">
                <a:solidFill>
                  <a:schemeClr val="bg1"/>
                </a:solidFill>
              </a:rPr>
              <a:t>Billing instructions</a:t>
            </a:r>
          </a:p>
          <a:p>
            <a:r>
              <a:rPr lang="en-US" dirty="0"/>
              <a:t>Billing status</a:t>
            </a:r>
          </a:p>
          <a:p>
            <a:r>
              <a:rPr lang="en-US" dirty="0"/>
              <a:t>Late payment cancellation</a:t>
            </a:r>
          </a:p>
          <a:p>
            <a:endParaRPr lang="en-US" dirty="0"/>
          </a:p>
        </p:txBody>
      </p:sp>
    </p:spTree>
    <p:extLst>
      <p:ext uri="{BB962C8B-B14F-4D97-AF65-F5344CB8AC3E}">
        <p14:creationId xmlns:p14="http://schemas.microsoft.com/office/powerpoint/2010/main" val="1000774996"/>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bwMode="auto">
          <a:xfrm>
            <a:off x="6324600" y="1371600"/>
            <a:ext cx="2560320" cy="5105400"/>
          </a:xfrm>
          <a:prstGeom prst="roundRect">
            <a:avLst>
              <a:gd name="adj" fmla="val 5270"/>
            </a:avLst>
          </a:prstGeom>
          <a:solidFill>
            <a:schemeClr val="accent4">
              <a:lumMod val="60000"/>
              <a:lumOff val="4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0" name="Rounded Rectangle 39"/>
          <p:cNvSpPr/>
          <p:nvPr/>
        </p:nvSpPr>
        <p:spPr bwMode="auto">
          <a:xfrm>
            <a:off x="6418762" y="4759780"/>
            <a:ext cx="2377440" cy="1600200"/>
          </a:xfrm>
          <a:prstGeom prst="roundRect">
            <a:avLst>
              <a:gd name="adj" fmla="val 4734"/>
            </a:avLst>
          </a:prstGeom>
          <a:solidFill>
            <a:schemeClr val="accent4">
              <a:lumMod val="20000"/>
              <a:lumOff val="8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7" name="Rounded Rectangle 6"/>
          <p:cNvSpPr/>
          <p:nvPr/>
        </p:nvSpPr>
        <p:spPr bwMode="auto">
          <a:xfrm>
            <a:off x="533400" y="1371600"/>
            <a:ext cx="3200400" cy="5105400"/>
          </a:xfrm>
          <a:prstGeom prst="roundRect">
            <a:avLst>
              <a:gd name="adj" fmla="val 5270"/>
            </a:avLst>
          </a:prstGeom>
          <a:solidFill>
            <a:schemeClr val="accent3">
              <a:lumMod val="60000"/>
              <a:lumOff val="4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9" name="Rounded Rectangle 38"/>
          <p:cNvSpPr/>
          <p:nvPr/>
        </p:nvSpPr>
        <p:spPr bwMode="auto">
          <a:xfrm>
            <a:off x="609600" y="2596006"/>
            <a:ext cx="3048000" cy="1577750"/>
          </a:xfrm>
          <a:prstGeom prst="roundRect">
            <a:avLst>
              <a:gd name="adj" fmla="val 4734"/>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4" name="Title 3"/>
          <p:cNvSpPr>
            <a:spLocks noGrp="1"/>
          </p:cNvSpPr>
          <p:nvPr>
            <p:ph type="title"/>
          </p:nvPr>
        </p:nvSpPr>
        <p:spPr/>
        <p:txBody>
          <a:bodyPr/>
          <a:lstStyle/>
          <a:p>
            <a:r>
              <a:rPr lang="en-US" smtClean="0"/>
              <a:t>Billing instructions</a:t>
            </a:r>
            <a:endParaRPr lang="en-US" dirty="0"/>
          </a:p>
        </p:txBody>
      </p:sp>
      <p:sp>
        <p:nvSpPr>
          <p:cNvPr id="11" name="Right Arrow 10"/>
          <p:cNvSpPr/>
          <p:nvPr/>
        </p:nvSpPr>
        <p:spPr bwMode="auto">
          <a:xfrm>
            <a:off x="3657600" y="1752600"/>
            <a:ext cx="54864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2" name="Left Arrow 11"/>
          <p:cNvSpPr/>
          <p:nvPr/>
        </p:nvSpPr>
        <p:spPr bwMode="auto">
          <a:xfrm>
            <a:off x="5814060" y="3886200"/>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6" name="Rounded Rectangle 15"/>
          <p:cNvSpPr/>
          <p:nvPr/>
        </p:nvSpPr>
        <p:spPr bwMode="auto">
          <a:xfrm>
            <a:off x="762000" y="1714500"/>
            <a:ext cx="283464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User quotes</a:t>
            </a:r>
            <a:endParaRPr lang="en-US" dirty="0">
              <a:solidFill>
                <a:schemeClr val="bg1"/>
              </a:solidFill>
            </a:endParaRPr>
          </a:p>
        </p:txBody>
      </p:sp>
      <p:sp>
        <p:nvSpPr>
          <p:cNvPr id="18" name="Rounded Rectangle 17"/>
          <p:cNvSpPr/>
          <p:nvPr/>
        </p:nvSpPr>
        <p:spPr bwMode="auto">
          <a:xfrm>
            <a:off x="723900" y="4484360"/>
            <a:ext cx="283464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User issues </a:t>
            </a:r>
            <a:r>
              <a:rPr lang="en-US" dirty="0" smtClean="0">
                <a:solidFill>
                  <a:schemeClr val="bg1"/>
                </a:solidFill>
              </a:rPr>
              <a:t>policy</a:t>
            </a:r>
            <a:endParaRPr lang="en-US" dirty="0">
              <a:solidFill>
                <a:schemeClr val="bg1"/>
              </a:solidFill>
            </a:endParaRPr>
          </a:p>
        </p:txBody>
      </p:sp>
      <p:sp>
        <p:nvSpPr>
          <p:cNvPr id="20" name="Rounded Rectangle 19"/>
          <p:cNvSpPr/>
          <p:nvPr/>
        </p:nvSpPr>
        <p:spPr bwMode="auto">
          <a:xfrm>
            <a:off x="6515100" y="2190751"/>
            <a:ext cx="2103120" cy="64008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Perform plan </a:t>
            </a:r>
            <a:br>
              <a:rPr lang="en-US" dirty="0" smtClean="0">
                <a:solidFill>
                  <a:schemeClr val="bg1"/>
                </a:solidFill>
              </a:rPr>
            </a:br>
            <a:r>
              <a:rPr lang="en-US" dirty="0" smtClean="0">
                <a:solidFill>
                  <a:schemeClr val="bg1"/>
                </a:solidFill>
              </a:rPr>
              <a:t>lookup</a:t>
            </a:r>
            <a:endParaRPr lang="en-US" dirty="0">
              <a:solidFill>
                <a:schemeClr val="bg1"/>
              </a:solidFill>
            </a:endParaRPr>
          </a:p>
        </p:txBody>
      </p:sp>
      <p:sp>
        <p:nvSpPr>
          <p:cNvPr id="21" name="Rounded Rectangle 20"/>
          <p:cNvSpPr/>
          <p:nvPr/>
        </p:nvSpPr>
        <p:spPr bwMode="auto">
          <a:xfrm>
            <a:off x="6515100" y="3802062"/>
            <a:ext cx="2103120" cy="64008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Calculate payment </a:t>
            </a:r>
            <a:br>
              <a:rPr lang="en-US" dirty="0" smtClean="0">
                <a:solidFill>
                  <a:schemeClr val="bg1"/>
                </a:solidFill>
              </a:rPr>
            </a:br>
            <a:r>
              <a:rPr lang="en-US" dirty="0" smtClean="0">
                <a:solidFill>
                  <a:schemeClr val="bg1"/>
                </a:solidFill>
              </a:rPr>
              <a:t>schedule</a:t>
            </a:r>
            <a:endParaRPr lang="en-US" dirty="0">
              <a:solidFill>
                <a:schemeClr val="bg1"/>
              </a:solidFill>
            </a:endParaRPr>
          </a:p>
        </p:txBody>
      </p:sp>
      <p:sp>
        <p:nvSpPr>
          <p:cNvPr id="23" name="Right Arrow 22"/>
          <p:cNvSpPr/>
          <p:nvPr/>
        </p:nvSpPr>
        <p:spPr bwMode="auto">
          <a:xfrm>
            <a:off x="3657600" y="3129185"/>
            <a:ext cx="54864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5" name="Left Arrow 24"/>
          <p:cNvSpPr/>
          <p:nvPr/>
        </p:nvSpPr>
        <p:spPr bwMode="auto">
          <a:xfrm>
            <a:off x="5814060" y="2228509"/>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9" name="Rounded Rectangle 28"/>
          <p:cNvSpPr/>
          <p:nvPr/>
        </p:nvSpPr>
        <p:spPr bwMode="auto">
          <a:xfrm>
            <a:off x="6507480" y="4835980"/>
            <a:ext cx="2103120" cy="36576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Create account </a:t>
            </a:r>
            <a:endParaRPr lang="en-US" dirty="0">
              <a:solidFill>
                <a:schemeClr val="bg1"/>
              </a:solidFill>
            </a:endParaRPr>
          </a:p>
        </p:txBody>
      </p:sp>
      <p:sp>
        <p:nvSpPr>
          <p:cNvPr id="32" name="Rounded Rectangle 31"/>
          <p:cNvSpPr/>
          <p:nvPr/>
        </p:nvSpPr>
        <p:spPr bwMode="auto">
          <a:xfrm>
            <a:off x="6509658" y="5597980"/>
            <a:ext cx="2103120" cy="64008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Create policy / </a:t>
            </a:r>
            <a:br>
              <a:rPr lang="en-US" dirty="0" smtClean="0">
                <a:solidFill>
                  <a:schemeClr val="bg1"/>
                </a:solidFill>
              </a:rPr>
            </a:br>
            <a:r>
              <a:rPr lang="en-US" dirty="0" smtClean="0">
                <a:solidFill>
                  <a:schemeClr val="bg1"/>
                </a:solidFill>
              </a:rPr>
              <a:t>policy period</a:t>
            </a:r>
            <a:endParaRPr lang="en-US" dirty="0">
              <a:solidFill>
                <a:schemeClr val="bg1"/>
              </a:solidFill>
            </a:endParaRPr>
          </a:p>
        </p:txBody>
      </p:sp>
      <p:sp>
        <p:nvSpPr>
          <p:cNvPr id="34" name="Rounded Rectangle 33"/>
          <p:cNvSpPr/>
          <p:nvPr/>
        </p:nvSpPr>
        <p:spPr bwMode="auto">
          <a:xfrm>
            <a:off x="734786" y="3459162"/>
            <a:ext cx="283464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User requests </a:t>
            </a:r>
            <a:r>
              <a:rPr lang="en-US" dirty="0" smtClean="0">
                <a:solidFill>
                  <a:schemeClr val="bg1"/>
                </a:solidFill>
              </a:rPr>
              <a:t>payment </a:t>
            </a:r>
            <a:br>
              <a:rPr lang="en-US" dirty="0" smtClean="0">
                <a:solidFill>
                  <a:schemeClr val="bg1"/>
                </a:solidFill>
              </a:rPr>
            </a:br>
            <a:r>
              <a:rPr lang="en-US" dirty="0" smtClean="0">
                <a:solidFill>
                  <a:schemeClr val="bg1"/>
                </a:solidFill>
              </a:rPr>
              <a:t>schedule preview</a:t>
            </a:r>
            <a:endParaRPr lang="en-US" dirty="0">
              <a:solidFill>
                <a:schemeClr val="bg1"/>
              </a:solidFill>
            </a:endParaRPr>
          </a:p>
        </p:txBody>
      </p:sp>
      <p:sp>
        <p:nvSpPr>
          <p:cNvPr id="35" name="Rounded Rectangle 34"/>
          <p:cNvSpPr/>
          <p:nvPr/>
        </p:nvSpPr>
        <p:spPr bwMode="auto">
          <a:xfrm>
            <a:off x="723900" y="2679085"/>
            <a:ext cx="283464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User selects plan</a:t>
            </a:r>
            <a:endParaRPr lang="en-US" dirty="0">
              <a:solidFill>
                <a:schemeClr val="bg1"/>
              </a:solidFill>
            </a:endParaRPr>
          </a:p>
        </p:txBody>
      </p:sp>
      <p:sp>
        <p:nvSpPr>
          <p:cNvPr id="42" name="num4"/>
          <p:cNvSpPr/>
          <p:nvPr/>
        </p:nvSpPr>
        <p:spPr bwMode="auto">
          <a:xfrm>
            <a:off x="568325" y="3344862"/>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4</a:t>
            </a:r>
            <a:endParaRPr lang="en-US" dirty="0">
              <a:solidFill>
                <a:schemeClr val="bg1"/>
              </a:solidFill>
            </a:endParaRPr>
          </a:p>
        </p:txBody>
      </p:sp>
      <p:sp>
        <p:nvSpPr>
          <p:cNvPr id="43" name="num3"/>
          <p:cNvSpPr/>
          <p:nvPr/>
        </p:nvSpPr>
        <p:spPr bwMode="auto">
          <a:xfrm>
            <a:off x="568780" y="2564785"/>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3</a:t>
            </a:r>
            <a:endParaRPr lang="en-US" dirty="0">
              <a:solidFill>
                <a:schemeClr val="bg1"/>
              </a:solidFill>
            </a:endParaRPr>
          </a:p>
        </p:txBody>
      </p:sp>
      <p:sp>
        <p:nvSpPr>
          <p:cNvPr id="44" name="num1"/>
          <p:cNvSpPr/>
          <p:nvPr/>
        </p:nvSpPr>
        <p:spPr bwMode="auto">
          <a:xfrm>
            <a:off x="575583" y="1600200"/>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1</a:t>
            </a:r>
            <a:endParaRPr lang="en-US" dirty="0">
              <a:solidFill>
                <a:schemeClr val="bg1"/>
              </a:solidFill>
            </a:endParaRPr>
          </a:p>
        </p:txBody>
      </p:sp>
      <p:sp>
        <p:nvSpPr>
          <p:cNvPr id="45" name="num2"/>
          <p:cNvSpPr/>
          <p:nvPr/>
        </p:nvSpPr>
        <p:spPr bwMode="auto">
          <a:xfrm>
            <a:off x="568325" y="4373332"/>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6</a:t>
            </a:r>
            <a:endParaRPr lang="en-US" dirty="0">
              <a:solidFill>
                <a:schemeClr val="bg1"/>
              </a:solidFill>
            </a:endParaRPr>
          </a:p>
        </p:txBody>
      </p:sp>
      <p:sp>
        <p:nvSpPr>
          <p:cNvPr id="46" name="num4"/>
          <p:cNvSpPr/>
          <p:nvPr/>
        </p:nvSpPr>
        <p:spPr bwMode="auto">
          <a:xfrm>
            <a:off x="6362700" y="3693289"/>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5</a:t>
            </a:r>
            <a:endParaRPr lang="en-US" dirty="0">
              <a:solidFill>
                <a:schemeClr val="bg1"/>
              </a:solidFill>
            </a:endParaRPr>
          </a:p>
        </p:txBody>
      </p:sp>
      <p:sp>
        <p:nvSpPr>
          <p:cNvPr id="47" name="num3"/>
          <p:cNvSpPr/>
          <p:nvPr/>
        </p:nvSpPr>
        <p:spPr bwMode="auto">
          <a:xfrm>
            <a:off x="6359579" y="4721680"/>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7</a:t>
            </a:r>
            <a:endParaRPr lang="en-US" dirty="0">
              <a:solidFill>
                <a:schemeClr val="bg1"/>
              </a:solidFill>
            </a:endParaRPr>
          </a:p>
        </p:txBody>
      </p:sp>
      <p:sp>
        <p:nvSpPr>
          <p:cNvPr id="48" name="num1"/>
          <p:cNvSpPr/>
          <p:nvPr/>
        </p:nvSpPr>
        <p:spPr bwMode="auto">
          <a:xfrm>
            <a:off x="6358578" y="2076452"/>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2</a:t>
            </a:r>
            <a:endParaRPr lang="en-US" dirty="0">
              <a:solidFill>
                <a:schemeClr val="bg1"/>
              </a:solidFill>
            </a:endParaRPr>
          </a:p>
        </p:txBody>
      </p:sp>
      <p:sp>
        <p:nvSpPr>
          <p:cNvPr id="49" name="num2"/>
          <p:cNvSpPr/>
          <p:nvPr/>
        </p:nvSpPr>
        <p:spPr bwMode="auto">
          <a:xfrm>
            <a:off x="6362700" y="5485940"/>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8</a:t>
            </a:r>
            <a:endParaRPr lang="en-US" dirty="0">
              <a:solidFill>
                <a:schemeClr val="bg1"/>
              </a:solidFill>
            </a:endParaRPr>
          </a:p>
        </p:txBody>
      </p:sp>
      <p:pic>
        <p:nvPicPr>
          <p:cNvPr id="52" name="Picture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315" y="895350"/>
            <a:ext cx="565485" cy="548640"/>
          </a:xfrm>
          <a:prstGeom prst="rect">
            <a:avLst/>
          </a:prstGeom>
          <a:effectLst>
            <a:outerShdw blurRad="50800" dist="38100" dir="2700000" algn="tl" rotWithShape="0">
              <a:prstClr val="black">
                <a:alpha val="40000"/>
              </a:prstClr>
            </a:outerShdw>
          </a:effectLst>
        </p:spPr>
      </p:pic>
      <p:pic>
        <p:nvPicPr>
          <p:cNvPr id="53" name="Picture 52"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54" name="Right Arrow 53"/>
          <p:cNvSpPr/>
          <p:nvPr/>
        </p:nvSpPr>
        <p:spPr bwMode="auto">
          <a:xfrm>
            <a:off x="3657600" y="4525732"/>
            <a:ext cx="54864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866696545"/>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Installment plans queried with every quote</a:t>
            </a:r>
          </a:p>
        </p:txBody>
      </p:sp>
      <p:sp>
        <p:nvSpPr>
          <p:cNvPr id="2" name="Content Placeholder 1"/>
          <p:cNvSpPr>
            <a:spLocks noGrp="1"/>
          </p:cNvSpPr>
          <p:nvPr>
            <p:ph sz="half" idx="2"/>
          </p:nvPr>
        </p:nvSpPr>
        <p:spPr/>
        <p:txBody>
          <a:bodyPr/>
          <a:lstStyle/>
          <a:p>
            <a:r>
              <a:rPr lang="en-US" dirty="0"/>
              <a:t>PolicyCenter queries </a:t>
            </a:r>
            <a:r>
              <a:rPr lang="en-US" dirty="0" smtClean="0"/>
              <a:t>for payments plans from BillingCenter for each job quote</a:t>
            </a:r>
          </a:p>
          <a:p>
            <a:r>
              <a:rPr lang="en-US" dirty="0" smtClean="0"/>
              <a:t>"Installment plan" refers to BillingCenter payment plan</a:t>
            </a:r>
            <a:endParaRPr lang="en-US" dirty="0"/>
          </a:p>
        </p:txBody>
      </p:sp>
      <p:pic>
        <p:nvPicPr>
          <p:cNvPr id="4098"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222752" y="989125"/>
            <a:ext cx="5084064" cy="4907280"/>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81400" y="3442765"/>
            <a:ext cx="5181600" cy="2950338"/>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29924787"/>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ounded Rectangle 15"/>
          <p:cNvSpPr/>
          <p:nvPr/>
        </p:nvSpPr>
        <p:spPr bwMode="auto">
          <a:xfrm>
            <a:off x="4724400" y="4378036"/>
            <a:ext cx="1391307" cy="235527"/>
          </a:xfrm>
          <a:prstGeom prst="roundRect">
            <a:avLst/>
          </a:prstGeom>
          <a:solidFill>
            <a:schemeClr val="tx1"/>
          </a:solidFill>
          <a:ln w="28575" algn="ctr">
            <a:solidFill>
              <a:schemeClr val="tx2"/>
            </a:solidFill>
            <a:round/>
            <a:headEnd/>
            <a:tailEn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a:xfrm>
            <a:off x="493776" y="118872"/>
            <a:ext cx="8802624" cy="742951"/>
          </a:xfrm>
        </p:spPr>
        <p:txBody>
          <a:bodyPr/>
          <a:lstStyle/>
          <a:p>
            <a:r>
              <a:rPr lang="en-US" dirty="0"/>
              <a:t>Previewing payment details in PolicyCenter</a:t>
            </a:r>
          </a:p>
        </p:txBody>
      </p:sp>
      <p:sp>
        <p:nvSpPr>
          <p:cNvPr id="6" name="Content Placeholder 5"/>
          <p:cNvSpPr>
            <a:spLocks noGrp="1"/>
          </p:cNvSpPr>
          <p:nvPr>
            <p:ph idx="1"/>
          </p:nvPr>
        </p:nvSpPr>
        <p:spPr>
          <a:xfrm>
            <a:off x="523875" y="4689763"/>
            <a:ext cx="8318500" cy="1787237"/>
          </a:xfrm>
        </p:spPr>
        <p:txBody>
          <a:bodyPr/>
          <a:lstStyle/>
          <a:p>
            <a:r>
              <a:rPr lang="en-US" smtClean="0"/>
              <a:t>BillingCenter provides the </a:t>
            </a:r>
            <a:br>
              <a:rPr lang="en-US" smtClean="0"/>
            </a:br>
            <a:r>
              <a:rPr lang="en-US" smtClean="0"/>
              <a:t>preview payments details </a:t>
            </a:r>
            <a:br>
              <a:rPr lang="en-US" smtClean="0"/>
            </a:br>
            <a:r>
              <a:rPr lang="en-US" smtClean="0"/>
              <a:t>for PolicyCenter</a:t>
            </a:r>
            <a:endParaRPr lang="en-US"/>
          </a:p>
        </p:txBody>
      </p:sp>
      <p:sp>
        <p:nvSpPr>
          <p:cNvPr id="13" name="Rounded Rectangle 12"/>
          <p:cNvSpPr/>
          <p:nvPr/>
        </p:nvSpPr>
        <p:spPr bwMode="auto">
          <a:xfrm>
            <a:off x="1188268" y="3616037"/>
            <a:ext cx="1433465" cy="235527"/>
          </a:xfrm>
          <a:prstGeom prst="roundRect">
            <a:avLst/>
          </a:prstGeom>
          <a:solidFill>
            <a:schemeClr val="tx1"/>
          </a:solidFill>
          <a:ln w="28575" algn="ctr">
            <a:solidFill>
              <a:schemeClr val="tx2"/>
            </a:solidFill>
            <a:round/>
            <a:headEnd/>
            <a:tailEn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50000"/>
              </a:spcBef>
              <a:spcAft>
                <a:spcPct val="30000"/>
              </a:spcAft>
              <a:buClr>
                <a:schemeClr val="tx1"/>
              </a:buClr>
            </a:pPr>
            <a:endParaRPr lang="en-US"/>
          </a:p>
        </p:txBody>
      </p:sp>
      <p:pic>
        <p:nvPicPr>
          <p:cNvPr id="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4" y="914399"/>
            <a:ext cx="5366667" cy="305571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cxnSp>
        <p:nvCxnSpPr>
          <p:cNvPr id="20" name="Straight Arrow Connector 19"/>
          <p:cNvCxnSpPr/>
          <p:nvPr/>
        </p:nvCxnSpPr>
        <p:spPr bwMode="auto">
          <a:xfrm>
            <a:off x="414062" y="1371600"/>
            <a:ext cx="314876"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6009" y="3505199"/>
            <a:ext cx="4424762" cy="3110476"/>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cxnSp>
        <p:nvCxnSpPr>
          <p:cNvPr id="8" name="Elbow Connector 7"/>
          <p:cNvCxnSpPr>
            <a:stCxn id="13" idx="2"/>
            <a:endCxn id="16" idx="1"/>
          </p:cNvCxnSpPr>
          <p:nvPr/>
        </p:nvCxnSpPr>
        <p:spPr bwMode="auto">
          <a:xfrm rot="16200000" flipH="1">
            <a:off x="2992582" y="2763982"/>
            <a:ext cx="644236" cy="2819399"/>
          </a:xfrm>
          <a:prstGeom prst="bentConnector2">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12479231"/>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ounded Rectangle 7"/>
          <p:cNvSpPr/>
          <p:nvPr/>
        </p:nvSpPr>
        <p:spPr bwMode="auto">
          <a:xfrm>
            <a:off x="6324600" y="1371600"/>
            <a:ext cx="2560320" cy="5105400"/>
          </a:xfrm>
          <a:prstGeom prst="roundRect">
            <a:avLst>
              <a:gd name="adj" fmla="val 5270"/>
            </a:avLst>
          </a:prstGeom>
          <a:solidFill>
            <a:schemeClr val="accent4">
              <a:lumMod val="60000"/>
              <a:lumOff val="4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ounded Rectangle 6"/>
          <p:cNvSpPr/>
          <p:nvPr/>
        </p:nvSpPr>
        <p:spPr bwMode="auto">
          <a:xfrm>
            <a:off x="533400" y="1371600"/>
            <a:ext cx="3200400" cy="2051956"/>
          </a:xfrm>
          <a:prstGeom prst="roundRect">
            <a:avLst>
              <a:gd name="adj" fmla="val 5270"/>
            </a:avLst>
          </a:prstGeom>
          <a:solidFill>
            <a:schemeClr val="accent3">
              <a:lumMod val="60000"/>
              <a:lumOff val="4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dirty="0" smtClean="0"/>
              <a:t>Billing process</a:t>
            </a:r>
            <a:endParaRPr lang="en-US" dirty="0"/>
          </a:p>
        </p:txBody>
      </p:sp>
      <p:sp>
        <p:nvSpPr>
          <p:cNvPr id="2" name="Content Placeholder 1"/>
          <p:cNvSpPr>
            <a:spLocks noGrp="1"/>
          </p:cNvSpPr>
          <p:nvPr>
            <p:ph sz="half" idx="1"/>
          </p:nvPr>
        </p:nvSpPr>
        <p:spPr>
          <a:xfrm>
            <a:off x="519112" y="4518124"/>
            <a:ext cx="5525100" cy="1871566"/>
          </a:xfrm>
        </p:spPr>
        <p:txBody>
          <a:bodyPr/>
          <a:lstStyle/>
          <a:p>
            <a:r>
              <a:rPr lang="en-US" dirty="0"/>
              <a:t>Policy transactions </a:t>
            </a:r>
            <a:r>
              <a:rPr lang="en-US" dirty="0" smtClean="0"/>
              <a:t/>
            </a:r>
            <a:br>
              <a:rPr lang="en-US" dirty="0" smtClean="0"/>
            </a:br>
            <a:r>
              <a:rPr lang="en-US" dirty="0" smtClean="0"/>
              <a:t>include submission</a:t>
            </a:r>
            <a:r>
              <a:rPr lang="en-US" dirty="0"/>
              <a:t>, </a:t>
            </a:r>
            <a:r>
              <a:rPr lang="en-US" dirty="0" smtClean="0"/>
              <a:t/>
            </a:r>
            <a:br>
              <a:rPr lang="en-US" dirty="0" smtClean="0"/>
            </a:br>
            <a:r>
              <a:rPr lang="en-US" dirty="0" smtClean="0"/>
              <a:t>policy </a:t>
            </a:r>
            <a:r>
              <a:rPr lang="en-US" dirty="0"/>
              <a:t>change, </a:t>
            </a:r>
            <a:r>
              <a:rPr lang="en-US" dirty="0" smtClean="0"/>
              <a:t>cancellation</a:t>
            </a:r>
            <a:r>
              <a:rPr lang="en-US" dirty="0"/>
              <a:t>, reinstatement, </a:t>
            </a:r>
            <a:r>
              <a:rPr lang="en-US" dirty="0" smtClean="0"/>
              <a:t>renewal</a:t>
            </a:r>
            <a:r>
              <a:rPr lang="en-US" dirty="0"/>
              <a:t>, rewrite, final audit, </a:t>
            </a:r>
            <a:r>
              <a:rPr lang="en-US" dirty="0" smtClean="0"/>
              <a:t>and </a:t>
            </a:r>
            <a:r>
              <a:rPr lang="en-US" dirty="0"/>
              <a:t>premium report </a:t>
            </a:r>
          </a:p>
          <a:p>
            <a:endParaRPr lang="en-US" dirty="0"/>
          </a:p>
        </p:txBody>
      </p:sp>
      <p:sp>
        <p:nvSpPr>
          <p:cNvPr id="16" name="Rounded Rectangle 15"/>
          <p:cNvSpPr/>
          <p:nvPr/>
        </p:nvSpPr>
        <p:spPr bwMode="auto">
          <a:xfrm>
            <a:off x="726620" y="1714500"/>
            <a:ext cx="283464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User quote</a:t>
            </a:r>
            <a:endParaRPr lang="en-US" dirty="0">
              <a:solidFill>
                <a:schemeClr val="bg1"/>
              </a:solidFill>
            </a:endParaRPr>
          </a:p>
        </p:txBody>
      </p:sp>
      <p:sp>
        <p:nvSpPr>
          <p:cNvPr id="20" name="Rounded Rectangle 19"/>
          <p:cNvSpPr/>
          <p:nvPr/>
        </p:nvSpPr>
        <p:spPr bwMode="auto">
          <a:xfrm>
            <a:off x="6515100" y="3423555"/>
            <a:ext cx="2103120" cy="64008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a:solidFill>
                  <a:schemeClr val="bg1"/>
                </a:solidFill>
              </a:rPr>
              <a:t>Allocate charges </a:t>
            </a:r>
            <a:r>
              <a:rPr lang="en-US" dirty="0" smtClean="0">
                <a:solidFill>
                  <a:schemeClr val="bg1"/>
                </a:solidFill>
              </a:rPr>
              <a:t>to </a:t>
            </a:r>
            <a:br>
              <a:rPr lang="en-US" dirty="0" smtClean="0">
                <a:solidFill>
                  <a:schemeClr val="bg1"/>
                </a:solidFill>
              </a:rPr>
            </a:br>
            <a:r>
              <a:rPr lang="en-US" dirty="0" smtClean="0">
                <a:solidFill>
                  <a:schemeClr val="bg1"/>
                </a:solidFill>
              </a:rPr>
              <a:t>payment </a:t>
            </a:r>
            <a:r>
              <a:rPr lang="en-US" dirty="0">
                <a:solidFill>
                  <a:schemeClr val="bg1"/>
                </a:solidFill>
              </a:rPr>
              <a:t>schedule</a:t>
            </a:r>
          </a:p>
        </p:txBody>
      </p:sp>
      <p:sp>
        <p:nvSpPr>
          <p:cNvPr id="21" name="Rounded Rectangle 20"/>
          <p:cNvSpPr/>
          <p:nvPr/>
        </p:nvSpPr>
        <p:spPr bwMode="auto">
          <a:xfrm>
            <a:off x="6515100" y="4288885"/>
            <a:ext cx="2103120" cy="64008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Calculate </a:t>
            </a:r>
            <a:br>
              <a:rPr lang="en-US" dirty="0" smtClean="0">
                <a:solidFill>
                  <a:schemeClr val="bg1"/>
                </a:solidFill>
              </a:rPr>
            </a:br>
            <a:r>
              <a:rPr lang="en-US" dirty="0" smtClean="0">
                <a:solidFill>
                  <a:schemeClr val="bg1"/>
                </a:solidFill>
              </a:rPr>
              <a:t>commissions</a:t>
            </a:r>
            <a:endParaRPr lang="en-US" dirty="0">
              <a:solidFill>
                <a:schemeClr val="bg1"/>
              </a:solidFill>
            </a:endParaRPr>
          </a:p>
        </p:txBody>
      </p:sp>
      <p:sp>
        <p:nvSpPr>
          <p:cNvPr id="29" name="Rounded Rectangle 28"/>
          <p:cNvSpPr/>
          <p:nvPr/>
        </p:nvSpPr>
        <p:spPr bwMode="auto">
          <a:xfrm>
            <a:off x="6507480" y="5130118"/>
            <a:ext cx="2103120" cy="64008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dirty="0" smtClean="0">
                <a:solidFill>
                  <a:schemeClr val="bg1"/>
                </a:solidFill>
              </a:rPr>
              <a:t>Make any policy </a:t>
            </a:r>
            <a:br>
              <a:rPr lang="en-US" dirty="0" smtClean="0">
                <a:solidFill>
                  <a:schemeClr val="bg1"/>
                </a:solidFill>
              </a:rPr>
            </a:br>
            <a:r>
              <a:rPr lang="en-US" dirty="0" smtClean="0">
                <a:solidFill>
                  <a:schemeClr val="bg1"/>
                </a:solidFill>
              </a:rPr>
              <a:t>period changes</a:t>
            </a:r>
            <a:endParaRPr lang="en-US" dirty="0">
              <a:solidFill>
                <a:schemeClr val="bg1"/>
              </a:solidFill>
            </a:endParaRPr>
          </a:p>
        </p:txBody>
      </p:sp>
      <p:sp>
        <p:nvSpPr>
          <p:cNvPr id="35" name="Rounded Rectangle 34"/>
          <p:cNvSpPr/>
          <p:nvPr/>
        </p:nvSpPr>
        <p:spPr bwMode="auto">
          <a:xfrm>
            <a:off x="723900" y="2552700"/>
            <a:ext cx="2834640" cy="64008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smtClean="0">
                <a:solidFill>
                  <a:schemeClr val="bg1"/>
                </a:solidFill>
              </a:rPr>
              <a:t>User binds </a:t>
            </a:r>
            <a:r>
              <a:rPr lang="en-US" dirty="0" smtClean="0">
                <a:solidFill>
                  <a:schemeClr val="bg1"/>
                </a:solidFill>
              </a:rPr>
              <a:t>policy </a:t>
            </a:r>
            <a:br>
              <a:rPr lang="en-US" dirty="0" smtClean="0">
                <a:solidFill>
                  <a:schemeClr val="bg1"/>
                </a:solidFill>
              </a:rPr>
            </a:br>
            <a:r>
              <a:rPr lang="en-US" dirty="0" smtClean="0">
                <a:solidFill>
                  <a:schemeClr val="bg1"/>
                </a:solidFill>
              </a:rPr>
              <a:t>transaction </a:t>
            </a:r>
            <a:endParaRPr lang="en-US" dirty="0">
              <a:solidFill>
                <a:schemeClr val="bg1"/>
              </a:solidFill>
            </a:endParaRPr>
          </a:p>
        </p:txBody>
      </p:sp>
      <p:sp>
        <p:nvSpPr>
          <p:cNvPr id="43" name="num3"/>
          <p:cNvSpPr/>
          <p:nvPr/>
        </p:nvSpPr>
        <p:spPr bwMode="auto">
          <a:xfrm>
            <a:off x="568780" y="2438400"/>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2</a:t>
            </a:r>
            <a:endParaRPr lang="en-US" dirty="0">
              <a:solidFill>
                <a:schemeClr val="bg1"/>
              </a:solidFill>
            </a:endParaRPr>
          </a:p>
        </p:txBody>
      </p:sp>
      <p:sp>
        <p:nvSpPr>
          <p:cNvPr id="44" name="num1"/>
          <p:cNvSpPr/>
          <p:nvPr/>
        </p:nvSpPr>
        <p:spPr bwMode="auto">
          <a:xfrm>
            <a:off x="575583" y="1600200"/>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1</a:t>
            </a:r>
            <a:endParaRPr lang="en-US" dirty="0">
              <a:solidFill>
                <a:schemeClr val="bg1"/>
              </a:solidFill>
            </a:endParaRPr>
          </a:p>
        </p:txBody>
      </p:sp>
      <p:sp>
        <p:nvSpPr>
          <p:cNvPr id="46" name="num4"/>
          <p:cNvSpPr/>
          <p:nvPr/>
        </p:nvSpPr>
        <p:spPr bwMode="auto">
          <a:xfrm>
            <a:off x="6362700" y="4180112"/>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4</a:t>
            </a:r>
            <a:endParaRPr lang="en-US" dirty="0">
              <a:solidFill>
                <a:schemeClr val="bg1"/>
              </a:solidFill>
            </a:endParaRPr>
          </a:p>
        </p:txBody>
      </p:sp>
      <p:sp>
        <p:nvSpPr>
          <p:cNvPr id="47" name="num3"/>
          <p:cNvSpPr/>
          <p:nvPr/>
        </p:nvSpPr>
        <p:spPr bwMode="auto">
          <a:xfrm>
            <a:off x="6359579" y="5015818"/>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5</a:t>
            </a:r>
            <a:endParaRPr lang="en-US" dirty="0">
              <a:solidFill>
                <a:schemeClr val="bg1"/>
              </a:solidFill>
            </a:endParaRPr>
          </a:p>
        </p:txBody>
      </p:sp>
      <p:sp>
        <p:nvSpPr>
          <p:cNvPr id="48" name="num1"/>
          <p:cNvSpPr/>
          <p:nvPr/>
        </p:nvSpPr>
        <p:spPr bwMode="auto">
          <a:xfrm>
            <a:off x="6358578" y="3309256"/>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bg1"/>
                </a:solidFill>
              </a:rPr>
              <a:t>3</a:t>
            </a:r>
            <a:endParaRPr lang="en-US" dirty="0">
              <a:solidFill>
                <a:schemeClr val="bg1"/>
              </a:solidFill>
            </a:endParaRPr>
          </a:p>
        </p:txBody>
      </p:sp>
      <p:sp>
        <p:nvSpPr>
          <p:cNvPr id="33" name="TextBox 113"/>
          <p:cNvSpPr txBox="1">
            <a:spLocks noChangeArrowheads="1"/>
          </p:cNvSpPr>
          <p:nvPr/>
        </p:nvSpPr>
        <p:spPr bwMode="auto">
          <a:xfrm>
            <a:off x="4114800" y="2209800"/>
            <a:ext cx="1752600" cy="2308324"/>
          </a:xfrm>
          <a:prstGeom prst="rect">
            <a:avLst/>
          </a:prstGeom>
          <a:solidFill>
            <a:schemeClr val="tx1">
              <a:lumMod val="95000"/>
            </a:schemeClr>
          </a:solidFill>
          <a:ln>
            <a:noFill/>
          </a:ln>
          <a:extLst/>
        </p:spPr>
        <p:txBody>
          <a:bodyPr wrap="square">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b="0" dirty="0">
                <a:solidFill>
                  <a:schemeClr val="bg1"/>
                </a:solidFill>
              </a:rPr>
              <a:t>Billing instructions </a:t>
            </a:r>
            <a:r>
              <a:rPr lang="en-US" sz="1800" b="0" dirty="0" smtClean="0">
                <a:solidFill>
                  <a:schemeClr val="bg1"/>
                </a:solidFill>
              </a:rPr>
              <a:t>with </a:t>
            </a:r>
            <a:r>
              <a:rPr lang="en-US" sz="1800" b="0" dirty="0">
                <a:solidFill>
                  <a:schemeClr val="bg1"/>
                </a:solidFill>
              </a:rPr>
              <a:t>transaction </a:t>
            </a:r>
            <a:r>
              <a:rPr lang="en-US" sz="1800" b="0" dirty="0" smtClean="0">
                <a:solidFill>
                  <a:schemeClr val="bg1"/>
                </a:solidFill>
              </a:rPr>
              <a:t>amounts </a:t>
            </a:r>
            <a:br>
              <a:rPr lang="en-US" sz="1800" b="0" dirty="0" smtClean="0">
                <a:solidFill>
                  <a:schemeClr val="bg1"/>
                </a:solidFill>
              </a:rPr>
            </a:br>
            <a:r>
              <a:rPr lang="en-US" sz="1800" b="0" dirty="0" smtClean="0">
                <a:solidFill>
                  <a:schemeClr val="bg1"/>
                </a:solidFill>
              </a:rPr>
              <a:t>and/or </a:t>
            </a:r>
            <a:br>
              <a:rPr lang="en-US" sz="1800" b="0" dirty="0" smtClean="0">
                <a:solidFill>
                  <a:schemeClr val="bg1"/>
                </a:solidFill>
              </a:rPr>
            </a:br>
            <a:r>
              <a:rPr lang="en-US" sz="1800" b="0" dirty="0" smtClean="0">
                <a:solidFill>
                  <a:schemeClr val="bg1"/>
                </a:solidFill>
              </a:rPr>
              <a:t>changes </a:t>
            </a:r>
            <a:r>
              <a:rPr lang="en-US" sz="1800" b="0" dirty="0">
                <a:solidFill>
                  <a:schemeClr val="bg1"/>
                </a:solidFill>
              </a:rPr>
              <a:t>to policy period</a:t>
            </a:r>
          </a:p>
        </p:txBody>
      </p:sp>
      <p:sp>
        <p:nvSpPr>
          <p:cNvPr id="11" name="Right Arrow 10"/>
          <p:cNvSpPr/>
          <p:nvPr/>
        </p:nvSpPr>
        <p:spPr bwMode="auto">
          <a:xfrm>
            <a:off x="3642360" y="2562225"/>
            <a:ext cx="54864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1" name="Right Arrow 30"/>
          <p:cNvSpPr/>
          <p:nvPr/>
        </p:nvSpPr>
        <p:spPr bwMode="auto">
          <a:xfrm>
            <a:off x="5829300" y="3429000"/>
            <a:ext cx="54864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22" name="Picture 2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315" y="895350"/>
            <a:ext cx="565485" cy="548640"/>
          </a:xfrm>
          <a:prstGeom prst="rect">
            <a:avLst/>
          </a:prstGeom>
          <a:effectLst>
            <a:outerShdw blurRad="50800" dist="38100" dir="2700000" algn="tl" rotWithShape="0">
              <a:prstClr val="black">
                <a:alpha val="40000"/>
              </a:prstClr>
            </a:outerShdw>
          </a:effectLst>
        </p:spPr>
      </p:pic>
      <p:pic>
        <p:nvPicPr>
          <p:cNvPr id="23" name="Picture 22"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grpSp>
        <p:nvGrpSpPr>
          <p:cNvPr id="24" name="Group 106"/>
          <p:cNvGrpSpPr>
            <a:grpSpLocks/>
          </p:cNvGrpSpPr>
          <p:nvPr/>
        </p:nvGrpSpPr>
        <p:grpSpPr bwMode="auto">
          <a:xfrm rot="1637485">
            <a:off x="5301536" y="1923112"/>
            <a:ext cx="717550" cy="542925"/>
            <a:chOff x="3586" y="978"/>
            <a:chExt cx="452" cy="342"/>
          </a:xfrm>
          <a:effectLst>
            <a:outerShdw blurRad="50800" dist="38100" dir="2700000" algn="tl" rotWithShape="0">
              <a:prstClr val="black">
                <a:alpha val="40000"/>
              </a:prstClr>
            </a:outerShdw>
          </a:effectLst>
        </p:grpSpPr>
        <p:sp>
          <p:nvSpPr>
            <p:cNvPr id="25" name="Freeform 50"/>
            <p:cNvSpPr>
              <a:spLocks/>
            </p:cNvSpPr>
            <p:nvPr/>
          </p:nvSpPr>
          <p:spPr bwMode="auto">
            <a:xfrm rot="-1165455">
              <a:off x="3693" y="978"/>
              <a:ext cx="345" cy="342"/>
            </a:xfrm>
            <a:custGeom>
              <a:avLst/>
              <a:gdLst>
                <a:gd name="T0" fmla="*/ 0 w 1703"/>
                <a:gd name="T1" fmla="*/ 0 h 1703"/>
                <a:gd name="T2" fmla="*/ 0 w 1703"/>
                <a:gd name="T3" fmla="*/ 0 h 1703"/>
                <a:gd name="T4" fmla="*/ 0 w 1703"/>
                <a:gd name="T5" fmla="*/ 0 h 1703"/>
                <a:gd name="T6" fmla="*/ 0 w 1703"/>
                <a:gd name="T7" fmla="*/ 0 h 1703"/>
                <a:gd name="T8" fmla="*/ 0 w 1703"/>
                <a:gd name="T9" fmla="*/ 0 h 1703"/>
                <a:gd name="T10" fmla="*/ 0 w 1703"/>
                <a:gd name="T11" fmla="*/ 0 h 1703"/>
                <a:gd name="T12" fmla="*/ 0 60000 65536"/>
                <a:gd name="T13" fmla="*/ 0 60000 65536"/>
                <a:gd name="T14" fmla="*/ 0 60000 65536"/>
                <a:gd name="T15" fmla="*/ 0 60000 65536"/>
                <a:gd name="T16" fmla="*/ 0 60000 65536"/>
                <a:gd name="T17" fmla="*/ 0 60000 65536"/>
                <a:gd name="T18" fmla="*/ 0 w 1703"/>
                <a:gd name="T19" fmla="*/ 0 h 1703"/>
                <a:gd name="T20" fmla="*/ 1703 w 1703"/>
                <a:gd name="T21" fmla="*/ 1703 h 1703"/>
              </a:gdLst>
              <a:ahLst/>
              <a:cxnLst>
                <a:cxn ang="T12">
                  <a:pos x="T0" y="T1"/>
                </a:cxn>
                <a:cxn ang="T13">
                  <a:pos x="T2" y="T3"/>
                </a:cxn>
                <a:cxn ang="T14">
                  <a:pos x="T4" y="T5"/>
                </a:cxn>
                <a:cxn ang="T15">
                  <a:pos x="T6" y="T7"/>
                </a:cxn>
                <a:cxn ang="T16">
                  <a:pos x="T8" y="T9"/>
                </a:cxn>
                <a:cxn ang="T17">
                  <a:pos x="T10" y="T11"/>
                </a:cxn>
              </a:cxnLst>
              <a:rect l="T18" t="T19" r="T20" b="T21"/>
              <a:pathLst>
                <a:path w="1703" h="1703">
                  <a:moveTo>
                    <a:pt x="935" y="1703"/>
                  </a:moveTo>
                  <a:lnTo>
                    <a:pt x="0" y="718"/>
                  </a:lnTo>
                  <a:lnTo>
                    <a:pt x="100" y="100"/>
                  </a:lnTo>
                  <a:lnTo>
                    <a:pt x="751" y="0"/>
                  </a:lnTo>
                  <a:lnTo>
                    <a:pt x="1703" y="977"/>
                  </a:lnTo>
                  <a:lnTo>
                    <a:pt x="935" y="1703"/>
                  </a:lnTo>
                  <a:close/>
                </a:path>
              </a:pathLst>
            </a:custGeom>
            <a:solidFill>
              <a:srgbClr val="FFFFCC"/>
            </a:solidFill>
            <a:ln w="12700">
              <a:solidFill>
                <a:schemeClr val="bg1"/>
              </a:solidFill>
              <a:round/>
              <a:headEnd/>
              <a:tailEnd/>
            </a:ln>
          </p:spPr>
          <p:txBody>
            <a:bodyPr lIns="0" tIns="0" rIns="0" bIns="0" anchor="ctr">
              <a:spAutoFit/>
            </a:bodyPr>
            <a:lstStyle/>
            <a:p>
              <a:endParaRPr lang="en-US"/>
            </a:p>
          </p:txBody>
        </p:sp>
        <p:sp>
          <p:nvSpPr>
            <p:cNvPr id="26" name="Freeform 51"/>
            <p:cNvSpPr>
              <a:spLocks/>
            </p:cNvSpPr>
            <p:nvPr/>
          </p:nvSpPr>
          <p:spPr bwMode="auto">
            <a:xfrm rot="-1165455">
              <a:off x="3586" y="985"/>
              <a:ext cx="128" cy="123"/>
            </a:xfrm>
            <a:custGeom>
              <a:avLst/>
              <a:gdLst>
                <a:gd name="T0" fmla="*/ 0 w 609"/>
                <a:gd name="T1" fmla="*/ 0 h 587"/>
                <a:gd name="T2" fmla="*/ 0 w 609"/>
                <a:gd name="T3" fmla="*/ 0 h 587"/>
                <a:gd name="T4" fmla="*/ 0 w 609"/>
                <a:gd name="T5" fmla="*/ 0 h 587"/>
                <a:gd name="T6" fmla="*/ 0 w 609"/>
                <a:gd name="T7" fmla="*/ 0 h 587"/>
                <a:gd name="T8" fmla="*/ 0 w 609"/>
                <a:gd name="T9" fmla="*/ 0 h 587"/>
                <a:gd name="T10" fmla="*/ 0 w 609"/>
                <a:gd name="T11" fmla="*/ 0 h 587"/>
                <a:gd name="T12" fmla="*/ 0 w 609"/>
                <a:gd name="T13" fmla="*/ 0 h 587"/>
                <a:gd name="T14" fmla="*/ 0 60000 65536"/>
                <a:gd name="T15" fmla="*/ 0 60000 65536"/>
                <a:gd name="T16" fmla="*/ 0 60000 65536"/>
                <a:gd name="T17" fmla="*/ 0 60000 65536"/>
                <a:gd name="T18" fmla="*/ 0 60000 65536"/>
                <a:gd name="T19" fmla="*/ 0 60000 65536"/>
                <a:gd name="T20" fmla="*/ 0 60000 65536"/>
                <a:gd name="T21" fmla="*/ 0 w 609"/>
                <a:gd name="T22" fmla="*/ 0 h 587"/>
                <a:gd name="T23" fmla="*/ 609 w 609"/>
                <a:gd name="T24" fmla="*/ 587 h 58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9" h="587">
                  <a:moveTo>
                    <a:pt x="609" y="563"/>
                  </a:moveTo>
                  <a:cubicBezTo>
                    <a:pt x="502" y="575"/>
                    <a:pt x="396" y="587"/>
                    <a:pt x="325" y="563"/>
                  </a:cubicBezTo>
                  <a:cubicBezTo>
                    <a:pt x="254" y="539"/>
                    <a:pt x="194" y="479"/>
                    <a:pt x="183" y="421"/>
                  </a:cubicBezTo>
                  <a:cubicBezTo>
                    <a:pt x="172" y="363"/>
                    <a:pt x="244" y="273"/>
                    <a:pt x="259" y="212"/>
                  </a:cubicBezTo>
                  <a:cubicBezTo>
                    <a:pt x="274" y="151"/>
                    <a:pt x="288" y="88"/>
                    <a:pt x="275" y="53"/>
                  </a:cubicBezTo>
                  <a:cubicBezTo>
                    <a:pt x="262" y="18"/>
                    <a:pt x="229" y="6"/>
                    <a:pt x="183" y="3"/>
                  </a:cubicBezTo>
                  <a:cubicBezTo>
                    <a:pt x="137" y="0"/>
                    <a:pt x="68" y="18"/>
                    <a:pt x="0" y="37"/>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7" name="Oval 52"/>
            <p:cNvSpPr>
              <a:spLocks noChangeArrowheads="1"/>
            </p:cNvSpPr>
            <p:nvPr/>
          </p:nvSpPr>
          <p:spPr bwMode="auto">
            <a:xfrm rot="-1165455">
              <a:off x="3694" y="1057"/>
              <a:ext cx="52" cy="52"/>
            </a:xfrm>
            <a:prstGeom prst="ellipse">
              <a:avLst/>
            </a:prstGeom>
            <a:solidFill>
              <a:schemeClr val="bg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pic>
          <p:nvPicPr>
            <p:cNvPr id="28" name="Picture 53" descr="BS01887_"/>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rot="-3865455">
              <a:off x="3789" y="1033"/>
              <a:ext cx="15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626175702"/>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5000" contrast="5000"/>
                    </a14:imgEffect>
                  </a14:imgLayer>
                </a14:imgProps>
              </a:ext>
              <a:ext uri="{28A0092B-C50C-407E-A947-70E740481C1C}">
                <a14:useLocalDpi xmlns:a14="http://schemas.microsoft.com/office/drawing/2010/main" val="0"/>
              </a:ext>
            </a:extLst>
          </a:blip>
          <a:srcRect/>
          <a:stretch>
            <a:fillRect/>
          </a:stretch>
        </p:blipFill>
        <p:spPr bwMode="auto">
          <a:xfrm>
            <a:off x="685800" y="1371600"/>
            <a:ext cx="3705225" cy="218122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4" name="Right Arrow 13"/>
          <p:cNvSpPr/>
          <p:nvPr/>
        </p:nvSpPr>
        <p:spPr bwMode="auto">
          <a:xfrm>
            <a:off x="914400" y="925029"/>
            <a:ext cx="281940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6146" name="Picture 2"/>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10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3733800" y="1115309"/>
            <a:ext cx="6449932" cy="4665483"/>
          </a:xfrm>
          <a:prstGeom prst="rect">
            <a:avLst/>
          </a:prstGeom>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sp>
        <p:nvSpPr>
          <p:cNvPr id="5" name="Title 4"/>
          <p:cNvSpPr>
            <a:spLocks noGrp="1"/>
          </p:cNvSpPr>
          <p:nvPr>
            <p:ph type="title"/>
          </p:nvPr>
        </p:nvSpPr>
        <p:spPr/>
        <p:txBody>
          <a:bodyPr/>
          <a:lstStyle/>
          <a:p>
            <a:r>
              <a:rPr lang="en-US" smtClean="0"/>
              <a:t>Sending billing instructions</a:t>
            </a:r>
            <a:endParaRPr lang="en-US" dirty="0"/>
          </a:p>
        </p:txBody>
      </p:sp>
      <p:sp>
        <p:nvSpPr>
          <p:cNvPr id="6" name="Content Placeholder 5"/>
          <p:cNvSpPr>
            <a:spLocks noGrp="1"/>
          </p:cNvSpPr>
          <p:nvPr>
            <p:ph idx="1"/>
          </p:nvPr>
        </p:nvSpPr>
        <p:spPr>
          <a:xfrm>
            <a:off x="519113" y="3810000"/>
            <a:ext cx="8318500" cy="2590800"/>
          </a:xfrm>
        </p:spPr>
        <p:txBody>
          <a:bodyPr/>
          <a:lstStyle/>
          <a:p>
            <a:r>
              <a:rPr lang="en-US" dirty="0"/>
              <a:t>When a transaction </a:t>
            </a:r>
            <a:r>
              <a:rPr lang="en-US" dirty="0" smtClean="0"/>
              <a:t/>
            </a:r>
            <a:br>
              <a:rPr lang="en-US" dirty="0" smtClean="0"/>
            </a:br>
            <a:r>
              <a:rPr lang="en-US" dirty="0" smtClean="0"/>
              <a:t>with </a:t>
            </a:r>
            <a:r>
              <a:rPr lang="en-US" dirty="0"/>
              <a:t>billing </a:t>
            </a:r>
            <a:r>
              <a:rPr lang="en-US" dirty="0" smtClean="0"/>
              <a:t>implications </a:t>
            </a:r>
            <a:br>
              <a:rPr lang="en-US" dirty="0" smtClean="0"/>
            </a:br>
            <a:r>
              <a:rPr lang="en-US" dirty="0" smtClean="0"/>
              <a:t>is </a:t>
            </a:r>
            <a:r>
              <a:rPr lang="en-US" dirty="0"/>
              <a:t>bound, PolicyCenter </a:t>
            </a:r>
            <a:r>
              <a:rPr lang="en-US" dirty="0" smtClean="0"/>
              <a:t/>
            </a:r>
            <a:br>
              <a:rPr lang="en-US" dirty="0" smtClean="0"/>
            </a:br>
            <a:r>
              <a:rPr lang="en-US" dirty="0" smtClean="0"/>
              <a:t>sends </a:t>
            </a:r>
            <a:r>
              <a:rPr lang="en-US" dirty="0"/>
              <a:t>a message </a:t>
            </a:r>
            <a:r>
              <a:rPr lang="en-US" dirty="0" smtClean="0"/>
              <a:t/>
            </a:r>
            <a:br>
              <a:rPr lang="en-US" dirty="0" smtClean="0"/>
            </a:br>
            <a:r>
              <a:rPr lang="en-US" dirty="0" smtClean="0"/>
              <a:t>to BillingCenter that </a:t>
            </a:r>
            <a:br>
              <a:rPr lang="en-US" dirty="0" smtClean="0"/>
            </a:br>
            <a:r>
              <a:rPr lang="en-US" dirty="0" smtClean="0"/>
              <a:t>results </a:t>
            </a:r>
            <a:r>
              <a:rPr lang="en-US" dirty="0"/>
              <a:t>in a </a:t>
            </a:r>
            <a:r>
              <a:rPr lang="en-US" dirty="0" smtClean="0"/>
              <a:t/>
            </a:r>
            <a:br>
              <a:rPr lang="en-US" dirty="0" smtClean="0"/>
            </a:br>
            <a:r>
              <a:rPr lang="en-US" dirty="0" smtClean="0"/>
              <a:t>billing instruction </a:t>
            </a:r>
            <a:br>
              <a:rPr lang="en-US" dirty="0" smtClean="0"/>
            </a:br>
            <a:endParaRPr lang="en-US" dirty="0"/>
          </a:p>
        </p:txBody>
      </p:sp>
      <p:pic>
        <p:nvPicPr>
          <p:cNvPr id="7" name="Picture 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682204" y="892200"/>
            <a:ext cx="565485" cy="548640"/>
          </a:xfrm>
          <a:prstGeom prst="rect">
            <a:avLst/>
          </a:prstGeom>
          <a:effectLst>
            <a:outerShdw blurRad="50800" dist="38100" dir="2700000" algn="tl" rotWithShape="0">
              <a:prstClr val="black">
                <a:alpha val="40000"/>
              </a:prstClr>
            </a:outerShdw>
          </a:effectLst>
        </p:spPr>
      </p:pic>
      <p:pic>
        <p:nvPicPr>
          <p:cNvPr id="8" name="Picture 7" descr="PolicyCenter.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79069" y="888882"/>
            <a:ext cx="565862" cy="548640"/>
          </a:xfrm>
          <a:prstGeom prst="rect">
            <a:avLst/>
          </a:prstGeom>
          <a:effectLst>
            <a:outerShdw blurRad="50800" dist="38100" dir="2700000" algn="tl" rotWithShape="0">
              <a:prstClr val="black">
                <a:alpha val="40000"/>
              </a:prstClr>
            </a:outerShdw>
          </a:effectLst>
        </p:spPr>
      </p:pic>
      <p:sp>
        <p:nvSpPr>
          <p:cNvPr id="13" name="Text Box 54"/>
          <p:cNvSpPr txBox="1">
            <a:spLocks noChangeArrowheads="1"/>
          </p:cNvSpPr>
          <p:nvPr/>
        </p:nvSpPr>
        <p:spPr bwMode="auto">
          <a:xfrm>
            <a:off x="1117342" y="801918"/>
            <a:ext cx="181876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2000">
                <a:solidFill>
                  <a:srgbClr val="FF0000"/>
                </a:solidFill>
                <a:latin typeface="Arial" charset="0"/>
              </a:defRPr>
            </a:lvl1pPr>
            <a:lvl2pPr marL="742950" indent="-285750" eaLnBrk="0" hangingPunct="0">
              <a:defRPr sz="2000">
                <a:solidFill>
                  <a:srgbClr val="FF0000"/>
                </a:solidFill>
                <a:latin typeface="Arial" charset="0"/>
              </a:defRPr>
            </a:lvl2pPr>
            <a:lvl3pPr marL="1143000" indent="-228600" eaLnBrk="0" hangingPunct="0">
              <a:defRPr sz="2000">
                <a:solidFill>
                  <a:srgbClr val="FF0000"/>
                </a:solidFill>
                <a:latin typeface="Arial" charset="0"/>
              </a:defRPr>
            </a:lvl3pPr>
            <a:lvl4pPr marL="1600200" indent="-228600" eaLnBrk="0" hangingPunct="0">
              <a:defRPr sz="2000">
                <a:solidFill>
                  <a:srgbClr val="FF0000"/>
                </a:solidFill>
                <a:latin typeface="Arial" charset="0"/>
              </a:defRPr>
            </a:lvl4pPr>
            <a:lvl5pPr marL="2057400" indent="-228600" eaLnBrk="0" hangingPunct="0">
              <a:defRPr sz="2000">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a:solidFill>
                  <a:srgbClr val="FF0000"/>
                </a:solidFill>
                <a:latin typeface="Arial" charset="0"/>
              </a:defRPr>
            </a:lvl9pPr>
          </a:lstStyle>
          <a:p>
            <a:pPr eaLnBrk="1" hangingPunct="1"/>
            <a:r>
              <a:rPr lang="en-US" sz="1600" b="1">
                <a:solidFill>
                  <a:schemeClr val="bg1"/>
                </a:solidFill>
              </a:rPr>
              <a:t>Billing instruction</a:t>
            </a:r>
          </a:p>
        </p:txBody>
      </p:sp>
      <p:grpSp>
        <p:nvGrpSpPr>
          <p:cNvPr id="17" name="Group 106"/>
          <p:cNvGrpSpPr>
            <a:grpSpLocks/>
          </p:cNvGrpSpPr>
          <p:nvPr/>
        </p:nvGrpSpPr>
        <p:grpSpPr bwMode="auto">
          <a:xfrm rot="1637485">
            <a:off x="2789737" y="925898"/>
            <a:ext cx="717550" cy="542925"/>
            <a:chOff x="3586" y="978"/>
            <a:chExt cx="452" cy="342"/>
          </a:xfrm>
          <a:effectLst>
            <a:outerShdw blurRad="50800" dist="38100" dir="2700000" algn="tl" rotWithShape="0">
              <a:prstClr val="black">
                <a:alpha val="40000"/>
              </a:prstClr>
            </a:outerShdw>
          </a:effectLst>
        </p:grpSpPr>
        <p:sp>
          <p:nvSpPr>
            <p:cNvPr id="18" name="Freeform 50"/>
            <p:cNvSpPr>
              <a:spLocks/>
            </p:cNvSpPr>
            <p:nvPr/>
          </p:nvSpPr>
          <p:spPr bwMode="auto">
            <a:xfrm rot="-1165455">
              <a:off x="3693" y="978"/>
              <a:ext cx="345" cy="342"/>
            </a:xfrm>
            <a:custGeom>
              <a:avLst/>
              <a:gdLst>
                <a:gd name="T0" fmla="*/ 0 w 1703"/>
                <a:gd name="T1" fmla="*/ 0 h 1703"/>
                <a:gd name="T2" fmla="*/ 0 w 1703"/>
                <a:gd name="T3" fmla="*/ 0 h 1703"/>
                <a:gd name="T4" fmla="*/ 0 w 1703"/>
                <a:gd name="T5" fmla="*/ 0 h 1703"/>
                <a:gd name="T6" fmla="*/ 0 w 1703"/>
                <a:gd name="T7" fmla="*/ 0 h 1703"/>
                <a:gd name="T8" fmla="*/ 0 w 1703"/>
                <a:gd name="T9" fmla="*/ 0 h 1703"/>
                <a:gd name="T10" fmla="*/ 0 w 1703"/>
                <a:gd name="T11" fmla="*/ 0 h 1703"/>
                <a:gd name="T12" fmla="*/ 0 60000 65536"/>
                <a:gd name="T13" fmla="*/ 0 60000 65536"/>
                <a:gd name="T14" fmla="*/ 0 60000 65536"/>
                <a:gd name="T15" fmla="*/ 0 60000 65536"/>
                <a:gd name="T16" fmla="*/ 0 60000 65536"/>
                <a:gd name="T17" fmla="*/ 0 60000 65536"/>
                <a:gd name="T18" fmla="*/ 0 w 1703"/>
                <a:gd name="T19" fmla="*/ 0 h 1703"/>
                <a:gd name="T20" fmla="*/ 1703 w 1703"/>
                <a:gd name="T21" fmla="*/ 1703 h 1703"/>
              </a:gdLst>
              <a:ahLst/>
              <a:cxnLst>
                <a:cxn ang="T12">
                  <a:pos x="T0" y="T1"/>
                </a:cxn>
                <a:cxn ang="T13">
                  <a:pos x="T2" y="T3"/>
                </a:cxn>
                <a:cxn ang="T14">
                  <a:pos x="T4" y="T5"/>
                </a:cxn>
                <a:cxn ang="T15">
                  <a:pos x="T6" y="T7"/>
                </a:cxn>
                <a:cxn ang="T16">
                  <a:pos x="T8" y="T9"/>
                </a:cxn>
                <a:cxn ang="T17">
                  <a:pos x="T10" y="T11"/>
                </a:cxn>
              </a:cxnLst>
              <a:rect l="T18" t="T19" r="T20" b="T21"/>
              <a:pathLst>
                <a:path w="1703" h="1703">
                  <a:moveTo>
                    <a:pt x="935" y="1703"/>
                  </a:moveTo>
                  <a:lnTo>
                    <a:pt x="0" y="718"/>
                  </a:lnTo>
                  <a:lnTo>
                    <a:pt x="100" y="100"/>
                  </a:lnTo>
                  <a:lnTo>
                    <a:pt x="751" y="0"/>
                  </a:lnTo>
                  <a:lnTo>
                    <a:pt x="1703" y="977"/>
                  </a:lnTo>
                  <a:lnTo>
                    <a:pt x="935" y="1703"/>
                  </a:lnTo>
                  <a:close/>
                </a:path>
              </a:pathLst>
            </a:custGeom>
            <a:solidFill>
              <a:srgbClr val="FFFFCC"/>
            </a:solidFill>
            <a:ln w="12700">
              <a:solidFill>
                <a:schemeClr val="bg1"/>
              </a:solidFill>
              <a:round/>
              <a:headEnd/>
              <a:tailEnd/>
            </a:ln>
          </p:spPr>
          <p:txBody>
            <a:bodyPr lIns="0" tIns="0" rIns="0" bIns="0" anchor="ctr">
              <a:spAutoFit/>
            </a:bodyPr>
            <a:lstStyle/>
            <a:p>
              <a:endParaRPr lang="en-US"/>
            </a:p>
          </p:txBody>
        </p:sp>
        <p:sp>
          <p:nvSpPr>
            <p:cNvPr id="19" name="Freeform 51"/>
            <p:cNvSpPr>
              <a:spLocks/>
            </p:cNvSpPr>
            <p:nvPr/>
          </p:nvSpPr>
          <p:spPr bwMode="auto">
            <a:xfrm rot="-1165455">
              <a:off x="3586" y="985"/>
              <a:ext cx="128" cy="123"/>
            </a:xfrm>
            <a:custGeom>
              <a:avLst/>
              <a:gdLst>
                <a:gd name="T0" fmla="*/ 0 w 609"/>
                <a:gd name="T1" fmla="*/ 0 h 587"/>
                <a:gd name="T2" fmla="*/ 0 w 609"/>
                <a:gd name="T3" fmla="*/ 0 h 587"/>
                <a:gd name="T4" fmla="*/ 0 w 609"/>
                <a:gd name="T5" fmla="*/ 0 h 587"/>
                <a:gd name="T6" fmla="*/ 0 w 609"/>
                <a:gd name="T7" fmla="*/ 0 h 587"/>
                <a:gd name="T8" fmla="*/ 0 w 609"/>
                <a:gd name="T9" fmla="*/ 0 h 587"/>
                <a:gd name="T10" fmla="*/ 0 w 609"/>
                <a:gd name="T11" fmla="*/ 0 h 587"/>
                <a:gd name="T12" fmla="*/ 0 w 609"/>
                <a:gd name="T13" fmla="*/ 0 h 587"/>
                <a:gd name="T14" fmla="*/ 0 60000 65536"/>
                <a:gd name="T15" fmla="*/ 0 60000 65536"/>
                <a:gd name="T16" fmla="*/ 0 60000 65536"/>
                <a:gd name="T17" fmla="*/ 0 60000 65536"/>
                <a:gd name="T18" fmla="*/ 0 60000 65536"/>
                <a:gd name="T19" fmla="*/ 0 60000 65536"/>
                <a:gd name="T20" fmla="*/ 0 60000 65536"/>
                <a:gd name="T21" fmla="*/ 0 w 609"/>
                <a:gd name="T22" fmla="*/ 0 h 587"/>
                <a:gd name="T23" fmla="*/ 609 w 609"/>
                <a:gd name="T24" fmla="*/ 587 h 58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609" h="587">
                  <a:moveTo>
                    <a:pt x="609" y="563"/>
                  </a:moveTo>
                  <a:cubicBezTo>
                    <a:pt x="502" y="575"/>
                    <a:pt x="396" y="587"/>
                    <a:pt x="325" y="563"/>
                  </a:cubicBezTo>
                  <a:cubicBezTo>
                    <a:pt x="254" y="539"/>
                    <a:pt x="194" y="479"/>
                    <a:pt x="183" y="421"/>
                  </a:cubicBezTo>
                  <a:cubicBezTo>
                    <a:pt x="172" y="363"/>
                    <a:pt x="244" y="273"/>
                    <a:pt x="259" y="212"/>
                  </a:cubicBezTo>
                  <a:cubicBezTo>
                    <a:pt x="274" y="151"/>
                    <a:pt x="288" y="88"/>
                    <a:pt x="275" y="53"/>
                  </a:cubicBezTo>
                  <a:cubicBezTo>
                    <a:pt x="262" y="18"/>
                    <a:pt x="229" y="6"/>
                    <a:pt x="183" y="3"/>
                  </a:cubicBezTo>
                  <a:cubicBezTo>
                    <a:pt x="137" y="0"/>
                    <a:pt x="68" y="18"/>
                    <a:pt x="0" y="37"/>
                  </a:cubicBezTo>
                </a:path>
              </a:pathLst>
            </a:cu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0" name="Oval 52"/>
            <p:cNvSpPr>
              <a:spLocks noChangeArrowheads="1"/>
            </p:cNvSpPr>
            <p:nvPr/>
          </p:nvSpPr>
          <p:spPr bwMode="auto">
            <a:xfrm rot="-1165455">
              <a:off x="3694" y="1057"/>
              <a:ext cx="52" cy="52"/>
            </a:xfrm>
            <a:prstGeom prst="ellipse">
              <a:avLst/>
            </a:prstGeom>
            <a:solidFill>
              <a:schemeClr val="bg1"/>
            </a:solidFill>
            <a:ln>
              <a:noFill/>
            </a:ln>
            <a:extLst>
              <a:ext uri="{91240B29-F687-4F45-9708-019B960494DF}">
                <a14:hiddenLine xmlns:a14="http://schemas.microsoft.com/office/drawing/2010/main" w="28575" algn="ctr">
                  <a:solidFill>
                    <a:srgbClr val="000000"/>
                  </a:solidFill>
                  <a:round/>
                  <a:headEnd/>
                  <a:tailEnd/>
                </a14:hiddenLine>
              </a:ext>
            </a:extLst>
          </p:spPr>
          <p:txBody>
            <a:bodyPr wrap="none" lIns="0" tIns="0" rIns="0" bIns="0" anchor="ctr">
              <a:spAutoFit/>
            </a:bodyPr>
            <a:lstStyle/>
            <a:p>
              <a:endParaRPr lang="en-US"/>
            </a:p>
          </p:txBody>
        </p:sp>
        <p:pic>
          <p:nvPicPr>
            <p:cNvPr id="21" name="Picture 53" descr="BS01887_"/>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rot="-3865455">
              <a:off x="3789" y="1033"/>
              <a:ext cx="157"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3351133295"/>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smtClean="0"/>
              <a:t>How do account, producer, and billing</a:t>
            </a:r>
            <a:endParaRPr lang="en-US" dirty="0"/>
          </a:p>
        </p:txBody>
      </p:sp>
      <p:sp>
        <p:nvSpPr>
          <p:cNvPr id="5" name="Rounded Rectangle 4"/>
          <p:cNvSpPr/>
          <p:nvPr/>
        </p:nvSpPr>
        <p:spPr bwMode="auto">
          <a:xfrm>
            <a:off x="6324600" y="1371600"/>
            <a:ext cx="2560320" cy="5105400"/>
          </a:xfrm>
          <a:prstGeom prst="roundRect">
            <a:avLst>
              <a:gd name="adj" fmla="val 5270"/>
            </a:avLst>
          </a:prstGeom>
          <a:solidFill>
            <a:schemeClr val="accent4">
              <a:lumMod val="20000"/>
              <a:lumOff val="8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ounded Rectangle 5"/>
          <p:cNvSpPr/>
          <p:nvPr/>
        </p:nvSpPr>
        <p:spPr bwMode="auto">
          <a:xfrm>
            <a:off x="533400" y="1371600"/>
            <a:ext cx="5181600" cy="5105400"/>
          </a:xfrm>
          <a:prstGeom prst="roundRect">
            <a:avLst>
              <a:gd name="adj" fmla="val 2845"/>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315" y="895350"/>
            <a:ext cx="565485" cy="548640"/>
          </a:xfrm>
          <a:prstGeom prst="rect">
            <a:avLst/>
          </a:prstGeom>
          <a:effectLst>
            <a:outerShdw blurRad="50800" dist="38100" dir="2700000" algn="tl" rotWithShape="0">
              <a:prstClr val="black">
                <a:alpha val="40000"/>
              </a:prstClr>
            </a:outerShdw>
          </a:effectLst>
        </p:spPr>
      </p:pic>
      <p:pic>
        <p:nvPicPr>
          <p:cNvPr id="12"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4462" y="3045400"/>
            <a:ext cx="1268492" cy="13742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icon GWP file"/>
          <p:cNvGrpSpPr/>
          <p:nvPr/>
        </p:nvGrpSpPr>
        <p:grpSpPr>
          <a:xfrm>
            <a:off x="815050" y="3045400"/>
            <a:ext cx="893396" cy="1103661"/>
            <a:chOff x="4592771" y="2146900"/>
            <a:chExt cx="1125708" cy="1390650"/>
          </a:xfrm>
        </p:grpSpPr>
        <p:pic>
          <p:nvPicPr>
            <p:cNvPr id="1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18"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19"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20"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21"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sp>
          <p:nvSpPr>
            <p:cNvPr id="17" name="TextBox 16"/>
            <p:cNvSpPr txBox="1"/>
            <p:nvPr/>
          </p:nvSpPr>
          <p:spPr>
            <a:xfrm>
              <a:off x="4758824" y="3097051"/>
              <a:ext cx="843636" cy="328617"/>
            </a:xfrm>
            <a:prstGeom prst="rect">
              <a:avLst/>
            </a:prstGeom>
            <a:noFill/>
          </p:spPr>
          <p:txBody>
            <a:bodyPr wrap="square" rtlCol="0">
              <a:noAutofit/>
            </a:bodyPr>
            <a:lstStyle/>
            <a:p>
              <a:pPr algn="ctr"/>
              <a:r>
                <a:rPr lang="en-US" sz="1600" b="1" dirty="0" smtClean="0">
                  <a:solidFill>
                    <a:schemeClr val="bg2"/>
                  </a:solidFill>
                  <a:latin typeface="Arial" pitchFamily="32" charset="0"/>
                  <a:cs typeface="Arial" pitchFamily="32" charset="0"/>
                </a:rPr>
                <a:t>GWP</a:t>
              </a:r>
            </a:p>
          </p:txBody>
        </p:sp>
      </p:grpSp>
      <p:pic>
        <p:nvPicPr>
          <p:cNvPr id="22"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7062" y="3045400"/>
            <a:ext cx="1299338" cy="10663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17605" y="3045400"/>
            <a:ext cx="1164906" cy="124434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TextBox 87"/>
          <p:cNvSpPr txBox="1">
            <a:spLocks noChangeArrowheads="1"/>
          </p:cNvSpPr>
          <p:nvPr/>
        </p:nvSpPr>
        <p:spPr bwMode="auto">
          <a:xfrm>
            <a:off x="6729685" y="4267200"/>
            <a:ext cx="1050925"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Billing</a:t>
            </a:r>
            <a:br>
              <a:rPr lang="en-US" sz="1600">
                <a:solidFill>
                  <a:schemeClr val="bg1"/>
                </a:solidFill>
                <a:latin typeface="+mn-lt"/>
              </a:rPr>
            </a:br>
            <a:r>
              <a:rPr lang="en-US" sz="1600">
                <a:solidFill>
                  <a:schemeClr val="bg1"/>
                </a:solidFill>
                <a:latin typeface="+mn-lt"/>
              </a:rPr>
              <a:t>API</a:t>
            </a:r>
          </a:p>
        </p:txBody>
      </p:sp>
      <p:sp>
        <p:nvSpPr>
          <p:cNvPr id="29" name="TextBox 84"/>
          <p:cNvSpPr txBox="1">
            <a:spLocks noChangeArrowheads="1"/>
          </p:cNvSpPr>
          <p:nvPr/>
        </p:nvSpPr>
        <p:spPr bwMode="auto">
          <a:xfrm>
            <a:off x="615173" y="4267200"/>
            <a:ext cx="1346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IBilling</a:t>
            </a:r>
            <a:br>
              <a:rPr lang="en-US" sz="1600">
                <a:solidFill>
                  <a:schemeClr val="bg1"/>
                </a:solidFill>
                <a:latin typeface="+mn-lt"/>
              </a:rPr>
            </a:br>
            <a:r>
              <a:rPr lang="en-US" sz="1600">
                <a:solidFill>
                  <a:schemeClr val="bg1"/>
                </a:solidFill>
                <a:latin typeface="+mn-lt"/>
              </a:rPr>
              <a:t>System</a:t>
            </a:r>
            <a:br>
              <a:rPr lang="en-US" sz="1600">
                <a:solidFill>
                  <a:schemeClr val="bg1"/>
                </a:solidFill>
                <a:latin typeface="+mn-lt"/>
              </a:rPr>
            </a:br>
            <a:r>
              <a:rPr lang="en-US" sz="1600">
                <a:solidFill>
                  <a:schemeClr val="bg1"/>
                </a:solidFill>
                <a:latin typeface="+mn-lt"/>
              </a:rPr>
              <a:t>Plugin</a:t>
            </a:r>
          </a:p>
        </p:txBody>
      </p:sp>
      <p:sp>
        <p:nvSpPr>
          <p:cNvPr id="30" name="TextBox 85"/>
          <p:cNvSpPr txBox="1">
            <a:spLocks noChangeArrowheads="1"/>
          </p:cNvSpPr>
          <p:nvPr/>
        </p:nvSpPr>
        <p:spPr bwMode="auto">
          <a:xfrm>
            <a:off x="2110907" y="4267200"/>
            <a:ext cx="1876425"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BCBilling</a:t>
            </a:r>
            <a:br>
              <a:rPr lang="en-US" sz="1600">
                <a:solidFill>
                  <a:schemeClr val="bg1"/>
                </a:solidFill>
                <a:latin typeface="+mn-lt"/>
              </a:rPr>
            </a:br>
            <a:r>
              <a:rPr lang="en-US" sz="1600">
                <a:solidFill>
                  <a:schemeClr val="bg1"/>
                </a:solidFill>
                <a:latin typeface="+mn-lt"/>
              </a:rPr>
              <a:t>System</a:t>
            </a:r>
            <a:br>
              <a:rPr lang="en-US" sz="1600">
                <a:solidFill>
                  <a:schemeClr val="bg1"/>
                </a:solidFill>
                <a:latin typeface="+mn-lt"/>
              </a:rPr>
            </a:br>
            <a:r>
              <a:rPr lang="en-US" sz="1600">
                <a:solidFill>
                  <a:schemeClr val="bg1"/>
                </a:solidFill>
                <a:latin typeface="+mn-lt"/>
              </a:rPr>
              <a:t>Plugin</a:t>
            </a:r>
          </a:p>
        </p:txBody>
      </p:sp>
      <p:sp>
        <p:nvSpPr>
          <p:cNvPr id="31" name="TextBox 86"/>
          <p:cNvSpPr txBox="1">
            <a:spLocks noChangeArrowheads="1"/>
          </p:cNvSpPr>
          <p:nvPr/>
        </p:nvSpPr>
        <p:spPr bwMode="auto">
          <a:xfrm>
            <a:off x="4191000" y="4267200"/>
            <a:ext cx="12461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BCBilling</a:t>
            </a:r>
            <a:br>
              <a:rPr lang="en-US" sz="1600">
                <a:solidFill>
                  <a:schemeClr val="bg1"/>
                </a:solidFill>
                <a:latin typeface="+mn-lt"/>
              </a:rPr>
            </a:br>
            <a:r>
              <a:rPr lang="en-US" sz="1600">
                <a:solidFill>
                  <a:schemeClr val="bg1"/>
                </a:solidFill>
                <a:latin typeface="+mn-lt"/>
              </a:rPr>
              <a:t>System</a:t>
            </a:r>
            <a:br>
              <a:rPr lang="en-US" sz="1600">
                <a:solidFill>
                  <a:schemeClr val="bg1"/>
                </a:solidFill>
                <a:latin typeface="+mn-lt"/>
              </a:rPr>
            </a:br>
            <a:r>
              <a:rPr lang="en-US" sz="1600">
                <a:solidFill>
                  <a:schemeClr val="bg1"/>
                </a:solidFill>
                <a:latin typeface="+mn-lt"/>
              </a:rPr>
              <a:t>API</a:t>
            </a:r>
          </a:p>
        </p:txBody>
      </p:sp>
      <p:sp>
        <p:nvSpPr>
          <p:cNvPr id="32" name="TextBox 84"/>
          <p:cNvSpPr txBox="1">
            <a:spLocks noChangeArrowheads="1"/>
          </p:cNvSpPr>
          <p:nvPr/>
        </p:nvSpPr>
        <p:spPr bwMode="auto">
          <a:xfrm>
            <a:off x="533400" y="1606127"/>
            <a:ext cx="1346200"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Policy transaction issued</a:t>
            </a:r>
          </a:p>
        </p:txBody>
      </p:sp>
      <p:cxnSp>
        <p:nvCxnSpPr>
          <p:cNvPr id="34" name="Straight Arrow Connector 33"/>
          <p:cNvCxnSpPr/>
          <p:nvPr/>
        </p:nvCxnSpPr>
        <p:spPr bwMode="auto">
          <a:xfrm>
            <a:off x="1879600" y="3665219"/>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6" name="Straight Arrow Connector 35"/>
          <p:cNvCxnSpPr/>
          <p:nvPr/>
        </p:nvCxnSpPr>
        <p:spPr bwMode="auto">
          <a:xfrm>
            <a:off x="1194518" y="2425700"/>
            <a:ext cx="0" cy="45720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8" name="Straight Arrow Connector 37"/>
          <p:cNvCxnSpPr/>
          <p:nvPr/>
        </p:nvCxnSpPr>
        <p:spPr bwMode="auto">
          <a:xfrm>
            <a:off x="3702954" y="3665219"/>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9" name="Straight Arrow Connector 38"/>
          <p:cNvCxnSpPr/>
          <p:nvPr/>
        </p:nvCxnSpPr>
        <p:spPr bwMode="auto">
          <a:xfrm>
            <a:off x="5510892" y="3583468"/>
            <a:ext cx="1024517"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40" name="Straight Arrow Connector 39"/>
          <p:cNvCxnSpPr/>
          <p:nvPr/>
        </p:nvCxnSpPr>
        <p:spPr bwMode="auto">
          <a:xfrm flipH="1">
            <a:off x="5459186" y="3810000"/>
            <a:ext cx="1051731"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33" name="Picture 32" descr="PolicyCenter.png"/>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35"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smtClean="0"/>
              <a:t>instruction processing </a:t>
            </a:r>
            <a:r>
              <a:rPr lang="en-US" dirty="0"/>
              <a:t>work?</a:t>
            </a:r>
          </a:p>
        </p:txBody>
      </p:sp>
    </p:spTree>
    <p:extLst>
      <p:ext uri="{BB962C8B-B14F-4D97-AF65-F5344CB8AC3E}">
        <p14:creationId xmlns:p14="http://schemas.microsoft.com/office/powerpoint/2010/main" val="4269833738"/>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to enable account, producer,  and</a:t>
            </a:r>
            <a:endParaRPr lang="en-US" dirty="0"/>
          </a:p>
        </p:txBody>
      </p:sp>
      <p:sp>
        <p:nvSpPr>
          <p:cNvPr id="5" name="Subtitle 4"/>
          <p:cNvSpPr>
            <a:spLocks noGrp="1"/>
          </p:cNvSpPr>
          <p:nvPr>
            <p:ph type="subTitle" idx="10"/>
          </p:nvPr>
        </p:nvSpPr>
        <p:spPr/>
        <p:txBody>
          <a:bodyPr/>
          <a:lstStyle/>
          <a:p>
            <a:r>
              <a:rPr lang="en-US" dirty="0" smtClean="0"/>
              <a:t>        BillingCenter</a:t>
            </a:r>
            <a:endParaRPr lang="en-US" dirty="0"/>
          </a:p>
        </p:txBody>
      </p:sp>
      <p:sp>
        <p:nvSpPr>
          <p:cNvPr id="12" name="Text Placeholder 11"/>
          <p:cNvSpPr>
            <a:spLocks noGrp="1"/>
          </p:cNvSpPr>
          <p:nvPr>
            <p:ph type="body" sz="quarter" idx="11"/>
          </p:nvPr>
        </p:nvSpPr>
        <p:spPr/>
        <p:txBody>
          <a:bodyPr/>
          <a:lstStyle/>
          <a:p>
            <a:r>
              <a:rPr lang="en-US" dirty="0" smtClean="0"/>
              <a:t>        PolicyCenter</a:t>
            </a:r>
            <a:endParaRPr lang="en-US" dirty="0"/>
          </a:p>
        </p:txBody>
      </p:sp>
      <p:sp>
        <p:nvSpPr>
          <p:cNvPr id="11" name="Content Placeholder 10"/>
          <p:cNvSpPr>
            <a:spLocks noGrp="1"/>
          </p:cNvSpPr>
          <p:nvPr>
            <p:ph sz="half" idx="2"/>
          </p:nvPr>
        </p:nvSpPr>
        <p:spPr/>
        <p:txBody>
          <a:bodyPr/>
          <a:lstStyle/>
          <a:p>
            <a:pPr marL="457200" indent="-457200">
              <a:buFont typeface="+mj-lt"/>
              <a:buAutoNum type="arabicPeriod" startAt="2"/>
            </a:pPr>
            <a:r>
              <a:rPr lang="en-US" dirty="0" smtClean="0"/>
              <a:t>Open </a:t>
            </a:r>
            <a:r>
              <a:rPr lang="en-US" dirty="0" err="1" smtClean="0"/>
              <a:t>IBillingSystemPlugin</a:t>
            </a:r>
            <a:endParaRPr lang="en-US" dirty="0" smtClean="0"/>
          </a:p>
          <a:p>
            <a:pPr marL="457200" indent="-457200">
              <a:buFont typeface="+mj-lt"/>
              <a:buAutoNum type="arabicPeriod" startAt="2"/>
            </a:pPr>
            <a:r>
              <a:rPr lang="en-US" dirty="0" smtClean="0"/>
              <a:t>Change the Gosu class</a:t>
            </a:r>
          </a:p>
          <a:p>
            <a:pPr marL="457200" indent="-457200">
              <a:buFont typeface="+mj-lt"/>
              <a:buAutoNum type="arabicPeriod" startAt="2"/>
            </a:pPr>
            <a:r>
              <a:rPr lang="en-US" dirty="0" smtClean="0"/>
              <a:t>Edit the plugin configuration</a:t>
            </a:r>
          </a:p>
          <a:p>
            <a:pPr marL="457200" indent="-457200">
              <a:buFont typeface="+mj-lt"/>
              <a:buAutoNum type="arabicPeriod" startAt="2"/>
            </a:pPr>
            <a:r>
              <a:rPr lang="en-US" dirty="0"/>
              <a:t>Edit suite-config.xml</a:t>
            </a:r>
          </a:p>
          <a:p>
            <a:pPr marL="457200" indent="-457200">
              <a:buFont typeface="+mj-lt"/>
              <a:buAutoNum type="arabicPeriod" startAt="2"/>
            </a:pPr>
            <a:r>
              <a:rPr lang="en-US" dirty="0" smtClean="0"/>
              <a:t>Refresh the Web </a:t>
            </a:r>
            <a:r>
              <a:rPr lang="en-US" dirty="0"/>
              <a:t>Service collection </a:t>
            </a:r>
            <a:r>
              <a:rPr lang="en-US" dirty="0" smtClean="0"/>
              <a:t>WSDL</a:t>
            </a:r>
          </a:p>
          <a:p>
            <a:pPr marL="457200" indent="-457200">
              <a:buFont typeface="+mj-lt"/>
              <a:buAutoNum type="arabicPeriod" startAt="2"/>
            </a:pPr>
            <a:r>
              <a:rPr lang="en-US" dirty="0" smtClean="0"/>
              <a:t>Deploy your changes</a:t>
            </a:r>
          </a:p>
          <a:p>
            <a:endParaRPr lang="en-US" dirty="0" smtClean="0"/>
          </a:p>
          <a:p>
            <a:pPr marL="457200" indent="-457200">
              <a:buFont typeface="+mj-lt"/>
              <a:buAutoNum type="arabicPeriod" startAt="2"/>
            </a:pPr>
            <a:endParaRPr lang="en-US" dirty="0" smtClean="0"/>
          </a:p>
        </p:txBody>
      </p:sp>
      <p:sp>
        <p:nvSpPr>
          <p:cNvPr id="3" name="Content Placeholder 2"/>
          <p:cNvSpPr>
            <a:spLocks noGrp="1"/>
          </p:cNvSpPr>
          <p:nvPr>
            <p:ph sz="half" idx="1"/>
          </p:nvPr>
        </p:nvSpPr>
        <p:spPr/>
        <p:txBody>
          <a:bodyPr/>
          <a:lstStyle/>
          <a:p>
            <a:pPr marL="457200" indent="-457200">
              <a:buFont typeface="+mj-lt"/>
              <a:buAutoNum type="arabicPeriod"/>
            </a:pPr>
            <a:r>
              <a:rPr lang="en-US" dirty="0"/>
              <a:t>Start </a:t>
            </a:r>
            <a:r>
              <a:rPr lang="en-US" dirty="0" smtClean="0"/>
              <a:t>BillingCenter</a:t>
            </a:r>
            <a:br>
              <a:rPr lang="en-US" dirty="0" smtClean="0"/>
            </a:br>
            <a:endParaRPr lang="en-US" dirty="0" smtClean="0"/>
          </a:p>
          <a:p>
            <a:pPr marL="457200" indent="-457200">
              <a:buFont typeface="+mj-lt"/>
              <a:buAutoNum type="arabicPeriod"/>
            </a:pPr>
            <a:endParaRPr lang="en-US" dirty="0"/>
          </a:p>
          <a:p>
            <a:pPr marL="0" indent="0">
              <a:buNone/>
            </a:pPr>
            <a:r>
              <a:rPr lang="en-US" dirty="0" smtClean="0"/>
              <a:t/>
            </a:r>
            <a:br>
              <a:rPr lang="en-US" dirty="0" smtClean="0"/>
            </a:br>
            <a:endParaRPr lang="en-US" dirty="0" smtClean="0"/>
          </a:p>
          <a:p>
            <a:pPr marL="457200" indent="-457200">
              <a:buFont typeface="+mj-lt"/>
              <a:buAutoNum type="arabicPeriod"/>
            </a:pPr>
            <a:endParaRPr lang="en-US" dirty="0"/>
          </a:p>
          <a:p>
            <a:pPr marL="457200" indent="-457200">
              <a:buFont typeface="+mj-lt"/>
              <a:buAutoNum type="arabicPeriod"/>
            </a:pPr>
            <a:endParaRPr lang="en-US" dirty="0" smtClean="0"/>
          </a:p>
          <a:p>
            <a:pPr marL="0" indent="0">
              <a:buNone/>
            </a:pPr>
            <a:endParaRPr lang="en-US" dirty="0"/>
          </a:p>
        </p:txBody>
      </p:sp>
      <p:pic>
        <p:nvPicPr>
          <p:cNvPr id="10" name="pic Logo PC"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4023" y="889000"/>
            <a:ext cx="565862" cy="548640"/>
          </a:xfrm>
          <a:prstGeom prst="rect">
            <a:avLst/>
          </a:prstGeom>
          <a:effectLst>
            <a:outerShdw blurRad="50800" dist="38100" dir="2700000" algn="tl" rotWithShape="0">
              <a:prstClr val="black">
                <a:alpha val="40000"/>
              </a:prstClr>
            </a:outerShdw>
          </a:effectLst>
        </p:spPr>
      </p:pic>
      <p:pic>
        <p:nvPicPr>
          <p:cNvPr id="13" name="pic Logo B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4350" y="889000"/>
            <a:ext cx="565485" cy="548640"/>
          </a:xfrm>
          <a:prstGeom prst="rect">
            <a:avLst/>
          </a:prstGeom>
          <a:effectLst>
            <a:outerShdw blurRad="50800" dist="38100" dir="2700000" algn="tl" rotWithShape="0">
              <a:prstClr val="black">
                <a:alpha val="40000"/>
              </a:prstClr>
            </a:outerShdw>
          </a:effectLst>
        </p:spPr>
      </p:pic>
      <p:sp>
        <p:nvSpPr>
          <p:cNvPr id="14"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smtClean="0"/>
              <a:t>billing instruction processing</a:t>
            </a:r>
            <a:endParaRPr lang="en-US" dirty="0"/>
          </a:p>
        </p:txBody>
      </p:sp>
    </p:spTree>
    <p:extLst>
      <p:ext uri="{BB962C8B-B14F-4D97-AF65-F5344CB8AC3E}">
        <p14:creationId xmlns:p14="http://schemas.microsoft.com/office/powerpoint/2010/main" val="1845952166"/>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 Logo BC"/>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180" y="137160"/>
            <a:ext cx="565485"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dirty="0" smtClean="0"/>
              <a:t>Start BillingCenter</a:t>
            </a:r>
            <a:endParaRPr lang="en-US" dirty="0"/>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gwbc</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dev</a:t>
            </a:r>
            <a:r>
              <a:rPr lang="en-US" b="1" dirty="0" smtClean="0">
                <a:latin typeface="Courier New" pitchFamily="49" charset="0"/>
                <a:cs typeface="Courier New" pitchFamily="49" charset="0"/>
              </a:rPr>
              <a:t>-start</a:t>
            </a:r>
          </a:p>
          <a:p>
            <a:r>
              <a:rPr lang="en-US" dirty="0" smtClean="0"/>
              <a:t>Starts BillingCenter </a:t>
            </a:r>
          </a:p>
          <a:p>
            <a:r>
              <a:rPr lang="en-US" dirty="0" err="1" smtClean="0"/>
              <a:t>BillingAPI</a:t>
            </a:r>
            <a:r>
              <a:rPr lang="en-US" dirty="0" smtClean="0"/>
              <a:t> web service starts</a:t>
            </a:r>
          </a:p>
          <a:p>
            <a:endParaRPr lang="en-US" dirty="0"/>
          </a:p>
        </p:txBody>
      </p:sp>
      <p:sp>
        <p:nvSpPr>
          <p:cNvPr id="4" name="Rectangle 3"/>
          <p:cNvSpPr/>
          <p:nvPr/>
        </p:nvSpPr>
        <p:spPr bwMode="auto">
          <a:xfrm>
            <a:off x="533400" y="3276600"/>
            <a:ext cx="8229600" cy="3048000"/>
          </a:xfrm>
          <a:prstGeom prst="rect">
            <a:avLst/>
          </a:prstGeom>
          <a:solidFill>
            <a:schemeClr val="tx2">
              <a:lumMod val="75000"/>
            </a:schemeClr>
          </a:solidFill>
          <a:ln w="19050" algn="ctr">
            <a:solidFill>
              <a:schemeClr val="tx2">
                <a:lumMod val="75000"/>
              </a:schemeClr>
            </a:solidFill>
            <a:round/>
            <a:headEnd/>
            <a:tailEnd/>
          </a:ln>
        </p:spPr>
        <p:txBody>
          <a:bodyPr wrap="none" lIns="91440" tIns="91440" rIns="0" bIns="91440" rtlCol="0" anchor="t" anchorCtr="0">
            <a:noAutofit/>
          </a:bodyPr>
          <a:lstStyle/>
          <a:p>
            <a:pPr>
              <a:spcBef>
                <a:spcPct val="50000"/>
              </a:spcBef>
              <a:spcAft>
                <a:spcPct val="30000"/>
              </a:spcAft>
              <a:buClr>
                <a:schemeClr val="tx1"/>
              </a:buClr>
            </a:pPr>
            <a:r>
              <a:rPr lang="en-US" sz="1600" dirty="0">
                <a:solidFill>
                  <a:schemeClr val="bg1"/>
                </a:solidFill>
                <a:latin typeface="Lucida Console" pitchFamily="49" charset="0"/>
              </a:rPr>
              <a:t>C:\</a:t>
            </a:r>
            <a:r>
              <a:rPr lang="en-US" sz="1600" dirty="0" smtClean="0">
                <a:solidFill>
                  <a:schemeClr val="bg1"/>
                </a:solidFill>
                <a:latin typeface="Lucida Console" pitchFamily="49" charset="0"/>
              </a:rPr>
              <a:t>Guidewire\BillingCenter\bin&gt;gwbc </a:t>
            </a:r>
            <a:r>
              <a:rPr lang="en-US" sz="1600" dirty="0" err="1">
                <a:solidFill>
                  <a:schemeClr val="bg1"/>
                </a:solidFill>
                <a:latin typeface="Lucida Console" pitchFamily="49" charset="0"/>
              </a:rPr>
              <a:t>dev</a:t>
            </a:r>
            <a:r>
              <a:rPr lang="en-US" sz="1600" dirty="0">
                <a:solidFill>
                  <a:schemeClr val="bg1"/>
                </a:solidFill>
                <a:latin typeface="Lucida Console" pitchFamily="49" charset="0"/>
              </a:rPr>
              <a:t>-start</a:t>
            </a:r>
          </a:p>
          <a:p>
            <a:pPr>
              <a:spcBef>
                <a:spcPct val="50000"/>
              </a:spcBef>
              <a:spcAft>
                <a:spcPct val="30000"/>
              </a:spcAft>
              <a:buClr>
                <a:schemeClr val="tx1"/>
              </a:buClr>
            </a:pPr>
            <a:r>
              <a:rPr lang="en-US" sz="1600" dirty="0" err="1">
                <a:solidFill>
                  <a:schemeClr val="bg1"/>
                </a:solidFill>
                <a:latin typeface="Lucida Console" pitchFamily="49" charset="0"/>
              </a:rPr>
              <a:t>dev</a:t>
            </a:r>
            <a:r>
              <a:rPr lang="en-US" sz="1600" dirty="0">
                <a:solidFill>
                  <a:schemeClr val="bg1"/>
                </a:solidFill>
                <a:latin typeface="Lucida Console" pitchFamily="49" charset="0"/>
              </a:rPr>
              <a:t>-start</a:t>
            </a:r>
            <a:r>
              <a:rPr lang="en-US" sz="1600" dirty="0" smtClean="0">
                <a:solidFill>
                  <a:schemeClr val="bg1"/>
                </a:solidFill>
                <a:latin typeface="Lucida Console" pitchFamily="49" charset="0"/>
              </a:rPr>
              <a:t>:</a:t>
            </a:r>
            <a:br>
              <a:rPr lang="en-US" sz="1600" dirty="0" smtClean="0">
                <a:solidFill>
                  <a:schemeClr val="bg1"/>
                </a:solidFill>
                <a:latin typeface="Lucida Console" pitchFamily="49" charset="0"/>
              </a:rPr>
            </a:br>
            <a:r>
              <a:rPr lang="en-US" sz="1600" dirty="0" smtClean="0">
                <a:solidFill>
                  <a:schemeClr val="bg1"/>
                </a:solidFill>
                <a:latin typeface="Lucida Console" pitchFamily="49" charset="0"/>
              </a:rPr>
              <a:t>====================================================</a:t>
            </a:r>
            <a:br>
              <a:rPr lang="en-US" sz="1600" dirty="0" smtClean="0">
                <a:solidFill>
                  <a:schemeClr val="bg1"/>
                </a:solidFill>
                <a:latin typeface="Lucida Console" pitchFamily="49" charset="0"/>
              </a:rPr>
            </a:br>
            <a:r>
              <a:rPr lang="en-US" sz="1600" dirty="0" smtClean="0">
                <a:solidFill>
                  <a:schemeClr val="bg1"/>
                </a:solidFill>
                <a:latin typeface="Lucida Console" pitchFamily="49" charset="0"/>
              </a:rPr>
              <a:t>= </a:t>
            </a:r>
            <a:r>
              <a:rPr lang="en-US" sz="1600" dirty="0">
                <a:solidFill>
                  <a:schemeClr val="bg1"/>
                </a:solidFill>
                <a:latin typeface="Lucida Console" pitchFamily="49" charset="0"/>
              </a:rPr>
              <a:t>Running main class: </a:t>
            </a:r>
            <a:r>
              <a:rPr lang="en-US" sz="1600" dirty="0" smtClean="0">
                <a:solidFill>
                  <a:schemeClr val="bg1"/>
                </a:solidFill>
                <a:latin typeface="Lucida Console" pitchFamily="49" charset="0"/>
              </a:rPr>
              <a:t/>
            </a:r>
            <a:br>
              <a:rPr lang="en-US" sz="1600" dirty="0" smtClean="0">
                <a:solidFill>
                  <a:schemeClr val="bg1"/>
                </a:solidFill>
                <a:latin typeface="Lucida Console" pitchFamily="49" charset="0"/>
              </a:rPr>
            </a:br>
            <a:r>
              <a:rPr lang="en-US" sz="1600" dirty="0" smtClean="0">
                <a:solidFill>
                  <a:schemeClr val="bg1"/>
                </a:solidFill>
                <a:latin typeface="Lucida Console" pitchFamily="49" charset="0"/>
              </a:rPr>
              <a:t> </a:t>
            </a:r>
            <a:r>
              <a:rPr lang="en-US" sz="1600" dirty="0" err="1" smtClean="0">
                <a:solidFill>
                  <a:schemeClr val="bg1"/>
                </a:solidFill>
                <a:latin typeface="Lucida Console" pitchFamily="49" charset="0"/>
              </a:rPr>
              <a:t>com.guidewire.commons.jetty.GWServerJettyServerMain</a:t>
            </a:r>
            <a:endParaRPr lang="en-US" sz="1600" dirty="0" smtClean="0">
              <a:solidFill>
                <a:schemeClr val="bg1"/>
              </a:solidFill>
              <a:latin typeface="Lucida Console" pitchFamily="49" charset="0"/>
            </a:endParaRPr>
          </a:p>
          <a:p>
            <a:pPr>
              <a:spcBef>
                <a:spcPct val="50000"/>
              </a:spcBef>
              <a:spcAft>
                <a:spcPct val="30000"/>
              </a:spcAft>
              <a:buClr>
                <a:schemeClr val="tx1"/>
              </a:buClr>
            </a:pPr>
            <a:r>
              <a:rPr lang="en-US" sz="1600" dirty="0" smtClean="0">
                <a:solidFill>
                  <a:schemeClr val="bg1"/>
                </a:solidFill>
                <a:latin typeface="Lucida Console" pitchFamily="49" charset="0"/>
              </a:rPr>
              <a:t>…</a:t>
            </a:r>
          </a:p>
          <a:p>
            <a:pPr>
              <a:spcBef>
                <a:spcPct val="50000"/>
              </a:spcBef>
              <a:spcAft>
                <a:spcPct val="30000"/>
              </a:spcAft>
              <a:buClr>
                <a:schemeClr val="tx1"/>
              </a:buClr>
            </a:pPr>
            <a:r>
              <a:rPr lang="en-US" sz="1600" dirty="0" smtClean="0">
                <a:solidFill>
                  <a:schemeClr val="bg1"/>
                </a:solidFill>
                <a:latin typeface="Lucida Console" pitchFamily="49" charset="0"/>
              </a:rPr>
              <a:t>[JAVA] machine   2014-10-10  INFO </a:t>
            </a:r>
            <a:r>
              <a:rPr lang="en-US" sz="1600" dirty="0">
                <a:solidFill>
                  <a:schemeClr val="bg1"/>
                </a:solidFill>
                <a:latin typeface="Lucida Console" pitchFamily="49" charset="0"/>
              </a:rPr>
              <a:t>***** </a:t>
            </a:r>
            <a:r>
              <a:rPr lang="en-US" sz="1600" dirty="0" smtClean="0">
                <a:solidFill>
                  <a:schemeClr val="bg1"/>
                </a:solidFill>
                <a:latin typeface="Lucida Console" pitchFamily="49" charset="0"/>
              </a:rPr>
              <a:t>BillingCenter </a:t>
            </a:r>
            <a:r>
              <a:rPr lang="en-US" sz="1600" dirty="0">
                <a:solidFill>
                  <a:schemeClr val="bg1"/>
                </a:solidFill>
                <a:latin typeface="Lucida Console" pitchFamily="49" charset="0"/>
              </a:rPr>
              <a:t>ready *****</a:t>
            </a:r>
          </a:p>
        </p:txBody>
      </p:sp>
      <p:sp>
        <p:nvSpPr>
          <p:cNvPr id="5"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1</a:t>
            </a:r>
          </a:p>
        </p:txBody>
      </p:sp>
    </p:spTree>
    <p:extLst>
      <p:ext uri="{BB962C8B-B14F-4D97-AF65-F5344CB8AC3E}">
        <p14:creationId xmlns:p14="http://schemas.microsoft.com/office/powerpoint/2010/main" val="403318969"/>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0" name="Picture 6" descr="C:\Users\sluersen\AppData\Local\Temp\SNAGHTML6320a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600"/>
            <a:ext cx="7410450" cy="265747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3" name="pic Logo PC"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dirty="0"/>
              <a:t>Open </a:t>
            </a:r>
            <a:r>
              <a:rPr lang="en-US" dirty="0" err="1"/>
              <a:t>IBillingSystemPlugin</a:t>
            </a:r>
            <a:r>
              <a:rPr lang="en-US" dirty="0"/>
              <a:t> </a:t>
            </a:r>
          </a:p>
        </p:txBody>
      </p:sp>
      <p:sp>
        <p:nvSpPr>
          <p:cNvPr id="3" name="Content Placeholder 2"/>
          <p:cNvSpPr>
            <a:spLocks noGrp="1"/>
          </p:cNvSpPr>
          <p:nvPr>
            <p:ph sz="half" idx="2"/>
          </p:nvPr>
        </p:nvSpPr>
        <p:spPr>
          <a:xfrm>
            <a:off x="4008664" y="914401"/>
            <a:ext cx="5059136" cy="5475289"/>
          </a:xfrm>
        </p:spPr>
        <p:txBody>
          <a:bodyPr/>
          <a:lstStyle/>
          <a:p>
            <a:r>
              <a:rPr lang="en-US" dirty="0"/>
              <a:t>In Guidewire Studio for  PolicyCenter</a:t>
            </a:r>
            <a:r>
              <a:rPr lang="en-US" dirty="0" smtClean="0"/>
              <a:t>, open</a:t>
            </a:r>
            <a:br>
              <a:rPr lang="en-US" dirty="0" smtClean="0"/>
            </a:br>
            <a:r>
              <a:rPr lang="en-US" dirty="0" err="1" smtClean="0"/>
              <a:t>IBillingSystemPlugin.gwp</a:t>
            </a:r>
            <a:endParaRPr lang="en-US" dirty="0" smtClean="0"/>
          </a:p>
          <a:p>
            <a:pPr marL="0" indent="0">
              <a:buNone/>
            </a:pPr>
            <a:endParaRPr lang="en-US" dirty="0"/>
          </a:p>
        </p:txBody>
      </p:sp>
      <p:pic>
        <p:nvPicPr>
          <p:cNvPr id="2051"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914400"/>
            <a:ext cx="2728995" cy="250336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2</a:t>
            </a:r>
            <a:endParaRPr lang="en-US" dirty="0"/>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5181600"/>
            <a:ext cx="757714" cy="2234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00267866"/>
      </p:ext>
    </p:extLst>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descr="C:\Users\sluersen\AppData\Local\Temp\SNAGHTML60357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600"/>
            <a:ext cx="7410450" cy="265747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 Logo PC"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pic>
        <p:nvPicPr>
          <p:cNvPr id="14" name="pic DLG" descr="C:\Users\sluersen\AppData\Local\Temp\SNAGHTMLbe15261.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81550" y="2126796"/>
            <a:ext cx="4175860" cy="198800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Change the Gosu class</a:t>
            </a:r>
            <a:endParaRPr lang="en-US"/>
          </a:p>
        </p:txBody>
      </p:sp>
      <p:sp>
        <p:nvSpPr>
          <p:cNvPr id="3" name="Content Placeholder 2"/>
          <p:cNvSpPr>
            <a:spLocks noGrp="1"/>
          </p:cNvSpPr>
          <p:nvPr>
            <p:ph idx="1"/>
          </p:nvPr>
        </p:nvSpPr>
        <p:spPr/>
        <p:txBody>
          <a:bodyPr/>
          <a:lstStyle/>
          <a:p>
            <a:r>
              <a:rPr lang="en-US" dirty="0" smtClean="0"/>
              <a:t>In </a:t>
            </a:r>
            <a:r>
              <a:rPr lang="en-US" dirty="0"/>
              <a:t>Plugin Editor, </a:t>
            </a:r>
            <a:r>
              <a:rPr lang="en-US" dirty="0" smtClean="0"/>
              <a:t>change the Gosu class</a:t>
            </a:r>
          </a:p>
          <a:p>
            <a:pPr marL="857250" lvl="1" indent="-457200">
              <a:buFont typeface="+mj-lt"/>
              <a:buAutoNum type="arabicPeriod"/>
            </a:pPr>
            <a:r>
              <a:rPr lang="en-US" dirty="0" smtClean="0"/>
              <a:t>Click ellipse (…) </a:t>
            </a:r>
            <a:endParaRPr lang="en-US" dirty="0"/>
          </a:p>
          <a:p>
            <a:pPr marL="857250" lvl="1" indent="-457200">
              <a:buFont typeface="+mj-lt"/>
              <a:buAutoNum type="arabicPeriod"/>
            </a:pPr>
            <a:r>
              <a:rPr lang="en-US" dirty="0"/>
              <a:t>Search for </a:t>
            </a:r>
            <a:r>
              <a:rPr lang="en-US" dirty="0" err="1" smtClean="0"/>
              <a:t>BCBillingSystemPlugin</a:t>
            </a:r>
            <a:r>
              <a:rPr lang="en-US" dirty="0" smtClean="0"/>
              <a:t> (</a:t>
            </a:r>
            <a:r>
              <a:rPr lang="en-US" dirty="0"/>
              <a:t>bc800</a:t>
            </a:r>
            <a:r>
              <a:rPr lang="en-US" dirty="0" smtClean="0"/>
              <a:t>)</a:t>
            </a:r>
          </a:p>
          <a:p>
            <a:pPr marL="857250" lvl="1" indent="-457200">
              <a:buFont typeface="+mj-lt"/>
              <a:buAutoNum type="arabicPeriod"/>
            </a:pPr>
            <a:endParaRPr lang="en-US" dirty="0"/>
          </a:p>
          <a:p>
            <a:pPr marL="0" indent="0">
              <a:buNone/>
            </a:pPr>
            <a:endParaRPr lang="en-US" dirty="0"/>
          </a:p>
        </p:txBody>
      </p:sp>
      <p:sp>
        <p:nvSpPr>
          <p:cNvPr id="10" name="num2"/>
          <p:cNvSpPr/>
          <p:nvPr/>
        </p:nvSpPr>
        <p:spPr bwMode="auto">
          <a:xfrm>
            <a:off x="7848600" y="3663722"/>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2</a:t>
            </a:r>
            <a:endParaRPr lang="en-US" dirty="0"/>
          </a:p>
        </p:txBody>
      </p:sp>
      <p:sp>
        <p:nvSpPr>
          <p:cNvPr id="11" name="num1"/>
          <p:cNvSpPr/>
          <p:nvPr/>
        </p:nvSpPr>
        <p:spPr bwMode="auto">
          <a:xfrm>
            <a:off x="7772400" y="4345057"/>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1</a:t>
            </a:r>
            <a:endParaRPr lang="en-US" dirty="0"/>
          </a:p>
        </p:txBody>
      </p: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3</a:t>
            </a:r>
            <a:endParaRPr lang="en-US"/>
          </a:p>
        </p:txBody>
      </p:sp>
      <p:pic>
        <p:nvPicPr>
          <p:cNvPr id="13"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5181600"/>
            <a:ext cx="757714" cy="2234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05529392"/>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4" descr="C:\Users\sluersen\AppData\Local\Temp\SNAGHTML60357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600"/>
            <a:ext cx="7410450" cy="265747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9" name="pic Logo PC"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smtClean="0"/>
              <a:t>Edit the plugin configuration</a:t>
            </a:r>
            <a:endParaRPr lang="en-US"/>
          </a:p>
        </p:txBody>
      </p:sp>
      <p:sp>
        <p:nvSpPr>
          <p:cNvPr id="3" name="Content Placeholder 2"/>
          <p:cNvSpPr>
            <a:spLocks noGrp="1"/>
          </p:cNvSpPr>
          <p:nvPr>
            <p:ph sz="half" idx="2"/>
          </p:nvPr>
        </p:nvSpPr>
        <p:spPr>
          <a:xfrm>
            <a:off x="533400" y="914401"/>
            <a:ext cx="8534400" cy="5475289"/>
          </a:xfrm>
        </p:spPr>
        <p:txBody>
          <a:bodyPr/>
          <a:lstStyle/>
          <a:p>
            <a:pPr marL="457200" indent="-457200">
              <a:buFont typeface="+mj-lt"/>
              <a:buAutoNum type="arabicPeriod"/>
            </a:pPr>
            <a:r>
              <a:rPr lang="en-US" dirty="0" smtClean="0"/>
              <a:t>Enable, if disabled</a:t>
            </a:r>
          </a:p>
          <a:p>
            <a:pPr marL="0" indent="0">
              <a:buNone/>
            </a:pPr>
            <a:endParaRPr lang="en-US" dirty="0"/>
          </a:p>
        </p:txBody>
      </p:sp>
      <p:sp>
        <p:nvSpPr>
          <p:cNvPr id="7"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4</a:t>
            </a:r>
            <a:endParaRPr lang="en-US"/>
          </a:p>
        </p:txBody>
      </p:sp>
      <p:sp>
        <p:nvSpPr>
          <p:cNvPr id="15" name="num1"/>
          <p:cNvSpPr/>
          <p:nvPr/>
        </p:nvSpPr>
        <p:spPr bwMode="auto">
          <a:xfrm>
            <a:off x="4545330" y="5181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Tree>
    <p:extLst>
      <p:ext uri="{BB962C8B-B14F-4D97-AF65-F5344CB8AC3E}">
        <p14:creationId xmlns:p14="http://schemas.microsoft.com/office/powerpoint/2010/main" val="334984663"/>
      </p:ext>
    </p:extLst>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sluersen\AppData\Local\Temp\SNAGHTML78683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6" y="1447800"/>
            <a:ext cx="7810143" cy="186362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pPr marL="457200" indent="-457200"/>
            <a:r>
              <a:rPr lang="en-US" dirty="0" smtClean="0"/>
              <a:t>Edit </a:t>
            </a:r>
            <a:r>
              <a:rPr lang="en-US" dirty="0"/>
              <a:t>suite-config.xml</a:t>
            </a:r>
            <a:br>
              <a:rPr lang="en-US" dirty="0"/>
            </a:br>
            <a:endParaRPr lang="en-US" dirty="0"/>
          </a:p>
        </p:txBody>
      </p:sp>
      <p:sp>
        <p:nvSpPr>
          <p:cNvPr id="15" name="Text Placeholder 14"/>
          <p:cNvSpPr>
            <a:spLocks noGrp="1"/>
          </p:cNvSpPr>
          <p:nvPr>
            <p:ph idx="1"/>
          </p:nvPr>
        </p:nvSpPr>
        <p:spPr/>
        <p:txBody>
          <a:bodyPr/>
          <a:lstStyle/>
          <a:p>
            <a:r>
              <a:rPr lang="en-US" dirty="0" smtClean="0"/>
              <a:t>Specify the URL for BillingCenter in suite-config.xml</a:t>
            </a:r>
          </a:p>
          <a:p>
            <a:endParaRPr lang="en-US" dirty="0" smtClean="0"/>
          </a:p>
          <a:p>
            <a:endParaRPr lang="en-US" dirty="0"/>
          </a:p>
        </p:txBody>
      </p: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5</a:t>
            </a:r>
            <a:endParaRPr lang="en-US"/>
          </a:p>
        </p:txBody>
      </p:sp>
      <p:sp>
        <p:nvSpPr>
          <p:cNvPr id="20" name="Rounded Rectangle 19"/>
          <p:cNvSpPr/>
          <p:nvPr/>
        </p:nvSpPr>
        <p:spPr bwMode="auto">
          <a:xfrm>
            <a:off x="1583907" y="2739977"/>
            <a:ext cx="5274704" cy="306426"/>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2" name="pic Logo PC"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673954830"/>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sluersen\AppData\Local\Temp\SNAGHTML7f7c7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197" y="2819400"/>
            <a:ext cx="8018252" cy="358141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smtClean="0"/>
              <a:t>Refresh web service collection WSDL</a:t>
            </a:r>
            <a:endParaRPr lang="en-US" dirty="0"/>
          </a:p>
        </p:txBody>
      </p:sp>
      <p:sp>
        <p:nvSpPr>
          <p:cNvPr id="3" name="Content Placeholder 2"/>
          <p:cNvSpPr>
            <a:spLocks noGrp="1"/>
          </p:cNvSpPr>
          <p:nvPr>
            <p:ph idx="1"/>
          </p:nvPr>
        </p:nvSpPr>
        <p:spPr/>
        <p:txBody>
          <a:bodyPr/>
          <a:lstStyle/>
          <a:p>
            <a:r>
              <a:rPr lang="en-US" dirty="0" smtClean="0"/>
              <a:t>Open the </a:t>
            </a:r>
            <a:r>
              <a:rPr lang="en-US" dirty="0"/>
              <a:t>b</a:t>
            </a:r>
            <a:r>
              <a:rPr lang="en-US" dirty="0" smtClean="0"/>
              <a:t>c800.wsc collection in Studio</a:t>
            </a:r>
            <a:endParaRPr lang="en-US" dirty="0"/>
          </a:p>
          <a:p>
            <a:pPr lvl="1"/>
            <a:r>
              <a:rPr lang="en-US" b="1" dirty="0">
                <a:latin typeface="Courier New" pitchFamily="49" charset="0"/>
                <a:cs typeface="Courier New" pitchFamily="49" charset="0"/>
              </a:rPr>
              <a:t>…\</a:t>
            </a:r>
            <a:r>
              <a:rPr lang="en-US" b="1" dirty="0" err="1" smtClean="0">
                <a:latin typeface="Courier New" pitchFamily="49" charset="0"/>
                <a:cs typeface="Courier New" pitchFamily="49" charset="0"/>
              </a:rPr>
              <a:t>gsrc</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wsi</a:t>
            </a:r>
            <a:r>
              <a:rPr lang="en-US" b="1" dirty="0" smtClean="0">
                <a:latin typeface="Courier New" pitchFamily="49" charset="0"/>
                <a:cs typeface="Courier New" pitchFamily="49" charset="0"/>
              </a:rPr>
              <a:t>\remote\gw\</a:t>
            </a:r>
            <a:r>
              <a:rPr lang="en-US" b="1" dirty="0" err="1" smtClean="0">
                <a:latin typeface="Courier New" pitchFamily="49" charset="0"/>
                <a:cs typeface="Courier New" pitchFamily="49" charset="0"/>
              </a:rPr>
              <a:t>webservice</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bc</a:t>
            </a:r>
            <a:r>
              <a:rPr lang="en-US" b="1" dirty="0" smtClean="0">
                <a:latin typeface="Courier New" pitchFamily="49" charset="0"/>
                <a:cs typeface="Courier New" pitchFamily="49" charset="0"/>
              </a:rPr>
              <a:t>\bc800.wsc</a:t>
            </a:r>
            <a:endParaRPr lang="en-US" b="1" dirty="0">
              <a:latin typeface="Courier New" pitchFamily="49" charset="0"/>
              <a:cs typeface="Courier New" pitchFamily="49" charset="0"/>
            </a:endParaRPr>
          </a:p>
          <a:p>
            <a:r>
              <a:rPr lang="en-US" dirty="0" smtClean="0">
                <a:cs typeface="Courier New" pitchFamily="49" charset="0"/>
              </a:rPr>
              <a:t>To refresh the web service collection WSDL, click Fetch Updates</a:t>
            </a:r>
            <a:endParaRPr lang="en-US" dirty="0">
              <a:cs typeface="Courier New" pitchFamily="49" charset="0"/>
            </a:endParaRPr>
          </a:p>
        </p:txBody>
      </p:sp>
      <p:cxnSp>
        <p:nvCxnSpPr>
          <p:cNvPr id="8" name="Straight Arrow Connector 7"/>
          <p:cNvCxnSpPr/>
          <p:nvPr/>
        </p:nvCxnSpPr>
        <p:spPr bwMode="auto">
          <a:xfrm flipH="1">
            <a:off x="4953000" y="4267200"/>
            <a:ext cx="2473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6</a:t>
            </a:r>
            <a:endParaRPr lang="en-US"/>
          </a:p>
        </p:txBody>
      </p:sp>
      <p:pic>
        <p:nvPicPr>
          <p:cNvPr id="11" name="pic Logo PC"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0308389"/>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Deploy your changes</a:t>
            </a:r>
            <a:endParaRPr lang="en-US"/>
          </a:p>
        </p:txBody>
      </p:sp>
      <p:sp>
        <p:nvSpPr>
          <p:cNvPr id="21" name="Subtitle 20"/>
          <p:cNvSpPr>
            <a:spLocks noGrp="1"/>
          </p:cNvSpPr>
          <p:nvPr>
            <p:ph type="subTitle" idx="10"/>
          </p:nvPr>
        </p:nvSpPr>
        <p:spPr/>
        <p:txBody>
          <a:bodyPr/>
          <a:lstStyle/>
          <a:p>
            <a:r>
              <a:rPr lang="en-US" smtClean="0"/>
              <a:t>Restart Server</a:t>
            </a:r>
          </a:p>
          <a:p>
            <a:endParaRPr lang="en-US"/>
          </a:p>
        </p:txBody>
      </p:sp>
      <p:sp>
        <p:nvSpPr>
          <p:cNvPr id="28" name="Text Placeholder 27"/>
          <p:cNvSpPr>
            <a:spLocks noGrp="1"/>
          </p:cNvSpPr>
          <p:nvPr>
            <p:ph type="body" sz="quarter" idx="11"/>
          </p:nvPr>
        </p:nvSpPr>
        <p:spPr/>
        <p:txBody>
          <a:bodyPr/>
          <a:lstStyle/>
          <a:p>
            <a:r>
              <a:rPr lang="en-US"/>
              <a:t>Reload Changed Classes</a:t>
            </a:r>
          </a:p>
          <a:p>
            <a:endParaRPr lang="en-US"/>
          </a:p>
        </p:txBody>
      </p:sp>
      <p:sp>
        <p:nvSpPr>
          <p:cNvPr id="27" name="Content Placeholder 26"/>
          <p:cNvSpPr>
            <a:spLocks noGrp="1"/>
          </p:cNvSpPr>
          <p:nvPr>
            <p:ph sz="half" idx="2"/>
          </p:nvPr>
        </p:nvSpPr>
        <p:spPr/>
        <p:txBody>
          <a:bodyPr/>
          <a:lstStyle/>
          <a:p>
            <a:r>
              <a:rPr lang="en-US"/>
              <a:t>Class and mapping files</a:t>
            </a:r>
          </a:p>
          <a:p>
            <a:endParaRPr lang="en-US"/>
          </a:p>
        </p:txBody>
      </p:sp>
      <p:sp>
        <p:nvSpPr>
          <p:cNvPr id="19" name="Content Placeholder 18"/>
          <p:cNvSpPr>
            <a:spLocks noGrp="1"/>
          </p:cNvSpPr>
          <p:nvPr>
            <p:ph sz="half" idx="1"/>
          </p:nvPr>
        </p:nvSpPr>
        <p:spPr/>
        <p:txBody>
          <a:bodyPr/>
          <a:lstStyle/>
          <a:p>
            <a:r>
              <a:rPr lang="en-US" dirty="0" smtClean="0"/>
              <a:t>Plugin registry elements</a:t>
            </a:r>
          </a:p>
          <a:p>
            <a:r>
              <a:rPr lang="en-US" dirty="0"/>
              <a:t>Always required for</a:t>
            </a:r>
            <a:br>
              <a:rPr lang="en-US" dirty="0"/>
            </a:br>
            <a:r>
              <a:rPr lang="en-US" dirty="0"/>
              <a:t>cross-point integration</a:t>
            </a:r>
          </a:p>
          <a:p>
            <a:endParaRPr lang="en-US" dirty="0" smtClean="0"/>
          </a:p>
          <a:p>
            <a:endParaRPr lang="en-US" dirty="0"/>
          </a:p>
        </p:txBody>
      </p:sp>
      <p:sp>
        <p:nvSpPr>
          <p:cNvPr id="4"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7</a:t>
            </a:r>
            <a:endParaRPr lang="en-US" dirty="0"/>
          </a:p>
        </p:txBody>
      </p:sp>
      <p:sp>
        <p:nvSpPr>
          <p:cNvPr id="29" name="Rounded Rectangle 28"/>
          <p:cNvSpPr/>
          <p:nvPr/>
        </p:nvSpPr>
        <p:spPr bwMode="auto">
          <a:xfrm>
            <a:off x="4800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0" name="Rounded Rectangle 2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1" name="Rectangle 30"/>
          <p:cNvSpPr/>
          <p:nvPr/>
        </p:nvSpPr>
        <p:spPr>
          <a:xfrm>
            <a:off x="4800600" y="5334000"/>
            <a:ext cx="1667765" cy="584775"/>
          </a:xfrm>
          <a:prstGeom prst="rect">
            <a:avLst/>
          </a:prstGeom>
        </p:spPr>
        <p:txBody>
          <a:bodyPr wrap="square">
            <a:spAutoFit/>
          </a:bodyPr>
          <a:lstStyle/>
          <a:p>
            <a:pPr algn="ctr"/>
            <a:r>
              <a:rPr lang="en-US" sz="1600" b="1" smtClean="0">
                <a:solidFill>
                  <a:schemeClr val="bg1"/>
                </a:solidFill>
              </a:rPr>
              <a:t>Gosu</a:t>
            </a:r>
            <a:br>
              <a:rPr lang="en-US" sz="1600" b="1" smtClean="0">
                <a:solidFill>
                  <a:schemeClr val="bg1"/>
                </a:solidFill>
              </a:rPr>
            </a:br>
            <a:r>
              <a:rPr lang="en-US" sz="1600" b="1" smtClean="0">
                <a:solidFill>
                  <a:schemeClr val="bg1"/>
                </a:solidFill>
              </a:rPr>
              <a:t> Class</a:t>
            </a:r>
            <a:endParaRPr lang="en-US" sz="1600" b="1">
              <a:solidFill>
                <a:schemeClr val="bg1"/>
              </a:solidFill>
            </a:endParaRPr>
          </a:p>
        </p:txBody>
      </p:sp>
      <p:pic>
        <p:nvPicPr>
          <p:cNvPr id="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5786" y="3800062"/>
            <a:ext cx="1443614" cy="16628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Rectangle 37"/>
          <p:cNvSpPr/>
          <p:nvPr/>
        </p:nvSpPr>
        <p:spPr>
          <a:xfrm>
            <a:off x="685800" y="5334000"/>
            <a:ext cx="1400976" cy="584775"/>
          </a:xfrm>
          <a:prstGeom prst="rect">
            <a:avLst/>
          </a:prstGeom>
        </p:spPr>
        <p:txBody>
          <a:bodyPr wrap="square">
            <a:spAutoFit/>
          </a:bodyPr>
          <a:lstStyle/>
          <a:p>
            <a:pPr algn="ctr"/>
            <a:r>
              <a:rPr lang="en-US" sz="1600" b="1" smtClean="0">
                <a:solidFill>
                  <a:schemeClr val="bg1"/>
                </a:solidFill>
              </a:rPr>
              <a:t>Plugin </a:t>
            </a:r>
            <a:br>
              <a:rPr lang="en-US" sz="1600" b="1" smtClean="0">
                <a:solidFill>
                  <a:schemeClr val="bg1"/>
                </a:solidFill>
              </a:rPr>
            </a:br>
            <a:r>
              <a:rPr lang="en-US" sz="1600" b="1" smtClean="0">
                <a:solidFill>
                  <a:schemeClr val="bg1"/>
                </a:solidFill>
              </a:rPr>
              <a:t>Registry</a:t>
            </a:r>
            <a:endParaRPr lang="en-US" sz="1600" b="1">
              <a:solidFill>
                <a:schemeClr val="bg1"/>
              </a:solidFill>
            </a:endParaRPr>
          </a:p>
        </p:txBody>
      </p:sp>
      <p:grpSp>
        <p:nvGrpSpPr>
          <p:cNvPr id="39" name="icon GWP file"/>
          <p:cNvGrpSpPr>
            <a:grpSpLocks noChangeAspect="1"/>
          </p:cNvGrpSpPr>
          <p:nvPr/>
        </p:nvGrpSpPr>
        <p:grpSpPr>
          <a:xfrm>
            <a:off x="914400" y="3809234"/>
            <a:ext cx="1204992" cy="1344023"/>
            <a:chOff x="4558702" y="2146900"/>
            <a:chExt cx="1246792" cy="1390650"/>
          </a:xfrm>
        </p:grpSpPr>
        <p:pic>
          <p:nvPicPr>
            <p:cNvPr id="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1"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43"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4"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5"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6"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42" name="TextBox 41"/>
            <p:cNvSpPr txBox="1"/>
            <p:nvPr/>
          </p:nvSpPr>
          <p:spPr>
            <a:xfrm>
              <a:off x="4558702" y="2936002"/>
              <a:ext cx="1246792" cy="485656"/>
            </a:xfrm>
            <a:prstGeom prst="rect">
              <a:avLst/>
            </a:prstGeom>
            <a:noFill/>
          </p:spPr>
          <p:txBody>
            <a:bodyPr wrap="square" rtlCol="0">
              <a:noAutofit/>
            </a:bodyPr>
            <a:lstStyle/>
            <a:p>
              <a:pPr algn="ctr"/>
              <a:r>
                <a:rPr lang="en-US" sz="2400" b="1" smtClean="0">
                  <a:solidFill>
                    <a:schemeClr val="bg2"/>
                  </a:solidFill>
                  <a:latin typeface="Arial" pitchFamily="32" charset="0"/>
                  <a:cs typeface="Arial" pitchFamily="32" charset="0"/>
                </a:rPr>
                <a:t>GWP</a:t>
              </a:r>
            </a:p>
          </p:txBody>
        </p:sp>
      </p:grpSp>
      <p:pic>
        <p:nvPicPr>
          <p:cNvPr id="23" name="pic Logo PC"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6672429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PC/BC integration</a:t>
            </a:r>
          </a:p>
          <a:p>
            <a:r>
              <a:rPr lang="en-US" dirty="0"/>
              <a:t>Account and producer processing</a:t>
            </a:r>
          </a:p>
          <a:p>
            <a:r>
              <a:rPr lang="en-US" dirty="0"/>
              <a:t>Billing instructions</a:t>
            </a:r>
          </a:p>
          <a:p>
            <a:r>
              <a:rPr lang="en-US" dirty="0">
                <a:solidFill>
                  <a:schemeClr val="bg1"/>
                </a:solidFill>
              </a:rPr>
              <a:t>Billing status</a:t>
            </a:r>
          </a:p>
          <a:p>
            <a:r>
              <a:rPr lang="en-US" dirty="0"/>
              <a:t>Late payment cancellation</a:t>
            </a:r>
          </a:p>
          <a:p>
            <a:endParaRPr lang="en-US" dirty="0"/>
          </a:p>
        </p:txBody>
      </p:sp>
    </p:spTree>
    <p:extLst>
      <p:ext uri="{BB962C8B-B14F-4D97-AF65-F5344CB8AC3E}">
        <p14:creationId xmlns:p14="http://schemas.microsoft.com/office/powerpoint/2010/main" val="93907271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93776" y="118872"/>
            <a:ext cx="8802624" cy="742951"/>
          </a:xfrm>
        </p:spPr>
        <p:txBody>
          <a:bodyPr/>
          <a:lstStyle/>
          <a:p>
            <a:r>
              <a:rPr lang="en-US" dirty="0"/>
              <a:t>PolicyCenter has internal and external users</a:t>
            </a:r>
          </a:p>
        </p:txBody>
      </p:sp>
      <p:sp>
        <p:nvSpPr>
          <p:cNvPr id="6" name="Subtitle 5"/>
          <p:cNvSpPr>
            <a:spLocks noGrp="1"/>
          </p:cNvSpPr>
          <p:nvPr>
            <p:ph type="subTitle" idx="10"/>
          </p:nvPr>
        </p:nvSpPr>
        <p:spPr/>
        <p:txBody>
          <a:bodyPr/>
          <a:lstStyle/>
          <a:p>
            <a:r>
              <a:rPr lang="en-US"/>
              <a:t>External user</a:t>
            </a:r>
          </a:p>
          <a:p>
            <a:endParaRPr lang="en-US"/>
          </a:p>
        </p:txBody>
      </p:sp>
      <p:sp>
        <p:nvSpPr>
          <p:cNvPr id="7" name="Text Placeholder 6"/>
          <p:cNvSpPr>
            <a:spLocks noGrp="1"/>
          </p:cNvSpPr>
          <p:nvPr>
            <p:ph type="body" sz="quarter" idx="11"/>
          </p:nvPr>
        </p:nvSpPr>
        <p:spPr/>
        <p:txBody>
          <a:bodyPr/>
          <a:lstStyle/>
          <a:p>
            <a:r>
              <a:rPr lang="en-US"/>
              <a:t>Internal user</a:t>
            </a:r>
          </a:p>
          <a:p>
            <a:endParaRPr lang="en-US"/>
          </a:p>
        </p:txBody>
      </p:sp>
      <p:sp>
        <p:nvSpPr>
          <p:cNvPr id="5" name="Content Placeholder 4"/>
          <p:cNvSpPr>
            <a:spLocks noGrp="1"/>
          </p:cNvSpPr>
          <p:nvPr>
            <p:ph sz="half" idx="2"/>
          </p:nvPr>
        </p:nvSpPr>
        <p:spPr/>
        <p:txBody>
          <a:bodyPr/>
          <a:lstStyle/>
          <a:p>
            <a:r>
              <a:rPr lang="en-US" dirty="0"/>
              <a:t>Works </a:t>
            </a:r>
            <a:r>
              <a:rPr lang="en-US" dirty="0" smtClean="0"/>
              <a:t>for carrier</a:t>
            </a:r>
            <a:endParaRPr lang="en-US" dirty="0"/>
          </a:p>
          <a:p>
            <a:r>
              <a:rPr lang="en-US" dirty="0"/>
              <a:t>Probably has access to BillingCenter</a:t>
            </a:r>
          </a:p>
          <a:p>
            <a:r>
              <a:rPr lang="en-US" dirty="0"/>
              <a:t>Gets basic </a:t>
            </a:r>
            <a:r>
              <a:rPr lang="en-US" dirty="0" smtClean="0"/>
              <a:t>information </a:t>
            </a:r>
            <a:br>
              <a:rPr lang="en-US" dirty="0" smtClean="0"/>
            </a:br>
            <a:r>
              <a:rPr lang="en-US" dirty="0" smtClean="0"/>
              <a:t>from </a:t>
            </a:r>
            <a:r>
              <a:rPr lang="en-US" dirty="0"/>
              <a:t>PolicyCenter</a:t>
            </a:r>
          </a:p>
          <a:p>
            <a:r>
              <a:rPr lang="en-US" dirty="0" smtClean="0"/>
              <a:t>When necessary, uses BillingCenter to view</a:t>
            </a:r>
            <a:br>
              <a:rPr lang="en-US" dirty="0" smtClean="0"/>
            </a:br>
            <a:r>
              <a:rPr lang="en-US" dirty="0" smtClean="0"/>
              <a:t>billing details</a:t>
            </a:r>
            <a:endParaRPr lang="en-US" dirty="0"/>
          </a:p>
        </p:txBody>
      </p:sp>
      <p:sp>
        <p:nvSpPr>
          <p:cNvPr id="2" name="Content Placeholder 1"/>
          <p:cNvSpPr>
            <a:spLocks noGrp="1"/>
          </p:cNvSpPr>
          <p:nvPr>
            <p:ph sz="half" idx="1"/>
          </p:nvPr>
        </p:nvSpPr>
        <p:spPr/>
        <p:txBody>
          <a:bodyPr/>
          <a:lstStyle/>
          <a:p>
            <a:r>
              <a:rPr lang="en-US" dirty="0" smtClean="0"/>
              <a:t>Independent agent </a:t>
            </a:r>
            <a:r>
              <a:rPr lang="en-US" dirty="0"/>
              <a:t>that does not </a:t>
            </a:r>
            <a:r>
              <a:rPr lang="en-US" dirty="0" smtClean="0"/>
              <a:t>work </a:t>
            </a:r>
            <a:r>
              <a:rPr lang="en-US" dirty="0"/>
              <a:t>for carrier</a:t>
            </a:r>
          </a:p>
          <a:p>
            <a:r>
              <a:rPr lang="en-US" dirty="0"/>
              <a:t>Has </a:t>
            </a:r>
            <a:r>
              <a:rPr lang="en-US" dirty="0" smtClean="0"/>
              <a:t>access to </a:t>
            </a:r>
            <a:r>
              <a:rPr lang="en-US" dirty="0"/>
              <a:t>PolicyCenter, but not BillingCenter</a:t>
            </a:r>
          </a:p>
          <a:p>
            <a:r>
              <a:rPr lang="en-US" dirty="0"/>
              <a:t>Gets basic information </a:t>
            </a:r>
            <a:r>
              <a:rPr lang="en-US" dirty="0" smtClean="0"/>
              <a:t/>
            </a:r>
            <a:br>
              <a:rPr lang="en-US" dirty="0" smtClean="0"/>
            </a:br>
            <a:r>
              <a:rPr lang="en-US" dirty="0" smtClean="0"/>
              <a:t>from </a:t>
            </a:r>
            <a:r>
              <a:rPr lang="en-US" dirty="0"/>
              <a:t>PolicyCenter</a:t>
            </a:r>
          </a:p>
          <a:p>
            <a:endParaRPr lang="en-US" dirty="0"/>
          </a:p>
        </p:txBody>
      </p:sp>
      <p:grpSp>
        <p:nvGrpSpPr>
          <p:cNvPr id="8" name="Group 37"/>
          <p:cNvGrpSpPr>
            <a:grpSpLocks/>
          </p:cNvGrpSpPr>
          <p:nvPr/>
        </p:nvGrpSpPr>
        <p:grpSpPr bwMode="auto">
          <a:xfrm>
            <a:off x="5006975" y="5196522"/>
            <a:ext cx="849313" cy="904875"/>
            <a:chOff x="7441660" y="928255"/>
            <a:chExt cx="848840" cy="904906"/>
          </a:xfrm>
          <a:effectLst>
            <a:outerShdw blurRad="50800" dist="38100" dir="2700000" algn="tl" rotWithShape="0">
              <a:prstClr val="black">
                <a:alpha val="40000"/>
              </a:prstClr>
            </a:outerShdw>
          </a:effectLst>
        </p:grpSpPr>
        <p:sp>
          <p:nvSpPr>
            <p:cNvPr id="9" name="AutoShape 156"/>
            <p:cNvSpPr>
              <a:spLocks noChangeArrowheads="1"/>
            </p:cNvSpPr>
            <p:nvPr/>
          </p:nvSpPr>
          <p:spPr bwMode="auto">
            <a:xfrm>
              <a:off x="7441660" y="928255"/>
              <a:ext cx="637867" cy="65094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0" name="Group 157"/>
            <p:cNvGrpSpPr>
              <a:grpSpLocks/>
            </p:cNvGrpSpPr>
            <p:nvPr/>
          </p:nvGrpSpPr>
          <p:grpSpPr bwMode="auto">
            <a:xfrm>
              <a:off x="7896855" y="1389421"/>
              <a:ext cx="393645" cy="443740"/>
              <a:chOff x="2768" y="2267"/>
              <a:chExt cx="624" cy="704"/>
            </a:xfrm>
          </p:grpSpPr>
          <p:sp>
            <p:nvSpPr>
              <p:cNvPr id="11" name="AutoShape 158"/>
              <p:cNvSpPr>
                <a:spLocks noChangeArrowheads="1"/>
              </p:cNvSpPr>
              <p:nvPr/>
            </p:nvSpPr>
            <p:spPr bwMode="auto">
              <a:xfrm rot="-5400000">
                <a:off x="2728" y="2307"/>
                <a:ext cx="704" cy="624"/>
              </a:xfrm>
              <a:prstGeom prst="foldedCorner">
                <a:avLst>
                  <a:gd name="adj" fmla="val 20287"/>
                </a:avLst>
              </a:pr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2" name="Freeform 159"/>
              <p:cNvSpPr>
                <a:spLocks/>
              </p:cNvSpPr>
              <p:nvPr/>
            </p:nvSpPr>
            <p:spPr bwMode="auto">
              <a:xfrm>
                <a:off x="2847" y="2357"/>
                <a:ext cx="153" cy="19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13" name="Freeform 160"/>
              <p:cNvSpPr>
                <a:spLocks/>
              </p:cNvSpPr>
              <p:nvPr/>
            </p:nvSpPr>
            <p:spPr bwMode="auto">
              <a:xfrm>
                <a:off x="2847" y="2648"/>
                <a:ext cx="153" cy="196"/>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grpSp>
            <p:nvGrpSpPr>
              <p:cNvPr id="14" name="Group 161"/>
              <p:cNvGrpSpPr>
                <a:grpSpLocks/>
              </p:cNvGrpSpPr>
              <p:nvPr/>
            </p:nvGrpSpPr>
            <p:grpSpPr bwMode="auto">
              <a:xfrm>
                <a:off x="3136" y="2620"/>
                <a:ext cx="231" cy="343"/>
                <a:chOff x="2784" y="3210"/>
                <a:chExt cx="523" cy="772"/>
              </a:xfrm>
            </p:grpSpPr>
            <p:sp>
              <p:nvSpPr>
                <p:cNvPr id="15" name="AutoShape 162"/>
                <p:cNvSpPr>
                  <a:spLocks noChangeArrowheads="1"/>
                </p:cNvSpPr>
                <p:nvPr/>
              </p:nvSpPr>
              <p:spPr bwMode="auto">
                <a:xfrm rot="16736225" flipH="1">
                  <a:off x="2714" y="3670"/>
                  <a:ext cx="487" cy="138"/>
                </a:xfrm>
                <a:prstGeom prst="parallelogram">
                  <a:avLst>
                    <a:gd name="adj" fmla="val 88225"/>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6" name="AutoShape 163"/>
                <p:cNvSpPr>
                  <a:spLocks noChangeArrowheads="1"/>
                </p:cNvSpPr>
                <p:nvPr/>
              </p:nvSpPr>
              <p:spPr bwMode="auto">
                <a:xfrm rot="4863775">
                  <a:off x="2853" y="3662"/>
                  <a:ext cx="501" cy="128"/>
                </a:xfrm>
                <a:prstGeom prst="parallelogram">
                  <a:avLst>
                    <a:gd name="adj" fmla="val 97852"/>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7" name="AutoShape 164"/>
                <p:cNvSpPr>
                  <a:spLocks noChangeArrowheads="1"/>
                </p:cNvSpPr>
                <p:nvPr/>
              </p:nvSpPr>
              <p:spPr bwMode="auto">
                <a:xfrm>
                  <a:off x="2784" y="3210"/>
                  <a:ext cx="523" cy="523"/>
                </a:xfrm>
                <a:prstGeom prst="star16">
                  <a:avLst>
                    <a:gd name="adj" fmla="val 37500"/>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8" name="Oval 165"/>
                <p:cNvSpPr>
                  <a:spLocks noChangeArrowheads="1"/>
                </p:cNvSpPr>
                <p:nvPr/>
              </p:nvSpPr>
              <p:spPr bwMode="auto">
                <a:xfrm>
                  <a:off x="2880" y="3307"/>
                  <a:ext cx="320" cy="320"/>
                </a:xfrm>
                <a:prstGeom prst="ellipse">
                  <a:avLst/>
                </a:prstGeom>
                <a:solidFill>
                  <a:srgbClr val="FFFF99"/>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anchor="ctr"/>
                <a:lstStyle/>
                <a:p>
                  <a:endParaRPr lang="en-US"/>
                </a:p>
              </p:txBody>
            </p:sp>
          </p:grpSp>
        </p:grpSp>
      </p:grpSp>
      <p:grpSp>
        <p:nvGrpSpPr>
          <p:cNvPr id="19" name="Group 42"/>
          <p:cNvGrpSpPr>
            <a:grpSpLocks/>
          </p:cNvGrpSpPr>
          <p:nvPr/>
        </p:nvGrpSpPr>
        <p:grpSpPr bwMode="auto">
          <a:xfrm>
            <a:off x="812800" y="5198484"/>
            <a:ext cx="703263" cy="906462"/>
            <a:chOff x="2634" y="2618"/>
            <a:chExt cx="538" cy="692"/>
          </a:xfrm>
          <a:effectLst>
            <a:outerShdw blurRad="50800" dist="38100" dir="2700000" algn="tl" rotWithShape="0">
              <a:prstClr val="black">
                <a:alpha val="40000"/>
              </a:prstClr>
            </a:outerShdw>
          </a:effectLst>
        </p:grpSpPr>
        <p:sp>
          <p:nvSpPr>
            <p:cNvPr id="20" name="AutoShape 43"/>
            <p:cNvSpPr>
              <a:spLocks noChangeArrowheads="1"/>
            </p:cNvSpPr>
            <p:nvPr/>
          </p:nvSpPr>
          <p:spPr bwMode="auto">
            <a:xfrm flipH="1">
              <a:off x="2644" y="2618"/>
              <a:ext cx="482" cy="490"/>
            </a:xfrm>
            <a:prstGeom prst="smileyFace">
              <a:avLst>
                <a:gd name="adj" fmla="val 4653"/>
              </a:avLst>
            </a:prstGeom>
            <a:gradFill rotWithShape="1">
              <a:gsLst>
                <a:gs pos="0">
                  <a:srgbClr val="FFCC99"/>
                </a:gs>
                <a:gs pos="100000">
                  <a:srgbClr val="FFFF99"/>
                </a:gs>
              </a:gsLst>
              <a:lin ang="0" scaled="1"/>
            </a:gradFill>
            <a:ln w="12700">
              <a:solidFill>
                <a:srgbClr val="000000"/>
              </a:solidFill>
              <a:round/>
              <a:headEnd/>
              <a:tailEnd/>
            </a:ln>
          </p:spPr>
          <p:txBody>
            <a:bodyPr wrap="none" anchor="ctr"/>
            <a:lstStyle/>
            <a:p>
              <a:endParaRPr lang="en-US"/>
            </a:p>
          </p:txBody>
        </p:sp>
        <p:sp>
          <p:nvSpPr>
            <p:cNvPr id="21" name="Freeform 44"/>
            <p:cNvSpPr>
              <a:spLocks/>
            </p:cNvSpPr>
            <p:nvPr/>
          </p:nvSpPr>
          <p:spPr bwMode="auto">
            <a:xfrm flipH="1">
              <a:off x="2724" y="3066"/>
              <a:ext cx="388" cy="228"/>
            </a:xfrm>
            <a:custGeom>
              <a:avLst/>
              <a:gdLst>
                <a:gd name="T0" fmla="*/ 0 w 941"/>
                <a:gd name="T1" fmla="*/ 0 h 553"/>
                <a:gd name="T2" fmla="*/ 0 w 941"/>
                <a:gd name="T3" fmla="*/ 0 h 553"/>
                <a:gd name="T4" fmla="*/ 0 w 941"/>
                <a:gd name="T5" fmla="*/ 0 h 553"/>
                <a:gd name="T6" fmla="*/ 0 w 941"/>
                <a:gd name="T7" fmla="*/ 0 h 553"/>
                <a:gd name="T8" fmla="*/ 0 w 941"/>
                <a:gd name="T9" fmla="*/ 0 h 553"/>
                <a:gd name="T10" fmla="*/ 0 w 941"/>
                <a:gd name="T11" fmla="*/ 0 h 553"/>
                <a:gd name="T12" fmla="*/ 0 w 941"/>
                <a:gd name="T13" fmla="*/ 0 h 553"/>
                <a:gd name="T14" fmla="*/ 0 w 941"/>
                <a:gd name="T15" fmla="*/ 0 h 553"/>
                <a:gd name="T16" fmla="*/ 0 w 941"/>
                <a:gd name="T17" fmla="*/ 0 h 553"/>
                <a:gd name="T18" fmla="*/ 0 w 941"/>
                <a:gd name="T19" fmla="*/ 0 h 553"/>
                <a:gd name="T20" fmla="*/ 0 w 941"/>
                <a:gd name="T21" fmla="*/ 0 h 553"/>
                <a:gd name="T22" fmla="*/ 0 w 941"/>
                <a:gd name="T23" fmla="*/ 0 h 553"/>
                <a:gd name="T24" fmla="*/ 0 w 941"/>
                <a:gd name="T25" fmla="*/ 0 h 553"/>
                <a:gd name="T26" fmla="*/ 0 w 941"/>
                <a:gd name="T27" fmla="*/ 0 h 553"/>
                <a:gd name="T28" fmla="*/ 0 w 941"/>
                <a:gd name="T29" fmla="*/ 0 h 553"/>
                <a:gd name="T30" fmla="*/ 0 w 941"/>
                <a:gd name="T31" fmla="*/ 0 h 553"/>
                <a:gd name="T32" fmla="*/ 0 w 941"/>
                <a:gd name="T33" fmla="*/ 0 h 553"/>
                <a:gd name="T34" fmla="*/ 0 w 941"/>
                <a:gd name="T35" fmla="*/ 0 h 553"/>
                <a:gd name="T36" fmla="*/ 0 w 941"/>
                <a:gd name="T37" fmla="*/ 0 h 553"/>
                <a:gd name="T38" fmla="*/ 0 w 941"/>
                <a:gd name="T39" fmla="*/ 0 h 553"/>
                <a:gd name="T40" fmla="*/ 0 w 941"/>
                <a:gd name="T41" fmla="*/ 0 h 553"/>
                <a:gd name="T42" fmla="*/ 0 w 941"/>
                <a:gd name="T43" fmla="*/ 0 h 553"/>
                <a:gd name="T44" fmla="*/ 0 w 941"/>
                <a:gd name="T45" fmla="*/ 0 h 553"/>
                <a:gd name="T46" fmla="*/ 0 w 941"/>
                <a:gd name="T47" fmla="*/ 0 h 553"/>
                <a:gd name="T48" fmla="*/ 0 w 941"/>
                <a:gd name="T49" fmla="*/ 0 h 553"/>
                <a:gd name="T50" fmla="*/ 0 w 941"/>
                <a:gd name="T51" fmla="*/ 0 h 553"/>
                <a:gd name="T52" fmla="*/ 0 w 941"/>
                <a:gd name="T53" fmla="*/ 0 h 553"/>
                <a:gd name="T54" fmla="*/ 0 w 941"/>
                <a:gd name="T55" fmla="*/ 0 h 55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1"/>
                <a:gd name="T85" fmla="*/ 0 h 553"/>
                <a:gd name="T86" fmla="*/ 941 w 941"/>
                <a:gd name="T87" fmla="*/ 553 h 55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1" h="553">
                  <a:moveTo>
                    <a:pt x="54" y="55"/>
                  </a:moveTo>
                  <a:cubicBezTo>
                    <a:pt x="108" y="37"/>
                    <a:pt x="292" y="41"/>
                    <a:pt x="354" y="34"/>
                  </a:cubicBezTo>
                  <a:cubicBezTo>
                    <a:pt x="416" y="27"/>
                    <a:pt x="380" y="16"/>
                    <a:pt x="426" y="13"/>
                  </a:cubicBezTo>
                  <a:cubicBezTo>
                    <a:pt x="472" y="10"/>
                    <a:pt x="563" y="0"/>
                    <a:pt x="633" y="16"/>
                  </a:cubicBezTo>
                  <a:cubicBezTo>
                    <a:pt x="703" y="32"/>
                    <a:pt x="801" y="79"/>
                    <a:pt x="849" y="112"/>
                  </a:cubicBezTo>
                  <a:cubicBezTo>
                    <a:pt x="897" y="145"/>
                    <a:pt x="941" y="207"/>
                    <a:pt x="921" y="214"/>
                  </a:cubicBezTo>
                  <a:cubicBezTo>
                    <a:pt x="901" y="221"/>
                    <a:pt x="764" y="159"/>
                    <a:pt x="729" y="151"/>
                  </a:cubicBezTo>
                  <a:cubicBezTo>
                    <a:pt x="694" y="143"/>
                    <a:pt x="692" y="148"/>
                    <a:pt x="708" y="166"/>
                  </a:cubicBezTo>
                  <a:cubicBezTo>
                    <a:pt x="724" y="184"/>
                    <a:pt x="798" y="226"/>
                    <a:pt x="825" y="259"/>
                  </a:cubicBezTo>
                  <a:cubicBezTo>
                    <a:pt x="852" y="292"/>
                    <a:pt x="860" y="340"/>
                    <a:pt x="867" y="364"/>
                  </a:cubicBezTo>
                  <a:cubicBezTo>
                    <a:pt x="874" y="388"/>
                    <a:pt x="874" y="399"/>
                    <a:pt x="867" y="406"/>
                  </a:cubicBezTo>
                  <a:cubicBezTo>
                    <a:pt x="860" y="413"/>
                    <a:pt x="832" y="399"/>
                    <a:pt x="825" y="406"/>
                  </a:cubicBezTo>
                  <a:cubicBezTo>
                    <a:pt x="818" y="413"/>
                    <a:pt x="829" y="442"/>
                    <a:pt x="825" y="451"/>
                  </a:cubicBezTo>
                  <a:cubicBezTo>
                    <a:pt x="821" y="460"/>
                    <a:pt x="811" y="459"/>
                    <a:pt x="804" y="460"/>
                  </a:cubicBezTo>
                  <a:cubicBezTo>
                    <a:pt x="797" y="461"/>
                    <a:pt x="784" y="457"/>
                    <a:pt x="780" y="460"/>
                  </a:cubicBezTo>
                  <a:cubicBezTo>
                    <a:pt x="776" y="463"/>
                    <a:pt x="782" y="469"/>
                    <a:pt x="780" y="478"/>
                  </a:cubicBezTo>
                  <a:cubicBezTo>
                    <a:pt x="778" y="487"/>
                    <a:pt x="776" y="511"/>
                    <a:pt x="765" y="517"/>
                  </a:cubicBezTo>
                  <a:cubicBezTo>
                    <a:pt x="754" y="523"/>
                    <a:pt x="721" y="509"/>
                    <a:pt x="711" y="514"/>
                  </a:cubicBezTo>
                  <a:cubicBezTo>
                    <a:pt x="701" y="519"/>
                    <a:pt x="713" y="541"/>
                    <a:pt x="702" y="547"/>
                  </a:cubicBezTo>
                  <a:cubicBezTo>
                    <a:pt x="691" y="553"/>
                    <a:pt x="666" y="553"/>
                    <a:pt x="645" y="550"/>
                  </a:cubicBezTo>
                  <a:cubicBezTo>
                    <a:pt x="624" y="547"/>
                    <a:pt x="613" y="547"/>
                    <a:pt x="576" y="529"/>
                  </a:cubicBezTo>
                  <a:cubicBezTo>
                    <a:pt x="539" y="511"/>
                    <a:pt x="474" y="468"/>
                    <a:pt x="423" y="442"/>
                  </a:cubicBezTo>
                  <a:cubicBezTo>
                    <a:pt x="372" y="416"/>
                    <a:pt x="311" y="388"/>
                    <a:pt x="270" y="373"/>
                  </a:cubicBezTo>
                  <a:cubicBezTo>
                    <a:pt x="229" y="358"/>
                    <a:pt x="213" y="358"/>
                    <a:pt x="174" y="352"/>
                  </a:cubicBezTo>
                  <a:cubicBezTo>
                    <a:pt x="135" y="346"/>
                    <a:pt x="64" y="339"/>
                    <a:pt x="36" y="337"/>
                  </a:cubicBezTo>
                  <a:cubicBezTo>
                    <a:pt x="8" y="335"/>
                    <a:pt x="6" y="355"/>
                    <a:pt x="3" y="337"/>
                  </a:cubicBezTo>
                  <a:cubicBezTo>
                    <a:pt x="0" y="319"/>
                    <a:pt x="6" y="276"/>
                    <a:pt x="15" y="229"/>
                  </a:cubicBezTo>
                  <a:cubicBezTo>
                    <a:pt x="24" y="182"/>
                    <a:pt x="46" y="91"/>
                    <a:pt x="54" y="55"/>
                  </a:cubicBez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22" name="Freeform 45"/>
            <p:cNvSpPr>
              <a:spLocks/>
            </p:cNvSpPr>
            <p:nvPr/>
          </p:nvSpPr>
          <p:spPr bwMode="auto">
            <a:xfrm flipH="1">
              <a:off x="2692" y="3051"/>
              <a:ext cx="300" cy="174"/>
            </a:xfrm>
            <a:custGeom>
              <a:avLst/>
              <a:gdLst>
                <a:gd name="T0" fmla="*/ 0 w 729"/>
                <a:gd name="T1" fmla="*/ 0 h 420"/>
                <a:gd name="T2" fmla="*/ 0 w 729"/>
                <a:gd name="T3" fmla="*/ 0 h 420"/>
                <a:gd name="T4" fmla="*/ 0 w 729"/>
                <a:gd name="T5" fmla="*/ 0 h 420"/>
                <a:gd name="T6" fmla="*/ 0 w 729"/>
                <a:gd name="T7" fmla="*/ 0 h 420"/>
                <a:gd name="T8" fmla="*/ 0 w 729"/>
                <a:gd name="T9" fmla="*/ 0 h 420"/>
                <a:gd name="T10" fmla="*/ 0 w 729"/>
                <a:gd name="T11" fmla="*/ 0 h 420"/>
                <a:gd name="T12" fmla="*/ 0 w 729"/>
                <a:gd name="T13" fmla="*/ 0 h 420"/>
                <a:gd name="T14" fmla="*/ 0 w 729"/>
                <a:gd name="T15" fmla="*/ 0 h 420"/>
                <a:gd name="T16" fmla="*/ 0 w 729"/>
                <a:gd name="T17" fmla="*/ 0 h 420"/>
                <a:gd name="T18" fmla="*/ 0 w 729"/>
                <a:gd name="T19" fmla="*/ 0 h 420"/>
                <a:gd name="T20" fmla="*/ 0 w 729"/>
                <a:gd name="T21" fmla="*/ 0 h 420"/>
                <a:gd name="T22" fmla="*/ 0 w 729"/>
                <a:gd name="T23" fmla="*/ 0 h 420"/>
                <a:gd name="T24" fmla="*/ 0 w 729"/>
                <a:gd name="T25" fmla="*/ 0 h 420"/>
                <a:gd name="T26" fmla="*/ 0 w 729"/>
                <a:gd name="T27" fmla="*/ 0 h 420"/>
                <a:gd name="T28" fmla="*/ 0 w 729"/>
                <a:gd name="T29" fmla="*/ 0 h 420"/>
                <a:gd name="T30" fmla="*/ 0 w 729"/>
                <a:gd name="T31" fmla="*/ 0 h 420"/>
                <a:gd name="T32" fmla="*/ 0 w 729"/>
                <a:gd name="T33" fmla="*/ 0 h 420"/>
                <a:gd name="T34" fmla="*/ 0 w 729"/>
                <a:gd name="T35" fmla="*/ 0 h 420"/>
                <a:gd name="T36" fmla="*/ 0 w 729"/>
                <a:gd name="T37" fmla="*/ 0 h 420"/>
                <a:gd name="T38" fmla="*/ 0 w 729"/>
                <a:gd name="T39" fmla="*/ 0 h 420"/>
                <a:gd name="T40" fmla="*/ 0 w 729"/>
                <a:gd name="T41" fmla="*/ 0 h 420"/>
                <a:gd name="T42" fmla="*/ 0 w 729"/>
                <a:gd name="T43" fmla="*/ 0 h 420"/>
                <a:gd name="T44" fmla="*/ 0 w 729"/>
                <a:gd name="T45" fmla="*/ 0 h 420"/>
                <a:gd name="T46" fmla="*/ 0 w 729"/>
                <a:gd name="T47" fmla="*/ 0 h 420"/>
                <a:gd name="T48" fmla="*/ 0 w 729"/>
                <a:gd name="T49" fmla="*/ 0 h 420"/>
                <a:gd name="T50" fmla="*/ 0 w 729"/>
                <a:gd name="T51" fmla="*/ 0 h 4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29"/>
                <a:gd name="T79" fmla="*/ 0 h 420"/>
                <a:gd name="T80" fmla="*/ 729 w 729"/>
                <a:gd name="T81" fmla="*/ 420 h 4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29" h="420">
                  <a:moveTo>
                    <a:pt x="647" y="59"/>
                  </a:moveTo>
                  <a:cubicBezTo>
                    <a:pt x="618" y="22"/>
                    <a:pt x="573" y="68"/>
                    <a:pt x="551" y="68"/>
                  </a:cubicBezTo>
                  <a:cubicBezTo>
                    <a:pt x="529" y="68"/>
                    <a:pt x="537" y="68"/>
                    <a:pt x="512" y="59"/>
                  </a:cubicBezTo>
                  <a:cubicBezTo>
                    <a:pt x="487" y="50"/>
                    <a:pt x="432" y="23"/>
                    <a:pt x="398" y="14"/>
                  </a:cubicBezTo>
                  <a:cubicBezTo>
                    <a:pt x="364" y="5"/>
                    <a:pt x="343" y="0"/>
                    <a:pt x="308" y="2"/>
                  </a:cubicBezTo>
                  <a:cubicBezTo>
                    <a:pt x="273" y="4"/>
                    <a:pt x="218" y="16"/>
                    <a:pt x="188" y="26"/>
                  </a:cubicBezTo>
                  <a:cubicBezTo>
                    <a:pt x="158" y="36"/>
                    <a:pt x="149" y="48"/>
                    <a:pt x="128" y="65"/>
                  </a:cubicBezTo>
                  <a:cubicBezTo>
                    <a:pt x="107" y="82"/>
                    <a:pt x="79" y="114"/>
                    <a:pt x="59" y="128"/>
                  </a:cubicBezTo>
                  <a:cubicBezTo>
                    <a:pt x="39" y="142"/>
                    <a:pt x="21" y="137"/>
                    <a:pt x="11" y="146"/>
                  </a:cubicBezTo>
                  <a:cubicBezTo>
                    <a:pt x="1" y="155"/>
                    <a:pt x="1" y="172"/>
                    <a:pt x="2" y="182"/>
                  </a:cubicBezTo>
                  <a:cubicBezTo>
                    <a:pt x="3" y="192"/>
                    <a:pt x="0" y="205"/>
                    <a:pt x="17" y="209"/>
                  </a:cubicBezTo>
                  <a:cubicBezTo>
                    <a:pt x="34" y="213"/>
                    <a:pt x="75" y="212"/>
                    <a:pt x="104" y="206"/>
                  </a:cubicBezTo>
                  <a:cubicBezTo>
                    <a:pt x="133" y="200"/>
                    <a:pt x="172" y="184"/>
                    <a:pt x="191" y="173"/>
                  </a:cubicBezTo>
                  <a:cubicBezTo>
                    <a:pt x="210" y="162"/>
                    <a:pt x="206" y="145"/>
                    <a:pt x="221" y="137"/>
                  </a:cubicBezTo>
                  <a:cubicBezTo>
                    <a:pt x="236" y="129"/>
                    <a:pt x="263" y="126"/>
                    <a:pt x="281" y="125"/>
                  </a:cubicBezTo>
                  <a:cubicBezTo>
                    <a:pt x="299" y="124"/>
                    <a:pt x="312" y="120"/>
                    <a:pt x="332" y="131"/>
                  </a:cubicBezTo>
                  <a:cubicBezTo>
                    <a:pt x="352" y="142"/>
                    <a:pt x="374" y="170"/>
                    <a:pt x="404" y="194"/>
                  </a:cubicBezTo>
                  <a:cubicBezTo>
                    <a:pt x="434" y="218"/>
                    <a:pt x="485" y="248"/>
                    <a:pt x="512" y="278"/>
                  </a:cubicBezTo>
                  <a:cubicBezTo>
                    <a:pt x="539" y="308"/>
                    <a:pt x="558" y="348"/>
                    <a:pt x="569" y="371"/>
                  </a:cubicBezTo>
                  <a:cubicBezTo>
                    <a:pt x="580" y="394"/>
                    <a:pt x="575" y="412"/>
                    <a:pt x="581" y="416"/>
                  </a:cubicBezTo>
                  <a:cubicBezTo>
                    <a:pt x="587" y="420"/>
                    <a:pt x="595" y="403"/>
                    <a:pt x="605" y="395"/>
                  </a:cubicBezTo>
                  <a:cubicBezTo>
                    <a:pt x="615" y="387"/>
                    <a:pt x="628" y="379"/>
                    <a:pt x="641" y="368"/>
                  </a:cubicBezTo>
                  <a:cubicBezTo>
                    <a:pt x="654" y="357"/>
                    <a:pt x="669" y="336"/>
                    <a:pt x="683" y="329"/>
                  </a:cubicBezTo>
                  <a:cubicBezTo>
                    <a:pt x="697" y="322"/>
                    <a:pt x="721" y="340"/>
                    <a:pt x="725" y="323"/>
                  </a:cubicBezTo>
                  <a:cubicBezTo>
                    <a:pt x="729" y="306"/>
                    <a:pt x="717" y="271"/>
                    <a:pt x="704" y="227"/>
                  </a:cubicBezTo>
                  <a:cubicBezTo>
                    <a:pt x="691" y="183"/>
                    <a:pt x="659" y="94"/>
                    <a:pt x="647" y="59"/>
                  </a:cubicBezTo>
                  <a:close/>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sp>
          <p:nvSpPr>
            <p:cNvPr id="23" name="Rectangle 46"/>
            <p:cNvSpPr>
              <a:spLocks noChangeArrowheads="1"/>
            </p:cNvSpPr>
            <p:nvPr/>
          </p:nvSpPr>
          <p:spPr bwMode="auto">
            <a:xfrm rot="21419544" flipH="1">
              <a:off x="3090" y="3069"/>
              <a:ext cx="82" cy="176"/>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24" name="Rectangle 47"/>
            <p:cNvSpPr>
              <a:spLocks noChangeArrowheads="1"/>
            </p:cNvSpPr>
            <p:nvPr/>
          </p:nvSpPr>
          <p:spPr bwMode="auto">
            <a:xfrm rot="1196180" flipH="1">
              <a:off x="2634" y="3044"/>
              <a:ext cx="82" cy="175"/>
            </a:xfrm>
            <a:prstGeom prst="rect">
              <a:avLst/>
            </a:prstGeom>
            <a:solidFill>
              <a:srgbClr val="FFFF99"/>
            </a:solidFill>
            <a:ln w="12700" algn="ctr">
              <a:solidFill>
                <a:schemeClr val="bg1"/>
              </a:solidFill>
              <a:miter lim="800000"/>
              <a:headEnd/>
              <a:tailEnd/>
            </a:ln>
          </p:spPr>
          <p:txBody>
            <a:bodyPr lIns="0" tIns="0" rIns="0" bIns="0" anchor="ctr">
              <a:spAutoFit/>
            </a:bodyPr>
            <a:lstStyle/>
            <a:p>
              <a:endParaRPr lang="en-US"/>
            </a:p>
          </p:txBody>
        </p:sp>
        <p:sp>
          <p:nvSpPr>
            <p:cNvPr id="25" name="Oval 48"/>
            <p:cNvSpPr>
              <a:spLocks noChangeArrowheads="1"/>
            </p:cNvSpPr>
            <p:nvPr/>
          </p:nvSpPr>
          <p:spPr bwMode="auto">
            <a:xfrm flipH="1">
              <a:off x="2961" y="3207"/>
              <a:ext cx="50" cy="58"/>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26" name="Oval 49"/>
            <p:cNvSpPr>
              <a:spLocks noChangeArrowheads="1"/>
            </p:cNvSpPr>
            <p:nvPr/>
          </p:nvSpPr>
          <p:spPr bwMode="auto">
            <a:xfrm flipH="1">
              <a:off x="2926" y="3231"/>
              <a:ext cx="47" cy="63"/>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27" name="Oval 50"/>
            <p:cNvSpPr>
              <a:spLocks noChangeArrowheads="1"/>
            </p:cNvSpPr>
            <p:nvPr/>
          </p:nvSpPr>
          <p:spPr bwMode="auto">
            <a:xfrm rot="20190086" flipH="1">
              <a:off x="2882" y="3246"/>
              <a:ext cx="49" cy="62"/>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28" name="Oval 51"/>
            <p:cNvSpPr>
              <a:spLocks noChangeArrowheads="1"/>
            </p:cNvSpPr>
            <p:nvPr/>
          </p:nvSpPr>
          <p:spPr bwMode="auto">
            <a:xfrm rot="18495068" flipH="1">
              <a:off x="2862" y="3266"/>
              <a:ext cx="30" cy="57"/>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29" name="Freeform 52"/>
            <p:cNvSpPr>
              <a:spLocks/>
            </p:cNvSpPr>
            <p:nvPr/>
          </p:nvSpPr>
          <p:spPr bwMode="auto">
            <a:xfrm flipH="1">
              <a:off x="2769" y="3181"/>
              <a:ext cx="74" cy="50"/>
            </a:xfrm>
            <a:custGeom>
              <a:avLst/>
              <a:gdLst>
                <a:gd name="T0" fmla="*/ 0 w 180"/>
                <a:gd name="T1" fmla="*/ 0 h 123"/>
                <a:gd name="T2" fmla="*/ 0 w 180"/>
                <a:gd name="T3" fmla="*/ 0 h 123"/>
                <a:gd name="T4" fmla="*/ 0 w 180"/>
                <a:gd name="T5" fmla="*/ 0 h 123"/>
                <a:gd name="T6" fmla="*/ 0 60000 65536"/>
                <a:gd name="T7" fmla="*/ 0 60000 65536"/>
                <a:gd name="T8" fmla="*/ 0 60000 65536"/>
                <a:gd name="T9" fmla="*/ 0 w 180"/>
                <a:gd name="T10" fmla="*/ 0 h 123"/>
                <a:gd name="T11" fmla="*/ 180 w 180"/>
                <a:gd name="T12" fmla="*/ 123 h 123"/>
              </a:gdLst>
              <a:ahLst/>
              <a:cxnLst>
                <a:cxn ang="T6">
                  <a:pos x="T0" y="T1"/>
                </a:cxn>
                <a:cxn ang="T7">
                  <a:pos x="T2" y="T3"/>
                </a:cxn>
                <a:cxn ang="T8">
                  <a:pos x="T4" y="T5"/>
                </a:cxn>
              </a:cxnLst>
              <a:rect l="T9" t="T10" r="T11" b="T12"/>
              <a:pathLst>
                <a:path w="180" h="123">
                  <a:moveTo>
                    <a:pt x="180" y="123"/>
                  </a:moveTo>
                  <a:cubicBezTo>
                    <a:pt x="153" y="110"/>
                    <a:pt x="126" y="98"/>
                    <a:pt x="96" y="78"/>
                  </a:cubicBezTo>
                  <a:cubicBezTo>
                    <a:pt x="66" y="58"/>
                    <a:pt x="33" y="29"/>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0" name="Freeform 53"/>
            <p:cNvSpPr>
              <a:spLocks/>
            </p:cNvSpPr>
            <p:nvPr/>
          </p:nvSpPr>
          <p:spPr bwMode="auto">
            <a:xfrm flipH="1">
              <a:off x="2789" y="3197"/>
              <a:ext cx="79" cy="60"/>
            </a:xfrm>
            <a:custGeom>
              <a:avLst/>
              <a:gdLst>
                <a:gd name="T0" fmla="*/ 0 w 189"/>
                <a:gd name="T1" fmla="*/ 0 h 144"/>
                <a:gd name="T2" fmla="*/ 0 w 189"/>
                <a:gd name="T3" fmla="*/ 0 h 144"/>
                <a:gd name="T4" fmla="*/ 0 w 189"/>
                <a:gd name="T5" fmla="*/ 0 h 144"/>
                <a:gd name="T6" fmla="*/ 0 w 189"/>
                <a:gd name="T7" fmla="*/ 0 h 144"/>
                <a:gd name="T8" fmla="*/ 0 60000 65536"/>
                <a:gd name="T9" fmla="*/ 0 60000 65536"/>
                <a:gd name="T10" fmla="*/ 0 60000 65536"/>
                <a:gd name="T11" fmla="*/ 0 60000 65536"/>
                <a:gd name="T12" fmla="*/ 0 w 189"/>
                <a:gd name="T13" fmla="*/ 0 h 144"/>
                <a:gd name="T14" fmla="*/ 189 w 189"/>
                <a:gd name="T15" fmla="*/ 144 h 144"/>
              </a:gdLst>
              <a:ahLst/>
              <a:cxnLst>
                <a:cxn ang="T8">
                  <a:pos x="T0" y="T1"/>
                </a:cxn>
                <a:cxn ang="T9">
                  <a:pos x="T2" y="T3"/>
                </a:cxn>
                <a:cxn ang="T10">
                  <a:pos x="T4" y="T5"/>
                </a:cxn>
                <a:cxn ang="T11">
                  <a:pos x="T6" y="T7"/>
                </a:cxn>
              </a:cxnLst>
              <a:rect l="T12" t="T13" r="T14" b="T15"/>
              <a:pathLst>
                <a:path w="189" h="144">
                  <a:moveTo>
                    <a:pt x="189" y="144"/>
                  </a:moveTo>
                  <a:cubicBezTo>
                    <a:pt x="171" y="141"/>
                    <a:pt x="154" y="139"/>
                    <a:pt x="135" y="129"/>
                  </a:cubicBezTo>
                  <a:cubicBezTo>
                    <a:pt x="116" y="119"/>
                    <a:pt x="97" y="105"/>
                    <a:pt x="75" y="84"/>
                  </a:cubicBezTo>
                  <a:cubicBezTo>
                    <a:pt x="53" y="63"/>
                    <a:pt x="26" y="31"/>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31" name="Freeform 54"/>
            <p:cNvSpPr>
              <a:spLocks/>
            </p:cNvSpPr>
            <p:nvPr/>
          </p:nvSpPr>
          <p:spPr bwMode="auto">
            <a:xfrm flipH="1">
              <a:off x="2820" y="3220"/>
              <a:ext cx="75" cy="58"/>
            </a:xfrm>
            <a:custGeom>
              <a:avLst/>
              <a:gdLst>
                <a:gd name="T0" fmla="*/ 0 w 183"/>
                <a:gd name="T1" fmla="*/ 0 h 141"/>
                <a:gd name="T2" fmla="*/ 0 w 183"/>
                <a:gd name="T3" fmla="*/ 0 h 141"/>
                <a:gd name="T4" fmla="*/ 0 w 183"/>
                <a:gd name="T5" fmla="*/ 0 h 141"/>
                <a:gd name="T6" fmla="*/ 0 w 183"/>
                <a:gd name="T7" fmla="*/ 0 h 141"/>
                <a:gd name="T8" fmla="*/ 0 60000 65536"/>
                <a:gd name="T9" fmla="*/ 0 60000 65536"/>
                <a:gd name="T10" fmla="*/ 0 60000 65536"/>
                <a:gd name="T11" fmla="*/ 0 60000 65536"/>
                <a:gd name="T12" fmla="*/ 0 w 183"/>
                <a:gd name="T13" fmla="*/ 0 h 141"/>
                <a:gd name="T14" fmla="*/ 183 w 183"/>
                <a:gd name="T15" fmla="*/ 141 h 141"/>
              </a:gdLst>
              <a:ahLst/>
              <a:cxnLst>
                <a:cxn ang="T8">
                  <a:pos x="T0" y="T1"/>
                </a:cxn>
                <a:cxn ang="T9">
                  <a:pos x="T2" y="T3"/>
                </a:cxn>
                <a:cxn ang="T10">
                  <a:pos x="T4" y="T5"/>
                </a:cxn>
                <a:cxn ang="T11">
                  <a:pos x="T6" y="T7"/>
                </a:cxn>
              </a:cxnLst>
              <a:rect l="T12" t="T13" r="T14" b="T15"/>
              <a:pathLst>
                <a:path w="183" h="141">
                  <a:moveTo>
                    <a:pt x="183" y="141"/>
                  </a:moveTo>
                  <a:cubicBezTo>
                    <a:pt x="161" y="134"/>
                    <a:pt x="140" y="127"/>
                    <a:pt x="120" y="114"/>
                  </a:cubicBezTo>
                  <a:cubicBezTo>
                    <a:pt x="100" y="101"/>
                    <a:pt x="83" y="82"/>
                    <a:pt x="63" y="63"/>
                  </a:cubicBezTo>
                  <a:cubicBezTo>
                    <a:pt x="43" y="44"/>
                    <a:pt x="21" y="22"/>
                    <a:pt x="0" y="0"/>
                  </a:cubicBezTo>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grpSp>
      <p:sp>
        <p:nvSpPr>
          <p:cNvPr id="32" name="Text Box 41"/>
          <p:cNvSpPr txBox="1">
            <a:spLocks noChangeArrowheads="1"/>
          </p:cNvSpPr>
          <p:nvPr/>
        </p:nvSpPr>
        <p:spPr bwMode="auto">
          <a:xfrm>
            <a:off x="4800600" y="6126162"/>
            <a:ext cx="12620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rPr>
              <a:t>Underwriter</a:t>
            </a:r>
          </a:p>
        </p:txBody>
      </p:sp>
      <p:sp>
        <p:nvSpPr>
          <p:cNvPr id="33" name="Text Box 41"/>
          <p:cNvSpPr txBox="1">
            <a:spLocks noChangeArrowheads="1"/>
          </p:cNvSpPr>
          <p:nvPr/>
        </p:nvSpPr>
        <p:spPr bwMode="auto">
          <a:xfrm>
            <a:off x="533400" y="6126162"/>
            <a:ext cx="12620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rPr>
              <a:t>Producer</a:t>
            </a:r>
          </a:p>
        </p:txBody>
      </p:sp>
    </p:spTree>
    <p:extLst>
      <p:ext uri="{BB962C8B-B14F-4D97-AF65-F5344CB8AC3E}">
        <p14:creationId xmlns:p14="http://schemas.microsoft.com/office/powerpoint/2010/main" val="572111183"/>
      </p:ext>
    </p:extLst>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smtClean="0"/>
              <a:t>Viewing billing info in/from PolicyCenter</a:t>
            </a:r>
          </a:p>
        </p:txBody>
      </p:sp>
      <p:sp>
        <p:nvSpPr>
          <p:cNvPr id="6" name="Subtitle 5"/>
          <p:cNvSpPr>
            <a:spLocks noGrp="1"/>
          </p:cNvSpPr>
          <p:nvPr>
            <p:ph type="subTitle" idx="10"/>
          </p:nvPr>
        </p:nvSpPr>
        <p:spPr/>
        <p:txBody>
          <a:bodyPr/>
          <a:lstStyle/>
          <a:p>
            <a:r>
              <a:rPr lang="en-US" smtClean="0"/>
              <a:t>       in PolicyCenter</a:t>
            </a:r>
            <a:endParaRPr lang="en-US"/>
          </a:p>
        </p:txBody>
      </p:sp>
      <p:sp>
        <p:nvSpPr>
          <p:cNvPr id="7" name="Text Placeholder 6"/>
          <p:cNvSpPr>
            <a:spLocks noGrp="1"/>
          </p:cNvSpPr>
          <p:nvPr>
            <p:ph type="body" sz="quarter" idx="11"/>
          </p:nvPr>
        </p:nvSpPr>
        <p:spPr/>
        <p:txBody>
          <a:bodyPr/>
          <a:lstStyle/>
          <a:p>
            <a:r>
              <a:rPr lang="en-US" smtClean="0"/>
              <a:t>       in BillingCenter</a:t>
            </a:r>
            <a:endParaRPr lang="en-US"/>
          </a:p>
        </p:txBody>
      </p:sp>
      <p:sp>
        <p:nvSpPr>
          <p:cNvPr id="5" name="Content Placeholder 4"/>
          <p:cNvSpPr>
            <a:spLocks noGrp="1"/>
          </p:cNvSpPr>
          <p:nvPr>
            <p:ph sz="half" idx="2"/>
          </p:nvPr>
        </p:nvSpPr>
        <p:spPr/>
        <p:txBody>
          <a:bodyPr/>
          <a:lstStyle/>
          <a:p>
            <a:r>
              <a:rPr lang="en-US" dirty="0"/>
              <a:t>What item is past due</a:t>
            </a:r>
            <a:r>
              <a:rPr lang="en-US" dirty="0" smtClean="0"/>
              <a:t>?</a:t>
            </a:r>
          </a:p>
          <a:p>
            <a:r>
              <a:rPr lang="en-US" dirty="0" smtClean="0"/>
              <a:t>What </a:t>
            </a:r>
            <a:r>
              <a:rPr lang="en-US" dirty="0"/>
              <a:t>is the delinquency </a:t>
            </a:r>
            <a:br>
              <a:rPr lang="en-US" dirty="0"/>
            </a:br>
            <a:r>
              <a:rPr lang="en-US" dirty="0"/>
              <a:t>history for this account?</a:t>
            </a:r>
          </a:p>
          <a:p>
            <a:endParaRPr lang="en-US" dirty="0"/>
          </a:p>
        </p:txBody>
      </p:sp>
      <p:sp>
        <p:nvSpPr>
          <p:cNvPr id="2" name="Content Placeholder 1"/>
          <p:cNvSpPr>
            <a:spLocks noGrp="1"/>
          </p:cNvSpPr>
          <p:nvPr>
            <p:ph sz="half" idx="1"/>
          </p:nvPr>
        </p:nvSpPr>
        <p:spPr/>
        <p:txBody>
          <a:bodyPr/>
          <a:lstStyle/>
          <a:p>
            <a:r>
              <a:rPr lang="en-US"/>
              <a:t>Is the policy current? </a:t>
            </a:r>
            <a:endParaRPr lang="en-US" smtClean="0"/>
          </a:p>
          <a:p>
            <a:r>
              <a:rPr lang="en-US" smtClean="0"/>
              <a:t>When </a:t>
            </a:r>
            <a:r>
              <a:rPr lang="en-US"/>
              <a:t>is next invoice due</a:t>
            </a:r>
            <a:r>
              <a:rPr lang="en-US" smtClean="0"/>
              <a:t>?</a:t>
            </a:r>
          </a:p>
          <a:p>
            <a:r>
              <a:rPr lang="en-US" smtClean="0"/>
              <a:t>How </a:t>
            </a:r>
            <a:r>
              <a:rPr lang="en-US"/>
              <a:t>much has been paid </a:t>
            </a:r>
            <a:br>
              <a:rPr lang="en-US"/>
            </a:br>
            <a:r>
              <a:rPr lang="en-US"/>
              <a:t>on current invoice? </a:t>
            </a:r>
          </a:p>
          <a:p>
            <a:endParaRPr lang="en-US"/>
          </a:p>
        </p:txBody>
      </p:sp>
      <p:pic>
        <p:nvPicPr>
          <p:cNvPr id="8" name="Picture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8200" y="895350"/>
            <a:ext cx="565485" cy="548640"/>
          </a:xfrm>
          <a:prstGeom prst="rect">
            <a:avLst/>
          </a:prstGeom>
          <a:effectLst>
            <a:outerShdw blurRad="50800" dist="38100" dir="2700000" algn="tl" rotWithShape="0">
              <a:prstClr val="black">
                <a:alpha val="40000"/>
              </a:prstClr>
            </a:outerShdw>
          </a:effectLst>
        </p:spPr>
      </p:pic>
      <p:pic>
        <p:nvPicPr>
          <p:cNvPr id="9" name="Picture 8"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738" y="895350"/>
            <a:ext cx="565862" cy="548640"/>
          </a:xfrm>
          <a:prstGeom prst="rect">
            <a:avLst/>
          </a:prstGeom>
          <a:effectLst>
            <a:outerShdw blurRad="50800" dist="38100" dir="2700000" algn="tl" rotWithShape="0">
              <a:prstClr val="black">
                <a:alpha val="40000"/>
              </a:prstClr>
            </a:outerShdw>
          </a:effectLst>
        </p:spPr>
      </p:pic>
      <p:grpSp>
        <p:nvGrpSpPr>
          <p:cNvPr id="62" name="Group 37"/>
          <p:cNvGrpSpPr>
            <a:grpSpLocks/>
          </p:cNvGrpSpPr>
          <p:nvPr/>
        </p:nvGrpSpPr>
        <p:grpSpPr bwMode="auto">
          <a:xfrm>
            <a:off x="2144713" y="5196522"/>
            <a:ext cx="849313" cy="904875"/>
            <a:chOff x="7441660" y="928255"/>
            <a:chExt cx="848840" cy="904906"/>
          </a:xfrm>
          <a:effectLst>
            <a:outerShdw blurRad="50800" dist="38100" dir="2700000" algn="tl" rotWithShape="0">
              <a:prstClr val="black">
                <a:alpha val="40000"/>
              </a:prstClr>
            </a:outerShdw>
          </a:effectLst>
        </p:grpSpPr>
        <p:sp>
          <p:nvSpPr>
            <p:cNvPr id="63" name="AutoShape 156"/>
            <p:cNvSpPr>
              <a:spLocks noChangeArrowheads="1"/>
            </p:cNvSpPr>
            <p:nvPr/>
          </p:nvSpPr>
          <p:spPr bwMode="auto">
            <a:xfrm>
              <a:off x="7441660" y="928255"/>
              <a:ext cx="637867" cy="65094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64" name="Group 157"/>
            <p:cNvGrpSpPr>
              <a:grpSpLocks/>
            </p:cNvGrpSpPr>
            <p:nvPr/>
          </p:nvGrpSpPr>
          <p:grpSpPr bwMode="auto">
            <a:xfrm>
              <a:off x="7896855" y="1389421"/>
              <a:ext cx="393645" cy="443740"/>
              <a:chOff x="2768" y="2267"/>
              <a:chExt cx="624" cy="704"/>
            </a:xfrm>
          </p:grpSpPr>
          <p:sp>
            <p:nvSpPr>
              <p:cNvPr id="65" name="AutoShape 158"/>
              <p:cNvSpPr>
                <a:spLocks noChangeArrowheads="1"/>
              </p:cNvSpPr>
              <p:nvPr/>
            </p:nvSpPr>
            <p:spPr bwMode="auto">
              <a:xfrm rot="-5400000">
                <a:off x="2728" y="2307"/>
                <a:ext cx="704" cy="624"/>
              </a:xfrm>
              <a:prstGeom prst="foldedCorner">
                <a:avLst>
                  <a:gd name="adj" fmla="val 20287"/>
                </a:avLst>
              </a:pr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66" name="Freeform 159"/>
              <p:cNvSpPr>
                <a:spLocks/>
              </p:cNvSpPr>
              <p:nvPr/>
            </p:nvSpPr>
            <p:spPr bwMode="auto">
              <a:xfrm>
                <a:off x="2847" y="2357"/>
                <a:ext cx="153" cy="19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67" name="Freeform 160"/>
              <p:cNvSpPr>
                <a:spLocks/>
              </p:cNvSpPr>
              <p:nvPr/>
            </p:nvSpPr>
            <p:spPr bwMode="auto">
              <a:xfrm>
                <a:off x="2847" y="2648"/>
                <a:ext cx="153" cy="196"/>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grpSp>
            <p:nvGrpSpPr>
              <p:cNvPr id="68" name="Group 161"/>
              <p:cNvGrpSpPr>
                <a:grpSpLocks/>
              </p:cNvGrpSpPr>
              <p:nvPr/>
            </p:nvGrpSpPr>
            <p:grpSpPr bwMode="auto">
              <a:xfrm>
                <a:off x="3136" y="2620"/>
                <a:ext cx="231" cy="343"/>
                <a:chOff x="2784" y="3210"/>
                <a:chExt cx="523" cy="772"/>
              </a:xfrm>
            </p:grpSpPr>
            <p:sp>
              <p:nvSpPr>
                <p:cNvPr id="69" name="AutoShape 162"/>
                <p:cNvSpPr>
                  <a:spLocks noChangeArrowheads="1"/>
                </p:cNvSpPr>
                <p:nvPr/>
              </p:nvSpPr>
              <p:spPr bwMode="auto">
                <a:xfrm rot="16736225" flipH="1">
                  <a:off x="2714" y="3670"/>
                  <a:ext cx="487" cy="138"/>
                </a:xfrm>
                <a:prstGeom prst="parallelogram">
                  <a:avLst>
                    <a:gd name="adj" fmla="val 88225"/>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70" name="AutoShape 163"/>
                <p:cNvSpPr>
                  <a:spLocks noChangeArrowheads="1"/>
                </p:cNvSpPr>
                <p:nvPr/>
              </p:nvSpPr>
              <p:spPr bwMode="auto">
                <a:xfrm rot="4863775">
                  <a:off x="2853" y="3662"/>
                  <a:ext cx="501" cy="128"/>
                </a:xfrm>
                <a:prstGeom prst="parallelogram">
                  <a:avLst>
                    <a:gd name="adj" fmla="val 97852"/>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71" name="AutoShape 164"/>
                <p:cNvSpPr>
                  <a:spLocks noChangeArrowheads="1"/>
                </p:cNvSpPr>
                <p:nvPr/>
              </p:nvSpPr>
              <p:spPr bwMode="auto">
                <a:xfrm>
                  <a:off x="2784" y="3210"/>
                  <a:ext cx="523" cy="523"/>
                </a:xfrm>
                <a:prstGeom prst="star16">
                  <a:avLst>
                    <a:gd name="adj" fmla="val 37500"/>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72" name="Oval 165"/>
                <p:cNvSpPr>
                  <a:spLocks noChangeArrowheads="1"/>
                </p:cNvSpPr>
                <p:nvPr/>
              </p:nvSpPr>
              <p:spPr bwMode="auto">
                <a:xfrm>
                  <a:off x="2880" y="3307"/>
                  <a:ext cx="320" cy="320"/>
                </a:xfrm>
                <a:prstGeom prst="ellipse">
                  <a:avLst/>
                </a:prstGeom>
                <a:solidFill>
                  <a:srgbClr val="FFFF99"/>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anchor="ctr"/>
                <a:lstStyle/>
                <a:p>
                  <a:endParaRPr lang="en-US"/>
                </a:p>
              </p:txBody>
            </p:sp>
          </p:grpSp>
        </p:grpSp>
      </p:grpSp>
      <p:grpSp>
        <p:nvGrpSpPr>
          <p:cNvPr id="73" name="Group 42"/>
          <p:cNvGrpSpPr>
            <a:grpSpLocks/>
          </p:cNvGrpSpPr>
          <p:nvPr/>
        </p:nvGrpSpPr>
        <p:grpSpPr bwMode="auto">
          <a:xfrm>
            <a:off x="812800" y="5198484"/>
            <a:ext cx="703263" cy="906462"/>
            <a:chOff x="2634" y="2618"/>
            <a:chExt cx="538" cy="692"/>
          </a:xfrm>
          <a:effectLst>
            <a:outerShdw blurRad="50800" dist="38100" dir="2700000" algn="tl" rotWithShape="0">
              <a:prstClr val="black">
                <a:alpha val="40000"/>
              </a:prstClr>
            </a:outerShdw>
          </a:effectLst>
        </p:grpSpPr>
        <p:sp>
          <p:nvSpPr>
            <p:cNvPr id="74" name="AutoShape 43"/>
            <p:cNvSpPr>
              <a:spLocks noChangeArrowheads="1"/>
            </p:cNvSpPr>
            <p:nvPr/>
          </p:nvSpPr>
          <p:spPr bwMode="auto">
            <a:xfrm flipH="1">
              <a:off x="2644" y="2618"/>
              <a:ext cx="482" cy="490"/>
            </a:xfrm>
            <a:prstGeom prst="smileyFace">
              <a:avLst>
                <a:gd name="adj" fmla="val 4653"/>
              </a:avLst>
            </a:prstGeom>
            <a:gradFill rotWithShape="1">
              <a:gsLst>
                <a:gs pos="0">
                  <a:srgbClr val="FFCC99"/>
                </a:gs>
                <a:gs pos="100000">
                  <a:srgbClr val="FFFF99"/>
                </a:gs>
              </a:gsLst>
              <a:lin ang="0" scaled="1"/>
            </a:gradFill>
            <a:ln w="12700">
              <a:solidFill>
                <a:srgbClr val="000000"/>
              </a:solidFill>
              <a:round/>
              <a:headEnd/>
              <a:tailEnd/>
            </a:ln>
          </p:spPr>
          <p:txBody>
            <a:bodyPr wrap="none" anchor="ctr"/>
            <a:lstStyle/>
            <a:p>
              <a:endParaRPr lang="en-US"/>
            </a:p>
          </p:txBody>
        </p:sp>
        <p:sp>
          <p:nvSpPr>
            <p:cNvPr id="75" name="Freeform 44"/>
            <p:cNvSpPr>
              <a:spLocks/>
            </p:cNvSpPr>
            <p:nvPr/>
          </p:nvSpPr>
          <p:spPr bwMode="auto">
            <a:xfrm flipH="1">
              <a:off x="2724" y="3066"/>
              <a:ext cx="388" cy="228"/>
            </a:xfrm>
            <a:custGeom>
              <a:avLst/>
              <a:gdLst>
                <a:gd name="T0" fmla="*/ 0 w 941"/>
                <a:gd name="T1" fmla="*/ 0 h 553"/>
                <a:gd name="T2" fmla="*/ 0 w 941"/>
                <a:gd name="T3" fmla="*/ 0 h 553"/>
                <a:gd name="T4" fmla="*/ 0 w 941"/>
                <a:gd name="T5" fmla="*/ 0 h 553"/>
                <a:gd name="T6" fmla="*/ 0 w 941"/>
                <a:gd name="T7" fmla="*/ 0 h 553"/>
                <a:gd name="T8" fmla="*/ 0 w 941"/>
                <a:gd name="T9" fmla="*/ 0 h 553"/>
                <a:gd name="T10" fmla="*/ 0 w 941"/>
                <a:gd name="T11" fmla="*/ 0 h 553"/>
                <a:gd name="T12" fmla="*/ 0 w 941"/>
                <a:gd name="T13" fmla="*/ 0 h 553"/>
                <a:gd name="T14" fmla="*/ 0 w 941"/>
                <a:gd name="T15" fmla="*/ 0 h 553"/>
                <a:gd name="T16" fmla="*/ 0 w 941"/>
                <a:gd name="T17" fmla="*/ 0 h 553"/>
                <a:gd name="T18" fmla="*/ 0 w 941"/>
                <a:gd name="T19" fmla="*/ 0 h 553"/>
                <a:gd name="T20" fmla="*/ 0 w 941"/>
                <a:gd name="T21" fmla="*/ 0 h 553"/>
                <a:gd name="T22" fmla="*/ 0 w 941"/>
                <a:gd name="T23" fmla="*/ 0 h 553"/>
                <a:gd name="T24" fmla="*/ 0 w 941"/>
                <a:gd name="T25" fmla="*/ 0 h 553"/>
                <a:gd name="T26" fmla="*/ 0 w 941"/>
                <a:gd name="T27" fmla="*/ 0 h 553"/>
                <a:gd name="T28" fmla="*/ 0 w 941"/>
                <a:gd name="T29" fmla="*/ 0 h 553"/>
                <a:gd name="T30" fmla="*/ 0 w 941"/>
                <a:gd name="T31" fmla="*/ 0 h 553"/>
                <a:gd name="T32" fmla="*/ 0 w 941"/>
                <a:gd name="T33" fmla="*/ 0 h 553"/>
                <a:gd name="T34" fmla="*/ 0 w 941"/>
                <a:gd name="T35" fmla="*/ 0 h 553"/>
                <a:gd name="T36" fmla="*/ 0 w 941"/>
                <a:gd name="T37" fmla="*/ 0 h 553"/>
                <a:gd name="T38" fmla="*/ 0 w 941"/>
                <a:gd name="T39" fmla="*/ 0 h 553"/>
                <a:gd name="T40" fmla="*/ 0 w 941"/>
                <a:gd name="T41" fmla="*/ 0 h 553"/>
                <a:gd name="T42" fmla="*/ 0 w 941"/>
                <a:gd name="T43" fmla="*/ 0 h 553"/>
                <a:gd name="T44" fmla="*/ 0 w 941"/>
                <a:gd name="T45" fmla="*/ 0 h 553"/>
                <a:gd name="T46" fmla="*/ 0 w 941"/>
                <a:gd name="T47" fmla="*/ 0 h 553"/>
                <a:gd name="T48" fmla="*/ 0 w 941"/>
                <a:gd name="T49" fmla="*/ 0 h 553"/>
                <a:gd name="T50" fmla="*/ 0 w 941"/>
                <a:gd name="T51" fmla="*/ 0 h 553"/>
                <a:gd name="T52" fmla="*/ 0 w 941"/>
                <a:gd name="T53" fmla="*/ 0 h 553"/>
                <a:gd name="T54" fmla="*/ 0 w 941"/>
                <a:gd name="T55" fmla="*/ 0 h 55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1"/>
                <a:gd name="T85" fmla="*/ 0 h 553"/>
                <a:gd name="T86" fmla="*/ 941 w 941"/>
                <a:gd name="T87" fmla="*/ 553 h 55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1" h="553">
                  <a:moveTo>
                    <a:pt x="54" y="55"/>
                  </a:moveTo>
                  <a:cubicBezTo>
                    <a:pt x="108" y="37"/>
                    <a:pt x="292" y="41"/>
                    <a:pt x="354" y="34"/>
                  </a:cubicBezTo>
                  <a:cubicBezTo>
                    <a:pt x="416" y="27"/>
                    <a:pt x="380" y="16"/>
                    <a:pt x="426" y="13"/>
                  </a:cubicBezTo>
                  <a:cubicBezTo>
                    <a:pt x="472" y="10"/>
                    <a:pt x="563" y="0"/>
                    <a:pt x="633" y="16"/>
                  </a:cubicBezTo>
                  <a:cubicBezTo>
                    <a:pt x="703" y="32"/>
                    <a:pt x="801" y="79"/>
                    <a:pt x="849" y="112"/>
                  </a:cubicBezTo>
                  <a:cubicBezTo>
                    <a:pt x="897" y="145"/>
                    <a:pt x="941" y="207"/>
                    <a:pt x="921" y="214"/>
                  </a:cubicBezTo>
                  <a:cubicBezTo>
                    <a:pt x="901" y="221"/>
                    <a:pt x="764" y="159"/>
                    <a:pt x="729" y="151"/>
                  </a:cubicBezTo>
                  <a:cubicBezTo>
                    <a:pt x="694" y="143"/>
                    <a:pt x="692" y="148"/>
                    <a:pt x="708" y="166"/>
                  </a:cubicBezTo>
                  <a:cubicBezTo>
                    <a:pt x="724" y="184"/>
                    <a:pt x="798" y="226"/>
                    <a:pt x="825" y="259"/>
                  </a:cubicBezTo>
                  <a:cubicBezTo>
                    <a:pt x="852" y="292"/>
                    <a:pt x="860" y="340"/>
                    <a:pt x="867" y="364"/>
                  </a:cubicBezTo>
                  <a:cubicBezTo>
                    <a:pt x="874" y="388"/>
                    <a:pt x="874" y="399"/>
                    <a:pt x="867" y="406"/>
                  </a:cubicBezTo>
                  <a:cubicBezTo>
                    <a:pt x="860" y="413"/>
                    <a:pt x="832" y="399"/>
                    <a:pt x="825" y="406"/>
                  </a:cubicBezTo>
                  <a:cubicBezTo>
                    <a:pt x="818" y="413"/>
                    <a:pt x="829" y="442"/>
                    <a:pt x="825" y="451"/>
                  </a:cubicBezTo>
                  <a:cubicBezTo>
                    <a:pt x="821" y="460"/>
                    <a:pt x="811" y="459"/>
                    <a:pt x="804" y="460"/>
                  </a:cubicBezTo>
                  <a:cubicBezTo>
                    <a:pt x="797" y="461"/>
                    <a:pt x="784" y="457"/>
                    <a:pt x="780" y="460"/>
                  </a:cubicBezTo>
                  <a:cubicBezTo>
                    <a:pt x="776" y="463"/>
                    <a:pt x="782" y="469"/>
                    <a:pt x="780" y="478"/>
                  </a:cubicBezTo>
                  <a:cubicBezTo>
                    <a:pt x="778" y="487"/>
                    <a:pt x="776" y="511"/>
                    <a:pt x="765" y="517"/>
                  </a:cubicBezTo>
                  <a:cubicBezTo>
                    <a:pt x="754" y="523"/>
                    <a:pt x="721" y="509"/>
                    <a:pt x="711" y="514"/>
                  </a:cubicBezTo>
                  <a:cubicBezTo>
                    <a:pt x="701" y="519"/>
                    <a:pt x="713" y="541"/>
                    <a:pt x="702" y="547"/>
                  </a:cubicBezTo>
                  <a:cubicBezTo>
                    <a:pt x="691" y="553"/>
                    <a:pt x="666" y="553"/>
                    <a:pt x="645" y="550"/>
                  </a:cubicBezTo>
                  <a:cubicBezTo>
                    <a:pt x="624" y="547"/>
                    <a:pt x="613" y="547"/>
                    <a:pt x="576" y="529"/>
                  </a:cubicBezTo>
                  <a:cubicBezTo>
                    <a:pt x="539" y="511"/>
                    <a:pt x="474" y="468"/>
                    <a:pt x="423" y="442"/>
                  </a:cubicBezTo>
                  <a:cubicBezTo>
                    <a:pt x="372" y="416"/>
                    <a:pt x="311" y="388"/>
                    <a:pt x="270" y="373"/>
                  </a:cubicBezTo>
                  <a:cubicBezTo>
                    <a:pt x="229" y="358"/>
                    <a:pt x="213" y="358"/>
                    <a:pt x="174" y="352"/>
                  </a:cubicBezTo>
                  <a:cubicBezTo>
                    <a:pt x="135" y="346"/>
                    <a:pt x="64" y="339"/>
                    <a:pt x="36" y="337"/>
                  </a:cubicBezTo>
                  <a:cubicBezTo>
                    <a:pt x="8" y="335"/>
                    <a:pt x="6" y="355"/>
                    <a:pt x="3" y="337"/>
                  </a:cubicBezTo>
                  <a:cubicBezTo>
                    <a:pt x="0" y="319"/>
                    <a:pt x="6" y="276"/>
                    <a:pt x="15" y="229"/>
                  </a:cubicBezTo>
                  <a:cubicBezTo>
                    <a:pt x="24" y="182"/>
                    <a:pt x="46" y="91"/>
                    <a:pt x="54" y="55"/>
                  </a:cubicBez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76" name="Freeform 45"/>
            <p:cNvSpPr>
              <a:spLocks/>
            </p:cNvSpPr>
            <p:nvPr/>
          </p:nvSpPr>
          <p:spPr bwMode="auto">
            <a:xfrm flipH="1">
              <a:off x="2692" y="3051"/>
              <a:ext cx="300" cy="174"/>
            </a:xfrm>
            <a:custGeom>
              <a:avLst/>
              <a:gdLst>
                <a:gd name="T0" fmla="*/ 0 w 729"/>
                <a:gd name="T1" fmla="*/ 0 h 420"/>
                <a:gd name="T2" fmla="*/ 0 w 729"/>
                <a:gd name="T3" fmla="*/ 0 h 420"/>
                <a:gd name="T4" fmla="*/ 0 w 729"/>
                <a:gd name="T5" fmla="*/ 0 h 420"/>
                <a:gd name="T6" fmla="*/ 0 w 729"/>
                <a:gd name="T7" fmla="*/ 0 h 420"/>
                <a:gd name="T8" fmla="*/ 0 w 729"/>
                <a:gd name="T9" fmla="*/ 0 h 420"/>
                <a:gd name="T10" fmla="*/ 0 w 729"/>
                <a:gd name="T11" fmla="*/ 0 h 420"/>
                <a:gd name="T12" fmla="*/ 0 w 729"/>
                <a:gd name="T13" fmla="*/ 0 h 420"/>
                <a:gd name="T14" fmla="*/ 0 w 729"/>
                <a:gd name="T15" fmla="*/ 0 h 420"/>
                <a:gd name="T16" fmla="*/ 0 w 729"/>
                <a:gd name="T17" fmla="*/ 0 h 420"/>
                <a:gd name="T18" fmla="*/ 0 w 729"/>
                <a:gd name="T19" fmla="*/ 0 h 420"/>
                <a:gd name="T20" fmla="*/ 0 w 729"/>
                <a:gd name="T21" fmla="*/ 0 h 420"/>
                <a:gd name="T22" fmla="*/ 0 w 729"/>
                <a:gd name="T23" fmla="*/ 0 h 420"/>
                <a:gd name="T24" fmla="*/ 0 w 729"/>
                <a:gd name="T25" fmla="*/ 0 h 420"/>
                <a:gd name="T26" fmla="*/ 0 w 729"/>
                <a:gd name="T27" fmla="*/ 0 h 420"/>
                <a:gd name="T28" fmla="*/ 0 w 729"/>
                <a:gd name="T29" fmla="*/ 0 h 420"/>
                <a:gd name="T30" fmla="*/ 0 w 729"/>
                <a:gd name="T31" fmla="*/ 0 h 420"/>
                <a:gd name="T32" fmla="*/ 0 w 729"/>
                <a:gd name="T33" fmla="*/ 0 h 420"/>
                <a:gd name="T34" fmla="*/ 0 w 729"/>
                <a:gd name="T35" fmla="*/ 0 h 420"/>
                <a:gd name="T36" fmla="*/ 0 w 729"/>
                <a:gd name="T37" fmla="*/ 0 h 420"/>
                <a:gd name="T38" fmla="*/ 0 w 729"/>
                <a:gd name="T39" fmla="*/ 0 h 420"/>
                <a:gd name="T40" fmla="*/ 0 w 729"/>
                <a:gd name="T41" fmla="*/ 0 h 420"/>
                <a:gd name="T42" fmla="*/ 0 w 729"/>
                <a:gd name="T43" fmla="*/ 0 h 420"/>
                <a:gd name="T44" fmla="*/ 0 w 729"/>
                <a:gd name="T45" fmla="*/ 0 h 420"/>
                <a:gd name="T46" fmla="*/ 0 w 729"/>
                <a:gd name="T47" fmla="*/ 0 h 420"/>
                <a:gd name="T48" fmla="*/ 0 w 729"/>
                <a:gd name="T49" fmla="*/ 0 h 420"/>
                <a:gd name="T50" fmla="*/ 0 w 729"/>
                <a:gd name="T51" fmla="*/ 0 h 4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29"/>
                <a:gd name="T79" fmla="*/ 0 h 420"/>
                <a:gd name="T80" fmla="*/ 729 w 729"/>
                <a:gd name="T81" fmla="*/ 420 h 4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29" h="420">
                  <a:moveTo>
                    <a:pt x="647" y="59"/>
                  </a:moveTo>
                  <a:cubicBezTo>
                    <a:pt x="618" y="22"/>
                    <a:pt x="573" y="68"/>
                    <a:pt x="551" y="68"/>
                  </a:cubicBezTo>
                  <a:cubicBezTo>
                    <a:pt x="529" y="68"/>
                    <a:pt x="537" y="68"/>
                    <a:pt x="512" y="59"/>
                  </a:cubicBezTo>
                  <a:cubicBezTo>
                    <a:pt x="487" y="50"/>
                    <a:pt x="432" y="23"/>
                    <a:pt x="398" y="14"/>
                  </a:cubicBezTo>
                  <a:cubicBezTo>
                    <a:pt x="364" y="5"/>
                    <a:pt x="343" y="0"/>
                    <a:pt x="308" y="2"/>
                  </a:cubicBezTo>
                  <a:cubicBezTo>
                    <a:pt x="273" y="4"/>
                    <a:pt x="218" y="16"/>
                    <a:pt x="188" y="26"/>
                  </a:cubicBezTo>
                  <a:cubicBezTo>
                    <a:pt x="158" y="36"/>
                    <a:pt x="149" y="48"/>
                    <a:pt x="128" y="65"/>
                  </a:cubicBezTo>
                  <a:cubicBezTo>
                    <a:pt x="107" y="82"/>
                    <a:pt x="79" y="114"/>
                    <a:pt x="59" y="128"/>
                  </a:cubicBezTo>
                  <a:cubicBezTo>
                    <a:pt x="39" y="142"/>
                    <a:pt x="21" y="137"/>
                    <a:pt x="11" y="146"/>
                  </a:cubicBezTo>
                  <a:cubicBezTo>
                    <a:pt x="1" y="155"/>
                    <a:pt x="1" y="172"/>
                    <a:pt x="2" y="182"/>
                  </a:cubicBezTo>
                  <a:cubicBezTo>
                    <a:pt x="3" y="192"/>
                    <a:pt x="0" y="205"/>
                    <a:pt x="17" y="209"/>
                  </a:cubicBezTo>
                  <a:cubicBezTo>
                    <a:pt x="34" y="213"/>
                    <a:pt x="75" y="212"/>
                    <a:pt x="104" y="206"/>
                  </a:cubicBezTo>
                  <a:cubicBezTo>
                    <a:pt x="133" y="200"/>
                    <a:pt x="172" y="184"/>
                    <a:pt x="191" y="173"/>
                  </a:cubicBezTo>
                  <a:cubicBezTo>
                    <a:pt x="210" y="162"/>
                    <a:pt x="206" y="145"/>
                    <a:pt x="221" y="137"/>
                  </a:cubicBezTo>
                  <a:cubicBezTo>
                    <a:pt x="236" y="129"/>
                    <a:pt x="263" y="126"/>
                    <a:pt x="281" y="125"/>
                  </a:cubicBezTo>
                  <a:cubicBezTo>
                    <a:pt x="299" y="124"/>
                    <a:pt x="312" y="120"/>
                    <a:pt x="332" y="131"/>
                  </a:cubicBezTo>
                  <a:cubicBezTo>
                    <a:pt x="352" y="142"/>
                    <a:pt x="374" y="170"/>
                    <a:pt x="404" y="194"/>
                  </a:cubicBezTo>
                  <a:cubicBezTo>
                    <a:pt x="434" y="218"/>
                    <a:pt x="485" y="248"/>
                    <a:pt x="512" y="278"/>
                  </a:cubicBezTo>
                  <a:cubicBezTo>
                    <a:pt x="539" y="308"/>
                    <a:pt x="558" y="348"/>
                    <a:pt x="569" y="371"/>
                  </a:cubicBezTo>
                  <a:cubicBezTo>
                    <a:pt x="580" y="394"/>
                    <a:pt x="575" y="412"/>
                    <a:pt x="581" y="416"/>
                  </a:cubicBezTo>
                  <a:cubicBezTo>
                    <a:pt x="587" y="420"/>
                    <a:pt x="595" y="403"/>
                    <a:pt x="605" y="395"/>
                  </a:cubicBezTo>
                  <a:cubicBezTo>
                    <a:pt x="615" y="387"/>
                    <a:pt x="628" y="379"/>
                    <a:pt x="641" y="368"/>
                  </a:cubicBezTo>
                  <a:cubicBezTo>
                    <a:pt x="654" y="357"/>
                    <a:pt x="669" y="336"/>
                    <a:pt x="683" y="329"/>
                  </a:cubicBezTo>
                  <a:cubicBezTo>
                    <a:pt x="697" y="322"/>
                    <a:pt x="721" y="340"/>
                    <a:pt x="725" y="323"/>
                  </a:cubicBezTo>
                  <a:cubicBezTo>
                    <a:pt x="729" y="306"/>
                    <a:pt x="717" y="271"/>
                    <a:pt x="704" y="227"/>
                  </a:cubicBezTo>
                  <a:cubicBezTo>
                    <a:pt x="691" y="183"/>
                    <a:pt x="659" y="94"/>
                    <a:pt x="647" y="59"/>
                  </a:cubicBezTo>
                  <a:close/>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sp>
          <p:nvSpPr>
            <p:cNvPr id="77" name="Rectangle 46"/>
            <p:cNvSpPr>
              <a:spLocks noChangeArrowheads="1"/>
            </p:cNvSpPr>
            <p:nvPr/>
          </p:nvSpPr>
          <p:spPr bwMode="auto">
            <a:xfrm rot="21419544" flipH="1">
              <a:off x="3090" y="3069"/>
              <a:ext cx="82" cy="176"/>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78" name="Rectangle 47"/>
            <p:cNvSpPr>
              <a:spLocks noChangeArrowheads="1"/>
            </p:cNvSpPr>
            <p:nvPr/>
          </p:nvSpPr>
          <p:spPr bwMode="auto">
            <a:xfrm rot="1196180" flipH="1">
              <a:off x="2634" y="3044"/>
              <a:ext cx="82" cy="175"/>
            </a:xfrm>
            <a:prstGeom prst="rect">
              <a:avLst/>
            </a:prstGeom>
            <a:solidFill>
              <a:srgbClr val="FFFF99"/>
            </a:solidFill>
            <a:ln w="12700" algn="ctr">
              <a:solidFill>
                <a:schemeClr val="bg1"/>
              </a:solidFill>
              <a:miter lim="800000"/>
              <a:headEnd/>
              <a:tailEnd/>
            </a:ln>
          </p:spPr>
          <p:txBody>
            <a:bodyPr lIns="0" tIns="0" rIns="0" bIns="0" anchor="ctr">
              <a:spAutoFit/>
            </a:bodyPr>
            <a:lstStyle/>
            <a:p>
              <a:endParaRPr lang="en-US"/>
            </a:p>
          </p:txBody>
        </p:sp>
        <p:sp>
          <p:nvSpPr>
            <p:cNvPr id="79" name="Oval 48"/>
            <p:cNvSpPr>
              <a:spLocks noChangeArrowheads="1"/>
            </p:cNvSpPr>
            <p:nvPr/>
          </p:nvSpPr>
          <p:spPr bwMode="auto">
            <a:xfrm flipH="1">
              <a:off x="2961" y="3207"/>
              <a:ext cx="50" cy="58"/>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80" name="Oval 49"/>
            <p:cNvSpPr>
              <a:spLocks noChangeArrowheads="1"/>
            </p:cNvSpPr>
            <p:nvPr/>
          </p:nvSpPr>
          <p:spPr bwMode="auto">
            <a:xfrm flipH="1">
              <a:off x="2926" y="3231"/>
              <a:ext cx="47" cy="63"/>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81" name="Oval 50"/>
            <p:cNvSpPr>
              <a:spLocks noChangeArrowheads="1"/>
            </p:cNvSpPr>
            <p:nvPr/>
          </p:nvSpPr>
          <p:spPr bwMode="auto">
            <a:xfrm rot="20190086" flipH="1">
              <a:off x="2882" y="3246"/>
              <a:ext cx="49" cy="62"/>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82" name="Oval 51"/>
            <p:cNvSpPr>
              <a:spLocks noChangeArrowheads="1"/>
            </p:cNvSpPr>
            <p:nvPr/>
          </p:nvSpPr>
          <p:spPr bwMode="auto">
            <a:xfrm rot="18495068" flipH="1">
              <a:off x="2862" y="3266"/>
              <a:ext cx="30" cy="57"/>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83" name="Freeform 52"/>
            <p:cNvSpPr>
              <a:spLocks/>
            </p:cNvSpPr>
            <p:nvPr/>
          </p:nvSpPr>
          <p:spPr bwMode="auto">
            <a:xfrm flipH="1">
              <a:off x="2769" y="3181"/>
              <a:ext cx="74" cy="50"/>
            </a:xfrm>
            <a:custGeom>
              <a:avLst/>
              <a:gdLst>
                <a:gd name="T0" fmla="*/ 0 w 180"/>
                <a:gd name="T1" fmla="*/ 0 h 123"/>
                <a:gd name="T2" fmla="*/ 0 w 180"/>
                <a:gd name="T3" fmla="*/ 0 h 123"/>
                <a:gd name="T4" fmla="*/ 0 w 180"/>
                <a:gd name="T5" fmla="*/ 0 h 123"/>
                <a:gd name="T6" fmla="*/ 0 60000 65536"/>
                <a:gd name="T7" fmla="*/ 0 60000 65536"/>
                <a:gd name="T8" fmla="*/ 0 60000 65536"/>
                <a:gd name="T9" fmla="*/ 0 w 180"/>
                <a:gd name="T10" fmla="*/ 0 h 123"/>
                <a:gd name="T11" fmla="*/ 180 w 180"/>
                <a:gd name="T12" fmla="*/ 123 h 123"/>
              </a:gdLst>
              <a:ahLst/>
              <a:cxnLst>
                <a:cxn ang="T6">
                  <a:pos x="T0" y="T1"/>
                </a:cxn>
                <a:cxn ang="T7">
                  <a:pos x="T2" y="T3"/>
                </a:cxn>
                <a:cxn ang="T8">
                  <a:pos x="T4" y="T5"/>
                </a:cxn>
              </a:cxnLst>
              <a:rect l="T9" t="T10" r="T11" b="T12"/>
              <a:pathLst>
                <a:path w="180" h="123">
                  <a:moveTo>
                    <a:pt x="180" y="123"/>
                  </a:moveTo>
                  <a:cubicBezTo>
                    <a:pt x="153" y="110"/>
                    <a:pt x="126" y="98"/>
                    <a:pt x="96" y="78"/>
                  </a:cubicBezTo>
                  <a:cubicBezTo>
                    <a:pt x="66" y="58"/>
                    <a:pt x="33" y="29"/>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4" name="Freeform 53"/>
            <p:cNvSpPr>
              <a:spLocks/>
            </p:cNvSpPr>
            <p:nvPr/>
          </p:nvSpPr>
          <p:spPr bwMode="auto">
            <a:xfrm flipH="1">
              <a:off x="2789" y="3197"/>
              <a:ext cx="79" cy="60"/>
            </a:xfrm>
            <a:custGeom>
              <a:avLst/>
              <a:gdLst>
                <a:gd name="T0" fmla="*/ 0 w 189"/>
                <a:gd name="T1" fmla="*/ 0 h 144"/>
                <a:gd name="T2" fmla="*/ 0 w 189"/>
                <a:gd name="T3" fmla="*/ 0 h 144"/>
                <a:gd name="T4" fmla="*/ 0 w 189"/>
                <a:gd name="T5" fmla="*/ 0 h 144"/>
                <a:gd name="T6" fmla="*/ 0 w 189"/>
                <a:gd name="T7" fmla="*/ 0 h 144"/>
                <a:gd name="T8" fmla="*/ 0 60000 65536"/>
                <a:gd name="T9" fmla="*/ 0 60000 65536"/>
                <a:gd name="T10" fmla="*/ 0 60000 65536"/>
                <a:gd name="T11" fmla="*/ 0 60000 65536"/>
                <a:gd name="T12" fmla="*/ 0 w 189"/>
                <a:gd name="T13" fmla="*/ 0 h 144"/>
                <a:gd name="T14" fmla="*/ 189 w 189"/>
                <a:gd name="T15" fmla="*/ 144 h 144"/>
              </a:gdLst>
              <a:ahLst/>
              <a:cxnLst>
                <a:cxn ang="T8">
                  <a:pos x="T0" y="T1"/>
                </a:cxn>
                <a:cxn ang="T9">
                  <a:pos x="T2" y="T3"/>
                </a:cxn>
                <a:cxn ang="T10">
                  <a:pos x="T4" y="T5"/>
                </a:cxn>
                <a:cxn ang="T11">
                  <a:pos x="T6" y="T7"/>
                </a:cxn>
              </a:cxnLst>
              <a:rect l="T12" t="T13" r="T14" b="T15"/>
              <a:pathLst>
                <a:path w="189" h="144">
                  <a:moveTo>
                    <a:pt x="189" y="144"/>
                  </a:moveTo>
                  <a:cubicBezTo>
                    <a:pt x="171" y="141"/>
                    <a:pt x="154" y="139"/>
                    <a:pt x="135" y="129"/>
                  </a:cubicBezTo>
                  <a:cubicBezTo>
                    <a:pt x="116" y="119"/>
                    <a:pt x="97" y="105"/>
                    <a:pt x="75" y="84"/>
                  </a:cubicBezTo>
                  <a:cubicBezTo>
                    <a:pt x="53" y="63"/>
                    <a:pt x="26" y="31"/>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85" name="Freeform 54"/>
            <p:cNvSpPr>
              <a:spLocks/>
            </p:cNvSpPr>
            <p:nvPr/>
          </p:nvSpPr>
          <p:spPr bwMode="auto">
            <a:xfrm flipH="1">
              <a:off x="2820" y="3220"/>
              <a:ext cx="75" cy="58"/>
            </a:xfrm>
            <a:custGeom>
              <a:avLst/>
              <a:gdLst>
                <a:gd name="T0" fmla="*/ 0 w 183"/>
                <a:gd name="T1" fmla="*/ 0 h 141"/>
                <a:gd name="T2" fmla="*/ 0 w 183"/>
                <a:gd name="T3" fmla="*/ 0 h 141"/>
                <a:gd name="T4" fmla="*/ 0 w 183"/>
                <a:gd name="T5" fmla="*/ 0 h 141"/>
                <a:gd name="T6" fmla="*/ 0 w 183"/>
                <a:gd name="T7" fmla="*/ 0 h 141"/>
                <a:gd name="T8" fmla="*/ 0 60000 65536"/>
                <a:gd name="T9" fmla="*/ 0 60000 65536"/>
                <a:gd name="T10" fmla="*/ 0 60000 65536"/>
                <a:gd name="T11" fmla="*/ 0 60000 65536"/>
                <a:gd name="T12" fmla="*/ 0 w 183"/>
                <a:gd name="T13" fmla="*/ 0 h 141"/>
                <a:gd name="T14" fmla="*/ 183 w 183"/>
                <a:gd name="T15" fmla="*/ 141 h 141"/>
              </a:gdLst>
              <a:ahLst/>
              <a:cxnLst>
                <a:cxn ang="T8">
                  <a:pos x="T0" y="T1"/>
                </a:cxn>
                <a:cxn ang="T9">
                  <a:pos x="T2" y="T3"/>
                </a:cxn>
                <a:cxn ang="T10">
                  <a:pos x="T4" y="T5"/>
                </a:cxn>
                <a:cxn ang="T11">
                  <a:pos x="T6" y="T7"/>
                </a:cxn>
              </a:cxnLst>
              <a:rect l="T12" t="T13" r="T14" b="T15"/>
              <a:pathLst>
                <a:path w="183" h="141">
                  <a:moveTo>
                    <a:pt x="183" y="141"/>
                  </a:moveTo>
                  <a:cubicBezTo>
                    <a:pt x="161" y="134"/>
                    <a:pt x="140" y="127"/>
                    <a:pt x="120" y="114"/>
                  </a:cubicBezTo>
                  <a:cubicBezTo>
                    <a:pt x="100" y="101"/>
                    <a:pt x="83" y="82"/>
                    <a:pt x="63" y="63"/>
                  </a:cubicBezTo>
                  <a:cubicBezTo>
                    <a:pt x="43" y="44"/>
                    <a:pt x="21" y="22"/>
                    <a:pt x="0" y="0"/>
                  </a:cubicBezTo>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grpSp>
      <p:sp>
        <p:nvSpPr>
          <p:cNvPr id="86" name="Text Box 41"/>
          <p:cNvSpPr txBox="1">
            <a:spLocks noChangeArrowheads="1"/>
          </p:cNvSpPr>
          <p:nvPr/>
        </p:nvSpPr>
        <p:spPr bwMode="auto">
          <a:xfrm>
            <a:off x="1938338" y="6126162"/>
            <a:ext cx="12620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rPr>
              <a:t>Underwriter</a:t>
            </a:r>
          </a:p>
        </p:txBody>
      </p:sp>
      <p:sp>
        <p:nvSpPr>
          <p:cNvPr id="87" name="Text Box 41"/>
          <p:cNvSpPr txBox="1">
            <a:spLocks noChangeArrowheads="1"/>
          </p:cNvSpPr>
          <p:nvPr/>
        </p:nvSpPr>
        <p:spPr bwMode="auto">
          <a:xfrm>
            <a:off x="533400" y="6124575"/>
            <a:ext cx="12620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rPr>
              <a:t>Producer</a:t>
            </a:r>
          </a:p>
        </p:txBody>
      </p:sp>
      <p:grpSp>
        <p:nvGrpSpPr>
          <p:cNvPr id="88" name="Group 37"/>
          <p:cNvGrpSpPr>
            <a:grpSpLocks/>
          </p:cNvGrpSpPr>
          <p:nvPr/>
        </p:nvGrpSpPr>
        <p:grpSpPr bwMode="auto">
          <a:xfrm>
            <a:off x="5016500" y="5196522"/>
            <a:ext cx="849313" cy="904875"/>
            <a:chOff x="7441660" y="928255"/>
            <a:chExt cx="848840" cy="904906"/>
          </a:xfrm>
          <a:effectLst>
            <a:outerShdw blurRad="50800" dist="38100" dir="2700000" algn="tl" rotWithShape="0">
              <a:prstClr val="black">
                <a:alpha val="40000"/>
              </a:prstClr>
            </a:outerShdw>
          </a:effectLst>
        </p:grpSpPr>
        <p:sp>
          <p:nvSpPr>
            <p:cNvPr id="89" name="AutoShape 156"/>
            <p:cNvSpPr>
              <a:spLocks noChangeArrowheads="1"/>
            </p:cNvSpPr>
            <p:nvPr/>
          </p:nvSpPr>
          <p:spPr bwMode="auto">
            <a:xfrm>
              <a:off x="7441660" y="928255"/>
              <a:ext cx="637867" cy="65094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90" name="Group 157"/>
            <p:cNvGrpSpPr>
              <a:grpSpLocks/>
            </p:cNvGrpSpPr>
            <p:nvPr/>
          </p:nvGrpSpPr>
          <p:grpSpPr bwMode="auto">
            <a:xfrm>
              <a:off x="7896855" y="1389421"/>
              <a:ext cx="393645" cy="443740"/>
              <a:chOff x="2768" y="2267"/>
              <a:chExt cx="624" cy="704"/>
            </a:xfrm>
          </p:grpSpPr>
          <p:sp>
            <p:nvSpPr>
              <p:cNvPr id="91" name="AutoShape 158"/>
              <p:cNvSpPr>
                <a:spLocks noChangeArrowheads="1"/>
              </p:cNvSpPr>
              <p:nvPr/>
            </p:nvSpPr>
            <p:spPr bwMode="auto">
              <a:xfrm rot="-5400000">
                <a:off x="2728" y="2307"/>
                <a:ext cx="704" cy="624"/>
              </a:xfrm>
              <a:prstGeom prst="foldedCorner">
                <a:avLst>
                  <a:gd name="adj" fmla="val 20287"/>
                </a:avLst>
              </a:pr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 name="Freeform 159"/>
              <p:cNvSpPr>
                <a:spLocks/>
              </p:cNvSpPr>
              <p:nvPr/>
            </p:nvSpPr>
            <p:spPr bwMode="auto">
              <a:xfrm>
                <a:off x="2847" y="2357"/>
                <a:ext cx="153" cy="19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93" name="Freeform 160"/>
              <p:cNvSpPr>
                <a:spLocks/>
              </p:cNvSpPr>
              <p:nvPr/>
            </p:nvSpPr>
            <p:spPr bwMode="auto">
              <a:xfrm>
                <a:off x="2847" y="2648"/>
                <a:ext cx="153" cy="196"/>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grpSp>
            <p:nvGrpSpPr>
              <p:cNvPr id="94" name="Group 161"/>
              <p:cNvGrpSpPr>
                <a:grpSpLocks/>
              </p:cNvGrpSpPr>
              <p:nvPr/>
            </p:nvGrpSpPr>
            <p:grpSpPr bwMode="auto">
              <a:xfrm>
                <a:off x="3136" y="2620"/>
                <a:ext cx="231" cy="343"/>
                <a:chOff x="2784" y="3210"/>
                <a:chExt cx="523" cy="772"/>
              </a:xfrm>
            </p:grpSpPr>
            <p:sp>
              <p:nvSpPr>
                <p:cNvPr id="95" name="AutoShape 162"/>
                <p:cNvSpPr>
                  <a:spLocks noChangeArrowheads="1"/>
                </p:cNvSpPr>
                <p:nvPr/>
              </p:nvSpPr>
              <p:spPr bwMode="auto">
                <a:xfrm rot="16736225" flipH="1">
                  <a:off x="2714" y="3670"/>
                  <a:ext cx="487" cy="138"/>
                </a:xfrm>
                <a:prstGeom prst="parallelogram">
                  <a:avLst>
                    <a:gd name="adj" fmla="val 88225"/>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96" name="AutoShape 163"/>
                <p:cNvSpPr>
                  <a:spLocks noChangeArrowheads="1"/>
                </p:cNvSpPr>
                <p:nvPr/>
              </p:nvSpPr>
              <p:spPr bwMode="auto">
                <a:xfrm rot="4863775">
                  <a:off x="2853" y="3662"/>
                  <a:ext cx="501" cy="128"/>
                </a:xfrm>
                <a:prstGeom prst="parallelogram">
                  <a:avLst>
                    <a:gd name="adj" fmla="val 97852"/>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97" name="AutoShape 164"/>
                <p:cNvSpPr>
                  <a:spLocks noChangeArrowheads="1"/>
                </p:cNvSpPr>
                <p:nvPr/>
              </p:nvSpPr>
              <p:spPr bwMode="auto">
                <a:xfrm>
                  <a:off x="2784" y="3210"/>
                  <a:ext cx="523" cy="523"/>
                </a:xfrm>
                <a:prstGeom prst="star16">
                  <a:avLst>
                    <a:gd name="adj" fmla="val 37500"/>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98" name="Oval 165"/>
                <p:cNvSpPr>
                  <a:spLocks noChangeArrowheads="1"/>
                </p:cNvSpPr>
                <p:nvPr/>
              </p:nvSpPr>
              <p:spPr bwMode="auto">
                <a:xfrm>
                  <a:off x="2880" y="3307"/>
                  <a:ext cx="320" cy="320"/>
                </a:xfrm>
                <a:prstGeom prst="ellipse">
                  <a:avLst/>
                </a:prstGeom>
                <a:solidFill>
                  <a:srgbClr val="FFFF99"/>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anchor="ctr"/>
                <a:lstStyle/>
                <a:p>
                  <a:endParaRPr lang="en-US"/>
                </a:p>
              </p:txBody>
            </p:sp>
          </p:grpSp>
        </p:grpSp>
      </p:grpSp>
      <p:grpSp>
        <p:nvGrpSpPr>
          <p:cNvPr id="99" name="Group 42"/>
          <p:cNvGrpSpPr>
            <a:grpSpLocks/>
          </p:cNvGrpSpPr>
          <p:nvPr/>
        </p:nvGrpSpPr>
        <p:grpSpPr bwMode="auto">
          <a:xfrm>
            <a:off x="822325" y="5198484"/>
            <a:ext cx="703263" cy="906462"/>
            <a:chOff x="2634" y="2618"/>
            <a:chExt cx="538" cy="692"/>
          </a:xfrm>
          <a:effectLst>
            <a:outerShdw blurRad="50800" dist="38100" dir="2700000" algn="tl" rotWithShape="0">
              <a:prstClr val="black">
                <a:alpha val="40000"/>
              </a:prstClr>
            </a:outerShdw>
          </a:effectLst>
        </p:grpSpPr>
        <p:sp>
          <p:nvSpPr>
            <p:cNvPr id="100" name="AutoShape 43"/>
            <p:cNvSpPr>
              <a:spLocks noChangeArrowheads="1"/>
            </p:cNvSpPr>
            <p:nvPr/>
          </p:nvSpPr>
          <p:spPr bwMode="auto">
            <a:xfrm flipH="1">
              <a:off x="2644" y="2618"/>
              <a:ext cx="482" cy="490"/>
            </a:xfrm>
            <a:prstGeom prst="smileyFace">
              <a:avLst>
                <a:gd name="adj" fmla="val 4653"/>
              </a:avLst>
            </a:prstGeom>
            <a:gradFill rotWithShape="1">
              <a:gsLst>
                <a:gs pos="0">
                  <a:srgbClr val="FFCC99"/>
                </a:gs>
                <a:gs pos="100000">
                  <a:srgbClr val="FFFF99"/>
                </a:gs>
              </a:gsLst>
              <a:lin ang="0" scaled="1"/>
            </a:gradFill>
            <a:ln w="12700">
              <a:solidFill>
                <a:srgbClr val="000000"/>
              </a:solidFill>
              <a:round/>
              <a:headEnd/>
              <a:tailEnd/>
            </a:ln>
          </p:spPr>
          <p:txBody>
            <a:bodyPr wrap="none" anchor="ctr"/>
            <a:lstStyle/>
            <a:p>
              <a:endParaRPr lang="en-US"/>
            </a:p>
          </p:txBody>
        </p:sp>
        <p:sp>
          <p:nvSpPr>
            <p:cNvPr id="101" name="Freeform 44"/>
            <p:cNvSpPr>
              <a:spLocks/>
            </p:cNvSpPr>
            <p:nvPr/>
          </p:nvSpPr>
          <p:spPr bwMode="auto">
            <a:xfrm flipH="1">
              <a:off x="2724" y="3066"/>
              <a:ext cx="388" cy="228"/>
            </a:xfrm>
            <a:custGeom>
              <a:avLst/>
              <a:gdLst>
                <a:gd name="T0" fmla="*/ 0 w 941"/>
                <a:gd name="T1" fmla="*/ 0 h 553"/>
                <a:gd name="T2" fmla="*/ 0 w 941"/>
                <a:gd name="T3" fmla="*/ 0 h 553"/>
                <a:gd name="T4" fmla="*/ 0 w 941"/>
                <a:gd name="T5" fmla="*/ 0 h 553"/>
                <a:gd name="T6" fmla="*/ 0 w 941"/>
                <a:gd name="T7" fmla="*/ 0 h 553"/>
                <a:gd name="T8" fmla="*/ 0 w 941"/>
                <a:gd name="T9" fmla="*/ 0 h 553"/>
                <a:gd name="T10" fmla="*/ 0 w 941"/>
                <a:gd name="T11" fmla="*/ 0 h 553"/>
                <a:gd name="T12" fmla="*/ 0 w 941"/>
                <a:gd name="T13" fmla="*/ 0 h 553"/>
                <a:gd name="T14" fmla="*/ 0 w 941"/>
                <a:gd name="T15" fmla="*/ 0 h 553"/>
                <a:gd name="T16" fmla="*/ 0 w 941"/>
                <a:gd name="T17" fmla="*/ 0 h 553"/>
                <a:gd name="T18" fmla="*/ 0 w 941"/>
                <a:gd name="T19" fmla="*/ 0 h 553"/>
                <a:gd name="T20" fmla="*/ 0 w 941"/>
                <a:gd name="T21" fmla="*/ 0 h 553"/>
                <a:gd name="T22" fmla="*/ 0 w 941"/>
                <a:gd name="T23" fmla="*/ 0 h 553"/>
                <a:gd name="T24" fmla="*/ 0 w 941"/>
                <a:gd name="T25" fmla="*/ 0 h 553"/>
                <a:gd name="T26" fmla="*/ 0 w 941"/>
                <a:gd name="T27" fmla="*/ 0 h 553"/>
                <a:gd name="T28" fmla="*/ 0 w 941"/>
                <a:gd name="T29" fmla="*/ 0 h 553"/>
                <a:gd name="T30" fmla="*/ 0 w 941"/>
                <a:gd name="T31" fmla="*/ 0 h 553"/>
                <a:gd name="T32" fmla="*/ 0 w 941"/>
                <a:gd name="T33" fmla="*/ 0 h 553"/>
                <a:gd name="T34" fmla="*/ 0 w 941"/>
                <a:gd name="T35" fmla="*/ 0 h 553"/>
                <a:gd name="T36" fmla="*/ 0 w 941"/>
                <a:gd name="T37" fmla="*/ 0 h 553"/>
                <a:gd name="T38" fmla="*/ 0 w 941"/>
                <a:gd name="T39" fmla="*/ 0 h 553"/>
                <a:gd name="T40" fmla="*/ 0 w 941"/>
                <a:gd name="T41" fmla="*/ 0 h 553"/>
                <a:gd name="T42" fmla="*/ 0 w 941"/>
                <a:gd name="T43" fmla="*/ 0 h 553"/>
                <a:gd name="T44" fmla="*/ 0 w 941"/>
                <a:gd name="T45" fmla="*/ 0 h 553"/>
                <a:gd name="T46" fmla="*/ 0 w 941"/>
                <a:gd name="T47" fmla="*/ 0 h 553"/>
                <a:gd name="T48" fmla="*/ 0 w 941"/>
                <a:gd name="T49" fmla="*/ 0 h 553"/>
                <a:gd name="T50" fmla="*/ 0 w 941"/>
                <a:gd name="T51" fmla="*/ 0 h 553"/>
                <a:gd name="T52" fmla="*/ 0 w 941"/>
                <a:gd name="T53" fmla="*/ 0 h 553"/>
                <a:gd name="T54" fmla="*/ 0 w 941"/>
                <a:gd name="T55" fmla="*/ 0 h 55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1"/>
                <a:gd name="T85" fmla="*/ 0 h 553"/>
                <a:gd name="T86" fmla="*/ 941 w 941"/>
                <a:gd name="T87" fmla="*/ 553 h 55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1" h="553">
                  <a:moveTo>
                    <a:pt x="54" y="55"/>
                  </a:moveTo>
                  <a:cubicBezTo>
                    <a:pt x="108" y="37"/>
                    <a:pt x="292" y="41"/>
                    <a:pt x="354" y="34"/>
                  </a:cubicBezTo>
                  <a:cubicBezTo>
                    <a:pt x="416" y="27"/>
                    <a:pt x="380" y="16"/>
                    <a:pt x="426" y="13"/>
                  </a:cubicBezTo>
                  <a:cubicBezTo>
                    <a:pt x="472" y="10"/>
                    <a:pt x="563" y="0"/>
                    <a:pt x="633" y="16"/>
                  </a:cubicBezTo>
                  <a:cubicBezTo>
                    <a:pt x="703" y="32"/>
                    <a:pt x="801" y="79"/>
                    <a:pt x="849" y="112"/>
                  </a:cubicBezTo>
                  <a:cubicBezTo>
                    <a:pt x="897" y="145"/>
                    <a:pt x="941" y="207"/>
                    <a:pt x="921" y="214"/>
                  </a:cubicBezTo>
                  <a:cubicBezTo>
                    <a:pt x="901" y="221"/>
                    <a:pt x="764" y="159"/>
                    <a:pt x="729" y="151"/>
                  </a:cubicBezTo>
                  <a:cubicBezTo>
                    <a:pt x="694" y="143"/>
                    <a:pt x="692" y="148"/>
                    <a:pt x="708" y="166"/>
                  </a:cubicBezTo>
                  <a:cubicBezTo>
                    <a:pt x="724" y="184"/>
                    <a:pt x="798" y="226"/>
                    <a:pt x="825" y="259"/>
                  </a:cubicBezTo>
                  <a:cubicBezTo>
                    <a:pt x="852" y="292"/>
                    <a:pt x="860" y="340"/>
                    <a:pt x="867" y="364"/>
                  </a:cubicBezTo>
                  <a:cubicBezTo>
                    <a:pt x="874" y="388"/>
                    <a:pt x="874" y="399"/>
                    <a:pt x="867" y="406"/>
                  </a:cubicBezTo>
                  <a:cubicBezTo>
                    <a:pt x="860" y="413"/>
                    <a:pt x="832" y="399"/>
                    <a:pt x="825" y="406"/>
                  </a:cubicBezTo>
                  <a:cubicBezTo>
                    <a:pt x="818" y="413"/>
                    <a:pt x="829" y="442"/>
                    <a:pt x="825" y="451"/>
                  </a:cubicBezTo>
                  <a:cubicBezTo>
                    <a:pt x="821" y="460"/>
                    <a:pt x="811" y="459"/>
                    <a:pt x="804" y="460"/>
                  </a:cubicBezTo>
                  <a:cubicBezTo>
                    <a:pt x="797" y="461"/>
                    <a:pt x="784" y="457"/>
                    <a:pt x="780" y="460"/>
                  </a:cubicBezTo>
                  <a:cubicBezTo>
                    <a:pt x="776" y="463"/>
                    <a:pt x="782" y="469"/>
                    <a:pt x="780" y="478"/>
                  </a:cubicBezTo>
                  <a:cubicBezTo>
                    <a:pt x="778" y="487"/>
                    <a:pt x="776" y="511"/>
                    <a:pt x="765" y="517"/>
                  </a:cubicBezTo>
                  <a:cubicBezTo>
                    <a:pt x="754" y="523"/>
                    <a:pt x="721" y="509"/>
                    <a:pt x="711" y="514"/>
                  </a:cubicBezTo>
                  <a:cubicBezTo>
                    <a:pt x="701" y="519"/>
                    <a:pt x="713" y="541"/>
                    <a:pt x="702" y="547"/>
                  </a:cubicBezTo>
                  <a:cubicBezTo>
                    <a:pt x="691" y="553"/>
                    <a:pt x="666" y="553"/>
                    <a:pt x="645" y="550"/>
                  </a:cubicBezTo>
                  <a:cubicBezTo>
                    <a:pt x="624" y="547"/>
                    <a:pt x="613" y="547"/>
                    <a:pt x="576" y="529"/>
                  </a:cubicBezTo>
                  <a:cubicBezTo>
                    <a:pt x="539" y="511"/>
                    <a:pt x="474" y="468"/>
                    <a:pt x="423" y="442"/>
                  </a:cubicBezTo>
                  <a:cubicBezTo>
                    <a:pt x="372" y="416"/>
                    <a:pt x="311" y="388"/>
                    <a:pt x="270" y="373"/>
                  </a:cubicBezTo>
                  <a:cubicBezTo>
                    <a:pt x="229" y="358"/>
                    <a:pt x="213" y="358"/>
                    <a:pt x="174" y="352"/>
                  </a:cubicBezTo>
                  <a:cubicBezTo>
                    <a:pt x="135" y="346"/>
                    <a:pt x="64" y="339"/>
                    <a:pt x="36" y="337"/>
                  </a:cubicBezTo>
                  <a:cubicBezTo>
                    <a:pt x="8" y="335"/>
                    <a:pt x="6" y="355"/>
                    <a:pt x="3" y="337"/>
                  </a:cubicBezTo>
                  <a:cubicBezTo>
                    <a:pt x="0" y="319"/>
                    <a:pt x="6" y="276"/>
                    <a:pt x="15" y="229"/>
                  </a:cubicBezTo>
                  <a:cubicBezTo>
                    <a:pt x="24" y="182"/>
                    <a:pt x="46" y="91"/>
                    <a:pt x="54" y="55"/>
                  </a:cubicBez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102" name="Freeform 45"/>
            <p:cNvSpPr>
              <a:spLocks/>
            </p:cNvSpPr>
            <p:nvPr/>
          </p:nvSpPr>
          <p:spPr bwMode="auto">
            <a:xfrm flipH="1">
              <a:off x="2692" y="3051"/>
              <a:ext cx="300" cy="174"/>
            </a:xfrm>
            <a:custGeom>
              <a:avLst/>
              <a:gdLst>
                <a:gd name="T0" fmla="*/ 0 w 729"/>
                <a:gd name="T1" fmla="*/ 0 h 420"/>
                <a:gd name="T2" fmla="*/ 0 w 729"/>
                <a:gd name="T3" fmla="*/ 0 h 420"/>
                <a:gd name="T4" fmla="*/ 0 w 729"/>
                <a:gd name="T5" fmla="*/ 0 h 420"/>
                <a:gd name="T6" fmla="*/ 0 w 729"/>
                <a:gd name="T7" fmla="*/ 0 h 420"/>
                <a:gd name="T8" fmla="*/ 0 w 729"/>
                <a:gd name="T9" fmla="*/ 0 h 420"/>
                <a:gd name="T10" fmla="*/ 0 w 729"/>
                <a:gd name="T11" fmla="*/ 0 h 420"/>
                <a:gd name="T12" fmla="*/ 0 w 729"/>
                <a:gd name="T13" fmla="*/ 0 h 420"/>
                <a:gd name="T14" fmla="*/ 0 w 729"/>
                <a:gd name="T15" fmla="*/ 0 h 420"/>
                <a:gd name="T16" fmla="*/ 0 w 729"/>
                <a:gd name="T17" fmla="*/ 0 h 420"/>
                <a:gd name="T18" fmla="*/ 0 w 729"/>
                <a:gd name="T19" fmla="*/ 0 h 420"/>
                <a:gd name="T20" fmla="*/ 0 w 729"/>
                <a:gd name="T21" fmla="*/ 0 h 420"/>
                <a:gd name="T22" fmla="*/ 0 w 729"/>
                <a:gd name="T23" fmla="*/ 0 h 420"/>
                <a:gd name="T24" fmla="*/ 0 w 729"/>
                <a:gd name="T25" fmla="*/ 0 h 420"/>
                <a:gd name="T26" fmla="*/ 0 w 729"/>
                <a:gd name="T27" fmla="*/ 0 h 420"/>
                <a:gd name="T28" fmla="*/ 0 w 729"/>
                <a:gd name="T29" fmla="*/ 0 h 420"/>
                <a:gd name="T30" fmla="*/ 0 w 729"/>
                <a:gd name="T31" fmla="*/ 0 h 420"/>
                <a:gd name="T32" fmla="*/ 0 w 729"/>
                <a:gd name="T33" fmla="*/ 0 h 420"/>
                <a:gd name="T34" fmla="*/ 0 w 729"/>
                <a:gd name="T35" fmla="*/ 0 h 420"/>
                <a:gd name="T36" fmla="*/ 0 w 729"/>
                <a:gd name="T37" fmla="*/ 0 h 420"/>
                <a:gd name="T38" fmla="*/ 0 w 729"/>
                <a:gd name="T39" fmla="*/ 0 h 420"/>
                <a:gd name="T40" fmla="*/ 0 w 729"/>
                <a:gd name="T41" fmla="*/ 0 h 420"/>
                <a:gd name="T42" fmla="*/ 0 w 729"/>
                <a:gd name="T43" fmla="*/ 0 h 420"/>
                <a:gd name="T44" fmla="*/ 0 w 729"/>
                <a:gd name="T45" fmla="*/ 0 h 420"/>
                <a:gd name="T46" fmla="*/ 0 w 729"/>
                <a:gd name="T47" fmla="*/ 0 h 420"/>
                <a:gd name="T48" fmla="*/ 0 w 729"/>
                <a:gd name="T49" fmla="*/ 0 h 420"/>
                <a:gd name="T50" fmla="*/ 0 w 729"/>
                <a:gd name="T51" fmla="*/ 0 h 4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29"/>
                <a:gd name="T79" fmla="*/ 0 h 420"/>
                <a:gd name="T80" fmla="*/ 729 w 729"/>
                <a:gd name="T81" fmla="*/ 420 h 4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29" h="420">
                  <a:moveTo>
                    <a:pt x="647" y="59"/>
                  </a:moveTo>
                  <a:cubicBezTo>
                    <a:pt x="618" y="22"/>
                    <a:pt x="573" y="68"/>
                    <a:pt x="551" y="68"/>
                  </a:cubicBezTo>
                  <a:cubicBezTo>
                    <a:pt x="529" y="68"/>
                    <a:pt x="537" y="68"/>
                    <a:pt x="512" y="59"/>
                  </a:cubicBezTo>
                  <a:cubicBezTo>
                    <a:pt x="487" y="50"/>
                    <a:pt x="432" y="23"/>
                    <a:pt x="398" y="14"/>
                  </a:cubicBezTo>
                  <a:cubicBezTo>
                    <a:pt x="364" y="5"/>
                    <a:pt x="343" y="0"/>
                    <a:pt x="308" y="2"/>
                  </a:cubicBezTo>
                  <a:cubicBezTo>
                    <a:pt x="273" y="4"/>
                    <a:pt x="218" y="16"/>
                    <a:pt x="188" y="26"/>
                  </a:cubicBezTo>
                  <a:cubicBezTo>
                    <a:pt x="158" y="36"/>
                    <a:pt x="149" y="48"/>
                    <a:pt x="128" y="65"/>
                  </a:cubicBezTo>
                  <a:cubicBezTo>
                    <a:pt x="107" y="82"/>
                    <a:pt x="79" y="114"/>
                    <a:pt x="59" y="128"/>
                  </a:cubicBezTo>
                  <a:cubicBezTo>
                    <a:pt x="39" y="142"/>
                    <a:pt x="21" y="137"/>
                    <a:pt x="11" y="146"/>
                  </a:cubicBezTo>
                  <a:cubicBezTo>
                    <a:pt x="1" y="155"/>
                    <a:pt x="1" y="172"/>
                    <a:pt x="2" y="182"/>
                  </a:cubicBezTo>
                  <a:cubicBezTo>
                    <a:pt x="3" y="192"/>
                    <a:pt x="0" y="205"/>
                    <a:pt x="17" y="209"/>
                  </a:cubicBezTo>
                  <a:cubicBezTo>
                    <a:pt x="34" y="213"/>
                    <a:pt x="75" y="212"/>
                    <a:pt x="104" y="206"/>
                  </a:cubicBezTo>
                  <a:cubicBezTo>
                    <a:pt x="133" y="200"/>
                    <a:pt x="172" y="184"/>
                    <a:pt x="191" y="173"/>
                  </a:cubicBezTo>
                  <a:cubicBezTo>
                    <a:pt x="210" y="162"/>
                    <a:pt x="206" y="145"/>
                    <a:pt x="221" y="137"/>
                  </a:cubicBezTo>
                  <a:cubicBezTo>
                    <a:pt x="236" y="129"/>
                    <a:pt x="263" y="126"/>
                    <a:pt x="281" y="125"/>
                  </a:cubicBezTo>
                  <a:cubicBezTo>
                    <a:pt x="299" y="124"/>
                    <a:pt x="312" y="120"/>
                    <a:pt x="332" y="131"/>
                  </a:cubicBezTo>
                  <a:cubicBezTo>
                    <a:pt x="352" y="142"/>
                    <a:pt x="374" y="170"/>
                    <a:pt x="404" y="194"/>
                  </a:cubicBezTo>
                  <a:cubicBezTo>
                    <a:pt x="434" y="218"/>
                    <a:pt x="485" y="248"/>
                    <a:pt x="512" y="278"/>
                  </a:cubicBezTo>
                  <a:cubicBezTo>
                    <a:pt x="539" y="308"/>
                    <a:pt x="558" y="348"/>
                    <a:pt x="569" y="371"/>
                  </a:cubicBezTo>
                  <a:cubicBezTo>
                    <a:pt x="580" y="394"/>
                    <a:pt x="575" y="412"/>
                    <a:pt x="581" y="416"/>
                  </a:cubicBezTo>
                  <a:cubicBezTo>
                    <a:pt x="587" y="420"/>
                    <a:pt x="595" y="403"/>
                    <a:pt x="605" y="395"/>
                  </a:cubicBezTo>
                  <a:cubicBezTo>
                    <a:pt x="615" y="387"/>
                    <a:pt x="628" y="379"/>
                    <a:pt x="641" y="368"/>
                  </a:cubicBezTo>
                  <a:cubicBezTo>
                    <a:pt x="654" y="357"/>
                    <a:pt x="669" y="336"/>
                    <a:pt x="683" y="329"/>
                  </a:cubicBezTo>
                  <a:cubicBezTo>
                    <a:pt x="697" y="322"/>
                    <a:pt x="721" y="340"/>
                    <a:pt x="725" y="323"/>
                  </a:cubicBezTo>
                  <a:cubicBezTo>
                    <a:pt x="729" y="306"/>
                    <a:pt x="717" y="271"/>
                    <a:pt x="704" y="227"/>
                  </a:cubicBezTo>
                  <a:cubicBezTo>
                    <a:pt x="691" y="183"/>
                    <a:pt x="659" y="94"/>
                    <a:pt x="647" y="59"/>
                  </a:cubicBezTo>
                  <a:close/>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sp>
          <p:nvSpPr>
            <p:cNvPr id="103" name="Rectangle 46"/>
            <p:cNvSpPr>
              <a:spLocks noChangeArrowheads="1"/>
            </p:cNvSpPr>
            <p:nvPr/>
          </p:nvSpPr>
          <p:spPr bwMode="auto">
            <a:xfrm rot="21419544" flipH="1">
              <a:off x="3090" y="3069"/>
              <a:ext cx="82" cy="176"/>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104" name="Rectangle 47"/>
            <p:cNvSpPr>
              <a:spLocks noChangeArrowheads="1"/>
            </p:cNvSpPr>
            <p:nvPr/>
          </p:nvSpPr>
          <p:spPr bwMode="auto">
            <a:xfrm rot="1196180" flipH="1">
              <a:off x="2634" y="3044"/>
              <a:ext cx="82" cy="175"/>
            </a:xfrm>
            <a:prstGeom prst="rect">
              <a:avLst/>
            </a:prstGeom>
            <a:solidFill>
              <a:srgbClr val="FFFF99"/>
            </a:solidFill>
            <a:ln w="12700" algn="ctr">
              <a:solidFill>
                <a:schemeClr val="bg1"/>
              </a:solidFill>
              <a:miter lim="800000"/>
              <a:headEnd/>
              <a:tailEnd/>
            </a:ln>
          </p:spPr>
          <p:txBody>
            <a:bodyPr lIns="0" tIns="0" rIns="0" bIns="0" anchor="ctr">
              <a:spAutoFit/>
            </a:bodyPr>
            <a:lstStyle/>
            <a:p>
              <a:endParaRPr lang="en-US"/>
            </a:p>
          </p:txBody>
        </p:sp>
        <p:sp>
          <p:nvSpPr>
            <p:cNvPr id="105" name="Oval 48"/>
            <p:cNvSpPr>
              <a:spLocks noChangeArrowheads="1"/>
            </p:cNvSpPr>
            <p:nvPr/>
          </p:nvSpPr>
          <p:spPr bwMode="auto">
            <a:xfrm flipH="1">
              <a:off x="2961" y="3207"/>
              <a:ext cx="50" cy="58"/>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106" name="Oval 49"/>
            <p:cNvSpPr>
              <a:spLocks noChangeArrowheads="1"/>
            </p:cNvSpPr>
            <p:nvPr/>
          </p:nvSpPr>
          <p:spPr bwMode="auto">
            <a:xfrm flipH="1">
              <a:off x="2926" y="3231"/>
              <a:ext cx="47" cy="63"/>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107" name="Oval 50"/>
            <p:cNvSpPr>
              <a:spLocks noChangeArrowheads="1"/>
            </p:cNvSpPr>
            <p:nvPr/>
          </p:nvSpPr>
          <p:spPr bwMode="auto">
            <a:xfrm rot="20190086" flipH="1">
              <a:off x="2882" y="3246"/>
              <a:ext cx="49" cy="62"/>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108" name="Oval 51"/>
            <p:cNvSpPr>
              <a:spLocks noChangeArrowheads="1"/>
            </p:cNvSpPr>
            <p:nvPr/>
          </p:nvSpPr>
          <p:spPr bwMode="auto">
            <a:xfrm rot="18495068" flipH="1">
              <a:off x="2862" y="3266"/>
              <a:ext cx="30" cy="57"/>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109" name="Freeform 52"/>
            <p:cNvSpPr>
              <a:spLocks/>
            </p:cNvSpPr>
            <p:nvPr/>
          </p:nvSpPr>
          <p:spPr bwMode="auto">
            <a:xfrm flipH="1">
              <a:off x="2769" y="3181"/>
              <a:ext cx="74" cy="50"/>
            </a:xfrm>
            <a:custGeom>
              <a:avLst/>
              <a:gdLst>
                <a:gd name="T0" fmla="*/ 0 w 180"/>
                <a:gd name="T1" fmla="*/ 0 h 123"/>
                <a:gd name="T2" fmla="*/ 0 w 180"/>
                <a:gd name="T3" fmla="*/ 0 h 123"/>
                <a:gd name="T4" fmla="*/ 0 w 180"/>
                <a:gd name="T5" fmla="*/ 0 h 123"/>
                <a:gd name="T6" fmla="*/ 0 60000 65536"/>
                <a:gd name="T7" fmla="*/ 0 60000 65536"/>
                <a:gd name="T8" fmla="*/ 0 60000 65536"/>
                <a:gd name="T9" fmla="*/ 0 w 180"/>
                <a:gd name="T10" fmla="*/ 0 h 123"/>
                <a:gd name="T11" fmla="*/ 180 w 180"/>
                <a:gd name="T12" fmla="*/ 123 h 123"/>
              </a:gdLst>
              <a:ahLst/>
              <a:cxnLst>
                <a:cxn ang="T6">
                  <a:pos x="T0" y="T1"/>
                </a:cxn>
                <a:cxn ang="T7">
                  <a:pos x="T2" y="T3"/>
                </a:cxn>
                <a:cxn ang="T8">
                  <a:pos x="T4" y="T5"/>
                </a:cxn>
              </a:cxnLst>
              <a:rect l="T9" t="T10" r="T11" b="T12"/>
              <a:pathLst>
                <a:path w="180" h="123">
                  <a:moveTo>
                    <a:pt x="180" y="123"/>
                  </a:moveTo>
                  <a:cubicBezTo>
                    <a:pt x="153" y="110"/>
                    <a:pt x="126" y="98"/>
                    <a:pt x="96" y="78"/>
                  </a:cubicBezTo>
                  <a:cubicBezTo>
                    <a:pt x="66" y="58"/>
                    <a:pt x="33" y="29"/>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10" name="Freeform 53"/>
            <p:cNvSpPr>
              <a:spLocks/>
            </p:cNvSpPr>
            <p:nvPr/>
          </p:nvSpPr>
          <p:spPr bwMode="auto">
            <a:xfrm flipH="1">
              <a:off x="2789" y="3197"/>
              <a:ext cx="79" cy="60"/>
            </a:xfrm>
            <a:custGeom>
              <a:avLst/>
              <a:gdLst>
                <a:gd name="T0" fmla="*/ 0 w 189"/>
                <a:gd name="T1" fmla="*/ 0 h 144"/>
                <a:gd name="T2" fmla="*/ 0 w 189"/>
                <a:gd name="T3" fmla="*/ 0 h 144"/>
                <a:gd name="T4" fmla="*/ 0 w 189"/>
                <a:gd name="T5" fmla="*/ 0 h 144"/>
                <a:gd name="T6" fmla="*/ 0 w 189"/>
                <a:gd name="T7" fmla="*/ 0 h 144"/>
                <a:gd name="T8" fmla="*/ 0 60000 65536"/>
                <a:gd name="T9" fmla="*/ 0 60000 65536"/>
                <a:gd name="T10" fmla="*/ 0 60000 65536"/>
                <a:gd name="T11" fmla="*/ 0 60000 65536"/>
                <a:gd name="T12" fmla="*/ 0 w 189"/>
                <a:gd name="T13" fmla="*/ 0 h 144"/>
                <a:gd name="T14" fmla="*/ 189 w 189"/>
                <a:gd name="T15" fmla="*/ 144 h 144"/>
              </a:gdLst>
              <a:ahLst/>
              <a:cxnLst>
                <a:cxn ang="T8">
                  <a:pos x="T0" y="T1"/>
                </a:cxn>
                <a:cxn ang="T9">
                  <a:pos x="T2" y="T3"/>
                </a:cxn>
                <a:cxn ang="T10">
                  <a:pos x="T4" y="T5"/>
                </a:cxn>
                <a:cxn ang="T11">
                  <a:pos x="T6" y="T7"/>
                </a:cxn>
              </a:cxnLst>
              <a:rect l="T12" t="T13" r="T14" b="T15"/>
              <a:pathLst>
                <a:path w="189" h="144">
                  <a:moveTo>
                    <a:pt x="189" y="144"/>
                  </a:moveTo>
                  <a:cubicBezTo>
                    <a:pt x="171" y="141"/>
                    <a:pt x="154" y="139"/>
                    <a:pt x="135" y="129"/>
                  </a:cubicBezTo>
                  <a:cubicBezTo>
                    <a:pt x="116" y="119"/>
                    <a:pt x="97" y="105"/>
                    <a:pt x="75" y="84"/>
                  </a:cubicBezTo>
                  <a:cubicBezTo>
                    <a:pt x="53" y="63"/>
                    <a:pt x="26" y="31"/>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11" name="Freeform 54"/>
            <p:cNvSpPr>
              <a:spLocks/>
            </p:cNvSpPr>
            <p:nvPr/>
          </p:nvSpPr>
          <p:spPr bwMode="auto">
            <a:xfrm flipH="1">
              <a:off x="2820" y="3220"/>
              <a:ext cx="75" cy="58"/>
            </a:xfrm>
            <a:custGeom>
              <a:avLst/>
              <a:gdLst>
                <a:gd name="T0" fmla="*/ 0 w 183"/>
                <a:gd name="T1" fmla="*/ 0 h 141"/>
                <a:gd name="T2" fmla="*/ 0 w 183"/>
                <a:gd name="T3" fmla="*/ 0 h 141"/>
                <a:gd name="T4" fmla="*/ 0 w 183"/>
                <a:gd name="T5" fmla="*/ 0 h 141"/>
                <a:gd name="T6" fmla="*/ 0 w 183"/>
                <a:gd name="T7" fmla="*/ 0 h 141"/>
                <a:gd name="T8" fmla="*/ 0 60000 65536"/>
                <a:gd name="T9" fmla="*/ 0 60000 65536"/>
                <a:gd name="T10" fmla="*/ 0 60000 65536"/>
                <a:gd name="T11" fmla="*/ 0 60000 65536"/>
                <a:gd name="T12" fmla="*/ 0 w 183"/>
                <a:gd name="T13" fmla="*/ 0 h 141"/>
                <a:gd name="T14" fmla="*/ 183 w 183"/>
                <a:gd name="T15" fmla="*/ 141 h 141"/>
              </a:gdLst>
              <a:ahLst/>
              <a:cxnLst>
                <a:cxn ang="T8">
                  <a:pos x="T0" y="T1"/>
                </a:cxn>
                <a:cxn ang="T9">
                  <a:pos x="T2" y="T3"/>
                </a:cxn>
                <a:cxn ang="T10">
                  <a:pos x="T4" y="T5"/>
                </a:cxn>
                <a:cxn ang="T11">
                  <a:pos x="T6" y="T7"/>
                </a:cxn>
              </a:cxnLst>
              <a:rect l="T12" t="T13" r="T14" b="T15"/>
              <a:pathLst>
                <a:path w="183" h="141">
                  <a:moveTo>
                    <a:pt x="183" y="141"/>
                  </a:moveTo>
                  <a:cubicBezTo>
                    <a:pt x="161" y="134"/>
                    <a:pt x="140" y="127"/>
                    <a:pt x="120" y="114"/>
                  </a:cubicBezTo>
                  <a:cubicBezTo>
                    <a:pt x="100" y="101"/>
                    <a:pt x="83" y="82"/>
                    <a:pt x="63" y="63"/>
                  </a:cubicBezTo>
                  <a:cubicBezTo>
                    <a:pt x="43" y="44"/>
                    <a:pt x="21" y="22"/>
                    <a:pt x="0" y="0"/>
                  </a:cubicBezTo>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grpSp>
      <p:sp>
        <p:nvSpPr>
          <p:cNvPr id="112" name="Text Box 41"/>
          <p:cNvSpPr txBox="1">
            <a:spLocks noChangeArrowheads="1"/>
          </p:cNvSpPr>
          <p:nvPr/>
        </p:nvSpPr>
        <p:spPr bwMode="auto">
          <a:xfrm>
            <a:off x="4810125" y="6126162"/>
            <a:ext cx="1262062"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rPr>
              <a:t>Underwriter</a:t>
            </a:r>
          </a:p>
        </p:txBody>
      </p:sp>
      <p:sp>
        <p:nvSpPr>
          <p:cNvPr id="113" name="Text Box 41"/>
          <p:cNvSpPr txBox="1">
            <a:spLocks noChangeArrowheads="1"/>
          </p:cNvSpPr>
          <p:nvPr/>
        </p:nvSpPr>
        <p:spPr bwMode="auto">
          <a:xfrm>
            <a:off x="542925" y="6154737"/>
            <a:ext cx="1262063"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rPr>
              <a:t>Producer</a:t>
            </a:r>
          </a:p>
        </p:txBody>
      </p:sp>
    </p:spTree>
    <p:extLst>
      <p:ext uri="{BB962C8B-B14F-4D97-AF65-F5344CB8AC3E}">
        <p14:creationId xmlns:p14="http://schemas.microsoft.com/office/powerpoint/2010/main" val="2052648796"/>
      </p:ext>
    </p:extLst>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13932" y="1251663"/>
            <a:ext cx="6439268" cy="4387138"/>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10" name="Picture 9"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44338" y="962660"/>
            <a:ext cx="565862"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dirty="0" smtClean="0"/>
              <a:t>Viewing billing information for an account</a:t>
            </a:r>
            <a:endParaRPr lang="en-US" sz="2800" dirty="0"/>
          </a:p>
        </p:txBody>
      </p:sp>
      <p:sp>
        <p:nvSpPr>
          <p:cNvPr id="5" name="Content Placeholder 4"/>
          <p:cNvSpPr>
            <a:spLocks noGrp="1"/>
          </p:cNvSpPr>
          <p:nvPr>
            <p:ph sz="half" idx="2"/>
          </p:nvPr>
        </p:nvSpPr>
        <p:spPr>
          <a:xfrm>
            <a:off x="6248400" y="914401"/>
            <a:ext cx="2575560" cy="5475289"/>
          </a:xfrm>
        </p:spPr>
        <p:txBody>
          <a:bodyPr/>
          <a:lstStyle/>
          <a:p>
            <a:r>
              <a:rPr lang="en-US" dirty="0" smtClean="0"/>
              <a:t>View account-level billing information on Account </a:t>
            </a:r>
            <a:r>
              <a:rPr lang="en-US" dirty="0" smtClean="0">
                <a:sym typeface="Wingdings"/>
              </a:rPr>
              <a:t></a:t>
            </a:r>
            <a:r>
              <a:rPr lang="en-US" dirty="0" smtClean="0"/>
              <a:t> Billing</a:t>
            </a:r>
          </a:p>
          <a:p>
            <a:r>
              <a:rPr lang="en-US" dirty="0" smtClean="0"/>
              <a:t>For internal and external users with BillingCenter access</a:t>
            </a:r>
            <a:endParaRPr lang="en-US" dirty="0"/>
          </a:p>
        </p:txBody>
      </p:sp>
      <p:sp>
        <p:nvSpPr>
          <p:cNvPr id="7" name="Rounded Rectangle 6"/>
          <p:cNvSpPr/>
          <p:nvPr/>
        </p:nvSpPr>
        <p:spPr bwMode="auto">
          <a:xfrm rot="180000">
            <a:off x="1780036" y="2312400"/>
            <a:ext cx="1449699" cy="331960"/>
          </a:xfrm>
          <a:prstGeom prst="roundRect">
            <a:avLst/>
          </a:prstGeom>
          <a:noFill/>
          <a:ln w="28575" algn="ctr">
            <a:solidFill>
              <a:schemeClr val="accent1">
                <a:lumMod val="75000"/>
              </a:schemeClr>
            </a:solidFill>
            <a:round/>
            <a:headEnd/>
            <a:tailEnd/>
          </a:ln>
          <a:effectLst>
            <a:outerShdw blurRad="50800" dist="38100" dir="8100000" algn="tr"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34" name="Group 30"/>
          <p:cNvGrpSpPr>
            <a:grpSpLocks/>
          </p:cNvGrpSpPr>
          <p:nvPr/>
        </p:nvGrpSpPr>
        <p:grpSpPr bwMode="auto">
          <a:xfrm>
            <a:off x="6553200" y="5715000"/>
            <a:ext cx="1474787" cy="706438"/>
            <a:chOff x="6754800" y="593380"/>
            <a:chExt cx="1474794" cy="706710"/>
          </a:xfrm>
          <a:effectLst>
            <a:outerShdw blurRad="50800" dist="38100" dir="2700000" algn="tl" rotWithShape="0">
              <a:prstClr val="black">
                <a:alpha val="40000"/>
              </a:prstClr>
            </a:outerShdw>
          </a:effectLst>
        </p:grpSpPr>
        <p:grpSp>
          <p:nvGrpSpPr>
            <p:cNvPr id="35" name="Group 6"/>
            <p:cNvGrpSpPr>
              <a:grpSpLocks/>
            </p:cNvGrpSpPr>
            <p:nvPr/>
          </p:nvGrpSpPr>
          <p:grpSpPr bwMode="auto">
            <a:xfrm>
              <a:off x="7567808" y="593851"/>
              <a:ext cx="661786" cy="705498"/>
              <a:chOff x="7441660" y="928255"/>
              <a:chExt cx="848840" cy="904906"/>
            </a:xfrm>
          </p:grpSpPr>
          <p:sp>
            <p:nvSpPr>
              <p:cNvPr id="49" name="AutoShape 156"/>
              <p:cNvSpPr>
                <a:spLocks noChangeArrowheads="1"/>
              </p:cNvSpPr>
              <p:nvPr/>
            </p:nvSpPr>
            <p:spPr bwMode="auto">
              <a:xfrm>
                <a:off x="7441660" y="928255"/>
                <a:ext cx="637867" cy="65094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50" name="Group 157"/>
              <p:cNvGrpSpPr>
                <a:grpSpLocks/>
              </p:cNvGrpSpPr>
              <p:nvPr/>
            </p:nvGrpSpPr>
            <p:grpSpPr bwMode="auto">
              <a:xfrm>
                <a:off x="7896855" y="1389421"/>
                <a:ext cx="393645" cy="443740"/>
                <a:chOff x="2768" y="2267"/>
                <a:chExt cx="624" cy="704"/>
              </a:xfrm>
            </p:grpSpPr>
            <p:sp>
              <p:nvSpPr>
                <p:cNvPr id="51" name="AutoShape 158"/>
                <p:cNvSpPr>
                  <a:spLocks noChangeArrowheads="1"/>
                </p:cNvSpPr>
                <p:nvPr/>
              </p:nvSpPr>
              <p:spPr bwMode="auto">
                <a:xfrm rot="-5400000">
                  <a:off x="2728" y="2307"/>
                  <a:ext cx="704" cy="624"/>
                </a:xfrm>
                <a:prstGeom prst="foldedCorner">
                  <a:avLst>
                    <a:gd name="adj" fmla="val 20287"/>
                  </a:avLst>
                </a:pr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2" name="Freeform 159"/>
                <p:cNvSpPr>
                  <a:spLocks/>
                </p:cNvSpPr>
                <p:nvPr/>
              </p:nvSpPr>
              <p:spPr bwMode="auto">
                <a:xfrm>
                  <a:off x="2847" y="2357"/>
                  <a:ext cx="153" cy="19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53" name="Freeform 160"/>
                <p:cNvSpPr>
                  <a:spLocks/>
                </p:cNvSpPr>
                <p:nvPr/>
              </p:nvSpPr>
              <p:spPr bwMode="auto">
                <a:xfrm>
                  <a:off x="2847" y="2648"/>
                  <a:ext cx="153" cy="196"/>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grpSp>
              <p:nvGrpSpPr>
                <p:cNvPr id="54" name="Group 161"/>
                <p:cNvGrpSpPr>
                  <a:grpSpLocks/>
                </p:cNvGrpSpPr>
                <p:nvPr/>
              </p:nvGrpSpPr>
              <p:grpSpPr bwMode="auto">
                <a:xfrm>
                  <a:off x="3136" y="2620"/>
                  <a:ext cx="231" cy="343"/>
                  <a:chOff x="2784" y="3210"/>
                  <a:chExt cx="523" cy="772"/>
                </a:xfrm>
              </p:grpSpPr>
              <p:sp>
                <p:nvSpPr>
                  <p:cNvPr id="55" name="AutoShape 162"/>
                  <p:cNvSpPr>
                    <a:spLocks noChangeArrowheads="1"/>
                  </p:cNvSpPr>
                  <p:nvPr/>
                </p:nvSpPr>
                <p:spPr bwMode="auto">
                  <a:xfrm rot="16736225" flipH="1">
                    <a:off x="2714" y="3670"/>
                    <a:ext cx="487" cy="138"/>
                  </a:xfrm>
                  <a:prstGeom prst="parallelogram">
                    <a:avLst>
                      <a:gd name="adj" fmla="val 88225"/>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56" name="AutoShape 163"/>
                  <p:cNvSpPr>
                    <a:spLocks noChangeArrowheads="1"/>
                  </p:cNvSpPr>
                  <p:nvPr/>
                </p:nvSpPr>
                <p:spPr bwMode="auto">
                  <a:xfrm rot="4863775">
                    <a:off x="2853" y="3662"/>
                    <a:ext cx="501" cy="128"/>
                  </a:xfrm>
                  <a:prstGeom prst="parallelogram">
                    <a:avLst>
                      <a:gd name="adj" fmla="val 97852"/>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57" name="AutoShape 164"/>
                  <p:cNvSpPr>
                    <a:spLocks noChangeArrowheads="1"/>
                  </p:cNvSpPr>
                  <p:nvPr/>
                </p:nvSpPr>
                <p:spPr bwMode="auto">
                  <a:xfrm>
                    <a:off x="2784" y="3210"/>
                    <a:ext cx="523" cy="523"/>
                  </a:xfrm>
                  <a:prstGeom prst="star16">
                    <a:avLst>
                      <a:gd name="adj" fmla="val 37500"/>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58" name="Oval 165"/>
                  <p:cNvSpPr>
                    <a:spLocks noChangeArrowheads="1"/>
                  </p:cNvSpPr>
                  <p:nvPr/>
                </p:nvSpPr>
                <p:spPr bwMode="auto">
                  <a:xfrm>
                    <a:off x="2880" y="3307"/>
                    <a:ext cx="320" cy="320"/>
                  </a:xfrm>
                  <a:prstGeom prst="ellipse">
                    <a:avLst/>
                  </a:prstGeom>
                  <a:solidFill>
                    <a:srgbClr val="FFFF99"/>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anchor="ctr"/>
                  <a:lstStyle/>
                  <a:p>
                    <a:endParaRPr lang="en-US"/>
                  </a:p>
                </p:txBody>
              </p:sp>
            </p:grpSp>
          </p:grpSp>
        </p:grpSp>
        <p:grpSp>
          <p:nvGrpSpPr>
            <p:cNvPr id="36" name="Group 42"/>
            <p:cNvGrpSpPr>
              <a:grpSpLocks/>
            </p:cNvGrpSpPr>
            <p:nvPr/>
          </p:nvGrpSpPr>
          <p:grpSpPr bwMode="auto">
            <a:xfrm>
              <a:off x="6754800" y="593380"/>
              <a:ext cx="548284" cy="706710"/>
              <a:chOff x="2634" y="2618"/>
              <a:chExt cx="538" cy="692"/>
            </a:xfrm>
          </p:grpSpPr>
          <p:sp>
            <p:nvSpPr>
              <p:cNvPr id="37" name="AutoShape 43"/>
              <p:cNvSpPr>
                <a:spLocks noChangeArrowheads="1"/>
              </p:cNvSpPr>
              <p:nvPr/>
            </p:nvSpPr>
            <p:spPr bwMode="auto">
              <a:xfrm flipH="1">
                <a:off x="2644" y="2618"/>
                <a:ext cx="482" cy="490"/>
              </a:xfrm>
              <a:prstGeom prst="smileyFace">
                <a:avLst>
                  <a:gd name="adj" fmla="val 4653"/>
                </a:avLst>
              </a:prstGeom>
              <a:gradFill rotWithShape="1">
                <a:gsLst>
                  <a:gs pos="0">
                    <a:srgbClr val="FFCC99"/>
                  </a:gs>
                  <a:gs pos="100000">
                    <a:srgbClr val="FFFF99"/>
                  </a:gs>
                </a:gsLst>
                <a:lin ang="0" scaled="1"/>
              </a:gradFill>
              <a:ln w="12700">
                <a:solidFill>
                  <a:srgbClr val="000000"/>
                </a:solidFill>
                <a:round/>
                <a:headEnd/>
                <a:tailEnd/>
              </a:ln>
            </p:spPr>
            <p:txBody>
              <a:bodyPr wrap="none" anchor="ctr"/>
              <a:lstStyle/>
              <a:p>
                <a:endParaRPr lang="en-US"/>
              </a:p>
            </p:txBody>
          </p:sp>
          <p:sp>
            <p:nvSpPr>
              <p:cNvPr id="38" name="Freeform 44"/>
              <p:cNvSpPr>
                <a:spLocks/>
              </p:cNvSpPr>
              <p:nvPr/>
            </p:nvSpPr>
            <p:spPr bwMode="auto">
              <a:xfrm flipH="1">
                <a:off x="2724" y="3066"/>
                <a:ext cx="388" cy="228"/>
              </a:xfrm>
              <a:custGeom>
                <a:avLst/>
                <a:gdLst>
                  <a:gd name="T0" fmla="*/ 0 w 941"/>
                  <a:gd name="T1" fmla="*/ 0 h 553"/>
                  <a:gd name="T2" fmla="*/ 0 w 941"/>
                  <a:gd name="T3" fmla="*/ 0 h 553"/>
                  <a:gd name="T4" fmla="*/ 0 w 941"/>
                  <a:gd name="T5" fmla="*/ 0 h 553"/>
                  <a:gd name="T6" fmla="*/ 0 w 941"/>
                  <a:gd name="T7" fmla="*/ 0 h 553"/>
                  <a:gd name="T8" fmla="*/ 0 w 941"/>
                  <a:gd name="T9" fmla="*/ 0 h 553"/>
                  <a:gd name="T10" fmla="*/ 0 w 941"/>
                  <a:gd name="T11" fmla="*/ 0 h 553"/>
                  <a:gd name="T12" fmla="*/ 0 w 941"/>
                  <a:gd name="T13" fmla="*/ 0 h 553"/>
                  <a:gd name="T14" fmla="*/ 0 w 941"/>
                  <a:gd name="T15" fmla="*/ 0 h 553"/>
                  <a:gd name="T16" fmla="*/ 0 w 941"/>
                  <a:gd name="T17" fmla="*/ 0 h 553"/>
                  <a:gd name="T18" fmla="*/ 0 w 941"/>
                  <a:gd name="T19" fmla="*/ 0 h 553"/>
                  <a:gd name="T20" fmla="*/ 0 w 941"/>
                  <a:gd name="T21" fmla="*/ 0 h 553"/>
                  <a:gd name="T22" fmla="*/ 0 w 941"/>
                  <a:gd name="T23" fmla="*/ 0 h 553"/>
                  <a:gd name="T24" fmla="*/ 0 w 941"/>
                  <a:gd name="T25" fmla="*/ 0 h 553"/>
                  <a:gd name="T26" fmla="*/ 0 w 941"/>
                  <a:gd name="T27" fmla="*/ 0 h 553"/>
                  <a:gd name="T28" fmla="*/ 0 w 941"/>
                  <a:gd name="T29" fmla="*/ 0 h 553"/>
                  <a:gd name="T30" fmla="*/ 0 w 941"/>
                  <a:gd name="T31" fmla="*/ 0 h 553"/>
                  <a:gd name="T32" fmla="*/ 0 w 941"/>
                  <a:gd name="T33" fmla="*/ 0 h 553"/>
                  <a:gd name="T34" fmla="*/ 0 w 941"/>
                  <a:gd name="T35" fmla="*/ 0 h 553"/>
                  <a:gd name="T36" fmla="*/ 0 w 941"/>
                  <a:gd name="T37" fmla="*/ 0 h 553"/>
                  <a:gd name="T38" fmla="*/ 0 w 941"/>
                  <a:gd name="T39" fmla="*/ 0 h 553"/>
                  <a:gd name="T40" fmla="*/ 0 w 941"/>
                  <a:gd name="T41" fmla="*/ 0 h 553"/>
                  <a:gd name="T42" fmla="*/ 0 w 941"/>
                  <a:gd name="T43" fmla="*/ 0 h 553"/>
                  <a:gd name="T44" fmla="*/ 0 w 941"/>
                  <a:gd name="T45" fmla="*/ 0 h 553"/>
                  <a:gd name="T46" fmla="*/ 0 w 941"/>
                  <a:gd name="T47" fmla="*/ 0 h 553"/>
                  <a:gd name="T48" fmla="*/ 0 w 941"/>
                  <a:gd name="T49" fmla="*/ 0 h 553"/>
                  <a:gd name="T50" fmla="*/ 0 w 941"/>
                  <a:gd name="T51" fmla="*/ 0 h 553"/>
                  <a:gd name="T52" fmla="*/ 0 w 941"/>
                  <a:gd name="T53" fmla="*/ 0 h 553"/>
                  <a:gd name="T54" fmla="*/ 0 w 941"/>
                  <a:gd name="T55" fmla="*/ 0 h 55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1"/>
                  <a:gd name="T85" fmla="*/ 0 h 553"/>
                  <a:gd name="T86" fmla="*/ 941 w 941"/>
                  <a:gd name="T87" fmla="*/ 553 h 55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1" h="553">
                    <a:moveTo>
                      <a:pt x="54" y="55"/>
                    </a:moveTo>
                    <a:cubicBezTo>
                      <a:pt x="108" y="37"/>
                      <a:pt x="292" y="41"/>
                      <a:pt x="354" y="34"/>
                    </a:cubicBezTo>
                    <a:cubicBezTo>
                      <a:pt x="416" y="27"/>
                      <a:pt x="380" y="16"/>
                      <a:pt x="426" y="13"/>
                    </a:cubicBezTo>
                    <a:cubicBezTo>
                      <a:pt x="472" y="10"/>
                      <a:pt x="563" y="0"/>
                      <a:pt x="633" y="16"/>
                    </a:cubicBezTo>
                    <a:cubicBezTo>
                      <a:pt x="703" y="32"/>
                      <a:pt x="801" y="79"/>
                      <a:pt x="849" y="112"/>
                    </a:cubicBezTo>
                    <a:cubicBezTo>
                      <a:pt x="897" y="145"/>
                      <a:pt x="941" y="207"/>
                      <a:pt x="921" y="214"/>
                    </a:cubicBezTo>
                    <a:cubicBezTo>
                      <a:pt x="901" y="221"/>
                      <a:pt x="764" y="159"/>
                      <a:pt x="729" y="151"/>
                    </a:cubicBezTo>
                    <a:cubicBezTo>
                      <a:pt x="694" y="143"/>
                      <a:pt x="692" y="148"/>
                      <a:pt x="708" y="166"/>
                    </a:cubicBezTo>
                    <a:cubicBezTo>
                      <a:pt x="724" y="184"/>
                      <a:pt x="798" y="226"/>
                      <a:pt x="825" y="259"/>
                    </a:cubicBezTo>
                    <a:cubicBezTo>
                      <a:pt x="852" y="292"/>
                      <a:pt x="860" y="340"/>
                      <a:pt x="867" y="364"/>
                    </a:cubicBezTo>
                    <a:cubicBezTo>
                      <a:pt x="874" y="388"/>
                      <a:pt x="874" y="399"/>
                      <a:pt x="867" y="406"/>
                    </a:cubicBezTo>
                    <a:cubicBezTo>
                      <a:pt x="860" y="413"/>
                      <a:pt x="832" y="399"/>
                      <a:pt x="825" y="406"/>
                    </a:cubicBezTo>
                    <a:cubicBezTo>
                      <a:pt x="818" y="413"/>
                      <a:pt x="829" y="442"/>
                      <a:pt x="825" y="451"/>
                    </a:cubicBezTo>
                    <a:cubicBezTo>
                      <a:pt x="821" y="460"/>
                      <a:pt x="811" y="459"/>
                      <a:pt x="804" y="460"/>
                    </a:cubicBezTo>
                    <a:cubicBezTo>
                      <a:pt x="797" y="461"/>
                      <a:pt x="784" y="457"/>
                      <a:pt x="780" y="460"/>
                    </a:cubicBezTo>
                    <a:cubicBezTo>
                      <a:pt x="776" y="463"/>
                      <a:pt x="782" y="469"/>
                      <a:pt x="780" y="478"/>
                    </a:cubicBezTo>
                    <a:cubicBezTo>
                      <a:pt x="778" y="487"/>
                      <a:pt x="776" y="511"/>
                      <a:pt x="765" y="517"/>
                    </a:cubicBezTo>
                    <a:cubicBezTo>
                      <a:pt x="754" y="523"/>
                      <a:pt x="721" y="509"/>
                      <a:pt x="711" y="514"/>
                    </a:cubicBezTo>
                    <a:cubicBezTo>
                      <a:pt x="701" y="519"/>
                      <a:pt x="713" y="541"/>
                      <a:pt x="702" y="547"/>
                    </a:cubicBezTo>
                    <a:cubicBezTo>
                      <a:pt x="691" y="553"/>
                      <a:pt x="666" y="553"/>
                      <a:pt x="645" y="550"/>
                    </a:cubicBezTo>
                    <a:cubicBezTo>
                      <a:pt x="624" y="547"/>
                      <a:pt x="613" y="547"/>
                      <a:pt x="576" y="529"/>
                    </a:cubicBezTo>
                    <a:cubicBezTo>
                      <a:pt x="539" y="511"/>
                      <a:pt x="474" y="468"/>
                      <a:pt x="423" y="442"/>
                    </a:cubicBezTo>
                    <a:cubicBezTo>
                      <a:pt x="372" y="416"/>
                      <a:pt x="311" y="388"/>
                      <a:pt x="270" y="373"/>
                    </a:cubicBezTo>
                    <a:cubicBezTo>
                      <a:pt x="229" y="358"/>
                      <a:pt x="213" y="358"/>
                      <a:pt x="174" y="352"/>
                    </a:cubicBezTo>
                    <a:cubicBezTo>
                      <a:pt x="135" y="346"/>
                      <a:pt x="64" y="339"/>
                      <a:pt x="36" y="337"/>
                    </a:cubicBezTo>
                    <a:cubicBezTo>
                      <a:pt x="8" y="335"/>
                      <a:pt x="6" y="355"/>
                      <a:pt x="3" y="337"/>
                    </a:cubicBezTo>
                    <a:cubicBezTo>
                      <a:pt x="0" y="319"/>
                      <a:pt x="6" y="276"/>
                      <a:pt x="15" y="229"/>
                    </a:cubicBezTo>
                    <a:cubicBezTo>
                      <a:pt x="24" y="182"/>
                      <a:pt x="46" y="91"/>
                      <a:pt x="54" y="55"/>
                    </a:cubicBez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39" name="Freeform 45"/>
              <p:cNvSpPr>
                <a:spLocks/>
              </p:cNvSpPr>
              <p:nvPr/>
            </p:nvSpPr>
            <p:spPr bwMode="auto">
              <a:xfrm flipH="1">
                <a:off x="2692" y="3051"/>
                <a:ext cx="300" cy="174"/>
              </a:xfrm>
              <a:custGeom>
                <a:avLst/>
                <a:gdLst>
                  <a:gd name="T0" fmla="*/ 0 w 729"/>
                  <a:gd name="T1" fmla="*/ 0 h 420"/>
                  <a:gd name="T2" fmla="*/ 0 w 729"/>
                  <a:gd name="T3" fmla="*/ 0 h 420"/>
                  <a:gd name="T4" fmla="*/ 0 w 729"/>
                  <a:gd name="T5" fmla="*/ 0 h 420"/>
                  <a:gd name="T6" fmla="*/ 0 w 729"/>
                  <a:gd name="T7" fmla="*/ 0 h 420"/>
                  <a:gd name="T8" fmla="*/ 0 w 729"/>
                  <a:gd name="T9" fmla="*/ 0 h 420"/>
                  <a:gd name="T10" fmla="*/ 0 w 729"/>
                  <a:gd name="T11" fmla="*/ 0 h 420"/>
                  <a:gd name="T12" fmla="*/ 0 w 729"/>
                  <a:gd name="T13" fmla="*/ 0 h 420"/>
                  <a:gd name="T14" fmla="*/ 0 w 729"/>
                  <a:gd name="T15" fmla="*/ 0 h 420"/>
                  <a:gd name="T16" fmla="*/ 0 w 729"/>
                  <a:gd name="T17" fmla="*/ 0 h 420"/>
                  <a:gd name="T18" fmla="*/ 0 w 729"/>
                  <a:gd name="T19" fmla="*/ 0 h 420"/>
                  <a:gd name="T20" fmla="*/ 0 w 729"/>
                  <a:gd name="T21" fmla="*/ 0 h 420"/>
                  <a:gd name="T22" fmla="*/ 0 w 729"/>
                  <a:gd name="T23" fmla="*/ 0 h 420"/>
                  <a:gd name="T24" fmla="*/ 0 w 729"/>
                  <a:gd name="T25" fmla="*/ 0 h 420"/>
                  <a:gd name="T26" fmla="*/ 0 w 729"/>
                  <a:gd name="T27" fmla="*/ 0 h 420"/>
                  <a:gd name="T28" fmla="*/ 0 w 729"/>
                  <a:gd name="T29" fmla="*/ 0 h 420"/>
                  <a:gd name="T30" fmla="*/ 0 w 729"/>
                  <a:gd name="T31" fmla="*/ 0 h 420"/>
                  <a:gd name="T32" fmla="*/ 0 w 729"/>
                  <a:gd name="T33" fmla="*/ 0 h 420"/>
                  <a:gd name="T34" fmla="*/ 0 w 729"/>
                  <a:gd name="T35" fmla="*/ 0 h 420"/>
                  <a:gd name="T36" fmla="*/ 0 w 729"/>
                  <a:gd name="T37" fmla="*/ 0 h 420"/>
                  <a:gd name="T38" fmla="*/ 0 w 729"/>
                  <a:gd name="T39" fmla="*/ 0 h 420"/>
                  <a:gd name="T40" fmla="*/ 0 w 729"/>
                  <a:gd name="T41" fmla="*/ 0 h 420"/>
                  <a:gd name="T42" fmla="*/ 0 w 729"/>
                  <a:gd name="T43" fmla="*/ 0 h 420"/>
                  <a:gd name="T44" fmla="*/ 0 w 729"/>
                  <a:gd name="T45" fmla="*/ 0 h 420"/>
                  <a:gd name="T46" fmla="*/ 0 w 729"/>
                  <a:gd name="T47" fmla="*/ 0 h 420"/>
                  <a:gd name="T48" fmla="*/ 0 w 729"/>
                  <a:gd name="T49" fmla="*/ 0 h 420"/>
                  <a:gd name="T50" fmla="*/ 0 w 729"/>
                  <a:gd name="T51" fmla="*/ 0 h 4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29"/>
                  <a:gd name="T79" fmla="*/ 0 h 420"/>
                  <a:gd name="T80" fmla="*/ 729 w 729"/>
                  <a:gd name="T81" fmla="*/ 420 h 4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29" h="420">
                    <a:moveTo>
                      <a:pt x="647" y="59"/>
                    </a:moveTo>
                    <a:cubicBezTo>
                      <a:pt x="618" y="22"/>
                      <a:pt x="573" y="68"/>
                      <a:pt x="551" y="68"/>
                    </a:cubicBezTo>
                    <a:cubicBezTo>
                      <a:pt x="529" y="68"/>
                      <a:pt x="537" y="68"/>
                      <a:pt x="512" y="59"/>
                    </a:cubicBezTo>
                    <a:cubicBezTo>
                      <a:pt x="487" y="50"/>
                      <a:pt x="432" y="23"/>
                      <a:pt x="398" y="14"/>
                    </a:cubicBezTo>
                    <a:cubicBezTo>
                      <a:pt x="364" y="5"/>
                      <a:pt x="343" y="0"/>
                      <a:pt x="308" y="2"/>
                    </a:cubicBezTo>
                    <a:cubicBezTo>
                      <a:pt x="273" y="4"/>
                      <a:pt x="218" y="16"/>
                      <a:pt x="188" y="26"/>
                    </a:cubicBezTo>
                    <a:cubicBezTo>
                      <a:pt x="158" y="36"/>
                      <a:pt x="149" y="48"/>
                      <a:pt x="128" y="65"/>
                    </a:cubicBezTo>
                    <a:cubicBezTo>
                      <a:pt x="107" y="82"/>
                      <a:pt x="79" y="114"/>
                      <a:pt x="59" y="128"/>
                    </a:cubicBezTo>
                    <a:cubicBezTo>
                      <a:pt x="39" y="142"/>
                      <a:pt x="21" y="137"/>
                      <a:pt x="11" y="146"/>
                    </a:cubicBezTo>
                    <a:cubicBezTo>
                      <a:pt x="1" y="155"/>
                      <a:pt x="1" y="172"/>
                      <a:pt x="2" y="182"/>
                    </a:cubicBezTo>
                    <a:cubicBezTo>
                      <a:pt x="3" y="192"/>
                      <a:pt x="0" y="205"/>
                      <a:pt x="17" y="209"/>
                    </a:cubicBezTo>
                    <a:cubicBezTo>
                      <a:pt x="34" y="213"/>
                      <a:pt x="75" y="212"/>
                      <a:pt x="104" y="206"/>
                    </a:cubicBezTo>
                    <a:cubicBezTo>
                      <a:pt x="133" y="200"/>
                      <a:pt x="172" y="184"/>
                      <a:pt x="191" y="173"/>
                    </a:cubicBezTo>
                    <a:cubicBezTo>
                      <a:pt x="210" y="162"/>
                      <a:pt x="206" y="145"/>
                      <a:pt x="221" y="137"/>
                    </a:cubicBezTo>
                    <a:cubicBezTo>
                      <a:pt x="236" y="129"/>
                      <a:pt x="263" y="126"/>
                      <a:pt x="281" y="125"/>
                    </a:cubicBezTo>
                    <a:cubicBezTo>
                      <a:pt x="299" y="124"/>
                      <a:pt x="312" y="120"/>
                      <a:pt x="332" y="131"/>
                    </a:cubicBezTo>
                    <a:cubicBezTo>
                      <a:pt x="352" y="142"/>
                      <a:pt x="374" y="170"/>
                      <a:pt x="404" y="194"/>
                    </a:cubicBezTo>
                    <a:cubicBezTo>
                      <a:pt x="434" y="218"/>
                      <a:pt x="485" y="248"/>
                      <a:pt x="512" y="278"/>
                    </a:cubicBezTo>
                    <a:cubicBezTo>
                      <a:pt x="539" y="308"/>
                      <a:pt x="558" y="348"/>
                      <a:pt x="569" y="371"/>
                    </a:cubicBezTo>
                    <a:cubicBezTo>
                      <a:pt x="580" y="394"/>
                      <a:pt x="575" y="412"/>
                      <a:pt x="581" y="416"/>
                    </a:cubicBezTo>
                    <a:cubicBezTo>
                      <a:pt x="587" y="420"/>
                      <a:pt x="595" y="403"/>
                      <a:pt x="605" y="395"/>
                    </a:cubicBezTo>
                    <a:cubicBezTo>
                      <a:pt x="615" y="387"/>
                      <a:pt x="628" y="379"/>
                      <a:pt x="641" y="368"/>
                    </a:cubicBezTo>
                    <a:cubicBezTo>
                      <a:pt x="654" y="357"/>
                      <a:pt x="669" y="336"/>
                      <a:pt x="683" y="329"/>
                    </a:cubicBezTo>
                    <a:cubicBezTo>
                      <a:pt x="697" y="322"/>
                      <a:pt x="721" y="340"/>
                      <a:pt x="725" y="323"/>
                    </a:cubicBezTo>
                    <a:cubicBezTo>
                      <a:pt x="729" y="306"/>
                      <a:pt x="717" y="271"/>
                      <a:pt x="704" y="227"/>
                    </a:cubicBezTo>
                    <a:cubicBezTo>
                      <a:pt x="691" y="183"/>
                      <a:pt x="659" y="94"/>
                      <a:pt x="647" y="59"/>
                    </a:cubicBezTo>
                    <a:close/>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sp>
            <p:nvSpPr>
              <p:cNvPr id="40" name="Rectangle 46"/>
              <p:cNvSpPr>
                <a:spLocks noChangeArrowheads="1"/>
              </p:cNvSpPr>
              <p:nvPr/>
            </p:nvSpPr>
            <p:spPr bwMode="auto">
              <a:xfrm rot="21419544" flipH="1">
                <a:off x="3090" y="3069"/>
                <a:ext cx="82" cy="176"/>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41" name="Rectangle 47"/>
              <p:cNvSpPr>
                <a:spLocks noChangeArrowheads="1"/>
              </p:cNvSpPr>
              <p:nvPr/>
            </p:nvSpPr>
            <p:spPr bwMode="auto">
              <a:xfrm rot="1196180" flipH="1">
                <a:off x="2634" y="3044"/>
                <a:ext cx="82" cy="175"/>
              </a:xfrm>
              <a:prstGeom prst="rect">
                <a:avLst/>
              </a:prstGeom>
              <a:solidFill>
                <a:srgbClr val="FFFF99"/>
              </a:solidFill>
              <a:ln w="12700" algn="ctr">
                <a:solidFill>
                  <a:schemeClr val="bg1"/>
                </a:solidFill>
                <a:miter lim="800000"/>
                <a:headEnd/>
                <a:tailEnd/>
              </a:ln>
            </p:spPr>
            <p:txBody>
              <a:bodyPr lIns="0" tIns="0" rIns="0" bIns="0" anchor="ctr">
                <a:spAutoFit/>
              </a:bodyPr>
              <a:lstStyle/>
              <a:p>
                <a:endParaRPr lang="en-US"/>
              </a:p>
            </p:txBody>
          </p:sp>
          <p:sp>
            <p:nvSpPr>
              <p:cNvPr id="42" name="Oval 48"/>
              <p:cNvSpPr>
                <a:spLocks noChangeArrowheads="1"/>
              </p:cNvSpPr>
              <p:nvPr/>
            </p:nvSpPr>
            <p:spPr bwMode="auto">
              <a:xfrm flipH="1">
                <a:off x="2961" y="3207"/>
                <a:ext cx="50" cy="58"/>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43" name="Oval 49"/>
              <p:cNvSpPr>
                <a:spLocks noChangeArrowheads="1"/>
              </p:cNvSpPr>
              <p:nvPr/>
            </p:nvSpPr>
            <p:spPr bwMode="auto">
              <a:xfrm flipH="1">
                <a:off x="2926" y="3231"/>
                <a:ext cx="47" cy="63"/>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44" name="Oval 50"/>
              <p:cNvSpPr>
                <a:spLocks noChangeArrowheads="1"/>
              </p:cNvSpPr>
              <p:nvPr/>
            </p:nvSpPr>
            <p:spPr bwMode="auto">
              <a:xfrm rot="20190086" flipH="1">
                <a:off x="2882" y="3246"/>
                <a:ext cx="49" cy="62"/>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45" name="Oval 51"/>
              <p:cNvSpPr>
                <a:spLocks noChangeArrowheads="1"/>
              </p:cNvSpPr>
              <p:nvPr/>
            </p:nvSpPr>
            <p:spPr bwMode="auto">
              <a:xfrm rot="18495068" flipH="1">
                <a:off x="2862" y="3266"/>
                <a:ext cx="30" cy="57"/>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46" name="Freeform 52"/>
              <p:cNvSpPr>
                <a:spLocks/>
              </p:cNvSpPr>
              <p:nvPr/>
            </p:nvSpPr>
            <p:spPr bwMode="auto">
              <a:xfrm flipH="1">
                <a:off x="2769" y="3181"/>
                <a:ext cx="74" cy="50"/>
              </a:xfrm>
              <a:custGeom>
                <a:avLst/>
                <a:gdLst>
                  <a:gd name="T0" fmla="*/ 0 w 180"/>
                  <a:gd name="T1" fmla="*/ 0 h 123"/>
                  <a:gd name="T2" fmla="*/ 0 w 180"/>
                  <a:gd name="T3" fmla="*/ 0 h 123"/>
                  <a:gd name="T4" fmla="*/ 0 w 180"/>
                  <a:gd name="T5" fmla="*/ 0 h 123"/>
                  <a:gd name="T6" fmla="*/ 0 60000 65536"/>
                  <a:gd name="T7" fmla="*/ 0 60000 65536"/>
                  <a:gd name="T8" fmla="*/ 0 60000 65536"/>
                  <a:gd name="T9" fmla="*/ 0 w 180"/>
                  <a:gd name="T10" fmla="*/ 0 h 123"/>
                  <a:gd name="T11" fmla="*/ 180 w 180"/>
                  <a:gd name="T12" fmla="*/ 123 h 123"/>
                </a:gdLst>
                <a:ahLst/>
                <a:cxnLst>
                  <a:cxn ang="T6">
                    <a:pos x="T0" y="T1"/>
                  </a:cxn>
                  <a:cxn ang="T7">
                    <a:pos x="T2" y="T3"/>
                  </a:cxn>
                  <a:cxn ang="T8">
                    <a:pos x="T4" y="T5"/>
                  </a:cxn>
                </a:cxnLst>
                <a:rect l="T9" t="T10" r="T11" b="T12"/>
                <a:pathLst>
                  <a:path w="180" h="123">
                    <a:moveTo>
                      <a:pt x="180" y="123"/>
                    </a:moveTo>
                    <a:cubicBezTo>
                      <a:pt x="153" y="110"/>
                      <a:pt x="126" y="98"/>
                      <a:pt x="96" y="78"/>
                    </a:cubicBezTo>
                    <a:cubicBezTo>
                      <a:pt x="66" y="58"/>
                      <a:pt x="33" y="29"/>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7" name="Freeform 53"/>
              <p:cNvSpPr>
                <a:spLocks/>
              </p:cNvSpPr>
              <p:nvPr/>
            </p:nvSpPr>
            <p:spPr bwMode="auto">
              <a:xfrm flipH="1">
                <a:off x="2789" y="3197"/>
                <a:ext cx="79" cy="60"/>
              </a:xfrm>
              <a:custGeom>
                <a:avLst/>
                <a:gdLst>
                  <a:gd name="T0" fmla="*/ 0 w 189"/>
                  <a:gd name="T1" fmla="*/ 0 h 144"/>
                  <a:gd name="T2" fmla="*/ 0 w 189"/>
                  <a:gd name="T3" fmla="*/ 0 h 144"/>
                  <a:gd name="T4" fmla="*/ 0 w 189"/>
                  <a:gd name="T5" fmla="*/ 0 h 144"/>
                  <a:gd name="T6" fmla="*/ 0 w 189"/>
                  <a:gd name="T7" fmla="*/ 0 h 144"/>
                  <a:gd name="T8" fmla="*/ 0 60000 65536"/>
                  <a:gd name="T9" fmla="*/ 0 60000 65536"/>
                  <a:gd name="T10" fmla="*/ 0 60000 65536"/>
                  <a:gd name="T11" fmla="*/ 0 60000 65536"/>
                  <a:gd name="T12" fmla="*/ 0 w 189"/>
                  <a:gd name="T13" fmla="*/ 0 h 144"/>
                  <a:gd name="T14" fmla="*/ 189 w 189"/>
                  <a:gd name="T15" fmla="*/ 144 h 144"/>
                </a:gdLst>
                <a:ahLst/>
                <a:cxnLst>
                  <a:cxn ang="T8">
                    <a:pos x="T0" y="T1"/>
                  </a:cxn>
                  <a:cxn ang="T9">
                    <a:pos x="T2" y="T3"/>
                  </a:cxn>
                  <a:cxn ang="T10">
                    <a:pos x="T4" y="T5"/>
                  </a:cxn>
                  <a:cxn ang="T11">
                    <a:pos x="T6" y="T7"/>
                  </a:cxn>
                </a:cxnLst>
                <a:rect l="T12" t="T13" r="T14" b="T15"/>
                <a:pathLst>
                  <a:path w="189" h="144">
                    <a:moveTo>
                      <a:pt x="189" y="144"/>
                    </a:moveTo>
                    <a:cubicBezTo>
                      <a:pt x="171" y="141"/>
                      <a:pt x="154" y="139"/>
                      <a:pt x="135" y="129"/>
                    </a:cubicBezTo>
                    <a:cubicBezTo>
                      <a:pt x="116" y="119"/>
                      <a:pt x="97" y="105"/>
                      <a:pt x="75" y="84"/>
                    </a:cubicBezTo>
                    <a:cubicBezTo>
                      <a:pt x="53" y="63"/>
                      <a:pt x="26" y="31"/>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8" name="Freeform 54"/>
              <p:cNvSpPr>
                <a:spLocks/>
              </p:cNvSpPr>
              <p:nvPr/>
            </p:nvSpPr>
            <p:spPr bwMode="auto">
              <a:xfrm flipH="1">
                <a:off x="2820" y="3220"/>
                <a:ext cx="75" cy="58"/>
              </a:xfrm>
              <a:custGeom>
                <a:avLst/>
                <a:gdLst>
                  <a:gd name="T0" fmla="*/ 0 w 183"/>
                  <a:gd name="T1" fmla="*/ 0 h 141"/>
                  <a:gd name="T2" fmla="*/ 0 w 183"/>
                  <a:gd name="T3" fmla="*/ 0 h 141"/>
                  <a:gd name="T4" fmla="*/ 0 w 183"/>
                  <a:gd name="T5" fmla="*/ 0 h 141"/>
                  <a:gd name="T6" fmla="*/ 0 w 183"/>
                  <a:gd name="T7" fmla="*/ 0 h 141"/>
                  <a:gd name="T8" fmla="*/ 0 60000 65536"/>
                  <a:gd name="T9" fmla="*/ 0 60000 65536"/>
                  <a:gd name="T10" fmla="*/ 0 60000 65536"/>
                  <a:gd name="T11" fmla="*/ 0 60000 65536"/>
                  <a:gd name="T12" fmla="*/ 0 w 183"/>
                  <a:gd name="T13" fmla="*/ 0 h 141"/>
                  <a:gd name="T14" fmla="*/ 183 w 183"/>
                  <a:gd name="T15" fmla="*/ 141 h 141"/>
                </a:gdLst>
                <a:ahLst/>
                <a:cxnLst>
                  <a:cxn ang="T8">
                    <a:pos x="T0" y="T1"/>
                  </a:cxn>
                  <a:cxn ang="T9">
                    <a:pos x="T2" y="T3"/>
                  </a:cxn>
                  <a:cxn ang="T10">
                    <a:pos x="T4" y="T5"/>
                  </a:cxn>
                  <a:cxn ang="T11">
                    <a:pos x="T6" y="T7"/>
                  </a:cxn>
                </a:cxnLst>
                <a:rect l="T12" t="T13" r="T14" b="T15"/>
                <a:pathLst>
                  <a:path w="183" h="141">
                    <a:moveTo>
                      <a:pt x="183" y="141"/>
                    </a:moveTo>
                    <a:cubicBezTo>
                      <a:pt x="161" y="134"/>
                      <a:pt x="140" y="127"/>
                      <a:pt x="120" y="114"/>
                    </a:cubicBezTo>
                    <a:cubicBezTo>
                      <a:pt x="100" y="101"/>
                      <a:pt x="83" y="82"/>
                      <a:pt x="63" y="63"/>
                    </a:cubicBezTo>
                    <a:cubicBezTo>
                      <a:pt x="43" y="44"/>
                      <a:pt x="21" y="22"/>
                      <a:pt x="0" y="0"/>
                    </a:cubicBezTo>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grpSp>
      </p:grpSp>
      <p:sp>
        <p:nvSpPr>
          <p:cNvPr id="32"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smtClean="0"/>
              <a:t>in PolicyCenter</a:t>
            </a:r>
            <a:endParaRPr lang="en-US" dirty="0"/>
          </a:p>
        </p:txBody>
      </p:sp>
    </p:spTree>
    <p:extLst>
      <p:ext uri="{BB962C8B-B14F-4D97-AF65-F5344CB8AC3E}">
        <p14:creationId xmlns:p14="http://schemas.microsoft.com/office/powerpoint/2010/main" val="3368796496"/>
      </p:ext>
    </p:extLst>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Viewing billing information for an account</a:t>
            </a:r>
            <a:endParaRPr lang="en-US" sz="2800" dirty="0"/>
          </a:p>
        </p:txBody>
      </p:sp>
      <p:sp>
        <p:nvSpPr>
          <p:cNvPr id="4" name="Content Placeholder 3"/>
          <p:cNvSpPr>
            <a:spLocks noGrp="1"/>
          </p:cNvSpPr>
          <p:nvPr>
            <p:ph sz="half" idx="2"/>
          </p:nvPr>
        </p:nvSpPr>
        <p:spPr>
          <a:xfrm>
            <a:off x="6248400" y="914401"/>
            <a:ext cx="2743200" cy="5475289"/>
          </a:xfrm>
        </p:spPr>
        <p:txBody>
          <a:bodyPr/>
          <a:lstStyle/>
          <a:p>
            <a:r>
              <a:rPr lang="en-US" dirty="0" smtClean="0"/>
              <a:t>"View In BillingCenter" is exit point</a:t>
            </a:r>
          </a:p>
          <a:p>
            <a:pPr lvl="1"/>
            <a:r>
              <a:rPr lang="en-US" dirty="0"/>
              <a:t>Button </a:t>
            </a:r>
            <a:r>
              <a:rPr lang="en-US" dirty="0" smtClean="0"/>
              <a:t>appears </a:t>
            </a:r>
            <a:br>
              <a:rPr lang="en-US" dirty="0" smtClean="0"/>
            </a:br>
            <a:r>
              <a:rPr lang="en-US" dirty="0" smtClean="0"/>
              <a:t>for users that have view billing system permissions</a:t>
            </a:r>
            <a:endParaRPr lang="en-US" dirty="0"/>
          </a:p>
          <a:p>
            <a:r>
              <a:rPr lang="en-US" dirty="0" smtClean="0"/>
              <a:t>Allows direct access to detailed billing information in BillingCenter</a:t>
            </a:r>
          </a:p>
        </p:txBody>
      </p:sp>
      <p:pic>
        <p:nvPicPr>
          <p:cNvPr id="5" name="Picture 2"/>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13932" y="1251663"/>
            <a:ext cx="6439268" cy="4387138"/>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614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8760" y="2831166"/>
            <a:ext cx="4598552" cy="364583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1" name="Picture 10"/>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541827" y="5959736"/>
            <a:ext cx="565485" cy="548640"/>
          </a:xfrm>
          <a:prstGeom prst="rect">
            <a:avLst/>
          </a:prstGeom>
          <a:effectLst>
            <a:outerShdw blurRad="50800" dist="38100" dir="2700000" algn="tl" rotWithShape="0">
              <a:prstClr val="black">
                <a:alpha val="40000"/>
              </a:prstClr>
            </a:outerShdw>
          </a:effectLst>
        </p:spPr>
      </p:pic>
      <p:pic>
        <p:nvPicPr>
          <p:cNvPr id="12" name="Picture 11" descr="PolicyCenter.png"/>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844338" y="966395"/>
            <a:ext cx="565862" cy="548640"/>
          </a:xfrm>
          <a:prstGeom prst="rect">
            <a:avLst/>
          </a:prstGeom>
          <a:effectLst>
            <a:outerShdw blurRad="50800" dist="38100" dir="2700000" algn="tl" rotWithShape="0">
              <a:prstClr val="black">
                <a:alpha val="40000"/>
              </a:prstClr>
            </a:outerShdw>
          </a:effectLst>
        </p:spPr>
      </p:pic>
      <p:sp>
        <p:nvSpPr>
          <p:cNvPr id="8" name="Rounded Rectangle 7"/>
          <p:cNvSpPr/>
          <p:nvPr/>
        </p:nvSpPr>
        <p:spPr bwMode="auto">
          <a:xfrm rot="180000">
            <a:off x="1780036" y="2312400"/>
            <a:ext cx="1449699" cy="331960"/>
          </a:xfrm>
          <a:prstGeom prst="roundRect">
            <a:avLst/>
          </a:prstGeom>
          <a:noFill/>
          <a:ln w="28575" algn="ctr">
            <a:solidFill>
              <a:schemeClr val="accent1">
                <a:lumMod val="75000"/>
              </a:schemeClr>
            </a:solidFill>
            <a:round/>
            <a:headEnd/>
            <a:tailEnd/>
          </a:ln>
          <a:effectLst>
            <a:outerShdw blurRad="50800" dist="38100" dir="8100000" algn="tr"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36" name="Group 6"/>
          <p:cNvGrpSpPr>
            <a:grpSpLocks/>
          </p:cNvGrpSpPr>
          <p:nvPr/>
        </p:nvGrpSpPr>
        <p:grpSpPr bwMode="auto">
          <a:xfrm>
            <a:off x="6553200" y="5718497"/>
            <a:ext cx="661987" cy="704850"/>
            <a:chOff x="7441660" y="928255"/>
            <a:chExt cx="848840" cy="904906"/>
          </a:xfrm>
          <a:effectLst>
            <a:outerShdw blurRad="50800" dist="38100" dir="2700000" algn="tl" rotWithShape="0">
              <a:prstClr val="black">
                <a:alpha val="40000"/>
              </a:prstClr>
            </a:outerShdw>
          </a:effectLst>
        </p:grpSpPr>
        <p:sp>
          <p:nvSpPr>
            <p:cNvPr id="37" name="AutoShape 156"/>
            <p:cNvSpPr>
              <a:spLocks noChangeArrowheads="1"/>
            </p:cNvSpPr>
            <p:nvPr/>
          </p:nvSpPr>
          <p:spPr bwMode="auto">
            <a:xfrm>
              <a:off x="7441660" y="928255"/>
              <a:ext cx="637867" cy="65094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38" name="Group 157"/>
            <p:cNvGrpSpPr>
              <a:grpSpLocks/>
            </p:cNvGrpSpPr>
            <p:nvPr/>
          </p:nvGrpSpPr>
          <p:grpSpPr bwMode="auto">
            <a:xfrm>
              <a:off x="7896855" y="1389421"/>
              <a:ext cx="393645" cy="443740"/>
              <a:chOff x="2768" y="2267"/>
              <a:chExt cx="624" cy="704"/>
            </a:xfrm>
          </p:grpSpPr>
          <p:sp>
            <p:nvSpPr>
              <p:cNvPr id="39" name="AutoShape 158"/>
              <p:cNvSpPr>
                <a:spLocks noChangeArrowheads="1"/>
              </p:cNvSpPr>
              <p:nvPr/>
            </p:nvSpPr>
            <p:spPr bwMode="auto">
              <a:xfrm rot="-5400000">
                <a:off x="2728" y="2307"/>
                <a:ext cx="704" cy="624"/>
              </a:xfrm>
              <a:prstGeom prst="foldedCorner">
                <a:avLst>
                  <a:gd name="adj" fmla="val 20287"/>
                </a:avLst>
              </a:pr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40" name="Freeform 159"/>
              <p:cNvSpPr>
                <a:spLocks/>
              </p:cNvSpPr>
              <p:nvPr/>
            </p:nvSpPr>
            <p:spPr bwMode="auto">
              <a:xfrm>
                <a:off x="2847" y="2357"/>
                <a:ext cx="153" cy="19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41" name="Freeform 160"/>
              <p:cNvSpPr>
                <a:spLocks/>
              </p:cNvSpPr>
              <p:nvPr/>
            </p:nvSpPr>
            <p:spPr bwMode="auto">
              <a:xfrm>
                <a:off x="2847" y="2648"/>
                <a:ext cx="153" cy="196"/>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grpSp>
            <p:nvGrpSpPr>
              <p:cNvPr id="42" name="Group 161"/>
              <p:cNvGrpSpPr>
                <a:grpSpLocks/>
              </p:cNvGrpSpPr>
              <p:nvPr/>
            </p:nvGrpSpPr>
            <p:grpSpPr bwMode="auto">
              <a:xfrm>
                <a:off x="3136" y="2620"/>
                <a:ext cx="231" cy="343"/>
                <a:chOff x="2784" y="3210"/>
                <a:chExt cx="523" cy="772"/>
              </a:xfrm>
            </p:grpSpPr>
            <p:sp>
              <p:nvSpPr>
                <p:cNvPr id="43" name="AutoShape 162"/>
                <p:cNvSpPr>
                  <a:spLocks noChangeArrowheads="1"/>
                </p:cNvSpPr>
                <p:nvPr/>
              </p:nvSpPr>
              <p:spPr bwMode="auto">
                <a:xfrm rot="16736225" flipH="1">
                  <a:off x="2714" y="3670"/>
                  <a:ext cx="487" cy="138"/>
                </a:xfrm>
                <a:prstGeom prst="parallelogram">
                  <a:avLst>
                    <a:gd name="adj" fmla="val 88225"/>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44" name="AutoShape 163"/>
                <p:cNvSpPr>
                  <a:spLocks noChangeArrowheads="1"/>
                </p:cNvSpPr>
                <p:nvPr/>
              </p:nvSpPr>
              <p:spPr bwMode="auto">
                <a:xfrm rot="4863775">
                  <a:off x="2853" y="3662"/>
                  <a:ext cx="501" cy="128"/>
                </a:xfrm>
                <a:prstGeom prst="parallelogram">
                  <a:avLst>
                    <a:gd name="adj" fmla="val 97852"/>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45" name="AutoShape 164"/>
                <p:cNvSpPr>
                  <a:spLocks noChangeArrowheads="1"/>
                </p:cNvSpPr>
                <p:nvPr/>
              </p:nvSpPr>
              <p:spPr bwMode="auto">
                <a:xfrm>
                  <a:off x="2784" y="3210"/>
                  <a:ext cx="523" cy="523"/>
                </a:xfrm>
                <a:prstGeom prst="star16">
                  <a:avLst>
                    <a:gd name="adj" fmla="val 37500"/>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46" name="Oval 165"/>
                <p:cNvSpPr>
                  <a:spLocks noChangeArrowheads="1"/>
                </p:cNvSpPr>
                <p:nvPr/>
              </p:nvSpPr>
              <p:spPr bwMode="auto">
                <a:xfrm>
                  <a:off x="2880" y="3307"/>
                  <a:ext cx="320" cy="320"/>
                </a:xfrm>
                <a:prstGeom prst="ellipse">
                  <a:avLst/>
                </a:prstGeom>
                <a:solidFill>
                  <a:srgbClr val="FFFF99"/>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anchor="ctr"/>
                <a:lstStyle/>
                <a:p>
                  <a:endParaRPr lang="en-US"/>
                </a:p>
              </p:txBody>
            </p:sp>
          </p:grpSp>
        </p:grpSp>
      </p:grpSp>
      <p:sp>
        <p:nvSpPr>
          <p:cNvPr id="2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through an exit point to BillingCenter</a:t>
            </a:r>
          </a:p>
        </p:txBody>
      </p:sp>
    </p:spTree>
    <p:extLst>
      <p:ext uri="{BB962C8B-B14F-4D97-AF65-F5344CB8AC3E}">
        <p14:creationId xmlns:p14="http://schemas.microsoft.com/office/powerpoint/2010/main" val="2288853772"/>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Viewing billing information for a policy </a:t>
            </a:r>
          </a:p>
        </p:txBody>
      </p:sp>
      <p:sp>
        <p:nvSpPr>
          <p:cNvPr id="4" name="Content Placeholder 3"/>
          <p:cNvSpPr>
            <a:spLocks noGrp="1"/>
          </p:cNvSpPr>
          <p:nvPr>
            <p:ph sz="half" idx="2"/>
          </p:nvPr>
        </p:nvSpPr>
        <p:spPr>
          <a:xfrm>
            <a:off x="6248399" y="914401"/>
            <a:ext cx="2589213" cy="5475289"/>
          </a:xfrm>
        </p:spPr>
        <p:txBody>
          <a:bodyPr/>
          <a:lstStyle/>
          <a:p>
            <a:r>
              <a:rPr lang="en-US" dirty="0"/>
              <a:t>View account-level billing information </a:t>
            </a:r>
            <a:r>
              <a:rPr lang="en-US" dirty="0" smtClean="0"/>
              <a:t>on Policy </a:t>
            </a:r>
            <a:r>
              <a:rPr lang="en-US" dirty="0" smtClean="0">
                <a:sym typeface="Wingdings"/>
              </a:rPr>
              <a:t></a:t>
            </a:r>
            <a:r>
              <a:rPr lang="en-US" dirty="0" smtClean="0"/>
              <a:t> </a:t>
            </a:r>
            <a:r>
              <a:rPr lang="en-US" dirty="0"/>
              <a:t>Billing</a:t>
            </a:r>
          </a:p>
          <a:p>
            <a:r>
              <a:rPr lang="en-US" dirty="0" smtClean="0"/>
              <a:t>For </a:t>
            </a:r>
            <a:r>
              <a:rPr lang="en-US" dirty="0"/>
              <a:t>internal and external users with BillingCenter access</a:t>
            </a:r>
          </a:p>
          <a:p>
            <a:endParaRPr lang="en-US" dirty="0"/>
          </a:p>
        </p:txBody>
      </p:sp>
      <p:pic>
        <p:nvPicPr>
          <p:cNvPr id="1027" name="Picture 3"/>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99878" y="1298053"/>
            <a:ext cx="5896122" cy="4569347"/>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7" name="Picture 6"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72000" y="975360"/>
            <a:ext cx="565862" cy="548640"/>
          </a:xfrm>
          <a:prstGeom prst="rect">
            <a:avLst/>
          </a:prstGeom>
          <a:effectLst>
            <a:outerShdw blurRad="50800" dist="38100" dir="2700000" algn="tl" rotWithShape="0">
              <a:prstClr val="black">
                <a:alpha val="40000"/>
              </a:prstClr>
            </a:outerShdw>
          </a:effectLst>
        </p:spPr>
      </p:pic>
      <p:sp>
        <p:nvSpPr>
          <p:cNvPr id="10" name="Rounded Rectangle 9"/>
          <p:cNvSpPr/>
          <p:nvPr/>
        </p:nvSpPr>
        <p:spPr bwMode="auto">
          <a:xfrm rot="180000">
            <a:off x="1707374" y="2278081"/>
            <a:ext cx="1407064" cy="331960"/>
          </a:xfrm>
          <a:prstGeom prst="roundRect">
            <a:avLst/>
          </a:prstGeom>
          <a:noFill/>
          <a:ln w="28575" algn="ctr">
            <a:solidFill>
              <a:schemeClr val="accent1">
                <a:lumMod val="75000"/>
              </a:schemeClr>
            </a:solidFill>
            <a:round/>
            <a:headEnd/>
            <a:tailEnd/>
          </a:ln>
          <a:effectLst>
            <a:outerShdw blurRad="50800" dist="38100" dir="8100000" algn="tr"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36" name="Group 30"/>
          <p:cNvGrpSpPr>
            <a:grpSpLocks/>
          </p:cNvGrpSpPr>
          <p:nvPr/>
        </p:nvGrpSpPr>
        <p:grpSpPr bwMode="auto">
          <a:xfrm>
            <a:off x="6553200" y="5715000"/>
            <a:ext cx="1474787" cy="706438"/>
            <a:chOff x="6754800" y="593380"/>
            <a:chExt cx="1474794" cy="706710"/>
          </a:xfrm>
          <a:effectLst>
            <a:outerShdw blurRad="50800" dist="38100" dir="2700000" algn="tl" rotWithShape="0">
              <a:prstClr val="black">
                <a:alpha val="40000"/>
              </a:prstClr>
            </a:outerShdw>
          </a:effectLst>
        </p:grpSpPr>
        <p:grpSp>
          <p:nvGrpSpPr>
            <p:cNvPr id="37" name="Group 6"/>
            <p:cNvGrpSpPr>
              <a:grpSpLocks/>
            </p:cNvGrpSpPr>
            <p:nvPr/>
          </p:nvGrpSpPr>
          <p:grpSpPr bwMode="auto">
            <a:xfrm>
              <a:off x="7567808" y="593851"/>
              <a:ext cx="661786" cy="705498"/>
              <a:chOff x="7441660" y="928255"/>
              <a:chExt cx="848840" cy="904906"/>
            </a:xfrm>
          </p:grpSpPr>
          <p:sp>
            <p:nvSpPr>
              <p:cNvPr id="51" name="AutoShape 156"/>
              <p:cNvSpPr>
                <a:spLocks noChangeArrowheads="1"/>
              </p:cNvSpPr>
              <p:nvPr/>
            </p:nvSpPr>
            <p:spPr bwMode="auto">
              <a:xfrm>
                <a:off x="7441660" y="928255"/>
                <a:ext cx="637867" cy="65094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52" name="Group 157"/>
              <p:cNvGrpSpPr>
                <a:grpSpLocks/>
              </p:cNvGrpSpPr>
              <p:nvPr/>
            </p:nvGrpSpPr>
            <p:grpSpPr bwMode="auto">
              <a:xfrm>
                <a:off x="7896855" y="1389421"/>
                <a:ext cx="393645" cy="443740"/>
                <a:chOff x="2768" y="2267"/>
                <a:chExt cx="624" cy="704"/>
              </a:xfrm>
            </p:grpSpPr>
            <p:sp>
              <p:nvSpPr>
                <p:cNvPr id="53" name="AutoShape 158"/>
                <p:cNvSpPr>
                  <a:spLocks noChangeArrowheads="1"/>
                </p:cNvSpPr>
                <p:nvPr/>
              </p:nvSpPr>
              <p:spPr bwMode="auto">
                <a:xfrm rot="-5400000">
                  <a:off x="2728" y="2307"/>
                  <a:ext cx="704" cy="624"/>
                </a:xfrm>
                <a:prstGeom prst="foldedCorner">
                  <a:avLst>
                    <a:gd name="adj" fmla="val 20287"/>
                  </a:avLst>
                </a:pr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54" name="Freeform 159"/>
                <p:cNvSpPr>
                  <a:spLocks/>
                </p:cNvSpPr>
                <p:nvPr/>
              </p:nvSpPr>
              <p:spPr bwMode="auto">
                <a:xfrm>
                  <a:off x="2847" y="2357"/>
                  <a:ext cx="153" cy="19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55" name="Freeform 160"/>
                <p:cNvSpPr>
                  <a:spLocks/>
                </p:cNvSpPr>
                <p:nvPr/>
              </p:nvSpPr>
              <p:spPr bwMode="auto">
                <a:xfrm>
                  <a:off x="2847" y="2648"/>
                  <a:ext cx="153" cy="196"/>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grpSp>
              <p:nvGrpSpPr>
                <p:cNvPr id="56" name="Group 161"/>
                <p:cNvGrpSpPr>
                  <a:grpSpLocks/>
                </p:cNvGrpSpPr>
                <p:nvPr/>
              </p:nvGrpSpPr>
              <p:grpSpPr bwMode="auto">
                <a:xfrm>
                  <a:off x="3136" y="2620"/>
                  <a:ext cx="231" cy="343"/>
                  <a:chOff x="2784" y="3210"/>
                  <a:chExt cx="523" cy="772"/>
                </a:xfrm>
              </p:grpSpPr>
              <p:sp>
                <p:nvSpPr>
                  <p:cNvPr id="57" name="AutoShape 162"/>
                  <p:cNvSpPr>
                    <a:spLocks noChangeArrowheads="1"/>
                  </p:cNvSpPr>
                  <p:nvPr/>
                </p:nvSpPr>
                <p:spPr bwMode="auto">
                  <a:xfrm rot="16736225" flipH="1">
                    <a:off x="2714" y="3670"/>
                    <a:ext cx="487" cy="138"/>
                  </a:xfrm>
                  <a:prstGeom prst="parallelogram">
                    <a:avLst>
                      <a:gd name="adj" fmla="val 88225"/>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58" name="AutoShape 163"/>
                  <p:cNvSpPr>
                    <a:spLocks noChangeArrowheads="1"/>
                  </p:cNvSpPr>
                  <p:nvPr/>
                </p:nvSpPr>
                <p:spPr bwMode="auto">
                  <a:xfrm rot="4863775">
                    <a:off x="2853" y="3662"/>
                    <a:ext cx="501" cy="128"/>
                  </a:xfrm>
                  <a:prstGeom prst="parallelogram">
                    <a:avLst>
                      <a:gd name="adj" fmla="val 97852"/>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59" name="AutoShape 164"/>
                  <p:cNvSpPr>
                    <a:spLocks noChangeArrowheads="1"/>
                  </p:cNvSpPr>
                  <p:nvPr/>
                </p:nvSpPr>
                <p:spPr bwMode="auto">
                  <a:xfrm>
                    <a:off x="2784" y="3210"/>
                    <a:ext cx="523" cy="523"/>
                  </a:xfrm>
                  <a:prstGeom prst="star16">
                    <a:avLst>
                      <a:gd name="adj" fmla="val 37500"/>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60" name="Oval 165"/>
                  <p:cNvSpPr>
                    <a:spLocks noChangeArrowheads="1"/>
                  </p:cNvSpPr>
                  <p:nvPr/>
                </p:nvSpPr>
                <p:spPr bwMode="auto">
                  <a:xfrm>
                    <a:off x="2880" y="3307"/>
                    <a:ext cx="320" cy="320"/>
                  </a:xfrm>
                  <a:prstGeom prst="ellipse">
                    <a:avLst/>
                  </a:prstGeom>
                  <a:solidFill>
                    <a:srgbClr val="FFFF99"/>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anchor="ctr"/>
                  <a:lstStyle/>
                  <a:p>
                    <a:endParaRPr lang="en-US"/>
                  </a:p>
                </p:txBody>
              </p:sp>
            </p:grpSp>
          </p:grpSp>
        </p:grpSp>
        <p:grpSp>
          <p:nvGrpSpPr>
            <p:cNvPr id="38" name="Group 42"/>
            <p:cNvGrpSpPr>
              <a:grpSpLocks/>
            </p:cNvGrpSpPr>
            <p:nvPr/>
          </p:nvGrpSpPr>
          <p:grpSpPr bwMode="auto">
            <a:xfrm>
              <a:off x="6754800" y="593380"/>
              <a:ext cx="548284" cy="706710"/>
              <a:chOff x="2634" y="2618"/>
              <a:chExt cx="538" cy="692"/>
            </a:xfrm>
          </p:grpSpPr>
          <p:sp>
            <p:nvSpPr>
              <p:cNvPr id="39" name="AutoShape 43"/>
              <p:cNvSpPr>
                <a:spLocks noChangeArrowheads="1"/>
              </p:cNvSpPr>
              <p:nvPr/>
            </p:nvSpPr>
            <p:spPr bwMode="auto">
              <a:xfrm flipH="1">
                <a:off x="2644" y="2618"/>
                <a:ext cx="482" cy="490"/>
              </a:xfrm>
              <a:prstGeom prst="smileyFace">
                <a:avLst>
                  <a:gd name="adj" fmla="val 4653"/>
                </a:avLst>
              </a:prstGeom>
              <a:gradFill rotWithShape="1">
                <a:gsLst>
                  <a:gs pos="0">
                    <a:srgbClr val="FFCC99"/>
                  </a:gs>
                  <a:gs pos="100000">
                    <a:srgbClr val="FFFF99"/>
                  </a:gs>
                </a:gsLst>
                <a:lin ang="0" scaled="1"/>
              </a:gradFill>
              <a:ln w="12700">
                <a:solidFill>
                  <a:srgbClr val="000000"/>
                </a:solidFill>
                <a:round/>
                <a:headEnd/>
                <a:tailEnd/>
              </a:ln>
            </p:spPr>
            <p:txBody>
              <a:bodyPr wrap="none" anchor="ctr"/>
              <a:lstStyle/>
              <a:p>
                <a:endParaRPr lang="en-US"/>
              </a:p>
            </p:txBody>
          </p:sp>
          <p:sp>
            <p:nvSpPr>
              <p:cNvPr id="40" name="Freeform 44"/>
              <p:cNvSpPr>
                <a:spLocks/>
              </p:cNvSpPr>
              <p:nvPr/>
            </p:nvSpPr>
            <p:spPr bwMode="auto">
              <a:xfrm flipH="1">
                <a:off x="2724" y="3066"/>
                <a:ext cx="388" cy="228"/>
              </a:xfrm>
              <a:custGeom>
                <a:avLst/>
                <a:gdLst>
                  <a:gd name="T0" fmla="*/ 0 w 941"/>
                  <a:gd name="T1" fmla="*/ 0 h 553"/>
                  <a:gd name="T2" fmla="*/ 0 w 941"/>
                  <a:gd name="T3" fmla="*/ 0 h 553"/>
                  <a:gd name="T4" fmla="*/ 0 w 941"/>
                  <a:gd name="T5" fmla="*/ 0 h 553"/>
                  <a:gd name="T6" fmla="*/ 0 w 941"/>
                  <a:gd name="T7" fmla="*/ 0 h 553"/>
                  <a:gd name="T8" fmla="*/ 0 w 941"/>
                  <a:gd name="T9" fmla="*/ 0 h 553"/>
                  <a:gd name="T10" fmla="*/ 0 w 941"/>
                  <a:gd name="T11" fmla="*/ 0 h 553"/>
                  <a:gd name="T12" fmla="*/ 0 w 941"/>
                  <a:gd name="T13" fmla="*/ 0 h 553"/>
                  <a:gd name="T14" fmla="*/ 0 w 941"/>
                  <a:gd name="T15" fmla="*/ 0 h 553"/>
                  <a:gd name="T16" fmla="*/ 0 w 941"/>
                  <a:gd name="T17" fmla="*/ 0 h 553"/>
                  <a:gd name="T18" fmla="*/ 0 w 941"/>
                  <a:gd name="T19" fmla="*/ 0 h 553"/>
                  <a:gd name="T20" fmla="*/ 0 w 941"/>
                  <a:gd name="T21" fmla="*/ 0 h 553"/>
                  <a:gd name="T22" fmla="*/ 0 w 941"/>
                  <a:gd name="T23" fmla="*/ 0 h 553"/>
                  <a:gd name="T24" fmla="*/ 0 w 941"/>
                  <a:gd name="T25" fmla="*/ 0 h 553"/>
                  <a:gd name="T26" fmla="*/ 0 w 941"/>
                  <a:gd name="T27" fmla="*/ 0 h 553"/>
                  <a:gd name="T28" fmla="*/ 0 w 941"/>
                  <a:gd name="T29" fmla="*/ 0 h 553"/>
                  <a:gd name="T30" fmla="*/ 0 w 941"/>
                  <a:gd name="T31" fmla="*/ 0 h 553"/>
                  <a:gd name="T32" fmla="*/ 0 w 941"/>
                  <a:gd name="T33" fmla="*/ 0 h 553"/>
                  <a:gd name="T34" fmla="*/ 0 w 941"/>
                  <a:gd name="T35" fmla="*/ 0 h 553"/>
                  <a:gd name="T36" fmla="*/ 0 w 941"/>
                  <a:gd name="T37" fmla="*/ 0 h 553"/>
                  <a:gd name="T38" fmla="*/ 0 w 941"/>
                  <a:gd name="T39" fmla="*/ 0 h 553"/>
                  <a:gd name="T40" fmla="*/ 0 w 941"/>
                  <a:gd name="T41" fmla="*/ 0 h 553"/>
                  <a:gd name="T42" fmla="*/ 0 w 941"/>
                  <a:gd name="T43" fmla="*/ 0 h 553"/>
                  <a:gd name="T44" fmla="*/ 0 w 941"/>
                  <a:gd name="T45" fmla="*/ 0 h 553"/>
                  <a:gd name="T46" fmla="*/ 0 w 941"/>
                  <a:gd name="T47" fmla="*/ 0 h 553"/>
                  <a:gd name="T48" fmla="*/ 0 w 941"/>
                  <a:gd name="T49" fmla="*/ 0 h 553"/>
                  <a:gd name="T50" fmla="*/ 0 w 941"/>
                  <a:gd name="T51" fmla="*/ 0 h 553"/>
                  <a:gd name="T52" fmla="*/ 0 w 941"/>
                  <a:gd name="T53" fmla="*/ 0 h 553"/>
                  <a:gd name="T54" fmla="*/ 0 w 941"/>
                  <a:gd name="T55" fmla="*/ 0 h 553"/>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941"/>
                  <a:gd name="T85" fmla="*/ 0 h 553"/>
                  <a:gd name="T86" fmla="*/ 941 w 941"/>
                  <a:gd name="T87" fmla="*/ 553 h 553"/>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941" h="553">
                    <a:moveTo>
                      <a:pt x="54" y="55"/>
                    </a:moveTo>
                    <a:cubicBezTo>
                      <a:pt x="108" y="37"/>
                      <a:pt x="292" y="41"/>
                      <a:pt x="354" y="34"/>
                    </a:cubicBezTo>
                    <a:cubicBezTo>
                      <a:pt x="416" y="27"/>
                      <a:pt x="380" y="16"/>
                      <a:pt x="426" y="13"/>
                    </a:cubicBezTo>
                    <a:cubicBezTo>
                      <a:pt x="472" y="10"/>
                      <a:pt x="563" y="0"/>
                      <a:pt x="633" y="16"/>
                    </a:cubicBezTo>
                    <a:cubicBezTo>
                      <a:pt x="703" y="32"/>
                      <a:pt x="801" y="79"/>
                      <a:pt x="849" y="112"/>
                    </a:cubicBezTo>
                    <a:cubicBezTo>
                      <a:pt x="897" y="145"/>
                      <a:pt x="941" y="207"/>
                      <a:pt x="921" y="214"/>
                    </a:cubicBezTo>
                    <a:cubicBezTo>
                      <a:pt x="901" y="221"/>
                      <a:pt x="764" y="159"/>
                      <a:pt x="729" y="151"/>
                    </a:cubicBezTo>
                    <a:cubicBezTo>
                      <a:pt x="694" y="143"/>
                      <a:pt x="692" y="148"/>
                      <a:pt x="708" y="166"/>
                    </a:cubicBezTo>
                    <a:cubicBezTo>
                      <a:pt x="724" y="184"/>
                      <a:pt x="798" y="226"/>
                      <a:pt x="825" y="259"/>
                    </a:cubicBezTo>
                    <a:cubicBezTo>
                      <a:pt x="852" y="292"/>
                      <a:pt x="860" y="340"/>
                      <a:pt x="867" y="364"/>
                    </a:cubicBezTo>
                    <a:cubicBezTo>
                      <a:pt x="874" y="388"/>
                      <a:pt x="874" y="399"/>
                      <a:pt x="867" y="406"/>
                    </a:cubicBezTo>
                    <a:cubicBezTo>
                      <a:pt x="860" y="413"/>
                      <a:pt x="832" y="399"/>
                      <a:pt x="825" y="406"/>
                    </a:cubicBezTo>
                    <a:cubicBezTo>
                      <a:pt x="818" y="413"/>
                      <a:pt x="829" y="442"/>
                      <a:pt x="825" y="451"/>
                    </a:cubicBezTo>
                    <a:cubicBezTo>
                      <a:pt x="821" y="460"/>
                      <a:pt x="811" y="459"/>
                      <a:pt x="804" y="460"/>
                    </a:cubicBezTo>
                    <a:cubicBezTo>
                      <a:pt x="797" y="461"/>
                      <a:pt x="784" y="457"/>
                      <a:pt x="780" y="460"/>
                    </a:cubicBezTo>
                    <a:cubicBezTo>
                      <a:pt x="776" y="463"/>
                      <a:pt x="782" y="469"/>
                      <a:pt x="780" y="478"/>
                    </a:cubicBezTo>
                    <a:cubicBezTo>
                      <a:pt x="778" y="487"/>
                      <a:pt x="776" y="511"/>
                      <a:pt x="765" y="517"/>
                    </a:cubicBezTo>
                    <a:cubicBezTo>
                      <a:pt x="754" y="523"/>
                      <a:pt x="721" y="509"/>
                      <a:pt x="711" y="514"/>
                    </a:cubicBezTo>
                    <a:cubicBezTo>
                      <a:pt x="701" y="519"/>
                      <a:pt x="713" y="541"/>
                      <a:pt x="702" y="547"/>
                    </a:cubicBezTo>
                    <a:cubicBezTo>
                      <a:pt x="691" y="553"/>
                      <a:pt x="666" y="553"/>
                      <a:pt x="645" y="550"/>
                    </a:cubicBezTo>
                    <a:cubicBezTo>
                      <a:pt x="624" y="547"/>
                      <a:pt x="613" y="547"/>
                      <a:pt x="576" y="529"/>
                    </a:cubicBezTo>
                    <a:cubicBezTo>
                      <a:pt x="539" y="511"/>
                      <a:pt x="474" y="468"/>
                      <a:pt x="423" y="442"/>
                    </a:cubicBezTo>
                    <a:cubicBezTo>
                      <a:pt x="372" y="416"/>
                      <a:pt x="311" y="388"/>
                      <a:pt x="270" y="373"/>
                    </a:cubicBezTo>
                    <a:cubicBezTo>
                      <a:pt x="229" y="358"/>
                      <a:pt x="213" y="358"/>
                      <a:pt x="174" y="352"/>
                    </a:cubicBezTo>
                    <a:cubicBezTo>
                      <a:pt x="135" y="346"/>
                      <a:pt x="64" y="339"/>
                      <a:pt x="36" y="337"/>
                    </a:cubicBezTo>
                    <a:cubicBezTo>
                      <a:pt x="8" y="335"/>
                      <a:pt x="6" y="355"/>
                      <a:pt x="3" y="337"/>
                    </a:cubicBezTo>
                    <a:cubicBezTo>
                      <a:pt x="0" y="319"/>
                      <a:pt x="6" y="276"/>
                      <a:pt x="15" y="229"/>
                    </a:cubicBezTo>
                    <a:cubicBezTo>
                      <a:pt x="24" y="182"/>
                      <a:pt x="46" y="91"/>
                      <a:pt x="54" y="55"/>
                    </a:cubicBezTo>
                    <a:close/>
                  </a:path>
                </a:pathLst>
              </a:custGeom>
              <a:solidFill>
                <a:srgbClr val="FFCC99"/>
              </a:solidFill>
              <a:ln w="12700">
                <a:solidFill>
                  <a:schemeClr val="bg1"/>
                </a:solidFill>
                <a:round/>
                <a:headEnd/>
                <a:tailEnd/>
              </a:ln>
            </p:spPr>
            <p:txBody>
              <a:bodyPr wrap="none" lIns="0" tIns="0" rIns="0" bIns="0" anchor="ctr">
                <a:spAutoFit/>
              </a:bodyPr>
              <a:lstStyle/>
              <a:p>
                <a:endParaRPr lang="en-US"/>
              </a:p>
            </p:txBody>
          </p:sp>
          <p:sp>
            <p:nvSpPr>
              <p:cNvPr id="41" name="Freeform 45"/>
              <p:cNvSpPr>
                <a:spLocks/>
              </p:cNvSpPr>
              <p:nvPr/>
            </p:nvSpPr>
            <p:spPr bwMode="auto">
              <a:xfrm flipH="1">
                <a:off x="2692" y="3051"/>
                <a:ext cx="300" cy="174"/>
              </a:xfrm>
              <a:custGeom>
                <a:avLst/>
                <a:gdLst>
                  <a:gd name="T0" fmla="*/ 0 w 729"/>
                  <a:gd name="T1" fmla="*/ 0 h 420"/>
                  <a:gd name="T2" fmla="*/ 0 w 729"/>
                  <a:gd name="T3" fmla="*/ 0 h 420"/>
                  <a:gd name="T4" fmla="*/ 0 w 729"/>
                  <a:gd name="T5" fmla="*/ 0 h 420"/>
                  <a:gd name="T6" fmla="*/ 0 w 729"/>
                  <a:gd name="T7" fmla="*/ 0 h 420"/>
                  <a:gd name="T8" fmla="*/ 0 w 729"/>
                  <a:gd name="T9" fmla="*/ 0 h 420"/>
                  <a:gd name="T10" fmla="*/ 0 w 729"/>
                  <a:gd name="T11" fmla="*/ 0 h 420"/>
                  <a:gd name="T12" fmla="*/ 0 w 729"/>
                  <a:gd name="T13" fmla="*/ 0 h 420"/>
                  <a:gd name="T14" fmla="*/ 0 w 729"/>
                  <a:gd name="T15" fmla="*/ 0 h 420"/>
                  <a:gd name="T16" fmla="*/ 0 w 729"/>
                  <a:gd name="T17" fmla="*/ 0 h 420"/>
                  <a:gd name="T18" fmla="*/ 0 w 729"/>
                  <a:gd name="T19" fmla="*/ 0 h 420"/>
                  <a:gd name="T20" fmla="*/ 0 w 729"/>
                  <a:gd name="T21" fmla="*/ 0 h 420"/>
                  <a:gd name="T22" fmla="*/ 0 w 729"/>
                  <a:gd name="T23" fmla="*/ 0 h 420"/>
                  <a:gd name="T24" fmla="*/ 0 w 729"/>
                  <a:gd name="T25" fmla="*/ 0 h 420"/>
                  <a:gd name="T26" fmla="*/ 0 w 729"/>
                  <a:gd name="T27" fmla="*/ 0 h 420"/>
                  <a:gd name="T28" fmla="*/ 0 w 729"/>
                  <a:gd name="T29" fmla="*/ 0 h 420"/>
                  <a:gd name="T30" fmla="*/ 0 w 729"/>
                  <a:gd name="T31" fmla="*/ 0 h 420"/>
                  <a:gd name="T32" fmla="*/ 0 w 729"/>
                  <a:gd name="T33" fmla="*/ 0 h 420"/>
                  <a:gd name="T34" fmla="*/ 0 w 729"/>
                  <a:gd name="T35" fmla="*/ 0 h 420"/>
                  <a:gd name="T36" fmla="*/ 0 w 729"/>
                  <a:gd name="T37" fmla="*/ 0 h 420"/>
                  <a:gd name="T38" fmla="*/ 0 w 729"/>
                  <a:gd name="T39" fmla="*/ 0 h 420"/>
                  <a:gd name="T40" fmla="*/ 0 w 729"/>
                  <a:gd name="T41" fmla="*/ 0 h 420"/>
                  <a:gd name="T42" fmla="*/ 0 w 729"/>
                  <a:gd name="T43" fmla="*/ 0 h 420"/>
                  <a:gd name="T44" fmla="*/ 0 w 729"/>
                  <a:gd name="T45" fmla="*/ 0 h 420"/>
                  <a:gd name="T46" fmla="*/ 0 w 729"/>
                  <a:gd name="T47" fmla="*/ 0 h 420"/>
                  <a:gd name="T48" fmla="*/ 0 w 729"/>
                  <a:gd name="T49" fmla="*/ 0 h 420"/>
                  <a:gd name="T50" fmla="*/ 0 w 729"/>
                  <a:gd name="T51" fmla="*/ 0 h 4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729"/>
                  <a:gd name="T79" fmla="*/ 0 h 420"/>
                  <a:gd name="T80" fmla="*/ 729 w 729"/>
                  <a:gd name="T81" fmla="*/ 420 h 4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729" h="420">
                    <a:moveTo>
                      <a:pt x="647" y="59"/>
                    </a:moveTo>
                    <a:cubicBezTo>
                      <a:pt x="618" y="22"/>
                      <a:pt x="573" y="68"/>
                      <a:pt x="551" y="68"/>
                    </a:cubicBezTo>
                    <a:cubicBezTo>
                      <a:pt x="529" y="68"/>
                      <a:pt x="537" y="68"/>
                      <a:pt x="512" y="59"/>
                    </a:cubicBezTo>
                    <a:cubicBezTo>
                      <a:pt x="487" y="50"/>
                      <a:pt x="432" y="23"/>
                      <a:pt x="398" y="14"/>
                    </a:cubicBezTo>
                    <a:cubicBezTo>
                      <a:pt x="364" y="5"/>
                      <a:pt x="343" y="0"/>
                      <a:pt x="308" y="2"/>
                    </a:cubicBezTo>
                    <a:cubicBezTo>
                      <a:pt x="273" y="4"/>
                      <a:pt x="218" y="16"/>
                      <a:pt x="188" y="26"/>
                    </a:cubicBezTo>
                    <a:cubicBezTo>
                      <a:pt x="158" y="36"/>
                      <a:pt x="149" y="48"/>
                      <a:pt x="128" y="65"/>
                    </a:cubicBezTo>
                    <a:cubicBezTo>
                      <a:pt x="107" y="82"/>
                      <a:pt x="79" y="114"/>
                      <a:pt x="59" y="128"/>
                    </a:cubicBezTo>
                    <a:cubicBezTo>
                      <a:pt x="39" y="142"/>
                      <a:pt x="21" y="137"/>
                      <a:pt x="11" y="146"/>
                    </a:cubicBezTo>
                    <a:cubicBezTo>
                      <a:pt x="1" y="155"/>
                      <a:pt x="1" y="172"/>
                      <a:pt x="2" y="182"/>
                    </a:cubicBezTo>
                    <a:cubicBezTo>
                      <a:pt x="3" y="192"/>
                      <a:pt x="0" y="205"/>
                      <a:pt x="17" y="209"/>
                    </a:cubicBezTo>
                    <a:cubicBezTo>
                      <a:pt x="34" y="213"/>
                      <a:pt x="75" y="212"/>
                      <a:pt x="104" y="206"/>
                    </a:cubicBezTo>
                    <a:cubicBezTo>
                      <a:pt x="133" y="200"/>
                      <a:pt x="172" y="184"/>
                      <a:pt x="191" y="173"/>
                    </a:cubicBezTo>
                    <a:cubicBezTo>
                      <a:pt x="210" y="162"/>
                      <a:pt x="206" y="145"/>
                      <a:pt x="221" y="137"/>
                    </a:cubicBezTo>
                    <a:cubicBezTo>
                      <a:pt x="236" y="129"/>
                      <a:pt x="263" y="126"/>
                      <a:pt x="281" y="125"/>
                    </a:cubicBezTo>
                    <a:cubicBezTo>
                      <a:pt x="299" y="124"/>
                      <a:pt x="312" y="120"/>
                      <a:pt x="332" y="131"/>
                    </a:cubicBezTo>
                    <a:cubicBezTo>
                      <a:pt x="352" y="142"/>
                      <a:pt x="374" y="170"/>
                      <a:pt x="404" y="194"/>
                    </a:cubicBezTo>
                    <a:cubicBezTo>
                      <a:pt x="434" y="218"/>
                      <a:pt x="485" y="248"/>
                      <a:pt x="512" y="278"/>
                    </a:cubicBezTo>
                    <a:cubicBezTo>
                      <a:pt x="539" y="308"/>
                      <a:pt x="558" y="348"/>
                      <a:pt x="569" y="371"/>
                    </a:cubicBezTo>
                    <a:cubicBezTo>
                      <a:pt x="580" y="394"/>
                      <a:pt x="575" y="412"/>
                      <a:pt x="581" y="416"/>
                    </a:cubicBezTo>
                    <a:cubicBezTo>
                      <a:pt x="587" y="420"/>
                      <a:pt x="595" y="403"/>
                      <a:pt x="605" y="395"/>
                    </a:cubicBezTo>
                    <a:cubicBezTo>
                      <a:pt x="615" y="387"/>
                      <a:pt x="628" y="379"/>
                      <a:pt x="641" y="368"/>
                    </a:cubicBezTo>
                    <a:cubicBezTo>
                      <a:pt x="654" y="357"/>
                      <a:pt x="669" y="336"/>
                      <a:pt x="683" y="329"/>
                    </a:cubicBezTo>
                    <a:cubicBezTo>
                      <a:pt x="697" y="322"/>
                      <a:pt x="721" y="340"/>
                      <a:pt x="725" y="323"/>
                    </a:cubicBezTo>
                    <a:cubicBezTo>
                      <a:pt x="729" y="306"/>
                      <a:pt x="717" y="271"/>
                      <a:pt x="704" y="227"/>
                    </a:cubicBezTo>
                    <a:cubicBezTo>
                      <a:pt x="691" y="183"/>
                      <a:pt x="659" y="94"/>
                      <a:pt x="647" y="59"/>
                    </a:cubicBezTo>
                    <a:close/>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sp>
            <p:nvSpPr>
              <p:cNvPr id="42" name="Rectangle 46"/>
              <p:cNvSpPr>
                <a:spLocks noChangeArrowheads="1"/>
              </p:cNvSpPr>
              <p:nvPr/>
            </p:nvSpPr>
            <p:spPr bwMode="auto">
              <a:xfrm rot="21419544" flipH="1">
                <a:off x="3090" y="3069"/>
                <a:ext cx="82" cy="176"/>
              </a:xfrm>
              <a:prstGeom prst="rect">
                <a:avLst/>
              </a:prstGeom>
              <a:solidFill>
                <a:srgbClr val="FFCC99"/>
              </a:solidFill>
              <a:ln w="12700" algn="ctr">
                <a:solidFill>
                  <a:schemeClr val="bg1"/>
                </a:solidFill>
                <a:miter lim="800000"/>
                <a:headEnd/>
                <a:tailEnd/>
              </a:ln>
            </p:spPr>
            <p:txBody>
              <a:bodyPr lIns="0" tIns="0" rIns="0" bIns="0" anchor="ctr">
                <a:spAutoFit/>
              </a:bodyPr>
              <a:lstStyle/>
              <a:p>
                <a:endParaRPr lang="en-US"/>
              </a:p>
            </p:txBody>
          </p:sp>
          <p:sp>
            <p:nvSpPr>
              <p:cNvPr id="43" name="Rectangle 47"/>
              <p:cNvSpPr>
                <a:spLocks noChangeArrowheads="1"/>
              </p:cNvSpPr>
              <p:nvPr/>
            </p:nvSpPr>
            <p:spPr bwMode="auto">
              <a:xfrm rot="1196180" flipH="1">
                <a:off x="2634" y="3044"/>
                <a:ext cx="82" cy="175"/>
              </a:xfrm>
              <a:prstGeom prst="rect">
                <a:avLst/>
              </a:prstGeom>
              <a:solidFill>
                <a:srgbClr val="FFFF99"/>
              </a:solidFill>
              <a:ln w="12700" algn="ctr">
                <a:solidFill>
                  <a:schemeClr val="bg1"/>
                </a:solidFill>
                <a:miter lim="800000"/>
                <a:headEnd/>
                <a:tailEnd/>
              </a:ln>
            </p:spPr>
            <p:txBody>
              <a:bodyPr lIns="0" tIns="0" rIns="0" bIns="0" anchor="ctr">
                <a:spAutoFit/>
              </a:bodyPr>
              <a:lstStyle/>
              <a:p>
                <a:endParaRPr lang="en-US"/>
              </a:p>
            </p:txBody>
          </p:sp>
          <p:sp>
            <p:nvSpPr>
              <p:cNvPr id="44" name="Oval 48"/>
              <p:cNvSpPr>
                <a:spLocks noChangeArrowheads="1"/>
              </p:cNvSpPr>
              <p:nvPr/>
            </p:nvSpPr>
            <p:spPr bwMode="auto">
              <a:xfrm flipH="1">
                <a:off x="2961" y="3207"/>
                <a:ext cx="50" cy="58"/>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45" name="Oval 49"/>
              <p:cNvSpPr>
                <a:spLocks noChangeArrowheads="1"/>
              </p:cNvSpPr>
              <p:nvPr/>
            </p:nvSpPr>
            <p:spPr bwMode="auto">
              <a:xfrm flipH="1">
                <a:off x="2926" y="3231"/>
                <a:ext cx="47" cy="63"/>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46" name="Oval 50"/>
              <p:cNvSpPr>
                <a:spLocks noChangeArrowheads="1"/>
              </p:cNvSpPr>
              <p:nvPr/>
            </p:nvSpPr>
            <p:spPr bwMode="auto">
              <a:xfrm rot="20190086" flipH="1">
                <a:off x="2882" y="3246"/>
                <a:ext cx="49" cy="62"/>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47" name="Oval 51"/>
              <p:cNvSpPr>
                <a:spLocks noChangeArrowheads="1"/>
              </p:cNvSpPr>
              <p:nvPr/>
            </p:nvSpPr>
            <p:spPr bwMode="auto">
              <a:xfrm rot="18495068" flipH="1">
                <a:off x="2862" y="3266"/>
                <a:ext cx="30" cy="57"/>
              </a:xfrm>
              <a:prstGeom prst="ellipse">
                <a:avLst/>
              </a:prstGeom>
              <a:solidFill>
                <a:srgbClr val="FFFF99"/>
              </a:solidFill>
              <a:ln w="12700" algn="ctr">
                <a:solidFill>
                  <a:schemeClr val="bg1"/>
                </a:solidFill>
                <a:round/>
                <a:headEnd/>
                <a:tailEnd/>
              </a:ln>
            </p:spPr>
            <p:txBody>
              <a:bodyPr lIns="0" tIns="0" rIns="0" bIns="0" anchor="ctr">
                <a:spAutoFit/>
              </a:bodyPr>
              <a:lstStyle/>
              <a:p>
                <a:endParaRPr lang="en-US"/>
              </a:p>
            </p:txBody>
          </p:sp>
          <p:sp>
            <p:nvSpPr>
              <p:cNvPr id="48" name="Freeform 52"/>
              <p:cNvSpPr>
                <a:spLocks/>
              </p:cNvSpPr>
              <p:nvPr/>
            </p:nvSpPr>
            <p:spPr bwMode="auto">
              <a:xfrm flipH="1">
                <a:off x="2769" y="3181"/>
                <a:ext cx="74" cy="50"/>
              </a:xfrm>
              <a:custGeom>
                <a:avLst/>
                <a:gdLst>
                  <a:gd name="T0" fmla="*/ 0 w 180"/>
                  <a:gd name="T1" fmla="*/ 0 h 123"/>
                  <a:gd name="T2" fmla="*/ 0 w 180"/>
                  <a:gd name="T3" fmla="*/ 0 h 123"/>
                  <a:gd name="T4" fmla="*/ 0 w 180"/>
                  <a:gd name="T5" fmla="*/ 0 h 123"/>
                  <a:gd name="T6" fmla="*/ 0 60000 65536"/>
                  <a:gd name="T7" fmla="*/ 0 60000 65536"/>
                  <a:gd name="T8" fmla="*/ 0 60000 65536"/>
                  <a:gd name="T9" fmla="*/ 0 w 180"/>
                  <a:gd name="T10" fmla="*/ 0 h 123"/>
                  <a:gd name="T11" fmla="*/ 180 w 180"/>
                  <a:gd name="T12" fmla="*/ 123 h 123"/>
                </a:gdLst>
                <a:ahLst/>
                <a:cxnLst>
                  <a:cxn ang="T6">
                    <a:pos x="T0" y="T1"/>
                  </a:cxn>
                  <a:cxn ang="T7">
                    <a:pos x="T2" y="T3"/>
                  </a:cxn>
                  <a:cxn ang="T8">
                    <a:pos x="T4" y="T5"/>
                  </a:cxn>
                </a:cxnLst>
                <a:rect l="T9" t="T10" r="T11" b="T12"/>
                <a:pathLst>
                  <a:path w="180" h="123">
                    <a:moveTo>
                      <a:pt x="180" y="123"/>
                    </a:moveTo>
                    <a:cubicBezTo>
                      <a:pt x="153" y="110"/>
                      <a:pt x="126" y="98"/>
                      <a:pt x="96" y="78"/>
                    </a:cubicBezTo>
                    <a:cubicBezTo>
                      <a:pt x="66" y="58"/>
                      <a:pt x="33" y="29"/>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49" name="Freeform 53"/>
              <p:cNvSpPr>
                <a:spLocks/>
              </p:cNvSpPr>
              <p:nvPr/>
            </p:nvSpPr>
            <p:spPr bwMode="auto">
              <a:xfrm flipH="1">
                <a:off x="2789" y="3197"/>
                <a:ext cx="79" cy="60"/>
              </a:xfrm>
              <a:custGeom>
                <a:avLst/>
                <a:gdLst>
                  <a:gd name="T0" fmla="*/ 0 w 189"/>
                  <a:gd name="T1" fmla="*/ 0 h 144"/>
                  <a:gd name="T2" fmla="*/ 0 w 189"/>
                  <a:gd name="T3" fmla="*/ 0 h 144"/>
                  <a:gd name="T4" fmla="*/ 0 w 189"/>
                  <a:gd name="T5" fmla="*/ 0 h 144"/>
                  <a:gd name="T6" fmla="*/ 0 w 189"/>
                  <a:gd name="T7" fmla="*/ 0 h 144"/>
                  <a:gd name="T8" fmla="*/ 0 60000 65536"/>
                  <a:gd name="T9" fmla="*/ 0 60000 65536"/>
                  <a:gd name="T10" fmla="*/ 0 60000 65536"/>
                  <a:gd name="T11" fmla="*/ 0 60000 65536"/>
                  <a:gd name="T12" fmla="*/ 0 w 189"/>
                  <a:gd name="T13" fmla="*/ 0 h 144"/>
                  <a:gd name="T14" fmla="*/ 189 w 189"/>
                  <a:gd name="T15" fmla="*/ 144 h 144"/>
                </a:gdLst>
                <a:ahLst/>
                <a:cxnLst>
                  <a:cxn ang="T8">
                    <a:pos x="T0" y="T1"/>
                  </a:cxn>
                  <a:cxn ang="T9">
                    <a:pos x="T2" y="T3"/>
                  </a:cxn>
                  <a:cxn ang="T10">
                    <a:pos x="T4" y="T5"/>
                  </a:cxn>
                  <a:cxn ang="T11">
                    <a:pos x="T6" y="T7"/>
                  </a:cxn>
                </a:cxnLst>
                <a:rect l="T12" t="T13" r="T14" b="T15"/>
                <a:pathLst>
                  <a:path w="189" h="144">
                    <a:moveTo>
                      <a:pt x="189" y="144"/>
                    </a:moveTo>
                    <a:cubicBezTo>
                      <a:pt x="171" y="141"/>
                      <a:pt x="154" y="139"/>
                      <a:pt x="135" y="129"/>
                    </a:cubicBezTo>
                    <a:cubicBezTo>
                      <a:pt x="116" y="119"/>
                      <a:pt x="97" y="105"/>
                      <a:pt x="75" y="84"/>
                    </a:cubicBezTo>
                    <a:cubicBezTo>
                      <a:pt x="53" y="63"/>
                      <a:pt x="26" y="31"/>
                      <a:pt x="0" y="0"/>
                    </a:cubicBezTo>
                  </a:path>
                </a:pathLst>
              </a:custGeom>
              <a:noFill/>
              <a:ln w="12700">
                <a:solidFill>
                  <a:schemeClr val="bg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50" name="Freeform 54"/>
              <p:cNvSpPr>
                <a:spLocks/>
              </p:cNvSpPr>
              <p:nvPr/>
            </p:nvSpPr>
            <p:spPr bwMode="auto">
              <a:xfrm flipH="1">
                <a:off x="2820" y="3220"/>
                <a:ext cx="75" cy="58"/>
              </a:xfrm>
              <a:custGeom>
                <a:avLst/>
                <a:gdLst>
                  <a:gd name="T0" fmla="*/ 0 w 183"/>
                  <a:gd name="T1" fmla="*/ 0 h 141"/>
                  <a:gd name="T2" fmla="*/ 0 w 183"/>
                  <a:gd name="T3" fmla="*/ 0 h 141"/>
                  <a:gd name="T4" fmla="*/ 0 w 183"/>
                  <a:gd name="T5" fmla="*/ 0 h 141"/>
                  <a:gd name="T6" fmla="*/ 0 w 183"/>
                  <a:gd name="T7" fmla="*/ 0 h 141"/>
                  <a:gd name="T8" fmla="*/ 0 60000 65536"/>
                  <a:gd name="T9" fmla="*/ 0 60000 65536"/>
                  <a:gd name="T10" fmla="*/ 0 60000 65536"/>
                  <a:gd name="T11" fmla="*/ 0 60000 65536"/>
                  <a:gd name="T12" fmla="*/ 0 w 183"/>
                  <a:gd name="T13" fmla="*/ 0 h 141"/>
                  <a:gd name="T14" fmla="*/ 183 w 183"/>
                  <a:gd name="T15" fmla="*/ 141 h 141"/>
                </a:gdLst>
                <a:ahLst/>
                <a:cxnLst>
                  <a:cxn ang="T8">
                    <a:pos x="T0" y="T1"/>
                  </a:cxn>
                  <a:cxn ang="T9">
                    <a:pos x="T2" y="T3"/>
                  </a:cxn>
                  <a:cxn ang="T10">
                    <a:pos x="T4" y="T5"/>
                  </a:cxn>
                  <a:cxn ang="T11">
                    <a:pos x="T6" y="T7"/>
                  </a:cxn>
                </a:cxnLst>
                <a:rect l="T12" t="T13" r="T14" b="T15"/>
                <a:pathLst>
                  <a:path w="183" h="141">
                    <a:moveTo>
                      <a:pt x="183" y="141"/>
                    </a:moveTo>
                    <a:cubicBezTo>
                      <a:pt x="161" y="134"/>
                      <a:pt x="140" y="127"/>
                      <a:pt x="120" y="114"/>
                    </a:cubicBezTo>
                    <a:cubicBezTo>
                      <a:pt x="100" y="101"/>
                      <a:pt x="83" y="82"/>
                      <a:pt x="63" y="63"/>
                    </a:cubicBezTo>
                    <a:cubicBezTo>
                      <a:pt x="43" y="44"/>
                      <a:pt x="21" y="22"/>
                      <a:pt x="0" y="0"/>
                    </a:cubicBezTo>
                  </a:path>
                </a:pathLst>
              </a:custGeom>
              <a:solidFill>
                <a:srgbClr val="FFFF99"/>
              </a:solidFill>
              <a:ln w="12700">
                <a:solidFill>
                  <a:schemeClr val="bg1"/>
                </a:solidFill>
                <a:round/>
                <a:headEnd/>
                <a:tailEnd/>
              </a:ln>
            </p:spPr>
            <p:txBody>
              <a:bodyPr wrap="none" lIns="0" tIns="0" rIns="0" bIns="0" anchor="ctr">
                <a:spAutoFit/>
              </a:bodyPr>
              <a:lstStyle/>
              <a:p>
                <a:endParaRPr lang="en-US"/>
              </a:p>
            </p:txBody>
          </p:sp>
        </p:grpSp>
      </p:grpSp>
      <p:sp>
        <p:nvSpPr>
          <p:cNvPr id="32"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smtClean="0"/>
              <a:t>in PolicyCenter</a:t>
            </a:r>
            <a:endParaRPr lang="en-US" dirty="0"/>
          </a:p>
        </p:txBody>
      </p:sp>
    </p:spTree>
    <p:extLst>
      <p:ext uri="{BB962C8B-B14F-4D97-AF65-F5344CB8AC3E}">
        <p14:creationId xmlns:p14="http://schemas.microsoft.com/office/powerpoint/2010/main" val="1688663080"/>
      </p:ext>
    </p:extLst>
  </p:cSld>
  <p:clrMapOvr>
    <a:masterClrMapping/>
  </p:clrMapOvr>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Viewing billing information for a policy</a:t>
            </a:r>
            <a:br>
              <a:rPr lang="en-US" dirty="0"/>
            </a:br>
            <a:endParaRPr lang="en-US" dirty="0"/>
          </a:p>
        </p:txBody>
      </p:sp>
      <p:sp>
        <p:nvSpPr>
          <p:cNvPr id="4" name="Content Placeholder 3"/>
          <p:cNvSpPr>
            <a:spLocks noGrp="1"/>
          </p:cNvSpPr>
          <p:nvPr>
            <p:ph sz="half" idx="2"/>
          </p:nvPr>
        </p:nvSpPr>
        <p:spPr>
          <a:xfrm>
            <a:off x="6248399" y="914401"/>
            <a:ext cx="2589213" cy="5475289"/>
          </a:xfrm>
        </p:spPr>
        <p:txBody>
          <a:bodyPr/>
          <a:lstStyle/>
          <a:p>
            <a:r>
              <a:rPr lang="en-US" dirty="0"/>
              <a:t>"View In BillingCenter" is exit </a:t>
            </a:r>
            <a:r>
              <a:rPr lang="en-US" dirty="0" smtClean="0"/>
              <a:t>point</a:t>
            </a:r>
          </a:p>
          <a:p>
            <a:pPr lvl="1"/>
            <a:r>
              <a:rPr lang="en-US" dirty="0"/>
              <a:t>Button appears </a:t>
            </a:r>
            <a:br>
              <a:rPr lang="en-US" dirty="0"/>
            </a:br>
            <a:r>
              <a:rPr lang="en-US" dirty="0"/>
              <a:t>for users that have view billing system permissions</a:t>
            </a:r>
          </a:p>
          <a:p>
            <a:r>
              <a:rPr lang="en-US" dirty="0" smtClean="0"/>
              <a:t>Allows </a:t>
            </a:r>
            <a:r>
              <a:rPr lang="en-US" dirty="0"/>
              <a:t>direct access to </a:t>
            </a:r>
            <a:r>
              <a:rPr lang="en-US" dirty="0" err="1"/>
              <a:t>detailied</a:t>
            </a:r>
            <a:r>
              <a:rPr lang="en-US" dirty="0"/>
              <a:t> billing information in BillingCenter</a:t>
            </a:r>
          </a:p>
          <a:p>
            <a:endParaRPr lang="en-US" dirty="0"/>
          </a:p>
        </p:txBody>
      </p:sp>
      <p:pic>
        <p:nvPicPr>
          <p:cNvPr id="1027" name="Picture 3"/>
          <p:cNvPicPr>
            <a:picLocks noChangeAspect="1" noChangeArrowheads="1"/>
          </p:cNvPicPr>
          <p:nvPr/>
        </p:nvPicPr>
        <p:blipFill>
          <a:blip r:embed="rId3">
            <a:extLst>
              <a:ext uri="{BEBA8EAE-BF5A-486C-A8C5-ECC9F3942E4B}">
                <a14:imgProps xmlns:a14="http://schemas.microsoft.com/office/drawing/2010/main">
                  <a14:imgLayer r:embed="rId4">
                    <a14:imgEffect>
                      <a14:sharpenSoften amount="15000"/>
                    </a14:imgEffect>
                    <a14:imgEffect>
                      <a14:brightnessContrast bright="-10000" contrast="15000"/>
                    </a14:imgEffect>
                  </a14:imgLayer>
                </a14:imgProps>
              </a:ext>
              <a:ext uri="{28A0092B-C50C-407E-A947-70E740481C1C}">
                <a14:useLocalDpi xmlns:a14="http://schemas.microsoft.com/office/drawing/2010/main" val="0"/>
              </a:ext>
            </a:extLst>
          </a:blip>
          <a:srcRect/>
          <a:stretch>
            <a:fillRect/>
          </a:stretch>
        </p:blipFill>
        <p:spPr bwMode="auto">
          <a:xfrm>
            <a:off x="199878" y="1298053"/>
            <a:ext cx="5896122" cy="4569347"/>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scene3d>
            <a:camera prst="perspectiveContrastingRightFacing"/>
            <a:lightRig rig="threePt" dir="t"/>
          </a:scene3d>
          <a:extLst>
            <a:ext uri="{909E8E84-426E-40DD-AFC4-6F175D3DCCD1}">
              <a14:hiddenFill xmlns:a14="http://schemas.microsoft.com/office/drawing/2010/main">
                <a:solidFill>
                  <a:schemeClr val="accent1"/>
                </a:solidFill>
              </a14:hiddenFill>
            </a:ext>
          </a:extLst>
        </p:spPr>
      </p:pic>
      <p:pic>
        <p:nvPicPr>
          <p:cNvPr id="7" name="Picture 6"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72000" y="975360"/>
            <a:ext cx="565862" cy="548640"/>
          </a:xfrm>
          <a:prstGeom prst="rect">
            <a:avLst/>
          </a:prstGeom>
          <a:effectLst>
            <a:outerShdw blurRad="50800" dist="38100" dir="2700000" algn="tl" rotWithShape="0">
              <a:prstClr val="black">
                <a:alpha val="40000"/>
              </a:prstClr>
            </a:outerShdw>
          </a:effectLst>
        </p:spPr>
      </p:pic>
      <p:pic>
        <p:nvPicPr>
          <p:cNvPr id="1028"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2784736"/>
            <a:ext cx="3798771" cy="369226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9" name="Picture 8"/>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5519286" y="5962850"/>
            <a:ext cx="565485" cy="548640"/>
          </a:xfrm>
          <a:prstGeom prst="rect">
            <a:avLst/>
          </a:prstGeom>
          <a:effectLst>
            <a:outerShdw blurRad="50800" dist="38100" dir="2700000" algn="tl" rotWithShape="0">
              <a:prstClr val="black">
                <a:alpha val="40000"/>
              </a:prstClr>
            </a:outerShdw>
          </a:effectLst>
        </p:spPr>
      </p:pic>
      <p:sp>
        <p:nvSpPr>
          <p:cNvPr id="8" name="Rounded Rectangle 7"/>
          <p:cNvSpPr/>
          <p:nvPr/>
        </p:nvSpPr>
        <p:spPr bwMode="auto">
          <a:xfrm rot="180000">
            <a:off x="1707374" y="2278081"/>
            <a:ext cx="1407064" cy="331960"/>
          </a:xfrm>
          <a:prstGeom prst="roundRect">
            <a:avLst/>
          </a:prstGeom>
          <a:noFill/>
          <a:ln w="28575" algn="ctr">
            <a:solidFill>
              <a:schemeClr val="accent1">
                <a:lumMod val="75000"/>
              </a:schemeClr>
            </a:solidFill>
            <a:round/>
            <a:headEnd/>
            <a:tailEnd/>
          </a:ln>
          <a:effectLst>
            <a:outerShdw blurRad="50800" dist="38100" dir="8100000" algn="tr" rotWithShape="0">
              <a:prstClr val="black">
                <a:alpha val="40000"/>
              </a:prstClr>
            </a:outerShdw>
          </a:effectLst>
          <a:scene3d>
            <a:camera prst="perspectiveContrastingRightFacing"/>
            <a:lightRig rig="threePt" dir="t"/>
          </a:scene3d>
        </p:spPr>
        <p:txBody>
          <a:bodyPr wrap="none" lIns="0" tIns="0" rIns="0" bIns="0" rtlCol="0" anchor="ctr">
            <a:noAutofit/>
          </a:bodyPr>
          <a:lstStyle/>
          <a:p>
            <a:pPr algn="ctr">
              <a:spcBef>
                <a:spcPct val="50000"/>
              </a:spcBef>
              <a:spcAft>
                <a:spcPct val="30000"/>
              </a:spcAft>
              <a:buClr>
                <a:schemeClr val="tx1"/>
              </a:buClr>
            </a:pPr>
            <a:endParaRPr lang="en-US"/>
          </a:p>
        </p:txBody>
      </p:sp>
      <p:grpSp>
        <p:nvGrpSpPr>
          <p:cNvPr id="10" name="Group 6"/>
          <p:cNvGrpSpPr>
            <a:grpSpLocks/>
          </p:cNvGrpSpPr>
          <p:nvPr/>
        </p:nvGrpSpPr>
        <p:grpSpPr bwMode="auto">
          <a:xfrm>
            <a:off x="6553200" y="5715000"/>
            <a:ext cx="661987" cy="704850"/>
            <a:chOff x="7441660" y="928255"/>
            <a:chExt cx="848840" cy="904906"/>
          </a:xfrm>
          <a:effectLst>
            <a:outerShdw blurRad="50800" dist="38100" dir="2700000" algn="tl" rotWithShape="0">
              <a:prstClr val="black">
                <a:alpha val="40000"/>
              </a:prstClr>
            </a:outerShdw>
          </a:effectLst>
        </p:grpSpPr>
        <p:sp>
          <p:nvSpPr>
            <p:cNvPr id="11" name="AutoShape 156"/>
            <p:cNvSpPr>
              <a:spLocks noChangeArrowheads="1"/>
            </p:cNvSpPr>
            <p:nvPr/>
          </p:nvSpPr>
          <p:spPr bwMode="auto">
            <a:xfrm>
              <a:off x="7441660" y="928255"/>
              <a:ext cx="637867" cy="65094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2" name="Group 157"/>
            <p:cNvGrpSpPr>
              <a:grpSpLocks/>
            </p:cNvGrpSpPr>
            <p:nvPr/>
          </p:nvGrpSpPr>
          <p:grpSpPr bwMode="auto">
            <a:xfrm>
              <a:off x="7896855" y="1389421"/>
              <a:ext cx="393645" cy="443740"/>
              <a:chOff x="2768" y="2267"/>
              <a:chExt cx="624" cy="704"/>
            </a:xfrm>
          </p:grpSpPr>
          <p:sp>
            <p:nvSpPr>
              <p:cNvPr id="13" name="AutoShape 158"/>
              <p:cNvSpPr>
                <a:spLocks noChangeArrowheads="1"/>
              </p:cNvSpPr>
              <p:nvPr/>
            </p:nvSpPr>
            <p:spPr bwMode="auto">
              <a:xfrm rot="-5400000">
                <a:off x="2728" y="2307"/>
                <a:ext cx="704" cy="624"/>
              </a:xfrm>
              <a:prstGeom prst="foldedCorner">
                <a:avLst>
                  <a:gd name="adj" fmla="val 20287"/>
                </a:avLst>
              </a:pr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4" name="Freeform 159"/>
              <p:cNvSpPr>
                <a:spLocks/>
              </p:cNvSpPr>
              <p:nvPr/>
            </p:nvSpPr>
            <p:spPr bwMode="auto">
              <a:xfrm>
                <a:off x="2847" y="2357"/>
                <a:ext cx="153" cy="198"/>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sp>
            <p:nvSpPr>
              <p:cNvPr id="15" name="Freeform 160"/>
              <p:cNvSpPr>
                <a:spLocks/>
              </p:cNvSpPr>
              <p:nvPr/>
            </p:nvSpPr>
            <p:spPr bwMode="auto">
              <a:xfrm>
                <a:off x="2847" y="2648"/>
                <a:ext cx="153" cy="196"/>
              </a:xfrm>
              <a:custGeom>
                <a:avLst/>
                <a:gdLst>
                  <a:gd name="T0" fmla="*/ 0 w 1052"/>
                  <a:gd name="T1" fmla="*/ 0 h 1352"/>
                  <a:gd name="T2" fmla="*/ 0 w 1052"/>
                  <a:gd name="T3" fmla="*/ 0 h 1352"/>
                  <a:gd name="T4" fmla="*/ 0 w 1052"/>
                  <a:gd name="T5" fmla="*/ 0 h 1352"/>
                  <a:gd name="T6" fmla="*/ 0 w 1052"/>
                  <a:gd name="T7" fmla="*/ 0 h 1352"/>
                  <a:gd name="T8" fmla="*/ 0 w 1052"/>
                  <a:gd name="T9" fmla="*/ 0 h 1352"/>
                  <a:gd name="T10" fmla="*/ 0 w 1052"/>
                  <a:gd name="T11" fmla="*/ 0 h 1352"/>
                  <a:gd name="T12" fmla="*/ 0 w 1052"/>
                  <a:gd name="T13" fmla="*/ 0 h 1352"/>
                  <a:gd name="T14" fmla="*/ 0 w 1052"/>
                  <a:gd name="T15" fmla="*/ 0 h 1352"/>
                  <a:gd name="T16" fmla="*/ 0 w 1052"/>
                  <a:gd name="T17" fmla="*/ 0 h 1352"/>
                  <a:gd name="T18" fmla="*/ 0 w 1052"/>
                  <a:gd name="T19" fmla="*/ 0 h 1352"/>
                  <a:gd name="T20" fmla="*/ 0 w 1052"/>
                  <a:gd name="T21" fmla="*/ 0 h 1352"/>
                  <a:gd name="T22" fmla="*/ 0 w 1052"/>
                  <a:gd name="T23" fmla="*/ 0 h 1352"/>
                  <a:gd name="T24" fmla="*/ 0 w 1052"/>
                  <a:gd name="T25" fmla="*/ 0 h 1352"/>
                  <a:gd name="T26" fmla="*/ 0 w 1052"/>
                  <a:gd name="T27" fmla="*/ 0 h 1352"/>
                  <a:gd name="T28" fmla="*/ 0 w 1052"/>
                  <a:gd name="T29" fmla="*/ 0 h 1352"/>
                  <a:gd name="T30" fmla="*/ 0 w 1052"/>
                  <a:gd name="T31" fmla="*/ 0 h 1352"/>
                  <a:gd name="T32" fmla="*/ 0 w 1052"/>
                  <a:gd name="T33" fmla="*/ 0 h 1352"/>
                  <a:gd name="T34" fmla="*/ 0 w 1052"/>
                  <a:gd name="T35" fmla="*/ 0 h 135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2"/>
                  <a:gd name="T55" fmla="*/ 0 h 1352"/>
                  <a:gd name="T56" fmla="*/ 1052 w 1052"/>
                  <a:gd name="T57" fmla="*/ 1352 h 135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2" h="1352">
                    <a:moveTo>
                      <a:pt x="534" y="1352"/>
                    </a:moveTo>
                    <a:lnTo>
                      <a:pt x="300" y="1168"/>
                    </a:lnTo>
                    <a:lnTo>
                      <a:pt x="100" y="893"/>
                    </a:lnTo>
                    <a:lnTo>
                      <a:pt x="16" y="609"/>
                    </a:lnTo>
                    <a:lnTo>
                      <a:pt x="0" y="308"/>
                    </a:lnTo>
                    <a:lnTo>
                      <a:pt x="0" y="83"/>
                    </a:lnTo>
                    <a:lnTo>
                      <a:pt x="100" y="116"/>
                    </a:lnTo>
                    <a:lnTo>
                      <a:pt x="275" y="116"/>
                    </a:lnTo>
                    <a:lnTo>
                      <a:pt x="392" y="91"/>
                    </a:lnTo>
                    <a:lnTo>
                      <a:pt x="534" y="0"/>
                    </a:lnTo>
                    <a:lnTo>
                      <a:pt x="643" y="66"/>
                    </a:lnTo>
                    <a:lnTo>
                      <a:pt x="810" y="125"/>
                    </a:lnTo>
                    <a:lnTo>
                      <a:pt x="1052" y="91"/>
                    </a:lnTo>
                    <a:lnTo>
                      <a:pt x="1043" y="567"/>
                    </a:lnTo>
                    <a:lnTo>
                      <a:pt x="1010" y="759"/>
                    </a:lnTo>
                    <a:lnTo>
                      <a:pt x="893" y="1010"/>
                    </a:lnTo>
                    <a:lnTo>
                      <a:pt x="676" y="1243"/>
                    </a:lnTo>
                    <a:lnTo>
                      <a:pt x="534" y="1352"/>
                    </a:lnTo>
                    <a:close/>
                  </a:path>
                </a:pathLst>
              </a:custGeom>
              <a:solidFill>
                <a:srgbClr val="FFFF99"/>
              </a:solidFill>
              <a:ln>
                <a:noFill/>
              </a:ln>
              <a:extLst>
                <a:ext uri="{91240B29-F687-4F45-9708-019B960494DF}">
                  <a14:hiddenLine xmlns:a14="http://schemas.microsoft.com/office/drawing/2010/main" w="12700">
                    <a:solidFill>
                      <a:srgbClr val="000000"/>
                    </a:solidFill>
                    <a:round/>
                    <a:headEnd/>
                    <a:tailEnd/>
                  </a14:hiddenLine>
                </a:ext>
              </a:extLst>
            </p:spPr>
            <p:txBody>
              <a:bodyPr wrap="none" anchor="ctr"/>
              <a:lstStyle/>
              <a:p>
                <a:endParaRPr lang="en-US"/>
              </a:p>
            </p:txBody>
          </p:sp>
          <p:grpSp>
            <p:nvGrpSpPr>
              <p:cNvPr id="16" name="Group 161"/>
              <p:cNvGrpSpPr>
                <a:grpSpLocks/>
              </p:cNvGrpSpPr>
              <p:nvPr/>
            </p:nvGrpSpPr>
            <p:grpSpPr bwMode="auto">
              <a:xfrm>
                <a:off x="3136" y="2620"/>
                <a:ext cx="231" cy="343"/>
                <a:chOff x="2784" y="3210"/>
                <a:chExt cx="523" cy="772"/>
              </a:xfrm>
            </p:grpSpPr>
            <p:sp>
              <p:nvSpPr>
                <p:cNvPr id="17" name="AutoShape 162"/>
                <p:cNvSpPr>
                  <a:spLocks noChangeArrowheads="1"/>
                </p:cNvSpPr>
                <p:nvPr/>
              </p:nvSpPr>
              <p:spPr bwMode="auto">
                <a:xfrm rot="16736225" flipH="1">
                  <a:off x="2714" y="3670"/>
                  <a:ext cx="487" cy="138"/>
                </a:xfrm>
                <a:prstGeom prst="parallelogram">
                  <a:avLst>
                    <a:gd name="adj" fmla="val 88225"/>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8" name="AutoShape 163"/>
                <p:cNvSpPr>
                  <a:spLocks noChangeArrowheads="1"/>
                </p:cNvSpPr>
                <p:nvPr/>
              </p:nvSpPr>
              <p:spPr bwMode="auto">
                <a:xfrm rot="4863775">
                  <a:off x="2853" y="3662"/>
                  <a:ext cx="501" cy="128"/>
                </a:xfrm>
                <a:prstGeom prst="parallelogram">
                  <a:avLst>
                    <a:gd name="adj" fmla="val 97852"/>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19" name="AutoShape 164"/>
                <p:cNvSpPr>
                  <a:spLocks noChangeArrowheads="1"/>
                </p:cNvSpPr>
                <p:nvPr/>
              </p:nvSpPr>
              <p:spPr bwMode="auto">
                <a:xfrm>
                  <a:off x="2784" y="3210"/>
                  <a:ext cx="523" cy="523"/>
                </a:xfrm>
                <a:prstGeom prst="star16">
                  <a:avLst>
                    <a:gd name="adj" fmla="val 37500"/>
                  </a:avLst>
                </a:prstGeom>
                <a:solidFill>
                  <a:srgbClr val="FFFF99"/>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endParaRPr lang="en-US"/>
                </a:p>
              </p:txBody>
            </p:sp>
            <p:sp>
              <p:nvSpPr>
                <p:cNvPr id="20" name="Oval 165"/>
                <p:cNvSpPr>
                  <a:spLocks noChangeArrowheads="1"/>
                </p:cNvSpPr>
                <p:nvPr/>
              </p:nvSpPr>
              <p:spPr bwMode="auto">
                <a:xfrm>
                  <a:off x="2880" y="3307"/>
                  <a:ext cx="320" cy="320"/>
                </a:xfrm>
                <a:prstGeom prst="ellipse">
                  <a:avLst/>
                </a:prstGeom>
                <a:solidFill>
                  <a:srgbClr val="FFFF99"/>
                </a:solidFill>
                <a:ln>
                  <a:noFill/>
                </a:ln>
                <a:extLst>
                  <a:ext uri="{91240B29-F687-4F45-9708-019B960494DF}">
                    <a14:hiddenLine xmlns:a14="http://schemas.microsoft.com/office/drawing/2010/main" w="12700" algn="ctr">
                      <a:solidFill>
                        <a:srgbClr val="000000"/>
                      </a:solidFill>
                      <a:round/>
                      <a:headEnd/>
                      <a:tailEnd/>
                    </a14:hiddenLine>
                  </a:ext>
                </a:extLst>
              </p:spPr>
              <p:txBody>
                <a:bodyPr wrap="none" anchor="ctr"/>
                <a:lstStyle/>
                <a:p>
                  <a:endParaRPr lang="en-US"/>
                </a:p>
              </p:txBody>
            </p:sp>
          </p:grpSp>
        </p:grpSp>
      </p:grpSp>
      <p:sp>
        <p:nvSpPr>
          <p:cNvPr id="21"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through an exit point to BillingCenter</a:t>
            </a:r>
          </a:p>
        </p:txBody>
      </p:sp>
    </p:spTree>
    <p:extLst>
      <p:ext uri="{BB962C8B-B14F-4D97-AF65-F5344CB8AC3E}">
        <p14:creationId xmlns:p14="http://schemas.microsoft.com/office/powerpoint/2010/main" val="2522178738"/>
      </p:ext>
    </p:extLst>
  </p:cSld>
  <p:clrMapOvr>
    <a:masterClrMapping/>
  </p:clrMapOvr>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p:txBody>
          <a:bodyPr/>
          <a:lstStyle/>
          <a:p>
            <a:r>
              <a:rPr lang="en-US" dirty="0"/>
              <a:t>How does viewing billing data work?</a:t>
            </a:r>
          </a:p>
        </p:txBody>
      </p:sp>
      <p:sp>
        <p:nvSpPr>
          <p:cNvPr id="5" name="Rounded Rectangle 4"/>
          <p:cNvSpPr/>
          <p:nvPr/>
        </p:nvSpPr>
        <p:spPr bwMode="auto">
          <a:xfrm>
            <a:off x="6324600" y="1371600"/>
            <a:ext cx="2560320" cy="5105400"/>
          </a:xfrm>
          <a:prstGeom prst="roundRect">
            <a:avLst>
              <a:gd name="adj" fmla="val 5270"/>
            </a:avLst>
          </a:prstGeom>
          <a:solidFill>
            <a:schemeClr val="accent4">
              <a:lumMod val="20000"/>
              <a:lumOff val="8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ounded Rectangle 5"/>
          <p:cNvSpPr/>
          <p:nvPr/>
        </p:nvSpPr>
        <p:spPr bwMode="auto">
          <a:xfrm>
            <a:off x="533400" y="1371600"/>
            <a:ext cx="5181600" cy="5105400"/>
          </a:xfrm>
          <a:prstGeom prst="roundRect">
            <a:avLst>
              <a:gd name="adj" fmla="val 2845"/>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315" y="895350"/>
            <a:ext cx="565485" cy="548640"/>
          </a:xfrm>
          <a:prstGeom prst="rect">
            <a:avLst/>
          </a:prstGeom>
          <a:effectLst>
            <a:outerShdw blurRad="50800" dist="38100" dir="2700000" algn="tl" rotWithShape="0">
              <a:prstClr val="black">
                <a:alpha val="40000"/>
              </a:prstClr>
            </a:outerShdw>
          </a:effectLst>
        </p:spPr>
      </p:pic>
      <p:pic>
        <p:nvPicPr>
          <p:cNvPr id="12" name="icn Plugin Gosu"/>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4462" y="3045400"/>
            <a:ext cx="1268492" cy="13742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4" name="icon GWP file"/>
          <p:cNvGrpSpPr/>
          <p:nvPr/>
        </p:nvGrpSpPr>
        <p:grpSpPr>
          <a:xfrm>
            <a:off x="815050" y="3045400"/>
            <a:ext cx="893396" cy="1103661"/>
            <a:chOff x="4592771" y="2146900"/>
            <a:chExt cx="1125708" cy="1390650"/>
          </a:xfrm>
        </p:grpSpPr>
        <p:pic>
          <p:nvPicPr>
            <p:cNvPr id="15"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6"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18"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19"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20"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21"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sp>
          <p:nvSpPr>
            <p:cNvPr id="17" name="TextBox 16"/>
            <p:cNvSpPr txBox="1"/>
            <p:nvPr/>
          </p:nvSpPr>
          <p:spPr>
            <a:xfrm>
              <a:off x="4758824" y="3097051"/>
              <a:ext cx="843636" cy="328617"/>
            </a:xfrm>
            <a:prstGeom prst="rect">
              <a:avLst/>
            </a:prstGeom>
            <a:noFill/>
          </p:spPr>
          <p:txBody>
            <a:bodyPr wrap="square" rtlCol="0">
              <a:noAutofit/>
            </a:bodyPr>
            <a:lstStyle/>
            <a:p>
              <a:pPr algn="ctr"/>
              <a:r>
                <a:rPr lang="en-US" sz="1600" b="1" dirty="0" smtClean="0">
                  <a:solidFill>
                    <a:schemeClr val="bg2"/>
                  </a:solidFill>
                  <a:latin typeface="Arial" pitchFamily="32" charset="0"/>
                  <a:cs typeface="Arial" pitchFamily="32" charset="0"/>
                </a:rPr>
                <a:t>GWP</a:t>
              </a:r>
            </a:p>
          </p:txBody>
        </p:sp>
      </p:grpSp>
      <p:pic>
        <p:nvPicPr>
          <p:cNvPr id="22"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87062" y="3045400"/>
            <a:ext cx="1299338" cy="10663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7" name="Picture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17605" y="3045400"/>
            <a:ext cx="1164906" cy="124434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8" name="TextBox 87"/>
          <p:cNvSpPr txBox="1">
            <a:spLocks noChangeArrowheads="1"/>
          </p:cNvSpPr>
          <p:nvPr/>
        </p:nvSpPr>
        <p:spPr bwMode="auto">
          <a:xfrm>
            <a:off x="6535409" y="4273550"/>
            <a:ext cx="154179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Billing</a:t>
            </a:r>
            <a:br>
              <a:rPr lang="en-US" sz="1600" smtClean="0">
                <a:solidFill>
                  <a:schemeClr val="bg1"/>
                </a:solidFill>
                <a:latin typeface="+mn-lt"/>
              </a:rPr>
            </a:br>
            <a:r>
              <a:rPr lang="en-US" sz="1600" smtClean="0">
                <a:solidFill>
                  <a:schemeClr val="bg1"/>
                </a:solidFill>
                <a:latin typeface="+mn-lt"/>
              </a:rPr>
              <a:t>Summary</a:t>
            </a:r>
            <a:r>
              <a:rPr lang="en-US" sz="1600">
                <a:solidFill>
                  <a:schemeClr val="bg1"/>
                </a:solidFill>
                <a:latin typeface="+mn-lt"/>
              </a:rPr>
              <a:t/>
            </a:r>
            <a:br>
              <a:rPr lang="en-US" sz="1600">
                <a:solidFill>
                  <a:schemeClr val="bg1"/>
                </a:solidFill>
                <a:latin typeface="+mn-lt"/>
              </a:rPr>
            </a:br>
            <a:r>
              <a:rPr lang="en-US" sz="1600">
                <a:solidFill>
                  <a:schemeClr val="bg1"/>
                </a:solidFill>
                <a:latin typeface="+mn-lt"/>
              </a:rPr>
              <a:t>API</a:t>
            </a:r>
          </a:p>
        </p:txBody>
      </p:sp>
      <p:sp>
        <p:nvSpPr>
          <p:cNvPr id="29" name="TextBox 84"/>
          <p:cNvSpPr txBox="1">
            <a:spLocks noChangeArrowheads="1"/>
          </p:cNvSpPr>
          <p:nvPr/>
        </p:nvSpPr>
        <p:spPr bwMode="auto">
          <a:xfrm>
            <a:off x="615173" y="4273550"/>
            <a:ext cx="1346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dirty="0" err="1">
                <a:solidFill>
                  <a:schemeClr val="bg1"/>
                </a:solidFill>
                <a:latin typeface="+mn-lt"/>
              </a:rPr>
              <a:t>IBilling</a:t>
            </a:r>
            <a:r>
              <a:rPr lang="en-US" sz="1600" dirty="0">
                <a:solidFill>
                  <a:schemeClr val="bg1"/>
                </a:solidFill>
                <a:latin typeface="+mn-lt"/>
              </a:rPr>
              <a:t/>
            </a:r>
            <a:br>
              <a:rPr lang="en-US" sz="1600" dirty="0">
                <a:solidFill>
                  <a:schemeClr val="bg1"/>
                </a:solidFill>
                <a:latin typeface="+mn-lt"/>
              </a:rPr>
            </a:br>
            <a:r>
              <a:rPr lang="en-US" sz="1600" dirty="0" smtClean="0">
                <a:solidFill>
                  <a:schemeClr val="bg1"/>
                </a:solidFill>
                <a:latin typeface="+mn-lt"/>
              </a:rPr>
              <a:t>Summary</a:t>
            </a:r>
            <a:br>
              <a:rPr lang="en-US" sz="1600" dirty="0" smtClean="0">
                <a:solidFill>
                  <a:schemeClr val="bg1"/>
                </a:solidFill>
                <a:latin typeface="+mn-lt"/>
              </a:rPr>
            </a:br>
            <a:r>
              <a:rPr lang="en-US" sz="1600" dirty="0" smtClean="0">
                <a:solidFill>
                  <a:schemeClr val="bg1"/>
                </a:solidFill>
                <a:latin typeface="+mn-lt"/>
              </a:rPr>
              <a:t>Plugin</a:t>
            </a:r>
            <a:endParaRPr lang="en-US" sz="1600" dirty="0">
              <a:solidFill>
                <a:schemeClr val="bg1"/>
              </a:solidFill>
              <a:latin typeface="+mn-lt"/>
            </a:endParaRPr>
          </a:p>
        </p:txBody>
      </p:sp>
      <p:sp>
        <p:nvSpPr>
          <p:cNvPr id="30" name="TextBox 85"/>
          <p:cNvSpPr txBox="1">
            <a:spLocks noChangeArrowheads="1"/>
          </p:cNvSpPr>
          <p:nvPr/>
        </p:nvSpPr>
        <p:spPr bwMode="auto">
          <a:xfrm>
            <a:off x="2110907" y="4270547"/>
            <a:ext cx="187642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BCBilling</a:t>
            </a:r>
            <a:br>
              <a:rPr lang="en-US" sz="1600">
                <a:solidFill>
                  <a:schemeClr val="bg1"/>
                </a:solidFill>
                <a:latin typeface="+mn-lt"/>
              </a:rPr>
            </a:br>
            <a:r>
              <a:rPr lang="en-US" sz="1600" smtClean="0">
                <a:solidFill>
                  <a:schemeClr val="bg1"/>
                </a:solidFill>
                <a:latin typeface="+mn-lt"/>
              </a:rPr>
              <a:t>Summary</a:t>
            </a:r>
            <a:br>
              <a:rPr lang="en-US" sz="1600" smtClean="0">
                <a:solidFill>
                  <a:schemeClr val="bg1"/>
                </a:solidFill>
                <a:latin typeface="+mn-lt"/>
              </a:rPr>
            </a:br>
            <a:r>
              <a:rPr lang="en-US" sz="1600" smtClean="0">
                <a:solidFill>
                  <a:schemeClr val="bg1"/>
                </a:solidFill>
                <a:latin typeface="+mn-lt"/>
              </a:rPr>
              <a:t>Plugin</a:t>
            </a:r>
            <a:endParaRPr lang="en-US" sz="1600">
              <a:solidFill>
                <a:schemeClr val="bg1"/>
              </a:solidFill>
              <a:latin typeface="+mn-lt"/>
            </a:endParaRPr>
          </a:p>
        </p:txBody>
      </p:sp>
      <p:sp>
        <p:nvSpPr>
          <p:cNvPr id="31" name="TextBox 86"/>
          <p:cNvSpPr txBox="1">
            <a:spLocks noChangeArrowheads="1"/>
          </p:cNvSpPr>
          <p:nvPr/>
        </p:nvSpPr>
        <p:spPr bwMode="auto">
          <a:xfrm>
            <a:off x="4212999" y="4226091"/>
            <a:ext cx="124618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BCBilling</a:t>
            </a:r>
            <a:br>
              <a:rPr lang="en-US" sz="1600">
                <a:solidFill>
                  <a:schemeClr val="bg1"/>
                </a:solidFill>
                <a:latin typeface="+mn-lt"/>
              </a:rPr>
            </a:br>
            <a:r>
              <a:rPr lang="en-US" sz="1600" smtClean="0">
                <a:solidFill>
                  <a:schemeClr val="bg1"/>
                </a:solidFill>
                <a:latin typeface="+mn-lt"/>
              </a:rPr>
              <a:t>SummaryAPI</a:t>
            </a:r>
            <a:endParaRPr lang="en-US" sz="1600">
              <a:solidFill>
                <a:schemeClr val="bg1"/>
              </a:solidFill>
              <a:latin typeface="+mn-lt"/>
            </a:endParaRPr>
          </a:p>
        </p:txBody>
      </p:sp>
      <p:sp>
        <p:nvSpPr>
          <p:cNvPr id="32" name="TextBox 84"/>
          <p:cNvSpPr txBox="1">
            <a:spLocks noChangeArrowheads="1"/>
          </p:cNvSpPr>
          <p:nvPr/>
        </p:nvSpPr>
        <p:spPr bwMode="auto">
          <a:xfrm>
            <a:off x="533400" y="1606127"/>
            <a:ext cx="1346200"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dirty="0" smtClean="0">
                <a:solidFill>
                  <a:schemeClr val="bg1"/>
                </a:solidFill>
                <a:latin typeface="+mn-lt"/>
              </a:rPr>
              <a:t>User requests to view billing information</a:t>
            </a:r>
            <a:endParaRPr lang="en-US" sz="1600" dirty="0">
              <a:solidFill>
                <a:schemeClr val="bg1"/>
              </a:solidFill>
              <a:latin typeface="+mn-lt"/>
            </a:endParaRPr>
          </a:p>
        </p:txBody>
      </p:sp>
      <p:cxnSp>
        <p:nvCxnSpPr>
          <p:cNvPr id="34" name="Straight Arrow Connector 33"/>
          <p:cNvCxnSpPr/>
          <p:nvPr/>
        </p:nvCxnSpPr>
        <p:spPr bwMode="auto">
          <a:xfrm>
            <a:off x="1879600" y="3665219"/>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6" name="Straight Arrow Connector 35"/>
          <p:cNvCxnSpPr/>
          <p:nvPr/>
        </p:nvCxnSpPr>
        <p:spPr bwMode="auto">
          <a:xfrm>
            <a:off x="1194518" y="2651626"/>
            <a:ext cx="0" cy="378444"/>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8" name="Straight Arrow Connector 37"/>
          <p:cNvCxnSpPr/>
          <p:nvPr/>
        </p:nvCxnSpPr>
        <p:spPr bwMode="auto">
          <a:xfrm>
            <a:off x="3702954" y="3665219"/>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39" name="Straight Arrow Connector 38"/>
          <p:cNvCxnSpPr/>
          <p:nvPr/>
        </p:nvCxnSpPr>
        <p:spPr bwMode="auto">
          <a:xfrm>
            <a:off x="5510892" y="3583468"/>
            <a:ext cx="1024517"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40" name="Straight Arrow Connector 39"/>
          <p:cNvCxnSpPr/>
          <p:nvPr/>
        </p:nvCxnSpPr>
        <p:spPr bwMode="auto">
          <a:xfrm flipH="1">
            <a:off x="5459186" y="3810000"/>
            <a:ext cx="1051731"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33" name="Picture 2" descr="C:\Users\sluersen\AppData\Local\Temp\SNAGHTML24dd7d3.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629400" y="5482006"/>
            <a:ext cx="650572" cy="61114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5" name="Picture 11" descr="C:\Users\sluersen\AppData\Local\Temp\SNAGHTML1d825e1.PNG"/>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578271" y="5488591"/>
            <a:ext cx="652762" cy="6089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cxnSp>
        <p:nvCxnSpPr>
          <p:cNvPr id="37" name="Straight Arrow Connector 36"/>
          <p:cNvCxnSpPr>
            <a:stCxn id="35" idx="3"/>
          </p:cNvCxnSpPr>
          <p:nvPr/>
        </p:nvCxnSpPr>
        <p:spPr bwMode="auto">
          <a:xfrm flipV="1">
            <a:off x="4231033" y="5791971"/>
            <a:ext cx="2304376" cy="1096"/>
          </a:xfrm>
          <a:prstGeom prst="straightConnector1">
            <a:avLst/>
          </a:prstGeom>
          <a:noFill/>
          <a:ln w="28575" cap="flat" cmpd="sng" algn="ctr">
            <a:solidFill>
              <a:srgbClr val="C00000"/>
            </a:solidFill>
            <a:prstDash val="solid"/>
            <a:round/>
            <a:headEnd type="none" w="med" len="med"/>
            <a:tailEnd type="arrow" w="lg" len="med"/>
          </a:ln>
          <a:effectLst>
            <a:outerShdw blurRad="50800" dist="38100" dir="2700000" algn="tl" rotWithShape="0">
              <a:prstClr val="black">
                <a:alpha val="40000"/>
              </a:prstClr>
            </a:outerShdw>
          </a:effectLst>
        </p:spPr>
      </p:cxnSp>
      <p:sp>
        <p:nvSpPr>
          <p:cNvPr id="41" name="TextBox 86"/>
          <p:cNvSpPr txBox="1">
            <a:spLocks noChangeArrowheads="1"/>
          </p:cNvSpPr>
          <p:nvPr/>
        </p:nvSpPr>
        <p:spPr bwMode="auto">
          <a:xfrm>
            <a:off x="1828800" y="5502526"/>
            <a:ext cx="174947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r" eaLnBrk="1" hangingPunct="1"/>
            <a:r>
              <a:rPr lang="en-US" sz="1600" smtClean="0">
                <a:solidFill>
                  <a:schemeClr val="bg1"/>
                </a:solidFill>
                <a:latin typeface="+mn-lt"/>
              </a:rPr>
              <a:t>BCPolicy</a:t>
            </a:r>
            <a:br>
              <a:rPr lang="en-US" sz="1600" smtClean="0">
                <a:solidFill>
                  <a:schemeClr val="bg1"/>
                </a:solidFill>
                <a:latin typeface="+mn-lt"/>
              </a:rPr>
            </a:br>
            <a:r>
              <a:rPr lang="en-US" sz="1600" smtClean="0">
                <a:solidFill>
                  <a:schemeClr val="bg1"/>
                </a:solidFill>
                <a:latin typeface="+mn-lt"/>
              </a:rPr>
              <a:t>(exit point)</a:t>
            </a:r>
            <a:endParaRPr lang="en-US" sz="1600">
              <a:solidFill>
                <a:schemeClr val="bg1"/>
              </a:solidFill>
              <a:latin typeface="+mn-lt"/>
            </a:endParaRPr>
          </a:p>
        </p:txBody>
      </p:sp>
      <p:sp>
        <p:nvSpPr>
          <p:cNvPr id="42" name="TextBox 86"/>
          <p:cNvSpPr txBox="1">
            <a:spLocks noChangeArrowheads="1"/>
          </p:cNvSpPr>
          <p:nvPr/>
        </p:nvSpPr>
        <p:spPr bwMode="auto">
          <a:xfrm>
            <a:off x="7306304" y="5381625"/>
            <a:ext cx="157861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eaLnBrk="1" hangingPunct="1"/>
            <a:r>
              <a:rPr lang="en-US" sz="1600" smtClean="0">
                <a:solidFill>
                  <a:schemeClr val="bg1"/>
                </a:solidFill>
                <a:latin typeface="+mn-lt"/>
              </a:rPr>
              <a:t>Policy</a:t>
            </a:r>
            <a:br>
              <a:rPr lang="en-US" sz="1600" smtClean="0">
                <a:solidFill>
                  <a:schemeClr val="bg1"/>
                </a:solidFill>
                <a:latin typeface="+mn-lt"/>
              </a:rPr>
            </a:br>
            <a:r>
              <a:rPr lang="en-US" sz="1600" smtClean="0">
                <a:solidFill>
                  <a:schemeClr val="bg1"/>
                </a:solidFill>
                <a:latin typeface="+mn-lt"/>
              </a:rPr>
              <a:t>PeriodEntry</a:t>
            </a:r>
            <a:br>
              <a:rPr lang="en-US" sz="1600" smtClean="0">
                <a:solidFill>
                  <a:schemeClr val="bg1"/>
                </a:solidFill>
                <a:latin typeface="+mn-lt"/>
              </a:rPr>
            </a:br>
            <a:r>
              <a:rPr lang="en-US" sz="1600" smtClean="0">
                <a:solidFill>
                  <a:schemeClr val="bg1"/>
                </a:solidFill>
                <a:latin typeface="+mn-lt"/>
              </a:rPr>
              <a:t>(entry point)</a:t>
            </a:r>
            <a:endParaRPr lang="en-US" sz="1600">
              <a:solidFill>
                <a:schemeClr val="bg1"/>
              </a:solidFill>
              <a:latin typeface="+mn-lt"/>
            </a:endParaRPr>
          </a:p>
        </p:txBody>
      </p:sp>
      <p:pic>
        <p:nvPicPr>
          <p:cNvPr id="43" name="Picture 42" descr="PolicyCenter.png"/>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41499861"/>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Steps to enable viewing billing data</a:t>
            </a:r>
            <a:endParaRPr lang="en-US" dirty="0"/>
          </a:p>
        </p:txBody>
      </p:sp>
      <p:sp>
        <p:nvSpPr>
          <p:cNvPr id="5" name="Subtitle 4"/>
          <p:cNvSpPr>
            <a:spLocks noGrp="1"/>
          </p:cNvSpPr>
          <p:nvPr>
            <p:ph type="subTitle" idx="10"/>
          </p:nvPr>
        </p:nvSpPr>
        <p:spPr/>
        <p:txBody>
          <a:bodyPr/>
          <a:lstStyle/>
          <a:p>
            <a:r>
              <a:rPr lang="en-US" dirty="0" smtClean="0"/>
              <a:t>        BillingCenter</a:t>
            </a:r>
            <a:endParaRPr lang="en-US" dirty="0"/>
          </a:p>
        </p:txBody>
      </p:sp>
      <p:sp>
        <p:nvSpPr>
          <p:cNvPr id="12" name="Text Placeholder 11"/>
          <p:cNvSpPr>
            <a:spLocks noGrp="1"/>
          </p:cNvSpPr>
          <p:nvPr>
            <p:ph type="body" sz="quarter" idx="11"/>
          </p:nvPr>
        </p:nvSpPr>
        <p:spPr/>
        <p:txBody>
          <a:bodyPr/>
          <a:lstStyle/>
          <a:p>
            <a:r>
              <a:rPr lang="en-US" dirty="0" smtClean="0"/>
              <a:t>        PolicyCenter</a:t>
            </a:r>
            <a:endParaRPr lang="en-US" dirty="0"/>
          </a:p>
        </p:txBody>
      </p:sp>
      <p:sp>
        <p:nvSpPr>
          <p:cNvPr id="11" name="Content Placeholder 10"/>
          <p:cNvSpPr>
            <a:spLocks noGrp="1"/>
          </p:cNvSpPr>
          <p:nvPr>
            <p:ph sz="half" idx="2"/>
          </p:nvPr>
        </p:nvSpPr>
        <p:spPr/>
        <p:txBody>
          <a:bodyPr/>
          <a:lstStyle/>
          <a:p>
            <a:pPr marL="457200" indent="-457200">
              <a:buFont typeface="+mj-lt"/>
              <a:buAutoNum type="arabicPeriod" startAt="2"/>
            </a:pPr>
            <a:r>
              <a:rPr lang="en-US" dirty="0" smtClean="0"/>
              <a:t>Open </a:t>
            </a:r>
            <a:r>
              <a:rPr lang="en-US" dirty="0" err="1" smtClean="0"/>
              <a:t>IBillingSummaryPlugin</a:t>
            </a:r>
            <a:endParaRPr lang="en-US" dirty="0" smtClean="0"/>
          </a:p>
          <a:p>
            <a:pPr marL="457200" indent="-457200">
              <a:buFont typeface="+mj-lt"/>
              <a:buAutoNum type="arabicPeriod" startAt="2"/>
            </a:pPr>
            <a:r>
              <a:rPr lang="en-US" dirty="0" smtClean="0"/>
              <a:t>Change the Gosu class</a:t>
            </a:r>
          </a:p>
          <a:p>
            <a:pPr marL="457200" indent="-457200">
              <a:buFont typeface="+mj-lt"/>
              <a:buAutoNum type="arabicPeriod" startAt="2"/>
            </a:pPr>
            <a:r>
              <a:rPr lang="en-US" dirty="0" smtClean="0"/>
              <a:t>Edit the plugin configuration</a:t>
            </a:r>
          </a:p>
          <a:p>
            <a:pPr marL="457200" indent="-457200">
              <a:buFont typeface="+mj-lt"/>
              <a:buAutoNum type="arabicPeriod" startAt="2"/>
            </a:pPr>
            <a:r>
              <a:rPr lang="en-US" dirty="0" smtClean="0"/>
              <a:t>Edit configuration xml files</a:t>
            </a:r>
          </a:p>
          <a:p>
            <a:pPr marL="457200" indent="-457200">
              <a:buFont typeface="+mj-lt"/>
              <a:buAutoNum type="arabicPeriod" startAt="2"/>
            </a:pPr>
            <a:r>
              <a:rPr lang="en-US" dirty="0"/>
              <a:t>Refresh the Web Service collection WSDL</a:t>
            </a:r>
          </a:p>
          <a:p>
            <a:pPr marL="457200" indent="-457200">
              <a:buFont typeface="+mj-lt"/>
              <a:buAutoNum type="arabicPeriod" startAt="2"/>
            </a:pPr>
            <a:r>
              <a:rPr lang="en-US" dirty="0" smtClean="0"/>
              <a:t>Deploy your changes</a:t>
            </a:r>
          </a:p>
          <a:p>
            <a:endParaRPr lang="en-US" dirty="0" smtClean="0"/>
          </a:p>
          <a:p>
            <a:pPr marL="457200" indent="-457200">
              <a:buFont typeface="+mj-lt"/>
              <a:buAutoNum type="arabicPeriod" startAt="2"/>
            </a:pPr>
            <a:endParaRPr lang="en-US" dirty="0" smtClean="0"/>
          </a:p>
        </p:txBody>
      </p:sp>
      <p:sp>
        <p:nvSpPr>
          <p:cNvPr id="3" name="Content Placeholder 2"/>
          <p:cNvSpPr>
            <a:spLocks noGrp="1"/>
          </p:cNvSpPr>
          <p:nvPr>
            <p:ph sz="half" idx="1"/>
          </p:nvPr>
        </p:nvSpPr>
        <p:spPr/>
        <p:txBody>
          <a:bodyPr/>
          <a:lstStyle/>
          <a:p>
            <a:pPr marL="457200" indent="-457200">
              <a:buFont typeface="+mj-lt"/>
              <a:buAutoNum type="arabicPeriod"/>
            </a:pPr>
            <a:r>
              <a:rPr lang="en-US" dirty="0"/>
              <a:t>Start </a:t>
            </a:r>
            <a:r>
              <a:rPr lang="en-US" dirty="0" smtClean="0"/>
              <a:t>BillingCenter</a:t>
            </a:r>
            <a:br>
              <a:rPr lang="en-US" dirty="0" smtClean="0"/>
            </a:br>
            <a:endParaRPr lang="en-US" dirty="0" smtClean="0"/>
          </a:p>
          <a:p>
            <a:pPr marL="457200" indent="-457200">
              <a:buFont typeface="+mj-lt"/>
              <a:buAutoNum type="arabicPeriod"/>
            </a:pPr>
            <a:endParaRPr lang="en-US" dirty="0"/>
          </a:p>
          <a:p>
            <a:pPr marL="0" indent="0">
              <a:buNone/>
            </a:pPr>
            <a:r>
              <a:rPr lang="en-US" dirty="0" smtClean="0"/>
              <a:t/>
            </a:r>
            <a:br>
              <a:rPr lang="en-US" dirty="0" smtClean="0"/>
            </a:br>
            <a:endParaRPr lang="en-US" dirty="0" smtClean="0"/>
          </a:p>
          <a:p>
            <a:pPr marL="457200" indent="-457200">
              <a:buFont typeface="+mj-lt"/>
              <a:buAutoNum type="arabicPeriod"/>
            </a:pPr>
            <a:endParaRPr lang="en-US" dirty="0"/>
          </a:p>
          <a:p>
            <a:pPr marL="457200" indent="-457200">
              <a:buFont typeface="+mj-lt"/>
              <a:buAutoNum type="arabicPeriod"/>
            </a:pPr>
            <a:endParaRPr lang="en-US" dirty="0" smtClean="0"/>
          </a:p>
          <a:p>
            <a:pPr marL="0" indent="0">
              <a:buNone/>
            </a:pPr>
            <a:endParaRPr lang="en-US" dirty="0"/>
          </a:p>
        </p:txBody>
      </p:sp>
      <p:pic>
        <p:nvPicPr>
          <p:cNvPr id="10" name="pic Logo PC"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24023" y="889000"/>
            <a:ext cx="565862" cy="548640"/>
          </a:xfrm>
          <a:prstGeom prst="rect">
            <a:avLst/>
          </a:prstGeom>
          <a:effectLst>
            <a:outerShdw blurRad="50800" dist="38100" dir="2700000" algn="tl" rotWithShape="0">
              <a:prstClr val="black">
                <a:alpha val="40000"/>
              </a:prstClr>
            </a:outerShdw>
          </a:effectLst>
        </p:spPr>
      </p:pic>
      <p:pic>
        <p:nvPicPr>
          <p:cNvPr id="13" name="pic Logo B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4350" y="889000"/>
            <a:ext cx="565485"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20344604"/>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 Logo BC"/>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180" y="137160"/>
            <a:ext cx="565485"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dirty="0" smtClean="0"/>
              <a:t>Start BillingCenter</a:t>
            </a:r>
            <a:endParaRPr lang="en-US" dirty="0"/>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gwbc</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dev</a:t>
            </a:r>
            <a:r>
              <a:rPr lang="en-US" b="1" dirty="0" smtClean="0">
                <a:latin typeface="Courier New" pitchFamily="49" charset="0"/>
                <a:cs typeface="Courier New" pitchFamily="49" charset="0"/>
              </a:rPr>
              <a:t>-start</a:t>
            </a:r>
          </a:p>
          <a:p>
            <a:r>
              <a:rPr lang="en-US" dirty="0" smtClean="0"/>
              <a:t>Starts BillingCenter </a:t>
            </a:r>
          </a:p>
          <a:p>
            <a:r>
              <a:rPr lang="en-US" dirty="0" err="1" smtClean="0"/>
              <a:t>BillingSummaryAPI</a:t>
            </a:r>
            <a:r>
              <a:rPr lang="en-US" dirty="0" smtClean="0"/>
              <a:t> web service starts</a:t>
            </a:r>
          </a:p>
          <a:p>
            <a:endParaRPr lang="en-US" dirty="0"/>
          </a:p>
        </p:txBody>
      </p:sp>
      <p:sp>
        <p:nvSpPr>
          <p:cNvPr id="4" name="Rectangle 3"/>
          <p:cNvSpPr/>
          <p:nvPr/>
        </p:nvSpPr>
        <p:spPr bwMode="auto">
          <a:xfrm>
            <a:off x="533400" y="3276600"/>
            <a:ext cx="8229600" cy="3048000"/>
          </a:xfrm>
          <a:prstGeom prst="rect">
            <a:avLst/>
          </a:prstGeom>
          <a:solidFill>
            <a:schemeClr val="tx2">
              <a:lumMod val="75000"/>
            </a:schemeClr>
          </a:solidFill>
          <a:ln w="19050" algn="ctr">
            <a:solidFill>
              <a:schemeClr val="tx2">
                <a:lumMod val="75000"/>
              </a:schemeClr>
            </a:solidFill>
            <a:round/>
            <a:headEnd/>
            <a:tailEnd/>
          </a:ln>
        </p:spPr>
        <p:txBody>
          <a:bodyPr wrap="none" lIns="91440" tIns="91440" rIns="0" bIns="91440" rtlCol="0" anchor="t" anchorCtr="0">
            <a:noAutofit/>
          </a:bodyPr>
          <a:lstStyle/>
          <a:p>
            <a:pPr>
              <a:spcBef>
                <a:spcPct val="50000"/>
              </a:spcBef>
              <a:spcAft>
                <a:spcPct val="30000"/>
              </a:spcAft>
              <a:buClr>
                <a:schemeClr val="tx1"/>
              </a:buClr>
            </a:pPr>
            <a:r>
              <a:rPr lang="en-US" sz="1600" dirty="0">
                <a:solidFill>
                  <a:schemeClr val="bg1"/>
                </a:solidFill>
                <a:latin typeface="Lucida Console" pitchFamily="49" charset="0"/>
              </a:rPr>
              <a:t>C:\</a:t>
            </a:r>
            <a:r>
              <a:rPr lang="en-US" sz="1600" dirty="0" smtClean="0">
                <a:solidFill>
                  <a:schemeClr val="bg1"/>
                </a:solidFill>
                <a:latin typeface="Lucida Console" pitchFamily="49" charset="0"/>
              </a:rPr>
              <a:t>Guidewire\BillingCenter\bin&gt;gwbc </a:t>
            </a:r>
            <a:r>
              <a:rPr lang="en-US" sz="1600" dirty="0" err="1">
                <a:solidFill>
                  <a:schemeClr val="bg1"/>
                </a:solidFill>
                <a:latin typeface="Lucida Console" pitchFamily="49" charset="0"/>
              </a:rPr>
              <a:t>dev</a:t>
            </a:r>
            <a:r>
              <a:rPr lang="en-US" sz="1600" dirty="0">
                <a:solidFill>
                  <a:schemeClr val="bg1"/>
                </a:solidFill>
                <a:latin typeface="Lucida Console" pitchFamily="49" charset="0"/>
              </a:rPr>
              <a:t>-start</a:t>
            </a:r>
          </a:p>
          <a:p>
            <a:pPr>
              <a:spcBef>
                <a:spcPct val="50000"/>
              </a:spcBef>
              <a:spcAft>
                <a:spcPct val="30000"/>
              </a:spcAft>
              <a:buClr>
                <a:schemeClr val="tx1"/>
              </a:buClr>
            </a:pPr>
            <a:r>
              <a:rPr lang="en-US" sz="1600" dirty="0" err="1">
                <a:solidFill>
                  <a:schemeClr val="bg1"/>
                </a:solidFill>
                <a:latin typeface="Lucida Console" pitchFamily="49" charset="0"/>
              </a:rPr>
              <a:t>dev</a:t>
            </a:r>
            <a:r>
              <a:rPr lang="en-US" sz="1600" dirty="0">
                <a:solidFill>
                  <a:schemeClr val="bg1"/>
                </a:solidFill>
                <a:latin typeface="Lucida Console" pitchFamily="49" charset="0"/>
              </a:rPr>
              <a:t>-start</a:t>
            </a:r>
            <a:r>
              <a:rPr lang="en-US" sz="1600" dirty="0" smtClean="0">
                <a:solidFill>
                  <a:schemeClr val="bg1"/>
                </a:solidFill>
                <a:latin typeface="Lucida Console" pitchFamily="49" charset="0"/>
              </a:rPr>
              <a:t>:</a:t>
            </a:r>
            <a:br>
              <a:rPr lang="en-US" sz="1600" dirty="0" smtClean="0">
                <a:solidFill>
                  <a:schemeClr val="bg1"/>
                </a:solidFill>
                <a:latin typeface="Lucida Console" pitchFamily="49" charset="0"/>
              </a:rPr>
            </a:br>
            <a:r>
              <a:rPr lang="en-US" sz="1600" dirty="0" smtClean="0">
                <a:solidFill>
                  <a:schemeClr val="bg1"/>
                </a:solidFill>
                <a:latin typeface="Lucida Console" pitchFamily="49" charset="0"/>
              </a:rPr>
              <a:t>====================================================</a:t>
            </a:r>
            <a:br>
              <a:rPr lang="en-US" sz="1600" dirty="0" smtClean="0">
                <a:solidFill>
                  <a:schemeClr val="bg1"/>
                </a:solidFill>
                <a:latin typeface="Lucida Console" pitchFamily="49" charset="0"/>
              </a:rPr>
            </a:br>
            <a:r>
              <a:rPr lang="en-US" sz="1600" dirty="0" smtClean="0">
                <a:solidFill>
                  <a:schemeClr val="bg1"/>
                </a:solidFill>
                <a:latin typeface="Lucida Console" pitchFamily="49" charset="0"/>
              </a:rPr>
              <a:t>= </a:t>
            </a:r>
            <a:r>
              <a:rPr lang="en-US" sz="1600" dirty="0">
                <a:solidFill>
                  <a:schemeClr val="bg1"/>
                </a:solidFill>
                <a:latin typeface="Lucida Console" pitchFamily="49" charset="0"/>
              </a:rPr>
              <a:t>Running main class: </a:t>
            </a:r>
            <a:r>
              <a:rPr lang="en-US" sz="1600" dirty="0" smtClean="0">
                <a:solidFill>
                  <a:schemeClr val="bg1"/>
                </a:solidFill>
                <a:latin typeface="Lucida Console" pitchFamily="49" charset="0"/>
              </a:rPr>
              <a:t/>
            </a:r>
            <a:br>
              <a:rPr lang="en-US" sz="1600" dirty="0" smtClean="0">
                <a:solidFill>
                  <a:schemeClr val="bg1"/>
                </a:solidFill>
                <a:latin typeface="Lucida Console" pitchFamily="49" charset="0"/>
              </a:rPr>
            </a:br>
            <a:r>
              <a:rPr lang="en-US" sz="1600" dirty="0" smtClean="0">
                <a:solidFill>
                  <a:schemeClr val="bg1"/>
                </a:solidFill>
                <a:latin typeface="Lucida Console" pitchFamily="49" charset="0"/>
              </a:rPr>
              <a:t> </a:t>
            </a:r>
            <a:r>
              <a:rPr lang="en-US" sz="1600" dirty="0" err="1" smtClean="0">
                <a:solidFill>
                  <a:schemeClr val="bg1"/>
                </a:solidFill>
                <a:latin typeface="Lucida Console" pitchFamily="49" charset="0"/>
              </a:rPr>
              <a:t>com.guidewire.commons.jetty.GWServerJettyServerMain</a:t>
            </a:r>
            <a:endParaRPr lang="en-US" sz="1600" dirty="0" smtClean="0">
              <a:solidFill>
                <a:schemeClr val="bg1"/>
              </a:solidFill>
              <a:latin typeface="Lucida Console" pitchFamily="49" charset="0"/>
            </a:endParaRPr>
          </a:p>
          <a:p>
            <a:pPr>
              <a:spcBef>
                <a:spcPct val="50000"/>
              </a:spcBef>
              <a:spcAft>
                <a:spcPct val="30000"/>
              </a:spcAft>
              <a:buClr>
                <a:schemeClr val="tx1"/>
              </a:buClr>
            </a:pPr>
            <a:r>
              <a:rPr lang="en-US" sz="1600" dirty="0" smtClean="0">
                <a:solidFill>
                  <a:schemeClr val="bg1"/>
                </a:solidFill>
                <a:latin typeface="Lucida Console" pitchFamily="49" charset="0"/>
              </a:rPr>
              <a:t>…</a:t>
            </a:r>
          </a:p>
          <a:p>
            <a:pPr>
              <a:spcBef>
                <a:spcPct val="50000"/>
              </a:spcBef>
              <a:spcAft>
                <a:spcPct val="30000"/>
              </a:spcAft>
              <a:buClr>
                <a:schemeClr val="tx1"/>
              </a:buClr>
            </a:pPr>
            <a:r>
              <a:rPr lang="en-US" sz="1600" dirty="0" smtClean="0">
                <a:solidFill>
                  <a:schemeClr val="bg1"/>
                </a:solidFill>
                <a:latin typeface="Lucida Console" pitchFamily="49" charset="0"/>
              </a:rPr>
              <a:t>[JAVA] machine   2014-10-10  INFO </a:t>
            </a:r>
            <a:r>
              <a:rPr lang="en-US" sz="1600" dirty="0">
                <a:solidFill>
                  <a:schemeClr val="bg1"/>
                </a:solidFill>
                <a:latin typeface="Lucida Console" pitchFamily="49" charset="0"/>
              </a:rPr>
              <a:t>***** </a:t>
            </a:r>
            <a:r>
              <a:rPr lang="en-US" sz="1600" dirty="0" smtClean="0">
                <a:solidFill>
                  <a:schemeClr val="bg1"/>
                </a:solidFill>
                <a:latin typeface="Lucida Console" pitchFamily="49" charset="0"/>
              </a:rPr>
              <a:t>BillingCenter </a:t>
            </a:r>
            <a:r>
              <a:rPr lang="en-US" sz="1600" dirty="0">
                <a:solidFill>
                  <a:schemeClr val="bg1"/>
                </a:solidFill>
                <a:latin typeface="Lucida Console" pitchFamily="49" charset="0"/>
              </a:rPr>
              <a:t>ready *****</a:t>
            </a:r>
          </a:p>
        </p:txBody>
      </p:sp>
      <p:sp>
        <p:nvSpPr>
          <p:cNvPr id="5"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1</a:t>
            </a:r>
          </a:p>
        </p:txBody>
      </p:sp>
    </p:spTree>
    <p:extLst>
      <p:ext uri="{BB962C8B-B14F-4D97-AF65-F5344CB8AC3E}">
        <p14:creationId xmlns:p14="http://schemas.microsoft.com/office/powerpoint/2010/main" val="164637769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 Plugin Summary" descr="C:\Users\sluersen\AppData\Local\Temp\SNAGHTMLa368f2.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600"/>
            <a:ext cx="7496175" cy="27813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914342"/>
            <a:ext cx="2728994" cy="250336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 Logo PC"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dirty="0"/>
              <a:t>Open </a:t>
            </a:r>
            <a:r>
              <a:rPr lang="en-US" dirty="0" err="1" smtClean="0"/>
              <a:t>IBillingSummaryPlugin</a:t>
            </a:r>
            <a:r>
              <a:rPr lang="en-US" dirty="0" smtClean="0"/>
              <a:t> </a:t>
            </a:r>
            <a:endParaRPr lang="en-US" dirty="0"/>
          </a:p>
        </p:txBody>
      </p:sp>
      <p:sp>
        <p:nvSpPr>
          <p:cNvPr id="3" name="Content Placeholder 2"/>
          <p:cNvSpPr>
            <a:spLocks noGrp="1"/>
          </p:cNvSpPr>
          <p:nvPr>
            <p:ph sz="half" idx="2"/>
          </p:nvPr>
        </p:nvSpPr>
        <p:spPr>
          <a:xfrm>
            <a:off x="4008664" y="914401"/>
            <a:ext cx="5059136" cy="5475289"/>
          </a:xfrm>
        </p:spPr>
        <p:txBody>
          <a:bodyPr/>
          <a:lstStyle/>
          <a:p>
            <a:r>
              <a:rPr lang="en-US" dirty="0"/>
              <a:t>In Guidewire Studio for  </a:t>
            </a:r>
            <a:r>
              <a:rPr lang="en-US" dirty="0" smtClean="0"/>
              <a:t>PolicyCenter, open </a:t>
            </a:r>
            <a:br>
              <a:rPr lang="en-US" dirty="0" smtClean="0"/>
            </a:br>
            <a:r>
              <a:rPr lang="en-US" dirty="0" err="1" smtClean="0"/>
              <a:t>IBillingSummaryPlugin.gwp</a:t>
            </a:r>
            <a:endParaRPr lang="en-US" dirty="0" smtClean="0"/>
          </a:p>
          <a:p>
            <a:pPr marL="0" indent="0">
              <a:buNone/>
            </a:pPr>
            <a:endParaRPr lang="en-US" dirty="0"/>
          </a:p>
        </p:txBody>
      </p:sp>
      <p:sp>
        <p:nvSpPr>
          <p:cNvPr id="9"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2</a:t>
            </a:r>
            <a:endParaRPr lang="en-US" dirty="0"/>
          </a:p>
        </p:txBody>
      </p:sp>
      <p:pic>
        <p:nvPicPr>
          <p:cNvPr id="1026"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8200" y="5181600"/>
            <a:ext cx="757714" cy="2234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2" name="Straight Arrow Connector 11"/>
          <p:cNvCxnSpPr/>
          <p:nvPr/>
        </p:nvCxnSpPr>
        <p:spPr bwMode="auto">
          <a:xfrm>
            <a:off x="1600200" y="3305419"/>
            <a:ext cx="0" cy="326755"/>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4275184680"/>
      </p:ext>
    </p:extLst>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C:\Users\sluersen\AppData\Local\Temp\SNAGHTMLa51b2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600"/>
            <a:ext cx="7496175" cy="27813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6" name="pic Logo PC"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smtClean="0"/>
              <a:t>Change the Gosu class</a:t>
            </a:r>
            <a:endParaRPr lang="en-US"/>
          </a:p>
        </p:txBody>
      </p:sp>
      <p:sp>
        <p:nvSpPr>
          <p:cNvPr id="3" name="Content Placeholder 2"/>
          <p:cNvSpPr>
            <a:spLocks noGrp="1"/>
          </p:cNvSpPr>
          <p:nvPr>
            <p:ph idx="1"/>
          </p:nvPr>
        </p:nvSpPr>
        <p:spPr/>
        <p:txBody>
          <a:bodyPr/>
          <a:lstStyle/>
          <a:p>
            <a:r>
              <a:rPr lang="en-US" dirty="0" smtClean="0"/>
              <a:t>In </a:t>
            </a:r>
            <a:r>
              <a:rPr lang="en-US" dirty="0"/>
              <a:t>Plugin Editor, </a:t>
            </a:r>
            <a:r>
              <a:rPr lang="en-US" dirty="0" smtClean="0"/>
              <a:t>change the Gosu class</a:t>
            </a:r>
          </a:p>
          <a:p>
            <a:pPr marL="857250" lvl="1" indent="-457200">
              <a:buFont typeface="+mj-lt"/>
              <a:buAutoNum type="arabicPeriod"/>
            </a:pPr>
            <a:r>
              <a:rPr lang="en-US" dirty="0" smtClean="0"/>
              <a:t>Click ellipse (…) </a:t>
            </a:r>
            <a:endParaRPr lang="en-US" dirty="0"/>
          </a:p>
          <a:p>
            <a:pPr marL="857250" lvl="1" indent="-457200">
              <a:buFont typeface="+mj-lt"/>
              <a:buAutoNum type="arabicPeriod"/>
            </a:pPr>
            <a:r>
              <a:rPr lang="en-US" dirty="0"/>
              <a:t>Search for </a:t>
            </a:r>
            <a:r>
              <a:rPr lang="en-US" dirty="0" err="1" smtClean="0"/>
              <a:t>BCBillingSummaryPlugin</a:t>
            </a:r>
            <a:r>
              <a:rPr lang="en-US" dirty="0" smtClean="0"/>
              <a:t> (</a:t>
            </a:r>
            <a:r>
              <a:rPr lang="en-US" dirty="0"/>
              <a:t>bc800</a:t>
            </a:r>
            <a:r>
              <a:rPr lang="en-US" dirty="0" smtClean="0"/>
              <a:t>)</a:t>
            </a:r>
          </a:p>
          <a:p>
            <a:pPr marL="857250" lvl="1" indent="-457200">
              <a:buFont typeface="+mj-lt"/>
              <a:buAutoNum type="arabicPeriod"/>
            </a:pPr>
            <a:endParaRPr lang="en-US" dirty="0"/>
          </a:p>
          <a:p>
            <a:pPr marL="0" indent="0">
              <a:buNone/>
            </a:pPr>
            <a:endParaRPr lang="en-US" dirty="0"/>
          </a:p>
        </p:txBody>
      </p:sp>
      <p:sp>
        <p:nvSpPr>
          <p:cNvPr id="11" name="num1"/>
          <p:cNvSpPr/>
          <p:nvPr/>
        </p:nvSpPr>
        <p:spPr bwMode="auto">
          <a:xfrm>
            <a:off x="7772400" y="4360243"/>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1</a:t>
            </a:r>
            <a:endParaRPr lang="en-US" dirty="0"/>
          </a:p>
        </p:txBody>
      </p: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3</a:t>
            </a:r>
            <a:endParaRPr lang="en-US"/>
          </a:p>
        </p:txBody>
      </p:sp>
      <p:pic>
        <p:nvPicPr>
          <p:cNvPr id="1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2486" y="5185497"/>
            <a:ext cx="757714" cy="2234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 name="Picture 9" descr="C:\Users\sluersen\AppData\Local\Temp\SNAGHTMLdd78ac.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95800" y="2218267"/>
            <a:ext cx="4210050" cy="206313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num2"/>
          <p:cNvSpPr/>
          <p:nvPr/>
        </p:nvSpPr>
        <p:spPr bwMode="auto">
          <a:xfrm>
            <a:off x="4423886" y="3657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dirty="0" smtClean="0">
                <a:solidFill>
                  <a:schemeClr val="accent1"/>
                </a:solidFill>
              </a:rPr>
              <a:t>2</a:t>
            </a:r>
            <a:endParaRPr lang="en-US" dirty="0"/>
          </a:p>
        </p:txBody>
      </p:sp>
    </p:spTree>
    <p:extLst>
      <p:ext uri="{BB962C8B-B14F-4D97-AF65-F5344CB8AC3E}">
        <p14:creationId xmlns:p14="http://schemas.microsoft.com/office/powerpoint/2010/main" val="103957881"/>
      </p:ext>
    </p:extLst>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C:\Users\sluersen\AppData\Local\Temp\SNAGHTMLa51b2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3657600"/>
            <a:ext cx="7496175" cy="27813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9" name="pic Logo PC"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smtClean="0"/>
              <a:t>Edit the plugin configuration</a:t>
            </a:r>
            <a:endParaRPr lang="en-US"/>
          </a:p>
        </p:txBody>
      </p:sp>
      <p:sp>
        <p:nvSpPr>
          <p:cNvPr id="3" name="Content Placeholder 2"/>
          <p:cNvSpPr>
            <a:spLocks noGrp="1"/>
          </p:cNvSpPr>
          <p:nvPr>
            <p:ph sz="half" idx="2"/>
          </p:nvPr>
        </p:nvSpPr>
        <p:spPr>
          <a:xfrm>
            <a:off x="533400" y="914401"/>
            <a:ext cx="8534400" cy="5475289"/>
          </a:xfrm>
        </p:spPr>
        <p:txBody>
          <a:bodyPr/>
          <a:lstStyle/>
          <a:p>
            <a:pPr marL="457200" indent="-457200">
              <a:buFont typeface="+mj-lt"/>
              <a:buAutoNum type="arabicPeriod"/>
            </a:pPr>
            <a:r>
              <a:rPr lang="en-US" dirty="0" smtClean="0"/>
              <a:t>Enable, if disabled</a:t>
            </a:r>
          </a:p>
          <a:p>
            <a:pPr marL="0" indent="0">
              <a:buNone/>
            </a:pPr>
            <a:endParaRPr lang="en-US" dirty="0"/>
          </a:p>
        </p:txBody>
      </p:sp>
      <p:sp>
        <p:nvSpPr>
          <p:cNvPr id="7"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4</a:t>
            </a:r>
            <a:endParaRPr lang="en-US"/>
          </a:p>
        </p:txBody>
      </p:sp>
      <p:sp>
        <p:nvSpPr>
          <p:cNvPr id="15" name="num1"/>
          <p:cNvSpPr/>
          <p:nvPr/>
        </p:nvSpPr>
        <p:spPr bwMode="auto">
          <a:xfrm>
            <a:off x="4419600" y="5181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Tree>
    <p:extLst>
      <p:ext uri="{BB962C8B-B14F-4D97-AF65-F5344CB8AC3E}">
        <p14:creationId xmlns:p14="http://schemas.microsoft.com/office/powerpoint/2010/main" val="3583175468"/>
      </p:ext>
    </p:extLst>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C:\Users\sluersen\AppData\Local\Temp\SNAGHTML7b6c4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1526" y="4258375"/>
            <a:ext cx="7744500" cy="107562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074" name="Picture 2" descr="C:\Users\sluersen\AppData\Local\Temp\SNAGHTML78683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1526" y="1447800"/>
            <a:ext cx="7810143" cy="186362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pPr marL="457200" indent="-457200"/>
            <a:r>
              <a:rPr lang="en-US"/>
              <a:t>Edit configuration xml files</a:t>
            </a:r>
          </a:p>
        </p:txBody>
      </p:sp>
      <p:sp>
        <p:nvSpPr>
          <p:cNvPr id="3" name="Content Placeholder 2"/>
          <p:cNvSpPr>
            <a:spLocks noGrp="1"/>
          </p:cNvSpPr>
          <p:nvPr>
            <p:ph idx="1"/>
          </p:nvPr>
        </p:nvSpPr>
        <p:spPr/>
        <p:txBody>
          <a:bodyPr/>
          <a:lstStyle/>
          <a:p>
            <a:r>
              <a:rPr lang="en-US" dirty="0" smtClean="0"/>
              <a:t>Add the exit point URL for BillingCenter in config.xml</a:t>
            </a:r>
          </a:p>
        </p:txBody>
      </p:sp>
      <p:sp>
        <p:nvSpPr>
          <p:cNvPr id="15" name="Text Placeholder 14"/>
          <p:cNvSpPr>
            <a:spLocks noGrp="1"/>
          </p:cNvSpPr>
          <p:nvPr>
            <p:ph type="body" sz="quarter" idx="10"/>
          </p:nvPr>
        </p:nvSpPr>
        <p:spPr/>
        <p:txBody>
          <a:bodyPr/>
          <a:lstStyle/>
          <a:p>
            <a:r>
              <a:rPr lang="en-US" dirty="0" smtClean="0"/>
              <a:t>Specify the URL for BillingCenter in suite-config.xml</a:t>
            </a:r>
          </a:p>
          <a:p>
            <a:endParaRPr lang="en-US" dirty="0" smtClean="0"/>
          </a:p>
          <a:p>
            <a:endParaRPr lang="en-US" dirty="0"/>
          </a:p>
        </p:txBody>
      </p: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5</a:t>
            </a:r>
            <a:endParaRPr lang="en-US"/>
          </a:p>
        </p:txBody>
      </p:sp>
      <p:sp>
        <p:nvSpPr>
          <p:cNvPr id="18" name="Rounded Rectangle 17"/>
          <p:cNvSpPr/>
          <p:nvPr/>
        </p:nvSpPr>
        <p:spPr bwMode="auto">
          <a:xfrm>
            <a:off x="4864020" y="5017911"/>
            <a:ext cx="3274292" cy="27740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0" name="Rounded Rectangle 19"/>
          <p:cNvSpPr/>
          <p:nvPr/>
        </p:nvSpPr>
        <p:spPr bwMode="auto">
          <a:xfrm>
            <a:off x="1583907" y="2739977"/>
            <a:ext cx="5274704" cy="306426"/>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2" name="pic Logo PC"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009629572"/>
      </p:ext>
    </p:ext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sluersen\AppData\Local\Temp\SNAGHTML9e83f1.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819400"/>
            <a:ext cx="8153400" cy="337739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Refresh web service collection WSDL</a:t>
            </a:r>
          </a:p>
        </p:txBody>
      </p:sp>
      <p:sp>
        <p:nvSpPr>
          <p:cNvPr id="3" name="Content Placeholder 2"/>
          <p:cNvSpPr>
            <a:spLocks noGrp="1"/>
          </p:cNvSpPr>
          <p:nvPr>
            <p:ph idx="1"/>
          </p:nvPr>
        </p:nvSpPr>
        <p:spPr/>
        <p:txBody>
          <a:bodyPr/>
          <a:lstStyle/>
          <a:p>
            <a:r>
              <a:rPr lang="en-US" dirty="0"/>
              <a:t>Open the bc800.wsc collection in Studio</a:t>
            </a:r>
          </a:p>
          <a:p>
            <a:pPr lvl="1"/>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gsrc</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wsi</a:t>
            </a:r>
            <a:r>
              <a:rPr lang="en-US" b="1" dirty="0" smtClean="0">
                <a:latin typeface="Courier New" pitchFamily="49" charset="0"/>
                <a:cs typeface="Courier New" pitchFamily="49" charset="0"/>
              </a:rPr>
              <a:t>\remote\gw\</a:t>
            </a:r>
            <a:r>
              <a:rPr lang="en-US" b="1" dirty="0" err="1" smtClean="0">
                <a:latin typeface="Courier New" pitchFamily="49" charset="0"/>
                <a:cs typeface="Courier New" pitchFamily="49" charset="0"/>
              </a:rPr>
              <a:t>webservice</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bc</a:t>
            </a:r>
            <a:r>
              <a:rPr lang="en-US" b="1" dirty="0" smtClean="0">
                <a:latin typeface="Courier New" pitchFamily="49" charset="0"/>
                <a:cs typeface="Courier New" pitchFamily="49" charset="0"/>
              </a:rPr>
              <a:t>\bc800.wsc</a:t>
            </a:r>
            <a:endParaRPr lang="en-US" b="1" dirty="0">
              <a:latin typeface="Courier New" pitchFamily="49" charset="0"/>
              <a:cs typeface="Courier New" pitchFamily="49" charset="0"/>
            </a:endParaRPr>
          </a:p>
          <a:p>
            <a:r>
              <a:rPr lang="en-US" dirty="0">
                <a:cs typeface="Courier New" pitchFamily="49" charset="0"/>
              </a:rPr>
              <a:t>To refresh the web service collection WSDL, click Fetch Updates</a:t>
            </a:r>
          </a:p>
        </p:txBody>
      </p:sp>
      <p:cxnSp>
        <p:nvCxnSpPr>
          <p:cNvPr id="8" name="Straight Arrow Connector 7"/>
          <p:cNvCxnSpPr/>
          <p:nvPr/>
        </p:nvCxnSpPr>
        <p:spPr bwMode="auto">
          <a:xfrm flipH="1">
            <a:off x="4553275" y="4114800"/>
            <a:ext cx="2473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6</a:t>
            </a:r>
            <a:endParaRPr lang="en-US"/>
          </a:p>
        </p:txBody>
      </p:sp>
      <p:pic>
        <p:nvPicPr>
          <p:cNvPr id="11" name="pic Logo PC"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77652116"/>
      </p:ext>
    </p:ext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Deploy your changes</a:t>
            </a:r>
            <a:endParaRPr lang="en-US"/>
          </a:p>
        </p:txBody>
      </p:sp>
      <p:sp>
        <p:nvSpPr>
          <p:cNvPr id="21" name="Subtitle 20"/>
          <p:cNvSpPr>
            <a:spLocks noGrp="1"/>
          </p:cNvSpPr>
          <p:nvPr>
            <p:ph type="subTitle" idx="10"/>
          </p:nvPr>
        </p:nvSpPr>
        <p:spPr/>
        <p:txBody>
          <a:bodyPr/>
          <a:lstStyle/>
          <a:p>
            <a:r>
              <a:rPr lang="en-US" smtClean="0"/>
              <a:t>Restart Server</a:t>
            </a:r>
          </a:p>
          <a:p>
            <a:endParaRPr lang="en-US"/>
          </a:p>
        </p:txBody>
      </p:sp>
      <p:sp>
        <p:nvSpPr>
          <p:cNvPr id="28" name="Text Placeholder 27"/>
          <p:cNvSpPr>
            <a:spLocks noGrp="1"/>
          </p:cNvSpPr>
          <p:nvPr>
            <p:ph type="body" sz="quarter" idx="11"/>
          </p:nvPr>
        </p:nvSpPr>
        <p:spPr/>
        <p:txBody>
          <a:bodyPr/>
          <a:lstStyle/>
          <a:p>
            <a:r>
              <a:rPr lang="en-US"/>
              <a:t>Reload Changed Classes</a:t>
            </a:r>
          </a:p>
          <a:p>
            <a:endParaRPr lang="en-US"/>
          </a:p>
        </p:txBody>
      </p:sp>
      <p:sp>
        <p:nvSpPr>
          <p:cNvPr id="27" name="Content Placeholder 26"/>
          <p:cNvSpPr>
            <a:spLocks noGrp="1"/>
          </p:cNvSpPr>
          <p:nvPr>
            <p:ph sz="half" idx="2"/>
          </p:nvPr>
        </p:nvSpPr>
        <p:spPr/>
        <p:txBody>
          <a:bodyPr/>
          <a:lstStyle/>
          <a:p>
            <a:r>
              <a:rPr lang="en-US"/>
              <a:t>Class and mapping files</a:t>
            </a:r>
          </a:p>
          <a:p>
            <a:endParaRPr lang="en-US"/>
          </a:p>
        </p:txBody>
      </p:sp>
      <p:sp>
        <p:nvSpPr>
          <p:cNvPr id="19" name="Content Placeholder 18"/>
          <p:cNvSpPr>
            <a:spLocks noGrp="1"/>
          </p:cNvSpPr>
          <p:nvPr>
            <p:ph sz="half" idx="1"/>
          </p:nvPr>
        </p:nvSpPr>
        <p:spPr/>
        <p:txBody>
          <a:bodyPr/>
          <a:lstStyle/>
          <a:p>
            <a:r>
              <a:rPr lang="en-US" dirty="0" smtClean="0"/>
              <a:t>Plugin registry elements</a:t>
            </a:r>
          </a:p>
          <a:p>
            <a:r>
              <a:rPr lang="en-US" dirty="0" smtClean="0"/>
              <a:t>Always required for</a:t>
            </a:r>
            <a:br>
              <a:rPr lang="en-US" dirty="0" smtClean="0"/>
            </a:br>
            <a:r>
              <a:rPr lang="en-US" dirty="0" smtClean="0"/>
              <a:t>cross-point integration</a:t>
            </a:r>
            <a:endParaRPr lang="en-US" dirty="0"/>
          </a:p>
        </p:txBody>
      </p:sp>
      <p:sp>
        <p:nvSpPr>
          <p:cNvPr id="4"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7</a:t>
            </a:r>
            <a:endParaRPr lang="en-US" dirty="0"/>
          </a:p>
        </p:txBody>
      </p:sp>
      <p:sp>
        <p:nvSpPr>
          <p:cNvPr id="29" name="Rounded Rectangle 28"/>
          <p:cNvSpPr/>
          <p:nvPr/>
        </p:nvSpPr>
        <p:spPr bwMode="auto">
          <a:xfrm>
            <a:off x="4800600" y="3581400"/>
            <a:ext cx="3810000" cy="2743200"/>
          </a:xfrm>
          <a:prstGeom prst="roundRect">
            <a:avLst>
              <a:gd name="adj" fmla="val 8642"/>
            </a:avLst>
          </a:prstGeom>
          <a:ln w="28575">
            <a:solidFill>
              <a:schemeClr val="accent6"/>
            </a:solidFill>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0" name="Rounded Rectangle 2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1" name="Rectangle 30"/>
          <p:cNvSpPr/>
          <p:nvPr/>
        </p:nvSpPr>
        <p:spPr>
          <a:xfrm>
            <a:off x="4800600" y="5334000"/>
            <a:ext cx="1667765" cy="584775"/>
          </a:xfrm>
          <a:prstGeom prst="rect">
            <a:avLst/>
          </a:prstGeom>
        </p:spPr>
        <p:txBody>
          <a:bodyPr wrap="square">
            <a:spAutoFit/>
          </a:bodyPr>
          <a:lstStyle/>
          <a:p>
            <a:pPr algn="ctr"/>
            <a:r>
              <a:rPr lang="en-US" sz="1600" b="1" smtClean="0">
                <a:solidFill>
                  <a:schemeClr val="bg1"/>
                </a:solidFill>
              </a:rPr>
              <a:t>Gosu</a:t>
            </a:r>
            <a:br>
              <a:rPr lang="en-US" sz="1600" b="1" smtClean="0">
                <a:solidFill>
                  <a:schemeClr val="bg1"/>
                </a:solidFill>
              </a:rPr>
            </a:br>
            <a:r>
              <a:rPr lang="en-US" sz="1600" b="1" smtClean="0">
                <a:solidFill>
                  <a:schemeClr val="bg1"/>
                </a:solidFill>
              </a:rPr>
              <a:t> Class</a:t>
            </a:r>
            <a:endParaRPr lang="en-US" sz="1600" b="1">
              <a:solidFill>
                <a:schemeClr val="bg1"/>
              </a:solidFill>
            </a:endParaRPr>
          </a:p>
        </p:txBody>
      </p:sp>
      <p:pic>
        <p:nvPicPr>
          <p:cNvPr id="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5786" y="3800062"/>
            <a:ext cx="1443614" cy="16628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8" name="Rectangle 37"/>
          <p:cNvSpPr/>
          <p:nvPr/>
        </p:nvSpPr>
        <p:spPr>
          <a:xfrm>
            <a:off x="685800" y="5334000"/>
            <a:ext cx="1400976" cy="584775"/>
          </a:xfrm>
          <a:prstGeom prst="rect">
            <a:avLst/>
          </a:prstGeom>
        </p:spPr>
        <p:txBody>
          <a:bodyPr wrap="square">
            <a:spAutoFit/>
          </a:bodyPr>
          <a:lstStyle/>
          <a:p>
            <a:pPr algn="ctr"/>
            <a:r>
              <a:rPr lang="en-US" sz="1600" b="1" smtClean="0">
                <a:solidFill>
                  <a:schemeClr val="bg1"/>
                </a:solidFill>
              </a:rPr>
              <a:t>Plugin </a:t>
            </a:r>
            <a:br>
              <a:rPr lang="en-US" sz="1600" b="1" smtClean="0">
                <a:solidFill>
                  <a:schemeClr val="bg1"/>
                </a:solidFill>
              </a:rPr>
            </a:br>
            <a:r>
              <a:rPr lang="en-US" sz="1600" b="1" smtClean="0">
                <a:solidFill>
                  <a:schemeClr val="bg1"/>
                </a:solidFill>
              </a:rPr>
              <a:t>Registry</a:t>
            </a:r>
            <a:endParaRPr lang="en-US" sz="1600" b="1">
              <a:solidFill>
                <a:schemeClr val="bg1"/>
              </a:solidFill>
            </a:endParaRPr>
          </a:p>
        </p:txBody>
      </p:sp>
      <p:grpSp>
        <p:nvGrpSpPr>
          <p:cNvPr id="39" name="icon GWP file"/>
          <p:cNvGrpSpPr>
            <a:grpSpLocks noChangeAspect="1"/>
          </p:cNvGrpSpPr>
          <p:nvPr/>
        </p:nvGrpSpPr>
        <p:grpSpPr>
          <a:xfrm>
            <a:off x="914400" y="3809234"/>
            <a:ext cx="1204992" cy="1344023"/>
            <a:chOff x="4558702" y="2146900"/>
            <a:chExt cx="1246792" cy="1390650"/>
          </a:xfrm>
        </p:grpSpPr>
        <p:pic>
          <p:nvPicPr>
            <p:cNvPr id="4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1"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43"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4"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5"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6"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42" name="TextBox 41"/>
            <p:cNvSpPr txBox="1"/>
            <p:nvPr/>
          </p:nvSpPr>
          <p:spPr>
            <a:xfrm>
              <a:off x="4558702" y="2936002"/>
              <a:ext cx="1246792" cy="485656"/>
            </a:xfrm>
            <a:prstGeom prst="rect">
              <a:avLst/>
            </a:prstGeom>
            <a:noFill/>
          </p:spPr>
          <p:txBody>
            <a:bodyPr wrap="square" rtlCol="0">
              <a:noAutofit/>
            </a:bodyPr>
            <a:lstStyle/>
            <a:p>
              <a:pPr algn="ctr"/>
              <a:r>
                <a:rPr lang="en-US" sz="2400" b="1" smtClean="0">
                  <a:solidFill>
                    <a:schemeClr val="bg2"/>
                  </a:solidFill>
                  <a:latin typeface="Arial" pitchFamily="32" charset="0"/>
                  <a:cs typeface="Arial" pitchFamily="32" charset="0"/>
                </a:rPr>
                <a:t>GWP</a:t>
              </a:r>
            </a:p>
          </p:txBody>
        </p:sp>
      </p:grpSp>
      <p:pic>
        <p:nvPicPr>
          <p:cNvPr id="23" name="pic Logo PC" descr="PolicyCenter.png"/>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85586278"/>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PC/BC integration</a:t>
            </a:r>
          </a:p>
          <a:p>
            <a:r>
              <a:rPr lang="en-US" dirty="0"/>
              <a:t>Account and producer processing</a:t>
            </a:r>
          </a:p>
          <a:p>
            <a:r>
              <a:rPr lang="en-US" dirty="0"/>
              <a:t>Billing instructions</a:t>
            </a:r>
          </a:p>
          <a:p>
            <a:r>
              <a:rPr lang="en-US" dirty="0"/>
              <a:t>Billing status</a:t>
            </a:r>
          </a:p>
          <a:p>
            <a:r>
              <a:rPr lang="en-US" dirty="0">
                <a:solidFill>
                  <a:schemeClr val="bg1"/>
                </a:solidFill>
              </a:rPr>
              <a:t>Late payment cancellation</a:t>
            </a:r>
          </a:p>
          <a:p>
            <a:endParaRPr lang="en-US" dirty="0"/>
          </a:p>
        </p:txBody>
      </p:sp>
    </p:spTree>
    <p:extLst>
      <p:ext uri="{BB962C8B-B14F-4D97-AF65-F5344CB8AC3E}">
        <p14:creationId xmlns:p14="http://schemas.microsoft.com/office/powerpoint/2010/main" val="323111446"/>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smtClean="0"/>
              <a:t>Cancellations</a:t>
            </a:r>
            <a:endParaRPr lang="en-US"/>
          </a:p>
        </p:txBody>
      </p:sp>
      <p:sp>
        <p:nvSpPr>
          <p:cNvPr id="5" name="Content Placeholder 4"/>
          <p:cNvSpPr>
            <a:spLocks noGrp="1"/>
          </p:cNvSpPr>
          <p:nvPr>
            <p:ph idx="1"/>
          </p:nvPr>
        </p:nvSpPr>
        <p:spPr/>
        <p:txBody>
          <a:bodyPr/>
          <a:lstStyle/>
          <a:p>
            <a:r>
              <a:rPr lang="en-US" smtClean="0"/>
              <a:t>Initiated </a:t>
            </a:r>
            <a:r>
              <a:rPr lang="en-US"/>
              <a:t>by the carrier or the insured</a:t>
            </a:r>
          </a:p>
          <a:p>
            <a:r>
              <a:rPr lang="en-US" smtClean="0"/>
              <a:t>Starts </a:t>
            </a:r>
            <a:r>
              <a:rPr lang="en-US"/>
              <a:t>in either PolicyCenter or BillingCenter</a:t>
            </a:r>
          </a:p>
          <a:p>
            <a:endParaRPr lang="en-US"/>
          </a:p>
        </p:txBody>
      </p:sp>
      <p:graphicFrame>
        <p:nvGraphicFramePr>
          <p:cNvPr id="7" name="Table 6"/>
          <p:cNvGraphicFramePr>
            <a:graphicFrameLocks noGrp="1"/>
          </p:cNvGraphicFramePr>
          <p:nvPr>
            <p:extLst>
              <p:ext uri="{D42A27DB-BD31-4B8C-83A1-F6EECF244321}">
                <p14:modId xmlns:p14="http://schemas.microsoft.com/office/powerpoint/2010/main" val="3478417194"/>
              </p:ext>
            </p:extLst>
          </p:nvPr>
        </p:nvGraphicFramePr>
        <p:xfrm>
          <a:off x="533400" y="1905000"/>
          <a:ext cx="8458200" cy="4456770"/>
        </p:xfrm>
        <a:graphic>
          <a:graphicData uri="http://schemas.openxmlformats.org/drawingml/2006/table">
            <a:tbl>
              <a:tblPr firstRow="1" firstCol="1" bandRow="1">
                <a:tableStyleId>{93296810-A885-4BE3-A3E7-6D5BEEA58F35}</a:tableStyleId>
              </a:tblPr>
              <a:tblGrid>
                <a:gridCol w="1752600"/>
                <a:gridCol w="3048000"/>
                <a:gridCol w="3657600"/>
              </a:tblGrid>
              <a:tr h="860151">
                <a:tc>
                  <a:txBody>
                    <a:bodyPr/>
                    <a:lstStyle/>
                    <a:p>
                      <a:endParaRPr lang="en-US" dirty="0"/>
                    </a:p>
                  </a:txBody>
                  <a:tcP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tx1"/>
                    </a:solidFill>
                  </a:tcPr>
                </a:tc>
                <a:tc>
                  <a:txBody>
                    <a:bodyPr/>
                    <a:lstStyle/>
                    <a:p>
                      <a:r>
                        <a:rPr lang="en-US" smtClean="0"/>
                        <a:t>Carrier initiates cancellation when policy holder…</a:t>
                      </a:r>
                      <a:endParaRPr lang="en-US"/>
                    </a:p>
                  </a:txBody>
                  <a:tcPr>
                    <a:lnL w="12700" cmpd="sng">
                      <a:noFill/>
                    </a:lnL>
                  </a:tcPr>
                </a:tc>
                <a:tc>
                  <a:txBody>
                    <a:bodyPr/>
                    <a:lstStyle/>
                    <a:p>
                      <a:r>
                        <a:rPr lang="en-US" smtClean="0"/>
                        <a:t>Insured initiates cancellation when…</a:t>
                      </a:r>
                      <a:endParaRPr lang="en-US"/>
                    </a:p>
                  </a:txBody>
                  <a:tcPr/>
                </a:tc>
              </a:tr>
              <a:tr h="1805010">
                <a:tc>
                  <a:txBody>
                    <a:bodyPr/>
                    <a:lstStyle/>
                    <a:p>
                      <a:endParaRPr lang="en-US" dirty="0" smtClean="0"/>
                    </a:p>
                    <a:p>
                      <a:endParaRPr lang="en-US" dirty="0" smtClean="0"/>
                    </a:p>
                    <a:p>
                      <a:endParaRPr lang="en-US" dirty="0" smtClean="0"/>
                    </a:p>
                    <a:p>
                      <a:r>
                        <a:rPr lang="en-US" dirty="0" smtClean="0"/>
                        <a:t>PolicyCenter starts cancellation</a:t>
                      </a:r>
                    </a:p>
                  </a:txBody>
                  <a:tcPr>
                    <a:lnT w="38100" cmpd="sng">
                      <a:noFill/>
                    </a:lnT>
                  </a:tcPr>
                </a:tc>
                <a:tc>
                  <a:txBody>
                    <a:bodyPr/>
                    <a:lstStyle/>
                    <a:p>
                      <a:pPr marL="285750" indent="-285750">
                        <a:buFont typeface="Arial" pitchFamily="34" charset="0"/>
                        <a:buChar char="•"/>
                      </a:pPr>
                      <a:r>
                        <a:rPr lang="en-US" dirty="0" smtClean="0"/>
                        <a:t>Fails to provide necessary</a:t>
                      </a:r>
                      <a:r>
                        <a:rPr lang="en-US" baseline="0" dirty="0" smtClean="0"/>
                        <a:t> </a:t>
                      </a:r>
                      <a:r>
                        <a:rPr lang="en-US" dirty="0" smtClean="0"/>
                        <a:t>information, or</a:t>
                      </a:r>
                    </a:p>
                    <a:p>
                      <a:pPr marL="285750" indent="-285750">
                        <a:buFont typeface="Arial" pitchFamily="34" charset="0"/>
                        <a:buChar char="•"/>
                      </a:pPr>
                      <a:r>
                        <a:rPr lang="en-US" dirty="0" smtClean="0"/>
                        <a:t>Does not cooperate</a:t>
                      </a:r>
                      <a:br>
                        <a:rPr lang="en-US" dirty="0" smtClean="0"/>
                      </a:br>
                      <a:r>
                        <a:rPr lang="en-US" dirty="0" smtClean="0"/>
                        <a:t>during final audit, or </a:t>
                      </a:r>
                    </a:p>
                    <a:p>
                      <a:pPr marL="285750" indent="-285750">
                        <a:buFont typeface="Arial" pitchFamily="34" charset="0"/>
                        <a:buChar char="•"/>
                      </a:pPr>
                      <a:r>
                        <a:rPr lang="en-US" dirty="0" smtClean="0"/>
                        <a:t>Does not provide premium report</a:t>
                      </a:r>
                      <a:endParaRPr lang="en-US" dirty="0"/>
                    </a:p>
                  </a:txBody>
                  <a:tcPr/>
                </a:tc>
                <a:tc>
                  <a:txBody>
                    <a:bodyPr/>
                    <a:lstStyle/>
                    <a:p>
                      <a:pPr marL="285750" indent="-285750">
                        <a:buFont typeface="Arial" pitchFamily="34" charset="0"/>
                        <a:buChar char="•"/>
                      </a:pPr>
                      <a:r>
                        <a:rPr lang="en-US" smtClean="0"/>
                        <a:t>Changing carrier</a:t>
                      </a:r>
                    </a:p>
                    <a:p>
                      <a:pPr marL="285750" indent="-285750">
                        <a:buFont typeface="Arial" pitchFamily="34" charset="0"/>
                        <a:buChar char="•"/>
                      </a:pPr>
                      <a:r>
                        <a:rPr lang="en-US" smtClean="0"/>
                        <a:t>Going out of business</a:t>
                      </a:r>
                    </a:p>
                    <a:p>
                      <a:pPr marL="285750" indent="-285750">
                        <a:buFont typeface="Arial" pitchFamily="34" charset="0"/>
                        <a:buChar char="•"/>
                      </a:pPr>
                      <a:r>
                        <a:rPr lang="en-US" smtClean="0"/>
                        <a:t>Moving out of insured  geographical area</a:t>
                      </a:r>
                    </a:p>
                    <a:p>
                      <a:endParaRPr lang="en-US"/>
                    </a:p>
                  </a:txBody>
                  <a:tcPr/>
                </a:tc>
              </a:tr>
              <a:tr h="1663709">
                <a:tc>
                  <a:txBody>
                    <a:bodyPr/>
                    <a:lstStyle/>
                    <a:p>
                      <a:endParaRPr lang="en-US" smtClean="0"/>
                    </a:p>
                    <a:p>
                      <a:r>
                        <a:rPr lang="en-US" smtClean="0"/>
                        <a:t/>
                      </a:r>
                      <a:br>
                        <a:rPr lang="en-US" smtClean="0"/>
                      </a:br>
                      <a:endParaRPr lang="en-US" smtClean="0"/>
                    </a:p>
                    <a:p>
                      <a:r>
                        <a:rPr lang="en-US" smtClean="0"/>
                        <a:t>BillingCenter starts cancellation</a:t>
                      </a:r>
                    </a:p>
                  </a:txBody>
                  <a:tcPr/>
                </a:tc>
                <a:tc>
                  <a:txBody>
                    <a:bodyPr/>
                    <a:lstStyle/>
                    <a:p>
                      <a:pPr marL="285750" indent="-285750">
                        <a:buFont typeface="Arial" pitchFamily="34" charset="0"/>
                        <a:buChar char="•"/>
                      </a:pPr>
                      <a:r>
                        <a:rPr lang="en-US" smtClean="0"/>
                        <a:t>Is past due on payments</a:t>
                      </a:r>
                    </a:p>
                    <a:p>
                      <a:endParaRPr lang="en-US"/>
                    </a:p>
                  </a:txBody>
                  <a:tcPr/>
                </a:tc>
                <a:tc>
                  <a:txBody>
                    <a:bodyPr/>
                    <a:lstStyle/>
                    <a:p>
                      <a:endParaRPr lang="en-US"/>
                    </a:p>
                  </a:txBody>
                  <a:tcPr/>
                </a:tc>
              </a:tr>
            </a:tbl>
          </a:graphicData>
        </a:graphic>
      </p:graphicFrame>
      <p:sp>
        <p:nvSpPr>
          <p:cNvPr id="8" name="Right Arrow 7"/>
          <p:cNvSpPr/>
          <p:nvPr/>
        </p:nvSpPr>
        <p:spPr bwMode="auto">
          <a:xfrm>
            <a:off x="1044931" y="2907957"/>
            <a:ext cx="60960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600200" y="2875128"/>
            <a:ext cx="565485" cy="548640"/>
          </a:xfrm>
          <a:prstGeom prst="rect">
            <a:avLst/>
          </a:prstGeom>
          <a:effectLst>
            <a:outerShdw blurRad="50800" dist="38100" dir="2700000" algn="tl" rotWithShape="0">
              <a:prstClr val="black">
                <a:alpha val="40000"/>
              </a:prstClr>
            </a:outerShdw>
          </a:effectLst>
        </p:spPr>
      </p:pic>
      <p:pic>
        <p:nvPicPr>
          <p:cNvPr id="10" name="Picture 9"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 y="2871810"/>
            <a:ext cx="565862" cy="548640"/>
          </a:xfrm>
          <a:prstGeom prst="rect">
            <a:avLst/>
          </a:prstGeom>
          <a:effectLst>
            <a:outerShdw blurRad="50800" dist="38100" dir="2700000" algn="tl" rotWithShape="0">
              <a:prstClr val="black">
                <a:alpha val="40000"/>
              </a:prstClr>
            </a:outerShdw>
          </a:effectLst>
        </p:spPr>
      </p:pic>
      <p:sp>
        <p:nvSpPr>
          <p:cNvPr id="11" name="Right Arrow 10"/>
          <p:cNvSpPr/>
          <p:nvPr/>
        </p:nvSpPr>
        <p:spPr bwMode="auto">
          <a:xfrm rot="10800000">
            <a:off x="1052950" y="4705595"/>
            <a:ext cx="601579" cy="528415"/>
          </a:xfrm>
          <a:prstGeom prst="rightArrow">
            <a:avLst/>
          </a:prstGeom>
          <a:gradFill flip="none" rotWithShape="1">
            <a:gsLst>
              <a:gs pos="0">
                <a:schemeClr val="accent4"/>
              </a:gs>
              <a:gs pos="100000">
                <a:schemeClr val="accent3"/>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2" name="Picture 1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78331" y="4672769"/>
            <a:ext cx="565485" cy="548640"/>
          </a:xfrm>
          <a:prstGeom prst="rect">
            <a:avLst/>
          </a:prstGeom>
          <a:effectLst>
            <a:outerShdw blurRad="50800" dist="38100" dir="2700000" algn="tl" rotWithShape="0">
              <a:prstClr val="black">
                <a:alpha val="40000"/>
              </a:prstClr>
            </a:outerShdw>
          </a:effectLst>
        </p:spPr>
      </p:pic>
      <p:pic>
        <p:nvPicPr>
          <p:cNvPr id="13" name="Picture 12"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09600" y="4669451"/>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202704159"/>
      </p:ext>
    </p:extLst>
  </p:cSld>
  <p:clrMapOvr>
    <a:masterClrMapping/>
  </p:clrMapOvr>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bwMode="auto">
          <a:xfrm>
            <a:off x="533400" y="1371600"/>
            <a:ext cx="3200400" cy="5105400"/>
          </a:xfrm>
          <a:prstGeom prst="roundRect">
            <a:avLst>
              <a:gd name="adj" fmla="val 5270"/>
            </a:avLst>
          </a:prstGeom>
          <a:solidFill>
            <a:schemeClr val="accent3">
              <a:lumMod val="60000"/>
              <a:lumOff val="4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9" name="Text Box 28"/>
          <p:cNvSpPr txBox="1">
            <a:spLocks noChangeArrowheads="1"/>
          </p:cNvSpPr>
          <p:nvPr/>
        </p:nvSpPr>
        <p:spPr bwMode="hidden">
          <a:xfrm>
            <a:off x="4114800" y="3200400"/>
            <a:ext cx="1752600" cy="64008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z="1800"/>
              <a:t>Rescind</a:t>
            </a:r>
            <a:br>
              <a:rPr lang="en-US" sz="1800"/>
            </a:br>
            <a:r>
              <a:rPr lang="en-US" sz="1800"/>
              <a:t> request</a:t>
            </a:r>
            <a:endParaRPr lang="en-US" sz="1800" dirty="0"/>
          </a:p>
        </p:txBody>
      </p:sp>
      <p:sp>
        <p:nvSpPr>
          <p:cNvPr id="33" name="Text Box 28"/>
          <p:cNvSpPr txBox="1">
            <a:spLocks noChangeArrowheads="1"/>
          </p:cNvSpPr>
          <p:nvPr/>
        </p:nvSpPr>
        <p:spPr bwMode="hidden">
          <a:xfrm>
            <a:off x="4114800" y="1905000"/>
            <a:ext cx="1752600" cy="64008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z="1800" smtClean="0"/>
              <a:t>Cancellation</a:t>
            </a:r>
            <a:br>
              <a:rPr lang="en-US" sz="1800" smtClean="0"/>
            </a:br>
            <a:r>
              <a:rPr lang="en-US" sz="1800" smtClean="0"/>
              <a:t> request</a:t>
            </a:r>
            <a:endParaRPr lang="en-US" sz="1800" dirty="0"/>
          </a:p>
        </p:txBody>
      </p:sp>
      <p:sp>
        <p:nvSpPr>
          <p:cNvPr id="8" name="Rounded Rectangle 7"/>
          <p:cNvSpPr/>
          <p:nvPr/>
        </p:nvSpPr>
        <p:spPr bwMode="auto">
          <a:xfrm>
            <a:off x="6324600" y="1371600"/>
            <a:ext cx="2667000" cy="5105400"/>
          </a:xfrm>
          <a:prstGeom prst="roundRect">
            <a:avLst>
              <a:gd name="adj" fmla="val 5270"/>
            </a:avLst>
          </a:prstGeom>
          <a:solidFill>
            <a:schemeClr val="accent4">
              <a:lumMod val="60000"/>
              <a:lumOff val="4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Late payment rescind</a:t>
            </a:r>
            <a:endParaRPr lang="en-US" dirty="0"/>
          </a:p>
        </p:txBody>
      </p:sp>
      <p:sp>
        <p:nvSpPr>
          <p:cNvPr id="20" name="Rounded Rectangle 19"/>
          <p:cNvSpPr/>
          <p:nvPr/>
        </p:nvSpPr>
        <p:spPr bwMode="auto">
          <a:xfrm>
            <a:off x="6515100" y="1714500"/>
            <a:ext cx="2369820" cy="640080"/>
          </a:xfrm>
          <a:prstGeom prst="roundRect">
            <a:avLst>
              <a:gd name="adj" fmla="val 9224"/>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Delinquency plan </a:t>
            </a:r>
            <a:r>
              <a:rPr lang="en-US" smtClean="0">
                <a:solidFill>
                  <a:schemeClr val="bg1"/>
                </a:solidFill>
              </a:rPr>
              <a:t/>
            </a:r>
            <a:br>
              <a:rPr lang="en-US" smtClean="0">
                <a:solidFill>
                  <a:schemeClr val="bg1"/>
                </a:solidFill>
              </a:rPr>
            </a:br>
            <a:r>
              <a:rPr lang="en-US" smtClean="0">
                <a:solidFill>
                  <a:schemeClr val="bg1"/>
                </a:solidFill>
              </a:rPr>
              <a:t>executes cancellation</a:t>
            </a:r>
            <a:endParaRPr lang="en-US" dirty="0">
              <a:solidFill>
                <a:schemeClr val="bg1"/>
              </a:solidFill>
            </a:endParaRPr>
          </a:p>
        </p:txBody>
      </p:sp>
      <p:sp>
        <p:nvSpPr>
          <p:cNvPr id="21" name="Rounded Rectangle 20"/>
          <p:cNvSpPr/>
          <p:nvPr/>
        </p:nvSpPr>
        <p:spPr bwMode="auto">
          <a:xfrm>
            <a:off x="6515100" y="3124200"/>
            <a:ext cx="2369820" cy="914400"/>
          </a:xfrm>
          <a:prstGeom prst="roundRect">
            <a:avLst>
              <a:gd name="adj" fmla="val 5916"/>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Payment received </a:t>
            </a:r>
            <a:br>
              <a:rPr lang="en-US">
                <a:solidFill>
                  <a:schemeClr val="bg1"/>
                </a:solidFill>
              </a:rPr>
            </a:br>
            <a:r>
              <a:rPr lang="en-US">
                <a:solidFill>
                  <a:schemeClr val="bg1"/>
                </a:solidFill>
              </a:rPr>
              <a:t>so rescind </a:t>
            </a:r>
            <a:br>
              <a:rPr lang="en-US">
                <a:solidFill>
                  <a:schemeClr val="bg1"/>
                </a:solidFill>
              </a:rPr>
            </a:br>
            <a:r>
              <a:rPr lang="en-US">
                <a:solidFill>
                  <a:schemeClr val="bg1"/>
                </a:solidFill>
              </a:rPr>
              <a:t>cancellation</a:t>
            </a:r>
            <a:endParaRPr lang="en-US" dirty="0">
              <a:solidFill>
                <a:schemeClr val="bg1"/>
              </a:solidFill>
            </a:endParaRPr>
          </a:p>
        </p:txBody>
      </p:sp>
      <p:sp>
        <p:nvSpPr>
          <p:cNvPr id="35" name="Rounded Rectangle 34"/>
          <p:cNvSpPr/>
          <p:nvPr/>
        </p:nvSpPr>
        <p:spPr bwMode="auto">
          <a:xfrm>
            <a:off x="723899" y="1943099"/>
            <a:ext cx="2815721" cy="640080"/>
          </a:xfrm>
          <a:prstGeom prst="roundRect">
            <a:avLst>
              <a:gd name="adj" fmla="val 7906"/>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Start non-pay </a:t>
            </a:r>
            <a:r>
              <a:rPr lang="en-US" smtClean="0">
                <a:solidFill>
                  <a:schemeClr val="bg1"/>
                </a:solidFill>
              </a:rPr>
              <a:t>cancellation </a:t>
            </a:r>
            <a:r>
              <a:rPr lang="en-US">
                <a:solidFill>
                  <a:schemeClr val="bg1"/>
                </a:solidFill>
              </a:rPr>
              <a:t/>
            </a:r>
            <a:br>
              <a:rPr lang="en-US">
                <a:solidFill>
                  <a:schemeClr val="bg1"/>
                </a:solidFill>
              </a:rPr>
            </a:br>
            <a:r>
              <a:rPr lang="en-US">
                <a:solidFill>
                  <a:schemeClr val="bg1"/>
                </a:solidFill>
              </a:rPr>
              <a:t>(status is pending</a:t>
            </a:r>
            <a:r>
              <a:rPr lang="en-US" smtClean="0">
                <a:solidFill>
                  <a:schemeClr val="bg1"/>
                </a:solidFill>
              </a:rPr>
              <a:t>)</a:t>
            </a:r>
            <a:endParaRPr lang="en-US">
              <a:solidFill>
                <a:schemeClr val="bg1"/>
              </a:solidFill>
            </a:endParaRPr>
          </a:p>
        </p:txBody>
      </p:sp>
      <p:sp>
        <p:nvSpPr>
          <p:cNvPr id="43" name="num3"/>
          <p:cNvSpPr/>
          <p:nvPr/>
        </p:nvSpPr>
        <p:spPr bwMode="auto">
          <a:xfrm>
            <a:off x="568780" y="1828800"/>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3</a:t>
            </a:r>
            <a:endParaRPr lang="en-US" dirty="0">
              <a:solidFill>
                <a:schemeClr val="bg1"/>
              </a:solidFill>
            </a:endParaRPr>
          </a:p>
        </p:txBody>
      </p:sp>
      <p:sp>
        <p:nvSpPr>
          <p:cNvPr id="46" name="num4"/>
          <p:cNvSpPr/>
          <p:nvPr/>
        </p:nvSpPr>
        <p:spPr bwMode="auto">
          <a:xfrm>
            <a:off x="6362700" y="3000374"/>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2</a:t>
            </a:r>
            <a:endParaRPr lang="en-US" dirty="0">
              <a:solidFill>
                <a:schemeClr val="bg1"/>
              </a:solidFill>
            </a:endParaRPr>
          </a:p>
        </p:txBody>
      </p:sp>
      <p:sp>
        <p:nvSpPr>
          <p:cNvPr id="48" name="num1"/>
          <p:cNvSpPr/>
          <p:nvPr/>
        </p:nvSpPr>
        <p:spPr bwMode="auto">
          <a:xfrm>
            <a:off x="6358578" y="1600200"/>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1</a:t>
            </a:r>
            <a:endParaRPr lang="en-US" dirty="0">
              <a:solidFill>
                <a:schemeClr val="bg1"/>
              </a:solidFill>
            </a:endParaRPr>
          </a:p>
        </p:txBody>
      </p:sp>
      <p:pic>
        <p:nvPicPr>
          <p:cNvPr id="52" name="Picture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315" y="895350"/>
            <a:ext cx="565485" cy="548640"/>
          </a:xfrm>
          <a:prstGeom prst="rect">
            <a:avLst/>
          </a:prstGeom>
          <a:effectLst>
            <a:outerShdw blurRad="50800" dist="38100" dir="2700000" algn="tl" rotWithShape="0">
              <a:prstClr val="black">
                <a:alpha val="40000"/>
              </a:prstClr>
            </a:outerShdw>
          </a:effectLst>
        </p:spPr>
      </p:pic>
      <p:pic>
        <p:nvPicPr>
          <p:cNvPr id="53" name="Picture 52"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22" name="Rounded Rectangle 21"/>
          <p:cNvSpPr/>
          <p:nvPr/>
        </p:nvSpPr>
        <p:spPr bwMode="auto">
          <a:xfrm>
            <a:off x="723899" y="3314698"/>
            <a:ext cx="2815721" cy="640080"/>
          </a:xfrm>
          <a:prstGeom prst="roundRect">
            <a:avLst>
              <a:gd name="adj" fmla="val 7906"/>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Rescind pending </a:t>
            </a:r>
            <a:br>
              <a:rPr lang="en-US">
                <a:solidFill>
                  <a:schemeClr val="bg1"/>
                </a:solidFill>
              </a:rPr>
            </a:br>
            <a:r>
              <a:rPr lang="en-US">
                <a:solidFill>
                  <a:schemeClr val="bg1"/>
                </a:solidFill>
              </a:rPr>
              <a:t>cancellation</a:t>
            </a:r>
          </a:p>
        </p:txBody>
      </p:sp>
      <p:sp>
        <p:nvSpPr>
          <p:cNvPr id="23" name="num3"/>
          <p:cNvSpPr/>
          <p:nvPr/>
        </p:nvSpPr>
        <p:spPr bwMode="auto">
          <a:xfrm>
            <a:off x="568780" y="3200400"/>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4</a:t>
            </a:r>
            <a:endParaRPr lang="en-US" dirty="0">
              <a:solidFill>
                <a:schemeClr val="bg1"/>
              </a:solidFill>
            </a:endParaRPr>
          </a:p>
        </p:txBody>
      </p:sp>
      <p:sp>
        <p:nvSpPr>
          <p:cNvPr id="42" name="Left Arrow 41"/>
          <p:cNvSpPr/>
          <p:nvPr/>
        </p:nvSpPr>
        <p:spPr bwMode="auto">
          <a:xfrm>
            <a:off x="5808215" y="3200400"/>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4" name="Left Arrow 43"/>
          <p:cNvSpPr/>
          <p:nvPr/>
        </p:nvSpPr>
        <p:spPr bwMode="auto">
          <a:xfrm>
            <a:off x="3636515" y="3505200"/>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6" name="Left Arrow 25"/>
          <p:cNvSpPr/>
          <p:nvPr/>
        </p:nvSpPr>
        <p:spPr bwMode="auto">
          <a:xfrm>
            <a:off x="3642360" y="2209800"/>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7" name="Left Arrow 26"/>
          <p:cNvSpPr/>
          <p:nvPr/>
        </p:nvSpPr>
        <p:spPr bwMode="auto">
          <a:xfrm>
            <a:off x="5823585" y="1905000"/>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857601734"/>
      </p:ext>
    </p:extLst>
  </p:cSld>
  <p:clrMapOvr>
    <a:masterClrMapping/>
  </p:clrMapOvr>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bwMode="auto">
          <a:xfrm>
            <a:off x="533400" y="1371600"/>
            <a:ext cx="3200400" cy="5105400"/>
          </a:xfrm>
          <a:prstGeom prst="roundRect">
            <a:avLst>
              <a:gd name="adj" fmla="val 5270"/>
            </a:avLst>
          </a:prstGeom>
          <a:solidFill>
            <a:schemeClr val="accent3">
              <a:lumMod val="60000"/>
              <a:lumOff val="4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8" name="Rounded Rectangle 37"/>
          <p:cNvSpPr/>
          <p:nvPr/>
        </p:nvSpPr>
        <p:spPr bwMode="auto">
          <a:xfrm>
            <a:off x="625929" y="4876800"/>
            <a:ext cx="3031671" cy="701040"/>
          </a:xfrm>
          <a:prstGeom prst="roundRect">
            <a:avLst>
              <a:gd name="adj" fmla="val 4734"/>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rot="0" spcFirstLastPara="0" vertOverflow="overflow" horzOverflow="overflow" vert="horz" wrap="none" lIns="45720" tIns="0" rIns="45720" bIns="0" numCol="1" spcCol="0" rtlCol="0" fromWordArt="0" anchor="t" anchorCtr="0" forceAA="0" compatLnSpc="1">
            <a:prstTxWarp prst="textNoShape">
              <a:avLst/>
            </a:prstTxWarp>
            <a:noAutofit/>
          </a:bodyPr>
          <a:lstStyle/>
          <a:p>
            <a:pPr>
              <a:spcBef>
                <a:spcPct val="50000"/>
              </a:spcBef>
              <a:spcAft>
                <a:spcPct val="30000"/>
              </a:spcAft>
              <a:buClr>
                <a:schemeClr val="tx1"/>
              </a:buClr>
            </a:pPr>
            <a:endParaRPr lang="en-US">
              <a:solidFill>
                <a:schemeClr val="bg1"/>
              </a:solidFill>
            </a:endParaRPr>
          </a:p>
        </p:txBody>
      </p:sp>
      <p:sp>
        <p:nvSpPr>
          <p:cNvPr id="29" name="Text Box 28"/>
          <p:cNvSpPr txBox="1">
            <a:spLocks noChangeArrowheads="1"/>
          </p:cNvSpPr>
          <p:nvPr/>
        </p:nvSpPr>
        <p:spPr bwMode="hidden">
          <a:xfrm>
            <a:off x="4114800" y="3169920"/>
            <a:ext cx="1752600" cy="64008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z="1800" smtClean="0"/>
              <a:t>Cancellation</a:t>
            </a:r>
            <a:br>
              <a:rPr lang="en-US" sz="1800" smtClean="0"/>
            </a:br>
            <a:r>
              <a:rPr lang="en-US" sz="1800" smtClean="0"/>
              <a:t>billing request</a:t>
            </a:r>
            <a:endParaRPr lang="en-US" sz="1800" dirty="0"/>
          </a:p>
        </p:txBody>
      </p:sp>
      <p:sp>
        <p:nvSpPr>
          <p:cNvPr id="33" name="Text Box 28"/>
          <p:cNvSpPr txBox="1">
            <a:spLocks noChangeArrowheads="1"/>
          </p:cNvSpPr>
          <p:nvPr/>
        </p:nvSpPr>
        <p:spPr bwMode="hidden">
          <a:xfrm>
            <a:off x="4114800" y="1905000"/>
            <a:ext cx="1752600" cy="64008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z="1800" smtClean="0"/>
              <a:t>Cancellation</a:t>
            </a:r>
            <a:br>
              <a:rPr lang="en-US" sz="1800" smtClean="0"/>
            </a:br>
            <a:r>
              <a:rPr lang="en-US" sz="1800" smtClean="0"/>
              <a:t> request</a:t>
            </a:r>
            <a:endParaRPr lang="en-US" sz="1800" dirty="0"/>
          </a:p>
        </p:txBody>
      </p:sp>
      <p:sp>
        <p:nvSpPr>
          <p:cNvPr id="31" name="Text Box 28"/>
          <p:cNvSpPr txBox="1">
            <a:spLocks noChangeArrowheads="1"/>
          </p:cNvSpPr>
          <p:nvPr/>
        </p:nvSpPr>
        <p:spPr bwMode="hidden">
          <a:xfrm>
            <a:off x="4114800" y="4114800"/>
            <a:ext cx="1752600" cy="118872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z="1800"/>
              <a:t>Billing rep </a:t>
            </a:r>
            <a:r>
              <a:rPr lang="en-US" sz="1800" smtClean="0"/>
              <a:t/>
            </a:r>
            <a:br>
              <a:rPr lang="en-US" sz="1800" smtClean="0"/>
            </a:br>
            <a:r>
              <a:rPr lang="en-US" sz="1800" smtClean="0"/>
              <a:t>informs </a:t>
            </a:r>
            <a:br>
              <a:rPr lang="en-US" sz="1800" smtClean="0"/>
            </a:br>
            <a:r>
              <a:rPr lang="en-US" sz="1800" smtClean="0"/>
              <a:t>underwriting </a:t>
            </a:r>
            <a:br>
              <a:rPr lang="en-US" sz="1800" smtClean="0"/>
            </a:br>
            <a:r>
              <a:rPr lang="en-US" sz="1800" smtClean="0"/>
              <a:t>of </a:t>
            </a:r>
            <a:r>
              <a:rPr lang="en-US" sz="1800"/>
              <a:t>payment</a:t>
            </a:r>
          </a:p>
        </p:txBody>
      </p:sp>
      <p:sp>
        <p:nvSpPr>
          <p:cNvPr id="8" name="Rounded Rectangle 7"/>
          <p:cNvSpPr/>
          <p:nvPr/>
        </p:nvSpPr>
        <p:spPr bwMode="auto">
          <a:xfrm>
            <a:off x="6324600" y="1371600"/>
            <a:ext cx="2667000" cy="5105400"/>
          </a:xfrm>
          <a:prstGeom prst="roundRect">
            <a:avLst>
              <a:gd name="adj" fmla="val 5270"/>
            </a:avLst>
          </a:prstGeom>
          <a:solidFill>
            <a:schemeClr val="accent4">
              <a:lumMod val="60000"/>
              <a:lumOff val="4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 name="Title 3"/>
          <p:cNvSpPr>
            <a:spLocks noGrp="1"/>
          </p:cNvSpPr>
          <p:nvPr>
            <p:ph type="title"/>
          </p:nvPr>
        </p:nvSpPr>
        <p:spPr/>
        <p:txBody>
          <a:bodyPr/>
          <a:lstStyle/>
          <a:p>
            <a:r>
              <a:rPr lang="en-US"/>
              <a:t>Late payment reinstatement</a:t>
            </a:r>
            <a:endParaRPr lang="en-US" dirty="0"/>
          </a:p>
        </p:txBody>
      </p:sp>
      <p:sp>
        <p:nvSpPr>
          <p:cNvPr id="12" name="Left Arrow 11"/>
          <p:cNvSpPr/>
          <p:nvPr/>
        </p:nvSpPr>
        <p:spPr bwMode="auto">
          <a:xfrm>
            <a:off x="5823585" y="4495800"/>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8" name="Rounded Rectangle 17"/>
          <p:cNvSpPr/>
          <p:nvPr/>
        </p:nvSpPr>
        <p:spPr bwMode="auto">
          <a:xfrm>
            <a:off x="723900" y="5044440"/>
            <a:ext cx="2815720" cy="365760"/>
          </a:xfrm>
          <a:prstGeom prst="roundRect">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User </a:t>
            </a:r>
            <a:r>
              <a:rPr lang="en-US" smtClean="0">
                <a:solidFill>
                  <a:schemeClr val="bg1"/>
                </a:solidFill>
              </a:rPr>
              <a:t>decides to </a:t>
            </a:r>
            <a:r>
              <a:rPr lang="en-US">
                <a:solidFill>
                  <a:schemeClr val="bg1"/>
                </a:solidFill>
              </a:rPr>
              <a:t>reinstate*</a:t>
            </a:r>
          </a:p>
        </p:txBody>
      </p:sp>
      <p:sp>
        <p:nvSpPr>
          <p:cNvPr id="20" name="Rounded Rectangle 19"/>
          <p:cNvSpPr/>
          <p:nvPr/>
        </p:nvSpPr>
        <p:spPr bwMode="auto">
          <a:xfrm>
            <a:off x="6515100" y="1714500"/>
            <a:ext cx="2369820" cy="640080"/>
          </a:xfrm>
          <a:prstGeom prst="roundRect">
            <a:avLst>
              <a:gd name="adj" fmla="val 9224"/>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Delinquency plan </a:t>
            </a:r>
            <a:r>
              <a:rPr lang="en-US" smtClean="0">
                <a:solidFill>
                  <a:schemeClr val="bg1"/>
                </a:solidFill>
              </a:rPr>
              <a:t/>
            </a:r>
            <a:br>
              <a:rPr lang="en-US" smtClean="0">
                <a:solidFill>
                  <a:schemeClr val="bg1"/>
                </a:solidFill>
              </a:rPr>
            </a:br>
            <a:r>
              <a:rPr lang="en-US" smtClean="0">
                <a:solidFill>
                  <a:schemeClr val="bg1"/>
                </a:solidFill>
              </a:rPr>
              <a:t>executes cancellation</a:t>
            </a:r>
            <a:endParaRPr lang="en-US" dirty="0">
              <a:solidFill>
                <a:schemeClr val="bg1"/>
              </a:solidFill>
            </a:endParaRPr>
          </a:p>
        </p:txBody>
      </p:sp>
      <p:sp>
        <p:nvSpPr>
          <p:cNvPr id="21" name="Rounded Rectangle 20"/>
          <p:cNvSpPr/>
          <p:nvPr/>
        </p:nvSpPr>
        <p:spPr bwMode="auto">
          <a:xfrm>
            <a:off x="6515100" y="3124200"/>
            <a:ext cx="2369820" cy="914400"/>
          </a:xfrm>
          <a:prstGeom prst="roundRect">
            <a:avLst>
              <a:gd name="adj" fmla="val 5916"/>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Process </a:t>
            </a:r>
            <a:r>
              <a:rPr lang="en-US" smtClean="0">
                <a:solidFill>
                  <a:schemeClr val="bg1"/>
                </a:solidFill>
              </a:rPr>
              <a:t>cancellation </a:t>
            </a:r>
            <a:br>
              <a:rPr lang="en-US" smtClean="0">
                <a:solidFill>
                  <a:schemeClr val="bg1"/>
                </a:solidFill>
              </a:rPr>
            </a:br>
            <a:r>
              <a:rPr lang="en-US" smtClean="0">
                <a:solidFill>
                  <a:schemeClr val="bg1"/>
                </a:solidFill>
              </a:rPr>
              <a:t>charges </a:t>
            </a:r>
            <a:br>
              <a:rPr lang="en-US" smtClean="0">
                <a:solidFill>
                  <a:schemeClr val="bg1"/>
                </a:solidFill>
              </a:rPr>
            </a:br>
            <a:r>
              <a:rPr lang="en-US" smtClean="0">
                <a:solidFill>
                  <a:schemeClr val="bg1"/>
                </a:solidFill>
              </a:rPr>
              <a:t>(</a:t>
            </a:r>
            <a:r>
              <a:rPr lang="en-US">
                <a:solidFill>
                  <a:schemeClr val="bg1"/>
                </a:solidFill>
              </a:rPr>
              <a:t>usually credits)</a:t>
            </a:r>
          </a:p>
        </p:txBody>
      </p:sp>
      <p:sp>
        <p:nvSpPr>
          <p:cNvPr id="25" name="Left Arrow 24"/>
          <p:cNvSpPr/>
          <p:nvPr/>
        </p:nvSpPr>
        <p:spPr bwMode="auto">
          <a:xfrm>
            <a:off x="5823585" y="1905000"/>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5" name="Rounded Rectangle 34"/>
          <p:cNvSpPr/>
          <p:nvPr/>
        </p:nvSpPr>
        <p:spPr bwMode="auto">
          <a:xfrm>
            <a:off x="723899" y="1943099"/>
            <a:ext cx="2815721" cy="640080"/>
          </a:xfrm>
          <a:prstGeom prst="roundRect">
            <a:avLst>
              <a:gd name="adj" fmla="val 7906"/>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Start non-pay </a:t>
            </a:r>
            <a:r>
              <a:rPr lang="en-US" smtClean="0">
                <a:solidFill>
                  <a:schemeClr val="bg1"/>
                </a:solidFill>
              </a:rPr>
              <a:t>cancellation </a:t>
            </a:r>
            <a:r>
              <a:rPr lang="en-US">
                <a:solidFill>
                  <a:schemeClr val="bg1"/>
                </a:solidFill>
              </a:rPr>
              <a:t/>
            </a:r>
            <a:br>
              <a:rPr lang="en-US">
                <a:solidFill>
                  <a:schemeClr val="bg1"/>
                </a:solidFill>
              </a:rPr>
            </a:br>
            <a:r>
              <a:rPr lang="en-US">
                <a:solidFill>
                  <a:schemeClr val="bg1"/>
                </a:solidFill>
              </a:rPr>
              <a:t>(status is pending</a:t>
            </a:r>
            <a:r>
              <a:rPr lang="en-US" smtClean="0">
                <a:solidFill>
                  <a:schemeClr val="bg1"/>
                </a:solidFill>
              </a:rPr>
              <a:t>)</a:t>
            </a:r>
            <a:endParaRPr lang="en-US">
              <a:solidFill>
                <a:schemeClr val="bg1"/>
              </a:solidFill>
            </a:endParaRPr>
          </a:p>
        </p:txBody>
      </p:sp>
      <p:sp>
        <p:nvSpPr>
          <p:cNvPr id="43" name="num3"/>
          <p:cNvSpPr/>
          <p:nvPr/>
        </p:nvSpPr>
        <p:spPr bwMode="auto">
          <a:xfrm>
            <a:off x="568780" y="1828800"/>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2</a:t>
            </a:r>
            <a:endParaRPr lang="en-US" dirty="0">
              <a:solidFill>
                <a:schemeClr val="bg1"/>
              </a:solidFill>
            </a:endParaRPr>
          </a:p>
        </p:txBody>
      </p:sp>
      <p:sp>
        <p:nvSpPr>
          <p:cNvPr id="45" name="num2"/>
          <p:cNvSpPr/>
          <p:nvPr/>
        </p:nvSpPr>
        <p:spPr bwMode="auto">
          <a:xfrm>
            <a:off x="568325" y="4933412"/>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6</a:t>
            </a:r>
            <a:endParaRPr lang="en-US" dirty="0">
              <a:solidFill>
                <a:schemeClr val="bg1"/>
              </a:solidFill>
            </a:endParaRPr>
          </a:p>
        </p:txBody>
      </p:sp>
      <p:sp>
        <p:nvSpPr>
          <p:cNvPr id="46" name="num4"/>
          <p:cNvSpPr/>
          <p:nvPr/>
        </p:nvSpPr>
        <p:spPr bwMode="auto">
          <a:xfrm>
            <a:off x="6362700" y="3000374"/>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4</a:t>
            </a:r>
            <a:endParaRPr lang="en-US" dirty="0">
              <a:solidFill>
                <a:schemeClr val="bg1"/>
              </a:solidFill>
            </a:endParaRPr>
          </a:p>
        </p:txBody>
      </p:sp>
      <p:sp>
        <p:nvSpPr>
          <p:cNvPr id="48" name="num1"/>
          <p:cNvSpPr/>
          <p:nvPr/>
        </p:nvSpPr>
        <p:spPr bwMode="auto">
          <a:xfrm>
            <a:off x="6358578" y="1600200"/>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1</a:t>
            </a:r>
            <a:endParaRPr lang="en-US" dirty="0">
              <a:solidFill>
                <a:schemeClr val="bg1"/>
              </a:solidFill>
            </a:endParaRPr>
          </a:p>
        </p:txBody>
      </p:sp>
      <p:pic>
        <p:nvPicPr>
          <p:cNvPr id="52" name="Picture 5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16315" y="895350"/>
            <a:ext cx="565485" cy="548640"/>
          </a:xfrm>
          <a:prstGeom prst="rect">
            <a:avLst/>
          </a:prstGeom>
          <a:effectLst>
            <a:outerShdw blurRad="50800" dist="38100" dir="2700000" algn="tl" rotWithShape="0">
              <a:prstClr val="black">
                <a:alpha val="40000"/>
              </a:prstClr>
            </a:outerShdw>
          </a:effectLst>
        </p:spPr>
      </p:pic>
      <p:pic>
        <p:nvPicPr>
          <p:cNvPr id="53" name="Picture 52"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36" name="Left Arrow 35"/>
          <p:cNvSpPr/>
          <p:nvPr/>
        </p:nvSpPr>
        <p:spPr bwMode="auto">
          <a:xfrm>
            <a:off x="3642360" y="2209800"/>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7" name="Left Arrow 36"/>
          <p:cNvSpPr/>
          <p:nvPr/>
        </p:nvSpPr>
        <p:spPr bwMode="auto">
          <a:xfrm>
            <a:off x="3594736" y="4572000"/>
            <a:ext cx="548640" cy="533400"/>
          </a:xfrm>
          <a:prstGeom prst="lef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2" name="Rounded Rectangle 21"/>
          <p:cNvSpPr/>
          <p:nvPr/>
        </p:nvSpPr>
        <p:spPr bwMode="auto">
          <a:xfrm>
            <a:off x="723899" y="2933698"/>
            <a:ext cx="2815721" cy="914400"/>
          </a:xfrm>
          <a:prstGeom prst="roundRect">
            <a:avLst>
              <a:gd name="adj" fmla="val 7906"/>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System issues </a:t>
            </a:r>
            <a:r>
              <a:rPr lang="en-US" smtClean="0">
                <a:solidFill>
                  <a:schemeClr val="bg1"/>
                </a:solidFill>
              </a:rPr>
              <a:t/>
            </a:r>
            <a:br>
              <a:rPr lang="en-US" smtClean="0">
                <a:solidFill>
                  <a:schemeClr val="bg1"/>
                </a:solidFill>
              </a:rPr>
            </a:br>
            <a:r>
              <a:rPr lang="en-US" smtClean="0">
                <a:solidFill>
                  <a:schemeClr val="bg1"/>
                </a:solidFill>
              </a:rPr>
              <a:t>cancellation </a:t>
            </a:r>
            <a:r>
              <a:rPr lang="en-US">
                <a:solidFill>
                  <a:schemeClr val="bg1"/>
                </a:solidFill>
              </a:rPr>
              <a:t>on </a:t>
            </a:r>
            <a:r>
              <a:rPr lang="en-US" smtClean="0">
                <a:solidFill>
                  <a:schemeClr val="bg1"/>
                </a:solidFill>
              </a:rPr>
              <a:t/>
            </a:r>
            <a:br>
              <a:rPr lang="en-US" smtClean="0">
                <a:solidFill>
                  <a:schemeClr val="bg1"/>
                </a:solidFill>
              </a:rPr>
            </a:br>
            <a:r>
              <a:rPr lang="en-US" smtClean="0">
                <a:solidFill>
                  <a:schemeClr val="bg1"/>
                </a:solidFill>
              </a:rPr>
              <a:t>cancellation </a:t>
            </a:r>
            <a:r>
              <a:rPr lang="en-US">
                <a:solidFill>
                  <a:schemeClr val="bg1"/>
                </a:solidFill>
              </a:rPr>
              <a:t>effective date</a:t>
            </a:r>
          </a:p>
        </p:txBody>
      </p:sp>
      <p:sp>
        <p:nvSpPr>
          <p:cNvPr id="23" name="num3"/>
          <p:cNvSpPr/>
          <p:nvPr/>
        </p:nvSpPr>
        <p:spPr bwMode="auto">
          <a:xfrm>
            <a:off x="568780" y="2819400"/>
            <a:ext cx="228600" cy="228600"/>
          </a:xfrm>
          <a:prstGeom prst="ellipse">
            <a:avLst/>
          </a:prstGeom>
          <a:solidFill>
            <a:schemeClr val="tx1"/>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3</a:t>
            </a:r>
            <a:endParaRPr lang="en-US" dirty="0">
              <a:solidFill>
                <a:schemeClr val="bg1"/>
              </a:solidFill>
            </a:endParaRPr>
          </a:p>
        </p:txBody>
      </p:sp>
      <p:sp>
        <p:nvSpPr>
          <p:cNvPr id="24" name="Rounded Rectangle 23"/>
          <p:cNvSpPr/>
          <p:nvPr/>
        </p:nvSpPr>
        <p:spPr bwMode="auto">
          <a:xfrm>
            <a:off x="6507480" y="4480560"/>
            <a:ext cx="2377440" cy="365760"/>
          </a:xfrm>
          <a:prstGeom prst="roundRect">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Payment received </a:t>
            </a:r>
          </a:p>
        </p:txBody>
      </p:sp>
      <p:sp>
        <p:nvSpPr>
          <p:cNvPr id="26" name="Rounded Rectangle 25"/>
          <p:cNvSpPr/>
          <p:nvPr/>
        </p:nvSpPr>
        <p:spPr bwMode="auto">
          <a:xfrm>
            <a:off x="6524624" y="5562601"/>
            <a:ext cx="2360295" cy="640080"/>
          </a:xfrm>
          <a:prstGeom prst="roundRect">
            <a:avLst>
              <a:gd name="adj" fmla="val 9224"/>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45720" tIns="0" rIns="45720" bIns="0" rtlCol="0" anchor="t" anchorCtr="0">
            <a:noAutofit/>
          </a:bodyPr>
          <a:lstStyle/>
          <a:p>
            <a:pPr>
              <a:spcBef>
                <a:spcPct val="50000"/>
              </a:spcBef>
              <a:spcAft>
                <a:spcPct val="30000"/>
              </a:spcAft>
              <a:buClr>
                <a:schemeClr val="tx1"/>
              </a:buClr>
            </a:pPr>
            <a:r>
              <a:rPr lang="en-US">
                <a:solidFill>
                  <a:schemeClr val="bg1"/>
                </a:solidFill>
              </a:rPr>
              <a:t>Process </a:t>
            </a:r>
            <a:r>
              <a:rPr lang="en-US" smtClean="0">
                <a:solidFill>
                  <a:schemeClr val="bg1"/>
                </a:solidFill>
              </a:rPr>
              <a:t>reinstate-</a:t>
            </a:r>
            <a:br>
              <a:rPr lang="en-US" smtClean="0">
                <a:solidFill>
                  <a:schemeClr val="bg1"/>
                </a:solidFill>
              </a:rPr>
            </a:br>
            <a:r>
              <a:rPr lang="en-US" smtClean="0">
                <a:solidFill>
                  <a:schemeClr val="bg1"/>
                </a:solidFill>
              </a:rPr>
              <a:t>ment charges</a:t>
            </a:r>
            <a:endParaRPr lang="en-US">
              <a:solidFill>
                <a:schemeClr val="bg1"/>
              </a:solidFill>
            </a:endParaRPr>
          </a:p>
        </p:txBody>
      </p:sp>
      <p:sp>
        <p:nvSpPr>
          <p:cNvPr id="27" name="Right Arrow 26"/>
          <p:cNvSpPr/>
          <p:nvPr/>
        </p:nvSpPr>
        <p:spPr bwMode="auto">
          <a:xfrm>
            <a:off x="3636514" y="3048000"/>
            <a:ext cx="54864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0" name="Right Arrow 29"/>
          <p:cNvSpPr/>
          <p:nvPr/>
        </p:nvSpPr>
        <p:spPr bwMode="auto">
          <a:xfrm>
            <a:off x="5821499" y="3300190"/>
            <a:ext cx="54864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32" name="num4"/>
          <p:cNvSpPr/>
          <p:nvPr/>
        </p:nvSpPr>
        <p:spPr bwMode="auto">
          <a:xfrm>
            <a:off x="6362700" y="4343400"/>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5</a:t>
            </a:r>
            <a:endParaRPr lang="en-US" dirty="0">
              <a:solidFill>
                <a:schemeClr val="bg1"/>
              </a:solidFill>
            </a:endParaRPr>
          </a:p>
        </p:txBody>
      </p:sp>
      <p:sp>
        <p:nvSpPr>
          <p:cNvPr id="34" name="Text Box 28"/>
          <p:cNvSpPr txBox="1">
            <a:spLocks noChangeArrowheads="1"/>
          </p:cNvSpPr>
          <p:nvPr/>
        </p:nvSpPr>
        <p:spPr bwMode="hidden">
          <a:xfrm>
            <a:off x="4114800" y="5440680"/>
            <a:ext cx="1752600" cy="914400"/>
          </a:xfrm>
          <a:prstGeom prst="rect">
            <a:avLst/>
          </a:prstGeom>
          <a:solidFill>
            <a:schemeClr val="tx1">
              <a:lumMod val="95000"/>
            </a:schemeClr>
          </a:solidFill>
          <a:ln>
            <a:noFill/>
          </a:ln>
        </p:spPr>
        <p:txBody>
          <a:bodyPr wrap="none" lIns="91440" tIns="41029" rIns="91440" bIns="41029">
            <a:noAutofit/>
          </a:bodyPr>
          <a:lstStyle>
            <a:defPPr>
              <a:defRPr lang="en-US"/>
            </a:defPPr>
            <a:lvl1pPr algn="ctr">
              <a:defRPr sz="2000" b="0">
                <a:solidFill>
                  <a:schemeClr val="bg1"/>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r>
              <a:rPr lang="en-US" sz="1800"/>
              <a:t>Reinstatement </a:t>
            </a:r>
            <a:endParaRPr lang="en-US" sz="1800" smtClean="0"/>
          </a:p>
          <a:p>
            <a:r>
              <a:rPr lang="en-US" sz="1800" smtClean="0"/>
              <a:t>billing </a:t>
            </a:r>
          </a:p>
          <a:p>
            <a:r>
              <a:rPr lang="en-US" sz="1800" smtClean="0"/>
              <a:t>instruction</a:t>
            </a:r>
            <a:endParaRPr lang="en-US" sz="1800"/>
          </a:p>
        </p:txBody>
      </p:sp>
      <p:sp>
        <p:nvSpPr>
          <p:cNvPr id="39" name="Right Arrow 38"/>
          <p:cNvSpPr/>
          <p:nvPr/>
        </p:nvSpPr>
        <p:spPr bwMode="auto">
          <a:xfrm>
            <a:off x="3636514" y="5257800"/>
            <a:ext cx="54864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0" name="Right Arrow 39"/>
          <p:cNvSpPr/>
          <p:nvPr/>
        </p:nvSpPr>
        <p:spPr bwMode="auto">
          <a:xfrm>
            <a:off x="5821499" y="5719985"/>
            <a:ext cx="548640" cy="528415"/>
          </a:xfrm>
          <a:prstGeom prst="rightArrow">
            <a:avLst/>
          </a:prstGeom>
          <a:gradFill flip="none" rotWithShape="1">
            <a:gsLst>
              <a:gs pos="0">
                <a:schemeClr val="accent3"/>
              </a:gs>
              <a:gs pos="100000">
                <a:schemeClr val="accent4"/>
              </a:gs>
            </a:gsLst>
            <a:lin ang="0" scaled="1"/>
            <a:tileRect/>
          </a:gradFill>
          <a:ln w="19050" algn="ctr">
            <a:no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41" name="num4"/>
          <p:cNvSpPr/>
          <p:nvPr/>
        </p:nvSpPr>
        <p:spPr bwMode="auto">
          <a:xfrm>
            <a:off x="6362700" y="5486400"/>
            <a:ext cx="228600" cy="228600"/>
          </a:xfrm>
          <a:prstGeom prst="ellipse">
            <a:avLst/>
          </a:prstGeom>
          <a:solidFill>
            <a:schemeClr val="tx1"/>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bg1"/>
                </a:solidFill>
              </a:rPr>
              <a:t>7</a:t>
            </a:r>
            <a:endParaRPr lang="en-US" dirty="0">
              <a:solidFill>
                <a:schemeClr val="bg1"/>
              </a:solidFill>
            </a:endParaRPr>
          </a:p>
        </p:txBody>
      </p:sp>
    </p:spTree>
    <p:extLst>
      <p:ext uri="{BB962C8B-B14F-4D97-AF65-F5344CB8AC3E}">
        <p14:creationId xmlns:p14="http://schemas.microsoft.com/office/powerpoint/2010/main" val="2299541529"/>
      </p:ext>
    </p:extLst>
  </p:cSld>
  <p:clrMapOvr>
    <a:masterClrMapping/>
  </p:clrMapOvr>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hid Rec"/>
          <p:cNvSpPr/>
          <p:nvPr/>
        </p:nvSpPr>
        <p:spPr bwMode="auto">
          <a:xfrm>
            <a:off x="4212999" y="3543300"/>
            <a:ext cx="435201" cy="228600"/>
          </a:xfrm>
          <a:prstGeom prst="roundRect">
            <a:avLst/>
          </a:prstGeom>
          <a:solidFill>
            <a:schemeClr val="tx1"/>
          </a:solidFill>
          <a:ln w="28575" algn="ctr">
            <a:solidFill>
              <a:schemeClr val="tx1"/>
            </a:solidFill>
            <a:round/>
            <a:headEnd/>
            <a:tailEnd/>
          </a:ln>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1" name="Title 10"/>
          <p:cNvSpPr>
            <a:spLocks noGrp="1"/>
          </p:cNvSpPr>
          <p:nvPr>
            <p:ph type="title"/>
          </p:nvPr>
        </p:nvSpPr>
        <p:spPr/>
        <p:txBody>
          <a:bodyPr/>
          <a:lstStyle/>
          <a:p>
            <a:r>
              <a:rPr lang="en-US" dirty="0"/>
              <a:t>How does late payment cancellation work?</a:t>
            </a:r>
          </a:p>
        </p:txBody>
      </p:sp>
      <p:sp>
        <p:nvSpPr>
          <p:cNvPr id="5" name="Rounded Rectangle 4"/>
          <p:cNvSpPr/>
          <p:nvPr/>
        </p:nvSpPr>
        <p:spPr bwMode="auto">
          <a:xfrm>
            <a:off x="3730752" y="1371600"/>
            <a:ext cx="5184648" cy="5105400"/>
          </a:xfrm>
          <a:prstGeom prst="roundRect">
            <a:avLst>
              <a:gd name="adj" fmla="val 2472"/>
            </a:avLst>
          </a:prstGeom>
          <a:solidFill>
            <a:schemeClr val="accent4">
              <a:lumMod val="20000"/>
              <a:lumOff val="80000"/>
            </a:schemeClr>
          </a:solidFill>
          <a:ln w="19050" algn="ctr">
            <a:solidFill>
              <a:schemeClr val="accent4"/>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ounded Rectangle 5"/>
          <p:cNvSpPr/>
          <p:nvPr/>
        </p:nvSpPr>
        <p:spPr bwMode="auto">
          <a:xfrm>
            <a:off x="533400" y="1371600"/>
            <a:ext cx="2560320" cy="5105400"/>
          </a:xfrm>
          <a:prstGeom prst="roundRect">
            <a:avLst>
              <a:gd name="adj" fmla="val 2845"/>
            </a:avLst>
          </a:prstGeom>
          <a:solidFill>
            <a:schemeClr val="accent3">
              <a:lumMod val="20000"/>
              <a:lumOff val="80000"/>
            </a:schemeClr>
          </a:solidFill>
          <a:ln w="19050" algn="ctr">
            <a:solidFill>
              <a:schemeClr val="accent3"/>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57600" y="895350"/>
            <a:ext cx="565485" cy="548640"/>
          </a:xfrm>
          <a:prstGeom prst="rect">
            <a:avLst/>
          </a:prstGeom>
          <a:effectLst>
            <a:outerShdw blurRad="50800" dist="38100" dir="2700000" algn="tl" rotWithShape="0">
              <a:prstClr val="black">
                <a:alpha val="40000"/>
              </a:prstClr>
            </a:outerShdw>
          </a:effectLst>
        </p:spPr>
      </p:pic>
      <p:pic>
        <p:nvPicPr>
          <p:cNvPr id="8" name="Picture 7" descr="PolicyCenter.png"/>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24738" y="899160"/>
            <a:ext cx="565862" cy="548640"/>
          </a:xfrm>
          <a:prstGeom prst="rect">
            <a:avLst/>
          </a:prstGeom>
          <a:effectLst>
            <a:outerShdw blurRad="50800" dist="38100" dir="2700000" algn="tl" rotWithShape="0">
              <a:prstClr val="black">
                <a:alpha val="40000"/>
              </a:prstClr>
            </a:outerShdw>
          </a:effectLst>
        </p:spPr>
      </p:pic>
      <p:sp>
        <p:nvSpPr>
          <p:cNvPr id="28" name="TextBox 87"/>
          <p:cNvSpPr txBox="1">
            <a:spLocks noChangeArrowheads="1"/>
          </p:cNvSpPr>
          <p:nvPr/>
        </p:nvSpPr>
        <p:spPr bwMode="auto">
          <a:xfrm>
            <a:off x="7744067" y="4238625"/>
            <a:ext cx="957331"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a:solidFill>
                  <a:schemeClr val="bg1"/>
                </a:solidFill>
                <a:latin typeface="+mn-lt"/>
              </a:rPr>
              <a:t>IPolicy</a:t>
            </a:r>
            <a:br>
              <a:rPr lang="en-US" sz="1600">
                <a:solidFill>
                  <a:schemeClr val="bg1"/>
                </a:solidFill>
                <a:latin typeface="+mn-lt"/>
              </a:rPr>
            </a:br>
            <a:r>
              <a:rPr lang="en-US" sz="1600">
                <a:solidFill>
                  <a:schemeClr val="bg1"/>
                </a:solidFill>
                <a:latin typeface="+mn-lt"/>
              </a:rPr>
              <a:t>System</a:t>
            </a:r>
            <a:br>
              <a:rPr lang="en-US" sz="1600">
                <a:solidFill>
                  <a:schemeClr val="bg1"/>
                </a:solidFill>
                <a:latin typeface="+mn-lt"/>
              </a:rPr>
            </a:br>
            <a:r>
              <a:rPr lang="en-US" sz="1600">
                <a:solidFill>
                  <a:schemeClr val="bg1"/>
                </a:solidFill>
                <a:latin typeface="+mn-lt"/>
              </a:rPr>
              <a:t>Plugin</a:t>
            </a:r>
          </a:p>
        </p:txBody>
      </p:sp>
      <p:sp>
        <p:nvSpPr>
          <p:cNvPr id="29" name="TextBox 84"/>
          <p:cNvSpPr txBox="1">
            <a:spLocks noChangeArrowheads="1"/>
          </p:cNvSpPr>
          <p:nvPr/>
        </p:nvSpPr>
        <p:spPr bwMode="auto">
          <a:xfrm>
            <a:off x="533400" y="2463225"/>
            <a:ext cx="167464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r" eaLnBrk="1" hangingPunct="1"/>
            <a:r>
              <a:rPr lang="en-US" sz="1600" smtClean="0">
                <a:solidFill>
                  <a:schemeClr val="bg1"/>
                </a:solidFill>
                <a:latin typeface="+mn-lt"/>
              </a:rPr>
              <a:t>Cancellation</a:t>
            </a:r>
            <a:br>
              <a:rPr lang="en-US" sz="1600" smtClean="0">
                <a:solidFill>
                  <a:schemeClr val="bg1"/>
                </a:solidFill>
                <a:latin typeface="+mn-lt"/>
              </a:rPr>
            </a:br>
            <a:r>
              <a:rPr lang="en-US" sz="1600" smtClean="0">
                <a:solidFill>
                  <a:schemeClr val="bg1"/>
                </a:solidFill>
                <a:latin typeface="+mn-lt"/>
              </a:rPr>
              <a:t>API</a:t>
            </a:r>
            <a:endParaRPr lang="en-US" sz="1600">
              <a:solidFill>
                <a:schemeClr val="bg1"/>
              </a:solidFill>
              <a:latin typeface="+mn-lt"/>
            </a:endParaRPr>
          </a:p>
        </p:txBody>
      </p:sp>
      <p:sp>
        <p:nvSpPr>
          <p:cNvPr id="30" name="TextBox 85"/>
          <p:cNvSpPr txBox="1">
            <a:spLocks noChangeArrowheads="1"/>
          </p:cNvSpPr>
          <p:nvPr/>
        </p:nvSpPr>
        <p:spPr bwMode="auto">
          <a:xfrm>
            <a:off x="533400" y="4244137"/>
            <a:ext cx="167464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r" eaLnBrk="1" hangingPunct="1"/>
            <a:r>
              <a:rPr lang="en-US" sz="1600" smtClean="0">
                <a:solidFill>
                  <a:schemeClr val="bg1"/>
                </a:solidFill>
                <a:latin typeface="+mn-lt"/>
              </a:rPr>
              <a:t>PolicyRenewal</a:t>
            </a:r>
            <a:br>
              <a:rPr lang="en-US" sz="1600" smtClean="0">
                <a:solidFill>
                  <a:schemeClr val="bg1"/>
                </a:solidFill>
                <a:latin typeface="+mn-lt"/>
              </a:rPr>
            </a:br>
            <a:r>
              <a:rPr lang="en-US" sz="1600" smtClean="0">
                <a:solidFill>
                  <a:schemeClr val="bg1"/>
                </a:solidFill>
                <a:latin typeface="+mn-lt"/>
              </a:rPr>
              <a:t>API</a:t>
            </a:r>
            <a:endParaRPr lang="en-US" sz="1600">
              <a:solidFill>
                <a:schemeClr val="bg1"/>
              </a:solidFill>
              <a:latin typeface="+mn-lt"/>
            </a:endParaRPr>
          </a:p>
        </p:txBody>
      </p:sp>
      <p:sp>
        <p:nvSpPr>
          <p:cNvPr id="31" name="TextBox 86"/>
          <p:cNvSpPr txBox="1">
            <a:spLocks noChangeArrowheads="1"/>
          </p:cNvSpPr>
          <p:nvPr/>
        </p:nvSpPr>
        <p:spPr bwMode="auto">
          <a:xfrm>
            <a:off x="4212999" y="4226091"/>
            <a:ext cx="12461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pc800</a:t>
            </a:r>
            <a:endParaRPr lang="en-US" sz="1600">
              <a:solidFill>
                <a:schemeClr val="bg1"/>
              </a:solidFill>
              <a:latin typeface="+mn-lt"/>
            </a:endParaRPr>
          </a:p>
        </p:txBody>
      </p:sp>
      <p:sp>
        <p:nvSpPr>
          <p:cNvPr id="32" name="TextBox 84"/>
          <p:cNvSpPr txBox="1">
            <a:spLocks noChangeArrowheads="1"/>
          </p:cNvSpPr>
          <p:nvPr/>
        </p:nvSpPr>
        <p:spPr bwMode="auto">
          <a:xfrm>
            <a:off x="7493000" y="1606127"/>
            <a:ext cx="13462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Deliquency</a:t>
            </a:r>
            <a:br>
              <a:rPr lang="en-US" sz="1600" smtClean="0">
                <a:solidFill>
                  <a:schemeClr val="bg1"/>
                </a:solidFill>
                <a:latin typeface="+mn-lt"/>
              </a:rPr>
            </a:br>
            <a:r>
              <a:rPr lang="en-US" sz="1600" smtClean="0">
                <a:solidFill>
                  <a:schemeClr val="bg1"/>
                </a:solidFill>
                <a:latin typeface="+mn-lt"/>
              </a:rPr>
              <a:t>workflow</a:t>
            </a:r>
            <a:endParaRPr lang="en-US" sz="1600">
              <a:solidFill>
                <a:schemeClr val="bg1"/>
              </a:solidFill>
              <a:latin typeface="+mn-lt"/>
            </a:endParaRPr>
          </a:p>
        </p:txBody>
      </p:sp>
      <p:cxnSp>
        <p:nvCxnSpPr>
          <p:cNvPr id="36" name="Straight Arrow Connector 35"/>
          <p:cNvCxnSpPr/>
          <p:nvPr/>
        </p:nvCxnSpPr>
        <p:spPr bwMode="auto">
          <a:xfrm>
            <a:off x="8154118" y="2425700"/>
            <a:ext cx="0" cy="45720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43"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2812320"/>
            <a:ext cx="1164906" cy="124434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4"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4642276"/>
            <a:ext cx="1164906" cy="124434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5" name="icn Plugin Gosu"/>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1163" y="3026350"/>
            <a:ext cx="1268492" cy="13742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6" name="icon GWP file"/>
          <p:cNvGrpSpPr/>
          <p:nvPr/>
        </p:nvGrpSpPr>
        <p:grpSpPr>
          <a:xfrm>
            <a:off x="7772400" y="3048000"/>
            <a:ext cx="893396" cy="1103661"/>
            <a:chOff x="4592771" y="2146900"/>
            <a:chExt cx="1125708" cy="1390650"/>
          </a:xfrm>
        </p:grpSpPr>
        <p:pic>
          <p:nvPicPr>
            <p:cNvPr id="47"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8"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50"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51"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dirty="0"/>
              </a:p>
            </p:txBody>
          </p:sp>
          <p:sp>
            <p:nvSpPr>
              <p:cNvPr id="52"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dirty="0"/>
              </a:p>
            </p:txBody>
          </p:sp>
          <p:sp>
            <p:nvSpPr>
              <p:cNvPr id="53"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dirty="0"/>
              </a:p>
            </p:txBody>
          </p:sp>
        </p:grpSp>
        <p:sp>
          <p:nvSpPr>
            <p:cNvPr id="49" name="TextBox 48"/>
            <p:cNvSpPr txBox="1"/>
            <p:nvPr/>
          </p:nvSpPr>
          <p:spPr>
            <a:xfrm>
              <a:off x="4758824" y="3097051"/>
              <a:ext cx="843636" cy="328617"/>
            </a:xfrm>
            <a:prstGeom prst="rect">
              <a:avLst/>
            </a:prstGeom>
            <a:noFill/>
          </p:spPr>
          <p:txBody>
            <a:bodyPr wrap="square" rtlCol="0">
              <a:noAutofit/>
            </a:bodyPr>
            <a:lstStyle/>
            <a:p>
              <a:pPr algn="ctr"/>
              <a:r>
                <a:rPr lang="en-US" sz="1600" b="1" dirty="0" smtClean="0">
                  <a:solidFill>
                    <a:schemeClr val="bg2"/>
                  </a:solidFill>
                  <a:latin typeface="Arial" pitchFamily="32" charset="0"/>
                  <a:cs typeface="Arial" pitchFamily="32" charset="0"/>
                </a:rPr>
                <a:t>GWP</a:t>
              </a:r>
            </a:p>
          </p:txBody>
        </p:sp>
      </p:grpSp>
      <p:cxnSp>
        <p:nvCxnSpPr>
          <p:cNvPr id="54" name="Straight Arrow Connector 53"/>
          <p:cNvCxnSpPr/>
          <p:nvPr/>
        </p:nvCxnSpPr>
        <p:spPr bwMode="auto">
          <a:xfrm flipH="1">
            <a:off x="5410200" y="3667125"/>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55" name="Straight Arrow Connector 54"/>
          <p:cNvCxnSpPr/>
          <p:nvPr/>
        </p:nvCxnSpPr>
        <p:spPr bwMode="auto">
          <a:xfrm flipH="1">
            <a:off x="7239000" y="3667125"/>
            <a:ext cx="377303" cy="0"/>
          </a:xfrm>
          <a:prstGeom prst="straightConnector1">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sp>
        <p:nvSpPr>
          <p:cNvPr id="56" name="TextBox 87"/>
          <p:cNvSpPr txBox="1">
            <a:spLocks noChangeArrowheads="1"/>
          </p:cNvSpPr>
          <p:nvPr/>
        </p:nvSpPr>
        <p:spPr bwMode="auto">
          <a:xfrm>
            <a:off x="5901164" y="4226778"/>
            <a:ext cx="126849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000" b="1">
                <a:solidFill>
                  <a:srgbClr val="FF0000"/>
                </a:solidFill>
                <a:latin typeface="Arial" pitchFamily="34" charset="0"/>
                <a:cs typeface="Arial" pitchFamily="34" charset="0"/>
              </a:defRPr>
            </a:lvl1pPr>
            <a:lvl2pPr marL="742950" indent="-285750" eaLnBrk="0" hangingPunct="0">
              <a:defRPr sz="2000" b="1">
                <a:solidFill>
                  <a:srgbClr val="FF0000"/>
                </a:solidFill>
                <a:latin typeface="Arial" pitchFamily="34" charset="0"/>
                <a:cs typeface="Arial" pitchFamily="34" charset="0"/>
              </a:defRPr>
            </a:lvl2pPr>
            <a:lvl3pPr marL="1143000" indent="-228600" eaLnBrk="0" hangingPunct="0">
              <a:defRPr sz="2000" b="1">
                <a:solidFill>
                  <a:srgbClr val="FF0000"/>
                </a:solidFill>
                <a:latin typeface="Arial" pitchFamily="34" charset="0"/>
                <a:cs typeface="Arial" pitchFamily="34" charset="0"/>
              </a:defRPr>
            </a:lvl3pPr>
            <a:lvl4pPr marL="1600200" indent="-228600" eaLnBrk="0" hangingPunct="0">
              <a:defRPr sz="2000" b="1">
                <a:solidFill>
                  <a:srgbClr val="FF0000"/>
                </a:solidFill>
                <a:latin typeface="Arial" pitchFamily="34" charset="0"/>
                <a:cs typeface="Arial" pitchFamily="34" charset="0"/>
              </a:defRPr>
            </a:lvl4pPr>
            <a:lvl5pPr marL="2057400" indent="-228600" eaLnBrk="0" hangingPunct="0">
              <a:defRPr sz="2000" b="1">
                <a:solidFill>
                  <a:srgbClr val="FF0000"/>
                </a:solidFill>
                <a:latin typeface="Arial" pitchFamily="34" charset="0"/>
                <a:cs typeface="Arial" pitchFamily="34" charset="0"/>
              </a:defRPr>
            </a:lvl5pPr>
            <a:lvl6pPr marL="2514600" indent="-228600" eaLnBrk="0" fontAlgn="base" hangingPunct="0">
              <a:spcBef>
                <a:spcPct val="0"/>
              </a:spcBef>
              <a:spcAft>
                <a:spcPct val="0"/>
              </a:spcAft>
              <a:defRPr sz="2000" b="1">
                <a:solidFill>
                  <a:srgbClr val="FF0000"/>
                </a:solidFill>
                <a:latin typeface="Arial" pitchFamily="34" charset="0"/>
                <a:cs typeface="Arial" pitchFamily="34" charset="0"/>
              </a:defRPr>
            </a:lvl6pPr>
            <a:lvl7pPr marL="2971800" indent="-228600" eaLnBrk="0" fontAlgn="base" hangingPunct="0">
              <a:spcBef>
                <a:spcPct val="0"/>
              </a:spcBef>
              <a:spcAft>
                <a:spcPct val="0"/>
              </a:spcAft>
              <a:defRPr sz="2000" b="1">
                <a:solidFill>
                  <a:srgbClr val="FF0000"/>
                </a:solidFill>
                <a:latin typeface="Arial" pitchFamily="34" charset="0"/>
                <a:cs typeface="Arial" pitchFamily="34" charset="0"/>
              </a:defRPr>
            </a:lvl7pPr>
            <a:lvl8pPr marL="3429000" indent="-228600" eaLnBrk="0" fontAlgn="base" hangingPunct="0">
              <a:spcBef>
                <a:spcPct val="0"/>
              </a:spcBef>
              <a:spcAft>
                <a:spcPct val="0"/>
              </a:spcAft>
              <a:defRPr sz="2000" b="1">
                <a:solidFill>
                  <a:srgbClr val="FF0000"/>
                </a:solidFill>
                <a:latin typeface="Arial" pitchFamily="34" charset="0"/>
                <a:cs typeface="Arial" pitchFamily="34" charset="0"/>
              </a:defRPr>
            </a:lvl8pPr>
            <a:lvl9pPr marL="3886200" indent="-228600" eaLnBrk="0" fontAlgn="base" hangingPunct="0">
              <a:spcBef>
                <a:spcPct val="0"/>
              </a:spcBef>
              <a:spcAft>
                <a:spcPct val="0"/>
              </a:spcAft>
              <a:defRPr sz="2000" b="1">
                <a:solidFill>
                  <a:srgbClr val="FF0000"/>
                </a:solidFill>
                <a:latin typeface="Arial" pitchFamily="34" charset="0"/>
                <a:cs typeface="Arial" pitchFamily="34" charset="0"/>
              </a:defRPr>
            </a:lvl9pPr>
          </a:lstStyle>
          <a:p>
            <a:pPr algn="ctr" eaLnBrk="1" hangingPunct="1"/>
            <a:r>
              <a:rPr lang="en-US" sz="1600" smtClean="0">
                <a:solidFill>
                  <a:schemeClr val="bg1"/>
                </a:solidFill>
                <a:latin typeface="+mn-lt"/>
              </a:rPr>
              <a:t>Policy</a:t>
            </a:r>
            <a:r>
              <a:rPr lang="en-US" sz="1600">
                <a:solidFill>
                  <a:schemeClr val="bg1"/>
                </a:solidFill>
                <a:latin typeface="+mn-lt"/>
              </a:rPr>
              <a:t/>
            </a:r>
            <a:br>
              <a:rPr lang="en-US" sz="1600">
                <a:solidFill>
                  <a:schemeClr val="bg1"/>
                </a:solidFill>
                <a:latin typeface="+mn-lt"/>
              </a:rPr>
            </a:br>
            <a:r>
              <a:rPr lang="en-US" sz="1600">
                <a:solidFill>
                  <a:schemeClr val="bg1"/>
                </a:solidFill>
                <a:latin typeface="+mn-lt"/>
              </a:rPr>
              <a:t>System</a:t>
            </a:r>
            <a:br>
              <a:rPr lang="en-US" sz="1600">
                <a:solidFill>
                  <a:schemeClr val="bg1"/>
                </a:solidFill>
                <a:latin typeface="+mn-lt"/>
              </a:rPr>
            </a:br>
            <a:r>
              <a:rPr lang="en-US" sz="1600">
                <a:solidFill>
                  <a:schemeClr val="bg1"/>
                </a:solidFill>
                <a:latin typeface="+mn-lt"/>
              </a:rPr>
              <a:t>Plugin</a:t>
            </a:r>
          </a:p>
        </p:txBody>
      </p:sp>
      <p:cxnSp>
        <p:nvCxnSpPr>
          <p:cNvPr id="3" name="Elbow Connector 2"/>
          <p:cNvCxnSpPr>
            <a:stCxn id="57" idx="1"/>
            <a:endCxn id="43" idx="3"/>
          </p:cNvCxnSpPr>
          <p:nvPr/>
        </p:nvCxnSpPr>
        <p:spPr bwMode="auto">
          <a:xfrm rot="10800000">
            <a:off x="2079307" y="3434494"/>
            <a:ext cx="2133693" cy="223107"/>
          </a:xfrm>
          <a:prstGeom prst="bentConnector3">
            <a:avLst>
              <a:gd name="adj1" fmla="val 41965"/>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9" name="Elbow Connector 8"/>
          <p:cNvCxnSpPr>
            <a:stCxn id="57" idx="1"/>
            <a:endCxn id="44" idx="3"/>
          </p:cNvCxnSpPr>
          <p:nvPr/>
        </p:nvCxnSpPr>
        <p:spPr bwMode="auto">
          <a:xfrm rot="10800000" flipV="1">
            <a:off x="2079307" y="3657599"/>
            <a:ext cx="2133693" cy="1606849"/>
          </a:xfrm>
          <a:prstGeom prst="bentConnector3">
            <a:avLst>
              <a:gd name="adj1" fmla="val 41965"/>
            </a:avLst>
          </a:prstGeom>
          <a:noFill/>
          <a:ln w="28575" cap="flat" cmpd="sng" algn="ctr">
            <a:solidFill>
              <a:schemeClr val="bg1"/>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22" name="Picture 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87062" y="3045400"/>
            <a:ext cx="1299338" cy="106634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67849708"/>
      </p:ext>
    </p:extLst>
  </p:cSld>
  <p:clrMapOvr>
    <a:masterClrMapping/>
  </p:clrMapOvr>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 Logo PC"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3973" y="880533"/>
            <a:ext cx="565862" cy="548640"/>
          </a:xfrm>
          <a:prstGeom prst="rect">
            <a:avLst/>
          </a:prstGeom>
          <a:effectLst>
            <a:outerShdw blurRad="50800" dist="38100" dir="2700000" algn="tl" rotWithShape="0">
              <a:prstClr val="black">
                <a:alpha val="40000"/>
              </a:prstClr>
            </a:outerShdw>
          </a:effectLst>
        </p:spPr>
      </p:pic>
      <p:pic>
        <p:nvPicPr>
          <p:cNvPr id="9" name="pic Logo B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724023" y="889000"/>
            <a:ext cx="565485"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dirty="0" smtClean="0"/>
              <a:t>Steps to enable late payment</a:t>
            </a:r>
            <a:endParaRPr lang="en-US" dirty="0"/>
          </a:p>
        </p:txBody>
      </p:sp>
      <p:sp>
        <p:nvSpPr>
          <p:cNvPr id="5" name="Subtitle 4"/>
          <p:cNvSpPr>
            <a:spLocks noGrp="1"/>
          </p:cNvSpPr>
          <p:nvPr>
            <p:ph type="subTitle" idx="10"/>
          </p:nvPr>
        </p:nvSpPr>
        <p:spPr/>
        <p:txBody>
          <a:bodyPr/>
          <a:lstStyle/>
          <a:p>
            <a:r>
              <a:rPr lang="en-US" dirty="0" smtClean="0"/>
              <a:t>        PolicyCenter</a:t>
            </a:r>
            <a:endParaRPr lang="en-US" dirty="0"/>
          </a:p>
        </p:txBody>
      </p:sp>
      <p:sp>
        <p:nvSpPr>
          <p:cNvPr id="12" name="Text Placeholder 11"/>
          <p:cNvSpPr>
            <a:spLocks noGrp="1"/>
          </p:cNvSpPr>
          <p:nvPr>
            <p:ph type="body" sz="quarter" idx="11"/>
          </p:nvPr>
        </p:nvSpPr>
        <p:spPr/>
        <p:txBody>
          <a:bodyPr/>
          <a:lstStyle/>
          <a:p>
            <a:r>
              <a:rPr lang="en-US" dirty="0" smtClean="0"/>
              <a:t>        BillingCenter</a:t>
            </a:r>
            <a:endParaRPr lang="en-US" dirty="0"/>
          </a:p>
        </p:txBody>
      </p:sp>
      <p:sp>
        <p:nvSpPr>
          <p:cNvPr id="11" name="Content Placeholder 10"/>
          <p:cNvSpPr>
            <a:spLocks noGrp="1"/>
          </p:cNvSpPr>
          <p:nvPr>
            <p:ph sz="half" idx="2"/>
          </p:nvPr>
        </p:nvSpPr>
        <p:spPr/>
        <p:txBody>
          <a:bodyPr/>
          <a:lstStyle/>
          <a:p>
            <a:pPr marL="457200" indent="-457200">
              <a:buFont typeface="+mj-lt"/>
              <a:buAutoNum type="arabicPeriod" startAt="3"/>
            </a:pPr>
            <a:r>
              <a:rPr lang="en-US" dirty="0"/>
              <a:t>Open </a:t>
            </a:r>
            <a:r>
              <a:rPr lang="en-US" dirty="0" err="1"/>
              <a:t>IPolicySystemPlugin.gwp</a:t>
            </a:r>
            <a:endParaRPr lang="en-US" dirty="0"/>
          </a:p>
          <a:p>
            <a:pPr marL="457200" indent="-457200">
              <a:buFont typeface="+mj-lt"/>
              <a:buAutoNum type="arabicPeriod" startAt="3"/>
            </a:pPr>
            <a:r>
              <a:rPr lang="en-US" dirty="0" smtClean="0"/>
              <a:t>Change the Gosu class</a:t>
            </a:r>
          </a:p>
          <a:p>
            <a:pPr marL="457200" indent="-457200">
              <a:buFont typeface="+mj-lt"/>
              <a:buAutoNum type="arabicPeriod" startAt="3"/>
            </a:pPr>
            <a:r>
              <a:rPr lang="en-US" dirty="0" smtClean="0"/>
              <a:t>Edit the plugin configuration</a:t>
            </a:r>
          </a:p>
          <a:p>
            <a:pPr marL="457200" indent="-457200">
              <a:buFont typeface="+mj-lt"/>
              <a:buAutoNum type="arabicPeriod" startAt="3"/>
            </a:pPr>
            <a:r>
              <a:rPr lang="en-US" dirty="0"/>
              <a:t>Edit suite-config.xml</a:t>
            </a:r>
          </a:p>
          <a:p>
            <a:pPr marL="457200" indent="-457200">
              <a:buFont typeface="+mj-lt"/>
              <a:buAutoNum type="arabicPeriod" startAt="2"/>
            </a:pPr>
            <a:r>
              <a:rPr lang="en-US" dirty="0"/>
              <a:t>Refresh the Web Service collection WSDL</a:t>
            </a:r>
          </a:p>
          <a:p>
            <a:pPr marL="457200" indent="-457200">
              <a:buFont typeface="+mj-lt"/>
              <a:buAutoNum type="arabicPeriod" startAt="3"/>
            </a:pPr>
            <a:r>
              <a:rPr lang="en-US" dirty="0" smtClean="0"/>
              <a:t>Deploy your changes</a:t>
            </a:r>
          </a:p>
          <a:p>
            <a:endParaRPr lang="en-US" dirty="0" smtClean="0"/>
          </a:p>
          <a:p>
            <a:pPr marL="457200" indent="-457200">
              <a:buFont typeface="+mj-lt"/>
              <a:buAutoNum type="arabicPeriod" startAt="2"/>
            </a:pPr>
            <a:endParaRPr lang="en-US" dirty="0" smtClean="0"/>
          </a:p>
        </p:txBody>
      </p:sp>
      <p:sp>
        <p:nvSpPr>
          <p:cNvPr id="3" name="Content Placeholder 2"/>
          <p:cNvSpPr>
            <a:spLocks noGrp="1"/>
          </p:cNvSpPr>
          <p:nvPr>
            <p:ph sz="half" idx="1"/>
          </p:nvPr>
        </p:nvSpPr>
        <p:spPr/>
        <p:txBody>
          <a:bodyPr/>
          <a:lstStyle/>
          <a:p>
            <a:pPr marL="457200" indent="-457200">
              <a:buFont typeface="+mj-lt"/>
              <a:buAutoNum type="arabicPeriod"/>
            </a:pPr>
            <a:r>
              <a:rPr lang="en-US" dirty="0" smtClean="0"/>
              <a:t>Modify PolicyRenewalPlugin.gs</a:t>
            </a:r>
          </a:p>
          <a:p>
            <a:pPr marL="457200" indent="-457200">
              <a:buFont typeface="+mj-lt"/>
              <a:buAutoNum type="arabicPeriod"/>
            </a:pPr>
            <a:r>
              <a:rPr lang="en-US" dirty="0"/>
              <a:t>Start PolicyCenter</a:t>
            </a:r>
          </a:p>
          <a:p>
            <a:pPr marL="0" indent="0">
              <a:buNone/>
            </a:pPr>
            <a:endParaRPr lang="en-US" dirty="0"/>
          </a:p>
          <a:p>
            <a:pPr marL="0" indent="0">
              <a:buNone/>
            </a:pPr>
            <a:r>
              <a:rPr lang="en-US" dirty="0" smtClean="0"/>
              <a:t/>
            </a:r>
            <a:br>
              <a:rPr lang="en-US" dirty="0" smtClean="0"/>
            </a:br>
            <a:endParaRPr lang="en-US" dirty="0" smtClean="0"/>
          </a:p>
          <a:p>
            <a:pPr marL="457200" indent="-457200">
              <a:buFont typeface="+mj-lt"/>
              <a:buAutoNum type="arabicPeriod"/>
            </a:pPr>
            <a:endParaRPr lang="en-US" dirty="0"/>
          </a:p>
          <a:p>
            <a:pPr marL="457200" indent="-457200">
              <a:buFont typeface="+mj-lt"/>
              <a:buAutoNum type="arabicPeriod"/>
            </a:pPr>
            <a:endParaRPr lang="en-US" dirty="0" smtClean="0"/>
          </a:p>
          <a:p>
            <a:pPr marL="0" indent="0">
              <a:buNone/>
            </a:pPr>
            <a:endParaRPr lang="en-US" dirty="0"/>
          </a:p>
        </p:txBody>
      </p:sp>
    </p:spTree>
    <p:extLst>
      <p:ext uri="{BB962C8B-B14F-4D97-AF65-F5344CB8AC3E}">
        <p14:creationId xmlns:p14="http://schemas.microsoft.com/office/powerpoint/2010/main" val="3384570052"/>
      </p:ext>
    </p:extLst>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 LinNumbers"/>
          <p:cNvSpPr/>
          <p:nvPr/>
        </p:nvSpPr>
        <p:spPr bwMode="auto">
          <a:xfrm>
            <a:off x="328279" y="914400"/>
            <a:ext cx="553150" cy="329321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4" name="Title 3"/>
          <p:cNvSpPr>
            <a:spLocks noGrp="1"/>
          </p:cNvSpPr>
          <p:nvPr>
            <p:ph type="title"/>
          </p:nvPr>
        </p:nvSpPr>
        <p:spPr/>
        <p:txBody>
          <a:bodyPr/>
          <a:lstStyle/>
          <a:p>
            <a:r>
              <a:rPr lang="en-US" smtClean="0"/>
              <a:t>Enabling late payment cancellation</a:t>
            </a:r>
            <a:endParaRPr lang="en-US"/>
          </a:p>
        </p:txBody>
      </p:sp>
      <p:sp>
        <p:nvSpPr>
          <p:cNvPr id="14" name="Text Placeholder 13"/>
          <p:cNvSpPr>
            <a:spLocks noGrp="1"/>
          </p:cNvSpPr>
          <p:nvPr>
            <p:ph type="body" sz="quarter" idx="10"/>
          </p:nvPr>
        </p:nvSpPr>
        <p:spPr>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p>
            <a:r>
              <a:rPr lang="en-US" dirty="0"/>
              <a:t>Step </a:t>
            </a:r>
            <a:r>
              <a:rPr lang="en-US" dirty="0" smtClean="0"/>
              <a:t>1</a:t>
            </a:r>
            <a:endParaRPr lang="en-US" dirty="0"/>
          </a:p>
        </p:txBody>
      </p:sp>
      <p:sp>
        <p:nvSpPr>
          <p:cNvPr id="13" name="Content Placeholder 12"/>
          <p:cNvSpPr>
            <a:spLocks noGrp="1"/>
          </p:cNvSpPr>
          <p:nvPr>
            <p:ph idx="1"/>
          </p:nvPr>
        </p:nvSpPr>
        <p:spPr>
          <a:xfrm>
            <a:off x="521208" y="4495800"/>
            <a:ext cx="8321040" cy="1905000"/>
          </a:xfrm>
        </p:spPr>
        <p:txBody>
          <a:bodyPr/>
          <a:lstStyle/>
          <a:p>
            <a:r>
              <a:rPr lang="en-US" dirty="0"/>
              <a:t>In </a:t>
            </a:r>
            <a:r>
              <a:rPr lang="en-US" dirty="0" smtClean="0"/>
              <a:t>PolicyCenter </a:t>
            </a:r>
            <a:r>
              <a:rPr lang="en-US" dirty="0" err="1" smtClean="0"/>
              <a:t>PolicyRenewalPlugin's</a:t>
            </a:r>
            <a:r>
              <a:rPr lang="en-US" dirty="0" smtClean="0"/>
              <a:t> class, modify</a:t>
            </a:r>
            <a:endParaRPr lang="en-US" dirty="0"/>
          </a:p>
          <a:p>
            <a:pPr lvl="1"/>
            <a:r>
              <a:rPr lang="en-US" dirty="0" err="1" smtClean="0"/>
              <a:t>iRenewalOffered</a:t>
            </a:r>
            <a:r>
              <a:rPr lang="en-US" dirty="0"/>
              <a:t>() method to return true</a:t>
            </a:r>
          </a:p>
          <a:p>
            <a:pPr lvl="1"/>
            <a:r>
              <a:rPr lang="en-US" dirty="0" err="1" smtClean="0"/>
              <a:t>doesRenewalRequireconfirmation</a:t>
            </a:r>
            <a:r>
              <a:rPr lang="en-US" dirty="0"/>
              <a:t>() method to return true</a:t>
            </a:r>
          </a:p>
          <a:p>
            <a:r>
              <a:rPr lang="en-US" dirty="0" smtClean="0"/>
              <a:t>Example: Line 148 and 152</a:t>
            </a:r>
            <a:endParaRPr lang="en-US" dirty="0"/>
          </a:p>
        </p:txBody>
      </p:sp>
      <p:sp>
        <p:nvSpPr>
          <p:cNvPr id="5" name="Rectangle 1"/>
          <p:cNvSpPr>
            <a:spLocks noChangeArrowheads="1"/>
          </p:cNvSpPr>
          <p:nvPr/>
        </p:nvSpPr>
        <p:spPr bwMode="auto">
          <a:xfrm>
            <a:off x="276725" y="914400"/>
            <a:ext cx="8802653"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Courier New" pitchFamily="49" charset="0"/>
                <a:cs typeface="Courier New" pitchFamily="49" charset="0"/>
              </a:rPr>
              <a:t>   1</a:t>
            </a: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smtClean="0" bmk="">
                <a:ln>
                  <a:noFill/>
                </a:ln>
                <a:solidFill>
                  <a:srgbClr val="000080"/>
                </a:solidFill>
                <a:effectLst/>
                <a:latin typeface="Courier New" pitchFamily="49" charset="0"/>
                <a:cs typeface="Courier New" pitchFamily="49" charset="0"/>
              </a:rPr>
              <a:t>package </a:t>
            </a:r>
            <a:r>
              <a:rPr kumimoji="0" lang="en-US" sz="1600" b="1" i="0" u="none" strike="noStrike" cap="none" normalizeH="0" baseline="0" smtClean="0" bmk="">
                <a:ln>
                  <a:noFill/>
                </a:ln>
                <a:solidFill>
                  <a:srgbClr val="000000"/>
                </a:solidFill>
                <a:effectLst/>
                <a:latin typeface="Courier New" pitchFamily="49" charset="0"/>
                <a:cs typeface="Courier New" pitchFamily="49" charset="0"/>
              </a:rPr>
              <a:t>gw.plugin.job.impl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…15 </a:t>
            </a:r>
            <a:r>
              <a:rPr kumimoji="0" lang="en-US" sz="1600" b="1" i="0" u="none" strike="noStrike" cap="none" normalizeH="0" baseline="0" smtClean="0" bmk="">
                <a:ln>
                  <a:noFill/>
                </a:ln>
                <a:solidFill>
                  <a:srgbClr val="000080"/>
                </a:solidFill>
                <a:effectLst/>
                <a:latin typeface="Courier New" pitchFamily="49" charset="0"/>
                <a:cs typeface="Courier New" pitchFamily="49" charset="0"/>
              </a:rPr>
              <a:t>class </a:t>
            </a:r>
            <a:r>
              <a:rPr kumimoji="0" lang="en-US" sz="1600" b="1" i="0" u="none" strike="noStrike" cap="none" normalizeH="0" baseline="0" smtClean="0" bmk="">
                <a:ln>
                  <a:noFill/>
                </a:ln>
                <a:solidFill>
                  <a:srgbClr val="000000"/>
                </a:solidFill>
                <a:effectLst/>
                <a:latin typeface="Courier New" pitchFamily="49" charset="0"/>
                <a:cs typeface="Courier New" pitchFamily="49" charset="0"/>
              </a:rPr>
              <a:t>PolicyRenewalPlugin </a:t>
            </a:r>
            <a:r>
              <a:rPr kumimoji="0" lang="en-US" sz="1600" b="1" i="0" u="none" strike="noStrike" cap="none" normalizeH="0" baseline="0" smtClean="0" bmk="">
                <a:ln>
                  <a:noFill/>
                </a:ln>
                <a:solidFill>
                  <a:srgbClr val="000080"/>
                </a:solidFill>
                <a:effectLst/>
                <a:latin typeface="Courier New" pitchFamily="49" charset="0"/>
                <a:cs typeface="Courier New" pitchFamily="49" charset="0"/>
              </a:rPr>
              <a:t>implements </a:t>
            </a:r>
            <a:r>
              <a:rPr kumimoji="0" lang="en-US" sz="1600" b="1" i="0" u="none" strike="noStrike" cap="none" normalizeH="0" baseline="0" smtClean="0" bmk="">
                <a:ln>
                  <a:noFill/>
                </a:ln>
                <a:solidFill>
                  <a:srgbClr val="000000"/>
                </a:solidFill>
                <a:effectLst/>
                <a:latin typeface="Courier New" pitchFamily="49" charset="0"/>
                <a:cs typeface="Courier New" pitchFamily="49" charset="0"/>
              </a:rPr>
              <a:t>IPolicyRenewalPlugin</a:t>
            </a:r>
            <a:r>
              <a:rPr kumimoji="0" lang="en-US" sz="1600" b="1" i="0" u="none" strike="noStrike" cap="none" normalizeH="0" smtClean="0" bmk="">
                <a:ln>
                  <a:noFill/>
                </a:ln>
                <a:solidFill>
                  <a:srgbClr val="000000"/>
                </a:solidFill>
                <a:effectLst/>
                <a:latin typeface="Courier New" pitchFamily="49" charset="0"/>
                <a:cs typeface="Courier New" pitchFamily="49" charset="0"/>
              </a:rPr>
              <a:t> </a:t>
            </a:r>
            <a:r>
              <a:rPr kumimoji="0" lang="en-US" sz="1600" b="1" i="0" u="none" strike="noStrike" cap="none" normalizeH="0" baseline="0" smtClean="0" bmk="">
                <a:ln>
                  <a:noFill/>
                </a:ln>
                <a:solidFill>
                  <a:srgbClr val="000000"/>
                </a:solidFill>
                <a:effectLst/>
                <a:latin typeface="Courier New" pitchFamily="49" charset="0"/>
                <a:cs typeface="Courier New" pitchFamily="49" charset="0"/>
              </a:rPr>
              <a:t>{</a:t>
            </a:r>
            <a:br>
              <a:rPr kumimoji="0" lang="en-US" sz="1600" b="1" i="0" u="none" strike="noStrike" cap="none" normalizeH="0" baseline="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smtClean="0" bmk="">
                <a:ln>
                  <a:noFill/>
                </a:ln>
                <a:solidFill>
                  <a:srgbClr val="000000"/>
                </a:solidFill>
                <a:effectLst/>
                <a:latin typeface="Courier New" pitchFamily="49" charset="0"/>
                <a:cs typeface="Courier New" pitchFamily="49" charset="0"/>
              </a:rPr>
              <a:t>…147   </a:t>
            </a:r>
            <a:r>
              <a:rPr kumimoji="0" lang="en-US" sz="1600" b="1" i="0" u="none" strike="noStrike" cap="none" normalizeH="0" baseline="0" smtClean="0" bmk="">
                <a:ln>
                  <a:noFill/>
                </a:ln>
                <a:solidFill>
                  <a:srgbClr val="000080"/>
                </a:solidFill>
                <a:effectLst/>
                <a:latin typeface="Courier New" pitchFamily="49" charset="0"/>
                <a:cs typeface="Courier New" pitchFamily="49" charset="0"/>
              </a:rPr>
              <a:t>override function </a:t>
            </a:r>
            <a:r>
              <a:rPr kumimoji="0" lang="en-US" sz="1600" b="1" i="0" u="none" strike="noStrike" cap="none" normalizeH="0" baseline="0" smtClean="0" bmk="">
                <a:ln>
                  <a:noFill/>
                </a:ln>
                <a:solidFill>
                  <a:srgbClr val="000000"/>
                </a:solidFill>
                <a:effectLst/>
                <a:latin typeface="Courier New" pitchFamily="49" charset="0"/>
                <a:cs typeface="Courier New" pitchFamily="49" charset="0"/>
              </a:rPr>
              <a:t>isRenewalOffered( </a:t>
            </a:r>
            <a:br>
              <a:rPr kumimoji="0" lang="en-US" sz="1600" b="1" i="0" u="none" strike="noStrike" cap="none" normalizeH="0" baseline="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periodToRenew : PolicyPeriod ) : boolean {</a:t>
            </a:r>
            <a:br>
              <a:rPr kumimoji="0" lang="en-US" sz="1600" b="1" i="0" u="none" strike="noStrike" cap="none" normalizeH="0" baseline="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148     </a:t>
            </a:r>
            <a:r>
              <a:rPr kumimoji="0" lang="en-US" sz="1600" b="1" i="0" u="none" strike="noStrike" cap="none" normalizeH="0" baseline="0" smtClean="0" bmk="">
                <a:ln>
                  <a:noFill/>
                </a:ln>
                <a:solidFill>
                  <a:srgbClr val="000080"/>
                </a:solidFill>
                <a:effectLst/>
                <a:latin typeface="Courier New" pitchFamily="49" charset="0"/>
                <a:cs typeface="Courier New" pitchFamily="49" charset="0"/>
              </a:rPr>
              <a:t>return true</a:t>
            </a:r>
            <a:br>
              <a:rPr kumimoji="0" lang="en-US" sz="1600" b="1" i="0" u="none" strike="noStrike" cap="none" normalizeH="0" baseline="0" smtClean="0" bmk="">
                <a:ln>
                  <a:noFill/>
                </a:ln>
                <a:solidFill>
                  <a:srgbClr val="000080"/>
                </a:solidFill>
                <a:effectLst/>
                <a:latin typeface="Courier New" pitchFamily="49" charset="0"/>
                <a:cs typeface="Courier New" pitchFamily="49" charset="0"/>
              </a:rPr>
            </a:b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149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150</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151 </a:t>
            </a:r>
            <a:r>
              <a:rPr lang="en-US" sz="1600" b="1" bmk="">
                <a:solidFill>
                  <a:srgbClr val="000000"/>
                </a:solidFill>
                <a:latin typeface="Courier New" pitchFamily="49" charset="0"/>
                <a:cs typeface="Courier New" pitchFamily="49" charset="0"/>
              </a:rPr>
              <a:t> </a:t>
            </a:r>
            <a:r>
              <a:rPr lang="en-US" sz="1600" b="1" smtClean="0" bmk="">
                <a:solidFill>
                  <a:srgbClr val="000000"/>
                </a:solidFill>
                <a:latin typeface="Courier New" pitchFamily="49" charset="0"/>
                <a:cs typeface="Courier New" pitchFamily="49" charset="0"/>
              </a:rPr>
              <a:t> </a:t>
            </a:r>
            <a:r>
              <a:rPr kumimoji="0" lang="en-US" sz="1600" b="1" i="0" u="none" strike="noStrike" cap="none" normalizeH="0" baseline="0" smtClean="0" bmk="">
                <a:ln>
                  <a:noFill/>
                </a:ln>
                <a:solidFill>
                  <a:srgbClr val="000080"/>
                </a:solidFill>
                <a:effectLst/>
                <a:latin typeface="Courier New" pitchFamily="49" charset="0"/>
                <a:cs typeface="Courier New" pitchFamily="49" charset="0"/>
              </a:rPr>
              <a:t>override function </a:t>
            </a:r>
            <a:r>
              <a:rPr kumimoji="0" lang="en-US" sz="1600" b="1" i="0" u="none" strike="noStrike" cap="none" normalizeH="0" baseline="0" smtClean="0" bmk="">
                <a:ln>
                  <a:noFill/>
                </a:ln>
                <a:solidFill>
                  <a:srgbClr val="000000"/>
                </a:solidFill>
                <a:effectLst/>
                <a:latin typeface="Courier New" pitchFamily="49" charset="0"/>
                <a:cs typeface="Courier New" pitchFamily="49" charset="0"/>
              </a:rPr>
              <a:t>doesRenewalRequireConfirmation( </a:t>
            </a:r>
            <a:br>
              <a:rPr kumimoji="0" lang="en-US" sz="1600" b="1" i="0" u="none" strike="noStrike" cap="none" normalizeH="0" baseline="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periodToRenew : PolicyPeriod) : boolean {</a:t>
            </a:r>
            <a:br>
              <a:rPr kumimoji="0" lang="en-US" sz="1600" b="1" i="0" u="none" strike="noStrike" cap="none" normalizeH="0" baseline="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152     </a:t>
            </a:r>
            <a:r>
              <a:rPr kumimoji="0" lang="en-US" sz="1600" b="1" i="0" u="none" strike="noStrike" cap="none" normalizeH="0" baseline="0" smtClean="0" bmk="">
                <a:ln>
                  <a:noFill/>
                </a:ln>
                <a:solidFill>
                  <a:srgbClr val="000080"/>
                </a:solidFill>
                <a:effectLst/>
                <a:latin typeface="Courier New" pitchFamily="49" charset="0"/>
                <a:cs typeface="Courier New" pitchFamily="49" charset="0"/>
              </a:rPr>
              <a:t>return true</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153   }</a:t>
            </a:r>
          </a:p>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bmk="">
                <a:ln>
                  <a:noFill/>
                </a:ln>
                <a:solidFill>
                  <a:srgbClr val="000000"/>
                </a:solidFill>
                <a:effectLst/>
                <a:latin typeface="Courier New" pitchFamily="49" charset="0"/>
                <a:cs typeface="Courier New" pitchFamily="49" charset="0"/>
              </a:rPr>
              <a:t>…155 }</a:t>
            </a:r>
            <a:br>
              <a:rPr kumimoji="0" lang="en-US" sz="1600" b="1" i="0" u="none" strike="noStrike" cap="none" normalizeH="0" baseline="0" smtClean="0" bmk="">
                <a:ln>
                  <a:noFill/>
                </a:ln>
                <a:solidFill>
                  <a:srgbClr val="000000"/>
                </a:solidFill>
                <a:effectLst/>
                <a:latin typeface="Courier New" pitchFamily="49" charset="0"/>
                <a:cs typeface="Courier New" pitchFamily="49" charset="0"/>
              </a:rPr>
            </a:br>
            <a:r>
              <a:rPr kumimoji="0" lang="en-US" sz="1600" b="1" i="0" u="none" strike="noStrike" cap="none" normalizeH="0" baseline="0" smtClean="0" bmk="">
                <a:ln>
                  <a:noFill/>
                </a:ln>
                <a:solidFill>
                  <a:srgbClr val="000000"/>
                </a:solidFill>
                <a:effectLst/>
                <a:latin typeface="Courier New" pitchFamily="49" charset="0"/>
                <a:cs typeface="Courier New" pitchFamily="49" charset="0"/>
              </a:rPr>
              <a:t> 156 </a:t>
            </a:r>
            <a:endParaRPr kumimoji="0" lang="en-US" sz="1600" b="1" i="0" u="none" strike="noStrike" cap="none" normalizeH="0" baseline="0" smtClean="0">
              <a:ln>
                <a:noFill/>
              </a:ln>
              <a:solidFill>
                <a:schemeClr val="tx1"/>
              </a:solidFill>
              <a:effectLst/>
              <a:latin typeface="Courier New" pitchFamily="49" charset="0"/>
              <a:cs typeface="Courier New" pitchFamily="49" charset="0"/>
            </a:endParaRPr>
          </a:p>
        </p:txBody>
      </p:sp>
      <p:cxnSp>
        <p:nvCxnSpPr>
          <p:cNvPr id="6" name="Straight Arrow Connector 5"/>
          <p:cNvCxnSpPr/>
          <p:nvPr/>
        </p:nvCxnSpPr>
        <p:spPr bwMode="auto">
          <a:xfrm>
            <a:off x="152400" y="3276600"/>
            <a:ext cx="232296"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8" name="Straight Arrow Connector 7"/>
          <p:cNvCxnSpPr/>
          <p:nvPr/>
        </p:nvCxnSpPr>
        <p:spPr bwMode="auto">
          <a:xfrm>
            <a:off x="152400" y="2057400"/>
            <a:ext cx="232296"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10" name="Picture 9"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017962931"/>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Start PolicyCenter</a:t>
            </a:r>
            <a:endParaRPr lang="en-US"/>
          </a:p>
        </p:txBody>
      </p:sp>
      <p:sp>
        <p:nvSpPr>
          <p:cNvPr id="3" name="Content Placeholder 2"/>
          <p:cNvSpPr>
            <a:spLocks noGrp="1"/>
          </p:cNvSpPr>
          <p:nvPr>
            <p:ph idx="1"/>
          </p:nvPr>
        </p:nvSpPr>
        <p:spPr/>
        <p:txBody>
          <a:bodyPr/>
          <a:lstStyle/>
          <a:p>
            <a:r>
              <a:rPr lang="en-US" b="1" dirty="0" err="1" smtClean="0">
                <a:latin typeface="Courier New" pitchFamily="49" charset="0"/>
                <a:cs typeface="Courier New" pitchFamily="49" charset="0"/>
              </a:rPr>
              <a:t>gwpc</a:t>
            </a:r>
            <a:r>
              <a:rPr lang="en-US" b="1" dirty="0" smtClean="0">
                <a:latin typeface="Courier New" pitchFamily="49" charset="0"/>
                <a:cs typeface="Courier New" pitchFamily="49" charset="0"/>
              </a:rPr>
              <a:t> </a:t>
            </a:r>
            <a:r>
              <a:rPr lang="en-US" b="1" dirty="0" err="1" smtClean="0">
                <a:latin typeface="Courier New" pitchFamily="49" charset="0"/>
                <a:cs typeface="Courier New" pitchFamily="49" charset="0"/>
              </a:rPr>
              <a:t>dev</a:t>
            </a:r>
            <a:r>
              <a:rPr lang="en-US" b="1" dirty="0" smtClean="0">
                <a:latin typeface="Courier New" pitchFamily="49" charset="0"/>
                <a:cs typeface="Courier New" pitchFamily="49" charset="0"/>
              </a:rPr>
              <a:t>-start</a:t>
            </a:r>
          </a:p>
          <a:p>
            <a:r>
              <a:rPr lang="en-US" dirty="0" smtClean="0"/>
              <a:t>Starts PolicyCenter </a:t>
            </a:r>
          </a:p>
          <a:p>
            <a:r>
              <a:rPr lang="en-US" dirty="0" err="1" smtClean="0"/>
              <a:t>CancellationAPI</a:t>
            </a:r>
            <a:r>
              <a:rPr lang="en-US" dirty="0" smtClean="0"/>
              <a:t> web service starts</a:t>
            </a:r>
          </a:p>
          <a:p>
            <a:r>
              <a:rPr lang="en-US" dirty="0" err="1" smtClean="0"/>
              <a:t>PolicyRenewalAPI</a:t>
            </a:r>
            <a:r>
              <a:rPr lang="en-US" dirty="0" smtClean="0"/>
              <a:t> </a:t>
            </a:r>
            <a:r>
              <a:rPr lang="en-US" dirty="0"/>
              <a:t>web service starts</a:t>
            </a:r>
          </a:p>
          <a:p>
            <a:endParaRPr lang="en-US" dirty="0"/>
          </a:p>
          <a:p>
            <a:endParaRPr lang="en-US" dirty="0"/>
          </a:p>
        </p:txBody>
      </p:sp>
      <p:sp>
        <p:nvSpPr>
          <p:cNvPr id="4" name="Rectangle 3"/>
          <p:cNvSpPr/>
          <p:nvPr/>
        </p:nvSpPr>
        <p:spPr bwMode="auto">
          <a:xfrm>
            <a:off x="533400" y="3276600"/>
            <a:ext cx="8229600" cy="3048000"/>
          </a:xfrm>
          <a:prstGeom prst="rect">
            <a:avLst/>
          </a:prstGeom>
          <a:solidFill>
            <a:schemeClr val="tx2">
              <a:lumMod val="75000"/>
            </a:schemeClr>
          </a:solidFill>
          <a:ln w="19050" algn="ctr">
            <a:solidFill>
              <a:schemeClr val="tx2">
                <a:lumMod val="75000"/>
              </a:schemeClr>
            </a:solidFill>
            <a:round/>
            <a:headEnd/>
            <a:tailEnd/>
          </a:ln>
        </p:spPr>
        <p:txBody>
          <a:bodyPr wrap="none" lIns="91440" tIns="91440" rIns="0" bIns="91440" rtlCol="0" anchor="t" anchorCtr="0">
            <a:noAutofit/>
          </a:bodyPr>
          <a:lstStyle/>
          <a:p>
            <a:pPr>
              <a:spcBef>
                <a:spcPct val="50000"/>
              </a:spcBef>
              <a:spcAft>
                <a:spcPct val="30000"/>
              </a:spcAft>
              <a:buClr>
                <a:schemeClr val="tx1"/>
              </a:buClr>
            </a:pPr>
            <a:r>
              <a:rPr lang="en-US" sz="1600">
                <a:solidFill>
                  <a:schemeClr val="bg1"/>
                </a:solidFill>
                <a:latin typeface="Lucida Console" pitchFamily="49" charset="0"/>
              </a:rPr>
              <a:t>C:\</a:t>
            </a:r>
            <a:r>
              <a:rPr lang="en-US" sz="1600" smtClean="0">
                <a:solidFill>
                  <a:schemeClr val="bg1"/>
                </a:solidFill>
                <a:latin typeface="Lucida Console" pitchFamily="49" charset="0"/>
              </a:rPr>
              <a:t>Guidewire\PolicyCenter\bin&gt;gwpc </a:t>
            </a:r>
            <a:r>
              <a:rPr lang="en-US" sz="1600">
                <a:solidFill>
                  <a:schemeClr val="bg1"/>
                </a:solidFill>
                <a:latin typeface="Lucida Console" pitchFamily="49" charset="0"/>
              </a:rPr>
              <a:t>dev-start</a:t>
            </a:r>
          </a:p>
          <a:p>
            <a:pPr>
              <a:spcBef>
                <a:spcPct val="50000"/>
              </a:spcBef>
              <a:spcAft>
                <a:spcPct val="30000"/>
              </a:spcAft>
              <a:buClr>
                <a:schemeClr val="tx1"/>
              </a:buClr>
            </a:pPr>
            <a:r>
              <a:rPr lang="en-US" sz="1600">
                <a:solidFill>
                  <a:schemeClr val="bg1"/>
                </a:solidFill>
                <a:latin typeface="Lucida Console" pitchFamily="49" charset="0"/>
              </a:rPr>
              <a:t>dev-start</a:t>
            </a:r>
            <a:r>
              <a:rPr lang="en-US" sz="1600" smtClean="0">
                <a:solidFill>
                  <a:schemeClr val="bg1"/>
                </a:solidFill>
                <a:latin typeface="Lucida Console" pitchFamily="49" charset="0"/>
              </a:rPr>
              <a:t>:</a:t>
            </a:r>
            <a:br>
              <a:rPr lang="en-US" sz="1600" smtClean="0">
                <a:solidFill>
                  <a:schemeClr val="bg1"/>
                </a:solidFill>
                <a:latin typeface="Lucida Console" pitchFamily="49" charset="0"/>
              </a:rPr>
            </a:br>
            <a:r>
              <a:rPr lang="en-US" sz="1600" smtClean="0">
                <a:solidFill>
                  <a:schemeClr val="bg1"/>
                </a:solidFill>
                <a:latin typeface="Lucida Console" pitchFamily="49" charset="0"/>
              </a:rPr>
              <a:t>====================================================</a:t>
            </a:r>
            <a:br>
              <a:rPr lang="en-US" sz="1600" smtClean="0">
                <a:solidFill>
                  <a:schemeClr val="bg1"/>
                </a:solidFill>
                <a:latin typeface="Lucida Console" pitchFamily="49" charset="0"/>
              </a:rPr>
            </a:br>
            <a:r>
              <a:rPr lang="en-US" sz="1600" smtClean="0">
                <a:solidFill>
                  <a:schemeClr val="bg1"/>
                </a:solidFill>
                <a:latin typeface="Lucida Console" pitchFamily="49" charset="0"/>
              </a:rPr>
              <a:t>= </a:t>
            </a:r>
            <a:r>
              <a:rPr lang="en-US" sz="1600">
                <a:solidFill>
                  <a:schemeClr val="bg1"/>
                </a:solidFill>
                <a:latin typeface="Lucida Console" pitchFamily="49" charset="0"/>
              </a:rPr>
              <a:t>Running main class: </a:t>
            </a:r>
            <a:r>
              <a:rPr lang="en-US" sz="1600" smtClean="0">
                <a:solidFill>
                  <a:schemeClr val="bg1"/>
                </a:solidFill>
                <a:latin typeface="Lucida Console" pitchFamily="49" charset="0"/>
              </a:rPr>
              <a:t/>
            </a:r>
            <a:br>
              <a:rPr lang="en-US" sz="1600" smtClean="0">
                <a:solidFill>
                  <a:schemeClr val="bg1"/>
                </a:solidFill>
                <a:latin typeface="Lucida Console" pitchFamily="49" charset="0"/>
              </a:rPr>
            </a:br>
            <a:r>
              <a:rPr lang="en-US" sz="1600" smtClean="0">
                <a:solidFill>
                  <a:schemeClr val="bg1"/>
                </a:solidFill>
                <a:latin typeface="Lucida Console" pitchFamily="49" charset="0"/>
              </a:rPr>
              <a:t> com.guidewire.commons.jetty.GWServerJettyServerMain</a:t>
            </a:r>
          </a:p>
          <a:p>
            <a:pPr>
              <a:spcBef>
                <a:spcPct val="50000"/>
              </a:spcBef>
              <a:spcAft>
                <a:spcPct val="30000"/>
              </a:spcAft>
              <a:buClr>
                <a:schemeClr val="tx1"/>
              </a:buClr>
            </a:pPr>
            <a:r>
              <a:rPr lang="en-US" sz="1600" smtClean="0">
                <a:solidFill>
                  <a:schemeClr val="bg1"/>
                </a:solidFill>
                <a:latin typeface="Lucida Console" pitchFamily="49" charset="0"/>
              </a:rPr>
              <a:t>…</a:t>
            </a:r>
          </a:p>
          <a:p>
            <a:pPr>
              <a:spcBef>
                <a:spcPct val="50000"/>
              </a:spcBef>
              <a:spcAft>
                <a:spcPct val="30000"/>
              </a:spcAft>
              <a:buClr>
                <a:schemeClr val="tx1"/>
              </a:buClr>
            </a:pPr>
            <a:r>
              <a:rPr lang="en-US" sz="1600" smtClean="0">
                <a:solidFill>
                  <a:schemeClr val="bg1"/>
                </a:solidFill>
                <a:latin typeface="Lucida Console" pitchFamily="49" charset="0"/>
              </a:rPr>
              <a:t>[JAVA] machine   2014-10-10  INFO </a:t>
            </a:r>
            <a:r>
              <a:rPr lang="en-US" sz="1600">
                <a:solidFill>
                  <a:schemeClr val="bg1"/>
                </a:solidFill>
                <a:latin typeface="Lucida Console" pitchFamily="49" charset="0"/>
              </a:rPr>
              <a:t>***** </a:t>
            </a:r>
            <a:r>
              <a:rPr lang="en-US" sz="1600" smtClean="0">
                <a:solidFill>
                  <a:schemeClr val="bg1"/>
                </a:solidFill>
                <a:latin typeface="Lucida Console" pitchFamily="49" charset="0"/>
              </a:rPr>
              <a:t>PolicyCenter </a:t>
            </a:r>
            <a:r>
              <a:rPr lang="en-US" sz="1600">
                <a:solidFill>
                  <a:schemeClr val="bg1"/>
                </a:solidFill>
                <a:latin typeface="Lucida Console" pitchFamily="49" charset="0"/>
              </a:rPr>
              <a:t>ready *****</a:t>
            </a:r>
          </a:p>
        </p:txBody>
      </p:sp>
      <p:sp>
        <p:nvSpPr>
          <p:cNvPr id="5"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2</a:t>
            </a:r>
            <a:endParaRPr lang="en-US" dirty="0"/>
          </a:p>
        </p:txBody>
      </p:sp>
      <p:pic>
        <p:nvPicPr>
          <p:cNvPr id="7" name="Picture 6" descr="PolicyCenter.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298738" y="133350"/>
            <a:ext cx="565862"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29501991"/>
      </p:ext>
    </p:ext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sluersen\AppData\Local\Temp\SNAGHTML125d83b.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3657600"/>
            <a:ext cx="7329525" cy="28129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3400" y="914400"/>
            <a:ext cx="2781905" cy="255190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 Logo BC"/>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298180" y="137160"/>
            <a:ext cx="565485" cy="548640"/>
          </a:xfrm>
          <a:prstGeom prst="rect">
            <a:avLst/>
          </a:prstGeom>
          <a:effectLst>
            <a:outerShdw blurRad="50800" dist="38100" dir="2700000" algn="tl" rotWithShape="0">
              <a:prstClr val="black">
                <a:alpha val="40000"/>
              </a:prstClr>
            </a:outerShdw>
          </a:effectLst>
        </p:spPr>
      </p:pic>
      <p:sp>
        <p:nvSpPr>
          <p:cNvPr id="2" name="Title 1"/>
          <p:cNvSpPr>
            <a:spLocks noGrp="1"/>
          </p:cNvSpPr>
          <p:nvPr>
            <p:ph type="title"/>
          </p:nvPr>
        </p:nvSpPr>
        <p:spPr/>
        <p:txBody>
          <a:bodyPr/>
          <a:lstStyle/>
          <a:p>
            <a:r>
              <a:rPr lang="en-US" dirty="0" smtClean="0"/>
              <a:t>Open </a:t>
            </a:r>
            <a:r>
              <a:rPr lang="en-US" dirty="0" err="1" smtClean="0"/>
              <a:t>IPolicySystemPlugin</a:t>
            </a:r>
            <a:endParaRPr lang="en-US" dirty="0"/>
          </a:p>
        </p:txBody>
      </p:sp>
      <p:sp>
        <p:nvSpPr>
          <p:cNvPr id="4" name="Content Placeholder 3"/>
          <p:cNvSpPr>
            <a:spLocks noGrp="1"/>
          </p:cNvSpPr>
          <p:nvPr>
            <p:ph sz="half" idx="2"/>
          </p:nvPr>
        </p:nvSpPr>
        <p:spPr>
          <a:xfrm>
            <a:off x="3886200" y="914401"/>
            <a:ext cx="4951413" cy="5475289"/>
          </a:xfrm>
        </p:spPr>
        <p:txBody>
          <a:bodyPr/>
          <a:lstStyle/>
          <a:p>
            <a:r>
              <a:rPr lang="en-US" dirty="0"/>
              <a:t>In </a:t>
            </a:r>
            <a:r>
              <a:rPr lang="en-US" dirty="0" smtClean="0"/>
              <a:t>Guidewire Studio for BillingCenter, open </a:t>
            </a:r>
            <a:r>
              <a:rPr lang="en-US" dirty="0"/>
              <a:t/>
            </a:r>
            <a:br>
              <a:rPr lang="en-US" dirty="0"/>
            </a:br>
            <a:r>
              <a:rPr lang="en-US" dirty="0" err="1" smtClean="0"/>
              <a:t>IPolicySystemPlugin.gwp</a:t>
            </a:r>
            <a:endParaRPr lang="en-US" dirty="0"/>
          </a:p>
        </p:txBody>
      </p:sp>
      <p:cxnSp>
        <p:nvCxnSpPr>
          <p:cNvPr id="7" name="Straight Arrow Connector 6"/>
          <p:cNvCxnSpPr/>
          <p:nvPr/>
        </p:nvCxnSpPr>
        <p:spPr bwMode="auto">
          <a:xfrm>
            <a:off x="1600200" y="3305419"/>
            <a:ext cx="0" cy="326755"/>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3</a:t>
            </a:r>
            <a:endParaRPr lang="en-US" dirty="0"/>
          </a:p>
        </p:txBody>
      </p:sp>
      <p:pic>
        <p:nvPicPr>
          <p:cNvPr id="14"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00600" y="5238925"/>
            <a:ext cx="772571" cy="227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149517770"/>
      </p:ext>
    </p:extLst>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C:\Users\sluersen\AppData\Local\Temp\SNAGHTML12c1f9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098" y="3655659"/>
            <a:ext cx="7329525" cy="28129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2" name="pic DLG" descr="C:\Users\sluersen\AppData\Local\Temp\SNAGHTML7ef5a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75567" y="2229759"/>
            <a:ext cx="3716033" cy="196124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Change the Gosu class</a:t>
            </a:r>
            <a:endParaRPr lang="en-US"/>
          </a:p>
        </p:txBody>
      </p:sp>
      <p:sp>
        <p:nvSpPr>
          <p:cNvPr id="3" name="Content Placeholder 2"/>
          <p:cNvSpPr>
            <a:spLocks noGrp="1"/>
          </p:cNvSpPr>
          <p:nvPr>
            <p:ph idx="1"/>
          </p:nvPr>
        </p:nvSpPr>
        <p:spPr/>
        <p:txBody>
          <a:bodyPr/>
          <a:lstStyle/>
          <a:p>
            <a:r>
              <a:rPr lang="en-US" dirty="0" smtClean="0"/>
              <a:t>In </a:t>
            </a:r>
            <a:r>
              <a:rPr lang="en-US" dirty="0"/>
              <a:t>Plugin Editor, </a:t>
            </a:r>
            <a:r>
              <a:rPr lang="en-US" dirty="0" smtClean="0"/>
              <a:t>change the Gosu class</a:t>
            </a:r>
          </a:p>
          <a:p>
            <a:pPr marL="857250" lvl="1" indent="-457200">
              <a:buFont typeface="+mj-lt"/>
              <a:buAutoNum type="arabicPeriod"/>
            </a:pPr>
            <a:r>
              <a:rPr lang="en-US" dirty="0" smtClean="0"/>
              <a:t>Click ellipse (…) </a:t>
            </a:r>
            <a:endParaRPr lang="en-US" dirty="0"/>
          </a:p>
          <a:p>
            <a:pPr marL="857250" lvl="1" indent="-457200">
              <a:buFont typeface="+mj-lt"/>
              <a:buAutoNum type="arabicPeriod"/>
            </a:pPr>
            <a:r>
              <a:rPr lang="en-US" dirty="0"/>
              <a:t>Search for </a:t>
            </a:r>
            <a:r>
              <a:rPr lang="en-US" dirty="0" err="1" smtClean="0"/>
              <a:t>PCPolicySystemPlugin</a:t>
            </a:r>
            <a:r>
              <a:rPr lang="en-US" dirty="0"/>
              <a:t> </a:t>
            </a:r>
            <a:r>
              <a:rPr lang="en-US" dirty="0" smtClean="0"/>
              <a:t>(pc800</a:t>
            </a:r>
            <a:r>
              <a:rPr lang="en-US" dirty="0"/>
              <a:t>)</a:t>
            </a:r>
          </a:p>
          <a:p>
            <a:pPr marL="0" indent="0">
              <a:buNone/>
            </a:pPr>
            <a:endParaRPr lang="en-US" dirty="0"/>
          </a:p>
        </p:txBody>
      </p:sp>
      <p:sp>
        <p:nvSpPr>
          <p:cNvPr id="10" name="num3"/>
          <p:cNvSpPr/>
          <p:nvPr/>
        </p:nvSpPr>
        <p:spPr bwMode="auto">
          <a:xfrm>
            <a:off x="5251798" y="3421309"/>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2</a:t>
            </a:r>
            <a:endParaRPr lang="en-US"/>
          </a:p>
        </p:txBody>
      </p:sp>
      <p:sp>
        <p:nvSpPr>
          <p:cNvPr id="11" name="num1"/>
          <p:cNvSpPr/>
          <p:nvPr/>
        </p:nvSpPr>
        <p:spPr bwMode="auto">
          <a:xfrm>
            <a:off x="7503062" y="4345057"/>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
        <p:nvSpPr>
          <p:cNvPr id="8"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dirty="0"/>
              <a:t>Step </a:t>
            </a:r>
            <a:r>
              <a:rPr lang="en-US" dirty="0" smtClean="0"/>
              <a:t>4</a:t>
            </a:r>
            <a:endParaRPr lang="en-US" dirty="0"/>
          </a:p>
        </p:txBody>
      </p:sp>
      <p:pic>
        <p:nvPicPr>
          <p:cNvPr id="15"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00600" y="5238925"/>
            <a:ext cx="772571" cy="22781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6" name="pic Logo BC"/>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298180" y="137160"/>
            <a:ext cx="565485"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69386140"/>
      </p:ext>
    </p:extLst>
  </p:cSld>
  <p:clrMapOvr>
    <a:masterClrMapping/>
  </p:clrMapOvr>
  <p:transition/>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C:\Users\sluersen\AppData\Local\Temp\SNAGHTML12c1f96.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4098" y="3655659"/>
            <a:ext cx="7329525" cy="281295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smtClean="0"/>
              <a:t>Edit the plugin configuration</a:t>
            </a:r>
            <a:endParaRPr lang="en-US"/>
          </a:p>
        </p:txBody>
      </p:sp>
      <p:sp>
        <p:nvSpPr>
          <p:cNvPr id="3" name="Content Placeholder 2"/>
          <p:cNvSpPr>
            <a:spLocks noGrp="1"/>
          </p:cNvSpPr>
          <p:nvPr>
            <p:ph sz="half" idx="2"/>
          </p:nvPr>
        </p:nvSpPr>
        <p:spPr>
          <a:xfrm>
            <a:off x="533400" y="914401"/>
            <a:ext cx="8534400" cy="5475289"/>
          </a:xfrm>
        </p:spPr>
        <p:txBody>
          <a:bodyPr/>
          <a:lstStyle/>
          <a:p>
            <a:pPr marL="457200" indent="-457200">
              <a:buFont typeface="+mj-lt"/>
              <a:buAutoNum type="arabicPeriod"/>
            </a:pPr>
            <a:r>
              <a:rPr lang="en-US" dirty="0" smtClean="0"/>
              <a:t>Enable, if disabled</a:t>
            </a:r>
          </a:p>
          <a:p>
            <a:endParaRPr lang="en-US" dirty="0"/>
          </a:p>
        </p:txBody>
      </p:sp>
      <p:sp>
        <p:nvSpPr>
          <p:cNvPr id="11" name="num1"/>
          <p:cNvSpPr/>
          <p:nvPr/>
        </p:nvSpPr>
        <p:spPr bwMode="auto">
          <a:xfrm>
            <a:off x="4914900" y="50673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smtClean="0">
                <a:solidFill>
                  <a:schemeClr val="accent1"/>
                </a:solidFill>
              </a:rPr>
              <a:t>1</a:t>
            </a:r>
            <a:endParaRPr lang="en-US"/>
          </a:p>
        </p:txBody>
      </p:sp>
      <p:sp>
        <p:nvSpPr>
          <p:cNvPr id="7"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4</a:t>
            </a:r>
            <a:endParaRPr lang="en-US"/>
          </a:p>
        </p:txBody>
      </p:sp>
      <p:pic>
        <p:nvPicPr>
          <p:cNvPr id="13" name="pic Logo B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180" y="137160"/>
            <a:ext cx="565485"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7961338"/>
      </p:ext>
    </p:extLst>
  </p:cSld>
  <p:clrMapOvr>
    <a:masterClrMapping/>
  </p:clrMapOvr>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6" descr="C:\Users\sluersen\AppData\Local\Temp\SNAGHTML156bb7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524000"/>
            <a:ext cx="7700956" cy="18288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pPr marL="457200" indent="-457200"/>
            <a:r>
              <a:rPr lang="en-US" dirty="0"/>
              <a:t>Edit suite-config.xml</a:t>
            </a:r>
          </a:p>
        </p:txBody>
      </p:sp>
      <p:sp>
        <p:nvSpPr>
          <p:cNvPr id="15" name="Text Placeholder 14"/>
          <p:cNvSpPr>
            <a:spLocks noGrp="1"/>
          </p:cNvSpPr>
          <p:nvPr>
            <p:ph idx="1"/>
          </p:nvPr>
        </p:nvSpPr>
        <p:spPr/>
        <p:txBody>
          <a:bodyPr/>
          <a:lstStyle/>
          <a:p>
            <a:r>
              <a:rPr lang="en-US" dirty="0" smtClean="0"/>
              <a:t>Specify the URL for PolicyCenter in suite-config.xml</a:t>
            </a:r>
          </a:p>
          <a:p>
            <a:endParaRPr lang="en-US" dirty="0" smtClean="0"/>
          </a:p>
          <a:p>
            <a:endParaRPr lang="en-US" dirty="0"/>
          </a:p>
        </p:txBody>
      </p: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5</a:t>
            </a:r>
            <a:endParaRPr lang="en-US"/>
          </a:p>
        </p:txBody>
      </p:sp>
      <p:sp>
        <p:nvSpPr>
          <p:cNvPr id="20" name="Rounded Rectangle 19"/>
          <p:cNvSpPr/>
          <p:nvPr/>
        </p:nvSpPr>
        <p:spPr bwMode="auto">
          <a:xfrm>
            <a:off x="3441610" y="2343878"/>
            <a:ext cx="3373506" cy="277402"/>
          </a:xfrm>
          <a:prstGeom prst="roundRect">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pic>
        <p:nvPicPr>
          <p:cNvPr id="12" name="pic Logo B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180" y="137160"/>
            <a:ext cx="565485"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605899920"/>
      </p:ext>
    </p:extLst>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descr="C:\Users\sluersen\AppData\Local\Temp\SNAGHTML14fd197.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35" y="2819400"/>
            <a:ext cx="8061965" cy="2836619"/>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r>
              <a:rPr lang="en-US" dirty="0"/>
              <a:t>Refresh web service collection WSDL</a:t>
            </a:r>
          </a:p>
        </p:txBody>
      </p:sp>
      <p:sp>
        <p:nvSpPr>
          <p:cNvPr id="3" name="Content Placeholder 2"/>
          <p:cNvSpPr>
            <a:spLocks noGrp="1"/>
          </p:cNvSpPr>
          <p:nvPr>
            <p:ph idx="1"/>
          </p:nvPr>
        </p:nvSpPr>
        <p:spPr/>
        <p:txBody>
          <a:bodyPr/>
          <a:lstStyle/>
          <a:p>
            <a:r>
              <a:rPr lang="en-US" dirty="0"/>
              <a:t>Open the </a:t>
            </a:r>
            <a:r>
              <a:rPr lang="en-US" dirty="0" smtClean="0"/>
              <a:t>pc800.wsc </a:t>
            </a:r>
            <a:r>
              <a:rPr lang="en-US" dirty="0"/>
              <a:t>collection in Studio</a:t>
            </a:r>
          </a:p>
          <a:p>
            <a:pPr lvl="1"/>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gsrc</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wsi</a:t>
            </a:r>
            <a:r>
              <a:rPr lang="en-US" b="1" dirty="0" smtClean="0">
                <a:latin typeface="Courier New" pitchFamily="49" charset="0"/>
                <a:cs typeface="Courier New" pitchFamily="49" charset="0"/>
              </a:rPr>
              <a:t>\remote\gw\</a:t>
            </a:r>
            <a:r>
              <a:rPr lang="en-US" b="1" dirty="0" err="1" smtClean="0">
                <a:latin typeface="Courier New" pitchFamily="49" charset="0"/>
                <a:cs typeface="Courier New" pitchFamily="49" charset="0"/>
              </a:rPr>
              <a:t>webservice</a:t>
            </a:r>
            <a:r>
              <a:rPr lang="en-US" b="1" dirty="0" smtClean="0">
                <a:latin typeface="Courier New" pitchFamily="49" charset="0"/>
                <a:cs typeface="Courier New" pitchFamily="49" charset="0"/>
              </a:rPr>
              <a:t>\pc\pc800.wsc</a:t>
            </a:r>
            <a:endParaRPr lang="en-US" b="1" dirty="0">
              <a:latin typeface="Courier New" pitchFamily="49" charset="0"/>
              <a:cs typeface="Courier New" pitchFamily="49" charset="0"/>
            </a:endParaRPr>
          </a:p>
          <a:p>
            <a:r>
              <a:rPr lang="en-US" dirty="0" smtClean="0">
                <a:cs typeface="Courier New" pitchFamily="49" charset="0"/>
              </a:rPr>
              <a:t>To </a:t>
            </a:r>
            <a:r>
              <a:rPr lang="en-US" dirty="0">
                <a:cs typeface="Courier New" pitchFamily="49" charset="0"/>
              </a:rPr>
              <a:t>refresh the web service collection WSDL, click Fetch Updates</a:t>
            </a:r>
          </a:p>
          <a:p>
            <a:pPr marL="400050" lvl="1" indent="0">
              <a:buNone/>
            </a:pPr>
            <a:endParaRPr lang="en-US" dirty="0">
              <a:cs typeface="Courier New" pitchFamily="49" charset="0"/>
            </a:endParaRPr>
          </a:p>
        </p:txBody>
      </p:sp>
      <p:cxnSp>
        <p:nvCxnSpPr>
          <p:cNvPr id="8" name="Straight Arrow Connector 7"/>
          <p:cNvCxnSpPr/>
          <p:nvPr/>
        </p:nvCxnSpPr>
        <p:spPr bwMode="auto">
          <a:xfrm flipH="1">
            <a:off x="4535967" y="3871913"/>
            <a:ext cx="247325" cy="0"/>
          </a:xfrm>
          <a:prstGeom prst="straightConnector1">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
        <p:nvSpPr>
          <p:cNvPr id="10"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6</a:t>
            </a:r>
            <a:endParaRPr lang="en-US"/>
          </a:p>
        </p:txBody>
      </p:sp>
      <p:pic>
        <p:nvPicPr>
          <p:cNvPr id="9" name="pic Logo B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180" y="137160"/>
            <a:ext cx="565485"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143476121"/>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Deploy your changes</a:t>
            </a:r>
            <a:endParaRPr lang="en-US"/>
          </a:p>
        </p:txBody>
      </p:sp>
      <p:sp>
        <p:nvSpPr>
          <p:cNvPr id="21" name="Subtitle 20"/>
          <p:cNvSpPr>
            <a:spLocks noGrp="1"/>
          </p:cNvSpPr>
          <p:nvPr>
            <p:ph type="subTitle" idx="10"/>
          </p:nvPr>
        </p:nvSpPr>
        <p:spPr/>
        <p:txBody>
          <a:bodyPr/>
          <a:lstStyle/>
          <a:p>
            <a:r>
              <a:rPr lang="en-US" smtClean="0"/>
              <a:t>Restart Server</a:t>
            </a:r>
          </a:p>
          <a:p>
            <a:endParaRPr lang="en-US"/>
          </a:p>
        </p:txBody>
      </p:sp>
      <p:sp>
        <p:nvSpPr>
          <p:cNvPr id="19" name="Content Placeholder 18"/>
          <p:cNvSpPr>
            <a:spLocks noGrp="1"/>
          </p:cNvSpPr>
          <p:nvPr>
            <p:ph sz="half" idx="1"/>
          </p:nvPr>
        </p:nvSpPr>
        <p:spPr/>
        <p:txBody>
          <a:bodyPr/>
          <a:lstStyle/>
          <a:p>
            <a:r>
              <a:rPr lang="en-US" dirty="0" smtClean="0"/>
              <a:t>Plugin registry elements</a:t>
            </a:r>
          </a:p>
          <a:p>
            <a:r>
              <a:rPr lang="en-US" dirty="0"/>
              <a:t>Always required for</a:t>
            </a:r>
            <a:br>
              <a:rPr lang="en-US" dirty="0"/>
            </a:br>
            <a:r>
              <a:rPr lang="en-US" dirty="0"/>
              <a:t>cross-point integration</a:t>
            </a:r>
          </a:p>
          <a:p>
            <a:endParaRPr lang="en-US" dirty="0" smtClean="0"/>
          </a:p>
          <a:p>
            <a:endParaRPr lang="en-US" dirty="0"/>
          </a:p>
        </p:txBody>
      </p:sp>
      <p:sp>
        <p:nvSpPr>
          <p:cNvPr id="4" name="txt Step Sub-Header"/>
          <p:cNvSpPr txBox="1">
            <a:spLocks/>
          </p:cNvSpPr>
          <p:nvPr/>
        </p:nvSpPr>
        <p:spPr bwMode="auto">
          <a:xfrm>
            <a:off x="499110" y="485775"/>
            <a:ext cx="832104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457200" numCol="1" anchor="t" anchorCtr="0" compatLnSpc="1">
            <a:prstTxWarp prst="textNoShape">
              <a:avLst/>
            </a:prstTxWarp>
            <a:noAutofit/>
          </a:bodyPr>
          <a:lstStyle>
            <a:defPPr>
              <a:defRPr lang="en-US"/>
            </a:defPPr>
            <a:lvl1pPr indent="0" fontAlgn="base">
              <a:spcBef>
                <a:spcPct val="40000"/>
              </a:spcBef>
              <a:spcAft>
                <a:spcPct val="0"/>
              </a:spcAft>
              <a:buClr>
                <a:srgbClr val="04628C"/>
              </a:buClr>
              <a:buSzPct val="90000"/>
              <a:buFont typeface="Arial" charset="0"/>
              <a:buNone/>
              <a:defRPr sz="2800" b="1" kern="0">
                <a:solidFill>
                  <a:srgbClr val="04628C"/>
                </a:solidFill>
                <a:latin typeface="+mj-lt"/>
                <a:ea typeface="Arial" pitchFamily="34" charset="0"/>
                <a:cs typeface="Arial" pitchFamily="34" charset="0"/>
              </a:defRPr>
            </a:lvl1pPr>
            <a:lvl2pPr marL="628650" indent="-228600" fontAlgn="base">
              <a:spcBef>
                <a:spcPct val="20000"/>
              </a:spcBef>
              <a:spcAft>
                <a:spcPct val="0"/>
              </a:spcAft>
              <a:buClr>
                <a:srgbClr val="04628C"/>
              </a:buClr>
              <a:buSzPct val="90000"/>
              <a:buFont typeface="Arial" charset="0"/>
              <a:buChar char="-"/>
              <a:defRPr sz="2000">
                <a:solidFill>
                  <a:schemeClr val="bg1"/>
                </a:solidFill>
                <a:ea typeface="Arial" pitchFamily="32" charset="0"/>
                <a:cs typeface="Arial" pitchFamily="32" charset="0"/>
              </a:defRPr>
            </a:lvl2pPr>
            <a:lvl3pPr marL="969963" indent="-227013" fontAlgn="base">
              <a:spcBef>
                <a:spcPct val="20000"/>
              </a:spcBef>
              <a:spcAft>
                <a:spcPct val="0"/>
              </a:spcAft>
              <a:buClr>
                <a:srgbClr val="04628C"/>
              </a:buClr>
              <a:buSzPct val="85000"/>
              <a:buFont typeface="Arial" charset="0"/>
              <a:buChar char="-"/>
              <a:defRPr>
                <a:solidFill>
                  <a:schemeClr val="bg1"/>
                </a:solidFill>
                <a:ea typeface="Arial" pitchFamily="32" charset="0"/>
                <a:cs typeface="Arial" pitchFamily="32" charset="0"/>
              </a:defRPr>
            </a:lvl3pPr>
            <a:lvl4pPr marL="1376363" indent="-292100" fontAlgn="base">
              <a:spcBef>
                <a:spcPct val="20000"/>
              </a:spcBef>
              <a:spcAft>
                <a:spcPct val="0"/>
              </a:spcAft>
              <a:buClr>
                <a:srgbClr val="04628C"/>
              </a:buClr>
              <a:buSzPct val="85000"/>
              <a:buFont typeface="Arial" charset="0"/>
              <a:buChar char="-"/>
              <a:defRPr sz="1600">
                <a:solidFill>
                  <a:schemeClr val="bg1"/>
                </a:solidFill>
                <a:ea typeface="Arial" pitchFamily="32" charset="0"/>
                <a:cs typeface="Arial" pitchFamily="32" charset="0"/>
              </a:defRPr>
            </a:lvl4pPr>
            <a:lvl5pPr marL="1941513" indent="-225425" fontAlgn="base">
              <a:spcBef>
                <a:spcPct val="20000"/>
              </a:spcBef>
              <a:spcAft>
                <a:spcPct val="0"/>
              </a:spcAft>
              <a:buClr>
                <a:srgbClr val="0146AD"/>
              </a:buClr>
              <a:buSzPct val="120000"/>
              <a:buChar char="•"/>
              <a:defRPr sz="1400">
                <a:solidFill>
                  <a:schemeClr val="bg1"/>
                </a:solidFill>
                <a:ea typeface="Arial" pitchFamily="32" charset="0"/>
                <a:cs typeface="Arial" pitchFamily="32" charset="0"/>
              </a:defRPr>
            </a:lvl5pPr>
            <a:lvl6pPr marL="2398713" indent="-225425" fontAlgn="base">
              <a:spcBef>
                <a:spcPct val="20000"/>
              </a:spcBef>
              <a:spcAft>
                <a:spcPct val="0"/>
              </a:spcAft>
              <a:buClr>
                <a:srgbClr val="0146AD"/>
              </a:buClr>
              <a:buSzPct val="120000"/>
              <a:buChar char="•"/>
              <a:defRPr sz="1400">
                <a:solidFill>
                  <a:schemeClr val="bg1"/>
                </a:solidFill>
              </a:defRPr>
            </a:lvl6pPr>
            <a:lvl7pPr marL="2855913" indent="-225425" fontAlgn="base">
              <a:spcBef>
                <a:spcPct val="20000"/>
              </a:spcBef>
              <a:spcAft>
                <a:spcPct val="0"/>
              </a:spcAft>
              <a:buClr>
                <a:srgbClr val="0146AD"/>
              </a:buClr>
              <a:buSzPct val="120000"/>
              <a:buChar char="•"/>
              <a:defRPr sz="1400">
                <a:solidFill>
                  <a:schemeClr val="bg1"/>
                </a:solidFill>
              </a:defRPr>
            </a:lvl7pPr>
            <a:lvl8pPr marL="3313113" indent="-225425" fontAlgn="base">
              <a:spcBef>
                <a:spcPct val="20000"/>
              </a:spcBef>
              <a:spcAft>
                <a:spcPct val="0"/>
              </a:spcAft>
              <a:buClr>
                <a:srgbClr val="0146AD"/>
              </a:buClr>
              <a:buSzPct val="120000"/>
              <a:buChar char="•"/>
              <a:defRPr sz="1400">
                <a:solidFill>
                  <a:schemeClr val="bg1"/>
                </a:solidFill>
              </a:defRPr>
            </a:lvl8pPr>
            <a:lvl9pPr marL="3770313" indent="-225425" fontAlgn="base">
              <a:spcBef>
                <a:spcPct val="20000"/>
              </a:spcBef>
              <a:spcAft>
                <a:spcPct val="0"/>
              </a:spcAft>
              <a:buClr>
                <a:srgbClr val="0146AD"/>
              </a:buClr>
              <a:buSzPct val="120000"/>
              <a:buChar char="•"/>
              <a:defRPr sz="1400">
                <a:solidFill>
                  <a:schemeClr val="bg1"/>
                </a:solidFill>
              </a:defRPr>
            </a:lvl9pPr>
          </a:lstStyle>
          <a:p>
            <a:r>
              <a:rPr lang="en-US"/>
              <a:t>Step </a:t>
            </a:r>
            <a:r>
              <a:rPr lang="en-US" smtClean="0"/>
              <a:t>7</a:t>
            </a:r>
            <a:endParaRPr lang="en-US"/>
          </a:p>
        </p:txBody>
      </p:sp>
      <p:sp>
        <p:nvSpPr>
          <p:cNvPr id="30" name="Rounded Rectangle 29"/>
          <p:cNvSpPr/>
          <p:nvPr/>
        </p:nvSpPr>
        <p:spPr bwMode="auto">
          <a:xfrm>
            <a:off x="562028" y="3581400"/>
            <a:ext cx="3628972" cy="2743200"/>
          </a:xfrm>
          <a:prstGeom prst="roundRect">
            <a:avLst>
              <a:gd name="adj" fmla="val 8642"/>
            </a:avLst>
          </a:prstGeom>
          <a:ln w="28575">
            <a:headEnd/>
            <a:tailEnd/>
          </a:ln>
          <a:effectLst>
            <a:outerShdw blurRad="50800" dist="38100" dir="2700000" algn="t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38" name="Rectangle 37"/>
          <p:cNvSpPr/>
          <p:nvPr/>
        </p:nvSpPr>
        <p:spPr>
          <a:xfrm>
            <a:off x="685800" y="5334000"/>
            <a:ext cx="1400976" cy="584775"/>
          </a:xfrm>
          <a:prstGeom prst="rect">
            <a:avLst/>
          </a:prstGeom>
        </p:spPr>
        <p:txBody>
          <a:bodyPr wrap="square">
            <a:spAutoFit/>
          </a:bodyPr>
          <a:lstStyle/>
          <a:p>
            <a:pPr algn="ctr"/>
            <a:r>
              <a:rPr lang="en-US" sz="1600" b="1" smtClean="0">
                <a:solidFill>
                  <a:schemeClr val="bg1"/>
                </a:solidFill>
              </a:rPr>
              <a:t>Plugin </a:t>
            </a:r>
            <a:br>
              <a:rPr lang="en-US" sz="1600" b="1" smtClean="0">
                <a:solidFill>
                  <a:schemeClr val="bg1"/>
                </a:solidFill>
              </a:rPr>
            </a:br>
            <a:r>
              <a:rPr lang="en-US" sz="1600" b="1" smtClean="0">
                <a:solidFill>
                  <a:schemeClr val="bg1"/>
                </a:solidFill>
              </a:rPr>
              <a:t>Registry</a:t>
            </a:r>
            <a:endParaRPr lang="en-US" sz="1600" b="1">
              <a:solidFill>
                <a:schemeClr val="bg1"/>
              </a:solidFill>
            </a:endParaRPr>
          </a:p>
        </p:txBody>
      </p:sp>
      <p:grpSp>
        <p:nvGrpSpPr>
          <p:cNvPr id="39" name="icon GWP file"/>
          <p:cNvGrpSpPr>
            <a:grpSpLocks noChangeAspect="1"/>
          </p:cNvGrpSpPr>
          <p:nvPr/>
        </p:nvGrpSpPr>
        <p:grpSpPr>
          <a:xfrm>
            <a:off x="914400" y="3809234"/>
            <a:ext cx="1204992" cy="1344023"/>
            <a:chOff x="4558702" y="2146900"/>
            <a:chExt cx="1246792" cy="1390650"/>
          </a:xfrm>
        </p:grpSpPr>
        <p:pic>
          <p:nvPicPr>
            <p:cNvPr id="4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9616" y="2146900"/>
              <a:ext cx="1058863" cy="139065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41" name="icon Plugin"/>
            <p:cNvGrpSpPr>
              <a:grpSpLocks/>
            </p:cNvGrpSpPr>
            <p:nvPr/>
          </p:nvGrpSpPr>
          <p:grpSpPr bwMode="auto">
            <a:xfrm>
              <a:off x="4592771" y="2308825"/>
              <a:ext cx="542255" cy="639158"/>
              <a:chOff x="4500" y="2762"/>
              <a:chExt cx="247" cy="291"/>
            </a:xfrm>
            <a:effectLst>
              <a:outerShdw blurRad="50800" dist="38100" dir="2700000" algn="tl" rotWithShape="0">
                <a:prstClr val="black">
                  <a:alpha val="40000"/>
                </a:prstClr>
              </a:outerShdw>
            </a:effectLst>
          </p:grpSpPr>
          <p:sp>
            <p:nvSpPr>
              <p:cNvPr id="43" name="Rectangle 12"/>
              <p:cNvSpPr>
                <a:spLocks noChangeArrowheads="1"/>
              </p:cNvSpPr>
              <p:nvPr/>
            </p:nvSpPr>
            <p:spPr bwMode="auto">
              <a:xfrm>
                <a:off x="4620"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4" name="Rectangle 13"/>
              <p:cNvSpPr>
                <a:spLocks noChangeArrowheads="1"/>
              </p:cNvSpPr>
              <p:nvPr/>
            </p:nvSpPr>
            <p:spPr bwMode="auto">
              <a:xfrm>
                <a:off x="4686" y="2762"/>
                <a:ext cx="33" cy="86"/>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5" name="Freeform 14"/>
              <p:cNvSpPr>
                <a:spLocks/>
              </p:cNvSpPr>
              <p:nvPr/>
            </p:nvSpPr>
            <p:spPr bwMode="auto">
              <a:xfrm>
                <a:off x="4500" y="2910"/>
                <a:ext cx="186" cy="143"/>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6" name="Freeform 15"/>
              <p:cNvSpPr>
                <a:spLocks/>
              </p:cNvSpPr>
              <p:nvPr/>
            </p:nvSpPr>
            <p:spPr bwMode="auto">
              <a:xfrm>
                <a:off x="4590" y="2848"/>
                <a:ext cx="157" cy="135"/>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sp>
          <p:nvSpPr>
            <p:cNvPr id="42" name="TextBox 41"/>
            <p:cNvSpPr txBox="1"/>
            <p:nvPr/>
          </p:nvSpPr>
          <p:spPr>
            <a:xfrm>
              <a:off x="4558702" y="2936002"/>
              <a:ext cx="1246792" cy="485656"/>
            </a:xfrm>
            <a:prstGeom prst="rect">
              <a:avLst/>
            </a:prstGeom>
            <a:noFill/>
          </p:spPr>
          <p:txBody>
            <a:bodyPr wrap="square" rtlCol="0">
              <a:noAutofit/>
            </a:bodyPr>
            <a:lstStyle/>
            <a:p>
              <a:pPr algn="ctr"/>
              <a:r>
                <a:rPr lang="en-US" sz="2400" b="1" smtClean="0">
                  <a:solidFill>
                    <a:schemeClr val="bg2"/>
                  </a:solidFill>
                  <a:latin typeface="Arial" pitchFamily="32" charset="0"/>
                  <a:cs typeface="Arial" pitchFamily="32" charset="0"/>
                </a:rPr>
                <a:t>GWP</a:t>
              </a:r>
            </a:p>
          </p:txBody>
        </p:sp>
      </p:grpSp>
      <p:sp>
        <p:nvSpPr>
          <p:cNvPr id="3" name="Text Placeholder 2" hidden="1"/>
          <p:cNvSpPr>
            <a:spLocks noGrp="1"/>
          </p:cNvSpPr>
          <p:nvPr>
            <p:ph type="body" sz="quarter" idx="11"/>
          </p:nvPr>
        </p:nvSpPr>
        <p:spPr/>
        <p:txBody>
          <a:bodyPr/>
          <a:lstStyle/>
          <a:p>
            <a:endParaRPr lang="en-US"/>
          </a:p>
        </p:txBody>
      </p:sp>
      <p:pic>
        <p:nvPicPr>
          <p:cNvPr id="20" name="pic Logo BC"/>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98180" y="137160"/>
            <a:ext cx="565485" cy="548640"/>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90148659"/>
      </p:ext>
    </p:ext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cross-application integration points between PolicyCenter and BillingCenter</a:t>
            </a:r>
          </a:p>
          <a:p>
            <a:pPr lvl="1"/>
            <a:r>
              <a:rPr lang="en-US" dirty="0"/>
              <a:t>Enable account and producer management</a:t>
            </a:r>
          </a:p>
          <a:p>
            <a:pPr lvl="1"/>
            <a:r>
              <a:rPr lang="en-US" dirty="0"/>
              <a:t>Enable policy transaction processing</a:t>
            </a:r>
          </a:p>
          <a:p>
            <a:pPr lvl="1"/>
            <a:r>
              <a:rPr lang="en-US" dirty="0"/>
              <a:t>Enable delinquency</a:t>
            </a:r>
          </a:p>
          <a:p>
            <a:pPr lvl="1"/>
            <a:endParaRPr lang="en-US" dirty="0"/>
          </a:p>
        </p:txBody>
      </p:sp>
    </p:spTree>
    <p:extLst>
      <p:ext uri="{BB962C8B-B14F-4D97-AF65-F5344CB8AC3E}">
        <p14:creationId xmlns:p14="http://schemas.microsoft.com/office/powerpoint/2010/main" val="306334402"/>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3073612"/>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28575" algn="ctr">
          <a:solidFill>
            <a:schemeClr val="accent1">
              <a:lumMod val="75000"/>
            </a:schemeClr>
          </a:solidFill>
          <a:round/>
          <a:headEnd/>
          <a:tailEnd/>
        </a:ln>
        <a:effectLst>
          <a:outerShdw blurRad="50800" dist="38100" dir="2700000" algn="tl" rotWithShape="0">
            <a:prstClr val="black">
              <a:alpha val="40000"/>
            </a:prstClr>
          </a:outerShdw>
        </a:effectLst>
      </a:spPr>
      <a:bodyPr wrap="none" lIns="0" tIns="0" rIns="0" bIns="0" rtlCol="0" anchor="ctr">
        <a:noAutofit/>
      </a:bodyPr>
      <a:lstStyle>
        <a:defPPr algn="ctr">
          <a:spcBef>
            <a:spcPct val="50000"/>
          </a:spcBef>
          <a:spcAft>
            <a:spcPct val="30000"/>
          </a:spcAft>
          <a:buClr>
            <a:schemeClr val="tx1"/>
          </a:buClr>
          <a:defRPr/>
        </a:defPPr>
      </a:lstStyle>
    </a:spDef>
    <a:lnDef>
      <a:spPr bwMode="auto">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a:spPr>
      <a:body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FEC9631-9ED7-4A89-9B5B-1C7331FE3FF8}"/>
</file>

<file path=customXml/itemProps2.xml><?xml version="1.0" encoding="utf-8"?>
<ds:datastoreItem xmlns:ds="http://schemas.openxmlformats.org/officeDocument/2006/customXml" ds:itemID="{F54611CF-9243-404E-AE87-F5222F34705B}"/>
</file>

<file path=customXml/itemProps3.xml><?xml version="1.0" encoding="utf-8"?>
<ds:datastoreItem xmlns:ds="http://schemas.openxmlformats.org/officeDocument/2006/customXml" ds:itemID="{04FE9159-3B42-42C5-A69E-351967B25E83}"/>
</file>

<file path=docProps/app.xml><?xml version="1.0" encoding="utf-8"?>
<Properties xmlns="http://schemas.openxmlformats.org/officeDocument/2006/extended-properties" xmlns:vt="http://schemas.openxmlformats.org/officeDocument/2006/docPropsVTypes">
  <Template>Emerald_Template</Template>
  <TotalTime>6317</TotalTime>
  <Words>5111</Words>
  <Application>Microsoft Office PowerPoint</Application>
  <PresentationFormat>On-screen Show (4:3)</PresentationFormat>
  <Paragraphs>650</Paragraphs>
  <Slides>61</Slides>
  <Notes>61</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Emerald_Template</vt:lpstr>
      <vt:lpstr>Integrating PolicyCenter with BillingCenter</vt:lpstr>
      <vt:lpstr>PowerPoint Presentation</vt:lpstr>
      <vt:lpstr>PowerPoint Presentation</vt:lpstr>
      <vt:lpstr>Cross-application integration points</vt:lpstr>
      <vt:lpstr>Cross-application integration points </vt:lpstr>
      <vt:lpstr>suite-config.xml</vt:lpstr>
      <vt:lpstr>Cross-application integration points:</vt:lpstr>
      <vt:lpstr>PowerPoint Presentation</vt:lpstr>
      <vt:lpstr>System of record (SOR) appplication</vt:lpstr>
      <vt:lpstr>PolicyCenter manages producers (1)</vt:lpstr>
      <vt:lpstr>PolicyCenter manages producers (2)</vt:lpstr>
      <vt:lpstr>Producers in PolicyCenter and BillingCenter</vt:lpstr>
      <vt:lpstr>PolicyCenter manages accounts</vt:lpstr>
      <vt:lpstr>PC job binding sends new accounts to BC</vt:lpstr>
      <vt:lpstr>PowerPoint Presentation</vt:lpstr>
      <vt:lpstr>Billing instructions</vt:lpstr>
      <vt:lpstr>Installment plans queried with every quote</vt:lpstr>
      <vt:lpstr>Previewing payment details in PolicyCenter</vt:lpstr>
      <vt:lpstr>Billing process</vt:lpstr>
      <vt:lpstr>Sending billing instructions</vt:lpstr>
      <vt:lpstr>How do account, producer, and billing</vt:lpstr>
      <vt:lpstr>Steps to enable account, producer,  and</vt:lpstr>
      <vt:lpstr>Start BillingCenter</vt:lpstr>
      <vt:lpstr>Open IBillingSystemPlugin </vt:lpstr>
      <vt:lpstr>Change the Gosu class</vt:lpstr>
      <vt:lpstr>Edit the plugin configuration</vt:lpstr>
      <vt:lpstr>Edit suite-config.xml </vt:lpstr>
      <vt:lpstr>Refresh web service collection WSDL</vt:lpstr>
      <vt:lpstr>Deploy your changes</vt:lpstr>
      <vt:lpstr>PowerPoint Presentation</vt:lpstr>
      <vt:lpstr>PolicyCenter has internal and external users</vt:lpstr>
      <vt:lpstr>Viewing billing info in/from PolicyCenter</vt:lpstr>
      <vt:lpstr>Viewing billing information for an account</vt:lpstr>
      <vt:lpstr>Viewing billing information for an account</vt:lpstr>
      <vt:lpstr>Viewing billing information for a policy </vt:lpstr>
      <vt:lpstr>Viewing billing information for a policy </vt:lpstr>
      <vt:lpstr>How does viewing billing data work?</vt:lpstr>
      <vt:lpstr>Steps to enable viewing billing data</vt:lpstr>
      <vt:lpstr>Start BillingCenter</vt:lpstr>
      <vt:lpstr>Open IBillingSummaryPlugin </vt:lpstr>
      <vt:lpstr>Change the Gosu class</vt:lpstr>
      <vt:lpstr>Edit the plugin configuration</vt:lpstr>
      <vt:lpstr>Edit configuration xml files</vt:lpstr>
      <vt:lpstr>Refresh web service collection WSDL</vt:lpstr>
      <vt:lpstr>Deploy your changes</vt:lpstr>
      <vt:lpstr>PowerPoint Presentation</vt:lpstr>
      <vt:lpstr>Cancellations</vt:lpstr>
      <vt:lpstr>Late payment rescind</vt:lpstr>
      <vt:lpstr>Late payment reinstatement</vt:lpstr>
      <vt:lpstr>How does late payment cancellation work?</vt:lpstr>
      <vt:lpstr>Steps to enable late payment</vt:lpstr>
      <vt:lpstr>Enabling late payment cancellation</vt:lpstr>
      <vt:lpstr>Start PolicyCenter</vt:lpstr>
      <vt:lpstr>Open IPolicySystemPlugin</vt:lpstr>
      <vt:lpstr>Change the Gosu class</vt:lpstr>
      <vt:lpstr>Edit the plugin configuration</vt:lpstr>
      <vt:lpstr>Edit suite-config.xml</vt:lpstr>
      <vt:lpstr>Refresh web service collection WSDL</vt:lpstr>
      <vt:lpstr>Deploy your changes</vt:lpstr>
      <vt:lpstr>PowerPoint Presentation</vt:lpstr>
      <vt:lpstr>PowerPoint Presentation</vt:lpstr>
    </vt:vector>
  </TitlesOfParts>
  <Company>GW</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PolicyCenter ClaimCenter Suite Integration</dc:title>
  <dc:subject>Emerald PowerPoint 2010 Template</dc:subject>
  <dc:creator>Guidewire Education</dc:creator>
  <cp:keywords>Emerald;Integration;IntegrationPoint</cp:keywords>
  <cp:lastModifiedBy>Guidewire Education</cp:lastModifiedBy>
  <cp:revision>206</cp:revision>
  <dcterms:created xsi:type="dcterms:W3CDTF">2014-09-08T16:31:40Z</dcterms:created>
  <dcterms:modified xsi:type="dcterms:W3CDTF">2014-11-15T01:48:49Z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