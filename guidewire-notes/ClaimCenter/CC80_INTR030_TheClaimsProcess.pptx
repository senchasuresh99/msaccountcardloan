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5.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17.xml" ContentType="application/vnd.openxmlformats-officedocument.presentationml.slide+xml"/>
  <Override PartName="/ppt/slides/slide30.xml" ContentType="application/vnd.openxmlformats-officedocument.presentationml.slide+xml"/>
  <Override PartName="/ppt/slides/slide16.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29.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2.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25.xml" ContentType="application/vnd.openxmlformats-officedocument.presentationml.notesSlide+xml"/>
  <Override PartName="/ppt/notesSlides/notesSlide30.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Authors.xml" ContentType="application/vnd.openxmlformats-officedocument.presentationml.commentAuthors+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2"/>
  </p:notesMasterIdLst>
  <p:handoutMasterIdLst>
    <p:handoutMasterId r:id="rId33"/>
  </p:handoutMasterIdLst>
  <p:sldIdLst>
    <p:sldId id="1192" r:id="rId2"/>
    <p:sldId id="1267" r:id="rId3"/>
    <p:sldId id="1293" r:id="rId4"/>
    <p:sldId id="1294" r:id="rId5"/>
    <p:sldId id="1295" r:id="rId6"/>
    <p:sldId id="1296" r:id="rId7"/>
    <p:sldId id="1297" r:id="rId8"/>
    <p:sldId id="1298" r:id="rId9"/>
    <p:sldId id="1299" r:id="rId10"/>
    <p:sldId id="1300" r:id="rId11"/>
    <p:sldId id="1301" r:id="rId12"/>
    <p:sldId id="1302" r:id="rId13"/>
    <p:sldId id="1330" r:id="rId14"/>
    <p:sldId id="1304" r:id="rId15"/>
    <p:sldId id="1305" r:id="rId16"/>
    <p:sldId id="1306" r:id="rId17"/>
    <p:sldId id="1307" r:id="rId18"/>
    <p:sldId id="1308" r:id="rId19"/>
    <p:sldId id="1309" r:id="rId20"/>
    <p:sldId id="1310" r:id="rId21"/>
    <p:sldId id="1311" r:id="rId22"/>
    <p:sldId id="1312" r:id="rId23"/>
    <p:sldId id="1313" r:id="rId24"/>
    <p:sldId id="1314" r:id="rId25"/>
    <p:sldId id="1315" r:id="rId26"/>
    <p:sldId id="1316" r:id="rId27"/>
    <p:sldId id="1317" r:id="rId28"/>
    <p:sldId id="1318" r:id="rId29"/>
    <p:sldId id="1319" r:id="rId30"/>
    <p:sldId id="1320" r:id="rId31"/>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77777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50" autoAdjust="0"/>
    <p:restoredTop sz="80763" autoAdjust="0"/>
  </p:normalViewPr>
  <p:slideViewPr>
    <p:cSldViewPr>
      <p:cViewPr>
        <p:scale>
          <a:sx n="70" d="100"/>
          <a:sy n="70" d="100"/>
        </p:scale>
        <p:origin x="-2010" y="-912"/>
      </p:cViewPr>
      <p:guideLst>
        <p:guide orient="horz" pos="2160"/>
        <p:guide pos="2880"/>
      </p:guideLst>
    </p:cSldViewPr>
  </p:slideViewPr>
  <p:outlineViewPr>
    <p:cViewPr>
      <p:scale>
        <a:sx n="25" d="100"/>
        <a:sy n="25" d="100"/>
      </p:scale>
      <p:origin x="0" y="4854"/>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10" d="100"/>
          <a:sy n="110" d="100"/>
        </p:scale>
        <p:origin x="-2526" y="129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7A673184-118A-48AC-9F93-F9AD3108C2F3}" type="slidenum">
              <a:rPr lang="en-US" altLang="en-US"/>
              <a:pPr>
                <a:defRPr/>
              </a:pPr>
              <a:t>‹#›</a:t>
            </a:fld>
            <a:endParaRPr lang="en-US" altLang="en-US"/>
          </a:p>
        </p:txBody>
      </p:sp>
    </p:spTree>
    <p:extLst>
      <p:ext uri="{BB962C8B-B14F-4D97-AF65-F5344CB8AC3E}">
        <p14:creationId xmlns:p14="http://schemas.microsoft.com/office/powerpoint/2010/main" val="38062166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FE97B2EC-5260-4CA7-AF6D-C7133D17A679}"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The Claims Process - </a:t>
            </a:r>
            <a:fld id="{9FB8FD73-0457-413E-8D2C-07C797AF8456}" type="slidenum">
              <a:rPr lang="en-US" altLang="en-US"/>
              <a:pPr>
                <a:defRPr/>
              </a:pPr>
              <a:t>‹#›</a:t>
            </a:fld>
            <a:endParaRPr lang="en-US" altLang="en-US"/>
          </a:p>
        </p:txBody>
      </p:sp>
    </p:spTree>
    <p:extLst>
      <p:ext uri="{BB962C8B-B14F-4D97-AF65-F5344CB8AC3E}">
        <p14:creationId xmlns:p14="http://schemas.microsoft.com/office/powerpoint/2010/main" val="980653162"/>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4A83568F-27E6-4D40-A3DA-562C858FA403}" type="slidenum">
              <a:rPr lang="en-US" altLang="en-US" sz="1200" smtClean="0">
                <a:solidFill>
                  <a:schemeClr val="tx1"/>
                </a:solidFill>
              </a:rPr>
              <a:pPr eaLnBrk="1" hangingPunct="1"/>
              <a:t>1</a:t>
            </a:fld>
            <a:endParaRPr lang="en-US" altLang="en-US" sz="1200" smtClean="0">
              <a:solidFill>
                <a:schemeClr val="tx1"/>
              </a:solidFill>
            </a:endParaRPr>
          </a:p>
        </p:txBody>
      </p:sp>
      <p:sp>
        <p:nvSpPr>
          <p:cNvPr id="35844" name="Rectangle 2"/>
          <p:cNvSpPr>
            <a:spLocks noGrp="1" noRot="1" noChangeAspect="1" noChangeArrowheads="1" noTextEdit="1"/>
          </p:cNvSpPr>
          <p:nvPr>
            <p:ph type="sldImg"/>
          </p:nvPr>
        </p:nvSpPr>
        <p:spPr>
          <a:xfrm>
            <a:off x="715963" y="630238"/>
            <a:ext cx="5430837" cy="4073525"/>
          </a:xfrm>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656CBF62-2D92-4B54-911B-F3816C3E1A49}" type="slidenum">
              <a:rPr lang="en-US" altLang="en-US" sz="1200" smtClean="0">
                <a:solidFill>
                  <a:schemeClr val="tx1"/>
                </a:solidFill>
              </a:rPr>
              <a:pPr eaLnBrk="1" hangingPunct="1"/>
              <a:t>2</a:t>
            </a:fld>
            <a:endParaRPr lang="en-US" altLang="en-US" sz="1200" smtClean="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B3FCE1F7-D4F0-461E-8CAE-187CF8B1028F}" type="slidenum">
              <a:rPr lang="en-US" altLang="en-US" sz="1200" smtClean="0">
                <a:solidFill>
                  <a:schemeClr val="tx1"/>
                </a:solidFill>
              </a:rPr>
              <a:pPr eaLnBrk="1" hangingPunct="1"/>
              <a:t>3</a:t>
            </a:fld>
            <a:endParaRPr lang="en-US" altLang="en-US" sz="1200" smtClean="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910DFB69-A7C0-4231-A608-A9BC04DCD2A3}" type="slidenum">
              <a:rPr lang="en-US" altLang="en-US" sz="1200" smtClean="0">
                <a:solidFill>
                  <a:schemeClr val="tx1"/>
                </a:solidFill>
              </a:rPr>
              <a:pPr eaLnBrk="1" hangingPunct="1"/>
              <a:t>4</a:t>
            </a:fld>
            <a:endParaRPr lang="en-US" altLang="en-US" sz="1200" smtClean="0">
              <a:solidFill>
                <a:schemeClr val="tx1"/>
              </a:solidFill>
            </a:endParaRPr>
          </a:p>
        </p:txBody>
      </p:sp>
      <p:sp>
        <p:nvSpPr>
          <p:cNvPr id="38916" name="Rectangle 2"/>
          <p:cNvSpPr>
            <a:spLocks noGrp="1" noRot="1" noChangeAspect="1" noChangeArrowheads="1" noTextEdit="1"/>
          </p:cNvSpPr>
          <p:nvPr>
            <p:ph type="sldImg"/>
          </p:nvPr>
        </p:nvSpPr>
        <p:spPr>
          <a:xfrm>
            <a:off x="715963" y="630238"/>
            <a:ext cx="5432425" cy="4073525"/>
          </a:xfrm>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0DE940A7-DDE6-470F-9745-049C36F3C242}" type="slidenum">
              <a:rPr lang="en-US" altLang="en-US" sz="1200" smtClean="0">
                <a:solidFill>
                  <a:schemeClr val="tx1"/>
                </a:solidFill>
              </a:rPr>
              <a:pPr eaLnBrk="1" hangingPunct="1"/>
              <a:t>5</a:t>
            </a:fld>
            <a:endParaRPr lang="en-US" altLang="en-US" sz="1200" smtClean="0">
              <a:solidFill>
                <a:schemeClr val="tx1"/>
              </a:solidFill>
            </a:endParaRPr>
          </a:p>
        </p:txBody>
      </p:sp>
      <p:sp>
        <p:nvSpPr>
          <p:cNvPr id="39940" name="Rectangle 2"/>
          <p:cNvSpPr>
            <a:spLocks noGrp="1" noRot="1" noChangeAspect="1" noChangeArrowheads="1" noTextEdit="1"/>
          </p:cNvSpPr>
          <p:nvPr>
            <p:ph type="sldImg"/>
          </p:nvPr>
        </p:nvSpPr>
        <p:spPr>
          <a:xfrm>
            <a:off x="715963" y="630238"/>
            <a:ext cx="5432425" cy="4073525"/>
          </a:xfrm>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During intake, the carrier is informed of a potentially covered loss. For auto and property claims, this is often referred to as First Notice of Loss (FNOL). For workers' comp claims, this is also known as First Report of Injury (FROI).</a:t>
            </a:r>
          </a:p>
          <a:p>
            <a:pPr eaLnBrk="1" hangingPunct="1"/>
            <a:r>
              <a:rPr lang="en-US" dirty="0" smtClean="0"/>
              <a:t>The intake event is significant because:</a:t>
            </a:r>
          </a:p>
          <a:p>
            <a:pPr lvl="1" eaLnBrk="1" hangingPunct="1"/>
            <a:r>
              <a:rPr lang="en-US" dirty="0" smtClean="0"/>
              <a:t>It is the point in time at which the claim is created and assigned to an adjuster.</a:t>
            </a:r>
          </a:p>
          <a:p>
            <a:pPr lvl="1" eaLnBrk="1" hangingPunct="1"/>
            <a:r>
              <a:rPr lang="en-US" dirty="0" smtClean="0"/>
              <a:t>It is the point in time which determines when other events must occur. (For example, the business process may require that all coverages in question be verified within 30 days of the FNOL.)</a:t>
            </a:r>
          </a:p>
          <a:p>
            <a:pPr lvl="1" eaLnBrk="1" hangingPunct="1"/>
            <a:r>
              <a:rPr lang="en-US" dirty="0" smtClean="0"/>
              <a:t>It is the first major opportunity to control costs with regards to reducing leakage. (For example, if the intake process is sufficiently robust, then an auto claim which is a total loss can be assessed rapidly, and costs associated to storing the car can be reduced or eliminated.)</a:t>
            </a:r>
          </a:p>
          <a:p>
            <a:pPr lvl="1" eaLnBrk="1" hangingPunct="1"/>
            <a:r>
              <a:rPr lang="en-US" dirty="0" smtClean="0"/>
              <a:t>It is the first major opportunity to reduce the time needed to process a claim. (For example, common intake steps can be automated, such as creating activities or service requests for work that always need to be done for a given type of claim rather than waiting for a user to manually create them.)</a:t>
            </a:r>
          </a:p>
          <a:p>
            <a:pPr lvl="1" eaLnBrk="1" hangingPunct="1"/>
            <a:r>
              <a:rPr lang="en-US" dirty="0" smtClean="0"/>
              <a:t>It is the first major opportunity to control costs with regards to business efficiency. (For example, if the intake process is sufficiently robust, then general information can be collected by first-tier CSRs, which frees the more expert-level adjusters to spend their time focusing exclusively on the aspects of claim processing that require their expertise.)</a:t>
            </a:r>
          </a:p>
          <a:p>
            <a:pPr lvl="1" eaLnBrk="1" hangingPunct="1"/>
            <a:r>
              <a:rPr lang="en-US" dirty="0" smtClean="0"/>
              <a:t>It can set the tone for the entire claim process. If the insured feels that the carrier is concerned, it can expedite processing and minimize the chance of later legal action.</a:t>
            </a:r>
          </a:p>
          <a:p>
            <a:pPr lvl="1" eaLnBrk="1" hangingPunct="1"/>
            <a:r>
              <a:rPr lang="en-US" dirty="0" smtClean="0"/>
              <a:t>Information about incidents such as bodily injuries, damages to property and/or vehicles can be recorded in detail, therefore speeding up the information-gathering process.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32DCEE63-B0C3-4D5F-B712-D453C7A58D1E}" type="slidenum">
              <a:rPr lang="en-US" altLang="en-US" sz="1200" smtClean="0">
                <a:solidFill>
                  <a:schemeClr val="tx1"/>
                </a:solidFill>
              </a:rPr>
              <a:pPr eaLnBrk="1" hangingPunct="1"/>
              <a:t>6</a:t>
            </a:fld>
            <a:endParaRPr lang="en-US" altLang="en-US" sz="1200" smtClean="0">
              <a:solidFill>
                <a:schemeClr val="tx1"/>
              </a:solidFill>
            </a:endParaRPr>
          </a:p>
        </p:txBody>
      </p:sp>
      <p:sp>
        <p:nvSpPr>
          <p:cNvPr id="40964" name="Rectangle 2"/>
          <p:cNvSpPr>
            <a:spLocks noGrp="1" noRot="1" noChangeAspect="1" noChangeArrowheads="1" noTextEdit="1"/>
          </p:cNvSpPr>
          <p:nvPr>
            <p:ph type="sldImg"/>
          </p:nvPr>
        </p:nvSpPr>
        <p:spPr>
          <a:xfrm>
            <a:off x="715963" y="630238"/>
            <a:ext cx="5432425" cy="4073525"/>
          </a:xfrm>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Adjudication is the process of determining if you are going to pay a claim, and if so, how much you are going to pay.</a:t>
            </a:r>
          </a:p>
          <a:p>
            <a:pPr eaLnBrk="1" hangingPunct="1"/>
            <a:r>
              <a:rPr lang="en-US" dirty="0" smtClean="0"/>
              <a:t>Within the insurance industry, adjudication is often further sub-divided into two phases: discovery/investigation and loss assessment.</a:t>
            </a:r>
          </a:p>
          <a:p>
            <a:pPr eaLnBrk="1" hangingPunct="1"/>
            <a:r>
              <a:rPr lang="en-US" dirty="0" smtClean="0"/>
              <a:t>During discovery (which is also often referred to as investigation), the carrier gathers whatever information is needed to process the claim. In some cases, all of the data may have been acquired during intake. In other cases, the carrier may need to do additional work, such as:</a:t>
            </a:r>
          </a:p>
          <a:p>
            <a:pPr lvl="1" eaLnBrk="1" hangingPunct="1"/>
            <a:r>
              <a:rPr lang="en-US" dirty="0" smtClean="0"/>
              <a:t>Verify whether the loss is covered</a:t>
            </a:r>
          </a:p>
          <a:p>
            <a:pPr lvl="1" eaLnBrk="1" hangingPunct="1"/>
            <a:r>
              <a:rPr lang="en-US" dirty="0" smtClean="0"/>
              <a:t>Obtain statements from witnesses</a:t>
            </a:r>
          </a:p>
          <a:p>
            <a:pPr lvl="1" eaLnBrk="1" hangingPunct="1"/>
            <a:r>
              <a:rPr lang="en-US" dirty="0" smtClean="0"/>
              <a:t>Obtain information from third-party systems, such as metropolitan police reports</a:t>
            </a:r>
          </a:p>
          <a:p>
            <a:pPr lvl="1" eaLnBrk="1" hangingPunct="1"/>
            <a:r>
              <a:rPr lang="en-US" dirty="0" smtClean="0"/>
              <a:t>Obtain estimates from the claimant or approved vendors</a:t>
            </a:r>
          </a:p>
          <a:p>
            <a:pPr eaLnBrk="1" hangingPunct="1"/>
            <a:r>
              <a:rPr lang="en-US" dirty="0" smtClean="0"/>
              <a:t>During loss assessment, the carrier determines how much the claim is going to cost. This involves both payments made to claimants as well as expenses incurred in processing the claim. This could also involve recovery, which involves situations where money can be acquired from other parties to help recoup the carrier's expenditures.</a:t>
            </a:r>
          </a:p>
          <a:p>
            <a:pPr eaLnBrk="1" hangingPunct="1"/>
            <a:r>
              <a:rPr lang="en-US" dirty="0" smtClean="0"/>
              <a:t>In general, assessments and estimates done by parties not working directly for the carrier fall into the realm of discovery/investigation. Assessments and estimates done by parties working directly for the carrier fall into the realm of loss assessment.</a:t>
            </a:r>
          </a:p>
          <a:p>
            <a:pPr eaLnBrk="1" hangingPunct="1"/>
            <a:r>
              <a:rPr lang="en-US" dirty="0" smtClean="0"/>
              <a:t>The discovery/investigation phase and loss assessment phase are not discrete. It is not unusual for a claim to bounce back and forth between these two phases as information is gathered and loss is assessed. Therefore, from the standpoint of the course, it is easier to address the two of them together at the adjudication level.</a:t>
            </a:r>
          </a:p>
          <a:p>
            <a:pPr eaLnBrk="1" hangingPunct="1"/>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C82F94C4-BE00-410A-A983-F579E8077A3E}" type="slidenum">
              <a:rPr lang="en-US" altLang="en-US" sz="1200" smtClean="0">
                <a:solidFill>
                  <a:schemeClr val="tx1"/>
                </a:solidFill>
              </a:rPr>
              <a:pPr eaLnBrk="1" hangingPunct="1"/>
              <a:t>7</a:t>
            </a:fld>
            <a:endParaRPr lang="en-US" altLang="en-US" sz="1200" smtClean="0">
              <a:solidFill>
                <a:schemeClr val="tx1"/>
              </a:solidFill>
            </a:endParaRPr>
          </a:p>
        </p:txBody>
      </p:sp>
      <p:sp>
        <p:nvSpPr>
          <p:cNvPr id="41988" name="Rectangle 2"/>
          <p:cNvSpPr>
            <a:spLocks noGrp="1" noRot="1" noChangeAspect="1" noChangeArrowheads="1" noTextEdit="1"/>
          </p:cNvSpPr>
          <p:nvPr>
            <p:ph type="sldImg"/>
          </p:nvPr>
        </p:nvSpPr>
        <p:spPr>
          <a:xfrm>
            <a:off x="715963" y="630238"/>
            <a:ext cx="5432425" cy="4073525"/>
          </a:xfrm>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the loss has been assessed and the payment has been approved, the carrier can provide the payments to the claimants. The payment phase involves creating, approving, and issuing the checks.</a:t>
            </a:r>
          </a:p>
          <a:p>
            <a:pPr eaLnBrk="1" hangingPunct="1"/>
            <a:r>
              <a:rPr lang="en-US" dirty="0" smtClean="0"/>
              <a:t>One major concern of all insurance carriers is "leakage". Leakage is defined as "claims payments beyond those necessary to satisfy a typical claimant". Leakage could occur in many ways, including but not limited to:</a:t>
            </a:r>
          </a:p>
          <a:p>
            <a:pPr lvl="1" eaLnBrk="1" hangingPunct="1"/>
            <a:r>
              <a:rPr lang="en-US" dirty="0" smtClean="0"/>
              <a:t>Paying for a loss that occurred at a time when the policy was not in effect, or for a loss which was not covered on the policy.</a:t>
            </a:r>
          </a:p>
          <a:p>
            <a:pPr lvl="1" eaLnBrk="1" hangingPunct="1"/>
            <a:r>
              <a:rPr lang="en-US" dirty="0" smtClean="0"/>
              <a:t>Paying an amount in excess of the responsibility of the carrier (such as paying $1100 for a coverage with a $1000 limit).</a:t>
            </a:r>
          </a:p>
          <a:p>
            <a:pPr lvl="1" eaLnBrk="1" hangingPunct="1"/>
            <a:r>
              <a:rPr lang="en-US" dirty="0" smtClean="0"/>
              <a:t>Paying an amount in excess of what the claimant needs to be indemnified (such as paying $600 for a repair that most reputable mechanics would estimate at $400).</a:t>
            </a:r>
          </a:p>
          <a:p>
            <a:pPr eaLnBrk="1" hangingPunct="1"/>
            <a:r>
              <a:rPr lang="en-US" dirty="0" smtClean="0"/>
              <a:t>In order to identify and control leakage, a carrier must closely track what payments are being made for. Consequently, the payment phase involves a somewhat rigorous categorization of claim costs (money paid to indemnify claimants) and expenses (expenses incurred as a result of processing the claim, such as an inspection fee and mileage reimbursement for a property inspector who inspects damage done to a factory).</a:t>
            </a:r>
          </a:p>
          <a:p>
            <a:pPr eaLnBrk="1" hangingPunct="1"/>
            <a:endParaRPr lang="en-US" dirty="0"/>
          </a:p>
          <a:p>
            <a:pPr eaLnBrk="1" hangingPunct="1"/>
            <a:r>
              <a:rPr lang="en-US" dirty="0" smtClean="0"/>
              <a:t>The term “indemnify” (or “indemnification”) in a high-level, LOB-agnostic sense means to make whole or reimburse a claimant for their loss. For WC, the term has a specific meaning, because “indemnity” payments are specific payments of lost wages due to a work injury. Therefore, the term “claim cost” will often be used for WC claims to mean both lost wage payments as</a:t>
            </a:r>
            <a:r>
              <a:rPr lang="en-US" baseline="0" dirty="0" smtClean="0"/>
              <a:t> well as medical payments</a:t>
            </a:r>
            <a:r>
              <a:rPr lang="en-US" dirty="0" smtClean="0"/>
              <a:t>, but for auto or property claims, you can think of “claim cost” payments as being synonymous with “indemnity” or “indemnification” payments</a:t>
            </a:r>
            <a:r>
              <a:rPr lang="en-US" baseline="0" dirty="0" smtClean="0"/>
              <a:t> (payments for auto repair, auto parts, property damage, or medical bills).</a:t>
            </a:r>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5DA95A11-02E3-40D1-BCD0-83EAC374F283}" type="slidenum">
              <a:rPr lang="en-US" altLang="en-US" sz="1200" smtClean="0">
                <a:solidFill>
                  <a:schemeClr val="tx1"/>
                </a:solidFill>
              </a:rPr>
              <a:pPr eaLnBrk="1" hangingPunct="1"/>
              <a:t>8</a:t>
            </a:fld>
            <a:endParaRPr lang="en-US" altLang="en-US" sz="1200" smtClean="0">
              <a:solidFill>
                <a:schemeClr val="tx1"/>
              </a:solidFill>
            </a:endParaRPr>
          </a:p>
        </p:txBody>
      </p:sp>
      <p:sp>
        <p:nvSpPr>
          <p:cNvPr id="43012" name="Rectangle 2"/>
          <p:cNvSpPr>
            <a:spLocks noGrp="1" noRot="1" noChangeAspect="1" noChangeArrowheads="1" noTextEdit="1"/>
          </p:cNvSpPr>
          <p:nvPr>
            <p:ph type="sldImg"/>
          </p:nvPr>
        </p:nvSpPr>
        <p:spPr>
          <a:xfrm>
            <a:off x="715963" y="630238"/>
            <a:ext cx="5432425" cy="4073525"/>
          </a:xfrm>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some cases, the carrier may also attempt to recover funds paid to the claimant by obtaining money from a third party's carrier if the third party was at fault (which is known as "subrogation") or by taking possession of a significantly damaged property and selling all or parts of it to a third party (which is known as "salvage").</a:t>
            </a:r>
          </a:p>
          <a:p>
            <a:pPr eaLnBrk="1" hangingPunct="1"/>
            <a:r>
              <a:rPr lang="en-US" dirty="0" smtClean="0"/>
              <a:t>Technically speaking, recovery does not need to start after payment. Recovery can begin as early as first notice of loss if enough information is known at this time. (For example, early in the claims process, the carrier could determine that the car is a total loss and immediately take possession of it and sell it to a salvage yard.)</a:t>
            </a:r>
          </a:p>
          <a:p>
            <a:pPr eaLnBrk="1" hangingPunct="1"/>
            <a:r>
              <a:rPr lang="en-US" dirty="0" smtClean="0"/>
              <a:t>The image shown above is meant to represent a salvage opportunity. The damaged car is considered a total loss, so the carrier (Acme) takes possession of the car from the insured. Acme then sells the car to a salvage yard for parts (the exchange of the damaged car for some amount of money).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2C87265B-0589-487D-9C8C-2555543F6F75}" type="slidenum">
              <a:rPr lang="en-US" altLang="en-US" sz="1200" smtClean="0">
                <a:solidFill>
                  <a:schemeClr val="tx1"/>
                </a:solidFill>
              </a:rPr>
              <a:pPr eaLnBrk="1" hangingPunct="1"/>
              <a:t>9</a:t>
            </a:fld>
            <a:endParaRPr lang="en-US" altLang="en-US" sz="1200" smtClean="0">
              <a:solidFill>
                <a:schemeClr val="tx1"/>
              </a:solidFill>
            </a:endParaRPr>
          </a:p>
        </p:txBody>
      </p:sp>
      <p:sp>
        <p:nvSpPr>
          <p:cNvPr id="44036" name="Rectangle 2"/>
          <p:cNvSpPr>
            <a:spLocks noGrp="1" noRot="1" noChangeAspect="1" noChangeArrowheads="1" noTextEdit="1"/>
          </p:cNvSpPr>
          <p:nvPr>
            <p:ph type="sldImg"/>
          </p:nvPr>
        </p:nvSpPr>
        <p:spPr>
          <a:xfrm>
            <a:off x="715963" y="630238"/>
            <a:ext cx="5432425" cy="4073525"/>
          </a:xfrm>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Litigation is an umbrella term for several activities which involve the resolution of disputes. It includes</a:t>
            </a:r>
          </a:p>
          <a:p>
            <a:pPr lvl="1" eaLnBrk="1" hangingPunct="1"/>
            <a:r>
              <a:rPr lang="en-US" dirty="0" smtClean="0"/>
              <a:t>Evaluation (an assessment of the liabilities and damages involved in the plan of action to settle, that is the expected costs) </a:t>
            </a:r>
          </a:p>
          <a:p>
            <a:pPr lvl="1" eaLnBrk="1" hangingPunct="1"/>
            <a:r>
              <a:rPr lang="en-US" dirty="0" smtClean="0"/>
              <a:t>Negotiation (the back-and-forth discussion of how much loss occurred and how much indemnification is required)</a:t>
            </a:r>
          </a:p>
          <a:p>
            <a:pPr lvl="1" eaLnBrk="1" hangingPunct="1"/>
            <a:r>
              <a:rPr lang="en-US" dirty="0" smtClean="0"/>
              <a:t>Mediation and arbitration (which involves the resolution of a dispute with the assistance of a third party without actually filing a lawsuit)</a:t>
            </a:r>
          </a:p>
          <a:p>
            <a:pPr lvl="1" eaLnBrk="1" hangingPunct="1"/>
            <a:r>
              <a:rPr lang="en-US" dirty="0" smtClean="0"/>
              <a:t>Actual litigation (law suits)</a:t>
            </a:r>
          </a:p>
          <a:p>
            <a:pPr eaLnBrk="1" hangingPunct="1"/>
            <a:r>
              <a:rPr lang="en-US" dirty="0" smtClean="0"/>
              <a:t>Litigation can occur during any or all of the other phases. For example, there may already be pending litigation at the time that the loss is reported to the carrier. A claim of this nature can be flagged as a "first notice suit" claim. However, when litigation is an issue, it is typically relevant only to certain phases of claims processing. (For example, the litigation may involve tasks in the adjudication phase, but have no relevant activity during the payment phase.)</a:t>
            </a:r>
          </a:p>
          <a:p>
            <a:pPr eaLnBrk="1" hangingPunct="1"/>
            <a:r>
              <a:rPr lang="en-US" dirty="0"/>
              <a:t/>
            </a:r>
            <a:br>
              <a:rPr lang="en-US" dirty="0"/>
            </a:br>
            <a:r>
              <a:rPr lang="en-US" dirty="0" smtClean="0"/>
              <a:t>Litigation and matters are discussed in the “Workers’ Comp: Specialized Claim Processes” lesson.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F5C390D1-E67E-4E77-84E5-701FD4B30C49}" type="slidenum">
              <a:rPr lang="en-US" altLang="en-US" sz="1200" smtClean="0">
                <a:solidFill>
                  <a:schemeClr val="tx1"/>
                </a:solidFill>
              </a:rPr>
              <a:pPr eaLnBrk="1" hangingPunct="1"/>
              <a:t>10</a:t>
            </a:fld>
            <a:endParaRPr lang="en-US" altLang="en-US" sz="1200" smtClean="0">
              <a:solidFill>
                <a:schemeClr val="tx1"/>
              </a:solidFill>
            </a:endParaRPr>
          </a:p>
        </p:txBody>
      </p:sp>
      <p:sp>
        <p:nvSpPr>
          <p:cNvPr id="45060" name="Rectangle 2"/>
          <p:cNvSpPr>
            <a:spLocks noGrp="1" noRot="1" noChangeAspect="1" noChangeArrowheads="1" noTextEdit="1"/>
          </p:cNvSpPr>
          <p:nvPr>
            <p:ph type="sldImg"/>
          </p:nvPr>
        </p:nvSpPr>
        <p:spPr>
          <a:xfrm>
            <a:off x="715963" y="630238"/>
            <a:ext cx="5432425"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Fraud detection refers to the activities around detecting claim activity that is indicative of fraud and could warrant further investigation. This is typically a process which is ongoing throughout every phase of the claims process.</a:t>
            </a:r>
          </a:p>
          <a:p>
            <a:pPr eaLnBrk="1" hangingPunct="1"/>
            <a:r>
              <a:rPr lang="en-US" dirty="0" smtClean="0"/>
              <a:t>If a claim is considered to be suspicious, then it is referred to the special investigations unit. They will investigate the activity and determine the validity of the claim. Their investigation runs parallel to the normal claim processing.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B2837A1C-7768-416B-8AF2-5AA0A16EF0C8}" type="slidenum">
              <a:rPr lang="en-US" altLang="en-US" sz="1200" smtClean="0">
                <a:solidFill>
                  <a:schemeClr val="tx1"/>
                </a:solidFill>
              </a:rPr>
              <a:pPr eaLnBrk="1" hangingPunct="1"/>
              <a:t>11</a:t>
            </a:fld>
            <a:endParaRPr lang="en-US" altLang="en-US" sz="1200" smtClean="0">
              <a:solidFill>
                <a:schemeClr val="tx1"/>
              </a:solidFill>
            </a:endParaRPr>
          </a:p>
        </p:txBody>
      </p:sp>
      <p:sp>
        <p:nvSpPr>
          <p:cNvPr id="46084" name="Rectangle 2"/>
          <p:cNvSpPr>
            <a:spLocks noGrp="1" noRot="1" noChangeAspect="1" noChangeArrowheads="1" noTextEdit="1"/>
          </p:cNvSpPr>
          <p:nvPr>
            <p:ph type="sldImg"/>
          </p:nvPr>
        </p:nvSpPr>
        <p:spPr>
          <a:xfrm>
            <a:off x="715963" y="630238"/>
            <a:ext cx="5432425"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It can be helpful to think of the different phases in two categories: fundamental (those that happen with most if not all claims) (in green) and specialized (those that happen with only some claims) (in blue).</a:t>
            </a:r>
          </a:p>
          <a:p>
            <a:pPr eaLnBrk="1" hangingPunct="1"/>
            <a:r>
              <a:rPr lang="en-US" dirty="0" smtClean="0"/>
              <a:t>Intake, adjudication, and payment can be thought of as fundamental. For a claim which has one payment and goes through the normal claims process, all three of these phases will occur. Similarly, fraud detection is an ongoing process throughout the entire claims process for all claims.</a:t>
            </a:r>
          </a:p>
          <a:p>
            <a:pPr eaLnBrk="1" hangingPunct="1"/>
            <a:r>
              <a:rPr lang="en-US" dirty="0" smtClean="0"/>
              <a:t>Recovery is a specialized process which is relevant only for claims where there is a recovery opportunity. Claims without property that is considered a total loss and/or without third parties who are at fault (or do not have insurance) may have no recovery opportunities.</a:t>
            </a:r>
          </a:p>
          <a:p>
            <a:pPr eaLnBrk="1" hangingPunct="1"/>
            <a:r>
              <a:rPr lang="en-US" dirty="0" smtClean="0"/>
              <a:t>Litigation is a specialized process which is relevant only for claims where there is a dispute between parties which needs to be resolved.</a:t>
            </a:r>
          </a:p>
          <a:p>
            <a:pPr eaLnBrk="1" hangingPunct="1"/>
            <a:r>
              <a:rPr lang="en-US" dirty="0" smtClean="0"/>
              <a:t>Special investigations is a specialized process which is relevant only for claims which are considered potentially fraudulent.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212A40BD-48AB-43E2-AEEA-C574EF0BD54B}" type="slidenum">
              <a:rPr lang="en-US" altLang="en-US" sz="1200" smtClean="0">
                <a:solidFill>
                  <a:schemeClr val="tx1"/>
                </a:solidFill>
              </a:rPr>
              <a:pPr eaLnBrk="1" hangingPunct="1"/>
              <a:t>12</a:t>
            </a:fld>
            <a:endParaRPr lang="en-US" altLang="en-US" sz="1200" smtClean="0">
              <a:solidFill>
                <a:schemeClr val="tx1"/>
              </a:solidFill>
            </a:endParaRPr>
          </a:p>
        </p:txBody>
      </p:sp>
      <p:sp>
        <p:nvSpPr>
          <p:cNvPr id="47108" name="Rectangle 2"/>
          <p:cNvSpPr>
            <a:spLocks noGrp="1" noRot="1" noChangeAspect="1" noChangeArrowheads="1" noTextEdit="1"/>
          </p:cNvSpPr>
          <p:nvPr>
            <p:ph type="sldImg"/>
          </p:nvPr>
        </p:nvSpPr>
        <p:spPr>
          <a:xfrm>
            <a:off x="715963" y="630238"/>
            <a:ext cx="5432425" cy="407352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910DFB69-A7C0-4231-A608-A9BC04DCD2A3}" type="slidenum">
              <a:rPr lang="en-US" altLang="en-US" sz="1200" smtClean="0">
                <a:solidFill>
                  <a:schemeClr val="tx1"/>
                </a:solidFill>
              </a:rPr>
              <a:pPr eaLnBrk="1" hangingPunct="1"/>
              <a:t>13</a:t>
            </a:fld>
            <a:endParaRPr lang="en-US" altLang="en-US" sz="1200" smtClean="0">
              <a:solidFill>
                <a:schemeClr val="tx1"/>
              </a:solidFill>
            </a:endParaRPr>
          </a:p>
        </p:txBody>
      </p:sp>
      <p:sp>
        <p:nvSpPr>
          <p:cNvPr id="38916" name="Rectangle 2"/>
          <p:cNvSpPr>
            <a:spLocks noGrp="1" noRot="1" noChangeAspect="1" noChangeArrowheads="1" noTextEdit="1"/>
          </p:cNvSpPr>
          <p:nvPr>
            <p:ph type="sldImg"/>
          </p:nvPr>
        </p:nvSpPr>
        <p:spPr>
          <a:xfrm>
            <a:off x="715963" y="630238"/>
            <a:ext cx="5432425" cy="4073525"/>
          </a:xfrm>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EC50CF56-E1D0-4A79-83CB-26148DD14591}" type="slidenum">
              <a:rPr lang="en-US" altLang="en-US" sz="1200" smtClean="0">
                <a:solidFill>
                  <a:schemeClr val="tx1"/>
                </a:solidFill>
              </a:rPr>
              <a:pPr eaLnBrk="1" hangingPunct="1"/>
              <a:t>14</a:t>
            </a:fld>
            <a:endParaRPr lang="en-US" altLang="en-US" sz="1200" smtClean="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There are two validation levels common to nearly every carrier ("new loss completion" and "ability to pay”). The intermediate levels vary from carrier to carrier.</a:t>
            </a:r>
          </a:p>
          <a:p>
            <a:pPr eaLnBrk="1" hangingPunct="1"/>
            <a:r>
              <a:rPr lang="en-US" dirty="0" smtClean="0"/>
              <a:t>In the base application, there are five levels of maturity:</a:t>
            </a:r>
          </a:p>
          <a:p>
            <a:pPr lvl="1" eaLnBrk="1" hangingPunct="1"/>
            <a:r>
              <a:rPr lang="en-US" dirty="0" smtClean="0"/>
              <a:t>Load save - This is the level a claim must be at in order to be imported from an external system or temporarily</a:t>
            </a:r>
            <a:r>
              <a:rPr lang="en-US" baseline="0" dirty="0" smtClean="0"/>
              <a:t> saved in a claim portal system</a:t>
            </a:r>
            <a:r>
              <a:rPr lang="en-US" dirty="0" smtClean="0"/>
              <a:t>. A claim at this stage has not yet been touched by a user via ClaimCenter. (This level is relevant only for imported FNOLs or claims in a portal.)</a:t>
            </a:r>
          </a:p>
          <a:p>
            <a:pPr lvl="1" eaLnBrk="1" hangingPunct="1"/>
            <a:r>
              <a:rPr lang="en-US" dirty="0" smtClean="0"/>
              <a:t>New loss completion - This is the level a claim must be at to be saved (or modified by a user if the claim is imported).</a:t>
            </a:r>
          </a:p>
          <a:p>
            <a:pPr lvl="1" eaLnBrk="1" hangingPunct="1"/>
            <a:r>
              <a:rPr lang="en-US" dirty="0" smtClean="0"/>
              <a:t>Valid for ISO - This level is used to signify that the claim has the minimal information needed for filing with ISO.</a:t>
            </a:r>
          </a:p>
          <a:p>
            <a:pPr lvl="1" eaLnBrk="1" hangingPunct="1"/>
            <a:r>
              <a:rPr lang="en-US" dirty="0" smtClean="0"/>
              <a:t>Send to external (systems) - This level is used to signify that the claim has the minimal information needed to send information about it to external systems within the carrier, such as a policy administration system which is trying to assess policy renewal rates.</a:t>
            </a:r>
          </a:p>
          <a:p>
            <a:pPr lvl="1" eaLnBrk="1" hangingPunct="1"/>
            <a:r>
              <a:rPr lang="en-US" dirty="0" smtClean="0"/>
              <a:t>Ability to pay - This is the level a claim must be at in order to have payments written against it.</a:t>
            </a:r>
          </a:p>
          <a:p>
            <a:pPr eaLnBrk="1" hangingPunct="1"/>
            <a:r>
              <a:rPr lang="en-US" dirty="0" smtClean="0"/>
              <a:t>The Valid for ISO and Send to external (systems) levels are configurable. The other three levels are internal levels required by ClaimCenter and cannot be modified. You can also add additional levels not found in the base application.</a:t>
            </a:r>
          </a:p>
          <a:p>
            <a:pPr eaLnBrk="1" hangingPunct="1"/>
            <a:endParaRPr lang="en-US" dirty="0" smtClean="0"/>
          </a:p>
          <a:p>
            <a:pPr eaLnBrk="1" hangingPunct="1"/>
            <a:endParaRPr 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1AC67F88-0F04-475D-965E-2F4FFF57EC33}" type="slidenum">
              <a:rPr lang="en-US" altLang="en-US" sz="1200" smtClean="0">
                <a:solidFill>
                  <a:schemeClr val="tx1"/>
                </a:solidFill>
              </a:rPr>
              <a:pPr eaLnBrk="1" hangingPunct="1"/>
              <a:t>15</a:t>
            </a:fld>
            <a:endParaRPr lang="en-US" altLang="en-US" sz="1200" smtClean="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icons used</a:t>
            </a:r>
            <a:r>
              <a:rPr lang="en-US" baseline="0" dirty="0" smtClean="0"/>
              <a:t> in the next few slides do technically represent an auto claim and auto exposure, however, they are also used in a generic sense to represent a claim and exposure on any LOB (Line of Business).</a:t>
            </a:r>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74AC1F17-A677-430F-8CA8-A43141D63743}" type="slidenum">
              <a:rPr lang="en-US" altLang="en-US" sz="1200" smtClean="0">
                <a:solidFill>
                  <a:schemeClr val="tx1"/>
                </a:solidFill>
              </a:rPr>
              <a:pPr eaLnBrk="1" hangingPunct="1"/>
              <a:t>16</a:t>
            </a:fld>
            <a:endParaRPr lang="en-US" altLang="en-US" sz="1200" smtClean="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 claim or exposure becomes more mature because it meets requirements defined by the carrier's business practice. For example, an auto policy carrier may not require metropolitan police reports when a claim is initially created. But, it may require them before the claim can be paid against. Whenever an object is modified, ClaimCenter automatically checks to see if the modifications allow it to be promoted to a higher validation level.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5EE68820-D459-45A9-A317-C205820FEBD5}" type="slidenum">
              <a:rPr lang="en-US" altLang="en-US" sz="1200" smtClean="0">
                <a:solidFill>
                  <a:schemeClr val="tx1"/>
                </a:solidFill>
              </a:rPr>
              <a:pPr eaLnBrk="1" hangingPunct="1"/>
              <a:t>17</a:t>
            </a:fld>
            <a:endParaRPr lang="en-US" altLang="en-US" sz="1200" smtClean="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Claim and exposure maturity and validation levels are discussed throughout the course. The most complete discussion is in the "Adjudicating Claims" lesson (both</a:t>
            </a:r>
            <a:r>
              <a:rPr lang="en-US" baseline="0" dirty="0" smtClean="0"/>
              <a:t> Workers’ Comp and Personal Auto versions)</a:t>
            </a:r>
            <a:r>
              <a:rPr lang="en-US" dirty="0" smtClean="0"/>
              <a:t>. However, some discussion of the issue also appears in the following lessons (both</a:t>
            </a:r>
            <a:r>
              <a:rPr lang="en-US" baseline="0" dirty="0" smtClean="0"/>
              <a:t> Workers’ Comp and Personal Auto versions)</a:t>
            </a:r>
            <a:r>
              <a:rPr lang="en-US" dirty="0" smtClean="0"/>
              <a:t>:</a:t>
            </a:r>
          </a:p>
          <a:p>
            <a:pPr lvl="1" eaLnBrk="1" hangingPunct="1"/>
            <a:r>
              <a:rPr lang="en-US" dirty="0" smtClean="0"/>
              <a:t>"The New Claim Wizard"</a:t>
            </a:r>
          </a:p>
          <a:p>
            <a:pPr lvl="1" eaLnBrk="1" hangingPunct="1"/>
            <a:r>
              <a:rPr lang="en-US" dirty="0" smtClean="0"/>
              <a:t>"Exposures"</a:t>
            </a:r>
          </a:p>
          <a:p>
            <a:pPr lvl="1" eaLnBrk="1" hangingPunct="1"/>
            <a:r>
              <a:rPr lang="en-US" dirty="0" smtClean="0"/>
              <a:t>"Payments"</a:t>
            </a:r>
          </a:p>
          <a:p>
            <a:pPr lvl="1" eaLnBrk="1" hangingPunct="1"/>
            <a:endParaRPr lang="en-U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78B2845E-C23C-400F-B5D4-494C0814E2D9}" type="slidenum">
              <a:rPr lang="en-US" altLang="en-US" sz="1200" smtClean="0">
                <a:solidFill>
                  <a:schemeClr val="tx1"/>
                </a:solidFill>
              </a:rPr>
              <a:pPr eaLnBrk="1" hangingPunct="1"/>
              <a:t>18</a:t>
            </a:fld>
            <a:endParaRPr lang="en-US" altLang="en-US" sz="1200" smtClean="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claim is created during the intake process by a CSR or adjuster through the new claim wizard,</a:t>
            </a:r>
            <a:r>
              <a:rPr lang="en-US" baseline="0" dirty="0" smtClean="0"/>
              <a:t> or thru a policyholder portal.</a:t>
            </a:r>
            <a:r>
              <a:rPr lang="en-US" dirty="0" smtClean="0"/>
              <a:t> The user who creates the claim must specify the relevant policy and the claimants. They also typically detail as much information about the incidents as possible, as well as any other loss detail information available at that time. For</a:t>
            </a:r>
            <a:r>
              <a:rPr lang="en-US" baseline="0" dirty="0" smtClean="0"/>
              <a:t> policyholders submitting a claim in a portal, a certain minimum set of information is required in order to save the claim for later, and a greater amount of information is required to submit the claim. The next lesson (Intro to Claim Intake) covers this process.</a:t>
            </a:r>
            <a:endParaRPr lang="en-US" dirty="0" smtClean="0"/>
          </a:p>
          <a:p>
            <a:pPr eaLnBrk="1" hangingPunct="1"/>
            <a:r>
              <a:rPr lang="en-US" dirty="0" smtClean="0"/>
              <a:t>In the example above, the claim is an auto claim in which the insured hit a third party. The insured is at fault, has incurred vehicle damage, and has suffered an injury. The third party's car was not damaged, but the third party suffered a minor concussion.</a:t>
            </a:r>
          </a:p>
          <a:p>
            <a:pPr eaLnBrk="1" hangingPunct="1"/>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F8BFB9C2-15DA-4441-97AC-A11BA17A2294}" type="slidenum">
              <a:rPr lang="en-US" altLang="en-US" sz="1200" smtClean="0">
                <a:solidFill>
                  <a:schemeClr val="tx1"/>
                </a:solidFill>
              </a:rPr>
              <a:pPr eaLnBrk="1" hangingPunct="1"/>
              <a:t>19</a:t>
            </a:fld>
            <a:endParaRPr lang="en-US" altLang="en-US" sz="1200" smtClean="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the claim is created, ClaimCenter business rules segment the claim, which is the act of classifying the claim (for example as a "fast track", "normal" or "complex" claim) so that the right strategies can be used to process the claim. The business rules also assign an owner to the claim and create a series of activities known as the </a:t>
            </a:r>
            <a:r>
              <a:rPr lang="en-US" dirty="0" err="1" smtClean="0"/>
              <a:t>workplan</a:t>
            </a:r>
            <a:r>
              <a:rPr lang="en-US" dirty="0" smtClean="0"/>
              <a:t> which identify work that must be done to process the claim. All of this is referred to as "claim set-up".</a:t>
            </a:r>
          </a:p>
          <a:p>
            <a:pPr eaLnBrk="1" hangingPunct="1"/>
            <a:r>
              <a:rPr lang="en-US" dirty="0" smtClean="0"/>
              <a:t>In the example above, the claim is considered to be normal (it is more complex than just a broken windshield, but not so complex that it involved a death). It is assigned to Dana Evans and activities are created for the </a:t>
            </a:r>
            <a:r>
              <a:rPr lang="en-US" dirty="0" err="1" smtClean="0"/>
              <a:t>workplan</a:t>
            </a:r>
            <a:r>
              <a:rPr lang="en-US" dirty="0" smtClean="0"/>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99866421-DA4C-4733-93C1-4C5DBB37FBD8}" type="slidenum">
              <a:rPr lang="en-US" altLang="en-US" sz="1200" smtClean="0">
                <a:solidFill>
                  <a:schemeClr val="tx1"/>
                </a:solidFill>
              </a:rPr>
              <a:pPr eaLnBrk="1" hangingPunct="1"/>
              <a:t>20</a:t>
            </a:fld>
            <a:endParaRPr lang="en-US" altLang="en-US" sz="1200" smtClean="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the decision to pay on the claim has been made, exposures are created. Each exposure tracks a potential payment from a single coverage to a single claimant.</a:t>
            </a:r>
          </a:p>
          <a:p>
            <a:pPr eaLnBrk="1" hangingPunct="1"/>
            <a:r>
              <a:rPr lang="en-US" dirty="0" smtClean="0"/>
              <a:t>Exposures can be created automatically by business rules. (This is often done for workers' comp claims, and when it is done, it usually occurs along with claim setup.) Exposures can also be created manually by adjusters.</a:t>
            </a:r>
          </a:p>
          <a:p>
            <a:pPr eaLnBrk="1" hangingPunct="1"/>
            <a:r>
              <a:rPr lang="en-US" dirty="0" smtClean="0"/>
              <a:t>In the example above, three exposures are required: one to indemnify the insured for damage done to his car, one to indemnify the insured for the medical bills related to his injury, and one to indemnify the third party for her concussion.</a:t>
            </a:r>
          </a:p>
          <a:p>
            <a:pPr algn="ctr" eaLnBrk="1" hangingPunct="1"/>
            <a:r>
              <a:rPr lang="en-US" dirty="0" smtClean="0"/>
              <a:t>(continued)</a:t>
            </a:r>
          </a:p>
          <a:p>
            <a:pPr eaLnBrk="1" hangingPunct="1"/>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BA967C0C-2C75-4501-AE3E-0288AEC70156}" type="slidenum">
              <a:rPr lang="en-US" altLang="en-US" sz="1200" smtClean="0">
                <a:solidFill>
                  <a:schemeClr val="tx1"/>
                </a:solidFill>
              </a:rPr>
              <a:pPr eaLnBrk="1" hangingPunct="1"/>
              <a:t>21</a:t>
            </a:fld>
            <a:endParaRPr lang="en-US" altLang="en-US" sz="1200" smtClean="0">
              <a:solidFill>
                <a:schemeClr val="tx1"/>
              </a:solidFill>
            </a:endParaRPr>
          </a:p>
        </p:txBody>
      </p:sp>
      <p:sp>
        <p:nvSpPr>
          <p:cNvPr id="56324" name="Rectangle 2"/>
          <p:cNvSpPr>
            <a:spLocks noGrp="1" noChangeArrowheads="1"/>
          </p:cNvSpPr>
          <p:nvPr>
            <p:ph type="body" idx="1"/>
          </p:nvPr>
        </p:nvSpPr>
        <p:spPr>
          <a:xfrm>
            <a:off x="406400" y="639763"/>
            <a:ext cx="6069013" cy="8094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u="sng" dirty="0" smtClean="0"/>
              <a:t>A brief glossary for common auto and workers’ comp policy coverages:</a:t>
            </a:r>
          </a:p>
          <a:p>
            <a:pPr eaLnBrk="1" hangingPunct="1"/>
            <a:r>
              <a:rPr lang="en-US" u="sng" dirty="0" smtClean="0"/>
              <a:t>AUTO</a:t>
            </a:r>
          </a:p>
          <a:p>
            <a:pPr eaLnBrk="1" hangingPunct="1"/>
            <a:r>
              <a:rPr lang="en-US" dirty="0" err="1" smtClean="0"/>
              <a:t>Coverages</a:t>
            </a:r>
            <a:r>
              <a:rPr lang="en-US" dirty="0" smtClean="0"/>
              <a:t> for vehicles</a:t>
            </a:r>
          </a:p>
          <a:p>
            <a:pPr lvl="1" eaLnBrk="1" hangingPunct="1"/>
            <a:r>
              <a:rPr lang="en-US" dirty="0" smtClean="0"/>
              <a:t>Collision - This covers damage to the insured's car that is the result of a collision with another object.</a:t>
            </a:r>
          </a:p>
          <a:p>
            <a:pPr lvl="1" eaLnBrk="1" hangingPunct="1"/>
            <a:r>
              <a:rPr lang="en-US" dirty="0" smtClean="0"/>
              <a:t>Liability - vehicle damage - This covers damage to a third party's car that is the result of a collision with another object where the insured is at fault.</a:t>
            </a:r>
          </a:p>
          <a:p>
            <a:pPr lvl="1" eaLnBrk="1" hangingPunct="1"/>
            <a:r>
              <a:rPr lang="en-US" dirty="0" smtClean="0"/>
              <a:t>Comprehensive - This covers damage to the insured's car that results from anything other than a collision with another object (such as theft, vandalism, or weather).</a:t>
            </a:r>
          </a:p>
          <a:p>
            <a:pPr eaLnBrk="1" hangingPunct="1"/>
            <a:r>
              <a:rPr lang="en-US" dirty="0" err="1" smtClean="0"/>
              <a:t>Coverages</a:t>
            </a:r>
            <a:r>
              <a:rPr lang="en-US" dirty="0" smtClean="0"/>
              <a:t> for injuries</a:t>
            </a:r>
          </a:p>
          <a:p>
            <a:pPr lvl="1" eaLnBrk="1" hangingPunct="1"/>
            <a:r>
              <a:rPr lang="en-US" dirty="0" smtClean="0"/>
              <a:t>Bodily injury - This is a liability coverage that covers injuries to a third party and any legal defense when an injured third party sues the insured.</a:t>
            </a:r>
          </a:p>
          <a:p>
            <a:pPr lvl="1" eaLnBrk="1" hangingPunct="1"/>
            <a:r>
              <a:rPr lang="en-US" dirty="0" smtClean="0"/>
              <a:t>Medical payments - This covers injuries to the insured and any passengers regardless of who is at fault. Some people opt out of this coverage because they have existing health coverage which meets their needs. This is available in most states in the United States.</a:t>
            </a:r>
          </a:p>
          <a:p>
            <a:pPr lvl="1" eaLnBrk="1" hangingPunct="1"/>
            <a:r>
              <a:rPr lang="en-US" dirty="0" smtClean="0"/>
              <a:t>Personal injury protection (PIP) - This coverage is largely identical to medical payments. It often covers injuries to the insured and any passengers regardless of who is at fault. However, it is available in only 16 states in the United States. Many of the states with PIP coverage do not have medical payment coverage. In these cases, PIP coverage "replaces" medical payment coverage. A small number of states offer both medical payments and PIP. These states have laws that identify which coverage comes into effect first and how much coverage it provides before it is exhausted and the other coverage comes into play. However, these laws vary from state to state, so there is no universal answer as to how PIP and medical payments work when they are on the same auto policy.</a:t>
            </a:r>
          </a:p>
          <a:p>
            <a:pPr marL="0" marR="0" indent="0" algn="l" defTabSz="914400" rtl="0" eaLnBrk="1" fontAlgn="base" latinLnBrk="0" hangingPunct="1">
              <a:lnSpc>
                <a:spcPct val="100000"/>
              </a:lnSpc>
              <a:spcBef>
                <a:spcPct val="10000"/>
              </a:spcBef>
              <a:spcAft>
                <a:spcPct val="0"/>
              </a:spcAft>
              <a:buClrTx/>
              <a:buSzTx/>
              <a:buFontTx/>
              <a:buNone/>
              <a:tabLst/>
              <a:defRPr/>
            </a:pPr>
            <a:r>
              <a:rPr lang="en-US" u="sng" dirty="0" smtClean="0"/>
              <a:t/>
            </a:r>
            <a:br>
              <a:rPr lang="en-US" u="sng" dirty="0" smtClean="0"/>
            </a:br>
            <a:r>
              <a:rPr lang="en-US" u="sng" dirty="0" smtClean="0"/>
              <a:t>WORKERS’ COMPENSATION</a:t>
            </a:r>
          </a:p>
          <a:p>
            <a:pPr marL="0" marR="0" indent="0" algn="l" defTabSz="914400" rtl="0" eaLnBrk="1" fontAlgn="base" latinLnBrk="0" hangingPunct="1">
              <a:lnSpc>
                <a:spcPct val="100000"/>
              </a:lnSpc>
              <a:spcBef>
                <a:spcPct val="10000"/>
              </a:spcBef>
              <a:spcAft>
                <a:spcPct val="0"/>
              </a:spcAft>
              <a:buClrTx/>
              <a:buSzTx/>
              <a:buFontTx/>
              <a:buNone/>
              <a:tabLst/>
              <a:defRPr/>
            </a:pPr>
            <a:endParaRPr lang="en-US" u="sng" dirty="0"/>
          </a:p>
          <a:p>
            <a:pPr lvl="1"/>
            <a:r>
              <a:rPr lang="en-US" b="1" dirty="0"/>
              <a:t>Medical</a:t>
            </a:r>
            <a:endParaRPr lang="en-US" dirty="0"/>
          </a:p>
          <a:p>
            <a:r>
              <a:rPr lang="en-US" dirty="0"/>
              <a:t>Medical covers essentially all medical expenses </a:t>
            </a:r>
            <a:r>
              <a:rPr lang="en-US" dirty="0" smtClean="0"/>
              <a:t>(with certain limits)</a:t>
            </a:r>
            <a:endParaRPr lang="en-US" dirty="0"/>
          </a:p>
          <a:p>
            <a:pPr lvl="1"/>
            <a:r>
              <a:rPr lang="en-US" b="1" dirty="0"/>
              <a:t>Disability</a:t>
            </a:r>
            <a:endParaRPr lang="en-US" dirty="0"/>
          </a:p>
          <a:p>
            <a:r>
              <a:rPr lang="en-US" dirty="0" smtClean="0"/>
              <a:t>Covers lost time (also known as “income replacement” or “indemnity”). Coverage varies by state/jurisdiction, but for many states the coverage is 67% of a worker’s wages (up to a maximum of anywhere from $800 to $1200/week). Disability is generally categorized under two broad categories - 1. TD (Temporary Disability) and 2. PD (Permanent Disability), the difference being TD handles partial wages for a worker that suffers a temporary disability they can recover from (such as a broken leg), while PD handles partial wages for a worker that suffers a permanent disability they cannot recover from (such as the loss of a leg). A discussion of additional disability coverages and indemnity payments is discussed in the “Workers’ Comp: Time Loss” lesson.</a:t>
            </a:r>
            <a:endParaRPr lang="en-US" b="1" dirty="0"/>
          </a:p>
          <a:p>
            <a:pPr lvl="1"/>
            <a:r>
              <a:rPr lang="en-US" b="1" dirty="0" smtClean="0"/>
              <a:t>Death</a:t>
            </a:r>
          </a:p>
          <a:p>
            <a:pPr indent="-114300"/>
            <a:r>
              <a:rPr lang="en-US" dirty="0" smtClean="0"/>
              <a:t>The deceased injured worker’s spouse/dependents </a:t>
            </a:r>
            <a:r>
              <a:rPr lang="en-US" dirty="0"/>
              <a:t>are paid </a:t>
            </a:r>
            <a:r>
              <a:rPr lang="en-US" dirty="0" smtClean="0"/>
              <a:t>a fixed amount (depending </a:t>
            </a:r>
            <a:r>
              <a:rPr lang="en-US" dirty="0"/>
              <a:t>on # of dependents. There is also a burial allowance (probably a lump sum</a:t>
            </a:r>
            <a:r>
              <a:rPr lang="en-US" dirty="0" smtClean="0"/>
              <a:t>). </a:t>
            </a:r>
          </a:p>
          <a:p>
            <a:pPr indent="-114300"/>
            <a:endParaRPr lang="en-US" dirty="0"/>
          </a:p>
          <a:p>
            <a:pPr indent="-114300"/>
            <a:r>
              <a:rPr lang="en-US" dirty="0" smtClean="0"/>
              <a:t>All WC coverages vary from state to state or jurisdiction, so the above is a generalization only and does not represent each state’s complete coverages or laws.</a:t>
            </a: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BD620929-AF1B-40BD-BF4D-895A0F18BB41}" type="slidenum">
              <a:rPr lang="en-US" altLang="en-US" sz="1200" smtClean="0">
                <a:solidFill>
                  <a:schemeClr val="tx1"/>
                </a:solidFill>
              </a:rPr>
              <a:pPr eaLnBrk="1" hangingPunct="1"/>
              <a:t>22</a:t>
            </a:fld>
            <a:endParaRPr lang="en-US" altLang="en-US" sz="1200" smtClean="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 reserve line is an amount of money set aside for expected payments related to a given exposure. </a:t>
            </a:r>
          </a:p>
          <a:p>
            <a:pPr eaLnBrk="1" hangingPunct="1"/>
            <a:r>
              <a:rPr lang="en-US" smtClean="0"/>
              <a:t>In the example above, each exposure has a single reserve line associated with it. However, an exposure can have multiple reserve lines, which occurs if there will be two or more payments from the exposure and the carrier wants to track the money separately. For example, a collision coverage exposure could require an indemnification payment to the insured (to fix the damage done to the car) as well as an expense payment to the auto inspector vendor (for the auto inspection).</a:t>
            </a:r>
          </a:p>
          <a:p>
            <a:pPr eaLnBrk="1" hangingPunct="1"/>
            <a:r>
              <a:rPr lang="en-US" smtClean="0"/>
              <a:t>Reserve lines can be created automatically by business rules. (This is often done for all exposures, and when it is done, it usually occurs when the exposure is set up.) Reserve lines can also be created manually by adjusters.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|EON~023|</a:t>
            </a:r>
            <a:endParaRPr lang="en-US" sz="100">
              <a:solidFill>
                <a:srgbClr val="FFFFFF"/>
              </a:solidFill>
              <a:latin typeface="Arial"/>
            </a:endParaRP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5BA1CC2A-2CF4-4DD5-90F2-CA8E542EBCCA}" type="slidenum">
              <a:rPr lang="en-US" altLang="en-US" sz="1200" smtClean="0">
                <a:solidFill>
                  <a:schemeClr val="tx1"/>
                </a:solidFill>
              </a:rPr>
              <a:pPr eaLnBrk="1" hangingPunct="1"/>
              <a:t>23</a:t>
            </a:fld>
            <a:endParaRPr lang="en-US" altLang="en-US" sz="1200" smtClean="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Most or all of the work to be done on the claim is detailed in the workplan activities. Once reserves have been created, those activities are completed.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|EON~024|</a:t>
            </a:r>
            <a:endParaRPr lang="en-US" sz="100">
              <a:solidFill>
                <a:srgbClr val="FFFFFF"/>
              </a:solidFill>
              <a:latin typeface="Arial"/>
            </a:endParaRP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8EE6E54A-EC02-490E-A6DD-ED5B8107BA98}" type="slidenum">
              <a:rPr lang="en-US" altLang="en-US" sz="1200" smtClean="0">
                <a:solidFill>
                  <a:schemeClr val="tx1"/>
                </a:solidFill>
              </a:rPr>
              <a:pPr eaLnBrk="1" hangingPunct="1"/>
              <a:t>24</a:t>
            </a:fld>
            <a:endParaRPr lang="en-US" altLang="en-US" sz="1200" smtClean="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claim and each of its exposure have a maturity level, often referred to as a validation level. Typically, the final level is "ability to pay". When a claim is at ability to pay, checks can be written for it. When an exposure is at ability to pay, the money in its reserve line(s) can be used for checks. Gaining the ability to write checks against a claim and use the reserve lines of its exposures is a prerequisite to making payments.</a:t>
            </a:r>
          </a:p>
          <a:p>
            <a:pPr eaLnBrk="1" hangingPunct="1"/>
            <a:r>
              <a:rPr lang="en-US" smtClean="0"/>
              <a:t>In some cases, the claim and its exposures may become payable as a natural result of the completion of all of the activities. However, the two are not required to be functionally connected. Furthermore, activities typically focus on tasks that must be done by a given time and/or must be done by people other than the adjuster. Therefore, it is not unusual for a claim to have all activities complete and yet the claim itself or one or more of its exposures is not payable. (It is also possible that a claim and all of its exposures are payable, but there are still open activities.)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|EON~025|</a:t>
            </a:r>
            <a:endParaRPr lang="en-US" sz="100">
              <a:solidFill>
                <a:srgbClr val="FFFFFF"/>
              </a:solidFill>
              <a:latin typeface="Arial"/>
            </a:endParaRP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8687B0FF-3D0F-4D66-9030-E04114DB678F}" type="slidenum">
              <a:rPr lang="en-US" altLang="en-US" sz="1200" smtClean="0">
                <a:solidFill>
                  <a:schemeClr val="tx1"/>
                </a:solidFill>
              </a:rPr>
              <a:pPr eaLnBrk="1" hangingPunct="1"/>
              <a:t>25</a:t>
            </a:fld>
            <a:endParaRPr lang="en-US" altLang="en-US" sz="1200" smtClean="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the claim and its exposures are payable, payments can be created.</a:t>
            </a:r>
          </a:p>
          <a:p>
            <a:pPr eaLnBrk="1" hangingPunct="1"/>
            <a:r>
              <a:rPr lang="en-US" dirty="0" smtClean="0"/>
              <a:t>Money is transferred from the carrier to the payees through checks. Each check gets its money from one or more reserve lines.</a:t>
            </a:r>
          </a:p>
          <a:p>
            <a:pPr eaLnBrk="1" hangingPunct="1"/>
            <a:r>
              <a:rPr lang="en-US" dirty="0" smtClean="0"/>
              <a:t>In the example above, there are two checks. The first check is payable to the insured. It is for his collision loss and medical payments. Consequently, the check gets its money from two reserve lines from two different exposures. The second check is payable to the third party. The money comes from the third exposure's reserve line.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|EON~026|</a:t>
            </a:r>
            <a:endParaRPr lang="en-US" sz="100">
              <a:solidFill>
                <a:srgbClr val="FFFFFF"/>
              </a:solidFill>
              <a:latin typeface="Arial"/>
            </a:endParaRP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900D5E9A-F191-4A17-93F8-2025CB6C7BF7}" type="slidenum">
              <a:rPr lang="en-US" altLang="en-US" sz="1200" smtClean="0">
                <a:solidFill>
                  <a:schemeClr val="tx1"/>
                </a:solidFill>
              </a:rPr>
              <a:pPr eaLnBrk="1" hangingPunct="1"/>
              <a:t>26</a:t>
            </a:fld>
            <a:endParaRPr lang="en-US" altLang="en-US" sz="1200" smtClean="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When the financial obligation associated to an exposure has been satisfied, the exposure can be closed. If an exposure results in one payment, then the exposure is typically closed when that one payment is made. If an exposure results in multiple payments (which could occur if there is a recurring payment, possibly for ongoing medical treatment), then the exposure is typically closed when the final payment is made.</a:t>
            </a:r>
          </a:p>
          <a:p>
            <a:pPr eaLnBrk="1" hangingPunct="1"/>
            <a:r>
              <a:rPr lang="en-US" dirty="0" smtClean="0"/>
              <a:t>When all of the activities are complete, all the payments have been made, and all the exposures are closed, the claim can be closed. In some cases, a claim may be closed as soon as the payment is made (and the last indemnification exposure is closed). In other cases, the claim may remain open beyond the last payment (possibly because the claim involves recovery which is taking place after the last payment, or possibly because there is lingering activity work to complete, such as verification that legal documents have been filed with the appropriate government agency).</a:t>
            </a:r>
          </a:p>
          <a:p>
            <a:pPr eaLnBrk="1" hangingPunct="1"/>
            <a:r>
              <a:rPr lang="en-US" dirty="0" smtClean="0"/>
              <a:t>The diagrams in the preceding set of slides have not made reference to documents, notes, and matters. Documents and notes are typically used for every claim, but they typically record things that have occurred. They do not represent work that needs to be done, and in most cases their existence does not move the claim forward in the claim process. Consequently, they have been omitted from the discussion. Matters are relevant to moving a claim forward in the claims process, but only for claims involving potential litigation. Since these types of claims are not the most fundamental type of claims, matters have also been omitted from the discussion.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|EON~027|</a:t>
            </a:r>
            <a:endParaRPr lang="en-US" sz="100">
              <a:solidFill>
                <a:srgbClr val="FFFFFF"/>
              </a:solidFill>
              <a:latin typeface="Arial"/>
            </a:endParaRP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6EA60277-46E8-42DA-BE7F-73BD7183131A}" type="slidenum">
              <a:rPr lang="en-US" altLang="en-US" sz="1200" smtClean="0">
                <a:solidFill>
                  <a:schemeClr val="tx1"/>
                </a:solidFill>
              </a:rPr>
              <a:pPr eaLnBrk="1" hangingPunct="1"/>
              <a:t>27</a:t>
            </a:fld>
            <a:endParaRPr lang="en-US" altLang="en-US" sz="1200" smtClean="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business process steps and functional process steps (stages)</a:t>
            </a:r>
            <a:r>
              <a:rPr lang="en-US" baseline="0" dirty="0" smtClean="0"/>
              <a:t> </a:t>
            </a:r>
            <a:r>
              <a:rPr lang="en-US" dirty="0" smtClean="0"/>
              <a:t>do not have a one-to-one correspondence. In particular:</a:t>
            </a:r>
          </a:p>
          <a:p>
            <a:pPr lvl="1" eaLnBrk="1" hangingPunct="1"/>
            <a:r>
              <a:rPr lang="en-US" dirty="0" smtClean="0"/>
              <a:t>During intake, the claim is created. Exposures and reserves could also be created at this time,</a:t>
            </a:r>
            <a:r>
              <a:rPr lang="en-US" baseline="0" dirty="0" smtClean="0"/>
              <a:t> depending on the LOB. For WC claims, exposures are most often created automatically when the claim is first created. For auto claims, exposures could be created during intake phase manually and explicitly by the adjuster or CSR, but usually are not created at this time.</a:t>
            </a:r>
            <a:endParaRPr lang="en-US" dirty="0" smtClean="0"/>
          </a:p>
          <a:p>
            <a:pPr lvl="1" eaLnBrk="1" hangingPunct="1"/>
            <a:r>
              <a:rPr lang="en-US" dirty="0" smtClean="0"/>
              <a:t>During adjudication, ClaimCenter exposures could be created, reserves could be created, activities could be completed, and the claim and its exposures could become payable.</a:t>
            </a:r>
          </a:p>
          <a:p>
            <a:pPr lvl="1" eaLnBrk="1" hangingPunct="1"/>
            <a:r>
              <a:rPr lang="en-US" dirty="0" smtClean="0"/>
              <a:t>At payment, payments are made. But, reserves could be created at this time, activities could be completed, and the claim and its exposures could become payable. Payment may also cause exposures and the claim to be closed.</a:t>
            </a:r>
          </a:p>
          <a:p>
            <a:pPr lvl="1" eaLnBrk="1" hangingPunct="1">
              <a:buFontTx/>
              <a:buNone/>
            </a:pPr>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|EON~028|</a:t>
            </a:r>
            <a:endParaRPr lang="en-US" sz="100">
              <a:solidFill>
                <a:srgbClr val="FFFFFF"/>
              </a:solidFill>
              <a:latin typeface="Arial"/>
            </a:endParaRP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6F5B9EF9-6257-4D90-A005-866E5DDECEEF}" type="slidenum">
              <a:rPr lang="en-US" altLang="en-US" sz="1200" smtClean="0">
                <a:solidFill>
                  <a:schemeClr val="tx1"/>
                </a:solidFill>
              </a:rPr>
              <a:pPr eaLnBrk="1" hangingPunct="1"/>
              <a:t>28</a:t>
            </a:fld>
            <a:endParaRPr lang="en-US" altLang="en-US" sz="1200" smtClean="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|EON~029|</a:t>
            </a:r>
            <a:endParaRPr lang="en-US" sz="100">
              <a:solidFill>
                <a:srgbClr val="FFFFFF"/>
              </a:solidFill>
              <a:latin typeface="Arial"/>
            </a:endParaRPr>
          </a:p>
        </p:txBody>
      </p:sp>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The Claims Process - </a:t>
            </a:r>
            <a:fld id="{4EA4D962-0F87-404D-A663-30DE99564AE2}" type="slidenum">
              <a:rPr lang="en-US" altLang="en-US" sz="1200" smtClean="0">
                <a:solidFill>
                  <a:schemeClr val="tx1"/>
                </a:solidFill>
              </a:rPr>
              <a:pPr eaLnBrk="1" hangingPunct="1"/>
              <a:t>29</a:t>
            </a:fld>
            <a:endParaRPr lang="en-US" altLang="en-US" sz="1200" smtClean="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smtClean="0"/>
              <a:t>Answers</a:t>
            </a:r>
          </a:p>
          <a:p>
            <a:pPr eaLnBrk="1" hangingPunct="1"/>
            <a:r>
              <a:rPr lang="en-US" dirty="0" smtClean="0"/>
              <a:t>1.	a) True. (If it doesn't go through intake, it is not a claim.)</a:t>
            </a:r>
          </a:p>
          <a:p>
            <a:pPr eaLnBrk="1" hangingPunct="1"/>
            <a:r>
              <a:rPr lang="en-US" dirty="0" smtClean="0"/>
              <a:t>	b) False. (Many claims result in payments, but some claims do not.)</a:t>
            </a:r>
          </a:p>
          <a:p>
            <a:pPr eaLnBrk="1" hangingPunct="1"/>
            <a:r>
              <a:rPr lang="en-US" dirty="0" smtClean="0"/>
              <a:t>	c) False. (Recovery is appropriate only if there is a salvageable item or if there is a third party at fault.)</a:t>
            </a:r>
          </a:p>
          <a:p>
            <a:pPr eaLnBrk="1" hangingPunct="1"/>
            <a:r>
              <a:rPr lang="en-US" dirty="0" smtClean="0"/>
              <a:t>	d) False. (The statement is a true statement about fraud detection. Special investigations occurs only if some suspicious and possibly fraudulent activity is detected.)</a:t>
            </a:r>
          </a:p>
          <a:p>
            <a:pPr eaLnBrk="1" hangingPunct="1"/>
            <a:r>
              <a:rPr lang="en-US" dirty="0" smtClean="0"/>
              <a:t>	e) True.</a:t>
            </a:r>
          </a:p>
          <a:p>
            <a:pPr eaLnBrk="1" hangingPunct="1"/>
            <a:r>
              <a:rPr lang="en-US" dirty="0" smtClean="0"/>
              <a:t>2. A claim or exposure is at the "new loss completion" level when it is initially created.</a:t>
            </a:r>
          </a:p>
          <a:p>
            <a:pPr eaLnBrk="1" hangingPunct="1"/>
            <a:r>
              <a:rPr lang="en-US" dirty="0" smtClean="0"/>
              <a:t>3. You want the claim and its exposures to get to the "ability to pay" level because you can write checks only against claims at ability to pay from exposures at ability to pay.</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|EON~030|</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dirty="0" smtClean="0"/>
              <a:t>	The Claims Process - </a:t>
            </a:r>
            <a:fld id="{211C349A-83C9-44D0-A356-DBEB3FC715FC}" type="slidenum">
              <a:rPr lang="en-US" altLang="en-US" smtClean="0"/>
              <a:pPr>
                <a:defRPr/>
              </a:pPr>
              <a:t>30</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131767391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27607067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48583035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55494392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397747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002107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47338654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74524327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8052897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55903660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193148753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35745227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D240477A-3F31-46EE-885C-E25659306CC4}"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41"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r>
              <a:rPr lang="en-US" smtClean="0"/>
              <a:t>The Claims Process</a:t>
            </a:r>
          </a:p>
        </p:txBody>
      </p:sp>
      <p:sp>
        <p:nvSpPr>
          <p:cNvPr id="4099" name="Text Placeholder 4"/>
          <p:cNvSpPr>
            <a:spLocks noGrp="1"/>
          </p:cNvSpPr>
          <p:nvPr>
            <p:ph type="body" sz="quarter" idx="10"/>
          </p:nvPr>
        </p:nvSpPr>
        <p:spPr>
          <a:xfrm>
            <a:off x="5718175" y="6167438"/>
            <a:ext cx="3089275" cy="273050"/>
          </a:xfrm>
        </p:spPr>
        <p:txBody>
          <a:bodyPr/>
          <a:lstStyle/>
          <a:p>
            <a:r>
              <a:rPr lang="en-US" dirty="0"/>
              <a:t> </a:t>
            </a:r>
            <a:r>
              <a:rPr lang="en-US" dirty="0" smtClean="0"/>
              <a:t>5 January 2015</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r>
              <a:rPr lang="en-US" smtClean="0"/>
              <a:t> 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dirty="0" smtClean="0"/>
              <a:t>By the end of this lesson, you should be able to:</a:t>
            </a:r>
          </a:p>
          <a:p>
            <a:pPr lvl="1"/>
            <a:r>
              <a:rPr lang="en-US" dirty="0" smtClean="0"/>
              <a:t>Describe the stages of claims processing from a business perspective</a:t>
            </a:r>
          </a:p>
          <a:p>
            <a:pPr lvl="1"/>
            <a:r>
              <a:rPr lang="en-US" dirty="0" smtClean="0"/>
              <a:t>Describe the stages of claims processing from a functional perspective</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The business perspective</a:t>
            </a:r>
          </a:p>
          <a:p>
            <a:pPr>
              <a:lnSpc>
                <a:spcPct val="150000"/>
              </a:lnSpc>
              <a:buFont typeface="Arial" charset="0"/>
              <a:buChar char="•"/>
            </a:pPr>
            <a:r>
              <a:rPr lang="en-US" sz="2800" smtClean="0">
                <a:solidFill>
                  <a:srgbClr val="C0C0C0"/>
                </a:solidFill>
              </a:rPr>
              <a:t>The functional perspective</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7170" name="Rectangle 2"/>
          <p:cNvSpPr>
            <a:spLocks noGrp="1" noChangeArrowheads="1"/>
          </p:cNvSpPr>
          <p:nvPr>
            <p:ph type="title"/>
          </p:nvPr>
        </p:nvSpPr>
        <p:spPr/>
        <p:txBody>
          <a:bodyPr/>
          <a:lstStyle/>
          <a:p>
            <a:r>
              <a:rPr lang="en-US" smtClean="0"/>
              <a:t>The claims process: two perspectives</a:t>
            </a:r>
          </a:p>
        </p:txBody>
      </p:sp>
      <p:sp>
        <p:nvSpPr>
          <p:cNvPr id="7171" name="Rectangle 3"/>
          <p:cNvSpPr>
            <a:spLocks noGrp="1" noChangeArrowheads="1"/>
          </p:cNvSpPr>
          <p:nvPr>
            <p:ph idx="1"/>
          </p:nvPr>
        </p:nvSpPr>
        <p:spPr/>
        <p:txBody>
          <a:bodyPr/>
          <a:lstStyle/>
          <a:p>
            <a:pPr>
              <a:buFont typeface="Arial" charset="0"/>
              <a:buChar char="•"/>
            </a:pPr>
            <a:r>
              <a:rPr lang="en-US" dirty="0" smtClean="0"/>
              <a:t>Two ways to describe the claims process:</a:t>
            </a:r>
          </a:p>
          <a:p>
            <a:pPr marL="857250" lvl="1" indent="-457200">
              <a:buFont typeface="+mj-lt"/>
              <a:buAutoNum type="arabicPeriod"/>
            </a:pPr>
            <a:r>
              <a:rPr lang="en-US" b="1" dirty="0" smtClean="0"/>
              <a:t>“Business perspective”</a:t>
            </a:r>
          </a:p>
          <a:p>
            <a:pPr marL="741363" lvl="2" indent="0">
              <a:buNone/>
            </a:pPr>
            <a:r>
              <a:rPr lang="en-US" dirty="0" smtClean="0"/>
              <a:t>	Focusing on how the carrier as a whole views claim processing</a:t>
            </a:r>
          </a:p>
          <a:p>
            <a:pPr marL="857250" lvl="1" indent="-457200">
              <a:buFont typeface="+mj-lt"/>
              <a:buAutoNum type="arabicPeriod"/>
            </a:pPr>
            <a:r>
              <a:rPr lang="en-US" dirty="0" smtClean="0"/>
              <a:t>“Functional perspective”</a:t>
            </a:r>
          </a:p>
          <a:p>
            <a:pPr marL="914400" lvl="2" indent="0">
              <a:buNone/>
            </a:pPr>
            <a:r>
              <a:rPr lang="en-US" dirty="0" smtClean="0"/>
              <a:t>Focusing on how claims are processed within ClaimCenter</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sp>
        <p:nvSpPr>
          <p:cNvPr id="8194" name="Rectangle 2"/>
          <p:cNvSpPr>
            <a:spLocks noGrp="1" noChangeArrowheads="1"/>
          </p:cNvSpPr>
          <p:nvPr>
            <p:ph type="title"/>
          </p:nvPr>
        </p:nvSpPr>
        <p:spPr/>
        <p:txBody>
          <a:bodyPr/>
          <a:lstStyle/>
          <a:p>
            <a:r>
              <a:rPr lang="en-US" dirty="0" smtClean="0"/>
              <a:t>Phase 1: Intake</a:t>
            </a:r>
          </a:p>
        </p:txBody>
      </p:sp>
      <p:grpSp>
        <p:nvGrpSpPr>
          <p:cNvPr id="8195" name="Group 3"/>
          <p:cNvGrpSpPr>
            <a:grpSpLocks/>
          </p:cNvGrpSpPr>
          <p:nvPr/>
        </p:nvGrpSpPr>
        <p:grpSpPr bwMode="auto">
          <a:xfrm>
            <a:off x="650875" y="1493838"/>
            <a:ext cx="3092450" cy="481012"/>
            <a:chOff x="3089" y="1951"/>
            <a:chExt cx="1948" cy="303"/>
          </a:xfrm>
        </p:grpSpPr>
        <p:sp>
          <p:nvSpPr>
            <p:cNvPr id="8203" name="Text Box 4"/>
            <p:cNvSpPr txBox="1">
              <a:spLocks noChangeArrowheads="1"/>
            </p:cNvSpPr>
            <p:nvPr/>
          </p:nvSpPr>
          <p:spPr bwMode="auto">
            <a:xfrm>
              <a:off x="3089" y="1987"/>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8204" name="Rectangle 5"/>
            <p:cNvSpPr>
              <a:spLocks noChangeArrowheads="1"/>
            </p:cNvSpPr>
            <p:nvPr/>
          </p:nvSpPr>
          <p:spPr bwMode="auto">
            <a:xfrm>
              <a:off x="3141" y="1951"/>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pic>
        <p:nvPicPr>
          <p:cNvPr id="8196" name="Picture 6" descr="automobile_crash_Honda_95870_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2125" y="3105150"/>
            <a:ext cx="476250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97" name="Group 7"/>
          <p:cNvGrpSpPr>
            <a:grpSpLocks/>
          </p:cNvGrpSpPr>
          <p:nvPr/>
        </p:nvGrpSpPr>
        <p:grpSpPr bwMode="auto">
          <a:xfrm>
            <a:off x="4079875" y="1690688"/>
            <a:ext cx="1609725" cy="1533525"/>
            <a:chOff x="3917" y="3057"/>
            <a:chExt cx="809" cy="771"/>
          </a:xfrm>
        </p:grpSpPr>
        <p:sp>
          <p:nvSpPr>
            <p:cNvPr id="8198" name="AutoShape 8"/>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8199" name="Oval 9"/>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8200" name="Freeform 10"/>
            <p:cNvSpPr>
              <a:spLocks/>
            </p:cNvSpPr>
            <p:nvPr/>
          </p:nvSpPr>
          <p:spPr bwMode="auto">
            <a:xfrm>
              <a:off x="4387" y="3376"/>
              <a:ext cx="270" cy="365"/>
            </a:xfrm>
            <a:custGeom>
              <a:avLst/>
              <a:gdLst>
                <a:gd name="T0" fmla="*/ 0 w 162"/>
                <a:gd name="T1" fmla="*/ 1762 h 216"/>
                <a:gd name="T2" fmla="*/ 578 w 162"/>
                <a:gd name="T3" fmla="*/ 1490 h 216"/>
                <a:gd name="T4" fmla="*/ 1088 w 162"/>
                <a:gd name="T5" fmla="*/ 686 h 216"/>
                <a:gd name="T6" fmla="*/ 1250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01" name="Freeform 11"/>
            <p:cNvSpPr>
              <a:spLocks/>
            </p:cNvSpPr>
            <p:nvPr/>
          </p:nvSpPr>
          <p:spPr bwMode="auto">
            <a:xfrm>
              <a:off x="3939" y="3057"/>
              <a:ext cx="740" cy="349"/>
            </a:xfrm>
            <a:custGeom>
              <a:avLst/>
              <a:gdLst>
                <a:gd name="T0" fmla="*/ 0 w 446"/>
                <a:gd name="T1" fmla="*/ 1376 h 206"/>
                <a:gd name="T2" fmla="*/ 229 w 446"/>
                <a:gd name="T3" fmla="*/ 632 h 206"/>
                <a:gd name="T4" fmla="*/ 1093 w 446"/>
                <a:gd name="T5" fmla="*/ 166 h 206"/>
                <a:gd name="T6" fmla="*/ 1863 w 446"/>
                <a:gd name="T7" fmla="*/ 41 h 206"/>
                <a:gd name="T8" fmla="*/ 2773 w 446"/>
                <a:gd name="T9" fmla="*/ 413 h 206"/>
                <a:gd name="T10" fmla="*/ 3298 w 446"/>
                <a:gd name="T11" fmla="*/ 1225 h 206"/>
                <a:gd name="T12" fmla="*/ 3275 w 446"/>
                <a:gd name="T13" fmla="*/ 1696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02" name="Oval 12"/>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pic>
        <p:nvPicPr>
          <p:cNvPr id="1026" name="Picture 2" descr="C:\Users\trhoades\AppData\Local\Microsoft\Windows\Temporary Internet Files\Content.IE5\D7XG8TBA\MP900402701[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08068" y="3105149"/>
            <a:ext cx="2115582" cy="3171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pic>
        <p:nvPicPr>
          <p:cNvPr id="36" name="Picture 2" descr="C:\Users\trhoades\AppData\Local\Microsoft\Windows\Temporary Internet Files\Content.IE5\D7XG8TBA\MP900402701[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8068" y="3105149"/>
            <a:ext cx="2115582" cy="3171825"/>
          </a:xfrm>
          <a:prstGeom prst="rect">
            <a:avLst/>
          </a:prstGeom>
          <a:noFill/>
          <a:extLst>
            <a:ext uri="{909E8E84-426E-40DD-AFC4-6F175D3DCCD1}">
              <a14:hiddenFill xmlns:a14="http://schemas.microsoft.com/office/drawing/2010/main">
                <a:solidFill>
                  <a:srgbClr val="FFFFFF"/>
                </a:solidFill>
              </a14:hiddenFill>
            </a:ext>
          </a:extLst>
        </p:spPr>
      </p:pic>
      <p:sp>
        <p:nvSpPr>
          <p:cNvPr id="9218" name="Rectangle 2"/>
          <p:cNvSpPr>
            <a:spLocks noGrp="1" noChangeArrowheads="1"/>
          </p:cNvSpPr>
          <p:nvPr>
            <p:ph type="title"/>
          </p:nvPr>
        </p:nvSpPr>
        <p:spPr/>
        <p:txBody>
          <a:bodyPr/>
          <a:lstStyle/>
          <a:p>
            <a:r>
              <a:rPr lang="en-US" dirty="0" smtClean="0"/>
              <a:t>Phase 2: Adjudication</a:t>
            </a:r>
          </a:p>
        </p:txBody>
      </p:sp>
      <p:pic>
        <p:nvPicPr>
          <p:cNvPr id="9219" name="Picture 3" descr="automobile_crash_Honda_95870_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2125" y="3105150"/>
            <a:ext cx="476250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4"/>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22" name="Text Box 6"/>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9221" name="Rectangle 5"/>
          <p:cNvSpPr>
            <a:spLocks noChangeArrowheads="1"/>
          </p:cNvSpPr>
          <p:nvPr/>
        </p:nvSpPr>
        <p:spPr bwMode="auto">
          <a:xfrm>
            <a:off x="733425" y="2992438"/>
            <a:ext cx="2925763" cy="481012"/>
          </a:xfrm>
          <a:prstGeom prst="rect">
            <a:avLst/>
          </a:prstGeom>
          <a:solidFill>
            <a:schemeClr val="tx1"/>
          </a:solidFill>
          <a:ln w="28575" algn="ctr">
            <a:solidFill>
              <a:schemeClr val="bg1"/>
            </a:solidFill>
            <a:miter lim="800000"/>
            <a:headEnd/>
            <a:tailEnd/>
          </a:ln>
          <a:extLst/>
        </p:spPr>
        <p:txBody>
          <a:bodyPr lIns="0" tIns="0" rIns="0" bIns="0" anchor="ctr">
            <a:spAutoFit/>
          </a:bodyPr>
          <a:lstStyle/>
          <a:p>
            <a:endParaRPr lang="en-US"/>
          </a:p>
        </p:txBody>
      </p:sp>
      <p:sp>
        <p:nvSpPr>
          <p:cNvPr id="9223" name="Text Box 7"/>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Adjudication</a:t>
            </a:r>
          </a:p>
        </p:txBody>
      </p:sp>
      <p:sp>
        <p:nvSpPr>
          <p:cNvPr id="9224" name="Line 8"/>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25" name="Group 9"/>
          <p:cNvGrpSpPr>
            <a:grpSpLocks/>
          </p:cNvGrpSpPr>
          <p:nvPr/>
        </p:nvGrpSpPr>
        <p:grpSpPr bwMode="auto">
          <a:xfrm>
            <a:off x="3403600" y="3195638"/>
            <a:ext cx="1600200" cy="649287"/>
            <a:chOff x="956" y="3106"/>
            <a:chExt cx="1008" cy="409"/>
          </a:xfrm>
        </p:grpSpPr>
        <p:sp>
          <p:nvSpPr>
            <p:cNvPr id="9250" name="Rectangle 10"/>
            <p:cNvSpPr>
              <a:spLocks noChangeArrowheads="1"/>
            </p:cNvSpPr>
            <p:nvPr/>
          </p:nvSpPr>
          <p:spPr bwMode="auto">
            <a:xfrm>
              <a:off x="956" y="3106"/>
              <a:ext cx="1008" cy="409"/>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9251" name="Text Box 11"/>
            <p:cNvSpPr txBox="1">
              <a:spLocks noChangeArrowheads="1"/>
            </p:cNvSpPr>
            <p:nvPr/>
          </p:nvSpPr>
          <p:spPr bwMode="auto">
            <a:xfrm>
              <a:off x="998" y="3137"/>
              <a:ext cx="92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Loss</a:t>
              </a:r>
              <a:br>
                <a:rPr lang="en-US" sz="1800" b="1"/>
              </a:br>
              <a:r>
                <a:rPr lang="en-US" sz="1800" b="1"/>
                <a:t>Assessment</a:t>
              </a:r>
            </a:p>
          </p:txBody>
        </p:sp>
      </p:grpSp>
      <p:grpSp>
        <p:nvGrpSpPr>
          <p:cNvPr id="9226" name="Group 12"/>
          <p:cNvGrpSpPr>
            <a:grpSpLocks/>
          </p:cNvGrpSpPr>
          <p:nvPr/>
        </p:nvGrpSpPr>
        <p:grpSpPr bwMode="auto">
          <a:xfrm>
            <a:off x="3402013" y="2547938"/>
            <a:ext cx="1600200" cy="649287"/>
            <a:chOff x="2497" y="1204"/>
            <a:chExt cx="1008" cy="409"/>
          </a:xfrm>
        </p:grpSpPr>
        <p:sp>
          <p:nvSpPr>
            <p:cNvPr id="9248" name="Rectangle 13"/>
            <p:cNvSpPr>
              <a:spLocks noChangeArrowheads="1"/>
            </p:cNvSpPr>
            <p:nvPr/>
          </p:nvSpPr>
          <p:spPr bwMode="auto">
            <a:xfrm>
              <a:off x="2497" y="1204"/>
              <a:ext cx="1008" cy="409"/>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9249" name="Text Box 14"/>
            <p:cNvSpPr txBox="1">
              <a:spLocks noChangeArrowheads="1"/>
            </p:cNvSpPr>
            <p:nvPr/>
          </p:nvSpPr>
          <p:spPr bwMode="auto">
            <a:xfrm>
              <a:off x="2539" y="1235"/>
              <a:ext cx="92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Discovery/</a:t>
              </a:r>
              <a:br>
                <a:rPr lang="en-US" sz="1800" b="1"/>
              </a:br>
              <a:r>
                <a:rPr lang="en-US" sz="1800" b="1"/>
                <a:t>Investigation</a:t>
              </a:r>
            </a:p>
          </p:txBody>
        </p:sp>
      </p:grpSp>
      <p:grpSp>
        <p:nvGrpSpPr>
          <p:cNvPr id="9227" name="Group 15"/>
          <p:cNvGrpSpPr>
            <a:grpSpLocks/>
          </p:cNvGrpSpPr>
          <p:nvPr/>
        </p:nvGrpSpPr>
        <p:grpSpPr bwMode="auto">
          <a:xfrm>
            <a:off x="5970588" y="1706563"/>
            <a:ext cx="1350962" cy="1662112"/>
            <a:chOff x="4855" y="2368"/>
            <a:chExt cx="583" cy="717"/>
          </a:xfrm>
        </p:grpSpPr>
        <p:pic>
          <p:nvPicPr>
            <p:cNvPr id="9229" name="Picture 16"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08" y="2446"/>
              <a:ext cx="430" cy="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0" name="Freeform 17"/>
            <p:cNvSpPr>
              <a:spLocks/>
            </p:cNvSpPr>
            <p:nvPr/>
          </p:nvSpPr>
          <p:spPr bwMode="auto">
            <a:xfrm>
              <a:off x="4855" y="2368"/>
              <a:ext cx="160" cy="704"/>
            </a:xfrm>
            <a:custGeom>
              <a:avLst/>
              <a:gdLst>
                <a:gd name="T0" fmla="*/ 1 w 253"/>
                <a:gd name="T1" fmla="*/ 0 h 2449"/>
                <a:gd name="T2" fmla="*/ 37 w 253"/>
                <a:gd name="T3" fmla="*/ 0 h 2449"/>
                <a:gd name="T4" fmla="*/ 37 w 253"/>
                <a:gd name="T5" fmla="*/ 3 h 2449"/>
                <a:gd name="T6" fmla="*/ 39 w 253"/>
                <a:gd name="T7" fmla="*/ 7 h 2449"/>
                <a:gd name="T8" fmla="*/ 40 w 253"/>
                <a:gd name="T9" fmla="*/ 12 h 2449"/>
                <a:gd name="T10" fmla="*/ 40 w 253"/>
                <a:gd name="T11" fmla="*/ 17 h 2449"/>
                <a:gd name="T12" fmla="*/ 3 w 253"/>
                <a:gd name="T13" fmla="*/ 17 h 2449"/>
                <a:gd name="T14" fmla="*/ 3 w 253"/>
                <a:gd name="T15" fmla="*/ 12 h 2449"/>
                <a:gd name="T16" fmla="*/ 0 w 253"/>
                <a:gd name="T17" fmla="*/ 7 h 2449"/>
                <a:gd name="T18" fmla="*/ 1 w 253"/>
                <a:gd name="T19" fmla="*/ 0 h 2449"/>
                <a:gd name="T20" fmla="*/ 1 w 253"/>
                <a:gd name="T21" fmla="*/ 0 h 24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3"/>
                <a:gd name="T34" fmla="*/ 0 h 2449"/>
                <a:gd name="T35" fmla="*/ 253 w 253"/>
                <a:gd name="T36" fmla="*/ 2449 h 24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3" h="2449">
                  <a:moveTo>
                    <a:pt x="2" y="0"/>
                  </a:moveTo>
                  <a:lnTo>
                    <a:pt x="236" y="0"/>
                  </a:lnTo>
                  <a:lnTo>
                    <a:pt x="236" y="428"/>
                  </a:lnTo>
                  <a:lnTo>
                    <a:pt x="245" y="996"/>
                  </a:lnTo>
                  <a:lnTo>
                    <a:pt x="253" y="1812"/>
                  </a:lnTo>
                  <a:lnTo>
                    <a:pt x="249" y="2449"/>
                  </a:lnTo>
                  <a:lnTo>
                    <a:pt x="19" y="2449"/>
                  </a:lnTo>
                  <a:lnTo>
                    <a:pt x="15" y="1772"/>
                  </a:lnTo>
                  <a:lnTo>
                    <a:pt x="0" y="1055"/>
                  </a:lnTo>
                  <a:lnTo>
                    <a:pt x="2" y="0"/>
                  </a:lnTo>
                  <a:close/>
                </a:path>
              </a:pathLst>
            </a:custGeom>
            <a:solidFill>
              <a:srgbClr val="CC9900"/>
            </a:solidFill>
            <a:ln w="12700">
              <a:solidFill>
                <a:srgbClr val="000000"/>
              </a:solidFill>
              <a:round/>
              <a:headEnd/>
              <a:tailEnd/>
            </a:ln>
          </p:spPr>
          <p:txBody>
            <a:bodyPr/>
            <a:lstStyle/>
            <a:p>
              <a:endParaRPr lang="en-US"/>
            </a:p>
          </p:txBody>
        </p:sp>
        <p:sp>
          <p:nvSpPr>
            <p:cNvPr id="9231" name="Freeform 18"/>
            <p:cNvSpPr>
              <a:spLocks/>
            </p:cNvSpPr>
            <p:nvPr/>
          </p:nvSpPr>
          <p:spPr bwMode="auto">
            <a:xfrm>
              <a:off x="4976" y="2968"/>
              <a:ext cx="30" cy="22"/>
            </a:xfrm>
            <a:custGeom>
              <a:avLst/>
              <a:gdLst>
                <a:gd name="T0" fmla="*/ 2 w 76"/>
                <a:gd name="T1" fmla="*/ 1 h 57"/>
                <a:gd name="T2" fmla="*/ 0 w 76"/>
                <a:gd name="T3" fmla="*/ 1 h 57"/>
                <a:gd name="T4" fmla="*/ 0 w 76"/>
                <a:gd name="T5" fmla="*/ 0 h 57"/>
                <a:gd name="T6" fmla="*/ 2 w 76"/>
                <a:gd name="T7" fmla="*/ 0 h 57"/>
                <a:gd name="T8" fmla="*/ 2 w 76"/>
                <a:gd name="T9" fmla="*/ 1 h 57"/>
                <a:gd name="T10" fmla="*/ 2 w 76"/>
                <a:gd name="T11" fmla="*/ 1 h 57"/>
                <a:gd name="T12" fmla="*/ 0 60000 65536"/>
                <a:gd name="T13" fmla="*/ 0 60000 65536"/>
                <a:gd name="T14" fmla="*/ 0 60000 65536"/>
                <a:gd name="T15" fmla="*/ 0 60000 65536"/>
                <a:gd name="T16" fmla="*/ 0 60000 65536"/>
                <a:gd name="T17" fmla="*/ 0 60000 65536"/>
                <a:gd name="T18" fmla="*/ 0 w 76"/>
                <a:gd name="T19" fmla="*/ 0 h 57"/>
                <a:gd name="T20" fmla="*/ 76 w 76"/>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76" h="57">
                  <a:moveTo>
                    <a:pt x="69" y="57"/>
                  </a:moveTo>
                  <a:lnTo>
                    <a:pt x="2" y="55"/>
                  </a:lnTo>
                  <a:lnTo>
                    <a:pt x="0" y="2"/>
                  </a:lnTo>
                  <a:lnTo>
                    <a:pt x="76" y="0"/>
                  </a:lnTo>
                  <a:lnTo>
                    <a:pt x="69" y="57"/>
                  </a:lnTo>
                  <a:close/>
                </a:path>
              </a:pathLst>
            </a:custGeom>
            <a:solidFill>
              <a:srgbClr val="000000"/>
            </a:solidFill>
            <a:ln w="12700">
              <a:solidFill>
                <a:srgbClr val="000000"/>
              </a:solidFill>
              <a:round/>
              <a:headEnd/>
              <a:tailEnd/>
            </a:ln>
          </p:spPr>
          <p:txBody>
            <a:bodyPr/>
            <a:lstStyle/>
            <a:p>
              <a:endParaRPr lang="en-US"/>
            </a:p>
          </p:txBody>
        </p:sp>
        <p:sp>
          <p:nvSpPr>
            <p:cNvPr id="9232" name="Freeform 19"/>
            <p:cNvSpPr>
              <a:spLocks/>
            </p:cNvSpPr>
            <p:nvPr/>
          </p:nvSpPr>
          <p:spPr bwMode="auto">
            <a:xfrm>
              <a:off x="4951" y="2933"/>
              <a:ext cx="55" cy="17"/>
            </a:xfrm>
            <a:custGeom>
              <a:avLst/>
              <a:gdLst>
                <a:gd name="T0" fmla="*/ 3 w 141"/>
                <a:gd name="T1" fmla="*/ 1 h 44"/>
                <a:gd name="T2" fmla="*/ 0 w 141"/>
                <a:gd name="T3" fmla="*/ 1 h 44"/>
                <a:gd name="T4" fmla="*/ 0 w 141"/>
                <a:gd name="T5" fmla="*/ 0 h 44"/>
                <a:gd name="T6" fmla="*/ 3 w 141"/>
                <a:gd name="T7" fmla="*/ 0 h 44"/>
                <a:gd name="T8" fmla="*/ 3 w 141"/>
                <a:gd name="T9" fmla="*/ 1 h 44"/>
                <a:gd name="T10" fmla="*/ 3 w 141"/>
                <a:gd name="T11" fmla="*/ 1 h 44"/>
                <a:gd name="T12" fmla="*/ 0 60000 65536"/>
                <a:gd name="T13" fmla="*/ 0 60000 65536"/>
                <a:gd name="T14" fmla="*/ 0 60000 65536"/>
                <a:gd name="T15" fmla="*/ 0 60000 65536"/>
                <a:gd name="T16" fmla="*/ 0 60000 65536"/>
                <a:gd name="T17" fmla="*/ 0 60000 65536"/>
                <a:gd name="T18" fmla="*/ 0 w 141"/>
                <a:gd name="T19" fmla="*/ 0 h 44"/>
                <a:gd name="T20" fmla="*/ 141 w 141"/>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41" h="44">
                  <a:moveTo>
                    <a:pt x="135" y="44"/>
                  </a:moveTo>
                  <a:lnTo>
                    <a:pt x="0" y="44"/>
                  </a:lnTo>
                  <a:lnTo>
                    <a:pt x="0" y="0"/>
                  </a:lnTo>
                  <a:lnTo>
                    <a:pt x="141" y="0"/>
                  </a:lnTo>
                  <a:lnTo>
                    <a:pt x="135" y="44"/>
                  </a:lnTo>
                  <a:close/>
                </a:path>
              </a:pathLst>
            </a:custGeom>
            <a:solidFill>
              <a:srgbClr val="000000"/>
            </a:solidFill>
            <a:ln w="12700">
              <a:solidFill>
                <a:srgbClr val="000000"/>
              </a:solidFill>
              <a:round/>
              <a:headEnd/>
              <a:tailEnd/>
            </a:ln>
          </p:spPr>
          <p:txBody>
            <a:bodyPr/>
            <a:lstStyle/>
            <a:p>
              <a:endParaRPr lang="en-US"/>
            </a:p>
          </p:txBody>
        </p:sp>
        <p:sp>
          <p:nvSpPr>
            <p:cNvPr id="9233" name="Freeform 20"/>
            <p:cNvSpPr>
              <a:spLocks/>
            </p:cNvSpPr>
            <p:nvPr/>
          </p:nvSpPr>
          <p:spPr bwMode="auto">
            <a:xfrm>
              <a:off x="4976" y="2887"/>
              <a:ext cx="30" cy="23"/>
            </a:xfrm>
            <a:custGeom>
              <a:avLst/>
              <a:gdLst>
                <a:gd name="T0" fmla="*/ 2 w 78"/>
                <a:gd name="T1" fmla="*/ 2 h 59"/>
                <a:gd name="T2" fmla="*/ 0 w 78"/>
                <a:gd name="T3" fmla="*/ 1 h 59"/>
                <a:gd name="T4" fmla="*/ 0 w 78"/>
                <a:gd name="T5" fmla="*/ 0 h 59"/>
                <a:gd name="T6" fmla="*/ 2 w 78"/>
                <a:gd name="T7" fmla="*/ 0 h 59"/>
                <a:gd name="T8" fmla="*/ 2 w 78"/>
                <a:gd name="T9" fmla="*/ 2 h 59"/>
                <a:gd name="T10" fmla="*/ 2 w 78"/>
                <a:gd name="T11" fmla="*/ 2 h 59"/>
                <a:gd name="T12" fmla="*/ 0 60000 65536"/>
                <a:gd name="T13" fmla="*/ 0 60000 65536"/>
                <a:gd name="T14" fmla="*/ 0 60000 65536"/>
                <a:gd name="T15" fmla="*/ 0 60000 65536"/>
                <a:gd name="T16" fmla="*/ 0 60000 65536"/>
                <a:gd name="T17" fmla="*/ 0 60000 65536"/>
                <a:gd name="T18" fmla="*/ 0 w 78"/>
                <a:gd name="T19" fmla="*/ 0 h 59"/>
                <a:gd name="T20" fmla="*/ 78 w 7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78" h="59">
                  <a:moveTo>
                    <a:pt x="67" y="59"/>
                  </a:moveTo>
                  <a:lnTo>
                    <a:pt x="2" y="55"/>
                  </a:lnTo>
                  <a:lnTo>
                    <a:pt x="0" y="2"/>
                  </a:lnTo>
                  <a:lnTo>
                    <a:pt x="78" y="0"/>
                  </a:lnTo>
                  <a:lnTo>
                    <a:pt x="67" y="59"/>
                  </a:lnTo>
                  <a:close/>
                </a:path>
              </a:pathLst>
            </a:custGeom>
            <a:solidFill>
              <a:srgbClr val="000000"/>
            </a:solidFill>
            <a:ln w="12700">
              <a:solidFill>
                <a:srgbClr val="000000"/>
              </a:solidFill>
              <a:round/>
              <a:headEnd/>
              <a:tailEnd/>
            </a:ln>
          </p:spPr>
          <p:txBody>
            <a:bodyPr/>
            <a:lstStyle/>
            <a:p>
              <a:endParaRPr lang="en-US"/>
            </a:p>
          </p:txBody>
        </p:sp>
        <p:sp>
          <p:nvSpPr>
            <p:cNvPr id="9234" name="Freeform 21"/>
            <p:cNvSpPr>
              <a:spLocks/>
            </p:cNvSpPr>
            <p:nvPr/>
          </p:nvSpPr>
          <p:spPr bwMode="auto">
            <a:xfrm>
              <a:off x="4952" y="2851"/>
              <a:ext cx="54" cy="17"/>
            </a:xfrm>
            <a:custGeom>
              <a:avLst/>
              <a:gdLst>
                <a:gd name="T0" fmla="*/ 3 w 139"/>
                <a:gd name="T1" fmla="*/ 1 h 43"/>
                <a:gd name="T2" fmla="*/ 0 w 139"/>
                <a:gd name="T3" fmla="*/ 1 h 43"/>
                <a:gd name="T4" fmla="*/ 0 w 139"/>
                <a:gd name="T5" fmla="*/ 0 h 43"/>
                <a:gd name="T6" fmla="*/ 3 w 139"/>
                <a:gd name="T7" fmla="*/ 0 h 43"/>
                <a:gd name="T8" fmla="*/ 3 w 139"/>
                <a:gd name="T9" fmla="*/ 1 h 43"/>
                <a:gd name="T10" fmla="*/ 3 w 139"/>
                <a:gd name="T11" fmla="*/ 1 h 43"/>
                <a:gd name="T12" fmla="*/ 0 60000 65536"/>
                <a:gd name="T13" fmla="*/ 0 60000 65536"/>
                <a:gd name="T14" fmla="*/ 0 60000 65536"/>
                <a:gd name="T15" fmla="*/ 0 60000 65536"/>
                <a:gd name="T16" fmla="*/ 0 60000 65536"/>
                <a:gd name="T17" fmla="*/ 0 60000 65536"/>
                <a:gd name="T18" fmla="*/ 0 w 139"/>
                <a:gd name="T19" fmla="*/ 0 h 43"/>
                <a:gd name="T20" fmla="*/ 139 w 139"/>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139" h="43">
                  <a:moveTo>
                    <a:pt x="135" y="43"/>
                  </a:moveTo>
                  <a:lnTo>
                    <a:pt x="0" y="43"/>
                  </a:lnTo>
                  <a:lnTo>
                    <a:pt x="0" y="2"/>
                  </a:lnTo>
                  <a:lnTo>
                    <a:pt x="139" y="0"/>
                  </a:lnTo>
                  <a:lnTo>
                    <a:pt x="135" y="43"/>
                  </a:lnTo>
                  <a:close/>
                </a:path>
              </a:pathLst>
            </a:custGeom>
            <a:solidFill>
              <a:srgbClr val="000000"/>
            </a:solidFill>
            <a:ln w="12700">
              <a:solidFill>
                <a:srgbClr val="000000"/>
              </a:solidFill>
              <a:round/>
              <a:headEnd/>
              <a:tailEnd/>
            </a:ln>
          </p:spPr>
          <p:txBody>
            <a:bodyPr/>
            <a:lstStyle/>
            <a:p>
              <a:endParaRPr lang="en-US"/>
            </a:p>
          </p:txBody>
        </p:sp>
        <p:sp>
          <p:nvSpPr>
            <p:cNvPr id="9235" name="Freeform 22"/>
            <p:cNvSpPr>
              <a:spLocks/>
            </p:cNvSpPr>
            <p:nvPr/>
          </p:nvSpPr>
          <p:spPr bwMode="auto">
            <a:xfrm>
              <a:off x="4975" y="2805"/>
              <a:ext cx="31" cy="24"/>
            </a:xfrm>
            <a:custGeom>
              <a:avLst/>
              <a:gdLst>
                <a:gd name="T0" fmla="*/ 2 w 78"/>
                <a:gd name="T1" fmla="*/ 2 h 59"/>
                <a:gd name="T2" fmla="*/ 0 w 78"/>
                <a:gd name="T3" fmla="*/ 2 h 59"/>
                <a:gd name="T4" fmla="*/ 0 w 78"/>
                <a:gd name="T5" fmla="*/ 0 h 59"/>
                <a:gd name="T6" fmla="*/ 2 w 78"/>
                <a:gd name="T7" fmla="*/ 0 h 59"/>
                <a:gd name="T8" fmla="*/ 2 w 78"/>
                <a:gd name="T9" fmla="*/ 2 h 59"/>
                <a:gd name="T10" fmla="*/ 2 w 78"/>
                <a:gd name="T11" fmla="*/ 2 h 59"/>
                <a:gd name="T12" fmla="*/ 0 60000 65536"/>
                <a:gd name="T13" fmla="*/ 0 60000 65536"/>
                <a:gd name="T14" fmla="*/ 0 60000 65536"/>
                <a:gd name="T15" fmla="*/ 0 60000 65536"/>
                <a:gd name="T16" fmla="*/ 0 60000 65536"/>
                <a:gd name="T17" fmla="*/ 0 60000 65536"/>
                <a:gd name="T18" fmla="*/ 0 w 78"/>
                <a:gd name="T19" fmla="*/ 0 h 59"/>
                <a:gd name="T20" fmla="*/ 78 w 7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78" h="59">
                  <a:moveTo>
                    <a:pt x="67" y="59"/>
                  </a:moveTo>
                  <a:lnTo>
                    <a:pt x="0" y="57"/>
                  </a:lnTo>
                  <a:lnTo>
                    <a:pt x="0" y="4"/>
                  </a:lnTo>
                  <a:lnTo>
                    <a:pt x="78" y="0"/>
                  </a:lnTo>
                  <a:lnTo>
                    <a:pt x="67" y="59"/>
                  </a:lnTo>
                  <a:close/>
                </a:path>
              </a:pathLst>
            </a:custGeom>
            <a:solidFill>
              <a:srgbClr val="000000"/>
            </a:solidFill>
            <a:ln w="12700">
              <a:solidFill>
                <a:srgbClr val="000000"/>
              </a:solidFill>
              <a:round/>
              <a:headEnd/>
              <a:tailEnd/>
            </a:ln>
          </p:spPr>
          <p:txBody>
            <a:bodyPr/>
            <a:lstStyle/>
            <a:p>
              <a:endParaRPr lang="en-US"/>
            </a:p>
          </p:txBody>
        </p:sp>
        <p:sp>
          <p:nvSpPr>
            <p:cNvPr id="9236" name="Freeform 23"/>
            <p:cNvSpPr>
              <a:spLocks/>
            </p:cNvSpPr>
            <p:nvPr/>
          </p:nvSpPr>
          <p:spPr bwMode="auto">
            <a:xfrm>
              <a:off x="4952" y="2771"/>
              <a:ext cx="54" cy="17"/>
            </a:xfrm>
            <a:custGeom>
              <a:avLst/>
              <a:gdLst>
                <a:gd name="T0" fmla="*/ 3 w 139"/>
                <a:gd name="T1" fmla="*/ 1 h 46"/>
                <a:gd name="T2" fmla="*/ 0 w 139"/>
                <a:gd name="T3" fmla="*/ 1 h 46"/>
                <a:gd name="T4" fmla="*/ 0 w 139"/>
                <a:gd name="T5" fmla="*/ 0 h 46"/>
                <a:gd name="T6" fmla="*/ 3 w 139"/>
                <a:gd name="T7" fmla="*/ 0 h 46"/>
                <a:gd name="T8" fmla="*/ 3 w 139"/>
                <a:gd name="T9" fmla="*/ 1 h 46"/>
                <a:gd name="T10" fmla="*/ 3 w 139"/>
                <a:gd name="T11" fmla="*/ 1 h 46"/>
                <a:gd name="T12" fmla="*/ 0 60000 65536"/>
                <a:gd name="T13" fmla="*/ 0 60000 65536"/>
                <a:gd name="T14" fmla="*/ 0 60000 65536"/>
                <a:gd name="T15" fmla="*/ 0 60000 65536"/>
                <a:gd name="T16" fmla="*/ 0 60000 65536"/>
                <a:gd name="T17" fmla="*/ 0 60000 65536"/>
                <a:gd name="T18" fmla="*/ 0 w 139"/>
                <a:gd name="T19" fmla="*/ 0 h 46"/>
                <a:gd name="T20" fmla="*/ 139 w 139"/>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139" h="46">
                  <a:moveTo>
                    <a:pt x="135" y="46"/>
                  </a:moveTo>
                  <a:lnTo>
                    <a:pt x="0" y="46"/>
                  </a:lnTo>
                  <a:lnTo>
                    <a:pt x="0" y="0"/>
                  </a:lnTo>
                  <a:lnTo>
                    <a:pt x="139" y="0"/>
                  </a:lnTo>
                  <a:lnTo>
                    <a:pt x="135" y="46"/>
                  </a:lnTo>
                  <a:close/>
                </a:path>
              </a:pathLst>
            </a:custGeom>
            <a:solidFill>
              <a:srgbClr val="000000"/>
            </a:solidFill>
            <a:ln w="12700">
              <a:solidFill>
                <a:srgbClr val="000000"/>
              </a:solidFill>
              <a:round/>
              <a:headEnd/>
              <a:tailEnd/>
            </a:ln>
          </p:spPr>
          <p:txBody>
            <a:bodyPr/>
            <a:lstStyle/>
            <a:p>
              <a:endParaRPr lang="en-US"/>
            </a:p>
          </p:txBody>
        </p:sp>
        <p:sp>
          <p:nvSpPr>
            <p:cNvPr id="9237" name="Freeform 24"/>
            <p:cNvSpPr>
              <a:spLocks/>
            </p:cNvSpPr>
            <p:nvPr/>
          </p:nvSpPr>
          <p:spPr bwMode="auto">
            <a:xfrm>
              <a:off x="4975" y="2725"/>
              <a:ext cx="31" cy="24"/>
            </a:xfrm>
            <a:custGeom>
              <a:avLst/>
              <a:gdLst>
                <a:gd name="T0" fmla="*/ 2 w 78"/>
                <a:gd name="T1" fmla="*/ 2 h 61"/>
                <a:gd name="T2" fmla="*/ 0 w 78"/>
                <a:gd name="T3" fmla="*/ 2 h 61"/>
                <a:gd name="T4" fmla="*/ 0 w 78"/>
                <a:gd name="T5" fmla="*/ 0 h 61"/>
                <a:gd name="T6" fmla="*/ 2 w 78"/>
                <a:gd name="T7" fmla="*/ 0 h 61"/>
                <a:gd name="T8" fmla="*/ 2 w 78"/>
                <a:gd name="T9" fmla="*/ 2 h 61"/>
                <a:gd name="T10" fmla="*/ 2 w 78"/>
                <a:gd name="T11" fmla="*/ 2 h 61"/>
                <a:gd name="T12" fmla="*/ 0 60000 65536"/>
                <a:gd name="T13" fmla="*/ 0 60000 65536"/>
                <a:gd name="T14" fmla="*/ 0 60000 65536"/>
                <a:gd name="T15" fmla="*/ 0 60000 65536"/>
                <a:gd name="T16" fmla="*/ 0 60000 65536"/>
                <a:gd name="T17" fmla="*/ 0 60000 65536"/>
                <a:gd name="T18" fmla="*/ 0 w 78"/>
                <a:gd name="T19" fmla="*/ 0 h 61"/>
                <a:gd name="T20" fmla="*/ 78 w 78"/>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78" h="61">
                  <a:moveTo>
                    <a:pt x="70" y="61"/>
                  </a:moveTo>
                  <a:lnTo>
                    <a:pt x="2" y="57"/>
                  </a:lnTo>
                  <a:lnTo>
                    <a:pt x="0" y="2"/>
                  </a:lnTo>
                  <a:lnTo>
                    <a:pt x="78" y="0"/>
                  </a:lnTo>
                  <a:lnTo>
                    <a:pt x="70" y="61"/>
                  </a:lnTo>
                  <a:close/>
                </a:path>
              </a:pathLst>
            </a:custGeom>
            <a:solidFill>
              <a:srgbClr val="000000"/>
            </a:solidFill>
            <a:ln w="12700">
              <a:solidFill>
                <a:srgbClr val="000000"/>
              </a:solidFill>
              <a:round/>
              <a:headEnd/>
              <a:tailEnd/>
            </a:ln>
          </p:spPr>
          <p:txBody>
            <a:bodyPr/>
            <a:lstStyle/>
            <a:p>
              <a:endParaRPr lang="en-US"/>
            </a:p>
          </p:txBody>
        </p:sp>
        <p:sp>
          <p:nvSpPr>
            <p:cNvPr id="9238" name="Freeform 25"/>
            <p:cNvSpPr>
              <a:spLocks/>
            </p:cNvSpPr>
            <p:nvPr/>
          </p:nvSpPr>
          <p:spPr bwMode="auto">
            <a:xfrm>
              <a:off x="4951" y="2690"/>
              <a:ext cx="55" cy="17"/>
            </a:xfrm>
            <a:custGeom>
              <a:avLst/>
              <a:gdLst>
                <a:gd name="T0" fmla="*/ 3 w 139"/>
                <a:gd name="T1" fmla="*/ 1 h 44"/>
                <a:gd name="T2" fmla="*/ 0 w 139"/>
                <a:gd name="T3" fmla="*/ 1 h 44"/>
                <a:gd name="T4" fmla="*/ 0 w 139"/>
                <a:gd name="T5" fmla="*/ 0 h 44"/>
                <a:gd name="T6" fmla="*/ 4 w 139"/>
                <a:gd name="T7" fmla="*/ 0 h 44"/>
                <a:gd name="T8" fmla="*/ 3 w 139"/>
                <a:gd name="T9" fmla="*/ 1 h 44"/>
                <a:gd name="T10" fmla="*/ 3 w 139"/>
                <a:gd name="T11" fmla="*/ 1 h 44"/>
                <a:gd name="T12" fmla="*/ 0 60000 65536"/>
                <a:gd name="T13" fmla="*/ 0 60000 65536"/>
                <a:gd name="T14" fmla="*/ 0 60000 65536"/>
                <a:gd name="T15" fmla="*/ 0 60000 65536"/>
                <a:gd name="T16" fmla="*/ 0 60000 65536"/>
                <a:gd name="T17" fmla="*/ 0 60000 65536"/>
                <a:gd name="T18" fmla="*/ 0 w 139"/>
                <a:gd name="T19" fmla="*/ 0 h 44"/>
                <a:gd name="T20" fmla="*/ 139 w 139"/>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39" h="44">
                  <a:moveTo>
                    <a:pt x="135" y="44"/>
                  </a:moveTo>
                  <a:lnTo>
                    <a:pt x="0" y="44"/>
                  </a:lnTo>
                  <a:lnTo>
                    <a:pt x="0" y="2"/>
                  </a:lnTo>
                  <a:lnTo>
                    <a:pt x="139" y="0"/>
                  </a:lnTo>
                  <a:lnTo>
                    <a:pt x="135" y="44"/>
                  </a:lnTo>
                  <a:close/>
                </a:path>
              </a:pathLst>
            </a:custGeom>
            <a:solidFill>
              <a:srgbClr val="000000"/>
            </a:solidFill>
            <a:ln w="12700">
              <a:solidFill>
                <a:srgbClr val="000000"/>
              </a:solidFill>
              <a:round/>
              <a:headEnd/>
              <a:tailEnd/>
            </a:ln>
          </p:spPr>
          <p:txBody>
            <a:bodyPr/>
            <a:lstStyle/>
            <a:p>
              <a:endParaRPr lang="en-US"/>
            </a:p>
          </p:txBody>
        </p:sp>
        <p:sp>
          <p:nvSpPr>
            <p:cNvPr id="9239" name="Freeform 26"/>
            <p:cNvSpPr>
              <a:spLocks/>
            </p:cNvSpPr>
            <p:nvPr/>
          </p:nvSpPr>
          <p:spPr bwMode="auto">
            <a:xfrm>
              <a:off x="4976" y="2644"/>
              <a:ext cx="30" cy="23"/>
            </a:xfrm>
            <a:custGeom>
              <a:avLst/>
              <a:gdLst>
                <a:gd name="T0" fmla="*/ 2 w 78"/>
                <a:gd name="T1" fmla="*/ 2 h 59"/>
                <a:gd name="T2" fmla="*/ 0 w 78"/>
                <a:gd name="T3" fmla="*/ 2 h 59"/>
                <a:gd name="T4" fmla="*/ 0 w 78"/>
                <a:gd name="T5" fmla="*/ 0 h 59"/>
                <a:gd name="T6" fmla="*/ 2 w 78"/>
                <a:gd name="T7" fmla="*/ 0 h 59"/>
                <a:gd name="T8" fmla="*/ 2 w 78"/>
                <a:gd name="T9" fmla="*/ 2 h 59"/>
                <a:gd name="T10" fmla="*/ 2 w 78"/>
                <a:gd name="T11" fmla="*/ 2 h 59"/>
                <a:gd name="T12" fmla="*/ 0 60000 65536"/>
                <a:gd name="T13" fmla="*/ 0 60000 65536"/>
                <a:gd name="T14" fmla="*/ 0 60000 65536"/>
                <a:gd name="T15" fmla="*/ 0 60000 65536"/>
                <a:gd name="T16" fmla="*/ 0 60000 65536"/>
                <a:gd name="T17" fmla="*/ 0 60000 65536"/>
                <a:gd name="T18" fmla="*/ 0 w 78"/>
                <a:gd name="T19" fmla="*/ 0 h 59"/>
                <a:gd name="T20" fmla="*/ 78 w 7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78" h="59">
                  <a:moveTo>
                    <a:pt x="67" y="59"/>
                  </a:moveTo>
                  <a:lnTo>
                    <a:pt x="2" y="57"/>
                  </a:lnTo>
                  <a:lnTo>
                    <a:pt x="0" y="4"/>
                  </a:lnTo>
                  <a:lnTo>
                    <a:pt x="78" y="0"/>
                  </a:lnTo>
                  <a:lnTo>
                    <a:pt x="67" y="59"/>
                  </a:lnTo>
                  <a:close/>
                </a:path>
              </a:pathLst>
            </a:custGeom>
            <a:solidFill>
              <a:srgbClr val="000000"/>
            </a:solidFill>
            <a:ln w="12700">
              <a:solidFill>
                <a:srgbClr val="000000"/>
              </a:solidFill>
              <a:round/>
              <a:headEnd/>
              <a:tailEnd/>
            </a:ln>
          </p:spPr>
          <p:txBody>
            <a:bodyPr/>
            <a:lstStyle/>
            <a:p>
              <a:endParaRPr lang="en-US"/>
            </a:p>
          </p:txBody>
        </p:sp>
        <p:sp>
          <p:nvSpPr>
            <p:cNvPr id="9240" name="Freeform 27"/>
            <p:cNvSpPr>
              <a:spLocks/>
            </p:cNvSpPr>
            <p:nvPr/>
          </p:nvSpPr>
          <p:spPr bwMode="auto">
            <a:xfrm>
              <a:off x="4952" y="2609"/>
              <a:ext cx="54" cy="17"/>
            </a:xfrm>
            <a:custGeom>
              <a:avLst/>
              <a:gdLst>
                <a:gd name="T0" fmla="*/ 3 w 139"/>
                <a:gd name="T1" fmla="*/ 1 h 43"/>
                <a:gd name="T2" fmla="*/ 0 w 139"/>
                <a:gd name="T3" fmla="*/ 1 h 43"/>
                <a:gd name="T4" fmla="*/ 0 w 139"/>
                <a:gd name="T5" fmla="*/ 0 h 43"/>
                <a:gd name="T6" fmla="*/ 3 w 139"/>
                <a:gd name="T7" fmla="*/ 0 h 43"/>
                <a:gd name="T8" fmla="*/ 3 w 139"/>
                <a:gd name="T9" fmla="*/ 1 h 43"/>
                <a:gd name="T10" fmla="*/ 3 w 139"/>
                <a:gd name="T11" fmla="*/ 1 h 43"/>
                <a:gd name="T12" fmla="*/ 0 60000 65536"/>
                <a:gd name="T13" fmla="*/ 0 60000 65536"/>
                <a:gd name="T14" fmla="*/ 0 60000 65536"/>
                <a:gd name="T15" fmla="*/ 0 60000 65536"/>
                <a:gd name="T16" fmla="*/ 0 60000 65536"/>
                <a:gd name="T17" fmla="*/ 0 60000 65536"/>
                <a:gd name="T18" fmla="*/ 0 w 139"/>
                <a:gd name="T19" fmla="*/ 0 h 43"/>
                <a:gd name="T20" fmla="*/ 139 w 139"/>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139" h="43">
                  <a:moveTo>
                    <a:pt x="135" y="43"/>
                  </a:moveTo>
                  <a:lnTo>
                    <a:pt x="0" y="43"/>
                  </a:lnTo>
                  <a:lnTo>
                    <a:pt x="0" y="0"/>
                  </a:lnTo>
                  <a:lnTo>
                    <a:pt x="139" y="0"/>
                  </a:lnTo>
                  <a:lnTo>
                    <a:pt x="135" y="43"/>
                  </a:lnTo>
                  <a:close/>
                </a:path>
              </a:pathLst>
            </a:custGeom>
            <a:solidFill>
              <a:srgbClr val="000000"/>
            </a:solidFill>
            <a:ln w="12700">
              <a:solidFill>
                <a:srgbClr val="000000"/>
              </a:solidFill>
              <a:round/>
              <a:headEnd/>
              <a:tailEnd/>
            </a:ln>
          </p:spPr>
          <p:txBody>
            <a:bodyPr/>
            <a:lstStyle/>
            <a:p>
              <a:endParaRPr lang="en-US"/>
            </a:p>
          </p:txBody>
        </p:sp>
        <p:sp>
          <p:nvSpPr>
            <p:cNvPr id="9241" name="Freeform 28"/>
            <p:cNvSpPr>
              <a:spLocks/>
            </p:cNvSpPr>
            <p:nvPr/>
          </p:nvSpPr>
          <p:spPr bwMode="auto">
            <a:xfrm>
              <a:off x="4976" y="2563"/>
              <a:ext cx="30" cy="24"/>
            </a:xfrm>
            <a:custGeom>
              <a:avLst/>
              <a:gdLst>
                <a:gd name="T0" fmla="*/ 2 w 76"/>
                <a:gd name="T1" fmla="*/ 2 h 59"/>
                <a:gd name="T2" fmla="*/ 0 w 76"/>
                <a:gd name="T3" fmla="*/ 2 h 59"/>
                <a:gd name="T4" fmla="*/ 0 w 76"/>
                <a:gd name="T5" fmla="*/ 0 h 59"/>
                <a:gd name="T6" fmla="*/ 2 w 76"/>
                <a:gd name="T7" fmla="*/ 0 h 59"/>
                <a:gd name="T8" fmla="*/ 2 w 76"/>
                <a:gd name="T9" fmla="*/ 2 h 59"/>
                <a:gd name="T10" fmla="*/ 2 w 76"/>
                <a:gd name="T11" fmla="*/ 2 h 59"/>
                <a:gd name="T12" fmla="*/ 0 60000 65536"/>
                <a:gd name="T13" fmla="*/ 0 60000 65536"/>
                <a:gd name="T14" fmla="*/ 0 60000 65536"/>
                <a:gd name="T15" fmla="*/ 0 60000 65536"/>
                <a:gd name="T16" fmla="*/ 0 60000 65536"/>
                <a:gd name="T17" fmla="*/ 0 60000 65536"/>
                <a:gd name="T18" fmla="*/ 0 w 76"/>
                <a:gd name="T19" fmla="*/ 0 h 59"/>
                <a:gd name="T20" fmla="*/ 76 w 76"/>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76" h="59">
                  <a:moveTo>
                    <a:pt x="67" y="59"/>
                  </a:moveTo>
                  <a:lnTo>
                    <a:pt x="2" y="57"/>
                  </a:lnTo>
                  <a:lnTo>
                    <a:pt x="0" y="2"/>
                  </a:lnTo>
                  <a:lnTo>
                    <a:pt x="76" y="0"/>
                  </a:lnTo>
                  <a:lnTo>
                    <a:pt x="67" y="59"/>
                  </a:lnTo>
                  <a:close/>
                </a:path>
              </a:pathLst>
            </a:custGeom>
            <a:solidFill>
              <a:srgbClr val="000000"/>
            </a:solidFill>
            <a:ln w="12700">
              <a:solidFill>
                <a:srgbClr val="000000"/>
              </a:solidFill>
              <a:round/>
              <a:headEnd/>
              <a:tailEnd/>
            </a:ln>
          </p:spPr>
          <p:txBody>
            <a:bodyPr/>
            <a:lstStyle/>
            <a:p>
              <a:endParaRPr lang="en-US"/>
            </a:p>
          </p:txBody>
        </p:sp>
        <p:sp>
          <p:nvSpPr>
            <p:cNvPr id="9242" name="Freeform 29"/>
            <p:cNvSpPr>
              <a:spLocks/>
            </p:cNvSpPr>
            <p:nvPr/>
          </p:nvSpPr>
          <p:spPr bwMode="auto">
            <a:xfrm>
              <a:off x="4951" y="2529"/>
              <a:ext cx="55" cy="17"/>
            </a:xfrm>
            <a:custGeom>
              <a:avLst/>
              <a:gdLst>
                <a:gd name="T0" fmla="*/ 3 w 140"/>
                <a:gd name="T1" fmla="*/ 1 h 44"/>
                <a:gd name="T2" fmla="*/ 0 w 140"/>
                <a:gd name="T3" fmla="*/ 1 h 44"/>
                <a:gd name="T4" fmla="*/ 0 w 140"/>
                <a:gd name="T5" fmla="*/ 0 h 44"/>
                <a:gd name="T6" fmla="*/ 4 w 140"/>
                <a:gd name="T7" fmla="*/ 0 h 44"/>
                <a:gd name="T8" fmla="*/ 3 w 140"/>
                <a:gd name="T9" fmla="*/ 1 h 44"/>
                <a:gd name="T10" fmla="*/ 3 w 140"/>
                <a:gd name="T11" fmla="*/ 1 h 44"/>
                <a:gd name="T12" fmla="*/ 0 60000 65536"/>
                <a:gd name="T13" fmla="*/ 0 60000 65536"/>
                <a:gd name="T14" fmla="*/ 0 60000 65536"/>
                <a:gd name="T15" fmla="*/ 0 60000 65536"/>
                <a:gd name="T16" fmla="*/ 0 60000 65536"/>
                <a:gd name="T17" fmla="*/ 0 60000 65536"/>
                <a:gd name="T18" fmla="*/ 0 w 140"/>
                <a:gd name="T19" fmla="*/ 0 h 44"/>
                <a:gd name="T20" fmla="*/ 140 w 140"/>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40" h="44">
                  <a:moveTo>
                    <a:pt x="136" y="44"/>
                  </a:moveTo>
                  <a:lnTo>
                    <a:pt x="1" y="44"/>
                  </a:lnTo>
                  <a:lnTo>
                    <a:pt x="0" y="0"/>
                  </a:lnTo>
                  <a:lnTo>
                    <a:pt x="140" y="0"/>
                  </a:lnTo>
                  <a:lnTo>
                    <a:pt x="136" y="44"/>
                  </a:lnTo>
                  <a:close/>
                </a:path>
              </a:pathLst>
            </a:custGeom>
            <a:solidFill>
              <a:srgbClr val="000000"/>
            </a:solidFill>
            <a:ln w="12700">
              <a:solidFill>
                <a:srgbClr val="000000"/>
              </a:solidFill>
              <a:round/>
              <a:headEnd/>
              <a:tailEnd/>
            </a:ln>
          </p:spPr>
          <p:txBody>
            <a:bodyPr/>
            <a:lstStyle/>
            <a:p>
              <a:endParaRPr lang="en-US"/>
            </a:p>
          </p:txBody>
        </p:sp>
        <p:sp>
          <p:nvSpPr>
            <p:cNvPr id="9243" name="Freeform 30"/>
            <p:cNvSpPr>
              <a:spLocks/>
            </p:cNvSpPr>
            <p:nvPr/>
          </p:nvSpPr>
          <p:spPr bwMode="auto">
            <a:xfrm>
              <a:off x="4977" y="2401"/>
              <a:ext cx="29" cy="24"/>
            </a:xfrm>
            <a:custGeom>
              <a:avLst/>
              <a:gdLst>
                <a:gd name="T0" fmla="*/ 2 w 76"/>
                <a:gd name="T1" fmla="*/ 2 h 61"/>
                <a:gd name="T2" fmla="*/ 0 w 76"/>
                <a:gd name="T3" fmla="*/ 2 h 61"/>
                <a:gd name="T4" fmla="*/ 0 w 76"/>
                <a:gd name="T5" fmla="*/ 0 h 61"/>
                <a:gd name="T6" fmla="*/ 2 w 76"/>
                <a:gd name="T7" fmla="*/ 0 h 61"/>
                <a:gd name="T8" fmla="*/ 2 w 76"/>
                <a:gd name="T9" fmla="*/ 2 h 61"/>
                <a:gd name="T10" fmla="*/ 2 w 76"/>
                <a:gd name="T11" fmla="*/ 2 h 61"/>
                <a:gd name="T12" fmla="*/ 0 60000 65536"/>
                <a:gd name="T13" fmla="*/ 0 60000 65536"/>
                <a:gd name="T14" fmla="*/ 0 60000 65536"/>
                <a:gd name="T15" fmla="*/ 0 60000 65536"/>
                <a:gd name="T16" fmla="*/ 0 60000 65536"/>
                <a:gd name="T17" fmla="*/ 0 60000 65536"/>
                <a:gd name="T18" fmla="*/ 0 w 76"/>
                <a:gd name="T19" fmla="*/ 0 h 61"/>
                <a:gd name="T20" fmla="*/ 76 w 76"/>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76" h="61">
                  <a:moveTo>
                    <a:pt x="68" y="61"/>
                  </a:moveTo>
                  <a:lnTo>
                    <a:pt x="2" y="57"/>
                  </a:lnTo>
                  <a:lnTo>
                    <a:pt x="0" y="4"/>
                  </a:lnTo>
                  <a:lnTo>
                    <a:pt x="76" y="0"/>
                  </a:lnTo>
                  <a:lnTo>
                    <a:pt x="68" y="61"/>
                  </a:lnTo>
                  <a:close/>
                </a:path>
              </a:pathLst>
            </a:custGeom>
            <a:solidFill>
              <a:srgbClr val="000000"/>
            </a:solidFill>
            <a:ln w="12700">
              <a:solidFill>
                <a:srgbClr val="000000"/>
              </a:solidFill>
              <a:round/>
              <a:headEnd/>
              <a:tailEnd/>
            </a:ln>
          </p:spPr>
          <p:txBody>
            <a:bodyPr/>
            <a:lstStyle/>
            <a:p>
              <a:endParaRPr lang="en-US"/>
            </a:p>
          </p:txBody>
        </p:sp>
        <p:sp>
          <p:nvSpPr>
            <p:cNvPr id="9244" name="Freeform 31"/>
            <p:cNvSpPr>
              <a:spLocks/>
            </p:cNvSpPr>
            <p:nvPr/>
          </p:nvSpPr>
          <p:spPr bwMode="auto">
            <a:xfrm>
              <a:off x="4976" y="2483"/>
              <a:ext cx="30" cy="22"/>
            </a:xfrm>
            <a:custGeom>
              <a:avLst/>
              <a:gdLst>
                <a:gd name="T0" fmla="*/ 2 w 76"/>
                <a:gd name="T1" fmla="*/ 1 h 57"/>
                <a:gd name="T2" fmla="*/ 0 w 76"/>
                <a:gd name="T3" fmla="*/ 1 h 57"/>
                <a:gd name="T4" fmla="*/ 0 w 76"/>
                <a:gd name="T5" fmla="*/ 0 h 57"/>
                <a:gd name="T6" fmla="*/ 2 w 76"/>
                <a:gd name="T7" fmla="*/ 0 h 57"/>
                <a:gd name="T8" fmla="*/ 2 w 76"/>
                <a:gd name="T9" fmla="*/ 1 h 57"/>
                <a:gd name="T10" fmla="*/ 2 w 76"/>
                <a:gd name="T11" fmla="*/ 1 h 57"/>
                <a:gd name="T12" fmla="*/ 0 60000 65536"/>
                <a:gd name="T13" fmla="*/ 0 60000 65536"/>
                <a:gd name="T14" fmla="*/ 0 60000 65536"/>
                <a:gd name="T15" fmla="*/ 0 60000 65536"/>
                <a:gd name="T16" fmla="*/ 0 60000 65536"/>
                <a:gd name="T17" fmla="*/ 0 60000 65536"/>
                <a:gd name="T18" fmla="*/ 0 w 76"/>
                <a:gd name="T19" fmla="*/ 0 h 57"/>
                <a:gd name="T20" fmla="*/ 76 w 76"/>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76" h="57">
                  <a:moveTo>
                    <a:pt x="68" y="57"/>
                  </a:moveTo>
                  <a:lnTo>
                    <a:pt x="1" y="56"/>
                  </a:lnTo>
                  <a:lnTo>
                    <a:pt x="0" y="2"/>
                  </a:lnTo>
                  <a:lnTo>
                    <a:pt x="76" y="0"/>
                  </a:lnTo>
                  <a:lnTo>
                    <a:pt x="68" y="57"/>
                  </a:lnTo>
                  <a:close/>
                </a:path>
              </a:pathLst>
            </a:custGeom>
            <a:solidFill>
              <a:srgbClr val="000000"/>
            </a:solidFill>
            <a:ln w="12700">
              <a:solidFill>
                <a:srgbClr val="000000"/>
              </a:solidFill>
              <a:round/>
              <a:headEnd/>
              <a:tailEnd/>
            </a:ln>
          </p:spPr>
          <p:txBody>
            <a:bodyPr/>
            <a:lstStyle/>
            <a:p>
              <a:endParaRPr lang="en-US"/>
            </a:p>
          </p:txBody>
        </p:sp>
        <p:sp>
          <p:nvSpPr>
            <p:cNvPr id="9245" name="Freeform 32"/>
            <p:cNvSpPr>
              <a:spLocks/>
            </p:cNvSpPr>
            <p:nvPr/>
          </p:nvSpPr>
          <p:spPr bwMode="auto">
            <a:xfrm>
              <a:off x="4952" y="2448"/>
              <a:ext cx="54" cy="17"/>
            </a:xfrm>
            <a:custGeom>
              <a:avLst/>
              <a:gdLst>
                <a:gd name="T0" fmla="*/ 3 w 138"/>
                <a:gd name="T1" fmla="*/ 1 h 44"/>
                <a:gd name="T2" fmla="*/ 0 w 138"/>
                <a:gd name="T3" fmla="*/ 1 h 44"/>
                <a:gd name="T4" fmla="*/ 0 w 138"/>
                <a:gd name="T5" fmla="*/ 0 h 44"/>
                <a:gd name="T6" fmla="*/ 3 w 138"/>
                <a:gd name="T7" fmla="*/ 0 h 44"/>
                <a:gd name="T8" fmla="*/ 3 w 138"/>
                <a:gd name="T9" fmla="*/ 1 h 44"/>
                <a:gd name="T10" fmla="*/ 3 w 138"/>
                <a:gd name="T11" fmla="*/ 1 h 44"/>
                <a:gd name="T12" fmla="*/ 0 60000 65536"/>
                <a:gd name="T13" fmla="*/ 0 60000 65536"/>
                <a:gd name="T14" fmla="*/ 0 60000 65536"/>
                <a:gd name="T15" fmla="*/ 0 60000 65536"/>
                <a:gd name="T16" fmla="*/ 0 60000 65536"/>
                <a:gd name="T17" fmla="*/ 0 60000 65536"/>
                <a:gd name="T18" fmla="*/ 0 w 138"/>
                <a:gd name="T19" fmla="*/ 0 h 44"/>
                <a:gd name="T20" fmla="*/ 138 w 138"/>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38" h="44">
                  <a:moveTo>
                    <a:pt x="135" y="44"/>
                  </a:moveTo>
                  <a:lnTo>
                    <a:pt x="0" y="44"/>
                  </a:lnTo>
                  <a:lnTo>
                    <a:pt x="0" y="0"/>
                  </a:lnTo>
                  <a:lnTo>
                    <a:pt x="138" y="0"/>
                  </a:lnTo>
                  <a:lnTo>
                    <a:pt x="135" y="44"/>
                  </a:lnTo>
                  <a:close/>
                </a:path>
              </a:pathLst>
            </a:custGeom>
            <a:solidFill>
              <a:srgbClr val="000000"/>
            </a:solidFill>
            <a:ln w="12700">
              <a:solidFill>
                <a:srgbClr val="000000"/>
              </a:solidFill>
              <a:round/>
              <a:headEnd/>
              <a:tailEnd/>
            </a:ln>
          </p:spPr>
          <p:txBody>
            <a:bodyPr/>
            <a:lstStyle/>
            <a:p>
              <a:endParaRPr lang="en-US"/>
            </a:p>
          </p:txBody>
        </p:sp>
        <p:sp>
          <p:nvSpPr>
            <p:cNvPr id="9246" name="Rectangle 33"/>
            <p:cNvSpPr>
              <a:spLocks noChangeArrowheads="1"/>
            </p:cNvSpPr>
            <p:nvPr/>
          </p:nvSpPr>
          <p:spPr bwMode="auto">
            <a:xfrm>
              <a:off x="4860" y="2372"/>
              <a:ext cx="151" cy="69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47" name="Freeform 34"/>
            <p:cNvSpPr>
              <a:spLocks/>
            </p:cNvSpPr>
            <p:nvPr/>
          </p:nvSpPr>
          <p:spPr bwMode="auto">
            <a:xfrm>
              <a:off x="4951" y="3013"/>
              <a:ext cx="55" cy="17"/>
            </a:xfrm>
            <a:custGeom>
              <a:avLst/>
              <a:gdLst>
                <a:gd name="T0" fmla="*/ 3 w 141"/>
                <a:gd name="T1" fmla="*/ 1 h 44"/>
                <a:gd name="T2" fmla="*/ 0 w 141"/>
                <a:gd name="T3" fmla="*/ 1 h 44"/>
                <a:gd name="T4" fmla="*/ 0 w 141"/>
                <a:gd name="T5" fmla="*/ 0 h 44"/>
                <a:gd name="T6" fmla="*/ 3 w 141"/>
                <a:gd name="T7" fmla="*/ 0 h 44"/>
                <a:gd name="T8" fmla="*/ 3 w 141"/>
                <a:gd name="T9" fmla="*/ 1 h 44"/>
                <a:gd name="T10" fmla="*/ 3 w 141"/>
                <a:gd name="T11" fmla="*/ 1 h 44"/>
                <a:gd name="T12" fmla="*/ 0 60000 65536"/>
                <a:gd name="T13" fmla="*/ 0 60000 65536"/>
                <a:gd name="T14" fmla="*/ 0 60000 65536"/>
                <a:gd name="T15" fmla="*/ 0 60000 65536"/>
                <a:gd name="T16" fmla="*/ 0 60000 65536"/>
                <a:gd name="T17" fmla="*/ 0 60000 65536"/>
                <a:gd name="T18" fmla="*/ 0 w 141"/>
                <a:gd name="T19" fmla="*/ 0 h 44"/>
                <a:gd name="T20" fmla="*/ 141 w 141"/>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41" h="44">
                  <a:moveTo>
                    <a:pt x="135" y="44"/>
                  </a:moveTo>
                  <a:lnTo>
                    <a:pt x="0" y="44"/>
                  </a:lnTo>
                  <a:lnTo>
                    <a:pt x="0" y="0"/>
                  </a:lnTo>
                  <a:lnTo>
                    <a:pt x="141" y="0"/>
                  </a:lnTo>
                  <a:lnTo>
                    <a:pt x="135" y="44"/>
                  </a:lnTo>
                  <a:close/>
                </a:path>
              </a:pathLst>
            </a:custGeom>
            <a:solidFill>
              <a:srgbClr val="000000"/>
            </a:solidFill>
            <a:ln w="12700">
              <a:solidFill>
                <a:srgbClr val="000000"/>
              </a:solidFill>
              <a:round/>
              <a:headEnd/>
              <a:tailEnd/>
            </a:ln>
          </p:spPr>
          <p:txBody>
            <a:bodyPr/>
            <a:lstStyle/>
            <a:p>
              <a:endParaRPr lang="en-US"/>
            </a:p>
          </p:txBody>
        </p:sp>
      </p:grpSp>
      <p:sp>
        <p:nvSpPr>
          <p:cNvPr id="9228" name="Text Box 35"/>
          <p:cNvSpPr txBox="1">
            <a:spLocks noChangeArrowheads="1"/>
          </p:cNvSpPr>
          <p:nvPr/>
        </p:nvSpPr>
        <p:spPr bwMode="auto">
          <a:xfrm>
            <a:off x="7218363" y="1660525"/>
            <a:ext cx="5238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6000" b="1">
                <a:solidFill>
                  <a:srgbClr val="33B251"/>
                </a:solidFill>
              </a:rPr>
              <a:t>?</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pic>
        <p:nvPicPr>
          <p:cNvPr id="21" name="Picture 2" descr="C:\Users\trhoades\AppData\Local\Microsoft\Windows\Temporary Internet Files\Content.IE5\D7XG8TBA\MP900402701[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8068" y="3105149"/>
            <a:ext cx="2115582" cy="3171825"/>
          </a:xfrm>
          <a:prstGeom prst="rect">
            <a:avLst/>
          </a:prstGeom>
          <a:noFill/>
          <a:extLst>
            <a:ext uri="{909E8E84-426E-40DD-AFC4-6F175D3DCCD1}">
              <a14:hiddenFill xmlns:a14="http://schemas.microsoft.com/office/drawing/2010/main">
                <a:solidFill>
                  <a:srgbClr val="FFFFFF"/>
                </a:solidFill>
              </a14:hiddenFill>
            </a:ext>
          </a:extLst>
        </p:spPr>
      </p:pic>
      <p:sp>
        <p:nvSpPr>
          <p:cNvPr id="10242" name="Rectangle 2"/>
          <p:cNvSpPr>
            <a:spLocks noGrp="1" noChangeArrowheads="1"/>
          </p:cNvSpPr>
          <p:nvPr>
            <p:ph type="title"/>
          </p:nvPr>
        </p:nvSpPr>
        <p:spPr/>
        <p:txBody>
          <a:bodyPr/>
          <a:lstStyle/>
          <a:p>
            <a:r>
              <a:rPr lang="en-US" smtClean="0"/>
              <a:t>Phase 3: Payment</a:t>
            </a:r>
          </a:p>
        </p:txBody>
      </p:sp>
      <p:pic>
        <p:nvPicPr>
          <p:cNvPr id="10243" name="Picture 3" descr="automobile_crash_Honda_95870_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2125" y="3105150"/>
            <a:ext cx="476250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4" name="Group 4"/>
          <p:cNvGrpSpPr>
            <a:grpSpLocks/>
          </p:cNvGrpSpPr>
          <p:nvPr/>
        </p:nvGrpSpPr>
        <p:grpSpPr bwMode="auto">
          <a:xfrm>
            <a:off x="7167563" y="1439863"/>
            <a:ext cx="2038350" cy="2159000"/>
            <a:chOff x="4266" y="1084"/>
            <a:chExt cx="1015" cy="1075"/>
          </a:xfrm>
        </p:grpSpPr>
        <p:sp>
          <p:nvSpPr>
            <p:cNvPr id="10253" name="AutoShape 5"/>
            <p:cNvSpPr>
              <a:spLocks noChangeArrowheads="1"/>
            </p:cNvSpPr>
            <p:nvPr/>
          </p:nvSpPr>
          <p:spPr bwMode="auto">
            <a:xfrm rot="18704765" flipH="1">
              <a:off x="4920" y="1523"/>
              <a:ext cx="142"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10254" name="AutoShape 6"/>
            <p:cNvSpPr>
              <a:spLocks noChangeArrowheads="1"/>
            </p:cNvSpPr>
            <p:nvPr/>
          </p:nvSpPr>
          <p:spPr bwMode="auto">
            <a:xfrm rot="18704765" flipH="1">
              <a:off x="4550" y="1697"/>
              <a:ext cx="142"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10255" name="AutoShape 7"/>
            <p:cNvSpPr>
              <a:spLocks noChangeArrowheads="1"/>
            </p:cNvSpPr>
            <p:nvPr/>
          </p:nvSpPr>
          <p:spPr bwMode="auto">
            <a:xfrm rot="18704765" flipH="1">
              <a:off x="4851" y="1650"/>
              <a:ext cx="141"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10256" name="AutoShape 8"/>
            <p:cNvSpPr>
              <a:spLocks noChangeArrowheads="1"/>
            </p:cNvSpPr>
            <p:nvPr/>
          </p:nvSpPr>
          <p:spPr bwMode="auto">
            <a:xfrm rot="18704765" flipH="1">
              <a:off x="4684" y="1690"/>
              <a:ext cx="141"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10257" name="Rectangle 9"/>
            <p:cNvSpPr>
              <a:spLocks noChangeArrowheads="1"/>
            </p:cNvSpPr>
            <p:nvPr/>
          </p:nvSpPr>
          <p:spPr bwMode="auto">
            <a:xfrm rot="18770112" flipH="1">
              <a:off x="4442" y="1551"/>
              <a:ext cx="718" cy="49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58" name="Rectangle 10"/>
            <p:cNvSpPr>
              <a:spLocks noChangeArrowheads="1"/>
            </p:cNvSpPr>
            <p:nvPr/>
          </p:nvSpPr>
          <p:spPr bwMode="auto">
            <a:xfrm rot="18894043" flipH="1">
              <a:off x="4066" y="1284"/>
              <a:ext cx="693" cy="294"/>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pic>
          <p:nvPicPr>
            <p:cNvPr id="10259" name="Picture 11"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2570112">
              <a:off x="4630" y="1554"/>
              <a:ext cx="307"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0" name="Freeform 12"/>
            <p:cNvSpPr>
              <a:spLocks/>
            </p:cNvSpPr>
            <p:nvPr/>
          </p:nvSpPr>
          <p:spPr bwMode="auto">
            <a:xfrm flipH="1">
              <a:off x="4325" y="1334"/>
              <a:ext cx="827" cy="530"/>
            </a:xfrm>
            <a:custGeom>
              <a:avLst/>
              <a:gdLst>
                <a:gd name="T0" fmla="*/ 429 w 702"/>
                <a:gd name="T1" fmla="*/ 497 h 450"/>
                <a:gd name="T2" fmla="*/ 185 w 702"/>
                <a:gd name="T3" fmla="*/ 738 h 450"/>
                <a:gd name="T4" fmla="*/ 99 w 702"/>
                <a:gd name="T5" fmla="*/ 756 h 450"/>
                <a:gd name="T6" fmla="*/ 29 w 702"/>
                <a:gd name="T7" fmla="*/ 716 h 450"/>
                <a:gd name="T8" fmla="*/ 0 w 702"/>
                <a:gd name="T9" fmla="*/ 614 h 450"/>
                <a:gd name="T10" fmla="*/ 64 w 702"/>
                <a:gd name="T11" fmla="*/ 521 h 450"/>
                <a:gd name="T12" fmla="*/ 571 w 702"/>
                <a:gd name="T13" fmla="*/ 29 h 450"/>
                <a:gd name="T14" fmla="*/ 670 w 702"/>
                <a:gd name="T15" fmla="*/ 0 h 450"/>
                <a:gd name="T16" fmla="*/ 802 w 702"/>
                <a:gd name="T17" fmla="*/ 0 h 450"/>
                <a:gd name="T18" fmla="*/ 873 w 702"/>
                <a:gd name="T19" fmla="*/ 40 h 450"/>
                <a:gd name="T20" fmla="*/ 1334 w 702"/>
                <a:gd name="T21" fmla="*/ 525 h 450"/>
                <a:gd name="T22" fmla="*/ 1351 w 702"/>
                <a:gd name="T23" fmla="*/ 617 h 450"/>
                <a:gd name="T24" fmla="*/ 1341 w 702"/>
                <a:gd name="T25" fmla="*/ 716 h 450"/>
                <a:gd name="T26" fmla="*/ 1301 w 702"/>
                <a:gd name="T27" fmla="*/ 809 h 450"/>
                <a:gd name="T28" fmla="*/ 1248 w 702"/>
                <a:gd name="T29" fmla="*/ 866 h 450"/>
                <a:gd name="T30" fmla="*/ 873 w 702"/>
                <a:gd name="T31" fmla="*/ 475 h 450"/>
                <a:gd name="T32" fmla="*/ 790 w 702"/>
                <a:gd name="T33" fmla="*/ 531 h 450"/>
                <a:gd name="T34" fmla="*/ 688 w 702"/>
                <a:gd name="T35" fmla="*/ 554 h 450"/>
                <a:gd name="T36" fmla="*/ 561 w 702"/>
                <a:gd name="T37" fmla="*/ 554 h 450"/>
                <a:gd name="T38" fmla="*/ 478 w 702"/>
                <a:gd name="T39" fmla="*/ 537 h 450"/>
                <a:gd name="T40" fmla="*/ 429 w 702"/>
                <a:gd name="T41" fmla="*/ 497 h 4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2"/>
                <a:gd name="T64" fmla="*/ 0 h 450"/>
                <a:gd name="T65" fmla="*/ 702 w 702"/>
                <a:gd name="T66" fmla="*/ 450 h 4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2" h="450">
                  <a:moveTo>
                    <a:pt x="222" y="258"/>
                  </a:moveTo>
                  <a:lnTo>
                    <a:pt x="96" y="384"/>
                  </a:lnTo>
                  <a:lnTo>
                    <a:pt x="51" y="393"/>
                  </a:lnTo>
                  <a:lnTo>
                    <a:pt x="15" y="372"/>
                  </a:lnTo>
                  <a:lnTo>
                    <a:pt x="0" y="318"/>
                  </a:lnTo>
                  <a:lnTo>
                    <a:pt x="33" y="270"/>
                  </a:lnTo>
                  <a:lnTo>
                    <a:pt x="297" y="15"/>
                  </a:lnTo>
                  <a:lnTo>
                    <a:pt x="348" y="0"/>
                  </a:lnTo>
                  <a:lnTo>
                    <a:pt x="417" y="0"/>
                  </a:lnTo>
                  <a:lnTo>
                    <a:pt x="453" y="21"/>
                  </a:lnTo>
                  <a:lnTo>
                    <a:pt x="693" y="273"/>
                  </a:lnTo>
                  <a:lnTo>
                    <a:pt x="702" y="321"/>
                  </a:lnTo>
                  <a:lnTo>
                    <a:pt x="696" y="372"/>
                  </a:lnTo>
                  <a:lnTo>
                    <a:pt x="675" y="420"/>
                  </a:lnTo>
                  <a:lnTo>
                    <a:pt x="648" y="450"/>
                  </a:lnTo>
                  <a:lnTo>
                    <a:pt x="453" y="246"/>
                  </a:lnTo>
                  <a:lnTo>
                    <a:pt x="411" y="276"/>
                  </a:lnTo>
                  <a:lnTo>
                    <a:pt x="357" y="288"/>
                  </a:lnTo>
                  <a:lnTo>
                    <a:pt x="291" y="288"/>
                  </a:lnTo>
                  <a:lnTo>
                    <a:pt x="249" y="279"/>
                  </a:lnTo>
                  <a:lnTo>
                    <a:pt x="222" y="258"/>
                  </a:lnTo>
                  <a:close/>
                </a:path>
              </a:pathLst>
            </a:custGeom>
            <a:solidFill>
              <a:srgbClr val="FFFF99"/>
            </a:solidFill>
            <a:ln w="12700">
              <a:solidFill>
                <a:schemeClr val="bg1"/>
              </a:solidFill>
              <a:round/>
              <a:headEnd/>
              <a:tailEnd/>
            </a:ln>
          </p:spPr>
          <p:txBody>
            <a:bodyPr lIns="0" tIns="0" rIns="0" bIns="0" anchor="ctr">
              <a:spAutoFit/>
            </a:bodyPr>
            <a:lstStyle/>
            <a:p>
              <a:endParaRPr lang="en-US"/>
            </a:p>
          </p:txBody>
        </p:sp>
      </p:grpSp>
      <p:sp>
        <p:nvSpPr>
          <p:cNvPr id="10245" name="Rectangle 13"/>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246" name="Rectangle 14"/>
          <p:cNvSpPr>
            <a:spLocks noChangeArrowheads="1"/>
          </p:cNvSpPr>
          <p:nvPr/>
        </p:nvSpPr>
        <p:spPr bwMode="auto">
          <a:xfrm>
            <a:off x="733425" y="2992438"/>
            <a:ext cx="2925763" cy="481012"/>
          </a:xfrm>
          <a:prstGeom prst="rect">
            <a:avLst/>
          </a:prstGeom>
          <a:solidFill>
            <a:schemeClr val="tx1"/>
          </a:solidFill>
          <a:ln w="28575" algn="ctr">
            <a:solidFill>
              <a:schemeClr val="bg1"/>
            </a:solidFill>
            <a:miter lim="800000"/>
            <a:headEnd/>
            <a:tailEnd/>
          </a:ln>
          <a:extLst/>
        </p:spPr>
        <p:txBody>
          <a:bodyPr lIns="0" tIns="0" rIns="0" bIns="0" anchor="ctr">
            <a:spAutoFit/>
          </a:bodyPr>
          <a:lstStyle/>
          <a:p>
            <a:endParaRPr lang="en-US"/>
          </a:p>
        </p:txBody>
      </p:sp>
      <p:sp>
        <p:nvSpPr>
          <p:cNvPr id="10247" name="Rectangle 15"/>
          <p:cNvSpPr>
            <a:spLocks noChangeArrowheads="1"/>
          </p:cNvSpPr>
          <p:nvPr/>
        </p:nvSpPr>
        <p:spPr bwMode="auto">
          <a:xfrm>
            <a:off x="733425" y="4491038"/>
            <a:ext cx="2925763" cy="481012"/>
          </a:xfrm>
          <a:prstGeom prst="rect">
            <a:avLst/>
          </a:prstGeom>
          <a:solidFill>
            <a:schemeClr val="tx1"/>
          </a:solidFill>
          <a:ln w="28575" algn="ctr">
            <a:solidFill>
              <a:schemeClr val="bg1"/>
            </a:solidFill>
            <a:miter lim="800000"/>
            <a:headEnd/>
            <a:tailEnd/>
          </a:ln>
          <a:extLst/>
        </p:spPr>
        <p:txBody>
          <a:bodyPr lIns="0" tIns="0" rIns="0" bIns="0" anchor="ctr">
            <a:spAutoFit/>
          </a:bodyPr>
          <a:lstStyle/>
          <a:p>
            <a:endParaRPr lang="en-US"/>
          </a:p>
        </p:txBody>
      </p:sp>
      <p:sp>
        <p:nvSpPr>
          <p:cNvPr id="10248" name="Text Box 16"/>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0249" name="Text Box 17"/>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Adjudication</a:t>
            </a:r>
          </a:p>
        </p:txBody>
      </p:sp>
      <p:sp>
        <p:nvSpPr>
          <p:cNvPr id="10250" name="Text Box 18"/>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0251" name="Line 19"/>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2" name="Line 20"/>
          <p:cNvSpPr>
            <a:spLocks noChangeShapeType="1"/>
          </p:cNvSpPr>
          <p:nvPr/>
        </p:nvSpPr>
        <p:spPr bwMode="auto">
          <a:xfrm>
            <a:off x="2197100" y="3482975"/>
            <a:ext cx="0" cy="9937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grpSp>
        <p:nvGrpSpPr>
          <p:cNvPr id="11266" name="Group 2"/>
          <p:cNvGrpSpPr>
            <a:grpSpLocks/>
          </p:cNvGrpSpPr>
          <p:nvPr/>
        </p:nvGrpSpPr>
        <p:grpSpPr bwMode="auto">
          <a:xfrm>
            <a:off x="4335463" y="1955800"/>
            <a:ext cx="2162175" cy="1782763"/>
            <a:chOff x="3332" y="230"/>
            <a:chExt cx="955" cy="789"/>
          </a:xfrm>
        </p:grpSpPr>
        <p:sp>
          <p:nvSpPr>
            <p:cNvPr id="11288" name="AutoShape 3"/>
            <p:cNvSpPr>
              <a:spLocks noChangeArrowheads="1"/>
            </p:cNvSpPr>
            <p:nvPr/>
          </p:nvSpPr>
          <p:spPr bwMode="auto">
            <a:xfrm>
              <a:off x="3332" y="383"/>
              <a:ext cx="955" cy="636"/>
            </a:xfrm>
            <a:prstGeom prst="cube">
              <a:avLst>
                <a:gd name="adj" fmla="val 18921"/>
              </a:avLst>
            </a:prstGeom>
            <a:solidFill>
              <a:srgbClr val="FFFF99"/>
            </a:solidFill>
            <a:ln w="12700">
              <a:solidFill>
                <a:srgbClr val="777777"/>
              </a:solidFill>
              <a:miter lim="800000"/>
              <a:headEnd/>
              <a:tailEnd/>
            </a:ln>
          </p:spPr>
          <p:txBody>
            <a:bodyPr wrap="none" anchor="ctr"/>
            <a:lstStyle/>
            <a:p>
              <a:endParaRPr lang="en-US"/>
            </a:p>
          </p:txBody>
        </p:sp>
        <p:sp>
          <p:nvSpPr>
            <p:cNvPr id="11289" name="Rectangle 4"/>
            <p:cNvSpPr>
              <a:spLocks noChangeArrowheads="1"/>
            </p:cNvSpPr>
            <p:nvPr/>
          </p:nvSpPr>
          <p:spPr bwMode="auto">
            <a:xfrm>
              <a:off x="3609" y="578"/>
              <a:ext cx="275" cy="441"/>
            </a:xfrm>
            <a:prstGeom prst="rect">
              <a:avLst/>
            </a:prstGeom>
            <a:solidFill>
              <a:srgbClr val="CC9900"/>
            </a:solidFill>
            <a:ln w="12700">
              <a:solidFill>
                <a:srgbClr val="777777"/>
              </a:solidFill>
              <a:miter lim="800000"/>
              <a:headEnd/>
              <a:tailEnd/>
            </a:ln>
          </p:spPr>
          <p:txBody>
            <a:bodyPr wrap="none" anchor="ctr"/>
            <a:lstStyle/>
            <a:p>
              <a:endParaRPr lang="en-US"/>
            </a:p>
          </p:txBody>
        </p:sp>
        <p:sp>
          <p:nvSpPr>
            <p:cNvPr id="11290" name="Rectangle 5"/>
            <p:cNvSpPr>
              <a:spLocks noChangeArrowheads="1"/>
            </p:cNvSpPr>
            <p:nvPr/>
          </p:nvSpPr>
          <p:spPr bwMode="auto">
            <a:xfrm>
              <a:off x="3391" y="578"/>
              <a:ext cx="139" cy="20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291" name="Rectangle 6"/>
            <p:cNvSpPr>
              <a:spLocks noChangeArrowheads="1"/>
            </p:cNvSpPr>
            <p:nvPr/>
          </p:nvSpPr>
          <p:spPr bwMode="auto">
            <a:xfrm>
              <a:off x="3953" y="578"/>
              <a:ext cx="144" cy="206"/>
            </a:xfrm>
            <a:prstGeom prst="rect">
              <a:avLst/>
            </a:prstGeom>
            <a:solidFill>
              <a:srgbClr val="FFFFCC"/>
            </a:solidFill>
            <a:ln w="12700" algn="ctr">
              <a:solidFill>
                <a:schemeClr val="bg1"/>
              </a:solidFill>
              <a:miter lim="800000"/>
              <a:headEnd/>
              <a:tailEnd/>
            </a:ln>
          </p:spPr>
          <p:txBody>
            <a:bodyPr wrap="none" anchor="ctr"/>
            <a:lstStyle/>
            <a:p>
              <a:endParaRPr lang="en-US"/>
            </a:p>
          </p:txBody>
        </p:sp>
        <p:sp>
          <p:nvSpPr>
            <p:cNvPr id="11292" name="Rectangle 7"/>
            <p:cNvSpPr>
              <a:spLocks noChangeArrowheads="1"/>
            </p:cNvSpPr>
            <p:nvPr/>
          </p:nvSpPr>
          <p:spPr bwMode="auto">
            <a:xfrm>
              <a:off x="3816" y="773"/>
              <a:ext cx="38" cy="91"/>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1293" name="Rectangle 8"/>
            <p:cNvSpPr>
              <a:spLocks noChangeArrowheads="1"/>
            </p:cNvSpPr>
            <p:nvPr/>
          </p:nvSpPr>
          <p:spPr bwMode="auto">
            <a:xfrm>
              <a:off x="3429" y="230"/>
              <a:ext cx="683" cy="267"/>
            </a:xfrm>
            <a:prstGeom prst="rect">
              <a:avLst/>
            </a:prstGeom>
            <a:solidFill>
              <a:srgbClr val="CC9900"/>
            </a:solidFill>
            <a:ln w="12700" algn="ctr">
              <a:solidFill>
                <a:srgbClr val="777777"/>
              </a:solidFill>
              <a:miter lim="800000"/>
              <a:headEnd/>
              <a:tailEnd/>
            </a:ln>
          </p:spPr>
          <p:txBody>
            <a:bodyPr wrap="none" anchor="ctr"/>
            <a:lstStyle/>
            <a:p>
              <a:endParaRPr lang="en-US"/>
            </a:p>
          </p:txBody>
        </p:sp>
        <p:sp>
          <p:nvSpPr>
            <p:cNvPr id="11294" name="Line 9"/>
            <p:cNvSpPr>
              <a:spLocks noChangeShapeType="1"/>
            </p:cNvSpPr>
            <p:nvPr/>
          </p:nvSpPr>
          <p:spPr bwMode="auto">
            <a:xfrm>
              <a:off x="4106" y="290"/>
              <a:ext cx="113" cy="121"/>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5" name="Line 10"/>
            <p:cNvSpPr>
              <a:spLocks noChangeShapeType="1"/>
            </p:cNvSpPr>
            <p:nvPr/>
          </p:nvSpPr>
          <p:spPr bwMode="auto">
            <a:xfrm>
              <a:off x="4115" y="393"/>
              <a:ext cx="60" cy="62"/>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296" name="Group 11"/>
            <p:cNvGrpSpPr>
              <a:grpSpLocks/>
            </p:cNvGrpSpPr>
            <p:nvPr/>
          </p:nvGrpSpPr>
          <p:grpSpPr bwMode="auto">
            <a:xfrm>
              <a:off x="3459" y="272"/>
              <a:ext cx="607" cy="163"/>
              <a:chOff x="2386" y="998"/>
              <a:chExt cx="529" cy="142"/>
            </a:xfrm>
          </p:grpSpPr>
          <p:sp>
            <p:nvSpPr>
              <p:cNvPr id="11297" name="Line 12"/>
              <p:cNvSpPr>
                <a:spLocks noChangeShapeType="1"/>
              </p:cNvSpPr>
              <p:nvPr/>
            </p:nvSpPr>
            <p:spPr bwMode="invGray">
              <a:xfrm flipH="1">
                <a:off x="2386"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8" name="Line 13"/>
              <p:cNvSpPr>
                <a:spLocks noChangeShapeType="1"/>
              </p:cNvSpPr>
              <p:nvPr/>
            </p:nvSpPr>
            <p:spPr bwMode="invGray">
              <a:xfrm>
                <a:off x="2444"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9" name="Line 14"/>
              <p:cNvSpPr>
                <a:spLocks noChangeShapeType="1"/>
              </p:cNvSpPr>
              <p:nvPr/>
            </p:nvSpPr>
            <p:spPr bwMode="invGray">
              <a:xfrm>
                <a:off x="2404" y="1084"/>
                <a:ext cx="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0" name="Line 15"/>
              <p:cNvSpPr>
                <a:spLocks noChangeShapeType="1"/>
              </p:cNvSpPr>
              <p:nvPr/>
            </p:nvSpPr>
            <p:spPr bwMode="invGray">
              <a:xfrm>
                <a:off x="2430" y="1006"/>
                <a:ext cx="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1" name="Line 16"/>
              <p:cNvSpPr>
                <a:spLocks noChangeShapeType="1"/>
              </p:cNvSpPr>
              <p:nvPr/>
            </p:nvSpPr>
            <p:spPr bwMode="invGray">
              <a:xfrm>
                <a:off x="2825" y="998"/>
                <a:ext cx="0" cy="1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2" name="Line 17"/>
              <p:cNvSpPr>
                <a:spLocks noChangeShapeType="1"/>
              </p:cNvSpPr>
              <p:nvPr/>
            </p:nvSpPr>
            <p:spPr bwMode="invGray">
              <a:xfrm>
                <a:off x="2822" y="1007"/>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3" name="Line 18"/>
              <p:cNvSpPr>
                <a:spLocks noChangeShapeType="1"/>
              </p:cNvSpPr>
              <p:nvPr/>
            </p:nvSpPr>
            <p:spPr bwMode="invGray">
              <a:xfrm>
                <a:off x="2822" y="1129"/>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4" name="Line 19"/>
              <p:cNvSpPr>
                <a:spLocks noChangeShapeType="1"/>
              </p:cNvSpPr>
              <p:nvPr/>
            </p:nvSpPr>
            <p:spPr bwMode="invGray">
              <a:xfrm>
                <a:off x="2822" y="1065"/>
                <a:ext cx="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5" name="Line 20"/>
              <p:cNvSpPr>
                <a:spLocks noChangeShapeType="1"/>
              </p:cNvSpPr>
              <p:nvPr/>
            </p:nvSpPr>
            <p:spPr bwMode="invGray">
              <a:xfrm>
                <a:off x="2674" y="1000"/>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6" name="Line 21"/>
              <p:cNvSpPr>
                <a:spLocks noChangeShapeType="1"/>
              </p:cNvSpPr>
              <p:nvPr/>
            </p:nvSpPr>
            <p:spPr bwMode="invGray">
              <a:xfrm flipH="1">
                <a:off x="2721" y="1002"/>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7" name="Line 22"/>
              <p:cNvSpPr>
                <a:spLocks noChangeShapeType="1"/>
              </p:cNvSpPr>
              <p:nvPr/>
            </p:nvSpPr>
            <p:spPr bwMode="invGray">
              <a:xfrm>
                <a:off x="2665"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8" name="Line 23"/>
              <p:cNvSpPr>
                <a:spLocks noChangeShapeType="1"/>
              </p:cNvSpPr>
              <p:nvPr/>
            </p:nvSpPr>
            <p:spPr bwMode="invGray">
              <a:xfrm>
                <a:off x="2776"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9" name="Freeform 24"/>
              <p:cNvSpPr>
                <a:spLocks/>
              </p:cNvSpPr>
              <p:nvPr/>
            </p:nvSpPr>
            <p:spPr bwMode="invGray">
              <a:xfrm>
                <a:off x="2520" y="1004"/>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10" name="Freeform 25"/>
              <p:cNvSpPr>
                <a:spLocks/>
              </p:cNvSpPr>
              <p:nvPr/>
            </p:nvSpPr>
            <p:spPr bwMode="invGray">
              <a:xfrm flipV="1">
                <a:off x="2521" y="1066"/>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1267" name="Rectangle 26"/>
          <p:cNvSpPr>
            <a:spLocks noGrp="1" noChangeArrowheads="1"/>
          </p:cNvSpPr>
          <p:nvPr>
            <p:ph type="title"/>
          </p:nvPr>
        </p:nvSpPr>
        <p:spPr/>
        <p:txBody>
          <a:bodyPr/>
          <a:lstStyle/>
          <a:p>
            <a:r>
              <a:rPr lang="en-US" smtClean="0"/>
              <a:t>Phase 4: Recovery</a:t>
            </a:r>
          </a:p>
        </p:txBody>
      </p:sp>
      <p:pic>
        <p:nvPicPr>
          <p:cNvPr id="11268" name="Picture 27" descr="779px-Scrap_yard_22l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3125" y="4375150"/>
            <a:ext cx="3000375" cy="231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28" descr="automobile_crash_Honda_95870_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83425" y="2133600"/>
            <a:ext cx="1881188"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70" name="Group 29"/>
          <p:cNvGrpSpPr>
            <a:grpSpLocks/>
          </p:cNvGrpSpPr>
          <p:nvPr/>
        </p:nvGrpSpPr>
        <p:grpSpPr bwMode="auto">
          <a:xfrm>
            <a:off x="4171950" y="5219700"/>
            <a:ext cx="1216025" cy="846138"/>
            <a:chOff x="3153" y="1049"/>
            <a:chExt cx="752" cy="523"/>
          </a:xfrm>
        </p:grpSpPr>
        <p:sp>
          <p:nvSpPr>
            <p:cNvPr id="11286" name="Rectangle 30"/>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11287" name="Picture 31"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71" name="Line 32"/>
          <p:cNvSpPr>
            <a:spLocks noChangeShapeType="1"/>
          </p:cNvSpPr>
          <p:nvPr/>
        </p:nvSpPr>
        <p:spPr bwMode="auto">
          <a:xfrm>
            <a:off x="6367463" y="2693988"/>
            <a:ext cx="137953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2" name="Line 33"/>
          <p:cNvSpPr>
            <a:spLocks noChangeShapeType="1"/>
          </p:cNvSpPr>
          <p:nvPr/>
        </p:nvSpPr>
        <p:spPr bwMode="auto">
          <a:xfrm>
            <a:off x="7729538" y="2676525"/>
            <a:ext cx="0" cy="17287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3" name="Line 34"/>
          <p:cNvSpPr>
            <a:spLocks noChangeShapeType="1"/>
          </p:cNvSpPr>
          <p:nvPr/>
        </p:nvSpPr>
        <p:spPr bwMode="auto">
          <a:xfrm flipH="1">
            <a:off x="4787900" y="5619750"/>
            <a:ext cx="11811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4" name="Line 35"/>
          <p:cNvSpPr>
            <a:spLocks noChangeShapeType="1"/>
          </p:cNvSpPr>
          <p:nvPr/>
        </p:nvSpPr>
        <p:spPr bwMode="auto">
          <a:xfrm flipV="1">
            <a:off x="4787900" y="3757613"/>
            <a:ext cx="0" cy="186213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5" name="Rectangle 36"/>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6" name="Rectangle 37"/>
          <p:cNvSpPr>
            <a:spLocks noChangeArrowheads="1"/>
          </p:cNvSpPr>
          <p:nvPr/>
        </p:nvSpPr>
        <p:spPr bwMode="auto">
          <a:xfrm>
            <a:off x="733425" y="29924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7" name="Rectangle 38"/>
          <p:cNvSpPr>
            <a:spLocks noChangeArrowheads="1"/>
          </p:cNvSpPr>
          <p:nvPr/>
        </p:nvSpPr>
        <p:spPr bwMode="auto">
          <a:xfrm>
            <a:off x="733425" y="44910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8" name="Rectangle 39"/>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9" name="Text Box 40"/>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1280" name="Text Box 41"/>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Adjudication</a:t>
            </a:r>
          </a:p>
        </p:txBody>
      </p:sp>
      <p:sp>
        <p:nvSpPr>
          <p:cNvPr id="11281" name="Text Box 42"/>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1282" name="Text Box 43"/>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sp>
        <p:nvSpPr>
          <p:cNvPr id="11283" name="Line 44"/>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4" name="Line 45"/>
          <p:cNvSpPr>
            <a:spLocks noChangeShapeType="1"/>
          </p:cNvSpPr>
          <p:nvPr/>
        </p:nvSpPr>
        <p:spPr bwMode="auto">
          <a:xfrm>
            <a:off x="2197100" y="3482975"/>
            <a:ext cx="0" cy="9937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5" name="Line 46"/>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sp>
        <p:nvSpPr>
          <p:cNvPr id="12290" name="Rectangle 2"/>
          <p:cNvSpPr>
            <a:spLocks noGrp="1" noChangeArrowheads="1"/>
          </p:cNvSpPr>
          <p:nvPr>
            <p:ph type="title"/>
          </p:nvPr>
        </p:nvSpPr>
        <p:spPr/>
        <p:txBody>
          <a:bodyPr/>
          <a:lstStyle/>
          <a:p>
            <a:r>
              <a:rPr lang="en-US" smtClean="0"/>
              <a:t>Litigation</a:t>
            </a:r>
          </a:p>
        </p:txBody>
      </p:sp>
      <p:grpSp>
        <p:nvGrpSpPr>
          <p:cNvPr id="12291" name="Group 3"/>
          <p:cNvGrpSpPr>
            <a:grpSpLocks/>
          </p:cNvGrpSpPr>
          <p:nvPr/>
        </p:nvGrpSpPr>
        <p:grpSpPr bwMode="auto">
          <a:xfrm>
            <a:off x="3841750" y="908050"/>
            <a:ext cx="1495425" cy="481013"/>
            <a:chOff x="1572" y="1579"/>
            <a:chExt cx="942" cy="303"/>
          </a:xfrm>
        </p:grpSpPr>
        <p:sp>
          <p:nvSpPr>
            <p:cNvPr id="12319" name="Text Box 4"/>
            <p:cNvSpPr txBox="1">
              <a:spLocks noChangeArrowheads="1"/>
            </p:cNvSpPr>
            <p:nvPr/>
          </p:nvSpPr>
          <p:spPr bwMode="auto">
            <a:xfrm>
              <a:off x="1608" y="1615"/>
              <a:ext cx="87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Litigation</a:t>
              </a:r>
            </a:p>
          </p:txBody>
        </p:sp>
        <p:sp>
          <p:nvSpPr>
            <p:cNvPr id="12320" name="Rectangle 5"/>
            <p:cNvSpPr>
              <a:spLocks noChangeArrowheads="1"/>
            </p:cNvSpPr>
            <p:nvPr/>
          </p:nvSpPr>
          <p:spPr bwMode="auto">
            <a:xfrm>
              <a:off x="1572" y="1579"/>
              <a:ext cx="942"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2293" name="Line 7"/>
          <p:cNvSpPr>
            <a:spLocks noChangeShapeType="1"/>
          </p:cNvSpPr>
          <p:nvPr/>
        </p:nvSpPr>
        <p:spPr bwMode="auto">
          <a:xfrm>
            <a:off x="4556125" y="6035675"/>
            <a:ext cx="0" cy="4476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4" name="Line 8"/>
          <p:cNvSpPr>
            <a:spLocks noChangeShapeType="1"/>
          </p:cNvSpPr>
          <p:nvPr/>
        </p:nvSpPr>
        <p:spPr bwMode="auto">
          <a:xfrm>
            <a:off x="4556125" y="2393950"/>
            <a:ext cx="0" cy="3333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5" name="Line 9"/>
          <p:cNvSpPr>
            <a:spLocks noChangeShapeType="1"/>
          </p:cNvSpPr>
          <p:nvPr/>
        </p:nvSpPr>
        <p:spPr bwMode="auto">
          <a:xfrm>
            <a:off x="4556125" y="3740150"/>
            <a:ext cx="0" cy="69850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6" name="Line 10"/>
          <p:cNvSpPr>
            <a:spLocks noChangeShapeType="1"/>
          </p:cNvSpPr>
          <p:nvPr/>
        </p:nvSpPr>
        <p:spPr bwMode="auto">
          <a:xfrm>
            <a:off x="4556125" y="1778000"/>
            <a:ext cx="0" cy="20002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2297" name="Group 11"/>
          <p:cNvGrpSpPr>
            <a:grpSpLocks/>
          </p:cNvGrpSpPr>
          <p:nvPr/>
        </p:nvGrpSpPr>
        <p:grpSpPr bwMode="auto">
          <a:xfrm>
            <a:off x="3994150" y="4438650"/>
            <a:ext cx="1123950" cy="1130300"/>
            <a:chOff x="4932" y="501"/>
            <a:chExt cx="708" cy="712"/>
          </a:xfrm>
        </p:grpSpPr>
        <p:sp>
          <p:nvSpPr>
            <p:cNvPr id="12309" name="Freeform 12"/>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12310" name="Freeform 13"/>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1" name="Freeform 14"/>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2" name="Freeform 15"/>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3" name="Freeform 16"/>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4" name="Freeform 17"/>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5" name="Freeform 18"/>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6" name="Freeform 19"/>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7" name="Freeform 20"/>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8" name="Freeform 21"/>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2298" name="Rectangle 22"/>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299" name="Rectangle 23"/>
          <p:cNvSpPr>
            <a:spLocks noChangeArrowheads="1"/>
          </p:cNvSpPr>
          <p:nvPr/>
        </p:nvSpPr>
        <p:spPr bwMode="auto">
          <a:xfrm>
            <a:off x="733425" y="29924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00" name="Rectangle 24"/>
          <p:cNvSpPr>
            <a:spLocks noChangeArrowheads="1"/>
          </p:cNvSpPr>
          <p:nvPr/>
        </p:nvSpPr>
        <p:spPr bwMode="auto">
          <a:xfrm>
            <a:off x="733425" y="44910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01" name="Rectangle 25"/>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02" name="Text Box 26"/>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2303" name="Text Box 27"/>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Adjudication</a:t>
            </a:r>
          </a:p>
        </p:txBody>
      </p:sp>
      <p:sp>
        <p:nvSpPr>
          <p:cNvPr id="12304" name="Text Box 28"/>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2305" name="Text Box 29"/>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sp>
        <p:nvSpPr>
          <p:cNvPr id="12306" name="Line 30"/>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7" name="Line 31"/>
          <p:cNvSpPr>
            <a:spLocks noChangeShapeType="1"/>
          </p:cNvSpPr>
          <p:nvPr/>
        </p:nvSpPr>
        <p:spPr bwMode="auto">
          <a:xfrm>
            <a:off x="2197100" y="3482975"/>
            <a:ext cx="0" cy="9937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8" name="Line 32"/>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 name="Text Box 65"/>
          <p:cNvSpPr txBox="1">
            <a:spLocks noChangeArrowheads="1"/>
          </p:cNvSpPr>
          <p:nvPr/>
        </p:nvSpPr>
        <p:spPr bwMode="auto">
          <a:xfrm>
            <a:off x="3605213" y="5557838"/>
            <a:ext cx="1965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smtClean="0"/>
              <a:t>matter</a:t>
            </a:r>
            <a:endParaRPr lang="en-US" sz="1800" b="1" dirty="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sp>
        <p:nvSpPr>
          <p:cNvPr id="13314" name="Rectangle 2"/>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15" name="Rectangle 3"/>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16" name="Text Box 4"/>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3317" name="Text Box 5"/>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pic>
        <p:nvPicPr>
          <p:cNvPr id="13318" name="Picture 6" descr="j018504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3450" y="3024188"/>
            <a:ext cx="14224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Text Box 7"/>
          <p:cNvSpPr txBox="1">
            <a:spLocks noChangeArrowheads="1"/>
          </p:cNvSpPr>
          <p:nvPr/>
        </p:nvSpPr>
        <p:spPr bwMode="auto">
          <a:xfrm>
            <a:off x="5453063" y="965200"/>
            <a:ext cx="24399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Fraud Detection</a:t>
            </a:r>
          </a:p>
        </p:txBody>
      </p:sp>
      <p:sp>
        <p:nvSpPr>
          <p:cNvPr id="13320" name="Rectangle 8"/>
          <p:cNvSpPr>
            <a:spLocks noGrp="1" noChangeArrowheads="1"/>
          </p:cNvSpPr>
          <p:nvPr>
            <p:ph type="title"/>
          </p:nvPr>
        </p:nvSpPr>
        <p:spPr/>
        <p:txBody>
          <a:bodyPr/>
          <a:lstStyle/>
          <a:p>
            <a:r>
              <a:rPr lang="en-US" smtClean="0"/>
              <a:t>Fraud detection and special investigations</a:t>
            </a:r>
          </a:p>
        </p:txBody>
      </p:sp>
      <p:grpSp>
        <p:nvGrpSpPr>
          <p:cNvPr id="13321" name="Group 9"/>
          <p:cNvGrpSpPr>
            <a:grpSpLocks/>
          </p:cNvGrpSpPr>
          <p:nvPr/>
        </p:nvGrpSpPr>
        <p:grpSpPr bwMode="auto">
          <a:xfrm>
            <a:off x="3841750" y="908050"/>
            <a:ext cx="1495425" cy="481013"/>
            <a:chOff x="1572" y="1579"/>
            <a:chExt cx="942" cy="303"/>
          </a:xfrm>
        </p:grpSpPr>
        <p:sp>
          <p:nvSpPr>
            <p:cNvPr id="13346" name="Text Box 10"/>
            <p:cNvSpPr txBox="1">
              <a:spLocks noChangeArrowheads="1"/>
            </p:cNvSpPr>
            <p:nvPr/>
          </p:nvSpPr>
          <p:spPr bwMode="auto">
            <a:xfrm>
              <a:off x="1608" y="1615"/>
              <a:ext cx="87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Litigation</a:t>
              </a:r>
            </a:p>
          </p:txBody>
        </p:sp>
        <p:sp>
          <p:nvSpPr>
            <p:cNvPr id="13347" name="Rectangle 11"/>
            <p:cNvSpPr>
              <a:spLocks noChangeArrowheads="1"/>
            </p:cNvSpPr>
            <p:nvPr/>
          </p:nvSpPr>
          <p:spPr bwMode="auto">
            <a:xfrm>
              <a:off x="1572" y="1579"/>
              <a:ext cx="942"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3322" name="Line 12"/>
          <p:cNvSpPr>
            <a:spLocks noChangeShapeType="1"/>
          </p:cNvSpPr>
          <p:nvPr/>
        </p:nvSpPr>
        <p:spPr bwMode="auto">
          <a:xfrm>
            <a:off x="4556125" y="6035675"/>
            <a:ext cx="0" cy="4476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3" name="Line 13"/>
          <p:cNvSpPr>
            <a:spLocks noChangeShapeType="1"/>
          </p:cNvSpPr>
          <p:nvPr/>
        </p:nvSpPr>
        <p:spPr bwMode="auto">
          <a:xfrm>
            <a:off x="4556125" y="2393950"/>
            <a:ext cx="0" cy="3333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4" name="Line 14"/>
          <p:cNvSpPr>
            <a:spLocks noChangeShapeType="1"/>
          </p:cNvSpPr>
          <p:nvPr/>
        </p:nvSpPr>
        <p:spPr bwMode="auto">
          <a:xfrm>
            <a:off x="4556125" y="3740150"/>
            <a:ext cx="0" cy="69850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5" name="Line 15"/>
          <p:cNvSpPr>
            <a:spLocks noChangeShapeType="1"/>
          </p:cNvSpPr>
          <p:nvPr/>
        </p:nvSpPr>
        <p:spPr bwMode="auto">
          <a:xfrm>
            <a:off x="4556125" y="1778000"/>
            <a:ext cx="0" cy="20002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6" name="Rectangle 16"/>
          <p:cNvSpPr>
            <a:spLocks noChangeArrowheads="1"/>
          </p:cNvSpPr>
          <p:nvPr/>
        </p:nvSpPr>
        <p:spPr bwMode="auto">
          <a:xfrm>
            <a:off x="5419725" y="908050"/>
            <a:ext cx="2355850"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27" name="Line 17"/>
          <p:cNvSpPr>
            <a:spLocks noChangeShapeType="1"/>
          </p:cNvSpPr>
          <p:nvPr/>
        </p:nvSpPr>
        <p:spPr bwMode="auto">
          <a:xfrm>
            <a:off x="5878513" y="1379538"/>
            <a:ext cx="0" cy="51371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3328" name="Group 18"/>
          <p:cNvGrpSpPr>
            <a:grpSpLocks/>
          </p:cNvGrpSpPr>
          <p:nvPr/>
        </p:nvGrpSpPr>
        <p:grpSpPr bwMode="auto">
          <a:xfrm>
            <a:off x="6916738" y="1531938"/>
            <a:ext cx="2132012" cy="836612"/>
            <a:chOff x="4202" y="3254"/>
            <a:chExt cx="1343" cy="527"/>
          </a:xfrm>
        </p:grpSpPr>
        <p:sp>
          <p:nvSpPr>
            <p:cNvPr id="13344" name="Text Box 19"/>
            <p:cNvSpPr txBox="1">
              <a:spLocks noChangeArrowheads="1"/>
            </p:cNvSpPr>
            <p:nvPr/>
          </p:nvSpPr>
          <p:spPr bwMode="auto">
            <a:xfrm>
              <a:off x="4228" y="3288"/>
              <a:ext cx="1291"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Special Investigations</a:t>
              </a:r>
            </a:p>
          </p:txBody>
        </p:sp>
        <p:sp>
          <p:nvSpPr>
            <p:cNvPr id="13345" name="Rectangle 20"/>
            <p:cNvSpPr>
              <a:spLocks noChangeArrowheads="1"/>
            </p:cNvSpPr>
            <p:nvPr/>
          </p:nvSpPr>
          <p:spPr bwMode="auto">
            <a:xfrm>
              <a:off x="4202" y="3254"/>
              <a:ext cx="1343" cy="52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3329" name="Line 21"/>
          <p:cNvSpPr>
            <a:spLocks noChangeShapeType="1"/>
          </p:cNvSpPr>
          <p:nvPr/>
        </p:nvSpPr>
        <p:spPr bwMode="auto">
          <a:xfrm>
            <a:off x="5878513" y="1754188"/>
            <a:ext cx="1006475" cy="0"/>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30" name="Line 22"/>
          <p:cNvSpPr>
            <a:spLocks noChangeShapeType="1"/>
          </p:cNvSpPr>
          <p:nvPr/>
        </p:nvSpPr>
        <p:spPr bwMode="auto">
          <a:xfrm>
            <a:off x="5878513" y="4073525"/>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1" name="Line 23"/>
          <p:cNvSpPr>
            <a:spLocks noChangeShapeType="1"/>
          </p:cNvSpPr>
          <p:nvPr/>
        </p:nvSpPr>
        <p:spPr bwMode="auto">
          <a:xfrm>
            <a:off x="5878513" y="5194300"/>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2" name="Line 24"/>
          <p:cNvSpPr>
            <a:spLocks noChangeShapeType="1"/>
          </p:cNvSpPr>
          <p:nvPr/>
        </p:nvSpPr>
        <p:spPr bwMode="auto">
          <a:xfrm>
            <a:off x="5878513" y="6205538"/>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3" name="Line 25"/>
          <p:cNvSpPr>
            <a:spLocks noChangeShapeType="1"/>
          </p:cNvSpPr>
          <p:nvPr/>
        </p:nvSpPr>
        <p:spPr bwMode="auto">
          <a:xfrm flipV="1">
            <a:off x="6569075" y="1735138"/>
            <a:ext cx="0" cy="44608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4" name="Line 26"/>
          <p:cNvSpPr>
            <a:spLocks noChangeShapeType="1"/>
          </p:cNvSpPr>
          <p:nvPr/>
        </p:nvSpPr>
        <p:spPr bwMode="auto">
          <a:xfrm>
            <a:off x="5878513" y="2820988"/>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5" name="Line 27"/>
          <p:cNvSpPr>
            <a:spLocks noChangeShapeType="1"/>
          </p:cNvSpPr>
          <p:nvPr/>
        </p:nvSpPr>
        <p:spPr bwMode="auto">
          <a:xfrm>
            <a:off x="8005763" y="2370138"/>
            <a:ext cx="0" cy="4068762"/>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6" name="Line 28"/>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37" name="Group 29"/>
          <p:cNvGrpSpPr>
            <a:grpSpLocks/>
          </p:cNvGrpSpPr>
          <p:nvPr/>
        </p:nvGrpSpPr>
        <p:grpSpPr bwMode="auto">
          <a:xfrm>
            <a:off x="650875" y="2992438"/>
            <a:ext cx="3092450" cy="1979612"/>
            <a:chOff x="410" y="1885"/>
            <a:chExt cx="1948" cy="1247"/>
          </a:xfrm>
        </p:grpSpPr>
        <p:sp>
          <p:nvSpPr>
            <p:cNvPr id="13339" name="Rectangle 30"/>
            <p:cNvSpPr>
              <a:spLocks noChangeArrowheads="1"/>
            </p:cNvSpPr>
            <p:nvPr/>
          </p:nvSpPr>
          <p:spPr bwMode="auto">
            <a:xfrm>
              <a:off x="462" y="1885"/>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40" name="Rectangle 31"/>
            <p:cNvSpPr>
              <a:spLocks noChangeArrowheads="1"/>
            </p:cNvSpPr>
            <p:nvPr/>
          </p:nvSpPr>
          <p:spPr bwMode="auto">
            <a:xfrm>
              <a:off x="462" y="2829"/>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41" name="Text Box 32"/>
            <p:cNvSpPr txBox="1">
              <a:spLocks noChangeArrowheads="1"/>
            </p:cNvSpPr>
            <p:nvPr/>
          </p:nvSpPr>
          <p:spPr bwMode="auto">
            <a:xfrm>
              <a:off x="410" y="1921"/>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Adjudication</a:t>
              </a:r>
            </a:p>
          </p:txBody>
        </p:sp>
        <p:sp>
          <p:nvSpPr>
            <p:cNvPr id="13342" name="Text Box 33"/>
            <p:cNvSpPr txBox="1">
              <a:spLocks noChangeArrowheads="1"/>
            </p:cNvSpPr>
            <p:nvPr/>
          </p:nvSpPr>
          <p:spPr bwMode="auto">
            <a:xfrm>
              <a:off x="410" y="2865"/>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3343" name="Line 34"/>
            <p:cNvSpPr>
              <a:spLocks noChangeShapeType="1"/>
            </p:cNvSpPr>
            <p:nvPr/>
          </p:nvSpPr>
          <p:spPr bwMode="auto">
            <a:xfrm>
              <a:off x="1384" y="2194"/>
              <a:ext cx="0" cy="626"/>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3338" name="Line 35"/>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1"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sp>
        <p:nvSpPr>
          <p:cNvPr id="14338" name="Line 2"/>
          <p:cNvSpPr>
            <a:spLocks noChangeShapeType="1"/>
          </p:cNvSpPr>
          <p:nvPr/>
        </p:nvSpPr>
        <p:spPr bwMode="auto">
          <a:xfrm>
            <a:off x="2197100" y="1962150"/>
            <a:ext cx="0" cy="1012825"/>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39" name="Line 3"/>
          <p:cNvSpPr>
            <a:spLocks noChangeShapeType="1"/>
          </p:cNvSpPr>
          <p:nvPr/>
        </p:nvSpPr>
        <p:spPr bwMode="auto">
          <a:xfrm>
            <a:off x="2197100" y="3482975"/>
            <a:ext cx="0" cy="993775"/>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0" name="Line 4"/>
          <p:cNvSpPr>
            <a:spLocks noChangeShapeType="1"/>
          </p:cNvSpPr>
          <p:nvPr/>
        </p:nvSpPr>
        <p:spPr bwMode="auto">
          <a:xfrm>
            <a:off x="2197100" y="4983163"/>
            <a:ext cx="0" cy="993775"/>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1" name="Line 5"/>
          <p:cNvSpPr>
            <a:spLocks noChangeShapeType="1"/>
          </p:cNvSpPr>
          <p:nvPr/>
        </p:nvSpPr>
        <p:spPr bwMode="auto">
          <a:xfrm>
            <a:off x="5878513" y="1379538"/>
            <a:ext cx="0" cy="5137150"/>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2" name="Rectangle 6"/>
          <p:cNvSpPr>
            <a:spLocks noChangeArrowheads="1"/>
          </p:cNvSpPr>
          <p:nvPr/>
        </p:nvSpPr>
        <p:spPr bwMode="auto">
          <a:xfrm>
            <a:off x="3841750" y="908050"/>
            <a:ext cx="1495425" cy="481013"/>
          </a:xfrm>
          <a:prstGeom prst="rect">
            <a:avLst/>
          </a:prstGeom>
          <a:solidFill>
            <a:srgbClr val="99CCFF"/>
          </a:solidFill>
          <a:ln w="28575" algn="ctr">
            <a:solidFill>
              <a:schemeClr val="bg1"/>
            </a:solidFill>
            <a:miter lim="800000"/>
            <a:headEnd/>
            <a:tailEnd/>
          </a:ln>
        </p:spPr>
        <p:txBody>
          <a:bodyPr lIns="0" tIns="0" rIns="0" bIns="0" anchor="ctr">
            <a:spAutoFit/>
          </a:bodyPr>
          <a:lstStyle/>
          <a:p>
            <a:endParaRPr lang="en-US"/>
          </a:p>
        </p:txBody>
      </p:sp>
      <p:sp>
        <p:nvSpPr>
          <p:cNvPr id="14343" name="Rectangle 7"/>
          <p:cNvSpPr>
            <a:spLocks noChangeArrowheads="1"/>
          </p:cNvSpPr>
          <p:nvPr/>
        </p:nvSpPr>
        <p:spPr bwMode="auto">
          <a:xfrm>
            <a:off x="6916738" y="1531938"/>
            <a:ext cx="2132012" cy="836612"/>
          </a:xfrm>
          <a:prstGeom prst="rect">
            <a:avLst/>
          </a:prstGeom>
          <a:solidFill>
            <a:srgbClr val="99CCFF"/>
          </a:solidFill>
          <a:ln w="28575" algn="ctr">
            <a:solidFill>
              <a:schemeClr val="bg1"/>
            </a:solidFill>
            <a:miter lim="800000"/>
            <a:headEnd/>
            <a:tailEnd/>
          </a:ln>
        </p:spPr>
        <p:txBody>
          <a:bodyPr lIns="0" tIns="0" rIns="0" bIns="0" anchor="ctr">
            <a:spAutoFit/>
          </a:bodyPr>
          <a:lstStyle/>
          <a:p>
            <a:endParaRPr lang="en-US"/>
          </a:p>
        </p:txBody>
      </p:sp>
      <p:sp>
        <p:nvSpPr>
          <p:cNvPr id="14344" name="Rectangle 8"/>
          <p:cNvSpPr>
            <a:spLocks noChangeArrowheads="1"/>
          </p:cNvSpPr>
          <p:nvPr/>
        </p:nvSpPr>
        <p:spPr bwMode="auto">
          <a:xfrm>
            <a:off x="5419725" y="908050"/>
            <a:ext cx="2355850" cy="481013"/>
          </a:xfrm>
          <a:prstGeom prst="rect">
            <a:avLst/>
          </a:prstGeom>
          <a:solidFill>
            <a:srgbClr val="66FF66"/>
          </a:solidFill>
          <a:ln w="28575" algn="ctr">
            <a:solidFill>
              <a:schemeClr val="bg1"/>
            </a:solidFill>
            <a:miter lim="800000"/>
            <a:headEnd/>
            <a:tailEnd/>
          </a:ln>
        </p:spPr>
        <p:txBody>
          <a:bodyPr lIns="0" tIns="0" rIns="0" bIns="0" anchor="ctr">
            <a:spAutoFit/>
          </a:bodyPr>
          <a:lstStyle/>
          <a:p>
            <a:endParaRPr lang="en-US"/>
          </a:p>
        </p:txBody>
      </p:sp>
      <p:sp>
        <p:nvSpPr>
          <p:cNvPr id="14345" name="Rectangle 9"/>
          <p:cNvSpPr>
            <a:spLocks noChangeArrowheads="1"/>
          </p:cNvSpPr>
          <p:nvPr/>
        </p:nvSpPr>
        <p:spPr bwMode="auto">
          <a:xfrm>
            <a:off x="733425" y="1493838"/>
            <a:ext cx="2925763" cy="481012"/>
          </a:xfrm>
          <a:prstGeom prst="rect">
            <a:avLst/>
          </a:prstGeom>
          <a:solidFill>
            <a:srgbClr val="66FF66"/>
          </a:solidFill>
          <a:ln w="28575" algn="ctr">
            <a:solidFill>
              <a:schemeClr val="bg1"/>
            </a:solidFill>
            <a:miter lim="800000"/>
            <a:headEnd/>
            <a:tailEnd/>
          </a:ln>
        </p:spPr>
        <p:txBody>
          <a:bodyPr lIns="0" tIns="0" rIns="0" bIns="0" anchor="ctr">
            <a:spAutoFit/>
          </a:bodyPr>
          <a:lstStyle/>
          <a:p>
            <a:endParaRPr lang="en-US"/>
          </a:p>
        </p:txBody>
      </p:sp>
      <p:sp>
        <p:nvSpPr>
          <p:cNvPr id="14346" name="Text Box 10"/>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4347" name="Rectangle 11"/>
          <p:cNvSpPr>
            <a:spLocks noChangeArrowheads="1"/>
          </p:cNvSpPr>
          <p:nvPr/>
        </p:nvSpPr>
        <p:spPr bwMode="auto">
          <a:xfrm>
            <a:off x="733425" y="2992438"/>
            <a:ext cx="2925763" cy="481012"/>
          </a:xfrm>
          <a:prstGeom prst="rect">
            <a:avLst/>
          </a:prstGeom>
          <a:solidFill>
            <a:srgbClr val="66FF66"/>
          </a:solidFill>
          <a:ln w="28575" algn="ctr">
            <a:solidFill>
              <a:schemeClr val="bg1"/>
            </a:solidFill>
            <a:miter lim="800000"/>
            <a:headEnd/>
            <a:tailEnd/>
          </a:ln>
        </p:spPr>
        <p:txBody>
          <a:bodyPr lIns="0" tIns="0" rIns="0" bIns="0" anchor="ctr">
            <a:spAutoFit/>
          </a:bodyPr>
          <a:lstStyle/>
          <a:p>
            <a:endParaRPr lang="en-US"/>
          </a:p>
        </p:txBody>
      </p:sp>
      <p:sp>
        <p:nvSpPr>
          <p:cNvPr id="14348" name="Text Box 12"/>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t>Adjudication</a:t>
            </a:r>
          </a:p>
        </p:txBody>
      </p:sp>
      <p:sp>
        <p:nvSpPr>
          <p:cNvPr id="14349" name="Rectangle 13"/>
          <p:cNvSpPr>
            <a:spLocks noChangeArrowheads="1"/>
          </p:cNvSpPr>
          <p:nvPr/>
        </p:nvSpPr>
        <p:spPr bwMode="auto">
          <a:xfrm>
            <a:off x="733425" y="4491038"/>
            <a:ext cx="2925763" cy="481012"/>
          </a:xfrm>
          <a:prstGeom prst="rect">
            <a:avLst/>
          </a:prstGeom>
          <a:solidFill>
            <a:srgbClr val="66FF66"/>
          </a:solidFill>
          <a:ln w="28575" algn="ctr">
            <a:solidFill>
              <a:schemeClr val="bg1"/>
            </a:solidFill>
            <a:miter lim="800000"/>
            <a:headEnd/>
            <a:tailEnd/>
          </a:ln>
        </p:spPr>
        <p:txBody>
          <a:bodyPr lIns="0" tIns="0" rIns="0" bIns="0" anchor="ctr">
            <a:spAutoFit/>
          </a:bodyPr>
          <a:lstStyle/>
          <a:p>
            <a:endParaRPr lang="en-US"/>
          </a:p>
        </p:txBody>
      </p:sp>
      <p:sp>
        <p:nvSpPr>
          <p:cNvPr id="14350" name="Text Box 14"/>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4351" name="Text Box 15"/>
          <p:cNvSpPr txBox="1">
            <a:spLocks noChangeArrowheads="1"/>
          </p:cNvSpPr>
          <p:nvPr/>
        </p:nvSpPr>
        <p:spPr bwMode="auto">
          <a:xfrm>
            <a:off x="5453063" y="965200"/>
            <a:ext cx="24399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Fraud Detection</a:t>
            </a:r>
          </a:p>
        </p:txBody>
      </p:sp>
      <p:sp>
        <p:nvSpPr>
          <p:cNvPr id="14352" name="Rectangle 16"/>
          <p:cNvSpPr>
            <a:spLocks noGrp="1" noChangeArrowheads="1"/>
          </p:cNvSpPr>
          <p:nvPr>
            <p:ph type="title"/>
          </p:nvPr>
        </p:nvSpPr>
        <p:spPr/>
        <p:txBody>
          <a:bodyPr/>
          <a:lstStyle/>
          <a:p>
            <a:r>
              <a:rPr lang="en-US" smtClean="0"/>
              <a:t>Fundamental and specialized processes</a:t>
            </a:r>
          </a:p>
        </p:txBody>
      </p:sp>
      <p:sp>
        <p:nvSpPr>
          <p:cNvPr id="14353" name="Rectangle 17"/>
          <p:cNvSpPr>
            <a:spLocks noChangeArrowheads="1"/>
          </p:cNvSpPr>
          <p:nvPr/>
        </p:nvSpPr>
        <p:spPr bwMode="auto">
          <a:xfrm>
            <a:off x="733425" y="5989638"/>
            <a:ext cx="2925763" cy="481012"/>
          </a:xfrm>
          <a:prstGeom prst="rect">
            <a:avLst/>
          </a:prstGeom>
          <a:solidFill>
            <a:srgbClr val="99CCFF"/>
          </a:solidFill>
          <a:ln w="28575" algn="ctr">
            <a:solidFill>
              <a:schemeClr val="bg1"/>
            </a:solidFill>
            <a:miter lim="800000"/>
            <a:headEnd/>
            <a:tailEnd/>
          </a:ln>
        </p:spPr>
        <p:txBody>
          <a:bodyPr lIns="0" tIns="0" rIns="0" bIns="0" anchor="ctr">
            <a:spAutoFit/>
          </a:bodyPr>
          <a:lstStyle/>
          <a:p>
            <a:endParaRPr lang="en-US"/>
          </a:p>
        </p:txBody>
      </p:sp>
      <p:sp>
        <p:nvSpPr>
          <p:cNvPr id="14354" name="Text Box 18"/>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sp>
        <p:nvSpPr>
          <p:cNvPr id="14355" name="Text Box 19"/>
          <p:cNvSpPr txBox="1">
            <a:spLocks noChangeArrowheads="1"/>
          </p:cNvSpPr>
          <p:nvPr/>
        </p:nvSpPr>
        <p:spPr bwMode="auto">
          <a:xfrm>
            <a:off x="3898900" y="965200"/>
            <a:ext cx="1381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Litigation</a:t>
            </a:r>
          </a:p>
        </p:txBody>
      </p:sp>
      <p:sp>
        <p:nvSpPr>
          <p:cNvPr id="14356" name="Line 20"/>
          <p:cNvSpPr>
            <a:spLocks noChangeShapeType="1"/>
          </p:cNvSpPr>
          <p:nvPr/>
        </p:nvSpPr>
        <p:spPr bwMode="auto">
          <a:xfrm>
            <a:off x="4556125" y="6035675"/>
            <a:ext cx="0" cy="447675"/>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57" name="Line 21"/>
          <p:cNvSpPr>
            <a:spLocks noChangeShapeType="1"/>
          </p:cNvSpPr>
          <p:nvPr/>
        </p:nvSpPr>
        <p:spPr bwMode="auto">
          <a:xfrm>
            <a:off x="4556125" y="2393950"/>
            <a:ext cx="0" cy="333375"/>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8" name="Line 22"/>
          <p:cNvSpPr>
            <a:spLocks noChangeShapeType="1"/>
          </p:cNvSpPr>
          <p:nvPr/>
        </p:nvSpPr>
        <p:spPr bwMode="auto">
          <a:xfrm>
            <a:off x="4556125" y="3740150"/>
            <a:ext cx="0" cy="69850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9" name="Line 23"/>
          <p:cNvSpPr>
            <a:spLocks noChangeShapeType="1"/>
          </p:cNvSpPr>
          <p:nvPr/>
        </p:nvSpPr>
        <p:spPr bwMode="auto">
          <a:xfrm>
            <a:off x="4556125" y="1778000"/>
            <a:ext cx="0" cy="200025"/>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0" name="Text Box 24"/>
          <p:cNvSpPr txBox="1">
            <a:spLocks noChangeArrowheads="1"/>
          </p:cNvSpPr>
          <p:nvPr/>
        </p:nvSpPr>
        <p:spPr bwMode="auto">
          <a:xfrm>
            <a:off x="6958013" y="1585913"/>
            <a:ext cx="20494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Special Investigations</a:t>
            </a:r>
          </a:p>
        </p:txBody>
      </p:sp>
      <p:sp>
        <p:nvSpPr>
          <p:cNvPr id="14361" name="Line 25"/>
          <p:cNvSpPr>
            <a:spLocks noChangeShapeType="1"/>
          </p:cNvSpPr>
          <p:nvPr/>
        </p:nvSpPr>
        <p:spPr bwMode="auto">
          <a:xfrm>
            <a:off x="5878513" y="1754188"/>
            <a:ext cx="1006475" cy="0"/>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2" name="Line 26"/>
          <p:cNvSpPr>
            <a:spLocks noChangeShapeType="1"/>
          </p:cNvSpPr>
          <p:nvPr/>
        </p:nvSpPr>
        <p:spPr bwMode="auto">
          <a:xfrm>
            <a:off x="5878513" y="4073525"/>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3" name="Line 27"/>
          <p:cNvSpPr>
            <a:spLocks noChangeShapeType="1"/>
          </p:cNvSpPr>
          <p:nvPr/>
        </p:nvSpPr>
        <p:spPr bwMode="auto">
          <a:xfrm>
            <a:off x="5878513" y="5194300"/>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4" name="Line 28"/>
          <p:cNvSpPr>
            <a:spLocks noChangeShapeType="1"/>
          </p:cNvSpPr>
          <p:nvPr/>
        </p:nvSpPr>
        <p:spPr bwMode="auto">
          <a:xfrm>
            <a:off x="5878513" y="6205538"/>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5" name="Line 29"/>
          <p:cNvSpPr>
            <a:spLocks noChangeShapeType="1"/>
          </p:cNvSpPr>
          <p:nvPr/>
        </p:nvSpPr>
        <p:spPr bwMode="auto">
          <a:xfrm flipV="1">
            <a:off x="6569075" y="1735138"/>
            <a:ext cx="0" cy="4460875"/>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6" name="Line 30"/>
          <p:cNvSpPr>
            <a:spLocks noChangeShapeType="1"/>
          </p:cNvSpPr>
          <p:nvPr/>
        </p:nvSpPr>
        <p:spPr bwMode="auto">
          <a:xfrm>
            <a:off x="5878513" y="2820988"/>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7" name="Line 31"/>
          <p:cNvSpPr>
            <a:spLocks noChangeShapeType="1"/>
          </p:cNvSpPr>
          <p:nvPr/>
        </p:nvSpPr>
        <p:spPr bwMode="auto">
          <a:xfrm>
            <a:off x="8005763" y="2370138"/>
            <a:ext cx="0" cy="4068762"/>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sp>
        <p:nvSpPr>
          <p:cNvPr id="15362" name="Rectangle 2"/>
          <p:cNvSpPr>
            <a:spLocks noGrp="1" noChangeArrowheads="1"/>
          </p:cNvSpPr>
          <p:nvPr>
            <p:ph type="title"/>
          </p:nvPr>
        </p:nvSpPr>
        <p:spPr/>
        <p:txBody>
          <a:bodyPr/>
          <a:lstStyle/>
          <a:p>
            <a:r>
              <a:rPr lang="en-US" smtClean="0"/>
              <a:t>Lesson outline</a:t>
            </a:r>
          </a:p>
        </p:txBody>
      </p:sp>
      <p:sp>
        <p:nvSpPr>
          <p:cNvPr id="15363"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The business perspective</a:t>
            </a:r>
          </a:p>
          <a:p>
            <a:pPr>
              <a:lnSpc>
                <a:spcPct val="150000"/>
              </a:lnSpc>
              <a:buFont typeface="Arial" charset="0"/>
              <a:buChar char="•"/>
            </a:pPr>
            <a:r>
              <a:rPr lang="en-US" sz="2800" smtClean="0"/>
              <a:t>The functional perspective</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sp>
        <p:nvSpPr>
          <p:cNvPr id="7170" name="Rectangle 2"/>
          <p:cNvSpPr>
            <a:spLocks noGrp="1" noChangeArrowheads="1"/>
          </p:cNvSpPr>
          <p:nvPr>
            <p:ph type="title"/>
          </p:nvPr>
        </p:nvSpPr>
        <p:spPr/>
        <p:txBody>
          <a:bodyPr/>
          <a:lstStyle/>
          <a:p>
            <a:r>
              <a:rPr lang="en-US" smtClean="0"/>
              <a:t>The claims process: two perspectives</a:t>
            </a:r>
          </a:p>
        </p:txBody>
      </p:sp>
      <p:sp>
        <p:nvSpPr>
          <p:cNvPr id="7171" name="Rectangle 3"/>
          <p:cNvSpPr>
            <a:spLocks noGrp="1" noChangeArrowheads="1"/>
          </p:cNvSpPr>
          <p:nvPr>
            <p:ph idx="1"/>
          </p:nvPr>
        </p:nvSpPr>
        <p:spPr/>
        <p:txBody>
          <a:bodyPr/>
          <a:lstStyle/>
          <a:p>
            <a:pPr>
              <a:buFont typeface="Arial" charset="0"/>
              <a:buChar char="•"/>
            </a:pPr>
            <a:r>
              <a:rPr lang="en-US" dirty="0" smtClean="0"/>
              <a:t>Two ways to describe the claims process:</a:t>
            </a:r>
          </a:p>
          <a:p>
            <a:pPr marL="857250" lvl="1" indent="-457200">
              <a:buFont typeface="+mj-lt"/>
              <a:buAutoNum type="arabicPeriod"/>
            </a:pPr>
            <a:r>
              <a:rPr lang="en-US" dirty="0" smtClean="0"/>
              <a:t>“Business perspective”</a:t>
            </a:r>
          </a:p>
          <a:p>
            <a:pPr marL="741363" lvl="2" indent="0">
              <a:buNone/>
            </a:pPr>
            <a:r>
              <a:rPr lang="en-US" dirty="0" smtClean="0"/>
              <a:t>	Focusing on how the carrier as a whole views claim processing</a:t>
            </a:r>
          </a:p>
          <a:p>
            <a:pPr marL="857250" lvl="1" indent="-457200">
              <a:buFont typeface="+mj-lt"/>
              <a:buAutoNum type="arabicPeriod"/>
            </a:pPr>
            <a:r>
              <a:rPr lang="en-US" b="1" dirty="0" smtClean="0"/>
              <a:t>“Functional perspective”</a:t>
            </a:r>
          </a:p>
          <a:p>
            <a:pPr marL="914400" lvl="2" indent="0">
              <a:buNone/>
            </a:pPr>
            <a:r>
              <a:rPr lang="en-US" dirty="0" smtClean="0"/>
              <a:t>Focusing on how claims are processed within ClaimCenter</a:t>
            </a:r>
          </a:p>
        </p:txBody>
      </p:sp>
    </p:spTree>
    <p:extLst>
      <p:ext uri="{BB962C8B-B14F-4D97-AF65-F5344CB8AC3E}">
        <p14:creationId xmlns:p14="http://schemas.microsoft.com/office/powerpoint/2010/main" val="3648689260"/>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sp>
        <p:nvSpPr>
          <p:cNvPr id="17410" name="Rectangle 2"/>
          <p:cNvSpPr>
            <a:spLocks noGrp="1" noChangeArrowheads="1"/>
          </p:cNvSpPr>
          <p:nvPr>
            <p:ph type="title"/>
          </p:nvPr>
        </p:nvSpPr>
        <p:spPr/>
        <p:txBody>
          <a:bodyPr/>
          <a:lstStyle/>
          <a:p>
            <a:r>
              <a:rPr lang="en-US" smtClean="0"/>
              <a:t>Managing claim and exposure maturity</a:t>
            </a:r>
          </a:p>
        </p:txBody>
      </p:sp>
      <p:sp>
        <p:nvSpPr>
          <p:cNvPr id="17411" name="Rectangle 3"/>
          <p:cNvSpPr>
            <a:spLocks noGrp="1" noChangeArrowheads="1"/>
          </p:cNvSpPr>
          <p:nvPr>
            <p:ph idx="1"/>
          </p:nvPr>
        </p:nvSpPr>
        <p:spPr>
          <a:xfrm>
            <a:off x="519113" y="4440238"/>
            <a:ext cx="8318500" cy="1949450"/>
          </a:xfrm>
        </p:spPr>
        <p:txBody>
          <a:bodyPr/>
          <a:lstStyle/>
          <a:p>
            <a:pPr>
              <a:buFont typeface="Arial" charset="0"/>
              <a:buChar char="•"/>
            </a:pPr>
            <a:r>
              <a:rPr lang="en-US" smtClean="0"/>
              <a:t>ClaimCenter uses "validation levels" to measure how mature a claim and its exposures are</a:t>
            </a:r>
          </a:p>
          <a:p>
            <a:pPr lvl="1"/>
            <a:r>
              <a:rPr lang="en-US" smtClean="0"/>
              <a:t>Every level has a series of conditions that a claim or exposure must meet in order to reach that level</a:t>
            </a:r>
          </a:p>
        </p:txBody>
      </p:sp>
      <p:sp>
        <p:nvSpPr>
          <p:cNvPr id="17412" name="Text Box 4"/>
          <p:cNvSpPr txBox="1">
            <a:spLocks noChangeArrowheads="1"/>
          </p:cNvSpPr>
          <p:nvPr/>
        </p:nvSpPr>
        <p:spPr bwMode="auto">
          <a:xfrm>
            <a:off x="274796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17413" name="AutoShape 5"/>
          <p:cNvSpPr>
            <a:spLocks noChangeArrowheads="1"/>
          </p:cNvSpPr>
          <p:nvPr/>
        </p:nvSpPr>
        <p:spPr bwMode="auto">
          <a:xfrm>
            <a:off x="27320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4" name="Text Box 6"/>
          <p:cNvSpPr txBox="1">
            <a:spLocks noChangeArrowheads="1"/>
          </p:cNvSpPr>
          <p:nvPr/>
        </p:nvSpPr>
        <p:spPr bwMode="auto">
          <a:xfrm>
            <a:off x="48752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17415" name="AutoShape 7"/>
          <p:cNvSpPr>
            <a:spLocks noChangeArrowheads="1"/>
          </p:cNvSpPr>
          <p:nvPr/>
        </p:nvSpPr>
        <p:spPr bwMode="auto">
          <a:xfrm>
            <a:off x="48593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6" name="Text Box 8"/>
          <p:cNvSpPr txBox="1">
            <a:spLocks noChangeArrowheads="1"/>
          </p:cNvSpPr>
          <p:nvPr/>
        </p:nvSpPr>
        <p:spPr bwMode="auto">
          <a:xfrm>
            <a:off x="620713" y="8143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
            </a:r>
            <a:br>
              <a:rPr lang="en-US" sz="2000" b="1"/>
            </a:br>
            <a:r>
              <a:rPr lang="en-US" sz="2000" b="1"/>
              <a:t>(draft)</a:t>
            </a:r>
          </a:p>
        </p:txBody>
      </p:sp>
      <p:sp>
        <p:nvSpPr>
          <p:cNvPr id="17417" name="Text Box 9"/>
          <p:cNvSpPr txBox="1">
            <a:spLocks noChangeArrowheads="1"/>
          </p:cNvSpPr>
          <p:nvPr/>
        </p:nvSpPr>
        <p:spPr bwMode="auto">
          <a:xfrm>
            <a:off x="70040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Ability</a:t>
            </a:r>
            <a:br>
              <a:rPr lang="en-US" sz="2000" b="1"/>
            </a:br>
            <a:r>
              <a:rPr lang="en-US" sz="2000" b="1"/>
              <a:t>to</a:t>
            </a:r>
            <a:br>
              <a:rPr lang="en-US" sz="2000" b="1"/>
            </a:br>
            <a:r>
              <a:rPr lang="en-US" sz="2000" b="1"/>
              <a:t>Pay</a:t>
            </a:r>
          </a:p>
        </p:txBody>
      </p:sp>
      <p:sp>
        <p:nvSpPr>
          <p:cNvPr id="17418" name="AutoShape 10"/>
          <p:cNvSpPr>
            <a:spLocks noChangeArrowheads="1"/>
          </p:cNvSpPr>
          <p:nvPr/>
        </p:nvSpPr>
        <p:spPr bwMode="auto">
          <a:xfrm>
            <a:off x="6988175"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06091" name="AutoShape 11"/>
          <p:cNvSpPr>
            <a:spLocks noChangeArrowheads="1"/>
          </p:cNvSpPr>
          <p:nvPr/>
        </p:nvSpPr>
        <p:spPr bwMode="auto">
          <a:xfrm>
            <a:off x="2309813" y="1101725"/>
            <a:ext cx="433387" cy="347663"/>
          </a:xfrm>
          <a:prstGeom prst="rightArrow">
            <a:avLst>
              <a:gd name="adj1" fmla="val 49769"/>
              <a:gd name="adj2" fmla="val 59818"/>
            </a:avLst>
          </a:prstGeom>
          <a:gradFill rotWithShape="1">
            <a:gsLst>
              <a:gs pos="0">
                <a:schemeClr val="bg1">
                  <a:gamma/>
                  <a:tint val="0"/>
                  <a:invGamma/>
                </a:schemeClr>
              </a:gs>
              <a:gs pos="100000">
                <a:schemeClr val="bg1"/>
              </a:gs>
            </a:gsLst>
            <a:lin ang="0" scaled="1"/>
          </a:gradFill>
          <a:ln w="28575" algn="ctr">
            <a:noFill/>
            <a:miter lim="800000"/>
            <a:headEnd/>
            <a:tailEnd/>
          </a:ln>
          <a:effectLst/>
        </p:spPr>
        <p:txBody>
          <a:bodyPr wrap="none" lIns="0" tIns="0" rIns="0" bIns="0" anchor="ctr">
            <a:spAutoFit/>
          </a:bodyPr>
          <a:lstStyle/>
          <a:p>
            <a:pPr>
              <a:defRPr/>
            </a:pPr>
            <a:endParaRPr lang="en-US"/>
          </a:p>
        </p:txBody>
      </p:sp>
      <p:sp>
        <p:nvSpPr>
          <p:cNvPr id="17420" name="AutoShape 12"/>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7421" name="AutoShape 13"/>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8434" name="AutoShape 2"/>
          <p:cNvSpPr>
            <a:spLocks noChangeArrowheads="1"/>
          </p:cNvSpPr>
          <p:nvPr/>
        </p:nvSpPr>
        <p:spPr bwMode="auto">
          <a:xfrm>
            <a:off x="1695450" y="2193925"/>
            <a:ext cx="3363913" cy="765175"/>
          </a:xfrm>
          <a:prstGeom prst="rightArrow">
            <a:avLst>
              <a:gd name="adj1" fmla="val 49778"/>
              <a:gd name="adj2" fmla="val 46466"/>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sp>
        <p:nvSpPr>
          <p:cNvPr id="18435" name="AutoShape 3"/>
          <p:cNvSpPr>
            <a:spLocks noChangeArrowheads="1"/>
          </p:cNvSpPr>
          <p:nvPr/>
        </p:nvSpPr>
        <p:spPr bwMode="auto">
          <a:xfrm>
            <a:off x="2732088" y="750888"/>
            <a:ext cx="1695450" cy="1081087"/>
          </a:xfrm>
          <a:prstGeom prst="roundRect">
            <a:avLst>
              <a:gd name="adj" fmla="val 16667"/>
            </a:avLst>
          </a:prstGeom>
          <a:solidFill>
            <a:schemeClr val="folHlink"/>
          </a:solidFill>
          <a:ln w="28575" algn="ctr">
            <a:solidFill>
              <a:schemeClr val="bg1"/>
            </a:solidFill>
            <a:round/>
            <a:headEnd/>
            <a:tailEnd/>
          </a:ln>
        </p:spPr>
        <p:txBody>
          <a:bodyPr lIns="0" tIns="0" rIns="0" bIns="0" anchor="ctr">
            <a:spAutoFit/>
          </a:bodyPr>
          <a:lstStyle/>
          <a:p>
            <a:endParaRPr lang="en-US"/>
          </a:p>
        </p:txBody>
      </p:sp>
      <p:grpSp>
        <p:nvGrpSpPr>
          <p:cNvPr id="18436" name="Group 4"/>
          <p:cNvGrpSpPr>
            <a:grpSpLocks/>
          </p:cNvGrpSpPr>
          <p:nvPr/>
        </p:nvGrpSpPr>
        <p:grpSpPr bwMode="auto">
          <a:xfrm>
            <a:off x="3006725" y="2157413"/>
            <a:ext cx="1528763" cy="1638300"/>
            <a:chOff x="445" y="1359"/>
            <a:chExt cx="1139" cy="1220"/>
          </a:xfrm>
        </p:grpSpPr>
        <p:sp>
          <p:nvSpPr>
            <p:cNvPr id="18454" name="Line 5"/>
            <p:cNvSpPr>
              <a:spLocks noChangeShapeType="1"/>
            </p:cNvSpPr>
            <p:nvPr/>
          </p:nvSpPr>
          <p:spPr bwMode="auto">
            <a:xfrm flipV="1">
              <a:off x="868" y="1810"/>
              <a:ext cx="0" cy="494"/>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55" name="Line 6"/>
            <p:cNvSpPr>
              <a:spLocks noChangeShapeType="1"/>
            </p:cNvSpPr>
            <p:nvPr/>
          </p:nvSpPr>
          <p:spPr bwMode="auto">
            <a:xfrm>
              <a:off x="863" y="2309"/>
              <a:ext cx="49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456" name="Group 7"/>
            <p:cNvGrpSpPr>
              <a:grpSpLocks/>
            </p:cNvGrpSpPr>
            <p:nvPr/>
          </p:nvGrpSpPr>
          <p:grpSpPr bwMode="auto">
            <a:xfrm>
              <a:off x="445" y="1359"/>
              <a:ext cx="834" cy="615"/>
              <a:chOff x="2083" y="1606"/>
              <a:chExt cx="1489" cy="1097"/>
            </a:xfrm>
          </p:grpSpPr>
          <p:sp>
            <p:nvSpPr>
              <p:cNvPr id="18464" name="Rectangle 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8465" name="Freeform 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8466" name="Freeform 1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8467" name="Freeform 1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8468" name="Freeform 1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8469" name="Rectangle 1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8470" name="Rectangle 1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71" name="AutoShape 1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8472" name="Freeform 16"/>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8473" name="Freeform 17"/>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8474" name="Rectangle 1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75" name="Rectangle 1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76" name="Rectangle 2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8477" name="Group 21"/>
              <p:cNvGrpSpPr>
                <a:grpSpLocks/>
              </p:cNvGrpSpPr>
              <p:nvPr/>
            </p:nvGrpSpPr>
            <p:grpSpPr bwMode="auto">
              <a:xfrm>
                <a:off x="2221" y="1871"/>
                <a:ext cx="518" cy="782"/>
                <a:chOff x="2400" y="1656"/>
                <a:chExt cx="752" cy="1136"/>
              </a:xfrm>
            </p:grpSpPr>
            <p:sp>
              <p:nvSpPr>
                <p:cNvPr id="18490" name="Freeform 2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8491" name="Freeform 2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492" name="Freeform 2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493" name="Freeform 2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494" name="Freeform 2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8495" name="Line 2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96" name="Line 2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8478" name="Group 29"/>
              <p:cNvGrpSpPr>
                <a:grpSpLocks/>
              </p:cNvGrpSpPr>
              <p:nvPr/>
            </p:nvGrpSpPr>
            <p:grpSpPr bwMode="auto">
              <a:xfrm rot="-6511945">
                <a:off x="2834" y="1842"/>
                <a:ext cx="518" cy="783"/>
                <a:chOff x="2400" y="1656"/>
                <a:chExt cx="752" cy="1136"/>
              </a:xfrm>
            </p:grpSpPr>
            <p:sp>
              <p:nvSpPr>
                <p:cNvPr id="18483" name="Freeform 3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8484" name="Freeform 3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485" name="Freeform 3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486" name="Freeform 3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487" name="Freeform 3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8488" name="Line 3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89" name="Line 3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8479" name="Freeform 37"/>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8480" name="Freeform 38"/>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8481" name="Rectangle 3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2" name="Rectangle 4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8457" name="Group 41"/>
            <p:cNvGrpSpPr>
              <a:grpSpLocks/>
            </p:cNvGrpSpPr>
            <p:nvPr/>
          </p:nvGrpSpPr>
          <p:grpSpPr bwMode="auto">
            <a:xfrm>
              <a:off x="1066" y="2064"/>
              <a:ext cx="518" cy="515"/>
              <a:chOff x="3360" y="800"/>
              <a:chExt cx="620" cy="616"/>
            </a:xfrm>
          </p:grpSpPr>
          <p:sp>
            <p:nvSpPr>
              <p:cNvPr id="18458" name="AutoShape 4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8459" name="Freeform 4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8460" name="Group 44"/>
              <p:cNvGrpSpPr>
                <a:grpSpLocks/>
              </p:cNvGrpSpPr>
              <p:nvPr/>
            </p:nvGrpSpPr>
            <p:grpSpPr bwMode="auto">
              <a:xfrm flipH="1">
                <a:off x="3749" y="1171"/>
                <a:ext cx="212" cy="213"/>
                <a:chOff x="1350" y="686"/>
                <a:chExt cx="1132" cy="1132"/>
              </a:xfrm>
            </p:grpSpPr>
            <p:sp>
              <p:nvSpPr>
                <p:cNvPr id="18462" name="AutoShape 4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8463" name="Picture 4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8461" name="Picture 4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8437" name="Rectangle 48"/>
          <p:cNvSpPr>
            <a:spLocks noGrp="1" noChangeArrowheads="1"/>
          </p:cNvSpPr>
          <p:nvPr>
            <p:ph type="title"/>
          </p:nvPr>
        </p:nvSpPr>
        <p:spPr/>
        <p:txBody>
          <a:bodyPr/>
          <a:lstStyle/>
          <a:p>
            <a:r>
              <a:rPr lang="en-US" smtClean="0"/>
              <a:t>New loss completion</a:t>
            </a:r>
          </a:p>
        </p:txBody>
      </p:sp>
      <p:sp>
        <p:nvSpPr>
          <p:cNvPr id="18438" name="Rectangle 49"/>
          <p:cNvSpPr>
            <a:spLocks noGrp="1" noChangeArrowheads="1"/>
          </p:cNvSpPr>
          <p:nvPr>
            <p:ph idx="1"/>
          </p:nvPr>
        </p:nvSpPr>
        <p:spPr>
          <a:xfrm>
            <a:off x="519113" y="4440238"/>
            <a:ext cx="8318500" cy="1949450"/>
          </a:xfrm>
        </p:spPr>
        <p:txBody>
          <a:bodyPr/>
          <a:lstStyle/>
          <a:p>
            <a:pPr>
              <a:buFont typeface="Arial" charset="0"/>
              <a:buChar char="•"/>
            </a:pPr>
            <a:r>
              <a:rPr lang="en-US" smtClean="0"/>
              <a:t>To be saved as a new claim or exposure, the object must meet all conditions at "new loss completion"</a:t>
            </a:r>
          </a:p>
          <a:p>
            <a:pPr lvl="1"/>
            <a:r>
              <a:rPr lang="en-US" smtClean="0"/>
              <a:t>If a draft claim or exposure does not meet all conditions at this level, the save fails and the user is told which condition(s) the object does not yet meet</a:t>
            </a:r>
          </a:p>
        </p:txBody>
      </p:sp>
      <p:sp>
        <p:nvSpPr>
          <p:cNvPr id="18439" name="Text Box 50"/>
          <p:cNvSpPr txBox="1">
            <a:spLocks noChangeArrowheads="1"/>
          </p:cNvSpPr>
          <p:nvPr/>
        </p:nvSpPr>
        <p:spPr bwMode="auto">
          <a:xfrm>
            <a:off x="274796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18440" name="Text Box 51"/>
          <p:cNvSpPr txBox="1">
            <a:spLocks noChangeArrowheads="1"/>
          </p:cNvSpPr>
          <p:nvPr/>
        </p:nvSpPr>
        <p:spPr bwMode="auto">
          <a:xfrm>
            <a:off x="48752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18441" name="AutoShape 52"/>
          <p:cNvSpPr>
            <a:spLocks noChangeArrowheads="1"/>
          </p:cNvSpPr>
          <p:nvPr/>
        </p:nvSpPr>
        <p:spPr bwMode="auto">
          <a:xfrm>
            <a:off x="48593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2" name="Text Box 53"/>
          <p:cNvSpPr txBox="1">
            <a:spLocks noChangeArrowheads="1"/>
          </p:cNvSpPr>
          <p:nvPr/>
        </p:nvSpPr>
        <p:spPr bwMode="auto">
          <a:xfrm>
            <a:off x="620713" y="8143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
            </a:r>
            <a:br>
              <a:rPr lang="en-US" sz="2000" b="1"/>
            </a:br>
            <a:r>
              <a:rPr lang="en-US" sz="2000" b="1"/>
              <a:t>(draft)</a:t>
            </a:r>
          </a:p>
        </p:txBody>
      </p:sp>
      <p:sp>
        <p:nvSpPr>
          <p:cNvPr id="18443" name="Text Box 54"/>
          <p:cNvSpPr txBox="1">
            <a:spLocks noChangeArrowheads="1"/>
          </p:cNvSpPr>
          <p:nvPr/>
        </p:nvSpPr>
        <p:spPr bwMode="auto">
          <a:xfrm>
            <a:off x="70040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Ability</a:t>
            </a:r>
            <a:br>
              <a:rPr lang="en-US" sz="2000" b="1"/>
            </a:br>
            <a:r>
              <a:rPr lang="en-US" sz="2000" b="1"/>
              <a:t>to</a:t>
            </a:r>
            <a:br>
              <a:rPr lang="en-US" sz="2000" b="1"/>
            </a:br>
            <a:r>
              <a:rPr lang="en-US" sz="2000" b="1"/>
              <a:t>Pay</a:t>
            </a:r>
          </a:p>
        </p:txBody>
      </p:sp>
      <p:sp>
        <p:nvSpPr>
          <p:cNvPr id="18444" name="AutoShape 55"/>
          <p:cNvSpPr>
            <a:spLocks noChangeArrowheads="1"/>
          </p:cNvSpPr>
          <p:nvPr/>
        </p:nvSpPr>
        <p:spPr bwMode="auto">
          <a:xfrm>
            <a:off x="6988175"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08184" name="AutoShape 56"/>
          <p:cNvSpPr>
            <a:spLocks noChangeArrowheads="1"/>
          </p:cNvSpPr>
          <p:nvPr/>
        </p:nvSpPr>
        <p:spPr bwMode="auto">
          <a:xfrm>
            <a:off x="2309813" y="1101725"/>
            <a:ext cx="433387" cy="347663"/>
          </a:xfrm>
          <a:prstGeom prst="rightArrow">
            <a:avLst>
              <a:gd name="adj1" fmla="val 49769"/>
              <a:gd name="adj2" fmla="val 59818"/>
            </a:avLst>
          </a:prstGeom>
          <a:gradFill rotWithShape="1">
            <a:gsLst>
              <a:gs pos="0">
                <a:schemeClr val="bg1">
                  <a:gamma/>
                  <a:tint val="0"/>
                  <a:invGamma/>
                </a:schemeClr>
              </a:gs>
              <a:gs pos="100000">
                <a:schemeClr val="bg1"/>
              </a:gs>
            </a:gsLst>
            <a:lin ang="0" scaled="1"/>
          </a:gradFill>
          <a:ln w="28575" algn="ctr">
            <a:noFill/>
            <a:miter lim="800000"/>
            <a:headEnd/>
            <a:tailEnd/>
          </a:ln>
          <a:effectLst/>
        </p:spPr>
        <p:txBody>
          <a:bodyPr wrap="none" lIns="0" tIns="0" rIns="0" bIns="0" anchor="ctr">
            <a:spAutoFit/>
          </a:bodyPr>
          <a:lstStyle/>
          <a:p>
            <a:pPr>
              <a:defRPr/>
            </a:pPr>
            <a:endParaRPr lang="en-US"/>
          </a:p>
        </p:txBody>
      </p:sp>
      <p:sp>
        <p:nvSpPr>
          <p:cNvPr id="18446" name="AutoShape 57"/>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8447" name="AutoShape 58"/>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18448" name="Group 59"/>
          <p:cNvGrpSpPr>
            <a:grpSpLocks/>
          </p:cNvGrpSpPr>
          <p:nvPr/>
        </p:nvGrpSpPr>
        <p:grpSpPr bwMode="auto">
          <a:xfrm>
            <a:off x="744538" y="2157413"/>
            <a:ext cx="1528762" cy="1638300"/>
            <a:chOff x="469" y="1359"/>
            <a:chExt cx="963" cy="1032"/>
          </a:xfrm>
        </p:grpSpPr>
        <p:sp>
          <p:nvSpPr>
            <p:cNvPr id="18450" name="Line 60"/>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51" name="Line 61"/>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52" name="Rectangle 62"/>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53" name="AutoShape 63"/>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sp>
        <p:nvSpPr>
          <p:cNvPr id="18449" name="AutoShape 64"/>
          <p:cNvSpPr>
            <a:spLocks noChangeArrowheads="1"/>
          </p:cNvSpPr>
          <p:nvPr/>
        </p:nvSpPr>
        <p:spPr bwMode="auto">
          <a:xfrm>
            <a:off x="5087938" y="2020888"/>
            <a:ext cx="1117600" cy="1117600"/>
          </a:xfrm>
          <a:prstGeom prst="octagon">
            <a:avLst>
              <a:gd name="adj" fmla="val 29287"/>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sp>
        <p:nvSpPr>
          <p:cNvPr id="19458" name="AutoShape 2"/>
          <p:cNvSpPr>
            <a:spLocks noChangeArrowheads="1"/>
          </p:cNvSpPr>
          <p:nvPr/>
        </p:nvSpPr>
        <p:spPr bwMode="auto">
          <a:xfrm>
            <a:off x="4859338" y="750888"/>
            <a:ext cx="1695450" cy="1081087"/>
          </a:xfrm>
          <a:prstGeom prst="roundRect">
            <a:avLst>
              <a:gd name="adj" fmla="val 16667"/>
            </a:avLst>
          </a:prstGeom>
          <a:solidFill>
            <a:schemeClr val="folHlink"/>
          </a:solidFill>
          <a:ln w="28575" algn="ctr">
            <a:solidFill>
              <a:schemeClr val="bg1"/>
            </a:solidFill>
            <a:round/>
            <a:headEnd/>
            <a:tailEnd/>
          </a:ln>
        </p:spPr>
        <p:txBody>
          <a:bodyPr lIns="0" tIns="0" rIns="0" bIns="0" anchor="ctr">
            <a:spAutoFit/>
          </a:bodyPr>
          <a:lstStyle/>
          <a:p>
            <a:endParaRPr lang="en-US"/>
          </a:p>
        </p:txBody>
      </p:sp>
      <p:sp>
        <p:nvSpPr>
          <p:cNvPr id="19459" name="AutoShape 3"/>
          <p:cNvSpPr>
            <a:spLocks noChangeArrowheads="1"/>
          </p:cNvSpPr>
          <p:nvPr/>
        </p:nvSpPr>
        <p:spPr bwMode="auto">
          <a:xfrm>
            <a:off x="1695450" y="2193925"/>
            <a:ext cx="5568950" cy="765175"/>
          </a:xfrm>
          <a:prstGeom prst="rightArrow">
            <a:avLst>
              <a:gd name="adj1" fmla="val 49778"/>
              <a:gd name="adj2" fmla="val 76925"/>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19460" name="Group 4"/>
          <p:cNvGrpSpPr>
            <a:grpSpLocks/>
          </p:cNvGrpSpPr>
          <p:nvPr/>
        </p:nvGrpSpPr>
        <p:grpSpPr bwMode="auto">
          <a:xfrm>
            <a:off x="5118100" y="2157413"/>
            <a:ext cx="1528763" cy="1638300"/>
            <a:chOff x="445" y="1359"/>
            <a:chExt cx="1139" cy="1220"/>
          </a:xfrm>
        </p:grpSpPr>
        <p:sp>
          <p:nvSpPr>
            <p:cNvPr id="19483" name="Line 5"/>
            <p:cNvSpPr>
              <a:spLocks noChangeShapeType="1"/>
            </p:cNvSpPr>
            <p:nvPr/>
          </p:nvSpPr>
          <p:spPr bwMode="auto">
            <a:xfrm flipV="1">
              <a:off x="868" y="1810"/>
              <a:ext cx="0" cy="494"/>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84" name="Line 6"/>
            <p:cNvSpPr>
              <a:spLocks noChangeShapeType="1"/>
            </p:cNvSpPr>
            <p:nvPr/>
          </p:nvSpPr>
          <p:spPr bwMode="auto">
            <a:xfrm>
              <a:off x="863" y="2309"/>
              <a:ext cx="49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485" name="Group 7"/>
            <p:cNvGrpSpPr>
              <a:grpSpLocks/>
            </p:cNvGrpSpPr>
            <p:nvPr/>
          </p:nvGrpSpPr>
          <p:grpSpPr bwMode="auto">
            <a:xfrm>
              <a:off x="445" y="1359"/>
              <a:ext cx="834" cy="615"/>
              <a:chOff x="2083" y="1606"/>
              <a:chExt cx="1489" cy="1097"/>
            </a:xfrm>
          </p:grpSpPr>
          <p:sp>
            <p:nvSpPr>
              <p:cNvPr id="19493" name="Rectangle 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494" name="Freeform 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495" name="Freeform 1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496" name="Freeform 1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497" name="Freeform 1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498" name="Rectangle 1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9499" name="Rectangle 1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00" name="AutoShape 1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9501" name="Freeform 16"/>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02" name="Freeform 17"/>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03" name="Rectangle 1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04" name="Rectangle 1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05" name="Rectangle 2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9506" name="Group 21"/>
              <p:cNvGrpSpPr>
                <a:grpSpLocks/>
              </p:cNvGrpSpPr>
              <p:nvPr/>
            </p:nvGrpSpPr>
            <p:grpSpPr bwMode="auto">
              <a:xfrm>
                <a:off x="2221" y="1871"/>
                <a:ext cx="518" cy="782"/>
                <a:chOff x="2400" y="1656"/>
                <a:chExt cx="752" cy="1136"/>
              </a:xfrm>
            </p:grpSpPr>
            <p:sp>
              <p:nvSpPr>
                <p:cNvPr id="19519" name="Freeform 2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9520" name="Freeform 2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21" name="Freeform 2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22" name="Freeform 2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23" name="Freeform 2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9524" name="Line 2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5" name="Line 2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507" name="Group 29"/>
              <p:cNvGrpSpPr>
                <a:grpSpLocks/>
              </p:cNvGrpSpPr>
              <p:nvPr/>
            </p:nvGrpSpPr>
            <p:grpSpPr bwMode="auto">
              <a:xfrm rot="-6511945">
                <a:off x="2834" y="1842"/>
                <a:ext cx="518" cy="783"/>
                <a:chOff x="2400" y="1656"/>
                <a:chExt cx="752" cy="1136"/>
              </a:xfrm>
            </p:grpSpPr>
            <p:sp>
              <p:nvSpPr>
                <p:cNvPr id="19512" name="Freeform 3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9513" name="Freeform 3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14" name="Freeform 3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15" name="Freeform 3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16" name="Freeform 3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17" name="Line 3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8" name="Line 3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508" name="Freeform 37"/>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09" name="Freeform 38"/>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10" name="Rectangle 3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11" name="Rectangle 4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9486" name="Group 41"/>
            <p:cNvGrpSpPr>
              <a:grpSpLocks/>
            </p:cNvGrpSpPr>
            <p:nvPr/>
          </p:nvGrpSpPr>
          <p:grpSpPr bwMode="auto">
            <a:xfrm>
              <a:off x="1066" y="2064"/>
              <a:ext cx="518" cy="515"/>
              <a:chOff x="3360" y="800"/>
              <a:chExt cx="620" cy="616"/>
            </a:xfrm>
          </p:grpSpPr>
          <p:sp>
            <p:nvSpPr>
              <p:cNvPr id="19487" name="AutoShape 4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9488" name="Freeform 4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9489" name="Group 44"/>
              <p:cNvGrpSpPr>
                <a:grpSpLocks/>
              </p:cNvGrpSpPr>
              <p:nvPr/>
            </p:nvGrpSpPr>
            <p:grpSpPr bwMode="auto">
              <a:xfrm flipH="1">
                <a:off x="3749" y="1171"/>
                <a:ext cx="212" cy="213"/>
                <a:chOff x="1350" y="686"/>
                <a:chExt cx="1132" cy="1132"/>
              </a:xfrm>
            </p:grpSpPr>
            <p:sp>
              <p:nvSpPr>
                <p:cNvPr id="19491" name="AutoShape 4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9492" name="Picture 4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490" name="Picture 4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9461" name="Group 48"/>
          <p:cNvGrpSpPr>
            <a:grpSpLocks/>
          </p:cNvGrpSpPr>
          <p:nvPr/>
        </p:nvGrpSpPr>
        <p:grpSpPr bwMode="auto">
          <a:xfrm>
            <a:off x="744538" y="2157413"/>
            <a:ext cx="1528762" cy="1638300"/>
            <a:chOff x="469" y="1359"/>
            <a:chExt cx="963" cy="1032"/>
          </a:xfrm>
        </p:grpSpPr>
        <p:sp>
          <p:nvSpPr>
            <p:cNvPr id="19479" name="Line 49"/>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80" name="Line 50"/>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1" name="Rectangle 51"/>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82" name="AutoShape 52"/>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nvGrpSpPr>
          <p:cNvPr id="19462" name="Group 53"/>
          <p:cNvGrpSpPr>
            <a:grpSpLocks/>
          </p:cNvGrpSpPr>
          <p:nvPr/>
        </p:nvGrpSpPr>
        <p:grpSpPr bwMode="auto">
          <a:xfrm>
            <a:off x="3006725" y="2157413"/>
            <a:ext cx="1528763" cy="1638300"/>
            <a:chOff x="469" y="1359"/>
            <a:chExt cx="963" cy="1032"/>
          </a:xfrm>
        </p:grpSpPr>
        <p:sp>
          <p:nvSpPr>
            <p:cNvPr id="19475" name="Line 54"/>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6" name="Line 55"/>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7" name="Rectangle 56"/>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78" name="AutoShape 57"/>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sp>
        <p:nvSpPr>
          <p:cNvPr id="19463" name="Rectangle 58"/>
          <p:cNvSpPr>
            <a:spLocks noGrp="1" noChangeArrowheads="1"/>
          </p:cNvSpPr>
          <p:nvPr>
            <p:ph type="title"/>
          </p:nvPr>
        </p:nvSpPr>
        <p:spPr/>
        <p:txBody>
          <a:bodyPr/>
          <a:lstStyle/>
          <a:p>
            <a:r>
              <a:rPr lang="en-US" smtClean="0"/>
              <a:t>The maturing claim/exposure</a:t>
            </a:r>
          </a:p>
        </p:txBody>
      </p:sp>
      <p:sp>
        <p:nvSpPr>
          <p:cNvPr id="19464" name="Rectangle 59"/>
          <p:cNvSpPr>
            <a:spLocks noGrp="1" noChangeArrowheads="1"/>
          </p:cNvSpPr>
          <p:nvPr>
            <p:ph idx="1"/>
          </p:nvPr>
        </p:nvSpPr>
        <p:spPr>
          <a:xfrm>
            <a:off x="519113" y="4152900"/>
            <a:ext cx="8318500" cy="2236788"/>
          </a:xfrm>
        </p:spPr>
        <p:txBody>
          <a:bodyPr/>
          <a:lstStyle/>
          <a:p>
            <a:pPr>
              <a:buFont typeface="Arial" charset="0"/>
              <a:buChar char="•"/>
            </a:pPr>
            <a:r>
              <a:rPr lang="en-US" smtClean="0"/>
              <a:t>As claims processing continues, object satisfies more conditions</a:t>
            </a:r>
          </a:p>
          <a:p>
            <a:pPr lvl="1"/>
            <a:r>
              <a:rPr lang="en-US" smtClean="0"/>
              <a:t>Whenever possible, ClaimCenter automatically promotes it to the highest level it satisfies</a:t>
            </a:r>
          </a:p>
          <a:p>
            <a:pPr lvl="1"/>
            <a:r>
              <a:rPr lang="en-US" smtClean="0"/>
              <a:t>ClaimCenter prevents changes that would force an object to slip backwards</a:t>
            </a:r>
          </a:p>
        </p:txBody>
      </p:sp>
      <p:sp>
        <p:nvSpPr>
          <p:cNvPr id="19465" name="Text Box 60"/>
          <p:cNvSpPr txBox="1">
            <a:spLocks noChangeArrowheads="1"/>
          </p:cNvSpPr>
          <p:nvPr/>
        </p:nvSpPr>
        <p:spPr bwMode="auto">
          <a:xfrm>
            <a:off x="274796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19466" name="AutoShape 61"/>
          <p:cNvSpPr>
            <a:spLocks noChangeArrowheads="1"/>
          </p:cNvSpPr>
          <p:nvPr/>
        </p:nvSpPr>
        <p:spPr bwMode="auto">
          <a:xfrm>
            <a:off x="27320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7" name="Text Box 62"/>
          <p:cNvSpPr txBox="1">
            <a:spLocks noChangeArrowheads="1"/>
          </p:cNvSpPr>
          <p:nvPr/>
        </p:nvSpPr>
        <p:spPr bwMode="auto">
          <a:xfrm>
            <a:off x="48752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19468" name="Text Box 63"/>
          <p:cNvSpPr txBox="1">
            <a:spLocks noChangeArrowheads="1"/>
          </p:cNvSpPr>
          <p:nvPr/>
        </p:nvSpPr>
        <p:spPr bwMode="auto">
          <a:xfrm>
            <a:off x="620713" y="8143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
            </a:r>
            <a:br>
              <a:rPr lang="en-US" sz="2000" b="1"/>
            </a:br>
            <a:r>
              <a:rPr lang="en-US" sz="2000" b="1"/>
              <a:t>(draft)</a:t>
            </a:r>
          </a:p>
        </p:txBody>
      </p:sp>
      <p:sp>
        <p:nvSpPr>
          <p:cNvPr id="19469" name="Text Box 64"/>
          <p:cNvSpPr txBox="1">
            <a:spLocks noChangeArrowheads="1"/>
          </p:cNvSpPr>
          <p:nvPr/>
        </p:nvSpPr>
        <p:spPr bwMode="auto">
          <a:xfrm>
            <a:off x="70040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Ability</a:t>
            </a:r>
            <a:br>
              <a:rPr lang="en-US" sz="2000" b="1"/>
            </a:br>
            <a:r>
              <a:rPr lang="en-US" sz="2000" b="1"/>
              <a:t>to</a:t>
            </a:r>
            <a:br>
              <a:rPr lang="en-US" sz="2000" b="1"/>
            </a:br>
            <a:r>
              <a:rPr lang="en-US" sz="2000" b="1"/>
              <a:t>Pay</a:t>
            </a:r>
          </a:p>
        </p:txBody>
      </p:sp>
      <p:sp>
        <p:nvSpPr>
          <p:cNvPr id="19470" name="AutoShape 65"/>
          <p:cNvSpPr>
            <a:spLocks noChangeArrowheads="1"/>
          </p:cNvSpPr>
          <p:nvPr/>
        </p:nvSpPr>
        <p:spPr bwMode="auto">
          <a:xfrm>
            <a:off x="6988175"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10242" name="AutoShape 66"/>
          <p:cNvSpPr>
            <a:spLocks noChangeArrowheads="1"/>
          </p:cNvSpPr>
          <p:nvPr/>
        </p:nvSpPr>
        <p:spPr bwMode="auto">
          <a:xfrm>
            <a:off x="2309813" y="1101725"/>
            <a:ext cx="433387" cy="347663"/>
          </a:xfrm>
          <a:prstGeom prst="rightArrow">
            <a:avLst>
              <a:gd name="adj1" fmla="val 49769"/>
              <a:gd name="adj2" fmla="val 59818"/>
            </a:avLst>
          </a:prstGeom>
          <a:gradFill rotWithShape="1">
            <a:gsLst>
              <a:gs pos="0">
                <a:schemeClr val="bg1">
                  <a:gamma/>
                  <a:tint val="0"/>
                  <a:invGamma/>
                </a:schemeClr>
              </a:gs>
              <a:gs pos="100000">
                <a:schemeClr val="bg1"/>
              </a:gs>
            </a:gsLst>
            <a:lin ang="0" scaled="1"/>
          </a:gradFill>
          <a:ln w="28575" algn="ctr">
            <a:noFill/>
            <a:miter lim="800000"/>
            <a:headEnd/>
            <a:tailEnd/>
          </a:ln>
          <a:effectLst/>
        </p:spPr>
        <p:txBody>
          <a:bodyPr wrap="none" lIns="0" tIns="0" rIns="0" bIns="0" anchor="ctr">
            <a:spAutoFit/>
          </a:bodyPr>
          <a:lstStyle/>
          <a:p>
            <a:pPr>
              <a:defRPr/>
            </a:pPr>
            <a:endParaRPr lang="en-US"/>
          </a:p>
        </p:txBody>
      </p:sp>
      <p:sp>
        <p:nvSpPr>
          <p:cNvPr id="19472" name="AutoShape 67"/>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473" name="AutoShape 68"/>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474" name="AutoShape 69"/>
          <p:cNvSpPr>
            <a:spLocks noChangeArrowheads="1"/>
          </p:cNvSpPr>
          <p:nvPr/>
        </p:nvSpPr>
        <p:spPr bwMode="auto">
          <a:xfrm>
            <a:off x="7288213" y="2020888"/>
            <a:ext cx="1117600" cy="1117600"/>
          </a:xfrm>
          <a:prstGeom prst="octagon">
            <a:avLst>
              <a:gd name="adj" fmla="val 29287"/>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sp>
        <p:nvSpPr>
          <p:cNvPr id="20482" name="AutoShape 2"/>
          <p:cNvSpPr>
            <a:spLocks noChangeArrowheads="1"/>
          </p:cNvSpPr>
          <p:nvPr/>
        </p:nvSpPr>
        <p:spPr bwMode="auto">
          <a:xfrm>
            <a:off x="6988175" y="750888"/>
            <a:ext cx="1695450" cy="1081087"/>
          </a:xfrm>
          <a:prstGeom prst="roundRect">
            <a:avLst>
              <a:gd name="adj" fmla="val 16667"/>
            </a:avLst>
          </a:prstGeom>
          <a:solidFill>
            <a:schemeClr val="folHlink"/>
          </a:solidFill>
          <a:ln w="28575" algn="ctr">
            <a:solidFill>
              <a:schemeClr val="bg1"/>
            </a:solidFill>
            <a:round/>
            <a:headEnd/>
            <a:tailEnd/>
          </a:ln>
        </p:spPr>
        <p:txBody>
          <a:bodyPr lIns="0" tIns="0" rIns="0" bIns="0" anchor="ctr">
            <a:spAutoFit/>
          </a:bodyPr>
          <a:lstStyle/>
          <a:p>
            <a:endParaRPr lang="en-US"/>
          </a:p>
        </p:txBody>
      </p:sp>
      <p:sp>
        <p:nvSpPr>
          <p:cNvPr id="20483" name="Rectangle 3"/>
          <p:cNvSpPr>
            <a:spLocks noGrp="1" noChangeArrowheads="1"/>
          </p:cNvSpPr>
          <p:nvPr>
            <p:ph type="title"/>
          </p:nvPr>
        </p:nvSpPr>
        <p:spPr/>
        <p:txBody>
          <a:bodyPr/>
          <a:lstStyle/>
          <a:p>
            <a:r>
              <a:rPr lang="en-US" smtClean="0"/>
              <a:t>Ability to pay</a:t>
            </a:r>
          </a:p>
        </p:txBody>
      </p:sp>
      <p:sp>
        <p:nvSpPr>
          <p:cNvPr id="20484" name="Rectangle 4"/>
          <p:cNvSpPr>
            <a:spLocks noGrp="1" noChangeArrowheads="1"/>
          </p:cNvSpPr>
          <p:nvPr>
            <p:ph idx="1"/>
          </p:nvPr>
        </p:nvSpPr>
        <p:spPr>
          <a:xfrm>
            <a:off x="519113" y="4749800"/>
            <a:ext cx="8318500" cy="1639888"/>
          </a:xfrm>
        </p:spPr>
        <p:txBody>
          <a:bodyPr/>
          <a:lstStyle/>
          <a:p>
            <a:pPr>
              <a:buFont typeface="Arial" charset="0"/>
              <a:buChar char="•"/>
            </a:pPr>
            <a:r>
              <a:rPr lang="en-US" smtClean="0"/>
              <a:t>Eventually, objects reach "ability to pay"</a:t>
            </a:r>
          </a:p>
          <a:p>
            <a:pPr lvl="1"/>
            <a:r>
              <a:rPr lang="en-US" smtClean="0"/>
              <a:t>Checks cannot be issued if claim is not at this level</a:t>
            </a:r>
          </a:p>
          <a:p>
            <a:pPr lvl="1"/>
            <a:r>
              <a:rPr lang="en-US" smtClean="0"/>
              <a:t>Exposure reserve lines cannot be used if exposure is not at this level</a:t>
            </a:r>
          </a:p>
          <a:p>
            <a:pPr lvl="1"/>
            <a:endParaRPr lang="en-US" smtClean="0"/>
          </a:p>
        </p:txBody>
      </p:sp>
      <p:sp>
        <p:nvSpPr>
          <p:cNvPr id="20485" name="Text Box 5"/>
          <p:cNvSpPr txBox="1">
            <a:spLocks noChangeArrowheads="1"/>
          </p:cNvSpPr>
          <p:nvPr/>
        </p:nvSpPr>
        <p:spPr bwMode="auto">
          <a:xfrm>
            <a:off x="274796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20486" name="AutoShape 6"/>
          <p:cNvSpPr>
            <a:spLocks noChangeArrowheads="1"/>
          </p:cNvSpPr>
          <p:nvPr/>
        </p:nvSpPr>
        <p:spPr bwMode="auto">
          <a:xfrm>
            <a:off x="27320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7" name="Text Box 7"/>
          <p:cNvSpPr txBox="1">
            <a:spLocks noChangeArrowheads="1"/>
          </p:cNvSpPr>
          <p:nvPr/>
        </p:nvSpPr>
        <p:spPr bwMode="auto">
          <a:xfrm>
            <a:off x="48752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20488" name="AutoShape 8"/>
          <p:cNvSpPr>
            <a:spLocks noChangeArrowheads="1"/>
          </p:cNvSpPr>
          <p:nvPr/>
        </p:nvSpPr>
        <p:spPr bwMode="auto">
          <a:xfrm>
            <a:off x="48593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9" name="Text Box 9"/>
          <p:cNvSpPr txBox="1">
            <a:spLocks noChangeArrowheads="1"/>
          </p:cNvSpPr>
          <p:nvPr/>
        </p:nvSpPr>
        <p:spPr bwMode="auto">
          <a:xfrm>
            <a:off x="620713" y="8143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
            </a:r>
            <a:br>
              <a:rPr lang="en-US" sz="2000" b="1"/>
            </a:br>
            <a:r>
              <a:rPr lang="en-US" sz="2000" b="1"/>
              <a:t>(draft)</a:t>
            </a:r>
          </a:p>
        </p:txBody>
      </p:sp>
      <p:sp>
        <p:nvSpPr>
          <p:cNvPr id="20490" name="Text Box 10"/>
          <p:cNvSpPr txBox="1">
            <a:spLocks noChangeArrowheads="1"/>
          </p:cNvSpPr>
          <p:nvPr/>
        </p:nvSpPr>
        <p:spPr bwMode="auto">
          <a:xfrm>
            <a:off x="70040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Ability</a:t>
            </a:r>
            <a:br>
              <a:rPr lang="en-US" sz="2000" b="1"/>
            </a:br>
            <a:r>
              <a:rPr lang="en-US" sz="2000" b="1"/>
              <a:t>to</a:t>
            </a:r>
            <a:br>
              <a:rPr lang="en-US" sz="2000" b="1"/>
            </a:br>
            <a:r>
              <a:rPr lang="en-US" sz="2000" b="1"/>
              <a:t>Pay</a:t>
            </a:r>
          </a:p>
        </p:txBody>
      </p:sp>
      <p:sp>
        <p:nvSpPr>
          <p:cNvPr id="2612235" name="AutoShape 11"/>
          <p:cNvSpPr>
            <a:spLocks noChangeArrowheads="1"/>
          </p:cNvSpPr>
          <p:nvPr/>
        </p:nvSpPr>
        <p:spPr bwMode="auto">
          <a:xfrm>
            <a:off x="2309813" y="1101725"/>
            <a:ext cx="433387" cy="347663"/>
          </a:xfrm>
          <a:prstGeom prst="rightArrow">
            <a:avLst>
              <a:gd name="adj1" fmla="val 49769"/>
              <a:gd name="adj2" fmla="val 59818"/>
            </a:avLst>
          </a:prstGeom>
          <a:gradFill rotWithShape="1">
            <a:gsLst>
              <a:gs pos="0">
                <a:schemeClr val="bg1">
                  <a:gamma/>
                  <a:tint val="0"/>
                  <a:invGamma/>
                </a:schemeClr>
              </a:gs>
              <a:gs pos="100000">
                <a:schemeClr val="bg1"/>
              </a:gs>
            </a:gsLst>
            <a:lin ang="0" scaled="1"/>
          </a:gradFill>
          <a:ln w="28575" algn="ctr">
            <a:noFill/>
            <a:miter lim="800000"/>
            <a:headEnd/>
            <a:tailEnd/>
          </a:ln>
          <a:effectLst/>
        </p:spPr>
        <p:txBody>
          <a:bodyPr wrap="none" lIns="0" tIns="0" rIns="0" bIns="0" anchor="ctr">
            <a:spAutoFit/>
          </a:bodyPr>
          <a:lstStyle/>
          <a:p>
            <a:pPr>
              <a:defRPr/>
            </a:pPr>
            <a:endParaRPr lang="en-US"/>
          </a:p>
        </p:txBody>
      </p:sp>
      <p:sp>
        <p:nvSpPr>
          <p:cNvPr id="20492" name="AutoShape 12"/>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0493" name="AutoShape 13"/>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20494" name="Group 14"/>
          <p:cNvGrpSpPr>
            <a:grpSpLocks/>
          </p:cNvGrpSpPr>
          <p:nvPr/>
        </p:nvGrpSpPr>
        <p:grpSpPr bwMode="auto">
          <a:xfrm>
            <a:off x="744538" y="2157413"/>
            <a:ext cx="8161337" cy="2836862"/>
            <a:chOff x="469" y="1359"/>
            <a:chExt cx="5141" cy="1787"/>
          </a:xfrm>
        </p:grpSpPr>
        <p:grpSp>
          <p:nvGrpSpPr>
            <p:cNvPr id="20495" name="Group 15"/>
            <p:cNvGrpSpPr>
              <a:grpSpLocks/>
            </p:cNvGrpSpPr>
            <p:nvPr/>
          </p:nvGrpSpPr>
          <p:grpSpPr bwMode="auto">
            <a:xfrm>
              <a:off x="5036" y="2538"/>
              <a:ext cx="574" cy="608"/>
              <a:chOff x="4266" y="1084"/>
              <a:chExt cx="1015" cy="1075"/>
            </a:xfrm>
          </p:grpSpPr>
          <p:sp>
            <p:nvSpPr>
              <p:cNvPr id="20557" name="AutoShape 16"/>
              <p:cNvSpPr>
                <a:spLocks noChangeArrowheads="1"/>
              </p:cNvSpPr>
              <p:nvPr/>
            </p:nvSpPr>
            <p:spPr bwMode="auto">
              <a:xfrm rot="18704765" flipH="1">
                <a:off x="4920" y="1523"/>
                <a:ext cx="142"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20558" name="AutoShape 17"/>
              <p:cNvSpPr>
                <a:spLocks noChangeArrowheads="1"/>
              </p:cNvSpPr>
              <p:nvPr/>
            </p:nvSpPr>
            <p:spPr bwMode="auto">
              <a:xfrm rot="18704765" flipH="1">
                <a:off x="4550" y="1697"/>
                <a:ext cx="142"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20559" name="AutoShape 18"/>
              <p:cNvSpPr>
                <a:spLocks noChangeArrowheads="1"/>
              </p:cNvSpPr>
              <p:nvPr/>
            </p:nvSpPr>
            <p:spPr bwMode="auto">
              <a:xfrm rot="18704765" flipH="1">
                <a:off x="4851" y="1650"/>
                <a:ext cx="141"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20560" name="AutoShape 19"/>
              <p:cNvSpPr>
                <a:spLocks noChangeArrowheads="1"/>
              </p:cNvSpPr>
              <p:nvPr/>
            </p:nvSpPr>
            <p:spPr bwMode="auto">
              <a:xfrm rot="18704765" flipH="1">
                <a:off x="4684" y="1690"/>
                <a:ext cx="141"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20561" name="Rectangle 20"/>
              <p:cNvSpPr>
                <a:spLocks noChangeArrowheads="1"/>
              </p:cNvSpPr>
              <p:nvPr/>
            </p:nvSpPr>
            <p:spPr bwMode="auto">
              <a:xfrm rot="18770112" flipH="1">
                <a:off x="4442" y="1551"/>
                <a:ext cx="718" cy="49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0562" name="Rectangle 21"/>
              <p:cNvSpPr>
                <a:spLocks noChangeArrowheads="1"/>
              </p:cNvSpPr>
              <p:nvPr/>
            </p:nvSpPr>
            <p:spPr bwMode="auto">
              <a:xfrm rot="18894043" flipH="1">
                <a:off x="4066" y="1284"/>
                <a:ext cx="693" cy="294"/>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pic>
            <p:nvPicPr>
              <p:cNvPr id="20563" name="Picture 22"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4630" y="1554"/>
                <a:ext cx="307"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64" name="Freeform 23"/>
              <p:cNvSpPr>
                <a:spLocks/>
              </p:cNvSpPr>
              <p:nvPr/>
            </p:nvSpPr>
            <p:spPr bwMode="auto">
              <a:xfrm flipH="1">
                <a:off x="4325" y="1334"/>
                <a:ext cx="827" cy="530"/>
              </a:xfrm>
              <a:custGeom>
                <a:avLst/>
                <a:gdLst>
                  <a:gd name="T0" fmla="*/ 429 w 702"/>
                  <a:gd name="T1" fmla="*/ 497 h 450"/>
                  <a:gd name="T2" fmla="*/ 185 w 702"/>
                  <a:gd name="T3" fmla="*/ 738 h 450"/>
                  <a:gd name="T4" fmla="*/ 99 w 702"/>
                  <a:gd name="T5" fmla="*/ 756 h 450"/>
                  <a:gd name="T6" fmla="*/ 29 w 702"/>
                  <a:gd name="T7" fmla="*/ 716 h 450"/>
                  <a:gd name="T8" fmla="*/ 0 w 702"/>
                  <a:gd name="T9" fmla="*/ 614 h 450"/>
                  <a:gd name="T10" fmla="*/ 64 w 702"/>
                  <a:gd name="T11" fmla="*/ 521 h 450"/>
                  <a:gd name="T12" fmla="*/ 571 w 702"/>
                  <a:gd name="T13" fmla="*/ 29 h 450"/>
                  <a:gd name="T14" fmla="*/ 670 w 702"/>
                  <a:gd name="T15" fmla="*/ 0 h 450"/>
                  <a:gd name="T16" fmla="*/ 802 w 702"/>
                  <a:gd name="T17" fmla="*/ 0 h 450"/>
                  <a:gd name="T18" fmla="*/ 873 w 702"/>
                  <a:gd name="T19" fmla="*/ 40 h 450"/>
                  <a:gd name="T20" fmla="*/ 1334 w 702"/>
                  <a:gd name="T21" fmla="*/ 525 h 450"/>
                  <a:gd name="T22" fmla="*/ 1351 w 702"/>
                  <a:gd name="T23" fmla="*/ 617 h 450"/>
                  <a:gd name="T24" fmla="*/ 1341 w 702"/>
                  <a:gd name="T25" fmla="*/ 716 h 450"/>
                  <a:gd name="T26" fmla="*/ 1301 w 702"/>
                  <a:gd name="T27" fmla="*/ 809 h 450"/>
                  <a:gd name="T28" fmla="*/ 1248 w 702"/>
                  <a:gd name="T29" fmla="*/ 866 h 450"/>
                  <a:gd name="T30" fmla="*/ 873 w 702"/>
                  <a:gd name="T31" fmla="*/ 475 h 450"/>
                  <a:gd name="T32" fmla="*/ 790 w 702"/>
                  <a:gd name="T33" fmla="*/ 531 h 450"/>
                  <a:gd name="T34" fmla="*/ 688 w 702"/>
                  <a:gd name="T35" fmla="*/ 554 h 450"/>
                  <a:gd name="T36" fmla="*/ 561 w 702"/>
                  <a:gd name="T37" fmla="*/ 554 h 450"/>
                  <a:gd name="T38" fmla="*/ 478 w 702"/>
                  <a:gd name="T39" fmla="*/ 537 h 450"/>
                  <a:gd name="T40" fmla="*/ 429 w 702"/>
                  <a:gd name="T41" fmla="*/ 497 h 4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2"/>
                  <a:gd name="T64" fmla="*/ 0 h 450"/>
                  <a:gd name="T65" fmla="*/ 702 w 702"/>
                  <a:gd name="T66" fmla="*/ 450 h 4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2" h="450">
                    <a:moveTo>
                      <a:pt x="222" y="258"/>
                    </a:moveTo>
                    <a:lnTo>
                      <a:pt x="96" y="384"/>
                    </a:lnTo>
                    <a:lnTo>
                      <a:pt x="51" y="393"/>
                    </a:lnTo>
                    <a:lnTo>
                      <a:pt x="15" y="372"/>
                    </a:lnTo>
                    <a:lnTo>
                      <a:pt x="0" y="318"/>
                    </a:lnTo>
                    <a:lnTo>
                      <a:pt x="33" y="270"/>
                    </a:lnTo>
                    <a:lnTo>
                      <a:pt x="297" y="15"/>
                    </a:lnTo>
                    <a:lnTo>
                      <a:pt x="348" y="0"/>
                    </a:lnTo>
                    <a:lnTo>
                      <a:pt x="417" y="0"/>
                    </a:lnTo>
                    <a:lnTo>
                      <a:pt x="453" y="21"/>
                    </a:lnTo>
                    <a:lnTo>
                      <a:pt x="693" y="273"/>
                    </a:lnTo>
                    <a:lnTo>
                      <a:pt x="702" y="321"/>
                    </a:lnTo>
                    <a:lnTo>
                      <a:pt x="696" y="372"/>
                    </a:lnTo>
                    <a:lnTo>
                      <a:pt x="675" y="420"/>
                    </a:lnTo>
                    <a:lnTo>
                      <a:pt x="648" y="450"/>
                    </a:lnTo>
                    <a:lnTo>
                      <a:pt x="453" y="246"/>
                    </a:lnTo>
                    <a:lnTo>
                      <a:pt x="411" y="276"/>
                    </a:lnTo>
                    <a:lnTo>
                      <a:pt x="357" y="288"/>
                    </a:lnTo>
                    <a:lnTo>
                      <a:pt x="291" y="288"/>
                    </a:lnTo>
                    <a:lnTo>
                      <a:pt x="249" y="279"/>
                    </a:lnTo>
                    <a:lnTo>
                      <a:pt x="222" y="258"/>
                    </a:lnTo>
                    <a:close/>
                  </a:path>
                </a:pathLst>
              </a:custGeom>
              <a:solidFill>
                <a:srgbClr val="FFFF99"/>
              </a:solidFill>
              <a:ln w="12700">
                <a:solidFill>
                  <a:schemeClr val="bg1"/>
                </a:solidFill>
                <a:round/>
                <a:headEnd/>
                <a:tailEnd/>
              </a:ln>
            </p:spPr>
            <p:txBody>
              <a:bodyPr lIns="0" tIns="0" rIns="0" bIns="0" anchor="ctr">
                <a:spAutoFit/>
              </a:bodyPr>
              <a:lstStyle/>
              <a:p>
                <a:endParaRPr lang="en-US"/>
              </a:p>
            </p:txBody>
          </p:sp>
        </p:grpSp>
        <p:sp>
          <p:nvSpPr>
            <p:cNvPr id="20496" name="Line 24"/>
            <p:cNvSpPr>
              <a:spLocks noChangeShapeType="1"/>
            </p:cNvSpPr>
            <p:nvPr/>
          </p:nvSpPr>
          <p:spPr bwMode="auto">
            <a:xfrm>
              <a:off x="5293" y="2374"/>
              <a:ext cx="0" cy="41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497" name="AutoShape 25"/>
            <p:cNvSpPr>
              <a:spLocks noChangeArrowheads="1"/>
            </p:cNvSpPr>
            <p:nvPr/>
          </p:nvSpPr>
          <p:spPr bwMode="auto">
            <a:xfrm>
              <a:off x="1068" y="1382"/>
              <a:ext cx="3455" cy="482"/>
            </a:xfrm>
            <a:prstGeom prst="rightArrow">
              <a:avLst>
                <a:gd name="adj1" fmla="val 49778"/>
                <a:gd name="adj2" fmla="val 75762"/>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20498" name="Group 26"/>
            <p:cNvGrpSpPr>
              <a:grpSpLocks/>
            </p:cNvGrpSpPr>
            <p:nvPr/>
          </p:nvGrpSpPr>
          <p:grpSpPr bwMode="auto">
            <a:xfrm>
              <a:off x="4529" y="1359"/>
              <a:ext cx="963" cy="1032"/>
              <a:chOff x="445" y="1359"/>
              <a:chExt cx="1139" cy="1220"/>
            </a:xfrm>
          </p:grpSpPr>
          <p:sp>
            <p:nvSpPr>
              <p:cNvPr id="20514" name="Line 27"/>
              <p:cNvSpPr>
                <a:spLocks noChangeShapeType="1"/>
              </p:cNvSpPr>
              <p:nvPr/>
            </p:nvSpPr>
            <p:spPr bwMode="auto">
              <a:xfrm flipV="1">
                <a:off x="868" y="1810"/>
                <a:ext cx="0" cy="494"/>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5" name="Line 28"/>
              <p:cNvSpPr>
                <a:spLocks noChangeShapeType="1"/>
              </p:cNvSpPr>
              <p:nvPr/>
            </p:nvSpPr>
            <p:spPr bwMode="auto">
              <a:xfrm>
                <a:off x="863" y="2309"/>
                <a:ext cx="49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516" name="Group 29"/>
              <p:cNvGrpSpPr>
                <a:grpSpLocks/>
              </p:cNvGrpSpPr>
              <p:nvPr/>
            </p:nvGrpSpPr>
            <p:grpSpPr bwMode="auto">
              <a:xfrm>
                <a:off x="445" y="1359"/>
                <a:ext cx="834" cy="615"/>
                <a:chOff x="2083" y="1606"/>
                <a:chExt cx="1489" cy="1097"/>
              </a:xfrm>
            </p:grpSpPr>
            <p:sp>
              <p:nvSpPr>
                <p:cNvPr id="20524" name="Rectangle 3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0525" name="Freeform 3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526" name="Freeform 3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527" name="Freeform 3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528" name="Freeform 3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529" name="Rectangle 3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0530" name="Rectangle 3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31" name="AutoShape 3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0532" name="Freeform 38"/>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533" name="Freeform 39"/>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534" name="Rectangle 4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35" name="Rectangle 4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36" name="Rectangle 4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0537" name="Group 43"/>
                <p:cNvGrpSpPr>
                  <a:grpSpLocks/>
                </p:cNvGrpSpPr>
                <p:nvPr/>
              </p:nvGrpSpPr>
              <p:grpSpPr bwMode="auto">
                <a:xfrm>
                  <a:off x="2221" y="1871"/>
                  <a:ext cx="518" cy="782"/>
                  <a:chOff x="2400" y="1656"/>
                  <a:chExt cx="752" cy="1136"/>
                </a:xfrm>
              </p:grpSpPr>
              <p:sp>
                <p:nvSpPr>
                  <p:cNvPr id="20550" name="Freeform 4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0551" name="Freeform 4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52" name="Freeform 4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53" name="Freeform 4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54" name="Freeform 4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0555" name="Line 4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56" name="Line 5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0538" name="Group 51"/>
                <p:cNvGrpSpPr>
                  <a:grpSpLocks/>
                </p:cNvGrpSpPr>
                <p:nvPr/>
              </p:nvGrpSpPr>
              <p:grpSpPr bwMode="auto">
                <a:xfrm rot="-6511945">
                  <a:off x="2834" y="1842"/>
                  <a:ext cx="518" cy="783"/>
                  <a:chOff x="2400" y="1656"/>
                  <a:chExt cx="752" cy="1136"/>
                </a:xfrm>
              </p:grpSpPr>
              <p:sp>
                <p:nvSpPr>
                  <p:cNvPr id="20543" name="Freeform 5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0544" name="Freeform 5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45" name="Freeform 5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46" name="Freeform 5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47" name="Freeform 5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48" name="Line 5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49" name="Line 5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0539" name="Freeform 59"/>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540" name="Freeform 60"/>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541" name="Rectangle 6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42" name="Rectangle 6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0517" name="Group 63"/>
              <p:cNvGrpSpPr>
                <a:grpSpLocks/>
              </p:cNvGrpSpPr>
              <p:nvPr/>
            </p:nvGrpSpPr>
            <p:grpSpPr bwMode="auto">
              <a:xfrm>
                <a:off x="1066" y="2064"/>
                <a:ext cx="518" cy="515"/>
                <a:chOff x="3360" y="800"/>
                <a:chExt cx="620" cy="616"/>
              </a:xfrm>
            </p:grpSpPr>
            <p:sp>
              <p:nvSpPr>
                <p:cNvPr id="20518" name="AutoShape 6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0519" name="Freeform 6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0520" name="Group 66"/>
                <p:cNvGrpSpPr>
                  <a:grpSpLocks/>
                </p:cNvGrpSpPr>
                <p:nvPr/>
              </p:nvGrpSpPr>
              <p:grpSpPr bwMode="auto">
                <a:xfrm flipH="1">
                  <a:off x="3749" y="1171"/>
                  <a:ext cx="212" cy="213"/>
                  <a:chOff x="1350" y="686"/>
                  <a:chExt cx="1132" cy="1132"/>
                </a:xfrm>
              </p:grpSpPr>
              <p:sp>
                <p:nvSpPr>
                  <p:cNvPr id="20522" name="AutoShape 6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0523" name="Picture 6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0521" name="Picture 69"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0499" name="Group 70"/>
            <p:cNvGrpSpPr>
              <a:grpSpLocks/>
            </p:cNvGrpSpPr>
            <p:nvPr/>
          </p:nvGrpSpPr>
          <p:grpSpPr bwMode="auto">
            <a:xfrm>
              <a:off x="469" y="1359"/>
              <a:ext cx="963" cy="1032"/>
              <a:chOff x="469" y="1359"/>
              <a:chExt cx="963" cy="1032"/>
            </a:xfrm>
          </p:grpSpPr>
          <p:sp>
            <p:nvSpPr>
              <p:cNvPr id="20510" name="Line 71"/>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1" name="Line 72"/>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2" name="Rectangle 73"/>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13" name="AutoShape 74"/>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nvGrpSpPr>
            <p:cNvPr id="20500" name="Group 75"/>
            <p:cNvGrpSpPr>
              <a:grpSpLocks/>
            </p:cNvGrpSpPr>
            <p:nvPr/>
          </p:nvGrpSpPr>
          <p:grpSpPr bwMode="auto">
            <a:xfrm>
              <a:off x="1894" y="1359"/>
              <a:ext cx="963" cy="1032"/>
              <a:chOff x="469" y="1359"/>
              <a:chExt cx="963" cy="1032"/>
            </a:xfrm>
          </p:grpSpPr>
          <p:sp>
            <p:nvSpPr>
              <p:cNvPr id="20506" name="Line 76"/>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07" name="Line 77"/>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8" name="Rectangle 78"/>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09" name="AutoShape 79"/>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nvGrpSpPr>
            <p:cNvPr id="20501" name="Group 80"/>
            <p:cNvGrpSpPr>
              <a:grpSpLocks/>
            </p:cNvGrpSpPr>
            <p:nvPr/>
          </p:nvGrpSpPr>
          <p:grpSpPr bwMode="auto">
            <a:xfrm>
              <a:off x="3224" y="1359"/>
              <a:ext cx="963" cy="1032"/>
              <a:chOff x="469" y="1359"/>
              <a:chExt cx="963" cy="1032"/>
            </a:xfrm>
          </p:grpSpPr>
          <p:sp>
            <p:nvSpPr>
              <p:cNvPr id="20502" name="Line 81"/>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03" name="Line 82"/>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4" name="Rectangle 83"/>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05" name="AutoShape 84"/>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sp>
        <p:nvSpPr>
          <p:cNvPr id="21506" name="Line 2"/>
          <p:cNvSpPr>
            <a:spLocks noChangeShapeType="1"/>
          </p:cNvSpPr>
          <p:nvPr/>
        </p:nvSpPr>
        <p:spPr bwMode="auto">
          <a:xfrm>
            <a:off x="1190625" y="5486400"/>
            <a:ext cx="1176338"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07" name="Line 3"/>
          <p:cNvSpPr>
            <a:spLocks noChangeShapeType="1"/>
          </p:cNvSpPr>
          <p:nvPr/>
        </p:nvSpPr>
        <p:spPr bwMode="auto">
          <a:xfrm>
            <a:off x="1181100" y="4789488"/>
            <a:ext cx="993775"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08" name="Line 4"/>
          <p:cNvSpPr>
            <a:spLocks noChangeShapeType="1"/>
          </p:cNvSpPr>
          <p:nvPr/>
        </p:nvSpPr>
        <p:spPr bwMode="auto">
          <a:xfrm>
            <a:off x="1173163" y="6149975"/>
            <a:ext cx="1524000"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09" name="Line 5"/>
          <p:cNvSpPr>
            <a:spLocks noChangeShapeType="1"/>
          </p:cNvSpPr>
          <p:nvPr/>
        </p:nvSpPr>
        <p:spPr bwMode="auto">
          <a:xfrm flipH="1">
            <a:off x="1173163" y="3367088"/>
            <a:ext cx="868362"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0" name="Line 6"/>
          <p:cNvSpPr>
            <a:spLocks noChangeShapeType="1"/>
          </p:cNvSpPr>
          <p:nvPr/>
        </p:nvSpPr>
        <p:spPr bwMode="auto">
          <a:xfrm flipH="1">
            <a:off x="1173163" y="3840163"/>
            <a:ext cx="1235075"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1" name="Line 7"/>
          <p:cNvSpPr>
            <a:spLocks noChangeShapeType="1"/>
          </p:cNvSpPr>
          <p:nvPr/>
        </p:nvSpPr>
        <p:spPr bwMode="auto">
          <a:xfrm>
            <a:off x="1181100" y="1500188"/>
            <a:ext cx="0" cy="4640262"/>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2" name="Line 8"/>
          <p:cNvSpPr>
            <a:spLocks noChangeShapeType="1"/>
          </p:cNvSpPr>
          <p:nvPr/>
        </p:nvSpPr>
        <p:spPr bwMode="auto">
          <a:xfrm>
            <a:off x="1166813" y="2305050"/>
            <a:ext cx="993775"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3" name="Rectangle 9"/>
          <p:cNvSpPr>
            <a:spLocks noGrp="1" noChangeArrowheads="1"/>
          </p:cNvSpPr>
          <p:nvPr>
            <p:ph type="title"/>
          </p:nvPr>
        </p:nvSpPr>
        <p:spPr/>
        <p:txBody>
          <a:bodyPr/>
          <a:lstStyle/>
          <a:p>
            <a:r>
              <a:rPr lang="en-US" dirty="0" smtClean="0"/>
              <a:t>Stage 1: User creates claim</a:t>
            </a:r>
          </a:p>
        </p:txBody>
      </p:sp>
      <p:grpSp>
        <p:nvGrpSpPr>
          <p:cNvPr id="21515" name="Group 44"/>
          <p:cNvGrpSpPr>
            <a:grpSpLocks/>
          </p:cNvGrpSpPr>
          <p:nvPr/>
        </p:nvGrpSpPr>
        <p:grpSpPr bwMode="auto">
          <a:xfrm>
            <a:off x="2079625" y="1831975"/>
            <a:ext cx="800100" cy="901700"/>
            <a:chOff x="2324" y="435"/>
            <a:chExt cx="933" cy="1052"/>
          </a:xfrm>
        </p:grpSpPr>
        <p:sp>
          <p:nvSpPr>
            <p:cNvPr id="21569" name="AutoShape 4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1570" name="Freeform 46"/>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571" name="Freeform 47"/>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572" name="Freeform 48"/>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1573" name="Group 49"/>
            <p:cNvGrpSpPr>
              <a:grpSpLocks/>
            </p:cNvGrpSpPr>
            <p:nvPr/>
          </p:nvGrpSpPr>
          <p:grpSpPr bwMode="auto">
            <a:xfrm>
              <a:off x="2889" y="957"/>
              <a:ext cx="348" cy="510"/>
              <a:chOff x="2784" y="3210"/>
              <a:chExt cx="523" cy="772"/>
            </a:xfrm>
          </p:grpSpPr>
          <p:sp>
            <p:nvSpPr>
              <p:cNvPr id="21574" name="AutoShape 5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575" name="AutoShape 5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576" name="AutoShape 5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577" name="Oval 5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1516" name="Text Box 54"/>
          <p:cNvSpPr txBox="1">
            <a:spLocks noChangeArrowheads="1"/>
          </p:cNvSpPr>
          <p:nvPr/>
        </p:nvSpPr>
        <p:spPr bwMode="auto">
          <a:xfrm>
            <a:off x="2971800" y="2157413"/>
            <a:ext cx="10509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policy</a:t>
            </a:r>
          </a:p>
        </p:txBody>
      </p:sp>
      <p:sp>
        <p:nvSpPr>
          <p:cNvPr id="21517" name="Text Box 55"/>
          <p:cNvSpPr txBox="1">
            <a:spLocks noChangeArrowheads="1"/>
          </p:cNvSpPr>
          <p:nvPr/>
        </p:nvSpPr>
        <p:spPr bwMode="auto">
          <a:xfrm>
            <a:off x="3224213" y="4651375"/>
            <a:ext cx="19653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dirty="0"/>
              <a:t>injury incident</a:t>
            </a:r>
          </a:p>
        </p:txBody>
      </p:sp>
      <p:grpSp>
        <p:nvGrpSpPr>
          <p:cNvPr id="21518" name="Group 56"/>
          <p:cNvGrpSpPr>
            <a:grpSpLocks/>
          </p:cNvGrpSpPr>
          <p:nvPr/>
        </p:nvGrpSpPr>
        <p:grpSpPr bwMode="auto">
          <a:xfrm>
            <a:off x="2032000" y="2873375"/>
            <a:ext cx="896938" cy="896938"/>
            <a:chOff x="1350" y="686"/>
            <a:chExt cx="1132" cy="1132"/>
          </a:xfrm>
        </p:grpSpPr>
        <p:sp>
          <p:nvSpPr>
            <p:cNvPr id="21567" name="AutoShape 5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1568" name="Picture 5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519" name="Group 59"/>
          <p:cNvGrpSpPr>
            <a:grpSpLocks/>
          </p:cNvGrpSpPr>
          <p:nvPr/>
        </p:nvGrpSpPr>
        <p:grpSpPr bwMode="auto">
          <a:xfrm>
            <a:off x="2397125" y="3330575"/>
            <a:ext cx="896938" cy="896938"/>
            <a:chOff x="1350" y="686"/>
            <a:chExt cx="1132" cy="1132"/>
          </a:xfrm>
        </p:grpSpPr>
        <p:sp>
          <p:nvSpPr>
            <p:cNvPr id="21565" name="AutoShape 6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1566" name="Picture 6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20" name="Text Box 62"/>
          <p:cNvSpPr txBox="1">
            <a:spLocks noChangeArrowheads="1"/>
          </p:cNvSpPr>
          <p:nvPr/>
        </p:nvSpPr>
        <p:spPr bwMode="auto">
          <a:xfrm>
            <a:off x="2921000" y="3022600"/>
            <a:ext cx="9286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1521" name="Text Box 63"/>
          <p:cNvSpPr txBox="1">
            <a:spLocks noChangeArrowheads="1"/>
          </p:cNvSpPr>
          <p:nvPr/>
        </p:nvSpPr>
        <p:spPr bwMode="auto">
          <a:xfrm>
            <a:off x="3341688" y="3509963"/>
            <a:ext cx="10112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3rd-party</a:t>
            </a:r>
            <a:br>
              <a:rPr lang="en-US" sz="1800" b="1" dirty="0"/>
            </a:br>
            <a:r>
              <a:rPr lang="en-US" sz="1800" b="1" dirty="0" smtClean="0"/>
              <a:t>claimant</a:t>
            </a:r>
            <a:endParaRPr lang="en-US" sz="1800" b="1" dirty="0"/>
          </a:p>
        </p:txBody>
      </p:sp>
      <p:sp>
        <p:nvSpPr>
          <p:cNvPr id="21522" name="Text Box 64"/>
          <p:cNvSpPr txBox="1">
            <a:spLocks noChangeArrowheads="1"/>
          </p:cNvSpPr>
          <p:nvPr/>
        </p:nvSpPr>
        <p:spPr bwMode="auto">
          <a:xfrm>
            <a:off x="3902075" y="6011863"/>
            <a:ext cx="1965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dirty="0"/>
              <a:t>vehicle incident</a:t>
            </a:r>
          </a:p>
        </p:txBody>
      </p:sp>
      <p:sp>
        <p:nvSpPr>
          <p:cNvPr id="21523" name="Text Box 65"/>
          <p:cNvSpPr txBox="1">
            <a:spLocks noChangeArrowheads="1"/>
          </p:cNvSpPr>
          <p:nvPr/>
        </p:nvSpPr>
        <p:spPr bwMode="auto">
          <a:xfrm>
            <a:off x="3471863" y="5348288"/>
            <a:ext cx="1965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dirty="0"/>
              <a:t>injury incident</a:t>
            </a:r>
          </a:p>
        </p:txBody>
      </p:sp>
      <p:grpSp>
        <p:nvGrpSpPr>
          <p:cNvPr id="21524" name="Group 66"/>
          <p:cNvGrpSpPr>
            <a:grpSpLocks/>
          </p:cNvGrpSpPr>
          <p:nvPr/>
        </p:nvGrpSpPr>
        <p:grpSpPr bwMode="auto">
          <a:xfrm>
            <a:off x="1908175" y="4381500"/>
            <a:ext cx="1201738" cy="822325"/>
            <a:chOff x="1808" y="2634"/>
            <a:chExt cx="1186" cy="813"/>
          </a:xfrm>
        </p:grpSpPr>
        <p:grpSp>
          <p:nvGrpSpPr>
            <p:cNvPr id="21556" name="Group 67"/>
            <p:cNvGrpSpPr>
              <a:grpSpLocks/>
            </p:cNvGrpSpPr>
            <p:nvPr/>
          </p:nvGrpSpPr>
          <p:grpSpPr bwMode="auto">
            <a:xfrm>
              <a:off x="1808" y="2634"/>
              <a:ext cx="1186" cy="813"/>
              <a:chOff x="1732" y="3507"/>
              <a:chExt cx="1186" cy="813"/>
            </a:xfrm>
          </p:grpSpPr>
          <p:sp>
            <p:nvSpPr>
              <p:cNvPr id="21563" name="AutoShape 68"/>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1564" name="AutoShape 69"/>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21557" name="Group 70"/>
            <p:cNvGrpSpPr>
              <a:grpSpLocks/>
            </p:cNvGrpSpPr>
            <p:nvPr/>
          </p:nvGrpSpPr>
          <p:grpSpPr bwMode="auto">
            <a:xfrm>
              <a:off x="2083" y="2655"/>
              <a:ext cx="617" cy="784"/>
              <a:chOff x="2900" y="2726"/>
              <a:chExt cx="505" cy="642"/>
            </a:xfrm>
          </p:grpSpPr>
          <p:sp>
            <p:nvSpPr>
              <p:cNvPr id="21558" name="Oval 71"/>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1559" name="Freeform 72"/>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1560" name="Freeform 73"/>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1561" name="Freeform 74"/>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1562" name="Line 75"/>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21525" name="Group 76"/>
          <p:cNvGrpSpPr>
            <a:grpSpLocks/>
          </p:cNvGrpSpPr>
          <p:nvPr/>
        </p:nvGrpSpPr>
        <p:grpSpPr bwMode="auto">
          <a:xfrm>
            <a:off x="2143125" y="5067300"/>
            <a:ext cx="1201738" cy="822325"/>
            <a:chOff x="1808" y="2634"/>
            <a:chExt cx="1186" cy="813"/>
          </a:xfrm>
        </p:grpSpPr>
        <p:grpSp>
          <p:nvGrpSpPr>
            <p:cNvPr id="21547" name="Group 77"/>
            <p:cNvGrpSpPr>
              <a:grpSpLocks/>
            </p:cNvGrpSpPr>
            <p:nvPr/>
          </p:nvGrpSpPr>
          <p:grpSpPr bwMode="auto">
            <a:xfrm>
              <a:off x="1808" y="2634"/>
              <a:ext cx="1186" cy="813"/>
              <a:chOff x="1732" y="3507"/>
              <a:chExt cx="1186" cy="813"/>
            </a:xfrm>
          </p:grpSpPr>
          <p:sp>
            <p:nvSpPr>
              <p:cNvPr id="21554" name="AutoShape 78"/>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1555" name="AutoShape 79"/>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21548" name="Group 80"/>
            <p:cNvGrpSpPr>
              <a:grpSpLocks/>
            </p:cNvGrpSpPr>
            <p:nvPr/>
          </p:nvGrpSpPr>
          <p:grpSpPr bwMode="auto">
            <a:xfrm>
              <a:off x="2083" y="2655"/>
              <a:ext cx="617" cy="784"/>
              <a:chOff x="2900" y="2726"/>
              <a:chExt cx="505" cy="642"/>
            </a:xfrm>
          </p:grpSpPr>
          <p:sp>
            <p:nvSpPr>
              <p:cNvPr id="21549" name="Oval 81"/>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1550" name="Freeform 82"/>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1551" name="Freeform 83"/>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1552" name="Freeform 84"/>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1553" name="Line 85"/>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21526" name="Group 86"/>
          <p:cNvGrpSpPr>
            <a:grpSpLocks/>
          </p:cNvGrpSpPr>
          <p:nvPr/>
        </p:nvGrpSpPr>
        <p:grpSpPr bwMode="auto">
          <a:xfrm>
            <a:off x="2571750" y="5727700"/>
            <a:ext cx="1216025" cy="833438"/>
            <a:chOff x="463" y="1743"/>
            <a:chExt cx="1186" cy="813"/>
          </a:xfrm>
        </p:grpSpPr>
        <p:sp>
          <p:nvSpPr>
            <p:cNvPr id="21527" name="Freeform 87"/>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8" name="Freeform 88"/>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9" name="AutoShape 89"/>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1530" name="AutoShape 90"/>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21531" name="Freeform 91"/>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1532" name="Freeform 92"/>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1533" name="Freeform 93"/>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1534" name="Freeform 94"/>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5" name="Freeform 95"/>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6" name="Freeform 96"/>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7" name="Freeform 97"/>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538" name="Freeform 98"/>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21539" name="Line 99"/>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0" name="Line 100"/>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1" name="Oval 101"/>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1542" name="Freeform 102"/>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3" name="Freeform 103"/>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4" name="Oval 104"/>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1545" name="Freeform 105"/>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6" name="Freeform 106"/>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44" name="Group 10"/>
          <p:cNvGrpSpPr>
            <a:grpSpLocks/>
          </p:cNvGrpSpPr>
          <p:nvPr/>
        </p:nvGrpSpPr>
        <p:grpSpPr bwMode="auto">
          <a:xfrm>
            <a:off x="517525" y="869950"/>
            <a:ext cx="1323975" cy="976313"/>
            <a:chOff x="2083" y="1606"/>
            <a:chExt cx="1489" cy="1097"/>
          </a:xfrm>
        </p:grpSpPr>
        <p:sp>
          <p:nvSpPr>
            <p:cNvPr id="145"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6"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7"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8"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49"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50"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51"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2"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53" name="Freeform 1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54" name="Freeform 2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55"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6"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7"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58" name="Group 24"/>
            <p:cNvGrpSpPr>
              <a:grpSpLocks/>
            </p:cNvGrpSpPr>
            <p:nvPr/>
          </p:nvGrpSpPr>
          <p:grpSpPr bwMode="auto">
            <a:xfrm>
              <a:off x="2221" y="1871"/>
              <a:ext cx="518" cy="782"/>
              <a:chOff x="2400" y="1656"/>
              <a:chExt cx="752" cy="1136"/>
            </a:xfrm>
          </p:grpSpPr>
          <p:sp>
            <p:nvSpPr>
              <p:cNvPr id="171"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72"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3"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4"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75"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76"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7"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59" name="Group 32"/>
            <p:cNvGrpSpPr>
              <a:grpSpLocks/>
            </p:cNvGrpSpPr>
            <p:nvPr/>
          </p:nvGrpSpPr>
          <p:grpSpPr bwMode="auto">
            <a:xfrm rot="-6511945">
              <a:off x="2834" y="1842"/>
              <a:ext cx="518" cy="783"/>
              <a:chOff x="2400" y="1656"/>
              <a:chExt cx="752" cy="1136"/>
            </a:xfrm>
          </p:grpSpPr>
          <p:sp>
            <p:nvSpPr>
              <p:cNvPr id="164"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65"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6"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7"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8"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69"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0"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60" name="Freeform 4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61" name="Freeform 4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62"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63"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sp>
        <p:nvSpPr>
          <p:cNvPr id="22530" name="Line 2"/>
          <p:cNvSpPr>
            <a:spLocks noChangeShapeType="1"/>
          </p:cNvSpPr>
          <p:nvPr/>
        </p:nvSpPr>
        <p:spPr bwMode="auto">
          <a:xfrm>
            <a:off x="1181100" y="1458913"/>
            <a:ext cx="0" cy="48021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1" name="Line 3"/>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2" name="Line 4"/>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33" name="Group 5"/>
          <p:cNvGrpSpPr>
            <a:grpSpLocks/>
          </p:cNvGrpSpPr>
          <p:nvPr/>
        </p:nvGrpSpPr>
        <p:grpSpPr bwMode="auto">
          <a:xfrm>
            <a:off x="2170113" y="4946650"/>
            <a:ext cx="517525" cy="658813"/>
            <a:chOff x="2401" y="425"/>
            <a:chExt cx="907" cy="1154"/>
          </a:xfrm>
        </p:grpSpPr>
        <p:sp>
          <p:nvSpPr>
            <p:cNvPr id="22603" name="Rectangle 6"/>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604" name="Line 7"/>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05" name="Line 8"/>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06" name="Rectangle 9"/>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607" name="Freeform 10"/>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608" name="Line 1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34" name="Group 12"/>
          <p:cNvGrpSpPr>
            <a:grpSpLocks/>
          </p:cNvGrpSpPr>
          <p:nvPr/>
        </p:nvGrpSpPr>
        <p:grpSpPr bwMode="auto">
          <a:xfrm>
            <a:off x="2432050" y="5395913"/>
            <a:ext cx="517525" cy="658812"/>
            <a:chOff x="2401" y="425"/>
            <a:chExt cx="907" cy="1154"/>
          </a:xfrm>
        </p:grpSpPr>
        <p:sp>
          <p:nvSpPr>
            <p:cNvPr id="22597" name="Rectangle 1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98" name="Line 1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99" name="Line 1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00" name="Rectangle 1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601" name="Freeform 1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602" name="Line 1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35" name="Rectangle 19"/>
          <p:cNvSpPr>
            <a:spLocks noGrp="1" noChangeArrowheads="1"/>
          </p:cNvSpPr>
          <p:nvPr>
            <p:ph type="title"/>
          </p:nvPr>
        </p:nvSpPr>
        <p:spPr/>
        <p:txBody>
          <a:bodyPr/>
          <a:lstStyle/>
          <a:p>
            <a:r>
              <a:rPr lang="en-US" dirty="0" smtClean="0"/>
              <a:t>Stage 2: Rules "set up" the claim</a:t>
            </a:r>
          </a:p>
        </p:txBody>
      </p:sp>
      <p:grpSp>
        <p:nvGrpSpPr>
          <p:cNvPr id="22536" name="Group 20"/>
          <p:cNvGrpSpPr>
            <a:grpSpLocks/>
          </p:cNvGrpSpPr>
          <p:nvPr/>
        </p:nvGrpSpPr>
        <p:grpSpPr bwMode="auto">
          <a:xfrm>
            <a:off x="517525" y="869950"/>
            <a:ext cx="1323975" cy="976313"/>
            <a:chOff x="2083" y="1606"/>
            <a:chExt cx="1489" cy="1097"/>
          </a:xfrm>
        </p:grpSpPr>
        <p:sp>
          <p:nvSpPr>
            <p:cNvPr id="22564" name="Rectangle 2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2565" name="Freeform 2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566" name="Freeform 2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567" name="Freeform 2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568" name="Freeform 2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569" name="Rectangle 2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2570" name="Rectangle 2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71" name="AutoShape 2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2572" name="Freeform 2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573" name="Freeform 3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574" name="Rectangle 3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75" name="Rectangle 3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76" name="Rectangle 3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2577" name="Group 34"/>
            <p:cNvGrpSpPr>
              <a:grpSpLocks/>
            </p:cNvGrpSpPr>
            <p:nvPr/>
          </p:nvGrpSpPr>
          <p:grpSpPr bwMode="auto">
            <a:xfrm>
              <a:off x="2221" y="1871"/>
              <a:ext cx="518" cy="782"/>
              <a:chOff x="2400" y="1656"/>
              <a:chExt cx="752" cy="1136"/>
            </a:xfrm>
          </p:grpSpPr>
          <p:sp>
            <p:nvSpPr>
              <p:cNvPr id="22590" name="Freeform 3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2591" name="Freeform 3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92" name="Freeform 3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93" name="Freeform 3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94" name="Freeform 3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2595" name="Line 4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6" name="Line 4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78" name="Group 42"/>
            <p:cNvGrpSpPr>
              <a:grpSpLocks/>
            </p:cNvGrpSpPr>
            <p:nvPr/>
          </p:nvGrpSpPr>
          <p:grpSpPr bwMode="auto">
            <a:xfrm rot="-6511945">
              <a:off x="2834" y="1842"/>
              <a:ext cx="518" cy="783"/>
              <a:chOff x="2400" y="1656"/>
              <a:chExt cx="752" cy="1136"/>
            </a:xfrm>
          </p:grpSpPr>
          <p:sp>
            <p:nvSpPr>
              <p:cNvPr id="22583" name="Freeform 4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2584" name="Freeform 4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85" name="Freeform 4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86" name="Freeform 4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87" name="Freeform 4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88" name="Line 4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89" name="Line 4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79" name="Freeform 5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580" name="Freeform 5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581" name="Rectangle 5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82" name="Rectangle 5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2537" name="Text Box 54"/>
          <p:cNvSpPr txBox="1">
            <a:spLocks noChangeArrowheads="1"/>
          </p:cNvSpPr>
          <p:nvPr/>
        </p:nvSpPr>
        <p:spPr bwMode="auto">
          <a:xfrm>
            <a:off x="2039938" y="4549775"/>
            <a:ext cx="10509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workplan</a:t>
            </a:r>
          </a:p>
        </p:txBody>
      </p:sp>
      <p:sp>
        <p:nvSpPr>
          <p:cNvPr id="22538" name="Text Box 55"/>
          <p:cNvSpPr txBox="1">
            <a:spLocks noChangeArrowheads="1"/>
          </p:cNvSpPr>
          <p:nvPr/>
        </p:nvSpPr>
        <p:spPr bwMode="auto">
          <a:xfrm>
            <a:off x="1933575" y="788988"/>
            <a:ext cx="21018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segment: normal</a:t>
            </a:r>
          </a:p>
        </p:txBody>
      </p:sp>
      <p:grpSp>
        <p:nvGrpSpPr>
          <p:cNvPr id="22539" name="Group 56"/>
          <p:cNvGrpSpPr>
            <a:grpSpLocks/>
          </p:cNvGrpSpPr>
          <p:nvPr/>
        </p:nvGrpSpPr>
        <p:grpSpPr bwMode="auto">
          <a:xfrm>
            <a:off x="1844675" y="1155700"/>
            <a:ext cx="2386013" cy="674688"/>
            <a:chOff x="1162" y="786"/>
            <a:chExt cx="1503" cy="425"/>
          </a:xfrm>
        </p:grpSpPr>
        <p:grpSp>
          <p:nvGrpSpPr>
            <p:cNvPr id="22548" name="Group 57"/>
            <p:cNvGrpSpPr>
              <a:grpSpLocks/>
            </p:cNvGrpSpPr>
            <p:nvPr/>
          </p:nvGrpSpPr>
          <p:grpSpPr bwMode="auto">
            <a:xfrm>
              <a:off x="1481" y="786"/>
              <a:ext cx="631" cy="425"/>
              <a:chOff x="2984" y="3331"/>
              <a:chExt cx="845" cy="569"/>
            </a:xfrm>
          </p:grpSpPr>
          <p:sp>
            <p:nvSpPr>
              <p:cNvPr id="22551" name="AutoShape 5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2552" name="Group 59"/>
              <p:cNvGrpSpPr>
                <a:grpSpLocks/>
              </p:cNvGrpSpPr>
              <p:nvPr/>
            </p:nvGrpSpPr>
            <p:grpSpPr bwMode="auto">
              <a:xfrm>
                <a:off x="3386" y="3487"/>
                <a:ext cx="443" cy="398"/>
                <a:chOff x="4838" y="2218"/>
                <a:chExt cx="395" cy="355"/>
              </a:xfrm>
            </p:grpSpPr>
            <p:sp>
              <p:nvSpPr>
                <p:cNvPr id="22553" name="Freeform 60"/>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4" name="Freeform 61"/>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5" name="Freeform 62"/>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6" name="Freeform 63"/>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7" name="Freeform 64"/>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8" name="Freeform 65"/>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9" name="Freeform 66"/>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0" name="Rectangle 6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561" name="Rectangle 6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562" name="Freeform 69"/>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3" name="Rectangle 7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2549" name="Text Box 71"/>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2550" name="Line 72"/>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40" name="Line 73"/>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41" name="Group 74"/>
          <p:cNvGrpSpPr>
            <a:grpSpLocks/>
          </p:cNvGrpSpPr>
          <p:nvPr/>
        </p:nvGrpSpPr>
        <p:grpSpPr bwMode="auto">
          <a:xfrm>
            <a:off x="2693988" y="5843588"/>
            <a:ext cx="517525" cy="658812"/>
            <a:chOff x="2401" y="425"/>
            <a:chExt cx="907" cy="1154"/>
          </a:xfrm>
        </p:grpSpPr>
        <p:sp>
          <p:nvSpPr>
            <p:cNvPr id="22542" name="Rectangle 7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43" name="Line 7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44" name="Line 7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45" name="Rectangle 7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46" name="Freeform 79"/>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47" name="Line 8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sp>
        <p:nvSpPr>
          <p:cNvPr id="23554" name="Line 2"/>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55" name="Line 3"/>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56" name="Line 4"/>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57" name="Line 5"/>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58" name="Line 6"/>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59" name="Line 7"/>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0" name="Line 8"/>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1" name="Rectangle 9"/>
          <p:cNvSpPr>
            <a:spLocks noGrp="1" noChangeArrowheads="1"/>
          </p:cNvSpPr>
          <p:nvPr>
            <p:ph type="title"/>
          </p:nvPr>
        </p:nvSpPr>
        <p:spPr/>
        <p:txBody>
          <a:bodyPr/>
          <a:lstStyle/>
          <a:p>
            <a:r>
              <a:rPr lang="en-US" smtClean="0"/>
              <a:t>Stage 3: Rules/adjuster creates exposures</a:t>
            </a:r>
          </a:p>
        </p:txBody>
      </p:sp>
      <p:grpSp>
        <p:nvGrpSpPr>
          <p:cNvPr id="23562" name="Group 10"/>
          <p:cNvGrpSpPr>
            <a:grpSpLocks/>
          </p:cNvGrpSpPr>
          <p:nvPr/>
        </p:nvGrpSpPr>
        <p:grpSpPr bwMode="auto">
          <a:xfrm>
            <a:off x="517525" y="869950"/>
            <a:ext cx="1323975" cy="976313"/>
            <a:chOff x="2083" y="1606"/>
            <a:chExt cx="1489" cy="1097"/>
          </a:xfrm>
        </p:grpSpPr>
        <p:sp>
          <p:nvSpPr>
            <p:cNvPr id="23670"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671"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672"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673"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674"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675"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3676"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77"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678" name="Freeform 1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679" name="Freeform 2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680"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81"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82"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683" name="Group 24"/>
            <p:cNvGrpSpPr>
              <a:grpSpLocks/>
            </p:cNvGrpSpPr>
            <p:nvPr/>
          </p:nvGrpSpPr>
          <p:grpSpPr bwMode="auto">
            <a:xfrm>
              <a:off x="2221" y="1871"/>
              <a:ext cx="518" cy="782"/>
              <a:chOff x="2400" y="1656"/>
              <a:chExt cx="752" cy="1136"/>
            </a:xfrm>
          </p:grpSpPr>
          <p:sp>
            <p:nvSpPr>
              <p:cNvPr id="23696"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3697"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8"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9"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700"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3701"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702"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684" name="Group 32"/>
            <p:cNvGrpSpPr>
              <a:grpSpLocks/>
            </p:cNvGrpSpPr>
            <p:nvPr/>
          </p:nvGrpSpPr>
          <p:grpSpPr bwMode="auto">
            <a:xfrm rot="-6511945">
              <a:off x="2834" y="1842"/>
              <a:ext cx="518" cy="783"/>
              <a:chOff x="2400" y="1656"/>
              <a:chExt cx="752" cy="1136"/>
            </a:xfrm>
          </p:grpSpPr>
          <p:sp>
            <p:nvSpPr>
              <p:cNvPr id="23689"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3690"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1"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2"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3"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4"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95"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685" name="Freeform 4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686" name="Freeform 4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687"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88"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3563" name="Group 44"/>
          <p:cNvGrpSpPr>
            <a:grpSpLocks/>
          </p:cNvGrpSpPr>
          <p:nvPr/>
        </p:nvGrpSpPr>
        <p:grpSpPr bwMode="auto">
          <a:xfrm>
            <a:off x="2151063" y="1989138"/>
            <a:ext cx="822325" cy="817562"/>
            <a:chOff x="3360" y="800"/>
            <a:chExt cx="620" cy="616"/>
          </a:xfrm>
        </p:grpSpPr>
        <p:sp>
          <p:nvSpPr>
            <p:cNvPr id="23664" name="AutoShape 4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665" name="Freeform 46"/>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3666" name="Group 47"/>
            <p:cNvGrpSpPr>
              <a:grpSpLocks/>
            </p:cNvGrpSpPr>
            <p:nvPr/>
          </p:nvGrpSpPr>
          <p:grpSpPr bwMode="auto">
            <a:xfrm flipH="1">
              <a:off x="3749" y="1171"/>
              <a:ext cx="212" cy="213"/>
              <a:chOff x="1350" y="686"/>
              <a:chExt cx="1132" cy="1132"/>
            </a:xfrm>
          </p:grpSpPr>
          <p:sp>
            <p:nvSpPr>
              <p:cNvPr id="23668" name="AutoShape 4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69" name="Picture 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667" name="Picture 5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4" name="Group 51"/>
          <p:cNvGrpSpPr>
            <a:grpSpLocks/>
          </p:cNvGrpSpPr>
          <p:nvPr/>
        </p:nvGrpSpPr>
        <p:grpSpPr bwMode="auto">
          <a:xfrm>
            <a:off x="2170113" y="4946650"/>
            <a:ext cx="517525" cy="658813"/>
            <a:chOff x="2401" y="425"/>
            <a:chExt cx="907" cy="1154"/>
          </a:xfrm>
        </p:grpSpPr>
        <p:sp>
          <p:nvSpPr>
            <p:cNvPr id="23658" name="Rectangle 5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3659" name="Line 5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60" name="Line 5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61" name="Rectangle 5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3662" name="Freeform 56"/>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3663" name="Line 5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65" name="Group 58"/>
          <p:cNvGrpSpPr>
            <a:grpSpLocks/>
          </p:cNvGrpSpPr>
          <p:nvPr/>
        </p:nvGrpSpPr>
        <p:grpSpPr bwMode="auto">
          <a:xfrm>
            <a:off x="2151063" y="2965450"/>
            <a:ext cx="822325" cy="817563"/>
            <a:chOff x="3360" y="800"/>
            <a:chExt cx="620" cy="616"/>
          </a:xfrm>
        </p:grpSpPr>
        <p:sp>
          <p:nvSpPr>
            <p:cNvPr id="23652" name="AutoShape 5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653" name="Freeform 6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3654" name="Group 61"/>
            <p:cNvGrpSpPr>
              <a:grpSpLocks/>
            </p:cNvGrpSpPr>
            <p:nvPr/>
          </p:nvGrpSpPr>
          <p:grpSpPr bwMode="auto">
            <a:xfrm flipH="1">
              <a:off x="3749" y="1171"/>
              <a:ext cx="212" cy="213"/>
              <a:chOff x="1350" y="686"/>
              <a:chExt cx="1132" cy="1132"/>
            </a:xfrm>
          </p:grpSpPr>
          <p:sp>
            <p:nvSpPr>
              <p:cNvPr id="23656" name="AutoShape 6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57" name="Picture 6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655" name="Picture 6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6" name="Group 65"/>
          <p:cNvGrpSpPr>
            <a:grpSpLocks/>
          </p:cNvGrpSpPr>
          <p:nvPr/>
        </p:nvGrpSpPr>
        <p:grpSpPr bwMode="auto">
          <a:xfrm>
            <a:off x="2151063" y="3943350"/>
            <a:ext cx="822325" cy="817563"/>
            <a:chOff x="3360" y="800"/>
            <a:chExt cx="620" cy="616"/>
          </a:xfrm>
        </p:grpSpPr>
        <p:sp>
          <p:nvSpPr>
            <p:cNvPr id="23646" name="AutoShape 6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647" name="Freeform 6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3648" name="Group 68"/>
            <p:cNvGrpSpPr>
              <a:grpSpLocks/>
            </p:cNvGrpSpPr>
            <p:nvPr/>
          </p:nvGrpSpPr>
          <p:grpSpPr bwMode="auto">
            <a:xfrm flipH="1">
              <a:off x="3749" y="1171"/>
              <a:ext cx="212" cy="213"/>
              <a:chOff x="1350" y="686"/>
              <a:chExt cx="1132" cy="1132"/>
            </a:xfrm>
          </p:grpSpPr>
          <p:sp>
            <p:nvSpPr>
              <p:cNvPr id="23650" name="AutoShape 6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51" name="Picture 7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649" name="Picture 7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7" name="Group 72"/>
          <p:cNvGrpSpPr>
            <a:grpSpLocks/>
          </p:cNvGrpSpPr>
          <p:nvPr/>
        </p:nvGrpSpPr>
        <p:grpSpPr bwMode="auto">
          <a:xfrm>
            <a:off x="2432050" y="5395913"/>
            <a:ext cx="517525" cy="658812"/>
            <a:chOff x="2401" y="425"/>
            <a:chExt cx="907" cy="1154"/>
          </a:xfrm>
        </p:grpSpPr>
        <p:sp>
          <p:nvSpPr>
            <p:cNvPr id="23640" name="Rectangle 7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3641" name="Line 7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42" name="Line 7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43" name="Rectangle 7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3644" name="Freeform 7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3645" name="Line 7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68" name="Group 79"/>
          <p:cNvGrpSpPr>
            <a:grpSpLocks/>
          </p:cNvGrpSpPr>
          <p:nvPr/>
        </p:nvGrpSpPr>
        <p:grpSpPr bwMode="auto">
          <a:xfrm>
            <a:off x="2693988" y="5843588"/>
            <a:ext cx="517525" cy="658812"/>
            <a:chOff x="2401" y="425"/>
            <a:chExt cx="907" cy="1154"/>
          </a:xfrm>
        </p:grpSpPr>
        <p:sp>
          <p:nvSpPr>
            <p:cNvPr id="23634" name="Rectangle 8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3635" name="Line 8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36" name="Line 8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37" name="Rectangle 8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3638" name="Freeform 8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3639" name="Line 8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569" name="Text Box 86"/>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3570" name="Text Box 87"/>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3571" name="Text Box 88"/>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3572" name="Line 89"/>
          <p:cNvSpPr>
            <a:spLocks noChangeShapeType="1"/>
          </p:cNvSpPr>
          <p:nvPr/>
        </p:nvSpPr>
        <p:spPr bwMode="auto">
          <a:xfrm>
            <a:off x="2976563" y="2351088"/>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3" name="Line 90"/>
          <p:cNvSpPr>
            <a:spLocks noChangeShapeType="1"/>
          </p:cNvSpPr>
          <p:nvPr/>
        </p:nvSpPr>
        <p:spPr bwMode="auto">
          <a:xfrm flipV="1">
            <a:off x="5419725" y="2325688"/>
            <a:ext cx="0" cy="1042987"/>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74" name="Line 91"/>
          <p:cNvSpPr>
            <a:spLocks noChangeShapeType="1"/>
          </p:cNvSpPr>
          <p:nvPr/>
        </p:nvSpPr>
        <p:spPr bwMode="auto">
          <a:xfrm>
            <a:off x="5419725" y="2855913"/>
            <a:ext cx="2062163"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5" name="Line 92"/>
          <p:cNvSpPr>
            <a:spLocks noChangeShapeType="1"/>
          </p:cNvSpPr>
          <p:nvPr/>
        </p:nvSpPr>
        <p:spPr bwMode="auto">
          <a:xfrm>
            <a:off x="2995613" y="3368675"/>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6" name="Line 93"/>
          <p:cNvSpPr>
            <a:spLocks noChangeShapeType="1"/>
          </p:cNvSpPr>
          <p:nvPr/>
        </p:nvSpPr>
        <p:spPr bwMode="auto">
          <a:xfrm>
            <a:off x="2976563" y="4346575"/>
            <a:ext cx="4521200"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3577" name="Group 94"/>
          <p:cNvGrpSpPr>
            <a:grpSpLocks/>
          </p:cNvGrpSpPr>
          <p:nvPr/>
        </p:nvGrpSpPr>
        <p:grpSpPr bwMode="auto">
          <a:xfrm>
            <a:off x="1844675" y="1155700"/>
            <a:ext cx="2386013" cy="674688"/>
            <a:chOff x="1162" y="786"/>
            <a:chExt cx="1503" cy="425"/>
          </a:xfrm>
        </p:grpSpPr>
        <p:grpSp>
          <p:nvGrpSpPr>
            <p:cNvPr id="23618" name="Group 95"/>
            <p:cNvGrpSpPr>
              <a:grpSpLocks/>
            </p:cNvGrpSpPr>
            <p:nvPr/>
          </p:nvGrpSpPr>
          <p:grpSpPr bwMode="auto">
            <a:xfrm>
              <a:off x="1481" y="786"/>
              <a:ext cx="631" cy="425"/>
              <a:chOff x="2984" y="3331"/>
              <a:chExt cx="845" cy="569"/>
            </a:xfrm>
          </p:grpSpPr>
          <p:sp>
            <p:nvSpPr>
              <p:cNvPr id="23621" name="AutoShape 9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3622" name="Group 97"/>
              <p:cNvGrpSpPr>
                <a:grpSpLocks/>
              </p:cNvGrpSpPr>
              <p:nvPr/>
            </p:nvGrpSpPr>
            <p:grpSpPr bwMode="auto">
              <a:xfrm>
                <a:off x="3386" y="3487"/>
                <a:ext cx="443" cy="398"/>
                <a:chOff x="4838" y="2218"/>
                <a:chExt cx="395" cy="355"/>
              </a:xfrm>
            </p:grpSpPr>
            <p:sp>
              <p:nvSpPr>
                <p:cNvPr id="23623" name="Freeform 98"/>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4" name="Freeform 99"/>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5" name="Freeform 100"/>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6" name="Freeform 101"/>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7" name="Freeform 102"/>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8" name="Freeform 103"/>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9" name="Freeform 104"/>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0" name="Rectangle 10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631" name="Rectangle 10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632" name="Freeform 107"/>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3" name="Rectangle 10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3619" name="Text Box 109"/>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3620" name="Line 110"/>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78" name="Group 111"/>
          <p:cNvGrpSpPr>
            <a:grpSpLocks/>
          </p:cNvGrpSpPr>
          <p:nvPr/>
        </p:nvGrpSpPr>
        <p:grpSpPr bwMode="auto">
          <a:xfrm>
            <a:off x="7446963" y="2379663"/>
            <a:ext cx="896937" cy="896937"/>
            <a:chOff x="1350" y="686"/>
            <a:chExt cx="1132" cy="1132"/>
          </a:xfrm>
        </p:grpSpPr>
        <p:sp>
          <p:nvSpPr>
            <p:cNvPr id="23616" name="AutoShape 11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17" name="Picture 11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79" name="Group 114"/>
          <p:cNvGrpSpPr>
            <a:grpSpLocks/>
          </p:cNvGrpSpPr>
          <p:nvPr/>
        </p:nvGrpSpPr>
        <p:grpSpPr bwMode="auto">
          <a:xfrm>
            <a:off x="7446963" y="3924300"/>
            <a:ext cx="896937" cy="896938"/>
            <a:chOff x="1350" y="686"/>
            <a:chExt cx="1132" cy="1132"/>
          </a:xfrm>
        </p:grpSpPr>
        <p:sp>
          <p:nvSpPr>
            <p:cNvPr id="23614" name="AutoShape 11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15" name="Picture 11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580" name="Text Box 117"/>
          <p:cNvSpPr txBox="1">
            <a:spLocks noChangeArrowheads="1"/>
          </p:cNvSpPr>
          <p:nvPr/>
        </p:nvSpPr>
        <p:spPr bwMode="auto">
          <a:xfrm>
            <a:off x="7431088" y="2070100"/>
            <a:ext cx="9286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3581" name="Text Box 118"/>
          <p:cNvSpPr txBox="1">
            <a:spLocks noChangeArrowheads="1"/>
          </p:cNvSpPr>
          <p:nvPr/>
        </p:nvSpPr>
        <p:spPr bwMode="auto">
          <a:xfrm>
            <a:off x="7389813" y="4821238"/>
            <a:ext cx="1011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3rd-party</a:t>
            </a:r>
            <a:br>
              <a:rPr lang="en-US" sz="1800" b="1" dirty="0"/>
            </a:br>
            <a:r>
              <a:rPr lang="en-US" sz="1800" b="1" dirty="0"/>
              <a:t>claimant</a:t>
            </a:r>
          </a:p>
        </p:txBody>
      </p:sp>
      <p:sp>
        <p:nvSpPr>
          <p:cNvPr id="23582" name="Text Box 119"/>
          <p:cNvSpPr txBox="1">
            <a:spLocks noChangeArrowheads="1"/>
          </p:cNvSpPr>
          <p:nvPr/>
        </p:nvSpPr>
        <p:spPr bwMode="auto">
          <a:xfrm>
            <a:off x="7316788" y="1382713"/>
            <a:ext cx="1157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nvGrpSpPr>
          <p:cNvPr id="23583" name="Group 120"/>
          <p:cNvGrpSpPr>
            <a:grpSpLocks/>
          </p:cNvGrpSpPr>
          <p:nvPr/>
        </p:nvGrpSpPr>
        <p:grpSpPr bwMode="auto">
          <a:xfrm>
            <a:off x="2932113" y="3973513"/>
            <a:ext cx="468312" cy="593725"/>
            <a:chOff x="2900" y="2726"/>
            <a:chExt cx="505" cy="642"/>
          </a:xfrm>
        </p:grpSpPr>
        <p:sp>
          <p:nvSpPr>
            <p:cNvPr id="23609" name="Oval 121"/>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3610" name="Freeform 122"/>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3611" name="Freeform 123"/>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3612" name="Freeform 124"/>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3613" name="Line 125"/>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84" name="Group 126"/>
          <p:cNvGrpSpPr>
            <a:grpSpLocks/>
          </p:cNvGrpSpPr>
          <p:nvPr/>
        </p:nvGrpSpPr>
        <p:grpSpPr bwMode="auto">
          <a:xfrm>
            <a:off x="2936875" y="2970213"/>
            <a:ext cx="468313" cy="593725"/>
            <a:chOff x="2900" y="2726"/>
            <a:chExt cx="505" cy="642"/>
          </a:xfrm>
        </p:grpSpPr>
        <p:sp>
          <p:nvSpPr>
            <p:cNvPr id="23604" name="Oval 127"/>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3605" name="Freeform 128"/>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3606" name="Freeform 129"/>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3607" name="Freeform 130"/>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3608" name="Line 131"/>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85" name="Group 132"/>
          <p:cNvGrpSpPr>
            <a:grpSpLocks/>
          </p:cNvGrpSpPr>
          <p:nvPr/>
        </p:nvGrpSpPr>
        <p:grpSpPr bwMode="auto">
          <a:xfrm>
            <a:off x="2884488" y="2081213"/>
            <a:ext cx="815975" cy="501650"/>
            <a:chOff x="2943" y="3239"/>
            <a:chExt cx="725" cy="446"/>
          </a:xfrm>
        </p:grpSpPr>
        <p:sp>
          <p:nvSpPr>
            <p:cNvPr id="23586" name="Freeform 133"/>
            <p:cNvSpPr>
              <a:spLocks/>
            </p:cNvSpPr>
            <p:nvPr/>
          </p:nvSpPr>
          <p:spPr bwMode="auto">
            <a:xfrm>
              <a:off x="3485" y="3548"/>
              <a:ext cx="87" cy="137"/>
            </a:xfrm>
            <a:custGeom>
              <a:avLst/>
              <a:gdLst>
                <a:gd name="T0" fmla="*/ 0 w 530"/>
                <a:gd name="T1" fmla="*/ 1 h 849"/>
                <a:gd name="T2" fmla="*/ 0 w 530"/>
                <a:gd name="T3" fmla="*/ 1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1 h 849"/>
                <a:gd name="T44" fmla="*/ 0 w 530"/>
                <a:gd name="T45" fmla="*/ 1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87" name="Freeform 134"/>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88" name="Freeform 135"/>
            <p:cNvSpPr>
              <a:spLocks/>
            </p:cNvSpPr>
            <p:nvPr/>
          </p:nvSpPr>
          <p:spPr bwMode="auto">
            <a:xfrm>
              <a:off x="2943" y="3288"/>
              <a:ext cx="725" cy="336"/>
            </a:xfrm>
            <a:custGeom>
              <a:avLst/>
              <a:gdLst>
                <a:gd name="T0" fmla="*/ 15 w 1140"/>
                <a:gd name="T1" fmla="*/ 83 h 526"/>
                <a:gd name="T2" fmla="*/ 3 w 1140"/>
                <a:gd name="T3" fmla="*/ 77 h 526"/>
                <a:gd name="T4" fmla="*/ 0 w 1140"/>
                <a:gd name="T5" fmla="*/ 63 h 526"/>
                <a:gd name="T6" fmla="*/ 5 w 1140"/>
                <a:gd name="T7" fmla="*/ 48 h 526"/>
                <a:gd name="T8" fmla="*/ 20 w 1140"/>
                <a:gd name="T9" fmla="*/ 36 h 526"/>
                <a:gd name="T10" fmla="*/ 35 w 1140"/>
                <a:gd name="T11" fmla="*/ 31 h 526"/>
                <a:gd name="T12" fmla="*/ 38 w 1140"/>
                <a:gd name="T13" fmla="*/ 14 h 526"/>
                <a:gd name="T14" fmla="*/ 40 w 1140"/>
                <a:gd name="T15" fmla="*/ 9 h 526"/>
                <a:gd name="T16" fmla="*/ 43 w 1140"/>
                <a:gd name="T17" fmla="*/ 6 h 526"/>
                <a:gd name="T18" fmla="*/ 47 w 1140"/>
                <a:gd name="T19" fmla="*/ 3 h 526"/>
                <a:gd name="T20" fmla="*/ 53 w 1140"/>
                <a:gd name="T21" fmla="*/ 2 h 526"/>
                <a:gd name="T22" fmla="*/ 66 w 1140"/>
                <a:gd name="T23" fmla="*/ 1 h 526"/>
                <a:gd name="T24" fmla="*/ 81 w 1140"/>
                <a:gd name="T25" fmla="*/ 1 h 526"/>
                <a:gd name="T26" fmla="*/ 95 w 1140"/>
                <a:gd name="T27" fmla="*/ 0 h 526"/>
                <a:gd name="T28" fmla="*/ 107 w 1140"/>
                <a:gd name="T29" fmla="*/ 0 h 526"/>
                <a:gd name="T30" fmla="*/ 112 w 1140"/>
                <a:gd name="T31" fmla="*/ 1 h 526"/>
                <a:gd name="T32" fmla="*/ 118 w 1140"/>
                <a:gd name="T33" fmla="*/ 4 h 526"/>
                <a:gd name="T34" fmla="*/ 127 w 1140"/>
                <a:gd name="T35" fmla="*/ 32 h 526"/>
                <a:gd name="T36" fmla="*/ 135 w 1140"/>
                <a:gd name="T37" fmla="*/ 34 h 526"/>
                <a:gd name="T38" fmla="*/ 142 w 1140"/>
                <a:gd name="T39" fmla="*/ 30 h 526"/>
                <a:gd name="T40" fmla="*/ 145 w 1140"/>
                <a:gd name="T41" fmla="*/ 43 h 526"/>
                <a:gd name="T42" fmla="*/ 151 w 1140"/>
                <a:gd name="T43" fmla="*/ 30 h 526"/>
                <a:gd name="T44" fmla="*/ 155 w 1140"/>
                <a:gd name="T45" fmla="*/ 42 h 526"/>
                <a:gd name="T46" fmla="*/ 162 w 1140"/>
                <a:gd name="T47" fmla="*/ 31 h 526"/>
                <a:gd name="T48" fmla="*/ 163 w 1140"/>
                <a:gd name="T49" fmla="*/ 42 h 526"/>
                <a:gd name="T50" fmla="*/ 173 w 1140"/>
                <a:gd name="T51" fmla="*/ 33 h 526"/>
                <a:gd name="T52" fmla="*/ 176 w 1140"/>
                <a:gd name="T53" fmla="*/ 43 h 526"/>
                <a:gd name="T54" fmla="*/ 186 w 1140"/>
                <a:gd name="T55" fmla="*/ 55 h 526"/>
                <a:gd name="T56" fmla="*/ 186 w 1140"/>
                <a:gd name="T57" fmla="*/ 72 h 526"/>
                <a:gd name="T58" fmla="*/ 176 w 1140"/>
                <a:gd name="T59" fmla="*/ 86 h 526"/>
                <a:gd name="T60" fmla="*/ 167 w 1140"/>
                <a:gd name="T61" fmla="*/ 86 h 526"/>
                <a:gd name="T62" fmla="*/ 165 w 1140"/>
                <a:gd name="T63" fmla="*/ 64 h 526"/>
                <a:gd name="T64" fmla="*/ 163 w 1140"/>
                <a:gd name="T65" fmla="*/ 61 h 526"/>
                <a:gd name="T66" fmla="*/ 160 w 1140"/>
                <a:gd name="T67" fmla="*/ 58 h 526"/>
                <a:gd name="T68" fmla="*/ 153 w 1140"/>
                <a:gd name="T69" fmla="*/ 56 h 526"/>
                <a:gd name="T70" fmla="*/ 147 w 1140"/>
                <a:gd name="T71" fmla="*/ 57 h 526"/>
                <a:gd name="T72" fmla="*/ 144 w 1140"/>
                <a:gd name="T73" fmla="*/ 59 h 526"/>
                <a:gd name="T74" fmla="*/ 141 w 1140"/>
                <a:gd name="T75" fmla="*/ 63 h 526"/>
                <a:gd name="T76" fmla="*/ 139 w 1140"/>
                <a:gd name="T77" fmla="*/ 70 h 526"/>
                <a:gd name="T78" fmla="*/ 137 w 1140"/>
                <a:gd name="T79" fmla="*/ 77 h 526"/>
                <a:gd name="T80" fmla="*/ 138 w 1140"/>
                <a:gd name="T81" fmla="*/ 87 h 526"/>
                <a:gd name="T82" fmla="*/ 58 w 1140"/>
                <a:gd name="T83" fmla="*/ 88 h 526"/>
                <a:gd name="T84" fmla="*/ 57 w 1140"/>
                <a:gd name="T85" fmla="*/ 80 h 526"/>
                <a:gd name="T86" fmla="*/ 53 w 1140"/>
                <a:gd name="T87" fmla="*/ 72 h 526"/>
                <a:gd name="T88" fmla="*/ 47 w 1140"/>
                <a:gd name="T89" fmla="*/ 67 h 526"/>
                <a:gd name="T90" fmla="*/ 39 w 1140"/>
                <a:gd name="T91" fmla="*/ 65 h 526"/>
                <a:gd name="T92" fmla="*/ 30 w 1140"/>
                <a:gd name="T93" fmla="*/ 65 h 526"/>
                <a:gd name="T94" fmla="*/ 22 w 1140"/>
                <a:gd name="T95" fmla="*/ 68 h 526"/>
                <a:gd name="T96" fmla="*/ 17 w 1140"/>
                <a:gd name="T97" fmla="*/ 76 h 526"/>
                <a:gd name="T98" fmla="*/ 15 w 1140"/>
                <a:gd name="T99" fmla="*/ 83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3589" name="Freeform 136"/>
            <p:cNvSpPr>
              <a:spLocks/>
            </p:cNvSpPr>
            <p:nvPr/>
          </p:nvSpPr>
          <p:spPr bwMode="auto">
            <a:xfrm>
              <a:off x="3113" y="3325"/>
              <a:ext cx="121" cy="130"/>
            </a:xfrm>
            <a:custGeom>
              <a:avLst/>
              <a:gdLst>
                <a:gd name="T0" fmla="*/ 0 w 189"/>
                <a:gd name="T1" fmla="*/ 32 h 204"/>
                <a:gd name="T2" fmla="*/ 3 w 189"/>
                <a:gd name="T3" fmla="*/ 11 h 204"/>
                <a:gd name="T4" fmla="*/ 5 w 189"/>
                <a:gd name="T5" fmla="*/ 7 h 204"/>
                <a:gd name="T6" fmla="*/ 7 w 189"/>
                <a:gd name="T7" fmla="*/ 5 h 204"/>
                <a:gd name="T8" fmla="*/ 11 w 189"/>
                <a:gd name="T9" fmla="*/ 3 h 204"/>
                <a:gd name="T10" fmla="*/ 15 w 189"/>
                <a:gd name="T11" fmla="*/ 2 h 204"/>
                <a:gd name="T12" fmla="*/ 31 w 189"/>
                <a:gd name="T13" fmla="*/ 0 h 204"/>
                <a:gd name="T14" fmla="*/ 31 w 189"/>
                <a:gd name="T15" fmla="*/ 34 h 204"/>
                <a:gd name="T16" fmla="*/ 0 w 189"/>
                <a:gd name="T17" fmla="*/ 32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3590" name="Freeform 137"/>
            <p:cNvSpPr>
              <a:spLocks/>
            </p:cNvSpPr>
            <p:nvPr/>
          </p:nvSpPr>
          <p:spPr bwMode="auto">
            <a:xfrm>
              <a:off x="3255" y="3322"/>
              <a:ext cx="160" cy="135"/>
            </a:xfrm>
            <a:custGeom>
              <a:avLst/>
              <a:gdLst>
                <a:gd name="T0" fmla="*/ 1 w 252"/>
                <a:gd name="T1" fmla="*/ 34 h 213"/>
                <a:gd name="T2" fmla="*/ 0 w 252"/>
                <a:gd name="T3" fmla="*/ 0 h 213"/>
                <a:gd name="T4" fmla="*/ 34 w 252"/>
                <a:gd name="T5" fmla="*/ 0 h 213"/>
                <a:gd name="T6" fmla="*/ 41 w 252"/>
                <a:gd name="T7" fmla="*/ 24 h 213"/>
                <a:gd name="T8" fmla="*/ 35 w 252"/>
                <a:gd name="T9" fmla="*/ 31 h 213"/>
                <a:gd name="T10" fmla="*/ 16 w 252"/>
                <a:gd name="T11" fmla="*/ 35 h 213"/>
                <a:gd name="T12" fmla="*/ 1 w 252"/>
                <a:gd name="T13" fmla="*/ 34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3591" name="Freeform 138"/>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2" name="Freeform 139"/>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3" name="Freeform 140"/>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4" name="Freeform 141"/>
            <p:cNvSpPr>
              <a:spLocks/>
            </p:cNvSpPr>
            <p:nvPr/>
          </p:nvSpPr>
          <p:spPr bwMode="auto">
            <a:xfrm>
              <a:off x="3245" y="3415"/>
              <a:ext cx="195" cy="185"/>
            </a:xfrm>
            <a:custGeom>
              <a:avLst/>
              <a:gdLst>
                <a:gd name="T0" fmla="*/ 0 w 306"/>
                <a:gd name="T1" fmla="*/ 11 h 290"/>
                <a:gd name="T2" fmla="*/ 1 w 306"/>
                <a:gd name="T3" fmla="*/ 48 h 290"/>
                <a:gd name="T4" fmla="*/ 46 w 306"/>
                <a:gd name="T5" fmla="*/ 48 h 290"/>
                <a:gd name="T6" fmla="*/ 50 w 306"/>
                <a:gd name="T7" fmla="*/ 45 h 290"/>
                <a:gd name="T8" fmla="*/ 50 w 306"/>
                <a:gd name="T9" fmla="*/ 41 h 290"/>
                <a:gd name="T10" fmla="*/ 50 w 306"/>
                <a:gd name="T11" fmla="*/ 8 h 290"/>
                <a:gd name="T12" fmla="*/ 47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95" name="Freeform 142"/>
            <p:cNvSpPr>
              <a:spLocks/>
            </p:cNvSpPr>
            <p:nvPr/>
          </p:nvSpPr>
          <p:spPr bwMode="auto">
            <a:xfrm rot="1661969">
              <a:off x="3494" y="3239"/>
              <a:ext cx="130" cy="102"/>
            </a:xfrm>
            <a:custGeom>
              <a:avLst/>
              <a:gdLst>
                <a:gd name="T0" fmla="*/ 0 w 530"/>
                <a:gd name="T1" fmla="*/ 1 h 342"/>
                <a:gd name="T2" fmla="*/ 0 w 530"/>
                <a:gd name="T3" fmla="*/ 1 h 342"/>
                <a:gd name="T4" fmla="*/ 0 w 530"/>
                <a:gd name="T5" fmla="*/ 1 h 342"/>
                <a:gd name="T6" fmla="*/ 0 w 530"/>
                <a:gd name="T7" fmla="*/ 2 h 342"/>
                <a:gd name="T8" fmla="*/ 0 w 530"/>
                <a:gd name="T9" fmla="*/ 2 h 342"/>
                <a:gd name="T10" fmla="*/ 0 w 530"/>
                <a:gd name="T11" fmla="*/ 2 h 342"/>
                <a:gd name="T12" fmla="*/ 0 w 530"/>
                <a:gd name="T13" fmla="*/ 2 h 342"/>
                <a:gd name="T14" fmla="*/ 0 w 530"/>
                <a:gd name="T15" fmla="*/ 3 h 342"/>
                <a:gd name="T16" fmla="*/ 0 w 530"/>
                <a:gd name="T17" fmla="*/ 3 h 342"/>
                <a:gd name="T18" fmla="*/ 0 w 530"/>
                <a:gd name="T19" fmla="*/ 3 h 342"/>
                <a:gd name="T20" fmla="*/ 0 w 530"/>
                <a:gd name="T21" fmla="*/ 3 h 342"/>
                <a:gd name="T22" fmla="*/ 0 w 530"/>
                <a:gd name="T23" fmla="*/ 3 h 342"/>
                <a:gd name="T24" fmla="*/ 1 w 530"/>
                <a:gd name="T25" fmla="*/ 2 h 342"/>
                <a:gd name="T26" fmla="*/ 1 w 530"/>
                <a:gd name="T27" fmla="*/ 2 h 342"/>
                <a:gd name="T28" fmla="*/ 1 w 530"/>
                <a:gd name="T29" fmla="*/ 2 h 342"/>
                <a:gd name="T30" fmla="*/ 1 w 530"/>
                <a:gd name="T31" fmla="*/ 2 h 342"/>
                <a:gd name="T32" fmla="*/ 1 w 530"/>
                <a:gd name="T33" fmla="*/ 2 h 342"/>
                <a:gd name="T34" fmla="*/ 1 w 530"/>
                <a:gd name="T35" fmla="*/ 2 h 342"/>
                <a:gd name="T36" fmla="*/ 1 w 530"/>
                <a:gd name="T37" fmla="*/ 2 h 342"/>
                <a:gd name="T38" fmla="*/ 1 w 530"/>
                <a:gd name="T39" fmla="*/ 2 h 342"/>
                <a:gd name="T40" fmla="*/ 1 w 530"/>
                <a:gd name="T41" fmla="*/ 2 h 342"/>
                <a:gd name="T42" fmla="*/ 1 w 530"/>
                <a:gd name="T43" fmla="*/ 2 h 342"/>
                <a:gd name="T44" fmla="*/ 1 w 530"/>
                <a:gd name="T45" fmla="*/ 1 h 342"/>
                <a:gd name="T46" fmla="*/ 1 w 530"/>
                <a:gd name="T47" fmla="*/ 1 h 342"/>
                <a:gd name="T48" fmla="*/ 1 w 530"/>
                <a:gd name="T49" fmla="*/ 1 h 342"/>
                <a:gd name="T50" fmla="*/ 2 w 530"/>
                <a:gd name="T51" fmla="*/ 1 h 342"/>
                <a:gd name="T52" fmla="*/ 2 w 530"/>
                <a:gd name="T53" fmla="*/ 1 h 342"/>
                <a:gd name="T54" fmla="*/ 2 w 530"/>
                <a:gd name="T55" fmla="*/ 1 h 342"/>
                <a:gd name="T56" fmla="*/ 2 w 530"/>
                <a:gd name="T57" fmla="*/ 1 h 342"/>
                <a:gd name="T58" fmla="*/ 2 w 530"/>
                <a:gd name="T59" fmla="*/ 1 h 342"/>
                <a:gd name="T60" fmla="*/ 2 w 530"/>
                <a:gd name="T61" fmla="*/ 1 h 342"/>
                <a:gd name="T62" fmla="*/ 2 w 530"/>
                <a:gd name="T63" fmla="*/ 1 h 342"/>
                <a:gd name="T64" fmla="*/ 2 w 530"/>
                <a:gd name="T65" fmla="*/ 0 h 342"/>
                <a:gd name="T66" fmla="*/ 2 w 530"/>
                <a:gd name="T67" fmla="*/ 0 h 342"/>
                <a:gd name="T68" fmla="*/ 2 w 530"/>
                <a:gd name="T69" fmla="*/ 0 h 342"/>
                <a:gd name="T70" fmla="*/ 2 w 530"/>
                <a:gd name="T71" fmla="*/ 0 h 342"/>
                <a:gd name="T72" fmla="*/ 1 w 530"/>
                <a:gd name="T73" fmla="*/ 0 h 342"/>
                <a:gd name="T74" fmla="*/ 1 w 530"/>
                <a:gd name="T75" fmla="*/ 0 h 342"/>
                <a:gd name="T76" fmla="*/ 1 w 530"/>
                <a:gd name="T77" fmla="*/ 0 h 342"/>
                <a:gd name="T78" fmla="*/ 1 w 530"/>
                <a:gd name="T79" fmla="*/ 0 h 342"/>
                <a:gd name="T80" fmla="*/ 1 w 530"/>
                <a:gd name="T81" fmla="*/ 0 h 342"/>
                <a:gd name="T82" fmla="*/ 1 w 530"/>
                <a:gd name="T83" fmla="*/ 0 h 342"/>
                <a:gd name="T84" fmla="*/ 1 w 530"/>
                <a:gd name="T85" fmla="*/ 0 h 342"/>
                <a:gd name="T86" fmla="*/ 1 w 530"/>
                <a:gd name="T87" fmla="*/ 0 h 342"/>
                <a:gd name="T88" fmla="*/ 1 w 530"/>
                <a:gd name="T89" fmla="*/ 1 h 342"/>
                <a:gd name="T90" fmla="*/ 1 w 530"/>
                <a:gd name="T91" fmla="*/ 1 h 342"/>
                <a:gd name="T92" fmla="*/ 1 w 530"/>
                <a:gd name="T93" fmla="*/ 1 h 342"/>
                <a:gd name="T94" fmla="*/ 1 w 530"/>
                <a:gd name="T95" fmla="*/ 1 h 342"/>
                <a:gd name="T96" fmla="*/ 0 w 530"/>
                <a:gd name="T97" fmla="*/ 1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23596" name="Line 143"/>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97" name="Line 144"/>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98" name="Oval 145"/>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3599" name="Freeform 146"/>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0" name="Freeform 147"/>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1" name="Oval 148"/>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3602" name="Freeform 149"/>
            <p:cNvSpPr>
              <a:spLocks/>
            </p:cNvSpPr>
            <p:nvPr/>
          </p:nvSpPr>
          <p:spPr bwMode="auto">
            <a:xfrm>
              <a:off x="3484" y="3518"/>
              <a:ext cx="99" cy="158"/>
            </a:xfrm>
            <a:custGeom>
              <a:avLst/>
              <a:gdLst>
                <a:gd name="T0" fmla="*/ 0 w 606"/>
                <a:gd name="T1" fmla="*/ 1 h 969"/>
                <a:gd name="T2" fmla="*/ 0 w 606"/>
                <a:gd name="T3" fmla="*/ 1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1 h 969"/>
                <a:gd name="T44" fmla="*/ 0 w 606"/>
                <a:gd name="T45" fmla="*/ 1 h 969"/>
                <a:gd name="T46" fmla="*/ 0 w 606"/>
                <a:gd name="T47" fmla="*/ 1 h 969"/>
                <a:gd name="T48" fmla="*/ 0 w 606"/>
                <a:gd name="T49" fmla="*/ 1 h 969"/>
                <a:gd name="T50" fmla="*/ 0 w 606"/>
                <a:gd name="T51" fmla="*/ 1 h 969"/>
                <a:gd name="T52" fmla="*/ 0 w 606"/>
                <a:gd name="T53" fmla="*/ 1 h 969"/>
                <a:gd name="T54" fmla="*/ 0 w 606"/>
                <a:gd name="T55" fmla="*/ 1 h 969"/>
                <a:gd name="T56" fmla="*/ 0 w 606"/>
                <a:gd name="T57" fmla="*/ 1 h 969"/>
                <a:gd name="T58" fmla="*/ 0 w 606"/>
                <a:gd name="T59" fmla="*/ 1 h 969"/>
                <a:gd name="T60" fmla="*/ 0 w 606"/>
                <a:gd name="T61" fmla="*/ 1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1 h 969"/>
                <a:gd name="T108" fmla="*/ 0 w 606"/>
                <a:gd name="T109" fmla="*/ 1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3" name="Freeform 150"/>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sp>
        <p:nvSpPr>
          <p:cNvPr id="24578" name="Rectangle 2"/>
          <p:cNvSpPr>
            <a:spLocks noGrp="1" noChangeArrowheads="1"/>
          </p:cNvSpPr>
          <p:nvPr>
            <p:ph type="title"/>
          </p:nvPr>
        </p:nvSpPr>
        <p:spPr/>
        <p:txBody>
          <a:bodyPr/>
          <a:lstStyle/>
          <a:p>
            <a:r>
              <a:rPr lang="en-US" smtClean="0">
                <a:solidFill>
                  <a:srgbClr val="CC00CC"/>
                </a:solidFill>
              </a:rPr>
              <a:t>(Notes only slide)</a:t>
            </a:r>
          </a:p>
        </p:txBody>
      </p:sp>
      <p:sp>
        <p:nvSpPr>
          <p:cNvPr id="24579" name="Rectangle 3"/>
          <p:cNvSpPr>
            <a:spLocks noGrp="1" noChangeArrowheads="1"/>
          </p:cNvSpPr>
          <p:nvPr>
            <p:ph idx="1"/>
          </p:nvPr>
        </p:nvSpPr>
        <p:spPr/>
        <p:txBody>
          <a:bodyPr/>
          <a:lstStyle/>
          <a:p>
            <a:pPr>
              <a:buFont typeface="Arial" charset="0"/>
              <a:buChar char="•"/>
            </a:pPr>
            <a:endParaRPr lang="en-US" smtClean="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sp>
        <p:nvSpPr>
          <p:cNvPr id="25602" name="Line 2"/>
          <p:cNvSpPr>
            <a:spLocks noChangeShapeType="1"/>
          </p:cNvSpPr>
          <p:nvPr/>
        </p:nvSpPr>
        <p:spPr bwMode="auto">
          <a:xfrm>
            <a:off x="2976563" y="4346575"/>
            <a:ext cx="4521200"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3" name="Line 3"/>
          <p:cNvSpPr>
            <a:spLocks noChangeShapeType="1"/>
          </p:cNvSpPr>
          <p:nvPr/>
        </p:nvSpPr>
        <p:spPr bwMode="auto">
          <a:xfrm>
            <a:off x="2976563" y="2351088"/>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4" name="Line 4"/>
          <p:cNvSpPr>
            <a:spLocks noChangeShapeType="1"/>
          </p:cNvSpPr>
          <p:nvPr/>
        </p:nvSpPr>
        <p:spPr bwMode="auto">
          <a:xfrm flipV="1">
            <a:off x="5419725" y="2325688"/>
            <a:ext cx="0" cy="1042987"/>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05" name="Line 5"/>
          <p:cNvSpPr>
            <a:spLocks noChangeShapeType="1"/>
          </p:cNvSpPr>
          <p:nvPr/>
        </p:nvSpPr>
        <p:spPr bwMode="auto">
          <a:xfrm>
            <a:off x="5419725" y="2855913"/>
            <a:ext cx="2062163"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6" name="Line 6"/>
          <p:cNvSpPr>
            <a:spLocks noChangeShapeType="1"/>
          </p:cNvSpPr>
          <p:nvPr/>
        </p:nvSpPr>
        <p:spPr bwMode="auto">
          <a:xfrm>
            <a:off x="2995613" y="3368675"/>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7" name="Line 7"/>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08" name="Line 8"/>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9" name="Line 9"/>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10" name="Line 10"/>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11" name="Line 11"/>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12" name="Line 12"/>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13" name="Line 13"/>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14" name="Rectangle 14"/>
          <p:cNvSpPr>
            <a:spLocks noGrp="1" noChangeArrowheads="1"/>
          </p:cNvSpPr>
          <p:nvPr>
            <p:ph type="title"/>
          </p:nvPr>
        </p:nvSpPr>
        <p:spPr/>
        <p:txBody>
          <a:bodyPr/>
          <a:lstStyle/>
          <a:p>
            <a:r>
              <a:rPr lang="en-US" smtClean="0"/>
              <a:t>Stage 4: Rules/adjuster creates reserves</a:t>
            </a:r>
          </a:p>
        </p:txBody>
      </p:sp>
      <p:grpSp>
        <p:nvGrpSpPr>
          <p:cNvPr id="25615" name="Group 15"/>
          <p:cNvGrpSpPr>
            <a:grpSpLocks/>
          </p:cNvGrpSpPr>
          <p:nvPr/>
        </p:nvGrpSpPr>
        <p:grpSpPr bwMode="auto">
          <a:xfrm>
            <a:off x="517525" y="869950"/>
            <a:ext cx="1323975" cy="976313"/>
            <a:chOff x="2083" y="1606"/>
            <a:chExt cx="1489" cy="1097"/>
          </a:xfrm>
        </p:grpSpPr>
        <p:sp>
          <p:nvSpPr>
            <p:cNvPr id="25745" name="Rectangle 1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5746" name="Freeform 1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747" name="Freeform 1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748" name="Freeform 1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749" name="Freeform 2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750" name="Rectangle 2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5751" name="Rectangle 2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752" name="AutoShape 2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5753" name="Freeform 24"/>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754" name="Freeform 25"/>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755" name="Rectangle 2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756" name="Rectangle 2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757" name="Rectangle 2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5758" name="Group 29"/>
            <p:cNvGrpSpPr>
              <a:grpSpLocks/>
            </p:cNvGrpSpPr>
            <p:nvPr/>
          </p:nvGrpSpPr>
          <p:grpSpPr bwMode="auto">
            <a:xfrm>
              <a:off x="2221" y="1871"/>
              <a:ext cx="518" cy="782"/>
              <a:chOff x="2400" y="1656"/>
              <a:chExt cx="752" cy="1136"/>
            </a:xfrm>
          </p:grpSpPr>
          <p:sp>
            <p:nvSpPr>
              <p:cNvPr id="25771" name="Freeform 3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5772" name="Freeform 3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73" name="Freeform 3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74" name="Freeform 3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75" name="Freeform 3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5776" name="Line 3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777" name="Line 3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759" name="Group 37"/>
            <p:cNvGrpSpPr>
              <a:grpSpLocks/>
            </p:cNvGrpSpPr>
            <p:nvPr/>
          </p:nvGrpSpPr>
          <p:grpSpPr bwMode="auto">
            <a:xfrm rot="-6511945">
              <a:off x="2834" y="1842"/>
              <a:ext cx="518" cy="783"/>
              <a:chOff x="2400" y="1656"/>
              <a:chExt cx="752" cy="1136"/>
            </a:xfrm>
          </p:grpSpPr>
          <p:sp>
            <p:nvSpPr>
              <p:cNvPr id="25764" name="Freeform 3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5765" name="Freeform 3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66" name="Freeform 4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67" name="Freeform 4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68" name="Freeform 4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69" name="Line 4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70" name="Line 4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760" name="Freeform 45"/>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761" name="Freeform 46"/>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762" name="Rectangle 4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763" name="Rectangle 4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5616" name="Group 49"/>
          <p:cNvGrpSpPr>
            <a:grpSpLocks/>
          </p:cNvGrpSpPr>
          <p:nvPr/>
        </p:nvGrpSpPr>
        <p:grpSpPr bwMode="auto">
          <a:xfrm>
            <a:off x="2151063" y="1989138"/>
            <a:ext cx="822325" cy="817562"/>
            <a:chOff x="3360" y="800"/>
            <a:chExt cx="620" cy="616"/>
          </a:xfrm>
        </p:grpSpPr>
        <p:sp>
          <p:nvSpPr>
            <p:cNvPr id="25739" name="AutoShape 5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5740" name="Freeform 51"/>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5741" name="Group 52"/>
            <p:cNvGrpSpPr>
              <a:grpSpLocks/>
            </p:cNvGrpSpPr>
            <p:nvPr/>
          </p:nvGrpSpPr>
          <p:grpSpPr bwMode="auto">
            <a:xfrm flipH="1">
              <a:off x="3749" y="1171"/>
              <a:ext cx="212" cy="213"/>
              <a:chOff x="1350" y="686"/>
              <a:chExt cx="1132" cy="1132"/>
            </a:xfrm>
          </p:grpSpPr>
          <p:sp>
            <p:nvSpPr>
              <p:cNvPr id="25743" name="AutoShape 5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744" name="Picture 5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742" name="Picture 5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17" name="Group 56"/>
          <p:cNvGrpSpPr>
            <a:grpSpLocks/>
          </p:cNvGrpSpPr>
          <p:nvPr/>
        </p:nvGrpSpPr>
        <p:grpSpPr bwMode="auto">
          <a:xfrm>
            <a:off x="2170113" y="4946650"/>
            <a:ext cx="517525" cy="658813"/>
            <a:chOff x="2401" y="425"/>
            <a:chExt cx="907" cy="1154"/>
          </a:xfrm>
        </p:grpSpPr>
        <p:sp>
          <p:nvSpPr>
            <p:cNvPr id="25733" name="Rectangle 5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5734" name="Line 5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35" name="Line 5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36" name="Rectangle 6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5737" name="Freeform 61"/>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5738" name="Line 6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618" name="Group 63"/>
          <p:cNvGrpSpPr>
            <a:grpSpLocks/>
          </p:cNvGrpSpPr>
          <p:nvPr/>
        </p:nvGrpSpPr>
        <p:grpSpPr bwMode="auto">
          <a:xfrm>
            <a:off x="2151063" y="2965450"/>
            <a:ext cx="822325" cy="817563"/>
            <a:chOff x="3360" y="800"/>
            <a:chExt cx="620" cy="616"/>
          </a:xfrm>
        </p:grpSpPr>
        <p:sp>
          <p:nvSpPr>
            <p:cNvPr id="25727" name="AutoShape 6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5728" name="Freeform 6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5729" name="Group 66"/>
            <p:cNvGrpSpPr>
              <a:grpSpLocks/>
            </p:cNvGrpSpPr>
            <p:nvPr/>
          </p:nvGrpSpPr>
          <p:grpSpPr bwMode="auto">
            <a:xfrm flipH="1">
              <a:off x="3749" y="1171"/>
              <a:ext cx="212" cy="213"/>
              <a:chOff x="1350" y="686"/>
              <a:chExt cx="1132" cy="1132"/>
            </a:xfrm>
          </p:grpSpPr>
          <p:sp>
            <p:nvSpPr>
              <p:cNvPr id="25731" name="AutoShape 6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732" name="Picture 6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730" name="Picture 6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19" name="Group 70"/>
          <p:cNvGrpSpPr>
            <a:grpSpLocks/>
          </p:cNvGrpSpPr>
          <p:nvPr/>
        </p:nvGrpSpPr>
        <p:grpSpPr bwMode="auto">
          <a:xfrm>
            <a:off x="2151063" y="3943350"/>
            <a:ext cx="822325" cy="817563"/>
            <a:chOff x="3360" y="800"/>
            <a:chExt cx="620" cy="616"/>
          </a:xfrm>
        </p:grpSpPr>
        <p:sp>
          <p:nvSpPr>
            <p:cNvPr id="25721" name="AutoShape 71"/>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5722" name="Freeform 72"/>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5723" name="Group 73"/>
            <p:cNvGrpSpPr>
              <a:grpSpLocks/>
            </p:cNvGrpSpPr>
            <p:nvPr/>
          </p:nvGrpSpPr>
          <p:grpSpPr bwMode="auto">
            <a:xfrm flipH="1">
              <a:off x="3749" y="1171"/>
              <a:ext cx="212" cy="213"/>
              <a:chOff x="1350" y="686"/>
              <a:chExt cx="1132" cy="1132"/>
            </a:xfrm>
          </p:grpSpPr>
          <p:sp>
            <p:nvSpPr>
              <p:cNvPr id="25725" name="AutoShape 7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726" name="Picture 7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724" name="Picture 7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20" name="Group 77"/>
          <p:cNvGrpSpPr>
            <a:grpSpLocks/>
          </p:cNvGrpSpPr>
          <p:nvPr/>
        </p:nvGrpSpPr>
        <p:grpSpPr bwMode="auto">
          <a:xfrm>
            <a:off x="2432050" y="5395913"/>
            <a:ext cx="517525" cy="658812"/>
            <a:chOff x="2401" y="425"/>
            <a:chExt cx="907" cy="1154"/>
          </a:xfrm>
        </p:grpSpPr>
        <p:sp>
          <p:nvSpPr>
            <p:cNvPr id="25715" name="Rectangle 78"/>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5716" name="Line 79"/>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17" name="Line 80"/>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18" name="Rectangle 81"/>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5719" name="Freeform 82"/>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5720" name="Line 8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621" name="Group 84"/>
          <p:cNvGrpSpPr>
            <a:grpSpLocks/>
          </p:cNvGrpSpPr>
          <p:nvPr/>
        </p:nvGrpSpPr>
        <p:grpSpPr bwMode="auto">
          <a:xfrm>
            <a:off x="2693988" y="5843588"/>
            <a:ext cx="517525" cy="658812"/>
            <a:chOff x="2401" y="425"/>
            <a:chExt cx="907" cy="1154"/>
          </a:xfrm>
        </p:grpSpPr>
        <p:sp>
          <p:nvSpPr>
            <p:cNvPr id="25709" name="Rectangle 8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5710" name="Line 8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11" name="Line 8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12" name="Rectangle 8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5713" name="Freeform 89"/>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5714" name="Line 9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622" name="Group 91"/>
          <p:cNvGrpSpPr>
            <a:grpSpLocks/>
          </p:cNvGrpSpPr>
          <p:nvPr/>
        </p:nvGrpSpPr>
        <p:grpSpPr bwMode="auto">
          <a:xfrm>
            <a:off x="3522663" y="4116388"/>
            <a:ext cx="509587" cy="493712"/>
            <a:chOff x="4200" y="2899"/>
            <a:chExt cx="915" cy="885"/>
          </a:xfrm>
        </p:grpSpPr>
        <p:sp>
          <p:nvSpPr>
            <p:cNvPr id="25692" name="Rectangle 92"/>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5693" name="AutoShape 93"/>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94" name="AutoShape 94"/>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95" name="AutoShape 95"/>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96" name="Freeform 96"/>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97" name="Freeform 97"/>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98" name="Freeform 98"/>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99" name="Freeform 99"/>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700" name="Freeform 100"/>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701" name="Freeform 101"/>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702" name="Freeform 102"/>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703" name="Line 103"/>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4" name="Line 104"/>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5" name="Line 105"/>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6" name="Line 106"/>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7" name="Line 107"/>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8" name="Line 108"/>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623" name="AutoShape 109"/>
          <p:cNvSpPr>
            <a:spLocks noChangeArrowheads="1"/>
          </p:cNvSpPr>
          <p:nvPr/>
        </p:nvSpPr>
        <p:spPr bwMode="auto">
          <a:xfrm>
            <a:off x="2990850" y="4154488"/>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5624" name="Group 110"/>
          <p:cNvGrpSpPr>
            <a:grpSpLocks/>
          </p:cNvGrpSpPr>
          <p:nvPr/>
        </p:nvGrpSpPr>
        <p:grpSpPr bwMode="auto">
          <a:xfrm>
            <a:off x="3502025" y="3149600"/>
            <a:ext cx="509588" cy="493713"/>
            <a:chOff x="4200" y="2899"/>
            <a:chExt cx="915" cy="885"/>
          </a:xfrm>
        </p:grpSpPr>
        <p:sp>
          <p:nvSpPr>
            <p:cNvPr id="25675" name="Rectangle 111"/>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5676" name="AutoShape 112"/>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77" name="AutoShape 113"/>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78" name="AutoShape 114"/>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79" name="Freeform 115"/>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0" name="Freeform 116"/>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1" name="Freeform 117"/>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2" name="Freeform 118"/>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3" name="Freeform 119"/>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4" name="Freeform 120"/>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5" name="Freeform 121"/>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6" name="Line 122"/>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87" name="Line 123"/>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88" name="Line 124"/>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89" name="Line 125"/>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90" name="Line 126"/>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91" name="Line 127"/>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625" name="AutoShape 128"/>
          <p:cNvSpPr>
            <a:spLocks noChangeArrowheads="1"/>
          </p:cNvSpPr>
          <p:nvPr/>
        </p:nvSpPr>
        <p:spPr bwMode="auto">
          <a:xfrm>
            <a:off x="2970213" y="318770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5626" name="Group 129"/>
          <p:cNvGrpSpPr>
            <a:grpSpLocks/>
          </p:cNvGrpSpPr>
          <p:nvPr/>
        </p:nvGrpSpPr>
        <p:grpSpPr bwMode="auto">
          <a:xfrm>
            <a:off x="3516313" y="2152650"/>
            <a:ext cx="509587" cy="493713"/>
            <a:chOff x="4200" y="2899"/>
            <a:chExt cx="915" cy="885"/>
          </a:xfrm>
        </p:grpSpPr>
        <p:sp>
          <p:nvSpPr>
            <p:cNvPr id="25658" name="Rectangle 130"/>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5659" name="AutoShape 131"/>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60" name="AutoShape 132"/>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61" name="AutoShape 133"/>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62" name="Freeform 134"/>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3" name="Freeform 135"/>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4" name="Freeform 136"/>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5" name="Freeform 137"/>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6" name="Freeform 138"/>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7" name="Freeform 139"/>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8" name="Freeform 140"/>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9" name="Line 141"/>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0" name="Line 142"/>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1" name="Line 143"/>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2" name="Line 144"/>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3" name="Line 145"/>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4" name="Line 146"/>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627" name="AutoShape 147"/>
          <p:cNvSpPr>
            <a:spLocks noChangeArrowheads="1"/>
          </p:cNvSpPr>
          <p:nvPr/>
        </p:nvSpPr>
        <p:spPr bwMode="auto">
          <a:xfrm>
            <a:off x="2984500" y="219075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5628" name="Text Box 148"/>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5629" name="Text Box 149"/>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5630" name="Text Box 150"/>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grpSp>
        <p:nvGrpSpPr>
          <p:cNvPr id="25631" name="Group 151"/>
          <p:cNvGrpSpPr>
            <a:grpSpLocks/>
          </p:cNvGrpSpPr>
          <p:nvPr/>
        </p:nvGrpSpPr>
        <p:grpSpPr bwMode="auto">
          <a:xfrm>
            <a:off x="1844675" y="1155700"/>
            <a:ext cx="2386013" cy="674688"/>
            <a:chOff x="1162" y="786"/>
            <a:chExt cx="1503" cy="425"/>
          </a:xfrm>
        </p:grpSpPr>
        <p:grpSp>
          <p:nvGrpSpPr>
            <p:cNvPr id="25642" name="Group 152"/>
            <p:cNvGrpSpPr>
              <a:grpSpLocks/>
            </p:cNvGrpSpPr>
            <p:nvPr/>
          </p:nvGrpSpPr>
          <p:grpSpPr bwMode="auto">
            <a:xfrm>
              <a:off x="1481" y="786"/>
              <a:ext cx="631" cy="425"/>
              <a:chOff x="2984" y="3331"/>
              <a:chExt cx="845" cy="569"/>
            </a:xfrm>
          </p:grpSpPr>
          <p:sp>
            <p:nvSpPr>
              <p:cNvPr id="25645" name="AutoShape 15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5646" name="Group 154"/>
              <p:cNvGrpSpPr>
                <a:grpSpLocks/>
              </p:cNvGrpSpPr>
              <p:nvPr/>
            </p:nvGrpSpPr>
            <p:grpSpPr bwMode="auto">
              <a:xfrm>
                <a:off x="3386" y="3487"/>
                <a:ext cx="443" cy="398"/>
                <a:chOff x="4838" y="2218"/>
                <a:chExt cx="395" cy="355"/>
              </a:xfrm>
            </p:grpSpPr>
            <p:sp>
              <p:nvSpPr>
                <p:cNvPr id="25647" name="Freeform 155"/>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48" name="Freeform 156"/>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49" name="Freeform 157"/>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0" name="Freeform 158"/>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1" name="Freeform 159"/>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2" name="Freeform 160"/>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3" name="Freeform 161"/>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4" name="Rectangle 16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5655" name="Rectangle 16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5656" name="Freeform 164"/>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7" name="Rectangle 16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5643" name="Text Box 166"/>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5644" name="Line 167"/>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632" name="Group 168"/>
          <p:cNvGrpSpPr>
            <a:grpSpLocks/>
          </p:cNvGrpSpPr>
          <p:nvPr/>
        </p:nvGrpSpPr>
        <p:grpSpPr bwMode="auto">
          <a:xfrm>
            <a:off x="7316788" y="1382713"/>
            <a:ext cx="1157287" cy="3987800"/>
            <a:chOff x="4609" y="929"/>
            <a:chExt cx="729" cy="2512"/>
          </a:xfrm>
        </p:grpSpPr>
        <p:grpSp>
          <p:nvGrpSpPr>
            <p:cNvPr id="25633" name="Group 169"/>
            <p:cNvGrpSpPr>
              <a:grpSpLocks/>
            </p:cNvGrpSpPr>
            <p:nvPr/>
          </p:nvGrpSpPr>
          <p:grpSpPr bwMode="auto">
            <a:xfrm>
              <a:off x="4691" y="1557"/>
              <a:ext cx="565" cy="565"/>
              <a:chOff x="1350" y="686"/>
              <a:chExt cx="1132" cy="1132"/>
            </a:xfrm>
          </p:grpSpPr>
          <p:sp>
            <p:nvSpPr>
              <p:cNvPr id="25640" name="AutoShape 17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641" name="Picture 17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34" name="Group 172"/>
            <p:cNvGrpSpPr>
              <a:grpSpLocks/>
            </p:cNvGrpSpPr>
            <p:nvPr/>
          </p:nvGrpSpPr>
          <p:grpSpPr bwMode="auto">
            <a:xfrm>
              <a:off x="4691" y="2530"/>
              <a:ext cx="565" cy="565"/>
              <a:chOff x="1350" y="686"/>
              <a:chExt cx="1132" cy="1132"/>
            </a:xfrm>
          </p:grpSpPr>
          <p:sp>
            <p:nvSpPr>
              <p:cNvPr id="25638" name="AutoShape 17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639" name="Picture 17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35" name="Text Box 175"/>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5636" name="Text Box 176"/>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3rd-party</a:t>
              </a:r>
              <a:br>
                <a:rPr lang="en-US" sz="1800" b="1" dirty="0"/>
              </a:br>
              <a:r>
                <a:rPr lang="en-US" sz="1800" b="1" dirty="0"/>
                <a:t>claimant</a:t>
              </a:r>
            </a:p>
          </p:txBody>
        </p:sp>
        <p:sp>
          <p:nvSpPr>
            <p:cNvPr id="25637" name="Text Box 177"/>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|EOS~023|</a:t>
            </a:r>
            <a:endParaRPr lang="en-US" sz="100" dirty="0" err="1" smtClean="0">
              <a:solidFill>
                <a:srgbClr val="FFFFFF"/>
              </a:solidFill>
              <a:latin typeface="Arial"/>
              <a:cs typeface="Calibri" pitchFamily="34" charset="0"/>
            </a:endParaRPr>
          </a:p>
        </p:txBody>
      </p:sp>
      <p:sp>
        <p:nvSpPr>
          <p:cNvPr id="26626" name="Line 2"/>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27" name="Line 3"/>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28" name="Line 4"/>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29" name="Line 5"/>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30" name="Line 6"/>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1" name="Line 7"/>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2" name="Line 8"/>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3" name="Rectangle 9"/>
          <p:cNvSpPr>
            <a:spLocks noGrp="1" noChangeArrowheads="1"/>
          </p:cNvSpPr>
          <p:nvPr>
            <p:ph type="title"/>
          </p:nvPr>
        </p:nvSpPr>
        <p:spPr/>
        <p:txBody>
          <a:bodyPr/>
          <a:lstStyle/>
          <a:p>
            <a:r>
              <a:rPr lang="en-US" smtClean="0"/>
              <a:t>Stage 5: Users complete activities</a:t>
            </a:r>
          </a:p>
        </p:txBody>
      </p:sp>
      <p:grpSp>
        <p:nvGrpSpPr>
          <p:cNvPr id="26634" name="Group 10"/>
          <p:cNvGrpSpPr>
            <a:grpSpLocks/>
          </p:cNvGrpSpPr>
          <p:nvPr/>
        </p:nvGrpSpPr>
        <p:grpSpPr bwMode="auto">
          <a:xfrm>
            <a:off x="517525" y="869950"/>
            <a:ext cx="1323975" cy="976313"/>
            <a:chOff x="2083" y="1606"/>
            <a:chExt cx="1489" cy="1097"/>
          </a:xfrm>
        </p:grpSpPr>
        <p:sp>
          <p:nvSpPr>
            <p:cNvPr id="26767"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768"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769"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770"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771"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772"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773"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74"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775" name="Freeform 1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76" name="Freeform 2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77"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78"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79"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780" name="Group 24"/>
            <p:cNvGrpSpPr>
              <a:grpSpLocks/>
            </p:cNvGrpSpPr>
            <p:nvPr/>
          </p:nvGrpSpPr>
          <p:grpSpPr bwMode="auto">
            <a:xfrm>
              <a:off x="2221" y="1871"/>
              <a:ext cx="518" cy="782"/>
              <a:chOff x="2400" y="1656"/>
              <a:chExt cx="752" cy="1136"/>
            </a:xfrm>
          </p:grpSpPr>
          <p:sp>
            <p:nvSpPr>
              <p:cNvPr id="26793"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6794"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5"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6"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7"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6798"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99"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81" name="Group 32"/>
            <p:cNvGrpSpPr>
              <a:grpSpLocks/>
            </p:cNvGrpSpPr>
            <p:nvPr/>
          </p:nvGrpSpPr>
          <p:grpSpPr bwMode="auto">
            <a:xfrm rot="-6511945">
              <a:off x="2834" y="1842"/>
              <a:ext cx="518" cy="783"/>
              <a:chOff x="2400" y="1656"/>
              <a:chExt cx="752" cy="1136"/>
            </a:xfrm>
          </p:grpSpPr>
          <p:sp>
            <p:nvSpPr>
              <p:cNvPr id="26786"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6787"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88"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89"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0"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1"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92"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782" name="Freeform 4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83" name="Freeform 4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84"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85"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6635" name="Group 44"/>
          <p:cNvGrpSpPr>
            <a:grpSpLocks/>
          </p:cNvGrpSpPr>
          <p:nvPr/>
        </p:nvGrpSpPr>
        <p:grpSpPr bwMode="auto">
          <a:xfrm>
            <a:off x="2151063" y="1989138"/>
            <a:ext cx="822325" cy="817562"/>
            <a:chOff x="3360" y="800"/>
            <a:chExt cx="620" cy="616"/>
          </a:xfrm>
        </p:grpSpPr>
        <p:sp>
          <p:nvSpPr>
            <p:cNvPr id="26761" name="AutoShape 4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6762" name="Freeform 46"/>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6763" name="Group 47"/>
            <p:cNvGrpSpPr>
              <a:grpSpLocks/>
            </p:cNvGrpSpPr>
            <p:nvPr/>
          </p:nvGrpSpPr>
          <p:grpSpPr bwMode="auto">
            <a:xfrm flipH="1">
              <a:off x="3749" y="1171"/>
              <a:ext cx="212" cy="213"/>
              <a:chOff x="1350" y="686"/>
              <a:chExt cx="1132" cy="1132"/>
            </a:xfrm>
          </p:grpSpPr>
          <p:sp>
            <p:nvSpPr>
              <p:cNvPr id="26765" name="AutoShape 4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66" name="Picture 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764" name="Picture 5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636" name="Group 51"/>
          <p:cNvGrpSpPr>
            <a:grpSpLocks/>
          </p:cNvGrpSpPr>
          <p:nvPr/>
        </p:nvGrpSpPr>
        <p:grpSpPr bwMode="auto">
          <a:xfrm>
            <a:off x="2170113" y="4946650"/>
            <a:ext cx="517525" cy="658813"/>
            <a:chOff x="2401" y="425"/>
            <a:chExt cx="907" cy="1154"/>
          </a:xfrm>
        </p:grpSpPr>
        <p:sp>
          <p:nvSpPr>
            <p:cNvPr id="26755" name="Rectangle 5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6756" name="Line 5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57" name="Line 5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58" name="Rectangle 5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6759" name="Freeform 56"/>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6760" name="Line 5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37" name="Group 58"/>
          <p:cNvGrpSpPr>
            <a:grpSpLocks/>
          </p:cNvGrpSpPr>
          <p:nvPr/>
        </p:nvGrpSpPr>
        <p:grpSpPr bwMode="auto">
          <a:xfrm>
            <a:off x="2151063" y="2965450"/>
            <a:ext cx="822325" cy="817563"/>
            <a:chOff x="3360" y="800"/>
            <a:chExt cx="620" cy="616"/>
          </a:xfrm>
        </p:grpSpPr>
        <p:sp>
          <p:nvSpPr>
            <p:cNvPr id="26749" name="AutoShape 5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6750" name="Freeform 6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6751" name="Group 61"/>
            <p:cNvGrpSpPr>
              <a:grpSpLocks/>
            </p:cNvGrpSpPr>
            <p:nvPr/>
          </p:nvGrpSpPr>
          <p:grpSpPr bwMode="auto">
            <a:xfrm flipH="1">
              <a:off x="3749" y="1171"/>
              <a:ext cx="212" cy="213"/>
              <a:chOff x="1350" y="686"/>
              <a:chExt cx="1132" cy="1132"/>
            </a:xfrm>
          </p:grpSpPr>
          <p:sp>
            <p:nvSpPr>
              <p:cNvPr id="26753" name="AutoShape 6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54" name="Picture 6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752" name="Picture 6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638" name="Group 65"/>
          <p:cNvGrpSpPr>
            <a:grpSpLocks/>
          </p:cNvGrpSpPr>
          <p:nvPr/>
        </p:nvGrpSpPr>
        <p:grpSpPr bwMode="auto">
          <a:xfrm>
            <a:off x="2151063" y="3943350"/>
            <a:ext cx="822325" cy="817563"/>
            <a:chOff x="3360" y="800"/>
            <a:chExt cx="620" cy="616"/>
          </a:xfrm>
        </p:grpSpPr>
        <p:sp>
          <p:nvSpPr>
            <p:cNvPr id="26743" name="AutoShape 6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6744" name="Freeform 6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6745" name="Group 68"/>
            <p:cNvGrpSpPr>
              <a:grpSpLocks/>
            </p:cNvGrpSpPr>
            <p:nvPr/>
          </p:nvGrpSpPr>
          <p:grpSpPr bwMode="auto">
            <a:xfrm flipH="1">
              <a:off x="3749" y="1171"/>
              <a:ext cx="212" cy="213"/>
              <a:chOff x="1350" y="686"/>
              <a:chExt cx="1132" cy="1132"/>
            </a:xfrm>
          </p:grpSpPr>
          <p:sp>
            <p:nvSpPr>
              <p:cNvPr id="26747" name="AutoShape 6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48" name="Picture 7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746" name="Picture 7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639" name="Group 72"/>
          <p:cNvGrpSpPr>
            <a:grpSpLocks/>
          </p:cNvGrpSpPr>
          <p:nvPr/>
        </p:nvGrpSpPr>
        <p:grpSpPr bwMode="auto">
          <a:xfrm>
            <a:off x="2432050" y="5395913"/>
            <a:ext cx="517525" cy="658812"/>
            <a:chOff x="2401" y="425"/>
            <a:chExt cx="907" cy="1154"/>
          </a:xfrm>
        </p:grpSpPr>
        <p:sp>
          <p:nvSpPr>
            <p:cNvPr id="26737" name="Rectangle 7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6738" name="Line 7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39" name="Line 7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40" name="Rectangle 7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6741" name="Freeform 7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6742" name="Line 7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40" name="Group 79"/>
          <p:cNvGrpSpPr>
            <a:grpSpLocks/>
          </p:cNvGrpSpPr>
          <p:nvPr/>
        </p:nvGrpSpPr>
        <p:grpSpPr bwMode="auto">
          <a:xfrm>
            <a:off x="2693988" y="5843588"/>
            <a:ext cx="517525" cy="658812"/>
            <a:chOff x="2401" y="425"/>
            <a:chExt cx="907" cy="1154"/>
          </a:xfrm>
        </p:grpSpPr>
        <p:sp>
          <p:nvSpPr>
            <p:cNvPr id="26731" name="Rectangle 8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6732" name="Line 8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33" name="Line 8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34" name="Rectangle 8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6735" name="Freeform 8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6736" name="Line 8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41" name="Text Box 86"/>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6642" name="Text Box 87"/>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6643" name="Text Box 88"/>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6644" name="Freeform 89"/>
          <p:cNvSpPr>
            <a:spLocks/>
          </p:cNvSpPr>
          <p:nvPr/>
        </p:nvSpPr>
        <p:spPr bwMode="auto">
          <a:xfrm>
            <a:off x="2963863" y="534511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6645" name="Freeform 90"/>
          <p:cNvSpPr>
            <a:spLocks/>
          </p:cNvSpPr>
          <p:nvPr/>
        </p:nvSpPr>
        <p:spPr bwMode="auto">
          <a:xfrm>
            <a:off x="3208338" y="59340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6646" name="Freeform 91"/>
          <p:cNvSpPr>
            <a:spLocks/>
          </p:cNvSpPr>
          <p:nvPr/>
        </p:nvSpPr>
        <p:spPr bwMode="auto">
          <a:xfrm>
            <a:off x="2706688" y="48926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grpSp>
        <p:nvGrpSpPr>
          <p:cNvPr id="26647" name="Group 92"/>
          <p:cNvGrpSpPr>
            <a:grpSpLocks/>
          </p:cNvGrpSpPr>
          <p:nvPr/>
        </p:nvGrpSpPr>
        <p:grpSpPr bwMode="auto">
          <a:xfrm>
            <a:off x="1844675" y="1155700"/>
            <a:ext cx="2386013" cy="674688"/>
            <a:chOff x="1162" y="786"/>
            <a:chExt cx="1503" cy="425"/>
          </a:xfrm>
        </p:grpSpPr>
        <p:grpSp>
          <p:nvGrpSpPr>
            <p:cNvPr id="26715" name="Group 93"/>
            <p:cNvGrpSpPr>
              <a:grpSpLocks/>
            </p:cNvGrpSpPr>
            <p:nvPr/>
          </p:nvGrpSpPr>
          <p:grpSpPr bwMode="auto">
            <a:xfrm>
              <a:off x="1481" y="786"/>
              <a:ext cx="631" cy="425"/>
              <a:chOff x="2984" y="3331"/>
              <a:chExt cx="845" cy="569"/>
            </a:xfrm>
          </p:grpSpPr>
          <p:sp>
            <p:nvSpPr>
              <p:cNvPr id="26718" name="AutoShape 9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6719" name="Group 95"/>
              <p:cNvGrpSpPr>
                <a:grpSpLocks/>
              </p:cNvGrpSpPr>
              <p:nvPr/>
            </p:nvGrpSpPr>
            <p:grpSpPr bwMode="auto">
              <a:xfrm>
                <a:off x="3386" y="3487"/>
                <a:ext cx="443" cy="398"/>
                <a:chOff x="4838" y="2218"/>
                <a:chExt cx="395" cy="355"/>
              </a:xfrm>
            </p:grpSpPr>
            <p:sp>
              <p:nvSpPr>
                <p:cNvPr id="26720" name="Freeform 96"/>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1" name="Freeform 97"/>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2" name="Freeform 98"/>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3" name="Freeform 99"/>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4" name="Freeform 100"/>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5" name="Freeform 101"/>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6" name="Freeform 102"/>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7" name="Rectangle 10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728" name="Rectangle 10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729" name="Freeform 105"/>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0" name="Rectangle 10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6716" name="Text Box 107"/>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6717" name="Line 108"/>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48" name="Group 109"/>
          <p:cNvGrpSpPr>
            <a:grpSpLocks/>
          </p:cNvGrpSpPr>
          <p:nvPr/>
        </p:nvGrpSpPr>
        <p:grpSpPr bwMode="auto">
          <a:xfrm>
            <a:off x="7316788" y="1382713"/>
            <a:ext cx="1157287" cy="3987800"/>
            <a:chOff x="4609" y="929"/>
            <a:chExt cx="729" cy="2512"/>
          </a:xfrm>
        </p:grpSpPr>
        <p:grpSp>
          <p:nvGrpSpPr>
            <p:cNvPr id="26706" name="Group 110"/>
            <p:cNvGrpSpPr>
              <a:grpSpLocks/>
            </p:cNvGrpSpPr>
            <p:nvPr/>
          </p:nvGrpSpPr>
          <p:grpSpPr bwMode="auto">
            <a:xfrm>
              <a:off x="4691" y="1557"/>
              <a:ext cx="565" cy="565"/>
              <a:chOff x="1350" y="686"/>
              <a:chExt cx="1132" cy="1132"/>
            </a:xfrm>
          </p:grpSpPr>
          <p:sp>
            <p:nvSpPr>
              <p:cNvPr id="26713" name="AutoShape 11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14" name="Picture 11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707" name="Group 113"/>
            <p:cNvGrpSpPr>
              <a:grpSpLocks/>
            </p:cNvGrpSpPr>
            <p:nvPr/>
          </p:nvGrpSpPr>
          <p:grpSpPr bwMode="auto">
            <a:xfrm>
              <a:off x="4691" y="2530"/>
              <a:ext cx="565" cy="565"/>
              <a:chOff x="1350" y="686"/>
              <a:chExt cx="1132" cy="1132"/>
            </a:xfrm>
          </p:grpSpPr>
          <p:sp>
            <p:nvSpPr>
              <p:cNvPr id="26711" name="AutoShape 11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12" name="Picture 11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708" name="Text Box 116"/>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6709" name="Text Box 117"/>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3rd-party</a:t>
              </a:r>
              <a:br>
                <a:rPr lang="en-US" sz="1800" b="1" dirty="0"/>
              </a:br>
              <a:r>
                <a:rPr lang="en-US" sz="1800" b="1" dirty="0"/>
                <a:t>claimant</a:t>
              </a:r>
            </a:p>
          </p:txBody>
        </p:sp>
        <p:sp>
          <p:nvSpPr>
            <p:cNvPr id="26710" name="Text Box 118"/>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grpSp>
        <p:nvGrpSpPr>
          <p:cNvPr id="26649" name="Group 119"/>
          <p:cNvGrpSpPr>
            <a:grpSpLocks/>
          </p:cNvGrpSpPr>
          <p:nvPr/>
        </p:nvGrpSpPr>
        <p:grpSpPr bwMode="auto">
          <a:xfrm>
            <a:off x="3522663" y="4116388"/>
            <a:ext cx="509587" cy="493712"/>
            <a:chOff x="4200" y="2899"/>
            <a:chExt cx="915" cy="885"/>
          </a:xfrm>
        </p:grpSpPr>
        <p:sp>
          <p:nvSpPr>
            <p:cNvPr id="26689" name="Rectangle 120"/>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6690" name="AutoShape 121"/>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91" name="AutoShape 122"/>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92" name="AutoShape 123"/>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93" name="Freeform 124"/>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4" name="Freeform 125"/>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5" name="Freeform 126"/>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6" name="Freeform 127"/>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7" name="Freeform 128"/>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8" name="Freeform 129"/>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9" name="Freeform 130"/>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700" name="Line 131"/>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1" name="Line 132"/>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2" name="Line 133"/>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3" name="Line 134"/>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4" name="Line 135"/>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5" name="Line 136"/>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50" name="AutoShape 137"/>
          <p:cNvSpPr>
            <a:spLocks noChangeArrowheads="1"/>
          </p:cNvSpPr>
          <p:nvPr/>
        </p:nvSpPr>
        <p:spPr bwMode="auto">
          <a:xfrm>
            <a:off x="2990850" y="4154488"/>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6651" name="Group 138"/>
          <p:cNvGrpSpPr>
            <a:grpSpLocks/>
          </p:cNvGrpSpPr>
          <p:nvPr/>
        </p:nvGrpSpPr>
        <p:grpSpPr bwMode="auto">
          <a:xfrm>
            <a:off x="3502025" y="3149600"/>
            <a:ext cx="509588" cy="493713"/>
            <a:chOff x="4200" y="2899"/>
            <a:chExt cx="915" cy="885"/>
          </a:xfrm>
        </p:grpSpPr>
        <p:sp>
          <p:nvSpPr>
            <p:cNvPr id="26672" name="Rectangle 13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6673" name="AutoShape 14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74" name="AutoShape 14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75" name="AutoShape 14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76" name="Freeform 14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77" name="Freeform 14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78" name="Freeform 14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79" name="Freeform 14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80" name="Freeform 14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81" name="Freeform 14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82" name="Freeform 14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83" name="Line 15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4" name="Line 15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5" name="Line 15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6" name="Line 15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7" name="Line 15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8" name="Line 15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52" name="AutoShape 156"/>
          <p:cNvSpPr>
            <a:spLocks noChangeArrowheads="1"/>
          </p:cNvSpPr>
          <p:nvPr/>
        </p:nvSpPr>
        <p:spPr bwMode="auto">
          <a:xfrm>
            <a:off x="2970213" y="318770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6653" name="Group 157"/>
          <p:cNvGrpSpPr>
            <a:grpSpLocks/>
          </p:cNvGrpSpPr>
          <p:nvPr/>
        </p:nvGrpSpPr>
        <p:grpSpPr bwMode="auto">
          <a:xfrm>
            <a:off x="3516313" y="2152650"/>
            <a:ext cx="509587" cy="493713"/>
            <a:chOff x="4200" y="2899"/>
            <a:chExt cx="915" cy="885"/>
          </a:xfrm>
        </p:grpSpPr>
        <p:sp>
          <p:nvSpPr>
            <p:cNvPr id="26655" name="Rectangle 158"/>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6656" name="AutoShape 159"/>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57" name="AutoShape 160"/>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58" name="AutoShape 161"/>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59" name="Freeform 162"/>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0" name="Freeform 163"/>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1" name="Freeform 164"/>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2" name="Freeform 165"/>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3" name="Freeform 166"/>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4" name="Freeform 167"/>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5" name="Freeform 168"/>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6" name="Line 169"/>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67" name="Line 170"/>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68" name="Line 171"/>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69" name="Line 172"/>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70" name="Line 173"/>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71" name="Line 174"/>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54" name="AutoShape 175"/>
          <p:cNvSpPr>
            <a:spLocks noChangeArrowheads="1"/>
          </p:cNvSpPr>
          <p:nvPr/>
        </p:nvSpPr>
        <p:spPr bwMode="auto">
          <a:xfrm>
            <a:off x="2984500" y="219075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|EOS~024|</a:t>
            </a:r>
            <a:endParaRPr lang="en-US" sz="100" dirty="0" err="1" smtClean="0">
              <a:solidFill>
                <a:srgbClr val="FFFFFF"/>
              </a:solidFill>
              <a:latin typeface="Arial"/>
              <a:cs typeface="Calibri" pitchFamily="34" charset="0"/>
            </a:endParaRPr>
          </a:p>
        </p:txBody>
      </p:sp>
      <p:sp>
        <p:nvSpPr>
          <p:cNvPr id="27650" name="Line 2"/>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1" name="Line 3"/>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52" name="Line 4"/>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53" name="Line 5"/>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54" name="Line 6"/>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5" name="Line 7"/>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6" name="Line 8"/>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7" name="Rectangle 9"/>
          <p:cNvSpPr>
            <a:spLocks noGrp="1" noChangeArrowheads="1"/>
          </p:cNvSpPr>
          <p:nvPr>
            <p:ph type="title"/>
          </p:nvPr>
        </p:nvSpPr>
        <p:spPr/>
        <p:txBody>
          <a:bodyPr/>
          <a:lstStyle/>
          <a:p>
            <a:r>
              <a:rPr lang="en-US" dirty="0" smtClean="0"/>
              <a:t>Stage 6: Claim &amp; exposures become payable</a:t>
            </a:r>
          </a:p>
        </p:txBody>
      </p:sp>
      <p:grpSp>
        <p:nvGrpSpPr>
          <p:cNvPr id="27658" name="Group 10"/>
          <p:cNvGrpSpPr>
            <a:grpSpLocks/>
          </p:cNvGrpSpPr>
          <p:nvPr/>
        </p:nvGrpSpPr>
        <p:grpSpPr bwMode="auto">
          <a:xfrm>
            <a:off x="517525" y="869950"/>
            <a:ext cx="1323975" cy="976313"/>
            <a:chOff x="2083" y="1606"/>
            <a:chExt cx="1489" cy="1097"/>
          </a:xfrm>
        </p:grpSpPr>
        <p:sp>
          <p:nvSpPr>
            <p:cNvPr id="27796"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7797"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798"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799"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800"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801"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7802"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803"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7804" name="Freeform 1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805" name="Freeform 2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806"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807"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808"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7809" name="Group 24"/>
            <p:cNvGrpSpPr>
              <a:grpSpLocks/>
            </p:cNvGrpSpPr>
            <p:nvPr/>
          </p:nvGrpSpPr>
          <p:grpSpPr bwMode="auto">
            <a:xfrm>
              <a:off x="2221" y="1871"/>
              <a:ext cx="518" cy="782"/>
              <a:chOff x="2400" y="1656"/>
              <a:chExt cx="752" cy="1136"/>
            </a:xfrm>
          </p:grpSpPr>
          <p:sp>
            <p:nvSpPr>
              <p:cNvPr id="27822"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7823"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24"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25"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26"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7827"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828"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810" name="Group 32"/>
            <p:cNvGrpSpPr>
              <a:grpSpLocks/>
            </p:cNvGrpSpPr>
            <p:nvPr/>
          </p:nvGrpSpPr>
          <p:grpSpPr bwMode="auto">
            <a:xfrm rot="-6511945">
              <a:off x="2834" y="1842"/>
              <a:ext cx="518" cy="783"/>
              <a:chOff x="2400" y="1656"/>
              <a:chExt cx="752" cy="1136"/>
            </a:xfrm>
          </p:grpSpPr>
          <p:sp>
            <p:nvSpPr>
              <p:cNvPr id="27815"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7816"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17"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18"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19"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20"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821"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811" name="Freeform 4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812" name="Freeform 4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813"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814"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7659" name="Group 44"/>
          <p:cNvGrpSpPr>
            <a:grpSpLocks/>
          </p:cNvGrpSpPr>
          <p:nvPr/>
        </p:nvGrpSpPr>
        <p:grpSpPr bwMode="auto">
          <a:xfrm>
            <a:off x="2151063" y="1989138"/>
            <a:ext cx="822325" cy="817562"/>
            <a:chOff x="3360" y="800"/>
            <a:chExt cx="620" cy="616"/>
          </a:xfrm>
        </p:grpSpPr>
        <p:sp>
          <p:nvSpPr>
            <p:cNvPr id="27790" name="AutoShape 4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7791" name="Freeform 46"/>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7792" name="Group 47"/>
            <p:cNvGrpSpPr>
              <a:grpSpLocks/>
            </p:cNvGrpSpPr>
            <p:nvPr/>
          </p:nvGrpSpPr>
          <p:grpSpPr bwMode="auto">
            <a:xfrm flipH="1">
              <a:off x="3749" y="1171"/>
              <a:ext cx="212" cy="213"/>
              <a:chOff x="1350" y="686"/>
              <a:chExt cx="1132" cy="1132"/>
            </a:xfrm>
          </p:grpSpPr>
          <p:sp>
            <p:nvSpPr>
              <p:cNvPr id="27794" name="AutoShape 4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795" name="Picture 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7793" name="Picture 5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60" name="Group 51"/>
          <p:cNvGrpSpPr>
            <a:grpSpLocks/>
          </p:cNvGrpSpPr>
          <p:nvPr/>
        </p:nvGrpSpPr>
        <p:grpSpPr bwMode="auto">
          <a:xfrm>
            <a:off x="2170113" y="4946650"/>
            <a:ext cx="517525" cy="658813"/>
            <a:chOff x="2401" y="425"/>
            <a:chExt cx="907" cy="1154"/>
          </a:xfrm>
        </p:grpSpPr>
        <p:sp>
          <p:nvSpPr>
            <p:cNvPr id="27784" name="Rectangle 5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7785" name="Line 5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86" name="Line 5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87" name="Rectangle 5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7788" name="Freeform 56"/>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7789" name="Line 5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661" name="Group 58"/>
          <p:cNvGrpSpPr>
            <a:grpSpLocks/>
          </p:cNvGrpSpPr>
          <p:nvPr/>
        </p:nvGrpSpPr>
        <p:grpSpPr bwMode="auto">
          <a:xfrm>
            <a:off x="2151063" y="2965450"/>
            <a:ext cx="822325" cy="817563"/>
            <a:chOff x="3360" y="800"/>
            <a:chExt cx="620" cy="616"/>
          </a:xfrm>
        </p:grpSpPr>
        <p:sp>
          <p:nvSpPr>
            <p:cNvPr id="27778" name="AutoShape 5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7779" name="Freeform 6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7780" name="Group 61"/>
            <p:cNvGrpSpPr>
              <a:grpSpLocks/>
            </p:cNvGrpSpPr>
            <p:nvPr/>
          </p:nvGrpSpPr>
          <p:grpSpPr bwMode="auto">
            <a:xfrm flipH="1">
              <a:off x="3749" y="1171"/>
              <a:ext cx="212" cy="213"/>
              <a:chOff x="1350" y="686"/>
              <a:chExt cx="1132" cy="1132"/>
            </a:xfrm>
          </p:grpSpPr>
          <p:sp>
            <p:nvSpPr>
              <p:cNvPr id="27782" name="AutoShape 6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783" name="Picture 6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7781" name="Picture 6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62" name="Group 65"/>
          <p:cNvGrpSpPr>
            <a:grpSpLocks/>
          </p:cNvGrpSpPr>
          <p:nvPr/>
        </p:nvGrpSpPr>
        <p:grpSpPr bwMode="auto">
          <a:xfrm>
            <a:off x="2151063" y="3943350"/>
            <a:ext cx="822325" cy="817563"/>
            <a:chOff x="3360" y="800"/>
            <a:chExt cx="620" cy="616"/>
          </a:xfrm>
        </p:grpSpPr>
        <p:sp>
          <p:nvSpPr>
            <p:cNvPr id="27772" name="AutoShape 6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7773" name="Freeform 6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7774" name="Group 68"/>
            <p:cNvGrpSpPr>
              <a:grpSpLocks/>
            </p:cNvGrpSpPr>
            <p:nvPr/>
          </p:nvGrpSpPr>
          <p:grpSpPr bwMode="auto">
            <a:xfrm flipH="1">
              <a:off x="3749" y="1171"/>
              <a:ext cx="212" cy="213"/>
              <a:chOff x="1350" y="686"/>
              <a:chExt cx="1132" cy="1132"/>
            </a:xfrm>
          </p:grpSpPr>
          <p:sp>
            <p:nvSpPr>
              <p:cNvPr id="27776" name="AutoShape 6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777" name="Picture 7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7775" name="Picture 7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63" name="Group 72"/>
          <p:cNvGrpSpPr>
            <a:grpSpLocks/>
          </p:cNvGrpSpPr>
          <p:nvPr/>
        </p:nvGrpSpPr>
        <p:grpSpPr bwMode="auto">
          <a:xfrm>
            <a:off x="2432050" y="5395913"/>
            <a:ext cx="517525" cy="658812"/>
            <a:chOff x="2401" y="425"/>
            <a:chExt cx="907" cy="1154"/>
          </a:xfrm>
        </p:grpSpPr>
        <p:sp>
          <p:nvSpPr>
            <p:cNvPr id="27766" name="Rectangle 7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7767" name="Line 7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68" name="Line 7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69" name="Rectangle 7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7770" name="Freeform 7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7771" name="Line 7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664" name="Group 79"/>
          <p:cNvGrpSpPr>
            <a:grpSpLocks/>
          </p:cNvGrpSpPr>
          <p:nvPr/>
        </p:nvGrpSpPr>
        <p:grpSpPr bwMode="auto">
          <a:xfrm>
            <a:off x="2693988" y="5843588"/>
            <a:ext cx="517525" cy="658812"/>
            <a:chOff x="2401" y="425"/>
            <a:chExt cx="907" cy="1154"/>
          </a:xfrm>
        </p:grpSpPr>
        <p:sp>
          <p:nvSpPr>
            <p:cNvPr id="27760" name="Rectangle 8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7761" name="Line 8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62" name="Line 8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63" name="Rectangle 8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7764" name="Freeform 8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7765" name="Line 8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65" name="Text Box 86"/>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7666" name="Text Box 87"/>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7667" name="Text Box 88"/>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7668" name="Freeform 89"/>
          <p:cNvSpPr>
            <a:spLocks/>
          </p:cNvSpPr>
          <p:nvPr/>
        </p:nvSpPr>
        <p:spPr bwMode="auto">
          <a:xfrm>
            <a:off x="2963863" y="534511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7669" name="Freeform 90"/>
          <p:cNvSpPr>
            <a:spLocks/>
          </p:cNvSpPr>
          <p:nvPr/>
        </p:nvSpPr>
        <p:spPr bwMode="auto">
          <a:xfrm>
            <a:off x="3208338" y="59340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7670" name="Freeform 91"/>
          <p:cNvSpPr>
            <a:spLocks/>
          </p:cNvSpPr>
          <p:nvPr/>
        </p:nvSpPr>
        <p:spPr bwMode="auto">
          <a:xfrm>
            <a:off x="2706688" y="48926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7671" name="Text Box 92"/>
          <p:cNvSpPr txBox="1">
            <a:spLocks noChangeArrowheads="1"/>
          </p:cNvSpPr>
          <p:nvPr/>
        </p:nvSpPr>
        <p:spPr bwMode="auto">
          <a:xfrm>
            <a:off x="1887538" y="8969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dirty="0">
                <a:solidFill>
                  <a:srgbClr val="009900"/>
                </a:solidFill>
              </a:rPr>
              <a:t>payable!</a:t>
            </a:r>
          </a:p>
        </p:txBody>
      </p:sp>
      <p:sp>
        <p:nvSpPr>
          <p:cNvPr id="27672" name="Text Box 93"/>
          <p:cNvSpPr txBox="1">
            <a:spLocks noChangeArrowheads="1"/>
          </p:cNvSpPr>
          <p:nvPr/>
        </p:nvSpPr>
        <p:spPr bwMode="auto">
          <a:xfrm>
            <a:off x="1192213" y="23955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7673" name="Text Box 94"/>
          <p:cNvSpPr txBox="1">
            <a:spLocks noChangeArrowheads="1"/>
          </p:cNvSpPr>
          <p:nvPr/>
        </p:nvSpPr>
        <p:spPr bwMode="auto">
          <a:xfrm>
            <a:off x="1192213" y="3394075"/>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7674" name="Text Box 95"/>
          <p:cNvSpPr txBox="1">
            <a:spLocks noChangeArrowheads="1"/>
          </p:cNvSpPr>
          <p:nvPr/>
        </p:nvSpPr>
        <p:spPr bwMode="auto">
          <a:xfrm>
            <a:off x="1192213" y="43767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grpSp>
        <p:nvGrpSpPr>
          <p:cNvPr id="27675" name="Group 96"/>
          <p:cNvGrpSpPr>
            <a:grpSpLocks/>
          </p:cNvGrpSpPr>
          <p:nvPr/>
        </p:nvGrpSpPr>
        <p:grpSpPr bwMode="auto">
          <a:xfrm>
            <a:off x="1844675" y="1155700"/>
            <a:ext cx="2386013" cy="674688"/>
            <a:chOff x="1162" y="786"/>
            <a:chExt cx="1503" cy="425"/>
          </a:xfrm>
        </p:grpSpPr>
        <p:grpSp>
          <p:nvGrpSpPr>
            <p:cNvPr id="27744" name="Group 97"/>
            <p:cNvGrpSpPr>
              <a:grpSpLocks/>
            </p:cNvGrpSpPr>
            <p:nvPr/>
          </p:nvGrpSpPr>
          <p:grpSpPr bwMode="auto">
            <a:xfrm>
              <a:off x="1481" y="786"/>
              <a:ext cx="631" cy="425"/>
              <a:chOff x="2984" y="3331"/>
              <a:chExt cx="845" cy="569"/>
            </a:xfrm>
          </p:grpSpPr>
          <p:sp>
            <p:nvSpPr>
              <p:cNvPr id="27747" name="AutoShape 9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7748" name="Group 99"/>
              <p:cNvGrpSpPr>
                <a:grpSpLocks/>
              </p:cNvGrpSpPr>
              <p:nvPr/>
            </p:nvGrpSpPr>
            <p:grpSpPr bwMode="auto">
              <a:xfrm>
                <a:off x="3386" y="3487"/>
                <a:ext cx="443" cy="398"/>
                <a:chOff x="4838" y="2218"/>
                <a:chExt cx="395" cy="355"/>
              </a:xfrm>
            </p:grpSpPr>
            <p:sp>
              <p:nvSpPr>
                <p:cNvPr id="27749" name="Freeform 100"/>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0" name="Freeform 101"/>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1" name="Freeform 102"/>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2" name="Freeform 103"/>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3" name="Freeform 104"/>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4" name="Freeform 105"/>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5" name="Freeform 106"/>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6" name="Rectangle 10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757" name="Rectangle 10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758" name="Freeform 109"/>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9" name="Rectangle 11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7745" name="Text Box 111"/>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7746" name="Line 112"/>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676" name="Group 113"/>
          <p:cNvGrpSpPr>
            <a:grpSpLocks/>
          </p:cNvGrpSpPr>
          <p:nvPr/>
        </p:nvGrpSpPr>
        <p:grpSpPr bwMode="auto">
          <a:xfrm>
            <a:off x="2970213" y="2152650"/>
            <a:ext cx="1062037" cy="2457450"/>
            <a:chOff x="1871" y="1414"/>
            <a:chExt cx="669" cy="1548"/>
          </a:xfrm>
        </p:grpSpPr>
        <p:grpSp>
          <p:nvGrpSpPr>
            <p:cNvPr id="27687" name="Group 114"/>
            <p:cNvGrpSpPr>
              <a:grpSpLocks/>
            </p:cNvGrpSpPr>
            <p:nvPr/>
          </p:nvGrpSpPr>
          <p:grpSpPr bwMode="auto">
            <a:xfrm>
              <a:off x="2219" y="2651"/>
              <a:ext cx="321" cy="311"/>
              <a:chOff x="4200" y="2899"/>
              <a:chExt cx="915" cy="885"/>
            </a:xfrm>
          </p:grpSpPr>
          <p:sp>
            <p:nvSpPr>
              <p:cNvPr id="27727" name="Rectangle 115"/>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7728" name="AutoShape 116"/>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29" name="AutoShape 117"/>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30" name="AutoShape 118"/>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31" name="Freeform 11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2" name="Freeform 12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3" name="Freeform 12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4" name="Freeform 12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5" name="Freeform 12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6" name="Freeform 12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7" name="Freeform 12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8" name="Line 126"/>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39" name="Line 127"/>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40" name="Line 128"/>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41" name="Line 129"/>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42" name="Line 130"/>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43" name="Line 131"/>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88" name="AutoShape 132"/>
            <p:cNvSpPr>
              <a:spLocks noChangeArrowheads="1"/>
            </p:cNvSpPr>
            <p:nvPr/>
          </p:nvSpPr>
          <p:spPr bwMode="auto">
            <a:xfrm>
              <a:off x="1884" y="2675"/>
              <a:ext cx="368" cy="262"/>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7689" name="Group 133"/>
            <p:cNvGrpSpPr>
              <a:grpSpLocks/>
            </p:cNvGrpSpPr>
            <p:nvPr/>
          </p:nvGrpSpPr>
          <p:grpSpPr bwMode="auto">
            <a:xfrm>
              <a:off x="2206" y="2042"/>
              <a:ext cx="321" cy="311"/>
              <a:chOff x="4200" y="2899"/>
              <a:chExt cx="915" cy="885"/>
            </a:xfrm>
          </p:grpSpPr>
          <p:sp>
            <p:nvSpPr>
              <p:cNvPr id="27710" name="Rectangle 134"/>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7711" name="AutoShape 135"/>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12" name="AutoShape 136"/>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13" name="AutoShape 137"/>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14" name="Freeform 138"/>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5" name="Freeform 139"/>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6" name="Freeform 140"/>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7" name="Freeform 141"/>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8" name="Freeform 142"/>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9" name="Freeform 143"/>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20" name="Freeform 144"/>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21" name="Line 145"/>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2" name="Line 146"/>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3" name="Line 147"/>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4" name="Line 148"/>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5" name="Line 149"/>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6" name="Line 150"/>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90" name="AutoShape 151"/>
            <p:cNvSpPr>
              <a:spLocks noChangeArrowheads="1"/>
            </p:cNvSpPr>
            <p:nvPr/>
          </p:nvSpPr>
          <p:spPr bwMode="auto">
            <a:xfrm>
              <a:off x="1871" y="2066"/>
              <a:ext cx="368" cy="262"/>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7691" name="Group 152"/>
            <p:cNvGrpSpPr>
              <a:grpSpLocks/>
            </p:cNvGrpSpPr>
            <p:nvPr/>
          </p:nvGrpSpPr>
          <p:grpSpPr bwMode="auto">
            <a:xfrm>
              <a:off x="2215" y="1414"/>
              <a:ext cx="321" cy="311"/>
              <a:chOff x="4200" y="2899"/>
              <a:chExt cx="915" cy="885"/>
            </a:xfrm>
          </p:grpSpPr>
          <p:sp>
            <p:nvSpPr>
              <p:cNvPr id="27693" name="Rectangle 153"/>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7694" name="AutoShape 154"/>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95" name="AutoShape 155"/>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96" name="AutoShape 156"/>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97" name="Freeform 157"/>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98" name="Freeform 158"/>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99" name="Freeform 159"/>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0" name="Freeform 160"/>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1" name="Freeform 161"/>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2" name="Freeform 162"/>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3" name="Freeform 163"/>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4" name="Line 164"/>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5" name="Line 165"/>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6" name="Line 166"/>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7" name="Line 167"/>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8" name="Line 168"/>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9" name="Line 169"/>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92" name="AutoShape 170"/>
            <p:cNvSpPr>
              <a:spLocks noChangeArrowheads="1"/>
            </p:cNvSpPr>
            <p:nvPr/>
          </p:nvSpPr>
          <p:spPr bwMode="auto">
            <a:xfrm>
              <a:off x="1880" y="1438"/>
              <a:ext cx="368" cy="262"/>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grpSp>
        <p:nvGrpSpPr>
          <p:cNvPr id="27677" name="Group 171"/>
          <p:cNvGrpSpPr>
            <a:grpSpLocks/>
          </p:cNvGrpSpPr>
          <p:nvPr/>
        </p:nvGrpSpPr>
        <p:grpSpPr bwMode="auto">
          <a:xfrm>
            <a:off x="7316788" y="1382713"/>
            <a:ext cx="1157287" cy="3987800"/>
            <a:chOff x="4609" y="929"/>
            <a:chExt cx="729" cy="2512"/>
          </a:xfrm>
        </p:grpSpPr>
        <p:grpSp>
          <p:nvGrpSpPr>
            <p:cNvPr id="27678" name="Group 172"/>
            <p:cNvGrpSpPr>
              <a:grpSpLocks/>
            </p:cNvGrpSpPr>
            <p:nvPr/>
          </p:nvGrpSpPr>
          <p:grpSpPr bwMode="auto">
            <a:xfrm>
              <a:off x="4691" y="1557"/>
              <a:ext cx="565" cy="565"/>
              <a:chOff x="1350" y="686"/>
              <a:chExt cx="1132" cy="1132"/>
            </a:xfrm>
          </p:grpSpPr>
          <p:sp>
            <p:nvSpPr>
              <p:cNvPr id="27685" name="AutoShape 17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686" name="Picture 17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79" name="Group 175"/>
            <p:cNvGrpSpPr>
              <a:grpSpLocks/>
            </p:cNvGrpSpPr>
            <p:nvPr/>
          </p:nvGrpSpPr>
          <p:grpSpPr bwMode="auto">
            <a:xfrm>
              <a:off x="4691" y="2530"/>
              <a:ext cx="565" cy="565"/>
              <a:chOff x="1350" y="686"/>
              <a:chExt cx="1132" cy="1132"/>
            </a:xfrm>
          </p:grpSpPr>
          <p:sp>
            <p:nvSpPr>
              <p:cNvPr id="27683" name="AutoShape 17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684" name="Picture 177"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80" name="Text Box 178"/>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7681" name="Text Box 179"/>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3rd-party</a:t>
              </a:r>
              <a:br>
                <a:rPr lang="en-US" sz="1800" b="1" dirty="0"/>
              </a:br>
              <a:r>
                <a:rPr lang="en-US" sz="1800" b="1" dirty="0"/>
                <a:t>claimant</a:t>
              </a:r>
            </a:p>
          </p:txBody>
        </p:sp>
        <p:sp>
          <p:nvSpPr>
            <p:cNvPr id="27682" name="Text Box 180"/>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|EOS~025|</a:t>
            </a:r>
            <a:endParaRPr lang="en-US" sz="100" dirty="0" err="1" smtClean="0">
              <a:solidFill>
                <a:srgbClr val="FFFFFF"/>
              </a:solidFill>
              <a:latin typeface="Arial"/>
              <a:cs typeface="Calibri" pitchFamily="34" charset="0"/>
            </a:endParaRPr>
          </a:p>
        </p:txBody>
      </p:sp>
      <p:sp>
        <p:nvSpPr>
          <p:cNvPr id="28674" name="AutoShape 2"/>
          <p:cNvSpPr>
            <a:spLocks noChangeArrowheads="1"/>
          </p:cNvSpPr>
          <p:nvPr/>
        </p:nvSpPr>
        <p:spPr bwMode="auto">
          <a:xfrm>
            <a:off x="3957638" y="2190750"/>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8675" name="Line 3"/>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76" name="Line 4"/>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677" name="Line 5"/>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678" name="Line 6"/>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679" name="Line 7"/>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0" name="Line 8"/>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1" name="Line 9"/>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2" name="Rectangle 10"/>
          <p:cNvSpPr>
            <a:spLocks noGrp="1" noChangeArrowheads="1"/>
          </p:cNvSpPr>
          <p:nvPr>
            <p:ph type="title"/>
          </p:nvPr>
        </p:nvSpPr>
        <p:spPr/>
        <p:txBody>
          <a:bodyPr/>
          <a:lstStyle/>
          <a:p>
            <a:r>
              <a:rPr lang="en-US" dirty="0" smtClean="0"/>
              <a:t>Stage 7: Checks are issued</a:t>
            </a:r>
          </a:p>
        </p:txBody>
      </p:sp>
      <p:grpSp>
        <p:nvGrpSpPr>
          <p:cNvPr id="28683" name="Group 11"/>
          <p:cNvGrpSpPr>
            <a:grpSpLocks/>
          </p:cNvGrpSpPr>
          <p:nvPr/>
        </p:nvGrpSpPr>
        <p:grpSpPr bwMode="auto">
          <a:xfrm>
            <a:off x="517525" y="869950"/>
            <a:ext cx="1323975" cy="976313"/>
            <a:chOff x="2083" y="1606"/>
            <a:chExt cx="1489" cy="1097"/>
          </a:xfrm>
        </p:grpSpPr>
        <p:sp>
          <p:nvSpPr>
            <p:cNvPr id="28841" name="Rectangle 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8842" name="Freeform 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8843" name="Freeform 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8844" name="Freeform 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8845" name="Freeform 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8846" name="Rectangle 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8847" name="Rectangle 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848" name="AutoShape 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8849" name="Freeform 20"/>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8850" name="Freeform 21"/>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8851" name="Rectangle 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852" name="Rectangle 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853" name="Rectangle 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8854" name="Group 25"/>
            <p:cNvGrpSpPr>
              <a:grpSpLocks/>
            </p:cNvGrpSpPr>
            <p:nvPr/>
          </p:nvGrpSpPr>
          <p:grpSpPr bwMode="auto">
            <a:xfrm>
              <a:off x="2221" y="1871"/>
              <a:ext cx="518" cy="782"/>
              <a:chOff x="2400" y="1656"/>
              <a:chExt cx="752" cy="1136"/>
            </a:xfrm>
          </p:grpSpPr>
          <p:sp>
            <p:nvSpPr>
              <p:cNvPr id="28867"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8868"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9"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70"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71"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8872"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873"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8855" name="Group 33"/>
            <p:cNvGrpSpPr>
              <a:grpSpLocks/>
            </p:cNvGrpSpPr>
            <p:nvPr/>
          </p:nvGrpSpPr>
          <p:grpSpPr bwMode="auto">
            <a:xfrm rot="-6511945">
              <a:off x="2834" y="1842"/>
              <a:ext cx="518" cy="783"/>
              <a:chOff x="2400" y="1656"/>
              <a:chExt cx="752" cy="1136"/>
            </a:xfrm>
          </p:grpSpPr>
          <p:sp>
            <p:nvSpPr>
              <p:cNvPr id="28860"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8861"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2"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3"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4"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5"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66"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856" name="Freeform 41"/>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8857" name="Freeform 42"/>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8858" name="Rectangle 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859" name="Rectangle 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8684" name="Group 45"/>
          <p:cNvGrpSpPr>
            <a:grpSpLocks/>
          </p:cNvGrpSpPr>
          <p:nvPr/>
        </p:nvGrpSpPr>
        <p:grpSpPr bwMode="auto">
          <a:xfrm>
            <a:off x="2151063" y="1989138"/>
            <a:ext cx="822325" cy="817562"/>
            <a:chOff x="3360" y="800"/>
            <a:chExt cx="620" cy="616"/>
          </a:xfrm>
        </p:grpSpPr>
        <p:sp>
          <p:nvSpPr>
            <p:cNvPr id="28835" name="AutoShape 4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8836" name="Freeform 4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8837" name="Group 48"/>
            <p:cNvGrpSpPr>
              <a:grpSpLocks/>
            </p:cNvGrpSpPr>
            <p:nvPr/>
          </p:nvGrpSpPr>
          <p:grpSpPr bwMode="auto">
            <a:xfrm flipH="1">
              <a:off x="3749" y="1171"/>
              <a:ext cx="212" cy="213"/>
              <a:chOff x="1350" y="686"/>
              <a:chExt cx="1132" cy="1132"/>
            </a:xfrm>
          </p:grpSpPr>
          <p:sp>
            <p:nvSpPr>
              <p:cNvPr id="28839"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840"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8838" name="Picture 5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685" name="Group 52"/>
          <p:cNvGrpSpPr>
            <a:grpSpLocks/>
          </p:cNvGrpSpPr>
          <p:nvPr/>
        </p:nvGrpSpPr>
        <p:grpSpPr bwMode="auto">
          <a:xfrm>
            <a:off x="2170113" y="4946650"/>
            <a:ext cx="517525" cy="658813"/>
            <a:chOff x="2401" y="425"/>
            <a:chExt cx="907" cy="1154"/>
          </a:xfrm>
        </p:grpSpPr>
        <p:sp>
          <p:nvSpPr>
            <p:cNvPr id="28829" name="Rectangle 5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8830" name="Line 5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31" name="Line 5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32" name="Rectangle 5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8833" name="Freeform 5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8834" name="Line 5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8686" name="Group 59"/>
          <p:cNvGrpSpPr>
            <a:grpSpLocks/>
          </p:cNvGrpSpPr>
          <p:nvPr/>
        </p:nvGrpSpPr>
        <p:grpSpPr bwMode="auto">
          <a:xfrm>
            <a:off x="2151063" y="2965450"/>
            <a:ext cx="822325" cy="817563"/>
            <a:chOff x="3360" y="800"/>
            <a:chExt cx="620" cy="616"/>
          </a:xfrm>
        </p:grpSpPr>
        <p:sp>
          <p:nvSpPr>
            <p:cNvPr id="28823" name="AutoShape 6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8824" name="Freeform 61"/>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8825" name="Group 62"/>
            <p:cNvGrpSpPr>
              <a:grpSpLocks/>
            </p:cNvGrpSpPr>
            <p:nvPr/>
          </p:nvGrpSpPr>
          <p:grpSpPr bwMode="auto">
            <a:xfrm flipH="1">
              <a:off x="3749" y="1171"/>
              <a:ext cx="212" cy="213"/>
              <a:chOff x="1350" y="686"/>
              <a:chExt cx="1132" cy="1132"/>
            </a:xfrm>
          </p:grpSpPr>
          <p:sp>
            <p:nvSpPr>
              <p:cNvPr id="28827" name="AutoShape 6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828" name="Picture 6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8826" name="Picture 6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687" name="Group 66"/>
          <p:cNvGrpSpPr>
            <a:grpSpLocks/>
          </p:cNvGrpSpPr>
          <p:nvPr/>
        </p:nvGrpSpPr>
        <p:grpSpPr bwMode="auto">
          <a:xfrm>
            <a:off x="2151063" y="3943350"/>
            <a:ext cx="822325" cy="817563"/>
            <a:chOff x="3360" y="800"/>
            <a:chExt cx="620" cy="616"/>
          </a:xfrm>
        </p:grpSpPr>
        <p:sp>
          <p:nvSpPr>
            <p:cNvPr id="28817" name="AutoShape 6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8818" name="Freeform 68"/>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8819" name="Group 69"/>
            <p:cNvGrpSpPr>
              <a:grpSpLocks/>
            </p:cNvGrpSpPr>
            <p:nvPr/>
          </p:nvGrpSpPr>
          <p:grpSpPr bwMode="auto">
            <a:xfrm flipH="1">
              <a:off x="3749" y="1171"/>
              <a:ext cx="212" cy="213"/>
              <a:chOff x="1350" y="686"/>
              <a:chExt cx="1132" cy="1132"/>
            </a:xfrm>
          </p:grpSpPr>
          <p:sp>
            <p:nvSpPr>
              <p:cNvPr id="28821" name="AutoShape 7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822" name="Picture 7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8820" name="Picture 7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688" name="Group 73"/>
          <p:cNvGrpSpPr>
            <a:grpSpLocks/>
          </p:cNvGrpSpPr>
          <p:nvPr/>
        </p:nvGrpSpPr>
        <p:grpSpPr bwMode="auto">
          <a:xfrm>
            <a:off x="2432050" y="5395913"/>
            <a:ext cx="517525" cy="658812"/>
            <a:chOff x="2401" y="425"/>
            <a:chExt cx="907" cy="1154"/>
          </a:xfrm>
        </p:grpSpPr>
        <p:sp>
          <p:nvSpPr>
            <p:cNvPr id="28811" name="Rectangle 7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8812" name="Line 7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13" name="Line 7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14" name="Rectangle 7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8815" name="Freeform 7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8816" name="Line 7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8689" name="Group 80"/>
          <p:cNvGrpSpPr>
            <a:grpSpLocks/>
          </p:cNvGrpSpPr>
          <p:nvPr/>
        </p:nvGrpSpPr>
        <p:grpSpPr bwMode="auto">
          <a:xfrm>
            <a:off x="2693988" y="5843588"/>
            <a:ext cx="517525" cy="658812"/>
            <a:chOff x="2401" y="425"/>
            <a:chExt cx="907" cy="1154"/>
          </a:xfrm>
        </p:grpSpPr>
        <p:sp>
          <p:nvSpPr>
            <p:cNvPr id="28805" name="Rectangle 8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8806" name="Line 8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07" name="Line 8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08" name="Rectangle 8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8809" name="Freeform 85"/>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8810" name="Line 8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690" name="AutoShape 87"/>
          <p:cNvSpPr>
            <a:spLocks noChangeArrowheads="1"/>
          </p:cNvSpPr>
          <p:nvPr/>
        </p:nvSpPr>
        <p:spPr bwMode="auto">
          <a:xfrm>
            <a:off x="3963988" y="4156075"/>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8691" name="AutoShape 88"/>
          <p:cNvSpPr>
            <a:spLocks noChangeArrowheads="1"/>
          </p:cNvSpPr>
          <p:nvPr/>
        </p:nvSpPr>
        <p:spPr bwMode="auto">
          <a:xfrm>
            <a:off x="3943350" y="3189288"/>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8692" name="Group 89"/>
          <p:cNvGrpSpPr>
            <a:grpSpLocks/>
          </p:cNvGrpSpPr>
          <p:nvPr/>
        </p:nvGrpSpPr>
        <p:grpSpPr bwMode="auto">
          <a:xfrm>
            <a:off x="3522663" y="4116388"/>
            <a:ext cx="509587" cy="493712"/>
            <a:chOff x="4200" y="2899"/>
            <a:chExt cx="915" cy="885"/>
          </a:xfrm>
        </p:grpSpPr>
        <p:sp>
          <p:nvSpPr>
            <p:cNvPr id="28788" name="Rectangle 90"/>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8789" name="AutoShape 91"/>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90" name="AutoShape 92"/>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91" name="AutoShape 93"/>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92" name="Freeform 94"/>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3" name="Freeform 95"/>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4" name="Freeform 96"/>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5" name="Freeform 97"/>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6" name="Freeform 98"/>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7" name="Freeform 99"/>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8" name="Freeform 100"/>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9" name="Line 101"/>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0" name="Line 102"/>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1" name="Line 103"/>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2" name="Line 104"/>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3" name="Line 105"/>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4" name="Line 106"/>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693" name="AutoShape 107"/>
          <p:cNvSpPr>
            <a:spLocks noChangeArrowheads="1"/>
          </p:cNvSpPr>
          <p:nvPr/>
        </p:nvSpPr>
        <p:spPr bwMode="auto">
          <a:xfrm>
            <a:off x="2990850" y="4154488"/>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8694" name="Group 108"/>
          <p:cNvGrpSpPr>
            <a:grpSpLocks/>
          </p:cNvGrpSpPr>
          <p:nvPr/>
        </p:nvGrpSpPr>
        <p:grpSpPr bwMode="auto">
          <a:xfrm>
            <a:off x="3502025" y="3149600"/>
            <a:ext cx="509588" cy="493713"/>
            <a:chOff x="4200" y="2899"/>
            <a:chExt cx="915" cy="885"/>
          </a:xfrm>
        </p:grpSpPr>
        <p:sp>
          <p:nvSpPr>
            <p:cNvPr id="28771" name="Rectangle 10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8772" name="AutoShape 11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73" name="AutoShape 11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74" name="AutoShape 11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75" name="Freeform 11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76" name="Freeform 11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77" name="Freeform 11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78" name="Freeform 11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79" name="Freeform 11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80" name="Freeform 11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81" name="Freeform 11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82" name="Line 12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3" name="Line 12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4" name="Line 12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5" name="Line 12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6" name="Line 12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7" name="Line 12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695" name="AutoShape 126"/>
          <p:cNvSpPr>
            <a:spLocks noChangeArrowheads="1"/>
          </p:cNvSpPr>
          <p:nvPr/>
        </p:nvSpPr>
        <p:spPr bwMode="auto">
          <a:xfrm>
            <a:off x="2970213" y="318770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8696" name="Group 127"/>
          <p:cNvGrpSpPr>
            <a:grpSpLocks/>
          </p:cNvGrpSpPr>
          <p:nvPr/>
        </p:nvGrpSpPr>
        <p:grpSpPr bwMode="auto">
          <a:xfrm>
            <a:off x="3516313" y="2152650"/>
            <a:ext cx="509587" cy="493713"/>
            <a:chOff x="4200" y="2899"/>
            <a:chExt cx="915" cy="885"/>
          </a:xfrm>
        </p:grpSpPr>
        <p:sp>
          <p:nvSpPr>
            <p:cNvPr id="28754" name="Rectangle 128"/>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8755" name="AutoShape 129"/>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56" name="AutoShape 130"/>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57" name="AutoShape 131"/>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58" name="Freeform 132"/>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59" name="Freeform 133"/>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0" name="Freeform 134"/>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1" name="Freeform 135"/>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2" name="Freeform 136"/>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3" name="Freeform 137"/>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4" name="Freeform 138"/>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5" name="Line 139"/>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66" name="Line 140"/>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67" name="Line 141"/>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68" name="Line 142"/>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69" name="Line 143"/>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70" name="Line 144"/>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697" name="AutoShape 145"/>
          <p:cNvSpPr>
            <a:spLocks noChangeArrowheads="1"/>
          </p:cNvSpPr>
          <p:nvPr/>
        </p:nvSpPr>
        <p:spPr bwMode="auto">
          <a:xfrm>
            <a:off x="2984500" y="219075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8698" name="Group 146"/>
          <p:cNvGrpSpPr>
            <a:grpSpLocks/>
          </p:cNvGrpSpPr>
          <p:nvPr/>
        </p:nvGrpSpPr>
        <p:grpSpPr bwMode="auto">
          <a:xfrm>
            <a:off x="5233988" y="2576513"/>
            <a:ext cx="881062" cy="612775"/>
            <a:chOff x="3153" y="1049"/>
            <a:chExt cx="752" cy="523"/>
          </a:xfrm>
        </p:grpSpPr>
        <p:sp>
          <p:nvSpPr>
            <p:cNvPr id="28752" name="Rectangle 14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8753" name="Picture 14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699" name="Text Box 149"/>
          <p:cNvSpPr txBox="1">
            <a:spLocks noChangeArrowheads="1"/>
          </p:cNvSpPr>
          <p:nvPr/>
        </p:nvSpPr>
        <p:spPr bwMode="auto">
          <a:xfrm>
            <a:off x="5253038" y="3167063"/>
            <a:ext cx="21304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pay to: insured</a:t>
            </a:r>
          </a:p>
        </p:txBody>
      </p:sp>
      <p:grpSp>
        <p:nvGrpSpPr>
          <p:cNvPr id="28700" name="Group 150"/>
          <p:cNvGrpSpPr>
            <a:grpSpLocks/>
          </p:cNvGrpSpPr>
          <p:nvPr/>
        </p:nvGrpSpPr>
        <p:grpSpPr bwMode="auto">
          <a:xfrm>
            <a:off x="5233988" y="4065588"/>
            <a:ext cx="881062" cy="612775"/>
            <a:chOff x="3153" y="1049"/>
            <a:chExt cx="752" cy="523"/>
          </a:xfrm>
        </p:grpSpPr>
        <p:sp>
          <p:nvSpPr>
            <p:cNvPr id="28750" name="Rectangle 151"/>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8751" name="Picture 15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701" name="Text Box 153"/>
          <p:cNvSpPr txBox="1">
            <a:spLocks noChangeArrowheads="1"/>
          </p:cNvSpPr>
          <p:nvPr/>
        </p:nvSpPr>
        <p:spPr bwMode="auto">
          <a:xfrm>
            <a:off x="5253038" y="4684713"/>
            <a:ext cx="29765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804863" algn="l"/>
              </a:tabLst>
              <a:defRPr sz="1400">
                <a:solidFill>
                  <a:schemeClr val="bg1"/>
                </a:solidFill>
                <a:latin typeface="Arial" charset="0"/>
              </a:defRPr>
            </a:lvl1pPr>
            <a:lvl2pPr marL="742950" indent="-285750" eaLnBrk="0" hangingPunct="0">
              <a:tabLst>
                <a:tab pos="804863" algn="l"/>
              </a:tabLst>
              <a:defRPr sz="1400">
                <a:solidFill>
                  <a:schemeClr val="bg1"/>
                </a:solidFill>
                <a:latin typeface="Arial" charset="0"/>
              </a:defRPr>
            </a:lvl2pPr>
            <a:lvl3pPr marL="1143000" indent="-228600" eaLnBrk="0" hangingPunct="0">
              <a:tabLst>
                <a:tab pos="804863" algn="l"/>
              </a:tabLst>
              <a:defRPr sz="1400">
                <a:solidFill>
                  <a:schemeClr val="bg1"/>
                </a:solidFill>
                <a:latin typeface="Arial" charset="0"/>
              </a:defRPr>
            </a:lvl3pPr>
            <a:lvl4pPr marL="1600200" indent="-228600" eaLnBrk="0" hangingPunct="0">
              <a:tabLst>
                <a:tab pos="804863" algn="l"/>
              </a:tabLst>
              <a:defRPr sz="1400">
                <a:solidFill>
                  <a:schemeClr val="bg1"/>
                </a:solidFill>
                <a:latin typeface="Arial" charset="0"/>
              </a:defRPr>
            </a:lvl4pPr>
            <a:lvl5pPr marL="2057400" indent="-228600" eaLnBrk="0" hangingPunct="0">
              <a:tabLst>
                <a:tab pos="804863"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9pPr>
          </a:lstStyle>
          <a:p>
            <a:pPr algn="l" eaLnBrk="1" hangingPunct="1"/>
            <a:r>
              <a:rPr lang="en-US" sz="1800" b="1" dirty="0"/>
              <a:t>pay to: 3rd-party</a:t>
            </a:r>
            <a:br>
              <a:rPr lang="en-US" sz="1800" b="1" dirty="0"/>
            </a:br>
            <a:r>
              <a:rPr lang="en-US" sz="1800" b="1" dirty="0"/>
              <a:t>	claimant</a:t>
            </a:r>
          </a:p>
        </p:txBody>
      </p:sp>
      <p:grpSp>
        <p:nvGrpSpPr>
          <p:cNvPr id="28702" name="Group 154"/>
          <p:cNvGrpSpPr>
            <a:grpSpLocks/>
          </p:cNvGrpSpPr>
          <p:nvPr/>
        </p:nvGrpSpPr>
        <p:grpSpPr bwMode="auto">
          <a:xfrm>
            <a:off x="4530725" y="2393950"/>
            <a:ext cx="709613" cy="341313"/>
            <a:chOff x="2854" y="1566"/>
            <a:chExt cx="447" cy="215"/>
          </a:xfrm>
        </p:grpSpPr>
        <p:sp>
          <p:nvSpPr>
            <p:cNvPr id="28747" name="Line 155"/>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48" name="Line 156"/>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749" name="Line 157"/>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8703" name="Text Box 158"/>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8704" name="Text Box 159"/>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8705" name="Text Box 160"/>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8706" name="Line 161"/>
          <p:cNvSpPr>
            <a:spLocks noChangeShapeType="1"/>
          </p:cNvSpPr>
          <p:nvPr/>
        </p:nvSpPr>
        <p:spPr bwMode="auto">
          <a:xfrm>
            <a:off x="4545013" y="4370388"/>
            <a:ext cx="6826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07" name="Line 162"/>
          <p:cNvSpPr>
            <a:spLocks noChangeShapeType="1"/>
          </p:cNvSpPr>
          <p:nvPr/>
        </p:nvSpPr>
        <p:spPr bwMode="auto">
          <a:xfrm>
            <a:off x="6127750" y="2870200"/>
            <a:ext cx="1338263"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08" name="Line 163"/>
          <p:cNvSpPr>
            <a:spLocks noChangeShapeType="1"/>
          </p:cNvSpPr>
          <p:nvPr/>
        </p:nvSpPr>
        <p:spPr bwMode="auto">
          <a:xfrm>
            <a:off x="6127750" y="4384675"/>
            <a:ext cx="1365250"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09" name="Freeform 164"/>
          <p:cNvSpPr>
            <a:spLocks/>
          </p:cNvSpPr>
          <p:nvPr/>
        </p:nvSpPr>
        <p:spPr bwMode="auto">
          <a:xfrm>
            <a:off x="2963863" y="534511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8710" name="Freeform 165"/>
          <p:cNvSpPr>
            <a:spLocks/>
          </p:cNvSpPr>
          <p:nvPr/>
        </p:nvSpPr>
        <p:spPr bwMode="auto">
          <a:xfrm>
            <a:off x="3208338" y="59340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8711" name="Freeform 166"/>
          <p:cNvSpPr>
            <a:spLocks/>
          </p:cNvSpPr>
          <p:nvPr/>
        </p:nvSpPr>
        <p:spPr bwMode="auto">
          <a:xfrm>
            <a:off x="2706688" y="48926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8712" name="Text Box 167"/>
          <p:cNvSpPr txBox="1">
            <a:spLocks noChangeArrowheads="1"/>
          </p:cNvSpPr>
          <p:nvPr/>
        </p:nvSpPr>
        <p:spPr bwMode="auto">
          <a:xfrm>
            <a:off x="1887538" y="8969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8713" name="Text Box 168"/>
          <p:cNvSpPr txBox="1">
            <a:spLocks noChangeArrowheads="1"/>
          </p:cNvSpPr>
          <p:nvPr/>
        </p:nvSpPr>
        <p:spPr bwMode="auto">
          <a:xfrm>
            <a:off x="1192213" y="23955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8714" name="Text Box 169"/>
          <p:cNvSpPr txBox="1">
            <a:spLocks noChangeArrowheads="1"/>
          </p:cNvSpPr>
          <p:nvPr/>
        </p:nvSpPr>
        <p:spPr bwMode="auto">
          <a:xfrm>
            <a:off x="1192213" y="3394075"/>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8715" name="Text Box 170"/>
          <p:cNvSpPr txBox="1">
            <a:spLocks noChangeArrowheads="1"/>
          </p:cNvSpPr>
          <p:nvPr/>
        </p:nvSpPr>
        <p:spPr bwMode="auto">
          <a:xfrm>
            <a:off x="1192213" y="43767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grpSp>
        <p:nvGrpSpPr>
          <p:cNvPr id="28716" name="Group 171"/>
          <p:cNvGrpSpPr>
            <a:grpSpLocks/>
          </p:cNvGrpSpPr>
          <p:nvPr/>
        </p:nvGrpSpPr>
        <p:grpSpPr bwMode="auto">
          <a:xfrm>
            <a:off x="1844675" y="1155700"/>
            <a:ext cx="2386013" cy="674688"/>
            <a:chOff x="1162" y="786"/>
            <a:chExt cx="1503" cy="425"/>
          </a:xfrm>
        </p:grpSpPr>
        <p:grpSp>
          <p:nvGrpSpPr>
            <p:cNvPr id="28731" name="Group 172"/>
            <p:cNvGrpSpPr>
              <a:grpSpLocks/>
            </p:cNvGrpSpPr>
            <p:nvPr/>
          </p:nvGrpSpPr>
          <p:grpSpPr bwMode="auto">
            <a:xfrm>
              <a:off x="1481" y="786"/>
              <a:ext cx="631" cy="425"/>
              <a:chOff x="2984" y="3331"/>
              <a:chExt cx="845" cy="569"/>
            </a:xfrm>
          </p:grpSpPr>
          <p:sp>
            <p:nvSpPr>
              <p:cNvPr id="28734" name="AutoShape 17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8735" name="Group 174"/>
              <p:cNvGrpSpPr>
                <a:grpSpLocks/>
              </p:cNvGrpSpPr>
              <p:nvPr/>
            </p:nvGrpSpPr>
            <p:grpSpPr bwMode="auto">
              <a:xfrm>
                <a:off x="3386" y="3487"/>
                <a:ext cx="443" cy="398"/>
                <a:chOff x="4838" y="2218"/>
                <a:chExt cx="395" cy="355"/>
              </a:xfrm>
            </p:grpSpPr>
            <p:sp>
              <p:nvSpPr>
                <p:cNvPr id="28736" name="Freeform 175"/>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7" name="Freeform 176"/>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8" name="Freeform 177"/>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9" name="Freeform 178"/>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0" name="Freeform 179"/>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1" name="Freeform 180"/>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2" name="Freeform 181"/>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3" name="Rectangle 18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44" name="Rectangle 18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45" name="Freeform 184"/>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6" name="Rectangle 18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8732" name="Text Box 186"/>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8733" name="Line 187"/>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8717" name="Group 188"/>
          <p:cNvGrpSpPr>
            <a:grpSpLocks/>
          </p:cNvGrpSpPr>
          <p:nvPr/>
        </p:nvGrpSpPr>
        <p:grpSpPr bwMode="auto">
          <a:xfrm>
            <a:off x="7316788" y="1382713"/>
            <a:ext cx="1157287" cy="3987800"/>
            <a:chOff x="4609" y="929"/>
            <a:chExt cx="729" cy="2512"/>
          </a:xfrm>
        </p:grpSpPr>
        <p:grpSp>
          <p:nvGrpSpPr>
            <p:cNvPr id="28722" name="Group 189"/>
            <p:cNvGrpSpPr>
              <a:grpSpLocks/>
            </p:cNvGrpSpPr>
            <p:nvPr/>
          </p:nvGrpSpPr>
          <p:grpSpPr bwMode="auto">
            <a:xfrm>
              <a:off x="4691" y="1557"/>
              <a:ext cx="565" cy="565"/>
              <a:chOff x="4691" y="1557"/>
              <a:chExt cx="565" cy="565"/>
            </a:xfrm>
          </p:grpSpPr>
          <p:sp>
            <p:nvSpPr>
              <p:cNvPr id="28729" name="AutoShape 190"/>
              <p:cNvSpPr>
                <a:spLocks noChangeArrowheads="1"/>
              </p:cNvSpPr>
              <p:nvPr/>
            </p:nvSpPr>
            <p:spPr bwMode="auto">
              <a:xfrm>
                <a:off x="4691" y="1557"/>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730" name="Picture 19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1605"/>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723" name="Group 192"/>
            <p:cNvGrpSpPr>
              <a:grpSpLocks/>
            </p:cNvGrpSpPr>
            <p:nvPr/>
          </p:nvGrpSpPr>
          <p:grpSpPr bwMode="auto">
            <a:xfrm>
              <a:off x="4691" y="2530"/>
              <a:ext cx="565" cy="565"/>
              <a:chOff x="4691" y="2530"/>
              <a:chExt cx="565" cy="565"/>
            </a:xfrm>
          </p:grpSpPr>
          <p:sp>
            <p:nvSpPr>
              <p:cNvPr id="28727" name="AutoShape 193"/>
              <p:cNvSpPr>
                <a:spLocks noChangeArrowheads="1"/>
              </p:cNvSpPr>
              <p:nvPr/>
            </p:nvSpPr>
            <p:spPr bwMode="auto">
              <a:xfrm>
                <a:off x="4691" y="2530"/>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728" name="Picture 19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2578"/>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724" name="Text Box 195"/>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8725" name="Text Box 196"/>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3rd-party</a:t>
              </a:r>
              <a:br>
                <a:rPr lang="en-US" sz="1800" b="1" dirty="0"/>
              </a:br>
              <a:r>
                <a:rPr lang="en-US" sz="1800" b="1" dirty="0"/>
                <a:t>claimant</a:t>
              </a:r>
            </a:p>
          </p:txBody>
        </p:sp>
        <p:sp>
          <p:nvSpPr>
            <p:cNvPr id="28726" name="Text Box 197"/>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grpSp>
        <p:nvGrpSpPr>
          <p:cNvPr id="28718" name="Group 198"/>
          <p:cNvGrpSpPr>
            <a:grpSpLocks/>
          </p:cNvGrpSpPr>
          <p:nvPr/>
        </p:nvGrpSpPr>
        <p:grpSpPr bwMode="auto">
          <a:xfrm flipV="1">
            <a:off x="4525963" y="3070225"/>
            <a:ext cx="709612" cy="341313"/>
            <a:chOff x="2854" y="1566"/>
            <a:chExt cx="447" cy="215"/>
          </a:xfrm>
        </p:grpSpPr>
        <p:sp>
          <p:nvSpPr>
            <p:cNvPr id="28719" name="Line 199"/>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20" name="Line 200"/>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721" name="Line 201"/>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|EOS~026|</a:t>
            </a:r>
            <a:endParaRPr lang="en-US" sz="100" dirty="0" err="1" smtClean="0">
              <a:solidFill>
                <a:srgbClr val="FFFFFF"/>
              </a:solidFill>
              <a:latin typeface="Arial"/>
              <a:cs typeface="Calibri" pitchFamily="34" charset="0"/>
            </a:endParaRPr>
          </a:p>
        </p:txBody>
      </p:sp>
      <p:sp>
        <p:nvSpPr>
          <p:cNvPr id="29698" name="AutoShape 2"/>
          <p:cNvSpPr>
            <a:spLocks noChangeArrowheads="1"/>
          </p:cNvSpPr>
          <p:nvPr/>
        </p:nvSpPr>
        <p:spPr bwMode="auto">
          <a:xfrm>
            <a:off x="3957638" y="2190750"/>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9699" name="Line 3"/>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0" name="Line 4"/>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01" name="Line 5"/>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02" name="Line 6"/>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03" name="Line 7"/>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4" name="Line 8"/>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5" name="Line 9"/>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6" name="Rectangle 10"/>
          <p:cNvSpPr>
            <a:spLocks noGrp="1" noChangeArrowheads="1"/>
          </p:cNvSpPr>
          <p:nvPr>
            <p:ph type="title"/>
          </p:nvPr>
        </p:nvSpPr>
        <p:spPr/>
        <p:txBody>
          <a:bodyPr/>
          <a:lstStyle/>
          <a:p>
            <a:r>
              <a:rPr lang="en-US" smtClean="0"/>
              <a:t>Stage 8: Exposures and claim are closed</a:t>
            </a:r>
          </a:p>
        </p:txBody>
      </p:sp>
      <p:grpSp>
        <p:nvGrpSpPr>
          <p:cNvPr id="29707" name="Group 11"/>
          <p:cNvGrpSpPr>
            <a:grpSpLocks/>
          </p:cNvGrpSpPr>
          <p:nvPr/>
        </p:nvGrpSpPr>
        <p:grpSpPr bwMode="auto">
          <a:xfrm>
            <a:off x="517525" y="869950"/>
            <a:ext cx="1323975" cy="976313"/>
            <a:chOff x="2083" y="1606"/>
            <a:chExt cx="1489" cy="1097"/>
          </a:xfrm>
        </p:grpSpPr>
        <p:sp>
          <p:nvSpPr>
            <p:cNvPr id="29869" name="Rectangle 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9870" name="Freeform 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871" name="Freeform 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872" name="Freeform 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873" name="Freeform 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874" name="Rectangle 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9875" name="Rectangle 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76" name="AutoShape 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9877" name="Freeform 20"/>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9878" name="Freeform 21"/>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9879" name="Rectangle 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80" name="Rectangle 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81" name="Rectangle 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9882" name="Group 25"/>
            <p:cNvGrpSpPr>
              <a:grpSpLocks/>
            </p:cNvGrpSpPr>
            <p:nvPr/>
          </p:nvGrpSpPr>
          <p:grpSpPr bwMode="auto">
            <a:xfrm>
              <a:off x="2221" y="1871"/>
              <a:ext cx="518" cy="782"/>
              <a:chOff x="2400" y="1656"/>
              <a:chExt cx="752" cy="1136"/>
            </a:xfrm>
          </p:grpSpPr>
          <p:sp>
            <p:nvSpPr>
              <p:cNvPr id="29895"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9896"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7"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8"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9"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9900"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901"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883" name="Group 33"/>
            <p:cNvGrpSpPr>
              <a:grpSpLocks/>
            </p:cNvGrpSpPr>
            <p:nvPr/>
          </p:nvGrpSpPr>
          <p:grpSpPr bwMode="auto">
            <a:xfrm rot="-6511945">
              <a:off x="2834" y="1842"/>
              <a:ext cx="518" cy="783"/>
              <a:chOff x="2400" y="1656"/>
              <a:chExt cx="752" cy="1136"/>
            </a:xfrm>
          </p:grpSpPr>
          <p:sp>
            <p:nvSpPr>
              <p:cNvPr id="29888"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9889"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0"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1"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2"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3"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94"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884" name="Freeform 41"/>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9885" name="Freeform 42"/>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9886" name="Rectangle 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87" name="Rectangle 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9708" name="Group 45"/>
          <p:cNvGrpSpPr>
            <a:grpSpLocks/>
          </p:cNvGrpSpPr>
          <p:nvPr/>
        </p:nvGrpSpPr>
        <p:grpSpPr bwMode="auto">
          <a:xfrm>
            <a:off x="2151063" y="1989138"/>
            <a:ext cx="822325" cy="817562"/>
            <a:chOff x="3360" y="800"/>
            <a:chExt cx="620" cy="616"/>
          </a:xfrm>
        </p:grpSpPr>
        <p:sp>
          <p:nvSpPr>
            <p:cNvPr id="29863" name="AutoShape 4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9864" name="Freeform 4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9865" name="Group 48"/>
            <p:cNvGrpSpPr>
              <a:grpSpLocks/>
            </p:cNvGrpSpPr>
            <p:nvPr/>
          </p:nvGrpSpPr>
          <p:grpSpPr bwMode="auto">
            <a:xfrm flipH="1">
              <a:off x="3749" y="1171"/>
              <a:ext cx="212" cy="213"/>
              <a:chOff x="1350" y="686"/>
              <a:chExt cx="1132" cy="1132"/>
            </a:xfrm>
          </p:grpSpPr>
          <p:sp>
            <p:nvSpPr>
              <p:cNvPr id="29867"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868"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866" name="Picture 5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9" name="Group 52"/>
          <p:cNvGrpSpPr>
            <a:grpSpLocks/>
          </p:cNvGrpSpPr>
          <p:nvPr/>
        </p:nvGrpSpPr>
        <p:grpSpPr bwMode="auto">
          <a:xfrm>
            <a:off x="2170113" y="4946650"/>
            <a:ext cx="517525" cy="658813"/>
            <a:chOff x="2401" y="425"/>
            <a:chExt cx="907" cy="1154"/>
          </a:xfrm>
        </p:grpSpPr>
        <p:sp>
          <p:nvSpPr>
            <p:cNvPr id="29857" name="Rectangle 5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858" name="Line 5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59" name="Line 5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60" name="Rectangle 5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861" name="Freeform 5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9862" name="Line 5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10" name="Group 59"/>
          <p:cNvGrpSpPr>
            <a:grpSpLocks/>
          </p:cNvGrpSpPr>
          <p:nvPr/>
        </p:nvGrpSpPr>
        <p:grpSpPr bwMode="auto">
          <a:xfrm>
            <a:off x="2151063" y="2965450"/>
            <a:ext cx="822325" cy="817563"/>
            <a:chOff x="3360" y="800"/>
            <a:chExt cx="620" cy="616"/>
          </a:xfrm>
        </p:grpSpPr>
        <p:sp>
          <p:nvSpPr>
            <p:cNvPr id="29851" name="AutoShape 6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9852" name="Freeform 61"/>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9853" name="Group 62"/>
            <p:cNvGrpSpPr>
              <a:grpSpLocks/>
            </p:cNvGrpSpPr>
            <p:nvPr/>
          </p:nvGrpSpPr>
          <p:grpSpPr bwMode="auto">
            <a:xfrm flipH="1">
              <a:off x="3749" y="1171"/>
              <a:ext cx="212" cy="213"/>
              <a:chOff x="1350" y="686"/>
              <a:chExt cx="1132" cy="1132"/>
            </a:xfrm>
          </p:grpSpPr>
          <p:sp>
            <p:nvSpPr>
              <p:cNvPr id="29855" name="AutoShape 6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856" name="Picture 6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854" name="Picture 6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11" name="Group 66"/>
          <p:cNvGrpSpPr>
            <a:grpSpLocks/>
          </p:cNvGrpSpPr>
          <p:nvPr/>
        </p:nvGrpSpPr>
        <p:grpSpPr bwMode="auto">
          <a:xfrm>
            <a:off x="2151063" y="3943350"/>
            <a:ext cx="822325" cy="817563"/>
            <a:chOff x="3360" y="800"/>
            <a:chExt cx="620" cy="616"/>
          </a:xfrm>
        </p:grpSpPr>
        <p:sp>
          <p:nvSpPr>
            <p:cNvPr id="29845" name="AutoShape 6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9846" name="Freeform 68"/>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9847" name="Group 69"/>
            <p:cNvGrpSpPr>
              <a:grpSpLocks/>
            </p:cNvGrpSpPr>
            <p:nvPr/>
          </p:nvGrpSpPr>
          <p:grpSpPr bwMode="auto">
            <a:xfrm flipH="1">
              <a:off x="3749" y="1171"/>
              <a:ext cx="212" cy="213"/>
              <a:chOff x="1350" y="686"/>
              <a:chExt cx="1132" cy="1132"/>
            </a:xfrm>
          </p:grpSpPr>
          <p:sp>
            <p:nvSpPr>
              <p:cNvPr id="29849" name="AutoShape 7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850" name="Picture 7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848" name="Picture 7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12" name="Group 73"/>
          <p:cNvGrpSpPr>
            <a:grpSpLocks/>
          </p:cNvGrpSpPr>
          <p:nvPr/>
        </p:nvGrpSpPr>
        <p:grpSpPr bwMode="auto">
          <a:xfrm>
            <a:off x="2432050" y="5395913"/>
            <a:ext cx="517525" cy="658812"/>
            <a:chOff x="2401" y="425"/>
            <a:chExt cx="907" cy="1154"/>
          </a:xfrm>
        </p:grpSpPr>
        <p:sp>
          <p:nvSpPr>
            <p:cNvPr id="29839" name="Rectangle 7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840" name="Line 7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41" name="Line 7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42" name="Rectangle 7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843" name="Freeform 7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9844" name="Line 7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13" name="Group 80"/>
          <p:cNvGrpSpPr>
            <a:grpSpLocks/>
          </p:cNvGrpSpPr>
          <p:nvPr/>
        </p:nvGrpSpPr>
        <p:grpSpPr bwMode="auto">
          <a:xfrm>
            <a:off x="2693988" y="5843588"/>
            <a:ext cx="517525" cy="658812"/>
            <a:chOff x="2401" y="425"/>
            <a:chExt cx="907" cy="1154"/>
          </a:xfrm>
        </p:grpSpPr>
        <p:sp>
          <p:nvSpPr>
            <p:cNvPr id="29833" name="Rectangle 8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834" name="Line 8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35" name="Line 8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36" name="Rectangle 8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837" name="Freeform 85"/>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9838" name="Line 8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14" name="AutoShape 87"/>
          <p:cNvSpPr>
            <a:spLocks noChangeArrowheads="1"/>
          </p:cNvSpPr>
          <p:nvPr/>
        </p:nvSpPr>
        <p:spPr bwMode="auto">
          <a:xfrm>
            <a:off x="3963988" y="4156075"/>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9715" name="AutoShape 88"/>
          <p:cNvSpPr>
            <a:spLocks noChangeArrowheads="1"/>
          </p:cNvSpPr>
          <p:nvPr/>
        </p:nvSpPr>
        <p:spPr bwMode="auto">
          <a:xfrm>
            <a:off x="3943350" y="3189288"/>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9716" name="Group 89"/>
          <p:cNvGrpSpPr>
            <a:grpSpLocks/>
          </p:cNvGrpSpPr>
          <p:nvPr/>
        </p:nvGrpSpPr>
        <p:grpSpPr bwMode="auto">
          <a:xfrm>
            <a:off x="3522663" y="4116388"/>
            <a:ext cx="509587" cy="493712"/>
            <a:chOff x="4200" y="2899"/>
            <a:chExt cx="915" cy="885"/>
          </a:xfrm>
        </p:grpSpPr>
        <p:sp>
          <p:nvSpPr>
            <p:cNvPr id="29816" name="Rectangle 90"/>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9817" name="AutoShape 91"/>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18" name="AutoShape 92"/>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19" name="AutoShape 93"/>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20" name="Freeform 94"/>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1" name="Freeform 95"/>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2" name="Freeform 96"/>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3" name="Freeform 97"/>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4" name="Freeform 98"/>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5" name="Freeform 99"/>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6" name="Freeform 100"/>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7" name="Line 101"/>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28" name="Line 102"/>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29" name="Line 103"/>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30" name="Line 104"/>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31" name="Line 105"/>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32" name="Line 106"/>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17" name="AutoShape 107"/>
          <p:cNvSpPr>
            <a:spLocks noChangeArrowheads="1"/>
          </p:cNvSpPr>
          <p:nvPr/>
        </p:nvSpPr>
        <p:spPr bwMode="auto">
          <a:xfrm>
            <a:off x="2990850" y="4154488"/>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9718" name="Group 108"/>
          <p:cNvGrpSpPr>
            <a:grpSpLocks/>
          </p:cNvGrpSpPr>
          <p:nvPr/>
        </p:nvGrpSpPr>
        <p:grpSpPr bwMode="auto">
          <a:xfrm>
            <a:off x="3502025" y="3149600"/>
            <a:ext cx="509588" cy="493713"/>
            <a:chOff x="4200" y="2899"/>
            <a:chExt cx="915" cy="885"/>
          </a:xfrm>
        </p:grpSpPr>
        <p:sp>
          <p:nvSpPr>
            <p:cNvPr id="29799" name="Rectangle 10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9800" name="AutoShape 11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01" name="AutoShape 11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02" name="AutoShape 11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03" name="Freeform 11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4" name="Freeform 11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5" name="Freeform 11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6" name="Freeform 11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7" name="Freeform 11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8" name="Freeform 11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9" name="Freeform 11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10" name="Line 12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1" name="Line 12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2" name="Line 12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3" name="Line 12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4" name="Line 12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5" name="Line 12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19" name="AutoShape 126"/>
          <p:cNvSpPr>
            <a:spLocks noChangeArrowheads="1"/>
          </p:cNvSpPr>
          <p:nvPr/>
        </p:nvSpPr>
        <p:spPr bwMode="auto">
          <a:xfrm>
            <a:off x="2970213" y="318770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9720" name="Group 127"/>
          <p:cNvGrpSpPr>
            <a:grpSpLocks/>
          </p:cNvGrpSpPr>
          <p:nvPr/>
        </p:nvGrpSpPr>
        <p:grpSpPr bwMode="auto">
          <a:xfrm>
            <a:off x="3516313" y="2152650"/>
            <a:ext cx="509587" cy="493713"/>
            <a:chOff x="4200" y="2899"/>
            <a:chExt cx="915" cy="885"/>
          </a:xfrm>
        </p:grpSpPr>
        <p:sp>
          <p:nvSpPr>
            <p:cNvPr id="29782" name="Rectangle 128"/>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9783" name="AutoShape 129"/>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784" name="AutoShape 130"/>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785" name="AutoShape 131"/>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786" name="Freeform 132"/>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87" name="Freeform 133"/>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88" name="Freeform 134"/>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89" name="Freeform 135"/>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90" name="Freeform 136"/>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91" name="Freeform 137"/>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92" name="Freeform 138"/>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93" name="Line 139"/>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4" name="Line 140"/>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5" name="Line 141"/>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6" name="Line 142"/>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7" name="Line 143"/>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8" name="Line 144"/>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21" name="AutoShape 145"/>
          <p:cNvSpPr>
            <a:spLocks noChangeArrowheads="1"/>
          </p:cNvSpPr>
          <p:nvPr/>
        </p:nvSpPr>
        <p:spPr bwMode="auto">
          <a:xfrm>
            <a:off x="2984500" y="219075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9722" name="Group 146"/>
          <p:cNvGrpSpPr>
            <a:grpSpLocks/>
          </p:cNvGrpSpPr>
          <p:nvPr/>
        </p:nvGrpSpPr>
        <p:grpSpPr bwMode="auto">
          <a:xfrm>
            <a:off x="5233988" y="2576513"/>
            <a:ext cx="881062" cy="612775"/>
            <a:chOff x="3153" y="1049"/>
            <a:chExt cx="752" cy="523"/>
          </a:xfrm>
        </p:grpSpPr>
        <p:sp>
          <p:nvSpPr>
            <p:cNvPr id="29780" name="Rectangle 14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9781" name="Picture 14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23" name="Text Box 149"/>
          <p:cNvSpPr txBox="1">
            <a:spLocks noChangeArrowheads="1"/>
          </p:cNvSpPr>
          <p:nvPr/>
        </p:nvSpPr>
        <p:spPr bwMode="auto">
          <a:xfrm>
            <a:off x="5253038" y="3167063"/>
            <a:ext cx="21304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pay to: insured</a:t>
            </a:r>
          </a:p>
        </p:txBody>
      </p:sp>
      <p:grpSp>
        <p:nvGrpSpPr>
          <p:cNvPr id="29724" name="Group 150"/>
          <p:cNvGrpSpPr>
            <a:grpSpLocks/>
          </p:cNvGrpSpPr>
          <p:nvPr/>
        </p:nvGrpSpPr>
        <p:grpSpPr bwMode="auto">
          <a:xfrm>
            <a:off x="5233988" y="4065588"/>
            <a:ext cx="881062" cy="612775"/>
            <a:chOff x="3153" y="1049"/>
            <a:chExt cx="752" cy="523"/>
          </a:xfrm>
        </p:grpSpPr>
        <p:sp>
          <p:nvSpPr>
            <p:cNvPr id="29778" name="Rectangle 151"/>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9779" name="Picture 15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25" name="Text Box 153"/>
          <p:cNvSpPr txBox="1">
            <a:spLocks noChangeArrowheads="1"/>
          </p:cNvSpPr>
          <p:nvPr/>
        </p:nvSpPr>
        <p:spPr bwMode="auto">
          <a:xfrm>
            <a:off x="5253038" y="4684713"/>
            <a:ext cx="29765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804863" algn="l"/>
              </a:tabLst>
              <a:defRPr sz="1400">
                <a:solidFill>
                  <a:schemeClr val="bg1"/>
                </a:solidFill>
                <a:latin typeface="Arial" charset="0"/>
              </a:defRPr>
            </a:lvl1pPr>
            <a:lvl2pPr marL="742950" indent="-285750" eaLnBrk="0" hangingPunct="0">
              <a:tabLst>
                <a:tab pos="804863" algn="l"/>
              </a:tabLst>
              <a:defRPr sz="1400">
                <a:solidFill>
                  <a:schemeClr val="bg1"/>
                </a:solidFill>
                <a:latin typeface="Arial" charset="0"/>
              </a:defRPr>
            </a:lvl2pPr>
            <a:lvl3pPr marL="1143000" indent="-228600" eaLnBrk="0" hangingPunct="0">
              <a:tabLst>
                <a:tab pos="804863" algn="l"/>
              </a:tabLst>
              <a:defRPr sz="1400">
                <a:solidFill>
                  <a:schemeClr val="bg1"/>
                </a:solidFill>
                <a:latin typeface="Arial" charset="0"/>
              </a:defRPr>
            </a:lvl3pPr>
            <a:lvl4pPr marL="1600200" indent="-228600" eaLnBrk="0" hangingPunct="0">
              <a:tabLst>
                <a:tab pos="804863" algn="l"/>
              </a:tabLst>
              <a:defRPr sz="1400">
                <a:solidFill>
                  <a:schemeClr val="bg1"/>
                </a:solidFill>
                <a:latin typeface="Arial" charset="0"/>
              </a:defRPr>
            </a:lvl4pPr>
            <a:lvl5pPr marL="2057400" indent="-228600" eaLnBrk="0" hangingPunct="0">
              <a:tabLst>
                <a:tab pos="804863"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9pPr>
          </a:lstStyle>
          <a:p>
            <a:pPr algn="l" eaLnBrk="1" hangingPunct="1"/>
            <a:r>
              <a:rPr lang="en-US" sz="1800" b="1" dirty="0"/>
              <a:t>pay to: </a:t>
            </a:r>
            <a:r>
              <a:rPr lang="en-US" sz="1800" b="1" dirty="0" smtClean="0"/>
              <a:t>3rd-party</a:t>
            </a:r>
            <a:r>
              <a:rPr lang="en-US" sz="1800" b="1" dirty="0"/>
              <a:t/>
            </a:r>
            <a:br>
              <a:rPr lang="en-US" sz="1800" b="1" dirty="0"/>
            </a:br>
            <a:r>
              <a:rPr lang="en-US" sz="1800" b="1" dirty="0"/>
              <a:t>	claimant</a:t>
            </a:r>
          </a:p>
        </p:txBody>
      </p:sp>
      <p:grpSp>
        <p:nvGrpSpPr>
          <p:cNvPr id="29726" name="Group 154"/>
          <p:cNvGrpSpPr>
            <a:grpSpLocks/>
          </p:cNvGrpSpPr>
          <p:nvPr/>
        </p:nvGrpSpPr>
        <p:grpSpPr bwMode="auto">
          <a:xfrm>
            <a:off x="4530725" y="2393950"/>
            <a:ext cx="709613" cy="341313"/>
            <a:chOff x="2854" y="1566"/>
            <a:chExt cx="447" cy="215"/>
          </a:xfrm>
        </p:grpSpPr>
        <p:sp>
          <p:nvSpPr>
            <p:cNvPr id="29775" name="Line 155"/>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76" name="Line 156"/>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77" name="Line 157"/>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9727" name="Text Box 158"/>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9728" name="Text Box 159"/>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9729" name="Text Box 160"/>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9730" name="Line 161"/>
          <p:cNvSpPr>
            <a:spLocks noChangeShapeType="1"/>
          </p:cNvSpPr>
          <p:nvPr/>
        </p:nvSpPr>
        <p:spPr bwMode="auto">
          <a:xfrm>
            <a:off x="4545013" y="4370388"/>
            <a:ext cx="6826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31" name="Line 162"/>
          <p:cNvSpPr>
            <a:spLocks noChangeShapeType="1"/>
          </p:cNvSpPr>
          <p:nvPr/>
        </p:nvSpPr>
        <p:spPr bwMode="auto">
          <a:xfrm>
            <a:off x="6127750" y="2870200"/>
            <a:ext cx="1338263"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32" name="Line 163"/>
          <p:cNvSpPr>
            <a:spLocks noChangeShapeType="1"/>
          </p:cNvSpPr>
          <p:nvPr/>
        </p:nvSpPr>
        <p:spPr bwMode="auto">
          <a:xfrm>
            <a:off x="6127750" y="4384675"/>
            <a:ext cx="1365250"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33" name="Freeform 164"/>
          <p:cNvSpPr>
            <a:spLocks/>
          </p:cNvSpPr>
          <p:nvPr/>
        </p:nvSpPr>
        <p:spPr bwMode="auto">
          <a:xfrm>
            <a:off x="2963863" y="534511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9734" name="Freeform 165"/>
          <p:cNvSpPr>
            <a:spLocks/>
          </p:cNvSpPr>
          <p:nvPr/>
        </p:nvSpPr>
        <p:spPr bwMode="auto">
          <a:xfrm>
            <a:off x="3208338" y="59340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9735" name="Freeform 166"/>
          <p:cNvSpPr>
            <a:spLocks/>
          </p:cNvSpPr>
          <p:nvPr/>
        </p:nvSpPr>
        <p:spPr bwMode="auto">
          <a:xfrm>
            <a:off x="2706688" y="48926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9736" name="Text Box 167"/>
          <p:cNvSpPr txBox="1">
            <a:spLocks noChangeArrowheads="1"/>
          </p:cNvSpPr>
          <p:nvPr/>
        </p:nvSpPr>
        <p:spPr bwMode="auto">
          <a:xfrm>
            <a:off x="1887538" y="8969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9737" name="Text Box 168"/>
          <p:cNvSpPr txBox="1">
            <a:spLocks noChangeArrowheads="1"/>
          </p:cNvSpPr>
          <p:nvPr/>
        </p:nvSpPr>
        <p:spPr bwMode="auto">
          <a:xfrm>
            <a:off x="1192213" y="23955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9738" name="Text Box 169"/>
          <p:cNvSpPr txBox="1">
            <a:spLocks noChangeArrowheads="1"/>
          </p:cNvSpPr>
          <p:nvPr/>
        </p:nvSpPr>
        <p:spPr bwMode="auto">
          <a:xfrm>
            <a:off x="1192213" y="3394075"/>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9739" name="Text Box 170"/>
          <p:cNvSpPr txBox="1">
            <a:spLocks noChangeArrowheads="1"/>
          </p:cNvSpPr>
          <p:nvPr/>
        </p:nvSpPr>
        <p:spPr bwMode="auto">
          <a:xfrm>
            <a:off x="1192213" y="43767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grpSp>
        <p:nvGrpSpPr>
          <p:cNvPr id="29740" name="Group 171"/>
          <p:cNvGrpSpPr>
            <a:grpSpLocks/>
          </p:cNvGrpSpPr>
          <p:nvPr/>
        </p:nvGrpSpPr>
        <p:grpSpPr bwMode="auto">
          <a:xfrm>
            <a:off x="1844675" y="1155700"/>
            <a:ext cx="2386013" cy="674688"/>
            <a:chOff x="1162" y="786"/>
            <a:chExt cx="1503" cy="425"/>
          </a:xfrm>
        </p:grpSpPr>
        <p:grpSp>
          <p:nvGrpSpPr>
            <p:cNvPr id="29759" name="Group 172"/>
            <p:cNvGrpSpPr>
              <a:grpSpLocks/>
            </p:cNvGrpSpPr>
            <p:nvPr/>
          </p:nvGrpSpPr>
          <p:grpSpPr bwMode="auto">
            <a:xfrm>
              <a:off x="1481" y="786"/>
              <a:ext cx="631" cy="425"/>
              <a:chOff x="2984" y="3331"/>
              <a:chExt cx="845" cy="569"/>
            </a:xfrm>
          </p:grpSpPr>
          <p:sp>
            <p:nvSpPr>
              <p:cNvPr id="29762" name="AutoShape 17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9763" name="Group 174"/>
              <p:cNvGrpSpPr>
                <a:grpSpLocks/>
              </p:cNvGrpSpPr>
              <p:nvPr/>
            </p:nvGrpSpPr>
            <p:grpSpPr bwMode="auto">
              <a:xfrm>
                <a:off x="3386" y="3487"/>
                <a:ext cx="443" cy="398"/>
                <a:chOff x="4838" y="2218"/>
                <a:chExt cx="395" cy="355"/>
              </a:xfrm>
            </p:grpSpPr>
            <p:sp>
              <p:nvSpPr>
                <p:cNvPr id="29764" name="Freeform 175"/>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5" name="Freeform 176"/>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6" name="Freeform 177"/>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7" name="Freeform 178"/>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8" name="Freeform 179"/>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9" name="Freeform 180"/>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0" name="Freeform 181"/>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1" name="Rectangle 18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72" name="Rectangle 18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73" name="Freeform 184"/>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4" name="Rectangle 18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9760" name="Text Box 186"/>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9761" name="Line 187"/>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41" name="Group 188"/>
          <p:cNvGrpSpPr>
            <a:grpSpLocks/>
          </p:cNvGrpSpPr>
          <p:nvPr/>
        </p:nvGrpSpPr>
        <p:grpSpPr bwMode="auto">
          <a:xfrm>
            <a:off x="7316788" y="1382713"/>
            <a:ext cx="1157287" cy="3987800"/>
            <a:chOff x="4609" y="929"/>
            <a:chExt cx="729" cy="2512"/>
          </a:xfrm>
        </p:grpSpPr>
        <p:grpSp>
          <p:nvGrpSpPr>
            <p:cNvPr id="29750" name="Group 189"/>
            <p:cNvGrpSpPr>
              <a:grpSpLocks/>
            </p:cNvGrpSpPr>
            <p:nvPr/>
          </p:nvGrpSpPr>
          <p:grpSpPr bwMode="auto">
            <a:xfrm>
              <a:off x="4691" y="1557"/>
              <a:ext cx="565" cy="565"/>
              <a:chOff x="4691" y="1557"/>
              <a:chExt cx="565" cy="565"/>
            </a:xfrm>
          </p:grpSpPr>
          <p:sp>
            <p:nvSpPr>
              <p:cNvPr id="29757" name="AutoShape 190"/>
              <p:cNvSpPr>
                <a:spLocks noChangeArrowheads="1"/>
              </p:cNvSpPr>
              <p:nvPr/>
            </p:nvSpPr>
            <p:spPr bwMode="auto">
              <a:xfrm>
                <a:off x="4691" y="1557"/>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758" name="Picture 19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1605"/>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51" name="Group 192"/>
            <p:cNvGrpSpPr>
              <a:grpSpLocks/>
            </p:cNvGrpSpPr>
            <p:nvPr/>
          </p:nvGrpSpPr>
          <p:grpSpPr bwMode="auto">
            <a:xfrm>
              <a:off x="4691" y="2530"/>
              <a:ext cx="565" cy="565"/>
              <a:chOff x="4691" y="2530"/>
              <a:chExt cx="565" cy="565"/>
            </a:xfrm>
          </p:grpSpPr>
          <p:sp>
            <p:nvSpPr>
              <p:cNvPr id="29755" name="AutoShape 193"/>
              <p:cNvSpPr>
                <a:spLocks noChangeArrowheads="1"/>
              </p:cNvSpPr>
              <p:nvPr/>
            </p:nvSpPr>
            <p:spPr bwMode="auto">
              <a:xfrm>
                <a:off x="4691" y="2530"/>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756" name="Picture 19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2578"/>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52" name="Text Box 195"/>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9753" name="Text Box 196"/>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3rd-party</a:t>
              </a:r>
              <a:br>
                <a:rPr lang="en-US" sz="1800" b="1" dirty="0"/>
              </a:br>
              <a:r>
                <a:rPr lang="en-US" sz="1800" b="1" dirty="0"/>
                <a:t>claimant</a:t>
              </a:r>
            </a:p>
          </p:txBody>
        </p:sp>
        <p:sp>
          <p:nvSpPr>
            <p:cNvPr id="29754" name="Text Box 197"/>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grpSp>
        <p:nvGrpSpPr>
          <p:cNvPr id="29742" name="Group 198"/>
          <p:cNvGrpSpPr>
            <a:grpSpLocks/>
          </p:cNvGrpSpPr>
          <p:nvPr/>
        </p:nvGrpSpPr>
        <p:grpSpPr bwMode="auto">
          <a:xfrm flipV="1">
            <a:off x="4525963" y="3070225"/>
            <a:ext cx="709612" cy="341313"/>
            <a:chOff x="2854" y="1566"/>
            <a:chExt cx="447" cy="215"/>
          </a:xfrm>
        </p:grpSpPr>
        <p:sp>
          <p:nvSpPr>
            <p:cNvPr id="29747" name="Line 199"/>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48" name="Line 200"/>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49" name="Line 201"/>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9743" name="Text Box 202"/>
          <p:cNvSpPr txBox="1">
            <a:spLocks noChangeArrowheads="1"/>
          </p:cNvSpPr>
          <p:nvPr/>
        </p:nvSpPr>
        <p:spPr bwMode="auto">
          <a:xfrm rot="1310839">
            <a:off x="2035175" y="4206875"/>
            <a:ext cx="1147763" cy="3032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CLOSED</a:t>
            </a:r>
          </a:p>
        </p:txBody>
      </p:sp>
      <p:sp>
        <p:nvSpPr>
          <p:cNvPr id="29744" name="Text Box 203"/>
          <p:cNvSpPr txBox="1">
            <a:spLocks noChangeArrowheads="1"/>
          </p:cNvSpPr>
          <p:nvPr/>
        </p:nvSpPr>
        <p:spPr bwMode="auto">
          <a:xfrm rot="1310839">
            <a:off x="1997075" y="2235200"/>
            <a:ext cx="1147763" cy="3032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CLOSED</a:t>
            </a:r>
          </a:p>
        </p:txBody>
      </p:sp>
      <p:sp>
        <p:nvSpPr>
          <p:cNvPr id="29745" name="Text Box 204"/>
          <p:cNvSpPr txBox="1">
            <a:spLocks noChangeArrowheads="1"/>
          </p:cNvSpPr>
          <p:nvPr/>
        </p:nvSpPr>
        <p:spPr bwMode="auto">
          <a:xfrm rot="1310839">
            <a:off x="2009775" y="3225800"/>
            <a:ext cx="1147763" cy="3032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CLOSED</a:t>
            </a:r>
          </a:p>
        </p:txBody>
      </p:sp>
      <p:sp>
        <p:nvSpPr>
          <p:cNvPr id="29746" name="Text Box 205"/>
          <p:cNvSpPr txBox="1">
            <a:spLocks noChangeArrowheads="1"/>
          </p:cNvSpPr>
          <p:nvPr/>
        </p:nvSpPr>
        <p:spPr bwMode="auto">
          <a:xfrm rot="1310839">
            <a:off x="298450" y="1168400"/>
            <a:ext cx="1692275" cy="4556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800" b="1" dirty="0"/>
              <a:t>CLOSED</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|EOS~027|</a:t>
            </a:r>
            <a:endParaRPr lang="en-US" sz="100" dirty="0" err="1" smtClean="0">
              <a:solidFill>
                <a:srgbClr val="FFFFFF"/>
              </a:solidFill>
              <a:latin typeface="Arial"/>
              <a:cs typeface="Calibri" pitchFamily="34" charset="0"/>
            </a:endParaRPr>
          </a:p>
        </p:txBody>
      </p:sp>
      <p:sp>
        <p:nvSpPr>
          <p:cNvPr id="30722" name="Rectangle 2"/>
          <p:cNvSpPr>
            <a:spLocks noGrp="1" noChangeArrowheads="1"/>
          </p:cNvSpPr>
          <p:nvPr>
            <p:ph type="title"/>
          </p:nvPr>
        </p:nvSpPr>
        <p:spPr/>
        <p:txBody>
          <a:bodyPr/>
          <a:lstStyle/>
          <a:p>
            <a:r>
              <a:rPr lang="en-US" smtClean="0"/>
              <a:t>No one-to-one correspondence of steps</a:t>
            </a:r>
          </a:p>
        </p:txBody>
      </p:sp>
      <p:sp>
        <p:nvSpPr>
          <p:cNvPr id="30723" name="Text Box 3"/>
          <p:cNvSpPr txBox="1">
            <a:spLocks noChangeArrowheads="1"/>
          </p:cNvSpPr>
          <p:nvPr/>
        </p:nvSpPr>
        <p:spPr bwMode="auto">
          <a:xfrm>
            <a:off x="5568950" y="3811588"/>
            <a:ext cx="28098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Make claim and exposures payable</a:t>
            </a:r>
          </a:p>
        </p:txBody>
      </p:sp>
      <p:sp>
        <p:nvSpPr>
          <p:cNvPr id="30724" name="Rectangle 4"/>
          <p:cNvSpPr>
            <a:spLocks noChangeArrowheads="1"/>
          </p:cNvSpPr>
          <p:nvPr/>
        </p:nvSpPr>
        <p:spPr bwMode="auto">
          <a:xfrm>
            <a:off x="5510213" y="3786188"/>
            <a:ext cx="2925762" cy="781050"/>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0725" name="Text Box 5"/>
          <p:cNvSpPr txBox="1">
            <a:spLocks noChangeArrowheads="1"/>
          </p:cNvSpPr>
          <p:nvPr/>
        </p:nvSpPr>
        <p:spPr bwMode="auto">
          <a:xfrm>
            <a:off x="5600700" y="1055688"/>
            <a:ext cx="2743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Create and setup claim</a:t>
            </a:r>
          </a:p>
        </p:txBody>
      </p:sp>
      <p:sp>
        <p:nvSpPr>
          <p:cNvPr id="30726" name="Rectangle 6"/>
          <p:cNvSpPr>
            <a:spLocks noChangeArrowheads="1"/>
          </p:cNvSpPr>
          <p:nvPr/>
        </p:nvSpPr>
        <p:spPr bwMode="auto">
          <a:xfrm>
            <a:off x="5510213" y="998538"/>
            <a:ext cx="2925762" cy="79533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27" name="Text Box 7"/>
          <p:cNvSpPr txBox="1">
            <a:spLocks noChangeArrowheads="1"/>
          </p:cNvSpPr>
          <p:nvPr/>
        </p:nvSpPr>
        <p:spPr bwMode="auto">
          <a:xfrm>
            <a:off x="5600700" y="1920875"/>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Create exposures</a:t>
            </a:r>
          </a:p>
        </p:txBody>
      </p:sp>
      <p:sp>
        <p:nvSpPr>
          <p:cNvPr id="30728" name="Rectangle 8"/>
          <p:cNvSpPr>
            <a:spLocks noChangeArrowheads="1"/>
          </p:cNvSpPr>
          <p:nvPr/>
        </p:nvSpPr>
        <p:spPr bwMode="auto">
          <a:xfrm>
            <a:off x="5510213" y="1863725"/>
            <a:ext cx="2925762"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29" name="Text Box 9"/>
          <p:cNvSpPr txBox="1">
            <a:spLocks noChangeArrowheads="1"/>
          </p:cNvSpPr>
          <p:nvPr/>
        </p:nvSpPr>
        <p:spPr bwMode="auto">
          <a:xfrm>
            <a:off x="5600700" y="2530475"/>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Create reserves</a:t>
            </a:r>
          </a:p>
        </p:txBody>
      </p:sp>
      <p:sp>
        <p:nvSpPr>
          <p:cNvPr id="30730" name="Rectangle 10"/>
          <p:cNvSpPr>
            <a:spLocks noChangeArrowheads="1"/>
          </p:cNvSpPr>
          <p:nvPr/>
        </p:nvSpPr>
        <p:spPr bwMode="auto">
          <a:xfrm>
            <a:off x="5510213" y="2473325"/>
            <a:ext cx="2925762"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31" name="Text Box 11"/>
          <p:cNvSpPr txBox="1">
            <a:spLocks noChangeArrowheads="1"/>
          </p:cNvSpPr>
          <p:nvPr/>
        </p:nvSpPr>
        <p:spPr bwMode="auto">
          <a:xfrm>
            <a:off x="5545138" y="3176588"/>
            <a:ext cx="28654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Complete activities</a:t>
            </a:r>
          </a:p>
        </p:txBody>
      </p:sp>
      <p:sp>
        <p:nvSpPr>
          <p:cNvPr id="30732" name="Rectangle 12"/>
          <p:cNvSpPr>
            <a:spLocks noChangeArrowheads="1"/>
          </p:cNvSpPr>
          <p:nvPr/>
        </p:nvSpPr>
        <p:spPr bwMode="auto">
          <a:xfrm>
            <a:off x="5510213" y="3128963"/>
            <a:ext cx="2925762"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33" name="Text Box 13"/>
          <p:cNvSpPr txBox="1">
            <a:spLocks noChangeArrowheads="1"/>
          </p:cNvSpPr>
          <p:nvPr/>
        </p:nvSpPr>
        <p:spPr bwMode="auto">
          <a:xfrm>
            <a:off x="5600700" y="4732338"/>
            <a:ext cx="2743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Make payments/ Issue checks</a:t>
            </a:r>
          </a:p>
        </p:txBody>
      </p:sp>
      <p:sp>
        <p:nvSpPr>
          <p:cNvPr id="30734" name="Rectangle 14"/>
          <p:cNvSpPr>
            <a:spLocks noChangeArrowheads="1"/>
          </p:cNvSpPr>
          <p:nvPr/>
        </p:nvSpPr>
        <p:spPr bwMode="auto">
          <a:xfrm>
            <a:off x="5510213" y="4675188"/>
            <a:ext cx="2925762" cy="7985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35" name="Text Box 15"/>
          <p:cNvSpPr txBox="1">
            <a:spLocks noChangeArrowheads="1"/>
          </p:cNvSpPr>
          <p:nvPr/>
        </p:nvSpPr>
        <p:spPr bwMode="auto">
          <a:xfrm>
            <a:off x="5600700" y="5646738"/>
            <a:ext cx="2743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Close exposures and claim</a:t>
            </a:r>
          </a:p>
        </p:txBody>
      </p:sp>
      <p:sp>
        <p:nvSpPr>
          <p:cNvPr id="30736" name="Rectangle 16"/>
          <p:cNvSpPr>
            <a:spLocks noChangeArrowheads="1"/>
          </p:cNvSpPr>
          <p:nvPr/>
        </p:nvSpPr>
        <p:spPr bwMode="auto">
          <a:xfrm>
            <a:off x="5510213" y="5589588"/>
            <a:ext cx="2925762" cy="7985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 name="Group 67"/>
          <p:cNvGrpSpPr>
            <a:grpSpLocks/>
          </p:cNvGrpSpPr>
          <p:nvPr/>
        </p:nvGrpSpPr>
        <p:grpSpPr bwMode="auto">
          <a:xfrm>
            <a:off x="3651250" y="1239838"/>
            <a:ext cx="1855788" cy="1349375"/>
            <a:chOff x="2300" y="781"/>
            <a:chExt cx="1169" cy="850"/>
          </a:xfrm>
        </p:grpSpPr>
        <p:sp>
          <p:nvSpPr>
            <p:cNvPr id="30778" name="Line 20"/>
            <p:cNvSpPr>
              <a:spLocks noChangeShapeType="1"/>
            </p:cNvSpPr>
            <p:nvPr/>
          </p:nvSpPr>
          <p:spPr bwMode="auto">
            <a:xfrm flipV="1">
              <a:off x="2305" y="781"/>
              <a:ext cx="1164" cy="2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9" name="Line 21"/>
            <p:cNvSpPr>
              <a:spLocks noChangeShapeType="1"/>
            </p:cNvSpPr>
            <p:nvPr/>
          </p:nvSpPr>
          <p:spPr bwMode="auto">
            <a:xfrm>
              <a:off x="2300" y="1090"/>
              <a:ext cx="1160" cy="22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80" name="Line 22"/>
            <p:cNvSpPr>
              <a:spLocks noChangeShapeType="1"/>
            </p:cNvSpPr>
            <p:nvPr/>
          </p:nvSpPr>
          <p:spPr bwMode="auto">
            <a:xfrm>
              <a:off x="2308" y="1159"/>
              <a:ext cx="1144" cy="47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3" name="Group 68"/>
          <p:cNvGrpSpPr>
            <a:grpSpLocks/>
          </p:cNvGrpSpPr>
          <p:nvPr/>
        </p:nvGrpSpPr>
        <p:grpSpPr bwMode="auto">
          <a:xfrm>
            <a:off x="3660775" y="2168525"/>
            <a:ext cx="1851025" cy="1671638"/>
            <a:chOff x="2306" y="1366"/>
            <a:chExt cx="1166" cy="1053"/>
          </a:xfrm>
        </p:grpSpPr>
        <p:sp>
          <p:nvSpPr>
            <p:cNvPr id="30774" name="Line 24"/>
            <p:cNvSpPr>
              <a:spLocks noChangeShapeType="1"/>
            </p:cNvSpPr>
            <p:nvPr/>
          </p:nvSpPr>
          <p:spPr bwMode="auto">
            <a:xfrm flipV="1">
              <a:off x="2314" y="1366"/>
              <a:ext cx="1155" cy="55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5" name="Line 25"/>
            <p:cNvSpPr>
              <a:spLocks noChangeShapeType="1"/>
            </p:cNvSpPr>
            <p:nvPr/>
          </p:nvSpPr>
          <p:spPr bwMode="auto">
            <a:xfrm flipV="1">
              <a:off x="2306" y="1673"/>
              <a:ext cx="1160" cy="30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6" name="Line 26"/>
            <p:cNvSpPr>
              <a:spLocks noChangeShapeType="1"/>
            </p:cNvSpPr>
            <p:nvPr/>
          </p:nvSpPr>
          <p:spPr bwMode="auto">
            <a:xfrm flipV="1">
              <a:off x="2311" y="2023"/>
              <a:ext cx="1155" cy="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7" name="Line 27"/>
            <p:cNvSpPr>
              <a:spLocks noChangeShapeType="1"/>
            </p:cNvSpPr>
            <p:nvPr/>
          </p:nvSpPr>
          <p:spPr bwMode="auto">
            <a:xfrm>
              <a:off x="2315" y="2093"/>
              <a:ext cx="1157" cy="32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4" name="Group 69"/>
          <p:cNvGrpSpPr>
            <a:grpSpLocks/>
          </p:cNvGrpSpPr>
          <p:nvPr/>
        </p:nvGrpSpPr>
        <p:grpSpPr bwMode="auto">
          <a:xfrm>
            <a:off x="3660775" y="2870200"/>
            <a:ext cx="1841500" cy="3198813"/>
            <a:chOff x="2306" y="1808"/>
            <a:chExt cx="1160" cy="2015"/>
          </a:xfrm>
        </p:grpSpPr>
        <p:sp>
          <p:nvSpPr>
            <p:cNvPr id="30769" name="Line 29"/>
            <p:cNvSpPr>
              <a:spLocks noChangeShapeType="1"/>
            </p:cNvSpPr>
            <p:nvPr/>
          </p:nvSpPr>
          <p:spPr bwMode="auto">
            <a:xfrm flipV="1">
              <a:off x="2318" y="2503"/>
              <a:ext cx="1148" cy="44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0" name="Line 30"/>
            <p:cNvSpPr>
              <a:spLocks noChangeShapeType="1"/>
            </p:cNvSpPr>
            <p:nvPr/>
          </p:nvSpPr>
          <p:spPr bwMode="auto">
            <a:xfrm flipV="1">
              <a:off x="2312" y="1808"/>
              <a:ext cx="1154" cy="10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1" name="Line 31"/>
            <p:cNvSpPr>
              <a:spLocks noChangeShapeType="1"/>
            </p:cNvSpPr>
            <p:nvPr/>
          </p:nvSpPr>
          <p:spPr bwMode="auto">
            <a:xfrm flipV="1">
              <a:off x="2315" y="2096"/>
              <a:ext cx="1148" cy="80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2" name="Line 32"/>
            <p:cNvSpPr>
              <a:spLocks noChangeShapeType="1"/>
            </p:cNvSpPr>
            <p:nvPr/>
          </p:nvSpPr>
          <p:spPr bwMode="auto">
            <a:xfrm>
              <a:off x="2306" y="2992"/>
              <a:ext cx="1150" cy="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3" name="Line 34"/>
            <p:cNvSpPr>
              <a:spLocks noChangeShapeType="1"/>
            </p:cNvSpPr>
            <p:nvPr/>
          </p:nvSpPr>
          <p:spPr bwMode="auto">
            <a:xfrm>
              <a:off x="2314" y="3112"/>
              <a:ext cx="1152" cy="71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0740" name="Text Box 35"/>
          <p:cNvSpPr txBox="1">
            <a:spLocks noChangeArrowheads="1"/>
          </p:cNvSpPr>
          <p:nvPr/>
        </p:nvSpPr>
        <p:spPr bwMode="auto">
          <a:xfrm>
            <a:off x="581025" y="682625"/>
            <a:ext cx="287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CC3399"/>
                </a:solidFill>
              </a:rPr>
              <a:t>Business Process</a:t>
            </a:r>
          </a:p>
        </p:txBody>
      </p:sp>
      <p:sp>
        <p:nvSpPr>
          <p:cNvPr id="30741" name="Text Box 36"/>
          <p:cNvSpPr txBox="1">
            <a:spLocks noChangeArrowheads="1"/>
          </p:cNvSpPr>
          <p:nvPr/>
        </p:nvSpPr>
        <p:spPr bwMode="auto">
          <a:xfrm>
            <a:off x="5519738" y="701675"/>
            <a:ext cx="287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3399FF"/>
                </a:solidFill>
              </a:rPr>
              <a:t>Functional Process</a:t>
            </a:r>
          </a:p>
        </p:txBody>
      </p:sp>
      <p:grpSp>
        <p:nvGrpSpPr>
          <p:cNvPr id="30742" name="Group 37"/>
          <p:cNvGrpSpPr>
            <a:grpSpLocks/>
          </p:cNvGrpSpPr>
          <p:nvPr/>
        </p:nvGrpSpPr>
        <p:grpSpPr bwMode="auto">
          <a:xfrm>
            <a:off x="8367713" y="34925"/>
            <a:ext cx="741362" cy="792163"/>
            <a:chOff x="3777" y="1768"/>
            <a:chExt cx="467" cy="499"/>
          </a:xfrm>
        </p:grpSpPr>
        <p:sp>
          <p:nvSpPr>
            <p:cNvPr id="30767" name="Rectangle 38"/>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0768" name="AutoShape 39"/>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6" name="Group 40"/>
          <p:cNvGrpSpPr>
            <a:grpSpLocks/>
          </p:cNvGrpSpPr>
          <p:nvPr/>
        </p:nvGrpSpPr>
        <p:grpSpPr bwMode="auto">
          <a:xfrm>
            <a:off x="8367713" y="34925"/>
            <a:ext cx="741362" cy="792163"/>
            <a:chOff x="2967" y="1718"/>
            <a:chExt cx="467" cy="499"/>
          </a:xfrm>
        </p:grpSpPr>
        <p:sp>
          <p:nvSpPr>
            <p:cNvPr id="30765" name="Rectangle 41"/>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0766" name="Rectangle 42"/>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
        <p:nvSpPr>
          <p:cNvPr id="30744" name="Rectangle 43"/>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45" name="Text Box 44"/>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solidFill>
                  <a:srgbClr val="CC3399"/>
                </a:solidFill>
              </a:rPr>
              <a:t>Intake</a:t>
            </a:r>
          </a:p>
        </p:txBody>
      </p:sp>
      <p:sp>
        <p:nvSpPr>
          <p:cNvPr id="30746" name="Line 45"/>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47" name="Rectangle 46"/>
          <p:cNvSpPr>
            <a:spLocks noChangeArrowheads="1"/>
          </p:cNvSpPr>
          <p:nvPr/>
        </p:nvSpPr>
        <p:spPr bwMode="auto">
          <a:xfrm>
            <a:off x="733425" y="29924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48" name="Rectangle 47"/>
          <p:cNvSpPr>
            <a:spLocks noChangeArrowheads="1"/>
          </p:cNvSpPr>
          <p:nvPr/>
        </p:nvSpPr>
        <p:spPr bwMode="auto">
          <a:xfrm>
            <a:off x="733425" y="44910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49" name="Text Box 48"/>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solidFill>
                  <a:srgbClr val="CC3399"/>
                </a:solidFill>
              </a:rPr>
              <a:t>Adjudication</a:t>
            </a:r>
          </a:p>
        </p:txBody>
      </p:sp>
      <p:sp>
        <p:nvSpPr>
          <p:cNvPr id="30750" name="Text Box 49"/>
          <p:cNvSpPr txBox="1">
            <a:spLocks noChangeArrowheads="1"/>
          </p:cNvSpPr>
          <p:nvPr/>
        </p:nvSpPr>
        <p:spPr bwMode="auto">
          <a:xfrm>
            <a:off x="960438" y="4548188"/>
            <a:ext cx="24733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CC3399"/>
                </a:solidFill>
              </a:rPr>
              <a:t>Payment</a:t>
            </a:r>
          </a:p>
        </p:txBody>
      </p:sp>
      <p:sp>
        <p:nvSpPr>
          <p:cNvPr id="30751" name="Line 50"/>
          <p:cNvSpPr>
            <a:spLocks noChangeShapeType="1"/>
          </p:cNvSpPr>
          <p:nvPr/>
        </p:nvSpPr>
        <p:spPr bwMode="auto">
          <a:xfrm>
            <a:off x="2197100" y="3482975"/>
            <a:ext cx="0" cy="9937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7" name="Group 70"/>
          <p:cNvGrpSpPr>
            <a:grpSpLocks/>
          </p:cNvGrpSpPr>
          <p:nvPr/>
        </p:nvGrpSpPr>
        <p:grpSpPr bwMode="auto">
          <a:xfrm>
            <a:off x="3646488" y="1243013"/>
            <a:ext cx="1868487" cy="4829175"/>
            <a:chOff x="2298" y="783"/>
            <a:chExt cx="1177" cy="3042"/>
          </a:xfrm>
        </p:grpSpPr>
        <p:sp>
          <p:nvSpPr>
            <p:cNvPr id="30753" name="Line 52"/>
            <p:cNvSpPr>
              <a:spLocks noChangeShapeType="1"/>
            </p:cNvSpPr>
            <p:nvPr/>
          </p:nvSpPr>
          <p:spPr bwMode="auto">
            <a:xfrm flipV="1">
              <a:off x="2303" y="783"/>
              <a:ext cx="1164" cy="2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4" name="Line 53"/>
            <p:cNvSpPr>
              <a:spLocks noChangeShapeType="1"/>
            </p:cNvSpPr>
            <p:nvPr/>
          </p:nvSpPr>
          <p:spPr bwMode="auto">
            <a:xfrm>
              <a:off x="2298" y="1092"/>
              <a:ext cx="1166" cy="22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5" name="Line 54"/>
            <p:cNvSpPr>
              <a:spLocks noChangeShapeType="1"/>
            </p:cNvSpPr>
            <p:nvPr/>
          </p:nvSpPr>
          <p:spPr bwMode="auto">
            <a:xfrm>
              <a:off x="2306" y="1161"/>
              <a:ext cx="1154" cy="47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6" name="Line 55"/>
            <p:cNvSpPr>
              <a:spLocks noChangeShapeType="1"/>
            </p:cNvSpPr>
            <p:nvPr/>
          </p:nvSpPr>
          <p:spPr bwMode="auto">
            <a:xfrm flipV="1">
              <a:off x="2312" y="1367"/>
              <a:ext cx="1149" cy="55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7" name="Line 56"/>
            <p:cNvSpPr>
              <a:spLocks noChangeShapeType="1"/>
            </p:cNvSpPr>
            <p:nvPr/>
          </p:nvSpPr>
          <p:spPr bwMode="auto">
            <a:xfrm flipV="1">
              <a:off x="2304" y="1670"/>
              <a:ext cx="1171" cy="30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8" name="Line 57"/>
            <p:cNvSpPr>
              <a:spLocks noChangeShapeType="1"/>
            </p:cNvSpPr>
            <p:nvPr/>
          </p:nvSpPr>
          <p:spPr bwMode="auto">
            <a:xfrm flipV="1">
              <a:off x="2309" y="2030"/>
              <a:ext cx="1166"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9" name="Line 58"/>
            <p:cNvSpPr>
              <a:spLocks noChangeShapeType="1"/>
            </p:cNvSpPr>
            <p:nvPr/>
          </p:nvSpPr>
          <p:spPr bwMode="auto">
            <a:xfrm>
              <a:off x="2313" y="2095"/>
              <a:ext cx="1157" cy="32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0" name="Line 59"/>
            <p:cNvSpPr>
              <a:spLocks noChangeShapeType="1"/>
            </p:cNvSpPr>
            <p:nvPr/>
          </p:nvSpPr>
          <p:spPr bwMode="auto">
            <a:xfrm flipV="1">
              <a:off x="2316" y="2505"/>
              <a:ext cx="1148" cy="44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1" name="Line 60"/>
            <p:cNvSpPr>
              <a:spLocks noChangeShapeType="1"/>
            </p:cNvSpPr>
            <p:nvPr/>
          </p:nvSpPr>
          <p:spPr bwMode="auto">
            <a:xfrm flipV="1">
              <a:off x="2310" y="1810"/>
              <a:ext cx="1154" cy="10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2" name="Line 61"/>
            <p:cNvSpPr>
              <a:spLocks noChangeShapeType="1"/>
            </p:cNvSpPr>
            <p:nvPr/>
          </p:nvSpPr>
          <p:spPr bwMode="auto">
            <a:xfrm flipV="1">
              <a:off x="2313" y="2098"/>
              <a:ext cx="1148" cy="80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3" name="Line 62"/>
            <p:cNvSpPr>
              <a:spLocks noChangeShapeType="1"/>
            </p:cNvSpPr>
            <p:nvPr/>
          </p:nvSpPr>
          <p:spPr bwMode="auto">
            <a:xfrm>
              <a:off x="2304" y="2994"/>
              <a:ext cx="1150" cy="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4" name="Line 64"/>
            <p:cNvSpPr>
              <a:spLocks noChangeShapeType="1"/>
            </p:cNvSpPr>
            <p:nvPr/>
          </p:nvSpPr>
          <p:spPr bwMode="auto">
            <a:xfrm>
              <a:off x="2312" y="3114"/>
              <a:ext cx="1152" cy="71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childTnLst>
                          </p:cTn>
                        </p:par>
                        <p:par>
                          <p:cTn id="12" fill="hold" nodeType="afterGroup">
                            <p:stCondLst>
                              <p:cond delay="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xit" presetSubtype="0" fill="hold" nodeType="clickEffect">
                                  <p:stCondLst>
                                    <p:cond delay="0"/>
                                  </p:stCondLst>
                                  <p:childTnLst>
                                    <p:set>
                                      <p:cBhvr>
                                        <p:cTn id="19" dur="1" fill="hold">
                                          <p:stCondLst>
                                            <p:cond delay="0"/>
                                          </p:stCondLst>
                                        </p:cTn>
                                        <p:tgtEl>
                                          <p:spTgt spid="3"/>
                                        </p:tgtEl>
                                        <p:attrNameLst>
                                          <p:attrName>style.visibility</p:attrName>
                                        </p:attrNameLst>
                                      </p:cBhvr>
                                      <p:to>
                                        <p:strVal val="hidden"/>
                                      </p:to>
                                    </p:set>
                                  </p:childTnLst>
                                </p:cTn>
                              </p:par>
                            </p:childTnLst>
                          </p:cTn>
                        </p:par>
                        <p:par>
                          <p:cTn id="20" fill="hold" nodeType="afterGroup">
                            <p:stCondLst>
                              <p:cond delay="0"/>
                            </p:stCondLst>
                            <p:childTnLst>
                              <p:par>
                                <p:cTn id="21" presetID="22" presetClass="entr" presetSubtype="8"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xit" presetSubtype="0" fill="hold" nodeType="clickEffect">
                                  <p:stCondLst>
                                    <p:cond delay="0"/>
                                  </p:stCondLst>
                                  <p:childTnLst>
                                    <p:set>
                                      <p:cBhvr>
                                        <p:cTn id="27" dur="1" fill="hold">
                                          <p:stCondLst>
                                            <p:cond delay="0"/>
                                          </p:stCondLst>
                                        </p:cTn>
                                        <p:tgtEl>
                                          <p:spTgt spid="4"/>
                                        </p:tgtEl>
                                        <p:attrNameLst>
                                          <p:attrName>style.visibility</p:attrName>
                                        </p:attrNameLst>
                                      </p:cBhvr>
                                      <p:to>
                                        <p:strVal val="hidden"/>
                                      </p:to>
                                    </p:set>
                                  </p:childTnLst>
                                </p:cTn>
                              </p:par>
                            </p:childTnLst>
                          </p:cTn>
                        </p:par>
                        <p:par>
                          <p:cTn id="28" fill="hold" nodeType="afterGroup">
                            <p:stCondLst>
                              <p:cond delay="0"/>
                            </p:stCondLst>
                            <p:childTnLst>
                              <p:par>
                                <p:cTn id="29" presetID="22" presetClass="entr" presetSubtype="8"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par>
                          <p:cTn id="32" fill="hold" nodeType="afterGroup">
                            <p:stCondLst>
                              <p:cond delay="500"/>
                            </p:stCondLst>
                            <p:childTnLst>
                              <p:par>
                                <p:cTn id="33" presetID="17" presetClass="entr" presetSubtype="10"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|EOS~028|</a:t>
            </a:r>
            <a:endParaRPr lang="en-US" sz="100" dirty="0" err="1" smtClean="0">
              <a:solidFill>
                <a:srgbClr val="FFFFFF"/>
              </a:solidFill>
              <a:latin typeface="Arial"/>
              <a:cs typeface="Calibri" pitchFamily="34" charset="0"/>
            </a:endParaRPr>
          </a:p>
        </p:txBody>
      </p:sp>
      <p:sp>
        <p:nvSpPr>
          <p:cNvPr id="31746" name="Rectangle 2"/>
          <p:cNvSpPr>
            <a:spLocks noGrp="1" noChangeArrowheads="1"/>
          </p:cNvSpPr>
          <p:nvPr>
            <p:ph type="title"/>
          </p:nvPr>
        </p:nvSpPr>
        <p:spPr/>
        <p:txBody>
          <a:bodyPr/>
          <a:lstStyle/>
          <a:p>
            <a:r>
              <a:rPr lang="en-US" smtClean="0"/>
              <a:t>Lesson objectives review</a:t>
            </a:r>
          </a:p>
        </p:txBody>
      </p:sp>
      <p:sp>
        <p:nvSpPr>
          <p:cNvPr id="31747"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Describe the stages of claims processing from a business perspective</a:t>
            </a:r>
          </a:p>
          <a:p>
            <a:pPr lvl="1"/>
            <a:r>
              <a:rPr lang="en-US" smtClean="0"/>
              <a:t>Describe the stages of claims processing from a functional perspective</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|EOS~029|</a:t>
            </a:r>
            <a:endParaRPr lang="en-US" sz="100" dirty="0" err="1" smtClean="0">
              <a:solidFill>
                <a:srgbClr val="FFFFFF"/>
              </a:solidFill>
              <a:latin typeface="Arial"/>
              <a:cs typeface="Calibri" pitchFamily="34" charset="0"/>
            </a:endParaRPr>
          </a:p>
        </p:txBody>
      </p:sp>
      <p:sp>
        <p:nvSpPr>
          <p:cNvPr id="32770" name="Rectangle 2"/>
          <p:cNvSpPr>
            <a:spLocks noGrp="1" noChangeArrowheads="1"/>
          </p:cNvSpPr>
          <p:nvPr>
            <p:ph type="title"/>
          </p:nvPr>
        </p:nvSpPr>
        <p:spPr/>
        <p:txBody>
          <a:bodyPr/>
          <a:lstStyle/>
          <a:p>
            <a:r>
              <a:rPr lang="en-US" dirty="0" smtClean="0"/>
              <a:t>Review questions</a:t>
            </a:r>
          </a:p>
        </p:txBody>
      </p:sp>
      <p:sp>
        <p:nvSpPr>
          <p:cNvPr id="32771" name="Rectangle 3"/>
          <p:cNvSpPr>
            <a:spLocks noGrp="1" noChangeArrowheads="1"/>
          </p:cNvSpPr>
          <p:nvPr>
            <p:ph idx="1"/>
          </p:nvPr>
        </p:nvSpPr>
        <p:spPr>
          <a:xfrm>
            <a:off x="495300" y="817563"/>
            <a:ext cx="8318500" cy="5572125"/>
          </a:xfrm>
        </p:spPr>
        <p:txBody>
          <a:bodyPr/>
          <a:lstStyle/>
          <a:p>
            <a:pPr marL="457200" indent="-457200">
              <a:buFont typeface="Webdings" pitchFamily="18" charset="2"/>
              <a:buAutoNum type="arabicPeriod"/>
            </a:pPr>
            <a:r>
              <a:rPr lang="en-US" dirty="0" smtClean="0"/>
              <a:t>State if the following are true or false.</a:t>
            </a:r>
          </a:p>
          <a:p>
            <a:pPr marL="909638" lvl="1" indent="-457200">
              <a:buSzTx/>
              <a:buFont typeface="Webdings" pitchFamily="18" charset="2"/>
              <a:buAutoNum type="alphaLcParenR"/>
            </a:pPr>
            <a:r>
              <a:rPr lang="en-US" dirty="0" smtClean="0"/>
              <a:t>Every claim goes through the intake phase.</a:t>
            </a:r>
          </a:p>
          <a:p>
            <a:pPr marL="909638" lvl="1" indent="-457200">
              <a:buSzTx/>
              <a:buFont typeface="Webdings" pitchFamily="18" charset="2"/>
              <a:buAutoNum type="alphaLcParenR"/>
            </a:pPr>
            <a:r>
              <a:rPr lang="en-US" dirty="0" smtClean="0"/>
              <a:t>Every claim goes through the payment phase.</a:t>
            </a:r>
          </a:p>
          <a:p>
            <a:pPr marL="909638" lvl="1" indent="-457200">
              <a:buSzTx/>
              <a:buFont typeface="Webdings" pitchFamily="18" charset="2"/>
              <a:buAutoNum type="alphaLcParenR"/>
            </a:pPr>
            <a:r>
              <a:rPr lang="en-US" dirty="0" smtClean="0"/>
              <a:t>Every claim goes through the recovery phase.</a:t>
            </a:r>
          </a:p>
          <a:p>
            <a:pPr marL="909638" lvl="1" indent="-457200">
              <a:buSzTx/>
              <a:buFont typeface="Webdings" pitchFamily="18" charset="2"/>
              <a:buAutoNum type="alphaLcParenR"/>
            </a:pPr>
            <a:r>
              <a:rPr lang="en-US" dirty="0" smtClean="0"/>
              <a:t>Special investigations is a process that runs parallel to the regular claims process and is ongoing at all times for all claims.</a:t>
            </a:r>
          </a:p>
          <a:p>
            <a:pPr marL="909638" lvl="1" indent="-457200">
              <a:buSzTx/>
              <a:buFont typeface="Webdings" pitchFamily="18" charset="2"/>
              <a:buAutoNum type="alphaLcParenR"/>
            </a:pPr>
            <a:r>
              <a:rPr lang="en-US" dirty="0" smtClean="0"/>
              <a:t>The carrier typically decides if they are going to pay on a claim (and how much) during the adjudication phase.</a:t>
            </a:r>
          </a:p>
          <a:p>
            <a:pPr marL="457200" indent="-457200">
              <a:buFont typeface="Webdings" pitchFamily="18" charset="2"/>
              <a:buAutoNum type="arabicPeriod"/>
            </a:pPr>
            <a:r>
              <a:rPr lang="en-US" dirty="0" smtClean="0"/>
              <a:t>When is a claim or exposure at the "new loss completion" level?</a:t>
            </a:r>
          </a:p>
          <a:p>
            <a:pPr marL="457200" indent="-457200">
              <a:buFont typeface="Webdings" pitchFamily="18" charset="2"/>
              <a:buAutoNum type="arabicPeriod"/>
            </a:pPr>
            <a:r>
              <a:rPr lang="en-US" dirty="0" smtClean="0"/>
              <a:t>What level do you want to get the claim and each exposure to and why?</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|EOS~030|</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a:t>
            </a:r>
            <a:r>
              <a:rPr lang="en-US" sz="1600" b="1" smtClean="0"/>
              <a:t>© 2001-2014 </a:t>
            </a:r>
            <a:r>
              <a:rPr lang="en-US" sz="1600" b="1" dirty="0" smtClean="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a:t>
            </a:r>
            <a:r>
              <a:rPr lang="en-US" sz="1600" smtClean="0"/>
              <a:t>Claim </a:t>
            </a:r>
            <a:r>
              <a:rPr lang="en-US" sz="1600"/>
              <a:t>Portal, Guidewire Policyholder Portal, ClaimCenter, BillingCenter, PolicyCenter, InsuranceSuite, Gosu, </a:t>
            </a:r>
            <a:r>
              <a:rPr lang="en-US" sz="1600" smtClean="0"/>
              <a:t>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303154857"/>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02A384A-A66D-4F19-BF6C-A99044B19A93}"/>
</file>

<file path=customXml/itemProps2.xml><?xml version="1.0" encoding="utf-8"?>
<ds:datastoreItem xmlns:ds="http://schemas.openxmlformats.org/officeDocument/2006/customXml" ds:itemID="{1778923D-4F2C-4861-BC68-D3AE157267B5}"/>
</file>

<file path=customXml/itemProps3.xml><?xml version="1.0" encoding="utf-8"?>
<ds:datastoreItem xmlns:ds="http://schemas.openxmlformats.org/officeDocument/2006/customXml" ds:itemID="{0B242A47-62C6-4538-B80B-67258A624C6F}"/>
</file>

<file path=docProps/app.xml><?xml version="1.0" encoding="utf-8"?>
<Properties xmlns="http://schemas.openxmlformats.org/officeDocument/2006/extended-properties" xmlns:vt="http://schemas.openxmlformats.org/officeDocument/2006/docPropsVTypes">
  <Template/>
  <TotalTime>9402</TotalTime>
  <Words>5032</Words>
  <Application>Microsoft Office PowerPoint</Application>
  <PresentationFormat>On-screen Show (4:3)</PresentationFormat>
  <Paragraphs>439</Paragraphs>
  <Slides>30</Slides>
  <Notes>30</Notes>
  <HiddenSlides>1</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1_test-template</vt:lpstr>
      <vt:lpstr>The Claims Process</vt:lpstr>
      <vt:lpstr> Lesson objectives</vt:lpstr>
      <vt:lpstr>Lesson outline</vt:lpstr>
      <vt:lpstr>The claims process: two perspectives</vt:lpstr>
      <vt:lpstr>Phase 1: Intake</vt:lpstr>
      <vt:lpstr>Phase 2: Adjudication</vt:lpstr>
      <vt:lpstr>Phase 3: Payment</vt:lpstr>
      <vt:lpstr>Phase 4: Recovery</vt:lpstr>
      <vt:lpstr>Litigation</vt:lpstr>
      <vt:lpstr>Fraud detection and special investigations</vt:lpstr>
      <vt:lpstr>Fundamental and specialized processes</vt:lpstr>
      <vt:lpstr>Lesson outline</vt:lpstr>
      <vt:lpstr>The claims process: two perspectives</vt:lpstr>
      <vt:lpstr>Managing claim and exposure maturity</vt:lpstr>
      <vt:lpstr>New loss completion</vt:lpstr>
      <vt:lpstr>The maturing claim/exposure</vt:lpstr>
      <vt:lpstr>Ability to pay</vt:lpstr>
      <vt:lpstr>Stage 1: User creates claim</vt:lpstr>
      <vt:lpstr>Stage 2: Rules "set up" the claim</vt:lpstr>
      <vt:lpstr>Stage 3: Rules/adjuster creates exposures</vt:lpstr>
      <vt:lpstr>(Notes only slide)</vt:lpstr>
      <vt:lpstr>Stage 4: Rules/adjuster creates reserves</vt:lpstr>
      <vt:lpstr>Stage 5: Users complete activities</vt:lpstr>
      <vt:lpstr>Stage 6: Claim &amp; exposures become payable</vt:lpstr>
      <vt:lpstr>Stage 7: Checks are issued</vt:lpstr>
      <vt:lpstr>Stage 8: Exposures and claim are closed</vt:lpstr>
      <vt:lpstr>No one-to-one correspondence of steps</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Claims Process</dc:title>
  <dc:creator>Tom Rhoades</dc:creator>
  <dc:description>1040</dc:description>
  <cp:lastModifiedBy>Guidewire Education</cp:lastModifiedBy>
  <cp:revision>1750</cp:revision>
  <dcterms:created xsi:type="dcterms:W3CDTF">2007-08-02T20:13:16Z</dcterms:created>
  <dcterms:modified xsi:type="dcterms:W3CDTF">2015-01-12T23:28:08Z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_MarkAsFinal">
    <vt:bool>true</vt:bool>
  </property>
  <property fmtid="{D5CDD505-2E9C-101B-9397-08002B2CF9AE}" pid="5" name="ContentTypeId">
    <vt:lpwstr>0x010100E519429F521E9142A0249EFDF4D90F58</vt:lpwstr>
  </property>
  <property fmtid="{D5CDD505-2E9C-101B-9397-08002B2CF9AE}" pid="6" name="Order">
    <vt:r8>70100</vt:r8>
  </property>
  <property fmtid="{D5CDD505-2E9C-101B-9397-08002B2CF9AE}" pid="7" name="xd_Signature">
    <vt:bool>false</vt:bool>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y fmtid="{D5CDD505-2E9C-101B-9397-08002B2CF9AE}" pid="15" name="MediaServiceImageTags">
    <vt:lpwstr/>
  </property>
</Properties>
</file>