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40"/>
  </p:notesMasterIdLst>
  <p:handoutMasterIdLst>
    <p:handoutMasterId r:id="rId41"/>
  </p:handoutMasterIdLst>
  <p:sldIdLst>
    <p:sldId id="1192" r:id="rId5"/>
    <p:sldId id="1299" r:id="rId6"/>
    <p:sldId id="1739" r:id="rId7"/>
    <p:sldId id="1749" r:id="rId8"/>
    <p:sldId id="1744" r:id="rId9"/>
    <p:sldId id="1748" r:id="rId10"/>
    <p:sldId id="1747" r:id="rId11"/>
    <p:sldId id="1678" r:id="rId12"/>
    <p:sldId id="1765" r:id="rId13"/>
    <p:sldId id="1750" r:id="rId14"/>
    <p:sldId id="1760" r:id="rId15"/>
    <p:sldId id="1733" r:id="rId16"/>
    <p:sldId id="1732" r:id="rId17"/>
    <p:sldId id="1767" r:id="rId18"/>
    <p:sldId id="1772" r:id="rId19"/>
    <p:sldId id="1770" r:id="rId20"/>
    <p:sldId id="1766" r:id="rId21"/>
    <p:sldId id="1692" r:id="rId22"/>
    <p:sldId id="1696" r:id="rId23"/>
    <p:sldId id="1700" r:id="rId24"/>
    <p:sldId id="1695" r:id="rId25"/>
    <p:sldId id="1768" r:id="rId26"/>
    <p:sldId id="1708" r:id="rId27"/>
    <p:sldId id="1711" r:id="rId28"/>
    <p:sldId id="1712" r:id="rId29"/>
    <p:sldId id="1769" r:id="rId30"/>
    <p:sldId id="1720" r:id="rId31"/>
    <p:sldId id="1721" r:id="rId32"/>
    <p:sldId id="1757" r:id="rId33"/>
    <p:sldId id="1758" r:id="rId34"/>
    <p:sldId id="1775" r:id="rId35"/>
    <p:sldId id="1776" r:id="rId36"/>
    <p:sldId id="1551" r:id="rId37"/>
    <p:sldId id="1554" r:id="rId38"/>
    <p:sldId id="1777" r:id="rId39"/>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4"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FF0000"/>
    <a:srgbClr val="FFFF00"/>
    <a:srgbClr val="CCFFCC"/>
    <a:srgbClr val="3366FF"/>
    <a:srgbClr val="CC66FF"/>
    <a:srgbClr val="CC99FF"/>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64481-A810-4131-ADC8-D47CDAC09DC5}" v="1" dt="2023-03-11T21:42:14.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259" autoAdjust="0"/>
  </p:normalViewPr>
  <p:slideViewPr>
    <p:cSldViewPr snapToGrid="0">
      <p:cViewPr varScale="1">
        <p:scale>
          <a:sx n="39" d="100"/>
          <a:sy n="39" d="100"/>
        </p:scale>
        <p:origin x="2060" y="48"/>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a, Vallabhu" userId="S::vallabhu.anusha@capgemini.com::1875f2d5-06bf-42e8-b7e3-95ec4170a0af" providerId="AD" clId="Web-{45494C5B-B090-4291-8D88-B731993809FB}"/>
    <pc:docChg chg="modSld">
      <pc:chgData name="Anusha, Vallabhu" userId="S::vallabhu.anusha@capgemini.com::1875f2d5-06bf-42e8-b7e3-95ec4170a0af" providerId="AD" clId="Web-{45494C5B-B090-4291-8D88-B731993809FB}" dt="2021-12-12T07:38:14.162" v="4" actId="14100"/>
      <pc:docMkLst>
        <pc:docMk/>
      </pc:docMkLst>
      <pc:sldChg chg="modSp">
        <pc:chgData name="Anusha, Vallabhu" userId="S::vallabhu.anusha@capgemini.com::1875f2d5-06bf-42e8-b7e3-95ec4170a0af" providerId="AD" clId="Web-{45494C5B-B090-4291-8D88-B731993809FB}" dt="2021-12-12T07:38:14.162" v="4" actId="14100"/>
        <pc:sldMkLst>
          <pc:docMk/>
          <pc:sldMk cId="0" sldId="1750"/>
        </pc:sldMkLst>
        <pc:picChg chg="mod">
          <ac:chgData name="Anusha, Vallabhu" userId="S::vallabhu.anusha@capgemini.com::1875f2d5-06bf-42e8-b7e3-95ec4170a0af" providerId="AD" clId="Web-{45494C5B-B090-4291-8D88-B731993809FB}" dt="2021-12-12T07:38:14.162" v="4" actId="14100"/>
          <ac:picMkLst>
            <pc:docMk/>
            <pc:sldMk cId="0" sldId="1750"/>
            <ac:picMk id="5" creationId="{00000000-0000-0000-0000-000000000000}"/>
          </ac:picMkLst>
        </pc:picChg>
      </pc:sldChg>
    </pc:docChg>
  </pc:docChgLst>
  <pc:docChgLst>
    <pc:chgData name="Sandeep, Mullapati" userId="S::mullapati.sandeep@capgemini.com::71e64f6b-cce0-4a88-9479-3464c2b03103" providerId="AD" clId="Web-{048662F7-7C6D-4B07-B283-54D4651DAE15}"/>
    <pc:docChg chg="modSld">
      <pc:chgData name="Sandeep, Mullapati" userId="S::mullapati.sandeep@capgemini.com::71e64f6b-cce0-4a88-9479-3464c2b03103" providerId="AD" clId="Web-{048662F7-7C6D-4B07-B283-54D4651DAE15}" dt="2021-12-12T08:12:54.531" v="4"/>
      <pc:docMkLst>
        <pc:docMk/>
      </pc:docMkLst>
      <pc:sldChg chg="addSp">
        <pc:chgData name="Sandeep, Mullapati" userId="S::mullapati.sandeep@capgemini.com::71e64f6b-cce0-4a88-9479-3464c2b03103" providerId="AD" clId="Web-{048662F7-7C6D-4B07-B283-54D4651DAE15}" dt="2021-12-12T07:50:11.804" v="0"/>
        <pc:sldMkLst>
          <pc:docMk/>
          <pc:sldMk cId="0" sldId="1192"/>
        </pc:sldMkLst>
        <pc:spChg chg="add">
          <ac:chgData name="Sandeep, Mullapati" userId="S::mullapati.sandeep@capgemini.com::71e64f6b-cce0-4a88-9479-3464c2b03103" providerId="AD" clId="Web-{048662F7-7C6D-4B07-B283-54D4651DAE15}" dt="2021-12-12T07:50:11.804" v="0"/>
          <ac:spMkLst>
            <pc:docMk/>
            <pc:sldMk cId="0" sldId="1192"/>
            <ac:spMk id="2" creationId="{6175EB29-F144-4E1D-AC44-2430B6C2B696}"/>
          </ac:spMkLst>
        </pc:spChg>
      </pc:sldChg>
      <pc:sldChg chg="addSp">
        <pc:chgData name="Sandeep, Mullapati" userId="S::mullapati.sandeep@capgemini.com::71e64f6b-cce0-4a88-9479-3464c2b03103" providerId="AD" clId="Web-{048662F7-7C6D-4B07-B283-54D4651DAE15}" dt="2021-12-12T08:12:54.531" v="4"/>
        <pc:sldMkLst>
          <pc:docMk/>
          <pc:sldMk cId="0" sldId="1732"/>
        </pc:sldMkLst>
        <pc:spChg chg="add">
          <ac:chgData name="Sandeep, Mullapati" userId="S::mullapati.sandeep@capgemini.com::71e64f6b-cce0-4a88-9479-3464c2b03103" providerId="AD" clId="Web-{048662F7-7C6D-4B07-B283-54D4651DAE15}" dt="2021-12-12T08:12:47.562" v="1"/>
          <ac:spMkLst>
            <pc:docMk/>
            <pc:sldMk cId="0" sldId="1732"/>
            <ac:spMk id="2" creationId="{A60EE751-83F4-4313-AAEE-E5686C4B6F56}"/>
          </ac:spMkLst>
        </pc:spChg>
        <pc:spChg chg="add">
          <ac:chgData name="Sandeep, Mullapati" userId="S::mullapati.sandeep@capgemini.com::71e64f6b-cce0-4a88-9479-3464c2b03103" providerId="AD" clId="Web-{048662F7-7C6D-4B07-B283-54D4651DAE15}" dt="2021-12-12T08:12:53.078" v="2"/>
          <ac:spMkLst>
            <pc:docMk/>
            <pc:sldMk cId="0" sldId="1732"/>
            <ac:spMk id="3" creationId="{030E191A-F961-4447-8D25-D098F3F44A5F}"/>
          </ac:spMkLst>
        </pc:spChg>
        <pc:spChg chg="add">
          <ac:chgData name="Sandeep, Mullapati" userId="S::mullapati.sandeep@capgemini.com::71e64f6b-cce0-4a88-9479-3464c2b03103" providerId="AD" clId="Web-{048662F7-7C6D-4B07-B283-54D4651DAE15}" dt="2021-12-12T08:12:53.969" v="3"/>
          <ac:spMkLst>
            <pc:docMk/>
            <pc:sldMk cId="0" sldId="1732"/>
            <ac:spMk id="4" creationId="{B08367F0-9B7E-460C-AB2F-32596BB447BA}"/>
          </ac:spMkLst>
        </pc:spChg>
        <pc:spChg chg="add">
          <ac:chgData name="Sandeep, Mullapati" userId="S::mullapati.sandeep@capgemini.com::71e64f6b-cce0-4a88-9479-3464c2b03103" providerId="AD" clId="Web-{048662F7-7C6D-4B07-B283-54D4651DAE15}" dt="2021-12-12T08:12:54.531" v="4"/>
          <ac:spMkLst>
            <pc:docMk/>
            <pc:sldMk cId="0" sldId="1732"/>
            <ac:spMk id="5" creationId="{3CD0C4B9-4AD2-4CE0-A529-553D0FCE6A42}"/>
          </ac:spMkLst>
        </pc:spChg>
      </pc:sldChg>
    </pc:docChg>
  </pc:docChgLst>
  <pc:docChgLst>
    <pc:chgData name="Y, Kumuda" userId="S::kumuda.y@capgemini.com::133706b2-2f15-4244-9c41-0e9aacea991e" providerId="AD" clId="Web-{7B678FF0-7FA5-4F2B-A3B7-318BAEF8D58D}"/>
    <pc:docChg chg="modSld">
      <pc:chgData name="Y, Kumuda" userId="S::kumuda.y@capgemini.com::133706b2-2f15-4244-9c41-0e9aacea991e" providerId="AD" clId="Web-{7B678FF0-7FA5-4F2B-A3B7-318BAEF8D58D}" dt="2023-03-02T04:56:25.511" v="1" actId="1076"/>
      <pc:docMkLst>
        <pc:docMk/>
      </pc:docMkLst>
      <pc:sldChg chg="modSp">
        <pc:chgData name="Y, Kumuda" userId="S::kumuda.y@capgemini.com::133706b2-2f15-4244-9c41-0e9aacea991e" providerId="AD" clId="Web-{7B678FF0-7FA5-4F2B-A3B7-318BAEF8D58D}" dt="2023-03-02T04:56:25.511" v="1" actId="1076"/>
        <pc:sldMkLst>
          <pc:docMk/>
          <pc:sldMk cId="0" sldId="1712"/>
        </pc:sldMkLst>
        <pc:picChg chg="mod">
          <ac:chgData name="Y, Kumuda" userId="S::kumuda.y@capgemini.com::133706b2-2f15-4244-9c41-0e9aacea991e" providerId="AD" clId="Web-{7B678FF0-7FA5-4F2B-A3B7-318BAEF8D58D}" dt="2023-03-02T04:56:25.511" v="1" actId="1076"/>
          <ac:picMkLst>
            <pc:docMk/>
            <pc:sldMk cId="0" sldId="1712"/>
            <ac:picMk id="6146" creationId="{00000000-0000-0000-0000-000000000000}"/>
          </ac:picMkLst>
        </pc:picChg>
      </pc:sldChg>
      <pc:sldChg chg="modSp">
        <pc:chgData name="Y, Kumuda" userId="S::kumuda.y@capgemini.com::133706b2-2f15-4244-9c41-0e9aacea991e" providerId="AD" clId="Web-{7B678FF0-7FA5-4F2B-A3B7-318BAEF8D58D}" dt="2023-03-02T04:18:41.399" v="0" actId="1076"/>
        <pc:sldMkLst>
          <pc:docMk/>
          <pc:sldMk cId="0" sldId="1747"/>
        </pc:sldMkLst>
        <pc:spChg chg="mod">
          <ac:chgData name="Y, Kumuda" userId="S::kumuda.y@capgemini.com::133706b2-2f15-4244-9c41-0e9aacea991e" providerId="AD" clId="Web-{7B678FF0-7FA5-4F2B-A3B7-318BAEF8D58D}" dt="2023-03-02T04:18:41.399" v="0" actId="1076"/>
          <ac:spMkLst>
            <pc:docMk/>
            <pc:sldMk cId="0" sldId="1747"/>
            <ac:spMk id="10245" creationId="{00000000-0000-0000-0000-000000000000}"/>
          </ac:spMkLst>
        </pc:spChg>
      </pc:sldChg>
    </pc:docChg>
  </pc:docChgLst>
  <pc:docChgLst>
    <pc:chgData name="Somineni, Jhansi" userId="S::jhansi.somineni@capgemini.com::50099ca3-bf74-401f-838b-7362698ececb" providerId="AD" clId="Web-{8383355F-4481-4D3E-9A6B-388F81BB8BD0}"/>
    <pc:docChg chg="modSld">
      <pc:chgData name="Somineni, Jhansi" userId="S::jhansi.somineni@capgemini.com::50099ca3-bf74-401f-838b-7362698ececb" providerId="AD" clId="Web-{8383355F-4481-4D3E-9A6B-388F81BB8BD0}" dt="2021-11-30T04:06:28.999" v="0" actId="1076"/>
      <pc:docMkLst>
        <pc:docMk/>
      </pc:docMkLst>
      <pc:sldChg chg="modSp">
        <pc:chgData name="Somineni, Jhansi" userId="S::jhansi.somineni@capgemini.com::50099ca3-bf74-401f-838b-7362698ececb" providerId="AD" clId="Web-{8383355F-4481-4D3E-9A6B-388F81BB8BD0}" dt="2021-11-30T04:06:28.999" v="0" actId="1076"/>
        <pc:sldMkLst>
          <pc:docMk/>
          <pc:sldMk cId="0" sldId="1747"/>
        </pc:sldMkLst>
        <pc:spChg chg="mod">
          <ac:chgData name="Somineni, Jhansi" userId="S::jhansi.somineni@capgemini.com::50099ca3-bf74-401f-838b-7362698ececb" providerId="AD" clId="Web-{8383355F-4481-4D3E-9A6B-388F81BB8BD0}" dt="2021-11-30T04:06:28.999" v="0" actId="1076"/>
          <ac:spMkLst>
            <pc:docMk/>
            <pc:sldMk cId="0" sldId="1747"/>
            <ac:spMk id="10253" creationId="{00000000-0000-0000-0000-000000000000}"/>
          </ac:spMkLst>
        </pc:spChg>
      </pc:sldChg>
    </pc:docChg>
  </pc:docChgLst>
  <pc:docChgLst>
    <pc:chgData name="Y, Kumuda" userId="S::kumuda.y@capgemini.com::133706b2-2f15-4244-9c41-0e9aacea991e" providerId="AD" clId="Web-{52CCA9D6-56B0-4BCD-A601-3D029926E93D}"/>
    <pc:docChg chg="modSld">
      <pc:chgData name="Y, Kumuda" userId="S::kumuda.y@capgemini.com::133706b2-2f15-4244-9c41-0e9aacea991e" providerId="AD" clId="Web-{52CCA9D6-56B0-4BCD-A601-3D029926E93D}" dt="2023-03-01T10:59:49.450" v="0" actId="1076"/>
      <pc:docMkLst>
        <pc:docMk/>
      </pc:docMkLst>
      <pc:sldChg chg="modSp">
        <pc:chgData name="Y, Kumuda" userId="S::kumuda.y@capgemini.com::133706b2-2f15-4244-9c41-0e9aacea991e" providerId="AD" clId="Web-{52CCA9D6-56B0-4BCD-A601-3D029926E93D}" dt="2023-03-01T10:59:49.450" v="0" actId="1076"/>
        <pc:sldMkLst>
          <pc:docMk/>
          <pc:sldMk cId="0" sldId="1767"/>
        </pc:sldMkLst>
        <pc:spChg chg="mod">
          <ac:chgData name="Y, Kumuda" userId="S::kumuda.y@capgemini.com::133706b2-2f15-4244-9c41-0e9aacea991e" providerId="AD" clId="Web-{52CCA9D6-56B0-4BCD-A601-3D029926E93D}" dt="2023-03-01T10:59:49.450" v="0" actId="1076"/>
          <ac:spMkLst>
            <pc:docMk/>
            <pc:sldMk cId="0" sldId="1767"/>
            <ac:spMk id="17423" creationId="{00000000-0000-0000-0000-000000000000}"/>
          </ac:spMkLst>
        </pc:spChg>
      </pc:sldChg>
    </pc:docChg>
  </pc:docChgLst>
  <pc:docChgLst>
    <pc:chgData name="Vishwakarma, Saurabh" userId="S::saurabh.vishwakarma@capgemini.com::046ba3e6-8b02-4bf5-af74-a7867f6be388" providerId="AD" clId="Web-{350469F1-D1C9-4937-A004-4697F771CD24}"/>
    <pc:docChg chg="modSld">
      <pc:chgData name="Vishwakarma, Saurabh" userId="S::saurabh.vishwakarma@capgemini.com::046ba3e6-8b02-4bf5-af74-a7867f6be388" providerId="AD" clId="Web-{350469F1-D1C9-4937-A004-4697F771CD24}" dt="2021-12-12T09:38:15.522" v="0" actId="1076"/>
      <pc:docMkLst>
        <pc:docMk/>
      </pc:docMkLst>
      <pc:sldChg chg="modSp">
        <pc:chgData name="Vishwakarma, Saurabh" userId="S::saurabh.vishwakarma@capgemini.com::046ba3e6-8b02-4bf5-af74-a7867f6be388" providerId="AD" clId="Web-{350469F1-D1C9-4937-A004-4697F771CD24}" dt="2021-12-12T09:38:15.522" v="0" actId="1076"/>
        <pc:sldMkLst>
          <pc:docMk/>
          <pc:sldMk cId="0" sldId="1757"/>
        </pc:sldMkLst>
        <pc:spChg chg="mod">
          <ac:chgData name="Vishwakarma, Saurabh" userId="S::saurabh.vishwakarma@capgemini.com::046ba3e6-8b02-4bf5-af74-a7867f6be388" providerId="AD" clId="Web-{350469F1-D1C9-4937-A004-4697F771CD24}" dt="2021-12-12T09:38:15.522" v="0" actId="1076"/>
          <ac:spMkLst>
            <pc:docMk/>
            <pc:sldMk cId="0" sldId="1757"/>
            <ac:spMk id="33795" creationId="{00000000-0000-0000-0000-000000000000}"/>
          </ac:spMkLst>
        </pc:spChg>
      </pc:sldChg>
    </pc:docChg>
  </pc:docChgLst>
  <pc:docChgLst>
    <pc:chgData name="R, Nisarga" userId="S::nisarga.r@capgemini.com::30f0e15f-2e34-423e-b4d9-b8d8ed63b483" providerId="AD" clId="Web-{EC077D44-213C-4C5B-A0DF-75C3F8034F8C}"/>
    <pc:docChg chg="modSld">
      <pc:chgData name="R, Nisarga" userId="S::nisarga.r@capgemini.com::30f0e15f-2e34-423e-b4d9-b8d8ed63b483" providerId="AD" clId="Web-{EC077D44-213C-4C5B-A0DF-75C3F8034F8C}" dt="2021-12-13T02:59:52.549" v="3"/>
      <pc:docMkLst>
        <pc:docMk/>
      </pc:docMkLst>
      <pc:sldChg chg="delSp">
        <pc:chgData name="R, Nisarga" userId="S::nisarga.r@capgemini.com::30f0e15f-2e34-423e-b4d9-b8d8ed63b483" providerId="AD" clId="Web-{EC077D44-213C-4C5B-A0DF-75C3F8034F8C}" dt="2021-12-13T02:59:52.549" v="3"/>
        <pc:sldMkLst>
          <pc:docMk/>
          <pc:sldMk cId="0" sldId="1732"/>
        </pc:sldMkLst>
        <pc:spChg chg="del">
          <ac:chgData name="R, Nisarga" userId="S::nisarga.r@capgemini.com::30f0e15f-2e34-423e-b4d9-b8d8ed63b483" providerId="AD" clId="Web-{EC077D44-213C-4C5B-A0DF-75C3F8034F8C}" dt="2021-12-13T02:59:52.549" v="3"/>
          <ac:spMkLst>
            <pc:docMk/>
            <pc:sldMk cId="0" sldId="1732"/>
            <ac:spMk id="2" creationId="{A60EE751-83F4-4313-AAEE-E5686C4B6F56}"/>
          </ac:spMkLst>
        </pc:spChg>
        <pc:spChg chg="del">
          <ac:chgData name="R, Nisarga" userId="S::nisarga.r@capgemini.com::30f0e15f-2e34-423e-b4d9-b8d8ed63b483" providerId="AD" clId="Web-{EC077D44-213C-4C5B-A0DF-75C3F8034F8C}" dt="2021-12-13T02:59:50.268" v="2"/>
          <ac:spMkLst>
            <pc:docMk/>
            <pc:sldMk cId="0" sldId="1732"/>
            <ac:spMk id="3" creationId="{030E191A-F961-4447-8D25-D098F3F44A5F}"/>
          </ac:spMkLst>
        </pc:spChg>
        <pc:spChg chg="del">
          <ac:chgData name="R, Nisarga" userId="S::nisarga.r@capgemini.com::30f0e15f-2e34-423e-b4d9-b8d8ed63b483" providerId="AD" clId="Web-{EC077D44-213C-4C5B-A0DF-75C3F8034F8C}" dt="2021-12-13T02:59:41.158" v="0"/>
          <ac:spMkLst>
            <pc:docMk/>
            <pc:sldMk cId="0" sldId="1732"/>
            <ac:spMk id="4" creationId="{B08367F0-9B7E-460C-AB2F-32596BB447BA}"/>
          </ac:spMkLst>
        </pc:spChg>
        <pc:spChg chg="del">
          <ac:chgData name="R, Nisarga" userId="S::nisarga.r@capgemini.com::30f0e15f-2e34-423e-b4d9-b8d8ed63b483" providerId="AD" clId="Web-{EC077D44-213C-4C5B-A0DF-75C3F8034F8C}" dt="2021-12-13T02:59:44.674" v="1"/>
          <ac:spMkLst>
            <pc:docMk/>
            <pc:sldMk cId="0" sldId="1732"/>
            <ac:spMk id="5" creationId="{3CD0C4B9-4AD2-4CE0-A529-553D0FCE6A42}"/>
          </ac:spMkLst>
        </pc:spChg>
      </pc:sldChg>
    </pc:docChg>
  </pc:docChgLst>
  <pc:docChgLst>
    <pc:chgData name="Kaur, Sukhpreet" userId="d89ead39-1d12-48ad-bb65-e2efefaaf534" providerId="ADAL" clId="{7D964481-A810-4131-ADC8-D47CDAC09DC5}"/>
    <pc:docChg chg="modSld">
      <pc:chgData name="Kaur, Sukhpreet" userId="d89ead39-1d12-48ad-bb65-e2efefaaf534" providerId="ADAL" clId="{7D964481-A810-4131-ADC8-D47CDAC09DC5}" dt="2023-03-11T21:42:14.123" v="0" actId="1076"/>
      <pc:docMkLst>
        <pc:docMk/>
      </pc:docMkLst>
      <pc:sldChg chg="modSp">
        <pc:chgData name="Kaur, Sukhpreet" userId="d89ead39-1d12-48ad-bb65-e2efefaaf534" providerId="ADAL" clId="{7D964481-A810-4131-ADC8-D47CDAC09DC5}" dt="2023-03-11T21:42:14.123" v="0" actId="1076"/>
        <pc:sldMkLst>
          <pc:docMk/>
          <pc:sldMk cId="0" sldId="1758"/>
        </pc:sldMkLst>
        <pc:spChg chg="mod">
          <ac:chgData name="Kaur, Sukhpreet" userId="d89ead39-1d12-48ad-bb65-e2efefaaf534" providerId="ADAL" clId="{7D964481-A810-4131-ADC8-D47CDAC09DC5}" dt="2023-03-11T21:42:14.123" v="0" actId="1076"/>
          <ac:spMkLst>
            <pc:docMk/>
            <pc:sldMk cId="0" sldId="1758"/>
            <ac:spMk id="34818" creationId="{00000000-0000-0000-0000-000000000000}"/>
          </ac:spMkLst>
        </pc:spChg>
      </pc:sldChg>
    </pc:docChg>
  </pc:docChgLst>
  <pc:docChgLst>
    <pc:chgData name="Kumar Gali, Rama Venkata Satish" userId="S::rama-venkata-satish.kumar-gali@capgemini.com::23c3349d-79e8-46ed-93c0-1c3a366f9f61" providerId="AD" clId="Web-{8051406E-9DF0-97D7-93E9-A9B48A17D2BF}"/>
    <pc:docChg chg="addSld delSld">
      <pc:chgData name="Kumar Gali, Rama Venkata Satish" userId="S::rama-venkata-satish.kumar-gali@capgemini.com::23c3349d-79e8-46ed-93c0-1c3a366f9f61" providerId="AD" clId="Web-{8051406E-9DF0-97D7-93E9-A9B48A17D2BF}" dt="2022-09-20T09:01:09.101" v="1"/>
      <pc:docMkLst>
        <pc:docMk/>
      </pc:docMkLst>
      <pc:sldChg chg="new del">
        <pc:chgData name="Kumar Gali, Rama Venkata Satish" userId="S::rama-venkata-satish.kumar-gali@capgemini.com::23c3349d-79e8-46ed-93c0-1c3a366f9f61" providerId="AD" clId="Web-{8051406E-9DF0-97D7-93E9-A9B48A17D2BF}" dt="2022-09-20T09:01:09.101" v="1"/>
        <pc:sldMkLst>
          <pc:docMk/>
          <pc:sldMk cId="1517137090" sldId="1778"/>
        </pc:sldMkLst>
      </pc:sldChg>
    </pc:docChg>
  </pc:docChgLst>
  <pc:docChgLst>
    <pc:chgData name="Anusha, Vallabhu" userId="S::vallabhu.anusha@capgemini.com::1875f2d5-06bf-42e8-b7e3-95ec4170a0af" providerId="AD" clId="Web-{2E7F0FBB-77A9-4261-AE59-0C5A36F316BD}"/>
    <pc:docChg chg="modSld">
      <pc:chgData name="Anusha, Vallabhu" userId="S::vallabhu.anusha@capgemini.com::1875f2d5-06bf-42e8-b7e3-95ec4170a0af" providerId="AD" clId="Web-{2E7F0FBB-77A9-4261-AE59-0C5A36F316BD}" dt="2021-12-12T07:37:36.571" v="0" actId="1076"/>
      <pc:docMkLst>
        <pc:docMk/>
      </pc:docMkLst>
      <pc:sldChg chg="modSp">
        <pc:chgData name="Anusha, Vallabhu" userId="S::vallabhu.anusha@capgemini.com::1875f2d5-06bf-42e8-b7e3-95ec4170a0af" providerId="AD" clId="Web-{2E7F0FBB-77A9-4261-AE59-0C5A36F316BD}" dt="2021-12-12T07:37:36.571" v="0" actId="1076"/>
        <pc:sldMkLst>
          <pc:docMk/>
          <pc:sldMk cId="0" sldId="1750"/>
        </pc:sldMkLst>
        <pc:picChg chg="mod">
          <ac:chgData name="Anusha, Vallabhu" userId="S::vallabhu.anusha@capgemini.com::1875f2d5-06bf-42e8-b7e3-95ec4170a0af" providerId="AD" clId="Web-{2E7F0FBB-77A9-4261-AE59-0C5A36F316BD}" dt="2021-12-12T07:37:36.571" v="0" actId="1076"/>
          <ac:picMkLst>
            <pc:docMk/>
            <pc:sldMk cId="0" sldId="1750"/>
            <ac:picMk id="5" creationId="{00000000-0000-0000-0000-000000000000}"/>
          </ac:picMkLst>
        </pc:picChg>
      </pc:sldChg>
    </pc:docChg>
  </pc:docChgLst>
  <pc:docChgLst>
    <pc:chgData name="Somineni, Jhansi" userId="50099ca3-bf74-401f-838b-7362698ececb" providerId="ADAL" clId="{5988EFA2-4723-4379-90A5-36EE467FB090}"/>
    <pc:docChg chg="modSld">
      <pc:chgData name="Somineni, Jhansi" userId="50099ca3-bf74-401f-838b-7362698ececb" providerId="ADAL" clId="{5988EFA2-4723-4379-90A5-36EE467FB090}" dt="2021-11-26T09:27:53.362" v="4" actId="1076"/>
      <pc:docMkLst>
        <pc:docMk/>
      </pc:docMkLst>
      <pc:sldChg chg="modSp">
        <pc:chgData name="Somineni, Jhansi" userId="50099ca3-bf74-401f-838b-7362698ececb" providerId="ADAL" clId="{5988EFA2-4723-4379-90A5-36EE467FB090}" dt="2021-11-26T09:24:12.328" v="2" actId="1076"/>
        <pc:sldMkLst>
          <pc:docMk/>
          <pc:sldMk cId="0" sldId="1700"/>
        </pc:sldMkLst>
        <pc:picChg chg="mod">
          <ac:chgData name="Somineni, Jhansi" userId="50099ca3-bf74-401f-838b-7362698ececb" providerId="ADAL" clId="{5988EFA2-4723-4379-90A5-36EE467FB090}" dt="2021-11-26T09:24:12.328" v="2" actId="1076"/>
          <ac:picMkLst>
            <pc:docMk/>
            <pc:sldMk cId="0" sldId="1700"/>
            <ac:picMk id="2" creationId="{00000000-0000-0000-0000-000000000000}"/>
          </ac:picMkLst>
        </pc:picChg>
      </pc:sldChg>
      <pc:sldChg chg="modSp">
        <pc:chgData name="Somineni, Jhansi" userId="50099ca3-bf74-401f-838b-7362698ececb" providerId="ADAL" clId="{5988EFA2-4723-4379-90A5-36EE467FB090}" dt="2021-11-26T09:27:53.362" v="4" actId="1076"/>
        <pc:sldMkLst>
          <pc:docMk/>
          <pc:sldMk cId="0" sldId="1708"/>
        </pc:sldMkLst>
        <pc:spChg chg="mod">
          <ac:chgData name="Somineni, Jhansi" userId="50099ca3-bf74-401f-838b-7362698ececb" providerId="ADAL" clId="{5988EFA2-4723-4379-90A5-36EE467FB090}" dt="2021-11-26T09:27:53.362" v="4" actId="1076"/>
          <ac:spMkLst>
            <pc:docMk/>
            <pc:sldMk cId="0" sldId="1708"/>
            <ac:spMk id="27651" creationId="{00000000-0000-0000-0000-000000000000}"/>
          </ac:spMkLst>
        </pc:spChg>
        <pc:picChg chg="mod">
          <ac:chgData name="Somineni, Jhansi" userId="50099ca3-bf74-401f-838b-7362698ececb" providerId="ADAL" clId="{5988EFA2-4723-4379-90A5-36EE467FB090}" dt="2021-11-26T09:27:50.858" v="3" actId="1076"/>
          <ac:picMkLst>
            <pc:docMk/>
            <pc:sldMk cId="0" sldId="1708"/>
            <ac:picMk id="4098" creationId="{00000000-0000-0000-0000-000000000000}"/>
          </ac:picMkLst>
        </pc:picChg>
      </pc:sldChg>
      <pc:sldChg chg="modSp">
        <pc:chgData name="Somineni, Jhansi" userId="50099ca3-bf74-401f-838b-7362698ececb" providerId="ADAL" clId="{5988EFA2-4723-4379-90A5-36EE467FB090}" dt="2021-11-26T06:27:45.134" v="1" actId="1036"/>
        <pc:sldMkLst>
          <pc:docMk/>
          <pc:sldMk cId="0" sldId="1750"/>
        </pc:sldMkLst>
        <pc:picChg chg="mod">
          <ac:chgData name="Somineni, Jhansi" userId="50099ca3-bf74-401f-838b-7362698ececb" providerId="ADAL" clId="{5988EFA2-4723-4379-90A5-36EE467FB090}" dt="2021-11-26T06:27:45.134" v="1" actId="1036"/>
          <ac:picMkLst>
            <pc:docMk/>
            <pc:sldMk cId="0" sldId="1750"/>
            <ac:picMk id="5" creationId="{00000000-0000-0000-0000-000000000000}"/>
          </ac:picMkLst>
        </pc:picChg>
      </pc:sldChg>
    </pc:docChg>
  </pc:docChgLst>
  <pc:docChgLst>
    <pc:chgData name="Ausula, Sai" userId="S::ai.ausula@capgemini.com::b67f5b40-227b-4ec8-8e28-1f967c45dad9" providerId="AD" clId="Web-{FFD8F491-3076-496F-990D-61EC36C23044}"/>
    <pc:docChg chg="modSld">
      <pc:chgData name="Ausula, Sai" userId="S::ai.ausula@capgemini.com::b67f5b40-227b-4ec8-8e28-1f967c45dad9" providerId="AD" clId="Web-{FFD8F491-3076-496F-990D-61EC36C23044}" dt="2021-11-26T09:41:57.131" v="5" actId="20577"/>
      <pc:docMkLst>
        <pc:docMk/>
      </pc:docMkLst>
      <pc:sldChg chg="addSp modSp">
        <pc:chgData name="Ausula, Sai" userId="S::ai.ausula@capgemini.com::b67f5b40-227b-4ec8-8e28-1f967c45dad9" providerId="AD" clId="Web-{FFD8F491-3076-496F-990D-61EC36C23044}" dt="2021-11-26T09:41:57.131" v="5" actId="20577"/>
        <pc:sldMkLst>
          <pc:docMk/>
          <pc:sldMk cId="0" sldId="1299"/>
        </pc:sldMkLst>
        <pc:spChg chg="add mod">
          <ac:chgData name="Ausula, Sai" userId="S::ai.ausula@capgemini.com::b67f5b40-227b-4ec8-8e28-1f967c45dad9" providerId="AD" clId="Web-{FFD8F491-3076-496F-990D-61EC36C23044}" dt="2021-11-26T09:41:57.131" v="5" actId="20577"/>
          <ac:spMkLst>
            <pc:docMk/>
            <pc:sldMk cId="0" sldId="1299"/>
            <ac:spMk id="2" creationId="{27060B5B-4E86-4432-99BD-81FF1E5A92C3}"/>
          </ac:spMkLst>
        </pc:spChg>
        <pc:spChg chg="add mod">
          <ac:chgData name="Ausula, Sai" userId="S::ai.ausula@capgemini.com::b67f5b40-227b-4ec8-8e28-1f967c45dad9" providerId="AD" clId="Web-{FFD8F491-3076-496F-990D-61EC36C23044}" dt="2021-11-26T09:41:51.412" v="3" actId="20577"/>
          <ac:spMkLst>
            <pc:docMk/>
            <pc:sldMk cId="0" sldId="1299"/>
            <ac:spMk id="3" creationId="{9235A7FF-24A2-4A3F-B208-8F447C2AB170}"/>
          </ac:spMkLst>
        </pc:spChg>
      </pc:sldChg>
    </pc:docChg>
  </pc:docChgLst>
  <pc:docChgLst>
    <pc:chgData name="Y, Kumuda" userId="S::kumuda.y@capgemini.com::133706b2-2f15-4244-9c41-0e9aacea991e" providerId="AD" clId="Web-{DB55F866-AFC9-49F1-9C9D-69A4C83A21FC}"/>
    <pc:docChg chg="modSld">
      <pc:chgData name="Y, Kumuda" userId="S::kumuda.y@capgemini.com::133706b2-2f15-4244-9c41-0e9aacea991e" providerId="AD" clId="Web-{DB55F866-AFC9-49F1-9C9D-69A4C83A21FC}" dt="2023-02-19T05:41:55.454" v="1"/>
      <pc:docMkLst>
        <pc:docMk/>
      </pc:docMkLst>
      <pc:sldChg chg="modNotes">
        <pc:chgData name="Y, Kumuda" userId="S::kumuda.y@capgemini.com::133706b2-2f15-4244-9c41-0e9aacea991e" providerId="AD" clId="Web-{DB55F866-AFC9-49F1-9C9D-69A4C83A21FC}" dt="2023-02-19T05:41:55.454" v="1"/>
        <pc:sldMkLst>
          <pc:docMk/>
          <pc:sldMk cId="0" sldId="1748"/>
        </pc:sldMkLst>
      </pc:sldChg>
    </pc:docChg>
  </pc:docChgLst>
  <pc:docChgLst>
    <pc:chgData name="Reddy, Kalli Santosh" userId="S::kalli-santosh.reddy@capgemini.com::9573a3a3-572d-4a6b-9a0a-358f48ca0f0c" providerId="AD" clId="Web-{BEDD9931-B38A-8D4C-3C78-FAAB3EE4FFE4}"/>
    <pc:docChg chg="modSld">
      <pc:chgData name="Reddy, Kalli Santosh" userId="S::kalli-santosh.reddy@capgemini.com::9573a3a3-572d-4a6b-9a0a-358f48ca0f0c" providerId="AD" clId="Web-{BEDD9931-B38A-8D4C-3C78-FAAB3EE4FFE4}" dt="2022-05-16T05:08:13.412" v="0"/>
      <pc:docMkLst>
        <pc:docMk/>
      </pc:docMkLst>
      <pc:sldChg chg="delSp">
        <pc:chgData name="Reddy, Kalli Santosh" userId="S::kalli-santosh.reddy@capgemini.com::9573a3a3-572d-4a6b-9a0a-358f48ca0f0c" providerId="AD" clId="Web-{BEDD9931-B38A-8D4C-3C78-FAAB3EE4FFE4}" dt="2022-05-16T05:08:13.412" v="0"/>
        <pc:sldMkLst>
          <pc:docMk/>
          <pc:sldMk cId="0" sldId="1192"/>
        </pc:sldMkLst>
        <pc:spChg chg="del">
          <ac:chgData name="Reddy, Kalli Santosh" userId="S::kalli-santosh.reddy@capgemini.com::9573a3a3-572d-4a6b-9a0a-358f48ca0f0c" providerId="AD" clId="Web-{BEDD9931-B38A-8D4C-3C78-FAAB3EE4FFE4}" dt="2022-05-16T05:08:13.412" v="0"/>
          <ac:spMkLst>
            <pc:docMk/>
            <pc:sldMk cId="0" sldId="1192"/>
            <ac:spMk id="2" creationId="{6175EB29-F144-4E1D-AC44-2430B6C2B69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D9A78C50-99F7-44F7-80FD-2C211162A0EA}" type="slidenum">
              <a:rPr lang="en-US" altLang="en-US"/>
              <a:pPr>
                <a:defRPr/>
              </a:pPr>
              <a:t>‹#›</a:t>
            </a:fld>
            <a:endParaRPr lang="en-US" altLang="en-US"/>
          </a:p>
        </p:txBody>
      </p:sp>
    </p:spTree>
    <p:extLst>
      <p:ext uri="{BB962C8B-B14F-4D97-AF65-F5344CB8AC3E}">
        <p14:creationId xmlns:p14="http://schemas.microsoft.com/office/powerpoint/2010/main" val="25080491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BEF8B674-1AD7-46D6-A057-015BCB49F81A}"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Validation Rules - </a:t>
            </a:r>
            <a:fld id="{98B99296-272D-446B-BA3F-3995708D31D2}" type="slidenum">
              <a:rPr lang="en-US" altLang="en-US"/>
              <a:pPr>
                <a:defRPr/>
              </a:pPr>
              <a:t>‹#›</a:t>
            </a:fld>
            <a:endParaRPr lang="en-US" altLang="en-US"/>
          </a:p>
        </p:txBody>
      </p:sp>
    </p:spTree>
    <p:extLst>
      <p:ext uri="{BB962C8B-B14F-4D97-AF65-F5344CB8AC3E}">
        <p14:creationId xmlns:p14="http://schemas.microsoft.com/office/powerpoint/2010/main" val="1495812756"/>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9E759AAD-2187-4CEC-AD48-7598EF73A38E}" type="slidenum">
              <a:rPr lang="en-US" altLang="en-US" sz="1200" b="0" smtClean="0">
                <a:solidFill>
                  <a:schemeClr val="tx1"/>
                </a:solidFill>
              </a:rPr>
              <a:pPr eaLnBrk="1" hangingPunct="1"/>
              <a:t>1</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xfrm>
            <a:off x="715963" y="630238"/>
            <a:ext cx="5430837"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20A4F6A7-302A-4942-B49A-DE231E71942D}" type="slidenum">
              <a:rPr lang="en-US" altLang="en-US" sz="1200" b="0" smtClean="0">
                <a:solidFill>
                  <a:schemeClr val="tx1"/>
                </a:solidFill>
              </a:rPr>
              <a:pPr eaLnBrk="1" hangingPunct="1"/>
              <a:t>2</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3555DF8A-3D9B-4E2A-A3EE-7E693BDB10DC}" type="slidenum">
              <a:rPr lang="en-US" altLang="en-US" sz="1200" b="0" smtClean="0">
                <a:solidFill>
                  <a:schemeClr val="tx1"/>
                </a:solidFill>
              </a:rPr>
              <a:pPr eaLnBrk="1" hangingPunct="1"/>
              <a:t>3</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E6978022-081B-4085-BE5F-3B74BC03B082}" type="slidenum">
              <a:rPr lang="en-US" altLang="en-US" sz="1200" b="0" smtClean="0">
                <a:solidFill>
                  <a:schemeClr val="tx1"/>
                </a:solidFill>
              </a:rPr>
              <a:pPr eaLnBrk="1" hangingPunct="1"/>
              <a:t>4</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type of validation is common to all Guidewire products. The second type of validation is somewhat unique to ClaimCenter, at least in terms of how it is implemented.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69DB61BD-9A28-45B7-ACBE-1B2C770B5C77}" type="slidenum">
              <a:rPr lang="en-US" altLang="en-US" sz="1200" b="0" smtClean="0">
                <a:solidFill>
                  <a:schemeClr val="tx1"/>
                </a:solidFill>
              </a:rPr>
              <a:pPr eaLnBrk="1" hangingPunct="1"/>
              <a:t>5</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the validation logic states that if a claim's fault rating is "no fault", then the state where the loss occurred is required. (This is because different states have different laws surrounding "no fault" accidents.)</a:t>
            </a:r>
          </a:p>
          <a:p>
            <a:pPr eaLnBrk="1" hangingPunct="1"/>
            <a:r>
              <a:rPr lang="en-US"/>
              <a:t>In the top example, the claim is modified in a way that does not meet the validation logic. When the user clicks Update, the save is prevented.</a:t>
            </a:r>
          </a:p>
          <a:p>
            <a:pPr eaLnBrk="1" hangingPunct="1"/>
            <a:r>
              <a:rPr lang="en-US"/>
              <a:t>In the bottom example, the claim is modified in a way that meets the validation logic. When the user clicks Update, the save is allowed.</a:t>
            </a:r>
          </a:p>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3AD5A7B6-4876-4677-B4A7-4994DD31CF12}" type="slidenum">
              <a:rPr lang="en-US" altLang="en-US" sz="1200" b="0" smtClean="0">
                <a:solidFill>
                  <a:schemeClr val="tx1"/>
                </a:solidFill>
              </a:rPr>
              <a:pPr eaLnBrk="1" hangingPunct="1"/>
              <a:t>6</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a:cs typeface="Arial"/>
              </a:rPr>
              <a:t>In the example, the validation logic states that when a claim is at or beyond "level 3", then the county is required.</a:t>
            </a:r>
          </a:p>
          <a:p>
            <a:pPr eaLnBrk="1" hangingPunct="1"/>
            <a:r>
              <a:rPr lang="en-US">
                <a:latin typeface="Arial"/>
                <a:cs typeface="Arial"/>
              </a:rPr>
              <a:t>In the top example, the claim is modified in a way that does not meet the validation logic. When the user clicks Update, the save is  allowed, but the object does not get promoted. (Because the object is not yet at level 3, the county is not yet required. Because is county is not specified, the object cannot be promoted to level 3.)</a:t>
            </a:r>
          </a:p>
          <a:p>
            <a:pPr eaLnBrk="1" hangingPunct="1"/>
            <a:r>
              <a:rPr lang="en-US">
                <a:latin typeface="Arial"/>
                <a:cs typeface="Arial"/>
              </a:rPr>
              <a:t>In the bottom example, the claim is modified in a way that meets the validation logic. When the user clicks Update, the save is allowed and the object is promoted. (This assumes that the object also meets all other conditions at its current level and at level 3.)</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364C17D3-7140-491D-B94B-AC7CABFC04A6}" type="slidenum">
              <a:rPr lang="en-US" altLang="en-US" sz="1200" b="0" smtClean="0">
                <a:solidFill>
                  <a:schemeClr val="tx1"/>
                </a:solidFill>
              </a:rPr>
              <a:pPr eaLnBrk="1" hangingPunct="1"/>
              <a:t>7</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the validation logic states that when a claim is at or beyond level 3, then the county is required. (This could be because an external system requires the county to execute its work.)</a:t>
            </a:r>
          </a:p>
          <a:p>
            <a:pPr eaLnBrk="1" hangingPunct="1"/>
            <a:r>
              <a:rPr lang="en-US"/>
              <a:t>In the top example, the claim is modified in a way that does not meet the validation logic. When the user clicks Update, the save is prevented. This is because allowing the save would cause the object to logically fall below level 3. Objects in ClaimCenter are not allowed to move backwards in maturity. (This is often a requirement because levels correspond to information being sent to external systems. For example, at level 3, information may be sent to an external system to verify that same claim has not been filed elsewhere. In order to do this, the county is required. If the county were to be set to null, then this would cause the external system to be out of sync with regards to the claim.)</a:t>
            </a:r>
          </a:p>
          <a:p>
            <a:pPr eaLnBrk="1" hangingPunct="1"/>
            <a:r>
              <a:rPr lang="en-US"/>
              <a:t>In the bottom example, the claim is modified in a way that meets the validation logic. When the user clicks Update, the save is allowed. Because the object is already at or beyond level 3, promotion does not occur. (If the change causes the claim to meet other conditions at levels beyond the current level (such as level 5), then it is possible the claim could be further promoted to those higher levels.)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E5CC06CB-F1A4-42FC-887D-BDFA7DBAA226}" type="slidenum">
              <a:rPr lang="en-US" altLang="en-US" sz="1200" b="0" smtClean="0">
                <a:solidFill>
                  <a:schemeClr val="tx1"/>
                </a:solidFill>
              </a:rPr>
              <a:pPr eaLnBrk="1" hangingPunct="1"/>
              <a:t>8</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Validation</a:t>
            </a:r>
            <a:r>
              <a:rPr lang="en-US" baseline="0" dirty="0"/>
              <a:t> Rules can be thought of as “Maturity Validation Rules” since their main purpose is to ensure data is valid at a certain level of object maturity, and that changes to data do not let the object move to a lower level of maturity. That is the focus of this lesson. The examples shown are a review of field validators and validation expressions. </a:t>
            </a:r>
            <a:br>
              <a:rPr lang="en-US" dirty="0"/>
            </a:br>
            <a:br>
              <a:rPr lang="en-US" dirty="0"/>
            </a:br>
            <a:r>
              <a:rPr lang="en-US" dirty="0"/>
              <a:t>A field validator is a "pattern" tied to a datatype. Any field of that datatype must match the pattern.</a:t>
            </a:r>
          </a:p>
          <a:p>
            <a:pPr eaLnBrk="1" hangingPunct="1"/>
            <a:r>
              <a:rPr lang="en-US" dirty="0"/>
              <a:t>A validation expression is an expression tied to a widget. When the expression returns null, validation succeeds. When the expression returns a string, validation fails and the string is displayed.</a:t>
            </a:r>
          </a:p>
          <a:p>
            <a:pPr eaLnBrk="1" hangingPunct="1"/>
            <a:r>
              <a:rPr lang="en-US" dirty="0"/>
              <a:t>Both field validators and validation expressions are used for simple "invalid data" validation</a:t>
            </a:r>
            <a:r>
              <a:rPr lang="en-US" baseline="0" dirty="0"/>
              <a:t> and</a:t>
            </a:r>
            <a:r>
              <a:rPr lang="en-US" dirty="0"/>
              <a:t> are discussed in the "Configuration Fundamentals" course.</a:t>
            </a:r>
          </a:p>
          <a:p>
            <a:pPr lvl="1" eaLnBrk="1" hangingPunct="1"/>
            <a:endParaRPr lang="en-US" dirty="0"/>
          </a:p>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AD7269FE-169E-43B2-94E5-FE9BA37408E6}" type="slidenum">
              <a:rPr lang="en-US" altLang="en-US" sz="1200" b="0" smtClean="0">
                <a:solidFill>
                  <a:schemeClr val="tx1"/>
                </a:solidFill>
              </a:rPr>
              <a:pPr eaLnBrk="1" hangingPunct="1"/>
              <a:t>9</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5A773622-EA43-44D6-9854-8736AA1B1466}" type="slidenum">
              <a:rPr lang="en-US" altLang="en-US" sz="1200" b="0" smtClean="0">
                <a:solidFill>
                  <a:schemeClr val="tx1"/>
                </a:solidFill>
              </a:rPr>
              <a:pPr eaLnBrk="1" hangingPunct="1"/>
              <a:t>10</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only validation rule sets which enforce object maturity are the claim and exposure validation rule sets. There are other validation rule sets.</a:t>
            </a:r>
          </a:p>
          <a:p>
            <a:pPr lvl="1" eaLnBrk="1" hangingPunct="1"/>
            <a:r>
              <a:rPr lang="en-US"/>
              <a:t>Claim Closed, Claim Reopened, Exposure Closed, Exposure Reopened, Matter Closed, and Matter Reopened rules are used to control whether a claim, exposure, or matter in a given state can be closed or reopened. These rules are not discussed in detail in this course.</a:t>
            </a:r>
          </a:p>
          <a:p>
            <a:pPr lvl="1" eaLnBrk="1" hangingPunct="1"/>
            <a:r>
              <a:rPr lang="en-US"/>
              <a:t>Transaction Validation rules are used to enforce the complex processing inherent to transaction validation. These rules are discussed in the "Transaction Validation Rules" lesson.</a:t>
            </a:r>
          </a:p>
          <a:p>
            <a:pPr lvl="1" eaLnBrk="1" hangingPunct="1"/>
            <a:r>
              <a:rPr lang="en-US"/>
              <a:t>Policy Validation rules exist as a way of ensuring some basic validation for unverified policies. Verified policies, that come from the policy system of record, shouldn’t require any validation if the data is good. Having said that, policies </a:t>
            </a:r>
            <a:r>
              <a:rPr lang="en-US" u="sng"/>
              <a:t>are</a:t>
            </a:r>
            <a:r>
              <a:rPr lang="en-US"/>
              <a:t> validated when they are retrieved, so you could also use these rules to catch bad data.</a:t>
            </a:r>
          </a:p>
          <a:p>
            <a:pPr eaLnBrk="1" hangingPunct="1"/>
            <a:r>
              <a:rPr lang="en-US"/>
              <a:t>There are additional validation rule sets, but there is rarely a reason to create rules within these rule sets.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0359D913-5BFA-4F84-9C7C-962B258628B6}" type="slidenum">
              <a:rPr lang="en-US" altLang="en-US" sz="1200" b="0" smtClean="0">
                <a:solidFill>
                  <a:schemeClr val="tx1"/>
                </a:solidFill>
              </a:rPr>
              <a:pPr eaLnBrk="1" hangingPunct="1"/>
              <a:t>11</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validation levels are defined in the </a:t>
            </a:r>
            <a:r>
              <a:rPr lang="en-US" dirty="0" err="1"/>
              <a:t>ValidationLevel.ttx</a:t>
            </a:r>
            <a:r>
              <a:rPr lang="en-US" dirty="0"/>
              <a:t> (extended) </a:t>
            </a:r>
            <a:r>
              <a:rPr lang="en-US" dirty="0" err="1"/>
              <a:t>typelist</a:t>
            </a:r>
            <a:r>
              <a:rPr lang="en-US" dirty="0"/>
              <a:t>, including the code that you use in </a:t>
            </a:r>
            <a:r>
              <a:rPr lang="en-US" dirty="0" err="1"/>
              <a:t>Gosu</a:t>
            </a:r>
            <a:r>
              <a:rPr lang="en-US" dirty="0"/>
              <a:t> to refer to the levels. The </a:t>
            </a:r>
            <a:r>
              <a:rPr lang="en-US" dirty="0" err="1"/>
              <a:t>loadsave</a:t>
            </a:r>
            <a:r>
              <a:rPr lang="en-US" dirty="0"/>
              <a:t>, </a:t>
            </a:r>
            <a:r>
              <a:rPr lang="en-US" dirty="0" err="1"/>
              <a:t>newloss</a:t>
            </a:r>
            <a:r>
              <a:rPr lang="en-US" dirty="0"/>
              <a:t>, and payment levels are required by </a:t>
            </a:r>
            <a:r>
              <a:rPr lang="en-US" dirty="0" err="1"/>
              <a:t>ClaimCenter</a:t>
            </a:r>
            <a:r>
              <a:rPr lang="en-US" dirty="0"/>
              <a:t> and can not be removed. You can remove iso or external levels or configure additional levels. The priority specifies the ordering, with the highest priority being the earliest validation level.</a:t>
            </a:r>
          </a:p>
          <a:p>
            <a:pPr eaLnBrk="1" hangingPunct="1"/>
            <a:r>
              <a:rPr lang="en-US" dirty="0"/>
              <a:t>There is no built-in behavior attached to the "Valid for ISO" and "Send to external system" levels. The first could be used to enforce compliance for claims submitted to ISO, and the second could be used to verify an object is mature enough that data bout it can be sent to external systems. Integration programs can be written to take validation level into account. For example, a claim might exist in </a:t>
            </a:r>
            <a:r>
              <a:rPr lang="en-US" dirty="0" err="1"/>
              <a:t>ClaimCenter</a:t>
            </a:r>
            <a:r>
              <a:rPr lang="en-US" dirty="0"/>
              <a:t> at the "New loss completion" level, but not be sent to a back-end system until "Send to external system" is achieved. (One reason why claims are not allowed to "go backwards" in validation level is that they may have already been sent to an external system based on validation level achieved.)</a:t>
            </a:r>
            <a:br>
              <a:rPr lang="en-US" dirty="0"/>
            </a:br>
            <a:r>
              <a:rPr lang="en-US" dirty="0"/>
              <a:t>In general, customers can add as many validation levels as they need to support their business and integration requirements. </a:t>
            </a:r>
          </a:p>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C43B59E3-87B0-4977-B45E-89FA2225993C}" type="slidenum">
              <a:rPr lang="en-US" altLang="en-US" sz="1200" b="0" smtClean="0">
                <a:solidFill>
                  <a:schemeClr val="tx1"/>
                </a:solidFill>
              </a:rPr>
              <a:pPr eaLnBrk="1" hangingPunct="1"/>
              <a:t>12</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AED13A38-A115-47D2-9759-62249A5AD06D}" type="slidenum">
              <a:rPr lang="en-US" altLang="en-US" sz="1200" b="0" smtClean="0">
                <a:solidFill>
                  <a:schemeClr val="tx1"/>
                </a:solidFill>
              </a:rPr>
              <a:pPr eaLnBrk="1" hangingPunct="1"/>
              <a:t>13</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t>Preupdate</a:t>
            </a:r>
            <a:r>
              <a:rPr lang="en-US" dirty="0"/>
              <a:t> rules are for editing or creating objects.</a:t>
            </a:r>
          </a:p>
          <a:p>
            <a:pPr eaLnBrk="1" hangingPunct="1"/>
            <a:r>
              <a:rPr lang="en-US" dirty="0"/>
              <a:t>Validation rules are for validating that the objects are ready to be saved in their current state.</a:t>
            </a:r>
          </a:p>
          <a:p>
            <a:pPr eaLnBrk="1" hangingPunct="1"/>
            <a:endParaRPr lang="en-US" i="1" dirty="0"/>
          </a:p>
          <a:p>
            <a:pPr eaLnBrk="1" hangingPunct="1"/>
            <a:r>
              <a:rPr lang="en-US" i="1" dirty="0"/>
              <a:t>reject()</a:t>
            </a:r>
            <a:r>
              <a:rPr lang="en-US" dirty="0"/>
              <a:t> functions are never called in </a:t>
            </a:r>
            <a:r>
              <a:rPr lang="en-US" dirty="0" err="1"/>
              <a:t>preupdate</a:t>
            </a:r>
            <a:r>
              <a:rPr lang="en-US" dirty="0"/>
              <a:t> rules.</a:t>
            </a:r>
          </a:p>
          <a:p>
            <a:pPr eaLnBrk="1" hangingPunct="1"/>
            <a:r>
              <a:rPr lang="en-US" dirty="0"/>
              <a:t>Changes or additions are never made in validation rules.</a:t>
            </a:r>
          </a:p>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80351644-A227-41C5-9B01-D0EC8DE102DA}" type="slidenum">
              <a:rPr lang="en-US" altLang="en-US" sz="1200" b="0" smtClean="0">
                <a:solidFill>
                  <a:schemeClr val="tx1"/>
                </a:solidFill>
              </a:rPr>
              <a:pPr eaLnBrk="1" hangingPunct="1"/>
              <a:t>14</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Validation rules always promote an object to the highest possible level</a:t>
            </a:r>
            <a:r>
              <a:rPr lang="en-US" baseline="0"/>
              <a:t> of maturity.</a:t>
            </a:r>
            <a:endParaRPr lang="en-US"/>
          </a:p>
          <a:p>
            <a:pPr eaLnBrk="1" hangingPunct="1"/>
            <a:r>
              <a:rPr lang="en-US"/>
              <a:t>As the result of a change, if an object does not meet all of the conditions at the next higher level (and does not violate any conditions at the current or lower levels), then the given change is allowed, but no promotion occurs. This is true even if the object meets all conditions at some level beyond the next highest level. In the example above, the object meets all conditions at level 4. But it is at level 2, and promotion occurs only when it meets all conditions at the next highest level, which is level 3.</a:t>
            </a:r>
          </a:p>
          <a:p>
            <a:pPr eaLnBrk="1" hangingPunct="1"/>
            <a:r>
              <a:rPr lang="en-US"/>
              <a:t>As the result of a change, if an object does meet all of the conditions at the next higher level (and does not violate any conditions at the current or lower levels), then the given change is allowed, and promotion occurs as far as possible. This could result in a promotion only to the next highest level. Or, as shown in the example above, this could result in a promotion of multiple levels.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8394F9D4-F0C7-485D-AB10-BB79B9A3284B}" type="slidenum">
              <a:rPr lang="en-US" altLang="en-US" sz="1200" b="0" smtClean="0">
                <a:solidFill>
                  <a:schemeClr val="tx1"/>
                </a:solidFill>
              </a:rPr>
              <a:pPr eaLnBrk="1" hangingPunct="1"/>
              <a:t>15</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Claims can have related sub-objects. Whenever the claim itself is created or modified, claim validation rules are run. Whenever a sub-object of the claim is created or changed (such as the creation of a document or a change to</a:t>
            </a:r>
            <a:r>
              <a:rPr lang="en-US" baseline="0" dirty="0"/>
              <a:t> the progress of a</a:t>
            </a:r>
            <a:r>
              <a:rPr lang="en-US" dirty="0"/>
              <a:t> service request), claim validation rules are also run. This is because validation logic might exist at the claim level which pertains to information at the sub-object level. (There could be a claim validation rule which says you can have only one "policy not in force at time of loss" document, or a claim validation rule which says you</a:t>
            </a:r>
            <a:r>
              <a:rPr lang="en-US" baseline="0" dirty="0"/>
              <a:t> cannot create an invoice related to a service request with a null reference number</a:t>
            </a:r>
            <a:r>
              <a:rPr lang="en-US" dirty="0"/>
              <a:t>.) The same holds true for exposure validation.</a:t>
            </a:r>
          </a:p>
          <a:p>
            <a:pPr eaLnBrk="1" hangingPunct="1"/>
            <a:r>
              <a:rPr lang="en-US" dirty="0"/>
              <a:t>This hierarchy of validation is sometimes referred to as the "validation graph".</a:t>
            </a:r>
          </a:p>
          <a:p>
            <a:pPr eaLnBrk="1" hangingPunct="1"/>
            <a:r>
              <a:rPr lang="en-US" dirty="0"/>
              <a:t>Some data model tags such as &lt;array&gt;, &lt;</a:t>
            </a:r>
            <a:r>
              <a:rPr lang="en-US" dirty="0" err="1"/>
              <a:t>onetoone</a:t>
            </a:r>
            <a:r>
              <a:rPr lang="en-US" dirty="0"/>
              <a:t>&gt;, and &lt;</a:t>
            </a:r>
            <a:r>
              <a:rPr lang="en-US" dirty="0" err="1"/>
              <a:t>foreignkey</a:t>
            </a:r>
            <a:r>
              <a:rPr lang="en-US" dirty="0"/>
              <a:t>&gt; have an attribute called "</a:t>
            </a:r>
            <a:r>
              <a:rPr lang="en-US" dirty="0" err="1"/>
              <a:t>triggersValidation</a:t>
            </a:r>
            <a:r>
              <a:rPr lang="en-US" dirty="0"/>
              <a:t>". This Boolean attribute, when set to true, ensures that changes to any entities pointed to by these tags trigger validation of the parent entity. </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862CE670-171B-4BB7-848B-45D3E0E954EB}" type="slidenum">
              <a:rPr lang="en-US" altLang="en-US" sz="1200" b="0" smtClean="0">
                <a:solidFill>
                  <a:schemeClr val="tx1"/>
                </a:solidFill>
              </a:rPr>
              <a:pPr eaLnBrk="1" hangingPunct="1"/>
              <a:t>16</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diagram above does not exhaustively list </a:t>
            </a:r>
            <a:r>
              <a:rPr lang="en-US" i="1"/>
              <a:t>all</a:t>
            </a:r>
            <a:r>
              <a:rPr lang="en-US"/>
              <a:t> sub-objects which can trigger validation. For a complete list, refer to the ClaimCenter Data Dictionary</a:t>
            </a:r>
            <a:r>
              <a:rPr lang="en-US" baseline="0"/>
              <a:t> or the ClaimCenter Rules Guide (Documentation resource).</a:t>
            </a:r>
            <a:endParaRPr lang="en-US"/>
          </a:p>
          <a:p>
            <a:pPr eaLnBrk="1" hangingPunct="1"/>
            <a:r>
              <a:rPr lang="en-US"/>
              <a:t>Every array depicted in the above slide has the </a:t>
            </a:r>
            <a:r>
              <a:rPr lang="en-US" err="1"/>
              <a:t>triggersValidation</a:t>
            </a:r>
            <a:r>
              <a:rPr lang="en-US"/>
              <a:t> attribute set to true. This is easily configurable for existing as well as new arrays.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6B65A3ED-CFE4-41CC-B3A6-11E0B2D1CCFE}" type="slidenum">
              <a:rPr lang="en-US" altLang="en-US" sz="1200" b="0" smtClean="0">
                <a:solidFill>
                  <a:schemeClr val="tx1"/>
                </a:solidFill>
              </a:rPr>
              <a:pPr eaLnBrk="1" hangingPunct="1"/>
              <a:t>17</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A0DF527A-A8CE-493C-B808-35599F77C70B}" type="slidenum">
              <a:rPr lang="en-US" altLang="en-US" sz="1200" b="0" smtClean="0">
                <a:solidFill>
                  <a:schemeClr val="tx1"/>
                </a:solidFill>
              </a:rPr>
              <a:pPr eaLnBrk="1" hangingPunct="1"/>
              <a:t>18</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example shown is not taken from the base application but the result of creating</a:t>
            </a:r>
            <a:r>
              <a:rPr lang="en-US" baseline="0"/>
              <a:t> and </a:t>
            </a:r>
            <a:r>
              <a:rPr lang="en-US"/>
              <a:t>configuring a new Claim Validation Rule</a:t>
            </a:r>
            <a:r>
              <a:rPr lang="en-US" baseline="0"/>
              <a:t>.</a:t>
            </a:r>
            <a:endParaRPr lang="en-US"/>
          </a:p>
          <a:p>
            <a:pPr eaLnBrk="1" hangingPunct="1"/>
            <a:endParaRPr lang="en-US"/>
          </a:p>
          <a:p>
            <a:pPr marL="0" marR="0" indent="0" algn="l" defTabSz="914400" rtl="0" eaLnBrk="1" fontAlgn="base" latinLnBrk="0" hangingPunct="1">
              <a:lnSpc>
                <a:spcPct val="100000"/>
              </a:lnSpc>
              <a:spcBef>
                <a:spcPct val="10000"/>
              </a:spcBef>
              <a:spcAft>
                <a:spcPct val="0"/>
              </a:spcAft>
              <a:buClrTx/>
              <a:buSzTx/>
              <a:buFontTx/>
              <a:buNone/>
              <a:tabLst/>
              <a:defRPr/>
            </a:pPr>
            <a:r>
              <a:rPr lang="en-US"/>
              <a:t>In the example above, if the</a:t>
            </a:r>
            <a:r>
              <a:rPr lang="en-US" baseline="0"/>
              <a:t> address of the Claim’s Loss Location contains a null </a:t>
            </a:r>
            <a:r>
              <a:rPr lang="en-US"/>
              <a:t>city,</a:t>
            </a:r>
            <a:r>
              <a:rPr lang="en-US" baseline="0"/>
              <a:t> </a:t>
            </a:r>
            <a:r>
              <a:rPr lang="en-US"/>
              <a:t>state or postal (zip) code, then an error is raised at the "iso" level with the error appearing</a:t>
            </a:r>
            <a:r>
              <a:rPr lang="en-US" baseline="0"/>
              <a:t> in the Validation Results workspace</a:t>
            </a:r>
            <a:r>
              <a:rPr lang="en-US"/>
              <a:t>. The field in question has a “Zip Code” label</a:t>
            </a:r>
            <a:r>
              <a:rPr lang="en-US" baseline="0"/>
              <a:t> (in the US Language Pack), but the field is named </a:t>
            </a:r>
            <a:r>
              <a:rPr lang="en-US" baseline="0" err="1"/>
              <a:t>PostalCode</a:t>
            </a:r>
            <a:r>
              <a:rPr lang="en-US" baseline="0"/>
              <a:t>. For the purposes of this lesson, a Zip Code and a Postal Code are the same thing.</a:t>
            </a:r>
            <a:endParaRPr lang="en-US"/>
          </a:p>
          <a:p>
            <a:pPr marL="0" marR="0" indent="0" algn="l" defTabSz="914400" rtl="0" eaLnBrk="1" fontAlgn="base" latinLnBrk="0" hangingPunct="1">
              <a:lnSpc>
                <a:spcPct val="100000"/>
              </a:lnSpc>
              <a:spcBef>
                <a:spcPct val="10000"/>
              </a:spcBef>
              <a:spcAft>
                <a:spcPct val="0"/>
              </a:spcAft>
              <a:buClrTx/>
              <a:buSzTx/>
              <a:buFontTx/>
              <a:buNone/>
              <a:tabLst/>
              <a:defRPr/>
            </a:pPr>
            <a:endParaRPr lang="en-US"/>
          </a:p>
          <a:p>
            <a:pPr marL="0" marR="0" indent="0" algn="l" defTabSz="914400" rtl="0" eaLnBrk="1" fontAlgn="base" latinLnBrk="0" hangingPunct="1">
              <a:lnSpc>
                <a:spcPct val="100000"/>
              </a:lnSpc>
              <a:spcBef>
                <a:spcPct val="10000"/>
              </a:spcBef>
              <a:spcAft>
                <a:spcPct val="0"/>
              </a:spcAft>
              <a:buClrTx/>
              <a:buSzTx/>
              <a:buFontTx/>
              <a:buNone/>
              <a:tabLst/>
              <a:defRPr/>
            </a:pPr>
            <a:r>
              <a:rPr lang="en-US"/>
              <a:t>It</a:t>
            </a:r>
            <a:r>
              <a:rPr lang="en-US" baseline="0"/>
              <a:t> must be noted that in the example, while the claim is at “iso”, if the claim was validated above that maturity level, the error would still appear, it is still a change that is triggering a lower validation level acceptance. </a:t>
            </a:r>
            <a:endParaRPr lang="en-US"/>
          </a:p>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60446FB9-85E0-492F-BA80-D94902238846}" type="slidenum">
              <a:rPr lang="en-US" altLang="en-US" sz="1200" b="0" smtClean="0">
                <a:solidFill>
                  <a:schemeClr val="tx1"/>
                </a:solidFill>
              </a:rPr>
              <a:pPr eaLnBrk="1" hangingPunct="1"/>
              <a:t>19</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The example shown is not taken from the base application but the result of creating</a:t>
            </a:r>
            <a:r>
              <a:rPr lang="en-US" baseline="0"/>
              <a:t> and </a:t>
            </a:r>
            <a:r>
              <a:rPr lang="en-US"/>
              <a:t>configuring a new Claim Validation Rule</a:t>
            </a:r>
            <a:r>
              <a:rPr lang="en-US" baseline="0"/>
              <a:t>.</a:t>
            </a:r>
            <a:br>
              <a:rPr lang="en-US"/>
            </a:br>
            <a:br>
              <a:rPr lang="en-US"/>
            </a:br>
            <a:r>
              <a:rPr lang="en-US"/>
              <a:t>The only visual distinction in the user interface between a warning and an error is the icon.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77E5C399-1692-48F1-AAB8-3A4669B35973}" type="slidenum">
              <a:rPr lang="en-US" altLang="en-US" sz="1200" b="0" smtClean="0">
                <a:solidFill>
                  <a:schemeClr val="tx1"/>
                </a:solidFill>
              </a:rPr>
              <a:pPr eaLnBrk="1" hangingPunct="1"/>
              <a:t>20</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 and exposure validation levels are independent of one another. A claim could be at "ability to pay" even though all of its exposures are at "new loss completion". Similarly, a claim could be at "new loss completion" even though all of its exposures are at "ability to pay".</a:t>
            </a:r>
          </a:p>
          <a:p>
            <a:pPr eaLnBrk="1" hangingPunct="1"/>
            <a:r>
              <a:rPr lang="en-US"/>
              <a:t>In the base application, one of the primary aspects of functionality tied to validation levels is the payment wizard. You cannot initiate the payment wizard if the claim is not at ability to pay (regardless of the maturity of the exposures). If the claim is at ability to pay, you can initiate the payment wizard. However, you can create payments only from reserve lines whose exposures are at "ability to pay". If the claim is at "ability to pay" but none of its exposures are, then you can start the payment wizard, but you have no reserve lines from which to make payments.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98B59726-6DF0-402D-8934-08B1122E04FB}" type="slidenum">
              <a:rPr lang="en-US" altLang="en-US" sz="1200" b="0" smtClean="0">
                <a:solidFill>
                  <a:schemeClr val="tx1"/>
                </a:solidFill>
              </a:rPr>
              <a:pPr eaLnBrk="1" hangingPunct="1"/>
              <a:t>21</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Recall</a:t>
            </a:r>
            <a:r>
              <a:rPr lang="en-US" baseline="0"/>
              <a:t> that a</a:t>
            </a:r>
            <a:r>
              <a:rPr lang="en-US"/>
              <a:t> user can validate a claim (and its exposures) at a certain validation level using the</a:t>
            </a:r>
            <a:r>
              <a:rPr lang="en-US" baseline="0"/>
              <a:t> menu actions shown above</a:t>
            </a:r>
            <a:r>
              <a:rPr lang="en-US"/>
              <a:t>. This lets the user check for errors at validation levels that the object has not yet attained. The user can specify which validation level to check for a claim or a claim and its exposures. ClaimCenter will check all validation rules for the specified validation level and below. Any warnings or error messages generated by the validation rules for this claim or the claim's exposures are displayed for the user. </a:t>
            </a:r>
          </a:p>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96E62862-E601-416C-8ED6-5FA44CBA2B9E}" type="slidenum">
              <a:rPr lang="en-US" altLang="en-US" sz="1200" b="0" smtClean="0">
                <a:solidFill>
                  <a:schemeClr val="tx1"/>
                </a:solidFill>
              </a:rPr>
              <a:pPr eaLnBrk="1" hangingPunct="1"/>
              <a:t>22</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199811BC-5722-44AE-959A-12C7BE19E5A2}" type="slidenum">
              <a:rPr lang="en-US" altLang="en-US" sz="1200" b="0" smtClean="0">
                <a:solidFill>
                  <a:schemeClr val="tx1"/>
                </a:solidFill>
              </a:rPr>
              <a:pPr eaLnBrk="1" hangingPunct="1"/>
              <a:t>23</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if a claim's loss location's city, state or postal code is null, then an error is raised at the "</a:t>
            </a:r>
            <a:r>
              <a:rPr lang="en-US" err="1"/>
              <a:t>iso</a:t>
            </a:r>
            <a:r>
              <a:rPr lang="en-US"/>
              <a:t>" level (or higher)</a:t>
            </a:r>
            <a:r>
              <a:rPr lang="en-US" baseline="0"/>
              <a:t> </a:t>
            </a:r>
            <a:r>
              <a:rPr lang="en-US"/>
              <a:t>with the associated text message.</a:t>
            </a:r>
          </a:p>
          <a:p>
            <a:pPr lvl="1" eaLnBrk="1" hangingPunct="1"/>
            <a:r>
              <a:rPr lang="en-US"/>
              <a:t>If the claim is not yet at the "</a:t>
            </a:r>
            <a:r>
              <a:rPr lang="en-US" err="1"/>
              <a:t>iso</a:t>
            </a:r>
            <a:r>
              <a:rPr lang="en-US"/>
              <a:t>" level, then this condition will prevent the claim from being promoted to "</a:t>
            </a:r>
            <a:r>
              <a:rPr lang="en-US" err="1"/>
              <a:t>iso</a:t>
            </a:r>
            <a:r>
              <a:rPr lang="en-US"/>
              <a:t>". However, no error message is displayed. (In this situation, a user has created or modified a claim in which the city, state, or postal code is blank. Because the claim is not at "</a:t>
            </a:r>
            <a:r>
              <a:rPr lang="en-US" err="1"/>
              <a:t>iso</a:t>
            </a:r>
            <a:r>
              <a:rPr lang="en-US"/>
              <a:t>" level, the creation or change is permitted, but the claim cannot yet be promoted to "</a:t>
            </a:r>
            <a:r>
              <a:rPr lang="en-US" err="1"/>
              <a:t>iso</a:t>
            </a:r>
            <a:r>
              <a:rPr lang="en-US"/>
              <a:t>" level.)</a:t>
            </a:r>
          </a:p>
          <a:p>
            <a:pPr lvl="1" eaLnBrk="1" hangingPunct="1"/>
            <a:r>
              <a:rPr lang="en-US"/>
              <a:t>If the claim is already at or beyond the "</a:t>
            </a:r>
            <a:r>
              <a:rPr lang="en-US" err="1"/>
              <a:t>iso</a:t>
            </a:r>
            <a:r>
              <a:rPr lang="en-US"/>
              <a:t>" level, then this condition will prevent the change from occurring. The error message will be displayed. (In this situation, a user has modified a claim in which the city, state, or postal code is blank. Because the claim is at or beyond "</a:t>
            </a:r>
            <a:r>
              <a:rPr lang="en-US" err="1"/>
              <a:t>iso</a:t>
            </a:r>
            <a:r>
              <a:rPr lang="en-US"/>
              <a:t>" level, the creation or change not allowed. Allowing the change would logically move the claim backwards in maturity.)</a:t>
            </a:r>
          </a:p>
          <a:p>
            <a:pPr lvl="1"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1B8AAE6F-B5F8-4B73-AC9A-1EB16AC6E100}" type="slidenum">
              <a:rPr lang="en-US" altLang="en-US" sz="1200" b="0" smtClean="0">
                <a:solidFill>
                  <a:schemeClr val="tx1"/>
                </a:solidFill>
              </a:rPr>
              <a:pPr eaLnBrk="1" hangingPunct="1"/>
              <a:t>24</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only difference between a reject warning and a reject error is the arguments passed to the reject method.</a:t>
            </a:r>
          </a:p>
          <a:p>
            <a:pPr eaLnBrk="1" hangingPunct="1"/>
            <a:r>
              <a:rPr lang="en-GB"/>
              <a:t>Many customers use validation levels to trigger integration programs. However, not all customers will want to provide proactive warnings to users about what they need to do to achieve the next level. In this case, for every error on level N, it is not necessary to provide a corresponding warning on level N-1. The customer may decide that it is sufficient for the adjuster to run into the error when he needs to. In addition, the user can always find out what is blocking a claim from achieving a new level by using</a:t>
            </a:r>
            <a:r>
              <a:rPr lang="en-GB" baseline="0"/>
              <a:t> the menu action described previously (Actions &gt; Validate Claim Only).</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56C668DE-6755-40A9-A920-7D6CC9BC3B71}" type="slidenum">
              <a:rPr lang="en-US" altLang="en-US" sz="1200" b="0" smtClean="0">
                <a:solidFill>
                  <a:schemeClr val="tx1"/>
                </a:solidFill>
              </a:rPr>
              <a:pPr eaLnBrk="1" hangingPunct="1"/>
              <a:t>25</a:t>
            </a:fld>
            <a:endParaRPr lang="en-US" altLang="en-US" sz="1200" b="0">
              <a:solidFill>
                <a:schemeClr val="tx1"/>
              </a:solidFill>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Typically, if a single condition raises both a warning and an error, the warning should be at an earlier level of maturity. Otherwise, the user will never be warned, because the error gets enforced first.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FBEF796F-E9E1-4033-9DE9-6A07F5B384D6}" type="slidenum">
              <a:rPr lang="en-US" altLang="en-US" sz="1200" b="0" smtClean="0">
                <a:solidFill>
                  <a:schemeClr val="tx1"/>
                </a:solidFill>
              </a:rPr>
              <a:pPr eaLnBrk="1" hangingPunct="1"/>
              <a:t>26</a:t>
            </a:fld>
            <a:endParaRPr lang="en-US" altLang="en-US" sz="1200" b="0">
              <a:solidFill>
                <a:schemeClr val="tx1"/>
              </a:solidFill>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3CC50605-0BED-4CE1-8771-60FFD8D2E969}" type="slidenum">
              <a:rPr lang="en-US" altLang="en-US" sz="1200" b="0" smtClean="0">
                <a:solidFill>
                  <a:schemeClr val="tx1"/>
                </a:solidFill>
              </a:rPr>
              <a:pPr eaLnBrk="1" hangingPunct="1"/>
              <a:t>27</a:t>
            </a:fld>
            <a:endParaRPr lang="en-US" altLang="en-US" sz="1200" b="0">
              <a:solidFill>
                <a:schemeClr val="tx1"/>
              </a:solidFill>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difference between reject() and </a:t>
            </a:r>
            <a:r>
              <a:rPr lang="en-US" err="1"/>
              <a:t>rejectField</a:t>
            </a:r>
            <a:r>
              <a:rPr lang="en-US"/>
              <a:t>()</a:t>
            </a:r>
            <a:r>
              <a:rPr lang="en-US" baseline="0"/>
              <a:t> is that </a:t>
            </a:r>
            <a:r>
              <a:rPr lang="en-US" baseline="0" err="1"/>
              <a:t>rejectField</a:t>
            </a:r>
            <a:r>
              <a:rPr lang="en-US" baseline="0"/>
              <a:t>() highlights the field containing the data that triggers the error or warning. </a:t>
            </a:r>
            <a:r>
              <a:rPr lang="en-US" baseline="0" err="1"/>
              <a:t>rejectField</a:t>
            </a:r>
            <a:r>
              <a:rPr lang="en-US" baseline="0"/>
              <a:t>() possesses an additional argument for this purpose (the first argument).</a:t>
            </a:r>
            <a:endParaRPr lang="en-US"/>
          </a:p>
          <a:p>
            <a:pPr eaLnBrk="1" hangingPunct="1"/>
            <a:endParaRPr lang="en-US"/>
          </a:p>
          <a:p>
            <a:pPr eaLnBrk="1" hangingPunct="1"/>
            <a:r>
              <a:rPr lang="en-US"/>
              <a:t>The </a:t>
            </a:r>
            <a:r>
              <a:rPr lang="en-US" err="1"/>
              <a:t>strRelativeFieldPath</a:t>
            </a:r>
            <a:r>
              <a:rPr lang="en-US"/>
              <a:t> argument is the relative path rendered as a string from the root object (where the root object is the object the method is on) to the field that failed validation. Do not specify the root object in the relative path string. ClaimCenter implicitly adds the root object at the beginning of the path. If you specify the root object (for example, if you specify "</a:t>
            </a:r>
            <a:r>
              <a:rPr lang="en-US" err="1"/>
              <a:t>claim.LossLocation.County</a:t>
            </a:r>
            <a:r>
              <a:rPr lang="en-US"/>
              <a:t>" in the example above), then ClaimCenter will typically not be able to find the desired field to highlight. (It will look for a field following the path "</a:t>
            </a:r>
            <a:r>
              <a:rPr lang="en-US" err="1"/>
              <a:t>claim.claim.LossLocation.County</a:t>
            </a:r>
            <a:r>
              <a:rPr lang="en-US"/>
              <a:t>". Given that no such field exists, no field will get highlighted.)</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54042F2E-EEBD-4414-8C98-B1E746399ACE}" type="slidenum">
              <a:rPr lang="en-US" altLang="en-US" sz="1200" b="0" smtClean="0">
                <a:solidFill>
                  <a:schemeClr val="tx1"/>
                </a:solidFill>
              </a:rPr>
              <a:pPr eaLnBrk="1" hangingPunct="1"/>
              <a:t>28</a:t>
            </a:fld>
            <a:endParaRPr lang="en-US" altLang="en-US" sz="1200" b="0">
              <a:solidFill>
                <a:schemeClr val="tx1"/>
              </a:solidFill>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10000"/>
              </a:spcBef>
              <a:spcAft>
                <a:spcPct val="0"/>
              </a:spcAft>
              <a:buClrTx/>
              <a:buSzTx/>
              <a:buFontTx/>
              <a:buNone/>
              <a:tabLst/>
              <a:defRPr/>
            </a:pPr>
            <a:r>
              <a:rPr lang="en-US"/>
              <a:t>When the screen is in read-only mode, the</a:t>
            </a:r>
            <a:r>
              <a:rPr lang="en-US" baseline="0"/>
              <a:t> validation results in the workspace at bottom appears </a:t>
            </a:r>
            <a:r>
              <a:rPr lang="en-US"/>
              <a:t>but the red outline</a:t>
            </a:r>
            <a:r>
              <a:rPr lang="en-US" baseline="0"/>
              <a:t> </a:t>
            </a:r>
            <a:r>
              <a:rPr lang="en-US"/>
              <a:t>does not. Instead, a red arrow identifies the offending field. </a:t>
            </a:r>
          </a:p>
          <a:p>
            <a:pPr eaLnBrk="1" hangingPunct="1"/>
            <a:r>
              <a:rPr lang="en-US"/>
              <a:t>When the screen is in edit mode</a:t>
            </a:r>
            <a:r>
              <a:rPr lang="en-US" baseline="0"/>
              <a:t> </a:t>
            </a:r>
            <a:r>
              <a:rPr lang="en-US"/>
              <a:t>the field appears in red outline.</a:t>
            </a:r>
          </a:p>
          <a:p>
            <a:pPr eaLnBrk="1" hangingPunct="1"/>
            <a:r>
              <a:rPr lang="en-US"/>
              <a:t>If the</a:t>
            </a:r>
            <a:r>
              <a:rPr lang="en-US" baseline="0"/>
              <a:t> user is on another screen, an underlined navigation link to the screen with the maturity validation problem is provided (On “Claim Status”:).</a:t>
            </a:r>
            <a:endParaRPr lang="en-US"/>
          </a:p>
          <a:p>
            <a:pPr eaLnBrk="1" hangingPunct="1"/>
            <a:endParaRPr lang="en-US"/>
          </a:p>
          <a:p>
            <a:pPr eaLnBrk="1" hangingPunct="1"/>
            <a:r>
              <a:rPr lang="en-US"/>
              <a:t>Again, this is not a</a:t>
            </a:r>
            <a:r>
              <a:rPr lang="en-US" baseline="0"/>
              <a:t> base application claim validation rule.</a:t>
            </a:r>
          </a:p>
          <a:p>
            <a:pPr eaLnBrk="1" hangingPunct="1"/>
            <a:endParaRPr lang="en-US" baseline="0"/>
          </a:p>
          <a:p>
            <a:pPr eaLnBrk="1" hangingPunct="1"/>
            <a:r>
              <a:rPr lang="en-US" sz="1000" kern="1200">
                <a:solidFill>
                  <a:schemeClr val="tx1"/>
                </a:solidFill>
                <a:effectLst/>
                <a:latin typeface="Arial" charset="0"/>
                <a:ea typeface="+mn-ea"/>
                <a:cs typeface="+mn-cs"/>
              </a:rPr>
              <a:t>NOTE:</a:t>
            </a:r>
            <a:r>
              <a:rPr lang="en-US" sz="1000" kern="1200" baseline="0">
                <a:solidFill>
                  <a:schemeClr val="tx1"/>
                </a:solidFill>
                <a:effectLst/>
                <a:latin typeface="Arial" charset="0"/>
                <a:ea typeface="+mn-ea"/>
                <a:cs typeface="+mn-cs"/>
              </a:rPr>
              <a:t> </a:t>
            </a:r>
            <a:r>
              <a:rPr lang="en-US" sz="1000" kern="1200">
                <a:solidFill>
                  <a:schemeClr val="tx1"/>
                </a:solidFill>
                <a:effectLst/>
                <a:latin typeface="Arial" charset="0"/>
                <a:ea typeface="+mn-ea"/>
                <a:cs typeface="+mn-cs"/>
              </a:rPr>
              <a:t>The navigation link and field highlighting cannot be provided through the use of </a:t>
            </a:r>
            <a:r>
              <a:rPr lang="en-US" sz="1000" kern="1200" err="1">
                <a:solidFill>
                  <a:schemeClr val="tx1"/>
                </a:solidFill>
                <a:effectLst/>
                <a:latin typeface="Arial" charset="0"/>
                <a:ea typeface="+mn-ea"/>
                <a:cs typeface="+mn-cs"/>
              </a:rPr>
              <a:t>rejectfield</a:t>
            </a:r>
            <a:r>
              <a:rPr lang="en-US" sz="1000" kern="1200">
                <a:solidFill>
                  <a:schemeClr val="tx1"/>
                </a:solidFill>
                <a:effectLst/>
                <a:latin typeface="Arial" charset="0"/>
                <a:ea typeface="+mn-ea"/>
                <a:cs typeface="+mn-cs"/>
              </a:rPr>
              <a:t>() alone – configuration of the appropriate PCF (in this case </a:t>
            </a:r>
            <a:r>
              <a:rPr lang="en-US" sz="1000" kern="1200" err="1">
                <a:solidFill>
                  <a:schemeClr val="tx1"/>
                </a:solidFill>
                <a:effectLst/>
                <a:latin typeface="Arial" charset="0"/>
                <a:ea typeface="+mn-ea"/>
                <a:cs typeface="+mn-cs"/>
              </a:rPr>
              <a:t>ClaimLossDetails.pcf</a:t>
            </a:r>
            <a:r>
              <a:rPr lang="en-US" sz="1000" kern="1200">
                <a:solidFill>
                  <a:schemeClr val="tx1"/>
                </a:solidFill>
                <a:effectLst/>
                <a:latin typeface="Arial" charset="0"/>
                <a:ea typeface="+mn-ea"/>
                <a:cs typeface="+mn-cs"/>
              </a:rPr>
              <a:t>) is required. More on this will be covered at the end of the lesson.</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95860C77-9A53-48A3-8F8D-24407047D0F4}" type="slidenum">
              <a:rPr lang="en-US" altLang="en-US" sz="1200" b="0" smtClean="0">
                <a:solidFill>
                  <a:schemeClr val="tx1"/>
                </a:solidFill>
              </a:rPr>
              <a:pPr eaLnBrk="1" hangingPunct="1"/>
              <a:t>29</a:t>
            </a:fld>
            <a:endParaRPr lang="en-US" altLang="en-US" sz="1200" b="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rejecting a sub-field, the </a:t>
            </a:r>
            <a:r>
              <a:rPr lang="en-US" err="1"/>
              <a:t>strRelativeFieldPath</a:t>
            </a:r>
            <a:r>
              <a:rPr lang="en-US"/>
              <a:t> argument should be written relative to the </a:t>
            </a:r>
            <a:r>
              <a:rPr lang="en-US" err="1"/>
              <a:t>relatedObject</a:t>
            </a:r>
            <a:r>
              <a:rPr lang="en-US"/>
              <a:t>. For example, the code above shows the related object to be </a:t>
            </a:r>
            <a:r>
              <a:rPr lang="en-US" b="1" i="1" err="1"/>
              <a:t>inc</a:t>
            </a:r>
            <a:r>
              <a:rPr lang="en-US"/>
              <a:t> (which is the current value of the iterator on the </a:t>
            </a:r>
            <a:r>
              <a:rPr lang="en-US" err="1"/>
              <a:t>VehicleIncidentsOnly</a:t>
            </a:r>
            <a:r>
              <a:rPr lang="en-US"/>
              <a:t> array.)  Therefore, "</a:t>
            </a:r>
            <a:r>
              <a:rPr lang="en-US" err="1"/>
              <a:t>inc.</a:t>
            </a:r>
            <a:r>
              <a:rPr lang="en-US"/>
              <a:t>" is implicitly added to the second parameter. The parameter itself only needs to specify the field on the related object, which in this case is "Description".</a:t>
            </a:r>
          </a:p>
          <a:p>
            <a:pPr eaLnBrk="1" hangingPunct="1"/>
            <a:r>
              <a:rPr lang="en-US"/>
              <a:t>Note that the above rejection could have been done using </a:t>
            </a:r>
            <a:r>
              <a:rPr lang="en-US" err="1"/>
              <a:t>rejectField</a:t>
            </a:r>
            <a:r>
              <a:rPr lang="en-US"/>
              <a:t>, but it would be somewhat uglier since the call to </a:t>
            </a:r>
            <a:r>
              <a:rPr lang="en-US" err="1"/>
              <a:t>rejectField</a:t>
            </a:r>
            <a:r>
              <a:rPr lang="en-US"/>
              <a:t> would need to explicitly call out the specific item in the array being rejected:</a:t>
            </a:r>
          </a:p>
          <a:p>
            <a:pPr eaLnBrk="1" hangingPunct="1"/>
            <a:br>
              <a:rPr lang="en-US"/>
            </a:br>
            <a:r>
              <a:rPr lang="en-US"/>
              <a:t>for (</a:t>
            </a:r>
            <a:r>
              <a:rPr lang="en-US" err="1"/>
              <a:t>inc</a:t>
            </a:r>
            <a:r>
              <a:rPr lang="en-US"/>
              <a:t> in </a:t>
            </a:r>
            <a:r>
              <a:rPr lang="en-US" err="1"/>
              <a:t>claim.VehicleIncidentsOnly</a:t>
            </a:r>
            <a:r>
              <a:rPr lang="en-US"/>
              <a:t> index </a:t>
            </a:r>
            <a:r>
              <a:rPr lang="en-US" err="1"/>
              <a:t>i</a:t>
            </a:r>
            <a:r>
              <a:rPr lang="en-US"/>
              <a:t>) {</a:t>
            </a:r>
          </a:p>
          <a:p>
            <a:pPr eaLnBrk="1" hangingPunct="1"/>
            <a:r>
              <a:rPr lang="en-US"/>
              <a:t>  if (</a:t>
            </a:r>
            <a:r>
              <a:rPr lang="en-US" err="1"/>
              <a:t>inc.Description</a:t>
            </a:r>
            <a:r>
              <a:rPr lang="en-US"/>
              <a:t> == null) {</a:t>
            </a:r>
          </a:p>
          <a:p>
            <a:pPr eaLnBrk="1" hangingPunct="1"/>
            <a:r>
              <a:rPr lang="en-US"/>
              <a:t>    </a:t>
            </a:r>
            <a:r>
              <a:rPr lang="en-US" err="1"/>
              <a:t>claim.rejectField</a:t>
            </a:r>
            <a:r>
              <a:rPr lang="en-US"/>
              <a:t>("</a:t>
            </a:r>
            <a:r>
              <a:rPr lang="en-US" err="1"/>
              <a:t>VehicleIncidentsOnly</a:t>
            </a:r>
            <a:r>
              <a:rPr lang="en-US"/>
              <a:t>[" + </a:t>
            </a:r>
            <a:r>
              <a:rPr lang="en-US" err="1"/>
              <a:t>i</a:t>
            </a:r>
            <a:r>
              <a:rPr lang="en-US"/>
              <a:t> +"].Description", "external", </a:t>
            </a:r>
          </a:p>
          <a:p>
            <a:pPr eaLnBrk="1" hangingPunct="1"/>
            <a:r>
              <a:rPr lang="en-US"/>
              <a:t>      "Incident description must not be empty", null, null)</a:t>
            </a:r>
          </a:p>
          <a:p>
            <a:pPr eaLnBrk="1" hangingPunct="1"/>
            <a:r>
              <a:rPr lang="en-US"/>
              <a:t>  }</a:t>
            </a:r>
          </a:p>
          <a:p>
            <a:pPr eaLnBrk="1" hangingPunct="1"/>
            <a:r>
              <a:rPr lang="en-US"/>
              <a:t>}</a:t>
            </a:r>
          </a:p>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20518A8A-CC45-4727-9FC1-A9D5D74D001A}" type="slidenum">
              <a:rPr lang="en-US" altLang="en-US" sz="1200" b="0" smtClean="0">
                <a:solidFill>
                  <a:schemeClr val="tx1"/>
                </a:solidFill>
              </a:rPr>
              <a:pPr eaLnBrk="1" hangingPunct="1"/>
              <a:t>30</a:t>
            </a:fld>
            <a:endParaRPr lang="en-US" altLang="en-US" sz="1200" b="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a:t>
            </a:r>
            <a:r>
              <a:rPr lang="en-US" baseline="0"/>
              <a:t> pages in ClaimCenter involved in maturity validation in the base application already have these advanced properties specified (such as </a:t>
            </a:r>
            <a:r>
              <a:rPr lang="en-US" baseline="0" err="1"/>
              <a:t>ClaimLossDetails.pcf</a:t>
            </a:r>
            <a:r>
              <a:rPr lang="en-US" baseline="0"/>
              <a:t> and </a:t>
            </a:r>
            <a:r>
              <a:rPr lang="en-US" baseline="0" err="1"/>
              <a:t>ClaimContacts.pcf</a:t>
            </a:r>
            <a:r>
              <a:rPr lang="en-US" baseline="0"/>
              <a:t>).</a:t>
            </a:r>
            <a:endParaRPr lang="en-US"/>
          </a:p>
          <a:p>
            <a:endParaRPr lang="en-US"/>
          </a:p>
          <a:p>
            <a:r>
              <a:rPr lang="en-US"/>
              <a:t>However, if the </a:t>
            </a:r>
            <a:r>
              <a:rPr lang="en-US" baseline="0" err="1"/>
              <a:t>ClaimStatus</a:t>
            </a:r>
            <a:r>
              <a:rPr lang="en-US" baseline="0"/>
              <a:t> page contains the offending field, you will need to specify these advanced properties on the </a:t>
            </a:r>
            <a:r>
              <a:rPr lang="en-US" baseline="0" err="1"/>
              <a:t>ClaimStatus.pcf</a:t>
            </a:r>
            <a:r>
              <a:rPr lang="en-US" baseline="0"/>
              <a:t> for your validation to work properly. It is important to check that these required properties are set properly for validation to work correctly. </a:t>
            </a:r>
          </a:p>
          <a:p>
            <a:endParaRPr lang="en-US" baseline="0"/>
          </a:p>
          <a:p>
            <a:pPr marL="0" marR="0" lvl="1" indent="0" algn="l" defTabSz="914400" rtl="0" eaLnBrk="0" fontAlgn="base" latinLnBrk="0" hangingPunct="0">
              <a:lnSpc>
                <a:spcPct val="100000"/>
              </a:lnSpc>
              <a:spcBef>
                <a:spcPct val="10000"/>
              </a:spcBef>
              <a:spcAft>
                <a:spcPct val="0"/>
              </a:spcAft>
              <a:buClrTx/>
              <a:buSzTx/>
              <a:buFontTx/>
              <a:buNone/>
              <a:tabLst/>
              <a:defRPr/>
            </a:pPr>
            <a:r>
              <a:rPr lang="en-US" sz="1000" kern="1200">
                <a:solidFill>
                  <a:schemeClr val="tx1"/>
                </a:solidFill>
                <a:effectLst/>
                <a:latin typeface="Arial" charset="0"/>
                <a:ea typeface="+mn-ea"/>
                <a:cs typeface="+mn-cs"/>
              </a:rPr>
              <a:t>The </a:t>
            </a:r>
            <a:r>
              <a:rPr lang="en-US" sz="1000" kern="1200" err="1">
                <a:solidFill>
                  <a:schemeClr val="tx1"/>
                </a:solidFill>
                <a:effectLst/>
                <a:latin typeface="Arial" charset="0"/>
                <a:ea typeface="+mn-ea"/>
                <a:cs typeface="+mn-cs"/>
              </a:rPr>
              <a:t>validationParameter</a:t>
            </a:r>
            <a:r>
              <a:rPr lang="en-US" sz="1000" kern="1200">
                <a:solidFill>
                  <a:schemeClr val="tx1"/>
                </a:solidFill>
                <a:effectLst/>
                <a:latin typeface="Arial" charset="0"/>
                <a:ea typeface="+mn-ea"/>
                <a:cs typeface="+mn-cs"/>
              </a:rPr>
              <a:t> property provides the object variable. The </a:t>
            </a:r>
            <a:r>
              <a:rPr lang="en-US" sz="1000" kern="1200" err="1">
                <a:solidFill>
                  <a:schemeClr val="tx1"/>
                </a:solidFill>
                <a:effectLst/>
                <a:latin typeface="Arial" charset="0"/>
                <a:ea typeface="+mn-ea"/>
                <a:cs typeface="+mn-cs"/>
              </a:rPr>
              <a:t>handlesValidationIssue</a:t>
            </a:r>
            <a:r>
              <a:rPr lang="en-US" sz="1000" kern="1200">
                <a:solidFill>
                  <a:schemeClr val="tx1"/>
                </a:solidFill>
                <a:effectLst/>
                <a:latin typeface="Arial" charset="0"/>
                <a:ea typeface="+mn-ea"/>
                <a:cs typeface="+mn-cs"/>
              </a:rPr>
              <a:t> property</a:t>
            </a:r>
            <a:r>
              <a:rPr lang="en-US" sz="1000" kern="1200" baseline="0">
                <a:solidFill>
                  <a:schemeClr val="tx1"/>
                </a:solidFill>
                <a:effectLst/>
                <a:latin typeface="Arial" charset="0"/>
                <a:ea typeface="+mn-ea"/>
                <a:cs typeface="+mn-cs"/>
              </a:rPr>
              <a:t> is there to support related objects and specifies the type. Both properties are required</a:t>
            </a:r>
            <a:r>
              <a:rPr lang="en-US" sz="1000" kern="1200">
                <a:solidFill>
                  <a:schemeClr val="tx1"/>
                </a:solidFill>
                <a:effectLst/>
                <a:latin typeface="Arial" charset="0"/>
                <a:ea typeface="+mn-ea"/>
                <a:cs typeface="+mn-cs"/>
              </a:rPr>
              <a:t>. This</a:t>
            </a:r>
            <a:r>
              <a:rPr lang="en-US" sz="1000" kern="1200" baseline="0">
                <a:solidFill>
                  <a:schemeClr val="tx1"/>
                </a:solidFill>
                <a:effectLst/>
                <a:latin typeface="Arial" charset="0"/>
                <a:ea typeface="+mn-ea"/>
                <a:cs typeface="+mn-cs"/>
              </a:rPr>
              <a:t> to support validation of</a:t>
            </a:r>
            <a:r>
              <a:rPr lang="en-US" sz="1000" kern="1200">
                <a:solidFill>
                  <a:schemeClr val="tx1"/>
                </a:solidFill>
                <a:effectLst/>
                <a:latin typeface="Arial" charset="0"/>
                <a:ea typeface="+mn-ea"/>
                <a:cs typeface="+mn-cs"/>
              </a:rPr>
              <a:t> related objects to the </a:t>
            </a:r>
            <a:r>
              <a:rPr lang="en-US" sz="1000" kern="1200" err="1">
                <a:solidFill>
                  <a:schemeClr val="tx1"/>
                </a:solidFill>
                <a:effectLst/>
                <a:latin typeface="Arial" charset="0"/>
                <a:ea typeface="+mn-ea"/>
                <a:cs typeface="+mn-cs"/>
              </a:rPr>
              <a:t>ValidationParameter</a:t>
            </a:r>
            <a:r>
              <a:rPr lang="en-US" sz="1000" kern="1200">
                <a:solidFill>
                  <a:schemeClr val="tx1"/>
                </a:solidFill>
                <a:effectLst/>
                <a:latin typeface="Arial" charset="0"/>
                <a:ea typeface="+mn-ea"/>
                <a:cs typeface="+mn-cs"/>
              </a:rPr>
              <a:t> object, as in </a:t>
            </a:r>
            <a:r>
              <a:rPr lang="en-US" sz="1000" kern="1200" err="1">
                <a:solidFill>
                  <a:schemeClr val="tx1"/>
                </a:solidFill>
                <a:effectLst/>
                <a:latin typeface="Arial" charset="0"/>
                <a:ea typeface="+mn-ea"/>
                <a:cs typeface="+mn-cs"/>
              </a:rPr>
              <a:t>Claim.LossLocation</a:t>
            </a:r>
            <a:r>
              <a:rPr lang="en-US" sz="1000" kern="1200">
                <a:solidFill>
                  <a:schemeClr val="tx1"/>
                </a:solidFill>
                <a:effectLst/>
                <a:latin typeface="Arial" charset="0"/>
                <a:ea typeface="+mn-ea"/>
                <a:cs typeface="+mn-cs"/>
              </a:rPr>
              <a:t> or one of the Claim’s Incidents</a:t>
            </a:r>
            <a:r>
              <a:rPr lang="en-US" sz="1000" kern="1200" baseline="0">
                <a:solidFill>
                  <a:schemeClr val="tx1"/>
                </a:solidFill>
                <a:effectLst/>
                <a:latin typeface="Arial" charset="0"/>
                <a:ea typeface="+mn-ea"/>
                <a:cs typeface="+mn-cs"/>
              </a:rPr>
              <a:t> (as shown on the previous slide).</a:t>
            </a:r>
            <a:endParaRPr lang="en-US" sz="1000" kern="1200">
              <a:solidFill>
                <a:schemeClr val="tx1"/>
              </a:solidFill>
              <a:effectLst/>
              <a:latin typeface="Arial" charset="0"/>
              <a:ea typeface="+mn-ea"/>
              <a:cs typeface="+mn-cs"/>
            </a:endParaRPr>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Validation Rules - </a:t>
            </a:r>
            <a:fld id="{98B99296-272D-446B-BA3F-3995708D31D2}" type="slidenum">
              <a:rPr lang="en-US" altLang="en-US" smtClean="0"/>
              <a:pPr>
                <a:defRPr/>
              </a:pPr>
              <a:t>31</a:t>
            </a:fld>
            <a:endParaRPr lang="en-US" altLang="en-US"/>
          </a:p>
        </p:txBody>
      </p:sp>
    </p:spTree>
    <p:extLst>
      <p:ext uri="{BB962C8B-B14F-4D97-AF65-F5344CB8AC3E}">
        <p14:creationId xmlns:p14="http://schemas.microsoft.com/office/powerpoint/2010/main" val="2978851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Because the </a:t>
            </a:r>
            <a:r>
              <a:rPr lang="en-US" err="1"/>
              <a:t>FNOL</a:t>
            </a:r>
            <a:r>
              <a:rPr lang="en-US" baseline="0" err="1"/>
              <a:t>Wizard’s</a:t>
            </a:r>
            <a:r>
              <a:rPr lang="en-US" baseline="0"/>
              <a:t> root object is a claim, the </a:t>
            </a:r>
            <a:r>
              <a:rPr lang="en-US" baseline="0" err="1"/>
              <a:t>validationParameter</a:t>
            </a:r>
            <a:r>
              <a:rPr lang="en-US" baseline="0"/>
              <a:t> advanced property is not needed. In this particular example, the </a:t>
            </a:r>
            <a:r>
              <a:rPr lang="en-US" baseline="0" err="1"/>
              <a:t>WizardStep</a:t>
            </a:r>
            <a:r>
              <a:rPr lang="en-US" baseline="0"/>
              <a:t> deals with Loss Details, therefore Incidents are also potential related objects to be validated. </a:t>
            </a:r>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Validation Rules - </a:t>
            </a:r>
            <a:fld id="{98B99296-272D-446B-BA3F-3995708D31D2}" type="slidenum">
              <a:rPr lang="en-US" altLang="en-US" smtClean="0"/>
              <a:pPr>
                <a:defRPr/>
              </a:pPr>
              <a:t>32</a:t>
            </a:fld>
            <a:endParaRPr lang="en-US" altLang="en-US"/>
          </a:p>
        </p:txBody>
      </p:sp>
    </p:spTree>
    <p:extLst>
      <p:ext uri="{BB962C8B-B14F-4D97-AF65-F5344CB8AC3E}">
        <p14:creationId xmlns:p14="http://schemas.microsoft.com/office/powerpoint/2010/main" val="25285198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4F0FD611-DA08-4C1A-8411-7ACA21568E5D}" type="slidenum">
              <a:rPr lang="en-US" altLang="en-US" sz="1200" b="0" smtClean="0">
                <a:solidFill>
                  <a:schemeClr val="tx1"/>
                </a:solidFill>
              </a:rPr>
              <a:pPr eaLnBrk="1" hangingPunct="1"/>
              <a:t>33</a:t>
            </a:fld>
            <a:endParaRPr lang="en-US" altLang="en-US" sz="1200" b="0">
              <a:solidFill>
                <a:schemeClr val="tx1"/>
              </a:solidFill>
            </a:endParaRPr>
          </a:p>
        </p:txBody>
      </p:sp>
      <p:sp>
        <p:nvSpPr>
          <p:cNvPr id="71684" name="Rectangle 2"/>
          <p:cNvSpPr>
            <a:spLocks noGrp="1" noRot="1" noChangeAspect="1" noChangeArrowheads="1" noTextEdit="1"/>
          </p:cNvSpPr>
          <p:nvPr>
            <p:ph type="sldImg"/>
          </p:nvPr>
        </p:nvSpPr>
        <p:spPr>
          <a:xfrm>
            <a:off x="715963" y="630238"/>
            <a:ext cx="5432425" cy="4073525"/>
          </a:xfrm>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27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Validation Rules - </a:t>
            </a:r>
            <a:fld id="{C48B17F2-F7EA-4B11-A37D-1B2933BA3A05}" type="slidenum">
              <a:rPr lang="en-US" altLang="en-US" sz="1200" b="0" smtClean="0">
                <a:solidFill>
                  <a:schemeClr val="tx1"/>
                </a:solidFill>
              </a:rPr>
              <a:pPr eaLnBrk="1" hangingPunct="1"/>
              <a:t>34</a:t>
            </a:fld>
            <a:endParaRPr lang="en-US" altLang="en-US" sz="1200" b="0">
              <a:solidFill>
                <a:schemeClr val="tx1"/>
              </a:solidFill>
            </a:endParaRPr>
          </a:p>
        </p:txBody>
      </p:sp>
      <p:sp>
        <p:nvSpPr>
          <p:cNvPr id="72708" name="Rectangle 2"/>
          <p:cNvSpPr>
            <a:spLocks noGrp="1" noRot="1" noChangeAspect="1" noChangeArrowheads="1" noTextEdit="1"/>
          </p:cNvSpPr>
          <p:nvPr>
            <p:ph type="sldImg"/>
          </p:nvPr>
        </p:nvSpPr>
        <p:spPr>
          <a:xfrm>
            <a:off x="715963" y="630238"/>
            <a:ext cx="5432425" cy="4073525"/>
          </a:xfrm>
          <a:ln/>
        </p:spPr>
      </p:sp>
      <p:sp>
        <p:nvSpPr>
          <p:cNvPr id="727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dirty="0"/>
              <a:t>Answers</a:t>
            </a:r>
          </a:p>
          <a:p>
            <a:pPr marL="209550" indent="-209550" eaLnBrk="1" hangingPunct="1"/>
            <a:r>
              <a:rPr lang="en-US" dirty="0"/>
              <a:t>1. Possible answers: Any requirement which should not always be enforced, but rather be enforced only at a certain point in the claim or exposure's life cycle; Any requirement which involves a warning.</a:t>
            </a:r>
          </a:p>
          <a:p>
            <a:pPr marL="209550" indent="-209550" eaLnBrk="1" hangingPunct="1"/>
            <a:r>
              <a:rPr lang="en-US" dirty="0"/>
              <a:t>2. Yes, any of the non-internal level can be removed. However, the three internal levels (</a:t>
            </a:r>
            <a:r>
              <a:rPr lang="en-US" dirty="0" err="1"/>
              <a:t>loadsave</a:t>
            </a:r>
            <a:r>
              <a:rPr lang="en-US" dirty="0"/>
              <a:t>, </a:t>
            </a:r>
            <a:r>
              <a:rPr lang="en-US" dirty="0" err="1"/>
              <a:t>newloss</a:t>
            </a:r>
            <a:r>
              <a:rPr lang="en-US" dirty="0"/>
              <a:t>, ability to pay) cannot be removed. Yes, new levels can be added.</a:t>
            </a:r>
          </a:p>
          <a:p>
            <a:pPr marL="209550" indent="-209550" eaLnBrk="1" hangingPunct="1"/>
            <a:r>
              <a:rPr lang="en-US" dirty="0"/>
              <a:t>3. You would swap the order of the final two pairs of arguments. The first pair should be the last pair and vice versa.</a:t>
            </a:r>
          </a:p>
          <a:p>
            <a:pPr marL="209550" indent="-209550" eaLnBrk="1" hangingPunct="1"/>
            <a:r>
              <a:rPr lang="en-US" dirty="0"/>
              <a:t>4. It is important to keep this in mind because the root object must be omitted from the path. If you include the root object, then </a:t>
            </a:r>
            <a:r>
              <a:rPr lang="en-US" dirty="0" err="1"/>
              <a:t>ClaimCenter</a:t>
            </a:r>
            <a:r>
              <a:rPr lang="en-US" dirty="0"/>
              <a:t> will not be able to find the field to highlight.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Validation Rules - </a:t>
            </a:r>
            <a:fld id="{211C349A-83C9-44D0-A356-DBEB3FC715FC}" type="slidenum">
              <a:rPr lang="en-US" altLang="en-US" smtClean="0"/>
              <a:pPr>
                <a:defRPr/>
              </a:pPr>
              <a:t>35</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49262683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3819674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9315819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41369220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0799721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15759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2648436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9395229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2404235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2201021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206596789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91746632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4219A09E-89F6-49B1-963C-CD29FEF9064D}"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25"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6"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Validation Rules</a:t>
            </a:r>
          </a:p>
        </p:txBody>
      </p:sp>
      <p:sp>
        <p:nvSpPr>
          <p:cNvPr id="4099" name="Text Placeholder 4"/>
          <p:cNvSpPr>
            <a:spLocks noGrp="1"/>
          </p:cNvSpPr>
          <p:nvPr>
            <p:ph type="body" sz="quarter" idx="10"/>
          </p:nvPr>
        </p:nvSpPr>
        <p:spPr>
          <a:xfrm>
            <a:off x="5718175" y="6167438"/>
            <a:ext cx="3089275" cy="273050"/>
          </a:xfrm>
        </p:spPr>
        <p:txBody>
          <a:bodyPr/>
          <a:lstStyle/>
          <a:p>
            <a:r>
              <a:rPr lang="en-US"/>
              <a:t>13 February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validation techniques in ClaimCenter</a:t>
            </a:r>
          </a:p>
          <a:p>
            <a:pPr lvl="1" eaLnBrk="1" hangingPunct="1"/>
            <a:r>
              <a:rPr lang="en-US"/>
              <a:t>Describe the categories of validation rules</a:t>
            </a:r>
          </a:p>
          <a:p>
            <a:pPr lvl="1" eaLnBrk="1" hangingPunct="1"/>
            <a:r>
              <a:rPr lang="en-US"/>
              <a:t>Describe basic validation rule behavior</a:t>
            </a:r>
          </a:p>
          <a:p>
            <a:pPr lvl="1" eaLnBrk="1" hangingPunct="1"/>
            <a:r>
              <a:rPr lang="en-US"/>
              <a:t>Create validation rules that raise warnings and errors</a:t>
            </a:r>
          </a:p>
          <a:p>
            <a:pPr lvl="1" eaLnBrk="1" hangingPunct="1"/>
            <a:r>
              <a:rPr lang="en-US"/>
              <a:t>Create validation rules that identify invalid fields</a:t>
            </a:r>
          </a:p>
          <a:p>
            <a:pPr lvl="1" eaLnBrk="1" hangingPunct="1">
              <a:buFont typeface="Wingdings 2" pitchFamily="18" charset="2"/>
              <a:buNone/>
            </a:pPr>
            <a:endParaRPr lang="en-US"/>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
        <p:nvSpPr>
          <p:cNvPr id="2" name="TextBox 1">
            <a:extLst>
              <a:ext uri="{FF2B5EF4-FFF2-40B4-BE49-F238E27FC236}">
                <a16:creationId xmlns:a16="http://schemas.microsoft.com/office/drawing/2014/main" id="{27060B5B-4E86-4432-99BD-81FF1E5A92C3}"/>
              </a:ext>
            </a:extLst>
          </p:cNvPr>
          <p:cNvSpPr txBox="1"/>
          <p:nvPr/>
        </p:nvSpPr>
        <p:spPr>
          <a:xfrm>
            <a:off x="3200400" y="3200400"/>
            <a:ext cx="184731"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endParaRPr lang="en-US">
              <a:solidFill>
                <a:srgbClr val="C00000"/>
              </a:solidFill>
              <a:latin typeface="Calibri" pitchFamily="34" charset="0"/>
              <a:cs typeface="Calibri" pitchFamily="34" charset="0"/>
            </a:endParaRPr>
          </a:p>
        </p:txBody>
      </p:sp>
      <p:sp>
        <p:nvSpPr>
          <p:cNvPr id="3" name="TextBox 2">
            <a:extLst>
              <a:ext uri="{FF2B5EF4-FFF2-40B4-BE49-F238E27FC236}">
                <a16:creationId xmlns:a16="http://schemas.microsoft.com/office/drawing/2014/main" id="{9235A7FF-24A2-4A3F-B208-8F447C2AB170}"/>
              </a:ext>
            </a:extLst>
          </p:cNvPr>
          <p:cNvSpPr txBox="1"/>
          <p:nvPr/>
        </p:nvSpPr>
        <p:spPr>
          <a:xfrm>
            <a:off x="3343275" y="3343275"/>
            <a:ext cx="184731"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endParaRPr lang="en-US">
              <a:solidFill>
                <a:srgbClr val="C00000"/>
              </a:solidFill>
              <a:latin typeface="Calibri" pitchFamily="34" charset="0"/>
              <a:cs typeface="Calibri"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Types of validation</a:t>
            </a:r>
          </a:p>
          <a:p>
            <a:pPr>
              <a:lnSpc>
                <a:spcPct val="150000"/>
              </a:lnSpc>
              <a:buFont typeface="Arial" charset="0"/>
              <a:buChar char="•"/>
            </a:pPr>
            <a:r>
              <a:rPr lang="en-US" sz="2800">
                <a:solidFill>
                  <a:srgbClr val="C0C0C0"/>
                </a:solidFill>
              </a:rPr>
              <a:t>Validation rule basics</a:t>
            </a:r>
          </a:p>
          <a:p>
            <a:pPr>
              <a:lnSpc>
                <a:spcPct val="150000"/>
              </a:lnSpc>
              <a:buFont typeface="Arial" charset="0"/>
              <a:buChar char="•"/>
            </a:pPr>
            <a:r>
              <a:rPr lang="en-US" sz="2800">
                <a:solidFill>
                  <a:srgbClr val="C0C0C0"/>
                </a:solidFill>
              </a:rPr>
              <a:t>Validation rules in the user interface</a:t>
            </a:r>
          </a:p>
          <a:p>
            <a:pPr>
              <a:lnSpc>
                <a:spcPct val="150000"/>
              </a:lnSpc>
              <a:buFont typeface="Arial" charset="0"/>
              <a:buChar char="•"/>
            </a:pPr>
            <a:r>
              <a:rPr lang="en-US" sz="2800">
                <a:solidFill>
                  <a:srgbClr val="C0C0C0"/>
                </a:solidFill>
              </a:rPr>
              <a:t>Warnings and errors</a:t>
            </a:r>
          </a:p>
          <a:p>
            <a:pPr>
              <a:lnSpc>
                <a:spcPct val="150000"/>
              </a:lnSpc>
              <a:buFont typeface="Arial" charset="0"/>
              <a:buChar char="•"/>
            </a:pPr>
            <a:r>
              <a:rPr lang="en-US" sz="2800">
                <a:solidFill>
                  <a:srgbClr val="C0C0C0"/>
                </a:solidFill>
              </a:rPr>
              <a:t>Identifying invalid fields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Types of validation in ClaimCenter</a:t>
            </a:r>
          </a:p>
        </p:txBody>
      </p:sp>
      <p:sp>
        <p:nvSpPr>
          <p:cNvPr id="7171" name="Rectangle 3"/>
          <p:cNvSpPr>
            <a:spLocks noGrp="1" noChangeArrowheads="1"/>
          </p:cNvSpPr>
          <p:nvPr>
            <p:ph idx="1"/>
          </p:nvPr>
        </p:nvSpPr>
        <p:spPr/>
        <p:txBody>
          <a:bodyPr/>
          <a:lstStyle/>
          <a:p>
            <a:pPr>
              <a:buFont typeface="Arial" charset="0"/>
              <a:buChar char="•"/>
            </a:pPr>
            <a:r>
              <a:rPr lang="en-US"/>
              <a:t>Two types of validation</a:t>
            </a:r>
          </a:p>
          <a:p>
            <a:pPr lvl="1"/>
            <a:r>
              <a:rPr lang="en-US"/>
              <a:t>Validation which prevents invalid data from getting saved</a:t>
            </a:r>
          </a:p>
          <a:p>
            <a:pPr lvl="1"/>
            <a:r>
              <a:rPr lang="en-US"/>
              <a:t>Validation which manages and enforces object maturity</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Logic that prevents invalid data</a:t>
            </a:r>
          </a:p>
        </p:txBody>
      </p:sp>
      <p:sp>
        <p:nvSpPr>
          <p:cNvPr id="8195" name="Rectangle 3"/>
          <p:cNvSpPr>
            <a:spLocks noGrp="1" noChangeArrowheads="1"/>
          </p:cNvSpPr>
          <p:nvPr>
            <p:ph idx="1"/>
          </p:nvPr>
        </p:nvSpPr>
        <p:spPr>
          <a:xfrm>
            <a:off x="519113" y="4659313"/>
            <a:ext cx="8318500" cy="1730375"/>
          </a:xfrm>
        </p:spPr>
        <p:txBody>
          <a:bodyPr/>
          <a:lstStyle/>
          <a:p>
            <a:pPr>
              <a:buFont typeface="Arial" charset="0"/>
              <a:buChar char="•"/>
            </a:pPr>
            <a:r>
              <a:rPr lang="en-US"/>
              <a:t>When condition is not met</a:t>
            </a:r>
          </a:p>
          <a:p>
            <a:pPr lvl="1"/>
            <a:r>
              <a:rPr lang="en-US"/>
              <a:t>Save is not allowed</a:t>
            </a:r>
          </a:p>
          <a:p>
            <a:pPr>
              <a:buFont typeface="Arial" charset="0"/>
              <a:buChar char="•"/>
            </a:pPr>
            <a:r>
              <a:rPr lang="en-US"/>
              <a:t>When condition is met</a:t>
            </a:r>
          </a:p>
          <a:p>
            <a:pPr lvl="1"/>
            <a:r>
              <a:rPr lang="en-US"/>
              <a:t>Save is allowed</a:t>
            </a:r>
          </a:p>
          <a:p>
            <a:pPr>
              <a:buFont typeface="Arial" charset="0"/>
              <a:buChar char="•"/>
            </a:pPr>
            <a:endParaRPr lang="en-US"/>
          </a:p>
        </p:txBody>
      </p:sp>
      <p:grpSp>
        <p:nvGrpSpPr>
          <p:cNvPr id="8196" name="Group 250"/>
          <p:cNvGrpSpPr>
            <a:grpSpLocks/>
          </p:cNvGrpSpPr>
          <p:nvPr/>
        </p:nvGrpSpPr>
        <p:grpSpPr bwMode="auto">
          <a:xfrm>
            <a:off x="7778750" y="2216150"/>
            <a:ext cx="1027113" cy="874713"/>
            <a:chOff x="4324" y="1324"/>
            <a:chExt cx="647" cy="551"/>
          </a:xfrm>
        </p:grpSpPr>
        <p:sp>
          <p:nvSpPr>
            <p:cNvPr id="8301" name="AutoShape 4"/>
            <p:cNvSpPr>
              <a:spLocks noChangeArrowheads="1"/>
            </p:cNvSpPr>
            <p:nvPr/>
          </p:nvSpPr>
          <p:spPr bwMode="invGray">
            <a:xfrm>
              <a:off x="4324" y="1324"/>
              <a:ext cx="647" cy="551"/>
            </a:xfrm>
            <a:prstGeom prst="can">
              <a:avLst>
                <a:gd name="adj" fmla="val 17333"/>
              </a:avLst>
            </a:prstGeom>
            <a:solidFill>
              <a:schemeClr val="accent1"/>
            </a:solidFill>
            <a:ln w="28575">
              <a:solidFill>
                <a:schemeClr val="tx2"/>
              </a:solidFill>
              <a:round/>
              <a:headEnd/>
              <a:tailEnd/>
            </a:ln>
          </p:spPr>
          <p:txBody>
            <a:bodyPr wrap="none" anchor="ctr"/>
            <a:lstStyle/>
            <a:p>
              <a:endParaRPr lang="en-US"/>
            </a:p>
          </p:txBody>
        </p:sp>
        <p:sp>
          <p:nvSpPr>
            <p:cNvPr id="8302" name="Text Box 5"/>
            <p:cNvSpPr txBox="1">
              <a:spLocks noChangeArrowheads="1"/>
            </p:cNvSpPr>
            <p:nvPr/>
          </p:nvSpPr>
          <p:spPr bwMode="invGray">
            <a:xfrm>
              <a:off x="4405" y="1395"/>
              <a:ext cx="4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99CCFF"/>
                  </a:solidFill>
                </a:rPr>
                <a:t>cc</a:t>
              </a:r>
              <a:br>
                <a:rPr lang="en-US">
                  <a:solidFill>
                    <a:srgbClr val="99CCFF"/>
                  </a:solidFill>
                </a:rPr>
              </a:br>
              <a:r>
                <a:rPr lang="en-US">
                  <a:solidFill>
                    <a:srgbClr val="99CCFF"/>
                  </a:solidFill>
                </a:rPr>
                <a:t>data</a:t>
              </a:r>
            </a:p>
          </p:txBody>
        </p:sp>
      </p:grpSp>
      <p:grpSp>
        <p:nvGrpSpPr>
          <p:cNvPr id="8197" name="Group 260"/>
          <p:cNvGrpSpPr>
            <a:grpSpLocks/>
          </p:cNvGrpSpPr>
          <p:nvPr/>
        </p:nvGrpSpPr>
        <p:grpSpPr bwMode="auto">
          <a:xfrm>
            <a:off x="6043613" y="1722438"/>
            <a:ext cx="1147762" cy="449262"/>
            <a:chOff x="3591" y="1357"/>
            <a:chExt cx="723" cy="283"/>
          </a:xfrm>
        </p:grpSpPr>
        <p:sp>
          <p:nvSpPr>
            <p:cNvPr id="8296" name="Freeform 47"/>
            <p:cNvSpPr>
              <a:spLocks/>
            </p:cNvSpPr>
            <p:nvPr/>
          </p:nvSpPr>
          <p:spPr bwMode="auto">
            <a:xfrm flipH="1">
              <a:off x="3591" y="1371"/>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7" name="Freeform 48"/>
            <p:cNvSpPr>
              <a:spLocks/>
            </p:cNvSpPr>
            <p:nvPr/>
          </p:nvSpPr>
          <p:spPr bwMode="auto">
            <a:xfrm flipH="1">
              <a:off x="3712" y="1411"/>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8" name="Freeform 49"/>
            <p:cNvSpPr>
              <a:spLocks/>
            </p:cNvSpPr>
            <p:nvPr/>
          </p:nvSpPr>
          <p:spPr bwMode="auto">
            <a:xfrm flipH="1">
              <a:off x="3705" y="1457"/>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99" name="Freeform 50"/>
            <p:cNvSpPr>
              <a:spLocks/>
            </p:cNvSpPr>
            <p:nvPr/>
          </p:nvSpPr>
          <p:spPr bwMode="auto">
            <a:xfrm flipH="1">
              <a:off x="3708" y="1406"/>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00" name="Freeform 51"/>
            <p:cNvSpPr>
              <a:spLocks/>
            </p:cNvSpPr>
            <p:nvPr/>
          </p:nvSpPr>
          <p:spPr bwMode="auto">
            <a:xfrm flipH="1">
              <a:off x="3750" y="1357"/>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8198" name="Group 214"/>
          <p:cNvGrpSpPr>
            <a:grpSpLocks/>
          </p:cNvGrpSpPr>
          <p:nvPr/>
        </p:nvGrpSpPr>
        <p:grpSpPr bwMode="auto">
          <a:xfrm>
            <a:off x="2744788" y="1292225"/>
            <a:ext cx="758825" cy="558800"/>
            <a:chOff x="2083" y="1606"/>
            <a:chExt cx="1489" cy="1097"/>
          </a:xfrm>
        </p:grpSpPr>
        <p:sp>
          <p:nvSpPr>
            <p:cNvPr id="8263" name="Rectangle 21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264" name="Freeform 21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65" name="Freeform 21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66" name="Freeform 21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67" name="Freeform 21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8268" name="Rectangle 22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269" name="Rectangle 22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70" name="AutoShape 22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271" name="Freeform 223"/>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72" name="Freeform 224"/>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73" name="Rectangle 22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74" name="Rectangle 22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75" name="Rectangle 22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276" name="Group 228"/>
            <p:cNvGrpSpPr>
              <a:grpSpLocks/>
            </p:cNvGrpSpPr>
            <p:nvPr/>
          </p:nvGrpSpPr>
          <p:grpSpPr bwMode="auto">
            <a:xfrm>
              <a:off x="2221" y="1871"/>
              <a:ext cx="518" cy="782"/>
              <a:chOff x="2400" y="1656"/>
              <a:chExt cx="752" cy="1136"/>
            </a:xfrm>
          </p:grpSpPr>
          <p:sp>
            <p:nvSpPr>
              <p:cNvPr id="8289" name="Freeform 2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90" name="Freeform 2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91" name="Freeform 2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292" name="Freeform 2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93" name="Freeform 2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294" name="Line 2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95" name="Line 2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77" name="Group 236"/>
            <p:cNvGrpSpPr>
              <a:grpSpLocks/>
            </p:cNvGrpSpPr>
            <p:nvPr/>
          </p:nvGrpSpPr>
          <p:grpSpPr bwMode="auto">
            <a:xfrm rot="-6511945">
              <a:off x="2834" y="1842"/>
              <a:ext cx="518" cy="783"/>
              <a:chOff x="2400" y="1656"/>
              <a:chExt cx="752" cy="1136"/>
            </a:xfrm>
          </p:grpSpPr>
          <p:sp>
            <p:nvSpPr>
              <p:cNvPr id="8282" name="Freeform 23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83" name="Freeform 23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84" name="Freeform 23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85" name="Freeform 24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86" name="Freeform 24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87" name="Line 24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88" name="Line 24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78" name="Freeform 244"/>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79" name="Freeform 245"/>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80" name="Rectangle 24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81" name="Rectangle 24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8199" name="Text Box 248"/>
          <p:cNvSpPr txBox="1">
            <a:spLocks noChangeArrowheads="1"/>
          </p:cNvSpPr>
          <p:nvPr/>
        </p:nvSpPr>
        <p:spPr bwMode="auto">
          <a:xfrm>
            <a:off x="533400" y="1308100"/>
            <a:ext cx="2133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rating = no fault</a:t>
            </a:r>
            <a:br>
              <a:rPr lang="en-US" sz="1800">
                <a:solidFill>
                  <a:schemeClr val="bg1"/>
                </a:solidFill>
              </a:rPr>
            </a:br>
            <a:r>
              <a:rPr lang="en-US" sz="1800">
                <a:solidFill>
                  <a:schemeClr val="bg1"/>
                </a:solidFill>
              </a:rPr>
              <a:t>state = CA</a:t>
            </a:r>
          </a:p>
        </p:txBody>
      </p:sp>
      <p:grpSp>
        <p:nvGrpSpPr>
          <p:cNvPr id="8200" name="Group 176"/>
          <p:cNvGrpSpPr>
            <a:grpSpLocks/>
          </p:cNvGrpSpPr>
          <p:nvPr/>
        </p:nvGrpSpPr>
        <p:grpSpPr bwMode="auto">
          <a:xfrm>
            <a:off x="2782888" y="3425825"/>
            <a:ext cx="758825" cy="558800"/>
            <a:chOff x="2083" y="1606"/>
            <a:chExt cx="1489" cy="1097"/>
          </a:xfrm>
        </p:grpSpPr>
        <p:sp>
          <p:nvSpPr>
            <p:cNvPr id="8230" name="Rectangle 17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231" name="Freeform 17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32" name="Freeform 17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33" name="Freeform 18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234" name="Freeform 18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8235" name="Rectangle 18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236" name="Rectangle 18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37" name="AutoShape 18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238" name="Freeform 185"/>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39" name="Freeform 186"/>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40" name="Rectangle 18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41" name="Rectangle 18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42" name="Rectangle 18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243" name="Group 190"/>
            <p:cNvGrpSpPr>
              <a:grpSpLocks/>
            </p:cNvGrpSpPr>
            <p:nvPr/>
          </p:nvGrpSpPr>
          <p:grpSpPr bwMode="auto">
            <a:xfrm>
              <a:off x="2221" y="1871"/>
              <a:ext cx="518" cy="782"/>
              <a:chOff x="2400" y="1656"/>
              <a:chExt cx="752" cy="1136"/>
            </a:xfrm>
          </p:grpSpPr>
          <p:sp>
            <p:nvSpPr>
              <p:cNvPr id="8256" name="Freeform 19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57" name="Freeform 19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8" name="Freeform 19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259" name="Freeform 19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60" name="Freeform 19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261" name="Line 19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62" name="Line 19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44" name="Group 198"/>
            <p:cNvGrpSpPr>
              <a:grpSpLocks/>
            </p:cNvGrpSpPr>
            <p:nvPr/>
          </p:nvGrpSpPr>
          <p:grpSpPr bwMode="auto">
            <a:xfrm rot="-6511945">
              <a:off x="2834" y="1842"/>
              <a:ext cx="518" cy="783"/>
              <a:chOff x="2400" y="1656"/>
              <a:chExt cx="752" cy="1136"/>
            </a:xfrm>
          </p:grpSpPr>
          <p:sp>
            <p:nvSpPr>
              <p:cNvPr id="8249" name="Freeform 19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50" name="Freeform 20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1" name="Freeform 20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2" name="Freeform 20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3" name="Freeform 20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254" name="Line 20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55" name="Line 20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45" name="Freeform 206"/>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46" name="Freeform 207"/>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247" name="Rectangle 20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48" name="Rectangle 20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8201" name="Text Box 210"/>
          <p:cNvSpPr txBox="1">
            <a:spLocks noChangeArrowheads="1"/>
          </p:cNvSpPr>
          <p:nvPr/>
        </p:nvSpPr>
        <p:spPr bwMode="auto">
          <a:xfrm>
            <a:off x="571500" y="3441700"/>
            <a:ext cx="21336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rating = no fault</a:t>
            </a:r>
            <a:br>
              <a:rPr lang="en-US" sz="1800">
                <a:solidFill>
                  <a:schemeClr val="bg1"/>
                </a:solidFill>
              </a:rPr>
            </a:br>
            <a:r>
              <a:rPr lang="en-US" sz="1800">
                <a:solidFill>
                  <a:schemeClr val="bg1"/>
                </a:solidFill>
              </a:rPr>
              <a:t>state = CA</a:t>
            </a:r>
          </a:p>
        </p:txBody>
      </p:sp>
      <p:sp>
        <p:nvSpPr>
          <p:cNvPr id="8204" name="Rectangle 262"/>
          <p:cNvSpPr>
            <a:spLocks noChangeArrowheads="1"/>
          </p:cNvSpPr>
          <p:nvPr/>
        </p:nvSpPr>
        <p:spPr bwMode="auto">
          <a:xfrm>
            <a:off x="4779963" y="2149475"/>
            <a:ext cx="2351087" cy="912813"/>
          </a:xfrm>
          <a:prstGeom prst="rect">
            <a:avLst/>
          </a:prstGeom>
          <a:solidFill>
            <a:srgbClr val="CC99FF"/>
          </a:solidFill>
          <a:ln w="12700" algn="ctr">
            <a:solidFill>
              <a:schemeClr val="bg1"/>
            </a:solidFill>
            <a:miter lim="800000"/>
            <a:headEnd/>
            <a:tailEnd/>
          </a:ln>
        </p:spPr>
        <p:txBody>
          <a:bodyPr lIns="0" tIns="0" rIns="0" bIns="0" anchor="ctr">
            <a:spAutoFit/>
          </a:bodyPr>
          <a:lstStyle/>
          <a:p>
            <a:endParaRPr lang="en-US"/>
          </a:p>
        </p:txBody>
      </p:sp>
      <p:grpSp>
        <p:nvGrpSpPr>
          <p:cNvPr id="8205" name="Group 58"/>
          <p:cNvGrpSpPr>
            <a:grpSpLocks/>
          </p:cNvGrpSpPr>
          <p:nvPr/>
        </p:nvGrpSpPr>
        <p:grpSpPr bwMode="auto">
          <a:xfrm>
            <a:off x="4249738" y="2540000"/>
            <a:ext cx="669925" cy="636588"/>
            <a:chOff x="2149" y="1480"/>
            <a:chExt cx="523" cy="497"/>
          </a:xfrm>
        </p:grpSpPr>
        <p:sp>
          <p:nvSpPr>
            <p:cNvPr id="8224" name="Freeform 59"/>
            <p:cNvSpPr>
              <a:spLocks/>
            </p:cNvSpPr>
            <p:nvPr/>
          </p:nvSpPr>
          <p:spPr bwMode="auto">
            <a:xfrm flipH="1">
              <a:off x="2149" y="148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5" name="Freeform 60"/>
            <p:cNvSpPr>
              <a:spLocks/>
            </p:cNvSpPr>
            <p:nvPr/>
          </p:nvSpPr>
          <p:spPr bwMode="auto">
            <a:xfrm flipH="1">
              <a:off x="2453" y="163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6" name="Freeform 61"/>
            <p:cNvSpPr>
              <a:spLocks/>
            </p:cNvSpPr>
            <p:nvPr/>
          </p:nvSpPr>
          <p:spPr bwMode="auto">
            <a:xfrm flipH="1">
              <a:off x="2156" y="148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7" name="Freeform 62"/>
            <p:cNvSpPr>
              <a:spLocks/>
            </p:cNvSpPr>
            <p:nvPr/>
          </p:nvSpPr>
          <p:spPr bwMode="auto">
            <a:xfrm flipH="1">
              <a:off x="2343" y="191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206" name="Text Box 268"/>
          <p:cNvSpPr txBox="1">
            <a:spLocks noChangeArrowheads="1"/>
          </p:cNvSpPr>
          <p:nvPr/>
        </p:nvSpPr>
        <p:spPr bwMode="auto">
          <a:xfrm>
            <a:off x="4813300" y="2197100"/>
            <a:ext cx="22225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if Fault Rating is "no fault",</a:t>
            </a:r>
            <a:br>
              <a:rPr lang="en-US" sz="1800">
                <a:solidFill>
                  <a:schemeClr val="bg1"/>
                </a:solidFill>
              </a:rPr>
            </a:br>
            <a:r>
              <a:rPr lang="en-US" sz="1800">
                <a:solidFill>
                  <a:schemeClr val="bg1"/>
                </a:solidFill>
              </a:rPr>
              <a:t>state is required</a:t>
            </a:r>
          </a:p>
        </p:txBody>
      </p:sp>
      <p:grpSp>
        <p:nvGrpSpPr>
          <p:cNvPr id="12" name="Group 277"/>
          <p:cNvGrpSpPr>
            <a:grpSpLocks/>
          </p:cNvGrpSpPr>
          <p:nvPr/>
        </p:nvGrpSpPr>
        <p:grpSpPr bwMode="auto">
          <a:xfrm>
            <a:off x="2044700" y="1574800"/>
            <a:ext cx="876300" cy="541338"/>
            <a:chOff x="1288" y="992"/>
            <a:chExt cx="552" cy="341"/>
          </a:xfrm>
        </p:grpSpPr>
        <p:sp>
          <p:nvSpPr>
            <p:cNvPr id="8222" name="Line 270"/>
            <p:cNvSpPr>
              <a:spLocks noChangeShapeType="1"/>
            </p:cNvSpPr>
            <p:nvPr/>
          </p:nvSpPr>
          <p:spPr bwMode="auto">
            <a:xfrm flipH="1">
              <a:off x="1288" y="992"/>
              <a:ext cx="552" cy="216"/>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23" name="Text Box 271"/>
            <p:cNvSpPr txBox="1">
              <a:spLocks noChangeArrowheads="1"/>
            </p:cNvSpPr>
            <p:nvPr/>
          </p:nvSpPr>
          <p:spPr bwMode="auto">
            <a:xfrm>
              <a:off x="1416" y="1160"/>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null</a:t>
              </a:r>
            </a:p>
          </p:txBody>
        </p:sp>
      </p:grpSp>
      <p:grpSp>
        <p:nvGrpSpPr>
          <p:cNvPr id="13" name="Group 279"/>
          <p:cNvGrpSpPr>
            <a:grpSpLocks/>
          </p:cNvGrpSpPr>
          <p:nvPr/>
        </p:nvGrpSpPr>
        <p:grpSpPr bwMode="auto">
          <a:xfrm>
            <a:off x="2108200" y="3721100"/>
            <a:ext cx="876300" cy="541338"/>
            <a:chOff x="1328" y="2344"/>
            <a:chExt cx="552" cy="341"/>
          </a:xfrm>
        </p:grpSpPr>
        <p:sp>
          <p:nvSpPr>
            <p:cNvPr id="8220" name="Line 272"/>
            <p:cNvSpPr>
              <a:spLocks noChangeShapeType="1"/>
            </p:cNvSpPr>
            <p:nvPr/>
          </p:nvSpPr>
          <p:spPr bwMode="auto">
            <a:xfrm flipH="1">
              <a:off x="1328" y="2344"/>
              <a:ext cx="552" cy="216"/>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21" name="Text Box 273"/>
            <p:cNvSpPr txBox="1">
              <a:spLocks noChangeArrowheads="1"/>
            </p:cNvSpPr>
            <p:nvPr/>
          </p:nvSpPr>
          <p:spPr bwMode="auto">
            <a:xfrm>
              <a:off x="1456" y="2512"/>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NY</a:t>
              </a:r>
            </a:p>
          </p:txBody>
        </p:sp>
      </p:grpSp>
      <p:grpSp>
        <p:nvGrpSpPr>
          <p:cNvPr id="8210" name="Group 281"/>
          <p:cNvGrpSpPr>
            <a:grpSpLocks/>
          </p:cNvGrpSpPr>
          <p:nvPr/>
        </p:nvGrpSpPr>
        <p:grpSpPr bwMode="auto">
          <a:xfrm>
            <a:off x="8632825" y="79375"/>
            <a:ext cx="431800" cy="461963"/>
            <a:chOff x="3777" y="1768"/>
            <a:chExt cx="467" cy="499"/>
          </a:xfrm>
        </p:grpSpPr>
        <p:sp>
          <p:nvSpPr>
            <p:cNvPr id="8214" name="Rectangle 282"/>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15" name="AutoShape 283"/>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6" name="Group 284"/>
          <p:cNvGrpSpPr>
            <a:grpSpLocks/>
          </p:cNvGrpSpPr>
          <p:nvPr/>
        </p:nvGrpSpPr>
        <p:grpSpPr bwMode="auto">
          <a:xfrm>
            <a:off x="8632825" y="79375"/>
            <a:ext cx="431800" cy="461963"/>
            <a:chOff x="2967" y="1718"/>
            <a:chExt cx="467" cy="499"/>
          </a:xfrm>
        </p:grpSpPr>
        <p:sp>
          <p:nvSpPr>
            <p:cNvPr id="8212" name="Rectangle 285"/>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13" name="Rectangle 286"/>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2" name="Group 1"/>
          <p:cNvGrpSpPr/>
          <p:nvPr/>
        </p:nvGrpSpPr>
        <p:grpSpPr>
          <a:xfrm>
            <a:off x="3179441" y="896938"/>
            <a:ext cx="2640334" cy="788987"/>
            <a:chOff x="3179441" y="896938"/>
            <a:chExt cx="2640334" cy="788987"/>
          </a:xfrm>
        </p:grpSpPr>
        <p:grpSp>
          <p:nvGrpSpPr>
            <p:cNvPr id="14" name="Group 278"/>
            <p:cNvGrpSpPr>
              <a:grpSpLocks/>
            </p:cNvGrpSpPr>
            <p:nvPr/>
          </p:nvGrpSpPr>
          <p:grpSpPr bwMode="auto">
            <a:xfrm>
              <a:off x="3937000" y="896938"/>
              <a:ext cx="1882775" cy="788987"/>
              <a:chOff x="2480" y="565"/>
              <a:chExt cx="1186" cy="497"/>
            </a:xfrm>
          </p:grpSpPr>
          <p:sp>
            <p:nvSpPr>
              <p:cNvPr id="8217" name="Line 251"/>
              <p:cNvSpPr>
                <a:spLocks noChangeShapeType="1"/>
              </p:cNvSpPr>
              <p:nvPr/>
            </p:nvSpPr>
            <p:spPr bwMode="auto">
              <a:xfrm>
                <a:off x="2480" y="816"/>
                <a:ext cx="1112" cy="0"/>
              </a:xfrm>
              <a:prstGeom prst="line">
                <a:avLst/>
              </a:prstGeom>
              <a:noFill/>
              <a:ln w="28575">
                <a:solidFill>
                  <a:srgbClr val="CC66FF"/>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18" name="Rectangle 275"/>
              <p:cNvSpPr>
                <a:spLocks noChangeArrowheads="1"/>
              </p:cNvSpPr>
              <p:nvPr/>
            </p:nvSpPr>
            <p:spPr bwMode="auto">
              <a:xfrm rot="2645782">
                <a:off x="3542" y="565"/>
                <a:ext cx="124" cy="497"/>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8219" name="Rectangle 276"/>
              <p:cNvSpPr>
                <a:spLocks noChangeArrowheads="1"/>
              </p:cNvSpPr>
              <p:nvPr/>
            </p:nvSpPr>
            <p:spPr bwMode="auto">
              <a:xfrm rot="18954218" flipH="1">
                <a:off x="3542" y="565"/>
                <a:ext cx="124" cy="497"/>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pic>
          <p:nvPicPr>
            <p:cNvPr id="1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441" y="993366"/>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 name="Group 2"/>
          <p:cNvGrpSpPr/>
          <p:nvPr/>
        </p:nvGrpSpPr>
        <p:grpSpPr>
          <a:xfrm>
            <a:off x="3179441" y="3022600"/>
            <a:ext cx="4605659" cy="787400"/>
            <a:chOff x="3179441" y="3022600"/>
            <a:chExt cx="4605659" cy="787400"/>
          </a:xfrm>
        </p:grpSpPr>
        <p:grpSp>
          <p:nvGrpSpPr>
            <p:cNvPr id="10" name="Group 280"/>
            <p:cNvGrpSpPr>
              <a:grpSpLocks/>
            </p:cNvGrpSpPr>
            <p:nvPr/>
          </p:nvGrpSpPr>
          <p:grpSpPr bwMode="auto">
            <a:xfrm>
              <a:off x="3543300" y="3022600"/>
              <a:ext cx="4241800" cy="787400"/>
              <a:chOff x="2232" y="1904"/>
              <a:chExt cx="2672" cy="496"/>
            </a:xfrm>
          </p:grpSpPr>
          <p:sp>
            <p:nvSpPr>
              <p:cNvPr id="8228" name="Line 253"/>
              <p:cNvSpPr>
                <a:spLocks noChangeShapeType="1"/>
              </p:cNvSpPr>
              <p:nvPr/>
            </p:nvSpPr>
            <p:spPr bwMode="auto">
              <a:xfrm>
                <a:off x="2232" y="2400"/>
                <a:ext cx="2224" cy="0"/>
              </a:xfrm>
              <a:prstGeom prst="line">
                <a:avLst/>
              </a:prstGeom>
              <a:noFill/>
              <a:ln w="28575">
                <a:solidFill>
                  <a:srgbClr val="CC00FF"/>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29" name="Line 254"/>
              <p:cNvSpPr>
                <a:spLocks noChangeShapeType="1"/>
              </p:cNvSpPr>
              <p:nvPr/>
            </p:nvSpPr>
            <p:spPr bwMode="auto">
              <a:xfrm flipV="1">
                <a:off x="4456" y="1904"/>
                <a:ext cx="448" cy="496"/>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pic>
          <p:nvPicPr>
            <p:cNvPr id="1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441" y="3134319"/>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par>
                          <p:cTn id="23" fill="hold">
                            <p:stCondLst>
                              <p:cond delay="500"/>
                            </p:stCondLst>
                            <p:childTnLst>
                              <p:par>
                                <p:cTn id="24" presetID="17" presetClass="entr" presetSubtype="10"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p:cTn id="26" dur="500" fill="hold"/>
                                        <p:tgtEl>
                                          <p:spTgt spid="16"/>
                                        </p:tgtEl>
                                        <p:attrNameLst>
                                          <p:attrName>ppt_w</p:attrName>
                                        </p:attrNameLst>
                                      </p:cBhvr>
                                      <p:tavLst>
                                        <p:tav tm="0">
                                          <p:val>
                                            <p:fltVal val="0"/>
                                          </p:val>
                                        </p:tav>
                                        <p:tav tm="100000">
                                          <p:val>
                                            <p:strVal val="#ppt_w"/>
                                          </p:val>
                                        </p:tav>
                                      </p:tavLst>
                                    </p:anim>
                                    <p:anim calcmode="lin" valueType="num">
                                      <p:cBhvr>
                                        <p:cTn id="27"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3"/>
          <p:cNvGrpSpPr>
            <a:grpSpLocks/>
          </p:cNvGrpSpPr>
          <p:nvPr/>
        </p:nvGrpSpPr>
        <p:grpSpPr bwMode="auto">
          <a:xfrm>
            <a:off x="2744788" y="1292225"/>
            <a:ext cx="758825" cy="558800"/>
            <a:chOff x="2083" y="1606"/>
            <a:chExt cx="1489" cy="1097"/>
          </a:xfrm>
        </p:grpSpPr>
        <p:sp>
          <p:nvSpPr>
            <p:cNvPr id="9299" name="Rectangle 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300" name="Freeform 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01" name="Freeform 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02" name="Freeform 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303" name="Freeform 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304" name="Rectangle 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305" name="Rectangle 1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06" name="AutoShape 1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307" name="Freeform 12"/>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08" name="Freeform 13"/>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09" name="Rectangle 1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10" name="Rectangle 1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11" name="Rectangle 1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312" name="Group 17"/>
            <p:cNvGrpSpPr>
              <a:grpSpLocks/>
            </p:cNvGrpSpPr>
            <p:nvPr/>
          </p:nvGrpSpPr>
          <p:grpSpPr bwMode="auto">
            <a:xfrm>
              <a:off x="2221" y="1871"/>
              <a:ext cx="518" cy="782"/>
              <a:chOff x="2400" y="1656"/>
              <a:chExt cx="752" cy="1136"/>
            </a:xfrm>
          </p:grpSpPr>
          <p:sp>
            <p:nvSpPr>
              <p:cNvPr id="9325" name="Freeform 1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26" name="Freeform 1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7" name="Freeform 2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328" name="Freeform 2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9" name="Freeform 2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330" name="Line 2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331" name="Line 2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313" name="Group 25"/>
            <p:cNvGrpSpPr>
              <a:grpSpLocks/>
            </p:cNvGrpSpPr>
            <p:nvPr/>
          </p:nvGrpSpPr>
          <p:grpSpPr bwMode="auto">
            <a:xfrm rot="-6511945">
              <a:off x="2834" y="1842"/>
              <a:ext cx="518" cy="783"/>
              <a:chOff x="2400" y="1656"/>
              <a:chExt cx="752" cy="1136"/>
            </a:xfrm>
          </p:grpSpPr>
          <p:sp>
            <p:nvSpPr>
              <p:cNvPr id="9318"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9"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0"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1"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2"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323"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324"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314" name="Freeform 33"/>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5" name="Freeform 34"/>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316" name="Rectangle 3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317" name="Rectangle 3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9219" name="Text Box 37"/>
          <p:cNvSpPr txBox="1">
            <a:spLocks noChangeArrowheads="1"/>
          </p:cNvSpPr>
          <p:nvPr/>
        </p:nvSpPr>
        <p:spPr bwMode="auto">
          <a:xfrm>
            <a:off x="401638" y="1149350"/>
            <a:ext cx="17653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2</a:t>
            </a:r>
            <a:br>
              <a:rPr lang="en-US" sz="1800">
                <a:solidFill>
                  <a:schemeClr val="bg1"/>
                </a:solidFill>
              </a:rPr>
            </a:br>
            <a:r>
              <a:rPr lang="en-US" sz="1800">
                <a:solidFill>
                  <a:schemeClr val="bg1"/>
                </a:solidFill>
              </a:rPr>
              <a:t>county = null</a:t>
            </a:r>
            <a:br>
              <a:rPr lang="en-US" sz="1800">
                <a:solidFill>
                  <a:schemeClr val="bg1"/>
                </a:solidFill>
              </a:rPr>
            </a:br>
            <a:r>
              <a:rPr lang="en-US" sz="1800">
                <a:solidFill>
                  <a:schemeClr val="bg1"/>
                </a:solidFill>
              </a:rPr>
              <a:t>state = null</a:t>
            </a:r>
          </a:p>
        </p:txBody>
      </p:sp>
      <p:sp>
        <p:nvSpPr>
          <p:cNvPr id="9220" name="Rectangle 39"/>
          <p:cNvSpPr>
            <a:spLocks noGrp="1" noChangeArrowheads="1"/>
          </p:cNvSpPr>
          <p:nvPr>
            <p:ph type="title"/>
          </p:nvPr>
        </p:nvSpPr>
        <p:spPr/>
        <p:txBody>
          <a:bodyPr/>
          <a:lstStyle/>
          <a:p>
            <a:pPr eaLnBrk="1" hangingPunct="1"/>
            <a:r>
              <a:rPr lang="en-US"/>
              <a:t>Logic tied to object maturity level (1)</a:t>
            </a:r>
          </a:p>
        </p:txBody>
      </p:sp>
      <p:sp>
        <p:nvSpPr>
          <p:cNvPr id="9221" name="Rectangle 40"/>
          <p:cNvSpPr>
            <a:spLocks noGrp="1" noChangeArrowheads="1"/>
          </p:cNvSpPr>
          <p:nvPr>
            <p:ph idx="1"/>
          </p:nvPr>
        </p:nvSpPr>
        <p:spPr>
          <a:xfrm>
            <a:off x="519113" y="4659313"/>
            <a:ext cx="8318500" cy="1730375"/>
          </a:xfrm>
        </p:spPr>
        <p:txBody>
          <a:bodyPr/>
          <a:lstStyle/>
          <a:p>
            <a:pPr>
              <a:buFont typeface="Arial" charset="0"/>
              <a:buChar char="•"/>
            </a:pPr>
            <a:r>
              <a:rPr lang="en-US"/>
              <a:t>When object is below level and doesn't meet condition</a:t>
            </a:r>
          </a:p>
          <a:p>
            <a:pPr lvl="1"/>
            <a:r>
              <a:rPr lang="en-US"/>
              <a:t>Save is allowed but object does not get promoted </a:t>
            </a:r>
          </a:p>
          <a:p>
            <a:pPr>
              <a:buFont typeface="Arial" charset="0"/>
              <a:buChar char="•"/>
            </a:pPr>
            <a:r>
              <a:rPr lang="en-US"/>
              <a:t>When object is below level and meets condition</a:t>
            </a:r>
          </a:p>
          <a:p>
            <a:pPr lvl="1"/>
            <a:r>
              <a:rPr lang="en-US"/>
              <a:t>Save is allowed and object gets promoted</a:t>
            </a:r>
          </a:p>
          <a:p>
            <a:pPr>
              <a:buFont typeface="Arial" charset="0"/>
              <a:buChar char="•"/>
            </a:pPr>
            <a:endParaRPr lang="en-US"/>
          </a:p>
        </p:txBody>
      </p:sp>
      <p:grpSp>
        <p:nvGrpSpPr>
          <p:cNvPr id="9222" name="Group 41"/>
          <p:cNvGrpSpPr>
            <a:grpSpLocks/>
          </p:cNvGrpSpPr>
          <p:nvPr/>
        </p:nvGrpSpPr>
        <p:grpSpPr bwMode="auto">
          <a:xfrm>
            <a:off x="7778750" y="2216150"/>
            <a:ext cx="1027113" cy="874713"/>
            <a:chOff x="4324" y="1324"/>
            <a:chExt cx="647" cy="551"/>
          </a:xfrm>
        </p:grpSpPr>
        <p:sp>
          <p:nvSpPr>
            <p:cNvPr id="9297" name="AutoShape 42"/>
            <p:cNvSpPr>
              <a:spLocks noChangeArrowheads="1"/>
            </p:cNvSpPr>
            <p:nvPr/>
          </p:nvSpPr>
          <p:spPr bwMode="invGray">
            <a:xfrm>
              <a:off x="4324" y="1324"/>
              <a:ext cx="647" cy="551"/>
            </a:xfrm>
            <a:prstGeom prst="can">
              <a:avLst>
                <a:gd name="adj" fmla="val 17333"/>
              </a:avLst>
            </a:prstGeom>
            <a:solidFill>
              <a:schemeClr val="accent1"/>
            </a:solidFill>
            <a:ln w="28575">
              <a:solidFill>
                <a:schemeClr val="tx2"/>
              </a:solidFill>
              <a:round/>
              <a:headEnd/>
              <a:tailEnd/>
            </a:ln>
          </p:spPr>
          <p:txBody>
            <a:bodyPr wrap="none" anchor="ctr"/>
            <a:lstStyle/>
            <a:p>
              <a:endParaRPr lang="en-US"/>
            </a:p>
          </p:txBody>
        </p:sp>
        <p:sp>
          <p:nvSpPr>
            <p:cNvPr id="9298" name="Text Box 43"/>
            <p:cNvSpPr txBox="1">
              <a:spLocks noChangeArrowheads="1"/>
            </p:cNvSpPr>
            <p:nvPr/>
          </p:nvSpPr>
          <p:spPr bwMode="invGray">
            <a:xfrm>
              <a:off x="4405" y="1395"/>
              <a:ext cx="4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99CCFF"/>
                  </a:solidFill>
                </a:rPr>
                <a:t>cc</a:t>
              </a:r>
              <a:br>
                <a:rPr lang="en-US">
                  <a:solidFill>
                    <a:srgbClr val="99CCFF"/>
                  </a:solidFill>
                </a:rPr>
              </a:br>
              <a:r>
                <a:rPr lang="en-US">
                  <a:solidFill>
                    <a:srgbClr val="99CCFF"/>
                  </a:solidFill>
                </a:rPr>
                <a:t>data</a:t>
              </a:r>
            </a:p>
          </p:txBody>
        </p:sp>
      </p:grpSp>
      <p:grpSp>
        <p:nvGrpSpPr>
          <p:cNvPr id="9223" name="Group 44"/>
          <p:cNvGrpSpPr>
            <a:grpSpLocks/>
          </p:cNvGrpSpPr>
          <p:nvPr/>
        </p:nvGrpSpPr>
        <p:grpSpPr bwMode="auto">
          <a:xfrm>
            <a:off x="6043613" y="1722438"/>
            <a:ext cx="1147762" cy="449262"/>
            <a:chOff x="3591" y="1357"/>
            <a:chExt cx="723" cy="283"/>
          </a:xfrm>
        </p:grpSpPr>
        <p:sp>
          <p:nvSpPr>
            <p:cNvPr id="9292" name="Freeform 45"/>
            <p:cNvSpPr>
              <a:spLocks/>
            </p:cNvSpPr>
            <p:nvPr/>
          </p:nvSpPr>
          <p:spPr bwMode="auto">
            <a:xfrm flipH="1">
              <a:off x="3591" y="1371"/>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3" name="Freeform 46"/>
            <p:cNvSpPr>
              <a:spLocks/>
            </p:cNvSpPr>
            <p:nvPr/>
          </p:nvSpPr>
          <p:spPr bwMode="auto">
            <a:xfrm flipH="1">
              <a:off x="3712" y="1411"/>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4" name="Freeform 47"/>
            <p:cNvSpPr>
              <a:spLocks/>
            </p:cNvSpPr>
            <p:nvPr/>
          </p:nvSpPr>
          <p:spPr bwMode="auto">
            <a:xfrm flipH="1">
              <a:off x="3705" y="1457"/>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5" name="Freeform 48"/>
            <p:cNvSpPr>
              <a:spLocks/>
            </p:cNvSpPr>
            <p:nvPr/>
          </p:nvSpPr>
          <p:spPr bwMode="auto">
            <a:xfrm flipH="1">
              <a:off x="3708" y="1406"/>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96" name="Freeform 49"/>
            <p:cNvSpPr>
              <a:spLocks/>
            </p:cNvSpPr>
            <p:nvPr/>
          </p:nvSpPr>
          <p:spPr bwMode="auto">
            <a:xfrm flipH="1">
              <a:off x="3750" y="1357"/>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9224" name="Group 51"/>
          <p:cNvGrpSpPr>
            <a:grpSpLocks/>
          </p:cNvGrpSpPr>
          <p:nvPr/>
        </p:nvGrpSpPr>
        <p:grpSpPr bwMode="auto">
          <a:xfrm>
            <a:off x="2782888" y="3425825"/>
            <a:ext cx="758825" cy="558800"/>
            <a:chOff x="2083" y="1606"/>
            <a:chExt cx="1489" cy="1097"/>
          </a:xfrm>
        </p:grpSpPr>
        <p:sp>
          <p:nvSpPr>
            <p:cNvPr id="9259" name="Rectangle 5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260" name="Freeform 5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1" name="Freeform 5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2" name="Freeform 5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63" name="Freeform 5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264" name="Rectangle 5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265" name="Rectangle 5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6" name="AutoShape 5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267" name="Freeform 60"/>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68" name="Freeform 61"/>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69" name="Rectangle 6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0" name="Rectangle 6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1" name="Rectangle 6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272" name="Group 65"/>
            <p:cNvGrpSpPr>
              <a:grpSpLocks/>
            </p:cNvGrpSpPr>
            <p:nvPr/>
          </p:nvGrpSpPr>
          <p:grpSpPr bwMode="auto">
            <a:xfrm>
              <a:off x="2221" y="1871"/>
              <a:ext cx="518" cy="782"/>
              <a:chOff x="2400" y="1656"/>
              <a:chExt cx="752" cy="1136"/>
            </a:xfrm>
          </p:grpSpPr>
          <p:sp>
            <p:nvSpPr>
              <p:cNvPr id="9285"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86"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7"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288"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9"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290"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91"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73" name="Group 73"/>
            <p:cNvGrpSpPr>
              <a:grpSpLocks/>
            </p:cNvGrpSpPr>
            <p:nvPr/>
          </p:nvGrpSpPr>
          <p:grpSpPr bwMode="auto">
            <a:xfrm rot="-6511945">
              <a:off x="2834" y="1842"/>
              <a:ext cx="518" cy="783"/>
              <a:chOff x="2400" y="1656"/>
              <a:chExt cx="752" cy="1136"/>
            </a:xfrm>
          </p:grpSpPr>
          <p:sp>
            <p:nvSpPr>
              <p:cNvPr id="9278" name="Freeform 7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9" name="Freeform 7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0" name="Freeform 7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1" name="Freeform 7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2" name="Freeform 7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83" name="Line 7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84" name="Line 8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74" name="Freeform 81"/>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5" name="Freeform 82"/>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6" name="Rectangle 8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77" name="Rectangle 8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9227" name="Rectangle 93"/>
          <p:cNvSpPr>
            <a:spLocks noChangeArrowheads="1"/>
          </p:cNvSpPr>
          <p:nvPr/>
        </p:nvSpPr>
        <p:spPr bwMode="auto">
          <a:xfrm>
            <a:off x="4779963" y="2149475"/>
            <a:ext cx="2351087" cy="912813"/>
          </a:xfrm>
          <a:prstGeom prst="rect">
            <a:avLst/>
          </a:prstGeom>
          <a:solidFill>
            <a:srgbClr val="CC99FF"/>
          </a:solidFill>
          <a:ln w="12700" algn="ctr">
            <a:solidFill>
              <a:schemeClr val="bg1"/>
            </a:solidFill>
            <a:miter lim="800000"/>
            <a:headEnd/>
            <a:tailEnd/>
          </a:ln>
        </p:spPr>
        <p:txBody>
          <a:bodyPr lIns="0" tIns="0" rIns="0" bIns="0" anchor="ctr">
            <a:spAutoFit/>
          </a:bodyPr>
          <a:lstStyle/>
          <a:p>
            <a:endParaRPr lang="en-US"/>
          </a:p>
        </p:txBody>
      </p:sp>
      <p:sp>
        <p:nvSpPr>
          <p:cNvPr id="9228" name="Text Box 94"/>
          <p:cNvSpPr txBox="1">
            <a:spLocks noChangeArrowheads="1"/>
          </p:cNvSpPr>
          <p:nvPr/>
        </p:nvSpPr>
        <p:spPr bwMode="auto">
          <a:xfrm>
            <a:off x="4806950" y="2193925"/>
            <a:ext cx="22987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at level 3,</a:t>
            </a:r>
            <a:br>
              <a:rPr lang="en-US" sz="1800">
                <a:solidFill>
                  <a:schemeClr val="bg1"/>
                </a:solidFill>
              </a:rPr>
            </a:br>
            <a:r>
              <a:rPr lang="en-US" sz="1800">
                <a:solidFill>
                  <a:schemeClr val="bg1"/>
                </a:solidFill>
              </a:rPr>
              <a:t>county is</a:t>
            </a:r>
            <a:br>
              <a:rPr lang="en-US" sz="1800">
                <a:solidFill>
                  <a:schemeClr val="bg1"/>
                </a:solidFill>
              </a:rPr>
            </a:br>
            <a:r>
              <a:rPr lang="en-US" sz="1800">
                <a:solidFill>
                  <a:schemeClr val="bg1"/>
                </a:solidFill>
              </a:rPr>
              <a:t>required</a:t>
            </a:r>
          </a:p>
        </p:txBody>
      </p:sp>
      <p:grpSp>
        <p:nvGrpSpPr>
          <p:cNvPr id="9229" name="Group 95"/>
          <p:cNvGrpSpPr>
            <a:grpSpLocks/>
          </p:cNvGrpSpPr>
          <p:nvPr/>
        </p:nvGrpSpPr>
        <p:grpSpPr bwMode="auto">
          <a:xfrm>
            <a:off x="4249738" y="2540000"/>
            <a:ext cx="669925" cy="636588"/>
            <a:chOff x="2149" y="1480"/>
            <a:chExt cx="523" cy="497"/>
          </a:xfrm>
        </p:grpSpPr>
        <p:sp>
          <p:nvSpPr>
            <p:cNvPr id="9248" name="Freeform 96"/>
            <p:cNvSpPr>
              <a:spLocks/>
            </p:cNvSpPr>
            <p:nvPr/>
          </p:nvSpPr>
          <p:spPr bwMode="auto">
            <a:xfrm flipH="1">
              <a:off x="2149" y="148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9" name="Freeform 97"/>
            <p:cNvSpPr>
              <a:spLocks/>
            </p:cNvSpPr>
            <p:nvPr/>
          </p:nvSpPr>
          <p:spPr bwMode="auto">
            <a:xfrm flipH="1">
              <a:off x="2453" y="163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0" name="Freeform 98"/>
            <p:cNvSpPr>
              <a:spLocks/>
            </p:cNvSpPr>
            <p:nvPr/>
          </p:nvSpPr>
          <p:spPr bwMode="auto">
            <a:xfrm flipH="1">
              <a:off x="2156" y="148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1" name="Freeform 99"/>
            <p:cNvSpPr>
              <a:spLocks/>
            </p:cNvSpPr>
            <p:nvPr/>
          </p:nvSpPr>
          <p:spPr bwMode="auto">
            <a:xfrm flipH="1">
              <a:off x="2343" y="191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9230" name="Text Box 117"/>
          <p:cNvSpPr txBox="1">
            <a:spLocks noChangeArrowheads="1"/>
          </p:cNvSpPr>
          <p:nvPr/>
        </p:nvSpPr>
        <p:spPr bwMode="auto">
          <a:xfrm>
            <a:off x="374650" y="3308350"/>
            <a:ext cx="17653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2</a:t>
            </a:r>
            <a:br>
              <a:rPr lang="en-US" sz="1800">
                <a:solidFill>
                  <a:schemeClr val="bg1"/>
                </a:solidFill>
              </a:rPr>
            </a:br>
            <a:r>
              <a:rPr lang="en-US" sz="1800">
                <a:solidFill>
                  <a:schemeClr val="bg1"/>
                </a:solidFill>
              </a:rPr>
              <a:t>county = null</a:t>
            </a:r>
            <a:br>
              <a:rPr lang="en-US" sz="1800">
                <a:solidFill>
                  <a:schemeClr val="bg1"/>
                </a:solidFill>
              </a:rPr>
            </a:br>
            <a:r>
              <a:rPr lang="en-US" sz="1800">
                <a:solidFill>
                  <a:schemeClr val="bg1"/>
                </a:solidFill>
              </a:rPr>
              <a:t>state = null</a:t>
            </a:r>
          </a:p>
        </p:txBody>
      </p:sp>
      <p:grpSp>
        <p:nvGrpSpPr>
          <p:cNvPr id="13" name="Group 122"/>
          <p:cNvGrpSpPr>
            <a:grpSpLocks/>
          </p:cNvGrpSpPr>
          <p:nvPr/>
        </p:nvGrpSpPr>
        <p:grpSpPr bwMode="auto">
          <a:xfrm>
            <a:off x="1633538" y="3590925"/>
            <a:ext cx="1111250" cy="550863"/>
            <a:chOff x="1029" y="2262"/>
            <a:chExt cx="700" cy="347"/>
          </a:xfrm>
        </p:grpSpPr>
        <p:sp>
          <p:nvSpPr>
            <p:cNvPr id="9244" name="Line 102"/>
            <p:cNvSpPr>
              <a:spLocks noChangeShapeType="1"/>
            </p:cNvSpPr>
            <p:nvPr/>
          </p:nvSpPr>
          <p:spPr bwMode="auto">
            <a:xfrm flipH="1">
              <a:off x="1043" y="2456"/>
              <a:ext cx="357" cy="1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45" name="Line 104"/>
            <p:cNvSpPr>
              <a:spLocks noChangeShapeType="1"/>
            </p:cNvSpPr>
            <p:nvPr/>
          </p:nvSpPr>
          <p:spPr bwMode="auto">
            <a:xfrm flipH="1">
              <a:off x="1029" y="2262"/>
              <a:ext cx="412" cy="161"/>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46" name="Text Box 105"/>
            <p:cNvSpPr txBox="1">
              <a:spLocks noChangeArrowheads="1"/>
            </p:cNvSpPr>
            <p:nvPr/>
          </p:nvSpPr>
          <p:spPr bwMode="auto">
            <a:xfrm>
              <a:off x="1401" y="2274"/>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Kern</a:t>
              </a:r>
            </a:p>
          </p:txBody>
        </p:sp>
        <p:sp>
          <p:nvSpPr>
            <p:cNvPr id="9247" name="Text Box 118"/>
            <p:cNvSpPr txBox="1">
              <a:spLocks noChangeArrowheads="1"/>
            </p:cNvSpPr>
            <p:nvPr/>
          </p:nvSpPr>
          <p:spPr bwMode="auto">
            <a:xfrm>
              <a:off x="1401" y="2436"/>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CA</a:t>
              </a:r>
            </a:p>
          </p:txBody>
        </p:sp>
      </p:grpSp>
      <p:grpSp>
        <p:nvGrpSpPr>
          <p:cNvPr id="14" name="Group 121"/>
          <p:cNvGrpSpPr>
            <a:grpSpLocks/>
          </p:cNvGrpSpPr>
          <p:nvPr/>
        </p:nvGrpSpPr>
        <p:grpSpPr bwMode="auto">
          <a:xfrm>
            <a:off x="1646238" y="1719263"/>
            <a:ext cx="1089025" cy="274637"/>
            <a:chOff x="1037" y="1083"/>
            <a:chExt cx="686" cy="173"/>
          </a:xfrm>
        </p:grpSpPr>
        <p:sp>
          <p:nvSpPr>
            <p:cNvPr id="9242" name="Line 119"/>
            <p:cNvSpPr>
              <a:spLocks noChangeShapeType="1"/>
            </p:cNvSpPr>
            <p:nvPr/>
          </p:nvSpPr>
          <p:spPr bwMode="auto">
            <a:xfrm flipH="1">
              <a:off x="1037" y="1103"/>
              <a:ext cx="357" cy="1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43" name="Text Box 120"/>
            <p:cNvSpPr txBox="1">
              <a:spLocks noChangeArrowheads="1"/>
            </p:cNvSpPr>
            <p:nvPr/>
          </p:nvSpPr>
          <p:spPr bwMode="auto">
            <a:xfrm>
              <a:off x="1395" y="1083"/>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CA</a:t>
              </a:r>
            </a:p>
          </p:txBody>
        </p:sp>
      </p:grpSp>
      <p:grpSp>
        <p:nvGrpSpPr>
          <p:cNvPr id="9234" name="Group 127"/>
          <p:cNvGrpSpPr>
            <a:grpSpLocks/>
          </p:cNvGrpSpPr>
          <p:nvPr/>
        </p:nvGrpSpPr>
        <p:grpSpPr bwMode="auto">
          <a:xfrm>
            <a:off x="8632825" y="79375"/>
            <a:ext cx="431800" cy="461963"/>
            <a:chOff x="3777" y="1768"/>
            <a:chExt cx="467" cy="499"/>
          </a:xfrm>
        </p:grpSpPr>
        <p:sp>
          <p:nvSpPr>
            <p:cNvPr id="9238" name="Rectangle 128"/>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39" name="AutoShape 129"/>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7" name="Group 130"/>
          <p:cNvGrpSpPr>
            <a:grpSpLocks/>
          </p:cNvGrpSpPr>
          <p:nvPr/>
        </p:nvGrpSpPr>
        <p:grpSpPr bwMode="auto">
          <a:xfrm>
            <a:off x="8632825" y="79375"/>
            <a:ext cx="431800" cy="461963"/>
            <a:chOff x="2967" y="1718"/>
            <a:chExt cx="467" cy="499"/>
          </a:xfrm>
        </p:grpSpPr>
        <p:sp>
          <p:nvSpPr>
            <p:cNvPr id="9236" name="Rectangle 131"/>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237" name="Rectangle 132"/>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2" name="Group 1"/>
          <p:cNvGrpSpPr/>
          <p:nvPr/>
        </p:nvGrpSpPr>
        <p:grpSpPr>
          <a:xfrm>
            <a:off x="3179441" y="1070485"/>
            <a:ext cx="4643759" cy="1177415"/>
            <a:chOff x="3179441" y="1070485"/>
            <a:chExt cx="4643759" cy="1177415"/>
          </a:xfrm>
        </p:grpSpPr>
        <p:sp>
          <p:nvSpPr>
            <p:cNvPr id="9257" name="Line 87"/>
            <p:cNvSpPr>
              <a:spLocks noChangeShapeType="1"/>
            </p:cNvSpPr>
            <p:nvPr/>
          </p:nvSpPr>
          <p:spPr bwMode="auto">
            <a:xfrm>
              <a:off x="3937000" y="1295400"/>
              <a:ext cx="3086100" cy="0"/>
            </a:xfrm>
            <a:prstGeom prst="line">
              <a:avLst/>
            </a:prstGeom>
            <a:noFill/>
            <a:ln w="28575">
              <a:solidFill>
                <a:srgbClr val="CC00FF"/>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8" name="Line 88"/>
            <p:cNvSpPr>
              <a:spLocks noChangeShapeType="1"/>
            </p:cNvSpPr>
            <p:nvPr/>
          </p:nvSpPr>
          <p:spPr bwMode="auto">
            <a:xfrm>
              <a:off x="7035800" y="1295400"/>
              <a:ext cx="787400" cy="95250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441" y="1070485"/>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 name="Group 4"/>
          <p:cNvGrpSpPr/>
          <p:nvPr/>
        </p:nvGrpSpPr>
        <p:grpSpPr>
          <a:xfrm>
            <a:off x="1733550" y="3022600"/>
            <a:ext cx="6254750" cy="1349375"/>
            <a:chOff x="1733550" y="3022600"/>
            <a:chExt cx="6254750" cy="1349375"/>
          </a:xfrm>
        </p:grpSpPr>
        <p:sp>
          <p:nvSpPr>
            <p:cNvPr id="9255" name="Text Box 91"/>
            <p:cNvSpPr txBox="1">
              <a:spLocks noChangeArrowheads="1"/>
            </p:cNvSpPr>
            <p:nvPr/>
          </p:nvSpPr>
          <p:spPr bwMode="auto">
            <a:xfrm>
              <a:off x="5880100" y="3822700"/>
              <a:ext cx="2108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00FF"/>
                  </a:solidFill>
                </a:rPr>
                <a:t>promote to</a:t>
              </a:r>
              <a:br>
                <a:rPr lang="en-US" sz="1800">
                  <a:solidFill>
                    <a:srgbClr val="CC00FF"/>
                  </a:solidFill>
                </a:rPr>
              </a:br>
              <a:r>
                <a:rPr lang="en-US" sz="1800">
                  <a:solidFill>
                    <a:srgbClr val="CC00FF"/>
                  </a:solidFill>
                </a:rPr>
                <a:t>level 3</a:t>
              </a:r>
            </a:p>
          </p:txBody>
        </p:sp>
        <p:grpSp>
          <p:nvGrpSpPr>
            <p:cNvPr id="4" name="Group 3"/>
            <p:cNvGrpSpPr/>
            <p:nvPr/>
          </p:nvGrpSpPr>
          <p:grpSpPr>
            <a:xfrm>
              <a:off x="1733550" y="3022600"/>
              <a:ext cx="6051550" cy="787400"/>
              <a:chOff x="1733550" y="3022600"/>
              <a:chExt cx="6051550" cy="787400"/>
            </a:xfrm>
          </p:grpSpPr>
          <p:grpSp>
            <p:nvGrpSpPr>
              <p:cNvPr id="15" name="Group 133"/>
              <p:cNvGrpSpPr>
                <a:grpSpLocks/>
              </p:cNvGrpSpPr>
              <p:nvPr/>
            </p:nvGrpSpPr>
            <p:grpSpPr bwMode="auto">
              <a:xfrm>
                <a:off x="1733550" y="3290888"/>
                <a:ext cx="920750" cy="314325"/>
                <a:chOff x="1092" y="2073"/>
                <a:chExt cx="580" cy="198"/>
              </a:xfrm>
            </p:grpSpPr>
            <p:sp>
              <p:nvSpPr>
                <p:cNvPr id="9240" name="Line 124"/>
                <p:cNvSpPr>
                  <a:spLocks noChangeShapeType="1"/>
                </p:cNvSpPr>
                <p:nvPr/>
              </p:nvSpPr>
              <p:spPr bwMode="auto">
                <a:xfrm flipH="1">
                  <a:off x="1092" y="2073"/>
                  <a:ext cx="399" cy="198"/>
                </a:xfrm>
                <a:prstGeom prst="line">
                  <a:avLst/>
                </a:prstGeom>
                <a:noFill/>
                <a:ln w="12700">
                  <a:solidFill>
                    <a:srgbClr val="CC00FF"/>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41" name="Text Box 125"/>
                <p:cNvSpPr txBox="1">
                  <a:spLocks noChangeArrowheads="1"/>
                </p:cNvSpPr>
                <p:nvPr/>
              </p:nvSpPr>
              <p:spPr bwMode="auto">
                <a:xfrm>
                  <a:off x="1434" y="2090"/>
                  <a:ext cx="23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00FF"/>
                      </a:solidFill>
                    </a:rPr>
                    <a:t>3</a:t>
                  </a:r>
                </a:p>
              </p:txBody>
            </p:sp>
          </p:grpSp>
          <p:grpSp>
            <p:nvGrpSpPr>
              <p:cNvPr id="3" name="Group 2"/>
              <p:cNvGrpSpPr/>
              <p:nvPr/>
            </p:nvGrpSpPr>
            <p:grpSpPr>
              <a:xfrm>
                <a:off x="3211319" y="3022600"/>
                <a:ext cx="4573781" cy="787400"/>
                <a:chOff x="3211319" y="3022600"/>
                <a:chExt cx="4573781" cy="787400"/>
              </a:xfrm>
            </p:grpSpPr>
            <p:sp>
              <p:nvSpPr>
                <p:cNvPr id="9253" name="Line 89"/>
                <p:cNvSpPr>
                  <a:spLocks noChangeShapeType="1"/>
                </p:cNvSpPr>
                <p:nvPr/>
              </p:nvSpPr>
              <p:spPr bwMode="auto">
                <a:xfrm>
                  <a:off x="3543300" y="3810000"/>
                  <a:ext cx="3530600" cy="0"/>
                </a:xfrm>
                <a:prstGeom prst="line">
                  <a:avLst/>
                </a:prstGeom>
                <a:noFill/>
                <a:ln w="28575">
                  <a:solidFill>
                    <a:srgbClr val="CC00FF"/>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54" name="Line 90"/>
                <p:cNvSpPr>
                  <a:spLocks noChangeShapeType="1"/>
                </p:cNvSpPr>
                <p:nvPr/>
              </p:nvSpPr>
              <p:spPr bwMode="auto">
                <a:xfrm flipV="1">
                  <a:off x="7073900" y="3022600"/>
                  <a:ext cx="711200" cy="78740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1319" y="3171288"/>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par>
                          <p:cTn id="23" fill="hold">
                            <p:stCondLst>
                              <p:cond delay="500"/>
                            </p:stCondLst>
                            <p:childTnLst>
                              <p:par>
                                <p:cTn id="24" presetID="17" presetClass="entr" presetSubtype="10" fill="hold" nodeType="after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3"/>
          <p:cNvGrpSpPr>
            <a:grpSpLocks/>
          </p:cNvGrpSpPr>
          <p:nvPr/>
        </p:nvGrpSpPr>
        <p:grpSpPr bwMode="auto">
          <a:xfrm>
            <a:off x="2744788" y="1292225"/>
            <a:ext cx="758825" cy="558800"/>
            <a:chOff x="2083" y="1606"/>
            <a:chExt cx="1489" cy="1097"/>
          </a:xfrm>
        </p:grpSpPr>
        <p:sp>
          <p:nvSpPr>
            <p:cNvPr id="10320" name="Rectangle 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321" name="Freeform 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22" name="Freeform 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23" name="Freeform 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324" name="Freeform 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325" name="Rectangle 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326" name="Rectangle 1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27" name="AutoShape 1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328" name="Freeform 12"/>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29" name="Freeform 13"/>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0" name="Rectangle 1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31" name="Rectangle 1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32" name="Rectangle 1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333" name="Group 17"/>
            <p:cNvGrpSpPr>
              <a:grpSpLocks/>
            </p:cNvGrpSpPr>
            <p:nvPr/>
          </p:nvGrpSpPr>
          <p:grpSpPr bwMode="auto">
            <a:xfrm>
              <a:off x="2221" y="1871"/>
              <a:ext cx="518" cy="782"/>
              <a:chOff x="2400" y="1656"/>
              <a:chExt cx="752" cy="1136"/>
            </a:xfrm>
          </p:grpSpPr>
          <p:sp>
            <p:nvSpPr>
              <p:cNvPr id="10346" name="Freeform 1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47" name="Freeform 1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8" name="Freeform 2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49" name="Freeform 2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50" name="Freeform 2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51" name="Line 2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52" name="Line 2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334" name="Group 25"/>
            <p:cNvGrpSpPr>
              <a:grpSpLocks/>
            </p:cNvGrpSpPr>
            <p:nvPr/>
          </p:nvGrpSpPr>
          <p:grpSpPr bwMode="auto">
            <a:xfrm rot="-6511945">
              <a:off x="2834" y="1842"/>
              <a:ext cx="518" cy="783"/>
              <a:chOff x="2400" y="1656"/>
              <a:chExt cx="752" cy="1136"/>
            </a:xfrm>
          </p:grpSpPr>
          <p:sp>
            <p:nvSpPr>
              <p:cNvPr id="10339"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40"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1"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2"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3"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44"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45"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335" name="Freeform 33"/>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6" name="Freeform 34"/>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37" name="Rectangle 3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338" name="Rectangle 3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0243" name="Text Box 37"/>
          <p:cNvSpPr txBox="1">
            <a:spLocks noChangeArrowheads="1"/>
          </p:cNvSpPr>
          <p:nvPr/>
        </p:nvSpPr>
        <p:spPr bwMode="auto">
          <a:xfrm>
            <a:off x="484188" y="1320800"/>
            <a:ext cx="16240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4</a:t>
            </a:r>
            <a:br>
              <a:rPr lang="en-US" sz="1800">
                <a:solidFill>
                  <a:schemeClr val="bg1"/>
                </a:solidFill>
              </a:rPr>
            </a:br>
            <a:r>
              <a:rPr lang="en-US" sz="1800">
                <a:solidFill>
                  <a:schemeClr val="bg1"/>
                </a:solidFill>
              </a:rPr>
              <a:t>county = Kern</a:t>
            </a:r>
          </a:p>
        </p:txBody>
      </p:sp>
      <p:sp>
        <p:nvSpPr>
          <p:cNvPr id="10245" name="Rectangle 39"/>
          <p:cNvSpPr>
            <a:spLocks noGrp="1" noChangeArrowheads="1"/>
          </p:cNvSpPr>
          <p:nvPr>
            <p:ph type="title"/>
          </p:nvPr>
        </p:nvSpPr>
        <p:spPr>
          <a:xfrm>
            <a:off x="495300" y="143284"/>
            <a:ext cx="8318500" cy="742950"/>
          </a:xfrm>
        </p:spPr>
        <p:txBody>
          <a:bodyPr/>
          <a:lstStyle/>
          <a:p>
            <a:pPr eaLnBrk="1" hangingPunct="1"/>
            <a:r>
              <a:rPr lang="en-US"/>
              <a:t>Logic tied to object maturity level (2)</a:t>
            </a:r>
          </a:p>
        </p:txBody>
      </p:sp>
      <p:sp>
        <p:nvSpPr>
          <p:cNvPr id="10246" name="Rectangle 40"/>
          <p:cNvSpPr>
            <a:spLocks noGrp="1" noChangeArrowheads="1"/>
          </p:cNvSpPr>
          <p:nvPr>
            <p:ph idx="1"/>
          </p:nvPr>
        </p:nvSpPr>
        <p:spPr>
          <a:xfrm>
            <a:off x="519113" y="4659313"/>
            <a:ext cx="8318500" cy="1730375"/>
          </a:xfrm>
        </p:spPr>
        <p:txBody>
          <a:bodyPr/>
          <a:lstStyle/>
          <a:p>
            <a:pPr>
              <a:buFont typeface="Arial" charset="0"/>
              <a:buChar char="•"/>
            </a:pPr>
            <a:r>
              <a:rPr lang="en-US"/>
              <a:t>When object at or above level and doesn't meet condition</a:t>
            </a:r>
          </a:p>
          <a:p>
            <a:pPr lvl="1"/>
            <a:r>
              <a:rPr lang="en-US"/>
              <a:t>Save is not allowed</a:t>
            </a:r>
          </a:p>
          <a:p>
            <a:pPr>
              <a:buFont typeface="Arial" charset="0"/>
              <a:buChar char="•"/>
            </a:pPr>
            <a:r>
              <a:rPr lang="en-US"/>
              <a:t>When object at or above level and meets condition</a:t>
            </a:r>
          </a:p>
          <a:p>
            <a:pPr lvl="1"/>
            <a:r>
              <a:rPr lang="en-US"/>
              <a:t>Save is allowed</a:t>
            </a:r>
          </a:p>
          <a:p>
            <a:pPr>
              <a:buFont typeface="Arial" charset="0"/>
              <a:buChar char="•"/>
            </a:pPr>
            <a:endParaRPr lang="en-US"/>
          </a:p>
        </p:txBody>
      </p:sp>
      <p:grpSp>
        <p:nvGrpSpPr>
          <p:cNvPr id="10247" name="Group 41"/>
          <p:cNvGrpSpPr>
            <a:grpSpLocks/>
          </p:cNvGrpSpPr>
          <p:nvPr/>
        </p:nvGrpSpPr>
        <p:grpSpPr bwMode="auto">
          <a:xfrm>
            <a:off x="7778750" y="2216150"/>
            <a:ext cx="1027113" cy="874713"/>
            <a:chOff x="4324" y="1324"/>
            <a:chExt cx="647" cy="551"/>
          </a:xfrm>
        </p:grpSpPr>
        <p:sp>
          <p:nvSpPr>
            <p:cNvPr id="10313" name="AutoShape 42"/>
            <p:cNvSpPr>
              <a:spLocks noChangeArrowheads="1"/>
            </p:cNvSpPr>
            <p:nvPr/>
          </p:nvSpPr>
          <p:spPr bwMode="invGray">
            <a:xfrm>
              <a:off x="4324" y="1324"/>
              <a:ext cx="647" cy="551"/>
            </a:xfrm>
            <a:prstGeom prst="can">
              <a:avLst>
                <a:gd name="adj" fmla="val 17333"/>
              </a:avLst>
            </a:prstGeom>
            <a:solidFill>
              <a:schemeClr val="accent1"/>
            </a:solidFill>
            <a:ln w="28575">
              <a:solidFill>
                <a:schemeClr val="tx2"/>
              </a:solidFill>
              <a:round/>
              <a:headEnd/>
              <a:tailEnd/>
            </a:ln>
          </p:spPr>
          <p:txBody>
            <a:bodyPr wrap="none" anchor="ctr"/>
            <a:lstStyle/>
            <a:p>
              <a:endParaRPr lang="en-US"/>
            </a:p>
          </p:txBody>
        </p:sp>
        <p:sp>
          <p:nvSpPr>
            <p:cNvPr id="10314" name="Text Box 43"/>
            <p:cNvSpPr txBox="1">
              <a:spLocks noChangeArrowheads="1"/>
            </p:cNvSpPr>
            <p:nvPr/>
          </p:nvSpPr>
          <p:spPr bwMode="invGray">
            <a:xfrm>
              <a:off x="4405" y="1395"/>
              <a:ext cx="4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99CCFF"/>
                  </a:solidFill>
                </a:rPr>
                <a:t>cc</a:t>
              </a:r>
              <a:br>
                <a:rPr lang="en-US">
                  <a:solidFill>
                    <a:srgbClr val="99CCFF"/>
                  </a:solidFill>
                </a:rPr>
              </a:br>
              <a:r>
                <a:rPr lang="en-US">
                  <a:solidFill>
                    <a:srgbClr val="99CCFF"/>
                  </a:solidFill>
                </a:rPr>
                <a:t>data</a:t>
              </a:r>
            </a:p>
          </p:txBody>
        </p:sp>
      </p:grpSp>
      <p:grpSp>
        <p:nvGrpSpPr>
          <p:cNvPr id="10248" name="Group 44"/>
          <p:cNvGrpSpPr>
            <a:grpSpLocks/>
          </p:cNvGrpSpPr>
          <p:nvPr/>
        </p:nvGrpSpPr>
        <p:grpSpPr bwMode="auto">
          <a:xfrm>
            <a:off x="6043613" y="1722438"/>
            <a:ext cx="1147762" cy="449262"/>
            <a:chOff x="3591" y="1357"/>
            <a:chExt cx="723" cy="283"/>
          </a:xfrm>
        </p:grpSpPr>
        <p:sp>
          <p:nvSpPr>
            <p:cNvPr id="10308" name="Freeform 45"/>
            <p:cNvSpPr>
              <a:spLocks/>
            </p:cNvSpPr>
            <p:nvPr/>
          </p:nvSpPr>
          <p:spPr bwMode="auto">
            <a:xfrm flipH="1">
              <a:off x="3591" y="1371"/>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09" name="Freeform 46"/>
            <p:cNvSpPr>
              <a:spLocks/>
            </p:cNvSpPr>
            <p:nvPr/>
          </p:nvSpPr>
          <p:spPr bwMode="auto">
            <a:xfrm flipH="1">
              <a:off x="3712" y="1411"/>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10" name="Freeform 47"/>
            <p:cNvSpPr>
              <a:spLocks/>
            </p:cNvSpPr>
            <p:nvPr/>
          </p:nvSpPr>
          <p:spPr bwMode="auto">
            <a:xfrm flipH="1">
              <a:off x="3705" y="1457"/>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11" name="Freeform 48"/>
            <p:cNvSpPr>
              <a:spLocks/>
            </p:cNvSpPr>
            <p:nvPr/>
          </p:nvSpPr>
          <p:spPr bwMode="auto">
            <a:xfrm flipH="1">
              <a:off x="3708" y="1406"/>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12" name="Freeform 49"/>
            <p:cNvSpPr>
              <a:spLocks/>
            </p:cNvSpPr>
            <p:nvPr/>
          </p:nvSpPr>
          <p:spPr bwMode="auto">
            <a:xfrm flipH="1">
              <a:off x="3750" y="1357"/>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249" name="Group 51"/>
          <p:cNvGrpSpPr>
            <a:grpSpLocks/>
          </p:cNvGrpSpPr>
          <p:nvPr/>
        </p:nvGrpSpPr>
        <p:grpSpPr bwMode="auto">
          <a:xfrm>
            <a:off x="2782888" y="3425825"/>
            <a:ext cx="758825" cy="558800"/>
            <a:chOff x="2083" y="1606"/>
            <a:chExt cx="1489" cy="1097"/>
          </a:xfrm>
        </p:grpSpPr>
        <p:sp>
          <p:nvSpPr>
            <p:cNvPr id="10275" name="Rectangle 5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0276" name="Freeform 5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7" name="Freeform 5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8" name="Freeform 5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0279" name="Freeform 5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0280" name="Rectangle 5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0281" name="Rectangle 5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2" name="AutoShape 5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0283" name="Freeform 60"/>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4" name="Freeform 61"/>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85" name="Rectangle 6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6" name="Rectangle 6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87" name="Rectangle 6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0288" name="Group 65"/>
            <p:cNvGrpSpPr>
              <a:grpSpLocks/>
            </p:cNvGrpSpPr>
            <p:nvPr/>
          </p:nvGrpSpPr>
          <p:grpSpPr bwMode="auto">
            <a:xfrm>
              <a:off x="2221" y="1871"/>
              <a:ext cx="518" cy="782"/>
              <a:chOff x="2400" y="1656"/>
              <a:chExt cx="752" cy="1136"/>
            </a:xfrm>
          </p:grpSpPr>
          <p:sp>
            <p:nvSpPr>
              <p:cNvPr id="10301"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302"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03"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04"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305"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0306"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07"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0289" name="Group 73"/>
            <p:cNvGrpSpPr>
              <a:grpSpLocks/>
            </p:cNvGrpSpPr>
            <p:nvPr/>
          </p:nvGrpSpPr>
          <p:grpSpPr bwMode="auto">
            <a:xfrm rot="-6511945">
              <a:off x="2834" y="1842"/>
              <a:ext cx="518" cy="783"/>
              <a:chOff x="2400" y="1656"/>
              <a:chExt cx="752" cy="1136"/>
            </a:xfrm>
          </p:grpSpPr>
          <p:sp>
            <p:nvSpPr>
              <p:cNvPr id="10294" name="Freeform 7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5" name="Freeform 7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6" name="Freeform 7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7" name="Freeform 7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8" name="Freeform 7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0299" name="Line 7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0" name="Line 8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0290" name="Freeform 81"/>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1" name="Freeform 82"/>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0292" name="Rectangle 8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0293" name="Rectangle 8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0251" name="Group 92"/>
          <p:cNvGrpSpPr>
            <a:grpSpLocks/>
          </p:cNvGrpSpPr>
          <p:nvPr/>
        </p:nvGrpSpPr>
        <p:grpSpPr bwMode="auto">
          <a:xfrm>
            <a:off x="4779963" y="2149475"/>
            <a:ext cx="2351087" cy="912813"/>
            <a:chOff x="2547" y="642"/>
            <a:chExt cx="1481" cy="575"/>
          </a:xfrm>
        </p:grpSpPr>
        <p:sp>
          <p:nvSpPr>
            <p:cNvPr id="10270" name="Rectangle 93"/>
            <p:cNvSpPr>
              <a:spLocks noChangeArrowheads="1"/>
            </p:cNvSpPr>
            <p:nvPr/>
          </p:nvSpPr>
          <p:spPr bwMode="auto">
            <a:xfrm>
              <a:off x="2547" y="642"/>
              <a:ext cx="1481" cy="575"/>
            </a:xfrm>
            <a:prstGeom prst="rect">
              <a:avLst/>
            </a:prstGeom>
            <a:solidFill>
              <a:srgbClr val="CC99FF"/>
            </a:solidFill>
            <a:ln w="12700" algn="ctr">
              <a:solidFill>
                <a:schemeClr val="bg1"/>
              </a:solidFill>
              <a:miter lim="800000"/>
              <a:headEnd/>
              <a:tailEnd/>
            </a:ln>
          </p:spPr>
          <p:txBody>
            <a:bodyPr lIns="0" tIns="0" rIns="0" bIns="0" anchor="ctr">
              <a:spAutoFit/>
            </a:bodyPr>
            <a:lstStyle/>
            <a:p>
              <a:endParaRPr lang="en-US"/>
            </a:p>
          </p:txBody>
        </p:sp>
        <p:sp>
          <p:nvSpPr>
            <p:cNvPr id="10271" name="Text Box 94"/>
            <p:cNvSpPr txBox="1">
              <a:spLocks noChangeArrowheads="1"/>
            </p:cNvSpPr>
            <p:nvPr/>
          </p:nvSpPr>
          <p:spPr bwMode="auto">
            <a:xfrm>
              <a:off x="2564" y="670"/>
              <a:ext cx="1448"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at level 3,</a:t>
              </a:r>
              <a:br>
                <a:rPr lang="en-US" sz="1800">
                  <a:solidFill>
                    <a:schemeClr val="bg1"/>
                  </a:solidFill>
                </a:rPr>
              </a:br>
              <a:r>
                <a:rPr lang="en-US" sz="1800">
                  <a:solidFill>
                    <a:schemeClr val="bg1"/>
                  </a:solidFill>
                </a:rPr>
                <a:t>county is</a:t>
              </a:r>
              <a:br>
                <a:rPr lang="en-US" sz="1800">
                  <a:solidFill>
                    <a:schemeClr val="bg1"/>
                  </a:solidFill>
                </a:rPr>
              </a:br>
              <a:r>
                <a:rPr lang="en-US" sz="1800">
                  <a:solidFill>
                    <a:schemeClr val="bg1"/>
                  </a:solidFill>
                </a:rPr>
                <a:t>required</a:t>
              </a:r>
            </a:p>
          </p:txBody>
        </p:sp>
      </p:grpSp>
      <p:grpSp>
        <p:nvGrpSpPr>
          <p:cNvPr id="10252" name="Group 95"/>
          <p:cNvGrpSpPr>
            <a:grpSpLocks/>
          </p:cNvGrpSpPr>
          <p:nvPr/>
        </p:nvGrpSpPr>
        <p:grpSpPr bwMode="auto">
          <a:xfrm>
            <a:off x="4249738" y="2540000"/>
            <a:ext cx="669925" cy="636588"/>
            <a:chOff x="2149" y="1480"/>
            <a:chExt cx="523" cy="497"/>
          </a:xfrm>
        </p:grpSpPr>
        <p:sp>
          <p:nvSpPr>
            <p:cNvPr id="10266" name="Freeform 96"/>
            <p:cNvSpPr>
              <a:spLocks/>
            </p:cNvSpPr>
            <p:nvPr/>
          </p:nvSpPr>
          <p:spPr bwMode="auto">
            <a:xfrm flipH="1">
              <a:off x="2149" y="148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7" name="Freeform 97"/>
            <p:cNvSpPr>
              <a:spLocks/>
            </p:cNvSpPr>
            <p:nvPr/>
          </p:nvSpPr>
          <p:spPr bwMode="auto">
            <a:xfrm flipH="1">
              <a:off x="2453" y="163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8" name="Freeform 98"/>
            <p:cNvSpPr>
              <a:spLocks/>
            </p:cNvSpPr>
            <p:nvPr/>
          </p:nvSpPr>
          <p:spPr bwMode="auto">
            <a:xfrm flipH="1">
              <a:off x="2156" y="148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9" name="Freeform 99"/>
            <p:cNvSpPr>
              <a:spLocks/>
            </p:cNvSpPr>
            <p:nvPr/>
          </p:nvSpPr>
          <p:spPr bwMode="auto">
            <a:xfrm flipH="1">
              <a:off x="2343" y="191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53" name="Text Box 100"/>
          <p:cNvSpPr txBox="1">
            <a:spLocks noChangeArrowheads="1"/>
          </p:cNvSpPr>
          <p:nvPr/>
        </p:nvSpPr>
        <p:spPr bwMode="auto">
          <a:xfrm>
            <a:off x="452438" y="3471492"/>
            <a:ext cx="16557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4</a:t>
            </a:r>
            <a:br>
              <a:rPr lang="en-US" sz="1800">
                <a:solidFill>
                  <a:schemeClr val="bg1"/>
                </a:solidFill>
              </a:rPr>
            </a:br>
            <a:r>
              <a:rPr lang="en-US" sz="1800">
                <a:solidFill>
                  <a:schemeClr val="bg1"/>
                </a:solidFill>
              </a:rPr>
              <a:t>county = Kern</a:t>
            </a:r>
          </a:p>
        </p:txBody>
      </p:sp>
      <p:grpSp>
        <p:nvGrpSpPr>
          <p:cNvPr id="15" name="Group 109"/>
          <p:cNvGrpSpPr>
            <a:grpSpLocks/>
          </p:cNvGrpSpPr>
          <p:nvPr/>
        </p:nvGrpSpPr>
        <p:grpSpPr bwMode="auto">
          <a:xfrm>
            <a:off x="1441450" y="1582738"/>
            <a:ext cx="1212850" cy="342900"/>
            <a:chOff x="908" y="997"/>
            <a:chExt cx="764" cy="216"/>
          </a:xfrm>
        </p:grpSpPr>
        <p:sp>
          <p:nvSpPr>
            <p:cNvPr id="10264" name="Line 101"/>
            <p:cNvSpPr>
              <a:spLocks noChangeShapeType="1"/>
            </p:cNvSpPr>
            <p:nvPr/>
          </p:nvSpPr>
          <p:spPr bwMode="auto">
            <a:xfrm flipH="1">
              <a:off x="908" y="997"/>
              <a:ext cx="552" cy="216"/>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5" name="Text Box 102"/>
            <p:cNvSpPr txBox="1">
              <a:spLocks noChangeArrowheads="1"/>
            </p:cNvSpPr>
            <p:nvPr/>
          </p:nvSpPr>
          <p:spPr bwMode="auto">
            <a:xfrm>
              <a:off x="1344" y="1014"/>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null</a:t>
              </a:r>
            </a:p>
          </p:txBody>
        </p:sp>
      </p:grpSp>
      <p:grpSp>
        <p:nvGrpSpPr>
          <p:cNvPr id="16" name="Group 111"/>
          <p:cNvGrpSpPr>
            <a:grpSpLocks/>
          </p:cNvGrpSpPr>
          <p:nvPr/>
        </p:nvGrpSpPr>
        <p:grpSpPr bwMode="auto">
          <a:xfrm>
            <a:off x="1443038" y="3695700"/>
            <a:ext cx="1357312" cy="342900"/>
            <a:chOff x="909" y="2328"/>
            <a:chExt cx="855" cy="216"/>
          </a:xfrm>
        </p:grpSpPr>
        <p:sp>
          <p:nvSpPr>
            <p:cNvPr id="10262" name="Line 103"/>
            <p:cNvSpPr>
              <a:spLocks noChangeShapeType="1"/>
            </p:cNvSpPr>
            <p:nvPr/>
          </p:nvSpPr>
          <p:spPr bwMode="auto">
            <a:xfrm flipH="1">
              <a:off x="909" y="2328"/>
              <a:ext cx="552" cy="216"/>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3" name="Text Box 104"/>
            <p:cNvSpPr txBox="1">
              <a:spLocks noChangeArrowheads="1"/>
            </p:cNvSpPr>
            <p:nvPr/>
          </p:nvSpPr>
          <p:spPr bwMode="auto">
            <a:xfrm>
              <a:off x="1364" y="2354"/>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t>Dade</a:t>
              </a:r>
            </a:p>
          </p:txBody>
        </p:sp>
      </p:grpSp>
      <p:grpSp>
        <p:nvGrpSpPr>
          <p:cNvPr id="10256" name="Group 113"/>
          <p:cNvGrpSpPr>
            <a:grpSpLocks/>
          </p:cNvGrpSpPr>
          <p:nvPr/>
        </p:nvGrpSpPr>
        <p:grpSpPr bwMode="auto">
          <a:xfrm>
            <a:off x="8632825" y="79375"/>
            <a:ext cx="431800" cy="461963"/>
            <a:chOff x="3777" y="1768"/>
            <a:chExt cx="467" cy="499"/>
          </a:xfrm>
        </p:grpSpPr>
        <p:sp>
          <p:nvSpPr>
            <p:cNvPr id="10260" name="Rectangle 114"/>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261" name="AutoShape 115"/>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8" name="Group 116"/>
          <p:cNvGrpSpPr>
            <a:grpSpLocks/>
          </p:cNvGrpSpPr>
          <p:nvPr/>
        </p:nvGrpSpPr>
        <p:grpSpPr bwMode="auto">
          <a:xfrm>
            <a:off x="8632825" y="79375"/>
            <a:ext cx="431800" cy="461963"/>
            <a:chOff x="2967" y="1718"/>
            <a:chExt cx="467" cy="499"/>
          </a:xfrm>
        </p:grpSpPr>
        <p:sp>
          <p:nvSpPr>
            <p:cNvPr id="10258" name="Rectangle 117"/>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259" name="Rectangle 118"/>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2" name="Group 1"/>
          <p:cNvGrpSpPr/>
          <p:nvPr/>
        </p:nvGrpSpPr>
        <p:grpSpPr>
          <a:xfrm>
            <a:off x="3179441" y="896938"/>
            <a:ext cx="2640334" cy="788987"/>
            <a:chOff x="3179441" y="896938"/>
            <a:chExt cx="2640334" cy="788987"/>
          </a:xfrm>
        </p:grpSpPr>
        <p:grpSp>
          <p:nvGrpSpPr>
            <p:cNvPr id="5" name="Group 110"/>
            <p:cNvGrpSpPr>
              <a:grpSpLocks/>
            </p:cNvGrpSpPr>
            <p:nvPr/>
          </p:nvGrpSpPr>
          <p:grpSpPr bwMode="auto">
            <a:xfrm>
              <a:off x="3937000" y="896938"/>
              <a:ext cx="1882775" cy="788987"/>
              <a:chOff x="2480" y="565"/>
              <a:chExt cx="1186" cy="497"/>
            </a:xfrm>
          </p:grpSpPr>
          <p:sp>
            <p:nvSpPr>
              <p:cNvPr id="10315" name="Line 105"/>
              <p:cNvSpPr>
                <a:spLocks noChangeShapeType="1"/>
              </p:cNvSpPr>
              <p:nvPr/>
            </p:nvSpPr>
            <p:spPr bwMode="auto">
              <a:xfrm>
                <a:off x="2480" y="816"/>
                <a:ext cx="1112" cy="0"/>
              </a:xfrm>
              <a:prstGeom prst="line">
                <a:avLst/>
              </a:prstGeom>
              <a:noFill/>
              <a:ln w="28575">
                <a:solidFill>
                  <a:srgbClr val="CC66FF"/>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316" name="Group 106"/>
              <p:cNvGrpSpPr>
                <a:grpSpLocks/>
              </p:cNvGrpSpPr>
              <p:nvPr/>
            </p:nvGrpSpPr>
            <p:grpSpPr bwMode="auto">
              <a:xfrm>
                <a:off x="3542" y="565"/>
                <a:ext cx="124" cy="497"/>
                <a:chOff x="3067" y="1854"/>
                <a:chExt cx="584" cy="2335"/>
              </a:xfrm>
            </p:grpSpPr>
            <p:sp>
              <p:nvSpPr>
                <p:cNvPr id="10318" name="Rectangle 107"/>
                <p:cNvSpPr>
                  <a:spLocks noChangeArrowheads="1"/>
                </p:cNvSpPr>
                <p:nvPr/>
              </p:nvSpPr>
              <p:spPr bwMode="auto">
                <a:xfrm rot="2645782">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319" name="Rectangle 108"/>
                <p:cNvSpPr>
                  <a:spLocks noChangeArrowheads="1"/>
                </p:cNvSpPr>
                <p:nvPr/>
              </p:nvSpPr>
              <p:spPr bwMode="auto">
                <a:xfrm rot="18954218" flipH="1">
                  <a:off x="3067" y="1854"/>
                  <a:ext cx="584" cy="233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pic>
          <p:nvPicPr>
            <p:cNvPr id="1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441" y="993366"/>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 name="Group 2"/>
          <p:cNvGrpSpPr/>
          <p:nvPr/>
        </p:nvGrpSpPr>
        <p:grpSpPr>
          <a:xfrm>
            <a:off x="3179441" y="3022600"/>
            <a:ext cx="4605659" cy="787400"/>
            <a:chOff x="3179441" y="3022600"/>
            <a:chExt cx="4605659" cy="787400"/>
          </a:xfrm>
        </p:grpSpPr>
        <p:grpSp>
          <p:nvGrpSpPr>
            <p:cNvPr id="12" name="Group 112"/>
            <p:cNvGrpSpPr>
              <a:grpSpLocks/>
            </p:cNvGrpSpPr>
            <p:nvPr/>
          </p:nvGrpSpPr>
          <p:grpSpPr bwMode="auto">
            <a:xfrm>
              <a:off x="3543300" y="3022600"/>
              <a:ext cx="4241800" cy="787400"/>
              <a:chOff x="2232" y="1904"/>
              <a:chExt cx="2672" cy="496"/>
            </a:xfrm>
          </p:grpSpPr>
          <p:sp>
            <p:nvSpPr>
              <p:cNvPr id="10273" name="Line 89"/>
              <p:cNvSpPr>
                <a:spLocks noChangeShapeType="1"/>
              </p:cNvSpPr>
              <p:nvPr/>
            </p:nvSpPr>
            <p:spPr bwMode="auto">
              <a:xfrm>
                <a:off x="2232" y="2400"/>
                <a:ext cx="2224" cy="0"/>
              </a:xfrm>
              <a:prstGeom prst="line">
                <a:avLst/>
              </a:prstGeom>
              <a:noFill/>
              <a:ln w="28575">
                <a:solidFill>
                  <a:srgbClr val="CC66FF"/>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74" name="Line 90"/>
              <p:cNvSpPr>
                <a:spLocks noChangeShapeType="1"/>
              </p:cNvSpPr>
              <p:nvPr/>
            </p:nvSpPr>
            <p:spPr bwMode="auto">
              <a:xfrm flipV="1">
                <a:off x="4456" y="1904"/>
                <a:ext cx="448" cy="496"/>
              </a:xfrm>
              <a:prstGeom prst="line">
                <a:avLst/>
              </a:prstGeom>
              <a:noFill/>
              <a:ln w="28575">
                <a:solidFill>
                  <a:srgbClr val="CC66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pic>
          <p:nvPicPr>
            <p:cNvPr id="1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9441" y="3134319"/>
              <a:ext cx="820239" cy="34755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up)">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childTnLst>
                          </p:cTn>
                        </p:par>
                        <p:par>
                          <p:cTn id="23" fill="hold">
                            <p:stCondLst>
                              <p:cond delay="500"/>
                            </p:stCondLst>
                            <p:childTnLst>
                              <p:par>
                                <p:cTn id="24" presetID="17" presetClass="entr" presetSubtype="10" fill="hold" nodeType="afterEffect">
                                  <p:stCondLst>
                                    <p:cond delay="0"/>
                                  </p:stCondLst>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Enforcing validation of invalid data</a:t>
            </a:r>
          </a:p>
        </p:txBody>
      </p:sp>
      <p:sp>
        <p:nvSpPr>
          <p:cNvPr id="11267" name="Rectangle 3"/>
          <p:cNvSpPr>
            <a:spLocks noGrp="1" noChangeArrowheads="1"/>
          </p:cNvSpPr>
          <p:nvPr>
            <p:ph idx="1"/>
          </p:nvPr>
        </p:nvSpPr>
        <p:spPr>
          <a:xfrm>
            <a:off x="519113" y="773113"/>
            <a:ext cx="5963574" cy="5627687"/>
          </a:xfrm>
        </p:spPr>
        <p:txBody>
          <a:bodyPr/>
          <a:lstStyle/>
          <a:p>
            <a:pPr>
              <a:buFont typeface="Arial" charset="0"/>
              <a:buChar char="•"/>
            </a:pPr>
            <a:r>
              <a:rPr lang="en-US" sz="2000"/>
              <a:t>"Invalid data" validation is typically enforced by field validators and validation expressions</a:t>
            </a:r>
          </a:p>
          <a:p>
            <a:pPr lvl="1">
              <a:buFont typeface="Arial" charset="0"/>
              <a:buChar char="•"/>
            </a:pPr>
            <a:r>
              <a:rPr lang="en-US" sz="2000"/>
              <a:t>Complex invalid data validation can be enforced by validation rules</a:t>
            </a:r>
          </a:p>
          <a:p>
            <a:pPr>
              <a:buFont typeface="Arial" charset="0"/>
              <a:buChar char="•"/>
            </a:pPr>
            <a:endParaRPr lang="en-US" sz="2000"/>
          </a:p>
          <a:p>
            <a:pPr>
              <a:buFont typeface="Arial" charset="0"/>
              <a:buChar char="•"/>
            </a:pPr>
            <a:endParaRPr lang="en-US" sz="2000"/>
          </a:p>
          <a:p>
            <a:pPr>
              <a:buFont typeface="Arial" charset="0"/>
              <a:buChar char="•"/>
            </a:pPr>
            <a:endParaRPr lang="en-US" sz="2000"/>
          </a:p>
          <a:p>
            <a:pPr>
              <a:buFont typeface="Arial" charset="0"/>
              <a:buChar char="•"/>
            </a:pPr>
            <a:endParaRPr lang="en-US" sz="2000"/>
          </a:p>
          <a:p>
            <a:pPr>
              <a:buFont typeface="Arial" charset="0"/>
              <a:buChar char="•"/>
            </a:pPr>
            <a:endParaRPr lang="en-US" sz="2000"/>
          </a:p>
          <a:p>
            <a:pPr>
              <a:buFont typeface="Arial" charset="0"/>
              <a:buChar char="•"/>
            </a:pPr>
            <a:endParaRPr lang="en-US" sz="2000"/>
          </a:p>
          <a:p>
            <a:pPr>
              <a:buFont typeface="Arial" charset="0"/>
              <a:buChar char="•"/>
            </a:pPr>
            <a:endParaRPr lang="en-US" sz="2000"/>
          </a:p>
          <a:p>
            <a:pPr marL="0" indent="0">
              <a:buNone/>
            </a:pPr>
            <a:endParaRPr lang="en-US" sz="2000"/>
          </a:p>
          <a:p>
            <a:pPr>
              <a:buFont typeface="Arial" charset="0"/>
              <a:buChar char="•"/>
            </a:pPr>
            <a:r>
              <a:rPr lang="en-US" sz="2000"/>
              <a:t>"Object maturity" validation is enforced exclusively by claim and exposure validation rules</a:t>
            </a:r>
          </a:p>
        </p:txBody>
      </p:sp>
      <p:pic>
        <p:nvPicPr>
          <p:cNvPr id="1026" name="Picture 2" descr="C:\Users\trhoades\AppData\Local\Temp\SNAGHTML25d95f8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795" y="2151053"/>
            <a:ext cx="5051285" cy="3175495"/>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942" y="1289687"/>
            <a:ext cx="3381874" cy="417557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Lesson outline</a:t>
            </a:r>
          </a:p>
        </p:txBody>
      </p:sp>
      <p:sp>
        <p:nvSpPr>
          <p:cNvPr id="1229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Types of validation</a:t>
            </a:r>
          </a:p>
          <a:p>
            <a:pPr>
              <a:lnSpc>
                <a:spcPct val="150000"/>
              </a:lnSpc>
              <a:buFont typeface="Arial" charset="0"/>
              <a:buChar char="•"/>
            </a:pPr>
            <a:r>
              <a:rPr lang="en-US" sz="2800"/>
              <a:t>Validation rule basics</a:t>
            </a:r>
          </a:p>
          <a:p>
            <a:pPr>
              <a:lnSpc>
                <a:spcPct val="150000"/>
              </a:lnSpc>
              <a:buFont typeface="Arial" charset="0"/>
              <a:buChar char="•"/>
            </a:pPr>
            <a:r>
              <a:rPr lang="en-US" sz="2800">
                <a:solidFill>
                  <a:srgbClr val="C0C0C0"/>
                </a:solidFill>
              </a:rPr>
              <a:t>Validation rules in the user interface</a:t>
            </a:r>
          </a:p>
          <a:p>
            <a:pPr>
              <a:lnSpc>
                <a:spcPct val="150000"/>
              </a:lnSpc>
              <a:buFont typeface="Arial" charset="0"/>
              <a:buChar char="•"/>
            </a:pPr>
            <a:r>
              <a:rPr lang="en-US" sz="2800">
                <a:solidFill>
                  <a:srgbClr val="C0C0C0"/>
                </a:solidFill>
              </a:rPr>
              <a:t>Warnings and errors</a:t>
            </a:r>
          </a:p>
          <a:p>
            <a:pPr>
              <a:lnSpc>
                <a:spcPct val="150000"/>
              </a:lnSpc>
              <a:buFont typeface="Arial" charset="0"/>
              <a:buChar char="•"/>
            </a:pPr>
            <a:r>
              <a:rPr lang="en-US" sz="2800">
                <a:solidFill>
                  <a:srgbClr val="C0C0C0"/>
                </a:solidFill>
              </a:rPr>
              <a:t>Identifying invalid fields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Claim and exposure validation rules</a:t>
            </a:r>
          </a:p>
        </p:txBody>
      </p:sp>
      <p:sp>
        <p:nvSpPr>
          <p:cNvPr id="13315" name="Rectangle 3"/>
          <p:cNvSpPr>
            <a:spLocks noGrp="1" noChangeArrowheads="1"/>
          </p:cNvSpPr>
          <p:nvPr>
            <p:ph idx="1"/>
          </p:nvPr>
        </p:nvSpPr>
        <p:spPr>
          <a:xfrm>
            <a:off x="5991369" y="1192213"/>
            <a:ext cx="3023667" cy="5197475"/>
          </a:xfrm>
        </p:spPr>
        <p:txBody>
          <a:bodyPr/>
          <a:lstStyle/>
          <a:p>
            <a:pPr>
              <a:buFont typeface="Arial" charset="0"/>
              <a:buChar char="•"/>
            </a:pPr>
            <a:r>
              <a:rPr lang="en-US"/>
              <a:t>Execute when claim or exposure is created or changed</a:t>
            </a:r>
          </a:p>
          <a:p>
            <a:pPr lvl="1"/>
            <a:r>
              <a:rPr lang="en-US"/>
              <a:t>Used to promote object to higher level of maturity when it meets that level</a:t>
            </a:r>
          </a:p>
          <a:p>
            <a:pPr lvl="1"/>
            <a:r>
              <a:rPr lang="en-US"/>
              <a:t>Used to prevent changes that would cause object to fall backwards to less mature state</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587" y="868952"/>
            <a:ext cx="5603953" cy="496978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8288" y="871538"/>
            <a:ext cx="7307437" cy="36083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4339" name="Rectangle 2"/>
          <p:cNvSpPr>
            <a:spLocks noGrp="1" noChangeArrowheads="1"/>
          </p:cNvSpPr>
          <p:nvPr>
            <p:ph type="title"/>
          </p:nvPr>
        </p:nvSpPr>
        <p:spPr/>
        <p:txBody>
          <a:bodyPr/>
          <a:lstStyle/>
          <a:p>
            <a:pPr eaLnBrk="1" hangingPunct="1"/>
            <a:r>
              <a:rPr lang="en-US"/>
              <a:t>Validation levels</a:t>
            </a:r>
          </a:p>
        </p:txBody>
      </p:sp>
      <p:sp>
        <p:nvSpPr>
          <p:cNvPr id="14340" name="Rectangle 10"/>
          <p:cNvSpPr>
            <a:spLocks noGrp="1" noChangeArrowheads="1"/>
          </p:cNvSpPr>
          <p:nvPr>
            <p:ph idx="1"/>
          </p:nvPr>
        </p:nvSpPr>
        <p:spPr>
          <a:xfrm>
            <a:off x="519113" y="4884738"/>
            <a:ext cx="8318500" cy="1504950"/>
          </a:xfrm>
        </p:spPr>
        <p:txBody>
          <a:bodyPr/>
          <a:lstStyle/>
          <a:p>
            <a:pPr>
              <a:buFont typeface="Arial" charset="0"/>
              <a:buChar char="•"/>
            </a:pPr>
            <a:r>
              <a:rPr lang="en-US"/>
              <a:t>Defined in </a:t>
            </a:r>
            <a:r>
              <a:rPr lang="en-US" err="1"/>
              <a:t>ValidationLevel</a:t>
            </a:r>
            <a:r>
              <a:rPr lang="en-US"/>
              <a:t> typelist</a:t>
            </a:r>
          </a:p>
          <a:p>
            <a:pPr lvl="1"/>
            <a:r>
              <a:rPr lang="en-US"/>
              <a:t>Three internal levels cannot be deleted</a:t>
            </a:r>
          </a:p>
          <a:p>
            <a:pPr lvl="1"/>
            <a:r>
              <a:rPr lang="en-US"/>
              <a:t>Non-internal levels can be modified or deleted</a:t>
            </a:r>
          </a:p>
          <a:p>
            <a:pPr lvl="1"/>
            <a:r>
              <a:rPr lang="en-US"/>
              <a:t>New levels can be added</a:t>
            </a:r>
          </a:p>
        </p:txBody>
      </p:sp>
      <p:sp>
        <p:nvSpPr>
          <p:cNvPr id="14341" name="Text Box 5"/>
          <p:cNvSpPr txBox="1">
            <a:spLocks noChangeArrowheads="1"/>
          </p:cNvSpPr>
          <p:nvPr/>
        </p:nvSpPr>
        <p:spPr bwMode="auto">
          <a:xfrm>
            <a:off x="6867525" y="2295525"/>
            <a:ext cx="1343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Maturity</a:t>
            </a:r>
          </a:p>
        </p:txBody>
      </p:sp>
      <p:sp>
        <p:nvSpPr>
          <p:cNvPr id="14342" name="AutoShape 7"/>
          <p:cNvSpPr>
            <a:spLocks noChangeArrowheads="1"/>
          </p:cNvSpPr>
          <p:nvPr/>
        </p:nvSpPr>
        <p:spPr bwMode="auto">
          <a:xfrm>
            <a:off x="6967586" y="2620963"/>
            <a:ext cx="576214" cy="18589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343" name="Text Box 9"/>
          <p:cNvSpPr txBox="1">
            <a:spLocks noChangeArrowheads="1"/>
          </p:cNvSpPr>
          <p:nvPr/>
        </p:nvSpPr>
        <p:spPr bwMode="auto">
          <a:xfrm>
            <a:off x="432395" y="2608796"/>
            <a:ext cx="10064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Internal</a:t>
            </a:r>
            <a:br>
              <a:rPr lang="en-US"/>
            </a:br>
            <a:r>
              <a:rPr lang="en-US"/>
              <a:t>Levels</a:t>
            </a:r>
          </a:p>
        </p:txBody>
      </p:sp>
      <p:sp>
        <p:nvSpPr>
          <p:cNvPr id="14344" name="Line 13"/>
          <p:cNvSpPr>
            <a:spLocks noChangeShapeType="1"/>
          </p:cNvSpPr>
          <p:nvPr/>
        </p:nvSpPr>
        <p:spPr bwMode="auto">
          <a:xfrm>
            <a:off x="1494432" y="2758021"/>
            <a:ext cx="375311"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5" name="Line 14"/>
          <p:cNvSpPr>
            <a:spLocks noChangeShapeType="1"/>
          </p:cNvSpPr>
          <p:nvPr/>
        </p:nvSpPr>
        <p:spPr bwMode="auto">
          <a:xfrm>
            <a:off x="1503957" y="3037421"/>
            <a:ext cx="365786"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6" name="Line 15"/>
          <p:cNvSpPr>
            <a:spLocks noChangeShapeType="1"/>
          </p:cNvSpPr>
          <p:nvPr/>
        </p:nvSpPr>
        <p:spPr bwMode="auto">
          <a:xfrm>
            <a:off x="1007070" y="3215221"/>
            <a:ext cx="0" cy="6096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7" name="Line 16"/>
          <p:cNvSpPr>
            <a:spLocks noChangeShapeType="1"/>
          </p:cNvSpPr>
          <p:nvPr/>
        </p:nvSpPr>
        <p:spPr bwMode="auto">
          <a:xfrm>
            <a:off x="1007070" y="3829843"/>
            <a:ext cx="862673" cy="44190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348" name="Line 17"/>
          <p:cNvSpPr>
            <a:spLocks noChangeShapeType="1"/>
          </p:cNvSpPr>
          <p:nvPr/>
        </p:nvSpPr>
        <p:spPr bwMode="auto">
          <a:xfrm>
            <a:off x="7830403" y="2675731"/>
            <a:ext cx="0" cy="3508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Behavior tied to internal levels</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8288" y="871538"/>
            <a:ext cx="7307437" cy="360838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 name="Rectangle 10"/>
          <p:cNvSpPr txBox="1">
            <a:spLocks noChangeArrowheads="1"/>
          </p:cNvSpPr>
          <p:nvPr/>
        </p:nvSpPr>
        <p:spPr bwMode="auto">
          <a:xfrm>
            <a:off x="519113" y="4884738"/>
            <a:ext cx="83185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pPr>
              <a:buFont typeface="Arial" charset="0"/>
              <a:buChar char="•"/>
            </a:pPr>
            <a:r>
              <a:rPr lang="en-US" b="0" dirty="0"/>
              <a:t>Claim and exposure</a:t>
            </a:r>
          </a:p>
          <a:p>
            <a:pPr lvl="1"/>
            <a:r>
              <a:rPr lang="en-US" b="0" dirty="0"/>
              <a:t>Cannot be imported below "</a:t>
            </a:r>
            <a:r>
              <a:rPr lang="en-US" b="0" dirty="0" err="1"/>
              <a:t>loadsave</a:t>
            </a:r>
            <a:r>
              <a:rPr lang="en-US" b="0" dirty="0"/>
              <a:t>"</a:t>
            </a:r>
          </a:p>
          <a:p>
            <a:pPr lvl="1"/>
            <a:r>
              <a:rPr lang="en-US" b="0" dirty="0"/>
              <a:t>Cannot be created via new claim wizard below "</a:t>
            </a:r>
            <a:r>
              <a:rPr lang="en-US" b="0" dirty="0" err="1"/>
              <a:t>newloss</a:t>
            </a:r>
            <a:r>
              <a:rPr lang="en-US" b="0" dirty="0"/>
              <a:t>"</a:t>
            </a:r>
          </a:p>
          <a:p>
            <a:pPr lvl="1"/>
            <a:r>
              <a:rPr lang="en-US" b="0" dirty="0"/>
              <a:t>Cannot create payments below “payment”</a:t>
            </a:r>
          </a:p>
        </p:txBody>
      </p:sp>
      <p:sp>
        <p:nvSpPr>
          <p:cNvPr id="8" name="AutoShape 7"/>
          <p:cNvSpPr>
            <a:spLocks noChangeArrowheads="1"/>
          </p:cNvSpPr>
          <p:nvPr/>
        </p:nvSpPr>
        <p:spPr bwMode="auto">
          <a:xfrm>
            <a:off x="3203107" y="2651981"/>
            <a:ext cx="1321390" cy="28122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 name="AutoShape 7"/>
          <p:cNvSpPr>
            <a:spLocks noChangeArrowheads="1"/>
          </p:cNvSpPr>
          <p:nvPr/>
        </p:nvSpPr>
        <p:spPr bwMode="auto">
          <a:xfrm>
            <a:off x="3203107" y="3014267"/>
            <a:ext cx="1321390" cy="28122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3213007" y="4110631"/>
            <a:ext cx="1321390" cy="281226"/>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Pre-update and validation</a:t>
            </a:r>
          </a:p>
        </p:txBody>
      </p:sp>
      <p:sp>
        <p:nvSpPr>
          <p:cNvPr id="16387" name="Rectangle 3"/>
          <p:cNvSpPr>
            <a:spLocks noGrp="1" noChangeArrowheads="1"/>
          </p:cNvSpPr>
          <p:nvPr>
            <p:ph idx="1"/>
          </p:nvPr>
        </p:nvSpPr>
        <p:spPr>
          <a:xfrm>
            <a:off x="581025" y="4270375"/>
            <a:ext cx="8256588" cy="2119313"/>
          </a:xfrm>
        </p:spPr>
        <p:txBody>
          <a:bodyPr/>
          <a:lstStyle/>
          <a:p>
            <a:pPr>
              <a:buFont typeface="Arial" charset="0"/>
              <a:buChar char="•"/>
            </a:pPr>
            <a:r>
              <a:rPr lang="en-US"/>
              <a:t>Whenever </a:t>
            </a:r>
            <a:r>
              <a:rPr lang="en-US" err="1"/>
              <a:t>validatable</a:t>
            </a:r>
            <a:r>
              <a:rPr lang="en-US"/>
              <a:t> object is created or modified:</a:t>
            </a:r>
          </a:p>
          <a:p>
            <a:pPr lvl="1"/>
            <a:r>
              <a:rPr lang="en-US"/>
              <a:t>Pre-update rules for object are run first</a:t>
            </a:r>
          </a:p>
          <a:p>
            <a:pPr lvl="1"/>
            <a:r>
              <a:rPr lang="en-US"/>
              <a:t>“Maturity” Validation rules for object are run next</a:t>
            </a:r>
          </a:p>
          <a:p>
            <a:pPr>
              <a:buFont typeface="Arial" charset="0"/>
              <a:buChar char="•"/>
            </a:pPr>
            <a:r>
              <a:rPr lang="en-US"/>
              <a:t>If object fails validation, any work done by pre-update rules is rolled back</a:t>
            </a:r>
          </a:p>
        </p:txBody>
      </p:sp>
      <p:pic>
        <p:nvPicPr>
          <p:cNvPr id="1026" name="Picture 2" descr="C:\Users\trhoades\AppData\Local\Temp\SNAGHTML55e438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3393" y="1114836"/>
            <a:ext cx="3625505" cy="148195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3394" y="2718004"/>
            <a:ext cx="4091735" cy="145023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7"/>
          <p:cNvSpPr>
            <a:spLocks noGrp="1" noChangeArrowheads="1"/>
          </p:cNvSpPr>
          <p:nvPr>
            <p:ph type="title"/>
          </p:nvPr>
        </p:nvSpPr>
        <p:spPr/>
        <p:txBody>
          <a:bodyPr/>
          <a:lstStyle/>
          <a:p>
            <a:pPr eaLnBrk="1" hangingPunct="1"/>
            <a:r>
              <a:rPr lang="en-US"/>
              <a:t>Object promoted to highest possible level </a:t>
            </a:r>
          </a:p>
        </p:txBody>
      </p:sp>
      <p:sp>
        <p:nvSpPr>
          <p:cNvPr id="17411" name="Rectangle 187"/>
          <p:cNvSpPr>
            <a:spLocks noGrp="1" noChangeArrowheads="1"/>
          </p:cNvSpPr>
          <p:nvPr>
            <p:ph idx="1"/>
          </p:nvPr>
        </p:nvSpPr>
        <p:spPr>
          <a:xfrm>
            <a:off x="581025" y="5397500"/>
            <a:ext cx="8256588" cy="992188"/>
          </a:xfrm>
        </p:spPr>
        <p:txBody>
          <a:bodyPr/>
          <a:lstStyle/>
          <a:p>
            <a:pPr>
              <a:buFont typeface="Arial" charset="0"/>
              <a:buChar char="•"/>
            </a:pPr>
            <a:r>
              <a:rPr lang="en-US"/>
              <a:t>Object always promoted to highest possible level</a:t>
            </a:r>
          </a:p>
          <a:p>
            <a:pPr lvl="1"/>
            <a:r>
              <a:rPr lang="en-US"/>
              <a:t>Single change could result in promotion of multiple levels</a:t>
            </a:r>
          </a:p>
        </p:txBody>
      </p:sp>
      <p:grpSp>
        <p:nvGrpSpPr>
          <p:cNvPr id="17412" name="Group 39"/>
          <p:cNvGrpSpPr>
            <a:grpSpLocks/>
          </p:cNvGrpSpPr>
          <p:nvPr/>
        </p:nvGrpSpPr>
        <p:grpSpPr bwMode="auto">
          <a:xfrm>
            <a:off x="7766050" y="2503488"/>
            <a:ext cx="1027113" cy="874712"/>
            <a:chOff x="4324" y="1324"/>
            <a:chExt cx="647" cy="551"/>
          </a:xfrm>
        </p:grpSpPr>
        <p:sp>
          <p:nvSpPr>
            <p:cNvPr id="17461" name="AutoShape 40"/>
            <p:cNvSpPr>
              <a:spLocks noChangeArrowheads="1"/>
            </p:cNvSpPr>
            <p:nvPr/>
          </p:nvSpPr>
          <p:spPr bwMode="invGray">
            <a:xfrm>
              <a:off x="4324" y="1324"/>
              <a:ext cx="647" cy="551"/>
            </a:xfrm>
            <a:prstGeom prst="can">
              <a:avLst>
                <a:gd name="adj" fmla="val 17333"/>
              </a:avLst>
            </a:prstGeom>
            <a:solidFill>
              <a:schemeClr val="accent1"/>
            </a:solidFill>
            <a:ln w="28575">
              <a:solidFill>
                <a:schemeClr val="tx2"/>
              </a:solidFill>
              <a:round/>
              <a:headEnd/>
              <a:tailEnd/>
            </a:ln>
          </p:spPr>
          <p:txBody>
            <a:bodyPr wrap="none" anchor="ctr"/>
            <a:lstStyle/>
            <a:p>
              <a:endParaRPr lang="en-US"/>
            </a:p>
          </p:txBody>
        </p:sp>
        <p:sp>
          <p:nvSpPr>
            <p:cNvPr id="17462" name="Text Box 41"/>
            <p:cNvSpPr txBox="1">
              <a:spLocks noChangeArrowheads="1"/>
            </p:cNvSpPr>
            <p:nvPr/>
          </p:nvSpPr>
          <p:spPr bwMode="invGray">
            <a:xfrm>
              <a:off x="4405" y="1395"/>
              <a:ext cx="4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99CCFF"/>
                  </a:solidFill>
                </a:rPr>
                <a:t>cc</a:t>
              </a:r>
              <a:br>
                <a:rPr lang="en-US">
                  <a:solidFill>
                    <a:srgbClr val="99CCFF"/>
                  </a:solidFill>
                </a:rPr>
              </a:br>
              <a:r>
                <a:rPr lang="en-US">
                  <a:solidFill>
                    <a:srgbClr val="99CCFF"/>
                  </a:solidFill>
                </a:rPr>
                <a:t>data</a:t>
              </a:r>
            </a:p>
          </p:txBody>
        </p:sp>
      </p:grpSp>
      <p:grpSp>
        <p:nvGrpSpPr>
          <p:cNvPr id="17413" name="Group 120"/>
          <p:cNvGrpSpPr>
            <a:grpSpLocks/>
          </p:cNvGrpSpPr>
          <p:nvPr/>
        </p:nvGrpSpPr>
        <p:grpSpPr bwMode="auto">
          <a:xfrm>
            <a:off x="3533775" y="809625"/>
            <a:ext cx="1862138" cy="1454150"/>
            <a:chOff x="2687" y="2429"/>
            <a:chExt cx="1173" cy="916"/>
          </a:xfrm>
        </p:grpSpPr>
        <p:grpSp>
          <p:nvGrpSpPr>
            <p:cNvPr id="17448" name="Group 42"/>
            <p:cNvGrpSpPr>
              <a:grpSpLocks/>
            </p:cNvGrpSpPr>
            <p:nvPr/>
          </p:nvGrpSpPr>
          <p:grpSpPr bwMode="auto">
            <a:xfrm>
              <a:off x="3137" y="2429"/>
              <a:ext cx="723" cy="283"/>
              <a:chOff x="3591" y="1357"/>
              <a:chExt cx="723" cy="283"/>
            </a:xfrm>
          </p:grpSpPr>
          <p:sp>
            <p:nvSpPr>
              <p:cNvPr id="17456" name="Freeform 43"/>
              <p:cNvSpPr>
                <a:spLocks/>
              </p:cNvSpPr>
              <p:nvPr/>
            </p:nvSpPr>
            <p:spPr bwMode="auto">
              <a:xfrm flipH="1">
                <a:off x="3591" y="1371"/>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7" name="Freeform 44"/>
              <p:cNvSpPr>
                <a:spLocks/>
              </p:cNvSpPr>
              <p:nvPr/>
            </p:nvSpPr>
            <p:spPr bwMode="auto">
              <a:xfrm flipH="1">
                <a:off x="3712" y="1411"/>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45"/>
              <p:cNvSpPr>
                <a:spLocks/>
              </p:cNvSpPr>
              <p:nvPr/>
            </p:nvSpPr>
            <p:spPr bwMode="auto">
              <a:xfrm flipH="1">
                <a:off x="3705" y="1457"/>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Freeform 46"/>
              <p:cNvSpPr>
                <a:spLocks/>
              </p:cNvSpPr>
              <p:nvPr/>
            </p:nvSpPr>
            <p:spPr bwMode="auto">
              <a:xfrm flipH="1">
                <a:off x="3708" y="1406"/>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0" name="Freeform 47"/>
              <p:cNvSpPr>
                <a:spLocks/>
              </p:cNvSpPr>
              <p:nvPr/>
            </p:nvSpPr>
            <p:spPr bwMode="auto">
              <a:xfrm flipH="1">
                <a:off x="3750" y="1357"/>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49" name="Rectangle 91"/>
            <p:cNvSpPr>
              <a:spLocks noChangeArrowheads="1"/>
            </p:cNvSpPr>
            <p:nvPr/>
          </p:nvSpPr>
          <p:spPr bwMode="auto">
            <a:xfrm>
              <a:off x="3021" y="2698"/>
              <a:ext cx="838" cy="575"/>
            </a:xfrm>
            <a:prstGeom prst="rect">
              <a:avLst/>
            </a:prstGeom>
            <a:solidFill>
              <a:srgbClr val="CC99FF"/>
            </a:solidFill>
            <a:ln w="12700" algn="ctr">
              <a:solidFill>
                <a:schemeClr val="bg1"/>
              </a:solidFill>
              <a:miter lim="800000"/>
              <a:headEnd/>
              <a:tailEnd/>
            </a:ln>
          </p:spPr>
          <p:txBody>
            <a:bodyPr lIns="0" tIns="0" rIns="0" bIns="0" anchor="ctr">
              <a:spAutoFit/>
            </a:bodyPr>
            <a:lstStyle/>
            <a:p>
              <a:endParaRPr lang="en-US"/>
            </a:p>
          </p:txBody>
        </p:sp>
        <p:sp>
          <p:nvSpPr>
            <p:cNvPr id="17450" name="Text Box 92"/>
            <p:cNvSpPr txBox="1">
              <a:spLocks noChangeArrowheads="1"/>
            </p:cNvSpPr>
            <p:nvPr/>
          </p:nvSpPr>
          <p:spPr bwMode="auto">
            <a:xfrm>
              <a:off x="3058" y="2726"/>
              <a:ext cx="78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at level 3,</a:t>
              </a:r>
              <a:br>
                <a:rPr lang="en-US" sz="1800">
                  <a:solidFill>
                    <a:schemeClr val="bg1"/>
                  </a:solidFill>
                </a:rPr>
              </a:br>
              <a:r>
                <a:rPr lang="en-US" sz="1800">
                  <a:solidFill>
                    <a:schemeClr val="bg1"/>
                  </a:solidFill>
                </a:rPr>
                <a:t>county is</a:t>
              </a:r>
              <a:br>
                <a:rPr lang="en-US" sz="1800">
                  <a:solidFill>
                    <a:schemeClr val="bg1"/>
                  </a:solidFill>
                </a:rPr>
              </a:br>
              <a:r>
                <a:rPr lang="en-US" sz="1800">
                  <a:solidFill>
                    <a:schemeClr val="bg1"/>
                  </a:solidFill>
                </a:rPr>
                <a:t>required</a:t>
              </a:r>
            </a:p>
          </p:txBody>
        </p:sp>
        <p:grpSp>
          <p:nvGrpSpPr>
            <p:cNvPr id="17451" name="Group 93"/>
            <p:cNvGrpSpPr>
              <a:grpSpLocks/>
            </p:cNvGrpSpPr>
            <p:nvPr/>
          </p:nvGrpSpPr>
          <p:grpSpPr bwMode="auto">
            <a:xfrm>
              <a:off x="2687" y="2944"/>
              <a:ext cx="422" cy="401"/>
              <a:chOff x="2149" y="1480"/>
              <a:chExt cx="523" cy="497"/>
            </a:xfrm>
          </p:grpSpPr>
          <p:sp>
            <p:nvSpPr>
              <p:cNvPr id="17452" name="Freeform 94"/>
              <p:cNvSpPr>
                <a:spLocks/>
              </p:cNvSpPr>
              <p:nvPr/>
            </p:nvSpPr>
            <p:spPr bwMode="auto">
              <a:xfrm flipH="1">
                <a:off x="2149" y="148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3" name="Freeform 95"/>
              <p:cNvSpPr>
                <a:spLocks/>
              </p:cNvSpPr>
              <p:nvPr/>
            </p:nvSpPr>
            <p:spPr bwMode="auto">
              <a:xfrm flipH="1">
                <a:off x="2453" y="163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4" name="Freeform 96"/>
              <p:cNvSpPr>
                <a:spLocks/>
              </p:cNvSpPr>
              <p:nvPr/>
            </p:nvSpPr>
            <p:spPr bwMode="auto">
              <a:xfrm flipH="1">
                <a:off x="2156" y="148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Freeform 97"/>
              <p:cNvSpPr>
                <a:spLocks/>
              </p:cNvSpPr>
              <p:nvPr/>
            </p:nvSpPr>
            <p:spPr bwMode="auto">
              <a:xfrm flipH="1">
                <a:off x="2343" y="191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7414" name="Text Box 36"/>
          <p:cNvSpPr txBox="1">
            <a:spLocks noChangeArrowheads="1"/>
          </p:cNvSpPr>
          <p:nvPr/>
        </p:nvSpPr>
        <p:spPr bwMode="auto">
          <a:xfrm>
            <a:off x="455613" y="2381250"/>
            <a:ext cx="244157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2</a:t>
            </a:r>
            <a:br>
              <a:rPr lang="en-US" sz="1800">
                <a:solidFill>
                  <a:schemeClr val="bg1"/>
                </a:solidFill>
              </a:rPr>
            </a:br>
            <a:r>
              <a:rPr lang="en-US" sz="1800">
                <a:solidFill>
                  <a:schemeClr val="bg1"/>
                </a:solidFill>
              </a:rPr>
              <a:t>county = null</a:t>
            </a:r>
            <a:br>
              <a:rPr lang="en-US" sz="1800">
                <a:solidFill>
                  <a:schemeClr val="bg1"/>
                </a:solidFill>
              </a:rPr>
            </a:br>
            <a:r>
              <a:rPr lang="en-US" sz="1800">
                <a:solidFill>
                  <a:schemeClr val="bg1"/>
                </a:solidFill>
              </a:rPr>
              <a:t>state = null</a:t>
            </a:r>
            <a:br>
              <a:rPr lang="en-US" sz="1800">
                <a:solidFill>
                  <a:schemeClr val="bg1"/>
                </a:solidFill>
              </a:rPr>
            </a:br>
            <a:r>
              <a:rPr lang="en-US" sz="1800">
                <a:solidFill>
                  <a:schemeClr val="bg1"/>
                </a:solidFill>
              </a:rPr>
              <a:t>inspection = done </a:t>
            </a:r>
          </a:p>
        </p:txBody>
      </p:sp>
      <p:grpSp>
        <p:nvGrpSpPr>
          <p:cNvPr id="17415" name="Group 176"/>
          <p:cNvGrpSpPr>
            <a:grpSpLocks/>
          </p:cNvGrpSpPr>
          <p:nvPr/>
        </p:nvGrpSpPr>
        <p:grpSpPr bwMode="auto">
          <a:xfrm>
            <a:off x="2422525" y="2976563"/>
            <a:ext cx="1089025" cy="274637"/>
            <a:chOff x="1526" y="1695"/>
            <a:chExt cx="686" cy="173"/>
          </a:xfrm>
        </p:grpSpPr>
        <p:sp>
          <p:nvSpPr>
            <p:cNvPr id="17446" name="Line 105"/>
            <p:cNvSpPr>
              <a:spLocks noChangeShapeType="1"/>
            </p:cNvSpPr>
            <p:nvPr/>
          </p:nvSpPr>
          <p:spPr bwMode="auto">
            <a:xfrm flipH="1">
              <a:off x="1526" y="1715"/>
              <a:ext cx="357" cy="1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7" name="Text Box 106"/>
            <p:cNvSpPr txBox="1">
              <a:spLocks noChangeArrowheads="1"/>
            </p:cNvSpPr>
            <p:nvPr/>
          </p:nvSpPr>
          <p:spPr bwMode="auto">
            <a:xfrm>
              <a:off x="1884" y="1695"/>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CA</a:t>
              </a:r>
            </a:p>
          </p:txBody>
        </p:sp>
      </p:grpSp>
      <p:grpSp>
        <p:nvGrpSpPr>
          <p:cNvPr id="17416" name="Group 121"/>
          <p:cNvGrpSpPr>
            <a:grpSpLocks/>
          </p:cNvGrpSpPr>
          <p:nvPr/>
        </p:nvGrpSpPr>
        <p:grpSpPr bwMode="auto">
          <a:xfrm>
            <a:off x="5683250" y="809625"/>
            <a:ext cx="1862138" cy="1454150"/>
            <a:chOff x="2687" y="2429"/>
            <a:chExt cx="1173" cy="916"/>
          </a:xfrm>
        </p:grpSpPr>
        <p:grpSp>
          <p:nvGrpSpPr>
            <p:cNvPr id="17433" name="Group 122"/>
            <p:cNvGrpSpPr>
              <a:grpSpLocks/>
            </p:cNvGrpSpPr>
            <p:nvPr/>
          </p:nvGrpSpPr>
          <p:grpSpPr bwMode="auto">
            <a:xfrm>
              <a:off x="3137" y="2429"/>
              <a:ext cx="723" cy="283"/>
              <a:chOff x="3591" y="1357"/>
              <a:chExt cx="723" cy="283"/>
            </a:xfrm>
          </p:grpSpPr>
          <p:sp>
            <p:nvSpPr>
              <p:cNvPr id="17441" name="Freeform 123"/>
              <p:cNvSpPr>
                <a:spLocks/>
              </p:cNvSpPr>
              <p:nvPr/>
            </p:nvSpPr>
            <p:spPr bwMode="auto">
              <a:xfrm flipH="1">
                <a:off x="3591" y="1371"/>
                <a:ext cx="718" cy="262"/>
              </a:xfrm>
              <a:custGeom>
                <a:avLst/>
                <a:gdLst>
                  <a:gd name="T0" fmla="*/ 14 w 718"/>
                  <a:gd name="T1" fmla="*/ 128 h 262"/>
                  <a:gd name="T2" fmla="*/ 0 w 718"/>
                  <a:gd name="T3" fmla="*/ 222 h 262"/>
                  <a:gd name="T4" fmla="*/ 91 w 718"/>
                  <a:gd name="T5" fmla="*/ 219 h 262"/>
                  <a:gd name="T6" fmla="*/ 91 w 718"/>
                  <a:gd name="T7" fmla="*/ 219 h 262"/>
                  <a:gd name="T8" fmla="*/ 93 w 718"/>
                  <a:gd name="T9" fmla="*/ 222 h 262"/>
                  <a:gd name="T10" fmla="*/ 97 w 718"/>
                  <a:gd name="T11" fmla="*/ 226 h 262"/>
                  <a:gd name="T12" fmla="*/ 100 w 718"/>
                  <a:gd name="T13" fmla="*/ 231 h 262"/>
                  <a:gd name="T14" fmla="*/ 102 w 718"/>
                  <a:gd name="T15" fmla="*/ 233 h 262"/>
                  <a:gd name="T16" fmla="*/ 104 w 718"/>
                  <a:gd name="T17" fmla="*/ 236 h 262"/>
                  <a:gd name="T18" fmla="*/ 105 w 718"/>
                  <a:gd name="T19" fmla="*/ 240 h 262"/>
                  <a:gd name="T20" fmla="*/ 107 w 718"/>
                  <a:gd name="T21" fmla="*/ 245 h 262"/>
                  <a:gd name="T22" fmla="*/ 109 w 718"/>
                  <a:gd name="T23" fmla="*/ 248 h 262"/>
                  <a:gd name="T24" fmla="*/ 111 w 718"/>
                  <a:gd name="T25" fmla="*/ 252 h 262"/>
                  <a:gd name="T26" fmla="*/ 112 w 718"/>
                  <a:gd name="T27" fmla="*/ 257 h 262"/>
                  <a:gd name="T28" fmla="*/ 114 w 718"/>
                  <a:gd name="T29" fmla="*/ 262 h 262"/>
                  <a:gd name="T30" fmla="*/ 615 w 718"/>
                  <a:gd name="T31" fmla="*/ 255 h 262"/>
                  <a:gd name="T32" fmla="*/ 625 w 718"/>
                  <a:gd name="T33" fmla="*/ 196 h 262"/>
                  <a:gd name="T34" fmla="*/ 695 w 718"/>
                  <a:gd name="T35" fmla="*/ 182 h 262"/>
                  <a:gd name="T36" fmla="*/ 718 w 718"/>
                  <a:gd name="T37" fmla="*/ 147 h 262"/>
                  <a:gd name="T38" fmla="*/ 550 w 718"/>
                  <a:gd name="T39" fmla="*/ 0 h 262"/>
                  <a:gd name="T40" fmla="*/ 275 w 718"/>
                  <a:gd name="T41" fmla="*/ 108 h 262"/>
                  <a:gd name="T42" fmla="*/ 14 w 718"/>
                  <a:gd name="T43" fmla="*/ 128 h 262"/>
                  <a:gd name="T44" fmla="*/ 14 w 718"/>
                  <a:gd name="T45" fmla="*/ 128 h 2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18"/>
                  <a:gd name="T70" fmla="*/ 0 h 262"/>
                  <a:gd name="T71" fmla="*/ 718 w 718"/>
                  <a:gd name="T72" fmla="*/ 262 h 2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18" h="262">
                    <a:moveTo>
                      <a:pt x="14" y="128"/>
                    </a:moveTo>
                    <a:lnTo>
                      <a:pt x="0" y="222"/>
                    </a:lnTo>
                    <a:lnTo>
                      <a:pt x="91" y="219"/>
                    </a:lnTo>
                    <a:lnTo>
                      <a:pt x="93" y="222"/>
                    </a:lnTo>
                    <a:lnTo>
                      <a:pt x="97" y="226"/>
                    </a:lnTo>
                    <a:lnTo>
                      <a:pt x="100" y="231"/>
                    </a:lnTo>
                    <a:lnTo>
                      <a:pt x="102" y="233"/>
                    </a:lnTo>
                    <a:lnTo>
                      <a:pt x="104" y="236"/>
                    </a:lnTo>
                    <a:lnTo>
                      <a:pt x="105" y="240"/>
                    </a:lnTo>
                    <a:lnTo>
                      <a:pt x="107" y="245"/>
                    </a:lnTo>
                    <a:lnTo>
                      <a:pt x="109" y="248"/>
                    </a:lnTo>
                    <a:lnTo>
                      <a:pt x="111" y="252"/>
                    </a:lnTo>
                    <a:lnTo>
                      <a:pt x="112" y="257"/>
                    </a:lnTo>
                    <a:lnTo>
                      <a:pt x="114" y="262"/>
                    </a:lnTo>
                    <a:lnTo>
                      <a:pt x="615" y="255"/>
                    </a:lnTo>
                    <a:lnTo>
                      <a:pt x="625" y="196"/>
                    </a:lnTo>
                    <a:lnTo>
                      <a:pt x="695" y="182"/>
                    </a:lnTo>
                    <a:lnTo>
                      <a:pt x="718" y="147"/>
                    </a:lnTo>
                    <a:lnTo>
                      <a:pt x="550" y="0"/>
                    </a:lnTo>
                    <a:lnTo>
                      <a:pt x="275" y="108"/>
                    </a:lnTo>
                    <a:lnTo>
                      <a:pt x="14" y="128"/>
                    </a:lnTo>
                    <a:close/>
                  </a:path>
                </a:pathLst>
              </a:custGeom>
              <a:solidFill>
                <a:srgbClr val="4A69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Freeform 124"/>
              <p:cNvSpPr>
                <a:spLocks/>
              </p:cNvSpPr>
              <p:nvPr/>
            </p:nvSpPr>
            <p:spPr bwMode="auto">
              <a:xfrm flipH="1">
                <a:off x="3712" y="1411"/>
                <a:ext cx="164" cy="166"/>
              </a:xfrm>
              <a:custGeom>
                <a:avLst/>
                <a:gdLst>
                  <a:gd name="T0" fmla="*/ 92 w 164"/>
                  <a:gd name="T1" fmla="*/ 2 h 166"/>
                  <a:gd name="T2" fmla="*/ 85 w 164"/>
                  <a:gd name="T3" fmla="*/ 0 h 166"/>
                  <a:gd name="T4" fmla="*/ 47 w 164"/>
                  <a:gd name="T5" fmla="*/ 47 h 166"/>
                  <a:gd name="T6" fmla="*/ 7 w 164"/>
                  <a:gd name="T7" fmla="*/ 51 h 166"/>
                  <a:gd name="T8" fmla="*/ 0 w 164"/>
                  <a:gd name="T9" fmla="*/ 58 h 166"/>
                  <a:gd name="T10" fmla="*/ 0 w 164"/>
                  <a:gd name="T11" fmla="*/ 58 h 166"/>
                  <a:gd name="T12" fmla="*/ 1 w 164"/>
                  <a:gd name="T13" fmla="*/ 60 h 166"/>
                  <a:gd name="T14" fmla="*/ 3 w 164"/>
                  <a:gd name="T15" fmla="*/ 65 h 166"/>
                  <a:gd name="T16" fmla="*/ 5 w 164"/>
                  <a:gd name="T17" fmla="*/ 70 h 166"/>
                  <a:gd name="T18" fmla="*/ 5 w 164"/>
                  <a:gd name="T19" fmla="*/ 74 h 166"/>
                  <a:gd name="T20" fmla="*/ 7 w 164"/>
                  <a:gd name="T21" fmla="*/ 77 h 166"/>
                  <a:gd name="T22" fmla="*/ 8 w 164"/>
                  <a:gd name="T23" fmla="*/ 81 h 166"/>
                  <a:gd name="T24" fmla="*/ 10 w 164"/>
                  <a:gd name="T25" fmla="*/ 84 h 166"/>
                  <a:gd name="T26" fmla="*/ 12 w 164"/>
                  <a:gd name="T27" fmla="*/ 88 h 166"/>
                  <a:gd name="T28" fmla="*/ 14 w 164"/>
                  <a:gd name="T29" fmla="*/ 93 h 166"/>
                  <a:gd name="T30" fmla="*/ 15 w 164"/>
                  <a:gd name="T31" fmla="*/ 98 h 166"/>
                  <a:gd name="T32" fmla="*/ 19 w 164"/>
                  <a:gd name="T33" fmla="*/ 102 h 166"/>
                  <a:gd name="T34" fmla="*/ 21 w 164"/>
                  <a:gd name="T35" fmla="*/ 107 h 166"/>
                  <a:gd name="T36" fmla="*/ 24 w 164"/>
                  <a:gd name="T37" fmla="*/ 110 h 166"/>
                  <a:gd name="T38" fmla="*/ 26 w 164"/>
                  <a:gd name="T39" fmla="*/ 116 h 166"/>
                  <a:gd name="T40" fmla="*/ 29 w 164"/>
                  <a:gd name="T41" fmla="*/ 121 h 166"/>
                  <a:gd name="T42" fmla="*/ 33 w 164"/>
                  <a:gd name="T43" fmla="*/ 124 h 166"/>
                  <a:gd name="T44" fmla="*/ 36 w 164"/>
                  <a:gd name="T45" fmla="*/ 130 h 166"/>
                  <a:gd name="T46" fmla="*/ 40 w 164"/>
                  <a:gd name="T47" fmla="*/ 133 h 166"/>
                  <a:gd name="T48" fmla="*/ 45 w 164"/>
                  <a:gd name="T49" fmla="*/ 138 h 166"/>
                  <a:gd name="T50" fmla="*/ 49 w 164"/>
                  <a:gd name="T51" fmla="*/ 142 h 166"/>
                  <a:gd name="T52" fmla="*/ 52 w 164"/>
                  <a:gd name="T53" fmla="*/ 147 h 166"/>
                  <a:gd name="T54" fmla="*/ 57 w 164"/>
                  <a:gd name="T55" fmla="*/ 151 h 166"/>
                  <a:gd name="T56" fmla="*/ 63 w 164"/>
                  <a:gd name="T57" fmla="*/ 154 h 166"/>
                  <a:gd name="T58" fmla="*/ 66 w 164"/>
                  <a:gd name="T59" fmla="*/ 158 h 166"/>
                  <a:gd name="T60" fmla="*/ 71 w 164"/>
                  <a:gd name="T61" fmla="*/ 161 h 166"/>
                  <a:gd name="T62" fmla="*/ 78 w 164"/>
                  <a:gd name="T63" fmla="*/ 165 h 166"/>
                  <a:gd name="T64" fmla="*/ 84 w 164"/>
                  <a:gd name="T65" fmla="*/ 166 h 166"/>
                  <a:gd name="T66" fmla="*/ 96 w 164"/>
                  <a:gd name="T67" fmla="*/ 161 h 166"/>
                  <a:gd name="T68" fmla="*/ 164 w 164"/>
                  <a:gd name="T69" fmla="*/ 60 h 166"/>
                  <a:gd name="T70" fmla="*/ 120 w 164"/>
                  <a:gd name="T71" fmla="*/ 46 h 166"/>
                  <a:gd name="T72" fmla="*/ 92 w 164"/>
                  <a:gd name="T73" fmla="*/ 2 h 166"/>
                  <a:gd name="T74" fmla="*/ 92 w 164"/>
                  <a:gd name="T75" fmla="*/ 2 h 1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4"/>
                  <a:gd name="T115" fmla="*/ 0 h 166"/>
                  <a:gd name="T116" fmla="*/ 164 w 164"/>
                  <a:gd name="T117" fmla="*/ 166 h 1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4" h="166">
                    <a:moveTo>
                      <a:pt x="92" y="2"/>
                    </a:moveTo>
                    <a:lnTo>
                      <a:pt x="85" y="0"/>
                    </a:lnTo>
                    <a:lnTo>
                      <a:pt x="47" y="47"/>
                    </a:lnTo>
                    <a:lnTo>
                      <a:pt x="7" y="51"/>
                    </a:lnTo>
                    <a:lnTo>
                      <a:pt x="0" y="58"/>
                    </a:lnTo>
                    <a:lnTo>
                      <a:pt x="1" y="60"/>
                    </a:lnTo>
                    <a:lnTo>
                      <a:pt x="3" y="65"/>
                    </a:lnTo>
                    <a:lnTo>
                      <a:pt x="5" y="70"/>
                    </a:lnTo>
                    <a:lnTo>
                      <a:pt x="5" y="74"/>
                    </a:lnTo>
                    <a:lnTo>
                      <a:pt x="7" y="77"/>
                    </a:lnTo>
                    <a:lnTo>
                      <a:pt x="8" y="81"/>
                    </a:lnTo>
                    <a:lnTo>
                      <a:pt x="10" y="84"/>
                    </a:lnTo>
                    <a:lnTo>
                      <a:pt x="12" y="88"/>
                    </a:lnTo>
                    <a:lnTo>
                      <a:pt x="14" y="93"/>
                    </a:lnTo>
                    <a:lnTo>
                      <a:pt x="15" y="98"/>
                    </a:lnTo>
                    <a:lnTo>
                      <a:pt x="19" y="102"/>
                    </a:lnTo>
                    <a:lnTo>
                      <a:pt x="21" y="107"/>
                    </a:lnTo>
                    <a:lnTo>
                      <a:pt x="24" y="110"/>
                    </a:lnTo>
                    <a:lnTo>
                      <a:pt x="26" y="116"/>
                    </a:lnTo>
                    <a:lnTo>
                      <a:pt x="29" y="121"/>
                    </a:lnTo>
                    <a:lnTo>
                      <a:pt x="33" y="124"/>
                    </a:lnTo>
                    <a:lnTo>
                      <a:pt x="36" y="130"/>
                    </a:lnTo>
                    <a:lnTo>
                      <a:pt x="40" y="133"/>
                    </a:lnTo>
                    <a:lnTo>
                      <a:pt x="45" y="138"/>
                    </a:lnTo>
                    <a:lnTo>
                      <a:pt x="49" y="142"/>
                    </a:lnTo>
                    <a:lnTo>
                      <a:pt x="52" y="147"/>
                    </a:lnTo>
                    <a:lnTo>
                      <a:pt x="57" y="151"/>
                    </a:lnTo>
                    <a:lnTo>
                      <a:pt x="63" y="154"/>
                    </a:lnTo>
                    <a:lnTo>
                      <a:pt x="66" y="158"/>
                    </a:lnTo>
                    <a:lnTo>
                      <a:pt x="71" y="161"/>
                    </a:lnTo>
                    <a:lnTo>
                      <a:pt x="78" y="165"/>
                    </a:lnTo>
                    <a:lnTo>
                      <a:pt x="84" y="166"/>
                    </a:lnTo>
                    <a:lnTo>
                      <a:pt x="96" y="161"/>
                    </a:lnTo>
                    <a:lnTo>
                      <a:pt x="164" y="60"/>
                    </a:lnTo>
                    <a:lnTo>
                      <a:pt x="120" y="46"/>
                    </a:lnTo>
                    <a:lnTo>
                      <a:pt x="92" y="2"/>
                    </a:lnTo>
                    <a:close/>
                  </a:path>
                </a:pathLst>
              </a:custGeom>
              <a:solidFill>
                <a:srgbClr val="FFF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125"/>
              <p:cNvSpPr>
                <a:spLocks/>
              </p:cNvSpPr>
              <p:nvPr/>
            </p:nvSpPr>
            <p:spPr bwMode="auto">
              <a:xfrm flipH="1">
                <a:off x="3705" y="1457"/>
                <a:ext cx="163" cy="127"/>
              </a:xfrm>
              <a:custGeom>
                <a:avLst/>
                <a:gdLst>
                  <a:gd name="T0" fmla="*/ 0 w 163"/>
                  <a:gd name="T1" fmla="*/ 5 h 127"/>
                  <a:gd name="T2" fmla="*/ 2 w 163"/>
                  <a:gd name="T3" fmla="*/ 12 h 127"/>
                  <a:gd name="T4" fmla="*/ 4 w 163"/>
                  <a:gd name="T5" fmla="*/ 21 h 127"/>
                  <a:gd name="T6" fmla="*/ 7 w 163"/>
                  <a:gd name="T7" fmla="*/ 28 h 127"/>
                  <a:gd name="T8" fmla="*/ 11 w 163"/>
                  <a:gd name="T9" fmla="*/ 36 h 127"/>
                  <a:gd name="T10" fmla="*/ 16 w 163"/>
                  <a:gd name="T11" fmla="*/ 45 h 127"/>
                  <a:gd name="T12" fmla="*/ 20 w 163"/>
                  <a:gd name="T13" fmla="*/ 56 h 127"/>
                  <a:gd name="T14" fmla="*/ 25 w 163"/>
                  <a:gd name="T15" fmla="*/ 64 h 127"/>
                  <a:gd name="T16" fmla="*/ 32 w 163"/>
                  <a:gd name="T17" fmla="*/ 77 h 127"/>
                  <a:gd name="T18" fmla="*/ 39 w 163"/>
                  <a:gd name="T19" fmla="*/ 85 h 127"/>
                  <a:gd name="T20" fmla="*/ 46 w 163"/>
                  <a:gd name="T21" fmla="*/ 96 h 127"/>
                  <a:gd name="T22" fmla="*/ 55 w 163"/>
                  <a:gd name="T23" fmla="*/ 105 h 127"/>
                  <a:gd name="T24" fmla="*/ 63 w 163"/>
                  <a:gd name="T25" fmla="*/ 113 h 127"/>
                  <a:gd name="T26" fmla="*/ 74 w 163"/>
                  <a:gd name="T27" fmla="*/ 122 h 127"/>
                  <a:gd name="T28" fmla="*/ 81 w 163"/>
                  <a:gd name="T29" fmla="*/ 126 h 127"/>
                  <a:gd name="T30" fmla="*/ 86 w 163"/>
                  <a:gd name="T31" fmla="*/ 120 h 127"/>
                  <a:gd name="T32" fmla="*/ 97 w 163"/>
                  <a:gd name="T33" fmla="*/ 112 h 127"/>
                  <a:gd name="T34" fmla="*/ 105 w 163"/>
                  <a:gd name="T35" fmla="*/ 101 h 127"/>
                  <a:gd name="T36" fmla="*/ 114 w 163"/>
                  <a:gd name="T37" fmla="*/ 94 h 127"/>
                  <a:gd name="T38" fmla="*/ 121 w 163"/>
                  <a:gd name="T39" fmla="*/ 85 h 127"/>
                  <a:gd name="T40" fmla="*/ 128 w 163"/>
                  <a:gd name="T41" fmla="*/ 77 h 127"/>
                  <a:gd name="T42" fmla="*/ 135 w 163"/>
                  <a:gd name="T43" fmla="*/ 68 h 127"/>
                  <a:gd name="T44" fmla="*/ 140 w 163"/>
                  <a:gd name="T45" fmla="*/ 57 h 127"/>
                  <a:gd name="T46" fmla="*/ 147 w 163"/>
                  <a:gd name="T47" fmla="*/ 47 h 127"/>
                  <a:gd name="T48" fmla="*/ 153 w 163"/>
                  <a:gd name="T49" fmla="*/ 36 h 127"/>
                  <a:gd name="T50" fmla="*/ 158 w 163"/>
                  <a:gd name="T51" fmla="*/ 26 h 127"/>
                  <a:gd name="T52" fmla="*/ 161 w 163"/>
                  <a:gd name="T53" fmla="*/ 15 h 127"/>
                  <a:gd name="T54" fmla="*/ 161 w 163"/>
                  <a:gd name="T55" fmla="*/ 8 h 127"/>
                  <a:gd name="T56" fmla="*/ 156 w 163"/>
                  <a:gd name="T57" fmla="*/ 3 h 127"/>
                  <a:gd name="T58" fmla="*/ 149 w 163"/>
                  <a:gd name="T59" fmla="*/ 5 h 127"/>
                  <a:gd name="T60" fmla="*/ 146 w 163"/>
                  <a:gd name="T61" fmla="*/ 10 h 127"/>
                  <a:gd name="T62" fmla="*/ 144 w 163"/>
                  <a:gd name="T63" fmla="*/ 15 h 127"/>
                  <a:gd name="T64" fmla="*/ 139 w 163"/>
                  <a:gd name="T65" fmla="*/ 22 h 127"/>
                  <a:gd name="T66" fmla="*/ 135 w 163"/>
                  <a:gd name="T67" fmla="*/ 31 h 127"/>
                  <a:gd name="T68" fmla="*/ 132 w 163"/>
                  <a:gd name="T69" fmla="*/ 40 h 127"/>
                  <a:gd name="T70" fmla="*/ 126 w 163"/>
                  <a:gd name="T71" fmla="*/ 49 h 127"/>
                  <a:gd name="T72" fmla="*/ 121 w 163"/>
                  <a:gd name="T73" fmla="*/ 59 h 127"/>
                  <a:gd name="T74" fmla="*/ 116 w 163"/>
                  <a:gd name="T75" fmla="*/ 68 h 127"/>
                  <a:gd name="T76" fmla="*/ 109 w 163"/>
                  <a:gd name="T77" fmla="*/ 77 h 127"/>
                  <a:gd name="T78" fmla="*/ 104 w 163"/>
                  <a:gd name="T79" fmla="*/ 85 h 127"/>
                  <a:gd name="T80" fmla="*/ 98 w 163"/>
                  <a:gd name="T81" fmla="*/ 92 h 127"/>
                  <a:gd name="T82" fmla="*/ 93 w 163"/>
                  <a:gd name="T83" fmla="*/ 101 h 127"/>
                  <a:gd name="T84" fmla="*/ 84 w 163"/>
                  <a:gd name="T85" fmla="*/ 110 h 127"/>
                  <a:gd name="T86" fmla="*/ 79 w 163"/>
                  <a:gd name="T87" fmla="*/ 113 h 127"/>
                  <a:gd name="T88" fmla="*/ 76 w 163"/>
                  <a:gd name="T89" fmla="*/ 110 h 127"/>
                  <a:gd name="T90" fmla="*/ 69 w 163"/>
                  <a:gd name="T91" fmla="*/ 101 h 127"/>
                  <a:gd name="T92" fmla="*/ 62 w 163"/>
                  <a:gd name="T93" fmla="*/ 91 h 127"/>
                  <a:gd name="T94" fmla="*/ 53 w 163"/>
                  <a:gd name="T95" fmla="*/ 80 h 127"/>
                  <a:gd name="T96" fmla="*/ 48 w 163"/>
                  <a:gd name="T97" fmla="*/ 71 h 127"/>
                  <a:gd name="T98" fmla="*/ 44 w 163"/>
                  <a:gd name="T99" fmla="*/ 63 h 127"/>
                  <a:gd name="T100" fmla="*/ 39 w 163"/>
                  <a:gd name="T101" fmla="*/ 54 h 127"/>
                  <a:gd name="T102" fmla="*/ 34 w 163"/>
                  <a:gd name="T103" fmla="*/ 43 h 127"/>
                  <a:gd name="T104" fmla="*/ 30 w 163"/>
                  <a:gd name="T105" fmla="*/ 33 h 127"/>
                  <a:gd name="T106" fmla="*/ 25 w 163"/>
                  <a:gd name="T107" fmla="*/ 22 h 127"/>
                  <a:gd name="T108" fmla="*/ 21 w 163"/>
                  <a:gd name="T109" fmla="*/ 10 h 127"/>
                  <a:gd name="T110" fmla="*/ 20 w 163"/>
                  <a:gd name="T111" fmla="*/ 3 h 127"/>
                  <a:gd name="T112" fmla="*/ 13 w 163"/>
                  <a:gd name="T113" fmla="*/ 1 h 127"/>
                  <a:gd name="T114" fmla="*/ 4 w 163"/>
                  <a:gd name="T115" fmla="*/ 0 h 127"/>
                  <a:gd name="T116" fmla="*/ 0 w 163"/>
                  <a:gd name="T117" fmla="*/ 1 h 127"/>
                  <a:gd name="T118" fmla="*/ 0 w 163"/>
                  <a:gd name="T119" fmla="*/ 5 h 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63"/>
                  <a:gd name="T181" fmla="*/ 0 h 127"/>
                  <a:gd name="T182" fmla="*/ 163 w 163"/>
                  <a:gd name="T183" fmla="*/ 127 h 12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63" h="127">
                    <a:moveTo>
                      <a:pt x="0" y="5"/>
                    </a:moveTo>
                    <a:lnTo>
                      <a:pt x="0" y="5"/>
                    </a:lnTo>
                    <a:lnTo>
                      <a:pt x="0" y="7"/>
                    </a:lnTo>
                    <a:lnTo>
                      <a:pt x="2" y="12"/>
                    </a:lnTo>
                    <a:lnTo>
                      <a:pt x="4" y="17"/>
                    </a:lnTo>
                    <a:lnTo>
                      <a:pt x="4" y="21"/>
                    </a:lnTo>
                    <a:lnTo>
                      <a:pt x="6" y="24"/>
                    </a:lnTo>
                    <a:lnTo>
                      <a:pt x="7" y="28"/>
                    </a:lnTo>
                    <a:lnTo>
                      <a:pt x="9" y="33"/>
                    </a:lnTo>
                    <a:lnTo>
                      <a:pt x="11" y="36"/>
                    </a:lnTo>
                    <a:lnTo>
                      <a:pt x="13" y="42"/>
                    </a:lnTo>
                    <a:lnTo>
                      <a:pt x="16" y="45"/>
                    </a:lnTo>
                    <a:lnTo>
                      <a:pt x="18" y="52"/>
                    </a:lnTo>
                    <a:lnTo>
                      <a:pt x="20" y="56"/>
                    </a:lnTo>
                    <a:lnTo>
                      <a:pt x="23" y="61"/>
                    </a:lnTo>
                    <a:lnTo>
                      <a:pt x="25" y="64"/>
                    </a:lnTo>
                    <a:lnTo>
                      <a:pt x="28" y="71"/>
                    </a:lnTo>
                    <a:lnTo>
                      <a:pt x="32" y="77"/>
                    </a:lnTo>
                    <a:lnTo>
                      <a:pt x="35" y="82"/>
                    </a:lnTo>
                    <a:lnTo>
                      <a:pt x="39" y="85"/>
                    </a:lnTo>
                    <a:lnTo>
                      <a:pt x="42" y="92"/>
                    </a:lnTo>
                    <a:lnTo>
                      <a:pt x="46" y="96"/>
                    </a:lnTo>
                    <a:lnTo>
                      <a:pt x="51" y="101"/>
                    </a:lnTo>
                    <a:lnTo>
                      <a:pt x="55" y="105"/>
                    </a:lnTo>
                    <a:lnTo>
                      <a:pt x="60" y="110"/>
                    </a:lnTo>
                    <a:lnTo>
                      <a:pt x="63" y="113"/>
                    </a:lnTo>
                    <a:lnTo>
                      <a:pt x="69" y="119"/>
                    </a:lnTo>
                    <a:lnTo>
                      <a:pt x="74" y="122"/>
                    </a:lnTo>
                    <a:lnTo>
                      <a:pt x="81" y="127"/>
                    </a:lnTo>
                    <a:lnTo>
                      <a:pt x="81" y="126"/>
                    </a:lnTo>
                    <a:lnTo>
                      <a:pt x="83" y="124"/>
                    </a:lnTo>
                    <a:lnTo>
                      <a:pt x="86" y="120"/>
                    </a:lnTo>
                    <a:lnTo>
                      <a:pt x="91" y="117"/>
                    </a:lnTo>
                    <a:lnTo>
                      <a:pt x="97" y="112"/>
                    </a:lnTo>
                    <a:lnTo>
                      <a:pt x="104" y="105"/>
                    </a:lnTo>
                    <a:lnTo>
                      <a:pt x="105" y="101"/>
                    </a:lnTo>
                    <a:lnTo>
                      <a:pt x="111" y="98"/>
                    </a:lnTo>
                    <a:lnTo>
                      <a:pt x="114" y="94"/>
                    </a:lnTo>
                    <a:lnTo>
                      <a:pt x="118" y="91"/>
                    </a:lnTo>
                    <a:lnTo>
                      <a:pt x="121" y="85"/>
                    </a:lnTo>
                    <a:lnTo>
                      <a:pt x="125" y="82"/>
                    </a:lnTo>
                    <a:lnTo>
                      <a:pt x="128" y="77"/>
                    </a:lnTo>
                    <a:lnTo>
                      <a:pt x="132" y="73"/>
                    </a:lnTo>
                    <a:lnTo>
                      <a:pt x="135" y="68"/>
                    </a:lnTo>
                    <a:lnTo>
                      <a:pt x="139" y="63"/>
                    </a:lnTo>
                    <a:lnTo>
                      <a:pt x="140" y="57"/>
                    </a:lnTo>
                    <a:lnTo>
                      <a:pt x="146" y="54"/>
                    </a:lnTo>
                    <a:lnTo>
                      <a:pt x="147" y="47"/>
                    </a:lnTo>
                    <a:lnTo>
                      <a:pt x="149" y="42"/>
                    </a:lnTo>
                    <a:lnTo>
                      <a:pt x="153" y="36"/>
                    </a:lnTo>
                    <a:lnTo>
                      <a:pt x="156" y="33"/>
                    </a:lnTo>
                    <a:lnTo>
                      <a:pt x="158" y="26"/>
                    </a:lnTo>
                    <a:lnTo>
                      <a:pt x="160" y="21"/>
                    </a:lnTo>
                    <a:lnTo>
                      <a:pt x="161" y="15"/>
                    </a:lnTo>
                    <a:lnTo>
                      <a:pt x="163" y="12"/>
                    </a:lnTo>
                    <a:lnTo>
                      <a:pt x="161" y="8"/>
                    </a:lnTo>
                    <a:lnTo>
                      <a:pt x="160" y="7"/>
                    </a:lnTo>
                    <a:lnTo>
                      <a:pt x="156" y="3"/>
                    </a:lnTo>
                    <a:lnTo>
                      <a:pt x="153" y="5"/>
                    </a:lnTo>
                    <a:lnTo>
                      <a:pt x="149" y="5"/>
                    </a:lnTo>
                    <a:lnTo>
                      <a:pt x="147" y="8"/>
                    </a:lnTo>
                    <a:lnTo>
                      <a:pt x="146" y="10"/>
                    </a:lnTo>
                    <a:lnTo>
                      <a:pt x="146" y="14"/>
                    </a:lnTo>
                    <a:lnTo>
                      <a:pt x="144" y="15"/>
                    </a:lnTo>
                    <a:lnTo>
                      <a:pt x="142" y="21"/>
                    </a:lnTo>
                    <a:lnTo>
                      <a:pt x="139" y="22"/>
                    </a:lnTo>
                    <a:lnTo>
                      <a:pt x="137" y="28"/>
                    </a:lnTo>
                    <a:lnTo>
                      <a:pt x="135" y="31"/>
                    </a:lnTo>
                    <a:lnTo>
                      <a:pt x="133" y="35"/>
                    </a:lnTo>
                    <a:lnTo>
                      <a:pt x="132" y="40"/>
                    </a:lnTo>
                    <a:lnTo>
                      <a:pt x="128" y="43"/>
                    </a:lnTo>
                    <a:lnTo>
                      <a:pt x="126" y="49"/>
                    </a:lnTo>
                    <a:lnTo>
                      <a:pt x="125" y="54"/>
                    </a:lnTo>
                    <a:lnTo>
                      <a:pt x="121" y="59"/>
                    </a:lnTo>
                    <a:lnTo>
                      <a:pt x="118" y="63"/>
                    </a:lnTo>
                    <a:lnTo>
                      <a:pt x="116" y="68"/>
                    </a:lnTo>
                    <a:lnTo>
                      <a:pt x="112" y="71"/>
                    </a:lnTo>
                    <a:lnTo>
                      <a:pt x="109" y="77"/>
                    </a:lnTo>
                    <a:lnTo>
                      <a:pt x="107" y="82"/>
                    </a:lnTo>
                    <a:lnTo>
                      <a:pt x="104" y="85"/>
                    </a:lnTo>
                    <a:lnTo>
                      <a:pt x="102" y="91"/>
                    </a:lnTo>
                    <a:lnTo>
                      <a:pt x="98" y="92"/>
                    </a:lnTo>
                    <a:lnTo>
                      <a:pt x="97" y="98"/>
                    </a:lnTo>
                    <a:lnTo>
                      <a:pt x="93" y="101"/>
                    </a:lnTo>
                    <a:lnTo>
                      <a:pt x="90" y="105"/>
                    </a:lnTo>
                    <a:lnTo>
                      <a:pt x="84" y="110"/>
                    </a:lnTo>
                    <a:lnTo>
                      <a:pt x="81" y="113"/>
                    </a:lnTo>
                    <a:lnTo>
                      <a:pt x="79" y="113"/>
                    </a:lnTo>
                    <a:lnTo>
                      <a:pt x="77" y="112"/>
                    </a:lnTo>
                    <a:lnTo>
                      <a:pt x="76" y="110"/>
                    </a:lnTo>
                    <a:lnTo>
                      <a:pt x="74" y="106"/>
                    </a:lnTo>
                    <a:lnTo>
                      <a:pt x="69" y="101"/>
                    </a:lnTo>
                    <a:lnTo>
                      <a:pt x="65" y="96"/>
                    </a:lnTo>
                    <a:lnTo>
                      <a:pt x="62" y="91"/>
                    </a:lnTo>
                    <a:lnTo>
                      <a:pt x="56" y="84"/>
                    </a:lnTo>
                    <a:lnTo>
                      <a:pt x="53" y="80"/>
                    </a:lnTo>
                    <a:lnTo>
                      <a:pt x="51" y="77"/>
                    </a:lnTo>
                    <a:lnTo>
                      <a:pt x="48" y="71"/>
                    </a:lnTo>
                    <a:lnTo>
                      <a:pt x="46" y="68"/>
                    </a:lnTo>
                    <a:lnTo>
                      <a:pt x="44" y="63"/>
                    </a:lnTo>
                    <a:lnTo>
                      <a:pt x="41" y="59"/>
                    </a:lnTo>
                    <a:lnTo>
                      <a:pt x="39" y="54"/>
                    </a:lnTo>
                    <a:lnTo>
                      <a:pt x="37" y="50"/>
                    </a:lnTo>
                    <a:lnTo>
                      <a:pt x="34" y="43"/>
                    </a:lnTo>
                    <a:lnTo>
                      <a:pt x="32" y="40"/>
                    </a:lnTo>
                    <a:lnTo>
                      <a:pt x="30" y="33"/>
                    </a:lnTo>
                    <a:lnTo>
                      <a:pt x="27" y="28"/>
                    </a:lnTo>
                    <a:lnTo>
                      <a:pt x="25" y="22"/>
                    </a:lnTo>
                    <a:lnTo>
                      <a:pt x="23" y="15"/>
                    </a:lnTo>
                    <a:lnTo>
                      <a:pt x="21" y="10"/>
                    </a:lnTo>
                    <a:lnTo>
                      <a:pt x="20" y="5"/>
                    </a:lnTo>
                    <a:lnTo>
                      <a:pt x="20" y="3"/>
                    </a:lnTo>
                    <a:lnTo>
                      <a:pt x="16" y="3"/>
                    </a:lnTo>
                    <a:lnTo>
                      <a:pt x="13" y="1"/>
                    </a:lnTo>
                    <a:lnTo>
                      <a:pt x="9" y="0"/>
                    </a:lnTo>
                    <a:lnTo>
                      <a:pt x="4" y="0"/>
                    </a:lnTo>
                    <a:lnTo>
                      <a:pt x="2" y="0"/>
                    </a:lnTo>
                    <a:lnTo>
                      <a:pt x="0" y="1"/>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4" name="Freeform 126"/>
              <p:cNvSpPr>
                <a:spLocks/>
              </p:cNvSpPr>
              <p:nvPr/>
            </p:nvSpPr>
            <p:spPr bwMode="auto">
              <a:xfrm flipH="1">
                <a:off x="3708" y="1406"/>
                <a:ext cx="161" cy="66"/>
              </a:xfrm>
              <a:custGeom>
                <a:avLst/>
                <a:gdLst>
                  <a:gd name="T0" fmla="*/ 17 w 161"/>
                  <a:gd name="T1" fmla="*/ 59 h 66"/>
                  <a:gd name="T2" fmla="*/ 26 w 161"/>
                  <a:gd name="T3" fmla="*/ 63 h 66"/>
                  <a:gd name="T4" fmla="*/ 31 w 161"/>
                  <a:gd name="T5" fmla="*/ 65 h 66"/>
                  <a:gd name="T6" fmla="*/ 38 w 161"/>
                  <a:gd name="T7" fmla="*/ 65 h 66"/>
                  <a:gd name="T8" fmla="*/ 47 w 161"/>
                  <a:gd name="T9" fmla="*/ 63 h 66"/>
                  <a:gd name="T10" fmla="*/ 57 w 161"/>
                  <a:gd name="T11" fmla="*/ 59 h 66"/>
                  <a:gd name="T12" fmla="*/ 66 w 161"/>
                  <a:gd name="T13" fmla="*/ 54 h 66"/>
                  <a:gd name="T14" fmla="*/ 73 w 161"/>
                  <a:gd name="T15" fmla="*/ 47 h 66"/>
                  <a:gd name="T16" fmla="*/ 84 w 161"/>
                  <a:gd name="T17" fmla="*/ 37 h 66"/>
                  <a:gd name="T18" fmla="*/ 89 w 161"/>
                  <a:gd name="T19" fmla="*/ 28 h 66"/>
                  <a:gd name="T20" fmla="*/ 91 w 161"/>
                  <a:gd name="T21" fmla="*/ 24 h 66"/>
                  <a:gd name="T22" fmla="*/ 92 w 161"/>
                  <a:gd name="T23" fmla="*/ 31 h 66"/>
                  <a:gd name="T24" fmla="*/ 96 w 161"/>
                  <a:gd name="T25" fmla="*/ 37 h 66"/>
                  <a:gd name="T26" fmla="*/ 103 w 161"/>
                  <a:gd name="T27" fmla="*/ 45 h 66"/>
                  <a:gd name="T28" fmla="*/ 110 w 161"/>
                  <a:gd name="T29" fmla="*/ 54 h 66"/>
                  <a:gd name="T30" fmla="*/ 120 w 161"/>
                  <a:gd name="T31" fmla="*/ 61 h 66"/>
                  <a:gd name="T32" fmla="*/ 133 w 161"/>
                  <a:gd name="T33" fmla="*/ 65 h 66"/>
                  <a:gd name="T34" fmla="*/ 140 w 161"/>
                  <a:gd name="T35" fmla="*/ 66 h 66"/>
                  <a:gd name="T36" fmla="*/ 148 w 161"/>
                  <a:gd name="T37" fmla="*/ 66 h 66"/>
                  <a:gd name="T38" fmla="*/ 161 w 161"/>
                  <a:gd name="T39" fmla="*/ 58 h 66"/>
                  <a:gd name="T40" fmla="*/ 155 w 161"/>
                  <a:gd name="T41" fmla="*/ 56 h 66"/>
                  <a:gd name="T42" fmla="*/ 147 w 161"/>
                  <a:gd name="T43" fmla="*/ 54 h 66"/>
                  <a:gd name="T44" fmla="*/ 136 w 161"/>
                  <a:gd name="T45" fmla="*/ 51 h 66"/>
                  <a:gd name="T46" fmla="*/ 124 w 161"/>
                  <a:gd name="T47" fmla="*/ 44 h 66"/>
                  <a:gd name="T48" fmla="*/ 112 w 161"/>
                  <a:gd name="T49" fmla="*/ 37 h 66"/>
                  <a:gd name="T50" fmla="*/ 105 w 161"/>
                  <a:gd name="T51" fmla="*/ 28 h 66"/>
                  <a:gd name="T52" fmla="*/ 99 w 161"/>
                  <a:gd name="T53" fmla="*/ 23 h 66"/>
                  <a:gd name="T54" fmla="*/ 96 w 161"/>
                  <a:gd name="T55" fmla="*/ 16 h 66"/>
                  <a:gd name="T56" fmla="*/ 94 w 161"/>
                  <a:gd name="T57" fmla="*/ 7 h 66"/>
                  <a:gd name="T58" fmla="*/ 92 w 161"/>
                  <a:gd name="T59" fmla="*/ 2 h 66"/>
                  <a:gd name="T60" fmla="*/ 89 w 161"/>
                  <a:gd name="T61" fmla="*/ 0 h 66"/>
                  <a:gd name="T62" fmla="*/ 82 w 161"/>
                  <a:gd name="T63" fmla="*/ 7 h 66"/>
                  <a:gd name="T64" fmla="*/ 77 w 161"/>
                  <a:gd name="T65" fmla="*/ 16 h 66"/>
                  <a:gd name="T66" fmla="*/ 71 w 161"/>
                  <a:gd name="T67" fmla="*/ 23 h 66"/>
                  <a:gd name="T68" fmla="*/ 64 w 161"/>
                  <a:gd name="T69" fmla="*/ 31 h 66"/>
                  <a:gd name="T70" fmla="*/ 56 w 161"/>
                  <a:gd name="T71" fmla="*/ 44 h 66"/>
                  <a:gd name="T72" fmla="*/ 49 w 161"/>
                  <a:gd name="T73" fmla="*/ 47 h 66"/>
                  <a:gd name="T74" fmla="*/ 42 w 161"/>
                  <a:gd name="T75" fmla="*/ 49 h 66"/>
                  <a:gd name="T76" fmla="*/ 33 w 161"/>
                  <a:gd name="T77" fmla="*/ 49 h 66"/>
                  <a:gd name="T78" fmla="*/ 24 w 161"/>
                  <a:gd name="T79" fmla="*/ 49 h 66"/>
                  <a:gd name="T80" fmla="*/ 15 w 161"/>
                  <a:gd name="T81" fmla="*/ 49 h 66"/>
                  <a:gd name="T82" fmla="*/ 8 w 161"/>
                  <a:gd name="T83" fmla="*/ 47 h 66"/>
                  <a:gd name="T84" fmla="*/ 1 w 161"/>
                  <a:gd name="T85" fmla="*/ 47 h 66"/>
                  <a:gd name="T86" fmla="*/ 15 w 161"/>
                  <a:gd name="T87" fmla="*/ 56 h 6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1"/>
                  <a:gd name="T133" fmla="*/ 0 h 66"/>
                  <a:gd name="T134" fmla="*/ 161 w 161"/>
                  <a:gd name="T135" fmla="*/ 66 h 6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1" h="66">
                    <a:moveTo>
                      <a:pt x="15" y="56"/>
                    </a:moveTo>
                    <a:lnTo>
                      <a:pt x="17" y="59"/>
                    </a:lnTo>
                    <a:lnTo>
                      <a:pt x="21" y="61"/>
                    </a:lnTo>
                    <a:lnTo>
                      <a:pt x="26" y="63"/>
                    </a:lnTo>
                    <a:lnTo>
                      <a:pt x="28" y="65"/>
                    </a:lnTo>
                    <a:lnTo>
                      <a:pt x="31" y="65"/>
                    </a:lnTo>
                    <a:lnTo>
                      <a:pt x="35" y="65"/>
                    </a:lnTo>
                    <a:lnTo>
                      <a:pt x="38" y="65"/>
                    </a:lnTo>
                    <a:lnTo>
                      <a:pt x="42" y="65"/>
                    </a:lnTo>
                    <a:lnTo>
                      <a:pt x="47" y="63"/>
                    </a:lnTo>
                    <a:lnTo>
                      <a:pt x="52" y="61"/>
                    </a:lnTo>
                    <a:lnTo>
                      <a:pt x="57" y="59"/>
                    </a:lnTo>
                    <a:lnTo>
                      <a:pt x="61" y="56"/>
                    </a:lnTo>
                    <a:lnTo>
                      <a:pt x="66" y="54"/>
                    </a:lnTo>
                    <a:lnTo>
                      <a:pt x="70" y="51"/>
                    </a:lnTo>
                    <a:lnTo>
                      <a:pt x="73" y="47"/>
                    </a:lnTo>
                    <a:lnTo>
                      <a:pt x="78" y="42"/>
                    </a:lnTo>
                    <a:lnTo>
                      <a:pt x="84" y="37"/>
                    </a:lnTo>
                    <a:lnTo>
                      <a:pt x="85" y="30"/>
                    </a:lnTo>
                    <a:lnTo>
                      <a:pt x="89" y="28"/>
                    </a:lnTo>
                    <a:lnTo>
                      <a:pt x="89" y="24"/>
                    </a:lnTo>
                    <a:lnTo>
                      <a:pt x="91" y="24"/>
                    </a:lnTo>
                    <a:lnTo>
                      <a:pt x="92" y="31"/>
                    </a:lnTo>
                    <a:lnTo>
                      <a:pt x="94" y="33"/>
                    </a:lnTo>
                    <a:lnTo>
                      <a:pt x="96" y="37"/>
                    </a:lnTo>
                    <a:lnTo>
                      <a:pt x="99" y="42"/>
                    </a:lnTo>
                    <a:lnTo>
                      <a:pt x="103" y="45"/>
                    </a:lnTo>
                    <a:lnTo>
                      <a:pt x="106" y="51"/>
                    </a:lnTo>
                    <a:lnTo>
                      <a:pt x="110" y="54"/>
                    </a:lnTo>
                    <a:lnTo>
                      <a:pt x="115" y="58"/>
                    </a:lnTo>
                    <a:lnTo>
                      <a:pt x="120" y="61"/>
                    </a:lnTo>
                    <a:lnTo>
                      <a:pt x="126" y="63"/>
                    </a:lnTo>
                    <a:lnTo>
                      <a:pt x="133" y="65"/>
                    </a:lnTo>
                    <a:lnTo>
                      <a:pt x="136" y="65"/>
                    </a:lnTo>
                    <a:lnTo>
                      <a:pt x="140" y="66"/>
                    </a:lnTo>
                    <a:lnTo>
                      <a:pt x="143" y="66"/>
                    </a:lnTo>
                    <a:lnTo>
                      <a:pt x="148" y="66"/>
                    </a:lnTo>
                    <a:lnTo>
                      <a:pt x="161" y="58"/>
                    </a:lnTo>
                    <a:lnTo>
                      <a:pt x="157" y="58"/>
                    </a:lnTo>
                    <a:lnTo>
                      <a:pt x="155" y="56"/>
                    </a:lnTo>
                    <a:lnTo>
                      <a:pt x="152" y="56"/>
                    </a:lnTo>
                    <a:lnTo>
                      <a:pt x="147" y="54"/>
                    </a:lnTo>
                    <a:lnTo>
                      <a:pt x="141" y="52"/>
                    </a:lnTo>
                    <a:lnTo>
                      <a:pt x="136" y="51"/>
                    </a:lnTo>
                    <a:lnTo>
                      <a:pt x="131" y="49"/>
                    </a:lnTo>
                    <a:lnTo>
                      <a:pt x="124" y="44"/>
                    </a:lnTo>
                    <a:lnTo>
                      <a:pt x="119" y="42"/>
                    </a:lnTo>
                    <a:lnTo>
                      <a:pt x="112" y="37"/>
                    </a:lnTo>
                    <a:lnTo>
                      <a:pt x="106" y="31"/>
                    </a:lnTo>
                    <a:lnTo>
                      <a:pt x="105" y="28"/>
                    </a:lnTo>
                    <a:lnTo>
                      <a:pt x="101" y="24"/>
                    </a:lnTo>
                    <a:lnTo>
                      <a:pt x="99" y="23"/>
                    </a:lnTo>
                    <a:lnTo>
                      <a:pt x="98" y="19"/>
                    </a:lnTo>
                    <a:lnTo>
                      <a:pt x="96" y="16"/>
                    </a:lnTo>
                    <a:lnTo>
                      <a:pt x="94" y="10"/>
                    </a:lnTo>
                    <a:lnTo>
                      <a:pt x="94" y="7"/>
                    </a:lnTo>
                    <a:lnTo>
                      <a:pt x="92" y="3"/>
                    </a:lnTo>
                    <a:lnTo>
                      <a:pt x="92" y="2"/>
                    </a:lnTo>
                    <a:lnTo>
                      <a:pt x="91" y="0"/>
                    </a:lnTo>
                    <a:lnTo>
                      <a:pt x="89" y="0"/>
                    </a:lnTo>
                    <a:lnTo>
                      <a:pt x="85" y="3"/>
                    </a:lnTo>
                    <a:lnTo>
                      <a:pt x="82" y="7"/>
                    </a:lnTo>
                    <a:lnTo>
                      <a:pt x="78" y="12"/>
                    </a:lnTo>
                    <a:lnTo>
                      <a:pt x="77" y="16"/>
                    </a:lnTo>
                    <a:lnTo>
                      <a:pt x="75" y="17"/>
                    </a:lnTo>
                    <a:lnTo>
                      <a:pt x="71" y="23"/>
                    </a:lnTo>
                    <a:lnTo>
                      <a:pt x="70" y="26"/>
                    </a:lnTo>
                    <a:lnTo>
                      <a:pt x="64" y="31"/>
                    </a:lnTo>
                    <a:lnTo>
                      <a:pt x="61" y="38"/>
                    </a:lnTo>
                    <a:lnTo>
                      <a:pt x="56" y="44"/>
                    </a:lnTo>
                    <a:lnTo>
                      <a:pt x="52" y="47"/>
                    </a:lnTo>
                    <a:lnTo>
                      <a:pt x="49" y="47"/>
                    </a:lnTo>
                    <a:lnTo>
                      <a:pt x="45" y="49"/>
                    </a:lnTo>
                    <a:lnTo>
                      <a:pt x="42" y="49"/>
                    </a:lnTo>
                    <a:lnTo>
                      <a:pt x="38" y="49"/>
                    </a:lnTo>
                    <a:lnTo>
                      <a:pt x="33" y="49"/>
                    </a:lnTo>
                    <a:lnTo>
                      <a:pt x="28" y="49"/>
                    </a:lnTo>
                    <a:lnTo>
                      <a:pt x="24" y="49"/>
                    </a:lnTo>
                    <a:lnTo>
                      <a:pt x="21" y="49"/>
                    </a:lnTo>
                    <a:lnTo>
                      <a:pt x="15" y="49"/>
                    </a:lnTo>
                    <a:lnTo>
                      <a:pt x="12" y="49"/>
                    </a:lnTo>
                    <a:lnTo>
                      <a:pt x="8" y="47"/>
                    </a:lnTo>
                    <a:lnTo>
                      <a:pt x="5" y="47"/>
                    </a:lnTo>
                    <a:lnTo>
                      <a:pt x="1" y="47"/>
                    </a:lnTo>
                    <a:lnTo>
                      <a:pt x="0" y="47"/>
                    </a:lnTo>
                    <a:lnTo>
                      <a:pt x="15"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5" name="Freeform 127"/>
              <p:cNvSpPr>
                <a:spLocks/>
              </p:cNvSpPr>
              <p:nvPr/>
            </p:nvSpPr>
            <p:spPr bwMode="auto">
              <a:xfrm flipH="1">
                <a:off x="3750" y="1357"/>
                <a:ext cx="564" cy="283"/>
              </a:xfrm>
              <a:custGeom>
                <a:avLst/>
                <a:gdLst>
                  <a:gd name="T0" fmla="*/ 555 w 564"/>
                  <a:gd name="T1" fmla="*/ 24 h 283"/>
                  <a:gd name="T2" fmla="*/ 539 w 564"/>
                  <a:gd name="T3" fmla="*/ 33 h 283"/>
                  <a:gd name="T4" fmla="*/ 520 w 564"/>
                  <a:gd name="T5" fmla="*/ 42 h 283"/>
                  <a:gd name="T6" fmla="*/ 494 w 564"/>
                  <a:gd name="T7" fmla="*/ 54 h 283"/>
                  <a:gd name="T8" fmla="*/ 466 w 564"/>
                  <a:gd name="T9" fmla="*/ 66 h 283"/>
                  <a:gd name="T10" fmla="*/ 432 w 564"/>
                  <a:gd name="T11" fmla="*/ 79 h 283"/>
                  <a:gd name="T12" fmla="*/ 397 w 564"/>
                  <a:gd name="T13" fmla="*/ 93 h 283"/>
                  <a:gd name="T14" fmla="*/ 357 w 564"/>
                  <a:gd name="T15" fmla="*/ 107 h 283"/>
                  <a:gd name="T16" fmla="*/ 315 w 564"/>
                  <a:gd name="T17" fmla="*/ 119 h 283"/>
                  <a:gd name="T18" fmla="*/ 271 w 564"/>
                  <a:gd name="T19" fmla="*/ 129 h 283"/>
                  <a:gd name="T20" fmla="*/ 226 w 564"/>
                  <a:gd name="T21" fmla="*/ 140 h 283"/>
                  <a:gd name="T22" fmla="*/ 179 w 564"/>
                  <a:gd name="T23" fmla="*/ 147 h 283"/>
                  <a:gd name="T24" fmla="*/ 133 w 564"/>
                  <a:gd name="T25" fmla="*/ 152 h 283"/>
                  <a:gd name="T26" fmla="*/ 84 w 564"/>
                  <a:gd name="T27" fmla="*/ 154 h 283"/>
                  <a:gd name="T28" fmla="*/ 39 w 564"/>
                  <a:gd name="T29" fmla="*/ 154 h 283"/>
                  <a:gd name="T30" fmla="*/ 25 w 564"/>
                  <a:gd name="T31" fmla="*/ 159 h 283"/>
                  <a:gd name="T32" fmla="*/ 19 w 564"/>
                  <a:gd name="T33" fmla="*/ 178 h 283"/>
                  <a:gd name="T34" fmla="*/ 18 w 564"/>
                  <a:gd name="T35" fmla="*/ 196 h 283"/>
                  <a:gd name="T36" fmla="*/ 16 w 564"/>
                  <a:gd name="T37" fmla="*/ 220 h 283"/>
                  <a:gd name="T38" fmla="*/ 23 w 564"/>
                  <a:gd name="T39" fmla="*/ 227 h 283"/>
                  <a:gd name="T40" fmla="*/ 44 w 564"/>
                  <a:gd name="T41" fmla="*/ 226 h 283"/>
                  <a:gd name="T42" fmla="*/ 61 w 564"/>
                  <a:gd name="T43" fmla="*/ 224 h 283"/>
                  <a:gd name="T44" fmla="*/ 75 w 564"/>
                  <a:gd name="T45" fmla="*/ 222 h 283"/>
                  <a:gd name="T46" fmla="*/ 96 w 564"/>
                  <a:gd name="T47" fmla="*/ 220 h 283"/>
                  <a:gd name="T48" fmla="*/ 117 w 564"/>
                  <a:gd name="T49" fmla="*/ 226 h 283"/>
                  <a:gd name="T50" fmla="*/ 140 w 564"/>
                  <a:gd name="T51" fmla="*/ 248 h 283"/>
                  <a:gd name="T52" fmla="*/ 121 w 564"/>
                  <a:gd name="T53" fmla="*/ 283 h 283"/>
                  <a:gd name="T54" fmla="*/ 123 w 564"/>
                  <a:gd name="T55" fmla="*/ 269 h 283"/>
                  <a:gd name="T56" fmla="*/ 119 w 564"/>
                  <a:gd name="T57" fmla="*/ 254 h 283"/>
                  <a:gd name="T58" fmla="*/ 110 w 564"/>
                  <a:gd name="T59" fmla="*/ 241 h 283"/>
                  <a:gd name="T60" fmla="*/ 89 w 564"/>
                  <a:gd name="T61" fmla="*/ 238 h 283"/>
                  <a:gd name="T62" fmla="*/ 68 w 564"/>
                  <a:gd name="T63" fmla="*/ 241 h 283"/>
                  <a:gd name="T64" fmla="*/ 54 w 564"/>
                  <a:gd name="T65" fmla="*/ 243 h 283"/>
                  <a:gd name="T66" fmla="*/ 40 w 564"/>
                  <a:gd name="T67" fmla="*/ 245 h 283"/>
                  <a:gd name="T68" fmla="*/ 21 w 564"/>
                  <a:gd name="T69" fmla="*/ 247 h 283"/>
                  <a:gd name="T70" fmla="*/ 5 w 564"/>
                  <a:gd name="T71" fmla="*/ 240 h 283"/>
                  <a:gd name="T72" fmla="*/ 0 w 564"/>
                  <a:gd name="T73" fmla="*/ 224 h 283"/>
                  <a:gd name="T74" fmla="*/ 0 w 564"/>
                  <a:gd name="T75" fmla="*/ 208 h 283"/>
                  <a:gd name="T76" fmla="*/ 2 w 564"/>
                  <a:gd name="T77" fmla="*/ 191 h 283"/>
                  <a:gd name="T78" fmla="*/ 4 w 564"/>
                  <a:gd name="T79" fmla="*/ 175 h 283"/>
                  <a:gd name="T80" fmla="*/ 7 w 564"/>
                  <a:gd name="T81" fmla="*/ 159 h 283"/>
                  <a:gd name="T82" fmla="*/ 12 w 564"/>
                  <a:gd name="T83" fmla="*/ 142 h 283"/>
                  <a:gd name="T84" fmla="*/ 21 w 564"/>
                  <a:gd name="T85" fmla="*/ 136 h 283"/>
                  <a:gd name="T86" fmla="*/ 39 w 564"/>
                  <a:gd name="T87" fmla="*/ 136 h 283"/>
                  <a:gd name="T88" fmla="*/ 56 w 564"/>
                  <a:gd name="T89" fmla="*/ 136 h 283"/>
                  <a:gd name="T90" fmla="*/ 79 w 564"/>
                  <a:gd name="T91" fmla="*/ 135 h 283"/>
                  <a:gd name="T92" fmla="*/ 107 w 564"/>
                  <a:gd name="T93" fmla="*/ 133 h 283"/>
                  <a:gd name="T94" fmla="*/ 138 w 564"/>
                  <a:gd name="T95" fmla="*/ 129 h 283"/>
                  <a:gd name="T96" fmla="*/ 173 w 564"/>
                  <a:gd name="T97" fmla="*/ 128 h 283"/>
                  <a:gd name="T98" fmla="*/ 212 w 564"/>
                  <a:gd name="T99" fmla="*/ 121 h 283"/>
                  <a:gd name="T100" fmla="*/ 252 w 564"/>
                  <a:gd name="T101" fmla="*/ 114 h 283"/>
                  <a:gd name="T102" fmla="*/ 296 w 564"/>
                  <a:gd name="T103" fmla="*/ 105 h 283"/>
                  <a:gd name="T104" fmla="*/ 341 w 564"/>
                  <a:gd name="T105" fmla="*/ 93 h 283"/>
                  <a:gd name="T106" fmla="*/ 389 w 564"/>
                  <a:gd name="T107" fmla="*/ 77 h 283"/>
                  <a:gd name="T108" fmla="*/ 438 w 564"/>
                  <a:gd name="T109" fmla="*/ 59 h 283"/>
                  <a:gd name="T110" fmla="*/ 487 w 564"/>
                  <a:gd name="T111" fmla="*/ 38 h 283"/>
                  <a:gd name="T112" fmla="*/ 537 w 564"/>
                  <a:gd name="T113" fmla="*/ 14 h 283"/>
                  <a:gd name="T114" fmla="*/ 564 w 564"/>
                  <a:gd name="T115" fmla="*/ 23 h 28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64"/>
                  <a:gd name="T175" fmla="*/ 0 h 283"/>
                  <a:gd name="T176" fmla="*/ 564 w 564"/>
                  <a:gd name="T177" fmla="*/ 283 h 28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64" h="283">
                    <a:moveTo>
                      <a:pt x="564" y="23"/>
                    </a:moveTo>
                    <a:lnTo>
                      <a:pt x="562" y="23"/>
                    </a:lnTo>
                    <a:lnTo>
                      <a:pt x="558" y="23"/>
                    </a:lnTo>
                    <a:lnTo>
                      <a:pt x="555" y="24"/>
                    </a:lnTo>
                    <a:lnTo>
                      <a:pt x="550" y="28"/>
                    </a:lnTo>
                    <a:lnTo>
                      <a:pt x="546" y="30"/>
                    </a:lnTo>
                    <a:lnTo>
                      <a:pt x="543" y="31"/>
                    </a:lnTo>
                    <a:lnTo>
                      <a:pt x="539" y="33"/>
                    </a:lnTo>
                    <a:lnTo>
                      <a:pt x="534" y="35"/>
                    </a:lnTo>
                    <a:lnTo>
                      <a:pt x="529" y="37"/>
                    </a:lnTo>
                    <a:lnTo>
                      <a:pt x="523" y="40"/>
                    </a:lnTo>
                    <a:lnTo>
                      <a:pt x="520" y="42"/>
                    </a:lnTo>
                    <a:lnTo>
                      <a:pt x="515" y="45"/>
                    </a:lnTo>
                    <a:lnTo>
                      <a:pt x="508" y="47"/>
                    </a:lnTo>
                    <a:lnTo>
                      <a:pt x="501" y="51"/>
                    </a:lnTo>
                    <a:lnTo>
                      <a:pt x="494" y="54"/>
                    </a:lnTo>
                    <a:lnTo>
                      <a:pt x="488" y="56"/>
                    </a:lnTo>
                    <a:lnTo>
                      <a:pt x="480" y="59"/>
                    </a:lnTo>
                    <a:lnTo>
                      <a:pt x="473" y="63"/>
                    </a:lnTo>
                    <a:lnTo>
                      <a:pt x="466" y="66"/>
                    </a:lnTo>
                    <a:lnTo>
                      <a:pt x="459" y="70"/>
                    </a:lnTo>
                    <a:lnTo>
                      <a:pt x="450" y="73"/>
                    </a:lnTo>
                    <a:lnTo>
                      <a:pt x="441" y="77"/>
                    </a:lnTo>
                    <a:lnTo>
                      <a:pt x="432" y="79"/>
                    </a:lnTo>
                    <a:lnTo>
                      <a:pt x="424" y="84"/>
                    </a:lnTo>
                    <a:lnTo>
                      <a:pt x="415" y="86"/>
                    </a:lnTo>
                    <a:lnTo>
                      <a:pt x="406" y="89"/>
                    </a:lnTo>
                    <a:lnTo>
                      <a:pt x="397" y="93"/>
                    </a:lnTo>
                    <a:lnTo>
                      <a:pt x="389" y="98"/>
                    </a:lnTo>
                    <a:lnTo>
                      <a:pt x="378" y="100"/>
                    </a:lnTo>
                    <a:lnTo>
                      <a:pt x="368" y="103"/>
                    </a:lnTo>
                    <a:lnTo>
                      <a:pt x="357" y="107"/>
                    </a:lnTo>
                    <a:lnTo>
                      <a:pt x="348" y="110"/>
                    </a:lnTo>
                    <a:lnTo>
                      <a:pt x="336" y="112"/>
                    </a:lnTo>
                    <a:lnTo>
                      <a:pt x="327" y="115"/>
                    </a:lnTo>
                    <a:lnTo>
                      <a:pt x="315" y="119"/>
                    </a:lnTo>
                    <a:lnTo>
                      <a:pt x="306" y="122"/>
                    </a:lnTo>
                    <a:lnTo>
                      <a:pt x="294" y="126"/>
                    </a:lnTo>
                    <a:lnTo>
                      <a:pt x="284" y="128"/>
                    </a:lnTo>
                    <a:lnTo>
                      <a:pt x="271" y="129"/>
                    </a:lnTo>
                    <a:lnTo>
                      <a:pt x="261" y="133"/>
                    </a:lnTo>
                    <a:lnTo>
                      <a:pt x="249" y="135"/>
                    </a:lnTo>
                    <a:lnTo>
                      <a:pt x="238" y="138"/>
                    </a:lnTo>
                    <a:lnTo>
                      <a:pt x="226" y="140"/>
                    </a:lnTo>
                    <a:lnTo>
                      <a:pt x="215" y="143"/>
                    </a:lnTo>
                    <a:lnTo>
                      <a:pt x="203" y="143"/>
                    </a:lnTo>
                    <a:lnTo>
                      <a:pt x="191" y="147"/>
                    </a:lnTo>
                    <a:lnTo>
                      <a:pt x="179" y="147"/>
                    </a:lnTo>
                    <a:lnTo>
                      <a:pt x="168" y="149"/>
                    </a:lnTo>
                    <a:lnTo>
                      <a:pt x="156" y="150"/>
                    </a:lnTo>
                    <a:lnTo>
                      <a:pt x="144" y="152"/>
                    </a:lnTo>
                    <a:lnTo>
                      <a:pt x="133" y="152"/>
                    </a:lnTo>
                    <a:lnTo>
                      <a:pt x="121" y="154"/>
                    </a:lnTo>
                    <a:lnTo>
                      <a:pt x="109" y="154"/>
                    </a:lnTo>
                    <a:lnTo>
                      <a:pt x="96" y="154"/>
                    </a:lnTo>
                    <a:lnTo>
                      <a:pt x="84" y="154"/>
                    </a:lnTo>
                    <a:lnTo>
                      <a:pt x="74" y="156"/>
                    </a:lnTo>
                    <a:lnTo>
                      <a:pt x="61" y="154"/>
                    </a:lnTo>
                    <a:lnTo>
                      <a:pt x="49" y="154"/>
                    </a:lnTo>
                    <a:lnTo>
                      <a:pt x="39" y="154"/>
                    </a:lnTo>
                    <a:lnTo>
                      <a:pt x="26" y="152"/>
                    </a:lnTo>
                    <a:lnTo>
                      <a:pt x="26" y="156"/>
                    </a:lnTo>
                    <a:lnTo>
                      <a:pt x="25" y="159"/>
                    </a:lnTo>
                    <a:lnTo>
                      <a:pt x="25" y="163"/>
                    </a:lnTo>
                    <a:lnTo>
                      <a:pt x="21" y="168"/>
                    </a:lnTo>
                    <a:lnTo>
                      <a:pt x="21" y="175"/>
                    </a:lnTo>
                    <a:lnTo>
                      <a:pt x="19" y="178"/>
                    </a:lnTo>
                    <a:lnTo>
                      <a:pt x="19" y="182"/>
                    </a:lnTo>
                    <a:lnTo>
                      <a:pt x="19" y="185"/>
                    </a:lnTo>
                    <a:lnTo>
                      <a:pt x="19" y="189"/>
                    </a:lnTo>
                    <a:lnTo>
                      <a:pt x="18" y="196"/>
                    </a:lnTo>
                    <a:lnTo>
                      <a:pt x="16" y="203"/>
                    </a:lnTo>
                    <a:lnTo>
                      <a:pt x="16" y="208"/>
                    </a:lnTo>
                    <a:lnTo>
                      <a:pt x="16" y="215"/>
                    </a:lnTo>
                    <a:lnTo>
                      <a:pt x="16" y="220"/>
                    </a:lnTo>
                    <a:lnTo>
                      <a:pt x="16" y="224"/>
                    </a:lnTo>
                    <a:lnTo>
                      <a:pt x="18" y="226"/>
                    </a:lnTo>
                    <a:lnTo>
                      <a:pt x="21" y="227"/>
                    </a:lnTo>
                    <a:lnTo>
                      <a:pt x="23" y="227"/>
                    </a:lnTo>
                    <a:lnTo>
                      <a:pt x="26" y="227"/>
                    </a:lnTo>
                    <a:lnTo>
                      <a:pt x="32" y="227"/>
                    </a:lnTo>
                    <a:lnTo>
                      <a:pt x="37" y="227"/>
                    </a:lnTo>
                    <a:lnTo>
                      <a:pt x="44" y="226"/>
                    </a:lnTo>
                    <a:lnTo>
                      <a:pt x="49" y="226"/>
                    </a:lnTo>
                    <a:lnTo>
                      <a:pt x="53" y="226"/>
                    </a:lnTo>
                    <a:lnTo>
                      <a:pt x="56" y="226"/>
                    </a:lnTo>
                    <a:lnTo>
                      <a:pt x="61" y="224"/>
                    </a:lnTo>
                    <a:lnTo>
                      <a:pt x="65" y="224"/>
                    </a:lnTo>
                    <a:lnTo>
                      <a:pt x="68" y="224"/>
                    </a:lnTo>
                    <a:lnTo>
                      <a:pt x="72" y="224"/>
                    </a:lnTo>
                    <a:lnTo>
                      <a:pt x="75" y="222"/>
                    </a:lnTo>
                    <a:lnTo>
                      <a:pt x="79" y="222"/>
                    </a:lnTo>
                    <a:lnTo>
                      <a:pt x="84" y="220"/>
                    </a:lnTo>
                    <a:lnTo>
                      <a:pt x="91" y="220"/>
                    </a:lnTo>
                    <a:lnTo>
                      <a:pt x="96" y="220"/>
                    </a:lnTo>
                    <a:lnTo>
                      <a:pt x="103" y="220"/>
                    </a:lnTo>
                    <a:lnTo>
                      <a:pt x="107" y="220"/>
                    </a:lnTo>
                    <a:lnTo>
                      <a:pt x="112" y="222"/>
                    </a:lnTo>
                    <a:lnTo>
                      <a:pt x="117" y="226"/>
                    </a:lnTo>
                    <a:lnTo>
                      <a:pt x="123" y="231"/>
                    </a:lnTo>
                    <a:lnTo>
                      <a:pt x="128" y="236"/>
                    </a:lnTo>
                    <a:lnTo>
                      <a:pt x="135" y="243"/>
                    </a:lnTo>
                    <a:lnTo>
                      <a:pt x="140" y="248"/>
                    </a:lnTo>
                    <a:lnTo>
                      <a:pt x="144" y="254"/>
                    </a:lnTo>
                    <a:lnTo>
                      <a:pt x="147" y="257"/>
                    </a:lnTo>
                    <a:lnTo>
                      <a:pt x="149" y="259"/>
                    </a:lnTo>
                    <a:lnTo>
                      <a:pt x="121" y="283"/>
                    </a:lnTo>
                    <a:lnTo>
                      <a:pt x="121" y="282"/>
                    </a:lnTo>
                    <a:lnTo>
                      <a:pt x="123" y="276"/>
                    </a:lnTo>
                    <a:lnTo>
                      <a:pt x="123" y="273"/>
                    </a:lnTo>
                    <a:lnTo>
                      <a:pt x="123" y="269"/>
                    </a:lnTo>
                    <a:lnTo>
                      <a:pt x="123" y="266"/>
                    </a:lnTo>
                    <a:lnTo>
                      <a:pt x="123" y="262"/>
                    </a:lnTo>
                    <a:lnTo>
                      <a:pt x="121" y="257"/>
                    </a:lnTo>
                    <a:lnTo>
                      <a:pt x="119" y="254"/>
                    </a:lnTo>
                    <a:lnTo>
                      <a:pt x="117" y="250"/>
                    </a:lnTo>
                    <a:lnTo>
                      <a:pt x="116" y="247"/>
                    </a:lnTo>
                    <a:lnTo>
                      <a:pt x="112" y="243"/>
                    </a:lnTo>
                    <a:lnTo>
                      <a:pt x="110" y="241"/>
                    </a:lnTo>
                    <a:lnTo>
                      <a:pt x="105" y="240"/>
                    </a:lnTo>
                    <a:lnTo>
                      <a:pt x="100" y="240"/>
                    </a:lnTo>
                    <a:lnTo>
                      <a:pt x="95" y="238"/>
                    </a:lnTo>
                    <a:lnTo>
                      <a:pt x="89" y="238"/>
                    </a:lnTo>
                    <a:lnTo>
                      <a:pt x="82" y="238"/>
                    </a:lnTo>
                    <a:lnTo>
                      <a:pt x="75" y="240"/>
                    </a:lnTo>
                    <a:lnTo>
                      <a:pt x="72" y="240"/>
                    </a:lnTo>
                    <a:lnTo>
                      <a:pt x="68" y="241"/>
                    </a:lnTo>
                    <a:lnTo>
                      <a:pt x="65" y="241"/>
                    </a:lnTo>
                    <a:lnTo>
                      <a:pt x="61" y="241"/>
                    </a:lnTo>
                    <a:lnTo>
                      <a:pt x="58" y="241"/>
                    </a:lnTo>
                    <a:lnTo>
                      <a:pt x="54" y="243"/>
                    </a:lnTo>
                    <a:lnTo>
                      <a:pt x="51" y="243"/>
                    </a:lnTo>
                    <a:lnTo>
                      <a:pt x="47" y="245"/>
                    </a:lnTo>
                    <a:lnTo>
                      <a:pt x="44" y="245"/>
                    </a:lnTo>
                    <a:lnTo>
                      <a:pt x="40" y="245"/>
                    </a:lnTo>
                    <a:lnTo>
                      <a:pt x="37" y="245"/>
                    </a:lnTo>
                    <a:lnTo>
                      <a:pt x="33" y="247"/>
                    </a:lnTo>
                    <a:lnTo>
                      <a:pt x="26" y="247"/>
                    </a:lnTo>
                    <a:lnTo>
                      <a:pt x="21" y="247"/>
                    </a:lnTo>
                    <a:lnTo>
                      <a:pt x="16" y="247"/>
                    </a:lnTo>
                    <a:lnTo>
                      <a:pt x="12" y="245"/>
                    </a:lnTo>
                    <a:lnTo>
                      <a:pt x="7" y="243"/>
                    </a:lnTo>
                    <a:lnTo>
                      <a:pt x="5" y="240"/>
                    </a:lnTo>
                    <a:lnTo>
                      <a:pt x="4" y="236"/>
                    </a:lnTo>
                    <a:lnTo>
                      <a:pt x="2" y="231"/>
                    </a:lnTo>
                    <a:lnTo>
                      <a:pt x="0" y="227"/>
                    </a:lnTo>
                    <a:lnTo>
                      <a:pt x="0" y="224"/>
                    </a:lnTo>
                    <a:lnTo>
                      <a:pt x="0" y="220"/>
                    </a:lnTo>
                    <a:lnTo>
                      <a:pt x="0" y="217"/>
                    </a:lnTo>
                    <a:lnTo>
                      <a:pt x="0" y="212"/>
                    </a:lnTo>
                    <a:lnTo>
                      <a:pt x="0" y="208"/>
                    </a:lnTo>
                    <a:lnTo>
                      <a:pt x="0" y="205"/>
                    </a:lnTo>
                    <a:lnTo>
                      <a:pt x="0" y="201"/>
                    </a:lnTo>
                    <a:lnTo>
                      <a:pt x="0" y="196"/>
                    </a:lnTo>
                    <a:lnTo>
                      <a:pt x="2" y="191"/>
                    </a:lnTo>
                    <a:lnTo>
                      <a:pt x="2" y="187"/>
                    </a:lnTo>
                    <a:lnTo>
                      <a:pt x="4" y="184"/>
                    </a:lnTo>
                    <a:lnTo>
                      <a:pt x="4" y="178"/>
                    </a:lnTo>
                    <a:lnTo>
                      <a:pt x="4" y="175"/>
                    </a:lnTo>
                    <a:lnTo>
                      <a:pt x="4" y="170"/>
                    </a:lnTo>
                    <a:lnTo>
                      <a:pt x="5" y="166"/>
                    </a:lnTo>
                    <a:lnTo>
                      <a:pt x="5" y="163"/>
                    </a:lnTo>
                    <a:lnTo>
                      <a:pt x="7" y="159"/>
                    </a:lnTo>
                    <a:lnTo>
                      <a:pt x="7" y="154"/>
                    </a:lnTo>
                    <a:lnTo>
                      <a:pt x="9" y="152"/>
                    </a:lnTo>
                    <a:lnTo>
                      <a:pt x="11" y="145"/>
                    </a:lnTo>
                    <a:lnTo>
                      <a:pt x="12" y="142"/>
                    </a:lnTo>
                    <a:lnTo>
                      <a:pt x="14" y="138"/>
                    </a:lnTo>
                    <a:lnTo>
                      <a:pt x="16" y="138"/>
                    </a:lnTo>
                    <a:lnTo>
                      <a:pt x="18" y="136"/>
                    </a:lnTo>
                    <a:lnTo>
                      <a:pt x="21" y="136"/>
                    </a:lnTo>
                    <a:lnTo>
                      <a:pt x="25" y="136"/>
                    </a:lnTo>
                    <a:lnTo>
                      <a:pt x="32" y="136"/>
                    </a:lnTo>
                    <a:lnTo>
                      <a:pt x="35" y="136"/>
                    </a:lnTo>
                    <a:lnTo>
                      <a:pt x="39" y="136"/>
                    </a:lnTo>
                    <a:lnTo>
                      <a:pt x="42" y="136"/>
                    </a:lnTo>
                    <a:lnTo>
                      <a:pt x="47" y="136"/>
                    </a:lnTo>
                    <a:lnTo>
                      <a:pt x="51" y="136"/>
                    </a:lnTo>
                    <a:lnTo>
                      <a:pt x="56" y="136"/>
                    </a:lnTo>
                    <a:lnTo>
                      <a:pt x="61" y="136"/>
                    </a:lnTo>
                    <a:lnTo>
                      <a:pt x="68" y="136"/>
                    </a:lnTo>
                    <a:lnTo>
                      <a:pt x="74" y="135"/>
                    </a:lnTo>
                    <a:lnTo>
                      <a:pt x="79" y="135"/>
                    </a:lnTo>
                    <a:lnTo>
                      <a:pt x="86" y="135"/>
                    </a:lnTo>
                    <a:lnTo>
                      <a:pt x="93" y="135"/>
                    </a:lnTo>
                    <a:lnTo>
                      <a:pt x="100" y="133"/>
                    </a:lnTo>
                    <a:lnTo>
                      <a:pt x="107" y="133"/>
                    </a:lnTo>
                    <a:lnTo>
                      <a:pt x="114" y="133"/>
                    </a:lnTo>
                    <a:lnTo>
                      <a:pt x="123" y="133"/>
                    </a:lnTo>
                    <a:lnTo>
                      <a:pt x="130" y="131"/>
                    </a:lnTo>
                    <a:lnTo>
                      <a:pt x="138" y="129"/>
                    </a:lnTo>
                    <a:lnTo>
                      <a:pt x="147" y="129"/>
                    </a:lnTo>
                    <a:lnTo>
                      <a:pt x="156" y="129"/>
                    </a:lnTo>
                    <a:lnTo>
                      <a:pt x="165" y="128"/>
                    </a:lnTo>
                    <a:lnTo>
                      <a:pt x="173" y="128"/>
                    </a:lnTo>
                    <a:lnTo>
                      <a:pt x="184" y="126"/>
                    </a:lnTo>
                    <a:lnTo>
                      <a:pt x="193" y="126"/>
                    </a:lnTo>
                    <a:lnTo>
                      <a:pt x="203" y="122"/>
                    </a:lnTo>
                    <a:lnTo>
                      <a:pt x="212" y="121"/>
                    </a:lnTo>
                    <a:lnTo>
                      <a:pt x="222" y="119"/>
                    </a:lnTo>
                    <a:lnTo>
                      <a:pt x="233" y="119"/>
                    </a:lnTo>
                    <a:lnTo>
                      <a:pt x="242" y="115"/>
                    </a:lnTo>
                    <a:lnTo>
                      <a:pt x="252" y="114"/>
                    </a:lnTo>
                    <a:lnTo>
                      <a:pt x="263" y="112"/>
                    </a:lnTo>
                    <a:lnTo>
                      <a:pt x="275" y="110"/>
                    </a:lnTo>
                    <a:lnTo>
                      <a:pt x="285" y="107"/>
                    </a:lnTo>
                    <a:lnTo>
                      <a:pt x="296" y="105"/>
                    </a:lnTo>
                    <a:lnTo>
                      <a:pt x="308" y="101"/>
                    </a:lnTo>
                    <a:lnTo>
                      <a:pt x="319" y="98"/>
                    </a:lnTo>
                    <a:lnTo>
                      <a:pt x="331" y="94"/>
                    </a:lnTo>
                    <a:lnTo>
                      <a:pt x="341" y="93"/>
                    </a:lnTo>
                    <a:lnTo>
                      <a:pt x="354" y="89"/>
                    </a:lnTo>
                    <a:lnTo>
                      <a:pt x="366" y="86"/>
                    </a:lnTo>
                    <a:lnTo>
                      <a:pt x="378" y="80"/>
                    </a:lnTo>
                    <a:lnTo>
                      <a:pt x="389" y="77"/>
                    </a:lnTo>
                    <a:lnTo>
                      <a:pt x="401" y="73"/>
                    </a:lnTo>
                    <a:lnTo>
                      <a:pt x="413" y="68"/>
                    </a:lnTo>
                    <a:lnTo>
                      <a:pt x="425" y="63"/>
                    </a:lnTo>
                    <a:lnTo>
                      <a:pt x="438" y="59"/>
                    </a:lnTo>
                    <a:lnTo>
                      <a:pt x="450" y="54"/>
                    </a:lnTo>
                    <a:lnTo>
                      <a:pt x="462" y="49"/>
                    </a:lnTo>
                    <a:lnTo>
                      <a:pt x="474" y="44"/>
                    </a:lnTo>
                    <a:lnTo>
                      <a:pt x="487" y="38"/>
                    </a:lnTo>
                    <a:lnTo>
                      <a:pt x="499" y="31"/>
                    </a:lnTo>
                    <a:lnTo>
                      <a:pt x="513" y="26"/>
                    </a:lnTo>
                    <a:lnTo>
                      <a:pt x="523" y="19"/>
                    </a:lnTo>
                    <a:lnTo>
                      <a:pt x="537" y="14"/>
                    </a:lnTo>
                    <a:lnTo>
                      <a:pt x="550" y="7"/>
                    </a:lnTo>
                    <a:lnTo>
                      <a:pt x="564" y="0"/>
                    </a:lnTo>
                    <a:lnTo>
                      <a:pt x="56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34" name="Rectangle 128"/>
            <p:cNvSpPr>
              <a:spLocks noChangeArrowheads="1"/>
            </p:cNvSpPr>
            <p:nvPr/>
          </p:nvSpPr>
          <p:spPr bwMode="auto">
            <a:xfrm>
              <a:off x="3021" y="2698"/>
              <a:ext cx="838" cy="575"/>
            </a:xfrm>
            <a:prstGeom prst="rect">
              <a:avLst/>
            </a:prstGeom>
            <a:solidFill>
              <a:srgbClr val="CC99FF"/>
            </a:solidFill>
            <a:ln w="12700" algn="ctr">
              <a:solidFill>
                <a:schemeClr val="bg1"/>
              </a:solidFill>
              <a:miter lim="800000"/>
              <a:headEnd/>
              <a:tailEnd/>
            </a:ln>
          </p:spPr>
          <p:txBody>
            <a:bodyPr lIns="0" tIns="0" rIns="0" bIns="0" anchor="ctr">
              <a:spAutoFit/>
            </a:bodyPr>
            <a:lstStyle/>
            <a:p>
              <a:endParaRPr lang="en-US"/>
            </a:p>
          </p:txBody>
        </p:sp>
        <p:sp>
          <p:nvSpPr>
            <p:cNvPr id="17435" name="Text Box 129"/>
            <p:cNvSpPr txBox="1">
              <a:spLocks noChangeArrowheads="1"/>
            </p:cNvSpPr>
            <p:nvPr/>
          </p:nvSpPr>
          <p:spPr bwMode="auto">
            <a:xfrm>
              <a:off x="3058" y="2726"/>
              <a:ext cx="786"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at level 4,</a:t>
              </a:r>
              <a:br>
                <a:rPr lang="en-US" sz="1800">
                  <a:solidFill>
                    <a:schemeClr val="bg1"/>
                  </a:solidFill>
                </a:rPr>
              </a:br>
              <a:r>
                <a:rPr lang="en-US" sz="1800">
                  <a:solidFill>
                    <a:schemeClr val="bg1"/>
                  </a:solidFill>
                </a:rPr>
                <a:t>inspection</a:t>
              </a:r>
              <a:br>
                <a:rPr lang="en-US" sz="1800">
                  <a:solidFill>
                    <a:schemeClr val="bg1"/>
                  </a:solidFill>
                </a:rPr>
              </a:br>
              <a:r>
                <a:rPr lang="en-US" sz="1800">
                  <a:solidFill>
                    <a:schemeClr val="bg1"/>
                  </a:solidFill>
                </a:rPr>
                <a:t>is done</a:t>
              </a:r>
            </a:p>
          </p:txBody>
        </p:sp>
        <p:grpSp>
          <p:nvGrpSpPr>
            <p:cNvPr id="17436" name="Group 130"/>
            <p:cNvGrpSpPr>
              <a:grpSpLocks/>
            </p:cNvGrpSpPr>
            <p:nvPr/>
          </p:nvGrpSpPr>
          <p:grpSpPr bwMode="auto">
            <a:xfrm>
              <a:off x="2687" y="2944"/>
              <a:ext cx="422" cy="401"/>
              <a:chOff x="2149" y="1480"/>
              <a:chExt cx="523" cy="497"/>
            </a:xfrm>
          </p:grpSpPr>
          <p:sp>
            <p:nvSpPr>
              <p:cNvPr id="17437" name="Freeform 131"/>
              <p:cNvSpPr>
                <a:spLocks/>
              </p:cNvSpPr>
              <p:nvPr/>
            </p:nvSpPr>
            <p:spPr bwMode="auto">
              <a:xfrm flipH="1">
                <a:off x="2149" y="1485"/>
                <a:ext cx="506" cy="487"/>
              </a:xfrm>
              <a:custGeom>
                <a:avLst/>
                <a:gdLst>
                  <a:gd name="T0" fmla="*/ 173 w 506"/>
                  <a:gd name="T1" fmla="*/ 487 h 487"/>
                  <a:gd name="T2" fmla="*/ 338 w 506"/>
                  <a:gd name="T3" fmla="*/ 408 h 487"/>
                  <a:gd name="T4" fmla="*/ 488 w 506"/>
                  <a:gd name="T5" fmla="*/ 326 h 487"/>
                  <a:gd name="T6" fmla="*/ 371 w 506"/>
                  <a:gd name="T7" fmla="*/ 319 h 487"/>
                  <a:gd name="T8" fmla="*/ 493 w 506"/>
                  <a:gd name="T9" fmla="*/ 114 h 487"/>
                  <a:gd name="T10" fmla="*/ 304 w 506"/>
                  <a:gd name="T11" fmla="*/ 252 h 487"/>
                  <a:gd name="T12" fmla="*/ 392 w 506"/>
                  <a:gd name="T13" fmla="*/ 37 h 487"/>
                  <a:gd name="T14" fmla="*/ 345 w 506"/>
                  <a:gd name="T15" fmla="*/ 11 h 487"/>
                  <a:gd name="T16" fmla="*/ 334 w 506"/>
                  <a:gd name="T17" fmla="*/ 18 h 487"/>
                  <a:gd name="T18" fmla="*/ 329 w 506"/>
                  <a:gd name="T19" fmla="*/ 27 h 487"/>
                  <a:gd name="T20" fmla="*/ 324 w 506"/>
                  <a:gd name="T21" fmla="*/ 35 h 487"/>
                  <a:gd name="T22" fmla="*/ 315 w 506"/>
                  <a:gd name="T23" fmla="*/ 49 h 487"/>
                  <a:gd name="T24" fmla="*/ 311 w 506"/>
                  <a:gd name="T25" fmla="*/ 60 h 487"/>
                  <a:gd name="T26" fmla="*/ 304 w 506"/>
                  <a:gd name="T27" fmla="*/ 70 h 487"/>
                  <a:gd name="T28" fmla="*/ 299 w 506"/>
                  <a:gd name="T29" fmla="*/ 83 h 487"/>
                  <a:gd name="T30" fmla="*/ 292 w 506"/>
                  <a:gd name="T31" fmla="*/ 95 h 487"/>
                  <a:gd name="T32" fmla="*/ 285 w 506"/>
                  <a:gd name="T33" fmla="*/ 107 h 487"/>
                  <a:gd name="T34" fmla="*/ 278 w 506"/>
                  <a:gd name="T35" fmla="*/ 119 h 487"/>
                  <a:gd name="T36" fmla="*/ 271 w 506"/>
                  <a:gd name="T37" fmla="*/ 133 h 487"/>
                  <a:gd name="T38" fmla="*/ 264 w 506"/>
                  <a:gd name="T39" fmla="*/ 146 h 487"/>
                  <a:gd name="T40" fmla="*/ 259 w 506"/>
                  <a:gd name="T41" fmla="*/ 160 h 487"/>
                  <a:gd name="T42" fmla="*/ 252 w 506"/>
                  <a:gd name="T43" fmla="*/ 170 h 487"/>
                  <a:gd name="T44" fmla="*/ 247 w 506"/>
                  <a:gd name="T45" fmla="*/ 181 h 487"/>
                  <a:gd name="T46" fmla="*/ 240 w 506"/>
                  <a:gd name="T47" fmla="*/ 195 h 487"/>
                  <a:gd name="T48" fmla="*/ 233 w 506"/>
                  <a:gd name="T49" fmla="*/ 208 h 487"/>
                  <a:gd name="T50" fmla="*/ 227 w 506"/>
                  <a:gd name="T51" fmla="*/ 215 h 487"/>
                  <a:gd name="T52" fmla="*/ 219 w 506"/>
                  <a:gd name="T53" fmla="*/ 125 h 487"/>
                  <a:gd name="T54" fmla="*/ 220 w 506"/>
                  <a:gd name="T55" fmla="*/ 0 h 487"/>
                  <a:gd name="T56" fmla="*/ 180 w 506"/>
                  <a:gd name="T57" fmla="*/ 23 h 487"/>
                  <a:gd name="T58" fmla="*/ 170 w 506"/>
                  <a:gd name="T59" fmla="*/ 35 h 487"/>
                  <a:gd name="T60" fmla="*/ 163 w 506"/>
                  <a:gd name="T61" fmla="*/ 48 h 487"/>
                  <a:gd name="T62" fmla="*/ 157 w 506"/>
                  <a:gd name="T63" fmla="*/ 62 h 487"/>
                  <a:gd name="T64" fmla="*/ 154 w 506"/>
                  <a:gd name="T65" fmla="*/ 74 h 487"/>
                  <a:gd name="T66" fmla="*/ 150 w 506"/>
                  <a:gd name="T67" fmla="*/ 86 h 487"/>
                  <a:gd name="T68" fmla="*/ 149 w 506"/>
                  <a:gd name="T69" fmla="*/ 104 h 487"/>
                  <a:gd name="T70" fmla="*/ 147 w 506"/>
                  <a:gd name="T71" fmla="*/ 121 h 487"/>
                  <a:gd name="T72" fmla="*/ 145 w 506"/>
                  <a:gd name="T73" fmla="*/ 140 h 487"/>
                  <a:gd name="T74" fmla="*/ 145 w 506"/>
                  <a:gd name="T75" fmla="*/ 160 h 487"/>
                  <a:gd name="T76" fmla="*/ 143 w 506"/>
                  <a:gd name="T77" fmla="*/ 177 h 487"/>
                  <a:gd name="T78" fmla="*/ 143 w 506"/>
                  <a:gd name="T79" fmla="*/ 193 h 487"/>
                  <a:gd name="T80" fmla="*/ 142 w 506"/>
                  <a:gd name="T81" fmla="*/ 205 h 487"/>
                  <a:gd name="T82" fmla="*/ 142 w 506"/>
                  <a:gd name="T83" fmla="*/ 214 h 487"/>
                  <a:gd name="T84" fmla="*/ 94 w 506"/>
                  <a:gd name="T85" fmla="*/ 284 h 487"/>
                  <a:gd name="T86" fmla="*/ 33 w 506"/>
                  <a:gd name="T87" fmla="*/ 154 h 487"/>
                  <a:gd name="T88" fmla="*/ 0 w 506"/>
                  <a:gd name="T89" fmla="*/ 221 h 4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06"/>
                  <a:gd name="T136" fmla="*/ 0 h 487"/>
                  <a:gd name="T137" fmla="*/ 506 w 506"/>
                  <a:gd name="T138" fmla="*/ 487 h 4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06" h="487">
                    <a:moveTo>
                      <a:pt x="0" y="221"/>
                    </a:moveTo>
                    <a:lnTo>
                      <a:pt x="138" y="478"/>
                    </a:lnTo>
                    <a:lnTo>
                      <a:pt x="173" y="487"/>
                    </a:lnTo>
                    <a:lnTo>
                      <a:pt x="234" y="487"/>
                    </a:lnTo>
                    <a:lnTo>
                      <a:pt x="294" y="473"/>
                    </a:lnTo>
                    <a:lnTo>
                      <a:pt x="338" y="408"/>
                    </a:lnTo>
                    <a:lnTo>
                      <a:pt x="394" y="369"/>
                    </a:lnTo>
                    <a:lnTo>
                      <a:pt x="457" y="354"/>
                    </a:lnTo>
                    <a:lnTo>
                      <a:pt x="488" y="326"/>
                    </a:lnTo>
                    <a:lnTo>
                      <a:pt x="506" y="299"/>
                    </a:lnTo>
                    <a:lnTo>
                      <a:pt x="492" y="284"/>
                    </a:lnTo>
                    <a:lnTo>
                      <a:pt x="371" y="319"/>
                    </a:lnTo>
                    <a:lnTo>
                      <a:pt x="367" y="308"/>
                    </a:lnTo>
                    <a:lnTo>
                      <a:pt x="490" y="154"/>
                    </a:lnTo>
                    <a:lnTo>
                      <a:pt x="493" y="114"/>
                    </a:lnTo>
                    <a:lnTo>
                      <a:pt x="460" y="105"/>
                    </a:lnTo>
                    <a:lnTo>
                      <a:pt x="318" y="256"/>
                    </a:lnTo>
                    <a:lnTo>
                      <a:pt x="304" y="252"/>
                    </a:lnTo>
                    <a:lnTo>
                      <a:pt x="304" y="229"/>
                    </a:lnTo>
                    <a:lnTo>
                      <a:pt x="373" y="105"/>
                    </a:lnTo>
                    <a:lnTo>
                      <a:pt x="392" y="37"/>
                    </a:lnTo>
                    <a:lnTo>
                      <a:pt x="387" y="6"/>
                    </a:lnTo>
                    <a:lnTo>
                      <a:pt x="348" y="11"/>
                    </a:lnTo>
                    <a:lnTo>
                      <a:pt x="345" y="11"/>
                    </a:lnTo>
                    <a:lnTo>
                      <a:pt x="341" y="13"/>
                    </a:lnTo>
                    <a:lnTo>
                      <a:pt x="338" y="14"/>
                    </a:lnTo>
                    <a:lnTo>
                      <a:pt x="334" y="18"/>
                    </a:lnTo>
                    <a:lnTo>
                      <a:pt x="332" y="21"/>
                    </a:lnTo>
                    <a:lnTo>
                      <a:pt x="331" y="25"/>
                    </a:lnTo>
                    <a:lnTo>
                      <a:pt x="329" y="27"/>
                    </a:lnTo>
                    <a:lnTo>
                      <a:pt x="327" y="28"/>
                    </a:lnTo>
                    <a:lnTo>
                      <a:pt x="325" y="30"/>
                    </a:lnTo>
                    <a:lnTo>
                      <a:pt x="324" y="35"/>
                    </a:lnTo>
                    <a:lnTo>
                      <a:pt x="320" y="41"/>
                    </a:lnTo>
                    <a:lnTo>
                      <a:pt x="318" y="46"/>
                    </a:lnTo>
                    <a:lnTo>
                      <a:pt x="315" y="49"/>
                    </a:lnTo>
                    <a:lnTo>
                      <a:pt x="315" y="53"/>
                    </a:lnTo>
                    <a:lnTo>
                      <a:pt x="313" y="56"/>
                    </a:lnTo>
                    <a:lnTo>
                      <a:pt x="311" y="60"/>
                    </a:lnTo>
                    <a:lnTo>
                      <a:pt x="308" y="63"/>
                    </a:lnTo>
                    <a:lnTo>
                      <a:pt x="306" y="67"/>
                    </a:lnTo>
                    <a:lnTo>
                      <a:pt x="304" y="70"/>
                    </a:lnTo>
                    <a:lnTo>
                      <a:pt x="303" y="74"/>
                    </a:lnTo>
                    <a:lnTo>
                      <a:pt x="301" y="77"/>
                    </a:lnTo>
                    <a:lnTo>
                      <a:pt x="299" y="83"/>
                    </a:lnTo>
                    <a:lnTo>
                      <a:pt x="297" y="86"/>
                    </a:lnTo>
                    <a:lnTo>
                      <a:pt x="294" y="90"/>
                    </a:lnTo>
                    <a:lnTo>
                      <a:pt x="292" y="95"/>
                    </a:lnTo>
                    <a:lnTo>
                      <a:pt x="290" y="98"/>
                    </a:lnTo>
                    <a:lnTo>
                      <a:pt x="289" y="104"/>
                    </a:lnTo>
                    <a:lnTo>
                      <a:pt x="285" y="107"/>
                    </a:lnTo>
                    <a:lnTo>
                      <a:pt x="283" y="111"/>
                    </a:lnTo>
                    <a:lnTo>
                      <a:pt x="280" y="116"/>
                    </a:lnTo>
                    <a:lnTo>
                      <a:pt x="278" y="119"/>
                    </a:lnTo>
                    <a:lnTo>
                      <a:pt x="276" y="125"/>
                    </a:lnTo>
                    <a:lnTo>
                      <a:pt x="275" y="128"/>
                    </a:lnTo>
                    <a:lnTo>
                      <a:pt x="271" y="133"/>
                    </a:lnTo>
                    <a:lnTo>
                      <a:pt x="269" y="137"/>
                    </a:lnTo>
                    <a:lnTo>
                      <a:pt x="268" y="142"/>
                    </a:lnTo>
                    <a:lnTo>
                      <a:pt x="264" y="146"/>
                    </a:lnTo>
                    <a:lnTo>
                      <a:pt x="262" y="151"/>
                    </a:lnTo>
                    <a:lnTo>
                      <a:pt x="261" y="154"/>
                    </a:lnTo>
                    <a:lnTo>
                      <a:pt x="259" y="160"/>
                    </a:lnTo>
                    <a:lnTo>
                      <a:pt x="255" y="163"/>
                    </a:lnTo>
                    <a:lnTo>
                      <a:pt x="254" y="167"/>
                    </a:lnTo>
                    <a:lnTo>
                      <a:pt x="252" y="170"/>
                    </a:lnTo>
                    <a:lnTo>
                      <a:pt x="250" y="174"/>
                    </a:lnTo>
                    <a:lnTo>
                      <a:pt x="248" y="177"/>
                    </a:lnTo>
                    <a:lnTo>
                      <a:pt x="247" y="181"/>
                    </a:lnTo>
                    <a:lnTo>
                      <a:pt x="243" y="184"/>
                    </a:lnTo>
                    <a:lnTo>
                      <a:pt x="243" y="189"/>
                    </a:lnTo>
                    <a:lnTo>
                      <a:pt x="240" y="195"/>
                    </a:lnTo>
                    <a:lnTo>
                      <a:pt x="236" y="200"/>
                    </a:lnTo>
                    <a:lnTo>
                      <a:pt x="234" y="205"/>
                    </a:lnTo>
                    <a:lnTo>
                      <a:pt x="233" y="208"/>
                    </a:lnTo>
                    <a:lnTo>
                      <a:pt x="229" y="212"/>
                    </a:lnTo>
                    <a:lnTo>
                      <a:pt x="229" y="215"/>
                    </a:lnTo>
                    <a:lnTo>
                      <a:pt x="227" y="215"/>
                    </a:lnTo>
                    <a:lnTo>
                      <a:pt x="227" y="217"/>
                    </a:lnTo>
                    <a:lnTo>
                      <a:pt x="215" y="222"/>
                    </a:lnTo>
                    <a:lnTo>
                      <a:pt x="219" y="125"/>
                    </a:lnTo>
                    <a:lnTo>
                      <a:pt x="233" y="77"/>
                    </a:lnTo>
                    <a:lnTo>
                      <a:pt x="229" y="16"/>
                    </a:lnTo>
                    <a:lnTo>
                      <a:pt x="220" y="0"/>
                    </a:lnTo>
                    <a:lnTo>
                      <a:pt x="184" y="20"/>
                    </a:lnTo>
                    <a:lnTo>
                      <a:pt x="182" y="20"/>
                    </a:lnTo>
                    <a:lnTo>
                      <a:pt x="180" y="23"/>
                    </a:lnTo>
                    <a:lnTo>
                      <a:pt x="177" y="27"/>
                    </a:lnTo>
                    <a:lnTo>
                      <a:pt x="173" y="32"/>
                    </a:lnTo>
                    <a:lnTo>
                      <a:pt x="170" y="35"/>
                    </a:lnTo>
                    <a:lnTo>
                      <a:pt x="168" y="39"/>
                    </a:lnTo>
                    <a:lnTo>
                      <a:pt x="164" y="42"/>
                    </a:lnTo>
                    <a:lnTo>
                      <a:pt x="163" y="48"/>
                    </a:lnTo>
                    <a:lnTo>
                      <a:pt x="161" y="51"/>
                    </a:lnTo>
                    <a:lnTo>
                      <a:pt x="159" y="56"/>
                    </a:lnTo>
                    <a:lnTo>
                      <a:pt x="157" y="62"/>
                    </a:lnTo>
                    <a:lnTo>
                      <a:pt x="156" y="69"/>
                    </a:lnTo>
                    <a:lnTo>
                      <a:pt x="154" y="70"/>
                    </a:lnTo>
                    <a:lnTo>
                      <a:pt x="154" y="74"/>
                    </a:lnTo>
                    <a:lnTo>
                      <a:pt x="152" y="77"/>
                    </a:lnTo>
                    <a:lnTo>
                      <a:pt x="152" y="83"/>
                    </a:lnTo>
                    <a:lnTo>
                      <a:pt x="150" y="86"/>
                    </a:lnTo>
                    <a:lnTo>
                      <a:pt x="150" y="91"/>
                    </a:lnTo>
                    <a:lnTo>
                      <a:pt x="149" y="98"/>
                    </a:lnTo>
                    <a:lnTo>
                      <a:pt x="149" y="104"/>
                    </a:lnTo>
                    <a:lnTo>
                      <a:pt x="149" y="109"/>
                    </a:lnTo>
                    <a:lnTo>
                      <a:pt x="147" y="116"/>
                    </a:lnTo>
                    <a:lnTo>
                      <a:pt x="147" y="121"/>
                    </a:lnTo>
                    <a:lnTo>
                      <a:pt x="147" y="128"/>
                    </a:lnTo>
                    <a:lnTo>
                      <a:pt x="147" y="133"/>
                    </a:lnTo>
                    <a:lnTo>
                      <a:pt x="145" y="140"/>
                    </a:lnTo>
                    <a:lnTo>
                      <a:pt x="145" y="146"/>
                    </a:lnTo>
                    <a:lnTo>
                      <a:pt x="145" y="153"/>
                    </a:lnTo>
                    <a:lnTo>
                      <a:pt x="145" y="160"/>
                    </a:lnTo>
                    <a:lnTo>
                      <a:pt x="143" y="165"/>
                    </a:lnTo>
                    <a:lnTo>
                      <a:pt x="143" y="170"/>
                    </a:lnTo>
                    <a:lnTo>
                      <a:pt x="143" y="177"/>
                    </a:lnTo>
                    <a:lnTo>
                      <a:pt x="143" y="182"/>
                    </a:lnTo>
                    <a:lnTo>
                      <a:pt x="143" y="188"/>
                    </a:lnTo>
                    <a:lnTo>
                      <a:pt x="143" y="193"/>
                    </a:lnTo>
                    <a:lnTo>
                      <a:pt x="143" y="196"/>
                    </a:lnTo>
                    <a:lnTo>
                      <a:pt x="142" y="202"/>
                    </a:lnTo>
                    <a:lnTo>
                      <a:pt x="142" y="205"/>
                    </a:lnTo>
                    <a:lnTo>
                      <a:pt x="142" y="207"/>
                    </a:lnTo>
                    <a:lnTo>
                      <a:pt x="142" y="210"/>
                    </a:lnTo>
                    <a:lnTo>
                      <a:pt x="142" y="214"/>
                    </a:lnTo>
                    <a:lnTo>
                      <a:pt x="142" y="215"/>
                    </a:lnTo>
                    <a:lnTo>
                      <a:pt x="112" y="292"/>
                    </a:lnTo>
                    <a:lnTo>
                      <a:pt x="94" y="284"/>
                    </a:lnTo>
                    <a:lnTo>
                      <a:pt x="82" y="243"/>
                    </a:lnTo>
                    <a:lnTo>
                      <a:pt x="51" y="168"/>
                    </a:lnTo>
                    <a:lnTo>
                      <a:pt x="33" y="154"/>
                    </a:lnTo>
                    <a:lnTo>
                      <a:pt x="12" y="168"/>
                    </a:lnTo>
                    <a:lnTo>
                      <a:pt x="2" y="193"/>
                    </a:lnTo>
                    <a:lnTo>
                      <a:pt x="0" y="221"/>
                    </a:lnTo>
                    <a:close/>
                  </a:path>
                </a:pathLst>
              </a:custGeom>
              <a:solidFill>
                <a:srgbClr val="E6E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8" name="Freeform 132"/>
              <p:cNvSpPr>
                <a:spLocks/>
              </p:cNvSpPr>
              <p:nvPr/>
            </p:nvSpPr>
            <p:spPr bwMode="auto">
              <a:xfrm flipH="1">
                <a:off x="2453" y="1636"/>
                <a:ext cx="219" cy="308"/>
              </a:xfrm>
              <a:custGeom>
                <a:avLst/>
                <a:gdLst>
                  <a:gd name="T0" fmla="*/ 208 w 219"/>
                  <a:gd name="T1" fmla="*/ 302 h 308"/>
                  <a:gd name="T2" fmla="*/ 189 w 219"/>
                  <a:gd name="T3" fmla="*/ 302 h 308"/>
                  <a:gd name="T4" fmla="*/ 165 w 219"/>
                  <a:gd name="T5" fmla="*/ 299 h 308"/>
                  <a:gd name="T6" fmla="*/ 138 w 219"/>
                  <a:gd name="T7" fmla="*/ 288 h 308"/>
                  <a:gd name="T8" fmla="*/ 116 w 219"/>
                  <a:gd name="T9" fmla="*/ 269 h 308"/>
                  <a:gd name="T10" fmla="*/ 102 w 219"/>
                  <a:gd name="T11" fmla="*/ 241 h 308"/>
                  <a:gd name="T12" fmla="*/ 98 w 219"/>
                  <a:gd name="T13" fmla="*/ 222 h 308"/>
                  <a:gd name="T14" fmla="*/ 93 w 219"/>
                  <a:gd name="T15" fmla="*/ 203 h 308"/>
                  <a:gd name="T16" fmla="*/ 86 w 219"/>
                  <a:gd name="T17" fmla="*/ 183 h 308"/>
                  <a:gd name="T18" fmla="*/ 74 w 219"/>
                  <a:gd name="T19" fmla="*/ 159 h 308"/>
                  <a:gd name="T20" fmla="*/ 58 w 219"/>
                  <a:gd name="T21" fmla="*/ 131 h 308"/>
                  <a:gd name="T22" fmla="*/ 40 w 219"/>
                  <a:gd name="T23" fmla="*/ 105 h 308"/>
                  <a:gd name="T24" fmla="*/ 25 w 219"/>
                  <a:gd name="T25" fmla="*/ 84 h 308"/>
                  <a:gd name="T26" fmla="*/ 14 w 219"/>
                  <a:gd name="T27" fmla="*/ 61 h 308"/>
                  <a:gd name="T28" fmla="*/ 16 w 219"/>
                  <a:gd name="T29" fmla="*/ 40 h 308"/>
                  <a:gd name="T30" fmla="*/ 25 w 219"/>
                  <a:gd name="T31" fmla="*/ 21 h 308"/>
                  <a:gd name="T32" fmla="*/ 46 w 219"/>
                  <a:gd name="T33" fmla="*/ 16 h 308"/>
                  <a:gd name="T34" fmla="*/ 63 w 219"/>
                  <a:gd name="T35" fmla="*/ 37 h 308"/>
                  <a:gd name="T36" fmla="*/ 72 w 219"/>
                  <a:gd name="T37" fmla="*/ 54 h 308"/>
                  <a:gd name="T38" fmla="*/ 81 w 219"/>
                  <a:gd name="T39" fmla="*/ 73 h 308"/>
                  <a:gd name="T40" fmla="*/ 88 w 219"/>
                  <a:gd name="T41" fmla="*/ 92 h 308"/>
                  <a:gd name="T42" fmla="*/ 96 w 219"/>
                  <a:gd name="T43" fmla="*/ 120 h 308"/>
                  <a:gd name="T44" fmla="*/ 107 w 219"/>
                  <a:gd name="T45" fmla="*/ 140 h 308"/>
                  <a:gd name="T46" fmla="*/ 130 w 219"/>
                  <a:gd name="T47" fmla="*/ 150 h 308"/>
                  <a:gd name="T48" fmla="*/ 149 w 219"/>
                  <a:gd name="T49" fmla="*/ 157 h 308"/>
                  <a:gd name="T50" fmla="*/ 170 w 219"/>
                  <a:gd name="T51" fmla="*/ 168 h 308"/>
                  <a:gd name="T52" fmla="*/ 191 w 219"/>
                  <a:gd name="T53" fmla="*/ 183 h 308"/>
                  <a:gd name="T54" fmla="*/ 201 w 219"/>
                  <a:gd name="T55" fmla="*/ 206 h 308"/>
                  <a:gd name="T56" fmla="*/ 203 w 219"/>
                  <a:gd name="T57" fmla="*/ 225 h 308"/>
                  <a:gd name="T58" fmla="*/ 208 w 219"/>
                  <a:gd name="T59" fmla="*/ 218 h 308"/>
                  <a:gd name="T60" fmla="*/ 207 w 219"/>
                  <a:gd name="T61" fmla="*/ 197 h 308"/>
                  <a:gd name="T62" fmla="*/ 200 w 219"/>
                  <a:gd name="T63" fmla="*/ 173 h 308"/>
                  <a:gd name="T64" fmla="*/ 180 w 219"/>
                  <a:gd name="T65" fmla="*/ 155 h 308"/>
                  <a:gd name="T66" fmla="*/ 151 w 219"/>
                  <a:gd name="T67" fmla="*/ 147 h 308"/>
                  <a:gd name="T68" fmla="*/ 126 w 219"/>
                  <a:gd name="T69" fmla="*/ 141 h 308"/>
                  <a:gd name="T70" fmla="*/ 109 w 219"/>
                  <a:gd name="T71" fmla="*/ 129 h 308"/>
                  <a:gd name="T72" fmla="*/ 100 w 219"/>
                  <a:gd name="T73" fmla="*/ 105 h 308"/>
                  <a:gd name="T74" fmla="*/ 95 w 219"/>
                  <a:gd name="T75" fmla="*/ 85 h 308"/>
                  <a:gd name="T76" fmla="*/ 88 w 219"/>
                  <a:gd name="T77" fmla="*/ 66 h 308"/>
                  <a:gd name="T78" fmla="*/ 79 w 219"/>
                  <a:gd name="T79" fmla="*/ 44 h 308"/>
                  <a:gd name="T80" fmla="*/ 67 w 219"/>
                  <a:gd name="T81" fmla="*/ 23 h 308"/>
                  <a:gd name="T82" fmla="*/ 49 w 219"/>
                  <a:gd name="T83" fmla="*/ 2 h 308"/>
                  <a:gd name="T84" fmla="*/ 28 w 219"/>
                  <a:gd name="T85" fmla="*/ 5 h 308"/>
                  <a:gd name="T86" fmla="*/ 9 w 219"/>
                  <a:gd name="T87" fmla="*/ 30 h 308"/>
                  <a:gd name="T88" fmla="*/ 0 w 219"/>
                  <a:gd name="T89" fmla="*/ 63 h 308"/>
                  <a:gd name="T90" fmla="*/ 9 w 219"/>
                  <a:gd name="T91" fmla="*/ 87 h 308"/>
                  <a:gd name="T92" fmla="*/ 23 w 219"/>
                  <a:gd name="T93" fmla="*/ 106 h 308"/>
                  <a:gd name="T94" fmla="*/ 37 w 219"/>
                  <a:gd name="T95" fmla="*/ 127 h 308"/>
                  <a:gd name="T96" fmla="*/ 53 w 219"/>
                  <a:gd name="T97" fmla="*/ 148 h 308"/>
                  <a:gd name="T98" fmla="*/ 65 w 219"/>
                  <a:gd name="T99" fmla="*/ 171 h 308"/>
                  <a:gd name="T100" fmla="*/ 75 w 219"/>
                  <a:gd name="T101" fmla="*/ 194 h 308"/>
                  <a:gd name="T102" fmla="*/ 81 w 219"/>
                  <a:gd name="T103" fmla="*/ 215 h 308"/>
                  <a:gd name="T104" fmla="*/ 86 w 219"/>
                  <a:gd name="T105" fmla="*/ 236 h 308"/>
                  <a:gd name="T106" fmla="*/ 95 w 219"/>
                  <a:gd name="T107" fmla="*/ 255 h 308"/>
                  <a:gd name="T108" fmla="*/ 110 w 219"/>
                  <a:gd name="T109" fmla="*/ 283 h 308"/>
                  <a:gd name="T110" fmla="*/ 128 w 219"/>
                  <a:gd name="T111" fmla="*/ 301 h 308"/>
                  <a:gd name="T112" fmla="*/ 151 w 219"/>
                  <a:gd name="T113" fmla="*/ 306 h 308"/>
                  <a:gd name="T114" fmla="*/ 182 w 219"/>
                  <a:gd name="T115" fmla="*/ 306 h 308"/>
                  <a:gd name="T116" fmla="*/ 203 w 219"/>
                  <a:gd name="T117" fmla="*/ 304 h 308"/>
                  <a:gd name="T118" fmla="*/ 219 w 219"/>
                  <a:gd name="T119" fmla="*/ 302 h 30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19"/>
                  <a:gd name="T181" fmla="*/ 0 h 308"/>
                  <a:gd name="T182" fmla="*/ 219 w 219"/>
                  <a:gd name="T183" fmla="*/ 308 h 30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19" h="308">
                    <a:moveTo>
                      <a:pt x="219" y="302"/>
                    </a:moveTo>
                    <a:lnTo>
                      <a:pt x="217" y="302"/>
                    </a:lnTo>
                    <a:lnTo>
                      <a:pt x="214" y="302"/>
                    </a:lnTo>
                    <a:lnTo>
                      <a:pt x="210" y="302"/>
                    </a:lnTo>
                    <a:lnTo>
                      <a:pt x="208" y="302"/>
                    </a:lnTo>
                    <a:lnTo>
                      <a:pt x="205" y="302"/>
                    </a:lnTo>
                    <a:lnTo>
                      <a:pt x="201" y="302"/>
                    </a:lnTo>
                    <a:lnTo>
                      <a:pt x="196" y="302"/>
                    </a:lnTo>
                    <a:lnTo>
                      <a:pt x="193" y="302"/>
                    </a:lnTo>
                    <a:lnTo>
                      <a:pt x="189" y="302"/>
                    </a:lnTo>
                    <a:lnTo>
                      <a:pt x="184" y="302"/>
                    </a:lnTo>
                    <a:lnTo>
                      <a:pt x="179" y="301"/>
                    </a:lnTo>
                    <a:lnTo>
                      <a:pt x="175" y="301"/>
                    </a:lnTo>
                    <a:lnTo>
                      <a:pt x="170" y="301"/>
                    </a:lnTo>
                    <a:lnTo>
                      <a:pt x="165" y="299"/>
                    </a:lnTo>
                    <a:lnTo>
                      <a:pt x="159" y="297"/>
                    </a:lnTo>
                    <a:lnTo>
                      <a:pt x="154" y="295"/>
                    </a:lnTo>
                    <a:lnTo>
                      <a:pt x="149" y="294"/>
                    </a:lnTo>
                    <a:lnTo>
                      <a:pt x="144" y="290"/>
                    </a:lnTo>
                    <a:lnTo>
                      <a:pt x="138" y="288"/>
                    </a:lnTo>
                    <a:lnTo>
                      <a:pt x="135" y="285"/>
                    </a:lnTo>
                    <a:lnTo>
                      <a:pt x="130" y="281"/>
                    </a:lnTo>
                    <a:lnTo>
                      <a:pt x="126" y="278"/>
                    </a:lnTo>
                    <a:lnTo>
                      <a:pt x="121" y="274"/>
                    </a:lnTo>
                    <a:lnTo>
                      <a:pt x="116" y="269"/>
                    </a:lnTo>
                    <a:lnTo>
                      <a:pt x="112" y="264"/>
                    </a:lnTo>
                    <a:lnTo>
                      <a:pt x="110" y="259"/>
                    </a:lnTo>
                    <a:lnTo>
                      <a:pt x="107" y="252"/>
                    </a:lnTo>
                    <a:lnTo>
                      <a:pt x="103" y="246"/>
                    </a:lnTo>
                    <a:lnTo>
                      <a:pt x="102" y="241"/>
                    </a:lnTo>
                    <a:lnTo>
                      <a:pt x="102" y="238"/>
                    </a:lnTo>
                    <a:lnTo>
                      <a:pt x="100" y="234"/>
                    </a:lnTo>
                    <a:lnTo>
                      <a:pt x="100" y="231"/>
                    </a:lnTo>
                    <a:lnTo>
                      <a:pt x="100" y="227"/>
                    </a:lnTo>
                    <a:lnTo>
                      <a:pt x="98" y="222"/>
                    </a:lnTo>
                    <a:lnTo>
                      <a:pt x="96" y="218"/>
                    </a:lnTo>
                    <a:lnTo>
                      <a:pt x="96" y="213"/>
                    </a:lnTo>
                    <a:lnTo>
                      <a:pt x="95" y="210"/>
                    </a:lnTo>
                    <a:lnTo>
                      <a:pt x="95" y="206"/>
                    </a:lnTo>
                    <a:lnTo>
                      <a:pt x="93" y="203"/>
                    </a:lnTo>
                    <a:lnTo>
                      <a:pt x="93" y="199"/>
                    </a:lnTo>
                    <a:lnTo>
                      <a:pt x="91" y="196"/>
                    </a:lnTo>
                    <a:lnTo>
                      <a:pt x="89" y="190"/>
                    </a:lnTo>
                    <a:lnTo>
                      <a:pt x="88" y="187"/>
                    </a:lnTo>
                    <a:lnTo>
                      <a:pt x="86" y="183"/>
                    </a:lnTo>
                    <a:lnTo>
                      <a:pt x="82" y="176"/>
                    </a:lnTo>
                    <a:lnTo>
                      <a:pt x="81" y="169"/>
                    </a:lnTo>
                    <a:lnTo>
                      <a:pt x="79" y="166"/>
                    </a:lnTo>
                    <a:lnTo>
                      <a:pt x="77" y="162"/>
                    </a:lnTo>
                    <a:lnTo>
                      <a:pt x="74" y="159"/>
                    </a:lnTo>
                    <a:lnTo>
                      <a:pt x="72" y="155"/>
                    </a:lnTo>
                    <a:lnTo>
                      <a:pt x="68" y="148"/>
                    </a:lnTo>
                    <a:lnTo>
                      <a:pt x="65" y="143"/>
                    </a:lnTo>
                    <a:lnTo>
                      <a:pt x="61" y="136"/>
                    </a:lnTo>
                    <a:lnTo>
                      <a:pt x="58" y="131"/>
                    </a:lnTo>
                    <a:lnTo>
                      <a:pt x="54" y="126"/>
                    </a:lnTo>
                    <a:lnTo>
                      <a:pt x="51" y="120"/>
                    </a:lnTo>
                    <a:lnTo>
                      <a:pt x="47" y="115"/>
                    </a:lnTo>
                    <a:lnTo>
                      <a:pt x="44" y="110"/>
                    </a:lnTo>
                    <a:lnTo>
                      <a:pt x="40" y="105"/>
                    </a:lnTo>
                    <a:lnTo>
                      <a:pt x="37" y="99"/>
                    </a:lnTo>
                    <a:lnTo>
                      <a:pt x="33" y="96"/>
                    </a:lnTo>
                    <a:lnTo>
                      <a:pt x="30" y="91"/>
                    </a:lnTo>
                    <a:lnTo>
                      <a:pt x="26" y="87"/>
                    </a:lnTo>
                    <a:lnTo>
                      <a:pt x="25" y="84"/>
                    </a:lnTo>
                    <a:lnTo>
                      <a:pt x="19" y="77"/>
                    </a:lnTo>
                    <a:lnTo>
                      <a:pt x="16" y="71"/>
                    </a:lnTo>
                    <a:lnTo>
                      <a:pt x="14" y="68"/>
                    </a:lnTo>
                    <a:lnTo>
                      <a:pt x="14" y="64"/>
                    </a:lnTo>
                    <a:lnTo>
                      <a:pt x="14" y="61"/>
                    </a:lnTo>
                    <a:lnTo>
                      <a:pt x="14" y="57"/>
                    </a:lnTo>
                    <a:lnTo>
                      <a:pt x="14" y="52"/>
                    </a:lnTo>
                    <a:lnTo>
                      <a:pt x="14" y="49"/>
                    </a:lnTo>
                    <a:lnTo>
                      <a:pt x="16" y="45"/>
                    </a:lnTo>
                    <a:lnTo>
                      <a:pt x="16" y="40"/>
                    </a:lnTo>
                    <a:lnTo>
                      <a:pt x="18" y="37"/>
                    </a:lnTo>
                    <a:lnTo>
                      <a:pt x="19" y="31"/>
                    </a:lnTo>
                    <a:lnTo>
                      <a:pt x="21" y="28"/>
                    </a:lnTo>
                    <a:lnTo>
                      <a:pt x="23" y="24"/>
                    </a:lnTo>
                    <a:lnTo>
                      <a:pt x="25" y="21"/>
                    </a:lnTo>
                    <a:lnTo>
                      <a:pt x="26" y="17"/>
                    </a:lnTo>
                    <a:lnTo>
                      <a:pt x="32" y="14"/>
                    </a:lnTo>
                    <a:lnTo>
                      <a:pt x="39" y="14"/>
                    </a:lnTo>
                    <a:lnTo>
                      <a:pt x="42" y="14"/>
                    </a:lnTo>
                    <a:lnTo>
                      <a:pt x="46" y="16"/>
                    </a:lnTo>
                    <a:lnTo>
                      <a:pt x="49" y="19"/>
                    </a:lnTo>
                    <a:lnTo>
                      <a:pt x="53" y="23"/>
                    </a:lnTo>
                    <a:lnTo>
                      <a:pt x="58" y="28"/>
                    </a:lnTo>
                    <a:lnTo>
                      <a:pt x="61" y="33"/>
                    </a:lnTo>
                    <a:lnTo>
                      <a:pt x="63" y="37"/>
                    </a:lnTo>
                    <a:lnTo>
                      <a:pt x="65" y="40"/>
                    </a:lnTo>
                    <a:lnTo>
                      <a:pt x="67" y="44"/>
                    </a:lnTo>
                    <a:lnTo>
                      <a:pt x="70" y="47"/>
                    </a:lnTo>
                    <a:lnTo>
                      <a:pt x="70" y="51"/>
                    </a:lnTo>
                    <a:lnTo>
                      <a:pt x="72" y="54"/>
                    </a:lnTo>
                    <a:lnTo>
                      <a:pt x="74" y="57"/>
                    </a:lnTo>
                    <a:lnTo>
                      <a:pt x="77" y="63"/>
                    </a:lnTo>
                    <a:lnTo>
                      <a:pt x="77" y="66"/>
                    </a:lnTo>
                    <a:lnTo>
                      <a:pt x="79" y="70"/>
                    </a:lnTo>
                    <a:lnTo>
                      <a:pt x="81" y="73"/>
                    </a:lnTo>
                    <a:lnTo>
                      <a:pt x="82" y="77"/>
                    </a:lnTo>
                    <a:lnTo>
                      <a:pt x="84" y="80"/>
                    </a:lnTo>
                    <a:lnTo>
                      <a:pt x="86" y="84"/>
                    </a:lnTo>
                    <a:lnTo>
                      <a:pt x="86" y="87"/>
                    </a:lnTo>
                    <a:lnTo>
                      <a:pt x="88" y="92"/>
                    </a:lnTo>
                    <a:lnTo>
                      <a:pt x="89" y="98"/>
                    </a:lnTo>
                    <a:lnTo>
                      <a:pt x="91" y="105"/>
                    </a:lnTo>
                    <a:lnTo>
                      <a:pt x="93" y="110"/>
                    </a:lnTo>
                    <a:lnTo>
                      <a:pt x="95" y="115"/>
                    </a:lnTo>
                    <a:lnTo>
                      <a:pt x="96" y="120"/>
                    </a:lnTo>
                    <a:lnTo>
                      <a:pt x="98" y="126"/>
                    </a:lnTo>
                    <a:lnTo>
                      <a:pt x="100" y="129"/>
                    </a:lnTo>
                    <a:lnTo>
                      <a:pt x="102" y="134"/>
                    </a:lnTo>
                    <a:lnTo>
                      <a:pt x="105" y="136"/>
                    </a:lnTo>
                    <a:lnTo>
                      <a:pt x="107" y="140"/>
                    </a:lnTo>
                    <a:lnTo>
                      <a:pt x="112" y="145"/>
                    </a:lnTo>
                    <a:lnTo>
                      <a:pt x="117" y="148"/>
                    </a:lnTo>
                    <a:lnTo>
                      <a:pt x="121" y="150"/>
                    </a:lnTo>
                    <a:lnTo>
                      <a:pt x="126" y="150"/>
                    </a:lnTo>
                    <a:lnTo>
                      <a:pt x="130" y="150"/>
                    </a:lnTo>
                    <a:lnTo>
                      <a:pt x="135" y="152"/>
                    </a:lnTo>
                    <a:lnTo>
                      <a:pt x="138" y="152"/>
                    </a:lnTo>
                    <a:lnTo>
                      <a:pt x="142" y="154"/>
                    </a:lnTo>
                    <a:lnTo>
                      <a:pt x="145" y="155"/>
                    </a:lnTo>
                    <a:lnTo>
                      <a:pt x="149" y="157"/>
                    </a:lnTo>
                    <a:lnTo>
                      <a:pt x="152" y="157"/>
                    </a:lnTo>
                    <a:lnTo>
                      <a:pt x="158" y="161"/>
                    </a:lnTo>
                    <a:lnTo>
                      <a:pt x="161" y="162"/>
                    </a:lnTo>
                    <a:lnTo>
                      <a:pt x="165" y="164"/>
                    </a:lnTo>
                    <a:lnTo>
                      <a:pt x="170" y="168"/>
                    </a:lnTo>
                    <a:lnTo>
                      <a:pt x="173" y="169"/>
                    </a:lnTo>
                    <a:lnTo>
                      <a:pt x="179" y="173"/>
                    </a:lnTo>
                    <a:lnTo>
                      <a:pt x="184" y="176"/>
                    </a:lnTo>
                    <a:lnTo>
                      <a:pt x="187" y="178"/>
                    </a:lnTo>
                    <a:lnTo>
                      <a:pt x="191" y="183"/>
                    </a:lnTo>
                    <a:lnTo>
                      <a:pt x="194" y="187"/>
                    </a:lnTo>
                    <a:lnTo>
                      <a:pt x="196" y="190"/>
                    </a:lnTo>
                    <a:lnTo>
                      <a:pt x="198" y="196"/>
                    </a:lnTo>
                    <a:lnTo>
                      <a:pt x="200" y="201"/>
                    </a:lnTo>
                    <a:lnTo>
                      <a:pt x="201" y="206"/>
                    </a:lnTo>
                    <a:lnTo>
                      <a:pt x="203" y="211"/>
                    </a:lnTo>
                    <a:lnTo>
                      <a:pt x="203" y="215"/>
                    </a:lnTo>
                    <a:lnTo>
                      <a:pt x="203" y="218"/>
                    </a:lnTo>
                    <a:lnTo>
                      <a:pt x="203" y="222"/>
                    </a:lnTo>
                    <a:lnTo>
                      <a:pt x="203" y="225"/>
                    </a:lnTo>
                    <a:lnTo>
                      <a:pt x="205" y="231"/>
                    </a:lnTo>
                    <a:lnTo>
                      <a:pt x="207" y="231"/>
                    </a:lnTo>
                    <a:lnTo>
                      <a:pt x="208" y="227"/>
                    </a:lnTo>
                    <a:lnTo>
                      <a:pt x="208" y="222"/>
                    </a:lnTo>
                    <a:lnTo>
                      <a:pt x="208" y="218"/>
                    </a:lnTo>
                    <a:lnTo>
                      <a:pt x="208" y="215"/>
                    </a:lnTo>
                    <a:lnTo>
                      <a:pt x="208" y="211"/>
                    </a:lnTo>
                    <a:lnTo>
                      <a:pt x="208" y="206"/>
                    </a:lnTo>
                    <a:lnTo>
                      <a:pt x="208" y="203"/>
                    </a:lnTo>
                    <a:lnTo>
                      <a:pt x="207" y="197"/>
                    </a:lnTo>
                    <a:lnTo>
                      <a:pt x="207" y="192"/>
                    </a:lnTo>
                    <a:lnTo>
                      <a:pt x="205" y="187"/>
                    </a:lnTo>
                    <a:lnTo>
                      <a:pt x="203" y="182"/>
                    </a:lnTo>
                    <a:lnTo>
                      <a:pt x="201" y="178"/>
                    </a:lnTo>
                    <a:lnTo>
                      <a:pt x="200" y="173"/>
                    </a:lnTo>
                    <a:lnTo>
                      <a:pt x="196" y="169"/>
                    </a:lnTo>
                    <a:lnTo>
                      <a:pt x="193" y="164"/>
                    </a:lnTo>
                    <a:lnTo>
                      <a:pt x="189" y="161"/>
                    </a:lnTo>
                    <a:lnTo>
                      <a:pt x="186" y="157"/>
                    </a:lnTo>
                    <a:lnTo>
                      <a:pt x="180" y="155"/>
                    </a:lnTo>
                    <a:lnTo>
                      <a:pt x="175" y="152"/>
                    </a:lnTo>
                    <a:lnTo>
                      <a:pt x="170" y="150"/>
                    </a:lnTo>
                    <a:lnTo>
                      <a:pt x="163" y="148"/>
                    </a:lnTo>
                    <a:lnTo>
                      <a:pt x="158" y="148"/>
                    </a:lnTo>
                    <a:lnTo>
                      <a:pt x="151" y="147"/>
                    </a:lnTo>
                    <a:lnTo>
                      <a:pt x="145" y="145"/>
                    </a:lnTo>
                    <a:lnTo>
                      <a:pt x="140" y="143"/>
                    </a:lnTo>
                    <a:lnTo>
                      <a:pt x="135" y="143"/>
                    </a:lnTo>
                    <a:lnTo>
                      <a:pt x="130" y="143"/>
                    </a:lnTo>
                    <a:lnTo>
                      <a:pt x="126" y="141"/>
                    </a:lnTo>
                    <a:lnTo>
                      <a:pt x="123" y="141"/>
                    </a:lnTo>
                    <a:lnTo>
                      <a:pt x="121" y="141"/>
                    </a:lnTo>
                    <a:lnTo>
                      <a:pt x="117" y="136"/>
                    </a:lnTo>
                    <a:lnTo>
                      <a:pt x="114" y="134"/>
                    </a:lnTo>
                    <a:lnTo>
                      <a:pt x="109" y="129"/>
                    </a:lnTo>
                    <a:lnTo>
                      <a:pt x="105" y="126"/>
                    </a:lnTo>
                    <a:lnTo>
                      <a:pt x="102" y="120"/>
                    </a:lnTo>
                    <a:lnTo>
                      <a:pt x="100" y="115"/>
                    </a:lnTo>
                    <a:lnTo>
                      <a:pt x="98" y="110"/>
                    </a:lnTo>
                    <a:lnTo>
                      <a:pt x="100" y="105"/>
                    </a:lnTo>
                    <a:lnTo>
                      <a:pt x="98" y="101"/>
                    </a:lnTo>
                    <a:lnTo>
                      <a:pt x="96" y="96"/>
                    </a:lnTo>
                    <a:lnTo>
                      <a:pt x="96" y="92"/>
                    </a:lnTo>
                    <a:lnTo>
                      <a:pt x="95" y="89"/>
                    </a:lnTo>
                    <a:lnTo>
                      <a:pt x="95" y="85"/>
                    </a:lnTo>
                    <a:lnTo>
                      <a:pt x="95" y="82"/>
                    </a:lnTo>
                    <a:lnTo>
                      <a:pt x="93" y="78"/>
                    </a:lnTo>
                    <a:lnTo>
                      <a:pt x="91" y="75"/>
                    </a:lnTo>
                    <a:lnTo>
                      <a:pt x="89" y="70"/>
                    </a:lnTo>
                    <a:lnTo>
                      <a:pt x="88" y="66"/>
                    </a:lnTo>
                    <a:lnTo>
                      <a:pt x="86" y="61"/>
                    </a:lnTo>
                    <a:lnTo>
                      <a:pt x="84" y="57"/>
                    </a:lnTo>
                    <a:lnTo>
                      <a:pt x="82" y="52"/>
                    </a:lnTo>
                    <a:lnTo>
                      <a:pt x="81" y="49"/>
                    </a:lnTo>
                    <a:lnTo>
                      <a:pt x="79" y="44"/>
                    </a:lnTo>
                    <a:lnTo>
                      <a:pt x="77" y="38"/>
                    </a:lnTo>
                    <a:lnTo>
                      <a:pt x="74" y="33"/>
                    </a:lnTo>
                    <a:lnTo>
                      <a:pt x="72" y="30"/>
                    </a:lnTo>
                    <a:lnTo>
                      <a:pt x="70" y="26"/>
                    </a:lnTo>
                    <a:lnTo>
                      <a:pt x="67" y="23"/>
                    </a:lnTo>
                    <a:lnTo>
                      <a:pt x="65" y="17"/>
                    </a:lnTo>
                    <a:lnTo>
                      <a:pt x="63" y="16"/>
                    </a:lnTo>
                    <a:lnTo>
                      <a:pt x="58" y="9"/>
                    </a:lnTo>
                    <a:lnTo>
                      <a:pt x="54" y="3"/>
                    </a:lnTo>
                    <a:lnTo>
                      <a:pt x="49" y="2"/>
                    </a:lnTo>
                    <a:lnTo>
                      <a:pt x="46" y="0"/>
                    </a:lnTo>
                    <a:lnTo>
                      <a:pt x="40" y="0"/>
                    </a:lnTo>
                    <a:lnTo>
                      <a:pt x="37" y="0"/>
                    </a:lnTo>
                    <a:lnTo>
                      <a:pt x="32" y="2"/>
                    </a:lnTo>
                    <a:lnTo>
                      <a:pt x="28" y="5"/>
                    </a:lnTo>
                    <a:lnTo>
                      <a:pt x="23" y="9"/>
                    </a:lnTo>
                    <a:lnTo>
                      <a:pt x="19" y="14"/>
                    </a:lnTo>
                    <a:lnTo>
                      <a:pt x="16" y="19"/>
                    </a:lnTo>
                    <a:lnTo>
                      <a:pt x="12" y="24"/>
                    </a:lnTo>
                    <a:lnTo>
                      <a:pt x="9" y="30"/>
                    </a:lnTo>
                    <a:lnTo>
                      <a:pt x="5" y="37"/>
                    </a:lnTo>
                    <a:lnTo>
                      <a:pt x="4" y="42"/>
                    </a:lnTo>
                    <a:lnTo>
                      <a:pt x="2" y="49"/>
                    </a:lnTo>
                    <a:lnTo>
                      <a:pt x="0" y="56"/>
                    </a:lnTo>
                    <a:lnTo>
                      <a:pt x="0" y="63"/>
                    </a:lnTo>
                    <a:lnTo>
                      <a:pt x="0" y="68"/>
                    </a:lnTo>
                    <a:lnTo>
                      <a:pt x="2" y="73"/>
                    </a:lnTo>
                    <a:lnTo>
                      <a:pt x="5" y="78"/>
                    </a:lnTo>
                    <a:lnTo>
                      <a:pt x="7" y="85"/>
                    </a:lnTo>
                    <a:lnTo>
                      <a:pt x="9" y="87"/>
                    </a:lnTo>
                    <a:lnTo>
                      <a:pt x="11" y="91"/>
                    </a:lnTo>
                    <a:lnTo>
                      <a:pt x="14" y="94"/>
                    </a:lnTo>
                    <a:lnTo>
                      <a:pt x="18" y="99"/>
                    </a:lnTo>
                    <a:lnTo>
                      <a:pt x="19" y="103"/>
                    </a:lnTo>
                    <a:lnTo>
                      <a:pt x="23" y="106"/>
                    </a:lnTo>
                    <a:lnTo>
                      <a:pt x="25" y="110"/>
                    </a:lnTo>
                    <a:lnTo>
                      <a:pt x="28" y="113"/>
                    </a:lnTo>
                    <a:lnTo>
                      <a:pt x="30" y="119"/>
                    </a:lnTo>
                    <a:lnTo>
                      <a:pt x="35" y="122"/>
                    </a:lnTo>
                    <a:lnTo>
                      <a:pt x="37" y="127"/>
                    </a:lnTo>
                    <a:lnTo>
                      <a:pt x="40" y="131"/>
                    </a:lnTo>
                    <a:lnTo>
                      <a:pt x="44" y="134"/>
                    </a:lnTo>
                    <a:lnTo>
                      <a:pt x="47" y="140"/>
                    </a:lnTo>
                    <a:lnTo>
                      <a:pt x="49" y="143"/>
                    </a:lnTo>
                    <a:lnTo>
                      <a:pt x="53" y="148"/>
                    </a:lnTo>
                    <a:lnTo>
                      <a:pt x="56" y="154"/>
                    </a:lnTo>
                    <a:lnTo>
                      <a:pt x="58" y="157"/>
                    </a:lnTo>
                    <a:lnTo>
                      <a:pt x="60" y="162"/>
                    </a:lnTo>
                    <a:lnTo>
                      <a:pt x="63" y="168"/>
                    </a:lnTo>
                    <a:lnTo>
                      <a:pt x="65" y="171"/>
                    </a:lnTo>
                    <a:lnTo>
                      <a:pt x="68" y="176"/>
                    </a:lnTo>
                    <a:lnTo>
                      <a:pt x="70" y="180"/>
                    </a:lnTo>
                    <a:lnTo>
                      <a:pt x="72" y="185"/>
                    </a:lnTo>
                    <a:lnTo>
                      <a:pt x="74" y="189"/>
                    </a:lnTo>
                    <a:lnTo>
                      <a:pt x="75" y="194"/>
                    </a:lnTo>
                    <a:lnTo>
                      <a:pt x="77" y="197"/>
                    </a:lnTo>
                    <a:lnTo>
                      <a:pt x="79" y="203"/>
                    </a:lnTo>
                    <a:lnTo>
                      <a:pt x="79" y="206"/>
                    </a:lnTo>
                    <a:lnTo>
                      <a:pt x="79" y="211"/>
                    </a:lnTo>
                    <a:lnTo>
                      <a:pt x="81" y="215"/>
                    </a:lnTo>
                    <a:lnTo>
                      <a:pt x="81" y="220"/>
                    </a:lnTo>
                    <a:lnTo>
                      <a:pt x="82" y="224"/>
                    </a:lnTo>
                    <a:lnTo>
                      <a:pt x="84" y="227"/>
                    </a:lnTo>
                    <a:lnTo>
                      <a:pt x="84" y="231"/>
                    </a:lnTo>
                    <a:lnTo>
                      <a:pt x="86" y="236"/>
                    </a:lnTo>
                    <a:lnTo>
                      <a:pt x="88" y="239"/>
                    </a:lnTo>
                    <a:lnTo>
                      <a:pt x="88" y="243"/>
                    </a:lnTo>
                    <a:lnTo>
                      <a:pt x="89" y="246"/>
                    </a:lnTo>
                    <a:lnTo>
                      <a:pt x="91" y="250"/>
                    </a:lnTo>
                    <a:lnTo>
                      <a:pt x="95" y="255"/>
                    </a:lnTo>
                    <a:lnTo>
                      <a:pt x="98" y="262"/>
                    </a:lnTo>
                    <a:lnTo>
                      <a:pt x="100" y="267"/>
                    </a:lnTo>
                    <a:lnTo>
                      <a:pt x="103" y="274"/>
                    </a:lnTo>
                    <a:lnTo>
                      <a:pt x="107" y="278"/>
                    </a:lnTo>
                    <a:lnTo>
                      <a:pt x="110" y="283"/>
                    </a:lnTo>
                    <a:lnTo>
                      <a:pt x="114" y="287"/>
                    </a:lnTo>
                    <a:lnTo>
                      <a:pt x="117" y="292"/>
                    </a:lnTo>
                    <a:lnTo>
                      <a:pt x="121" y="295"/>
                    </a:lnTo>
                    <a:lnTo>
                      <a:pt x="124" y="297"/>
                    </a:lnTo>
                    <a:lnTo>
                      <a:pt x="128" y="301"/>
                    </a:lnTo>
                    <a:lnTo>
                      <a:pt x="131" y="302"/>
                    </a:lnTo>
                    <a:lnTo>
                      <a:pt x="137" y="302"/>
                    </a:lnTo>
                    <a:lnTo>
                      <a:pt x="142" y="304"/>
                    </a:lnTo>
                    <a:lnTo>
                      <a:pt x="145" y="306"/>
                    </a:lnTo>
                    <a:lnTo>
                      <a:pt x="151" y="306"/>
                    </a:lnTo>
                    <a:lnTo>
                      <a:pt x="158" y="308"/>
                    </a:lnTo>
                    <a:lnTo>
                      <a:pt x="163" y="308"/>
                    </a:lnTo>
                    <a:lnTo>
                      <a:pt x="170" y="308"/>
                    </a:lnTo>
                    <a:lnTo>
                      <a:pt x="175" y="308"/>
                    </a:lnTo>
                    <a:lnTo>
                      <a:pt x="182" y="306"/>
                    </a:lnTo>
                    <a:lnTo>
                      <a:pt x="189" y="306"/>
                    </a:lnTo>
                    <a:lnTo>
                      <a:pt x="193" y="306"/>
                    </a:lnTo>
                    <a:lnTo>
                      <a:pt x="194" y="304"/>
                    </a:lnTo>
                    <a:lnTo>
                      <a:pt x="200" y="304"/>
                    </a:lnTo>
                    <a:lnTo>
                      <a:pt x="203" y="304"/>
                    </a:lnTo>
                    <a:lnTo>
                      <a:pt x="207" y="304"/>
                    </a:lnTo>
                    <a:lnTo>
                      <a:pt x="210" y="302"/>
                    </a:lnTo>
                    <a:lnTo>
                      <a:pt x="214" y="302"/>
                    </a:lnTo>
                    <a:lnTo>
                      <a:pt x="219" y="3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Freeform 133"/>
              <p:cNvSpPr>
                <a:spLocks/>
              </p:cNvSpPr>
              <p:nvPr/>
            </p:nvSpPr>
            <p:spPr bwMode="auto">
              <a:xfrm flipH="1">
                <a:off x="2156" y="1480"/>
                <a:ext cx="397" cy="464"/>
              </a:xfrm>
              <a:custGeom>
                <a:avLst/>
                <a:gdLst>
                  <a:gd name="T0" fmla="*/ 42 w 397"/>
                  <a:gd name="T1" fmla="*/ 248 h 464"/>
                  <a:gd name="T2" fmla="*/ 53 w 397"/>
                  <a:gd name="T3" fmla="*/ 179 h 464"/>
                  <a:gd name="T4" fmla="*/ 63 w 397"/>
                  <a:gd name="T5" fmla="*/ 89 h 464"/>
                  <a:gd name="T6" fmla="*/ 84 w 397"/>
                  <a:gd name="T7" fmla="*/ 30 h 464"/>
                  <a:gd name="T8" fmla="*/ 117 w 397"/>
                  <a:gd name="T9" fmla="*/ 40 h 464"/>
                  <a:gd name="T10" fmla="*/ 112 w 397"/>
                  <a:gd name="T11" fmla="*/ 96 h 464"/>
                  <a:gd name="T12" fmla="*/ 84 w 397"/>
                  <a:gd name="T13" fmla="*/ 159 h 464"/>
                  <a:gd name="T14" fmla="*/ 98 w 397"/>
                  <a:gd name="T15" fmla="*/ 180 h 464"/>
                  <a:gd name="T16" fmla="*/ 107 w 397"/>
                  <a:gd name="T17" fmla="*/ 233 h 464"/>
                  <a:gd name="T18" fmla="*/ 154 w 397"/>
                  <a:gd name="T19" fmla="*/ 182 h 464"/>
                  <a:gd name="T20" fmla="*/ 179 w 397"/>
                  <a:gd name="T21" fmla="*/ 130 h 464"/>
                  <a:gd name="T22" fmla="*/ 203 w 397"/>
                  <a:gd name="T23" fmla="*/ 75 h 464"/>
                  <a:gd name="T24" fmla="*/ 249 w 397"/>
                  <a:gd name="T25" fmla="*/ 18 h 464"/>
                  <a:gd name="T26" fmla="*/ 273 w 397"/>
                  <a:gd name="T27" fmla="*/ 56 h 464"/>
                  <a:gd name="T28" fmla="*/ 243 w 397"/>
                  <a:gd name="T29" fmla="*/ 130 h 464"/>
                  <a:gd name="T30" fmla="*/ 224 w 397"/>
                  <a:gd name="T31" fmla="*/ 156 h 464"/>
                  <a:gd name="T32" fmla="*/ 212 w 397"/>
                  <a:gd name="T33" fmla="*/ 194 h 464"/>
                  <a:gd name="T34" fmla="*/ 205 w 397"/>
                  <a:gd name="T35" fmla="*/ 268 h 464"/>
                  <a:gd name="T36" fmla="*/ 273 w 397"/>
                  <a:gd name="T37" fmla="*/ 205 h 464"/>
                  <a:gd name="T38" fmla="*/ 338 w 397"/>
                  <a:gd name="T39" fmla="*/ 131 h 464"/>
                  <a:gd name="T40" fmla="*/ 376 w 397"/>
                  <a:gd name="T41" fmla="*/ 147 h 464"/>
                  <a:gd name="T42" fmla="*/ 322 w 397"/>
                  <a:gd name="T43" fmla="*/ 219 h 464"/>
                  <a:gd name="T44" fmla="*/ 259 w 397"/>
                  <a:gd name="T45" fmla="*/ 294 h 464"/>
                  <a:gd name="T46" fmla="*/ 273 w 397"/>
                  <a:gd name="T47" fmla="*/ 325 h 464"/>
                  <a:gd name="T48" fmla="*/ 327 w 397"/>
                  <a:gd name="T49" fmla="*/ 306 h 464"/>
                  <a:gd name="T50" fmla="*/ 383 w 397"/>
                  <a:gd name="T51" fmla="*/ 297 h 464"/>
                  <a:gd name="T52" fmla="*/ 348 w 397"/>
                  <a:gd name="T53" fmla="*/ 348 h 464"/>
                  <a:gd name="T54" fmla="*/ 266 w 397"/>
                  <a:gd name="T55" fmla="*/ 378 h 464"/>
                  <a:gd name="T56" fmla="*/ 193 w 397"/>
                  <a:gd name="T57" fmla="*/ 439 h 464"/>
                  <a:gd name="T58" fmla="*/ 137 w 397"/>
                  <a:gd name="T59" fmla="*/ 457 h 464"/>
                  <a:gd name="T60" fmla="*/ 75 w 397"/>
                  <a:gd name="T61" fmla="*/ 458 h 464"/>
                  <a:gd name="T62" fmla="*/ 130 w 397"/>
                  <a:gd name="T63" fmla="*/ 464 h 464"/>
                  <a:gd name="T64" fmla="*/ 198 w 397"/>
                  <a:gd name="T65" fmla="*/ 446 h 464"/>
                  <a:gd name="T66" fmla="*/ 261 w 397"/>
                  <a:gd name="T67" fmla="*/ 395 h 464"/>
                  <a:gd name="T68" fmla="*/ 331 w 397"/>
                  <a:gd name="T69" fmla="*/ 366 h 464"/>
                  <a:gd name="T70" fmla="*/ 392 w 397"/>
                  <a:gd name="T71" fmla="*/ 317 h 464"/>
                  <a:gd name="T72" fmla="*/ 352 w 397"/>
                  <a:gd name="T73" fmla="*/ 289 h 464"/>
                  <a:gd name="T74" fmla="*/ 285 w 397"/>
                  <a:gd name="T75" fmla="*/ 317 h 464"/>
                  <a:gd name="T76" fmla="*/ 285 w 397"/>
                  <a:gd name="T77" fmla="*/ 280 h 464"/>
                  <a:gd name="T78" fmla="*/ 334 w 397"/>
                  <a:gd name="T79" fmla="*/ 217 h 464"/>
                  <a:gd name="T80" fmla="*/ 382 w 397"/>
                  <a:gd name="T81" fmla="*/ 158 h 464"/>
                  <a:gd name="T82" fmla="*/ 368 w 397"/>
                  <a:gd name="T83" fmla="*/ 102 h 464"/>
                  <a:gd name="T84" fmla="*/ 310 w 397"/>
                  <a:gd name="T85" fmla="*/ 147 h 464"/>
                  <a:gd name="T86" fmla="*/ 238 w 397"/>
                  <a:gd name="T87" fmla="*/ 227 h 464"/>
                  <a:gd name="T88" fmla="*/ 196 w 397"/>
                  <a:gd name="T89" fmla="*/ 243 h 464"/>
                  <a:gd name="T90" fmla="*/ 226 w 397"/>
                  <a:gd name="T91" fmla="*/ 186 h 464"/>
                  <a:gd name="T92" fmla="*/ 266 w 397"/>
                  <a:gd name="T93" fmla="*/ 105 h 464"/>
                  <a:gd name="T94" fmla="*/ 282 w 397"/>
                  <a:gd name="T95" fmla="*/ 40 h 464"/>
                  <a:gd name="T96" fmla="*/ 261 w 397"/>
                  <a:gd name="T97" fmla="*/ 2 h 464"/>
                  <a:gd name="T98" fmla="*/ 212 w 397"/>
                  <a:gd name="T99" fmla="*/ 47 h 464"/>
                  <a:gd name="T100" fmla="*/ 184 w 397"/>
                  <a:gd name="T101" fmla="*/ 105 h 464"/>
                  <a:gd name="T102" fmla="*/ 156 w 397"/>
                  <a:gd name="T103" fmla="*/ 161 h 464"/>
                  <a:gd name="T104" fmla="*/ 119 w 397"/>
                  <a:gd name="T105" fmla="*/ 220 h 464"/>
                  <a:gd name="T106" fmla="*/ 109 w 397"/>
                  <a:gd name="T107" fmla="*/ 180 h 464"/>
                  <a:gd name="T108" fmla="*/ 119 w 397"/>
                  <a:gd name="T109" fmla="*/ 121 h 464"/>
                  <a:gd name="T110" fmla="*/ 128 w 397"/>
                  <a:gd name="T111" fmla="*/ 61 h 464"/>
                  <a:gd name="T112" fmla="*/ 117 w 397"/>
                  <a:gd name="T113" fmla="*/ 7 h 464"/>
                  <a:gd name="T114" fmla="*/ 65 w 397"/>
                  <a:gd name="T115" fmla="*/ 32 h 464"/>
                  <a:gd name="T116" fmla="*/ 47 w 397"/>
                  <a:gd name="T117" fmla="*/ 95 h 464"/>
                  <a:gd name="T118" fmla="*/ 39 w 397"/>
                  <a:gd name="T119" fmla="*/ 175 h 464"/>
                  <a:gd name="T120" fmla="*/ 30 w 397"/>
                  <a:gd name="T121" fmla="*/ 241 h 464"/>
                  <a:gd name="T122" fmla="*/ 0 w 397"/>
                  <a:gd name="T123" fmla="*/ 301 h 4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97"/>
                  <a:gd name="T187" fmla="*/ 0 h 464"/>
                  <a:gd name="T188" fmla="*/ 397 w 397"/>
                  <a:gd name="T189" fmla="*/ 464 h 4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97" h="464">
                    <a:moveTo>
                      <a:pt x="12" y="306"/>
                    </a:moveTo>
                    <a:lnTo>
                      <a:pt x="12" y="304"/>
                    </a:lnTo>
                    <a:lnTo>
                      <a:pt x="14" y="303"/>
                    </a:lnTo>
                    <a:lnTo>
                      <a:pt x="14" y="301"/>
                    </a:lnTo>
                    <a:lnTo>
                      <a:pt x="18" y="297"/>
                    </a:lnTo>
                    <a:lnTo>
                      <a:pt x="19" y="292"/>
                    </a:lnTo>
                    <a:lnTo>
                      <a:pt x="21" y="289"/>
                    </a:lnTo>
                    <a:lnTo>
                      <a:pt x="25" y="283"/>
                    </a:lnTo>
                    <a:lnTo>
                      <a:pt x="28" y="278"/>
                    </a:lnTo>
                    <a:lnTo>
                      <a:pt x="30" y="273"/>
                    </a:lnTo>
                    <a:lnTo>
                      <a:pt x="33" y="266"/>
                    </a:lnTo>
                    <a:lnTo>
                      <a:pt x="37" y="261"/>
                    </a:lnTo>
                    <a:lnTo>
                      <a:pt x="40" y="254"/>
                    </a:lnTo>
                    <a:lnTo>
                      <a:pt x="42" y="248"/>
                    </a:lnTo>
                    <a:lnTo>
                      <a:pt x="44" y="241"/>
                    </a:lnTo>
                    <a:lnTo>
                      <a:pt x="46" y="236"/>
                    </a:lnTo>
                    <a:lnTo>
                      <a:pt x="47" y="231"/>
                    </a:lnTo>
                    <a:lnTo>
                      <a:pt x="47" y="227"/>
                    </a:lnTo>
                    <a:lnTo>
                      <a:pt x="47" y="224"/>
                    </a:lnTo>
                    <a:lnTo>
                      <a:pt x="49" y="220"/>
                    </a:lnTo>
                    <a:lnTo>
                      <a:pt x="49" y="217"/>
                    </a:lnTo>
                    <a:lnTo>
                      <a:pt x="49" y="212"/>
                    </a:lnTo>
                    <a:lnTo>
                      <a:pt x="51" y="207"/>
                    </a:lnTo>
                    <a:lnTo>
                      <a:pt x="51" y="201"/>
                    </a:lnTo>
                    <a:lnTo>
                      <a:pt x="51" y="196"/>
                    </a:lnTo>
                    <a:lnTo>
                      <a:pt x="51" y="189"/>
                    </a:lnTo>
                    <a:lnTo>
                      <a:pt x="53" y="184"/>
                    </a:lnTo>
                    <a:lnTo>
                      <a:pt x="53" y="179"/>
                    </a:lnTo>
                    <a:lnTo>
                      <a:pt x="54" y="172"/>
                    </a:lnTo>
                    <a:lnTo>
                      <a:pt x="54" y="165"/>
                    </a:lnTo>
                    <a:lnTo>
                      <a:pt x="54" y="158"/>
                    </a:lnTo>
                    <a:lnTo>
                      <a:pt x="54" y="152"/>
                    </a:lnTo>
                    <a:lnTo>
                      <a:pt x="56" y="145"/>
                    </a:lnTo>
                    <a:lnTo>
                      <a:pt x="56" y="138"/>
                    </a:lnTo>
                    <a:lnTo>
                      <a:pt x="58" y="131"/>
                    </a:lnTo>
                    <a:lnTo>
                      <a:pt x="58" y="124"/>
                    </a:lnTo>
                    <a:lnTo>
                      <a:pt x="60" y="119"/>
                    </a:lnTo>
                    <a:lnTo>
                      <a:pt x="60" y="112"/>
                    </a:lnTo>
                    <a:lnTo>
                      <a:pt x="60" y="107"/>
                    </a:lnTo>
                    <a:lnTo>
                      <a:pt x="61" y="100"/>
                    </a:lnTo>
                    <a:lnTo>
                      <a:pt x="61" y="95"/>
                    </a:lnTo>
                    <a:lnTo>
                      <a:pt x="63" y="89"/>
                    </a:lnTo>
                    <a:lnTo>
                      <a:pt x="63" y="84"/>
                    </a:lnTo>
                    <a:lnTo>
                      <a:pt x="63" y="79"/>
                    </a:lnTo>
                    <a:lnTo>
                      <a:pt x="65" y="75"/>
                    </a:lnTo>
                    <a:lnTo>
                      <a:pt x="67" y="72"/>
                    </a:lnTo>
                    <a:lnTo>
                      <a:pt x="67" y="67"/>
                    </a:lnTo>
                    <a:lnTo>
                      <a:pt x="68" y="65"/>
                    </a:lnTo>
                    <a:lnTo>
                      <a:pt x="68" y="61"/>
                    </a:lnTo>
                    <a:lnTo>
                      <a:pt x="70" y="58"/>
                    </a:lnTo>
                    <a:lnTo>
                      <a:pt x="72" y="53"/>
                    </a:lnTo>
                    <a:lnTo>
                      <a:pt x="74" y="47"/>
                    </a:lnTo>
                    <a:lnTo>
                      <a:pt x="77" y="42"/>
                    </a:lnTo>
                    <a:lnTo>
                      <a:pt x="79" y="39"/>
                    </a:lnTo>
                    <a:lnTo>
                      <a:pt x="81" y="33"/>
                    </a:lnTo>
                    <a:lnTo>
                      <a:pt x="84" y="30"/>
                    </a:lnTo>
                    <a:lnTo>
                      <a:pt x="88" y="26"/>
                    </a:lnTo>
                    <a:lnTo>
                      <a:pt x="89" y="23"/>
                    </a:lnTo>
                    <a:lnTo>
                      <a:pt x="93" y="19"/>
                    </a:lnTo>
                    <a:lnTo>
                      <a:pt x="95" y="18"/>
                    </a:lnTo>
                    <a:lnTo>
                      <a:pt x="98" y="16"/>
                    </a:lnTo>
                    <a:lnTo>
                      <a:pt x="103" y="14"/>
                    </a:lnTo>
                    <a:lnTo>
                      <a:pt x="110" y="16"/>
                    </a:lnTo>
                    <a:lnTo>
                      <a:pt x="112" y="18"/>
                    </a:lnTo>
                    <a:lnTo>
                      <a:pt x="114" y="21"/>
                    </a:lnTo>
                    <a:lnTo>
                      <a:pt x="116" y="25"/>
                    </a:lnTo>
                    <a:lnTo>
                      <a:pt x="117" y="32"/>
                    </a:lnTo>
                    <a:lnTo>
                      <a:pt x="117" y="33"/>
                    </a:lnTo>
                    <a:lnTo>
                      <a:pt x="117" y="37"/>
                    </a:lnTo>
                    <a:lnTo>
                      <a:pt x="117" y="40"/>
                    </a:lnTo>
                    <a:lnTo>
                      <a:pt x="117" y="44"/>
                    </a:lnTo>
                    <a:lnTo>
                      <a:pt x="117" y="47"/>
                    </a:lnTo>
                    <a:lnTo>
                      <a:pt x="117" y="51"/>
                    </a:lnTo>
                    <a:lnTo>
                      <a:pt x="117" y="54"/>
                    </a:lnTo>
                    <a:lnTo>
                      <a:pt x="117" y="60"/>
                    </a:lnTo>
                    <a:lnTo>
                      <a:pt x="116" y="63"/>
                    </a:lnTo>
                    <a:lnTo>
                      <a:pt x="116" y="67"/>
                    </a:lnTo>
                    <a:lnTo>
                      <a:pt x="116" y="70"/>
                    </a:lnTo>
                    <a:lnTo>
                      <a:pt x="116" y="74"/>
                    </a:lnTo>
                    <a:lnTo>
                      <a:pt x="114" y="79"/>
                    </a:lnTo>
                    <a:lnTo>
                      <a:pt x="114" y="82"/>
                    </a:lnTo>
                    <a:lnTo>
                      <a:pt x="114" y="86"/>
                    </a:lnTo>
                    <a:lnTo>
                      <a:pt x="114" y="89"/>
                    </a:lnTo>
                    <a:lnTo>
                      <a:pt x="112" y="96"/>
                    </a:lnTo>
                    <a:lnTo>
                      <a:pt x="112" y="102"/>
                    </a:lnTo>
                    <a:lnTo>
                      <a:pt x="110" y="107"/>
                    </a:lnTo>
                    <a:lnTo>
                      <a:pt x="110" y="112"/>
                    </a:lnTo>
                    <a:lnTo>
                      <a:pt x="109" y="116"/>
                    </a:lnTo>
                    <a:lnTo>
                      <a:pt x="107" y="119"/>
                    </a:lnTo>
                    <a:lnTo>
                      <a:pt x="105" y="124"/>
                    </a:lnTo>
                    <a:lnTo>
                      <a:pt x="103" y="128"/>
                    </a:lnTo>
                    <a:lnTo>
                      <a:pt x="102" y="131"/>
                    </a:lnTo>
                    <a:lnTo>
                      <a:pt x="98" y="137"/>
                    </a:lnTo>
                    <a:lnTo>
                      <a:pt x="96" y="140"/>
                    </a:lnTo>
                    <a:lnTo>
                      <a:pt x="95" y="145"/>
                    </a:lnTo>
                    <a:lnTo>
                      <a:pt x="89" y="151"/>
                    </a:lnTo>
                    <a:lnTo>
                      <a:pt x="86" y="156"/>
                    </a:lnTo>
                    <a:lnTo>
                      <a:pt x="84" y="159"/>
                    </a:lnTo>
                    <a:lnTo>
                      <a:pt x="88" y="159"/>
                    </a:lnTo>
                    <a:lnTo>
                      <a:pt x="91" y="156"/>
                    </a:lnTo>
                    <a:lnTo>
                      <a:pt x="96" y="151"/>
                    </a:lnTo>
                    <a:lnTo>
                      <a:pt x="102" y="145"/>
                    </a:lnTo>
                    <a:lnTo>
                      <a:pt x="103" y="144"/>
                    </a:lnTo>
                    <a:lnTo>
                      <a:pt x="102" y="145"/>
                    </a:lnTo>
                    <a:lnTo>
                      <a:pt x="102" y="149"/>
                    </a:lnTo>
                    <a:lnTo>
                      <a:pt x="102" y="154"/>
                    </a:lnTo>
                    <a:lnTo>
                      <a:pt x="100" y="159"/>
                    </a:lnTo>
                    <a:lnTo>
                      <a:pt x="100" y="166"/>
                    </a:lnTo>
                    <a:lnTo>
                      <a:pt x="98" y="170"/>
                    </a:lnTo>
                    <a:lnTo>
                      <a:pt x="98" y="172"/>
                    </a:lnTo>
                    <a:lnTo>
                      <a:pt x="98" y="177"/>
                    </a:lnTo>
                    <a:lnTo>
                      <a:pt x="98" y="180"/>
                    </a:lnTo>
                    <a:lnTo>
                      <a:pt x="96" y="184"/>
                    </a:lnTo>
                    <a:lnTo>
                      <a:pt x="96" y="187"/>
                    </a:lnTo>
                    <a:lnTo>
                      <a:pt x="96" y="189"/>
                    </a:lnTo>
                    <a:lnTo>
                      <a:pt x="96" y="194"/>
                    </a:lnTo>
                    <a:lnTo>
                      <a:pt x="96" y="198"/>
                    </a:lnTo>
                    <a:lnTo>
                      <a:pt x="96" y="201"/>
                    </a:lnTo>
                    <a:lnTo>
                      <a:pt x="96" y="205"/>
                    </a:lnTo>
                    <a:lnTo>
                      <a:pt x="96" y="208"/>
                    </a:lnTo>
                    <a:lnTo>
                      <a:pt x="96" y="213"/>
                    </a:lnTo>
                    <a:lnTo>
                      <a:pt x="96" y="219"/>
                    </a:lnTo>
                    <a:lnTo>
                      <a:pt x="98" y="222"/>
                    </a:lnTo>
                    <a:lnTo>
                      <a:pt x="100" y="227"/>
                    </a:lnTo>
                    <a:lnTo>
                      <a:pt x="103" y="231"/>
                    </a:lnTo>
                    <a:lnTo>
                      <a:pt x="107" y="233"/>
                    </a:lnTo>
                    <a:lnTo>
                      <a:pt x="110" y="234"/>
                    </a:lnTo>
                    <a:lnTo>
                      <a:pt x="114" y="234"/>
                    </a:lnTo>
                    <a:lnTo>
                      <a:pt x="117" y="231"/>
                    </a:lnTo>
                    <a:lnTo>
                      <a:pt x="124" y="227"/>
                    </a:lnTo>
                    <a:lnTo>
                      <a:pt x="130" y="224"/>
                    </a:lnTo>
                    <a:lnTo>
                      <a:pt x="137" y="219"/>
                    </a:lnTo>
                    <a:lnTo>
                      <a:pt x="137" y="215"/>
                    </a:lnTo>
                    <a:lnTo>
                      <a:pt x="138" y="212"/>
                    </a:lnTo>
                    <a:lnTo>
                      <a:pt x="140" y="208"/>
                    </a:lnTo>
                    <a:lnTo>
                      <a:pt x="144" y="205"/>
                    </a:lnTo>
                    <a:lnTo>
                      <a:pt x="145" y="200"/>
                    </a:lnTo>
                    <a:lnTo>
                      <a:pt x="149" y="194"/>
                    </a:lnTo>
                    <a:lnTo>
                      <a:pt x="151" y="187"/>
                    </a:lnTo>
                    <a:lnTo>
                      <a:pt x="154" y="182"/>
                    </a:lnTo>
                    <a:lnTo>
                      <a:pt x="156" y="179"/>
                    </a:lnTo>
                    <a:lnTo>
                      <a:pt x="158" y="175"/>
                    </a:lnTo>
                    <a:lnTo>
                      <a:pt x="159" y="172"/>
                    </a:lnTo>
                    <a:lnTo>
                      <a:pt x="161" y="168"/>
                    </a:lnTo>
                    <a:lnTo>
                      <a:pt x="163" y="165"/>
                    </a:lnTo>
                    <a:lnTo>
                      <a:pt x="165" y="161"/>
                    </a:lnTo>
                    <a:lnTo>
                      <a:pt x="166" y="158"/>
                    </a:lnTo>
                    <a:lnTo>
                      <a:pt x="168" y="154"/>
                    </a:lnTo>
                    <a:lnTo>
                      <a:pt x="170" y="149"/>
                    </a:lnTo>
                    <a:lnTo>
                      <a:pt x="172" y="145"/>
                    </a:lnTo>
                    <a:lnTo>
                      <a:pt x="173" y="142"/>
                    </a:lnTo>
                    <a:lnTo>
                      <a:pt x="175" y="138"/>
                    </a:lnTo>
                    <a:lnTo>
                      <a:pt x="177" y="133"/>
                    </a:lnTo>
                    <a:lnTo>
                      <a:pt x="179" y="130"/>
                    </a:lnTo>
                    <a:lnTo>
                      <a:pt x="180" y="126"/>
                    </a:lnTo>
                    <a:lnTo>
                      <a:pt x="182" y="123"/>
                    </a:lnTo>
                    <a:lnTo>
                      <a:pt x="184" y="117"/>
                    </a:lnTo>
                    <a:lnTo>
                      <a:pt x="186" y="114"/>
                    </a:lnTo>
                    <a:lnTo>
                      <a:pt x="187" y="110"/>
                    </a:lnTo>
                    <a:lnTo>
                      <a:pt x="189" y="107"/>
                    </a:lnTo>
                    <a:lnTo>
                      <a:pt x="191" y="102"/>
                    </a:lnTo>
                    <a:lnTo>
                      <a:pt x="193" y="98"/>
                    </a:lnTo>
                    <a:lnTo>
                      <a:pt x="194" y="95"/>
                    </a:lnTo>
                    <a:lnTo>
                      <a:pt x="196" y="91"/>
                    </a:lnTo>
                    <a:lnTo>
                      <a:pt x="198" y="88"/>
                    </a:lnTo>
                    <a:lnTo>
                      <a:pt x="200" y="82"/>
                    </a:lnTo>
                    <a:lnTo>
                      <a:pt x="201" y="79"/>
                    </a:lnTo>
                    <a:lnTo>
                      <a:pt x="203" y="75"/>
                    </a:lnTo>
                    <a:lnTo>
                      <a:pt x="207" y="68"/>
                    </a:lnTo>
                    <a:lnTo>
                      <a:pt x="210" y="63"/>
                    </a:lnTo>
                    <a:lnTo>
                      <a:pt x="212" y="56"/>
                    </a:lnTo>
                    <a:lnTo>
                      <a:pt x="215" y="51"/>
                    </a:lnTo>
                    <a:lnTo>
                      <a:pt x="217" y="46"/>
                    </a:lnTo>
                    <a:lnTo>
                      <a:pt x="221" y="42"/>
                    </a:lnTo>
                    <a:lnTo>
                      <a:pt x="222" y="37"/>
                    </a:lnTo>
                    <a:lnTo>
                      <a:pt x="226" y="33"/>
                    </a:lnTo>
                    <a:lnTo>
                      <a:pt x="228" y="32"/>
                    </a:lnTo>
                    <a:lnTo>
                      <a:pt x="229" y="32"/>
                    </a:lnTo>
                    <a:lnTo>
                      <a:pt x="235" y="25"/>
                    </a:lnTo>
                    <a:lnTo>
                      <a:pt x="242" y="21"/>
                    </a:lnTo>
                    <a:lnTo>
                      <a:pt x="245" y="19"/>
                    </a:lnTo>
                    <a:lnTo>
                      <a:pt x="249" y="18"/>
                    </a:lnTo>
                    <a:lnTo>
                      <a:pt x="252" y="16"/>
                    </a:lnTo>
                    <a:lnTo>
                      <a:pt x="256" y="16"/>
                    </a:lnTo>
                    <a:lnTo>
                      <a:pt x="261" y="14"/>
                    </a:lnTo>
                    <a:lnTo>
                      <a:pt x="268" y="16"/>
                    </a:lnTo>
                    <a:lnTo>
                      <a:pt x="270" y="18"/>
                    </a:lnTo>
                    <a:lnTo>
                      <a:pt x="273" y="19"/>
                    </a:lnTo>
                    <a:lnTo>
                      <a:pt x="275" y="23"/>
                    </a:lnTo>
                    <a:lnTo>
                      <a:pt x="277" y="26"/>
                    </a:lnTo>
                    <a:lnTo>
                      <a:pt x="277" y="30"/>
                    </a:lnTo>
                    <a:lnTo>
                      <a:pt x="277" y="33"/>
                    </a:lnTo>
                    <a:lnTo>
                      <a:pt x="277" y="39"/>
                    </a:lnTo>
                    <a:lnTo>
                      <a:pt x="277" y="44"/>
                    </a:lnTo>
                    <a:lnTo>
                      <a:pt x="275" y="51"/>
                    </a:lnTo>
                    <a:lnTo>
                      <a:pt x="273" y="56"/>
                    </a:lnTo>
                    <a:lnTo>
                      <a:pt x="271" y="61"/>
                    </a:lnTo>
                    <a:lnTo>
                      <a:pt x="270" y="68"/>
                    </a:lnTo>
                    <a:lnTo>
                      <a:pt x="268" y="74"/>
                    </a:lnTo>
                    <a:lnTo>
                      <a:pt x="264" y="79"/>
                    </a:lnTo>
                    <a:lnTo>
                      <a:pt x="263" y="84"/>
                    </a:lnTo>
                    <a:lnTo>
                      <a:pt x="261" y="91"/>
                    </a:lnTo>
                    <a:lnTo>
                      <a:pt x="259" y="96"/>
                    </a:lnTo>
                    <a:lnTo>
                      <a:pt x="256" y="102"/>
                    </a:lnTo>
                    <a:lnTo>
                      <a:pt x="254" y="107"/>
                    </a:lnTo>
                    <a:lnTo>
                      <a:pt x="254" y="112"/>
                    </a:lnTo>
                    <a:lnTo>
                      <a:pt x="252" y="116"/>
                    </a:lnTo>
                    <a:lnTo>
                      <a:pt x="249" y="121"/>
                    </a:lnTo>
                    <a:lnTo>
                      <a:pt x="247" y="124"/>
                    </a:lnTo>
                    <a:lnTo>
                      <a:pt x="243" y="130"/>
                    </a:lnTo>
                    <a:lnTo>
                      <a:pt x="240" y="133"/>
                    </a:lnTo>
                    <a:lnTo>
                      <a:pt x="235" y="138"/>
                    </a:lnTo>
                    <a:lnTo>
                      <a:pt x="231" y="142"/>
                    </a:lnTo>
                    <a:lnTo>
                      <a:pt x="228" y="145"/>
                    </a:lnTo>
                    <a:lnTo>
                      <a:pt x="224" y="149"/>
                    </a:lnTo>
                    <a:lnTo>
                      <a:pt x="221" y="151"/>
                    </a:lnTo>
                    <a:lnTo>
                      <a:pt x="217" y="154"/>
                    </a:lnTo>
                    <a:lnTo>
                      <a:pt x="215" y="158"/>
                    </a:lnTo>
                    <a:lnTo>
                      <a:pt x="210" y="159"/>
                    </a:lnTo>
                    <a:lnTo>
                      <a:pt x="212" y="161"/>
                    </a:lnTo>
                    <a:lnTo>
                      <a:pt x="214" y="159"/>
                    </a:lnTo>
                    <a:lnTo>
                      <a:pt x="217" y="158"/>
                    </a:lnTo>
                    <a:lnTo>
                      <a:pt x="221" y="156"/>
                    </a:lnTo>
                    <a:lnTo>
                      <a:pt x="224" y="156"/>
                    </a:lnTo>
                    <a:lnTo>
                      <a:pt x="228" y="152"/>
                    </a:lnTo>
                    <a:lnTo>
                      <a:pt x="231" y="152"/>
                    </a:lnTo>
                    <a:lnTo>
                      <a:pt x="233" y="152"/>
                    </a:lnTo>
                    <a:lnTo>
                      <a:pt x="235" y="156"/>
                    </a:lnTo>
                    <a:lnTo>
                      <a:pt x="233" y="158"/>
                    </a:lnTo>
                    <a:lnTo>
                      <a:pt x="231" y="159"/>
                    </a:lnTo>
                    <a:lnTo>
                      <a:pt x="229" y="165"/>
                    </a:lnTo>
                    <a:lnTo>
                      <a:pt x="226" y="170"/>
                    </a:lnTo>
                    <a:lnTo>
                      <a:pt x="222" y="173"/>
                    </a:lnTo>
                    <a:lnTo>
                      <a:pt x="219" y="180"/>
                    </a:lnTo>
                    <a:lnTo>
                      <a:pt x="217" y="184"/>
                    </a:lnTo>
                    <a:lnTo>
                      <a:pt x="215" y="187"/>
                    </a:lnTo>
                    <a:lnTo>
                      <a:pt x="214" y="191"/>
                    </a:lnTo>
                    <a:lnTo>
                      <a:pt x="212" y="194"/>
                    </a:lnTo>
                    <a:lnTo>
                      <a:pt x="207" y="201"/>
                    </a:lnTo>
                    <a:lnTo>
                      <a:pt x="203" y="208"/>
                    </a:lnTo>
                    <a:lnTo>
                      <a:pt x="198" y="213"/>
                    </a:lnTo>
                    <a:lnTo>
                      <a:pt x="196" y="220"/>
                    </a:lnTo>
                    <a:lnTo>
                      <a:pt x="191" y="227"/>
                    </a:lnTo>
                    <a:lnTo>
                      <a:pt x="189" y="233"/>
                    </a:lnTo>
                    <a:lnTo>
                      <a:pt x="187" y="236"/>
                    </a:lnTo>
                    <a:lnTo>
                      <a:pt x="187" y="241"/>
                    </a:lnTo>
                    <a:lnTo>
                      <a:pt x="187" y="247"/>
                    </a:lnTo>
                    <a:lnTo>
                      <a:pt x="189" y="254"/>
                    </a:lnTo>
                    <a:lnTo>
                      <a:pt x="191" y="257"/>
                    </a:lnTo>
                    <a:lnTo>
                      <a:pt x="196" y="262"/>
                    </a:lnTo>
                    <a:lnTo>
                      <a:pt x="200" y="264"/>
                    </a:lnTo>
                    <a:lnTo>
                      <a:pt x="205" y="268"/>
                    </a:lnTo>
                    <a:lnTo>
                      <a:pt x="210" y="268"/>
                    </a:lnTo>
                    <a:lnTo>
                      <a:pt x="215" y="268"/>
                    </a:lnTo>
                    <a:lnTo>
                      <a:pt x="219" y="264"/>
                    </a:lnTo>
                    <a:lnTo>
                      <a:pt x="224" y="259"/>
                    </a:lnTo>
                    <a:lnTo>
                      <a:pt x="228" y="255"/>
                    </a:lnTo>
                    <a:lnTo>
                      <a:pt x="231" y="250"/>
                    </a:lnTo>
                    <a:lnTo>
                      <a:pt x="235" y="245"/>
                    </a:lnTo>
                    <a:lnTo>
                      <a:pt x="240" y="241"/>
                    </a:lnTo>
                    <a:lnTo>
                      <a:pt x="245" y="236"/>
                    </a:lnTo>
                    <a:lnTo>
                      <a:pt x="249" y="229"/>
                    </a:lnTo>
                    <a:lnTo>
                      <a:pt x="256" y="224"/>
                    </a:lnTo>
                    <a:lnTo>
                      <a:pt x="261" y="217"/>
                    </a:lnTo>
                    <a:lnTo>
                      <a:pt x="266" y="210"/>
                    </a:lnTo>
                    <a:lnTo>
                      <a:pt x="273" y="205"/>
                    </a:lnTo>
                    <a:lnTo>
                      <a:pt x="278" y="198"/>
                    </a:lnTo>
                    <a:lnTo>
                      <a:pt x="284" y="191"/>
                    </a:lnTo>
                    <a:lnTo>
                      <a:pt x="287" y="187"/>
                    </a:lnTo>
                    <a:lnTo>
                      <a:pt x="291" y="184"/>
                    </a:lnTo>
                    <a:lnTo>
                      <a:pt x="292" y="180"/>
                    </a:lnTo>
                    <a:lnTo>
                      <a:pt x="296" y="177"/>
                    </a:lnTo>
                    <a:lnTo>
                      <a:pt x="301" y="170"/>
                    </a:lnTo>
                    <a:lnTo>
                      <a:pt x="308" y="165"/>
                    </a:lnTo>
                    <a:lnTo>
                      <a:pt x="312" y="158"/>
                    </a:lnTo>
                    <a:lnTo>
                      <a:pt x="319" y="151"/>
                    </a:lnTo>
                    <a:lnTo>
                      <a:pt x="324" y="145"/>
                    </a:lnTo>
                    <a:lnTo>
                      <a:pt x="329" y="140"/>
                    </a:lnTo>
                    <a:lnTo>
                      <a:pt x="333" y="135"/>
                    </a:lnTo>
                    <a:lnTo>
                      <a:pt x="338" y="131"/>
                    </a:lnTo>
                    <a:lnTo>
                      <a:pt x="341" y="128"/>
                    </a:lnTo>
                    <a:lnTo>
                      <a:pt x="345" y="124"/>
                    </a:lnTo>
                    <a:lnTo>
                      <a:pt x="350" y="121"/>
                    </a:lnTo>
                    <a:lnTo>
                      <a:pt x="355" y="119"/>
                    </a:lnTo>
                    <a:lnTo>
                      <a:pt x="359" y="119"/>
                    </a:lnTo>
                    <a:lnTo>
                      <a:pt x="364" y="119"/>
                    </a:lnTo>
                    <a:lnTo>
                      <a:pt x="368" y="121"/>
                    </a:lnTo>
                    <a:lnTo>
                      <a:pt x="371" y="124"/>
                    </a:lnTo>
                    <a:lnTo>
                      <a:pt x="373" y="128"/>
                    </a:lnTo>
                    <a:lnTo>
                      <a:pt x="375" y="131"/>
                    </a:lnTo>
                    <a:lnTo>
                      <a:pt x="375" y="135"/>
                    </a:lnTo>
                    <a:lnTo>
                      <a:pt x="376" y="138"/>
                    </a:lnTo>
                    <a:lnTo>
                      <a:pt x="376" y="142"/>
                    </a:lnTo>
                    <a:lnTo>
                      <a:pt x="376" y="147"/>
                    </a:lnTo>
                    <a:lnTo>
                      <a:pt x="375" y="149"/>
                    </a:lnTo>
                    <a:lnTo>
                      <a:pt x="373" y="152"/>
                    </a:lnTo>
                    <a:lnTo>
                      <a:pt x="371" y="156"/>
                    </a:lnTo>
                    <a:lnTo>
                      <a:pt x="369" y="159"/>
                    </a:lnTo>
                    <a:lnTo>
                      <a:pt x="364" y="163"/>
                    </a:lnTo>
                    <a:lnTo>
                      <a:pt x="362" y="168"/>
                    </a:lnTo>
                    <a:lnTo>
                      <a:pt x="359" y="173"/>
                    </a:lnTo>
                    <a:lnTo>
                      <a:pt x="354" y="180"/>
                    </a:lnTo>
                    <a:lnTo>
                      <a:pt x="348" y="186"/>
                    </a:lnTo>
                    <a:lnTo>
                      <a:pt x="345" y="193"/>
                    </a:lnTo>
                    <a:lnTo>
                      <a:pt x="338" y="198"/>
                    </a:lnTo>
                    <a:lnTo>
                      <a:pt x="333" y="205"/>
                    </a:lnTo>
                    <a:lnTo>
                      <a:pt x="327" y="212"/>
                    </a:lnTo>
                    <a:lnTo>
                      <a:pt x="322" y="219"/>
                    </a:lnTo>
                    <a:lnTo>
                      <a:pt x="319" y="222"/>
                    </a:lnTo>
                    <a:lnTo>
                      <a:pt x="317" y="226"/>
                    </a:lnTo>
                    <a:lnTo>
                      <a:pt x="313" y="229"/>
                    </a:lnTo>
                    <a:lnTo>
                      <a:pt x="310" y="233"/>
                    </a:lnTo>
                    <a:lnTo>
                      <a:pt x="305" y="240"/>
                    </a:lnTo>
                    <a:lnTo>
                      <a:pt x="298" y="247"/>
                    </a:lnTo>
                    <a:lnTo>
                      <a:pt x="292" y="254"/>
                    </a:lnTo>
                    <a:lnTo>
                      <a:pt x="287" y="261"/>
                    </a:lnTo>
                    <a:lnTo>
                      <a:pt x="282" y="266"/>
                    </a:lnTo>
                    <a:lnTo>
                      <a:pt x="275" y="273"/>
                    </a:lnTo>
                    <a:lnTo>
                      <a:pt x="270" y="278"/>
                    </a:lnTo>
                    <a:lnTo>
                      <a:pt x="266" y="285"/>
                    </a:lnTo>
                    <a:lnTo>
                      <a:pt x="263" y="289"/>
                    </a:lnTo>
                    <a:lnTo>
                      <a:pt x="259" y="294"/>
                    </a:lnTo>
                    <a:lnTo>
                      <a:pt x="254" y="297"/>
                    </a:lnTo>
                    <a:lnTo>
                      <a:pt x="252" y="303"/>
                    </a:lnTo>
                    <a:lnTo>
                      <a:pt x="249" y="306"/>
                    </a:lnTo>
                    <a:lnTo>
                      <a:pt x="249" y="308"/>
                    </a:lnTo>
                    <a:lnTo>
                      <a:pt x="247" y="310"/>
                    </a:lnTo>
                    <a:lnTo>
                      <a:pt x="247" y="313"/>
                    </a:lnTo>
                    <a:lnTo>
                      <a:pt x="247" y="317"/>
                    </a:lnTo>
                    <a:lnTo>
                      <a:pt x="249" y="320"/>
                    </a:lnTo>
                    <a:lnTo>
                      <a:pt x="252" y="322"/>
                    </a:lnTo>
                    <a:lnTo>
                      <a:pt x="256" y="325"/>
                    </a:lnTo>
                    <a:lnTo>
                      <a:pt x="261" y="325"/>
                    </a:lnTo>
                    <a:lnTo>
                      <a:pt x="266" y="327"/>
                    </a:lnTo>
                    <a:lnTo>
                      <a:pt x="270" y="325"/>
                    </a:lnTo>
                    <a:lnTo>
                      <a:pt x="273" y="325"/>
                    </a:lnTo>
                    <a:lnTo>
                      <a:pt x="275" y="325"/>
                    </a:lnTo>
                    <a:lnTo>
                      <a:pt x="280" y="324"/>
                    </a:lnTo>
                    <a:lnTo>
                      <a:pt x="282" y="322"/>
                    </a:lnTo>
                    <a:lnTo>
                      <a:pt x="285" y="320"/>
                    </a:lnTo>
                    <a:lnTo>
                      <a:pt x="289" y="320"/>
                    </a:lnTo>
                    <a:lnTo>
                      <a:pt x="292" y="318"/>
                    </a:lnTo>
                    <a:lnTo>
                      <a:pt x="296" y="317"/>
                    </a:lnTo>
                    <a:lnTo>
                      <a:pt x="301" y="317"/>
                    </a:lnTo>
                    <a:lnTo>
                      <a:pt x="305" y="313"/>
                    </a:lnTo>
                    <a:lnTo>
                      <a:pt x="310" y="313"/>
                    </a:lnTo>
                    <a:lnTo>
                      <a:pt x="313" y="311"/>
                    </a:lnTo>
                    <a:lnTo>
                      <a:pt x="319" y="310"/>
                    </a:lnTo>
                    <a:lnTo>
                      <a:pt x="322" y="308"/>
                    </a:lnTo>
                    <a:lnTo>
                      <a:pt x="327" y="306"/>
                    </a:lnTo>
                    <a:lnTo>
                      <a:pt x="331" y="304"/>
                    </a:lnTo>
                    <a:lnTo>
                      <a:pt x="336" y="303"/>
                    </a:lnTo>
                    <a:lnTo>
                      <a:pt x="340" y="303"/>
                    </a:lnTo>
                    <a:lnTo>
                      <a:pt x="345" y="301"/>
                    </a:lnTo>
                    <a:lnTo>
                      <a:pt x="348" y="299"/>
                    </a:lnTo>
                    <a:lnTo>
                      <a:pt x="354" y="297"/>
                    </a:lnTo>
                    <a:lnTo>
                      <a:pt x="357" y="297"/>
                    </a:lnTo>
                    <a:lnTo>
                      <a:pt x="362" y="297"/>
                    </a:lnTo>
                    <a:lnTo>
                      <a:pt x="364" y="296"/>
                    </a:lnTo>
                    <a:lnTo>
                      <a:pt x="369" y="294"/>
                    </a:lnTo>
                    <a:lnTo>
                      <a:pt x="371" y="294"/>
                    </a:lnTo>
                    <a:lnTo>
                      <a:pt x="375" y="294"/>
                    </a:lnTo>
                    <a:lnTo>
                      <a:pt x="378" y="294"/>
                    </a:lnTo>
                    <a:lnTo>
                      <a:pt x="383" y="297"/>
                    </a:lnTo>
                    <a:lnTo>
                      <a:pt x="387" y="299"/>
                    </a:lnTo>
                    <a:lnTo>
                      <a:pt x="387" y="303"/>
                    </a:lnTo>
                    <a:lnTo>
                      <a:pt x="387" y="306"/>
                    </a:lnTo>
                    <a:lnTo>
                      <a:pt x="387" y="311"/>
                    </a:lnTo>
                    <a:lnTo>
                      <a:pt x="383" y="317"/>
                    </a:lnTo>
                    <a:lnTo>
                      <a:pt x="380" y="322"/>
                    </a:lnTo>
                    <a:lnTo>
                      <a:pt x="376" y="327"/>
                    </a:lnTo>
                    <a:lnTo>
                      <a:pt x="373" y="332"/>
                    </a:lnTo>
                    <a:lnTo>
                      <a:pt x="369" y="334"/>
                    </a:lnTo>
                    <a:lnTo>
                      <a:pt x="366" y="338"/>
                    </a:lnTo>
                    <a:lnTo>
                      <a:pt x="362" y="339"/>
                    </a:lnTo>
                    <a:lnTo>
                      <a:pt x="359" y="343"/>
                    </a:lnTo>
                    <a:lnTo>
                      <a:pt x="354" y="345"/>
                    </a:lnTo>
                    <a:lnTo>
                      <a:pt x="348" y="348"/>
                    </a:lnTo>
                    <a:lnTo>
                      <a:pt x="345" y="352"/>
                    </a:lnTo>
                    <a:lnTo>
                      <a:pt x="340" y="355"/>
                    </a:lnTo>
                    <a:lnTo>
                      <a:pt x="333" y="357"/>
                    </a:lnTo>
                    <a:lnTo>
                      <a:pt x="327" y="359"/>
                    </a:lnTo>
                    <a:lnTo>
                      <a:pt x="320" y="360"/>
                    </a:lnTo>
                    <a:lnTo>
                      <a:pt x="315" y="364"/>
                    </a:lnTo>
                    <a:lnTo>
                      <a:pt x="308" y="366"/>
                    </a:lnTo>
                    <a:lnTo>
                      <a:pt x="303" y="367"/>
                    </a:lnTo>
                    <a:lnTo>
                      <a:pt x="298" y="367"/>
                    </a:lnTo>
                    <a:lnTo>
                      <a:pt x="291" y="369"/>
                    </a:lnTo>
                    <a:lnTo>
                      <a:pt x="284" y="369"/>
                    </a:lnTo>
                    <a:lnTo>
                      <a:pt x="278" y="373"/>
                    </a:lnTo>
                    <a:lnTo>
                      <a:pt x="271" y="374"/>
                    </a:lnTo>
                    <a:lnTo>
                      <a:pt x="266" y="378"/>
                    </a:lnTo>
                    <a:lnTo>
                      <a:pt x="259" y="381"/>
                    </a:lnTo>
                    <a:lnTo>
                      <a:pt x="252" y="387"/>
                    </a:lnTo>
                    <a:lnTo>
                      <a:pt x="245" y="392"/>
                    </a:lnTo>
                    <a:lnTo>
                      <a:pt x="240" y="397"/>
                    </a:lnTo>
                    <a:lnTo>
                      <a:pt x="233" y="402"/>
                    </a:lnTo>
                    <a:lnTo>
                      <a:pt x="228" y="408"/>
                    </a:lnTo>
                    <a:lnTo>
                      <a:pt x="222" y="411"/>
                    </a:lnTo>
                    <a:lnTo>
                      <a:pt x="217" y="416"/>
                    </a:lnTo>
                    <a:lnTo>
                      <a:pt x="212" y="422"/>
                    </a:lnTo>
                    <a:lnTo>
                      <a:pt x="208" y="425"/>
                    </a:lnTo>
                    <a:lnTo>
                      <a:pt x="203" y="429"/>
                    </a:lnTo>
                    <a:lnTo>
                      <a:pt x="201" y="434"/>
                    </a:lnTo>
                    <a:lnTo>
                      <a:pt x="198" y="436"/>
                    </a:lnTo>
                    <a:lnTo>
                      <a:pt x="193" y="439"/>
                    </a:lnTo>
                    <a:lnTo>
                      <a:pt x="187" y="441"/>
                    </a:lnTo>
                    <a:lnTo>
                      <a:pt x="182" y="444"/>
                    </a:lnTo>
                    <a:lnTo>
                      <a:pt x="179" y="444"/>
                    </a:lnTo>
                    <a:lnTo>
                      <a:pt x="173" y="446"/>
                    </a:lnTo>
                    <a:lnTo>
                      <a:pt x="170" y="448"/>
                    </a:lnTo>
                    <a:lnTo>
                      <a:pt x="166" y="450"/>
                    </a:lnTo>
                    <a:lnTo>
                      <a:pt x="163" y="450"/>
                    </a:lnTo>
                    <a:lnTo>
                      <a:pt x="159" y="451"/>
                    </a:lnTo>
                    <a:lnTo>
                      <a:pt x="156" y="453"/>
                    </a:lnTo>
                    <a:lnTo>
                      <a:pt x="152" y="453"/>
                    </a:lnTo>
                    <a:lnTo>
                      <a:pt x="149" y="455"/>
                    </a:lnTo>
                    <a:lnTo>
                      <a:pt x="145" y="455"/>
                    </a:lnTo>
                    <a:lnTo>
                      <a:pt x="140" y="457"/>
                    </a:lnTo>
                    <a:lnTo>
                      <a:pt x="137" y="457"/>
                    </a:lnTo>
                    <a:lnTo>
                      <a:pt x="133" y="457"/>
                    </a:lnTo>
                    <a:lnTo>
                      <a:pt x="130" y="458"/>
                    </a:lnTo>
                    <a:lnTo>
                      <a:pt x="126" y="458"/>
                    </a:lnTo>
                    <a:lnTo>
                      <a:pt x="124" y="460"/>
                    </a:lnTo>
                    <a:lnTo>
                      <a:pt x="117" y="460"/>
                    </a:lnTo>
                    <a:lnTo>
                      <a:pt x="112" y="460"/>
                    </a:lnTo>
                    <a:lnTo>
                      <a:pt x="109" y="460"/>
                    </a:lnTo>
                    <a:lnTo>
                      <a:pt x="105" y="460"/>
                    </a:lnTo>
                    <a:lnTo>
                      <a:pt x="100" y="460"/>
                    </a:lnTo>
                    <a:lnTo>
                      <a:pt x="95" y="458"/>
                    </a:lnTo>
                    <a:lnTo>
                      <a:pt x="89" y="458"/>
                    </a:lnTo>
                    <a:lnTo>
                      <a:pt x="84" y="458"/>
                    </a:lnTo>
                    <a:lnTo>
                      <a:pt x="79" y="458"/>
                    </a:lnTo>
                    <a:lnTo>
                      <a:pt x="75" y="458"/>
                    </a:lnTo>
                    <a:lnTo>
                      <a:pt x="77" y="460"/>
                    </a:lnTo>
                    <a:lnTo>
                      <a:pt x="79" y="462"/>
                    </a:lnTo>
                    <a:lnTo>
                      <a:pt x="82" y="462"/>
                    </a:lnTo>
                    <a:lnTo>
                      <a:pt x="86" y="464"/>
                    </a:lnTo>
                    <a:lnTo>
                      <a:pt x="89" y="464"/>
                    </a:lnTo>
                    <a:lnTo>
                      <a:pt x="95" y="464"/>
                    </a:lnTo>
                    <a:lnTo>
                      <a:pt x="102" y="464"/>
                    </a:lnTo>
                    <a:lnTo>
                      <a:pt x="107" y="464"/>
                    </a:lnTo>
                    <a:lnTo>
                      <a:pt x="112" y="464"/>
                    </a:lnTo>
                    <a:lnTo>
                      <a:pt x="117" y="464"/>
                    </a:lnTo>
                    <a:lnTo>
                      <a:pt x="124" y="464"/>
                    </a:lnTo>
                    <a:lnTo>
                      <a:pt x="130" y="464"/>
                    </a:lnTo>
                    <a:lnTo>
                      <a:pt x="137" y="462"/>
                    </a:lnTo>
                    <a:lnTo>
                      <a:pt x="142" y="462"/>
                    </a:lnTo>
                    <a:lnTo>
                      <a:pt x="147" y="460"/>
                    </a:lnTo>
                    <a:lnTo>
                      <a:pt x="152" y="460"/>
                    </a:lnTo>
                    <a:lnTo>
                      <a:pt x="156" y="460"/>
                    </a:lnTo>
                    <a:lnTo>
                      <a:pt x="161" y="458"/>
                    </a:lnTo>
                    <a:lnTo>
                      <a:pt x="166" y="457"/>
                    </a:lnTo>
                    <a:lnTo>
                      <a:pt x="170" y="457"/>
                    </a:lnTo>
                    <a:lnTo>
                      <a:pt x="175" y="453"/>
                    </a:lnTo>
                    <a:lnTo>
                      <a:pt x="180" y="453"/>
                    </a:lnTo>
                    <a:lnTo>
                      <a:pt x="184" y="451"/>
                    </a:lnTo>
                    <a:lnTo>
                      <a:pt x="189" y="450"/>
                    </a:lnTo>
                    <a:lnTo>
                      <a:pt x="193" y="448"/>
                    </a:lnTo>
                    <a:lnTo>
                      <a:pt x="198" y="446"/>
                    </a:lnTo>
                    <a:lnTo>
                      <a:pt x="201" y="444"/>
                    </a:lnTo>
                    <a:lnTo>
                      <a:pt x="205" y="443"/>
                    </a:lnTo>
                    <a:lnTo>
                      <a:pt x="210" y="439"/>
                    </a:lnTo>
                    <a:lnTo>
                      <a:pt x="215" y="436"/>
                    </a:lnTo>
                    <a:lnTo>
                      <a:pt x="217" y="434"/>
                    </a:lnTo>
                    <a:lnTo>
                      <a:pt x="221" y="430"/>
                    </a:lnTo>
                    <a:lnTo>
                      <a:pt x="224" y="427"/>
                    </a:lnTo>
                    <a:lnTo>
                      <a:pt x="229" y="423"/>
                    </a:lnTo>
                    <a:lnTo>
                      <a:pt x="233" y="418"/>
                    </a:lnTo>
                    <a:lnTo>
                      <a:pt x="238" y="413"/>
                    </a:lnTo>
                    <a:lnTo>
                      <a:pt x="243" y="409"/>
                    </a:lnTo>
                    <a:lnTo>
                      <a:pt x="249" y="404"/>
                    </a:lnTo>
                    <a:lnTo>
                      <a:pt x="256" y="399"/>
                    </a:lnTo>
                    <a:lnTo>
                      <a:pt x="261" y="395"/>
                    </a:lnTo>
                    <a:lnTo>
                      <a:pt x="266" y="390"/>
                    </a:lnTo>
                    <a:lnTo>
                      <a:pt x="273" y="387"/>
                    </a:lnTo>
                    <a:lnTo>
                      <a:pt x="277" y="383"/>
                    </a:lnTo>
                    <a:lnTo>
                      <a:pt x="282" y="381"/>
                    </a:lnTo>
                    <a:lnTo>
                      <a:pt x="287" y="380"/>
                    </a:lnTo>
                    <a:lnTo>
                      <a:pt x="291" y="378"/>
                    </a:lnTo>
                    <a:lnTo>
                      <a:pt x="294" y="376"/>
                    </a:lnTo>
                    <a:lnTo>
                      <a:pt x="299" y="376"/>
                    </a:lnTo>
                    <a:lnTo>
                      <a:pt x="303" y="374"/>
                    </a:lnTo>
                    <a:lnTo>
                      <a:pt x="308" y="373"/>
                    </a:lnTo>
                    <a:lnTo>
                      <a:pt x="313" y="371"/>
                    </a:lnTo>
                    <a:lnTo>
                      <a:pt x="319" y="369"/>
                    </a:lnTo>
                    <a:lnTo>
                      <a:pt x="326" y="367"/>
                    </a:lnTo>
                    <a:lnTo>
                      <a:pt x="331" y="366"/>
                    </a:lnTo>
                    <a:lnTo>
                      <a:pt x="338" y="362"/>
                    </a:lnTo>
                    <a:lnTo>
                      <a:pt x="343" y="360"/>
                    </a:lnTo>
                    <a:lnTo>
                      <a:pt x="348" y="359"/>
                    </a:lnTo>
                    <a:lnTo>
                      <a:pt x="354" y="355"/>
                    </a:lnTo>
                    <a:lnTo>
                      <a:pt x="359" y="352"/>
                    </a:lnTo>
                    <a:lnTo>
                      <a:pt x="364" y="350"/>
                    </a:lnTo>
                    <a:lnTo>
                      <a:pt x="368" y="346"/>
                    </a:lnTo>
                    <a:lnTo>
                      <a:pt x="371" y="343"/>
                    </a:lnTo>
                    <a:lnTo>
                      <a:pt x="375" y="339"/>
                    </a:lnTo>
                    <a:lnTo>
                      <a:pt x="376" y="338"/>
                    </a:lnTo>
                    <a:lnTo>
                      <a:pt x="380" y="332"/>
                    </a:lnTo>
                    <a:lnTo>
                      <a:pt x="383" y="331"/>
                    </a:lnTo>
                    <a:lnTo>
                      <a:pt x="389" y="324"/>
                    </a:lnTo>
                    <a:lnTo>
                      <a:pt x="392" y="317"/>
                    </a:lnTo>
                    <a:lnTo>
                      <a:pt x="396" y="310"/>
                    </a:lnTo>
                    <a:lnTo>
                      <a:pt x="397" y="304"/>
                    </a:lnTo>
                    <a:lnTo>
                      <a:pt x="397" y="297"/>
                    </a:lnTo>
                    <a:lnTo>
                      <a:pt x="396" y="294"/>
                    </a:lnTo>
                    <a:lnTo>
                      <a:pt x="392" y="289"/>
                    </a:lnTo>
                    <a:lnTo>
                      <a:pt x="387" y="287"/>
                    </a:lnTo>
                    <a:lnTo>
                      <a:pt x="383" y="285"/>
                    </a:lnTo>
                    <a:lnTo>
                      <a:pt x="378" y="285"/>
                    </a:lnTo>
                    <a:lnTo>
                      <a:pt x="375" y="285"/>
                    </a:lnTo>
                    <a:lnTo>
                      <a:pt x="371" y="285"/>
                    </a:lnTo>
                    <a:lnTo>
                      <a:pt x="366" y="285"/>
                    </a:lnTo>
                    <a:lnTo>
                      <a:pt x="361" y="285"/>
                    </a:lnTo>
                    <a:lnTo>
                      <a:pt x="355" y="287"/>
                    </a:lnTo>
                    <a:lnTo>
                      <a:pt x="352" y="289"/>
                    </a:lnTo>
                    <a:lnTo>
                      <a:pt x="348" y="289"/>
                    </a:lnTo>
                    <a:lnTo>
                      <a:pt x="343" y="290"/>
                    </a:lnTo>
                    <a:lnTo>
                      <a:pt x="340" y="292"/>
                    </a:lnTo>
                    <a:lnTo>
                      <a:pt x="338" y="294"/>
                    </a:lnTo>
                    <a:lnTo>
                      <a:pt x="333" y="297"/>
                    </a:lnTo>
                    <a:lnTo>
                      <a:pt x="329" y="299"/>
                    </a:lnTo>
                    <a:lnTo>
                      <a:pt x="324" y="301"/>
                    </a:lnTo>
                    <a:lnTo>
                      <a:pt x="319" y="304"/>
                    </a:lnTo>
                    <a:lnTo>
                      <a:pt x="313" y="306"/>
                    </a:lnTo>
                    <a:lnTo>
                      <a:pt x="308" y="308"/>
                    </a:lnTo>
                    <a:lnTo>
                      <a:pt x="303" y="310"/>
                    </a:lnTo>
                    <a:lnTo>
                      <a:pt x="298" y="313"/>
                    </a:lnTo>
                    <a:lnTo>
                      <a:pt x="291" y="313"/>
                    </a:lnTo>
                    <a:lnTo>
                      <a:pt x="285" y="317"/>
                    </a:lnTo>
                    <a:lnTo>
                      <a:pt x="278" y="317"/>
                    </a:lnTo>
                    <a:lnTo>
                      <a:pt x="275" y="318"/>
                    </a:lnTo>
                    <a:lnTo>
                      <a:pt x="270" y="318"/>
                    </a:lnTo>
                    <a:lnTo>
                      <a:pt x="268" y="320"/>
                    </a:lnTo>
                    <a:lnTo>
                      <a:pt x="264" y="318"/>
                    </a:lnTo>
                    <a:lnTo>
                      <a:pt x="263" y="318"/>
                    </a:lnTo>
                    <a:lnTo>
                      <a:pt x="263" y="315"/>
                    </a:lnTo>
                    <a:lnTo>
                      <a:pt x="266" y="310"/>
                    </a:lnTo>
                    <a:lnTo>
                      <a:pt x="268" y="306"/>
                    </a:lnTo>
                    <a:lnTo>
                      <a:pt x="270" y="301"/>
                    </a:lnTo>
                    <a:lnTo>
                      <a:pt x="273" y="296"/>
                    </a:lnTo>
                    <a:lnTo>
                      <a:pt x="277" y="292"/>
                    </a:lnTo>
                    <a:lnTo>
                      <a:pt x="282" y="285"/>
                    </a:lnTo>
                    <a:lnTo>
                      <a:pt x="285" y="280"/>
                    </a:lnTo>
                    <a:lnTo>
                      <a:pt x="291" y="273"/>
                    </a:lnTo>
                    <a:lnTo>
                      <a:pt x="296" y="268"/>
                    </a:lnTo>
                    <a:lnTo>
                      <a:pt x="298" y="262"/>
                    </a:lnTo>
                    <a:lnTo>
                      <a:pt x="301" y="261"/>
                    </a:lnTo>
                    <a:lnTo>
                      <a:pt x="305" y="255"/>
                    </a:lnTo>
                    <a:lnTo>
                      <a:pt x="308" y="254"/>
                    </a:lnTo>
                    <a:lnTo>
                      <a:pt x="313" y="245"/>
                    </a:lnTo>
                    <a:lnTo>
                      <a:pt x="319" y="240"/>
                    </a:lnTo>
                    <a:lnTo>
                      <a:pt x="320" y="236"/>
                    </a:lnTo>
                    <a:lnTo>
                      <a:pt x="324" y="233"/>
                    </a:lnTo>
                    <a:lnTo>
                      <a:pt x="326" y="227"/>
                    </a:lnTo>
                    <a:lnTo>
                      <a:pt x="329" y="224"/>
                    </a:lnTo>
                    <a:lnTo>
                      <a:pt x="333" y="220"/>
                    </a:lnTo>
                    <a:lnTo>
                      <a:pt x="334" y="217"/>
                    </a:lnTo>
                    <a:lnTo>
                      <a:pt x="338" y="213"/>
                    </a:lnTo>
                    <a:lnTo>
                      <a:pt x="341" y="210"/>
                    </a:lnTo>
                    <a:lnTo>
                      <a:pt x="343" y="207"/>
                    </a:lnTo>
                    <a:lnTo>
                      <a:pt x="347" y="203"/>
                    </a:lnTo>
                    <a:lnTo>
                      <a:pt x="348" y="200"/>
                    </a:lnTo>
                    <a:lnTo>
                      <a:pt x="352" y="196"/>
                    </a:lnTo>
                    <a:lnTo>
                      <a:pt x="357" y="189"/>
                    </a:lnTo>
                    <a:lnTo>
                      <a:pt x="362" y="184"/>
                    </a:lnTo>
                    <a:lnTo>
                      <a:pt x="366" y="179"/>
                    </a:lnTo>
                    <a:lnTo>
                      <a:pt x="369" y="173"/>
                    </a:lnTo>
                    <a:lnTo>
                      <a:pt x="373" y="168"/>
                    </a:lnTo>
                    <a:lnTo>
                      <a:pt x="376" y="165"/>
                    </a:lnTo>
                    <a:lnTo>
                      <a:pt x="378" y="159"/>
                    </a:lnTo>
                    <a:lnTo>
                      <a:pt x="382" y="158"/>
                    </a:lnTo>
                    <a:lnTo>
                      <a:pt x="383" y="154"/>
                    </a:lnTo>
                    <a:lnTo>
                      <a:pt x="385" y="152"/>
                    </a:lnTo>
                    <a:lnTo>
                      <a:pt x="387" y="145"/>
                    </a:lnTo>
                    <a:lnTo>
                      <a:pt x="389" y="140"/>
                    </a:lnTo>
                    <a:lnTo>
                      <a:pt x="390" y="133"/>
                    </a:lnTo>
                    <a:lnTo>
                      <a:pt x="392" y="128"/>
                    </a:lnTo>
                    <a:lnTo>
                      <a:pt x="390" y="121"/>
                    </a:lnTo>
                    <a:lnTo>
                      <a:pt x="390" y="116"/>
                    </a:lnTo>
                    <a:lnTo>
                      <a:pt x="387" y="109"/>
                    </a:lnTo>
                    <a:lnTo>
                      <a:pt x="382" y="105"/>
                    </a:lnTo>
                    <a:lnTo>
                      <a:pt x="378" y="103"/>
                    </a:lnTo>
                    <a:lnTo>
                      <a:pt x="375" y="102"/>
                    </a:lnTo>
                    <a:lnTo>
                      <a:pt x="371" y="102"/>
                    </a:lnTo>
                    <a:lnTo>
                      <a:pt x="368" y="102"/>
                    </a:lnTo>
                    <a:lnTo>
                      <a:pt x="364" y="102"/>
                    </a:lnTo>
                    <a:lnTo>
                      <a:pt x="361" y="102"/>
                    </a:lnTo>
                    <a:lnTo>
                      <a:pt x="357" y="102"/>
                    </a:lnTo>
                    <a:lnTo>
                      <a:pt x="354" y="103"/>
                    </a:lnTo>
                    <a:lnTo>
                      <a:pt x="347" y="107"/>
                    </a:lnTo>
                    <a:lnTo>
                      <a:pt x="341" y="112"/>
                    </a:lnTo>
                    <a:lnTo>
                      <a:pt x="336" y="116"/>
                    </a:lnTo>
                    <a:lnTo>
                      <a:pt x="333" y="121"/>
                    </a:lnTo>
                    <a:lnTo>
                      <a:pt x="329" y="124"/>
                    </a:lnTo>
                    <a:lnTo>
                      <a:pt x="324" y="130"/>
                    </a:lnTo>
                    <a:lnTo>
                      <a:pt x="320" y="133"/>
                    </a:lnTo>
                    <a:lnTo>
                      <a:pt x="317" y="137"/>
                    </a:lnTo>
                    <a:lnTo>
                      <a:pt x="313" y="142"/>
                    </a:lnTo>
                    <a:lnTo>
                      <a:pt x="310" y="147"/>
                    </a:lnTo>
                    <a:lnTo>
                      <a:pt x="305" y="151"/>
                    </a:lnTo>
                    <a:lnTo>
                      <a:pt x="301" y="158"/>
                    </a:lnTo>
                    <a:lnTo>
                      <a:pt x="296" y="163"/>
                    </a:lnTo>
                    <a:lnTo>
                      <a:pt x="291" y="168"/>
                    </a:lnTo>
                    <a:lnTo>
                      <a:pt x="284" y="173"/>
                    </a:lnTo>
                    <a:lnTo>
                      <a:pt x="278" y="180"/>
                    </a:lnTo>
                    <a:lnTo>
                      <a:pt x="275" y="187"/>
                    </a:lnTo>
                    <a:lnTo>
                      <a:pt x="270" y="193"/>
                    </a:lnTo>
                    <a:lnTo>
                      <a:pt x="263" y="200"/>
                    </a:lnTo>
                    <a:lnTo>
                      <a:pt x="257" y="205"/>
                    </a:lnTo>
                    <a:lnTo>
                      <a:pt x="252" y="210"/>
                    </a:lnTo>
                    <a:lnTo>
                      <a:pt x="247" y="215"/>
                    </a:lnTo>
                    <a:lnTo>
                      <a:pt x="242" y="220"/>
                    </a:lnTo>
                    <a:lnTo>
                      <a:pt x="238" y="227"/>
                    </a:lnTo>
                    <a:lnTo>
                      <a:pt x="233" y="233"/>
                    </a:lnTo>
                    <a:lnTo>
                      <a:pt x="229" y="236"/>
                    </a:lnTo>
                    <a:lnTo>
                      <a:pt x="224" y="241"/>
                    </a:lnTo>
                    <a:lnTo>
                      <a:pt x="221" y="245"/>
                    </a:lnTo>
                    <a:lnTo>
                      <a:pt x="217" y="248"/>
                    </a:lnTo>
                    <a:lnTo>
                      <a:pt x="214" y="252"/>
                    </a:lnTo>
                    <a:lnTo>
                      <a:pt x="208" y="257"/>
                    </a:lnTo>
                    <a:lnTo>
                      <a:pt x="207" y="259"/>
                    </a:lnTo>
                    <a:lnTo>
                      <a:pt x="203" y="259"/>
                    </a:lnTo>
                    <a:lnTo>
                      <a:pt x="201" y="257"/>
                    </a:lnTo>
                    <a:lnTo>
                      <a:pt x="198" y="255"/>
                    </a:lnTo>
                    <a:lnTo>
                      <a:pt x="198" y="252"/>
                    </a:lnTo>
                    <a:lnTo>
                      <a:pt x="196" y="247"/>
                    </a:lnTo>
                    <a:lnTo>
                      <a:pt x="196" y="243"/>
                    </a:lnTo>
                    <a:lnTo>
                      <a:pt x="196" y="238"/>
                    </a:lnTo>
                    <a:lnTo>
                      <a:pt x="198" y="236"/>
                    </a:lnTo>
                    <a:lnTo>
                      <a:pt x="200" y="233"/>
                    </a:lnTo>
                    <a:lnTo>
                      <a:pt x="201" y="227"/>
                    </a:lnTo>
                    <a:lnTo>
                      <a:pt x="203" y="226"/>
                    </a:lnTo>
                    <a:lnTo>
                      <a:pt x="205" y="222"/>
                    </a:lnTo>
                    <a:lnTo>
                      <a:pt x="208" y="219"/>
                    </a:lnTo>
                    <a:lnTo>
                      <a:pt x="210" y="215"/>
                    </a:lnTo>
                    <a:lnTo>
                      <a:pt x="212" y="210"/>
                    </a:lnTo>
                    <a:lnTo>
                      <a:pt x="215" y="207"/>
                    </a:lnTo>
                    <a:lnTo>
                      <a:pt x="217" y="201"/>
                    </a:lnTo>
                    <a:lnTo>
                      <a:pt x="221" y="198"/>
                    </a:lnTo>
                    <a:lnTo>
                      <a:pt x="222" y="191"/>
                    </a:lnTo>
                    <a:lnTo>
                      <a:pt x="226" y="186"/>
                    </a:lnTo>
                    <a:lnTo>
                      <a:pt x="229" y="180"/>
                    </a:lnTo>
                    <a:lnTo>
                      <a:pt x="233" y="177"/>
                    </a:lnTo>
                    <a:lnTo>
                      <a:pt x="235" y="170"/>
                    </a:lnTo>
                    <a:lnTo>
                      <a:pt x="238" y="165"/>
                    </a:lnTo>
                    <a:lnTo>
                      <a:pt x="242" y="158"/>
                    </a:lnTo>
                    <a:lnTo>
                      <a:pt x="245" y="152"/>
                    </a:lnTo>
                    <a:lnTo>
                      <a:pt x="247" y="145"/>
                    </a:lnTo>
                    <a:lnTo>
                      <a:pt x="250" y="140"/>
                    </a:lnTo>
                    <a:lnTo>
                      <a:pt x="254" y="133"/>
                    </a:lnTo>
                    <a:lnTo>
                      <a:pt x="256" y="128"/>
                    </a:lnTo>
                    <a:lnTo>
                      <a:pt x="259" y="123"/>
                    </a:lnTo>
                    <a:lnTo>
                      <a:pt x="261" y="116"/>
                    </a:lnTo>
                    <a:lnTo>
                      <a:pt x="263" y="110"/>
                    </a:lnTo>
                    <a:lnTo>
                      <a:pt x="266" y="105"/>
                    </a:lnTo>
                    <a:lnTo>
                      <a:pt x="268" y="100"/>
                    </a:lnTo>
                    <a:lnTo>
                      <a:pt x="270" y="93"/>
                    </a:lnTo>
                    <a:lnTo>
                      <a:pt x="271" y="88"/>
                    </a:lnTo>
                    <a:lnTo>
                      <a:pt x="273" y="82"/>
                    </a:lnTo>
                    <a:lnTo>
                      <a:pt x="275" y="77"/>
                    </a:lnTo>
                    <a:lnTo>
                      <a:pt x="275" y="74"/>
                    </a:lnTo>
                    <a:lnTo>
                      <a:pt x="277" y="68"/>
                    </a:lnTo>
                    <a:lnTo>
                      <a:pt x="277" y="63"/>
                    </a:lnTo>
                    <a:lnTo>
                      <a:pt x="278" y="60"/>
                    </a:lnTo>
                    <a:lnTo>
                      <a:pt x="278" y="54"/>
                    </a:lnTo>
                    <a:lnTo>
                      <a:pt x="278" y="51"/>
                    </a:lnTo>
                    <a:lnTo>
                      <a:pt x="280" y="47"/>
                    </a:lnTo>
                    <a:lnTo>
                      <a:pt x="280" y="44"/>
                    </a:lnTo>
                    <a:lnTo>
                      <a:pt x="282" y="40"/>
                    </a:lnTo>
                    <a:lnTo>
                      <a:pt x="282" y="37"/>
                    </a:lnTo>
                    <a:lnTo>
                      <a:pt x="282" y="35"/>
                    </a:lnTo>
                    <a:lnTo>
                      <a:pt x="282" y="28"/>
                    </a:lnTo>
                    <a:lnTo>
                      <a:pt x="284" y="25"/>
                    </a:lnTo>
                    <a:lnTo>
                      <a:pt x="282" y="19"/>
                    </a:lnTo>
                    <a:lnTo>
                      <a:pt x="282" y="18"/>
                    </a:lnTo>
                    <a:lnTo>
                      <a:pt x="282" y="12"/>
                    </a:lnTo>
                    <a:lnTo>
                      <a:pt x="282" y="11"/>
                    </a:lnTo>
                    <a:lnTo>
                      <a:pt x="278" y="7"/>
                    </a:lnTo>
                    <a:lnTo>
                      <a:pt x="278" y="4"/>
                    </a:lnTo>
                    <a:lnTo>
                      <a:pt x="275" y="2"/>
                    </a:lnTo>
                    <a:lnTo>
                      <a:pt x="270" y="2"/>
                    </a:lnTo>
                    <a:lnTo>
                      <a:pt x="266" y="0"/>
                    </a:lnTo>
                    <a:lnTo>
                      <a:pt x="261" y="2"/>
                    </a:lnTo>
                    <a:lnTo>
                      <a:pt x="254" y="2"/>
                    </a:lnTo>
                    <a:lnTo>
                      <a:pt x="249" y="4"/>
                    </a:lnTo>
                    <a:lnTo>
                      <a:pt x="242" y="5"/>
                    </a:lnTo>
                    <a:lnTo>
                      <a:pt x="236" y="9"/>
                    </a:lnTo>
                    <a:lnTo>
                      <a:pt x="235" y="9"/>
                    </a:lnTo>
                    <a:lnTo>
                      <a:pt x="233" y="12"/>
                    </a:lnTo>
                    <a:lnTo>
                      <a:pt x="231" y="14"/>
                    </a:lnTo>
                    <a:lnTo>
                      <a:pt x="228" y="19"/>
                    </a:lnTo>
                    <a:lnTo>
                      <a:pt x="224" y="23"/>
                    </a:lnTo>
                    <a:lnTo>
                      <a:pt x="222" y="28"/>
                    </a:lnTo>
                    <a:lnTo>
                      <a:pt x="219" y="33"/>
                    </a:lnTo>
                    <a:lnTo>
                      <a:pt x="215" y="40"/>
                    </a:lnTo>
                    <a:lnTo>
                      <a:pt x="214" y="44"/>
                    </a:lnTo>
                    <a:lnTo>
                      <a:pt x="212" y="47"/>
                    </a:lnTo>
                    <a:lnTo>
                      <a:pt x="210" y="51"/>
                    </a:lnTo>
                    <a:lnTo>
                      <a:pt x="208" y="54"/>
                    </a:lnTo>
                    <a:lnTo>
                      <a:pt x="205" y="58"/>
                    </a:lnTo>
                    <a:lnTo>
                      <a:pt x="203" y="61"/>
                    </a:lnTo>
                    <a:lnTo>
                      <a:pt x="201" y="67"/>
                    </a:lnTo>
                    <a:lnTo>
                      <a:pt x="200" y="70"/>
                    </a:lnTo>
                    <a:lnTo>
                      <a:pt x="198" y="74"/>
                    </a:lnTo>
                    <a:lnTo>
                      <a:pt x="196" y="79"/>
                    </a:lnTo>
                    <a:lnTo>
                      <a:pt x="193" y="82"/>
                    </a:lnTo>
                    <a:lnTo>
                      <a:pt x="191" y="88"/>
                    </a:lnTo>
                    <a:lnTo>
                      <a:pt x="189" y="91"/>
                    </a:lnTo>
                    <a:lnTo>
                      <a:pt x="187" y="95"/>
                    </a:lnTo>
                    <a:lnTo>
                      <a:pt x="186" y="100"/>
                    </a:lnTo>
                    <a:lnTo>
                      <a:pt x="184" y="105"/>
                    </a:lnTo>
                    <a:lnTo>
                      <a:pt x="180" y="109"/>
                    </a:lnTo>
                    <a:lnTo>
                      <a:pt x="179" y="114"/>
                    </a:lnTo>
                    <a:lnTo>
                      <a:pt x="177" y="117"/>
                    </a:lnTo>
                    <a:lnTo>
                      <a:pt x="175" y="121"/>
                    </a:lnTo>
                    <a:lnTo>
                      <a:pt x="173" y="124"/>
                    </a:lnTo>
                    <a:lnTo>
                      <a:pt x="170" y="130"/>
                    </a:lnTo>
                    <a:lnTo>
                      <a:pt x="168" y="133"/>
                    </a:lnTo>
                    <a:lnTo>
                      <a:pt x="166" y="138"/>
                    </a:lnTo>
                    <a:lnTo>
                      <a:pt x="165" y="142"/>
                    </a:lnTo>
                    <a:lnTo>
                      <a:pt x="163" y="145"/>
                    </a:lnTo>
                    <a:lnTo>
                      <a:pt x="161" y="151"/>
                    </a:lnTo>
                    <a:lnTo>
                      <a:pt x="159" y="154"/>
                    </a:lnTo>
                    <a:lnTo>
                      <a:pt x="156" y="158"/>
                    </a:lnTo>
                    <a:lnTo>
                      <a:pt x="156" y="161"/>
                    </a:lnTo>
                    <a:lnTo>
                      <a:pt x="154" y="165"/>
                    </a:lnTo>
                    <a:lnTo>
                      <a:pt x="152" y="168"/>
                    </a:lnTo>
                    <a:lnTo>
                      <a:pt x="149" y="173"/>
                    </a:lnTo>
                    <a:lnTo>
                      <a:pt x="145" y="180"/>
                    </a:lnTo>
                    <a:lnTo>
                      <a:pt x="142" y="186"/>
                    </a:lnTo>
                    <a:lnTo>
                      <a:pt x="140" y="191"/>
                    </a:lnTo>
                    <a:lnTo>
                      <a:pt x="138" y="194"/>
                    </a:lnTo>
                    <a:lnTo>
                      <a:pt x="137" y="200"/>
                    </a:lnTo>
                    <a:lnTo>
                      <a:pt x="135" y="201"/>
                    </a:lnTo>
                    <a:lnTo>
                      <a:pt x="135" y="203"/>
                    </a:lnTo>
                    <a:lnTo>
                      <a:pt x="130" y="207"/>
                    </a:lnTo>
                    <a:lnTo>
                      <a:pt x="126" y="212"/>
                    </a:lnTo>
                    <a:lnTo>
                      <a:pt x="123" y="215"/>
                    </a:lnTo>
                    <a:lnTo>
                      <a:pt x="119" y="220"/>
                    </a:lnTo>
                    <a:lnTo>
                      <a:pt x="116" y="222"/>
                    </a:lnTo>
                    <a:lnTo>
                      <a:pt x="112" y="226"/>
                    </a:lnTo>
                    <a:lnTo>
                      <a:pt x="109" y="226"/>
                    </a:lnTo>
                    <a:lnTo>
                      <a:pt x="109" y="224"/>
                    </a:lnTo>
                    <a:lnTo>
                      <a:pt x="107" y="220"/>
                    </a:lnTo>
                    <a:lnTo>
                      <a:pt x="107" y="219"/>
                    </a:lnTo>
                    <a:lnTo>
                      <a:pt x="107" y="213"/>
                    </a:lnTo>
                    <a:lnTo>
                      <a:pt x="107" y="208"/>
                    </a:lnTo>
                    <a:lnTo>
                      <a:pt x="107" y="201"/>
                    </a:lnTo>
                    <a:lnTo>
                      <a:pt x="107" y="196"/>
                    </a:lnTo>
                    <a:lnTo>
                      <a:pt x="107" y="193"/>
                    </a:lnTo>
                    <a:lnTo>
                      <a:pt x="109" y="187"/>
                    </a:lnTo>
                    <a:lnTo>
                      <a:pt x="109" y="184"/>
                    </a:lnTo>
                    <a:lnTo>
                      <a:pt x="109" y="180"/>
                    </a:lnTo>
                    <a:lnTo>
                      <a:pt x="109" y="177"/>
                    </a:lnTo>
                    <a:lnTo>
                      <a:pt x="109" y="173"/>
                    </a:lnTo>
                    <a:lnTo>
                      <a:pt x="110" y="170"/>
                    </a:lnTo>
                    <a:lnTo>
                      <a:pt x="110" y="165"/>
                    </a:lnTo>
                    <a:lnTo>
                      <a:pt x="110" y="161"/>
                    </a:lnTo>
                    <a:lnTo>
                      <a:pt x="110" y="158"/>
                    </a:lnTo>
                    <a:lnTo>
                      <a:pt x="112" y="154"/>
                    </a:lnTo>
                    <a:lnTo>
                      <a:pt x="112" y="151"/>
                    </a:lnTo>
                    <a:lnTo>
                      <a:pt x="112" y="144"/>
                    </a:lnTo>
                    <a:lnTo>
                      <a:pt x="114" y="138"/>
                    </a:lnTo>
                    <a:lnTo>
                      <a:pt x="116" y="133"/>
                    </a:lnTo>
                    <a:lnTo>
                      <a:pt x="117" y="130"/>
                    </a:lnTo>
                    <a:lnTo>
                      <a:pt x="117" y="126"/>
                    </a:lnTo>
                    <a:lnTo>
                      <a:pt x="119" y="121"/>
                    </a:lnTo>
                    <a:lnTo>
                      <a:pt x="119" y="117"/>
                    </a:lnTo>
                    <a:lnTo>
                      <a:pt x="119" y="114"/>
                    </a:lnTo>
                    <a:lnTo>
                      <a:pt x="121" y="110"/>
                    </a:lnTo>
                    <a:lnTo>
                      <a:pt x="123" y="107"/>
                    </a:lnTo>
                    <a:lnTo>
                      <a:pt x="123" y="102"/>
                    </a:lnTo>
                    <a:lnTo>
                      <a:pt x="123" y="98"/>
                    </a:lnTo>
                    <a:lnTo>
                      <a:pt x="123" y="93"/>
                    </a:lnTo>
                    <a:lnTo>
                      <a:pt x="124" y="89"/>
                    </a:lnTo>
                    <a:lnTo>
                      <a:pt x="124" y="84"/>
                    </a:lnTo>
                    <a:lnTo>
                      <a:pt x="126" y="79"/>
                    </a:lnTo>
                    <a:lnTo>
                      <a:pt x="126" y="75"/>
                    </a:lnTo>
                    <a:lnTo>
                      <a:pt x="128" y="70"/>
                    </a:lnTo>
                    <a:lnTo>
                      <a:pt x="128" y="65"/>
                    </a:lnTo>
                    <a:lnTo>
                      <a:pt x="128" y="61"/>
                    </a:lnTo>
                    <a:lnTo>
                      <a:pt x="128" y="56"/>
                    </a:lnTo>
                    <a:lnTo>
                      <a:pt x="130" y="53"/>
                    </a:lnTo>
                    <a:lnTo>
                      <a:pt x="130" y="47"/>
                    </a:lnTo>
                    <a:lnTo>
                      <a:pt x="130" y="42"/>
                    </a:lnTo>
                    <a:lnTo>
                      <a:pt x="130" y="39"/>
                    </a:lnTo>
                    <a:lnTo>
                      <a:pt x="130" y="35"/>
                    </a:lnTo>
                    <a:lnTo>
                      <a:pt x="130" y="32"/>
                    </a:lnTo>
                    <a:lnTo>
                      <a:pt x="130" y="28"/>
                    </a:lnTo>
                    <a:lnTo>
                      <a:pt x="128" y="25"/>
                    </a:lnTo>
                    <a:lnTo>
                      <a:pt x="128" y="23"/>
                    </a:lnTo>
                    <a:lnTo>
                      <a:pt x="126" y="18"/>
                    </a:lnTo>
                    <a:lnTo>
                      <a:pt x="126" y="16"/>
                    </a:lnTo>
                    <a:lnTo>
                      <a:pt x="121" y="11"/>
                    </a:lnTo>
                    <a:lnTo>
                      <a:pt x="117" y="7"/>
                    </a:lnTo>
                    <a:lnTo>
                      <a:pt x="116" y="4"/>
                    </a:lnTo>
                    <a:lnTo>
                      <a:pt x="112" y="4"/>
                    </a:lnTo>
                    <a:lnTo>
                      <a:pt x="110" y="2"/>
                    </a:lnTo>
                    <a:lnTo>
                      <a:pt x="107" y="2"/>
                    </a:lnTo>
                    <a:lnTo>
                      <a:pt x="103" y="4"/>
                    </a:lnTo>
                    <a:lnTo>
                      <a:pt x="96" y="5"/>
                    </a:lnTo>
                    <a:lnTo>
                      <a:pt x="93" y="7"/>
                    </a:lnTo>
                    <a:lnTo>
                      <a:pt x="89" y="9"/>
                    </a:lnTo>
                    <a:lnTo>
                      <a:pt x="86" y="11"/>
                    </a:lnTo>
                    <a:lnTo>
                      <a:pt x="84" y="12"/>
                    </a:lnTo>
                    <a:lnTo>
                      <a:pt x="77" y="16"/>
                    </a:lnTo>
                    <a:lnTo>
                      <a:pt x="74" y="19"/>
                    </a:lnTo>
                    <a:lnTo>
                      <a:pt x="68" y="25"/>
                    </a:lnTo>
                    <a:lnTo>
                      <a:pt x="65" y="32"/>
                    </a:lnTo>
                    <a:lnTo>
                      <a:pt x="63" y="35"/>
                    </a:lnTo>
                    <a:lnTo>
                      <a:pt x="61" y="39"/>
                    </a:lnTo>
                    <a:lnTo>
                      <a:pt x="60" y="42"/>
                    </a:lnTo>
                    <a:lnTo>
                      <a:pt x="58" y="49"/>
                    </a:lnTo>
                    <a:lnTo>
                      <a:pt x="56" y="51"/>
                    </a:lnTo>
                    <a:lnTo>
                      <a:pt x="54" y="54"/>
                    </a:lnTo>
                    <a:lnTo>
                      <a:pt x="54" y="58"/>
                    </a:lnTo>
                    <a:lnTo>
                      <a:pt x="53" y="63"/>
                    </a:lnTo>
                    <a:lnTo>
                      <a:pt x="53" y="67"/>
                    </a:lnTo>
                    <a:lnTo>
                      <a:pt x="51" y="72"/>
                    </a:lnTo>
                    <a:lnTo>
                      <a:pt x="51" y="79"/>
                    </a:lnTo>
                    <a:lnTo>
                      <a:pt x="49" y="84"/>
                    </a:lnTo>
                    <a:lnTo>
                      <a:pt x="47" y="89"/>
                    </a:lnTo>
                    <a:lnTo>
                      <a:pt x="47" y="95"/>
                    </a:lnTo>
                    <a:lnTo>
                      <a:pt x="46" y="102"/>
                    </a:lnTo>
                    <a:lnTo>
                      <a:pt x="46" y="109"/>
                    </a:lnTo>
                    <a:lnTo>
                      <a:pt x="44" y="116"/>
                    </a:lnTo>
                    <a:lnTo>
                      <a:pt x="44" y="123"/>
                    </a:lnTo>
                    <a:lnTo>
                      <a:pt x="44" y="124"/>
                    </a:lnTo>
                    <a:lnTo>
                      <a:pt x="44" y="128"/>
                    </a:lnTo>
                    <a:lnTo>
                      <a:pt x="44" y="131"/>
                    </a:lnTo>
                    <a:lnTo>
                      <a:pt x="44" y="137"/>
                    </a:lnTo>
                    <a:lnTo>
                      <a:pt x="42" y="142"/>
                    </a:lnTo>
                    <a:lnTo>
                      <a:pt x="40" y="149"/>
                    </a:lnTo>
                    <a:lnTo>
                      <a:pt x="40" y="156"/>
                    </a:lnTo>
                    <a:lnTo>
                      <a:pt x="40" y="163"/>
                    </a:lnTo>
                    <a:lnTo>
                      <a:pt x="40" y="168"/>
                    </a:lnTo>
                    <a:lnTo>
                      <a:pt x="39" y="175"/>
                    </a:lnTo>
                    <a:lnTo>
                      <a:pt x="39" y="180"/>
                    </a:lnTo>
                    <a:lnTo>
                      <a:pt x="39" y="187"/>
                    </a:lnTo>
                    <a:lnTo>
                      <a:pt x="39" y="193"/>
                    </a:lnTo>
                    <a:lnTo>
                      <a:pt x="37" y="198"/>
                    </a:lnTo>
                    <a:lnTo>
                      <a:pt x="37" y="201"/>
                    </a:lnTo>
                    <a:lnTo>
                      <a:pt x="37" y="207"/>
                    </a:lnTo>
                    <a:lnTo>
                      <a:pt x="37" y="210"/>
                    </a:lnTo>
                    <a:lnTo>
                      <a:pt x="37" y="213"/>
                    </a:lnTo>
                    <a:lnTo>
                      <a:pt x="37" y="215"/>
                    </a:lnTo>
                    <a:lnTo>
                      <a:pt x="37" y="219"/>
                    </a:lnTo>
                    <a:lnTo>
                      <a:pt x="35" y="222"/>
                    </a:lnTo>
                    <a:lnTo>
                      <a:pt x="33" y="227"/>
                    </a:lnTo>
                    <a:lnTo>
                      <a:pt x="32" y="234"/>
                    </a:lnTo>
                    <a:lnTo>
                      <a:pt x="30" y="241"/>
                    </a:lnTo>
                    <a:lnTo>
                      <a:pt x="26" y="247"/>
                    </a:lnTo>
                    <a:lnTo>
                      <a:pt x="23" y="254"/>
                    </a:lnTo>
                    <a:lnTo>
                      <a:pt x="21" y="257"/>
                    </a:lnTo>
                    <a:lnTo>
                      <a:pt x="19" y="261"/>
                    </a:lnTo>
                    <a:lnTo>
                      <a:pt x="18" y="264"/>
                    </a:lnTo>
                    <a:lnTo>
                      <a:pt x="18" y="268"/>
                    </a:lnTo>
                    <a:lnTo>
                      <a:pt x="14" y="275"/>
                    </a:lnTo>
                    <a:lnTo>
                      <a:pt x="11" y="280"/>
                    </a:lnTo>
                    <a:lnTo>
                      <a:pt x="7" y="285"/>
                    </a:lnTo>
                    <a:lnTo>
                      <a:pt x="4" y="290"/>
                    </a:lnTo>
                    <a:lnTo>
                      <a:pt x="2" y="294"/>
                    </a:lnTo>
                    <a:lnTo>
                      <a:pt x="0" y="297"/>
                    </a:lnTo>
                    <a:lnTo>
                      <a:pt x="0" y="299"/>
                    </a:lnTo>
                    <a:lnTo>
                      <a:pt x="0" y="301"/>
                    </a:lnTo>
                    <a:lnTo>
                      <a:pt x="12" y="3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0" name="Freeform 134"/>
              <p:cNvSpPr>
                <a:spLocks/>
              </p:cNvSpPr>
              <p:nvPr/>
            </p:nvSpPr>
            <p:spPr bwMode="auto">
              <a:xfrm flipH="1">
                <a:off x="2343" y="1916"/>
                <a:ext cx="206" cy="61"/>
              </a:xfrm>
              <a:custGeom>
                <a:avLst/>
                <a:gdLst>
                  <a:gd name="T0" fmla="*/ 17 w 206"/>
                  <a:gd name="T1" fmla="*/ 21 h 61"/>
                  <a:gd name="T2" fmla="*/ 17 w 206"/>
                  <a:gd name="T3" fmla="*/ 29 h 61"/>
                  <a:gd name="T4" fmla="*/ 21 w 206"/>
                  <a:gd name="T5" fmla="*/ 36 h 61"/>
                  <a:gd name="T6" fmla="*/ 29 w 206"/>
                  <a:gd name="T7" fmla="*/ 43 h 61"/>
                  <a:gd name="T8" fmla="*/ 40 w 206"/>
                  <a:gd name="T9" fmla="*/ 47 h 61"/>
                  <a:gd name="T10" fmla="*/ 49 w 206"/>
                  <a:gd name="T11" fmla="*/ 49 h 61"/>
                  <a:gd name="T12" fmla="*/ 56 w 206"/>
                  <a:gd name="T13" fmla="*/ 50 h 61"/>
                  <a:gd name="T14" fmla="*/ 63 w 206"/>
                  <a:gd name="T15" fmla="*/ 50 h 61"/>
                  <a:gd name="T16" fmla="*/ 71 w 206"/>
                  <a:gd name="T17" fmla="*/ 52 h 61"/>
                  <a:gd name="T18" fmla="*/ 78 w 206"/>
                  <a:gd name="T19" fmla="*/ 52 h 61"/>
                  <a:gd name="T20" fmla="*/ 87 w 206"/>
                  <a:gd name="T21" fmla="*/ 52 h 61"/>
                  <a:gd name="T22" fmla="*/ 96 w 206"/>
                  <a:gd name="T23" fmla="*/ 54 h 61"/>
                  <a:gd name="T24" fmla="*/ 105 w 206"/>
                  <a:gd name="T25" fmla="*/ 54 h 61"/>
                  <a:gd name="T26" fmla="*/ 113 w 206"/>
                  <a:gd name="T27" fmla="*/ 52 h 61"/>
                  <a:gd name="T28" fmla="*/ 120 w 206"/>
                  <a:gd name="T29" fmla="*/ 52 h 61"/>
                  <a:gd name="T30" fmla="*/ 127 w 206"/>
                  <a:gd name="T31" fmla="*/ 50 h 61"/>
                  <a:gd name="T32" fmla="*/ 136 w 206"/>
                  <a:gd name="T33" fmla="*/ 50 h 61"/>
                  <a:gd name="T34" fmla="*/ 145 w 206"/>
                  <a:gd name="T35" fmla="*/ 47 h 61"/>
                  <a:gd name="T36" fmla="*/ 155 w 206"/>
                  <a:gd name="T37" fmla="*/ 43 h 61"/>
                  <a:gd name="T38" fmla="*/ 164 w 206"/>
                  <a:gd name="T39" fmla="*/ 38 h 61"/>
                  <a:gd name="T40" fmla="*/ 173 w 206"/>
                  <a:gd name="T41" fmla="*/ 35 h 61"/>
                  <a:gd name="T42" fmla="*/ 182 w 206"/>
                  <a:gd name="T43" fmla="*/ 28 h 61"/>
                  <a:gd name="T44" fmla="*/ 187 w 206"/>
                  <a:gd name="T45" fmla="*/ 21 h 61"/>
                  <a:gd name="T46" fmla="*/ 189 w 206"/>
                  <a:gd name="T47" fmla="*/ 14 h 61"/>
                  <a:gd name="T48" fmla="*/ 206 w 206"/>
                  <a:gd name="T49" fmla="*/ 0 h 61"/>
                  <a:gd name="T50" fmla="*/ 206 w 206"/>
                  <a:gd name="T51" fmla="*/ 7 h 61"/>
                  <a:gd name="T52" fmla="*/ 204 w 206"/>
                  <a:gd name="T53" fmla="*/ 14 h 61"/>
                  <a:gd name="T54" fmla="*/ 201 w 206"/>
                  <a:gd name="T55" fmla="*/ 22 h 61"/>
                  <a:gd name="T56" fmla="*/ 194 w 206"/>
                  <a:gd name="T57" fmla="*/ 31 h 61"/>
                  <a:gd name="T58" fmla="*/ 187 w 206"/>
                  <a:gd name="T59" fmla="*/ 36 h 61"/>
                  <a:gd name="T60" fmla="*/ 182 w 206"/>
                  <a:gd name="T61" fmla="*/ 42 h 61"/>
                  <a:gd name="T62" fmla="*/ 173 w 206"/>
                  <a:gd name="T63" fmla="*/ 45 h 61"/>
                  <a:gd name="T64" fmla="*/ 162 w 206"/>
                  <a:gd name="T65" fmla="*/ 49 h 61"/>
                  <a:gd name="T66" fmla="*/ 150 w 206"/>
                  <a:gd name="T67" fmla="*/ 52 h 61"/>
                  <a:gd name="T68" fmla="*/ 138 w 206"/>
                  <a:gd name="T69" fmla="*/ 56 h 61"/>
                  <a:gd name="T70" fmla="*/ 129 w 206"/>
                  <a:gd name="T71" fmla="*/ 57 h 61"/>
                  <a:gd name="T72" fmla="*/ 122 w 206"/>
                  <a:gd name="T73" fmla="*/ 57 h 61"/>
                  <a:gd name="T74" fmla="*/ 108 w 206"/>
                  <a:gd name="T75" fmla="*/ 59 h 61"/>
                  <a:gd name="T76" fmla="*/ 101 w 206"/>
                  <a:gd name="T77" fmla="*/ 59 h 61"/>
                  <a:gd name="T78" fmla="*/ 96 w 206"/>
                  <a:gd name="T79" fmla="*/ 59 h 61"/>
                  <a:gd name="T80" fmla="*/ 84 w 206"/>
                  <a:gd name="T81" fmla="*/ 61 h 61"/>
                  <a:gd name="T82" fmla="*/ 70 w 206"/>
                  <a:gd name="T83" fmla="*/ 59 h 61"/>
                  <a:gd name="T84" fmla="*/ 59 w 206"/>
                  <a:gd name="T85" fmla="*/ 59 h 61"/>
                  <a:gd name="T86" fmla="*/ 49 w 206"/>
                  <a:gd name="T87" fmla="*/ 57 h 61"/>
                  <a:gd name="T88" fmla="*/ 40 w 206"/>
                  <a:gd name="T89" fmla="*/ 56 h 61"/>
                  <a:gd name="T90" fmla="*/ 29 w 206"/>
                  <a:gd name="T91" fmla="*/ 52 h 61"/>
                  <a:gd name="T92" fmla="*/ 22 w 206"/>
                  <a:gd name="T93" fmla="*/ 49 h 61"/>
                  <a:gd name="T94" fmla="*/ 15 w 206"/>
                  <a:gd name="T95" fmla="*/ 45 h 61"/>
                  <a:gd name="T96" fmla="*/ 10 w 206"/>
                  <a:gd name="T97" fmla="*/ 42 h 61"/>
                  <a:gd name="T98" fmla="*/ 3 w 206"/>
                  <a:gd name="T99" fmla="*/ 29 h 61"/>
                  <a:gd name="T100" fmla="*/ 0 w 206"/>
                  <a:gd name="T101" fmla="*/ 17 h 61"/>
                  <a:gd name="T102" fmla="*/ 17 w 206"/>
                  <a:gd name="T103" fmla="*/ 19 h 61"/>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06"/>
                  <a:gd name="T157" fmla="*/ 0 h 61"/>
                  <a:gd name="T158" fmla="*/ 206 w 206"/>
                  <a:gd name="T159" fmla="*/ 61 h 61"/>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06" h="61">
                    <a:moveTo>
                      <a:pt x="17" y="19"/>
                    </a:moveTo>
                    <a:lnTo>
                      <a:pt x="17" y="21"/>
                    </a:lnTo>
                    <a:lnTo>
                      <a:pt x="17" y="26"/>
                    </a:lnTo>
                    <a:lnTo>
                      <a:pt x="17" y="29"/>
                    </a:lnTo>
                    <a:lnTo>
                      <a:pt x="19" y="33"/>
                    </a:lnTo>
                    <a:lnTo>
                      <a:pt x="21" y="36"/>
                    </a:lnTo>
                    <a:lnTo>
                      <a:pt x="26" y="42"/>
                    </a:lnTo>
                    <a:lnTo>
                      <a:pt x="29" y="43"/>
                    </a:lnTo>
                    <a:lnTo>
                      <a:pt x="35" y="45"/>
                    </a:lnTo>
                    <a:lnTo>
                      <a:pt x="40" y="47"/>
                    </a:lnTo>
                    <a:lnTo>
                      <a:pt x="45" y="49"/>
                    </a:lnTo>
                    <a:lnTo>
                      <a:pt x="49" y="49"/>
                    </a:lnTo>
                    <a:lnTo>
                      <a:pt x="52" y="49"/>
                    </a:lnTo>
                    <a:lnTo>
                      <a:pt x="56" y="50"/>
                    </a:lnTo>
                    <a:lnTo>
                      <a:pt x="59" y="50"/>
                    </a:lnTo>
                    <a:lnTo>
                      <a:pt x="63" y="50"/>
                    </a:lnTo>
                    <a:lnTo>
                      <a:pt x="66" y="52"/>
                    </a:lnTo>
                    <a:lnTo>
                      <a:pt x="71" y="52"/>
                    </a:lnTo>
                    <a:lnTo>
                      <a:pt x="75" y="52"/>
                    </a:lnTo>
                    <a:lnTo>
                      <a:pt x="78" y="52"/>
                    </a:lnTo>
                    <a:lnTo>
                      <a:pt x="84" y="52"/>
                    </a:lnTo>
                    <a:lnTo>
                      <a:pt x="87" y="52"/>
                    </a:lnTo>
                    <a:lnTo>
                      <a:pt x="92" y="54"/>
                    </a:lnTo>
                    <a:lnTo>
                      <a:pt x="96" y="54"/>
                    </a:lnTo>
                    <a:lnTo>
                      <a:pt x="99" y="54"/>
                    </a:lnTo>
                    <a:lnTo>
                      <a:pt x="105" y="54"/>
                    </a:lnTo>
                    <a:lnTo>
                      <a:pt x="108" y="54"/>
                    </a:lnTo>
                    <a:lnTo>
                      <a:pt x="113" y="52"/>
                    </a:lnTo>
                    <a:lnTo>
                      <a:pt x="117" y="52"/>
                    </a:lnTo>
                    <a:lnTo>
                      <a:pt x="120" y="52"/>
                    </a:lnTo>
                    <a:lnTo>
                      <a:pt x="126" y="52"/>
                    </a:lnTo>
                    <a:lnTo>
                      <a:pt x="127" y="50"/>
                    </a:lnTo>
                    <a:lnTo>
                      <a:pt x="133" y="50"/>
                    </a:lnTo>
                    <a:lnTo>
                      <a:pt x="136" y="50"/>
                    </a:lnTo>
                    <a:lnTo>
                      <a:pt x="140" y="49"/>
                    </a:lnTo>
                    <a:lnTo>
                      <a:pt x="145" y="47"/>
                    </a:lnTo>
                    <a:lnTo>
                      <a:pt x="150" y="45"/>
                    </a:lnTo>
                    <a:lnTo>
                      <a:pt x="155" y="43"/>
                    </a:lnTo>
                    <a:lnTo>
                      <a:pt x="161" y="42"/>
                    </a:lnTo>
                    <a:lnTo>
                      <a:pt x="164" y="38"/>
                    </a:lnTo>
                    <a:lnTo>
                      <a:pt x="169" y="36"/>
                    </a:lnTo>
                    <a:lnTo>
                      <a:pt x="173" y="35"/>
                    </a:lnTo>
                    <a:lnTo>
                      <a:pt x="176" y="33"/>
                    </a:lnTo>
                    <a:lnTo>
                      <a:pt x="182" y="28"/>
                    </a:lnTo>
                    <a:lnTo>
                      <a:pt x="185" y="22"/>
                    </a:lnTo>
                    <a:lnTo>
                      <a:pt x="187" y="21"/>
                    </a:lnTo>
                    <a:lnTo>
                      <a:pt x="189" y="17"/>
                    </a:lnTo>
                    <a:lnTo>
                      <a:pt x="189" y="14"/>
                    </a:lnTo>
                    <a:lnTo>
                      <a:pt x="189" y="10"/>
                    </a:lnTo>
                    <a:lnTo>
                      <a:pt x="206" y="0"/>
                    </a:lnTo>
                    <a:lnTo>
                      <a:pt x="206" y="7"/>
                    </a:lnTo>
                    <a:lnTo>
                      <a:pt x="206" y="8"/>
                    </a:lnTo>
                    <a:lnTo>
                      <a:pt x="204" y="14"/>
                    </a:lnTo>
                    <a:lnTo>
                      <a:pt x="203" y="17"/>
                    </a:lnTo>
                    <a:lnTo>
                      <a:pt x="201" y="22"/>
                    </a:lnTo>
                    <a:lnTo>
                      <a:pt x="197" y="28"/>
                    </a:lnTo>
                    <a:lnTo>
                      <a:pt x="194" y="31"/>
                    </a:lnTo>
                    <a:lnTo>
                      <a:pt x="190" y="33"/>
                    </a:lnTo>
                    <a:lnTo>
                      <a:pt x="187" y="36"/>
                    </a:lnTo>
                    <a:lnTo>
                      <a:pt x="185" y="38"/>
                    </a:lnTo>
                    <a:lnTo>
                      <a:pt x="182" y="42"/>
                    </a:lnTo>
                    <a:lnTo>
                      <a:pt x="176" y="43"/>
                    </a:lnTo>
                    <a:lnTo>
                      <a:pt x="173" y="45"/>
                    </a:lnTo>
                    <a:lnTo>
                      <a:pt x="168" y="47"/>
                    </a:lnTo>
                    <a:lnTo>
                      <a:pt x="162" y="49"/>
                    </a:lnTo>
                    <a:lnTo>
                      <a:pt x="157" y="50"/>
                    </a:lnTo>
                    <a:lnTo>
                      <a:pt x="150" y="52"/>
                    </a:lnTo>
                    <a:lnTo>
                      <a:pt x="143" y="54"/>
                    </a:lnTo>
                    <a:lnTo>
                      <a:pt x="138" y="56"/>
                    </a:lnTo>
                    <a:lnTo>
                      <a:pt x="134" y="56"/>
                    </a:lnTo>
                    <a:lnTo>
                      <a:pt x="129" y="57"/>
                    </a:lnTo>
                    <a:lnTo>
                      <a:pt x="126" y="57"/>
                    </a:lnTo>
                    <a:lnTo>
                      <a:pt x="122" y="57"/>
                    </a:lnTo>
                    <a:lnTo>
                      <a:pt x="115" y="57"/>
                    </a:lnTo>
                    <a:lnTo>
                      <a:pt x="108" y="59"/>
                    </a:lnTo>
                    <a:lnTo>
                      <a:pt x="105" y="59"/>
                    </a:lnTo>
                    <a:lnTo>
                      <a:pt x="101" y="59"/>
                    </a:lnTo>
                    <a:lnTo>
                      <a:pt x="98" y="59"/>
                    </a:lnTo>
                    <a:lnTo>
                      <a:pt x="96" y="59"/>
                    </a:lnTo>
                    <a:lnTo>
                      <a:pt x="89" y="59"/>
                    </a:lnTo>
                    <a:lnTo>
                      <a:pt x="84" y="61"/>
                    </a:lnTo>
                    <a:lnTo>
                      <a:pt x="77" y="59"/>
                    </a:lnTo>
                    <a:lnTo>
                      <a:pt x="70" y="59"/>
                    </a:lnTo>
                    <a:lnTo>
                      <a:pt x="64" y="59"/>
                    </a:lnTo>
                    <a:lnTo>
                      <a:pt x="59" y="59"/>
                    </a:lnTo>
                    <a:lnTo>
                      <a:pt x="54" y="57"/>
                    </a:lnTo>
                    <a:lnTo>
                      <a:pt x="49" y="57"/>
                    </a:lnTo>
                    <a:lnTo>
                      <a:pt x="43" y="57"/>
                    </a:lnTo>
                    <a:lnTo>
                      <a:pt x="40" y="56"/>
                    </a:lnTo>
                    <a:lnTo>
                      <a:pt x="35" y="54"/>
                    </a:lnTo>
                    <a:lnTo>
                      <a:pt x="29" y="52"/>
                    </a:lnTo>
                    <a:lnTo>
                      <a:pt x="26" y="50"/>
                    </a:lnTo>
                    <a:lnTo>
                      <a:pt x="22" y="49"/>
                    </a:lnTo>
                    <a:lnTo>
                      <a:pt x="19" y="47"/>
                    </a:lnTo>
                    <a:lnTo>
                      <a:pt x="15" y="45"/>
                    </a:lnTo>
                    <a:lnTo>
                      <a:pt x="12" y="43"/>
                    </a:lnTo>
                    <a:lnTo>
                      <a:pt x="10" y="42"/>
                    </a:lnTo>
                    <a:lnTo>
                      <a:pt x="5" y="35"/>
                    </a:lnTo>
                    <a:lnTo>
                      <a:pt x="3" y="29"/>
                    </a:lnTo>
                    <a:lnTo>
                      <a:pt x="0" y="22"/>
                    </a:lnTo>
                    <a:lnTo>
                      <a:pt x="0" y="17"/>
                    </a:lnTo>
                    <a:lnTo>
                      <a:pt x="17"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7417" name="Text Box 137"/>
          <p:cNvSpPr txBox="1">
            <a:spLocks noChangeArrowheads="1"/>
          </p:cNvSpPr>
          <p:nvPr/>
        </p:nvSpPr>
        <p:spPr bwMode="auto">
          <a:xfrm>
            <a:off x="455613" y="3832225"/>
            <a:ext cx="244157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bg1"/>
                </a:solidFill>
              </a:rPr>
              <a:t>level = 2</a:t>
            </a:r>
            <a:br>
              <a:rPr lang="en-US" sz="1800">
                <a:solidFill>
                  <a:schemeClr val="bg1"/>
                </a:solidFill>
              </a:rPr>
            </a:br>
            <a:r>
              <a:rPr lang="en-US" sz="1800">
                <a:solidFill>
                  <a:schemeClr val="bg1"/>
                </a:solidFill>
              </a:rPr>
              <a:t>county = null</a:t>
            </a:r>
            <a:br>
              <a:rPr lang="en-US" sz="1800">
                <a:solidFill>
                  <a:schemeClr val="bg1"/>
                </a:solidFill>
              </a:rPr>
            </a:br>
            <a:r>
              <a:rPr lang="en-US" sz="1800">
                <a:solidFill>
                  <a:schemeClr val="bg1"/>
                </a:solidFill>
              </a:rPr>
              <a:t>state = null</a:t>
            </a:r>
            <a:br>
              <a:rPr lang="en-US" sz="1800">
                <a:solidFill>
                  <a:schemeClr val="bg1"/>
                </a:solidFill>
              </a:rPr>
            </a:br>
            <a:r>
              <a:rPr lang="en-US" sz="1800">
                <a:solidFill>
                  <a:schemeClr val="bg1"/>
                </a:solidFill>
              </a:rPr>
              <a:t>inspection = done </a:t>
            </a:r>
          </a:p>
        </p:txBody>
      </p:sp>
      <p:grpSp>
        <p:nvGrpSpPr>
          <p:cNvPr id="17418" name="Group 177"/>
          <p:cNvGrpSpPr>
            <a:grpSpLocks/>
          </p:cNvGrpSpPr>
          <p:nvPr/>
        </p:nvGrpSpPr>
        <p:grpSpPr bwMode="auto">
          <a:xfrm>
            <a:off x="2422525" y="4141788"/>
            <a:ext cx="1098550" cy="538162"/>
            <a:chOff x="1526" y="2609"/>
            <a:chExt cx="692" cy="339"/>
          </a:xfrm>
        </p:grpSpPr>
        <p:sp>
          <p:nvSpPr>
            <p:cNvPr id="17429" name="Line 138"/>
            <p:cNvSpPr>
              <a:spLocks noChangeShapeType="1"/>
            </p:cNvSpPr>
            <p:nvPr/>
          </p:nvSpPr>
          <p:spPr bwMode="auto">
            <a:xfrm flipH="1">
              <a:off x="1526" y="2629"/>
              <a:ext cx="357" cy="1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0" name="Text Box 139"/>
            <p:cNvSpPr txBox="1">
              <a:spLocks noChangeArrowheads="1"/>
            </p:cNvSpPr>
            <p:nvPr/>
          </p:nvSpPr>
          <p:spPr bwMode="auto">
            <a:xfrm>
              <a:off x="1884" y="2609"/>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Kern</a:t>
              </a:r>
            </a:p>
          </p:txBody>
        </p:sp>
        <p:sp>
          <p:nvSpPr>
            <p:cNvPr id="17431" name="Line 140"/>
            <p:cNvSpPr>
              <a:spLocks noChangeShapeType="1"/>
            </p:cNvSpPr>
            <p:nvPr/>
          </p:nvSpPr>
          <p:spPr bwMode="auto">
            <a:xfrm flipH="1">
              <a:off x="1532" y="2795"/>
              <a:ext cx="357" cy="14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32" name="Text Box 141"/>
            <p:cNvSpPr txBox="1">
              <a:spLocks noChangeArrowheads="1"/>
            </p:cNvSpPr>
            <p:nvPr/>
          </p:nvSpPr>
          <p:spPr bwMode="auto">
            <a:xfrm>
              <a:off x="1890" y="2775"/>
              <a:ext cx="3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CA</a:t>
              </a:r>
            </a:p>
          </p:txBody>
        </p:sp>
      </p:grpSp>
      <p:grpSp>
        <p:nvGrpSpPr>
          <p:cNvPr id="17419" name="Group 153"/>
          <p:cNvGrpSpPr>
            <a:grpSpLocks/>
          </p:cNvGrpSpPr>
          <p:nvPr/>
        </p:nvGrpSpPr>
        <p:grpSpPr bwMode="auto">
          <a:xfrm>
            <a:off x="7766050" y="3954463"/>
            <a:ext cx="1027113" cy="874712"/>
            <a:chOff x="4324" y="1324"/>
            <a:chExt cx="647" cy="551"/>
          </a:xfrm>
        </p:grpSpPr>
        <p:sp>
          <p:nvSpPr>
            <p:cNvPr id="17427" name="AutoShape 154"/>
            <p:cNvSpPr>
              <a:spLocks noChangeArrowheads="1"/>
            </p:cNvSpPr>
            <p:nvPr/>
          </p:nvSpPr>
          <p:spPr bwMode="invGray">
            <a:xfrm>
              <a:off x="4324" y="1324"/>
              <a:ext cx="647" cy="551"/>
            </a:xfrm>
            <a:prstGeom prst="can">
              <a:avLst>
                <a:gd name="adj" fmla="val 17333"/>
              </a:avLst>
            </a:prstGeom>
            <a:solidFill>
              <a:schemeClr val="accent1"/>
            </a:solidFill>
            <a:ln w="28575">
              <a:solidFill>
                <a:schemeClr val="tx2"/>
              </a:solidFill>
              <a:round/>
              <a:headEnd/>
              <a:tailEnd/>
            </a:ln>
          </p:spPr>
          <p:txBody>
            <a:bodyPr wrap="none" anchor="ctr"/>
            <a:lstStyle/>
            <a:p>
              <a:endParaRPr lang="en-US"/>
            </a:p>
          </p:txBody>
        </p:sp>
        <p:sp>
          <p:nvSpPr>
            <p:cNvPr id="17428" name="Text Box 155"/>
            <p:cNvSpPr txBox="1">
              <a:spLocks noChangeArrowheads="1"/>
            </p:cNvSpPr>
            <p:nvPr/>
          </p:nvSpPr>
          <p:spPr bwMode="invGray">
            <a:xfrm>
              <a:off x="4405" y="1395"/>
              <a:ext cx="4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rgbClr val="99CCFF"/>
                  </a:solidFill>
                </a:rPr>
                <a:t>cc</a:t>
              </a:r>
              <a:br>
                <a:rPr lang="en-US">
                  <a:solidFill>
                    <a:srgbClr val="99CCFF"/>
                  </a:solidFill>
                </a:rPr>
              </a:br>
              <a:r>
                <a:rPr lang="en-US">
                  <a:solidFill>
                    <a:srgbClr val="99CCFF"/>
                  </a:solidFill>
                </a:rPr>
                <a:t>data</a:t>
              </a:r>
            </a:p>
          </p:txBody>
        </p:sp>
      </p:grpSp>
      <p:sp>
        <p:nvSpPr>
          <p:cNvPr id="17420" name="Line 159"/>
          <p:cNvSpPr>
            <a:spLocks noChangeShapeType="1"/>
          </p:cNvSpPr>
          <p:nvPr/>
        </p:nvSpPr>
        <p:spPr bwMode="auto">
          <a:xfrm>
            <a:off x="3611563" y="2940050"/>
            <a:ext cx="4144962" cy="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1" name="Line 161"/>
          <p:cNvSpPr>
            <a:spLocks noChangeShapeType="1"/>
          </p:cNvSpPr>
          <p:nvPr/>
        </p:nvSpPr>
        <p:spPr bwMode="auto">
          <a:xfrm>
            <a:off x="3611563" y="4391025"/>
            <a:ext cx="4144962" cy="0"/>
          </a:xfrm>
          <a:prstGeom prst="line">
            <a:avLst/>
          </a:prstGeom>
          <a:noFill/>
          <a:ln w="28575">
            <a:solidFill>
              <a:srgbClr val="CC00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2" name="Text Box 166"/>
          <p:cNvSpPr txBox="1">
            <a:spLocks noChangeArrowheads="1"/>
          </p:cNvSpPr>
          <p:nvPr/>
        </p:nvSpPr>
        <p:spPr bwMode="auto">
          <a:xfrm>
            <a:off x="4102100" y="3806825"/>
            <a:ext cx="12842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00FF"/>
                </a:solidFill>
              </a:rPr>
              <a:t>promote to</a:t>
            </a:r>
            <a:br>
              <a:rPr lang="en-US" sz="1800">
                <a:solidFill>
                  <a:srgbClr val="CC00FF"/>
                </a:solidFill>
              </a:rPr>
            </a:br>
            <a:r>
              <a:rPr lang="en-US" sz="1800">
                <a:solidFill>
                  <a:srgbClr val="CC00FF"/>
                </a:solidFill>
              </a:rPr>
              <a:t>level 3</a:t>
            </a:r>
          </a:p>
        </p:txBody>
      </p:sp>
      <p:sp>
        <p:nvSpPr>
          <p:cNvPr id="17423" name="Text Box 168"/>
          <p:cNvSpPr txBox="1">
            <a:spLocks noChangeArrowheads="1"/>
          </p:cNvSpPr>
          <p:nvPr/>
        </p:nvSpPr>
        <p:spPr bwMode="auto">
          <a:xfrm>
            <a:off x="6221413" y="3822927"/>
            <a:ext cx="12842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00FF"/>
                </a:solidFill>
              </a:rPr>
              <a:t>promote to</a:t>
            </a:r>
            <a:br>
              <a:rPr lang="en-US" sz="1800">
                <a:solidFill>
                  <a:srgbClr val="CC00FF"/>
                </a:solidFill>
              </a:rPr>
            </a:br>
            <a:r>
              <a:rPr lang="en-US" sz="1800">
                <a:solidFill>
                  <a:srgbClr val="CC00FF"/>
                </a:solidFill>
              </a:rPr>
              <a:t>level 4</a:t>
            </a:r>
          </a:p>
        </p:txBody>
      </p:sp>
      <p:grpSp>
        <p:nvGrpSpPr>
          <p:cNvPr id="17424" name="Group 172"/>
          <p:cNvGrpSpPr>
            <a:grpSpLocks/>
          </p:cNvGrpSpPr>
          <p:nvPr/>
        </p:nvGrpSpPr>
        <p:grpSpPr bwMode="auto">
          <a:xfrm>
            <a:off x="2601913" y="3741738"/>
            <a:ext cx="688975" cy="344487"/>
            <a:chOff x="1639" y="2357"/>
            <a:chExt cx="434" cy="217"/>
          </a:xfrm>
        </p:grpSpPr>
        <p:sp>
          <p:nvSpPr>
            <p:cNvPr id="17425" name="Line 170"/>
            <p:cNvSpPr>
              <a:spLocks noChangeShapeType="1"/>
            </p:cNvSpPr>
            <p:nvPr/>
          </p:nvSpPr>
          <p:spPr bwMode="auto">
            <a:xfrm flipH="1">
              <a:off x="1639" y="2437"/>
              <a:ext cx="226" cy="137"/>
            </a:xfrm>
            <a:prstGeom prst="line">
              <a:avLst/>
            </a:prstGeom>
            <a:noFill/>
            <a:ln w="12700">
              <a:solidFill>
                <a:srgbClr val="CC00FF"/>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6" name="Text Box 171"/>
            <p:cNvSpPr txBox="1">
              <a:spLocks noChangeArrowheads="1"/>
            </p:cNvSpPr>
            <p:nvPr/>
          </p:nvSpPr>
          <p:spPr bwMode="auto">
            <a:xfrm>
              <a:off x="1835" y="2357"/>
              <a:ext cx="23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00FF"/>
                  </a:solidFill>
                </a:rPr>
                <a:t>4</a:t>
              </a: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 name="Group 73"/>
          <p:cNvGrpSpPr/>
          <p:nvPr/>
        </p:nvGrpSpPr>
        <p:grpSpPr>
          <a:xfrm>
            <a:off x="7924800" y="2814116"/>
            <a:ext cx="762000" cy="741506"/>
            <a:chOff x="4343400" y="4495800"/>
            <a:chExt cx="762000" cy="741506"/>
          </a:xfrm>
        </p:grpSpPr>
        <p:sp>
          <p:nvSpPr>
            <p:cNvPr id="75" name="Rounded Rectangle 7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76" name="Straight Connector 7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77" name="Picture 7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78" name="Picture 7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058" y="5377442"/>
            <a:ext cx="6756508" cy="8128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4" name="Line 2"/>
          <p:cNvSpPr>
            <a:spLocks noChangeShapeType="1"/>
          </p:cNvSpPr>
          <p:nvPr/>
        </p:nvSpPr>
        <p:spPr bwMode="auto">
          <a:xfrm flipV="1">
            <a:off x="4572000" y="1458913"/>
            <a:ext cx="0" cy="8270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35" name="Rectangle 3"/>
          <p:cNvSpPr>
            <a:spLocks noGrp="1" noChangeArrowheads="1"/>
          </p:cNvSpPr>
          <p:nvPr>
            <p:ph type="title"/>
          </p:nvPr>
        </p:nvSpPr>
        <p:spPr/>
        <p:txBody>
          <a:bodyPr/>
          <a:lstStyle/>
          <a:p>
            <a:pPr eaLnBrk="1" hangingPunct="1"/>
            <a:r>
              <a:rPr lang="en-US"/>
              <a:t>Related objects can trigger validation</a:t>
            </a:r>
          </a:p>
        </p:txBody>
      </p:sp>
      <p:sp>
        <p:nvSpPr>
          <p:cNvPr id="18436" name="Rectangle 4"/>
          <p:cNvSpPr>
            <a:spLocks noGrp="1" noChangeArrowheads="1"/>
          </p:cNvSpPr>
          <p:nvPr>
            <p:ph idx="1"/>
          </p:nvPr>
        </p:nvSpPr>
        <p:spPr>
          <a:xfrm>
            <a:off x="392113" y="2014538"/>
            <a:ext cx="4887912" cy="2913062"/>
          </a:xfrm>
        </p:spPr>
        <p:txBody>
          <a:bodyPr/>
          <a:lstStyle/>
          <a:p>
            <a:pPr>
              <a:buFont typeface="Arial" charset="0"/>
              <a:buChar char="•"/>
            </a:pPr>
            <a:r>
              <a:rPr lang="en-US"/>
              <a:t>Validation is triggered </a:t>
            </a:r>
            <a:br>
              <a:rPr lang="en-US"/>
            </a:br>
            <a:r>
              <a:rPr lang="en-US"/>
              <a:t>on a </a:t>
            </a:r>
            <a:r>
              <a:rPr lang="en-US" err="1"/>
              <a:t>validatable</a:t>
            </a:r>
            <a:r>
              <a:rPr lang="en-US"/>
              <a:t> object when:</a:t>
            </a:r>
          </a:p>
          <a:p>
            <a:pPr lvl="1"/>
            <a:r>
              <a:rPr lang="en-US"/>
              <a:t>The object is created</a:t>
            </a:r>
          </a:p>
          <a:p>
            <a:pPr lvl="1"/>
            <a:r>
              <a:rPr lang="en-US"/>
              <a:t>The object is changed</a:t>
            </a:r>
          </a:p>
          <a:p>
            <a:pPr lvl="1"/>
            <a:r>
              <a:rPr lang="en-US"/>
              <a:t>One of the object's sub-objects is created, changed, or removed</a:t>
            </a:r>
          </a:p>
          <a:p>
            <a:pPr lvl="2"/>
            <a:r>
              <a:rPr lang="en-US"/>
              <a:t>Assuming "</a:t>
            </a:r>
            <a:r>
              <a:rPr lang="en-US" err="1"/>
              <a:t>triggersValidation</a:t>
            </a:r>
            <a:r>
              <a:rPr lang="en-US"/>
              <a:t>" attribute is set on array, </a:t>
            </a:r>
            <a:r>
              <a:rPr lang="en-US" err="1"/>
              <a:t>onetoone</a:t>
            </a:r>
            <a:r>
              <a:rPr lang="en-US"/>
              <a:t>, or </a:t>
            </a:r>
            <a:r>
              <a:rPr lang="en-US" err="1"/>
              <a:t>fk</a:t>
            </a:r>
            <a:endParaRPr lang="en-US"/>
          </a:p>
          <a:p>
            <a:pPr lvl="2">
              <a:buFont typeface="Wingdings 2" pitchFamily="18" charset="2"/>
              <a:buNone/>
            </a:pPr>
            <a:endParaRPr lang="en-US"/>
          </a:p>
        </p:txBody>
      </p:sp>
      <p:grpSp>
        <p:nvGrpSpPr>
          <p:cNvPr id="18437" name="Group 5"/>
          <p:cNvGrpSpPr>
            <a:grpSpLocks/>
          </p:cNvGrpSpPr>
          <p:nvPr/>
        </p:nvGrpSpPr>
        <p:grpSpPr bwMode="auto">
          <a:xfrm>
            <a:off x="3844925" y="927100"/>
            <a:ext cx="1512888" cy="1114425"/>
            <a:chOff x="2083" y="1606"/>
            <a:chExt cx="1489" cy="1097"/>
          </a:xfrm>
        </p:grpSpPr>
        <p:sp>
          <p:nvSpPr>
            <p:cNvPr id="18470"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8471"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2"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3"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8474"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8475"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8476"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77"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8478" name="Freeform 14"/>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79" name="Freeform 15"/>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0"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1"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2"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8483" name="Group 19"/>
            <p:cNvGrpSpPr>
              <a:grpSpLocks/>
            </p:cNvGrpSpPr>
            <p:nvPr/>
          </p:nvGrpSpPr>
          <p:grpSpPr bwMode="auto">
            <a:xfrm>
              <a:off x="2221" y="1871"/>
              <a:ext cx="518" cy="782"/>
              <a:chOff x="2400" y="1656"/>
              <a:chExt cx="752" cy="1136"/>
            </a:xfrm>
          </p:grpSpPr>
          <p:sp>
            <p:nvSpPr>
              <p:cNvPr id="18496"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7"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8"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9"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500"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8501"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502"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84" name="Group 27"/>
            <p:cNvGrpSpPr>
              <a:grpSpLocks/>
            </p:cNvGrpSpPr>
            <p:nvPr/>
          </p:nvGrpSpPr>
          <p:grpSpPr bwMode="auto">
            <a:xfrm rot="-6511945">
              <a:off x="2834" y="1842"/>
              <a:ext cx="518" cy="783"/>
              <a:chOff x="2400" y="1656"/>
              <a:chExt cx="752" cy="1136"/>
            </a:xfrm>
          </p:grpSpPr>
          <p:sp>
            <p:nvSpPr>
              <p:cNvPr id="18489"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90"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1"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2"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3"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8494"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95"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8485" name="Freeform 35"/>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8486" name="Freeform 36"/>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8487"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8488"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8438" name="Text Box 43"/>
          <p:cNvSpPr txBox="1">
            <a:spLocks noChangeArrowheads="1"/>
          </p:cNvSpPr>
          <p:nvPr/>
        </p:nvSpPr>
        <p:spPr bwMode="auto">
          <a:xfrm>
            <a:off x="7257612" y="2501900"/>
            <a:ext cx="1968459"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service request</a:t>
            </a:r>
          </a:p>
        </p:txBody>
      </p:sp>
      <p:sp>
        <p:nvSpPr>
          <p:cNvPr id="18439" name="Text Box 46"/>
          <p:cNvSpPr txBox="1">
            <a:spLocks noChangeArrowheads="1"/>
          </p:cNvSpPr>
          <p:nvPr/>
        </p:nvSpPr>
        <p:spPr bwMode="auto">
          <a:xfrm>
            <a:off x="5573713"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document</a:t>
            </a:r>
          </a:p>
        </p:txBody>
      </p:sp>
      <p:sp>
        <p:nvSpPr>
          <p:cNvPr id="18440" name="Text Box 47"/>
          <p:cNvSpPr txBox="1">
            <a:spLocks noChangeArrowheads="1"/>
          </p:cNvSpPr>
          <p:nvPr/>
        </p:nvSpPr>
        <p:spPr bwMode="auto">
          <a:xfrm>
            <a:off x="2617788" y="129381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rPr>
              <a:t>claim</a:t>
            </a:r>
          </a:p>
        </p:txBody>
      </p:sp>
      <p:sp>
        <p:nvSpPr>
          <p:cNvPr id="18441" name="Line 48"/>
          <p:cNvSpPr>
            <a:spLocks noChangeShapeType="1"/>
          </p:cNvSpPr>
          <p:nvPr/>
        </p:nvSpPr>
        <p:spPr bwMode="auto">
          <a:xfrm>
            <a:off x="4556125" y="2274888"/>
            <a:ext cx="3892550" cy="79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2" name="Line 50"/>
          <p:cNvSpPr>
            <a:spLocks noChangeShapeType="1"/>
          </p:cNvSpPr>
          <p:nvPr/>
        </p:nvSpPr>
        <p:spPr bwMode="auto">
          <a:xfrm>
            <a:off x="8439150"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3" name="Line 51"/>
          <p:cNvSpPr>
            <a:spLocks noChangeShapeType="1"/>
          </p:cNvSpPr>
          <p:nvPr/>
        </p:nvSpPr>
        <p:spPr bwMode="auto">
          <a:xfrm>
            <a:off x="6161088"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8444" name="Group 56"/>
          <p:cNvGrpSpPr>
            <a:grpSpLocks/>
          </p:cNvGrpSpPr>
          <p:nvPr/>
        </p:nvGrpSpPr>
        <p:grpSpPr bwMode="auto">
          <a:xfrm>
            <a:off x="5770563" y="2840038"/>
            <a:ext cx="644525" cy="727075"/>
            <a:chOff x="3445" y="2543"/>
            <a:chExt cx="406" cy="458"/>
          </a:xfrm>
        </p:grpSpPr>
        <p:sp>
          <p:nvSpPr>
            <p:cNvPr id="18464" name="AutoShape 57"/>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8465" name="Line 58"/>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6" name="Line 59"/>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7" name="Line 60"/>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8" name="Line 61"/>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69" name="Freeform 62"/>
            <p:cNvSpPr>
              <a:spLocks/>
            </p:cNvSpPr>
            <p:nvPr/>
          </p:nvSpPr>
          <p:spPr bwMode="auto">
            <a:xfrm>
              <a:off x="3498" y="2568"/>
              <a:ext cx="293" cy="132"/>
            </a:xfrm>
            <a:custGeom>
              <a:avLst/>
              <a:gdLst>
                <a:gd name="T0" fmla="*/ 0 w 609"/>
                <a:gd name="T1" fmla="*/ 23 h 275"/>
                <a:gd name="T2" fmla="*/ 7 w 609"/>
                <a:gd name="T3" fmla="*/ 8 h 275"/>
                <a:gd name="T4" fmla="*/ 9 w 609"/>
                <a:gd name="T5" fmla="*/ 29 h 275"/>
                <a:gd name="T6" fmla="*/ 11 w 609"/>
                <a:gd name="T7" fmla="*/ 14 h 275"/>
                <a:gd name="T8" fmla="*/ 16 w 609"/>
                <a:gd name="T9" fmla="*/ 27 h 275"/>
                <a:gd name="T10" fmla="*/ 18 w 609"/>
                <a:gd name="T11" fmla="*/ 1 h 275"/>
                <a:gd name="T12" fmla="*/ 22 w 609"/>
                <a:gd name="T13" fmla="*/ 17 h 275"/>
                <a:gd name="T14" fmla="*/ 33 w 609"/>
                <a:gd name="T15" fmla="*/ 14 h 275"/>
                <a:gd name="T16" fmla="*/ 36 w 609"/>
                <a:gd name="T17" fmla="*/ 24 h 275"/>
                <a:gd name="T18" fmla="*/ 42 w 609"/>
                <a:gd name="T19" fmla="*/ 21 h 275"/>
                <a:gd name="T20" fmla="*/ 51 w 609"/>
                <a:gd name="T21" fmla="*/ 18 h 275"/>
                <a:gd name="T22" fmla="*/ 61 w 609"/>
                <a:gd name="T23" fmla="*/ 25 h 275"/>
                <a:gd name="T24" fmla="*/ 68 w 609"/>
                <a:gd name="T25" fmla="*/ 22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8446" name="Text Box 121"/>
          <p:cNvSpPr txBox="1">
            <a:spLocks noChangeArrowheads="1"/>
          </p:cNvSpPr>
          <p:nvPr/>
        </p:nvSpPr>
        <p:spPr bwMode="auto">
          <a:xfrm>
            <a:off x="5540375" y="3744913"/>
            <a:ext cx="1782763"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creation of document triggers</a:t>
            </a:r>
            <a:br>
              <a:rPr lang="en-US"/>
            </a:br>
            <a:r>
              <a:rPr lang="en-US"/>
              <a:t>claim validation</a:t>
            </a:r>
          </a:p>
        </p:txBody>
      </p:sp>
      <p:sp>
        <p:nvSpPr>
          <p:cNvPr id="18447" name="Line 122"/>
          <p:cNvSpPr>
            <a:spLocks noChangeShapeType="1"/>
          </p:cNvSpPr>
          <p:nvPr/>
        </p:nvSpPr>
        <p:spPr bwMode="auto">
          <a:xfrm flipV="1">
            <a:off x="6264275" y="1965325"/>
            <a:ext cx="0" cy="1722438"/>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8" name="Line 123"/>
          <p:cNvSpPr>
            <a:spLocks noChangeShapeType="1"/>
          </p:cNvSpPr>
          <p:nvPr/>
        </p:nvSpPr>
        <p:spPr bwMode="auto">
          <a:xfrm flipH="1" flipV="1">
            <a:off x="5440363" y="1477963"/>
            <a:ext cx="823912" cy="47307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49" name="Text Box 124"/>
          <p:cNvSpPr txBox="1">
            <a:spLocks noChangeArrowheads="1"/>
          </p:cNvSpPr>
          <p:nvPr/>
        </p:nvSpPr>
        <p:spPr bwMode="auto">
          <a:xfrm>
            <a:off x="7561263" y="3744913"/>
            <a:ext cx="152400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change to service request triggers</a:t>
            </a:r>
            <a:br>
              <a:rPr lang="en-US"/>
            </a:br>
            <a:r>
              <a:rPr lang="en-US"/>
              <a:t>claim validation</a:t>
            </a:r>
          </a:p>
        </p:txBody>
      </p:sp>
      <p:sp>
        <p:nvSpPr>
          <p:cNvPr id="18450" name="Line 125"/>
          <p:cNvSpPr>
            <a:spLocks noChangeShapeType="1"/>
          </p:cNvSpPr>
          <p:nvPr/>
        </p:nvSpPr>
        <p:spPr bwMode="auto">
          <a:xfrm flipV="1">
            <a:off x="8305800" y="1951038"/>
            <a:ext cx="0" cy="1812925"/>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51" name="Line 126"/>
          <p:cNvSpPr>
            <a:spLocks noChangeShapeType="1"/>
          </p:cNvSpPr>
          <p:nvPr/>
        </p:nvSpPr>
        <p:spPr bwMode="auto">
          <a:xfrm flipH="1" flipV="1">
            <a:off x="5456238" y="1371600"/>
            <a:ext cx="2879725" cy="5635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3" name="AutoShape 7"/>
          <p:cNvSpPr>
            <a:spLocks noChangeArrowheads="1"/>
          </p:cNvSpPr>
          <p:nvPr/>
        </p:nvSpPr>
        <p:spPr bwMode="auto">
          <a:xfrm>
            <a:off x="4284068" y="5426792"/>
            <a:ext cx="1174120" cy="23809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434" y="5895419"/>
            <a:ext cx="9020566" cy="54182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2" name="AutoShape 7"/>
          <p:cNvSpPr>
            <a:spLocks noChangeArrowheads="1"/>
          </p:cNvSpPr>
          <p:nvPr/>
        </p:nvSpPr>
        <p:spPr bwMode="auto">
          <a:xfrm>
            <a:off x="4698871" y="5907840"/>
            <a:ext cx="1174120" cy="23809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Line 220"/>
          <p:cNvSpPr>
            <a:spLocks noChangeShapeType="1"/>
          </p:cNvSpPr>
          <p:nvPr/>
        </p:nvSpPr>
        <p:spPr bwMode="auto">
          <a:xfrm flipV="1">
            <a:off x="4572000" y="1458913"/>
            <a:ext cx="0" cy="8270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59" name="Rectangle 2"/>
          <p:cNvSpPr>
            <a:spLocks noGrp="1" noChangeArrowheads="1"/>
          </p:cNvSpPr>
          <p:nvPr>
            <p:ph type="title"/>
          </p:nvPr>
        </p:nvSpPr>
        <p:spPr/>
        <p:txBody>
          <a:bodyPr/>
          <a:lstStyle/>
          <a:p>
            <a:pPr eaLnBrk="1" hangingPunct="1"/>
            <a:r>
              <a:rPr lang="en-US"/>
              <a:t>Related claim objects trigger validation</a:t>
            </a:r>
          </a:p>
        </p:txBody>
      </p:sp>
      <p:sp>
        <p:nvSpPr>
          <p:cNvPr id="19460" name="Rectangle 3"/>
          <p:cNvSpPr>
            <a:spLocks noGrp="1" noChangeArrowheads="1"/>
          </p:cNvSpPr>
          <p:nvPr>
            <p:ph idx="1"/>
          </p:nvPr>
        </p:nvSpPr>
        <p:spPr>
          <a:xfrm>
            <a:off x="519113" y="4324350"/>
            <a:ext cx="8318500" cy="2044700"/>
          </a:xfrm>
        </p:spPr>
        <p:txBody>
          <a:bodyPr/>
          <a:lstStyle/>
          <a:p>
            <a:pPr>
              <a:buFont typeface="Arial" charset="0"/>
              <a:buChar char="•"/>
            </a:pPr>
            <a:r>
              <a:rPr lang="en-US"/>
              <a:t>All these existing sub-objects trigger validation</a:t>
            </a:r>
          </a:p>
          <a:p>
            <a:pPr>
              <a:buFont typeface="Arial" charset="0"/>
              <a:buChar char="•"/>
            </a:pPr>
            <a:r>
              <a:rPr lang="en-US"/>
              <a:t>Some sub-objects do not trigger validation</a:t>
            </a:r>
          </a:p>
          <a:p>
            <a:pPr lvl="1"/>
            <a:r>
              <a:rPr lang="en-US"/>
              <a:t>Example: Associations and </a:t>
            </a:r>
            <a:r>
              <a:rPr lang="en-US" err="1"/>
              <a:t>MedicalProcedures</a:t>
            </a:r>
            <a:r>
              <a:rPr lang="en-US"/>
              <a:t> do not</a:t>
            </a:r>
          </a:p>
          <a:p>
            <a:pPr>
              <a:buFont typeface="Arial" charset="0"/>
              <a:buChar char="•"/>
            </a:pPr>
            <a:r>
              <a:rPr lang="en-US"/>
              <a:t>User-created arrays can trigger validation on the parent</a:t>
            </a:r>
          </a:p>
        </p:txBody>
      </p:sp>
      <p:grpSp>
        <p:nvGrpSpPr>
          <p:cNvPr id="19461" name="Group 40"/>
          <p:cNvGrpSpPr>
            <a:grpSpLocks/>
          </p:cNvGrpSpPr>
          <p:nvPr/>
        </p:nvGrpSpPr>
        <p:grpSpPr bwMode="auto">
          <a:xfrm>
            <a:off x="3844925" y="927100"/>
            <a:ext cx="1512888" cy="1114425"/>
            <a:chOff x="2083" y="1606"/>
            <a:chExt cx="1489" cy="1097"/>
          </a:xfrm>
        </p:grpSpPr>
        <p:sp>
          <p:nvSpPr>
            <p:cNvPr id="19544" name="Rectangle 4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545" name="Freeform 4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46" name="Freeform 4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47" name="Freeform 4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9548" name="Freeform 4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9549" name="Rectangle 4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550" name="Rectangle 4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1" name="AutoShape 4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52" name="Freeform 49"/>
            <p:cNvSpPr>
              <a:spLocks/>
            </p:cNvSpPr>
            <p:nvPr/>
          </p:nvSpPr>
          <p:spPr bwMode="auto">
            <a:xfrm>
              <a:off x="2219" y="2561"/>
              <a:ext cx="369" cy="104"/>
            </a:xfrm>
            <a:custGeom>
              <a:avLst/>
              <a:gdLst>
                <a:gd name="T0" fmla="*/ 0 w 992"/>
                <a:gd name="T1" fmla="*/ 0 h 280"/>
                <a:gd name="T2" fmla="*/ 51 w 992"/>
                <a:gd name="T3" fmla="*/ 12 h 280"/>
                <a:gd name="T4" fmla="*/ 48 w 992"/>
                <a:gd name="T5" fmla="*/ 14 h 280"/>
                <a:gd name="T6" fmla="*/ 1 w 992"/>
                <a:gd name="T7" fmla="*/ 3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53" name="Freeform 50"/>
            <p:cNvSpPr>
              <a:spLocks/>
            </p:cNvSpPr>
            <p:nvPr/>
          </p:nvSpPr>
          <p:spPr bwMode="auto">
            <a:xfrm>
              <a:off x="3429" y="2008"/>
              <a:ext cx="51" cy="375"/>
            </a:xfrm>
            <a:custGeom>
              <a:avLst/>
              <a:gdLst>
                <a:gd name="T0" fmla="*/ 0 w 136"/>
                <a:gd name="T1" fmla="*/ 0 h 1008"/>
                <a:gd name="T2" fmla="*/ 4 w 136"/>
                <a:gd name="T3" fmla="*/ 52 h 1008"/>
                <a:gd name="T4" fmla="*/ 7 w 136"/>
                <a:gd name="T5" fmla="*/ 47 h 1008"/>
                <a:gd name="T6" fmla="*/ 3 w 136"/>
                <a:gd name="T7" fmla="*/ 3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54" name="Rectangle 5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5" name="Rectangle 5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56" name="Rectangle 5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57" name="Group 54"/>
            <p:cNvGrpSpPr>
              <a:grpSpLocks/>
            </p:cNvGrpSpPr>
            <p:nvPr/>
          </p:nvGrpSpPr>
          <p:grpSpPr bwMode="auto">
            <a:xfrm>
              <a:off x="2221" y="1871"/>
              <a:ext cx="518" cy="782"/>
              <a:chOff x="2400" y="1656"/>
              <a:chExt cx="752" cy="1136"/>
            </a:xfrm>
          </p:grpSpPr>
          <p:sp>
            <p:nvSpPr>
              <p:cNvPr id="19570" name="Freeform 5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71" name="Freeform 5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72" name="Freeform 5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73" name="Freeform 5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74" name="Freeform 5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9575" name="Line 6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76" name="Line 6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58" name="Group 62"/>
            <p:cNvGrpSpPr>
              <a:grpSpLocks/>
            </p:cNvGrpSpPr>
            <p:nvPr/>
          </p:nvGrpSpPr>
          <p:grpSpPr bwMode="auto">
            <a:xfrm rot="-6511945">
              <a:off x="2834" y="1842"/>
              <a:ext cx="518" cy="783"/>
              <a:chOff x="2400" y="1656"/>
              <a:chExt cx="752" cy="1136"/>
            </a:xfrm>
          </p:grpSpPr>
          <p:sp>
            <p:nvSpPr>
              <p:cNvPr id="19563" name="Freeform 6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64" name="Freeform 6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65" name="Freeform 6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66" name="Freeform 6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67" name="Freeform 6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9568" name="Line 6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69" name="Line 6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59" name="Freeform 70"/>
            <p:cNvSpPr>
              <a:spLocks/>
            </p:cNvSpPr>
            <p:nvPr/>
          </p:nvSpPr>
          <p:spPr bwMode="auto">
            <a:xfrm>
              <a:off x="2689" y="2097"/>
              <a:ext cx="62" cy="351"/>
            </a:xfrm>
            <a:custGeom>
              <a:avLst/>
              <a:gdLst>
                <a:gd name="T0" fmla="*/ 8 w 168"/>
                <a:gd name="T1" fmla="*/ 49 h 944"/>
                <a:gd name="T2" fmla="*/ 1 w 168"/>
                <a:gd name="T3" fmla="*/ 0 h 944"/>
                <a:gd name="T4" fmla="*/ 0 w 168"/>
                <a:gd name="T5" fmla="*/ 3 h 944"/>
                <a:gd name="T6" fmla="*/ 6 w 168"/>
                <a:gd name="T7" fmla="*/ 47 h 944"/>
                <a:gd name="T8" fmla="*/ 8 w 168"/>
                <a:gd name="T9" fmla="*/ 49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9560" name="Freeform 71"/>
            <p:cNvSpPr>
              <a:spLocks/>
            </p:cNvSpPr>
            <p:nvPr/>
          </p:nvSpPr>
          <p:spPr bwMode="auto">
            <a:xfrm>
              <a:off x="2382" y="1853"/>
              <a:ext cx="354" cy="78"/>
            </a:xfrm>
            <a:custGeom>
              <a:avLst/>
              <a:gdLst>
                <a:gd name="T0" fmla="*/ 0 w 952"/>
                <a:gd name="T1" fmla="*/ 2 h 208"/>
                <a:gd name="T2" fmla="*/ 4 w 952"/>
                <a:gd name="T3" fmla="*/ 0 h 208"/>
                <a:gd name="T4" fmla="*/ 48 w 952"/>
                <a:gd name="T5" fmla="*/ 8 h 208"/>
                <a:gd name="T6" fmla="*/ 49 w 952"/>
                <a:gd name="T7" fmla="*/ 11 h 208"/>
                <a:gd name="T8" fmla="*/ 0 w 952"/>
                <a:gd name="T9" fmla="*/ 2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61" name="Rectangle 7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62" name="Rectangle 7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462" name="Group 74"/>
          <p:cNvGrpSpPr>
            <a:grpSpLocks/>
          </p:cNvGrpSpPr>
          <p:nvPr/>
        </p:nvGrpSpPr>
        <p:grpSpPr bwMode="auto">
          <a:xfrm>
            <a:off x="255545" y="3033713"/>
            <a:ext cx="649287" cy="649287"/>
            <a:chOff x="1350" y="686"/>
            <a:chExt cx="1132" cy="1132"/>
          </a:xfrm>
        </p:grpSpPr>
        <p:sp>
          <p:nvSpPr>
            <p:cNvPr id="19542" name="AutoShape 7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543" name="Picture 7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63" name="Text Box 77"/>
          <p:cNvSpPr txBox="1">
            <a:spLocks noChangeArrowheads="1"/>
          </p:cNvSpPr>
          <p:nvPr/>
        </p:nvSpPr>
        <p:spPr bwMode="auto">
          <a:xfrm>
            <a:off x="117432" y="2501900"/>
            <a:ext cx="958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claim</a:t>
            </a:r>
            <a:br>
              <a:rPr lang="en-US" sz="1800">
                <a:solidFill>
                  <a:schemeClr val="bg1"/>
                </a:solidFill>
              </a:rPr>
            </a:br>
            <a:r>
              <a:rPr lang="en-US" sz="1800">
                <a:solidFill>
                  <a:schemeClr val="bg1"/>
                </a:solidFill>
              </a:rPr>
              <a:t>contact</a:t>
            </a:r>
          </a:p>
        </p:txBody>
      </p:sp>
      <p:sp>
        <p:nvSpPr>
          <p:cNvPr id="19464" name="Text Box 78"/>
          <p:cNvSpPr txBox="1">
            <a:spLocks noChangeArrowheads="1"/>
          </p:cNvSpPr>
          <p:nvPr/>
        </p:nvSpPr>
        <p:spPr bwMode="auto">
          <a:xfrm>
            <a:off x="7791450"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matter</a:t>
            </a:r>
          </a:p>
        </p:txBody>
      </p:sp>
      <p:sp>
        <p:nvSpPr>
          <p:cNvPr id="19465" name="Text Box 79"/>
          <p:cNvSpPr txBox="1">
            <a:spLocks noChangeArrowheads="1"/>
          </p:cNvSpPr>
          <p:nvPr/>
        </p:nvSpPr>
        <p:spPr bwMode="auto">
          <a:xfrm>
            <a:off x="2079078" y="2513776"/>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incident</a:t>
            </a:r>
          </a:p>
        </p:txBody>
      </p:sp>
      <p:sp>
        <p:nvSpPr>
          <p:cNvPr id="19466" name="Text Box 81"/>
          <p:cNvSpPr txBox="1">
            <a:spLocks noChangeArrowheads="1"/>
          </p:cNvSpPr>
          <p:nvPr/>
        </p:nvSpPr>
        <p:spPr bwMode="auto">
          <a:xfrm>
            <a:off x="6734446"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note</a:t>
            </a:r>
          </a:p>
        </p:txBody>
      </p:sp>
      <p:sp>
        <p:nvSpPr>
          <p:cNvPr id="19467" name="Text Box 82"/>
          <p:cNvSpPr txBox="1">
            <a:spLocks noChangeArrowheads="1"/>
          </p:cNvSpPr>
          <p:nvPr/>
        </p:nvSpPr>
        <p:spPr bwMode="auto">
          <a:xfrm>
            <a:off x="5661395"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document</a:t>
            </a:r>
          </a:p>
        </p:txBody>
      </p:sp>
      <p:sp>
        <p:nvSpPr>
          <p:cNvPr id="19468" name="Text Box 83"/>
          <p:cNvSpPr txBox="1">
            <a:spLocks noChangeArrowheads="1"/>
          </p:cNvSpPr>
          <p:nvPr/>
        </p:nvSpPr>
        <p:spPr bwMode="auto">
          <a:xfrm>
            <a:off x="2617788" y="1293813"/>
            <a:ext cx="1171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rPr>
              <a:t>claim</a:t>
            </a:r>
          </a:p>
        </p:txBody>
      </p:sp>
      <p:sp>
        <p:nvSpPr>
          <p:cNvPr id="19469" name="Line 89"/>
          <p:cNvSpPr>
            <a:spLocks noChangeShapeType="1"/>
          </p:cNvSpPr>
          <p:nvPr/>
        </p:nvSpPr>
        <p:spPr bwMode="auto">
          <a:xfrm>
            <a:off x="462072" y="2282825"/>
            <a:ext cx="798660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470" name="Line 90"/>
          <p:cNvSpPr>
            <a:spLocks noChangeShapeType="1"/>
          </p:cNvSpPr>
          <p:nvPr/>
        </p:nvSpPr>
        <p:spPr bwMode="auto">
          <a:xfrm>
            <a:off x="462072"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1" name="Line 91"/>
          <p:cNvSpPr>
            <a:spLocks noChangeShapeType="1"/>
          </p:cNvSpPr>
          <p:nvPr/>
        </p:nvSpPr>
        <p:spPr bwMode="auto">
          <a:xfrm>
            <a:off x="8439150"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2" name="Line 92"/>
          <p:cNvSpPr>
            <a:spLocks noChangeShapeType="1"/>
          </p:cNvSpPr>
          <p:nvPr/>
        </p:nvSpPr>
        <p:spPr bwMode="auto">
          <a:xfrm>
            <a:off x="6161088"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3" name="Line 93"/>
          <p:cNvSpPr>
            <a:spLocks noChangeShapeType="1"/>
          </p:cNvSpPr>
          <p:nvPr/>
        </p:nvSpPr>
        <p:spPr bwMode="auto">
          <a:xfrm>
            <a:off x="7319963"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4" name="Line 94"/>
          <p:cNvSpPr>
            <a:spLocks noChangeShapeType="1"/>
          </p:cNvSpPr>
          <p:nvPr/>
        </p:nvSpPr>
        <p:spPr bwMode="auto">
          <a:xfrm>
            <a:off x="4883150"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5" name="Line 95"/>
          <p:cNvSpPr>
            <a:spLocks noChangeShapeType="1"/>
          </p:cNvSpPr>
          <p:nvPr/>
        </p:nvSpPr>
        <p:spPr bwMode="auto">
          <a:xfrm>
            <a:off x="2599666" y="2280414"/>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6" name="Line 96"/>
          <p:cNvSpPr>
            <a:spLocks noChangeShapeType="1"/>
          </p:cNvSpPr>
          <p:nvPr/>
        </p:nvSpPr>
        <p:spPr bwMode="auto">
          <a:xfrm>
            <a:off x="3886583"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77" name="Group 97"/>
          <p:cNvGrpSpPr>
            <a:grpSpLocks/>
          </p:cNvGrpSpPr>
          <p:nvPr/>
        </p:nvGrpSpPr>
        <p:grpSpPr bwMode="auto">
          <a:xfrm>
            <a:off x="5858245" y="2840038"/>
            <a:ext cx="644525" cy="727075"/>
            <a:chOff x="3445" y="2543"/>
            <a:chExt cx="406" cy="458"/>
          </a:xfrm>
        </p:grpSpPr>
        <p:sp>
          <p:nvSpPr>
            <p:cNvPr id="19536" name="AutoShape 98"/>
            <p:cNvSpPr>
              <a:spLocks noChangeArrowheads="1"/>
            </p:cNvSpPr>
            <p:nvPr/>
          </p:nvSpPr>
          <p:spPr bwMode="auto">
            <a:xfrm rot="10800000" flipH="1">
              <a:off x="3445" y="2543"/>
              <a:ext cx="406" cy="458"/>
            </a:xfrm>
            <a:prstGeom prst="foldedCorner">
              <a:avLst>
                <a:gd name="adj" fmla="val 26509"/>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9537" name="Line 99"/>
            <p:cNvSpPr>
              <a:spLocks noChangeShapeType="1"/>
            </p:cNvSpPr>
            <p:nvPr/>
          </p:nvSpPr>
          <p:spPr bwMode="auto">
            <a:xfrm>
              <a:off x="3502" y="2736"/>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8" name="Line 100"/>
            <p:cNvSpPr>
              <a:spLocks noChangeShapeType="1"/>
            </p:cNvSpPr>
            <p:nvPr/>
          </p:nvSpPr>
          <p:spPr bwMode="auto">
            <a:xfrm>
              <a:off x="3502" y="2804"/>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9" name="Line 101"/>
            <p:cNvSpPr>
              <a:spLocks noChangeShapeType="1"/>
            </p:cNvSpPr>
            <p:nvPr/>
          </p:nvSpPr>
          <p:spPr bwMode="auto">
            <a:xfrm>
              <a:off x="3502" y="2871"/>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40" name="Line 102"/>
            <p:cNvSpPr>
              <a:spLocks noChangeShapeType="1"/>
            </p:cNvSpPr>
            <p:nvPr/>
          </p:nvSpPr>
          <p:spPr bwMode="auto">
            <a:xfrm>
              <a:off x="3502" y="2937"/>
              <a:ext cx="29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41" name="Freeform 103"/>
            <p:cNvSpPr>
              <a:spLocks/>
            </p:cNvSpPr>
            <p:nvPr/>
          </p:nvSpPr>
          <p:spPr bwMode="auto">
            <a:xfrm>
              <a:off x="3498" y="2568"/>
              <a:ext cx="293" cy="132"/>
            </a:xfrm>
            <a:custGeom>
              <a:avLst/>
              <a:gdLst>
                <a:gd name="T0" fmla="*/ 0 w 609"/>
                <a:gd name="T1" fmla="*/ 23 h 275"/>
                <a:gd name="T2" fmla="*/ 7 w 609"/>
                <a:gd name="T3" fmla="*/ 8 h 275"/>
                <a:gd name="T4" fmla="*/ 9 w 609"/>
                <a:gd name="T5" fmla="*/ 29 h 275"/>
                <a:gd name="T6" fmla="*/ 11 w 609"/>
                <a:gd name="T7" fmla="*/ 14 h 275"/>
                <a:gd name="T8" fmla="*/ 16 w 609"/>
                <a:gd name="T9" fmla="*/ 27 h 275"/>
                <a:gd name="T10" fmla="*/ 18 w 609"/>
                <a:gd name="T11" fmla="*/ 1 h 275"/>
                <a:gd name="T12" fmla="*/ 22 w 609"/>
                <a:gd name="T13" fmla="*/ 17 h 275"/>
                <a:gd name="T14" fmla="*/ 33 w 609"/>
                <a:gd name="T15" fmla="*/ 14 h 275"/>
                <a:gd name="T16" fmla="*/ 36 w 609"/>
                <a:gd name="T17" fmla="*/ 24 h 275"/>
                <a:gd name="T18" fmla="*/ 42 w 609"/>
                <a:gd name="T19" fmla="*/ 21 h 275"/>
                <a:gd name="T20" fmla="*/ 51 w 609"/>
                <a:gd name="T21" fmla="*/ 18 h 275"/>
                <a:gd name="T22" fmla="*/ 61 w 609"/>
                <a:gd name="T23" fmla="*/ 25 h 275"/>
                <a:gd name="T24" fmla="*/ 68 w 609"/>
                <a:gd name="T25" fmla="*/ 22 h 2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9"/>
                <a:gd name="T40" fmla="*/ 0 h 275"/>
                <a:gd name="T41" fmla="*/ 609 w 609"/>
                <a:gd name="T42" fmla="*/ 275 h 2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9" h="275">
                  <a:moveTo>
                    <a:pt x="0" y="207"/>
                  </a:moveTo>
                  <a:cubicBezTo>
                    <a:pt x="26" y="135"/>
                    <a:pt x="52" y="63"/>
                    <a:pt x="66" y="73"/>
                  </a:cubicBezTo>
                  <a:cubicBezTo>
                    <a:pt x="80" y="83"/>
                    <a:pt x="77" y="255"/>
                    <a:pt x="83" y="265"/>
                  </a:cubicBezTo>
                  <a:cubicBezTo>
                    <a:pt x="89" y="275"/>
                    <a:pt x="90" y="135"/>
                    <a:pt x="100" y="132"/>
                  </a:cubicBezTo>
                  <a:cubicBezTo>
                    <a:pt x="110" y="129"/>
                    <a:pt x="131" y="267"/>
                    <a:pt x="141" y="248"/>
                  </a:cubicBezTo>
                  <a:cubicBezTo>
                    <a:pt x="151" y="229"/>
                    <a:pt x="148" y="30"/>
                    <a:pt x="158" y="15"/>
                  </a:cubicBezTo>
                  <a:cubicBezTo>
                    <a:pt x="168" y="0"/>
                    <a:pt x="176" y="137"/>
                    <a:pt x="200" y="157"/>
                  </a:cubicBezTo>
                  <a:cubicBezTo>
                    <a:pt x="224" y="177"/>
                    <a:pt x="279" y="121"/>
                    <a:pt x="300" y="132"/>
                  </a:cubicBezTo>
                  <a:cubicBezTo>
                    <a:pt x="321" y="143"/>
                    <a:pt x="312" y="213"/>
                    <a:pt x="325" y="223"/>
                  </a:cubicBezTo>
                  <a:cubicBezTo>
                    <a:pt x="338" y="233"/>
                    <a:pt x="353" y="200"/>
                    <a:pt x="375" y="190"/>
                  </a:cubicBezTo>
                  <a:cubicBezTo>
                    <a:pt x="397" y="180"/>
                    <a:pt x="431" y="158"/>
                    <a:pt x="459" y="165"/>
                  </a:cubicBezTo>
                  <a:cubicBezTo>
                    <a:pt x="487" y="172"/>
                    <a:pt x="517" y="227"/>
                    <a:pt x="542" y="232"/>
                  </a:cubicBezTo>
                  <a:cubicBezTo>
                    <a:pt x="567" y="237"/>
                    <a:pt x="598" y="204"/>
                    <a:pt x="609" y="198"/>
                  </a:cubicBezTo>
                </a:path>
              </a:pathLst>
            </a:custGeom>
            <a:noFill/>
            <a:ln w="28575"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9478" name="Group 111"/>
          <p:cNvGrpSpPr>
            <a:grpSpLocks/>
          </p:cNvGrpSpPr>
          <p:nvPr/>
        </p:nvGrpSpPr>
        <p:grpSpPr bwMode="auto">
          <a:xfrm>
            <a:off x="6975845" y="2820988"/>
            <a:ext cx="928687" cy="827087"/>
            <a:chOff x="2322" y="507"/>
            <a:chExt cx="1203" cy="1071"/>
          </a:xfrm>
        </p:grpSpPr>
        <p:sp>
          <p:nvSpPr>
            <p:cNvPr id="19527" name="Freeform 112"/>
            <p:cNvSpPr>
              <a:spLocks/>
            </p:cNvSpPr>
            <p:nvPr/>
          </p:nvSpPr>
          <p:spPr bwMode="auto">
            <a:xfrm>
              <a:off x="2322" y="600"/>
              <a:ext cx="1203" cy="978"/>
            </a:xfrm>
            <a:custGeom>
              <a:avLst/>
              <a:gdLst>
                <a:gd name="T0" fmla="*/ 0 w 1203"/>
                <a:gd name="T1" fmla="*/ 351 h 978"/>
                <a:gd name="T2" fmla="*/ 474 w 1203"/>
                <a:gd name="T3" fmla="*/ 168 h 978"/>
                <a:gd name="T4" fmla="*/ 609 w 1203"/>
                <a:gd name="T5" fmla="*/ 90 h 978"/>
                <a:gd name="T6" fmla="*/ 723 w 1203"/>
                <a:gd name="T7" fmla="*/ 0 h 978"/>
                <a:gd name="T8" fmla="*/ 801 w 1203"/>
                <a:gd name="T9" fmla="*/ 231 h 978"/>
                <a:gd name="T10" fmla="*/ 882 w 1203"/>
                <a:gd name="T11" fmla="*/ 405 h 978"/>
                <a:gd name="T12" fmla="*/ 939 w 1203"/>
                <a:gd name="T13" fmla="*/ 480 h 978"/>
                <a:gd name="T14" fmla="*/ 1044 w 1203"/>
                <a:gd name="T15" fmla="*/ 558 h 978"/>
                <a:gd name="T16" fmla="*/ 1116 w 1203"/>
                <a:gd name="T17" fmla="*/ 582 h 978"/>
                <a:gd name="T18" fmla="*/ 1203 w 1203"/>
                <a:gd name="T19" fmla="*/ 597 h 978"/>
                <a:gd name="T20" fmla="*/ 1095 w 1203"/>
                <a:gd name="T21" fmla="*/ 693 h 978"/>
                <a:gd name="T22" fmla="*/ 957 w 1203"/>
                <a:gd name="T23" fmla="*/ 810 h 978"/>
                <a:gd name="T24" fmla="*/ 852 w 1203"/>
                <a:gd name="T25" fmla="*/ 873 h 978"/>
                <a:gd name="T26" fmla="*/ 756 w 1203"/>
                <a:gd name="T27" fmla="*/ 918 h 978"/>
                <a:gd name="T28" fmla="*/ 648 w 1203"/>
                <a:gd name="T29" fmla="*/ 960 h 978"/>
                <a:gd name="T30" fmla="*/ 555 w 1203"/>
                <a:gd name="T31" fmla="*/ 978 h 978"/>
                <a:gd name="T32" fmla="*/ 471 w 1203"/>
                <a:gd name="T33" fmla="*/ 969 h 978"/>
                <a:gd name="T34" fmla="*/ 402 w 1203"/>
                <a:gd name="T35" fmla="*/ 927 h 978"/>
                <a:gd name="T36" fmla="*/ 303 w 1203"/>
                <a:gd name="T37" fmla="*/ 837 h 978"/>
                <a:gd name="T38" fmla="*/ 213 w 1203"/>
                <a:gd name="T39" fmla="*/ 702 h 978"/>
                <a:gd name="T40" fmla="*/ 99 w 1203"/>
                <a:gd name="T41" fmla="*/ 546 h 978"/>
                <a:gd name="T42" fmla="*/ 36 w 1203"/>
                <a:gd name="T43" fmla="*/ 435 h 978"/>
                <a:gd name="T44" fmla="*/ 0 w 1203"/>
                <a:gd name="T45" fmla="*/ 351 h 97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03"/>
                <a:gd name="T70" fmla="*/ 0 h 978"/>
                <a:gd name="T71" fmla="*/ 1203 w 1203"/>
                <a:gd name="T72" fmla="*/ 978 h 97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03" h="978">
                  <a:moveTo>
                    <a:pt x="0" y="351"/>
                  </a:moveTo>
                  <a:lnTo>
                    <a:pt x="474" y="168"/>
                  </a:lnTo>
                  <a:lnTo>
                    <a:pt x="609" y="90"/>
                  </a:lnTo>
                  <a:lnTo>
                    <a:pt x="723" y="0"/>
                  </a:lnTo>
                  <a:lnTo>
                    <a:pt x="801" y="231"/>
                  </a:lnTo>
                  <a:lnTo>
                    <a:pt x="882" y="405"/>
                  </a:lnTo>
                  <a:lnTo>
                    <a:pt x="939" y="480"/>
                  </a:lnTo>
                  <a:lnTo>
                    <a:pt x="1044" y="558"/>
                  </a:lnTo>
                  <a:lnTo>
                    <a:pt x="1116" y="582"/>
                  </a:lnTo>
                  <a:lnTo>
                    <a:pt x="1203" y="597"/>
                  </a:lnTo>
                  <a:lnTo>
                    <a:pt x="1095" y="693"/>
                  </a:lnTo>
                  <a:lnTo>
                    <a:pt x="957" y="810"/>
                  </a:lnTo>
                  <a:lnTo>
                    <a:pt x="852" y="873"/>
                  </a:lnTo>
                  <a:lnTo>
                    <a:pt x="756" y="918"/>
                  </a:lnTo>
                  <a:lnTo>
                    <a:pt x="648" y="960"/>
                  </a:lnTo>
                  <a:lnTo>
                    <a:pt x="555" y="978"/>
                  </a:lnTo>
                  <a:lnTo>
                    <a:pt x="471" y="969"/>
                  </a:lnTo>
                  <a:lnTo>
                    <a:pt x="402" y="927"/>
                  </a:lnTo>
                  <a:lnTo>
                    <a:pt x="303" y="837"/>
                  </a:lnTo>
                  <a:lnTo>
                    <a:pt x="213" y="702"/>
                  </a:lnTo>
                  <a:lnTo>
                    <a:pt x="99" y="546"/>
                  </a:lnTo>
                  <a:lnTo>
                    <a:pt x="36" y="435"/>
                  </a:lnTo>
                  <a:lnTo>
                    <a:pt x="0" y="351"/>
                  </a:lnTo>
                  <a:close/>
                </a:path>
              </a:pathLst>
            </a:custGeom>
            <a:solidFill>
              <a:srgbClr val="FFFFCC"/>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28" name="Oval 113"/>
            <p:cNvSpPr>
              <a:spLocks noChangeArrowheads="1"/>
            </p:cNvSpPr>
            <p:nvPr/>
          </p:nvSpPr>
          <p:spPr bwMode="auto">
            <a:xfrm>
              <a:off x="2448" y="699"/>
              <a:ext cx="375" cy="300"/>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sp>
          <p:nvSpPr>
            <p:cNvPr id="19529" name="Freeform 114"/>
            <p:cNvSpPr>
              <a:spLocks/>
            </p:cNvSpPr>
            <p:nvPr/>
          </p:nvSpPr>
          <p:spPr bwMode="auto">
            <a:xfrm>
              <a:off x="2559" y="654"/>
              <a:ext cx="159" cy="216"/>
            </a:xfrm>
            <a:custGeom>
              <a:avLst/>
              <a:gdLst>
                <a:gd name="T0" fmla="*/ 0 w 159"/>
                <a:gd name="T1" fmla="*/ 18 h 216"/>
                <a:gd name="T2" fmla="*/ 0 w 159"/>
                <a:gd name="T3" fmla="*/ 180 h 216"/>
                <a:gd name="T4" fmla="*/ 18 w 159"/>
                <a:gd name="T5" fmla="*/ 204 h 216"/>
                <a:gd name="T6" fmla="*/ 60 w 159"/>
                <a:gd name="T7" fmla="*/ 216 h 216"/>
                <a:gd name="T8" fmla="*/ 108 w 159"/>
                <a:gd name="T9" fmla="*/ 210 h 216"/>
                <a:gd name="T10" fmla="*/ 147 w 159"/>
                <a:gd name="T11" fmla="*/ 189 h 216"/>
                <a:gd name="T12" fmla="*/ 159 w 159"/>
                <a:gd name="T13" fmla="*/ 165 h 216"/>
                <a:gd name="T14" fmla="*/ 159 w 159"/>
                <a:gd name="T15" fmla="*/ 0 h 216"/>
                <a:gd name="T16" fmla="*/ 0 w 159"/>
                <a:gd name="T17" fmla="*/ 18 h 2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216"/>
                <a:gd name="T29" fmla="*/ 159 w 159"/>
                <a:gd name="T30" fmla="*/ 216 h 2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216">
                  <a:moveTo>
                    <a:pt x="0" y="18"/>
                  </a:moveTo>
                  <a:lnTo>
                    <a:pt x="0" y="180"/>
                  </a:lnTo>
                  <a:lnTo>
                    <a:pt x="18" y="204"/>
                  </a:lnTo>
                  <a:lnTo>
                    <a:pt x="60" y="216"/>
                  </a:lnTo>
                  <a:lnTo>
                    <a:pt x="108" y="210"/>
                  </a:lnTo>
                  <a:lnTo>
                    <a:pt x="147" y="189"/>
                  </a:lnTo>
                  <a:lnTo>
                    <a:pt x="159" y="165"/>
                  </a:lnTo>
                  <a:lnTo>
                    <a:pt x="159" y="0"/>
                  </a:lnTo>
                  <a:lnTo>
                    <a:pt x="0" y="18"/>
                  </a:lnTo>
                  <a:close/>
                </a:path>
              </a:pathLst>
            </a:custGeom>
            <a:solidFill>
              <a:srgbClr val="FF000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30" name="Line 115"/>
            <p:cNvSpPr>
              <a:spLocks noChangeShapeType="1"/>
            </p:cNvSpPr>
            <p:nvPr/>
          </p:nvSpPr>
          <p:spPr bwMode="auto">
            <a:xfrm>
              <a:off x="2637" y="999"/>
              <a:ext cx="0" cy="9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31" name="Freeform 116"/>
            <p:cNvSpPr>
              <a:spLocks/>
            </p:cNvSpPr>
            <p:nvPr/>
          </p:nvSpPr>
          <p:spPr bwMode="auto">
            <a:xfrm>
              <a:off x="2622" y="1032"/>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32" name="Freeform 117"/>
            <p:cNvSpPr>
              <a:spLocks/>
            </p:cNvSpPr>
            <p:nvPr/>
          </p:nvSpPr>
          <p:spPr bwMode="auto">
            <a:xfrm>
              <a:off x="2685" y="1113"/>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33" name="Freeform 118"/>
            <p:cNvSpPr>
              <a:spLocks/>
            </p:cNvSpPr>
            <p:nvPr/>
          </p:nvSpPr>
          <p:spPr bwMode="auto">
            <a:xfrm>
              <a:off x="2679" y="1396"/>
              <a:ext cx="417" cy="110"/>
            </a:xfrm>
            <a:custGeom>
              <a:avLst/>
              <a:gdLst>
                <a:gd name="T0" fmla="*/ 0 w 417"/>
                <a:gd name="T1" fmla="*/ 89 h 110"/>
                <a:gd name="T2" fmla="*/ 63 w 417"/>
                <a:gd name="T3" fmla="*/ 95 h 110"/>
                <a:gd name="T4" fmla="*/ 123 w 417"/>
                <a:gd name="T5" fmla="*/ 80 h 110"/>
                <a:gd name="T6" fmla="*/ 171 w 417"/>
                <a:gd name="T7" fmla="*/ 47 h 110"/>
                <a:gd name="T8" fmla="*/ 198 w 417"/>
                <a:gd name="T9" fmla="*/ 2 h 110"/>
                <a:gd name="T10" fmla="*/ 216 w 417"/>
                <a:gd name="T11" fmla="*/ 32 h 110"/>
                <a:gd name="T12" fmla="*/ 258 w 417"/>
                <a:gd name="T13" fmla="*/ 65 h 110"/>
                <a:gd name="T14" fmla="*/ 291 w 417"/>
                <a:gd name="T15" fmla="*/ 89 h 110"/>
                <a:gd name="T16" fmla="*/ 342 w 417"/>
                <a:gd name="T17" fmla="*/ 104 h 110"/>
                <a:gd name="T18" fmla="*/ 417 w 417"/>
                <a:gd name="T19" fmla="*/ 110 h 1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7"/>
                <a:gd name="T31" fmla="*/ 0 h 110"/>
                <a:gd name="T32" fmla="*/ 417 w 417"/>
                <a:gd name="T33" fmla="*/ 110 h 1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7" h="110">
                  <a:moveTo>
                    <a:pt x="0" y="89"/>
                  </a:moveTo>
                  <a:cubicBezTo>
                    <a:pt x="21" y="92"/>
                    <a:pt x="43" y="96"/>
                    <a:pt x="63" y="95"/>
                  </a:cubicBezTo>
                  <a:cubicBezTo>
                    <a:pt x="83" y="94"/>
                    <a:pt x="105" y="88"/>
                    <a:pt x="123" y="80"/>
                  </a:cubicBezTo>
                  <a:cubicBezTo>
                    <a:pt x="141" y="72"/>
                    <a:pt x="159" y="60"/>
                    <a:pt x="171" y="47"/>
                  </a:cubicBezTo>
                  <a:cubicBezTo>
                    <a:pt x="183" y="34"/>
                    <a:pt x="191" y="4"/>
                    <a:pt x="198" y="2"/>
                  </a:cubicBezTo>
                  <a:cubicBezTo>
                    <a:pt x="205" y="0"/>
                    <a:pt x="206" y="21"/>
                    <a:pt x="216" y="32"/>
                  </a:cubicBezTo>
                  <a:cubicBezTo>
                    <a:pt x="226" y="43"/>
                    <a:pt x="246" y="56"/>
                    <a:pt x="258" y="65"/>
                  </a:cubicBezTo>
                  <a:cubicBezTo>
                    <a:pt x="270" y="74"/>
                    <a:pt x="277" y="83"/>
                    <a:pt x="291" y="89"/>
                  </a:cubicBezTo>
                  <a:cubicBezTo>
                    <a:pt x="305" y="95"/>
                    <a:pt x="321" y="100"/>
                    <a:pt x="342" y="104"/>
                  </a:cubicBezTo>
                  <a:cubicBezTo>
                    <a:pt x="363" y="108"/>
                    <a:pt x="390" y="109"/>
                    <a:pt x="417" y="110"/>
                  </a:cubicBezTo>
                </a:path>
              </a:pathLst>
            </a:custGeom>
            <a:noFill/>
            <a:ln w="12700" cap="flat" cmpd="sng">
              <a:solidFill>
                <a:schemeClr val="bg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34" name="Freeform 119"/>
            <p:cNvSpPr>
              <a:spLocks/>
            </p:cNvSpPr>
            <p:nvPr/>
          </p:nvSpPr>
          <p:spPr bwMode="auto">
            <a:xfrm>
              <a:off x="2577" y="939"/>
              <a:ext cx="513" cy="249"/>
            </a:xfrm>
            <a:custGeom>
              <a:avLst/>
              <a:gdLst>
                <a:gd name="T0" fmla="*/ 0 w 513"/>
                <a:gd name="T1" fmla="*/ 249 h 249"/>
                <a:gd name="T2" fmla="*/ 141 w 513"/>
                <a:gd name="T3" fmla="*/ 216 h 249"/>
                <a:gd name="T4" fmla="*/ 264 w 513"/>
                <a:gd name="T5" fmla="*/ 165 h 249"/>
                <a:gd name="T6" fmla="*/ 372 w 513"/>
                <a:gd name="T7" fmla="*/ 99 h 249"/>
                <a:gd name="T8" fmla="*/ 513 w 513"/>
                <a:gd name="T9" fmla="*/ 0 h 249"/>
                <a:gd name="T10" fmla="*/ 0 60000 65536"/>
                <a:gd name="T11" fmla="*/ 0 60000 65536"/>
                <a:gd name="T12" fmla="*/ 0 60000 65536"/>
                <a:gd name="T13" fmla="*/ 0 60000 65536"/>
                <a:gd name="T14" fmla="*/ 0 60000 65536"/>
                <a:gd name="T15" fmla="*/ 0 w 513"/>
                <a:gd name="T16" fmla="*/ 0 h 249"/>
                <a:gd name="T17" fmla="*/ 513 w 513"/>
                <a:gd name="T18" fmla="*/ 249 h 249"/>
              </a:gdLst>
              <a:ahLst/>
              <a:cxnLst>
                <a:cxn ang="T10">
                  <a:pos x="T0" y="T1"/>
                </a:cxn>
                <a:cxn ang="T11">
                  <a:pos x="T2" y="T3"/>
                </a:cxn>
                <a:cxn ang="T12">
                  <a:pos x="T4" y="T5"/>
                </a:cxn>
                <a:cxn ang="T13">
                  <a:pos x="T6" y="T7"/>
                </a:cxn>
                <a:cxn ang="T14">
                  <a:pos x="T8" y="T9"/>
                </a:cxn>
              </a:cxnLst>
              <a:rect l="T15" t="T16" r="T17" b="T18"/>
              <a:pathLst>
                <a:path w="513" h="249">
                  <a:moveTo>
                    <a:pt x="0" y="249"/>
                  </a:moveTo>
                  <a:cubicBezTo>
                    <a:pt x="48" y="239"/>
                    <a:pt x="97" y="230"/>
                    <a:pt x="141" y="216"/>
                  </a:cubicBezTo>
                  <a:cubicBezTo>
                    <a:pt x="185" y="202"/>
                    <a:pt x="226" y="184"/>
                    <a:pt x="264" y="165"/>
                  </a:cubicBezTo>
                  <a:cubicBezTo>
                    <a:pt x="302" y="146"/>
                    <a:pt x="331" y="127"/>
                    <a:pt x="372" y="99"/>
                  </a:cubicBezTo>
                  <a:cubicBezTo>
                    <a:pt x="413" y="71"/>
                    <a:pt x="489" y="17"/>
                    <a:pt x="513" y="0"/>
                  </a:cubicBezTo>
                </a:path>
              </a:pathLst>
            </a:custGeom>
            <a:noFill/>
            <a:ln w="28575" cap="flat" cmpd="sng">
              <a:solidFill>
                <a:srgbClr val="777777"/>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535" name="Oval 120"/>
            <p:cNvSpPr>
              <a:spLocks noChangeArrowheads="1"/>
            </p:cNvSpPr>
            <p:nvPr/>
          </p:nvSpPr>
          <p:spPr bwMode="auto">
            <a:xfrm>
              <a:off x="2502" y="507"/>
              <a:ext cx="276" cy="222"/>
            </a:xfrm>
            <a:prstGeom prst="ellipse">
              <a:avLst/>
            </a:prstGeom>
            <a:solidFill>
              <a:srgbClr val="FF0000"/>
            </a:solidFill>
            <a:ln w="12700" algn="ctr">
              <a:solidFill>
                <a:schemeClr val="bg1"/>
              </a:solidFill>
              <a:round/>
              <a:headEnd/>
              <a:tailEnd/>
            </a:ln>
          </p:spPr>
          <p:txBody>
            <a:bodyPr lIns="0" tIns="0" rIns="0" bIns="0" anchor="ctr">
              <a:spAutoFit/>
            </a:bodyPr>
            <a:lstStyle/>
            <a:p>
              <a:endParaRPr lang="en-US"/>
            </a:p>
          </p:txBody>
        </p:sp>
      </p:grpSp>
      <p:grpSp>
        <p:nvGrpSpPr>
          <p:cNvPr id="19479" name="Group 131"/>
          <p:cNvGrpSpPr>
            <a:grpSpLocks/>
          </p:cNvGrpSpPr>
          <p:nvPr/>
        </p:nvGrpSpPr>
        <p:grpSpPr bwMode="auto">
          <a:xfrm>
            <a:off x="7959725" y="2817813"/>
            <a:ext cx="746125" cy="749300"/>
            <a:chOff x="4932" y="501"/>
            <a:chExt cx="708" cy="712"/>
          </a:xfrm>
        </p:grpSpPr>
        <p:sp>
          <p:nvSpPr>
            <p:cNvPr id="19517" name="Freeform 132"/>
            <p:cNvSpPr>
              <a:spLocks/>
            </p:cNvSpPr>
            <p:nvPr/>
          </p:nvSpPr>
          <p:spPr bwMode="auto">
            <a:xfrm>
              <a:off x="4932" y="501"/>
              <a:ext cx="708" cy="703"/>
            </a:xfrm>
            <a:custGeom>
              <a:avLst/>
              <a:gdLst>
                <a:gd name="T0" fmla="*/ 132 w 1542"/>
                <a:gd name="T1" fmla="*/ 148 h 1531"/>
                <a:gd name="T2" fmla="*/ 135 w 1542"/>
                <a:gd name="T3" fmla="*/ 148 h 1531"/>
                <a:gd name="T4" fmla="*/ 139 w 1542"/>
                <a:gd name="T5" fmla="*/ 147 h 1531"/>
                <a:gd name="T6" fmla="*/ 142 w 1542"/>
                <a:gd name="T7" fmla="*/ 145 h 1531"/>
                <a:gd name="T8" fmla="*/ 145 w 1542"/>
                <a:gd name="T9" fmla="*/ 143 h 1531"/>
                <a:gd name="T10" fmla="*/ 146 w 1542"/>
                <a:gd name="T11" fmla="*/ 141 h 1531"/>
                <a:gd name="T12" fmla="*/ 148 w 1542"/>
                <a:gd name="T13" fmla="*/ 138 h 1531"/>
                <a:gd name="T14" fmla="*/ 149 w 1542"/>
                <a:gd name="T15" fmla="*/ 135 h 1531"/>
                <a:gd name="T16" fmla="*/ 149 w 1542"/>
                <a:gd name="T17" fmla="*/ 131 h 1531"/>
                <a:gd name="T18" fmla="*/ 149 w 1542"/>
                <a:gd name="T19" fmla="*/ 17 h 1531"/>
                <a:gd name="T20" fmla="*/ 149 w 1542"/>
                <a:gd name="T21" fmla="*/ 14 h 1531"/>
                <a:gd name="T22" fmla="*/ 148 w 1542"/>
                <a:gd name="T23" fmla="*/ 10 h 1531"/>
                <a:gd name="T24" fmla="*/ 146 w 1542"/>
                <a:gd name="T25" fmla="*/ 8 h 1531"/>
                <a:gd name="T26" fmla="*/ 145 w 1542"/>
                <a:gd name="T27" fmla="*/ 5 h 1531"/>
                <a:gd name="T28" fmla="*/ 142 w 1542"/>
                <a:gd name="T29" fmla="*/ 3 h 1531"/>
                <a:gd name="T30" fmla="*/ 139 w 1542"/>
                <a:gd name="T31" fmla="*/ 1 h 1531"/>
                <a:gd name="T32" fmla="*/ 135 w 1542"/>
                <a:gd name="T33" fmla="*/ 0 h 1531"/>
                <a:gd name="T34" fmla="*/ 132 w 1542"/>
                <a:gd name="T35" fmla="*/ 0 h 1531"/>
                <a:gd name="T36" fmla="*/ 17 w 1542"/>
                <a:gd name="T37" fmla="*/ 0 h 1531"/>
                <a:gd name="T38" fmla="*/ 14 w 1542"/>
                <a:gd name="T39" fmla="*/ 0 h 1531"/>
                <a:gd name="T40" fmla="*/ 10 w 1542"/>
                <a:gd name="T41" fmla="*/ 1 h 1531"/>
                <a:gd name="T42" fmla="*/ 7 w 1542"/>
                <a:gd name="T43" fmla="*/ 3 h 1531"/>
                <a:gd name="T44" fmla="*/ 5 w 1542"/>
                <a:gd name="T45" fmla="*/ 5 h 1531"/>
                <a:gd name="T46" fmla="*/ 3 w 1542"/>
                <a:gd name="T47" fmla="*/ 8 h 1531"/>
                <a:gd name="T48" fmla="*/ 1 w 1542"/>
                <a:gd name="T49" fmla="*/ 10 h 1531"/>
                <a:gd name="T50" fmla="*/ 0 w 1542"/>
                <a:gd name="T51" fmla="*/ 14 h 1531"/>
                <a:gd name="T52" fmla="*/ 0 w 1542"/>
                <a:gd name="T53" fmla="*/ 17 h 1531"/>
                <a:gd name="T54" fmla="*/ 0 w 1542"/>
                <a:gd name="T55" fmla="*/ 131 h 1531"/>
                <a:gd name="T56" fmla="*/ 0 w 1542"/>
                <a:gd name="T57" fmla="*/ 135 h 1531"/>
                <a:gd name="T58" fmla="*/ 1 w 1542"/>
                <a:gd name="T59" fmla="*/ 138 h 1531"/>
                <a:gd name="T60" fmla="*/ 3 w 1542"/>
                <a:gd name="T61" fmla="*/ 141 h 1531"/>
                <a:gd name="T62" fmla="*/ 5 w 1542"/>
                <a:gd name="T63" fmla="*/ 143 h 1531"/>
                <a:gd name="T64" fmla="*/ 7 w 1542"/>
                <a:gd name="T65" fmla="*/ 145 h 1531"/>
                <a:gd name="T66" fmla="*/ 10 w 1542"/>
                <a:gd name="T67" fmla="*/ 147 h 1531"/>
                <a:gd name="T68" fmla="*/ 14 w 1542"/>
                <a:gd name="T69" fmla="*/ 148 h 1531"/>
                <a:gd name="T70" fmla="*/ 17 w 1542"/>
                <a:gd name="T71" fmla="*/ 148 h 1531"/>
                <a:gd name="T72" fmla="*/ 132 w 1542"/>
                <a:gd name="T73" fmla="*/ 14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9518" name="Freeform 133"/>
            <p:cNvSpPr>
              <a:spLocks/>
            </p:cNvSpPr>
            <p:nvPr/>
          </p:nvSpPr>
          <p:spPr bwMode="auto">
            <a:xfrm>
              <a:off x="5225" y="594"/>
              <a:ext cx="249" cy="123"/>
            </a:xfrm>
            <a:custGeom>
              <a:avLst/>
              <a:gdLst>
                <a:gd name="T0" fmla="*/ 45 w 542"/>
                <a:gd name="T1" fmla="*/ 26 h 269"/>
                <a:gd name="T2" fmla="*/ 46 w 542"/>
                <a:gd name="T3" fmla="*/ 26 h 269"/>
                <a:gd name="T4" fmla="*/ 48 w 542"/>
                <a:gd name="T5" fmla="*/ 26 h 269"/>
                <a:gd name="T6" fmla="*/ 49 w 542"/>
                <a:gd name="T7" fmla="*/ 26 h 269"/>
                <a:gd name="T8" fmla="*/ 50 w 542"/>
                <a:gd name="T9" fmla="*/ 25 h 269"/>
                <a:gd name="T10" fmla="*/ 51 w 542"/>
                <a:gd name="T11" fmla="*/ 25 h 269"/>
                <a:gd name="T12" fmla="*/ 51 w 542"/>
                <a:gd name="T13" fmla="*/ 24 h 269"/>
                <a:gd name="T14" fmla="*/ 52 w 542"/>
                <a:gd name="T15" fmla="*/ 23 h 269"/>
                <a:gd name="T16" fmla="*/ 52 w 542"/>
                <a:gd name="T17" fmla="*/ 22 h 269"/>
                <a:gd name="T18" fmla="*/ 52 w 542"/>
                <a:gd name="T19" fmla="*/ 22 h 269"/>
                <a:gd name="T20" fmla="*/ 52 w 542"/>
                <a:gd name="T21" fmla="*/ 20 h 269"/>
                <a:gd name="T22" fmla="*/ 52 w 542"/>
                <a:gd name="T23" fmla="*/ 18 h 269"/>
                <a:gd name="T24" fmla="*/ 51 w 542"/>
                <a:gd name="T25" fmla="*/ 17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1 h 269"/>
                <a:gd name="T42" fmla="*/ 1 w 542"/>
                <a:gd name="T43" fmla="*/ 2 h 269"/>
                <a:gd name="T44" fmla="*/ 0 w 542"/>
                <a:gd name="T45" fmla="*/ 3 h 269"/>
                <a:gd name="T46" fmla="*/ 0 w 542"/>
                <a:gd name="T47" fmla="*/ 3 h 269"/>
                <a:gd name="T48" fmla="*/ 0 w 542"/>
                <a:gd name="T49" fmla="*/ 5 h 269"/>
                <a:gd name="T50" fmla="*/ 0 w 542"/>
                <a:gd name="T51" fmla="*/ 7 h 269"/>
                <a:gd name="T52" fmla="*/ 2 w 542"/>
                <a:gd name="T53" fmla="*/ 9 h 269"/>
                <a:gd name="T54" fmla="*/ 4 w 542"/>
                <a:gd name="T55" fmla="*/ 10 h 269"/>
                <a:gd name="T56" fmla="*/ 45 w 542"/>
                <a:gd name="T57" fmla="*/ 26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9" name="Freeform 134"/>
            <p:cNvSpPr>
              <a:spLocks/>
            </p:cNvSpPr>
            <p:nvPr/>
          </p:nvSpPr>
          <p:spPr bwMode="auto">
            <a:xfrm>
              <a:off x="5095" y="902"/>
              <a:ext cx="249" cy="125"/>
            </a:xfrm>
            <a:custGeom>
              <a:avLst/>
              <a:gdLst>
                <a:gd name="T0" fmla="*/ 45 w 542"/>
                <a:gd name="T1" fmla="*/ 27 h 269"/>
                <a:gd name="T2" fmla="*/ 47 w 542"/>
                <a:gd name="T3" fmla="*/ 27 h 269"/>
                <a:gd name="T4" fmla="*/ 48 w 542"/>
                <a:gd name="T5" fmla="*/ 27 h 269"/>
                <a:gd name="T6" fmla="*/ 49 w 542"/>
                <a:gd name="T7" fmla="*/ 27 h 269"/>
                <a:gd name="T8" fmla="*/ 50 w 542"/>
                <a:gd name="T9" fmla="*/ 26 h 269"/>
                <a:gd name="T10" fmla="*/ 51 w 542"/>
                <a:gd name="T11" fmla="*/ 26 h 269"/>
                <a:gd name="T12" fmla="*/ 51 w 542"/>
                <a:gd name="T13" fmla="*/ 25 h 269"/>
                <a:gd name="T14" fmla="*/ 52 w 542"/>
                <a:gd name="T15" fmla="*/ 25 h 269"/>
                <a:gd name="T16" fmla="*/ 52 w 542"/>
                <a:gd name="T17" fmla="*/ 23 h 269"/>
                <a:gd name="T18" fmla="*/ 52 w 542"/>
                <a:gd name="T19" fmla="*/ 23 h 269"/>
                <a:gd name="T20" fmla="*/ 52 w 542"/>
                <a:gd name="T21" fmla="*/ 21 h 269"/>
                <a:gd name="T22" fmla="*/ 52 w 542"/>
                <a:gd name="T23" fmla="*/ 19 h 269"/>
                <a:gd name="T24" fmla="*/ 51 w 542"/>
                <a:gd name="T25" fmla="*/ 18 h 269"/>
                <a:gd name="T26" fmla="*/ 49 w 542"/>
                <a:gd name="T27" fmla="*/ 16 h 269"/>
                <a:gd name="T28" fmla="*/ 7 w 542"/>
                <a:gd name="T29" fmla="*/ 0 h 269"/>
                <a:gd name="T30" fmla="*/ 6 w 542"/>
                <a:gd name="T31" fmla="*/ 0 h 269"/>
                <a:gd name="T32" fmla="*/ 5 w 542"/>
                <a:gd name="T33" fmla="*/ 0 h 269"/>
                <a:gd name="T34" fmla="*/ 4 w 542"/>
                <a:gd name="T35" fmla="*/ 0 h 269"/>
                <a:gd name="T36" fmla="*/ 3 w 542"/>
                <a:gd name="T37" fmla="*/ 0 h 269"/>
                <a:gd name="T38" fmla="*/ 2 w 542"/>
                <a:gd name="T39" fmla="*/ 1 h 269"/>
                <a:gd name="T40" fmla="*/ 1 w 542"/>
                <a:gd name="T41" fmla="*/ 2 h 269"/>
                <a:gd name="T42" fmla="*/ 1 w 542"/>
                <a:gd name="T43" fmla="*/ 3 h 269"/>
                <a:gd name="T44" fmla="*/ 0 w 542"/>
                <a:gd name="T45" fmla="*/ 4 h 269"/>
                <a:gd name="T46" fmla="*/ 0 w 542"/>
                <a:gd name="T47" fmla="*/ 4 h 269"/>
                <a:gd name="T48" fmla="*/ 0 w 542"/>
                <a:gd name="T49" fmla="*/ 6 h 269"/>
                <a:gd name="T50" fmla="*/ 0 w 542"/>
                <a:gd name="T51" fmla="*/ 8 h 269"/>
                <a:gd name="T52" fmla="*/ 2 w 542"/>
                <a:gd name="T53" fmla="*/ 9 h 269"/>
                <a:gd name="T54" fmla="*/ 4 w 542"/>
                <a:gd name="T55" fmla="*/ 10 h 269"/>
                <a:gd name="T56" fmla="*/ 45 w 542"/>
                <a:gd name="T57" fmla="*/ 27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0" name="Freeform 135"/>
            <p:cNvSpPr>
              <a:spLocks/>
            </p:cNvSpPr>
            <p:nvPr/>
          </p:nvSpPr>
          <p:spPr bwMode="auto">
            <a:xfrm>
              <a:off x="5135" y="660"/>
              <a:ext cx="298" cy="299"/>
            </a:xfrm>
            <a:custGeom>
              <a:avLst/>
              <a:gdLst>
                <a:gd name="T0" fmla="*/ 44 w 650"/>
                <a:gd name="T1" fmla="*/ 63 h 650"/>
                <a:gd name="T2" fmla="*/ 45 w 650"/>
                <a:gd name="T3" fmla="*/ 63 h 650"/>
                <a:gd name="T4" fmla="*/ 45 w 650"/>
                <a:gd name="T5" fmla="*/ 63 h 650"/>
                <a:gd name="T6" fmla="*/ 46 w 650"/>
                <a:gd name="T7" fmla="*/ 63 h 650"/>
                <a:gd name="T8" fmla="*/ 46 w 650"/>
                <a:gd name="T9" fmla="*/ 62 h 650"/>
                <a:gd name="T10" fmla="*/ 63 w 650"/>
                <a:gd name="T11" fmla="*/ 18 h 650"/>
                <a:gd name="T12" fmla="*/ 63 w 650"/>
                <a:gd name="T13" fmla="*/ 18 h 650"/>
                <a:gd name="T14" fmla="*/ 62 w 650"/>
                <a:gd name="T15" fmla="*/ 17 h 650"/>
                <a:gd name="T16" fmla="*/ 62 w 650"/>
                <a:gd name="T17" fmla="*/ 17 h 650"/>
                <a:gd name="T18" fmla="*/ 61 w 650"/>
                <a:gd name="T19" fmla="*/ 16 h 650"/>
                <a:gd name="T20" fmla="*/ 18 w 650"/>
                <a:gd name="T21" fmla="*/ 0 h 650"/>
                <a:gd name="T22" fmla="*/ 17 w 650"/>
                <a:gd name="T23" fmla="*/ 0 h 650"/>
                <a:gd name="T24" fmla="*/ 17 w 650"/>
                <a:gd name="T25" fmla="*/ 0 h 650"/>
                <a:gd name="T26" fmla="*/ 17 w 650"/>
                <a:gd name="T27" fmla="*/ 0 h 650"/>
                <a:gd name="T28" fmla="*/ 16 w 650"/>
                <a:gd name="T29" fmla="*/ 1 h 650"/>
                <a:gd name="T30" fmla="*/ 0 w 650"/>
                <a:gd name="T31" fmla="*/ 45 h 650"/>
                <a:gd name="T32" fmla="*/ 0 w 650"/>
                <a:gd name="T33" fmla="*/ 46 h 650"/>
                <a:gd name="T34" fmla="*/ 0 w 650"/>
                <a:gd name="T35" fmla="*/ 46 h 650"/>
                <a:gd name="T36" fmla="*/ 0 w 650"/>
                <a:gd name="T37" fmla="*/ 47 h 650"/>
                <a:gd name="T38" fmla="*/ 1 w 650"/>
                <a:gd name="T39" fmla="*/ 47 h 650"/>
                <a:gd name="T40" fmla="*/ 44 w 650"/>
                <a:gd name="T41" fmla="*/ 63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1" name="Freeform 136"/>
            <p:cNvSpPr>
              <a:spLocks/>
            </p:cNvSpPr>
            <p:nvPr/>
          </p:nvSpPr>
          <p:spPr bwMode="auto">
            <a:xfrm>
              <a:off x="5008" y="1134"/>
              <a:ext cx="554" cy="79"/>
            </a:xfrm>
            <a:custGeom>
              <a:avLst/>
              <a:gdLst>
                <a:gd name="T0" fmla="*/ 108 w 1206"/>
                <a:gd name="T1" fmla="*/ 17 h 172"/>
                <a:gd name="T2" fmla="*/ 110 w 1206"/>
                <a:gd name="T3" fmla="*/ 17 h 172"/>
                <a:gd name="T4" fmla="*/ 112 w 1206"/>
                <a:gd name="T5" fmla="*/ 16 h 172"/>
                <a:gd name="T6" fmla="*/ 113 w 1206"/>
                <a:gd name="T7" fmla="*/ 16 h 172"/>
                <a:gd name="T8" fmla="*/ 114 w 1206"/>
                <a:gd name="T9" fmla="*/ 14 h 172"/>
                <a:gd name="T10" fmla="*/ 116 w 1206"/>
                <a:gd name="T11" fmla="*/ 13 h 172"/>
                <a:gd name="T12" fmla="*/ 116 w 1206"/>
                <a:gd name="T13" fmla="*/ 11 h 172"/>
                <a:gd name="T14" fmla="*/ 117 w 1206"/>
                <a:gd name="T15" fmla="*/ 10 h 172"/>
                <a:gd name="T16" fmla="*/ 117 w 1206"/>
                <a:gd name="T17" fmla="*/ 8 h 172"/>
                <a:gd name="T18" fmla="*/ 117 w 1206"/>
                <a:gd name="T19" fmla="*/ 8 h 172"/>
                <a:gd name="T20" fmla="*/ 117 w 1206"/>
                <a:gd name="T21" fmla="*/ 7 h 172"/>
                <a:gd name="T22" fmla="*/ 116 w 1206"/>
                <a:gd name="T23" fmla="*/ 5 h 172"/>
                <a:gd name="T24" fmla="*/ 116 w 1206"/>
                <a:gd name="T25" fmla="*/ 4 h 172"/>
                <a:gd name="T26" fmla="*/ 114 w 1206"/>
                <a:gd name="T27" fmla="*/ 2 h 172"/>
                <a:gd name="T28" fmla="*/ 113 w 1206"/>
                <a:gd name="T29" fmla="*/ 1 h 172"/>
                <a:gd name="T30" fmla="*/ 112 w 1206"/>
                <a:gd name="T31" fmla="*/ 0 h 172"/>
                <a:gd name="T32" fmla="*/ 110 w 1206"/>
                <a:gd name="T33" fmla="*/ 0 h 172"/>
                <a:gd name="T34" fmla="*/ 108 w 1206"/>
                <a:gd name="T35" fmla="*/ 0 h 172"/>
                <a:gd name="T36" fmla="*/ 8 w 1206"/>
                <a:gd name="T37" fmla="*/ 0 h 172"/>
                <a:gd name="T38" fmla="*/ 7 w 1206"/>
                <a:gd name="T39" fmla="*/ 0 h 172"/>
                <a:gd name="T40" fmla="*/ 5 w 1206"/>
                <a:gd name="T41" fmla="*/ 0 h 172"/>
                <a:gd name="T42" fmla="*/ 4 w 1206"/>
                <a:gd name="T43" fmla="*/ 1 h 172"/>
                <a:gd name="T44" fmla="*/ 3 w 1206"/>
                <a:gd name="T45" fmla="*/ 2 h 172"/>
                <a:gd name="T46" fmla="*/ 1 w 1206"/>
                <a:gd name="T47" fmla="*/ 4 h 172"/>
                <a:gd name="T48" fmla="*/ 0 w 1206"/>
                <a:gd name="T49" fmla="*/ 5 h 172"/>
                <a:gd name="T50" fmla="*/ 0 w 1206"/>
                <a:gd name="T51" fmla="*/ 7 h 172"/>
                <a:gd name="T52" fmla="*/ 0 w 1206"/>
                <a:gd name="T53" fmla="*/ 8 h 172"/>
                <a:gd name="T54" fmla="*/ 0 w 1206"/>
                <a:gd name="T55" fmla="*/ 8 h 172"/>
                <a:gd name="T56" fmla="*/ 0 w 1206"/>
                <a:gd name="T57" fmla="*/ 10 h 172"/>
                <a:gd name="T58" fmla="*/ 0 w 1206"/>
                <a:gd name="T59" fmla="*/ 11 h 172"/>
                <a:gd name="T60" fmla="*/ 1 w 1206"/>
                <a:gd name="T61" fmla="*/ 13 h 172"/>
                <a:gd name="T62" fmla="*/ 3 w 1206"/>
                <a:gd name="T63" fmla="*/ 14 h 172"/>
                <a:gd name="T64" fmla="*/ 4 w 1206"/>
                <a:gd name="T65" fmla="*/ 16 h 172"/>
                <a:gd name="T66" fmla="*/ 5 w 1206"/>
                <a:gd name="T67" fmla="*/ 16 h 172"/>
                <a:gd name="T68" fmla="*/ 7 w 1206"/>
                <a:gd name="T69" fmla="*/ 17 h 172"/>
                <a:gd name="T70" fmla="*/ 8 w 1206"/>
                <a:gd name="T71" fmla="*/ 17 h 172"/>
                <a:gd name="T72" fmla="*/ 108 w 1206"/>
                <a:gd name="T73" fmla="*/ 17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2" name="Freeform 137"/>
            <p:cNvSpPr>
              <a:spLocks/>
            </p:cNvSpPr>
            <p:nvPr/>
          </p:nvSpPr>
          <p:spPr bwMode="auto">
            <a:xfrm>
              <a:off x="5400" y="818"/>
              <a:ext cx="240" cy="149"/>
            </a:xfrm>
            <a:custGeom>
              <a:avLst/>
              <a:gdLst>
                <a:gd name="T0" fmla="*/ 51 w 522"/>
                <a:gd name="T1" fmla="*/ 17 h 324"/>
                <a:gd name="T2" fmla="*/ 5 w 522"/>
                <a:gd name="T3" fmla="*/ 0 h 324"/>
                <a:gd name="T4" fmla="*/ 0 w 522"/>
                <a:gd name="T5" fmla="*/ 13 h 324"/>
                <a:gd name="T6" fmla="*/ 51 w 522"/>
                <a:gd name="T7" fmla="*/ 32 h 324"/>
                <a:gd name="T8" fmla="*/ 51 w 522"/>
                <a:gd name="T9" fmla="*/ 17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3" name="Freeform 138"/>
            <p:cNvSpPr>
              <a:spLocks/>
            </p:cNvSpPr>
            <p:nvPr/>
          </p:nvSpPr>
          <p:spPr bwMode="auto">
            <a:xfrm>
              <a:off x="5062" y="1062"/>
              <a:ext cx="442" cy="47"/>
            </a:xfrm>
            <a:custGeom>
              <a:avLst/>
              <a:gdLst>
                <a:gd name="T0" fmla="*/ 88 w 964"/>
                <a:gd name="T1" fmla="*/ 10 h 101"/>
                <a:gd name="T2" fmla="*/ 89 w 964"/>
                <a:gd name="T3" fmla="*/ 10 h 101"/>
                <a:gd name="T4" fmla="*/ 90 w 964"/>
                <a:gd name="T5" fmla="*/ 10 h 101"/>
                <a:gd name="T6" fmla="*/ 91 w 964"/>
                <a:gd name="T7" fmla="*/ 9 h 101"/>
                <a:gd name="T8" fmla="*/ 91 w 964"/>
                <a:gd name="T9" fmla="*/ 9 h 101"/>
                <a:gd name="T10" fmla="*/ 92 w 964"/>
                <a:gd name="T11" fmla="*/ 8 h 101"/>
                <a:gd name="T12" fmla="*/ 93 w 964"/>
                <a:gd name="T13" fmla="*/ 7 h 101"/>
                <a:gd name="T14" fmla="*/ 93 w 964"/>
                <a:gd name="T15" fmla="*/ 6 h 101"/>
                <a:gd name="T16" fmla="*/ 93 w 964"/>
                <a:gd name="T17" fmla="*/ 5 h 101"/>
                <a:gd name="T18" fmla="*/ 93 w 964"/>
                <a:gd name="T19" fmla="*/ 5 h 101"/>
                <a:gd name="T20" fmla="*/ 93 w 964"/>
                <a:gd name="T21" fmla="*/ 4 h 101"/>
                <a:gd name="T22" fmla="*/ 93 w 964"/>
                <a:gd name="T23" fmla="*/ 3 h 101"/>
                <a:gd name="T24" fmla="*/ 92 w 964"/>
                <a:gd name="T25" fmla="*/ 2 h 101"/>
                <a:gd name="T26" fmla="*/ 91 w 964"/>
                <a:gd name="T27" fmla="*/ 1 h 101"/>
                <a:gd name="T28" fmla="*/ 91 w 964"/>
                <a:gd name="T29" fmla="*/ 1 h 101"/>
                <a:gd name="T30" fmla="*/ 90 w 964"/>
                <a:gd name="T31" fmla="*/ 0 h 101"/>
                <a:gd name="T32" fmla="*/ 89 w 964"/>
                <a:gd name="T33" fmla="*/ 0 h 101"/>
                <a:gd name="T34" fmla="*/ 88 w 964"/>
                <a:gd name="T35" fmla="*/ 0 h 101"/>
                <a:gd name="T36" fmla="*/ 5 w 964"/>
                <a:gd name="T37" fmla="*/ 0 h 101"/>
                <a:gd name="T38" fmla="*/ 4 w 964"/>
                <a:gd name="T39" fmla="*/ 0 h 101"/>
                <a:gd name="T40" fmla="*/ 3 w 964"/>
                <a:gd name="T41" fmla="*/ 0 h 101"/>
                <a:gd name="T42" fmla="*/ 2 w 964"/>
                <a:gd name="T43" fmla="*/ 1 h 101"/>
                <a:gd name="T44" fmla="*/ 1 w 964"/>
                <a:gd name="T45" fmla="*/ 1 h 101"/>
                <a:gd name="T46" fmla="*/ 1 w 964"/>
                <a:gd name="T47" fmla="*/ 2 h 101"/>
                <a:gd name="T48" fmla="*/ 0 w 964"/>
                <a:gd name="T49" fmla="*/ 3 h 101"/>
                <a:gd name="T50" fmla="*/ 0 w 964"/>
                <a:gd name="T51" fmla="*/ 4 h 101"/>
                <a:gd name="T52" fmla="*/ 0 w 964"/>
                <a:gd name="T53" fmla="*/ 5 h 101"/>
                <a:gd name="T54" fmla="*/ 0 w 964"/>
                <a:gd name="T55" fmla="*/ 5 h 101"/>
                <a:gd name="T56" fmla="*/ 0 w 964"/>
                <a:gd name="T57" fmla="*/ 6 h 101"/>
                <a:gd name="T58" fmla="*/ 0 w 964"/>
                <a:gd name="T59" fmla="*/ 7 h 101"/>
                <a:gd name="T60" fmla="*/ 1 w 964"/>
                <a:gd name="T61" fmla="*/ 8 h 101"/>
                <a:gd name="T62" fmla="*/ 1 w 964"/>
                <a:gd name="T63" fmla="*/ 9 h 101"/>
                <a:gd name="T64" fmla="*/ 2 w 964"/>
                <a:gd name="T65" fmla="*/ 9 h 101"/>
                <a:gd name="T66" fmla="*/ 3 w 964"/>
                <a:gd name="T67" fmla="*/ 10 h 101"/>
                <a:gd name="T68" fmla="*/ 4 w 964"/>
                <a:gd name="T69" fmla="*/ 10 h 101"/>
                <a:gd name="T70" fmla="*/ 5 w 964"/>
                <a:gd name="T71" fmla="*/ 10 h 101"/>
                <a:gd name="T72" fmla="*/ 88 w 964"/>
                <a:gd name="T73" fmla="*/ 10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4" name="Freeform 139"/>
            <p:cNvSpPr>
              <a:spLocks/>
            </p:cNvSpPr>
            <p:nvPr/>
          </p:nvSpPr>
          <p:spPr bwMode="auto">
            <a:xfrm>
              <a:off x="4999" y="766"/>
              <a:ext cx="64" cy="48"/>
            </a:xfrm>
            <a:custGeom>
              <a:avLst/>
              <a:gdLst>
                <a:gd name="T0" fmla="*/ 13 w 140"/>
                <a:gd name="T1" fmla="*/ 0 h 106"/>
                <a:gd name="T2" fmla="*/ 0 w 140"/>
                <a:gd name="T3" fmla="*/ 3 h 106"/>
                <a:gd name="T4" fmla="*/ 12 w 140"/>
                <a:gd name="T5" fmla="*/ 10 h 106"/>
                <a:gd name="T6" fmla="*/ 12 w 140"/>
                <a:gd name="T7" fmla="*/ 7 h 106"/>
                <a:gd name="T8" fmla="*/ 12 w 140"/>
                <a:gd name="T9" fmla="*/ 5 h 106"/>
                <a:gd name="T10" fmla="*/ 13 w 140"/>
                <a:gd name="T11" fmla="*/ 2 h 106"/>
                <a:gd name="T12" fmla="*/ 13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5" name="Freeform 140"/>
            <p:cNvSpPr>
              <a:spLocks/>
            </p:cNvSpPr>
            <p:nvPr/>
          </p:nvSpPr>
          <p:spPr bwMode="auto">
            <a:xfrm>
              <a:off x="5070" y="611"/>
              <a:ext cx="69" cy="60"/>
            </a:xfrm>
            <a:custGeom>
              <a:avLst/>
              <a:gdLst>
                <a:gd name="T0" fmla="*/ 15 w 149"/>
                <a:gd name="T1" fmla="*/ 4 h 130"/>
                <a:gd name="T2" fmla="*/ 0 w 149"/>
                <a:gd name="T3" fmla="*/ 0 h 130"/>
                <a:gd name="T4" fmla="*/ 8 w 149"/>
                <a:gd name="T5" fmla="*/ 13 h 130"/>
                <a:gd name="T6" fmla="*/ 9 w 149"/>
                <a:gd name="T7" fmla="*/ 12 h 130"/>
                <a:gd name="T8" fmla="*/ 9 w 149"/>
                <a:gd name="T9" fmla="*/ 11 h 130"/>
                <a:gd name="T10" fmla="*/ 10 w 149"/>
                <a:gd name="T11" fmla="*/ 9 h 130"/>
                <a:gd name="T12" fmla="*/ 11 w 149"/>
                <a:gd name="T13" fmla="*/ 8 h 130"/>
                <a:gd name="T14" fmla="*/ 12 w 149"/>
                <a:gd name="T15" fmla="*/ 7 h 130"/>
                <a:gd name="T16" fmla="*/ 13 w 149"/>
                <a:gd name="T17" fmla="*/ 6 h 130"/>
                <a:gd name="T18" fmla="*/ 14 w 149"/>
                <a:gd name="T19" fmla="*/ 5 h 130"/>
                <a:gd name="T20" fmla="*/ 15 w 149"/>
                <a:gd name="T21" fmla="*/ 4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26" name="Freeform 141"/>
            <p:cNvSpPr>
              <a:spLocks/>
            </p:cNvSpPr>
            <p:nvPr/>
          </p:nvSpPr>
          <p:spPr bwMode="auto">
            <a:xfrm>
              <a:off x="5024" y="692"/>
              <a:ext cx="70" cy="48"/>
            </a:xfrm>
            <a:custGeom>
              <a:avLst/>
              <a:gdLst>
                <a:gd name="T0" fmla="*/ 15 w 153"/>
                <a:gd name="T1" fmla="*/ 0 h 104"/>
                <a:gd name="T2" fmla="*/ 0 w 153"/>
                <a:gd name="T3" fmla="*/ 0 h 104"/>
                <a:gd name="T4" fmla="*/ 10 w 153"/>
                <a:gd name="T5" fmla="*/ 10 h 104"/>
                <a:gd name="T6" fmla="*/ 11 w 153"/>
                <a:gd name="T7" fmla="*/ 8 h 104"/>
                <a:gd name="T8" fmla="*/ 12 w 153"/>
                <a:gd name="T9" fmla="*/ 5 h 104"/>
                <a:gd name="T10" fmla="*/ 13 w 153"/>
                <a:gd name="T11" fmla="*/ 3 h 104"/>
                <a:gd name="T12" fmla="*/ 15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80" name="Group 168"/>
          <p:cNvGrpSpPr>
            <a:grpSpLocks/>
          </p:cNvGrpSpPr>
          <p:nvPr/>
        </p:nvGrpSpPr>
        <p:grpSpPr bwMode="auto">
          <a:xfrm>
            <a:off x="2055265" y="2840801"/>
            <a:ext cx="1216025" cy="833438"/>
            <a:chOff x="463" y="1743"/>
            <a:chExt cx="1186" cy="813"/>
          </a:xfrm>
        </p:grpSpPr>
        <p:sp>
          <p:nvSpPr>
            <p:cNvPr id="19497" name="Freeform 169"/>
            <p:cNvSpPr>
              <a:spLocks/>
            </p:cNvSpPr>
            <p:nvPr/>
          </p:nvSpPr>
          <p:spPr bwMode="auto">
            <a:xfrm>
              <a:off x="1338" y="2248"/>
              <a:ext cx="137" cy="216"/>
            </a:xfrm>
            <a:custGeom>
              <a:avLst/>
              <a:gdLst>
                <a:gd name="T0" fmla="*/ 5 w 530"/>
                <a:gd name="T1" fmla="*/ 14 h 849"/>
                <a:gd name="T2" fmla="*/ 4 w 530"/>
                <a:gd name="T3" fmla="*/ 14 h 849"/>
                <a:gd name="T4" fmla="*/ 3 w 530"/>
                <a:gd name="T5" fmla="*/ 13 h 849"/>
                <a:gd name="T6" fmla="*/ 1 w 530"/>
                <a:gd name="T7" fmla="*/ 12 h 849"/>
                <a:gd name="T8" fmla="*/ 1 w 530"/>
                <a:gd name="T9" fmla="*/ 11 h 849"/>
                <a:gd name="T10" fmla="*/ 0 w 530"/>
                <a:gd name="T11" fmla="*/ 9 h 849"/>
                <a:gd name="T12" fmla="*/ 0 w 530"/>
                <a:gd name="T13" fmla="*/ 7 h 849"/>
                <a:gd name="T14" fmla="*/ 0 w 530"/>
                <a:gd name="T15" fmla="*/ 5 h 849"/>
                <a:gd name="T16" fmla="*/ 1 w 530"/>
                <a:gd name="T17" fmla="*/ 3 h 849"/>
                <a:gd name="T18" fmla="*/ 2 w 530"/>
                <a:gd name="T19" fmla="*/ 2 h 849"/>
                <a:gd name="T20" fmla="*/ 3 w 530"/>
                <a:gd name="T21" fmla="*/ 1 h 849"/>
                <a:gd name="T22" fmla="*/ 5 w 530"/>
                <a:gd name="T23" fmla="*/ 0 h 849"/>
                <a:gd name="T24" fmla="*/ 6 w 530"/>
                <a:gd name="T25" fmla="*/ 0 h 849"/>
                <a:gd name="T26" fmla="*/ 7 w 530"/>
                <a:gd name="T27" fmla="*/ 1 h 849"/>
                <a:gd name="T28" fmla="*/ 8 w 530"/>
                <a:gd name="T29" fmla="*/ 2 h 849"/>
                <a:gd name="T30" fmla="*/ 9 w 530"/>
                <a:gd name="T31" fmla="*/ 4 h 849"/>
                <a:gd name="T32" fmla="*/ 9 w 530"/>
                <a:gd name="T33" fmla="*/ 6 h 849"/>
                <a:gd name="T34" fmla="*/ 9 w 530"/>
                <a:gd name="T35" fmla="*/ 8 h 849"/>
                <a:gd name="T36" fmla="*/ 9 w 530"/>
                <a:gd name="T37" fmla="*/ 10 h 849"/>
                <a:gd name="T38" fmla="*/ 8 w 530"/>
                <a:gd name="T39" fmla="*/ 12 h 849"/>
                <a:gd name="T40" fmla="*/ 6 w 530"/>
                <a:gd name="T41" fmla="*/ 13 h 849"/>
                <a:gd name="T42" fmla="*/ 5 w 530"/>
                <a:gd name="T43" fmla="*/ 14 h 849"/>
                <a:gd name="T44" fmla="*/ 5 w 530"/>
                <a:gd name="T45" fmla="*/ 1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8" name="Freeform 170"/>
            <p:cNvSpPr>
              <a:spLocks/>
            </p:cNvSpPr>
            <p:nvPr/>
          </p:nvSpPr>
          <p:spPr bwMode="auto">
            <a:xfrm>
              <a:off x="1137" y="2095"/>
              <a:ext cx="14" cy="10"/>
            </a:xfrm>
            <a:custGeom>
              <a:avLst/>
              <a:gdLst>
                <a:gd name="T0" fmla="*/ 1 w 53"/>
                <a:gd name="T1" fmla="*/ 0 h 43"/>
                <a:gd name="T2" fmla="*/ 1 w 53"/>
                <a:gd name="T3" fmla="*/ 0 h 43"/>
                <a:gd name="T4" fmla="*/ 0 w 53"/>
                <a:gd name="T5" fmla="*/ 0 h 43"/>
                <a:gd name="T6" fmla="*/ 0 w 53"/>
                <a:gd name="T7" fmla="*/ 0 h 43"/>
                <a:gd name="T8" fmla="*/ 1 w 53"/>
                <a:gd name="T9" fmla="*/ 0 h 43"/>
                <a:gd name="T10" fmla="*/ 1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499" name="AutoShape 171"/>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9500" name="AutoShape 172"/>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9501" name="Freeform 173"/>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19502" name="Freeform 174"/>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03" name="Freeform 175"/>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9504" name="Freeform 176"/>
            <p:cNvSpPr>
              <a:spLocks/>
            </p:cNvSpPr>
            <p:nvPr/>
          </p:nvSpPr>
          <p:spPr bwMode="auto">
            <a:xfrm>
              <a:off x="1142" y="1990"/>
              <a:ext cx="71" cy="99"/>
            </a:xfrm>
            <a:custGeom>
              <a:avLst/>
              <a:gdLst>
                <a:gd name="T0" fmla="*/ 0 w 276"/>
                <a:gd name="T1" fmla="*/ 5 h 388"/>
                <a:gd name="T2" fmla="*/ 0 w 276"/>
                <a:gd name="T3" fmla="*/ 5 h 388"/>
                <a:gd name="T4" fmla="*/ 0 w 276"/>
                <a:gd name="T5" fmla="*/ 4 h 388"/>
                <a:gd name="T6" fmla="*/ 0 w 276"/>
                <a:gd name="T7" fmla="*/ 4 h 388"/>
                <a:gd name="T8" fmla="*/ 0 w 276"/>
                <a:gd name="T9" fmla="*/ 3 h 388"/>
                <a:gd name="T10" fmla="*/ 1 w 276"/>
                <a:gd name="T11" fmla="*/ 2 h 388"/>
                <a:gd name="T12" fmla="*/ 1 w 276"/>
                <a:gd name="T13" fmla="*/ 1 h 388"/>
                <a:gd name="T14" fmla="*/ 1 w 276"/>
                <a:gd name="T15" fmla="*/ 1 h 388"/>
                <a:gd name="T16" fmla="*/ 2 w 276"/>
                <a:gd name="T17" fmla="*/ 1 h 388"/>
                <a:gd name="T18" fmla="*/ 3 w 276"/>
                <a:gd name="T19" fmla="*/ 0 h 388"/>
                <a:gd name="T20" fmla="*/ 3 w 276"/>
                <a:gd name="T21" fmla="*/ 0 h 388"/>
                <a:gd name="T22" fmla="*/ 4 w 276"/>
                <a:gd name="T23" fmla="*/ 0 h 388"/>
                <a:gd name="T24" fmla="*/ 4 w 276"/>
                <a:gd name="T25" fmla="*/ 1 h 388"/>
                <a:gd name="T26" fmla="*/ 4 w 276"/>
                <a:gd name="T27" fmla="*/ 1 h 388"/>
                <a:gd name="T28" fmla="*/ 5 w 276"/>
                <a:gd name="T29" fmla="*/ 1 h 388"/>
                <a:gd name="T30" fmla="*/ 5 w 276"/>
                <a:gd name="T31" fmla="*/ 2 h 388"/>
                <a:gd name="T32" fmla="*/ 5 w 276"/>
                <a:gd name="T33" fmla="*/ 3 h 388"/>
                <a:gd name="T34" fmla="*/ 4 w 276"/>
                <a:gd name="T35" fmla="*/ 4 h 388"/>
                <a:gd name="T36" fmla="*/ 4 w 276"/>
                <a:gd name="T37" fmla="*/ 4 h 388"/>
                <a:gd name="T38" fmla="*/ 4 w 276"/>
                <a:gd name="T39" fmla="*/ 5 h 388"/>
                <a:gd name="T40" fmla="*/ 3 w 276"/>
                <a:gd name="T41" fmla="*/ 6 h 388"/>
                <a:gd name="T42" fmla="*/ 3 w 276"/>
                <a:gd name="T43" fmla="*/ 6 h 388"/>
                <a:gd name="T44" fmla="*/ 2 w 276"/>
                <a:gd name="T45" fmla="*/ 6 h 388"/>
                <a:gd name="T46" fmla="*/ 2 w 276"/>
                <a:gd name="T47" fmla="*/ 6 h 388"/>
                <a:gd name="T48" fmla="*/ 1 w 276"/>
                <a:gd name="T49" fmla="*/ 6 h 388"/>
                <a:gd name="T50" fmla="*/ 1 w 276"/>
                <a:gd name="T51" fmla="*/ 6 h 388"/>
                <a:gd name="T52" fmla="*/ 0 w 276"/>
                <a:gd name="T53" fmla="*/ 6 h 388"/>
                <a:gd name="T54" fmla="*/ 1 w 276"/>
                <a:gd name="T55" fmla="*/ 5 h 388"/>
                <a:gd name="T56" fmla="*/ 1 w 276"/>
                <a:gd name="T57" fmla="*/ 6 h 388"/>
                <a:gd name="T58" fmla="*/ 2 w 276"/>
                <a:gd name="T59" fmla="*/ 6 h 388"/>
                <a:gd name="T60" fmla="*/ 2 w 276"/>
                <a:gd name="T61" fmla="*/ 6 h 388"/>
                <a:gd name="T62" fmla="*/ 3 w 276"/>
                <a:gd name="T63" fmla="*/ 5 h 388"/>
                <a:gd name="T64" fmla="*/ 3 w 276"/>
                <a:gd name="T65" fmla="*/ 5 h 388"/>
                <a:gd name="T66" fmla="*/ 3 w 276"/>
                <a:gd name="T67" fmla="*/ 5 h 388"/>
                <a:gd name="T68" fmla="*/ 4 w 276"/>
                <a:gd name="T69" fmla="*/ 4 h 388"/>
                <a:gd name="T70" fmla="*/ 4 w 276"/>
                <a:gd name="T71" fmla="*/ 4 h 388"/>
                <a:gd name="T72" fmla="*/ 4 w 276"/>
                <a:gd name="T73" fmla="*/ 3 h 388"/>
                <a:gd name="T74" fmla="*/ 4 w 276"/>
                <a:gd name="T75" fmla="*/ 3 h 388"/>
                <a:gd name="T76" fmla="*/ 4 w 276"/>
                <a:gd name="T77" fmla="*/ 2 h 388"/>
                <a:gd name="T78" fmla="*/ 4 w 276"/>
                <a:gd name="T79" fmla="*/ 2 h 388"/>
                <a:gd name="T80" fmla="*/ 4 w 276"/>
                <a:gd name="T81" fmla="*/ 1 h 388"/>
                <a:gd name="T82" fmla="*/ 3 w 276"/>
                <a:gd name="T83" fmla="*/ 1 h 388"/>
                <a:gd name="T84" fmla="*/ 3 w 276"/>
                <a:gd name="T85" fmla="*/ 1 h 388"/>
                <a:gd name="T86" fmla="*/ 3 w 276"/>
                <a:gd name="T87" fmla="*/ 1 h 388"/>
                <a:gd name="T88" fmla="*/ 2 w 276"/>
                <a:gd name="T89" fmla="*/ 1 h 388"/>
                <a:gd name="T90" fmla="*/ 2 w 276"/>
                <a:gd name="T91" fmla="*/ 1 h 388"/>
                <a:gd name="T92" fmla="*/ 1 w 276"/>
                <a:gd name="T93" fmla="*/ 2 h 388"/>
                <a:gd name="T94" fmla="*/ 1 w 276"/>
                <a:gd name="T95" fmla="*/ 2 h 388"/>
                <a:gd name="T96" fmla="*/ 1 w 276"/>
                <a:gd name="T97" fmla="*/ 3 h 388"/>
                <a:gd name="T98" fmla="*/ 1 w 276"/>
                <a:gd name="T99" fmla="*/ 3 h 388"/>
                <a:gd name="T100" fmla="*/ 1 w 276"/>
                <a:gd name="T101" fmla="*/ 4 h 388"/>
                <a:gd name="T102" fmla="*/ 1 w 276"/>
                <a:gd name="T103" fmla="*/ 5 h 388"/>
                <a:gd name="T104" fmla="*/ 1 w 276"/>
                <a:gd name="T105" fmla="*/ 5 h 388"/>
                <a:gd name="T106" fmla="*/ 0 w 276"/>
                <a:gd name="T107" fmla="*/ 5 h 388"/>
                <a:gd name="T108" fmla="*/ 0 w 276"/>
                <a:gd name="T109" fmla="*/ 5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5" name="Freeform 177"/>
            <p:cNvSpPr>
              <a:spLocks/>
            </p:cNvSpPr>
            <p:nvPr/>
          </p:nvSpPr>
          <p:spPr bwMode="auto">
            <a:xfrm>
              <a:off x="1145" y="2065"/>
              <a:ext cx="14" cy="10"/>
            </a:xfrm>
            <a:custGeom>
              <a:avLst/>
              <a:gdLst>
                <a:gd name="T0" fmla="*/ 1 w 53"/>
                <a:gd name="T1" fmla="*/ 0 h 43"/>
                <a:gd name="T2" fmla="*/ 1 w 53"/>
                <a:gd name="T3" fmla="*/ 0 h 43"/>
                <a:gd name="T4" fmla="*/ 0 w 53"/>
                <a:gd name="T5" fmla="*/ 0 h 43"/>
                <a:gd name="T6" fmla="*/ 0 w 53"/>
                <a:gd name="T7" fmla="*/ 0 h 43"/>
                <a:gd name="T8" fmla="*/ 1 w 53"/>
                <a:gd name="T9" fmla="*/ 0 h 43"/>
                <a:gd name="T10" fmla="*/ 1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6" name="Freeform 178"/>
            <p:cNvSpPr>
              <a:spLocks/>
            </p:cNvSpPr>
            <p:nvPr/>
          </p:nvSpPr>
          <p:spPr bwMode="auto">
            <a:xfrm>
              <a:off x="1153" y="2018"/>
              <a:ext cx="51" cy="36"/>
            </a:xfrm>
            <a:custGeom>
              <a:avLst/>
              <a:gdLst>
                <a:gd name="T0" fmla="*/ 3 w 202"/>
                <a:gd name="T1" fmla="*/ 1 h 141"/>
                <a:gd name="T2" fmla="*/ 1 w 202"/>
                <a:gd name="T3" fmla="*/ 0 h 141"/>
                <a:gd name="T4" fmla="*/ 0 w 202"/>
                <a:gd name="T5" fmla="*/ 1 h 141"/>
                <a:gd name="T6" fmla="*/ 1 w 202"/>
                <a:gd name="T7" fmla="*/ 2 h 141"/>
                <a:gd name="T8" fmla="*/ 3 w 202"/>
                <a:gd name="T9" fmla="*/ 2 h 141"/>
                <a:gd name="T10" fmla="*/ 3 w 202"/>
                <a:gd name="T11" fmla="*/ 1 h 141"/>
                <a:gd name="T12" fmla="*/ 3 w 202"/>
                <a:gd name="T13" fmla="*/ 1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07" name="Freeform 179"/>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508" name="Freeform 180"/>
            <p:cNvSpPr>
              <a:spLocks/>
            </p:cNvSpPr>
            <p:nvPr/>
          </p:nvSpPr>
          <p:spPr bwMode="auto">
            <a:xfrm rot="1661969">
              <a:off x="1352" y="1764"/>
              <a:ext cx="205" cy="160"/>
            </a:xfrm>
            <a:custGeom>
              <a:avLst/>
              <a:gdLst>
                <a:gd name="T0" fmla="*/ 5 w 530"/>
                <a:gd name="T1" fmla="*/ 19 h 342"/>
                <a:gd name="T2" fmla="*/ 3 w 530"/>
                <a:gd name="T3" fmla="*/ 20 h 342"/>
                <a:gd name="T4" fmla="*/ 2 w 530"/>
                <a:gd name="T5" fmla="*/ 21 h 342"/>
                <a:gd name="T6" fmla="*/ 1 w 530"/>
                <a:gd name="T7" fmla="*/ 23 h 342"/>
                <a:gd name="T8" fmla="*/ 0 w 530"/>
                <a:gd name="T9" fmla="*/ 25 h 342"/>
                <a:gd name="T10" fmla="*/ 0 w 530"/>
                <a:gd name="T11" fmla="*/ 29 h 342"/>
                <a:gd name="T12" fmla="*/ 2 w 530"/>
                <a:gd name="T13" fmla="*/ 31 h 342"/>
                <a:gd name="T14" fmla="*/ 3 w 530"/>
                <a:gd name="T15" fmla="*/ 34 h 342"/>
                <a:gd name="T16" fmla="*/ 5 w 530"/>
                <a:gd name="T17" fmla="*/ 35 h 342"/>
                <a:gd name="T18" fmla="*/ 6 w 530"/>
                <a:gd name="T19" fmla="*/ 35 h 342"/>
                <a:gd name="T20" fmla="*/ 8 w 530"/>
                <a:gd name="T21" fmla="*/ 35 h 342"/>
                <a:gd name="T22" fmla="*/ 9 w 530"/>
                <a:gd name="T23" fmla="*/ 34 h 342"/>
                <a:gd name="T24" fmla="*/ 11 w 530"/>
                <a:gd name="T25" fmla="*/ 32 h 342"/>
                <a:gd name="T26" fmla="*/ 12 w 530"/>
                <a:gd name="T27" fmla="*/ 30 h 342"/>
                <a:gd name="T28" fmla="*/ 14 w 530"/>
                <a:gd name="T29" fmla="*/ 27 h 342"/>
                <a:gd name="T30" fmla="*/ 15 w 530"/>
                <a:gd name="T31" fmla="*/ 25 h 342"/>
                <a:gd name="T32" fmla="*/ 16 w 530"/>
                <a:gd name="T33" fmla="*/ 27 h 342"/>
                <a:gd name="T34" fmla="*/ 18 w 530"/>
                <a:gd name="T35" fmla="*/ 29 h 342"/>
                <a:gd name="T36" fmla="*/ 19 w 530"/>
                <a:gd name="T37" fmla="*/ 29 h 342"/>
                <a:gd name="T38" fmla="*/ 20 w 530"/>
                <a:gd name="T39" fmla="*/ 29 h 342"/>
                <a:gd name="T40" fmla="*/ 22 w 530"/>
                <a:gd name="T41" fmla="*/ 27 h 342"/>
                <a:gd name="T42" fmla="*/ 22 w 530"/>
                <a:gd name="T43" fmla="*/ 24 h 342"/>
                <a:gd name="T44" fmla="*/ 22 w 530"/>
                <a:gd name="T45" fmla="*/ 21 h 342"/>
                <a:gd name="T46" fmla="*/ 23 w 530"/>
                <a:gd name="T47" fmla="*/ 21 h 342"/>
                <a:gd name="T48" fmla="*/ 24 w 530"/>
                <a:gd name="T49" fmla="*/ 21 h 342"/>
                <a:gd name="T50" fmla="*/ 26 w 530"/>
                <a:gd name="T51" fmla="*/ 22 h 342"/>
                <a:gd name="T52" fmla="*/ 27 w 530"/>
                <a:gd name="T53" fmla="*/ 22 h 342"/>
                <a:gd name="T54" fmla="*/ 29 w 530"/>
                <a:gd name="T55" fmla="*/ 21 h 342"/>
                <a:gd name="T56" fmla="*/ 31 w 530"/>
                <a:gd name="T57" fmla="*/ 19 h 342"/>
                <a:gd name="T58" fmla="*/ 31 w 530"/>
                <a:gd name="T59" fmla="*/ 16 h 342"/>
                <a:gd name="T60" fmla="*/ 31 w 530"/>
                <a:gd name="T61" fmla="*/ 13 h 342"/>
                <a:gd name="T62" fmla="*/ 31 w 530"/>
                <a:gd name="T63" fmla="*/ 9 h 342"/>
                <a:gd name="T64" fmla="*/ 30 w 530"/>
                <a:gd name="T65" fmla="*/ 5 h 342"/>
                <a:gd name="T66" fmla="*/ 29 w 530"/>
                <a:gd name="T67" fmla="*/ 2 h 342"/>
                <a:gd name="T68" fmla="*/ 27 w 530"/>
                <a:gd name="T69" fmla="*/ 0 h 342"/>
                <a:gd name="T70" fmla="*/ 26 w 530"/>
                <a:gd name="T71" fmla="*/ 0 h 342"/>
                <a:gd name="T72" fmla="*/ 24 w 530"/>
                <a:gd name="T73" fmla="*/ 2 h 342"/>
                <a:gd name="T74" fmla="*/ 22 w 530"/>
                <a:gd name="T75" fmla="*/ 4 h 342"/>
                <a:gd name="T76" fmla="*/ 21 w 530"/>
                <a:gd name="T77" fmla="*/ 4 h 342"/>
                <a:gd name="T78" fmla="*/ 20 w 530"/>
                <a:gd name="T79" fmla="*/ 3 h 342"/>
                <a:gd name="T80" fmla="*/ 18 w 530"/>
                <a:gd name="T81" fmla="*/ 3 h 342"/>
                <a:gd name="T82" fmla="*/ 17 w 530"/>
                <a:gd name="T83" fmla="*/ 3 h 342"/>
                <a:gd name="T84" fmla="*/ 15 w 530"/>
                <a:gd name="T85" fmla="*/ 3 h 342"/>
                <a:gd name="T86" fmla="*/ 14 w 530"/>
                <a:gd name="T87" fmla="*/ 4 h 342"/>
                <a:gd name="T88" fmla="*/ 13 w 530"/>
                <a:gd name="T89" fmla="*/ 7 h 342"/>
                <a:gd name="T90" fmla="*/ 13 w 530"/>
                <a:gd name="T91" fmla="*/ 9 h 342"/>
                <a:gd name="T92" fmla="*/ 12 w 530"/>
                <a:gd name="T93" fmla="*/ 12 h 342"/>
                <a:gd name="T94" fmla="*/ 10 w 530"/>
                <a:gd name="T95" fmla="*/ 15 h 342"/>
                <a:gd name="T96" fmla="*/ 9 w 530"/>
                <a:gd name="T97" fmla="*/ 16 h 342"/>
                <a:gd name="T98" fmla="*/ 7 w 530"/>
                <a:gd name="T99" fmla="*/ 17 h 342"/>
                <a:gd name="T100" fmla="*/ 6 w 530"/>
                <a:gd name="T101" fmla="*/ 1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9509" name="Line 181"/>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0" name="Line 182"/>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1" name="Oval 183"/>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9512" name="Freeform 184"/>
            <p:cNvSpPr>
              <a:spLocks/>
            </p:cNvSpPr>
            <p:nvPr/>
          </p:nvSpPr>
          <p:spPr bwMode="auto">
            <a:xfrm>
              <a:off x="611" y="2261"/>
              <a:ext cx="197" cy="198"/>
            </a:xfrm>
            <a:custGeom>
              <a:avLst/>
              <a:gdLst>
                <a:gd name="T0" fmla="*/ 3 w 770"/>
                <a:gd name="T1" fmla="*/ 12 h 778"/>
                <a:gd name="T2" fmla="*/ 2 w 770"/>
                <a:gd name="T3" fmla="*/ 11 h 778"/>
                <a:gd name="T4" fmla="*/ 1 w 770"/>
                <a:gd name="T5" fmla="*/ 10 h 778"/>
                <a:gd name="T6" fmla="*/ 0 w 770"/>
                <a:gd name="T7" fmla="*/ 9 h 778"/>
                <a:gd name="T8" fmla="*/ 0 w 770"/>
                <a:gd name="T9" fmla="*/ 7 h 778"/>
                <a:gd name="T10" fmla="*/ 0 w 770"/>
                <a:gd name="T11" fmla="*/ 6 h 778"/>
                <a:gd name="T12" fmla="*/ 1 w 770"/>
                <a:gd name="T13" fmla="*/ 4 h 778"/>
                <a:gd name="T14" fmla="*/ 1 w 770"/>
                <a:gd name="T15" fmla="*/ 3 h 778"/>
                <a:gd name="T16" fmla="*/ 2 w 770"/>
                <a:gd name="T17" fmla="*/ 2 h 778"/>
                <a:gd name="T18" fmla="*/ 4 w 770"/>
                <a:gd name="T19" fmla="*/ 1 h 778"/>
                <a:gd name="T20" fmla="*/ 5 w 770"/>
                <a:gd name="T21" fmla="*/ 0 h 778"/>
                <a:gd name="T22" fmla="*/ 7 w 770"/>
                <a:gd name="T23" fmla="*/ 0 h 778"/>
                <a:gd name="T24" fmla="*/ 8 w 770"/>
                <a:gd name="T25" fmla="*/ 0 h 778"/>
                <a:gd name="T26" fmla="*/ 9 w 770"/>
                <a:gd name="T27" fmla="*/ 1 h 778"/>
                <a:gd name="T28" fmla="*/ 11 w 770"/>
                <a:gd name="T29" fmla="*/ 2 h 778"/>
                <a:gd name="T30" fmla="*/ 12 w 770"/>
                <a:gd name="T31" fmla="*/ 3 h 778"/>
                <a:gd name="T32" fmla="*/ 13 w 770"/>
                <a:gd name="T33" fmla="*/ 4 h 778"/>
                <a:gd name="T34" fmla="*/ 13 w 770"/>
                <a:gd name="T35" fmla="*/ 6 h 778"/>
                <a:gd name="T36" fmla="*/ 13 w 770"/>
                <a:gd name="T37" fmla="*/ 7 h 778"/>
                <a:gd name="T38" fmla="*/ 13 w 770"/>
                <a:gd name="T39" fmla="*/ 9 h 778"/>
                <a:gd name="T40" fmla="*/ 12 w 770"/>
                <a:gd name="T41" fmla="*/ 10 h 778"/>
                <a:gd name="T42" fmla="*/ 11 w 770"/>
                <a:gd name="T43" fmla="*/ 11 h 778"/>
                <a:gd name="T44" fmla="*/ 9 w 770"/>
                <a:gd name="T45" fmla="*/ 12 h 778"/>
                <a:gd name="T46" fmla="*/ 8 w 770"/>
                <a:gd name="T47" fmla="*/ 13 h 778"/>
                <a:gd name="T48" fmla="*/ 6 w 770"/>
                <a:gd name="T49" fmla="*/ 13 h 778"/>
                <a:gd name="T50" fmla="*/ 5 w 770"/>
                <a:gd name="T51" fmla="*/ 13 h 778"/>
                <a:gd name="T52" fmla="*/ 3 w 770"/>
                <a:gd name="T53" fmla="*/ 12 h 778"/>
                <a:gd name="T54" fmla="*/ 5 w 770"/>
                <a:gd name="T55" fmla="*/ 11 h 778"/>
                <a:gd name="T56" fmla="*/ 6 w 770"/>
                <a:gd name="T57" fmla="*/ 11 h 778"/>
                <a:gd name="T58" fmla="*/ 7 w 770"/>
                <a:gd name="T59" fmla="*/ 11 h 778"/>
                <a:gd name="T60" fmla="*/ 8 w 770"/>
                <a:gd name="T61" fmla="*/ 11 h 778"/>
                <a:gd name="T62" fmla="*/ 9 w 770"/>
                <a:gd name="T63" fmla="*/ 10 h 778"/>
                <a:gd name="T64" fmla="*/ 10 w 770"/>
                <a:gd name="T65" fmla="*/ 9 h 778"/>
                <a:gd name="T66" fmla="*/ 11 w 770"/>
                <a:gd name="T67" fmla="*/ 8 h 778"/>
                <a:gd name="T68" fmla="*/ 11 w 770"/>
                <a:gd name="T69" fmla="*/ 7 h 778"/>
                <a:gd name="T70" fmla="*/ 11 w 770"/>
                <a:gd name="T71" fmla="*/ 6 h 778"/>
                <a:gd name="T72" fmla="*/ 11 w 770"/>
                <a:gd name="T73" fmla="*/ 5 h 778"/>
                <a:gd name="T74" fmla="*/ 10 w 770"/>
                <a:gd name="T75" fmla="*/ 4 h 778"/>
                <a:gd name="T76" fmla="*/ 10 w 770"/>
                <a:gd name="T77" fmla="*/ 3 h 778"/>
                <a:gd name="T78" fmla="*/ 9 w 770"/>
                <a:gd name="T79" fmla="*/ 2 h 778"/>
                <a:gd name="T80" fmla="*/ 8 w 770"/>
                <a:gd name="T81" fmla="*/ 2 h 778"/>
                <a:gd name="T82" fmla="*/ 7 w 770"/>
                <a:gd name="T83" fmla="*/ 2 h 778"/>
                <a:gd name="T84" fmla="*/ 5 w 770"/>
                <a:gd name="T85" fmla="*/ 2 h 778"/>
                <a:gd name="T86" fmla="*/ 4 w 770"/>
                <a:gd name="T87" fmla="*/ 2 h 778"/>
                <a:gd name="T88" fmla="*/ 3 w 770"/>
                <a:gd name="T89" fmla="*/ 3 h 778"/>
                <a:gd name="T90" fmla="*/ 3 w 770"/>
                <a:gd name="T91" fmla="*/ 3 h 778"/>
                <a:gd name="T92" fmla="*/ 2 w 770"/>
                <a:gd name="T93" fmla="*/ 4 h 778"/>
                <a:gd name="T94" fmla="*/ 2 w 770"/>
                <a:gd name="T95" fmla="*/ 6 h 778"/>
                <a:gd name="T96" fmla="*/ 2 w 770"/>
                <a:gd name="T97" fmla="*/ 7 h 778"/>
                <a:gd name="T98" fmla="*/ 2 w 770"/>
                <a:gd name="T99" fmla="*/ 8 h 778"/>
                <a:gd name="T100" fmla="*/ 2 w 770"/>
                <a:gd name="T101" fmla="*/ 9 h 778"/>
                <a:gd name="T102" fmla="*/ 3 w 770"/>
                <a:gd name="T103" fmla="*/ 10 h 778"/>
                <a:gd name="T104" fmla="*/ 4 w 770"/>
                <a:gd name="T105" fmla="*/ 11 h 778"/>
                <a:gd name="T106" fmla="*/ 3 w 770"/>
                <a:gd name="T107" fmla="*/ 12 h 778"/>
                <a:gd name="T108" fmla="*/ 3 w 770"/>
                <a:gd name="T109" fmla="*/ 12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3" name="Freeform 185"/>
            <p:cNvSpPr>
              <a:spLocks/>
            </p:cNvSpPr>
            <p:nvPr/>
          </p:nvSpPr>
          <p:spPr bwMode="auto">
            <a:xfrm>
              <a:off x="653" y="2425"/>
              <a:ext cx="38" cy="24"/>
            </a:xfrm>
            <a:custGeom>
              <a:avLst/>
              <a:gdLst>
                <a:gd name="T0" fmla="*/ 3 w 150"/>
                <a:gd name="T1" fmla="*/ 1 h 93"/>
                <a:gd name="T2" fmla="*/ 1 w 150"/>
                <a:gd name="T3" fmla="*/ 0 h 93"/>
                <a:gd name="T4" fmla="*/ 0 w 150"/>
                <a:gd name="T5" fmla="*/ 1 h 93"/>
                <a:gd name="T6" fmla="*/ 1 w 150"/>
                <a:gd name="T7" fmla="*/ 2 h 93"/>
                <a:gd name="T8" fmla="*/ 3 w 150"/>
                <a:gd name="T9" fmla="*/ 1 h 93"/>
                <a:gd name="T10" fmla="*/ 3 w 150"/>
                <a:gd name="T11" fmla="*/ 1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4" name="Oval 186"/>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9515" name="Freeform 187"/>
            <p:cNvSpPr>
              <a:spLocks/>
            </p:cNvSpPr>
            <p:nvPr/>
          </p:nvSpPr>
          <p:spPr bwMode="auto">
            <a:xfrm>
              <a:off x="1336" y="2201"/>
              <a:ext cx="156" cy="249"/>
            </a:xfrm>
            <a:custGeom>
              <a:avLst/>
              <a:gdLst>
                <a:gd name="T0" fmla="*/ 2 w 606"/>
                <a:gd name="T1" fmla="*/ 15 h 969"/>
                <a:gd name="T2" fmla="*/ 1 w 606"/>
                <a:gd name="T3" fmla="*/ 14 h 969"/>
                <a:gd name="T4" fmla="*/ 1 w 606"/>
                <a:gd name="T5" fmla="*/ 12 h 969"/>
                <a:gd name="T6" fmla="*/ 0 w 606"/>
                <a:gd name="T7" fmla="*/ 11 h 969"/>
                <a:gd name="T8" fmla="*/ 0 w 606"/>
                <a:gd name="T9" fmla="*/ 9 h 969"/>
                <a:gd name="T10" fmla="*/ 0 w 606"/>
                <a:gd name="T11" fmla="*/ 7 h 969"/>
                <a:gd name="T12" fmla="*/ 1 w 606"/>
                <a:gd name="T13" fmla="*/ 5 h 969"/>
                <a:gd name="T14" fmla="*/ 1 w 606"/>
                <a:gd name="T15" fmla="*/ 3 h 969"/>
                <a:gd name="T16" fmla="*/ 2 w 606"/>
                <a:gd name="T17" fmla="*/ 2 h 969"/>
                <a:gd name="T18" fmla="*/ 4 w 606"/>
                <a:gd name="T19" fmla="*/ 1 h 969"/>
                <a:gd name="T20" fmla="*/ 5 w 606"/>
                <a:gd name="T21" fmla="*/ 0 h 969"/>
                <a:gd name="T22" fmla="*/ 6 w 606"/>
                <a:gd name="T23" fmla="*/ 0 h 969"/>
                <a:gd name="T24" fmla="*/ 7 w 606"/>
                <a:gd name="T25" fmla="*/ 0 h 969"/>
                <a:gd name="T26" fmla="*/ 8 w 606"/>
                <a:gd name="T27" fmla="*/ 1 h 969"/>
                <a:gd name="T28" fmla="*/ 9 w 606"/>
                <a:gd name="T29" fmla="*/ 3 h 969"/>
                <a:gd name="T30" fmla="*/ 10 w 606"/>
                <a:gd name="T31" fmla="*/ 4 h 969"/>
                <a:gd name="T32" fmla="*/ 10 w 606"/>
                <a:gd name="T33" fmla="*/ 6 h 969"/>
                <a:gd name="T34" fmla="*/ 10 w 606"/>
                <a:gd name="T35" fmla="*/ 8 h 969"/>
                <a:gd name="T36" fmla="*/ 10 w 606"/>
                <a:gd name="T37" fmla="*/ 10 h 969"/>
                <a:gd name="T38" fmla="*/ 10 w 606"/>
                <a:gd name="T39" fmla="*/ 12 h 969"/>
                <a:gd name="T40" fmla="*/ 9 w 606"/>
                <a:gd name="T41" fmla="*/ 13 h 969"/>
                <a:gd name="T42" fmla="*/ 8 w 606"/>
                <a:gd name="T43" fmla="*/ 15 h 969"/>
                <a:gd name="T44" fmla="*/ 7 w 606"/>
                <a:gd name="T45" fmla="*/ 16 h 969"/>
                <a:gd name="T46" fmla="*/ 6 w 606"/>
                <a:gd name="T47" fmla="*/ 16 h 969"/>
                <a:gd name="T48" fmla="*/ 4 w 606"/>
                <a:gd name="T49" fmla="*/ 16 h 969"/>
                <a:gd name="T50" fmla="*/ 3 w 606"/>
                <a:gd name="T51" fmla="*/ 16 h 969"/>
                <a:gd name="T52" fmla="*/ 2 w 606"/>
                <a:gd name="T53" fmla="*/ 15 h 969"/>
                <a:gd name="T54" fmla="*/ 3 w 606"/>
                <a:gd name="T55" fmla="*/ 14 h 969"/>
                <a:gd name="T56" fmla="*/ 4 w 606"/>
                <a:gd name="T57" fmla="*/ 14 h 969"/>
                <a:gd name="T58" fmla="*/ 5 w 606"/>
                <a:gd name="T59" fmla="*/ 14 h 969"/>
                <a:gd name="T60" fmla="*/ 6 w 606"/>
                <a:gd name="T61" fmla="*/ 14 h 969"/>
                <a:gd name="T62" fmla="*/ 7 w 606"/>
                <a:gd name="T63" fmla="*/ 13 h 969"/>
                <a:gd name="T64" fmla="*/ 8 w 606"/>
                <a:gd name="T65" fmla="*/ 12 h 969"/>
                <a:gd name="T66" fmla="*/ 8 w 606"/>
                <a:gd name="T67" fmla="*/ 11 h 969"/>
                <a:gd name="T68" fmla="*/ 9 w 606"/>
                <a:gd name="T69" fmla="*/ 10 h 969"/>
                <a:gd name="T70" fmla="*/ 9 w 606"/>
                <a:gd name="T71" fmla="*/ 8 h 969"/>
                <a:gd name="T72" fmla="*/ 9 w 606"/>
                <a:gd name="T73" fmla="*/ 7 h 969"/>
                <a:gd name="T74" fmla="*/ 9 w 606"/>
                <a:gd name="T75" fmla="*/ 5 h 969"/>
                <a:gd name="T76" fmla="*/ 8 w 606"/>
                <a:gd name="T77" fmla="*/ 4 h 969"/>
                <a:gd name="T78" fmla="*/ 8 w 606"/>
                <a:gd name="T79" fmla="*/ 3 h 969"/>
                <a:gd name="T80" fmla="*/ 7 w 606"/>
                <a:gd name="T81" fmla="*/ 2 h 969"/>
                <a:gd name="T82" fmla="*/ 6 w 606"/>
                <a:gd name="T83" fmla="*/ 2 h 969"/>
                <a:gd name="T84" fmla="*/ 5 w 606"/>
                <a:gd name="T85" fmla="*/ 2 h 969"/>
                <a:gd name="T86" fmla="*/ 4 w 606"/>
                <a:gd name="T87" fmla="*/ 2 h 969"/>
                <a:gd name="T88" fmla="*/ 3 w 606"/>
                <a:gd name="T89" fmla="*/ 3 h 969"/>
                <a:gd name="T90" fmla="*/ 3 w 606"/>
                <a:gd name="T91" fmla="*/ 4 h 969"/>
                <a:gd name="T92" fmla="*/ 2 w 606"/>
                <a:gd name="T93" fmla="*/ 5 h 969"/>
                <a:gd name="T94" fmla="*/ 2 w 606"/>
                <a:gd name="T95" fmla="*/ 7 h 969"/>
                <a:gd name="T96" fmla="*/ 1 w 606"/>
                <a:gd name="T97" fmla="*/ 8 h 969"/>
                <a:gd name="T98" fmla="*/ 1 w 606"/>
                <a:gd name="T99" fmla="*/ 10 h 969"/>
                <a:gd name="T100" fmla="*/ 2 w 606"/>
                <a:gd name="T101" fmla="*/ 11 h 969"/>
                <a:gd name="T102" fmla="*/ 2 w 606"/>
                <a:gd name="T103" fmla="*/ 12 h 969"/>
                <a:gd name="T104" fmla="*/ 3 w 606"/>
                <a:gd name="T105" fmla="*/ 14 h 969"/>
                <a:gd name="T106" fmla="*/ 2 w 606"/>
                <a:gd name="T107" fmla="*/ 15 h 969"/>
                <a:gd name="T108" fmla="*/ 2 w 606"/>
                <a:gd name="T109" fmla="*/ 15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6" name="Freeform 188"/>
            <p:cNvSpPr>
              <a:spLocks/>
            </p:cNvSpPr>
            <p:nvPr/>
          </p:nvSpPr>
          <p:spPr bwMode="auto">
            <a:xfrm>
              <a:off x="1360" y="2402"/>
              <a:ext cx="33" cy="30"/>
            </a:xfrm>
            <a:custGeom>
              <a:avLst/>
              <a:gdLst>
                <a:gd name="T0" fmla="*/ 2 w 122"/>
                <a:gd name="T1" fmla="*/ 1 h 116"/>
                <a:gd name="T2" fmla="*/ 1 w 122"/>
                <a:gd name="T3" fmla="*/ 0 h 116"/>
                <a:gd name="T4" fmla="*/ 0 w 122"/>
                <a:gd name="T5" fmla="*/ 1 h 116"/>
                <a:gd name="T6" fmla="*/ 1 w 122"/>
                <a:gd name="T7" fmla="*/ 2 h 116"/>
                <a:gd name="T8" fmla="*/ 2 w 122"/>
                <a:gd name="T9" fmla="*/ 1 h 116"/>
                <a:gd name="T10" fmla="*/ 2 w 122"/>
                <a:gd name="T11" fmla="*/ 1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9481" name="Group 189"/>
          <p:cNvGrpSpPr>
            <a:grpSpLocks/>
          </p:cNvGrpSpPr>
          <p:nvPr/>
        </p:nvGrpSpPr>
        <p:grpSpPr bwMode="auto">
          <a:xfrm>
            <a:off x="4720733" y="2802460"/>
            <a:ext cx="620713" cy="788987"/>
            <a:chOff x="2401" y="425"/>
            <a:chExt cx="907" cy="1154"/>
          </a:xfrm>
        </p:grpSpPr>
        <p:sp>
          <p:nvSpPr>
            <p:cNvPr id="19491" name="Rectangle 19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9492" name="Line 19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93" name="Line 19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94" name="Rectangle 19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9495" name="Freeform 194"/>
            <p:cNvSpPr>
              <a:spLocks/>
            </p:cNvSpPr>
            <p:nvPr/>
          </p:nvSpPr>
          <p:spPr bwMode="auto">
            <a:xfrm>
              <a:off x="2643" y="789"/>
              <a:ext cx="309" cy="257"/>
            </a:xfrm>
            <a:custGeom>
              <a:avLst/>
              <a:gdLst>
                <a:gd name="T0" fmla="*/ 283 w 234"/>
                <a:gd name="T1" fmla="*/ 0 h 195"/>
                <a:gd name="T2" fmla="*/ 63 w 234"/>
                <a:gd name="T3" fmla="*/ 95 h 195"/>
                <a:gd name="T4" fmla="*/ 0 w 234"/>
                <a:gd name="T5" fmla="*/ 447 h 195"/>
                <a:gd name="T6" fmla="*/ 415 w 234"/>
                <a:gd name="T7" fmla="*/ 447 h 195"/>
                <a:gd name="T8" fmla="*/ 539 w 234"/>
                <a:gd name="T9" fmla="*/ 253 h 195"/>
                <a:gd name="T10" fmla="*/ 283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9496" name="Line 19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482" name="Text Box 196"/>
          <p:cNvSpPr txBox="1">
            <a:spLocks noChangeArrowheads="1"/>
          </p:cNvSpPr>
          <p:nvPr/>
        </p:nvSpPr>
        <p:spPr bwMode="auto">
          <a:xfrm>
            <a:off x="4486340"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activity</a:t>
            </a:r>
          </a:p>
        </p:txBody>
      </p:sp>
      <p:grpSp>
        <p:nvGrpSpPr>
          <p:cNvPr id="19483" name="Group 204"/>
          <p:cNvGrpSpPr>
            <a:grpSpLocks/>
          </p:cNvGrpSpPr>
          <p:nvPr/>
        </p:nvGrpSpPr>
        <p:grpSpPr bwMode="auto">
          <a:xfrm>
            <a:off x="3484105" y="2847975"/>
            <a:ext cx="781050" cy="776288"/>
            <a:chOff x="3360" y="800"/>
            <a:chExt cx="620" cy="616"/>
          </a:xfrm>
        </p:grpSpPr>
        <p:sp>
          <p:nvSpPr>
            <p:cNvPr id="19485" name="AutoShape 20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486" name="Freeform 206"/>
            <p:cNvSpPr>
              <a:spLocks/>
            </p:cNvSpPr>
            <p:nvPr/>
          </p:nvSpPr>
          <p:spPr bwMode="auto">
            <a:xfrm>
              <a:off x="3403" y="830"/>
              <a:ext cx="212" cy="274"/>
            </a:xfrm>
            <a:custGeom>
              <a:avLst/>
              <a:gdLst>
                <a:gd name="T0" fmla="*/ 4 w 1052"/>
                <a:gd name="T1" fmla="*/ 11 h 1352"/>
                <a:gd name="T2" fmla="*/ 2 w 1052"/>
                <a:gd name="T3" fmla="*/ 10 h 1352"/>
                <a:gd name="T4" fmla="*/ 1 w 1052"/>
                <a:gd name="T5" fmla="*/ 7 h 1352"/>
                <a:gd name="T6" fmla="*/ 0 w 1052"/>
                <a:gd name="T7" fmla="*/ 5 h 1352"/>
                <a:gd name="T8" fmla="*/ 0 w 1052"/>
                <a:gd name="T9" fmla="*/ 3 h 1352"/>
                <a:gd name="T10" fmla="*/ 0 w 1052"/>
                <a:gd name="T11" fmla="*/ 1 h 1352"/>
                <a:gd name="T12" fmla="*/ 1 w 1052"/>
                <a:gd name="T13" fmla="*/ 1 h 1352"/>
                <a:gd name="T14" fmla="*/ 2 w 1052"/>
                <a:gd name="T15" fmla="*/ 1 h 1352"/>
                <a:gd name="T16" fmla="*/ 3 w 1052"/>
                <a:gd name="T17" fmla="*/ 1 h 1352"/>
                <a:gd name="T18" fmla="*/ 4 w 1052"/>
                <a:gd name="T19" fmla="*/ 0 h 1352"/>
                <a:gd name="T20" fmla="*/ 5 w 1052"/>
                <a:gd name="T21" fmla="*/ 1 h 1352"/>
                <a:gd name="T22" fmla="*/ 7 w 1052"/>
                <a:gd name="T23" fmla="*/ 1 h 1352"/>
                <a:gd name="T24" fmla="*/ 9 w 1052"/>
                <a:gd name="T25" fmla="*/ 1 h 1352"/>
                <a:gd name="T26" fmla="*/ 8 w 1052"/>
                <a:gd name="T27" fmla="*/ 5 h 1352"/>
                <a:gd name="T28" fmla="*/ 8 w 1052"/>
                <a:gd name="T29" fmla="*/ 6 h 1352"/>
                <a:gd name="T30" fmla="*/ 7 w 1052"/>
                <a:gd name="T31" fmla="*/ 9 h 1352"/>
                <a:gd name="T32" fmla="*/ 5 w 1052"/>
                <a:gd name="T33" fmla="*/ 10 h 1352"/>
                <a:gd name="T34" fmla="*/ 4 w 1052"/>
                <a:gd name="T35" fmla="*/ 11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9487" name="Group 207"/>
            <p:cNvGrpSpPr>
              <a:grpSpLocks/>
            </p:cNvGrpSpPr>
            <p:nvPr/>
          </p:nvGrpSpPr>
          <p:grpSpPr bwMode="auto">
            <a:xfrm flipH="1">
              <a:off x="3749" y="1171"/>
              <a:ext cx="212" cy="213"/>
              <a:chOff x="1350" y="686"/>
              <a:chExt cx="1132" cy="1132"/>
            </a:xfrm>
          </p:grpSpPr>
          <p:sp>
            <p:nvSpPr>
              <p:cNvPr id="19489" name="AutoShape 20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490" name="Picture 20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88" name="Picture 21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9484" name="Text Box 211"/>
          <p:cNvSpPr txBox="1">
            <a:spLocks noChangeArrowheads="1"/>
          </p:cNvSpPr>
          <p:nvPr/>
        </p:nvSpPr>
        <p:spPr bwMode="auto">
          <a:xfrm>
            <a:off x="3305957" y="2501900"/>
            <a:ext cx="1171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exposure</a:t>
            </a:r>
          </a:p>
        </p:txBody>
      </p:sp>
      <p:grpSp>
        <p:nvGrpSpPr>
          <p:cNvPr id="127" name="Group 126"/>
          <p:cNvGrpSpPr/>
          <p:nvPr/>
        </p:nvGrpSpPr>
        <p:grpSpPr>
          <a:xfrm>
            <a:off x="1085596" y="3038223"/>
            <a:ext cx="662598" cy="644777"/>
            <a:chOff x="4343400" y="4495800"/>
            <a:chExt cx="762000" cy="741506"/>
          </a:xfrm>
        </p:grpSpPr>
        <p:sp>
          <p:nvSpPr>
            <p:cNvPr id="128" name="Rounded Rectangle 127"/>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129" name="Straight Connector 128"/>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130" name="Picture 1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131" name="Picture 13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132" name="Text Box 43"/>
          <p:cNvSpPr txBox="1">
            <a:spLocks noChangeArrowheads="1"/>
          </p:cNvSpPr>
          <p:nvPr/>
        </p:nvSpPr>
        <p:spPr bwMode="auto">
          <a:xfrm>
            <a:off x="910309" y="2474643"/>
            <a:ext cx="120058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service request</a:t>
            </a:r>
          </a:p>
        </p:txBody>
      </p:sp>
      <p:sp>
        <p:nvSpPr>
          <p:cNvPr id="133" name="Line 95"/>
          <p:cNvSpPr>
            <a:spLocks noChangeShapeType="1"/>
          </p:cNvSpPr>
          <p:nvPr/>
        </p:nvSpPr>
        <p:spPr bwMode="auto">
          <a:xfrm>
            <a:off x="1298060" y="2265363"/>
            <a:ext cx="0" cy="233362"/>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Lesson outline</a:t>
            </a:r>
          </a:p>
        </p:txBody>
      </p:sp>
      <p:sp>
        <p:nvSpPr>
          <p:cNvPr id="2048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Types of validation</a:t>
            </a:r>
          </a:p>
          <a:p>
            <a:pPr>
              <a:lnSpc>
                <a:spcPct val="150000"/>
              </a:lnSpc>
              <a:buFont typeface="Arial" charset="0"/>
              <a:buChar char="•"/>
            </a:pPr>
            <a:r>
              <a:rPr lang="en-US" sz="2800">
                <a:solidFill>
                  <a:srgbClr val="C0C0C0"/>
                </a:solidFill>
              </a:rPr>
              <a:t>Validation rule basics</a:t>
            </a:r>
          </a:p>
          <a:p>
            <a:pPr>
              <a:lnSpc>
                <a:spcPct val="150000"/>
              </a:lnSpc>
              <a:buFont typeface="Arial" charset="0"/>
              <a:buChar char="•"/>
            </a:pPr>
            <a:r>
              <a:rPr lang="en-US" sz="2800"/>
              <a:t>Validation rules in the user interface</a:t>
            </a:r>
          </a:p>
          <a:p>
            <a:pPr>
              <a:lnSpc>
                <a:spcPct val="150000"/>
              </a:lnSpc>
              <a:buFont typeface="Arial" charset="0"/>
              <a:buChar char="•"/>
            </a:pPr>
            <a:r>
              <a:rPr lang="en-US" sz="2800">
                <a:solidFill>
                  <a:srgbClr val="C0C0C0"/>
                </a:solidFill>
              </a:rPr>
              <a:t>Warnings and errors</a:t>
            </a:r>
          </a:p>
          <a:p>
            <a:pPr>
              <a:lnSpc>
                <a:spcPct val="150000"/>
              </a:lnSpc>
              <a:buFont typeface="Arial" charset="0"/>
              <a:buChar char="•"/>
            </a:pPr>
            <a:r>
              <a:rPr lang="en-US" sz="2800">
                <a:solidFill>
                  <a:srgbClr val="C0C0C0"/>
                </a:solidFill>
              </a:rPr>
              <a:t>Identifying invalid fields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569" y="4296599"/>
            <a:ext cx="4737945" cy="219080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7" name="Rectangle 2"/>
          <p:cNvSpPr>
            <a:spLocks noGrp="1" noChangeArrowheads="1"/>
          </p:cNvSpPr>
          <p:nvPr>
            <p:ph type="title"/>
          </p:nvPr>
        </p:nvSpPr>
        <p:spPr/>
        <p:txBody>
          <a:bodyPr/>
          <a:lstStyle/>
          <a:p>
            <a:pPr eaLnBrk="1" hangingPunct="1"/>
            <a:r>
              <a:rPr lang="en-US"/>
              <a:t>Validation rule errors</a:t>
            </a:r>
          </a:p>
        </p:txBody>
      </p:sp>
      <p:sp>
        <p:nvSpPr>
          <p:cNvPr id="21508" name="Rectangle 24"/>
          <p:cNvSpPr>
            <a:spLocks noGrp="1" noChangeArrowheads="1"/>
          </p:cNvSpPr>
          <p:nvPr>
            <p:ph idx="1"/>
          </p:nvPr>
        </p:nvSpPr>
        <p:spPr>
          <a:xfrm>
            <a:off x="5156200" y="903288"/>
            <a:ext cx="3681413" cy="3032125"/>
          </a:xfrm>
        </p:spPr>
        <p:txBody>
          <a:bodyPr/>
          <a:lstStyle/>
          <a:p>
            <a:pPr>
              <a:buFont typeface="Arial" charset="0"/>
              <a:buChar char="•"/>
            </a:pPr>
            <a:r>
              <a:rPr lang="en-US"/>
              <a:t>Displayed when user attempts to make change which would cause object to move backwards in maturity</a:t>
            </a:r>
          </a:p>
          <a:p>
            <a:pPr lvl="1"/>
            <a:r>
              <a:rPr lang="en-US"/>
              <a:t>Not displayed if object is not yet at level to which error is associated</a:t>
            </a:r>
          </a:p>
          <a:p>
            <a:pPr lvl="1"/>
            <a:r>
              <a:rPr lang="en-US"/>
              <a:t>Save is prevented</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3" y="679450"/>
            <a:ext cx="4076700" cy="35052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8950" y="479631"/>
            <a:ext cx="2419350" cy="381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0" name="AutoShape 11"/>
          <p:cNvSpPr>
            <a:spLocks noChangeArrowheads="1"/>
          </p:cNvSpPr>
          <p:nvPr/>
        </p:nvSpPr>
        <p:spPr bwMode="auto">
          <a:xfrm>
            <a:off x="738786" y="3924000"/>
            <a:ext cx="3239448" cy="188119"/>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363" y="670131"/>
            <a:ext cx="4124325" cy="35052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971" y="4296598"/>
            <a:ext cx="3540755" cy="22229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2532" name="Rectangle 2"/>
          <p:cNvSpPr>
            <a:spLocks noGrp="1" noChangeArrowheads="1"/>
          </p:cNvSpPr>
          <p:nvPr>
            <p:ph type="title"/>
          </p:nvPr>
        </p:nvSpPr>
        <p:spPr/>
        <p:txBody>
          <a:bodyPr/>
          <a:lstStyle/>
          <a:p>
            <a:pPr eaLnBrk="1" hangingPunct="1"/>
            <a:r>
              <a:rPr lang="en-US"/>
              <a:t>Validation rule warnings</a:t>
            </a:r>
          </a:p>
        </p:txBody>
      </p:sp>
      <p:sp>
        <p:nvSpPr>
          <p:cNvPr id="22533" name="Rectangle 4"/>
          <p:cNvSpPr>
            <a:spLocks noGrp="1" noChangeArrowheads="1"/>
          </p:cNvSpPr>
          <p:nvPr>
            <p:ph idx="1"/>
          </p:nvPr>
        </p:nvSpPr>
        <p:spPr>
          <a:xfrm>
            <a:off x="5156200" y="903288"/>
            <a:ext cx="3681413" cy="3032125"/>
          </a:xfrm>
        </p:spPr>
        <p:txBody>
          <a:bodyPr/>
          <a:lstStyle/>
          <a:p>
            <a:pPr>
              <a:buFont typeface="Arial" charset="0"/>
              <a:buChar char="•"/>
            </a:pPr>
            <a:r>
              <a:rPr lang="en-US"/>
              <a:t>User can be alerted of possibly problematic issue</a:t>
            </a:r>
          </a:p>
          <a:p>
            <a:pPr lvl="1"/>
            <a:r>
              <a:rPr lang="en-US"/>
              <a:t>Save is still allowed (upon second attempt to save)</a:t>
            </a:r>
          </a:p>
          <a:p>
            <a:pPr>
              <a:buFont typeface="Arial" charset="0"/>
              <a:buChar char="•"/>
            </a:pPr>
            <a:r>
              <a:rPr lang="en-US"/>
              <a:t>Condition can be executed as warning at earlier level and error at later level</a:t>
            </a:r>
          </a:p>
        </p:txBody>
      </p:sp>
      <p:sp>
        <p:nvSpPr>
          <p:cNvPr id="9" name="AutoShape 11"/>
          <p:cNvSpPr>
            <a:spLocks noChangeArrowheads="1"/>
          </p:cNvSpPr>
          <p:nvPr/>
        </p:nvSpPr>
        <p:spPr bwMode="auto">
          <a:xfrm>
            <a:off x="738786" y="3353985"/>
            <a:ext cx="3439514" cy="188119"/>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8950" y="479631"/>
            <a:ext cx="3152775" cy="40005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975" y="3429000"/>
            <a:ext cx="4501462" cy="313811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0025" y="1173957"/>
            <a:ext cx="5095875" cy="24384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8" name="Rectangle 2"/>
          <p:cNvSpPr>
            <a:spLocks noGrp="1" noChangeArrowheads="1"/>
          </p:cNvSpPr>
          <p:nvPr>
            <p:ph type="title"/>
          </p:nvPr>
        </p:nvSpPr>
        <p:spPr/>
        <p:txBody>
          <a:bodyPr/>
          <a:lstStyle/>
          <a:p>
            <a:pPr eaLnBrk="1" hangingPunct="1"/>
            <a:r>
              <a:rPr lang="en-US"/>
              <a:t>Validation level for given object</a:t>
            </a:r>
          </a:p>
        </p:txBody>
      </p:sp>
      <p:sp>
        <p:nvSpPr>
          <p:cNvPr id="24579" name="Rectangle 12"/>
          <p:cNvSpPr>
            <a:spLocks noGrp="1" noChangeArrowheads="1"/>
          </p:cNvSpPr>
          <p:nvPr>
            <p:ph idx="1"/>
          </p:nvPr>
        </p:nvSpPr>
        <p:spPr>
          <a:xfrm>
            <a:off x="228601" y="590550"/>
            <a:ext cx="3624261" cy="2517775"/>
          </a:xfrm>
        </p:spPr>
        <p:txBody>
          <a:bodyPr/>
          <a:lstStyle/>
          <a:p>
            <a:pPr>
              <a:buFont typeface="Arial" charset="0"/>
              <a:buChar char="•"/>
            </a:pPr>
            <a:r>
              <a:rPr lang="en-US"/>
              <a:t>In base application:</a:t>
            </a:r>
          </a:p>
          <a:p>
            <a:pPr lvl="1"/>
            <a:r>
              <a:rPr lang="en-US"/>
              <a:t>Claim level displayed on Claim Status screen</a:t>
            </a:r>
          </a:p>
          <a:p>
            <a:pPr lvl="1"/>
            <a:r>
              <a:rPr lang="en-US"/>
              <a:t>Exposure level displayed on exposure's Details card</a:t>
            </a:r>
          </a:p>
        </p:txBody>
      </p:sp>
      <p:sp>
        <p:nvSpPr>
          <p:cNvPr id="24582" name="AutoShape 22"/>
          <p:cNvSpPr>
            <a:spLocks noChangeArrowheads="1"/>
          </p:cNvSpPr>
          <p:nvPr/>
        </p:nvSpPr>
        <p:spPr bwMode="auto">
          <a:xfrm>
            <a:off x="192975" y="6226875"/>
            <a:ext cx="2898775" cy="2619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83" name="AutoShape 23"/>
          <p:cNvSpPr>
            <a:spLocks noChangeArrowheads="1"/>
          </p:cNvSpPr>
          <p:nvPr/>
        </p:nvSpPr>
        <p:spPr bwMode="auto">
          <a:xfrm>
            <a:off x="5897562" y="2450307"/>
            <a:ext cx="3151188" cy="2619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 name="AutoShape 23"/>
          <p:cNvSpPr>
            <a:spLocks noChangeArrowheads="1"/>
          </p:cNvSpPr>
          <p:nvPr/>
        </p:nvSpPr>
        <p:spPr bwMode="auto">
          <a:xfrm>
            <a:off x="201865" y="3977152"/>
            <a:ext cx="534404" cy="2619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Review: Running validation rules manually</a:t>
            </a:r>
          </a:p>
        </p:txBody>
      </p:sp>
      <p:pic>
        <p:nvPicPr>
          <p:cNvPr id="2" name="Picture 2" descr="C:\Users\trhoades\AppData\Local\Temp\SNAGHTML18615a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58" y="630381"/>
            <a:ext cx="7492134" cy="5889113"/>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Lesson outline</a:t>
            </a:r>
          </a:p>
        </p:txBody>
      </p:sp>
      <p:sp>
        <p:nvSpPr>
          <p:cNvPr id="2662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Types of validation</a:t>
            </a:r>
          </a:p>
          <a:p>
            <a:pPr>
              <a:lnSpc>
                <a:spcPct val="150000"/>
              </a:lnSpc>
              <a:buFont typeface="Arial" charset="0"/>
              <a:buChar char="•"/>
            </a:pPr>
            <a:r>
              <a:rPr lang="en-US" sz="2800">
                <a:solidFill>
                  <a:srgbClr val="C0C0C0"/>
                </a:solidFill>
              </a:rPr>
              <a:t>Validation rule basics</a:t>
            </a:r>
          </a:p>
          <a:p>
            <a:pPr>
              <a:lnSpc>
                <a:spcPct val="150000"/>
              </a:lnSpc>
              <a:buFont typeface="Arial" charset="0"/>
              <a:buChar char="•"/>
            </a:pPr>
            <a:r>
              <a:rPr lang="en-US" sz="2800">
                <a:solidFill>
                  <a:srgbClr val="C0C0C0"/>
                </a:solidFill>
              </a:rPr>
              <a:t>Validation rules in the user interface</a:t>
            </a:r>
          </a:p>
          <a:p>
            <a:pPr>
              <a:lnSpc>
                <a:spcPct val="150000"/>
              </a:lnSpc>
              <a:buFont typeface="Arial" charset="0"/>
              <a:buChar char="•"/>
            </a:pPr>
            <a:r>
              <a:rPr lang="en-US" sz="2800"/>
              <a:t>Warnings and errors</a:t>
            </a:r>
          </a:p>
          <a:p>
            <a:pPr>
              <a:lnSpc>
                <a:spcPct val="150000"/>
              </a:lnSpc>
              <a:buFont typeface="Arial" charset="0"/>
              <a:buChar char="•"/>
            </a:pPr>
            <a:r>
              <a:rPr lang="en-US" sz="2800">
                <a:solidFill>
                  <a:srgbClr val="C0C0C0"/>
                </a:solidFill>
              </a:rPr>
              <a:t>Identifying invalid fields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The reject method</a:t>
            </a:r>
          </a:p>
        </p:txBody>
      </p:sp>
      <p:sp>
        <p:nvSpPr>
          <p:cNvPr id="27651" name="Rectangle 3"/>
          <p:cNvSpPr>
            <a:spLocks noGrp="1" noChangeArrowheads="1"/>
          </p:cNvSpPr>
          <p:nvPr>
            <p:ph idx="1"/>
          </p:nvPr>
        </p:nvSpPr>
        <p:spPr>
          <a:xfrm>
            <a:off x="495300" y="738614"/>
            <a:ext cx="8318500" cy="5486400"/>
          </a:xfrm>
        </p:spPr>
        <p:txBody>
          <a:bodyPr/>
          <a:lstStyle/>
          <a:p>
            <a:pPr>
              <a:buFont typeface="Arial" charset="0"/>
              <a:buChar char="•"/>
            </a:pPr>
            <a:r>
              <a:rPr lang="en-US"/>
              <a:t>Used for both warning and errors</a:t>
            </a:r>
          </a:p>
          <a:p>
            <a:pPr>
              <a:buFont typeface="Arial" charset="0"/>
              <a:buChar char="•"/>
            </a:pPr>
            <a:r>
              <a:rPr lang="en-US"/>
              <a:t>Syntax: </a:t>
            </a:r>
            <a:r>
              <a:rPr lang="en-US" i="1" err="1">
                <a:solidFill>
                  <a:srgbClr val="0033CC"/>
                </a:solidFill>
              </a:rPr>
              <a:t>object</a:t>
            </a:r>
            <a:r>
              <a:rPr lang="en-US" err="1">
                <a:solidFill>
                  <a:srgbClr val="FF3300"/>
                </a:solidFill>
              </a:rPr>
              <a:t>.reject</a:t>
            </a:r>
            <a:r>
              <a:rPr lang="en-US">
                <a:solidFill>
                  <a:srgbClr val="FF3300"/>
                </a:solidFill>
              </a:rPr>
              <a:t> (</a:t>
            </a:r>
            <a:r>
              <a:rPr lang="en-US" i="1" err="1">
                <a:solidFill>
                  <a:srgbClr val="0033CC"/>
                </a:solidFill>
              </a:rPr>
              <a:t>errorLevel</a:t>
            </a:r>
            <a:r>
              <a:rPr lang="en-US" i="1">
                <a:solidFill>
                  <a:srgbClr val="FF0000"/>
                </a:solidFill>
              </a:rPr>
              <a:t>,</a:t>
            </a:r>
            <a:r>
              <a:rPr lang="en-US" i="1">
                <a:solidFill>
                  <a:srgbClr val="0033CC"/>
                </a:solidFill>
              </a:rPr>
              <a:t> </a:t>
            </a:r>
            <a:r>
              <a:rPr lang="en-US" i="1" err="1">
                <a:solidFill>
                  <a:srgbClr val="0033CC"/>
                </a:solidFill>
              </a:rPr>
              <a:t>errorMessage</a:t>
            </a:r>
            <a:r>
              <a:rPr lang="en-US" i="1">
                <a:solidFill>
                  <a:srgbClr val="FF0000"/>
                </a:solidFill>
              </a:rPr>
              <a:t>,</a:t>
            </a:r>
            <a:r>
              <a:rPr lang="en-US" i="1">
                <a:solidFill>
                  <a:srgbClr val="0033CC"/>
                </a:solidFill>
              </a:rPr>
              <a:t> </a:t>
            </a:r>
            <a:br>
              <a:rPr lang="en-US" i="1">
                <a:solidFill>
                  <a:srgbClr val="0033CC"/>
                </a:solidFill>
              </a:rPr>
            </a:br>
            <a:r>
              <a:rPr lang="en-US" i="1">
                <a:solidFill>
                  <a:srgbClr val="0033CC"/>
                </a:solidFill>
              </a:rPr>
              <a:t>	</a:t>
            </a:r>
            <a:r>
              <a:rPr lang="en-US" i="1" err="1">
                <a:solidFill>
                  <a:srgbClr val="0033CC"/>
                </a:solidFill>
              </a:rPr>
              <a:t>warnLevel</a:t>
            </a:r>
            <a:r>
              <a:rPr lang="en-US" i="1">
                <a:solidFill>
                  <a:srgbClr val="FF0000"/>
                </a:solidFill>
              </a:rPr>
              <a:t>, </a:t>
            </a:r>
            <a:r>
              <a:rPr lang="en-US" i="1" err="1">
                <a:solidFill>
                  <a:srgbClr val="0033CC"/>
                </a:solidFill>
              </a:rPr>
              <a:t>warnMessage</a:t>
            </a:r>
            <a:r>
              <a:rPr lang="en-US">
                <a:solidFill>
                  <a:srgbClr val="FF3300"/>
                </a:solidFill>
              </a:rPr>
              <a:t>)</a:t>
            </a:r>
          </a:p>
          <a:p>
            <a:pPr>
              <a:buFont typeface="Arial" charset="0"/>
              <a:buChar char="•"/>
            </a:pPr>
            <a:endParaRPr lang="en-US"/>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43" y="3760866"/>
            <a:ext cx="5143428" cy="26755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7250" y="2587215"/>
            <a:ext cx="4737945" cy="219080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8560" y="3166403"/>
            <a:ext cx="2403943" cy="63082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reject method: warning vs. error</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043" y="3760866"/>
            <a:ext cx="5143428" cy="267556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5054" y="4280965"/>
            <a:ext cx="3536714" cy="163536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043" y="1205256"/>
            <a:ext cx="5126016" cy="218753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3"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14247" y="1589502"/>
            <a:ext cx="3483676" cy="16359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Line 13"/>
          <p:cNvSpPr>
            <a:spLocks noChangeShapeType="1"/>
          </p:cNvSpPr>
          <p:nvPr/>
        </p:nvSpPr>
        <p:spPr bwMode="auto">
          <a:xfrm>
            <a:off x="5369471" y="2993546"/>
            <a:ext cx="39269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Line 13"/>
          <p:cNvSpPr>
            <a:spLocks noChangeShapeType="1"/>
          </p:cNvSpPr>
          <p:nvPr/>
        </p:nvSpPr>
        <p:spPr bwMode="auto">
          <a:xfrm>
            <a:off x="5369471" y="5734766"/>
            <a:ext cx="39269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t>reject method: warning and error</a:t>
            </a:r>
          </a:p>
        </p:txBody>
      </p:sp>
      <p:sp>
        <p:nvSpPr>
          <p:cNvPr id="29701" name="Text Box 7"/>
          <p:cNvSpPr txBox="1">
            <a:spLocks noChangeArrowheads="1"/>
          </p:cNvSpPr>
          <p:nvPr/>
        </p:nvSpPr>
        <p:spPr bwMode="auto">
          <a:xfrm>
            <a:off x="742950" y="3948113"/>
            <a:ext cx="3644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When claim reaches "iso" (but not yet at "external")...</a:t>
            </a:r>
          </a:p>
        </p:txBody>
      </p:sp>
      <p:sp>
        <p:nvSpPr>
          <p:cNvPr id="29702" name="Text Box 8"/>
          <p:cNvSpPr txBox="1">
            <a:spLocks noChangeArrowheads="1"/>
          </p:cNvSpPr>
          <p:nvPr/>
        </p:nvSpPr>
        <p:spPr bwMode="auto">
          <a:xfrm>
            <a:off x="4675188" y="3948113"/>
            <a:ext cx="41100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When claim reaches "external"...</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426" y="641572"/>
            <a:ext cx="7403523" cy="32399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0235" y="4557713"/>
            <a:ext cx="3536714" cy="163536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4174" y="4557713"/>
            <a:ext cx="3483676" cy="16359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t>Lesson outline</a:t>
            </a:r>
          </a:p>
        </p:txBody>
      </p:sp>
      <p:sp>
        <p:nvSpPr>
          <p:cNvPr id="30723"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Types of validation</a:t>
            </a:r>
          </a:p>
          <a:p>
            <a:pPr>
              <a:lnSpc>
                <a:spcPct val="150000"/>
              </a:lnSpc>
              <a:buFont typeface="Arial" charset="0"/>
              <a:buChar char="•"/>
            </a:pPr>
            <a:r>
              <a:rPr lang="en-US" sz="2800">
                <a:solidFill>
                  <a:srgbClr val="C0C0C0"/>
                </a:solidFill>
              </a:rPr>
              <a:t>Validation rule basics</a:t>
            </a:r>
          </a:p>
          <a:p>
            <a:pPr>
              <a:lnSpc>
                <a:spcPct val="150000"/>
              </a:lnSpc>
              <a:buFont typeface="Arial" charset="0"/>
              <a:buChar char="•"/>
            </a:pPr>
            <a:r>
              <a:rPr lang="en-US" sz="2800">
                <a:solidFill>
                  <a:srgbClr val="C0C0C0"/>
                </a:solidFill>
              </a:rPr>
              <a:t>Validation rules in the user interface</a:t>
            </a:r>
          </a:p>
          <a:p>
            <a:pPr>
              <a:lnSpc>
                <a:spcPct val="150000"/>
              </a:lnSpc>
              <a:buFont typeface="Arial" charset="0"/>
              <a:buChar char="•"/>
            </a:pPr>
            <a:r>
              <a:rPr lang="en-US" sz="2800">
                <a:solidFill>
                  <a:srgbClr val="C0C0C0"/>
                </a:solidFill>
              </a:rPr>
              <a:t>Warnings and errors</a:t>
            </a:r>
          </a:p>
          <a:p>
            <a:pPr>
              <a:lnSpc>
                <a:spcPct val="150000"/>
              </a:lnSpc>
              <a:buFont typeface="Arial" charset="0"/>
              <a:buChar char="•"/>
            </a:pPr>
            <a:r>
              <a:rPr lang="en-US" sz="2800"/>
              <a:t>Identifying invalid fields</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99" y="3264330"/>
            <a:ext cx="7471842" cy="233931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7" name="Rectangle 2"/>
          <p:cNvSpPr>
            <a:spLocks noGrp="1" noChangeArrowheads="1"/>
          </p:cNvSpPr>
          <p:nvPr>
            <p:ph type="title"/>
          </p:nvPr>
        </p:nvSpPr>
        <p:spPr/>
        <p:txBody>
          <a:bodyPr/>
          <a:lstStyle/>
          <a:p>
            <a:pPr eaLnBrk="1" hangingPunct="1"/>
            <a:r>
              <a:rPr lang="en-US"/>
              <a:t>The rejectField method</a:t>
            </a:r>
          </a:p>
        </p:txBody>
      </p:sp>
      <p:sp>
        <p:nvSpPr>
          <p:cNvPr id="31748" name="Rectangle 3"/>
          <p:cNvSpPr>
            <a:spLocks noGrp="1" noChangeArrowheads="1"/>
          </p:cNvSpPr>
          <p:nvPr>
            <p:ph idx="1"/>
          </p:nvPr>
        </p:nvSpPr>
        <p:spPr/>
        <p:txBody>
          <a:bodyPr/>
          <a:lstStyle/>
          <a:p>
            <a:pPr>
              <a:buFont typeface="Arial" charset="0"/>
              <a:buChar char="•"/>
            </a:pPr>
            <a:r>
              <a:rPr lang="en-US"/>
              <a:t>Used for both warning and errors</a:t>
            </a:r>
          </a:p>
          <a:p>
            <a:pPr>
              <a:buFont typeface="Arial" charset="0"/>
              <a:buChar char="•"/>
            </a:pPr>
            <a:r>
              <a:rPr lang="en-US"/>
              <a:t>Highlights the offending field in the UI</a:t>
            </a:r>
          </a:p>
          <a:p>
            <a:pPr>
              <a:buFont typeface="Arial" charset="0"/>
              <a:buChar char="•"/>
            </a:pPr>
            <a:r>
              <a:rPr lang="en-US"/>
              <a:t>Syntax: </a:t>
            </a:r>
            <a:r>
              <a:rPr lang="en-US" i="1" err="1">
                <a:solidFill>
                  <a:srgbClr val="0033CC"/>
                </a:solidFill>
              </a:rPr>
              <a:t>object</a:t>
            </a:r>
            <a:r>
              <a:rPr lang="en-US" err="1">
                <a:solidFill>
                  <a:srgbClr val="FF3300"/>
                </a:solidFill>
              </a:rPr>
              <a:t>.rejectField</a:t>
            </a:r>
            <a:r>
              <a:rPr lang="en-US">
                <a:solidFill>
                  <a:srgbClr val="FF3300"/>
                </a:solidFill>
              </a:rPr>
              <a:t> (</a:t>
            </a:r>
            <a:r>
              <a:rPr lang="en-US" i="1" err="1">
                <a:solidFill>
                  <a:srgbClr val="0033CC"/>
                </a:solidFill>
              </a:rPr>
              <a:t>strRelativeFieldPath</a:t>
            </a:r>
            <a:r>
              <a:rPr lang="en-US">
                <a:solidFill>
                  <a:srgbClr val="FF3300"/>
                </a:solidFill>
              </a:rPr>
              <a:t>,</a:t>
            </a:r>
            <a:br>
              <a:rPr lang="en-US" i="1">
                <a:solidFill>
                  <a:srgbClr val="0033CC"/>
                </a:solidFill>
              </a:rPr>
            </a:br>
            <a:r>
              <a:rPr lang="en-US" i="1">
                <a:solidFill>
                  <a:srgbClr val="0033CC"/>
                </a:solidFill>
              </a:rPr>
              <a:t>	</a:t>
            </a:r>
            <a:r>
              <a:rPr lang="en-US" i="1" err="1">
                <a:solidFill>
                  <a:srgbClr val="0033CC"/>
                </a:solidFill>
              </a:rPr>
              <a:t>errorLevel</a:t>
            </a:r>
            <a:r>
              <a:rPr lang="en-US" i="1">
                <a:solidFill>
                  <a:srgbClr val="FF0000"/>
                </a:solidFill>
              </a:rPr>
              <a:t>,</a:t>
            </a:r>
            <a:r>
              <a:rPr lang="en-US" i="1">
                <a:solidFill>
                  <a:srgbClr val="0033CC"/>
                </a:solidFill>
              </a:rPr>
              <a:t> </a:t>
            </a:r>
            <a:r>
              <a:rPr lang="en-US" i="1" err="1">
                <a:solidFill>
                  <a:srgbClr val="0033CC"/>
                </a:solidFill>
              </a:rPr>
              <a:t>errorMessage</a:t>
            </a:r>
            <a:r>
              <a:rPr lang="en-US" i="1">
                <a:solidFill>
                  <a:srgbClr val="FF0000"/>
                </a:solidFill>
              </a:rPr>
              <a:t>,</a:t>
            </a:r>
            <a:r>
              <a:rPr lang="en-US" i="1">
                <a:solidFill>
                  <a:srgbClr val="0033CC"/>
                </a:solidFill>
              </a:rPr>
              <a:t> </a:t>
            </a:r>
            <a:br>
              <a:rPr lang="en-US" i="1">
                <a:solidFill>
                  <a:srgbClr val="0033CC"/>
                </a:solidFill>
              </a:rPr>
            </a:br>
            <a:r>
              <a:rPr lang="en-US" i="1">
                <a:solidFill>
                  <a:srgbClr val="0033CC"/>
                </a:solidFill>
              </a:rPr>
              <a:t>	</a:t>
            </a:r>
            <a:r>
              <a:rPr lang="en-US" i="1" err="1">
                <a:solidFill>
                  <a:srgbClr val="0033CC"/>
                </a:solidFill>
              </a:rPr>
              <a:t>warnLevel</a:t>
            </a:r>
            <a:r>
              <a:rPr lang="en-US" i="1">
                <a:solidFill>
                  <a:srgbClr val="FF0000"/>
                </a:solidFill>
              </a:rPr>
              <a:t>, </a:t>
            </a:r>
            <a:r>
              <a:rPr lang="en-US" i="1" err="1">
                <a:solidFill>
                  <a:srgbClr val="0033CC"/>
                </a:solidFill>
              </a:rPr>
              <a:t>warnMessage</a:t>
            </a:r>
            <a:r>
              <a:rPr lang="en-US">
                <a:solidFill>
                  <a:srgbClr val="FF3300"/>
                </a:solidFill>
              </a:rPr>
              <a:t>)</a:t>
            </a:r>
          </a:p>
          <a:p>
            <a:pPr>
              <a:buFont typeface="Arial" charset="0"/>
              <a:buChar char="•"/>
            </a:pPr>
            <a:endParaRPr lang="en-US"/>
          </a:p>
        </p:txBody>
      </p:sp>
      <p:sp>
        <p:nvSpPr>
          <p:cNvPr id="31749" name="Text Box 10"/>
          <p:cNvSpPr txBox="1">
            <a:spLocks noChangeArrowheads="1"/>
          </p:cNvSpPr>
          <p:nvPr/>
        </p:nvSpPr>
        <p:spPr bwMode="auto">
          <a:xfrm>
            <a:off x="4667002" y="5723062"/>
            <a:ext cx="435793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path is already relative to claim;</a:t>
            </a:r>
            <a:br>
              <a:rPr lang="en-US"/>
            </a:br>
            <a:r>
              <a:rPr lang="en-US"/>
              <a:t>does </a:t>
            </a:r>
            <a:r>
              <a:rPr lang="en-US" i="1"/>
              <a:t>not</a:t>
            </a:r>
            <a:r>
              <a:rPr lang="en-US"/>
              <a:t> start with "claim"</a:t>
            </a:r>
          </a:p>
        </p:txBody>
      </p:sp>
      <p:sp>
        <p:nvSpPr>
          <p:cNvPr id="31750" name="Line 11"/>
          <p:cNvSpPr>
            <a:spLocks noChangeShapeType="1"/>
          </p:cNvSpPr>
          <p:nvPr/>
        </p:nvSpPr>
        <p:spPr bwMode="auto">
          <a:xfrm flipH="1" flipV="1">
            <a:off x="4667000" y="4999512"/>
            <a:ext cx="498766" cy="72354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1169" y="4954176"/>
            <a:ext cx="2305050" cy="15716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2770" name="Rectangle 2"/>
          <p:cNvSpPr>
            <a:spLocks noGrp="1" noChangeArrowheads="1"/>
          </p:cNvSpPr>
          <p:nvPr>
            <p:ph type="title"/>
          </p:nvPr>
        </p:nvSpPr>
        <p:spPr/>
        <p:txBody>
          <a:bodyPr/>
          <a:lstStyle/>
          <a:p>
            <a:pPr eaLnBrk="1" hangingPunct="1"/>
            <a:r>
              <a:rPr lang="en-US" err="1"/>
              <a:t>rejectField</a:t>
            </a:r>
            <a:r>
              <a:rPr lang="en-US"/>
              <a:t> Example</a:t>
            </a:r>
          </a:p>
        </p:txBody>
      </p:sp>
      <p:sp>
        <p:nvSpPr>
          <p:cNvPr id="32773" name="Freeform 14"/>
          <p:cNvSpPr>
            <a:spLocks/>
          </p:cNvSpPr>
          <p:nvPr/>
        </p:nvSpPr>
        <p:spPr bwMode="auto">
          <a:xfrm>
            <a:off x="688768" y="3107620"/>
            <a:ext cx="2812401" cy="2858205"/>
          </a:xfrm>
          <a:custGeom>
            <a:avLst/>
            <a:gdLst>
              <a:gd name="T0" fmla="*/ 0 w 1493"/>
              <a:gd name="T1" fmla="*/ 0 h 462"/>
              <a:gd name="T2" fmla="*/ 0 w 1493"/>
              <a:gd name="T3" fmla="*/ 2147483647 h 462"/>
              <a:gd name="T4" fmla="*/ 2147483647 w 1493"/>
              <a:gd name="T5" fmla="*/ 2147483647 h 462"/>
              <a:gd name="T6" fmla="*/ 0 60000 65536"/>
              <a:gd name="T7" fmla="*/ 0 60000 65536"/>
              <a:gd name="T8" fmla="*/ 0 60000 65536"/>
              <a:gd name="T9" fmla="*/ 0 w 1493"/>
              <a:gd name="T10" fmla="*/ 0 h 462"/>
              <a:gd name="T11" fmla="*/ 1493 w 1493"/>
              <a:gd name="T12" fmla="*/ 462 h 462"/>
            </a:gdLst>
            <a:ahLst/>
            <a:cxnLst>
              <a:cxn ang="T6">
                <a:pos x="T0" y="T1"/>
              </a:cxn>
              <a:cxn ang="T7">
                <a:pos x="T2" y="T3"/>
              </a:cxn>
              <a:cxn ang="T8">
                <a:pos x="T4" y="T5"/>
              </a:cxn>
            </a:cxnLst>
            <a:rect l="T9" t="T10" r="T11" b="T12"/>
            <a:pathLst>
              <a:path w="1493" h="462">
                <a:moveTo>
                  <a:pt x="0" y="0"/>
                </a:moveTo>
                <a:lnTo>
                  <a:pt x="0" y="462"/>
                </a:lnTo>
                <a:lnTo>
                  <a:pt x="1493" y="462"/>
                </a:lnTo>
              </a:path>
            </a:pathLst>
          </a:custGeom>
          <a:noFill/>
          <a:ln w="19050" cap="flat" cmpd="sng">
            <a:solidFill>
              <a:srgbClr val="FF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270" y="768306"/>
            <a:ext cx="7471842" cy="233931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2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588" y="4954176"/>
            <a:ext cx="1876425" cy="15335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Text Box 10"/>
          <p:cNvSpPr txBox="1">
            <a:spLocks noChangeArrowheads="1"/>
          </p:cNvSpPr>
          <p:nvPr/>
        </p:nvSpPr>
        <p:spPr bwMode="auto">
          <a:xfrm>
            <a:off x="4237517" y="4340935"/>
            <a:ext cx="1921782"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Read-only screen</a:t>
            </a:r>
          </a:p>
        </p:txBody>
      </p:sp>
      <p:pic>
        <p:nvPicPr>
          <p:cNvPr id="922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0136" y="4710050"/>
            <a:ext cx="3409950" cy="160020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 name="Text Box 10"/>
          <p:cNvSpPr txBox="1">
            <a:spLocks noChangeArrowheads="1"/>
          </p:cNvSpPr>
          <p:nvPr/>
        </p:nvSpPr>
        <p:spPr bwMode="auto">
          <a:xfrm>
            <a:off x="7487933" y="4094497"/>
            <a:ext cx="1804028"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Edit mode screen</a:t>
            </a:r>
          </a:p>
        </p:txBody>
      </p:sp>
      <p:sp>
        <p:nvSpPr>
          <p:cNvPr id="15" name="Line 11"/>
          <p:cNvSpPr>
            <a:spLocks noChangeShapeType="1"/>
          </p:cNvSpPr>
          <p:nvPr/>
        </p:nvSpPr>
        <p:spPr bwMode="auto">
          <a:xfrm>
            <a:off x="4486894" y="2595414"/>
            <a:ext cx="97991" cy="303349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Line 11"/>
          <p:cNvSpPr>
            <a:spLocks noChangeShapeType="1"/>
          </p:cNvSpPr>
          <p:nvPr/>
        </p:nvSpPr>
        <p:spPr bwMode="auto">
          <a:xfrm>
            <a:off x="4486895" y="2595414"/>
            <a:ext cx="2898216" cy="276084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title"/>
          </p:nvPr>
        </p:nvSpPr>
        <p:spPr>
          <a:xfrm>
            <a:off x="495300" y="140615"/>
            <a:ext cx="8318500" cy="742950"/>
          </a:xfrm>
        </p:spPr>
        <p:txBody>
          <a:bodyPr/>
          <a:lstStyle/>
          <a:p>
            <a:pPr eaLnBrk="1" hangingPunct="1"/>
            <a:r>
              <a:rPr lang="en-US"/>
              <a:t>The </a:t>
            </a:r>
            <a:r>
              <a:rPr lang="en-US" err="1"/>
              <a:t>rejectSubField</a:t>
            </a:r>
            <a:r>
              <a:rPr lang="en-US"/>
              <a:t> method</a:t>
            </a:r>
          </a:p>
        </p:txBody>
      </p:sp>
      <p:sp>
        <p:nvSpPr>
          <p:cNvPr id="33796" name="Rectangle 4"/>
          <p:cNvSpPr>
            <a:spLocks noGrp="1" noChangeArrowheads="1"/>
          </p:cNvSpPr>
          <p:nvPr>
            <p:ph idx="1"/>
          </p:nvPr>
        </p:nvSpPr>
        <p:spPr/>
        <p:txBody>
          <a:bodyPr/>
          <a:lstStyle/>
          <a:p>
            <a:pPr>
              <a:buFont typeface="Arial" charset="0"/>
              <a:buChar char="•"/>
            </a:pPr>
            <a:r>
              <a:rPr lang="en-US" sz="2200"/>
              <a:t>Recommended for highlighting fields on related objects, such as those on an array element or a foreign key element</a:t>
            </a:r>
          </a:p>
          <a:p>
            <a:pPr>
              <a:buFont typeface="Arial" charset="0"/>
              <a:buChar char="•"/>
            </a:pPr>
            <a:r>
              <a:rPr lang="en-US" sz="2200"/>
              <a:t>Syntax:</a:t>
            </a:r>
            <a:br>
              <a:rPr lang="en-US" sz="2200"/>
            </a:br>
            <a:r>
              <a:rPr lang="en-US" sz="2200" i="1" err="1">
                <a:solidFill>
                  <a:srgbClr val="0033CC"/>
                </a:solidFill>
              </a:rPr>
              <a:t>object</a:t>
            </a:r>
            <a:r>
              <a:rPr lang="en-US" sz="2200" err="1">
                <a:solidFill>
                  <a:srgbClr val="FF3300"/>
                </a:solidFill>
              </a:rPr>
              <a:t>.rejectSubField</a:t>
            </a:r>
            <a:r>
              <a:rPr lang="en-US" sz="2200">
                <a:solidFill>
                  <a:srgbClr val="FF3300"/>
                </a:solidFill>
              </a:rPr>
              <a:t> (</a:t>
            </a:r>
            <a:r>
              <a:rPr lang="en-US" sz="2200" i="1" err="1">
                <a:solidFill>
                  <a:srgbClr val="0033CC"/>
                </a:solidFill>
              </a:rPr>
              <a:t>relatedObject</a:t>
            </a:r>
            <a:r>
              <a:rPr lang="en-US" sz="2200" i="1">
                <a:solidFill>
                  <a:srgbClr val="FF0000"/>
                </a:solidFill>
              </a:rPr>
              <a:t>,</a:t>
            </a:r>
            <a:r>
              <a:rPr lang="en-US" sz="2200" i="1">
                <a:solidFill>
                  <a:srgbClr val="0033CC"/>
                </a:solidFill>
              </a:rPr>
              <a:t> </a:t>
            </a:r>
            <a:r>
              <a:rPr lang="en-US" sz="2200" i="1" err="1">
                <a:solidFill>
                  <a:srgbClr val="0033CC"/>
                </a:solidFill>
              </a:rPr>
              <a:t>strRelativeFieldPath</a:t>
            </a:r>
            <a:r>
              <a:rPr lang="en-US" sz="2200">
                <a:solidFill>
                  <a:srgbClr val="FF3300"/>
                </a:solidFill>
              </a:rPr>
              <a:t>,</a:t>
            </a:r>
            <a:br>
              <a:rPr lang="en-US" sz="2200" i="1">
                <a:solidFill>
                  <a:srgbClr val="0033CC"/>
                </a:solidFill>
              </a:rPr>
            </a:br>
            <a:r>
              <a:rPr lang="en-US" sz="2200" i="1">
                <a:solidFill>
                  <a:srgbClr val="0033CC"/>
                </a:solidFill>
              </a:rPr>
              <a:t>	</a:t>
            </a:r>
            <a:r>
              <a:rPr lang="en-US" sz="2200" i="1" err="1">
                <a:solidFill>
                  <a:srgbClr val="0033CC"/>
                </a:solidFill>
              </a:rPr>
              <a:t>errorLevel</a:t>
            </a:r>
            <a:r>
              <a:rPr lang="en-US" sz="2200" i="1">
                <a:solidFill>
                  <a:srgbClr val="FF0000"/>
                </a:solidFill>
              </a:rPr>
              <a:t>,</a:t>
            </a:r>
            <a:r>
              <a:rPr lang="en-US" sz="2200" i="1">
                <a:solidFill>
                  <a:srgbClr val="0033CC"/>
                </a:solidFill>
              </a:rPr>
              <a:t> </a:t>
            </a:r>
            <a:r>
              <a:rPr lang="en-US" sz="2200" i="1" err="1">
                <a:solidFill>
                  <a:srgbClr val="0033CC"/>
                </a:solidFill>
              </a:rPr>
              <a:t>errorMessage</a:t>
            </a:r>
            <a:r>
              <a:rPr lang="en-US" sz="2200" i="1">
                <a:solidFill>
                  <a:srgbClr val="FF0000"/>
                </a:solidFill>
              </a:rPr>
              <a:t>,</a:t>
            </a:r>
            <a:r>
              <a:rPr lang="en-US" sz="2200" i="1">
                <a:solidFill>
                  <a:srgbClr val="0033CC"/>
                </a:solidFill>
              </a:rPr>
              <a:t> </a:t>
            </a:r>
            <a:br>
              <a:rPr lang="en-US" sz="2200" i="1">
                <a:solidFill>
                  <a:srgbClr val="0033CC"/>
                </a:solidFill>
              </a:rPr>
            </a:br>
            <a:r>
              <a:rPr lang="en-US" sz="2200" i="1">
                <a:solidFill>
                  <a:srgbClr val="0033CC"/>
                </a:solidFill>
              </a:rPr>
              <a:t>	</a:t>
            </a:r>
            <a:r>
              <a:rPr lang="en-US" sz="2200" i="1" err="1">
                <a:solidFill>
                  <a:srgbClr val="0033CC"/>
                </a:solidFill>
              </a:rPr>
              <a:t>warnLevel</a:t>
            </a:r>
            <a:r>
              <a:rPr lang="en-US" sz="2200" i="1">
                <a:solidFill>
                  <a:srgbClr val="FF0000"/>
                </a:solidFill>
              </a:rPr>
              <a:t>, </a:t>
            </a:r>
            <a:r>
              <a:rPr lang="en-US" sz="2200" i="1" err="1">
                <a:solidFill>
                  <a:srgbClr val="0033CC"/>
                </a:solidFill>
              </a:rPr>
              <a:t>warnMessage</a:t>
            </a:r>
            <a:r>
              <a:rPr lang="en-US" sz="2200">
                <a:solidFill>
                  <a:srgbClr val="FF3300"/>
                </a:solidFill>
              </a:rPr>
              <a:t>)</a:t>
            </a:r>
          </a:p>
          <a:p>
            <a:pPr>
              <a:buFont typeface="Arial" charset="0"/>
              <a:buChar char="•"/>
            </a:pPr>
            <a:endParaRPr lang="en-US" sz="220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15" y="3186113"/>
            <a:ext cx="5717164" cy="334764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95300" y="35983"/>
            <a:ext cx="8318500" cy="742950"/>
          </a:xfrm>
        </p:spPr>
        <p:txBody>
          <a:bodyPr/>
          <a:lstStyle/>
          <a:p>
            <a:pPr eaLnBrk="1" hangingPunct="1"/>
            <a:r>
              <a:rPr lang="en-US"/>
              <a:t>rejectSubField Example</a:t>
            </a:r>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833" y="2055236"/>
            <a:ext cx="8832663" cy="444593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2931" y="146034"/>
            <a:ext cx="4218565" cy="247014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Page Navigation and Highlighting Fields</a:t>
            </a:r>
          </a:p>
        </p:txBody>
      </p:sp>
      <p:sp>
        <p:nvSpPr>
          <p:cNvPr id="3" name="Content Placeholder 2"/>
          <p:cNvSpPr>
            <a:spLocks noGrp="1"/>
          </p:cNvSpPr>
          <p:nvPr>
            <p:ph idx="1"/>
          </p:nvPr>
        </p:nvSpPr>
        <p:spPr>
          <a:xfrm>
            <a:off x="3954699" y="570016"/>
            <a:ext cx="4880542" cy="5700159"/>
          </a:xfrm>
        </p:spPr>
        <p:txBody>
          <a:bodyPr/>
          <a:lstStyle/>
          <a:p>
            <a:r>
              <a:rPr lang="en-US" sz="2200"/>
              <a:t>If using </a:t>
            </a:r>
            <a:r>
              <a:rPr lang="en-US" sz="2200" err="1"/>
              <a:t>rejectField</a:t>
            </a:r>
            <a:r>
              <a:rPr lang="en-US" sz="2200"/>
              <a:t>() or </a:t>
            </a:r>
            <a:r>
              <a:rPr lang="en-US" sz="2200" err="1"/>
              <a:t>rejectSubField</a:t>
            </a:r>
            <a:r>
              <a:rPr lang="en-US" sz="2200"/>
              <a:t>(), a navigation link should be provided to the page containing the offending field, and the field should be highlighted</a:t>
            </a:r>
          </a:p>
          <a:p>
            <a:r>
              <a:rPr lang="en-US" sz="2200"/>
              <a:t>This is accomplished by use of two advanced properties on the Page:</a:t>
            </a:r>
          </a:p>
          <a:p>
            <a:pPr lvl="1"/>
            <a:r>
              <a:rPr lang="en-US" sz="1800" i="1" err="1">
                <a:solidFill>
                  <a:srgbClr val="FF0000"/>
                </a:solidFill>
              </a:rPr>
              <a:t>handlesValidationIssue</a:t>
            </a:r>
            <a:endParaRPr lang="en-US" sz="1800" i="1">
              <a:solidFill>
                <a:srgbClr val="FF0000"/>
              </a:solidFill>
            </a:endParaRPr>
          </a:p>
          <a:p>
            <a:pPr lvl="1"/>
            <a:r>
              <a:rPr lang="en-US" sz="1800" i="1" err="1">
                <a:solidFill>
                  <a:srgbClr val="FF0000"/>
                </a:solidFill>
              </a:rPr>
              <a:t>validationParameter</a:t>
            </a:r>
            <a:endParaRPr lang="en-US" sz="1800" i="1">
              <a:solidFill>
                <a:srgbClr val="FF0000"/>
              </a:solidFill>
            </a:endParaRPr>
          </a:p>
          <a:p>
            <a:endParaRPr lang="en-US" sz="2200"/>
          </a:p>
        </p:txBody>
      </p:sp>
      <p:pic>
        <p:nvPicPr>
          <p:cNvPr id="7172" name="Picture 4" descr="C:\Users\trhoades\AppData\Local\Temp\SNAGHTML192de95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078" y="849072"/>
            <a:ext cx="1741193" cy="1684105"/>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descr="C:\Users\trhoades\AppData\Local\Temp\SNAGHTML192eb89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5690" y="1485111"/>
            <a:ext cx="1547161" cy="1734066"/>
          </a:xfrm>
          <a:prstGeom prst="rect">
            <a:avLst/>
          </a:prstGeom>
          <a:noFill/>
          <a:extLst>
            <a:ext uri="{909E8E84-426E-40DD-AFC4-6F175D3DCCD1}">
              <a14:hiddenFill xmlns:a14="http://schemas.microsoft.com/office/drawing/2010/main">
                <a:solidFill>
                  <a:srgbClr val="FFFFFF"/>
                </a:solidFill>
              </a14:hiddenFill>
            </a:ext>
          </a:extLst>
        </p:spPr>
      </p:pic>
      <p:pic>
        <p:nvPicPr>
          <p:cNvPr id="7177" name="Picture 9" descr="C:\Users\trhoades\AppData\Local\Temp\SNAGHTML192f22ef.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4048" y="2213890"/>
            <a:ext cx="1498776" cy="1588108"/>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C:\Users\trhoades\AppData\Local\Temp\SNAGHTML193217c8.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0775" y="4052037"/>
            <a:ext cx="5410200" cy="240982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10"/>
          <p:cNvSpPr txBox="1">
            <a:spLocks noChangeArrowheads="1"/>
          </p:cNvSpPr>
          <p:nvPr/>
        </p:nvSpPr>
        <p:spPr bwMode="auto">
          <a:xfrm>
            <a:off x="142505" y="3647083"/>
            <a:ext cx="238693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Navigation provided if user is on a different page</a:t>
            </a:r>
          </a:p>
        </p:txBody>
      </p:sp>
      <p:sp>
        <p:nvSpPr>
          <p:cNvPr id="12" name="Line 11"/>
          <p:cNvSpPr>
            <a:spLocks noChangeShapeType="1"/>
          </p:cNvSpPr>
          <p:nvPr/>
        </p:nvSpPr>
        <p:spPr bwMode="auto">
          <a:xfrm flipV="1">
            <a:off x="1335974" y="2790700"/>
            <a:ext cx="101640" cy="85638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AutoShape 22"/>
          <p:cNvSpPr>
            <a:spLocks noChangeArrowheads="1"/>
          </p:cNvSpPr>
          <p:nvPr/>
        </p:nvSpPr>
        <p:spPr bwMode="auto">
          <a:xfrm>
            <a:off x="3674456" y="6266585"/>
            <a:ext cx="5329844" cy="19527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4" name="AutoShape 22"/>
          <p:cNvSpPr>
            <a:spLocks noChangeArrowheads="1"/>
          </p:cNvSpPr>
          <p:nvPr/>
        </p:nvSpPr>
        <p:spPr bwMode="auto">
          <a:xfrm>
            <a:off x="3660775" y="4375135"/>
            <a:ext cx="5329844" cy="19527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7181"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32559" y="3781980"/>
            <a:ext cx="1958060" cy="3455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Line 11"/>
          <p:cNvSpPr>
            <a:spLocks noChangeShapeType="1"/>
          </p:cNvSpPr>
          <p:nvPr/>
        </p:nvSpPr>
        <p:spPr bwMode="auto">
          <a:xfrm flipV="1">
            <a:off x="1335974" y="3429029"/>
            <a:ext cx="1108074" cy="21805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 name="Line 11"/>
          <p:cNvSpPr>
            <a:spLocks noChangeShapeType="1"/>
          </p:cNvSpPr>
          <p:nvPr/>
        </p:nvSpPr>
        <p:spPr bwMode="auto">
          <a:xfrm flipH="1" flipV="1">
            <a:off x="653141" y="2090055"/>
            <a:ext cx="682832" cy="1557026"/>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8" name="Text Box 10"/>
          <p:cNvSpPr txBox="1">
            <a:spLocks noChangeArrowheads="1"/>
          </p:cNvSpPr>
          <p:nvPr/>
        </p:nvSpPr>
        <p:spPr bwMode="auto">
          <a:xfrm>
            <a:off x="722124" y="4727702"/>
            <a:ext cx="2386939" cy="1538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Provide navigation to this page which involves both Claim and Incident entity (types)</a:t>
            </a:r>
          </a:p>
        </p:txBody>
      </p:sp>
      <p:sp>
        <p:nvSpPr>
          <p:cNvPr id="19" name="Line 11"/>
          <p:cNvSpPr>
            <a:spLocks noChangeShapeType="1"/>
          </p:cNvSpPr>
          <p:nvPr/>
        </p:nvSpPr>
        <p:spPr bwMode="auto">
          <a:xfrm flipV="1">
            <a:off x="2945081" y="4472773"/>
            <a:ext cx="715694" cy="102436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4905115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Validation of FNOL Steps</a:t>
            </a:r>
          </a:p>
        </p:txBody>
      </p:sp>
      <p:sp>
        <p:nvSpPr>
          <p:cNvPr id="4" name="Content Placeholder 2"/>
          <p:cNvSpPr txBox="1">
            <a:spLocks/>
          </p:cNvSpPr>
          <p:nvPr/>
        </p:nvSpPr>
        <p:spPr bwMode="auto">
          <a:xfrm>
            <a:off x="5642751" y="570016"/>
            <a:ext cx="3192489" cy="5700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r>
              <a:rPr lang="en-US" sz="2200" b="0" kern="0"/>
              <a:t>The FNOL Wizard in the base application also uses same advanced property; but object variable not needed (claim)</a:t>
            </a:r>
          </a:p>
          <a:p>
            <a:r>
              <a:rPr lang="en-US" sz="2200" b="0" kern="0"/>
              <a:t>FNOL Wizard steps validate claims and incidents using this property only:</a:t>
            </a:r>
          </a:p>
          <a:p>
            <a:pPr lvl="1"/>
            <a:r>
              <a:rPr lang="en-US" sz="1800" b="0" i="1" kern="0" err="1">
                <a:solidFill>
                  <a:srgbClr val="FF0000"/>
                </a:solidFill>
              </a:rPr>
              <a:t>handlesValidationIssue</a:t>
            </a:r>
            <a:endParaRPr lang="en-US" sz="1800" b="0" i="1" kern="0">
              <a:solidFill>
                <a:srgbClr val="FF0000"/>
              </a:solidFill>
            </a:endParaRPr>
          </a:p>
          <a:p>
            <a:endParaRPr lang="en-US" sz="2200" b="0" kern="0"/>
          </a:p>
        </p:txBody>
      </p:sp>
      <p:pic>
        <p:nvPicPr>
          <p:cNvPr id="1026" name="Picture 2" descr="C:\Users\trhoades\AppData\Local\Temp\SNAGHTML1f00d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54" y="570016"/>
            <a:ext cx="5380298" cy="6023697"/>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22"/>
          <p:cNvSpPr>
            <a:spLocks noChangeArrowheads="1"/>
          </p:cNvSpPr>
          <p:nvPr/>
        </p:nvSpPr>
        <p:spPr bwMode="auto">
          <a:xfrm>
            <a:off x="430687" y="5954554"/>
            <a:ext cx="5091339" cy="19527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176422293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p:spPr>
        <p:txBody>
          <a:bodyPr/>
          <a:lstStyle/>
          <a:p>
            <a:pPr eaLnBrk="1" hangingPunct="1"/>
            <a:r>
              <a:rPr lang="en-US"/>
              <a:t> Lesson objectives review</a:t>
            </a:r>
          </a:p>
        </p:txBody>
      </p:sp>
      <p:sp>
        <p:nvSpPr>
          <p:cNvPr id="35843"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validation techniques in ClaimCenter</a:t>
            </a:r>
          </a:p>
          <a:p>
            <a:pPr lvl="1" eaLnBrk="1" hangingPunct="1"/>
            <a:r>
              <a:rPr lang="en-US"/>
              <a:t>Describe the categories of validation rules</a:t>
            </a:r>
          </a:p>
          <a:p>
            <a:pPr lvl="1" eaLnBrk="1" hangingPunct="1"/>
            <a:r>
              <a:rPr lang="en-US"/>
              <a:t>Describe basic validation rule behavior</a:t>
            </a:r>
          </a:p>
          <a:p>
            <a:pPr lvl="1" eaLnBrk="1" hangingPunct="1"/>
            <a:r>
              <a:rPr lang="en-US"/>
              <a:t>Create validation rules that raise warnings and errors</a:t>
            </a:r>
          </a:p>
          <a:p>
            <a:pPr lvl="1" eaLnBrk="1" hangingPunct="1"/>
            <a:r>
              <a:rPr lang="en-US"/>
              <a:t>Create validation rules that identify invalid fields</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noFill/>
        </p:spPr>
        <p:txBody>
          <a:bodyPr/>
          <a:lstStyle/>
          <a:p>
            <a:pPr eaLnBrk="1" hangingPunct="1"/>
            <a:r>
              <a:rPr lang="en-US"/>
              <a:t>Review questions</a:t>
            </a:r>
          </a:p>
        </p:txBody>
      </p:sp>
      <p:sp>
        <p:nvSpPr>
          <p:cNvPr id="36867" name="Rectangle 45"/>
          <p:cNvSpPr>
            <a:spLocks noGrp="1" noChangeArrowheads="1"/>
          </p:cNvSpPr>
          <p:nvPr>
            <p:ph idx="1"/>
          </p:nvPr>
        </p:nvSpPr>
        <p:spPr/>
        <p:txBody>
          <a:bodyPr/>
          <a:lstStyle/>
          <a:p>
            <a:pPr marL="457200" indent="-457200">
              <a:buFont typeface="Webdings" pitchFamily="18" charset="2"/>
              <a:buAutoNum type="arabicPeriod"/>
            </a:pPr>
            <a:r>
              <a:rPr lang="en-US" dirty="0"/>
              <a:t>Name a business requirement which could be implemented only with validation rules (as opposed to field validators or validation expressions).</a:t>
            </a:r>
          </a:p>
          <a:p>
            <a:pPr marL="457200" indent="-457200">
              <a:buFont typeface="Webdings" pitchFamily="18" charset="2"/>
              <a:buAutoNum type="arabicPeriod"/>
            </a:pPr>
            <a:r>
              <a:rPr lang="en-US" dirty="0"/>
              <a:t>Can existing validation levels be removed from </a:t>
            </a:r>
            <a:r>
              <a:rPr lang="en-US" dirty="0" err="1"/>
              <a:t>ClaimCenter</a:t>
            </a:r>
            <a:r>
              <a:rPr lang="en-US" dirty="0"/>
              <a:t>? Can new levels be added?</a:t>
            </a:r>
          </a:p>
          <a:p>
            <a:pPr marL="457200" indent="-457200">
              <a:buFont typeface="Webdings" pitchFamily="18" charset="2"/>
              <a:buAutoNum type="arabicPeriod"/>
            </a:pPr>
            <a:r>
              <a:rPr lang="en-US" dirty="0"/>
              <a:t>If you have an existing reject statement which raises only a warning, how would you change it to instead raise an error?</a:t>
            </a:r>
          </a:p>
          <a:p>
            <a:pPr marL="457200" indent="-457200">
              <a:buFont typeface="Webdings" pitchFamily="18" charset="2"/>
              <a:buAutoNum type="arabicPeriod"/>
            </a:pPr>
            <a:r>
              <a:rPr lang="en-US" dirty="0"/>
              <a:t>The first argument of </a:t>
            </a:r>
            <a:r>
              <a:rPr lang="en-US" dirty="0" err="1"/>
              <a:t>rejectField</a:t>
            </a:r>
            <a:r>
              <a:rPr lang="en-US" dirty="0"/>
              <a:t> is a "relative path" to the object to highlight. Why is it relevant to keep in mind that the path is relative?</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242052322"/>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1F0B53B-1CC0-42AF-87CF-04272EFF4228}">
  <ds:schemaRefs>
    <ds:schemaRef ds:uri="http://schemas.openxmlformats.org/package/2006/metadata/core-properties"/>
    <ds:schemaRef ds:uri="63ac2635-8afb-4032-987d-b5ef0ef361cf"/>
    <ds:schemaRef ds:uri="http://purl.org/dc/term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d0b50dc6-d04b-4a20-8a3b-d0ae0088e943"/>
    <ds:schemaRef ds:uri="http://www.w3.org/XML/1998/namespace"/>
  </ds:schemaRefs>
</ds:datastoreItem>
</file>

<file path=customXml/itemProps2.xml><?xml version="1.0" encoding="utf-8"?>
<ds:datastoreItem xmlns:ds="http://schemas.openxmlformats.org/officeDocument/2006/customXml" ds:itemID="{3575287D-859E-400B-A64D-4E7B3D63514D}"/>
</file>

<file path=customXml/itemProps3.xml><?xml version="1.0" encoding="utf-8"?>
<ds:datastoreItem xmlns:ds="http://schemas.openxmlformats.org/officeDocument/2006/customXml" ds:itemID="{0ECBEB39-CD55-439E-87BE-6D7F7BFDE61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5190</Words>
  <Application>Microsoft Office PowerPoint</Application>
  <PresentationFormat>On-screen Show (4:3)</PresentationFormat>
  <Paragraphs>363</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Times New Roman</vt:lpstr>
      <vt:lpstr>Webdings</vt:lpstr>
      <vt:lpstr>Wingdings</vt:lpstr>
      <vt:lpstr>Wingdings 2</vt:lpstr>
      <vt:lpstr>Wingdings 3</vt:lpstr>
      <vt:lpstr>1_test-template</vt:lpstr>
      <vt:lpstr>Validation Rules</vt:lpstr>
      <vt:lpstr>Lesson objectives</vt:lpstr>
      <vt:lpstr>Lesson outline</vt:lpstr>
      <vt:lpstr>Types of validation in ClaimCenter</vt:lpstr>
      <vt:lpstr>Logic that prevents invalid data</vt:lpstr>
      <vt:lpstr>Logic tied to object maturity level (1)</vt:lpstr>
      <vt:lpstr>Logic tied to object maturity level (2)</vt:lpstr>
      <vt:lpstr>Enforcing validation of invalid data</vt:lpstr>
      <vt:lpstr>Lesson outline</vt:lpstr>
      <vt:lpstr>Claim and exposure validation rules</vt:lpstr>
      <vt:lpstr>Validation levels</vt:lpstr>
      <vt:lpstr>Behavior tied to internal levels</vt:lpstr>
      <vt:lpstr>Pre-update and validation</vt:lpstr>
      <vt:lpstr>Object promoted to highest possible level </vt:lpstr>
      <vt:lpstr>Related objects can trigger validation</vt:lpstr>
      <vt:lpstr>Related claim objects trigger validation</vt:lpstr>
      <vt:lpstr>Lesson outline</vt:lpstr>
      <vt:lpstr>Validation rule errors</vt:lpstr>
      <vt:lpstr>Validation rule warnings</vt:lpstr>
      <vt:lpstr>Validation level for given object</vt:lpstr>
      <vt:lpstr>Review: Running validation rules manually</vt:lpstr>
      <vt:lpstr>Lesson outline</vt:lpstr>
      <vt:lpstr>The reject method</vt:lpstr>
      <vt:lpstr>reject method: warning vs. error</vt:lpstr>
      <vt:lpstr>reject method: warning and error</vt:lpstr>
      <vt:lpstr>Lesson outline</vt:lpstr>
      <vt:lpstr>The rejectField method</vt:lpstr>
      <vt:lpstr>rejectField Example</vt:lpstr>
      <vt:lpstr>The rejectSubField method</vt:lpstr>
      <vt:lpstr>rejectSubField Example</vt:lpstr>
      <vt:lpstr>Page Navigation and Highlighting Fields</vt:lpstr>
      <vt:lpstr>Validation of FNOL Steps</vt:lpstr>
      <vt:lpstr> 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Validation Rules</dc:title>
  <dc:creator>Tom Rhoades</dc:creator>
  <dc:description>2070</dc:description>
  <cp:lastModifiedBy>Kaur, Sukhpreet</cp:lastModifiedBy>
  <cp:revision>1</cp:revision>
  <dcterms:created xsi:type="dcterms:W3CDTF">2007-08-02T20:13:16Z</dcterms:created>
  <dcterms:modified xsi:type="dcterms:W3CDTF">2023-03-11T21:46:35Z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129700</vt:r8>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bool>false</vt:bool>
  </property>
</Properties>
</file>