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1.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52.xml" ContentType="application/vnd.openxmlformats-officedocument.presentationml.slide+xml"/>
  <Override PartName="/ppt/slides/slide37.xml" ContentType="application/vnd.openxmlformats-officedocument.presentationml.slide+xml"/>
  <Override PartName="/ppt/slides/slide7.xml" ContentType="application/vnd.openxmlformats-officedocument.presentationml.slide+xml"/>
  <Override PartName="/ppt/slides/slide35.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22.xml" ContentType="application/vnd.openxmlformats-officedocument.presentationml.slide+xml"/>
  <Override PartName="/ppt/slides/slide36.xml" ContentType="application/vnd.openxmlformats-officedocument.presentationml.slide+xml"/>
  <Override PartName="/ppt/slides/slide24.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29.xml" ContentType="application/vnd.openxmlformats-officedocument.presentationml.slide+xml"/>
  <Override PartName="/ppt/slides/slide23.xml" ContentType="application/vnd.openxmlformats-officedocument.presentationml.slide+xml"/>
  <Override PartName="/ppt/slides/slide25.xml" ContentType="application/vnd.openxmlformats-officedocument.presentationml.slide+xml"/>
  <Override PartName="/ppt/slides/slide2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38.xml" ContentType="application/vnd.openxmlformats-officedocument.presentationml.notesSlide+xml"/>
  <Override PartName="/ppt/notesSlides/notesSlide42.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9.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slideMasters/slideMaster1.xml" ContentType="application/vnd.openxmlformats-officedocument.presentationml.slideMaster+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47.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35.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7.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1.xml" ContentType="application/vnd.openxmlformats-officedocument.presentationml.notesSlide+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notesSlides/notesSlide34.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29.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30.xml" ContentType="application/vnd.openxmlformats-officedocument.presentationml.notesSlide+xml"/>
  <Override PartName="/ppt/notesSlides/notesSlide33.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26.xml" ContentType="application/vnd.openxmlformats-officedocument.presentationml.notesSlide+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custom.xml" ContentType="application/vnd.openxmlformats-officedocument.custom-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0" r:id="rId1"/>
  </p:sldMasterIdLst>
  <p:notesMasterIdLst>
    <p:notesMasterId r:id="rId54"/>
  </p:notesMasterIdLst>
  <p:handoutMasterIdLst>
    <p:handoutMasterId r:id="rId55"/>
  </p:handoutMasterIdLst>
  <p:sldIdLst>
    <p:sldId id="1329" r:id="rId2"/>
    <p:sldId id="1330" r:id="rId3"/>
    <p:sldId id="1331" r:id="rId4"/>
    <p:sldId id="1332" r:id="rId5"/>
    <p:sldId id="1333" r:id="rId6"/>
    <p:sldId id="1334" r:id="rId7"/>
    <p:sldId id="1335" r:id="rId8"/>
    <p:sldId id="1336" r:id="rId9"/>
    <p:sldId id="1380" r:id="rId10"/>
    <p:sldId id="1379" r:id="rId11"/>
    <p:sldId id="1378" r:id="rId12"/>
    <p:sldId id="1337" r:id="rId13"/>
    <p:sldId id="1338" r:id="rId14"/>
    <p:sldId id="1339" r:id="rId15"/>
    <p:sldId id="1341" r:id="rId16"/>
    <p:sldId id="1342" r:id="rId17"/>
    <p:sldId id="1343" r:id="rId18"/>
    <p:sldId id="1344" r:id="rId19"/>
    <p:sldId id="1345" r:id="rId20"/>
    <p:sldId id="1346" r:id="rId21"/>
    <p:sldId id="1347" r:id="rId22"/>
    <p:sldId id="1349" r:id="rId23"/>
    <p:sldId id="1350" r:id="rId24"/>
    <p:sldId id="1351" r:id="rId25"/>
    <p:sldId id="1352" r:id="rId26"/>
    <p:sldId id="1353" r:id="rId27"/>
    <p:sldId id="1354" r:id="rId28"/>
    <p:sldId id="1355" r:id="rId29"/>
    <p:sldId id="1356" r:id="rId30"/>
    <p:sldId id="1357" r:id="rId31"/>
    <p:sldId id="1358" r:id="rId32"/>
    <p:sldId id="1359" r:id="rId33"/>
    <p:sldId id="1360" r:id="rId34"/>
    <p:sldId id="1361" r:id="rId35"/>
    <p:sldId id="1362" r:id="rId36"/>
    <p:sldId id="1363" r:id="rId37"/>
    <p:sldId id="1364" r:id="rId38"/>
    <p:sldId id="1365" r:id="rId39"/>
    <p:sldId id="1366" r:id="rId40"/>
    <p:sldId id="1383" r:id="rId41"/>
    <p:sldId id="1381" r:id="rId42"/>
    <p:sldId id="1367" r:id="rId43"/>
    <p:sldId id="1368" r:id="rId44"/>
    <p:sldId id="1369" r:id="rId45"/>
    <p:sldId id="1370" r:id="rId46"/>
    <p:sldId id="1372" r:id="rId47"/>
    <p:sldId id="1373" r:id="rId48"/>
    <p:sldId id="1374" r:id="rId49"/>
    <p:sldId id="1382" r:id="rId50"/>
    <p:sldId id="1375" r:id="rId51"/>
    <p:sldId id="1376" r:id="rId52"/>
    <p:sldId id="1377" r:id="rId53"/>
  </p:sldIdLst>
  <p:sldSz cx="9144000" cy="6858000" type="screen4x3"/>
  <p:notesSz cx="6858000" cy="9296400"/>
  <p:defaultTextStyle>
    <a:defPPr>
      <a:defRPr lang="en-US"/>
    </a:defPPr>
    <a:lvl1pPr algn="ctr" rtl="0" fontAlgn="base">
      <a:spcBef>
        <a:spcPct val="50000"/>
      </a:spcBef>
      <a:spcAft>
        <a:spcPct val="30000"/>
      </a:spcAft>
      <a:buClr>
        <a:schemeClr val="tx1"/>
      </a:buClr>
      <a:defRPr sz="1400" kern="1200">
        <a:solidFill>
          <a:schemeClr val="bg1"/>
        </a:solidFill>
        <a:latin typeface="Arial" pitchFamily="34" charset="0"/>
        <a:ea typeface="+mn-ea"/>
        <a:cs typeface="+mn-cs"/>
      </a:defRPr>
    </a:lvl1pPr>
    <a:lvl2pPr marL="457200" algn="ctr" rtl="0" fontAlgn="base">
      <a:spcBef>
        <a:spcPct val="50000"/>
      </a:spcBef>
      <a:spcAft>
        <a:spcPct val="30000"/>
      </a:spcAft>
      <a:buClr>
        <a:schemeClr val="tx1"/>
      </a:buClr>
      <a:defRPr sz="1400" kern="1200">
        <a:solidFill>
          <a:schemeClr val="bg1"/>
        </a:solidFill>
        <a:latin typeface="Arial" pitchFamily="34" charset="0"/>
        <a:ea typeface="+mn-ea"/>
        <a:cs typeface="+mn-cs"/>
      </a:defRPr>
    </a:lvl2pPr>
    <a:lvl3pPr marL="914400" algn="ctr" rtl="0" fontAlgn="base">
      <a:spcBef>
        <a:spcPct val="50000"/>
      </a:spcBef>
      <a:spcAft>
        <a:spcPct val="30000"/>
      </a:spcAft>
      <a:buClr>
        <a:schemeClr val="tx1"/>
      </a:buClr>
      <a:defRPr sz="1400" kern="1200">
        <a:solidFill>
          <a:schemeClr val="bg1"/>
        </a:solidFill>
        <a:latin typeface="Arial" pitchFamily="34" charset="0"/>
        <a:ea typeface="+mn-ea"/>
        <a:cs typeface="+mn-cs"/>
      </a:defRPr>
    </a:lvl3pPr>
    <a:lvl4pPr marL="1371600" algn="ctr" rtl="0" fontAlgn="base">
      <a:spcBef>
        <a:spcPct val="50000"/>
      </a:spcBef>
      <a:spcAft>
        <a:spcPct val="30000"/>
      </a:spcAft>
      <a:buClr>
        <a:schemeClr val="tx1"/>
      </a:buClr>
      <a:defRPr sz="1400" kern="1200">
        <a:solidFill>
          <a:schemeClr val="bg1"/>
        </a:solidFill>
        <a:latin typeface="Arial" pitchFamily="34" charset="0"/>
        <a:ea typeface="+mn-ea"/>
        <a:cs typeface="+mn-cs"/>
      </a:defRPr>
    </a:lvl4pPr>
    <a:lvl5pPr marL="1828800" algn="ctr" rtl="0" fontAlgn="base">
      <a:spcBef>
        <a:spcPct val="50000"/>
      </a:spcBef>
      <a:spcAft>
        <a:spcPct val="30000"/>
      </a:spcAft>
      <a:buClr>
        <a:schemeClr val="tx1"/>
      </a:buClr>
      <a:defRPr sz="1400" kern="1200">
        <a:solidFill>
          <a:schemeClr val="bg1"/>
        </a:solidFill>
        <a:latin typeface="Arial" pitchFamily="34" charset="0"/>
        <a:ea typeface="+mn-ea"/>
        <a:cs typeface="+mn-cs"/>
      </a:defRPr>
    </a:lvl5pPr>
    <a:lvl6pPr marL="2286000" algn="l" defTabSz="914400" rtl="0" eaLnBrk="1" latinLnBrk="0" hangingPunct="1">
      <a:defRPr sz="1400" kern="1200">
        <a:solidFill>
          <a:schemeClr val="bg1"/>
        </a:solidFill>
        <a:latin typeface="Arial" pitchFamily="34" charset="0"/>
        <a:ea typeface="+mn-ea"/>
        <a:cs typeface="+mn-cs"/>
      </a:defRPr>
    </a:lvl6pPr>
    <a:lvl7pPr marL="2743200" algn="l" defTabSz="914400" rtl="0" eaLnBrk="1" latinLnBrk="0" hangingPunct="1">
      <a:defRPr sz="1400" kern="1200">
        <a:solidFill>
          <a:schemeClr val="bg1"/>
        </a:solidFill>
        <a:latin typeface="Arial" pitchFamily="34" charset="0"/>
        <a:ea typeface="+mn-ea"/>
        <a:cs typeface="+mn-cs"/>
      </a:defRPr>
    </a:lvl7pPr>
    <a:lvl8pPr marL="3200400" algn="l" defTabSz="914400" rtl="0" eaLnBrk="1" latinLnBrk="0" hangingPunct="1">
      <a:defRPr sz="1400" kern="1200">
        <a:solidFill>
          <a:schemeClr val="bg1"/>
        </a:solidFill>
        <a:latin typeface="Arial" pitchFamily="34" charset="0"/>
        <a:ea typeface="+mn-ea"/>
        <a:cs typeface="+mn-cs"/>
      </a:defRPr>
    </a:lvl8pPr>
    <a:lvl9pPr marL="3657600" algn="l" defTabSz="914400" rtl="0" eaLnBrk="1" latinLnBrk="0" hangingPunct="1">
      <a:defRPr sz="1400" kern="1200">
        <a:solidFill>
          <a:schemeClr val="bg1"/>
        </a:solidFill>
        <a:latin typeface="Arial" pitchFamily="34"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om Rhoades" initials="TR" lastIdx="19" clrIdx="0"/>
  <p:cmAuthor id="1" name="trhoades" initials="TR" lastIdx="1" clrIdx="1"/>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0033CC"/>
    <a:srgbClr val="006600"/>
    <a:srgbClr val="000099"/>
    <a:srgbClr val="000066"/>
    <a:srgbClr val="993300"/>
    <a:srgbClr val="003399"/>
    <a:srgbClr val="FF6600"/>
    <a:srgbClr val="777777"/>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9561" autoAdjust="0"/>
    <p:restoredTop sz="67622" autoAdjust="0"/>
  </p:normalViewPr>
  <p:slideViewPr>
    <p:cSldViewPr snapToGrid="0">
      <p:cViewPr>
        <p:scale>
          <a:sx n="60" d="100"/>
          <a:sy n="60" d="100"/>
        </p:scale>
        <p:origin x="-2364" y="-408"/>
      </p:cViewPr>
      <p:guideLst>
        <p:guide orient="horz" pos="2160"/>
        <p:guide pos="2880"/>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66" d="100"/>
        <a:sy n="66" d="100"/>
      </p:scale>
      <p:origin x="0" y="552"/>
    </p:cViewPr>
  </p:sorterViewPr>
  <p:notesViewPr>
    <p:cSldViewPr snapToGrid="0">
      <p:cViewPr>
        <p:scale>
          <a:sx n="140" d="100"/>
          <a:sy n="140" d="100"/>
        </p:scale>
        <p:origin x="-1896" y="240"/>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63"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customXml" Target="../customXml/item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b="1">
                <a:solidFill>
                  <a:schemeClr val="tx1"/>
                </a:solidFill>
                <a:latin typeface="Times New Roman" pitchFamily="18" charset="0"/>
              </a:defRPr>
            </a:lvl1pPr>
          </a:lstStyle>
          <a:p>
            <a:pPr>
              <a:defRPr/>
            </a:pPr>
            <a:fld id="{89A0BC1E-6573-4583-9E29-9D1DDE933E3F}" type="slidenum">
              <a:rPr lang="en-US" altLang="en-US"/>
              <a:pPr>
                <a:defRPr/>
              </a:pPr>
              <a:t>‹#›</a:t>
            </a:fld>
            <a:endParaRPr lang="en-US" altLang="en-US"/>
          </a:p>
        </p:txBody>
      </p:sp>
    </p:spTree>
    <p:extLst>
      <p:ext uri="{BB962C8B-B14F-4D97-AF65-F5344CB8AC3E}">
        <p14:creationId xmlns:p14="http://schemas.microsoft.com/office/powerpoint/2010/main" val="16707358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smtClean="0"/>
              <a:t>Click to edit Master text styles</a:t>
            </a:r>
          </a:p>
          <a:p>
            <a:pPr lvl="1"/>
            <a:r>
              <a:rPr lang="en-US" altLang="en-US" noProof="0" smtClean="0"/>
              <a:t>Second level</a:t>
            </a:r>
          </a:p>
          <a:p>
            <a:pPr lvl="2"/>
            <a:r>
              <a:rPr lang="en-US" altLang="en-US" noProof="0" smtClean="0"/>
              <a:t>Third level</a:t>
            </a:r>
          </a:p>
          <a:p>
            <a:pPr lvl="3"/>
            <a:r>
              <a:rPr lang="en-US" altLang="en-US" noProof="0" smtClean="0"/>
              <a:t>Fourth level</a:t>
            </a:r>
          </a:p>
          <a:p>
            <a:pPr lvl="4"/>
            <a:r>
              <a:rPr lang="en-US" altLang="en-US" noProof="0" smtClean="0"/>
              <a:t>Fifth level</a:t>
            </a:r>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a:solidFill>
                  <a:schemeClr val="tx1"/>
                </a:solidFill>
                <a:latin typeface="Arial" charset="0"/>
              </a:defRPr>
            </a:lvl1pPr>
          </a:lstStyle>
          <a:p>
            <a:pPr>
              <a:defRPr/>
            </a:pPr>
            <a:r>
              <a:rPr lang="en-US" altLang="en-US"/>
              <a:t>	</a:t>
            </a:r>
            <a:endParaRPr lang="en-US"/>
          </a:p>
        </p:txBody>
      </p:sp>
      <p:sp>
        <p:nvSpPr>
          <p:cNvPr id="22544" name="ModuleNumber" hidden="1"/>
          <p:cNvSpPr>
            <a:spLocks noChangeArrowheads="1"/>
          </p:cNvSpPr>
          <p:nvPr/>
        </p:nvSpPr>
        <p:spPr bwMode="auto">
          <a:xfrm>
            <a:off x="4157663" y="320675"/>
            <a:ext cx="2551112" cy="157163"/>
          </a:xfrm>
          <a:prstGeom prst="rect">
            <a:avLst/>
          </a:prstGeom>
          <a:noFill/>
          <a:ln w="9525">
            <a:noFill/>
            <a:miter lim="800000"/>
            <a:headEnd/>
            <a:tailEnd/>
          </a:ln>
          <a:effectLst/>
        </p:spPr>
        <p:txBody>
          <a:bodyPr lIns="0" tIns="0" rIns="0" bIns="0" anchor="b"/>
          <a:lstStyle/>
          <a:p>
            <a:pPr algn="r" defTabSz="942975" eaLnBrk="0" hangingPunct="0">
              <a:lnSpc>
                <a:spcPts val="1875"/>
              </a:lnSpc>
              <a:spcBef>
                <a:spcPts val="625"/>
              </a:spcBef>
              <a:spcAft>
                <a:spcPct val="0"/>
              </a:spcAft>
              <a:buClrTx/>
              <a:buFont typeface="Wingdings" pitchFamily="2" charset="2"/>
              <a:buNone/>
              <a:defRPr/>
            </a:pPr>
            <a:r>
              <a:rPr lang="en-US" sz="1100" i="1">
                <a:solidFill>
                  <a:srgbClr val="000000"/>
                </a:solidFill>
                <a:latin typeface="Times New Roman" pitchFamily="18" charset="0"/>
                <a:cs typeface="Times New Roman" pitchFamily="18" charset="0"/>
              </a:rPr>
              <a:t>Introduction, 2.</a:t>
            </a:r>
            <a:fld id="{8087C041-F15E-4F8E-B650-0097D26F3723}" type="slidenum">
              <a:rPr lang="en-US" sz="110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defRPr/>
              </a:pPr>
              <a:t>‹#›</a:t>
            </a:fld>
            <a:endParaRPr lang="en-US" sz="1100" i="1">
              <a:solidFill>
                <a:srgbClr val="000000"/>
              </a:solidFill>
              <a:latin typeface="Times New Roman" pitchFamily="18" charset="0"/>
              <a:cs typeface="Times New Roman" pitchFamily="18" charset="0"/>
            </a:endParaRPr>
          </a:p>
        </p:txBody>
      </p:sp>
      <p:sp>
        <p:nvSpPr>
          <p:cNvPr id="22546" name="Line 18"/>
          <p:cNvSpPr>
            <a:spLocks noChangeShapeType="1"/>
          </p:cNvSpPr>
          <p:nvPr/>
        </p:nvSpPr>
        <p:spPr bwMode="auto">
          <a:xfrm>
            <a:off x="406400" y="8905875"/>
            <a:ext cx="6069013" cy="0"/>
          </a:xfrm>
          <a:prstGeom prst="line">
            <a:avLst/>
          </a:prstGeom>
          <a:noFill/>
          <a:ln w="6350">
            <a:solidFill>
              <a:schemeClr val="tx2"/>
            </a:solidFill>
            <a:round/>
            <a:headEnd/>
            <a:tailEnd/>
          </a:ln>
          <a:effectLst/>
        </p:spPr>
        <p:txBody>
          <a:bodyPr lIns="0" tIns="0" rIns="0" bIns="0" anchor="ctr">
            <a:spAutoFit/>
          </a:bodyPr>
          <a:lstStyle/>
          <a:p>
            <a:pPr>
              <a:defRPr/>
            </a:pPr>
            <a:endParaRPr lang="en-US">
              <a:latin typeface="Arial" charset="0"/>
            </a:endParaRPr>
          </a:p>
        </p:txBody>
      </p:sp>
      <p:sp>
        <p:nvSpPr>
          <p:cNvPr id="22548"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a:solidFill>
                  <a:schemeClr val="tx1"/>
                </a:solidFill>
                <a:latin typeface="Arial" charset="0"/>
              </a:defRPr>
            </a:lvl1pPr>
          </a:lstStyle>
          <a:p>
            <a:pPr>
              <a:defRPr/>
            </a:pPr>
            <a:r>
              <a:rPr lang="en-US" altLang="en-US"/>
              <a:t>	Contacts - </a:t>
            </a:r>
            <a:fld id="{E7C66B2F-6EDE-41C2-98D2-D39A07C65A75}" type="slidenum">
              <a:rPr lang="en-US" altLang="en-US"/>
              <a:pPr>
                <a:defRPr/>
              </a:pPr>
              <a:t>‹#›</a:t>
            </a:fld>
            <a:endParaRPr lang="en-US" altLang="en-US"/>
          </a:p>
        </p:txBody>
      </p:sp>
    </p:spTree>
    <p:extLst>
      <p:ext uri="{BB962C8B-B14F-4D97-AF65-F5344CB8AC3E}">
        <p14:creationId xmlns:p14="http://schemas.microsoft.com/office/powerpoint/2010/main" val="4242806547"/>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|EON~001|</a:t>
            </a:r>
            <a:endParaRPr lang="en-US" sz="100">
              <a:solidFill>
                <a:srgbClr val="FFFFFF"/>
              </a:solidFill>
              <a:latin typeface="Arial"/>
            </a:endParaRPr>
          </a:p>
        </p:txBody>
      </p:sp>
      <p:sp>
        <p:nvSpPr>
          <p:cNvPr id="655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655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C6198F73-AC99-4307-B457-DDACB1B6AF90}" type="slidenum">
              <a:rPr lang="en-US" altLang="en-US" sz="1200" smtClean="0">
                <a:solidFill>
                  <a:schemeClr val="tx1"/>
                </a:solidFill>
              </a:rPr>
              <a:pPr eaLnBrk="1" hangingPunct="1"/>
              <a:t>1</a:t>
            </a:fld>
            <a:endParaRPr lang="en-US" altLang="en-US" sz="1200" smtClean="0">
              <a:solidFill>
                <a:schemeClr val="tx1"/>
              </a:solidFill>
            </a:endParaRPr>
          </a:p>
        </p:txBody>
      </p:sp>
      <p:sp>
        <p:nvSpPr>
          <p:cNvPr id="65540" name="Rectangle 2"/>
          <p:cNvSpPr>
            <a:spLocks noGrp="1" noRot="1" noChangeAspect="1" noChangeArrowheads="1" noTextEdit="1"/>
          </p:cNvSpPr>
          <p:nvPr>
            <p:ph type="sldImg"/>
          </p:nvPr>
        </p:nvSpPr>
        <p:spPr>
          <a:xfrm>
            <a:off x="715963" y="630238"/>
            <a:ext cx="5430837" cy="4073525"/>
          </a:xfrm>
          <a:ln/>
        </p:spPr>
      </p:sp>
      <p:sp>
        <p:nvSpPr>
          <p:cNvPr id="655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latin typeface="Arial" pitchFamily="34" charset="0"/>
              </a:rPr>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|EON~002|</a:t>
            </a:r>
            <a:endParaRPr lang="en-US" sz="100">
              <a:solidFill>
                <a:srgbClr val="FFFFFF"/>
              </a:solidFill>
              <a:latin typeface="Arial"/>
            </a:endParaRPr>
          </a:p>
        </p:txBody>
      </p:sp>
      <p:sp>
        <p:nvSpPr>
          <p:cNvPr id="665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665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D85BEF49-D99A-4629-B204-A3A2CA9B024E}" type="slidenum">
              <a:rPr lang="en-US" altLang="en-US" sz="1200" smtClean="0">
                <a:solidFill>
                  <a:schemeClr val="tx1"/>
                </a:solidFill>
              </a:rPr>
              <a:pPr eaLnBrk="1" hangingPunct="1"/>
              <a:t>2</a:t>
            </a:fld>
            <a:endParaRPr lang="en-US" altLang="en-US" sz="1200" smtClean="0">
              <a:solidFill>
                <a:schemeClr val="tx1"/>
              </a:solidFill>
            </a:endParaRPr>
          </a:p>
        </p:txBody>
      </p:sp>
      <p:sp>
        <p:nvSpPr>
          <p:cNvPr id="66564" name="Rectangle 2"/>
          <p:cNvSpPr>
            <a:spLocks noGrp="1" noRot="1" noChangeAspect="1" noChangeArrowheads="1" noTextEdit="1"/>
          </p:cNvSpPr>
          <p:nvPr>
            <p:ph type="sldImg"/>
          </p:nvPr>
        </p:nvSpPr>
        <p:spPr>
          <a:xfrm>
            <a:off x="715963" y="630238"/>
            <a:ext cx="5432425" cy="4073525"/>
          </a:xfrm>
          <a:ln/>
        </p:spPr>
      </p:sp>
      <p:sp>
        <p:nvSpPr>
          <p:cNvPr id="665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latin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|EON~003|</a:t>
            </a:r>
            <a:endParaRPr lang="en-US" sz="100">
              <a:solidFill>
                <a:srgbClr val="FFFFFF"/>
              </a:solidFill>
              <a:latin typeface="Arial"/>
            </a:endParaRPr>
          </a:p>
        </p:txBody>
      </p:sp>
      <p:sp>
        <p:nvSpPr>
          <p:cNvPr id="675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675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7967614D-C50B-4F4F-B7DD-0E26A640221D}" type="slidenum">
              <a:rPr lang="en-US" altLang="en-US" sz="1200" smtClean="0">
                <a:solidFill>
                  <a:schemeClr val="tx1"/>
                </a:solidFill>
              </a:rPr>
              <a:pPr eaLnBrk="1" hangingPunct="1"/>
              <a:t>3</a:t>
            </a:fld>
            <a:endParaRPr lang="en-US" altLang="en-US" sz="1200" smtClean="0">
              <a:solidFill>
                <a:schemeClr val="tx1"/>
              </a:solidFill>
            </a:endParaRPr>
          </a:p>
        </p:txBody>
      </p:sp>
      <p:sp>
        <p:nvSpPr>
          <p:cNvPr id="67588" name="Rectangle 2"/>
          <p:cNvSpPr>
            <a:spLocks noGrp="1" noRot="1" noChangeAspect="1" noChangeArrowheads="1" noTextEdit="1"/>
          </p:cNvSpPr>
          <p:nvPr>
            <p:ph type="sldImg"/>
          </p:nvPr>
        </p:nvSpPr>
        <p:spPr>
          <a:xfrm>
            <a:off x="715963" y="630238"/>
            <a:ext cx="5432425" cy="4073525"/>
          </a:xfrm>
          <a:ln/>
        </p:spPr>
      </p:sp>
      <p:sp>
        <p:nvSpPr>
          <p:cNvPr id="675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latin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|EON~004|</a:t>
            </a:r>
            <a:endParaRPr lang="en-US" sz="100">
              <a:solidFill>
                <a:srgbClr val="FFFFFF"/>
              </a:solidFill>
              <a:latin typeface="Arial"/>
            </a:endParaRPr>
          </a:p>
        </p:txBody>
      </p:sp>
      <p:sp>
        <p:nvSpPr>
          <p:cNvPr id="686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686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1AF8BC5C-6982-4F68-A302-7D9D3E1053E0}" type="slidenum">
              <a:rPr lang="en-US" altLang="en-US" sz="1200" smtClean="0">
                <a:solidFill>
                  <a:schemeClr val="tx1"/>
                </a:solidFill>
              </a:rPr>
              <a:pPr eaLnBrk="1" hangingPunct="1"/>
              <a:t>4</a:t>
            </a:fld>
            <a:endParaRPr lang="en-US" altLang="en-US" sz="1200" smtClean="0">
              <a:solidFill>
                <a:schemeClr val="tx1"/>
              </a:solidFill>
            </a:endParaRPr>
          </a:p>
        </p:txBody>
      </p:sp>
      <p:sp>
        <p:nvSpPr>
          <p:cNvPr id="68612" name="Rectangle 2"/>
          <p:cNvSpPr>
            <a:spLocks noGrp="1" noRot="1" noChangeAspect="1" noChangeArrowheads="1" noTextEdit="1"/>
          </p:cNvSpPr>
          <p:nvPr>
            <p:ph type="sldImg"/>
          </p:nvPr>
        </p:nvSpPr>
        <p:spPr>
          <a:xfrm>
            <a:off x="715963" y="630238"/>
            <a:ext cx="5432425" cy="4073525"/>
          </a:xfrm>
          <a:ln/>
        </p:spPr>
      </p:sp>
      <p:sp>
        <p:nvSpPr>
          <p:cNvPr id="686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latin typeface="Arial" pitchFamily="34" charset="0"/>
              </a:rPr>
              <a:t>A claim is an event in which one or more (potentially) covered losses occurred.</a:t>
            </a:r>
          </a:p>
          <a:p>
            <a:pPr eaLnBrk="1" hangingPunct="1"/>
            <a:r>
              <a:rPr lang="en-US" dirty="0" smtClean="0">
                <a:latin typeface="Arial" pitchFamily="34" charset="0"/>
              </a:rPr>
              <a:t>A contact is a person or organization who has a relationship to a claim, such as:</a:t>
            </a:r>
          </a:p>
          <a:p>
            <a:pPr lvl="1" eaLnBrk="1" hangingPunct="1"/>
            <a:r>
              <a:rPr lang="en-US" dirty="0" smtClean="0">
                <a:latin typeface="Arial" pitchFamily="34" charset="0"/>
              </a:rPr>
              <a:t>A claimant requesting compensation for a loss.</a:t>
            </a:r>
          </a:p>
          <a:p>
            <a:pPr lvl="1" eaLnBrk="1" hangingPunct="1"/>
            <a:r>
              <a:rPr lang="en-US" dirty="0" smtClean="0">
                <a:latin typeface="Arial" pitchFamily="34" charset="0"/>
              </a:rPr>
              <a:t>The reporter of the claim.</a:t>
            </a:r>
          </a:p>
          <a:p>
            <a:pPr lvl="1" eaLnBrk="1" hangingPunct="1"/>
            <a:r>
              <a:rPr lang="en-US" dirty="0" smtClean="0">
                <a:latin typeface="Arial" pitchFamily="34" charset="0"/>
              </a:rPr>
              <a:t>A doctor treating an injury.</a:t>
            </a:r>
          </a:p>
          <a:p>
            <a:pPr lvl="1" eaLnBrk="1" hangingPunct="1"/>
            <a:r>
              <a:rPr lang="en-US" dirty="0" smtClean="0">
                <a:latin typeface="Arial" pitchFamily="34" charset="0"/>
              </a:rPr>
              <a:t>A vendor providing services to claimants.</a:t>
            </a:r>
          </a:p>
          <a:p>
            <a:pPr eaLnBrk="1" hangingPunct="1"/>
            <a:r>
              <a:rPr lang="en-US" dirty="0" smtClean="0">
                <a:latin typeface="Arial" pitchFamily="34" charset="0"/>
              </a:rPr>
              <a:t>An incident is an item that was lost or damaged, such as a vehicle, a property, or a person suffering one or more injuries.</a:t>
            </a:r>
          </a:p>
          <a:p>
            <a:pPr eaLnBrk="1" hangingPunct="1"/>
            <a:r>
              <a:rPr lang="en-US" dirty="0" smtClean="0">
                <a:latin typeface="Arial" pitchFamily="34" charset="0"/>
              </a:rPr>
              <a:t>An exposure is a set of data used to track a potential payment from one coverage to one claimant.</a:t>
            </a:r>
          </a:p>
          <a:p>
            <a:pPr lvl="1" eaLnBrk="1" hangingPunct="1"/>
            <a:r>
              <a:rPr lang="en-US" dirty="0" smtClean="0">
                <a:latin typeface="Arial" pitchFamily="34" charset="0"/>
              </a:rPr>
              <a:t>A reserve line is an amount of money set aside for expected payments related to a given exposure.</a:t>
            </a:r>
          </a:p>
          <a:p>
            <a:pPr lvl="1" eaLnBrk="1" hangingPunct="1"/>
            <a:r>
              <a:rPr lang="en-US" dirty="0" smtClean="0">
                <a:latin typeface="Arial" pitchFamily="34" charset="0"/>
              </a:rPr>
              <a:t>A check is a single transfer of money tracked by an exposure to one or more individuals or organizations.</a:t>
            </a:r>
          </a:p>
          <a:p>
            <a:pPr eaLnBrk="1" hangingPunct="1"/>
            <a:r>
              <a:rPr lang="en-US" dirty="0" smtClean="0">
                <a:latin typeface="Arial" pitchFamily="34" charset="0"/>
              </a:rPr>
              <a:t>An activity is a task required to process a claim. The set of activities associated to a given claim is often referred to as the claim's "</a:t>
            </a:r>
            <a:r>
              <a:rPr lang="en-US" dirty="0" err="1" smtClean="0">
                <a:latin typeface="Arial" pitchFamily="34" charset="0"/>
              </a:rPr>
              <a:t>workplan</a:t>
            </a:r>
            <a:r>
              <a:rPr lang="en-US" dirty="0" smtClean="0">
                <a:latin typeface="Arial" pitchFamily="34" charset="0"/>
              </a:rPr>
              <a:t>".</a:t>
            </a:r>
          </a:p>
          <a:p>
            <a:pPr eaLnBrk="1" hangingPunct="1"/>
            <a:r>
              <a:rPr lang="en-US" dirty="0" smtClean="0">
                <a:latin typeface="Arial" pitchFamily="34" charset="0"/>
              </a:rPr>
              <a:t>A document is an electronic file or physical piece of paper which contains information relevant to the claim.</a:t>
            </a:r>
          </a:p>
          <a:p>
            <a:pPr eaLnBrk="1" hangingPunct="1"/>
            <a:r>
              <a:rPr lang="en-US" dirty="0" smtClean="0">
                <a:latin typeface="Arial" pitchFamily="34" charset="0"/>
              </a:rPr>
              <a:t>A note is a text entry which details the events, courses of actions, and/or thinking of a user during the processing of a claim.</a:t>
            </a:r>
          </a:p>
          <a:p>
            <a:pPr eaLnBrk="1" hangingPunct="1"/>
            <a:r>
              <a:rPr lang="en-US" dirty="0" smtClean="0">
                <a:latin typeface="Arial" pitchFamily="34" charset="0"/>
              </a:rPr>
              <a:t>A matter is a set of data pertaining to a single (potential) lawsuit.</a:t>
            </a:r>
          </a:p>
          <a:p>
            <a:pPr eaLnBrk="1" hangingPunct="1"/>
            <a:r>
              <a:rPr lang="en-US" dirty="0" smtClean="0">
                <a:latin typeface="Arial" pitchFamily="34" charset="0"/>
              </a:rPr>
              <a:t>A service request is a mechanism to track vendor progress,</a:t>
            </a:r>
            <a:r>
              <a:rPr lang="en-US" baseline="0" dirty="0" smtClean="0">
                <a:latin typeface="Arial" pitchFamily="34" charset="0"/>
              </a:rPr>
              <a:t> receive quotes from vendors, and provide a list of services and vendors that provide those services.</a:t>
            </a:r>
            <a:endParaRPr lang="en-US" dirty="0" smtClean="0">
              <a:latin typeface="Arial" pitchFamily="34" charset="0"/>
            </a:endParaRPr>
          </a:p>
          <a:p>
            <a:pPr eaLnBrk="1" hangingPunct="1"/>
            <a:endParaRPr lang="en-US" dirty="0" smtClean="0">
              <a:latin typeface="Arial"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|EON~005|</a:t>
            </a:r>
            <a:endParaRPr lang="en-US" sz="100">
              <a:solidFill>
                <a:srgbClr val="FFFFFF"/>
              </a:solidFill>
              <a:latin typeface="Arial"/>
            </a:endParaRPr>
          </a:p>
        </p:txBody>
      </p:sp>
      <p:sp>
        <p:nvSpPr>
          <p:cNvPr id="696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696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69CDE010-CFF6-482A-9EA8-E13DE017FD0E}" type="slidenum">
              <a:rPr lang="en-US" altLang="en-US" sz="1200" smtClean="0">
                <a:solidFill>
                  <a:schemeClr val="tx1"/>
                </a:solidFill>
              </a:rPr>
              <a:pPr eaLnBrk="1" hangingPunct="1"/>
              <a:t>5</a:t>
            </a:fld>
            <a:endParaRPr lang="en-US" altLang="en-US" sz="1200" smtClean="0">
              <a:solidFill>
                <a:schemeClr val="tx1"/>
              </a:solidFill>
            </a:endParaRPr>
          </a:p>
        </p:txBody>
      </p:sp>
      <p:sp>
        <p:nvSpPr>
          <p:cNvPr id="69636" name="Rectangle 2"/>
          <p:cNvSpPr>
            <a:spLocks noGrp="1" noRot="1" noChangeAspect="1" noChangeArrowheads="1" noTextEdit="1"/>
          </p:cNvSpPr>
          <p:nvPr>
            <p:ph type="sldImg"/>
          </p:nvPr>
        </p:nvSpPr>
        <p:spPr>
          <a:xfrm>
            <a:off x="715963" y="630238"/>
            <a:ext cx="5432425" cy="4073525"/>
          </a:xfrm>
          <a:ln/>
        </p:spPr>
      </p:sp>
      <p:sp>
        <p:nvSpPr>
          <p:cNvPr id="696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latin typeface="Arial" pitchFamily="34" charset="0"/>
              </a:rPr>
              <a:t>During intake, the carrier is informed of a potentially covered loss. For auto and property claims, this is often referred to as First Notice of Loss (FNOL). For workers' comp claims, this is known as First Report or Injury (FROI).</a:t>
            </a:r>
          </a:p>
          <a:p>
            <a:pPr eaLnBrk="1" hangingPunct="1"/>
            <a:r>
              <a:rPr lang="en-US" dirty="0" smtClean="0">
                <a:latin typeface="Arial" pitchFamily="34" charset="0"/>
              </a:rPr>
              <a:t>Adjudication is the process of determining if the carrier is going to pay a claim, and if so, how much.</a:t>
            </a:r>
          </a:p>
          <a:p>
            <a:pPr eaLnBrk="1" hangingPunct="1"/>
            <a:r>
              <a:rPr lang="en-US" dirty="0" smtClean="0">
                <a:latin typeface="Arial" pitchFamily="34" charset="0"/>
              </a:rPr>
              <a:t>Once the loss has been assessed and the payment has been approved, the carrier can provide the payments to the claimants. The payment phase involves creating, approving, and issuing the checks.</a:t>
            </a:r>
          </a:p>
          <a:p>
            <a:pPr eaLnBrk="1" hangingPunct="1"/>
            <a:r>
              <a:rPr lang="en-US" dirty="0" smtClean="0">
                <a:latin typeface="Arial" pitchFamily="34" charset="0"/>
              </a:rPr>
              <a:t>In some cases, the carrier may also attempt to recover funds paid to the claimant by obtaining money from a third party's carrier if the third party was at fault (which is known as "subrogation") or by taking possession of a significantly damaged property and selling all or parts of it to a third party (which is known as "salvage").</a:t>
            </a:r>
          </a:p>
          <a:p>
            <a:pPr eaLnBrk="1" hangingPunct="1"/>
            <a:r>
              <a:rPr lang="en-US" dirty="0" smtClean="0">
                <a:latin typeface="Arial" pitchFamily="34" charset="0"/>
              </a:rPr>
              <a:t>Litigation is an umbrella term for several activities which involve the resolution of disputes.</a:t>
            </a:r>
          </a:p>
          <a:p>
            <a:pPr eaLnBrk="1" hangingPunct="1"/>
            <a:r>
              <a:rPr lang="en-US" dirty="0" smtClean="0">
                <a:latin typeface="Arial" pitchFamily="34" charset="0"/>
              </a:rPr>
              <a:t>Fraud detection refers to the activities around detecting claim activity that is indicative of fraud and could warrant further investigation. This is typically a process which is ongoing throughout every phase of the claims process.</a:t>
            </a:r>
          </a:p>
          <a:p>
            <a:pPr eaLnBrk="1" hangingPunct="1"/>
            <a:r>
              <a:rPr lang="en-US" dirty="0" smtClean="0">
                <a:latin typeface="Arial" pitchFamily="34" charset="0"/>
              </a:rPr>
              <a:t>If a claim is considered to be suspicious, then it is referred to the special investigations unit. They will investigate the activity and determine the validity of claim. Their investigation runs parallel to the normal claim processing.</a:t>
            </a:r>
          </a:p>
          <a:p>
            <a:pPr eaLnBrk="1" hangingPunct="1"/>
            <a:endParaRPr lang="en-US" dirty="0" smtClean="0">
              <a:latin typeface="Arial"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|EON~006|</a:t>
            </a:r>
            <a:endParaRPr lang="en-US" sz="100">
              <a:solidFill>
                <a:srgbClr val="FFFFFF"/>
              </a:solidFill>
              <a:latin typeface="Arial"/>
            </a:endParaRPr>
          </a:p>
        </p:txBody>
      </p:sp>
      <p:sp>
        <p:nvSpPr>
          <p:cNvPr id="706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706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4F2246B8-7074-41B6-B124-9A1A81FF8DD5}" type="slidenum">
              <a:rPr lang="en-US" altLang="en-US" sz="1200" smtClean="0">
                <a:solidFill>
                  <a:schemeClr val="tx1"/>
                </a:solidFill>
              </a:rPr>
              <a:pPr eaLnBrk="1" hangingPunct="1"/>
              <a:t>6</a:t>
            </a:fld>
            <a:endParaRPr lang="en-US" altLang="en-US" sz="1200" smtClean="0">
              <a:solidFill>
                <a:schemeClr val="tx1"/>
              </a:solidFill>
            </a:endParaRPr>
          </a:p>
        </p:txBody>
      </p:sp>
      <p:sp>
        <p:nvSpPr>
          <p:cNvPr id="70660" name="Rectangle 2"/>
          <p:cNvSpPr>
            <a:spLocks noGrp="1" noRot="1" noChangeAspect="1" noChangeArrowheads="1" noTextEdit="1"/>
          </p:cNvSpPr>
          <p:nvPr>
            <p:ph type="sldImg"/>
          </p:nvPr>
        </p:nvSpPr>
        <p:spPr>
          <a:xfrm>
            <a:off x="715963" y="630238"/>
            <a:ext cx="5432425" cy="4073525"/>
          </a:xfrm>
          <a:ln/>
        </p:spPr>
      </p:sp>
      <p:sp>
        <p:nvSpPr>
          <p:cNvPr id="706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latin typeface="Arial" pitchFamily="34" charset="0"/>
              </a:rPr>
              <a:t>Theoretically speaking, a given entity type can be used or could be relevant in nearly every part of the claims process. However, some entities tend to be worked on heavily in one part of the process and less so in other parts of the process.</a:t>
            </a:r>
          </a:p>
          <a:p>
            <a:pPr lvl="1" eaLnBrk="1" hangingPunct="1"/>
            <a:r>
              <a:rPr lang="en-US" dirty="0" smtClean="0">
                <a:latin typeface="Arial" pitchFamily="34" charset="0"/>
              </a:rPr>
              <a:t>Incidents are created and often fully detailed during Intake. Services may be added and associated with those incidents, or related to the claim itself.</a:t>
            </a:r>
          </a:p>
          <a:p>
            <a:pPr lvl="1" eaLnBrk="1" hangingPunct="1"/>
            <a:r>
              <a:rPr lang="en-US" dirty="0" smtClean="0">
                <a:latin typeface="Arial" pitchFamily="34" charset="0"/>
              </a:rPr>
              <a:t>Exposures and reserve lines are usually established during Adjudication.</a:t>
            </a:r>
          </a:p>
          <a:p>
            <a:pPr lvl="1" eaLnBrk="1" hangingPunct="1"/>
            <a:r>
              <a:rPr lang="en-US" dirty="0" smtClean="0">
                <a:latin typeface="Arial" pitchFamily="34" charset="0"/>
              </a:rPr>
              <a:t>Checks are exclusive to Payment.</a:t>
            </a:r>
          </a:p>
          <a:p>
            <a:pPr lvl="1" eaLnBrk="1" hangingPunct="1"/>
            <a:r>
              <a:rPr lang="en-US" dirty="0" smtClean="0">
                <a:latin typeface="Arial" pitchFamily="34" charset="0"/>
              </a:rPr>
              <a:t>Matters are exclusive to Litigation.</a:t>
            </a:r>
          </a:p>
          <a:p>
            <a:pPr eaLnBrk="1" hangingPunct="1"/>
            <a:r>
              <a:rPr lang="en-US" dirty="0" smtClean="0">
                <a:latin typeface="Arial" pitchFamily="34" charset="0"/>
              </a:rPr>
              <a:t>There are four primary entities of the claim file which span all phases of claims processing: contacts, activities, documents, and notes.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|EON~007|</a:t>
            </a:r>
            <a:endParaRPr lang="en-US" sz="100">
              <a:solidFill>
                <a:srgbClr val="FFFFFF"/>
              </a:solidFill>
              <a:latin typeface="Arial"/>
            </a:endParaRPr>
          </a:p>
        </p:txBody>
      </p:sp>
      <p:sp>
        <p:nvSpPr>
          <p:cNvPr id="716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716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6377F6FC-9F89-491B-9B76-E093ECEAE80B}" type="slidenum">
              <a:rPr lang="en-US" altLang="en-US" sz="1200" smtClean="0">
                <a:solidFill>
                  <a:schemeClr val="tx1"/>
                </a:solidFill>
              </a:rPr>
              <a:pPr eaLnBrk="1" hangingPunct="1"/>
              <a:t>7</a:t>
            </a:fld>
            <a:endParaRPr lang="en-US" altLang="en-US" sz="1200" smtClean="0">
              <a:solidFill>
                <a:schemeClr val="tx1"/>
              </a:solidFill>
            </a:endParaRPr>
          </a:p>
        </p:txBody>
      </p:sp>
      <p:sp>
        <p:nvSpPr>
          <p:cNvPr id="71684" name="Rectangle 2"/>
          <p:cNvSpPr>
            <a:spLocks noGrp="1" noRot="1" noChangeAspect="1" noChangeArrowheads="1" noTextEdit="1"/>
          </p:cNvSpPr>
          <p:nvPr>
            <p:ph type="sldImg"/>
          </p:nvPr>
        </p:nvSpPr>
        <p:spPr>
          <a:xfrm>
            <a:off x="715963" y="630238"/>
            <a:ext cx="5432425" cy="4073525"/>
          </a:xfrm>
          <a:ln/>
        </p:spPr>
      </p:sp>
      <p:sp>
        <p:nvSpPr>
          <p:cNvPr id="716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latin typeface="Arial" pitchFamily="34" charset="0"/>
              </a:rPr>
              <a:t>A venue is a location for a scheduled event relevant to claims processing. Typically, venues are places where dispute resolution occurs, such as a courthouse or a conference room used for arbitration.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|EON~008|</a:t>
            </a:r>
            <a:endParaRPr lang="en-US" sz="100">
              <a:solidFill>
                <a:srgbClr val="FFFFFF"/>
              </a:solidFill>
              <a:latin typeface="Arial"/>
            </a:endParaRPr>
          </a:p>
        </p:txBody>
      </p:sp>
      <p:sp>
        <p:nvSpPr>
          <p:cNvPr id="727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727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A08383D0-C5FA-44C5-80AE-6D886718242B}" type="slidenum">
              <a:rPr lang="en-US" altLang="en-US" sz="1200" smtClean="0">
                <a:solidFill>
                  <a:schemeClr val="tx1"/>
                </a:solidFill>
              </a:rPr>
              <a:pPr eaLnBrk="1" hangingPunct="1"/>
              <a:t>8</a:t>
            </a:fld>
            <a:endParaRPr lang="en-US" altLang="en-US" sz="1200" smtClean="0">
              <a:solidFill>
                <a:schemeClr val="tx1"/>
              </a:solidFill>
            </a:endParaRPr>
          </a:p>
        </p:txBody>
      </p:sp>
      <p:sp>
        <p:nvSpPr>
          <p:cNvPr id="72708" name="Rectangle 2"/>
          <p:cNvSpPr>
            <a:spLocks noGrp="1" noRot="1" noChangeAspect="1" noChangeArrowheads="1" noTextEdit="1"/>
          </p:cNvSpPr>
          <p:nvPr>
            <p:ph type="sldImg"/>
          </p:nvPr>
        </p:nvSpPr>
        <p:spPr>
          <a:xfrm>
            <a:off x="715963" y="630238"/>
            <a:ext cx="5432425" cy="4073525"/>
          </a:xfrm>
          <a:ln/>
        </p:spPr>
      </p:sp>
      <p:sp>
        <p:nvSpPr>
          <p:cNvPr id="727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latin typeface="Arial" pitchFamily="34" charset="0"/>
              </a:rPr>
              <a:t>Contacts within ClaimCenter are organized into a specific</a:t>
            </a:r>
            <a:r>
              <a:rPr lang="en-US" baseline="0" dirty="0" smtClean="0">
                <a:latin typeface="Arial" pitchFamily="34" charset="0"/>
              </a:rPr>
              <a:t> subtype hierarchy</a:t>
            </a:r>
            <a:r>
              <a:rPr lang="en-US" dirty="0" smtClean="0">
                <a:latin typeface="Arial" pitchFamily="34" charset="0"/>
              </a:rPr>
              <a:t>. The organization of the hierarchy helps to specify and enable certain types of functionality. For example:</a:t>
            </a:r>
          </a:p>
          <a:p>
            <a:pPr lvl="1" eaLnBrk="1" hangingPunct="1"/>
            <a:r>
              <a:rPr lang="en-US" dirty="0" smtClean="0">
                <a:latin typeface="Arial" pitchFamily="34" charset="0"/>
              </a:rPr>
              <a:t>The hierarchy helps to define the sorts of searches users can do. You can easily configure search screens for any node in the hierarchy. The search results will include matching contacts at or below that node. In the example above, a user could do a search for attorneys (which will return just attorneys), or for doctors (which will return just doctors), or for person vendors (which will return both attorneys and doctors, but not law firms or medical care organizations because they are not underneath the "Person Vendor" node of the hierarchy).</a:t>
            </a:r>
          </a:p>
          <a:p>
            <a:pPr lvl="1" eaLnBrk="1" hangingPunct="1"/>
            <a:r>
              <a:rPr lang="en-US" dirty="0" smtClean="0">
                <a:latin typeface="Arial" pitchFamily="34" charset="0"/>
              </a:rPr>
              <a:t>The hierarchy helps to define the criteria for identifying two objects as possible matches. For example, if the matching logic for law firms, medical care organizations, auto towing and auto repair shops is identical (the tax ID for the two objects must match), then this logic can be specified at the Company Vendor level.</a:t>
            </a:r>
          </a:p>
          <a:p>
            <a:pPr eaLnBrk="1" hangingPunct="1"/>
            <a:r>
              <a:rPr lang="en-US" dirty="0" smtClean="0">
                <a:latin typeface="Arial" pitchFamily="34" charset="0"/>
              </a:rPr>
              <a:t/>
            </a:r>
            <a:br>
              <a:rPr lang="en-US" dirty="0" smtClean="0">
                <a:latin typeface="Arial" pitchFamily="34" charset="0"/>
              </a:rPr>
            </a:br>
            <a:r>
              <a:rPr lang="en-US" dirty="0" smtClean="0">
                <a:latin typeface="Arial" pitchFamily="34" charset="0"/>
              </a:rPr>
              <a:t>There are three primary subtypes in the contact subtype hierarchy: person, company, and place. Below these three primary subtypes are several “child” subtypes. It is recommended that no</a:t>
            </a:r>
            <a:r>
              <a:rPr lang="en-US" baseline="0" dirty="0" smtClean="0">
                <a:latin typeface="Arial" pitchFamily="34" charset="0"/>
              </a:rPr>
              <a:t> new subtypes should be created. However, customization such as adding properties/fields is acceptable. Instead of creating new subtypes, use other configuration capabilities in ClaimCenter such as adding new contact roles, configuring contact tags (in ContactManager), or configuring the list of vendor services provided (for example, adding services under a category of “Landscaping” (lawn repair, tree repair, gardening, etc.)). That way, a new subtype of vendor such as “Landscaping Vendor” is not needed. Both of these configurations and more are explained in the </a:t>
            </a:r>
            <a:r>
              <a:rPr lang="en-US" b="1" baseline="0" dirty="0" smtClean="0">
                <a:latin typeface="Arial" pitchFamily="34" charset="0"/>
              </a:rPr>
              <a:t>ClaimCenter 8.0 Application Configuration </a:t>
            </a:r>
            <a:r>
              <a:rPr lang="en-US" baseline="0" dirty="0" smtClean="0">
                <a:latin typeface="Arial" pitchFamily="34" charset="0"/>
              </a:rPr>
              <a:t>and </a:t>
            </a:r>
            <a:r>
              <a:rPr lang="en-US" b="1" dirty="0" smtClean="0">
                <a:effectLst/>
              </a:rPr>
              <a:t>ContactManager 8.0 Configuration for ClaimCenter 8.0</a:t>
            </a:r>
            <a:r>
              <a:rPr lang="en-US" b="1" baseline="0" dirty="0" smtClean="0">
                <a:effectLst/>
              </a:rPr>
              <a:t> </a:t>
            </a:r>
            <a:r>
              <a:rPr lang="en-US" baseline="0" dirty="0" smtClean="0">
                <a:latin typeface="Arial" pitchFamily="34" charset="0"/>
              </a:rPr>
              <a:t>training courses, and on the next slide.</a:t>
            </a:r>
          </a:p>
          <a:p>
            <a:pPr eaLnBrk="1" hangingPunct="1"/>
            <a:r>
              <a:rPr lang="en-US" dirty="0" smtClean="0">
                <a:latin typeface="Arial" pitchFamily="34" charset="0"/>
              </a:rPr>
              <a:t/>
            </a:r>
            <a:br>
              <a:rPr lang="en-US" dirty="0" smtClean="0">
                <a:latin typeface="Arial" pitchFamily="34" charset="0"/>
              </a:rPr>
            </a:br>
            <a:r>
              <a:rPr lang="en-US" dirty="0" smtClean="0">
                <a:latin typeface="Arial" pitchFamily="34" charset="0"/>
              </a:rPr>
              <a:t>An adjudicator is not a claims adjuster. An adjudicator is a judge or arbitrator as a type of Person. An adjudicator may have a specific adjudicative domain.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|EON~009|</a:t>
            </a:r>
            <a:endParaRPr lang="en-US" sz="100">
              <a:solidFill>
                <a:srgbClr val="FFFFFF"/>
              </a:solidFill>
              <a:latin typeface="Arial"/>
            </a:endParaRPr>
          </a:p>
        </p:txBody>
      </p:sp>
      <p:sp>
        <p:nvSpPr>
          <p:cNvPr id="57346"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dirty="0" smtClean="0">
                <a:solidFill>
                  <a:schemeClr val="tx1"/>
                </a:solidFill>
              </a:rPr>
              <a:t>	Contacts - </a:t>
            </a:r>
            <a:fld id="{E8B38962-2F75-42C7-8158-A507DF115EBA}" type="slidenum">
              <a:rPr lang="en-US" altLang="en-US" sz="1200" b="0" smtClean="0">
                <a:solidFill>
                  <a:schemeClr val="tx1"/>
                </a:solidFill>
              </a:rPr>
              <a:pPr eaLnBrk="1" hangingPunct="1"/>
              <a:t>9</a:t>
            </a:fld>
            <a:endParaRPr lang="en-US" altLang="en-US" sz="1200" b="0" dirty="0" smtClean="0">
              <a:solidFill>
                <a:schemeClr val="tx1"/>
              </a:solidFill>
            </a:endParaRPr>
          </a:p>
        </p:txBody>
      </p:sp>
      <p:sp>
        <p:nvSpPr>
          <p:cNvPr id="57347"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57348" name="Rectangle 2"/>
          <p:cNvSpPr>
            <a:spLocks noGrp="1" noRot="1" noChangeAspect="1" noChangeArrowheads="1" noTextEdit="1"/>
          </p:cNvSpPr>
          <p:nvPr>
            <p:ph type="sldImg"/>
          </p:nvPr>
        </p:nvSpPr>
        <p:spPr>
          <a:xfrm>
            <a:off x="717550" y="630238"/>
            <a:ext cx="5429250" cy="4073525"/>
          </a:xfrm>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 </a:t>
            </a:r>
            <a:r>
              <a:rPr lang="en-US" dirty="0" err="1" smtClean="0"/>
              <a:t>ABContact</a:t>
            </a:r>
            <a:r>
              <a:rPr lang="en-US" dirty="0" smtClean="0"/>
              <a:t> entity is a subtyped entity in ContactManager. In other words, it is broken down into categories (such as </a:t>
            </a:r>
            <a:r>
              <a:rPr lang="en-US" dirty="0" err="1" smtClean="0"/>
              <a:t>ABPerson</a:t>
            </a:r>
            <a:r>
              <a:rPr lang="en-US" dirty="0" smtClean="0"/>
              <a:t>, </a:t>
            </a:r>
            <a:r>
              <a:rPr lang="en-US" dirty="0" err="1" smtClean="0"/>
              <a:t>ABCompany</a:t>
            </a:r>
            <a:r>
              <a:rPr lang="en-US" dirty="0" smtClean="0"/>
              <a:t>, and </a:t>
            </a:r>
            <a:r>
              <a:rPr lang="en-US" dirty="0" err="1" smtClean="0"/>
              <a:t>ABPlace</a:t>
            </a:r>
            <a:r>
              <a:rPr lang="en-US" dirty="0" smtClean="0"/>
              <a:t>), and those categories can be further broken down into categories (such as </a:t>
            </a:r>
            <a:r>
              <a:rPr lang="en-US" dirty="0" err="1" smtClean="0"/>
              <a:t>ABPerson</a:t>
            </a:r>
            <a:r>
              <a:rPr lang="en-US" dirty="0" smtClean="0"/>
              <a:t> consisting of </a:t>
            </a:r>
            <a:r>
              <a:rPr lang="en-US" dirty="0" err="1" smtClean="0"/>
              <a:t>ABAdjudicator</a:t>
            </a:r>
            <a:r>
              <a:rPr lang="en-US" dirty="0" smtClean="0"/>
              <a:t>, </a:t>
            </a:r>
            <a:r>
              <a:rPr lang="en-US" dirty="0" err="1" smtClean="0"/>
              <a:t>ABPersonVendor</a:t>
            </a:r>
            <a:r>
              <a:rPr lang="en-US" dirty="0" smtClean="0"/>
              <a:t>, and </a:t>
            </a:r>
            <a:r>
              <a:rPr lang="en-US" dirty="0" err="1" smtClean="0"/>
              <a:t>ABPolicyPerson</a:t>
            </a:r>
            <a:r>
              <a:rPr lang="en-US" dirty="0" smtClean="0"/>
              <a:t>). This hierarchical organization helps to model information about contacts. Information common to all contacts can be established at the </a:t>
            </a:r>
            <a:r>
              <a:rPr lang="en-US" dirty="0" err="1" smtClean="0"/>
              <a:t>ABContact</a:t>
            </a:r>
            <a:r>
              <a:rPr lang="en-US" dirty="0" smtClean="0"/>
              <a:t> level (such as Name and Tax ID). This information is automatically inherited by all of its subtypes. Information specific to an </a:t>
            </a:r>
            <a:r>
              <a:rPr lang="en-US" dirty="0" err="1" smtClean="0"/>
              <a:t>ABPerson</a:t>
            </a:r>
            <a:r>
              <a:rPr lang="en-US" dirty="0" smtClean="0"/>
              <a:t> (such as First Name, Gender, and Date of Birth) can be put at the </a:t>
            </a:r>
            <a:r>
              <a:rPr lang="en-US" dirty="0" err="1" smtClean="0"/>
              <a:t>ABPerson</a:t>
            </a:r>
            <a:r>
              <a:rPr lang="en-US" dirty="0" smtClean="0"/>
              <a:t> level. It will be inherited by all of its subtypes, but information on the </a:t>
            </a:r>
            <a:r>
              <a:rPr lang="en-US" dirty="0" err="1" smtClean="0"/>
              <a:t>ABPerson</a:t>
            </a:r>
            <a:r>
              <a:rPr lang="en-US" dirty="0" smtClean="0"/>
              <a:t> subtype is not available to </a:t>
            </a:r>
            <a:r>
              <a:rPr lang="en-US" dirty="0" err="1" smtClean="0"/>
              <a:t>ABCompany</a:t>
            </a:r>
            <a:r>
              <a:rPr lang="en-US" dirty="0" smtClean="0"/>
              <a:t> or </a:t>
            </a:r>
            <a:r>
              <a:rPr lang="en-US" dirty="0" err="1" smtClean="0"/>
              <a:t>ABPlace</a:t>
            </a:r>
            <a:r>
              <a:rPr lang="en-US" dirty="0" smtClean="0"/>
              <a:t>.</a:t>
            </a:r>
          </a:p>
          <a:p>
            <a:pPr eaLnBrk="1" hangingPunct="1"/>
            <a:r>
              <a:rPr lang="en-US" dirty="0" smtClean="0"/>
              <a:t>You can create a contact at any level in the hierarchy except for the top level. (This is represented in the diagram above by a lock.) Thus, a contact could be an </a:t>
            </a:r>
            <a:r>
              <a:rPr lang="en-US" dirty="0" err="1" smtClean="0"/>
              <a:t>ABPerson</a:t>
            </a:r>
            <a:r>
              <a:rPr lang="en-US" dirty="0" smtClean="0"/>
              <a:t>, or an </a:t>
            </a:r>
            <a:r>
              <a:rPr lang="en-US" dirty="0" err="1" smtClean="0"/>
              <a:t>ABPersonVendor</a:t>
            </a:r>
            <a:r>
              <a:rPr lang="en-US" dirty="0" smtClean="0"/>
              <a:t>, or an </a:t>
            </a:r>
            <a:r>
              <a:rPr lang="en-US" dirty="0" err="1" smtClean="0"/>
              <a:t>ABAttorney</a:t>
            </a:r>
            <a:r>
              <a:rPr lang="en-US" dirty="0" smtClean="0"/>
              <a:t>. But it cannot be "just" an </a:t>
            </a:r>
            <a:r>
              <a:rPr lang="en-US" dirty="0" err="1" smtClean="0"/>
              <a:t>ABContact</a:t>
            </a:r>
            <a:r>
              <a:rPr lang="en-US" dirty="0" smtClean="0"/>
              <a:t>.</a:t>
            </a:r>
          </a:p>
          <a:p>
            <a:pPr eaLnBrk="1" hangingPunct="1"/>
            <a:r>
              <a:rPr lang="en-US" dirty="0" smtClean="0"/>
              <a:t>In the </a:t>
            </a:r>
            <a:r>
              <a:rPr lang="en-US" dirty="0" err="1" smtClean="0"/>
              <a:t>ABContact</a:t>
            </a:r>
            <a:r>
              <a:rPr lang="en-US" dirty="0" smtClean="0"/>
              <a:t> hierarchy, an </a:t>
            </a:r>
            <a:r>
              <a:rPr lang="en-US" dirty="0" err="1" smtClean="0"/>
              <a:t>ABPolicyPerson</a:t>
            </a:r>
            <a:r>
              <a:rPr lang="en-US" dirty="0" smtClean="0"/>
              <a:t> is a person who owns a policy issued by the carrier (such as an individual with a personal auto policy). An </a:t>
            </a:r>
            <a:r>
              <a:rPr lang="en-US" dirty="0" err="1" smtClean="0"/>
              <a:t>ABPolicyCompany</a:t>
            </a:r>
            <a:r>
              <a:rPr lang="en-US" dirty="0" smtClean="0"/>
              <a:t> is a company that owns a policy issued by the carrier (such as a construction company with a workers' compensation policy).</a:t>
            </a:r>
          </a:p>
          <a:p>
            <a:pPr eaLnBrk="1" hangingPunct="1"/>
            <a:endParaRPr lang="en-US" dirty="0" smtClean="0"/>
          </a:p>
          <a:p>
            <a:pPr eaLnBrk="1" hangingPunct="1"/>
            <a:r>
              <a:rPr lang="en-US" dirty="0" smtClean="0"/>
              <a:t>There </a:t>
            </a:r>
            <a:r>
              <a:rPr lang="en-US" dirty="0"/>
              <a:t>is one entity that participates in the hierarchy that does not appear in the diagram above: </a:t>
            </a:r>
            <a:r>
              <a:rPr lang="en-US" dirty="0" err="1"/>
              <a:t>ABUserContact</a:t>
            </a:r>
            <a:r>
              <a:rPr lang="en-US" dirty="0"/>
              <a:t>. This type of contact represents a ContactManager user and is used to store his or her contact information (such as home phone numbers). Likewise, on the diagram shown on the previous slide, </a:t>
            </a:r>
            <a:r>
              <a:rPr lang="en-US" dirty="0" err="1"/>
              <a:t>UserContact</a:t>
            </a:r>
            <a:r>
              <a:rPr lang="en-US" dirty="0"/>
              <a:t> is not shown. This type of contact represents a ClaimCenter user and is used to store similar contact information</a:t>
            </a:r>
            <a:r>
              <a:rPr lang="en-US" dirty="0" smtClean="0"/>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|EON~010|</a:t>
            </a:r>
            <a:endParaRPr lang="en-US" sz="100">
              <a:solidFill>
                <a:srgbClr val="FFFFFF"/>
              </a:solidFill>
              <a:latin typeface="Arial"/>
            </a:endParaRPr>
          </a:p>
        </p:txBody>
      </p:sp>
      <p:sp>
        <p:nvSpPr>
          <p:cNvPr id="59394"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dirty="0" smtClean="0">
                <a:solidFill>
                  <a:schemeClr val="tx1"/>
                </a:solidFill>
              </a:rPr>
              <a:t>	Contacts - </a:t>
            </a:r>
            <a:fld id="{3AD8E039-0A9E-45D4-9558-B6194917E8C1}" type="slidenum">
              <a:rPr lang="en-US" altLang="en-US" sz="1200" b="0" smtClean="0">
                <a:solidFill>
                  <a:schemeClr val="tx1"/>
                </a:solidFill>
              </a:rPr>
              <a:pPr eaLnBrk="1" hangingPunct="1"/>
              <a:t>10</a:t>
            </a:fld>
            <a:endParaRPr lang="en-US" altLang="en-US" sz="1200" b="0" dirty="0" smtClean="0">
              <a:solidFill>
                <a:schemeClr val="tx1"/>
              </a:solidFill>
            </a:endParaRPr>
          </a:p>
        </p:txBody>
      </p:sp>
      <p:sp>
        <p:nvSpPr>
          <p:cNvPr id="59395"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59396" name="Rectangle 2"/>
          <p:cNvSpPr>
            <a:spLocks noGrp="1" noRot="1" noChangeAspect="1" noChangeArrowheads="1" noTextEdit="1"/>
          </p:cNvSpPr>
          <p:nvPr>
            <p:ph type="sldImg"/>
          </p:nvPr>
        </p:nvSpPr>
        <p:spPr>
          <a:ln/>
        </p:spPr>
      </p:sp>
      <p:sp>
        <p:nvSpPr>
          <p:cNvPr id="593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Any search conducted at a given level returns contacts whose subtype is at or below that level. For example:</a:t>
            </a:r>
          </a:p>
          <a:p>
            <a:pPr lvl="1" eaLnBrk="1" hangingPunct="1"/>
            <a:r>
              <a:rPr lang="en-US" smtClean="0"/>
              <a:t>A search for ABPersons returns ABPersons, ABPersonVendors, ABAttorneys, and ABDoctors.</a:t>
            </a:r>
          </a:p>
          <a:p>
            <a:pPr lvl="1" eaLnBrk="1" hangingPunct="1"/>
            <a:r>
              <a:rPr lang="en-US" smtClean="0"/>
              <a:t>A search for ABPersonVendors returns ABPersonVendors, ABAttorneys, and ABDoctors.</a:t>
            </a:r>
          </a:p>
          <a:p>
            <a:pPr lvl="1" eaLnBrk="1" hangingPunct="1"/>
            <a:r>
              <a:rPr lang="en-US" smtClean="0"/>
              <a:t>A search for ABAttorneys returns only ABAttorneys.</a:t>
            </a:r>
          </a:p>
          <a:p>
            <a:pPr lvl="1" eaLnBrk="1" hangingPunct="1"/>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|EON~011|</a:t>
            </a:r>
            <a:endParaRPr lang="en-US" sz="100">
              <a:solidFill>
                <a:srgbClr val="FFFFFF"/>
              </a:solidFill>
              <a:latin typeface="Arial"/>
            </a:endParaRPr>
          </a:p>
        </p:txBody>
      </p:sp>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Contact tags provide more flexibility for categorizing contacts than subtypes do. Subtypes are limited in several ways:</a:t>
            </a:r>
          </a:p>
          <a:p>
            <a:pPr lvl="1"/>
            <a:r>
              <a:rPr lang="en-US" dirty="0" smtClean="0"/>
              <a:t>A contact can only be of one subtype. Therefore, it is hard to reflect that a given contact may have multiple roles with the company (such as a doctor who is both a claim party and a vendor, and could also possibly be a client).</a:t>
            </a:r>
          </a:p>
          <a:p>
            <a:pPr lvl="1"/>
            <a:r>
              <a:rPr lang="en-US" dirty="0" smtClean="0"/>
              <a:t>Once created, a contact's subtype is fixed.</a:t>
            </a:r>
          </a:p>
        </p:txBody>
      </p:sp>
      <p:sp>
        <p:nvSpPr>
          <p:cNvPr id="604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dirty="0" smtClean="0">
                <a:solidFill>
                  <a:schemeClr val="tx1"/>
                </a:solidFill>
              </a:rPr>
              <a:t>	Contacts - </a:t>
            </a:r>
            <a:fld id="{93BF295A-72B0-4793-87A7-AABB405A43A1}" type="slidenum">
              <a:rPr lang="en-US" altLang="en-US" sz="1200" b="0" smtClean="0">
                <a:solidFill>
                  <a:schemeClr val="tx1"/>
                </a:solidFill>
              </a:rPr>
              <a:pPr eaLnBrk="1" hangingPunct="1"/>
              <a:t>11</a:t>
            </a:fld>
            <a:endParaRPr lang="en-US" altLang="en-US" sz="1200" b="0" dirty="0" smtClean="0">
              <a:solidFill>
                <a:schemeClr val="tx1"/>
              </a:solidFill>
            </a:endParaRPr>
          </a:p>
        </p:txBody>
      </p:sp>
      <p:sp>
        <p:nvSpPr>
          <p:cNvPr id="60421"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|EON~012|</a:t>
            </a:r>
            <a:endParaRPr lang="en-US" sz="100">
              <a:solidFill>
                <a:srgbClr val="FFFFFF"/>
              </a:solidFill>
              <a:latin typeface="Arial"/>
            </a:endParaRPr>
          </a:p>
        </p:txBody>
      </p:sp>
      <p:sp>
        <p:nvSpPr>
          <p:cNvPr id="737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737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588B76F8-6C55-4A19-A2B4-C5665BE1B65A}" type="slidenum">
              <a:rPr lang="en-US" altLang="en-US" sz="1200" smtClean="0">
                <a:solidFill>
                  <a:schemeClr val="tx1"/>
                </a:solidFill>
              </a:rPr>
              <a:pPr eaLnBrk="1" hangingPunct="1"/>
              <a:t>12</a:t>
            </a:fld>
            <a:endParaRPr lang="en-US" altLang="en-US" sz="1200" smtClean="0">
              <a:solidFill>
                <a:schemeClr val="tx1"/>
              </a:solidFill>
            </a:endParaRPr>
          </a:p>
        </p:txBody>
      </p:sp>
      <p:sp>
        <p:nvSpPr>
          <p:cNvPr id="73732" name="Rectangle 2"/>
          <p:cNvSpPr>
            <a:spLocks noGrp="1" noRot="1" noChangeAspect="1" noChangeArrowheads="1" noTextEdit="1"/>
          </p:cNvSpPr>
          <p:nvPr>
            <p:ph type="sldImg"/>
          </p:nvPr>
        </p:nvSpPr>
        <p:spPr>
          <a:xfrm>
            <a:off x="715963" y="630238"/>
            <a:ext cx="5432425" cy="4073525"/>
          </a:xfrm>
          <a:ln/>
        </p:spPr>
      </p:sp>
      <p:sp>
        <p:nvSpPr>
          <p:cNvPr id="737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latin typeface="Arial" pitchFamily="34" charset="0"/>
              </a:rPr>
              <a:t>Most carriers with claims processing systems have a contact management application, which is often referred to in the industry as the "address book".</a:t>
            </a:r>
          </a:p>
          <a:p>
            <a:pPr eaLnBrk="1" hangingPunct="1"/>
            <a:r>
              <a:rPr lang="en-US" dirty="0" smtClean="0">
                <a:latin typeface="Arial" pitchFamily="34" charset="0"/>
              </a:rPr>
              <a:t>ClaimCenter comes with a separate contact management application called ContactManager. ClaimCenter and ContactManager are integrated, and most of the functionality belonging to ContactManager appears seamlessly in ClaimCenter. The ContactManager application functionality is typically referenced within ClaimCenter using the term "Address Book".</a:t>
            </a:r>
          </a:p>
          <a:p>
            <a:pPr eaLnBrk="1" hangingPunct="1"/>
            <a:r>
              <a:rPr lang="en-US" dirty="0" smtClean="0">
                <a:latin typeface="Arial" pitchFamily="34" charset="0"/>
              </a:rPr>
              <a:t>This course uses the term "Address Book" to reference functionality found in ContactManager.</a:t>
            </a:r>
          </a:p>
          <a:p>
            <a:pPr eaLnBrk="1" hangingPunct="1"/>
            <a:endParaRPr lang="en-US" dirty="0" smtClean="0">
              <a:latin typeface="Arial" pitchFamily="34" charset="0"/>
            </a:endParaRPr>
          </a:p>
          <a:p>
            <a:pPr marL="0" marR="0" indent="0" algn="l" defTabSz="914400" rtl="0" eaLnBrk="1" fontAlgn="base" latinLnBrk="0" hangingPunct="1">
              <a:lnSpc>
                <a:spcPct val="100000"/>
              </a:lnSpc>
              <a:spcBef>
                <a:spcPct val="10000"/>
              </a:spcBef>
              <a:spcAft>
                <a:spcPct val="0"/>
              </a:spcAft>
              <a:buClrTx/>
              <a:buSzTx/>
              <a:buFontTx/>
              <a:buNone/>
              <a:tabLst/>
              <a:defRPr/>
            </a:pPr>
            <a:r>
              <a:rPr lang="en-US" dirty="0" smtClean="0">
                <a:latin typeface="Arial" pitchFamily="34" charset="0"/>
              </a:rPr>
              <a:t>The topic of how </a:t>
            </a:r>
            <a:r>
              <a:rPr lang="en-US" baseline="0" dirty="0" smtClean="0">
                <a:latin typeface="Arial" pitchFamily="34" charset="0"/>
              </a:rPr>
              <a:t>vendor contacts are shared, managed and edited is discussed in detail in the Shared Contacts lesson that follows this lesson. </a:t>
            </a:r>
          </a:p>
          <a:p>
            <a:pPr marL="0" marR="0" indent="0" algn="l" defTabSz="914400" rtl="0" eaLnBrk="1" fontAlgn="base" latinLnBrk="0" hangingPunct="1">
              <a:lnSpc>
                <a:spcPct val="100000"/>
              </a:lnSpc>
              <a:spcBef>
                <a:spcPct val="10000"/>
              </a:spcBef>
              <a:spcAft>
                <a:spcPct val="0"/>
              </a:spcAft>
              <a:buClrTx/>
              <a:buSzTx/>
              <a:buFontTx/>
              <a:buNone/>
              <a:tabLst/>
              <a:defRPr/>
            </a:pPr>
            <a:endParaRPr lang="en-US" baseline="0" dirty="0" smtClean="0">
              <a:latin typeface="Arial" pitchFamily="34" charset="0"/>
            </a:endParaRPr>
          </a:p>
          <a:p>
            <a:pPr marL="0" marR="0" indent="0" algn="l" defTabSz="914400" rtl="0" eaLnBrk="1" fontAlgn="base" latinLnBrk="0" hangingPunct="1">
              <a:lnSpc>
                <a:spcPct val="100000"/>
              </a:lnSpc>
              <a:spcBef>
                <a:spcPct val="10000"/>
              </a:spcBef>
              <a:spcAft>
                <a:spcPct val="0"/>
              </a:spcAft>
              <a:buClrTx/>
              <a:buSzTx/>
              <a:buFontTx/>
              <a:buNone/>
              <a:tabLst/>
              <a:defRPr/>
            </a:pPr>
            <a:r>
              <a:rPr lang="en-US" dirty="0" smtClean="0">
                <a:latin typeface="Arial" pitchFamily="34" charset="0"/>
              </a:rPr>
              <a:t>PC-CM (PolicyCenter</a:t>
            </a:r>
            <a:r>
              <a:rPr lang="en-US" baseline="0" dirty="0" smtClean="0">
                <a:latin typeface="Arial" pitchFamily="34" charset="0"/>
              </a:rPr>
              <a:t> – ContactManager) </a:t>
            </a:r>
            <a:r>
              <a:rPr lang="en-US" dirty="0" smtClean="0">
                <a:latin typeface="Arial" pitchFamily="34" charset="0"/>
              </a:rPr>
              <a:t>integration is not covered in this training course. This course only covers CC-CM integration. PC-CM integration is covered in the ContactManager Configuration course.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|EON~013|</a:t>
            </a:r>
            <a:endParaRPr lang="en-US" sz="100">
              <a:solidFill>
                <a:srgbClr val="FFFFFF"/>
              </a:solidFill>
              <a:latin typeface="Arial"/>
            </a:endParaRPr>
          </a:p>
        </p:txBody>
      </p:sp>
      <p:sp>
        <p:nvSpPr>
          <p:cNvPr id="747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747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FE2125DA-567A-4243-87D3-3834C831F734}" type="slidenum">
              <a:rPr lang="en-US" altLang="en-US" sz="1200" smtClean="0">
                <a:solidFill>
                  <a:schemeClr val="tx1"/>
                </a:solidFill>
              </a:rPr>
              <a:pPr eaLnBrk="1" hangingPunct="1"/>
              <a:t>13</a:t>
            </a:fld>
            <a:endParaRPr lang="en-US" altLang="en-US" sz="1200" smtClean="0">
              <a:solidFill>
                <a:schemeClr val="tx1"/>
              </a:solidFill>
            </a:endParaRPr>
          </a:p>
        </p:txBody>
      </p:sp>
      <p:sp>
        <p:nvSpPr>
          <p:cNvPr id="74756" name="Rectangle 2"/>
          <p:cNvSpPr>
            <a:spLocks noGrp="1" noRot="1" noChangeAspect="1" noChangeArrowheads="1" noTextEdit="1"/>
          </p:cNvSpPr>
          <p:nvPr>
            <p:ph type="sldImg"/>
          </p:nvPr>
        </p:nvSpPr>
        <p:spPr>
          <a:xfrm>
            <a:off x="715963" y="630238"/>
            <a:ext cx="5432425" cy="4073525"/>
          </a:xfrm>
          <a:ln/>
        </p:spPr>
      </p:sp>
      <p:sp>
        <p:nvSpPr>
          <p:cNvPr id="747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latin typeface="Arial" pitchFamily="34" charset="0"/>
              </a:rPr>
              <a:t>A ClaimCenter contact may exist only in ClaimCenter (and not in Address Book). This is typical when the contact is not expected to be used for any other claim (such as a witness or a third-party claimant), which is typically true for a contact which is not a vendor or a venue. There is no need for contact information to be shared across multiple claims, so the contact is not stored in the address book. This is also known</a:t>
            </a:r>
            <a:r>
              <a:rPr lang="en-US" baseline="0" dirty="0" smtClean="0">
                <a:latin typeface="Arial" pitchFamily="34" charset="0"/>
              </a:rPr>
              <a:t> as a “local” contact (local to ClaimCenter). </a:t>
            </a:r>
            <a:endParaRPr lang="en-US" dirty="0" smtClean="0">
              <a:latin typeface="Arial" pitchFamily="34" charset="0"/>
            </a:endParaRPr>
          </a:p>
          <a:p>
            <a:pPr eaLnBrk="1" hangingPunct="1"/>
            <a:endParaRPr lang="en-US" dirty="0" smtClean="0">
              <a:latin typeface="Arial"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|EON~014|</a:t>
            </a:r>
            <a:endParaRPr lang="en-US" sz="100">
              <a:solidFill>
                <a:srgbClr val="FFFFFF"/>
              </a:solidFill>
              <a:latin typeface="Arial"/>
            </a:endParaRPr>
          </a:p>
        </p:txBody>
      </p:sp>
      <p:sp>
        <p:nvSpPr>
          <p:cNvPr id="757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757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E9B2A67B-E9EE-401D-AEDE-7822023F93A7}" type="slidenum">
              <a:rPr lang="en-US" altLang="en-US" sz="1200" smtClean="0">
                <a:solidFill>
                  <a:schemeClr val="tx1"/>
                </a:solidFill>
              </a:rPr>
              <a:pPr eaLnBrk="1" hangingPunct="1"/>
              <a:t>14</a:t>
            </a:fld>
            <a:endParaRPr lang="en-US" altLang="en-US" sz="1200" smtClean="0">
              <a:solidFill>
                <a:schemeClr val="tx1"/>
              </a:solidFill>
            </a:endParaRPr>
          </a:p>
        </p:txBody>
      </p:sp>
      <p:sp>
        <p:nvSpPr>
          <p:cNvPr id="75780" name="Rectangle 2"/>
          <p:cNvSpPr>
            <a:spLocks noGrp="1" noRot="1" noChangeAspect="1" noChangeArrowheads="1" noTextEdit="1"/>
          </p:cNvSpPr>
          <p:nvPr>
            <p:ph type="sldImg"/>
          </p:nvPr>
        </p:nvSpPr>
        <p:spPr>
          <a:xfrm>
            <a:off x="715963" y="630238"/>
            <a:ext cx="5432425" cy="4073525"/>
          </a:xfrm>
          <a:ln/>
        </p:spPr>
      </p:sp>
      <p:sp>
        <p:nvSpPr>
          <p:cNvPr id="757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latin typeface="Arial" pitchFamily="34" charset="0"/>
              </a:rPr>
              <a:t>A ClaimCenter contact may also exist in the address book. This is typical when the contact is used or is expected to be used for multiple claims. This is typically true for person vendors such as doctors, company vendors such as hospitals, or venues such as courts. Theoretically, it could also include a policy holder with a large number of potential claims, such as a large business with a workers' comp policy. Because there is a need for contact information to be shared across multiple claims, the contact is stored in the address book. (In the diagram above, the "AB" after the Address Book Matt Sawyer stands for "address book".)</a:t>
            </a:r>
          </a:p>
          <a:p>
            <a:pPr eaLnBrk="1" hangingPunct="1"/>
            <a:endParaRPr lang="en-US" dirty="0" smtClean="0">
              <a:latin typeface="Arial" pitchFamily="34" charset="0"/>
            </a:endParaRPr>
          </a:p>
          <a:p>
            <a:pPr marL="0" marR="0" indent="0" algn="l" defTabSz="914400" rtl="0" eaLnBrk="1" fontAlgn="base" latinLnBrk="0" hangingPunct="1">
              <a:lnSpc>
                <a:spcPct val="100000"/>
              </a:lnSpc>
              <a:spcBef>
                <a:spcPct val="10000"/>
              </a:spcBef>
              <a:spcAft>
                <a:spcPct val="0"/>
              </a:spcAft>
              <a:buClrTx/>
              <a:buSzTx/>
              <a:buFontTx/>
              <a:buNone/>
              <a:tabLst/>
              <a:defRPr/>
            </a:pPr>
            <a:r>
              <a:rPr lang="en-US" dirty="0" smtClean="0"/>
              <a:t>ContactManager is often referred to by the two-letter abbreviation AB, which stands for Address Book.</a:t>
            </a:r>
            <a:endParaRPr lang="en-US" dirty="0" smtClean="0">
              <a:latin typeface="Arial" pitchFamily="34" charset="0"/>
            </a:endParaRPr>
          </a:p>
          <a:p>
            <a:pPr eaLnBrk="1" hangingPunct="1"/>
            <a:endParaRPr lang="en-US" dirty="0" smtClean="0">
              <a:latin typeface="Arial"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|EON~015|</a:t>
            </a:r>
            <a:endParaRPr lang="en-US" sz="100">
              <a:solidFill>
                <a:srgbClr val="FFFFFF"/>
              </a:solidFill>
              <a:latin typeface="Arial"/>
            </a:endParaRPr>
          </a:p>
        </p:txBody>
      </p:sp>
      <p:sp>
        <p:nvSpPr>
          <p:cNvPr id="778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778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D53067C7-B16A-44CE-97EC-2EAE17ED83F2}" type="slidenum">
              <a:rPr lang="en-US" altLang="en-US" sz="1200" smtClean="0">
                <a:solidFill>
                  <a:schemeClr val="tx1"/>
                </a:solidFill>
              </a:rPr>
              <a:pPr eaLnBrk="1" hangingPunct="1"/>
              <a:t>15</a:t>
            </a:fld>
            <a:endParaRPr lang="en-US" altLang="en-US" sz="1200" smtClean="0">
              <a:solidFill>
                <a:schemeClr val="tx1"/>
              </a:solidFill>
            </a:endParaRPr>
          </a:p>
        </p:txBody>
      </p:sp>
      <p:sp>
        <p:nvSpPr>
          <p:cNvPr id="77828" name="Rectangle 2"/>
          <p:cNvSpPr>
            <a:spLocks noGrp="1" noChangeArrowheads="1"/>
          </p:cNvSpPr>
          <p:nvPr>
            <p:ph type="body" idx="1"/>
          </p:nvPr>
        </p:nvSpPr>
        <p:spPr>
          <a:xfrm>
            <a:off x="406400" y="620713"/>
            <a:ext cx="6069013" cy="8113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latin typeface="Arial" pitchFamily="34" charset="0"/>
              </a:rPr>
              <a:t>When two objects (contacts) are linked, modifications to one of the objects are generally replicated to the other linked objects. For example, a change made to the contact in ClaimCenter is copied to the address book (and may require approval). A change made to the contact in the address book is immediately copied to all instances of the contact in ClaimCenter. </a:t>
            </a:r>
          </a:p>
          <a:p>
            <a:pPr eaLnBrk="1" hangingPunct="1"/>
            <a:r>
              <a:rPr lang="en-US" dirty="0" smtClean="0">
                <a:latin typeface="Arial" pitchFamily="34" charset="0"/>
              </a:rPr>
              <a:t>These behaviors depend on user permissions. Contact changes or additions made in ClaimCenter by an adjuster user are not immediately replicated because they are placed in a “pending approval” state. But the object is still linked and awaiting approval.</a:t>
            </a:r>
          </a:p>
          <a:p>
            <a:pPr eaLnBrk="1" hangingPunct="1"/>
            <a:endParaRPr lang="en-US" dirty="0" smtClean="0">
              <a:latin typeface="Arial"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|EON~016|</a:t>
            </a:r>
            <a:endParaRPr lang="en-US" sz="100">
              <a:solidFill>
                <a:srgbClr val="FFFFFF"/>
              </a:solidFill>
              <a:latin typeface="Arial"/>
            </a:endParaRPr>
          </a:p>
        </p:txBody>
      </p:sp>
      <p:sp>
        <p:nvSpPr>
          <p:cNvPr id="788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788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B880194E-F18A-4C5D-8369-F743CD75BDD5}" type="slidenum">
              <a:rPr lang="en-US" altLang="en-US" sz="1200" smtClean="0">
                <a:solidFill>
                  <a:schemeClr val="tx1"/>
                </a:solidFill>
              </a:rPr>
              <a:pPr eaLnBrk="1" hangingPunct="1"/>
              <a:t>16</a:t>
            </a:fld>
            <a:endParaRPr lang="en-US" altLang="en-US" sz="1200" smtClean="0">
              <a:solidFill>
                <a:schemeClr val="tx1"/>
              </a:solidFill>
            </a:endParaRPr>
          </a:p>
        </p:txBody>
      </p:sp>
      <p:sp>
        <p:nvSpPr>
          <p:cNvPr id="78852" name="Rectangle 2"/>
          <p:cNvSpPr>
            <a:spLocks noGrp="1" noRot="1" noChangeAspect="1" noChangeArrowheads="1" noTextEdit="1"/>
          </p:cNvSpPr>
          <p:nvPr>
            <p:ph type="sldImg"/>
          </p:nvPr>
        </p:nvSpPr>
        <p:spPr>
          <a:xfrm>
            <a:off x="715963" y="630238"/>
            <a:ext cx="5432425" cy="4073525"/>
          </a:xfrm>
          <a:ln/>
        </p:spPr>
      </p:sp>
      <p:sp>
        <p:nvSpPr>
          <p:cNvPr id="788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latin typeface="Arial" pitchFamily="34" charset="0"/>
              </a:rPr>
              <a:t>Adjusters execute their work within </a:t>
            </a:r>
            <a:r>
              <a:rPr lang="en-US" dirty="0" err="1" smtClean="0">
                <a:latin typeface="Arial" pitchFamily="34" charset="0"/>
              </a:rPr>
              <a:t>ClaimCenter</a:t>
            </a:r>
            <a:r>
              <a:rPr lang="en-US" dirty="0" smtClean="0">
                <a:latin typeface="Arial" pitchFamily="34" charset="0"/>
              </a:rPr>
              <a:t>. They typically create contacts in ClaimCenter (which are either local</a:t>
            </a:r>
            <a:r>
              <a:rPr lang="en-US" baseline="0" dirty="0" smtClean="0">
                <a:latin typeface="Arial" pitchFamily="34" charset="0"/>
              </a:rPr>
              <a:t> </a:t>
            </a:r>
            <a:r>
              <a:rPr lang="en-US" dirty="0" smtClean="0">
                <a:latin typeface="Arial" pitchFamily="34" charset="0"/>
              </a:rPr>
              <a:t>contacts or</a:t>
            </a:r>
            <a:r>
              <a:rPr lang="en-US" baseline="0" dirty="0" smtClean="0">
                <a:latin typeface="Arial" pitchFamily="34" charset="0"/>
              </a:rPr>
              <a:t> shared</a:t>
            </a:r>
            <a:r>
              <a:rPr lang="en-US" dirty="0" smtClean="0">
                <a:latin typeface="Arial" pitchFamily="34" charset="0"/>
              </a:rPr>
              <a:t> contacts that are created from existing Address Book contacts). Adjusters can also link a ClaimCenter contact to an Address Book contact if a ClaimCenter contact is unlinked but identical to an existing Address Book contact, or if they supply the required information for a new contact to exist in the Address</a:t>
            </a:r>
            <a:r>
              <a:rPr lang="en-US" baseline="0" dirty="0" smtClean="0">
                <a:latin typeface="Arial" pitchFamily="34" charset="0"/>
              </a:rPr>
              <a:t> Book, such as Tax IDs, Addresses, Phone Numbers and other information</a:t>
            </a:r>
            <a:r>
              <a:rPr lang="en-US" dirty="0" smtClean="0">
                <a:latin typeface="Arial" pitchFamily="34" charset="0"/>
              </a:rPr>
              <a:t>.</a:t>
            </a:r>
            <a:r>
              <a:rPr lang="en-US" baseline="0" dirty="0" smtClean="0">
                <a:latin typeface="Arial" pitchFamily="34" charset="0"/>
              </a:rPr>
              <a:t> More on this will be discussed later.</a:t>
            </a:r>
            <a:endParaRPr lang="en-US" dirty="0" smtClean="0">
              <a:latin typeface="Arial" pitchFamily="34" charset="0"/>
            </a:endParaRPr>
          </a:p>
          <a:p>
            <a:pPr eaLnBrk="1" hangingPunct="1"/>
            <a:endParaRPr lang="en-US" dirty="0" smtClean="0">
              <a:latin typeface="Arial" pitchFamily="34" charset="0"/>
            </a:endParaRPr>
          </a:p>
          <a:p>
            <a:pPr eaLnBrk="1" hangingPunct="1"/>
            <a:r>
              <a:rPr lang="en-US" dirty="0" smtClean="0">
                <a:latin typeface="Arial" pitchFamily="34" charset="0"/>
              </a:rPr>
              <a:t>Vendor managers execute their work within Address Book. They create contacts in Address Book which can be used across multiple ClaimCenter claims. Their changes and edits to contacts are automatically synced to ClaimCenter users.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|EON~017|</a:t>
            </a:r>
            <a:endParaRPr lang="en-US" sz="100">
              <a:solidFill>
                <a:srgbClr val="FFFFFF"/>
              </a:solidFill>
              <a:latin typeface="Arial"/>
            </a:endParaRPr>
          </a:p>
        </p:txBody>
      </p:sp>
      <p:sp>
        <p:nvSpPr>
          <p:cNvPr id="798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798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72B9334B-91B0-4980-BC67-7E1145904B01}" type="slidenum">
              <a:rPr lang="en-US" altLang="en-US" sz="1200" smtClean="0">
                <a:solidFill>
                  <a:schemeClr val="tx1"/>
                </a:solidFill>
              </a:rPr>
              <a:pPr eaLnBrk="1" hangingPunct="1"/>
              <a:t>17</a:t>
            </a:fld>
            <a:endParaRPr lang="en-US" altLang="en-US" sz="1200" smtClean="0">
              <a:solidFill>
                <a:schemeClr val="tx1"/>
              </a:solidFill>
            </a:endParaRPr>
          </a:p>
        </p:txBody>
      </p:sp>
      <p:sp>
        <p:nvSpPr>
          <p:cNvPr id="79876" name="Rectangle 2"/>
          <p:cNvSpPr>
            <a:spLocks noGrp="1" noRot="1" noChangeAspect="1" noChangeArrowheads="1" noTextEdit="1"/>
          </p:cNvSpPr>
          <p:nvPr>
            <p:ph type="sldImg"/>
          </p:nvPr>
        </p:nvSpPr>
        <p:spPr>
          <a:xfrm>
            <a:off x="715963" y="630238"/>
            <a:ext cx="5432425" cy="4073525"/>
          </a:xfrm>
          <a:ln/>
        </p:spPr>
      </p:sp>
      <p:sp>
        <p:nvSpPr>
          <p:cNvPr id="798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latin typeface="Arial" pitchFamily="34" charset="0"/>
              </a:rPr>
              <a:t>Within ClaimCenter, contacts </a:t>
            </a:r>
            <a:r>
              <a:rPr lang="en-US" dirty="0" smtClean="0">
                <a:latin typeface="Arial" pitchFamily="34" charset="0"/>
              </a:rPr>
              <a:t>only exist </a:t>
            </a:r>
            <a:r>
              <a:rPr lang="en-US" dirty="0" smtClean="0">
                <a:latin typeface="Arial" pitchFamily="34" charset="0"/>
              </a:rPr>
              <a:t>when associated to </a:t>
            </a:r>
            <a:r>
              <a:rPr lang="en-US" dirty="0" smtClean="0">
                <a:latin typeface="Arial" pitchFamily="34" charset="0"/>
              </a:rPr>
              <a:t>a</a:t>
            </a:r>
            <a:r>
              <a:rPr lang="en-US" baseline="0" dirty="0" smtClean="0">
                <a:latin typeface="Arial" pitchFamily="34" charset="0"/>
              </a:rPr>
              <a:t> </a:t>
            </a:r>
            <a:r>
              <a:rPr lang="en-US" dirty="0" smtClean="0">
                <a:latin typeface="Arial" pitchFamily="34" charset="0"/>
              </a:rPr>
              <a:t>claim </a:t>
            </a:r>
            <a:r>
              <a:rPr lang="en-US" dirty="0" smtClean="0">
                <a:latin typeface="Arial" pitchFamily="34" charset="0"/>
              </a:rPr>
              <a:t>(i.e. a </a:t>
            </a:r>
            <a:r>
              <a:rPr lang="en-US" dirty="0" smtClean="0">
                <a:latin typeface="Arial" pitchFamily="34" charset="0"/>
              </a:rPr>
              <a:t>passenger, </a:t>
            </a:r>
            <a:r>
              <a:rPr lang="en-US" dirty="0" smtClean="0">
                <a:latin typeface="Arial" pitchFamily="34" charset="0"/>
              </a:rPr>
              <a:t>injured</a:t>
            </a:r>
            <a:r>
              <a:rPr lang="en-US" baseline="0" dirty="0" smtClean="0">
                <a:latin typeface="Arial" pitchFamily="34" charset="0"/>
              </a:rPr>
              <a:t> </a:t>
            </a:r>
            <a:r>
              <a:rPr lang="en-US" baseline="0" dirty="0" smtClean="0">
                <a:latin typeface="Arial" pitchFamily="34" charset="0"/>
              </a:rPr>
              <a:t>party or vendor).</a:t>
            </a:r>
            <a:r>
              <a:rPr lang="en-US" dirty="0" smtClean="0">
                <a:latin typeface="Arial" pitchFamily="34" charset="0"/>
              </a:rPr>
              <a:t> Consequently</a:t>
            </a:r>
            <a:r>
              <a:rPr lang="en-US" dirty="0" smtClean="0">
                <a:latin typeface="Arial" pitchFamily="34" charset="0"/>
              </a:rPr>
              <a:t>, you can only create a contact from a </a:t>
            </a:r>
            <a:r>
              <a:rPr lang="en-US" dirty="0" smtClean="0">
                <a:latin typeface="Arial" pitchFamily="34" charset="0"/>
              </a:rPr>
              <a:t>claim,</a:t>
            </a:r>
            <a:r>
              <a:rPr lang="en-US" baseline="0" dirty="0" smtClean="0">
                <a:latin typeface="Arial" pitchFamily="34" charset="0"/>
              </a:rPr>
              <a:t> and not independently of a claim in ClaimCenter.</a:t>
            </a:r>
            <a:r>
              <a:rPr lang="en-US" dirty="0" smtClean="0">
                <a:latin typeface="Arial" pitchFamily="34" charset="0"/>
              </a:rPr>
              <a:t> There </a:t>
            </a:r>
            <a:r>
              <a:rPr lang="en-US" dirty="0" smtClean="0">
                <a:latin typeface="Arial" pitchFamily="34" charset="0"/>
              </a:rPr>
              <a:t>are </a:t>
            </a:r>
            <a:r>
              <a:rPr lang="en-US" dirty="0" smtClean="0">
                <a:latin typeface="Arial" pitchFamily="34" charset="0"/>
              </a:rPr>
              <a:t>two </a:t>
            </a:r>
            <a:r>
              <a:rPr lang="en-US" dirty="0" smtClean="0">
                <a:latin typeface="Arial" pitchFamily="34" charset="0"/>
              </a:rPr>
              <a:t>approaches for adding a contact to a claim:</a:t>
            </a:r>
          </a:p>
          <a:p>
            <a:pPr marL="457200" lvl="1" indent="-228600" eaLnBrk="1" hangingPunct="1">
              <a:buFont typeface="+mj-lt"/>
              <a:buAutoNum type="arabicPeriod"/>
            </a:pPr>
            <a:r>
              <a:rPr lang="en-US" dirty="0" smtClean="0">
                <a:latin typeface="Arial" pitchFamily="34" charset="0"/>
              </a:rPr>
              <a:t>You can add </a:t>
            </a:r>
            <a:r>
              <a:rPr lang="en-US" dirty="0" smtClean="0">
                <a:latin typeface="Arial" pitchFamily="34" charset="0"/>
              </a:rPr>
              <a:t>a non-vendor “New </a:t>
            </a:r>
            <a:r>
              <a:rPr lang="en-US" dirty="0" smtClean="0">
                <a:latin typeface="Arial" pitchFamily="34" charset="0"/>
              </a:rPr>
              <a:t>Contact” in “Parties Involved”. In this case, the contact is a local contact who exists only in ClaimCenter. The minimal information for a contact must be specified at the time you add the contact to the claim.</a:t>
            </a:r>
          </a:p>
          <a:p>
            <a:pPr marL="457200" lvl="1" indent="-228600" eaLnBrk="1" hangingPunct="1">
              <a:buFont typeface="+mj-lt"/>
              <a:buAutoNum type="arabicPeriod"/>
            </a:pPr>
            <a:r>
              <a:rPr lang="en-US" dirty="0" smtClean="0">
                <a:latin typeface="Arial" pitchFamily="34" charset="0"/>
              </a:rPr>
              <a:t>You </a:t>
            </a:r>
            <a:r>
              <a:rPr lang="en-US" dirty="0" smtClean="0">
                <a:latin typeface="Arial" pitchFamily="34" charset="0"/>
              </a:rPr>
              <a:t>can add an </a:t>
            </a:r>
            <a:r>
              <a:rPr lang="en-US" dirty="0" smtClean="0">
                <a:latin typeface="Arial" pitchFamily="34" charset="0"/>
              </a:rPr>
              <a:t>“Existing Contact” </a:t>
            </a:r>
            <a:r>
              <a:rPr lang="en-US" dirty="0" smtClean="0">
                <a:latin typeface="Arial" pitchFamily="34" charset="0"/>
              </a:rPr>
              <a:t>in “Parties Involved</a:t>
            </a:r>
            <a:r>
              <a:rPr lang="en-US" dirty="0" smtClean="0">
                <a:latin typeface="Arial" pitchFamily="34" charset="0"/>
              </a:rPr>
              <a:t>”. This will “pull” a vendor contact from the</a:t>
            </a:r>
            <a:r>
              <a:rPr lang="en-US" baseline="0" dirty="0" smtClean="0">
                <a:latin typeface="Arial" pitchFamily="34" charset="0"/>
              </a:rPr>
              <a:t> Address Book into ClaimCenter.</a:t>
            </a:r>
            <a:r>
              <a:rPr lang="en-US" dirty="0" smtClean="0">
                <a:latin typeface="Arial" pitchFamily="34" charset="0"/>
              </a:rPr>
              <a:t> </a:t>
            </a:r>
            <a:r>
              <a:rPr lang="en-US" dirty="0" smtClean="0">
                <a:latin typeface="Arial" pitchFamily="34" charset="0"/>
              </a:rPr>
              <a:t>In this case, you search for and identify an Address Book </a:t>
            </a:r>
            <a:r>
              <a:rPr lang="en-US" dirty="0" smtClean="0">
                <a:latin typeface="Arial" pitchFamily="34" charset="0"/>
              </a:rPr>
              <a:t>contact to add to the</a:t>
            </a:r>
            <a:r>
              <a:rPr lang="en-US" baseline="0" dirty="0" smtClean="0">
                <a:latin typeface="Arial" pitchFamily="34" charset="0"/>
              </a:rPr>
              <a:t> claim</a:t>
            </a:r>
            <a:r>
              <a:rPr lang="en-US" dirty="0" smtClean="0">
                <a:latin typeface="Arial" pitchFamily="34" charset="0"/>
              </a:rPr>
              <a:t>. </a:t>
            </a:r>
            <a:r>
              <a:rPr lang="en-US" dirty="0" smtClean="0">
                <a:latin typeface="Arial" pitchFamily="34" charset="0"/>
              </a:rPr>
              <a:t>A new object is still created in ClaimCenter, but the information for that object is copied from Address Book. The objects are automatically linked</a:t>
            </a:r>
            <a:r>
              <a:rPr lang="en-US" dirty="0" smtClean="0">
                <a:latin typeface="Arial" pitchFamily="34" charset="0"/>
              </a:rPr>
              <a:t>.</a:t>
            </a:r>
          </a:p>
          <a:p>
            <a:pPr marL="228600" lvl="1" indent="0" eaLnBrk="1" hangingPunct="1">
              <a:buNone/>
            </a:pPr>
            <a:endParaRPr lang="en-US" dirty="0" smtClean="0">
              <a:latin typeface="Arial" pitchFamily="34" charset="0"/>
            </a:endParaRPr>
          </a:p>
          <a:p>
            <a:pPr marL="0" lvl="0" indent="-114300" eaLnBrk="1" hangingPunct="1">
              <a:buNone/>
            </a:pPr>
            <a:r>
              <a:rPr lang="en-US" dirty="0" smtClean="0">
                <a:latin typeface="Arial" pitchFamily="34" charset="0"/>
              </a:rPr>
              <a:t>NOTE:</a:t>
            </a:r>
            <a:r>
              <a:rPr lang="en-US" baseline="0" dirty="0" smtClean="0">
                <a:latin typeface="Arial" pitchFamily="34" charset="0"/>
              </a:rPr>
              <a:t> Contacts may also be added to a claim by adding a new vendor on a Service Request, or by choosing an existing vendor on a Service Request. This process is discussed in the subsequent “Shared Contacts” lesson.</a:t>
            </a:r>
            <a:endParaRPr lang="en-US" dirty="0" smtClean="0">
              <a:latin typeface="Arial" pitchFamily="34" charset="0"/>
            </a:endParaRPr>
          </a:p>
          <a:p>
            <a:pPr eaLnBrk="1" hangingPunct="1"/>
            <a:endParaRPr lang="en-US" dirty="0" smtClean="0">
              <a:latin typeface="Arial"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|EON~018|</a:t>
            </a:r>
            <a:endParaRPr lang="en-US" sz="100">
              <a:solidFill>
                <a:srgbClr val="FFFFFF"/>
              </a:solidFill>
              <a:latin typeface="Arial"/>
            </a:endParaRPr>
          </a:p>
        </p:txBody>
      </p:sp>
      <p:sp>
        <p:nvSpPr>
          <p:cNvPr id="808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808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1B2284AD-18C0-4F33-A385-B1430D87E7D8}" type="slidenum">
              <a:rPr lang="en-US" altLang="en-US" sz="1200" smtClean="0">
                <a:solidFill>
                  <a:schemeClr val="tx1"/>
                </a:solidFill>
              </a:rPr>
              <a:pPr eaLnBrk="1" hangingPunct="1"/>
              <a:t>18</a:t>
            </a:fld>
            <a:endParaRPr lang="en-US" altLang="en-US" sz="1200" smtClean="0">
              <a:solidFill>
                <a:schemeClr val="tx1"/>
              </a:solidFill>
            </a:endParaRPr>
          </a:p>
        </p:txBody>
      </p:sp>
      <p:sp>
        <p:nvSpPr>
          <p:cNvPr id="80900" name="Rectangle 2"/>
          <p:cNvSpPr>
            <a:spLocks noGrp="1" noRot="1" noChangeAspect="1" noChangeArrowheads="1" noTextEdit="1"/>
          </p:cNvSpPr>
          <p:nvPr>
            <p:ph type="sldImg"/>
          </p:nvPr>
        </p:nvSpPr>
        <p:spPr>
          <a:xfrm>
            <a:off x="715963" y="630238"/>
            <a:ext cx="5432425" cy="4073525"/>
          </a:xfrm>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latin typeface="Arial" pitchFamily="34" charset="0"/>
              </a:rPr>
              <a:t>Changes made in Address Book are automatically</a:t>
            </a:r>
            <a:r>
              <a:rPr lang="en-US" baseline="0" dirty="0" smtClean="0">
                <a:latin typeface="Arial" pitchFamily="34" charset="0"/>
              </a:rPr>
              <a:t> synced</a:t>
            </a:r>
            <a:r>
              <a:rPr lang="en-US" dirty="0" smtClean="0">
                <a:latin typeface="Arial" pitchFamily="34" charset="0"/>
              </a:rPr>
              <a:t> to the ClaimCenter object. In the example,</a:t>
            </a:r>
            <a:r>
              <a:rPr lang="en-US" baseline="0" dirty="0" smtClean="0">
                <a:latin typeface="Arial" pitchFamily="34" charset="0"/>
              </a:rPr>
              <a:t> the phone number is changed in ContactManager and synced immediately to contacts on claims:</a:t>
            </a:r>
            <a:br>
              <a:rPr lang="en-US" baseline="0" dirty="0" smtClean="0">
                <a:latin typeface="Arial" pitchFamily="34" charset="0"/>
              </a:rPr>
            </a:br>
            <a:r>
              <a:rPr lang="en-US" baseline="0" dirty="0" smtClean="0">
                <a:latin typeface="Arial" pitchFamily="34" charset="0"/>
              </a:rPr>
              <a:t/>
            </a:r>
            <a:br>
              <a:rPr lang="en-US" baseline="0" dirty="0" smtClean="0">
                <a:latin typeface="Arial" pitchFamily="34" charset="0"/>
              </a:rPr>
            </a:br>
            <a:r>
              <a:rPr lang="en-US" baseline="0" dirty="0" smtClean="0">
                <a:latin typeface="Arial" pitchFamily="34" charset="0"/>
              </a:rPr>
              <a:t>1. </a:t>
            </a:r>
            <a:r>
              <a:rPr lang="en-US" sz="1000" b="0" i="0" kern="1200" dirty="0" smtClean="0">
                <a:solidFill>
                  <a:schemeClr val="tx1"/>
                </a:solidFill>
                <a:effectLst/>
                <a:latin typeface="Arial" charset="0"/>
                <a:ea typeface="+mn-ea"/>
                <a:cs typeface="+mn-cs"/>
              </a:rPr>
              <a:t>Both contacts have</a:t>
            </a:r>
            <a:r>
              <a:rPr lang="en-US" sz="1000" b="0" i="0" kern="1200" baseline="0" dirty="0" smtClean="0">
                <a:solidFill>
                  <a:schemeClr val="tx1"/>
                </a:solidFill>
                <a:effectLst/>
                <a:latin typeface="Arial" charset="0"/>
                <a:ea typeface="+mn-ea"/>
                <a:cs typeface="+mn-cs"/>
              </a:rPr>
              <a:t> same phone number</a:t>
            </a:r>
            <a:r>
              <a:rPr lang="en-US" dirty="0" smtClean="0"/>
              <a:t/>
            </a:r>
            <a:br>
              <a:rPr lang="en-US" dirty="0" smtClean="0"/>
            </a:br>
            <a:r>
              <a:rPr lang="en-US" dirty="0" smtClean="0"/>
              <a:t>2. </a:t>
            </a:r>
            <a:r>
              <a:rPr lang="en-US" sz="1000" b="0" i="0" kern="1200" dirty="0" smtClean="0">
                <a:solidFill>
                  <a:schemeClr val="tx1"/>
                </a:solidFill>
                <a:effectLst/>
                <a:latin typeface="Arial" charset="0"/>
                <a:ea typeface="+mn-ea"/>
                <a:cs typeface="+mn-cs"/>
              </a:rPr>
              <a:t>Change is applied to AB copy of Dr. Matt Sawyer so both contacts now out of sync (temporarily)</a:t>
            </a:r>
            <a:r>
              <a:rPr lang="en-US" dirty="0" smtClean="0"/>
              <a:t/>
            </a:r>
            <a:br>
              <a:rPr lang="en-US" dirty="0" smtClean="0"/>
            </a:br>
            <a:r>
              <a:rPr lang="en-US" dirty="0" smtClean="0"/>
              <a:t>3. </a:t>
            </a:r>
            <a:r>
              <a:rPr lang="en-US" sz="1000" b="0" i="0" kern="1200" dirty="0" smtClean="0">
                <a:solidFill>
                  <a:schemeClr val="tx1"/>
                </a:solidFill>
                <a:effectLst/>
                <a:latin typeface="Arial" charset="0"/>
                <a:ea typeface="+mn-ea"/>
                <a:cs typeface="+mn-cs"/>
              </a:rPr>
              <a:t>Changes are pushed immediately</a:t>
            </a:r>
            <a:r>
              <a:rPr lang="en-US" sz="1000" b="0" i="0" kern="1200" baseline="0" dirty="0" smtClean="0">
                <a:solidFill>
                  <a:schemeClr val="tx1"/>
                </a:solidFill>
                <a:effectLst/>
                <a:latin typeface="Arial" charset="0"/>
                <a:ea typeface="+mn-ea"/>
                <a:cs typeface="+mn-cs"/>
              </a:rPr>
              <a:t> from AB </a:t>
            </a:r>
            <a:r>
              <a:rPr lang="en-US" sz="1000" b="0" i="0" kern="1200" dirty="0" smtClean="0">
                <a:solidFill>
                  <a:schemeClr val="tx1"/>
                </a:solidFill>
                <a:effectLst/>
                <a:latin typeface="Arial" charset="0"/>
                <a:ea typeface="+mn-ea"/>
                <a:cs typeface="+mn-cs"/>
              </a:rPr>
              <a:t>and now both</a:t>
            </a:r>
            <a:r>
              <a:rPr lang="en-US" sz="1000" b="0" i="0" kern="1200" baseline="0" dirty="0" smtClean="0">
                <a:solidFill>
                  <a:schemeClr val="tx1"/>
                </a:solidFill>
                <a:effectLst/>
                <a:latin typeface="Arial" charset="0"/>
                <a:ea typeface="+mn-ea"/>
                <a:cs typeface="+mn-cs"/>
              </a:rPr>
              <a:t> copies</a:t>
            </a:r>
            <a:r>
              <a:rPr lang="en-US" sz="1000" b="0" i="0" kern="1200" dirty="0" smtClean="0">
                <a:solidFill>
                  <a:schemeClr val="tx1"/>
                </a:solidFill>
                <a:effectLst/>
                <a:latin typeface="Arial" charset="0"/>
                <a:ea typeface="+mn-ea"/>
                <a:cs typeface="+mn-cs"/>
              </a:rPr>
              <a:t> are in sync again</a:t>
            </a:r>
            <a:br>
              <a:rPr lang="en-US" sz="1000" b="0" i="0" kern="1200" dirty="0" smtClean="0">
                <a:solidFill>
                  <a:schemeClr val="tx1"/>
                </a:solidFill>
                <a:effectLst/>
                <a:latin typeface="Arial" charset="0"/>
                <a:ea typeface="+mn-ea"/>
                <a:cs typeface="+mn-cs"/>
              </a:rPr>
            </a:br>
            <a:r>
              <a:rPr lang="en-US" sz="1000" b="0" i="0" kern="1200" dirty="0" smtClean="0">
                <a:solidFill>
                  <a:schemeClr val="tx1"/>
                </a:solidFill>
                <a:effectLst/>
                <a:latin typeface="Arial" charset="0"/>
                <a:ea typeface="+mn-ea"/>
                <a:cs typeface="+mn-cs"/>
              </a:rPr>
              <a:t/>
            </a:r>
            <a:br>
              <a:rPr lang="en-US" sz="1000" b="0" i="0" kern="1200" dirty="0" smtClean="0">
                <a:solidFill>
                  <a:schemeClr val="tx1"/>
                </a:solidFill>
                <a:effectLst/>
                <a:latin typeface="Arial" charset="0"/>
                <a:ea typeface="+mn-ea"/>
                <a:cs typeface="+mn-cs"/>
              </a:rPr>
            </a:br>
            <a:r>
              <a:rPr lang="en-US" dirty="0" smtClean="0">
                <a:latin typeface="Arial" pitchFamily="34" charset="0"/>
              </a:rPr>
              <a:t>The</a:t>
            </a:r>
            <a:r>
              <a:rPr lang="en-US" baseline="0" dirty="0" smtClean="0">
                <a:latin typeface="Arial" pitchFamily="34" charset="0"/>
              </a:rPr>
              <a:t> details of synced and shared contacts are explained further in the “Shared Contacts” lesson. </a:t>
            </a:r>
            <a:endParaRPr lang="en-US" dirty="0" smtClean="0">
              <a:latin typeface="Arial"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|EON~019|</a:t>
            </a:r>
            <a:endParaRPr lang="en-US" sz="100">
              <a:solidFill>
                <a:srgbClr val="FFFFFF"/>
              </a:solidFill>
              <a:latin typeface="Arial"/>
            </a:endParaRPr>
          </a:p>
        </p:txBody>
      </p:sp>
      <p:sp>
        <p:nvSpPr>
          <p:cNvPr id="819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819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EB8A5C94-B2EF-4236-92D7-C0BB17B2E1B6}" type="slidenum">
              <a:rPr lang="en-US" altLang="en-US" sz="1200" smtClean="0">
                <a:solidFill>
                  <a:schemeClr val="tx1"/>
                </a:solidFill>
              </a:rPr>
              <a:pPr eaLnBrk="1" hangingPunct="1"/>
              <a:t>19</a:t>
            </a:fld>
            <a:endParaRPr lang="en-US" altLang="en-US" sz="1200" smtClean="0">
              <a:solidFill>
                <a:schemeClr val="tx1"/>
              </a:solidFill>
            </a:endParaRPr>
          </a:p>
        </p:txBody>
      </p:sp>
      <p:sp>
        <p:nvSpPr>
          <p:cNvPr id="81924" name="Rectangle 2"/>
          <p:cNvSpPr>
            <a:spLocks noGrp="1" noRot="1" noChangeAspect="1" noChangeArrowheads="1" noTextEdit="1"/>
          </p:cNvSpPr>
          <p:nvPr>
            <p:ph type="sldImg"/>
          </p:nvPr>
        </p:nvSpPr>
        <p:spPr>
          <a:xfrm>
            <a:off x="715963" y="630238"/>
            <a:ext cx="5432425" cy="4073525"/>
          </a:xfrm>
          <a:ln/>
        </p:spPr>
      </p:sp>
      <p:sp>
        <p:nvSpPr>
          <p:cNvPr id="819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latin typeface="Arial" pitchFamily="34" charset="0"/>
              </a:rPr>
              <a:t>Within Guidewire ContactManager (which is also sometimes referred to as Address Book), contacts can exist without a relationship to anything else. The typical approach for adding a contact within ContactManager</a:t>
            </a:r>
            <a:r>
              <a:rPr lang="en-US" baseline="0" dirty="0" smtClean="0">
                <a:latin typeface="Arial" pitchFamily="34" charset="0"/>
              </a:rPr>
              <a:t> </a:t>
            </a:r>
            <a:r>
              <a:rPr lang="en-US" dirty="0" smtClean="0">
                <a:latin typeface="Arial" pitchFamily="34" charset="0"/>
              </a:rPr>
              <a:t>is to open</a:t>
            </a:r>
            <a:r>
              <a:rPr lang="en-US" baseline="0" dirty="0" smtClean="0">
                <a:latin typeface="Arial" pitchFamily="34" charset="0"/>
              </a:rPr>
              <a:t> ContactManager </a:t>
            </a:r>
            <a:r>
              <a:rPr lang="en-US" dirty="0" smtClean="0">
                <a:latin typeface="Arial" pitchFamily="34" charset="0"/>
              </a:rPr>
              <a:t>directly and create a new contact. This functionality is typically reserved for a small number of individuals who are responsible for maintaining the contact information for shared</a:t>
            </a:r>
            <a:r>
              <a:rPr lang="en-US" baseline="0" dirty="0" smtClean="0">
                <a:latin typeface="Arial" pitchFamily="34" charset="0"/>
              </a:rPr>
              <a:t> </a:t>
            </a:r>
            <a:r>
              <a:rPr lang="en-US" dirty="0" smtClean="0">
                <a:latin typeface="Arial" pitchFamily="34" charset="0"/>
              </a:rPr>
              <a:t>contacts.</a:t>
            </a:r>
          </a:p>
          <a:p>
            <a:pPr eaLnBrk="1" hangingPunct="1"/>
            <a:r>
              <a:rPr lang="en-US" dirty="0" smtClean="0">
                <a:latin typeface="Arial" pitchFamily="34" charset="0"/>
              </a:rPr>
              <a:t>There is one other situation in which a contact can be created in Address Book. If you attempt to link a ClaimCenter contact to Address Book, ClaimCenter searches for a matching object. If it cannot find one and if the user executing the linking </a:t>
            </a:r>
            <a:r>
              <a:rPr lang="en-US" i="1" dirty="0" smtClean="0">
                <a:latin typeface="Arial" pitchFamily="34" charset="0"/>
              </a:rPr>
              <a:t>has sufficient permissions</a:t>
            </a:r>
            <a:r>
              <a:rPr lang="en-US" dirty="0" smtClean="0">
                <a:latin typeface="Arial" pitchFamily="34" charset="0"/>
              </a:rPr>
              <a:t>, then an object is created in Address Book and linked to the </a:t>
            </a:r>
            <a:r>
              <a:rPr lang="en-US" dirty="0" err="1" smtClean="0">
                <a:latin typeface="Arial" pitchFamily="34" charset="0"/>
              </a:rPr>
              <a:t>ClaimCenter</a:t>
            </a:r>
            <a:r>
              <a:rPr lang="en-US" dirty="0" smtClean="0">
                <a:latin typeface="Arial" pitchFamily="34" charset="0"/>
              </a:rPr>
              <a:t>.</a:t>
            </a:r>
            <a:r>
              <a:rPr lang="en-US" baseline="0" dirty="0" smtClean="0">
                <a:latin typeface="Arial" pitchFamily="34" charset="0"/>
              </a:rPr>
              <a:t> If a user does not have permission (typically true for vendor contact addition) then ContactManager has additional checks / approval before adding the new contact. The “Shared Contacts” lesson discusses the behavior in more detail. </a:t>
            </a:r>
            <a:endParaRPr lang="en-US" dirty="0" smtClean="0">
              <a:latin typeface="Arial"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|EON~020|</a:t>
            </a:r>
            <a:endParaRPr lang="en-US" sz="100">
              <a:solidFill>
                <a:srgbClr val="FFFFFF"/>
              </a:solidFill>
              <a:latin typeface="Arial"/>
            </a:endParaRPr>
          </a:p>
        </p:txBody>
      </p:sp>
      <p:sp>
        <p:nvSpPr>
          <p:cNvPr id="829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829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8F337AE2-6821-4F5C-9AC4-DE7DEAC9FF59}" type="slidenum">
              <a:rPr lang="en-US" altLang="en-US" sz="1200" smtClean="0">
                <a:solidFill>
                  <a:schemeClr val="tx1"/>
                </a:solidFill>
              </a:rPr>
              <a:pPr eaLnBrk="1" hangingPunct="1"/>
              <a:t>20</a:t>
            </a:fld>
            <a:endParaRPr lang="en-US" altLang="en-US" sz="1200" smtClean="0">
              <a:solidFill>
                <a:schemeClr val="tx1"/>
              </a:solidFill>
            </a:endParaRPr>
          </a:p>
        </p:txBody>
      </p:sp>
      <p:sp>
        <p:nvSpPr>
          <p:cNvPr id="82948" name="Rectangle 2"/>
          <p:cNvSpPr>
            <a:spLocks noGrp="1" noRot="1" noChangeAspect="1" noChangeArrowheads="1" noTextEdit="1"/>
          </p:cNvSpPr>
          <p:nvPr>
            <p:ph type="sldImg"/>
          </p:nvPr>
        </p:nvSpPr>
        <p:spPr>
          <a:xfrm>
            <a:off x="715963" y="630238"/>
            <a:ext cx="5432425" cy="4073525"/>
          </a:xfrm>
          <a:ln/>
        </p:spPr>
      </p:sp>
      <p:sp>
        <p:nvSpPr>
          <p:cNvPr id="829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latin typeface="Arial" pitchFamily="34" charset="0"/>
              </a:rPr>
              <a:t>Information exchange</a:t>
            </a:r>
          </a:p>
          <a:p>
            <a:pPr lvl="1" eaLnBrk="1" hangingPunct="1"/>
            <a:r>
              <a:rPr lang="en-US" dirty="0" err="1" smtClean="0">
                <a:latin typeface="Arial" pitchFamily="34" charset="0"/>
              </a:rPr>
              <a:t>ClaimCenter</a:t>
            </a:r>
            <a:r>
              <a:rPr lang="en-US" dirty="0" smtClean="0">
                <a:latin typeface="Arial" pitchFamily="34" charset="0"/>
              </a:rPr>
              <a:t> typically sends search criteria</a:t>
            </a:r>
          </a:p>
          <a:p>
            <a:pPr lvl="1" eaLnBrk="1" hangingPunct="1"/>
            <a:r>
              <a:rPr lang="en-US" dirty="0" err="1" smtClean="0">
                <a:latin typeface="Arial" pitchFamily="34" charset="0"/>
              </a:rPr>
              <a:t>ClaimCenter</a:t>
            </a:r>
            <a:r>
              <a:rPr lang="en-US" dirty="0" smtClean="0">
                <a:latin typeface="Arial" pitchFamily="34" charset="0"/>
              </a:rPr>
              <a:t> receives information about contacts, which could be the objects matching search criteria, but it could also be data about a linked contact which needs to be synced</a:t>
            </a:r>
          </a:p>
          <a:p>
            <a:pPr eaLnBrk="1" hangingPunct="1"/>
            <a:r>
              <a:rPr lang="en-US" dirty="0" smtClean="0">
                <a:latin typeface="Arial" pitchFamily="34" charset="0"/>
              </a:rPr>
              <a:t>Although </a:t>
            </a:r>
            <a:r>
              <a:rPr lang="en-US" dirty="0" err="1" smtClean="0">
                <a:latin typeface="Arial" pitchFamily="34" charset="0"/>
              </a:rPr>
              <a:t>ContactManager</a:t>
            </a:r>
            <a:r>
              <a:rPr lang="en-US" dirty="0" smtClean="0">
                <a:latin typeface="Arial" pitchFamily="34" charset="0"/>
              </a:rPr>
              <a:t> is used for nearly every implementation of </a:t>
            </a:r>
            <a:r>
              <a:rPr lang="en-US" dirty="0" err="1" smtClean="0">
                <a:latin typeface="Arial" pitchFamily="34" charset="0"/>
              </a:rPr>
              <a:t>ClaimCenter</a:t>
            </a:r>
            <a:r>
              <a:rPr lang="en-US" dirty="0" smtClean="0">
                <a:latin typeface="Arial" pitchFamily="34" charset="0"/>
              </a:rPr>
              <a:t>, this is not a requirement. </a:t>
            </a:r>
            <a:r>
              <a:rPr lang="en-US" dirty="0" err="1" smtClean="0">
                <a:latin typeface="Arial" pitchFamily="34" charset="0"/>
              </a:rPr>
              <a:t>ClaimCenter</a:t>
            </a:r>
            <a:r>
              <a:rPr lang="en-US" dirty="0" smtClean="0">
                <a:latin typeface="Arial" pitchFamily="34" charset="0"/>
              </a:rPr>
              <a:t> can be integrated to any external address book application.</a:t>
            </a:r>
          </a:p>
          <a:p>
            <a:pPr eaLnBrk="1" hangingPunct="1"/>
            <a:r>
              <a:rPr lang="en-US" dirty="0" smtClean="0">
                <a:latin typeface="Arial" pitchFamily="34" charset="0"/>
              </a:rPr>
              <a:t>ClaimCenter can also send information about new contacts to be created or edited in the address book,</a:t>
            </a:r>
            <a:r>
              <a:rPr lang="en-US" baseline="0" dirty="0" smtClean="0">
                <a:latin typeface="Arial" pitchFamily="34" charset="0"/>
              </a:rPr>
              <a:t> and an example of this (for an auto claim) includes vendors created during creation of service requests. For adjusters, these additions and changes are usually pending approval by a vendor manager in the address book. Likewise, contacts and vendors can be managed and edited in ContactManager. While</a:t>
            </a:r>
            <a:r>
              <a:rPr lang="en-US" dirty="0" smtClean="0">
                <a:latin typeface="Arial" pitchFamily="34" charset="0"/>
              </a:rPr>
              <a:t> service requests are likely not to be used on other kinds of claims (such as workers’ compensation), contact creation can occur within ClaimCenter on other types of claims by adding vendors from the “Parties Involved” screen.</a:t>
            </a:r>
          </a:p>
          <a:p>
            <a:pPr eaLnBrk="1" hangingPunct="1"/>
            <a:r>
              <a:rPr lang="en-US" dirty="0" smtClean="0">
                <a:latin typeface="Arial" pitchFamily="34" charset="0"/>
              </a:rPr>
              <a:t>The data models for contacts do not have to be identical in both systems. But the fields shared across the two systems (such as first and last name, phone number, and so on) do need to be identical.</a:t>
            </a:r>
          </a:p>
          <a:p>
            <a:pPr eaLnBrk="1" hangingPunct="1"/>
            <a:r>
              <a:rPr lang="en-US" dirty="0" smtClean="0">
                <a:latin typeface="Arial" pitchFamily="34" charset="0"/>
              </a:rPr>
              <a:t>The effort around planning and configuring this integration point is typically minimal. </a:t>
            </a:r>
            <a:r>
              <a:rPr lang="en-US" dirty="0" err="1" smtClean="0">
                <a:latin typeface="Arial" pitchFamily="34" charset="0"/>
              </a:rPr>
              <a:t>ContactManager</a:t>
            </a:r>
            <a:r>
              <a:rPr lang="en-US" dirty="0" smtClean="0">
                <a:latin typeface="Arial" pitchFamily="34" charset="0"/>
              </a:rPr>
              <a:t> was designed for easy integration with </a:t>
            </a:r>
            <a:r>
              <a:rPr lang="en-US" dirty="0" err="1" smtClean="0">
                <a:latin typeface="Arial" pitchFamily="34" charset="0"/>
              </a:rPr>
              <a:t>ClaimCenter</a:t>
            </a:r>
            <a:r>
              <a:rPr lang="en-US" dirty="0" smtClean="0">
                <a:latin typeface="Arial" pitchFamily="34" charset="0"/>
              </a:rPr>
              <a:t>.</a:t>
            </a:r>
          </a:p>
          <a:p>
            <a:pPr eaLnBrk="1" hangingPunct="1"/>
            <a:r>
              <a:rPr lang="en-US" dirty="0" smtClean="0">
                <a:latin typeface="Arial" pitchFamily="34" charset="0"/>
              </a:rPr>
              <a:t>A given instance of </a:t>
            </a:r>
            <a:r>
              <a:rPr lang="en-US" dirty="0" err="1" smtClean="0">
                <a:latin typeface="Arial" pitchFamily="34" charset="0"/>
              </a:rPr>
              <a:t>ClaimCenter</a:t>
            </a:r>
            <a:r>
              <a:rPr lang="en-US" dirty="0" smtClean="0">
                <a:latin typeface="Arial" pitchFamily="34" charset="0"/>
              </a:rPr>
              <a:t> is typically integrated with a single address book application.</a:t>
            </a:r>
          </a:p>
          <a:p>
            <a:pPr eaLnBrk="1" hangingPunct="1"/>
            <a:endParaRPr lang="en-US" dirty="0" smtClean="0">
              <a:latin typeface="Arial" pitchFamily="34" charset="0"/>
            </a:endParaRPr>
          </a:p>
          <a:p>
            <a:pPr eaLnBrk="1" hangingPunct="1"/>
            <a:endParaRPr lang="en-US" dirty="0" smtClean="0">
              <a:latin typeface="Arial" pitchFamily="34" charset="0"/>
            </a:endParaRPr>
          </a:p>
          <a:p>
            <a:pPr eaLnBrk="1" hangingPunct="1"/>
            <a:endParaRPr lang="en-US" dirty="0" smtClean="0">
              <a:latin typeface="Arial" pitchFamily="34" charset="0"/>
            </a:endParaRPr>
          </a:p>
          <a:p>
            <a:pPr eaLnBrk="1" hangingPunct="1"/>
            <a:endParaRPr lang="en-US" dirty="0" smtClean="0">
              <a:latin typeface="Arial"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|EON~021|</a:t>
            </a:r>
            <a:endParaRPr lang="en-US" sz="100">
              <a:solidFill>
                <a:srgbClr val="FFFFFF"/>
              </a:solidFill>
              <a:latin typeface="Arial"/>
            </a:endParaRPr>
          </a:p>
        </p:txBody>
      </p:sp>
      <p:sp>
        <p:nvSpPr>
          <p:cNvPr id="839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839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079B7CB1-A16C-4128-952A-EA007B8075B9}" type="slidenum">
              <a:rPr lang="en-US" altLang="en-US" sz="1200" smtClean="0">
                <a:solidFill>
                  <a:schemeClr val="tx1"/>
                </a:solidFill>
              </a:rPr>
              <a:pPr eaLnBrk="1" hangingPunct="1"/>
              <a:t>21</a:t>
            </a:fld>
            <a:endParaRPr lang="en-US" altLang="en-US" sz="1200" smtClean="0">
              <a:solidFill>
                <a:schemeClr val="tx1"/>
              </a:solidFill>
            </a:endParaRPr>
          </a:p>
        </p:txBody>
      </p:sp>
      <p:sp>
        <p:nvSpPr>
          <p:cNvPr id="83972" name="Rectangle 2"/>
          <p:cNvSpPr>
            <a:spLocks noGrp="1" noRot="1" noChangeAspect="1" noChangeArrowheads="1" noTextEdit="1"/>
          </p:cNvSpPr>
          <p:nvPr>
            <p:ph type="sldImg"/>
          </p:nvPr>
        </p:nvSpPr>
        <p:spPr>
          <a:xfrm>
            <a:off x="715963" y="630238"/>
            <a:ext cx="5432425" cy="4073525"/>
          </a:xfrm>
          <a:ln/>
        </p:spPr>
      </p:sp>
      <p:sp>
        <p:nvSpPr>
          <p:cNvPr id="839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latin typeface="Arial" pitchFamily="34" charset="0"/>
              </a:rPr>
              <a:t>Whenever a contact is associated to a claim, the contact must have one or more roles on the claim. Each role identifies a relationship between the contact and the claim. Each role can be “related to” the claim or one of its parts. This relationship designates if the contact has this role for the entire claim, for the policy, for a specific exposure, for</a:t>
            </a:r>
            <a:r>
              <a:rPr lang="en-US" baseline="0" dirty="0" smtClean="0">
                <a:latin typeface="Arial" pitchFamily="34" charset="0"/>
              </a:rPr>
              <a:t> a service, </a:t>
            </a:r>
            <a:r>
              <a:rPr lang="en-US" dirty="0" smtClean="0">
                <a:latin typeface="Arial" pitchFamily="34" charset="0"/>
              </a:rPr>
              <a:t>or for a specific incident.</a:t>
            </a:r>
          </a:p>
          <a:p>
            <a:pPr eaLnBrk="1" hangingPunct="1"/>
            <a:r>
              <a:rPr lang="en-US" dirty="0" smtClean="0">
                <a:latin typeface="Arial" pitchFamily="34" charset="0"/>
              </a:rPr>
              <a:t>Keep in mind that every contact object in ClaimCenter is unique. It is possible for a single person or vendor to be a contact on multiple claims. (In the example above, Matt Sawyer is a doctor (vendor) for the auto claim and the workers' comp claim.) In this case, there are two unique objects corresponding to the same person. Fields within one object may have the same values as or different values than the corresponding fields in the other object. For example, Matt Sawyer's address may be the same in both contact objects, but his "okay to contact" field may be different. (It could be okay to contact him for the workers' comp claim but not okay to contact him for the auto claim.)</a:t>
            </a:r>
          </a:p>
          <a:p>
            <a:pPr eaLnBrk="1" hangingPunct="1"/>
            <a:r>
              <a:rPr lang="en-US" dirty="0" smtClean="0">
                <a:latin typeface="Arial" pitchFamily="34" charset="0"/>
              </a:rPr>
              <a:t>Note that the “insured” on the WC (Workers’ Comp)</a:t>
            </a:r>
            <a:r>
              <a:rPr lang="en-US" baseline="0" dirty="0" smtClean="0">
                <a:latin typeface="Arial" pitchFamily="34" charset="0"/>
              </a:rPr>
              <a:t> claim is a business (</a:t>
            </a:r>
            <a:r>
              <a:rPr lang="en-US" baseline="0" dirty="0" err="1" smtClean="0">
                <a:latin typeface="Arial" pitchFamily="34" charset="0"/>
              </a:rPr>
              <a:t>OmniTech</a:t>
            </a:r>
            <a:r>
              <a:rPr lang="en-US" baseline="0" dirty="0" smtClean="0">
                <a:latin typeface="Arial" pitchFamily="34" charset="0"/>
              </a:rPr>
              <a:t>). WC insurance is commercial insurance, meaning the policyholder is an employer that is often (depending on the law) required</a:t>
            </a:r>
            <a:r>
              <a:rPr lang="en-US" dirty="0" smtClean="0">
                <a:latin typeface="Arial" pitchFamily="34" charset="0"/>
              </a:rPr>
              <a:t> </a:t>
            </a:r>
            <a:r>
              <a:rPr lang="en-US" baseline="0" dirty="0" smtClean="0">
                <a:latin typeface="Arial" pitchFamily="34" charset="0"/>
              </a:rPr>
              <a:t>to hold a WC policy to indemnify workers for lost wages and/or medical bills resulting from injuries sustained during the course of employment. This is different than personal auto insurance, in which the “insured” is an individual.</a:t>
            </a:r>
            <a:endParaRPr lang="en-US" dirty="0" smtClean="0">
              <a:latin typeface="Arial"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|EON~022|</a:t>
            </a:r>
            <a:endParaRPr lang="en-US" sz="100">
              <a:solidFill>
                <a:srgbClr val="FFFFFF"/>
              </a:solidFill>
              <a:latin typeface="Arial"/>
            </a:endParaRPr>
          </a:p>
        </p:txBody>
      </p:sp>
      <p:sp>
        <p:nvSpPr>
          <p:cNvPr id="860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860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F72F2E5B-8E15-48FD-A05F-1308C11E57D6}" type="slidenum">
              <a:rPr lang="en-US" altLang="en-US" sz="1200" smtClean="0">
                <a:solidFill>
                  <a:schemeClr val="tx1"/>
                </a:solidFill>
              </a:rPr>
              <a:pPr eaLnBrk="1" hangingPunct="1"/>
              <a:t>22</a:t>
            </a:fld>
            <a:endParaRPr lang="en-US" altLang="en-US" sz="1200" smtClean="0">
              <a:solidFill>
                <a:schemeClr val="tx1"/>
              </a:solidFill>
            </a:endParaRPr>
          </a:p>
        </p:txBody>
      </p:sp>
      <p:sp>
        <p:nvSpPr>
          <p:cNvPr id="86020" name="Rectangle 2"/>
          <p:cNvSpPr>
            <a:spLocks noGrp="1" noRot="1" noChangeAspect="1" noChangeArrowheads="1" noTextEdit="1"/>
          </p:cNvSpPr>
          <p:nvPr>
            <p:ph type="sldImg"/>
          </p:nvPr>
        </p:nvSpPr>
        <p:spPr>
          <a:xfrm>
            <a:off x="715963" y="630238"/>
            <a:ext cx="5432425" cy="4073525"/>
          </a:xfrm>
          <a:ln/>
        </p:spPr>
      </p:sp>
      <p:sp>
        <p:nvSpPr>
          <p:cNvPr id="860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latin typeface="Arial"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|EON~023|</a:t>
            </a:r>
            <a:endParaRPr lang="en-US" sz="100">
              <a:solidFill>
                <a:srgbClr val="FFFFFF"/>
              </a:solidFill>
              <a:latin typeface="Arial"/>
            </a:endParaRPr>
          </a:p>
        </p:txBody>
      </p:sp>
      <p:sp>
        <p:nvSpPr>
          <p:cNvPr id="870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870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5BC84AFE-3982-4433-AA5B-1313E6E895FB}" type="slidenum">
              <a:rPr lang="en-US" altLang="en-US" sz="1200" smtClean="0">
                <a:solidFill>
                  <a:schemeClr val="tx1"/>
                </a:solidFill>
              </a:rPr>
              <a:pPr eaLnBrk="1" hangingPunct="1"/>
              <a:t>23</a:t>
            </a:fld>
            <a:endParaRPr lang="en-US" altLang="en-US" sz="1200" smtClean="0">
              <a:solidFill>
                <a:schemeClr val="tx1"/>
              </a:solidFill>
            </a:endParaRPr>
          </a:p>
        </p:txBody>
      </p:sp>
      <p:sp>
        <p:nvSpPr>
          <p:cNvPr id="87044" name="Rectangle 2"/>
          <p:cNvSpPr>
            <a:spLocks noGrp="1" noRot="1" noChangeAspect="1" noChangeArrowheads="1" noTextEdit="1"/>
          </p:cNvSpPr>
          <p:nvPr>
            <p:ph type="sldImg"/>
          </p:nvPr>
        </p:nvSpPr>
        <p:spPr>
          <a:xfrm>
            <a:off x="715963" y="630238"/>
            <a:ext cx="5432425" cy="4073525"/>
          </a:xfrm>
          <a:ln/>
        </p:spPr>
      </p:sp>
      <p:sp>
        <p:nvSpPr>
          <p:cNvPr id="870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latin typeface="Arial" pitchFamily="34" charset="0"/>
              </a:rPr>
              <a:t>As already stated,</a:t>
            </a:r>
            <a:r>
              <a:rPr lang="en-US" baseline="0" dirty="0" smtClean="0">
                <a:latin typeface="Arial" pitchFamily="34" charset="0"/>
              </a:rPr>
              <a:t> </a:t>
            </a:r>
            <a:r>
              <a:rPr lang="en-US" dirty="0" err="1" smtClean="0">
                <a:latin typeface="Arial" pitchFamily="34" charset="0"/>
              </a:rPr>
              <a:t>ClaimCenter</a:t>
            </a:r>
            <a:r>
              <a:rPr lang="en-US" dirty="0" smtClean="0">
                <a:latin typeface="Arial" pitchFamily="34" charset="0"/>
              </a:rPr>
              <a:t> comes with a separate contact management application called </a:t>
            </a:r>
            <a:r>
              <a:rPr lang="en-US" dirty="0" err="1" smtClean="0">
                <a:latin typeface="Arial" pitchFamily="34" charset="0"/>
              </a:rPr>
              <a:t>ContactManager</a:t>
            </a:r>
            <a:r>
              <a:rPr lang="en-US" dirty="0" smtClean="0">
                <a:latin typeface="Arial" pitchFamily="34" charset="0"/>
              </a:rPr>
              <a:t>. </a:t>
            </a:r>
          </a:p>
          <a:p>
            <a:pPr eaLnBrk="1" hangingPunct="1"/>
            <a:endParaRPr lang="en-US" dirty="0" smtClean="0">
              <a:latin typeface="Arial" pitchFamily="34" charset="0"/>
            </a:endParaRPr>
          </a:p>
          <a:p>
            <a:pPr eaLnBrk="1" hangingPunct="1"/>
            <a:r>
              <a:rPr lang="en-US" dirty="0" smtClean="0">
                <a:latin typeface="Arial" pitchFamily="34" charset="0"/>
              </a:rPr>
              <a:t>The process of logging on to ContactManager is identical to that of ClaimCenter. To log in to an application, end users must open their web browser and access the system through the appropriate URL (Universal Resource Locator, also more commonly known as a "web address"). The URL is:</a:t>
            </a:r>
          </a:p>
          <a:p>
            <a:pPr eaLnBrk="1" hangingPunct="1"/>
            <a:r>
              <a:rPr lang="en-US" dirty="0" smtClean="0">
                <a:latin typeface="Arial" pitchFamily="34" charset="0"/>
              </a:rPr>
              <a:t>http://</a:t>
            </a:r>
            <a:r>
              <a:rPr lang="en-US" i="1" dirty="0" smtClean="0">
                <a:latin typeface="Arial" pitchFamily="34" charset="0"/>
              </a:rPr>
              <a:t>machine</a:t>
            </a:r>
            <a:r>
              <a:rPr lang="en-US" dirty="0" smtClean="0">
                <a:latin typeface="Arial" pitchFamily="34" charset="0"/>
              </a:rPr>
              <a:t>:</a:t>
            </a:r>
            <a:r>
              <a:rPr lang="en-US" i="1" dirty="0" smtClean="0">
                <a:latin typeface="Arial" pitchFamily="34" charset="0"/>
              </a:rPr>
              <a:t>port#</a:t>
            </a:r>
            <a:r>
              <a:rPr lang="en-US" dirty="0" smtClean="0">
                <a:latin typeface="Arial" pitchFamily="34" charset="0"/>
              </a:rPr>
              <a:t>/</a:t>
            </a:r>
            <a:r>
              <a:rPr lang="en-US" i="1" dirty="0" smtClean="0">
                <a:latin typeface="Arial" pitchFamily="34" charset="0"/>
              </a:rPr>
              <a:t>instanceName</a:t>
            </a:r>
            <a:r>
              <a:rPr lang="en-US" dirty="0" smtClean="0">
                <a:latin typeface="Arial" pitchFamily="34" charset="0"/>
              </a:rPr>
              <a:t>/ContactManager.do, where:</a:t>
            </a:r>
          </a:p>
          <a:p>
            <a:pPr lvl="1" eaLnBrk="1" hangingPunct="1"/>
            <a:r>
              <a:rPr lang="en-US" i="1" dirty="0" smtClean="0">
                <a:latin typeface="Arial" pitchFamily="34" charset="0"/>
              </a:rPr>
              <a:t>machine</a:t>
            </a:r>
            <a:r>
              <a:rPr lang="en-US" dirty="0" smtClean="0">
                <a:latin typeface="Arial" pitchFamily="34" charset="0"/>
              </a:rPr>
              <a:t> is the name of the host machine, and</a:t>
            </a:r>
          </a:p>
          <a:p>
            <a:pPr lvl="1" eaLnBrk="1" hangingPunct="1"/>
            <a:r>
              <a:rPr lang="en-US" i="1" dirty="0" smtClean="0">
                <a:latin typeface="Arial" pitchFamily="34" charset="0"/>
              </a:rPr>
              <a:t>port#</a:t>
            </a:r>
            <a:r>
              <a:rPr lang="en-US" dirty="0" smtClean="0">
                <a:latin typeface="Arial" pitchFamily="34" charset="0"/>
              </a:rPr>
              <a:t> is the port which the browser should use to access the application, and</a:t>
            </a:r>
          </a:p>
          <a:p>
            <a:pPr lvl="1" eaLnBrk="1" hangingPunct="1"/>
            <a:r>
              <a:rPr lang="en-US" i="1" dirty="0" err="1" smtClean="0">
                <a:latin typeface="Arial" pitchFamily="34" charset="0"/>
              </a:rPr>
              <a:t>instanceName</a:t>
            </a:r>
            <a:r>
              <a:rPr lang="en-US" dirty="0" smtClean="0">
                <a:latin typeface="Arial" pitchFamily="34" charset="0"/>
              </a:rPr>
              <a:t> is the name of the instance of ContactManager (typically "</a:t>
            </a:r>
            <a:r>
              <a:rPr lang="en-US" dirty="0" err="1" smtClean="0">
                <a:latin typeface="Arial" pitchFamily="34" charset="0"/>
              </a:rPr>
              <a:t>ab</a:t>
            </a:r>
            <a:r>
              <a:rPr lang="en-US" dirty="0" smtClean="0">
                <a:latin typeface="Arial" pitchFamily="34" charset="0"/>
              </a:rPr>
              <a:t>", for address book).</a:t>
            </a:r>
          </a:p>
          <a:p>
            <a:pPr eaLnBrk="1" hangingPunct="1"/>
            <a:r>
              <a:rPr lang="en-US" dirty="0" smtClean="0">
                <a:latin typeface="Arial" pitchFamily="34" charset="0"/>
              </a:rPr>
              <a:t>Typically, the only types of business users who have access directly to the ContactManager application are vendor managers.</a:t>
            </a:r>
          </a:p>
          <a:p>
            <a:pPr eaLnBrk="1" hangingPunct="1"/>
            <a:endParaRPr lang="en-US" dirty="0" smtClean="0">
              <a:latin typeface="Arial"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|EON~024|</a:t>
            </a:r>
            <a:endParaRPr lang="en-US" sz="100">
              <a:solidFill>
                <a:srgbClr val="FFFFFF"/>
              </a:solidFill>
              <a:latin typeface="Arial"/>
            </a:endParaRP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 can access ContactManager</a:t>
            </a:r>
            <a:r>
              <a:rPr lang="en-US" baseline="0" dirty="0" smtClean="0"/>
              <a:t> from a link in ClaimCenter, which by default provides a URL to the ContactManager application in a new browser popup window. This is available in the base application in the Address Book tab in ClaimCenter, or when searching for a Contact to add in the “Parties Involved” screen. </a:t>
            </a:r>
          </a:p>
          <a:p>
            <a:endParaRPr lang="en-US" baseline="0" dirty="0" smtClean="0"/>
          </a:p>
          <a:p>
            <a:r>
              <a:rPr lang="en-US" baseline="0" dirty="0" smtClean="0"/>
              <a:t>Non-claim related Contacts are wholly edited and managed in ContactManager, not ClaimCenter. Any editing of contacts without a claim context must be done in the Address Book. Hence the easy link to ContactManager.</a:t>
            </a:r>
            <a:endParaRPr lang="en-US" dirty="0"/>
          </a:p>
        </p:txBody>
      </p:sp>
      <p:sp>
        <p:nvSpPr>
          <p:cNvPr id="4" name="Header Placeholder 3"/>
          <p:cNvSpPr>
            <a:spLocks noGrp="1"/>
          </p:cNvSpPr>
          <p:nvPr>
            <p:ph type="hdr" sz="quarter" idx="10"/>
          </p:nvPr>
        </p:nvSpPr>
        <p:spPr/>
        <p:txBody>
          <a:bodyPr/>
          <a:lstStyle/>
          <a:p>
            <a:pPr>
              <a:defRPr/>
            </a:pPr>
            <a:r>
              <a:rPr lang="en-US" altLang="en-US" smtClean="0"/>
              <a:t>	</a:t>
            </a:r>
            <a:endParaRPr lang="en-US"/>
          </a:p>
        </p:txBody>
      </p:sp>
      <p:sp>
        <p:nvSpPr>
          <p:cNvPr id="5" name="Slide Number Placeholder 4"/>
          <p:cNvSpPr>
            <a:spLocks noGrp="1"/>
          </p:cNvSpPr>
          <p:nvPr>
            <p:ph type="sldNum" sz="quarter" idx="11"/>
          </p:nvPr>
        </p:nvSpPr>
        <p:spPr/>
        <p:txBody>
          <a:bodyPr/>
          <a:lstStyle/>
          <a:p>
            <a:pPr>
              <a:defRPr/>
            </a:pPr>
            <a:r>
              <a:rPr lang="en-US" altLang="en-US" smtClean="0"/>
              <a:t>	Contacts - </a:t>
            </a:r>
            <a:fld id="{E7C66B2F-6EDE-41C2-98D2-D39A07C65A75}" type="slidenum">
              <a:rPr lang="en-US" altLang="en-US" smtClean="0"/>
              <a:pPr>
                <a:defRPr/>
              </a:pPr>
              <a:t>24</a:t>
            </a:fld>
            <a:endParaRPr lang="en-US" altLang="en-US"/>
          </a:p>
        </p:txBody>
      </p:sp>
    </p:spTree>
    <p:extLst>
      <p:ext uri="{BB962C8B-B14F-4D97-AF65-F5344CB8AC3E}">
        <p14:creationId xmlns:p14="http://schemas.microsoft.com/office/powerpoint/2010/main" val="27575000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|EON~025|</a:t>
            </a:r>
            <a:endParaRPr lang="en-US" sz="100">
              <a:solidFill>
                <a:srgbClr val="FFFFFF"/>
              </a:solidFill>
              <a:latin typeface="Arial"/>
            </a:endParaRPr>
          </a:p>
        </p:txBody>
      </p:sp>
      <p:sp>
        <p:nvSpPr>
          <p:cNvPr id="880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880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A4BC51AC-926D-4C66-92E3-B35E2B3E783D}" type="slidenum">
              <a:rPr lang="en-US" altLang="en-US" sz="1200" smtClean="0">
                <a:solidFill>
                  <a:schemeClr val="tx1"/>
                </a:solidFill>
              </a:rPr>
              <a:pPr eaLnBrk="1" hangingPunct="1"/>
              <a:t>25</a:t>
            </a:fld>
            <a:endParaRPr lang="en-US" altLang="en-US" sz="1200" smtClean="0">
              <a:solidFill>
                <a:schemeClr val="tx1"/>
              </a:solidFill>
            </a:endParaRPr>
          </a:p>
        </p:txBody>
      </p:sp>
      <p:sp>
        <p:nvSpPr>
          <p:cNvPr id="88068" name="Rectangle 2"/>
          <p:cNvSpPr>
            <a:spLocks noGrp="1" noRot="1" noChangeAspect="1" noChangeArrowheads="1" noTextEdit="1"/>
          </p:cNvSpPr>
          <p:nvPr>
            <p:ph type="sldImg"/>
          </p:nvPr>
        </p:nvSpPr>
        <p:spPr>
          <a:xfrm>
            <a:off x="715963" y="630238"/>
            <a:ext cx="5432425" cy="4073525"/>
          </a:xfrm>
          <a:ln/>
        </p:spPr>
      </p:sp>
      <p:sp>
        <p:nvSpPr>
          <p:cNvPr id="880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base" latinLnBrk="0" hangingPunct="1">
              <a:lnSpc>
                <a:spcPct val="100000"/>
              </a:lnSpc>
              <a:spcBef>
                <a:spcPct val="10000"/>
              </a:spcBef>
              <a:spcAft>
                <a:spcPct val="0"/>
              </a:spcAft>
              <a:buClrTx/>
              <a:buSzTx/>
              <a:buFontTx/>
              <a:buNone/>
              <a:tabLst/>
              <a:defRPr/>
            </a:pPr>
            <a:r>
              <a:rPr lang="en-US" dirty="0" smtClean="0">
                <a:latin typeface="Arial" pitchFamily="34" charset="0"/>
              </a:rPr>
              <a:t>The </a:t>
            </a:r>
            <a:r>
              <a:rPr lang="en-US" dirty="0" err="1" smtClean="0">
                <a:latin typeface="Arial" pitchFamily="34" charset="0"/>
              </a:rPr>
              <a:t>ContactManager</a:t>
            </a:r>
            <a:r>
              <a:rPr lang="en-US" dirty="0" smtClean="0">
                <a:latin typeface="Arial" pitchFamily="34" charset="0"/>
              </a:rPr>
              <a:t> user interface is relatively simple compared to </a:t>
            </a:r>
            <a:r>
              <a:rPr lang="en-US" dirty="0" err="1" smtClean="0">
                <a:latin typeface="Arial" pitchFamily="34" charset="0"/>
              </a:rPr>
              <a:t>ClaimCenter</a:t>
            </a:r>
            <a:r>
              <a:rPr lang="en-US" dirty="0" smtClean="0">
                <a:latin typeface="Arial" pitchFamily="34" charset="0"/>
              </a:rPr>
              <a:t>.</a:t>
            </a:r>
            <a:r>
              <a:rPr lang="en-US" baseline="0" dirty="0" smtClean="0">
                <a:latin typeface="Arial" pitchFamily="34" charset="0"/>
              </a:rPr>
              <a:t> The three components are illustrated in the figure. </a:t>
            </a:r>
          </a:p>
          <a:p>
            <a:pPr marL="0" marR="0" indent="0" algn="l" defTabSz="914400" rtl="0" eaLnBrk="1" fontAlgn="base" latinLnBrk="0" hangingPunct="1">
              <a:lnSpc>
                <a:spcPct val="100000"/>
              </a:lnSpc>
              <a:spcBef>
                <a:spcPct val="10000"/>
              </a:spcBef>
              <a:spcAft>
                <a:spcPct val="0"/>
              </a:spcAft>
              <a:buClrTx/>
              <a:buSzTx/>
              <a:buFontTx/>
              <a:buNone/>
              <a:tabLst/>
              <a:defRPr/>
            </a:pPr>
            <a:r>
              <a:rPr lang="en-US" baseline="0" dirty="0" err="1" smtClean="0">
                <a:latin typeface="Arial" pitchFamily="34" charset="0"/>
              </a:rPr>
              <a:t>ContactManager</a:t>
            </a:r>
            <a:r>
              <a:rPr lang="en-US" baseline="0" dirty="0" smtClean="0">
                <a:latin typeface="Arial" pitchFamily="34" charset="0"/>
              </a:rPr>
              <a:t> is used to </a:t>
            </a:r>
            <a:r>
              <a:rPr lang="en-US" dirty="0" smtClean="0">
                <a:latin typeface="Arial" pitchFamily="34" charset="0"/>
              </a:rPr>
              <a:t>create contacts, searching for contacts, view</a:t>
            </a:r>
            <a:r>
              <a:rPr lang="en-US" baseline="0" dirty="0" smtClean="0">
                <a:latin typeface="Arial" pitchFamily="34" charset="0"/>
              </a:rPr>
              <a:t> contacts, and modify contacts. </a:t>
            </a:r>
            <a:endParaRPr lang="en-US" dirty="0" smtClean="0">
              <a:latin typeface="Arial" pitchFamily="34" charset="0"/>
            </a:endParaRPr>
          </a:p>
          <a:p>
            <a:pPr eaLnBrk="1" hangingPunct="1"/>
            <a:endParaRPr lang="en-US" baseline="0" dirty="0" smtClean="0">
              <a:latin typeface="Arial" pitchFamily="34" charset="0"/>
            </a:endParaRPr>
          </a:p>
          <a:p>
            <a:pPr eaLnBrk="1" hangingPunct="1"/>
            <a:r>
              <a:rPr lang="en-US" baseline="0" dirty="0" smtClean="0">
                <a:latin typeface="Arial" pitchFamily="34" charset="0"/>
              </a:rPr>
              <a:t>You may also use the “Merge Contacts” menu link to identify two potentially duplicate contacts. If duplicates, you may merge the two Contacts’ data together into one correct contact.</a:t>
            </a:r>
          </a:p>
          <a:p>
            <a:pPr eaLnBrk="1" hangingPunct="1"/>
            <a:r>
              <a:rPr lang="en-US" baseline="0" dirty="0" smtClean="0">
                <a:latin typeface="Arial" pitchFamily="34" charset="0"/>
              </a:rPr>
              <a:t>Adjusters, CSRs, and other users without permissions may create or edit vendor contacts in ClaimCenter pending approval. Note the “Pending Changes” menu link which is used to approve these changes.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|EON~026|</a:t>
            </a:r>
            <a:endParaRPr lang="en-US" sz="100">
              <a:solidFill>
                <a:srgbClr val="FFFFFF"/>
              </a:solidFill>
              <a:latin typeface="Arial"/>
            </a:endParaRPr>
          </a:p>
        </p:txBody>
      </p:sp>
      <p:sp>
        <p:nvSpPr>
          <p:cNvPr id="890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890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F02F6F76-8215-449F-81B7-03514C712651}" type="slidenum">
              <a:rPr lang="en-US" altLang="en-US" sz="1200" smtClean="0">
                <a:solidFill>
                  <a:schemeClr val="tx1"/>
                </a:solidFill>
              </a:rPr>
              <a:pPr eaLnBrk="1" hangingPunct="1"/>
              <a:t>26</a:t>
            </a:fld>
            <a:endParaRPr lang="en-US" altLang="en-US" sz="1200" smtClean="0">
              <a:solidFill>
                <a:schemeClr val="tx1"/>
              </a:solidFill>
            </a:endParaRPr>
          </a:p>
        </p:txBody>
      </p:sp>
      <p:sp>
        <p:nvSpPr>
          <p:cNvPr id="89092" name="Rectangle 2"/>
          <p:cNvSpPr>
            <a:spLocks noGrp="1" noRot="1" noChangeAspect="1" noChangeArrowheads="1" noTextEdit="1"/>
          </p:cNvSpPr>
          <p:nvPr>
            <p:ph type="sldImg"/>
          </p:nvPr>
        </p:nvSpPr>
        <p:spPr>
          <a:xfrm>
            <a:off x="715963" y="630238"/>
            <a:ext cx="5432425" cy="4073525"/>
          </a:xfrm>
          <a:ln/>
        </p:spPr>
      </p:sp>
      <p:sp>
        <p:nvSpPr>
          <p:cNvPr id="890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latin typeface="Arial" pitchFamily="34" charset="0"/>
              </a:rPr>
              <a:t>New contacts in ContactManager are created using the appropriate menu action from the Contacts tab's navigation bar. The menus and fields are self-explanatory, and all of the functionality used to create contacts (such as required fields, dropdowns, validation, and so on) are also used in ClaimCenter and have already been discussed in this course.</a:t>
            </a:r>
          </a:p>
          <a:p>
            <a:pPr eaLnBrk="1" hangingPunct="1"/>
            <a:r>
              <a:rPr lang="en-US" dirty="0" smtClean="0">
                <a:latin typeface="Arial" pitchFamily="34" charset="0"/>
              </a:rPr>
              <a:t>Recall that there are three primary subtypes in the contact subtype hierarchy: person, place, and company. They correspond to the three page actions on the Contacts tab.</a:t>
            </a:r>
          </a:p>
          <a:p>
            <a:pPr eaLnBrk="1" hangingPunct="1"/>
            <a:r>
              <a:rPr lang="en-US" dirty="0" smtClean="0">
                <a:latin typeface="Arial" pitchFamily="34" charset="0"/>
              </a:rPr>
              <a:t>In both ContactManager and ClaimCenter, there is a Related Contacts tab (which is visible if you view PowerPoint in Notes view (View &gt; Notes Page)). </a:t>
            </a:r>
          </a:p>
          <a:p>
            <a:pPr eaLnBrk="1" hangingPunct="1"/>
            <a:endParaRPr lang="en-US" dirty="0" smtClean="0">
              <a:latin typeface="Arial" pitchFamily="34" charset="0"/>
            </a:endParaRPr>
          </a:p>
          <a:p>
            <a:pPr eaLnBrk="1" hangingPunct="1"/>
            <a:r>
              <a:rPr lang="en-US" dirty="0" smtClean="0">
                <a:latin typeface="Arial" pitchFamily="34" charset="0"/>
              </a:rPr>
              <a:t>This tab is used to specify that this contact has a relationship to some other contact (such as Bruce Banner is an employee of Victory Memorial Hospital). The other contact automatically gets the inverse relationship. (In other words, Victory Memorial Hospital becomes linked to Bruce Banner with the relationship of employer.) This is a structured way of establishing when someone is to be contacted through someone else.</a:t>
            </a:r>
          </a:p>
          <a:p>
            <a:pPr eaLnBrk="1" hangingPunct="1"/>
            <a:endParaRPr lang="en-US" dirty="0" smtClean="0">
              <a:latin typeface="Arial" pitchFamily="34"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527" y="7209806"/>
            <a:ext cx="3990975" cy="155257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|EON~027|</a:t>
            </a:r>
            <a:endParaRPr lang="en-US" sz="100">
              <a:solidFill>
                <a:srgbClr val="FFFFFF"/>
              </a:solidFill>
              <a:latin typeface="Arial"/>
            </a:endParaRPr>
          </a:p>
        </p:txBody>
      </p:sp>
      <p:sp>
        <p:nvSpPr>
          <p:cNvPr id="901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901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87664A0B-971D-4CB3-9491-2E9E49D666DC}" type="slidenum">
              <a:rPr lang="en-US" altLang="en-US" sz="1200" smtClean="0">
                <a:solidFill>
                  <a:schemeClr val="tx1"/>
                </a:solidFill>
              </a:rPr>
              <a:pPr eaLnBrk="1" hangingPunct="1"/>
              <a:t>27</a:t>
            </a:fld>
            <a:endParaRPr lang="en-US" altLang="en-US" sz="1200" smtClean="0">
              <a:solidFill>
                <a:schemeClr val="tx1"/>
              </a:solidFill>
            </a:endParaRPr>
          </a:p>
        </p:txBody>
      </p:sp>
      <p:sp>
        <p:nvSpPr>
          <p:cNvPr id="90116" name="Rectangle 2"/>
          <p:cNvSpPr>
            <a:spLocks noGrp="1" noRot="1" noChangeAspect="1" noChangeArrowheads="1" noTextEdit="1"/>
          </p:cNvSpPr>
          <p:nvPr>
            <p:ph type="sldImg"/>
          </p:nvPr>
        </p:nvSpPr>
        <p:spPr>
          <a:xfrm>
            <a:off x="715963" y="630238"/>
            <a:ext cx="5432425" cy="4073525"/>
          </a:xfrm>
          <a:ln/>
        </p:spPr>
      </p:sp>
      <p:sp>
        <p:nvSpPr>
          <p:cNvPr id="901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latin typeface="Arial"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|EON~028|</a:t>
            </a:r>
            <a:endParaRPr lang="en-US" sz="100">
              <a:solidFill>
                <a:srgbClr val="FFFFFF"/>
              </a:solidFill>
              <a:latin typeface="Arial"/>
            </a:endParaRPr>
          </a:p>
        </p:txBody>
      </p:sp>
      <p:sp>
        <p:nvSpPr>
          <p:cNvPr id="911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911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3AEE8485-A22B-4859-A5B5-E7E1C9C35FEA}" type="slidenum">
              <a:rPr lang="en-US" altLang="en-US" sz="1200" smtClean="0">
                <a:solidFill>
                  <a:schemeClr val="tx1"/>
                </a:solidFill>
              </a:rPr>
              <a:pPr eaLnBrk="1" hangingPunct="1"/>
              <a:t>28</a:t>
            </a:fld>
            <a:endParaRPr lang="en-US" altLang="en-US" sz="1200" smtClean="0">
              <a:solidFill>
                <a:schemeClr val="tx1"/>
              </a:solidFill>
            </a:endParaRPr>
          </a:p>
        </p:txBody>
      </p:sp>
      <p:sp>
        <p:nvSpPr>
          <p:cNvPr id="91140" name="Rectangle 2"/>
          <p:cNvSpPr>
            <a:spLocks noGrp="1" noRot="1" noChangeAspect="1" noChangeArrowheads="1" noTextEdit="1"/>
          </p:cNvSpPr>
          <p:nvPr>
            <p:ph type="sldImg"/>
          </p:nvPr>
        </p:nvSpPr>
        <p:spPr>
          <a:xfrm>
            <a:off x="715963" y="630238"/>
            <a:ext cx="5432425" cy="4073525"/>
          </a:xfrm>
          <a:ln/>
        </p:spPr>
      </p:sp>
      <p:sp>
        <p:nvSpPr>
          <p:cNvPr id="911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latin typeface="Arial" pitchFamily="34" charset="0"/>
              </a:rPr>
              <a:t>During the New Claim wizard, you can add contacts to a claim at multiple points, including the Basic Information step and the Parties Involved step.</a:t>
            </a:r>
          </a:p>
          <a:p>
            <a:pPr lvl="1" eaLnBrk="1" hangingPunct="1"/>
            <a:r>
              <a:rPr lang="en-US" dirty="0" smtClean="0">
                <a:latin typeface="Arial" pitchFamily="34" charset="0"/>
              </a:rPr>
              <a:t>In some places, such as the Basic Information step, a given contact has a pre-defined role. For example, the contact specified in the Reported By section has the role "reporter". The contact specified in the Main Contact section has the role "main contact".</a:t>
            </a:r>
          </a:p>
          <a:p>
            <a:pPr lvl="1" eaLnBrk="1" hangingPunct="1"/>
            <a:r>
              <a:rPr lang="en-US" dirty="0" smtClean="0">
                <a:latin typeface="Arial" pitchFamily="34" charset="0"/>
              </a:rPr>
              <a:t>In some places, such as the (optional)</a:t>
            </a:r>
            <a:r>
              <a:rPr lang="en-US" baseline="0" dirty="0" smtClean="0">
                <a:latin typeface="Arial" pitchFamily="34" charset="0"/>
              </a:rPr>
              <a:t> </a:t>
            </a:r>
            <a:r>
              <a:rPr lang="en-US" dirty="0" smtClean="0">
                <a:latin typeface="Arial" pitchFamily="34" charset="0"/>
              </a:rPr>
              <a:t>Parties Involved step, a given contact can have any role. For example, a contact added here could be "insured", "witness", "doctor" and so on.</a:t>
            </a:r>
          </a:p>
          <a:p>
            <a:pPr lvl="1" eaLnBrk="1" hangingPunct="1"/>
            <a:endParaRPr lang="en-US" dirty="0" smtClean="0">
              <a:latin typeface="Arial" pitchFamily="34" charset="0"/>
            </a:endParaRPr>
          </a:p>
          <a:p>
            <a:pPr marL="0" lvl="0" indent="-114300" eaLnBrk="1" hangingPunct="1">
              <a:buNone/>
            </a:pPr>
            <a:r>
              <a:rPr lang="en-US" dirty="0" smtClean="0">
                <a:latin typeface="Arial" pitchFamily="34" charset="0"/>
              </a:rPr>
              <a:t>You may also create contacts in the New Claim Wizard when adding service requests to a claim. This topic is covered in the “</a:t>
            </a:r>
            <a:r>
              <a:rPr lang="en-US" baseline="0" dirty="0" smtClean="0">
                <a:latin typeface="Arial" pitchFamily="34" charset="0"/>
              </a:rPr>
              <a:t>Vendor Service Requests” lesson.</a:t>
            </a:r>
            <a:endParaRPr lang="en-US" dirty="0" smtClean="0">
              <a:latin typeface="Arial"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|EON~029|</a:t>
            </a:r>
            <a:endParaRPr lang="en-US" sz="100">
              <a:solidFill>
                <a:srgbClr val="FFFFFF"/>
              </a:solidFill>
              <a:latin typeface="Arial"/>
            </a:endParaRP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latin typeface="Arial" pitchFamily="34" charset="0"/>
              </a:rPr>
              <a:t>To create a new local contact in ClaimCenter (as opposed to using</a:t>
            </a:r>
            <a:r>
              <a:rPr lang="en-US" baseline="0" dirty="0" smtClean="0">
                <a:latin typeface="Arial" pitchFamily="34" charset="0"/>
              </a:rPr>
              <a:t> a contact </a:t>
            </a:r>
            <a:r>
              <a:rPr lang="en-US" dirty="0" smtClean="0">
                <a:latin typeface="Arial" pitchFamily="34" charset="0"/>
              </a:rPr>
              <a:t>from Address Book):</a:t>
            </a:r>
          </a:p>
          <a:p>
            <a:pPr marL="490538" lvl="1" indent="-209550" eaLnBrk="1" hangingPunct="1">
              <a:buFontTx/>
              <a:buAutoNum type="arabicPeriod"/>
            </a:pPr>
            <a:r>
              <a:rPr lang="en-US" dirty="0" smtClean="0">
                <a:latin typeface="Arial" pitchFamily="34" charset="0"/>
              </a:rPr>
              <a:t>Navigate to the Parties Involved &gt; Contacts screen.</a:t>
            </a:r>
          </a:p>
          <a:p>
            <a:pPr marL="490538" lvl="1" indent="-209550" eaLnBrk="1" hangingPunct="1">
              <a:buFontTx/>
              <a:buAutoNum type="arabicPeriod"/>
            </a:pPr>
            <a:r>
              <a:rPr lang="en-US" dirty="0" smtClean="0">
                <a:latin typeface="Arial" pitchFamily="34" charset="0"/>
              </a:rPr>
              <a:t>Click New Contact and choose the appropriate choice from the sub-menus (Person, Vendor, Company,</a:t>
            </a:r>
            <a:r>
              <a:rPr lang="en-US" baseline="0" dirty="0" smtClean="0">
                <a:latin typeface="Arial" pitchFamily="34" charset="0"/>
              </a:rPr>
              <a:t> Legal). </a:t>
            </a:r>
            <a:endParaRPr lang="en-US" dirty="0" smtClean="0">
              <a:latin typeface="Arial" pitchFamily="34" charset="0"/>
            </a:endParaRPr>
          </a:p>
          <a:p>
            <a:pPr marL="490538" lvl="1" indent="-209550" eaLnBrk="1" hangingPunct="1">
              <a:buFontTx/>
              <a:buAutoNum type="arabicPeriod"/>
            </a:pPr>
            <a:r>
              <a:rPr lang="en-US" dirty="0" smtClean="0">
                <a:latin typeface="Arial" pitchFamily="34" charset="0"/>
              </a:rPr>
              <a:t>On the Basics card, enter the contact information.</a:t>
            </a:r>
          </a:p>
          <a:p>
            <a:pPr marL="490538" lvl="1" indent="-209550" eaLnBrk="1" hangingPunct="1">
              <a:buFontTx/>
              <a:buAutoNum type="arabicPeriod"/>
            </a:pPr>
            <a:r>
              <a:rPr lang="en-US" dirty="0" smtClean="0">
                <a:latin typeface="Arial" pitchFamily="34" charset="0"/>
              </a:rPr>
              <a:t>You may wish to check</a:t>
            </a:r>
            <a:r>
              <a:rPr lang="en-US" baseline="0" dirty="0" smtClean="0">
                <a:latin typeface="Arial" pitchFamily="34" charset="0"/>
              </a:rPr>
              <a:t> the Address Book (ContactManager) for matches before creating new Contacts using the “Check for Duplicates” button. While the Address Book primarily stores vendor Contacts, you may check for duplicates of any kind (Persons, Vendors, Companies, Legal) that may exist. Checking for duplicates is only available upon Contact creation. In ContactManager, you may find existing duplicates using the “Merge Contacts” tool previously mentioned. This “Check for Duplicates” mechanism is a separate tool, and is in ClaimCenter only.</a:t>
            </a:r>
            <a:r>
              <a:rPr lang="en-US" dirty="0" smtClean="0">
                <a:latin typeface="Arial" pitchFamily="34" charset="0"/>
              </a:rPr>
              <a:t> The purpose is to identify existing contacts in ContactManager and copy the full and complete contact details into ClaimCenter instead of someone entering duplicate data.</a:t>
            </a:r>
            <a:endParaRPr lang="en-US" baseline="0" dirty="0" smtClean="0">
              <a:latin typeface="Arial" pitchFamily="34" charset="0"/>
            </a:endParaRPr>
          </a:p>
          <a:p>
            <a:pPr marL="0" lvl="0" indent="0" eaLnBrk="1" hangingPunct="1">
              <a:buFontTx/>
              <a:buNone/>
            </a:pPr>
            <a:endParaRPr lang="en-US" baseline="0" dirty="0" smtClean="0">
              <a:latin typeface="Arial" pitchFamily="34" charset="0"/>
            </a:endParaRPr>
          </a:p>
          <a:p>
            <a:pPr marL="0" lvl="0" indent="0" eaLnBrk="1" hangingPunct="1">
              <a:buFontTx/>
              <a:buNone/>
            </a:pPr>
            <a:r>
              <a:rPr lang="en-US" b="1" baseline="0" dirty="0" smtClean="0">
                <a:latin typeface="Arial" pitchFamily="34" charset="0"/>
              </a:rPr>
              <a:t>Person contact duplicates are matched using a combination of: </a:t>
            </a:r>
            <a:r>
              <a:rPr lang="en-US" b="0" baseline="0" dirty="0" smtClean="0">
                <a:latin typeface="Arial" pitchFamily="34" charset="0"/>
              </a:rPr>
              <a:t>L</a:t>
            </a:r>
            <a:r>
              <a:rPr lang="en-US" baseline="0" dirty="0" smtClean="0">
                <a:latin typeface="Arial" pitchFamily="34" charset="0"/>
              </a:rPr>
              <a:t>ast name and one of address, phone, Tax ID (Social Security Number), Date of Birth or Driver’s License information.</a:t>
            </a:r>
          </a:p>
          <a:p>
            <a:pPr marL="0" lvl="0" indent="0" eaLnBrk="1" hangingPunct="1">
              <a:buFontTx/>
              <a:buNone/>
            </a:pPr>
            <a:r>
              <a:rPr lang="en-US" b="1" baseline="0" dirty="0" smtClean="0">
                <a:latin typeface="Arial" pitchFamily="34" charset="0"/>
              </a:rPr>
              <a:t>Company or vendor contact duplicates are matched using a combination of: </a:t>
            </a:r>
            <a:r>
              <a:rPr lang="en-US" b="0" baseline="0" dirty="0" smtClean="0">
                <a:latin typeface="Arial" pitchFamily="34" charset="0"/>
              </a:rPr>
              <a:t>N</a:t>
            </a:r>
            <a:r>
              <a:rPr lang="en-US" baseline="0" dirty="0" smtClean="0">
                <a:latin typeface="Arial" pitchFamily="34" charset="0"/>
              </a:rPr>
              <a:t>ame and Tax ID.</a:t>
            </a:r>
          </a:p>
          <a:p>
            <a:pPr marL="0" lvl="0" indent="0" eaLnBrk="1" hangingPunct="1">
              <a:buFontTx/>
              <a:buNone/>
            </a:pPr>
            <a:endParaRPr lang="en-US" dirty="0">
              <a:latin typeface="Arial" pitchFamily="34" charset="0"/>
            </a:endParaRPr>
          </a:p>
          <a:p>
            <a:pPr marL="0" lvl="0" indent="0" eaLnBrk="1" hangingPunct="1">
              <a:buFontTx/>
              <a:buNone/>
            </a:pPr>
            <a:r>
              <a:rPr lang="en-US" dirty="0" smtClean="0">
                <a:latin typeface="Arial" pitchFamily="34" charset="0"/>
              </a:rPr>
              <a:t>The duplicate finding/matching is very similar to the behavior involved in linking a ClaimCenter local contact to CM. This is discussed in the next lesson (Shared Contacts). </a:t>
            </a:r>
            <a:endParaRPr lang="en-US" dirty="0"/>
          </a:p>
        </p:txBody>
      </p:sp>
      <p:sp>
        <p:nvSpPr>
          <p:cNvPr id="4" name="Header Placeholder 3"/>
          <p:cNvSpPr>
            <a:spLocks noGrp="1"/>
          </p:cNvSpPr>
          <p:nvPr>
            <p:ph type="hdr" sz="quarter" idx="10"/>
          </p:nvPr>
        </p:nvSpPr>
        <p:spPr/>
        <p:txBody>
          <a:bodyPr/>
          <a:lstStyle/>
          <a:p>
            <a:pPr>
              <a:defRPr/>
            </a:pPr>
            <a:r>
              <a:rPr lang="en-US" altLang="en-US" smtClean="0"/>
              <a:t>	</a:t>
            </a:r>
            <a:endParaRPr lang="en-US"/>
          </a:p>
        </p:txBody>
      </p:sp>
      <p:sp>
        <p:nvSpPr>
          <p:cNvPr id="5" name="Slide Number Placeholder 4"/>
          <p:cNvSpPr>
            <a:spLocks noGrp="1"/>
          </p:cNvSpPr>
          <p:nvPr>
            <p:ph type="sldNum" sz="quarter" idx="11"/>
          </p:nvPr>
        </p:nvSpPr>
        <p:spPr/>
        <p:txBody>
          <a:bodyPr/>
          <a:lstStyle/>
          <a:p>
            <a:pPr>
              <a:defRPr/>
            </a:pPr>
            <a:r>
              <a:rPr lang="en-US" altLang="en-US" smtClean="0"/>
              <a:t>	Contacts - </a:t>
            </a:r>
            <a:fld id="{E7C66B2F-6EDE-41C2-98D2-D39A07C65A75}" type="slidenum">
              <a:rPr lang="en-US" altLang="en-US" smtClean="0"/>
              <a:pPr>
                <a:defRPr/>
              </a:pPr>
              <a:t>29</a:t>
            </a:fld>
            <a:endParaRPr lang="en-US" altLang="en-US"/>
          </a:p>
        </p:txBody>
      </p:sp>
    </p:spTree>
    <p:extLst>
      <p:ext uri="{BB962C8B-B14F-4D97-AF65-F5344CB8AC3E}">
        <p14:creationId xmlns:p14="http://schemas.microsoft.com/office/powerpoint/2010/main" val="951126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|EON~030|</a:t>
            </a:r>
            <a:endParaRPr lang="en-US" sz="100">
              <a:solidFill>
                <a:srgbClr val="FFFFFF"/>
              </a:solidFill>
              <a:latin typeface="Arial"/>
            </a:endParaRP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0988" lvl="1" indent="0" eaLnBrk="1" hangingPunct="1">
              <a:buFontTx/>
              <a:buNone/>
            </a:pPr>
            <a:r>
              <a:rPr lang="en-US" dirty="0" smtClean="0">
                <a:latin typeface="Arial" pitchFamily="34" charset="0"/>
              </a:rPr>
              <a:t>4. You must add at least one role to the contact. To add a role, click the Add button in the Roles list view. Complete the information in the new row.</a:t>
            </a:r>
          </a:p>
          <a:p>
            <a:pPr marL="280988" lvl="1" indent="0" eaLnBrk="1" hangingPunct="1">
              <a:buFontTx/>
              <a:buNone/>
            </a:pPr>
            <a:r>
              <a:rPr lang="en-US" dirty="0" smtClean="0">
                <a:latin typeface="Arial" pitchFamily="34" charset="0"/>
              </a:rPr>
              <a:t>5. When the information about the contact is complete, click Update. This returns you to the Contacts list.</a:t>
            </a:r>
          </a:p>
          <a:p>
            <a:pPr marL="280988" lvl="1" indent="0" eaLnBrk="1" hangingPunct="1">
              <a:buFontTx/>
              <a:buNone/>
            </a:pPr>
            <a:r>
              <a:rPr lang="en-US" dirty="0" smtClean="0">
                <a:latin typeface="Arial" pitchFamily="34" charset="0"/>
              </a:rPr>
              <a:t>6.</a:t>
            </a:r>
            <a:r>
              <a:rPr lang="en-US" baseline="0" dirty="0" smtClean="0">
                <a:latin typeface="Arial" pitchFamily="34" charset="0"/>
              </a:rPr>
              <a:t> </a:t>
            </a:r>
            <a:r>
              <a:rPr lang="en-US" dirty="0" smtClean="0">
                <a:latin typeface="Arial" pitchFamily="34" charset="0"/>
              </a:rPr>
              <a:t>In the base application user interface, the statement</a:t>
            </a:r>
            <a:r>
              <a:rPr lang="en-US" baseline="0" dirty="0" smtClean="0">
                <a:latin typeface="Arial" pitchFamily="34" charset="0"/>
              </a:rPr>
              <a:t> </a:t>
            </a:r>
            <a:r>
              <a:rPr lang="en-US" dirty="0" smtClean="0">
                <a:latin typeface="Arial" pitchFamily="34" charset="0"/>
              </a:rPr>
              <a:t>"not linked to the</a:t>
            </a:r>
            <a:r>
              <a:rPr lang="en-US" baseline="0" dirty="0" smtClean="0">
                <a:latin typeface="Arial" pitchFamily="34" charset="0"/>
              </a:rPr>
              <a:t> Address Book</a:t>
            </a:r>
            <a:r>
              <a:rPr lang="en-US" dirty="0" smtClean="0">
                <a:latin typeface="Arial" pitchFamily="34" charset="0"/>
              </a:rPr>
              <a:t>" is used to denote a</a:t>
            </a:r>
            <a:r>
              <a:rPr lang="en-US" baseline="0" dirty="0" smtClean="0">
                <a:latin typeface="Arial" pitchFamily="34" charset="0"/>
              </a:rPr>
              <a:t> local ClaimCenter contact.</a:t>
            </a:r>
          </a:p>
          <a:p>
            <a:pPr marL="280988" lvl="1" indent="0" eaLnBrk="1" hangingPunct="1">
              <a:buFontTx/>
              <a:buNone/>
            </a:pPr>
            <a:endParaRPr lang="en-US" baseline="0" dirty="0" smtClean="0">
              <a:latin typeface="Arial" pitchFamily="34" charset="0"/>
            </a:endParaRPr>
          </a:p>
          <a:p>
            <a:pPr marL="0" lvl="0" indent="-61912" eaLnBrk="1" hangingPunct="1">
              <a:buFontTx/>
              <a:buNone/>
            </a:pPr>
            <a:r>
              <a:rPr lang="en-US" baseline="0" dirty="0" smtClean="0">
                <a:latin typeface="Arial" pitchFamily="34" charset="0"/>
              </a:rPr>
              <a:t>In this case, there is no need to link this particular contact (a Witness) to the </a:t>
            </a:r>
            <a:r>
              <a:rPr lang="en-US" baseline="0" dirty="0" err="1" smtClean="0">
                <a:latin typeface="Arial" pitchFamily="34" charset="0"/>
              </a:rPr>
              <a:t>AddressBook</a:t>
            </a:r>
            <a:r>
              <a:rPr lang="en-US" baseline="0" dirty="0" smtClean="0">
                <a:latin typeface="Arial" pitchFamily="34" charset="0"/>
              </a:rPr>
              <a:t>.</a:t>
            </a:r>
            <a:endParaRPr lang="en-US" dirty="0" smtClean="0">
              <a:latin typeface="Arial" pitchFamily="34" charset="0"/>
            </a:endParaRPr>
          </a:p>
          <a:p>
            <a:endParaRPr lang="en-US" dirty="0"/>
          </a:p>
        </p:txBody>
      </p:sp>
      <p:sp>
        <p:nvSpPr>
          <p:cNvPr id="4" name="Header Placeholder 3"/>
          <p:cNvSpPr>
            <a:spLocks noGrp="1"/>
          </p:cNvSpPr>
          <p:nvPr>
            <p:ph type="hdr" sz="quarter" idx="10"/>
          </p:nvPr>
        </p:nvSpPr>
        <p:spPr/>
        <p:txBody>
          <a:bodyPr/>
          <a:lstStyle/>
          <a:p>
            <a:pPr>
              <a:defRPr/>
            </a:pPr>
            <a:r>
              <a:rPr lang="en-US" altLang="en-US" smtClean="0"/>
              <a:t>	</a:t>
            </a:r>
            <a:endParaRPr lang="en-US"/>
          </a:p>
        </p:txBody>
      </p:sp>
      <p:sp>
        <p:nvSpPr>
          <p:cNvPr id="5" name="Slide Number Placeholder 4"/>
          <p:cNvSpPr>
            <a:spLocks noGrp="1"/>
          </p:cNvSpPr>
          <p:nvPr>
            <p:ph type="sldNum" sz="quarter" idx="11"/>
          </p:nvPr>
        </p:nvSpPr>
        <p:spPr/>
        <p:txBody>
          <a:bodyPr/>
          <a:lstStyle/>
          <a:p>
            <a:pPr>
              <a:defRPr/>
            </a:pPr>
            <a:r>
              <a:rPr lang="en-US" altLang="en-US" smtClean="0"/>
              <a:t>	Contacts - </a:t>
            </a:r>
            <a:fld id="{E7C66B2F-6EDE-41C2-98D2-D39A07C65A75}" type="slidenum">
              <a:rPr lang="en-US" altLang="en-US" smtClean="0"/>
              <a:pPr>
                <a:defRPr/>
              </a:pPr>
              <a:t>30</a:t>
            </a:fld>
            <a:endParaRPr lang="en-US" altLang="en-US"/>
          </a:p>
        </p:txBody>
      </p:sp>
    </p:spTree>
    <p:extLst>
      <p:ext uri="{BB962C8B-B14F-4D97-AF65-F5344CB8AC3E}">
        <p14:creationId xmlns:p14="http://schemas.microsoft.com/office/powerpoint/2010/main" val="40238833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|EON~031|</a:t>
            </a:r>
            <a:endParaRPr lang="en-US" sz="100">
              <a:solidFill>
                <a:srgbClr val="FFFFFF"/>
              </a:solidFill>
              <a:latin typeface="Arial"/>
            </a:endParaRPr>
          </a:p>
        </p:txBody>
      </p:sp>
      <p:sp>
        <p:nvSpPr>
          <p:cNvPr id="931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931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F8923DE5-D8BA-4E4D-BA95-12BE81AE8CA3}" type="slidenum">
              <a:rPr lang="en-US" altLang="en-US" sz="1200" smtClean="0">
                <a:solidFill>
                  <a:schemeClr val="tx1"/>
                </a:solidFill>
              </a:rPr>
              <a:pPr eaLnBrk="1" hangingPunct="1"/>
              <a:t>31</a:t>
            </a:fld>
            <a:endParaRPr lang="en-US" altLang="en-US" sz="1200" smtClean="0">
              <a:solidFill>
                <a:schemeClr val="tx1"/>
              </a:solidFill>
            </a:endParaRPr>
          </a:p>
        </p:txBody>
      </p:sp>
      <p:sp>
        <p:nvSpPr>
          <p:cNvPr id="93188" name="Rectangle 2"/>
          <p:cNvSpPr>
            <a:spLocks noGrp="1" noRot="1" noChangeAspect="1" noChangeArrowheads="1" noTextEdit="1"/>
          </p:cNvSpPr>
          <p:nvPr>
            <p:ph type="sldImg"/>
          </p:nvPr>
        </p:nvSpPr>
        <p:spPr>
          <a:xfrm>
            <a:off x="715963" y="630238"/>
            <a:ext cx="5432425" cy="4073525"/>
          </a:xfrm>
          <a:ln/>
        </p:spPr>
      </p:sp>
      <p:sp>
        <p:nvSpPr>
          <p:cNvPr id="931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latin typeface="Arial" pitchFamily="34" charset="0"/>
              </a:rPr>
              <a:t>Recall that a contact may have more than one role and that each role is held in relation to the entire claim or to a specific exposure, incident, or policy.</a:t>
            </a:r>
          </a:p>
          <a:p>
            <a:pPr eaLnBrk="1" hangingPunct="1"/>
            <a:r>
              <a:rPr lang="en-US" dirty="0" smtClean="0">
                <a:latin typeface="Arial" pitchFamily="34" charset="0"/>
              </a:rPr>
              <a:t>The default relationship for each role is the entire claim, which appears in the Related To dropdown as the claim number.</a:t>
            </a:r>
          </a:p>
          <a:p>
            <a:pPr eaLnBrk="1" hangingPunct="1"/>
            <a:r>
              <a:rPr lang="en-US" dirty="0" smtClean="0">
                <a:latin typeface="Arial" pitchFamily="34" charset="0"/>
              </a:rPr>
              <a:t>In the example above, Helen Nixon:</a:t>
            </a:r>
          </a:p>
          <a:p>
            <a:pPr lvl="1" eaLnBrk="1" hangingPunct="1"/>
            <a:r>
              <a:rPr lang="en-US" dirty="0" smtClean="0">
                <a:latin typeface="Arial" pitchFamily="34" charset="0"/>
              </a:rPr>
              <a:t>Has the role of witness for the entire claim.</a:t>
            </a:r>
          </a:p>
          <a:p>
            <a:pPr lvl="1" eaLnBrk="1" hangingPunct="1"/>
            <a:r>
              <a:rPr lang="en-US" dirty="0" smtClean="0">
                <a:latin typeface="Arial" pitchFamily="34" charset="0"/>
              </a:rPr>
              <a:t>Has the role of passenger only for the 2003 BMW 355i incident.</a:t>
            </a:r>
          </a:p>
          <a:p>
            <a:pPr eaLnBrk="1" hangingPunct="1"/>
            <a:endParaRPr lang="en-US" dirty="0" smtClean="0">
              <a:latin typeface="Arial"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|EON~032|</a:t>
            </a:r>
            <a:endParaRPr lang="en-US" sz="100">
              <a:solidFill>
                <a:srgbClr val="FFFFFF"/>
              </a:solidFill>
              <a:latin typeface="Arial"/>
            </a:endParaRP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eaLnBrk="1" hangingPunct="1">
              <a:buFont typeface="+mj-lt"/>
              <a:buAutoNum type="arabicPeriod"/>
            </a:pPr>
            <a:r>
              <a:rPr lang="en-US" dirty="0" smtClean="0">
                <a:latin typeface="Arial" pitchFamily="34" charset="0"/>
              </a:rPr>
              <a:t>Navigate to the Contacts screen,</a:t>
            </a:r>
            <a:r>
              <a:rPr lang="en-US" baseline="0" dirty="0" smtClean="0">
                <a:latin typeface="Arial" pitchFamily="34" charset="0"/>
              </a:rPr>
              <a:t> which appears in the Parties Involved screen. </a:t>
            </a:r>
          </a:p>
          <a:p>
            <a:pPr marL="228600" indent="-228600" eaLnBrk="1" hangingPunct="1">
              <a:buFont typeface="+mj-lt"/>
              <a:buAutoNum type="arabicPeriod"/>
            </a:pPr>
            <a:r>
              <a:rPr lang="en-US" dirty="0" smtClean="0">
                <a:latin typeface="Arial" pitchFamily="34" charset="0"/>
              </a:rPr>
              <a:t>Click Add Existing Contact and specify</a:t>
            </a:r>
            <a:r>
              <a:rPr lang="en-US" baseline="0" dirty="0" smtClean="0">
                <a:latin typeface="Arial" pitchFamily="34" charset="0"/>
              </a:rPr>
              <a:t> search criteria</a:t>
            </a:r>
            <a:r>
              <a:rPr lang="en-US" dirty="0" smtClean="0">
                <a:latin typeface="Arial" pitchFamily="34" charset="0"/>
              </a:rPr>
              <a:t>. </a:t>
            </a:r>
          </a:p>
          <a:p>
            <a:pPr marL="228600" indent="-228600" eaLnBrk="1" hangingPunct="1">
              <a:buFont typeface="+mj-lt"/>
              <a:buAutoNum type="arabicPeriod"/>
            </a:pPr>
            <a:r>
              <a:rPr lang="en-US" dirty="0" smtClean="0">
                <a:latin typeface="Arial" pitchFamily="34" charset="0"/>
              </a:rPr>
              <a:t>Click Search</a:t>
            </a:r>
            <a:endParaRPr lang="en-US" dirty="0"/>
          </a:p>
        </p:txBody>
      </p:sp>
      <p:sp>
        <p:nvSpPr>
          <p:cNvPr id="4" name="Header Placeholder 3"/>
          <p:cNvSpPr>
            <a:spLocks noGrp="1"/>
          </p:cNvSpPr>
          <p:nvPr>
            <p:ph type="hdr" sz="quarter" idx="10"/>
          </p:nvPr>
        </p:nvSpPr>
        <p:spPr/>
        <p:txBody>
          <a:bodyPr/>
          <a:lstStyle/>
          <a:p>
            <a:pPr>
              <a:defRPr/>
            </a:pPr>
            <a:r>
              <a:rPr lang="en-US" altLang="en-US" smtClean="0"/>
              <a:t>	</a:t>
            </a:r>
            <a:endParaRPr lang="en-US"/>
          </a:p>
        </p:txBody>
      </p:sp>
      <p:sp>
        <p:nvSpPr>
          <p:cNvPr id="5" name="Slide Number Placeholder 4"/>
          <p:cNvSpPr>
            <a:spLocks noGrp="1"/>
          </p:cNvSpPr>
          <p:nvPr>
            <p:ph type="sldNum" sz="quarter" idx="11"/>
          </p:nvPr>
        </p:nvSpPr>
        <p:spPr/>
        <p:txBody>
          <a:bodyPr/>
          <a:lstStyle/>
          <a:p>
            <a:pPr>
              <a:defRPr/>
            </a:pPr>
            <a:r>
              <a:rPr lang="en-US" altLang="en-US" smtClean="0"/>
              <a:t>	Contacts - </a:t>
            </a:r>
            <a:fld id="{E7C66B2F-6EDE-41C2-98D2-D39A07C65A75}" type="slidenum">
              <a:rPr lang="en-US" altLang="en-US" smtClean="0"/>
              <a:pPr>
                <a:defRPr/>
              </a:pPr>
              <a:t>32</a:t>
            </a:fld>
            <a:endParaRPr lang="en-US" altLang="en-US"/>
          </a:p>
        </p:txBody>
      </p:sp>
    </p:spTree>
    <p:extLst>
      <p:ext uri="{BB962C8B-B14F-4D97-AF65-F5344CB8AC3E}">
        <p14:creationId xmlns:p14="http://schemas.microsoft.com/office/powerpoint/2010/main" val="5858411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|EON~033|</a:t>
            </a:r>
            <a:endParaRPr lang="en-US" sz="100">
              <a:solidFill>
                <a:srgbClr val="FFFFFF"/>
              </a:solidFill>
              <a:latin typeface="Arial"/>
            </a:endParaRPr>
          </a:p>
        </p:txBody>
      </p:sp>
      <p:sp>
        <p:nvSpPr>
          <p:cNvPr id="942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942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BB0E401C-4904-4045-8616-B4615C85FE7C}" type="slidenum">
              <a:rPr lang="en-US" altLang="en-US" sz="1200" smtClean="0">
                <a:solidFill>
                  <a:schemeClr val="tx1"/>
                </a:solidFill>
              </a:rPr>
              <a:pPr eaLnBrk="1" hangingPunct="1"/>
              <a:t>33</a:t>
            </a:fld>
            <a:endParaRPr lang="en-US" altLang="en-US" sz="1200" smtClean="0">
              <a:solidFill>
                <a:schemeClr val="tx1"/>
              </a:solidFill>
            </a:endParaRPr>
          </a:p>
        </p:txBody>
      </p:sp>
      <p:sp>
        <p:nvSpPr>
          <p:cNvPr id="94212" name="Rectangle 2"/>
          <p:cNvSpPr>
            <a:spLocks noGrp="1" noRot="1" noChangeAspect="1" noChangeArrowheads="1" noTextEdit="1"/>
          </p:cNvSpPr>
          <p:nvPr>
            <p:ph type="sldImg"/>
          </p:nvPr>
        </p:nvSpPr>
        <p:spPr>
          <a:xfrm>
            <a:off x="715963" y="630238"/>
            <a:ext cx="5432425" cy="4073525"/>
          </a:xfrm>
          <a:ln/>
        </p:spPr>
      </p:sp>
      <p:sp>
        <p:nvSpPr>
          <p:cNvPr id="942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763" lvl="0" indent="0" eaLnBrk="1" hangingPunct="1">
              <a:buFont typeface="+mj-lt"/>
              <a:buNone/>
            </a:pPr>
            <a:r>
              <a:rPr lang="en-US" dirty="0" smtClean="0">
                <a:latin typeface="Arial" pitchFamily="34" charset="0"/>
              </a:rPr>
              <a:t>Continued:</a:t>
            </a:r>
          </a:p>
          <a:p>
            <a:pPr marL="347663" lvl="1" indent="0" eaLnBrk="1" hangingPunct="1">
              <a:buFont typeface="+mj-lt"/>
              <a:buNone/>
            </a:pPr>
            <a:endParaRPr lang="en-US" dirty="0" smtClean="0">
              <a:latin typeface="Arial" pitchFamily="34" charset="0"/>
            </a:endParaRPr>
          </a:p>
          <a:p>
            <a:pPr marL="347663" lvl="1" indent="0" eaLnBrk="1" hangingPunct="1">
              <a:buFont typeface="+mj-lt"/>
              <a:buNone/>
            </a:pPr>
            <a:r>
              <a:rPr lang="en-US" dirty="0" smtClean="0">
                <a:latin typeface="Arial" pitchFamily="34" charset="0"/>
              </a:rPr>
              <a:t>4. Click the Select button corresponding to the desired contact, which creates a copy of the contact in </a:t>
            </a:r>
            <a:r>
              <a:rPr lang="en-US" dirty="0" err="1" smtClean="0">
                <a:latin typeface="Arial" pitchFamily="34" charset="0"/>
              </a:rPr>
              <a:t>ClaimCenter</a:t>
            </a:r>
            <a:r>
              <a:rPr lang="en-US" dirty="0" smtClean="0">
                <a:latin typeface="Arial" pitchFamily="34" charset="0"/>
              </a:rPr>
              <a:t>.</a:t>
            </a:r>
          </a:p>
          <a:p>
            <a:pPr marL="347663" lvl="1" indent="0" eaLnBrk="1" hangingPunct="1">
              <a:buFont typeface="+mj-lt"/>
              <a:buNone/>
            </a:pPr>
            <a:r>
              <a:rPr lang="en-US" dirty="0" smtClean="0">
                <a:latin typeface="Arial" pitchFamily="34" charset="0"/>
              </a:rPr>
              <a:t>5. Add</a:t>
            </a:r>
            <a:r>
              <a:rPr lang="en-US" baseline="0" dirty="0" smtClean="0">
                <a:latin typeface="Arial" pitchFamily="34" charset="0"/>
              </a:rPr>
              <a:t> a role for the selected contact – in this example, the role is a Repair Shop </a:t>
            </a:r>
          </a:p>
          <a:p>
            <a:pPr marL="347663" lvl="1" indent="0" eaLnBrk="1" hangingPunct="1">
              <a:buFont typeface="+mj-lt"/>
              <a:buNone/>
            </a:pPr>
            <a:r>
              <a:rPr lang="en-US" dirty="0" smtClean="0">
                <a:latin typeface="Arial" pitchFamily="34" charset="0"/>
              </a:rPr>
              <a:t>6. Click Update. This returns you to the Contacts list,</a:t>
            </a:r>
            <a:r>
              <a:rPr lang="en-US" baseline="0" dirty="0" smtClean="0">
                <a:latin typeface="Arial" pitchFamily="34" charset="0"/>
              </a:rPr>
              <a:t> and t</a:t>
            </a:r>
            <a:r>
              <a:rPr lang="en-US" dirty="0" smtClean="0">
                <a:latin typeface="Arial" pitchFamily="34" charset="0"/>
              </a:rPr>
              <a:t>he new contact appears in the list of contacts. </a:t>
            </a:r>
          </a:p>
          <a:p>
            <a:pPr eaLnBrk="1" hangingPunct="1"/>
            <a:endParaRPr lang="en-US" dirty="0" smtClean="0">
              <a:latin typeface="Arial" pitchFamily="34" charset="0"/>
            </a:endParaRPr>
          </a:p>
          <a:p>
            <a:pPr marL="0" marR="0" lvl="0" indent="0" algn="l" defTabSz="914400" rtl="0" eaLnBrk="1" fontAlgn="base" latinLnBrk="0" hangingPunct="1">
              <a:lnSpc>
                <a:spcPct val="100000"/>
              </a:lnSpc>
              <a:spcBef>
                <a:spcPct val="10000"/>
              </a:spcBef>
              <a:spcAft>
                <a:spcPct val="0"/>
              </a:spcAft>
              <a:buClrTx/>
              <a:buSzTx/>
              <a:buFontTx/>
              <a:buNone/>
              <a:tabLst/>
              <a:defRPr/>
            </a:pPr>
            <a:r>
              <a:rPr lang="en-US" dirty="0" smtClean="0">
                <a:latin typeface="Arial" pitchFamily="34" charset="0"/>
              </a:rPr>
              <a:t>NOTE: If you were to add a “local” vendor or company in ClaimCenter, it will become shared with the</a:t>
            </a:r>
            <a:r>
              <a:rPr lang="en-US" baseline="0" dirty="0" smtClean="0">
                <a:latin typeface="Arial" pitchFamily="34" charset="0"/>
              </a:rPr>
              <a:t> AB because the vendor addition will be pushed to ContactManager pending approval. Addition of a vendor requires including the name of the vendor and a Tax ID.</a:t>
            </a:r>
            <a:endParaRPr lang="en-US" dirty="0" smtClean="0">
              <a:latin typeface="Arial"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|EON~034|</a:t>
            </a:r>
            <a:endParaRPr lang="en-US" sz="100">
              <a:solidFill>
                <a:srgbClr val="FFFFFF"/>
              </a:solidFill>
              <a:latin typeface="Arial"/>
            </a:endParaRPr>
          </a:p>
        </p:txBody>
      </p:sp>
      <p:sp>
        <p:nvSpPr>
          <p:cNvPr id="952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952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5ACC863B-7A20-4AFC-8377-CF44CB6D1D38}" type="slidenum">
              <a:rPr lang="en-US" altLang="en-US" sz="1200" smtClean="0">
                <a:solidFill>
                  <a:schemeClr val="tx1"/>
                </a:solidFill>
              </a:rPr>
              <a:pPr eaLnBrk="1" hangingPunct="1"/>
              <a:t>34</a:t>
            </a:fld>
            <a:endParaRPr lang="en-US" altLang="en-US" sz="1200" smtClean="0">
              <a:solidFill>
                <a:schemeClr val="tx1"/>
              </a:solidFill>
            </a:endParaRPr>
          </a:p>
        </p:txBody>
      </p:sp>
      <p:sp>
        <p:nvSpPr>
          <p:cNvPr id="95236" name="Rectangle 2"/>
          <p:cNvSpPr>
            <a:spLocks noGrp="1" noRot="1" noChangeAspect="1" noChangeArrowheads="1" noTextEdit="1"/>
          </p:cNvSpPr>
          <p:nvPr>
            <p:ph type="sldImg"/>
          </p:nvPr>
        </p:nvSpPr>
        <p:spPr>
          <a:ln/>
        </p:spPr>
      </p:sp>
      <p:sp>
        <p:nvSpPr>
          <p:cNvPr id="952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latin typeface="Arial" pitchFamily="34" charset="0"/>
              </a:rPr>
              <a:t>When you</a:t>
            </a:r>
            <a:r>
              <a:rPr lang="en-US" baseline="0" dirty="0" smtClean="0">
                <a:latin typeface="Arial" pitchFamily="34" charset="0"/>
              </a:rPr>
              <a:t> select a contact</a:t>
            </a:r>
            <a:r>
              <a:rPr lang="en-US" dirty="0" smtClean="0">
                <a:latin typeface="Arial" pitchFamily="34" charset="0"/>
              </a:rPr>
              <a:t>, you can find the </a:t>
            </a:r>
            <a:r>
              <a:rPr lang="en-US" i="1" dirty="0" smtClean="0">
                <a:latin typeface="Arial" pitchFamily="34" charset="0"/>
              </a:rPr>
              <a:t>Transfer roles from other contacts… </a:t>
            </a:r>
            <a:r>
              <a:rPr lang="en-US" dirty="0" smtClean="0">
                <a:latin typeface="Arial" pitchFamily="34" charset="0"/>
              </a:rPr>
              <a:t>button on the Basics card for that contact. </a:t>
            </a:r>
          </a:p>
          <a:p>
            <a:r>
              <a:rPr lang="en-US" dirty="0" smtClean="0">
                <a:latin typeface="Arial" pitchFamily="34" charset="0"/>
              </a:rPr>
              <a:t>This button takes you to a popup where you can decide what other contact(s)’ roles to transfer to this contact. </a:t>
            </a:r>
          </a:p>
          <a:p>
            <a:r>
              <a:rPr lang="en-US" dirty="0" smtClean="0">
                <a:latin typeface="Arial" pitchFamily="34" charset="0"/>
              </a:rPr>
              <a:t>This contact remains on the claim and inherits all roles of the other selected contacts. The other selected contacts are then removed from the claim. </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|EON~035|</a:t>
            </a:r>
            <a:endParaRPr lang="en-US" sz="100">
              <a:solidFill>
                <a:srgbClr val="FFFFFF"/>
              </a:solidFill>
              <a:latin typeface="Arial"/>
            </a:endParaRPr>
          </a:p>
        </p:txBody>
      </p:sp>
      <p:sp>
        <p:nvSpPr>
          <p:cNvPr id="96258"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marL="228600" indent="-228600">
              <a:buFont typeface="+mj-lt"/>
              <a:buAutoNum type="arabicPeriod"/>
              <a:defRPr/>
            </a:pPr>
            <a:r>
              <a:rPr lang="en-US" dirty="0" smtClean="0"/>
              <a:t>Select the checkboxes for one or more other contacts by checking the checkboxes. These contacts will be removed from the claim, and their roles added to the surviving contact. </a:t>
            </a:r>
          </a:p>
          <a:p>
            <a:pPr marL="228600" indent="-228600">
              <a:buFont typeface="+mj-lt"/>
              <a:buAutoNum type="arabicPeriod"/>
              <a:defRPr/>
            </a:pPr>
            <a:r>
              <a:rPr lang="en-US" dirty="0" smtClean="0"/>
              <a:t>Click Select. The contacts selected in step 1 are moves to a “to be removed” list view, and all roles from these contacts are added to the new list of roles for the surviving contact.</a:t>
            </a:r>
          </a:p>
          <a:p>
            <a:pPr marL="228600" indent="-228600">
              <a:buFont typeface="+mj-lt"/>
              <a:buNone/>
              <a:defRPr/>
            </a:pPr>
            <a:r>
              <a:rPr lang="en-US" dirty="0" smtClean="0"/>
              <a:t>Note that the title of this screen highlights the name of the surviving contact.</a:t>
            </a:r>
          </a:p>
          <a:p>
            <a:pPr>
              <a:defRPr/>
            </a:pPr>
            <a:endParaRPr lang="en-US" dirty="0" smtClean="0"/>
          </a:p>
          <a:p>
            <a:pPr>
              <a:defRPr/>
            </a:pPr>
            <a:endParaRPr lang="en-US" dirty="0"/>
          </a:p>
        </p:txBody>
      </p:sp>
      <p:sp>
        <p:nvSpPr>
          <p:cNvPr id="96260" name="Header Placeholder 3"/>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96261"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FA087534-DF10-419E-A9DD-0B443A666ED4}" type="slidenum">
              <a:rPr lang="en-US" altLang="en-US" sz="1200" smtClean="0">
                <a:solidFill>
                  <a:schemeClr val="tx1"/>
                </a:solidFill>
              </a:rPr>
              <a:pPr eaLnBrk="1" hangingPunct="1"/>
              <a:t>35</a:t>
            </a:fld>
            <a:endParaRPr lang="en-US" altLang="en-US" sz="1200" smtClean="0">
              <a:solidFill>
                <a:schemeClr val="tx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|EON~036|</a:t>
            </a:r>
            <a:endParaRPr lang="en-US" sz="100">
              <a:solidFill>
                <a:srgbClr val="FFFFFF"/>
              </a:solidFill>
              <a:latin typeface="Arial"/>
            </a:endParaRPr>
          </a:p>
        </p:txBody>
      </p:sp>
      <p:sp>
        <p:nvSpPr>
          <p:cNvPr id="97282" name="Slide Image Placeholder 1"/>
          <p:cNvSpPr>
            <a:spLocks noGrp="1" noRot="1" noChangeAspect="1" noTextEdit="1"/>
          </p:cNvSpPr>
          <p:nvPr>
            <p:ph type="sldImg"/>
          </p:nvPr>
        </p:nvSpPr>
        <p:spPr>
          <a:ln/>
        </p:spPr>
      </p:sp>
      <p:sp>
        <p:nvSpPr>
          <p:cNvPr id="972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Arial" pitchFamily="34" charset="0"/>
            </a:endParaRPr>
          </a:p>
        </p:txBody>
      </p:sp>
      <p:sp>
        <p:nvSpPr>
          <p:cNvPr id="97284" name="Header Placeholder 3"/>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97285"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DF1A3049-2820-4F02-BAB4-EE965527DEB5}" type="slidenum">
              <a:rPr lang="en-US" altLang="en-US" sz="1200" smtClean="0">
                <a:solidFill>
                  <a:schemeClr val="tx1"/>
                </a:solidFill>
              </a:rPr>
              <a:pPr eaLnBrk="1" hangingPunct="1"/>
              <a:t>36</a:t>
            </a:fld>
            <a:endParaRPr lang="en-US" altLang="en-US" sz="1200" smtClean="0">
              <a:solidFill>
                <a:schemeClr val="tx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|EON~037|</a:t>
            </a:r>
            <a:endParaRPr lang="en-US" sz="100">
              <a:solidFill>
                <a:srgbClr val="FFFFFF"/>
              </a:solidFill>
              <a:latin typeface="Arial"/>
            </a:endParaRPr>
          </a:p>
        </p:txBody>
      </p:sp>
      <p:sp>
        <p:nvSpPr>
          <p:cNvPr id="1105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1105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E3BD80B3-4296-484F-A1C3-9F33D72086F9}" type="slidenum">
              <a:rPr lang="en-US" altLang="en-US" sz="1200" smtClean="0">
                <a:solidFill>
                  <a:schemeClr val="tx1"/>
                </a:solidFill>
              </a:rPr>
              <a:pPr eaLnBrk="1" hangingPunct="1"/>
              <a:t>37</a:t>
            </a:fld>
            <a:endParaRPr lang="en-US" altLang="en-US" sz="1200" smtClean="0">
              <a:solidFill>
                <a:schemeClr val="tx1"/>
              </a:solidFill>
            </a:endParaRPr>
          </a:p>
        </p:txBody>
      </p:sp>
      <p:sp>
        <p:nvSpPr>
          <p:cNvPr id="110596" name="Rectangle 2"/>
          <p:cNvSpPr>
            <a:spLocks noGrp="1" noRot="1" noChangeAspect="1" noChangeArrowheads="1" noTextEdit="1"/>
          </p:cNvSpPr>
          <p:nvPr>
            <p:ph type="sldImg"/>
          </p:nvPr>
        </p:nvSpPr>
        <p:spPr>
          <a:xfrm>
            <a:off x="715963" y="630238"/>
            <a:ext cx="5432425" cy="4073525"/>
          </a:xfrm>
          <a:ln/>
        </p:spPr>
      </p:sp>
      <p:sp>
        <p:nvSpPr>
          <p:cNvPr id="1105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latin typeface="Arial"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|EON~038|</a:t>
            </a:r>
            <a:endParaRPr lang="en-US" sz="100">
              <a:solidFill>
                <a:srgbClr val="FFFFFF"/>
              </a:solidFill>
              <a:latin typeface="Arial"/>
            </a:endParaRPr>
          </a:p>
        </p:txBody>
      </p:sp>
      <p:sp>
        <p:nvSpPr>
          <p:cNvPr id="1116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1116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A7E6EBD5-E771-413C-9391-B90BA4BAF8F6}" type="slidenum">
              <a:rPr lang="en-US" altLang="en-US" sz="1200" smtClean="0">
                <a:solidFill>
                  <a:schemeClr val="tx1"/>
                </a:solidFill>
              </a:rPr>
              <a:pPr eaLnBrk="1" hangingPunct="1"/>
              <a:t>38</a:t>
            </a:fld>
            <a:endParaRPr lang="en-US" altLang="en-US" sz="1200" smtClean="0">
              <a:solidFill>
                <a:schemeClr val="tx1"/>
              </a:solidFill>
            </a:endParaRPr>
          </a:p>
        </p:txBody>
      </p:sp>
      <p:sp>
        <p:nvSpPr>
          <p:cNvPr id="111620" name="Rectangle 2"/>
          <p:cNvSpPr>
            <a:spLocks noGrp="1" noRot="1" noChangeAspect="1" noChangeArrowheads="1" noTextEdit="1"/>
          </p:cNvSpPr>
          <p:nvPr>
            <p:ph type="sldImg"/>
          </p:nvPr>
        </p:nvSpPr>
        <p:spPr>
          <a:ln/>
        </p:spPr>
      </p:sp>
      <p:sp>
        <p:nvSpPr>
          <p:cNvPr id="1116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latin typeface="Arial" pitchFamily="34" charset="0"/>
              </a:rPr>
              <a:t>A combination</a:t>
            </a:r>
            <a:r>
              <a:rPr lang="en-US" baseline="0" dirty="0" smtClean="0">
                <a:latin typeface="Arial" pitchFamily="34" charset="0"/>
              </a:rPr>
              <a:t> of the approaches described may be employed. You may wish to perform a narrow search to locate only auto repair shops starting with the name “Mighty Auto”, in San Mateo, California, 94403, with a minimum score of 20, that provide auto glass services.</a:t>
            </a:r>
            <a:endParaRPr lang="en-US" dirty="0" smtClean="0">
              <a:latin typeface="Arial" pitchFamily="34" charset="0"/>
            </a:endParaRPr>
          </a:p>
          <a:p>
            <a:pPr eaLnBrk="1" hangingPunct="1"/>
            <a:endParaRPr lang="en-US" dirty="0" smtClean="0">
              <a:latin typeface="Arial" pitchFamily="34" charset="0"/>
            </a:endParaRPr>
          </a:p>
          <a:p>
            <a:pPr eaLnBrk="1" hangingPunct="1"/>
            <a:r>
              <a:rPr lang="en-US" dirty="0" smtClean="0">
                <a:latin typeface="Arial" pitchFamily="34" charset="0"/>
              </a:rPr>
              <a:t>This section pertains to searching</a:t>
            </a:r>
            <a:r>
              <a:rPr lang="en-US" baseline="0" dirty="0" smtClean="0">
                <a:latin typeface="Arial" pitchFamily="34" charset="0"/>
              </a:rPr>
              <a:t> the Address Book in either ClaimCenter or ContactManager. Searching for claims is a separate process and you may search for claims using “Search by Contact” but the scope of that search is all Claim Contacts, not the Address Book.</a:t>
            </a:r>
            <a:br>
              <a:rPr lang="en-US" baseline="0" dirty="0" smtClean="0">
                <a:latin typeface="Arial" pitchFamily="34" charset="0"/>
              </a:rPr>
            </a:br>
            <a:r>
              <a:rPr lang="en-US" baseline="0" dirty="0" smtClean="0">
                <a:latin typeface="Arial" pitchFamily="34" charset="0"/>
              </a:rPr>
              <a:t/>
            </a:r>
            <a:br>
              <a:rPr lang="en-US" baseline="0" dirty="0" smtClean="0">
                <a:latin typeface="Arial" pitchFamily="34" charset="0"/>
              </a:rPr>
            </a:br>
            <a:r>
              <a:rPr lang="en-US" baseline="0" dirty="0" smtClean="0">
                <a:latin typeface="Arial" pitchFamily="34" charset="0"/>
              </a:rPr>
              <a:t>Searching using “Search by Contact” is a free-text search on all claims using the capabilities of Apache </a:t>
            </a:r>
            <a:r>
              <a:rPr lang="en-US" baseline="0" dirty="0" err="1" smtClean="0">
                <a:latin typeface="Arial" pitchFamily="34" charset="0"/>
              </a:rPr>
              <a:t>Solr</a:t>
            </a:r>
            <a:r>
              <a:rPr lang="en-US" baseline="0" dirty="0" smtClean="0">
                <a:latin typeface="Arial" pitchFamily="34" charset="0"/>
              </a:rPr>
              <a:t> for inexact matching on names of parties involved in a claim. For more information on this, consult the “Free-Text Search” lesson in the “ClaimCenter 7.0-8.0 New Configuration Features” training course.</a:t>
            </a:r>
          </a:p>
          <a:p>
            <a:pPr eaLnBrk="1" hangingPunct="1"/>
            <a:endParaRPr lang="en-US" dirty="0">
              <a:latin typeface="Arial" pitchFamily="34" charset="0"/>
            </a:endParaRPr>
          </a:p>
          <a:p>
            <a:pPr eaLnBrk="1" hangingPunct="1"/>
            <a:r>
              <a:rPr lang="en-US" dirty="0" smtClean="0">
                <a:latin typeface="Arial" pitchFamily="34" charset="0"/>
              </a:rPr>
              <a:t>At the very minimum, all searches require either a name OR a city and state OR zip (postal) code. An error will warn the user of the minimum search requirements.</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|EON~039|</a:t>
            </a:r>
            <a:endParaRPr lang="en-US" sz="100">
              <a:solidFill>
                <a:srgbClr val="FFFFFF"/>
              </a:solidFill>
              <a:latin typeface="Arial"/>
            </a:endParaRPr>
          </a:p>
        </p:txBody>
      </p:sp>
      <p:sp>
        <p:nvSpPr>
          <p:cNvPr id="1126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1126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E1DD413A-9AF0-41F4-B0DE-93FB2CF405AD}" type="slidenum">
              <a:rPr lang="en-US" altLang="en-US" sz="1200" smtClean="0">
                <a:solidFill>
                  <a:schemeClr val="tx1"/>
                </a:solidFill>
              </a:rPr>
              <a:pPr eaLnBrk="1" hangingPunct="1"/>
              <a:t>39</a:t>
            </a:fld>
            <a:endParaRPr lang="en-US" altLang="en-US" sz="1200" smtClean="0">
              <a:solidFill>
                <a:schemeClr val="tx1"/>
              </a:solidFill>
            </a:endParaRPr>
          </a:p>
        </p:txBody>
      </p:sp>
      <p:sp>
        <p:nvSpPr>
          <p:cNvPr id="112644" name="Rectangle 2"/>
          <p:cNvSpPr>
            <a:spLocks noGrp="1" noRot="1" noChangeAspect="1" noChangeArrowheads="1" noTextEdit="1"/>
          </p:cNvSpPr>
          <p:nvPr>
            <p:ph type="sldImg"/>
          </p:nvPr>
        </p:nvSpPr>
        <p:spPr>
          <a:xfrm>
            <a:off x="681038" y="612775"/>
            <a:ext cx="5432425" cy="4073525"/>
          </a:xfrm>
          <a:ln/>
        </p:spPr>
      </p:sp>
      <p:sp>
        <p:nvSpPr>
          <p:cNvPr id="112645" name="Rectangle 3"/>
          <p:cNvSpPr>
            <a:spLocks noGrp="1" noChangeArrowheads="1"/>
          </p:cNvSpPr>
          <p:nvPr>
            <p:ph type="body" idx="1"/>
          </p:nvPr>
        </p:nvSpPr>
        <p:spPr>
          <a:xfrm>
            <a:off x="406401" y="4899025"/>
            <a:ext cx="5718354" cy="3835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latin typeface="Arial" pitchFamily="34" charset="0"/>
              </a:rPr>
              <a:t>Note that you are searching the Address Book for contacts without being within the context of a claim. For example, you may want to know the mailing address for an auto repair shop or doctor’s office even though you are not currently working on any claim associated to that contact. Address Book searches are conducted from the Address Book tab in ClaimCenter. All</a:t>
            </a:r>
            <a:r>
              <a:rPr lang="en-US" baseline="0" dirty="0" smtClean="0">
                <a:latin typeface="Arial" pitchFamily="34" charset="0"/>
              </a:rPr>
              <a:t> information about the contact is available including any claims the contact is associated with (Claims card). </a:t>
            </a:r>
            <a:endParaRPr lang="en-US" dirty="0" smtClean="0">
              <a:latin typeface="Arial" pitchFamily="34" charset="0"/>
            </a:endParaRPr>
          </a:p>
          <a:p>
            <a:pPr eaLnBrk="1" hangingPunct="1"/>
            <a:endParaRPr lang="en-US" dirty="0" smtClean="0">
              <a:latin typeface="Arial" pitchFamily="34" charset="0"/>
            </a:endParaRPr>
          </a:p>
          <a:p>
            <a:pPr eaLnBrk="1" hangingPunct="1"/>
            <a:r>
              <a:rPr lang="en-US" dirty="0" smtClean="0">
                <a:latin typeface="Arial" pitchFamily="34" charset="0"/>
              </a:rPr>
              <a:t>In the example, the search criteria is a fragment of the name,</a:t>
            </a:r>
            <a:r>
              <a:rPr lang="en-US" baseline="0" dirty="0" smtClean="0">
                <a:latin typeface="Arial" pitchFamily="34" charset="0"/>
              </a:rPr>
              <a:t> type of contact, and limited to specific services provided</a:t>
            </a:r>
            <a:r>
              <a:rPr lang="en-US" dirty="0" smtClean="0">
                <a:latin typeface="Arial" pitchFamily="34" charset="0"/>
              </a:rPr>
              <a:t>. Name uses a "starts with" query to identify contacts matching the entered values. This is most common when the adjuster or claimant have already identified the service provider</a:t>
            </a:r>
            <a:r>
              <a:rPr lang="en-US" baseline="0" dirty="0" smtClean="0">
                <a:latin typeface="Arial" pitchFamily="34" charset="0"/>
              </a:rPr>
              <a:t>. </a:t>
            </a:r>
            <a:endParaRPr lang="en-US" dirty="0" smtClean="0">
              <a:latin typeface="Arial" pitchFamily="34" charset="0"/>
            </a:endParaRPr>
          </a:p>
          <a:p>
            <a:pPr eaLnBrk="1" hangingPunct="1"/>
            <a:endParaRPr lang="en-US" dirty="0" smtClean="0">
              <a:latin typeface="Arial" pitchFamily="34" charset="0"/>
            </a:endParaRPr>
          </a:p>
          <a:p>
            <a:pPr eaLnBrk="1" hangingPunct="1"/>
            <a:r>
              <a:rPr lang="en-US" dirty="0" smtClean="0">
                <a:latin typeface="Arial" pitchFamily="34" charset="0"/>
              </a:rPr>
              <a:t>You are not required to perform</a:t>
            </a:r>
            <a:r>
              <a:rPr lang="en-US" baseline="0" dirty="0" smtClean="0">
                <a:latin typeface="Arial" pitchFamily="34" charset="0"/>
              </a:rPr>
              <a:t> such a specific search. Simplistic searches using a fragment of a name are allowed (i.e. just entering “Miller” in the “Name/Last Name” field). However, you cannot just search for a “type” alone.</a:t>
            </a:r>
            <a:r>
              <a:rPr lang="en-US" dirty="0" smtClean="0">
                <a:latin typeface="Arial" pitchFamily="34" charset="0"/>
              </a:rPr>
              <a:t> If you only specify a contact type, you will not be able to perform the search </a:t>
            </a:r>
            <a:r>
              <a:rPr lang="en-US" dirty="0">
                <a:latin typeface="Arial" pitchFamily="34" charset="0"/>
              </a:rPr>
              <a:t>(example </a:t>
            </a:r>
            <a:r>
              <a:rPr lang="en-US" dirty="0" smtClean="0">
                <a:latin typeface="Arial" pitchFamily="34" charset="0"/>
              </a:rPr>
              <a:t>visible </a:t>
            </a:r>
            <a:r>
              <a:rPr lang="en-US" dirty="0">
                <a:latin typeface="Arial" pitchFamily="34" charset="0"/>
              </a:rPr>
              <a:t>if you view PowerPoint in Notes view (View &gt; Notes Page</a:t>
            </a:r>
            <a:r>
              <a:rPr lang="en-US" dirty="0" smtClean="0">
                <a:latin typeface="Arial" pitchFamily="34" charset="0"/>
              </a:rPr>
              <a:t>)):</a:t>
            </a:r>
            <a:endParaRPr lang="en-US" dirty="0">
              <a:latin typeface="Arial" pitchFamily="34" charset="0"/>
            </a:endParaRPr>
          </a:p>
          <a:p>
            <a:pPr eaLnBrk="1" hangingPunct="1"/>
            <a:endParaRPr lang="en-US" dirty="0">
              <a:latin typeface="Arial" pitchFamily="34"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5874" y="8117626"/>
            <a:ext cx="2052749" cy="770921"/>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latin typeface="Arial" pitchFamily="34" charset="0"/>
              </a:rPr>
              <a:t>Any search of the Address Book in ClaimCenter may also “Include Pending Creates”. Generally,</a:t>
            </a:r>
            <a:r>
              <a:rPr lang="en-US" baseline="0" dirty="0" smtClean="0">
                <a:latin typeface="Arial" pitchFamily="34" charset="0"/>
              </a:rPr>
              <a:t> adjusters and CSRs (who do not have </a:t>
            </a:r>
            <a:r>
              <a:rPr lang="en-US" dirty="0" err="1" smtClean="0">
                <a:latin typeface="Arial" pitchFamily="34" charset="0"/>
              </a:rPr>
              <a:t>abedit</a:t>
            </a:r>
            <a:r>
              <a:rPr lang="en-US" dirty="0" smtClean="0">
                <a:latin typeface="Arial" pitchFamily="34" charset="0"/>
              </a:rPr>
              <a:t>/</a:t>
            </a:r>
            <a:r>
              <a:rPr lang="en-US" dirty="0" err="1" smtClean="0">
                <a:latin typeface="Arial" pitchFamily="34" charset="0"/>
              </a:rPr>
              <a:t>abcreate</a:t>
            </a:r>
            <a:r>
              <a:rPr lang="en-US" dirty="0" smtClean="0">
                <a:latin typeface="Arial" pitchFamily="34" charset="0"/>
              </a:rPr>
              <a:t> permissions) can create vendor contacts in ClaimCenter, but these contacts are automatically set</a:t>
            </a:r>
            <a:r>
              <a:rPr lang="en-US" baseline="0" dirty="0" smtClean="0">
                <a:latin typeface="Arial" pitchFamily="34" charset="0"/>
              </a:rPr>
              <a:t> to</a:t>
            </a:r>
            <a:r>
              <a:rPr lang="en-US" dirty="0" smtClean="0">
                <a:latin typeface="Arial" pitchFamily="34" charset="0"/>
              </a:rPr>
              <a:t> “pending</a:t>
            </a:r>
            <a:r>
              <a:rPr lang="en-US" baseline="0" dirty="0" smtClean="0">
                <a:latin typeface="Arial" pitchFamily="34" charset="0"/>
              </a:rPr>
              <a:t> approval”</a:t>
            </a:r>
            <a:r>
              <a:rPr lang="en-US" dirty="0" smtClean="0">
                <a:latin typeface="Arial" pitchFamily="34" charset="0"/>
              </a:rPr>
              <a:t>. When these users do this, their changes are sent to ContactManager for approval and review by a user with the proper permissions. </a:t>
            </a:r>
          </a:p>
          <a:p>
            <a:endParaRPr lang="en-US" dirty="0" smtClean="0">
              <a:latin typeface="Arial" pitchFamily="34" charset="0"/>
            </a:endParaRPr>
          </a:p>
          <a:p>
            <a:r>
              <a:rPr lang="en-US" dirty="0" smtClean="0">
                <a:latin typeface="Arial" pitchFamily="34" charset="0"/>
              </a:rPr>
              <a:t>Note that you may search for </a:t>
            </a:r>
            <a:r>
              <a:rPr lang="en-US" i="1" dirty="0" smtClean="0">
                <a:latin typeface="Arial" pitchFamily="34" charset="0"/>
              </a:rPr>
              <a:t>any</a:t>
            </a:r>
            <a:r>
              <a:rPr lang="en-US" b="1" i="1" baseline="0" dirty="0" smtClean="0">
                <a:latin typeface="Arial" pitchFamily="34" charset="0"/>
              </a:rPr>
              <a:t> </a:t>
            </a:r>
            <a:r>
              <a:rPr lang="en-US" b="0" i="0" baseline="0" dirty="0" smtClean="0">
                <a:latin typeface="Arial" pitchFamily="34" charset="0"/>
              </a:rPr>
              <a:t>type of contact. While only vendors may be in a “pending” state, you do not have to limit your search to “Doctor”, “Auto Repair Shop”, “Medical Care Organization” or any specific type of vendor contact when using “Include Pending Creates”. This gives the user the flexibility in search if the user is not sure if the vendor is new, or what specific type the vendor is.</a:t>
            </a:r>
          </a:p>
          <a:p>
            <a:endParaRPr lang="en-US" dirty="0" smtClean="0">
              <a:latin typeface="Arial" pitchFamily="34" charset="0"/>
            </a:endParaRPr>
          </a:p>
          <a:p>
            <a:r>
              <a:rPr lang="en-US" dirty="0" smtClean="0">
                <a:latin typeface="Arial" pitchFamily="34" charset="0"/>
              </a:rPr>
              <a:t>The process of approving or rejecting</a:t>
            </a:r>
            <a:r>
              <a:rPr lang="en-US" baseline="0" dirty="0" smtClean="0">
                <a:latin typeface="Arial" pitchFamily="34" charset="0"/>
              </a:rPr>
              <a:t> vendor contacts is discussed in the “Shared Contacts” lesson of this course. </a:t>
            </a:r>
            <a:endParaRPr lang="en-US" dirty="0" smtClean="0">
              <a:latin typeface="Arial" pitchFamily="34" charset="0"/>
            </a:endParaRPr>
          </a:p>
          <a:p>
            <a:endParaRPr lang="en-US" dirty="0" smtClean="0">
              <a:latin typeface="Arial" pitchFamily="34" charset="0"/>
            </a:endParaRPr>
          </a:p>
          <a:p>
            <a:pPr marL="0" marR="0" lvl="1" indent="0" algn="l" defTabSz="914400" rtl="0" eaLnBrk="0" fontAlgn="base" latinLnBrk="0" hangingPunct="0">
              <a:lnSpc>
                <a:spcPct val="100000"/>
              </a:lnSpc>
              <a:spcBef>
                <a:spcPct val="10000"/>
              </a:spcBef>
              <a:spcAft>
                <a:spcPct val="0"/>
              </a:spcAft>
              <a:buClrTx/>
              <a:buSzTx/>
              <a:buFontTx/>
              <a:buNone/>
              <a:tabLst/>
              <a:defRPr/>
            </a:pPr>
            <a:r>
              <a:rPr lang="en-US" dirty="0" smtClean="0">
                <a:latin typeface="Arial" pitchFamily="34" charset="0"/>
              </a:rPr>
              <a:t>The </a:t>
            </a:r>
            <a:r>
              <a:rPr lang="en-US" dirty="0" smtClean="0"/>
              <a:t>Searching “Pending Creates” flag</a:t>
            </a:r>
            <a:r>
              <a:rPr lang="en-US" baseline="0" dirty="0" smtClean="0"/>
              <a:t> </a:t>
            </a:r>
            <a:r>
              <a:rPr lang="en-US" dirty="0" smtClean="0"/>
              <a:t>is also available in ContactManager.</a:t>
            </a:r>
          </a:p>
          <a:p>
            <a:endParaRPr lang="en-US" dirty="0"/>
          </a:p>
        </p:txBody>
      </p:sp>
      <p:sp>
        <p:nvSpPr>
          <p:cNvPr id="4" name="Header Placeholder 3"/>
          <p:cNvSpPr>
            <a:spLocks noGrp="1"/>
          </p:cNvSpPr>
          <p:nvPr>
            <p:ph type="hdr" sz="quarter" idx="10"/>
          </p:nvPr>
        </p:nvSpPr>
        <p:spPr/>
        <p:txBody>
          <a:bodyPr/>
          <a:lstStyle/>
          <a:p>
            <a:pPr>
              <a:defRPr/>
            </a:pPr>
            <a:r>
              <a:rPr lang="en-US" altLang="en-US" smtClean="0"/>
              <a:t>	</a:t>
            </a:r>
            <a:endParaRPr lang="en-US"/>
          </a:p>
        </p:txBody>
      </p:sp>
      <p:sp>
        <p:nvSpPr>
          <p:cNvPr id="5" name="Slide Number Placeholder 4"/>
          <p:cNvSpPr>
            <a:spLocks noGrp="1"/>
          </p:cNvSpPr>
          <p:nvPr>
            <p:ph type="sldNum" sz="quarter" idx="11"/>
          </p:nvPr>
        </p:nvSpPr>
        <p:spPr/>
        <p:txBody>
          <a:bodyPr/>
          <a:lstStyle/>
          <a:p>
            <a:pPr>
              <a:defRPr/>
            </a:pPr>
            <a:r>
              <a:rPr lang="en-US" altLang="en-US" smtClean="0"/>
              <a:t>	Contacts - </a:t>
            </a:r>
            <a:fld id="{E7C66B2F-6EDE-41C2-98D2-D39A07C65A75}" type="slidenum">
              <a:rPr lang="en-US" altLang="en-US" smtClean="0"/>
              <a:pPr>
                <a:defRPr/>
              </a:pPr>
              <a:t>40</a:t>
            </a:fld>
            <a:endParaRPr lang="en-US" altLang="en-US"/>
          </a:p>
        </p:txBody>
      </p:sp>
    </p:spTree>
    <p:extLst>
      <p:ext uri="{BB962C8B-B14F-4D97-AF65-F5344CB8AC3E}">
        <p14:creationId xmlns:p14="http://schemas.microsoft.com/office/powerpoint/2010/main" val="301211830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|EON~040|</a:t>
            </a:r>
            <a:endParaRPr lang="en-US" sz="100">
              <a:solidFill>
                <a:srgbClr val="FFFFFF"/>
              </a:solidFill>
              <a:latin typeface="Arial"/>
            </a:endParaRP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It</a:t>
            </a:r>
            <a:r>
              <a:rPr lang="en-US" baseline="0" dirty="0" smtClean="0"/>
              <a:t> is also possible to search by the first few digits of a zip code. Entering 123 will find contacts in 12345, 12344, 12343, 12342 and so on. Likewise, searching on the first three (English) characters of postal codes (in other countries) may be performed as well. Entering M2N (a Canadian FSA in North York, Ontario) will find contacts in M2N 7K1, M2N 9C3, M2N 3H3, and so on. A FSA is known as a “Forward Sortation Area” in Canada.</a:t>
            </a:r>
          </a:p>
        </p:txBody>
      </p:sp>
      <p:sp>
        <p:nvSpPr>
          <p:cNvPr id="4" name="Header Placeholder 3"/>
          <p:cNvSpPr>
            <a:spLocks noGrp="1"/>
          </p:cNvSpPr>
          <p:nvPr>
            <p:ph type="hdr" sz="quarter" idx="10"/>
          </p:nvPr>
        </p:nvSpPr>
        <p:spPr/>
        <p:txBody>
          <a:bodyPr/>
          <a:lstStyle/>
          <a:p>
            <a:pPr>
              <a:defRPr/>
            </a:pPr>
            <a:r>
              <a:rPr lang="en-US" altLang="en-US" smtClean="0"/>
              <a:t>	</a:t>
            </a:r>
            <a:endParaRPr lang="en-US"/>
          </a:p>
        </p:txBody>
      </p:sp>
      <p:sp>
        <p:nvSpPr>
          <p:cNvPr id="5" name="Slide Number Placeholder 4"/>
          <p:cNvSpPr>
            <a:spLocks noGrp="1"/>
          </p:cNvSpPr>
          <p:nvPr>
            <p:ph type="sldNum" sz="quarter" idx="11"/>
          </p:nvPr>
        </p:nvSpPr>
        <p:spPr/>
        <p:txBody>
          <a:bodyPr/>
          <a:lstStyle/>
          <a:p>
            <a:pPr>
              <a:defRPr/>
            </a:pPr>
            <a:r>
              <a:rPr lang="en-US" altLang="en-US" smtClean="0"/>
              <a:t>	Contacts - </a:t>
            </a:r>
            <a:fld id="{E7C66B2F-6EDE-41C2-98D2-D39A07C65A75}" type="slidenum">
              <a:rPr lang="en-US" altLang="en-US" smtClean="0"/>
              <a:pPr>
                <a:defRPr/>
              </a:pPr>
              <a:t>41</a:t>
            </a:fld>
            <a:endParaRPr lang="en-US" altLang="en-US"/>
          </a:p>
        </p:txBody>
      </p:sp>
    </p:spTree>
    <p:extLst>
      <p:ext uri="{BB962C8B-B14F-4D97-AF65-F5344CB8AC3E}">
        <p14:creationId xmlns:p14="http://schemas.microsoft.com/office/powerpoint/2010/main" val="41270844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|EON~041|</a:t>
            </a:r>
            <a:endParaRPr lang="en-US" sz="100">
              <a:solidFill>
                <a:srgbClr val="FFFFFF"/>
              </a:solidFill>
              <a:latin typeface="Arial"/>
            </a:endParaRPr>
          </a:p>
        </p:txBody>
      </p:sp>
      <p:sp>
        <p:nvSpPr>
          <p:cNvPr id="1136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1136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97C8AAED-0E32-4FCB-9579-EE0168A22C74}" type="slidenum">
              <a:rPr lang="en-US" altLang="en-US" sz="1200" smtClean="0">
                <a:solidFill>
                  <a:schemeClr val="tx1"/>
                </a:solidFill>
              </a:rPr>
              <a:pPr eaLnBrk="1" hangingPunct="1"/>
              <a:t>42</a:t>
            </a:fld>
            <a:endParaRPr lang="en-US" altLang="en-US" sz="1200" smtClean="0">
              <a:solidFill>
                <a:schemeClr val="tx1"/>
              </a:solidFill>
            </a:endParaRPr>
          </a:p>
        </p:txBody>
      </p:sp>
      <p:sp>
        <p:nvSpPr>
          <p:cNvPr id="113668" name="Rectangle 2"/>
          <p:cNvSpPr>
            <a:spLocks noGrp="1" noRot="1" noChangeAspect="1" noChangeArrowheads="1" noTextEdit="1"/>
          </p:cNvSpPr>
          <p:nvPr>
            <p:ph type="sldImg"/>
          </p:nvPr>
        </p:nvSpPr>
        <p:spPr>
          <a:xfrm>
            <a:off x="715963" y="630238"/>
            <a:ext cx="5432425" cy="4073525"/>
          </a:xfrm>
          <a:ln/>
        </p:spPr>
      </p:sp>
      <p:sp>
        <p:nvSpPr>
          <p:cNvPr id="1136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latin typeface="Arial" pitchFamily="34" charset="0"/>
              </a:rPr>
              <a:t>There are two common proximity criteria:</a:t>
            </a:r>
          </a:p>
          <a:p>
            <a:pPr lvl="1" eaLnBrk="1" hangingPunct="1"/>
            <a:r>
              <a:rPr lang="en-US" dirty="0" smtClean="0">
                <a:latin typeface="Arial" pitchFamily="34" charset="0"/>
              </a:rPr>
              <a:t>Find all contacts within a given distance of a given location (such as find all auto shops within 15 miles of the loss location)</a:t>
            </a:r>
          </a:p>
          <a:p>
            <a:pPr lvl="1" eaLnBrk="1" hangingPunct="1"/>
            <a:r>
              <a:rPr lang="en-US" dirty="0" smtClean="0">
                <a:latin typeface="Arial" pitchFamily="34" charset="0"/>
              </a:rPr>
              <a:t>Find the top X closest contacts to a given location (such as find the five auto shops closest to the loss location)</a:t>
            </a:r>
          </a:p>
          <a:p>
            <a:pPr eaLnBrk="1" hangingPunct="1"/>
            <a:r>
              <a:rPr lang="en-US" dirty="0" smtClean="0">
                <a:latin typeface="Arial" pitchFamily="34" charset="0"/>
              </a:rPr>
              <a:t>Proximity searches are accomplished using geocoding. Geocoding assigns geographic coordinates to locations and uses them to find contacts within a given proximity. Geocoding requires integration with a geocoding system, which is typically provided by a vendor. Proximity</a:t>
            </a:r>
            <a:r>
              <a:rPr lang="en-US" baseline="0" dirty="0" smtClean="0">
                <a:latin typeface="Arial" pitchFamily="34" charset="0"/>
              </a:rPr>
              <a:t> searches can also be performed in Kilometers (such as in Canada) as a search radius unit</a:t>
            </a:r>
            <a:r>
              <a:rPr lang="en-US" dirty="0" smtClean="0">
                <a:latin typeface="Arial" pitchFamily="34" charset="0"/>
              </a:rPr>
              <a:t> (which </a:t>
            </a:r>
            <a:r>
              <a:rPr lang="en-US" dirty="0">
                <a:latin typeface="Arial" pitchFamily="34" charset="0"/>
              </a:rPr>
              <a:t>is visible if you view PowerPoint in Notes view (View &gt; Notes Page)). </a:t>
            </a:r>
          </a:p>
          <a:p>
            <a:pPr eaLnBrk="1" hangingPunct="1"/>
            <a:endParaRPr lang="en-US" dirty="0" smtClean="0">
              <a:latin typeface="Arial" pitchFamily="34" charset="0"/>
            </a:endParaRPr>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3019" y="6547938"/>
            <a:ext cx="2956892" cy="226851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|EON~042|</a:t>
            </a:r>
            <a:endParaRPr lang="en-US" sz="100">
              <a:solidFill>
                <a:srgbClr val="FFFFFF"/>
              </a:solidFill>
              <a:latin typeface="Arial"/>
            </a:endParaRPr>
          </a:p>
        </p:txBody>
      </p:sp>
      <p:sp>
        <p:nvSpPr>
          <p:cNvPr id="1146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1146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E45B6736-1F29-4660-BD6C-E20B0C69F9B7}" type="slidenum">
              <a:rPr lang="en-US" altLang="en-US" sz="1200" smtClean="0">
                <a:solidFill>
                  <a:schemeClr val="tx1"/>
                </a:solidFill>
              </a:rPr>
              <a:pPr eaLnBrk="1" hangingPunct="1"/>
              <a:t>43</a:t>
            </a:fld>
            <a:endParaRPr lang="en-US" altLang="en-US" sz="1200" smtClean="0">
              <a:solidFill>
                <a:schemeClr val="tx1"/>
              </a:solidFill>
            </a:endParaRPr>
          </a:p>
        </p:txBody>
      </p:sp>
      <p:sp>
        <p:nvSpPr>
          <p:cNvPr id="114692" name="Rectangle 2"/>
          <p:cNvSpPr>
            <a:spLocks noGrp="1" noRot="1" noChangeAspect="1" noChangeArrowheads="1" noTextEdit="1"/>
          </p:cNvSpPr>
          <p:nvPr>
            <p:ph type="sldImg"/>
          </p:nvPr>
        </p:nvSpPr>
        <p:spPr>
          <a:xfrm>
            <a:off x="715963" y="630238"/>
            <a:ext cx="5432425" cy="4073525"/>
          </a:xfrm>
          <a:ln/>
        </p:spPr>
      </p:sp>
      <p:sp>
        <p:nvSpPr>
          <p:cNvPr id="1146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latin typeface="Arial" pitchFamily="34" charset="0"/>
              </a:rPr>
              <a:t>Information exchange</a:t>
            </a:r>
          </a:p>
          <a:p>
            <a:pPr lvl="1" eaLnBrk="1" hangingPunct="1"/>
            <a:r>
              <a:rPr lang="en-US" dirty="0" smtClean="0">
                <a:latin typeface="Arial" pitchFamily="34" charset="0"/>
              </a:rPr>
              <a:t>ClaimCenter sends the address</a:t>
            </a:r>
          </a:p>
          <a:p>
            <a:pPr lvl="1" eaLnBrk="1" hangingPunct="1"/>
            <a:r>
              <a:rPr lang="en-US" dirty="0" smtClean="0">
                <a:latin typeface="Arial" pitchFamily="34" charset="0"/>
              </a:rPr>
              <a:t>ClaimCenter receives coordinates, which it can use to do proximity calculations, or exchange city/state and zip code information</a:t>
            </a:r>
          </a:p>
          <a:p>
            <a:pPr eaLnBrk="1" hangingPunct="1"/>
            <a:r>
              <a:rPr lang="en-US" dirty="0" smtClean="0">
                <a:latin typeface="Arial" pitchFamily="34" charset="0"/>
              </a:rPr>
              <a:t>Geocoding services can be used to provide a list of valid zip codes for a given city and state, or a list of valid cities for a given zip code.</a:t>
            </a:r>
          </a:p>
          <a:p>
            <a:pPr eaLnBrk="1" hangingPunct="1"/>
            <a:r>
              <a:rPr lang="en-US" dirty="0" smtClean="0">
                <a:latin typeface="Arial" pitchFamily="34" charset="0"/>
              </a:rPr>
              <a:t>The amount and nature of the information provided from the geocoding service varies from provider to provider, and as a result there can be other uses for geocoding. For example:</a:t>
            </a:r>
          </a:p>
          <a:p>
            <a:pPr lvl="1" eaLnBrk="1" hangingPunct="1"/>
            <a:r>
              <a:rPr lang="en-US" dirty="0" smtClean="0">
                <a:latin typeface="Arial" pitchFamily="34" charset="0"/>
              </a:rPr>
              <a:t>Geocoding can be used with some services to provide the zip code for a given city and state, or to provide the city and state for a given zip code.</a:t>
            </a:r>
          </a:p>
          <a:p>
            <a:pPr lvl="1" eaLnBrk="1" hangingPunct="1"/>
            <a:r>
              <a:rPr lang="en-US" dirty="0" smtClean="0">
                <a:latin typeface="Arial" pitchFamily="34" charset="0"/>
              </a:rPr>
              <a:t>Geocoding can retrieve proximate distances (the direct distance between two points) and/or driving distances (which are typically longer as this does not connect two points directly but rather through a route of streets).</a:t>
            </a:r>
          </a:p>
          <a:p>
            <a:pPr lvl="1" eaLnBrk="1" hangingPunct="1"/>
            <a:r>
              <a:rPr lang="en-US" dirty="0" smtClean="0">
                <a:latin typeface="Arial" pitchFamily="34" charset="0"/>
              </a:rPr>
              <a:t>Geocoding can retrieve driving directions.</a:t>
            </a:r>
          </a:p>
          <a:p>
            <a:pPr eaLnBrk="1" hangingPunct="1"/>
            <a:r>
              <a:rPr lang="en-US" dirty="0" smtClean="0">
                <a:latin typeface="Arial" pitchFamily="34" charset="0"/>
              </a:rPr>
              <a:t>The effort around planning and configuring this integration point is typically minimal. Geocoding services exist to provide this type of service, and therefore they typically expend effort to make the integration straight-forward.</a:t>
            </a:r>
          </a:p>
          <a:p>
            <a:pPr eaLnBrk="1" hangingPunct="1"/>
            <a:r>
              <a:rPr lang="en-US" dirty="0" smtClean="0">
                <a:latin typeface="Arial" pitchFamily="34" charset="0"/>
              </a:rPr>
              <a:t>A given instance of ClaimCenter is typically integrated with a single geocoding service.</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|EON~043|</a:t>
            </a:r>
            <a:endParaRPr lang="en-US" sz="100">
              <a:solidFill>
                <a:srgbClr val="FFFFFF"/>
              </a:solidFill>
              <a:latin typeface="Arial"/>
            </a:endParaRPr>
          </a:p>
        </p:txBody>
      </p:sp>
      <p:sp>
        <p:nvSpPr>
          <p:cNvPr id="1157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1157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03766CBB-8223-4824-9C95-16FBDB5AE4D4}" type="slidenum">
              <a:rPr lang="en-US" altLang="en-US" sz="1200" smtClean="0">
                <a:solidFill>
                  <a:schemeClr val="tx1"/>
                </a:solidFill>
              </a:rPr>
              <a:pPr eaLnBrk="1" hangingPunct="1"/>
              <a:t>44</a:t>
            </a:fld>
            <a:endParaRPr lang="en-US" altLang="en-US" sz="1200" smtClean="0">
              <a:solidFill>
                <a:schemeClr val="tx1"/>
              </a:solidFill>
            </a:endParaRPr>
          </a:p>
        </p:txBody>
      </p:sp>
      <p:sp>
        <p:nvSpPr>
          <p:cNvPr id="115716" name="Rectangle 2"/>
          <p:cNvSpPr>
            <a:spLocks noGrp="1" noRot="1" noChangeAspect="1" noChangeArrowheads="1" noTextEdit="1"/>
          </p:cNvSpPr>
          <p:nvPr>
            <p:ph type="sldImg"/>
          </p:nvPr>
        </p:nvSpPr>
        <p:spPr>
          <a:ln/>
        </p:spPr>
      </p:sp>
      <p:sp>
        <p:nvSpPr>
          <p:cNvPr id="1157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1000" dirty="0" smtClean="0"/>
              <a:t>Service Providers are contacts such as Auto Repair Shops, Lawyers or Doctors. </a:t>
            </a:r>
            <a:r>
              <a:rPr lang="en-US" dirty="0" smtClean="0">
                <a:latin typeface="Arial" pitchFamily="34" charset="0"/>
              </a:rPr>
              <a:t>Reviews are edited</a:t>
            </a:r>
            <a:r>
              <a:rPr lang="en-US" baseline="0" dirty="0" smtClean="0">
                <a:latin typeface="Arial" pitchFamily="34" charset="0"/>
              </a:rPr>
              <a:t> and managed in ClaimCenter, not ContactManager. </a:t>
            </a:r>
          </a:p>
          <a:p>
            <a:pPr eaLnBrk="1" hangingPunct="1"/>
            <a:endParaRPr lang="en-US" baseline="0" dirty="0" smtClean="0">
              <a:latin typeface="Arial" pitchFamily="34" charset="0"/>
            </a:endParaRPr>
          </a:p>
          <a:p>
            <a:pPr eaLnBrk="1" hangingPunct="1"/>
            <a:r>
              <a:rPr lang="en-US" baseline="0" dirty="0" smtClean="0">
                <a:latin typeface="Arial" pitchFamily="34" charset="0"/>
              </a:rPr>
              <a:t>NOTE: Service provider reviews are not the same as service metrics. Metrics are measurements of the time it takes (in days) for a vendor to respond to a service request, or the time it takes for a vendor to complete work on a service. This lesson discusses service provider reviews, and the “Vendor Service Requests” lesson discusses metrics.</a:t>
            </a:r>
            <a:endParaRPr lang="en-US" dirty="0" smtClean="0">
              <a:latin typeface="Arial"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|EON~044|</a:t>
            </a:r>
            <a:endParaRPr lang="en-US" sz="100">
              <a:solidFill>
                <a:srgbClr val="FFFFFF"/>
              </a:solidFill>
              <a:latin typeface="Arial"/>
            </a:endParaRPr>
          </a:p>
        </p:txBody>
      </p:sp>
      <p:sp>
        <p:nvSpPr>
          <p:cNvPr id="1167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1167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BD0C6A07-A6DE-4DF1-ABB5-2FBF08DFDE1A}" type="slidenum">
              <a:rPr lang="en-US" altLang="en-US" sz="1200" smtClean="0">
                <a:solidFill>
                  <a:schemeClr val="tx1"/>
                </a:solidFill>
              </a:rPr>
              <a:pPr eaLnBrk="1" hangingPunct="1"/>
              <a:t>45</a:t>
            </a:fld>
            <a:endParaRPr lang="en-US" altLang="en-US" sz="1200" smtClean="0">
              <a:solidFill>
                <a:schemeClr val="tx1"/>
              </a:solidFill>
            </a:endParaRPr>
          </a:p>
        </p:txBody>
      </p:sp>
      <p:sp>
        <p:nvSpPr>
          <p:cNvPr id="116740" name="Rectangle 2"/>
          <p:cNvSpPr>
            <a:spLocks noGrp="1" noRot="1" noChangeAspect="1" noChangeArrowheads="1" noTextEdit="1"/>
          </p:cNvSpPr>
          <p:nvPr>
            <p:ph type="sldImg"/>
          </p:nvPr>
        </p:nvSpPr>
        <p:spPr>
          <a:ln/>
        </p:spPr>
      </p:sp>
      <p:sp>
        <p:nvSpPr>
          <p:cNvPr id="1167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latin typeface="Arial" pitchFamily="34" charset="0"/>
              </a:rPr>
              <a:t>During</a:t>
            </a:r>
            <a:r>
              <a:rPr lang="en-US" baseline="0" dirty="0" smtClean="0">
                <a:latin typeface="Arial" pitchFamily="34" charset="0"/>
              </a:rPr>
              <a:t> Service Request creation, the CSR or Adjuster may search for vendors to provide particular services (and use the same search shown here), and then filter or limit the results by scores or by preferred vendors. Service Requests are discussed in the “Vendor Service Requests” lesson.</a:t>
            </a:r>
          </a:p>
          <a:p>
            <a:pPr eaLnBrk="1" hangingPunct="1"/>
            <a:endParaRPr lang="en-US" baseline="0" dirty="0" smtClean="0">
              <a:latin typeface="Arial" pitchFamily="34" charset="0"/>
            </a:endParaRPr>
          </a:p>
          <a:p>
            <a:pPr eaLnBrk="1" hangingPunct="1"/>
            <a:r>
              <a:rPr lang="en-US" baseline="0" dirty="0" smtClean="0">
                <a:latin typeface="Arial" pitchFamily="34" charset="0"/>
              </a:rPr>
              <a:t>Not shown is the requirement to search on a zip code or combination of city and state. Therefore you would need to supply this (like any search of the address book). However this does provide a way to combine a geographic search with preferred status and/or review scores.</a:t>
            </a:r>
            <a:endParaRPr lang="en-US" dirty="0" smtClean="0">
              <a:latin typeface="Arial"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|EON~045|</a:t>
            </a:r>
            <a:endParaRPr lang="en-US" sz="100">
              <a:solidFill>
                <a:srgbClr val="FFFFFF"/>
              </a:solidFill>
              <a:latin typeface="Arial"/>
            </a:endParaRPr>
          </a:p>
        </p:txBody>
      </p:sp>
      <p:sp>
        <p:nvSpPr>
          <p:cNvPr id="1187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1187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5F965F90-D230-4AA6-B82F-93957BD5157D}" type="slidenum">
              <a:rPr lang="en-US" altLang="en-US" sz="1200" smtClean="0">
                <a:solidFill>
                  <a:schemeClr val="tx1"/>
                </a:solidFill>
              </a:rPr>
              <a:pPr eaLnBrk="1" hangingPunct="1"/>
              <a:t>46</a:t>
            </a:fld>
            <a:endParaRPr lang="en-US" altLang="en-US" sz="1200" smtClean="0">
              <a:solidFill>
                <a:schemeClr val="tx1"/>
              </a:solidFill>
            </a:endParaRPr>
          </a:p>
        </p:txBody>
      </p:sp>
      <p:sp>
        <p:nvSpPr>
          <p:cNvPr id="118788" name="Rectangle 2"/>
          <p:cNvSpPr>
            <a:spLocks noGrp="1" noRot="1" noChangeAspect="1" noChangeArrowheads="1" noTextEdit="1"/>
          </p:cNvSpPr>
          <p:nvPr>
            <p:ph type="sldImg"/>
          </p:nvPr>
        </p:nvSpPr>
        <p:spPr>
          <a:ln/>
        </p:spPr>
      </p:sp>
      <p:sp>
        <p:nvSpPr>
          <p:cNvPr id="1187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latin typeface="Arial" pitchFamily="34" charset="0"/>
              </a:rPr>
              <a:t>In the base application, a single review type is provided for Auto Repair Shop. It is possible to configure other review types for Doctors or Lawyers. These review types could re-use some of the same categories and questions, or could be entirely different.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|EON~046|</a:t>
            </a:r>
            <a:endParaRPr lang="en-US" sz="100">
              <a:solidFill>
                <a:srgbClr val="FFFFFF"/>
              </a:solidFill>
              <a:latin typeface="Arial"/>
            </a:endParaRPr>
          </a:p>
        </p:txBody>
      </p:sp>
      <p:sp>
        <p:nvSpPr>
          <p:cNvPr id="1198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1198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39891C7F-807B-4306-A640-768B2963E371}" type="slidenum">
              <a:rPr lang="en-US" altLang="en-US" sz="1200" smtClean="0">
                <a:solidFill>
                  <a:schemeClr val="tx1"/>
                </a:solidFill>
              </a:rPr>
              <a:pPr eaLnBrk="1" hangingPunct="1"/>
              <a:t>47</a:t>
            </a:fld>
            <a:endParaRPr lang="en-US" altLang="en-US" sz="1200" smtClean="0">
              <a:solidFill>
                <a:schemeClr val="tx1"/>
              </a:solidFill>
            </a:endParaRPr>
          </a:p>
        </p:txBody>
      </p:sp>
      <p:sp>
        <p:nvSpPr>
          <p:cNvPr id="119812" name="Rectangle 2"/>
          <p:cNvSpPr>
            <a:spLocks noGrp="1" noRot="1" noChangeAspect="1" noChangeArrowheads="1" noTextEdit="1"/>
          </p:cNvSpPr>
          <p:nvPr>
            <p:ph type="sldImg"/>
          </p:nvPr>
        </p:nvSpPr>
        <p:spPr>
          <a:ln/>
        </p:spPr>
      </p:sp>
      <p:sp>
        <p:nvSpPr>
          <p:cNvPr id="1198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latin typeface="Arial" pitchFamily="34" charset="0"/>
              </a:rPr>
              <a:t>Each Review Type contains one or more Categories.</a:t>
            </a:r>
          </a:p>
          <a:p>
            <a:pPr eaLnBrk="1" hangingPunct="1"/>
            <a:r>
              <a:rPr lang="en-US" dirty="0" smtClean="0">
                <a:latin typeface="Arial" pitchFamily="34" charset="0"/>
              </a:rPr>
              <a:t>Categories are used for grouping sets of similar questions.</a:t>
            </a:r>
          </a:p>
          <a:p>
            <a:pPr eaLnBrk="1" hangingPunct="1"/>
            <a:r>
              <a:rPr lang="en-US" dirty="0" smtClean="0">
                <a:latin typeface="Arial" pitchFamily="34" charset="0"/>
              </a:rPr>
              <a:t>Each answer is associated with a score.</a:t>
            </a:r>
          </a:p>
          <a:p>
            <a:pPr eaLnBrk="1" hangingPunct="1"/>
            <a:r>
              <a:rPr lang="en-US" dirty="0" smtClean="0">
                <a:latin typeface="Arial" pitchFamily="34" charset="0"/>
              </a:rPr>
              <a:t>The score for each question answered is used to compute the Category Scores.</a:t>
            </a:r>
          </a:p>
          <a:p>
            <a:pPr eaLnBrk="1" hangingPunct="1"/>
            <a:r>
              <a:rPr lang="en-US" dirty="0" smtClean="0">
                <a:latin typeface="Arial" pitchFamily="34" charset="0"/>
              </a:rPr>
              <a:t>In the base application, if a question is not answered, it’s not used in the calculation.</a:t>
            </a:r>
          </a:p>
          <a:p>
            <a:pPr eaLnBrk="1" hangingPunct="1"/>
            <a:endParaRPr lang="en-US" dirty="0" smtClean="0">
              <a:latin typeface="Arial" pitchFamily="34" charset="0"/>
            </a:endParaRPr>
          </a:p>
          <a:p>
            <a:pPr eaLnBrk="1" hangingPunct="1"/>
            <a:endParaRPr lang="en-US" dirty="0" smtClean="0">
              <a:latin typeface="Arial"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|EON~047|</a:t>
            </a:r>
            <a:endParaRPr lang="en-US" sz="100">
              <a:solidFill>
                <a:srgbClr val="FFFFFF"/>
              </a:solidFill>
              <a:latin typeface="Arial"/>
            </a:endParaRPr>
          </a:p>
        </p:txBody>
      </p:sp>
      <p:sp>
        <p:nvSpPr>
          <p:cNvPr id="1208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1208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64DFA62B-DC88-4727-B9D4-EE922E9EB82B}" type="slidenum">
              <a:rPr lang="en-US" altLang="en-US" sz="1200" smtClean="0">
                <a:solidFill>
                  <a:schemeClr val="tx1"/>
                </a:solidFill>
              </a:rPr>
              <a:pPr eaLnBrk="1" hangingPunct="1"/>
              <a:t>48</a:t>
            </a:fld>
            <a:endParaRPr lang="en-US" altLang="en-US" sz="1200" smtClean="0">
              <a:solidFill>
                <a:schemeClr val="tx1"/>
              </a:solidFill>
            </a:endParaRPr>
          </a:p>
        </p:txBody>
      </p:sp>
      <p:sp>
        <p:nvSpPr>
          <p:cNvPr id="120836" name="Rectangle 2"/>
          <p:cNvSpPr>
            <a:spLocks noGrp="1" noRot="1" noChangeAspect="1" noChangeArrowheads="1" noTextEdit="1"/>
          </p:cNvSpPr>
          <p:nvPr>
            <p:ph type="sldImg"/>
          </p:nvPr>
        </p:nvSpPr>
        <p:spPr>
          <a:ln/>
        </p:spPr>
      </p:sp>
      <p:sp>
        <p:nvSpPr>
          <p:cNvPr id="1208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latin typeface="Arial" pitchFamily="34" charset="0"/>
              </a:rPr>
              <a:t>Notice that the Accuracy of Quote section was not answered and thus not included in the final score.</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|EON~048|</a:t>
            </a:r>
            <a:endParaRPr lang="en-US" sz="100">
              <a:solidFill>
                <a:srgbClr val="FFFFFF"/>
              </a:solidFill>
              <a:latin typeface="Arial"/>
            </a:endParaRPr>
          </a:p>
        </p:txBody>
      </p:sp>
      <p:sp>
        <p:nvSpPr>
          <p:cNvPr id="1177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1177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980F9ADF-2A98-45C2-BAE6-3B92555EEB1A}" type="slidenum">
              <a:rPr lang="en-US" altLang="en-US" sz="1200" smtClean="0">
                <a:solidFill>
                  <a:schemeClr val="tx1"/>
                </a:solidFill>
              </a:rPr>
              <a:pPr eaLnBrk="1" hangingPunct="1"/>
              <a:t>49</a:t>
            </a:fld>
            <a:endParaRPr lang="en-US" altLang="en-US" sz="1200" smtClean="0">
              <a:solidFill>
                <a:schemeClr val="tx1"/>
              </a:solidFill>
            </a:endParaRPr>
          </a:p>
        </p:txBody>
      </p:sp>
      <p:sp>
        <p:nvSpPr>
          <p:cNvPr id="117764" name="Rectangle 2"/>
          <p:cNvSpPr>
            <a:spLocks noGrp="1" noRot="1" noChangeAspect="1" noChangeArrowheads="1" noTextEdit="1"/>
          </p:cNvSpPr>
          <p:nvPr>
            <p:ph type="sldImg"/>
          </p:nvPr>
        </p:nvSpPr>
        <p:spPr>
          <a:ln/>
        </p:spPr>
      </p:sp>
      <p:sp>
        <p:nvSpPr>
          <p:cNvPr id="1177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latin typeface="Arial" pitchFamily="34" charset="0"/>
              </a:rPr>
              <a:t>All reviews</a:t>
            </a:r>
            <a:r>
              <a:rPr lang="en-US" baseline="0" dirty="0" smtClean="0">
                <a:latin typeface="Arial" pitchFamily="34" charset="0"/>
              </a:rPr>
              <a:t> for a particular service provider are available when locating the provider in the Address Book Search. Once a review is marked complete, it is read-only. </a:t>
            </a:r>
          </a:p>
          <a:p>
            <a:pPr eaLnBrk="1" hangingPunct="1"/>
            <a:r>
              <a:rPr lang="en-US" baseline="0" dirty="0" smtClean="0">
                <a:latin typeface="Arial" pitchFamily="34" charset="0"/>
              </a:rPr>
              <a:t>For more on the functionality of service provider reviews, and configuring service provider reviews, consult the “ContactManager Configuration for ClaimCenter” training course. </a:t>
            </a:r>
            <a:endParaRPr lang="en-US" dirty="0" smtClean="0">
              <a:latin typeface="Arial"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|EON~049|</a:t>
            </a:r>
            <a:endParaRPr lang="en-US" sz="100">
              <a:solidFill>
                <a:srgbClr val="FFFFFF"/>
              </a:solidFill>
              <a:latin typeface="Arial"/>
            </a:endParaRPr>
          </a:p>
        </p:txBody>
      </p:sp>
      <p:sp>
        <p:nvSpPr>
          <p:cNvPr id="1228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1228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910AA32A-7CB6-415A-BE7F-C9D649B71204}" type="slidenum">
              <a:rPr lang="en-US" altLang="en-US" sz="1200" smtClean="0">
                <a:solidFill>
                  <a:schemeClr val="tx1"/>
                </a:solidFill>
              </a:rPr>
              <a:pPr eaLnBrk="1" hangingPunct="1"/>
              <a:t>50</a:t>
            </a:fld>
            <a:endParaRPr lang="en-US" altLang="en-US" sz="1200" smtClean="0">
              <a:solidFill>
                <a:schemeClr val="tx1"/>
              </a:solidFill>
            </a:endParaRPr>
          </a:p>
        </p:txBody>
      </p:sp>
      <p:sp>
        <p:nvSpPr>
          <p:cNvPr id="122884" name="Rectangle 2"/>
          <p:cNvSpPr>
            <a:spLocks noGrp="1" noRot="1" noChangeAspect="1" noChangeArrowheads="1" noTextEdit="1"/>
          </p:cNvSpPr>
          <p:nvPr>
            <p:ph type="sldImg"/>
          </p:nvPr>
        </p:nvSpPr>
        <p:spPr>
          <a:xfrm>
            <a:off x="715963" y="630238"/>
            <a:ext cx="5432425" cy="4073525"/>
          </a:xfrm>
          <a:ln/>
        </p:spPr>
      </p:sp>
      <p:sp>
        <p:nvSpPr>
          <p:cNvPr id="1228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Arial" pitchFamily="34"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|EON~050|</a:t>
            </a:r>
            <a:endParaRPr lang="en-US" sz="100">
              <a:solidFill>
                <a:srgbClr val="FFFFFF"/>
              </a:solidFill>
              <a:latin typeface="Arial"/>
            </a:endParaRPr>
          </a:p>
        </p:txBody>
      </p:sp>
      <p:sp>
        <p:nvSpPr>
          <p:cNvPr id="1239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pitchFamily="34" charset="0"/>
              </a:defRPr>
            </a:lvl1pPr>
            <a:lvl2pPr marL="742950" indent="-285750" defTabSz="942975" eaLnBrk="0" hangingPunct="0">
              <a:tabLst>
                <a:tab pos="5591175" algn="r"/>
              </a:tabLst>
              <a:defRPr sz="1400">
                <a:solidFill>
                  <a:schemeClr val="bg1"/>
                </a:solidFill>
                <a:latin typeface="Arial" pitchFamily="34" charset="0"/>
              </a:defRPr>
            </a:lvl2pPr>
            <a:lvl3pPr marL="1143000" indent="-228600" defTabSz="942975" eaLnBrk="0" hangingPunct="0">
              <a:tabLst>
                <a:tab pos="5591175" algn="r"/>
              </a:tabLst>
              <a:defRPr sz="1400">
                <a:solidFill>
                  <a:schemeClr val="bg1"/>
                </a:solidFill>
                <a:latin typeface="Arial" pitchFamily="34" charset="0"/>
              </a:defRPr>
            </a:lvl3pPr>
            <a:lvl4pPr marL="1600200" indent="-228600" defTabSz="942975" eaLnBrk="0" hangingPunct="0">
              <a:tabLst>
                <a:tab pos="5591175" algn="r"/>
              </a:tabLst>
              <a:defRPr sz="1400">
                <a:solidFill>
                  <a:schemeClr val="bg1"/>
                </a:solidFill>
                <a:latin typeface="Arial" pitchFamily="34" charset="0"/>
              </a:defRPr>
            </a:lvl4pPr>
            <a:lvl5pPr marL="2057400" indent="-228600" defTabSz="942975" eaLnBrk="0" hangingPunct="0">
              <a:tabLst>
                <a:tab pos="5591175" algn="r"/>
              </a:tabLst>
              <a:defRPr sz="1400">
                <a:solidFill>
                  <a:schemeClr val="bg1"/>
                </a:solidFill>
                <a:latin typeface="Arial" pitchFamily="34"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pitchFamily="34" charset="0"/>
              </a:defRPr>
            </a:lvl9pPr>
          </a:lstStyle>
          <a:p>
            <a:r>
              <a:rPr lang="en-US" altLang="en-US" sz="1200" smtClean="0">
                <a:solidFill>
                  <a:schemeClr val="tx1"/>
                </a:solidFill>
              </a:rPr>
              <a:t>	</a:t>
            </a:r>
            <a:endParaRPr lang="en-US" sz="1200" smtClean="0">
              <a:solidFill>
                <a:schemeClr val="tx1"/>
              </a:solidFill>
            </a:endParaRPr>
          </a:p>
        </p:txBody>
      </p:sp>
      <p:sp>
        <p:nvSpPr>
          <p:cNvPr id="1239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pitchFamily="34" charset="0"/>
              </a:defRPr>
            </a:lvl1pPr>
            <a:lvl2pPr marL="742950" indent="-285750" defTabSz="931863" eaLnBrk="0" hangingPunct="0">
              <a:tabLst>
                <a:tab pos="2743200" algn="ctr"/>
              </a:tabLst>
              <a:defRPr sz="1400">
                <a:solidFill>
                  <a:schemeClr val="bg1"/>
                </a:solidFill>
                <a:latin typeface="Arial" pitchFamily="34" charset="0"/>
              </a:defRPr>
            </a:lvl2pPr>
            <a:lvl3pPr marL="1143000" indent="-228600" defTabSz="931863" eaLnBrk="0" hangingPunct="0">
              <a:tabLst>
                <a:tab pos="2743200" algn="ctr"/>
              </a:tabLst>
              <a:defRPr sz="1400">
                <a:solidFill>
                  <a:schemeClr val="bg1"/>
                </a:solidFill>
                <a:latin typeface="Arial" pitchFamily="34" charset="0"/>
              </a:defRPr>
            </a:lvl3pPr>
            <a:lvl4pPr marL="1600200" indent="-228600" defTabSz="931863" eaLnBrk="0" hangingPunct="0">
              <a:tabLst>
                <a:tab pos="2743200" algn="ctr"/>
              </a:tabLst>
              <a:defRPr sz="1400">
                <a:solidFill>
                  <a:schemeClr val="bg1"/>
                </a:solidFill>
                <a:latin typeface="Arial" pitchFamily="34" charset="0"/>
              </a:defRPr>
            </a:lvl4pPr>
            <a:lvl5pPr marL="2057400" indent="-228600" defTabSz="931863" eaLnBrk="0" hangingPunct="0">
              <a:tabLst>
                <a:tab pos="2743200" algn="ctr"/>
              </a:tabLst>
              <a:defRPr sz="1400">
                <a:solidFill>
                  <a:schemeClr val="bg1"/>
                </a:solidFill>
                <a:latin typeface="Arial" pitchFamily="34"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pitchFamily="34" charset="0"/>
              </a:defRPr>
            </a:lvl9pPr>
          </a:lstStyle>
          <a:p>
            <a:pPr eaLnBrk="1" hangingPunct="1"/>
            <a:r>
              <a:rPr lang="en-US" altLang="en-US" sz="1200" smtClean="0">
                <a:solidFill>
                  <a:schemeClr val="tx1"/>
                </a:solidFill>
              </a:rPr>
              <a:t>	Contacts - </a:t>
            </a:r>
            <a:fld id="{CD845167-2E73-4BB1-AD60-6023F5ED697A}" type="slidenum">
              <a:rPr lang="en-US" altLang="en-US" sz="1200" smtClean="0">
                <a:solidFill>
                  <a:schemeClr val="tx1"/>
                </a:solidFill>
              </a:rPr>
              <a:pPr eaLnBrk="1" hangingPunct="1"/>
              <a:t>51</a:t>
            </a:fld>
            <a:endParaRPr lang="en-US" altLang="en-US" sz="1200" smtClean="0">
              <a:solidFill>
                <a:schemeClr val="tx1"/>
              </a:solidFill>
            </a:endParaRPr>
          </a:p>
        </p:txBody>
      </p:sp>
      <p:sp>
        <p:nvSpPr>
          <p:cNvPr id="123908" name="Rectangle 2"/>
          <p:cNvSpPr>
            <a:spLocks noGrp="1" noRot="1" noChangeAspect="1" noChangeArrowheads="1" noTextEdit="1"/>
          </p:cNvSpPr>
          <p:nvPr>
            <p:ph type="sldImg"/>
          </p:nvPr>
        </p:nvSpPr>
        <p:spPr>
          <a:xfrm>
            <a:off x="715963" y="630238"/>
            <a:ext cx="5432425" cy="4073525"/>
          </a:xfrm>
          <a:ln/>
        </p:spPr>
      </p:sp>
      <p:sp>
        <p:nvSpPr>
          <p:cNvPr id="1239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dirty="0" smtClean="0">
                <a:latin typeface="Arial" pitchFamily="34" charset="0"/>
              </a:rPr>
              <a:t>Answers</a:t>
            </a:r>
          </a:p>
          <a:p>
            <a:pPr eaLnBrk="1" hangingPunct="1"/>
            <a:r>
              <a:rPr lang="en-US" dirty="0" smtClean="0">
                <a:latin typeface="Arial" pitchFamily="34" charset="0"/>
              </a:rPr>
              <a:t>1. Four. There would be one contact in Address Book and three in ClaimCenter. Every contact, whether it is linked or not, is a unique and separate object.</a:t>
            </a:r>
          </a:p>
          <a:p>
            <a:pPr eaLnBrk="1" hangingPunct="1"/>
            <a:r>
              <a:rPr lang="en-US" dirty="0" smtClean="0">
                <a:latin typeface="Arial" pitchFamily="34" charset="0"/>
              </a:rPr>
              <a:t>2. It is common to have a contact that exists only in ClaimCenter. This is true for contacts that are relevant to only one claim (such as a witness or passenger). It is uncommon to have a contact exist only in Address Book. The primary purpose for creating a contact in Address Book is to have it associated to multiple claims, and if it is associated to even one claim, then the contact will also exist in ClaimCenter.</a:t>
            </a:r>
          </a:p>
          <a:p>
            <a:pPr eaLnBrk="1" hangingPunct="1"/>
            <a:r>
              <a:rPr lang="en-US" dirty="0" smtClean="0">
                <a:latin typeface="Arial" pitchFamily="34" charset="0"/>
              </a:rPr>
              <a:t>3. A contact role identifies the relationship that the contact has with the claim (such as insured, witness, doctor, and so on). The contact role owner identifies if the contact has that role for the entire claim or for just the policy, a given exposure, or a given incident.</a:t>
            </a:r>
          </a:p>
          <a:p>
            <a:pPr eaLnBrk="1" hangingPunct="1"/>
            <a:r>
              <a:rPr lang="en-US" dirty="0" smtClean="0">
                <a:latin typeface="Arial" pitchFamily="34" charset="0"/>
              </a:rPr>
              <a:t>4. You can tell that a contact is linked and/or in sync by selecting the contact from the Parties Involved - Contacts screen. A label on the Basics</a:t>
            </a:r>
            <a:r>
              <a:rPr lang="en-US" baseline="0" dirty="0" smtClean="0">
                <a:latin typeface="Arial" pitchFamily="34" charset="0"/>
              </a:rPr>
              <a:t> </a:t>
            </a:r>
            <a:r>
              <a:rPr lang="en-US" dirty="0" smtClean="0">
                <a:latin typeface="Arial" pitchFamily="34" charset="0"/>
              </a:rPr>
              <a:t>card identifies the contact's state.</a:t>
            </a:r>
          </a:p>
          <a:p>
            <a:pPr eaLnBrk="1" hangingPunct="1"/>
            <a:r>
              <a:rPr lang="en-US" dirty="0" smtClean="0">
                <a:latin typeface="Arial" pitchFamily="34" charset="0"/>
              </a:rPr>
              <a:t>5. Assuming that the contact is a shared</a:t>
            </a:r>
            <a:r>
              <a:rPr lang="en-US" baseline="0" dirty="0" smtClean="0">
                <a:latin typeface="Arial" pitchFamily="34" charset="0"/>
              </a:rPr>
              <a:t> </a:t>
            </a:r>
            <a:r>
              <a:rPr lang="en-US" dirty="0" smtClean="0">
                <a:latin typeface="Arial" pitchFamily="34" charset="0"/>
              </a:rPr>
              <a:t>contact that</a:t>
            </a:r>
            <a:r>
              <a:rPr lang="en-US" baseline="0" dirty="0" smtClean="0">
                <a:latin typeface="Arial" pitchFamily="34" charset="0"/>
              </a:rPr>
              <a:t> </a:t>
            </a:r>
            <a:r>
              <a:rPr lang="en-US" dirty="0" smtClean="0">
                <a:latin typeface="Arial" pitchFamily="34" charset="0"/>
              </a:rPr>
              <a:t>has linked instances in both ClaimCenter and Address Book, you could view the contact in Address Book (either by finding the contact from a Parties Involved - Contacts screen and clicking the "View in Address Book" button or by searching for it via the Address Book tab), and then view the Claims card, which lists all claims the contact is linked to.</a:t>
            </a:r>
          </a:p>
          <a:p>
            <a:pPr eaLnBrk="1" hangingPunct="1"/>
            <a:endParaRPr lang="en-US" dirty="0" smtClean="0">
              <a:latin typeface="Arial"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|EON~051|</a:t>
            </a:r>
            <a:endParaRPr lang="en-US" sz="100">
              <a:solidFill>
                <a:srgbClr val="FFFFFF"/>
              </a:solidFill>
              <a:latin typeface="Arial"/>
            </a:endParaRPr>
          </a:p>
        </p:txBody>
      </p:sp>
      <p:sp>
        <p:nvSpPr>
          <p:cNvPr id="100354" name="Copyright"/>
          <p:cNvSpPr>
            <a:spLocks noGrp="1" noChangeArrowheads="1"/>
          </p:cNvSpPr>
          <p:nvPr>
            <p:ph type="sldNum" sz="quarter" idx="5"/>
          </p:nvPr>
        </p:nvSpPr>
        <p:spPr/>
        <p:txBody>
          <a:bodyPr/>
          <a:lstStyle/>
          <a:p>
            <a:pPr>
              <a:defRPr/>
            </a:pPr>
            <a:r>
              <a:rPr lang="en-US" altLang="en-US" dirty="0" smtClean="0"/>
              <a:t>	Contacts - </a:t>
            </a:r>
            <a:fld id="{211C349A-83C9-44D0-A356-DBEB3FC715FC}" type="slidenum">
              <a:rPr lang="en-US" altLang="en-US" smtClean="0"/>
              <a:pPr>
                <a:defRPr/>
              </a:pPr>
              <a:t>52</a:t>
            </a:fld>
            <a:endParaRPr lang="en-US" altLang="en-US" dirty="0" smtClean="0"/>
          </a:p>
        </p:txBody>
      </p:sp>
      <p:sp>
        <p:nvSpPr>
          <p:cNvPr id="100355" name="SectionName"/>
          <p:cNvSpPr>
            <a:spLocks noGrp="1" noChangeArrowheads="1"/>
          </p:cNvSpPr>
          <p:nvPr>
            <p:ph type="hdr" sz="quarter"/>
          </p:nvPr>
        </p:nvSpPr>
        <p:spPr/>
        <p:txBody>
          <a:bodyPr/>
          <a:lstStyle/>
          <a:p>
            <a:pPr>
              <a:defRPr/>
            </a:pPr>
            <a:r>
              <a:rPr lang="en-US" altLang="en-US" smtClean="0"/>
              <a:t>	</a:t>
            </a:r>
            <a:endParaRPr lang="en-US" smtClean="0"/>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dirty="0"/>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dirty="0" smtClean="0"/>
              <a:t>Click to edit Master text styles</a:t>
            </a:r>
          </a:p>
        </p:txBody>
      </p:sp>
    </p:spTree>
    <p:extLst>
      <p:ext uri="{BB962C8B-B14F-4D97-AF65-F5344CB8AC3E}">
        <p14:creationId xmlns:p14="http://schemas.microsoft.com/office/powerpoint/2010/main" val="422830512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464050866"/>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3794510332"/>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Tree>
    <p:extLst>
      <p:ext uri="{BB962C8B-B14F-4D97-AF65-F5344CB8AC3E}">
        <p14:creationId xmlns:p14="http://schemas.microsoft.com/office/powerpoint/2010/main" val="2328797989"/>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86928596"/>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038725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395266718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97321624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99681431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424573061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dirty="0" smtClean="0"/>
              <a:t>Click to edit Master title style</a:t>
            </a:r>
            <a:endParaRPr lang="en-US" dirty="0"/>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dirty="0"/>
          </a:p>
        </p:txBody>
      </p:sp>
    </p:spTree>
    <p:extLst>
      <p:ext uri="{BB962C8B-B14F-4D97-AF65-F5344CB8AC3E}">
        <p14:creationId xmlns:p14="http://schemas.microsoft.com/office/powerpoint/2010/main" val="99237804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4302749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131" name="Rectangle 107"/>
            <p:cNvSpPr>
              <a:spLocks noChangeArrowheads="1"/>
            </p:cNvSpPr>
            <p:nvPr userDrawn="1"/>
          </p:nvSpPr>
          <p:spPr bwMode="auto">
            <a:xfrm>
              <a:off x="80" y="80"/>
              <a:ext cx="5597" cy="4158"/>
            </a:xfrm>
            <a:prstGeom prst="rect">
              <a:avLst/>
            </a:prstGeom>
            <a:noFill/>
            <a:ln w="0" cap="rnd">
              <a:noFill/>
              <a:prstDash val="sysDot"/>
              <a:miter lim="800000"/>
              <a:headEnd/>
              <a:tailEnd/>
            </a:ln>
            <a:effectLst/>
          </p:spPr>
          <p:txBody>
            <a:bodyPr wrap="none" lIns="91418" tIns="45709" rIns="91418" bIns="45709" anchor="ctr"/>
            <a:lstStyle/>
            <a:p>
              <a:pPr eaLnBrk="0" hangingPunct="0">
                <a:defRPr/>
              </a:pPr>
              <a:endParaRPr lang="en-US" sz="1600">
                <a:solidFill>
                  <a:srgbClr val="000000"/>
                </a:solidFill>
                <a:latin typeface="Arial" charset="0"/>
              </a:endParaRPr>
            </a:p>
          </p:txBody>
        </p:sp>
        <p:sp>
          <p:nvSpPr>
            <p:cNvPr id="1132" name="Line 108"/>
            <p:cNvSpPr>
              <a:spLocks noChangeShapeType="1"/>
            </p:cNvSpPr>
            <p:nvPr userDrawn="1"/>
          </p:nvSpPr>
          <p:spPr bwMode="auto">
            <a:xfrm>
              <a:off x="292" y="0"/>
              <a:ext cx="0" cy="4320"/>
            </a:xfrm>
            <a:prstGeom prst="line">
              <a:avLst/>
            </a:prstGeom>
            <a:noFill/>
            <a:ln w="3175">
              <a:noFill/>
              <a:round/>
              <a:headEnd/>
              <a:tailEnd/>
            </a:ln>
            <a:effectLst/>
          </p:spPr>
          <p:txBody>
            <a:bodyPr wrap="none" lIns="0" tIns="0" rIns="0" bIns="0" anchor="ctr">
              <a:spAutoFit/>
            </a:bodyPr>
            <a:lstStyle/>
            <a:p>
              <a:pPr>
                <a:defRPr/>
              </a:pPr>
              <a:endParaRPr lang="en-US">
                <a:latin typeface="Arial" charset="0"/>
              </a:endParaRPr>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 </a:t>
            </a:r>
          </a:p>
          <a:p>
            <a:pPr lvl="1"/>
            <a:r>
              <a:rPr lang="en-US" altLang="en-US" smtClean="0"/>
              <a:t>Second level</a:t>
            </a:r>
          </a:p>
          <a:p>
            <a:pPr lvl="2"/>
            <a:r>
              <a:rPr lang="en-US" altLang="en-US" smtClean="0"/>
              <a:t>Third level</a:t>
            </a:r>
          </a:p>
          <a:p>
            <a:pPr lvl="3"/>
            <a:r>
              <a:rPr lang="en-US" altLang="en-US" smtClean="0"/>
              <a:t>Fourth level</a:t>
            </a:r>
          </a:p>
        </p:txBody>
      </p:sp>
      <p:sp>
        <p:nvSpPr>
          <p:cNvPr id="1127" name="PageNumberBox"/>
          <p:cNvSpPr txBox="1">
            <a:spLocks noChangeArrowheads="1"/>
          </p:cNvSpPr>
          <p:nvPr/>
        </p:nvSpPr>
        <p:spPr bwMode="auto">
          <a:xfrm>
            <a:off x="4327525" y="6518275"/>
            <a:ext cx="519113" cy="227013"/>
          </a:xfrm>
          <a:prstGeom prst="rect">
            <a:avLst/>
          </a:prstGeom>
          <a:noFill/>
          <a:ln w="6350" algn="ctr">
            <a:noFill/>
            <a:miter lim="800000"/>
            <a:headEnd/>
            <a:tailEnd/>
          </a:ln>
          <a:effectLst/>
        </p:spPr>
        <p:txBody>
          <a:bodyPr lIns="0" tIns="0" rIns="0" bIns="0"/>
          <a:lstStyle/>
          <a:p>
            <a:pPr eaLnBrk="0" hangingPunct="0">
              <a:lnSpc>
                <a:spcPts val="1800"/>
              </a:lnSpc>
              <a:spcBef>
                <a:spcPts val="600"/>
              </a:spcBef>
              <a:buFont typeface="Wingdings" pitchFamily="2" charset="2"/>
              <a:buNone/>
              <a:defRPr/>
            </a:pPr>
            <a:fld id="{17804E72-1894-4AE1-B337-789A1EBDBA3A}" type="slidenum">
              <a:rPr lang="en-US" sz="1200">
                <a:solidFill>
                  <a:srgbClr val="B2B2B2"/>
                </a:solidFill>
                <a:latin typeface="Calibri" pitchFamily="34" charset="0"/>
                <a:cs typeface="Calibri" pitchFamily="34" charset="0"/>
              </a:rPr>
              <a:pPr eaLnBrk="0" hangingPunct="0">
                <a:lnSpc>
                  <a:spcPts val="1800"/>
                </a:lnSpc>
                <a:spcBef>
                  <a:spcPts val="600"/>
                </a:spcBef>
                <a:buFont typeface="Wingdings" pitchFamily="2" charset="2"/>
                <a:buNone/>
                <a:defRPr/>
              </a:pPr>
              <a:t>‹#›</a:t>
            </a:fld>
            <a:r>
              <a:rPr lang="en-US" sz="1800" i="1" dirty="0">
                <a:solidFill>
                  <a:srgbClr val="B2B2B2"/>
                </a:solidFill>
                <a:latin typeface="Arial" charset="0"/>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userDrawn="1"/>
        </p:nvSpPr>
        <p:spPr>
          <a:xfrm>
            <a:off x="560388" y="6570663"/>
            <a:ext cx="2647950" cy="93662"/>
          </a:xfrm>
          <a:prstGeom prst="rect">
            <a:avLst/>
          </a:prstGeom>
          <a:noFill/>
        </p:spPr>
        <p:txBody>
          <a:bodyPr wrap="none" lIns="0" tIns="0" rIns="0" bIns="0">
            <a:spAutoFit/>
          </a:bodyPr>
          <a:lstStyle/>
          <a:p>
            <a:pPr algn="r">
              <a:spcBef>
                <a:spcPts val="600"/>
              </a:spcBef>
              <a:buClr>
                <a:schemeClr val="tx2"/>
              </a:buClr>
              <a:buFont typeface="Arial" charset="0"/>
              <a:buNone/>
              <a:defRPr/>
            </a:pPr>
            <a:r>
              <a:rPr lang="en-US" sz="600" dirty="0">
                <a:solidFill>
                  <a:srgbClr val="B2B2B2"/>
                </a:solidFill>
                <a:latin typeface="+mn-lt"/>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871" r:id="rId1"/>
    <p:sldLayoutId id="2147483861" r:id="rId2"/>
    <p:sldLayoutId id="2147483862" r:id="rId3"/>
    <p:sldLayoutId id="2147483863" r:id="rId4"/>
    <p:sldLayoutId id="2147483864" r:id="rId5"/>
    <p:sldLayoutId id="2147483865" r:id="rId6"/>
    <p:sldLayoutId id="2147483866" r:id="rId7"/>
    <p:sldLayoutId id="2147483867" r:id="rId8"/>
    <p:sldLayoutId id="2147483868" r:id="rId9"/>
    <p:sldLayoutId id="2147483869" r:id="rId10"/>
    <p:sldLayoutId id="2147483870" r:id="rId11"/>
    <p:sldLayoutId id="2147483872"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pitchFamily="34"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pitchFamily="34"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pitchFamily="34"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pitchFamily="34"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w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5.wmf"/></Relationships>
</file>

<file path=ppt/slides/_rels/slide7.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21.pn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27.jpeg"/><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4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49.png"/></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43.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55.jpeg"/></Relationships>
</file>

<file path=ppt/slides/_rels/slide4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6.xml"/><Relationship Id="rId1" Type="http://schemas.openxmlformats.org/officeDocument/2006/relationships/slideLayout" Target="../slideLayouts/slideLayout3.xml"/><Relationship Id="rId5" Type="http://schemas.openxmlformats.org/officeDocument/2006/relationships/image" Target="../media/image59.png"/><Relationship Id="rId4" Type="http://schemas.openxmlformats.org/officeDocument/2006/relationships/image" Target="../media/image58.png"/></Relationships>
</file>

<file path=ppt/slides/_rels/slide4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62.png"/></Relationships>
</file>

<file path=ppt/slides/_rels/slide4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|EOS~001|</a:t>
            </a:r>
            <a:endParaRPr lang="en-US" sz="100" dirty="0" err="1" smtClean="0">
              <a:solidFill>
                <a:srgbClr val="FFFFFF"/>
              </a:solidFill>
              <a:latin typeface="Arial"/>
              <a:cs typeface="Calibri" pitchFamily="34" charset="0"/>
            </a:endParaRPr>
          </a:p>
        </p:txBody>
      </p:sp>
      <p:sp>
        <p:nvSpPr>
          <p:cNvPr id="4098" name="Rectangle 2"/>
          <p:cNvSpPr>
            <a:spLocks noGrp="1" noChangeArrowheads="1"/>
          </p:cNvSpPr>
          <p:nvPr>
            <p:ph type="ctrTitle"/>
          </p:nvPr>
        </p:nvSpPr>
        <p:spPr>
          <a:xfrm>
            <a:off x="458788" y="2957513"/>
            <a:ext cx="8348662" cy="457200"/>
          </a:xfrm>
        </p:spPr>
        <p:txBody>
          <a:bodyPr/>
          <a:lstStyle/>
          <a:p>
            <a:pPr eaLnBrk="1" hangingPunct="1"/>
            <a:r>
              <a:rPr lang="en-US" smtClean="0"/>
              <a:t>Contacts</a:t>
            </a:r>
          </a:p>
        </p:txBody>
      </p:sp>
      <p:sp>
        <p:nvSpPr>
          <p:cNvPr id="4099" name="Text Placeholder 4"/>
          <p:cNvSpPr>
            <a:spLocks noGrp="1"/>
          </p:cNvSpPr>
          <p:nvPr>
            <p:ph type="body" sz="quarter" idx="10"/>
          </p:nvPr>
        </p:nvSpPr>
        <p:spPr>
          <a:xfrm>
            <a:off x="5718175" y="6167438"/>
            <a:ext cx="3089275" cy="273050"/>
          </a:xfrm>
        </p:spPr>
        <p:txBody>
          <a:bodyPr/>
          <a:lstStyle/>
          <a:p>
            <a:r>
              <a:rPr lang="en-US" dirty="0" smtClean="0"/>
              <a:t>17 March </a:t>
            </a:r>
            <a:r>
              <a:rPr lang="en-US" dirty="0"/>
              <a:t>2015</a:t>
            </a:r>
            <a:endParaRPr lang="en-US" dirty="0" smtClean="0"/>
          </a:p>
        </p:txBody>
      </p:sp>
    </p:spTree>
    <p:extLst>
      <p:ext uri="{BB962C8B-B14F-4D97-AF65-F5344CB8AC3E}">
        <p14:creationId xmlns:p14="http://schemas.microsoft.com/office/powerpoint/2010/main" val="1687441106"/>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|EOS~002|</a:t>
            </a:r>
            <a:endParaRPr lang="en-US" sz="100" dirty="0" err="1" smtClean="0">
              <a:solidFill>
                <a:srgbClr val="FFFFFF"/>
              </a:solidFill>
              <a:latin typeface="Arial"/>
              <a:cs typeface="Calibri" pitchFamily="34" charset="0"/>
            </a:endParaRPr>
          </a:p>
        </p:txBody>
      </p:sp>
      <p:sp>
        <p:nvSpPr>
          <p:cNvPr id="5122" name="Rectangle 2"/>
          <p:cNvSpPr>
            <a:spLocks noGrp="1" noChangeArrowheads="1"/>
          </p:cNvSpPr>
          <p:nvPr>
            <p:ph type="title"/>
          </p:nvPr>
        </p:nvSpPr>
        <p:spPr/>
        <p:txBody>
          <a:bodyPr/>
          <a:lstStyle/>
          <a:p>
            <a:pPr eaLnBrk="1" hangingPunct="1"/>
            <a:r>
              <a:rPr lang="en-US" dirty="0" smtClean="0"/>
              <a:t>Lesson objectives</a:t>
            </a:r>
          </a:p>
        </p:txBody>
      </p:sp>
      <p:sp>
        <p:nvSpPr>
          <p:cNvPr id="5123" name="Rectangle 3"/>
          <p:cNvSpPr>
            <a:spLocks noGrp="1" noChangeArrowheads="1"/>
          </p:cNvSpPr>
          <p:nvPr>
            <p:ph idx="1"/>
          </p:nvPr>
        </p:nvSpPr>
        <p:spPr/>
        <p:txBody>
          <a:bodyPr/>
          <a:lstStyle/>
          <a:p>
            <a:pPr>
              <a:buFont typeface="Wingdings 3" pitchFamily="18" charset="2"/>
              <a:buNone/>
            </a:pPr>
            <a:r>
              <a:rPr lang="en-US" dirty="0" smtClean="0"/>
              <a:t>By the end of this lesson, you should be able to:</a:t>
            </a:r>
          </a:p>
          <a:p>
            <a:pPr lvl="1"/>
            <a:r>
              <a:rPr lang="en-US" dirty="0" smtClean="0"/>
              <a:t>Describe the functionality of contacts</a:t>
            </a:r>
          </a:p>
          <a:p>
            <a:pPr lvl="1"/>
            <a:r>
              <a:rPr lang="en-US" dirty="0" smtClean="0"/>
              <a:t>Describe the functionality of ContactManager</a:t>
            </a:r>
          </a:p>
          <a:p>
            <a:pPr lvl="1"/>
            <a:r>
              <a:rPr lang="en-US" dirty="0" smtClean="0"/>
              <a:t>Create contacts in ClaimCenter</a:t>
            </a:r>
          </a:p>
          <a:p>
            <a:pPr lvl="1"/>
            <a:r>
              <a:rPr lang="en-US" dirty="0" smtClean="0"/>
              <a:t>Work with contacts in ClaimCenter</a:t>
            </a:r>
          </a:p>
          <a:p>
            <a:pPr lvl="1"/>
            <a:r>
              <a:rPr lang="en-US" dirty="0" smtClean="0"/>
              <a:t>Describe approaches to searching for contacts</a:t>
            </a:r>
          </a:p>
          <a:p>
            <a:pPr lvl="1"/>
            <a:endParaRPr lang="en-US" dirty="0" smtClean="0"/>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dirty="0">
                <a:solidFill>
                  <a:srgbClr val="AA3704"/>
                </a:solidFill>
              </a:rPr>
              <a:t>This lesson uses the notes section for additional explanation and information.</a:t>
            </a:r>
            <a:br>
              <a:rPr lang="en-US" dirty="0">
                <a:solidFill>
                  <a:srgbClr val="AA3704"/>
                </a:solidFill>
              </a:rPr>
            </a:br>
            <a:r>
              <a:rPr lang="en-US" dirty="0">
                <a:solidFill>
                  <a:srgbClr val="AA3704"/>
                </a:solidFill>
              </a:rPr>
              <a:t>To view the notes in PowerPoint, choose </a:t>
            </a:r>
            <a:r>
              <a:rPr lang="en-US" dirty="0" err="1">
                <a:solidFill>
                  <a:srgbClr val="AA3704"/>
                </a:solidFill>
              </a:rPr>
              <a:t>View</a:t>
            </a:r>
            <a:r>
              <a:rPr lang="en-US" dirty="0" err="1">
                <a:solidFill>
                  <a:srgbClr val="AA3704"/>
                </a:solidFill>
                <a:sym typeface="Wingdings" pitchFamily="2" charset="2"/>
              </a:rPr>
              <a:t>Normal</a:t>
            </a:r>
            <a:r>
              <a:rPr lang="en-US" dirty="0">
                <a:solidFill>
                  <a:srgbClr val="AA3704"/>
                </a:solidFill>
                <a:sym typeface="Wingdings" pitchFamily="2" charset="2"/>
              </a:rPr>
              <a:t> or </a:t>
            </a:r>
            <a:r>
              <a:rPr lang="en-US" dirty="0" err="1">
                <a:solidFill>
                  <a:srgbClr val="AA3704"/>
                </a:solidFill>
              </a:rPr>
              <a:t>View</a:t>
            </a:r>
            <a:r>
              <a:rPr lang="en-US" dirty="0" err="1">
                <a:solidFill>
                  <a:srgbClr val="AA3704"/>
                </a:solidFill>
                <a:sym typeface="Wingdings" pitchFamily="2" charset="2"/>
              </a:rPr>
              <a:t></a:t>
            </a:r>
            <a:r>
              <a:rPr lang="en-US" dirty="0" err="1">
                <a:solidFill>
                  <a:srgbClr val="AA3704"/>
                </a:solidFill>
              </a:rPr>
              <a:t>Notes</a:t>
            </a:r>
            <a:r>
              <a:rPr lang="en-US" dirty="0">
                <a:solidFill>
                  <a:srgbClr val="AA3704"/>
                </a:solidFill>
              </a:rPr>
              <a:t> Page.</a:t>
            </a:r>
            <a:br>
              <a:rPr lang="en-US" dirty="0">
                <a:solidFill>
                  <a:srgbClr val="AA3704"/>
                </a:solidFill>
              </a:rPr>
            </a:br>
            <a:r>
              <a:rPr lang="en-US" dirty="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dirty="0">
              <a:solidFill>
                <a:srgbClr val="AA3704"/>
              </a:solidFill>
            </a:endParaRPr>
          </a:p>
        </p:txBody>
      </p:sp>
    </p:spTree>
    <p:extLst>
      <p:ext uri="{BB962C8B-B14F-4D97-AF65-F5344CB8AC3E}">
        <p14:creationId xmlns:p14="http://schemas.microsoft.com/office/powerpoint/2010/main" val="3324960549"/>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|EOS~003|</a:t>
            </a:r>
            <a:endParaRPr lang="en-US" sz="100" dirty="0" err="1" smtClean="0">
              <a:solidFill>
                <a:srgbClr val="FFFFFF"/>
              </a:solidFill>
              <a:latin typeface="Arial"/>
              <a:cs typeface="Calibri" pitchFamily="34" charset="0"/>
            </a:endParaRPr>
          </a:p>
        </p:txBody>
      </p:sp>
      <p:sp>
        <p:nvSpPr>
          <p:cNvPr id="6146" name="Rectangle 2"/>
          <p:cNvSpPr>
            <a:spLocks noGrp="1" noChangeArrowheads="1"/>
          </p:cNvSpPr>
          <p:nvPr>
            <p:ph type="title"/>
          </p:nvPr>
        </p:nvSpPr>
        <p:spPr/>
        <p:txBody>
          <a:bodyPr/>
          <a:lstStyle/>
          <a:p>
            <a:pPr eaLnBrk="1" hangingPunct="1"/>
            <a:r>
              <a:rPr lang="en-US" dirty="0" smtClean="0"/>
              <a:t>Lesson outline</a:t>
            </a:r>
          </a:p>
        </p:txBody>
      </p:sp>
      <p:sp>
        <p:nvSpPr>
          <p:cNvPr id="6147" name="Rectangle 3"/>
          <p:cNvSpPr>
            <a:spLocks noGrp="1" noChangeArrowheads="1"/>
          </p:cNvSpPr>
          <p:nvPr>
            <p:ph idx="1"/>
          </p:nvPr>
        </p:nvSpPr>
        <p:spPr/>
        <p:txBody>
          <a:bodyPr/>
          <a:lstStyle/>
          <a:p>
            <a:pPr>
              <a:lnSpc>
                <a:spcPct val="150000"/>
              </a:lnSpc>
            </a:pPr>
            <a:r>
              <a:rPr lang="en-US" sz="2800" dirty="0" smtClean="0"/>
              <a:t>Contact basics</a:t>
            </a:r>
          </a:p>
          <a:p>
            <a:pPr>
              <a:lnSpc>
                <a:spcPct val="150000"/>
              </a:lnSpc>
            </a:pPr>
            <a:r>
              <a:rPr lang="en-US" sz="2800" dirty="0" err="1" smtClean="0">
                <a:solidFill>
                  <a:srgbClr val="C0C0C0"/>
                </a:solidFill>
              </a:rPr>
              <a:t>ContactManager</a:t>
            </a:r>
            <a:endParaRPr lang="en-US" sz="2800" dirty="0" smtClean="0">
              <a:solidFill>
                <a:srgbClr val="C0C0C0"/>
              </a:solidFill>
            </a:endParaRPr>
          </a:p>
          <a:p>
            <a:pPr>
              <a:lnSpc>
                <a:spcPct val="150000"/>
              </a:lnSpc>
            </a:pPr>
            <a:r>
              <a:rPr lang="en-US" sz="2800" dirty="0" smtClean="0">
                <a:solidFill>
                  <a:srgbClr val="C0C0C0"/>
                </a:solidFill>
              </a:rPr>
              <a:t>Creating </a:t>
            </a:r>
            <a:r>
              <a:rPr lang="en-US" sz="2800" dirty="0" err="1" smtClean="0">
                <a:solidFill>
                  <a:srgbClr val="C0C0C0"/>
                </a:solidFill>
              </a:rPr>
              <a:t>ClaimCenter</a:t>
            </a:r>
            <a:r>
              <a:rPr lang="en-US" sz="2800" dirty="0" smtClean="0">
                <a:solidFill>
                  <a:srgbClr val="C0C0C0"/>
                </a:solidFill>
              </a:rPr>
              <a:t> contacts</a:t>
            </a:r>
          </a:p>
          <a:p>
            <a:pPr>
              <a:lnSpc>
                <a:spcPct val="150000"/>
              </a:lnSpc>
            </a:pPr>
            <a:r>
              <a:rPr lang="en-US" sz="2800" dirty="0" smtClean="0">
                <a:solidFill>
                  <a:srgbClr val="C0C0C0"/>
                </a:solidFill>
              </a:rPr>
              <a:t>Searching for contacts</a:t>
            </a:r>
          </a:p>
          <a:p>
            <a:endParaRPr lang="en-US" sz="2800" dirty="0" smtClean="0"/>
          </a:p>
        </p:txBody>
      </p:sp>
    </p:spTree>
    <p:extLst>
      <p:ext uri="{BB962C8B-B14F-4D97-AF65-F5344CB8AC3E}">
        <p14:creationId xmlns:p14="http://schemas.microsoft.com/office/powerpoint/2010/main" val="3026996952"/>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|EOS~004|</a:t>
            </a:r>
            <a:endParaRPr lang="en-US" sz="100" dirty="0" err="1" smtClean="0">
              <a:solidFill>
                <a:srgbClr val="FFFFFF"/>
              </a:solidFill>
              <a:latin typeface="Arial"/>
              <a:cs typeface="Calibri" pitchFamily="34" charset="0"/>
            </a:endParaRPr>
          </a:p>
        </p:txBody>
      </p:sp>
      <p:sp>
        <p:nvSpPr>
          <p:cNvPr id="7175" name="Rectangle 7"/>
          <p:cNvSpPr>
            <a:spLocks noGrp="1" noChangeArrowheads="1"/>
          </p:cNvSpPr>
          <p:nvPr>
            <p:ph type="title"/>
          </p:nvPr>
        </p:nvSpPr>
        <p:spPr/>
        <p:txBody>
          <a:bodyPr/>
          <a:lstStyle/>
          <a:p>
            <a:pPr eaLnBrk="1" hangingPunct="1"/>
            <a:r>
              <a:rPr lang="en-US" smtClean="0"/>
              <a:t>Review: Entities in the claim file</a:t>
            </a:r>
          </a:p>
        </p:txBody>
      </p:sp>
      <p:sp>
        <p:nvSpPr>
          <p:cNvPr id="256" name="Line 50"/>
          <p:cNvSpPr>
            <a:spLocks noChangeShapeType="1"/>
          </p:cNvSpPr>
          <p:nvPr/>
        </p:nvSpPr>
        <p:spPr bwMode="auto">
          <a:xfrm flipH="1" flipV="1">
            <a:off x="4496698" y="1880114"/>
            <a:ext cx="3865" cy="88912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257" name="Group 52"/>
          <p:cNvGrpSpPr>
            <a:grpSpLocks/>
          </p:cNvGrpSpPr>
          <p:nvPr/>
        </p:nvGrpSpPr>
        <p:grpSpPr bwMode="auto">
          <a:xfrm>
            <a:off x="3749675" y="1432567"/>
            <a:ext cx="1512888" cy="1114425"/>
            <a:chOff x="2083" y="1606"/>
            <a:chExt cx="1489" cy="1097"/>
          </a:xfrm>
        </p:grpSpPr>
        <p:sp>
          <p:nvSpPr>
            <p:cNvPr id="258" name="Rectangle 53"/>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59" name="Freeform 54"/>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60" name="Freeform 55"/>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61" name="Freeform 56"/>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62" name="Freeform 57"/>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63" name="Rectangle 58"/>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64" name="Rectangle 59"/>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5" name="AutoShape 60"/>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66" name="Freeform 61"/>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67" name="Freeform 62"/>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68" name="Rectangle 63"/>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9" name="Rectangle 64"/>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70" name="Rectangle 65"/>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71" name="Group 66"/>
            <p:cNvGrpSpPr>
              <a:grpSpLocks/>
            </p:cNvGrpSpPr>
            <p:nvPr/>
          </p:nvGrpSpPr>
          <p:grpSpPr bwMode="auto">
            <a:xfrm>
              <a:off x="2221" y="1871"/>
              <a:ext cx="518" cy="782"/>
              <a:chOff x="2400" y="1656"/>
              <a:chExt cx="752" cy="1136"/>
            </a:xfrm>
          </p:grpSpPr>
          <p:sp>
            <p:nvSpPr>
              <p:cNvPr id="284" name="Freeform 6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285" name="Freeform 6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86" name="Freeform 6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87" name="Freeform 7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88" name="Freeform 7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289" name="Line 7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0" name="Line 7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72" name="Group 74"/>
            <p:cNvGrpSpPr>
              <a:grpSpLocks/>
            </p:cNvGrpSpPr>
            <p:nvPr/>
          </p:nvGrpSpPr>
          <p:grpSpPr bwMode="auto">
            <a:xfrm rot="-6511945">
              <a:off x="2834" y="1842"/>
              <a:ext cx="518" cy="783"/>
              <a:chOff x="2400" y="1656"/>
              <a:chExt cx="752" cy="1136"/>
            </a:xfrm>
          </p:grpSpPr>
          <p:sp>
            <p:nvSpPr>
              <p:cNvPr id="277" name="Freeform 7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78" name="Freeform 7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79" name="Freeform 7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80" name="Freeform 7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81" name="Freeform 7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82" name="Line 8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3" name="Line 8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73" name="Freeform 82"/>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lIns="0" tIns="0" rIns="0" bIns="0" anchor="ctr">
              <a:spAutoFit/>
            </a:bodyPr>
            <a:lstStyle/>
            <a:p>
              <a:endParaRPr lang="en-US"/>
            </a:p>
          </p:txBody>
        </p:sp>
        <p:sp>
          <p:nvSpPr>
            <p:cNvPr id="274" name="Freeform 83"/>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75" name="Rectangle 84"/>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76" name="Rectangle 85"/>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291" name="Text Box 104"/>
          <p:cNvSpPr txBox="1">
            <a:spLocks noChangeArrowheads="1"/>
          </p:cNvSpPr>
          <p:nvPr/>
        </p:nvSpPr>
        <p:spPr bwMode="auto">
          <a:xfrm>
            <a:off x="2522538" y="1799280"/>
            <a:ext cx="1171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000" b="1"/>
              <a:t>claim</a:t>
            </a:r>
          </a:p>
        </p:txBody>
      </p:sp>
      <p:sp>
        <p:nvSpPr>
          <p:cNvPr id="292" name="Line 2"/>
          <p:cNvSpPr>
            <a:spLocks noChangeShapeType="1"/>
          </p:cNvSpPr>
          <p:nvPr/>
        </p:nvSpPr>
        <p:spPr bwMode="auto">
          <a:xfrm>
            <a:off x="5573252" y="5777555"/>
            <a:ext cx="106362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3" name="Line 3"/>
          <p:cNvSpPr>
            <a:spLocks noChangeShapeType="1"/>
          </p:cNvSpPr>
          <p:nvPr/>
        </p:nvSpPr>
        <p:spPr bwMode="auto">
          <a:xfrm>
            <a:off x="5262102" y="5253680"/>
            <a:ext cx="128111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94" name="Group 52"/>
          <p:cNvGrpSpPr>
            <a:grpSpLocks/>
          </p:cNvGrpSpPr>
          <p:nvPr/>
        </p:nvGrpSpPr>
        <p:grpSpPr bwMode="auto">
          <a:xfrm>
            <a:off x="6288009" y="5104455"/>
            <a:ext cx="839788" cy="584200"/>
            <a:chOff x="3153" y="1049"/>
            <a:chExt cx="752" cy="523"/>
          </a:xfrm>
        </p:grpSpPr>
        <p:sp>
          <p:nvSpPr>
            <p:cNvPr id="295" name="Rectangle 53"/>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296" name="Picture 54"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97" name="Text Box 61"/>
          <p:cNvSpPr txBox="1">
            <a:spLocks noChangeArrowheads="1"/>
          </p:cNvSpPr>
          <p:nvPr/>
        </p:nvSpPr>
        <p:spPr bwMode="auto">
          <a:xfrm>
            <a:off x="6418184" y="4802830"/>
            <a:ext cx="7239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check</a:t>
            </a:r>
          </a:p>
        </p:txBody>
      </p:sp>
      <p:grpSp>
        <p:nvGrpSpPr>
          <p:cNvPr id="298" name="Group 79"/>
          <p:cNvGrpSpPr>
            <a:grpSpLocks/>
          </p:cNvGrpSpPr>
          <p:nvPr/>
        </p:nvGrpSpPr>
        <p:grpSpPr bwMode="auto">
          <a:xfrm>
            <a:off x="6483272" y="5356867"/>
            <a:ext cx="839787" cy="584200"/>
            <a:chOff x="3153" y="1049"/>
            <a:chExt cx="752" cy="523"/>
          </a:xfrm>
        </p:grpSpPr>
        <p:sp>
          <p:nvSpPr>
            <p:cNvPr id="299" name="Rectangle 80"/>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300" name="Picture 81"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01" name="Line 2"/>
          <p:cNvSpPr>
            <a:spLocks noChangeShapeType="1"/>
          </p:cNvSpPr>
          <p:nvPr/>
        </p:nvSpPr>
        <p:spPr bwMode="auto">
          <a:xfrm>
            <a:off x="4335119" y="5253680"/>
            <a:ext cx="83185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2" name="Line 3"/>
          <p:cNvSpPr>
            <a:spLocks noChangeShapeType="1"/>
          </p:cNvSpPr>
          <p:nvPr/>
        </p:nvSpPr>
        <p:spPr bwMode="auto">
          <a:xfrm>
            <a:off x="4354169" y="5774380"/>
            <a:ext cx="9525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303" name="Group 225"/>
          <p:cNvGrpSpPr>
            <a:grpSpLocks/>
          </p:cNvGrpSpPr>
          <p:nvPr/>
        </p:nvGrpSpPr>
        <p:grpSpPr bwMode="auto">
          <a:xfrm>
            <a:off x="4945198" y="5109217"/>
            <a:ext cx="581025" cy="561975"/>
            <a:chOff x="4200" y="2899"/>
            <a:chExt cx="915" cy="885"/>
          </a:xfrm>
        </p:grpSpPr>
        <p:sp>
          <p:nvSpPr>
            <p:cNvPr id="304" name="Rectangle 226"/>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305" name="AutoShape 227"/>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06" name="AutoShape 228"/>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07" name="AutoShape 229"/>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08" name="Freeform 230"/>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09" name="Freeform 231"/>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10" name="Freeform 232"/>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11" name="Freeform 233"/>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12" name="Freeform 234"/>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13" name="Freeform 235"/>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14" name="Freeform 236"/>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15" name="Line 237"/>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16" name="Line 238"/>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17" name="Line 239"/>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18" name="Line 240"/>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9" name="Line 241"/>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20" name="Line 242"/>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21" name="Text Box 243"/>
          <p:cNvSpPr txBox="1">
            <a:spLocks noChangeArrowheads="1"/>
          </p:cNvSpPr>
          <p:nvPr/>
        </p:nvSpPr>
        <p:spPr bwMode="auto">
          <a:xfrm>
            <a:off x="4568961" y="4802830"/>
            <a:ext cx="15779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a:t>reserve line</a:t>
            </a:r>
          </a:p>
        </p:txBody>
      </p:sp>
      <p:grpSp>
        <p:nvGrpSpPr>
          <p:cNvPr id="322" name="Group 244"/>
          <p:cNvGrpSpPr>
            <a:grpSpLocks/>
          </p:cNvGrpSpPr>
          <p:nvPr/>
        </p:nvGrpSpPr>
        <p:grpSpPr bwMode="auto">
          <a:xfrm>
            <a:off x="5165861" y="5318767"/>
            <a:ext cx="581025" cy="561975"/>
            <a:chOff x="4200" y="2899"/>
            <a:chExt cx="915" cy="885"/>
          </a:xfrm>
        </p:grpSpPr>
        <p:sp>
          <p:nvSpPr>
            <p:cNvPr id="323" name="Rectangle 245"/>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324" name="AutoShape 246"/>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25" name="AutoShape 247"/>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26" name="AutoShape 248"/>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27" name="Freeform 249"/>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28" name="Freeform 250"/>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29" name="Freeform 251"/>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30" name="Freeform 252"/>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31" name="Freeform 253"/>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32" name="Freeform 254"/>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33" name="Freeform 255"/>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34" name="Line 256"/>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5" name="Line 257"/>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6" name="Line 258"/>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7" name="Line 259"/>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38" name="Line 260"/>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9" name="Line 261"/>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40" name="Group 2"/>
          <p:cNvGrpSpPr>
            <a:grpSpLocks/>
          </p:cNvGrpSpPr>
          <p:nvPr/>
        </p:nvGrpSpPr>
        <p:grpSpPr bwMode="auto">
          <a:xfrm>
            <a:off x="7975600" y="3323280"/>
            <a:ext cx="746125" cy="749300"/>
            <a:chOff x="4932" y="501"/>
            <a:chExt cx="708" cy="712"/>
          </a:xfrm>
        </p:grpSpPr>
        <p:sp>
          <p:nvSpPr>
            <p:cNvPr id="341" name="Freeform 3"/>
            <p:cNvSpPr>
              <a:spLocks/>
            </p:cNvSpPr>
            <p:nvPr/>
          </p:nvSpPr>
          <p:spPr bwMode="auto">
            <a:xfrm>
              <a:off x="4932" y="501"/>
              <a:ext cx="708" cy="703"/>
            </a:xfrm>
            <a:custGeom>
              <a:avLst/>
              <a:gdLst>
                <a:gd name="T0" fmla="*/ 61 w 1542"/>
                <a:gd name="T1" fmla="*/ 68 h 1531"/>
                <a:gd name="T2" fmla="*/ 62 w 1542"/>
                <a:gd name="T3" fmla="*/ 68 h 1531"/>
                <a:gd name="T4" fmla="*/ 64 w 1542"/>
                <a:gd name="T5" fmla="*/ 67 h 1531"/>
                <a:gd name="T6" fmla="*/ 65 w 1542"/>
                <a:gd name="T7" fmla="*/ 67 h 1531"/>
                <a:gd name="T8" fmla="*/ 67 w 1542"/>
                <a:gd name="T9" fmla="*/ 66 h 1531"/>
                <a:gd name="T10" fmla="*/ 67 w 1542"/>
                <a:gd name="T11" fmla="*/ 65 h 1531"/>
                <a:gd name="T12" fmla="*/ 68 w 1542"/>
                <a:gd name="T13" fmla="*/ 63 h 1531"/>
                <a:gd name="T14" fmla="*/ 68 w 1542"/>
                <a:gd name="T15" fmla="*/ 62 h 1531"/>
                <a:gd name="T16" fmla="*/ 68 w 1542"/>
                <a:gd name="T17" fmla="*/ 60 h 1531"/>
                <a:gd name="T18" fmla="*/ 68 w 1542"/>
                <a:gd name="T19" fmla="*/ 8 h 1531"/>
                <a:gd name="T20" fmla="*/ 68 w 1542"/>
                <a:gd name="T21" fmla="*/ 6 h 1531"/>
                <a:gd name="T22" fmla="*/ 68 w 1542"/>
                <a:gd name="T23" fmla="*/ 5 h 1531"/>
                <a:gd name="T24" fmla="*/ 67 w 1542"/>
                <a:gd name="T25" fmla="*/ 4 h 1531"/>
                <a:gd name="T26" fmla="*/ 67 w 1542"/>
                <a:gd name="T27" fmla="*/ 2 h 1531"/>
                <a:gd name="T28" fmla="*/ 65 w 1542"/>
                <a:gd name="T29" fmla="*/ 1 h 1531"/>
                <a:gd name="T30" fmla="*/ 64 w 1542"/>
                <a:gd name="T31" fmla="*/ 0 h 1531"/>
                <a:gd name="T32" fmla="*/ 62 w 1542"/>
                <a:gd name="T33" fmla="*/ 0 h 1531"/>
                <a:gd name="T34" fmla="*/ 61 w 1542"/>
                <a:gd name="T35" fmla="*/ 0 h 1531"/>
                <a:gd name="T36" fmla="*/ 8 w 1542"/>
                <a:gd name="T37" fmla="*/ 0 h 1531"/>
                <a:gd name="T38" fmla="*/ 6 w 1542"/>
                <a:gd name="T39" fmla="*/ 0 h 1531"/>
                <a:gd name="T40" fmla="*/ 5 w 1542"/>
                <a:gd name="T41" fmla="*/ 0 h 1531"/>
                <a:gd name="T42" fmla="*/ 3 w 1542"/>
                <a:gd name="T43" fmla="*/ 1 h 1531"/>
                <a:gd name="T44" fmla="*/ 2 w 1542"/>
                <a:gd name="T45" fmla="*/ 2 h 1531"/>
                <a:gd name="T46" fmla="*/ 1 w 1542"/>
                <a:gd name="T47" fmla="*/ 4 h 1531"/>
                <a:gd name="T48" fmla="*/ 0 w 1542"/>
                <a:gd name="T49" fmla="*/ 5 h 1531"/>
                <a:gd name="T50" fmla="*/ 0 w 1542"/>
                <a:gd name="T51" fmla="*/ 6 h 1531"/>
                <a:gd name="T52" fmla="*/ 0 w 1542"/>
                <a:gd name="T53" fmla="*/ 8 h 1531"/>
                <a:gd name="T54" fmla="*/ 0 w 1542"/>
                <a:gd name="T55" fmla="*/ 60 h 1531"/>
                <a:gd name="T56" fmla="*/ 0 w 1542"/>
                <a:gd name="T57" fmla="*/ 62 h 1531"/>
                <a:gd name="T58" fmla="*/ 0 w 1542"/>
                <a:gd name="T59" fmla="*/ 63 h 1531"/>
                <a:gd name="T60" fmla="*/ 1 w 1542"/>
                <a:gd name="T61" fmla="*/ 65 h 1531"/>
                <a:gd name="T62" fmla="*/ 2 w 1542"/>
                <a:gd name="T63" fmla="*/ 66 h 1531"/>
                <a:gd name="T64" fmla="*/ 3 w 1542"/>
                <a:gd name="T65" fmla="*/ 67 h 1531"/>
                <a:gd name="T66" fmla="*/ 5 w 1542"/>
                <a:gd name="T67" fmla="*/ 67 h 1531"/>
                <a:gd name="T68" fmla="*/ 6 w 1542"/>
                <a:gd name="T69" fmla="*/ 68 h 1531"/>
                <a:gd name="T70" fmla="*/ 8 w 1542"/>
                <a:gd name="T71" fmla="*/ 68 h 1531"/>
                <a:gd name="T72" fmla="*/ 61 w 1542"/>
                <a:gd name="T73" fmla="*/ 68 h 153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42"/>
                <a:gd name="T112" fmla="*/ 0 h 1531"/>
                <a:gd name="T113" fmla="*/ 1542 w 1542"/>
                <a:gd name="T114" fmla="*/ 1531 h 153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42" h="1531">
                  <a:moveTo>
                    <a:pt x="1367" y="1531"/>
                  </a:moveTo>
                  <a:lnTo>
                    <a:pt x="1401" y="1527"/>
                  </a:lnTo>
                  <a:lnTo>
                    <a:pt x="1436" y="1517"/>
                  </a:lnTo>
                  <a:lnTo>
                    <a:pt x="1465" y="1500"/>
                  </a:lnTo>
                  <a:lnTo>
                    <a:pt x="1491" y="1479"/>
                  </a:lnTo>
                  <a:lnTo>
                    <a:pt x="1511" y="1454"/>
                  </a:lnTo>
                  <a:lnTo>
                    <a:pt x="1528" y="1424"/>
                  </a:lnTo>
                  <a:lnTo>
                    <a:pt x="1539" y="1390"/>
                  </a:lnTo>
                  <a:lnTo>
                    <a:pt x="1542" y="1356"/>
                  </a:lnTo>
                  <a:lnTo>
                    <a:pt x="1542" y="175"/>
                  </a:lnTo>
                  <a:lnTo>
                    <a:pt x="1539" y="141"/>
                  </a:lnTo>
                  <a:lnTo>
                    <a:pt x="1528" y="107"/>
                  </a:lnTo>
                  <a:lnTo>
                    <a:pt x="1511" y="78"/>
                  </a:lnTo>
                  <a:lnTo>
                    <a:pt x="1491" y="52"/>
                  </a:lnTo>
                  <a:lnTo>
                    <a:pt x="1465" y="31"/>
                  </a:lnTo>
                  <a:lnTo>
                    <a:pt x="1436" y="14"/>
                  </a:lnTo>
                  <a:lnTo>
                    <a:pt x="1401" y="4"/>
                  </a:lnTo>
                  <a:lnTo>
                    <a:pt x="1367" y="0"/>
                  </a:lnTo>
                  <a:lnTo>
                    <a:pt x="175" y="0"/>
                  </a:lnTo>
                  <a:lnTo>
                    <a:pt x="141" y="4"/>
                  </a:lnTo>
                  <a:lnTo>
                    <a:pt x="106" y="14"/>
                  </a:lnTo>
                  <a:lnTo>
                    <a:pt x="77" y="31"/>
                  </a:lnTo>
                  <a:lnTo>
                    <a:pt x="51" y="52"/>
                  </a:lnTo>
                  <a:lnTo>
                    <a:pt x="31" y="78"/>
                  </a:lnTo>
                  <a:lnTo>
                    <a:pt x="14" y="107"/>
                  </a:lnTo>
                  <a:lnTo>
                    <a:pt x="3" y="141"/>
                  </a:lnTo>
                  <a:lnTo>
                    <a:pt x="0" y="175"/>
                  </a:lnTo>
                  <a:lnTo>
                    <a:pt x="0" y="1356"/>
                  </a:lnTo>
                  <a:lnTo>
                    <a:pt x="3" y="1390"/>
                  </a:lnTo>
                  <a:lnTo>
                    <a:pt x="14" y="1424"/>
                  </a:lnTo>
                  <a:lnTo>
                    <a:pt x="31" y="1454"/>
                  </a:lnTo>
                  <a:lnTo>
                    <a:pt x="51" y="1479"/>
                  </a:lnTo>
                  <a:lnTo>
                    <a:pt x="77" y="1500"/>
                  </a:lnTo>
                  <a:lnTo>
                    <a:pt x="106" y="1517"/>
                  </a:lnTo>
                  <a:lnTo>
                    <a:pt x="141" y="1527"/>
                  </a:lnTo>
                  <a:lnTo>
                    <a:pt x="175" y="1531"/>
                  </a:lnTo>
                  <a:lnTo>
                    <a:pt x="1367" y="1531"/>
                  </a:lnTo>
                  <a:close/>
                </a:path>
              </a:pathLst>
            </a:custGeom>
            <a:solidFill>
              <a:srgbClr val="FF9B9E"/>
            </a:solidFill>
            <a:ln w="9525">
              <a:solidFill>
                <a:schemeClr val="bg1"/>
              </a:solidFill>
              <a:round/>
              <a:headEnd/>
              <a:tailEnd/>
            </a:ln>
          </p:spPr>
          <p:txBody>
            <a:bodyPr/>
            <a:lstStyle/>
            <a:p>
              <a:endParaRPr lang="en-US"/>
            </a:p>
          </p:txBody>
        </p:sp>
        <p:sp>
          <p:nvSpPr>
            <p:cNvPr id="342" name="Freeform 4"/>
            <p:cNvSpPr>
              <a:spLocks/>
            </p:cNvSpPr>
            <p:nvPr/>
          </p:nvSpPr>
          <p:spPr bwMode="auto">
            <a:xfrm>
              <a:off x="5225" y="594"/>
              <a:ext cx="249" cy="123"/>
            </a:xfrm>
            <a:custGeom>
              <a:avLst/>
              <a:gdLst>
                <a:gd name="T0" fmla="*/ 21 w 542"/>
                <a:gd name="T1" fmla="*/ 12 h 269"/>
                <a:gd name="T2" fmla="*/ 21 w 542"/>
                <a:gd name="T3" fmla="*/ 12 h 269"/>
                <a:gd name="T4" fmla="*/ 22 w 542"/>
                <a:gd name="T5" fmla="*/ 12 h 269"/>
                <a:gd name="T6" fmla="*/ 23 w 542"/>
                <a:gd name="T7" fmla="*/ 12 h 269"/>
                <a:gd name="T8" fmla="*/ 23 w 542"/>
                <a:gd name="T9" fmla="*/ 11 h 269"/>
                <a:gd name="T10" fmla="*/ 23 w 542"/>
                <a:gd name="T11" fmla="*/ 11 h 269"/>
                <a:gd name="T12" fmla="*/ 23 w 542"/>
                <a:gd name="T13" fmla="*/ 11 h 269"/>
                <a:gd name="T14" fmla="*/ 24 w 542"/>
                <a:gd name="T15" fmla="*/ 11 h 269"/>
                <a:gd name="T16" fmla="*/ 24 w 542"/>
                <a:gd name="T17" fmla="*/ 10 h 269"/>
                <a:gd name="T18" fmla="*/ 24 w 542"/>
                <a:gd name="T19" fmla="*/ 10 h 269"/>
                <a:gd name="T20" fmla="*/ 24 w 542"/>
                <a:gd name="T21" fmla="*/ 9 h 269"/>
                <a:gd name="T22" fmla="*/ 24 w 542"/>
                <a:gd name="T23" fmla="*/ 8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0 h 269"/>
                <a:gd name="T42" fmla="*/ 0 w 542"/>
                <a:gd name="T43" fmla="*/ 1 h 269"/>
                <a:gd name="T44" fmla="*/ 0 w 542"/>
                <a:gd name="T45" fmla="*/ 1 h 269"/>
                <a:gd name="T46" fmla="*/ 0 w 542"/>
                <a:gd name="T47" fmla="*/ 1 h 269"/>
                <a:gd name="T48" fmla="*/ 0 w 542"/>
                <a:gd name="T49" fmla="*/ 2 h 269"/>
                <a:gd name="T50" fmla="*/ 0 w 542"/>
                <a:gd name="T51" fmla="*/ 3 h 269"/>
                <a:gd name="T52" fmla="*/ 1 w 542"/>
                <a:gd name="T53" fmla="*/ 4 h 269"/>
                <a:gd name="T54" fmla="*/ 2 w 542"/>
                <a:gd name="T55" fmla="*/ 5 h 269"/>
                <a:gd name="T56" fmla="*/ 21 w 542"/>
                <a:gd name="T57" fmla="*/ 12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3" name="Freeform 5"/>
            <p:cNvSpPr>
              <a:spLocks/>
            </p:cNvSpPr>
            <p:nvPr/>
          </p:nvSpPr>
          <p:spPr bwMode="auto">
            <a:xfrm>
              <a:off x="5095" y="902"/>
              <a:ext cx="249" cy="125"/>
            </a:xfrm>
            <a:custGeom>
              <a:avLst/>
              <a:gdLst>
                <a:gd name="T0" fmla="*/ 21 w 542"/>
                <a:gd name="T1" fmla="*/ 13 h 269"/>
                <a:gd name="T2" fmla="*/ 22 w 542"/>
                <a:gd name="T3" fmla="*/ 13 h 269"/>
                <a:gd name="T4" fmla="*/ 22 w 542"/>
                <a:gd name="T5" fmla="*/ 13 h 269"/>
                <a:gd name="T6" fmla="*/ 23 w 542"/>
                <a:gd name="T7" fmla="*/ 13 h 269"/>
                <a:gd name="T8" fmla="*/ 23 w 542"/>
                <a:gd name="T9" fmla="*/ 12 h 269"/>
                <a:gd name="T10" fmla="*/ 23 w 542"/>
                <a:gd name="T11" fmla="*/ 12 h 269"/>
                <a:gd name="T12" fmla="*/ 23 w 542"/>
                <a:gd name="T13" fmla="*/ 12 h 269"/>
                <a:gd name="T14" fmla="*/ 24 w 542"/>
                <a:gd name="T15" fmla="*/ 12 h 269"/>
                <a:gd name="T16" fmla="*/ 24 w 542"/>
                <a:gd name="T17" fmla="*/ 11 h 269"/>
                <a:gd name="T18" fmla="*/ 24 w 542"/>
                <a:gd name="T19" fmla="*/ 11 h 269"/>
                <a:gd name="T20" fmla="*/ 24 w 542"/>
                <a:gd name="T21" fmla="*/ 10 h 269"/>
                <a:gd name="T22" fmla="*/ 24 w 542"/>
                <a:gd name="T23" fmla="*/ 9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1 h 269"/>
                <a:gd name="T42" fmla="*/ 0 w 542"/>
                <a:gd name="T43" fmla="*/ 1 h 269"/>
                <a:gd name="T44" fmla="*/ 0 w 542"/>
                <a:gd name="T45" fmla="*/ 2 h 269"/>
                <a:gd name="T46" fmla="*/ 0 w 542"/>
                <a:gd name="T47" fmla="*/ 2 h 269"/>
                <a:gd name="T48" fmla="*/ 0 w 542"/>
                <a:gd name="T49" fmla="*/ 3 h 269"/>
                <a:gd name="T50" fmla="*/ 0 w 542"/>
                <a:gd name="T51" fmla="*/ 4 h 269"/>
                <a:gd name="T52" fmla="*/ 1 w 542"/>
                <a:gd name="T53" fmla="*/ 4 h 269"/>
                <a:gd name="T54" fmla="*/ 2 w 542"/>
                <a:gd name="T55" fmla="*/ 5 h 269"/>
                <a:gd name="T56" fmla="*/ 21 w 542"/>
                <a:gd name="T57" fmla="*/ 13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4" name="Freeform 6"/>
            <p:cNvSpPr>
              <a:spLocks/>
            </p:cNvSpPr>
            <p:nvPr/>
          </p:nvSpPr>
          <p:spPr bwMode="auto">
            <a:xfrm>
              <a:off x="5135" y="660"/>
              <a:ext cx="298" cy="299"/>
            </a:xfrm>
            <a:custGeom>
              <a:avLst/>
              <a:gdLst>
                <a:gd name="T0" fmla="*/ 20 w 650"/>
                <a:gd name="T1" fmla="*/ 29 h 650"/>
                <a:gd name="T2" fmla="*/ 21 w 650"/>
                <a:gd name="T3" fmla="*/ 29 h 650"/>
                <a:gd name="T4" fmla="*/ 21 w 650"/>
                <a:gd name="T5" fmla="*/ 29 h 650"/>
                <a:gd name="T6" fmla="*/ 21 w 650"/>
                <a:gd name="T7" fmla="*/ 29 h 650"/>
                <a:gd name="T8" fmla="*/ 21 w 650"/>
                <a:gd name="T9" fmla="*/ 29 h 650"/>
                <a:gd name="T10" fmla="*/ 29 w 650"/>
                <a:gd name="T11" fmla="*/ 8 h 650"/>
                <a:gd name="T12" fmla="*/ 29 w 650"/>
                <a:gd name="T13" fmla="*/ 8 h 650"/>
                <a:gd name="T14" fmla="*/ 28 w 650"/>
                <a:gd name="T15" fmla="*/ 8 h 650"/>
                <a:gd name="T16" fmla="*/ 28 w 650"/>
                <a:gd name="T17" fmla="*/ 8 h 650"/>
                <a:gd name="T18" fmla="*/ 28 w 650"/>
                <a:gd name="T19" fmla="*/ 7 h 650"/>
                <a:gd name="T20" fmla="*/ 8 w 650"/>
                <a:gd name="T21" fmla="*/ 0 h 650"/>
                <a:gd name="T22" fmla="*/ 8 w 650"/>
                <a:gd name="T23" fmla="*/ 0 h 650"/>
                <a:gd name="T24" fmla="*/ 8 w 650"/>
                <a:gd name="T25" fmla="*/ 0 h 650"/>
                <a:gd name="T26" fmla="*/ 8 w 650"/>
                <a:gd name="T27" fmla="*/ 0 h 650"/>
                <a:gd name="T28" fmla="*/ 7 w 650"/>
                <a:gd name="T29" fmla="*/ 0 h 650"/>
                <a:gd name="T30" fmla="*/ 0 w 650"/>
                <a:gd name="T31" fmla="*/ 21 h 650"/>
                <a:gd name="T32" fmla="*/ 0 w 650"/>
                <a:gd name="T33" fmla="*/ 21 h 650"/>
                <a:gd name="T34" fmla="*/ 0 w 650"/>
                <a:gd name="T35" fmla="*/ 21 h 650"/>
                <a:gd name="T36" fmla="*/ 0 w 650"/>
                <a:gd name="T37" fmla="*/ 22 h 650"/>
                <a:gd name="T38" fmla="*/ 0 w 650"/>
                <a:gd name="T39" fmla="*/ 22 h 650"/>
                <a:gd name="T40" fmla="*/ 20 w 650"/>
                <a:gd name="T41" fmla="*/ 29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5" name="Freeform 7"/>
            <p:cNvSpPr>
              <a:spLocks/>
            </p:cNvSpPr>
            <p:nvPr/>
          </p:nvSpPr>
          <p:spPr bwMode="auto">
            <a:xfrm>
              <a:off x="5008" y="1134"/>
              <a:ext cx="554" cy="79"/>
            </a:xfrm>
            <a:custGeom>
              <a:avLst/>
              <a:gdLst>
                <a:gd name="T0" fmla="*/ 50 w 1206"/>
                <a:gd name="T1" fmla="*/ 8 h 172"/>
                <a:gd name="T2" fmla="*/ 51 w 1206"/>
                <a:gd name="T3" fmla="*/ 8 h 172"/>
                <a:gd name="T4" fmla="*/ 51 w 1206"/>
                <a:gd name="T5" fmla="*/ 7 h 172"/>
                <a:gd name="T6" fmla="*/ 52 w 1206"/>
                <a:gd name="T7" fmla="*/ 7 h 172"/>
                <a:gd name="T8" fmla="*/ 52 w 1206"/>
                <a:gd name="T9" fmla="*/ 6 h 172"/>
                <a:gd name="T10" fmla="*/ 53 w 1206"/>
                <a:gd name="T11" fmla="*/ 6 h 172"/>
                <a:gd name="T12" fmla="*/ 53 w 1206"/>
                <a:gd name="T13" fmla="*/ 5 h 172"/>
                <a:gd name="T14" fmla="*/ 54 w 1206"/>
                <a:gd name="T15" fmla="*/ 5 h 172"/>
                <a:gd name="T16" fmla="*/ 54 w 1206"/>
                <a:gd name="T17" fmla="*/ 4 h 172"/>
                <a:gd name="T18" fmla="*/ 54 w 1206"/>
                <a:gd name="T19" fmla="*/ 4 h 172"/>
                <a:gd name="T20" fmla="*/ 54 w 1206"/>
                <a:gd name="T21" fmla="*/ 3 h 172"/>
                <a:gd name="T22" fmla="*/ 53 w 1206"/>
                <a:gd name="T23" fmla="*/ 2 h 172"/>
                <a:gd name="T24" fmla="*/ 53 w 1206"/>
                <a:gd name="T25" fmla="*/ 2 h 172"/>
                <a:gd name="T26" fmla="*/ 52 w 1206"/>
                <a:gd name="T27" fmla="*/ 1 h 172"/>
                <a:gd name="T28" fmla="*/ 52 w 1206"/>
                <a:gd name="T29" fmla="*/ 0 h 172"/>
                <a:gd name="T30" fmla="*/ 51 w 1206"/>
                <a:gd name="T31" fmla="*/ 0 h 172"/>
                <a:gd name="T32" fmla="*/ 51 w 1206"/>
                <a:gd name="T33" fmla="*/ 0 h 172"/>
                <a:gd name="T34" fmla="*/ 50 w 1206"/>
                <a:gd name="T35" fmla="*/ 0 h 172"/>
                <a:gd name="T36" fmla="*/ 4 w 1206"/>
                <a:gd name="T37" fmla="*/ 0 h 172"/>
                <a:gd name="T38" fmla="*/ 3 w 1206"/>
                <a:gd name="T39" fmla="*/ 0 h 172"/>
                <a:gd name="T40" fmla="*/ 2 w 1206"/>
                <a:gd name="T41" fmla="*/ 0 h 172"/>
                <a:gd name="T42" fmla="*/ 2 w 1206"/>
                <a:gd name="T43" fmla="*/ 0 h 172"/>
                <a:gd name="T44" fmla="*/ 1 w 1206"/>
                <a:gd name="T45" fmla="*/ 1 h 172"/>
                <a:gd name="T46" fmla="*/ 0 w 1206"/>
                <a:gd name="T47" fmla="*/ 2 h 172"/>
                <a:gd name="T48" fmla="*/ 0 w 1206"/>
                <a:gd name="T49" fmla="*/ 2 h 172"/>
                <a:gd name="T50" fmla="*/ 0 w 1206"/>
                <a:gd name="T51" fmla="*/ 3 h 172"/>
                <a:gd name="T52" fmla="*/ 0 w 1206"/>
                <a:gd name="T53" fmla="*/ 4 h 172"/>
                <a:gd name="T54" fmla="*/ 0 w 1206"/>
                <a:gd name="T55" fmla="*/ 4 h 172"/>
                <a:gd name="T56" fmla="*/ 0 w 1206"/>
                <a:gd name="T57" fmla="*/ 5 h 172"/>
                <a:gd name="T58" fmla="*/ 0 w 1206"/>
                <a:gd name="T59" fmla="*/ 5 h 172"/>
                <a:gd name="T60" fmla="*/ 0 w 1206"/>
                <a:gd name="T61" fmla="*/ 6 h 172"/>
                <a:gd name="T62" fmla="*/ 1 w 1206"/>
                <a:gd name="T63" fmla="*/ 6 h 172"/>
                <a:gd name="T64" fmla="*/ 2 w 1206"/>
                <a:gd name="T65" fmla="*/ 7 h 172"/>
                <a:gd name="T66" fmla="*/ 2 w 1206"/>
                <a:gd name="T67" fmla="*/ 7 h 172"/>
                <a:gd name="T68" fmla="*/ 3 w 1206"/>
                <a:gd name="T69" fmla="*/ 8 h 172"/>
                <a:gd name="T70" fmla="*/ 4 w 1206"/>
                <a:gd name="T71" fmla="*/ 8 h 172"/>
                <a:gd name="T72" fmla="*/ 50 w 1206"/>
                <a:gd name="T73" fmla="*/ 8 h 1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06"/>
                <a:gd name="T112" fmla="*/ 0 h 172"/>
                <a:gd name="T113" fmla="*/ 1206 w 1206"/>
                <a:gd name="T114" fmla="*/ 172 h 1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06" h="172">
                  <a:moveTo>
                    <a:pt x="1120" y="172"/>
                  </a:moveTo>
                  <a:lnTo>
                    <a:pt x="1138" y="170"/>
                  </a:lnTo>
                  <a:lnTo>
                    <a:pt x="1155" y="165"/>
                  </a:lnTo>
                  <a:lnTo>
                    <a:pt x="1168" y="158"/>
                  </a:lnTo>
                  <a:lnTo>
                    <a:pt x="1182" y="146"/>
                  </a:lnTo>
                  <a:lnTo>
                    <a:pt x="1192" y="134"/>
                  </a:lnTo>
                  <a:lnTo>
                    <a:pt x="1199" y="120"/>
                  </a:lnTo>
                  <a:lnTo>
                    <a:pt x="1204" y="103"/>
                  </a:lnTo>
                  <a:lnTo>
                    <a:pt x="1206" y="86"/>
                  </a:lnTo>
                  <a:lnTo>
                    <a:pt x="1204" y="69"/>
                  </a:lnTo>
                  <a:lnTo>
                    <a:pt x="1199" y="52"/>
                  </a:lnTo>
                  <a:lnTo>
                    <a:pt x="1192" y="38"/>
                  </a:lnTo>
                  <a:lnTo>
                    <a:pt x="1182" y="24"/>
                  </a:lnTo>
                  <a:lnTo>
                    <a:pt x="1168" y="14"/>
                  </a:lnTo>
                  <a:lnTo>
                    <a:pt x="1155" y="7"/>
                  </a:lnTo>
                  <a:lnTo>
                    <a:pt x="1138" y="2"/>
                  </a:lnTo>
                  <a:lnTo>
                    <a:pt x="1120" y="0"/>
                  </a:lnTo>
                  <a:lnTo>
                    <a:pt x="86" y="0"/>
                  </a:lnTo>
                  <a:lnTo>
                    <a:pt x="69" y="2"/>
                  </a:lnTo>
                  <a:lnTo>
                    <a:pt x="52" y="7"/>
                  </a:lnTo>
                  <a:lnTo>
                    <a:pt x="38" y="14"/>
                  </a:lnTo>
                  <a:lnTo>
                    <a:pt x="26" y="24"/>
                  </a:lnTo>
                  <a:lnTo>
                    <a:pt x="14" y="38"/>
                  </a:lnTo>
                  <a:lnTo>
                    <a:pt x="7" y="52"/>
                  </a:lnTo>
                  <a:lnTo>
                    <a:pt x="2" y="69"/>
                  </a:lnTo>
                  <a:lnTo>
                    <a:pt x="0" y="86"/>
                  </a:lnTo>
                  <a:lnTo>
                    <a:pt x="2" y="103"/>
                  </a:lnTo>
                  <a:lnTo>
                    <a:pt x="7" y="120"/>
                  </a:lnTo>
                  <a:lnTo>
                    <a:pt x="14" y="134"/>
                  </a:lnTo>
                  <a:lnTo>
                    <a:pt x="26" y="146"/>
                  </a:lnTo>
                  <a:lnTo>
                    <a:pt x="38" y="158"/>
                  </a:lnTo>
                  <a:lnTo>
                    <a:pt x="52" y="165"/>
                  </a:lnTo>
                  <a:lnTo>
                    <a:pt x="69" y="170"/>
                  </a:lnTo>
                  <a:lnTo>
                    <a:pt x="86" y="172"/>
                  </a:lnTo>
                  <a:lnTo>
                    <a:pt x="1120" y="1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6" name="Freeform 8"/>
            <p:cNvSpPr>
              <a:spLocks/>
            </p:cNvSpPr>
            <p:nvPr/>
          </p:nvSpPr>
          <p:spPr bwMode="auto">
            <a:xfrm>
              <a:off x="5400" y="818"/>
              <a:ext cx="240" cy="149"/>
            </a:xfrm>
            <a:custGeom>
              <a:avLst/>
              <a:gdLst>
                <a:gd name="T0" fmla="*/ 23 w 522"/>
                <a:gd name="T1" fmla="*/ 8 h 324"/>
                <a:gd name="T2" fmla="*/ 2 w 522"/>
                <a:gd name="T3" fmla="*/ 0 h 324"/>
                <a:gd name="T4" fmla="*/ 0 w 522"/>
                <a:gd name="T5" fmla="*/ 6 h 324"/>
                <a:gd name="T6" fmla="*/ 23 w 522"/>
                <a:gd name="T7" fmla="*/ 15 h 324"/>
                <a:gd name="T8" fmla="*/ 23 w 522"/>
                <a:gd name="T9" fmla="*/ 8 h 324"/>
                <a:gd name="T10" fmla="*/ 0 60000 65536"/>
                <a:gd name="T11" fmla="*/ 0 60000 65536"/>
                <a:gd name="T12" fmla="*/ 0 60000 65536"/>
                <a:gd name="T13" fmla="*/ 0 60000 65536"/>
                <a:gd name="T14" fmla="*/ 0 60000 65536"/>
                <a:gd name="T15" fmla="*/ 0 w 522"/>
                <a:gd name="T16" fmla="*/ 0 h 324"/>
                <a:gd name="T17" fmla="*/ 522 w 522"/>
                <a:gd name="T18" fmla="*/ 324 h 324"/>
              </a:gdLst>
              <a:ahLst/>
              <a:cxnLst>
                <a:cxn ang="T10">
                  <a:pos x="T0" y="T1"/>
                </a:cxn>
                <a:cxn ang="T11">
                  <a:pos x="T2" y="T3"/>
                </a:cxn>
                <a:cxn ang="T12">
                  <a:pos x="T4" y="T5"/>
                </a:cxn>
                <a:cxn ang="T13">
                  <a:pos x="T6" y="T7"/>
                </a:cxn>
                <a:cxn ang="T14">
                  <a:pos x="T8" y="T9"/>
                </a:cxn>
              </a:cxnLst>
              <a:rect l="T15" t="T16" r="T17" b="T18"/>
              <a:pathLst>
                <a:path w="522" h="324">
                  <a:moveTo>
                    <a:pt x="522" y="173"/>
                  </a:moveTo>
                  <a:lnTo>
                    <a:pt x="50" y="0"/>
                  </a:lnTo>
                  <a:lnTo>
                    <a:pt x="0" y="134"/>
                  </a:lnTo>
                  <a:lnTo>
                    <a:pt x="522" y="324"/>
                  </a:lnTo>
                  <a:lnTo>
                    <a:pt x="522"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7" name="Freeform 9"/>
            <p:cNvSpPr>
              <a:spLocks/>
            </p:cNvSpPr>
            <p:nvPr/>
          </p:nvSpPr>
          <p:spPr bwMode="auto">
            <a:xfrm>
              <a:off x="5062" y="1062"/>
              <a:ext cx="442" cy="47"/>
            </a:xfrm>
            <a:custGeom>
              <a:avLst/>
              <a:gdLst>
                <a:gd name="T0" fmla="*/ 40 w 964"/>
                <a:gd name="T1" fmla="*/ 5 h 101"/>
                <a:gd name="T2" fmla="*/ 41 w 964"/>
                <a:gd name="T3" fmla="*/ 5 h 101"/>
                <a:gd name="T4" fmla="*/ 41 w 964"/>
                <a:gd name="T5" fmla="*/ 5 h 101"/>
                <a:gd name="T6" fmla="*/ 42 w 964"/>
                <a:gd name="T7" fmla="*/ 4 h 101"/>
                <a:gd name="T8" fmla="*/ 42 w 964"/>
                <a:gd name="T9" fmla="*/ 4 h 101"/>
                <a:gd name="T10" fmla="*/ 42 w 964"/>
                <a:gd name="T11" fmla="*/ 4 h 101"/>
                <a:gd name="T12" fmla="*/ 43 w 964"/>
                <a:gd name="T13" fmla="*/ 3 h 101"/>
                <a:gd name="T14" fmla="*/ 43 w 964"/>
                <a:gd name="T15" fmla="*/ 3 h 101"/>
                <a:gd name="T16" fmla="*/ 43 w 964"/>
                <a:gd name="T17" fmla="*/ 2 h 101"/>
                <a:gd name="T18" fmla="*/ 43 w 964"/>
                <a:gd name="T19" fmla="*/ 2 h 101"/>
                <a:gd name="T20" fmla="*/ 43 w 964"/>
                <a:gd name="T21" fmla="*/ 2 h 101"/>
                <a:gd name="T22" fmla="*/ 43 w 964"/>
                <a:gd name="T23" fmla="*/ 1 h 101"/>
                <a:gd name="T24" fmla="*/ 42 w 964"/>
                <a:gd name="T25" fmla="*/ 1 h 101"/>
                <a:gd name="T26" fmla="*/ 42 w 964"/>
                <a:gd name="T27" fmla="*/ 0 h 101"/>
                <a:gd name="T28" fmla="*/ 42 w 964"/>
                <a:gd name="T29" fmla="*/ 0 h 101"/>
                <a:gd name="T30" fmla="*/ 41 w 964"/>
                <a:gd name="T31" fmla="*/ 0 h 101"/>
                <a:gd name="T32" fmla="*/ 41 w 964"/>
                <a:gd name="T33" fmla="*/ 0 h 101"/>
                <a:gd name="T34" fmla="*/ 40 w 964"/>
                <a:gd name="T35" fmla="*/ 0 h 101"/>
                <a:gd name="T36" fmla="*/ 2 w 964"/>
                <a:gd name="T37" fmla="*/ 0 h 101"/>
                <a:gd name="T38" fmla="*/ 2 w 964"/>
                <a:gd name="T39" fmla="*/ 0 h 101"/>
                <a:gd name="T40" fmla="*/ 1 w 964"/>
                <a:gd name="T41" fmla="*/ 0 h 101"/>
                <a:gd name="T42" fmla="*/ 1 w 964"/>
                <a:gd name="T43" fmla="*/ 0 h 101"/>
                <a:gd name="T44" fmla="*/ 0 w 964"/>
                <a:gd name="T45" fmla="*/ 0 h 101"/>
                <a:gd name="T46" fmla="*/ 0 w 964"/>
                <a:gd name="T47" fmla="*/ 1 h 101"/>
                <a:gd name="T48" fmla="*/ 0 w 964"/>
                <a:gd name="T49" fmla="*/ 1 h 101"/>
                <a:gd name="T50" fmla="*/ 0 w 964"/>
                <a:gd name="T51" fmla="*/ 2 h 101"/>
                <a:gd name="T52" fmla="*/ 0 w 964"/>
                <a:gd name="T53" fmla="*/ 2 h 101"/>
                <a:gd name="T54" fmla="*/ 0 w 964"/>
                <a:gd name="T55" fmla="*/ 2 h 101"/>
                <a:gd name="T56" fmla="*/ 0 w 964"/>
                <a:gd name="T57" fmla="*/ 3 h 101"/>
                <a:gd name="T58" fmla="*/ 0 w 964"/>
                <a:gd name="T59" fmla="*/ 3 h 101"/>
                <a:gd name="T60" fmla="*/ 0 w 964"/>
                <a:gd name="T61" fmla="*/ 4 h 101"/>
                <a:gd name="T62" fmla="*/ 0 w 964"/>
                <a:gd name="T63" fmla="*/ 4 h 101"/>
                <a:gd name="T64" fmla="*/ 1 w 964"/>
                <a:gd name="T65" fmla="*/ 4 h 101"/>
                <a:gd name="T66" fmla="*/ 1 w 964"/>
                <a:gd name="T67" fmla="*/ 5 h 101"/>
                <a:gd name="T68" fmla="*/ 2 w 964"/>
                <a:gd name="T69" fmla="*/ 5 h 101"/>
                <a:gd name="T70" fmla="*/ 2 w 964"/>
                <a:gd name="T71" fmla="*/ 5 h 101"/>
                <a:gd name="T72" fmla="*/ 40 w 964"/>
                <a:gd name="T73" fmla="*/ 5 h 10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64"/>
                <a:gd name="T112" fmla="*/ 0 h 101"/>
                <a:gd name="T113" fmla="*/ 964 w 964"/>
                <a:gd name="T114" fmla="*/ 101 h 10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64" h="101">
                  <a:moveTo>
                    <a:pt x="913" y="101"/>
                  </a:moveTo>
                  <a:lnTo>
                    <a:pt x="923" y="99"/>
                  </a:lnTo>
                  <a:lnTo>
                    <a:pt x="931" y="98"/>
                  </a:lnTo>
                  <a:lnTo>
                    <a:pt x="942" y="93"/>
                  </a:lnTo>
                  <a:lnTo>
                    <a:pt x="949" y="86"/>
                  </a:lnTo>
                  <a:lnTo>
                    <a:pt x="955" y="79"/>
                  </a:lnTo>
                  <a:lnTo>
                    <a:pt x="961" y="70"/>
                  </a:lnTo>
                  <a:lnTo>
                    <a:pt x="962" y="62"/>
                  </a:lnTo>
                  <a:lnTo>
                    <a:pt x="964" y="51"/>
                  </a:lnTo>
                  <a:lnTo>
                    <a:pt x="962" y="41"/>
                  </a:lnTo>
                  <a:lnTo>
                    <a:pt x="961" y="31"/>
                  </a:lnTo>
                  <a:lnTo>
                    <a:pt x="955" y="22"/>
                  </a:lnTo>
                  <a:lnTo>
                    <a:pt x="949" y="15"/>
                  </a:lnTo>
                  <a:lnTo>
                    <a:pt x="942" y="9"/>
                  </a:lnTo>
                  <a:lnTo>
                    <a:pt x="931" y="3"/>
                  </a:lnTo>
                  <a:lnTo>
                    <a:pt x="923" y="2"/>
                  </a:lnTo>
                  <a:lnTo>
                    <a:pt x="913" y="0"/>
                  </a:lnTo>
                  <a:lnTo>
                    <a:pt x="51" y="0"/>
                  </a:lnTo>
                  <a:lnTo>
                    <a:pt x="41" y="2"/>
                  </a:lnTo>
                  <a:lnTo>
                    <a:pt x="31" y="3"/>
                  </a:lnTo>
                  <a:lnTo>
                    <a:pt x="22" y="9"/>
                  </a:lnTo>
                  <a:lnTo>
                    <a:pt x="15" y="15"/>
                  </a:lnTo>
                  <a:lnTo>
                    <a:pt x="9" y="22"/>
                  </a:lnTo>
                  <a:lnTo>
                    <a:pt x="3" y="31"/>
                  </a:lnTo>
                  <a:lnTo>
                    <a:pt x="2" y="41"/>
                  </a:lnTo>
                  <a:lnTo>
                    <a:pt x="0" y="51"/>
                  </a:lnTo>
                  <a:lnTo>
                    <a:pt x="2" y="62"/>
                  </a:lnTo>
                  <a:lnTo>
                    <a:pt x="3" y="70"/>
                  </a:lnTo>
                  <a:lnTo>
                    <a:pt x="9" y="79"/>
                  </a:lnTo>
                  <a:lnTo>
                    <a:pt x="15" y="86"/>
                  </a:lnTo>
                  <a:lnTo>
                    <a:pt x="22" y="93"/>
                  </a:lnTo>
                  <a:lnTo>
                    <a:pt x="31" y="98"/>
                  </a:lnTo>
                  <a:lnTo>
                    <a:pt x="41" y="99"/>
                  </a:lnTo>
                  <a:lnTo>
                    <a:pt x="51" y="101"/>
                  </a:lnTo>
                  <a:lnTo>
                    <a:pt x="913"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8" name="Freeform 10"/>
            <p:cNvSpPr>
              <a:spLocks/>
            </p:cNvSpPr>
            <p:nvPr/>
          </p:nvSpPr>
          <p:spPr bwMode="auto">
            <a:xfrm>
              <a:off x="4999" y="766"/>
              <a:ext cx="64" cy="48"/>
            </a:xfrm>
            <a:custGeom>
              <a:avLst/>
              <a:gdLst>
                <a:gd name="T0" fmla="*/ 6 w 140"/>
                <a:gd name="T1" fmla="*/ 0 h 106"/>
                <a:gd name="T2" fmla="*/ 0 w 140"/>
                <a:gd name="T3" fmla="*/ 1 h 106"/>
                <a:gd name="T4" fmla="*/ 5 w 140"/>
                <a:gd name="T5" fmla="*/ 5 h 106"/>
                <a:gd name="T6" fmla="*/ 5 w 140"/>
                <a:gd name="T7" fmla="*/ 3 h 106"/>
                <a:gd name="T8" fmla="*/ 5 w 140"/>
                <a:gd name="T9" fmla="*/ 2 h 106"/>
                <a:gd name="T10" fmla="*/ 6 w 140"/>
                <a:gd name="T11" fmla="*/ 1 h 106"/>
                <a:gd name="T12" fmla="*/ 6 w 140"/>
                <a:gd name="T13" fmla="*/ 0 h 106"/>
                <a:gd name="T14" fmla="*/ 0 60000 65536"/>
                <a:gd name="T15" fmla="*/ 0 60000 65536"/>
                <a:gd name="T16" fmla="*/ 0 60000 65536"/>
                <a:gd name="T17" fmla="*/ 0 60000 65536"/>
                <a:gd name="T18" fmla="*/ 0 60000 65536"/>
                <a:gd name="T19" fmla="*/ 0 60000 65536"/>
                <a:gd name="T20" fmla="*/ 0 60000 65536"/>
                <a:gd name="T21" fmla="*/ 0 w 140"/>
                <a:gd name="T22" fmla="*/ 0 h 106"/>
                <a:gd name="T23" fmla="*/ 140 w 140"/>
                <a:gd name="T24" fmla="*/ 106 h 1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0" h="106">
                  <a:moveTo>
                    <a:pt x="140" y="0"/>
                  </a:moveTo>
                  <a:lnTo>
                    <a:pt x="0" y="34"/>
                  </a:lnTo>
                  <a:lnTo>
                    <a:pt x="122" y="106"/>
                  </a:lnTo>
                  <a:lnTo>
                    <a:pt x="125" y="79"/>
                  </a:lnTo>
                  <a:lnTo>
                    <a:pt x="128" y="53"/>
                  </a:lnTo>
                  <a:lnTo>
                    <a:pt x="134" y="26"/>
                  </a:lnTo>
                  <a:lnTo>
                    <a:pt x="1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9" name="Freeform 11"/>
            <p:cNvSpPr>
              <a:spLocks/>
            </p:cNvSpPr>
            <p:nvPr/>
          </p:nvSpPr>
          <p:spPr bwMode="auto">
            <a:xfrm>
              <a:off x="5070" y="611"/>
              <a:ext cx="69" cy="60"/>
            </a:xfrm>
            <a:custGeom>
              <a:avLst/>
              <a:gdLst>
                <a:gd name="T0" fmla="*/ 7 w 149"/>
                <a:gd name="T1" fmla="*/ 2 h 130"/>
                <a:gd name="T2" fmla="*/ 0 w 149"/>
                <a:gd name="T3" fmla="*/ 0 h 130"/>
                <a:gd name="T4" fmla="*/ 4 w 149"/>
                <a:gd name="T5" fmla="*/ 6 h 130"/>
                <a:gd name="T6" fmla="*/ 4 w 149"/>
                <a:gd name="T7" fmla="*/ 6 h 130"/>
                <a:gd name="T8" fmla="*/ 4 w 149"/>
                <a:gd name="T9" fmla="*/ 5 h 130"/>
                <a:gd name="T10" fmla="*/ 5 w 149"/>
                <a:gd name="T11" fmla="*/ 4 h 130"/>
                <a:gd name="T12" fmla="*/ 5 w 149"/>
                <a:gd name="T13" fmla="*/ 4 h 130"/>
                <a:gd name="T14" fmla="*/ 6 w 149"/>
                <a:gd name="T15" fmla="*/ 3 h 130"/>
                <a:gd name="T16" fmla="*/ 6 w 149"/>
                <a:gd name="T17" fmla="*/ 3 h 130"/>
                <a:gd name="T18" fmla="*/ 6 w 149"/>
                <a:gd name="T19" fmla="*/ 2 h 130"/>
                <a:gd name="T20" fmla="*/ 7 w 149"/>
                <a:gd name="T21" fmla="*/ 2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130"/>
                <a:gd name="T35" fmla="*/ 149 w 149"/>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130">
                  <a:moveTo>
                    <a:pt x="149" y="39"/>
                  </a:moveTo>
                  <a:lnTo>
                    <a:pt x="0" y="0"/>
                  </a:lnTo>
                  <a:lnTo>
                    <a:pt x="79" y="130"/>
                  </a:lnTo>
                  <a:lnTo>
                    <a:pt x="88" y="118"/>
                  </a:lnTo>
                  <a:lnTo>
                    <a:pt x="95" y="108"/>
                  </a:lnTo>
                  <a:lnTo>
                    <a:pt x="103" y="96"/>
                  </a:lnTo>
                  <a:lnTo>
                    <a:pt x="112" y="84"/>
                  </a:lnTo>
                  <a:lnTo>
                    <a:pt x="122" y="72"/>
                  </a:lnTo>
                  <a:lnTo>
                    <a:pt x="131" y="61"/>
                  </a:lnTo>
                  <a:lnTo>
                    <a:pt x="139" y="49"/>
                  </a:lnTo>
                  <a:lnTo>
                    <a:pt x="149"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0" name="Freeform 12"/>
            <p:cNvSpPr>
              <a:spLocks/>
            </p:cNvSpPr>
            <p:nvPr/>
          </p:nvSpPr>
          <p:spPr bwMode="auto">
            <a:xfrm>
              <a:off x="5024" y="692"/>
              <a:ext cx="70" cy="48"/>
            </a:xfrm>
            <a:custGeom>
              <a:avLst/>
              <a:gdLst>
                <a:gd name="T0" fmla="*/ 7 w 153"/>
                <a:gd name="T1" fmla="*/ 0 h 104"/>
                <a:gd name="T2" fmla="*/ 0 w 153"/>
                <a:gd name="T3" fmla="*/ 0 h 104"/>
                <a:gd name="T4" fmla="*/ 5 w 153"/>
                <a:gd name="T5" fmla="*/ 5 h 104"/>
                <a:gd name="T6" fmla="*/ 5 w 153"/>
                <a:gd name="T7" fmla="*/ 4 h 104"/>
                <a:gd name="T8" fmla="*/ 5 w 153"/>
                <a:gd name="T9" fmla="*/ 2 h 104"/>
                <a:gd name="T10" fmla="*/ 6 w 153"/>
                <a:gd name="T11" fmla="*/ 1 h 104"/>
                <a:gd name="T12" fmla="*/ 7 w 153"/>
                <a:gd name="T13" fmla="*/ 0 h 104"/>
                <a:gd name="T14" fmla="*/ 0 60000 65536"/>
                <a:gd name="T15" fmla="*/ 0 60000 65536"/>
                <a:gd name="T16" fmla="*/ 0 60000 65536"/>
                <a:gd name="T17" fmla="*/ 0 60000 65536"/>
                <a:gd name="T18" fmla="*/ 0 60000 65536"/>
                <a:gd name="T19" fmla="*/ 0 60000 65536"/>
                <a:gd name="T20" fmla="*/ 0 60000 65536"/>
                <a:gd name="T21" fmla="*/ 0 w 153"/>
                <a:gd name="T22" fmla="*/ 0 h 104"/>
                <a:gd name="T23" fmla="*/ 153 w 153"/>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4">
                  <a:moveTo>
                    <a:pt x="153" y="1"/>
                  </a:moveTo>
                  <a:lnTo>
                    <a:pt x="0" y="0"/>
                  </a:lnTo>
                  <a:lnTo>
                    <a:pt x="106" y="104"/>
                  </a:lnTo>
                  <a:lnTo>
                    <a:pt x="117" y="77"/>
                  </a:lnTo>
                  <a:lnTo>
                    <a:pt x="127" y="51"/>
                  </a:lnTo>
                  <a:lnTo>
                    <a:pt x="139" y="25"/>
                  </a:lnTo>
                  <a:lnTo>
                    <a:pt x="15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351" name="Group 13"/>
          <p:cNvGrpSpPr>
            <a:grpSpLocks/>
          </p:cNvGrpSpPr>
          <p:nvPr/>
        </p:nvGrpSpPr>
        <p:grpSpPr bwMode="auto">
          <a:xfrm>
            <a:off x="8154988" y="3540767"/>
            <a:ext cx="746125" cy="749300"/>
            <a:chOff x="4932" y="501"/>
            <a:chExt cx="708" cy="712"/>
          </a:xfrm>
        </p:grpSpPr>
        <p:sp>
          <p:nvSpPr>
            <p:cNvPr id="352" name="Freeform 14"/>
            <p:cNvSpPr>
              <a:spLocks/>
            </p:cNvSpPr>
            <p:nvPr/>
          </p:nvSpPr>
          <p:spPr bwMode="auto">
            <a:xfrm>
              <a:off x="4932" y="501"/>
              <a:ext cx="708" cy="703"/>
            </a:xfrm>
            <a:custGeom>
              <a:avLst/>
              <a:gdLst>
                <a:gd name="T0" fmla="*/ 61 w 1542"/>
                <a:gd name="T1" fmla="*/ 68 h 1531"/>
                <a:gd name="T2" fmla="*/ 62 w 1542"/>
                <a:gd name="T3" fmla="*/ 68 h 1531"/>
                <a:gd name="T4" fmla="*/ 64 w 1542"/>
                <a:gd name="T5" fmla="*/ 67 h 1531"/>
                <a:gd name="T6" fmla="*/ 65 w 1542"/>
                <a:gd name="T7" fmla="*/ 67 h 1531"/>
                <a:gd name="T8" fmla="*/ 67 w 1542"/>
                <a:gd name="T9" fmla="*/ 66 h 1531"/>
                <a:gd name="T10" fmla="*/ 67 w 1542"/>
                <a:gd name="T11" fmla="*/ 65 h 1531"/>
                <a:gd name="T12" fmla="*/ 68 w 1542"/>
                <a:gd name="T13" fmla="*/ 63 h 1531"/>
                <a:gd name="T14" fmla="*/ 68 w 1542"/>
                <a:gd name="T15" fmla="*/ 62 h 1531"/>
                <a:gd name="T16" fmla="*/ 68 w 1542"/>
                <a:gd name="T17" fmla="*/ 60 h 1531"/>
                <a:gd name="T18" fmla="*/ 68 w 1542"/>
                <a:gd name="T19" fmla="*/ 8 h 1531"/>
                <a:gd name="T20" fmla="*/ 68 w 1542"/>
                <a:gd name="T21" fmla="*/ 6 h 1531"/>
                <a:gd name="T22" fmla="*/ 68 w 1542"/>
                <a:gd name="T23" fmla="*/ 5 h 1531"/>
                <a:gd name="T24" fmla="*/ 67 w 1542"/>
                <a:gd name="T25" fmla="*/ 4 h 1531"/>
                <a:gd name="T26" fmla="*/ 67 w 1542"/>
                <a:gd name="T27" fmla="*/ 2 h 1531"/>
                <a:gd name="T28" fmla="*/ 65 w 1542"/>
                <a:gd name="T29" fmla="*/ 1 h 1531"/>
                <a:gd name="T30" fmla="*/ 64 w 1542"/>
                <a:gd name="T31" fmla="*/ 0 h 1531"/>
                <a:gd name="T32" fmla="*/ 62 w 1542"/>
                <a:gd name="T33" fmla="*/ 0 h 1531"/>
                <a:gd name="T34" fmla="*/ 61 w 1542"/>
                <a:gd name="T35" fmla="*/ 0 h 1531"/>
                <a:gd name="T36" fmla="*/ 8 w 1542"/>
                <a:gd name="T37" fmla="*/ 0 h 1531"/>
                <a:gd name="T38" fmla="*/ 6 w 1542"/>
                <a:gd name="T39" fmla="*/ 0 h 1531"/>
                <a:gd name="T40" fmla="*/ 5 w 1542"/>
                <a:gd name="T41" fmla="*/ 0 h 1531"/>
                <a:gd name="T42" fmla="*/ 3 w 1542"/>
                <a:gd name="T43" fmla="*/ 1 h 1531"/>
                <a:gd name="T44" fmla="*/ 2 w 1542"/>
                <a:gd name="T45" fmla="*/ 2 h 1531"/>
                <a:gd name="T46" fmla="*/ 1 w 1542"/>
                <a:gd name="T47" fmla="*/ 4 h 1531"/>
                <a:gd name="T48" fmla="*/ 0 w 1542"/>
                <a:gd name="T49" fmla="*/ 5 h 1531"/>
                <a:gd name="T50" fmla="*/ 0 w 1542"/>
                <a:gd name="T51" fmla="*/ 6 h 1531"/>
                <a:gd name="T52" fmla="*/ 0 w 1542"/>
                <a:gd name="T53" fmla="*/ 8 h 1531"/>
                <a:gd name="T54" fmla="*/ 0 w 1542"/>
                <a:gd name="T55" fmla="*/ 60 h 1531"/>
                <a:gd name="T56" fmla="*/ 0 w 1542"/>
                <a:gd name="T57" fmla="*/ 62 h 1531"/>
                <a:gd name="T58" fmla="*/ 0 w 1542"/>
                <a:gd name="T59" fmla="*/ 63 h 1531"/>
                <a:gd name="T60" fmla="*/ 1 w 1542"/>
                <a:gd name="T61" fmla="*/ 65 h 1531"/>
                <a:gd name="T62" fmla="*/ 2 w 1542"/>
                <a:gd name="T63" fmla="*/ 66 h 1531"/>
                <a:gd name="T64" fmla="*/ 3 w 1542"/>
                <a:gd name="T65" fmla="*/ 67 h 1531"/>
                <a:gd name="T66" fmla="*/ 5 w 1542"/>
                <a:gd name="T67" fmla="*/ 67 h 1531"/>
                <a:gd name="T68" fmla="*/ 6 w 1542"/>
                <a:gd name="T69" fmla="*/ 68 h 1531"/>
                <a:gd name="T70" fmla="*/ 8 w 1542"/>
                <a:gd name="T71" fmla="*/ 68 h 1531"/>
                <a:gd name="T72" fmla="*/ 61 w 1542"/>
                <a:gd name="T73" fmla="*/ 68 h 153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42"/>
                <a:gd name="T112" fmla="*/ 0 h 1531"/>
                <a:gd name="T113" fmla="*/ 1542 w 1542"/>
                <a:gd name="T114" fmla="*/ 1531 h 153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42" h="1531">
                  <a:moveTo>
                    <a:pt x="1367" y="1531"/>
                  </a:moveTo>
                  <a:lnTo>
                    <a:pt x="1401" y="1527"/>
                  </a:lnTo>
                  <a:lnTo>
                    <a:pt x="1436" y="1517"/>
                  </a:lnTo>
                  <a:lnTo>
                    <a:pt x="1465" y="1500"/>
                  </a:lnTo>
                  <a:lnTo>
                    <a:pt x="1491" y="1479"/>
                  </a:lnTo>
                  <a:lnTo>
                    <a:pt x="1511" y="1454"/>
                  </a:lnTo>
                  <a:lnTo>
                    <a:pt x="1528" y="1424"/>
                  </a:lnTo>
                  <a:lnTo>
                    <a:pt x="1539" y="1390"/>
                  </a:lnTo>
                  <a:lnTo>
                    <a:pt x="1542" y="1356"/>
                  </a:lnTo>
                  <a:lnTo>
                    <a:pt x="1542" y="175"/>
                  </a:lnTo>
                  <a:lnTo>
                    <a:pt x="1539" y="141"/>
                  </a:lnTo>
                  <a:lnTo>
                    <a:pt x="1528" y="107"/>
                  </a:lnTo>
                  <a:lnTo>
                    <a:pt x="1511" y="78"/>
                  </a:lnTo>
                  <a:lnTo>
                    <a:pt x="1491" y="52"/>
                  </a:lnTo>
                  <a:lnTo>
                    <a:pt x="1465" y="31"/>
                  </a:lnTo>
                  <a:lnTo>
                    <a:pt x="1436" y="14"/>
                  </a:lnTo>
                  <a:lnTo>
                    <a:pt x="1401" y="4"/>
                  </a:lnTo>
                  <a:lnTo>
                    <a:pt x="1367" y="0"/>
                  </a:lnTo>
                  <a:lnTo>
                    <a:pt x="175" y="0"/>
                  </a:lnTo>
                  <a:lnTo>
                    <a:pt x="141" y="4"/>
                  </a:lnTo>
                  <a:lnTo>
                    <a:pt x="106" y="14"/>
                  </a:lnTo>
                  <a:lnTo>
                    <a:pt x="77" y="31"/>
                  </a:lnTo>
                  <a:lnTo>
                    <a:pt x="51" y="52"/>
                  </a:lnTo>
                  <a:lnTo>
                    <a:pt x="31" y="78"/>
                  </a:lnTo>
                  <a:lnTo>
                    <a:pt x="14" y="107"/>
                  </a:lnTo>
                  <a:lnTo>
                    <a:pt x="3" y="141"/>
                  </a:lnTo>
                  <a:lnTo>
                    <a:pt x="0" y="175"/>
                  </a:lnTo>
                  <a:lnTo>
                    <a:pt x="0" y="1356"/>
                  </a:lnTo>
                  <a:lnTo>
                    <a:pt x="3" y="1390"/>
                  </a:lnTo>
                  <a:lnTo>
                    <a:pt x="14" y="1424"/>
                  </a:lnTo>
                  <a:lnTo>
                    <a:pt x="31" y="1454"/>
                  </a:lnTo>
                  <a:lnTo>
                    <a:pt x="51" y="1479"/>
                  </a:lnTo>
                  <a:lnTo>
                    <a:pt x="77" y="1500"/>
                  </a:lnTo>
                  <a:lnTo>
                    <a:pt x="106" y="1517"/>
                  </a:lnTo>
                  <a:lnTo>
                    <a:pt x="141" y="1527"/>
                  </a:lnTo>
                  <a:lnTo>
                    <a:pt x="175" y="1531"/>
                  </a:lnTo>
                  <a:lnTo>
                    <a:pt x="1367" y="1531"/>
                  </a:lnTo>
                  <a:close/>
                </a:path>
              </a:pathLst>
            </a:custGeom>
            <a:solidFill>
              <a:srgbClr val="FF9B9E"/>
            </a:solidFill>
            <a:ln w="9525">
              <a:solidFill>
                <a:schemeClr val="bg1"/>
              </a:solidFill>
              <a:round/>
              <a:headEnd/>
              <a:tailEnd/>
            </a:ln>
          </p:spPr>
          <p:txBody>
            <a:bodyPr/>
            <a:lstStyle/>
            <a:p>
              <a:endParaRPr lang="en-US"/>
            </a:p>
          </p:txBody>
        </p:sp>
        <p:sp>
          <p:nvSpPr>
            <p:cNvPr id="353" name="Freeform 15"/>
            <p:cNvSpPr>
              <a:spLocks/>
            </p:cNvSpPr>
            <p:nvPr/>
          </p:nvSpPr>
          <p:spPr bwMode="auto">
            <a:xfrm>
              <a:off x="5225" y="594"/>
              <a:ext cx="249" cy="123"/>
            </a:xfrm>
            <a:custGeom>
              <a:avLst/>
              <a:gdLst>
                <a:gd name="T0" fmla="*/ 21 w 542"/>
                <a:gd name="T1" fmla="*/ 12 h 269"/>
                <a:gd name="T2" fmla="*/ 21 w 542"/>
                <a:gd name="T3" fmla="*/ 12 h 269"/>
                <a:gd name="T4" fmla="*/ 22 w 542"/>
                <a:gd name="T5" fmla="*/ 12 h 269"/>
                <a:gd name="T6" fmla="*/ 23 w 542"/>
                <a:gd name="T7" fmla="*/ 12 h 269"/>
                <a:gd name="T8" fmla="*/ 23 w 542"/>
                <a:gd name="T9" fmla="*/ 11 h 269"/>
                <a:gd name="T10" fmla="*/ 23 w 542"/>
                <a:gd name="T11" fmla="*/ 11 h 269"/>
                <a:gd name="T12" fmla="*/ 23 w 542"/>
                <a:gd name="T13" fmla="*/ 11 h 269"/>
                <a:gd name="T14" fmla="*/ 24 w 542"/>
                <a:gd name="T15" fmla="*/ 11 h 269"/>
                <a:gd name="T16" fmla="*/ 24 w 542"/>
                <a:gd name="T17" fmla="*/ 10 h 269"/>
                <a:gd name="T18" fmla="*/ 24 w 542"/>
                <a:gd name="T19" fmla="*/ 10 h 269"/>
                <a:gd name="T20" fmla="*/ 24 w 542"/>
                <a:gd name="T21" fmla="*/ 9 h 269"/>
                <a:gd name="T22" fmla="*/ 24 w 542"/>
                <a:gd name="T23" fmla="*/ 8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0 h 269"/>
                <a:gd name="T42" fmla="*/ 0 w 542"/>
                <a:gd name="T43" fmla="*/ 1 h 269"/>
                <a:gd name="T44" fmla="*/ 0 w 542"/>
                <a:gd name="T45" fmla="*/ 1 h 269"/>
                <a:gd name="T46" fmla="*/ 0 w 542"/>
                <a:gd name="T47" fmla="*/ 1 h 269"/>
                <a:gd name="T48" fmla="*/ 0 w 542"/>
                <a:gd name="T49" fmla="*/ 2 h 269"/>
                <a:gd name="T50" fmla="*/ 0 w 542"/>
                <a:gd name="T51" fmla="*/ 3 h 269"/>
                <a:gd name="T52" fmla="*/ 1 w 542"/>
                <a:gd name="T53" fmla="*/ 4 h 269"/>
                <a:gd name="T54" fmla="*/ 2 w 542"/>
                <a:gd name="T55" fmla="*/ 5 h 269"/>
                <a:gd name="T56" fmla="*/ 21 w 542"/>
                <a:gd name="T57" fmla="*/ 12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4" name="Freeform 16"/>
            <p:cNvSpPr>
              <a:spLocks/>
            </p:cNvSpPr>
            <p:nvPr/>
          </p:nvSpPr>
          <p:spPr bwMode="auto">
            <a:xfrm>
              <a:off x="5095" y="902"/>
              <a:ext cx="249" cy="125"/>
            </a:xfrm>
            <a:custGeom>
              <a:avLst/>
              <a:gdLst>
                <a:gd name="T0" fmla="*/ 21 w 542"/>
                <a:gd name="T1" fmla="*/ 13 h 269"/>
                <a:gd name="T2" fmla="*/ 22 w 542"/>
                <a:gd name="T3" fmla="*/ 13 h 269"/>
                <a:gd name="T4" fmla="*/ 22 w 542"/>
                <a:gd name="T5" fmla="*/ 13 h 269"/>
                <a:gd name="T6" fmla="*/ 23 w 542"/>
                <a:gd name="T7" fmla="*/ 13 h 269"/>
                <a:gd name="T8" fmla="*/ 23 w 542"/>
                <a:gd name="T9" fmla="*/ 12 h 269"/>
                <a:gd name="T10" fmla="*/ 23 w 542"/>
                <a:gd name="T11" fmla="*/ 12 h 269"/>
                <a:gd name="T12" fmla="*/ 23 w 542"/>
                <a:gd name="T13" fmla="*/ 12 h 269"/>
                <a:gd name="T14" fmla="*/ 24 w 542"/>
                <a:gd name="T15" fmla="*/ 12 h 269"/>
                <a:gd name="T16" fmla="*/ 24 w 542"/>
                <a:gd name="T17" fmla="*/ 11 h 269"/>
                <a:gd name="T18" fmla="*/ 24 w 542"/>
                <a:gd name="T19" fmla="*/ 11 h 269"/>
                <a:gd name="T20" fmla="*/ 24 w 542"/>
                <a:gd name="T21" fmla="*/ 10 h 269"/>
                <a:gd name="T22" fmla="*/ 24 w 542"/>
                <a:gd name="T23" fmla="*/ 9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1 h 269"/>
                <a:gd name="T42" fmla="*/ 0 w 542"/>
                <a:gd name="T43" fmla="*/ 1 h 269"/>
                <a:gd name="T44" fmla="*/ 0 w 542"/>
                <a:gd name="T45" fmla="*/ 2 h 269"/>
                <a:gd name="T46" fmla="*/ 0 w 542"/>
                <a:gd name="T47" fmla="*/ 2 h 269"/>
                <a:gd name="T48" fmla="*/ 0 w 542"/>
                <a:gd name="T49" fmla="*/ 3 h 269"/>
                <a:gd name="T50" fmla="*/ 0 w 542"/>
                <a:gd name="T51" fmla="*/ 4 h 269"/>
                <a:gd name="T52" fmla="*/ 1 w 542"/>
                <a:gd name="T53" fmla="*/ 4 h 269"/>
                <a:gd name="T54" fmla="*/ 2 w 542"/>
                <a:gd name="T55" fmla="*/ 5 h 269"/>
                <a:gd name="T56" fmla="*/ 21 w 542"/>
                <a:gd name="T57" fmla="*/ 13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5" name="Freeform 17"/>
            <p:cNvSpPr>
              <a:spLocks/>
            </p:cNvSpPr>
            <p:nvPr/>
          </p:nvSpPr>
          <p:spPr bwMode="auto">
            <a:xfrm>
              <a:off x="5135" y="660"/>
              <a:ext cx="298" cy="299"/>
            </a:xfrm>
            <a:custGeom>
              <a:avLst/>
              <a:gdLst>
                <a:gd name="T0" fmla="*/ 20 w 650"/>
                <a:gd name="T1" fmla="*/ 29 h 650"/>
                <a:gd name="T2" fmla="*/ 21 w 650"/>
                <a:gd name="T3" fmla="*/ 29 h 650"/>
                <a:gd name="T4" fmla="*/ 21 w 650"/>
                <a:gd name="T5" fmla="*/ 29 h 650"/>
                <a:gd name="T6" fmla="*/ 21 w 650"/>
                <a:gd name="T7" fmla="*/ 29 h 650"/>
                <a:gd name="T8" fmla="*/ 21 w 650"/>
                <a:gd name="T9" fmla="*/ 29 h 650"/>
                <a:gd name="T10" fmla="*/ 29 w 650"/>
                <a:gd name="T11" fmla="*/ 8 h 650"/>
                <a:gd name="T12" fmla="*/ 29 w 650"/>
                <a:gd name="T13" fmla="*/ 8 h 650"/>
                <a:gd name="T14" fmla="*/ 28 w 650"/>
                <a:gd name="T15" fmla="*/ 8 h 650"/>
                <a:gd name="T16" fmla="*/ 28 w 650"/>
                <a:gd name="T17" fmla="*/ 8 h 650"/>
                <a:gd name="T18" fmla="*/ 28 w 650"/>
                <a:gd name="T19" fmla="*/ 7 h 650"/>
                <a:gd name="T20" fmla="*/ 8 w 650"/>
                <a:gd name="T21" fmla="*/ 0 h 650"/>
                <a:gd name="T22" fmla="*/ 8 w 650"/>
                <a:gd name="T23" fmla="*/ 0 h 650"/>
                <a:gd name="T24" fmla="*/ 8 w 650"/>
                <a:gd name="T25" fmla="*/ 0 h 650"/>
                <a:gd name="T26" fmla="*/ 8 w 650"/>
                <a:gd name="T27" fmla="*/ 0 h 650"/>
                <a:gd name="T28" fmla="*/ 7 w 650"/>
                <a:gd name="T29" fmla="*/ 0 h 650"/>
                <a:gd name="T30" fmla="*/ 0 w 650"/>
                <a:gd name="T31" fmla="*/ 21 h 650"/>
                <a:gd name="T32" fmla="*/ 0 w 650"/>
                <a:gd name="T33" fmla="*/ 21 h 650"/>
                <a:gd name="T34" fmla="*/ 0 w 650"/>
                <a:gd name="T35" fmla="*/ 21 h 650"/>
                <a:gd name="T36" fmla="*/ 0 w 650"/>
                <a:gd name="T37" fmla="*/ 22 h 650"/>
                <a:gd name="T38" fmla="*/ 0 w 650"/>
                <a:gd name="T39" fmla="*/ 22 h 650"/>
                <a:gd name="T40" fmla="*/ 20 w 650"/>
                <a:gd name="T41" fmla="*/ 29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6" name="Freeform 18"/>
            <p:cNvSpPr>
              <a:spLocks/>
            </p:cNvSpPr>
            <p:nvPr/>
          </p:nvSpPr>
          <p:spPr bwMode="auto">
            <a:xfrm>
              <a:off x="5008" y="1134"/>
              <a:ext cx="554" cy="79"/>
            </a:xfrm>
            <a:custGeom>
              <a:avLst/>
              <a:gdLst>
                <a:gd name="T0" fmla="*/ 50 w 1206"/>
                <a:gd name="T1" fmla="*/ 8 h 172"/>
                <a:gd name="T2" fmla="*/ 51 w 1206"/>
                <a:gd name="T3" fmla="*/ 8 h 172"/>
                <a:gd name="T4" fmla="*/ 51 w 1206"/>
                <a:gd name="T5" fmla="*/ 7 h 172"/>
                <a:gd name="T6" fmla="*/ 52 w 1206"/>
                <a:gd name="T7" fmla="*/ 7 h 172"/>
                <a:gd name="T8" fmla="*/ 52 w 1206"/>
                <a:gd name="T9" fmla="*/ 6 h 172"/>
                <a:gd name="T10" fmla="*/ 53 w 1206"/>
                <a:gd name="T11" fmla="*/ 6 h 172"/>
                <a:gd name="T12" fmla="*/ 53 w 1206"/>
                <a:gd name="T13" fmla="*/ 5 h 172"/>
                <a:gd name="T14" fmla="*/ 54 w 1206"/>
                <a:gd name="T15" fmla="*/ 5 h 172"/>
                <a:gd name="T16" fmla="*/ 54 w 1206"/>
                <a:gd name="T17" fmla="*/ 4 h 172"/>
                <a:gd name="T18" fmla="*/ 54 w 1206"/>
                <a:gd name="T19" fmla="*/ 4 h 172"/>
                <a:gd name="T20" fmla="*/ 54 w 1206"/>
                <a:gd name="T21" fmla="*/ 3 h 172"/>
                <a:gd name="T22" fmla="*/ 53 w 1206"/>
                <a:gd name="T23" fmla="*/ 2 h 172"/>
                <a:gd name="T24" fmla="*/ 53 w 1206"/>
                <a:gd name="T25" fmla="*/ 2 h 172"/>
                <a:gd name="T26" fmla="*/ 52 w 1206"/>
                <a:gd name="T27" fmla="*/ 1 h 172"/>
                <a:gd name="T28" fmla="*/ 52 w 1206"/>
                <a:gd name="T29" fmla="*/ 0 h 172"/>
                <a:gd name="T30" fmla="*/ 51 w 1206"/>
                <a:gd name="T31" fmla="*/ 0 h 172"/>
                <a:gd name="T32" fmla="*/ 51 w 1206"/>
                <a:gd name="T33" fmla="*/ 0 h 172"/>
                <a:gd name="T34" fmla="*/ 50 w 1206"/>
                <a:gd name="T35" fmla="*/ 0 h 172"/>
                <a:gd name="T36" fmla="*/ 4 w 1206"/>
                <a:gd name="T37" fmla="*/ 0 h 172"/>
                <a:gd name="T38" fmla="*/ 3 w 1206"/>
                <a:gd name="T39" fmla="*/ 0 h 172"/>
                <a:gd name="T40" fmla="*/ 2 w 1206"/>
                <a:gd name="T41" fmla="*/ 0 h 172"/>
                <a:gd name="T42" fmla="*/ 2 w 1206"/>
                <a:gd name="T43" fmla="*/ 0 h 172"/>
                <a:gd name="T44" fmla="*/ 1 w 1206"/>
                <a:gd name="T45" fmla="*/ 1 h 172"/>
                <a:gd name="T46" fmla="*/ 0 w 1206"/>
                <a:gd name="T47" fmla="*/ 2 h 172"/>
                <a:gd name="T48" fmla="*/ 0 w 1206"/>
                <a:gd name="T49" fmla="*/ 2 h 172"/>
                <a:gd name="T50" fmla="*/ 0 w 1206"/>
                <a:gd name="T51" fmla="*/ 3 h 172"/>
                <a:gd name="T52" fmla="*/ 0 w 1206"/>
                <a:gd name="T53" fmla="*/ 4 h 172"/>
                <a:gd name="T54" fmla="*/ 0 w 1206"/>
                <a:gd name="T55" fmla="*/ 4 h 172"/>
                <a:gd name="T56" fmla="*/ 0 w 1206"/>
                <a:gd name="T57" fmla="*/ 5 h 172"/>
                <a:gd name="T58" fmla="*/ 0 w 1206"/>
                <a:gd name="T59" fmla="*/ 5 h 172"/>
                <a:gd name="T60" fmla="*/ 0 w 1206"/>
                <a:gd name="T61" fmla="*/ 6 h 172"/>
                <a:gd name="T62" fmla="*/ 1 w 1206"/>
                <a:gd name="T63" fmla="*/ 6 h 172"/>
                <a:gd name="T64" fmla="*/ 2 w 1206"/>
                <a:gd name="T65" fmla="*/ 7 h 172"/>
                <a:gd name="T66" fmla="*/ 2 w 1206"/>
                <a:gd name="T67" fmla="*/ 7 h 172"/>
                <a:gd name="T68" fmla="*/ 3 w 1206"/>
                <a:gd name="T69" fmla="*/ 8 h 172"/>
                <a:gd name="T70" fmla="*/ 4 w 1206"/>
                <a:gd name="T71" fmla="*/ 8 h 172"/>
                <a:gd name="T72" fmla="*/ 50 w 1206"/>
                <a:gd name="T73" fmla="*/ 8 h 1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06"/>
                <a:gd name="T112" fmla="*/ 0 h 172"/>
                <a:gd name="T113" fmla="*/ 1206 w 1206"/>
                <a:gd name="T114" fmla="*/ 172 h 1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06" h="172">
                  <a:moveTo>
                    <a:pt x="1120" y="172"/>
                  </a:moveTo>
                  <a:lnTo>
                    <a:pt x="1138" y="170"/>
                  </a:lnTo>
                  <a:lnTo>
                    <a:pt x="1155" y="165"/>
                  </a:lnTo>
                  <a:lnTo>
                    <a:pt x="1168" y="158"/>
                  </a:lnTo>
                  <a:lnTo>
                    <a:pt x="1182" y="146"/>
                  </a:lnTo>
                  <a:lnTo>
                    <a:pt x="1192" y="134"/>
                  </a:lnTo>
                  <a:lnTo>
                    <a:pt x="1199" y="120"/>
                  </a:lnTo>
                  <a:lnTo>
                    <a:pt x="1204" y="103"/>
                  </a:lnTo>
                  <a:lnTo>
                    <a:pt x="1206" y="86"/>
                  </a:lnTo>
                  <a:lnTo>
                    <a:pt x="1204" y="69"/>
                  </a:lnTo>
                  <a:lnTo>
                    <a:pt x="1199" y="52"/>
                  </a:lnTo>
                  <a:lnTo>
                    <a:pt x="1192" y="38"/>
                  </a:lnTo>
                  <a:lnTo>
                    <a:pt x="1182" y="24"/>
                  </a:lnTo>
                  <a:lnTo>
                    <a:pt x="1168" y="14"/>
                  </a:lnTo>
                  <a:lnTo>
                    <a:pt x="1155" y="7"/>
                  </a:lnTo>
                  <a:lnTo>
                    <a:pt x="1138" y="2"/>
                  </a:lnTo>
                  <a:lnTo>
                    <a:pt x="1120" y="0"/>
                  </a:lnTo>
                  <a:lnTo>
                    <a:pt x="86" y="0"/>
                  </a:lnTo>
                  <a:lnTo>
                    <a:pt x="69" y="2"/>
                  </a:lnTo>
                  <a:lnTo>
                    <a:pt x="52" y="7"/>
                  </a:lnTo>
                  <a:lnTo>
                    <a:pt x="38" y="14"/>
                  </a:lnTo>
                  <a:lnTo>
                    <a:pt x="26" y="24"/>
                  </a:lnTo>
                  <a:lnTo>
                    <a:pt x="14" y="38"/>
                  </a:lnTo>
                  <a:lnTo>
                    <a:pt x="7" y="52"/>
                  </a:lnTo>
                  <a:lnTo>
                    <a:pt x="2" y="69"/>
                  </a:lnTo>
                  <a:lnTo>
                    <a:pt x="0" y="86"/>
                  </a:lnTo>
                  <a:lnTo>
                    <a:pt x="2" y="103"/>
                  </a:lnTo>
                  <a:lnTo>
                    <a:pt x="7" y="120"/>
                  </a:lnTo>
                  <a:lnTo>
                    <a:pt x="14" y="134"/>
                  </a:lnTo>
                  <a:lnTo>
                    <a:pt x="26" y="146"/>
                  </a:lnTo>
                  <a:lnTo>
                    <a:pt x="38" y="158"/>
                  </a:lnTo>
                  <a:lnTo>
                    <a:pt x="52" y="165"/>
                  </a:lnTo>
                  <a:lnTo>
                    <a:pt x="69" y="170"/>
                  </a:lnTo>
                  <a:lnTo>
                    <a:pt x="86" y="172"/>
                  </a:lnTo>
                  <a:lnTo>
                    <a:pt x="1120" y="1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7" name="Freeform 19"/>
            <p:cNvSpPr>
              <a:spLocks/>
            </p:cNvSpPr>
            <p:nvPr/>
          </p:nvSpPr>
          <p:spPr bwMode="auto">
            <a:xfrm>
              <a:off x="5400" y="818"/>
              <a:ext cx="240" cy="149"/>
            </a:xfrm>
            <a:custGeom>
              <a:avLst/>
              <a:gdLst>
                <a:gd name="T0" fmla="*/ 23 w 522"/>
                <a:gd name="T1" fmla="*/ 8 h 324"/>
                <a:gd name="T2" fmla="*/ 2 w 522"/>
                <a:gd name="T3" fmla="*/ 0 h 324"/>
                <a:gd name="T4" fmla="*/ 0 w 522"/>
                <a:gd name="T5" fmla="*/ 6 h 324"/>
                <a:gd name="T6" fmla="*/ 23 w 522"/>
                <a:gd name="T7" fmla="*/ 15 h 324"/>
                <a:gd name="T8" fmla="*/ 23 w 522"/>
                <a:gd name="T9" fmla="*/ 8 h 324"/>
                <a:gd name="T10" fmla="*/ 0 60000 65536"/>
                <a:gd name="T11" fmla="*/ 0 60000 65536"/>
                <a:gd name="T12" fmla="*/ 0 60000 65536"/>
                <a:gd name="T13" fmla="*/ 0 60000 65536"/>
                <a:gd name="T14" fmla="*/ 0 60000 65536"/>
                <a:gd name="T15" fmla="*/ 0 w 522"/>
                <a:gd name="T16" fmla="*/ 0 h 324"/>
                <a:gd name="T17" fmla="*/ 522 w 522"/>
                <a:gd name="T18" fmla="*/ 324 h 324"/>
              </a:gdLst>
              <a:ahLst/>
              <a:cxnLst>
                <a:cxn ang="T10">
                  <a:pos x="T0" y="T1"/>
                </a:cxn>
                <a:cxn ang="T11">
                  <a:pos x="T2" y="T3"/>
                </a:cxn>
                <a:cxn ang="T12">
                  <a:pos x="T4" y="T5"/>
                </a:cxn>
                <a:cxn ang="T13">
                  <a:pos x="T6" y="T7"/>
                </a:cxn>
                <a:cxn ang="T14">
                  <a:pos x="T8" y="T9"/>
                </a:cxn>
              </a:cxnLst>
              <a:rect l="T15" t="T16" r="T17" b="T18"/>
              <a:pathLst>
                <a:path w="522" h="324">
                  <a:moveTo>
                    <a:pt x="522" y="173"/>
                  </a:moveTo>
                  <a:lnTo>
                    <a:pt x="50" y="0"/>
                  </a:lnTo>
                  <a:lnTo>
                    <a:pt x="0" y="134"/>
                  </a:lnTo>
                  <a:lnTo>
                    <a:pt x="522" y="324"/>
                  </a:lnTo>
                  <a:lnTo>
                    <a:pt x="522"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 name="Freeform 20"/>
            <p:cNvSpPr>
              <a:spLocks/>
            </p:cNvSpPr>
            <p:nvPr/>
          </p:nvSpPr>
          <p:spPr bwMode="auto">
            <a:xfrm>
              <a:off x="5062" y="1062"/>
              <a:ext cx="442" cy="47"/>
            </a:xfrm>
            <a:custGeom>
              <a:avLst/>
              <a:gdLst>
                <a:gd name="T0" fmla="*/ 40 w 964"/>
                <a:gd name="T1" fmla="*/ 5 h 101"/>
                <a:gd name="T2" fmla="*/ 41 w 964"/>
                <a:gd name="T3" fmla="*/ 5 h 101"/>
                <a:gd name="T4" fmla="*/ 41 w 964"/>
                <a:gd name="T5" fmla="*/ 5 h 101"/>
                <a:gd name="T6" fmla="*/ 42 w 964"/>
                <a:gd name="T7" fmla="*/ 4 h 101"/>
                <a:gd name="T8" fmla="*/ 42 w 964"/>
                <a:gd name="T9" fmla="*/ 4 h 101"/>
                <a:gd name="T10" fmla="*/ 42 w 964"/>
                <a:gd name="T11" fmla="*/ 4 h 101"/>
                <a:gd name="T12" fmla="*/ 43 w 964"/>
                <a:gd name="T13" fmla="*/ 3 h 101"/>
                <a:gd name="T14" fmla="*/ 43 w 964"/>
                <a:gd name="T15" fmla="*/ 3 h 101"/>
                <a:gd name="T16" fmla="*/ 43 w 964"/>
                <a:gd name="T17" fmla="*/ 2 h 101"/>
                <a:gd name="T18" fmla="*/ 43 w 964"/>
                <a:gd name="T19" fmla="*/ 2 h 101"/>
                <a:gd name="T20" fmla="*/ 43 w 964"/>
                <a:gd name="T21" fmla="*/ 2 h 101"/>
                <a:gd name="T22" fmla="*/ 43 w 964"/>
                <a:gd name="T23" fmla="*/ 1 h 101"/>
                <a:gd name="T24" fmla="*/ 42 w 964"/>
                <a:gd name="T25" fmla="*/ 1 h 101"/>
                <a:gd name="T26" fmla="*/ 42 w 964"/>
                <a:gd name="T27" fmla="*/ 0 h 101"/>
                <a:gd name="T28" fmla="*/ 42 w 964"/>
                <a:gd name="T29" fmla="*/ 0 h 101"/>
                <a:gd name="T30" fmla="*/ 41 w 964"/>
                <a:gd name="T31" fmla="*/ 0 h 101"/>
                <a:gd name="T32" fmla="*/ 41 w 964"/>
                <a:gd name="T33" fmla="*/ 0 h 101"/>
                <a:gd name="T34" fmla="*/ 40 w 964"/>
                <a:gd name="T35" fmla="*/ 0 h 101"/>
                <a:gd name="T36" fmla="*/ 2 w 964"/>
                <a:gd name="T37" fmla="*/ 0 h 101"/>
                <a:gd name="T38" fmla="*/ 2 w 964"/>
                <a:gd name="T39" fmla="*/ 0 h 101"/>
                <a:gd name="T40" fmla="*/ 1 w 964"/>
                <a:gd name="T41" fmla="*/ 0 h 101"/>
                <a:gd name="T42" fmla="*/ 1 w 964"/>
                <a:gd name="T43" fmla="*/ 0 h 101"/>
                <a:gd name="T44" fmla="*/ 0 w 964"/>
                <a:gd name="T45" fmla="*/ 0 h 101"/>
                <a:gd name="T46" fmla="*/ 0 w 964"/>
                <a:gd name="T47" fmla="*/ 1 h 101"/>
                <a:gd name="T48" fmla="*/ 0 w 964"/>
                <a:gd name="T49" fmla="*/ 1 h 101"/>
                <a:gd name="T50" fmla="*/ 0 w 964"/>
                <a:gd name="T51" fmla="*/ 2 h 101"/>
                <a:gd name="T52" fmla="*/ 0 w 964"/>
                <a:gd name="T53" fmla="*/ 2 h 101"/>
                <a:gd name="T54" fmla="*/ 0 w 964"/>
                <a:gd name="T55" fmla="*/ 2 h 101"/>
                <a:gd name="T56" fmla="*/ 0 w 964"/>
                <a:gd name="T57" fmla="*/ 3 h 101"/>
                <a:gd name="T58" fmla="*/ 0 w 964"/>
                <a:gd name="T59" fmla="*/ 3 h 101"/>
                <a:gd name="T60" fmla="*/ 0 w 964"/>
                <a:gd name="T61" fmla="*/ 4 h 101"/>
                <a:gd name="T62" fmla="*/ 0 w 964"/>
                <a:gd name="T63" fmla="*/ 4 h 101"/>
                <a:gd name="T64" fmla="*/ 1 w 964"/>
                <a:gd name="T65" fmla="*/ 4 h 101"/>
                <a:gd name="T66" fmla="*/ 1 w 964"/>
                <a:gd name="T67" fmla="*/ 5 h 101"/>
                <a:gd name="T68" fmla="*/ 2 w 964"/>
                <a:gd name="T69" fmla="*/ 5 h 101"/>
                <a:gd name="T70" fmla="*/ 2 w 964"/>
                <a:gd name="T71" fmla="*/ 5 h 101"/>
                <a:gd name="T72" fmla="*/ 40 w 964"/>
                <a:gd name="T73" fmla="*/ 5 h 10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64"/>
                <a:gd name="T112" fmla="*/ 0 h 101"/>
                <a:gd name="T113" fmla="*/ 964 w 964"/>
                <a:gd name="T114" fmla="*/ 101 h 10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64" h="101">
                  <a:moveTo>
                    <a:pt x="913" y="101"/>
                  </a:moveTo>
                  <a:lnTo>
                    <a:pt x="923" y="99"/>
                  </a:lnTo>
                  <a:lnTo>
                    <a:pt x="931" y="98"/>
                  </a:lnTo>
                  <a:lnTo>
                    <a:pt x="942" y="93"/>
                  </a:lnTo>
                  <a:lnTo>
                    <a:pt x="949" y="86"/>
                  </a:lnTo>
                  <a:lnTo>
                    <a:pt x="955" y="79"/>
                  </a:lnTo>
                  <a:lnTo>
                    <a:pt x="961" y="70"/>
                  </a:lnTo>
                  <a:lnTo>
                    <a:pt x="962" y="62"/>
                  </a:lnTo>
                  <a:lnTo>
                    <a:pt x="964" y="51"/>
                  </a:lnTo>
                  <a:lnTo>
                    <a:pt x="962" y="41"/>
                  </a:lnTo>
                  <a:lnTo>
                    <a:pt x="961" y="31"/>
                  </a:lnTo>
                  <a:lnTo>
                    <a:pt x="955" y="22"/>
                  </a:lnTo>
                  <a:lnTo>
                    <a:pt x="949" y="15"/>
                  </a:lnTo>
                  <a:lnTo>
                    <a:pt x="942" y="9"/>
                  </a:lnTo>
                  <a:lnTo>
                    <a:pt x="931" y="3"/>
                  </a:lnTo>
                  <a:lnTo>
                    <a:pt x="923" y="2"/>
                  </a:lnTo>
                  <a:lnTo>
                    <a:pt x="913" y="0"/>
                  </a:lnTo>
                  <a:lnTo>
                    <a:pt x="51" y="0"/>
                  </a:lnTo>
                  <a:lnTo>
                    <a:pt x="41" y="2"/>
                  </a:lnTo>
                  <a:lnTo>
                    <a:pt x="31" y="3"/>
                  </a:lnTo>
                  <a:lnTo>
                    <a:pt x="22" y="9"/>
                  </a:lnTo>
                  <a:lnTo>
                    <a:pt x="15" y="15"/>
                  </a:lnTo>
                  <a:lnTo>
                    <a:pt x="9" y="22"/>
                  </a:lnTo>
                  <a:lnTo>
                    <a:pt x="3" y="31"/>
                  </a:lnTo>
                  <a:lnTo>
                    <a:pt x="2" y="41"/>
                  </a:lnTo>
                  <a:lnTo>
                    <a:pt x="0" y="51"/>
                  </a:lnTo>
                  <a:lnTo>
                    <a:pt x="2" y="62"/>
                  </a:lnTo>
                  <a:lnTo>
                    <a:pt x="3" y="70"/>
                  </a:lnTo>
                  <a:lnTo>
                    <a:pt x="9" y="79"/>
                  </a:lnTo>
                  <a:lnTo>
                    <a:pt x="15" y="86"/>
                  </a:lnTo>
                  <a:lnTo>
                    <a:pt x="22" y="93"/>
                  </a:lnTo>
                  <a:lnTo>
                    <a:pt x="31" y="98"/>
                  </a:lnTo>
                  <a:lnTo>
                    <a:pt x="41" y="99"/>
                  </a:lnTo>
                  <a:lnTo>
                    <a:pt x="51" y="101"/>
                  </a:lnTo>
                  <a:lnTo>
                    <a:pt x="913"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9" name="Freeform 21"/>
            <p:cNvSpPr>
              <a:spLocks/>
            </p:cNvSpPr>
            <p:nvPr/>
          </p:nvSpPr>
          <p:spPr bwMode="auto">
            <a:xfrm>
              <a:off x="4999" y="766"/>
              <a:ext cx="64" cy="48"/>
            </a:xfrm>
            <a:custGeom>
              <a:avLst/>
              <a:gdLst>
                <a:gd name="T0" fmla="*/ 6 w 140"/>
                <a:gd name="T1" fmla="*/ 0 h 106"/>
                <a:gd name="T2" fmla="*/ 0 w 140"/>
                <a:gd name="T3" fmla="*/ 1 h 106"/>
                <a:gd name="T4" fmla="*/ 5 w 140"/>
                <a:gd name="T5" fmla="*/ 5 h 106"/>
                <a:gd name="T6" fmla="*/ 5 w 140"/>
                <a:gd name="T7" fmla="*/ 3 h 106"/>
                <a:gd name="T8" fmla="*/ 5 w 140"/>
                <a:gd name="T9" fmla="*/ 2 h 106"/>
                <a:gd name="T10" fmla="*/ 6 w 140"/>
                <a:gd name="T11" fmla="*/ 1 h 106"/>
                <a:gd name="T12" fmla="*/ 6 w 140"/>
                <a:gd name="T13" fmla="*/ 0 h 106"/>
                <a:gd name="T14" fmla="*/ 0 60000 65536"/>
                <a:gd name="T15" fmla="*/ 0 60000 65536"/>
                <a:gd name="T16" fmla="*/ 0 60000 65536"/>
                <a:gd name="T17" fmla="*/ 0 60000 65536"/>
                <a:gd name="T18" fmla="*/ 0 60000 65536"/>
                <a:gd name="T19" fmla="*/ 0 60000 65536"/>
                <a:gd name="T20" fmla="*/ 0 60000 65536"/>
                <a:gd name="T21" fmla="*/ 0 w 140"/>
                <a:gd name="T22" fmla="*/ 0 h 106"/>
                <a:gd name="T23" fmla="*/ 140 w 140"/>
                <a:gd name="T24" fmla="*/ 106 h 1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0" h="106">
                  <a:moveTo>
                    <a:pt x="140" y="0"/>
                  </a:moveTo>
                  <a:lnTo>
                    <a:pt x="0" y="34"/>
                  </a:lnTo>
                  <a:lnTo>
                    <a:pt x="122" y="106"/>
                  </a:lnTo>
                  <a:lnTo>
                    <a:pt x="125" y="79"/>
                  </a:lnTo>
                  <a:lnTo>
                    <a:pt x="128" y="53"/>
                  </a:lnTo>
                  <a:lnTo>
                    <a:pt x="134" y="26"/>
                  </a:lnTo>
                  <a:lnTo>
                    <a:pt x="1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0" name="Freeform 22"/>
            <p:cNvSpPr>
              <a:spLocks/>
            </p:cNvSpPr>
            <p:nvPr/>
          </p:nvSpPr>
          <p:spPr bwMode="auto">
            <a:xfrm>
              <a:off x="5070" y="611"/>
              <a:ext cx="69" cy="60"/>
            </a:xfrm>
            <a:custGeom>
              <a:avLst/>
              <a:gdLst>
                <a:gd name="T0" fmla="*/ 7 w 149"/>
                <a:gd name="T1" fmla="*/ 2 h 130"/>
                <a:gd name="T2" fmla="*/ 0 w 149"/>
                <a:gd name="T3" fmla="*/ 0 h 130"/>
                <a:gd name="T4" fmla="*/ 4 w 149"/>
                <a:gd name="T5" fmla="*/ 6 h 130"/>
                <a:gd name="T6" fmla="*/ 4 w 149"/>
                <a:gd name="T7" fmla="*/ 6 h 130"/>
                <a:gd name="T8" fmla="*/ 4 w 149"/>
                <a:gd name="T9" fmla="*/ 5 h 130"/>
                <a:gd name="T10" fmla="*/ 5 w 149"/>
                <a:gd name="T11" fmla="*/ 4 h 130"/>
                <a:gd name="T12" fmla="*/ 5 w 149"/>
                <a:gd name="T13" fmla="*/ 4 h 130"/>
                <a:gd name="T14" fmla="*/ 6 w 149"/>
                <a:gd name="T15" fmla="*/ 3 h 130"/>
                <a:gd name="T16" fmla="*/ 6 w 149"/>
                <a:gd name="T17" fmla="*/ 3 h 130"/>
                <a:gd name="T18" fmla="*/ 6 w 149"/>
                <a:gd name="T19" fmla="*/ 2 h 130"/>
                <a:gd name="T20" fmla="*/ 7 w 149"/>
                <a:gd name="T21" fmla="*/ 2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130"/>
                <a:gd name="T35" fmla="*/ 149 w 149"/>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130">
                  <a:moveTo>
                    <a:pt x="149" y="39"/>
                  </a:moveTo>
                  <a:lnTo>
                    <a:pt x="0" y="0"/>
                  </a:lnTo>
                  <a:lnTo>
                    <a:pt x="79" y="130"/>
                  </a:lnTo>
                  <a:lnTo>
                    <a:pt x="88" y="118"/>
                  </a:lnTo>
                  <a:lnTo>
                    <a:pt x="95" y="108"/>
                  </a:lnTo>
                  <a:lnTo>
                    <a:pt x="103" y="96"/>
                  </a:lnTo>
                  <a:lnTo>
                    <a:pt x="112" y="84"/>
                  </a:lnTo>
                  <a:lnTo>
                    <a:pt x="122" y="72"/>
                  </a:lnTo>
                  <a:lnTo>
                    <a:pt x="131" y="61"/>
                  </a:lnTo>
                  <a:lnTo>
                    <a:pt x="139" y="49"/>
                  </a:lnTo>
                  <a:lnTo>
                    <a:pt x="149"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1" name="Freeform 23"/>
            <p:cNvSpPr>
              <a:spLocks/>
            </p:cNvSpPr>
            <p:nvPr/>
          </p:nvSpPr>
          <p:spPr bwMode="auto">
            <a:xfrm>
              <a:off x="5024" y="692"/>
              <a:ext cx="70" cy="48"/>
            </a:xfrm>
            <a:custGeom>
              <a:avLst/>
              <a:gdLst>
                <a:gd name="T0" fmla="*/ 7 w 153"/>
                <a:gd name="T1" fmla="*/ 0 h 104"/>
                <a:gd name="T2" fmla="*/ 0 w 153"/>
                <a:gd name="T3" fmla="*/ 0 h 104"/>
                <a:gd name="T4" fmla="*/ 5 w 153"/>
                <a:gd name="T5" fmla="*/ 5 h 104"/>
                <a:gd name="T6" fmla="*/ 5 w 153"/>
                <a:gd name="T7" fmla="*/ 4 h 104"/>
                <a:gd name="T8" fmla="*/ 5 w 153"/>
                <a:gd name="T9" fmla="*/ 2 h 104"/>
                <a:gd name="T10" fmla="*/ 6 w 153"/>
                <a:gd name="T11" fmla="*/ 1 h 104"/>
                <a:gd name="T12" fmla="*/ 7 w 153"/>
                <a:gd name="T13" fmla="*/ 0 h 104"/>
                <a:gd name="T14" fmla="*/ 0 60000 65536"/>
                <a:gd name="T15" fmla="*/ 0 60000 65536"/>
                <a:gd name="T16" fmla="*/ 0 60000 65536"/>
                <a:gd name="T17" fmla="*/ 0 60000 65536"/>
                <a:gd name="T18" fmla="*/ 0 60000 65536"/>
                <a:gd name="T19" fmla="*/ 0 60000 65536"/>
                <a:gd name="T20" fmla="*/ 0 60000 65536"/>
                <a:gd name="T21" fmla="*/ 0 w 153"/>
                <a:gd name="T22" fmla="*/ 0 h 104"/>
                <a:gd name="T23" fmla="*/ 153 w 153"/>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4">
                  <a:moveTo>
                    <a:pt x="153" y="1"/>
                  </a:moveTo>
                  <a:lnTo>
                    <a:pt x="0" y="0"/>
                  </a:lnTo>
                  <a:lnTo>
                    <a:pt x="106" y="104"/>
                  </a:lnTo>
                  <a:lnTo>
                    <a:pt x="117" y="77"/>
                  </a:lnTo>
                  <a:lnTo>
                    <a:pt x="127" y="51"/>
                  </a:lnTo>
                  <a:lnTo>
                    <a:pt x="139" y="25"/>
                  </a:lnTo>
                  <a:lnTo>
                    <a:pt x="15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362" name="Text Box 74"/>
          <p:cNvSpPr txBox="1">
            <a:spLocks noChangeArrowheads="1"/>
          </p:cNvSpPr>
          <p:nvPr/>
        </p:nvSpPr>
        <p:spPr bwMode="auto">
          <a:xfrm>
            <a:off x="7807325" y="3007367"/>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matter</a:t>
            </a:r>
          </a:p>
        </p:txBody>
      </p:sp>
      <p:sp>
        <p:nvSpPr>
          <p:cNvPr id="363" name="Line 93"/>
          <p:cNvSpPr>
            <a:spLocks noChangeShapeType="1"/>
          </p:cNvSpPr>
          <p:nvPr/>
        </p:nvSpPr>
        <p:spPr bwMode="auto">
          <a:xfrm>
            <a:off x="698500" y="2788292"/>
            <a:ext cx="77470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64" name="Line 95"/>
          <p:cNvSpPr>
            <a:spLocks noChangeShapeType="1"/>
          </p:cNvSpPr>
          <p:nvPr/>
        </p:nvSpPr>
        <p:spPr bwMode="auto">
          <a:xfrm>
            <a:off x="8455025" y="2770830"/>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65" name="Text Box 53"/>
          <p:cNvSpPr txBox="1">
            <a:spLocks noChangeArrowheads="1"/>
          </p:cNvSpPr>
          <p:nvPr/>
        </p:nvSpPr>
        <p:spPr bwMode="auto">
          <a:xfrm>
            <a:off x="6680200" y="3007367"/>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note</a:t>
            </a:r>
          </a:p>
        </p:txBody>
      </p:sp>
      <p:sp>
        <p:nvSpPr>
          <p:cNvPr id="366" name="Line 73"/>
          <p:cNvSpPr>
            <a:spLocks noChangeShapeType="1"/>
          </p:cNvSpPr>
          <p:nvPr/>
        </p:nvSpPr>
        <p:spPr bwMode="auto">
          <a:xfrm>
            <a:off x="7224713" y="2770830"/>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367" name="Group 92"/>
          <p:cNvGrpSpPr>
            <a:grpSpLocks/>
          </p:cNvGrpSpPr>
          <p:nvPr/>
        </p:nvGrpSpPr>
        <p:grpSpPr bwMode="auto">
          <a:xfrm>
            <a:off x="6844921" y="3326457"/>
            <a:ext cx="928687" cy="1354138"/>
            <a:chOff x="4279" y="2531"/>
            <a:chExt cx="585" cy="853"/>
          </a:xfrm>
        </p:grpSpPr>
        <p:grpSp>
          <p:nvGrpSpPr>
            <p:cNvPr id="368" name="Group 93"/>
            <p:cNvGrpSpPr>
              <a:grpSpLocks/>
            </p:cNvGrpSpPr>
            <p:nvPr/>
          </p:nvGrpSpPr>
          <p:grpSpPr bwMode="auto">
            <a:xfrm>
              <a:off x="4279" y="2531"/>
              <a:ext cx="585" cy="521"/>
              <a:chOff x="2322" y="507"/>
              <a:chExt cx="1203" cy="1071"/>
            </a:xfrm>
          </p:grpSpPr>
          <p:sp>
            <p:nvSpPr>
              <p:cNvPr id="379" name="Freeform 94"/>
              <p:cNvSpPr>
                <a:spLocks/>
              </p:cNvSpPr>
              <p:nvPr/>
            </p:nvSpPr>
            <p:spPr bwMode="auto">
              <a:xfrm>
                <a:off x="2322" y="600"/>
                <a:ext cx="1203" cy="978"/>
              </a:xfrm>
              <a:custGeom>
                <a:avLst/>
                <a:gdLst>
                  <a:gd name="T0" fmla="*/ 0 w 1203"/>
                  <a:gd name="T1" fmla="*/ 351 h 978"/>
                  <a:gd name="T2" fmla="*/ 474 w 1203"/>
                  <a:gd name="T3" fmla="*/ 168 h 978"/>
                  <a:gd name="T4" fmla="*/ 609 w 1203"/>
                  <a:gd name="T5" fmla="*/ 90 h 978"/>
                  <a:gd name="T6" fmla="*/ 723 w 1203"/>
                  <a:gd name="T7" fmla="*/ 0 h 978"/>
                  <a:gd name="T8" fmla="*/ 801 w 1203"/>
                  <a:gd name="T9" fmla="*/ 231 h 978"/>
                  <a:gd name="T10" fmla="*/ 882 w 1203"/>
                  <a:gd name="T11" fmla="*/ 405 h 978"/>
                  <a:gd name="T12" fmla="*/ 939 w 1203"/>
                  <a:gd name="T13" fmla="*/ 480 h 978"/>
                  <a:gd name="T14" fmla="*/ 1044 w 1203"/>
                  <a:gd name="T15" fmla="*/ 558 h 978"/>
                  <a:gd name="T16" fmla="*/ 1116 w 1203"/>
                  <a:gd name="T17" fmla="*/ 582 h 978"/>
                  <a:gd name="T18" fmla="*/ 1203 w 1203"/>
                  <a:gd name="T19" fmla="*/ 597 h 978"/>
                  <a:gd name="T20" fmla="*/ 1095 w 1203"/>
                  <a:gd name="T21" fmla="*/ 693 h 978"/>
                  <a:gd name="T22" fmla="*/ 957 w 1203"/>
                  <a:gd name="T23" fmla="*/ 810 h 978"/>
                  <a:gd name="T24" fmla="*/ 852 w 1203"/>
                  <a:gd name="T25" fmla="*/ 873 h 978"/>
                  <a:gd name="T26" fmla="*/ 756 w 1203"/>
                  <a:gd name="T27" fmla="*/ 918 h 978"/>
                  <a:gd name="T28" fmla="*/ 648 w 1203"/>
                  <a:gd name="T29" fmla="*/ 960 h 978"/>
                  <a:gd name="T30" fmla="*/ 555 w 1203"/>
                  <a:gd name="T31" fmla="*/ 978 h 978"/>
                  <a:gd name="T32" fmla="*/ 471 w 1203"/>
                  <a:gd name="T33" fmla="*/ 969 h 978"/>
                  <a:gd name="T34" fmla="*/ 402 w 1203"/>
                  <a:gd name="T35" fmla="*/ 927 h 978"/>
                  <a:gd name="T36" fmla="*/ 303 w 1203"/>
                  <a:gd name="T37" fmla="*/ 837 h 978"/>
                  <a:gd name="T38" fmla="*/ 213 w 1203"/>
                  <a:gd name="T39" fmla="*/ 702 h 978"/>
                  <a:gd name="T40" fmla="*/ 99 w 1203"/>
                  <a:gd name="T41" fmla="*/ 546 h 978"/>
                  <a:gd name="T42" fmla="*/ 36 w 1203"/>
                  <a:gd name="T43" fmla="*/ 435 h 978"/>
                  <a:gd name="T44" fmla="*/ 0 w 1203"/>
                  <a:gd name="T45" fmla="*/ 351 h 97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03"/>
                  <a:gd name="T70" fmla="*/ 0 h 978"/>
                  <a:gd name="T71" fmla="*/ 1203 w 1203"/>
                  <a:gd name="T72" fmla="*/ 978 h 97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03" h="978">
                    <a:moveTo>
                      <a:pt x="0" y="351"/>
                    </a:moveTo>
                    <a:lnTo>
                      <a:pt x="474" y="168"/>
                    </a:lnTo>
                    <a:lnTo>
                      <a:pt x="609" y="90"/>
                    </a:lnTo>
                    <a:lnTo>
                      <a:pt x="723" y="0"/>
                    </a:lnTo>
                    <a:lnTo>
                      <a:pt x="801" y="231"/>
                    </a:lnTo>
                    <a:lnTo>
                      <a:pt x="882" y="405"/>
                    </a:lnTo>
                    <a:lnTo>
                      <a:pt x="939" y="480"/>
                    </a:lnTo>
                    <a:lnTo>
                      <a:pt x="1044" y="558"/>
                    </a:lnTo>
                    <a:lnTo>
                      <a:pt x="1116" y="582"/>
                    </a:lnTo>
                    <a:lnTo>
                      <a:pt x="1203" y="597"/>
                    </a:lnTo>
                    <a:lnTo>
                      <a:pt x="1095" y="693"/>
                    </a:lnTo>
                    <a:lnTo>
                      <a:pt x="957" y="810"/>
                    </a:lnTo>
                    <a:lnTo>
                      <a:pt x="852" y="873"/>
                    </a:lnTo>
                    <a:lnTo>
                      <a:pt x="756" y="918"/>
                    </a:lnTo>
                    <a:lnTo>
                      <a:pt x="648" y="960"/>
                    </a:lnTo>
                    <a:lnTo>
                      <a:pt x="555" y="978"/>
                    </a:lnTo>
                    <a:lnTo>
                      <a:pt x="471" y="969"/>
                    </a:lnTo>
                    <a:lnTo>
                      <a:pt x="402" y="927"/>
                    </a:lnTo>
                    <a:lnTo>
                      <a:pt x="303" y="837"/>
                    </a:lnTo>
                    <a:lnTo>
                      <a:pt x="213" y="702"/>
                    </a:lnTo>
                    <a:lnTo>
                      <a:pt x="99" y="546"/>
                    </a:lnTo>
                    <a:lnTo>
                      <a:pt x="36" y="435"/>
                    </a:lnTo>
                    <a:lnTo>
                      <a:pt x="0" y="351"/>
                    </a:lnTo>
                    <a:close/>
                  </a:path>
                </a:pathLst>
              </a:custGeom>
              <a:solidFill>
                <a:srgbClr val="FFFFCC"/>
              </a:solidFill>
              <a:ln w="12700">
                <a:solidFill>
                  <a:schemeClr val="bg1"/>
                </a:solidFill>
                <a:round/>
                <a:headEnd/>
                <a:tailEnd/>
              </a:ln>
            </p:spPr>
            <p:txBody>
              <a:bodyPr wrap="none" lIns="0" tIns="0" rIns="0" bIns="0" anchor="ctr">
                <a:spAutoFit/>
              </a:bodyPr>
              <a:lstStyle/>
              <a:p>
                <a:endParaRPr lang="en-US"/>
              </a:p>
            </p:txBody>
          </p:sp>
          <p:sp>
            <p:nvSpPr>
              <p:cNvPr id="380" name="Oval 95"/>
              <p:cNvSpPr>
                <a:spLocks noChangeArrowheads="1"/>
              </p:cNvSpPr>
              <p:nvPr/>
            </p:nvSpPr>
            <p:spPr bwMode="auto">
              <a:xfrm>
                <a:off x="2448" y="699"/>
                <a:ext cx="375" cy="300"/>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sp>
            <p:nvSpPr>
              <p:cNvPr id="381" name="Freeform 96"/>
              <p:cNvSpPr>
                <a:spLocks/>
              </p:cNvSpPr>
              <p:nvPr/>
            </p:nvSpPr>
            <p:spPr bwMode="auto">
              <a:xfrm>
                <a:off x="2559" y="654"/>
                <a:ext cx="159" cy="216"/>
              </a:xfrm>
              <a:custGeom>
                <a:avLst/>
                <a:gdLst>
                  <a:gd name="T0" fmla="*/ 0 w 159"/>
                  <a:gd name="T1" fmla="*/ 18 h 216"/>
                  <a:gd name="T2" fmla="*/ 0 w 159"/>
                  <a:gd name="T3" fmla="*/ 180 h 216"/>
                  <a:gd name="T4" fmla="*/ 18 w 159"/>
                  <a:gd name="T5" fmla="*/ 204 h 216"/>
                  <a:gd name="T6" fmla="*/ 60 w 159"/>
                  <a:gd name="T7" fmla="*/ 216 h 216"/>
                  <a:gd name="T8" fmla="*/ 108 w 159"/>
                  <a:gd name="T9" fmla="*/ 210 h 216"/>
                  <a:gd name="T10" fmla="*/ 147 w 159"/>
                  <a:gd name="T11" fmla="*/ 189 h 216"/>
                  <a:gd name="T12" fmla="*/ 159 w 159"/>
                  <a:gd name="T13" fmla="*/ 165 h 216"/>
                  <a:gd name="T14" fmla="*/ 159 w 159"/>
                  <a:gd name="T15" fmla="*/ 0 h 216"/>
                  <a:gd name="T16" fmla="*/ 0 w 159"/>
                  <a:gd name="T17" fmla="*/ 18 h 2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216"/>
                  <a:gd name="T29" fmla="*/ 159 w 159"/>
                  <a:gd name="T30" fmla="*/ 216 h 2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216">
                    <a:moveTo>
                      <a:pt x="0" y="18"/>
                    </a:moveTo>
                    <a:lnTo>
                      <a:pt x="0" y="180"/>
                    </a:lnTo>
                    <a:lnTo>
                      <a:pt x="18" y="204"/>
                    </a:lnTo>
                    <a:lnTo>
                      <a:pt x="60" y="216"/>
                    </a:lnTo>
                    <a:lnTo>
                      <a:pt x="108" y="210"/>
                    </a:lnTo>
                    <a:lnTo>
                      <a:pt x="147" y="189"/>
                    </a:lnTo>
                    <a:lnTo>
                      <a:pt x="159" y="165"/>
                    </a:lnTo>
                    <a:lnTo>
                      <a:pt x="159" y="0"/>
                    </a:lnTo>
                    <a:lnTo>
                      <a:pt x="0" y="18"/>
                    </a:lnTo>
                    <a:close/>
                  </a:path>
                </a:pathLst>
              </a:custGeom>
              <a:solidFill>
                <a:srgbClr val="FF0000"/>
              </a:solidFill>
              <a:ln w="12700">
                <a:solidFill>
                  <a:schemeClr val="bg1"/>
                </a:solidFill>
                <a:round/>
                <a:headEnd/>
                <a:tailEnd/>
              </a:ln>
            </p:spPr>
            <p:txBody>
              <a:bodyPr wrap="none" lIns="0" tIns="0" rIns="0" bIns="0" anchor="ctr">
                <a:spAutoFit/>
              </a:bodyPr>
              <a:lstStyle/>
              <a:p>
                <a:endParaRPr lang="en-US"/>
              </a:p>
            </p:txBody>
          </p:sp>
          <p:sp>
            <p:nvSpPr>
              <p:cNvPr id="382" name="Line 97"/>
              <p:cNvSpPr>
                <a:spLocks noChangeShapeType="1"/>
              </p:cNvSpPr>
              <p:nvPr/>
            </p:nvSpPr>
            <p:spPr bwMode="auto">
              <a:xfrm>
                <a:off x="2637" y="999"/>
                <a:ext cx="0" cy="9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83" name="Freeform 98"/>
              <p:cNvSpPr>
                <a:spLocks/>
              </p:cNvSpPr>
              <p:nvPr/>
            </p:nvSpPr>
            <p:spPr bwMode="auto">
              <a:xfrm>
                <a:off x="2622" y="1032"/>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84" name="Freeform 99"/>
              <p:cNvSpPr>
                <a:spLocks/>
              </p:cNvSpPr>
              <p:nvPr/>
            </p:nvSpPr>
            <p:spPr bwMode="auto">
              <a:xfrm>
                <a:off x="2685" y="1113"/>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85" name="Freeform 100"/>
              <p:cNvSpPr>
                <a:spLocks/>
              </p:cNvSpPr>
              <p:nvPr/>
            </p:nvSpPr>
            <p:spPr bwMode="auto">
              <a:xfrm>
                <a:off x="2679" y="1396"/>
                <a:ext cx="417" cy="110"/>
              </a:xfrm>
              <a:custGeom>
                <a:avLst/>
                <a:gdLst>
                  <a:gd name="T0" fmla="*/ 0 w 417"/>
                  <a:gd name="T1" fmla="*/ 89 h 110"/>
                  <a:gd name="T2" fmla="*/ 63 w 417"/>
                  <a:gd name="T3" fmla="*/ 95 h 110"/>
                  <a:gd name="T4" fmla="*/ 123 w 417"/>
                  <a:gd name="T5" fmla="*/ 80 h 110"/>
                  <a:gd name="T6" fmla="*/ 171 w 417"/>
                  <a:gd name="T7" fmla="*/ 47 h 110"/>
                  <a:gd name="T8" fmla="*/ 198 w 417"/>
                  <a:gd name="T9" fmla="*/ 2 h 110"/>
                  <a:gd name="T10" fmla="*/ 216 w 417"/>
                  <a:gd name="T11" fmla="*/ 32 h 110"/>
                  <a:gd name="T12" fmla="*/ 258 w 417"/>
                  <a:gd name="T13" fmla="*/ 65 h 110"/>
                  <a:gd name="T14" fmla="*/ 291 w 417"/>
                  <a:gd name="T15" fmla="*/ 89 h 110"/>
                  <a:gd name="T16" fmla="*/ 342 w 417"/>
                  <a:gd name="T17" fmla="*/ 104 h 110"/>
                  <a:gd name="T18" fmla="*/ 417 w 417"/>
                  <a:gd name="T19" fmla="*/ 110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7"/>
                  <a:gd name="T31" fmla="*/ 0 h 110"/>
                  <a:gd name="T32" fmla="*/ 417 w 417"/>
                  <a:gd name="T33" fmla="*/ 110 h 1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7" h="110">
                    <a:moveTo>
                      <a:pt x="0" y="89"/>
                    </a:moveTo>
                    <a:cubicBezTo>
                      <a:pt x="21" y="92"/>
                      <a:pt x="43" y="96"/>
                      <a:pt x="63" y="95"/>
                    </a:cubicBezTo>
                    <a:cubicBezTo>
                      <a:pt x="83" y="94"/>
                      <a:pt x="105" y="88"/>
                      <a:pt x="123" y="80"/>
                    </a:cubicBezTo>
                    <a:cubicBezTo>
                      <a:pt x="141" y="72"/>
                      <a:pt x="159" y="60"/>
                      <a:pt x="171" y="47"/>
                    </a:cubicBezTo>
                    <a:cubicBezTo>
                      <a:pt x="183" y="34"/>
                      <a:pt x="191" y="4"/>
                      <a:pt x="198" y="2"/>
                    </a:cubicBezTo>
                    <a:cubicBezTo>
                      <a:pt x="205" y="0"/>
                      <a:pt x="206" y="21"/>
                      <a:pt x="216" y="32"/>
                    </a:cubicBezTo>
                    <a:cubicBezTo>
                      <a:pt x="226" y="43"/>
                      <a:pt x="246" y="56"/>
                      <a:pt x="258" y="65"/>
                    </a:cubicBezTo>
                    <a:cubicBezTo>
                      <a:pt x="270" y="74"/>
                      <a:pt x="277" y="83"/>
                      <a:pt x="291" y="89"/>
                    </a:cubicBezTo>
                    <a:cubicBezTo>
                      <a:pt x="305" y="95"/>
                      <a:pt x="321" y="100"/>
                      <a:pt x="342" y="104"/>
                    </a:cubicBezTo>
                    <a:cubicBezTo>
                      <a:pt x="363" y="108"/>
                      <a:pt x="390" y="109"/>
                      <a:pt x="417" y="11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86" name="Freeform 101"/>
              <p:cNvSpPr>
                <a:spLocks/>
              </p:cNvSpPr>
              <p:nvPr/>
            </p:nvSpPr>
            <p:spPr bwMode="auto">
              <a:xfrm>
                <a:off x="2577" y="939"/>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87" name="Oval 102"/>
              <p:cNvSpPr>
                <a:spLocks noChangeArrowheads="1"/>
              </p:cNvSpPr>
              <p:nvPr/>
            </p:nvSpPr>
            <p:spPr bwMode="auto">
              <a:xfrm>
                <a:off x="2502" y="507"/>
                <a:ext cx="276" cy="222"/>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grpSp>
        <p:grpSp>
          <p:nvGrpSpPr>
            <p:cNvPr id="369" name="Group 103"/>
            <p:cNvGrpSpPr>
              <a:grpSpLocks/>
            </p:cNvGrpSpPr>
            <p:nvPr/>
          </p:nvGrpSpPr>
          <p:grpSpPr bwMode="auto">
            <a:xfrm>
              <a:off x="4279" y="2863"/>
              <a:ext cx="585" cy="521"/>
              <a:chOff x="2322" y="507"/>
              <a:chExt cx="1203" cy="1071"/>
            </a:xfrm>
          </p:grpSpPr>
          <p:sp>
            <p:nvSpPr>
              <p:cNvPr id="370" name="Freeform 104"/>
              <p:cNvSpPr>
                <a:spLocks/>
              </p:cNvSpPr>
              <p:nvPr/>
            </p:nvSpPr>
            <p:spPr bwMode="auto">
              <a:xfrm>
                <a:off x="2322" y="600"/>
                <a:ext cx="1203" cy="978"/>
              </a:xfrm>
              <a:custGeom>
                <a:avLst/>
                <a:gdLst>
                  <a:gd name="T0" fmla="*/ 0 w 1203"/>
                  <a:gd name="T1" fmla="*/ 351 h 978"/>
                  <a:gd name="T2" fmla="*/ 474 w 1203"/>
                  <a:gd name="T3" fmla="*/ 168 h 978"/>
                  <a:gd name="T4" fmla="*/ 609 w 1203"/>
                  <a:gd name="T5" fmla="*/ 90 h 978"/>
                  <a:gd name="T6" fmla="*/ 723 w 1203"/>
                  <a:gd name="T7" fmla="*/ 0 h 978"/>
                  <a:gd name="T8" fmla="*/ 801 w 1203"/>
                  <a:gd name="T9" fmla="*/ 231 h 978"/>
                  <a:gd name="T10" fmla="*/ 882 w 1203"/>
                  <a:gd name="T11" fmla="*/ 405 h 978"/>
                  <a:gd name="T12" fmla="*/ 939 w 1203"/>
                  <a:gd name="T13" fmla="*/ 480 h 978"/>
                  <a:gd name="T14" fmla="*/ 1044 w 1203"/>
                  <a:gd name="T15" fmla="*/ 558 h 978"/>
                  <a:gd name="T16" fmla="*/ 1116 w 1203"/>
                  <a:gd name="T17" fmla="*/ 582 h 978"/>
                  <a:gd name="T18" fmla="*/ 1203 w 1203"/>
                  <a:gd name="T19" fmla="*/ 597 h 978"/>
                  <a:gd name="T20" fmla="*/ 1095 w 1203"/>
                  <a:gd name="T21" fmla="*/ 693 h 978"/>
                  <a:gd name="T22" fmla="*/ 957 w 1203"/>
                  <a:gd name="T23" fmla="*/ 810 h 978"/>
                  <a:gd name="T24" fmla="*/ 852 w 1203"/>
                  <a:gd name="T25" fmla="*/ 873 h 978"/>
                  <a:gd name="T26" fmla="*/ 756 w 1203"/>
                  <a:gd name="T27" fmla="*/ 918 h 978"/>
                  <a:gd name="T28" fmla="*/ 648 w 1203"/>
                  <a:gd name="T29" fmla="*/ 960 h 978"/>
                  <a:gd name="T30" fmla="*/ 555 w 1203"/>
                  <a:gd name="T31" fmla="*/ 978 h 978"/>
                  <a:gd name="T32" fmla="*/ 471 w 1203"/>
                  <a:gd name="T33" fmla="*/ 969 h 978"/>
                  <a:gd name="T34" fmla="*/ 402 w 1203"/>
                  <a:gd name="T35" fmla="*/ 927 h 978"/>
                  <a:gd name="T36" fmla="*/ 303 w 1203"/>
                  <a:gd name="T37" fmla="*/ 837 h 978"/>
                  <a:gd name="T38" fmla="*/ 213 w 1203"/>
                  <a:gd name="T39" fmla="*/ 702 h 978"/>
                  <a:gd name="T40" fmla="*/ 99 w 1203"/>
                  <a:gd name="T41" fmla="*/ 546 h 978"/>
                  <a:gd name="T42" fmla="*/ 36 w 1203"/>
                  <a:gd name="T43" fmla="*/ 435 h 978"/>
                  <a:gd name="T44" fmla="*/ 0 w 1203"/>
                  <a:gd name="T45" fmla="*/ 351 h 97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03"/>
                  <a:gd name="T70" fmla="*/ 0 h 978"/>
                  <a:gd name="T71" fmla="*/ 1203 w 1203"/>
                  <a:gd name="T72" fmla="*/ 978 h 97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03" h="978">
                    <a:moveTo>
                      <a:pt x="0" y="351"/>
                    </a:moveTo>
                    <a:lnTo>
                      <a:pt x="474" y="168"/>
                    </a:lnTo>
                    <a:lnTo>
                      <a:pt x="609" y="90"/>
                    </a:lnTo>
                    <a:lnTo>
                      <a:pt x="723" y="0"/>
                    </a:lnTo>
                    <a:lnTo>
                      <a:pt x="801" y="231"/>
                    </a:lnTo>
                    <a:lnTo>
                      <a:pt x="882" y="405"/>
                    </a:lnTo>
                    <a:lnTo>
                      <a:pt x="939" y="480"/>
                    </a:lnTo>
                    <a:lnTo>
                      <a:pt x="1044" y="558"/>
                    </a:lnTo>
                    <a:lnTo>
                      <a:pt x="1116" y="582"/>
                    </a:lnTo>
                    <a:lnTo>
                      <a:pt x="1203" y="597"/>
                    </a:lnTo>
                    <a:lnTo>
                      <a:pt x="1095" y="693"/>
                    </a:lnTo>
                    <a:lnTo>
                      <a:pt x="957" y="810"/>
                    </a:lnTo>
                    <a:lnTo>
                      <a:pt x="852" y="873"/>
                    </a:lnTo>
                    <a:lnTo>
                      <a:pt x="756" y="918"/>
                    </a:lnTo>
                    <a:lnTo>
                      <a:pt x="648" y="960"/>
                    </a:lnTo>
                    <a:lnTo>
                      <a:pt x="555" y="978"/>
                    </a:lnTo>
                    <a:lnTo>
                      <a:pt x="471" y="969"/>
                    </a:lnTo>
                    <a:lnTo>
                      <a:pt x="402" y="927"/>
                    </a:lnTo>
                    <a:lnTo>
                      <a:pt x="303" y="837"/>
                    </a:lnTo>
                    <a:lnTo>
                      <a:pt x="213" y="702"/>
                    </a:lnTo>
                    <a:lnTo>
                      <a:pt x="99" y="546"/>
                    </a:lnTo>
                    <a:lnTo>
                      <a:pt x="36" y="435"/>
                    </a:lnTo>
                    <a:lnTo>
                      <a:pt x="0" y="351"/>
                    </a:lnTo>
                    <a:close/>
                  </a:path>
                </a:pathLst>
              </a:custGeom>
              <a:solidFill>
                <a:srgbClr val="FFFFCC"/>
              </a:solidFill>
              <a:ln w="12700">
                <a:solidFill>
                  <a:schemeClr val="bg1"/>
                </a:solidFill>
                <a:round/>
                <a:headEnd/>
                <a:tailEnd/>
              </a:ln>
            </p:spPr>
            <p:txBody>
              <a:bodyPr wrap="none" lIns="0" tIns="0" rIns="0" bIns="0" anchor="ctr">
                <a:spAutoFit/>
              </a:bodyPr>
              <a:lstStyle/>
              <a:p>
                <a:endParaRPr lang="en-US"/>
              </a:p>
            </p:txBody>
          </p:sp>
          <p:sp>
            <p:nvSpPr>
              <p:cNvPr id="371" name="Oval 105"/>
              <p:cNvSpPr>
                <a:spLocks noChangeArrowheads="1"/>
              </p:cNvSpPr>
              <p:nvPr/>
            </p:nvSpPr>
            <p:spPr bwMode="auto">
              <a:xfrm>
                <a:off x="2448" y="699"/>
                <a:ext cx="375" cy="300"/>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sp>
            <p:nvSpPr>
              <p:cNvPr id="372" name="Freeform 106"/>
              <p:cNvSpPr>
                <a:spLocks/>
              </p:cNvSpPr>
              <p:nvPr/>
            </p:nvSpPr>
            <p:spPr bwMode="auto">
              <a:xfrm>
                <a:off x="2559" y="654"/>
                <a:ext cx="159" cy="216"/>
              </a:xfrm>
              <a:custGeom>
                <a:avLst/>
                <a:gdLst>
                  <a:gd name="T0" fmla="*/ 0 w 159"/>
                  <a:gd name="T1" fmla="*/ 18 h 216"/>
                  <a:gd name="T2" fmla="*/ 0 w 159"/>
                  <a:gd name="T3" fmla="*/ 180 h 216"/>
                  <a:gd name="T4" fmla="*/ 18 w 159"/>
                  <a:gd name="T5" fmla="*/ 204 h 216"/>
                  <a:gd name="T6" fmla="*/ 60 w 159"/>
                  <a:gd name="T7" fmla="*/ 216 h 216"/>
                  <a:gd name="T8" fmla="*/ 108 w 159"/>
                  <a:gd name="T9" fmla="*/ 210 h 216"/>
                  <a:gd name="T10" fmla="*/ 147 w 159"/>
                  <a:gd name="T11" fmla="*/ 189 h 216"/>
                  <a:gd name="T12" fmla="*/ 159 w 159"/>
                  <a:gd name="T13" fmla="*/ 165 h 216"/>
                  <a:gd name="T14" fmla="*/ 159 w 159"/>
                  <a:gd name="T15" fmla="*/ 0 h 216"/>
                  <a:gd name="T16" fmla="*/ 0 w 159"/>
                  <a:gd name="T17" fmla="*/ 18 h 2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216"/>
                  <a:gd name="T29" fmla="*/ 159 w 159"/>
                  <a:gd name="T30" fmla="*/ 216 h 2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216">
                    <a:moveTo>
                      <a:pt x="0" y="18"/>
                    </a:moveTo>
                    <a:lnTo>
                      <a:pt x="0" y="180"/>
                    </a:lnTo>
                    <a:lnTo>
                      <a:pt x="18" y="204"/>
                    </a:lnTo>
                    <a:lnTo>
                      <a:pt x="60" y="216"/>
                    </a:lnTo>
                    <a:lnTo>
                      <a:pt x="108" y="210"/>
                    </a:lnTo>
                    <a:lnTo>
                      <a:pt x="147" y="189"/>
                    </a:lnTo>
                    <a:lnTo>
                      <a:pt x="159" y="165"/>
                    </a:lnTo>
                    <a:lnTo>
                      <a:pt x="159" y="0"/>
                    </a:lnTo>
                    <a:lnTo>
                      <a:pt x="0" y="18"/>
                    </a:lnTo>
                    <a:close/>
                  </a:path>
                </a:pathLst>
              </a:custGeom>
              <a:solidFill>
                <a:srgbClr val="FF0000"/>
              </a:solidFill>
              <a:ln w="12700">
                <a:solidFill>
                  <a:schemeClr val="bg1"/>
                </a:solidFill>
                <a:round/>
                <a:headEnd/>
                <a:tailEnd/>
              </a:ln>
            </p:spPr>
            <p:txBody>
              <a:bodyPr wrap="none" lIns="0" tIns="0" rIns="0" bIns="0" anchor="ctr">
                <a:spAutoFit/>
              </a:bodyPr>
              <a:lstStyle/>
              <a:p>
                <a:endParaRPr lang="en-US"/>
              </a:p>
            </p:txBody>
          </p:sp>
          <p:sp>
            <p:nvSpPr>
              <p:cNvPr id="373" name="Line 107"/>
              <p:cNvSpPr>
                <a:spLocks noChangeShapeType="1"/>
              </p:cNvSpPr>
              <p:nvPr/>
            </p:nvSpPr>
            <p:spPr bwMode="auto">
              <a:xfrm>
                <a:off x="2637" y="999"/>
                <a:ext cx="0" cy="9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74" name="Freeform 108"/>
              <p:cNvSpPr>
                <a:spLocks/>
              </p:cNvSpPr>
              <p:nvPr/>
            </p:nvSpPr>
            <p:spPr bwMode="auto">
              <a:xfrm>
                <a:off x="2622" y="1032"/>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75" name="Freeform 109"/>
              <p:cNvSpPr>
                <a:spLocks/>
              </p:cNvSpPr>
              <p:nvPr/>
            </p:nvSpPr>
            <p:spPr bwMode="auto">
              <a:xfrm>
                <a:off x="2685" y="1113"/>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76" name="Freeform 110"/>
              <p:cNvSpPr>
                <a:spLocks/>
              </p:cNvSpPr>
              <p:nvPr/>
            </p:nvSpPr>
            <p:spPr bwMode="auto">
              <a:xfrm>
                <a:off x="2679" y="1396"/>
                <a:ext cx="417" cy="110"/>
              </a:xfrm>
              <a:custGeom>
                <a:avLst/>
                <a:gdLst>
                  <a:gd name="T0" fmla="*/ 0 w 417"/>
                  <a:gd name="T1" fmla="*/ 89 h 110"/>
                  <a:gd name="T2" fmla="*/ 63 w 417"/>
                  <a:gd name="T3" fmla="*/ 95 h 110"/>
                  <a:gd name="T4" fmla="*/ 123 w 417"/>
                  <a:gd name="T5" fmla="*/ 80 h 110"/>
                  <a:gd name="T6" fmla="*/ 171 w 417"/>
                  <a:gd name="T7" fmla="*/ 47 h 110"/>
                  <a:gd name="T8" fmla="*/ 198 w 417"/>
                  <a:gd name="T9" fmla="*/ 2 h 110"/>
                  <a:gd name="T10" fmla="*/ 216 w 417"/>
                  <a:gd name="T11" fmla="*/ 32 h 110"/>
                  <a:gd name="T12" fmla="*/ 258 w 417"/>
                  <a:gd name="T13" fmla="*/ 65 h 110"/>
                  <a:gd name="T14" fmla="*/ 291 w 417"/>
                  <a:gd name="T15" fmla="*/ 89 h 110"/>
                  <a:gd name="T16" fmla="*/ 342 w 417"/>
                  <a:gd name="T17" fmla="*/ 104 h 110"/>
                  <a:gd name="T18" fmla="*/ 417 w 417"/>
                  <a:gd name="T19" fmla="*/ 110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7"/>
                  <a:gd name="T31" fmla="*/ 0 h 110"/>
                  <a:gd name="T32" fmla="*/ 417 w 417"/>
                  <a:gd name="T33" fmla="*/ 110 h 1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7" h="110">
                    <a:moveTo>
                      <a:pt x="0" y="89"/>
                    </a:moveTo>
                    <a:cubicBezTo>
                      <a:pt x="21" y="92"/>
                      <a:pt x="43" y="96"/>
                      <a:pt x="63" y="95"/>
                    </a:cubicBezTo>
                    <a:cubicBezTo>
                      <a:pt x="83" y="94"/>
                      <a:pt x="105" y="88"/>
                      <a:pt x="123" y="80"/>
                    </a:cubicBezTo>
                    <a:cubicBezTo>
                      <a:pt x="141" y="72"/>
                      <a:pt x="159" y="60"/>
                      <a:pt x="171" y="47"/>
                    </a:cubicBezTo>
                    <a:cubicBezTo>
                      <a:pt x="183" y="34"/>
                      <a:pt x="191" y="4"/>
                      <a:pt x="198" y="2"/>
                    </a:cubicBezTo>
                    <a:cubicBezTo>
                      <a:pt x="205" y="0"/>
                      <a:pt x="206" y="21"/>
                      <a:pt x="216" y="32"/>
                    </a:cubicBezTo>
                    <a:cubicBezTo>
                      <a:pt x="226" y="43"/>
                      <a:pt x="246" y="56"/>
                      <a:pt x="258" y="65"/>
                    </a:cubicBezTo>
                    <a:cubicBezTo>
                      <a:pt x="270" y="74"/>
                      <a:pt x="277" y="83"/>
                      <a:pt x="291" y="89"/>
                    </a:cubicBezTo>
                    <a:cubicBezTo>
                      <a:pt x="305" y="95"/>
                      <a:pt x="321" y="100"/>
                      <a:pt x="342" y="104"/>
                    </a:cubicBezTo>
                    <a:cubicBezTo>
                      <a:pt x="363" y="108"/>
                      <a:pt x="390" y="109"/>
                      <a:pt x="417" y="11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77" name="Freeform 111"/>
              <p:cNvSpPr>
                <a:spLocks/>
              </p:cNvSpPr>
              <p:nvPr/>
            </p:nvSpPr>
            <p:spPr bwMode="auto">
              <a:xfrm>
                <a:off x="2577" y="939"/>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78" name="Oval 112"/>
              <p:cNvSpPr>
                <a:spLocks noChangeArrowheads="1"/>
              </p:cNvSpPr>
              <p:nvPr/>
            </p:nvSpPr>
            <p:spPr bwMode="auto">
              <a:xfrm>
                <a:off x="2502" y="507"/>
                <a:ext cx="276" cy="222"/>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grpSp>
      </p:grpSp>
      <p:sp>
        <p:nvSpPr>
          <p:cNvPr id="388" name="Line 3"/>
          <p:cNvSpPr>
            <a:spLocks noChangeShapeType="1"/>
          </p:cNvSpPr>
          <p:nvPr/>
        </p:nvSpPr>
        <p:spPr bwMode="auto">
          <a:xfrm>
            <a:off x="698499" y="2788292"/>
            <a:ext cx="6530966"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389" name="Group 2"/>
          <p:cNvGrpSpPr>
            <a:grpSpLocks/>
          </p:cNvGrpSpPr>
          <p:nvPr/>
        </p:nvGrpSpPr>
        <p:grpSpPr bwMode="auto">
          <a:xfrm>
            <a:off x="5942013" y="3345505"/>
            <a:ext cx="644525" cy="727075"/>
            <a:chOff x="3445" y="2543"/>
            <a:chExt cx="406" cy="458"/>
          </a:xfrm>
        </p:grpSpPr>
        <p:sp>
          <p:nvSpPr>
            <p:cNvPr id="390" name="AutoShape 3"/>
            <p:cNvSpPr>
              <a:spLocks noChangeArrowheads="1"/>
            </p:cNvSpPr>
            <p:nvPr/>
          </p:nvSpPr>
          <p:spPr bwMode="auto">
            <a:xfrm rot="10800000" flipH="1">
              <a:off x="3445" y="2543"/>
              <a:ext cx="406" cy="458"/>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391" name="Line 4"/>
            <p:cNvSpPr>
              <a:spLocks noChangeShapeType="1"/>
            </p:cNvSpPr>
            <p:nvPr/>
          </p:nvSpPr>
          <p:spPr bwMode="auto">
            <a:xfrm>
              <a:off x="3502" y="2736"/>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92" name="Line 5"/>
            <p:cNvSpPr>
              <a:spLocks noChangeShapeType="1"/>
            </p:cNvSpPr>
            <p:nvPr/>
          </p:nvSpPr>
          <p:spPr bwMode="auto">
            <a:xfrm>
              <a:off x="3502" y="2804"/>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93" name="Line 6"/>
            <p:cNvSpPr>
              <a:spLocks noChangeShapeType="1"/>
            </p:cNvSpPr>
            <p:nvPr/>
          </p:nvSpPr>
          <p:spPr bwMode="auto">
            <a:xfrm>
              <a:off x="3502" y="2871"/>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94" name="Line 7"/>
            <p:cNvSpPr>
              <a:spLocks noChangeShapeType="1"/>
            </p:cNvSpPr>
            <p:nvPr/>
          </p:nvSpPr>
          <p:spPr bwMode="auto">
            <a:xfrm>
              <a:off x="3502" y="2937"/>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95" name="Freeform 8"/>
            <p:cNvSpPr>
              <a:spLocks/>
            </p:cNvSpPr>
            <p:nvPr/>
          </p:nvSpPr>
          <p:spPr bwMode="auto">
            <a:xfrm>
              <a:off x="3498" y="2568"/>
              <a:ext cx="293" cy="132"/>
            </a:xfrm>
            <a:custGeom>
              <a:avLst/>
              <a:gdLst>
                <a:gd name="T0" fmla="*/ 0 w 609"/>
                <a:gd name="T1" fmla="*/ 11 h 275"/>
                <a:gd name="T2" fmla="*/ 3 w 609"/>
                <a:gd name="T3" fmla="*/ 4 h 275"/>
                <a:gd name="T4" fmla="*/ 4 w 609"/>
                <a:gd name="T5" fmla="*/ 14 h 275"/>
                <a:gd name="T6" fmla="*/ 5 w 609"/>
                <a:gd name="T7" fmla="*/ 7 h 275"/>
                <a:gd name="T8" fmla="*/ 8 w 609"/>
                <a:gd name="T9" fmla="*/ 13 h 275"/>
                <a:gd name="T10" fmla="*/ 9 w 609"/>
                <a:gd name="T11" fmla="*/ 0 h 275"/>
                <a:gd name="T12" fmla="*/ 11 w 609"/>
                <a:gd name="T13" fmla="*/ 8 h 275"/>
                <a:gd name="T14" fmla="*/ 16 w 609"/>
                <a:gd name="T15" fmla="*/ 7 h 275"/>
                <a:gd name="T16" fmla="*/ 17 w 609"/>
                <a:gd name="T17" fmla="*/ 12 h 275"/>
                <a:gd name="T18" fmla="*/ 20 w 609"/>
                <a:gd name="T19" fmla="*/ 10 h 275"/>
                <a:gd name="T20" fmla="*/ 25 w 609"/>
                <a:gd name="T21" fmla="*/ 9 h 275"/>
                <a:gd name="T22" fmla="*/ 29 w 609"/>
                <a:gd name="T23" fmla="*/ 12 h 275"/>
                <a:gd name="T24" fmla="*/ 33 w 609"/>
                <a:gd name="T25" fmla="*/ 11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396" name="Group 9"/>
          <p:cNvGrpSpPr>
            <a:grpSpLocks/>
          </p:cNvGrpSpPr>
          <p:nvPr/>
        </p:nvGrpSpPr>
        <p:grpSpPr bwMode="auto">
          <a:xfrm>
            <a:off x="6132513" y="3726505"/>
            <a:ext cx="644525" cy="727075"/>
            <a:chOff x="3541" y="2795"/>
            <a:chExt cx="406" cy="458"/>
          </a:xfrm>
        </p:grpSpPr>
        <p:sp>
          <p:nvSpPr>
            <p:cNvPr id="397" name="AutoShape 10"/>
            <p:cNvSpPr>
              <a:spLocks noChangeArrowheads="1"/>
            </p:cNvSpPr>
            <p:nvPr/>
          </p:nvSpPr>
          <p:spPr bwMode="auto">
            <a:xfrm rot="10800000" flipH="1">
              <a:off x="3541" y="2795"/>
              <a:ext cx="406" cy="458"/>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398" name="Line 11"/>
            <p:cNvSpPr>
              <a:spLocks noChangeShapeType="1"/>
            </p:cNvSpPr>
            <p:nvPr/>
          </p:nvSpPr>
          <p:spPr bwMode="auto">
            <a:xfrm>
              <a:off x="3598" y="2988"/>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99" name="Line 12"/>
            <p:cNvSpPr>
              <a:spLocks noChangeShapeType="1"/>
            </p:cNvSpPr>
            <p:nvPr/>
          </p:nvSpPr>
          <p:spPr bwMode="auto">
            <a:xfrm>
              <a:off x="3598" y="3056"/>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00" name="Line 13"/>
            <p:cNvSpPr>
              <a:spLocks noChangeShapeType="1"/>
            </p:cNvSpPr>
            <p:nvPr/>
          </p:nvSpPr>
          <p:spPr bwMode="auto">
            <a:xfrm>
              <a:off x="3598" y="3123"/>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01" name="Line 14"/>
            <p:cNvSpPr>
              <a:spLocks noChangeShapeType="1"/>
            </p:cNvSpPr>
            <p:nvPr/>
          </p:nvSpPr>
          <p:spPr bwMode="auto">
            <a:xfrm>
              <a:off x="3598" y="3189"/>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02" name="Freeform 15"/>
            <p:cNvSpPr>
              <a:spLocks/>
            </p:cNvSpPr>
            <p:nvPr/>
          </p:nvSpPr>
          <p:spPr bwMode="auto">
            <a:xfrm>
              <a:off x="3594" y="2820"/>
              <a:ext cx="293" cy="132"/>
            </a:xfrm>
            <a:custGeom>
              <a:avLst/>
              <a:gdLst>
                <a:gd name="T0" fmla="*/ 0 w 609"/>
                <a:gd name="T1" fmla="*/ 11 h 275"/>
                <a:gd name="T2" fmla="*/ 3 w 609"/>
                <a:gd name="T3" fmla="*/ 4 h 275"/>
                <a:gd name="T4" fmla="*/ 4 w 609"/>
                <a:gd name="T5" fmla="*/ 14 h 275"/>
                <a:gd name="T6" fmla="*/ 5 w 609"/>
                <a:gd name="T7" fmla="*/ 7 h 275"/>
                <a:gd name="T8" fmla="*/ 8 w 609"/>
                <a:gd name="T9" fmla="*/ 13 h 275"/>
                <a:gd name="T10" fmla="*/ 9 w 609"/>
                <a:gd name="T11" fmla="*/ 0 h 275"/>
                <a:gd name="T12" fmla="*/ 11 w 609"/>
                <a:gd name="T13" fmla="*/ 8 h 275"/>
                <a:gd name="T14" fmla="*/ 16 w 609"/>
                <a:gd name="T15" fmla="*/ 7 h 275"/>
                <a:gd name="T16" fmla="*/ 17 w 609"/>
                <a:gd name="T17" fmla="*/ 12 h 275"/>
                <a:gd name="T18" fmla="*/ 20 w 609"/>
                <a:gd name="T19" fmla="*/ 10 h 275"/>
                <a:gd name="T20" fmla="*/ 25 w 609"/>
                <a:gd name="T21" fmla="*/ 9 h 275"/>
                <a:gd name="T22" fmla="*/ 29 w 609"/>
                <a:gd name="T23" fmla="*/ 12 h 275"/>
                <a:gd name="T24" fmla="*/ 33 w 609"/>
                <a:gd name="T25" fmla="*/ 11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403" name="Text Box 67"/>
          <p:cNvSpPr txBox="1">
            <a:spLocks noChangeArrowheads="1"/>
          </p:cNvSpPr>
          <p:nvPr/>
        </p:nvSpPr>
        <p:spPr bwMode="auto">
          <a:xfrm>
            <a:off x="5745163" y="3007367"/>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a:t>document</a:t>
            </a:r>
          </a:p>
        </p:txBody>
      </p:sp>
      <p:sp>
        <p:nvSpPr>
          <p:cNvPr id="404" name="Line 85"/>
          <p:cNvSpPr>
            <a:spLocks noChangeShapeType="1"/>
          </p:cNvSpPr>
          <p:nvPr/>
        </p:nvSpPr>
        <p:spPr bwMode="auto">
          <a:xfrm>
            <a:off x="6065838" y="2770830"/>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05" name="Line 3"/>
          <p:cNvSpPr>
            <a:spLocks noChangeShapeType="1"/>
          </p:cNvSpPr>
          <p:nvPr/>
        </p:nvSpPr>
        <p:spPr bwMode="auto">
          <a:xfrm>
            <a:off x="698499" y="2788292"/>
            <a:ext cx="5367339"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406" name="Group 39"/>
          <p:cNvGrpSpPr>
            <a:grpSpLocks/>
          </p:cNvGrpSpPr>
          <p:nvPr/>
        </p:nvGrpSpPr>
        <p:grpSpPr bwMode="auto">
          <a:xfrm>
            <a:off x="4759325" y="3345505"/>
            <a:ext cx="620713" cy="788987"/>
            <a:chOff x="2401" y="425"/>
            <a:chExt cx="907" cy="1154"/>
          </a:xfrm>
        </p:grpSpPr>
        <p:sp>
          <p:nvSpPr>
            <p:cNvPr id="407" name="Rectangle 40"/>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408" name="Line 41"/>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9" name="Line 42"/>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0" name="Rectangle 43"/>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411" name="Freeform 44"/>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412" name="Line 45"/>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413" name="Text Box 61"/>
          <p:cNvSpPr txBox="1">
            <a:spLocks noChangeArrowheads="1"/>
          </p:cNvSpPr>
          <p:nvPr/>
        </p:nvSpPr>
        <p:spPr bwMode="auto">
          <a:xfrm>
            <a:off x="4664075" y="3007367"/>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a:t>activity</a:t>
            </a:r>
          </a:p>
        </p:txBody>
      </p:sp>
      <p:grpSp>
        <p:nvGrpSpPr>
          <p:cNvPr id="414" name="Group 63"/>
          <p:cNvGrpSpPr>
            <a:grpSpLocks/>
          </p:cNvGrpSpPr>
          <p:nvPr/>
        </p:nvGrpSpPr>
        <p:grpSpPr bwMode="auto">
          <a:xfrm>
            <a:off x="4918075" y="3747142"/>
            <a:ext cx="620713" cy="788988"/>
            <a:chOff x="2401" y="425"/>
            <a:chExt cx="907" cy="1154"/>
          </a:xfrm>
        </p:grpSpPr>
        <p:sp>
          <p:nvSpPr>
            <p:cNvPr id="415" name="Rectangle 64"/>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416" name="Line 65"/>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7" name="Line 66"/>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8" name="Rectangle 67"/>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419" name="Freeform 68"/>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420" name="Line 69"/>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421" name="Group 73"/>
          <p:cNvGrpSpPr>
            <a:grpSpLocks/>
          </p:cNvGrpSpPr>
          <p:nvPr/>
        </p:nvGrpSpPr>
        <p:grpSpPr bwMode="auto">
          <a:xfrm>
            <a:off x="3851275" y="3353442"/>
            <a:ext cx="781050" cy="776288"/>
            <a:chOff x="3360" y="800"/>
            <a:chExt cx="620" cy="616"/>
          </a:xfrm>
        </p:grpSpPr>
        <p:sp>
          <p:nvSpPr>
            <p:cNvPr id="422" name="AutoShape 74"/>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423" name="Freeform 75"/>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424" name="Group 76"/>
            <p:cNvGrpSpPr>
              <a:grpSpLocks/>
            </p:cNvGrpSpPr>
            <p:nvPr/>
          </p:nvGrpSpPr>
          <p:grpSpPr bwMode="auto">
            <a:xfrm flipH="1">
              <a:off x="3749" y="1171"/>
              <a:ext cx="212" cy="213"/>
              <a:chOff x="1350" y="686"/>
              <a:chExt cx="1132" cy="1132"/>
            </a:xfrm>
          </p:grpSpPr>
          <p:sp>
            <p:nvSpPr>
              <p:cNvPr id="426" name="AutoShape 7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427" name="Picture 78"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25" name="Picture 79"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28" name="Text Box 80"/>
          <p:cNvSpPr txBox="1">
            <a:spLocks noChangeArrowheads="1"/>
          </p:cNvSpPr>
          <p:nvPr/>
        </p:nvSpPr>
        <p:spPr bwMode="auto">
          <a:xfrm>
            <a:off x="3650082" y="3007367"/>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a:t>exposure</a:t>
            </a:r>
          </a:p>
        </p:txBody>
      </p:sp>
      <p:grpSp>
        <p:nvGrpSpPr>
          <p:cNvPr id="429" name="Group 81"/>
          <p:cNvGrpSpPr>
            <a:grpSpLocks/>
          </p:cNvGrpSpPr>
          <p:nvPr/>
        </p:nvGrpSpPr>
        <p:grpSpPr bwMode="auto">
          <a:xfrm>
            <a:off x="3851275" y="4221805"/>
            <a:ext cx="781050" cy="776287"/>
            <a:chOff x="3360" y="800"/>
            <a:chExt cx="620" cy="616"/>
          </a:xfrm>
        </p:grpSpPr>
        <p:sp>
          <p:nvSpPr>
            <p:cNvPr id="430" name="AutoShape 82"/>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431" name="Freeform 83"/>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432" name="Group 84"/>
            <p:cNvGrpSpPr>
              <a:grpSpLocks/>
            </p:cNvGrpSpPr>
            <p:nvPr/>
          </p:nvGrpSpPr>
          <p:grpSpPr bwMode="auto">
            <a:xfrm flipH="1">
              <a:off x="3749" y="1171"/>
              <a:ext cx="212" cy="213"/>
              <a:chOff x="1350" y="686"/>
              <a:chExt cx="1132" cy="1132"/>
            </a:xfrm>
          </p:grpSpPr>
          <p:sp>
            <p:nvSpPr>
              <p:cNvPr id="434" name="AutoShape 85"/>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435" name="Picture 86"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33" name="Picture 87"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36" name="Group 88"/>
          <p:cNvGrpSpPr>
            <a:grpSpLocks/>
          </p:cNvGrpSpPr>
          <p:nvPr/>
        </p:nvGrpSpPr>
        <p:grpSpPr bwMode="auto">
          <a:xfrm>
            <a:off x="3851275" y="5091755"/>
            <a:ext cx="781050" cy="776287"/>
            <a:chOff x="3360" y="800"/>
            <a:chExt cx="620" cy="616"/>
          </a:xfrm>
        </p:grpSpPr>
        <p:sp>
          <p:nvSpPr>
            <p:cNvPr id="437" name="AutoShape 8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438" name="Freeform 90"/>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439" name="Group 91"/>
            <p:cNvGrpSpPr>
              <a:grpSpLocks/>
            </p:cNvGrpSpPr>
            <p:nvPr/>
          </p:nvGrpSpPr>
          <p:grpSpPr bwMode="auto">
            <a:xfrm flipH="1">
              <a:off x="3749" y="1171"/>
              <a:ext cx="212" cy="213"/>
              <a:chOff x="1350" y="686"/>
              <a:chExt cx="1132" cy="1132"/>
            </a:xfrm>
          </p:grpSpPr>
          <p:sp>
            <p:nvSpPr>
              <p:cNvPr id="441" name="AutoShape 9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442" name="Picture 93"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40" name="Picture 94"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43" name="Line 70"/>
          <p:cNvSpPr>
            <a:spLocks noChangeShapeType="1"/>
          </p:cNvSpPr>
          <p:nvPr/>
        </p:nvSpPr>
        <p:spPr bwMode="auto">
          <a:xfrm flipH="1" flipV="1">
            <a:off x="2499095" y="5574248"/>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444" name="Line 70"/>
          <p:cNvSpPr>
            <a:spLocks noChangeShapeType="1"/>
          </p:cNvSpPr>
          <p:nvPr/>
        </p:nvSpPr>
        <p:spPr bwMode="auto">
          <a:xfrm flipH="1" flipV="1">
            <a:off x="2499095" y="4713923"/>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445" name="Text Box 52"/>
          <p:cNvSpPr txBox="1">
            <a:spLocks noChangeArrowheads="1"/>
          </p:cNvSpPr>
          <p:nvPr/>
        </p:nvSpPr>
        <p:spPr bwMode="auto">
          <a:xfrm>
            <a:off x="247650" y="3007367"/>
            <a:ext cx="9588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contact</a:t>
            </a:r>
          </a:p>
        </p:txBody>
      </p:sp>
      <p:sp>
        <p:nvSpPr>
          <p:cNvPr id="446" name="Text Box 80"/>
          <p:cNvSpPr txBox="1">
            <a:spLocks noChangeArrowheads="1"/>
          </p:cNvSpPr>
          <p:nvPr/>
        </p:nvSpPr>
        <p:spPr bwMode="auto">
          <a:xfrm>
            <a:off x="2553361" y="3007367"/>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a:t>s</a:t>
            </a:r>
            <a:r>
              <a:rPr lang="en-US" sz="1800" b="1" dirty="0" smtClean="0"/>
              <a:t>ervice</a:t>
            </a:r>
            <a:endParaRPr lang="en-US" sz="1800" b="1" dirty="0"/>
          </a:p>
        </p:txBody>
      </p:sp>
      <p:grpSp>
        <p:nvGrpSpPr>
          <p:cNvPr id="447" name="Group 48"/>
          <p:cNvGrpSpPr>
            <a:grpSpLocks/>
          </p:cNvGrpSpPr>
          <p:nvPr/>
        </p:nvGrpSpPr>
        <p:grpSpPr bwMode="auto">
          <a:xfrm>
            <a:off x="346123" y="3264746"/>
            <a:ext cx="651326" cy="651327"/>
            <a:chOff x="1350" y="686"/>
            <a:chExt cx="1132" cy="1132"/>
          </a:xfrm>
        </p:grpSpPr>
        <p:sp>
          <p:nvSpPr>
            <p:cNvPr id="448" name="AutoShape 4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449" name="Picture 50"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50" name="Group 53"/>
          <p:cNvGrpSpPr>
            <a:grpSpLocks/>
          </p:cNvGrpSpPr>
          <p:nvPr/>
        </p:nvGrpSpPr>
        <p:grpSpPr bwMode="auto">
          <a:xfrm>
            <a:off x="333569" y="3803964"/>
            <a:ext cx="805498" cy="730318"/>
            <a:chOff x="2780" y="1585"/>
            <a:chExt cx="668" cy="605"/>
          </a:xfrm>
        </p:grpSpPr>
        <p:sp>
          <p:nvSpPr>
            <p:cNvPr id="451" name="AutoShape 54"/>
            <p:cNvSpPr>
              <a:spLocks noChangeArrowheads="1"/>
            </p:cNvSpPr>
            <p:nvPr/>
          </p:nvSpPr>
          <p:spPr bwMode="auto">
            <a:xfrm>
              <a:off x="2780" y="1585"/>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grpSp>
          <p:nvGrpSpPr>
            <p:cNvPr id="452" name="Group 55"/>
            <p:cNvGrpSpPr>
              <a:grpSpLocks/>
            </p:cNvGrpSpPr>
            <p:nvPr/>
          </p:nvGrpSpPr>
          <p:grpSpPr bwMode="auto">
            <a:xfrm flipH="1">
              <a:off x="3089" y="1738"/>
              <a:ext cx="359" cy="452"/>
              <a:chOff x="4325" y="1984"/>
              <a:chExt cx="359" cy="452"/>
            </a:xfrm>
          </p:grpSpPr>
          <p:sp>
            <p:nvSpPr>
              <p:cNvPr id="453" name="Freeform 56"/>
              <p:cNvSpPr>
                <a:spLocks/>
              </p:cNvSpPr>
              <p:nvPr/>
            </p:nvSpPr>
            <p:spPr bwMode="auto">
              <a:xfrm>
                <a:off x="4325" y="1984"/>
                <a:ext cx="359" cy="452"/>
              </a:xfrm>
              <a:custGeom>
                <a:avLst/>
                <a:gdLst>
                  <a:gd name="T0" fmla="*/ 36 w 717"/>
                  <a:gd name="T1" fmla="*/ 37 h 906"/>
                  <a:gd name="T2" fmla="*/ 31 w 717"/>
                  <a:gd name="T3" fmla="*/ 41 h 906"/>
                  <a:gd name="T4" fmla="*/ 19 w 717"/>
                  <a:gd name="T5" fmla="*/ 25 h 906"/>
                  <a:gd name="T6" fmla="*/ 23 w 717"/>
                  <a:gd name="T7" fmla="*/ 22 h 906"/>
                  <a:gd name="T8" fmla="*/ 12 w 717"/>
                  <a:gd name="T9" fmla="*/ 8 h 906"/>
                  <a:gd name="T10" fmla="*/ 10 w 717"/>
                  <a:gd name="T11" fmla="*/ 10 h 906"/>
                  <a:gd name="T12" fmla="*/ 3 w 717"/>
                  <a:gd name="T13" fmla="*/ 0 h 906"/>
                  <a:gd name="T14" fmla="*/ 2 w 717"/>
                  <a:gd name="T15" fmla="*/ 0 h 906"/>
                  <a:gd name="T16" fmla="*/ 2 w 717"/>
                  <a:gd name="T17" fmla="*/ 0 h 906"/>
                  <a:gd name="T18" fmla="*/ 1 w 717"/>
                  <a:gd name="T19" fmla="*/ 0 h 906"/>
                  <a:gd name="T20" fmla="*/ 1 w 717"/>
                  <a:gd name="T21" fmla="*/ 0 h 906"/>
                  <a:gd name="T22" fmla="*/ 1 w 717"/>
                  <a:gd name="T23" fmla="*/ 0 h 906"/>
                  <a:gd name="T24" fmla="*/ 0 w 717"/>
                  <a:gd name="T25" fmla="*/ 0 h 906"/>
                  <a:gd name="T26" fmla="*/ 0 w 717"/>
                  <a:gd name="T27" fmla="*/ 1 h 906"/>
                  <a:gd name="T28" fmla="*/ 1 w 717"/>
                  <a:gd name="T29" fmla="*/ 1 h 906"/>
                  <a:gd name="T30" fmla="*/ 8 w 717"/>
                  <a:gd name="T31" fmla="*/ 11 h 906"/>
                  <a:gd name="T32" fmla="*/ 5 w 717"/>
                  <a:gd name="T33" fmla="*/ 13 h 906"/>
                  <a:gd name="T34" fmla="*/ 5 w 717"/>
                  <a:gd name="T35" fmla="*/ 14 h 906"/>
                  <a:gd name="T36" fmla="*/ 5 w 717"/>
                  <a:gd name="T37" fmla="*/ 14 h 906"/>
                  <a:gd name="T38" fmla="*/ 5 w 717"/>
                  <a:gd name="T39" fmla="*/ 15 h 906"/>
                  <a:gd name="T40" fmla="*/ 5 w 717"/>
                  <a:gd name="T41" fmla="*/ 16 h 906"/>
                  <a:gd name="T42" fmla="*/ 5 w 717"/>
                  <a:gd name="T43" fmla="*/ 18 h 906"/>
                  <a:gd name="T44" fmla="*/ 6 w 717"/>
                  <a:gd name="T45" fmla="*/ 20 h 906"/>
                  <a:gd name="T46" fmla="*/ 6 w 717"/>
                  <a:gd name="T47" fmla="*/ 23 h 906"/>
                  <a:gd name="T48" fmla="*/ 7 w 717"/>
                  <a:gd name="T49" fmla="*/ 26 h 906"/>
                  <a:gd name="T50" fmla="*/ 9 w 717"/>
                  <a:gd name="T51" fmla="*/ 29 h 906"/>
                  <a:gd name="T52" fmla="*/ 10 w 717"/>
                  <a:gd name="T53" fmla="*/ 32 h 906"/>
                  <a:gd name="T54" fmla="*/ 12 w 717"/>
                  <a:gd name="T55" fmla="*/ 35 h 906"/>
                  <a:gd name="T56" fmla="*/ 15 w 717"/>
                  <a:gd name="T57" fmla="*/ 39 h 906"/>
                  <a:gd name="T58" fmla="*/ 18 w 717"/>
                  <a:gd name="T59" fmla="*/ 42 h 906"/>
                  <a:gd name="T60" fmla="*/ 22 w 717"/>
                  <a:gd name="T61" fmla="*/ 46 h 906"/>
                  <a:gd name="T62" fmla="*/ 26 w 717"/>
                  <a:gd name="T63" fmla="*/ 49 h 906"/>
                  <a:gd name="T64" fmla="*/ 31 w 717"/>
                  <a:gd name="T65" fmla="*/ 53 h 906"/>
                  <a:gd name="T66" fmla="*/ 36 w 717"/>
                  <a:gd name="T67" fmla="*/ 56 h 906"/>
                  <a:gd name="T68" fmla="*/ 37 w 717"/>
                  <a:gd name="T69" fmla="*/ 56 h 906"/>
                  <a:gd name="T70" fmla="*/ 45 w 717"/>
                  <a:gd name="T71" fmla="*/ 50 h 906"/>
                  <a:gd name="T72" fmla="*/ 36 w 717"/>
                  <a:gd name="T73" fmla="*/ 37 h 90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17"/>
                  <a:gd name="T112" fmla="*/ 0 h 906"/>
                  <a:gd name="T113" fmla="*/ 717 w 717"/>
                  <a:gd name="T114" fmla="*/ 906 h 90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17" h="906">
                    <a:moveTo>
                      <a:pt x="568" y="604"/>
                    </a:moveTo>
                    <a:lnTo>
                      <a:pt x="488" y="663"/>
                    </a:lnTo>
                    <a:lnTo>
                      <a:pt x="302" y="411"/>
                    </a:lnTo>
                    <a:lnTo>
                      <a:pt x="362" y="367"/>
                    </a:lnTo>
                    <a:lnTo>
                      <a:pt x="189" y="133"/>
                    </a:lnTo>
                    <a:lnTo>
                      <a:pt x="148" y="164"/>
                    </a:lnTo>
                    <a:lnTo>
                      <a:pt x="33" y="7"/>
                    </a:lnTo>
                    <a:lnTo>
                      <a:pt x="27" y="3"/>
                    </a:lnTo>
                    <a:lnTo>
                      <a:pt x="21" y="0"/>
                    </a:lnTo>
                    <a:lnTo>
                      <a:pt x="14" y="0"/>
                    </a:lnTo>
                    <a:lnTo>
                      <a:pt x="7" y="4"/>
                    </a:lnTo>
                    <a:lnTo>
                      <a:pt x="3" y="10"/>
                    </a:lnTo>
                    <a:lnTo>
                      <a:pt x="0" y="15"/>
                    </a:lnTo>
                    <a:lnTo>
                      <a:pt x="0" y="22"/>
                    </a:lnTo>
                    <a:lnTo>
                      <a:pt x="4" y="29"/>
                    </a:lnTo>
                    <a:lnTo>
                      <a:pt x="119" y="185"/>
                    </a:lnTo>
                    <a:lnTo>
                      <a:pt x="71" y="220"/>
                    </a:lnTo>
                    <a:lnTo>
                      <a:pt x="71" y="229"/>
                    </a:lnTo>
                    <a:lnTo>
                      <a:pt x="71" y="234"/>
                    </a:lnTo>
                    <a:lnTo>
                      <a:pt x="72" y="248"/>
                    </a:lnTo>
                    <a:lnTo>
                      <a:pt x="74" y="270"/>
                    </a:lnTo>
                    <a:lnTo>
                      <a:pt x="79" y="299"/>
                    </a:lnTo>
                    <a:lnTo>
                      <a:pt x="86" y="335"/>
                    </a:lnTo>
                    <a:lnTo>
                      <a:pt x="96" y="375"/>
                    </a:lnTo>
                    <a:lnTo>
                      <a:pt x="112" y="420"/>
                    </a:lnTo>
                    <a:lnTo>
                      <a:pt x="133" y="468"/>
                    </a:lnTo>
                    <a:lnTo>
                      <a:pt x="158" y="520"/>
                    </a:lnTo>
                    <a:lnTo>
                      <a:pt x="192" y="575"/>
                    </a:lnTo>
                    <a:lnTo>
                      <a:pt x="232" y="631"/>
                    </a:lnTo>
                    <a:lnTo>
                      <a:pt x="280" y="687"/>
                    </a:lnTo>
                    <a:lnTo>
                      <a:pt x="338" y="742"/>
                    </a:lnTo>
                    <a:lnTo>
                      <a:pt x="405" y="798"/>
                    </a:lnTo>
                    <a:lnTo>
                      <a:pt x="482" y="851"/>
                    </a:lnTo>
                    <a:lnTo>
                      <a:pt x="571" y="901"/>
                    </a:lnTo>
                    <a:lnTo>
                      <a:pt x="580" y="906"/>
                    </a:lnTo>
                    <a:lnTo>
                      <a:pt x="717" y="806"/>
                    </a:lnTo>
                    <a:lnTo>
                      <a:pt x="568" y="6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4" name="Freeform 57"/>
              <p:cNvSpPr>
                <a:spLocks/>
              </p:cNvSpPr>
              <p:nvPr/>
            </p:nvSpPr>
            <p:spPr bwMode="auto">
              <a:xfrm>
                <a:off x="4378" y="2075"/>
                <a:ext cx="281" cy="341"/>
              </a:xfrm>
              <a:custGeom>
                <a:avLst/>
                <a:gdLst>
                  <a:gd name="T0" fmla="*/ 29 w 562"/>
                  <a:gd name="T1" fmla="*/ 43 h 682"/>
                  <a:gd name="T2" fmla="*/ 24 w 562"/>
                  <a:gd name="T3" fmla="*/ 40 h 682"/>
                  <a:gd name="T4" fmla="*/ 20 w 562"/>
                  <a:gd name="T5" fmla="*/ 37 h 682"/>
                  <a:gd name="T6" fmla="*/ 17 w 562"/>
                  <a:gd name="T7" fmla="*/ 34 h 682"/>
                  <a:gd name="T8" fmla="*/ 13 w 562"/>
                  <a:gd name="T9" fmla="*/ 31 h 682"/>
                  <a:gd name="T10" fmla="*/ 10 w 562"/>
                  <a:gd name="T11" fmla="*/ 27 h 682"/>
                  <a:gd name="T12" fmla="*/ 9 w 562"/>
                  <a:gd name="T13" fmla="*/ 24 h 682"/>
                  <a:gd name="T14" fmla="*/ 6 w 562"/>
                  <a:gd name="T15" fmla="*/ 21 h 682"/>
                  <a:gd name="T16" fmla="*/ 4 w 562"/>
                  <a:gd name="T17" fmla="*/ 20 h 682"/>
                  <a:gd name="T18" fmla="*/ 3 w 562"/>
                  <a:gd name="T19" fmla="*/ 17 h 682"/>
                  <a:gd name="T20" fmla="*/ 2 w 562"/>
                  <a:gd name="T21" fmla="*/ 13 h 682"/>
                  <a:gd name="T22" fmla="*/ 1 w 562"/>
                  <a:gd name="T23" fmla="*/ 11 h 682"/>
                  <a:gd name="T24" fmla="*/ 1 w 562"/>
                  <a:gd name="T25" fmla="*/ 10 h 682"/>
                  <a:gd name="T26" fmla="*/ 1 w 562"/>
                  <a:gd name="T27" fmla="*/ 7 h 682"/>
                  <a:gd name="T28" fmla="*/ 1 w 562"/>
                  <a:gd name="T29" fmla="*/ 5 h 682"/>
                  <a:gd name="T30" fmla="*/ 1 w 562"/>
                  <a:gd name="T31" fmla="*/ 5 h 682"/>
                  <a:gd name="T32" fmla="*/ 0 w 562"/>
                  <a:gd name="T33" fmla="*/ 3 h 682"/>
                  <a:gd name="T34" fmla="*/ 4 w 562"/>
                  <a:gd name="T35" fmla="*/ 0 h 682"/>
                  <a:gd name="T36" fmla="*/ 12 w 562"/>
                  <a:gd name="T37" fmla="*/ 11 h 682"/>
                  <a:gd name="T38" fmla="*/ 9 w 562"/>
                  <a:gd name="T39" fmla="*/ 13 h 682"/>
                  <a:gd name="T40" fmla="*/ 23 w 562"/>
                  <a:gd name="T41" fmla="*/ 34 h 682"/>
                  <a:gd name="T42" fmla="*/ 28 w 562"/>
                  <a:gd name="T43" fmla="*/ 29 h 682"/>
                  <a:gd name="T44" fmla="*/ 35 w 562"/>
                  <a:gd name="T45" fmla="*/ 39 h 682"/>
                  <a:gd name="T46" fmla="*/ 29 w 562"/>
                  <a:gd name="T47" fmla="*/ 43 h 6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2"/>
                  <a:gd name="T73" fmla="*/ 0 h 682"/>
                  <a:gd name="T74" fmla="*/ 562 w 562"/>
                  <a:gd name="T75" fmla="*/ 682 h 68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2" h="682">
                    <a:moveTo>
                      <a:pt x="472" y="682"/>
                    </a:moveTo>
                    <a:lnTo>
                      <a:pt x="394" y="637"/>
                    </a:lnTo>
                    <a:lnTo>
                      <a:pt x="328" y="591"/>
                    </a:lnTo>
                    <a:lnTo>
                      <a:pt x="268" y="544"/>
                    </a:lnTo>
                    <a:lnTo>
                      <a:pt x="216" y="496"/>
                    </a:lnTo>
                    <a:lnTo>
                      <a:pt x="171" y="446"/>
                    </a:lnTo>
                    <a:lnTo>
                      <a:pt x="133" y="398"/>
                    </a:lnTo>
                    <a:lnTo>
                      <a:pt x="101" y="351"/>
                    </a:lnTo>
                    <a:lnTo>
                      <a:pt x="75" y="305"/>
                    </a:lnTo>
                    <a:lnTo>
                      <a:pt x="53" y="260"/>
                    </a:lnTo>
                    <a:lnTo>
                      <a:pt x="37" y="218"/>
                    </a:lnTo>
                    <a:lnTo>
                      <a:pt x="23" y="180"/>
                    </a:lnTo>
                    <a:lnTo>
                      <a:pt x="14" y="146"/>
                    </a:lnTo>
                    <a:lnTo>
                      <a:pt x="8" y="116"/>
                    </a:lnTo>
                    <a:lnTo>
                      <a:pt x="4" y="90"/>
                    </a:lnTo>
                    <a:lnTo>
                      <a:pt x="1" y="70"/>
                    </a:lnTo>
                    <a:lnTo>
                      <a:pt x="0" y="56"/>
                    </a:lnTo>
                    <a:lnTo>
                      <a:pt x="76" y="0"/>
                    </a:lnTo>
                    <a:lnTo>
                      <a:pt x="205" y="178"/>
                    </a:lnTo>
                    <a:lnTo>
                      <a:pt x="147" y="222"/>
                    </a:lnTo>
                    <a:lnTo>
                      <a:pt x="374" y="532"/>
                    </a:lnTo>
                    <a:lnTo>
                      <a:pt x="456" y="472"/>
                    </a:lnTo>
                    <a:lnTo>
                      <a:pt x="562" y="616"/>
                    </a:lnTo>
                    <a:lnTo>
                      <a:pt x="472" y="682"/>
                    </a:lnTo>
                    <a:close/>
                  </a:path>
                </a:pathLst>
              </a:custGeom>
              <a:solidFill>
                <a:srgbClr val="D39E5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455" name="Group 58"/>
          <p:cNvGrpSpPr>
            <a:grpSpLocks/>
          </p:cNvGrpSpPr>
          <p:nvPr/>
        </p:nvGrpSpPr>
        <p:grpSpPr bwMode="auto">
          <a:xfrm>
            <a:off x="239790" y="4327362"/>
            <a:ext cx="782501" cy="775661"/>
            <a:chOff x="2461" y="1618"/>
            <a:chExt cx="635" cy="629"/>
          </a:xfrm>
        </p:grpSpPr>
        <p:sp>
          <p:nvSpPr>
            <p:cNvPr id="456" name="AutoShape 59"/>
            <p:cNvSpPr>
              <a:spLocks noChangeArrowheads="1"/>
            </p:cNvSpPr>
            <p:nvPr/>
          </p:nvSpPr>
          <p:spPr bwMode="auto">
            <a:xfrm>
              <a:off x="2538" y="1689"/>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sp>
          <p:nvSpPr>
            <p:cNvPr id="457" name="Freeform 60"/>
            <p:cNvSpPr>
              <a:spLocks/>
            </p:cNvSpPr>
            <p:nvPr/>
          </p:nvSpPr>
          <p:spPr bwMode="auto">
            <a:xfrm>
              <a:off x="2676" y="1758"/>
              <a:ext cx="381" cy="69"/>
            </a:xfrm>
            <a:custGeom>
              <a:avLst/>
              <a:gdLst>
                <a:gd name="T0" fmla="*/ 18 w 381"/>
                <a:gd name="T1" fmla="*/ 0 h 69"/>
                <a:gd name="T2" fmla="*/ 327 w 381"/>
                <a:gd name="T3" fmla="*/ 0 h 69"/>
                <a:gd name="T4" fmla="*/ 381 w 381"/>
                <a:gd name="T5" fmla="*/ 69 h 69"/>
                <a:gd name="T6" fmla="*/ 0 w 381"/>
                <a:gd name="T7" fmla="*/ 69 h 69"/>
                <a:gd name="T8" fmla="*/ 18 w 381"/>
                <a:gd name="T9" fmla="*/ 0 h 69"/>
                <a:gd name="T10" fmla="*/ 0 60000 65536"/>
                <a:gd name="T11" fmla="*/ 0 60000 65536"/>
                <a:gd name="T12" fmla="*/ 0 60000 65536"/>
                <a:gd name="T13" fmla="*/ 0 60000 65536"/>
                <a:gd name="T14" fmla="*/ 0 60000 65536"/>
                <a:gd name="T15" fmla="*/ 0 w 381"/>
                <a:gd name="T16" fmla="*/ 0 h 69"/>
                <a:gd name="T17" fmla="*/ 381 w 381"/>
                <a:gd name="T18" fmla="*/ 69 h 69"/>
              </a:gdLst>
              <a:ahLst/>
              <a:cxnLst>
                <a:cxn ang="T10">
                  <a:pos x="T0" y="T1"/>
                </a:cxn>
                <a:cxn ang="T11">
                  <a:pos x="T2" y="T3"/>
                </a:cxn>
                <a:cxn ang="T12">
                  <a:pos x="T4" y="T5"/>
                </a:cxn>
                <a:cxn ang="T13">
                  <a:pos x="T6" y="T7"/>
                </a:cxn>
                <a:cxn ang="T14">
                  <a:pos x="T8" y="T9"/>
                </a:cxn>
              </a:cxnLst>
              <a:rect l="T15" t="T16" r="T17" b="T18"/>
              <a:pathLst>
                <a:path w="381" h="69">
                  <a:moveTo>
                    <a:pt x="18" y="0"/>
                  </a:moveTo>
                  <a:lnTo>
                    <a:pt x="327" y="0"/>
                  </a:lnTo>
                  <a:lnTo>
                    <a:pt x="381" y="69"/>
                  </a:lnTo>
                  <a:lnTo>
                    <a:pt x="0" y="69"/>
                  </a:lnTo>
                  <a:lnTo>
                    <a:pt x="18" y="0"/>
                  </a:lnTo>
                  <a:close/>
                </a:path>
              </a:pathLst>
            </a:custGeom>
            <a:solidFill>
              <a:schemeClr val="tx1"/>
            </a:solidFill>
            <a:ln w="28575">
              <a:solidFill>
                <a:schemeClr val="bg1"/>
              </a:solidFill>
              <a:round/>
              <a:headEnd/>
              <a:tailEnd/>
            </a:ln>
          </p:spPr>
          <p:txBody>
            <a:bodyPr wrap="none" lIns="0" tIns="0" rIns="0" bIns="0" anchor="ctr">
              <a:spAutoFit/>
            </a:bodyPr>
            <a:lstStyle/>
            <a:p>
              <a:endParaRPr lang="en-US"/>
            </a:p>
          </p:txBody>
        </p:sp>
        <p:grpSp>
          <p:nvGrpSpPr>
            <p:cNvPr id="458" name="Group 61"/>
            <p:cNvGrpSpPr>
              <a:grpSpLocks/>
            </p:cNvGrpSpPr>
            <p:nvPr/>
          </p:nvGrpSpPr>
          <p:grpSpPr bwMode="auto">
            <a:xfrm>
              <a:off x="2461" y="1618"/>
              <a:ext cx="275" cy="318"/>
              <a:chOff x="2983" y="1384"/>
              <a:chExt cx="275" cy="318"/>
            </a:xfrm>
          </p:grpSpPr>
          <p:sp>
            <p:nvSpPr>
              <p:cNvPr id="459" name="Freeform 62"/>
              <p:cNvSpPr>
                <a:spLocks/>
              </p:cNvSpPr>
              <p:nvPr/>
            </p:nvSpPr>
            <p:spPr bwMode="auto">
              <a:xfrm>
                <a:off x="2983" y="1384"/>
                <a:ext cx="275" cy="318"/>
              </a:xfrm>
              <a:custGeom>
                <a:avLst/>
                <a:gdLst>
                  <a:gd name="T0" fmla="*/ 0 w 343"/>
                  <a:gd name="T1" fmla="*/ 82 h 396"/>
                  <a:gd name="T2" fmla="*/ 2 w 343"/>
                  <a:gd name="T3" fmla="*/ 99 h 396"/>
                  <a:gd name="T4" fmla="*/ 5 w 343"/>
                  <a:gd name="T5" fmla="*/ 114 h 396"/>
                  <a:gd name="T6" fmla="*/ 11 w 343"/>
                  <a:gd name="T7" fmla="*/ 128 h 396"/>
                  <a:gd name="T8" fmla="*/ 21 w 343"/>
                  <a:gd name="T9" fmla="*/ 141 h 396"/>
                  <a:gd name="T10" fmla="*/ 31 w 343"/>
                  <a:gd name="T11" fmla="*/ 151 h 396"/>
                  <a:gd name="T12" fmla="*/ 43 w 343"/>
                  <a:gd name="T13" fmla="*/ 158 h 396"/>
                  <a:gd name="T14" fmla="*/ 57 w 343"/>
                  <a:gd name="T15" fmla="*/ 163 h 396"/>
                  <a:gd name="T16" fmla="*/ 71 w 343"/>
                  <a:gd name="T17" fmla="*/ 165 h 396"/>
                  <a:gd name="T18" fmla="*/ 85 w 343"/>
                  <a:gd name="T19" fmla="*/ 163 h 396"/>
                  <a:gd name="T20" fmla="*/ 99 w 343"/>
                  <a:gd name="T21" fmla="*/ 158 h 396"/>
                  <a:gd name="T22" fmla="*/ 111 w 343"/>
                  <a:gd name="T23" fmla="*/ 151 h 396"/>
                  <a:gd name="T24" fmla="*/ 121 w 343"/>
                  <a:gd name="T25" fmla="*/ 141 h 396"/>
                  <a:gd name="T26" fmla="*/ 130 w 343"/>
                  <a:gd name="T27" fmla="*/ 128 h 396"/>
                  <a:gd name="T28" fmla="*/ 136 w 343"/>
                  <a:gd name="T29" fmla="*/ 114 h 396"/>
                  <a:gd name="T30" fmla="*/ 141 w 343"/>
                  <a:gd name="T31" fmla="*/ 99 h 396"/>
                  <a:gd name="T32" fmla="*/ 141 w 343"/>
                  <a:gd name="T33" fmla="*/ 82 h 396"/>
                  <a:gd name="T34" fmla="*/ 141 w 343"/>
                  <a:gd name="T35" fmla="*/ 66 h 396"/>
                  <a:gd name="T36" fmla="*/ 136 w 343"/>
                  <a:gd name="T37" fmla="*/ 50 h 396"/>
                  <a:gd name="T38" fmla="*/ 130 w 343"/>
                  <a:gd name="T39" fmla="*/ 36 h 396"/>
                  <a:gd name="T40" fmla="*/ 121 w 343"/>
                  <a:gd name="T41" fmla="*/ 25 h 396"/>
                  <a:gd name="T42" fmla="*/ 111 w 343"/>
                  <a:gd name="T43" fmla="*/ 14 h 396"/>
                  <a:gd name="T44" fmla="*/ 99 w 343"/>
                  <a:gd name="T45" fmla="*/ 6 h 396"/>
                  <a:gd name="T46" fmla="*/ 85 w 343"/>
                  <a:gd name="T47" fmla="*/ 2 h 396"/>
                  <a:gd name="T48" fmla="*/ 71 w 343"/>
                  <a:gd name="T49" fmla="*/ 0 h 396"/>
                  <a:gd name="T50" fmla="*/ 57 w 343"/>
                  <a:gd name="T51" fmla="*/ 2 h 396"/>
                  <a:gd name="T52" fmla="*/ 43 w 343"/>
                  <a:gd name="T53" fmla="*/ 6 h 396"/>
                  <a:gd name="T54" fmla="*/ 31 w 343"/>
                  <a:gd name="T55" fmla="*/ 14 h 396"/>
                  <a:gd name="T56" fmla="*/ 21 w 343"/>
                  <a:gd name="T57" fmla="*/ 25 h 396"/>
                  <a:gd name="T58" fmla="*/ 11 w 343"/>
                  <a:gd name="T59" fmla="*/ 36 h 396"/>
                  <a:gd name="T60" fmla="*/ 5 w 343"/>
                  <a:gd name="T61" fmla="*/ 50 h 396"/>
                  <a:gd name="T62" fmla="*/ 2 w 343"/>
                  <a:gd name="T63" fmla="*/ 66 h 396"/>
                  <a:gd name="T64" fmla="*/ 0 w 343"/>
                  <a:gd name="T65" fmla="*/ 82 h 39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3"/>
                  <a:gd name="T100" fmla="*/ 0 h 396"/>
                  <a:gd name="T101" fmla="*/ 343 w 343"/>
                  <a:gd name="T102" fmla="*/ 396 h 39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3" h="396">
                    <a:moveTo>
                      <a:pt x="0" y="197"/>
                    </a:moveTo>
                    <a:lnTo>
                      <a:pt x="3" y="238"/>
                    </a:lnTo>
                    <a:lnTo>
                      <a:pt x="13" y="274"/>
                    </a:lnTo>
                    <a:lnTo>
                      <a:pt x="29" y="309"/>
                    </a:lnTo>
                    <a:lnTo>
                      <a:pt x="51" y="338"/>
                    </a:lnTo>
                    <a:lnTo>
                      <a:pt x="76" y="363"/>
                    </a:lnTo>
                    <a:lnTo>
                      <a:pt x="105" y="380"/>
                    </a:lnTo>
                    <a:lnTo>
                      <a:pt x="137" y="392"/>
                    </a:lnTo>
                    <a:lnTo>
                      <a:pt x="171" y="396"/>
                    </a:lnTo>
                    <a:lnTo>
                      <a:pt x="206" y="392"/>
                    </a:lnTo>
                    <a:lnTo>
                      <a:pt x="238" y="380"/>
                    </a:lnTo>
                    <a:lnTo>
                      <a:pt x="267" y="363"/>
                    </a:lnTo>
                    <a:lnTo>
                      <a:pt x="292" y="338"/>
                    </a:lnTo>
                    <a:lnTo>
                      <a:pt x="314" y="309"/>
                    </a:lnTo>
                    <a:lnTo>
                      <a:pt x="330" y="274"/>
                    </a:lnTo>
                    <a:lnTo>
                      <a:pt x="340" y="238"/>
                    </a:lnTo>
                    <a:lnTo>
                      <a:pt x="343" y="197"/>
                    </a:lnTo>
                    <a:lnTo>
                      <a:pt x="340" y="158"/>
                    </a:lnTo>
                    <a:lnTo>
                      <a:pt x="330" y="120"/>
                    </a:lnTo>
                    <a:lnTo>
                      <a:pt x="314" y="87"/>
                    </a:lnTo>
                    <a:lnTo>
                      <a:pt x="292" y="58"/>
                    </a:lnTo>
                    <a:lnTo>
                      <a:pt x="267" y="33"/>
                    </a:lnTo>
                    <a:lnTo>
                      <a:pt x="238" y="16"/>
                    </a:lnTo>
                    <a:lnTo>
                      <a:pt x="206" y="4"/>
                    </a:lnTo>
                    <a:lnTo>
                      <a:pt x="171" y="0"/>
                    </a:lnTo>
                    <a:lnTo>
                      <a:pt x="137" y="4"/>
                    </a:lnTo>
                    <a:lnTo>
                      <a:pt x="105" y="16"/>
                    </a:lnTo>
                    <a:lnTo>
                      <a:pt x="76" y="33"/>
                    </a:lnTo>
                    <a:lnTo>
                      <a:pt x="51" y="58"/>
                    </a:lnTo>
                    <a:lnTo>
                      <a:pt x="29" y="87"/>
                    </a:lnTo>
                    <a:lnTo>
                      <a:pt x="13" y="120"/>
                    </a:lnTo>
                    <a:lnTo>
                      <a:pt x="3" y="158"/>
                    </a:lnTo>
                    <a:lnTo>
                      <a:pt x="0" y="1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0" name="Freeform 63"/>
              <p:cNvSpPr>
                <a:spLocks/>
              </p:cNvSpPr>
              <p:nvPr/>
            </p:nvSpPr>
            <p:spPr bwMode="auto">
              <a:xfrm>
                <a:off x="2999" y="1400"/>
                <a:ext cx="243" cy="286"/>
              </a:xfrm>
              <a:custGeom>
                <a:avLst/>
                <a:gdLst>
                  <a:gd name="T0" fmla="*/ 0 w 303"/>
                  <a:gd name="T1" fmla="*/ 74 h 356"/>
                  <a:gd name="T2" fmla="*/ 2 w 303"/>
                  <a:gd name="T3" fmla="*/ 59 h 356"/>
                  <a:gd name="T4" fmla="*/ 5 w 303"/>
                  <a:gd name="T5" fmla="*/ 46 h 356"/>
                  <a:gd name="T6" fmla="*/ 11 w 303"/>
                  <a:gd name="T7" fmla="*/ 33 h 356"/>
                  <a:gd name="T8" fmla="*/ 18 w 303"/>
                  <a:gd name="T9" fmla="*/ 22 h 356"/>
                  <a:gd name="T10" fmla="*/ 27 w 303"/>
                  <a:gd name="T11" fmla="*/ 13 h 356"/>
                  <a:gd name="T12" fmla="*/ 38 w 303"/>
                  <a:gd name="T13" fmla="*/ 6 h 356"/>
                  <a:gd name="T14" fmla="*/ 51 w 303"/>
                  <a:gd name="T15" fmla="*/ 2 h 356"/>
                  <a:gd name="T16" fmla="*/ 63 w 303"/>
                  <a:gd name="T17" fmla="*/ 0 h 356"/>
                  <a:gd name="T18" fmla="*/ 75 w 303"/>
                  <a:gd name="T19" fmla="*/ 2 h 356"/>
                  <a:gd name="T20" fmla="*/ 87 w 303"/>
                  <a:gd name="T21" fmla="*/ 6 h 356"/>
                  <a:gd name="T22" fmla="*/ 98 w 303"/>
                  <a:gd name="T23" fmla="*/ 13 h 356"/>
                  <a:gd name="T24" fmla="*/ 107 w 303"/>
                  <a:gd name="T25" fmla="*/ 22 h 356"/>
                  <a:gd name="T26" fmla="*/ 114 w 303"/>
                  <a:gd name="T27" fmla="*/ 33 h 356"/>
                  <a:gd name="T28" fmla="*/ 120 w 303"/>
                  <a:gd name="T29" fmla="*/ 46 h 356"/>
                  <a:gd name="T30" fmla="*/ 124 w 303"/>
                  <a:gd name="T31" fmla="*/ 59 h 356"/>
                  <a:gd name="T32" fmla="*/ 125 w 303"/>
                  <a:gd name="T33" fmla="*/ 74 h 356"/>
                  <a:gd name="T34" fmla="*/ 124 w 303"/>
                  <a:gd name="T35" fmla="*/ 89 h 356"/>
                  <a:gd name="T36" fmla="*/ 120 w 303"/>
                  <a:gd name="T37" fmla="*/ 103 h 356"/>
                  <a:gd name="T38" fmla="*/ 114 w 303"/>
                  <a:gd name="T39" fmla="*/ 116 h 356"/>
                  <a:gd name="T40" fmla="*/ 107 w 303"/>
                  <a:gd name="T41" fmla="*/ 126 h 356"/>
                  <a:gd name="T42" fmla="*/ 98 w 303"/>
                  <a:gd name="T43" fmla="*/ 136 h 356"/>
                  <a:gd name="T44" fmla="*/ 87 w 303"/>
                  <a:gd name="T45" fmla="*/ 143 h 356"/>
                  <a:gd name="T46" fmla="*/ 75 w 303"/>
                  <a:gd name="T47" fmla="*/ 147 h 356"/>
                  <a:gd name="T48" fmla="*/ 63 w 303"/>
                  <a:gd name="T49" fmla="*/ 149 h 356"/>
                  <a:gd name="T50" fmla="*/ 51 w 303"/>
                  <a:gd name="T51" fmla="*/ 147 h 356"/>
                  <a:gd name="T52" fmla="*/ 38 w 303"/>
                  <a:gd name="T53" fmla="*/ 143 h 356"/>
                  <a:gd name="T54" fmla="*/ 27 w 303"/>
                  <a:gd name="T55" fmla="*/ 136 h 356"/>
                  <a:gd name="T56" fmla="*/ 18 w 303"/>
                  <a:gd name="T57" fmla="*/ 126 h 356"/>
                  <a:gd name="T58" fmla="*/ 11 w 303"/>
                  <a:gd name="T59" fmla="*/ 116 h 356"/>
                  <a:gd name="T60" fmla="*/ 5 w 303"/>
                  <a:gd name="T61" fmla="*/ 103 h 356"/>
                  <a:gd name="T62" fmla="*/ 2 w 303"/>
                  <a:gd name="T63" fmla="*/ 89 h 356"/>
                  <a:gd name="T64" fmla="*/ 0 w 303"/>
                  <a:gd name="T65" fmla="*/ 74 h 3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03"/>
                  <a:gd name="T100" fmla="*/ 0 h 356"/>
                  <a:gd name="T101" fmla="*/ 303 w 303"/>
                  <a:gd name="T102" fmla="*/ 356 h 3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03" h="356">
                    <a:moveTo>
                      <a:pt x="0" y="177"/>
                    </a:moveTo>
                    <a:lnTo>
                      <a:pt x="3" y="142"/>
                    </a:lnTo>
                    <a:lnTo>
                      <a:pt x="12" y="109"/>
                    </a:lnTo>
                    <a:lnTo>
                      <a:pt x="26" y="79"/>
                    </a:lnTo>
                    <a:lnTo>
                      <a:pt x="45" y="52"/>
                    </a:lnTo>
                    <a:lnTo>
                      <a:pt x="67" y="31"/>
                    </a:lnTo>
                    <a:lnTo>
                      <a:pt x="93" y="15"/>
                    </a:lnTo>
                    <a:lnTo>
                      <a:pt x="121" y="3"/>
                    </a:lnTo>
                    <a:lnTo>
                      <a:pt x="151" y="0"/>
                    </a:lnTo>
                    <a:lnTo>
                      <a:pt x="182" y="3"/>
                    </a:lnTo>
                    <a:lnTo>
                      <a:pt x="211" y="15"/>
                    </a:lnTo>
                    <a:lnTo>
                      <a:pt x="236" y="31"/>
                    </a:lnTo>
                    <a:lnTo>
                      <a:pt x="259" y="52"/>
                    </a:lnTo>
                    <a:lnTo>
                      <a:pt x="276" y="79"/>
                    </a:lnTo>
                    <a:lnTo>
                      <a:pt x="291" y="109"/>
                    </a:lnTo>
                    <a:lnTo>
                      <a:pt x="300" y="142"/>
                    </a:lnTo>
                    <a:lnTo>
                      <a:pt x="303" y="177"/>
                    </a:lnTo>
                    <a:lnTo>
                      <a:pt x="300" y="214"/>
                    </a:lnTo>
                    <a:lnTo>
                      <a:pt x="291" y="247"/>
                    </a:lnTo>
                    <a:lnTo>
                      <a:pt x="276" y="278"/>
                    </a:lnTo>
                    <a:lnTo>
                      <a:pt x="259" y="304"/>
                    </a:lnTo>
                    <a:lnTo>
                      <a:pt x="236" y="326"/>
                    </a:lnTo>
                    <a:lnTo>
                      <a:pt x="211" y="342"/>
                    </a:lnTo>
                    <a:lnTo>
                      <a:pt x="182" y="353"/>
                    </a:lnTo>
                    <a:lnTo>
                      <a:pt x="151" y="356"/>
                    </a:lnTo>
                    <a:lnTo>
                      <a:pt x="121" y="353"/>
                    </a:lnTo>
                    <a:lnTo>
                      <a:pt x="93" y="342"/>
                    </a:lnTo>
                    <a:lnTo>
                      <a:pt x="67" y="326"/>
                    </a:lnTo>
                    <a:lnTo>
                      <a:pt x="45" y="304"/>
                    </a:lnTo>
                    <a:lnTo>
                      <a:pt x="26" y="278"/>
                    </a:lnTo>
                    <a:lnTo>
                      <a:pt x="12" y="247"/>
                    </a:lnTo>
                    <a:lnTo>
                      <a:pt x="3" y="214"/>
                    </a:lnTo>
                    <a:lnTo>
                      <a:pt x="0" y="177"/>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1" name="Freeform 64"/>
              <p:cNvSpPr>
                <a:spLocks/>
              </p:cNvSpPr>
              <p:nvPr/>
            </p:nvSpPr>
            <p:spPr bwMode="auto">
              <a:xfrm>
                <a:off x="3127" y="1444"/>
                <a:ext cx="77" cy="167"/>
              </a:xfrm>
              <a:custGeom>
                <a:avLst/>
                <a:gdLst>
                  <a:gd name="T0" fmla="*/ 0 w 95"/>
                  <a:gd name="T1" fmla="*/ 8 h 208"/>
                  <a:gd name="T2" fmla="*/ 2 w 95"/>
                  <a:gd name="T3" fmla="*/ 8 h 208"/>
                  <a:gd name="T4" fmla="*/ 3 w 95"/>
                  <a:gd name="T5" fmla="*/ 9 h 208"/>
                  <a:gd name="T6" fmla="*/ 7 w 95"/>
                  <a:gd name="T7" fmla="*/ 10 h 208"/>
                  <a:gd name="T8" fmla="*/ 11 w 95"/>
                  <a:gd name="T9" fmla="*/ 11 h 208"/>
                  <a:gd name="T10" fmla="*/ 15 w 95"/>
                  <a:gd name="T11" fmla="*/ 14 h 208"/>
                  <a:gd name="T12" fmla="*/ 20 w 95"/>
                  <a:gd name="T13" fmla="*/ 18 h 208"/>
                  <a:gd name="T14" fmla="*/ 24 w 95"/>
                  <a:gd name="T15" fmla="*/ 21 h 208"/>
                  <a:gd name="T16" fmla="*/ 28 w 95"/>
                  <a:gd name="T17" fmla="*/ 26 h 208"/>
                  <a:gd name="T18" fmla="*/ 32 w 95"/>
                  <a:gd name="T19" fmla="*/ 38 h 208"/>
                  <a:gd name="T20" fmla="*/ 32 w 95"/>
                  <a:gd name="T21" fmla="*/ 51 h 208"/>
                  <a:gd name="T22" fmla="*/ 28 w 95"/>
                  <a:gd name="T23" fmla="*/ 67 h 208"/>
                  <a:gd name="T24" fmla="*/ 20 w 95"/>
                  <a:gd name="T25" fmla="*/ 83 h 208"/>
                  <a:gd name="T26" fmla="*/ 28 w 95"/>
                  <a:gd name="T27" fmla="*/ 87 h 208"/>
                  <a:gd name="T28" fmla="*/ 36 w 95"/>
                  <a:gd name="T29" fmla="*/ 67 h 208"/>
                  <a:gd name="T30" fmla="*/ 41 w 95"/>
                  <a:gd name="T31" fmla="*/ 51 h 208"/>
                  <a:gd name="T32" fmla="*/ 40 w 95"/>
                  <a:gd name="T33" fmla="*/ 35 h 208"/>
                  <a:gd name="T34" fmla="*/ 36 w 95"/>
                  <a:gd name="T35" fmla="*/ 23 h 208"/>
                  <a:gd name="T36" fmla="*/ 32 w 95"/>
                  <a:gd name="T37" fmla="*/ 17 h 208"/>
                  <a:gd name="T38" fmla="*/ 26 w 95"/>
                  <a:gd name="T39" fmla="*/ 11 h 208"/>
                  <a:gd name="T40" fmla="*/ 21 w 95"/>
                  <a:gd name="T41" fmla="*/ 7 h 208"/>
                  <a:gd name="T42" fmla="*/ 15 w 95"/>
                  <a:gd name="T43" fmla="*/ 4 h 208"/>
                  <a:gd name="T44" fmla="*/ 10 w 95"/>
                  <a:gd name="T45" fmla="*/ 2 h 208"/>
                  <a:gd name="T46" fmla="*/ 6 w 95"/>
                  <a:gd name="T47" fmla="*/ 2 h 208"/>
                  <a:gd name="T48" fmla="*/ 3 w 95"/>
                  <a:gd name="T49" fmla="*/ 0 h 208"/>
                  <a:gd name="T50" fmla="*/ 2 w 95"/>
                  <a:gd name="T51" fmla="*/ 0 h 208"/>
                  <a:gd name="T52" fmla="*/ 0 w 95"/>
                  <a:gd name="T53" fmla="*/ 8 h 20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95"/>
                  <a:gd name="T82" fmla="*/ 0 h 208"/>
                  <a:gd name="T83" fmla="*/ 95 w 95"/>
                  <a:gd name="T84" fmla="*/ 208 h 20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95" h="208">
                    <a:moveTo>
                      <a:pt x="0" y="19"/>
                    </a:moveTo>
                    <a:lnTo>
                      <a:pt x="3" y="19"/>
                    </a:lnTo>
                    <a:lnTo>
                      <a:pt x="7" y="21"/>
                    </a:lnTo>
                    <a:lnTo>
                      <a:pt x="16" y="24"/>
                    </a:lnTo>
                    <a:lnTo>
                      <a:pt x="26" y="28"/>
                    </a:lnTo>
                    <a:lnTo>
                      <a:pt x="36" y="34"/>
                    </a:lnTo>
                    <a:lnTo>
                      <a:pt x="47" y="42"/>
                    </a:lnTo>
                    <a:lnTo>
                      <a:pt x="57" y="51"/>
                    </a:lnTo>
                    <a:lnTo>
                      <a:pt x="66" y="64"/>
                    </a:lnTo>
                    <a:lnTo>
                      <a:pt x="73" y="92"/>
                    </a:lnTo>
                    <a:lnTo>
                      <a:pt x="73" y="122"/>
                    </a:lnTo>
                    <a:lnTo>
                      <a:pt x="64" y="159"/>
                    </a:lnTo>
                    <a:lnTo>
                      <a:pt x="47" y="199"/>
                    </a:lnTo>
                    <a:lnTo>
                      <a:pt x="66" y="208"/>
                    </a:lnTo>
                    <a:lnTo>
                      <a:pt x="84" y="163"/>
                    </a:lnTo>
                    <a:lnTo>
                      <a:pt x="95" y="122"/>
                    </a:lnTo>
                    <a:lnTo>
                      <a:pt x="93" y="86"/>
                    </a:lnTo>
                    <a:lnTo>
                      <a:pt x="83" y="56"/>
                    </a:lnTo>
                    <a:lnTo>
                      <a:pt x="73" y="40"/>
                    </a:lnTo>
                    <a:lnTo>
                      <a:pt x="61" y="28"/>
                    </a:lnTo>
                    <a:lnTo>
                      <a:pt x="48" y="18"/>
                    </a:lnTo>
                    <a:lnTo>
                      <a:pt x="35" y="10"/>
                    </a:lnTo>
                    <a:lnTo>
                      <a:pt x="23" y="6"/>
                    </a:lnTo>
                    <a:lnTo>
                      <a:pt x="13" y="2"/>
                    </a:lnTo>
                    <a:lnTo>
                      <a:pt x="7" y="0"/>
                    </a:lnTo>
                    <a:lnTo>
                      <a:pt x="4"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2" name="Freeform 65"/>
              <p:cNvSpPr>
                <a:spLocks/>
              </p:cNvSpPr>
              <p:nvPr/>
            </p:nvSpPr>
            <p:spPr bwMode="auto">
              <a:xfrm>
                <a:off x="3074" y="1506"/>
                <a:ext cx="72" cy="95"/>
              </a:xfrm>
              <a:custGeom>
                <a:avLst/>
                <a:gdLst>
                  <a:gd name="T0" fmla="*/ 0 w 90"/>
                  <a:gd name="T1" fmla="*/ 25 h 118"/>
                  <a:gd name="T2" fmla="*/ 2 w 90"/>
                  <a:gd name="T3" fmla="*/ 30 h 118"/>
                  <a:gd name="T4" fmla="*/ 2 w 90"/>
                  <a:gd name="T5" fmla="*/ 35 h 118"/>
                  <a:gd name="T6" fmla="*/ 3 w 90"/>
                  <a:gd name="T7" fmla="*/ 39 h 118"/>
                  <a:gd name="T8" fmla="*/ 5 w 90"/>
                  <a:gd name="T9" fmla="*/ 42 h 118"/>
                  <a:gd name="T10" fmla="*/ 9 w 90"/>
                  <a:gd name="T11" fmla="*/ 45 h 118"/>
                  <a:gd name="T12" fmla="*/ 11 w 90"/>
                  <a:gd name="T13" fmla="*/ 48 h 118"/>
                  <a:gd name="T14" fmla="*/ 15 w 90"/>
                  <a:gd name="T15" fmla="*/ 49 h 118"/>
                  <a:gd name="T16" fmla="*/ 18 w 90"/>
                  <a:gd name="T17" fmla="*/ 49 h 118"/>
                  <a:gd name="T18" fmla="*/ 22 w 90"/>
                  <a:gd name="T19" fmla="*/ 49 h 118"/>
                  <a:gd name="T20" fmla="*/ 26 w 90"/>
                  <a:gd name="T21" fmla="*/ 48 h 118"/>
                  <a:gd name="T22" fmla="*/ 29 w 90"/>
                  <a:gd name="T23" fmla="*/ 45 h 118"/>
                  <a:gd name="T24" fmla="*/ 32 w 90"/>
                  <a:gd name="T25" fmla="*/ 42 h 118"/>
                  <a:gd name="T26" fmla="*/ 34 w 90"/>
                  <a:gd name="T27" fmla="*/ 39 h 118"/>
                  <a:gd name="T28" fmla="*/ 36 w 90"/>
                  <a:gd name="T29" fmla="*/ 35 h 118"/>
                  <a:gd name="T30" fmla="*/ 37 w 90"/>
                  <a:gd name="T31" fmla="*/ 30 h 118"/>
                  <a:gd name="T32" fmla="*/ 37 w 90"/>
                  <a:gd name="T33" fmla="*/ 25 h 118"/>
                  <a:gd name="T34" fmla="*/ 37 w 90"/>
                  <a:gd name="T35" fmla="*/ 20 h 118"/>
                  <a:gd name="T36" fmla="*/ 36 w 90"/>
                  <a:gd name="T37" fmla="*/ 15 h 118"/>
                  <a:gd name="T38" fmla="*/ 34 w 90"/>
                  <a:gd name="T39" fmla="*/ 11 h 118"/>
                  <a:gd name="T40" fmla="*/ 32 w 90"/>
                  <a:gd name="T41" fmla="*/ 7 h 118"/>
                  <a:gd name="T42" fmla="*/ 29 w 90"/>
                  <a:gd name="T43" fmla="*/ 4 h 118"/>
                  <a:gd name="T44" fmla="*/ 26 w 90"/>
                  <a:gd name="T45" fmla="*/ 2 h 118"/>
                  <a:gd name="T46" fmla="*/ 22 w 90"/>
                  <a:gd name="T47" fmla="*/ 2 h 118"/>
                  <a:gd name="T48" fmla="*/ 18 w 90"/>
                  <a:gd name="T49" fmla="*/ 0 h 118"/>
                  <a:gd name="T50" fmla="*/ 15 w 90"/>
                  <a:gd name="T51" fmla="*/ 2 h 118"/>
                  <a:gd name="T52" fmla="*/ 11 w 90"/>
                  <a:gd name="T53" fmla="*/ 2 h 118"/>
                  <a:gd name="T54" fmla="*/ 9 w 90"/>
                  <a:gd name="T55" fmla="*/ 4 h 118"/>
                  <a:gd name="T56" fmla="*/ 5 w 90"/>
                  <a:gd name="T57" fmla="*/ 7 h 118"/>
                  <a:gd name="T58" fmla="*/ 3 w 90"/>
                  <a:gd name="T59" fmla="*/ 11 h 118"/>
                  <a:gd name="T60" fmla="*/ 2 w 90"/>
                  <a:gd name="T61" fmla="*/ 15 h 118"/>
                  <a:gd name="T62" fmla="*/ 2 w 90"/>
                  <a:gd name="T63" fmla="*/ 20 h 118"/>
                  <a:gd name="T64" fmla="*/ 0 w 90"/>
                  <a:gd name="T65" fmla="*/ 25 h 1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118"/>
                  <a:gd name="T101" fmla="*/ 90 w 90"/>
                  <a:gd name="T102" fmla="*/ 118 h 11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118">
                    <a:moveTo>
                      <a:pt x="0" y="60"/>
                    </a:moveTo>
                    <a:lnTo>
                      <a:pt x="2" y="71"/>
                    </a:lnTo>
                    <a:lnTo>
                      <a:pt x="3" y="83"/>
                    </a:lnTo>
                    <a:lnTo>
                      <a:pt x="8" y="92"/>
                    </a:lnTo>
                    <a:lnTo>
                      <a:pt x="13" y="101"/>
                    </a:lnTo>
                    <a:lnTo>
                      <a:pt x="21" y="108"/>
                    </a:lnTo>
                    <a:lnTo>
                      <a:pt x="28" y="114"/>
                    </a:lnTo>
                    <a:lnTo>
                      <a:pt x="37" y="117"/>
                    </a:lnTo>
                    <a:lnTo>
                      <a:pt x="45" y="118"/>
                    </a:lnTo>
                    <a:lnTo>
                      <a:pt x="54" y="117"/>
                    </a:lnTo>
                    <a:lnTo>
                      <a:pt x="63" y="114"/>
                    </a:lnTo>
                    <a:lnTo>
                      <a:pt x="70" y="108"/>
                    </a:lnTo>
                    <a:lnTo>
                      <a:pt x="77" y="101"/>
                    </a:lnTo>
                    <a:lnTo>
                      <a:pt x="83" y="92"/>
                    </a:lnTo>
                    <a:lnTo>
                      <a:pt x="87" y="83"/>
                    </a:lnTo>
                    <a:lnTo>
                      <a:pt x="89" y="71"/>
                    </a:lnTo>
                    <a:lnTo>
                      <a:pt x="90" y="60"/>
                    </a:lnTo>
                    <a:lnTo>
                      <a:pt x="89" y="48"/>
                    </a:lnTo>
                    <a:lnTo>
                      <a:pt x="87" y="37"/>
                    </a:lnTo>
                    <a:lnTo>
                      <a:pt x="83" y="26"/>
                    </a:lnTo>
                    <a:lnTo>
                      <a:pt x="77" y="18"/>
                    </a:lnTo>
                    <a:lnTo>
                      <a:pt x="70" y="10"/>
                    </a:lnTo>
                    <a:lnTo>
                      <a:pt x="63" y="5"/>
                    </a:lnTo>
                    <a:lnTo>
                      <a:pt x="54" y="2"/>
                    </a:lnTo>
                    <a:lnTo>
                      <a:pt x="45" y="0"/>
                    </a:lnTo>
                    <a:lnTo>
                      <a:pt x="37" y="2"/>
                    </a:lnTo>
                    <a:lnTo>
                      <a:pt x="28" y="5"/>
                    </a:lnTo>
                    <a:lnTo>
                      <a:pt x="21" y="10"/>
                    </a:lnTo>
                    <a:lnTo>
                      <a:pt x="13" y="18"/>
                    </a:lnTo>
                    <a:lnTo>
                      <a:pt x="8" y="26"/>
                    </a:lnTo>
                    <a:lnTo>
                      <a:pt x="3" y="37"/>
                    </a:lnTo>
                    <a:lnTo>
                      <a:pt x="2" y="48"/>
                    </a:lnTo>
                    <a:lnTo>
                      <a:pt x="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3" name="Freeform 66"/>
              <p:cNvSpPr>
                <a:spLocks/>
              </p:cNvSpPr>
              <p:nvPr/>
            </p:nvSpPr>
            <p:spPr bwMode="auto">
              <a:xfrm>
                <a:off x="3082" y="1514"/>
                <a:ext cx="56" cy="79"/>
              </a:xfrm>
              <a:custGeom>
                <a:avLst/>
                <a:gdLst>
                  <a:gd name="T0" fmla="*/ 0 w 70"/>
                  <a:gd name="T1" fmla="*/ 21 h 98"/>
                  <a:gd name="T2" fmla="*/ 2 w 70"/>
                  <a:gd name="T3" fmla="*/ 13 h 98"/>
                  <a:gd name="T4" fmla="*/ 5 w 70"/>
                  <a:gd name="T5" fmla="*/ 6 h 98"/>
                  <a:gd name="T6" fmla="*/ 9 w 70"/>
                  <a:gd name="T7" fmla="*/ 2 h 98"/>
                  <a:gd name="T8" fmla="*/ 14 w 70"/>
                  <a:gd name="T9" fmla="*/ 0 h 98"/>
                  <a:gd name="T10" fmla="*/ 19 w 70"/>
                  <a:gd name="T11" fmla="*/ 2 h 98"/>
                  <a:gd name="T12" fmla="*/ 24 w 70"/>
                  <a:gd name="T13" fmla="*/ 6 h 98"/>
                  <a:gd name="T14" fmla="*/ 27 w 70"/>
                  <a:gd name="T15" fmla="*/ 13 h 98"/>
                  <a:gd name="T16" fmla="*/ 29 w 70"/>
                  <a:gd name="T17" fmla="*/ 21 h 98"/>
                  <a:gd name="T18" fmla="*/ 27 w 70"/>
                  <a:gd name="T19" fmla="*/ 29 h 98"/>
                  <a:gd name="T20" fmla="*/ 24 w 70"/>
                  <a:gd name="T21" fmla="*/ 35 h 98"/>
                  <a:gd name="T22" fmla="*/ 19 w 70"/>
                  <a:gd name="T23" fmla="*/ 39 h 98"/>
                  <a:gd name="T24" fmla="*/ 14 w 70"/>
                  <a:gd name="T25" fmla="*/ 42 h 98"/>
                  <a:gd name="T26" fmla="*/ 9 w 70"/>
                  <a:gd name="T27" fmla="*/ 39 h 98"/>
                  <a:gd name="T28" fmla="*/ 5 w 70"/>
                  <a:gd name="T29" fmla="*/ 35 h 98"/>
                  <a:gd name="T30" fmla="*/ 2 w 70"/>
                  <a:gd name="T31" fmla="*/ 29 h 98"/>
                  <a:gd name="T32" fmla="*/ 0 w 70"/>
                  <a:gd name="T33" fmla="*/ 21 h 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0"/>
                  <a:gd name="T52" fmla="*/ 0 h 98"/>
                  <a:gd name="T53" fmla="*/ 70 w 70"/>
                  <a:gd name="T54" fmla="*/ 98 h 9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0" h="98">
                    <a:moveTo>
                      <a:pt x="0" y="50"/>
                    </a:moveTo>
                    <a:lnTo>
                      <a:pt x="3" y="31"/>
                    </a:lnTo>
                    <a:lnTo>
                      <a:pt x="11" y="15"/>
                    </a:lnTo>
                    <a:lnTo>
                      <a:pt x="21" y="5"/>
                    </a:lnTo>
                    <a:lnTo>
                      <a:pt x="35" y="0"/>
                    </a:lnTo>
                    <a:lnTo>
                      <a:pt x="48" y="5"/>
                    </a:lnTo>
                    <a:lnTo>
                      <a:pt x="60" y="15"/>
                    </a:lnTo>
                    <a:lnTo>
                      <a:pt x="67" y="31"/>
                    </a:lnTo>
                    <a:lnTo>
                      <a:pt x="70" y="50"/>
                    </a:lnTo>
                    <a:lnTo>
                      <a:pt x="67" y="69"/>
                    </a:lnTo>
                    <a:lnTo>
                      <a:pt x="60" y="83"/>
                    </a:lnTo>
                    <a:lnTo>
                      <a:pt x="48" y="93"/>
                    </a:lnTo>
                    <a:lnTo>
                      <a:pt x="35" y="98"/>
                    </a:lnTo>
                    <a:lnTo>
                      <a:pt x="21" y="93"/>
                    </a:lnTo>
                    <a:lnTo>
                      <a:pt x="11" y="83"/>
                    </a:lnTo>
                    <a:lnTo>
                      <a:pt x="3" y="69"/>
                    </a:lnTo>
                    <a:lnTo>
                      <a:pt x="0" y="5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464" name="Group 463"/>
          <p:cNvGrpSpPr/>
          <p:nvPr/>
        </p:nvGrpSpPr>
        <p:grpSpPr>
          <a:xfrm>
            <a:off x="314349" y="5062032"/>
            <a:ext cx="927168" cy="676638"/>
            <a:chOff x="346122" y="5885642"/>
            <a:chExt cx="1049373" cy="765822"/>
          </a:xfrm>
        </p:grpSpPr>
        <p:grpSp>
          <p:nvGrpSpPr>
            <p:cNvPr id="465" name="Group 18"/>
            <p:cNvGrpSpPr>
              <a:grpSpLocks/>
            </p:cNvGrpSpPr>
            <p:nvPr/>
          </p:nvGrpSpPr>
          <p:grpSpPr bwMode="auto">
            <a:xfrm>
              <a:off x="346122" y="5885642"/>
              <a:ext cx="859923" cy="571787"/>
              <a:chOff x="2496" y="1641"/>
              <a:chExt cx="767" cy="510"/>
            </a:xfrm>
          </p:grpSpPr>
          <p:sp>
            <p:nvSpPr>
              <p:cNvPr id="485" name="AutoShape 19"/>
              <p:cNvSpPr>
                <a:spLocks noChangeArrowheads="1"/>
              </p:cNvSpPr>
              <p:nvPr/>
            </p:nvSpPr>
            <p:spPr bwMode="auto">
              <a:xfrm>
                <a:off x="2496" y="1641"/>
                <a:ext cx="767" cy="510"/>
              </a:xfrm>
              <a:prstGeom prst="cube">
                <a:avLst>
                  <a:gd name="adj" fmla="val 18921"/>
                </a:avLst>
              </a:prstGeom>
              <a:solidFill>
                <a:srgbClr val="FFCC99"/>
              </a:solidFill>
              <a:ln w="12700">
                <a:solidFill>
                  <a:schemeClr val="bg1"/>
                </a:solidFill>
                <a:miter lim="800000"/>
                <a:headEnd/>
                <a:tailEnd/>
              </a:ln>
            </p:spPr>
            <p:txBody>
              <a:bodyPr wrap="none" anchor="ctr"/>
              <a:lstStyle/>
              <a:p>
                <a:endParaRPr lang="en-US"/>
              </a:p>
            </p:txBody>
          </p:sp>
          <p:sp>
            <p:nvSpPr>
              <p:cNvPr id="486" name="Rectangle 20"/>
              <p:cNvSpPr>
                <a:spLocks noChangeArrowheads="1"/>
              </p:cNvSpPr>
              <p:nvPr/>
            </p:nvSpPr>
            <p:spPr bwMode="auto">
              <a:xfrm>
                <a:off x="2718" y="1797"/>
                <a:ext cx="221" cy="354"/>
              </a:xfrm>
              <a:prstGeom prst="rect">
                <a:avLst/>
              </a:prstGeom>
              <a:solidFill>
                <a:srgbClr val="CC9900"/>
              </a:solidFill>
              <a:ln w="12700">
                <a:solidFill>
                  <a:schemeClr val="bg1"/>
                </a:solidFill>
                <a:miter lim="800000"/>
                <a:headEnd/>
                <a:tailEnd/>
              </a:ln>
            </p:spPr>
            <p:txBody>
              <a:bodyPr wrap="none" anchor="ctr"/>
              <a:lstStyle/>
              <a:p>
                <a:endParaRPr lang="en-US"/>
              </a:p>
            </p:txBody>
          </p:sp>
          <p:sp>
            <p:nvSpPr>
              <p:cNvPr id="487" name="Rectangle 21"/>
              <p:cNvSpPr>
                <a:spLocks noChangeArrowheads="1"/>
              </p:cNvSpPr>
              <p:nvPr/>
            </p:nvSpPr>
            <p:spPr bwMode="auto">
              <a:xfrm>
                <a:off x="2543"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488" name="Rectangle 22"/>
              <p:cNvSpPr>
                <a:spLocks noChangeArrowheads="1"/>
              </p:cNvSpPr>
              <p:nvPr/>
            </p:nvSpPr>
            <p:spPr bwMode="auto">
              <a:xfrm>
                <a:off x="2987"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grpSp>
        <p:grpSp>
          <p:nvGrpSpPr>
            <p:cNvPr id="466" name="Group 29"/>
            <p:cNvGrpSpPr>
              <a:grpSpLocks/>
            </p:cNvGrpSpPr>
            <p:nvPr/>
          </p:nvGrpSpPr>
          <p:grpSpPr bwMode="auto">
            <a:xfrm>
              <a:off x="582661" y="6151431"/>
              <a:ext cx="812834" cy="500033"/>
              <a:chOff x="2943" y="3239"/>
              <a:chExt cx="725" cy="446"/>
            </a:xfrm>
          </p:grpSpPr>
          <p:sp>
            <p:nvSpPr>
              <p:cNvPr id="467" name="Freeform 30"/>
              <p:cNvSpPr>
                <a:spLocks/>
              </p:cNvSpPr>
              <p:nvPr/>
            </p:nvSpPr>
            <p:spPr bwMode="auto">
              <a:xfrm>
                <a:off x="3485" y="3548"/>
                <a:ext cx="87" cy="137"/>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8" name="Freeform 31"/>
              <p:cNvSpPr>
                <a:spLocks/>
              </p:cNvSpPr>
              <p:nvPr/>
            </p:nvSpPr>
            <p:spPr bwMode="auto">
              <a:xfrm>
                <a:off x="3357" y="3450"/>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9" name="Freeform 32"/>
              <p:cNvSpPr>
                <a:spLocks/>
              </p:cNvSpPr>
              <p:nvPr/>
            </p:nvSpPr>
            <p:spPr bwMode="auto">
              <a:xfrm>
                <a:off x="2943" y="3288"/>
                <a:ext cx="725" cy="336"/>
              </a:xfrm>
              <a:custGeom>
                <a:avLst/>
                <a:gdLst>
                  <a:gd name="T0" fmla="*/ 1 w 1140"/>
                  <a:gd name="T1" fmla="*/ 1 h 526"/>
                  <a:gd name="T2" fmla="*/ 1 w 1140"/>
                  <a:gd name="T3" fmla="*/ 1 h 526"/>
                  <a:gd name="T4" fmla="*/ 0 w 1140"/>
                  <a:gd name="T5" fmla="*/ 1 h 526"/>
                  <a:gd name="T6" fmla="*/ 1 w 1140"/>
                  <a:gd name="T7" fmla="*/ 1 h 526"/>
                  <a:gd name="T8" fmla="*/ 1 w 1140"/>
                  <a:gd name="T9" fmla="*/ 1 h 526"/>
                  <a:gd name="T10" fmla="*/ 1 w 1140"/>
                  <a:gd name="T11" fmla="*/ 1 h 526"/>
                  <a:gd name="T12" fmla="*/ 1 w 1140"/>
                  <a:gd name="T13" fmla="*/ 1 h 526"/>
                  <a:gd name="T14" fmla="*/ 1 w 1140"/>
                  <a:gd name="T15" fmla="*/ 1 h 526"/>
                  <a:gd name="T16" fmla="*/ 1 w 1140"/>
                  <a:gd name="T17" fmla="*/ 1 h 526"/>
                  <a:gd name="T18" fmla="*/ 1 w 1140"/>
                  <a:gd name="T19" fmla="*/ 1 h 526"/>
                  <a:gd name="T20" fmla="*/ 1 w 1140"/>
                  <a:gd name="T21" fmla="*/ 1 h 526"/>
                  <a:gd name="T22" fmla="*/ 1 w 1140"/>
                  <a:gd name="T23" fmla="*/ 1 h 526"/>
                  <a:gd name="T24" fmla="*/ 1 w 1140"/>
                  <a:gd name="T25" fmla="*/ 1 h 526"/>
                  <a:gd name="T26" fmla="*/ 1 w 1140"/>
                  <a:gd name="T27" fmla="*/ 0 h 526"/>
                  <a:gd name="T28" fmla="*/ 1 w 1140"/>
                  <a:gd name="T29" fmla="*/ 0 h 526"/>
                  <a:gd name="T30" fmla="*/ 1 w 1140"/>
                  <a:gd name="T31" fmla="*/ 1 h 526"/>
                  <a:gd name="T32" fmla="*/ 1 w 1140"/>
                  <a:gd name="T33" fmla="*/ 1 h 526"/>
                  <a:gd name="T34" fmla="*/ 1 w 1140"/>
                  <a:gd name="T35" fmla="*/ 1 h 526"/>
                  <a:gd name="T36" fmla="*/ 2 w 1140"/>
                  <a:gd name="T37" fmla="*/ 1 h 526"/>
                  <a:gd name="T38" fmla="*/ 2 w 1140"/>
                  <a:gd name="T39" fmla="*/ 1 h 526"/>
                  <a:gd name="T40" fmla="*/ 2 w 1140"/>
                  <a:gd name="T41" fmla="*/ 1 h 526"/>
                  <a:gd name="T42" fmla="*/ 2 w 1140"/>
                  <a:gd name="T43" fmla="*/ 1 h 526"/>
                  <a:gd name="T44" fmla="*/ 2 w 1140"/>
                  <a:gd name="T45" fmla="*/ 1 h 526"/>
                  <a:gd name="T46" fmla="*/ 2 w 1140"/>
                  <a:gd name="T47" fmla="*/ 1 h 526"/>
                  <a:gd name="T48" fmla="*/ 2 w 1140"/>
                  <a:gd name="T49" fmla="*/ 1 h 526"/>
                  <a:gd name="T50" fmla="*/ 2 w 1140"/>
                  <a:gd name="T51" fmla="*/ 1 h 526"/>
                  <a:gd name="T52" fmla="*/ 2 w 1140"/>
                  <a:gd name="T53" fmla="*/ 1 h 526"/>
                  <a:gd name="T54" fmla="*/ 2 w 1140"/>
                  <a:gd name="T55" fmla="*/ 1 h 526"/>
                  <a:gd name="T56" fmla="*/ 2 w 1140"/>
                  <a:gd name="T57" fmla="*/ 1 h 526"/>
                  <a:gd name="T58" fmla="*/ 2 w 1140"/>
                  <a:gd name="T59" fmla="*/ 1 h 526"/>
                  <a:gd name="T60" fmla="*/ 2 w 1140"/>
                  <a:gd name="T61" fmla="*/ 1 h 526"/>
                  <a:gd name="T62" fmla="*/ 2 w 1140"/>
                  <a:gd name="T63" fmla="*/ 1 h 526"/>
                  <a:gd name="T64" fmla="*/ 2 w 1140"/>
                  <a:gd name="T65" fmla="*/ 1 h 526"/>
                  <a:gd name="T66" fmla="*/ 2 w 1140"/>
                  <a:gd name="T67" fmla="*/ 1 h 526"/>
                  <a:gd name="T68" fmla="*/ 2 w 1140"/>
                  <a:gd name="T69" fmla="*/ 1 h 526"/>
                  <a:gd name="T70" fmla="*/ 2 w 1140"/>
                  <a:gd name="T71" fmla="*/ 1 h 526"/>
                  <a:gd name="T72" fmla="*/ 2 w 1140"/>
                  <a:gd name="T73" fmla="*/ 1 h 526"/>
                  <a:gd name="T74" fmla="*/ 2 w 1140"/>
                  <a:gd name="T75" fmla="*/ 1 h 526"/>
                  <a:gd name="T76" fmla="*/ 2 w 1140"/>
                  <a:gd name="T77" fmla="*/ 1 h 526"/>
                  <a:gd name="T78" fmla="*/ 2 w 1140"/>
                  <a:gd name="T79" fmla="*/ 1 h 526"/>
                  <a:gd name="T80" fmla="*/ 2 w 1140"/>
                  <a:gd name="T81" fmla="*/ 1 h 526"/>
                  <a:gd name="T82" fmla="*/ 1 w 1140"/>
                  <a:gd name="T83" fmla="*/ 1 h 526"/>
                  <a:gd name="T84" fmla="*/ 1 w 1140"/>
                  <a:gd name="T85" fmla="*/ 1 h 526"/>
                  <a:gd name="T86" fmla="*/ 1 w 1140"/>
                  <a:gd name="T87" fmla="*/ 1 h 526"/>
                  <a:gd name="T88" fmla="*/ 1 w 1140"/>
                  <a:gd name="T89" fmla="*/ 1 h 526"/>
                  <a:gd name="T90" fmla="*/ 1 w 1140"/>
                  <a:gd name="T91" fmla="*/ 1 h 526"/>
                  <a:gd name="T92" fmla="*/ 1 w 1140"/>
                  <a:gd name="T93" fmla="*/ 1 h 526"/>
                  <a:gd name="T94" fmla="*/ 1 w 1140"/>
                  <a:gd name="T95" fmla="*/ 1 h 526"/>
                  <a:gd name="T96" fmla="*/ 1 w 1140"/>
                  <a:gd name="T97" fmla="*/ 1 h 526"/>
                  <a:gd name="T98" fmla="*/ 1 w 1140"/>
                  <a:gd name="T99" fmla="*/ 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70" name="Freeform 33"/>
              <p:cNvSpPr>
                <a:spLocks/>
              </p:cNvSpPr>
              <p:nvPr/>
            </p:nvSpPr>
            <p:spPr bwMode="auto">
              <a:xfrm>
                <a:off x="3113" y="3325"/>
                <a:ext cx="121" cy="130"/>
              </a:xfrm>
              <a:custGeom>
                <a:avLst/>
                <a:gdLst>
                  <a:gd name="T0" fmla="*/ 0 w 189"/>
                  <a:gd name="T1" fmla="*/ 1 h 204"/>
                  <a:gd name="T2" fmla="*/ 1 w 189"/>
                  <a:gd name="T3" fmla="*/ 1 h 204"/>
                  <a:gd name="T4" fmla="*/ 1 w 189"/>
                  <a:gd name="T5" fmla="*/ 1 h 204"/>
                  <a:gd name="T6" fmla="*/ 1 w 189"/>
                  <a:gd name="T7" fmla="*/ 1 h 204"/>
                  <a:gd name="T8" fmla="*/ 1 w 189"/>
                  <a:gd name="T9" fmla="*/ 1 h 204"/>
                  <a:gd name="T10" fmla="*/ 1 w 189"/>
                  <a:gd name="T11" fmla="*/ 1 h 204"/>
                  <a:gd name="T12" fmla="*/ 1 w 189"/>
                  <a:gd name="T13" fmla="*/ 0 h 204"/>
                  <a:gd name="T14" fmla="*/ 1 w 189"/>
                  <a:gd name="T15" fmla="*/ 1 h 204"/>
                  <a:gd name="T16" fmla="*/ 0 w 189"/>
                  <a:gd name="T17" fmla="*/ 1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71" name="Freeform 34"/>
              <p:cNvSpPr>
                <a:spLocks/>
              </p:cNvSpPr>
              <p:nvPr/>
            </p:nvSpPr>
            <p:spPr bwMode="auto">
              <a:xfrm>
                <a:off x="3255" y="3322"/>
                <a:ext cx="160" cy="135"/>
              </a:xfrm>
              <a:custGeom>
                <a:avLst/>
                <a:gdLst>
                  <a:gd name="T0" fmla="*/ 1 w 252"/>
                  <a:gd name="T1" fmla="*/ 1 h 213"/>
                  <a:gd name="T2" fmla="*/ 0 w 252"/>
                  <a:gd name="T3" fmla="*/ 0 h 213"/>
                  <a:gd name="T4" fmla="*/ 1 w 252"/>
                  <a:gd name="T5" fmla="*/ 0 h 213"/>
                  <a:gd name="T6" fmla="*/ 1 w 252"/>
                  <a:gd name="T7" fmla="*/ 1 h 213"/>
                  <a:gd name="T8" fmla="*/ 1 w 252"/>
                  <a:gd name="T9" fmla="*/ 1 h 213"/>
                  <a:gd name="T10" fmla="*/ 1 w 252"/>
                  <a:gd name="T11" fmla="*/ 1 h 213"/>
                  <a:gd name="T12" fmla="*/ 1 w 252"/>
                  <a:gd name="T13" fmla="*/ 1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72" name="Freeform 35"/>
              <p:cNvSpPr>
                <a:spLocks/>
              </p:cNvSpPr>
              <p:nvPr/>
            </p:nvSpPr>
            <p:spPr bwMode="auto">
              <a:xfrm>
                <a:off x="3360" y="3383"/>
                <a:ext cx="45" cy="63"/>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3" name="Freeform 36"/>
              <p:cNvSpPr>
                <a:spLocks/>
              </p:cNvSpPr>
              <p:nvPr/>
            </p:nvSpPr>
            <p:spPr bwMode="auto">
              <a:xfrm>
                <a:off x="3362" y="3431"/>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4" name="Freeform 37"/>
              <p:cNvSpPr>
                <a:spLocks/>
              </p:cNvSpPr>
              <p:nvPr/>
            </p:nvSpPr>
            <p:spPr bwMode="auto">
              <a:xfrm>
                <a:off x="3367" y="3401"/>
                <a:ext cx="33" cy="23"/>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5" name="Freeform 38"/>
              <p:cNvSpPr>
                <a:spLocks/>
              </p:cNvSpPr>
              <p:nvPr/>
            </p:nvSpPr>
            <p:spPr bwMode="auto">
              <a:xfrm>
                <a:off x="3245" y="3415"/>
                <a:ext cx="195" cy="185"/>
              </a:xfrm>
              <a:custGeom>
                <a:avLst/>
                <a:gdLst>
                  <a:gd name="T0" fmla="*/ 0 w 306"/>
                  <a:gd name="T1" fmla="*/ 1 h 290"/>
                  <a:gd name="T2" fmla="*/ 1 w 306"/>
                  <a:gd name="T3" fmla="*/ 1 h 290"/>
                  <a:gd name="T4" fmla="*/ 1 w 306"/>
                  <a:gd name="T5" fmla="*/ 1 h 290"/>
                  <a:gd name="T6" fmla="*/ 1 w 306"/>
                  <a:gd name="T7" fmla="*/ 1 h 290"/>
                  <a:gd name="T8" fmla="*/ 1 w 306"/>
                  <a:gd name="T9" fmla="*/ 1 h 290"/>
                  <a:gd name="T10" fmla="*/ 1 w 306"/>
                  <a:gd name="T11" fmla="*/ 1 h 290"/>
                  <a:gd name="T12" fmla="*/ 1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76" name="Freeform 39"/>
              <p:cNvSpPr>
                <a:spLocks/>
              </p:cNvSpPr>
              <p:nvPr/>
            </p:nvSpPr>
            <p:spPr bwMode="auto">
              <a:xfrm rot="1661969">
                <a:off x="3494" y="3239"/>
                <a:ext cx="130" cy="102"/>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477" name="Line 40"/>
              <p:cNvSpPr>
                <a:spLocks noChangeShapeType="1"/>
              </p:cNvSpPr>
              <p:nvPr/>
            </p:nvSpPr>
            <p:spPr bwMode="auto">
              <a:xfrm flipH="1" flipV="1">
                <a:off x="3544" y="3332"/>
                <a:ext cx="5" cy="7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78" name="Line 41"/>
              <p:cNvSpPr>
                <a:spLocks noChangeShapeType="1"/>
              </p:cNvSpPr>
              <p:nvPr/>
            </p:nvSpPr>
            <p:spPr bwMode="auto">
              <a:xfrm flipV="1">
                <a:off x="3565" y="3332"/>
                <a:ext cx="22" cy="7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79" name="Oval 42"/>
              <p:cNvSpPr>
                <a:spLocks noChangeArrowheads="1"/>
              </p:cNvSpPr>
              <p:nvPr/>
            </p:nvSpPr>
            <p:spPr bwMode="auto">
              <a:xfrm>
                <a:off x="3034" y="3568"/>
                <a:ext cx="103" cy="101"/>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480" name="Freeform 43"/>
              <p:cNvSpPr>
                <a:spLocks/>
              </p:cNvSpPr>
              <p:nvPr/>
            </p:nvSpPr>
            <p:spPr bwMode="auto">
              <a:xfrm>
                <a:off x="3022" y="3556"/>
                <a:ext cx="126" cy="126"/>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1" name="Freeform 44"/>
              <p:cNvSpPr>
                <a:spLocks/>
              </p:cNvSpPr>
              <p:nvPr/>
            </p:nvSpPr>
            <p:spPr bwMode="auto">
              <a:xfrm>
                <a:off x="3049" y="3661"/>
                <a:ext cx="24" cy="15"/>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2" name="Oval 45"/>
              <p:cNvSpPr>
                <a:spLocks noChangeArrowheads="1"/>
              </p:cNvSpPr>
              <p:nvPr/>
            </p:nvSpPr>
            <p:spPr bwMode="auto">
              <a:xfrm>
                <a:off x="3492" y="3528"/>
                <a:ext cx="80" cy="138"/>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483" name="Freeform 46"/>
              <p:cNvSpPr>
                <a:spLocks/>
              </p:cNvSpPr>
              <p:nvPr/>
            </p:nvSpPr>
            <p:spPr bwMode="auto">
              <a:xfrm>
                <a:off x="3484" y="3518"/>
                <a:ext cx="99" cy="158"/>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4" name="Freeform 47"/>
              <p:cNvSpPr>
                <a:spLocks/>
              </p:cNvSpPr>
              <p:nvPr/>
            </p:nvSpPr>
            <p:spPr bwMode="auto">
              <a:xfrm>
                <a:off x="3499" y="3646"/>
                <a:ext cx="21" cy="19"/>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489" name="Line 70"/>
          <p:cNvSpPr>
            <a:spLocks noChangeShapeType="1"/>
          </p:cNvSpPr>
          <p:nvPr/>
        </p:nvSpPr>
        <p:spPr bwMode="auto">
          <a:xfrm flipH="1" flipV="1">
            <a:off x="2499095" y="3820308"/>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490" name="Group 2"/>
          <p:cNvGrpSpPr>
            <a:grpSpLocks/>
          </p:cNvGrpSpPr>
          <p:nvPr/>
        </p:nvGrpSpPr>
        <p:grpSpPr bwMode="auto">
          <a:xfrm>
            <a:off x="1308100" y="4213867"/>
            <a:ext cx="1216025" cy="833438"/>
            <a:chOff x="3182" y="2642"/>
            <a:chExt cx="1186" cy="813"/>
          </a:xfrm>
        </p:grpSpPr>
        <p:grpSp>
          <p:nvGrpSpPr>
            <p:cNvPr id="491" name="Group 3"/>
            <p:cNvGrpSpPr>
              <a:grpSpLocks/>
            </p:cNvGrpSpPr>
            <p:nvPr/>
          </p:nvGrpSpPr>
          <p:grpSpPr bwMode="auto">
            <a:xfrm>
              <a:off x="3182" y="2642"/>
              <a:ext cx="1186" cy="813"/>
              <a:chOff x="1732" y="3507"/>
              <a:chExt cx="1186" cy="813"/>
            </a:xfrm>
          </p:grpSpPr>
          <p:sp>
            <p:nvSpPr>
              <p:cNvPr id="503" name="AutoShape 4"/>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504" name="AutoShape 5"/>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492" name="Group 6"/>
            <p:cNvGrpSpPr>
              <a:grpSpLocks/>
            </p:cNvGrpSpPr>
            <p:nvPr/>
          </p:nvGrpSpPr>
          <p:grpSpPr bwMode="auto">
            <a:xfrm>
              <a:off x="3309" y="2668"/>
              <a:ext cx="876" cy="739"/>
              <a:chOff x="3309" y="2668"/>
              <a:chExt cx="876" cy="739"/>
            </a:xfrm>
          </p:grpSpPr>
          <p:sp>
            <p:nvSpPr>
              <p:cNvPr id="493" name="Freeform 7"/>
              <p:cNvSpPr>
                <a:spLocks/>
              </p:cNvSpPr>
              <p:nvPr/>
            </p:nvSpPr>
            <p:spPr bwMode="auto">
              <a:xfrm>
                <a:off x="3344" y="2668"/>
                <a:ext cx="841" cy="739"/>
              </a:xfrm>
              <a:custGeom>
                <a:avLst/>
                <a:gdLst>
                  <a:gd name="T0" fmla="*/ 50 w 638"/>
                  <a:gd name="T1" fmla="*/ 1680 h 561"/>
                  <a:gd name="T2" fmla="*/ 50 w 638"/>
                  <a:gd name="T3" fmla="*/ 967 h 561"/>
                  <a:gd name="T4" fmla="*/ 0 w 638"/>
                  <a:gd name="T5" fmla="*/ 876 h 561"/>
                  <a:gd name="T6" fmla="*/ 1003 w 638"/>
                  <a:gd name="T7" fmla="*/ 18 h 561"/>
                  <a:gd name="T8" fmla="*/ 1366 w 638"/>
                  <a:gd name="T9" fmla="*/ 361 h 561"/>
                  <a:gd name="T10" fmla="*/ 1366 w 638"/>
                  <a:gd name="T11" fmla="*/ 0 h 561"/>
                  <a:gd name="T12" fmla="*/ 1654 w 638"/>
                  <a:gd name="T13" fmla="*/ 0 h 561"/>
                  <a:gd name="T14" fmla="*/ 1654 w 638"/>
                  <a:gd name="T15" fmla="*/ 642 h 561"/>
                  <a:gd name="T16" fmla="*/ 1927 w 638"/>
                  <a:gd name="T17" fmla="*/ 865 h 561"/>
                  <a:gd name="T18" fmla="*/ 1828 w 638"/>
                  <a:gd name="T19" fmla="*/ 958 h 561"/>
                  <a:gd name="T20" fmla="*/ 1828 w 638"/>
                  <a:gd name="T21" fmla="*/ 1689 h 561"/>
                  <a:gd name="T22" fmla="*/ 50 w 638"/>
                  <a:gd name="T23" fmla="*/ 1680 h 5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8"/>
                  <a:gd name="T37" fmla="*/ 0 h 561"/>
                  <a:gd name="T38" fmla="*/ 638 w 638"/>
                  <a:gd name="T39" fmla="*/ 561 h 5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8" h="561">
                    <a:moveTo>
                      <a:pt x="17" y="558"/>
                    </a:moveTo>
                    <a:lnTo>
                      <a:pt x="17" y="321"/>
                    </a:lnTo>
                    <a:lnTo>
                      <a:pt x="0" y="291"/>
                    </a:lnTo>
                    <a:lnTo>
                      <a:pt x="332" y="6"/>
                    </a:lnTo>
                    <a:lnTo>
                      <a:pt x="452" y="120"/>
                    </a:lnTo>
                    <a:lnTo>
                      <a:pt x="452" y="0"/>
                    </a:lnTo>
                    <a:lnTo>
                      <a:pt x="548" y="0"/>
                    </a:lnTo>
                    <a:lnTo>
                      <a:pt x="548" y="213"/>
                    </a:lnTo>
                    <a:lnTo>
                      <a:pt x="638" y="288"/>
                    </a:lnTo>
                    <a:lnTo>
                      <a:pt x="605" y="318"/>
                    </a:lnTo>
                    <a:lnTo>
                      <a:pt x="605" y="561"/>
                    </a:lnTo>
                    <a:lnTo>
                      <a:pt x="17" y="558"/>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494" name="Rectangle 8"/>
              <p:cNvSpPr>
                <a:spLocks noChangeArrowheads="1"/>
              </p:cNvSpPr>
              <p:nvPr/>
            </p:nvSpPr>
            <p:spPr bwMode="auto">
              <a:xfrm>
                <a:off x="3695" y="3136"/>
                <a:ext cx="174" cy="268"/>
              </a:xfrm>
              <a:prstGeom prst="rect">
                <a:avLst/>
              </a:prstGeom>
              <a:solidFill>
                <a:schemeClr val="folHlink"/>
              </a:solidFill>
              <a:ln w="12700" algn="ctr">
                <a:solidFill>
                  <a:schemeClr val="bg1"/>
                </a:solidFill>
                <a:miter lim="800000"/>
                <a:headEnd/>
                <a:tailEnd/>
              </a:ln>
            </p:spPr>
            <p:txBody>
              <a:bodyPr lIns="0" tIns="0" rIns="0" bIns="0" anchor="ctr">
                <a:spAutoFit/>
              </a:bodyPr>
              <a:lstStyle/>
              <a:p>
                <a:endParaRPr lang="en-US"/>
              </a:p>
            </p:txBody>
          </p:sp>
          <p:sp>
            <p:nvSpPr>
              <p:cNvPr id="495" name="Rectangle 9"/>
              <p:cNvSpPr>
                <a:spLocks noChangeArrowheads="1"/>
              </p:cNvSpPr>
              <p:nvPr/>
            </p:nvSpPr>
            <p:spPr bwMode="auto">
              <a:xfrm>
                <a:off x="3928" y="3140"/>
                <a:ext cx="174" cy="154"/>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496" name="Line 10"/>
              <p:cNvSpPr>
                <a:spLocks noChangeShapeType="1"/>
              </p:cNvSpPr>
              <p:nvPr/>
            </p:nvSpPr>
            <p:spPr bwMode="auto">
              <a:xfrm>
                <a:off x="3928" y="3219"/>
                <a:ext cx="17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97" name="Line 11"/>
              <p:cNvSpPr>
                <a:spLocks noChangeShapeType="1"/>
              </p:cNvSpPr>
              <p:nvPr/>
            </p:nvSpPr>
            <p:spPr bwMode="auto">
              <a:xfrm>
                <a:off x="4015" y="3140"/>
                <a:ext cx="0" cy="1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98" name="Rectangle 12"/>
              <p:cNvSpPr>
                <a:spLocks noChangeArrowheads="1"/>
              </p:cNvSpPr>
              <p:nvPr/>
            </p:nvSpPr>
            <p:spPr bwMode="auto">
              <a:xfrm>
                <a:off x="3446" y="3140"/>
                <a:ext cx="174" cy="154"/>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499" name="Line 13"/>
              <p:cNvSpPr>
                <a:spLocks noChangeShapeType="1"/>
              </p:cNvSpPr>
              <p:nvPr/>
            </p:nvSpPr>
            <p:spPr bwMode="auto">
              <a:xfrm>
                <a:off x="3446" y="3219"/>
                <a:ext cx="17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00" name="Line 14"/>
              <p:cNvSpPr>
                <a:spLocks noChangeShapeType="1"/>
              </p:cNvSpPr>
              <p:nvPr/>
            </p:nvSpPr>
            <p:spPr bwMode="auto">
              <a:xfrm>
                <a:off x="3533" y="3138"/>
                <a:ext cx="0" cy="1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01" name="Freeform 15"/>
              <p:cNvSpPr>
                <a:spLocks/>
              </p:cNvSpPr>
              <p:nvPr/>
            </p:nvSpPr>
            <p:spPr bwMode="auto">
              <a:xfrm>
                <a:off x="3309" y="2675"/>
                <a:ext cx="326" cy="428"/>
              </a:xfrm>
              <a:custGeom>
                <a:avLst/>
                <a:gdLst>
                  <a:gd name="T0" fmla="*/ 7 w 1163"/>
                  <a:gd name="T1" fmla="*/ 4 h 1531"/>
                  <a:gd name="T2" fmla="*/ 7 w 1163"/>
                  <a:gd name="T3" fmla="*/ 3 h 1531"/>
                  <a:gd name="T4" fmla="*/ 7 w 1163"/>
                  <a:gd name="T5" fmla="*/ 3 h 1531"/>
                  <a:gd name="T6" fmla="*/ 6 w 1163"/>
                  <a:gd name="T7" fmla="*/ 3 h 1531"/>
                  <a:gd name="T8" fmla="*/ 6 w 1163"/>
                  <a:gd name="T9" fmla="*/ 4 h 1531"/>
                  <a:gd name="T10" fmla="*/ 6 w 1163"/>
                  <a:gd name="T11" fmla="*/ 4 h 1531"/>
                  <a:gd name="T12" fmla="*/ 6 w 1163"/>
                  <a:gd name="T13" fmla="*/ 4 h 1531"/>
                  <a:gd name="T14" fmla="*/ 5 w 1163"/>
                  <a:gd name="T15" fmla="*/ 5 h 1531"/>
                  <a:gd name="T16" fmla="*/ 5 w 1163"/>
                  <a:gd name="T17" fmla="*/ 6 h 1531"/>
                  <a:gd name="T18" fmla="*/ 5 w 1163"/>
                  <a:gd name="T19" fmla="*/ 7 h 1531"/>
                  <a:gd name="T20" fmla="*/ 5 w 1163"/>
                  <a:gd name="T21" fmla="*/ 7 h 1531"/>
                  <a:gd name="T22" fmla="*/ 4 w 1163"/>
                  <a:gd name="T23" fmla="*/ 8 h 1531"/>
                  <a:gd name="T24" fmla="*/ 4 w 1163"/>
                  <a:gd name="T25" fmla="*/ 8 h 1531"/>
                  <a:gd name="T26" fmla="*/ 4 w 1163"/>
                  <a:gd name="T27" fmla="*/ 7 h 1531"/>
                  <a:gd name="T28" fmla="*/ 4 w 1163"/>
                  <a:gd name="T29" fmla="*/ 6 h 1531"/>
                  <a:gd name="T30" fmla="*/ 4 w 1163"/>
                  <a:gd name="T31" fmla="*/ 5 h 1531"/>
                  <a:gd name="T32" fmla="*/ 5 w 1163"/>
                  <a:gd name="T33" fmla="*/ 4 h 1531"/>
                  <a:gd name="T34" fmla="*/ 4 w 1163"/>
                  <a:gd name="T35" fmla="*/ 3 h 1531"/>
                  <a:gd name="T36" fmla="*/ 4 w 1163"/>
                  <a:gd name="T37" fmla="*/ 2 h 1531"/>
                  <a:gd name="T38" fmla="*/ 3 w 1163"/>
                  <a:gd name="T39" fmla="*/ 1 h 1531"/>
                  <a:gd name="T40" fmla="*/ 3 w 1163"/>
                  <a:gd name="T41" fmla="*/ 1 h 1531"/>
                  <a:gd name="T42" fmla="*/ 4 w 1163"/>
                  <a:gd name="T43" fmla="*/ 0 h 1531"/>
                  <a:gd name="T44" fmla="*/ 3 w 1163"/>
                  <a:gd name="T45" fmla="*/ 0 h 1531"/>
                  <a:gd name="T46" fmla="*/ 3 w 1163"/>
                  <a:gd name="T47" fmla="*/ 1 h 1531"/>
                  <a:gd name="T48" fmla="*/ 3 w 1163"/>
                  <a:gd name="T49" fmla="*/ 2 h 1531"/>
                  <a:gd name="T50" fmla="*/ 3 w 1163"/>
                  <a:gd name="T51" fmla="*/ 3 h 1531"/>
                  <a:gd name="T52" fmla="*/ 3 w 1163"/>
                  <a:gd name="T53" fmla="*/ 4 h 1531"/>
                  <a:gd name="T54" fmla="*/ 2 w 1163"/>
                  <a:gd name="T55" fmla="*/ 6 h 1531"/>
                  <a:gd name="T56" fmla="*/ 2 w 1163"/>
                  <a:gd name="T57" fmla="*/ 5 h 1531"/>
                  <a:gd name="T58" fmla="*/ 2 w 1163"/>
                  <a:gd name="T59" fmla="*/ 4 h 1531"/>
                  <a:gd name="T60" fmla="*/ 2 w 1163"/>
                  <a:gd name="T61" fmla="*/ 3 h 1531"/>
                  <a:gd name="T62" fmla="*/ 2 w 1163"/>
                  <a:gd name="T63" fmla="*/ 3 h 1531"/>
                  <a:gd name="T64" fmla="*/ 2 w 1163"/>
                  <a:gd name="T65" fmla="*/ 2 h 1531"/>
                  <a:gd name="T66" fmla="*/ 2 w 1163"/>
                  <a:gd name="T67" fmla="*/ 2 h 1531"/>
                  <a:gd name="T68" fmla="*/ 2 w 1163"/>
                  <a:gd name="T69" fmla="*/ 3 h 1531"/>
                  <a:gd name="T70" fmla="*/ 1 w 1163"/>
                  <a:gd name="T71" fmla="*/ 4 h 1531"/>
                  <a:gd name="T72" fmla="*/ 1 w 1163"/>
                  <a:gd name="T73" fmla="*/ 5 h 1531"/>
                  <a:gd name="T74" fmla="*/ 0 w 1163"/>
                  <a:gd name="T75" fmla="*/ 6 h 1531"/>
                  <a:gd name="T76" fmla="*/ 0 w 1163"/>
                  <a:gd name="T77" fmla="*/ 6 h 1531"/>
                  <a:gd name="T78" fmla="*/ 0 w 1163"/>
                  <a:gd name="T79" fmla="*/ 7 h 1531"/>
                  <a:gd name="T80" fmla="*/ 1 w 1163"/>
                  <a:gd name="T81" fmla="*/ 8 h 1531"/>
                  <a:gd name="T82" fmla="*/ 1 w 1163"/>
                  <a:gd name="T83" fmla="*/ 8 h 1531"/>
                  <a:gd name="T84" fmla="*/ 2 w 1163"/>
                  <a:gd name="T85" fmla="*/ 8 h 1531"/>
                  <a:gd name="T86" fmla="*/ 2 w 1163"/>
                  <a:gd name="T87" fmla="*/ 9 h 1531"/>
                  <a:gd name="T88" fmla="*/ 3 w 1163"/>
                  <a:gd name="T89" fmla="*/ 9 h 1531"/>
                  <a:gd name="T90" fmla="*/ 3 w 1163"/>
                  <a:gd name="T91" fmla="*/ 9 h 1531"/>
                  <a:gd name="T92" fmla="*/ 3 w 1163"/>
                  <a:gd name="T93" fmla="*/ 9 h 1531"/>
                  <a:gd name="T94" fmla="*/ 3 w 1163"/>
                  <a:gd name="T95" fmla="*/ 9 h 1531"/>
                  <a:gd name="T96" fmla="*/ 3 w 1163"/>
                  <a:gd name="T97" fmla="*/ 9 h 1531"/>
                  <a:gd name="T98" fmla="*/ 3 w 1163"/>
                  <a:gd name="T99" fmla="*/ 9 h 1531"/>
                  <a:gd name="T100" fmla="*/ 4 w 1163"/>
                  <a:gd name="T101" fmla="*/ 9 h 1531"/>
                  <a:gd name="T102" fmla="*/ 4 w 1163"/>
                  <a:gd name="T103" fmla="*/ 9 h 1531"/>
                  <a:gd name="T104" fmla="*/ 5 w 1163"/>
                  <a:gd name="T105" fmla="*/ 9 h 1531"/>
                  <a:gd name="T106" fmla="*/ 5 w 1163"/>
                  <a:gd name="T107" fmla="*/ 9 h 1531"/>
                  <a:gd name="T108" fmla="*/ 6 w 1163"/>
                  <a:gd name="T109" fmla="*/ 9 h 1531"/>
                  <a:gd name="T110" fmla="*/ 7 w 1163"/>
                  <a:gd name="T111" fmla="*/ 8 h 1531"/>
                  <a:gd name="T112" fmla="*/ 7 w 1163"/>
                  <a:gd name="T113" fmla="*/ 7 h 1531"/>
                  <a:gd name="T114" fmla="*/ 7 w 1163"/>
                  <a:gd name="T115" fmla="*/ 6 h 153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63"/>
                  <a:gd name="T175" fmla="*/ 0 h 1531"/>
                  <a:gd name="T176" fmla="*/ 1163 w 1163"/>
                  <a:gd name="T177" fmla="*/ 1531 h 153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63" h="1531">
                    <a:moveTo>
                      <a:pt x="1077" y="804"/>
                    </a:moveTo>
                    <a:lnTo>
                      <a:pt x="1075" y="773"/>
                    </a:lnTo>
                    <a:lnTo>
                      <a:pt x="1075" y="739"/>
                    </a:lnTo>
                    <a:lnTo>
                      <a:pt x="1077" y="700"/>
                    </a:lnTo>
                    <a:lnTo>
                      <a:pt x="1082" y="660"/>
                    </a:lnTo>
                    <a:lnTo>
                      <a:pt x="1090" y="621"/>
                    </a:lnTo>
                    <a:lnTo>
                      <a:pt x="1101" y="585"/>
                    </a:lnTo>
                    <a:lnTo>
                      <a:pt x="1116" y="553"/>
                    </a:lnTo>
                    <a:lnTo>
                      <a:pt x="1134" y="528"/>
                    </a:lnTo>
                    <a:lnTo>
                      <a:pt x="1121" y="535"/>
                    </a:lnTo>
                    <a:lnTo>
                      <a:pt x="1108" y="538"/>
                    </a:lnTo>
                    <a:lnTo>
                      <a:pt x="1095" y="543"/>
                    </a:lnTo>
                    <a:lnTo>
                      <a:pt x="1082" y="546"/>
                    </a:lnTo>
                    <a:lnTo>
                      <a:pt x="1070" y="551"/>
                    </a:lnTo>
                    <a:lnTo>
                      <a:pt x="1057" y="556"/>
                    </a:lnTo>
                    <a:lnTo>
                      <a:pt x="1046" y="563"/>
                    </a:lnTo>
                    <a:lnTo>
                      <a:pt x="1034" y="571"/>
                    </a:lnTo>
                    <a:lnTo>
                      <a:pt x="1025" y="579"/>
                    </a:lnTo>
                    <a:lnTo>
                      <a:pt x="1016" y="587"/>
                    </a:lnTo>
                    <a:lnTo>
                      <a:pt x="1008" y="597"/>
                    </a:lnTo>
                    <a:lnTo>
                      <a:pt x="1000" y="605"/>
                    </a:lnTo>
                    <a:lnTo>
                      <a:pt x="992" y="615"/>
                    </a:lnTo>
                    <a:lnTo>
                      <a:pt x="984" y="625"/>
                    </a:lnTo>
                    <a:lnTo>
                      <a:pt x="977" y="634"/>
                    </a:lnTo>
                    <a:lnTo>
                      <a:pt x="969" y="644"/>
                    </a:lnTo>
                    <a:lnTo>
                      <a:pt x="949" y="670"/>
                    </a:lnTo>
                    <a:lnTo>
                      <a:pt x="931" y="696"/>
                    </a:lnTo>
                    <a:lnTo>
                      <a:pt x="915" y="722"/>
                    </a:lnTo>
                    <a:lnTo>
                      <a:pt x="899" y="750"/>
                    </a:lnTo>
                    <a:lnTo>
                      <a:pt x="884" y="778"/>
                    </a:lnTo>
                    <a:lnTo>
                      <a:pt x="871" y="806"/>
                    </a:lnTo>
                    <a:lnTo>
                      <a:pt x="858" y="835"/>
                    </a:lnTo>
                    <a:lnTo>
                      <a:pt x="848" y="866"/>
                    </a:lnTo>
                    <a:lnTo>
                      <a:pt x="838" y="899"/>
                    </a:lnTo>
                    <a:lnTo>
                      <a:pt x="832" y="931"/>
                    </a:lnTo>
                    <a:lnTo>
                      <a:pt x="825" y="965"/>
                    </a:lnTo>
                    <a:lnTo>
                      <a:pt x="819" y="1000"/>
                    </a:lnTo>
                    <a:lnTo>
                      <a:pt x="812" y="1032"/>
                    </a:lnTo>
                    <a:lnTo>
                      <a:pt x="802" y="1067"/>
                    </a:lnTo>
                    <a:lnTo>
                      <a:pt x="793" y="1099"/>
                    </a:lnTo>
                    <a:lnTo>
                      <a:pt x="778" y="1130"/>
                    </a:lnTo>
                    <a:lnTo>
                      <a:pt x="770" y="1147"/>
                    </a:lnTo>
                    <a:lnTo>
                      <a:pt x="760" y="1161"/>
                    </a:lnTo>
                    <a:lnTo>
                      <a:pt x="749" y="1174"/>
                    </a:lnTo>
                    <a:lnTo>
                      <a:pt x="735" y="1186"/>
                    </a:lnTo>
                    <a:lnTo>
                      <a:pt x="722" y="1197"/>
                    </a:lnTo>
                    <a:lnTo>
                      <a:pt x="709" y="1209"/>
                    </a:lnTo>
                    <a:lnTo>
                      <a:pt x="696" y="1220"/>
                    </a:lnTo>
                    <a:lnTo>
                      <a:pt x="682" y="1230"/>
                    </a:lnTo>
                    <a:lnTo>
                      <a:pt x="677" y="1223"/>
                    </a:lnTo>
                    <a:lnTo>
                      <a:pt x="672" y="1217"/>
                    </a:lnTo>
                    <a:lnTo>
                      <a:pt x="667" y="1212"/>
                    </a:lnTo>
                    <a:lnTo>
                      <a:pt x="660" y="1205"/>
                    </a:lnTo>
                    <a:lnTo>
                      <a:pt x="628" y="1168"/>
                    </a:lnTo>
                    <a:lnTo>
                      <a:pt x="605" y="1130"/>
                    </a:lnTo>
                    <a:lnTo>
                      <a:pt x="590" y="1091"/>
                    </a:lnTo>
                    <a:lnTo>
                      <a:pt x="585" y="1050"/>
                    </a:lnTo>
                    <a:lnTo>
                      <a:pt x="587" y="1009"/>
                    </a:lnTo>
                    <a:lnTo>
                      <a:pt x="593" y="967"/>
                    </a:lnTo>
                    <a:lnTo>
                      <a:pt x="606" y="923"/>
                    </a:lnTo>
                    <a:lnTo>
                      <a:pt x="624" y="877"/>
                    </a:lnTo>
                    <a:lnTo>
                      <a:pt x="641" y="843"/>
                    </a:lnTo>
                    <a:lnTo>
                      <a:pt x="660" y="807"/>
                    </a:lnTo>
                    <a:lnTo>
                      <a:pt x="682" y="770"/>
                    </a:lnTo>
                    <a:lnTo>
                      <a:pt x="703" y="732"/>
                    </a:lnTo>
                    <a:lnTo>
                      <a:pt x="721" y="693"/>
                    </a:lnTo>
                    <a:lnTo>
                      <a:pt x="735" y="654"/>
                    </a:lnTo>
                    <a:lnTo>
                      <a:pt x="744" y="615"/>
                    </a:lnTo>
                    <a:lnTo>
                      <a:pt x="744" y="576"/>
                    </a:lnTo>
                    <a:lnTo>
                      <a:pt x="734" y="538"/>
                    </a:lnTo>
                    <a:lnTo>
                      <a:pt x="717" y="504"/>
                    </a:lnTo>
                    <a:lnTo>
                      <a:pt x="693" y="470"/>
                    </a:lnTo>
                    <a:lnTo>
                      <a:pt x="667" y="439"/>
                    </a:lnTo>
                    <a:lnTo>
                      <a:pt x="636" y="409"/>
                    </a:lnTo>
                    <a:lnTo>
                      <a:pt x="606" y="380"/>
                    </a:lnTo>
                    <a:lnTo>
                      <a:pt x="579" y="350"/>
                    </a:lnTo>
                    <a:lnTo>
                      <a:pt x="554" y="323"/>
                    </a:lnTo>
                    <a:lnTo>
                      <a:pt x="535" y="290"/>
                    </a:lnTo>
                    <a:lnTo>
                      <a:pt x="523" y="253"/>
                    </a:lnTo>
                    <a:lnTo>
                      <a:pt x="518" y="213"/>
                    </a:lnTo>
                    <a:lnTo>
                      <a:pt x="518" y="174"/>
                    </a:lnTo>
                    <a:lnTo>
                      <a:pt x="523" y="145"/>
                    </a:lnTo>
                    <a:lnTo>
                      <a:pt x="531" y="120"/>
                    </a:lnTo>
                    <a:lnTo>
                      <a:pt x="543" y="98"/>
                    </a:lnTo>
                    <a:lnTo>
                      <a:pt x="556" y="78"/>
                    </a:lnTo>
                    <a:lnTo>
                      <a:pt x="570" y="58"/>
                    </a:lnTo>
                    <a:lnTo>
                      <a:pt x="588" y="39"/>
                    </a:lnTo>
                    <a:lnTo>
                      <a:pt x="606" y="21"/>
                    </a:lnTo>
                    <a:lnTo>
                      <a:pt x="626" y="0"/>
                    </a:lnTo>
                    <a:lnTo>
                      <a:pt x="592" y="10"/>
                    </a:lnTo>
                    <a:lnTo>
                      <a:pt x="556" y="21"/>
                    </a:lnTo>
                    <a:lnTo>
                      <a:pt x="521" y="36"/>
                    </a:lnTo>
                    <a:lnTo>
                      <a:pt x="490" y="54"/>
                    </a:lnTo>
                    <a:lnTo>
                      <a:pt x="464" y="76"/>
                    </a:lnTo>
                    <a:lnTo>
                      <a:pt x="443" y="103"/>
                    </a:lnTo>
                    <a:lnTo>
                      <a:pt x="430" y="135"/>
                    </a:lnTo>
                    <a:lnTo>
                      <a:pt x="425" y="174"/>
                    </a:lnTo>
                    <a:lnTo>
                      <a:pt x="428" y="227"/>
                    </a:lnTo>
                    <a:lnTo>
                      <a:pt x="438" y="280"/>
                    </a:lnTo>
                    <a:lnTo>
                      <a:pt x="450" y="333"/>
                    </a:lnTo>
                    <a:lnTo>
                      <a:pt x="464" y="385"/>
                    </a:lnTo>
                    <a:lnTo>
                      <a:pt x="476" y="437"/>
                    </a:lnTo>
                    <a:lnTo>
                      <a:pt x="486" y="489"/>
                    </a:lnTo>
                    <a:lnTo>
                      <a:pt x="490" y="543"/>
                    </a:lnTo>
                    <a:lnTo>
                      <a:pt x="489" y="597"/>
                    </a:lnTo>
                    <a:lnTo>
                      <a:pt x="479" y="646"/>
                    </a:lnTo>
                    <a:lnTo>
                      <a:pt x="461" y="691"/>
                    </a:lnTo>
                    <a:lnTo>
                      <a:pt x="438" y="735"/>
                    </a:lnTo>
                    <a:lnTo>
                      <a:pt x="412" y="776"/>
                    </a:lnTo>
                    <a:lnTo>
                      <a:pt x="383" y="817"/>
                    </a:lnTo>
                    <a:lnTo>
                      <a:pt x="352" y="856"/>
                    </a:lnTo>
                    <a:lnTo>
                      <a:pt x="321" y="895"/>
                    </a:lnTo>
                    <a:lnTo>
                      <a:pt x="291" y="934"/>
                    </a:lnTo>
                    <a:lnTo>
                      <a:pt x="291" y="905"/>
                    </a:lnTo>
                    <a:lnTo>
                      <a:pt x="294" y="876"/>
                    </a:lnTo>
                    <a:lnTo>
                      <a:pt x="301" y="845"/>
                    </a:lnTo>
                    <a:lnTo>
                      <a:pt x="309" y="815"/>
                    </a:lnTo>
                    <a:lnTo>
                      <a:pt x="319" y="786"/>
                    </a:lnTo>
                    <a:lnTo>
                      <a:pt x="330" y="757"/>
                    </a:lnTo>
                    <a:lnTo>
                      <a:pt x="340" y="729"/>
                    </a:lnTo>
                    <a:lnTo>
                      <a:pt x="350" y="701"/>
                    </a:lnTo>
                    <a:lnTo>
                      <a:pt x="366" y="651"/>
                    </a:lnTo>
                    <a:lnTo>
                      <a:pt x="378" y="600"/>
                    </a:lnTo>
                    <a:lnTo>
                      <a:pt x="386" y="549"/>
                    </a:lnTo>
                    <a:lnTo>
                      <a:pt x="386" y="497"/>
                    </a:lnTo>
                    <a:lnTo>
                      <a:pt x="384" y="470"/>
                    </a:lnTo>
                    <a:lnTo>
                      <a:pt x="379" y="440"/>
                    </a:lnTo>
                    <a:lnTo>
                      <a:pt x="370" y="412"/>
                    </a:lnTo>
                    <a:lnTo>
                      <a:pt x="356" y="388"/>
                    </a:lnTo>
                    <a:lnTo>
                      <a:pt x="345" y="375"/>
                    </a:lnTo>
                    <a:lnTo>
                      <a:pt x="332" y="365"/>
                    </a:lnTo>
                    <a:lnTo>
                      <a:pt x="317" y="357"/>
                    </a:lnTo>
                    <a:lnTo>
                      <a:pt x="303" y="349"/>
                    </a:lnTo>
                    <a:lnTo>
                      <a:pt x="288" y="342"/>
                    </a:lnTo>
                    <a:lnTo>
                      <a:pt x="273" y="334"/>
                    </a:lnTo>
                    <a:lnTo>
                      <a:pt x="258" y="326"/>
                    </a:lnTo>
                    <a:lnTo>
                      <a:pt x="244" y="316"/>
                    </a:lnTo>
                    <a:lnTo>
                      <a:pt x="260" y="368"/>
                    </a:lnTo>
                    <a:lnTo>
                      <a:pt x="273" y="417"/>
                    </a:lnTo>
                    <a:lnTo>
                      <a:pt x="280" y="465"/>
                    </a:lnTo>
                    <a:lnTo>
                      <a:pt x="281" y="512"/>
                    </a:lnTo>
                    <a:lnTo>
                      <a:pt x="276" y="558"/>
                    </a:lnTo>
                    <a:lnTo>
                      <a:pt x="263" y="603"/>
                    </a:lnTo>
                    <a:lnTo>
                      <a:pt x="242" y="649"/>
                    </a:lnTo>
                    <a:lnTo>
                      <a:pt x="211" y="695"/>
                    </a:lnTo>
                    <a:lnTo>
                      <a:pt x="188" y="722"/>
                    </a:lnTo>
                    <a:lnTo>
                      <a:pt x="167" y="752"/>
                    </a:lnTo>
                    <a:lnTo>
                      <a:pt x="144" y="778"/>
                    </a:lnTo>
                    <a:lnTo>
                      <a:pt x="121" y="806"/>
                    </a:lnTo>
                    <a:lnTo>
                      <a:pt x="100" y="833"/>
                    </a:lnTo>
                    <a:lnTo>
                      <a:pt x="79" y="861"/>
                    </a:lnTo>
                    <a:lnTo>
                      <a:pt x="59" y="889"/>
                    </a:lnTo>
                    <a:lnTo>
                      <a:pt x="43" y="917"/>
                    </a:lnTo>
                    <a:lnTo>
                      <a:pt x="28" y="946"/>
                    </a:lnTo>
                    <a:lnTo>
                      <a:pt x="15" y="975"/>
                    </a:lnTo>
                    <a:lnTo>
                      <a:pt x="7" y="1006"/>
                    </a:lnTo>
                    <a:lnTo>
                      <a:pt x="0" y="1039"/>
                    </a:lnTo>
                    <a:lnTo>
                      <a:pt x="0" y="1071"/>
                    </a:lnTo>
                    <a:lnTo>
                      <a:pt x="2" y="1106"/>
                    </a:lnTo>
                    <a:lnTo>
                      <a:pt x="10" y="1143"/>
                    </a:lnTo>
                    <a:lnTo>
                      <a:pt x="23" y="1181"/>
                    </a:lnTo>
                    <a:lnTo>
                      <a:pt x="38" y="1215"/>
                    </a:lnTo>
                    <a:lnTo>
                      <a:pt x="56" y="1248"/>
                    </a:lnTo>
                    <a:lnTo>
                      <a:pt x="77" y="1277"/>
                    </a:lnTo>
                    <a:lnTo>
                      <a:pt x="102" y="1305"/>
                    </a:lnTo>
                    <a:lnTo>
                      <a:pt x="128" y="1329"/>
                    </a:lnTo>
                    <a:lnTo>
                      <a:pt x="156" y="1349"/>
                    </a:lnTo>
                    <a:lnTo>
                      <a:pt x="188" y="1367"/>
                    </a:lnTo>
                    <a:lnTo>
                      <a:pt x="223" y="1380"/>
                    </a:lnTo>
                    <a:lnTo>
                      <a:pt x="240" y="1385"/>
                    </a:lnTo>
                    <a:lnTo>
                      <a:pt x="258" y="1391"/>
                    </a:lnTo>
                    <a:lnTo>
                      <a:pt x="276" y="1396"/>
                    </a:lnTo>
                    <a:lnTo>
                      <a:pt x="293" y="1401"/>
                    </a:lnTo>
                    <a:lnTo>
                      <a:pt x="311" y="1406"/>
                    </a:lnTo>
                    <a:lnTo>
                      <a:pt x="327" y="1412"/>
                    </a:lnTo>
                    <a:lnTo>
                      <a:pt x="343" y="1417"/>
                    </a:lnTo>
                    <a:lnTo>
                      <a:pt x="360" y="1422"/>
                    </a:lnTo>
                    <a:lnTo>
                      <a:pt x="374" y="1429"/>
                    </a:lnTo>
                    <a:lnTo>
                      <a:pt x="391" y="1435"/>
                    </a:lnTo>
                    <a:lnTo>
                      <a:pt x="405" y="1443"/>
                    </a:lnTo>
                    <a:lnTo>
                      <a:pt x="422" y="1452"/>
                    </a:lnTo>
                    <a:lnTo>
                      <a:pt x="438" y="1460"/>
                    </a:lnTo>
                    <a:lnTo>
                      <a:pt x="453" y="1469"/>
                    </a:lnTo>
                    <a:lnTo>
                      <a:pt x="469" y="1479"/>
                    </a:lnTo>
                    <a:lnTo>
                      <a:pt x="486" y="1491"/>
                    </a:lnTo>
                    <a:lnTo>
                      <a:pt x="494" y="1499"/>
                    </a:lnTo>
                    <a:lnTo>
                      <a:pt x="492" y="1483"/>
                    </a:lnTo>
                    <a:lnTo>
                      <a:pt x="490" y="1468"/>
                    </a:lnTo>
                    <a:lnTo>
                      <a:pt x="489" y="1453"/>
                    </a:lnTo>
                    <a:lnTo>
                      <a:pt x="489" y="1437"/>
                    </a:lnTo>
                    <a:lnTo>
                      <a:pt x="500" y="1448"/>
                    </a:lnTo>
                    <a:lnTo>
                      <a:pt x="510" y="1460"/>
                    </a:lnTo>
                    <a:lnTo>
                      <a:pt x="520" y="1471"/>
                    </a:lnTo>
                    <a:lnTo>
                      <a:pt x="528" y="1483"/>
                    </a:lnTo>
                    <a:lnTo>
                      <a:pt x="536" y="1494"/>
                    </a:lnTo>
                    <a:lnTo>
                      <a:pt x="543" y="1507"/>
                    </a:lnTo>
                    <a:lnTo>
                      <a:pt x="548" y="1518"/>
                    </a:lnTo>
                    <a:lnTo>
                      <a:pt x="552" y="1531"/>
                    </a:lnTo>
                    <a:lnTo>
                      <a:pt x="557" y="1523"/>
                    </a:lnTo>
                    <a:lnTo>
                      <a:pt x="564" y="1517"/>
                    </a:lnTo>
                    <a:lnTo>
                      <a:pt x="572" y="1512"/>
                    </a:lnTo>
                    <a:lnTo>
                      <a:pt x="579" y="1507"/>
                    </a:lnTo>
                    <a:lnTo>
                      <a:pt x="595" y="1518"/>
                    </a:lnTo>
                    <a:lnTo>
                      <a:pt x="613" y="1520"/>
                    </a:lnTo>
                    <a:lnTo>
                      <a:pt x="633" y="1515"/>
                    </a:lnTo>
                    <a:lnTo>
                      <a:pt x="652" y="1505"/>
                    </a:lnTo>
                    <a:lnTo>
                      <a:pt x="672" y="1494"/>
                    </a:lnTo>
                    <a:lnTo>
                      <a:pt x="691" y="1481"/>
                    </a:lnTo>
                    <a:lnTo>
                      <a:pt x="709" y="1469"/>
                    </a:lnTo>
                    <a:lnTo>
                      <a:pt x="727" y="1461"/>
                    </a:lnTo>
                    <a:lnTo>
                      <a:pt x="752" y="1455"/>
                    </a:lnTo>
                    <a:lnTo>
                      <a:pt x="776" y="1450"/>
                    </a:lnTo>
                    <a:lnTo>
                      <a:pt x="801" y="1445"/>
                    </a:lnTo>
                    <a:lnTo>
                      <a:pt x="825" y="1442"/>
                    </a:lnTo>
                    <a:lnTo>
                      <a:pt x="851" y="1439"/>
                    </a:lnTo>
                    <a:lnTo>
                      <a:pt x="876" y="1435"/>
                    </a:lnTo>
                    <a:lnTo>
                      <a:pt x="900" y="1432"/>
                    </a:lnTo>
                    <a:lnTo>
                      <a:pt x="927" y="1429"/>
                    </a:lnTo>
                    <a:lnTo>
                      <a:pt x="949" y="1424"/>
                    </a:lnTo>
                    <a:lnTo>
                      <a:pt x="974" y="1417"/>
                    </a:lnTo>
                    <a:lnTo>
                      <a:pt x="997" y="1411"/>
                    </a:lnTo>
                    <a:lnTo>
                      <a:pt x="1020" y="1401"/>
                    </a:lnTo>
                    <a:lnTo>
                      <a:pt x="1041" y="1391"/>
                    </a:lnTo>
                    <a:lnTo>
                      <a:pt x="1062" y="1377"/>
                    </a:lnTo>
                    <a:lnTo>
                      <a:pt x="1082" y="1362"/>
                    </a:lnTo>
                    <a:lnTo>
                      <a:pt x="1100" y="1342"/>
                    </a:lnTo>
                    <a:lnTo>
                      <a:pt x="1142" y="1277"/>
                    </a:lnTo>
                    <a:lnTo>
                      <a:pt x="1162" y="1210"/>
                    </a:lnTo>
                    <a:lnTo>
                      <a:pt x="1163" y="1143"/>
                    </a:lnTo>
                    <a:lnTo>
                      <a:pt x="1152" y="1078"/>
                    </a:lnTo>
                    <a:lnTo>
                      <a:pt x="1132" y="1009"/>
                    </a:lnTo>
                    <a:lnTo>
                      <a:pt x="1110" y="943"/>
                    </a:lnTo>
                    <a:lnTo>
                      <a:pt x="1090" y="874"/>
                    </a:lnTo>
                    <a:lnTo>
                      <a:pt x="1077" y="804"/>
                    </a:lnTo>
                    <a:close/>
                  </a:path>
                </a:pathLst>
              </a:custGeom>
              <a:solidFill>
                <a:schemeClr val="hlink"/>
              </a:solidFill>
              <a:ln w="9525">
                <a:solidFill>
                  <a:schemeClr val="bg1"/>
                </a:solidFill>
                <a:round/>
                <a:headEnd/>
                <a:tailEnd/>
              </a:ln>
            </p:spPr>
            <p:txBody>
              <a:bodyPr/>
              <a:lstStyle/>
              <a:p>
                <a:endParaRPr lang="en-US"/>
              </a:p>
            </p:txBody>
          </p:sp>
          <p:sp>
            <p:nvSpPr>
              <p:cNvPr id="502" name="Freeform 16"/>
              <p:cNvSpPr>
                <a:spLocks/>
              </p:cNvSpPr>
              <p:nvPr/>
            </p:nvSpPr>
            <p:spPr bwMode="auto">
              <a:xfrm>
                <a:off x="3332" y="2706"/>
                <a:ext cx="43" cy="49"/>
              </a:xfrm>
              <a:custGeom>
                <a:avLst/>
                <a:gdLst>
                  <a:gd name="T0" fmla="*/ 1 w 154"/>
                  <a:gd name="T1" fmla="*/ 1 h 173"/>
                  <a:gd name="T2" fmla="*/ 1 w 154"/>
                  <a:gd name="T3" fmla="*/ 1 h 173"/>
                  <a:gd name="T4" fmla="*/ 1 w 154"/>
                  <a:gd name="T5" fmla="*/ 1 h 173"/>
                  <a:gd name="T6" fmla="*/ 1 w 154"/>
                  <a:gd name="T7" fmla="*/ 1 h 173"/>
                  <a:gd name="T8" fmla="*/ 1 w 154"/>
                  <a:gd name="T9" fmla="*/ 1 h 173"/>
                  <a:gd name="T10" fmla="*/ 1 w 154"/>
                  <a:gd name="T11" fmla="*/ 1 h 173"/>
                  <a:gd name="T12" fmla="*/ 1 w 154"/>
                  <a:gd name="T13" fmla="*/ 1 h 173"/>
                  <a:gd name="T14" fmla="*/ 1 w 154"/>
                  <a:gd name="T15" fmla="*/ 1 h 173"/>
                  <a:gd name="T16" fmla="*/ 1 w 154"/>
                  <a:gd name="T17" fmla="*/ 0 h 173"/>
                  <a:gd name="T18" fmla="*/ 1 w 154"/>
                  <a:gd name="T19" fmla="*/ 0 h 173"/>
                  <a:gd name="T20" fmla="*/ 0 w 154"/>
                  <a:gd name="T21" fmla="*/ 0 h 173"/>
                  <a:gd name="T22" fmla="*/ 0 w 154"/>
                  <a:gd name="T23" fmla="*/ 0 h 173"/>
                  <a:gd name="T24" fmla="*/ 0 w 154"/>
                  <a:gd name="T25" fmla="*/ 0 h 173"/>
                  <a:gd name="T26" fmla="*/ 0 w 154"/>
                  <a:gd name="T27" fmla="*/ 0 h 173"/>
                  <a:gd name="T28" fmla="*/ 0 w 154"/>
                  <a:gd name="T29" fmla="*/ 0 h 173"/>
                  <a:gd name="T30" fmla="*/ 0 w 154"/>
                  <a:gd name="T31" fmla="*/ 0 h 173"/>
                  <a:gd name="T32" fmla="*/ 0 w 154"/>
                  <a:gd name="T33" fmla="*/ 0 h 173"/>
                  <a:gd name="T34" fmla="*/ 0 w 154"/>
                  <a:gd name="T35" fmla="*/ 0 h 173"/>
                  <a:gd name="T36" fmla="*/ 0 w 154"/>
                  <a:gd name="T37" fmla="*/ 0 h 173"/>
                  <a:gd name="T38" fmla="*/ 0 w 154"/>
                  <a:gd name="T39" fmla="*/ 1 h 173"/>
                  <a:gd name="T40" fmla="*/ 0 w 154"/>
                  <a:gd name="T41" fmla="*/ 1 h 173"/>
                  <a:gd name="T42" fmla="*/ 0 w 154"/>
                  <a:gd name="T43" fmla="*/ 1 h 173"/>
                  <a:gd name="T44" fmla="*/ 1 w 154"/>
                  <a:gd name="T45" fmla="*/ 1 h 173"/>
                  <a:gd name="T46" fmla="*/ 1 w 154"/>
                  <a:gd name="T47" fmla="*/ 1 h 173"/>
                  <a:gd name="T48" fmla="*/ 1 w 154"/>
                  <a:gd name="T49" fmla="*/ 1 h 173"/>
                  <a:gd name="T50" fmla="*/ 1 w 154"/>
                  <a:gd name="T51" fmla="*/ 1 h 17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4"/>
                  <a:gd name="T79" fmla="*/ 0 h 173"/>
                  <a:gd name="T80" fmla="*/ 154 w 154"/>
                  <a:gd name="T81" fmla="*/ 173 h 17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4" h="173">
                    <a:moveTo>
                      <a:pt x="154" y="131"/>
                    </a:moveTo>
                    <a:lnTo>
                      <a:pt x="149" y="116"/>
                    </a:lnTo>
                    <a:lnTo>
                      <a:pt x="144" y="105"/>
                    </a:lnTo>
                    <a:lnTo>
                      <a:pt x="138" y="95"/>
                    </a:lnTo>
                    <a:lnTo>
                      <a:pt x="128" y="87"/>
                    </a:lnTo>
                    <a:lnTo>
                      <a:pt x="118" y="80"/>
                    </a:lnTo>
                    <a:lnTo>
                      <a:pt x="108" y="74"/>
                    </a:lnTo>
                    <a:lnTo>
                      <a:pt x="95" y="69"/>
                    </a:lnTo>
                    <a:lnTo>
                      <a:pt x="82" y="62"/>
                    </a:lnTo>
                    <a:lnTo>
                      <a:pt x="71" y="57"/>
                    </a:lnTo>
                    <a:lnTo>
                      <a:pt x="59" y="53"/>
                    </a:lnTo>
                    <a:lnTo>
                      <a:pt x="48" y="48"/>
                    </a:lnTo>
                    <a:lnTo>
                      <a:pt x="38" y="41"/>
                    </a:lnTo>
                    <a:lnTo>
                      <a:pt x="30" y="35"/>
                    </a:lnTo>
                    <a:lnTo>
                      <a:pt x="22" y="26"/>
                    </a:lnTo>
                    <a:lnTo>
                      <a:pt x="17" y="15"/>
                    </a:lnTo>
                    <a:lnTo>
                      <a:pt x="12" y="0"/>
                    </a:lnTo>
                    <a:lnTo>
                      <a:pt x="0" y="36"/>
                    </a:lnTo>
                    <a:lnTo>
                      <a:pt x="4" y="66"/>
                    </a:lnTo>
                    <a:lnTo>
                      <a:pt x="18" y="88"/>
                    </a:lnTo>
                    <a:lnTo>
                      <a:pt x="41" y="106"/>
                    </a:lnTo>
                    <a:lnTo>
                      <a:pt x="69" y="123"/>
                    </a:lnTo>
                    <a:lnTo>
                      <a:pt x="98" y="139"/>
                    </a:lnTo>
                    <a:lnTo>
                      <a:pt x="128" y="155"/>
                    </a:lnTo>
                    <a:lnTo>
                      <a:pt x="151" y="173"/>
                    </a:lnTo>
                    <a:lnTo>
                      <a:pt x="154" y="131"/>
                    </a:lnTo>
                    <a:close/>
                  </a:path>
                </a:pathLst>
              </a:custGeom>
              <a:solidFill>
                <a:schemeClr val="hlink"/>
              </a:solidFill>
              <a:ln w="9525">
                <a:solidFill>
                  <a:schemeClr val="bg1"/>
                </a:solidFill>
                <a:round/>
                <a:headEnd/>
                <a:tailEnd/>
              </a:ln>
            </p:spPr>
            <p:txBody>
              <a:bodyPr/>
              <a:lstStyle/>
              <a:p>
                <a:endParaRPr lang="en-US"/>
              </a:p>
            </p:txBody>
          </p:sp>
        </p:grpSp>
      </p:grpSp>
      <p:grpSp>
        <p:nvGrpSpPr>
          <p:cNvPr id="505" name="Group 17"/>
          <p:cNvGrpSpPr>
            <a:grpSpLocks/>
          </p:cNvGrpSpPr>
          <p:nvPr/>
        </p:nvGrpSpPr>
        <p:grpSpPr bwMode="auto">
          <a:xfrm>
            <a:off x="1308100" y="5099692"/>
            <a:ext cx="1201738" cy="822325"/>
            <a:chOff x="1808" y="2634"/>
            <a:chExt cx="1186" cy="813"/>
          </a:xfrm>
        </p:grpSpPr>
        <p:grpSp>
          <p:nvGrpSpPr>
            <p:cNvPr id="506" name="Group 18"/>
            <p:cNvGrpSpPr>
              <a:grpSpLocks/>
            </p:cNvGrpSpPr>
            <p:nvPr/>
          </p:nvGrpSpPr>
          <p:grpSpPr bwMode="auto">
            <a:xfrm>
              <a:off x="1808" y="2634"/>
              <a:ext cx="1186" cy="813"/>
              <a:chOff x="1732" y="3507"/>
              <a:chExt cx="1186" cy="813"/>
            </a:xfrm>
          </p:grpSpPr>
          <p:sp>
            <p:nvSpPr>
              <p:cNvPr id="513" name="AutoShape 19"/>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514" name="AutoShape 20"/>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507" name="Group 21"/>
            <p:cNvGrpSpPr>
              <a:grpSpLocks/>
            </p:cNvGrpSpPr>
            <p:nvPr/>
          </p:nvGrpSpPr>
          <p:grpSpPr bwMode="auto">
            <a:xfrm>
              <a:off x="2083" y="2655"/>
              <a:ext cx="617" cy="784"/>
              <a:chOff x="2900" y="2726"/>
              <a:chExt cx="505" cy="642"/>
            </a:xfrm>
          </p:grpSpPr>
          <p:sp>
            <p:nvSpPr>
              <p:cNvPr id="508" name="Oval 22"/>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509" name="Freeform 23"/>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510" name="Freeform 24"/>
              <p:cNvSpPr>
                <a:spLocks/>
              </p:cNvSpPr>
              <p:nvPr/>
            </p:nvSpPr>
            <p:spPr bwMode="auto">
              <a:xfrm>
                <a:off x="2900" y="3068"/>
                <a:ext cx="409" cy="264"/>
              </a:xfrm>
              <a:custGeom>
                <a:avLst/>
                <a:gdLst>
                  <a:gd name="T0" fmla="*/ 5 w 559"/>
                  <a:gd name="T1" fmla="*/ 1 h 434"/>
                  <a:gd name="T2" fmla="*/ 62 w 559"/>
                  <a:gd name="T3" fmla="*/ 0 h 434"/>
                  <a:gd name="T4" fmla="*/ 57 w 559"/>
                  <a:gd name="T5" fmla="*/ 26 h 434"/>
                  <a:gd name="T6" fmla="*/ 110 w 559"/>
                  <a:gd name="T7" fmla="*/ 19 h 434"/>
                  <a:gd name="T8" fmla="*/ 144 w 559"/>
                  <a:gd name="T9" fmla="*/ 25 h 434"/>
                  <a:gd name="T10" fmla="*/ 160 w 559"/>
                  <a:gd name="T11" fmla="*/ 40 h 434"/>
                  <a:gd name="T12" fmla="*/ 149 w 559"/>
                  <a:gd name="T13" fmla="*/ 54 h 434"/>
                  <a:gd name="T14" fmla="*/ 110 w 559"/>
                  <a:gd name="T15" fmla="*/ 60 h 434"/>
                  <a:gd name="T16" fmla="*/ 67 w 559"/>
                  <a:gd name="T17" fmla="*/ 60 h 434"/>
                  <a:gd name="T18" fmla="*/ 26 w 559"/>
                  <a:gd name="T19" fmla="*/ 56 h 434"/>
                  <a:gd name="T20" fmla="*/ 2 w 559"/>
                  <a:gd name="T21" fmla="*/ 43 h 434"/>
                  <a:gd name="T22" fmla="*/ 0 w 559"/>
                  <a:gd name="T23" fmla="*/ 20 h 434"/>
                  <a:gd name="T24" fmla="*/ 5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511" name="Freeform 25"/>
              <p:cNvSpPr>
                <a:spLocks/>
              </p:cNvSpPr>
              <p:nvPr/>
            </p:nvSpPr>
            <p:spPr bwMode="auto">
              <a:xfrm>
                <a:off x="3022" y="2996"/>
                <a:ext cx="219" cy="331"/>
              </a:xfrm>
              <a:custGeom>
                <a:avLst/>
                <a:gdLst>
                  <a:gd name="T0" fmla="*/ 71 w 300"/>
                  <a:gd name="T1" fmla="*/ 0 h 543"/>
                  <a:gd name="T2" fmla="*/ 0 w 300"/>
                  <a:gd name="T3" fmla="*/ 75 h 543"/>
                  <a:gd name="T4" fmla="*/ 54 w 300"/>
                  <a:gd name="T5" fmla="*/ 75 h 543"/>
                  <a:gd name="T6" fmla="*/ 85 w 300"/>
                  <a:gd name="T7" fmla="*/ 2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512" name="Line 26"/>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grpSp>
        <p:nvGrpSpPr>
          <p:cNvPr id="515" name="Group 27"/>
          <p:cNvGrpSpPr>
            <a:grpSpLocks/>
          </p:cNvGrpSpPr>
          <p:nvPr/>
        </p:nvGrpSpPr>
        <p:grpSpPr bwMode="auto">
          <a:xfrm>
            <a:off x="1298575" y="3334392"/>
            <a:ext cx="1216025" cy="833438"/>
            <a:chOff x="463" y="1743"/>
            <a:chExt cx="1186" cy="813"/>
          </a:xfrm>
        </p:grpSpPr>
        <p:sp>
          <p:nvSpPr>
            <p:cNvPr id="516" name="Freeform 28"/>
            <p:cNvSpPr>
              <a:spLocks/>
            </p:cNvSpPr>
            <p:nvPr/>
          </p:nvSpPr>
          <p:spPr bwMode="auto">
            <a:xfrm>
              <a:off x="1338" y="2248"/>
              <a:ext cx="137" cy="216"/>
            </a:xfrm>
            <a:custGeom>
              <a:avLst/>
              <a:gdLst>
                <a:gd name="T0" fmla="*/ 1 w 530"/>
                <a:gd name="T1" fmla="*/ 4 h 849"/>
                <a:gd name="T2" fmla="*/ 1 w 530"/>
                <a:gd name="T3" fmla="*/ 4 h 849"/>
                <a:gd name="T4" fmla="*/ 1 w 530"/>
                <a:gd name="T5" fmla="*/ 3 h 849"/>
                <a:gd name="T6" fmla="*/ 0 w 530"/>
                <a:gd name="T7" fmla="*/ 3 h 849"/>
                <a:gd name="T8" fmla="*/ 0 w 530"/>
                <a:gd name="T9" fmla="*/ 3 h 849"/>
                <a:gd name="T10" fmla="*/ 0 w 530"/>
                <a:gd name="T11" fmla="*/ 2 h 849"/>
                <a:gd name="T12" fmla="*/ 0 w 530"/>
                <a:gd name="T13" fmla="*/ 2 h 849"/>
                <a:gd name="T14" fmla="*/ 0 w 530"/>
                <a:gd name="T15" fmla="*/ 1 h 849"/>
                <a:gd name="T16" fmla="*/ 0 w 530"/>
                <a:gd name="T17" fmla="*/ 1 h 849"/>
                <a:gd name="T18" fmla="*/ 1 w 530"/>
                <a:gd name="T19" fmla="*/ 1 h 849"/>
                <a:gd name="T20" fmla="*/ 1 w 530"/>
                <a:gd name="T21" fmla="*/ 0 h 849"/>
                <a:gd name="T22" fmla="*/ 1 w 530"/>
                <a:gd name="T23" fmla="*/ 0 h 849"/>
                <a:gd name="T24" fmla="*/ 2 w 530"/>
                <a:gd name="T25" fmla="*/ 0 h 849"/>
                <a:gd name="T26" fmla="*/ 2 w 530"/>
                <a:gd name="T27" fmla="*/ 0 h 849"/>
                <a:gd name="T28" fmla="*/ 2 w 530"/>
                <a:gd name="T29" fmla="*/ 1 h 849"/>
                <a:gd name="T30" fmla="*/ 2 w 530"/>
                <a:gd name="T31" fmla="*/ 1 h 849"/>
                <a:gd name="T32" fmla="*/ 2 w 530"/>
                <a:gd name="T33" fmla="*/ 2 h 849"/>
                <a:gd name="T34" fmla="*/ 2 w 530"/>
                <a:gd name="T35" fmla="*/ 2 h 849"/>
                <a:gd name="T36" fmla="*/ 2 w 530"/>
                <a:gd name="T37" fmla="*/ 3 h 849"/>
                <a:gd name="T38" fmla="*/ 2 w 530"/>
                <a:gd name="T39" fmla="*/ 3 h 849"/>
                <a:gd name="T40" fmla="*/ 2 w 530"/>
                <a:gd name="T41" fmla="*/ 3 h 849"/>
                <a:gd name="T42" fmla="*/ 1 w 530"/>
                <a:gd name="T43" fmla="*/ 4 h 849"/>
                <a:gd name="T44" fmla="*/ 1 w 530"/>
                <a:gd name="T45" fmla="*/ 4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7" name="Freeform 29"/>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8" name="AutoShape 30"/>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519" name="AutoShape 31"/>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520" name="Freeform 32"/>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521" name="Freeform 33"/>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522" name="Freeform 34"/>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523" name="Freeform 35"/>
            <p:cNvSpPr>
              <a:spLocks/>
            </p:cNvSpPr>
            <p:nvPr/>
          </p:nvSpPr>
          <p:spPr bwMode="auto">
            <a:xfrm>
              <a:off x="1142" y="1990"/>
              <a:ext cx="71" cy="99"/>
            </a:xfrm>
            <a:custGeom>
              <a:avLst/>
              <a:gdLst>
                <a:gd name="T0" fmla="*/ 0 w 276"/>
                <a:gd name="T1" fmla="*/ 1 h 388"/>
                <a:gd name="T2" fmla="*/ 0 w 276"/>
                <a:gd name="T3" fmla="*/ 1 h 388"/>
                <a:gd name="T4" fmla="*/ 0 w 276"/>
                <a:gd name="T5" fmla="*/ 1 h 388"/>
                <a:gd name="T6" fmla="*/ 0 w 276"/>
                <a:gd name="T7" fmla="*/ 1 h 388"/>
                <a:gd name="T8" fmla="*/ 0 w 276"/>
                <a:gd name="T9" fmla="*/ 1 h 388"/>
                <a:gd name="T10" fmla="*/ 0 w 276"/>
                <a:gd name="T11" fmla="*/ 1 h 388"/>
                <a:gd name="T12" fmla="*/ 0 w 276"/>
                <a:gd name="T13" fmla="*/ 0 h 388"/>
                <a:gd name="T14" fmla="*/ 0 w 276"/>
                <a:gd name="T15" fmla="*/ 0 h 388"/>
                <a:gd name="T16" fmla="*/ 1 w 276"/>
                <a:gd name="T17" fmla="*/ 0 h 388"/>
                <a:gd name="T18" fmla="*/ 1 w 276"/>
                <a:gd name="T19" fmla="*/ 0 h 388"/>
                <a:gd name="T20" fmla="*/ 1 w 276"/>
                <a:gd name="T21" fmla="*/ 0 h 388"/>
                <a:gd name="T22" fmla="*/ 1 w 276"/>
                <a:gd name="T23" fmla="*/ 0 h 388"/>
                <a:gd name="T24" fmla="*/ 1 w 276"/>
                <a:gd name="T25" fmla="*/ 0 h 388"/>
                <a:gd name="T26" fmla="*/ 1 w 276"/>
                <a:gd name="T27" fmla="*/ 0 h 388"/>
                <a:gd name="T28" fmla="*/ 1 w 276"/>
                <a:gd name="T29" fmla="*/ 0 h 388"/>
                <a:gd name="T30" fmla="*/ 1 w 276"/>
                <a:gd name="T31" fmla="*/ 1 h 388"/>
                <a:gd name="T32" fmla="*/ 1 w 276"/>
                <a:gd name="T33" fmla="*/ 1 h 388"/>
                <a:gd name="T34" fmla="*/ 1 w 276"/>
                <a:gd name="T35" fmla="*/ 1 h 388"/>
                <a:gd name="T36" fmla="*/ 1 w 276"/>
                <a:gd name="T37" fmla="*/ 1 h 388"/>
                <a:gd name="T38" fmla="*/ 1 w 276"/>
                <a:gd name="T39" fmla="*/ 1 h 388"/>
                <a:gd name="T40" fmla="*/ 1 w 276"/>
                <a:gd name="T41" fmla="*/ 2 h 388"/>
                <a:gd name="T42" fmla="*/ 1 w 276"/>
                <a:gd name="T43" fmla="*/ 2 h 388"/>
                <a:gd name="T44" fmla="*/ 1 w 276"/>
                <a:gd name="T45" fmla="*/ 2 h 388"/>
                <a:gd name="T46" fmla="*/ 1 w 276"/>
                <a:gd name="T47" fmla="*/ 2 h 388"/>
                <a:gd name="T48" fmla="*/ 0 w 276"/>
                <a:gd name="T49" fmla="*/ 2 h 388"/>
                <a:gd name="T50" fmla="*/ 0 w 276"/>
                <a:gd name="T51" fmla="*/ 2 h 388"/>
                <a:gd name="T52" fmla="*/ 0 w 276"/>
                <a:gd name="T53" fmla="*/ 2 h 388"/>
                <a:gd name="T54" fmla="*/ 0 w 276"/>
                <a:gd name="T55" fmla="*/ 1 h 388"/>
                <a:gd name="T56" fmla="*/ 0 w 276"/>
                <a:gd name="T57" fmla="*/ 2 h 388"/>
                <a:gd name="T58" fmla="*/ 1 w 276"/>
                <a:gd name="T59" fmla="*/ 2 h 388"/>
                <a:gd name="T60" fmla="*/ 1 w 276"/>
                <a:gd name="T61" fmla="*/ 2 h 388"/>
                <a:gd name="T62" fmla="*/ 1 w 276"/>
                <a:gd name="T63" fmla="*/ 1 h 388"/>
                <a:gd name="T64" fmla="*/ 1 w 276"/>
                <a:gd name="T65" fmla="*/ 1 h 388"/>
                <a:gd name="T66" fmla="*/ 1 w 276"/>
                <a:gd name="T67" fmla="*/ 1 h 388"/>
                <a:gd name="T68" fmla="*/ 1 w 276"/>
                <a:gd name="T69" fmla="*/ 1 h 388"/>
                <a:gd name="T70" fmla="*/ 1 w 276"/>
                <a:gd name="T71" fmla="*/ 1 h 388"/>
                <a:gd name="T72" fmla="*/ 1 w 276"/>
                <a:gd name="T73" fmla="*/ 1 h 388"/>
                <a:gd name="T74" fmla="*/ 1 w 276"/>
                <a:gd name="T75" fmla="*/ 1 h 388"/>
                <a:gd name="T76" fmla="*/ 1 w 276"/>
                <a:gd name="T77" fmla="*/ 1 h 388"/>
                <a:gd name="T78" fmla="*/ 1 w 276"/>
                <a:gd name="T79" fmla="*/ 1 h 388"/>
                <a:gd name="T80" fmla="*/ 1 w 276"/>
                <a:gd name="T81" fmla="*/ 0 h 388"/>
                <a:gd name="T82" fmla="*/ 1 w 276"/>
                <a:gd name="T83" fmla="*/ 0 h 388"/>
                <a:gd name="T84" fmla="*/ 1 w 276"/>
                <a:gd name="T85" fmla="*/ 0 h 388"/>
                <a:gd name="T86" fmla="*/ 1 w 276"/>
                <a:gd name="T87" fmla="*/ 0 h 388"/>
                <a:gd name="T88" fmla="*/ 1 w 276"/>
                <a:gd name="T89" fmla="*/ 0 h 388"/>
                <a:gd name="T90" fmla="*/ 1 w 276"/>
                <a:gd name="T91" fmla="*/ 0 h 388"/>
                <a:gd name="T92" fmla="*/ 0 w 276"/>
                <a:gd name="T93" fmla="*/ 1 h 388"/>
                <a:gd name="T94" fmla="*/ 0 w 276"/>
                <a:gd name="T95" fmla="*/ 1 h 388"/>
                <a:gd name="T96" fmla="*/ 0 w 276"/>
                <a:gd name="T97" fmla="*/ 1 h 388"/>
                <a:gd name="T98" fmla="*/ 0 w 276"/>
                <a:gd name="T99" fmla="*/ 1 h 388"/>
                <a:gd name="T100" fmla="*/ 0 w 276"/>
                <a:gd name="T101" fmla="*/ 1 h 388"/>
                <a:gd name="T102" fmla="*/ 0 w 276"/>
                <a:gd name="T103" fmla="*/ 1 h 388"/>
                <a:gd name="T104" fmla="*/ 0 w 276"/>
                <a:gd name="T105" fmla="*/ 1 h 388"/>
                <a:gd name="T106" fmla="*/ 0 w 276"/>
                <a:gd name="T107" fmla="*/ 1 h 388"/>
                <a:gd name="T108" fmla="*/ 0 w 276"/>
                <a:gd name="T109" fmla="*/ 1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4" name="Freeform 36"/>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5" name="Freeform 37"/>
            <p:cNvSpPr>
              <a:spLocks/>
            </p:cNvSpPr>
            <p:nvPr/>
          </p:nvSpPr>
          <p:spPr bwMode="auto">
            <a:xfrm>
              <a:off x="1153" y="2018"/>
              <a:ext cx="51" cy="36"/>
            </a:xfrm>
            <a:custGeom>
              <a:avLst/>
              <a:gdLst>
                <a:gd name="T0" fmla="*/ 1 w 202"/>
                <a:gd name="T1" fmla="*/ 0 h 141"/>
                <a:gd name="T2" fmla="*/ 0 w 202"/>
                <a:gd name="T3" fmla="*/ 0 h 141"/>
                <a:gd name="T4" fmla="*/ 0 w 202"/>
                <a:gd name="T5" fmla="*/ 0 h 141"/>
                <a:gd name="T6" fmla="*/ 0 w 202"/>
                <a:gd name="T7" fmla="*/ 1 h 141"/>
                <a:gd name="T8" fmla="*/ 1 w 202"/>
                <a:gd name="T9" fmla="*/ 1 h 141"/>
                <a:gd name="T10" fmla="*/ 1 w 202"/>
                <a:gd name="T11" fmla="*/ 0 h 141"/>
                <a:gd name="T12" fmla="*/ 1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6" name="Freeform 38"/>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527" name="Freeform 39"/>
            <p:cNvSpPr>
              <a:spLocks/>
            </p:cNvSpPr>
            <p:nvPr/>
          </p:nvSpPr>
          <p:spPr bwMode="auto">
            <a:xfrm rot="1661969">
              <a:off x="1352" y="1764"/>
              <a:ext cx="205" cy="160"/>
            </a:xfrm>
            <a:custGeom>
              <a:avLst/>
              <a:gdLst>
                <a:gd name="T0" fmla="*/ 2 w 530"/>
                <a:gd name="T1" fmla="*/ 9 h 342"/>
                <a:gd name="T2" fmla="*/ 1 w 530"/>
                <a:gd name="T3" fmla="*/ 9 h 342"/>
                <a:gd name="T4" fmla="*/ 1 w 530"/>
                <a:gd name="T5" fmla="*/ 10 h 342"/>
                <a:gd name="T6" fmla="*/ 0 w 530"/>
                <a:gd name="T7" fmla="*/ 11 h 342"/>
                <a:gd name="T8" fmla="*/ 0 w 530"/>
                <a:gd name="T9" fmla="*/ 12 h 342"/>
                <a:gd name="T10" fmla="*/ 0 w 530"/>
                <a:gd name="T11" fmla="*/ 14 h 342"/>
                <a:gd name="T12" fmla="*/ 1 w 530"/>
                <a:gd name="T13" fmla="*/ 15 h 342"/>
                <a:gd name="T14" fmla="*/ 1 w 530"/>
                <a:gd name="T15" fmla="*/ 16 h 342"/>
                <a:gd name="T16" fmla="*/ 2 w 530"/>
                <a:gd name="T17" fmla="*/ 16 h 342"/>
                <a:gd name="T18" fmla="*/ 2 w 530"/>
                <a:gd name="T19" fmla="*/ 16 h 342"/>
                <a:gd name="T20" fmla="*/ 3 w 530"/>
                <a:gd name="T21" fmla="*/ 16 h 342"/>
                <a:gd name="T22" fmla="*/ 3 w 530"/>
                <a:gd name="T23" fmla="*/ 16 h 342"/>
                <a:gd name="T24" fmla="*/ 4 w 530"/>
                <a:gd name="T25" fmla="*/ 15 h 342"/>
                <a:gd name="T26" fmla="*/ 5 w 530"/>
                <a:gd name="T27" fmla="*/ 14 h 342"/>
                <a:gd name="T28" fmla="*/ 5 w 530"/>
                <a:gd name="T29" fmla="*/ 13 h 342"/>
                <a:gd name="T30" fmla="*/ 6 w 530"/>
                <a:gd name="T31" fmla="*/ 12 h 342"/>
                <a:gd name="T32" fmla="*/ 6 w 530"/>
                <a:gd name="T33" fmla="*/ 13 h 342"/>
                <a:gd name="T34" fmla="*/ 7 w 530"/>
                <a:gd name="T35" fmla="*/ 14 h 342"/>
                <a:gd name="T36" fmla="*/ 7 w 530"/>
                <a:gd name="T37" fmla="*/ 14 h 342"/>
                <a:gd name="T38" fmla="*/ 8 w 530"/>
                <a:gd name="T39" fmla="*/ 14 h 342"/>
                <a:gd name="T40" fmla="*/ 9 w 530"/>
                <a:gd name="T41" fmla="*/ 13 h 342"/>
                <a:gd name="T42" fmla="*/ 9 w 530"/>
                <a:gd name="T43" fmla="*/ 11 h 342"/>
                <a:gd name="T44" fmla="*/ 9 w 530"/>
                <a:gd name="T45" fmla="*/ 10 h 342"/>
                <a:gd name="T46" fmla="*/ 9 w 530"/>
                <a:gd name="T47" fmla="*/ 10 h 342"/>
                <a:gd name="T48" fmla="*/ 9 w 530"/>
                <a:gd name="T49" fmla="*/ 10 h 342"/>
                <a:gd name="T50" fmla="*/ 10 w 530"/>
                <a:gd name="T51" fmla="*/ 10 h 342"/>
                <a:gd name="T52" fmla="*/ 10 w 530"/>
                <a:gd name="T53" fmla="*/ 10 h 342"/>
                <a:gd name="T54" fmla="*/ 11 w 530"/>
                <a:gd name="T55" fmla="*/ 10 h 342"/>
                <a:gd name="T56" fmla="*/ 12 w 530"/>
                <a:gd name="T57" fmla="*/ 9 h 342"/>
                <a:gd name="T58" fmla="*/ 12 w 530"/>
                <a:gd name="T59" fmla="*/ 7 h 342"/>
                <a:gd name="T60" fmla="*/ 12 w 530"/>
                <a:gd name="T61" fmla="*/ 6 h 342"/>
                <a:gd name="T62" fmla="*/ 12 w 530"/>
                <a:gd name="T63" fmla="*/ 4 h 342"/>
                <a:gd name="T64" fmla="*/ 12 w 530"/>
                <a:gd name="T65" fmla="*/ 2 h 342"/>
                <a:gd name="T66" fmla="*/ 11 w 530"/>
                <a:gd name="T67" fmla="*/ 1 h 342"/>
                <a:gd name="T68" fmla="*/ 10 w 530"/>
                <a:gd name="T69" fmla="*/ 0 h 342"/>
                <a:gd name="T70" fmla="*/ 10 w 530"/>
                <a:gd name="T71" fmla="*/ 0 h 342"/>
                <a:gd name="T72" fmla="*/ 9 w 530"/>
                <a:gd name="T73" fmla="*/ 1 h 342"/>
                <a:gd name="T74" fmla="*/ 9 w 530"/>
                <a:gd name="T75" fmla="*/ 2 h 342"/>
                <a:gd name="T76" fmla="*/ 8 w 530"/>
                <a:gd name="T77" fmla="*/ 2 h 342"/>
                <a:gd name="T78" fmla="*/ 8 w 530"/>
                <a:gd name="T79" fmla="*/ 1 h 342"/>
                <a:gd name="T80" fmla="*/ 7 w 530"/>
                <a:gd name="T81" fmla="*/ 1 h 342"/>
                <a:gd name="T82" fmla="*/ 7 w 530"/>
                <a:gd name="T83" fmla="*/ 1 h 342"/>
                <a:gd name="T84" fmla="*/ 6 w 530"/>
                <a:gd name="T85" fmla="*/ 1 h 342"/>
                <a:gd name="T86" fmla="*/ 5 w 530"/>
                <a:gd name="T87" fmla="*/ 2 h 342"/>
                <a:gd name="T88" fmla="*/ 5 w 530"/>
                <a:gd name="T89" fmla="*/ 3 h 342"/>
                <a:gd name="T90" fmla="*/ 5 w 530"/>
                <a:gd name="T91" fmla="*/ 4 h 342"/>
                <a:gd name="T92" fmla="*/ 5 w 530"/>
                <a:gd name="T93" fmla="*/ 6 h 342"/>
                <a:gd name="T94" fmla="*/ 4 w 530"/>
                <a:gd name="T95" fmla="*/ 7 h 342"/>
                <a:gd name="T96" fmla="*/ 3 w 530"/>
                <a:gd name="T97" fmla="*/ 7 h 342"/>
                <a:gd name="T98" fmla="*/ 3 w 530"/>
                <a:gd name="T99" fmla="*/ 8 h 342"/>
                <a:gd name="T100" fmla="*/ 2 w 530"/>
                <a:gd name="T101" fmla="*/ 9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a:solidFill>
                <a:schemeClr val="bg1"/>
              </a:solidFill>
              <a:round/>
              <a:headEnd/>
              <a:tailEnd/>
            </a:ln>
          </p:spPr>
          <p:txBody>
            <a:bodyPr/>
            <a:lstStyle/>
            <a:p>
              <a:endParaRPr lang="en-US"/>
            </a:p>
          </p:txBody>
        </p:sp>
        <p:sp>
          <p:nvSpPr>
            <p:cNvPr id="528" name="Line 40"/>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29" name="Line 41"/>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30" name="Oval 42"/>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531" name="Freeform 43"/>
            <p:cNvSpPr>
              <a:spLocks/>
            </p:cNvSpPr>
            <p:nvPr/>
          </p:nvSpPr>
          <p:spPr bwMode="auto">
            <a:xfrm>
              <a:off x="611" y="2261"/>
              <a:ext cx="197" cy="198"/>
            </a:xfrm>
            <a:custGeom>
              <a:avLst/>
              <a:gdLst>
                <a:gd name="T0" fmla="*/ 1 w 770"/>
                <a:gd name="T1" fmla="*/ 3 h 778"/>
                <a:gd name="T2" fmla="*/ 1 w 770"/>
                <a:gd name="T3" fmla="*/ 3 h 778"/>
                <a:gd name="T4" fmla="*/ 0 w 770"/>
                <a:gd name="T5" fmla="*/ 3 h 778"/>
                <a:gd name="T6" fmla="*/ 0 w 770"/>
                <a:gd name="T7" fmla="*/ 2 h 778"/>
                <a:gd name="T8" fmla="*/ 0 w 770"/>
                <a:gd name="T9" fmla="*/ 2 h 778"/>
                <a:gd name="T10" fmla="*/ 0 w 770"/>
                <a:gd name="T11" fmla="*/ 2 h 778"/>
                <a:gd name="T12" fmla="*/ 0 w 770"/>
                <a:gd name="T13" fmla="*/ 1 h 778"/>
                <a:gd name="T14" fmla="*/ 0 w 770"/>
                <a:gd name="T15" fmla="*/ 1 h 778"/>
                <a:gd name="T16" fmla="*/ 1 w 770"/>
                <a:gd name="T17" fmla="*/ 1 h 778"/>
                <a:gd name="T18" fmla="*/ 1 w 770"/>
                <a:gd name="T19" fmla="*/ 0 h 778"/>
                <a:gd name="T20" fmla="*/ 1 w 770"/>
                <a:gd name="T21" fmla="*/ 0 h 778"/>
                <a:gd name="T22" fmla="*/ 2 w 770"/>
                <a:gd name="T23" fmla="*/ 0 h 778"/>
                <a:gd name="T24" fmla="*/ 2 w 770"/>
                <a:gd name="T25" fmla="*/ 0 h 778"/>
                <a:gd name="T26" fmla="*/ 2 w 770"/>
                <a:gd name="T27" fmla="*/ 0 h 778"/>
                <a:gd name="T28" fmla="*/ 3 w 770"/>
                <a:gd name="T29" fmla="*/ 1 h 778"/>
                <a:gd name="T30" fmla="*/ 3 w 770"/>
                <a:gd name="T31" fmla="*/ 1 h 778"/>
                <a:gd name="T32" fmla="*/ 3 w 770"/>
                <a:gd name="T33" fmla="*/ 1 h 778"/>
                <a:gd name="T34" fmla="*/ 3 w 770"/>
                <a:gd name="T35" fmla="*/ 2 h 778"/>
                <a:gd name="T36" fmla="*/ 3 w 770"/>
                <a:gd name="T37" fmla="*/ 2 h 778"/>
                <a:gd name="T38" fmla="*/ 3 w 770"/>
                <a:gd name="T39" fmla="*/ 2 h 778"/>
                <a:gd name="T40" fmla="*/ 3 w 770"/>
                <a:gd name="T41" fmla="*/ 3 h 778"/>
                <a:gd name="T42" fmla="*/ 3 w 770"/>
                <a:gd name="T43" fmla="*/ 3 h 778"/>
                <a:gd name="T44" fmla="*/ 2 w 770"/>
                <a:gd name="T45" fmla="*/ 3 h 778"/>
                <a:gd name="T46" fmla="*/ 2 w 770"/>
                <a:gd name="T47" fmla="*/ 3 h 778"/>
                <a:gd name="T48" fmla="*/ 2 w 770"/>
                <a:gd name="T49" fmla="*/ 3 h 778"/>
                <a:gd name="T50" fmla="*/ 1 w 770"/>
                <a:gd name="T51" fmla="*/ 3 h 778"/>
                <a:gd name="T52" fmla="*/ 1 w 770"/>
                <a:gd name="T53" fmla="*/ 3 h 778"/>
                <a:gd name="T54" fmla="*/ 1 w 770"/>
                <a:gd name="T55" fmla="*/ 3 h 778"/>
                <a:gd name="T56" fmla="*/ 2 w 770"/>
                <a:gd name="T57" fmla="*/ 3 h 778"/>
                <a:gd name="T58" fmla="*/ 2 w 770"/>
                <a:gd name="T59" fmla="*/ 3 h 778"/>
                <a:gd name="T60" fmla="*/ 2 w 770"/>
                <a:gd name="T61" fmla="*/ 3 h 778"/>
                <a:gd name="T62" fmla="*/ 2 w 770"/>
                <a:gd name="T63" fmla="*/ 3 h 778"/>
                <a:gd name="T64" fmla="*/ 3 w 770"/>
                <a:gd name="T65" fmla="*/ 2 h 778"/>
                <a:gd name="T66" fmla="*/ 3 w 770"/>
                <a:gd name="T67" fmla="*/ 2 h 778"/>
                <a:gd name="T68" fmla="*/ 3 w 770"/>
                <a:gd name="T69" fmla="*/ 2 h 778"/>
                <a:gd name="T70" fmla="*/ 3 w 770"/>
                <a:gd name="T71" fmla="*/ 2 h 778"/>
                <a:gd name="T72" fmla="*/ 3 w 770"/>
                <a:gd name="T73" fmla="*/ 1 h 778"/>
                <a:gd name="T74" fmla="*/ 3 w 770"/>
                <a:gd name="T75" fmla="*/ 1 h 778"/>
                <a:gd name="T76" fmla="*/ 3 w 770"/>
                <a:gd name="T77" fmla="*/ 1 h 778"/>
                <a:gd name="T78" fmla="*/ 2 w 770"/>
                <a:gd name="T79" fmla="*/ 1 h 778"/>
                <a:gd name="T80" fmla="*/ 2 w 770"/>
                <a:gd name="T81" fmla="*/ 1 h 778"/>
                <a:gd name="T82" fmla="*/ 2 w 770"/>
                <a:gd name="T83" fmla="*/ 1 h 778"/>
                <a:gd name="T84" fmla="*/ 1 w 770"/>
                <a:gd name="T85" fmla="*/ 1 h 778"/>
                <a:gd name="T86" fmla="*/ 1 w 770"/>
                <a:gd name="T87" fmla="*/ 1 h 778"/>
                <a:gd name="T88" fmla="*/ 1 w 770"/>
                <a:gd name="T89" fmla="*/ 1 h 778"/>
                <a:gd name="T90" fmla="*/ 1 w 770"/>
                <a:gd name="T91" fmla="*/ 1 h 778"/>
                <a:gd name="T92" fmla="*/ 1 w 770"/>
                <a:gd name="T93" fmla="*/ 1 h 778"/>
                <a:gd name="T94" fmla="*/ 1 w 770"/>
                <a:gd name="T95" fmla="*/ 2 h 778"/>
                <a:gd name="T96" fmla="*/ 1 w 770"/>
                <a:gd name="T97" fmla="*/ 2 h 778"/>
                <a:gd name="T98" fmla="*/ 1 w 770"/>
                <a:gd name="T99" fmla="*/ 2 h 778"/>
                <a:gd name="T100" fmla="*/ 1 w 770"/>
                <a:gd name="T101" fmla="*/ 2 h 778"/>
                <a:gd name="T102" fmla="*/ 1 w 770"/>
                <a:gd name="T103" fmla="*/ 3 h 778"/>
                <a:gd name="T104" fmla="*/ 1 w 770"/>
                <a:gd name="T105" fmla="*/ 3 h 778"/>
                <a:gd name="T106" fmla="*/ 1 w 770"/>
                <a:gd name="T107" fmla="*/ 3 h 778"/>
                <a:gd name="T108" fmla="*/ 1 w 770"/>
                <a:gd name="T109" fmla="*/ 3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2" name="Freeform 44"/>
            <p:cNvSpPr>
              <a:spLocks/>
            </p:cNvSpPr>
            <p:nvPr/>
          </p:nvSpPr>
          <p:spPr bwMode="auto">
            <a:xfrm>
              <a:off x="653" y="2425"/>
              <a:ext cx="38" cy="24"/>
            </a:xfrm>
            <a:custGeom>
              <a:avLst/>
              <a:gdLst>
                <a:gd name="T0" fmla="*/ 1 w 150"/>
                <a:gd name="T1" fmla="*/ 0 h 93"/>
                <a:gd name="T2" fmla="*/ 0 w 150"/>
                <a:gd name="T3" fmla="*/ 0 h 93"/>
                <a:gd name="T4" fmla="*/ 0 w 150"/>
                <a:gd name="T5" fmla="*/ 0 h 93"/>
                <a:gd name="T6" fmla="*/ 0 w 150"/>
                <a:gd name="T7" fmla="*/ 1 h 93"/>
                <a:gd name="T8" fmla="*/ 1 w 150"/>
                <a:gd name="T9" fmla="*/ 0 h 93"/>
                <a:gd name="T10" fmla="*/ 1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3" name="Oval 45"/>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534" name="Freeform 46"/>
            <p:cNvSpPr>
              <a:spLocks/>
            </p:cNvSpPr>
            <p:nvPr/>
          </p:nvSpPr>
          <p:spPr bwMode="auto">
            <a:xfrm>
              <a:off x="1336" y="2201"/>
              <a:ext cx="156" cy="249"/>
            </a:xfrm>
            <a:custGeom>
              <a:avLst/>
              <a:gdLst>
                <a:gd name="T0" fmla="*/ 1 w 606"/>
                <a:gd name="T1" fmla="*/ 4 h 969"/>
                <a:gd name="T2" fmla="*/ 0 w 606"/>
                <a:gd name="T3" fmla="*/ 4 h 969"/>
                <a:gd name="T4" fmla="*/ 0 w 606"/>
                <a:gd name="T5" fmla="*/ 3 h 969"/>
                <a:gd name="T6" fmla="*/ 0 w 606"/>
                <a:gd name="T7" fmla="*/ 3 h 969"/>
                <a:gd name="T8" fmla="*/ 0 w 606"/>
                <a:gd name="T9" fmla="*/ 2 h 969"/>
                <a:gd name="T10" fmla="*/ 0 w 606"/>
                <a:gd name="T11" fmla="*/ 2 h 969"/>
                <a:gd name="T12" fmla="*/ 0 w 606"/>
                <a:gd name="T13" fmla="*/ 1 h 969"/>
                <a:gd name="T14" fmla="*/ 0 w 606"/>
                <a:gd name="T15" fmla="*/ 1 h 969"/>
                <a:gd name="T16" fmla="*/ 1 w 606"/>
                <a:gd name="T17" fmla="*/ 1 h 969"/>
                <a:gd name="T18" fmla="*/ 1 w 606"/>
                <a:gd name="T19" fmla="*/ 0 h 969"/>
                <a:gd name="T20" fmla="*/ 1 w 606"/>
                <a:gd name="T21" fmla="*/ 0 h 969"/>
                <a:gd name="T22" fmla="*/ 2 w 606"/>
                <a:gd name="T23" fmla="*/ 0 h 969"/>
                <a:gd name="T24" fmla="*/ 2 w 606"/>
                <a:gd name="T25" fmla="*/ 0 h 969"/>
                <a:gd name="T26" fmla="*/ 2 w 606"/>
                <a:gd name="T27" fmla="*/ 0 h 969"/>
                <a:gd name="T28" fmla="*/ 2 w 606"/>
                <a:gd name="T29" fmla="*/ 1 h 969"/>
                <a:gd name="T30" fmla="*/ 3 w 606"/>
                <a:gd name="T31" fmla="*/ 1 h 969"/>
                <a:gd name="T32" fmla="*/ 3 w 606"/>
                <a:gd name="T33" fmla="*/ 2 h 969"/>
                <a:gd name="T34" fmla="*/ 3 w 606"/>
                <a:gd name="T35" fmla="*/ 2 h 969"/>
                <a:gd name="T36" fmla="*/ 3 w 606"/>
                <a:gd name="T37" fmla="*/ 3 h 969"/>
                <a:gd name="T38" fmla="*/ 3 w 606"/>
                <a:gd name="T39" fmla="*/ 3 h 969"/>
                <a:gd name="T40" fmla="*/ 2 w 606"/>
                <a:gd name="T41" fmla="*/ 3 h 969"/>
                <a:gd name="T42" fmla="*/ 2 w 606"/>
                <a:gd name="T43" fmla="*/ 4 h 969"/>
                <a:gd name="T44" fmla="*/ 2 w 606"/>
                <a:gd name="T45" fmla="*/ 4 h 969"/>
                <a:gd name="T46" fmla="*/ 2 w 606"/>
                <a:gd name="T47" fmla="*/ 4 h 969"/>
                <a:gd name="T48" fmla="*/ 1 w 606"/>
                <a:gd name="T49" fmla="*/ 4 h 969"/>
                <a:gd name="T50" fmla="*/ 1 w 606"/>
                <a:gd name="T51" fmla="*/ 4 h 969"/>
                <a:gd name="T52" fmla="*/ 1 w 606"/>
                <a:gd name="T53" fmla="*/ 4 h 969"/>
                <a:gd name="T54" fmla="*/ 1 w 606"/>
                <a:gd name="T55" fmla="*/ 4 h 969"/>
                <a:gd name="T56" fmla="*/ 1 w 606"/>
                <a:gd name="T57" fmla="*/ 4 h 969"/>
                <a:gd name="T58" fmla="*/ 1 w 606"/>
                <a:gd name="T59" fmla="*/ 4 h 969"/>
                <a:gd name="T60" fmla="*/ 2 w 606"/>
                <a:gd name="T61" fmla="*/ 4 h 969"/>
                <a:gd name="T62" fmla="*/ 2 w 606"/>
                <a:gd name="T63" fmla="*/ 3 h 969"/>
                <a:gd name="T64" fmla="*/ 2 w 606"/>
                <a:gd name="T65" fmla="*/ 3 h 969"/>
                <a:gd name="T66" fmla="*/ 2 w 606"/>
                <a:gd name="T67" fmla="*/ 3 h 969"/>
                <a:gd name="T68" fmla="*/ 2 w 606"/>
                <a:gd name="T69" fmla="*/ 3 h 969"/>
                <a:gd name="T70" fmla="*/ 2 w 606"/>
                <a:gd name="T71" fmla="*/ 2 h 969"/>
                <a:gd name="T72" fmla="*/ 2 w 606"/>
                <a:gd name="T73" fmla="*/ 2 h 969"/>
                <a:gd name="T74" fmla="*/ 2 w 606"/>
                <a:gd name="T75" fmla="*/ 1 h 969"/>
                <a:gd name="T76" fmla="*/ 2 w 606"/>
                <a:gd name="T77" fmla="*/ 1 h 969"/>
                <a:gd name="T78" fmla="*/ 2 w 606"/>
                <a:gd name="T79" fmla="*/ 1 h 969"/>
                <a:gd name="T80" fmla="*/ 2 w 606"/>
                <a:gd name="T81" fmla="*/ 1 h 969"/>
                <a:gd name="T82" fmla="*/ 2 w 606"/>
                <a:gd name="T83" fmla="*/ 1 h 969"/>
                <a:gd name="T84" fmla="*/ 1 w 606"/>
                <a:gd name="T85" fmla="*/ 1 h 969"/>
                <a:gd name="T86" fmla="*/ 1 w 606"/>
                <a:gd name="T87" fmla="*/ 1 h 969"/>
                <a:gd name="T88" fmla="*/ 1 w 606"/>
                <a:gd name="T89" fmla="*/ 1 h 969"/>
                <a:gd name="T90" fmla="*/ 1 w 606"/>
                <a:gd name="T91" fmla="*/ 1 h 969"/>
                <a:gd name="T92" fmla="*/ 1 w 606"/>
                <a:gd name="T93" fmla="*/ 1 h 969"/>
                <a:gd name="T94" fmla="*/ 1 w 606"/>
                <a:gd name="T95" fmla="*/ 2 h 969"/>
                <a:gd name="T96" fmla="*/ 0 w 606"/>
                <a:gd name="T97" fmla="*/ 2 h 969"/>
                <a:gd name="T98" fmla="*/ 0 w 606"/>
                <a:gd name="T99" fmla="*/ 3 h 969"/>
                <a:gd name="T100" fmla="*/ 1 w 606"/>
                <a:gd name="T101" fmla="*/ 3 h 969"/>
                <a:gd name="T102" fmla="*/ 1 w 606"/>
                <a:gd name="T103" fmla="*/ 3 h 969"/>
                <a:gd name="T104" fmla="*/ 1 w 606"/>
                <a:gd name="T105" fmla="*/ 4 h 969"/>
                <a:gd name="T106" fmla="*/ 1 w 606"/>
                <a:gd name="T107" fmla="*/ 4 h 969"/>
                <a:gd name="T108" fmla="*/ 1 w 606"/>
                <a:gd name="T109" fmla="*/ 4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5" name="Freeform 47"/>
            <p:cNvSpPr>
              <a:spLocks/>
            </p:cNvSpPr>
            <p:nvPr/>
          </p:nvSpPr>
          <p:spPr bwMode="auto">
            <a:xfrm>
              <a:off x="1360" y="2402"/>
              <a:ext cx="33" cy="30"/>
            </a:xfrm>
            <a:custGeom>
              <a:avLst/>
              <a:gdLst>
                <a:gd name="T0" fmla="*/ 1 w 122"/>
                <a:gd name="T1" fmla="*/ 0 h 116"/>
                <a:gd name="T2" fmla="*/ 0 w 122"/>
                <a:gd name="T3" fmla="*/ 0 h 116"/>
                <a:gd name="T4" fmla="*/ 0 w 122"/>
                <a:gd name="T5" fmla="*/ 0 h 116"/>
                <a:gd name="T6" fmla="*/ 0 w 122"/>
                <a:gd name="T7" fmla="*/ 1 h 116"/>
                <a:gd name="T8" fmla="*/ 1 w 122"/>
                <a:gd name="T9" fmla="*/ 0 h 116"/>
                <a:gd name="T10" fmla="*/ 1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536" name="Text Box 98"/>
          <p:cNvSpPr txBox="1">
            <a:spLocks noChangeArrowheads="1"/>
          </p:cNvSpPr>
          <p:nvPr/>
        </p:nvSpPr>
        <p:spPr bwMode="auto">
          <a:xfrm>
            <a:off x="1322388" y="3007367"/>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incident</a:t>
            </a:r>
          </a:p>
        </p:txBody>
      </p:sp>
      <p:grpSp>
        <p:nvGrpSpPr>
          <p:cNvPr id="537" name="Group 536"/>
          <p:cNvGrpSpPr/>
          <p:nvPr/>
        </p:nvGrpSpPr>
        <p:grpSpPr>
          <a:xfrm>
            <a:off x="2692479" y="3291346"/>
            <a:ext cx="762000" cy="741506"/>
            <a:chOff x="4343400" y="4495800"/>
            <a:chExt cx="762000" cy="741506"/>
          </a:xfrm>
        </p:grpSpPr>
        <p:sp>
          <p:nvSpPr>
            <p:cNvPr id="538" name="Rounded Rectangle 537"/>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39" name="Straight Connector 538"/>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40" name="Picture 53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41" name="Picture 54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542" name="Group 541"/>
          <p:cNvGrpSpPr/>
          <p:nvPr/>
        </p:nvGrpSpPr>
        <p:grpSpPr>
          <a:xfrm>
            <a:off x="2874197" y="3443746"/>
            <a:ext cx="762000" cy="741506"/>
            <a:chOff x="4343400" y="4495800"/>
            <a:chExt cx="762000" cy="741506"/>
          </a:xfrm>
        </p:grpSpPr>
        <p:sp>
          <p:nvSpPr>
            <p:cNvPr id="543" name="Rounded Rectangle 542"/>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44" name="Straight Connector 543"/>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45" name="Picture 54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46" name="Picture 54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547" name="Group 546"/>
          <p:cNvGrpSpPr/>
          <p:nvPr/>
        </p:nvGrpSpPr>
        <p:grpSpPr>
          <a:xfrm>
            <a:off x="2692479" y="4213911"/>
            <a:ext cx="762000" cy="741506"/>
            <a:chOff x="4343400" y="4495800"/>
            <a:chExt cx="762000" cy="741506"/>
          </a:xfrm>
        </p:grpSpPr>
        <p:sp>
          <p:nvSpPr>
            <p:cNvPr id="548" name="Rounded Rectangle 547"/>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49" name="Straight Connector 548"/>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50" name="Picture 54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51" name="Picture 55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552" name="Group 551"/>
          <p:cNvGrpSpPr/>
          <p:nvPr/>
        </p:nvGrpSpPr>
        <p:grpSpPr>
          <a:xfrm>
            <a:off x="2859287" y="4366311"/>
            <a:ext cx="762000" cy="741506"/>
            <a:chOff x="4343400" y="4495800"/>
            <a:chExt cx="762000" cy="741506"/>
          </a:xfrm>
        </p:grpSpPr>
        <p:sp>
          <p:nvSpPr>
            <p:cNvPr id="553" name="Rounded Rectangle 552"/>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54" name="Straight Connector 553"/>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55" name="Picture 55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56" name="Picture 55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557" name="Group 556"/>
          <p:cNvGrpSpPr/>
          <p:nvPr/>
        </p:nvGrpSpPr>
        <p:grpSpPr>
          <a:xfrm>
            <a:off x="2692479" y="5127408"/>
            <a:ext cx="762000" cy="741506"/>
            <a:chOff x="4343400" y="4495800"/>
            <a:chExt cx="762000" cy="741506"/>
          </a:xfrm>
        </p:grpSpPr>
        <p:sp>
          <p:nvSpPr>
            <p:cNvPr id="558" name="Rounded Rectangle 557"/>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59" name="Straight Connector 558"/>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60" name="Picture 55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61" name="Picture 56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562" name="Group 561"/>
          <p:cNvGrpSpPr/>
          <p:nvPr/>
        </p:nvGrpSpPr>
        <p:grpSpPr>
          <a:xfrm>
            <a:off x="2844879" y="5279808"/>
            <a:ext cx="762000" cy="741506"/>
            <a:chOff x="4343400" y="4495800"/>
            <a:chExt cx="762000" cy="741506"/>
          </a:xfrm>
        </p:grpSpPr>
        <p:sp>
          <p:nvSpPr>
            <p:cNvPr id="563" name="Rounded Rectangle 562"/>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64" name="Straight Connector 563"/>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65" name="Picture 56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66" name="Picture 56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sp>
        <p:nvSpPr>
          <p:cNvPr id="567" name="Line 144"/>
          <p:cNvSpPr>
            <a:spLocks noChangeShapeType="1"/>
          </p:cNvSpPr>
          <p:nvPr/>
        </p:nvSpPr>
        <p:spPr bwMode="auto">
          <a:xfrm>
            <a:off x="5283200" y="2780355"/>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68" name="Line 71"/>
          <p:cNvSpPr>
            <a:spLocks noChangeShapeType="1"/>
          </p:cNvSpPr>
          <p:nvPr/>
        </p:nvSpPr>
        <p:spPr bwMode="auto">
          <a:xfrm>
            <a:off x="4262777" y="2775796"/>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69" name="Line 69"/>
          <p:cNvSpPr>
            <a:spLocks noChangeShapeType="1"/>
          </p:cNvSpPr>
          <p:nvPr/>
        </p:nvSpPr>
        <p:spPr bwMode="auto">
          <a:xfrm>
            <a:off x="717550" y="2770830"/>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70" name="Line 116"/>
          <p:cNvSpPr>
            <a:spLocks noChangeShapeType="1"/>
          </p:cNvSpPr>
          <p:nvPr/>
        </p:nvSpPr>
        <p:spPr bwMode="auto">
          <a:xfrm>
            <a:off x="1900238" y="2770830"/>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71" name="Line 71"/>
          <p:cNvSpPr>
            <a:spLocks noChangeShapeType="1"/>
          </p:cNvSpPr>
          <p:nvPr/>
        </p:nvSpPr>
        <p:spPr bwMode="auto">
          <a:xfrm>
            <a:off x="3115667" y="2770830"/>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extLst>
      <p:ext uri="{BB962C8B-B14F-4D97-AF65-F5344CB8AC3E}">
        <p14:creationId xmlns:p14="http://schemas.microsoft.com/office/powerpoint/2010/main" val="692258224"/>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|EOS~005|</a:t>
            </a:r>
            <a:endParaRPr lang="en-US" sz="100" dirty="0" err="1" smtClean="0">
              <a:solidFill>
                <a:srgbClr val="FFFFFF"/>
              </a:solidFill>
              <a:latin typeface="Arial"/>
              <a:cs typeface="Calibri" pitchFamily="34" charset="0"/>
            </a:endParaRPr>
          </a:p>
        </p:txBody>
      </p:sp>
      <p:sp>
        <p:nvSpPr>
          <p:cNvPr id="8194" name="Text Box 2"/>
          <p:cNvSpPr txBox="1">
            <a:spLocks noChangeArrowheads="1"/>
          </p:cNvSpPr>
          <p:nvPr/>
        </p:nvSpPr>
        <p:spPr bwMode="auto">
          <a:xfrm>
            <a:off x="5453063" y="965200"/>
            <a:ext cx="24399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2400" b="1"/>
              <a:t>Fraud Detection</a:t>
            </a:r>
          </a:p>
        </p:txBody>
      </p:sp>
      <p:sp>
        <p:nvSpPr>
          <p:cNvPr id="8195" name="Rectangle 3"/>
          <p:cNvSpPr>
            <a:spLocks noGrp="1" noChangeArrowheads="1"/>
          </p:cNvSpPr>
          <p:nvPr>
            <p:ph type="title"/>
          </p:nvPr>
        </p:nvSpPr>
        <p:spPr/>
        <p:txBody>
          <a:bodyPr/>
          <a:lstStyle/>
          <a:p>
            <a:pPr eaLnBrk="1" hangingPunct="1"/>
            <a:r>
              <a:rPr lang="en-US" smtClean="0"/>
              <a:t>Review: The claims process</a:t>
            </a:r>
          </a:p>
        </p:txBody>
      </p:sp>
      <p:grpSp>
        <p:nvGrpSpPr>
          <p:cNvPr id="8196" name="Group 4"/>
          <p:cNvGrpSpPr>
            <a:grpSpLocks/>
          </p:cNvGrpSpPr>
          <p:nvPr/>
        </p:nvGrpSpPr>
        <p:grpSpPr bwMode="auto">
          <a:xfrm>
            <a:off x="3841750" y="908050"/>
            <a:ext cx="1495425" cy="481013"/>
            <a:chOff x="1572" y="1579"/>
            <a:chExt cx="942" cy="303"/>
          </a:xfrm>
        </p:grpSpPr>
        <p:sp>
          <p:nvSpPr>
            <p:cNvPr id="8225" name="Text Box 5"/>
            <p:cNvSpPr txBox="1">
              <a:spLocks noChangeArrowheads="1"/>
            </p:cNvSpPr>
            <p:nvPr/>
          </p:nvSpPr>
          <p:spPr bwMode="auto">
            <a:xfrm>
              <a:off x="1608" y="1615"/>
              <a:ext cx="87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400" b="1"/>
                <a:t>Litigation</a:t>
              </a:r>
            </a:p>
          </p:txBody>
        </p:sp>
        <p:sp>
          <p:nvSpPr>
            <p:cNvPr id="8226" name="Rectangle 6"/>
            <p:cNvSpPr>
              <a:spLocks noChangeArrowheads="1"/>
            </p:cNvSpPr>
            <p:nvPr/>
          </p:nvSpPr>
          <p:spPr bwMode="auto">
            <a:xfrm>
              <a:off x="1572" y="1579"/>
              <a:ext cx="942" cy="30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8197" name="Line 7"/>
          <p:cNvSpPr>
            <a:spLocks noChangeShapeType="1"/>
          </p:cNvSpPr>
          <p:nvPr/>
        </p:nvSpPr>
        <p:spPr bwMode="auto">
          <a:xfrm>
            <a:off x="4556125" y="6035675"/>
            <a:ext cx="0" cy="447675"/>
          </a:xfrm>
          <a:prstGeom prst="line">
            <a:avLst/>
          </a:prstGeom>
          <a:noFill/>
          <a:ln w="28575">
            <a:solidFill>
              <a:schemeClr val="bg1"/>
            </a:solidFill>
            <a:prstDash val="sysDot"/>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198" name="Line 8"/>
          <p:cNvSpPr>
            <a:spLocks noChangeShapeType="1"/>
          </p:cNvSpPr>
          <p:nvPr/>
        </p:nvSpPr>
        <p:spPr bwMode="auto">
          <a:xfrm>
            <a:off x="4556125" y="2393950"/>
            <a:ext cx="0" cy="333375"/>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199" name="Line 9"/>
          <p:cNvSpPr>
            <a:spLocks noChangeShapeType="1"/>
          </p:cNvSpPr>
          <p:nvPr/>
        </p:nvSpPr>
        <p:spPr bwMode="auto">
          <a:xfrm>
            <a:off x="4556125" y="3740150"/>
            <a:ext cx="0" cy="698500"/>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00" name="Line 10"/>
          <p:cNvSpPr>
            <a:spLocks noChangeShapeType="1"/>
          </p:cNvSpPr>
          <p:nvPr/>
        </p:nvSpPr>
        <p:spPr bwMode="auto">
          <a:xfrm>
            <a:off x="4556125" y="1778000"/>
            <a:ext cx="0" cy="200025"/>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01" name="Rectangle 11"/>
          <p:cNvSpPr>
            <a:spLocks noChangeArrowheads="1"/>
          </p:cNvSpPr>
          <p:nvPr/>
        </p:nvSpPr>
        <p:spPr bwMode="auto">
          <a:xfrm>
            <a:off x="5419725" y="908050"/>
            <a:ext cx="2355850" cy="48101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8202" name="Line 12"/>
          <p:cNvSpPr>
            <a:spLocks noChangeShapeType="1"/>
          </p:cNvSpPr>
          <p:nvPr/>
        </p:nvSpPr>
        <p:spPr bwMode="auto">
          <a:xfrm>
            <a:off x="5878513" y="1379538"/>
            <a:ext cx="0" cy="513715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8203" name="Group 13"/>
          <p:cNvGrpSpPr>
            <a:grpSpLocks/>
          </p:cNvGrpSpPr>
          <p:nvPr/>
        </p:nvGrpSpPr>
        <p:grpSpPr bwMode="auto">
          <a:xfrm>
            <a:off x="6916738" y="1531938"/>
            <a:ext cx="2132012" cy="836612"/>
            <a:chOff x="4202" y="3254"/>
            <a:chExt cx="1343" cy="527"/>
          </a:xfrm>
        </p:grpSpPr>
        <p:sp>
          <p:nvSpPr>
            <p:cNvPr id="8223" name="Text Box 14"/>
            <p:cNvSpPr txBox="1">
              <a:spLocks noChangeArrowheads="1"/>
            </p:cNvSpPr>
            <p:nvPr/>
          </p:nvSpPr>
          <p:spPr bwMode="auto">
            <a:xfrm>
              <a:off x="4228" y="3288"/>
              <a:ext cx="1291"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400" b="1"/>
                <a:t>Special Investigations</a:t>
              </a:r>
            </a:p>
          </p:txBody>
        </p:sp>
        <p:sp>
          <p:nvSpPr>
            <p:cNvPr id="8224" name="Rectangle 15"/>
            <p:cNvSpPr>
              <a:spLocks noChangeArrowheads="1"/>
            </p:cNvSpPr>
            <p:nvPr/>
          </p:nvSpPr>
          <p:spPr bwMode="auto">
            <a:xfrm>
              <a:off x="4202" y="3254"/>
              <a:ext cx="1343" cy="527"/>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8204" name="Line 16"/>
          <p:cNvSpPr>
            <a:spLocks noChangeShapeType="1"/>
          </p:cNvSpPr>
          <p:nvPr/>
        </p:nvSpPr>
        <p:spPr bwMode="auto">
          <a:xfrm>
            <a:off x="5878513" y="1754188"/>
            <a:ext cx="1006475" cy="0"/>
          </a:xfrm>
          <a:prstGeom prst="line">
            <a:avLst/>
          </a:prstGeom>
          <a:noFill/>
          <a:ln w="28575">
            <a:solidFill>
              <a:schemeClr val="bg1"/>
            </a:solidFill>
            <a:prstDash val="sysDot"/>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205" name="Line 17"/>
          <p:cNvSpPr>
            <a:spLocks noChangeShapeType="1"/>
          </p:cNvSpPr>
          <p:nvPr/>
        </p:nvSpPr>
        <p:spPr bwMode="auto">
          <a:xfrm>
            <a:off x="5878513" y="4073525"/>
            <a:ext cx="708025" cy="0"/>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06" name="Line 18"/>
          <p:cNvSpPr>
            <a:spLocks noChangeShapeType="1"/>
          </p:cNvSpPr>
          <p:nvPr/>
        </p:nvSpPr>
        <p:spPr bwMode="auto">
          <a:xfrm>
            <a:off x="5878513" y="5194300"/>
            <a:ext cx="708025" cy="0"/>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07" name="Line 19"/>
          <p:cNvSpPr>
            <a:spLocks noChangeShapeType="1"/>
          </p:cNvSpPr>
          <p:nvPr/>
        </p:nvSpPr>
        <p:spPr bwMode="auto">
          <a:xfrm>
            <a:off x="5878513" y="6205538"/>
            <a:ext cx="708025" cy="0"/>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08" name="Line 20"/>
          <p:cNvSpPr>
            <a:spLocks noChangeShapeType="1"/>
          </p:cNvSpPr>
          <p:nvPr/>
        </p:nvSpPr>
        <p:spPr bwMode="auto">
          <a:xfrm flipV="1">
            <a:off x="6569075" y="1735138"/>
            <a:ext cx="0" cy="4460875"/>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09" name="Line 21"/>
          <p:cNvSpPr>
            <a:spLocks noChangeShapeType="1"/>
          </p:cNvSpPr>
          <p:nvPr/>
        </p:nvSpPr>
        <p:spPr bwMode="auto">
          <a:xfrm>
            <a:off x="5878513" y="2820988"/>
            <a:ext cx="708025" cy="0"/>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10" name="Line 22"/>
          <p:cNvSpPr>
            <a:spLocks noChangeShapeType="1"/>
          </p:cNvSpPr>
          <p:nvPr/>
        </p:nvSpPr>
        <p:spPr bwMode="auto">
          <a:xfrm>
            <a:off x="8005763" y="2370138"/>
            <a:ext cx="0" cy="4068762"/>
          </a:xfrm>
          <a:prstGeom prst="line">
            <a:avLst/>
          </a:prstGeom>
          <a:noFill/>
          <a:ln w="28575">
            <a:solidFill>
              <a:schemeClr val="bg1"/>
            </a:solidFill>
            <a:prstDash val="sysDot"/>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11" name="Rectangle 23"/>
          <p:cNvSpPr>
            <a:spLocks noChangeArrowheads="1"/>
          </p:cNvSpPr>
          <p:nvPr/>
        </p:nvSpPr>
        <p:spPr bwMode="auto">
          <a:xfrm>
            <a:off x="733425" y="14938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8212" name="Rectangle 24"/>
          <p:cNvSpPr>
            <a:spLocks noChangeArrowheads="1"/>
          </p:cNvSpPr>
          <p:nvPr/>
        </p:nvSpPr>
        <p:spPr bwMode="auto">
          <a:xfrm>
            <a:off x="733425" y="59896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8213" name="Text Box 25"/>
          <p:cNvSpPr txBox="1">
            <a:spLocks noChangeArrowheads="1"/>
          </p:cNvSpPr>
          <p:nvPr/>
        </p:nvSpPr>
        <p:spPr bwMode="auto">
          <a:xfrm>
            <a:off x="650875" y="15509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400" b="1"/>
              <a:t>Intake</a:t>
            </a:r>
          </a:p>
        </p:txBody>
      </p:sp>
      <p:sp>
        <p:nvSpPr>
          <p:cNvPr id="8214" name="Text Box 26"/>
          <p:cNvSpPr txBox="1">
            <a:spLocks noChangeArrowheads="1"/>
          </p:cNvSpPr>
          <p:nvPr/>
        </p:nvSpPr>
        <p:spPr bwMode="auto">
          <a:xfrm>
            <a:off x="650875" y="60467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400" b="1"/>
              <a:t>Recovery</a:t>
            </a:r>
          </a:p>
        </p:txBody>
      </p:sp>
      <p:sp>
        <p:nvSpPr>
          <p:cNvPr id="8215" name="Line 27"/>
          <p:cNvSpPr>
            <a:spLocks noChangeShapeType="1"/>
          </p:cNvSpPr>
          <p:nvPr/>
        </p:nvSpPr>
        <p:spPr bwMode="auto">
          <a:xfrm>
            <a:off x="2197100" y="1962150"/>
            <a:ext cx="0" cy="101282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8216" name="Group 28"/>
          <p:cNvGrpSpPr>
            <a:grpSpLocks/>
          </p:cNvGrpSpPr>
          <p:nvPr/>
        </p:nvGrpSpPr>
        <p:grpSpPr bwMode="auto">
          <a:xfrm>
            <a:off x="650875" y="2992438"/>
            <a:ext cx="3092450" cy="1979612"/>
            <a:chOff x="410" y="1885"/>
            <a:chExt cx="1948" cy="1247"/>
          </a:xfrm>
        </p:grpSpPr>
        <p:sp>
          <p:nvSpPr>
            <p:cNvPr id="8218" name="Rectangle 29"/>
            <p:cNvSpPr>
              <a:spLocks noChangeArrowheads="1"/>
            </p:cNvSpPr>
            <p:nvPr/>
          </p:nvSpPr>
          <p:spPr bwMode="auto">
            <a:xfrm>
              <a:off x="462" y="1885"/>
              <a:ext cx="1843" cy="30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8219" name="Rectangle 30"/>
            <p:cNvSpPr>
              <a:spLocks noChangeArrowheads="1"/>
            </p:cNvSpPr>
            <p:nvPr/>
          </p:nvSpPr>
          <p:spPr bwMode="auto">
            <a:xfrm>
              <a:off x="462" y="2829"/>
              <a:ext cx="1843" cy="30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8220" name="Text Box 31"/>
            <p:cNvSpPr txBox="1">
              <a:spLocks noChangeArrowheads="1"/>
            </p:cNvSpPr>
            <p:nvPr/>
          </p:nvSpPr>
          <p:spPr bwMode="auto">
            <a:xfrm>
              <a:off x="410" y="1921"/>
              <a:ext cx="19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400" b="1"/>
                <a:t>Adjudication</a:t>
              </a:r>
            </a:p>
          </p:txBody>
        </p:sp>
        <p:sp>
          <p:nvSpPr>
            <p:cNvPr id="8221" name="Text Box 32"/>
            <p:cNvSpPr txBox="1">
              <a:spLocks noChangeArrowheads="1"/>
            </p:cNvSpPr>
            <p:nvPr/>
          </p:nvSpPr>
          <p:spPr bwMode="auto">
            <a:xfrm>
              <a:off x="410" y="2865"/>
              <a:ext cx="19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400" b="1"/>
                <a:t>Payment</a:t>
              </a:r>
            </a:p>
          </p:txBody>
        </p:sp>
        <p:sp>
          <p:nvSpPr>
            <p:cNvPr id="8222" name="Line 33"/>
            <p:cNvSpPr>
              <a:spLocks noChangeShapeType="1"/>
            </p:cNvSpPr>
            <p:nvPr/>
          </p:nvSpPr>
          <p:spPr bwMode="auto">
            <a:xfrm>
              <a:off x="1384" y="2194"/>
              <a:ext cx="0" cy="626"/>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8217" name="Line 34"/>
          <p:cNvSpPr>
            <a:spLocks noChangeShapeType="1"/>
          </p:cNvSpPr>
          <p:nvPr/>
        </p:nvSpPr>
        <p:spPr bwMode="auto">
          <a:xfrm>
            <a:off x="2197100" y="4983163"/>
            <a:ext cx="0" cy="993775"/>
          </a:xfrm>
          <a:prstGeom prst="line">
            <a:avLst/>
          </a:prstGeom>
          <a:noFill/>
          <a:ln w="28575">
            <a:solidFill>
              <a:schemeClr val="bg1"/>
            </a:solidFill>
            <a:prstDash val="sysDot"/>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extLst>
      <p:ext uri="{BB962C8B-B14F-4D97-AF65-F5344CB8AC3E}">
        <p14:creationId xmlns:p14="http://schemas.microsoft.com/office/powerpoint/2010/main" val="4147200810"/>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|EOS~006|</a:t>
            </a:r>
            <a:endParaRPr lang="en-US" sz="100" dirty="0" err="1" smtClean="0">
              <a:solidFill>
                <a:srgbClr val="FFFFFF"/>
              </a:solidFill>
              <a:latin typeface="Arial"/>
              <a:cs typeface="Calibri" pitchFamily="34" charset="0"/>
            </a:endParaRPr>
          </a:p>
        </p:txBody>
      </p:sp>
      <p:sp>
        <p:nvSpPr>
          <p:cNvPr id="9218" name="Rectangle 2"/>
          <p:cNvSpPr>
            <a:spLocks noGrp="1" noChangeArrowheads="1"/>
          </p:cNvSpPr>
          <p:nvPr>
            <p:ph type="title"/>
          </p:nvPr>
        </p:nvSpPr>
        <p:spPr/>
        <p:txBody>
          <a:bodyPr/>
          <a:lstStyle/>
          <a:p>
            <a:pPr eaLnBrk="1" hangingPunct="1"/>
            <a:r>
              <a:rPr lang="en-US" dirty="0" smtClean="0"/>
              <a:t>Mapping entities to the claims process</a:t>
            </a:r>
          </a:p>
        </p:txBody>
      </p:sp>
      <p:grpSp>
        <p:nvGrpSpPr>
          <p:cNvPr id="9219" name="Group 3"/>
          <p:cNvGrpSpPr>
            <a:grpSpLocks/>
          </p:cNvGrpSpPr>
          <p:nvPr/>
        </p:nvGrpSpPr>
        <p:grpSpPr bwMode="auto">
          <a:xfrm>
            <a:off x="650875" y="1493838"/>
            <a:ext cx="3092450" cy="481012"/>
            <a:chOff x="3089" y="1951"/>
            <a:chExt cx="1948" cy="303"/>
          </a:xfrm>
        </p:grpSpPr>
        <p:sp>
          <p:nvSpPr>
            <p:cNvPr id="9328" name="Text Box 4"/>
            <p:cNvSpPr txBox="1">
              <a:spLocks noChangeArrowheads="1"/>
            </p:cNvSpPr>
            <p:nvPr/>
          </p:nvSpPr>
          <p:spPr bwMode="auto">
            <a:xfrm>
              <a:off x="3089" y="1987"/>
              <a:ext cx="19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400" b="1"/>
                <a:t>Intake</a:t>
              </a:r>
            </a:p>
          </p:txBody>
        </p:sp>
        <p:sp>
          <p:nvSpPr>
            <p:cNvPr id="9329" name="Rectangle 5"/>
            <p:cNvSpPr>
              <a:spLocks noChangeArrowheads="1"/>
            </p:cNvSpPr>
            <p:nvPr/>
          </p:nvSpPr>
          <p:spPr bwMode="auto">
            <a:xfrm>
              <a:off x="3141" y="1951"/>
              <a:ext cx="1843" cy="30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nvGrpSpPr>
          <p:cNvPr id="9220" name="Group 6"/>
          <p:cNvGrpSpPr>
            <a:grpSpLocks/>
          </p:cNvGrpSpPr>
          <p:nvPr/>
        </p:nvGrpSpPr>
        <p:grpSpPr bwMode="auto">
          <a:xfrm>
            <a:off x="3841750" y="908050"/>
            <a:ext cx="1495425" cy="481013"/>
            <a:chOff x="1572" y="1579"/>
            <a:chExt cx="942" cy="303"/>
          </a:xfrm>
        </p:grpSpPr>
        <p:sp>
          <p:nvSpPr>
            <p:cNvPr id="9326" name="Text Box 7"/>
            <p:cNvSpPr txBox="1">
              <a:spLocks noChangeArrowheads="1"/>
            </p:cNvSpPr>
            <p:nvPr/>
          </p:nvSpPr>
          <p:spPr bwMode="auto">
            <a:xfrm>
              <a:off x="1608" y="1615"/>
              <a:ext cx="87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400" b="1"/>
                <a:t>Litigation</a:t>
              </a:r>
            </a:p>
          </p:txBody>
        </p:sp>
        <p:sp>
          <p:nvSpPr>
            <p:cNvPr id="9327" name="Rectangle 8"/>
            <p:cNvSpPr>
              <a:spLocks noChangeArrowheads="1"/>
            </p:cNvSpPr>
            <p:nvPr/>
          </p:nvSpPr>
          <p:spPr bwMode="auto">
            <a:xfrm>
              <a:off x="1572" y="1579"/>
              <a:ext cx="942" cy="30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9221" name="Line 9"/>
          <p:cNvSpPr>
            <a:spLocks noChangeShapeType="1"/>
          </p:cNvSpPr>
          <p:nvPr/>
        </p:nvSpPr>
        <p:spPr bwMode="auto">
          <a:xfrm>
            <a:off x="4556125" y="6035675"/>
            <a:ext cx="0" cy="447675"/>
          </a:xfrm>
          <a:prstGeom prst="line">
            <a:avLst/>
          </a:prstGeom>
          <a:noFill/>
          <a:ln w="28575">
            <a:solidFill>
              <a:schemeClr val="bg1"/>
            </a:solidFill>
            <a:prstDash val="sysDot"/>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22" name="Line 10"/>
          <p:cNvSpPr>
            <a:spLocks noChangeShapeType="1"/>
          </p:cNvSpPr>
          <p:nvPr/>
        </p:nvSpPr>
        <p:spPr bwMode="auto">
          <a:xfrm>
            <a:off x="4556125" y="2393950"/>
            <a:ext cx="0" cy="333375"/>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23" name="Line 11"/>
          <p:cNvSpPr>
            <a:spLocks noChangeShapeType="1"/>
          </p:cNvSpPr>
          <p:nvPr/>
        </p:nvSpPr>
        <p:spPr bwMode="auto">
          <a:xfrm>
            <a:off x="4556125" y="3740150"/>
            <a:ext cx="0" cy="698500"/>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24" name="Line 12"/>
          <p:cNvSpPr>
            <a:spLocks noChangeShapeType="1"/>
          </p:cNvSpPr>
          <p:nvPr/>
        </p:nvSpPr>
        <p:spPr bwMode="auto">
          <a:xfrm>
            <a:off x="4556125" y="1778000"/>
            <a:ext cx="0" cy="200025"/>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9225" name="Group 13"/>
          <p:cNvGrpSpPr>
            <a:grpSpLocks/>
          </p:cNvGrpSpPr>
          <p:nvPr/>
        </p:nvGrpSpPr>
        <p:grpSpPr bwMode="auto">
          <a:xfrm>
            <a:off x="6845300" y="3182938"/>
            <a:ext cx="788988" cy="788987"/>
            <a:chOff x="1350" y="686"/>
            <a:chExt cx="1132" cy="1132"/>
          </a:xfrm>
        </p:grpSpPr>
        <p:sp>
          <p:nvSpPr>
            <p:cNvPr id="9324" name="AutoShape 14"/>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9325" name="Picture 15"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226" name="Group 16"/>
          <p:cNvGrpSpPr>
            <a:grpSpLocks/>
          </p:cNvGrpSpPr>
          <p:nvPr/>
        </p:nvGrpSpPr>
        <p:grpSpPr bwMode="auto">
          <a:xfrm>
            <a:off x="7851775" y="3241675"/>
            <a:ext cx="644525" cy="727075"/>
            <a:chOff x="3445" y="2543"/>
            <a:chExt cx="406" cy="458"/>
          </a:xfrm>
        </p:grpSpPr>
        <p:sp>
          <p:nvSpPr>
            <p:cNvPr id="9318" name="AutoShape 17"/>
            <p:cNvSpPr>
              <a:spLocks noChangeArrowheads="1"/>
            </p:cNvSpPr>
            <p:nvPr/>
          </p:nvSpPr>
          <p:spPr bwMode="auto">
            <a:xfrm rot="10800000" flipH="1">
              <a:off x="3445" y="2543"/>
              <a:ext cx="406" cy="458"/>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9319" name="Line 18"/>
            <p:cNvSpPr>
              <a:spLocks noChangeShapeType="1"/>
            </p:cNvSpPr>
            <p:nvPr/>
          </p:nvSpPr>
          <p:spPr bwMode="auto">
            <a:xfrm>
              <a:off x="3502" y="2736"/>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320" name="Line 19"/>
            <p:cNvSpPr>
              <a:spLocks noChangeShapeType="1"/>
            </p:cNvSpPr>
            <p:nvPr/>
          </p:nvSpPr>
          <p:spPr bwMode="auto">
            <a:xfrm>
              <a:off x="3502" y="2804"/>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321" name="Line 20"/>
            <p:cNvSpPr>
              <a:spLocks noChangeShapeType="1"/>
            </p:cNvSpPr>
            <p:nvPr/>
          </p:nvSpPr>
          <p:spPr bwMode="auto">
            <a:xfrm>
              <a:off x="3502" y="2871"/>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322" name="Line 21"/>
            <p:cNvSpPr>
              <a:spLocks noChangeShapeType="1"/>
            </p:cNvSpPr>
            <p:nvPr/>
          </p:nvSpPr>
          <p:spPr bwMode="auto">
            <a:xfrm>
              <a:off x="3502" y="2937"/>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323" name="Freeform 22"/>
            <p:cNvSpPr>
              <a:spLocks/>
            </p:cNvSpPr>
            <p:nvPr/>
          </p:nvSpPr>
          <p:spPr bwMode="auto">
            <a:xfrm>
              <a:off x="3498" y="2568"/>
              <a:ext cx="293" cy="132"/>
            </a:xfrm>
            <a:custGeom>
              <a:avLst/>
              <a:gdLst>
                <a:gd name="T0" fmla="*/ 0 w 609"/>
                <a:gd name="T1" fmla="*/ 0 h 275"/>
                <a:gd name="T2" fmla="*/ 0 w 609"/>
                <a:gd name="T3" fmla="*/ 0 h 275"/>
                <a:gd name="T4" fmla="*/ 0 w 609"/>
                <a:gd name="T5" fmla="*/ 0 h 275"/>
                <a:gd name="T6" fmla="*/ 0 w 609"/>
                <a:gd name="T7" fmla="*/ 0 h 275"/>
                <a:gd name="T8" fmla="*/ 0 w 609"/>
                <a:gd name="T9" fmla="*/ 0 h 275"/>
                <a:gd name="T10" fmla="*/ 0 w 609"/>
                <a:gd name="T11" fmla="*/ 0 h 275"/>
                <a:gd name="T12" fmla="*/ 0 w 609"/>
                <a:gd name="T13" fmla="*/ 0 h 275"/>
                <a:gd name="T14" fmla="*/ 0 w 609"/>
                <a:gd name="T15" fmla="*/ 0 h 275"/>
                <a:gd name="T16" fmla="*/ 0 w 609"/>
                <a:gd name="T17" fmla="*/ 0 h 275"/>
                <a:gd name="T18" fmla="*/ 0 w 609"/>
                <a:gd name="T19" fmla="*/ 0 h 275"/>
                <a:gd name="T20" fmla="*/ 0 w 609"/>
                <a:gd name="T21" fmla="*/ 0 h 275"/>
                <a:gd name="T22" fmla="*/ 0 w 609"/>
                <a:gd name="T23" fmla="*/ 0 h 275"/>
                <a:gd name="T24" fmla="*/ 0 w 609"/>
                <a:gd name="T25" fmla="*/ 0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cap="flat" cmpd="sng">
              <a:solidFill>
                <a:srgbClr val="FF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9227" name="Group 23"/>
          <p:cNvGrpSpPr>
            <a:grpSpLocks/>
          </p:cNvGrpSpPr>
          <p:nvPr/>
        </p:nvGrpSpPr>
        <p:grpSpPr bwMode="auto">
          <a:xfrm>
            <a:off x="8151813" y="3487738"/>
            <a:ext cx="928687" cy="827087"/>
            <a:chOff x="2322" y="507"/>
            <a:chExt cx="1203" cy="1071"/>
          </a:xfrm>
        </p:grpSpPr>
        <p:sp>
          <p:nvSpPr>
            <p:cNvPr id="9309" name="Freeform 24"/>
            <p:cNvSpPr>
              <a:spLocks/>
            </p:cNvSpPr>
            <p:nvPr/>
          </p:nvSpPr>
          <p:spPr bwMode="auto">
            <a:xfrm>
              <a:off x="2322" y="600"/>
              <a:ext cx="1203" cy="978"/>
            </a:xfrm>
            <a:custGeom>
              <a:avLst/>
              <a:gdLst>
                <a:gd name="T0" fmla="*/ 0 w 1203"/>
                <a:gd name="T1" fmla="*/ 351 h 978"/>
                <a:gd name="T2" fmla="*/ 474 w 1203"/>
                <a:gd name="T3" fmla="*/ 168 h 978"/>
                <a:gd name="T4" fmla="*/ 609 w 1203"/>
                <a:gd name="T5" fmla="*/ 90 h 978"/>
                <a:gd name="T6" fmla="*/ 723 w 1203"/>
                <a:gd name="T7" fmla="*/ 0 h 978"/>
                <a:gd name="T8" fmla="*/ 801 w 1203"/>
                <a:gd name="T9" fmla="*/ 231 h 978"/>
                <a:gd name="T10" fmla="*/ 882 w 1203"/>
                <a:gd name="T11" fmla="*/ 405 h 978"/>
                <a:gd name="T12" fmla="*/ 939 w 1203"/>
                <a:gd name="T13" fmla="*/ 480 h 978"/>
                <a:gd name="T14" fmla="*/ 1044 w 1203"/>
                <a:gd name="T15" fmla="*/ 558 h 978"/>
                <a:gd name="T16" fmla="*/ 1116 w 1203"/>
                <a:gd name="T17" fmla="*/ 582 h 978"/>
                <a:gd name="T18" fmla="*/ 1203 w 1203"/>
                <a:gd name="T19" fmla="*/ 597 h 978"/>
                <a:gd name="T20" fmla="*/ 1095 w 1203"/>
                <a:gd name="T21" fmla="*/ 693 h 978"/>
                <a:gd name="T22" fmla="*/ 957 w 1203"/>
                <a:gd name="T23" fmla="*/ 810 h 978"/>
                <a:gd name="T24" fmla="*/ 852 w 1203"/>
                <a:gd name="T25" fmla="*/ 873 h 978"/>
                <a:gd name="T26" fmla="*/ 756 w 1203"/>
                <a:gd name="T27" fmla="*/ 918 h 978"/>
                <a:gd name="T28" fmla="*/ 648 w 1203"/>
                <a:gd name="T29" fmla="*/ 960 h 978"/>
                <a:gd name="T30" fmla="*/ 555 w 1203"/>
                <a:gd name="T31" fmla="*/ 978 h 978"/>
                <a:gd name="T32" fmla="*/ 471 w 1203"/>
                <a:gd name="T33" fmla="*/ 969 h 978"/>
                <a:gd name="T34" fmla="*/ 402 w 1203"/>
                <a:gd name="T35" fmla="*/ 927 h 978"/>
                <a:gd name="T36" fmla="*/ 303 w 1203"/>
                <a:gd name="T37" fmla="*/ 837 h 978"/>
                <a:gd name="T38" fmla="*/ 213 w 1203"/>
                <a:gd name="T39" fmla="*/ 702 h 978"/>
                <a:gd name="T40" fmla="*/ 99 w 1203"/>
                <a:gd name="T41" fmla="*/ 546 h 978"/>
                <a:gd name="T42" fmla="*/ 36 w 1203"/>
                <a:gd name="T43" fmla="*/ 435 h 978"/>
                <a:gd name="T44" fmla="*/ 0 w 1203"/>
                <a:gd name="T45" fmla="*/ 351 h 97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03"/>
                <a:gd name="T70" fmla="*/ 0 h 978"/>
                <a:gd name="T71" fmla="*/ 1203 w 1203"/>
                <a:gd name="T72" fmla="*/ 978 h 97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03" h="978">
                  <a:moveTo>
                    <a:pt x="0" y="351"/>
                  </a:moveTo>
                  <a:lnTo>
                    <a:pt x="474" y="168"/>
                  </a:lnTo>
                  <a:lnTo>
                    <a:pt x="609" y="90"/>
                  </a:lnTo>
                  <a:lnTo>
                    <a:pt x="723" y="0"/>
                  </a:lnTo>
                  <a:lnTo>
                    <a:pt x="801" y="231"/>
                  </a:lnTo>
                  <a:lnTo>
                    <a:pt x="882" y="405"/>
                  </a:lnTo>
                  <a:lnTo>
                    <a:pt x="939" y="480"/>
                  </a:lnTo>
                  <a:lnTo>
                    <a:pt x="1044" y="558"/>
                  </a:lnTo>
                  <a:lnTo>
                    <a:pt x="1116" y="582"/>
                  </a:lnTo>
                  <a:lnTo>
                    <a:pt x="1203" y="597"/>
                  </a:lnTo>
                  <a:lnTo>
                    <a:pt x="1095" y="693"/>
                  </a:lnTo>
                  <a:lnTo>
                    <a:pt x="957" y="810"/>
                  </a:lnTo>
                  <a:lnTo>
                    <a:pt x="852" y="873"/>
                  </a:lnTo>
                  <a:lnTo>
                    <a:pt x="756" y="918"/>
                  </a:lnTo>
                  <a:lnTo>
                    <a:pt x="648" y="960"/>
                  </a:lnTo>
                  <a:lnTo>
                    <a:pt x="555" y="978"/>
                  </a:lnTo>
                  <a:lnTo>
                    <a:pt x="471" y="969"/>
                  </a:lnTo>
                  <a:lnTo>
                    <a:pt x="402" y="927"/>
                  </a:lnTo>
                  <a:lnTo>
                    <a:pt x="303" y="837"/>
                  </a:lnTo>
                  <a:lnTo>
                    <a:pt x="213" y="702"/>
                  </a:lnTo>
                  <a:lnTo>
                    <a:pt x="99" y="546"/>
                  </a:lnTo>
                  <a:lnTo>
                    <a:pt x="36" y="435"/>
                  </a:lnTo>
                  <a:lnTo>
                    <a:pt x="0" y="351"/>
                  </a:lnTo>
                  <a:close/>
                </a:path>
              </a:pathLst>
            </a:custGeom>
            <a:solidFill>
              <a:srgbClr val="FFFFCC"/>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310" name="Oval 25"/>
            <p:cNvSpPr>
              <a:spLocks noChangeArrowheads="1"/>
            </p:cNvSpPr>
            <p:nvPr/>
          </p:nvSpPr>
          <p:spPr bwMode="auto">
            <a:xfrm>
              <a:off x="2448" y="699"/>
              <a:ext cx="375" cy="300"/>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sp>
          <p:nvSpPr>
            <p:cNvPr id="9311" name="Freeform 26"/>
            <p:cNvSpPr>
              <a:spLocks/>
            </p:cNvSpPr>
            <p:nvPr/>
          </p:nvSpPr>
          <p:spPr bwMode="auto">
            <a:xfrm>
              <a:off x="2559" y="654"/>
              <a:ext cx="159" cy="216"/>
            </a:xfrm>
            <a:custGeom>
              <a:avLst/>
              <a:gdLst>
                <a:gd name="T0" fmla="*/ 0 w 159"/>
                <a:gd name="T1" fmla="*/ 18 h 216"/>
                <a:gd name="T2" fmla="*/ 0 w 159"/>
                <a:gd name="T3" fmla="*/ 180 h 216"/>
                <a:gd name="T4" fmla="*/ 18 w 159"/>
                <a:gd name="T5" fmla="*/ 204 h 216"/>
                <a:gd name="T6" fmla="*/ 60 w 159"/>
                <a:gd name="T7" fmla="*/ 216 h 216"/>
                <a:gd name="T8" fmla="*/ 108 w 159"/>
                <a:gd name="T9" fmla="*/ 210 h 216"/>
                <a:gd name="T10" fmla="*/ 147 w 159"/>
                <a:gd name="T11" fmla="*/ 189 h 216"/>
                <a:gd name="T12" fmla="*/ 159 w 159"/>
                <a:gd name="T13" fmla="*/ 165 h 216"/>
                <a:gd name="T14" fmla="*/ 159 w 159"/>
                <a:gd name="T15" fmla="*/ 0 h 216"/>
                <a:gd name="T16" fmla="*/ 0 w 159"/>
                <a:gd name="T17" fmla="*/ 18 h 2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216"/>
                <a:gd name="T29" fmla="*/ 159 w 159"/>
                <a:gd name="T30" fmla="*/ 216 h 2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216">
                  <a:moveTo>
                    <a:pt x="0" y="18"/>
                  </a:moveTo>
                  <a:lnTo>
                    <a:pt x="0" y="180"/>
                  </a:lnTo>
                  <a:lnTo>
                    <a:pt x="18" y="204"/>
                  </a:lnTo>
                  <a:lnTo>
                    <a:pt x="60" y="216"/>
                  </a:lnTo>
                  <a:lnTo>
                    <a:pt x="108" y="210"/>
                  </a:lnTo>
                  <a:lnTo>
                    <a:pt x="147" y="189"/>
                  </a:lnTo>
                  <a:lnTo>
                    <a:pt x="159" y="165"/>
                  </a:lnTo>
                  <a:lnTo>
                    <a:pt x="159" y="0"/>
                  </a:lnTo>
                  <a:lnTo>
                    <a:pt x="0" y="18"/>
                  </a:lnTo>
                  <a:close/>
                </a:path>
              </a:pathLst>
            </a:custGeom>
            <a:solidFill>
              <a:srgbClr val="FF0000"/>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312" name="Line 27"/>
            <p:cNvSpPr>
              <a:spLocks noChangeShapeType="1"/>
            </p:cNvSpPr>
            <p:nvPr/>
          </p:nvSpPr>
          <p:spPr bwMode="auto">
            <a:xfrm>
              <a:off x="2637" y="999"/>
              <a:ext cx="0" cy="9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313" name="Freeform 28"/>
            <p:cNvSpPr>
              <a:spLocks/>
            </p:cNvSpPr>
            <p:nvPr/>
          </p:nvSpPr>
          <p:spPr bwMode="auto">
            <a:xfrm>
              <a:off x="2622" y="1032"/>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cap="flat" cmpd="sng">
              <a:solidFill>
                <a:srgbClr val="777777"/>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9314" name="Freeform 29"/>
            <p:cNvSpPr>
              <a:spLocks/>
            </p:cNvSpPr>
            <p:nvPr/>
          </p:nvSpPr>
          <p:spPr bwMode="auto">
            <a:xfrm>
              <a:off x="2685" y="1113"/>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cap="flat" cmpd="sng">
              <a:solidFill>
                <a:srgbClr val="777777"/>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9315" name="Freeform 30"/>
            <p:cNvSpPr>
              <a:spLocks/>
            </p:cNvSpPr>
            <p:nvPr/>
          </p:nvSpPr>
          <p:spPr bwMode="auto">
            <a:xfrm>
              <a:off x="2679" y="1396"/>
              <a:ext cx="417" cy="110"/>
            </a:xfrm>
            <a:custGeom>
              <a:avLst/>
              <a:gdLst>
                <a:gd name="T0" fmla="*/ 0 w 417"/>
                <a:gd name="T1" fmla="*/ 89 h 110"/>
                <a:gd name="T2" fmla="*/ 63 w 417"/>
                <a:gd name="T3" fmla="*/ 95 h 110"/>
                <a:gd name="T4" fmla="*/ 123 w 417"/>
                <a:gd name="T5" fmla="*/ 80 h 110"/>
                <a:gd name="T6" fmla="*/ 171 w 417"/>
                <a:gd name="T7" fmla="*/ 47 h 110"/>
                <a:gd name="T8" fmla="*/ 198 w 417"/>
                <a:gd name="T9" fmla="*/ 2 h 110"/>
                <a:gd name="T10" fmla="*/ 216 w 417"/>
                <a:gd name="T11" fmla="*/ 32 h 110"/>
                <a:gd name="T12" fmla="*/ 258 w 417"/>
                <a:gd name="T13" fmla="*/ 65 h 110"/>
                <a:gd name="T14" fmla="*/ 291 w 417"/>
                <a:gd name="T15" fmla="*/ 89 h 110"/>
                <a:gd name="T16" fmla="*/ 342 w 417"/>
                <a:gd name="T17" fmla="*/ 104 h 110"/>
                <a:gd name="T18" fmla="*/ 417 w 417"/>
                <a:gd name="T19" fmla="*/ 110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7"/>
                <a:gd name="T31" fmla="*/ 0 h 110"/>
                <a:gd name="T32" fmla="*/ 417 w 417"/>
                <a:gd name="T33" fmla="*/ 110 h 1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7" h="110">
                  <a:moveTo>
                    <a:pt x="0" y="89"/>
                  </a:moveTo>
                  <a:cubicBezTo>
                    <a:pt x="21" y="92"/>
                    <a:pt x="43" y="96"/>
                    <a:pt x="63" y="95"/>
                  </a:cubicBezTo>
                  <a:cubicBezTo>
                    <a:pt x="83" y="94"/>
                    <a:pt x="105" y="88"/>
                    <a:pt x="123" y="80"/>
                  </a:cubicBezTo>
                  <a:cubicBezTo>
                    <a:pt x="141" y="72"/>
                    <a:pt x="159" y="60"/>
                    <a:pt x="171" y="47"/>
                  </a:cubicBezTo>
                  <a:cubicBezTo>
                    <a:pt x="183" y="34"/>
                    <a:pt x="191" y="4"/>
                    <a:pt x="198" y="2"/>
                  </a:cubicBezTo>
                  <a:cubicBezTo>
                    <a:pt x="205" y="0"/>
                    <a:pt x="206" y="21"/>
                    <a:pt x="216" y="32"/>
                  </a:cubicBezTo>
                  <a:cubicBezTo>
                    <a:pt x="226" y="43"/>
                    <a:pt x="246" y="56"/>
                    <a:pt x="258" y="65"/>
                  </a:cubicBezTo>
                  <a:cubicBezTo>
                    <a:pt x="270" y="74"/>
                    <a:pt x="277" y="83"/>
                    <a:pt x="291" y="89"/>
                  </a:cubicBezTo>
                  <a:cubicBezTo>
                    <a:pt x="305" y="95"/>
                    <a:pt x="321" y="100"/>
                    <a:pt x="342" y="104"/>
                  </a:cubicBezTo>
                  <a:cubicBezTo>
                    <a:pt x="363" y="108"/>
                    <a:pt x="390" y="109"/>
                    <a:pt x="417" y="110"/>
                  </a:cubicBezTo>
                </a:path>
              </a:pathLst>
            </a:custGeom>
            <a:noFill/>
            <a:ln w="12700" cap="flat" cmpd="sng">
              <a:solidFill>
                <a:schemeClr val="bg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9316" name="Freeform 31"/>
            <p:cNvSpPr>
              <a:spLocks/>
            </p:cNvSpPr>
            <p:nvPr/>
          </p:nvSpPr>
          <p:spPr bwMode="auto">
            <a:xfrm>
              <a:off x="2577" y="939"/>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cap="flat" cmpd="sng">
              <a:solidFill>
                <a:srgbClr val="777777"/>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9317" name="Oval 32"/>
            <p:cNvSpPr>
              <a:spLocks noChangeArrowheads="1"/>
            </p:cNvSpPr>
            <p:nvPr/>
          </p:nvSpPr>
          <p:spPr bwMode="auto">
            <a:xfrm>
              <a:off x="2502" y="507"/>
              <a:ext cx="276" cy="222"/>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grpSp>
      <p:grpSp>
        <p:nvGrpSpPr>
          <p:cNvPr id="9228" name="Group 33"/>
          <p:cNvGrpSpPr>
            <a:grpSpLocks/>
          </p:cNvGrpSpPr>
          <p:nvPr/>
        </p:nvGrpSpPr>
        <p:grpSpPr bwMode="auto">
          <a:xfrm>
            <a:off x="5280025" y="1028700"/>
            <a:ext cx="500063" cy="501650"/>
            <a:chOff x="4932" y="501"/>
            <a:chExt cx="708" cy="712"/>
          </a:xfrm>
        </p:grpSpPr>
        <p:sp>
          <p:nvSpPr>
            <p:cNvPr id="9299" name="Freeform 34"/>
            <p:cNvSpPr>
              <a:spLocks/>
            </p:cNvSpPr>
            <p:nvPr/>
          </p:nvSpPr>
          <p:spPr bwMode="auto">
            <a:xfrm>
              <a:off x="4932" y="501"/>
              <a:ext cx="708" cy="703"/>
            </a:xfrm>
            <a:custGeom>
              <a:avLst/>
              <a:gdLst>
                <a:gd name="T0" fmla="*/ 0 w 1542"/>
                <a:gd name="T1" fmla="*/ 0 h 1531"/>
                <a:gd name="T2" fmla="*/ 0 w 1542"/>
                <a:gd name="T3" fmla="*/ 0 h 1531"/>
                <a:gd name="T4" fmla="*/ 0 w 1542"/>
                <a:gd name="T5" fmla="*/ 0 h 1531"/>
                <a:gd name="T6" fmla="*/ 0 w 1542"/>
                <a:gd name="T7" fmla="*/ 0 h 1531"/>
                <a:gd name="T8" fmla="*/ 0 w 1542"/>
                <a:gd name="T9" fmla="*/ 0 h 1531"/>
                <a:gd name="T10" fmla="*/ 0 w 1542"/>
                <a:gd name="T11" fmla="*/ 0 h 1531"/>
                <a:gd name="T12" fmla="*/ 0 w 1542"/>
                <a:gd name="T13" fmla="*/ 0 h 1531"/>
                <a:gd name="T14" fmla="*/ 0 w 1542"/>
                <a:gd name="T15" fmla="*/ 0 h 1531"/>
                <a:gd name="T16" fmla="*/ 0 w 1542"/>
                <a:gd name="T17" fmla="*/ 0 h 1531"/>
                <a:gd name="T18" fmla="*/ 0 w 1542"/>
                <a:gd name="T19" fmla="*/ 0 h 1531"/>
                <a:gd name="T20" fmla="*/ 0 w 1542"/>
                <a:gd name="T21" fmla="*/ 0 h 1531"/>
                <a:gd name="T22" fmla="*/ 0 w 1542"/>
                <a:gd name="T23" fmla="*/ 0 h 1531"/>
                <a:gd name="T24" fmla="*/ 0 w 1542"/>
                <a:gd name="T25" fmla="*/ 0 h 1531"/>
                <a:gd name="T26" fmla="*/ 0 w 1542"/>
                <a:gd name="T27" fmla="*/ 0 h 1531"/>
                <a:gd name="T28" fmla="*/ 0 w 1542"/>
                <a:gd name="T29" fmla="*/ 0 h 1531"/>
                <a:gd name="T30" fmla="*/ 0 w 1542"/>
                <a:gd name="T31" fmla="*/ 0 h 1531"/>
                <a:gd name="T32" fmla="*/ 0 w 1542"/>
                <a:gd name="T33" fmla="*/ 0 h 1531"/>
                <a:gd name="T34" fmla="*/ 0 w 1542"/>
                <a:gd name="T35" fmla="*/ 0 h 1531"/>
                <a:gd name="T36" fmla="*/ 0 w 1542"/>
                <a:gd name="T37" fmla="*/ 0 h 1531"/>
                <a:gd name="T38" fmla="*/ 0 w 1542"/>
                <a:gd name="T39" fmla="*/ 0 h 1531"/>
                <a:gd name="T40" fmla="*/ 0 w 1542"/>
                <a:gd name="T41" fmla="*/ 0 h 1531"/>
                <a:gd name="T42" fmla="*/ 0 w 1542"/>
                <a:gd name="T43" fmla="*/ 0 h 1531"/>
                <a:gd name="T44" fmla="*/ 0 w 1542"/>
                <a:gd name="T45" fmla="*/ 0 h 1531"/>
                <a:gd name="T46" fmla="*/ 0 w 1542"/>
                <a:gd name="T47" fmla="*/ 0 h 1531"/>
                <a:gd name="T48" fmla="*/ 0 w 1542"/>
                <a:gd name="T49" fmla="*/ 0 h 1531"/>
                <a:gd name="T50" fmla="*/ 0 w 1542"/>
                <a:gd name="T51" fmla="*/ 0 h 1531"/>
                <a:gd name="T52" fmla="*/ 0 w 1542"/>
                <a:gd name="T53" fmla="*/ 0 h 1531"/>
                <a:gd name="T54" fmla="*/ 0 w 1542"/>
                <a:gd name="T55" fmla="*/ 0 h 1531"/>
                <a:gd name="T56" fmla="*/ 0 w 1542"/>
                <a:gd name="T57" fmla="*/ 0 h 1531"/>
                <a:gd name="T58" fmla="*/ 0 w 1542"/>
                <a:gd name="T59" fmla="*/ 0 h 1531"/>
                <a:gd name="T60" fmla="*/ 0 w 1542"/>
                <a:gd name="T61" fmla="*/ 0 h 1531"/>
                <a:gd name="T62" fmla="*/ 0 w 1542"/>
                <a:gd name="T63" fmla="*/ 0 h 1531"/>
                <a:gd name="T64" fmla="*/ 0 w 1542"/>
                <a:gd name="T65" fmla="*/ 0 h 1531"/>
                <a:gd name="T66" fmla="*/ 0 w 1542"/>
                <a:gd name="T67" fmla="*/ 0 h 1531"/>
                <a:gd name="T68" fmla="*/ 0 w 1542"/>
                <a:gd name="T69" fmla="*/ 0 h 1531"/>
                <a:gd name="T70" fmla="*/ 0 w 1542"/>
                <a:gd name="T71" fmla="*/ 0 h 1531"/>
                <a:gd name="T72" fmla="*/ 0 w 1542"/>
                <a:gd name="T73" fmla="*/ 0 h 153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42"/>
                <a:gd name="T112" fmla="*/ 0 h 1531"/>
                <a:gd name="T113" fmla="*/ 1542 w 1542"/>
                <a:gd name="T114" fmla="*/ 1531 h 153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42" h="1531">
                  <a:moveTo>
                    <a:pt x="1367" y="1531"/>
                  </a:moveTo>
                  <a:lnTo>
                    <a:pt x="1401" y="1527"/>
                  </a:lnTo>
                  <a:lnTo>
                    <a:pt x="1436" y="1517"/>
                  </a:lnTo>
                  <a:lnTo>
                    <a:pt x="1465" y="1500"/>
                  </a:lnTo>
                  <a:lnTo>
                    <a:pt x="1491" y="1479"/>
                  </a:lnTo>
                  <a:lnTo>
                    <a:pt x="1511" y="1454"/>
                  </a:lnTo>
                  <a:lnTo>
                    <a:pt x="1528" y="1424"/>
                  </a:lnTo>
                  <a:lnTo>
                    <a:pt x="1539" y="1390"/>
                  </a:lnTo>
                  <a:lnTo>
                    <a:pt x="1542" y="1356"/>
                  </a:lnTo>
                  <a:lnTo>
                    <a:pt x="1542" y="175"/>
                  </a:lnTo>
                  <a:lnTo>
                    <a:pt x="1539" y="141"/>
                  </a:lnTo>
                  <a:lnTo>
                    <a:pt x="1528" y="107"/>
                  </a:lnTo>
                  <a:lnTo>
                    <a:pt x="1511" y="78"/>
                  </a:lnTo>
                  <a:lnTo>
                    <a:pt x="1491" y="52"/>
                  </a:lnTo>
                  <a:lnTo>
                    <a:pt x="1465" y="31"/>
                  </a:lnTo>
                  <a:lnTo>
                    <a:pt x="1436" y="14"/>
                  </a:lnTo>
                  <a:lnTo>
                    <a:pt x="1401" y="4"/>
                  </a:lnTo>
                  <a:lnTo>
                    <a:pt x="1367" y="0"/>
                  </a:lnTo>
                  <a:lnTo>
                    <a:pt x="175" y="0"/>
                  </a:lnTo>
                  <a:lnTo>
                    <a:pt x="141" y="4"/>
                  </a:lnTo>
                  <a:lnTo>
                    <a:pt x="106" y="14"/>
                  </a:lnTo>
                  <a:lnTo>
                    <a:pt x="77" y="31"/>
                  </a:lnTo>
                  <a:lnTo>
                    <a:pt x="51" y="52"/>
                  </a:lnTo>
                  <a:lnTo>
                    <a:pt x="31" y="78"/>
                  </a:lnTo>
                  <a:lnTo>
                    <a:pt x="14" y="107"/>
                  </a:lnTo>
                  <a:lnTo>
                    <a:pt x="3" y="141"/>
                  </a:lnTo>
                  <a:lnTo>
                    <a:pt x="0" y="175"/>
                  </a:lnTo>
                  <a:lnTo>
                    <a:pt x="0" y="1356"/>
                  </a:lnTo>
                  <a:lnTo>
                    <a:pt x="3" y="1390"/>
                  </a:lnTo>
                  <a:lnTo>
                    <a:pt x="14" y="1424"/>
                  </a:lnTo>
                  <a:lnTo>
                    <a:pt x="31" y="1454"/>
                  </a:lnTo>
                  <a:lnTo>
                    <a:pt x="51" y="1479"/>
                  </a:lnTo>
                  <a:lnTo>
                    <a:pt x="77" y="1500"/>
                  </a:lnTo>
                  <a:lnTo>
                    <a:pt x="106" y="1517"/>
                  </a:lnTo>
                  <a:lnTo>
                    <a:pt x="141" y="1527"/>
                  </a:lnTo>
                  <a:lnTo>
                    <a:pt x="175" y="1531"/>
                  </a:lnTo>
                  <a:lnTo>
                    <a:pt x="1367" y="1531"/>
                  </a:lnTo>
                  <a:close/>
                </a:path>
              </a:pathLst>
            </a:custGeom>
            <a:solidFill>
              <a:srgbClr val="FF9B9E"/>
            </a:solidFill>
            <a:ln w="9525">
              <a:solidFill>
                <a:schemeClr val="bg1"/>
              </a:solidFill>
              <a:round/>
              <a:headEnd/>
              <a:tailEnd/>
            </a:ln>
          </p:spPr>
          <p:txBody>
            <a:bodyPr/>
            <a:lstStyle/>
            <a:p>
              <a:endParaRPr lang="en-US"/>
            </a:p>
          </p:txBody>
        </p:sp>
        <p:sp>
          <p:nvSpPr>
            <p:cNvPr id="9300" name="Freeform 35"/>
            <p:cNvSpPr>
              <a:spLocks/>
            </p:cNvSpPr>
            <p:nvPr/>
          </p:nvSpPr>
          <p:spPr bwMode="auto">
            <a:xfrm>
              <a:off x="5225" y="594"/>
              <a:ext cx="249" cy="123"/>
            </a:xfrm>
            <a:custGeom>
              <a:avLst/>
              <a:gdLst>
                <a:gd name="T0" fmla="*/ 0 w 542"/>
                <a:gd name="T1" fmla="*/ 0 h 269"/>
                <a:gd name="T2" fmla="*/ 0 w 542"/>
                <a:gd name="T3" fmla="*/ 0 h 269"/>
                <a:gd name="T4" fmla="*/ 0 w 542"/>
                <a:gd name="T5" fmla="*/ 0 h 269"/>
                <a:gd name="T6" fmla="*/ 0 w 542"/>
                <a:gd name="T7" fmla="*/ 0 h 269"/>
                <a:gd name="T8" fmla="*/ 0 w 542"/>
                <a:gd name="T9" fmla="*/ 0 h 269"/>
                <a:gd name="T10" fmla="*/ 0 w 542"/>
                <a:gd name="T11" fmla="*/ 0 h 269"/>
                <a:gd name="T12" fmla="*/ 0 w 542"/>
                <a:gd name="T13" fmla="*/ 0 h 269"/>
                <a:gd name="T14" fmla="*/ 0 w 542"/>
                <a:gd name="T15" fmla="*/ 0 h 269"/>
                <a:gd name="T16" fmla="*/ 0 w 542"/>
                <a:gd name="T17" fmla="*/ 0 h 269"/>
                <a:gd name="T18" fmla="*/ 0 w 542"/>
                <a:gd name="T19" fmla="*/ 0 h 269"/>
                <a:gd name="T20" fmla="*/ 0 w 542"/>
                <a:gd name="T21" fmla="*/ 0 h 269"/>
                <a:gd name="T22" fmla="*/ 0 w 542"/>
                <a:gd name="T23" fmla="*/ 0 h 269"/>
                <a:gd name="T24" fmla="*/ 0 w 542"/>
                <a:gd name="T25" fmla="*/ 0 h 269"/>
                <a:gd name="T26" fmla="*/ 0 w 542"/>
                <a:gd name="T27" fmla="*/ 0 h 269"/>
                <a:gd name="T28" fmla="*/ 0 w 542"/>
                <a:gd name="T29" fmla="*/ 0 h 269"/>
                <a:gd name="T30" fmla="*/ 0 w 542"/>
                <a:gd name="T31" fmla="*/ 0 h 269"/>
                <a:gd name="T32" fmla="*/ 0 w 542"/>
                <a:gd name="T33" fmla="*/ 0 h 269"/>
                <a:gd name="T34" fmla="*/ 0 w 542"/>
                <a:gd name="T35" fmla="*/ 0 h 269"/>
                <a:gd name="T36" fmla="*/ 0 w 542"/>
                <a:gd name="T37" fmla="*/ 0 h 269"/>
                <a:gd name="T38" fmla="*/ 0 w 542"/>
                <a:gd name="T39" fmla="*/ 0 h 269"/>
                <a:gd name="T40" fmla="*/ 0 w 542"/>
                <a:gd name="T41" fmla="*/ 0 h 269"/>
                <a:gd name="T42" fmla="*/ 0 w 542"/>
                <a:gd name="T43" fmla="*/ 0 h 269"/>
                <a:gd name="T44" fmla="*/ 0 w 542"/>
                <a:gd name="T45" fmla="*/ 0 h 269"/>
                <a:gd name="T46" fmla="*/ 0 w 542"/>
                <a:gd name="T47" fmla="*/ 0 h 269"/>
                <a:gd name="T48" fmla="*/ 0 w 542"/>
                <a:gd name="T49" fmla="*/ 0 h 269"/>
                <a:gd name="T50" fmla="*/ 0 w 542"/>
                <a:gd name="T51" fmla="*/ 0 h 269"/>
                <a:gd name="T52" fmla="*/ 0 w 542"/>
                <a:gd name="T53" fmla="*/ 0 h 269"/>
                <a:gd name="T54" fmla="*/ 0 w 542"/>
                <a:gd name="T55" fmla="*/ 0 h 269"/>
                <a:gd name="T56" fmla="*/ 0 w 542"/>
                <a:gd name="T57" fmla="*/ 0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301" name="Freeform 36"/>
            <p:cNvSpPr>
              <a:spLocks/>
            </p:cNvSpPr>
            <p:nvPr/>
          </p:nvSpPr>
          <p:spPr bwMode="auto">
            <a:xfrm>
              <a:off x="5095" y="902"/>
              <a:ext cx="249" cy="125"/>
            </a:xfrm>
            <a:custGeom>
              <a:avLst/>
              <a:gdLst>
                <a:gd name="T0" fmla="*/ 0 w 542"/>
                <a:gd name="T1" fmla="*/ 0 h 269"/>
                <a:gd name="T2" fmla="*/ 0 w 542"/>
                <a:gd name="T3" fmla="*/ 0 h 269"/>
                <a:gd name="T4" fmla="*/ 0 w 542"/>
                <a:gd name="T5" fmla="*/ 0 h 269"/>
                <a:gd name="T6" fmla="*/ 0 w 542"/>
                <a:gd name="T7" fmla="*/ 0 h 269"/>
                <a:gd name="T8" fmla="*/ 0 w 542"/>
                <a:gd name="T9" fmla="*/ 0 h 269"/>
                <a:gd name="T10" fmla="*/ 0 w 542"/>
                <a:gd name="T11" fmla="*/ 0 h 269"/>
                <a:gd name="T12" fmla="*/ 0 w 542"/>
                <a:gd name="T13" fmla="*/ 0 h 269"/>
                <a:gd name="T14" fmla="*/ 0 w 542"/>
                <a:gd name="T15" fmla="*/ 0 h 269"/>
                <a:gd name="T16" fmla="*/ 0 w 542"/>
                <a:gd name="T17" fmla="*/ 0 h 269"/>
                <a:gd name="T18" fmla="*/ 0 w 542"/>
                <a:gd name="T19" fmla="*/ 0 h 269"/>
                <a:gd name="T20" fmla="*/ 0 w 542"/>
                <a:gd name="T21" fmla="*/ 0 h 269"/>
                <a:gd name="T22" fmla="*/ 0 w 542"/>
                <a:gd name="T23" fmla="*/ 0 h 269"/>
                <a:gd name="T24" fmla="*/ 0 w 542"/>
                <a:gd name="T25" fmla="*/ 0 h 269"/>
                <a:gd name="T26" fmla="*/ 0 w 542"/>
                <a:gd name="T27" fmla="*/ 0 h 269"/>
                <a:gd name="T28" fmla="*/ 0 w 542"/>
                <a:gd name="T29" fmla="*/ 0 h 269"/>
                <a:gd name="T30" fmla="*/ 0 w 542"/>
                <a:gd name="T31" fmla="*/ 0 h 269"/>
                <a:gd name="T32" fmla="*/ 0 w 542"/>
                <a:gd name="T33" fmla="*/ 0 h 269"/>
                <a:gd name="T34" fmla="*/ 0 w 542"/>
                <a:gd name="T35" fmla="*/ 0 h 269"/>
                <a:gd name="T36" fmla="*/ 0 w 542"/>
                <a:gd name="T37" fmla="*/ 0 h 269"/>
                <a:gd name="T38" fmla="*/ 0 w 542"/>
                <a:gd name="T39" fmla="*/ 0 h 269"/>
                <a:gd name="T40" fmla="*/ 0 w 542"/>
                <a:gd name="T41" fmla="*/ 0 h 269"/>
                <a:gd name="T42" fmla="*/ 0 w 542"/>
                <a:gd name="T43" fmla="*/ 0 h 269"/>
                <a:gd name="T44" fmla="*/ 0 w 542"/>
                <a:gd name="T45" fmla="*/ 0 h 269"/>
                <a:gd name="T46" fmla="*/ 0 w 542"/>
                <a:gd name="T47" fmla="*/ 0 h 269"/>
                <a:gd name="T48" fmla="*/ 0 w 542"/>
                <a:gd name="T49" fmla="*/ 0 h 269"/>
                <a:gd name="T50" fmla="*/ 0 w 542"/>
                <a:gd name="T51" fmla="*/ 0 h 269"/>
                <a:gd name="T52" fmla="*/ 0 w 542"/>
                <a:gd name="T53" fmla="*/ 0 h 269"/>
                <a:gd name="T54" fmla="*/ 0 w 542"/>
                <a:gd name="T55" fmla="*/ 0 h 269"/>
                <a:gd name="T56" fmla="*/ 0 w 542"/>
                <a:gd name="T57" fmla="*/ 0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302" name="Freeform 37"/>
            <p:cNvSpPr>
              <a:spLocks/>
            </p:cNvSpPr>
            <p:nvPr/>
          </p:nvSpPr>
          <p:spPr bwMode="auto">
            <a:xfrm>
              <a:off x="5135" y="660"/>
              <a:ext cx="298" cy="299"/>
            </a:xfrm>
            <a:custGeom>
              <a:avLst/>
              <a:gdLst>
                <a:gd name="T0" fmla="*/ 0 w 650"/>
                <a:gd name="T1" fmla="*/ 0 h 650"/>
                <a:gd name="T2" fmla="*/ 0 w 650"/>
                <a:gd name="T3" fmla="*/ 0 h 650"/>
                <a:gd name="T4" fmla="*/ 0 w 650"/>
                <a:gd name="T5" fmla="*/ 0 h 650"/>
                <a:gd name="T6" fmla="*/ 0 w 650"/>
                <a:gd name="T7" fmla="*/ 0 h 650"/>
                <a:gd name="T8" fmla="*/ 0 w 650"/>
                <a:gd name="T9" fmla="*/ 0 h 650"/>
                <a:gd name="T10" fmla="*/ 0 w 650"/>
                <a:gd name="T11" fmla="*/ 0 h 650"/>
                <a:gd name="T12" fmla="*/ 0 w 650"/>
                <a:gd name="T13" fmla="*/ 0 h 650"/>
                <a:gd name="T14" fmla="*/ 0 w 650"/>
                <a:gd name="T15" fmla="*/ 0 h 650"/>
                <a:gd name="T16" fmla="*/ 0 w 650"/>
                <a:gd name="T17" fmla="*/ 0 h 650"/>
                <a:gd name="T18" fmla="*/ 0 w 650"/>
                <a:gd name="T19" fmla="*/ 0 h 650"/>
                <a:gd name="T20" fmla="*/ 0 w 650"/>
                <a:gd name="T21" fmla="*/ 0 h 650"/>
                <a:gd name="T22" fmla="*/ 0 w 650"/>
                <a:gd name="T23" fmla="*/ 0 h 650"/>
                <a:gd name="T24" fmla="*/ 0 w 650"/>
                <a:gd name="T25" fmla="*/ 0 h 650"/>
                <a:gd name="T26" fmla="*/ 0 w 650"/>
                <a:gd name="T27" fmla="*/ 0 h 650"/>
                <a:gd name="T28" fmla="*/ 0 w 650"/>
                <a:gd name="T29" fmla="*/ 0 h 650"/>
                <a:gd name="T30" fmla="*/ 0 w 650"/>
                <a:gd name="T31" fmla="*/ 0 h 650"/>
                <a:gd name="T32" fmla="*/ 0 w 650"/>
                <a:gd name="T33" fmla="*/ 0 h 650"/>
                <a:gd name="T34" fmla="*/ 0 w 650"/>
                <a:gd name="T35" fmla="*/ 0 h 650"/>
                <a:gd name="T36" fmla="*/ 0 w 650"/>
                <a:gd name="T37" fmla="*/ 0 h 650"/>
                <a:gd name="T38" fmla="*/ 0 w 650"/>
                <a:gd name="T39" fmla="*/ 0 h 650"/>
                <a:gd name="T40" fmla="*/ 0 w 650"/>
                <a:gd name="T41" fmla="*/ 0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303" name="Freeform 38"/>
            <p:cNvSpPr>
              <a:spLocks/>
            </p:cNvSpPr>
            <p:nvPr/>
          </p:nvSpPr>
          <p:spPr bwMode="auto">
            <a:xfrm>
              <a:off x="5008" y="1134"/>
              <a:ext cx="554" cy="79"/>
            </a:xfrm>
            <a:custGeom>
              <a:avLst/>
              <a:gdLst>
                <a:gd name="T0" fmla="*/ 0 w 1206"/>
                <a:gd name="T1" fmla="*/ 0 h 172"/>
                <a:gd name="T2" fmla="*/ 0 w 1206"/>
                <a:gd name="T3" fmla="*/ 0 h 172"/>
                <a:gd name="T4" fmla="*/ 0 w 1206"/>
                <a:gd name="T5" fmla="*/ 0 h 172"/>
                <a:gd name="T6" fmla="*/ 0 w 1206"/>
                <a:gd name="T7" fmla="*/ 0 h 172"/>
                <a:gd name="T8" fmla="*/ 0 w 1206"/>
                <a:gd name="T9" fmla="*/ 0 h 172"/>
                <a:gd name="T10" fmla="*/ 0 w 1206"/>
                <a:gd name="T11" fmla="*/ 0 h 172"/>
                <a:gd name="T12" fmla="*/ 0 w 1206"/>
                <a:gd name="T13" fmla="*/ 0 h 172"/>
                <a:gd name="T14" fmla="*/ 0 w 1206"/>
                <a:gd name="T15" fmla="*/ 0 h 172"/>
                <a:gd name="T16" fmla="*/ 0 w 1206"/>
                <a:gd name="T17" fmla="*/ 0 h 172"/>
                <a:gd name="T18" fmla="*/ 0 w 1206"/>
                <a:gd name="T19" fmla="*/ 0 h 172"/>
                <a:gd name="T20" fmla="*/ 0 w 1206"/>
                <a:gd name="T21" fmla="*/ 0 h 172"/>
                <a:gd name="T22" fmla="*/ 0 w 1206"/>
                <a:gd name="T23" fmla="*/ 0 h 172"/>
                <a:gd name="T24" fmla="*/ 0 w 1206"/>
                <a:gd name="T25" fmla="*/ 0 h 172"/>
                <a:gd name="T26" fmla="*/ 0 w 1206"/>
                <a:gd name="T27" fmla="*/ 0 h 172"/>
                <a:gd name="T28" fmla="*/ 0 w 1206"/>
                <a:gd name="T29" fmla="*/ 0 h 172"/>
                <a:gd name="T30" fmla="*/ 0 w 1206"/>
                <a:gd name="T31" fmla="*/ 0 h 172"/>
                <a:gd name="T32" fmla="*/ 0 w 1206"/>
                <a:gd name="T33" fmla="*/ 0 h 172"/>
                <a:gd name="T34" fmla="*/ 0 w 1206"/>
                <a:gd name="T35" fmla="*/ 0 h 172"/>
                <a:gd name="T36" fmla="*/ 0 w 1206"/>
                <a:gd name="T37" fmla="*/ 0 h 172"/>
                <a:gd name="T38" fmla="*/ 0 w 1206"/>
                <a:gd name="T39" fmla="*/ 0 h 172"/>
                <a:gd name="T40" fmla="*/ 0 w 1206"/>
                <a:gd name="T41" fmla="*/ 0 h 172"/>
                <a:gd name="T42" fmla="*/ 0 w 1206"/>
                <a:gd name="T43" fmla="*/ 0 h 172"/>
                <a:gd name="T44" fmla="*/ 0 w 1206"/>
                <a:gd name="T45" fmla="*/ 0 h 172"/>
                <a:gd name="T46" fmla="*/ 0 w 1206"/>
                <a:gd name="T47" fmla="*/ 0 h 172"/>
                <a:gd name="T48" fmla="*/ 0 w 1206"/>
                <a:gd name="T49" fmla="*/ 0 h 172"/>
                <a:gd name="T50" fmla="*/ 0 w 1206"/>
                <a:gd name="T51" fmla="*/ 0 h 172"/>
                <a:gd name="T52" fmla="*/ 0 w 1206"/>
                <a:gd name="T53" fmla="*/ 0 h 172"/>
                <a:gd name="T54" fmla="*/ 0 w 1206"/>
                <a:gd name="T55" fmla="*/ 0 h 172"/>
                <a:gd name="T56" fmla="*/ 0 w 1206"/>
                <a:gd name="T57" fmla="*/ 0 h 172"/>
                <a:gd name="T58" fmla="*/ 0 w 1206"/>
                <a:gd name="T59" fmla="*/ 0 h 172"/>
                <a:gd name="T60" fmla="*/ 0 w 1206"/>
                <a:gd name="T61" fmla="*/ 0 h 172"/>
                <a:gd name="T62" fmla="*/ 0 w 1206"/>
                <a:gd name="T63" fmla="*/ 0 h 172"/>
                <a:gd name="T64" fmla="*/ 0 w 1206"/>
                <a:gd name="T65" fmla="*/ 0 h 172"/>
                <a:gd name="T66" fmla="*/ 0 w 1206"/>
                <a:gd name="T67" fmla="*/ 0 h 172"/>
                <a:gd name="T68" fmla="*/ 0 w 1206"/>
                <a:gd name="T69" fmla="*/ 0 h 172"/>
                <a:gd name="T70" fmla="*/ 0 w 1206"/>
                <a:gd name="T71" fmla="*/ 0 h 172"/>
                <a:gd name="T72" fmla="*/ 0 w 1206"/>
                <a:gd name="T73" fmla="*/ 0 h 1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06"/>
                <a:gd name="T112" fmla="*/ 0 h 172"/>
                <a:gd name="T113" fmla="*/ 1206 w 1206"/>
                <a:gd name="T114" fmla="*/ 172 h 1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06" h="172">
                  <a:moveTo>
                    <a:pt x="1120" y="172"/>
                  </a:moveTo>
                  <a:lnTo>
                    <a:pt x="1138" y="170"/>
                  </a:lnTo>
                  <a:lnTo>
                    <a:pt x="1155" y="165"/>
                  </a:lnTo>
                  <a:lnTo>
                    <a:pt x="1168" y="158"/>
                  </a:lnTo>
                  <a:lnTo>
                    <a:pt x="1182" y="146"/>
                  </a:lnTo>
                  <a:lnTo>
                    <a:pt x="1192" y="134"/>
                  </a:lnTo>
                  <a:lnTo>
                    <a:pt x="1199" y="120"/>
                  </a:lnTo>
                  <a:lnTo>
                    <a:pt x="1204" y="103"/>
                  </a:lnTo>
                  <a:lnTo>
                    <a:pt x="1206" y="86"/>
                  </a:lnTo>
                  <a:lnTo>
                    <a:pt x="1204" y="69"/>
                  </a:lnTo>
                  <a:lnTo>
                    <a:pt x="1199" y="52"/>
                  </a:lnTo>
                  <a:lnTo>
                    <a:pt x="1192" y="38"/>
                  </a:lnTo>
                  <a:lnTo>
                    <a:pt x="1182" y="24"/>
                  </a:lnTo>
                  <a:lnTo>
                    <a:pt x="1168" y="14"/>
                  </a:lnTo>
                  <a:lnTo>
                    <a:pt x="1155" y="7"/>
                  </a:lnTo>
                  <a:lnTo>
                    <a:pt x="1138" y="2"/>
                  </a:lnTo>
                  <a:lnTo>
                    <a:pt x="1120" y="0"/>
                  </a:lnTo>
                  <a:lnTo>
                    <a:pt x="86" y="0"/>
                  </a:lnTo>
                  <a:lnTo>
                    <a:pt x="69" y="2"/>
                  </a:lnTo>
                  <a:lnTo>
                    <a:pt x="52" y="7"/>
                  </a:lnTo>
                  <a:lnTo>
                    <a:pt x="38" y="14"/>
                  </a:lnTo>
                  <a:lnTo>
                    <a:pt x="26" y="24"/>
                  </a:lnTo>
                  <a:lnTo>
                    <a:pt x="14" y="38"/>
                  </a:lnTo>
                  <a:lnTo>
                    <a:pt x="7" y="52"/>
                  </a:lnTo>
                  <a:lnTo>
                    <a:pt x="2" y="69"/>
                  </a:lnTo>
                  <a:lnTo>
                    <a:pt x="0" y="86"/>
                  </a:lnTo>
                  <a:lnTo>
                    <a:pt x="2" y="103"/>
                  </a:lnTo>
                  <a:lnTo>
                    <a:pt x="7" y="120"/>
                  </a:lnTo>
                  <a:lnTo>
                    <a:pt x="14" y="134"/>
                  </a:lnTo>
                  <a:lnTo>
                    <a:pt x="26" y="146"/>
                  </a:lnTo>
                  <a:lnTo>
                    <a:pt x="38" y="158"/>
                  </a:lnTo>
                  <a:lnTo>
                    <a:pt x="52" y="165"/>
                  </a:lnTo>
                  <a:lnTo>
                    <a:pt x="69" y="170"/>
                  </a:lnTo>
                  <a:lnTo>
                    <a:pt x="86" y="172"/>
                  </a:lnTo>
                  <a:lnTo>
                    <a:pt x="1120" y="1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304" name="Freeform 39"/>
            <p:cNvSpPr>
              <a:spLocks/>
            </p:cNvSpPr>
            <p:nvPr/>
          </p:nvSpPr>
          <p:spPr bwMode="auto">
            <a:xfrm>
              <a:off x="5400" y="818"/>
              <a:ext cx="240" cy="149"/>
            </a:xfrm>
            <a:custGeom>
              <a:avLst/>
              <a:gdLst>
                <a:gd name="T0" fmla="*/ 0 w 522"/>
                <a:gd name="T1" fmla="*/ 0 h 324"/>
                <a:gd name="T2" fmla="*/ 0 w 522"/>
                <a:gd name="T3" fmla="*/ 0 h 324"/>
                <a:gd name="T4" fmla="*/ 0 w 522"/>
                <a:gd name="T5" fmla="*/ 0 h 324"/>
                <a:gd name="T6" fmla="*/ 0 w 522"/>
                <a:gd name="T7" fmla="*/ 0 h 324"/>
                <a:gd name="T8" fmla="*/ 0 w 522"/>
                <a:gd name="T9" fmla="*/ 0 h 324"/>
                <a:gd name="T10" fmla="*/ 0 60000 65536"/>
                <a:gd name="T11" fmla="*/ 0 60000 65536"/>
                <a:gd name="T12" fmla="*/ 0 60000 65536"/>
                <a:gd name="T13" fmla="*/ 0 60000 65536"/>
                <a:gd name="T14" fmla="*/ 0 60000 65536"/>
                <a:gd name="T15" fmla="*/ 0 w 522"/>
                <a:gd name="T16" fmla="*/ 0 h 324"/>
                <a:gd name="T17" fmla="*/ 522 w 522"/>
                <a:gd name="T18" fmla="*/ 324 h 324"/>
              </a:gdLst>
              <a:ahLst/>
              <a:cxnLst>
                <a:cxn ang="T10">
                  <a:pos x="T0" y="T1"/>
                </a:cxn>
                <a:cxn ang="T11">
                  <a:pos x="T2" y="T3"/>
                </a:cxn>
                <a:cxn ang="T12">
                  <a:pos x="T4" y="T5"/>
                </a:cxn>
                <a:cxn ang="T13">
                  <a:pos x="T6" y="T7"/>
                </a:cxn>
                <a:cxn ang="T14">
                  <a:pos x="T8" y="T9"/>
                </a:cxn>
              </a:cxnLst>
              <a:rect l="T15" t="T16" r="T17" b="T18"/>
              <a:pathLst>
                <a:path w="522" h="324">
                  <a:moveTo>
                    <a:pt x="522" y="173"/>
                  </a:moveTo>
                  <a:lnTo>
                    <a:pt x="50" y="0"/>
                  </a:lnTo>
                  <a:lnTo>
                    <a:pt x="0" y="134"/>
                  </a:lnTo>
                  <a:lnTo>
                    <a:pt x="522" y="324"/>
                  </a:lnTo>
                  <a:lnTo>
                    <a:pt x="522"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305" name="Freeform 40"/>
            <p:cNvSpPr>
              <a:spLocks/>
            </p:cNvSpPr>
            <p:nvPr/>
          </p:nvSpPr>
          <p:spPr bwMode="auto">
            <a:xfrm>
              <a:off x="5062" y="1062"/>
              <a:ext cx="442" cy="47"/>
            </a:xfrm>
            <a:custGeom>
              <a:avLst/>
              <a:gdLst>
                <a:gd name="T0" fmla="*/ 0 w 964"/>
                <a:gd name="T1" fmla="*/ 0 h 101"/>
                <a:gd name="T2" fmla="*/ 0 w 964"/>
                <a:gd name="T3" fmla="*/ 0 h 101"/>
                <a:gd name="T4" fmla="*/ 0 w 964"/>
                <a:gd name="T5" fmla="*/ 0 h 101"/>
                <a:gd name="T6" fmla="*/ 0 w 964"/>
                <a:gd name="T7" fmla="*/ 0 h 101"/>
                <a:gd name="T8" fmla="*/ 0 w 964"/>
                <a:gd name="T9" fmla="*/ 0 h 101"/>
                <a:gd name="T10" fmla="*/ 0 w 964"/>
                <a:gd name="T11" fmla="*/ 0 h 101"/>
                <a:gd name="T12" fmla="*/ 0 w 964"/>
                <a:gd name="T13" fmla="*/ 0 h 101"/>
                <a:gd name="T14" fmla="*/ 0 w 964"/>
                <a:gd name="T15" fmla="*/ 0 h 101"/>
                <a:gd name="T16" fmla="*/ 0 w 964"/>
                <a:gd name="T17" fmla="*/ 0 h 101"/>
                <a:gd name="T18" fmla="*/ 0 w 964"/>
                <a:gd name="T19" fmla="*/ 0 h 101"/>
                <a:gd name="T20" fmla="*/ 0 w 964"/>
                <a:gd name="T21" fmla="*/ 0 h 101"/>
                <a:gd name="T22" fmla="*/ 0 w 964"/>
                <a:gd name="T23" fmla="*/ 0 h 101"/>
                <a:gd name="T24" fmla="*/ 0 w 964"/>
                <a:gd name="T25" fmla="*/ 0 h 101"/>
                <a:gd name="T26" fmla="*/ 0 w 964"/>
                <a:gd name="T27" fmla="*/ 0 h 101"/>
                <a:gd name="T28" fmla="*/ 0 w 964"/>
                <a:gd name="T29" fmla="*/ 0 h 101"/>
                <a:gd name="T30" fmla="*/ 0 w 964"/>
                <a:gd name="T31" fmla="*/ 0 h 101"/>
                <a:gd name="T32" fmla="*/ 0 w 964"/>
                <a:gd name="T33" fmla="*/ 0 h 101"/>
                <a:gd name="T34" fmla="*/ 0 w 964"/>
                <a:gd name="T35" fmla="*/ 0 h 101"/>
                <a:gd name="T36" fmla="*/ 0 w 964"/>
                <a:gd name="T37" fmla="*/ 0 h 101"/>
                <a:gd name="T38" fmla="*/ 0 w 964"/>
                <a:gd name="T39" fmla="*/ 0 h 101"/>
                <a:gd name="T40" fmla="*/ 0 w 964"/>
                <a:gd name="T41" fmla="*/ 0 h 101"/>
                <a:gd name="T42" fmla="*/ 0 w 964"/>
                <a:gd name="T43" fmla="*/ 0 h 101"/>
                <a:gd name="T44" fmla="*/ 0 w 964"/>
                <a:gd name="T45" fmla="*/ 0 h 101"/>
                <a:gd name="T46" fmla="*/ 0 w 964"/>
                <a:gd name="T47" fmla="*/ 0 h 101"/>
                <a:gd name="T48" fmla="*/ 0 w 964"/>
                <a:gd name="T49" fmla="*/ 0 h 101"/>
                <a:gd name="T50" fmla="*/ 0 w 964"/>
                <a:gd name="T51" fmla="*/ 0 h 101"/>
                <a:gd name="T52" fmla="*/ 0 w 964"/>
                <a:gd name="T53" fmla="*/ 0 h 101"/>
                <a:gd name="T54" fmla="*/ 0 w 964"/>
                <a:gd name="T55" fmla="*/ 0 h 101"/>
                <a:gd name="T56" fmla="*/ 0 w 964"/>
                <a:gd name="T57" fmla="*/ 0 h 101"/>
                <a:gd name="T58" fmla="*/ 0 w 964"/>
                <a:gd name="T59" fmla="*/ 0 h 101"/>
                <a:gd name="T60" fmla="*/ 0 w 964"/>
                <a:gd name="T61" fmla="*/ 0 h 101"/>
                <a:gd name="T62" fmla="*/ 0 w 964"/>
                <a:gd name="T63" fmla="*/ 0 h 101"/>
                <a:gd name="T64" fmla="*/ 0 w 964"/>
                <a:gd name="T65" fmla="*/ 0 h 101"/>
                <a:gd name="T66" fmla="*/ 0 w 964"/>
                <a:gd name="T67" fmla="*/ 0 h 101"/>
                <a:gd name="T68" fmla="*/ 0 w 964"/>
                <a:gd name="T69" fmla="*/ 0 h 101"/>
                <a:gd name="T70" fmla="*/ 0 w 964"/>
                <a:gd name="T71" fmla="*/ 0 h 101"/>
                <a:gd name="T72" fmla="*/ 0 w 964"/>
                <a:gd name="T73" fmla="*/ 0 h 10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64"/>
                <a:gd name="T112" fmla="*/ 0 h 101"/>
                <a:gd name="T113" fmla="*/ 964 w 964"/>
                <a:gd name="T114" fmla="*/ 101 h 10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64" h="101">
                  <a:moveTo>
                    <a:pt x="913" y="101"/>
                  </a:moveTo>
                  <a:lnTo>
                    <a:pt x="923" y="99"/>
                  </a:lnTo>
                  <a:lnTo>
                    <a:pt x="931" y="98"/>
                  </a:lnTo>
                  <a:lnTo>
                    <a:pt x="942" y="93"/>
                  </a:lnTo>
                  <a:lnTo>
                    <a:pt x="949" y="86"/>
                  </a:lnTo>
                  <a:lnTo>
                    <a:pt x="955" y="79"/>
                  </a:lnTo>
                  <a:lnTo>
                    <a:pt x="961" y="70"/>
                  </a:lnTo>
                  <a:lnTo>
                    <a:pt x="962" y="62"/>
                  </a:lnTo>
                  <a:lnTo>
                    <a:pt x="964" y="51"/>
                  </a:lnTo>
                  <a:lnTo>
                    <a:pt x="962" y="41"/>
                  </a:lnTo>
                  <a:lnTo>
                    <a:pt x="961" y="31"/>
                  </a:lnTo>
                  <a:lnTo>
                    <a:pt x="955" y="22"/>
                  </a:lnTo>
                  <a:lnTo>
                    <a:pt x="949" y="15"/>
                  </a:lnTo>
                  <a:lnTo>
                    <a:pt x="942" y="9"/>
                  </a:lnTo>
                  <a:lnTo>
                    <a:pt x="931" y="3"/>
                  </a:lnTo>
                  <a:lnTo>
                    <a:pt x="923" y="2"/>
                  </a:lnTo>
                  <a:lnTo>
                    <a:pt x="913" y="0"/>
                  </a:lnTo>
                  <a:lnTo>
                    <a:pt x="51" y="0"/>
                  </a:lnTo>
                  <a:lnTo>
                    <a:pt x="41" y="2"/>
                  </a:lnTo>
                  <a:lnTo>
                    <a:pt x="31" y="3"/>
                  </a:lnTo>
                  <a:lnTo>
                    <a:pt x="22" y="9"/>
                  </a:lnTo>
                  <a:lnTo>
                    <a:pt x="15" y="15"/>
                  </a:lnTo>
                  <a:lnTo>
                    <a:pt x="9" y="22"/>
                  </a:lnTo>
                  <a:lnTo>
                    <a:pt x="3" y="31"/>
                  </a:lnTo>
                  <a:lnTo>
                    <a:pt x="2" y="41"/>
                  </a:lnTo>
                  <a:lnTo>
                    <a:pt x="0" y="51"/>
                  </a:lnTo>
                  <a:lnTo>
                    <a:pt x="2" y="62"/>
                  </a:lnTo>
                  <a:lnTo>
                    <a:pt x="3" y="70"/>
                  </a:lnTo>
                  <a:lnTo>
                    <a:pt x="9" y="79"/>
                  </a:lnTo>
                  <a:lnTo>
                    <a:pt x="15" y="86"/>
                  </a:lnTo>
                  <a:lnTo>
                    <a:pt x="22" y="93"/>
                  </a:lnTo>
                  <a:lnTo>
                    <a:pt x="31" y="98"/>
                  </a:lnTo>
                  <a:lnTo>
                    <a:pt x="41" y="99"/>
                  </a:lnTo>
                  <a:lnTo>
                    <a:pt x="51" y="101"/>
                  </a:lnTo>
                  <a:lnTo>
                    <a:pt x="913"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306" name="Freeform 41"/>
            <p:cNvSpPr>
              <a:spLocks/>
            </p:cNvSpPr>
            <p:nvPr/>
          </p:nvSpPr>
          <p:spPr bwMode="auto">
            <a:xfrm>
              <a:off x="4999" y="766"/>
              <a:ext cx="64" cy="48"/>
            </a:xfrm>
            <a:custGeom>
              <a:avLst/>
              <a:gdLst>
                <a:gd name="T0" fmla="*/ 0 w 140"/>
                <a:gd name="T1" fmla="*/ 0 h 106"/>
                <a:gd name="T2" fmla="*/ 0 w 140"/>
                <a:gd name="T3" fmla="*/ 0 h 106"/>
                <a:gd name="T4" fmla="*/ 0 w 140"/>
                <a:gd name="T5" fmla="*/ 0 h 106"/>
                <a:gd name="T6" fmla="*/ 0 w 140"/>
                <a:gd name="T7" fmla="*/ 0 h 106"/>
                <a:gd name="T8" fmla="*/ 0 w 140"/>
                <a:gd name="T9" fmla="*/ 0 h 106"/>
                <a:gd name="T10" fmla="*/ 0 w 140"/>
                <a:gd name="T11" fmla="*/ 0 h 106"/>
                <a:gd name="T12" fmla="*/ 0 w 140"/>
                <a:gd name="T13" fmla="*/ 0 h 106"/>
                <a:gd name="T14" fmla="*/ 0 60000 65536"/>
                <a:gd name="T15" fmla="*/ 0 60000 65536"/>
                <a:gd name="T16" fmla="*/ 0 60000 65536"/>
                <a:gd name="T17" fmla="*/ 0 60000 65536"/>
                <a:gd name="T18" fmla="*/ 0 60000 65536"/>
                <a:gd name="T19" fmla="*/ 0 60000 65536"/>
                <a:gd name="T20" fmla="*/ 0 60000 65536"/>
                <a:gd name="T21" fmla="*/ 0 w 140"/>
                <a:gd name="T22" fmla="*/ 0 h 106"/>
                <a:gd name="T23" fmla="*/ 140 w 140"/>
                <a:gd name="T24" fmla="*/ 106 h 1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0" h="106">
                  <a:moveTo>
                    <a:pt x="140" y="0"/>
                  </a:moveTo>
                  <a:lnTo>
                    <a:pt x="0" y="34"/>
                  </a:lnTo>
                  <a:lnTo>
                    <a:pt x="122" y="106"/>
                  </a:lnTo>
                  <a:lnTo>
                    <a:pt x="125" y="79"/>
                  </a:lnTo>
                  <a:lnTo>
                    <a:pt x="128" y="53"/>
                  </a:lnTo>
                  <a:lnTo>
                    <a:pt x="134" y="26"/>
                  </a:lnTo>
                  <a:lnTo>
                    <a:pt x="1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307" name="Freeform 42"/>
            <p:cNvSpPr>
              <a:spLocks/>
            </p:cNvSpPr>
            <p:nvPr/>
          </p:nvSpPr>
          <p:spPr bwMode="auto">
            <a:xfrm>
              <a:off x="5070" y="611"/>
              <a:ext cx="69" cy="60"/>
            </a:xfrm>
            <a:custGeom>
              <a:avLst/>
              <a:gdLst>
                <a:gd name="T0" fmla="*/ 0 w 149"/>
                <a:gd name="T1" fmla="*/ 0 h 130"/>
                <a:gd name="T2" fmla="*/ 0 w 149"/>
                <a:gd name="T3" fmla="*/ 0 h 130"/>
                <a:gd name="T4" fmla="*/ 0 w 149"/>
                <a:gd name="T5" fmla="*/ 0 h 130"/>
                <a:gd name="T6" fmla="*/ 0 w 149"/>
                <a:gd name="T7" fmla="*/ 0 h 130"/>
                <a:gd name="T8" fmla="*/ 0 w 149"/>
                <a:gd name="T9" fmla="*/ 0 h 130"/>
                <a:gd name="T10" fmla="*/ 0 w 149"/>
                <a:gd name="T11" fmla="*/ 0 h 130"/>
                <a:gd name="T12" fmla="*/ 0 w 149"/>
                <a:gd name="T13" fmla="*/ 0 h 130"/>
                <a:gd name="T14" fmla="*/ 0 w 149"/>
                <a:gd name="T15" fmla="*/ 0 h 130"/>
                <a:gd name="T16" fmla="*/ 0 w 149"/>
                <a:gd name="T17" fmla="*/ 0 h 130"/>
                <a:gd name="T18" fmla="*/ 0 w 149"/>
                <a:gd name="T19" fmla="*/ 0 h 130"/>
                <a:gd name="T20" fmla="*/ 0 w 149"/>
                <a:gd name="T21" fmla="*/ 0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130"/>
                <a:gd name="T35" fmla="*/ 149 w 149"/>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130">
                  <a:moveTo>
                    <a:pt x="149" y="39"/>
                  </a:moveTo>
                  <a:lnTo>
                    <a:pt x="0" y="0"/>
                  </a:lnTo>
                  <a:lnTo>
                    <a:pt x="79" y="130"/>
                  </a:lnTo>
                  <a:lnTo>
                    <a:pt x="88" y="118"/>
                  </a:lnTo>
                  <a:lnTo>
                    <a:pt x="95" y="108"/>
                  </a:lnTo>
                  <a:lnTo>
                    <a:pt x="103" y="96"/>
                  </a:lnTo>
                  <a:lnTo>
                    <a:pt x="112" y="84"/>
                  </a:lnTo>
                  <a:lnTo>
                    <a:pt x="122" y="72"/>
                  </a:lnTo>
                  <a:lnTo>
                    <a:pt x="131" y="61"/>
                  </a:lnTo>
                  <a:lnTo>
                    <a:pt x="139" y="49"/>
                  </a:lnTo>
                  <a:lnTo>
                    <a:pt x="149"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308" name="Freeform 43"/>
            <p:cNvSpPr>
              <a:spLocks/>
            </p:cNvSpPr>
            <p:nvPr/>
          </p:nvSpPr>
          <p:spPr bwMode="auto">
            <a:xfrm>
              <a:off x="5024" y="692"/>
              <a:ext cx="70" cy="48"/>
            </a:xfrm>
            <a:custGeom>
              <a:avLst/>
              <a:gdLst>
                <a:gd name="T0" fmla="*/ 0 w 153"/>
                <a:gd name="T1" fmla="*/ 0 h 104"/>
                <a:gd name="T2" fmla="*/ 0 w 153"/>
                <a:gd name="T3" fmla="*/ 0 h 104"/>
                <a:gd name="T4" fmla="*/ 0 w 153"/>
                <a:gd name="T5" fmla="*/ 0 h 104"/>
                <a:gd name="T6" fmla="*/ 0 w 153"/>
                <a:gd name="T7" fmla="*/ 0 h 104"/>
                <a:gd name="T8" fmla="*/ 0 w 153"/>
                <a:gd name="T9" fmla="*/ 0 h 104"/>
                <a:gd name="T10" fmla="*/ 0 w 153"/>
                <a:gd name="T11" fmla="*/ 0 h 104"/>
                <a:gd name="T12" fmla="*/ 0 w 153"/>
                <a:gd name="T13" fmla="*/ 0 h 104"/>
                <a:gd name="T14" fmla="*/ 0 60000 65536"/>
                <a:gd name="T15" fmla="*/ 0 60000 65536"/>
                <a:gd name="T16" fmla="*/ 0 60000 65536"/>
                <a:gd name="T17" fmla="*/ 0 60000 65536"/>
                <a:gd name="T18" fmla="*/ 0 60000 65536"/>
                <a:gd name="T19" fmla="*/ 0 60000 65536"/>
                <a:gd name="T20" fmla="*/ 0 60000 65536"/>
                <a:gd name="T21" fmla="*/ 0 w 153"/>
                <a:gd name="T22" fmla="*/ 0 h 104"/>
                <a:gd name="T23" fmla="*/ 153 w 153"/>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4">
                  <a:moveTo>
                    <a:pt x="153" y="1"/>
                  </a:moveTo>
                  <a:lnTo>
                    <a:pt x="0" y="0"/>
                  </a:lnTo>
                  <a:lnTo>
                    <a:pt x="106" y="104"/>
                  </a:lnTo>
                  <a:lnTo>
                    <a:pt x="117" y="77"/>
                  </a:lnTo>
                  <a:lnTo>
                    <a:pt x="127" y="51"/>
                  </a:lnTo>
                  <a:lnTo>
                    <a:pt x="139" y="25"/>
                  </a:lnTo>
                  <a:lnTo>
                    <a:pt x="15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9229" name="Group 44"/>
          <p:cNvGrpSpPr>
            <a:grpSpLocks/>
          </p:cNvGrpSpPr>
          <p:nvPr/>
        </p:nvGrpSpPr>
        <p:grpSpPr bwMode="auto">
          <a:xfrm>
            <a:off x="3067050" y="1655763"/>
            <a:ext cx="766763" cy="525462"/>
            <a:chOff x="463" y="1743"/>
            <a:chExt cx="1186" cy="813"/>
          </a:xfrm>
        </p:grpSpPr>
        <p:sp>
          <p:nvSpPr>
            <p:cNvPr id="9279" name="Freeform 45"/>
            <p:cNvSpPr>
              <a:spLocks/>
            </p:cNvSpPr>
            <p:nvPr/>
          </p:nvSpPr>
          <p:spPr bwMode="auto">
            <a:xfrm>
              <a:off x="1338" y="2248"/>
              <a:ext cx="137" cy="216"/>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80" name="Freeform 46"/>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81" name="AutoShape 47"/>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9282" name="AutoShape 48"/>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9283" name="Freeform 49"/>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lIns="0" tIns="0" rIns="0" bIns="0" anchor="ctr">
              <a:spAutoFit/>
            </a:bodyPr>
            <a:lstStyle/>
            <a:p>
              <a:endParaRPr lang="en-US"/>
            </a:p>
          </p:txBody>
        </p:sp>
        <p:sp>
          <p:nvSpPr>
            <p:cNvPr id="9284" name="Freeform 50"/>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285" name="Freeform 51"/>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286" name="Freeform 52"/>
            <p:cNvSpPr>
              <a:spLocks/>
            </p:cNvSpPr>
            <p:nvPr/>
          </p:nvSpPr>
          <p:spPr bwMode="auto">
            <a:xfrm>
              <a:off x="1142" y="1990"/>
              <a:ext cx="71" cy="99"/>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87" name="Freeform 53"/>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88" name="Freeform 54"/>
            <p:cNvSpPr>
              <a:spLocks/>
            </p:cNvSpPr>
            <p:nvPr/>
          </p:nvSpPr>
          <p:spPr bwMode="auto">
            <a:xfrm>
              <a:off x="1153" y="2018"/>
              <a:ext cx="51" cy="36"/>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89" name="Freeform 55"/>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9290" name="Freeform 56"/>
            <p:cNvSpPr>
              <a:spLocks/>
            </p:cNvSpPr>
            <p:nvPr/>
          </p:nvSpPr>
          <p:spPr bwMode="auto">
            <a:xfrm rot="1661969">
              <a:off x="1352" y="1764"/>
              <a:ext cx="205" cy="160"/>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9291" name="Line 57"/>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92" name="Line 58"/>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93" name="Oval 59"/>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9294" name="Freeform 60"/>
            <p:cNvSpPr>
              <a:spLocks/>
            </p:cNvSpPr>
            <p:nvPr/>
          </p:nvSpPr>
          <p:spPr bwMode="auto">
            <a:xfrm>
              <a:off x="611" y="2261"/>
              <a:ext cx="197" cy="198"/>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95" name="Freeform 61"/>
            <p:cNvSpPr>
              <a:spLocks/>
            </p:cNvSpPr>
            <p:nvPr/>
          </p:nvSpPr>
          <p:spPr bwMode="auto">
            <a:xfrm>
              <a:off x="653" y="2425"/>
              <a:ext cx="38" cy="24"/>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96" name="Oval 62"/>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9297" name="Freeform 63"/>
            <p:cNvSpPr>
              <a:spLocks/>
            </p:cNvSpPr>
            <p:nvPr/>
          </p:nvSpPr>
          <p:spPr bwMode="auto">
            <a:xfrm>
              <a:off x="1336" y="2201"/>
              <a:ext cx="156" cy="249"/>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98" name="Freeform 64"/>
            <p:cNvSpPr>
              <a:spLocks/>
            </p:cNvSpPr>
            <p:nvPr/>
          </p:nvSpPr>
          <p:spPr bwMode="auto">
            <a:xfrm>
              <a:off x="1360" y="2402"/>
              <a:ext cx="33" cy="30"/>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9230" name="Group 65"/>
          <p:cNvGrpSpPr>
            <a:grpSpLocks/>
          </p:cNvGrpSpPr>
          <p:nvPr/>
        </p:nvGrpSpPr>
        <p:grpSpPr bwMode="auto">
          <a:xfrm>
            <a:off x="7373938" y="3551238"/>
            <a:ext cx="620712" cy="788987"/>
            <a:chOff x="2401" y="425"/>
            <a:chExt cx="907" cy="1154"/>
          </a:xfrm>
        </p:grpSpPr>
        <p:sp>
          <p:nvSpPr>
            <p:cNvPr id="9273" name="Rectangle 66"/>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9274" name="Line 67"/>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75" name="Line 68"/>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76" name="Rectangle 69"/>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9277" name="Freeform 70"/>
            <p:cNvSpPr>
              <a:spLocks/>
            </p:cNvSpPr>
            <p:nvPr/>
          </p:nvSpPr>
          <p:spPr bwMode="auto">
            <a:xfrm>
              <a:off x="2643" y="789"/>
              <a:ext cx="309" cy="257"/>
            </a:xfrm>
            <a:custGeom>
              <a:avLst/>
              <a:gdLst>
                <a:gd name="T0" fmla="*/ 6027 w 234"/>
                <a:gd name="T1" fmla="*/ 0 h 195"/>
                <a:gd name="T2" fmla="*/ 1338 w 234"/>
                <a:gd name="T3" fmla="*/ 1976 h 195"/>
                <a:gd name="T4" fmla="*/ 0 w 234"/>
                <a:gd name="T5" fmla="*/ 9315 h 195"/>
                <a:gd name="T6" fmla="*/ 8832 w 234"/>
                <a:gd name="T7" fmla="*/ 9315 h 195"/>
                <a:gd name="T8" fmla="*/ 11475 w 234"/>
                <a:gd name="T9" fmla="*/ 5276 h 195"/>
                <a:gd name="T10" fmla="*/ 6027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9278" name="Line 71"/>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9231" name="AutoShape 72"/>
          <p:cNvSpPr>
            <a:spLocks/>
          </p:cNvSpPr>
          <p:nvPr/>
        </p:nvSpPr>
        <p:spPr bwMode="auto">
          <a:xfrm>
            <a:off x="5951538" y="758825"/>
            <a:ext cx="774700" cy="5719763"/>
          </a:xfrm>
          <a:prstGeom prst="rightBrace">
            <a:avLst>
              <a:gd name="adj1" fmla="val 61527"/>
              <a:gd name="adj2" fmla="val 50000"/>
            </a:avLst>
          </a:pr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9232" name="Rectangle 73"/>
          <p:cNvSpPr>
            <a:spLocks noChangeArrowheads="1"/>
          </p:cNvSpPr>
          <p:nvPr/>
        </p:nvSpPr>
        <p:spPr bwMode="auto">
          <a:xfrm>
            <a:off x="733425" y="59896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9233" name="Text Box 74"/>
          <p:cNvSpPr txBox="1">
            <a:spLocks noChangeArrowheads="1"/>
          </p:cNvSpPr>
          <p:nvPr/>
        </p:nvSpPr>
        <p:spPr bwMode="auto">
          <a:xfrm>
            <a:off x="650875" y="60467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400" b="1"/>
              <a:t>Recovery</a:t>
            </a:r>
          </a:p>
        </p:txBody>
      </p:sp>
      <p:grpSp>
        <p:nvGrpSpPr>
          <p:cNvPr id="9234" name="Group 75"/>
          <p:cNvGrpSpPr>
            <a:grpSpLocks/>
          </p:cNvGrpSpPr>
          <p:nvPr/>
        </p:nvGrpSpPr>
        <p:grpSpPr bwMode="auto">
          <a:xfrm>
            <a:off x="650875" y="2992438"/>
            <a:ext cx="3092450" cy="1979612"/>
            <a:chOff x="410" y="1885"/>
            <a:chExt cx="1948" cy="1247"/>
          </a:xfrm>
        </p:grpSpPr>
        <p:sp>
          <p:nvSpPr>
            <p:cNvPr id="9268" name="Rectangle 76"/>
            <p:cNvSpPr>
              <a:spLocks noChangeArrowheads="1"/>
            </p:cNvSpPr>
            <p:nvPr/>
          </p:nvSpPr>
          <p:spPr bwMode="auto">
            <a:xfrm>
              <a:off x="462" y="1885"/>
              <a:ext cx="1843" cy="30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9269" name="Rectangle 77"/>
            <p:cNvSpPr>
              <a:spLocks noChangeArrowheads="1"/>
            </p:cNvSpPr>
            <p:nvPr/>
          </p:nvSpPr>
          <p:spPr bwMode="auto">
            <a:xfrm>
              <a:off x="462" y="2829"/>
              <a:ext cx="1843" cy="30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9270" name="Text Box 78"/>
            <p:cNvSpPr txBox="1">
              <a:spLocks noChangeArrowheads="1"/>
            </p:cNvSpPr>
            <p:nvPr/>
          </p:nvSpPr>
          <p:spPr bwMode="auto">
            <a:xfrm>
              <a:off x="410" y="1921"/>
              <a:ext cx="19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400" b="1"/>
                <a:t>Adjudication</a:t>
              </a:r>
            </a:p>
          </p:txBody>
        </p:sp>
        <p:sp>
          <p:nvSpPr>
            <p:cNvPr id="9271" name="Text Box 79"/>
            <p:cNvSpPr txBox="1">
              <a:spLocks noChangeArrowheads="1"/>
            </p:cNvSpPr>
            <p:nvPr/>
          </p:nvSpPr>
          <p:spPr bwMode="auto">
            <a:xfrm>
              <a:off x="410" y="2865"/>
              <a:ext cx="19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400" b="1"/>
                <a:t>Payment</a:t>
              </a:r>
            </a:p>
          </p:txBody>
        </p:sp>
        <p:sp>
          <p:nvSpPr>
            <p:cNvPr id="9272" name="Line 80"/>
            <p:cNvSpPr>
              <a:spLocks noChangeShapeType="1"/>
            </p:cNvSpPr>
            <p:nvPr/>
          </p:nvSpPr>
          <p:spPr bwMode="auto">
            <a:xfrm>
              <a:off x="1384" y="2194"/>
              <a:ext cx="0" cy="626"/>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9235" name="Line 81"/>
          <p:cNvSpPr>
            <a:spLocks noChangeShapeType="1"/>
          </p:cNvSpPr>
          <p:nvPr/>
        </p:nvSpPr>
        <p:spPr bwMode="auto">
          <a:xfrm>
            <a:off x="2197100" y="4983163"/>
            <a:ext cx="0" cy="993775"/>
          </a:xfrm>
          <a:prstGeom prst="line">
            <a:avLst/>
          </a:prstGeom>
          <a:noFill/>
          <a:ln w="28575">
            <a:solidFill>
              <a:schemeClr val="bg1"/>
            </a:solidFill>
            <a:prstDash val="sysDot"/>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36" name="Line 82"/>
          <p:cNvSpPr>
            <a:spLocks noChangeShapeType="1"/>
          </p:cNvSpPr>
          <p:nvPr/>
        </p:nvSpPr>
        <p:spPr bwMode="auto">
          <a:xfrm>
            <a:off x="2197100" y="1962150"/>
            <a:ext cx="0" cy="101282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9237" name="Group 83"/>
          <p:cNvGrpSpPr>
            <a:grpSpLocks/>
          </p:cNvGrpSpPr>
          <p:nvPr/>
        </p:nvGrpSpPr>
        <p:grpSpPr bwMode="auto">
          <a:xfrm>
            <a:off x="3344863" y="4772025"/>
            <a:ext cx="592137" cy="411163"/>
            <a:chOff x="3153" y="1049"/>
            <a:chExt cx="752" cy="523"/>
          </a:xfrm>
        </p:grpSpPr>
        <p:sp>
          <p:nvSpPr>
            <p:cNvPr id="9266" name="Rectangle 84"/>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9267" name="Picture 85"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238" name="Line 86"/>
          <p:cNvSpPr>
            <a:spLocks noChangeShapeType="1"/>
          </p:cNvSpPr>
          <p:nvPr/>
        </p:nvSpPr>
        <p:spPr bwMode="auto">
          <a:xfrm>
            <a:off x="3587750" y="3482975"/>
            <a:ext cx="0" cy="40322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39" name="Line 87"/>
          <p:cNvSpPr>
            <a:spLocks noChangeShapeType="1"/>
          </p:cNvSpPr>
          <p:nvPr/>
        </p:nvSpPr>
        <p:spPr bwMode="auto">
          <a:xfrm>
            <a:off x="3587750" y="3867150"/>
            <a:ext cx="36671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9241" name="Group 95"/>
          <p:cNvGrpSpPr>
            <a:grpSpLocks/>
          </p:cNvGrpSpPr>
          <p:nvPr/>
        </p:nvGrpSpPr>
        <p:grpSpPr bwMode="auto">
          <a:xfrm>
            <a:off x="3768725" y="3673475"/>
            <a:ext cx="425450" cy="411163"/>
            <a:chOff x="4200" y="2899"/>
            <a:chExt cx="915" cy="885"/>
          </a:xfrm>
        </p:grpSpPr>
        <p:sp>
          <p:nvSpPr>
            <p:cNvPr id="9243" name="Rectangle 96"/>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9244" name="AutoShape 97"/>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9245" name="AutoShape 98"/>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9246" name="AutoShape 99"/>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9247" name="Freeform 100"/>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9248" name="Freeform 101"/>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9249" name="Freeform 102"/>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9250" name="Freeform 103"/>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9251" name="Freeform 104"/>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9252" name="Freeform 105"/>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9253" name="Freeform 106"/>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9254" name="Line 107"/>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55" name="Line 108"/>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56" name="Line 109"/>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57" name="Line 110"/>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58" name="Line 111"/>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59" name="Line 112"/>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9242" name="Text Box 113"/>
          <p:cNvSpPr txBox="1">
            <a:spLocks noChangeArrowheads="1"/>
          </p:cNvSpPr>
          <p:nvPr/>
        </p:nvSpPr>
        <p:spPr bwMode="auto">
          <a:xfrm>
            <a:off x="6729413" y="4387850"/>
            <a:ext cx="2103437"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400" b="1" dirty="0">
                <a:solidFill>
                  <a:srgbClr val="C00000"/>
                </a:solidFill>
              </a:rPr>
              <a:t>Used heavily throughout entire process</a:t>
            </a:r>
          </a:p>
        </p:txBody>
      </p:sp>
      <p:grpSp>
        <p:nvGrpSpPr>
          <p:cNvPr id="114" name="Group 113"/>
          <p:cNvGrpSpPr/>
          <p:nvPr/>
        </p:nvGrpSpPr>
        <p:grpSpPr>
          <a:xfrm>
            <a:off x="3708066" y="1962121"/>
            <a:ext cx="478594" cy="465723"/>
            <a:chOff x="4343400" y="4495800"/>
            <a:chExt cx="762000" cy="741506"/>
          </a:xfrm>
        </p:grpSpPr>
        <p:sp>
          <p:nvSpPr>
            <p:cNvPr id="115" name="Rounded Rectangle 114"/>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116" name="Straight Connector 115"/>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117" name="Picture 1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118" name="Picture 11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139" name="Group 88"/>
          <p:cNvGrpSpPr>
            <a:grpSpLocks/>
          </p:cNvGrpSpPr>
          <p:nvPr/>
        </p:nvGrpSpPr>
        <p:grpSpPr bwMode="auto">
          <a:xfrm>
            <a:off x="3344863" y="3206750"/>
            <a:ext cx="549275" cy="546100"/>
            <a:chOff x="3360" y="800"/>
            <a:chExt cx="620" cy="616"/>
          </a:xfrm>
        </p:grpSpPr>
        <p:sp>
          <p:nvSpPr>
            <p:cNvPr id="140" name="AutoShape 8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41" name="Freeform 90"/>
            <p:cNvSpPr>
              <a:spLocks/>
            </p:cNvSpPr>
            <p:nvPr/>
          </p:nvSpPr>
          <p:spPr bwMode="auto">
            <a:xfrm>
              <a:off x="3403" y="830"/>
              <a:ext cx="212" cy="27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42" name="Group 91"/>
            <p:cNvGrpSpPr>
              <a:grpSpLocks/>
            </p:cNvGrpSpPr>
            <p:nvPr/>
          </p:nvGrpSpPr>
          <p:grpSpPr bwMode="auto">
            <a:xfrm flipH="1">
              <a:off x="3749" y="1171"/>
              <a:ext cx="212" cy="213"/>
              <a:chOff x="1350" y="686"/>
              <a:chExt cx="1132" cy="1132"/>
            </a:xfrm>
          </p:grpSpPr>
          <p:sp>
            <p:nvSpPr>
              <p:cNvPr id="144" name="AutoShape 9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45" name="Picture 93"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43" name="Picture 94"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583801736"/>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|EOS~007|</a:t>
            </a:r>
            <a:endParaRPr lang="en-US" sz="100" dirty="0" err="1" smtClean="0">
              <a:solidFill>
                <a:srgbClr val="FFFFFF"/>
              </a:solidFill>
              <a:latin typeface="Arial"/>
              <a:cs typeface="Calibri" pitchFamily="34" charset="0"/>
            </a:endParaRPr>
          </a:p>
        </p:txBody>
      </p:sp>
      <p:sp>
        <p:nvSpPr>
          <p:cNvPr id="10242" name="Line 2"/>
          <p:cNvSpPr>
            <a:spLocks noChangeShapeType="1"/>
          </p:cNvSpPr>
          <p:nvPr/>
        </p:nvSpPr>
        <p:spPr bwMode="auto">
          <a:xfrm>
            <a:off x="4957000" y="1963738"/>
            <a:ext cx="0" cy="1071562"/>
          </a:xfrm>
          <a:prstGeom prst="line">
            <a:avLst/>
          </a:prstGeom>
          <a:noFill/>
          <a:ln w="28575">
            <a:solidFill>
              <a:srgbClr val="C0C0C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43" name="Line 3"/>
          <p:cNvSpPr>
            <a:spLocks noChangeShapeType="1"/>
          </p:cNvSpPr>
          <p:nvPr/>
        </p:nvSpPr>
        <p:spPr bwMode="auto">
          <a:xfrm>
            <a:off x="3858981" y="1985963"/>
            <a:ext cx="0" cy="1071562"/>
          </a:xfrm>
          <a:prstGeom prst="line">
            <a:avLst/>
          </a:prstGeom>
          <a:noFill/>
          <a:ln w="28575">
            <a:solidFill>
              <a:srgbClr val="C0C0C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44" name="Rectangle 4"/>
          <p:cNvSpPr>
            <a:spLocks noGrp="1" noChangeArrowheads="1"/>
          </p:cNvSpPr>
          <p:nvPr>
            <p:ph type="title"/>
          </p:nvPr>
        </p:nvSpPr>
        <p:spPr/>
        <p:txBody>
          <a:bodyPr/>
          <a:lstStyle/>
          <a:p>
            <a:pPr eaLnBrk="1" hangingPunct="1"/>
            <a:r>
              <a:rPr lang="en-US" smtClean="0"/>
              <a:t>Contacts</a:t>
            </a:r>
          </a:p>
        </p:txBody>
      </p:sp>
      <p:sp>
        <p:nvSpPr>
          <p:cNvPr id="10245" name="Rectangle 5"/>
          <p:cNvSpPr>
            <a:spLocks noGrp="1" noChangeArrowheads="1"/>
          </p:cNvSpPr>
          <p:nvPr>
            <p:ph idx="1"/>
          </p:nvPr>
        </p:nvSpPr>
        <p:spPr>
          <a:xfrm>
            <a:off x="519113" y="4150318"/>
            <a:ext cx="8318500" cy="1924050"/>
          </a:xfrm>
        </p:spPr>
        <p:txBody>
          <a:bodyPr/>
          <a:lstStyle/>
          <a:p>
            <a:r>
              <a:rPr lang="en-US" dirty="0" smtClean="0"/>
              <a:t>A contact is a person, organization, or venue which is related to the claim, such as...</a:t>
            </a:r>
          </a:p>
          <a:p>
            <a:pPr lvl="1"/>
            <a:r>
              <a:rPr lang="en-US" dirty="0" smtClean="0"/>
              <a:t>Someone who suffered a loss</a:t>
            </a:r>
          </a:p>
          <a:p>
            <a:pPr lvl="1"/>
            <a:r>
              <a:rPr lang="en-US" dirty="0" smtClean="0"/>
              <a:t>Some company or vendor which repaired a damaged asset or treated an injured person</a:t>
            </a:r>
          </a:p>
          <a:p>
            <a:pPr lvl="1"/>
            <a:r>
              <a:rPr lang="en-US" dirty="0" smtClean="0"/>
              <a:t>Some place where disputes were resolved</a:t>
            </a:r>
          </a:p>
        </p:txBody>
      </p:sp>
      <p:sp>
        <p:nvSpPr>
          <p:cNvPr id="10246" name="Text Box 6"/>
          <p:cNvSpPr txBox="1">
            <a:spLocks noChangeArrowheads="1"/>
          </p:cNvSpPr>
          <p:nvPr/>
        </p:nvSpPr>
        <p:spPr bwMode="auto">
          <a:xfrm>
            <a:off x="76200" y="3446463"/>
            <a:ext cx="13525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r" eaLnBrk="1" hangingPunct="1"/>
            <a:r>
              <a:rPr lang="en-US" sz="2000" b="1"/>
              <a:t>Claimant</a:t>
            </a:r>
          </a:p>
        </p:txBody>
      </p:sp>
      <p:sp>
        <p:nvSpPr>
          <p:cNvPr id="10247" name="Text Box 7"/>
          <p:cNvSpPr txBox="1">
            <a:spLocks noChangeArrowheads="1"/>
          </p:cNvSpPr>
          <p:nvPr/>
        </p:nvSpPr>
        <p:spPr bwMode="auto">
          <a:xfrm>
            <a:off x="3894138" y="501650"/>
            <a:ext cx="13001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a:t>Contact</a:t>
            </a:r>
          </a:p>
        </p:txBody>
      </p:sp>
      <p:sp>
        <p:nvSpPr>
          <p:cNvPr id="10248" name="Line 8"/>
          <p:cNvSpPr>
            <a:spLocks noChangeShapeType="1"/>
          </p:cNvSpPr>
          <p:nvPr/>
        </p:nvSpPr>
        <p:spPr bwMode="auto">
          <a:xfrm>
            <a:off x="1108075" y="1970088"/>
            <a:ext cx="6664325" cy="0"/>
          </a:xfrm>
          <a:prstGeom prst="line">
            <a:avLst/>
          </a:prstGeom>
          <a:noFill/>
          <a:ln w="28575">
            <a:solidFill>
              <a:srgbClr val="C0C0C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49" name="Line 9"/>
          <p:cNvSpPr>
            <a:spLocks noChangeShapeType="1"/>
          </p:cNvSpPr>
          <p:nvPr/>
        </p:nvSpPr>
        <p:spPr bwMode="auto">
          <a:xfrm>
            <a:off x="4543425" y="1408113"/>
            <a:ext cx="0" cy="565150"/>
          </a:xfrm>
          <a:prstGeom prst="line">
            <a:avLst/>
          </a:prstGeom>
          <a:noFill/>
          <a:ln w="28575">
            <a:solidFill>
              <a:srgbClr val="C0C0C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50" name="Line 10"/>
          <p:cNvSpPr>
            <a:spLocks noChangeShapeType="1"/>
          </p:cNvSpPr>
          <p:nvPr/>
        </p:nvSpPr>
        <p:spPr bwMode="auto">
          <a:xfrm>
            <a:off x="1978025" y="1970088"/>
            <a:ext cx="0" cy="1071562"/>
          </a:xfrm>
          <a:prstGeom prst="line">
            <a:avLst/>
          </a:prstGeom>
          <a:noFill/>
          <a:ln w="28575">
            <a:solidFill>
              <a:srgbClr val="C0C0C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51" name="AutoShape 11"/>
          <p:cNvSpPr>
            <a:spLocks noChangeArrowheads="1"/>
          </p:cNvSpPr>
          <p:nvPr/>
        </p:nvSpPr>
        <p:spPr bwMode="auto">
          <a:xfrm>
            <a:off x="4052888" y="846138"/>
            <a:ext cx="984250" cy="98425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10252" name="Line 12"/>
          <p:cNvSpPr>
            <a:spLocks noChangeShapeType="1"/>
          </p:cNvSpPr>
          <p:nvPr/>
        </p:nvSpPr>
        <p:spPr bwMode="auto">
          <a:xfrm flipV="1">
            <a:off x="1089025" y="1970088"/>
            <a:ext cx="0" cy="798512"/>
          </a:xfrm>
          <a:prstGeom prst="line">
            <a:avLst/>
          </a:prstGeom>
          <a:noFill/>
          <a:ln w="28575">
            <a:solidFill>
              <a:srgbClr val="C0C0C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0253" name="Group 13"/>
          <p:cNvGrpSpPr>
            <a:grpSpLocks/>
          </p:cNvGrpSpPr>
          <p:nvPr/>
        </p:nvGrpSpPr>
        <p:grpSpPr bwMode="auto">
          <a:xfrm>
            <a:off x="592138" y="2436813"/>
            <a:ext cx="984250" cy="984250"/>
            <a:chOff x="1350" y="686"/>
            <a:chExt cx="1132" cy="1132"/>
          </a:xfrm>
        </p:grpSpPr>
        <p:sp>
          <p:nvSpPr>
            <p:cNvPr id="10318" name="AutoShape 14"/>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0319" name="Picture 15"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254" name="Text Box 16"/>
          <p:cNvSpPr txBox="1">
            <a:spLocks noChangeArrowheads="1"/>
          </p:cNvSpPr>
          <p:nvPr/>
        </p:nvSpPr>
        <p:spPr bwMode="auto">
          <a:xfrm>
            <a:off x="2517543" y="3460750"/>
            <a:ext cx="1708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r" eaLnBrk="1" hangingPunct="1"/>
            <a:r>
              <a:rPr lang="en-US" sz="2000" b="1"/>
              <a:t>Auto Repair</a:t>
            </a:r>
            <a:br>
              <a:rPr lang="en-US" sz="2000" b="1"/>
            </a:br>
            <a:r>
              <a:rPr lang="en-US" sz="2000" b="1"/>
              <a:t>Shop</a:t>
            </a:r>
          </a:p>
        </p:txBody>
      </p:sp>
      <p:sp>
        <p:nvSpPr>
          <p:cNvPr id="10255" name="Text Box 17"/>
          <p:cNvSpPr txBox="1">
            <a:spLocks noChangeArrowheads="1"/>
          </p:cNvSpPr>
          <p:nvPr/>
        </p:nvSpPr>
        <p:spPr bwMode="auto">
          <a:xfrm>
            <a:off x="6892925" y="3460750"/>
            <a:ext cx="1708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a:t>Court</a:t>
            </a:r>
          </a:p>
        </p:txBody>
      </p:sp>
      <p:grpSp>
        <p:nvGrpSpPr>
          <p:cNvPr id="10256" name="Group 18"/>
          <p:cNvGrpSpPr>
            <a:grpSpLocks/>
          </p:cNvGrpSpPr>
          <p:nvPr/>
        </p:nvGrpSpPr>
        <p:grpSpPr bwMode="auto">
          <a:xfrm>
            <a:off x="2946168" y="2357438"/>
            <a:ext cx="1217613" cy="809625"/>
            <a:chOff x="2496" y="1641"/>
            <a:chExt cx="767" cy="510"/>
          </a:xfrm>
        </p:grpSpPr>
        <p:sp>
          <p:nvSpPr>
            <p:cNvPr id="10314" name="AutoShape 19"/>
            <p:cNvSpPr>
              <a:spLocks noChangeArrowheads="1"/>
            </p:cNvSpPr>
            <p:nvPr/>
          </p:nvSpPr>
          <p:spPr bwMode="auto">
            <a:xfrm>
              <a:off x="2496" y="1641"/>
              <a:ext cx="767" cy="510"/>
            </a:xfrm>
            <a:prstGeom prst="cube">
              <a:avLst>
                <a:gd name="adj" fmla="val 18921"/>
              </a:avLst>
            </a:prstGeom>
            <a:solidFill>
              <a:srgbClr val="FFCC99"/>
            </a:solidFill>
            <a:ln w="12700">
              <a:solidFill>
                <a:schemeClr val="bg1"/>
              </a:solidFill>
              <a:miter lim="800000"/>
              <a:headEnd/>
              <a:tailEnd/>
            </a:ln>
          </p:spPr>
          <p:txBody>
            <a:bodyPr wrap="none" anchor="ctr"/>
            <a:lstStyle/>
            <a:p>
              <a:endParaRPr lang="en-US"/>
            </a:p>
          </p:txBody>
        </p:sp>
        <p:sp>
          <p:nvSpPr>
            <p:cNvPr id="10315" name="Rectangle 20"/>
            <p:cNvSpPr>
              <a:spLocks noChangeArrowheads="1"/>
            </p:cNvSpPr>
            <p:nvPr/>
          </p:nvSpPr>
          <p:spPr bwMode="auto">
            <a:xfrm>
              <a:off x="2718" y="1797"/>
              <a:ext cx="221" cy="354"/>
            </a:xfrm>
            <a:prstGeom prst="rect">
              <a:avLst/>
            </a:prstGeom>
            <a:solidFill>
              <a:srgbClr val="CC9900"/>
            </a:solidFill>
            <a:ln w="12700">
              <a:solidFill>
                <a:schemeClr val="bg1"/>
              </a:solidFill>
              <a:miter lim="800000"/>
              <a:headEnd/>
              <a:tailEnd/>
            </a:ln>
          </p:spPr>
          <p:txBody>
            <a:bodyPr wrap="none" anchor="ctr"/>
            <a:lstStyle/>
            <a:p>
              <a:endParaRPr lang="en-US"/>
            </a:p>
          </p:txBody>
        </p:sp>
        <p:sp>
          <p:nvSpPr>
            <p:cNvPr id="10316" name="Rectangle 21"/>
            <p:cNvSpPr>
              <a:spLocks noChangeArrowheads="1"/>
            </p:cNvSpPr>
            <p:nvPr/>
          </p:nvSpPr>
          <p:spPr bwMode="auto">
            <a:xfrm>
              <a:off x="2543"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0317" name="Rectangle 22"/>
            <p:cNvSpPr>
              <a:spLocks noChangeArrowheads="1"/>
            </p:cNvSpPr>
            <p:nvPr/>
          </p:nvSpPr>
          <p:spPr bwMode="auto">
            <a:xfrm>
              <a:off x="2987"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grpSp>
      <p:grpSp>
        <p:nvGrpSpPr>
          <p:cNvPr id="10257" name="Group 23"/>
          <p:cNvGrpSpPr>
            <a:grpSpLocks/>
          </p:cNvGrpSpPr>
          <p:nvPr/>
        </p:nvGrpSpPr>
        <p:grpSpPr bwMode="auto">
          <a:xfrm>
            <a:off x="4418932" y="2370138"/>
            <a:ext cx="1217613" cy="809625"/>
            <a:chOff x="2496" y="1641"/>
            <a:chExt cx="767" cy="510"/>
          </a:xfrm>
        </p:grpSpPr>
        <p:sp>
          <p:nvSpPr>
            <p:cNvPr id="10310" name="AutoShape 24"/>
            <p:cNvSpPr>
              <a:spLocks noChangeArrowheads="1"/>
            </p:cNvSpPr>
            <p:nvPr/>
          </p:nvSpPr>
          <p:spPr bwMode="auto">
            <a:xfrm>
              <a:off x="2496" y="1641"/>
              <a:ext cx="767" cy="510"/>
            </a:xfrm>
            <a:prstGeom prst="cube">
              <a:avLst>
                <a:gd name="adj" fmla="val 18921"/>
              </a:avLst>
            </a:prstGeom>
            <a:solidFill>
              <a:srgbClr val="FFCC99"/>
            </a:solidFill>
            <a:ln w="12700">
              <a:solidFill>
                <a:schemeClr val="bg1"/>
              </a:solidFill>
              <a:miter lim="800000"/>
              <a:headEnd/>
              <a:tailEnd/>
            </a:ln>
          </p:spPr>
          <p:txBody>
            <a:bodyPr wrap="none" anchor="ctr"/>
            <a:lstStyle/>
            <a:p>
              <a:endParaRPr lang="en-US"/>
            </a:p>
          </p:txBody>
        </p:sp>
        <p:sp>
          <p:nvSpPr>
            <p:cNvPr id="10311" name="Rectangle 25"/>
            <p:cNvSpPr>
              <a:spLocks noChangeArrowheads="1"/>
            </p:cNvSpPr>
            <p:nvPr/>
          </p:nvSpPr>
          <p:spPr bwMode="auto">
            <a:xfrm>
              <a:off x="2718" y="1797"/>
              <a:ext cx="221" cy="354"/>
            </a:xfrm>
            <a:prstGeom prst="rect">
              <a:avLst/>
            </a:prstGeom>
            <a:solidFill>
              <a:srgbClr val="CC9900"/>
            </a:solidFill>
            <a:ln w="12700">
              <a:solidFill>
                <a:schemeClr val="bg1"/>
              </a:solidFill>
              <a:miter lim="800000"/>
              <a:headEnd/>
              <a:tailEnd/>
            </a:ln>
          </p:spPr>
          <p:txBody>
            <a:bodyPr wrap="none" anchor="ctr"/>
            <a:lstStyle/>
            <a:p>
              <a:endParaRPr lang="en-US"/>
            </a:p>
          </p:txBody>
        </p:sp>
        <p:sp>
          <p:nvSpPr>
            <p:cNvPr id="10312" name="Rectangle 26"/>
            <p:cNvSpPr>
              <a:spLocks noChangeArrowheads="1"/>
            </p:cNvSpPr>
            <p:nvPr/>
          </p:nvSpPr>
          <p:spPr bwMode="auto">
            <a:xfrm>
              <a:off x="2543"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0313" name="Rectangle 27"/>
            <p:cNvSpPr>
              <a:spLocks noChangeArrowheads="1"/>
            </p:cNvSpPr>
            <p:nvPr/>
          </p:nvSpPr>
          <p:spPr bwMode="auto">
            <a:xfrm>
              <a:off x="2987"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grpSp>
      <p:sp>
        <p:nvSpPr>
          <p:cNvPr id="10258" name="Text Box 28"/>
          <p:cNvSpPr txBox="1">
            <a:spLocks noChangeArrowheads="1"/>
          </p:cNvSpPr>
          <p:nvPr/>
        </p:nvSpPr>
        <p:spPr bwMode="auto">
          <a:xfrm>
            <a:off x="4485607" y="3460750"/>
            <a:ext cx="1708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2000" b="1" dirty="0"/>
              <a:t>Hospital</a:t>
            </a:r>
          </a:p>
        </p:txBody>
      </p:sp>
      <p:grpSp>
        <p:nvGrpSpPr>
          <p:cNvPr id="10259" name="Group 29"/>
          <p:cNvGrpSpPr>
            <a:grpSpLocks/>
          </p:cNvGrpSpPr>
          <p:nvPr/>
        </p:nvGrpSpPr>
        <p:grpSpPr bwMode="auto">
          <a:xfrm>
            <a:off x="3182706" y="2760663"/>
            <a:ext cx="1150937" cy="708025"/>
            <a:chOff x="2943" y="3239"/>
            <a:chExt cx="725" cy="446"/>
          </a:xfrm>
        </p:grpSpPr>
        <p:sp>
          <p:nvSpPr>
            <p:cNvPr id="10292" name="Freeform 30"/>
            <p:cNvSpPr>
              <a:spLocks/>
            </p:cNvSpPr>
            <p:nvPr/>
          </p:nvSpPr>
          <p:spPr bwMode="auto">
            <a:xfrm>
              <a:off x="3485" y="3548"/>
              <a:ext cx="87" cy="137"/>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93" name="Freeform 31"/>
            <p:cNvSpPr>
              <a:spLocks/>
            </p:cNvSpPr>
            <p:nvPr/>
          </p:nvSpPr>
          <p:spPr bwMode="auto">
            <a:xfrm>
              <a:off x="3357" y="3450"/>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94" name="Freeform 32"/>
            <p:cNvSpPr>
              <a:spLocks/>
            </p:cNvSpPr>
            <p:nvPr/>
          </p:nvSpPr>
          <p:spPr bwMode="auto">
            <a:xfrm>
              <a:off x="2943" y="3288"/>
              <a:ext cx="725" cy="336"/>
            </a:xfrm>
            <a:custGeom>
              <a:avLst/>
              <a:gdLst>
                <a:gd name="T0" fmla="*/ 1 w 1140"/>
                <a:gd name="T1" fmla="*/ 1 h 526"/>
                <a:gd name="T2" fmla="*/ 1 w 1140"/>
                <a:gd name="T3" fmla="*/ 1 h 526"/>
                <a:gd name="T4" fmla="*/ 0 w 1140"/>
                <a:gd name="T5" fmla="*/ 1 h 526"/>
                <a:gd name="T6" fmla="*/ 1 w 1140"/>
                <a:gd name="T7" fmla="*/ 1 h 526"/>
                <a:gd name="T8" fmla="*/ 1 w 1140"/>
                <a:gd name="T9" fmla="*/ 1 h 526"/>
                <a:gd name="T10" fmla="*/ 1 w 1140"/>
                <a:gd name="T11" fmla="*/ 1 h 526"/>
                <a:gd name="T12" fmla="*/ 1 w 1140"/>
                <a:gd name="T13" fmla="*/ 1 h 526"/>
                <a:gd name="T14" fmla="*/ 1 w 1140"/>
                <a:gd name="T15" fmla="*/ 1 h 526"/>
                <a:gd name="T16" fmla="*/ 1 w 1140"/>
                <a:gd name="T17" fmla="*/ 1 h 526"/>
                <a:gd name="T18" fmla="*/ 1 w 1140"/>
                <a:gd name="T19" fmla="*/ 1 h 526"/>
                <a:gd name="T20" fmla="*/ 1 w 1140"/>
                <a:gd name="T21" fmla="*/ 1 h 526"/>
                <a:gd name="T22" fmla="*/ 1 w 1140"/>
                <a:gd name="T23" fmla="*/ 1 h 526"/>
                <a:gd name="T24" fmla="*/ 1 w 1140"/>
                <a:gd name="T25" fmla="*/ 1 h 526"/>
                <a:gd name="T26" fmla="*/ 1 w 1140"/>
                <a:gd name="T27" fmla="*/ 0 h 526"/>
                <a:gd name="T28" fmla="*/ 1 w 1140"/>
                <a:gd name="T29" fmla="*/ 0 h 526"/>
                <a:gd name="T30" fmla="*/ 1 w 1140"/>
                <a:gd name="T31" fmla="*/ 1 h 526"/>
                <a:gd name="T32" fmla="*/ 1 w 1140"/>
                <a:gd name="T33" fmla="*/ 1 h 526"/>
                <a:gd name="T34" fmla="*/ 1 w 1140"/>
                <a:gd name="T35" fmla="*/ 1 h 526"/>
                <a:gd name="T36" fmla="*/ 2 w 1140"/>
                <a:gd name="T37" fmla="*/ 1 h 526"/>
                <a:gd name="T38" fmla="*/ 2 w 1140"/>
                <a:gd name="T39" fmla="*/ 1 h 526"/>
                <a:gd name="T40" fmla="*/ 2 w 1140"/>
                <a:gd name="T41" fmla="*/ 1 h 526"/>
                <a:gd name="T42" fmla="*/ 2 w 1140"/>
                <a:gd name="T43" fmla="*/ 1 h 526"/>
                <a:gd name="T44" fmla="*/ 2 w 1140"/>
                <a:gd name="T45" fmla="*/ 1 h 526"/>
                <a:gd name="T46" fmla="*/ 2 w 1140"/>
                <a:gd name="T47" fmla="*/ 1 h 526"/>
                <a:gd name="T48" fmla="*/ 2 w 1140"/>
                <a:gd name="T49" fmla="*/ 1 h 526"/>
                <a:gd name="T50" fmla="*/ 2 w 1140"/>
                <a:gd name="T51" fmla="*/ 1 h 526"/>
                <a:gd name="T52" fmla="*/ 2 w 1140"/>
                <a:gd name="T53" fmla="*/ 1 h 526"/>
                <a:gd name="T54" fmla="*/ 2 w 1140"/>
                <a:gd name="T55" fmla="*/ 1 h 526"/>
                <a:gd name="T56" fmla="*/ 2 w 1140"/>
                <a:gd name="T57" fmla="*/ 1 h 526"/>
                <a:gd name="T58" fmla="*/ 2 w 1140"/>
                <a:gd name="T59" fmla="*/ 1 h 526"/>
                <a:gd name="T60" fmla="*/ 2 w 1140"/>
                <a:gd name="T61" fmla="*/ 1 h 526"/>
                <a:gd name="T62" fmla="*/ 2 w 1140"/>
                <a:gd name="T63" fmla="*/ 1 h 526"/>
                <a:gd name="T64" fmla="*/ 2 w 1140"/>
                <a:gd name="T65" fmla="*/ 1 h 526"/>
                <a:gd name="T66" fmla="*/ 2 w 1140"/>
                <a:gd name="T67" fmla="*/ 1 h 526"/>
                <a:gd name="T68" fmla="*/ 2 w 1140"/>
                <a:gd name="T69" fmla="*/ 1 h 526"/>
                <a:gd name="T70" fmla="*/ 2 w 1140"/>
                <a:gd name="T71" fmla="*/ 1 h 526"/>
                <a:gd name="T72" fmla="*/ 2 w 1140"/>
                <a:gd name="T73" fmla="*/ 1 h 526"/>
                <a:gd name="T74" fmla="*/ 2 w 1140"/>
                <a:gd name="T75" fmla="*/ 1 h 526"/>
                <a:gd name="T76" fmla="*/ 2 w 1140"/>
                <a:gd name="T77" fmla="*/ 1 h 526"/>
                <a:gd name="T78" fmla="*/ 2 w 1140"/>
                <a:gd name="T79" fmla="*/ 1 h 526"/>
                <a:gd name="T80" fmla="*/ 2 w 1140"/>
                <a:gd name="T81" fmla="*/ 1 h 526"/>
                <a:gd name="T82" fmla="*/ 1 w 1140"/>
                <a:gd name="T83" fmla="*/ 1 h 526"/>
                <a:gd name="T84" fmla="*/ 1 w 1140"/>
                <a:gd name="T85" fmla="*/ 1 h 526"/>
                <a:gd name="T86" fmla="*/ 1 w 1140"/>
                <a:gd name="T87" fmla="*/ 1 h 526"/>
                <a:gd name="T88" fmla="*/ 1 w 1140"/>
                <a:gd name="T89" fmla="*/ 1 h 526"/>
                <a:gd name="T90" fmla="*/ 1 w 1140"/>
                <a:gd name="T91" fmla="*/ 1 h 526"/>
                <a:gd name="T92" fmla="*/ 1 w 1140"/>
                <a:gd name="T93" fmla="*/ 1 h 526"/>
                <a:gd name="T94" fmla="*/ 1 w 1140"/>
                <a:gd name="T95" fmla="*/ 1 h 526"/>
                <a:gd name="T96" fmla="*/ 1 w 1140"/>
                <a:gd name="T97" fmla="*/ 1 h 526"/>
                <a:gd name="T98" fmla="*/ 1 w 1140"/>
                <a:gd name="T99" fmla="*/ 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295" name="Freeform 33"/>
            <p:cNvSpPr>
              <a:spLocks/>
            </p:cNvSpPr>
            <p:nvPr/>
          </p:nvSpPr>
          <p:spPr bwMode="auto">
            <a:xfrm>
              <a:off x="3113" y="3325"/>
              <a:ext cx="121" cy="130"/>
            </a:xfrm>
            <a:custGeom>
              <a:avLst/>
              <a:gdLst>
                <a:gd name="T0" fmla="*/ 0 w 189"/>
                <a:gd name="T1" fmla="*/ 1 h 204"/>
                <a:gd name="T2" fmla="*/ 1 w 189"/>
                <a:gd name="T3" fmla="*/ 1 h 204"/>
                <a:gd name="T4" fmla="*/ 1 w 189"/>
                <a:gd name="T5" fmla="*/ 1 h 204"/>
                <a:gd name="T6" fmla="*/ 1 w 189"/>
                <a:gd name="T7" fmla="*/ 1 h 204"/>
                <a:gd name="T8" fmla="*/ 1 w 189"/>
                <a:gd name="T9" fmla="*/ 1 h 204"/>
                <a:gd name="T10" fmla="*/ 1 w 189"/>
                <a:gd name="T11" fmla="*/ 1 h 204"/>
                <a:gd name="T12" fmla="*/ 1 w 189"/>
                <a:gd name="T13" fmla="*/ 0 h 204"/>
                <a:gd name="T14" fmla="*/ 1 w 189"/>
                <a:gd name="T15" fmla="*/ 1 h 204"/>
                <a:gd name="T16" fmla="*/ 0 w 189"/>
                <a:gd name="T17" fmla="*/ 1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296" name="Freeform 34"/>
            <p:cNvSpPr>
              <a:spLocks/>
            </p:cNvSpPr>
            <p:nvPr/>
          </p:nvSpPr>
          <p:spPr bwMode="auto">
            <a:xfrm>
              <a:off x="3255" y="3322"/>
              <a:ext cx="160" cy="135"/>
            </a:xfrm>
            <a:custGeom>
              <a:avLst/>
              <a:gdLst>
                <a:gd name="T0" fmla="*/ 1 w 252"/>
                <a:gd name="T1" fmla="*/ 1 h 213"/>
                <a:gd name="T2" fmla="*/ 0 w 252"/>
                <a:gd name="T3" fmla="*/ 0 h 213"/>
                <a:gd name="T4" fmla="*/ 1 w 252"/>
                <a:gd name="T5" fmla="*/ 0 h 213"/>
                <a:gd name="T6" fmla="*/ 1 w 252"/>
                <a:gd name="T7" fmla="*/ 1 h 213"/>
                <a:gd name="T8" fmla="*/ 1 w 252"/>
                <a:gd name="T9" fmla="*/ 1 h 213"/>
                <a:gd name="T10" fmla="*/ 1 w 252"/>
                <a:gd name="T11" fmla="*/ 1 h 213"/>
                <a:gd name="T12" fmla="*/ 1 w 252"/>
                <a:gd name="T13" fmla="*/ 1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297" name="Freeform 35"/>
            <p:cNvSpPr>
              <a:spLocks/>
            </p:cNvSpPr>
            <p:nvPr/>
          </p:nvSpPr>
          <p:spPr bwMode="auto">
            <a:xfrm>
              <a:off x="3360" y="3383"/>
              <a:ext cx="45" cy="63"/>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98" name="Freeform 36"/>
            <p:cNvSpPr>
              <a:spLocks/>
            </p:cNvSpPr>
            <p:nvPr/>
          </p:nvSpPr>
          <p:spPr bwMode="auto">
            <a:xfrm>
              <a:off x="3362" y="3431"/>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99" name="Freeform 37"/>
            <p:cNvSpPr>
              <a:spLocks/>
            </p:cNvSpPr>
            <p:nvPr/>
          </p:nvSpPr>
          <p:spPr bwMode="auto">
            <a:xfrm>
              <a:off x="3367" y="3401"/>
              <a:ext cx="33" cy="23"/>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00" name="Freeform 38"/>
            <p:cNvSpPr>
              <a:spLocks/>
            </p:cNvSpPr>
            <p:nvPr/>
          </p:nvSpPr>
          <p:spPr bwMode="auto">
            <a:xfrm>
              <a:off x="3245" y="3415"/>
              <a:ext cx="195" cy="185"/>
            </a:xfrm>
            <a:custGeom>
              <a:avLst/>
              <a:gdLst>
                <a:gd name="T0" fmla="*/ 0 w 306"/>
                <a:gd name="T1" fmla="*/ 1 h 290"/>
                <a:gd name="T2" fmla="*/ 1 w 306"/>
                <a:gd name="T3" fmla="*/ 1 h 290"/>
                <a:gd name="T4" fmla="*/ 1 w 306"/>
                <a:gd name="T5" fmla="*/ 1 h 290"/>
                <a:gd name="T6" fmla="*/ 1 w 306"/>
                <a:gd name="T7" fmla="*/ 1 h 290"/>
                <a:gd name="T8" fmla="*/ 1 w 306"/>
                <a:gd name="T9" fmla="*/ 1 h 290"/>
                <a:gd name="T10" fmla="*/ 1 w 306"/>
                <a:gd name="T11" fmla="*/ 1 h 290"/>
                <a:gd name="T12" fmla="*/ 1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0301" name="Freeform 39"/>
            <p:cNvSpPr>
              <a:spLocks/>
            </p:cNvSpPr>
            <p:nvPr/>
          </p:nvSpPr>
          <p:spPr bwMode="auto">
            <a:xfrm rot="1661969">
              <a:off x="3494" y="3239"/>
              <a:ext cx="130" cy="102"/>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10302" name="Line 40"/>
            <p:cNvSpPr>
              <a:spLocks noChangeShapeType="1"/>
            </p:cNvSpPr>
            <p:nvPr/>
          </p:nvSpPr>
          <p:spPr bwMode="auto">
            <a:xfrm flipH="1" flipV="1">
              <a:off x="3544" y="3332"/>
              <a:ext cx="5" cy="7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03" name="Line 41"/>
            <p:cNvSpPr>
              <a:spLocks noChangeShapeType="1"/>
            </p:cNvSpPr>
            <p:nvPr/>
          </p:nvSpPr>
          <p:spPr bwMode="auto">
            <a:xfrm flipV="1">
              <a:off x="3565" y="3332"/>
              <a:ext cx="22" cy="7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04" name="Oval 42"/>
            <p:cNvSpPr>
              <a:spLocks noChangeArrowheads="1"/>
            </p:cNvSpPr>
            <p:nvPr/>
          </p:nvSpPr>
          <p:spPr bwMode="auto">
            <a:xfrm>
              <a:off x="3034" y="3568"/>
              <a:ext cx="103" cy="101"/>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10305" name="Freeform 43"/>
            <p:cNvSpPr>
              <a:spLocks/>
            </p:cNvSpPr>
            <p:nvPr/>
          </p:nvSpPr>
          <p:spPr bwMode="auto">
            <a:xfrm>
              <a:off x="3022" y="3556"/>
              <a:ext cx="126" cy="126"/>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06" name="Freeform 44"/>
            <p:cNvSpPr>
              <a:spLocks/>
            </p:cNvSpPr>
            <p:nvPr/>
          </p:nvSpPr>
          <p:spPr bwMode="auto">
            <a:xfrm>
              <a:off x="3049" y="3661"/>
              <a:ext cx="24" cy="15"/>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07" name="Oval 45"/>
            <p:cNvSpPr>
              <a:spLocks noChangeArrowheads="1"/>
            </p:cNvSpPr>
            <p:nvPr/>
          </p:nvSpPr>
          <p:spPr bwMode="auto">
            <a:xfrm>
              <a:off x="3492" y="3528"/>
              <a:ext cx="80" cy="138"/>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10308" name="Freeform 46"/>
            <p:cNvSpPr>
              <a:spLocks/>
            </p:cNvSpPr>
            <p:nvPr/>
          </p:nvSpPr>
          <p:spPr bwMode="auto">
            <a:xfrm>
              <a:off x="3484" y="3518"/>
              <a:ext cx="99" cy="158"/>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09" name="Freeform 47"/>
            <p:cNvSpPr>
              <a:spLocks/>
            </p:cNvSpPr>
            <p:nvPr/>
          </p:nvSpPr>
          <p:spPr bwMode="auto">
            <a:xfrm>
              <a:off x="3499" y="3646"/>
              <a:ext cx="21" cy="19"/>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0260" name="Group 48"/>
          <p:cNvGrpSpPr>
            <a:grpSpLocks/>
          </p:cNvGrpSpPr>
          <p:nvPr/>
        </p:nvGrpSpPr>
        <p:grpSpPr bwMode="auto">
          <a:xfrm>
            <a:off x="4950745" y="2676525"/>
            <a:ext cx="622300" cy="792163"/>
            <a:chOff x="2900" y="2726"/>
            <a:chExt cx="505" cy="642"/>
          </a:xfrm>
        </p:grpSpPr>
        <p:sp>
          <p:nvSpPr>
            <p:cNvPr id="10287" name="Oval 49"/>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10288" name="Freeform 50"/>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cap="flat" cmpd="sng">
              <a:solidFill>
                <a:schemeClr val="bg1"/>
              </a:solidFill>
              <a:prstDash val="solid"/>
              <a:round/>
              <a:headEnd/>
              <a:tailEnd/>
            </a:ln>
          </p:spPr>
          <p:txBody>
            <a:bodyPr lIns="0" tIns="0" rIns="0" bIns="0" anchor="ctr">
              <a:spAutoFit/>
            </a:bodyPr>
            <a:lstStyle/>
            <a:p>
              <a:endParaRPr lang="en-US"/>
            </a:p>
          </p:txBody>
        </p:sp>
        <p:sp>
          <p:nvSpPr>
            <p:cNvPr id="10289" name="Freeform 51"/>
            <p:cNvSpPr>
              <a:spLocks/>
            </p:cNvSpPr>
            <p:nvPr/>
          </p:nvSpPr>
          <p:spPr bwMode="auto">
            <a:xfrm>
              <a:off x="2900" y="3068"/>
              <a:ext cx="409" cy="264"/>
            </a:xfrm>
            <a:custGeom>
              <a:avLst/>
              <a:gdLst>
                <a:gd name="T0" fmla="*/ 1 w 559"/>
                <a:gd name="T1" fmla="*/ 1 h 434"/>
                <a:gd name="T2" fmla="*/ 3 w 559"/>
                <a:gd name="T3" fmla="*/ 0 h 434"/>
                <a:gd name="T4" fmla="*/ 3 w 559"/>
                <a:gd name="T5" fmla="*/ 1 h 434"/>
                <a:gd name="T6" fmla="*/ 5 w 559"/>
                <a:gd name="T7" fmla="*/ 1 h 434"/>
                <a:gd name="T8" fmla="*/ 7 w 559"/>
                <a:gd name="T9" fmla="*/ 1 h 434"/>
                <a:gd name="T10" fmla="*/ 7 w 559"/>
                <a:gd name="T11" fmla="*/ 1 h 434"/>
                <a:gd name="T12" fmla="*/ 7 w 559"/>
                <a:gd name="T13" fmla="*/ 1 h 434"/>
                <a:gd name="T14" fmla="*/ 5 w 559"/>
                <a:gd name="T15" fmla="*/ 1 h 434"/>
                <a:gd name="T16" fmla="*/ 3 w 559"/>
                <a:gd name="T17" fmla="*/ 1 h 434"/>
                <a:gd name="T18" fmla="*/ 1 w 559"/>
                <a:gd name="T19" fmla="*/ 1 h 434"/>
                <a:gd name="T20" fmla="*/ 1 w 559"/>
                <a:gd name="T21" fmla="*/ 1 h 434"/>
                <a:gd name="T22" fmla="*/ 0 w 559"/>
                <a:gd name="T23" fmla="*/ 1 h 434"/>
                <a:gd name="T24" fmla="*/ 1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cap="flat" cmpd="sng">
              <a:solidFill>
                <a:schemeClr val="bg1"/>
              </a:solidFill>
              <a:prstDash val="solid"/>
              <a:round/>
              <a:headEnd/>
              <a:tailEnd/>
            </a:ln>
          </p:spPr>
          <p:txBody>
            <a:bodyPr wrap="none" lIns="0" tIns="0" rIns="0" bIns="0" anchor="ctr">
              <a:spAutoFit/>
            </a:bodyPr>
            <a:lstStyle/>
            <a:p>
              <a:endParaRPr lang="en-US"/>
            </a:p>
          </p:txBody>
        </p:sp>
        <p:sp>
          <p:nvSpPr>
            <p:cNvPr id="10290" name="Freeform 52"/>
            <p:cNvSpPr>
              <a:spLocks/>
            </p:cNvSpPr>
            <p:nvPr/>
          </p:nvSpPr>
          <p:spPr bwMode="auto">
            <a:xfrm>
              <a:off x="3022" y="2996"/>
              <a:ext cx="219" cy="331"/>
            </a:xfrm>
            <a:custGeom>
              <a:avLst/>
              <a:gdLst>
                <a:gd name="T0" fmla="*/ 3 w 300"/>
                <a:gd name="T1" fmla="*/ 0 h 543"/>
                <a:gd name="T2" fmla="*/ 0 w 300"/>
                <a:gd name="T3" fmla="*/ 1 h 543"/>
                <a:gd name="T4" fmla="*/ 2 w 300"/>
                <a:gd name="T5" fmla="*/ 1 h 543"/>
                <a:gd name="T6" fmla="*/ 4 w 300"/>
                <a:gd name="T7" fmla="*/ 1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cap="flat" cmpd="sng">
              <a:solidFill>
                <a:schemeClr val="bg1"/>
              </a:solidFill>
              <a:prstDash val="solid"/>
              <a:round/>
              <a:headEnd/>
              <a:tailEnd/>
            </a:ln>
          </p:spPr>
          <p:txBody>
            <a:bodyPr wrap="none" lIns="0" tIns="0" rIns="0" bIns="0" anchor="ctr">
              <a:spAutoFit/>
            </a:bodyPr>
            <a:lstStyle/>
            <a:p>
              <a:endParaRPr lang="en-US"/>
            </a:p>
          </p:txBody>
        </p:sp>
        <p:sp>
          <p:nvSpPr>
            <p:cNvPr id="10291" name="Line 53"/>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0261" name="Line 54"/>
          <p:cNvSpPr>
            <a:spLocks noChangeShapeType="1"/>
          </p:cNvSpPr>
          <p:nvPr/>
        </p:nvSpPr>
        <p:spPr bwMode="auto">
          <a:xfrm flipV="1">
            <a:off x="7759700" y="1970088"/>
            <a:ext cx="0" cy="798512"/>
          </a:xfrm>
          <a:prstGeom prst="line">
            <a:avLst/>
          </a:prstGeom>
          <a:noFill/>
          <a:ln w="28575">
            <a:solidFill>
              <a:srgbClr val="C0C0C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0262" name="Group 55"/>
          <p:cNvGrpSpPr>
            <a:grpSpLocks/>
          </p:cNvGrpSpPr>
          <p:nvPr/>
        </p:nvGrpSpPr>
        <p:grpSpPr bwMode="auto">
          <a:xfrm>
            <a:off x="7175500" y="2295525"/>
            <a:ext cx="1152525" cy="1131888"/>
            <a:chOff x="4460" y="1398"/>
            <a:chExt cx="826" cy="811"/>
          </a:xfrm>
        </p:grpSpPr>
        <p:sp>
          <p:nvSpPr>
            <p:cNvPr id="10275" name="Freeform 56"/>
            <p:cNvSpPr>
              <a:spLocks/>
            </p:cNvSpPr>
            <p:nvPr/>
          </p:nvSpPr>
          <p:spPr bwMode="auto">
            <a:xfrm>
              <a:off x="4460" y="1398"/>
              <a:ext cx="826" cy="811"/>
            </a:xfrm>
            <a:custGeom>
              <a:avLst/>
              <a:gdLst>
                <a:gd name="T0" fmla="*/ 1820 w 772"/>
                <a:gd name="T1" fmla="*/ 1689 h 758"/>
                <a:gd name="T2" fmla="*/ 1820 w 772"/>
                <a:gd name="T3" fmla="*/ 1519 h 758"/>
                <a:gd name="T4" fmla="*/ 1740 w 772"/>
                <a:gd name="T5" fmla="*/ 1519 h 758"/>
                <a:gd name="T6" fmla="*/ 1740 w 772"/>
                <a:gd name="T7" fmla="*/ 702 h 758"/>
                <a:gd name="T8" fmla="*/ 1820 w 772"/>
                <a:gd name="T9" fmla="*/ 702 h 758"/>
                <a:gd name="T10" fmla="*/ 1820 w 772"/>
                <a:gd name="T11" fmla="*/ 524 h 758"/>
                <a:gd name="T12" fmla="*/ 1964 w 772"/>
                <a:gd name="T13" fmla="*/ 524 h 758"/>
                <a:gd name="T14" fmla="*/ 1974 w 772"/>
                <a:gd name="T15" fmla="*/ 474 h 758"/>
                <a:gd name="T16" fmla="*/ 1009 w 772"/>
                <a:gd name="T17" fmla="*/ 0 h 758"/>
                <a:gd name="T18" fmla="*/ 26 w 772"/>
                <a:gd name="T19" fmla="*/ 474 h 758"/>
                <a:gd name="T20" fmla="*/ 39 w 772"/>
                <a:gd name="T21" fmla="*/ 524 h 758"/>
                <a:gd name="T22" fmla="*/ 200 w 772"/>
                <a:gd name="T23" fmla="*/ 524 h 758"/>
                <a:gd name="T24" fmla="*/ 200 w 772"/>
                <a:gd name="T25" fmla="*/ 702 h 758"/>
                <a:gd name="T26" fmla="*/ 300 w 772"/>
                <a:gd name="T27" fmla="*/ 702 h 758"/>
                <a:gd name="T28" fmla="*/ 300 w 772"/>
                <a:gd name="T29" fmla="*/ 1519 h 758"/>
                <a:gd name="T30" fmla="*/ 200 w 772"/>
                <a:gd name="T31" fmla="*/ 1519 h 758"/>
                <a:gd name="T32" fmla="*/ 200 w 772"/>
                <a:gd name="T33" fmla="*/ 1689 h 758"/>
                <a:gd name="T34" fmla="*/ 0 w 772"/>
                <a:gd name="T35" fmla="*/ 1689 h 758"/>
                <a:gd name="T36" fmla="*/ 0 w 772"/>
                <a:gd name="T37" fmla="*/ 1954 h 758"/>
                <a:gd name="T38" fmla="*/ 1991 w 772"/>
                <a:gd name="T39" fmla="*/ 1954 h 758"/>
                <a:gd name="T40" fmla="*/ 1991 w 772"/>
                <a:gd name="T41" fmla="*/ 1689 h 758"/>
                <a:gd name="T42" fmla="*/ 1820 w 772"/>
                <a:gd name="T43" fmla="*/ 1689 h 75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72"/>
                <a:gd name="T67" fmla="*/ 0 h 758"/>
                <a:gd name="T68" fmla="*/ 772 w 772"/>
                <a:gd name="T69" fmla="*/ 758 h 75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72" h="758">
                  <a:moveTo>
                    <a:pt x="706" y="656"/>
                  </a:moveTo>
                  <a:lnTo>
                    <a:pt x="706" y="590"/>
                  </a:lnTo>
                  <a:lnTo>
                    <a:pt x="675" y="590"/>
                  </a:lnTo>
                  <a:lnTo>
                    <a:pt x="675" y="272"/>
                  </a:lnTo>
                  <a:lnTo>
                    <a:pt x="706" y="272"/>
                  </a:lnTo>
                  <a:lnTo>
                    <a:pt x="706" y="205"/>
                  </a:lnTo>
                  <a:lnTo>
                    <a:pt x="762" y="205"/>
                  </a:lnTo>
                  <a:lnTo>
                    <a:pt x="767" y="183"/>
                  </a:lnTo>
                  <a:lnTo>
                    <a:pt x="392" y="0"/>
                  </a:lnTo>
                  <a:lnTo>
                    <a:pt x="10" y="183"/>
                  </a:lnTo>
                  <a:lnTo>
                    <a:pt x="16" y="205"/>
                  </a:lnTo>
                  <a:lnTo>
                    <a:pt x="78" y="205"/>
                  </a:lnTo>
                  <a:lnTo>
                    <a:pt x="78" y="272"/>
                  </a:lnTo>
                  <a:lnTo>
                    <a:pt x="117" y="272"/>
                  </a:lnTo>
                  <a:lnTo>
                    <a:pt x="117" y="590"/>
                  </a:lnTo>
                  <a:lnTo>
                    <a:pt x="78" y="590"/>
                  </a:lnTo>
                  <a:lnTo>
                    <a:pt x="78" y="656"/>
                  </a:lnTo>
                  <a:lnTo>
                    <a:pt x="0" y="656"/>
                  </a:lnTo>
                  <a:lnTo>
                    <a:pt x="0" y="758"/>
                  </a:lnTo>
                  <a:lnTo>
                    <a:pt x="772" y="758"/>
                  </a:lnTo>
                  <a:lnTo>
                    <a:pt x="772" y="656"/>
                  </a:lnTo>
                  <a:lnTo>
                    <a:pt x="706" y="656"/>
                  </a:lnTo>
                  <a:close/>
                </a:path>
              </a:pathLst>
            </a:custGeom>
            <a:solidFill>
              <a:srgbClr val="CC9900"/>
            </a:solidFill>
            <a:ln w="12700" cap="flat" cmpd="sng">
              <a:solidFill>
                <a:schemeClr val="bg1"/>
              </a:solidFill>
              <a:prstDash val="solid"/>
              <a:round/>
              <a:headEnd/>
              <a:tailEnd/>
            </a:ln>
          </p:spPr>
          <p:txBody>
            <a:bodyPr wrap="none" anchor="ctr"/>
            <a:lstStyle/>
            <a:p>
              <a:endParaRPr lang="en-US"/>
            </a:p>
          </p:txBody>
        </p:sp>
        <p:sp>
          <p:nvSpPr>
            <p:cNvPr id="10276" name="Rectangle 57"/>
            <p:cNvSpPr>
              <a:spLocks noChangeArrowheads="1"/>
            </p:cNvSpPr>
            <p:nvPr/>
          </p:nvSpPr>
          <p:spPr bwMode="auto">
            <a:xfrm>
              <a:off x="4569" y="1628"/>
              <a:ext cx="162" cy="35"/>
            </a:xfrm>
            <a:prstGeom prst="rect">
              <a:avLst/>
            </a:prstGeom>
            <a:solidFill>
              <a:srgbClr val="FFCC99"/>
            </a:solidFill>
            <a:ln w="9525" algn="ctr">
              <a:solidFill>
                <a:schemeClr val="bg1"/>
              </a:solidFill>
              <a:miter lim="800000"/>
              <a:headEnd/>
              <a:tailEnd/>
            </a:ln>
          </p:spPr>
          <p:txBody>
            <a:bodyPr/>
            <a:lstStyle/>
            <a:p>
              <a:endParaRPr lang="en-US"/>
            </a:p>
          </p:txBody>
        </p:sp>
        <p:sp>
          <p:nvSpPr>
            <p:cNvPr id="10277" name="Rectangle 58"/>
            <p:cNvSpPr>
              <a:spLocks noChangeArrowheads="1"/>
            </p:cNvSpPr>
            <p:nvPr/>
          </p:nvSpPr>
          <p:spPr bwMode="auto">
            <a:xfrm>
              <a:off x="5069" y="1689"/>
              <a:ext cx="88" cy="336"/>
            </a:xfrm>
            <a:prstGeom prst="rect">
              <a:avLst/>
            </a:prstGeom>
            <a:solidFill>
              <a:srgbClr val="FFCC99"/>
            </a:solidFill>
            <a:ln w="9525" algn="ctr">
              <a:solidFill>
                <a:schemeClr val="bg1"/>
              </a:solidFill>
              <a:miter lim="800000"/>
              <a:headEnd/>
              <a:tailEnd/>
            </a:ln>
          </p:spPr>
          <p:txBody>
            <a:bodyPr/>
            <a:lstStyle/>
            <a:p>
              <a:endParaRPr lang="en-US"/>
            </a:p>
          </p:txBody>
        </p:sp>
        <p:sp>
          <p:nvSpPr>
            <p:cNvPr id="10278" name="Rectangle 59"/>
            <p:cNvSpPr>
              <a:spLocks noChangeArrowheads="1"/>
            </p:cNvSpPr>
            <p:nvPr/>
          </p:nvSpPr>
          <p:spPr bwMode="auto">
            <a:xfrm>
              <a:off x="5027" y="2055"/>
              <a:ext cx="164" cy="34"/>
            </a:xfrm>
            <a:prstGeom prst="rect">
              <a:avLst/>
            </a:prstGeom>
            <a:solidFill>
              <a:srgbClr val="FFCC99"/>
            </a:solidFill>
            <a:ln w="9525" algn="ctr">
              <a:solidFill>
                <a:schemeClr val="bg1"/>
              </a:solidFill>
              <a:miter lim="800000"/>
              <a:headEnd/>
              <a:tailEnd/>
            </a:ln>
          </p:spPr>
          <p:txBody>
            <a:bodyPr/>
            <a:lstStyle/>
            <a:p>
              <a:endParaRPr lang="en-US"/>
            </a:p>
          </p:txBody>
        </p:sp>
        <p:sp>
          <p:nvSpPr>
            <p:cNvPr id="10279" name="Rectangle 60"/>
            <p:cNvSpPr>
              <a:spLocks noChangeArrowheads="1"/>
            </p:cNvSpPr>
            <p:nvPr/>
          </p:nvSpPr>
          <p:spPr bwMode="auto">
            <a:xfrm>
              <a:off x="4611" y="1689"/>
              <a:ext cx="86" cy="336"/>
            </a:xfrm>
            <a:prstGeom prst="rect">
              <a:avLst/>
            </a:prstGeom>
            <a:solidFill>
              <a:srgbClr val="FFCC99"/>
            </a:solidFill>
            <a:ln w="9525" algn="ctr">
              <a:solidFill>
                <a:schemeClr val="bg1"/>
              </a:solidFill>
              <a:miter lim="800000"/>
              <a:headEnd/>
              <a:tailEnd/>
            </a:ln>
          </p:spPr>
          <p:txBody>
            <a:bodyPr/>
            <a:lstStyle/>
            <a:p>
              <a:endParaRPr lang="en-US"/>
            </a:p>
          </p:txBody>
        </p:sp>
        <p:sp>
          <p:nvSpPr>
            <p:cNvPr id="10280" name="Rectangle 61"/>
            <p:cNvSpPr>
              <a:spLocks noChangeArrowheads="1"/>
            </p:cNvSpPr>
            <p:nvPr/>
          </p:nvSpPr>
          <p:spPr bwMode="auto">
            <a:xfrm>
              <a:off x="4569" y="2055"/>
              <a:ext cx="162" cy="34"/>
            </a:xfrm>
            <a:prstGeom prst="rect">
              <a:avLst/>
            </a:prstGeom>
            <a:solidFill>
              <a:srgbClr val="FFCC99"/>
            </a:solidFill>
            <a:ln w="9525" algn="ctr">
              <a:solidFill>
                <a:schemeClr val="bg1"/>
              </a:solidFill>
              <a:miter lim="800000"/>
              <a:headEnd/>
              <a:tailEnd/>
            </a:ln>
          </p:spPr>
          <p:txBody>
            <a:bodyPr/>
            <a:lstStyle/>
            <a:p>
              <a:endParaRPr lang="en-US"/>
            </a:p>
          </p:txBody>
        </p:sp>
        <p:sp>
          <p:nvSpPr>
            <p:cNvPr id="10281" name="Rectangle 62"/>
            <p:cNvSpPr>
              <a:spLocks noChangeArrowheads="1"/>
            </p:cNvSpPr>
            <p:nvPr/>
          </p:nvSpPr>
          <p:spPr bwMode="auto">
            <a:xfrm>
              <a:off x="4486" y="2125"/>
              <a:ext cx="774" cy="58"/>
            </a:xfrm>
            <a:prstGeom prst="rect">
              <a:avLst/>
            </a:prstGeom>
            <a:solidFill>
              <a:srgbClr val="FFCC99"/>
            </a:solidFill>
            <a:ln w="9525" algn="ctr">
              <a:solidFill>
                <a:schemeClr val="bg1"/>
              </a:solidFill>
              <a:miter lim="800000"/>
              <a:headEnd/>
              <a:tailEnd/>
            </a:ln>
          </p:spPr>
          <p:txBody>
            <a:bodyPr/>
            <a:lstStyle/>
            <a:p>
              <a:endParaRPr lang="en-US"/>
            </a:p>
          </p:txBody>
        </p:sp>
        <p:sp>
          <p:nvSpPr>
            <p:cNvPr id="10282" name="Rectangle 63"/>
            <p:cNvSpPr>
              <a:spLocks noChangeArrowheads="1"/>
            </p:cNvSpPr>
            <p:nvPr/>
          </p:nvSpPr>
          <p:spPr bwMode="auto">
            <a:xfrm>
              <a:off x="5027" y="1628"/>
              <a:ext cx="164" cy="35"/>
            </a:xfrm>
            <a:prstGeom prst="rect">
              <a:avLst/>
            </a:prstGeom>
            <a:solidFill>
              <a:srgbClr val="FFCC99"/>
            </a:solidFill>
            <a:ln w="9525" algn="ctr">
              <a:solidFill>
                <a:schemeClr val="bg1"/>
              </a:solidFill>
              <a:miter lim="800000"/>
              <a:headEnd/>
              <a:tailEnd/>
            </a:ln>
          </p:spPr>
          <p:txBody>
            <a:bodyPr/>
            <a:lstStyle/>
            <a:p>
              <a:endParaRPr lang="en-US"/>
            </a:p>
          </p:txBody>
        </p:sp>
        <p:sp>
          <p:nvSpPr>
            <p:cNvPr id="10283" name="Freeform 64"/>
            <p:cNvSpPr>
              <a:spLocks/>
            </p:cNvSpPr>
            <p:nvPr/>
          </p:nvSpPr>
          <p:spPr bwMode="auto">
            <a:xfrm>
              <a:off x="4533" y="1426"/>
              <a:ext cx="688" cy="166"/>
            </a:xfrm>
            <a:custGeom>
              <a:avLst/>
              <a:gdLst>
                <a:gd name="T0" fmla="*/ 1658 w 643"/>
                <a:gd name="T1" fmla="*/ 376 h 156"/>
                <a:gd name="T2" fmla="*/ 0 w 643"/>
                <a:gd name="T3" fmla="*/ 376 h 156"/>
                <a:gd name="T4" fmla="*/ 837 w 643"/>
                <a:gd name="T5" fmla="*/ 0 h 156"/>
                <a:gd name="T6" fmla="*/ 1658 w 643"/>
                <a:gd name="T7" fmla="*/ 376 h 156"/>
                <a:gd name="T8" fmla="*/ 0 60000 65536"/>
                <a:gd name="T9" fmla="*/ 0 60000 65536"/>
                <a:gd name="T10" fmla="*/ 0 60000 65536"/>
                <a:gd name="T11" fmla="*/ 0 60000 65536"/>
                <a:gd name="T12" fmla="*/ 0 w 643"/>
                <a:gd name="T13" fmla="*/ 0 h 156"/>
                <a:gd name="T14" fmla="*/ 643 w 643"/>
                <a:gd name="T15" fmla="*/ 156 h 156"/>
              </a:gdLst>
              <a:ahLst/>
              <a:cxnLst>
                <a:cxn ang="T8">
                  <a:pos x="T0" y="T1"/>
                </a:cxn>
                <a:cxn ang="T9">
                  <a:pos x="T2" y="T3"/>
                </a:cxn>
                <a:cxn ang="T10">
                  <a:pos x="T4" y="T5"/>
                </a:cxn>
                <a:cxn ang="T11">
                  <a:pos x="T6" y="T7"/>
                </a:cxn>
              </a:cxnLst>
              <a:rect l="T12" t="T13" r="T14" b="T15"/>
              <a:pathLst>
                <a:path w="643" h="156">
                  <a:moveTo>
                    <a:pt x="643" y="156"/>
                  </a:moveTo>
                  <a:lnTo>
                    <a:pt x="0" y="156"/>
                  </a:lnTo>
                  <a:lnTo>
                    <a:pt x="324" y="0"/>
                  </a:lnTo>
                  <a:lnTo>
                    <a:pt x="643" y="156"/>
                  </a:lnTo>
                  <a:close/>
                </a:path>
              </a:pathLst>
            </a:custGeom>
            <a:solidFill>
              <a:srgbClr val="FFCC99"/>
            </a:solidFill>
            <a:ln w="9525" cap="flat" cmpd="sng">
              <a:solidFill>
                <a:schemeClr val="bg1"/>
              </a:solidFill>
              <a:prstDash val="solid"/>
              <a:round/>
              <a:headEnd type="none" w="med" len="med"/>
              <a:tailEnd type="none" w="med" len="med"/>
            </a:ln>
          </p:spPr>
          <p:txBody>
            <a:bodyPr/>
            <a:lstStyle/>
            <a:p>
              <a:endParaRPr lang="en-US"/>
            </a:p>
          </p:txBody>
        </p:sp>
        <p:sp>
          <p:nvSpPr>
            <p:cNvPr id="10284" name="Rectangle 65"/>
            <p:cNvSpPr>
              <a:spLocks noChangeArrowheads="1"/>
            </p:cNvSpPr>
            <p:nvPr/>
          </p:nvSpPr>
          <p:spPr bwMode="auto">
            <a:xfrm>
              <a:off x="4788" y="1628"/>
              <a:ext cx="162" cy="35"/>
            </a:xfrm>
            <a:prstGeom prst="rect">
              <a:avLst/>
            </a:prstGeom>
            <a:solidFill>
              <a:srgbClr val="FFCC99"/>
            </a:solidFill>
            <a:ln w="9525" algn="ctr">
              <a:solidFill>
                <a:schemeClr val="bg1"/>
              </a:solidFill>
              <a:miter lim="800000"/>
              <a:headEnd/>
              <a:tailEnd/>
            </a:ln>
          </p:spPr>
          <p:txBody>
            <a:bodyPr/>
            <a:lstStyle/>
            <a:p>
              <a:endParaRPr lang="en-US"/>
            </a:p>
          </p:txBody>
        </p:sp>
        <p:sp>
          <p:nvSpPr>
            <p:cNvPr id="10285" name="Rectangle 66"/>
            <p:cNvSpPr>
              <a:spLocks noChangeArrowheads="1"/>
            </p:cNvSpPr>
            <p:nvPr/>
          </p:nvSpPr>
          <p:spPr bwMode="auto">
            <a:xfrm>
              <a:off x="4830" y="1689"/>
              <a:ext cx="87" cy="336"/>
            </a:xfrm>
            <a:prstGeom prst="rect">
              <a:avLst/>
            </a:prstGeom>
            <a:solidFill>
              <a:srgbClr val="FFCC99"/>
            </a:solidFill>
            <a:ln w="9525" algn="ctr">
              <a:solidFill>
                <a:schemeClr val="bg1"/>
              </a:solidFill>
              <a:miter lim="800000"/>
              <a:headEnd/>
              <a:tailEnd/>
            </a:ln>
          </p:spPr>
          <p:txBody>
            <a:bodyPr/>
            <a:lstStyle/>
            <a:p>
              <a:endParaRPr lang="en-US"/>
            </a:p>
          </p:txBody>
        </p:sp>
        <p:sp>
          <p:nvSpPr>
            <p:cNvPr id="10286" name="Rectangle 67"/>
            <p:cNvSpPr>
              <a:spLocks noChangeArrowheads="1"/>
            </p:cNvSpPr>
            <p:nvPr/>
          </p:nvSpPr>
          <p:spPr bwMode="auto">
            <a:xfrm>
              <a:off x="4788" y="2055"/>
              <a:ext cx="162" cy="34"/>
            </a:xfrm>
            <a:prstGeom prst="rect">
              <a:avLst/>
            </a:prstGeom>
            <a:solidFill>
              <a:srgbClr val="FFCC99"/>
            </a:solidFill>
            <a:ln w="9525" algn="ctr">
              <a:solidFill>
                <a:schemeClr val="bg1"/>
              </a:solidFill>
              <a:miter lim="800000"/>
              <a:headEnd/>
              <a:tailEnd/>
            </a:ln>
          </p:spPr>
          <p:txBody>
            <a:bodyPr/>
            <a:lstStyle/>
            <a:p>
              <a:endParaRPr lang="en-US"/>
            </a:p>
          </p:txBody>
        </p:sp>
      </p:grpSp>
      <p:grpSp>
        <p:nvGrpSpPr>
          <p:cNvPr id="10263" name="Group 68"/>
          <p:cNvGrpSpPr>
            <a:grpSpLocks/>
          </p:cNvGrpSpPr>
          <p:nvPr/>
        </p:nvGrpSpPr>
        <p:grpSpPr bwMode="auto">
          <a:xfrm>
            <a:off x="1443038" y="2409825"/>
            <a:ext cx="1441450" cy="1341438"/>
            <a:chOff x="1485" y="1518"/>
            <a:chExt cx="908" cy="845"/>
          </a:xfrm>
        </p:grpSpPr>
        <p:sp>
          <p:nvSpPr>
            <p:cNvPr id="10269" name="Text Box 69"/>
            <p:cNvSpPr txBox="1">
              <a:spLocks noChangeArrowheads="1"/>
            </p:cNvSpPr>
            <p:nvPr/>
          </p:nvSpPr>
          <p:spPr bwMode="auto">
            <a:xfrm>
              <a:off x="1574" y="2171"/>
              <a:ext cx="81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2000" b="1"/>
                <a:t>Reporter</a:t>
              </a:r>
            </a:p>
          </p:txBody>
        </p:sp>
        <p:grpSp>
          <p:nvGrpSpPr>
            <p:cNvPr id="10270" name="Group 70"/>
            <p:cNvGrpSpPr>
              <a:grpSpLocks/>
            </p:cNvGrpSpPr>
            <p:nvPr/>
          </p:nvGrpSpPr>
          <p:grpSpPr bwMode="auto">
            <a:xfrm>
              <a:off x="1485" y="1518"/>
              <a:ext cx="756" cy="685"/>
              <a:chOff x="2780" y="1585"/>
              <a:chExt cx="668" cy="605"/>
            </a:xfrm>
          </p:grpSpPr>
          <p:sp>
            <p:nvSpPr>
              <p:cNvPr id="10271" name="AutoShape 71"/>
              <p:cNvSpPr>
                <a:spLocks noChangeArrowheads="1"/>
              </p:cNvSpPr>
              <p:nvPr/>
            </p:nvSpPr>
            <p:spPr bwMode="auto">
              <a:xfrm>
                <a:off x="2780" y="1585"/>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grpSp>
            <p:nvGrpSpPr>
              <p:cNvPr id="10272" name="Group 72"/>
              <p:cNvGrpSpPr>
                <a:grpSpLocks/>
              </p:cNvGrpSpPr>
              <p:nvPr/>
            </p:nvGrpSpPr>
            <p:grpSpPr bwMode="auto">
              <a:xfrm flipH="1">
                <a:off x="3089" y="1738"/>
                <a:ext cx="359" cy="452"/>
                <a:chOff x="4325" y="1984"/>
                <a:chExt cx="359" cy="452"/>
              </a:xfrm>
            </p:grpSpPr>
            <p:sp>
              <p:nvSpPr>
                <p:cNvPr id="10273" name="Freeform 73"/>
                <p:cNvSpPr>
                  <a:spLocks/>
                </p:cNvSpPr>
                <p:nvPr/>
              </p:nvSpPr>
              <p:spPr bwMode="auto">
                <a:xfrm>
                  <a:off x="4325" y="1984"/>
                  <a:ext cx="359" cy="452"/>
                </a:xfrm>
                <a:custGeom>
                  <a:avLst/>
                  <a:gdLst>
                    <a:gd name="T0" fmla="*/ 1 w 717"/>
                    <a:gd name="T1" fmla="*/ 0 h 906"/>
                    <a:gd name="T2" fmla="*/ 1 w 717"/>
                    <a:gd name="T3" fmla="*/ 0 h 906"/>
                    <a:gd name="T4" fmla="*/ 1 w 717"/>
                    <a:gd name="T5" fmla="*/ 0 h 906"/>
                    <a:gd name="T6" fmla="*/ 1 w 717"/>
                    <a:gd name="T7" fmla="*/ 0 h 906"/>
                    <a:gd name="T8" fmla="*/ 1 w 717"/>
                    <a:gd name="T9" fmla="*/ 0 h 906"/>
                    <a:gd name="T10" fmla="*/ 1 w 717"/>
                    <a:gd name="T11" fmla="*/ 0 h 906"/>
                    <a:gd name="T12" fmla="*/ 1 w 717"/>
                    <a:gd name="T13" fmla="*/ 0 h 906"/>
                    <a:gd name="T14" fmla="*/ 1 w 717"/>
                    <a:gd name="T15" fmla="*/ 0 h 906"/>
                    <a:gd name="T16" fmla="*/ 1 w 717"/>
                    <a:gd name="T17" fmla="*/ 0 h 906"/>
                    <a:gd name="T18" fmla="*/ 1 w 717"/>
                    <a:gd name="T19" fmla="*/ 0 h 906"/>
                    <a:gd name="T20" fmla="*/ 1 w 717"/>
                    <a:gd name="T21" fmla="*/ 0 h 906"/>
                    <a:gd name="T22" fmla="*/ 1 w 717"/>
                    <a:gd name="T23" fmla="*/ 0 h 906"/>
                    <a:gd name="T24" fmla="*/ 0 w 717"/>
                    <a:gd name="T25" fmla="*/ 0 h 906"/>
                    <a:gd name="T26" fmla="*/ 0 w 717"/>
                    <a:gd name="T27" fmla="*/ 0 h 906"/>
                    <a:gd name="T28" fmla="*/ 1 w 717"/>
                    <a:gd name="T29" fmla="*/ 0 h 906"/>
                    <a:gd name="T30" fmla="*/ 1 w 717"/>
                    <a:gd name="T31" fmla="*/ 0 h 906"/>
                    <a:gd name="T32" fmla="*/ 1 w 717"/>
                    <a:gd name="T33" fmla="*/ 0 h 906"/>
                    <a:gd name="T34" fmla="*/ 1 w 717"/>
                    <a:gd name="T35" fmla="*/ 0 h 906"/>
                    <a:gd name="T36" fmla="*/ 1 w 717"/>
                    <a:gd name="T37" fmla="*/ 0 h 906"/>
                    <a:gd name="T38" fmla="*/ 1 w 717"/>
                    <a:gd name="T39" fmla="*/ 0 h 906"/>
                    <a:gd name="T40" fmla="*/ 1 w 717"/>
                    <a:gd name="T41" fmla="*/ 0 h 906"/>
                    <a:gd name="T42" fmla="*/ 1 w 717"/>
                    <a:gd name="T43" fmla="*/ 0 h 906"/>
                    <a:gd name="T44" fmla="*/ 1 w 717"/>
                    <a:gd name="T45" fmla="*/ 0 h 906"/>
                    <a:gd name="T46" fmla="*/ 1 w 717"/>
                    <a:gd name="T47" fmla="*/ 0 h 906"/>
                    <a:gd name="T48" fmla="*/ 1 w 717"/>
                    <a:gd name="T49" fmla="*/ 0 h 906"/>
                    <a:gd name="T50" fmla="*/ 1 w 717"/>
                    <a:gd name="T51" fmla="*/ 0 h 906"/>
                    <a:gd name="T52" fmla="*/ 1 w 717"/>
                    <a:gd name="T53" fmla="*/ 0 h 906"/>
                    <a:gd name="T54" fmla="*/ 1 w 717"/>
                    <a:gd name="T55" fmla="*/ 0 h 906"/>
                    <a:gd name="T56" fmla="*/ 1 w 717"/>
                    <a:gd name="T57" fmla="*/ 0 h 906"/>
                    <a:gd name="T58" fmla="*/ 1 w 717"/>
                    <a:gd name="T59" fmla="*/ 0 h 906"/>
                    <a:gd name="T60" fmla="*/ 1 w 717"/>
                    <a:gd name="T61" fmla="*/ 0 h 906"/>
                    <a:gd name="T62" fmla="*/ 1 w 717"/>
                    <a:gd name="T63" fmla="*/ 0 h 906"/>
                    <a:gd name="T64" fmla="*/ 1 w 717"/>
                    <a:gd name="T65" fmla="*/ 0 h 906"/>
                    <a:gd name="T66" fmla="*/ 1 w 717"/>
                    <a:gd name="T67" fmla="*/ 0 h 906"/>
                    <a:gd name="T68" fmla="*/ 1 w 717"/>
                    <a:gd name="T69" fmla="*/ 0 h 906"/>
                    <a:gd name="T70" fmla="*/ 1 w 717"/>
                    <a:gd name="T71" fmla="*/ 0 h 906"/>
                    <a:gd name="T72" fmla="*/ 1 w 717"/>
                    <a:gd name="T73" fmla="*/ 0 h 90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17"/>
                    <a:gd name="T112" fmla="*/ 0 h 906"/>
                    <a:gd name="T113" fmla="*/ 717 w 717"/>
                    <a:gd name="T114" fmla="*/ 906 h 90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17" h="906">
                      <a:moveTo>
                        <a:pt x="568" y="604"/>
                      </a:moveTo>
                      <a:lnTo>
                        <a:pt x="488" y="663"/>
                      </a:lnTo>
                      <a:lnTo>
                        <a:pt x="302" y="411"/>
                      </a:lnTo>
                      <a:lnTo>
                        <a:pt x="362" y="367"/>
                      </a:lnTo>
                      <a:lnTo>
                        <a:pt x="189" y="133"/>
                      </a:lnTo>
                      <a:lnTo>
                        <a:pt x="148" y="164"/>
                      </a:lnTo>
                      <a:lnTo>
                        <a:pt x="33" y="7"/>
                      </a:lnTo>
                      <a:lnTo>
                        <a:pt x="27" y="3"/>
                      </a:lnTo>
                      <a:lnTo>
                        <a:pt x="21" y="0"/>
                      </a:lnTo>
                      <a:lnTo>
                        <a:pt x="14" y="0"/>
                      </a:lnTo>
                      <a:lnTo>
                        <a:pt x="7" y="4"/>
                      </a:lnTo>
                      <a:lnTo>
                        <a:pt x="3" y="10"/>
                      </a:lnTo>
                      <a:lnTo>
                        <a:pt x="0" y="15"/>
                      </a:lnTo>
                      <a:lnTo>
                        <a:pt x="0" y="22"/>
                      </a:lnTo>
                      <a:lnTo>
                        <a:pt x="4" y="29"/>
                      </a:lnTo>
                      <a:lnTo>
                        <a:pt x="119" y="185"/>
                      </a:lnTo>
                      <a:lnTo>
                        <a:pt x="71" y="220"/>
                      </a:lnTo>
                      <a:lnTo>
                        <a:pt x="71" y="229"/>
                      </a:lnTo>
                      <a:lnTo>
                        <a:pt x="71" y="234"/>
                      </a:lnTo>
                      <a:lnTo>
                        <a:pt x="72" y="248"/>
                      </a:lnTo>
                      <a:lnTo>
                        <a:pt x="74" y="270"/>
                      </a:lnTo>
                      <a:lnTo>
                        <a:pt x="79" y="299"/>
                      </a:lnTo>
                      <a:lnTo>
                        <a:pt x="86" y="335"/>
                      </a:lnTo>
                      <a:lnTo>
                        <a:pt x="96" y="375"/>
                      </a:lnTo>
                      <a:lnTo>
                        <a:pt x="112" y="420"/>
                      </a:lnTo>
                      <a:lnTo>
                        <a:pt x="133" y="468"/>
                      </a:lnTo>
                      <a:lnTo>
                        <a:pt x="158" y="520"/>
                      </a:lnTo>
                      <a:lnTo>
                        <a:pt x="192" y="575"/>
                      </a:lnTo>
                      <a:lnTo>
                        <a:pt x="232" y="631"/>
                      </a:lnTo>
                      <a:lnTo>
                        <a:pt x="280" y="687"/>
                      </a:lnTo>
                      <a:lnTo>
                        <a:pt x="338" y="742"/>
                      </a:lnTo>
                      <a:lnTo>
                        <a:pt x="405" y="798"/>
                      </a:lnTo>
                      <a:lnTo>
                        <a:pt x="482" y="851"/>
                      </a:lnTo>
                      <a:lnTo>
                        <a:pt x="571" y="901"/>
                      </a:lnTo>
                      <a:lnTo>
                        <a:pt x="580" y="906"/>
                      </a:lnTo>
                      <a:lnTo>
                        <a:pt x="717" y="806"/>
                      </a:lnTo>
                      <a:lnTo>
                        <a:pt x="568" y="6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74" name="Freeform 74"/>
                <p:cNvSpPr>
                  <a:spLocks/>
                </p:cNvSpPr>
                <p:nvPr/>
              </p:nvSpPr>
              <p:spPr bwMode="auto">
                <a:xfrm>
                  <a:off x="4378" y="2075"/>
                  <a:ext cx="281" cy="341"/>
                </a:xfrm>
                <a:custGeom>
                  <a:avLst/>
                  <a:gdLst>
                    <a:gd name="T0" fmla="*/ 1 w 562"/>
                    <a:gd name="T1" fmla="*/ 1 h 682"/>
                    <a:gd name="T2" fmla="*/ 1 w 562"/>
                    <a:gd name="T3" fmla="*/ 1 h 682"/>
                    <a:gd name="T4" fmla="*/ 1 w 562"/>
                    <a:gd name="T5" fmla="*/ 1 h 682"/>
                    <a:gd name="T6" fmla="*/ 1 w 562"/>
                    <a:gd name="T7" fmla="*/ 1 h 682"/>
                    <a:gd name="T8" fmla="*/ 1 w 562"/>
                    <a:gd name="T9" fmla="*/ 1 h 682"/>
                    <a:gd name="T10" fmla="*/ 1 w 562"/>
                    <a:gd name="T11" fmla="*/ 1 h 682"/>
                    <a:gd name="T12" fmla="*/ 1 w 562"/>
                    <a:gd name="T13" fmla="*/ 1 h 682"/>
                    <a:gd name="T14" fmla="*/ 1 w 562"/>
                    <a:gd name="T15" fmla="*/ 1 h 682"/>
                    <a:gd name="T16" fmla="*/ 1 w 562"/>
                    <a:gd name="T17" fmla="*/ 1 h 682"/>
                    <a:gd name="T18" fmla="*/ 1 w 562"/>
                    <a:gd name="T19" fmla="*/ 1 h 682"/>
                    <a:gd name="T20" fmla="*/ 1 w 562"/>
                    <a:gd name="T21" fmla="*/ 1 h 682"/>
                    <a:gd name="T22" fmla="*/ 1 w 562"/>
                    <a:gd name="T23" fmla="*/ 1 h 682"/>
                    <a:gd name="T24" fmla="*/ 1 w 562"/>
                    <a:gd name="T25" fmla="*/ 1 h 682"/>
                    <a:gd name="T26" fmla="*/ 1 w 562"/>
                    <a:gd name="T27" fmla="*/ 1 h 682"/>
                    <a:gd name="T28" fmla="*/ 1 w 562"/>
                    <a:gd name="T29" fmla="*/ 1 h 682"/>
                    <a:gd name="T30" fmla="*/ 1 w 562"/>
                    <a:gd name="T31" fmla="*/ 1 h 682"/>
                    <a:gd name="T32" fmla="*/ 0 w 562"/>
                    <a:gd name="T33" fmla="*/ 1 h 682"/>
                    <a:gd name="T34" fmla="*/ 1 w 562"/>
                    <a:gd name="T35" fmla="*/ 0 h 682"/>
                    <a:gd name="T36" fmla="*/ 1 w 562"/>
                    <a:gd name="T37" fmla="*/ 1 h 682"/>
                    <a:gd name="T38" fmla="*/ 1 w 562"/>
                    <a:gd name="T39" fmla="*/ 1 h 682"/>
                    <a:gd name="T40" fmla="*/ 1 w 562"/>
                    <a:gd name="T41" fmla="*/ 1 h 682"/>
                    <a:gd name="T42" fmla="*/ 1 w 562"/>
                    <a:gd name="T43" fmla="*/ 1 h 682"/>
                    <a:gd name="T44" fmla="*/ 1 w 562"/>
                    <a:gd name="T45" fmla="*/ 1 h 682"/>
                    <a:gd name="T46" fmla="*/ 1 w 562"/>
                    <a:gd name="T47" fmla="*/ 1 h 6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2"/>
                    <a:gd name="T73" fmla="*/ 0 h 682"/>
                    <a:gd name="T74" fmla="*/ 562 w 562"/>
                    <a:gd name="T75" fmla="*/ 682 h 68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2" h="682">
                      <a:moveTo>
                        <a:pt x="472" y="682"/>
                      </a:moveTo>
                      <a:lnTo>
                        <a:pt x="394" y="637"/>
                      </a:lnTo>
                      <a:lnTo>
                        <a:pt x="328" y="591"/>
                      </a:lnTo>
                      <a:lnTo>
                        <a:pt x="268" y="544"/>
                      </a:lnTo>
                      <a:lnTo>
                        <a:pt x="216" y="496"/>
                      </a:lnTo>
                      <a:lnTo>
                        <a:pt x="171" y="446"/>
                      </a:lnTo>
                      <a:lnTo>
                        <a:pt x="133" y="398"/>
                      </a:lnTo>
                      <a:lnTo>
                        <a:pt x="101" y="351"/>
                      </a:lnTo>
                      <a:lnTo>
                        <a:pt x="75" y="305"/>
                      </a:lnTo>
                      <a:lnTo>
                        <a:pt x="53" y="260"/>
                      </a:lnTo>
                      <a:lnTo>
                        <a:pt x="37" y="218"/>
                      </a:lnTo>
                      <a:lnTo>
                        <a:pt x="23" y="180"/>
                      </a:lnTo>
                      <a:lnTo>
                        <a:pt x="14" y="146"/>
                      </a:lnTo>
                      <a:lnTo>
                        <a:pt x="8" y="116"/>
                      </a:lnTo>
                      <a:lnTo>
                        <a:pt x="4" y="90"/>
                      </a:lnTo>
                      <a:lnTo>
                        <a:pt x="1" y="70"/>
                      </a:lnTo>
                      <a:lnTo>
                        <a:pt x="0" y="56"/>
                      </a:lnTo>
                      <a:lnTo>
                        <a:pt x="76" y="0"/>
                      </a:lnTo>
                      <a:lnTo>
                        <a:pt x="205" y="178"/>
                      </a:lnTo>
                      <a:lnTo>
                        <a:pt x="147" y="222"/>
                      </a:lnTo>
                      <a:lnTo>
                        <a:pt x="374" y="532"/>
                      </a:lnTo>
                      <a:lnTo>
                        <a:pt x="456" y="472"/>
                      </a:lnTo>
                      <a:lnTo>
                        <a:pt x="562" y="616"/>
                      </a:lnTo>
                      <a:lnTo>
                        <a:pt x="472" y="682"/>
                      </a:lnTo>
                      <a:close/>
                    </a:path>
                  </a:pathLst>
                </a:custGeom>
                <a:solidFill>
                  <a:srgbClr val="D39E5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grpSp>
        <p:nvGrpSpPr>
          <p:cNvPr id="10264" name="Group 75"/>
          <p:cNvGrpSpPr>
            <a:grpSpLocks/>
          </p:cNvGrpSpPr>
          <p:nvPr/>
        </p:nvGrpSpPr>
        <p:grpSpPr bwMode="auto">
          <a:xfrm>
            <a:off x="7723188" y="2897188"/>
            <a:ext cx="723900" cy="468312"/>
            <a:chOff x="2657" y="3160"/>
            <a:chExt cx="670" cy="433"/>
          </a:xfrm>
        </p:grpSpPr>
        <p:sp>
          <p:nvSpPr>
            <p:cNvPr id="10265" name="Freeform 76"/>
            <p:cNvSpPr>
              <a:spLocks/>
            </p:cNvSpPr>
            <p:nvPr/>
          </p:nvSpPr>
          <p:spPr bwMode="auto">
            <a:xfrm>
              <a:off x="2787" y="3160"/>
              <a:ext cx="249" cy="123"/>
            </a:xfrm>
            <a:custGeom>
              <a:avLst/>
              <a:gdLst>
                <a:gd name="T0" fmla="*/ 0 w 542"/>
                <a:gd name="T1" fmla="*/ 0 h 269"/>
                <a:gd name="T2" fmla="*/ 0 w 542"/>
                <a:gd name="T3" fmla="*/ 0 h 269"/>
                <a:gd name="T4" fmla="*/ 0 w 542"/>
                <a:gd name="T5" fmla="*/ 0 h 269"/>
                <a:gd name="T6" fmla="*/ 0 w 542"/>
                <a:gd name="T7" fmla="*/ 0 h 269"/>
                <a:gd name="T8" fmla="*/ 0 w 542"/>
                <a:gd name="T9" fmla="*/ 0 h 269"/>
                <a:gd name="T10" fmla="*/ 0 w 542"/>
                <a:gd name="T11" fmla="*/ 0 h 269"/>
                <a:gd name="T12" fmla="*/ 0 w 542"/>
                <a:gd name="T13" fmla="*/ 0 h 269"/>
                <a:gd name="T14" fmla="*/ 0 w 542"/>
                <a:gd name="T15" fmla="*/ 0 h 269"/>
                <a:gd name="T16" fmla="*/ 0 w 542"/>
                <a:gd name="T17" fmla="*/ 0 h 269"/>
                <a:gd name="T18" fmla="*/ 0 w 542"/>
                <a:gd name="T19" fmla="*/ 0 h 269"/>
                <a:gd name="T20" fmla="*/ 0 w 542"/>
                <a:gd name="T21" fmla="*/ 0 h 269"/>
                <a:gd name="T22" fmla="*/ 0 w 542"/>
                <a:gd name="T23" fmla="*/ 0 h 269"/>
                <a:gd name="T24" fmla="*/ 0 w 542"/>
                <a:gd name="T25" fmla="*/ 0 h 269"/>
                <a:gd name="T26" fmla="*/ 0 w 542"/>
                <a:gd name="T27" fmla="*/ 0 h 269"/>
                <a:gd name="T28" fmla="*/ 0 w 542"/>
                <a:gd name="T29" fmla="*/ 0 h 269"/>
                <a:gd name="T30" fmla="*/ 0 w 542"/>
                <a:gd name="T31" fmla="*/ 0 h 269"/>
                <a:gd name="T32" fmla="*/ 0 w 542"/>
                <a:gd name="T33" fmla="*/ 0 h 269"/>
                <a:gd name="T34" fmla="*/ 0 w 542"/>
                <a:gd name="T35" fmla="*/ 0 h 269"/>
                <a:gd name="T36" fmla="*/ 0 w 542"/>
                <a:gd name="T37" fmla="*/ 0 h 269"/>
                <a:gd name="T38" fmla="*/ 0 w 542"/>
                <a:gd name="T39" fmla="*/ 0 h 269"/>
                <a:gd name="T40" fmla="*/ 0 w 542"/>
                <a:gd name="T41" fmla="*/ 0 h 269"/>
                <a:gd name="T42" fmla="*/ 0 w 542"/>
                <a:gd name="T43" fmla="*/ 0 h 269"/>
                <a:gd name="T44" fmla="*/ 0 w 542"/>
                <a:gd name="T45" fmla="*/ 0 h 269"/>
                <a:gd name="T46" fmla="*/ 0 w 542"/>
                <a:gd name="T47" fmla="*/ 0 h 269"/>
                <a:gd name="T48" fmla="*/ 0 w 542"/>
                <a:gd name="T49" fmla="*/ 0 h 269"/>
                <a:gd name="T50" fmla="*/ 0 w 542"/>
                <a:gd name="T51" fmla="*/ 0 h 269"/>
                <a:gd name="T52" fmla="*/ 0 w 542"/>
                <a:gd name="T53" fmla="*/ 0 h 269"/>
                <a:gd name="T54" fmla="*/ 0 w 542"/>
                <a:gd name="T55" fmla="*/ 0 h 269"/>
                <a:gd name="T56" fmla="*/ 0 w 542"/>
                <a:gd name="T57" fmla="*/ 0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66" name="Freeform 77"/>
            <p:cNvSpPr>
              <a:spLocks/>
            </p:cNvSpPr>
            <p:nvPr/>
          </p:nvSpPr>
          <p:spPr bwMode="auto">
            <a:xfrm>
              <a:off x="2657" y="3468"/>
              <a:ext cx="249" cy="125"/>
            </a:xfrm>
            <a:custGeom>
              <a:avLst/>
              <a:gdLst>
                <a:gd name="T0" fmla="*/ 0 w 542"/>
                <a:gd name="T1" fmla="*/ 0 h 269"/>
                <a:gd name="T2" fmla="*/ 0 w 542"/>
                <a:gd name="T3" fmla="*/ 0 h 269"/>
                <a:gd name="T4" fmla="*/ 0 w 542"/>
                <a:gd name="T5" fmla="*/ 0 h 269"/>
                <a:gd name="T6" fmla="*/ 0 w 542"/>
                <a:gd name="T7" fmla="*/ 0 h 269"/>
                <a:gd name="T8" fmla="*/ 0 w 542"/>
                <a:gd name="T9" fmla="*/ 0 h 269"/>
                <a:gd name="T10" fmla="*/ 0 w 542"/>
                <a:gd name="T11" fmla="*/ 0 h 269"/>
                <a:gd name="T12" fmla="*/ 0 w 542"/>
                <a:gd name="T13" fmla="*/ 0 h 269"/>
                <a:gd name="T14" fmla="*/ 0 w 542"/>
                <a:gd name="T15" fmla="*/ 0 h 269"/>
                <a:gd name="T16" fmla="*/ 0 w 542"/>
                <a:gd name="T17" fmla="*/ 0 h 269"/>
                <a:gd name="T18" fmla="*/ 0 w 542"/>
                <a:gd name="T19" fmla="*/ 0 h 269"/>
                <a:gd name="T20" fmla="*/ 0 w 542"/>
                <a:gd name="T21" fmla="*/ 0 h 269"/>
                <a:gd name="T22" fmla="*/ 0 w 542"/>
                <a:gd name="T23" fmla="*/ 0 h 269"/>
                <a:gd name="T24" fmla="*/ 0 w 542"/>
                <a:gd name="T25" fmla="*/ 0 h 269"/>
                <a:gd name="T26" fmla="*/ 0 w 542"/>
                <a:gd name="T27" fmla="*/ 0 h 269"/>
                <a:gd name="T28" fmla="*/ 0 w 542"/>
                <a:gd name="T29" fmla="*/ 0 h 269"/>
                <a:gd name="T30" fmla="*/ 0 w 542"/>
                <a:gd name="T31" fmla="*/ 0 h 269"/>
                <a:gd name="T32" fmla="*/ 0 w 542"/>
                <a:gd name="T33" fmla="*/ 0 h 269"/>
                <a:gd name="T34" fmla="*/ 0 w 542"/>
                <a:gd name="T35" fmla="*/ 0 h 269"/>
                <a:gd name="T36" fmla="*/ 0 w 542"/>
                <a:gd name="T37" fmla="*/ 0 h 269"/>
                <a:gd name="T38" fmla="*/ 0 w 542"/>
                <a:gd name="T39" fmla="*/ 0 h 269"/>
                <a:gd name="T40" fmla="*/ 0 w 542"/>
                <a:gd name="T41" fmla="*/ 0 h 269"/>
                <a:gd name="T42" fmla="*/ 0 w 542"/>
                <a:gd name="T43" fmla="*/ 0 h 269"/>
                <a:gd name="T44" fmla="*/ 0 w 542"/>
                <a:gd name="T45" fmla="*/ 0 h 269"/>
                <a:gd name="T46" fmla="*/ 0 w 542"/>
                <a:gd name="T47" fmla="*/ 0 h 269"/>
                <a:gd name="T48" fmla="*/ 0 w 542"/>
                <a:gd name="T49" fmla="*/ 0 h 269"/>
                <a:gd name="T50" fmla="*/ 0 w 542"/>
                <a:gd name="T51" fmla="*/ 0 h 269"/>
                <a:gd name="T52" fmla="*/ 0 w 542"/>
                <a:gd name="T53" fmla="*/ 0 h 269"/>
                <a:gd name="T54" fmla="*/ 0 w 542"/>
                <a:gd name="T55" fmla="*/ 0 h 269"/>
                <a:gd name="T56" fmla="*/ 0 w 542"/>
                <a:gd name="T57" fmla="*/ 0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67" name="Freeform 78"/>
            <p:cNvSpPr>
              <a:spLocks/>
            </p:cNvSpPr>
            <p:nvPr/>
          </p:nvSpPr>
          <p:spPr bwMode="auto">
            <a:xfrm>
              <a:off x="2697" y="3226"/>
              <a:ext cx="298" cy="299"/>
            </a:xfrm>
            <a:custGeom>
              <a:avLst/>
              <a:gdLst>
                <a:gd name="T0" fmla="*/ 0 w 650"/>
                <a:gd name="T1" fmla="*/ 0 h 650"/>
                <a:gd name="T2" fmla="*/ 0 w 650"/>
                <a:gd name="T3" fmla="*/ 0 h 650"/>
                <a:gd name="T4" fmla="*/ 0 w 650"/>
                <a:gd name="T5" fmla="*/ 0 h 650"/>
                <a:gd name="T6" fmla="*/ 0 w 650"/>
                <a:gd name="T7" fmla="*/ 0 h 650"/>
                <a:gd name="T8" fmla="*/ 0 w 650"/>
                <a:gd name="T9" fmla="*/ 0 h 650"/>
                <a:gd name="T10" fmla="*/ 0 w 650"/>
                <a:gd name="T11" fmla="*/ 0 h 650"/>
                <a:gd name="T12" fmla="*/ 0 w 650"/>
                <a:gd name="T13" fmla="*/ 0 h 650"/>
                <a:gd name="T14" fmla="*/ 0 w 650"/>
                <a:gd name="T15" fmla="*/ 0 h 650"/>
                <a:gd name="T16" fmla="*/ 0 w 650"/>
                <a:gd name="T17" fmla="*/ 0 h 650"/>
                <a:gd name="T18" fmla="*/ 0 w 650"/>
                <a:gd name="T19" fmla="*/ 0 h 650"/>
                <a:gd name="T20" fmla="*/ 0 w 650"/>
                <a:gd name="T21" fmla="*/ 0 h 650"/>
                <a:gd name="T22" fmla="*/ 0 w 650"/>
                <a:gd name="T23" fmla="*/ 0 h 650"/>
                <a:gd name="T24" fmla="*/ 0 w 650"/>
                <a:gd name="T25" fmla="*/ 0 h 650"/>
                <a:gd name="T26" fmla="*/ 0 w 650"/>
                <a:gd name="T27" fmla="*/ 0 h 650"/>
                <a:gd name="T28" fmla="*/ 0 w 650"/>
                <a:gd name="T29" fmla="*/ 0 h 650"/>
                <a:gd name="T30" fmla="*/ 0 w 650"/>
                <a:gd name="T31" fmla="*/ 0 h 650"/>
                <a:gd name="T32" fmla="*/ 0 w 650"/>
                <a:gd name="T33" fmla="*/ 0 h 650"/>
                <a:gd name="T34" fmla="*/ 0 w 650"/>
                <a:gd name="T35" fmla="*/ 0 h 650"/>
                <a:gd name="T36" fmla="*/ 0 w 650"/>
                <a:gd name="T37" fmla="*/ 0 h 650"/>
                <a:gd name="T38" fmla="*/ 0 w 650"/>
                <a:gd name="T39" fmla="*/ 0 h 650"/>
                <a:gd name="T40" fmla="*/ 0 w 650"/>
                <a:gd name="T41" fmla="*/ 0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68" name="Freeform 79"/>
            <p:cNvSpPr>
              <a:spLocks/>
            </p:cNvSpPr>
            <p:nvPr/>
          </p:nvSpPr>
          <p:spPr bwMode="auto">
            <a:xfrm>
              <a:off x="2974" y="3396"/>
              <a:ext cx="353" cy="180"/>
            </a:xfrm>
            <a:custGeom>
              <a:avLst/>
              <a:gdLst>
                <a:gd name="T0" fmla="*/ 353 w 353"/>
                <a:gd name="T1" fmla="*/ 120 h 180"/>
                <a:gd name="T2" fmla="*/ 23 w 353"/>
                <a:gd name="T3" fmla="*/ 0 h 180"/>
                <a:gd name="T4" fmla="*/ 0 w 353"/>
                <a:gd name="T5" fmla="*/ 62 h 180"/>
                <a:gd name="T6" fmla="*/ 335 w 353"/>
                <a:gd name="T7" fmla="*/ 180 h 180"/>
                <a:gd name="T8" fmla="*/ 353 w 353"/>
                <a:gd name="T9" fmla="*/ 120 h 180"/>
                <a:gd name="T10" fmla="*/ 0 60000 65536"/>
                <a:gd name="T11" fmla="*/ 0 60000 65536"/>
                <a:gd name="T12" fmla="*/ 0 60000 65536"/>
                <a:gd name="T13" fmla="*/ 0 60000 65536"/>
                <a:gd name="T14" fmla="*/ 0 60000 65536"/>
                <a:gd name="T15" fmla="*/ 0 w 353"/>
                <a:gd name="T16" fmla="*/ 0 h 180"/>
                <a:gd name="T17" fmla="*/ 353 w 353"/>
                <a:gd name="T18" fmla="*/ 180 h 180"/>
              </a:gdLst>
              <a:ahLst/>
              <a:cxnLst>
                <a:cxn ang="T10">
                  <a:pos x="T0" y="T1"/>
                </a:cxn>
                <a:cxn ang="T11">
                  <a:pos x="T2" y="T3"/>
                </a:cxn>
                <a:cxn ang="T12">
                  <a:pos x="T4" y="T5"/>
                </a:cxn>
                <a:cxn ang="T13">
                  <a:pos x="T6" y="T7"/>
                </a:cxn>
                <a:cxn ang="T14">
                  <a:pos x="T8" y="T9"/>
                </a:cxn>
              </a:cxnLst>
              <a:rect l="T15" t="T16" r="T17" b="T18"/>
              <a:pathLst>
                <a:path w="353" h="180">
                  <a:moveTo>
                    <a:pt x="353" y="120"/>
                  </a:moveTo>
                  <a:lnTo>
                    <a:pt x="23" y="0"/>
                  </a:lnTo>
                  <a:lnTo>
                    <a:pt x="0" y="62"/>
                  </a:lnTo>
                  <a:lnTo>
                    <a:pt x="335" y="180"/>
                  </a:lnTo>
                  <a:lnTo>
                    <a:pt x="353" y="12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87" name="Text Box 28"/>
          <p:cNvSpPr txBox="1">
            <a:spLocks noChangeArrowheads="1"/>
          </p:cNvSpPr>
          <p:nvPr/>
        </p:nvSpPr>
        <p:spPr bwMode="auto">
          <a:xfrm>
            <a:off x="5619439" y="3454455"/>
            <a:ext cx="1708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dirty="0" smtClean="0"/>
              <a:t>Doctor</a:t>
            </a:r>
            <a:endParaRPr lang="en-US" sz="2000" b="1" dirty="0"/>
          </a:p>
        </p:txBody>
      </p:sp>
      <p:sp>
        <p:nvSpPr>
          <p:cNvPr id="88" name="Line 2"/>
          <p:cNvSpPr>
            <a:spLocks noChangeShapeType="1"/>
          </p:cNvSpPr>
          <p:nvPr/>
        </p:nvSpPr>
        <p:spPr bwMode="auto">
          <a:xfrm>
            <a:off x="6378908" y="1958657"/>
            <a:ext cx="0" cy="1071562"/>
          </a:xfrm>
          <a:prstGeom prst="line">
            <a:avLst/>
          </a:prstGeom>
          <a:noFill/>
          <a:ln w="28575">
            <a:solidFill>
              <a:srgbClr val="C0C0C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80" name="Group 25"/>
          <p:cNvGrpSpPr>
            <a:grpSpLocks/>
          </p:cNvGrpSpPr>
          <p:nvPr/>
        </p:nvGrpSpPr>
        <p:grpSpPr bwMode="auto">
          <a:xfrm>
            <a:off x="5795032" y="2312242"/>
            <a:ext cx="1011238" cy="1001713"/>
            <a:chOff x="3753" y="978"/>
            <a:chExt cx="637" cy="631"/>
          </a:xfrm>
        </p:grpSpPr>
        <p:sp>
          <p:nvSpPr>
            <p:cNvPr id="81" name="AutoShape 26"/>
            <p:cNvSpPr>
              <a:spLocks noChangeArrowheads="1"/>
            </p:cNvSpPr>
            <p:nvPr/>
          </p:nvSpPr>
          <p:spPr bwMode="auto">
            <a:xfrm>
              <a:off x="3830" y="1049"/>
              <a:ext cx="560" cy="560"/>
            </a:xfrm>
            <a:prstGeom prst="smileyFace">
              <a:avLst>
                <a:gd name="adj" fmla="val 602"/>
              </a:avLst>
            </a:prstGeom>
            <a:solidFill>
              <a:srgbClr val="FFCC99"/>
            </a:solidFill>
            <a:ln w="12700">
              <a:solidFill>
                <a:srgbClr val="000000"/>
              </a:solidFill>
              <a:round/>
              <a:headEnd/>
              <a:tailEnd/>
            </a:ln>
          </p:spPr>
          <p:txBody>
            <a:bodyPr wrap="none" anchor="ctr"/>
            <a:lstStyle/>
            <a:p>
              <a:pPr>
                <a:buClr>
                  <a:srgbClr val="FFFFFF"/>
                </a:buClr>
                <a:defRPr/>
              </a:pPr>
              <a:endParaRPr lang="en-US" kern="0">
                <a:latin typeface="Arial" pitchFamily="34" charset="0"/>
                <a:cs typeface="Arial" pitchFamily="34" charset="0"/>
              </a:endParaRPr>
            </a:p>
          </p:txBody>
        </p:sp>
        <p:sp>
          <p:nvSpPr>
            <p:cNvPr id="82" name="Freeform 27"/>
            <p:cNvSpPr>
              <a:spLocks/>
            </p:cNvSpPr>
            <p:nvPr/>
          </p:nvSpPr>
          <p:spPr bwMode="auto">
            <a:xfrm>
              <a:off x="3969" y="1118"/>
              <a:ext cx="382" cy="70"/>
            </a:xfrm>
            <a:custGeom>
              <a:avLst/>
              <a:gdLst>
                <a:gd name="T0" fmla="*/ 18 w 381"/>
                <a:gd name="T1" fmla="*/ 0 h 69"/>
                <a:gd name="T2" fmla="*/ 361 w 381"/>
                <a:gd name="T3" fmla="*/ 0 h 69"/>
                <a:gd name="T4" fmla="*/ 415 w 381"/>
                <a:gd name="T5" fmla="*/ 103 h 69"/>
                <a:gd name="T6" fmla="*/ 0 w 381"/>
                <a:gd name="T7" fmla="*/ 103 h 69"/>
                <a:gd name="T8" fmla="*/ 18 w 381"/>
                <a:gd name="T9" fmla="*/ 0 h 69"/>
                <a:gd name="T10" fmla="*/ 0 60000 65536"/>
                <a:gd name="T11" fmla="*/ 0 60000 65536"/>
                <a:gd name="T12" fmla="*/ 0 60000 65536"/>
                <a:gd name="T13" fmla="*/ 0 60000 65536"/>
                <a:gd name="T14" fmla="*/ 0 60000 65536"/>
                <a:gd name="T15" fmla="*/ 0 w 381"/>
                <a:gd name="T16" fmla="*/ 0 h 69"/>
                <a:gd name="T17" fmla="*/ 381 w 381"/>
                <a:gd name="T18" fmla="*/ 69 h 69"/>
              </a:gdLst>
              <a:ahLst/>
              <a:cxnLst>
                <a:cxn ang="T10">
                  <a:pos x="T0" y="T1"/>
                </a:cxn>
                <a:cxn ang="T11">
                  <a:pos x="T2" y="T3"/>
                </a:cxn>
                <a:cxn ang="T12">
                  <a:pos x="T4" y="T5"/>
                </a:cxn>
                <a:cxn ang="T13">
                  <a:pos x="T6" y="T7"/>
                </a:cxn>
                <a:cxn ang="T14">
                  <a:pos x="T8" y="T9"/>
                </a:cxn>
              </a:cxnLst>
              <a:rect l="T15" t="T16" r="T17" b="T18"/>
              <a:pathLst>
                <a:path w="381" h="69">
                  <a:moveTo>
                    <a:pt x="18" y="0"/>
                  </a:moveTo>
                  <a:lnTo>
                    <a:pt x="327" y="0"/>
                  </a:lnTo>
                  <a:lnTo>
                    <a:pt x="381" y="69"/>
                  </a:lnTo>
                  <a:lnTo>
                    <a:pt x="0" y="69"/>
                  </a:lnTo>
                  <a:lnTo>
                    <a:pt x="18" y="0"/>
                  </a:lnTo>
                  <a:close/>
                </a:path>
              </a:pathLst>
            </a:custGeom>
            <a:solidFill>
              <a:srgbClr val="D39E54"/>
            </a:solidFill>
            <a:ln w="12700">
              <a:solidFill>
                <a:srgbClr val="000000"/>
              </a:solidFill>
              <a:round/>
              <a:headEnd/>
              <a:tailEnd/>
            </a:ln>
          </p:spPr>
          <p:txBody>
            <a:bodyPr/>
            <a:lstStyle/>
            <a:p>
              <a:pPr algn="l">
                <a:spcBef>
                  <a:spcPct val="0"/>
                </a:spcBef>
                <a:spcAft>
                  <a:spcPct val="0"/>
                </a:spcAft>
                <a:buClrTx/>
                <a:defRPr/>
              </a:pPr>
              <a:endParaRPr lang="en-US" kern="0">
                <a:latin typeface="Arial" pitchFamily="34" charset="0"/>
                <a:cs typeface="Arial" pitchFamily="34" charset="0"/>
              </a:endParaRPr>
            </a:p>
          </p:txBody>
        </p:sp>
        <p:sp>
          <p:nvSpPr>
            <p:cNvPr id="83" name="Freeform 28"/>
            <p:cNvSpPr>
              <a:spLocks/>
            </p:cNvSpPr>
            <p:nvPr/>
          </p:nvSpPr>
          <p:spPr bwMode="auto">
            <a:xfrm>
              <a:off x="3753" y="978"/>
              <a:ext cx="276" cy="319"/>
            </a:xfrm>
            <a:custGeom>
              <a:avLst/>
              <a:gdLst>
                <a:gd name="T0" fmla="*/ 0 w 343"/>
                <a:gd name="T1" fmla="*/ 2 h 396"/>
                <a:gd name="T2" fmla="*/ 2 w 343"/>
                <a:gd name="T3" fmla="*/ 2 h 396"/>
                <a:gd name="T4" fmla="*/ 2 w 343"/>
                <a:gd name="T5" fmla="*/ 2 h 396"/>
                <a:gd name="T6" fmla="*/ 2 w 343"/>
                <a:gd name="T7" fmla="*/ 2 h 396"/>
                <a:gd name="T8" fmla="*/ 2 w 343"/>
                <a:gd name="T9" fmla="*/ 2 h 396"/>
                <a:gd name="T10" fmla="*/ 2 w 343"/>
                <a:gd name="T11" fmla="*/ 2 h 396"/>
                <a:gd name="T12" fmla="*/ 2 w 343"/>
                <a:gd name="T13" fmla="*/ 2 h 396"/>
                <a:gd name="T14" fmla="*/ 2 w 343"/>
                <a:gd name="T15" fmla="*/ 2 h 396"/>
                <a:gd name="T16" fmla="*/ 2 w 343"/>
                <a:gd name="T17" fmla="*/ 2 h 396"/>
                <a:gd name="T18" fmla="*/ 2 w 343"/>
                <a:gd name="T19" fmla="*/ 2 h 396"/>
                <a:gd name="T20" fmla="*/ 2 w 343"/>
                <a:gd name="T21" fmla="*/ 2 h 396"/>
                <a:gd name="T22" fmla="*/ 2 w 343"/>
                <a:gd name="T23" fmla="*/ 2 h 396"/>
                <a:gd name="T24" fmla="*/ 2 w 343"/>
                <a:gd name="T25" fmla="*/ 2 h 396"/>
                <a:gd name="T26" fmla="*/ 2 w 343"/>
                <a:gd name="T27" fmla="*/ 2 h 396"/>
                <a:gd name="T28" fmla="*/ 2 w 343"/>
                <a:gd name="T29" fmla="*/ 2 h 396"/>
                <a:gd name="T30" fmla="*/ 2 w 343"/>
                <a:gd name="T31" fmla="*/ 2 h 396"/>
                <a:gd name="T32" fmla="*/ 2 w 343"/>
                <a:gd name="T33" fmla="*/ 2 h 396"/>
                <a:gd name="T34" fmla="*/ 2 w 343"/>
                <a:gd name="T35" fmla="*/ 2 h 396"/>
                <a:gd name="T36" fmla="*/ 2 w 343"/>
                <a:gd name="T37" fmla="*/ 2 h 396"/>
                <a:gd name="T38" fmla="*/ 2 w 343"/>
                <a:gd name="T39" fmla="*/ 2 h 396"/>
                <a:gd name="T40" fmla="*/ 2 w 343"/>
                <a:gd name="T41" fmla="*/ 2 h 396"/>
                <a:gd name="T42" fmla="*/ 2 w 343"/>
                <a:gd name="T43" fmla="*/ 2 h 396"/>
                <a:gd name="T44" fmla="*/ 2 w 343"/>
                <a:gd name="T45" fmla="*/ 2 h 396"/>
                <a:gd name="T46" fmla="*/ 2 w 343"/>
                <a:gd name="T47" fmla="*/ 2 h 396"/>
                <a:gd name="T48" fmla="*/ 2 w 343"/>
                <a:gd name="T49" fmla="*/ 0 h 396"/>
                <a:gd name="T50" fmla="*/ 2 w 343"/>
                <a:gd name="T51" fmla="*/ 2 h 396"/>
                <a:gd name="T52" fmla="*/ 2 w 343"/>
                <a:gd name="T53" fmla="*/ 2 h 396"/>
                <a:gd name="T54" fmla="*/ 2 w 343"/>
                <a:gd name="T55" fmla="*/ 2 h 396"/>
                <a:gd name="T56" fmla="*/ 2 w 343"/>
                <a:gd name="T57" fmla="*/ 2 h 396"/>
                <a:gd name="T58" fmla="*/ 2 w 343"/>
                <a:gd name="T59" fmla="*/ 2 h 396"/>
                <a:gd name="T60" fmla="*/ 2 w 343"/>
                <a:gd name="T61" fmla="*/ 2 h 396"/>
                <a:gd name="T62" fmla="*/ 2 w 343"/>
                <a:gd name="T63" fmla="*/ 2 h 396"/>
                <a:gd name="T64" fmla="*/ 0 w 343"/>
                <a:gd name="T65" fmla="*/ 2 h 39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3"/>
                <a:gd name="T100" fmla="*/ 0 h 396"/>
                <a:gd name="T101" fmla="*/ 343 w 343"/>
                <a:gd name="T102" fmla="*/ 396 h 39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3" h="396">
                  <a:moveTo>
                    <a:pt x="0" y="197"/>
                  </a:moveTo>
                  <a:lnTo>
                    <a:pt x="3" y="238"/>
                  </a:lnTo>
                  <a:lnTo>
                    <a:pt x="13" y="274"/>
                  </a:lnTo>
                  <a:lnTo>
                    <a:pt x="29" y="309"/>
                  </a:lnTo>
                  <a:lnTo>
                    <a:pt x="51" y="338"/>
                  </a:lnTo>
                  <a:lnTo>
                    <a:pt x="76" y="363"/>
                  </a:lnTo>
                  <a:lnTo>
                    <a:pt x="105" y="380"/>
                  </a:lnTo>
                  <a:lnTo>
                    <a:pt x="137" y="392"/>
                  </a:lnTo>
                  <a:lnTo>
                    <a:pt x="171" y="396"/>
                  </a:lnTo>
                  <a:lnTo>
                    <a:pt x="206" y="392"/>
                  </a:lnTo>
                  <a:lnTo>
                    <a:pt x="238" y="380"/>
                  </a:lnTo>
                  <a:lnTo>
                    <a:pt x="267" y="363"/>
                  </a:lnTo>
                  <a:lnTo>
                    <a:pt x="292" y="338"/>
                  </a:lnTo>
                  <a:lnTo>
                    <a:pt x="314" y="309"/>
                  </a:lnTo>
                  <a:lnTo>
                    <a:pt x="330" y="274"/>
                  </a:lnTo>
                  <a:lnTo>
                    <a:pt x="340" y="238"/>
                  </a:lnTo>
                  <a:lnTo>
                    <a:pt x="343" y="197"/>
                  </a:lnTo>
                  <a:lnTo>
                    <a:pt x="340" y="158"/>
                  </a:lnTo>
                  <a:lnTo>
                    <a:pt x="330" y="120"/>
                  </a:lnTo>
                  <a:lnTo>
                    <a:pt x="314" y="87"/>
                  </a:lnTo>
                  <a:lnTo>
                    <a:pt x="292" y="58"/>
                  </a:lnTo>
                  <a:lnTo>
                    <a:pt x="267" y="33"/>
                  </a:lnTo>
                  <a:lnTo>
                    <a:pt x="238" y="16"/>
                  </a:lnTo>
                  <a:lnTo>
                    <a:pt x="206" y="4"/>
                  </a:lnTo>
                  <a:lnTo>
                    <a:pt x="171" y="0"/>
                  </a:lnTo>
                  <a:lnTo>
                    <a:pt x="137" y="4"/>
                  </a:lnTo>
                  <a:lnTo>
                    <a:pt x="105" y="16"/>
                  </a:lnTo>
                  <a:lnTo>
                    <a:pt x="76" y="33"/>
                  </a:lnTo>
                  <a:lnTo>
                    <a:pt x="51" y="58"/>
                  </a:lnTo>
                  <a:lnTo>
                    <a:pt x="29" y="87"/>
                  </a:lnTo>
                  <a:lnTo>
                    <a:pt x="13" y="120"/>
                  </a:lnTo>
                  <a:lnTo>
                    <a:pt x="3" y="158"/>
                  </a:lnTo>
                  <a:lnTo>
                    <a:pt x="0" y="197"/>
                  </a:lnTo>
                  <a:close/>
                </a:path>
              </a:pathLst>
            </a:custGeom>
            <a:solidFill>
              <a:srgbClr val="D39E54"/>
            </a:solidFill>
            <a:ln w="12700">
              <a:solidFill>
                <a:srgbClr val="000000"/>
              </a:solidFill>
              <a:round/>
              <a:headEnd/>
              <a:tailEnd/>
            </a:ln>
          </p:spPr>
          <p:txBody>
            <a:bodyPr/>
            <a:lstStyle/>
            <a:p>
              <a:pPr algn="l">
                <a:spcBef>
                  <a:spcPct val="0"/>
                </a:spcBef>
                <a:spcAft>
                  <a:spcPct val="0"/>
                </a:spcAft>
                <a:buClrTx/>
                <a:defRPr/>
              </a:pPr>
              <a:endParaRPr lang="en-US" kern="0">
                <a:latin typeface="Arial" pitchFamily="34" charset="0"/>
                <a:cs typeface="Arial" pitchFamily="34" charset="0"/>
              </a:endParaRPr>
            </a:p>
          </p:txBody>
        </p:sp>
        <p:sp>
          <p:nvSpPr>
            <p:cNvPr id="84" name="Freeform 29"/>
            <p:cNvSpPr>
              <a:spLocks/>
            </p:cNvSpPr>
            <p:nvPr/>
          </p:nvSpPr>
          <p:spPr bwMode="auto">
            <a:xfrm>
              <a:off x="3844" y="1100"/>
              <a:ext cx="73" cy="96"/>
            </a:xfrm>
            <a:custGeom>
              <a:avLst/>
              <a:gdLst>
                <a:gd name="T0" fmla="*/ 0 w 90"/>
                <a:gd name="T1" fmla="*/ 2 h 118"/>
                <a:gd name="T2" fmla="*/ 2 w 90"/>
                <a:gd name="T3" fmla="*/ 2 h 118"/>
                <a:gd name="T4" fmla="*/ 2 w 90"/>
                <a:gd name="T5" fmla="*/ 2 h 118"/>
                <a:gd name="T6" fmla="*/ 2 w 90"/>
                <a:gd name="T7" fmla="*/ 2 h 118"/>
                <a:gd name="T8" fmla="*/ 2 w 90"/>
                <a:gd name="T9" fmla="*/ 2 h 118"/>
                <a:gd name="T10" fmla="*/ 2 w 90"/>
                <a:gd name="T11" fmla="*/ 2 h 118"/>
                <a:gd name="T12" fmla="*/ 2 w 90"/>
                <a:gd name="T13" fmla="*/ 2 h 118"/>
                <a:gd name="T14" fmla="*/ 2 w 90"/>
                <a:gd name="T15" fmla="*/ 2 h 118"/>
                <a:gd name="T16" fmla="*/ 2 w 90"/>
                <a:gd name="T17" fmla="*/ 2 h 118"/>
                <a:gd name="T18" fmla="*/ 2 w 90"/>
                <a:gd name="T19" fmla="*/ 2 h 118"/>
                <a:gd name="T20" fmla="*/ 2 w 90"/>
                <a:gd name="T21" fmla="*/ 2 h 118"/>
                <a:gd name="T22" fmla="*/ 2 w 90"/>
                <a:gd name="T23" fmla="*/ 2 h 118"/>
                <a:gd name="T24" fmla="*/ 2 w 90"/>
                <a:gd name="T25" fmla="*/ 2 h 118"/>
                <a:gd name="T26" fmla="*/ 2 w 90"/>
                <a:gd name="T27" fmla="*/ 2 h 118"/>
                <a:gd name="T28" fmla="*/ 2 w 90"/>
                <a:gd name="T29" fmla="*/ 2 h 118"/>
                <a:gd name="T30" fmla="*/ 2 w 90"/>
                <a:gd name="T31" fmla="*/ 2 h 118"/>
                <a:gd name="T32" fmla="*/ 2 w 90"/>
                <a:gd name="T33" fmla="*/ 2 h 118"/>
                <a:gd name="T34" fmla="*/ 2 w 90"/>
                <a:gd name="T35" fmla="*/ 2 h 118"/>
                <a:gd name="T36" fmla="*/ 2 w 90"/>
                <a:gd name="T37" fmla="*/ 2 h 118"/>
                <a:gd name="T38" fmla="*/ 2 w 90"/>
                <a:gd name="T39" fmla="*/ 2 h 118"/>
                <a:gd name="T40" fmla="*/ 2 w 90"/>
                <a:gd name="T41" fmla="*/ 2 h 118"/>
                <a:gd name="T42" fmla="*/ 2 w 90"/>
                <a:gd name="T43" fmla="*/ 2 h 118"/>
                <a:gd name="T44" fmla="*/ 2 w 90"/>
                <a:gd name="T45" fmla="*/ 2 h 118"/>
                <a:gd name="T46" fmla="*/ 2 w 90"/>
                <a:gd name="T47" fmla="*/ 2 h 118"/>
                <a:gd name="T48" fmla="*/ 2 w 90"/>
                <a:gd name="T49" fmla="*/ 0 h 118"/>
                <a:gd name="T50" fmla="*/ 2 w 90"/>
                <a:gd name="T51" fmla="*/ 2 h 118"/>
                <a:gd name="T52" fmla="*/ 2 w 90"/>
                <a:gd name="T53" fmla="*/ 2 h 118"/>
                <a:gd name="T54" fmla="*/ 2 w 90"/>
                <a:gd name="T55" fmla="*/ 2 h 118"/>
                <a:gd name="T56" fmla="*/ 2 w 90"/>
                <a:gd name="T57" fmla="*/ 2 h 118"/>
                <a:gd name="T58" fmla="*/ 2 w 90"/>
                <a:gd name="T59" fmla="*/ 2 h 118"/>
                <a:gd name="T60" fmla="*/ 2 w 90"/>
                <a:gd name="T61" fmla="*/ 2 h 118"/>
                <a:gd name="T62" fmla="*/ 2 w 90"/>
                <a:gd name="T63" fmla="*/ 2 h 118"/>
                <a:gd name="T64" fmla="*/ 0 w 90"/>
                <a:gd name="T65" fmla="*/ 2 h 1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118"/>
                <a:gd name="T101" fmla="*/ 90 w 90"/>
                <a:gd name="T102" fmla="*/ 118 h 11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118">
                  <a:moveTo>
                    <a:pt x="0" y="60"/>
                  </a:moveTo>
                  <a:lnTo>
                    <a:pt x="2" y="71"/>
                  </a:lnTo>
                  <a:lnTo>
                    <a:pt x="3" y="83"/>
                  </a:lnTo>
                  <a:lnTo>
                    <a:pt x="8" y="92"/>
                  </a:lnTo>
                  <a:lnTo>
                    <a:pt x="13" y="101"/>
                  </a:lnTo>
                  <a:lnTo>
                    <a:pt x="21" y="108"/>
                  </a:lnTo>
                  <a:lnTo>
                    <a:pt x="28" y="114"/>
                  </a:lnTo>
                  <a:lnTo>
                    <a:pt x="37" y="117"/>
                  </a:lnTo>
                  <a:lnTo>
                    <a:pt x="45" y="118"/>
                  </a:lnTo>
                  <a:lnTo>
                    <a:pt x="54" y="117"/>
                  </a:lnTo>
                  <a:lnTo>
                    <a:pt x="63" y="114"/>
                  </a:lnTo>
                  <a:lnTo>
                    <a:pt x="70" y="108"/>
                  </a:lnTo>
                  <a:lnTo>
                    <a:pt x="77" y="101"/>
                  </a:lnTo>
                  <a:lnTo>
                    <a:pt x="83" y="92"/>
                  </a:lnTo>
                  <a:lnTo>
                    <a:pt x="87" y="83"/>
                  </a:lnTo>
                  <a:lnTo>
                    <a:pt x="89" y="71"/>
                  </a:lnTo>
                  <a:lnTo>
                    <a:pt x="90" y="60"/>
                  </a:lnTo>
                  <a:lnTo>
                    <a:pt x="89" y="48"/>
                  </a:lnTo>
                  <a:lnTo>
                    <a:pt x="87" y="37"/>
                  </a:lnTo>
                  <a:lnTo>
                    <a:pt x="83" y="26"/>
                  </a:lnTo>
                  <a:lnTo>
                    <a:pt x="77" y="18"/>
                  </a:lnTo>
                  <a:lnTo>
                    <a:pt x="70" y="10"/>
                  </a:lnTo>
                  <a:lnTo>
                    <a:pt x="63" y="5"/>
                  </a:lnTo>
                  <a:lnTo>
                    <a:pt x="54" y="2"/>
                  </a:lnTo>
                  <a:lnTo>
                    <a:pt x="45" y="0"/>
                  </a:lnTo>
                  <a:lnTo>
                    <a:pt x="37" y="2"/>
                  </a:lnTo>
                  <a:lnTo>
                    <a:pt x="28" y="5"/>
                  </a:lnTo>
                  <a:lnTo>
                    <a:pt x="21" y="10"/>
                  </a:lnTo>
                  <a:lnTo>
                    <a:pt x="13" y="18"/>
                  </a:lnTo>
                  <a:lnTo>
                    <a:pt x="8" y="26"/>
                  </a:lnTo>
                  <a:lnTo>
                    <a:pt x="3" y="37"/>
                  </a:lnTo>
                  <a:lnTo>
                    <a:pt x="2" y="48"/>
                  </a:lnTo>
                  <a:lnTo>
                    <a:pt x="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a:spcBef>
                  <a:spcPct val="0"/>
                </a:spcBef>
                <a:spcAft>
                  <a:spcPct val="0"/>
                </a:spcAft>
                <a:buClrTx/>
                <a:defRPr/>
              </a:pPr>
              <a:endParaRPr lang="en-US" kern="0">
                <a:latin typeface="Arial" pitchFamily="34" charset="0"/>
                <a:cs typeface="Arial" pitchFamily="34" charset="0"/>
              </a:endParaRPr>
            </a:p>
          </p:txBody>
        </p:sp>
        <p:sp>
          <p:nvSpPr>
            <p:cNvPr id="85" name="Freeform 30"/>
            <p:cNvSpPr>
              <a:spLocks/>
            </p:cNvSpPr>
            <p:nvPr/>
          </p:nvSpPr>
          <p:spPr bwMode="auto">
            <a:xfrm>
              <a:off x="3852" y="1108"/>
              <a:ext cx="57" cy="80"/>
            </a:xfrm>
            <a:custGeom>
              <a:avLst/>
              <a:gdLst>
                <a:gd name="T0" fmla="*/ 0 w 70"/>
                <a:gd name="T1" fmla="*/ 2 h 98"/>
                <a:gd name="T2" fmla="*/ 2 w 70"/>
                <a:gd name="T3" fmla="*/ 2 h 98"/>
                <a:gd name="T4" fmla="*/ 2 w 70"/>
                <a:gd name="T5" fmla="*/ 2 h 98"/>
                <a:gd name="T6" fmla="*/ 2 w 70"/>
                <a:gd name="T7" fmla="*/ 2 h 98"/>
                <a:gd name="T8" fmla="*/ 2 w 70"/>
                <a:gd name="T9" fmla="*/ 0 h 98"/>
                <a:gd name="T10" fmla="*/ 2 w 70"/>
                <a:gd name="T11" fmla="*/ 2 h 98"/>
                <a:gd name="T12" fmla="*/ 2 w 70"/>
                <a:gd name="T13" fmla="*/ 2 h 98"/>
                <a:gd name="T14" fmla="*/ 2 w 70"/>
                <a:gd name="T15" fmla="*/ 2 h 98"/>
                <a:gd name="T16" fmla="*/ 2 w 70"/>
                <a:gd name="T17" fmla="*/ 2 h 98"/>
                <a:gd name="T18" fmla="*/ 2 w 70"/>
                <a:gd name="T19" fmla="*/ 2 h 98"/>
                <a:gd name="T20" fmla="*/ 2 w 70"/>
                <a:gd name="T21" fmla="*/ 2 h 98"/>
                <a:gd name="T22" fmla="*/ 2 w 70"/>
                <a:gd name="T23" fmla="*/ 2 h 98"/>
                <a:gd name="T24" fmla="*/ 2 w 70"/>
                <a:gd name="T25" fmla="*/ 2 h 98"/>
                <a:gd name="T26" fmla="*/ 2 w 70"/>
                <a:gd name="T27" fmla="*/ 2 h 98"/>
                <a:gd name="T28" fmla="*/ 2 w 70"/>
                <a:gd name="T29" fmla="*/ 2 h 98"/>
                <a:gd name="T30" fmla="*/ 2 w 70"/>
                <a:gd name="T31" fmla="*/ 2 h 98"/>
                <a:gd name="T32" fmla="*/ 0 w 70"/>
                <a:gd name="T33" fmla="*/ 2 h 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0"/>
                <a:gd name="T52" fmla="*/ 0 h 98"/>
                <a:gd name="T53" fmla="*/ 70 w 70"/>
                <a:gd name="T54" fmla="*/ 98 h 9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0" h="98">
                  <a:moveTo>
                    <a:pt x="0" y="50"/>
                  </a:moveTo>
                  <a:lnTo>
                    <a:pt x="3" y="31"/>
                  </a:lnTo>
                  <a:lnTo>
                    <a:pt x="11" y="15"/>
                  </a:lnTo>
                  <a:lnTo>
                    <a:pt x="21" y="5"/>
                  </a:lnTo>
                  <a:lnTo>
                    <a:pt x="35" y="0"/>
                  </a:lnTo>
                  <a:lnTo>
                    <a:pt x="48" y="5"/>
                  </a:lnTo>
                  <a:lnTo>
                    <a:pt x="60" y="15"/>
                  </a:lnTo>
                  <a:lnTo>
                    <a:pt x="67" y="31"/>
                  </a:lnTo>
                  <a:lnTo>
                    <a:pt x="70" y="50"/>
                  </a:lnTo>
                  <a:lnTo>
                    <a:pt x="67" y="69"/>
                  </a:lnTo>
                  <a:lnTo>
                    <a:pt x="60" y="83"/>
                  </a:lnTo>
                  <a:lnTo>
                    <a:pt x="48" y="93"/>
                  </a:lnTo>
                  <a:lnTo>
                    <a:pt x="35" y="98"/>
                  </a:lnTo>
                  <a:lnTo>
                    <a:pt x="21" y="93"/>
                  </a:lnTo>
                  <a:lnTo>
                    <a:pt x="11" y="83"/>
                  </a:lnTo>
                  <a:lnTo>
                    <a:pt x="3" y="69"/>
                  </a:lnTo>
                  <a:lnTo>
                    <a:pt x="0" y="5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a:spcBef>
                  <a:spcPct val="0"/>
                </a:spcBef>
                <a:spcAft>
                  <a:spcPct val="0"/>
                </a:spcAft>
                <a:buClrTx/>
                <a:defRPr/>
              </a:pPr>
              <a:endParaRPr lang="en-US" kern="0">
                <a:latin typeface="Arial" pitchFamily="34" charset="0"/>
                <a:cs typeface="Arial" pitchFamily="34" charset="0"/>
              </a:endParaRPr>
            </a:p>
          </p:txBody>
        </p:sp>
        <p:sp>
          <p:nvSpPr>
            <p:cNvPr id="86" name="Freeform 31"/>
            <p:cNvSpPr>
              <a:spLocks/>
            </p:cNvSpPr>
            <p:nvPr/>
          </p:nvSpPr>
          <p:spPr bwMode="auto">
            <a:xfrm>
              <a:off x="3903" y="1044"/>
              <a:ext cx="63" cy="150"/>
            </a:xfrm>
            <a:custGeom>
              <a:avLst/>
              <a:gdLst>
                <a:gd name="T0" fmla="*/ 42 w 63"/>
                <a:gd name="T1" fmla="*/ 150 h 150"/>
                <a:gd name="T2" fmla="*/ 60 w 63"/>
                <a:gd name="T3" fmla="*/ 108 h 150"/>
                <a:gd name="T4" fmla="*/ 63 w 63"/>
                <a:gd name="T5" fmla="*/ 66 h 150"/>
                <a:gd name="T6" fmla="*/ 51 w 63"/>
                <a:gd name="T7" fmla="*/ 36 h 150"/>
                <a:gd name="T8" fmla="*/ 36 w 63"/>
                <a:gd name="T9" fmla="*/ 18 h 150"/>
                <a:gd name="T10" fmla="*/ 18 w 63"/>
                <a:gd name="T11" fmla="*/ 6 h 150"/>
                <a:gd name="T12" fmla="*/ 0 w 63"/>
                <a:gd name="T13" fmla="*/ 0 h 150"/>
                <a:gd name="T14" fmla="*/ 0 60000 65536"/>
                <a:gd name="T15" fmla="*/ 0 60000 65536"/>
                <a:gd name="T16" fmla="*/ 0 60000 65536"/>
                <a:gd name="T17" fmla="*/ 0 60000 65536"/>
                <a:gd name="T18" fmla="*/ 0 60000 65536"/>
                <a:gd name="T19" fmla="*/ 0 60000 65536"/>
                <a:gd name="T20" fmla="*/ 0 60000 65536"/>
                <a:gd name="T21" fmla="*/ 0 w 63"/>
                <a:gd name="T22" fmla="*/ 0 h 150"/>
                <a:gd name="T23" fmla="*/ 63 w 63"/>
                <a:gd name="T24" fmla="*/ 150 h 15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3" h="150">
                  <a:moveTo>
                    <a:pt x="42" y="150"/>
                  </a:moveTo>
                  <a:lnTo>
                    <a:pt x="60" y="108"/>
                  </a:lnTo>
                  <a:lnTo>
                    <a:pt x="63" y="66"/>
                  </a:lnTo>
                  <a:lnTo>
                    <a:pt x="51" y="36"/>
                  </a:lnTo>
                  <a:lnTo>
                    <a:pt x="36" y="18"/>
                  </a:lnTo>
                  <a:lnTo>
                    <a:pt x="18" y="6"/>
                  </a:ln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pPr algn="l">
                <a:spcBef>
                  <a:spcPct val="0"/>
                </a:spcBef>
                <a:spcAft>
                  <a:spcPct val="0"/>
                </a:spcAft>
                <a:buClrTx/>
                <a:defRPr/>
              </a:pPr>
              <a:endParaRPr lang="en-US" kern="0">
                <a:latin typeface="Arial" pitchFamily="34" charset="0"/>
                <a:cs typeface="Arial" pitchFamily="34" charset="0"/>
              </a:endParaRPr>
            </a:p>
          </p:txBody>
        </p:sp>
      </p:grpSp>
    </p:spTree>
    <p:extLst>
      <p:ext uri="{BB962C8B-B14F-4D97-AF65-F5344CB8AC3E}">
        <p14:creationId xmlns:p14="http://schemas.microsoft.com/office/powerpoint/2010/main" val="3174131971"/>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|EOS~008|</a:t>
            </a:r>
            <a:endParaRPr lang="en-US" sz="100" dirty="0" err="1" smtClean="0">
              <a:solidFill>
                <a:srgbClr val="FFFFFF"/>
              </a:solidFill>
              <a:latin typeface="Arial"/>
              <a:cs typeface="Calibri" pitchFamily="34" charset="0"/>
            </a:endParaRPr>
          </a:p>
        </p:txBody>
      </p:sp>
      <p:sp>
        <p:nvSpPr>
          <p:cNvPr id="11266" name="Rectangle 2"/>
          <p:cNvSpPr>
            <a:spLocks noGrp="1" noChangeArrowheads="1"/>
          </p:cNvSpPr>
          <p:nvPr>
            <p:ph type="title"/>
          </p:nvPr>
        </p:nvSpPr>
        <p:spPr>
          <a:xfrm>
            <a:off x="495300" y="120650"/>
            <a:ext cx="4260850" cy="1154113"/>
          </a:xfrm>
        </p:spPr>
        <p:txBody>
          <a:bodyPr/>
          <a:lstStyle/>
          <a:p>
            <a:pPr eaLnBrk="1" hangingPunct="1"/>
            <a:r>
              <a:rPr lang="en-US" smtClean="0"/>
              <a:t>The contact subtype hierarchy</a:t>
            </a:r>
          </a:p>
        </p:txBody>
      </p:sp>
      <p:sp>
        <p:nvSpPr>
          <p:cNvPr id="11267" name="Line 3"/>
          <p:cNvSpPr>
            <a:spLocks noChangeShapeType="1"/>
          </p:cNvSpPr>
          <p:nvPr/>
        </p:nvSpPr>
        <p:spPr bwMode="auto">
          <a:xfrm>
            <a:off x="3040063" y="1249363"/>
            <a:ext cx="5002212"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68" name="Line 4"/>
          <p:cNvSpPr>
            <a:spLocks noChangeShapeType="1"/>
          </p:cNvSpPr>
          <p:nvPr/>
        </p:nvSpPr>
        <p:spPr bwMode="auto">
          <a:xfrm flipV="1">
            <a:off x="5730875" y="1233488"/>
            <a:ext cx="0" cy="488632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69" name="Line 5"/>
          <p:cNvSpPr>
            <a:spLocks noChangeShapeType="1"/>
          </p:cNvSpPr>
          <p:nvPr/>
        </p:nvSpPr>
        <p:spPr bwMode="auto">
          <a:xfrm flipV="1">
            <a:off x="8047038" y="1233488"/>
            <a:ext cx="0" cy="127635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70" name="Line 6"/>
          <p:cNvSpPr>
            <a:spLocks noChangeShapeType="1"/>
          </p:cNvSpPr>
          <p:nvPr/>
        </p:nvSpPr>
        <p:spPr bwMode="auto">
          <a:xfrm flipV="1">
            <a:off x="5719763" y="1076325"/>
            <a:ext cx="0" cy="1730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1271" name="Group 7"/>
          <p:cNvGrpSpPr>
            <a:grpSpLocks/>
          </p:cNvGrpSpPr>
          <p:nvPr/>
        </p:nvGrpSpPr>
        <p:grpSpPr bwMode="auto">
          <a:xfrm>
            <a:off x="4992688" y="2517775"/>
            <a:ext cx="1576387" cy="711200"/>
            <a:chOff x="3541" y="2201"/>
            <a:chExt cx="993" cy="448"/>
          </a:xfrm>
        </p:grpSpPr>
        <p:sp>
          <p:nvSpPr>
            <p:cNvPr id="11381" name="AutoShape 8"/>
            <p:cNvSpPr>
              <a:spLocks noChangeArrowheads="1"/>
            </p:cNvSpPr>
            <p:nvPr/>
          </p:nvSpPr>
          <p:spPr bwMode="auto">
            <a:xfrm>
              <a:off x="3541" y="2201"/>
              <a:ext cx="993" cy="448"/>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11382" name="Text Box 9"/>
            <p:cNvSpPr txBox="1">
              <a:spLocks noChangeArrowheads="1"/>
            </p:cNvSpPr>
            <p:nvPr/>
          </p:nvSpPr>
          <p:spPr bwMode="auto">
            <a:xfrm>
              <a:off x="3636" y="2233"/>
              <a:ext cx="804" cy="384"/>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a:t>Company Vendor</a:t>
              </a:r>
            </a:p>
          </p:txBody>
        </p:sp>
      </p:grpSp>
      <p:grpSp>
        <p:nvGrpSpPr>
          <p:cNvPr id="11272" name="Group 10"/>
          <p:cNvGrpSpPr>
            <a:grpSpLocks/>
          </p:cNvGrpSpPr>
          <p:nvPr/>
        </p:nvGrpSpPr>
        <p:grpSpPr bwMode="auto">
          <a:xfrm>
            <a:off x="7251700" y="2517775"/>
            <a:ext cx="1576388" cy="711200"/>
            <a:chOff x="4614" y="2201"/>
            <a:chExt cx="993" cy="448"/>
          </a:xfrm>
        </p:grpSpPr>
        <p:sp>
          <p:nvSpPr>
            <p:cNvPr id="11379" name="AutoShape 11"/>
            <p:cNvSpPr>
              <a:spLocks noChangeArrowheads="1"/>
            </p:cNvSpPr>
            <p:nvPr/>
          </p:nvSpPr>
          <p:spPr bwMode="auto">
            <a:xfrm>
              <a:off x="4614" y="2201"/>
              <a:ext cx="993" cy="448"/>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11380" name="Text Box 12"/>
            <p:cNvSpPr txBox="1">
              <a:spLocks noChangeArrowheads="1"/>
            </p:cNvSpPr>
            <p:nvPr/>
          </p:nvSpPr>
          <p:spPr bwMode="auto">
            <a:xfrm>
              <a:off x="4709" y="2233"/>
              <a:ext cx="804" cy="384"/>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a:t>Legal</a:t>
              </a:r>
              <a:br>
                <a:rPr lang="en-US" sz="2000" b="1"/>
              </a:br>
              <a:r>
                <a:rPr lang="en-US" sz="2000" b="1"/>
                <a:t>Venue</a:t>
              </a:r>
            </a:p>
          </p:txBody>
        </p:sp>
      </p:grpSp>
      <p:grpSp>
        <p:nvGrpSpPr>
          <p:cNvPr id="11273" name="Group 13"/>
          <p:cNvGrpSpPr>
            <a:grpSpLocks/>
          </p:cNvGrpSpPr>
          <p:nvPr/>
        </p:nvGrpSpPr>
        <p:grpSpPr bwMode="auto">
          <a:xfrm>
            <a:off x="4886325" y="374650"/>
            <a:ext cx="1671638" cy="711200"/>
            <a:chOff x="2524" y="2022"/>
            <a:chExt cx="1053" cy="448"/>
          </a:xfrm>
        </p:grpSpPr>
        <p:sp>
          <p:nvSpPr>
            <p:cNvPr id="11377" name="AutoShape 14"/>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11378" name="Text Box 15"/>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dirty="0"/>
                <a:t>Contact</a:t>
              </a:r>
            </a:p>
          </p:txBody>
        </p:sp>
      </p:grpSp>
      <p:grpSp>
        <p:nvGrpSpPr>
          <p:cNvPr id="11274" name="Group 16"/>
          <p:cNvGrpSpPr>
            <a:grpSpLocks/>
          </p:cNvGrpSpPr>
          <p:nvPr/>
        </p:nvGrpSpPr>
        <p:grpSpPr bwMode="auto">
          <a:xfrm>
            <a:off x="4949827" y="1427169"/>
            <a:ext cx="1576389" cy="711200"/>
            <a:chOff x="2024" y="2871"/>
            <a:chExt cx="993" cy="448"/>
          </a:xfrm>
        </p:grpSpPr>
        <p:sp>
          <p:nvSpPr>
            <p:cNvPr id="11375" name="AutoShape 17"/>
            <p:cNvSpPr>
              <a:spLocks noChangeArrowheads="1"/>
            </p:cNvSpPr>
            <p:nvPr/>
          </p:nvSpPr>
          <p:spPr bwMode="auto">
            <a:xfrm>
              <a:off x="2024" y="2871"/>
              <a:ext cx="993" cy="448"/>
            </a:xfrm>
            <a:prstGeom prst="roundRect">
              <a:avLst>
                <a:gd name="adj" fmla="val 16667"/>
              </a:avLst>
            </a:prstGeom>
            <a:solidFill>
              <a:srgbClr val="FF9999"/>
            </a:solidFill>
            <a:ln w="12700" algn="ctr">
              <a:solidFill>
                <a:schemeClr val="bg1"/>
              </a:solidFill>
              <a:round/>
              <a:headEnd/>
              <a:tailEnd/>
            </a:ln>
          </p:spPr>
          <p:txBody>
            <a:bodyPr lIns="0" tIns="0" rIns="0" bIns="0" anchor="ctr">
              <a:spAutoFit/>
            </a:bodyPr>
            <a:lstStyle/>
            <a:p>
              <a:endParaRPr lang="en-US"/>
            </a:p>
          </p:txBody>
        </p:sp>
        <p:sp>
          <p:nvSpPr>
            <p:cNvPr id="11376" name="Text Box 18"/>
            <p:cNvSpPr txBox="1">
              <a:spLocks noChangeArrowheads="1"/>
            </p:cNvSpPr>
            <p:nvPr/>
          </p:nvSpPr>
          <p:spPr bwMode="auto">
            <a:xfrm>
              <a:off x="2119" y="2999"/>
              <a:ext cx="804" cy="192"/>
            </a:xfrm>
            <a:prstGeom prst="rect">
              <a:avLst/>
            </a:prstGeom>
            <a:solidFill>
              <a:srgbClr val="FF99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dirty="0"/>
                <a:t>Company</a:t>
              </a:r>
            </a:p>
          </p:txBody>
        </p:sp>
      </p:grpSp>
      <p:grpSp>
        <p:nvGrpSpPr>
          <p:cNvPr id="11275" name="Group 19"/>
          <p:cNvGrpSpPr>
            <a:grpSpLocks/>
          </p:cNvGrpSpPr>
          <p:nvPr/>
        </p:nvGrpSpPr>
        <p:grpSpPr bwMode="auto">
          <a:xfrm>
            <a:off x="7251700" y="1427163"/>
            <a:ext cx="1576388" cy="711200"/>
            <a:chOff x="2024" y="2871"/>
            <a:chExt cx="993" cy="448"/>
          </a:xfrm>
        </p:grpSpPr>
        <p:sp>
          <p:nvSpPr>
            <p:cNvPr id="11373" name="AutoShape 20"/>
            <p:cNvSpPr>
              <a:spLocks noChangeArrowheads="1"/>
            </p:cNvSpPr>
            <p:nvPr/>
          </p:nvSpPr>
          <p:spPr bwMode="auto">
            <a:xfrm>
              <a:off x="2024" y="2871"/>
              <a:ext cx="993" cy="448"/>
            </a:xfrm>
            <a:prstGeom prst="roundRect">
              <a:avLst>
                <a:gd name="adj" fmla="val 16667"/>
              </a:avLst>
            </a:prstGeom>
            <a:solidFill>
              <a:srgbClr val="FF9999"/>
            </a:solidFill>
            <a:ln w="12700" algn="ctr">
              <a:solidFill>
                <a:schemeClr val="bg1"/>
              </a:solidFill>
              <a:round/>
              <a:headEnd/>
              <a:tailEnd/>
            </a:ln>
          </p:spPr>
          <p:txBody>
            <a:bodyPr lIns="0" tIns="0" rIns="0" bIns="0" anchor="ctr">
              <a:spAutoFit/>
            </a:bodyPr>
            <a:lstStyle/>
            <a:p>
              <a:endParaRPr lang="en-US"/>
            </a:p>
          </p:txBody>
        </p:sp>
        <p:sp>
          <p:nvSpPr>
            <p:cNvPr id="11374" name="Text Box 21"/>
            <p:cNvSpPr txBox="1">
              <a:spLocks noChangeArrowheads="1"/>
            </p:cNvSpPr>
            <p:nvPr/>
          </p:nvSpPr>
          <p:spPr bwMode="auto">
            <a:xfrm>
              <a:off x="2119" y="2999"/>
              <a:ext cx="804" cy="192"/>
            </a:xfrm>
            <a:prstGeom prst="rect">
              <a:avLst/>
            </a:prstGeom>
            <a:solidFill>
              <a:srgbClr val="FF99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dirty="0" smtClean="0"/>
                <a:t>Place</a:t>
              </a:r>
              <a:endParaRPr lang="en-US" sz="2000" b="1" dirty="0"/>
            </a:p>
          </p:txBody>
        </p:sp>
      </p:grpSp>
      <p:sp>
        <p:nvSpPr>
          <p:cNvPr id="11276" name="Line 22"/>
          <p:cNvSpPr>
            <a:spLocks noChangeShapeType="1"/>
          </p:cNvSpPr>
          <p:nvPr/>
        </p:nvSpPr>
        <p:spPr bwMode="auto">
          <a:xfrm>
            <a:off x="5724525" y="3824288"/>
            <a:ext cx="377825"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77" name="Line 23"/>
          <p:cNvSpPr>
            <a:spLocks noChangeShapeType="1"/>
          </p:cNvSpPr>
          <p:nvPr/>
        </p:nvSpPr>
        <p:spPr bwMode="auto">
          <a:xfrm>
            <a:off x="5724525" y="4576763"/>
            <a:ext cx="377825"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78" name="Line 24"/>
          <p:cNvSpPr>
            <a:spLocks noChangeShapeType="1"/>
          </p:cNvSpPr>
          <p:nvPr/>
        </p:nvSpPr>
        <p:spPr bwMode="auto">
          <a:xfrm>
            <a:off x="5724525" y="5357813"/>
            <a:ext cx="377825"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79" name="Line 25"/>
          <p:cNvSpPr>
            <a:spLocks noChangeShapeType="1"/>
          </p:cNvSpPr>
          <p:nvPr/>
        </p:nvSpPr>
        <p:spPr bwMode="auto">
          <a:xfrm>
            <a:off x="5724525" y="6110288"/>
            <a:ext cx="377825"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1280" name="Group 26"/>
          <p:cNvGrpSpPr>
            <a:grpSpLocks/>
          </p:cNvGrpSpPr>
          <p:nvPr/>
        </p:nvGrpSpPr>
        <p:grpSpPr bwMode="auto">
          <a:xfrm>
            <a:off x="6048375" y="4232275"/>
            <a:ext cx="1671638" cy="711200"/>
            <a:chOff x="1773" y="3296"/>
            <a:chExt cx="1053" cy="448"/>
          </a:xfrm>
        </p:grpSpPr>
        <p:sp>
          <p:nvSpPr>
            <p:cNvPr id="11371" name="AutoShape 27"/>
            <p:cNvSpPr>
              <a:spLocks noChangeArrowheads="1"/>
            </p:cNvSpPr>
            <p:nvPr/>
          </p:nvSpPr>
          <p:spPr bwMode="auto">
            <a:xfrm>
              <a:off x="1773" y="3296"/>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11372" name="Text Box 28"/>
            <p:cNvSpPr txBox="1">
              <a:spLocks noChangeArrowheads="1"/>
            </p:cNvSpPr>
            <p:nvPr/>
          </p:nvSpPr>
          <p:spPr bwMode="auto">
            <a:xfrm>
              <a:off x="1808" y="3327"/>
              <a:ext cx="983" cy="384"/>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a:t>Medical Care Org</a:t>
              </a:r>
            </a:p>
          </p:txBody>
        </p:sp>
      </p:grpSp>
      <p:grpSp>
        <p:nvGrpSpPr>
          <p:cNvPr id="11281" name="Group 29"/>
          <p:cNvGrpSpPr>
            <a:grpSpLocks/>
          </p:cNvGrpSpPr>
          <p:nvPr/>
        </p:nvGrpSpPr>
        <p:grpSpPr bwMode="auto">
          <a:xfrm>
            <a:off x="6048375" y="3470275"/>
            <a:ext cx="1671638" cy="711200"/>
            <a:chOff x="2524" y="2022"/>
            <a:chExt cx="1053" cy="448"/>
          </a:xfrm>
        </p:grpSpPr>
        <p:sp>
          <p:nvSpPr>
            <p:cNvPr id="11369" name="AutoShape 30"/>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11370" name="Text Box 31"/>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a:t>Law Firm</a:t>
              </a:r>
            </a:p>
          </p:txBody>
        </p:sp>
      </p:grpSp>
      <p:grpSp>
        <p:nvGrpSpPr>
          <p:cNvPr id="11282" name="Group 32"/>
          <p:cNvGrpSpPr>
            <a:grpSpLocks/>
          </p:cNvGrpSpPr>
          <p:nvPr/>
        </p:nvGrpSpPr>
        <p:grpSpPr bwMode="auto">
          <a:xfrm>
            <a:off x="6048375" y="4994275"/>
            <a:ext cx="1671638" cy="711200"/>
            <a:chOff x="2524" y="2022"/>
            <a:chExt cx="1053" cy="448"/>
          </a:xfrm>
        </p:grpSpPr>
        <p:sp>
          <p:nvSpPr>
            <p:cNvPr id="11367" name="AutoShape 33"/>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11368" name="Text Box 34"/>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a:t>Auto Towing</a:t>
              </a:r>
            </a:p>
          </p:txBody>
        </p:sp>
      </p:grpSp>
      <p:grpSp>
        <p:nvGrpSpPr>
          <p:cNvPr id="11283" name="Group 35"/>
          <p:cNvGrpSpPr>
            <a:grpSpLocks/>
          </p:cNvGrpSpPr>
          <p:nvPr/>
        </p:nvGrpSpPr>
        <p:grpSpPr bwMode="auto">
          <a:xfrm>
            <a:off x="6048375" y="5757863"/>
            <a:ext cx="1671638" cy="711200"/>
            <a:chOff x="2524" y="2022"/>
            <a:chExt cx="1053" cy="448"/>
          </a:xfrm>
        </p:grpSpPr>
        <p:sp>
          <p:nvSpPr>
            <p:cNvPr id="11365" name="AutoShape 36"/>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11366" name="Text Box 37"/>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a:t>Auto Repair</a:t>
              </a:r>
            </a:p>
          </p:txBody>
        </p:sp>
      </p:grpSp>
      <p:sp>
        <p:nvSpPr>
          <p:cNvPr id="11284" name="Line 38"/>
          <p:cNvSpPr>
            <a:spLocks noChangeShapeType="1"/>
          </p:cNvSpPr>
          <p:nvPr/>
        </p:nvSpPr>
        <p:spPr bwMode="auto">
          <a:xfrm>
            <a:off x="3927475" y="2320925"/>
            <a:ext cx="0" cy="62230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85" name="Line 39"/>
          <p:cNvSpPr>
            <a:spLocks noChangeShapeType="1"/>
          </p:cNvSpPr>
          <p:nvPr/>
        </p:nvSpPr>
        <p:spPr bwMode="auto">
          <a:xfrm>
            <a:off x="2173288" y="2320925"/>
            <a:ext cx="1770062"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86" name="Line 40"/>
          <p:cNvSpPr>
            <a:spLocks noChangeShapeType="1"/>
          </p:cNvSpPr>
          <p:nvPr/>
        </p:nvSpPr>
        <p:spPr bwMode="auto">
          <a:xfrm>
            <a:off x="2154238" y="3254375"/>
            <a:ext cx="0" cy="208121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87" name="Line 41"/>
          <p:cNvSpPr>
            <a:spLocks noChangeShapeType="1"/>
          </p:cNvSpPr>
          <p:nvPr/>
        </p:nvSpPr>
        <p:spPr bwMode="auto">
          <a:xfrm>
            <a:off x="2157413" y="5348288"/>
            <a:ext cx="377825"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88" name="Line 42"/>
          <p:cNvSpPr>
            <a:spLocks noChangeShapeType="1"/>
          </p:cNvSpPr>
          <p:nvPr/>
        </p:nvSpPr>
        <p:spPr bwMode="auto">
          <a:xfrm flipV="1">
            <a:off x="2173288" y="2305050"/>
            <a:ext cx="0" cy="22066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89" name="Line 43"/>
          <p:cNvSpPr>
            <a:spLocks noChangeShapeType="1"/>
          </p:cNvSpPr>
          <p:nvPr/>
        </p:nvSpPr>
        <p:spPr bwMode="auto">
          <a:xfrm flipV="1">
            <a:off x="3049588" y="1233488"/>
            <a:ext cx="0" cy="1081087"/>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90" name="Line 44"/>
          <p:cNvSpPr>
            <a:spLocks noChangeShapeType="1"/>
          </p:cNvSpPr>
          <p:nvPr/>
        </p:nvSpPr>
        <p:spPr bwMode="auto">
          <a:xfrm>
            <a:off x="2157413" y="4240213"/>
            <a:ext cx="377825"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1291" name="Group 45"/>
          <p:cNvGrpSpPr>
            <a:grpSpLocks/>
          </p:cNvGrpSpPr>
          <p:nvPr/>
        </p:nvGrpSpPr>
        <p:grpSpPr bwMode="auto">
          <a:xfrm>
            <a:off x="1401763" y="2517775"/>
            <a:ext cx="1576387" cy="711200"/>
            <a:chOff x="249" y="2201"/>
            <a:chExt cx="993" cy="448"/>
          </a:xfrm>
        </p:grpSpPr>
        <p:sp>
          <p:nvSpPr>
            <p:cNvPr id="11363" name="AutoShape 46"/>
            <p:cNvSpPr>
              <a:spLocks noChangeArrowheads="1"/>
            </p:cNvSpPr>
            <p:nvPr/>
          </p:nvSpPr>
          <p:spPr bwMode="auto">
            <a:xfrm>
              <a:off x="249" y="2201"/>
              <a:ext cx="993" cy="448"/>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11364" name="Text Box 47"/>
            <p:cNvSpPr txBox="1">
              <a:spLocks noChangeArrowheads="1"/>
            </p:cNvSpPr>
            <p:nvPr/>
          </p:nvSpPr>
          <p:spPr bwMode="auto">
            <a:xfrm>
              <a:off x="344" y="2233"/>
              <a:ext cx="804" cy="384"/>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a:t>Person Vendor</a:t>
              </a:r>
            </a:p>
          </p:txBody>
        </p:sp>
      </p:grpSp>
      <p:grpSp>
        <p:nvGrpSpPr>
          <p:cNvPr id="11292" name="Group 48"/>
          <p:cNvGrpSpPr>
            <a:grpSpLocks/>
          </p:cNvGrpSpPr>
          <p:nvPr/>
        </p:nvGrpSpPr>
        <p:grpSpPr bwMode="auto">
          <a:xfrm>
            <a:off x="3125788" y="2517775"/>
            <a:ext cx="1576387" cy="711200"/>
            <a:chOff x="1340" y="2201"/>
            <a:chExt cx="993" cy="448"/>
          </a:xfrm>
        </p:grpSpPr>
        <p:sp>
          <p:nvSpPr>
            <p:cNvPr id="11361" name="AutoShape 49"/>
            <p:cNvSpPr>
              <a:spLocks noChangeArrowheads="1"/>
            </p:cNvSpPr>
            <p:nvPr/>
          </p:nvSpPr>
          <p:spPr bwMode="auto">
            <a:xfrm>
              <a:off x="1340" y="2201"/>
              <a:ext cx="993" cy="448"/>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11362" name="Text Box 50"/>
            <p:cNvSpPr txBox="1">
              <a:spLocks noChangeArrowheads="1"/>
            </p:cNvSpPr>
            <p:nvPr/>
          </p:nvSpPr>
          <p:spPr bwMode="auto">
            <a:xfrm>
              <a:off x="1435" y="2233"/>
              <a:ext cx="804" cy="384"/>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a:t>Adjudi-</a:t>
              </a:r>
              <a:br>
                <a:rPr lang="en-US" sz="2000" b="1"/>
              </a:br>
              <a:r>
                <a:rPr lang="en-US" sz="2000" b="1"/>
                <a:t>cator</a:t>
              </a:r>
            </a:p>
          </p:txBody>
        </p:sp>
      </p:grpSp>
      <p:grpSp>
        <p:nvGrpSpPr>
          <p:cNvPr id="11293" name="Group 51"/>
          <p:cNvGrpSpPr>
            <a:grpSpLocks/>
          </p:cNvGrpSpPr>
          <p:nvPr/>
        </p:nvGrpSpPr>
        <p:grpSpPr bwMode="auto">
          <a:xfrm>
            <a:off x="2192338" y="1427163"/>
            <a:ext cx="1671637" cy="711200"/>
            <a:chOff x="2524" y="2022"/>
            <a:chExt cx="1053" cy="448"/>
          </a:xfrm>
        </p:grpSpPr>
        <p:sp>
          <p:nvSpPr>
            <p:cNvPr id="11359" name="AutoShape 52"/>
            <p:cNvSpPr>
              <a:spLocks noChangeArrowheads="1"/>
            </p:cNvSpPr>
            <p:nvPr/>
          </p:nvSpPr>
          <p:spPr bwMode="auto">
            <a:xfrm>
              <a:off x="2524" y="2022"/>
              <a:ext cx="1053" cy="448"/>
            </a:xfrm>
            <a:prstGeom prst="roundRect">
              <a:avLst>
                <a:gd name="adj" fmla="val 16667"/>
              </a:avLst>
            </a:prstGeom>
            <a:solidFill>
              <a:srgbClr val="FF9999"/>
            </a:solidFill>
            <a:ln w="12700" algn="ctr">
              <a:solidFill>
                <a:schemeClr val="bg1"/>
              </a:solidFill>
              <a:round/>
              <a:headEnd/>
              <a:tailEnd/>
            </a:ln>
          </p:spPr>
          <p:txBody>
            <a:bodyPr wrap="none" lIns="0" tIns="0" rIns="0" bIns="0" anchor="ctr">
              <a:spAutoFit/>
            </a:bodyPr>
            <a:lstStyle/>
            <a:p>
              <a:endParaRPr lang="en-US"/>
            </a:p>
          </p:txBody>
        </p:sp>
        <p:sp>
          <p:nvSpPr>
            <p:cNvPr id="11360" name="Text Box 53"/>
            <p:cNvSpPr txBox="1">
              <a:spLocks noChangeArrowheads="1"/>
            </p:cNvSpPr>
            <p:nvPr/>
          </p:nvSpPr>
          <p:spPr bwMode="auto">
            <a:xfrm>
              <a:off x="2559" y="2150"/>
              <a:ext cx="983" cy="192"/>
            </a:xfrm>
            <a:prstGeom prst="rect">
              <a:avLst/>
            </a:prstGeom>
            <a:solidFill>
              <a:srgbClr val="FF99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dirty="0"/>
                <a:t>Person</a:t>
              </a:r>
            </a:p>
          </p:txBody>
        </p:sp>
      </p:grpSp>
      <p:grpSp>
        <p:nvGrpSpPr>
          <p:cNvPr id="11294" name="Group 54"/>
          <p:cNvGrpSpPr>
            <a:grpSpLocks/>
          </p:cNvGrpSpPr>
          <p:nvPr/>
        </p:nvGrpSpPr>
        <p:grpSpPr bwMode="auto">
          <a:xfrm>
            <a:off x="2392363" y="3879850"/>
            <a:ext cx="1671637" cy="711200"/>
            <a:chOff x="2524" y="2022"/>
            <a:chExt cx="1053" cy="448"/>
          </a:xfrm>
        </p:grpSpPr>
        <p:sp>
          <p:nvSpPr>
            <p:cNvPr id="11357" name="AutoShape 55"/>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11358" name="Text Box 56"/>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a:t>Attorney</a:t>
              </a:r>
            </a:p>
          </p:txBody>
        </p:sp>
      </p:grpSp>
      <p:grpSp>
        <p:nvGrpSpPr>
          <p:cNvPr id="11295" name="Group 57"/>
          <p:cNvGrpSpPr>
            <a:grpSpLocks/>
          </p:cNvGrpSpPr>
          <p:nvPr/>
        </p:nvGrpSpPr>
        <p:grpSpPr bwMode="auto">
          <a:xfrm>
            <a:off x="2390775" y="4953000"/>
            <a:ext cx="1671638" cy="711200"/>
            <a:chOff x="2524" y="2022"/>
            <a:chExt cx="1053" cy="448"/>
          </a:xfrm>
        </p:grpSpPr>
        <p:sp>
          <p:nvSpPr>
            <p:cNvPr id="11355" name="AutoShape 58"/>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11356" name="Text Box 59"/>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a:t>Doctor</a:t>
              </a:r>
            </a:p>
          </p:txBody>
        </p:sp>
      </p:grpSp>
      <p:grpSp>
        <p:nvGrpSpPr>
          <p:cNvPr id="11296" name="Group 60"/>
          <p:cNvGrpSpPr>
            <a:grpSpLocks/>
          </p:cNvGrpSpPr>
          <p:nvPr/>
        </p:nvGrpSpPr>
        <p:grpSpPr bwMode="auto">
          <a:xfrm>
            <a:off x="1192213" y="2659063"/>
            <a:ext cx="492125" cy="539750"/>
            <a:chOff x="4508" y="1968"/>
            <a:chExt cx="310" cy="340"/>
          </a:xfrm>
        </p:grpSpPr>
        <p:sp>
          <p:nvSpPr>
            <p:cNvPr id="11351" name="Rectangle 61"/>
            <p:cNvSpPr>
              <a:spLocks noChangeArrowheads="1"/>
            </p:cNvSpPr>
            <p:nvPr/>
          </p:nvSpPr>
          <p:spPr bwMode="auto">
            <a:xfrm rot="19100882" flipH="1">
              <a:off x="4734" y="2152"/>
              <a:ext cx="84" cy="144"/>
            </a:xfrm>
            <a:prstGeom prst="rect">
              <a:avLst/>
            </a:prstGeom>
            <a:solidFill>
              <a:srgbClr val="996633"/>
            </a:solidFill>
            <a:ln w="12700">
              <a:solidFill>
                <a:schemeClr val="bg1"/>
              </a:solidFill>
              <a:miter lim="800000"/>
              <a:headEnd/>
              <a:tailEnd/>
            </a:ln>
          </p:spPr>
          <p:txBody>
            <a:bodyPr wrap="none" anchor="ctr">
              <a:spAutoFit/>
            </a:bodyPr>
            <a:lstStyle/>
            <a:p>
              <a:endParaRPr lang="en-US"/>
            </a:p>
          </p:txBody>
        </p:sp>
        <p:sp>
          <p:nvSpPr>
            <p:cNvPr id="11352" name="Oval 62"/>
            <p:cNvSpPr>
              <a:spLocks noChangeArrowheads="1"/>
            </p:cNvSpPr>
            <p:nvPr/>
          </p:nvSpPr>
          <p:spPr bwMode="auto">
            <a:xfrm flipH="1">
              <a:off x="4526" y="1968"/>
              <a:ext cx="246" cy="246"/>
            </a:xfrm>
            <a:prstGeom prst="ellipse">
              <a:avLst/>
            </a:prstGeom>
            <a:solidFill>
              <a:schemeClr val="hlink"/>
            </a:solidFill>
            <a:ln w="12700">
              <a:solidFill>
                <a:schemeClr val="bg1"/>
              </a:solidFill>
              <a:round/>
              <a:headEnd/>
              <a:tailEnd/>
            </a:ln>
          </p:spPr>
          <p:txBody>
            <a:bodyPr wrap="none" anchor="ctr">
              <a:spAutoFit/>
            </a:bodyPr>
            <a:lstStyle/>
            <a:p>
              <a:endParaRPr lang="en-US"/>
            </a:p>
          </p:txBody>
        </p:sp>
        <p:sp>
          <p:nvSpPr>
            <p:cNvPr id="11353" name="Rectangle 63"/>
            <p:cNvSpPr>
              <a:spLocks noChangeArrowheads="1"/>
            </p:cNvSpPr>
            <p:nvPr/>
          </p:nvSpPr>
          <p:spPr bwMode="auto">
            <a:xfrm rot="19100882" flipH="1">
              <a:off x="4717" y="2164"/>
              <a:ext cx="84" cy="144"/>
            </a:xfrm>
            <a:prstGeom prst="rect">
              <a:avLst/>
            </a:prstGeom>
            <a:gradFill rotWithShape="0">
              <a:gsLst>
                <a:gs pos="0">
                  <a:srgbClr val="996633"/>
                </a:gs>
                <a:gs pos="100000">
                  <a:srgbClr val="FFCC33"/>
                </a:gs>
              </a:gsLst>
              <a:lin ang="2700000" scaled="1"/>
            </a:gradFill>
            <a:ln w="12700">
              <a:solidFill>
                <a:schemeClr val="bg1"/>
              </a:solidFill>
              <a:miter lim="800000"/>
              <a:headEnd/>
              <a:tailEnd/>
            </a:ln>
          </p:spPr>
          <p:txBody>
            <a:bodyPr wrap="none" anchor="ctr">
              <a:spAutoFit/>
            </a:bodyPr>
            <a:lstStyle/>
            <a:p>
              <a:endParaRPr lang="en-US"/>
            </a:p>
          </p:txBody>
        </p:sp>
        <p:sp>
          <p:nvSpPr>
            <p:cNvPr id="11354" name="Oval 64"/>
            <p:cNvSpPr>
              <a:spLocks noChangeArrowheads="1"/>
            </p:cNvSpPr>
            <p:nvPr/>
          </p:nvSpPr>
          <p:spPr bwMode="auto">
            <a:xfrm flipH="1">
              <a:off x="4508" y="1971"/>
              <a:ext cx="246" cy="247"/>
            </a:xfrm>
            <a:prstGeom prst="ellipse">
              <a:avLst/>
            </a:prstGeom>
            <a:gradFill rotWithShape="0">
              <a:gsLst>
                <a:gs pos="0">
                  <a:srgbClr val="FFFFFF"/>
                </a:gs>
                <a:gs pos="100000">
                  <a:srgbClr val="99CCFF"/>
                </a:gs>
              </a:gsLst>
              <a:lin ang="18900000" scaled="1"/>
            </a:gradFill>
            <a:ln w="12700">
              <a:solidFill>
                <a:schemeClr val="bg1"/>
              </a:solidFill>
              <a:round/>
              <a:headEnd/>
              <a:tailEnd/>
            </a:ln>
          </p:spPr>
          <p:txBody>
            <a:bodyPr anchor="ctr">
              <a:spAutoFit/>
            </a:bodyPr>
            <a:lstStyle/>
            <a:p>
              <a:endParaRPr lang="en-US"/>
            </a:p>
          </p:txBody>
        </p:sp>
      </p:grpSp>
      <p:sp>
        <p:nvSpPr>
          <p:cNvPr id="11297" name="Text Box 65"/>
          <p:cNvSpPr txBox="1">
            <a:spLocks noChangeArrowheads="1"/>
          </p:cNvSpPr>
          <p:nvPr/>
        </p:nvSpPr>
        <p:spPr bwMode="auto">
          <a:xfrm>
            <a:off x="268288" y="3351213"/>
            <a:ext cx="1751012"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dirty="0">
                <a:solidFill>
                  <a:srgbClr val="C00000"/>
                </a:solidFill>
              </a:rPr>
              <a:t>searches at this level return doctors and attorneys</a:t>
            </a:r>
          </a:p>
        </p:txBody>
      </p:sp>
      <p:sp>
        <p:nvSpPr>
          <p:cNvPr id="11298" name="Line 66"/>
          <p:cNvSpPr>
            <a:spLocks noChangeShapeType="1"/>
          </p:cNvSpPr>
          <p:nvPr/>
        </p:nvSpPr>
        <p:spPr bwMode="auto">
          <a:xfrm>
            <a:off x="773113" y="2855913"/>
            <a:ext cx="0" cy="525462"/>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99" name="Line 67"/>
          <p:cNvSpPr>
            <a:spLocks noChangeShapeType="1"/>
          </p:cNvSpPr>
          <p:nvPr/>
        </p:nvSpPr>
        <p:spPr bwMode="auto">
          <a:xfrm>
            <a:off x="758825" y="2847975"/>
            <a:ext cx="641350" cy="0"/>
          </a:xfrm>
          <a:prstGeom prst="line">
            <a:avLst/>
          </a:prstGeom>
          <a:noFill/>
          <a:ln w="28575">
            <a:solidFill>
              <a:srgbClr val="C0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1300" name="Group 68"/>
          <p:cNvGrpSpPr>
            <a:grpSpLocks/>
          </p:cNvGrpSpPr>
          <p:nvPr/>
        </p:nvGrpSpPr>
        <p:grpSpPr bwMode="auto">
          <a:xfrm>
            <a:off x="2336800" y="5454650"/>
            <a:ext cx="492125" cy="539750"/>
            <a:chOff x="4508" y="1968"/>
            <a:chExt cx="310" cy="340"/>
          </a:xfrm>
        </p:grpSpPr>
        <p:sp>
          <p:nvSpPr>
            <p:cNvPr id="11347" name="Rectangle 69"/>
            <p:cNvSpPr>
              <a:spLocks noChangeArrowheads="1"/>
            </p:cNvSpPr>
            <p:nvPr/>
          </p:nvSpPr>
          <p:spPr bwMode="auto">
            <a:xfrm rot="19100882" flipH="1">
              <a:off x="4734" y="2152"/>
              <a:ext cx="84" cy="144"/>
            </a:xfrm>
            <a:prstGeom prst="rect">
              <a:avLst/>
            </a:prstGeom>
            <a:solidFill>
              <a:srgbClr val="996633"/>
            </a:solidFill>
            <a:ln w="12700">
              <a:solidFill>
                <a:schemeClr val="bg1"/>
              </a:solidFill>
              <a:miter lim="800000"/>
              <a:headEnd/>
              <a:tailEnd/>
            </a:ln>
          </p:spPr>
          <p:txBody>
            <a:bodyPr wrap="none" anchor="ctr">
              <a:spAutoFit/>
            </a:bodyPr>
            <a:lstStyle/>
            <a:p>
              <a:endParaRPr lang="en-US"/>
            </a:p>
          </p:txBody>
        </p:sp>
        <p:sp>
          <p:nvSpPr>
            <p:cNvPr id="11348" name="Oval 70"/>
            <p:cNvSpPr>
              <a:spLocks noChangeArrowheads="1"/>
            </p:cNvSpPr>
            <p:nvPr/>
          </p:nvSpPr>
          <p:spPr bwMode="auto">
            <a:xfrm flipH="1">
              <a:off x="4526" y="1968"/>
              <a:ext cx="246" cy="246"/>
            </a:xfrm>
            <a:prstGeom prst="ellipse">
              <a:avLst/>
            </a:prstGeom>
            <a:solidFill>
              <a:schemeClr val="hlink"/>
            </a:solidFill>
            <a:ln w="12700">
              <a:solidFill>
                <a:schemeClr val="bg1"/>
              </a:solidFill>
              <a:round/>
              <a:headEnd/>
              <a:tailEnd/>
            </a:ln>
          </p:spPr>
          <p:txBody>
            <a:bodyPr wrap="none" anchor="ctr">
              <a:spAutoFit/>
            </a:bodyPr>
            <a:lstStyle/>
            <a:p>
              <a:endParaRPr lang="en-US"/>
            </a:p>
          </p:txBody>
        </p:sp>
        <p:sp>
          <p:nvSpPr>
            <p:cNvPr id="11349" name="Rectangle 71"/>
            <p:cNvSpPr>
              <a:spLocks noChangeArrowheads="1"/>
            </p:cNvSpPr>
            <p:nvPr/>
          </p:nvSpPr>
          <p:spPr bwMode="auto">
            <a:xfrm rot="19100882" flipH="1">
              <a:off x="4717" y="2164"/>
              <a:ext cx="84" cy="144"/>
            </a:xfrm>
            <a:prstGeom prst="rect">
              <a:avLst/>
            </a:prstGeom>
            <a:gradFill rotWithShape="0">
              <a:gsLst>
                <a:gs pos="0">
                  <a:srgbClr val="996633"/>
                </a:gs>
                <a:gs pos="100000">
                  <a:srgbClr val="FFCC33"/>
                </a:gs>
              </a:gsLst>
              <a:lin ang="2700000" scaled="1"/>
            </a:gradFill>
            <a:ln w="12700">
              <a:solidFill>
                <a:schemeClr val="bg1"/>
              </a:solidFill>
              <a:miter lim="800000"/>
              <a:headEnd/>
              <a:tailEnd/>
            </a:ln>
          </p:spPr>
          <p:txBody>
            <a:bodyPr wrap="none" anchor="ctr">
              <a:spAutoFit/>
            </a:bodyPr>
            <a:lstStyle/>
            <a:p>
              <a:endParaRPr lang="en-US"/>
            </a:p>
          </p:txBody>
        </p:sp>
        <p:sp>
          <p:nvSpPr>
            <p:cNvPr id="11350" name="Oval 72"/>
            <p:cNvSpPr>
              <a:spLocks noChangeArrowheads="1"/>
            </p:cNvSpPr>
            <p:nvPr/>
          </p:nvSpPr>
          <p:spPr bwMode="auto">
            <a:xfrm flipH="1">
              <a:off x="4508" y="1971"/>
              <a:ext cx="246" cy="247"/>
            </a:xfrm>
            <a:prstGeom prst="ellipse">
              <a:avLst/>
            </a:prstGeom>
            <a:gradFill rotWithShape="0">
              <a:gsLst>
                <a:gs pos="0">
                  <a:srgbClr val="FFFFFF"/>
                </a:gs>
                <a:gs pos="100000">
                  <a:srgbClr val="99CCFF"/>
                </a:gs>
              </a:gsLst>
              <a:lin ang="18900000" scaled="1"/>
            </a:gradFill>
            <a:ln w="12700">
              <a:solidFill>
                <a:schemeClr val="bg1"/>
              </a:solidFill>
              <a:round/>
              <a:headEnd/>
              <a:tailEnd/>
            </a:ln>
          </p:spPr>
          <p:txBody>
            <a:bodyPr anchor="ctr">
              <a:spAutoFit/>
            </a:bodyPr>
            <a:lstStyle/>
            <a:p>
              <a:endParaRPr lang="en-US"/>
            </a:p>
          </p:txBody>
        </p:sp>
      </p:grpSp>
      <p:sp>
        <p:nvSpPr>
          <p:cNvPr id="11301" name="Text Box 73"/>
          <p:cNvSpPr txBox="1">
            <a:spLocks noChangeArrowheads="1"/>
          </p:cNvSpPr>
          <p:nvPr/>
        </p:nvSpPr>
        <p:spPr bwMode="auto">
          <a:xfrm>
            <a:off x="325438" y="4945063"/>
            <a:ext cx="1751012"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a:solidFill>
                  <a:srgbClr val="C00000"/>
                </a:solidFill>
              </a:rPr>
              <a:t>searches at this level return only doctors </a:t>
            </a:r>
          </a:p>
        </p:txBody>
      </p:sp>
      <p:sp>
        <p:nvSpPr>
          <p:cNvPr id="11302" name="Line 74"/>
          <p:cNvSpPr>
            <a:spLocks noChangeShapeType="1"/>
          </p:cNvSpPr>
          <p:nvPr/>
        </p:nvSpPr>
        <p:spPr bwMode="auto">
          <a:xfrm>
            <a:off x="2003425" y="5649913"/>
            <a:ext cx="565150" cy="0"/>
          </a:xfrm>
          <a:prstGeom prst="line">
            <a:avLst/>
          </a:prstGeom>
          <a:noFill/>
          <a:ln w="28575">
            <a:solidFill>
              <a:srgbClr val="C0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03" name="Text Box 75"/>
          <p:cNvSpPr txBox="1">
            <a:spLocks noChangeArrowheads="1"/>
          </p:cNvSpPr>
          <p:nvPr/>
        </p:nvSpPr>
        <p:spPr bwMode="auto">
          <a:xfrm>
            <a:off x="268288" y="1436688"/>
            <a:ext cx="17510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000" b="1">
                <a:solidFill>
                  <a:srgbClr val="C00000"/>
                </a:solidFill>
              </a:rPr>
              <a:t>the primary subtypes</a:t>
            </a:r>
          </a:p>
        </p:txBody>
      </p:sp>
      <p:sp>
        <p:nvSpPr>
          <p:cNvPr id="11304" name="Line 76"/>
          <p:cNvSpPr>
            <a:spLocks noChangeShapeType="1"/>
          </p:cNvSpPr>
          <p:nvPr/>
        </p:nvSpPr>
        <p:spPr bwMode="auto">
          <a:xfrm>
            <a:off x="1847850" y="1758950"/>
            <a:ext cx="331788" cy="0"/>
          </a:xfrm>
          <a:prstGeom prst="line">
            <a:avLst/>
          </a:prstGeom>
          <a:noFill/>
          <a:ln w="28575">
            <a:solidFill>
              <a:srgbClr val="C0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pic>
        <p:nvPicPr>
          <p:cNvPr id="81" name="Picture 17" descr="claimcenter.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985015" y="119543"/>
            <a:ext cx="989012" cy="98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39889890"/>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|EOS~009|</a:t>
            </a:r>
            <a:endParaRPr lang="en-US" sz="100" dirty="0" err="1" smtClean="0">
              <a:solidFill>
                <a:srgbClr val="FFFFFF"/>
              </a:solidFill>
              <a:latin typeface="Arial"/>
              <a:cs typeface="Calibri" pitchFamily="34" charset="0"/>
            </a:endParaRPr>
          </a:p>
        </p:txBody>
      </p:sp>
      <p:sp>
        <p:nvSpPr>
          <p:cNvPr id="8194" name="Line 96"/>
          <p:cNvSpPr>
            <a:spLocks noChangeShapeType="1"/>
          </p:cNvSpPr>
          <p:nvPr/>
        </p:nvSpPr>
        <p:spPr bwMode="auto">
          <a:xfrm>
            <a:off x="1735138" y="4568825"/>
            <a:ext cx="1500187"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195" name="Line 97"/>
          <p:cNvSpPr>
            <a:spLocks noChangeShapeType="1"/>
          </p:cNvSpPr>
          <p:nvPr/>
        </p:nvSpPr>
        <p:spPr bwMode="auto">
          <a:xfrm>
            <a:off x="3235325" y="4567238"/>
            <a:ext cx="0" cy="6223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196" name="Line 98"/>
          <p:cNvSpPr>
            <a:spLocks noChangeShapeType="1"/>
          </p:cNvSpPr>
          <p:nvPr/>
        </p:nvSpPr>
        <p:spPr bwMode="auto">
          <a:xfrm>
            <a:off x="1733550" y="4564063"/>
            <a:ext cx="0" cy="6223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197" name="Line 2"/>
          <p:cNvSpPr>
            <a:spLocks noChangeShapeType="1"/>
          </p:cNvSpPr>
          <p:nvPr/>
        </p:nvSpPr>
        <p:spPr bwMode="auto">
          <a:xfrm>
            <a:off x="1054100" y="2805113"/>
            <a:ext cx="0" cy="6127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198" name="Rectangle 3"/>
          <p:cNvSpPr>
            <a:spLocks noGrp="1" noChangeArrowheads="1"/>
          </p:cNvSpPr>
          <p:nvPr>
            <p:ph type="title"/>
          </p:nvPr>
        </p:nvSpPr>
        <p:spPr>
          <a:noFill/>
        </p:spPr>
        <p:txBody>
          <a:bodyPr anchor="t"/>
          <a:lstStyle/>
          <a:p>
            <a:pPr eaLnBrk="1" hangingPunct="1"/>
            <a:r>
              <a:rPr lang="en-US" smtClean="0"/>
              <a:t>The ABContact entity</a:t>
            </a:r>
          </a:p>
        </p:txBody>
      </p:sp>
      <p:sp>
        <p:nvSpPr>
          <p:cNvPr id="8199" name="Line 4"/>
          <p:cNvSpPr>
            <a:spLocks noChangeShapeType="1"/>
          </p:cNvSpPr>
          <p:nvPr/>
        </p:nvSpPr>
        <p:spPr bwMode="auto">
          <a:xfrm>
            <a:off x="2478088" y="1724025"/>
            <a:ext cx="5564187"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200" name="Line 5"/>
          <p:cNvSpPr>
            <a:spLocks noChangeShapeType="1"/>
          </p:cNvSpPr>
          <p:nvPr/>
        </p:nvSpPr>
        <p:spPr bwMode="auto">
          <a:xfrm flipV="1">
            <a:off x="6019800" y="1722438"/>
            <a:ext cx="0" cy="10890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201" name="Line 6"/>
          <p:cNvSpPr>
            <a:spLocks noChangeShapeType="1"/>
          </p:cNvSpPr>
          <p:nvPr/>
        </p:nvSpPr>
        <p:spPr bwMode="auto">
          <a:xfrm flipV="1">
            <a:off x="8042275" y="1717675"/>
            <a:ext cx="0" cy="14239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202" name="Line 7"/>
          <p:cNvSpPr>
            <a:spLocks noChangeShapeType="1"/>
          </p:cNvSpPr>
          <p:nvPr/>
        </p:nvSpPr>
        <p:spPr bwMode="auto">
          <a:xfrm flipV="1">
            <a:off x="4594225" y="1550988"/>
            <a:ext cx="0" cy="1730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203" name="AutoShape 13"/>
          <p:cNvSpPr>
            <a:spLocks noChangeArrowheads="1"/>
          </p:cNvSpPr>
          <p:nvPr/>
        </p:nvSpPr>
        <p:spPr bwMode="auto">
          <a:xfrm>
            <a:off x="7251700" y="1916113"/>
            <a:ext cx="1576388" cy="711200"/>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8204" name="Text Box 14"/>
          <p:cNvSpPr txBox="1">
            <a:spLocks noChangeArrowheads="1"/>
          </p:cNvSpPr>
          <p:nvPr/>
        </p:nvSpPr>
        <p:spPr bwMode="auto">
          <a:xfrm>
            <a:off x="7402513" y="2119313"/>
            <a:ext cx="12763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ABPlace</a:t>
            </a:r>
          </a:p>
        </p:txBody>
      </p:sp>
      <p:sp>
        <p:nvSpPr>
          <p:cNvPr id="8205" name="Line 27"/>
          <p:cNvSpPr>
            <a:spLocks noChangeShapeType="1"/>
          </p:cNvSpPr>
          <p:nvPr/>
        </p:nvSpPr>
        <p:spPr bwMode="auto">
          <a:xfrm>
            <a:off x="3941763" y="2805113"/>
            <a:ext cx="0" cy="6223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206" name="Line 28"/>
          <p:cNvSpPr>
            <a:spLocks noChangeShapeType="1"/>
          </p:cNvSpPr>
          <p:nvPr/>
        </p:nvSpPr>
        <p:spPr bwMode="auto">
          <a:xfrm>
            <a:off x="1050925" y="2809875"/>
            <a:ext cx="289242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207" name="Line 31"/>
          <p:cNvSpPr>
            <a:spLocks noChangeShapeType="1"/>
          </p:cNvSpPr>
          <p:nvPr/>
        </p:nvSpPr>
        <p:spPr bwMode="auto">
          <a:xfrm flipV="1">
            <a:off x="2481263" y="2794000"/>
            <a:ext cx="0" cy="17668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208" name="Line 32"/>
          <p:cNvSpPr>
            <a:spLocks noChangeShapeType="1"/>
          </p:cNvSpPr>
          <p:nvPr/>
        </p:nvSpPr>
        <p:spPr bwMode="auto">
          <a:xfrm flipV="1">
            <a:off x="2481263" y="1722438"/>
            <a:ext cx="0" cy="10810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209" name="AutoShape 35"/>
          <p:cNvSpPr>
            <a:spLocks noChangeArrowheads="1"/>
          </p:cNvSpPr>
          <p:nvPr/>
        </p:nvSpPr>
        <p:spPr bwMode="auto">
          <a:xfrm>
            <a:off x="1624013" y="1916113"/>
            <a:ext cx="1671637" cy="711200"/>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8210" name="Text Box 36"/>
          <p:cNvSpPr txBox="1">
            <a:spLocks noChangeArrowheads="1"/>
          </p:cNvSpPr>
          <p:nvPr/>
        </p:nvSpPr>
        <p:spPr bwMode="auto">
          <a:xfrm>
            <a:off x="1679575" y="2119313"/>
            <a:ext cx="15605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err="1">
                <a:solidFill>
                  <a:schemeClr val="bg1"/>
                </a:solidFill>
              </a:rPr>
              <a:t>ABPerson</a:t>
            </a:r>
            <a:endParaRPr lang="en-US" dirty="0">
              <a:solidFill>
                <a:schemeClr val="bg1"/>
              </a:solidFill>
            </a:endParaRPr>
          </a:p>
        </p:txBody>
      </p:sp>
      <p:sp>
        <p:nvSpPr>
          <p:cNvPr id="8211" name="Text Box 41"/>
          <p:cNvSpPr txBox="1">
            <a:spLocks noChangeArrowheads="1"/>
          </p:cNvSpPr>
          <p:nvPr/>
        </p:nvSpPr>
        <p:spPr bwMode="auto">
          <a:xfrm>
            <a:off x="533400" y="1295400"/>
            <a:ext cx="1183266"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a:t>primary subtypes</a:t>
            </a:r>
          </a:p>
        </p:txBody>
      </p:sp>
      <p:sp>
        <p:nvSpPr>
          <p:cNvPr id="8212" name="AutoShape 11"/>
          <p:cNvSpPr>
            <a:spLocks noChangeArrowheads="1"/>
          </p:cNvSpPr>
          <p:nvPr/>
        </p:nvSpPr>
        <p:spPr bwMode="auto">
          <a:xfrm>
            <a:off x="5219700" y="1916113"/>
            <a:ext cx="1576388" cy="711200"/>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8213" name="Text Box 43"/>
          <p:cNvSpPr txBox="1">
            <a:spLocks noChangeArrowheads="1"/>
          </p:cNvSpPr>
          <p:nvPr/>
        </p:nvSpPr>
        <p:spPr bwMode="auto">
          <a:xfrm>
            <a:off x="5248275" y="2119313"/>
            <a:ext cx="15351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ABCompany</a:t>
            </a:r>
          </a:p>
        </p:txBody>
      </p:sp>
      <p:grpSp>
        <p:nvGrpSpPr>
          <p:cNvPr id="8214" name="Group 44"/>
          <p:cNvGrpSpPr>
            <a:grpSpLocks/>
          </p:cNvGrpSpPr>
          <p:nvPr/>
        </p:nvGrpSpPr>
        <p:grpSpPr bwMode="auto">
          <a:xfrm>
            <a:off x="423863" y="3011488"/>
            <a:ext cx="1285875" cy="669925"/>
            <a:chOff x="267" y="2284"/>
            <a:chExt cx="810" cy="422"/>
          </a:xfrm>
        </p:grpSpPr>
        <p:sp>
          <p:nvSpPr>
            <p:cNvPr id="8274" name="AutoShape 45"/>
            <p:cNvSpPr>
              <a:spLocks noChangeArrowheads="1"/>
            </p:cNvSpPr>
            <p:nvPr/>
          </p:nvSpPr>
          <p:spPr bwMode="auto">
            <a:xfrm>
              <a:off x="267" y="2284"/>
              <a:ext cx="810" cy="422"/>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8275" name="Text Box 46"/>
            <p:cNvSpPr txBox="1">
              <a:spLocks noChangeArrowheads="1"/>
            </p:cNvSpPr>
            <p:nvPr/>
          </p:nvSpPr>
          <p:spPr bwMode="auto">
            <a:xfrm>
              <a:off x="296" y="2322"/>
              <a:ext cx="753"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dirty="0" err="1">
                  <a:solidFill>
                    <a:schemeClr val="bg1"/>
                  </a:solidFill>
                </a:rPr>
                <a:t>ABAdjud</a:t>
              </a:r>
              <a:r>
                <a:rPr lang="en-US" sz="1800" dirty="0">
                  <a:solidFill>
                    <a:schemeClr val="bg1"/>
                  </a:solidFill>
                </a:rPr>
                <a:t>-</a:t>
              </a:r>
              <a:br>
                <a:rPr lang="en-US" sz="1800" dirty="0">
                  <a:solidFill>
                    <a:schemeClr val="bg1"/>
                  </a:solidFill>
                </a:rPr>
              </a:br>
              <a:r>
                <a:rPr lang="en-US" sz="1800" dirty="0" err="1">
                  <a:solidFill>
                    <a:schemeClr val="bg1"/>
                  </a:solidFill>
                </a:rPr>
                <a:t>icator</a:t>
              </a:r>
              <a:endParaRPr lang="en-US" sz="1800" dirty="0">
                <a:solidFill>
                  <a:schemeClr val="bg1"/>
                </a:solidFill>
              </a:endParaRPr>
            </a:p>
          </p:txBody>
        </p:sp>
      </p:grpSp>
      <p:grpSp>
        <p:nvGrpSpPr>
          <p:cNvPr id="8215" name="Group 47"/>
          <p:cNvGrpSpPr>
            <a:grpSpLocks/>
          </p:cNvGrpSpPr>
          <p:nvPr/>
        </p:nvGrpSpPr>
        <p:grpSpPr bwMode="auto">
          <a:xfrm>
            <a:off x="1827213" y="3011488"/>
            <a:ext cx="1287462" cy="669925"/>
            <a:chOff x="1151" y="2284"/>
            <a:chExt cx="811" cy="422"/>
          </a:xfrm>
        </p:grpSpPr>
        <p:sp>
          <p:nvSpPr>
            <p:cNvPr id="8272" name="AutoShape 48"/>
            <p:cNvSpPr>
              <a:spLocks noChangeArrowheads="1"/>
            </p:cNvSpPr>
            <p:nvPr/>
          </p:nvSpPr>
          <p:spPr bwMode="auto">
            <a:xfrm>
              <a:off x="1152" y="2284"/>
              <a:ext cx="810" cy="422"/>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8273" name="Text Box 49"/>
            <p:cNvSpPr txBox="1">
              <a:spLocks noChangeArrowheads="1"/>
            </p:cNvSpPr>
            <p:nvPr/>
          </p:nvSpPr>
          <p:spPr bwMode="auto">
            <a:xfrm>
              <a:off x="1151" y="2322"/>
              <a:ext cx="811"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dirty="0" err="1">
                  <a:solidFill>
                    <a:schemeClr val="bg1"/>
                  </a:solidFill>
                </a:rPr>
                <a:t>ABPerson</a:t>
              </a:r>
              <a:r>
                <a:rPr lang="en-US" sz="1800" dirty="0">
                  <a:solidFill>
                    <a:schemeClr val="bg1"/>
                  </a:solidFill>
                </a:rPr>
                <a:t/>
              </a:r>
              <a:br>
                <a:rPr lang="en-US" sz="1800" dirty="0">
                  <a:solidFill>
                    <a:schemeClr val="bg1"/>
                  </a:solidFill>
                </a:rPr>
              </a:br>
              <a:r>
                <a:rPr lang="en-US" sz="1800" dirty="0">
                  <a:solidFill>
                    <a:schemeClr val="bg1"/>
                  </a:solidFill>
                </a:rPr>
                <a:t>Vendor</a:t>
              </a:r>
            </a:p>
          </p:txBody>
        </p:sp>
      </p:grpSp>
      <p:grpSp>
        <p:nvGrpSpPr>
          <p:cNvPr id="8216" name="Group 50"/>
          <p:cNvGrpSpPr>
            <a:grpSpLocks/>
          </p:cNvGrpSpPr>
          <p:nvPr/>
        </p:nvGrpSpPr>
        <p:grpSpPr bwMode="auto">
          <a:xfrm>
            <a:off x="7491413" y="3011488"/>
            <a:ext cx="1285875" cy="669925"/>
            <a:chOff x="4719" y="2284"/>
            <a:chExt cx="810" cy="422"/>
          </a:xfrm>
        </p:grpSpPr>
        <p:sp>
          <p:nvSpPr>
            <p:cNvPr id="8270" name="AutoShape 51"/>
            <p:cNvSpPr>
              <a:spLocks noChangeArrowheads="1"/>
            </p:cNvSpPr>
            <p:nvPr/>
          </p:nvSpPr>
          <p:spPr bwMode="auto">
            <a:xfrm>
              <a:off x="4719" y="2284"/>
              <a:ext cx="810" cy="422"/>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8271" name="Text Box 52"/>
            <p:cNvSpPr txBox="1">
              <a:spLocks noChangeArrowheads="1"/>
            </p:cNvSpPr>
            <p:nvPr/>
          </p:nvSpPr>
          <p:spPr bwMode="auto">
            <a:xfrm>
              <a:off x="4748" y="2322"/>
              <a:ext cx="753"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ABLegal</a:t>
              </a:r>
              <a:br>
                <a:rPr lang="en-US" sz="1800">
                  <a:solidFill>
                    <a:schemeClr val="bg1"/>
                  </a:solidFill>
                </a:rPr>
              </a:br>
              <a:r>
                <a:rPr lang="en-US" sz="1800">
                  <a:solidFill>
                    <a:schemeClr val="bg1"/>
                  </a:solidFill>
                </a:rPr>
                <a:t>Venue</a:t>
              </a:r>
            </a:p>
          </p:txBody>
        </p:sp>
      </p:grpSp>
      <p:grpSp>
        <p:nvGrpSpPr>
          <p:cNvPr id="8217" name="Group 56"/>
          <p:cNvGrpSpPr>
            <a:grpSpLocks/>
          </p:cNvGrpSpPr>
          <p:nvPr/>
        </p:nvGrpSpPr>
        <p:grpSpPr bwMode="auto">
          <a:xfrm>
            <a:off x="3249613" y="3011488"/>
            <a:ext cx="1285875" cy="669925"/>
            <a:chOff x="2047" y="2284"/>
            <a:chExt cx="810" cy="422"/>
          </a:xfrm>
        </p:grpSpPr>
        <p:sp>
          <p:nvSpPr>
            <p:cNvPr id="8268" name="AutoShape 57"/>
            <p:cNvSpPr>
              <a:spLocks noChangeArrowheads="1"/>
            </p:cNvSpPr>
            <p:nvPr/>
          </p:nvSpPr>
          <p:spPr bwMode="auto">
            <a:xfrm>
              <a:off x="2047" y="2284"/>
              <a:ext cx="810" cy="422"/>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8269" name="Text Box 58"/>
            <p:cNvSpPr txBox="1">
              <a:spLocks noChangeArrowheads="1"/>
            </p:cNvSpPr>
            <p:nvPr/>
          </p:nvSpPr>
          <p:spPr bwMode="auto">
            <a:xfrm>
              <a:off x="2076" y="2322"/>
              <a:ext cx="753"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ABPolicy</a:t>
              </a:r>
              <a:br>
                <a:rPr lang="en-US" sz="1800">
                  <a:solidFill>
                    <a:schemeClr val="bg1"/>
                  </a:solidFill>
                </a:rPr>
              </a:br>
              <a:r>
                <a:rPr lang="en-US" sz="1800">
                  <a:solidFill>
                    <a:schemeClr val="bg1"/>
                  </a:solidFill>
                </a:rPr>
                <a:t>Person</a:t>
              </a:r>
            </a:p>
          </p:txBody>
        </p:sp>
      </p:grpSp>
      <p:grpSp>
        <p:nvGrpSpPr>
          <p:cNvPr id="8218" name="Group 65"/>
          <p:cNvGrpSpPr>
            <a:grpSpLocks/>
          </p:cNvGrpSpPr>
          <p:nvPr/>
        </p:nvGrpSpPr>
        <p:grpSpPr bwMode="auto">
          <a:xfrm>
            <a:off x="1152525" y="4721225"/>
            <a:ext cx="1285875" cy="669925"/>
            <a:chOff x="2047" y="2284"/>
            <a:chExt cx="810" cy="422"/>
          </a:xfrm>
        </p:grpSpPr>
        <p:sp>
          <p:nvSpPr>
            <p:cNvPr id="8266" name="AutoShape 66"/>
            <p:cNvSpPr>
              <a:spLocks noChangeArrowheads="1"/>
            </p:cNvSpPr>
            <p:nvPr/>
          </p:nvSpPr>
          <p:spPr bwMode="auto">
            <a:xfrm>
              <a:off x="2047" y="2284"/>
              <a:ext cx="810" cy="422"/>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8267" name="Text Box 67"/>
            <p:cNvSpPr txBox="1">
              <a:spLocks noChangeArrowheads="1"/>
            </p:cNvSpPr>
            <p:nvPr/>
          </p:nvSpPr>
          <p:spPr bwMode="auto">
            <a:xfrm>
              <a:off x="2076" y="2322"/>
              <a:ext cx="753"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AB</a:t>
              </a:r>
              <a:br>
                <a:rPr lang="en-US" sz="1800">
                  <a:solidFill>
                    <a:schemeClr val="bg1"/>
                  </a:solidFill>
                </a:rPr>
              </a:br>
              <a:r>
                <a:rPr lang="en-US" sz="1800">
                  <a:solidFill>
                    <a:schemeClr val="bg1"/>
                  </a:solidFill>
                </a:rPr>
                <a:t>Attorney</a:t>
              </a:r>
            </a:p>
          </p:txBody>
        </p:sp>
      </p:grpSp>
      <p:grpSp>
        <p:nvGrpSpPr>
          <p:cNvPr id="8219" name="Group 68"/>
          <p:cNvGrpSpPr>
            <a:grpSpLocks/>
          </p:cNvGrpSpPr>
          <p:nvPr/>
        </p:nvGrpSpPr>
        <p:grpSpPr bwMode="auto">
          <a:xfrm>
            <a:off x="2514600" y="4721225"/>
            <a:ext cx="1285875" cy="669925"/>
            <a:chOff x="2047" y="2284"/>
            <a:chExt cx="810" cy="422"/>
          </a:xfrm>
        </p:grpSpPr>
        <p:sp>
          <p:nvSpPr>
            <p:cNvPr id="8264" name="AutoShape 69"/>
            <p:cNvSpPr>
              <a:spLocks noChangeArrowheads="1"/>
            </p:cNvSpPr>
            <p:nvPr/>
          </p:nvSpPr>
          <p:spPr bwMode="auto">
            <a:xfrm>
              <a:off x="2047" y="2284"/>
              <a:ext cx="810" cy="422"/>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8265" name="Text Box 70"/>
            <p:cNvSpPr txBox="1">
              <a:spLocks noChangeArrowheads="1"/>
            </p:cNvSpPr>
            <p:nvPr/>
          </p:nvSpPr>
          <p:spPr bwMode="auto">
            <a:xfrm>
              <a:off x="2076" y="2322"/>
              <a:ext cx="753"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AB</a:t>
              </a:r>
              <a:br>
                <a:rPr lang="en-US" sz="1800">
                  <a:solidFill>
                    <a:schemeClr val="bg1"/>
                  </a:solidFill>
                </a:rPr>
              </a:br>
              <a:r>
                <a:rPr lang="en-US" sz="1800">
                  <a:solidFill>
                    <a:schemeClr val="bg1"/>
                  </a:solidFill>
                </a:rPr>
                <a:t>Doctor</a:t>
              </a:r>
            </a:p>
          </p:txBody>
        </p:sp>
      </p:grpSp>
      <p:sp>
        <p:nvSpPr>
          <p:cNvPr id="8220" name="Line 84"/>
          <p:cNvSpPr>
            <a:spLocks noChangeShapeType="1"/>
          </p:cNvSpPr>
          <p:nvPr/>
        </p:nvSpPr>
        <p:spPr bwMode="auto">
          <a:xfrm>
            <a:off x="5280025" y="2809875"/>
            <a:ext cx="1500188"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221" name="Line 85"/>
          <p:cNvSpPr>
            <a:spLocks noChangeShapeType="1"/>
          </p:cNvSpPr>
          <p:nvPr/>
        </p:nvSpPr>
        <p:spPr bwMode="auto">
          <a:xfrm>
            <a:off x="6780213" y="2808288"/>
            <a:ext cx="0" cy="6223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222" name="Line 86"/>
          <p:cNvSpPr>
            <a:spLocks noChangeShapeType="1"/>
          </p:cNvSpPr>
          <p:nvPr/>
        </p:nvSpPr>
        <p:spPr bwMode="auto">
          <a:xfrm>
            <a:off x="5273675" y="2805113"/>
            <a:ext cx="0" cy="17605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8223" name="Group 53"/>
          <p:cNvGrpSpPr>
            <a:grpSpLocks/>
          </p:cNvGrpSpPr>
          <p:nvPr/>
        </p:nvGrpSpPr>
        <p:grpSpPr bwMode="auto">
          <a:xfrm>
            <a:off x="4664075" y="3011488"/>
            <a:ext cx="1285875" cy="669925"/>
            <a:chOff x="2938" y="2284"/>
            <a:chExt cx="810" cy="422"/>
          </a:xfrm>
        </p:grpSpPr>
        <p:sp>
          <p:nvSpPr>
            <p:cNvPr id="8262" name="AutoShape 54"/>
            <p:cNvSpPr>
              <a:spLocks noChangeArrowheads="1"/>
            </p:cNvSpPr>
            <p:nvPr/>
          </p:nvSpPr>
          <p:spPr bwMode="auto">
            <a:xfrm>
              <a:off x="2938" y="2284"/>
              <a:ext cx="810" cy="422"/>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8263" name="Text Box 55"/>
            <p:cNvSpPr txBox="1">
              <a:spLocks noChangeArrowheads="1"/>
            </p:cNvSpPr>
            <p:nvPr/>
          </p:nvSpPr>
          <p:spPr bwMode="auto">
            <a:xfrm>
              <a:off x="2957" y="2322"/>
              <a:ext cx="772"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ABCompany</a:t>
              </a:r>
              <a:r>
                <a:rPr lang="en-US" sz="1800">
                  <a:solidFill>
                    <a:schemeClr val="bg1"/>
                  </a:solidFill>
                </a:rPr>
                <a:t> Vendor</a:t>
              </a:r>
            </a:p>
          </p:txBody>
        </p:sp>
      </p:grpSp>
      <p:grpSp>
        <p:nvGrpSpPr>
          <p:cNvPr id="8224" name="Group 91"/>
          <p:cNvGrpSpPr>
            <a:grpSpLocks/>
          </p:cNvGrpSpPr>
          <p:nvPr/>
        </p:nvGrpSpPr>
        <p:grpSpPr bwMode="auto">
          <a:xfrm>
            <a:off x="6065838" y="3011488"/>
            <a:ext cx="1285875" cy="669925"/>
            <a:chOff x="2047" y="2284"/>
            <a:chExt cx="810" cy="422"/>
          </a:xfrm>
        </p:grpSpPr>
        <p:sp>
          <p:nvSpPr>
            <p:cNvPr id="8260" name="AutoShape 92"/>
            <p:cNvSpPr>
              <a:spLocks noChangeArrowheads="1"/>
            </p:cNvSpPr>
            <p:nvPr/>
          </p:nvSpPr>
          <p:spPr bwMode="auto">
            <a:xfrm>
              <a:off x="2047" y="2284"/>
              <a:ext cx="810" cy="422"/>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8261" name="Text Box 93"/>
            <p:cNvSpPr txBox="1">
              <a:spLocks noChangeArrowheads="1"/>
            </p:cNvSpPr>
            <p:nvPr/>
          </p:nvSpPr>
          <p:spPr bwMode="auto">
            <a:xfrm>
              <a:off x="2076" y="2322"/>
              <a:ext cx="753"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ABPolicy</a:t>
              </a:r>
              <a:br>
                <a:rPr lang="en-US" sz="1800">
                  <a:solidFill>
                    <a:schemeClr val="bg1"/>
                  </a:solidFill>
                </a:rPr>
              </a:br>
              <a:r>
                <a:rPr lang="en-US" sz="1800">
                  <a:solidFill>
                    <a:schemeClr val="bg1"/>
                  </a:solidFill>
                </a:rPr>
                <a:t>Company</a:t>
              </a:r>
            </a:p>
          </p:txBody>
        </p:sp>
      </p:grpSp>
      <p:sp>
        <p:nvSpPr>
          <p:cNvPr id="8225" name="Line 99"/>
          <p:cNvSpPr>
            <a:spLocks noChangeShapeType="1"/>
          </p:cNvSpPr>
          <p:nvPr/>
        </p:nvSpPr>
        <p:spPr bwMode="auto">
          <a:xfrm>
            <a:off x="4979988" y="4564063"/>
            <a:ext cx="233680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226" name="Line 102"/>
          <p:cNvSpPr>
            <a:spLocks noChangeShapeType="1"/>
          </p:cNvSpPr>
          <p:nvPr/>
        </p:nvSpPr>
        <p:spPr bwMode="auto">
          <a:xfrm>
            <a:off x="5824538" y="4564063"/>
            <a:ext cx="0" cy="9985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227" name="Line 103"/>
          <p:cNvSpPr>
            <a:spLocks noChangeShapeType="1"/>
          </p:cNvSpPr>
          <p:nvPr/>
        </p:nvSpPr>
        <p:spPr bwMode="auto">
          <a:xfrm>
            <a:off x="6415088" y="4564063"/>
            <a:ext cx="0" cy="9985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228" name="Line 105"/>
          <p:cNvSpPr>
            <a:spLocks noChangeShapeType="1"/>
          </p:cNvSpPr>
          <p:nvPr/>
        </p:nvSpPr>
        <p:spPr bwMode="auto">
          <a:xfrm>
            <a:off x="4984750" y="4559300"/>
            <a:ext cx="0" cy="25241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229" name="Line 106"/>
          <p:cNvSpPr>
            <a:spLocks noChangeShapeType="1"/>
          </p:cNvSpPr>
          <p:nvPr/>
        </p:nvSpPr>
        <p:spPr bwMode="auto">
          <a:xfrm>
            <a:off x="7315200" y="4559300"/>
            <a:ext cx="0" cy="25241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8230" name="Group 71"/>
          <p:cNvGrpSpPr>
            <a:grpSpLocks/>
          </p:cNvGrpSpPr>
          <p:nvPr/>
        </p:nvGrpSpPr>
        <p:grpSpPr bwMode="auto">
          <a:xfrm>
            <a:off x="4313238" y="4721225"/>
            <a:ext cx="1285875" cy="669925"/>
            <a:chOff x="2047" y="2284"/>
            <a:chExt cx="810" cy="422"/>
          </a:xfrm>
        </p:grpSpPr>
        <p:sp>
          <p:nvSpPr>
            <p:cNvPr id="8258" name="AutoShape 72"/>
            <p:cNvSpPr>
              <a:spLocks noChangeArrowheads="1"/>
            </p:cNvSpPr>
            <p:nvPr/>
          </p:nvSpPr>
          <p:spPr bwMode="auto">
            <a:xfrm>
              <a:off x="2047" y="2284"/>
              <a:ext cx="810" cy="422"/>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8259" name="Text Box 73"/>
            <p:cNvSpPr txBox="1">
              <a:spLocks noChangeArrowheads="1"/>
            </p:cNvSpPr>
            <p:nvPr/>
          </p:nvSpPr>
          <p:spPr bwMode="auto">
            <a:xfrm>
              <a:off x="2076" y="2322"/>
              <a:ext cx="753"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AB</a:t>
              </a:r>
              <a:br>
                <a:rPr lang="en-US" sz="1800">
                  <a:solidFill>
                    <a:schemeClr val="bg1"/>
                  </a:solidFill>
                </a:rPr>
              </a:br>
              <a:r>
                <a:rPr lang="en-US" sz="1800">
                  <a:solidFill>
                    <a:schemeClr val="bg1"/>
                  </a:solidFill>
                </a:rPr>
                <a:t>LawFirm</a:t>
              </a:r>
            </a:p>
          </p:txBody>
        </p:sp>
      </p:grpSp>
      <p:grpSp>
        <p:nvGrpSpPr>
          <p:cNvPr id="8231" name="Group 74"/>
          <p:cNvGrpSpPr>
            <a:grpSpLocks/>
          </p:cNvGrpSpPr>
          <p:nvPr/>
        </p:nvGrpSpPr>
        <p:grpSpPr bwMode="auto">
          <a:xfrm>
            <a:off x="6632575" y="4721225"/>
            <a:ext cx="1285875" cy="669925"/>
            <a:chOff x="2047" y="2284"/>
            <a:chExt cx="810" cy="422"/>
          </a:xfrm>
        </p:grpSpPr>
        <p:sp>
          <p:nvSpPr>
            <p:cNvPr id="8256" name="AutoShape 75"/>
            <p:cNvSpPr>
              <a:spLocks noChangeArrowheads="1"/>
            </p:cNvSpPr>
            <p:nvPr/>
          </p:nvSpPr>
          <p:spPr bwMode="auto">
            <a:xfrm>
              <a:off x="2047" y="2284"/>
              <a:ext cx="810" cy="422"/>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8257" name="Text Box 76"/>
            <p:cNvSpPr txBox="1">
              <a:spLocks noChangeArrowheads="1"/>
            </p:cNvSpPr>
            <p:nvPr/>
          </p:nvSpPr>
          <p:spPr bwMode="auto">
            <a:xfrm>
              <a:off x="2076" y="2322"/>
              <a:ext cx="753"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ABMedical</a:t>
              </a:r>
              <a:br>
                <a:rPr lang="en-US" sz="1800">
                  <a:solidFill>
                    <a:schemeClr val="bg1"/>
                  </a:solidFill>
                </a:rPr>
              </a:br>
              <a:r>
                <a:rPr lang="en-US" sz="1800">
                  <a:solidFill>
                    <a:schemeClr val="bg1"/>
                  </a:solidFill>
                </a:rPr>
                <a:t>CareOrg</a:t>
              </a:r>
            </a:p>
          </p:txBody>
        </p:sp>
      </p:grpSp>
      <p:grpSp>
        <p:nvGrpSpPr>
          <p:cNvPr id="8232" name="Group 82"/>
          <p:cNvGrpSpPr>
            <a:grpSpLocks/>
          </p:cNvGrpSpPr>
          <p:nvPr/>
        </p:nvGrpSpPr>
        <p:grpSpPr bwMode="auto">
          <a:xfrm>
            <a:off x="4835525" y="5502275"/>
            <a:ext cx="1285875" cy="669925"/>
            <a:chOff x="3730" y="3313"/>
            <a:chExt cx="810" cy="422"/>
          </a:xfrm>
        </p:grpSpPr>
        <p:sp>
          <p:nvSpPr>
            <p:cNvPr id="8254" name="AutoShape 77"/>
            <p:cNvSpPr>
              <a:spLocks noChangeArrowheads="1"/>
            </p:cNvSpPr>
            <p:nvPr/>
          </p:nvSpPr>
          <p:spPr bwMode="auto">
            <a:xfrm>
              <a:off x="3730" y="3313"/>
              <a:ext cx="810" cy="422"/>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8255" name="Text Box 78"/>
            <p:cNvSpPr txBox="1">
              <a:spLocks noChangeArrowheads="1"/>
            </p:cNvSpPr>
            <p:nvPr/>
          </p:nvSpPr>
          <p:spPr bwMode="auto">
            <a:xfrm>
              <a:off x="3745" y="3351"/>
              <a:ext cx="78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ABAuto</a:t>
              </a:r>
              <a:br>
                <a:rPr lang="en-US" sz="1800">
                  <a:solidFill>
                    <a:schemeClr val="bg1"/>
                  </a:solidFill>
                </a:rPr>
              </a:br>
              <a:r>
                <a:rPr lang="en-US" sz="1600">
                  <a:solidFill>
                    <a:schemeClr val="bg1"/>
                  </a:solidFill>
                </a:rPr>
                <a:t>TowingAgcy</a:t>
              </a:r>
            </a:p>
          </p:txBody>
        </p:sp>
      </p:grpSp>
      <p:grpSp>
        <p:nvGrpSpPr>
          <p:cNvPr id="8233" name="Group 79"/>
          <p:cNvGrpSpPr>
            <a:grpSpLocks/>
          </p:cNvGrpSpPr>
          <p:nvPr/>
        </p:nvGrpSpPr>
        <p:grpSpPr bwMode="auto">
          <a:xfrm>
            <a:off x="6197600" y="5502275"/>
            <a:ext cx="1285875" cy="669925"/>
            <a:chOff x="2047" y="2284"/>
            <a:chExt cx="810" cy="422"/>
          </a:xfrm>
        </p:grpSpPr>
        <p:sp>
          <p:nvSpPr>
            <p:cNvPr id="8252" name="AutoShape 80"/>
            <p:cNvSpPr>
              <a:spLocks noChangeArrowheads="1"/>
            </p:cNvSpPr>
            <p:nvPr/>
          </p:nvSpPr>
          <p:spPr bwMode="auto">
            <a:xfrm>
              <a:off x="2047" y="2284"/>
              <a:ext cx="810" cy="422"/>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8253" name="Text Box 81"/>
            <p:cNvSpPr txBox="1">
              <a:spLocks noChangeArrowheads="1"/>
            </p:cNvSpPr>
            <p:nvPr/>
          </p:nvSpPr>
          <p:spPr bwMode="auto">
            <a:xfrm>
              <a:off x="2076" y="2322"/>
              <a:ext cx="75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ABAuto</a:t>
              </a:r>
              <a:br>
                <a:rPr lang="en-US" sz="1800">
                  <a:solidFill>
                    <a:schemeClr val="bg1"/>
                  </a:solidFill>
                </a:rPr>
              </a:br>
              <a:r>
                <a:rPr lang="en-US" sz="1600">
                  <a:solidFill>
                    <a:schemeClr val="bg1"/>
                  </a:solidFill>
                </a:rPr>
                <a:t>RepairShop</a:t>
              </a:r>
            </a:p>
          </p:txBody>
        </p:sp>
      </p:grpSp>
      <p:grpSp>
        <p:nvGrpSpPr>
          <p:cNvPr id="8234" name="Group 88"/>
          <p:cNvGrpSpPr>
            <a:grpSpLocks/>
          </p:cNvGrpSpPr>
          <p:nvPr/>
        </p:nvGrpSpPr>
        <p:grpSpPr bwMode="auto">
          <a:xfrm>
            <a:off x="3760788" y="836613"/>
            <a:ext cx="1671637" cy="711200"/>
            <a:chOff x="1407553" y="768630"/>
            <a:chExt cx="1671637" cy="711200"/>
          </a:xfrm>
        </p:grpSpPr>
        <p:sp>
          <p:nvSpPr>
            <p:cNvPr id="8250" name="AutoShape 21"/>
            <p:cNvSpPr>
              <a:spLocks noChangeArrowheads="1"/>
            </p:cNvSpPr>
            <p:nvPr/>
          </p:nvSpPr>
          <p:spPr bwMode="auto">
            <a:xfrm>
              <a:off x="1407553" y="768630"/>
              <a:ext cx="1671637" cy="711200"/>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8251" name="Text Box 22"/>
            <p:cNvSpPr txBox="1">
              <a:spLocks noChangeArrowheads="1"/>
            </p:cNvSpPr>
            <p:nvPr/>
          </p:nvSpPr>
          <p:spPr bwMode="auto">
            <a:xfrm>
              <a:off x="1463115" y="971830"/>
              <a:ext cx="1560512" cy="304800"/>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ABContact</a:t>
              </a:r>
            </a:p>
          </p:txBody>
        </p:sp>
      </p:grpSp>
      <p:grpSp>
        <p:nvGrpSpPr>
          <p:cNvPr id="8235" name="Group 111"/>
          <p:cNvGrpSpPr>
            <a:grpSpLocks/>
          </p:cNvGrpSpPr>
          <p:nvPr/>
        </p:nvGrpSpPr>
        <p:grpSpPr bwMode="auto">
          <a:xfrm>
            <a:off x="5292725" y="1073150"/>
            <a:ext cx="365125" cy="587375"/>
            <a:chOff x="4124" y="1922"/>
            <a:chExt cx="481" cy="772"/>
          </a:xfrm>
        </p:grpSpPr>
        <p:sp>
          <p:nvSpPr>
            <p:cNvPr id="8237" name="Freeform 112"/>
            <p:cNvSpPr>
              <a:spLocks/>
            </p:cNvSpPr>
            <p:nvPr/>
          </p:nvSpPr>
          <p:spPr bwMode="auto">
            <a:xfrm>
              <a:off x="4191" y="1941"/>
              <a:ext cx="357" cy="333"/>
            </a:xfrm>
            <a:custGeom>
              <a:avLst/>
              <a:gdLst>
                <a:gd name="T0" fmla="*/ 42 w 357"/>
                <a:gd name="T1" fmla="*/ 324 h 333"/>
                <a:gd name="T2" fmla="*/ 0 w 357"/>
                <a:gd name="T3" fmla="*/ 325 h 333"/>
                <a:gd name="T4" fmla="*/ 4 w 357"/>
                <a:gd name="T5" fmla="*/ 121 h 333"/>
                <a:gd name="T6" fmla="*/ 33 w 357"/>
                <a:gd name="T7" fmla="*/ 58 h 333"/>
                <a:gd name="T8" fmla="*/ 84 w 357"/>
                <a:gd name="T9" fmla="*/ 22 h 333"/>
                <a:gd name="T10" fmla="*/ 141 w 357"/>
                <a:gd name="T11" fmla="*/ 5 h 333"/>
                <a:gd name="T12" fmla="*/ 181 w 357"/>
                <a:gd name="T13" fmla="*/ 0 h 333"/>
                <a:gd name="T14" fmla="*/ 267 w 357"/>
                <a:gd name="T15" fmla="*/ 13 h 333"/>
                <a:gd name="T16" fmla="*/ 329 w 357"/>
                <a:gd name="T17" fmla="*/ 81 h 333"/>
                <a:gd name="T18" fmla="*/ 357 w 357"/>
                <a:gd name="T19" fmla="*/ 165 h 333"/>
                <a:gd name="T20" fmla="*/ 357 w 357"/>
                <a:gd name="T21" fmla="*/ 325 h 333"/>
                <a:gd name="T22" fmla="*/ 293 w 357"/>
                <a:gd name="T23" fmla="*/ 333 h 333"/>
                <a:gd name="T24" fmla="*/ 292 w 357"/>
                <a:gd name="T25" fmla="*/ 138 h 333"/>
                <a:gd name="T26" fmla="*/ 231 w 357"/>
                <a:gd name="T27" fmla="*/ 58 h 333"/>
                <a:gd name="T28" fmla="*/ 170 w 357"/>
                <a:gd name="T29" fmla="*/ 42 h 333"/>
                <a:gd name="T30" fmla="*/ 98 w 357"/>
                <a:gd name="T31" fmla="*/ 61 h 333"/>
                <a:gd name="T32" fmla="*/ 67 w 357"/>
                <a:gd name="T33" fmla="*/ 95 h 333"/>
                <a:gd name="T34" fmla="*/ 45 w 357"/>
                <a:gd name="T35" fmla="*/ 135 h 333"/>
                <a:gd name="T36" fmla="*/ 43 w 357"/>
                <a:gd name="T37" fmla="*/ 194 h 333"/>
                <a:gd name="T38" fmla="*/ 42 w 357"/>
                <a:gd name="T39" fmla="*/ 324 h 333"/>
                <a:gd name="T40" fmla="*/ 42 w 357"/>
                <a:gd name="T41" fmla="*/ 324 h 33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57"/>
                <a:gd name="T64" fmla="*/ 0 h 333"/>
                <a:gd name="T65" fmla="*/ 357 w 357"/>
                <a:gd name="T66" fmla="*/ 333 h 33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57" h="333">
                  <a:moveTo>
                    <a:pt x="42" y="324"/>
                  </a:moveTo>
                  <a:lnTo>
                    <a:pt x="0" y="325"/>
                  </a:lnTo>
                  <a:lnTo>
                    <a:pt x="4" y="121"/>
                  </a:lnTo>
                  <a:lnTo>
                    <a:pt x="33" y="58"/>
                  </a:lnTo>
                  <a:lnTo>
                    <a:pt x="84" y="22"/>
                  </a:lnTo>
                  <a:lnTo>
                    <a:pt x="141" y="5"/>
                  </a:lnTo>
                  <a:lnTo>
                    <a:pt x="181" y="0"/>
                  </a:lnTo>
                  <a:lnTo>
                    <a:pt x="267" y="13"/>
                  </a:lnTo>
                  <a:lnTo>
                    <a:pt x="329" y="81"/>
                  </a:lnTo>
                  <a:lnTo>
                    <a:pt x="357" y="165"/>
                  </a:lnTo>
                  <a:lnTo>
                    <a:pt x="357" y="325"/>
                  </a:lnTo>
                  <a:lnTo>
                    <a:pt x="293" y="333"/>
                  </a:lnTo>
                  <a:lnTo>
                    <a:pt x="292" y="138"/>
                  </a:lnTo>
                  <a:lnTo>
                    <a:pt x="231" y="58"/>
                  </a:lnTo>
                  <a:lnTo>
                    <a:pt x="170" y="42"/>
                  </a:lnTo>
                  <a:lnTo>
                    <a:pt x="98" y="61"/>
                  </a:lnTo>
                  <a:lnTo>
                    <a:pt x="67" y="95"/>
                  </a:lnTo>
                  <a:lnTo>
                    <a:pt x="45" y="135"/>
                  </a:lnTo>
                  <a:lnTo>
                    <a:pt x="43" y="194"/>
                  </a:lnTo>
                  <a:lnTo>
                    <a:pt x="42" y="324"/>
                  </a:lnTo>
                  <a:close/>
                </a:path>
              </a:pathLst>
            </a:custGeom>
            <a:solidFill>
              <a:srgbClr val="FF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8" name="Freeform 113"/>
            <p:cNvSpPr>
              <a:spLocks/>
            </p:cNvSpPr>
            <p:nvPr/>
          </p:nvSpPr>
          <p:spPr bwMode="auto">
            <a:xfrm>
              <a:off x="4147" y="2278"/>
              <a:ext cx="432" cy="395"/>
            </a:xfrm>
            <a:custGeom>
              <a:avLst/>
              <a:gdLst>
                <a:gd name="T0" fmla="*/ 0 w 2393"/>
                <a:gd name="T1" fmla="*/ 0 h 2189"/>
                <a:gd name="T2" fmla="*/ 0 w 2393"/>
                <a:gd name="T3" fmla="*/ 0 h 2189"/>
                <a:gd name="T4" fmla="*/ 0 w 2393"/>
                <a:gd name="T5" fmla="*/ 0 h 2189"/>
                <a:gd name="T6" fmla="*/ 0 w 2393"/>
                <a:gd name="T7" fmla="*/ 0 h 2189"/>
                <a:gd name="T8" fmla="*/ 0 w 2393"/>
                <a:gd name="T9" fmla="*/ 0 h 2189"/>
                <a:gd name="T10" fmla="*/ 0 w 2393"/>
                <a:gd name="T11" fmla="*/ 0 h 2189"/>
                <a:gd name="T12" fmla="*/ 0 w 2393"/>
                <a:gd name="T13" fmla="*/ 0 h 2189"/>
                <a:gd name="T14" fmla="*/ 0 w 2393"/>
                <a:gd name="T15" fmla="*/ 0 h 2189"/>
                <a:gd name="T16" fmla="*/ 0 w 2393"/>
                <a:gd name="T17" fmla="*/ 0 h 2189"/>
                <a:gd name="T18" fmla="*/ 0 w 2393"/>
                <a:gd name="T19" fmla="*/ 0 h 21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93"/>
                <a:gd name="T31" fmla="*/ 0 h 2189"/>
                <a:gd name="T32" fmla="*/ 2393 w 2393"/>
                <a:gd name="T33" fmla="*/ 2189 h 218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93" h="2189">
                  <a:moveTo>
                    <a:pt x="0" y="28"/>
                  </a:moveTo>
                  <a:lnTo>
                    <a:pt x="23" y="1330"/>
                  </a:lnTo>
                  <a:lnTo>
                    <a:pt x="436" y="1935"/>
                  </a:lnTo>
                  <a:lnTo>
                    <a:pt x="1204" y="2189"/>
                  </a:lnTo>
                  <a:lnTo>
                    <a:pt x="1851" y="2060"/>
                  </a:lnTo>
                  <a:lnTo>
                    <a:pt x="2259" y="1653"/>
                  </a:lnTo>
                  <a:lnTo>
                    <a:pt x="2393" y="1005"/>
                  </a:lnTo>
                  <a:lnTo>
                    <a:pt x="2366" y="0"/>
                  </a:lnTo>
                  <a:lnTo>
                    <a:pt x="0" y="28"/>
                  </a:lnTo>
                  <a:close/>
                </a:path>
              </a:pathLst>
            </a:custGeom>
            <a:solidFill>
              <a:srgbClr val="A6A6B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9" name="Freeform 114"/>
            <p:cNvSpPr>
              <a:spLocks/>
            </p:cNvSpPr>
            <p:nvPr/>
          </p:nvSpPr>
          <p:spPr bwMode="auto">
            <a:xfrm>
              <a:off x="4319" y="2399"/>
              <a:ext cx="96" cy="177"/>
            </a:xfrm>
            <a:custGeom>
              <a:avLst/>
              <a:gdLst>
                <a:gd name="T0" fmla="*/ 0 w 534"/>
                <a:gd name="T1" fmla="*/ 0 h 978"/>
                <a:gd name="T2" fmla="*/ 0 w 534"/>
                <a:gd name="T3" fmla="*/ 0 h 978"/>
                <a:gd name="T4" fmla="*/ 0 w 534"/>
                <a:gd name="T5" fmla="*/ 0 h 978"/>
                <a:gd name="T6" fmla="*/ 0 w 534"/>
                <a:gd name="T7" fmla="*/ 0 h 978"/>
                <a:gd name="T8" fmla="*/ 0 w 534"/>
                <a:gd name="T9" fmla="*/ 0 h 978"/>
                <a:gd name="T10" fmla="*/ 0 w 534"/>
                <a:gd name="T11" fmla="*/ 0 h 978"/>
                <a:gd name="T12" fmla="*/ 0 w 534"/>
                <a:gd name="T13" fmla="*/ 0 h 978"/>
                <a:gd name="T14" fmla="*/ 0 w 534"/>
                <a:gd name="T15" fmla="*/ 0 h 978"/>
                <a:gd name="T16" fmla="*/ 0 w 534"/>
                <a:gd name="T17" fmla="*/ 0 h 978"/>
                <a:gd name="T18" fmla="*/ 0 w 534"/>
                <a:gd name="T19" fmla="*/ 0 h 978"/>
                <a:gd name="T20" fmla="*/ 0 w 534"/>
                <a:gd name="T21" fmla="*/ 0 h 97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4"/>
                <a:gd name="T34" fmla="*/ 0 h 978"/>
                <a:gd name="T35" fmla="*/ 534 w 534"/>
                <a:gd name="T36" fmla="*/ 978 h 97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4" h="978">
                  <a:moveTo>
                    <a:pt x="112" y="20"/>
                  </a:moveTo>
                  <a:lnTo>
                    <a:pt x="0" y="218"/>
                  </a:lnTo>
                  <a:lnTo>
                    <a:pt x="99" y="465"/>
                  </a:lnTo>
                  <a:lnTo>
                    <a:pt x="70" y="950"/>
                  </a:lnTo>
                  <a:lnTo>
                    <a:pt x="457" y="978"/>
                  </a:lnTo>
                  <a:lnTo>
                    <a:pt x="380" y="458"/>
                  </a:lnTo>
                  <a:lnTo>
                    <a:pt x="534" y="309"/>
                  </a:lnTo>
                  <a:lnTo>
                    <a:pt x="477" y="114"/>
                  </a:lnTo>
                  <a:lnTo>
                    <a:pt x="310" y="0"/>
                  </a:lnTo>
                  <a:lnTo>
                    <a:pt x="112" y="2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40" name="Freeform 115"/>
            <p:cNvSpPr>
              <a:spLocks/>
            </p:cNvSpPr>
            <p:nvPr/>
          </p:nvSpPr>
          <p:spPr bwMode="auto">
            <a:xfrm>
              <a:off x="4168" y="2124"/>
              <a:ext cx="29" cy="175"/>
            </a:xfrm>
            <a:custGeom>
              <a:avLst/>
              <a:gdLst>
                <a:gd name="T0" fmla="*/ 0 w 165"/>
                <a:gd name="T1" fmla="*/ 0 h 972"/>
                <a:gd name="T2" fmla="*/ 0 w 165"/>
                <a:gd name="T3" fmla="*/ 0 h 972"/>
                <a:gd name="T4" fmla="*/ 0 w 165"/>
                <a:gd name="T5" fmla="*/ 0 h 972"/>
                <a:gd name="T6" fmla="*/ 0 w 165"/>
                <a:gd name="T7" fmla="*/ 0 h 972"/>
                <a:gd name="T8" fmla="*/ 0 w 165"/>
                <a:gd name="T9" fmla="*/ 0 h 972"/>
                <a:gd name="T10" fmla="*/ 0 w 165"/>
                <a:gd name="T11" fmla="*/ 0 h 972"/>
                <a:gd name="T12" fmla="*/ 0 60000 65536"/>
                <a:gd name="T13" fmla="*/ 0 60000 65536"/>
                <a:gd name="T14" fmla="*/ 0 60000 65536"/>
                <a:gd name="T15" fmla="*/ 0 60000 65536"/>
                <a:gd name="T16" fmla="*/ 0 60000 65536"/>
                <a:gd name="T17" fmla="*/ 0 60000 65536"/>
                <a:gd name="T18" fmla="*/ 0 w 165"/>
                <a:gd name="T19" fmla="*/ 0 h 972"/>
                <a:gd name="T20" fmla="*/ 165 w 165"/>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5" h="972">
                  <a:moveTo>
                    <a:pt x="0" y="0"/>
                  </a:moveTo>
                  <a:lnTo>
                    <a:pt x="0" y="972"/>
                  </a:lnTo>
                  <a:lnTo>
                    <a:pt x="165" y="972"/>
                  </a:lnTo>
                  <a:lnTo>
                    <a:pt x="165" y="0"/>
                  </a:lnTo>
                  <a:lnTo>
                    <a:pt x="0" y="0"/>
                  </a:lnTo>
                  <a:close/>
                </a:path>
              </a:pathLst>
            </a:custGeom>
            <a:solidFill>
              <a:srgbClr val="5F5F5F"/>
            </a:solidFill>
            <a:ln w="9525">
              <a:solidFill>
                <a:srgbClr val="5F5F5F"/>
              </a:solidFill>
              <a:round/>
              <a:headEnd/>
              <a:tailEnd/>
            </a:ln>
          </p:spPr>
          <p:txBody>
            <a:bodyPr/>
            <a:lstStyle/>
            <a:p>
              <a:endParaRPr lang="en-US"/>
            </a:p>
          </p:txBody>
        </p:sp>
        <p:sp>
          <p:nvSpPr>
            <p:cNvPr id="8241" name="Freeform 116"/>
            <p:cNvSpPr>
              <a:spLocks/>
            </p:cNvSpPr>
            <p:nvPr/>
          </p:nvSpPr>
          <p:spPr bwMode="auto">
            <a:xfrm>
              <a:off x="4225" y="2124"/>
              <a:ext cx="30" cy="175"/>
            </a:xfrm>
            <a:custGeom>
              <a:avLst/>
              <a:gdLst>
                <a:gd name="T0" fmla="*/ 0 w 165"/>
                <a:gd name="T1" fmla="*/ 0 h 972"/>
                <a:gd name="T2" fmla="*/ 0 w 165"/>
                <a:gd name="T3" fmla="*/ 0 h 972"/>
                <a:gd name="T4" fmla="*/ 0 w 165"/>
                <a:gd name="T5" fmla="*/ 0 h 972"/>
                <a:gd name="T6" fmla="*/ 0 w 165"/>
                <a:gd name="T7" fmla="*/ 0 h 972"/>
                <a:gd name="T8" fmla="*/ 0 w 165"/>
                <a:gd name="T9" fmla="*/ 0 h 972"/>
                <a:gd name="T10" fmla="*/ 0 w 165"/>
                <a:gd name="T11" fmla="*/ 0 h 972"/>
                <a:gd name="T12" fmla="*/ 0 60000 65536"/>
                <a:gd name="T13" fmla="*/ 0 60000 65536"/>
                <a:gd name="T14" fmla="*/ 0 60000 65536"/>
                <a:gd name="T15" fmla="*/ 0 60000 65536"/>
                <a:gd name="T16" fmla="*/ 0 60000 65536"/>
                <a:gd name="T17" fmla="*/ 0 60000 65536"/>
                <a:gd name="T18" fmla="*/ 0 w 165"/>
                <a:gd name="T19" fmla="*/ 0 h 972"/>
                <a:gd name="T20" fmla="*/ 165 w 165"/>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5" h="972">
                  <a:moveTo>
                    <a:pt x="0" y="0"/>
                  </a:moveTo>
                  <a:lnTo>
                    <a:pt x="0" y="972"/>
                  </a:lnTo>
                  <a:lnTo>
                    <a:pt x="165" y="972"/>
                  </a:lnTo>
                  <a:lnTo>
                    <a:pt x="165" y="0"/>
                  </a:lnTo>
                  <a:lnTo>
                    <a:pt x="0" y="0"/>
                  </a:lnTo>
                  <a:close/>
                </a:path>
              </a:pathLst>
            </a:custGeom>
            <a:solidFill>
              <a:srgbClr val="5F5F5F"/>
            </a:solidFill>
            <a:ln w="9525">
              <a:solidFill>
                <a:srgbClr val="5F5F5F"/>
              </a:solidFill>
              <a:round/>
              <a:headEnd/>
              <a:tailEnd/>
            </a:ln>
          </p:spPr>
          <p:txBody>
            <a:bodyPr/>
            <a:lstStyle/>
            <a:p>
              <a:endParaRPr lang="en-US"/>
            </a:p>
          </p:txBody>
        </p:sp>
        <p:sp>
          <p:nvSpPr>
            <p:cNvPr id="8242" name="Freeform 117"/>
            <p:cNvSpPr>
              <a:spLocks/>
            </p:cNvSpPr>
            <p:nvPr/>
          </p:nvSpPr>
          <p:spPr bwMode="auto">
            <a:xfrm>
              <a:off x="4532" y="2124"/>
              <a:ext cx="29" cy="175"/>
            </a:xfrm>
            <a:custGeom>
              <a:avLst/>
              <a:gdLst>
                <a:gd name="T0" fmla="*/ 0 w 166"/>
                <a:gd name="T1" fmla="*/ 0 h 972"/>
                <a:gd name="T2" fmla="*/ 0 w 166"/>
                <a:gd name="T3" fmla="*/ 0 h 972"/>
                <a:gd name="T4" fmla="*/ 0 w 166"/>
                <a:gd name="T5" fmla="*/ 0 h 972"/>
                <a:gd name="T6" fmla="*/ 0 w 166"/>
                <a:gd name="T7" fmla="*/ 0 h 972"/>
                <a:gd name="T8" fmla="*/ 0 w 166"/>
                <a:gd name="T9" fmla="*/ 0 h 972"/>
                <a:gd name="T10" fmla="*/ 0 w 166"/>
                <a:gd name="T11" fmla="*/ 0 h 972"/>
                <a:gd name="T12" fmla="*/ 0 60000 65536"/>
                <a:gd name="T13" fmla="*/ 0 60000 65536"/>
                <a:gd name="T14" fmla="*/ 0 60000 65536"/>
                <a:gd name="T15" fmla="*/ 0 60000 65536"/>
                <a:gd name="T16" fmla="*/ 0 60000 65536"/>
                <a:gd name="T17" fmla="*/ 0 60000 65536"/>
                <a:gd name="T18" fmla="*/ 0 w 166"/>
                <a:gd name="T19" fmla="*/ 0 h 972"/>
                <a:gd name="T20" fmla="*/ 166 w 166"/>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6" h="972">
                  <a:moveTo>
                    <a:pt x="0" y="0"/>
                  </a:moveTo>
                  <a:lnTo>
                    <a:pt x="0" y="972"/>
                  </a:lnTo>
                  <a:lnTo>
                    <a:pt x="166" y="972"/>
                  </a:lnTo>
                  <a:lnTo>
                    <a:pt x="166" y="0"/>
                  </a:lnTo>
                  <a:lnTo>
                    <a:pt x="0" y="0"/>
                  </a:lnTo>
                  <a:close/>
                </a:path>
              </a:pathLst>
            </a:custGeom>
            <a:solidFill>
              <a:srgbClr val="5F5F5F"/>
            </a:solidFill>
            <a:ln w="9525">
              <a:solidFill>
                <a:srgbClr val="5F5F5F"/>
              </a:solidFill>
              <a:round/>
              <a:headEnd/>
              <a:tailEnd/>
            </a:ln>
          </p:spPr>
          <p:txBody>
            <a:bodyPr/>
            <a:lstStyle/>
            <a:p>
              <a:endParaRPr lang="en-US"/>
            </a:p>
          </p:txBody>
        </p:sp>
        <p:sp>
          <p:nvSpPr>
            <p:cNvPr id="8243" name="Freeform 118"/>
            <p:cNvSpPr>
              <a:spLocks/>
            </p:cNvSpPr>
            <p:nvPr/>
          </p:nvSpPr>
          <p:spPr bwMode="auto">
            <a:xfrm>
              <a:off x="4474" y="2124"/>
              <a:ext cx="30" cy="175"/>
            </a:xfrm>
            <a:custGeom>
              <a:avLst/>
              <a:gdLst>
                <a:gd name="T0" fmla="*/ 0 w 165"/>
                <a:gd name="T1" fmla="*/ 0 h 972"/>
                <a:gd name="T2" fmla="*/ 0 w 165"/>
                <a:gd name="T3" fmla="*/ 0 h 972"/>
                <a:gd name="T4" fmla="*/ 0 w 165"/>
                <a:gd name="T5" fmla="*/ 0 h 972"/>
                <a:gd name="T6" fmla="*/ 0 w 165"/>
                <a:gd name="T7" fmla="*/ 0 h 972"/>
                <a:gd name="T8" fmla="*/ 0 w 165"/>
                <a:gd name="T9" fmla="*/ 0 h 972"/>
                <a:gd name="T10" fmla="*/ 0 w 165"/>
                <a:gd name="T11" fmla="*/ 0 h 972"/>
                <a:gd name="T12" fmla="*/ 0 60000 65536"/>
                <a:gd name="T13" fmla="*/ 0 60000 65536"/>
                <a:gd name="T14" fmla="*/ 0 60000 65536"/>
                <a:gd name="T15" fmla="*/ 0 60000 65536"/>
                <a:gd name="T16" fmla="*/ 0 60000 65536"/>
                <a:gd name="T17" fmla="*/ 0 60000 65536"/>
                <a:gd name="T18" fmla="*/ 0 w 165"/>
                <a:gd name="T19" fmla="*/ 0 h 972"/>
                <a:gd name="T20" fmla="*/ 165 w 165"/>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5" h="972">
                  <a:moveTo>
                    <a:pt x="0" y="0"/>
                  </a:moveTo>
                  <a:lnTo>
                    <a:pt x="0" y="972"/>
                  </a:lnTo>
                  <a:lnTo>
                    <a:pt x="165" y="972"/>
                  </a:lnTo>
                  <a:lnTo>
                    <a:pt x="165" y="0"/>
                  </a:lnTo>
                  <a:lnTo>
                    <a:pt x="0" y="0"/>
                  </a:lnTo>
                  <a:close/>
                </a:path>
              </a:pathLst>
            </a:custGeom>
            <a:solidFill>
              <a:srgbClr val="5F5F5F"/>
            </a:solidFill>
            <a:ln w="9525">
              <a:solidFill>
                <a:srgbClr val="5F5F5F"/>
              </a:solidFill>
              <a:round/>
              <a:headEnd/>
              <a:tailEnd/>
            </a:ln>
          </p:spPr>
          <p:txBody>
            <a:bodyPr/>
            <a:lstStyle/>
            <a:p>
              <a:endParaRPr lang="en-US"/>
            </a:p>
          </p:txBody>
        </p:sp>
        <p:sp>
          <p:nvSpPr>
            <p:cNvPr id="8244" name="Freeform 119"/>
            <p:cNvSpPr>
              <a:spLocks/>
            </p:cNvSpPr>
            <p:nvPr/>
          </p:nvSpPr>
          <p:spPr bwMode="auto">
            <a:xfrm>
              <a:off x="4124" y="2256"/>
              <a:ext cx="481" cy="198"/>
            </a:xfrm>
            <a:custGeom>
              <a:avLst/>
              <a:gdLst>
                <a:gd name="T0" fmla="*/ 0 w 2668"/>
                <a:gd name="T1" fmla="*/ 0 h 1093"/>
                <a:gd name="T2" fmla="*/ 0 w 2668"/>
                <a:gd name="T3" fmla="*/ 0 h 1093"/>
                <a:gd name="T4" fmla="*/ 0 w 2668"/>
                <a:gd name="T5" fmla="*/ 0 h 1093"/>
                <a:gd name="T6" fmla="*/ 0 w 2668"/>
                <a:gd name="T7" fmla="*/ 0 h 1093"/>
                <a:gd name="T8" fmla="*/ 0 w 2668"/>
                <a:gd name="T9" fmla="*/ 0 h 1093"/>
                <a:gd name="T10" fmla="*/ 0 w 2668"/>
                <a:gd name="T11" fmla="*/ 0 h 1093"/>
                <a:gd name="T12" fmla="*/ 0 w 2668"/>
                <a:gd name="T13" fmla="*/ 0 h 1093"/>
                <a:gd name="T14" fmla="*/ 0 w 2668"/>
                <a:gd name="T15" fmla="*/ 0 h 1093"/>
                <a:gd name="T16" fmla="*/ 0 w 2668"/>
                <a:gd name="T17" fmla="*/ 0 h 1093"/>
                <a:gd name="T18" fmla="*/ 0 w 2668"/>
                <a:gd name="T19" fmla="*/ 0 h 109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68"/>
                <a:gd name="T31" fmla="*/ 0 h 1093"/>
                <a:gd name="T32" fmla="*/ 2668 w 2668"/>
                <a:gd name="T33" fmla="*/ 1093 h 109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68" h="1093">
                  <a:moveTo>
                    <a:pt x="0" y="1093"/>
                  </a:moveTo>
                  <a:lnTo>
                    <a:pt x="0" y="0"/>
                  </a:lnTo>
                  <a:lnTo>
                    <a:pt x="2668" y="0"/>
                  </a:lnTo>
                  <a:lnTo>
                    <a:pt x="2668" y="1093"/>
                  </a:lnTo>
                  <a:lnTo>
                    <a:pt x="2425" y="1093"/>
                  </a:lnTo>
                  <a:lnTo>
                    <a:pt x="2425" y="243"/>
                  </a:lnTo>
                  <a:lnTo>
                    <a:pt x="242" y="243"/>
                  </a:lnTo>
                  <a:lnTo>
                    <a:pt x="242" y="1093"/>
                  </a:lnTo>
                  <a:lnTo>
                    <a:pt x="0" y="1093"/>
                  </a:lnTo>
                  <a:close/>
                </a:path>
              </a:pathLst>
            </a:custGeom>
            <a:solidFill>
              <a:srgbClr val="5F5F5F"/>
            </a:solidFill>
            <a:ln w="9525">
              <a:solidFill>
                <a:srgbClr val="5F5F5F"/>
              </a:solidFill>
              <a:round/>
              <a:headEnd/>
              <a:tailEnd/>
            </a:ln>
          </p:spPr>
          <p:txBody>
            <a:bodyPr/>
            <a:lstStyle/>
            <a:p>
              <a:endParaRPr lang="en-US"/>
            </a:p>
          </p:txBody>
        </p:sp>
        <p:sp>
          <p:nvSpPr>
            <p:cNvPr id="8245" name="Freeform 120"/>
            <p:cNvSpPr>
              <a:spLocks/>
            </p:cNvSpPr>
            <p:nvPr/>
          </p:nvSpPr>
          <p:spPr bwMode="auto">
            <a:xfrm>
              <a:off x="4124" y="2454"/>
              <a:ext cx="481" cy="240"/>
            </a:xfrm>
            <a:custGeom>
              <a:avLst/>
              <a:gdLst>
                <a:gd name="T0" fmla="*/ 0 w 2668"/>
                <a:gd name="T1" fmla="*/ 0 h 1334"/>
                <a:gd name="T2" fmla="*/ 0 w 2668"/>
                <a:gd name="T3" fmla="*/ 0 h 1334"/>
                <a:gd name="T4" fmla="*/ 0 w 2668"/>
                <a:gd name="T5" fmla="*/ 0 h 1334"/>
                <a:gd name="T6" fmla="*/ 0 w 2668"/>
                <a:gd name="T7" fmla="*/ 0 h 1334"/>
                <a:gd name="T8" fmla="*/ 0 w 2668"/>
                <a:gd name="T9" fmla="*/ 0 h 1334"/>
                <a:gd name="T10" fmla="*/ 0 w 2668"/>
                <a:gd name="T11" fmla="*/ 0 h 1334"/>
                <a:gd name="T12" fmla="*/ 0 w 2668"/>
                <a:gd name="T13" fmla="*/ 0 h 1334"/>
                <a:gd name="T14" fmla="*/ 0 w 2668"/>
                <a:gd name="T15" fmla="*/ 0 h 1334"/>
                <a:gd name="T16" fmla="*/ 0 w 2668"/>
                <a:gd name="T17" fmla="*/ 0 h 1334"/>
                <a:gd name="T18" fmla="*/ 0 w 2668"/>
                <a:gd name="T19" fmla="*/ 0 h 1334"/>
                <a:gd name="T20" fmla="*/ 0 w 2668"/>
                <a:gd name="T21" fmla="*/ 0 h 1334"/>
                <a:gd name="T22" fmla="*/ 0 w 2668"/>
                <a:gd name="T23" fmla="*/ 0 h 1334"/>
                <a:gd name="T24" fmla="*/ 0 w 2668"/>
                <a:gd name="T25" fmla="*/ 0 h 1334"/>
                <a:gd name="T26" fmla="*/ 0 w 2668"/>
                <a:gd name="T27" fmla="*/ 0 h 1334"/>
                <a:gd name="T28" fmla="*/ 0 w 2668"/>
                <a:gd name="T29" fmla="*/ 0 h 1334"/>
                <a:gd name="T30" fmla="*/ 0 w 2668"/>
                <a:gd name="T31" fmla="*/ 0 h 1334"/>
                <a:gd name="T32" fmla="*/ 0 w 2668"/>
                <a:gd name="T33" fmla="*/ 0 h 1334"/>
                <a:gd name="T34" fmla="*/ 0 w 2668"/>
                <a:gd name="T35" fmla="*/ 0 h 1334"/>
                <a:gd name="T36" fmla="*/ 0 w 2668"/>
                <a:gd name="T37" fmla="*/ 0 h 1334"/>
                <a:gd name="T38" fmla="*/ 0 w 2668"/>
                <a:gd name="T39" fmla="*/ 0 h 1334"/>
                <a:gd name="T40" fmla="*/ 0 w 2668"/>
                <a:gd name="T41" fmla="*/ 0 h 1334"/>
                <a:gd name="T42" fmla="*/ 0 w 2668"/>
                <a:gd name="T43" fmla="*/ 0 h 1334"/>
                <a:gd name="T44" fmla="*/ 0 w 2668"/>
                <a:gd name="T45" fmla="*/ 0 h 1334"/>
                <a:gd name="T46" fmla="*/ 0 w 2668"/>
                <a:gd name="T47" fmla="*/ 0 h 1334"/>
                <a:gd name="T48" fmla="*/ 0 w 2668"/>
                <a:gd name="T49" fmla="*/ 0 h 1334"/>
                <a:gd name="T50" fmla="*/ 0 w 2668"/>
                <a:gd name="T51" fmla="*/ 0 h 1334"/>
                <a:gd name="T52" fmla="*/ 0 w 2668"/>
                <a:gd name="T53" fmla="*/ 0 h 1334"/>
                <a:gd name="T54" fmla="*/ 0 w 2668"/>
                <a:gd name="T55" fmla="*/ 0 h 1334"/>
                <a:gd name="T56" fmla="*/ 0 w 2668"/>
                <a:gd name="T57" fmla="*/ 0 h 1334"/>
                <a:gd name="T58" fmla="*/ 0 w 2668"/>
                <a:gd name="T59" fmla="*/ 0 h 1334"/>
                <a:gd name="T60" fmla="*/ 0 w 2668"/>
                <a:gd name="T61" fmla="*/ 0 h 1334"/>
                <a:gd name="T62" fmla="*/ 0 w 2668"/>
                <a:gd name="T63" fmla="*/ 0 h 1334"/>
                <a:gd name="T64" fmla="*/ 0 w 2668"/>
                <a:gd name="T65" fmla="*/ 0 h 1334"/>
                <a:gd name="T66" fmla="*/ 0 w 2668"/>
                <a:gd name="T67" fmla="*/ 0 h 1334"/>
                <a:gd name="T68" fmla="*/ 0 w 2668"/>
                <a:gd name="T69" fmla="*/ 0 h 1334"/>
                <a:gd name="T70" fmla="*/ 0 w 2668"/>
                <a:gd name="T71" fmla="*/ 0 h 1334"/>
                <a:gd name="T72" fmla="*/ 0 w 2668"/>
                <a:gd name="T73" fmla="*/ 0 h 1334"/>
                <a:gd name="T74" fmla="*/ 0 w 2668"/>
                <a:gd name="T75" fmla="*/ 0 h 1334"/>
                <a:gd name="T76" fmla="*/ 0 w 2668"/>
                <a:gd name="T77" fmla="*/ 0 h 1334"/>
                <a:gd name="T78" fmla="*/ 0 w 2668"/>
                <a:gd name="T79" fmla="*/ 0 h 1334"/>
                <a:gd name="T80" fmla="*/ 0 w 2668"/>
                <a:gd name="T81" fmla="*/ 0 h 1334"/>
                <a:gd name="T82" fmla="*/ 0 w 2668"/>
                <a:gd name="T83" fmla="*/ 0 h 1334"/>
                <a:gd name="T84" fmla="*/ 0 w 2668"/>
                <a:gd name="T85" fmla="*/ 0 h 1334"/>
                <a:gd name="T86" fmla="*/ 0 w 2668"/>
                <a:gd name="T87" fmla="*/ 0 h 1334"/>
                <a:gd name="T88" fmla="*/ 0 w 2668"/>
                <a:gd name="T89" fmla="*/ 0 h 1334"/>
                <a:gd name="T90" fmla="*/ 0 w 2668"/>
                <a:gd name="T91" fmla="*/ 0 h 1334"/>
                <a:gd name="T92" fmla="*/ 0 w 2668"/>
                <a:gd name="T93" fmla="*/ 0 h 1334"/>
                <a:gd name="T94" fmla="*/ 0 w 2668"/>
                <a:gd name="T95" fmla="*/ 0 h 1334"/>
                <a:gd name="T96" fmla="*/ 0 w 2668"/>
                <a:gd name="T97" fmla="*/ 0 h 1334"/>
                <a:gd name="T98" fmla="*/ 0 w 2668"/>
                <a:gd name="T99" fmla="*/ 0 h 1334"/>
                <a:gd name="T100" fmla="*/ 0 w 2668"/>
                <a:gd name="T101" fmla="*/ 0 h 1334"/>
                <a:gd name="T102" fmla="*/ 0 w 2668"/>
                <a:gd name="T103" fmla="*/ 0 h 1334"/>
                <a:gd name="T104" fmla="*/ 0 w 2668"/>
                <a:gd name="T105" fmla="*/ 0 h 1334"/>
                <a:gd name="T106" fmla="*/ 0 w 2668"/>
                <a:gd name="T107" fmla="*/ 0 h 1334"/>
                <a:gd name="T108" fmla="*/ 0 w 2668"/>
                <a:gd name="T109" fmla="*/ 0 h 1334"/>
                <a:gd name="T110" fmla="*/ 0 w 2668"/>
                <a:gd name="T111" fmla="*/ 0 h 1334"/>
                <a:gd name="T112" fmla="*/ 0 w 2668"/>
                <a:gd name="T113" fmla="*/ 0 h 1334"/>
                <a:gd name="T114" fmla="*/ 0 w 2668"/>
                <a:gd name="T115" fmla="*/ 0 h 1334"/>
                <a:gd name="T116" fmla="*/ 0 w 2668"/>
                <a:gd name="T117" fmla="*/ 0 h 1334"/>
                <a:gd name="T118" fmla="*/ 0 w 2668"/>
                <a:gd name="T119" fmla="*/ 0 h 1334"/>
                <a:gd name="T120" fmla="*/ 0 w 2668"/>
                <a:gd name="T121" fmla="*/ 0 h 1334"/>
                <a:gd name="T122" fmla="*/ 0 w 2668"/>
                <a:gd name="T123" fmla="*/ 0 h 1334"/>
                <a:gd name="T124" fmla="*/ 0 w 2668"/>
                <a:gd name="T125" fmla="*/ 0 h 133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668"/>
                <a:gd name="T190" fmla="*/ 0 h 1334"/>
                <a:gd name="T191" fmla="*/ 2668 w 2668"/>
                <a:gd name="T192" fmla="*/ 1334 h 133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668" h="1334">
                  <a:moveTo>
                    <a:pt x="2668" y="0"/>
                  </a:moveTo>
                  <a:lnTo>
                    <a:pt x="2666" y="68"/>
                  </a:lnTo>
                  <a:lnTo>
                    <a:pt x="2660" y="137"/>
                  </a:lnTo>
                  <a:lnTo>
                    <a:pt x="2653" y="203"/>
                  </a:lnTo>
                  <a:lnTo>
                    <a:pt x="2639" y="270"/>
                  </a:lnTo>
                  <a:lnTo>
                    <a:pt x="2634" y="302"/>
                  </a:lnTo>
                  <a:lnTo>
                    <a:pt x="2626" y="332"/>
                  </a:lnTo>
                  <a:lnTo>
                    <a:pt x="2617" y="365"/>
                  </a:lnTo>
                  <a:lnTo>
                    <a:pt x="2607" y="397"/>
                  </a:lnTo>
                  <a:lnTo>
                    <a:pt x="2598" y="427"/>
                  </a:lnTo>
                  <a:lnTo>
                    <a:pt x="2586" y="458"/>
                  </a:lnTo>
                  <a:lnTo>
                    <a:pt x="2575" y="488"/>
                  </a:lnTo>
                  <a:lnTo>
                    <a:pt x="2561" y="519"/>
                  </a:lnTo>
                  <a:lnTo>
                    <a:pt x="2556" y="534"/>
                  </a:lnTo>
                  <a:lnTo>
                    <a:pt x="2550" y="549"/>
                  </a:lnTo>
                  <a:lnTo>
                    <a:pt x="2542" y="564"/>
                  </a:lnTo>
                  <a:lnTo>
                    <a:pt x="2535" y="578"/>
                  </a:lnTo>
                  <a:lnTo>
                    <a:pt x="2529" y="593"/>
                  </a:lnTo>
                  <a:lnTo>
                    <a:pt x="2522" y="608"/>
                  </a:lnTo>
                  <a:lnTo>
                    <a:pt x="2514" y="621"/>
                  </a:lnTo>
                  <a:lnTo>
                    <a:pt x="2506" y="636"/>
                  </a:lnTo>
                  <a:lnTo>
                    <a:pt x="2499" y="650"/>
                  </a:lnTo>
                  <a:lnTo>
                    <a:pt x="2491" y="663"/>
                  </a:lnTo>
                  <a:lnTo>
                    <a:pt x="2482" y="678"/>
                  </a:lnTo>
                  <a:lnTo>
                    <a:pt x="2474" y="692"/>
                  </a:lnTo>
                  <a:lnTo>
                    <a:pt x="2466" y="705"/>
                  </a:lnTo>
                  <a:lnTo>
                    <a:pt x="2457" y="718"/>
                  </a:lnTo>
                  <a:lnTo>
                    <a:pt x="2447" y="732"/>
                  </a:lnTo>
                  <a:lnTo>
                    <a:pt x="2440" y="745"/>
                  </a:lnTo>
                  <a:lnTo>
                    <a:pt x="2430" y="758"/>
                  </a:lnTo>
                  <a:lnTo>
                    <a:pt x="2421" y="771"/>
                  </a:lnTo>
                  <a:lnTo>
                    <a:pt x="2411" y="785"/>
                  </a:lnTo>
                  <a:lnTo>
                    <a:pt x="2402" y="798"/>
                  </a:lnTo>
                  <a:lnTo>
                    <a:pt x="2392" y="811"/>
                  </a:lnTo>
                  <a:lnTo>
                    <a:pt x="2383" y="823"/>
                  </a:lnTo>
                  <a:lnTo>
                    <a:pt x="2373" y="836"/>
                  </a:lnTo>
                  <a:lnTo>
                    <a:pt x="2362" y="849"/>
                  </a:lnTo>
                  <a:lnTo>
                    <a:pt x="2352" y="861"/>
                  </a:lnTo>
                  <a:lnTo>
                    <a:pt x="2341" y="872"/>
                  </a:lnTo>
                  <a:lnTo>
                    <a:pt x="2331" y="885"/>
                  </a:lnTo>
                  <a:lnTo>
                    <a:pt x="2320" y="897"/>
                  </a:lnTo>
                  <a:lnTo>
                    <a:pt x="2309" y="908"/>
                  </a:lnTo>
                  <a:lnTo>
                    <a:pt x="2299" y="920"/>
                  </a:lnTo>
                  <a:lnTo>
                    <a:pt x="2288" y="931"/>
                  </a:lnTo>
                  <a:lnTo>
                    <a:pt x="2276" y="942"/>
                  </a:lnTo>
                  <a:lnTo>
                    <a:pt x="2265" y="954"/>
                  </a:lnTo>
                  <a:lnTo>
                    <a:pt x="2253" y="965"/>
                  </a:lnTo>
                  <a:lnTo>
                    <a:pt x="2242" y="977"/>
                  </a:lnTo>
                  <a:lnTo>
                    <a:pt x="2231" y="988"/>
                  </a:lnTo>
                  <a:lnTo>
                    <a:pt x="2217" y="998"/>
                  </a:lnTo>
                  <a:lnTo>
                    <a:pt x="2206" y="1009"/>
                  </a:lnTo>
                  <a:lnTo>
                    <a:pt x="2194" y="1018"/>
                  </a:lnTo>
                  <a:lnTo>
                    <a:pt x="2181" y="1030"/>
                  </a:lnTo>
                  <a:lnTo>
                    <a:pt x="2170" y="1039"/>
                  </a:lnTo>
                  <a:lnTo>
                    <a:pt x="2156" y="1049"/>
                  </a:lnTo>
                  <a:lnTo>
                    <a:pt x="2143" y="1058"/>
                  </a:lnTo>
                  <a:lnTo>
                    <a:pt x="2132" y="1070"/>
                  </a:lnTo>
                  <a:lnTo>
                    <a:pt x="2118" y="1079"/>
                  </a:lnTo>
                  <a:lnTo>
                    <a:pt x="2105" y="1089"/>
                  </a:lnTo>
                  <a:lnTo>
                    <a:pt x="2092" y="1096"/>
                  </a:lnTo>
                  <a:lnTo>
                    <a:pt x="2078" y="1106"/>
                  </a:lnTo>
                  <a:lnTo>
                    <a:pt x="2065" y="1115"/>
                  </a:lnTo>
                  <a:lnTo>
                    <a:pt x="2052" y="1123"/>
                  </a:lnTo>
                  <a:lnTo>
                    <a:pt x="2039" y="1133"/>
                  </a:lnTo>
                  <a:lnTo>
                    <a:pt x="2025" y="1140"/>
                  </a:lnTo>
                  <a:lnTo>
                    <a:pt x="2010" y="1150"/>
                  </a:lnTo>
                  <a:lnTo>
                    <a:pt x="1997" y="1157"/>
                  </a:lnTo>
                  <a:lnTo>
                    <a:pt x="1983" y="1165"/>
                  </a:lnTo>
                  <a:lnTo>
                    <a:pt x="1968" y="1172"/>
                  </a:lnTo>
                  <a:lnTo>
                    <a:pt x="1955" y="1180"/>
                  </a:lnTo>
                  <a:lnTo>
                    <a:pt x="1940" y="1188"/>
                  </a:lnTo>
                  <a:lnTo>
                    <a:pt x="1911" y="1203"/>
                  </a:lnTo>
                  <a:lnTo>
                    <a:pt x="1883" y="1216"/>
                  </a:lnTo>
                  <a:lnTo>
                    <a:pt x="1852" y="1229"/>
                  </a:lnTo>
                  <a:lnTo>
                    <a:pt x="1822" y="1241"/>
                  </a:lnTo>
                  <a:lnTo>
                    <a:pt x="1791" y="1254"/>
                  </a:lnTo>
                  <a:lnTo>
                    <a:pt x="1761" y="1264"/>
                  </a:lnTo>
                  <a:lnTo>
                    <a:pt x="1730" y="1275"/>
                  </a:lnTo>
                  <a:lnTo>
                    <a:pt x="1698" y="1285"/>
                  </a:lnTo>
                  <a:lnTo>
                    <a:pt x="1666" y="1292"/>
                  </a:lnTo>
                  <a:lnTo>
                    <a:pt x="1635" y="1300"/>
                  </a:lnTo>
                  <a:lnTo>
                    <a:pt x="1603" y="1307"/>
                  </a:lnTo>
                  <a:lnTo>
                    <a:pt x="1537" y="1319"/>
                  </a:lnTo>
                  <a:lnTo>
                    <a:pt x="1470" y="1328"/>
                  </a:lnTo>
                  <a:lnTo>
                    <a:pt x="1333" y="1334"/>
                  </a:lnTo>
                  <a:lnTo>
                    <a:pt x="1198" y="1328"/>
                  </a:lnTo>
                  <a:lnTo>
                    <a:pt x="1065" y="1307"/>
                  </a:lnTo>
                  <a:lnTo>
                    <a:pt x="1000" y="1292"/>
                  </a:lnTo>
                  <a:lnTo>
                    <a:pt x="970" y="1285"/>
                  </a:lnTo>
                  <a:lnTo>
                    <a:pt x="937" y="1275"/>
                  </a:lnTo>
                  <a:lnTo>
                    <a:pt x="907" y="1266"/>
                  </a:lnTo>
                  <a:lnTo>
                    <a:pt x="875" y="1254"/>
                  </a:lnTo>
                  <a:lnTo>
                    <a:pt x="844" y="1243"/>
                  </a:lnTo>
                  <a:lnTo>
                    <a:pt x="816" y="1229"/>
                  </a:lnTo>
                  <a:lnTo>
                    <a:pt x="785" y="1216"/>
                  </a:lnTo>
                  <a:lnTo>
                    <a:pt x="757" y="1203"/>
                  </a:lnTo>
                  <a:lnTo>
                    <a:pt x="726" y="1190"/>
                  </a:lnTo>
                  <a:lnTo>
                    <a:pt x="698" y="1174"/>
                  </a:lnTo>
                  <a:lnTo>
                    <a:pt x="685" y="1167"/>
                  </a:lnTo>
                  <a:lnTo>
                    <a:pt x="669" y="1157"/>
                  </a:lnTo>
                  <a:lnTo>
                    <a:pt x="656" y="1150"/>
                  </a:lnTo>
                  <a:lnTo>
                    <a:pt x="643" y="1142"/>
                  </a:lnTo>
                  <a:lnTo>
                    <a:pt x="629" y="1133"/>
                  </a:lnTo>
                  <a:lnTo>
                    <a:pt x="614" y="1125"/>
                  </a:lnTo>
                  <a:lnTo>
                    <a:pt x="601" y="1115"/>
                  </a:lnTo>
                  <a:lnTo>
                    <a:pt x="588" y="1106"/>
                  </a:lnTo>
                  <a:lnTo>
                    <a:pt x="574" y="1098"/>
                  </a:lnTo>
                  <a:lnTo>
                    <a:pt x="563" y="1089"/>
                  </a:lnTo>
                  <a:lnTo>
                    <a:pt x="550" y="1079"/>
                  </a:lnTo>
                  <a:lnTo>
                    <a:pt x="536" y="1070"/>
                  </a:lnTo>
                  <a:lnTo>
                    <a:pt x="523" y="1060"/>
                  </a:lnTo>
                  <a:lnTo>
                    <a:pt x="510" y="1051"/>
                  </a:lnTo>
                  <a:lnTo>
                    <a:pt x="498" y="1039"/>
                  </a:lnTo>
                  <a:lnTo>
                    <a:pt x="485" y="1030"/>
                  </a:lnTo>
                  <a:lnTo>
                    <a:pt x="474" y="1020"/>
                  </a:lnTo>
                  <a:lnTo>
                    <a:pt x="460" y="1009"/>
                  </a:lnTo>
                  <a:lnTo>
                    <a:pt x="449" y="999"/>
                  </a:lnTo>
                  <a:lnTo>
                    <a:pt x="437" y="988"/>
                  </a:lnTo>
                  <a:lnTo>
                    <a:pt x="426" y="977"/>
                  </a:lnTo>
                  <a:lnTo>
                    <a:pt x="415" y="965"/>
                  </a:lnTo>
                  <a:lnTo>
                    <a:pt x="401" y="956"/>
                  </a:lnTo>
                  <a:lnTo>
                    <a:pt x="390" y="944"/>
                  </a:lnTo>
                  <a:lnTo>
                    <a:pt x="378" y="933"/>
                  </a:lnTo>
                  <a:lnTo>
                    <a:pt x="369" y="922"/>
                  </a:lnTo>
                  <a:lnTo>
                    <a:pt x="358" y="910"/>
                  </a:lnTo>
                  <a:lnTo>
                    <a:pt x="346" y="897"/>
                  </a:lnTo>
                  <a:lnTo>
                    <a:pt x="337" y="885"/>
                  </a:lnTo>
                  <a:lnTo>
                    <a:pt x="325" y="874"/>
                  </a:lnTo>
                  <a:lnTo>
                    <a:pt x="316" y="861"/>
                  </a:lnTo>
                  <a:lnTo>
                    <a:pt x="304" y="849"/>
                  </a:lnTo>
                  <a:lnTo>
                    <a:pt x="295" y="836"/>
                  </a:lnTo>
                  <a:lnTo>
                    <a:pt x="285" y="825"/>
                  </a:lnTo>
                  <a:lnTo>
                    <a:pt x="274" y="811"/>
                  </a:lnTo>
                  <a:lnTo>
                    <a:pt x="264" y="798"/>
                  </a:lnTo>
                  <a:lnTo>
                    <a:pt x="255" y="787"/>
                  </a:lnTo>
                  <a:lnTo>
                    <a:pt x="245" y="773"/>
                  </a:lnTo>
                  <a:lnTo>
                    <a:pt x="236" y="760"/>
                  </a:lnTo>
                  <a:lnTo>
                    <a:pt x="228" y="747"/>
                  </a:lnTo>
                  <a:lnTo>
                    <a:pt x="219" y="733"/>
                  </a:lnTo>
                  <a:lnTo>
                    <a:pt x="209" y="720"/>
                  </a:lnTo>
                  <a:lnTo>
                    <a:pt x="202" y="705"/>
                  </a:lnTo>
                  <a:lnTo>
                    <a:pt x="192" y="692"/>
                  </a:lnTo>
                  <a:lnTo>
                    <a:pt x="184" y="678"/>
                  </a:lnTo>
                  <a:lnTo>
                    <a:pt x="177" y="665"/>
                  </a:lnTo>
                  <a:lnTo>
                    <a:pt x="169" y="650"/>
                  </a:lnTo>
                  <a:lnTo>
                    <a:pt x="160" y="636"/>
                  </a:lnTo>
                  <a:lnTo>
                    <a:pt x="152" y="621"/>
                  </a:lnTo>
                  <a:lnTo>
                    <a:pt x="145" y="608"/>
                  </a:lnTo>
                  <a:lnTo>
                    <a:pt x="139" y="593"/>
                  </a:lnTo>
                  <a:lnTo>
                    <a:pt x="131" y="579"/>
                  </a:lnTo>
                  <a:lnTo>
                    <a:pt x="124" y="564"/>
                  </a:lnTo>
                  <a:lnTo>
                    <a:pt x="118" y="549"/>
                  </a:lnTo>
                  <a:lnTo>
                    <a:pt x="110" y="534"/>
                  </a:lnTo>
                  <a:lnTo>
                    <a:pt x="105" y="519"/>
                  </a:lnTo>
                  <a:lnTo>
                    <a:pt x="91" y="490"/>
                  </a:lnTo>
                  <a:lnTo>
                    <a:pt x="80" y="460"/>
                  </a:lnTo>
                  <a:lnTo>
                    <a:pt x="68" y="427"/>
                  </a:lnTo>
                  <a:lnTo>
                    <a:pt x="59" y="397"/>
                  </a:lnTo>
                  <a:lnTo>
                    <a:pt x="49" y="365"/>
                  </a:lnTo>
                  <a:lnTo>
                    <a:pt x="42" y="334"/>
                  </a:lnTo>
                  <a:lnTo>
                    <a:pt x="32" y="302"/>
                  </a:lnTo>
                  <a:lnTo>
                    <a:pt x="27" y="270"/>
                  </a:lnTo>
                  <a:lnTo>
                    <a:pt x="15" y="203"/>
                  </a:lnTo>
                  <a:lnTo>
                    <a:pt x="6" y="137"/>
                  </a:lnTo>
                  <a:lnTo>
                    <a:pt x="0" y="0"/>
                  </a:lnTo>
                  <a:lnTo>
                    <a:pt x="242" y="0"/>
                  </a:lnTo>
                  <a:lnTo>
                    <a:pt x="247" y="112"/>
                  </a:lnTo>
                  <a:lnTo>
                    <a:pt x="255" y="167"/>
                  </a:lnTo>
                  <a:lnTo>
                    <a:pt x="264" y="220"/>
                  </a:lnTo>
                  <a:lnTo>
                    <a:pt x="270" y="247"/>
                  </a:lnTo>
                  <a:lnTo>
                    <a:pt x="276" y="273"/>
                  </a:lnTo>
                  <a:lnTo>
                    <a:pt x="283" y="298"/>
                  </a:lnTo>
                  <a:lnTo>
                    <a:pt x="291" y="325"/>
                  </a:lnTo>
                  <a:lnTo>
                    <a:pt x="299" y="349"/>
                  </a:lnTo>
                  <a:lnTo>
                    <a:pt x="308" y="376"/>
                  </a:lnTo>
                  <a:lnTo>
                    <a:pt x="318" y="401"/>
                  </a:lnTo>
                  <a:lnTo>
                    <a:pt x="327" y="426"/>
                  </a:lnTo>
                  <a:lnTo>
                    <a:pt x="333" y="437"/>
                  </a:lnTo>
                  <a:lnTo>
                    <a:pt x="338" y="450"/>
                  </a:lnTo>
                  <a:lnTo>
                    <a:pt x="344" y="462"/>
                  </a:lnTo>
                  <a:lnTo>
                    <a:pt x="350" y="473"/>
                  </a:lnTo>
                  <a:lnTo>
                    <a:pt x="356" y="486"/>
                  </a:lnTo>
                  <a:lnTo>
                    <a:pt x="361" y="498"/>
                  </a:lnTo>
                  <a:lnTo>
                    <a:pt x="367" y="509"/>
                  </a:lnTo>
                  <a:lnTo>
                    <a:pt x="375" y="521"/>
                  </a:lnTo>
                  <a:lnTo>
                    <a:pt x="380" y="532"/>
                  </a:lnTo>
                  <a:lnTo>
                    <a:pt x="386" y="543"/>
                  </a:lnTo>
                  <a:lnTo>
                    <a:pt x="394" y="555"/>
                  </a:lnTo>
                  <a:lnTo>
                    <a:pt x="399" y="566"/>
                  </a:lnTo>
                  <a:lnTo>
                    <a:pt x="407" y="578"/>
                  </a:lnTo>
                  <a:lnTo>
                    <a:pt x="415" y="589"/>
                  </a:lnTo>
                  <a:lnTo>
                    <a:pt x="422" y="600"/>
                  </a:lnTo>
                  <a:lnTo>
                    <a:pt x="428" y="610"/>
                  </a:lnTo>
                  <a:lnTo>
                    <a:pt x="435" y="621"/>
                  </a:lnTo>
                  <a:lnTo>
                    <a:pt x="443" y="633"/>
                  </a:lnTo>
                  <a:lnTo>
                    <a:pt x="451" y="642"/>
                  </a:lnTo>
                  <a:lnTo>
                    <a:pt x="458" y="654"/>
                  </a:lnTo>
                  <a:lnTo>
                    <a:pt x="468" y="663"/>
                  </a:lnTo>
                  <a:lnTo>
                    <a:pt x="475" y="674"/>
                  </a:lnTo>
                  <a:lnTo>
                    <a:pt x="483" y="684"/>
                  </a:lnTo>
                  <a:lnTo>
                    <a:pt x="491" y="695"/>
                  </a:lnTo>
                  <a:lnTo>
                    <a:pt x="500" y="705"/>
                  </a:lnTo>
                  <a:lnTo>
                    <a:pt x="508" y="714"/>
                  </a:lnTo>
                  <a:lnTo>
                    <a:pt x="517" y="724"/>
                  </a:lnTo>
                  <a:lnTo>
                    <a:pt x="527" y="733"/>
                  </a:lnTo>
                  <a:lnTo>
                    <a:pt x="534" y="745"/>
                  </a:lnTo>
                  <a:lnTo>
                    <a:pt x="544" y="754"/>
                  </a:lnTo>
                  <a:lnTo>
                    <a:pt x="553" y="764"/>
                  </a:lnTo>
                  <a:lnTo>
                    <a:pt x="563" y="771"/>
                  </a:lnTo>
                  <a:lnTo>
                    <a:pt x="572" y="781"/>
                  </a:lnTo>
                  <a:lnTo>
                    <a:pt x="580" y="790"/>
                  </a:lnTo>
                  <a:lnTo>
                    <a:pt x="590" y="800"/>
                  </a:lnTo>
                  <a:lnTo>
                    <a:pt x="601" y="808"/>
                  </a:lnTo>
                  <a:lnTo>
                    <a:pt x="610" y="817"/>
                  </a:lnTo>
                  <a:lnTo>
                    <a:pt x="620" y="827"/>
                  </a:lnTo>
                  <a:lnTo>
                    <a:pt x="629" y="834"/>
                  </a:lnTo>
                  <a:lnTo>
                    <a:pt x="639" y="842"/>
                  </a:lnTo>
                  <a:lnTo>
                    <a:pt x="650" y="851"/>
                  </a:lnTo>
                  <a:lnTo>
                    <a:pt x="660" y="859"/>
                  </a:lnTo>
                  <a:lnTo>
                    <a:pt x="671" y="866"/>
                  </a:lnTo>
                  <a:lnTo>
                    <a:pt x="681" y="876"/>
                  </a:lnTo>
                  <a:lnTo>
                    <a:pt x="692" y="884"/>
                  </a:lnTo>
                  <a:lnTo>
                    <a:pt x="702" y="891"/>
                  </a:lnTo>
                  <a:lnTo>
                    <a:pt x="713" y="899"/>
                  </a:lnTo>
                  <a:lnTo>
                    <a:pt x="725" y="906"/>
                  </a:lnTo>
                  <a:lnTo>
                    <a:pt x="745" y="920"/>
                  </a:lnTo>
                  <a:lnTo>
                    <a:pt x="768" y="935"/>
                  </a:lnTo>
                  <a:lnTo>
                    <a:pt x="791" y="948"/>
                  </a:lnTo>
                  <a:lnTo>
                    <a:pt x="814" y="960"/>
                  </a:lnTo>
                  <a:lnTo>
                    <a:pt x="837" y="973"/>
                  </a:lnTo>
                  <a:lnTo>
                    <a:pt x="861" y="984"/>
                  </a:lnTo>
                  <a:lnTo>
                    <a:pt x="884" y="996"/>
                  </a:lnTo>
                  <a:lnTo>
                    <a:pt x="909" y="1007"/>
                  </a:lnTo>
                  <a:lnTo>
                    <a:pt x="934" y="1017"/>
                  </a:lnTo>
                  <a:lnTo>
                    <a:pt x="958" y="1026"/>
                  </a:lnTo>
                  <a:lnTo>
                    <a:pt x="983" y="1034"/>
                  </a:lnTo>
                  <a:lnTo>
                    <a:pt x="1010" y="1043"/>
                  </a:lnTo>
                  <a:lnTo>
                    <a:pt x="1034" y="1051"/>
                  </a:lnTo>
                  <a:lnTo>
                    <a:pt x="1061" y="1058"/>
                  </a:lnTo>
                  <a:lnTo>
                    <a:pt x="1114" y="1070"/>
                  </a:lnTo>
                  <a:lnTo>
                    <a:pt x="1168" y="1079"/>
                  </a:lnTo>
                  <a:lnTo>
                    <a:pt x="1223" y="1087"/>
                  </a:lnTo>
                  <a:lnTo>
                    <a:pt x="1333" y="1093"/>
                  </a:lnTo>
                  <a:lnTo>
                    <a:pt x="1445" y="1087"/>
                  </a:lnTo>
                  <a:lnTo>
                    <a:pt x="1554" y="1070"/>
                  </a:lnTo>
                  <a:lnTo>
                    <a:pt x="1607" y="1057"/>
                  </a:lnTo>
                  <a:lnTo>
                    <a:pt x="1658" y="1043"/>
                  </a:lnTo>
                  <a:lnTo>
                    <a:pt x="1683" y="1034"/>
                  </a:lnTo>
                  <a:lnTo>
                    <a:pt x="1710" y="1026"/>
                  </a:lnTo>
                  <a:lnTo>
                    <a:pt x="1734" y="1017"/>
                  </a:lnTo>
                  <a:lnTo>
                    <a:pt x="1757" y="1005"/>
                  </a:lnTo>
                  <a:lnTo>
                    <a:pt x="1782" y="996"/>
                  </a:lnTo>
                  <a:lnTo>
                    <a:pt x="1807" y="984"/>
                  </a:lnTo>
                  <a:lnTo>
                    <a:pt x="1829" y="973"/>
                  </a:lnTo>
                  <a:lnTo>
                    <a:pt x="1854" y="960"/>
                  </a:lnTo>
                  <a:lnTo>
                    <a:pt x="1877" y="946"/>
                  </a:lnTo>
                  <a:lnTo>
                    <a:pt x="1900" y="933"/>
                  </a:lnTo>
                  <a:lnTo>
                    <a:pt x="1921" y="920"/>
                  </a:lnTo>
                  <a:lnTo>
                    <a:pt x="1943" y="904"/>
                  </a:lnTo>
                  <a:lnTo>
                    <a:pt x="1964" y="889"/>
                  </a:lnTo>
                  <a:lnTo>
                    <a:pt x="1985" y="874"/>
                  </a:lnTo>
                  <a:lnTo>
                    <a:pt x="1997" y="866"/>
                  </a:lnTo>
                  <a:lnTo>
                    <a:pt x="2006" y="859"/>
                  </a:lnTo>
                  <a:lnTo>
                    <a:pt x="2018" y="849"/>
                  </a:lnTo>
                  <a:lnTo>
                    <a:pt x="2027" y="842"/>
                  </a:lnTo>
                  <a:lnTo>
                    <a:pt x="2037" y="834"/>
                  </a:lnTo>
                  <a:lnTo>
                    <a:pt x="2048" y="825"/>
                  </a:lnTo>
                  <a:lnTo>
                    <a:pt x="2058" y="817"/>
                  </a:lnTo>
                  <a:lnTo>
                    <a:pt x="2067" y="808"/>
                  </a:lnTo>
                  <a:lnTo>
                    <a:pt x="2077" y="798"/>
                  </a:lnTo>
                  <a:lnTo>
                    <a:pt x="2086" y="790"/>
                  </a:lnTo>
                  <a:lnTo>
                    <a:pt x="2096" y="781"/>
                  </a:lnTo>
                  <a:lnTo>
                    <a:pt x="2105" y="771"/>
                  </a:lnTo>
                  <a:lnTo>
                    <a:pt x="2115" y="762"/>
                  </a:lnTo>
                  <a:lnTo>
                    <a:pt x="2122" y="752"/>
                  </a:lnTo>
                  <a:lnTo>
                    <a:pt x="2132" y="743"/>
                  </a:lnTo>
                  <a:lnTo>
                    <a:pt x="2141" y="733"/>
                  </a:lnTo>
                  <a:lnTo>
                    <a:pt x="2149" y="724"/>
                  </a:lnTo>
                  <a:lnTo>
                    <a:pt x="2158" y="714"/>
                  </a:lnTo>
                  <a:lnTo>
                    <a:pt x="2168" y="705"/>
                  </a:lnTo>
                  <a:lnTo>
                    <a:pt x="2175" y="693"/>
                  </a:lnTo>
                  <a:lnTo>
                    <a:pt x="2183" y="684"/>
                  </a:lnTo>
                  <a:lnTo>
                    <a:pt x="2193" y="673"/>
                  </a:lnTo>
                  <a:lnTo>
                    <a:pt x="2200" y="663"/>
                  </a:lnTo>
                  <a:lnTo>
                    <a:pt x="2208" y="654"/>
                  </a:lnTo>
                  <a:lnTo>
                    <a:pt x="2215" y="642"/>
                  </a:lnTo>
                  <a:lnTo>
                    <a:pt x="2223" y="631"/>
                  </a:lnTo>
                  <a:lnTo>
                    <a:pt x="2231" y="621"/>
                  </a:lnTo>
                  <a:lnTo>
                    <a:pt x="2238" y="610"/>
                  </a:lnTo>
                  <a:lnTo>
                    <a:pt x="2246" y="598"/>
                  </a:lnTo>
                  <a:lnTo>
                    <a:pt x="2253" y="587"/>
                  </a:lnTo>
                  <a:lnTo>
                    <a:pt x="2259" y="578"/>
                  </a:lnTo>
                  <a:lnTo>
                    <a:pt x="2267" y="566"/>
                  </a:lnTo>
                  <a:lnTo>
                    <a:pt x="2272" y="555"/>
                  </a:lnTo>
                  <a:lnTo>
                    <a:pt x="2280" y="543"/>
                  </a:lnTo>
                  <a:lnTo>
                    <a:pt x="2286" y="532"/>
                  </a:lnTo>
                  <a:lnTo>
                    <a:pt x="2293" y="521"/>
                  </a:lnTo>
                  <a:lnTo>
                    <a:pt x="2299" y="507"/>
                  </a:lnTo>
                  <a:lnTo>
                    <a:pt x="2305" y="496"/>
                  </a:lnTo>
                  <a:lnTo>
                    <a:pt x="2310" y="484"/>
                  </a:lnTo>
                  <a:lnTo>
                    <a:pt x="2316" y="473"/>
                  </a:lnTo>
                  <a:lnTo>
                    <a:pt x="2322" y="462"/>
                  </a:lnTo>
                  <a:lnTo>
                    <a:pt x="2328" y="448"/>
                  </a:lnTo>
                  <a:lnTo>
                    <a:pt x="2333" y="437"/>
                  </a:lnTo>
                  <a:lnTo>
                    <a:pt x="2339" y="426"/>
                  </a:lnTo>
                  <a:lnTo>
                    <a:pt x="2348" y="401"/>
                  </a:lnTo>
                  <a:lnTo>
                    <a:pt x="2358" y="374"/>
                  </a:lnTo>
                  <a:lnTo>
                    <a:pt x="2368" y="349"/>
                  </a:lnTo>
                  <a:lnTo>
                    <a:pt x="2375" y="325"/>
                  </a:lnTo>
                  <a:lnTo>
                    <a:pt x="2383" y="298"/>
                  </a:lnTo>
                  <a:lnTo>
                    <a:pt x="2390" y="273"/>
                  </a:lnTo>
                  <a:lnTo>
                    <a:pt x="2396" y="247"/>
                  </a:lnTo>
                  <a:lnTo>
                    <a:pt x="2402" y="220"/>
                  </a:lnTo>
                  <a:lnTo>
                    <a:pt x="2419" y="112"/>
                  </a:lnTo>
                  <a:lnTo>
                    <a:pt x="2425" y="0"/>
                  </a:lnTo>
                  <a:lnTo>
                    <a:pt x="2668" y="0"/>
                  </a:lnTo>
                  <a:close/>
                </a:path>
              </a:pathLst>
            </a:custGeom>
            <a:solidFill>
              <a:srgbClr val="5F5F5F"/>
            </a:solidFill>
            <a:ln w="9525">
              <a:solidFill>
                <a:srgbClr val="5F5F5F"/>
              </a:solidFill>
              <a:round/>
              <a:headEnd/>
              <a:tailEnd/>
            </a:ln>
          </p:spPr>
          <p:txBody>
            <a:bodyPr/>
            <a:lstStyle/>
            <a:p>
              <a:endParaRPr lang="en-US"/>
            </a:p>
          </p:txBody>
        </p:sp>
        <p:sp>
          <p:nvSpPr>
            <p:cNvPr id="8246" name="Freeform 121"/>
            <p:cNvSpPr>
              <a:spLocks/>
            </p:cNvSpPr>
            <p:nvPr/>
          </p:nvSpPr>
          <p:spPr bwMode="auto">
            <a:xfrm>
              <a:off x="4315" y="2475"/>
              <a:ext cx="95" cy="109"/>
            </a:xfrm>
            <a:custGeom>
              <a:avLst/>
              <a:gdLst>
                <a:gd name="T0" fmla="*/ 0 w 529"/>
                <a:gd name="T1" fmla="*/ 0 h 606"/>
                <a:gd name="T2" fmla="*/ 0 w 529"/>
                <a:gd name="T3" fmla="*/ 0 h 606"/>
                <a:gd name="T4" fmla="*/ 0 w 529"/>
                <a:gd name="T5" fmla="*/ 0 h 606"/>
                <a:gd name="T6" fmla="*/ 0 w 529"/>
                <a:gd name="T7" fmla="*/ 0 h 606"/>
                <a:gd name="T8" fmla="*/ 0 w 529"/>
                <a:gd name="T9" fmla="*/ 0 h 606"/>
                <a:gd name="T10" fmla="*/ 0 w 529"/>
                <a:gd name="T11" fmla="*/ 0 h 606"/>
                <a:gd name="T12" fmla="*/ 0 w 529"/>
                <a:gd name="T13" fmla="*/ 0 h 606"/>
                <a:gd name="T14" fmla="*/ 0 w 529"/>
                <a:gd name="T15" fmla="*/ 0 h 606"/>
                <a:gd name="T16" fmla="*/ 0 w 529"/>
                <a:gd name="T17" fmla="*/ 0 h 606"/>
                <a:gd name="T18" fmla="*/ 0 w 529"/>
                <a:gd name="T19" fmla="*/ 0 h 60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29"/>
                <a:gd name="T31" fmla="*/ 0 h 606"/>
                <a:gd name="T32" fmla="*/ 529 w 529"/>
                <a:gd name="T33" fmla="*/ 606 h 60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29" h="606">
                  <a:moveTo>
                    <a:pt x="0" y="606"/>
                  </a:moveTo>
                  <a:lnTo>
                    <a:pt x="529" y="606"/>
                  </a:lnTo>
                  <a:lnTo>
                    <a:pt x="478" y="53"/>
                  </a:lnTo>
                  <a:lnTo>
                    <a:pt x="352" y="0"/>
                  </a:lnTo>
                  <a:lnTo>
                    <a:pt x="390" y="484"/>
                  </a:lnTo>
                  <a:lnTo>
                    <a:pt x="152" y="484"/>
                  </a:lnTo>
                  <a:lnTo>
                    <a:pt x="207" y="0"/>
                  </a:lnTo>
                  <a:lnTo>
                    <a:pt x="86" y="53"/>
                  </a:lnTo>
                  <a:lnTo>
                    <a:pt x="0" y="606"/>
                  </a:lnTo>
                  <a:close/>
                </a:path>
              </a:pathLst>
            </a:custGeom>
            <a:solidFill>
              <a:srgbClr val="5F5F5F"/>
            </a:solidFill>
            <a:ln w="9525">
              <a:solidFill>
                <a:srgbClr val="5F5F5F"/>
              </a:solidFill>
              <a:round/>
              <a:headEnd/>
              <a:tailEnd/>
            </a:ln>
          </p:spPr>
          <p:txBody>
            <a:bodyPr/>
            <a:lstStyle/>
            <a:p>
              <a:endParaRPr lang="en-US"/>
            </a:p>
          </p:txBody>
        </p:sp>
        <p:sp>
          <p:nvSpPr>
            <p:cNvPr id="8247" name="Freeform 122"/>
            <p:cNvSpPr>
              <a:spLocks/>
            </p:cNvSpPr>
            <p:nvPr/>
          </p:nvSpPr>
          <p:spPr bwMode="auto">
            <a:xfrm>
              <a:off x="4311" y="2387"/>
              <a:ext cx="110" cy="100"/>
            </a:xfrm>
            <a:custGeom>
              <a:avLst/>
              <a:gdLst>
                <a:gd name="T0" fmla="*/ 0 w 613"/>
                <a:gd name="T1" fmla="*/ 0 h 551"/>
                <a:gd name="T2" fmla="*/ 0 w 613"/>
                <a:gd name="T3" fmla="*/ 0 h 551"/>
                <a:gd name="T4" fmla="*/ 0 w 613"/>
                <a:gd name="T5" fmla="*/ 0 h 551"/>
                <a:gd name="T6" fmla="*/ 0 w 613"/>
                <a:gd name="T7" fmla="*/ 0 h 551"/>
                <a:gd name="T8" fmla="*/ 0 w 613"/>
                <a:gd name="T9" fmla="*/ 0 h 551"/>
                <a:gd name="T10" fmla="*/ 0 w 613"/>
                <a:gd name="T11" fmla="*/ 0 h 551"/>
                <a:gd name="T12" fmla="*/ 0 w 613"/>
                <a:gd name="T13" fmla="*/ 0 h 551"/>
                <a:gd name="T14" fmla="*/ 0 w 613"/>
                <a:gd name="T15" fmla="*/ 0 h 551"/>
                <a:gd name="T16" fmla="*/ 0 w 613"/>
                <a:gd name="T17" fmla="*/ 0 h 551"/>
                <a:gd name="T18" fmla="*/ 0 w 613"/>
                <a:gd name="T19" fmla="*/ 0 h 551"/>
                <a:gd name="T20" fmla="*/ 0 w 613"/>
                <a:gd name="T21" fmla="*/ 0 h 551"/>
                <a:gd name="T22" fmla="*/ 0 w 613"/>
                <a:gd name="T23" fmla="*/ 0 h 551"/>
                <a:gd name="T24" fmla="*/ 0 w 613"/>
                <a:gd name="T25" fmla="*/ 0 h 551"/>
                <a:gd name="T26" fmla="*/ 0 w 613"/>
                <a:gd name="T27" fmla="*/ 0 h 551"/>
                <a:gd name="T28" fmla="*/ 0 w 613"/>
                <a:gd name="T29" fmla="*/ 0 h 551"/>
                <a:gd name="T30" fmla="*/ 0 w 613"/>
                <a:gd name="T31" fmla="*/ 0 h 551"/>
                <a:gd name="T32" fmla="*/ 0 w 613"/>
                <a:gd name="T33" fmla="*/ 0 h 551"/>
                <a:gd name="T34" fmla="*/ 0 w 613"/>
                <a:gd name="T35" fmla="*/ 0 h 551"/>
                <a:gd name="T36" fmla="*/ 0 w 613"/>
                <a:gd name="T37" fmla="*/ 0 h 551"/>
                <a:gd name="T38" fmla="*/ 0 w 613"/>
                <a:gd name="T39" fmla="*/ 0 h 551"/>
                <a:gd name="T40" fmla="*/ 0 w 613"/>
                <a:gd name="T41" fmla="*/ 0 h 551"/>
                <a:gd name="T42" fmla="*/ 0 w 613"/>
                <a:gd name="T43" fmla="*/ 0 h 551"/>
                <a:gd name="T44" fmla="*/ 0 w 613"/>
                <a:gd name="T45" fmla="*/ 0 h 551"/>
                <a:gd name="T46" fmla="*/ 0 w 613"/>
                <a:gd name="T47" fmla="*/ 0 h 551"/>
                <a:gd name="T48" fmla="*/ 0 w 613"/>
                <a:gd name="T49" fmla="*/ 0 h 551"/>
                <a:gd name="T50" fmla="*/ 0 w 613"/>
                <a:gd name="T51" fmla="*/ 0 h 551"/>
                <a:gd name="T52" fmla="*/ 0 w 613"/>
                <a:gd name="T53" fmla="*/ 0 h 551"/>
                <a:gd name="T54" fmla="*/ 0 w 613"/>
                <a:gd name="T55" fmla="*/ 0 h 551"/>
                <a:gd name="T56" fmla="*/ 0 w 613"/>
                <a:gd name="T57" fmla="*/ 0 h 551"/>
                <a:gd name="T58" fmla="*/ 0 w 613"/>
                <a:gd name="T59" fmla="*/ 0 h 551"/>
                <a:gd name="T60" fmla="*/ 0 w 613"/>
                <a:gd name="T61" fmla="*/ 0 h 551"/>
                <a:gd name="T62" fmla="*/ 0 w 613"/>
                <a:gd name="T63" fmla="*/ 0 h 551"/>
                <a:gd name="T64" fmla="*/ 0 w 613"/>
                <a:gd name="T65" fmla="*/ 0 h 551"/>
                <a:gd name="T66" fmla="*/ 0 w 613"/>
                <a:gd name="T67" fmla="*/ 0 h 551"/>
                <a:gd name="T68" fmla="*/ 0 w 613"/>
                <a:gd name="T69" fmla="*/ 0 h 551"/>
                <a:gd name="T70" fmla="*/ 0 w 613"/>
                <a:gd name="T71" fmla="*/ 0 h 551"/>
                <a:gd name="T72" fmla="*/ 0 w 613"/>
                <a:gd name="T73" fmla="*/ 0 h 551"/>
                <a:gd name="T74" fmla="*/ 0 w 613"/>
                <a:gd name="T75" fmla="*/ 0 h 551"/>
                <a:gd name="T76" fmla="*/ 0 w 613"/>
                <a:gd name="T77" fmla="*/ 0 h 551"/>
                <a:gd name="T78" fmla="*/ 0 w 613"/>
                <a:gd name="T79" fmla="*/ 0 h 551"/>
                <a:gd name="T80" fmla="*/ 0 w 613"/>
                <a:gd name="T81" fmla="*/ 0 h 551"/>
                <a:gd name="T82" fmla="*/ 0 w 613"/>
                <a:gd name="T83" fmla="*/ 0 h 551"/>
                <a:gd name="T84" fmla="*/ 0 w 613"/>
                <a:gd name="T85" fmla="*/ 0 h 551"/>
                <a:gd name="T86" fmla="*/ 0 w 613"/>
                <a:gd name="T87" fmla="*/ 0 h 551"/>
                <a:gd name="T88" fmla="*/ 0 w 613"/>
                <a:gd name="T89" fmla="*/ 0 h 551"/>
                <a:gd name="T90" fmla="*/ 0 w 613"/>
                <a:gd name="T91" fmla="*/ 0 h 551"/>
                <a:gd name="T92" fmla="*/ 0 w 613"/>
                <a:gd name="T93" fmla="*/ 0 h 551"/>
                <a:gd name="T94" fmla="*/ 0 w 613"/>
                <a:gd name="T95" fmla="*/ 0 h 551"/>
                <a:gd name="T96" fmla="*/ 0 w 613"/>
                <a:gd name="T97" fmla="*/ 0 h 551"/>
                <a:gd name="T98" fmla="*/ 0 w 613"/>
                <a:gd name="T99" fmla="*/ 0 h 551"/>
                <a:gd name="T100" fmla="*/ 0 w 613"/>
                <a:gd name="T101" fmla="*/ 0 h 551"/>
                <a:gd name="T102" fmla="*/ 0 w 613"/>
                <a:gd name="T103" fmla="*/ 0 h 551"/>
                <a:gd name="T104" fmla="*/ 0 w 613"/>
                <a:gd name="T105" fmla="*/ 0 h 551"/>
                <a:gd name="T106" fmla="*/ 0 w 613"/>
                <a:gd name="T107" fmla="*/ 0 h 551"/>
                <a:gd name="T108" fmla="*/ 0 w 613"/>
                <a:gd name="T109" fmla="*/ 0 h 551"/>
                <a:gd name="T110" fmla="*/ 0 w 613"/>
                <a:gd name="T111" fmla="*/ 0 h 551"/>
                <a:gd name="T112" fmla="*/ 0 w 613"/>
                <a:gd name="T113" fmla="*/ 0 h 55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613"/>
                <a:gd name="T172" fmla="*/ 0 h 551"/>
                <a:gd name="T173" fmla="*/ 613 w 613"/>
                <a:gd name="T174" fmla="*/ 551 h 55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613" h="551">
                  <a:moveTo>
                    <a:pt x="381" y="487"/>
                  </a:moveTo>
                  <a:lnTo>
                    <a:pt x="415" y="468"/>
                  </a:lnTo>
                  <a:lnTo>
                    <a:pt x="430" y="456"/>
                  </a:lnTo>
                  <a:lnTo>
                    <a:pt x="443" y="443"/>
                  </a:lnTo>
                  <a:lnTo>
                    <a:pt x="455" y="430"/>
                  </a:lnTo>
                  <a:lnTo>
                    <a:pt x="464" y="414"/>
                  </a:lnTo>
                  <a:lnTo>
                    <a:pt x="474" y="399"/>
                  </a:lnTo>
                  <a:lnTo>
                    <a:pt x="481" y="382"/>
                  </a:lnTo>
                  <a:lnTo>
                    <a:pt x="491" y="348"/>
                  </a:lnTo>
                  <a:lnTo>
                    <a:pt x="495" y="312"/>
                  </a:lnTo>
                  <a:lnTo>
                    <a:pt x="491" y="274"/>
                  </a:lnTo>
                  <a:lnTo>
                    <a:pt x="485" y="255"/>
                  </a:lnTo>
                  <a:lnTo>
                    <a:pt x="480" y="238"/>
                  </a:lnTo>
                  <a:lnTo>
                    <a:pt x="474" y="228"/>
                  </a:lnTo>
                  <a:lnTo>
                    <a:pt x="470" y="220"/>
                  </a:lnTo>
                  <a:lnTo>
                    <a:pt x="461" y="203"/>
                  </a:lnTo>
                  <a:lnTo>
                    <a:pt x="455" y="196"/>
                  </a:lnTo>
                  <a:lnTo>
                    <a:pt x="449" y="190"/>
                  </a:lnTo>
                  <a:lnTo>
                    <a:pt x="436" y="177"/>
                  </a:lnTo>
                  <a:lnTo>
                    <a:pt x="423" y="163"/>
                  </a:lnTo>
                  <a:lnTo>
                    <a:pt x="407" y="154"/>
                  </a:lnTo>
                  <a:lnTo>
                    <a:pt x="392" y="144"/>
                  </a:lnTo>
                  <a:lnTo>
                    <a:pt x="375" y="137"/>
                  </a:lnTo>
                  <a:lnTo>
                    <a:pt x="341" y="127"/>
                  </a:lnTo>
                  <a:lnTo>
                    <a:pt x="305" y="124"/>
                  </a:lnTo>
                  <a:lnTo>
                    <a:pt x="230" y="139"/>
                  </a:lnTo>
                  <a:lnTo>
                    <a:pt x="198" y="158"/>
                  </a:lnTo>
                  <a:lnTo>
                    <a:pt x="183" y="169"/>
                  </a:lnTo>
                  <a:lnTo>
                    <a:pt x="170" y="182"/>
                  </a:lnTo>
                  <a:lnTo>
                    <a:pt x="158" y="196"/>
                  </a:lnTo>
                  <a:lnTo>
                    <a:pt x="149" y="211"/>
                  </a:lnTo>
                  <a:lnTo>
                    <a:pt x="139" y="228"/>
                  </a:lnTo>
                  <a:lnTo>
                    <a:pt x="132" y="243"/>
                  </a:lnTo>
                  <a:lnTo>
                    <a:pt x="122" y="279"/>
                  </a:lnTo>
                  <a:lnTo>
                    <a:pt x="118" y="315"/>
                  </a:lnTo>
                  <a:lnTo>
                    <a:pt x="122" y="352"/>
                  </a:lnTo>
                  <a:lnTo>
                    <a:pt x="128" y="371"/>
                  </a:lnTo>
                  <a:lnTo>
                    <a:pt x="135" y="390"/>
                  </a:lnTo>
                  <a:lnTo>
                    <a:pt x="141" y="403"/>
                  </a:lnTo>
                  <a:lnTo>
                    <a:pt x="147" y="411"/>
                  </a:lnTo>
                  <a:lnTo>
                    <a:pt x="151" y="418"/>
                  </a:lnTo>
                  <a:lnTo>
                    <a:pt x="156" y="426"/>
                  </a:lnTo>
                  <a:lnTo>
                    <a:pt x="162" y="431"/>
                  </a:lnTo>
                  <a:lnTo>
                    <a:pt x="175" y="447"/>
                  </a:lnTo>
                  <a:lnTo>
                    <a:pt x="189" y="458"/>
                  </a:lnTo>
                  <a:lnTo>
                    <a:pt x="202" y="469"/>
                  </a:lnTo>
                  <a:lnTo>
                    <a:pt x="217" y="479"/>
                  </a:lnTo>
                  <a:lnTo>
                    <a:pt x="230" y="487"/>
                  </a:lnTo>
                  <a:lnTo>
                    <a:pt x="120" y="551"/>
                  </a:lnTo>
                  <a:lnTo>
                    <a:pt x="105" y="540"/>
                  </a:lnTo>
                  <a:lnTo>
                    <a:pt x="90" y="525"/>
                  </a:lnTo>
                  <a:lnTo>
                    <a:pt x="76" y="509"/>
                  </a:lnTo>
                  <a:lnTo>
                    <a:pt x="63" y="496"/>
                  </a:lnTo>
                  <a:lnTo>
                    <a:pt x="54" y="483"/>
                  </a:lnTo>
                  <a:lnTo>
                    <a:pt x="46" y="469"/>
                  </a:lnTo>
                  <a:lnTo>
                    <a:pt x="38" y="456"/>
                  </a:lnTo>
                  <a:lnTo>
                    <a:pt x="31" y="443"/>
                  </a:lnTo>
                  <a:lnTo>
                    <a:pt x="10" y="386"/>
                  </a:lnTo>
                  <a:lnTo>
                    <a:pt x="0" y="327"/>
                  </a:lnTo>
                  <a:lnTo>
                    <a:pt x="2" y="268"/>
                  </a:lnTo>
                  <a:lnTo>
                    <a:pt x="6" y="239"/>
                  </a:lnTo>
                  <a:lnTo>
                    <a:pt x="16" y="211"/>
                  </a:lnTo>
                  <a:lnTo>
                    <a:pt x="25" y="184"/>
                  </a:lnTo>
                  <a:lnTo>
                    <a:pt x="31" y="171"/>
                  </a:lnTo>
                  <a:lnTo>
                    <a:pt x="38" y="158"/>
                  </a:lnTo>
                  <a:lnTo>
                    <a:pt x="46" y="144"/>
                  </a:lnTo>
                  <a:lnTo>
                    <a:pt x="54" y="131"/>
                  </a:lnTo>
                  <a:lnTo>
                    <a:pt x="63" y="120"/>
                  </a:lnTo>
                  <a:lnTo>
                    <a:pt x="73" y="108"/>
                  </a:lnTo>
                  <a:lnTo>
                    <a:pt x="84" y="97"/>
                  </a:lnTo>
                  <a:lnTo>
                    <a:pt x="94" y="86"/>
                  </a:lnTo>
                  <a:lnTo>
                    <a:pt x="105" y="74"/>
                  </a:lnTo>
                  <a:lnTo>
                    <a:pt x="118" y="65"/>
                  </a:lnTo>
                  <a:lnTo>
                    <a:pt x="132" y="55"/>
                  </a:lnTo>
                  <a:lnTo>
                    <a:pt x="143" y="47"/>
                  </a:lnTo>
                  <a:lnTo>
                    <a:pt x="156" y="40"/>
                  </a:lnTo>
                  <a:lnTo>
                    <a:pt x="172" y="32"/>
                  </a:lnTo>
                  <a:lnTo>
                    <a:pt x="198" y="19"/>
                  </a:lnTo>
                  <a:lnTo>
                    <a:pt x="227" y="11"/>
                  </a:lnTo>
                  <a:lnTo>
                    <a:pt x="255" y="4"/>
                  </a:lnTo>
                  <a:lnTo>
                    <a:pt x="286" y="0"/>
                  </a:lnTo>
                  <a:lnTo>
                    <a:pt x="345" y="2"/>
                  </a:lnTo>
                  <a:lnTo>
                    <a:pt x="402" y="15"/>
                  </a:lnTo>
                  <a:lnTo>
                    <a:pt x="430" y="27"/>
                  </a:lnTo>
                  <a:lnTo>
                    <a:pt x="455" y="40"/>
                  </a:lnTo>
                  <a:lnTo>
                    <a:pt x="481" y="55"/>
                  </a:lnTo>
                  <a:lnTo>
                    <a:pt x="493" y="65"/>
                  </a:lnTo>
                  <a:lnTo>
                    <a:pt x="506" y="74"/>
                  </a:lnTo>
                  <a:lnTo>
                    <a:pt x="518" y="84"/>
                  </a:lnTo>
                  <a:lnTo>
                    <a:pt x="527" y="95"/>
                  </a:lnTo>
                  <a:lnTo>
                    <a:pt x="539" y="106"/>
                  </a:lnTo>
                  <a:lnTo>
                    <a:pt x="548" y="120"/>
                  </a:lnTo>
                  <a:lnTo>
                    <a:pt x="558" y="131"/>
                  </a:lnTo>
                  <a:lnTo>
                    <a:pt x="565" y="144"/>
                  </a:lnTo>
                  <a:lnTo>
                    <a:pt x="575" y="158"/>
                  </a:lnTo>
                  <a:lnTo>
                    <a:pt x="580" y="171"/>
                  </a:lnTo>
                  <a:lnTo>
                    <a:pt x="601" y="228"/>
                  </a:lnTo>
                  <a:lnTo>
                    <a:pt x="613" y="287"/>
                  </a:lnTo>
                  <a:lnTo>
                    <a:pt x="611" y="346"/>
                  </a:lnTo>
                  <a:lnTo>
                    <a:pt x="605" y="374"/>
                  </a:lnTo>
                  <a:lnTo>
                    <a:pt x="597" y="403"/>
                  </a:lnTo>
                  <a:lnTo>
                    <a:pt x="586" y="430"/>
                  </a:lnTo>
                  <a:lnTo>
                    <a:pt x="580" y="443"/>
                  </a:lnTo>
                  <a:lnTo>
                    <a:pt x="573" y="458"/>
                  </a:lnTo>
                  <a:lnTo>
                    <a:pt x="565" y="469"/>
                  </a:lnTo>
                  <a:lnTo>
                    <a:pt x="558" y="483"/>
                  </a:lnTo>
                  <a:lnTo>
                    <a:pt x="548" y="494"/>
                  </a:lnTo>
                  <a:lnTo>
                    <a:pt x="539" y="506"/>
                  </a:lnTo>
                  <a:lnTo>
                    <a:pt x="529" y="517"/>
                  </a:lnTo>
                  <a:lnTo>
                    <a:pt x="518" y="528"/>
                  </a:lnTo>
                  <a:lnTo>
                    <a:pt x="506" y="540"/>
                  </a:lnTo>
                  <a:lnTo>
                    <a:pt x="493" y="549"/>
                  </a:lnTo>
                  <a:lnTo>
                    <a:pt x="381" y="487"/>
                  </a:lnTo>
                  <a:close/>
                </a:path>
              </a:pathLst>
            </a:custGeom>
            <a:solidFill>
              <a:srgbClr val="5F5F5F"/>
            </a:solidFill>
            <a:ln w="9525">
              <a:solidFill>
                <a:srgbClr val="5F5F5F"/>
              </a:solidFill>
              <a:round/>
              <a:headEnd/>
              <a:tailEnd/>
            </a:ln>
          </p:spPr>
          <p:txBody>
            <a:bodyPr/>
            <a:lstStyle/>
            <a:p>
              <a:endParaRPr lang="en-US"/>
            </a:p>
          </p:txBody>
        </p:sp>
        <p:sp>
          <p:nvSpPr>
            <p:cNvPr id="8248" name="Freeform 123"/>
            <p:cNvSpPr>
              <a:spLocks/>
            </p:cNvSpPr>
            <p:nvPr/>
          </p:nvSpPr>
          <p:spPr bwMode="auto">
            <a:xfrm>
              <a:off x="4168" y="1922"/>
              <a:ext cx="393" cy="202"/>
            </a:xfrm>
            <a:custGeom>
              <a:avLst/>
              <a:gdLst>
                <a:gd name="T0" fmla="*/ 0 w 2183"/>
                <a:gd name="T1" fmla="*/ 0 h 1119"/>
                <a:gd name="T2" fmla="*/ 0 w 2183"/>
                <a:gd name="T3" fmla="*/ 0 h 1119"/>
                <a:gd name="T4" fmla="*/ 0 w 2183"/>
                <a:gd name="T5" fmla="*/ 0 h 1119"/>
                <a:gd name="T6" fmla="*/ 0 w 2183"/>
                <a:gd name="T7" fmla="*/ 0 h 1119"/>
                <a:gd name="T8" fmla="*/ 0 w 2183"/>
                <a:gd name="T9" fmla="*/ 0 h 1119"/>
                <a:gd name="T10" fmla="*/ 0 w 2183"/>
                <a:gd name="T11" fmla="*/ 0 h 1119"/>
                <a:gd name="T12" fmla="*/ 0 w 2183"/>
                <a:gd name="T13" fmla="*/ 0 h 1119"/>
                <a:gd name="T14" fmla="*/ 0 w 2183"/>
                <a:gd name="T15" fmla="*/ 0 h 1119"/>
                <a:gd name="T16" fmla="*/ 0 w 2183"/>
                <a:gd name="T17" fmla="*/ 0 h 1119"/>
                <a:gd name="T18" fmla="*/ 0 w 2183"/>
                <a:gd name="T19" fmla="*/ 0 h 1119"/>
                <a:gd name="T20" fmla="*/ 0 w 2183"/>
                <a:gd name="T21" fmla="*/ 0 h 1119"/>
                <a:gd name="T22" fmla="*/ 0 w 2183"/>
                <a:gd name="T23" fmla="*/ 0 h 1119"/>
                <a:gd name="T24" fmla="*/ 0 w 2183"/>
                <a:gd name="T25" fmla="*/ 0 h 1119"/>
                <a:gd name="T26" fmla="*/ 0 w 2183"/>
                <a:gd name="T27" fmla="*/ 0 h 1119"/>
                <a:gd name="T28" fmla="*/ 0 w 2183"/>
                <a:gd name="T29" fmla="*/ 0 h 1119"/>
                <a:gd name="T30" fmla="*/ 0 w 2183"/>
                <a:gd name="T31" fmla="*/ 0 h 1119"/>
                <a:gd name="T32" fmla="*/ 0 w 2183"/>
                <a:gd name="T33" fmla="*/ 0 h 1119"/>
                <a:gd name="T34" fmla="*/ 0 w 2183"/>
                <a:gd name="T35" fmla="*/ 0 h 1119"/>
                <a:gd name="T36" fmla="*/ 0 w 2183"/>
                <a:gd name="T37" fmla="*/ 0 h 1119"/>
                <a:gd name="T38" fmla="*/ 0 w 2183"/>
                <a:gd name="T39" fmla="*/ 0 h 1119"/>
                <a:gd name="T40" fmla="*/ 0 w 2183"/>
                <a:gd name="T41" fmla="*/ 0 h 1119"/>
                <a:gd name="T42" fmla="*/ 0 w 2183"/>
                <a:gd name="T43" fmla="*/ 0 h 1119"/>
                <a:gd name="T44" fmla="*/ 0 w 2183"/>
                <a:gd name="T45" fmla="*/ 0 h 1119"/>
                <a:gd name="T46" fmla="*/ 0 w 2183"/>
                <a:gd name="T47" fmla="*/ 0 h 1119"/>
                <a:gd name="T48" fmla="*/ 0 w 2183"/>
                <a:gd name="T49" fmla="*/ 0 h 1119"/>
                <a:gd name="T50" fmla="*/ 0 w 2183"/>
                <a:gd name="T51" fmla="*/ 0 h 1119"/>
                <a:gd name="T52" fmla="*/ 0 w 2183"/>
                <a:gd name="T53" fmla="*/ 0 h 1119"/>
                <a:gd name="T54" fmla="*/ 0 w 2183"/>
                <a:gd name="T55" fmla="*/ 0 h 1119"/>
                <a:gd name="T56" fmla="*/ 0 w 2183"/>
                <a:gd name="T57" fmla="*/ 0 h 1119"/>
                <a:gd name="T58" fmla="*/ 0 w 2183"/>
                <a:gd name="T59" fmla="*/ 0 h 1119"/>
                <a:gd name="T60" fmla="*/ 0 w 2183"/>
                <a:gd name="T61" fmla="*/ 0 h 1119"/>
                <a:gd name="T62" fmla="*/ 0 w 2183"/>
                <a:gd name="T63" fmla="*/ 0 h 1119"/>
                <a:gd name="T64" fmla="*/ 0 w 2183"/>
                <a:gd name="T65" fmla="*/ 0 h 1119"/>
                <a:gd name="T66" fmla="*/ 0 w 2183"/>
                <a:gd name="T67" fmla="*/ 0 h 1119"/>
                <a:gd name="T68" fmla="*/ 0 w 2183"/>
                <a:gd name="T69" fmla="*/ 0 h 1119"/>
                <a:gd name="T70" fmla="*/ 0 w 2183"/>
                <a:gd name="T71" fmla="*/ 0 h 1119"/>
                <a:gd name="T72" fmla="*/ 0 w 2183"/>
                <a:gd name="T73" fmla="*/ 0 h 1119"/>
                <a:gd name="T74" fmla="*/ 0 w 2183"/>
                <a:gd name="T75" fmla="*/ 0 h 1119"/>
                <a:gd name="T76" fmla="*/ 0 w 2183"/>
                <a:gd name="T77" fmla="*/ 0 h 1119"/>
                <a:gd name="T78" fmla="*/ 0 w 2183"/>
                <a:gd name="T79" fmla="*/ 0 h 1119"/>
                <a:gd name="T80" fmla="*/ 0 w 2183"/>
                <a:gd name="T81" fmla="*/ 0 h 1119"/>
                <a:gd name="T82" fmla="*/ 0 w 2183"/>
                <a:gd name="T83" fmla="*/ 0 h 1119"/>
                <a:gd name="T84" fmla="*/ 0 w 2183"/>
                <a:gd name="T85" fmla="*/ 0 h 1119"/>
                <a:gd name="T86" fmla="*/ 0 w 2183"/>
                <a:gd name="T87" fmla="*/ 0 h 1119"/>
                <a:gd name="T88" fmla="*/ 0 w 2183"/>
                <a:gd name="T89" fmla="*/ 0 h 1119"/>
                <a:gd name="T90" fmla="*/ 0 w 2183"/>
                <a:gd name="T91" fmla="*/ 0 h 1119"/>
                <a:gd name="T92" fmla="*/ 0 w 2183"/>
                <a:gd name="T93" fmla="*/ 0 h 1119"/>
                <a:gd name="T94" fmla="*/ 0 w 2183"/>
                <a:gd name="T95" fmla="*/ 0 h 1119"/>
                <a:gd name="T96" fmla="*/ 0 w 2183"/>
                <a:gd name="T97" fmla="*/ 0 h 1119"/>
                <a:gd name="T98" fmla="*/ 0 w 2183"/>
                <a:gd name="T99" fmla="*/ 0 h 1119"/>
                <a:gd name="T100" fmla="*/ 0 w 2183"/>
                <a:gd name="T101" fmla="*/ 0 h 1119"/>
                <a:gd name="T102" fmla="*/ 0 w 2183"/>
                <a:gd name="T103" fmla="*/ 0 h 1119"/>
                <a:gd name="T104" fmla="*/ 0 w 2183"/>
                <a:gd name="T105" fmla="*/ 0 h 1119"/>
                <a:gd name="T106" fmla="*/ 0 w 2183"/>
                <a:gd name="T107" fmla="*/ 0 h 1119"/>
                <a:gd name="T108" fmla="*/ 0 w 2183"/>
                <a:gd name="T109" fmla="*/ 0 h 1119"/>
                <a:gd name="T110" fmla="*/ 0 w 2183"/>
                <a:gd name="T111" fmla="*/ 0 h 111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183"/>
                <a:gd name="T169" fmla="*/ 0 h 1119"/>
                <a:gd name="T170" fmla="*/ 2183 w 2183"/>
                <a:gd name="T171" fmla="*/ 1119 h 111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183" h="1119">
                  <a:moveTo>
                    <a:pt x="0" y="1119"/>
                  </a:moveTo>
                  <a:lnTo>
                    <a:pt x="0" y="1093"/>
                  </a:lnTo>
                  <a:lnTo>
                    <a:pt x="0" y="1066"/>
                  </a:lnTo>
                  <a:lnTo>
                    <a:pt x="3" y="1009"/>
                  </a:lnTo>
                  <a:lnTo>
                    <a:pt x="7" y="954"/>
                  </a:lnTo>
                  <a:lnTo>
                    <a:pt x="17" y="901"/>
                  </a:lnTo>
                  <a:lnTo>
                    <a:pt x="20" y="872"/>
                  </a:lnTo>
                  <a:lnTo>
                    <a:pt x="26" y="848"/>
                  </a:lnTo>
                  <a:lnTo>
                    <a:pt x="34" y="821"/>
                  </a:lnTo>
                  <a:lnTo>
                    <a:pt x="41" y="794"/>
                  </a:lnTo>
                  <a:lnTo>
                    <a:pt x="49" y="768"/>
                  </a:lnTo>
                  <a:lnTo>
                    <a:pt x="57" y="743"/>
                  </a:lnTo>
                  <a:lnTo>
                    <a:pt x="66" y="717"/>
                  </a:lnTo>
                  <a:lnTo>
                    <a:pt x="76" y="692"/>
                  </a:lnTo>
                  <a:lnTo>
                    <a:pt x="85" y="667"/>
                  </a:lnTo>
                  <a:lnTo>
                    <a:pt x="91" y="656"/>
                  </a:lnTo>
                  <a:lnTo>
                    <a:pt x="96" y="642"/>
                  </a:lnTo>
                  <a:lnTo>
                    <a:pt x="100" y="631"/>
                  </a:lnTo>
                  <a:lnTo>
                    <a:pt x="106" y="620"/>
                  </a:lnTo>
                  <a:lnTo>
                    <a:pt x="114" y="606"/>
                  </a:lnTo>
                  <a:lnTo>
                    <a:pt x="119" y="595"/>
                  </a:lnTo>
                  <a:lnTo>
                    <a:pt x="125" y="583"/>
                  </a:lnTo>
                  <a:lnTo>
                    <a:pt x="131" y="572"/>
                  </a:lnTo>
                  <a:lnTo>
                    <a:pt x="138" y="561"/>
                  </a:lnTo>
                  <a:lnTo>
                    <a:pt x="144" y="549"/>
                  </a:lnTo>
                  <a:lnTo>
                    <a:pt x="152" y="538"/>
                  </a:lnTo>
                  <a:lnTo>
                    <a:pt x="157" y="526"/>
                  </a:lnTo>
                  <a:lnTo>
                    <a:pt x="165" y="515"/>
                  </a:lnTo>
                  <a:lnTo>
                    <a:pt x="171" y="504"/>
                  </a:lnTo>
                  <a:lnTo>
                    <a:pt x="178" y="492"/>
                  </a:lnTo>
                  <a:lnTo>
                    <a:pt x="186" y="483"/>
                  </a:lnTo>
                  <a:lnTo>
                    <a:pt x="193" y="471"/>
                  </a:lnTo>
                  <a:lnTo>
                    <a:pt x="201" y="460"/>
                  </a:lnTo>
                  <a:lnTo>
                    <a:pt x="209" y="449"/>
                  </a:lnTo>
                  <a:lnTo>
                    <a:pt x="216" y="439"/>
                  </a:lnTo>
                  <a:lnTo>
                    <a:pt x="224" y="428"/>
                  </a:lnTo>
                  <a:lnTo>
                    <a:pt x="232" y="418"/>
                  </a:lnTo>
                  <a:lnTo>
                    <a:pt x="241" y="409"/>
                  </a:lnTo>
                  <a:lnTo>
                    <a:pt x="249" y="397"/>
                  </a:lnTo>
                  <a:lnTo>
                    <a:pt x="258" y="388"/>
                  </a:lnTo>
                  <a:lnTo>
                    <a:pt x="266" y="378"/>
                  </a:lnTo>
                  <a:lnTo>
                    <a:pt x="275" y="367"/>
                  </a:lnTo>
                  <a:lnTo>
                    <a:pt x="283" y="357"/>
                  </a:lnTo>
                  <a:lnTo>
                    <a:pt x="292" y="348"/>
                  </a:lnTo>
                  <a:lnTo>
                    <a:pt x="302" y="338"/>
                  </a:lnTo>
                  <a:lnTo>
                    <a:pt x="309" y="329"/>
                  </a:lnTo>
                  <a:lnTo>
                    <a:pt x="319" y="319"/>
                  </a:lnTo>
                  <a:lnTo>
                    <a:pt x="328" y="310"/>
                  </a:lnTo>
                  <a:lnTo>
                    <a:pt x="338" y="302"/>
                  </a:lnTo>
                  <a:lnTo>
                    <a:pt x="348" y="293"/>
                  </a:lnTo>
                  <a:lnTo>
                    <a:pt x="357" y="283"/>
                  </a:lnTo>
                  <a:lnTo>
                    <a:pt x="367" y="276"/>
                  </a:lnTo>
                  <a:lnTo>
                    <a:pt x="378" y="266"/>
                  </a:lnTo>
                  <a:lnTo>
                    <a:pt x="387" y="258"/>
                  </a:lnTo>
                  <a:lnTo>
                    <a:pt x="397" y="249"/>
                  </a:lnTo>
                  <a:lnTo>
                    <a:pt x="406" y="241"/>
                  </a:lnTo>
                  <a:lnTo>
                    <a:pt x="418" y="234"/>
                  </a:lnTo>
                  <a:lnTo>
                    <a:pt x="427" y="224"/>
                  </a:lnTo>
                  <a:lnTo>
                    <a:pt x="439" y="217"/>
                  </a:lnTo>
                  <a:lnTo>
                    <a:pt x="448" y="209"/>
                  </a:lnTo>
                  <a:lnTo>
                    <a:pt x="460" y="201"/>
                  </a:lnTo>
                  <a:lnTo>
                    <a:pt x="471" y="194"/>
                  </a:lnTo>
                  <a:lnTo>
                    <a:pt x="481" y="186"/>
                  </a:lnTo>
                  <a:lnTo>
                    <a:pt x="503" y="173"/>
                  </a:lnTo>
                  <a:lnTo>
                    <a:pt x="526" y="158"/>
                  </a:lnTo>
                  <a:lnTo>
                    <a:pt x="547" y="144"/>
                  </a:lnTo>
                  <a:lnTo>
                    <a:pt x="572" y="131"/>
                  </a:lnTo>
                  <a:lnTo>
                    <a:pt x="595" y="120"/>
                  </a:lnTo>
                  <a:lnTo>
                    <a:pt x="618" y="108"/>
                  </a:lnTo>
                  <a:lnTo>
                    <a:pt x="642" y="97"/>
                  </a:lnTo>
                  <a:lnTo>
                    <a:pt x="667" y="86"/>
                  </a:lnTo>
                  <a:lnTo>
                    <a:pt x="692" y="76"/>
                  </a:lnTo>
                  <a:lnTo>
                    <a:pt x="716" y="67"/>
                  </a:lnTo>
                  <a:lnTo>
                    <a:pt x="741" y="57"/>
                  </a:lnTo>
                  <a:lnTo>
                    <a:pt x="766" y="49"/>
                  </a:lnTo>
                  <a:lnTo>
                    <a:pt x="792" y="42"/>
                  </a:lnTo>
                  <a:lnTo>
                    <a:pt x="844" y="29"/>
                  </a:lnTo>
                  <a:lnTo>
                    <a:pt x="897" y="17"/>
                  </a:lnTo>
                  <a:lnTo>
                    <a:pt x="950" y="10"/>
                  </a:lnTo>
                  <a:lnTo>
                    <a:pt x="1005" y="2"/>
                  </a:lnTo>
                  <a:lnTo>
                    <a:pt x="1118" y="0"/>
                  </a:lnTo>
                  <a:lnTo>
                    <a:pt x="1230" y="8"/>
                  </a:lnTo>
                  <a:lnTo>
                    <a:pt x="1336" y="27"/>
                  </a:lnTo>
                  <a:lnTo>
                    <a:pt x="1390" y="42"/>
                  </a:lnTo>
                  <a:lnTo>
                    <a:pt x="1441" y="57"/>
                  </a:lnTo>
                  <a:lnTo>
                    <a:pt x="1466" y="67"/>
                  </a:lnTo>
                  <a:lnTo>
                    <a:pt x="1490" y="76"/>
                  </a:lnTo>
                  <a:lnTo>
                    <a:pt x="1515" y="86"/>
                  </a:lnTo>
                  <a:lnTo>
                    <a:pt x="1540" y="97"/>
                  </a:lnTo>
                  <a:lnTo>
                    <a:pt x="1565" y="108"/>
                  </a:lnTo>
                  <a:lnTo>
                    <a:pt x="1587" y="120"/>
                  </a:lnTo>
                  <a:lnTo>
                    <a:pt x="1612" y="131"/>
                  </a:lnTo>
                  <a:lnTo>
                    <a:pt x="1635" y="144"/>
                  </a:lnTo>
                  <a:lnTo>
                    <a:pt x="1658" y="158"/>
                  </a:lnTo>
                  <a:lnTo>
                    <a:pt x="1679" y="173"/>
                  </a:lnTo>
                  <a:lnTo>
                    <a:pt x="1701" y="186"/>
                  </a:lnTo>
                  <a:lnTo>
                    <a:pt x="1722" y="201"/>
                  </a:lnTo>
                  <a:lnTo>
                    <a:pt x="1745" y="217"/>
                  </a:lnTo>
                  <a:lnTo>
                    <a:pt x="1755" y="224"/>
                  </a:lnTo>
                  <a:lnTo>
                    <a:pt x="1766" y="234"/>
                  </a:lnTo>
                  <a:lnTo>
                    <a:pt x="1776" y="241"/>
                  </a:lnTo>
                  <a:lnTo>
                    <a:pt x="1785" y="249"/>
                  </a:lnTo>
                  <a:lnTo>
                    <a:pt x="1797" y="258"/>
                  </a:lnTo>
                  <a:lnTo>
                    <a:pt x="1806" y="266"/>
                  </a:lnTo>
                  <a:lnTo>
                    <a:pt x="1825" y="283"/>
                  </a:lnTo>
                  <a:lnTo>
                    <a:pt x="1835" y="293"/>
                  </a:lnTo>
                  <a:lnTo>
                    <a:pt x="1844" y="302"/>
                  </a:lnTo>
                  <a:lnTo>
                    <a:pt x="1854" y="312"/>
                  </a:lnTo>
                  <a:lnTo>
                    <a:pt x="1863" y="321"/>
                  </a:lnTo>
                  <a:lnTo>
                    <a:pt x="1873" y="331"/>
                  </a:lnTo>
                  <a:lnTo>
                    <a:pt x="1882" y="338"/>
                  </a:lnTo>
                  <a:lnTo>
                    <a:pt x="1890" y="348"/>
                  </a:lnTo>
                  <a:lnTo>
                    <a:pt x="1899" y="359"/>
                  </a:lnTo>
                  <a:lnTo>
                    <a:pt x="1909" y="369"/>
                  </a:lnTo>
                  <a:lnTo>
                    <a:pt x="1916" y="378"/>
                  </a:lnTo>
                  <a:lnTo>
                    <a:pt x="1926" y="388"/>
                  </a:lnTo>
                  <a:lnTo>
                    <a:pt x="1933" y="397"/>
                  </a:lnTo>
                  <a:lnTo>
                    <a:pt x="1943" y="409"/>
                  </a:lnTo>
                  <a:lnTo>
                    <a:pt x="1951" y="418"/>
                  </a:lnTo>
                  <a:lnTo>
                    <a:pt x="1958" y="430"/>
                  </a:lnTo>
                  <a:lnTo>
                    <a:pt x="1966" y="439"/>
                  </a:lnTo>
                  <a:lnTo>
                    <a:pt x="1973" y="450"/>
                  </a:lnTo>
                  <a:lnTo>
                    <a:pt x="1981" y="460"/>
                  </a:lnTo>
                  <a:lnTo>
                    <a:pt x="1989" y="471"/>
                  </a:lnTo>
                  <a:lnTo>
                    <a:pt x="1996" y="483"/>
                  </a:lnTo>
                  <a:lnTo>
                    <a:pt x="2004" y="492"/>
                  </a:lnTo>
                  <a:lnTo>
                    <a:pt x="2011" y="504"/>
                  </a:lnTo>
                  <a:lnTo>
                    <a:pt x="2019" y="515"/>
                  </a:lnTo>
                  <a:lnTo>
                    <a:pt x="2025" y="526"/>
                  </a:lnTo>
                  <a:lnTo>
                    <a:pt x="2032" y="538"/>
                  </a:lnTo>
                  <a:lnTo>
                    <a:pt x="2038" y="549"/>
                  </a:lnTo>
                  <a:lnTo>
                    <a:pt x="2046" y="561"/>
                  </a:lnTo>
                  <a:lnTo>
                    <a:pt x="2051" y="572"/>
                  </a:lnTo>
                  <a:lnTo>
                    <a:pt x="2057" y="583"/>
                  </a:lnTo>
                  <a:lnTo>
                    <a:pt x="2063" y="595"/>
                  </a:lnTo>
                  <a:lnTo>
                    <a:pt x="2070" y="606"/>
                  </a:lnTo>
                  <a:lnTo>
                    <a:pt x="2076" y="620"/>
                  </a:lnTo>
                  <a:lnTo>
                    <a:pt x="2082" y="631"/>
                  </a:lnTo>
                  <a:lnTo>
                    <a:pt x="2087" y="642"/>
                  </a:lnTo>
                  <a:lnTo>
                    <a:pt x="2091" y="656"/>
                  </a:lnTo>
                  <a:lnTo>
                    <a:pt x="2097" y="667"/>
                  </a:lnTo>
                  <a:lnTo>
                    <a:pt x="2106" y="692"/>
                  </a:lnTo>
                  <a:lnTo>
                    <a:pt x="2116" y="717"/>
                  </a:lnTo>
                  <a:lnTo>
                    <a:pt x="2126" y="741"/>
                  </a:lnTo>
                  <a:lnTo>
                    <a:pt x="2133" y="768"/>
                  </a:lnTo>
                  <a:lnTo>
                    <a:pt x="2141" y="793"/>
                  </a:lnTo>
                  <a:lnTo>
                    <a:pt x="2148" y="819"/>
                  </a:lnTo>
                  <a:lnTo>
                    <a:pt x="2154" y="846"/>
                  </a:lnTo>
                  <a:lnTo>
                    <a:pt x="2162" y="872"/>
                  </a:lnTo>
                  <a:lnTo>
                    <a:pt x="2165" y="899"/>
                  </a:lnTo>
                  <a:lnTo>
                    <a:pt x="2181" y="1007"/>
                  </a:lnTo>
                  <a:lnTo>
                    <a:pt x="2183" y="1119"/>
                  </a:lnTo>
                  <a:lnTo>
                    <a:pt x="2019" y="1119"/>
                  </a:lnTo>
                  <a:lnTo>
                    <a:pt x="2019" y="1072"/>
                  </a:lnTo>
                  <a:lnTo>
                    <a:pt x="2017" y="1024"/>
                  </a:lnTo>
                  <a:lnTo>
                    <a:pt x="2013" y="977"/>
                  </a:lnTo>
                  <a:lnTo>
                    <a:pt x="2008" y="931"/>
                  </a:lnTo>
                  <a:lnTo>
                    <a:pt x="2000" y="886"/>
                  </a:lnTo>
                  <a:lnTo>
                    <a:pt x="1994" y="865"/>
                  </a:lnTo>
                  <a:lnTo>
                    <a:pt x="1989" y="842"/>
                  </a:lnTo>
                  <a:lnTo>
                    <a:pt x="1983" y="819"/>
                  </a:lnTo>
                  <a:lnTo>
                    <a:pt x="1977" y="798"/>
                  </a:lnTo>
                  <a:lnTo>
                    <a:pt x="1970" y="777"/>
                  </a:lnTo>
                  <a:lnTo>
                    <a:pt x="1962" y="755"/>
                  </a:lnTo>
                  <a:lnTo>
                    <a:pt x="1945" y="713"/>
                  </a:lnTo>
                  <a:lnTo>
                    <a:pt x="1941" y="703"/>
                  </a:lnTo>
                  <a:lnTo>
                    <a:pt x="1935" y="692"/>
                  </a:lnTo>
                  <a:lnTo>
                    <a:pt x="1932" y="682"/>
                  </a:lnTo>
                  <a:lnTo>
                    <a:pt x="1926" y="673"/>
                  </a:lnTo>
                  <a:lnTo>
                    <a:pt x="1922" y="661"/>
                  </a:lnTo>
                  <a:lnTo>
                    <a:pt x="1916" y="652"/>
                  </a:lnTo>
                  <a:lnTo>
                    <a:pt x="1911" y="642"/>
                  </a:lnTo>
                  <a:lnTo>
                    <a:pt x="1907" y="633"/>
                  </a:lnTo>
                  <a:lnTo>
                    <a:pt x="1901" y="623"/>
                  </a:lnTo>
                  <a:lnTo>
                    <a:pt x="1895" y="612"/>
                  </a:lnTo>
                  <a:lnTo>
                    <a:pt x="1890" y="602"/>
                  </a:lnTo>
                  <a:lnTo>
                    <a:pt x="1884" y="593"/>
                  </a:lnTo>
                  <a:lnTo>
                    <a:pt x="1878" y="583"/>
                  </a:lnTo>
                  <a:lnTo>
                    <a:pt x="1871" y="574"/>
                  </a:lnTo>
                  <a:lnTo>
                    <a:pt x="1865" y="564"/>
                  </a:lnTo>
                  <a:lnTo>
                    <a:pt x="1859" y="557"/>
                  </a:lnTo>
                  <a:lnTo>
                    <a:pt x="1854" y="547"/>
                  </a:lnTo>
                  <a:lnTo>
                    <a:pt x="1846" y="538"/>
                  </a:lnTo>
                  <a:lnTo>
                    <a:pt x="1840" y="528"/>
                  </a:lnTo>
                  <a:lnTo>
                    <a:pt x="1835" y="519"/>
                  </a:lnTo>
                  <a:lnTo>
                    <a:pt x="1827" y="511"/>
                  </a:lnTo>
                  <a:lnTo>
                    <a:pt x="1819" y="502"/>
                  </a:lnTo>
                  <a:lnTo>
                    <a:pt x="1814" y="494"/>
                  </a:lnTo>
                  <a:lnTo>
                    <a:pt x="1806" y="485"/>
                  </a:lnTo>
                  <a:lnTo>
                    <a:pt x="1798" y="475"/>
                  </a:lnTo>
                  <a:lnTo>
                    <a:pt x="1791" y="468"/>
                  </a:lnTo>
                  <a:lnTo>
                    <a:pt x="1778" y="450"/>
                  </a:lnTo>
                  <a:lnTo>
                    <a:pt x="1770" y="443"/>
                  </a:lnTo>
                  <a:lnTo>
                    <a:pt x="1762" y="435"/>
                  </a:lnTo>
                  <a:lnTo>
                    <a:pt x="1745" y="418"/>
                  </a:lnTo>
                  <a:lnTo>
                    <a:pt x="1738" y="411"/>
                  </a:lnTo>
                  <a:lnTo>
                    <a:pt x="1730" y="403"/>
                  </a:lnTo>
                  <a:lnTo>
                    <a:pt x="1722" y="395"/>
                  </a:lnTo>
                  <a:lnTo>
                    <a:pt x="1713" y="388"/>
                  </a:lnTo>
                  <a:lnTo>
                    <a:pt x="1698" y="374"/>
                  </a:lnTo>
                  <a:lnTo>
                    <a:pt x="1681" y="359"/>
                  </a:lnTo>
                  <a:lnTo>
                    <a:pt x="1663" y="344"/>
                  </a:lnTo>
                  <a:lnTo>
                    <a:pt x="1644" y="331"/>
                  </a:lnTo>
                  <a:lnTo>
                    <a:pt x="1627" y="317"/>
                  </a:lnTo>
                  <a:lnTo>
                    <a:pt x="1608" y="306"/>
                  </a:lnTo>
                  <a:lnTo>
                    <a:pt x="1589" y="293"/>
                  </a:lnTo>
                  <a:lnTo>
                    <a:pt x="1570" y="281"/>
                  </a:lnTo>
                  <a:lnTo>
                    <a:pt x="1551" y="270"/>
                  </a:lnTo>
                  <a:lnTo>
                    <a:pt x="1532" y="258"/>
                  </a:lnTo>
                  <a:lnTo>
                    <a:pt x="1511" y="249"/>
                  </a:lnTo>
                  <a:lnTo>
                    <a:pt x="1490" y="239"/>
                  </a:lnTo>
                  <a:lnTo>
                    <a:pt x="1471" y="228"/>
                  </a:lnTo>
                  <a:lnTo>
                    <a:pt x="1450" y="220"/>
                  </a:lnTo>
                  <a:lnTo>
                    <a:pt x="1430" y="211"/>
                  </a:lnTo>
                  <a:lnTo>
                    <a:pt x="1407" y="203"/>
                  </a:lnTo>
                  <a:lnTo>
                    <a:pt x="1386" y="196"/>
                  </a:lnTo>
                  <a:lnTo>
                    <a:pt x="1365" y="188"/>
                  </a:lnTo>
                  <a:lnTo>
                    <a:pt x="1319" y="177"/>
                  </a:lnTo>
                  <a:lnTo>
                    <a:pt x="1275" y="165"/>
                  </a:lnTo>
                  <a:lnTo>
                    <a:pt x="1228" y="158"/>
                  </a:lnTo>
                  <a:lnTo>
                    <a:pt x="1135" y="148"/>
                  </a:lnTo>
                  <a:lnTo>
                    <a:pt x="1040" y="150"/>
                  </a:lnTo>
                  <a:lnTo>
                    <a:pt x="947" y="160"/>
                  </a:lnTo>
                  <a:lnTo>
                    <a:pt x="857" y="179"/>
                  </a:lnTo>
                  <a:lnTo>
                    <a:pt x="813" y="190"/>
                  </a:lnTo>
                  <a:lnTo>
                    <a:pt x="772" y="205"/>
                  </a:lnTo>
                  <a:lnTo>
                    <a:pt x="751" y="213"/>
                  </a:lnTo>
                  <a:lnTo>
                    <a:pt x="730" y="222"/>
                  </a:lnTo>
                  <a:lnTo>
                    <a:pt x="709" y="232"/>
                  </a:lnTo>
                  <a:lnTo>
                    <a:pt x="688" y="241"/>
                  </a:lnTo>
                  <a:lnTo>
                    <a:pt x="667" y="251"/>
                  </a:lnTo>
                  <a:lnTo>
                    <a:pt x="648" y="260"/>
                  </a:lnTo>
                  <a:lnTo>
                    <a:pt x="629" y="272"/>
                  </a:lnTo>
                  <a:lnTo>
                    <a:pt x="610" y="283"/>
                  </a:lnTo>
                  <a:lnTo>
                    <a:pt x="591" y="295"/>
                  </a:lnTo>
                  <a:lnTo>
                    <a:pt x="572" y="308"/>
                  </a:lnTo>
                  <a:lnTo>
                    <a:pt x="553" y="321"/>
                  </a:lnTo>
                  <a:lnTo>
                    <a:pt x="536" y="335"/>
                  </a:lnTo>
                  <a:lnTo>
                    <a:pt x="519" y="348"/>
                  </a:lnTo>
                  <a:lnTo>
                    <a:pt x="502" y="361"/>
                  </a:lnTo>
                  <a:lnTo>
                    <a:pt x="484" y="376"/>
                  </a:lnTo>
                  <a:lnTo>
                    <a:pt x="467" y="392"/>
                  </a:lnTo>
                  <a:lnTo>
                    <a:pt x="450" y="405"/>
                  </a:lnTo>
                  <a:lnTo>
                    <a:pt x="443" y="412"/>
                  </a:lnTo>
                  <a:lnTo>
                    <a:pt x="435" y="422"/>
                  </a:lnTo>
                  <a:lnTo>
                    <a:pt x="427" y="430"/>
                  </a:lnTo>
                  <a:lnTo>
                    <a:pt x="420" y="437"/>
                  </a:lnTo>
                  <a:lnTo>
                    <a:pt x="412" y="445"/>
                  </a:lnTo>
                  <a:lnTo>
                    <a:pt x="405" y="454"/>
                  </a:lnTo>
                  <a:lnTo>
                    <a:pt x="397" y="462"/>
                  </a:lnTo>
                  <a:lnTo>
                    <a:pt x="389" y="469"/>
                  </a:lnTo>
                  <a:lnTo>
                    <a:pt x="374" y="487"/>
                  </a:lnTo>
                  <a:lnTo>
                    <a:pt x="368" y="496"/>
                  </a:lnTo>
                  <a:lnTo>
                    <a:pt x="361" y="506"/>
                  </a:lnTo>
                  <a:lnTo>
                    <a:pt x="353" y="513"/>
                  </a:lnTo>
                  <a:lnTo>
                    <a:pt x="348" y="523"/>
                  </a:lnTo>
                  <a:lnTo>
                    <a:pt x="340" y="532"/>
                  </a:lnTo>
                  <a:lnTo>
                    <a:pt x="334" y="540"/>
                  </a:lnTo>
                  <a:lnTo>
                    <a:pt x="321" y="559"/>
                  </a:lnTo>
                  <a:lnTo>
                    <a:pt x="315" y="568"/>
                  </a:lnTo>
                  <a:lnTo>
                    <a:pt x="309" y="578"/>
                  </a:lnTo>
                  <a:lnTo>
                    <a:pt x="304" y="587"/>
                  </a:lnTo>
                  <a:lnTo>
                    <a:pt x="298" y="597"/>
                  </a:lnTo>
                  <a:lnTo>
                    <a:pt x="292" y="606"/>
                  </a:lnTo>
                  <a:lnTo>
                    <a:pt x="287" y="616"/>
                  </a:lnTo>
                  <a:lnTo>
                    <a:pt x="281" y="625"/>
                  </a:lnTo>
                  <a:lnTo>
                    <a:pt x="275" y="637"/>
                  </a:lnTo>
                  <a:lnTo>
                    <a:pt x="270" y="646"/>
                  </a:lnTo>
                  <a:lnTo>
                    <a:pt x="264" y="656"/>
                  </a:lnTo>
                  <a:lnTo>
                    <a:pt x="260" y="665"/>
                  </a:lnTo>
                  <a:lnTo>
                    <a:pt x="254" y="677"/>
                  </a:lnTo>
                  <a:lnTo>
                    <a:pt x="251" y="686"/>
                  </a:lnTo>
                  <a:lnTo>
                    <a:pt x="245" y="696"/>
                  </a:lnTo>
                  <a:lnTo>
                    <a:pt x="235" y="717"/>
                  </a:lnTo>
                  <a:lnTo>
                    <a:pt x="220" y="760"/>
                  </a:lnTo>
                  <a:lnTo>
                    <a:pt x="205" y="804"/>
                  </a:lnTo>
                  <a:lnTo>
                    <a:pt x="192" y="848"/>
                  </a:lnTo>
                  <a:lnTo>
                    <a:pt x="174" y="939"/>
                  </a:lnTo>
                  <a:lnTo>
                    <a:pt x="165" y="1034"/>
                  </a:lnTo>
                  <a:lnTo>
                    <a:pt x="165" y="1076"/>
                  </a:lnTo>
                  <a:lnTo>
                    <a:pt x="165" y="1119"/>
                  </a:lnTo>
                  <a:lnTo>
                    <a:pt x="0" y="1119"/>
                  </a:lnTo>
                  <a:close/>
                </a:path>
              </a:pathLst>
            </a:custGeom>
            <a:solidFill>
              <a:srgbClr val="5F5F5F"/>
            </a:solidFill>
            <a:ln w="9525">
              <a:solidFill>
                <a:srgbClr val="5F5F5F"/>
              </a:solidFill>
              <a:round/>
              <a:headEnd/>
              <a:tailEnd/>
            </a:ln>
          </p:spPr>
          <p:txBody>
            <a:bodyPr/>
            <a:lstStyle/>
            <a:p>
              <a:endParaRPr lang="en-US"/>
            </a:p>
          </p:txBody>
        </p:sp>
        <p:sp>
          <p:nvSpPr>
            <p:cNvPr id="8249" name="Freeform 124"/>
            <p:cNvSpPr>
              <a:spLocks/>
            </p:cNvSpPr>
            <p:nvPr/>
          </p:nvSpPr>
          <p:spPr bwMode="auto">
            <a:xfrm>
              <a:off x="4225" y="1974"/>
              <a:ext cx="278" cy="150"/>
            </a:xfrm>
            <a:custGeom>
              <a:avLst/>
              <a:gdLst>
                <a:gd name="T0" fmla="*/ 0 w 1540"/>
                <a:gd name="T1" fmla="*/ 0 h 830"/>
                <a:gd name="T2" fmla="*/ 0 w 1540"/>
                <a:gd name="T3" fmla="*/ 0 h 830"/>
                <a:gd name="T4" fmla="*/ 0 w 1540"/>
                <a:gd name="T5" fmla="*/ 0 h 830"/>
                <a:gd name="T6" fmla="*/ 0 w 1540"/>
                <a:gd name="T7" fmla="*/ 0 h 830"/>
                <a:gd name="T8" fmla="*/ 0 w 1540"/>
                <a:gd name="T9" fmla="*/ 0 h 830"/>
                <a:gd name="T10" fmla="*/ 0 w 1540"/>
                <a:gd name="T11" fmla="*/ 0 h 830"/>
                <a:gd name="T12" fmla="*/ 0 w 1540"/>
                <a:gd name="T13" fmla="*/ 0 h 830"/>
                <a:gd name="T14" fmla="*/ 0 w 1540"/>
                <a:gd name="T15" fmla="*/ 0 h 830"/>
                <a:gd name="T16" fmla="*/ 0 w 1540"/>
                <a:gd name="T17" fmla="*/ 0 h 830"/>
                <a:gd name="T18" fmla="*/ 0 w 1540"/>
                <a:gd name="T19" fmla="*/ 0 h 830"/>
                <a:gd name="T20" fmla="*/ 0 w 1540"/>
                <a:gd name="T21" fmla="*/ 0 h 830"/>
                <a:gd name="T22" fmla="*/ 0 w 1540"/>
                <a:gd name="T23" fmla="*/ 0 h 830"/>
                <a:gd name="T24" fmla="*/ 0 w 1540"/>
                <a:gd name="T25" fmla="*/ 0 h 830"/>
                <a:gd name="T26" fmla="*/ 0 w 1540"/>
                <a:gd name="T27" fmla="*/ 0 h 830"/>
                <a:gd name="T28" fmla="*/ 0 w 1540"/>
                <a:gd name="T29" fmla="*/ 0 h 830"/>
                <a:gd name="T30" fmla="*/ 0 w 1540"/>
                <a:gd name="T31" fmla="*/ 0 h 830"/>
                <a:gd name="T32" fmla="*/ 0 w 1540"/>
                <a:gd name="T33" fmla="*/ 0 h 830"/>
                <a:gd name="T34" fmla="*/ 0 w 1540"/>
                <a:gd name="T35" fmla="*/ 0 h 830"/>
                <a:gd name="T36" fmla="*/ 0 w 1540"/>
                <a:gd name="T37" fmla="*/ 0 h 830"/>
                <a:gd name="T38" fmla="*/ 0 w 1540"/>
                <a:gd name="T39" fmla="*/ 0 h 830"/>
                <a:gd name="T40" fmla="*/ 0 w 1540"/>
                <a:gd name="T41" fmla="*/ 0 h 830"/>
                <a:gd name="T42" fmla="*/ 0 w 1540"/>
                <a:gd name="T43" fmla="*/ 0 h 830"/>
                <a:gd name="T44" fmla="*/ 0 w 1540"/>
                <a:gd name="T45" fmla="*/ 0 h 830"/>
                <a:gd name="T46" fmla="*/ 0 w 1540"/>
                <a:gd name="T47" fmla="*/ 0 h 830"/>
                <a:gd name="T48" fmla="*/ 0 w 1540"/>
                <a:gd name="T49" fmla="*/ 0 h 830"/>
                <a:gd name="T50" fmla="*/ 0 w 1540"/>
                <a:gd name="T51" fmla="*/ 0 h 830"/>
                <a:gd name="T52" fmla="*/ 0 w 1540"/>
                <a:gd name="T53" fmla="*/ 0 h 830"/>
                <a:gd name="T54" fmla="*/ 0 w 1540"/>
                <a:gd name="T55" fmla="*/ 0 h 830"/>
                <a:gd name="T56" fmla="*/ 0 w 1540"/>
                <a:gd name="T57" fmla="*/ 0 h 830"/>
                <a:gd name="T58" fmla="*/ 0 w 1540"/>
                <a:gd name="T59" fmla="*/ 0 h 830"/>
                <a:gd name="T60" fmla="*/ 0 w 1540"/>
                <a:gd name="T61" fmla="*/ 0 h 830"/>
                <a:gd name="T62" fmla="*/ 0 w 1540"/>
                <a:gd name="T63" fmla="*/ 0 h 830"/>
                <a:gd name="T64" fmla="*/ 0 w 1540"/>
                <a:gd name="T65" fmla="*/ 0 h 830"/>
                <a:gd name="T66" fmla="*/ 0 w 1540"/>
                <a:gd name="T67" fmla="*/ 0 h 830"/>
                <a:gd name="T68" fmla="*/ 0 w 1540"/>
                <a:gd name="T69" fmla="*/ 0 h 830"/>
                <a:gd name="T70" fmla="*/ 0 w 1540"/>
                <a:gd name="T71" fmla="*/ 0 h 830"/>
                <a:gd name="T72" fmla="*/ 0 w 1540"/>
                <a:gd name="T73" fmla="*/ 0 h 830"/>
                <a:gd name="T74" fmla="*/ 0 w 1540"/>
                <a:gd name="T75" fmla="*/ 0 h 830"/>
                <a:gd name="T76" fmla="*/ 0 w 1540"/>
                <a:gd name="T77" fmla="*/ 0 h 830"/>
                <a:gd name="T78" fmla="*/ 0 w 1540"/>
                <a:gd name="T79" fmla="*/ 0 h 830"/>
                <a:gd name="T80" fmla="*/ 0 w 1540"/>
                <a:gd name="T81" fmla="*/ 0 h 830"/>
                <a:gd name="T82" fmla="*/ 0 w 1540"/>
                <a:gd name="T83" fmla="*/ 0 h 830"/>
                <a:gd name="T84" fmla="*/ 0 w 1540"/>
                <a:gd name="T85" fmla="*/ 0 h 830"/>
                <a:gd name="T86" fmla="*/ 0 w 1540"/>
                <a:gd name="T87" fmla="*/ 0 h 830"/>
                <a:gd name="T88" fmla="*/ 0 w 1540"/>
                <a:gd name="T89" fmla="*/ 0 h 830"/>
                <a:gd name="T90" fmla="*/ 0 w 1540"/>
                <a:gd name="T91" fmla="*/ 0 h 830"/>
                <a:gd name="T92" fmla="*/ 0 w 1540"/>
                <a:gd name="T93" fmla="*/ 0 h 830"/>
                <a:gd name="T94" fmla="*/ 0 w 1540"/>
                <a:gd name="T95" fmla="*/ 0 h 830"/>
                <a:gd name="T96" fmla="*/ 0 w 1540"/>
                <a:gd name="T97" fmla="*/ 0 h 830"/>
                <a:gd name="T98" fmla="*/ 0 w 1540"/>
                <a:gd name="T99" fmla="*/ 0 h 830"/>
                <a:gd name="T100" fmla="*/ 0 w 1540"/>
                <a:gd name="T101" fmla="*/ 0 h 830"/>
                <a:gd name="T102" fmla="*/ 0 w 1540"/>
                <a:gd name="T103" fmla="*/ 0 h 830"/>
                <a:gd name="T104" fmla="*/ 0 w 1540"/>
                <a:gd name="T105" fmla="*/ 0 h 830"/>
                <a:gd name="T106" fmla="*/ 0 w 1540"/>
                <a:gd name="T107" fmla="*/ 0 h 830"/>
                <a:gd name="T108" fmla="*/ 0 w 1540"/>
                <a:gd name="T109" fmla="*/ 0 h 830"/>
                <a:gd name="T110" fmla="*/ 0 w 1540"/>
                <a:gd name="T111" fmla="*/ 0 h 830"/>
                <a:gd name="T112" fmla="*/ 0 w 1540"/>
                <a:gd name="T113" fmla="*/ 0 h 830"/>
                <a:gd name="T114" fmla="*/ 0 w 1540"/>
                <a:gd name="T115" fmla="*/ 0 h 830"/>
                <a:gd name="T116" fmla="*/ 0 w 1540"/>
                <a:gd name="T117" fmla="*/ 0 h 830"/>
                <a:gd name="T118" fmla="*/ 0 w 1540"/>
                <a:gd name="T119" fmla="*/ 0 h 830"/>
                <a:gd name="T120" fmla="*/ 0 w 1540"/>
                <a:gd name="T121" fmla="*/ 0 h 83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540"/>
                <a:gd name="T184" fmla="*/ 0 h 830"/>
                <a:gd name="T185" fmla="*/ 1540 w 1540"/>
                <a:gd name="T186" fmla="*/ 830 h 83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540" h="830">
                  <a:moveTo>
                    <a:pt x="1538" y="830"/>
                  </a:moveTo>
                  <a:lnTo>
                    <a:pt x="1540" y="751"/>
                  </a:lnTo>
                  <a:lnTo>
                    <a:pt x="1534" y="675"/>
                  </a:lnTo>
                  <a:lnTo>
                    <a:pt x="1529" y="637"/>
                  </a:lnTo>
                  <a:lnTo>
                    <a:pt x="1521" y="599"/>
                  </a:lnTo>
                  <a:lnTo>
                    <a:pt x="1512" y="562"/>
                  </a:lnTo>
                  <a:lnTo>
                    <a:pt x="1500" y="526"/>
                  </a:lnTo>
                  <a:lnTo>
                    <a:pt x="1489" y="490"/>
                  </a:lnTo>
                  <a:lnTo>
                    <a:pt x="1474" y="456"/>
                  </a:lnTo>
                  <a:lnTo>
                    <a:pt x="1470" y="448"/>
                  </a:lnTo>
                  <a:lnTo>
                    <a:pt x="1466" y="441"/>
                  </a:lnTo>
                  <a:lnTo>
                    <a:pt x="1462" y="431"/>
                  </a:lnTo>
                  <a:lnTo>
                    <a:pt x="1458" y="424"/>
                  </a:lnTo>
                  <a:lnTo>
                    <a:pt x="1453" y="414"/>
                  </a:lnTo>
                  <a:lnTo>
                    <a:pt x="1449" y="407"/>
                  </a:lnTo>
                  <a:lnTo>
                    <a:pt x="1445" y="399"/>
                  </a:lnTo>
                  <a:lnTo>
                    <a:pt x="1439" y="390"/>
                  </a:lnTo>
                  <a:lnTo>
                    <a:pt x="1430" y="374"/>
                  </a:lnTo>
                  <a:lnTo>
                    <a:pt x="1426" y="367"/>
                  </a:lnTo>
                  <a:lnTo>
                    <a:pt x="1420" y="359"/>
                  </a:lnTo>
                  <a:lnTo>
                    <a:pt x="1417" y="352"/>
                  </a:lnTo>
                  <a:lnTo>
                    <a:pt x="1411" y="344"/>
                  </a:lnTo>
                  <a:lnTo>
                    <a:pt x="1405" y="336"/>
                  </a:lnTo>
                  <a:lnTo>
                    <a:pt x="1399" y="329"/>
                  </a:lnTo>
                  <a:lnTo>
                    <a:pt x="1390" y="313"/>
                  </a:lnTo>
                  <a:lnTo>
                    <a:pt x="1379" y="298"/>
                  </a:lnTo>
                  <a:lnTo>
                    <a:pt x="1367" y="283"/>
                  </a:lnTo>
                  <a:lnTo>
                    <a:pt x="1356" y="270"/>
                  </a:lnTo>
                  <a:lnTo>
                    <a:pt x="1342" y="256"/>
                  </a:lnTo>
                  <a:lnTo>
                    <a:pt x="1329" y="241"/>
                  </a:lnTo>
                  <a:lnTo>
                    <a:pt x="1318" y="228"/>
                  </a:lnTo>
                  <a:lnTo>
                    <a:pt x="1304" y="217"/>
                  </a:lnTo>
                  <a:lnTo>
                    <a:pt x="1291" y="203"/>
                  </a:lnTo>
                  <a:lnTo>
                    <a:pt x="1276" y="190"/>
                  </a:lnTo>
                  <a:lnTo>
                    <a:pt x="1263" y="179"/>
                  </a:lnTo>
                  <a:lnTo>
                    <a:pt x="1247" y="167"/>
                  </a:lnTo>
                  <a:lnTo>
                    <a:pt x="1234" y="156"/>
                  </a:lnTo>
                  <a:lnTo>
                    <a:pt x="1219" y="144"/>
                  </a:lnTo>
                  <a:lnTo>
                    <a:pt x="1204" y="133"/>
                  </a:lnTo>
                  <a:lnTo>
                    <a:pt x="1188" y="123"/>
                  </a:lnTo>
                  <a:lnTo>
                    <a:pt x="1171" y="114"/>
                  </a:lnTo>
                  <a:lnTo>
                    <a:pt x="1156" y="104"/>
                  </a:lnTo>
                  <a:lnTo>
                    <a:pt x="1139" y="95"/>
                  </a:lnTo>
                  <a:lnTo>
                    <a:pt x="1124" y="85"/>
                  </a:lnTo>
                  <a:lnTo>
                    <a:pt x="1107" y="78"/>
                  </a:lnTo>
                  <a:lnTo>
                    <a:pt x="1090" y="70"/>
                  </a:lnTo>
                  <a:lnTo>
                    <a:pt x="1072" y="63"/>
                  </a:lnTo>
                  <a:lnTo>
                    <a:pt x="1055" y="55"/>
                  </a:lnTo>
                  <a:lnTo>
                    <a:pt x="1019" y="42"/>
                  </a:lnTo>
                  <a:lnTo>
                    <a:pt x="981" y="30"/>
                  </a:lnTo>
                  <a:lnTo>
                    <a:pt x="945" y="21"/>
                  </a:lnTo>
                  <a:lnTo>
                    <a:pt x="907" y="13"/>
                  </a:lnTo>
                  <a:lnTo>
                    <a:pt x="829" y="4"/>
                  </a:lnTo>
                  <a:lnTo>
                    <a:pt x="749" y="0"/>
                  </a:lnTo>
                  <a:lnTo>
                    <a:pt x="673" y="7"/>
                  </a:lnTo>
                  <a:lnTo>
                    <a:pt x="597" y="21"/>
                  </a:lnTo>
                  <a:lnTo>
                    <a:pt x="561" y="30"/>
                  </a:lnTo>
                  <a:lnTo>
                    <a:pt x="525" y="42"/>
                  </a:lnTo>
                  <a:lnTo>
                    <a:pt x="490" y="53"/>
                  </a:lnTo>
                  <a:lnTo>
                    <a:pt x="456" y="68"/>
                  </a:lnTo>
                  <a:lnTo>
                    <a:pt x="422" y="84"/>
                  </a:lnTo>
                  <a:lnTo>
                    <a:pt x="405" y="93"/>
                  </a:lnTo>
                  <a:lnTo>
                    <a:pt x="390" y="103"/>
                  </a:lnTo>
                  <a:lnTo>
                    <a:pt x="373" y="112"/>
                  </a:lnTo>
                  <a:lnTo>
                    <a:pt x="357" y="122"/>
                  </a:lnTo>
                  <a:lnTo>
                    <a:pt x="342" y="131"/>
                  </a:lnTo>
                  <a:lnTo>
                    <a:pt x="327" y="142"/>
                  </a:lnTo>
                  <a:lnTo>
                    <a:pt x="312" y="152"/>
                  </a:lnTo>
                  <a:lnTo>
                    <a:pt x="297" y="163"/>
                  </a:lnTo>
                  <a:lnTo>
                    <a:pt x="283" y="175"/>
                  </a:lnTo>
                  <a:lnTo>
                    <a:pt x="268" y="188"/>
                  </a:lnTo>
                  <a:lnTo>
                    <a:pt x="255" y="199"/>
                  </a:lnTo>
                  <a:lnTo>
                    <a:pt x="241" y="213"/>
                  </a:lnTo>
                  <a:lnTo>
                    <a:pt x="228" y="226"/>
                  </a:lnTo>
                  <a:lnTo>
                    <a:pt x="215" y="237"/>
                  </a:lnTo>
                  <a:lnTo>
                    <a:pt x="201" y="251"/>
                  </a:lnTo>
                  <a:lnTo>
                    <a:pt x="190" y="266"/>
                  </a:lnTo>
                  <a:lnTo>
                    <a:pt x="177" y="279"/>
                  </a:lnTo>
                  <a:lnTo>
                    <a:pt x="165" y="294"/>
                  </a:lnTo>
                  <a:lnTo>
                    <a:pt x="154" y="310"/>
                  </a:lnTo>
                  <a:lnTo>
                    <a:pt x="142" y="323"/>
                  </a:lnTo>
                  <a:lnTo>
                    <a:pt x="133" y="338"/>
                  </a:lnTo>
                  <a:lnTo>
                    <a:pt x="122" y="355"/>
                  </a:lnTo>
                  <a:lnTo>
                    <a:pt x="118" y="363"/>
                  </a:lnTo>
                  <a:lnTo>
                    <a:pt x="112" y="371"/>
                  </a:lnTo>
                  <a:lnTo>
                    <a:pt x="108" y="378"/>
                  </a:lnTo>
                  <a:lnTo>
                    <a:pt x="103" y="386"/>
                  </a:lnTo>
                  <a:lnTo>
                    <a:pt x="99" y="395"/>
                  </a:lnTo>
                  <a:lnTo>
                    <a:pt x="93" y="403"/>
                  </a:lnTo>
                  <a:lnTo>
                    <a:pt x="85" y="420"/>
                  </a:lnTo>
                  <a:lnTo>
                    <a:pt x="82" y="428"/>
                  </a:lnTo>
                  <a:lnTo>
                    <a:pt x="76" y="435"/>
                  </a:lnTo>
                  <a:lnTo>
                    <a:pt x="72" y="445"/>
                  </a:lnTo>
                  <a:lnTo>
                    <a:pt x="68" y="452"/>
                  </a:lnTo>
                  <a:lnTo>
                    <a:pt x="53" y="488"/>
                  </a:lnTo>
                  <a:lnTo>
                    <a:pt x="40" y="524"/>
                  </a:lnTo>
                  <a:lnTo>
                    <a:pt x="30" y="561"/>
                  </a:lnTo>
                  <a:lnTo>
                    <a:pt x="19" y="597"/>
                  </a:lnTo>
                  <a:lnTo>
                    <a:pt x="11" y="635"/>
                  </a:lnTo>
                  <a:lnTo>
                    <a:pt x="2" y="715"/>
                  </a:lnTo>
                  <a:lnTo>
                    <a:pt x="0" y="772"/>
                  </a:lnTo>
                  <a:lnTo>
                    <a:pt x="2" y="830"/>
                  </a:lnTo>
                  <a:lnTo>
                    <a:pt x="163" y="830"/>
                  </a:lnTo>
                  <a:lnTo>
                    <a:pt x="160" y="760"/>
                  </a:lnTo>
                  <a:lnTo>
                    <a:pt x="163" y="692"/>
                  </a:lnTo>
                  <a:lnTo>
                    <a:pt x="167" y="661"/>
                  </a:lnTo>
                  <a:lnTo>
                    <a:pt x="175" y="631"/>
                  </a:lnTo>
                  <a:lnTo>
                    <a:pt x="181" y="600"/>
                  </a:lnTo>
                  <a:lnTo>
                    <a:pt x="190" y="572"/>
                  </a:lnTo>
                  <a:lnTo>
                    <a:pt x="200" y="543"/>
                  </a:lnTo>
                  <a:lnTo>
                    <a:pt x="211" y="515"/>
                  </a:lnTo>
                  <a:lnTo>
                    <a:pt x="219" y="502"/>
                  </a:lnTo>
                  <a:lnTo>
                    <a:pt x="224" y="488"/>
                  </a:lnTo>
                  <a:lnTo>
                    <a:pt x="232" y="475"/>
                  </a:lnTo>
                  <a:lnTo>
                    <a:pt x="238" y="462"/>
                  </a:lnTo>
                  <a:lnTo>
                    <a:pt x="245" y="448"/>
                  </a:lnTo>
                  <a:lnTo>
                    <a:pt x="253" y="435"/>
                  </a:lnTo>
                  <a:lnTo>
                    <a:pt x="262" y="424"/>
                  </a:lnTo>
                  <a:lnTo>
                    <a:pt x="270" y="410"/>
                  </a:lnTo>
                  <a:lnTo>
                    <a:pt x="279" y="399"/>
                  </a:lnTo>
                  <a:lnTo>
                    <a:pt x="287" y="388"/>
                  </a:lnTo>
                  <a:lnTo>
                    <a:pt x="297" y="376"/>
                  </a:lnTo>
                  <a:lnTo>
                    <a:pt x="306" y="365"/>
                  </a:lnTo>
                  <a:lnTo>
                    <a:pt x="316" y="353"/>
                  </a:lnTo>
                  <a:lnTo>
                    <a:pt x="325" y="342"/>
                  </a:lnTo>
                  <a:lnTo>
                    <a:pt x="336" y="332"/>
                  </a:lnTo>
                  <a:lnTo>
                    <a:pt x="346" y="321"/>
                  </a:lnTo>
                  <a:lnTo>
                    <a:pt x="357" y="312"/>
                  </a:lnTo>
                  <a:lnTo>
                    <a:pt x="367" y="302"/>
                  </a:lnTo>
                  <a:lnTo>
                    <a:pt x="378" y="293"/>
                  </a:lnTo>
                  <a:lnTo>
                    <a:pt x="390" y="283"/>
                  </a:lnTo>
                  <a:lnTo>
                    <a:pt x="401" y="274"/>
                  </a:lnTo>
                  <a:lnTo>
                    <a:pt x="414" y="266"/>
                  </a:lnTo>
                  <a:lnTo>
                    <a:pt x="426" y="256"/>
                  </a:lnTo>
                  <a:lnTo>
                    <a:pt x="437" y="249"/>
                  </a:lnTo>
                  <a:lnTo>
                    <a:pt x="451" y="241"/>
                  </a:lnTo>
                  <a:lnTo>
                    <a:pt x="462" y="234"/>
                  </a:lnTo>
                  <a:lnTo>
                    <a:pt x="489" y="218"/>
                  </a:lnTo>
                  <a:lnTo>
                    <a:pt x="515" y="207"/>
                  </a:lnTo>
                  <a:lnTo>
                    <a:pt x="542" y="194"/>
                  </a:lnTo>
                  <a:lnTo>
                    <a:pt x="570" y="184"/>
                  </a:lnTo>
                  <a:lnTo>
                    <a:pt x="597" y="175"/>
                  </a:lnTo>
                  <a:lnTo>
                    <a:pt x="627" y="167"/>
                  </a:lnTo>
                  <a:lnTo>
                    <a:pt x="656" y="161"/>
                  </a:lnTo>
                  <a:lnTo>
                    <a:pt x="715" y="152"/>
                  </a:lnTo>
                  <a:lnTo>
                    <a:pt x="838" y="154"/>
                  </a:lnTo>
                  <a:lnTo>
                    <a:pt x="960" y="180"/>
                  </a:lnTo>
                  <a:lnTo>
                    <a:pt x="989" y="190"/>
                  </a:lnTo>
                  <a:lnTo>
                    <a:pt x="1015" y="201"/>
                  </a:lnTo>
                  <a:lnTo>
                    <a:pt x="1044" y="215"/>
                  </a:lnTo>
                  <a:lnTo>
                    <a:pt x="1069" y="228"/>
                  </a:lnTo>
                  <a:lnTo>
                    <a:pt x="1095" y="243"/>
                  </a:lnTo>
                  <a:lnTo>
                    <a:pt x="1107" y="253"/>
                  </a:lnTo>
                  <a:lnTo>
                    <a:pt x="1120" y="260"/>
                  </a:lnTo>
                  <a:lnTo>
                    <a:pt x="1131" y="270"/>
                  </a:lnTo>
                  <a:lnTo>
                    <a:pt x="1143" y="277"/>
                  </a:lnTo>
                  <a:lnTo>
                    <a:pt x="1156" y="287"/>
                  </a:lnTo>
                  <a:lnTo>
                    <a:pt x="1166" y="296"/>
                  </a:lnTo>
                  <a:lnTo>
                    <a:pt x="1177" y="306"/>
                  </a:lnTo>
                  <a:lnTo>
                    <a:pt x="1188" y="315"/>
                  </a:lnTo>
                  <a:lnTo>
                    <a:pt x="1198" y="327"/>
                  </a:lnTo>
                  <a:lnTo>
                    <a:pt x="1209" y="336"/>
                  </a:lnTo>
                  <a:lnTo>
                    <a:pt x="1219" y="348"/>
                  </a:lnTo>
                  <a:lnTo>
                    <a:pt x="1228" y="359"/>
                  </a:lnTo>
                  <a:lnTo>
                    <a:pt x="1238" y="369"/>
                  </a:lnTo>
                  <a:lnTo>
                    <a:pt x="1247" y="380"/>
                  </a:lnTo>
                  <a:lnTo>
                    <a:pt x="1257" y="393"/>
                  </a:lnTo>
                  <a:lnTo>
                    <a:pt x="1264" y="405"/>
                  </a:lnTo>
                  <a:lnTo>
                    <a:pt x="1274" y="416"/>
                  </a:lnTo>
                  <a:lnTo>
                    <a:pt x="1282" y="428"/>
                  </a:lnTo>
                  <a:lnTo>
                    <a:pt x="1289" y="441"/>
                  </a:lnTo>
                  <a:lnTo>
                    <a:pt x="1297" y="454"/>
                  </a:lnTo>
                  <a:lnTo>
                    <a:pt x="1304" y="466"/>
                  </a:lnTo>
                  <a:lnTo>
                    <a:pt x="1312" y="479"/>
                  </a:lnTo>
                  <a:lnTo>
                    <a:pt x="1318" y="492"/>
                  </a:lnTo>
                  <a:lnTo>
                    <a:pt x="1325" y="505"/>
                  </a:lnTo>
                  <a:lnTo>
                    <a:pt x="1337" y="532"/>
                  </a:lnTo>
                  <a:lnTo>
                    <a:pt x="1346" y="561"/>
                  </a:lnTo>
                  <a:lnTo>
                    <a:pt x="1356" y="589"/>
                  </a:lnTo>
                  <a:lnTo>
                    <a:pt x="1379" y="707"/>
                  </a:lnTo>
                  <a:lnTo>
                    <a:pt x="1380" y="768"/>
                  </a:lnTo>
                  <a:lnTo>
                    <a:pt x="1377" y="830"/>
                  </a:lnTo>
                  <a:lnTo>
                    <a:pt x="1538" y="830"/>
                  </a:lnTo>
                  <a:close/>
                </a:path>
              </a:pathLst>
            </a:custGeom>
            <a:solidFill>
              <a:srgbClr val="5F5F5F"/>
            </a:solidFill>
            <a:ln w="9525">
              <a:solidFill>
                <a:srgbClr val="5F5F5F"/>
              </a:solidFill>
              <a:round/>
              <a:headEnd/>
              <a:tailEnd/>
            </a:ln>
          </p:spPr>
          <p:txBody>
            <a:bodyPr/>
            <a:lstStyle/>
            <a:p>
              <a:endParaRPr lang="en-US"/>
            </a:p>
          </p:txBody>
        </p:sp>
      </p:grpSp>
      <p:sp>
        <p:nvSpPr>
          <p:cNvPr id="8236" name="Freeform 89"/>
          <p:cNvSpPr>
            <a:spLocks noChangeArrowheads="1"/>
          </p:cNvSpPr>
          <p:nvPr/>
        </p:nvSpPr>
        <p:spPr bwMode="auto">
          <a:xfrm>
            <a:off x="712708" y="1985963"/>
            <a:ext cx="766763" cy="300037"/>
          </a:xfrm>
          <a:custGeom>
            <a:avLst/>
            <a:gdLst>
              <a:gd name="T0" fmla="*/ 0 w 7786688"/>
              <a:gd name="T1" fmla="*/ 0 h 414337"/>
              <a:gd name="T2" fmla="*/ 0 w 7786688"/>
              <a:gd name="T3" fmla="*/ 8614 h 414337"/>
              <a:gd name="T4" fmla="*/ 7786688 w 7786688"/>
              <a:gd name="T5" fmla="*/ 8614 h 414337"/>
              <a:gd name="T6" fmla="*/ 0 60000 65536"/>
              <a:gd name="T7" fmla="*/ 0 60000 65536"/>
              <a:gd name="T8" fmla="*/ 0 60000 65536"/>
              <a:gd name="T9" fmla="*/ 0 w 7786688"/>
              <a:gd name="T10" fmla="*/ 0 h 414337"/>
              <a:gd name="T11" fmla="*/ 7786688 w 7786688"/>
              <a:gd name="T12" fmla="*/ 414337 h 414337"/>
            </a:gdLst>
            <a:ahLst/>
            <a:cxnLst>
              <a:cxn ang="T6">
                <a:pos x="T0" y="T1"/>
              </a:cxn>
              <a:cxn ang="T7">
                <a:pos x="T2" y="T3"/>
              </a:cxn>
              <a:cxn ang="T8">
                <a:pos x="T4" y="T5"/>
              </a:cxn>
            </a:cxnLst>
            <a:rect l="T9" t="T10" r="T11" b="T12"/>
            <a:pathLst>
              <a:path w="7786688" h="414337">
                <a:moveTo>
                  <a:pt x="0" y="0"/>
                </a:moveTo>
                <a:lnTo>
                  <a:pt x="0" y="414337"/>
                </a:lnTo>
                <a:lnTo>
                  <a:pt x="7786688" y="414337"/>
                </a:lnTo>
              </a:path>
            </a:pathLst>
          </a:custGeom>
          <a:noFill/>
          <a:ln w="28575" algn="ctr">
            <a:solidFill>
              <a:srgbClr val="FF0000"/>
            </a:solidFill>
            <a:round/>
            <a:headEnd/>
            <a:tailEnd type="arrow" w="med" len="me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84" name="Freeform 89"/>
          <p:cNvSpPr>
            <a:spLocks noChangeArrowheads="1"/>
          </p:cNvSpPr>
          <p:nvPr/>
        </p:nvSpPr>
        <p:spPr bwMode="auto">
          <a:xfrm>
            <a:off x="4280693" y="1985963"/>
            <a:ext cx="766763" cy="300037"/>
          </a:xfrm>
          <a:custGeom>
            <a:avLst/>
            <a:gdLst>
              <a:gd name="T0" fmla="*/ 0 w 7786688"/>
              <a:gd name="T1" fmla="*/ 0 h 414337"/>
              <a:gd name="T2" fmla="*/ 0 w 7786688"/>
              <a:gd name="T3" fmla="*/ 8614 h 414337"/>
              <a:gd name="T4" fmla="*/ 7786688 w 7786688"/>
              <a:gd name="T5" fmla="*/ 8614 h 414337"/>
              <a:gd name="T6" fmla="*/ 0 60000 65536"/>
              <a:gd name="T7" fmla="*/ 0 60000 65536"/>
              <a:gd name="T8" fmla="*/ 0 60000 65536"/>
              <a:gd name="T9" fmla="*/ 0 w 7786688"/>
              <a:gd name="T10" fmla="*/ 0 h 414337"/>
              <a:gd name="T11" fmla="*/ 7786688 w 7786688"/>
              <a:gd name="T12" fmla="*/ 414337 h 414337"/>
            </a:gdLst>
            <a:ahLst/>
            <a:cxnLst>
              <a:cxn ang="T6">
                <a:pos x="T0" y="T1"/>
              </a:cxn>
              <a:cxn ang="T7">
                <a:pos x="T2" y="T3"/>
              </a:cxn>
              <a:cxn ang="T8">
                <a:pos x="T4" y="T5"/>
              </a:cxn>
            </a:cxnLst>
            <a:rect l="T9" t="T10" r="T11" b="T12"/>
            <a:pathLst>
              <a:path w="7786688" h="414337">
                <a:moveTo>
                  <a:pt x="0" y="0"/>
                </a:moveTo>
                <a:lnTo>
                  <a:pt x="0" y="414337"/>
                </a:lnTo>
                <a:lnTo>
                  <a:pt x="7786688" y="414337"/>
                </a:lnTo>
              </a:path>
            </a:pathLst>
          </a:custGeom>
          <a:noFill/>
          <a:ln w="28575" algn="ctr">
            <a:solidFill>
              <a:srgbClr val="FF0000"/>
            </a:solidFill>
            <a:round/>
            <a:headEnd/>
            <a:tailEnd type="arrow" w="med" len="me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85" name="Freeform 89"/>
          <p:cNvSpPr>
            <a:spLocks noChangeArrowheads="1"/>
          </p:cNvSpPr>
          <p:nvPr/>
        </p:nvSpPr>
        <p:spPr bwMode="auto">
          <a:xfrm>
            <a:off x="6898481" y="1985963"/>
            <a:ext cx="340519" cy="300037"/>
          </a:xfrm>
          <a:custGeom>
            <a:avLst/>
            <a:gdLst>
              <a:gd name="T0" fmla="*/ 0 w 7786688"/>
              <a:gd name="T1" fmla="*/ 0 h 414337"/>
              <a:gd name="T2" fmla="*/ 0 w 7786688"/>
              <a:gd name="T3" fmla="*/ 8614 h 414337"/>
              <a:gd name="T4" fmla="*/ 7786688 w 7786688"/>
              <a:gd name="T5" fmla="*/ 8614 h 414337"/>
              <a:gd name="T6" fmla="*/ 0 60000 65536"/>
              <a:gd name="T7" fmla="*/ 0 60000 65536"/>
              <a:gd name="T8" fmla="*/ 0 60000 65536"/>
              <a:gd name="T9" fmla="*/ 0 w 7786688"/>
              <a:gd name="T10" fmla="*/ 0 h 414337"/>
              <a:gd name="T11" fmla="*/ 7786688 w 7786688"/>
              <a:gd name="T12" fmla="*/ 414337 h 414337"/>
            </a:gdLst>
            <a:ahLst/>
            <a:cxnLst>
              <a:cxn ang="T6">
                <a:pos x="T0" y="T1"/>
              </a:cxn>
              <a:cxn ang="T7">
                <a:pos x="T2" y="T3"/>
              </a:cxn>
              <a:cxn ang="T8">
                <a:pos x="T4" y="T5"/>
              </a:cxn>
            </a:cxnLst>
            <a:rect l="T9" t="T10" r="T11" b="T12"/>
            <a:pathLst>
              <a:path w="7786688" h="414337">
                <a:moveTo>
                  <a:pt x="0" y="0"/>
                </a:moveTo>
                <a:lnTo>
                  <a:pt x="0" y="414337"/>
                </a:lnTo>
                <a:lnTo>
                  <a:pt x="7786688" y="414337"/>
                </a:lnTo>
              </a:path>
            </a:pathLst>
          </a:custGeom>
          <a:noFill/>
          <a:ln w="28575" algn="ctr">
            <a:solidFill>
              <a:srgbClr val="FF0000"/>
            </a:solidFill>
            <a:round/>
            <a:headEnd/>
            <a:tailEnd type="arrow" w="med" len="me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grpSp>
        <p:nvGrpSpPr>
          <p:cNvPr id="86" name="Group 85"/>
          <p:cNvGrpSpPr/>
          <p:nvPr/>
        </p:nvGrpSpPr>
        <p:grpSpPr>
          <a:xfrm>
            <a:off x="7918450" y="102977"/>
            <a:ext cx="1136650" cy="1066800"/>
            <a:chOff x="6781800" y="1524000"/>
            <a:chExt cx="1136650" cy="1066800"/>
          </a:xfrm>
        </p:grpSpPr>
        <p:pic>
          <p:nvPicPr>
            <p:cNvPr id="8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2379" y="1524000"/>
              <a:ext cx="994672" cy="993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88" name="Content Placeholder 5"/>
            <p:cNvSpPr txBox="1">
              <a:spLocks/>
            </p:cNvSpPr>
            <p:nvPr/>
          </p:nvSpPr>
          <p:spPr bwMode="auto">
            <a:xfrm>
              <a:off x="6781800" y="2300287"/>
              <a:ext cx="1136650" cy="290513"/>
            </a:xfrm>
            <a:prstGeom prst="rect">
              <a:avLst/>
            </a:prstGeom>
            <a:noFill/>
            <a:ln w="9525">
              <a:noFill/>
              <a:miter lim="800000"/>
              <a:headEnd/>
              <a:tailEnd/>
            </a:ln>
          </p:spPr>
          <p:txBody>
            <a:bodyPr lIns="0" tIns="0" rIns="0" bIns="0"/>
            <a:lstStyle/>
            <a:p>
              <a:pPr marL="457200" indent="-457200" algn="ctr" eaLnBrk="0" hangingPunct="0">
                <a:spcBef>
                  <a:spcPct val="40000"/>
                </a:spcBef>
                <a:buClr>
                  <a:srgbClr val="04628C"/>
                </a:buClr>
                <a:buSzPct val="90000"/>
                <a:buFont typeface="Arial" pitchFamily="34" charset="0"/>
                <a:buNone/>
                <a:defRPr/>
              </a:pPr>
              <a:r>
                <a:rPr lang="en-US" sz="1100" kern="0" dirty="0">
                  <a:solidFill>
                    <a:schemeClr val="tx1"/>
                  </a:solidFill>
                  <a:latin typeface="Arial Narrow" pitchFamily="34" charset="0"/>
                  <a:cs typeface="+mn-cs"/>
                </a:rPr>
                <a:t>ContactManager</a:t>
              </a:r>
            </a:p>
          </p:txBody>
        </p:sp>
      </p:grpSp>
    </p:spTree>
    <p:extLst>
      <p:ext uri="{BB962C8B-B14F-4D97-AF65-F5344CB8AC3E}">
        <p14:creationId xmlns:p14="http://schemas.microsoft.com/office/powerpoint/2010/main" val="260046653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|EOS~010|</a:t>
            </a:r>
            <a:endParaRPr lang="en-US" sz="100" dirty="0" err="1" smtClean="0">
              <a:solidFill>
                <a:srgbClr val="FFFFFF"/>
              </a:solidFill>
              <a:latin typeface="Arial"/>
              <a:cs typeface="Calibri" pitchFamily="34" charset="0"/>
            </a:endParaRPr>
          </a:p>
        </p:txBody>
      </p:sp>
      <p:pic>
        <p:nvPicPr>
          <p:cNvPr id="1028" name="Picture 4" descr="C:\Users\trhoades\AppData\Local\Temp\SNAGHTML1454da3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0816" y="1966913"/>
            <a:ext cx="3457575" cy="2628900"/>
          </a:xfrm>
          <a:prstGeom prst="rect">
            <a:avLst/>
          </a:prstGeom>
          <a:noFill/>
          <a:ln w="19050">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10242" name="Line 6"/>
          <p:cNvSpPr>
            <a:spLocks noChangeShapeType="1"/>
          </p:cNvSpPr>
          <p:nvPr/>
        </p:nvSpPr>
        <p:spPr bwMode="auto">
          <a:xfrm>
            <a:off x="1374775" y="1411288"/>
            <a:ext cx="0" cy="47672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43" name="Rectangle 3"/>
          <p:cNvSpPr>
            <a:spLocks noGrp="1" noChangeArrowheads="1"/>
          </p:cNvSpPr>
          <p:nvPr>
            <p:ph type="title"/>
          </p:nvPr>
        </p:nvSpPr>
        <p:spPr/>
        <p:txBody>
          <a:bodyPr/>
          <a:lstStyle/>
          <a:p>
            <a:pPr eaLnBrk="1" hangingPunct="1"/>
            <a:r>
              <a:rPr lang="en-US" dirty="0" smtClean="0"/>
              <a:t>Search results within subtypes</a:t>
            </a:r>
          </a:p>
        </p:txBody>
      </p:sp>
      <p:sp>
        <p:nvSpPr>
          <p:cNvPr id="10244" name="AutoShape 4"/>
          <p:cNvSpPr>
            <a:spLocks noChangeArrowheads="1"/>
          </p:cNvSpPr>
          <p:nvPr/>
        </p:nvSpPr>
        <p:spPr bwMode="auto">
          <a:xfrm>
            <a:off x="644525" y="2763838"/>
            <a:ext cx="1476375" cy="711200"/>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10245" name="Text Box 5"/>
          <p:cNvSpPr txBox="1">
            <a:spLocks noChangeArrowheads="1"/>
          </p:cNvSpPr>
          <p:nvPr/>
        </p:nvSpPr>
        <p:spPr bwMode="auto">
          <a:xfrm>
            <a:off x="722313" y="2814638"/>
            <a:ext cx="128746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ABPerson</a:t>
            </a:r>
            <a:br>
              <a:rPr lang="en-US">
                <a:solidFill>
                  <a:schemeClr val="bg1"/>
                </a:solidFill>
              </a:rPr>
            </a:br>
            <a:r>
              <a:rPr lang="en-US">
                <a:solidFill>
                  <a:schemeClr val="bg1"/>
                </a:solidFill>
              </a:rPr>
              <a:t>Vendor</a:t>
            </a:r>
          </a:p>
        </p:txBody>
      </p:sp>
      <p:sp>
        <p:nvSpPr>
          <p:cNvPr id="10246" name="Line 7"/>
          <p:cNvSpPr>
            <a:spLocks noChangeShapeType="1"/>
          </p:cNvSpPr>
          <p:nvPr/>
        </p:nvSpPr>
        <p:spPr bwMode="auto">
          <a:xfrm>
            <a:off x="1377950" y="6165850"/>
            <a:ext cx="37782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47" name="Line 9"/>
          <p:cNvSpPr>
            <a:spLocks noChangeShapeType="1"/>
          </p:cNvSpPr>
          <p:nvPr/>
        </p:nvSpPr>
        <p:spPr bwMode="auto">
          <a:xfrm>
            <a:off x="1377950" y="5057775"/>
            <a:ext cx="37782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48" name="AutoShape 11"/>
          <p:cNvSpPr>
            <a:spLocks noChangeArrowheads="1"/>
          </p:cNvSpPr>
          <p:nvPr/>
        </p:nvSpPr>
        <p:spPr bwMode="auto">
          <a:xfrm>
            <a:off x="539750" y="1101725"/>
            <a:ext cx="1671638" cy="711200"/>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10249" name="Text Box 12"/>
          <p:cNvSpPr txBox="1">
            <a:spLocks noChangeArrowheads="1"/>
          </p:cNvSpPr>
          <p:nvPr/>
        </p:nvSpPr>
        <p:spPr bwMode="auto">
          <a:xfrm>
            <a:off x="595313" y="1304925"/>
            <a:ext cx="15605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ABPerson</a:t>
            </a:r>
          </a:p>
        </p:txBody>
      </p:sp>
      <p:grpSp>
        <p:nvGrpSpPr>
          <p:cNvPr id="10250" name="Group 13"/>
          <p:cNvGrpSpPr>
            <a:grpSpLocks/>
          </p:cNvGrpSpPr>
          <p:nvPr/>
        </p:nvGrpSpPr>
        <p:grpSpPr bwMode="auto">
          <a:xfrm>
            <a:off x="1612900" y="4697413"/>
            <a:ext cx="1671638" cy="711200"/>
            <a:chOff x="2524" y="2022"/>
            <a:chExt cx="1053" cy="448"/>
          </a:xfrm>
        </p:grpSpPr>
        <p:sp>
          <p:nvSpPr>
            <p:cNvPr id="10275" name="AutoShape 14"/>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10276" name="Text Box 15"/>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ABAttorney</a:t>
              </a:r>
            </a:p>
          </p:txBody>
        </p:sp>
      </p:grpSp>
      <p:grpSp>
        <p:nvGrpSpPr>
          <p:cNvPr id="10251" name="Group 16"/>
          <p:cNvGrpSpPr>
            <a:grpSpLocks/>
          </p:cNvGrpSpPr>
          <p:nvPr/>
        </p:nvGrpSpPr>
        <p:grpSpPr bwMode="auto">
          <a:xfrm>
            <a:off x="1611313" y="5770563"/>
            <a:ext cx="1671637" cy="711200"/>
            <a:chOff x="2524" y="2022"/>
            <a:chExt cx="1053" cy="448"/>
          </a:xfrm>
        </p:grpSpPr>
        <p:sp>
          <p:nvSpPr>
            <p:cNvPr id="10273" name="AutoShape 17"/>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10274" name="Text Box 18"/>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ABDoctor</a:t>
              </a:r>
            </a:p>
          </p:txBody>
        </p:sp>
      </p:grpSp>
      <p:grpSp>
        <p:nvGrpSpPr>
          <p:cNvPr id="10252" name="Group 19"/>
          <p:cNvGrpSpPr>
            <a:grpSpLocks/>
          </p:cNvGrpSpPr>
          <p:nvPr/>
        </p:nvGrpSpPr>
        <p:grpSpPr bwMode="auto">
          <a:xfrm>
            <a:off x="2957513" y="5192713"/>
            <a:ext cx="492125" cy="539750"/>
            <a:chOff x="4508" y="1968"/>
            <a:chExt cx="310" cy="340"/>
          </a:xfrm>
        </p:grpSpPr>
        <p:sp>
          <p:nvSpPr>
            <p:cNvPr id="10269" name="Rectangle 20"/>
            <p:cNvSpPr>
              <a:spLocks noChangeArrowheads="1"/>
            </p:cNvSpPr>
            <p:nvPr/>
          </p:nvSpPr>
          <p:spPr bwMode="auto">
            <a:xfrm rot="19100882" flipH="1">
              <a:off x="4734" y="2152"/>
              <a:ext cx="84" cy="144"/>
            </a:xfrm>
            <a:prstGeom prst="rect">
              <a:avLst/>
            </a:prstGeom>
            <a:solidFill>
              <a:srgbClr val="996633"/>
            </a:solidFill>
            <a:ln w="12700">
              <a:solidFill>
                <a:schemeClr val="bg1"/>
              </a:solidFill>
              <a:miter lim="800000"/>
              <a:headEnd/>
              <a:tailEnd/>
            </a:ln>
          </p:spPr>
          <p:txBody>
            <a:bodyPr wrap="none" anchor="ctr">
              <a:spAutoFit/>
            </a:bodyPr>
            <a:lstStyle/>
            <a:p>
              <a:endParaRPr lang="en-US"/>
            </a:p>
          </p:txBody>
        </p:sp>
        <p:sp>
          <p:nvSpPr>
            <p:cNvPr id="10270" name="Oval 21"/>
            <p:cNvSpPr>
              <a:spLocks noChangeArrowheads="1"/>
            </p:cNvSpPr>
            <p:nvPr/>
          </p:nvSpPr>
          <p:spPr bwMode="auto">
            <a:xfrm flipH="1">
              <a:off x="4526" y="1968"/>
              <a:ext cx="246" cy="246"/>
            </a:xfrm>
            <a:prstGeom prst="ellipse">
              <a:avLst/>
            </a:prstGeom>
            <a:solidFill>
              <a:schemeClr val="hlink"/>
            </a:solidFill>
            <a:ln w="12700">
              <a:solidFill>
                <a:schemeClr val="bg1"/>
              </a:solidFill>
              <a:round/>
              <a:headEnd/>
              <a:tailEnd/>
            </a:ln>
          </p:spPr>
          <p:txBody>
            <a:bodyPr wrap="none" anchor="ctr">
              <a:spAutoFit/>
            </a:bodyPr>
            <a:lstStyle/>
            <a:p>
              <a:endParaRPr lang="en-US"/>
            </a:p>
          </p:txBody>
        </p:sp>
        <p:sp>
          <p:nvSpPr>
            <p:cNvPr id="10271" name="Rectangle 22"/>
            <p:cNvSpPr>
              <a:spLocks noChangeArrowheads="1"/>
            </p:cNvSpPr>
            <p:nvPr/>
          </p:nvSpPr>
          <p:spPr bwMode="auto">
            <a:xfrm rot="19100882" flipH="1">
              <a:off x="4717" y="2164"/>
              <a:ext cx="84" cy="144"/>
            </a:xfrm>
            <a:prstGeom prst="rect">
              <a:avLst/>
            </a:prstGeom>
            <a:gradFill rotWithShape="0">
              <a:gsLst>
                <a:gs pos="0">
                  <a:srgbClr val="996633"/>
                </a:gs>
                <a:gs pos="100000">
                  <a:srgbClr val="FFCC33"/>
                </a:gs>
              </a:gsLst>
              <a:lin ang="2700000" scaled="1"/>
            </a:gradFill>
            <a:ln w="12700">
              <a:solidFill>
                <a:schemeClr val="bg1"/>
              </a:solidFill>
              <a:miter lim="800000"/>
              <a:headEnd/>
              <a:tailEnd/>
            </a:ln>
          </p:spPr>
          <p:txBody>
            <a:bodyPr wrap="none" anchor="ctr">
              <a:spAutoFit/>
            </a:bodyPr>
            <a:lstStyle/>
            <a:p>
              <a:endParaRPr lang="en-US"/>
            </a:p>
          </p:txBody>
        </p:sp>
        <p:sp>
          <p:nvSpPr>
            <p:cNvPr id="10272" name="Oval 23"/>
            <p:cNvSpPr>
              <a:spLocks noChangeArrowheads="1"/>
            </p:cNvSpPr>
            <p:nvPr/>
          </p:nvSpPr>
          <p:spPr bwMode="auto">
            <a:xfrm flipH="1">
              <a:off x="4508" y="1971"/>
              <a:ext cx="246" cy="247"/>
            </a:xfrm>
            <a:prstGeom prst="ellipse">
              <a:avLst/>
            </a:prstGeom>
            <a:gradFill rotWithShape="0">
              <a:gsLst>
                <a:gs pos="0">
                  <a:srgbClr val="FFFFFF"/>
                </a:gs>
                <a:gs pos="100000">
                  <a:srgbClr val="99CCFF"/>
                </a:gs>
              </a:gsLst>
              <a:lin ang="18900000" scaled="1"/>
            </a:gradFill>
            <a:ln w="12700">
              <a:solidFill>
                <a:schemeClr val="bg1"/>
              </a:solidFill>
              <a:round/>
              <a:headEnd/>
              <a:tailEnd/>
            </a:ln>
          </p:spPr>
          <p:txBody>
            <a:bodyPr anchor="ctr">
              <a:spAutoFit/>
            </a:bodyPr>
            <a:lstStyle/>
            <a:p>
              <a:endParaRPr lang="en-US"/>
            </a:p>
          </p:txBody>
        </p:sp>
      </p:grpSp>
      <p:grpSp>
        <p:nvGrpSpPr>
          <p:cNvPr id="10253" name="Group 24"/>
          <p:cNvGrpSpPr>
            <a:grpSpLocks/>
          </p:cNvGrpSpPr>
          <p:nvPr/>
        </p:nvGrpSpPr>
        <p:grpSpPr bwMode="auto">
          <a:xfrm>
            <a:off x="1905000" y="3235325"/>
            <a:ext cx="492125" cy="539750"/>
            <a:chOff x="4508" y="1968"/>
            <a:chExt cx="310" cy="340"/>
          </a:xfrm>
        </p:grpSpPr>
        <p:sp>
          <p:nvSpPr>
            <p:cNvPr id="10265" name="Rectangle 25"/>
            <p:cNvSpPr>
              <a:spLocks noChangeArrowheads="1"/>
            </p:cNvSpPr>
            <p:nvPr/>
          </p:nvSpPr>
          <p:spPr bwMode="auto">
            <a:xfrm rot="19100882" flipH="1">
              <a:off x="4734" y="2152"/>
              <a:ext cx="84" cy="144"/>
            </a:xfrm>
            <a:prstGeom prst="rect">
              <a:avLst/>
            </a:prstGeom>
            <a:solidFill>
              <a:srgbClr val="996633"/>
            </a:solidFill>
            <a:ln w="12700">
              <a:solidFill>
                <a:schemeClr val="bg1"/>
              </a:solidFill>
              <a:miter lim="800000"/>
              <a:headEnd/>
              <a:tailEnd/>
            </a:ln>
          </p:spPr>
          <p:txBody>
            <a:bodyPr wrap="none" anchor="ctr">
              <a:spAutoFit/>
            </a:bodyPr>
            <a:lstStyle/>
            <a:p>
              <a:endParaRPr lang="en-US"/>
            </a:p>
          </p:txBody>
        </p:sp>
        <p:sp>
          <p:nvSpPr>
            <p:cNvPr id="10266" name="Oval 26"/>
            <p:cNvSpPr>
              <a:spLocks noChangeArrowheads="1"/>
            </p:cNvSpPr>
            <p:nvPr/>
          </p:nvSpPr>
          <p:spPr bwMode="auto">
            <a:xfrm flipH="1">
              <a:off x="4526" y="1968"/>
              <a:ext cx="246" cy="246"/>
            </a:xfrm>
            <a:prstGeom prst="ellipse">
              <a:avLst/>
            </a:prstGeom>
            <a:solidFill>
              <a:schemeClr val="hlink"/>
            </a:solidFill>
            <a:ln w="12700">
              <a:solidFill>
                <a:schemeClr val="bg1"/>
              </a:solidFill>
              <a:round/>
              <a:headEnd/>
              <a:tailEnd/>
            </a:ln>
          </p:spPr>
          <p:txBody>
            <a:bodyPr wrap="none" anchor="ctr">
              <a:spAutoFit/>
            </a:bodyPr>
            <a:lstStyle/>
            <a:p>
              <a:endParaRPr lang="en-US"/>
            </a:p>
          </p:txBody>
        </p:sp>
        <p:sp>
          <p:nvSpPr>
            <p:cNvPr id="10267" name="Rectangle 27"/>
            <p:cNvSpPr>
              <a:spLocks noChangeArrowheads="1"/>
            </p:cNvSpPr>
            <p:nvPr/>
          </p:nvSpPr>
          <p:spPr bwMode="auto">
            <a:xfrm rot="19100882" flipH="1">
              <a:off x="4717" y="2164"/>
              <a:ext cx="84" cy="144"/>
            </a:xfrm>
            <a:prstGeom prst="rect">
              <a:avLst/>
            </a:prstGeom>
            <a:gradFill rotWithShape="0">
              <a:gsLst>
                <a:gs pos="0">
                  <a:srgbClr val="996633"/>
                </a:gs>
                <a:gs pos="100000">
                  <a:srgbClr val="FFCC33"/>
                </a:gs>
              </a:gsLst>
              <a:lin ang="2700000" scaled="1"/>
            </a:gradFill>
            <a:ln w="12700">
              <a:solidFill>
                <a:schemeClr val="bg1"/>
              </a:solidFill>
              <a:miter lim="800000"/>
              <a:headEnd/>
              <a:tailEnd/>
            </a:ln>
          </p:spPr>
          <p:txBody>
            <a:bodyPr wrap="none" anchor="ctr">
              <a:spAutoFit/>
            </a:bodyPr>
            <a:lstStyle/>
            <a:p>
              <a:endParaRPr lang="en-US"/>
            </a:p>
          </p:txBody>
        </p:sp>
        <p:sp>
          <p:nvSpPr>
            <p:cNvPr id="10268" name="Oval 28"/>
            <p:cNvSpPr>
              <a:spLocks noChangeArrowheads="1"/>
            </p:cNvSpPr>
            <p:nvPr/>
          </p:nvSpPr>
          <p:spPr bwMode="auto">
            <a:xfrm flipH="1">
              <a:off x="4508" y="1971"/>
              <a:ext cx="246" cy="247"/>
            </a:xfrm>
            <a:prstGeom prst="ellipse">
              <a:avLst/>
            </a:prstGeom>
            <a:gradFill rotWithShape="0">
              <a:gsLst>
                <a:gs pos="0">
                  <a:srgbClr val="FFFFFF"/>
                </a:gs>
                <a:gs pos="100000">
                  <a:srgbClr val="99CCFF"/>
                </a:gs>
              </a:gsLst>
              <a:lin ang="18900000" scaled="1"/>
            </a:gradFill>
            <a:ln w="12700">
              <a:solidFill>
                <a:schemeClr val="bg1"/>
              </a:solidFill>
              <a:round/>
              <a:headEnd/>
              <a:tailEnd/>
            </a:ln>
          </p:spPr>
          <p:txBody>
            <a:bodyPr anchor="ctr">
              <a:spAutoFit/>
            </a:bodyPr>
            <a:lstStyle/>
            <a:p>
              <a:endParaRPr lang="en-US"/>
            </a:p>
          </p:txBody>
        </p:sp>
      </p:grpSp>
      <p:grpSp>
        <p:nvGrpSpPr>
          <p:cNvPr id="10254" name="Group 29"/>
          <p:cNvGrpSpPr>
            <a:grpSpLocks/>
          </p:cNvGrpSpPr>
          <p:nvPr/>
        </p:nvGrpSpPr>
        <p:grpSpPr bwMode="auto">
          <a:xfrm>
            <a:off x="1905000" y="1541463"/>
            <a:ext cx="492125" cy="539750"/>
            <a:chOff x="4508" y="1968"/>
            <a:chExt cx="310" cy="340"/>
          </a:xfrm>
        </p:grpSpPr>
        <p:sp>
          <p:nvSpPr>
            <p:cNvPr id="10261" name="Rectangle 30"/>
            <p:cNvSpPr>
              <a:spLocks noChangeArrowheads="1"/>
            </p:cNvSpPr>
            <p:nvPr/>
          </p:nvSpPr>
          <p:spPr bwMode="auto">
            <a:xfrm rot="19100882" flipH="1">
              <a:off x="4734" y="2152"/>
              <a:ext cx="84" cy="144"/>
            </a:xfrm>
            <a:prstGeom prst="rect">
              <a:avLst/>
            </a:prstGeom>
            <a:solidFill>
              <a:srgbClr val="996633"/>
            </a:solidFill>
            <a:ln w="12700">
              <a:solidFill>
                <a:schemeClr val="bg1"/>
              </a:solidFill>
              <a:miter lim="800000"/>
              <a:headEnd/>
              <a:tailEnd/>
            </a:ln>
          </p:spPr>
          <p:txBody>
            <a:bodyPr wrap="none" anchor="ctr">
              <a:spAutoFit/>
            </a:bodyPr>
            <a:lstStyle/>
            <a:p>
              <a:endParaRPr lang="en-US"/>
            </a:p>
          </p:txBody>
        </p:sp>
        <p:sp>
          <p:nvSpPr>
            <p:cNvPr id="10262" name="Oval 31"/>
            <p:cNvSpPr>
              <a:spLocks noChangeArrowheads="1"/>
            </p:cNvSpPr>
            <p:nvPr/>
          </p:nvSpPr>
          <p:spPr bwMode="auto">
            <a:xfrm flipH="1">
              <a:off x="4526" y="1968"/>
              <a:ext cx="246" cy="246"/>
            </a:xfrm>
            <a:prstGeom prst="ellipse">
              <a:avLst/>
            </a:prstGeom>
            <a:solidFill>
              <a:schemeClr val="hlink"/>
            </a:solidFill>
            <a:ln w="12700">
              <a:solidFill>
                <a:schemeClr val="bg1"/>
              </a:solidFill>
              <a:round/>
              <a:headEnd/>
              <a:tailEnd/>
            </a:ln>
          </p:spPr>
          <p:txBody>
            <a:bodyPr wrap="none" anchor="ctr">
              <a:spAutoFit/>
            </a:bodyPr>
            <a:lstStyle/>
            <a:p>
              <a:endParaRPr lang="en-US"/>
            </a:p>
          </p:txBody>
        </p:sp>
        <p:sp>
          <p:nvSpPr>
            <p:cNvPr id="10263" name="Rectangle 32"/>
            <p:cNvSpPr>
              <a:spLocks noChangeArrowheads="1"/>
            </p:cNvSpPr>
            <p:nvPr/>
          </p:nvSpPr>
          <p:spPr bwMode="auto">
            <a:xfrm rot="19100882" flipH="1">
              <a:off x="4717" y="2164"/>
              <a:ext cx="84" cy="144"/>
            </a:xfrm>
            <a:prstGeom prst="rect">
              <a:avLst/>
            </a:prstGeom>
            <a:gradFill rotWithShape="0">
              <a:gsLst>
                <a:gs pos="0">
                  <a:srgbClr val="996633"/>
                </a:gs>
                <a:gs pos="100000">
                  <a:srgbClr val="FFCC33"/>
                </a:gs>
              </a:gsLst>
              <a:lin ang="2700000" scaled="1"/>
            </a:gradFill>
            <a:ln w="12700">
              <a:solidFill>
                <a:schemeClr val="bg1"/>
              </a:solidFill>
              <a:miter lim="800000"/>
              <a:headEnd/>
              <a:tailEnd/>
            </a:ln>
          </p:spPr>
          <p:txBody>
            <a:bodyPr wrap="none" anchor="ctr">
              <a:spAutoFit/>
            </a:bodyPr>
            <a:lstStyle/>
            <a:p>
              <a:endParaRPr lang="en-US"/>
            </a:p>
          </p:txBody>
        </p:sp>
        <p:sp>
          <p:nvSpPr>
            <p:cNvPr id="10264" name="Oval 33"/>
            <p:cNvSpPr>
              <a:spLocks noChangeArrowheads="1"/>
            </p:cNvSpPr>
            <p:nvPr/>
          </p:nvSpPr>
          <p:spPr bwMode="auto">
            <a:xfrm flipH="1">
              <a:off x="4508" y="1971"/>
              <a:ext cx="246" cy="247"/>
            </a:xfrm>
            <a:prstGeom prst="ellipse">
              <a:avLst/>
            </a:prstGeom>
            <a:gradFill rotWithShape="0">
              <a:gsLst>
                <a:gs pos="0">
                  <a:srgbClr val="FFFFFF"/>
                </a:gs>
                <a:gs pos="100000">
                  <a:srgbClr val="99CCFF"/>
                </a:gs>
              </a:gsLst>
              <a:lin ang="18900000" scaled="1"/>
            </a:gradFill>
            <a:ln w="12700">
              <a:solidFill>
                <a:schemeClr val="bg1"/>
              </a:solidFill>
              <a:round/>
              <a:headEnd/>
              <a:tailEnd/>
            </a:ln>
          </p:spPr>
          <p:txBody>
            <a:bodyPr anchor="ctr">
              <a:spAutoFit/>
            </a:bodyPr>
            <a:lstStyle/>
            <a:p>
              <a:endParaRPr lang="en-US"/>
            </a:p>
          </p:txBody>
        </p:sp>
      </p:grpSp>
      <p:sp>
        <p:nvSpPr>
          <p:cNvPr id="10257" name="Line 36"/>
          <p:cNvSpPr>
            <a:spLocks noChangeShapeType="1"/>
          </p:cNvSpPr>
          <p:nvPr/>
        </p:nvSpPr>
        <p:spPr bwMode="auto">
          <a:xfrm>
            <a:off x="2160588" y="1731963"/>
            <a:ext cx="3346488"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0258" name="Line 37"/>
          <p:cNvSpPr>
            <a:spLocks noChangeShapeType="1"/>
          </p:cNvSpPr>
          <p:nvPr/>
        </p:nvSpPr>
        <p:spPr bwMode="auto">
          <a:xfrm flipV="1">
            <a:off x="2119313" y="3424238"/>
            <a:ext cx="838199" cy="11112"/>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0259" name="Line 38"/>
          <p:cNvSpPr>
            <a:spLocks noChangeShapeType="1"/>
          </p:cNvSpPr>
          <p:nvPr/>
        </p:nvSpPr>
        <p:spPr bwMode="auto">
          <a:xfrm>
            <a:off x="3173413" y="5334000"/>
            <a:ext cx="2472806"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45" name="Group 44"/>
          <p:cNvGrpSpPr/>
          <p:nvPr/>
        </p:nvGrpSpPr>
        <p:grpSpPr>
          <a:xfrm>
            <a:off x="7918450" y="102977"/>
            <a:ext cx="1136650" cy="1066800"/>
            <a:chOff x="6781800" y="1524000"/>
            <a:chExt cx="1136650" cy="1066800"/>
          </a:xfrm>
        </p:grpSpPr>
        <p:pic>
          <p:nvPicPr>
            <p:cNvPr id="4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2379" y="1524000"/>
              <a:ext cx="994672" cy="993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47" name="Content Placeholder 5"/>
            <p:cNvSpPr txBox="1">
              <a:spLocks/>
            </p:cNvSpPr>
            <p:nvPr/>
          </p:nvSpPr>
          <p:spPr bwMode="auto">
            <a:xfrm>
              <a:off x="6781800" y="2300287"/>
              <a:ext cx="1136650" cy="290513"/>
            </a:xfrm>
            <a:prstGeom prst="rect">
              <a:avLst/>
            </a:prstGeom>
            <a:noFill/>
            <a:ln w="9525">
              <a:noFill/>
              <a:miter lim="800000"/>
              <a:headEnd/>
              <a:tailEnd/>
            </a:ln>
          </p:spPr>
          <p:txBody>
            <a:bodyPr lIns="0" tIns="0" rIns="0" bIns="0"/>
            <a:lstStyle/>
            <a:p>
              <a:pPr marL="457200" indent="-457200" algn="ctr" eaLnBrk="0" hangingPunct="0">
                <a:spcBef>
                  <a:spcPct val="40000"/>
                </a:spcBef>
                <a:buClr>
                  <a:srgbClr val="04628C"/>
                </a:buClr>
                <a:buSzPct val="90000"/>
                <a:buFont typeface="Arial" pitchFamily="34" charset="0"/>
                <a:buNone/>
                <a:defRPr/>
              </a:pPr>
              <a:r>
                <a:rPr lang="en-US" sz="1100" kern="0" dirty="0">
                  <a:solidFill>
                    <a:schemeClr val="tx1"/>
                  </a:solidFill>
                  <a:latin typeface="Arial Narrow" pitchFamily="34" charset="0"/>
                  <a:cs typeface="+mn-cs"/>
                </a:rPr>
                <a:t>ContactManager</a:t>
              </a:r>
            </a:p>
          </p:txBody>
        </p:sp>
      </p:grpSp>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07076" y="1069794"/>
            <a:ext cx="3476625" cy="2686050"/>
          </a:xfrm>
          <a:prstGeom prst="rect">
            <a:avLst/>
          </a:prstGeom>
          <a:noFill/>
          <a:ln w="19050">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030" name="Picture 6" descr="C:\Users\trhoades\AppData\Local\Temp\SNAGHTML1456f7a1.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46219" y="4114800"/>
            <a:ext cx="3409950" cy="2438400"/>
          </a:xfrm>
          <a:prstGeom prst="rect">
            <a:avLst/>
          </a:prstGeom>
          <a:noFill/>
          <a:ln w="19050">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5098640"/>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1"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|EOS~011|</a:t>
            </a:r>
            <a:endParaRPr lang="en-US" sz="100" dirty="0" err="1" smtClean="0">
              <a:solidFill>
                <a:srgbClr val="FFFFFF"/>
              </a:solidFill>
              <a:latin typeface="Arial"/>
              <a:cs typeface="Calibri" pitchFamily="34" charset="0"/>
            </a:endParaRPr>
          </a:p>
        </p:txBody>
      </p:sp>
      <p:sp>
        <p:nvSpPr>
          <p:cNvPr id="11266" name="Title 1"/>
          <p:cNvSpPr>
            <a:spLocks noGrp="1"/>
          </p:cNvSpPr>
          <p:nvPr>
            <p:ph type="title"/>
          </p:nvPr>
        </p:nvSpPr>
        <p:spPr/>
        <p:txBody>
          <a:bodyPr/>
          <a:lstStyle/>
          <a:p>
            <a:r>
              <a:rPr lang="en-US" smtClean="0"/>
              <a:t>Contact tags</a:t>
            </a:r>
          </a:p>
        </p:txBody>
      </p:sp>
      <p:sp>
        <p:nvSpPr>
          <p:cNvPr id="11267" name="Content Placeholder 2"/>
          <p:cNvSpPr>
            <a:spLocks noGrp="1"/>
          </p:cNvSpPr>
          <p:nvPr>
            <p:ph idx="1"/>
          </p:nvPr>
        </p:nvSpPr>
        <p:spPr>
          <a:xfrm>
            <a:off x="519113" y="3168650"/>
            <a:ext cx="8318500" cy="3221038"/>
          </a:xfrm>
        </p:spPr>
        <p:txBody>
          <a:bodyPr/>
          <a:lstStyle/>
          <a:p>
            <a:r>
              <a:rPr lang="en-US" b="1" dirty="0" smtClean="0"/>
              <a:t>Contact tags </a:t>
            </a:r>
            <a:r>
              <a:rPr lang="en-US" dirty="0" smtClean="0"/>
              <a:t>are tags that identify one or more broad relationships that a contact has with the carrier</a:t>
            </a:r>
          </a:p>
          <a:p>
            <a:pPr lvl="1"/>
            <a:r>
              <a:rPr lang="en-US" dirty="0" smtClean="0"/>
              <a:t>Contact tags have greater flexibility than subtypes because, unlike subtypes, a contact can have any number of tags</a:t>
            </a:r>
          </a:p>
          <a:p>
            <a:r>
              <a:rPr lang="en-US" dirty="0" smtClean="0"/>
              <a:t>The base application includes three tags</a:t>
            </a:r>
          </a:p>
          <a:p>
            <a:pPr lvl="1"/>
            <a:r>
              <a:rPr lang="en-US" dirty="0" smtClean="0"/>
              <a:t>Client (a policy holder)</a:t>
            </a:r>
          </a:p>
          <a:p>
            <a:pPr lvl="1"/>
            <a:r>
              <a:rPr lang="en-US" dirty="0" smtClean="0"/>
              <a:t>Claim party (a contact involved in a claim)</a:t>
            </a:r>
          </a:p>
          <a:p>
            <a:pPr lvl="1"/>
            <a:r>
              <a:rPr lang="en-US" dirty="0" smtClean="0"/>
              <a:t>Vendor (a contact that provides service for a claim)</a:t>
            </a:r>
          </a:p>
        </p:txBody>
      </p:sp>
      <p:grpSp>
        <p:nvGrpSpPr>
          <p:cNvPr id="11268" name="Group 11"/>
          <p:cNvGrpSpPr>
            <a:grpSpLocks/>
          </p:cNvGrpSpPr>
          <p:nvPr/>
        </p:nvGrpSpPr>
        <p:grpSpPr bwMode="auto">
          <a:xfrm>
            <a:off x="854075" y="1258888"/>
            <a:ext cx="896938" cy="896937"/>
            <a:chOff x="1350" y="686"/>
            <a:chExt cx="1132" cy="1132"/>
          </a:xfrm>
        </p:grpSpPr>
        <p:sp>
          <p:nvSpPr>
            <p:cNvPr id="11310" name="AutoShape 1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1311" name="Picture 13"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1269" name="Group 75"/>
          <p:cNvGrpSpPr>
            <a:grpSpLocks/>
          </p:cNvGrpSpPr>
          <p:nvPr/>
        </p:nvGrpSpPr>
        <p:grpSpPr bwMode="auto">
          <a:xfrm>
            <a:off x="6503988" y="1162050"/>
            <a:ext cx="1011237" cy="1001713"/>
            <a:chOff x="3753" y="978"/>
            <a:chExt cx="637" cy="631"/>
          </a:xfrm>
        </p:grpSpPr>
        <p:sp>
          <p:nvSpPr>
            <p:cNvPr id="11304" name="AutoShape 76"/>
            <p:cNvSpPr>
              <a:spLocks noChangeArrowheads="1"/>
            </p:cNvSpPr>
            <p:nvPr/>
          </p:nvSpPr>
          <p:spPr bwMode="auto">
            <a:xfrm>
              <a:off x="3830" y="1049"/>
              <a:ext cx="560" cy="560"/>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sp>
          <p:nvSpPr>
            <p:cNvPr id="11305" name="Freeform 77"/>
            <p:cNvSpPr>
              <a:spLocks/>
            </p:cNvSpPr>
            <p:nvPr/>
          </p:nvSpPr>
          <p:spPr bwMode="auto">
            <a:xfrm>
              <a:off x="3969" y="1118"/>
              <a:ext cx="382" cy="70"/>
            </a:xfrm>
            <a:custGeom>
              <a:avLst/>
              <a:gdLst>
                <a:gd name="T0" fmla="*/ 18 w 381"/>
                <a:gd name="T1" fmla="*/ 0 h 69"/>
                <a:gd name="T2" fmla="*/ 348 w 381"/>
                <a:gd name="T3" fmla="*/ 0 h 69"/>
                <a:gd name="T4" fmla="*/ 402 w 381"/>
                <a:gd name="T5" fmla="*/ 90 h 69"/>
                <a:gd name="T6" fmla="*/ 0 w 381"/>
                <a:gd name="T7" fmla="*/ 90 h 69"/>
                <a:gd name="T8" fmla="*/ 18 w 381"/>
                <a:gd name="T9" fmla="*/ 0 h 69"/>
                <a:gd name="T10" fmla="*/ 0 60000 65536"/>
                <a:gd name="T11" fmla="*/ 0 60000 65536"/>
                <a:gd name="T12" fmla="*/ 0 60000 65536"/>
                <a:gd name="T13" fmla="*/ 0 60000 65536"/>
                <a:gd name="T14" fmla="*/ 0 60000 65536"/>
                <a:gd name="T15" fmla="*/ 0 w 381"/>
                <a:gd name="T16" fmla="*/ 0 h 69"/>
                <a:gd name="T17" fmla="*/ 381 w 381"/>
                <a:gd name="T18" fmla="*/ 69 h 69"/>
              </a:gdLst>
              <a:ahLst/>
              <a:cxnLst>
                <a:cxn ang="T10">
                  <a:pos x="T0" y="T1"/>
                </a:cxn>
                <a:cxn ang="T11">
                  <a:pos x="T2" y="T3"/>
                </a:cxn>
                <a:cxn ang="T12">
                  <a:pos x="T4" y="T5"/>
                </a:cxn>
                <a:cxn ang="T13">
                  <a:pos x="T6" y="T7"/>
                </a:cxn>
                <a:cxn ang="T14">
                  <a:pos x="T8" y="T9"/>
                </a:cxn>
              </a:cxnLst>
              <a:rect l="T15" t="T16" r="T17" b="T18"/>
              <a:pathLst>
                <a:path w="381" h="69">
                  <a:moveTo>
                    <a:pt x="18" y="0"/>
                  </a:moveTo>
                  <a:lnTo>
                    <a:pt x="327" y="0"/>
                  </a:lnTo>
                  <a:lnTo>
                    <a:pt x="381" y="69"/>
                  </a:lnTo>
                  <a:lnTo>
                    <a:pt x="0" y="69"/>
                  </a:lnTo>
                  <a:lnTo>
                    <a:pt x="18" y="0"/>
                  </a:lnTo>
                  <a:close/>
                </a:path>
              </a:pathLst>
            </a:custGeom>
            <a:solidFill>
              <a:srgbClr val="D39E54"/>
            </a:solidFill>
            <a:ln w="12700">
              <a:solidFill>
                <a:srgbClr val="000000"/>
              </a:solidFill>
              <a:round/>
              <a:headEnd/>
              <a:tailEnd/>
            </a:ln>
          </p:spPr>
          <p:txBody>
            <a:bodyPr/>
            <a:lstStyle/>
            <a:p>
              <a:endParaRPr lang="en-US"/>
            </a:p>
          </p:txBody>
        </p:sp>
        <p:sp>
          <p:nvSpPr>
            <p:cNvPr id="11306" name="Freeform 78"/>
            <p:cNvSpPr>
              <a:spLocks/>
            </p:cNvSpPr>
            <p:nvPr/>
          </p:nvSpPr>
          <p:spPr bwMode="auto">
            <a:xfrm>
              <a:off x="3753" y="978"/>
              <a:ext cx="276" cy="319"/>
            </a:xfrm>
            <a:custGeom>
              <a:avLst/>
              <a:gdLst>
                <a:gd name="T0" fmla="*/ 0 w 343"/>
                <a:gd name="T1" fmla="*/ 2 h 396"/>
                <a:gd name="T2" fmla="*/ 2 w 343"/>
                <a:gd name="T3" fmla="*/ 2 h 396"/>
                <a:gd name="T4" fmla="*/ 2 w 343"/>
                <a:gd name="T5" fmla="*/ 2 h 396"/>
                <a:gd name="T6" fmla="*/ 2 w 343"/>
                <a:gd name="T7" fmla="*/ 3 h 396"/>
                <a:gd name="T8" fmla="*/ 2 w 343"/>
                <a:gd name="T9" fmla="*/ 3 h 396"/>
                <a:gd name="T10" fmla="*/ 2 w 343"/>
                <a:gd name="T11" fmla="*/ 4 h 396"/>
                <a:gd name="T12" fmla="*/ 2 w 343"/>
                <a:gd name="T13" fmla="*/ 4 h 396"/>
                <a:gd name="T14" fmla="*/ 2 w 343"/>
                <a:gd name="T15" fmla="*/ 4 h 396"/>
                <a:gd name="T16" fmla="*/ 2 w 343"/>
                <a:gd name="T17" fmla="*/ 4 h 396"/>
                <a:gd name="T18" fmla="*/ 2 w 343"/>
                <a:gd name="T19" fmla="*/ 4 h 396"/>
                <a:gd name="T20" fmla="*/ 2 w 343"/>
                <a:gd name="T21" fmla="*/ 4 h 396"/>
                <a:gd name="T22" fmla="*/ 2 w 343"/>
                <a:gd name="T23" fmla="*/ 4 h 396"/>
                <a:gd name="T24" fmla="*/ 3 w 343"/>
                <a:gd name="T25" fmla="*/ 3 h 396"/>
                <a:gd name="T26" fmla="*/ 3 w 343"/>
                <a:gd name="T27" fmla="*/ 3 h 396"/>
                <a:gd name="T28" fmla="*/ 3 w 343"/>
                <a:gd name="T29" fmla="*/ 2 h 396"/>
                <a:gd name="T30" fmla="*/ 3 w 343"/>
                <a:gd name="T31" fmla="*/ 2 h 396"/>
                <a:gd name="T32" fmla="*/ 3 w 343"/>
                <a:gd name="T33" fmla="*/ 2 h 396"/>
                <a:gd name="T34" fmla="*/ 3 w 343"/>
                <a:gd name="T35" fmla="*/ 2 h 396"/>
                <a:gd name="T36" fmla="*/ 3 w 343"/>
                <a:gd name="T37" fmla="*/ 2 h 396"/>
                <a:gd name="T38" fmla="*/ 3 w 343"/>
                <a:gd name="T39" fmla="*/ 2 h 396"/>
                <a:gd name="T40" fmla="*/ 3 w 343"/>
                <a:gd name="T41" fmla="*/ 2 h 396"/>
                <a:gd name="T42" fmla="*/ 2 w 343"/>
                <a:gd name="T43" fmla="*/ 2 h 396"/>
                <a:gd name="T44" fmla="*/ 2 w 343"/>
                <a:gd name="T45" fmla="*/ 2 h 396"/>
                <a:gd name="T46" fmla="*/ 2 w 343"/>
                <a:gd name="T47" fmla="*/ 2 h 396"/>
                <a:gd name="T48" fmla="*/ 2 w 343"/>
                <a:gd name="T49" fmla="*/ 0 h 396"/>
                <a:gd name="T50" fmla="*/ 2 w 343"/>
                <a:gd name="T51" fmla="*/ 2 h 396"/>
                <a:gd name="T52" fmla="*/ 2 w 343"/>
                <a:gd name="T53" fmla="*/ 2 h 396"/>
                <a:gd name="T54" fmla="*/ 2 w 343"/>
                <a:gd name="T55" fmla="*/ 2 h 396"/>
                <a:gd name="T56" fmla="*/ 2 w 343"/>
                <a:gd name="T57" fmla="*/ 2 h 396"/>
                <a:gd name="T58" fmla="*/ 2 w 343"/>
                <a:gd name="T59" fmla="*/ 2 h 396"/>
                <a:gd name="T60" fmla="*/ 2 w 343"/>
                <a:gd name="T61" fmla="*/ 2 h 396"/>
                <a:gd name="T62" fmla="*/ 2 w 343"/>
                <a:gd name="T63" fmla="*/ 2 h 396"/>
                <a:gd name="T64" fmla="*/ 0 w 343"/>
                <a:gd name="T65" fmla="*/ 2 h 39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3"/>
                <a:gd name="T100" fmla="*/ 0 h 396"/>
                <a:gd name="T101" fmla="*/ 343 w 343"/>
                <a:gd name="T102" fmla="*/ 396 h 39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3" h="396">
                  <a:moveTo>
                    <a:pt x="0" y="197"/>
                  </a:moveTo>
                  <a:lnTo>
                    <a:pt x="3" y="238"/>
                  </a:lnTo>
                  <a:lnTo>
                    <a:pt x="13" y="274"/>
                  </a:lnTo>
                  <a:lnTo>
                    <a:pt x="29" y="309"/>
                  </a:lnTo>
                  <a:lnTo>
                    <a:pt x="51" y="338"/>
                  </a:lnTo>
                  <a:lnTo>
                    <a:pt x="76" y="363"/>
                  </a:lnTo>
                  <a:lnTo>
                    <a:pt x="105" y="380"/>
                  </a:lnTo>
                  <a:lnTo>
                    <a:pt x="137" y="392"/>
                  </a:lnTo>
                  <a:lnTo>
                    <a:pt x="171" y="396"/>
                  </a:lnTo>
                  <a:lnTo>
                    <a:pt x="206" y="392"/>
                  </a:lnTo>
                  <a:lnTo>
                    <a:pt x="238" y="380"/>
                  </a:lnTo>
                  <a:lnTo>
                    <a:pt x="267" y="363"/>
                  </a:lnTo>
                  <a:lnTo>
                    <a:pt x="292" y="338"/>
                  </a:lnTo>
                  <a:lnTo>
                    <a:pt x="314" y="309"/>
                  </a:lnTo>
                  <a:lnTo>
                    <a:pt x="330" y="274"/>
                  </a:lnTo>
                  <a:lnTo>
                    <a:pt x="340" y="238"/>
                  </a:lnTo>
                  <a:lnTo>
                    <a:pt x="343" y="197"/>
                  </a:lnTo>
                  <a:lnTo>
                    <a:pt x="340" y="158"/>
                  </a:lnTo>
                  <a:lnTo>
                    <a:pt x="330" y="120"/>
                  </a:lnTo>
                  <a:lnTo>
                    <a:pt x="314" y="87"/>
                  </a:lnTo>
                  <a:lnTo>
                    <a:pt x="292" y="58"/>
                  </a:lnTo>
                  <a:lnTo>
                    <a:pt x="267" y="33"/>
                  </a:lnTo>
                  <a:lnTo>
                    <a:pt x="238" y="16"/>
                  </a:lnTo>
                  <a:lnTo>
                    <a:pt x="206" y="4"/>
                  </a:lnTo>
                  <a:lnTo>
                    <a:pt x="171" y="0"/>
                  </a:lnTo>
                  <a:lnTo>
                    <a:pt x="137" y="4"/>
                  </a:lnTo>
                  <a:lnTo>
                    <a:pt x="105" y="16"/>
                  </a:lnTo>
                  <a:lnTo>
                    <a:pt x="76" y="33"/>
                  </a:lnTo>
                  <a:lnTo>
                    <a:pt x="51" y="58"/>
                  </a:lnTo>
                  <a:lnTo>
                    <a:pt x="29" y="87"/>
                  </a:lnTo>
                  <a:lnTo>
                    <a:pt x="13" y="120"/>
                  </a:lnTo>
                  <a:lnTo>
                    <a:pt x="3" y="158"/>
                  </a:lnTo>
                  <a:lnTo>
                    <a:pt x="0" y="197"/>
                  </a:lnTo>
                  <a:close/>
                </a:path>
              </a:pathLst>
            </a:custGeom>
            <a:solidFill>
              <a:srgbClr val="D39E54"/>
            </a:solidFill>
            <a:ln w="12700">
              <a:solidFill>
                <a:srgbClr val="000000"/>
              </a:solidFill>
              <a:round/>
              <a:headEnd/>
              <a:tailEnd/>
            </a:ln>
          </p:spPr>
          <p:txBody>
            <a:bodyPr/>
            <a:lstStyle/>
            <a:p>
              <a:endParaRPr lang="en-US"/>
            </a:p>
          </p:txBody>
        </p:sp>
        <p:sp>
          <p:nvSpPr>
            <p:cNvPr id="11307" name="Freeform 79"/>
            <p:cNvSpPr>
              <a:spLocks/>
            </p:cNvSpPr>
            <p:nvPr/>
          </p:nvSpPr>
          <p:spPr bwMode="auto">
            <a:xfrm>
              <a:off x="3844" y="1100"/>
              <a:ext cx="73" cy="96"/>
            </a:xfrm>
            <a:custGeom>
              <a:avLst/>
              <a:gdLst>
                <a:gd name="T0" fmla="*/ 0 w 90"/>
                <a:gd name="T1" fmla="*/ 2 h 118"/>
                <a:gd name="T2" fmla="*/ 2 w 90"/>
                <a:gd name="T3" fmla="*/ 2 h 118"/>
                <a:gd name="T4" fmla="*/ 2 w 90"/>
                <a:gd name="T5" fmla="*/ 2 h 118"/>
                <a:gd name="T6" fmla="*/ 2 w 90"/>
                <a:gd name="T7" fmla="*/ 2 h 118"/>
                <a:gd name="T8" fmla="*/ 2 w 90"/>
                <a:gd name="T9" fmla="*/ 2 h 118"/>
                <a:gd name="T10" fmla="*/ 2 w 90"/>
                <a:gd name="T11" fmla="*/ 2 h 118"/>
                <a:gd name="T12" fmla="*/ 2 w 90"/>
                <a:gd name="T13" fmla="*/ 2 h 118"/>
                <a:gd name="T14" fmla="*/ 2 w 90"/>
                <a:gd name="T15" fmla="*/ 2 h 118"/>
                <a:gd name="T16" fmla="*/ 2 w 90"/>
                <a:gd name="T17" fmla="*/ 2 h 118"/>
                <a:gd name="T18" fmla="*/ 2 w 90"/>
                <a:gd name="T19" fmla="*/ 2 h 118"/>
                <a:gd name="T20" fmla="*/ 2 w 90"/>
                <a:gd name="T21" fmla="*/ 2 h 118"/>
                <a:gd name="T22" fmla="*/ 2 w 90"/>
                <a:gd name="T23" fmla="*/ 2 h 118"/>
                <a:gd name="T24" fmla="*/ 2 w 90"/>
                <a:gd name="T25" fmla="*/ 2 h 118"/>
                <a:gd name="T26" fmla="*/ 2 w 90"/>
                <a:gd name="T27" fmla="*/ 2 h 118"/>
                <a:gd name="T28" fmla="*/ 2 w 90"/>
                <a:gd name="T29" fmla="*/ 2 h 118"/>
                <a:gd name="T30" fmla="*/ 2 w 90"/>
                <a:gd name="T31" fmla="*/ 2 h 118"/>
                <a:gd name="T32" fmla="*/ 2 w 90"/>
                <a:gd name="T33" fmla="*/ 2 h 118"/>
                <a:gd name="T34" fmla="*/ 2 w 90"/>
                <a:gd name="T35" fmla="*/ 2 h 118"/>
                <a:gd name="T36" fmla="*/ 2 w 90"/>
                <a:gd name="T37" fmla="*/ 2 h 118"/>
                <a:gd name="T38" fmla="*/ 2 w 90"/>
                <a:gd name="T39" fmla="*/ 2 h 118"/>
                <a:gd name="T40" fmla="*/ 2 w 90"/>
                <a:gd name="T41" fmla="*/ 2 h 118"/>
                <a:gd name="T42" fmla="*/ 2 w 90"/>
                <a:gd name="T43" fmla="*/ 2 h 118"/>
                <a:gd name="T44" fmla="*/ 2 w 90"/>
                <a:gd name="T45" fmla="*/ 2 h 118"/>
                <a:gd name="T46" fmla="*/ 2 w 90"/>
                <a:gd name="T47" fmla="*/ 2 h 118"/>
                <a:gd name="T48" fmla="*/ 2 w 90"/>
                <a:gd name="T49" fmla="*/ 0 h 118"/>
                <a:gd name="T50" fmla="*/ 2 w 90"/>
                <a:gd name="T51" fmla="*/ 2 h 118"/>
                <a:gd name="T52" fmla="*/ 2 w 90"/>
                <a:gd name="T53" fmla="*/ 2 h 118"/>
                <a:gd name="T54" fmla="*/ 2 w 90"/>
                <a:gd name="T55" fmla="*/ 2 h 118"/>
                <a:gd name="T56" fmla="*/ 2 w 90"/>
                <a:gd name="T57" fmla="*/ 2 h 118"/>
                <a:gd name="T58" fmla="*/ 2 w 90"/>
                <a:gd name="T59" fmla="*/ 2 h 118"/>
                <a:gd name="T60" fmla="*/ 2 w 90"/>
                <a:gd name="T61" fmla="*/ 2 h 118"/>
                <a:gd name="T62" fmla="*/ 2 w 90"/>
                <a:gd name="T63" fmla="*/ 2 h 118"/>
                <a:gd name="T64" fmla="*/ 0 w 90"/>
                <a:gd name="T65" fmla="*/ 2 h 1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118"/>
                <a:gd name="T101" fmla="*/ 90 w 90"/>
                <a:gd name="T102" fmla="*/ 118 h 11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118">
                  <a:moveTo>
                    <a:pt x="0" y="60"/>
                  </a:moveTo>
                  <a:lnTo>
                    <a:pt x="2" y="71"/>
                  </a:lnTo>
                  <a:lnTo>
                    <a:pt x="3" y="83"/>
                  </a:lnTo>
                  <a:lnTo>
                    <a:pt x="8" y="92"/>
                  </a:lnTo>
                  <a:lnTo>
                    <a:pt x="13" y="101"/>
                  </a:lnTo>
                  <a:lnTo>
                    <a:pt x="21" y="108"/>
                  </a:lnTo>
                  <a:lnTo>
                    <a:pt x="28" y="114"/>
                  </a:lnTo>
                  <a:lnTo>
                    <a:pt x="37" y="117"/>
                  </a:lnTo>
                  <a:lnTo>
                    <a:pt x="45" y="118"/>
                  </a:lnTo>
                  <a:lnTo>
                    <a:pt x="54" y="117"/>
                  </a:lnTo>
                  <a:lnTo>
                    <a:pt x="63" y="114"/>
                  </a:lnTo>
                  <a:lnTo>
                    <a:pt x="70" y="108"/>
                  </a:lnTo>
                  <a:lnTo>
                    <a:pt x="77" y="101"/>
                  </a:lnTo>
                  <a:lnTo>
                    <a:pt x="83" y="92"/>
                  </a:lnTo>
                  <a:lnTo>
                    <a:pt x="87" y="83"/>
                  </a:lnTo>
                  <a:lnTo>
                    <a:pt x="89" y="71"/>
                  </a:lnTo>
                  <a:lnTo>
                    <a:pt x="90" y="60"/>
                  </a:lnTo>
                  <a:lnTo>
                    <a:pt x="89" y="48"/>
                  </a:lnTo>
                  <a:lnTo>
                    <a:pt x="87" y="37"/>
                  </a:lnTo>
                  <a:lnTo>
                    <a:pt x="83" y="26"/>
                  </a:lnTo>
                  <a:lnTo>
                    <a:pt x="77" y="18"/>
                  </a:lnTo>
                  <a:lnTo>
                    <a:pt x="70" y="10"/>
                  </a:lnTo>
                  <a:lnTo>
                    <a:pt x="63" y="5"/>
                  </a:lnTo>
                  <a:lnTo>
                    <a:pt x="54" y="2"/>
                  </a:lnTo>
                  <a:lnTo>
                    <a:pt x="45" y="0"/>
                  </a:lnTo>
                  <a:lnTo>
                    <a:pt x="37" y="2"/>
                  </a:lnTo>
                  <a:lnTo>
                    <a:pt x="28" y="5"/>
                  </a:lnTo>
                  <a:lnTo>
                    <a:pt x="21" y="10"/>
                  </a:lnTo>
                  <a:lnTo>
                    <a:pt x="13" y="18"/>
                  </a:lnTo>
                  <a:lnTo>
                    <a:pt x="8" y="26"/>
                  </a:lnTo>
                  <a:lnTo>
                    <a:pt x="3" y="37"/>
                  </a:lnTo>
                  <a:lnTo>
                    <a:pt x="2" y="48"/>
                  </a:lnTo>
                  <a:lnTo>
                    <a:pt x="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08" name="Freeform 80"/>
            <p:cNvSpPr>
              <a:spLocks/>
            </p:cNvSpPr>
            <p:nvPr/>
          </p:nvSpPr>
          <p:spPr bwMode="auto">
            <a:xfrm>
              <a:off x="3852" y="1108"/>
              <a:ext cx="57" cy="80"/>
            </a:xfrm>
            <a:custGeom>
              <a:avLst/>
              <a:gdLst>
                <a:gd name="T0" fmla="*/ 0 w 70"/>
                <a:gd name="T1" fmla="*/ 2 h 98"/>
                <a:gd name="T2" fmla="*/ 2 w 70"/>
                <a:gd name="T3" fmla="*/ 2 h 98"/>
                <a:gd name="T4" fmla="*/ 2 w 70"/>
                <a:gd name="T5" fmla="*/ 2 h 98"/>
                <a:gd name="T6" fmla="*/ 2 w 70"/>
                <a:gd name="T7" fmla="*/ 2 h 98"/>
                <a:gd name="T8" fmla="*/ 2 w 70"/>
                <a:gd name="T9" fmla="*/ 0 h 98"/>
                <a:gd name="T10" fmla="*/ 2 w 70"/>
                <a:gd name="T11" fmla="*/ 2 h 98"/>
                <a:gd name="T12" fmla="*/ 2 w 70"/>
                <a:gd name="T13" fmla="*/ 2 h 98"/>
                <a:gd name="T14" fmla="*/ 2 w 70"/>
                <a:gd name="T15" fmla="*/ 2 h 98"/>
                <a:gd name="T16" fmla="*/ 2 w 70"/>
                <a:gd name="T17" fmla="*/ 2 h 98"/>
                <a:gd name="T18" fmla="*/ 2 w 70"/>
                <a:gd name="T19" fmla="*/ 2 h 98"/>
                <a:gd name="T20" fmla="*/ 2 w 70"/>
                <a:gd name="T21" fmla="*/ 2 h 98"/>
                <a:gd name="T22" fmla="*/ 2 w 70"/>
                <a:gd name="T23" fmla="*/ 2 h 98"/>
                <a:gd name="T24" fmla="*/ 2 w 70"/>
                <a:gd name="T25" fmla="*/ 2 h 98"/>
                <a:gd name="T26" fmla="*/ 2 w 70"/>
                <a:gd name="T27" fmla="*/ 2 h 98"/>
                <a:gd name="T28" fmla="*/ 2 w 70"/>
                <a:gd name="T29" fmla="*/ 2 h 98"/>
                <a:gd name="T30" fmla="*/ 2 w 70"/>
                <a:gd name="T31" fmla="*/ 2 h 98"/>
                <a:gd name="T32" fmla="*/ 0 w 70"/>
                <a:gd name="T33" fmla="*/ 2 h 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0"/>
                <a:gd name="T52" fmla="*/ 0 h 98"/>
                <a:gd name="T53" fmla="*/ 70 w 70"/>
                <a:gd name="T54" fmla="*/ 98 h 9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0" h="98">
                  <a:moveTo>
                    <a:pt x="0" y="50"/>
                  </a:moveTo>
                  <a:lnTo>
                    <a:pt x="3" y="31"/>
                  </a:lnTo>
                  <a:lnTo>
                    <a:pt x="11" y="15"/>
                  </a:lnTo>
                  <a:lnTo>
                    <a:pt x="21" y="5"/>
                  </a:lnTo>
                  <a:lnTo>
                    <a:pt x="35" y="0"/>
                  </a:lnTo>
                  <a:lnTo>
                    <a:pt x="48" y="5"/>
                  </a:lnTo>
                  <a:lnTo>
                    <a:pt x="60" y="15"/>
                  </a:lnTo>
                  <a:lnTo>
                    <a:pt x="67" y="31"/>
                  </a:lnTo>
                  <a:lnTo>
                    <a:pt x="70" y="50"/>
                  </a:lnTo>
                  <a:lnTo>
                    <a:pt x="67" y="69"/>
                  </a:lnTo>
                  <a:lnTo>
                    <a:pt x="60" y="83"/>
                  </a:lnTo>
                  <a:lnTo>
                    <a:pt x="48" y="93"/>
                  </a:lnTo>
                  <a:lnTo>
                    <a:pt x="35" y="98"/>
                  </a:lnTo>
                  <a:lnTo>
                    <a:pt x="21" y="93"/>
                  </a:lnTo>
                  <a:lnTo>
                    <a:pt x="11" y="83"/>
                  </a:lnTo>
                  <a:lnTo>
                    <a:pt x="3" y="69"/>
                  </a:lnTo>
                  <a:lnTo>
                    <a:pt x="0" y="5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09" name="Freeform 81"/>
            <p:cNvSpPr>
              <a:spLocks/>
            </p:cNvSpPr>
            <p:nvPr/>
          </p:nvSpPr>
          <p:spPr bwMode="auto">
            <a:xfrm>
              <a:off x="3903" y="1044"/>
              <a:ext cx="63" cy="150"/>
            </a:xfrm>
            <a:custGeom>
              <a:avLst/>
              <a:gdLst>
                <a:gd name="T0" fmla="*/ 42 w 63"/>
                <a:gd name="T1" fmla="*/ 150 h 150"/>
                <a:gd name="T2" fmla="*/ 60 w 63"/>
                <a:gd name="T3" fmla="*/ 108 h 150"/>
                <a:gd name="T4" fmla="*/ 63 w 63"/>
                <a:gd name="T5" fmla="*/ 66 h 150"/>
                <a:gd name="T6" fmla="*/ 51 w 63"/>
                <a:gd name="T7" fmla="*/ 36 h 150"/>
                <a:gd name="T8" fmla="*/ 36 w 63"/>
                <a:gd name="T9" fmla="*/ 18 h 150"/>
                <a:gd name="T10" fmla="*/ 18 w 63"/>
                <a:gd name="T11" fmla="*/ 6 h 150"/>
                <a:gd name="T12" fmla="*/ 0 w 63"/>
                <a:gd name="T13" fmla="*/ 0 h 150"/>
                <a:gd name="T14" fmla="*/ 0 60000 65536"/>
                <a:gd name="T15" fmla="*/ 0 60000 65536"/>
                <a:gd name="T16" fmla="*/ 0 60000 65536"/>
                <a:gd name="T17" fmla="*/ 0 60000 65536"/>
                <a:gd name="T18" fmla="*/ 0 60000 65536"/>
                <a:gd name="T19" fmla="*/ 0 60000 65536"/>
                <a:gd name="T20" fmla="*/ 0 60000 65536"/>
                <a:gd name="T21" fmla="*/ 0 w 63"/>
                <a:gd name="T22" fmla="*/ 0 h 150"/>
                <a:gd name="T23" fmla="*/ 63 w 63"/>
                <a:gd name="T24" fmla="*/ 150 h 15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3" h="150">
                  <a:moveTo>
                    <a:pt x="42" y="150"/>
                  </a:moveTo>
                  <a:lnTo>
                    <a:pt x="60" y="108"/>
                  </a:lnTo>
                  <a:lnTo>
                    <a:pt x="63" y="66"/>
                  </a:lnTo>
                  <a:lnTo>
                    <a:pt x="51" y="36"/>
                  </a:lnTo>
                  <a:lnTo>
                    <a:pt x="36" y="18"/>
                  </a:lnTo>
                  <a:lnTo>
                    <a:pt x="18" y="6"/>
                  </a:lnTo>
                  <a:lnTo>
                    <a:pt x="0" y="0"/>
                  </a:ln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1270" name="Text Box 60"/>
          <p:cNvSpPr txBox="1">
            <a:spLocks noChangeArrowheads="1"/>
          </p:cNvSpPr>
          <p:nvPr/>
        </p:nvSpPr>
        <p:spPr bwMode="auto">
          <a:xfrm>
            <a:off x="174625" y="2179638"/>
            <a:ext cx="2392363"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dirty="0">
                <a:solidFill>
                  <a:schemeClr val="accent1"/>
                </a:solidFill>
              </a:rPr>
              <a:t>Jon Wu</a:t>
            </a:r>
            <a:br>
              <a:rPr lang="en-US" sz="1600" dirty="0">
                <a:solidFill>
                  <a:schemeClr val="accent1"/>
                </a:solidFill>
              </a:rPr>
            </a:br>
            <a:r>
              <a:rPr lang="en-US" sz="1600" dirty="0">
                <a:solidFill>
                  <a:schemeClr val="accent1"/>
                </a:solidFill>
              </a:rPr>
              <a:t>(auto policy holder,</a:t>
            </a:r>
            <a:br>
              <a:rPr lang="en-US" sz="1600" dirty="0">
                <a:solidFill>
                  <a:schemeClr val="accent1"/>
                </a:solidFill>
              </a:rPr>
            </a:br>
            <a:r>
              <a:rPr lang="en-US" sz="1600" dirty="0">
                <a:solidFill>
                  <a:schemeClr val="accent1"/>
                </a:solidFill>
              </a:rPr>
              <a:t>involved in accident) </a:t>
            </a:r>
          </a:p>
        </p:txBody>
      </p:sp>
      <p:sp>
        <p:nvSpPr>
          <p:cNvPr id="11271" name="Text Box 60"/>
          <p:cNvSpPr txBox="1">
            <a:spLocks noChangeArrowheads="1"/>
          </p:cNvSpPr>
          <p:nvPr/>
        </p:nvSpPr>
        <p:spPr bwMode="auto">
          <a:xfrm>
            <a:off x="2992438" y="2273300"/>
            <a:ext cx="2586037"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accent1"/>
                </a:solidFill>
              </a:rPr>
              <a:t>Adam Pohl</a:t>
            </a:r>
            <a:br>
              <a:rPr lang="en-US" sz="1600">
                <a:solidFill>
                  <a:schemeClr val="accent1"/>
                </a:solidFill>
              </a:rPr>
            </a:br>
            <a:r>
              <a:rPr lang="en-US" sz="1600">
                <a:solidFill>
                  <a:schemeClr val="accent1"/>
                </a:solidFill>
              </a:rPr>
              <a:t>(driver of other car) </a:t>
            </a:r>
          </a:p>
        </p:txBody>
      </p:sp>
      <p:sp>
        <p:nvSpPr>
          <p:cNvPr id="11272" name="Text Box 60"/>
          <p:cNvSpPr txBox="1">
            <a:spLocks noChangeArrowheads="1"/>
          </p:cNvSpPr>
          <p:nvPr/>
        </p:nvSpPr>
        <p:spPr bwMode="auto">
          <a:xfrm>
            <a:off x="6076950" y="2179638"/>
            <a:ext cx="1974850"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accent1"/>
                </a:solidFill>
              </a:rPr>
              <a:t>Kay Ashton</a:t>
            </a:r>
            <a:br>
              <a:rPr lang="en-US" sz="1600">
                <a:solidFill>
                  <a:schemeClr val="accent1"/>
                </a:solidFill>
              </a:rPr>
            </a:br>
            <a:r>
              <a:rPr lang="en-US" sz="1600">
                <a:solidFill>
                  <a:schemeClr val="accent1"/>
                </a:solidFill>
              </a:rPr>
              <a:t>(doctor who treated Jon Wu) </a:t>
            </a:r>
          </a:p>
        </p:txBody>
      </p:sp>
      <p:grpSp>
        <p:nvGrpSpPr>
          <p:cNvPr id="11273" name="Group 25"/>
          <p:cNvGrpSpPr>
            <a:grpSpLocks/>
          </p:cNvGrpSpPr>
          <p:nvPr/>
        </p:nvGrpSpPr>
        <p:grpSpPr bwMode="auto">
          <a:xfrm>
            <a:off x="1881188" y="1738313"/>
            <a:ext cx="1352550" cy="358775"/>
            <a:chOff x="2500093" y="810978"/>
            <a:chExt cx="1351593" cy="358692"/>
          </a:xfrm>
        </p:grpSpPr>
        <p:sp>
          <p:nvSpPr>
            <p:cNvPr id="11302" name="Freeform 24"/>
            <p:cNvSpPr>
              <a:spLocks noChangeArrowheads="1"/>
            </p:cNvSpPr>
            <p:nvPr/>
          </p:nvSpPr>
          <p:spPr bwMode="auto">
            <a:xfrm>
              <a:off x="2514599" y="822960"/>
              <a:ext cx="1227941" cy="346710"/>
            </a:xfrm>
            <a:custGeom>
              <a:avLst/>
              <a:gdLst>
                <a:gd name="T0" fmla="*/ 9993 w 1478280"/>
                <a:gd name="T1" fmla="*/ 3810 h 346710"/>
                <a:gd name="T2" fmla="*/ 52399 w 1478280"/>
                <a:gd name="T3" fmla="*/ 0 h 346710"/>
                <a:gd name="T4" fmla="*/ 52399 w 1478280"/>
                <a:gd name="T5" fmla="*/ 346710 h 346710"/>
                <a:gd name="T6" fmla="*/ 9993 w 1478280"/>
                <a:gd name="T7" fmla="*/ 342900 h 346710"/>
                <a:gd name="T8" fmla="*/ 0 w 1478280"/>
                <a:gd name="T9" fmla="*/ 179070 h 346710"/>
                <a:gd name="T10" fmla="*/ 9993 w 1478280"/>
                <a:gd name="T11" fmla="*/ 3810 h 346710"/>
                <a:gd name="T12" fmla="*/ 0 60000 65536"/>
                <a:gd name="T13" fmla="*/ 0 60000 65536"/>
                <a:gd name="T14" fmla="*/ 0 60000 65536"/>
                <a:gd name="T15" fmla="*/ 0 60000 65536"/>
                <a:gd name="T16" fmla="*/ 0 60000 65536"/>
                <a:gd name="T17" fmla="*/ 0 60000 65536"/>
                <a:gd name="T18" fmla="*/ 0 w 1478280"/>
                <a:gd name="T19" fmla="*/ 0 h 346710"/>
                <a:gd name="T20" fmla="*/ 1478280 w 1478280"/>
                <a:gd name="T21" fmla="*/ 346710 h 346710"/>
              </a:gdLst>
              <a:ahLst/>
              <a:cxnLst>
                <a:cxn ang="T12">
                  <a:pos x="T0" y="T1"/>
                </a:cxn>
                <a:cxn ang="T13">
                  <a:pos x="T2" y="T3"/>
                </a:cxn>
                <a:cxn ang="T14">
                  <a:pos x="T4" y="T5"/>
                </a:cxn>
                <a:cxn ang="T15">
                  <a:pos x="T6" y="T7"/>
                </a:cxn>
                <a:cxn ang="T16">
                  <a:pos x="T8" y="T9"/>
                </a:cxn>
                <a:cxn ang="T17">
                  <a:pos x="T10" y="T11"/>
                </a:cxn>
              </a:cxnLst>
              <a:rect l="T18" t="T19" r="T20" b="T21"/>
              <a:pathLst>
                <a:path w="1478280" h="346710">
                  <a:moveTo>
                    <a:pt x="281940" y="3810"/>
                  </a:moveTo>
                  <a:lnTo>
                    <a:pt x="1478280" y="0"/>
                  </a:lnTo>
                  <a:lnTo>
                    <a:pt x="1478280" y="346710"/>
                  </a:lnTo>
                  <a:lnTo>
                    <a:pt x="281940" y="342900"/>
                  </a:lnTo>
                  <a:lnTo>
                    <a:pt x="0" y="179070"/>
                  </a:lnTo>
                  <a:lnTo>
                    <a:pt x="281940" y="3810"/>
                  </a:lnTo>
                  <a:close/>
                </a:path>
              </a:pathLst>
            </a:custGeom>
            <a:solidFill>
              <a:srgbClr val="FFCC99"/>
            </a:solidFill>
            <a:ln w="12700">
              <a:solidFill>
                <a:schemeClr val="bg1"/>
              </a:solidFill>
              <a:round/>
              <a:headEnd/>
              <a:tailEnd type="triangle" w="med" len="med"/>
            </a:ln>
          </p:spPr>
          <p:txBody>
            <a:bodyPr lIns="0" tIns="0" rIns="0" bIns="0" anchor="ctr"/>
            <a:lstStyle/>
            <a:p>
              <a:endParaRPr lang="en-US"/>
            </a:p>
          </p:txBody>
        </p:sp>
        <p:sp>
          <p:nvSpPr>
            <p:cNvPr id="11303" name="TextBox 22"/>
            <p:cNvSpPr txBox="1">
              <a:spLocks noChangeArrowheads="1"/>
            </p:cNvSpPr>
            <p:nvPr/>
          </p:nvSpPr>
          <p:spPr bwMode="auto">
            <a:xfrm>
              <a:off x="2500093" y="810978"/>
              <a:ext cx="135159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claim party</a:t>
              </a:r>
            </a:p>
          </p:txBody>
        </p:sp>
      </p:grpSp>
      <p:grpSp>
        <p:nvGrpSpPr>
          <p:cNvPr id="11274" name="Group 26"/>
          <p:cNvGrpSpPr>
            <a:grpSpLocks/>
          </p:cNvGrpSpPr>
          <p:nvPr/>
        </p:nvGrpSpPr>
        <p:grpSpPr bwMode="auto">
          <a:xfrm>
            <a:off x="7616825" y="1743075"/>
            <a:ext cx="1352550" cy="358775"/>
            <a:chOff x="2500093" y="810978"/>
            <a:chExt cx="1351593" cy="358692"/>
          </a:xfrm>
        </p:grpSpPr>
        <p:sp>
          <p:nvSpPr>
            <p:cNvPr id="11300" name="Freeform 27"/>
            <p:cNvSpPr>
              <a:spLocks noChangeArrowheads="1"/>
            </p:cNvSpPr>
            <p:nvPr/>
          </p:nvSpPr>
          <p:spPr bwMode="auto">
            <a:xfrm>
              <a:off x="2514599" y="822960"/>
              <a:ext cx="1227941" cy="346710"/>
            </a:xfrm>
            <a:custGeom>
              <a:avLst/>
              <a:gdLst>
                <a:gd name="T0" fmla="*/ 9993 w 1478280"/>
                <a:gd name="T1" fmla="*/ 3810 h 346710"/>
                <a:gd name="T2" fmla="*/ 52399 w 1478280"/>
                <a:gd name="T3" fmla="*/ 0 h 346710"/>
                <a:gd name="T4" fmla="*/ 52399 w 1478280"/>
                <a:gd name="T5" fmla="*/ 346710 h 346710"/>
                <a:gd name="T6" fmla="*/ 9993 w 1478280"/>
                <a:gd name="T7" fmla="*/ 342900 h 346710"/>
                <a:gd name="T8" fmla="*/ 0 w 1478280"/>
                <a:gd name="T9" fmla="*/ 179070 h 346710"/>
                <a:gd name="T10" fmla="*/ 9993 w 1478280"/>
                <a:gd name="T11" fmla="*/ 3810 h 346710"/>
                <a:gd name="T12" fmla="*/ 0 60000 65536"/>
                <a:gd name="T13" fmla="*/ 0 60000 65536"/>
                <a:gd name="T14" fmla="*/ 0 60000 65536"/>
                <a:gd name="T15" fmla="*/ 0 60000 65536"/>
                <a:gd name="T16" fmla="*/ 0 60000 65536"/>
                <a:gd name="T17" fmla="*/ 0 60000 65536"/>
                <a:gd name="T18" fmla="*/ 0 w 1478280"/>
                <a:gd name="T19" fmla="*/ 0 h 346710"/>
                <a:gd name="T20" fmla="*/ 1478280 w 1478280"/>
                <a:gd name="T21" fmla="*/ 346710 h 346710"/>
              </a:gdLst>
              <a:ahLst/>
              <a:cxnLst>
                <a:cxn ang="T12">
                  <a:pos x="T0" y="T1"/>
                </a:cxn>
                <a:cxn ang="T13">
                  <a:pos x="T2" y="T3"/>
                </a:cxn>
                <a:cxn ang="T14">
                  <a:pos x="T4" y="T5"/>
                </a:cxn>
                <a:cxn ang="T15">
                  <a:pos x="T6" y="T7"/>
                </a:cxn>
                <a:cxn ang="T16">
                  <a:pos x="T8" y="T9"/>
                </a:cxn>
                <a:cxn ang="T17">
                  <a:pos x="T10" y="T11"/>
                </a:cxn>
              </a:cxnLst>
              <a:rect l="T18" t="T19" r="T20" b="T21"/>
              <a:pathLst>
                <a:path w="1478280" h="346710">
                  <a:moveTo>
                    <a:pt x="281940" y="3810"/>
                  </a:moveTo>
                  <a:lnTo>
                    <a:pt x="1478280" y="0"/>
                  </a:lnTo>
                  <a:lnTo>
                    <a:pt x="1478280" y="346710"/>
                  </a:lnTo>
                  <a:lnTo>
                    <a:pt x="281940" y="342900"/>
                  </a:lnTo>
                  <a:lnTo>
                    <a:pt x="0" y="179070"/>
                  </a:lnTo>
                  <a:lnTo>
                    <a:pt x="281940" y="3810"/>
                  </a:lnTo>
                  <a:close/>
                </a:path>
              </a:pathLst>
            </a:custGeom>
            <a:solidFill>
              <a:srgbClr val="FFCC99"/>
            </a:solidFill>
            <a:ln w="12700">
              <a:solidFill>
                <a:schemeClr val="bg1"/>
              </a:solidFill>
              <a:round/>
              <a:headEnd/>
              <a:tailEnd type="triangle" w="med" len="med"/>
            </a:ln>
          </p:spPr>
          <p:txBody>
            <a:bodyPr lIns="0" tIns="0" rIns="0" bIns="0" anchor="ctr"/>
            <a:lstStyle/>
            <a:p>
              <a:endParaRPr lang="en-US"/>
            </a:p>
          </p:txBody>
        </p:sp>
        <p:sp>
          <p:nvSpPr>
            <p:cNvPr id="11301" name="TextBox 28"/>
            <p:cNvSpPr txBox="1">
              <a:spLocks noChangeArrowheads="1"/>
            </p:cNvSpPr>
            <p:nvPr/>
          </p:nvSpPr>
          <p:spPr bwMode="auto">
            <a:xfrm>
              <a:off x="2500093" y="810978"/>
              <a:ext cx="135159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claim party</a:t>
              </a:r>
            </a:p>
          </p:txBody>
        </p:sp>
      </p:grpSp>
      <p:grpSp>
        <p:nvGrpSpPr>
          <p:cNvPr id="11275" name="Group 29"/>
          <p:cNvGrpSpPr>
            <a:grpSpLocks/>
          </p:cNvGrpSpPr>
          <p:nvPr/>
        </p:nvGrpSpPr>
        <p:grpSpPr bwMode="auto">
          <a:xfrm>
            <a:off x="4803775" y="1541463"/>
            <a:ext cx="1352550" cy="358775"/>
            <a:chOff x="2500093" y="810978"/>
            <a:chExt cx="1351593" cy="358692"/>
          </a:xfrm>
        </p:grpSpPr>
        <p:sp>
          <p:nvSpPr>
            <p:cNvPr id="11298" name="Freeform 30"/>
            <p:cNvSpPr>
              <a:spLocks noChangeArrowheads="1"/>
            </p:cNvSpPr>
            <p:nvPr/>
          </p:nvSpPr>
          <p:spPr bwMode="auto">
            <a:xfrm>
              <a:off x="2514599" y="822960"/>
              <a:ext cx="1227941" cy="346710"/>
            </a:xfrm>
            <a:custGeom>
              <a:avLst/>
              <a:gdLst>
                <a:gd name="T0" fmla="*/ 9993 w 1478280"/>
                <a:gd name="T1" fmla="*/ 3810 h 346710"/>
                <a:gd name="T2" fmla="*/ 52399 w 1478280"/>
                <a:gd name="T3" fmla="*/ 0 h 346710"/>
                <a:gd name="T4" fmla="*/ 52399 w 1478280"/>
                <a:gd name="T5" fmla="*/ 346710 h 346710"/>
                <a:gd name="T6" fmla="*/ 9993 w 1478280"/>
                <a:gd name="T7" fmla="*/ 342900 h 346710"/>
                <a:gd name="T8" fmla="*/ 0 w 1478280"/>
                <a:gd name="T9" fmla="*/ 179070 h 346710"/>
                <a:gd name="T10" fmla="*/ 9993 w 1478280"/>
                <a:gd name="T11" fmla="*/ 3810 h 346710"/>
                <a:gd name="T12" fmla="*/ 0 60000 65536"/>
                <a:gd name="T13" fmla="*/ 0 60000 65536"/>
                <a:gd name="T14" fmla="*/ 0 60000 65536"/>
                <a:gd name="T15" fmla="*/ 0 60000 65536"/>
                <a:gd name="T16" fmla="*/ 0 60000 65536"/>
                <a:gd name="T17" fmla="*/ 0 60000 65536"/>
                <a:gd name="T18" fmla="*/ 0 w 1478280"/>
                <a:gd name="T19" fmla="*/ 0 h 346710"/>
                <a:gd name="T20" fmla="*/ 1478280 w 1478280"/>
                <a:gd name="T21" fmla="*/ 346710 h 346710"/>
              </a:gdLst>
              <a:ahLst/>
              <a:cxnLst>
                <a:cxn ang="T12">
                  <a:pos x="T0" y="T1"/>
                </a:cxn>
                <a:cxn ang="T13">
                  <a:pos x="T2" y="T3"/>
                </a:cxn>
                <a:cxn ang="T14">
                  <a:pos x="T4" y="T5"/>
                </a:cxn>
                <a:cxn ang="T15">
                  <a:pos x="T6" y="T7"/>
                </a:cxn>
                <a:cxn ang="T16">
                  <a:pos x="T8" y="T9"/>
                </a:cxn>
                <a:cxn ang="T17">
                  <a:pos x="T10" y="T11"/>
                </a:cxn>
              </a:cxnLst>
              <a:rect l="T18" t="T19" r="T20" b="T21"/>
              <a:pathLst>
                <a:path w="1478280" h="346710">
                  <a:moveTo>
                    <a:pt x="281940" y="3810"/>
                  </a:moveTo>
                  <a:lnTo>
                    <a:pt x="1478280" y="0"/>
                  </a:lnTo>
                  <a:lnTo>
                    <a:pt x="1478280" y="346710"/>
                  </a:lnTo>
                  <a:lnTo>
                    <a:pt x="281940" y="342900"/>
                  </a:lnTo>
                  <a:lnTo>
                    <a:pt x="0" y="179070"/>
                  </a:lnTo>
                  <a:lnTo>
                    <a:pt x="281940" y="3810"/>
                  </a:lnTo>
                  <a:close/>
                </a:path>
              </a:pathLst>
            </a:custGeom>
            <a:solidFill>
              <a:srgbClr val="FFCC99"/>
            </a:solidFill>
            <a:ln w="12700">
              <a:solidFill>
                <a:schemeClr val="bg1"/>
              </a:solidFill>
              <a:round/>
              <a:headEnd/>
              <a:tailEnd type="triangle" w="med" len="med"/>
            </a:ln>
          </p:spPr>
          <p:txBody>
            <a:bodyPr lIns="0" tIns="0" rIns="0" bIns="0" anchor="ctr"/>
            <a:lstStyle/>
            <a:p>
              <a:endParaRPr lang="en-US"/>
            </a:p>
          </p:txBody>
        </p:sp>
        <p:sp>
          <p:nvSpPr>
            <p:cNvPr id="11299" name="TextBox 31"/>
            <p:cNvSpPr txBox="1">
              <a:spLocks noChangeArrowheads="1"/>
            </p:cNvSpPr>
            <p:nvPr/>
          </p:nvSpPr>
          <p:spPr bwMode="auto">
            <a:xfrm>
              <a:off x="2500093" y="810978"/>
              <a:ext cx="135159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claim party</a:t>
              </a:r>
            </a:p>
          </p:txBody>
        </p:sp>
      </p:grpSp>
      <p:grpSp>
        <p:nvGrpSpPr>
          <p:cNvPr id="11276" name="Group 47"/>
          <p:cNvGrpSpPr>
            <a:grpSpLocks/>
          </p:cNvGrpSpPr>
          <p:nvPr/>
        </p:nvGrpSpPr>
        <p:grpSpPr bwMode="auto">
          <a:xfrm>
            <a:off x="3752850" y="1252538"/>
            <a:ext cx="1101725" cy="1006475"/>
            <a:chOff x="4826" y="1017"/>
            <a:chExt cx="728" cy="665"/>
          </a:xfrm>
        </p:grpSpPr>
        <p:sp>
          <p:nvSpPr>
            <p:cNvPr id="11293" name="AutoShape 48"/>
            <p:cNvSpPr>
              <a:spLocks noChangeArrowheads="1"/>
            </p:cNvSpPr>
            <p:nvPr/>
          </p:nvSpPr>
          <p:spPr bwMode="auto">
            <a:xfrm>
              <a:off x="4826" y="1017"/>
              <a:ext cx="620" cy="62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11294" name="Oval 49"/>
            <p:cNvSpPr>
              <a:spLocks noChangeArrowheads="1"/>
            </p:cNvSpPr>
            <p:nvPr/>
          </p:nvSpPr>
          <p:spPr bwMode="auto">
            <a:xfrm>
              <a:off x="5225" y="1353"/>
              <a:ext cx="329" cy="329"/>
            </a:xfrm>
            <a:prstGeom prst="ellipse">
              <a:avLst/>
            </a:prstGeom>
            <a:solidFill>
              <a:srgbClr val="D39E54"/>
            </a:solidFill>
            <a:ln w="12700" algn="ctr">
              <a:solidFill>
                <a:srgbClr val="000000"/>
              </a:solidFill>
              <a:round/>
              <a:headEnd/>
              <a:tailEnd/>
            </a:ln>
          </p:spPr>
          <p:txBody>
            <a:bodyPr/>
            <a:lstStyle/>
            <a:p>
              <a:endParaRPr lang="en-US"/>
            </a:p>
          </p:txBody>
        </p:sp>
        <p:sp>
          <p:nvSpPr>
            <p:cNvPr id="11295" name="Freeform 50"/>
            <p:cNvSpPr>
              <a:spLocks/>
            </p:cNvSpPr>
            <p:nvPr/>
          </p:nvSpPr>
          <p:spPr bwMode="auto">
            <a:xfrm>
              <a:off x="5418" y="1394"/>
              <a:ext cx="99" cy="166"/>
            </a:xfrm>
            <a:custGeom>
              <a:avLst/>
              <a:gdLst>
                <a:gd name="T0" fmla="*/ 0 w 99"/>
                <a:gd name="T1" fmla="*/ 81 h 166"/>
                <a:gd name="T2" fmla="*/ 0 w 99"/>
                <a:gd name="T3" fmla="*/ 0 h 166"/>
                <a:gd name="T4" fmla="*/ 27 w 99"/>
                <a:gd name="T5" fmla="*/ 7 h 166"/>
                <a:gd name="T6" fmla="*/ 59 w 99"/>
                <a:gd name="T7" fmla="*/ 30 h 166"/>
                <a:gd name="T8" fmla="*/ 83 w 99"/>
                <a:gd name="T9" fmla="*/ 61 h 166"/>
                <a:gd name="T10" fmla="*/ 99 w 99"/>
                <a:gd name="T11" fmla="*/ 99 h 166"/>
                <a:gd name="T12" fmla="*/ 99 w 99"/>
                <a:gd name="T13" fmla="*/ 138 h 166"/>
                <a:gd name="T14" fmla="*/ 93 w 99"/>
                <a:gd name="T15" fmla="*/ 166 h 166"/>
                <a:gd name="T16" fmla="*/ 36 w 99"/>
                <a:gd name="T17" fmla="*/ 138 h 166"/>
                <a:gd name="T18" fmla="*/ 36 w 99"/>
                <a:gd name="T19" fmla="*/ 123 h 166"/>
                <a:gd name="T20" fmla="*/ 27 w 99"/>
                <a:gd name="T21" fmla="*/ 102 h 166"/>
                <a:gd name="T22" fmla="*/ 17 w 99"/>
                <a:gd name="T23" fmla="*/ 90 h 166"/>
                <a:gd name="T24" fmla="*/ 0 w 99"/>
                <a:gd name="T25" fmla="*/ 81 h 16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9"/>
                <a:gd name="T40" fmla="*/ 0 h 166"/>
                <a:gd name="T41" fmla="*/ 99 w 99"/>
                <a:gd name="T42" fmla="*/ 166 h 16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9" h="166">
                  <a:moveTo>
                    <a:pt x="0" y="81"/>
                  </a:moveTo>
                  <a:lnTo>
                    <a:pt x="0" y="0"/>
                  </a:lnTo>
                  <a:lnTo>
                    <a:pt x="27" y="7"/>
                  </a:lnTo>
                  <a:lnTo>
                    <a:pt x="59" y="30"/>
                  </a:lnTo>
                  <a:lnTo>
                    <a:pt x="83" y="61"/>
                  </a:lnTo>
                  <a:lnTo>
                    <a:pt x="99" y="99"/>
                  </a:lnTo>
                  <a:lnTo>
                    <a:pt x="99" y="138"/>
                  </a:lnTo>
                  <a:lnTo>
                    <a:pt x="93" y="166"/>
                  </a:lnTo>
                  <a:lnTo>
                    <a:pt x="36" y="138"/>
                  </a:lnTo>
                  <a:lnTo>
                    <a:pt x="36" y="123"/>
                  </a:lnTo>
                  <a:lnTo>
                    <a:pt x="27" y="102"/>
                  </a:lnTo>
                  <a:lnTo>
                    <a:pt x="17" y="90"/>
                  </a:lnTo>
                  <a:lnTo>
                    <a:pt x="0" y="81"/>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1296" name="Freeform 51"/>
            <p:cNvSpPr>
              <a:spLocks/>
            </p:cNvSpPr>
            <p:nvPr/>
          </p:nvSpPr>
          <p:spPr bwMode="auto">
            <a:xfrm flipH="1">
              <a:off x="5262" y="1390"/>
              <a:ext cx="99" cy="166"/>
            </a:xfrm>
            <a:custGeom>
              <a:avLst/>
              <a:gdLst>
                <a:gd name="T0" fmla="*/ 0 w 99"/>
                <a:gd name="T1" fmla="*/ 81 h 166"/>
                <a:gd name="T2" fmla="*/ 0 w 99"/>
                <a:gd name="T3" fmla="*/ 0 h 166"/>
                <a:gd name="T4" fmla="*/ 27 w 99"/>
                <a:gd name="T5" fmla="*/ 7 h 166"/>
                <a:gd name="T6" fmla="*/ 59 w 99"/>
                <a:gd name="T7" fmla="*/ 30 h 166"/>
                <a:gd name="T8" fmla="*/ 83 w 99"/>
                <a:gd name="T9" fmla="*/ 61 h 166"/>
                <a:gd name="T10" fmla="*/ 99 w 99"/>
                <a:gd name="T11" fmla="*/ 99 h 166"/>
                <a:gd name="T12" fmla="*/ 99 w 99"/>
                <a:gd name="T13" fmla="*/ 138 h 166"/>
                <a:gd name="T14" fmla="*/ 93 w 99"/>
                <a:gd name="T15" fmla="*/ 166 h 166"/>
                <a:gd name="T16" fmla="*/ 36 w 99"/>
                <a:gd name="T17" fmla="*/ 138 h 166"/>
                <a:gd name="T18" fmla="*/ 36 w 99"/>
                <a:gd name="T19" fmla="*/ 123 h 166"/>
                <a:gd name="T20" fmla="*/ 27 w 99"/>
                <a:gd name="T21" fmla="*/ 102 h 166"/>
                <a:gd name="T22" fmla="*/ 17 w 99"/>
                <a:gd name="T23" fmla="*/ 90 h 166"/>
                <a:gd name="T24" fmla="*/ 0 w 99"/>
                <a:gd name="T25" fmla="*/ 81 h 16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9"/>
                <a:gd name="T40" fmla="*/ 0 h 166"/>
                <a:gd name="T41" fmla="*/ 99 w 99"/>
                <a:gd name="T42" fmla="*/ 166 h 16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9" h="166">
                  <a:moveTo>
                    <a:pt x="0" y="81"/>
                  </a:moveTo>
                  <a:lnTo>
                    <a:pt x="0" y="0"/>
                  </a:lnTo>
                  <a:lnTo>
                    <a:pt x="27" y="7"/>
                  </a:lnTo>
                  <a:lnTo>
                    <a:pt x="59" y="30"/>
                  </a:lnTo>
                  <a:lnTo>
                    <a:pt x="83" y="61"/>
                  </a:lnTo>
                  <a:lnTo>
                    <a:pt x="99" y="99"/>
                  </a:lnTo>
                  <a:lnTo>
                    <a:pt x="99" y="138"/>
                  </a:lnTo>
                  <a:lnTo>
                    <a:pt x="93" y="166"/>
                  </a:lnTo>
                  <a:lnTo>
                    <a:pt x="36" y="138"/>
                  </a:lnTo>
                  <a:lnTo>
                    <a:pt x="36" y="123"/>
                  </a:lnTo>
                  <a:lnTo>
                    <a:pt x="27" y="102"/>
                  </a:lnTo>
                  <a:lnTo>
                    <a:pt x="17" y="90"/>
                  </a:lnTo>
                  <a:lnTo>
                    <a:pt x="0" y="81"/>
                  </a:lnTo>
                  <a:close/>
                </a:path>
              </a:pathLst>
            </a:custGeom>
            <a:solidFill>
              <a:srgbClr val="FFCC99"/>
            </a:solidFill>
            <a:ln w="12700">
              <a:solidFill>
                <a:schemeClr val="bg1"/>
              </a:solidFill>
              <a:round/>
              <a:headEnd/>
              <a:tailEnd/>
            </a:ln>
          </p:spPr>
          <p:txBody>
            <a:bodyPr wrap="none" lIns="0" tIns="0" rIns="0" bIns="0" anchor="ctr">
              <a:spAutoFit/>
            </a:bodyPr>
            <a:lstStyle/>
            <a:p>
              <a:endParaRPr lang="en-US"/>
            </a:p>
          </p:txBody>
        </p:sp>
        <p:sp>
          <p:nvSpPr>
            <p:cNvPr id="11297" name="Freeform 52"/>
            <p:cNvSpPr>
              <a:spLocks/>
            </p:cNvSpPr>
            <p:nvPr/>
          </p:nvSpPr>
          <p:spPr bwMode="auto">
            <a:xfrm>
              <a:off x="5298" y="1570"/>
              <a:ext cx="177" cy="72"/>
            </a:xfrm>
            <a:custGeom>
              <a:avLst/>
              <a:gdLst>
                <a:gd name="T0" fmla="*/ 128 w 177"/>
                <a:gd name="T1" fmla="*/ 5 h 68"/>
                <a:gd name="T2" fmla="*/ 177 w 177"/>
                <a:gd name="T3" fmla="*/ 104 h 68"/>
                <a:gd name="T4" fmla="*/ 159 w 177"/>
                <a:gd name="T5" fmla="*/ 159 h 68"/>
                <a:gd name="T6" fmla="*/ 137 w 177"/>
                <a:gd name="T7" fmla="*/ 195 h 68"/>
                <a:gd name="T8" fmla="*/ 105 w 177"/>
                <a:gd name="T9" fmla="*/ 223 h 68"/>
                <a:gd name="T10" fmla="*/ 60 w 177"/>
                <a:gd name="T11" fmla="*/ 206 h 68"/>
                <a:gd name="T12" fmla="*/ 26 w 177"/>
                <a:gd name="T13" fmla="*/ 178 h 68"/>
                <a:gd name="T14" fmla="*/ 0 w 177"/>
                <a:gd name="T15" fmla="*/ 115 h 68"/>
                <a:gd name="T16" fmla="*/ 53 w 177"/>
                <a:gd name="T17" fmla="*/ 0 h 68"/>
                <a:gd name="T18" fmla="*/ 66 w 177"/>
                <a:gd name="T19" fmla="*/ 7 h 68"/>
                <a:gd name="T20" fmla="*/ 86 w 177"/>
                <a:gd name="T21" fmla="*/ 38 h 68"/>
                <a:gd name="T22" fmla="*/ 105 w 177"/>
                <a:gd name="T23" fmla="*/ 38 h 68"/>
                <a:gd name="T24" fmla="*/ 128 w 177"/>
                <a:gd name="T25" fmla="*/ 5 h 6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7"/>
                <a:gd name="T40" fmla="*/ 0 h 68"/>
                <a:gd name="T41" fmla="*/ 177 w 177"/>
                <a:gd name="T42" fmla="*/ 68 h 6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7" h="68">
                  <a:moveTo>
                    <a:pt x="128" y="5"/>
                  </a:moveTo>
                  <a:lnTo>
                    <a:pt x="177" y="32"/>
                  </a:lnTo>
                  <a:lnTo>
                    <a:pt x="159" y="48"/>
                  </a:lnTo>
                  <a:lnTo>
                    <a:pt x="137" y="59"/>
                  </a:lnTo>
                  <a:lnTo>
                    <a:pt x="105" y="68"/>
                  </a:lnTo>
                  <a:lnTo>
                    <a:pt x="60" y="62"/>
                  </a:lnTo>
                  <a:lnTo>
                    <a:pt x="26" y="54"/>
                  </a:lnTo>
                  <a:lnTo>
                    <a:pt x="0" y="35"/>
                  </a:lnTo>
                  <a:lnTo>
                    <a:pt x="53" y="0"/>
                  </a:lnTo>
                  <a:lnTo>
                    <a:pt x="66" y="7"/>
                  </a:lnTo>
                  <a:lnTo>
                    <a:pt x="86" y="11"/>
                  </a:lnTo>
                  <a:lnTo>
                    <a:pt x="105" y="11"/>
                  </a:lnTo>
                  <a:lnTo>
                    <a:pt x="128" y="5"/>
                  </a:lnTo>
                  <a:close/>
                </a:path>
              </a:pathLst>
            </a:custGeom>
            <a:solidFill>
              <a:schemeClr val="tx1"/>
            </a:solidFill>
            <a:ln w="12700">
              <a:solidFill>
                <a:schemeClr val="bg1"/>
              </a:solidFill>
              <a:round/>
              <a:headEnd/>
              <a:tailEnd/>
            </a:ln>
          </p:spPr>
          <p:txBody>
            <a:bodyPr lIns="0" tIns="0" rIns="0" bIns="0" anchor="ctr">
              <a:spAutoFit/>
            </a:bodyPr>
            <a:lstStyle/>
            <a:p>
              <a:endParaRPr lang="en-US"/>
            </a:p>
          </p:txBody>
        </p:sp>
      </p:grpSp>
      <p:grpSp>
        <p:nvGrpSpPr>
          <p:cNvPr id="11277" name="Group 38"/>
          <p:cNvGrpSpPr>
            <a:grpSpLocks/>
          </p:cNvGrpSpPr>
          <p:nvPr/>
        </p:nvGrpSpPr>
        <p:grpSpPr bwMode="auto">
          <a:xfrm>
            <a:off x="1881188" y="1335088"/>
            <a:ext cx="1352550" cy="358775"/>
            <a:chOff x="2500093" y="810978"/>
            <a:chExt cx="1351593" cy="358692"/>
          </a:xfrm>
        </p:grpSpPr>
        <p:sp>
          <p:nvSpPr>
            <p:cNvPr id="11291" name="Freeform 39"/>
            <p:cNvSpPr>
              <a:spLocks noChangeArrowheads="1"/>
            </p:cNvSpPr>
            <p:nvPr/>
          </p:nvSpPr>
          <p:spPr bwMode="auto">
            <a:xfrm>
              <a:off x="2514599" y="822960"/>
              <a:ext cx="1227941" cy="346710"/>
            </a:xfrm>
            <a:custGeom>
              <a:avLst/>
              <a:gdLst>
                <a:gd name="T0" fmla="*/ 9993 w 1478280"/>
                <a:gd name="T1" fmla="*/ 3810 h 346710"/>
                <a:gd name="T2" fmla="*/ 52399 w 1478280"/>
                <a:gd name="T3" fmla="*/ 0 h 346710"/>
                <a:gd name="T4" fmla="*/ 52399 w 1478280"/>
                <a:gd name="T5" fmla="*/ 346710 h 346710"/>
                <a:gd name="T6" fmla="*/ 9993 w 1478280"/>
                <a:gd name="T7" fmla="*/ 342900 h 346710"/>
                <a:gd name="T8" fmla="*/ 0 w 1478280"/>
                <a:gd name="T9" fmla="*/ 179070 h 346710"/>
                <a:gd name="T10" fmla="*/ 9993 w 1478280"/>
                <a:gd name="T11" fmla="*/ 3810 h 346710"/>
                <a:gd name="T12" fmla="*/ 0 60000 65536"/>
                <a:gd name="T13" fmla="*/ 0 60000 65536"/>
                <a:gd name="T14" fmla="*/ 0 60000 65536"/>
                <a:gd name="T15" fmla="*/ 0 60000 65536"/>
                <a:gd name="T16" fmla="*/ 0 60000 65536"/>
                <a:gd name="T17" fmla="*/ 0 60000 65536"/>
                <a:gd name="T18" fmla="*/ 0 w 1478280"/>
                <a:gd name="T19" fmla="*/ 0 h 346710"/>
                <a:gd name="T20" fmla="*/ 1478280 w 1478280"/>
                <a:gd name="T21" fmla="*/ 346710 h 346710"/>
              </a:gdLst>
              <a:ahLst/>
              <a:cxnLst>
                <a:cxn ang="T12">
                  <a:pos x="T0" y="T1"/>
                </a:cxn>
                <a:cxn ang="T13">
                  <a:pos x="T2" y="T3"/>
                </a:cxn>
                <a:cxn ang="T14">
                  <a:pos x="T4" y="T5"/>
                </a:cxn>
                <a:cxn ang="T15">
                  <a:pos x="T6" y="T7"/>
                </a:cxn>
                <a:cxn ang="T16">
                  <a:pos x="T8" y="T9"/>
                </a:cxn>
                <a:cxn ang="T17">
                  <a:pos x="T10" y="T11"/>
                </a:cxn>
              </a:cxnLst>
              <a:rect l="T18" t="T19" r="T20" b="T21"/>
              <a:pathLst>
                <a:path w="1478280" h="346710">
                  <a:moveTo>
                    <a:pt x="281940" y="3810"/>
                  </a:moveTo>
                  <a:lnTo>
                    <a:pt x="1478280" y="0"/>
                  </a:lnTo>
                  <a:lnTo>
                    <a:pt x="1478280" y="346710"/>
                  </a:lnTo>
                  <a:lnTo>
                    <a:pt x="281940" y="342900"/>
                  </a:lnTo>
                  <a:lnTo>
                    <a:pt x="0" y="179070"/>
                  </a:lnTo>
                  <a:lnTo>
                    <a:pt x="281940" y="3810"/>
                  </a:lnTo>
                  <a:close/>
                </a:path>
              </a:pathLst>
            </a:custGeom>
            <a:solidFill>
              <a:srgbClr val="FFCC99"/>
            </a:solidFill>
            <a:ln w="12700">
              <a:solidFill>
                <a:schemeClr val="bg1"/>
              </a:solidFill>
              <a:round/>
              <a:headEnd/>
              <a:tailEnd type="triangle" w="med" len="med"/>
            </a:ln>
          </p:spPr>
          <p:txBody>
            <a:bodyPr lIns="0" tIns="0" rIns="0" bIns="0" anchor="ctr"/>
            <a:lstStyle/>
            <a:p>
              <a:endParaRPr lang="en-US"/>
            </a:p>
          </p:txBody>
        </p:sp>
        <p:sp>
          <p:nvSpPr>
            <p:cNvPr id="11292" name="TextBox 40"/>
            <p:cNvSpPr txBox="1">
              <a:spLocks noChangeArrowheads="1"/>
            </p:cNvSpPr>
            <p:nvPr/>
          </p:nvSpPr>
          <p:spPr bwMode="auto">
            <a:xfrm>
              <a:off x="2500093" y="810978"/>
              <a:ext cx="135159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client</a:t>
              </a:r>
            </a:p>
          </p:txBody>
        </p:sp>
      </p:grpSp>
      <p:grpSp>
        <p:nvGrpSpPr>
          <p:cNvPr id="11278" name="Group 41"/>
          <p:cNvGrpSpPr>
            <a:grpSpLocks/>
          </p:cNvGrpSpPr>
          <p:nvPr/>
        </p:nvGrpSpPr>
        <p:grpSpPr bwMode="auto">
          <a:xfrm>
            <a:off x="7616825" y="1349375"/>
            <a:ext cx="1352550" cy="358775"/>
            <a:chOff x="2500093" y="810978"/>
            <a:chExt cx="1351593" cy="358692"/>
          </a:xfrm>
        </p:grpSpPr>
        <p:sp>
          <p:nvSpPr>
            <p:cNvPr id="11289" name="Freeform 42"/>
            <p:cNvSpPr>
              <a:spLocks noChangeArrowheads="1"/>
            </p:cNvSpPr>
            <p:nvPr/>
          </p:nvSpPr>
          <p:spPr bwMode="auto">
            <a:xfrm>
              <a:off x="2514599" y="822960"/>
              <a:ext cx="1227941" cy="346710"/>
            </a:xfrm>
            <a:custGeom>
              <a:avLst/>
              <a:gdLst>
                <a:gd name="T0" fmla="*/ 9993 w 1478280"/>
                <a:gd name="T1" fmla="*/ 3810 h 346710"/>
                <a:gd name="T2" fmla="*/ 52399 w 1478280"/>
                <a:gd name="T3" fmla="*/ 0 h 346710"/>
                <a:gd name="T4" fmla="*/ 52399 w 1478280"/>
                <a:gd name="T5" fmla="*/ 346710 h 346710"/>
                <a:gd name="T6" fmla="*/ 9993 w 1478280"/>
                <a:gd name="T7" fmla="*/ 342900 h 346710"/>
                <a:gd name="T8" fmla="*/ 0 w 1478280"/>
                <a:gd name="T9" fmla="*/ 179070 h 346710"/>
                <a:gd name="T10" fmla="*/ 9993 w 1478280"/>
                <a:gd name="T11" fmla="*/ 3810 h 346710"/>
                <a:gd name="T12" fmla="*/ 0 60000 65536"/>
                <a:gd name="T13" fmla="*/ 0 60000 65536"/>
                <a:gd name="T14" fmla="*/ 0 60000 65536"/>
                <a:gd name="T15" fmla="*/ 0 60000 65536"/>
                <a:gd name="T16" fmla="*/ 0 60000 65536"/>
                <a:gd name="T17" fmla="*/ 0 60000 65536"/>
                <a:gd name="T18" fmla="*/ 0 w 1478280"/>
                <a:gd name="T19" fmla="*/ 0 h 346710"/>
                <a:gd name="T20" fmla="*/ 1478280 w 1478280"/>
                <a:gd name="T21" fmla="*/ 346710 h 346710"/>
              </a:gdLst>
              <a:ahLst/>
              <a:cxnLst>
                <a:cxn ang="T12">
                  <a:pos x="T0" y="T1"/>
                </a:cxn>
                <a:cxn ang="T13">
                  <a:pos x="T2" y="T3"/>
                </a:cxn>
                <a:cxn ang="T14">
                  <a:pos x="T4" y="T5"/>
                </a:cxn>
                <a:cxn ang="T15">
                  <a:pos x="T6" y="T7"/>
                </a:cxn>
                <a:cxn ang="T16">
                  <a:pos x="T8" y="T9"/>
                </a:cxn>
                <a:cxn ang="T17">
                  <a:pos x="T10" y="T11"/>
                </a:cxn>
              </a:cxnLst>
              <a:rect l="T18" t="T19" r="T20" b="T21"/>
              <a:pathLst>
                <a:path w="1478280" h="346710">
                  <a:moveTo>
                    <a:pt x="281940" y="3810"/>
                  </a:moveTo>
                  <a:lnTo>
                    <a:pt x="1478280" y="0"/>
                  </a:lnTo>
                  <a:lnTo>
                    <a:pt x="1478280" y="346710"/>
                  </a:lnTo>
                  <a:lnTo>
                    <a:pt x="281940" y="342900"/>
                  </a:lnTo>
                  <a:lnTo>
                    <a:pt x="0" y="179070"/>
                  </a:lnTo>
                  <a:lnTo>
                    <a:pt x="281940" y="3810"/>
                  </a:lnTo>
                  <a:close/>
                </a:path>
              </a:pathLst>
            </a:custGeom>
            <a:solidFill>
              <a:srgbClr val="FFCC99"/>
            </a:solidFill>
            <a:ln w="12700">
              <a:solidFill>
                <a:schemeClr val="bg1"/>
              </a:solidFill>
              <a:round/>
              <a:headEnd/>
              <a:tailEnd type="triangle" w="med" len="med"/>
            </a:ln>
          </p:spPr>
          <p:txBody>
            <a:bodyPr lIns="0" tIns="0" rIns="0" bIns="0" anchor="ctr"/>
            <a:lstStyle/>
            <a:p>
              <a:endParaRPr lang="en-US"/>
            </a:p>
          </p:txBody>
        </p:sp>
        <p:sp>
          <p:nvSpPr>
            <p:cNvPr id="11290" name="TextBox 43"/>
            <p:cNvSpPr txBox="1">
              <a:spLocks noChangeArrowheads="1"/>
            </p:cNvSpPr>
            <p:nvPr/>
          </p:nvSpPr>
          <p:spPr bwMode="auto">
            <a:xfrm>
              <a:off x="2500093" y="810978"/>
              <a:ext cx="135159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vendor</a:t>
              </a:r>
            </a:p>
          </p:txBody>
        </p:sp>
      </p:grpSp>
      <p:sp>
        <p:nvSpPr>
          <p:cNvPr id="11279" name="Freeform 44"/>
          <p:cNvSpPr>
            <a:spLocks noChangeArrowheads="1"/>
          </p:cNvSpPr>
          <p:nvPr/>
        </p:nvSpPr>
        <p:spPr bwMode="auto">
          <a:xfrm>
            <a:off x="1736725" y="1514475"/>
            <a:ext cx="254000" cy="69850"/>
          </a:xfrm>
          <a:custGeom>
            <a:avLst/>
            <a:gdLst>
              <a:gd name="T0" fmla="*/ 296140129 w 167640"/>
              <a:gd name="T1" fmla="*/ 4041 h 72390"/>
              <a:gd name="T2" fmla="*/ 195184427 w 167640"/>
              <a:gd name="T3" fmla="*/ 2021 h 72390"/>
              <a:gd name="T4" fmla="*/ 161531106 w 167640"/>
              <a:gd name="T5" fmla="*/ 0 h 72390"/>
              <a:gd name="T6" fmla="*/ 100956841 w 167640"/>
              <a:gd name="T7" fmla="*/ 2021 h 72390"/>
              <a:gd name="T8" fmla="*/ 80766729 w 167640"/>
              <a:gd name="T9" fmla="*/ 8085 h 72390"/>
              <a:gd name="T10" fmla="*/ 40382667 w 167640"/>
              <a:gd name="T11" fmla="*/ 16170 h 72390"/>
              <a:gd name="T12" fmla="*/ 20191517 w 167640"/>
              <a:gd name="T13" fmla="*/ 22234 h 72390"/>
              <a:gd name="T14" fmla="*/ 0 w 167640"/>
              <a:gd name="T15" fmla="*/ 38405 h 72390"/>
              <a:gd name="T16" fmla="*/ 0 60000 65536"/>
              <a:gd name="T17" fmla="*/ 0 60000 65536"/>
              <a:gd name="T18" fmla="*/ 0 60000 65536"/>
              <a:gd name="T19" fmla="*/ 0 60000 65536"/>
              <a:gd name="T20" fmla="*/ 0 60000 65536"/>
              <a:gd name="T21" fmla="*/ 0 60000 65536"/>
              <a:gd name="T22" fmla="*/ 0 60000 65536"/>
              <a:gd name="T23" fmla="*/ 0 60000 65536"/>
              <a:gd name="T24" fmla="*/ 0 w 167640"/>
              <a:gd name="T25" fmla="*/ 0 h 72390"/>
              <a:gd name="T26" fmla="*/ 167640 w 167640"/>
              <a:gd name="T27" fmla="*/ 72390 h 7239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7640" h="72390">
                <a:moveTo>
                  <a:pt x="167640" y="7620"/>
                </a:moveTo>
                <a:cubicBezTo>
                  <a:pt x="148590" y="6350"/>
                  <a:pt x="129488" y="5710"/>
                  <a:pt x="110490" y="3810"/>
                </a:cubicBezTo>
                <a:cubicBezTo>
                  <a:pt x="104046" y="3166"/>
                  <a:pt x="97916" y="0"/>
                  <a:pt x="91440" y="0"/>
                </a:cubicBezTo>
                <a:cubicBezTo>
                  <a:pt x="79940" y="0"/>
                  <a:pt x="68580" y="2540"/>
                  <a:pt x="57150" y="3810"/>
                </a:cubicBezTo>
                <a:cubicBezTo>
                  <a:pt x="53340" y="7620"/>
                  <a:pt x="49973" y="11932"/>
                  <a:pt x="45720" y="15240"/>
                </a:cubicBezTo>
                <a:cubicBezTo>
                  <a:pt x="38491" y="20863"/>
                  <a:pt x="29336" y="24004"/>
                  <a:pt x="22860" y="30480"/>
                </a:cubicBezTo>
                <a:lnTo>
                  <a:pt x="11430" y="41910"/>
                </a:lnTo>
                <a:cubicBezTo>
                  <a:pt x="7029" y="68313"/>
                  <a:pt x="13082" y="59308"/>
                  <a:pt x="0" y="72390"/>
                </a:cubicBezTo>
              </a:path>
            </a:pathLst>
          </a:custGeom>
          <a:noFill/>
          <a:ln w="12700"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11280" name="Freeform 45"/>
          <p:cNvSpPr>
            <a:spLocks noChangeArrowheads="1"/>
          </p:cNvSpPr>
          <p:nvPr/>
        </p:nvSpPr>
        <p:spPr bwMode="auto">
          <a:xfrm>
            <a:off x="1730375" y="1858963"/>
            <a:ext cx="241300" cy="77787"/>
          </a:xfrm>
          <a:custGeom>
            <a:avLst/>
            <a:gdLst>
              <a:gd name="T0" fmla="*/ 118236539 w 167640"/>
              <a:gd name="T1" fmla="*/ 1356606 h 65814"/>
              <a:gd name="T2" fmla="*/ 88677048 w 167640"/>
              <a:gd name="T3" fmla="*/ 1199529 h 65814"/>
              <a:gd name="T4" fmla="*/ 69867331 w 167640"/>
              <a:gd name="T5" fmla="*/ 963922 h 65814"/>
              <a:gd name="T6" fmla="*/ 61805448 w 167640"/>
              <a:gd name="T7" fmla="*/ 806864 h 65814"/>
              <a:gd name="T8" fmla="*/ 56430859 w 167640"/>
              <a:gd name="T9" fmla="*/ 571257 h 65814"/>
              <a:gd name="T10" fmla="*/ 53743648 w 167640"/>
              <a:gd name="T11" fmla="*/ 335656 h 65814"/>
              <a:gd name="T12" fmla="*/ 45682279 w 167640"/>
              <a:gd name="T13" fmla="*/ 178577 h 65814"/>
              <a:gd name="T14" fmla="*/ 0 w 167640"/>
              <a:gd name="T15" fmla="*/ 21522 h 65814"/>
              <a:gd name="T16" fmla="*/ 0 60000 65536"/>
              <a:gd name="T17" fmla="*/ 0 60000 65536"/>
              <a:gd name="T18" fmla="*/ 0 60000 65536"/>
              <a:gd name="T19" fmla="*/ 0 60000 65536"/>
              <a:gd name="T20" fmla="*/ 0 60000 65536"/>
              <a:gd name="T21" fmla="*/ 0 60000 65536"/>
              <a:gd name="T22" fmla="*/ 0 60000 65536"/>
              <a:gd name="T23" fmla="*/ 0 60000 65536"/>
              <a:gd name="T24" fmla="*/ 0 w 167640"/>
              <a:gd name="T25" fmla="*/ 0 h 65814"/>
              <a:gd name="T26" fmla="*/ 167640 w 167640"/>
              <a:gd name="T27" fmla="*/ 65814 h 658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7640" h="65814">
                <a:moveTo>
                  <a:pt x="167640" y="65814"/>
                </a:moveTo>
                <a:cubicBezTo>
                  <a:pt x="153670" y="63274"/>
                  <a:pt x="139614" y="61169"/>
                  <a:pt x="125730" y="58194"/>
                </a:cubicBezTo>
                <a:cubicBezTo>
                  <a:pt x="117181" y="56362"/>
                  <a:pt x="106198" y="50843"/>
                  <a:pt x="99060" y="46764"/>
                </a:cubicBezTo>
                <a:cubicBezTo>
                  <a:pt x="95084" y="44492"/>
                  <a:pt x="91440" y="41684"/>
                  <a:pt x="87630" y="39144"/>
                </a:cubicBezTo>
                <a:cubicBezTo>
                  <a:pt x="85090" y="35334"/>
                  <a:pt x="82058" y="31810"/>
                  <a:pt x="80010" y="27714"/>
                </a:cubicBezTo>
                <a:cubicBezTo>
                  <a:pt x="78214" y="24122"/>
                  <a:pt x="78709" y="19420"/>
                  <a:pt x="76200" y="16284"/>
                </a:cubicBezTo>
                <a:cubicBezTo>
                  <a:pt x="73339" y="12708"/>
                  <a:pt x="69194" y="9844"/>
                  <a:pt x="64770" y="8664"/>
                </a:cubicBezTo>
                <a:cubicBezTo>
                  <a:pt x="32280" y="0"/>
                  <a:pt x="26488" y="1044"/>
                  <a:pt x="0" y="1044"/>
                </a:cubicBezTo>
              </a:path>
            </a:pathLst>
          </a:custGeom>
          <a:noFill/>
          <a:ln w="12700"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11281" name="Freeform 46"/>
          <p:cNvSpPr>
            <a:spLocks noChangeArrowheads="1"/>
          </p:cNvSpPr>
          <p:nvPr/>
        </p:nvSpPr>
        <p:spPr bwMode="auto">
          <a:xfrm>
            <a:off x="4686300" y="1676400"/>
            <a:ext cx="215900" cy="63500"/>
          </a:xfrm>
          <a:custGeom>
            <a:avLst/>
            <a:gdLst>
              <a:gd name="T0" fmla="*/ 769056385 w 133433"/>
              <a:gd name="T1" fmla="*/ 1218040 h 53340"/>
              <a:gd name="T2" fmla="*/ 615338504 w 133433"/>
              <a:gd name="T3" fmla="*/ 696012 h 53340"/>
              <a:gd name="T4" fmla="*/ 483582282 w 133433"/>
              <a:gd name="T5" fmla="*/ 609031 h 53340"/>
              <a:gd name="T6" fmla="*/ 176153137 w 133433"/>
              <a:gd name="T7" fmla="*/ 348015 h 53340"/>
              <a:gd name="T8" fmla="*/ 88315837 w 133433"/>
              <a:gd name="T9" fmla="*/ 174030 h 53340"/>
              <a:gd name="T10" fmla="*/ 478814 w 133433"/>
              <a:gd name="T11" fmla="*/ 0 h 53340"/>
              <a:gd name="T12" fmla="*/ 0 60000 65536"/>
              <a:gd name="T13" fmla="*/ 0 60000 65536"/>
              <a:gd name="T14" fmla="*/ 0 60000 65536"/>
              <a:gd name="T15" fmla="*/ 0 60000 65536"/>
              <a:gd name="T16" fmla="*/ 0 60000 65536"/>
              <a:gd name="T17" fmla="*/ 0 60000 65536"/>
              <a:gd name="T18" fmla="*/ 0 w 133433"/>
              <a:gd name="T19" fmla="*/ 0 h 53340"/>
              <a:gd name="T20" fmla="*/ 133433 w 133433"/>
              <a:gd name="T21" fmla="*/ 53340 h 53340"/>
            </a:gdLst>
            <a:ahLst/>
            <a:cxnLst>
              <a:cxn ang="T12">
                <a:pos x="T0" y="T1"/>
              </a:cxn>
              <a:cxn ang="T13">
                <a:pos x="T2" y="T3"/>
              </a:cxn>
              <a:cxn ang="T14">
                <a:pos x="T4" y="T5"/>
              </a:cxn>
              <a:cxn ang="T15">
                <a:pos x="T6" y="T7"/>
              </a:cxn>
              <a:cxn ang="T16">
                <a:pos x="T8" y="T9"/>
              </a:cxn>
              <a:cxn ang="T17">
                <a:pos x="T10" y="T11"/>
              </a:cxn>
            </a:cxnLst>
            <a:rect l="T18" t="T19" r="T20" b="T21"/>
            <a:pathLst>
              <a:path w="133433" h="53340">
                <a:moveTo>
                  <a:pt x="133433" y="53340"/>
                </a:moveTo>
                <a:cubicBezTo>
                  <a:pt x="127190" y="47097"/>
                  <a:pt x="114909" y="33738"/>
                  <a:pt x="106763" y="30480"/>
                </a:cubicBezTo>
                <a:cubicBezTo>
                  <a:pt x="99590" y="27611"/>
                  <a:pt x="91523" y="27940"/>
                  <a:pt x="83903" y="26670"/>
                </a:cubicBezTo>
                <a:cubicBezTo>
                  <a:pt x="51329" y="15812"/>
                  <a:pt x="69013" y="20046"/>
                  <a:pt x="30563" y="15240"/>
                </a:cubicBezTo>
                <a:cubicBezTo>
                  <a:pt x="25483" y="12700"/>
                  <a:pt x="20543" y="9857"/>
                  <a:pt x="15323" y="7620"/>
                </a:cubicBezTo>
                <a:cubicBezTo>
                  <a:pt x="0" y="1053"/>
                  <a:pt x="7712" y="7629"/>
                  <a:pt x="83" y="0"/>
                </a:cubicBezTo>
              </a:path>
            </a:pathLst>
          </a:custGeom>
          <a:noFill/>
          <a:ln w="12700"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11282" name="Freeform 47"/>
          <p:cNvSpPr>
            <a:spLocks noChangeArrowheads="1"/>
          </p:cNvSpPr>
          <p:nvPr/>
        </p:nvSpPr>
        <p:spPr bwMode="auto">
          <a:xfrm>
            <a:off x="7502525" y="1539875"/>
            <a:ext cx="212725" cy="44450"/>
          </a:xfrm>
          <a:custGeom>
            <a:avLst/>
            <a:gdLst>
              <a:gd name="T0" fmla="*/ 979853713 w 129540"/>
              <a:gd name="T1" fmla="*/ 2169 h 46301"/>
              <a:gd name="T2" fmla="*/ 403468495 w 129540"/>
              <a:gd name="T3" fmla="*/ 7806 h 46301"/>
              <a:gd name="T4" fmla="*/ 345832839 w 129540"/>
              <a:gd name="T5" fmla="*/ 13449 h 46301"/>
              <a:gd name="T6" fmla="*/ 86457174 w 129540"/>
              <a:gd name="T7" fmla="*/ 20970 h 46301"/>
              <a:gd name="T8" fmla="*/ 0 w 129540"/>
              <a:gd name="T9" fmla="*/ 22850 h 46301"/>
              <a:gd name="T10" fmla="*/ 0 60000 65536"/>
              <a:gd name="T11" fmla="*/ 0 60000 65536"/>
              <a:gd name="T12" fmla="*/ 0 60000 65536"/>
              <a:gd name="T13" fmla="*/ 0 60000 65536"/>
              <a:gd name="T14" fmla="*/ 0 60000 65536"/>
              <a:gd name="T15" fmla="*/ 0 w 129540"/>
              <a:gd name="T16" fmla="*/ 0 h 46301"/>
              <a:gd name="T17" fmla="*/ 129540 w 129540"/>
              <a:gd name="T18" fmla="*/ 46301 h 46301"/>
            </a:gdLst>
            <a:ahLst/>
            <a:cxnLst>
              <a:cxn ang="T10">
                <a:pos x="T0" y="T1"/>
              </a:cxn>
              <a:cxn ang="T11">
                <a:pos x="T2" y="T3"/>
              </a:cxn>
              <a:cxn ang="T12">
                <a:pos x="T4" y="T5"/>
              </a:cxn>
              <a:cxn ang="T13">
                <a:pos x="T6" y="T7"/>
              </a:cxn>
              <a:cxn ang="T14">
                <a:pos x="T8" y="T9"/>
              </a:cxn>
            </a:cxnLst>
            <a:rect l="T15" t="T16" r="T17" b="T18"/>
            <a:pathLst>
              <a:path w="129540" h="46301">
                <a:moveTo>
                  <a:pt x="129540" y="4391"/>
                </a:moveTo>
                <a:cubicBezTo>
                  <a:pt x="114764" y="5315"/>
                  <a:pt x="72325" y="0"/>
                  <a:pt x="53340" y="15821"/>
                </a:cubicBezTo>
                <a:cubicBezTo>
                  <a:pt x="49822" y="18752"/>
                  <a:pt x="48958" y="24013"/>
                  <a:pt x="45720" y="27251"/>
                </a:cubicBezTo>
                <a:cubicBezTo>
                  <a:pt x="36663" y="36308"/>
                  <a:pt x="22748" y="38718"/>
                  <a:pt x="11430" y="42491"/>
                </a:cubicBezTo>
                <a:lnTo>
                  <a:pt x="0" y="46301"/>
                </a:lnTo>
              </a:path>
            </a:pathLst>
          </a:custGeom>
          <a:noFill/>
          <a:ln w="12700"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11283" name="Freeform 48"/>
          <p:cNvSpPr>
            <a:spLocks noChangeArrowheads="1"/>
          </p:cNvSpPr>
          <p:nvPr/>
        </p:nvSpPr>
        <p:spPr bwMode="auto">
          <a:xfrm>
            <a:off x="7486650" y="1889125"/>
            <a:ext cx="225425" cy="46038"/>
          </a:xfrm>
          <a:custGeom>
            <a:avLst/>
            <a:gdLst>
              <a:gd name="T0" fmla="*/ 268527465 w 148590"/>
              <a:gd name="T1" fmla="*/ 44324 h 46122"/>
              <a:gd name="T2" fmla="*/ 240986360 w 148590"/>
              <a:gd name="T3" fmla="*/ 40663 h 46122"/>
              <a:gd name="T4" fmla="*/ 179017843 w 148590"/>
              <a:gd name="T5" fmla="*/ 15031 h 46122"/>
              <a:gd name="T6" fmla="*/ 158361572 w 148590"/>
              <a:gd name="T7" fmla="*/ 11372 h 46122"/>
              <a:gd name="T8" fmla="*/ 27541021 w 148590"/>
              <a:gd name="T9" fmla="*/ 4048 h 46122"/>
              <a:gd name="T10" fmla="*/ 0 w 148590"/>
              <a:gd name="T11" fmla="*/ 381 h 46122"/>
              <a:gd name="T12" fmla="*/ 0 60000 65536"/>
              <a:gd name="T13" fmla="*/ 0 60000 65536"/>
              <a:gd name="T14" fmla="*/ 0 60000 65536"/>
              <a:gd name="T15" fmla="*/ 0 60000 65536"/>
              <a:gd name="T16" fmla="*/ 0 60000 65536"/>
              <a:gd name="T17" fmla="*/ 0 60000 65536"/>
              <a:gd name="T18" fmla="*/ 0 w 148590"/>
              <a:gd name="T19" fmla="*/ 0 h 46122"/>
              <a:gd name="T20" fmla="*/ 148590 w 148590"/>
              <a:gd name="T21" fmla="*/ 46122 h 46122"/>
            </a:gdLst>
            <a:ahLst/>
            <a:cxnLst>
              <a:cxn ang="T12">
                <a:pos x="T0" y="T1"/>
              </a:cxn>
              <a:cxn ang="T13">
                <a:pos x="T2" y="T3"/>
              </a:cxn>
              <a:cxn ang="T14">
                <a:pos x="T4" y="T5"/>
              </a:cxn>
              <a:cxn ang="T15">
                <a:pos x="T6" y="T7"/>
              </a:cxn>
              <a:cxn ang="T16">
                <a:pos x="T8" y="T9"/>
              </a:cxn>
              <a:cxn ang="T17">
                <a:pos x="T10" y="T11"/>
              </a:cxn>
            </a:cxnLst>
            <a:rect l="T18" t="T19" r="T20" b="T21"/>
            <a:pathLst>
              <a:path w="148590" h="46122">
                <a:moveTo>
                  <a:pt x="148590" y="46122"/>
                </a:moveTo>
                <a:cubicBezTo>
                  <a:pt x="143510" y="44852"/>
                  <a:pt x="137840" y="45006"/>
                  <a:pt x="133350" y="42312"/>
                </a:cubicBezTo>
                <a:cubicBezTo>
                  <a:pt x="116486" y="32194"/>
                  <a:pt x="114351" y="23288"/>
                  <a:pt x="99060" y="15642"/>
                </a:cubicBezTo>
                <a:cubicBezTo>
                  <a:pt x="95468" y="13846"/>
                  <a:pt x="91492" y="12935"/>
                  <a:pt x="87630" y="11832"/>
                </a:cubicBezTo>
                <a:cubicBezTo>
                  <a:pt x="59372" y="3758"/>
                  <a:pt x="57544" y="7032"/>
                  <a:pt x="15240" y="4212"/>
                </a:cubicBezTo>
                <a:cubicBezTo>
                  <a:pt x="2605" y="0"/>
                  <a:pt x="7826" y="402"/>
                  <a:pt x="0" y="402"/>
                </a:cubicBezTo>
              </a:path>
            </a:pathLst>
          </a:custGeom>
          <a:noFill/>
          <a:ln w="12700"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11284" name="Oval 49"/>
          <p:cNvSpPr>
            <a:spLocks noChangeArrowheads="1"/>
          </p:cNvSpPr>
          <p:nvPr/>
        </p:nvSpPr>
        <p:spPr bwMode="auto">
          <a:xfrm flipH="1" flipV="1">
            <a:off x="4892675" y="1724025"/>
            <a:ext cx="17463" cy="19050"/>
          </a:xfrm>
          <a:prstGeom prst="ellipse">
            <a:avLst/>
          </a:prstGeom>
          <a:solidFill>
            <a:schemeClr val="bg1"/>
          </a:solidFill>
          <a:ln w="28575">
            <a:solidFill>
              <a:schemeClr val="bg1"/>
            </a:solidFill>
            <a:round/>
            <a:headEnd/>
            <a:tailEnd type="triangle" w="med" len="med"/>
          </a:ln>
        </p:spPr>
        <p:txBody>
          <a:bodyPr lIns="0" tIns="0" rIns="0" bIns="0" anchor="ctr"/>
          <a:lstStyle/>
          <a:p>
            <a:endParaRPr lang="en-US"/>
          </a:p>
        </p:txBody>
      </p:sp>
      <p:sp>
        <p:nvSpPr>
          <p:cNvPr id="11285" name="Oval 50"/>
          <p:cNvSpPr>
            <a:spLocks noChangeArrowheads="1"/>
          </p:cNvSpPr>
          <p:nvPr/>
        </p:nvSpPr>
        <p:spPr bwMode="auto">
          <a:xfrm flipH="1" flipV="1">
            <a:off x="1970088" y="1922463"/>
            <a:ext cx="17462" cy="17462"/>
          </a:xfrm>
          <a:prstGeom prst="ellipse">
            <a:avLst/>
          </a:prstGeom>
          <a:solidFill>
            <a:schemeClr val="bg1"/>
          </a:solidFill>
          <a:ln w="28575">
            <a:solidFill>
              <a:schemeClr val="bg1"/>
            </a:solidFill>
            <a:round/>
            <a:headEnd/>
            <a:tailEnd type="triangle" w="med" len="med"/>
          </a:ln>
        </p:spPr>
        <p:txBody>
          <a:bodyPr lIns="0" tIns="0" rIns="0" bIns="0" anchor="ctr"/>
          <a:lstStyle/>
          <a:p>
            <a:endParaRPr lang="en-US"/>
          </a:p>
        </p:txBody>
      </p:sp>
      <p:sp>
        <p:nvSpPr>
          <p:cNvPr id="11286" name="Oval 51"/>
          <p:cNvSpPr>
            <a:spLocks noChangeArrowheads="1"/>
          </p:cNvSpPr>
          <p:nvPr/>
        </p:nvSpPr>
        <p:spPr bwMode="auto">
          <a:xfrm flipH="1" flipV="1">
            <a:off x="1984375" y="1511300"/>
            <a:ext cx="19050" cy="17463"/>
          </a:xfrm>
          <a:prstGeom prst="ellipse">
            <a:avLst/>
          </a:prstGeom>
          <a:solidFill>
            <a:schemeClr val="bg1"/>
          </a:solidFill>
          <a:ln w="28575">
            <a:solidFill>
              <a:schemeClr val="bg1"/>
            </a:solidFill>
            <a:round/>
            <a:headEnd/>
            <a:tailEnd type="triangle" w="med" len="med"/>
          </a:ln>
        </p:spPr>
        <p:txBody>
          <a:bodyPr lIns="0" tIns="0" rIns="0" bIns="0" anchor="ctr"/>
          <a:lstStyle/>
          <a:p>
            <a:endParaRPr lang="en-US"/>
          </a:p>
        </p:txBody>
      </p:sp>
      <p:sp>
        <p:nvSpPr>
          <p:cNvPr id="11287" name="Oval 52"/>
          <p:cNvSpPr>
            <a:spLocks noChangeArrowheads="1"/>
          </p:cNvSpPr>
          <p:nvPr/>
        </p:nvSpPr>
        <p:spPr bwMode="auto">
          <a:xfrm flipH="1" flipV="1">
            <a:off x="7716838" y="1530350"/>
            <a:ext cx="19050" cy="17463"/>
          </a:xfrm>
          <a:prstGeom prst="ellipse">
            <a:avLst/>
          </a:prstGeom>
          <a:solidFill>
            <a:schemeClr val="bg1"/>
          </a:solidFill>
          <a:ln w="28575">
            <a:solidFill>
              <a:schemeClr val="bg1"/>
            </a:solidFill>
            <a:round/>
            <a:headEnd/>
            <a:tailEnd type="triangle" w="med" len="med"/>
          </a:ln>
        </p:spPr>
        <p:txBody>
          <a:bodyPr lIns="0" tIns="0" rIns="0" bIns="0" anchor="ctr"/>
          <a:lstStyle/>
          <a:p>
            <a:endParaRPr lang="en-US"/>
          </a:p>
        </p:txBody>
      </p:sp>
      <p:sp>
        <p:nvSpPr>
          <p:cNvPr id="11288" name="Oval 53"/>
          <p:cNvSpPr>
            <a:spLocks noChangeArrowheads="1"/>
          </p:cNvSpPr>
          <p:nvPr/>
        </p:nvSpPr>
        <p:spPr bwMode="auto">
          <a:xfrm flipH="1" flipV="1">
            <a:off x="7707313" y="1924050"/>
            <a:ext cx="19050" cy="19050"/>
          </a:xfrm>
          <a:prstGeom prst="ellipse">
            <a:avLst/>
          </a:prstGeom>
          <a:solidFill>
            <a:schemeClr val="bg1"/>
          </a:solidFill>
          <a:ln w="28575">
            <a:solidFill>
              <a:schemeClr val="bg1"/>
            </a:solidFill>
            <a:round/>
            <a:headEnd/>
            <a:tailEnd type="triangle" w="med" len="med"/>
          </a:ln>
        </p:spPr>
        <p:txBody>
          <a:bodyPr lIns="0" tIns="0" rIns="0" bIns="0" anchor="ctr"/>
          <a:lstStyle/>
          <a:p>
            <a:endParaRPr lang="en-US"/>
          </a:p>
        </p:txBody>
      </p:sp>
    </p:spTree>
    <p:extLst>
      <p:ext uri="{BB962C8B-B14F-4D97-AF65-F5344CB8AC3E}">
        <p14:creationId xmlns:p14="http://schemas.microsoft.com/office/powerpoint/2010/main" val="127130408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|EOS~012|</a:t>
            </a:r>
            <a:endParaRPr lang="en-US" sz="100" dirty="0" err="1" smtClean="0">
              <a:solidFill>
                <a:srgbClr val="FFFFFF"/>
              </a:solidFill>
              <a:latin typeface="Arial"/>
              <a:cs typeface="Calibri" pitchFamily="34" charset="0"/>
            </a:endParaRPr>
          </a:p>
        </p:txBody>
      </p:sp>
      <p:sp>
        <p:nvSpPr>
          <p:cNvPr id="12290" name="Rectangle 2"/>
          <p:cNvSpPr>
            <a:spLocks noGrp="1" noChangeArrowheads="1"/>
          </p:cNvSpPr>
          <p:nvPr>
            <p:ph type="title"/>
          </p:nvPr>
        </p:nvSpPr>
        <p:spPr/>
        <p:txBody>
          <a:bodyPr/>
          <a:lstStyle/>
          <a:p>
            <a:pPr eaLnBrk="1" hangingPunct="1"/>
            <a:r>
              <a:rPr lang="en-US" smtClean="0"/>
              <a:t>Two applications store contacts</a:t>
            </a:r>
          </a:p>
        </p:txBody>
      </p:sp>
      <p:sp>
        <p:nvSpPr>
          <p:cNvPr id="12291" name="Rectangle 3"/>
          <p:cNvSpPr>
            <a:spLocks noGrp="1" noChangeArrowheads="1"/>
          </p:cNvSpPr>
          <p:nvPr>
            <p:ph idx="1"/>
          </p:nvPr>
        </p:nvSpPr>
        <p:spPr>
          <a:xfrm>
            <a:off x="519113" y="4235450"/>
            <a:ext cx="8318500" cy="2154238"/>
          </a:xfrm>
        </p:spPr>
        <p:txBody>
          <a:bodyPr/>
          <a:lstStyle/>
          <a:p>
            <a:r>
              <a:rPr lang="en-US" dirty="0" smtClean="0"/>
              <a:t>Two applications store contacts</a:t>
            </a:r>
          </a:p>
          <a:p>
            <a:pPr lvl="1"/>
            <a:r>
              <a:rPr lang="en-US" dirty="0" smtClean="0"/>
              <a:t>ClaimCenter stores contact information as it pertains to a given claim</a:t>
            </a:r>
          </a:p>
          <a:p>
            <a:pPr lvl="1"/>
            <a:r>
              <a:rPr lang="en-US" dirty="0" smtClean="0"/>
              <a:t>Address Book stores contacts that are (potentially) relevant to multiple claims</a:t>
            </a:r>
          </a:p>
          <a:p>
            <a:pPr lvl="1"/>
            <a:r>
              <a:rPr lang="en-US" dirty="0"/>
              <a:t>Contacts can be shared across both applications</a:t>
            </a:r>
            <a:endParaRPr lang="en-US" dirty="0" smtClean="0"/>
          </a:p>
        </p:txBody>
      </p:sp>
      <p:sp>
        <p:nvSpPr>
          <p:cNvPr id="12292" name="Text Box 4"/>
          <p:cNvSpPr txBox="1">
            <a:spLocks noChangeArrowheads="1"/>
          </p:cNvSpPr>
          <p:nvPr/>
        </p:nvSpPr>
        <p:spPr bwMode="auto">
          <a:xfrm>
            <a:off x="6858000" y="2641600"/>
            <a:ext cx="156527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2000" b="1" dirty="0"/>
              <a:t>contacts relevant to multiple claims</a:t>
            </a:r>
          </a:p>
        </p:txBody>
      </p:sp>
      <p:grpSp>
        <p:nvGrpSpPr>
          <p:cNvPr id="12293" name="Group 5"/>
          <p:cNvGrpSpPr>
            <a:grpSpLocks/>
          </p:cNvGrpSpPr>
          <p:nvPr/>
        </p:nvGrpSpPr>
        <p:grpSpPr bwMode="auto">
          <a:xfrm>
            <a:off x="4837113" y="855663"/>
            <a:ext cx="1912937" cy="3005137"/>
            <a:chOff x="3047" y="539"/>
            <a:chExt cx="1205" cy="1893"/>
          </a:xfrm>
        </p:grpSpPr>
        <p:sp>
          <p:nvSpPr>
            <p:cNvPr id="12334" name="AutoShape 6"/>
            <p:cNvSpPr>
              <a:spLocks noChangeArrowheads="1"/>
            </p:cNvSpPr>
            <p:nvPr/>
          </p:nvSpPr>
          <p:spPr bwMode="auto">
            <a:xfrm>
              <a:off x="3067" y="539"/>
              <a:ext cx="1185" cy="1893"/>
            </a:xfrm>
            <a:prstGeom prst="cube">
              <a:avLst>
                <a:gd name="adj" fmla="val 10472"/>
              </a:avLst>
            </a:prstGeom>
            <a:solidFill>
              <a:schemeClr val="tx1"/>
            </a:solidFill>
            <a:ln w="28575">
              <a:solidFill>
                <a:schemeClr val="bg1"/>
              </a:solidFill>
              <a:miter lim="800000"/>
              <a:headEnd/>
              <a:tailEnd/>
            </a:ln>
          </p:spPr>
          <p:txBody>
            <a:bodyPr lIns="0" tIns="0" rIns="0" bIns="0" anchor="ctr">
              <a:spAutoFit/>
            </a:bodyPr>
            <a:lstStyle/>
            <a:p>
              <a:endParaRPr lang="en-US"/>
            </a:p>
          </p:txBody>
        </p:sp>
        <p:sp>
          <p:nvSpPr>
            <p:cNvPr id="12335" name="AutoShape 7"/>
            <p:cNvSpPr>
              <a:spLocks noChangeArrowheads="1"/>
            </p:cNvSpPr>
            <p:nvPr/>
          </p:nvSpPr>
          <p:spPr bwMode="auto">
            <a:xfrm>
              <a:off x="3296" y="1751"/>
              <a:ext cx="620" cy="62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12336" name="Text Box 8"/>
            <p:cNvSpPr txBox="1">
              <a:spLocks noChangeArrowheads="1"/>
            </p:cNvSpPr>
            <p:nvPr/>
          </p:nvSpPr>
          <p:spPr bwMode="auto">
            <a:xfrm>
              <a:off x="3047" y="724"/>
              <a:ext cx="111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1800" b="1" dirty="0"/>
                <a:t>Address Book</a:t>
              </a:r>
            </a:p>
          </p:txBody>
        </p:sp>
        <p:grpSp>
          <p:nvGrpSpPr>
            <p:cNvPr id="12337" name="Group 9"/>
            <p:cNvGrpSpPr>
              <a:grpSpLocks/>
            </p:cNvGrpSpPr>
            <p:nvPr/>
          </p:nvGrpSpPr>
          <p:grpSpPr bwMode="auto">
            <a:xfrm>
              <a:off x="3255" y="942"/>
              <a:ext cx="699" cy="611"/>
              <a:chOff x="1305" y="2500"/>
              <a:chExt cx="1138" cy="995"/>
            </a:xfrm>
          </p:grpSpPr>
          <p:sp>
            <p:nvSpPr>
              <p:cNvPr id="12338" name="Freeform 10"/>
              <p:cNvSpPr>
                <a:spLocks/>
              </p:cNvSpPr>
              <p:nvPr/>
            </p:nvSpPr>
            <p:spPr bwMode="auto">
              <a:xfrm>
                <a:off x="1305" y="2500"/>
                <a:ext cx="1138" cy="995"/>
              </a:xfrm>
              <a:custGeom>
                <a:avLst/>
                <a:gdLst>
                  <a:gd name="T0" fmla="*/ 444 w 1138"/>
                  <a:gd name="T1" fmla="*/ 1 h 995"/>
                  <a:gd name="T2" fmla="*/ 490 w 1138"/>
                  <a:gd name="T3" fmla="*/ 0 h 995"/>
                  <a:gd name="T4" fmla="*/ 532 w 1138"/>
                  <a:gd name="T5" fmla="*/ 10 h 995"/>
                  <a:gd name="T6" fmla="*/ 600 w 1138"/>
                  <a:gd name="T7" fmla="*/ 40 h 995"/>
                  <a:gd name="T8" fmla="*/ 668 w 1138"/>
                  <a:gd name="T9" fmla="*/ 66 h 995"/>
                  <a:gd name="T10" fmla="*/ 737 w 1138"/>
                  <a:gd name="T11" fmla="*/ 85 h 995"/>
                  <a:gd name="T12" fmla="*/ 808 w 1138"/>
                  <a:gd name="T13" fmla="*/ 101 h 995"/>
                  <a:gd name="T14" fmla="*/ 882 w 1138"/>
                  <a:gd name="T15" fmla="*/ 111 h 995"/>
                  <a:gd name="T16" fmla="*/ 953 w 1138"/>
                  <a:gd name="T17" fmla="*/ 125 h 995"/>
                  <a:gd name="T18" fmla="*/ 1011 w 1138"/>
                  <a:gd name="T19" fmla="*/ 163 h 995"/>
                  <a:gd name="T20" fmla="*/ 1036 w 1138"/>
                  <a:gd name="T21" fmla="*/ 228 h 995"/>
                  <a:gd name="T22" fmla="*/ 1082 w 1138"/>
                  <a:gd name="T23" fmla="*/ 252 h 995"/>
                  <a:gd name="T24" fmla="*/ 1120 w 1138"/>
                  <a:gd name="T25" fmla="*/ 287 h 995"/>
                  <a:gd name="T26" fmla="*/ 1137 w 1138"/>
                  <a:gd name="T27" fmla="*/ 342 h 995"/>
                  <a:gd name="T28" fmla="*/ 1134 w 1138"/>
                  <a:gd name="T29" fmla="*/ 405 h 995"/>
                  <a:gd name="T30" fmla="*/ 1111 w 1138"/>
                  <a:gd name="T31" fmla="*/ 463 h 995"/>
                  <a:gd name="T32" fmla="*/ 1068 w 1138"/>
                  <a:gd name="T33" fmla="*/ 515 h 995"/>
                  <a:gd name="T34" fmla="*/ 1026 w 1138"/>
                  <a:gd name="T35" fmla="*/ 568 h 995"/>
                  <a:gd name="T36" fmla="*/ 984 w 1138"/>
                  <a:gd name="T37" fmla="*/ 627 h 995"/>
                  <a:gd name="T38" fmla="*/ 965 w 1138"/>
                  <a:gd name="T39" fmla="*/ 646 h 995"/>
                  <a:gd name="T40" fmla="*/ 947 w 1138"/>
                  <a:gd name="T41" fmla="*/ 664 h 995"/>
                  <a:gd name="T42" fmla="*/ 918 w 1138"/>
                  <a:gd name="T43" fmla="*/ 712 h 995"/>
                  <a:gd name="T44" fmla="*/ 864 w 1138"/>
                  <a:gd name="T45" fmla="*/ 796 h 995"/>
                  <a:gd name="T46" fmla="*/ 802 w 1138"/>
                  <a:gd name="T47" fmla="*/ 881 h 995"/>
                  <a:gd name="T48" fmla="*/ 763 w 1138"/>
                  <a:gd name="T49" fmla="*/ 927 h 995"/>
                  <a:gd name="T50" fmla="*/ 741 w 1138"/>
                  <a:gd name="T51" fmla="*/ 950 h 995"/>
                  <a:gd name="T52" fmla="*/ 715 w 1138"/>
                  <a:gd name="T53" fmla="*/ 963 h 995"/>
                  <a:gd name="T54" fmla="*/ 670 w 1138"/>
                  <a:gd name="T55" fmla="*/ 975 h 995"/>
                  <a:gd name="T56" fmla="*/ 627 w 1138"/>
                  <a:gd name="T57" fmla="*/ 985 h 995"/>
                  <a:gd name="T58" fmla="*/ 584 w 1138"/>
                  <a:gd name="T59" fmla="*/ 993 h 995"/>
                  <a:gd name="T60" fmla="*/ 543 w 1138"/>
                  <a:gd name="T61" fmla="*/ 995 h 995"/>
                  <a:gd name="T62" fmla="*/ 500 w 1138"/>
                  <a:gd name="T63" fmla="*/ 988 h 995"/>
                  <a:gd name="T64" fmla="*/ 464 w 1138"/>
                  <a:gd name="T65" fmla="*/ 975 h 995"/>
                  <a:gd name="T66" fmla="*/ 421 w 1138"/>
                  <a:gd name="T67" fmla="*/ 953 h 995"/>
                  <a:gd name="T68" fmla="*/ 369 w 1138"/>
                  <a:gd name="T69" fmla="*/ 925 h 995"/>
                  <a:gd name="T70" fmla="*/ 317 w 1138"/>
                  <a:gd name="T71" fmla="*/ 899 h 995"/>
                  <a:gd name="T72" fmla="*/ 275 w 1138"/>
                  <a:gd name="T73" fmla="*/ 878 h 995"/>
                  <a:gd name="T74" fmla="*/ 219 w 1138"/>
                  <a:gd name="T75" fmla="*/ 861 h 995"/>
                  <a:gd name="T76" fmla="*/ 151 w 1138"/>
                  <a:gd name="T77" fmla="*/ 851 h 995"/>
                  <a:gd name="T78" fmla="*/ 86 w 1138"/>
                  <a:gd name="T79" fmla="*/ 827 h 995"/>
                  <a:gd name="T80" fmla="*/ 18 w 1138"/>
                  <a:gd name="T81" fmla="*/ 764 h 995"/>
                  <a:gd name="T82" fmla="*/ 0 w 1138"/>
                  <a:gd name="T83" fmla="*/ 678 h 995"/>
                  <a:gd name="T84" fmla="*/ 15 w 1138"/>
                  <a:gd name="T85" fmla="*/ 590 h 995"/>
                  <a:gd name="T86" fmla="*/ 52 w 1138"/>
                  <a:gd name="T87" fmla="*/ 520 h 995"/>
                  <a:gd name="T88" fmla="*/ 110 w 1138"/>
                  <a:gd name="T89" fmla="*/ 462 h 995"/>
                  <a:gd name="T90" fmla="*/ 166 w 1138"/>
                  <a:gd name="T91" fmla="*/ 392 h 995"/>
                  <a:gd name="T92" fmla="*/ 217 w 1138"/>
                  <a:gd name="T93" fmla="*/ 316 h 995"/>
                  <a:gd name="T94" fmla="*/ 263 w 1138"/>
                  <a:gd name="T95" fmla="*/ 239 h 995"/>
                  <a:gd name="T96" fmla="*/ 308 w 1138"/>
                  <a:gd name="T97" fmla="*/ 156 h 995"/>
                  <a:gd name="T98" fmla="*/ 365 w 1138"/>
                  <a:gd name="T99" fmla="*/ 58 h 995"/>
                  <a:gd name="T100" fmla="*/ 413 w 1138"/>
                  <a:gd name="T101" fmla="*/ 5 h 99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38"/>
                  <a:gd name="T154" fmla="*/ 0 h 995"/>
                  <a:gd name="T155" fmla="*/ 1138 w 1138"/>
                  <a:gd name="T156" fmla="*/ 995 h 99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38" h="995">
                    <a:moveTo>
                      <a:pt x="413" y="5"/>
                    </a:moveTo>
                    <a:lnTo>
                      <a:pt x="429" y="2"/>
                    </a:lnTo>
                    <a:lnTo>
                      <a:pt x="444" y="1"/>
                    </a:lnTo>
                    <a:lnTo>
                      <a:pt x="460" y="0"/>
                    </a:lnTo>
                    <a:lnTo>
                      <a:pt x="475" y="0"/>
                    </a:lnTo>
                    <a:lnTo>
                      <a:pt x="490" y="0"/>
                    </a:lnTo>
                    <a:lnTo>
                      <a:pt x="504" y="2"/>
                    </a:lnTo>
                    <a:lnTo>
                      <a:pt x="518" y="5"/>
                    </a:lnTo>
                    <a:lnTo>
                      <a:pt x="532" y="10"/>
                    </a:lnTo>
                    <a:lnTo>
                      <a:pt x="554" y="20"/>
                    </a:lnTo>
                    <a:lnTo>
                      <a:pt x="578" y="31"/>
                    </a:lnTo>
                    <a:lnTo>
                      <a:pt x="600" y="40"/>
                    </a:lnTo>
                    <a:lnTo>
                      <a:pt x="623" y="49"/>
                    </a:lnTo>
                    <a:lnTo>
                      <a:pt x="645" y="57"/>
                    </a:lnTo>
                    <a:lnTo>
                      <a:pt x="668" y="66"/>
                    </a:lnTo>
                    <a:lnTo>
                      <a:pt x="692" y="72"/>
                    </a:lnTo>
                    <a:lnTo>
                      <a:pt x="714" y="79"/>
                    </a:lnTo>
                    <a:lnTo>
                      <a:pt x="737" y="85"/>
                    </a:lnTo>
                    <a:lnTo>
                      <a:pt x="760" y="92"/>
                    </a:lnTo>
                    <a:lnTo>
                      <a:pt x="785" y="97"/>
                    </a:lnTo>
                    <a:lnTo>
                      <a:pt x="808" y="101"/>
                    </a:lnTo>
                    <a:lnTo>
                      <a:pt x="833" y="105"/>
                    </a:lnTo>
                    <a:lnTo>
                      <a:pt x="857" y="108"/>
                    </a:lnTo>
                    <a:lnTo>
                      <a:pt x="882" y="111"/>
                    </a:lnTo>
                    <a:lnTo>
                      <a:pt x="906" y="114"/>
                    </a:lnTo>
                    <a:lnTo>
                      <a:pt x="930" y="119"/>
                    </a:lnTo>
                    <a:lnTo>
                      <a:pt x="953" y="125"/>
                    </a:lnTo>
                    <a:lnTo>
                      <a:pt x="975" y="136"/>
                    </a:lnTo>
                    <a:lnTo>
                      <a:pt x="994" y="147"/>
                    </a:lnTo>
                    <a:lnTo>
                      <a:pt x="1011" y="163"/>
                    </a:lnTo>
                    <a:lnTo>
                      <a:pt x="1024" y="181"/>
                    </a:lnTo>
                    <a:lnTo>
                      <a:pt x="1033" y="202"/>
                    </a:lnTo>
                    <a:lnTo>
                      <a:pt x="1036" y="228"/>
                    </a:lnTo>
                    <a:lnTo>
                      <a:pt x="1051" y="235"/>
                    </a:lnTo>
                    <a:lnTo>
                      <a:pt x="1067" y="243"/>
                    </a:lnTo>
                    <a:lnTo>
                      <a:pt x="1082" y="252"/>
                    </a:lnTo>
                    <a:lnTo>
                      <a:pt x="1097" y="263"/>
                    </a:lnTo>
                    <a:lnTo>
                      <a:pt x="1110" y="274"/>
                    </a:lnTo>
                    <a:lnTo>
                      <a:pt x="1120" y="287"/>
                    </a:lnTo>
                    <a:lnTo>
                      <a:pt x="1129" y="303"/>
                    </a:lnTo>
                    <a:lnTo>
                      <a:pt x="1134" y="321"/>
                    </a:lnTo>
                    <a:lnTo>
                      <a:pt x="1137" y="342"/>
                    </a:lnTo>
                    <a:lnTo>
                      <a:pt x="1138" y="364"/>
                    </a:lnTo>
                    <a:lnTo>
                      <a:pt x="1137" y="384"/>
                    </a:lnTo>
                    <a:lnTo>
                      <a:pt x="1134" y="405"/>
                    </a:lnTo>
                    <a:lnTo>
                      <a:pt x="1128" y="426"/>
                    </a:lnTo>
                    <a:lnTo>
                      <a:pt x="1120" y="445"/>
                    </a:lnTo>
                    <a:lnTo>
                      <a:pt x="1111" y="463"/>
                    </a:lnTo>
                    <a:lnTo>
                      <a:pt x="1098" y="482"/>
                    </a:lnTo>
                    <a:lnTo>
                      <a:pt x="1082" y="498"/>
                    </a:lnTo>
                    <a:lnTo>
                      <a:pt x="1068" y="515"/>
                    </a:lnTo>
                    <a:lnTo>
                      <a:pt x="1053" y="533"/>
                    </a:lnTo>
                    <a:lnTo>
                      <a:pt x="1040" y="550"/>
                    </a:lnTo>
                    <a:lnTo>
                      <a:pt x="1026" y="568"/>
                    </a:lnTo>
                    <a:lnTo>
                      <a:pt x="1011" y="586"/>
                    </a:lnTo>
                    <a:lnTo>
                      <a:pt x="998" y="606"/>
                    </a:lnTo>
                    <a:lnTo>
                      <a:pt x="984" y="627"/>
                    </a:lnTo>
                    <a:lnTo>
                      <a:pt x="978" y="634"/>
                    </a:lnTo>
                    <a:lnTo>
                      <a:pt x="971" y="641"/>
                    </a:lnTo>
                    <a:lnTo>
                      <a:pt x="965" y="646"/>
                    </a:lnTo>
                    <a:lnTo>
                      <a:pt x="960" y="653"/>
                    </a:lnTo>
                    <a:lnTo>
                      <a:pt x="953" y="659"/>
                    </a:lnTo>
                    <a:lnTo>
                      <a:pt x="947" y="664"/>
                    </a:lnTo>
                    <a:lnTo>
                      <a:pt x="941" y="671"/>
                    </a:lnTo>
                    <a:lnTo>
                      <a:pt x="938" y="678"/>
                    </a:lnTo>
                    <a:lnTo>
                      <a:pt x="918" y="712"/>
                    </a:lnTo>
                    <a:lnTo>
                      <a:pt x="900" y="742"/>
                    </a:lnTo>
                    <a:lnTo>
                      <a:pt x="882" y="770"/>
                    </a:lnTo>
                    <a:lnTo>
                      <a:pt x="864" y="796"/>
                    </a:lnTo>
                    <a:lnTo>
                      <a:pt x="844" y="824"/>
                    </a:lnTo>
                    <a:lnTo>
                      <a:pt x="824" y="851"/>
                    </a:lnTo>
                    <a:lnTo>
                      <a:pt x="802" y="881"/>
                    </a:lnTo>
                    <a:lnTo>
                      <a:pt x="777" y="912"/>
                    </a:lnTo>
                    <a:lnTo>
                      <a:pt x="769" y="919"/>
                    </a:lnTo>
                    <a:lnTo>
                      <a:pt x="763" y="927"/>
                    </a:lnTo>
                    <a:lnTo>
                      <a:pt x="755" y="936"/>
                    </a:lnTo>
                    <a:lnTo>
                      <a:pt x="749" y="943"/>
                    </a:lnTo>
                    <a:lnTo>
                      <a:pt x="741" y="950"/>
                    </a:lnTo>
                    <a:lnTo>
                      <a:pt x="733" y="956"/>
                    </a:lnTo>
                    <a:lnTo>
                      <a:pt x="724" y="961"/>
                    </a:lnTo>
                    <a:lnTo>
                      <a:pt x="715" y="963"/>
                    </a:lnTo>
                    <a:lnTo>
                      <a:pt x="699" y="967"/>
                    </a:lnTo>
                    <a:lnTo>
                      <a:pt x="684" y="971"/>
                    </a:lnTo>
                    <a:lnTo>
                      <a:pt x="670" y="975"/>
                    </a:lnTo>
                    <a:lnTo>
                      <a:pt x="655" y="979"/>
                    </a:lnTo>
                    <a:lnTo>
                      <a:pt x="641" y="983"/>
                    </a:lnTo>
                    <a:lnTo>
                      <a:pt x="627" y="985"/>
                    </a:lnTo>
                    <a:lnTo>
                      <a:pt x="613" y="989"/>
                    </a:lnTo>
                    <a:lnTo>
                      <a:pt x="598" y="991"/>
                    </a:lnTo>
                    <a:lnTo>
                      <a:pt x="584" y="993"/>
                    </a:lnTo>
                    <a:lnTo>
                      <a:pt x="570" y="995"/>
                    </a:lnTo>
                    <a:lnTo>
                      <a:pt x="557" y="995"/>
                    </a:lnTo>
                    <a:lnTo>
                      <a:pt x="543" y="995"/>
                    </a:lnTo>
                    <a:lnTo>
                      <a:pt x="528" y="993"/>
                    </a:lnTo>
                    <a:lnTo>
                      <a:pt x="514" y="992"/>
                    </a:lnTo>
                    <a:lnTo>
                      <a:pt x="500" y="988"/>
                    </a:lnTo>
                    <a:lnTo>
                      <a:pt x="486" y="984"/>
                    </a:lnTo>
                    <a:lnTo>
                      <a:pt x="475" y="980"/>
                    </a:lnTo>
                    <a:lnTo>
                      <a:pt x="464" y="975"/>
                    </a:lnTo>
                    <a:lnTo>
                      <a:pt x="451" y="969"/>
                    </a:lnTo>
                    <a:lnTo>
                      <a:pt x="437" y="961"/>
                    </a:lnTo>
                    <a:lnTo>
                      <a:pt x="421" y="953"/>
                    </a:lnTo>
                    <a:lnTo>
                      <a:pt x="404" y="944"/>
                    </a:lnTo>
                    <a:lnTo>
                      <a:pt x="386" y="935"/>
                    </a:lnTo>
                    <a:lnTo>
                      <a:pt x="369" y="925"/>
                    </a:lnTo>
                    <a:lnTo>
                      <a:pt x="352" y="915"/>
                    </a:lnTo>
                    <a:lnTo>
                      <a:pt x="334" y="906"/>
                    </a:lnTo>
                    <a:lnTo>
                      <a:pt x="317" y="899"/>
                    </a:lnTo>
                    <a:lnTo>
                      <a:pt x="302" y="890"/>
                    </a:lnTo>
                    <a:lnTo>
                      <a:pt x="288" y="883"/>
                    </a:lnTo>
                    <a:lnTo>
                      <a:pt x="275" y="878"/>
                    </a:lnTo>
                    <a:lnTo>
                      <a:pt x="263" y="873"/>
                    </a:lnTo>
                    <a:lnTo>
                      <a:pt x="253" y="870"/>
                    </a:lnTo>
                    <a:lnTo>
                      <a:pt x="219" y="861"/>
                    </a:lnTo>
                    <a:lnTo>
                      <a:pt x="193" y="856"/>
                    </a:lnTo>
                    <a:lnTo>
                      <a:pt x="170" y="853"/>
                    </a:lnTo>
                    <a:lnTo>
                      <a:pt x="151" y="851"/>
                    </a:lnTo>
                    <a:lnTo>
                      <a:pt x="131" y="847"/>
                    </a:lnTo>
                    <a:lnTo>
                      <a:pt x="110" y="839"/>
                    </a:lnTo>
                    <a:lnTo>
                      <a:pt x="86" y="827"/>
                    </a:lnTo>
                    <a:lnTo>
                      <a:pt x="56" y="808"/>
                    </a:lnTo>
                    <a:lnTo>
                      <a:pt x="34" y="789"/>
                    </a:lnTo>
                    <a:lnTo>
                      <a:pt x="18" y="764"/>
                    </a:lnTo>
                    <a:lnTo>
                      <a:pt x="8" y="738"/>
                    </a:lnTo>
                    <a:lnTo>
                      <a:pt x="3" y="708"/>
                    </a:lnTo>
                    <a:lnTo>
                      <a:pt x="0" y="678"/>
                    </a:lnTo>
                    <a:lnTo>
                      <a:pt x="3" y="649"/>
                    </a:lnTo>
                    <a:lnTo>
                      <a:pt x="8" y="619"/>
                    </a:lnTo>
                    <a:lnTo>
                      <a:pt x="15" y="590"/>
                    </a:lnTo>
                    <a:lnTo>
                      <a:pt x="22" y="564"/>
                    </a:lnTo>
                    <a:lnTo>
                      <a:pt x="35" y="541"/>
                    </a:lnTo>
                    <a:lnTo>
                      <a:pt x="52" y="520"/>
                    </a:lnTo>
                    <a:lnTo>
                      <a:pt x="70" y="501"/>
                    </a:lnTo>
                    <a:lnTo>
                      <a:pt x="90" y="482"/>
                    </a:lnTo>
                    <a:lnTo>
                      <a:pt x="110" y="462"/>
                    </a:lnTo>
                    <a:lnTo>
                      <a:pt x="131" y="441"/>
                    </a:lnTo>
                    <a:lnTo>
                      <a:pt x="149" y="419"/>
                    </a:lnTo>
                    <a:lnTo>
                      <a:pt x="166" y="392"/>
                    </a:lnTo>
                    <a:lnTo>
                      <a:pt x="183" y="366"/>
                    </a:lnTo>
                    <a:lnTo>
                      <a:pt x="200" y="342"/>
                    </a:lnTo>
                    <a:lnTo>
                      <a:pt x="217" y="316"/>
                    </a:lnTo>
                    <a:lnTo>
                      <a:pt x="232" y="290"/>
                    </a:lnTo>
                    <a:lnTo>
                      <a:pt x="248" y="265"/>
                    </a:lnTo>
                    <a:lnTo>
                      <a:pt x="263" y="239"/>
                    </a:lnTo>
                    <a:lnTo>
                      <a:pt x="279" y="212"/>
                    </a:lnTo>
                    <a:lnTo>
                      <a:pt x="292" y="187"/>
                    </a:lnTo>
                    <a:lnTo>
                      <a:pt x="308" y="156"/>
                    </a:lnTo>
                    <a:lnTo>
                      <a:pt x="327" y="123"/>
                    </a:lnTo>
                    <a:lnTo>
                      <a:pt x="346" y="89"/>
                    </a:lnTo>
                    <a:lnTo>
                      <a:pt x="365" y="58"/>
                    </a:lnTo>
                    <a:lnTo>
                      <a:pt x="384" y="31"/>
                    </a:lnTo>
                    <a:lnTo>
                      <a:pt x="400" y="13"/>
                    </a:lnTo>
                    <a:lnTo>
                      <a:pt x="413" y="5"/>
                    </a:lnTo>
                    <a:close/>
                  </a:path>
                </a:pathLst>
              </a:custGeom>
              <a:solidFill>
                <a:srgbClr val="FFFFD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39" name="Freeform 11"/>
              <p:cNvSpPr>
                <a:spLocks/>
              </p:cNvSpPr>
              <p:nvPr/>
            </p:nvSpPr>
            <p:spPr bwMode="auto">
              <a:xfrm>
                <a:off x="1356" y="2554"/>
                <a:ext cx="1055" cy="891"/>
              </a:xfrm>
              <a:custGeom>
                <a:avLst/>
                <a:gdLst>
                  <a:gd name="T0" fmla="*/ 1013 w 1055"/>
                  <a:gd name="T1" fmla="*/ 247 h 891"/>
                  <a:gd name="T2" fmla="*/ 1007 w 1055"/>
                  <a:gd name="T3" fmla="*/ 242 h 891"/>
                  <a:gd name="T4" fmla="*/ 986 w 1055"/>
                  <a:gd name="T5" fmla="*/ 227 h 891"/>
                  <a:gd name="T6" fmla="*/ 963 w 1055"/>
                  <a:gd name="T7" fmla="*/ 215 h 891"/>
                  <a:gd name="T8" fmla="*/ 962 w 1055"/>
                  <a:gd name="T9" fmla="*/ 189 h 891"/>
                  <a:gd name="T10" fmla="*/ 947 w 1055"/>
                  <a:gd name="T11" fmla="*/ 157 h 891"/>
                  <a:gd name="T12" fmla="*/ 918 w 1055"/>
                  <a:gd name="T13" fmla="*/ 145 h 891"/>
                  <a:gd name="T14" fmla="*/ 861 w 1055"/>
                  <a:gd name="T15" fmla="*/ 131 h 891"/>
                  <a:gd name="T16" fmla="*/ 804 w 1055"/>
                  <a:gd name="T17" fmla="*/ 118 h 891"/>
                  <a:gd name="T18" fmla="*/ 749 w 1055"/>
                  <a:gd name="T19" fmla="*/ 105 h 891"/>
                  <a:gd name="T20" fmla="*/ 707 w 1055"/>
                  <a:gd name="T21" fmla="*/ 95 h 891"/>
                  <a:gd name="T22" fmla="*/ 665 w 1055"/>
                  <a:gd name="T23" fmla="*/ 82 h 891"/>
                  <a:gd name="T24" fmla="*/ 622 w 1055"/>
                  <a:gd name="T25" fmla="*/ 65 h 891"/>
                  <a:gd name="T26" fmla="*/ 572 w 1055"/>
                  <a:gd name="T27" fmla="*/ 43 h 891"/>
                  <a:gd name="T28" fmla="*/ 516 w 1055"/>
                  <a:gd name="T29" fmla="*/ 21 h 891"/>
                  <a:gd name="T30" fmla="*/ 465 w 1055"/>
                  <a:gd name="T31" fmla="*/ 5 h 891"/>
                  <a:gd name="T32" fmla="*/ 423 w 1055"/>
                  <a:gd name="T33" fmla="*/ 0 h 891"/>
                  <a:gd name="T34" fmla="*/ 387 w 1055"/>
                  <a:gd name="T35" fmla="*/ 18 h 891"/>
                  <a:gd name="T36" fmla="*/ 343 w 1055"/>
                  <a:gd name="T37" fmla="*/ 69 h 891"/>
                  <a:gd name="T38" fmla="*/ 304 w 1055"/>
                  <a:gd name="T39" fmla="*/ 124 h 891"/>
                  <a:gd name="T40" fmla="*/ 266 w 1055"/>
                  <a:gd name="T41" fmla="*/ 175 h 891"/>
                  <a:gd name="T42" fmla="*/ 230 w 1055"/>
                  <a:gd name="T43" fmla="*/ 223 h 891"/>
                  <a:gd name="T44" fmla="*/ 198 w 1055"/>
                  <a:gd name="T45" fmla="*/ 273 h 891"/>
                  <a:gd name="T46" fmla="*/ 127 w 1055"/>
                  <a:gd name="T47" fmla="*/ 384 h 891"/>
                  <a:gd name="T48" fmla="*/ 36 w 1055"/>
                  <a:gd name="T49" fmla="*/ 513 h 891"/>
                  <a:gd name="T50" fmla="*/ 0 w 1055"/>
                  <a:gd name="T51" fmla="*/ 578 h 891"/>
                  <a:gd name="T52" fmla="*/ 9 w 1055"/>
                  <a:gd name="T53" fmla="*/ 624 h 891"/>
                  <a:gd name="T54" fmla="*/ 17 w 1055"/>
                  <a:gd name="T55" fmla="*/ 648 h 891"/>
                  <a:gd name="T56" fmla="*/ 33 w 1055"/>
                  <a:gd name="T57" fmla="*/ 688 h 891"/>
                  <a:gd name="T58" fmla="*/ 53 w 1055"/>
                  <a:gd name="T59" fmla="*/ 709 h 891"/>
                  <a:gd name="T60" fmla="*/ 101 w 1055"/>
                  <a:gd name="T61" fmla="*/ 729 h 891"/>
                  <a:gd name="T62" fmla="*/ 149 w 1055"/>
                  <a:gd name="T63" fmla="*/ 749 h 891"/>
                  <a:gd name="T64" fmla="*/ 198 w 1055"/>
                  <a:gd name="T65" fmla="*/ 767 h 891"/>
                  <a:gd name="T66" fmla="*/ 247 w 1055"/>
                  <a:gd name="T67" fmla="*/ 785 h 891"/>
                  <a:gd name="T68" fmla="*/ 295 w 1055"/>
                  <a:gd name="T69" fmla="*/ 803 h 891"/>
                  <a:gd name="T70" fmla="*/ 347 w 1055"/>
                  <a:gd name="T71" fmla="*/ 825 h 891"/>
                  <a:gd name="T72" fmla="*/ 400 w 1055"/>
                  <a:gd name="T73" fmla="*/ 847 h 891"/>
                  <a:gd name="T74" fmla="*/ 453 w 1055"/>
                  <a:gd name="T75" fmla="*/ 867 h 891"/>
                  <a:gd name="T76" fmla="*/ 531 w 1055"/>
                  <a:gd name="T77" fmla="*/ 887 h 891"/>
                  <a:gd name="T78" fmla="*/ 610 w 1055"/>
                  <a:gd name="T79" fmla="*/ 887 h 891"/>
                  <a:gd name="T80" fmla="*/ 669 w 1055"/>
                  <a:gd name="T81" fmla="*/ 851 h 891"/>
                  <a:gd name="T82" fmla="*/ 721 w 1055"/>
                  <a:gd name="T83" fmla="*/ 790 h 891"/>
                  <a:gd name="T84" fmla="*/ 780 w 1055"/>
                  <a:gd name="T85" fmla="*/ 707 h 891"/>
                  <a:gd name="T86" fmla="*/ 839 w 1055"/>
                  <a:gd name="T87" fmla="*/ 622 h 891"/>
                  <a:gd name="T88" fmla="*/ 887 w 1055"/>
                  <a:gd name="T89" fmla="*/ 549 h 891"/>
                  <a:gd name="T90" fmla="*/ 915 w 1055"/>
                  <a:gd name="T91" fmla="*/ 508 h 891"/>
                  <a:gd name="T92" fmla="*/ 978 w 1055"/>
                  <a:gd name="T93" fmla="*/ 426 h 891"/>
                  <a:gd name="T94" fmla="*/ 1038 w 1055"/>
                  <a:gd name="T95" fmla="*/ 349 h 891"/>
                  <a:gd name="T96" fmla="*/ 1055 w 1055"/>
                  <a:gd name="T97" fmla="*/ 312 h 891"/>
                  <a:gd name="T98" fmla="*/ 1048 w 1055"/>
                  <a:gd name="T99" fmla="*/ 277 h 891"/>
                  <a:gd name="T100" fmla="*/ 1025 w 1055"/>
                  <a:gd name="T101" fmla="*/ 254 h 8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55"/>
                  <a:gd name="T154" fmla="*/ 0 h 891"/>
                  <a:gd name="T155" fmla="*/ 1055 w 1055"/>
                  <a:gd name="T156" fmla="*/ 891 h 8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55" h="891">
                    <a:moveTo>
                      <a:pt x="1013" y="249"/>
                    </a:moveTo>
                    <a:lnTo>
                      <a:pt x="1013" y="247"/>
                    </a:lnTo>
                    <a:lnTo>
                      <a:pt x="1007" y="242"/>
                    </a:lnTo>
                    <a:lnTo>
                      <a:pt x="1000" y="237"/>
                    </a:lnTo>
                    <a:lnTo>
                      <a:pt x="993" y="232"/>
                    </a:lnTo>
                    <a:lnTo>
                      <a:pt x="986" y="227"/>
                    </a:lnTo>
                    <a:lnTo>
                      <a:pt x="978" y="223"/>
                    </a:lnTo>
                    <a:lnTo>
                      <a:pt x="971" y="219"/>
                    </a:lnTo>
                    <a:lnTo>
                      <a:pt x="963" y="215"/>
                    </a:lnTo>
                    <a:lnTo>
                      <a:pt x="955" y="213"/>
                    </a:lnTo>
                    <a:lnTo>
                      <a:pt x="960" y="201"/>
                    </a:lnTo>
                    <a:lnTo>
                      <a:pt x="962" y="189"/>
                    </a:lnTo>
                    <a:lnTo>
                      <a:pt x="960" y="176"/>
                    </a:lnTo>
                    <a:lnTo>
                      <a:pt x="955" y="165"/>
                    </a:lnTo>
                    <a:lnTo>
                      <a:pt x="947" y="157"/>
                    </a:lnTo>
                    <a:lnTo>
                      <a:pt x="938" y="152"/>
                    </a:lnTo>
                    <a:lnTo>
                      <a:pt x="928" y="148"/>
                    </a:lnTo>
                    <a:lnTo>
                      <a:pt x="918" y="145"/>
                    </a:lnTo>
                    <a:lnTo>
                      <a:pt x="898" y="140"/>
                    </a:lnTo>
                    <a:lnTo>
                      <a:pt x="879" y="135"/>
                    </a:lnTo>
                    <a:lnTo>
                      <a:pt x="861" y="131"/>
                    </a:lnTo>
                    <a:lnTo>
                      <a:pt x="841" y="127"/>
                    </a:lnTo>
                    <a:lnTo>
                      <a:pt x="823" y="122"/>
                    </a:lnTo>
                    <a:lnTo>
                      <a:pt x="804" y="118"/>
                    </a:lnTo>
                    <a:lnTo>
                      <a:pt x="784" y="114"/>
                    </a:lnTo>
                    <a:lnTo>
                      <a:pt x="765" y="109"/>
                    </a:lnTo>
                    <a:lnTo>
                      <a:pt x="749" y="105"/>
                    </a:lnTo>
                    <a:lnTo>
                      <a:pt x="735" y="102"/>
                    </a:lnTo>
                    <a:lnTo>
                      <a:pt x="721" y="99"/>
                    </a:lnTo>
                    <a:lnTo>
                      <a:pt x="707" y="95"/>
                    </a:lnTo>
                    <a:lnTo>
                      <a:pt x="692" y="91"/>
                    </a:lnTo>
                    <a:lnTo>
                      <a:pt x="678" y="87"/>
                    </a:lnTo>
                    <a:lnTo>
                      <a:pt x="665" y="82"/>
                    </a:lnTo>
                    <a:lnTo>
                      <a:pt x="651" y="77"/>
                    </a:lnTo>
                    <a:lnTo>
                      <a:pt x="638" y="71"/>
                    </a:lnTo>
                    <a:lnTo>
                      <a:pt x="622" y="65"/>
                    </a:lnTo>
                    <a:lnTo>
                      <a:pt x="607" y="57"/>
                    </a:lnTo>
                    <a:lnTo>
                      <a:pt x="589" y="51"/>
                    </a:lnTo>
                    <a:lnTo>
                      <a:pt x="572" y="43"/>
                    </a:lnTo>
                    <a:lnTo>
                      <a:pt x="553" y="35"/>
                    </a:lnTo>
                    <a:lnTo>
                      <a:pt x="534" y="29"/>
                    </a:lnTo>
                    <a:lnTo>
                      <a:pt x="516" y="21"/>
                    </a:lnTo>
                    <a:lnTo>
                      <a:pt x="498" y="16"/>
                    </a:lnTo>
                    <a:lnTo>
                      <a:pt x="481" y="10"/>
                    </a:lnTo>
                    <a:lnTo>
                      <a:pt x="465" y="5"/>
                    </a:lnTo>
                    <a:lnTo>
                      <a:pt x="449" y="3"/>
                    </a:lnTo>
                    <a:lnTo>
                      <a:pt x="435" y="0"/>
                    </a:lnTo>
                    <a:lnTo>
                      <a:pt x="423" y="0"/>
                    </a:lnTo>
                    <a:lnTo>
                      <a:pt x="413" y="1"/>
                    </a:lnTo>
                    <a:lnTo>
                      <a:pt x="405" y="5"/>
                    </a:lnTo>
                    <a:lnTo>
                      <a:pt x="387" y="18"/>
                    </a:lnTo>
                    <a:lnTo>
                      <a:pt x="371" y="34"/>
                    </a:lnTo>
                    <a:lnTo>
                      <a:pt x="357" y="51"/>
                    </a:lnTo>
                    <a:lnTo>
                      <a:pt x="343" y="69"/>
                    </a:lnTo>
                    <a:lnTo>
                      <a:pt x="330" y="88"/>
                    </a:lnTo>
                    <a:lnTo>
                      <a:pt x="317" y="106"/>
                    </a:lnTo>
                    <a:lnTo>
                      <a:pt x="304" y="124"/>
                    </a:lnTo>
                    <a:lnTo>
                      <a:pt x="291" y="143"/>
                    </a:lnTo>
                    <a:lnTo>
                      <a:pt x="278" y="159"/>
                    </a:lnTo>
                    <a:lnTo>
                      <a:pt x="266" y="175"/>
                    </a:lnTo>
                    <a:lnTo>
                      <a:pt x="254" y="190"/>
                    </a:lnTo>
                    <a:lnTo>
                      <a:pt x="242" y="206"/>
                    </a:lnTo>
                    <a:lnTo>
                      <a:pt x="230" y="223"/>
                    </a:lnTo>
                    <a:lnTo>
                      <a:pt x="219" y="238"/>
                    </a:lnTo>
                    <a:lnTo>
                      <a:pt x="208" y="255"/>
                    </a:lnTo>
                    <a:lnTo>
                      <a:pt x="198" y="273"/>
                    </a:lnTo>
                    <a:lnTo>
                      <a:pt x="181" y="303"/>
                    </a:lnTo>
                    <a:lnTo>
                      <a:pt x="156" y="341"/>
                    </a:lnTo>
                    <a:lnTo>
                      <a:pt x="127" y="384"/>
                    </a:lnTo>
                    <a:lnTo>
                      <a:pt x="96" y="429"/>
                    </a:lnTo>
                    <a:lnTo>
                      <a:pt x="65" y="473"/>
                    </a:lnTo>
                    <a:lnTo>
                      <a:pt x="36" y="513"/>
                    </a:lnTo>
                    <a:lnTo>
                      <a:pt x="14" y="545"/>
                    </a:lnTo>
                    <a:lnTo>
                      <a:pt x="0" y="567"/>
                    </a:lnTo>
                    <a:lnTo>
                      <a:pt x="0" y="578"/>
                    </a:lnTo>
                    <a:lnTo>
                      <a:pt x="4" y="597"/>
                    </a:lnTo>
                    <a:lnTo>
                      <a:pt x="8" y="615"/>
                    </a:lnTo>
                    <a:lnTo>
                      <a:pt x="9" y="624"/>
                    </a:lnTo>
                    <a:lnTo>
                      <a:pt x="10" y="628"/>
                    </a:lnTo>
                    <a:lnTo>
                      <a:pt x="13" y="637"/>
                    </a:lnTo>
                    <a:lnTo>
                      <a:pt x="17" y="648"/>
                    </a:lnTo>
                    <a:lnTo>
                      <a:pt x="22" y="661"/>
                    </a:lnTo>
                    <a:lnTo>
                      <a:pt x="27" y="675"/>
                    </a:lnTo>
                    <a:lnTo>
                      <a:pt x="33" y="688"/>
                    </a:lnTo>
                    <a:lnTo>
                      <a:pt x="40" y="698"/>
                    </a:lnTo>
                    <a:lnTo>
                      <a:pt x="48" y="706"/>
                    </a:lnTo>
                    <a:lnTo>
                      <a:pt x="53" y="709"/>
                    </a:lnTo>
                    <a:lnTo>
                      <a:pt x="68" y="716"/>
                    </a:lnTo>
                    <a:lnTo>
                      <a:pt x="85" y="723"/>
                    </a:lnTo>
                    <a:lnTo>
                      <a:pt x="101" y="729"/>
                    </a:lnTo>
                    <a:lnTo>
                      <a:pt x="116" y="737"/>
                    </a:lnTo>
                    <a:lnTo>
                      <a:pt x="133" y="744"/>
                    </a:lnTo>
                    <a:lnTo>
                      <a:pt x="149" y="749"/>
                    </a:lnTo>
                    <a:lnTo>
                      <a:pt x="166" y="755"/>
                    </a:lnTo>
                    <a:lnTo>
                      <a:pt x="181" y="762"/>
                    </a:lnTo>
                    <a:lnTo>
                      <a:pt x="198" y="767"/>
                    </a:lnTo>
                    <a:lnTo>
                      <a:pt x="213" y="773"/>
                    </a:lnTo>
                    <a:lnTo>
                      <a:pt x="230" y="780"/>
                    </a:lnTo>
                    <a:lnTo>
                      <a:pt x="247" y="785"/>
                    </a:lnTo>
                    <a:lnTo>
                      <a:pt x="263" y="792"/>
                    </a:lnTo>
                    <a:lnTo>
                      <a:pt x="279" y="797"/>
                    </a:lnTo>
                    <a:lnTo>
                      <a:pt x="295" y="803"/>
                    </a:lnTo>
                    <a:lnTo>
                      <a:pt x="312" y="810"/>
                    </a:lnTo>
                    <a:lnTo>
                      <a:pt x="330" y="817"/>
                    </a:lnTo>
                    <a:lnTo>
                      <a:pt x="347" y="825"/>
                    </a:lnTo>
                    <a:lnTo>
                      <a:pt x="365" y="833"/>
                    </a:lnTo>
                    <a:lnTo>
                      <a:pt x="382" y="839"/>
                    </a:lnTo>
                    <a:lnTo>
                      <a:pt x="400" y="847"/>
                    </a:lnTo>
                    <a:lnTo>
                      <a:pt x="417" y="855"/>
                    </a:lnTo>
                    <a:lnTo>
                      <a:pt x="435" y="861"/>
                    </a:lnTo>
                    <a:lnTo>
                      <a:pt x="453" y="867"/>
                    </a:lnTo>
                    <a:lnTo>
                      <a:pt x="479" y="874"/>
                    </a:lnTo>
                    <a:lnTo>
                      <a:pt x="505" y="881"/>
                    </a:lnTo>
                    <a:lnTo>
                      <a:pt x="531" y="887"/>
                    </a:lnTo>
                    <a:lnTo>
                      <a:pt x="558" y="891"/>
                    </a:lnTo>
                    <a:lnTo>
                      <a:pt x="584" y="891"/>
                    </a:lnTo>
                    <a:lnTo>
                      <a:pt x="610" y="887"/>
                    </a:lnTo>
                    <a:lnTo>
                      <a:pt x="633" y="880"/>
                    </a:lnTo>
                    <a:lnTo>
                      <a:pt x="656" y="864"/>
                    </a:lnTo>
                    <a:lnTo>
                      <a:pt x="669" y="851"/>
                    </a:lnTo>
                    <a:lnTo>
                      <a:pt x="685" y="834"/>
                    </a:lnTo>
                    <a:lnTo>
                      <a:pt x="701" y="814"/>
                    </a:lnTo>
                    <a:lnTo>
                      <a:pt x="721" y="790"/>
                    </a:lnTo>
                    <a:lnTo>
                      <a:pt x="740" y="764"/>
                    </a:lnTo>
                    <a:lnTo>
                      <a:pt x="760" y="736"/>
                    </a:lnTo>
                    <a:lnTo>
                      <a:pt x="780" y="707"/>
                    </a:lnTo>
                    <a:lnTo>
                      <a:pt x="800" y="678"/>
                    </a:lnTo>
                    <a:lnTo>
                      <a:pt x="819" y="649"/>
                    </a:lnTo>
                    <a:lnTo>
                      <a:pt x="839" y="622"/>
                    </a:lnTo>
                    <a:lnTo>
                      <a:pt x="857" y="595"/>
                    </a:lnTo>
                    <a:lnTo>
                      <a:pt x="872" y="570"/>
                    </a:lnTo>
                    <a:lnTo>
                      <a:pt x="887" y="549"/>
                    </a:lnTo>
                    <a:lnTo>
                      <a:pt x="899" y="531"/>
                    </a:lnTo>
                    <a:lnTo>
                      <a:pt x="909" y="517"/>
                    </a:lnTo>
                    <a:lnTo>
                      <a:pt x="915" y="508"/>
                    </a:lnTo>
                    <a:lnTo>
                      <a:pt x="933" y="483"/>
                    </a:lnTo>
                    <a:lnTo>
                      <a:pt x="955" y="456"/>
                    </a:lnTo>
                    <a:lnTo>
                      <a:pt x="978" y="426"/>
                    </a:lnTo>
                    <a:lnTo>
                      <a:pt x="1000" y="396"/>
                    </a:lnTo>
                    <a:lnTo>
                      <a:pt x="1021" y="371"/>
                    </a:lnTo>
                    <a:lnTo>
                      <a:pt x="1038" y="349"/>
                    </a:lnTo>
                    <a:lnTo>
                      <a:pt x="1050" y="333"/>
                    </a:lnTo>
                    <a:lnTo>
                      <a:pt x="1053" y="325"/>
                    </a:lnTo>
                    <a:lnTo>
                      <a:pt x="1055" y="312"/>
                    </a:lnTo>
                    <a:lnTo>
                      <a:pt x="1055" y="301"/>
                    </a:lnTo>
                    <a:lnTo>
                      <a:pt x="1052" y="289"/>
                    </a:lnTo>
                    <a:lnTo>
                      <a:pt x="1048" y="277"/>
                    </a:lnTo>
                    <a:lnTo>
                      <a:pt x="1042" y="268"/>
                    </a:lnTo>
                    <a:lnTo>
                      <a:pt x="1034" y="260"/>
                    </a:lnTo>
                    <a:lnTo>
                      <a:pt x="1025" y="254"/>
                    </a:lnTo>
                    <a:lnTo>
                      <a:pt x="1013" y="2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0" name="Freeform 12"/>
              <p:cNvSpPr>
                <a:spLocks/>
              </p:cNvSpPr>
              <p:nvPr/>
            </p:nvSpPr>
            <p:spPr bwMode="auto">
              <a:xfrm>
                <a:off x="2158" y="2782"/>
                <a:ext cx="151" cy="211"/>
              </a:xfrm>
              <a:custGeom>
                <a:avLst/>
                <a:gdLst>
                  <a:gd name="T0" fmla="*/ 151 w 151"/>
                  <a:gd name="T1" fmla="*/ 27 h 211"/>
                  <a:gd name="T2" fmla="*/ 148 w 151"/>
                  <a:gd name="T3" fmla="*/ 32 h 211"/>
                  <a:gd name="T4" fmla="*/ 141 w 151"/>
                  <a:gd name="T5" fmla="*/ 42 h 211"/>
                  <a:gd name="T6" fmla="*/ 131 w 151"/>
                  <a:gd name="T7" fmla="*/ 54 h 211"/>
                  <a:gd name="T8" fmla="*/ 118 w 151"/>
                  <a:gd name="T9" fmla="*/ 69 h 211"/>
                  <a:gd name="T10" fmla="*/ 105 w 151"/>
                  <a:gd name="T11" fmla="*/ 83 h 211"/>
                  <a:gd name="T12" fmla="*/ 95 w 151"/>
                  <a:gd name="T13" fmla="*/ 96 h 211"/>
                  <a:gd name="T14" fmla="*/ 88 w 151"/>
                  <a:gd name="T15" fmla="*/ 105 h 211"/>
                  <a:gd name="T16" fmla="*/ 86 w 151"/>
                  <a:gd name="T17" fmla="*/ 109 h 211"/>
                  <a:gd name="T18" fmla="*/ 87 w 151"/>
                  <a:gd name="T19" fmla="*/ 110 h 211"/>
                  <a:gd name="T20" fmla="*/ 91 w 151"/>
                  <a:gd name="T21" fmla="*/ 113 h 211"/>
                  <a:gd name="T22" fmla="*/ 96 w 151"/>
                  <a:gd name="T23" fmla="*/ 117 h 211"/>
                  <a:gd name="T24" fmla="*/ 104 w 151"/>
                  <a:gd name="T25" fmla="*/ 121 h 211"/>
                  <a:gd name="T26" fmla="*/ 113 w 151"/>
                  <a:gd name="T27" fmla="*/ 126 h 211"/>
                  <a:gd name="T28" fmla="*/ 122 w 151"/>
                  <a:gd name="T29" fmla="*/ 130 h 211"/>
                  <a:gd name="T30" fmla="*/ 131 w 151"/>
                  <a:gd name="T31" fmla="*/ 132 h 211"/>
                  <a:gd name="T32" fmla="*/ 141 w 151"/>
                  <a:gd name="T33" fmla="*/ 132 h 211"/>
                  <a:gd name="T34" fmla="*/ 134 w 151"/>
                  <a:gd name="T35" fmla="*/ 137 h 211"/>
                  <a:gd name="T36" fmla="*/ 126 w 151"/>
                  <a:gd name="T37" fmla="*/ 144 h 211"/>
                  <a:gd name="T38" fmla="*/ 119 w 151"/>
                  <a:gd name="T39" fmla="*/ 152 h 211"/>
                  <a:gd name="T40" fmla="*/ 113 w 151"/>
                  <a:gd name="T41" fmla="*/ 159 h 211"/>
                  <a:gd name="T42" fmla="*/ 109 w 151"/>
                  <a:gd name="T43" fmla="*/ 154 h 211"/>
                  <a:gd name="T44" fmla="*/ 105 w 151"/>
                  <a:gd name="T45" fmla="*/ 145 h 211"/>
                  <a:gd name="T46" fmla="*/ 100 w 151"/>
                  <a:gd name="T47" fmla="*/ 136 h 211"/>
                  <a:gd name="T48" fmla="*/ 99 w 151"/>
                  <a:gd name="T49" fmla="*/ 132 h 211"/>
                  <a:gd name="T50" fmla="*/ 95 w 151"/>
                  <a:gd name="T51" fmla="*/ 135 h 211"/>
                  <a:gd name="T52" fmla="*/ 87 w 151"/>
                  <a:gd name="T53" fmla="*/ 144 h 211"/>
                  <a:gd name="T54" fmla="*/ 75 w 151"/>
                  <a:gd name="T55" fmla="*/ 157 h 211"/>
                  <a:gd name="T56" fmla="*/ 64 w 151"/>
                  <a:gd name="T57" fmla="*/ 171 h 211"/>
                  <a:gd name="T58" fmla="*/ 51 w 151"/>
                  <a:gd name="T59" fmla="*/ 185 h 211"/>
                  <a:gd name="T60" fmla="*/ 41 w 151"/>
                  <a:gd name="T61" fmla="*/ 198 h 211"/>
                  <a:gd name="T62" fmla="*/ 33 w 151"/>
                  <a:gd name="T63" fmla="*/ 207 h 211"/>
                  <a:gd name="T64" fmla="*/ 30 w 151"/>
                  <a:gd name="T65" fmla="*/ 211 h 211"/>
                  <a:gd name="T66" fmla="*/ 20 w 151"/>
                  <a:gd name="T67" fmla="*/ 201 h 211"/>
                  <a:gd name="T68" fmla="*/ 11 w 151"/>
                  <a:gd name="T69" fmla="*/ 192 h 211"/>
                  <a:gd name="T70" fmla="*/ 3 w 151"/>
                  <a:gd name="T71" fmla="*/ 184 h 211"/>
                  <a:gd name="T72" fmla="*/ 0 w 151"/>
                  <a:gd name="T73" fmla="*/ 180 h 211"/>
                  <a:gd name="T74" fmla="*/ 17 w 151"/>
                  <a:gd name="T75" fmla="*/ 163 h 211"/>
                  <a:gd name="T76" fmla="*/ 37 w 151"/>
                  <a:gd name="T77" fmla="*/ 139 h 211"/>
                  <a:gd name="T78" fmla="*/ 57 w 151"/>
                  <a:gd name="T79" fmla="*/ 111 h 211"/>
                  <a:gd name="T80" fmla="*/ 79 w 151"/>
                  <a:gd name="T81" fmla="*/ 83 h 211"/>
                  <a:gd name="T82" fmla="*/ 100 w 151"/>
                  <a:gd name="T83" fmla="*/ 56 h 211"/>
                  <a:gd name="T84" fmla="*/ 118 w 151"/>
                  <a:gd name="T85" fmla="*/ 31 h 211"/>
                  <a:gd name="T86" fmla="*/ 132 w 151"/>
                  <a:gd name="T87" fmla="*/ 12 h 211"/>
                  <a:gd name="T88" fmla="*/ 141 w 151"/>
                  <a:gd name="T89" fmla="*/ 0 h 211"/>
                  <a:gd name="T90" fmla="*/ 144 w 151"/>
                  <a:gd name="T91" fmla="*/ 7 h 211"/>
                  <a:gd name="T92" fmla="*/ 145 w 151"/>
                  <a:gd name="T93" fmla="*/ 13 h 211"/>
                  <a:gd name="T94" fmla="*/ 148 w 151"/>
                  <a:gd name="T95" fmla="*/ 21 h 211"/>
                  <a:gd name="T96" fmla="*/ 151 w 151"/>
                  <a:gd name="T97" fmla="*/ 27 h 21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51"/>
                  <a:gd name="T148" fmla="*/ 0 h 211"/>
                  <a:gd name="T149" fmla="*/ 151 w 151"/>
                  <a:gd name="T150" fmla="*/ 211 h 21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51" h="211">
                    <a:moveTo>
                      <a:pt x="151" y="27"/>
                    </a:moveTo>
                    <a:lnTo>
                      <a:pt x="148" y="32"/>
                    </a:lnTo>
                    <a:lnTo>
                      <a:pt x="141" y="42"/>
                    </a:lnTo>
                    <a:lnTo>
                      <a:pt x="131" y="54"/>
                    </a:lnTo>
                    <a:lnTo>
                      <a:pt x="118" y="69"/>
                    </a:lnTo>
                    <a:lnTo>
                      <a:pt x="105" y="83"/>
                    </a:lnTo>
                    <a:lnTo>
                      <a:pt x="95" y="96"/>
                    </a:lnTo>
                    <a:lnTo>
                      <a:pt x="88" y="105"/>
                    </a:lnTo>
                    <a:lnTo>
                      <a:pt x="86" y="109"/>
                    </a:lnTo>
                    <a:lnTo>
                      <a:pt x="87" y="110"/>
                    </a:lnTo>
                    <a:lnTo>
                      <a:pt x="91" y="113"/>
                    </a:lnTo>
                    <a:lnTo>
                      <a:pt x="96" y="117"/>
                    </a:lnTo>
                    <a:lnTo>
                      <a:pt x="104" y="121"/>
                    </a:lnTo>
                    <a:lnTo>
                      <a:pt x="113" y="126"/>
                    </a:lnTo>
                    <a:lnTo>
                      <a:pt x="122" y="130"/>
                    </a:lnTo>
                    <a:lnTo>
                      <a:pt x="131" y="132"/>
                    </a:lnTo>
                    <a:lnTo>
                      <a:pt x="141" y="132"/>
                    </a:lnTo>
                    <a:lnTo>
                      <a:pt x="134" y="137"/>
                    </a:lnTo>
                    <a:lnTo>
                      <a:pt x="126" y="144"/>
                    </a:lnTo>
                    <a:lnTo>
                      <a:pt x="119" y="152"/>
                    </a:lnTo>
                    <a:lnTo>
                      <a:pt x="113" y="159"/>
                    </a:lnTo>
                    <a:lnTo>
                      <a:pt x="109" y="154"/>
                    </a:lnTo>
                    <a:lnTo>
                      <a:pt x="105" y="145"/>
                    </a:lnTo>
                    <a:lnTo>
                      <a:pt x="100" y="136"/>
                    </a:lnTo>
                    <a:lnTo>
                      <a:pt x="99" y="132"/>
                    </a:lnTo>
                    <a:lnTo>
                      <a:pt x="95" y="135"/>
                    </a:lnTo>
                    <a:lnTo>
                      <a:pt x="87" y="144"/>
                    </a:lnTo>
                    <a:lnTo>
                      <a:pt x="75" y="157"/>
                    </a:lnTo>
                    <a:lnTo>
                      <a:pt x="64" y="171"/>
                    </a:lnTo>
                    <a:lnTo>
                      <a:pt x="51" y="185"/>
                    </a:lnTo>
                    <a:lnTo>
                      <a:pt x="41" y="198"/>
                    </a:lnTo>
                    <a:lnTo>
                      <a:pt x="33" y="207"/>
                    </a:lnTo>
                    <a:lnTo>
                      <a:pt x="30" y="211"/>
                    </a:lnTo>
                    <a:lnTo>
                      <a:pt x="20" y="201"/>
                    </a:lnTo>
                    <a:lnTo>
                      <a:pt x="11" y="192"/>
                    </a:lnTo>
                    <a:lnTo>
                      <a:pt x="3" y="184"/>
                    </a:lnTo>
                    <a:lnTo>
                      <a:pt x="0" y="180"/>
                    </a:lnTo>
                    <a:lnTo>
                      <a:pt x="17" y="163"/>
                    </a:lnTo>
                    <a:lnTo>
                      <a:pt x="37" y="139"/>
                    </a:lnTo>
                    <a:lnTo>
                      <a:pt x="57" y="111"/>
                    </a:lnTo>
                    <a:lnTo>
                      <a:pt x="79" y="83"/>
                    </a:lnTo>
                    <a:lnTo>
                      <a:pt x="100" y="56"/>
                    </a:lnTo>
                    <a:lnTo>
                      <a:pt x="118" y="31"/>
                    </a:lnTo>
                    <a:lnTo>
                      <a:pt x="132" y="12"/>
                    </a:lnTo>
                    <a:lnTo>
                      <a:pt x="141" y="0"/>
                    </a:lnTo>
                    <a:lnTo>
                      <a:pt x="144" y="7"/>
                    </a:lnTo>
                    <a:lnTo>
                      <a:pt x="145" y="13"/>
                    </a:lnTo>
                    <a:lnTo>
                      <a:pt x="148" y="21"/>
                    </a:lnTo>
                    <a:lnTo>
                      <a:pt x="151" y="27"/>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1" name="Freeform 13"/>
              <p:cNvSpPr>
                <a:spLocks/>
              </p:cNvSpPr>
              <p:nvPr/>
            </p:nvSpPr>
            <p:spPr bwMode="auto">
              <a:xfrm>
                <a:off x="2271" y="2834"/>
                <a:ext cx="58" cy="65"/>
              </a:xfrm>
              <a:custGeom>
                <a:avLst/>
                <a:gdLst>
                  <a:gd name="T0" fmla="*/ 44 w 58"/>
                  <a:gd name="T1" fmla="*/ 0 h 65"/>
                  <a:gd name="T2" fmla="*/ 53 w 58"/>
                  <a:gd name="T3" fmla="*/ 17 h 65"/>
                  <a:gd name="T4" fmla="*/ 57 w 58"/>
                  <a:gd name="T5" fmla="*/ 31 h 65"/>
                  <a:gd name="T6" fmla="*/ 57 w 58"/>
                  <a:gd name="T7" fmla="*/ 41 h 65"/>
                  <a:gd name="T8" fmla="*/ 58 w 58"/>
                  <a:gd name="T9" fmla="*/ 47 h 65"/>
                  <a:gd name="T10" fmla="*/ 56 w 58"/>
                  <a:gd name="T11" fmla="*/ 52 h 65"/>
                  <a:gd name="T12" fmla="*/ 54 w 58"/>
                  <a:gd name="T13" fmla="*/ 56 h 65"/>
                  <a:gd name="T14" fmla="*/ 52 w 58"/>
                  <a:gd name="T15" fmla="*/ 58 h 65"/>
                  <a:gd name="T16" fmla="*/ 45 w 58"/>
                  <a:gd name="T17" fmla="*/ 61 h 65"/>
                  <a:gd name="T18" fmla="*/ 39 w 58"/>
                  <a:gd name="T19" fmla="*/ 63 h 65"/>
                  <a:gd name="T20" fmla="*/ 34 w 58"/>
                  <a:gd name="T21" fmla="*/ 65 h 65"/>
                  <a:gd name="T22" fmla="*/ 30 w 58"/>
                  <a:gd name="T23" fmla="*/ 65 h 65"/>
                  <a:gd name="T24" fmla="*/ 25 w 58"/>
                  <a:gd name="T25" fmla="*/ 63 h 65"/>
                  <a:gd name="T26" fmla="*/ 19 w 58"/>
                  <a:gd name="T27" fmla="*/ 61 h 65"/>
                  <a:gd name="T28" fmla="*/ 14 w 58"/>
                  <a:gd name="T29" fmla="*/ 58 h 65"/>
                  <a:gd name="T30" fmla="*/ 8 w 58"/>
                  <a:gd name="T31" fmla="*/ 56 h 65"/>
                  <a:gd name="T32" fmla="*/ 0 w 58"/>
                  <a:gd name="T33" fmla="*/ 52 h 65"/>
                  <a:gd name="T34" fmla="*/ 3 w 58"/>
                  <a:gd name="T35" fmla="*/ 48 h 65"/>
                  <a:gd name="T36" fmla="*/ 8 w 58"/>
                  <a:gd name="T37" fmla="*/ 40 h 65"/>
                  <a:gd name="T38" fmla="*/ 14 w 58"/>
                  <a:gd name="T39" fmla="*/ 32 h 65"/>
                  <a:gd name="T40" fmla="*/ 22 w 58"/>
                  <a:gd name="T41" fmla="*/ 22 h 65"/>
                  <a:gd name="T42" fmla="*/ 30 w 58"/>
                  <a:gd name="T43" fmla="*/ 13 h 65"/>
                  <a:gd name="T44" fmla="*/ 36 w 58"/>
                  <a:gd name="T45" fmla="*/ 6 h 65"/>
                  <a:gd name="T46" fmla="*/ 41 w 58"/>
                  <a:gd name="T47" fmla="*/ 1 h 65"/>
                  <a:gd name="T48" fmla="*/ 44 w 58"/>
                  <a:gd name="T49" fmla="*/ 0 h 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8"/>
                  <a:gd name="T76" fmla="*/ 0 h 65"/>
                  <a:gd name="T77" fmla="*/ 58 w 58"/>
                  <a:gd name="T78" fmla="*/ 65 h 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8" h="65">
                    <a:moveTo>
                      <a:pt x="44" y="0"/>
                    </a:moveTo>
                    <a:lnTo>
                      <a:pt x="53" y="17"/>
                    </a:lnTo>
                    <a:lnTo>
                      <a:pt x="57" y="31"/>
                    </a:lnTo>
                    <a:lnTo>
                      <a:pt x="57" y="41"/>
                    </a:lnTo>
                    <a:lnTo>
                      <a:pt x="58" y="47"/>
                    </a:lnTo>
                    <a:lnTo>
                      <a:pt x="56" y="52"/>
                    </a:lnTo>
                    <a:lnTo>
                      <a:pt x="54" y="56"/>
                    </a:lnTo>
                    <a:lnTo>
                      <a:pt x="52" y="58"/>
                    </a:lnTo>
                    <a:lnTo>
                      <a:pt x="45" y="61"/>
                    </a:lnTo>
                    <a:lnTo>
                      <a:pt x="39" y="63"/>
                    </a:lnTo>
                    <a:lnTo>
                      <a:pt x="34" y="65"/>
                    </a:lnTo>
                    <a:lnTo>
                      <a:pt x="30" y="65"/>
                    </a:lnTo>
                    <a:lnTo>
                      <a:pt x="25" y="63"/>
                    </a:lnTo>
                    <a:lnTo>
                      <a:pt x="19" y="61"/>
                    </a:lnTo>
                    <a:lnTo>
                      <a:pt x="14" y="58"/>
                    </a:lnTo>
                    <a:lnTo>
                      <a:pt x="8" y="56"/>
                    </a:lnTo>
                    <a:lnTo>
                      <a:pt x="0" y="52"/>
                    </a:lnTo>
                    <a:lnTo>
                      <a:pt x="3" y="48"/>
                    </a:lnTo>
                    <a:lnTo>
                      <a:pt x="8" y="40"/>
                    </a:lnTo>
                    <a:lnTo>
                      <a:pt x="14" y="32"/>
                    </a:lnTo>
                    <a:lnTo>
                      <a:pt x="22" y="22"/>
                    </a:lnTo>
                    <a:lnTo>
                      <a:pt x="30" y="13"/>
                    </a:lnTo>
                    <a:lnTo>
                      <a:pt x="36" y="6"/>
                    </a:lnTo>
                    <a:lnTo>
                      <a:pt x="41" y="1"/>
                    </a:lnTo>
                    <a:lnTo>
                      <a:pt x="44" y="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2" name="Freeform 14"/>
              <p:cNvSpPr>
                <a:spLocks/>
              </p:cNvSpPr>
              <p:nvPr/>
            </p:nvSpPr>
            <p:spPr bwMode="auto">
              <a:xfrm>
                <a:off x="2201" y="3015"/>
                <a:ext cx="34" cy="24"/>
              </a:xfrm>
              <a:custGeom>
                <a:avLst/>
                <a:gdLst>
                  <a:gd name="T0" fmla="*/ 34 w 34"/>
                  <a:gd name="T1" fmla="*/ 3 h 24"/>
                  <a:gd name="T2" fmla="*/ 29 w 34"/>
                  <a:gd name="T3" fmla="*/ 7 h 24"/>
                  <a:gd name="T4" fmla="*/ 23 w 34"/>
                  <a:gd name="T5" fmla="*/ 12 h 24"/>
                  <a:gd name="T6" fmla="*/ 20 w 34"/>
                  <a:gd name="T7" fmla="*/ 18 h 24"/>
                  <a:gd name="T8" fmla="*/ 16 w 34"/>
                  <a:gd name="T9" fmla="*/ 24 h 24"/>
                  <a:gd name="T10" fmla="*/ 12 w 34"/>
                  <a:gd name="T11" fmla="*/ 17 h 24"/>
                  <a:gd name="T12" fmla="*/ 8 w 34"/>
                  <a:gd name="T13" fmla="*/ 12 h 24"/>
                  <a:gd name="T14" fmla="*/ 4 w 34"/>
                  <a:gd name="T15" fmla="*/ 5 h 24"/>
                  <a:gd name="T16" fmla="*/ 0 w 34"/>
                  <a:gd name="T17" fmla="*/ 0 h 24"/>
                  <a:gd name="T18" fmla="*/ 8 w 34"/>
                  <a:gd name="T19" fmla="*/ 3 h 24"/>
                  <a:gd name="T20" fmla="*/ 17 w 34"/>
                  <a:gd name="T21" fmla="*/ 3 h 24"/>
                  <a:gd name="T22" fmla="*/ 25 w 34"/>
                  <a:gd name="T23" fmla="*/ 4 h 24"/>
                  <a:gd name="T24" fmla="*/ 34 w 34"/>
                  <a:gd name="T25" fmla="*/ 3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24"/>
                  <a:gd name="T41" fmla="*/ 34 w 34"/>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24">
                    <a:moveTo>
                      <a:pt x="34" y="3"/>
                    </a:moveTo>
                    <a:lnTo>
                      <a:pt x="29" y="7"/>
                    </a:lnTo>
                    <a:lnTo>
                      <a:pt x="23" y="12"/>
                    </a:lnTo>
                    <a:lnTo>
                      <a:pt x="20" y="18"/>
                    </a:lnTo>
                    <a:lnTo>
                      <a:pt x="16" y="24"/>
                    </a:lnTo>
                    <a:lnTo>
                      <a:pt x="12" y="17"/>
                    </a:lnTo>
                    <a:lnTo>
                      <a:pt x="8" y="12"/>
                    </a:lnTo>
                    <a:lnTo>
                      <a:pt x="4" y="5"/>
                    </a:lnTo>
                    <a:lnTo>
                      <a:pt x="0" y="0"/>
                    </a:lnTo>
                    <a:lnTo>
                      <a:pt x="8" y="3"/>
                    </a:lnTo>
                    <a:lnTo>
                      <a:pt x="17" y="3"/>
                    </a:lnTo>
                    <a:lnTo>
                      <a:pt x="25" y="4"/>
                    </a:lnTo>
                    <a:lnTo>
                      <a:pt x="34" y="3"/>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3" name="Freeform 15"/>
              <p:cNvSpPr>
                <a:spLocks/>
              </p:cNvSpPr>
              <p:nvPr/>
            </p:nvSpPr>
            <p:spPr bwMode="auto">
              <a:xfrm>
                <a:off x="1392" y="2572"/>
                <a:ext cx="892" cy="726"/>
              </a:xfrm>
              <a:custGeom>
                <a:avLst/>
                <a:gdLst>
                  <a:gd name="T0" fmla="*/ 199 w 892"/>
                  <a:gd name="T1" fmla="*/ 233 h 726"/>
                  <a:gd name="T2" fmla="*/ 232 w 892"/>
                  <a:gd name="T3" fmla="*/ 192 h 726"/>
                  <a:gd name="T4" fmla="*/ 265 w 892"/>
                  <a:gd name="T5" fmla="*/ 150 h 726"/>
                  <a:gd name="T6" fmla="*/ 303 w 892"/>
                  <a:gd name="T7" fmla="*/ 95 h 726"/>
                  <a:gd name="T8" fmla="*/ 338 w 892"/>
                  <a:gd name="T9" fmla="*/ 44 h 726"/>
                  <a:gd name="T10" fmla="*/ 379 w 892"/>
                  <a:gd name="T11" fmla="*/ 7 h 726"/>
                  <a:gd name="T12" fmla="*/ 403 w 892"/>
                  <a:gd name="T13" fmla="*/ 0 h 726"/>
                  <a:gd name="T14" fmla="*/ 482 w 892"/>
                  <a:gd name="T15" fmla="*/ 29 h 726"/>
                  <a:gd name="T16" fmla="*/ 555 w 892"/>
                  <a:gd name="T17" fmla="*/ 55 h 726"/>
                  <a:gd name="T18" fmla="*/ 624 w 892"/>
                  <a:gd name="T19" fmla="*/ 82 h 726"/>
                  <a:gd name="T20" fmla="*/ 673 w 892"/>
                  <a:gd name="T21" fmla="*/ 99 h 726"/>
                  <a:gd name="T22" fmla="*/ 721 w 892"/>
                  <a:gd name="T23" fmla="*/ 112 h 726"/>
                  <a:gd name="T24" fmla="*/ 770 w 892"/>
                  <a:gd name="T25" fmla="*/ 122 h 726"/>
                  <a:gd name="T26" fmla="*/ 819 w 892"/>
                  <a:gd name="T27" fmla="*/ 132 h 726"/>
                  <a:gd name="T28" fmla="*/ 873 w 892"/>
                  <a:gd name="T29" fmla="*/ 145 h 726"/>
                  <a:gd name="T30" fmla="*/ 892 w 892"/>
                  <a:gd name="T31" fmla="*/ 179 h 726"/>
                  <a:gd name="T32" fmla="*/ 874 w 892"/>
                  <a:gd name="T33" fmla="*/ 207 h 726"/>
                  <a:gd name="T34" fmla="*/ 860 w 892"/>
                  <a:gd name="T35" fmla="*/ 228 h 726"/>
                  <a:gd name="T36" fmla="*/ 843 w 892"/>
                  <a:gd name="T37" fmla="*/ 250 h 726"/>
                  <a:gd name="T38" fmla="*/ 799 w 892"/>
                  <a:gd name="T39" fmla="*/ 310 h 726"/>
                  <a:gd name="T40" fmla="*/ 755 w 892"/>
                  <a:gd name="T41" fmla="*/ 367 h 726"/>
                  <a:gd name="T42" fmla="*/ 729 w 892"/>
                  <a:gd name="T43" fmla="*/ 372 h 726"/>
                  <a:gd name="T44" fmla="*/ 687 w 892"/>
                  <a:gd name="T45" fmla="*/ 359 h 726"/>
                  <a:gd name="T46" fmla="*/ 645 w 892"/>
                  <a:gd name="T47" fmla="*/ 356 h 726"/>
                  <a:gd name="T48" fmla="*/ 610 w 892"/>
                  <a:gd name="T49" fmla="*/ 363 h 726"/>
                  <a:gd name="T50" fmla="*/ 586 w 892"/>
                  <a:gd name="T51" fmla="*/ 384 h 726"/>
                  <a:gd name="T52" fmla="*/ 577 w 892"/>
                  <a:gd name="T53" fmla="*/ 411 h 726"/>
                  <a:gd name="T54" fmla="*/ 598 w 892"/>
                  <a:gd name="T55" fmla="*/ 451 h 726"/>
                  <a:gd name="T56" fmla="*/ 646 w 892"/>
                  <a:gd name="T57" fmla="*/ 469 h 726"/>
                  <a:gd name="T58" fmla="*/ 674 w 892"/>
                  <a:gd name="T59" fmla="*/ 487 h 726"/>
                  <a:gd name="T60" fmla="*/ 619 w 892"/>
                  <a:gd name="T61" fmla="*/ 573 h 726"/>
                  <a:gd name="T62" fmla="*/ 533 w 892"/>
                  <a:gd name="T63" fmla="*/ 687 h 726"/>
                  <a:gd name="T64" fmla="*/ 492 w 892"/>
                  <a:gd name="T65" fmla="*/ 723 h 726"/>
                  <a:gd name="T66" fmla="*/ 466 w 892"/>
                  <a:gd name="T67" fmla="*/ 726 h 726"/>
                  <a:gd name="T68" fmla="*/ 443 w 892"/>
                  <a:gd name="T69" fmla="*/ 723 h 726"/>
                  <a:gd name="T70" fmla="*/ 370 w 892"/>
                  <a:gd name="T71" fmla="*/ 702 h 726"/>
                  <a:gd name="T72" fmla="*/ 304 w 892"/>
                  <a:gd name="T73" fmla="*/ 678 h 726"/>
                  <a:gd name="T74" fmla="*/ 268 w 892"/>
                  <a:gd name="T75" fmla="*/ 663 h 726"/>
                  <a:gd name="T76" fmla="*/ 216 w 892"/>
                  <a:gd name="T77" fmla="*/ 645 h 726"/>
                  <a:gd name="T78" fmla="*/ 163 w 892"/>
                  <a:gd name="T79" fmla="*/ 626 h 726"/>
                  <a:gd name="T80" fmla="*/ 111 w 892"/>
                  <a:gd name="T81" fmla="*/ 608 h 726"/>
                  <a:gd name="T82" fmla="*/ 58 w 892"/>
                  <a:gd name="T83" fmla="*/ 588 h 726"/>
                  <a:gd name="T84" fmla="*/ 7 w 892"/>
                  <a:gd name="T85" fmla="*/ 568 h 726"/>
                  <a:gd name="T86" fmla="*/ 1 w 892"/>
                  <a:gd name="T87" fmla="*/ 560 h 726"/>
                  <a:gd name="T88" fmla="*/ 44 w 892"/>
                  <a:gd name="T89" fmla="*/ 483 h 726"/>
                  <a:gd name="T90" fmla="*/ 115 w 892"/>
                  <a:gd name="T91" fmla="*/ 376 h 726"/>
                  <a:gd name="T92" fmla="*/ 181 w 892"/>
                  <a:gd name="T93" fmla="*/ 263 h 72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92"/>
                  <a:gd name="T142" fmla="*/ 0 h 726"/>
                  <a:gd name="T143" fmla="*/ 892 w 892"/>
                  <a:gd name="T144" fmla="*/ 726 h 72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92" h="726">
                    <a:moveTo>
                      <a:pt x="181" y="263"/>
                    </a:moveTo>
                    <a:lnTo>
                      <a:pt x="189" y="248"/>
                    </a:lnTo>
                    <a:lnTo>
                      <a:pt x="199" y="233"/>
                    </a:lnTo>
                    <a:lnTo>
                      <a:pt x="210" y="219"/>
                    </a:lnTo>
                    <a:lnTo>
                      <a:pt x="220" y="205"/>
                    </a:lnTo>
                    <a:lnTo>
                      <a:pt x="232" y="192"/>
                    </a:lnTo>
                    <a:lnTo>
                      <a:pt x="242" y="178"/>
                    </a:lnTo>
                    <a:lnTo>
                      <a:pt x="254" y="165"/>
                    </a:lnTo>
                    <a:lnTo>
                      <a:pt x="265" y="150"/>
                    </a:lnTo>
                    <a:lnTo>
                      <a:pt x="280" y="132"/>
                    </a:lnTo>
                    <a:lnTo>
                      <a:pt x="291" y="113"/>
                    </a:lnTo>
                    <a:lnTo>
                      <a:pt x="303" y="95"/>
                    </a:lnTo>
                    <a:lnTo>
                      <a:pt x="315" y="78"/>
                    </a:lnTo>
                    <a:lnTo>
                      <a:pt x="325" y="61"/>
                    </a:lnTo>
                    <a:lnTo>
                      <a:pt x="338" y="44"/>
                    </a:lnTo>
                    <a:lnTo>
                      <a:pt x="353" y="27"/>
                    </a:lnTo>
                    <a:lnTo>
                      <a:pt x="370" y="12"/>
                    </a:lnTo>
                    <a:lnTo>
                      <a:pt x="379" y="7"/>
                    </a:lnTo>
                    <a:lnTo>
                      <a:pt x="391" y="3"/>
                    </a:lnTo>
                    <a:lnTo>
                      <a:pt x="399" y="0"/>
                    </a:lnTo>
                    <a:lnTo>
                      <a:pt x="403" y="0"/>
                    </a:lnTo>
                    <a:lnTo>
                      <a:pt x="430" y="11"/>
                    </a:lnTo>
                    <a:lnTo>
                      <a:pt x="456" y="21"/>
                    </a:lnTo>
                    <a:lnTo>
                      <a:pt x="482" y="29"/>
                    </a:lnTo>
                    <a:lnTo>
                      <a:pt x="506" y="38"/>
                    </a:lnTo>
                    <a:lnTo>
                      <a:pt x="531" y="47"/>
                    </a:lnTo>
                    <a:lnTo>
                      <a:pt x="555" y="55"/>
                    </a:lnTo>
                    <a:lnTo>
                      <a:pt x="581" y="65"/>
                    </a:lnTo>
                    <a:lnTo>
                      <a:pt x="607" y="75"/>
                    </a:lnTo>
                    <a:lnTo>
                      <a:pt x="624" y="82"/>
                    </a:lnTo>
                    <a:lnTo>
                      <a:pt x="641" y="88"/>
                    </a:lnTo>
                    <a:lnTo>
                      <a:pt x="656" y="93"/>
                    </a:lnTo>
                    <a:lnTo>
                      <a:pt x="673" y="99"/>
                    </a:lnTo>
                    <a:lnTo>
                      <a:pt x="689" y="104"/>
                    </a:lnTo>
                    <a:lnTo>
                      <a:pt x="706" y="108"/>
                    </a:lnTo>
                    <a:lnTo>
                      <a:pt x="721" y="112"/>
                    </a:lnTo>
                    <a:lnTo>
                      <a:pt x="738" y="115"/>
                    </a:lnTo>
                    <a:lnTo>
                      <a:pt x="753" y="119"/>
                    </a:lnTo>
                    <a:lnTo>
                      <a:pt x="770" y="122"/>
                    </a:lnTo>
                    <a:lnTo>
                      <a:pt x="786" y="126"/>
                    </a:lnTo>
                    <a:lnTo>
                      <a:pt x="803" y="130"/>
                    </a:lnTo>
                    <a:lnTo>
                      <a:pt x="819" y="132"/>
                    </a:lnTo>
                    <a:lnTo>
                      <a:pt x="838" y="136"/>
                    </a:lnTo>
                    <a:lnTo>
                      <a:pt x="854" y="141"/>
                    </a:lnTo>
                    <a:lnTo>
                      <a:pt x="873" y="145"/>
                    </a:lnTo>
                    <a:lnTo>
                      <a:pt x="885" y="153"/>
                    </a:lnTo>
                    <a:lnTo>
                      <a:pt x="892" y="165"/>
                    </a:lnTo>
                    <a:lnTo>
                      <a:pt x="892" y="179"/>
                    </a:lnTo>
                    <a:lnTo>
                      <a:pt x="885" y="192"/>
                    </a:lnTo>
                    <a:lnTo>
                      <a:pt x="879" y="200"/>
                    </a:lnTo>
                    <a:lnTo>
                      <a:pt x="874" y="207"/>
                    </a:lnTo>
                    <a:lnTo>
                      <a:pt x="870" y="214"/>
                    </a:lnTo>
                    <a:lnTo>
                      <a:pt x="865" y="220"/>
                    </a:lnTo>
                    <a:lnTo>
                      <a:pt x="860" y="228"/>
                    </a:lnTo>
                    <a:lnTo>
                      <a:pt x="854" y="235"/>
                    </a:lnTo>
                    <a:lnTo>
                      <a:pt x="849" y="242"/>
                    </a:lnTo>
                    <a:lnTo>
                      <a:pt x="843" y="250"/>
                    </a:lnTo>
                    <a:lnTo>
                      <a:pt x="830" y="267"/>
                    </a:lnTo>
                    <a:lnTo>
                      <a:pt x="814" y="288"/>
                    </a:lnTo>
                    <a:lnTo>
                      <a:pt x="799" y="310"/>
                    </a:lnTo>
                    <a:lnTo>
                      <a:pt x="782" y="331"/>
                    </a:lnTo>
                    <a:lnTo>
                      <a:pt x="768" y="350"/>
                    </a:lnTo>
                    <a:lnTo>
                      <a:pt x="755" y="367"/>
                    </a:lnTo>
                    <a:lnTo>
                      <a:pt x="746" y="377"/>
                    </a:lnTo>
                    <a:lnTo>
                      <a:pt x="742" y="380"/>
                    </a:lnTo>
                    <a:lnTo>
                      <a:pt x="729" y="372"/>
                    </a:lnTo>
                    <a:lnTo>
                      <a:pt x="716" y="367"/>
                    </a:lnTo>
                    <a:lnTo>
                      <a:pt x="702" y="363"/>
                    </a:lnTo>
                    <a:lnTo>
                      <a:pt x="687" y="359"/>
                    </a:lnTo>
                    <a:lnTo>
                      <a:pt x="673" y="358"/>
                    </a:lnTo>
                    <a:lnTo>
                      <a:pt x="659" y="356"/>
                    </a:lnTo>
                    <a:lnTo>
                      <a:pt x="645" y="356"/>
                    </a:lnTo>
                    <a:lnTo>
                      <a:pt x="630" y="358"/>
                    </a:lnTo>
                    <a:lnTo>
                      <a:pt x="620" y="359"/>
                    </a:lnTo>
                    <a:lnTo>
                      <a:pt x="610" y="363"/>
                    </a:lnTo>
                    <a:lnTo>
                      <a:pt x="601" y="368"/>
                    </a:lnTo>
                    <a:lnTo>
                      <a:pt x="593" y="375"/>
                    </a:lnTo>
                    <a:lnTo>
                      <a:pt x="586" y="384"/>
                    </a:lnTo>
                    <a:lnTo>
                      <a:pt x="583" y="391"/>
                    </a:lnTo>
                    <a:lnTo>
                      <a:pt x="579" y="402"/>
                    </a:lnTo>
                    <a:lnTo>
                      <a:pt x="577" y="411"/>
                    </a:lnTo>
                    <a:lnTo>
                      <a:pt x="580" y="428"/>
                    </a:lnTo>
                    <a:lnTo>
                      <a:pt x="586" y="441"/>
                    </a:lnTo>
                    <a:lnTo>
                      <a:pt x="598" y="451"/>
                    </a:lnTo>
                    <a:lnTo>
                      <a:pt x="612" y="459"/>
                    </a:lnTo>
                    <a:lnTo>
                      <a:pt x="629" y="464"/>
                    </a:lnTo>
                    <a:lnTo>
                      <a:pt x="646" y="469"/>
                    </a:lnTo>
                    <a:lnTo>
                      <a:pt x="663" y="474"/>
                    </a:lnTo>
                    <a:lnTo>
                      <a:pt x="677" y="479"/>
                    </a:lnTo>
                    <a:lnTo>
                      <a:pt x="674" y="487"/>
                    </a:lnTo>
                    <a:lnTo>
                      <a:pt x="663" y="508"/>
                    </a:lnTo>
                    <a:lnTo>
                      <a:pt x="643" y="538"/>
                    </a:lnTo>
                    <a:lnTo>
                      <a:pt x="619" y="573"/>
                    </a:lnTo>
                    <a:lnTo>
                      <a:pt x="592" y="612"/>
                    </a:lnTo>
                    <a:lnTo>
                      <a:pt x="562" y="650"/>
                    </a:lnTo>
                    <a:lnTo>
                      <a:pt x="533" y="687"/>
                    </a:lnTo>
                    <a:lnTo>
                      <a:pt x="506" y="718"/>
                    </a:lnTo>
                    <a:lnTo>
                      <a:pt x="498" y="720"/>
                    </a:lnTo>
                    <a:lnTo>
                      <a:pt x="492" y="723"/>
                    </a:lnTo>
                    <a:lnTo>
                      <a:pt x="483" y="724"/>
                    </a:lnTo>
                    <a:lnTo>
                      <a:pt x="475" y="724"/>
                    </a:lnTo>
                    <a:lnTo>
                      <a:pt x="466" y="726"/>
                    </a:lnTo>
                    <a:lnTo>
                      <a:pt x="458" y="724"/>
                    </a:lnTo>
                    <a:lnTo>
                      <a:pt x="451" y="724"/>
                    </a:lnTo>
                    <a:lnTo>
                      <a:pt x="443" y="723"/>
                    </a:lnTo>
                    <a:lnTo>
                      <a:pt x="421" y="718"/>
                    </a:lnTo>
                    <a:lnTo>
                      <a:pt x="396" y="710"/>
                    </a:lnTo>
                    <a:lnTo>
                      <a:pt x="370" y="702"/>
                    </a:lnTo>
                    <a:lnTo>
                      <a:pt x="346" y="693"/>
                    </a:lnTo>
                    <a:lnTo>
                      <a:pt x="324" y="684"/>
                    </a:lnTo>
                    <a:lnTo>
                      <a:pt x="304" y="678"/>
                    </a:lnTo>
                    <a:lnTo>
                      <a:pt x="291" y="672"/>
                    </a:lnTo>
                    <a:lnTo>
                      <a:pt x="286" y="670"/>
                    </a:lnTo>
                    <a:lnTo>
                      <a:pt x="268" y="663"/>
                    </a:lnTo>
                    <a:lnTo>
                      <a:pt x="251" y="657"/>
                    </a:lnTo>
                    <a:lnTo>
                      <a:pt x="233" y="652"/>
                    </a:lnTo>
                    <a:lnTo>
                      <a:pt x="216" y="645"/>
                    </a:lnTo>
                    <a:lnTo>
                      <a:pt x="198" y="639"/>
                    </a:lnTo>
                    <a:lnTo>
                      <a:pt x="181" y="632"/>
                    </a:lnTo>
                    <a:lnTo>
                      <a:pt x="163" y="626"/>
                    </a:lnTo>
                    <a:lnTo>
                      <a:pt x="146" y="621"/>
                    </a:lnTo>
                    <a:lnTo>
                      <a:pt x="128" y="614"/>
                    </a:lnTo>
                    <a:lnTo>
                      <a:pt x="111" y="608"/>
                    </a:lnTo>
                    <a:lnTo>
                      <a:pt x="93" y="601"/>
                    </a:lnTo>
                    <a:lnTo>
                      <a:pt x="76" y="595"/>
                    </a:lnTo>
                    <a:lnTo>
                      <a:pt x="58" y="588"/>
                    </a:lnTo>
                    <a:lnTo>
                      <a:pt x="42" y="582"/>
                    </a:lnTo>
                    <a:lnTo>
                      <a:pt x="23" y="574"/>
                    </a:lnTo>
                    <a:lnTo>
                      <a:pt x="7" y="568"/>
                    </a:lnTo>
                    <a:lnTo>
                      <a:pt x="5" y="565"/>
                    </a:lnTo>
                    <a:lnTo>
                      <a:pt x="3" y="562"/>
                    </a:lnTo>
                    <a:lnTo>
                      <a:pt x="1" y="560"/>
                    </a:lnTo>
                    <a:lnTo>
                      <a:pt x="0" y="557"/>
                    </a:lnTo>
                    <a:lnTo>
                      <a:pt x="21" y="520"/>
                    </a:lnTo>
                    <a:lnTo>
                      <a:pt x="44" y="483"/>
                    </a:lnTo>
                    <a:lnTo>
                      <a:pt x="67" y="447"/>
                    </a:lnTo>
                    <a:lnTo>
                      <a:pt x="92" y="412"/>
                    </a:lnTo>
                    <a:lnTo>
                      <a:pt x="115" y="376"/>
                    </a:lnTo>
                    <a:lnTo>
                      <a:pt x="139" y="338"/>
                    </a:lnTo>
                    <a:lnTo>
                      <a:pt x="161" y="302"/>
                    </a:lnTo>
                    <a:lnTo>
                      <a:pt x="181" y="263"/>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4" name="Freeform 16"/>
              <p:cNvSpPr>
                <a:spLocks/>
              </p:cNvSpPr>
              <p:nvPr/>
            </p:nvSpPr>
            <p:spPr bwMode="auto">
              <a:xfrm>
                <a:off x="1387" y="3070"/>
                <a:ext cx="762" cy="308"/>
              </a:xfrm>
              <a:custGeom>
                <a:avLst/>
                <a:gdLst>
                  <a:gd name="T0" fmla="*/ 39 w 762"/>
                  <a:gd name="T1" fmla="*/ 99 h 308"/>
                  <a:gd name="T2" fmla="*/ 103 w 762"/>
                  <a:gd name="T3" fmla="*/ 128 h 308"/>
                  <a:gd name="T4" fmla="*/ 164 w 762"/>
                  <a:gd name="T5" fmla="*/ 152 h 308"/>
                  <a:gd name="T6" fmla="*/ 195 w 762"/>
                  <a:gd name="T7" fmla="*/ 164 h 308"/>
                  <a:gd name="T8" fmla="*/ 250 w 762"/>
                  <a:gd name="T9" fmla="*/ 184 h 308"/>
                  <a:gd name="T10" fmla="*/ 316 w 762"/>
                  <a:gd name="T11" fmla="*/ 208 h 308"/>
                  <a:gd name="T12" fmla="*/ 382 w 762"/>
                  <a:gd name="T13" fmla="*/ 230 h 308"/>
                  <a:gd name="T14" fmla="*/ 435 w 762"/>
                  <a:gd name="T15" fmla="*/ 244 h 308"/>
                  <a:gd name="T16" fmla="*/ 467 w 762"/>
                  <a:gd name="T17" fmla="*/ 251 h 308"/>
                  <a:gd name="T18" fmla="*/ 494 w 762"/>
                  <a:gd name="T19" fmla="*/ 256 h 308"/>
                  <a:gd name="T20" fmla="*/ 520 w 762"/>
                  <a:gd name="T21" fmla="*/ 252 h 308"/>
                  <a:gd name="T22" fmla="*/ 569 w 762"/>
                  <a:gd name="T23" fmla="*/ 190 h 308"/>
                  <a:gd name="T24" fmla="*/ 616 w 762"/>
                  <a:gd name="T25" fmla="*/ 121 h 308"/>
                  <a:gd name="T26" fmla="*/ 656 w 762"/>
                  <a:gd name="T27" fmla="*/ 66 h 308"/>
                  <a:gd name="T28" fmla="*/ 689 w 762"/>
                  <a:gd name="T29" fmla="*/ 26 h 308"/>
                  <a:gd name="T30" fmla="*/ 714 w 762"/>
                  <a:gd name="T31" fmla="*/ 0 h 308"/>
                  <a:gd name="T32" fmla="*/ 729 w 762"/>
                  <a:gd name="T33" fmla="*/ 11 h 308"/>
                  <a:gd name="T34" fmla="*/ 747 w 762"/>
                  <a:gd name="T35" fmla="*/ 32 h 308"/>
                  <a:gd name="T36" fmla="*/ 762 w 762"/>
                  <a:gd name="T37" fmla="*/ 50 h 308"/>
                  <a:gd name="T38" fmla="*/ 745 w 762"/>
                  <a:gd name="T39" fmla="*/ 73 h 308"/>
                  <a:gd name="T40" fmla="*/ 726 w 762"/>
                  <a:gd name="T41" fmla="*/ 64 h 308"/>
                  <a:gd name="T42" fmla="*/ 712 w 762"/>
                  <a:gd name="T43" fmla="*/ 54 h 308"/>
                  <a:gd name="T44" fmla="*/ 685 w 762"/>
                  <a:gd name="T45" fmla="*/ 89 h 308"/>
                  <a:gd name="T46" fmla="*/ 656 w 762"/>
                  <a:gd name="T47" fmla="*/ 130 h 308"/>
                  <a:gd name="T48" fmla="*/ 656 w 762"/>
                  <a:gd name="T49" fmla="*/ 140 h 308"/>
                  <a:gd name="T50" fmla="*/ 677 w 762"/>
                  <a:gd name="T51" fmla="*/ 147 h 308"/>
                  <a:gd name="T52" fmla="*/ 701 w 762"/>
                  <a:gd name="T53" fmla="*/ 147 h 308"/>
                  <a:gd name="T54" fmla="*/ 686 w 762"/>
                  <a:gd name="T55" fmla="*/ 169 h 308"/>
                  <a:gd name="T56" fmla="*/ 669 w 762"/>
                  <a:gd name="T57" fmla="*/ 190 h 308"/>
                  <a:gd name="T58" fmla="*/ 652 w 762"/>
                  <a:gd name="T59" fmla="*/ 191 h 308"/>
                  <a:gd name="T60" fmla="*/ 633 w 762"/>
                  <a:gd name="T61" fmla="*/ 154 h 308"/>
                  <a:gd name="T62" fmla="*/ 610 w 762"/>
                  <a:gd name="T63" fmla="*/ 180 h 308"/>
                  <a:gd name="T64" fmla="*/ 572 w 762"/>
                  <a:gd name="T65" fmla="*/ 225 h 308"/>
                  <a:gd name="T66" fmla="*/ 562 w 762"/>
                  <a:gd name="T67" fmla="*/ 243 h 308"/>
                  <a:gd name="T68" fmla="*/ 579 w 762"/>
                  <a:gd name="T69" fmla="*/ 251 h 308"/>
                  <a:gd name="T70" fmla="*/ 602 w 762"/>
                  <a:gd name="T71" fmla="*/ 256 h 308"/>
                  <a:gd name="T72" fmla="*/ 590 w 762"/>
                  <a:gd name="T73" fmla="*/ 276 h 308"/>
                  <a:gd name="T74" fmla="*/ 568 w 762"/>
                  <a:gd name="T75" fmla="*/ 296 h 308"/>
                  <a:gd name="T76" fmla="*/ 558 w 762"/>
                  <a:gd name="T77" fmla="*/ 308 h 308"/>
                  <a:gd name="T78" fmla="*/ 479 w 762"/>
                  <a:gd name="T79" fmla="*/ 294 h 308"/>
                  <a:gd name="T80" fmla="*/ 375 w 762"/>
                  <a:gd name="T81" fmla="*/ 265 h 308"/>
                  <a:gd name="T82" fmla="*/ 264 w 762"/>
                  <a:gd name="T83" fmla="*/ 228 h 308"/>
                  <a:gd name="T84" fmla="*/ 163 w 762"/>
                  <a:gd name="T85" fmla="*/ 189 h 308"/>
                  <a:gd name="T86" fmla="*/ 88 w 762"/>
                  <a:gd name="T87" fmla="*/ 155 h 308"/>
                  <a:gd name="T88" fmla="*/ 57 w 762"/>
                  <a:gd name="T89" fmla="*/ 140 h 308"/>
                  <a:gd name="T90" fmla="*/ 26 w 762"/>
                  <a:gd name="T91" fmla="*/ 128 h 308"/>
                  <a:gd name="T92" fmla="*/ 9 w 762"/>
                  <a:gd name="T93" fmla="*/ 123 h 308"/>
                  <a:gd name="T94" fmla="*/ 2 w 762"/>
                  <a:gd name="T95" fmla="*/ 90 h 30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62"/>
                  <a:gd name="T145" fmla="*/ 0 h 308"/>
                  <a:gd name="T146" fmla="*/ 762 w 762"/>
                  <a:gd name="T147" fmla="*/ 308 h 30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62" h="308">
                    <a:moveTo>
                      <a:pt x="0" y="84"/>
                    </a:moveTo>
                    <a:lnTo>
                      <a:pt x="18" y="92"/>
                    </a:lnTo>
                    <a:lnTo>
                      <a:pt x="39" y="99"/>
                    </a:lnTo>
                    <a:lnTo>
                      <a:pt x="61" y="108"/>
                    </a:lnTo>
                    <a:lnTo>
                      <a:pt x="83" y="118"/>
                    </a:lnTo>
                    <a:lnTo>
                      <a:pt x="103" y="128"/>
                    </a:lnTo>
                    <a:lnTo>
                      <a:pt x="125" y="136"/>
                    </a:lnTo>
                    <a:lnTo>
                      <a:pt x="146" y="145"/>
                    </a:lnTo>
                    <a:lnTo>
                      <a:pt x="164" y="152"/>
                    </a:lnTo>
                    <a:lnTo>
                      <a:pt x="171" y="155"/>
                    </a:lnTo>
                    <a:lnTo>
                      <a:pt x="181" y="159"/>
                    </a:lnTo>
                    <a:lnTo>
                      <a:pt x="195" y="164"/>
                    </a:lnTo>
                    <a:lnTo>
                      <a:pt x="211" y="169"/>
                    </a:lnTo>
                    <a:lnTo>
                      <a:pt x="229" y="177"/>
                    </a:lnTo>
                    <a:lnTo>
                      <a:pt x="250" y="184"/>
                    </a:lnTo>
                    <a:lnTo>
                      <a:pt x="272" y="191"/>
                    </a:lnTo>
                    <a:lnTo>
                      <a:pt x="294" y="199"/>
                    </a:lnTo>
                    <a:lnTo>
                      <a:pt x="316" y="208"/>
                    </a:lnTo>
                    <a:lnTo>
                      <a:pt x="339" y="216"/>
                    </a:lnTo>
                    <a:lnTo>
                      <a:pt x="361" y="222"/>
                    </a:lnTo>
                    <a:lnTo>
                      <a:pt x="382" y="230"/>
                    </a:lnTo>
                    <a:lnTo>
                      <a:pt x="401" y="235"/>
                    </a:lnTo>
                    <a:lnTo>
                      <a:pt x="419" y="241"/>
                    </a:lnTo>
                    <a:lnTo>
                      <a:pt x="435" y="244"/>
                    </a:lnTo>
                    <a:lnTo>
                      <a:pt x="448" y="247"/>
                    </a:lnTo>
                    <a:lnTo>
                      <a:pt x="457" y="248"/>
                    </a:lnTo>
                    <a:lnTo>
                      <a:pt x="467" y="251"/>
                    </a:lnTo>
                    <a:lnTo>
                      <a:pt x="476" y="252"/>
                    </a:lnTo>
                    <a:lnTo>
                      <a:pt x="485" y="255"/>
                    </a:lnTo>
                    <a:lnTo>
                      <a:pt x="494" y="256"/>
                    </a:lnTo>
                    <a:lnTo>
                      <a:pt x="503" y="256"/>
                    </a:lnTo>
                    <a:lnTo>
                      <a:pt x="512" y="255"/>
                    </a:lnTo>
                    <a:lnTo>
                      <a:pt x="520" y="252"/>
                    </a:lnTo>
                    <a:lnTo>
                      <a:pt x="537" y="233"/>
                    </a:lnTo>
                    <a:lnTo>
                      <a:pt x="554" y="212"/>
                    </a:lnTo>
                    <a:lnTo>
                      <a:pt x="569" y="190"/>
                    </a:lnTo>
                    <a:lnTo>
                      <a:pt x="585" y="167"/>
                    </a:lnTo>
                    <a:lnTo>
                      <a:pt x="601" y="143"/>
                    </a:lnTo>
                    <a:lnTo>
                      <a:pt x="616" y="121"/>
                    </a:lnTo>
                    <a:lnTo>
                      <a:pt x="632" y="98"/>
                    </a:lnTo>
                    <a:lnTo>
                      <a:pt x="647" y="77"/>
                    </a:lnTo>
                    <a:lnTo>
                      <a:pt x="656" y="66"/>
                    </a:lnTo>
                    <a:lnTo>
                      <a:pt x="667" y="53"/>
                    </a:lnTo>
                    <a:lnTo>
                      <a:pt x="678" y="38"/>
                    </a:lnTo>
                    <a:lnTo>
                      <a:pt x="689" y="26"/>
                    </a:lnTo>
                    <a:lnTo>
                      <a:pt x="699" y="14"/>
                    </a:lnTo>
                    <a:lnTo>
                      <a:pt x="708" y="5"/>
                    </a:lnTo>
                    <a:lnTo>
                      <a:pt x="714" y="0"/>
                    </a:lnTo>
                    <a:lnTo>
                      <a:pt x="718" y="0"/>
                    </a:lnTo>
                    <a:lnTo>
                      <a:pt x="723" y="5"/>
                    </a:lnTo>
                    <a:lnTo>
                      <a:pt x="729" y="11"/>
                    </a:lnTo>
                    <a:lnTo>
                      <a:pt x="735" y="18"/>
                    </a:lnTo>
                    <a:lnTo>
                      <a:pt x="740" y="24"/>
                    </a:lnTo>
                    <a:lnTo>
                      <a:pt x="747" y="32"/>
                    </a:lnTo>
                    <a:lnTo>
                      <a:pt x="752" y="38"/>
                    </a:lnTo>
                    <a:lnTo>
                      <a:pt x="757" y="45"/>
                    </a:lnTo>
                    <a:lnTo>
                      <a:pt x="762" y="50"/>
                    </a:lnTo>
                    <a:lnTo>
                      <a:pt x="756" y="58"/>
                    </a:lnTo>
                    <a:lnTo>
                      <a:pt x="751" y="66"/>
                    </a:lnTo>
                    <a:lnTo>
                      <a:pt x="745" y="73"/>
                    </a:lnTo>
                    <a:lnTo>
                      <a:pt x="740" y="83"/>
                    </a:lnTo>
                    <a:lnTo>
                      <a:pt x="734" y="75"/>
                    </a:lnTo>
                    <a:lnTo>
                      <a:pt x="726" y="64"/>
                    </a:lnTo>
                    <a:lnTo>
                      <a:pt x="718" y="55"/>
                    </a:lnTo>
                    <a:lnTo>
                      <a:pt x="714" y="51"/>
                    </a:lnTo>
                    <a:lnTo>
                      <a:pt x="712" y="54"/>
                    </a:lnTo>
                    <a:lnTo>
                      <a:pt x="705" y="63"/>
                    </a:lnTo>
                    <a:lnTo>
                      <a:pt x="695" y="75"/>
                    </a:lnTo>
                    <a:lnTo>
                      <a:pt x="685" y="89"/>
                    </a:lnTo>
                    <a:lnTo>
                      <a:pt x="673" y="105"/>
                    </a:lnTo>
                    <a:lnTo>
                      <a:pt x="663" y="119"/>
                    </a:lnTo>
                    <a:lnTo>
                      <a:pt x="656" y="130"/>
                    </a:lnTo>
                    <a:lnTo>
                      <a:pt x="652" y="137"/>
                    </a:lnTo>
                    <a:lnTo>
                      <a:pt x="652" y="138"/>
                    </a:lnTo>
                    <a:lnTo>
                      <a:pt x="656" y="140"/>
                    </a:lnTo>
                    <a:lnTo>
                      <a:pt x="661" y="142"/>
                    </a:lnTo>
                    <a:lnTo>
                      <a:pt x="669" y="145"/>
                    </a:lnTo>
                    <a:lnTo>
                      <a:pt x="677" y="147"/>
                    </a:lnTo>
                    <a:lnTo>
                      <a:pt x="686" y="149"/>
                    </a:lnTo>
                    <a:lnTo>
                      <a:pt x="694" y="149"/>
                    </a:lnTo>
                    <a:lnTo>
                      <a:pt x="701" y="147"/>
                    </a:lnTo>
                    <a:lnTo>
                      <a:pt x="696" y="155"/>
                    </a:lnTo>
                    <a:lnTo>
                      <a:pt x="691" y="162"/>
                    </a:lnTo>
                    <a:lnTo>
                      <a:pt x="686" y="169"/>
                    </a:lnTo>
                    <a:lnTo>
                      <a:pt x="681" y="176"/>
                    </a:lnTo>
                    <a:lnTo>
                      <a:pt x="674" y="182"/>
                    </a:lnTo>
                    <a:lnTo>
                      <a:pt x="669" y="190"/>
                    </a:lnTo>
                    <a:lnTo>
                      <a:pt x="663" y="197"/>
                    </a:lnTo>
                    <a:lnTo>
                      <a:pt x="657" y="203"/>
                    </a:lnTo>
                    <a:lnTo>
                      <a:pt x="652" y="191"/>
                    </a:lnTo>
                    <a:lnTo>
                      <a:pt x="645" y="174"/>
                    </a:lnTo>
                    <a:lnTo>
                      <a:pt x="637" y="160"/>
                    </a:lnTo>
                    <a:lnTo>
                      <a:pt x="633" y="154"/>
                    </a:lnTo>
                    <a:lnTo>
                      <a:pt x="629" y="158"/>
                    </a:lnTo>
                    <a:lnTo>
                      <a:pt x="621" y="167"/>
                    </a:lnTo>
                    <a:lnTo>
                      <a:pt x="610" y="180"/>
                    </a:lnTo>
                    <a:lnTo>
                      <a:pt x="597" y="195"/>
                    </a:lnTo>
                    <a:lnTo>
                      <a:pt x="584" y="211"/>
                    </a:lnTo>
                    <a:lnTo>
                      <a:pt x="572" y="225"/>
                    </a:lnTo>
                    <a:lnTo>
                      <a:pt x="564" y="235"/>
                    </a:lnTo>
                    <a:lnTo>
                      <a:pt x="560" y="241"/>
                    </a:lnTo>
                    <a:lnTo>
                      <a:pt x="562" y="243"/>
                    </a:lnTo>
                    <a:lnTo>
                      <a:pt x="564" y="246"/>
                    </a:lnTo>
                    <a:lnTo>
                      <a:pt x="571" y="248"/>
                    </a:lnTo>
                    <a:lnTo>
                      <a:pt x="579" y="251"/>
                    </a:lnTo>
                    <a:lnTo>
                      <a:pt x="586" y="254"/>
                    </a:lnTo>
                    <a:lnTo>
                      <a:pt x="594" y="255"/>
                    </a:lnTo>
                    <a:lnTo>
                      <a:pt x="602" y="256"/>
                    </a:lnTo>
                    <a:lnTo>
                      <a:pt x="607" y="256"/>
                    </a:lnTo>
                    <a:lnTo>
                      <a:pt x="598" y="266"/>
                    </a:lnTo>
                    <a:lnTo>
                      <a:pt x="590" y="276"/>
                    </a:lnTo>
                    <a:lnTo>
                      <a:pt x="582" y="283"/>
                    </a:lnTo>
                    <a:lnTo>
                      <a:pt x="575" y="290"/>
                    </a:lnTo>
                    <a:lnTo>
                      <a:pt x="568" y="296"/>
                    </a:lnTo>
                    <a:lnTo>
                      <a:pt x="563" y="301"/>
                    </a:lnTo>
                    <a:lnTo>
                      <a:pt x="559" y="305"/>
                    </a:lnTo>
                    <a:lnTo>
                      <a:pt x="558" y="308"/>
                    </a:lnTo>
                    <a:lnTo>
                      <a:pt x="536" y="305"/>
                    </a:lnTo>
                    <a:lnTo>
                      <a:pt x="509" y="301"/>
                    </a:lnTo>
                    <a:lnTo>
                      <a:pt x="479" y="294"/>
                    </a:lnTo>
                    <a:lnTo>
                      <a:pt x="446" y="286"/>
                    </a:lnTo>
                    <a:lnTo>
                      <a:pt x="412" y="276"/>
                    </a:lnTo>
                    <a:lnTo>
                      <a:pt x="375" y="265"/>
                    </a:lnTo>
                    <a:lnTo>
                      <a:pt x="338" y="254"/>
                    </a:lnTo>
                    <a:lnTo>
                      <a:pt x="302" y="241"/>
                    </a:lnTo>
                    <a:lnTo>
                      <a:pt x="264" y="228"/>
                    </a:lnTo>
                    <a:lnTo>
                      <a:pt x="228" y="215"/>
                    </a:lnTo>
                    <a:lnTo>
                      <a:pt x="194" y="202"/>
                    </a:lnTo>
                    <a:lnTo>
                      <a:pt x="163" y="189"/>
                    </a:lnTo>
                    <a:lnTo>
                      <a:pt x="133" y="176"/>
                    </a:lnTo>
                    <a:lnTo>
                      <a:pt x="109" y="165"/>
                    </a:lnTo>
                    <a:lnTo>
                      <a:pt x="88" y="155"/>
                    </a:lnTo>
                    <a:lnTo>
                      <a:pt x="71" y="146"/>
                    </a:lnTo>
                    <a:lnTo>
                      <a:pt x="65" y="143"/>
                    </a:lnTo>
                    <a:lnTo>
                      <a:pt x="57" y="140"/>
                    </a:lnTo>
                    <a:lnTo>
                      <a:pt x="47" y="136"/>
                    </a:lnTo>
                    <a:lnTo>
                      <a:pt x="36" y="132"/>
                    </a:lnTo>
                    <a:lnTo>
                      <a:pt x="26" y="128"/>
                    </a:lnTo>
                    <a:lnTo>
                      <a:pt x="17" y="125"/>
                    </a:lnTo>
                    <a:lnTo>
                      <a:pt x="12" y="124"/>
                    </a:lnTo>
                    <a:lnTo>
                      <a:pt x="9" y="123"/>
                    </a:lnTo>
                    <a:lnTo>
                      <a:pt x="8" y="115"/>
                    </a:lnTo>
                    <a:lnTo>
                      <a:pt x="5" y="103"/>
                    </a:lnTo>
                    <a:lnTo>
                      <a:pt x="2" y="90"/>
                    </a:lnTo>
                    <a:lnTo>
                      <a:pt x="0" y="84"/>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5" name="Freeform 17"/>
              <p:cNvSpPr>
                <a:spLocks/>
              </p:cNvSpPr>
              <p:nvPr/>
            </p:nvSpPr>
            <p:spPr bwMode="auto">
              <a:xfrm>
                <a:off x="2050" y="3142"/>
                <a:ext cx="68" cy="64"/>
              </a:xfrm>
              <a:custGeom>
                <a:avLst/>
                <a:gdLst>
                  <a:gd name="T0" fmla="*/ 68 w 68"/>
                  <a:gd name="T1" fmla="*/ 30 h 64"/>
                  <a:gd name="T2" fmla="*/ 68 w 68"/>
                  <a:gd name="T3" fmla="*/ 30 h 64"/>
                  <a:gd name="T4" fmla="*/ 64 w 68"/>
                  <a:gd name="T5" fmla="*/ 39 h 64"/>
                  <a:gd name="T6" fmla="*/ 58 w 68"/>
                  <a:gd name="T7" fmla="*/ 46 h 64"/>
                  <a:gd name="T8" fmla="*/ 51 w 68"/>
                  <a:gd name="T9" fmla="*/ 51 h 64"/>
                  <a:gd name="T10" fmla="*/ 44 w 68"/>
                  <a:gd name="T11" fmla="*/ 56 h 64"/>
                  <a:gd name="T12" fmla="*/ 36 w 68"/>
                  <a:gd name="T13" fmla="*/ 58 h 64"/>
                  <a:gd name="T14" fmla="*/ 27 w 68"/>
                  <a:gd name="T15" fmla="*/ 61 h 64"/>
                  <a:gd name="T16" fmla="*/ 18 w 68"/>
                  <a:gd name="T17" fmla="*/ 62 h 64"/>
                  <a:gd name="T18" fmla="*/ 9 w 68"/>
                  <a:gd name="T19" fmla="*/ 64 h 64"/>
                  <a:gd name="T20" fmla="*/ 0 w 68"/>
                  <a:gd name="T21" fmla="*/ 64 h 64"/>
                  <a:gd name="T22" fmla="*/ 1 w 68"/>
                  <a:gd name="T23" fmla="*/ 61 h 64"/>
                  <a:gd name="T24" fmla="*/ 4 w 68"/>
                  <a:gd name="T25" fmla="*/ 60 h 64"/>
                  <a:gd name="T26" fmla="*/ 5 w 68"/>
                  <a:gd name="T27" fmla="*/ 57 h 64"/>
                  <a:gd name="T28" fmla="*/ 6 w 68"/>
                  <a:gd name="T29" fmla="*/ 56 h 64"/>
                  <a:gd name="T30" fmla="*/ 7 w 68"/>
                  <a:gd name="T31" fmla="*/ 56 h 64"/>
                  <a:gd name="T32" fmla="*/ 7 w 68"/>
                  <a:gd name="T33" fmla="*/ 56 h 64"/>
                  <a:gd name="T34" fmla="*/ 7 w 68"/>
                  <a:gd name="T35" fmla="*/ 56 h 64"/>
                  <a:gd name="T36" fmla="*/ 9 w 68"/>
                  <a:gd name="T37" fmla="*/ 55 h 64"/>
                  <a:gd name="T38" fmla="*/ 14 w 68"/>
                  <a:gd name="T39" fmla="*/ 48 h 64"/>
                  <a:gd name="T40" fmla="*/ 20 w 68"/>
                  <a:gd name="T41" fmla="*/ 43 h 64"/>
                  <a:gd name="T42" fmla="*/ 26 w 68"/>
                  <a:gd name="T43" fmla="*/ 36 h 64"/>
                  <a:gd name="T44" fmla="*/ 32 w 68"/>
                  <a:gd name="T45" fmla="*/ 29 h 64"/>
                  <a:gd name="T46" fmla="*/ 37 w 68"/>
                  <a:gd name="T47" fmla="*/ 22 h 64"/>
                  <a:gd name="T48" fmla="*/ 42 w 68"/>
                  <a:gd name="T49" fmla="*/ 16 h 64"/>
                  <a:gd name="T50" fmla="*/ 46 w 68"/>
                  <a:gd name="T51" fmla="*/ 8 h 64"/>
                  <a:gd name="T52" fmla="*/ 51 w 68"/>
                  <a:gd name="T53" fmla="*/ 0 h 64"/>
                  <a:gd name="T54" fmla="*/ 57 w 68"/>
                  <a:gd name="T55" fmla="*/ 7 h 64"/>
                  <a:gd name="T56" fmla="*/ 60 w 68"/>
                  <a:gd name="T57" fmla="*/ 12 h 64"/>
                  <a:gd name="T58" fmla="*/ 64 w 68"/>
                  <a:gd name="T59" fmla="*/ 18 h 64"/>
                  <a:gd name="T60" fmla="*/ 67 w 68"/>
                  <a:gd name="T61" fmla="*/ 25 h 64"/>
                  <a:gd name="T62" fmla="*/ 68 w 68"/>
                  <a:gd name="T63" fmla="*/ 25 h 64"/>
                  <a:gd name="T64" fmla="*/ 67 w 68"/>
                  <a:gd name="T65" fmla="*/ 26 h 64"/>
                  <a:gd name="T66" fmla="*/ 67 w 68"/>
                  <a:gd name="T67" fmla="*/ 27 h 64"/>
                  <a:gd name="T68" fmla="*/ 67 w 68"/>
                  <a:gd name="T69" fmla="*/ 29 h 64"/>
                  <a:gd name="T70" fmla="*/ 68 w 68"/>
                  <a:gd name="T71" fmla="*/ 30 h 6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
                  <a:gd name="T109" fmla="*/ 0 h 64"/>
                  <a:gd name="T110" fmla="*/ 68 w 68"/>
                  <a:gd name="T111" fmla="*/ 64 h 6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 h="64">
                    <a:moveTo>
                      <a:pt x="68" y="30"/>
                    </a:moveTo>
                    <a:lnTo>
                      <a:pt x="68" y="30"/>
                    </a:lnTo>
                    <a:lnTo>
                      <a:pt x="64" y="39"/>
                    </a:lnTo>
                    <a:lnTo>
                      <a:pt x="58" y="46"/>
                    </a:lnTo>
                    <a:lnTo>
                      <a:pt x="51" y="51"/>
                    </a:lnTo>
                    <a:lnTo>
                      <a:pt x="44" y="56"/>
                    </a:lnTo>
                    <a:lnTo>
                      <a:pt x="36" y="58"/>
                    </a:lnTo>
                    <a:lnTo>
                      <a:pt x="27" y="61"/>
                    </a:lnTo>
                    <a:lnTo>
                      <a:pt x="18" y="62"/>
                    </a:lnTo>
                    <a:lnTo>
                      <a:pt x="9" y="64"/>
                    </a:lnTo>
                    <a:lnTo>
                      <a:pt x="0" y="64"/>
                    </a:lnTo>
                    <a:lnTo>
                      <a:pt x="1" y="61"/>
                    </a:lnTo>
                    <a:lnTo>
                      <a:pt x="4" y="60"/>
                    </a:lnTo>
                    <a:lnTo>
                      <a:pt x="5" y="57"/>
                    </a:lnTo>
                    <a:lnTo>
                      <a:pt x="6" y="56"/>
                    </a:lnTo>
                    <a:lnTo>
                      <a:pt x="7" y="56"/>
                    </a:lnTo>
                    <a:lnTo>
                      <a:pt x="9" y="55"/>
                    </a:lnTo>
                    <a:lnTo>
                      <a:pt x="14" y="48"/>
                    </a:lnTo>
                    <a:lnTo>
                      <a:pt x="20" y="43"/>
                    </a:lnTo>
                    <a:lnTo>
                      <a:pt x="26" y="36"/>
                    </a:lnTo>
                    <a:lnTo>
                      <a:pt x="32" y="29"/>
                    </a:lnTo>
                    <a:lnTo>
                      <a:pt x="37" y="22"/>
                    </a:lnTo>
                    <a:lnTo>
                      <a:pt x="42" y="16"/>
                    </a:lnTo>
                    <a:lnTo>
                      <a:pt x="46" y="8"/>
                    </a:lnTo>
                    <a:lnTo>
                      <a:pt x="51" y="0"/>
                    </a:lnTo>
                    <a:lnTo>
                      <a:pt x="57" y="7"/>
                    </a:lnTo>
                    <a:lnTo>
                      <a:pt x="60" y="12"/>
                    </a:lnTo>
                    <a:lnTo>
                      <a:pt x="64" y="18"/>
                    </a:lnTo>
                    <a:lnTo>
                      <a:pt x="67" y="25"/>
                    </a:lnTo>
                    <a:lnTo>
                      <a:pt x="68" y="25"/>
                    </a:lnTo>
                    <a:lnTo>
                      <a:pt x="67" y="26"/>
                    </a:lnTo>
                    <a:lnTo>
                      <a:pt x="67" y="27"/>
                    </a:lnTo>
                    <a:lnTo>
                      <a:pt x="67" y="29"/>
                    </a:lnTo>
                    <a:lnTo>
                      <a:pt x="68" y="3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6" name="Freeform 18"/>
              <p:cNvSpPr>
                <a:spLocks/>
              </p:cNvSpPr>
              <p:nvPr/>
            </p:nvSpPr>
            <p:spPr bwMode="auto">
              <a:xfrm>
                <a:off x="1973" y="3255"/>
                <a:ext cx="52" cy="49"/>
              </a:xfrm>
              <a:custGeom>
                <a:avLst/>
                <a:gdLst>
                  <a:gd name="T0" fmla="*/ 51 w 52"/>
                  <a:gd name="T1" fmla="*/ 32 h 49"/>
                  <a:gd name="T2" fmla="*/ 47 w 52"/>
                  <a:gd name="T3" fmla="*/ 40 h 49"/>
                  <a:gd name="T4" fmla="*/ 42 w 52"/>
                  <a:gd name="T5" fmla="*/ 45 h 49"/>
                  <a:gd name="T6" fmla="*/ 37 w 52"/>
                  <a:gd name="T7" fmla="*/ 48 h 49"/>
                  <a:gd name="T8" fmla="*/ 30 w 52"/>
                  <a:gd name="T9" fmla="*/ 49 h 49"/>
                  <a:gd name="T10" fmla="*/ 22 w 52"/>
                  <a:gd name="T11" fmla="*/ 49 h 49"/>
                  <a:gd name="T12" fmla="*/ 16 w 52"/>
                  <a:gd name="T13" fmla="*/ 48 h 49"/>
                  <a:gd name="T14" fmla="*/ 8 w 52"/>
                  <a:gd name="T15" fmla="*/ 45 h 49"/>
                  <a:gd name="T16" fmla="*/ 0 w 52"/>
                  <a:gd name="T17" fmla="*/ 43 h 49"/>
                  <a:gd name="T18" fmla="*/ 2 w 52"/>
                  <a:gd name="T19" fmla="*/ 41 h 49"/>
                  <a:gd name="T20" fmla="*/ 5 w 52"/>
                  <a:gd name="T21" fmla="*/ 39 h 49"/>
                  <a:gd name="T22" fmla="*/ 11 w 52"/>
                  <a:gd name="T23" fmla="*/ 34 h 49"/>
                  <a:gd name="T24" fmla="*/ 17 w 52"/>
                  <a:gd name="T25" fmla="*/ 27 h 49"/>
                  <a:gd name="T26" fmla="*/ 24 w 52"/>
                  <a:gd name="T27" fmla="*/ 21 h 49"/>
                  <a:gd name="T28" fmla="*/ 30 w 52"/>
                  <a:gd name="T29" fmla="*/ 14 h 49"/>
                  <a:gd name="T30" fmla="*/ 37 w 52"/>
                  <a:gd name="T31" fmla="*/ 6 h 49"/>
                  <a:gd name="T32" fmla="*/ 42 w 52"/>
                  <a:gd name="T33" fmla="*/ 0 h 49"/>
                  <a:gd name="T34" fmla="*/ 46 w 52"/>
                  <a:gd name="T35" fmla="*/ 9 h 49"/>
                  <a:gd name="T36" fmla="*/ 49 w 52"/>
                  <a:gd name="T37" fmla="*/ 17 h 49"/>
                  <a:gd name="T38" fmla="*/ 52 w 52"/>
                  <a:gd name="T39" fmla="*/ 24 h 49"/>
                  <a:gd name="T40" fmla="*/ 51 w 52"/>
                  <a:gd name="T41" fmla="*/ 32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2"/>
                  <a:gd name="T64" fmla="*/ 0 h 49"/>
                  <a:gd name="T65" fmla="*/ 52 w 52"/>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2" h="49">
                    <a:moveTo>
                      <a:pt x="51" y="32"/>
                    </a:moveTo>
                    <a:lnTo>
                      <a:pt x="47" y="40"/>
                    </a:lnTo>
                    <a:lnTo>
                      <a:pt x="42" y="45"/>
                    </a:lnTo>
                    <a:lnTo>
                      <a:pt x="37" y="48"/>
                    </a:lnTo>
                    <a:lnTo>
                      <a:pt x="30" y="49"/>
                    </a:lnTo>
                    <a:lnTo>
                      <a:pt x="22" y="49"/>
                    </a:lnTo>
                    <a:lnTo>
                      <a:pt x="16" y="48"/>
                    </a:lnTo>
                    <a:lnTo>
                      <a:pt x="8" y="45"/>
                    </a:lnTo>
                    <a:lnTo>
                      <a:pt x="0" y="43"/>
                    </a:lnTo>
                    <a:lnTo>
                      <a:pt x="2" y="41"/>
                    </a:lnTo>
                    <a:lnTo>
                      <a:pt x="5" y="39"/>
                    </a:lnTo>
                    <a:lnTo>
                      <a:pt x="11" y="34"/>
                    </a:lnTo>
                    <a:lnTo>
                      <a:pt x="17" y="27"/>
                    </a:lnTo>
                    <a:lnTo>
                      <a:pt x="24" y="21"/>
                    </a:lnTo>
                    <a:lnTo>
                      <a:pt x="30" y="14"/>
                    </a:lnTo>
                    <a:lnTo>
                      <a:pt x="37" y="6"/>
                    </a:lnTo>
                    <a:lnTo>
                      <a:pt x="42" y="0"/>
                    </a:lnTo>
                    <a:lnTo>
                      <a:pt x="46" y="9"/>
                    </a:lnTo>
                    <a:lnTo>
                      <a:pt x="49" y="17"/>
                    </a:lnTo>
                    <a:lnTo>
                      <a:pt x="52" y="24"/>
                    </a:lnTo>
                    <a:lnTo>
                      <a:pt x="51" y="3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7" name="Freeform 19"/>
              <p:cNvSpPr>
                <a:spLocks/>
              </p:cNvSpPr>
              <p:nvPr/>
            </p:nvSpPr>
            <p:spPr bwMode="auto">
              <a:xfrm>
                <a:off x="1400" y="3136"/>
                <a:ext cx="775" cy="285"/>
              </a:xfrm>
              <a:custGeom>
                <a:avLst/>
                <a:gdLst>
                  <a:gd name="T0" fmla="*/ 652 w 775"/>
                  <a:gd name="T1" fmla="*/ 190 h 285"/>
                  <a:gd name="T2" fmla="*/ 630 w 775"/>
                  <a:gd name="T3" fmla="*/ 221 h 285"/>
                  <a:gd name="T4" fmla="*/ 606 w 775"/>
                  <a:gd name="T5" fmla="*/ 251 h 285"/>
                  <a:gd name="T6" fmla="*/ 577 w 775"/>
                  <a:gd name="T7" fmla="*/ 273 h 285"/>
                  <a:gd name="T8" fmla="*/ 542 w 775"/>
                  <a:gd name="T9" fmla="*/ 283 h 285"/>
                  <a:gd name="T10" fmla="*/ 503 w 775"/>
                  <a:gd name="T11" fmla="*/ 285 h 285"/>
                  <a:gd name="T12" fmla="*/ 466 w 775"/>
                  <a:gd name="T13" fmla="*/ 278 h 285"/>
                  <a:gd name="T14" fmla="*/ 428 w 775"/>
                  <a:gd name="T15" fmla="*/ 267 h 285"/>
                  <a:gd name="T16" fmla="*/ 386 w 775"/>
                  <a:gd name="T17" fmla="*/ 251 h 285"/>
                  <a:gd name="T18" fmla="*/ 335 w 775"/>
                  <a:gd name="T19" fmla="*/ 232 h 285"/>
                  <a:gd name="T20" fmla="*/ 286 w 775"/>
                  <a:gd name="T21" fmla="*/ 212 h 285"/>
                  <a:gd name="T22" fmla="*/ 234 w 775"/>
                  <a:gd name="T23" fmla="*/ 193 h 285"/>
                  <a:gd name="T24" fmla="*/ 184 w 775"/>
                  <a:gd name="T25" fmla="*/ 172 h 285"/>
                  <a:gd name="T26" fmla="*/ 133 w 775"/>
                  <a:gd name="T27" fmla="*/ 153 h 285"/>
                  <a:gd name="T28" fmla="*/ 84 w 775"/>
                  <a:gd name="T29" fmla="*/ 132 h 285"/>
                  <a:gd name="T30" fmla="*/ 35 w 775"/>
                  <a:gd name="T31" fmla="*/ 111 h 285"/>
                  <a:gd name="T32" fmla="*/ 9 w 775"/>
                  <a:gd name="T33" fmla="*/ 98 h 285"/>
                  <a:gd name="T34" fmla="*/ 1 w 775"/>
                  <a:gd name="T35" fmla="*/ 84 h 285"/>
                  <a:gd name="T36" fmla="*/ 9 w 775"/>
                  <a:gd name="T37" fmla="*/ 83 h 285"/>
                  <a:gd name="T38" fmla="*/ 31 w 775"/>
                  <a:gd name="T39" fmla="*/ 92 h 285"/>
                  <a:gd name="T40" fmla="*/ 54 w 775"/>
                  <a:gd name="T41" fmla="*/ 101 h 285"/>
                  <a:gd name="T42" fmla="*/ 76 w 775"/>
                  <a:gd name="T43" fmla="*/ 110 h 285"/>
                  <a:gd name="T44" fmla="*/ 111 w 775"/>
                  <a:gd name="T45" fmla="*/ 127 h 285"/>
                  <a:gd name="T46" fmla="*/ 158 w 775"/>
                  <a:gd name="T47" fmla="*/ 146 h 285"/>
                  <a:gd name="T48" fmla="*/ 198 w 775"/>
                  <a:gd name="T49" fmla="*/ 160 h 285"/>
                  <a:gd name="T50" fmla="*/ 232 w 775"/>
                  <a:gd name="T51" fmla="*/ 172 h 285"/>
                  <a:gd name="T52" fmla="*/ 264 w 775"/>
                  <a:gd name="T53" fmla="*/ 184 h 285"/>
                  <a:gd name="T54" fmla="*/ 296 w 775"/>
                  <a:gd name="T55" fmla="*/ 195 h 285"/>
                  <a:gd name="T56" fmla="*/ 329 w 775"/>
                  <a:gd name="T57" fmla="*/ 207 h 285"/>
                  <a:gd name="T58" fmla="*/ 361 w 775"/>
                  <a:gd name="T59" fmla="*/ 219 h 285"/>
                  <a:gd name="T60" fmla="*/ 393 w 775"/>
                  <a:gd name="T61" fmla="*/ 230 h 285"/>
                  <a:gd name="T62" fmla="*/ 426 w 775"/>
                  <a:gd name="T63" fmla="*/ 241 h 285"/>
                  <a:gd name="T64" fmla="*/ 458 w 775"/>
                  <a:gd name="T65" fmla="*/ 251 h 285"/>
                  <a:gd name="T66" fmla="*/ 492 w 775"/>
                  <a:gd name="T67" fmla="*/ 260 h 285"/>
                  <a:gd name="T68" fmla="*/ 514 w 775"/>
                  <a:gd name="T69" fmla="*/ 265 h 285"/>
                  <a:gd name="T70" fmla="*/ 531 w 775"/>
                  <a:gd name="T71" fmla="*/ 267 h 285"/>
                  <a:gd name="T72" fmla="*/ 549 w 775"/>
                  <a:gd name="T73" fmla="*/ 264 h 285"/>
                  <a:gd name="T74" fmla="*/ 573 w 775"/>
                  <a:gd name="T75" fmla="*/ 247 h 285"/>
                  <a:gd name="T76" fmla="*/ 597 w 775"/>
                  <a:gd name="T77" fmla="*/ 220 h 285"/>
                  <a:gd name="T78" fmla="*/ 616 w 775"/>
                  <a:gd name="T79" fmla="*/ 194 h 285"/>
                  <a:gd name="T80" fmla="*/ 629 w 775"/>
                  <a:gd name="T81" fmla="*/ 176 h 285"/>
                  <a:gd name="T82" fmla="*/ 638 w 775"/>
                  <a:gd name="T83" fmla="*/ 167 h 285"/>
                  <a:gd name="T84" fmla="*/ 643 w 775"/>
                  <a:gd name="T85" fmla="*/ 162 h 285"/>
                  <a:gd name="T86" fmla="*/ 659 w 775"/>
                  <a:gd name="T87" fmla="*/ 145 h 285"/>
                  <a:gd name="T88" fmla="*/ 676 w 775"/>
                  <a:gd name="T89" fmla="*/ 125 h 285"/>
                  <a:gd name="T90" fmla="*/ 692 w 775"/>
                  <a:gd name="T91" fmla="*/ 101 h 285"/>
                  <a:gd name="T92" fmla="*/ 707 w 775"/>
                  <a:gd name="T93" fmla="*/ 79 h 285"/>
                  <a:gd name="T94" fmla="*/ 720 w 775"/>
                  <a:gd name="T95" fmla="*/ 66 h 285"/>
                  <a:gd name="T96" fmla="*/ 726 w 775"/>
                  <a:gd name="T97" fmla="*/ 58 h 285"/>
                  <a:gd name="T98" fmla="*/ 734 w 775"/>
                  <a:gd name="T99" fmla="*/ 44 h 285"/>
                  <a:gd name="T100" fmla="*/ 738 w 775"/>
                  <a:gd name="T101" fmla="*/ 36 h 285"/>
                  <a:gd name="T102" fmla="*/ 752 w 775"/>
                  <a:gd name="T103" fmla="*/ 11 h 285"/>
                  <a:gd name="T104" fmla="*/ 762 w 775"/>
                  <a:gd name="T105" fmla="*/ 5 h 285"/>
                  <a:gd name="T106" fmla="*/ 773 w 775"/>
                  <a:gd name="T107" fmla="*/ 17 h 285"/>
                  <a:gd name="T108" fmla="*/ 762 w 775"/>
                  <a:gd name="T109" fmla="*/ 40 h 285"/>
                  <a:gd name="T110" fmla="*/ 735 w 775"/>
                  <a:gd name="T111" fmla="*/ 79 h 285"/>
                  <a:gd name="T112" fmla="*/ 707 w 775"/>
                  <a:gd name="T113" fmla="*/ 118 h 285"/>
                  <a:gd name="T114" fmla="*/ 678 w 775"/>
                  <a:gd name="T115" fmla="*/ 156 h 28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775"/>
                  <a:gd name="T175" fmla="*/ 0 h 285"/>
                  <a:gd name="T176" fmla="*/ 775 w 775"/>
                  <a:gd name="T177" fmla="*/ 285 h 28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775" h="285">
                    <a:moveTo>
                      <a:pt x="663" y="176"/>
                    </a:moveTo>
                    <a:lnTo>
                      <a:pt x="652" y="190"/>
                    </a:lnTo>
                    <a:lnTo>
                      <a:pt x="641" y="206"/>
                    </a:lnTo>
                    <a:lnTo>
                      <a:pt x="630" y="221"/>
                    </a:lnTo>
                    <a:lnTo>
                      <a:pt x="619" y="237"/>
                    </a:lnTo>
                    <a:lnTo>
                      <a:pt x="606" y="251"/>
                    </a:lnTo>
                    <a:lnTo>
                      <a:pt x="591" y="264"/>
                    </a:lnTo>
                    <a:lnTo>
                      <a:pt x="577" y="273"/>
                    </a:lnTo>
                    <a:lnTo>
                      <a:pt x="560" y="279"/>
                    </a:lnTo>
                    <a:lnTo>
                      <a:pt x="542" y="283"/>
                    </a:lnTo>
                    <a:lnTo>
                      <a:pt x="523" y="285"/>
                    </a:lnTo>
                    <a:lnTo>
                      <a:pt x="503" y="285"/>
                    </a:lnTo>
                    <a:lnTo>
                      <a:pt x="484" y="282"/>
                    </a:lnTo>
                    <a:lnTo>
                      <a:pt x="466" y="278"/>
                    </a:lnTo>
                    <a:lnTo>
                      <a:pt x="446" y="273"/>
                    </a:lnTo>
                    <a:lnTo>
                      <a:pt x="428" y="267"/>
                    </a:lnTo>
                    <a:lnTo>
                      <a:pt x="410" y="260"/>
                    </a:lnTo>
                    <a:lnTo>
                      <a:pt x="386" y="251"/>
                    </a:lnTo>
                    <a:lnTo>
                      <a:pt x="361" y="241"/>
                    </a:lnTo>
                    <a:lnTo>
                      <a:pt x="335" y="232"/>
                    </a:lnTo>
                    <a:lnTo>
                      <a:pt x="311" y="221"/>
                    </a:lnTo>
                    <a:lnTo>
                      <a:pt x="286" y="212"/>
                    </a:lnTo>
                    <a:lnTo>
                      <a:pt x="260" y="202"/>
                    </a:lnTo>
                    <a:lnTo>
                      <a:pt x="234" y="193"/>
                    </a:lnTo>
                    <a:lnTo>
                      <a:pt x="210" y="182"/>
                    </a:lnTo>
                    <a:lnTo>
                      <a:pt x="184" y="172"/>
                    </a:lnTo>
                    <a:lnTo>
                      <a:pt x="159" y="163"/>
                    </a:lnTo>
                    <a:lnTo>
                      <a:pt x="133" y="153"/>
                    </a:lnTo>
                    <a:lnTo>
                      <a:pt x="109" y="142"/>
                    </a:lnTo>
                    <a:lnTo>
                      <a:pt x="84" y="132"/>
                    </a:lnTo>
                    <a:lnTo>
                      <a:pt x="59" y="121"/>
                    </a:lnTo>
                    <a:lnTo>
                      <a:pt x="35" y="111"/>
                    </a:lnTo>
                    <a:lnTo>
                      <a:pt x="10" y="101"/>
                    </a:lnTo>
                    <a:lnTo>
                      <a:pt x="9" y="98"/>
                    </a:lnTo>
                    <a:lnTo>
                      <a:pt x="5" y="92"/>
                    </a:lnTo>
                    <a:lnTo>
                      <a:pt x="1" y="84"/>
                    </a:lnTo>
                    <a:lnTo>
                      <a:pt x="0" y="79"/>
                    </a:lnTo>
                    <a:lnTo>
                      <a:pt x="9" y="83"/>
                    </a:lnTo>
                    <a:lnTo>
                      <a:pt x="19" y="86"/>
                    </a:lnTo>
                    <a:lnTo>
                      <a:pt x="31" y="92"/>
                    </a:lnTo>
                    <a:lnTo>
                      <a:pt x="43" y="96"/>
                    </a:lnTo>
                    <a:lnTo>
                      <a:pt x="54" y="101"/>
                    </a:lnTo>
                    <a:lnTo>
                      <a:pt x="66" y="105"/>
                    </a:lnTo>
                    <a:lnTo>
                      <a:pt x="76" y="110"/>
                    </a:lnTo>
                    <a:lnTo>
                      <a:pt x="85" y="114"/>
                    </a:lnTo>
                    <a:lnTo>
                      <a:pt x="111" y="127"/>
                    </a:lnTo>
                    <a:lnTo>
                      <a:pt x="136" y="137"/>
                    </a:lnTo>
                    <a:lnTo>
                      <a:pt x="158" y="146"/>
                    </a:lnTo>
                    <a:lnTo>
                      <a:pt x="178" y="154"/>
                    </a:lnTo>
                    <a:lnTo>
                      <a:pt x="198" y="160"/>
                    </a:lnTo>
                    <a:lnTo>
                      <a:pt x="215" y="167"/>
                    </a:lnTo>
                    <a:lnTo>
                      <a:pt x="232" y="172"/>
                    </a:lnTo>
                    <a:lnTo>
                      <a:pt x="247" y="177"/>
                    </a:lnTo>
                    <a:lnTo>
                      <a:pt x="264" y="184"/>
                    </a:lnTo>
                    <a:lnTo>
                      <a:pt x="281" y="189"/>
                    </a:lnTo>
                    <a:lnTo>
                      <a:pt x="296" y="195"/>
                    </a:lnTo>
                    <a:lnTo>
                      <a:pt x="313" y="200"/>
                    </a:lnTo>
                    <a:lnTo>
                      <a:pt x="329" y="207"/>
                    </a:lnTo>
                    <a:lnTo>
                      <a:pt x="345" y="213"/>
                    </a:lnTo>
                    <a:lnTo>
                      <a:pt x="361" y="219"/>
                    </a:lnTo>
                    <a:lnTo>
                      <a:pt x="378" y="224"/>
                    </a:lnTo>
                    <a:lnTo>
                      <a:pt x="393" y="230"/>
                    </a:lnTo>
                    <a:lnTo>
                      <a:pt x="410" y="235"/>
                    </a:lnTo>
                    <a:lnTo>
                      <a:pt x="426" y="241"/>
                    </a:lnTo>
                    <a:lnTo>
                      <a:pt x="443" y="246"/>
                    </a:lnTo>
                    <a:lnTo>
                      <a:pt x="458" y="251"/>
                    </a:lnTo>
                    <a:lnTo>
                      <a:pt x="475" y="256"/>
                    </a:lnTo>
                    <a:lnTo>
                      <a:pt x="492" y="260"/>
                    </a:lnTo>
                    <a:lnTo>
                      <a:pt x="509" y="264"/>
                    </a:lnTo>
                    <a:lnTo>
                      <a:pt x="514" y="265"/>
                    </a:lnTo>
                    <a:lnTo>
                      <a:pt x="522" y="267"/>
                    </a:lnTo>
                    <a:lnTo>
                      <a:pt x="531" y="267"/>
                    </a:lnTo>
                    <a:lnTo>
                      <a:pt x="536" y="267"/>
                    </a:lnTo>
                    <a:lnTo>
                      <a:pt x="549" y="264"/>
                    </a:lnTo>
                    <a:lnTo>
                      <a:pt x="560" y="257"/>
                    </a:lnTo>
                    <a:lnTo>
                      <a:pt x="573" y="247"/>
                    </a:lnTo>
                    <a:lnTo>
                      <a:pt x="585" y="234"/>
                    </a:lnTo>
                    <a:lnTo>
                      <a:pt x="597" y="220"/>
                    </a:lnTo>
                    <a:lnTo>
                      <a:pt x="607" y="206"/>
                    </a:lnTo>
                    <a:lnTo>
                      <a:pt x="616" y="194"/>
                    </a:lnTo>
                    <a:lnTo>
                      <a:pt x="622" y="185"/>
                    </a:lnTo>
                    <a:lnTo>
                      <a:pt x="629" y="176"/>
                    </a:lnTo>
                    <a:lnTo>
                      <a:pt x="635" y="171"/>
                    </a:lnTo>
                    <a:lnTo>
                      <a:pt x="638" y="167"/>
                    </a:lnTo>
                    <a:lnTo>
                      <a:pt x="639" y="165"/>
                    </a:lnTo>
                    <a:lnTo>
                      <a:pt x="643" y="162"/>
                    </a:lnTo>
                    <a:lnTo>
                      <a:pt x="651" y="153"/>
                    </a:lnTo>
                    <a:lnTo>
                      <a:pt x="659" y="145"/>
                    </a:lnTo>
                    <a:lnTo>
                      <a:pt x="663" y="141"/>
                    </a:lnTo>
                    <a:lnTo>
                      <a:pt x="676" y="125"/>
                    </a:lnTo>
                    <a:lnTo>
                      <a:pt x="685" y="114"/>
                    </a:lnTo>
                    <a:lnTo>
                      <a:pt x="692" y="101"/>
                    </a:lnTo>
                    <a:lnTo>
                      <a:pt x="700" y="83"/>
                    </a:lnTo>
                    <a:lnTo>
                      <a:pt x="707" y="79"/>
                    </a:lnTo>
                    <a:lnTo>
                      <a:pt x="713" y="72"/>
                    </a:lnTo>
                    <a:lnTo>
                      <a:pt x="720" y="66"/>
                    </a:lnTo>
                    <a:lnTo>
                      <a:pt x="725" y="61"/>
                    </a:lnTo>
                    <a:lnTo>
                      <a:pt x="726" y="58"/>
                    </a:lnTo>
                    <a:lnTo>
                      <a:pt x="730" y="52"/>
                    </a:lnTo>
                    <a:lnTo>
                      <a:pt x="734" y="44"/>
                    </a:lnTo>
                    <a:lnTo>
                      <a:pt x="735" y="40"/>
                    </a:lnTo>
                    <a:lnTo>
                      <a:pt x="738" y="36"/>
                    </a:lnTo>
                    <a:lnTo>
                      <a:pt x="744" y="26"/>
                    </a:lnTo>
                    <a:lnTo>
                      <a:pt x="752" y="11"/>
                    </a:lnTo>
                    <a:lnTo>
                      <a:pt x="758" y="0"/>
                    </a:lnTo>
                    <a:lnTo>
                      <a:pt x="762" y="5"/>
                    </a:lnTo>
                    <a:lnTo>
                      <a:pt x="767" y="11"/>
                    </a:lnTo>
                    <a:lnTo>
                      <a:pt x="773" y="17"/>
                    </a:lnTo>
                    <a:lnTo>
                      <a:pt x="775" y="20"/>
                    </a:lnTo>
                    <a:lnTo>
                      <a:pt x="762" y="40"/>
                    </a:lnTo>
                    <a:lnTo>
                      <a:pt x="749" y="59"/>
                    </a:lnTo>
                    <a:lnTo>
                      <a:pt x="735" y="79"/>
                    </a:lnTo>
                    <a:lnTo>
                      <a:pt x="721" y="98"/>
                    </a:lnTo>
                    <a:lnTo>
                      <a:pt x="707" y="118"/>
                    </a:lnTo>
                    <a:lnTo>
                      <a:pt x="692" y="137"/>
                    </a:lnTo>
                    <a:lnTo>
                      <a:pt x="678" y="156"/>
                    </a:lnTo>
                    <a:lnTo>
                      <a:pt x="663" y="176"/>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8" name="Freeform 20"/>
              <p:cNvSpPr>
                <a:spLocks/>
              </p:cNvSpPr>
              <p:nvPr/>
            </p:nvSpPr>
            <p:spPr bwMode="auto">
              <a:xfrm>
                <a:off x="1991" y="2949"/>
                <a:ext cx="237" cy="188"/>
              </a:xfrm>
              <a:custGeom>
                <a:avLst/>
                <a:gdLst>
                  <a:gd name="T0" fmla="*/ 197 w 237"/>
                  <a:gd name="T1" fmla="*/ 188 h 188"/>
                  <a:gd name="T2" fmla="*/ 191 w 237"/>
                  <a:gd name="T3" fmla="*/ 179 h 188"/>
                  <a:gd name="T4" fmla="*/ 183 w 237"/>
                  <a:gd name="T5" fmla="*/ 170 h 188"/>
                  <a:gd name="T6" fmla="*/ 175 w 237"/>
                  <a:gd name="T7" fmla="*/ 162 h 188"/>
                  <a:gd name="T8" fmla="*/ 167 w 237"/>
                  <a:gd name="T9" fmla="*/ 153 h 188"/>
                  <a:gd name="T10" fmla="*/ 160 w 237"/>
                  <a:gd name="T11" fmla="*/ 145 h 188"/>
                  <a:gd name="T12" fmla="*/ 152 w 237"/>
                  <a:gd name="T13" fmla="*/ 136 h 188"/>
                  <a:gd name="T14" fmla="*/ 144 w 237"/>
                  <a:gd name="T15" fmla="*/ 128 h 188"/>
                  <a:gd name="T16" fmla="*/ 136 w 237"/>
                  <a:gd name="T17" fmla="*/ 119 h 188"/>
                  <a:gd name="T18" fmla="*/ 123 w 237"/>
                  <a:gd name="T19" fmla="*/ 105 h 188"/>
                  <a:gd name="T20" fmla="*/ 110 w 237"/>
                  <a:gd name="T21" fmla="*/ 95 h 188"/>
                  <a:gd name="T22" fmla="*/ 95 w 237"/>
                  <a:gd name="T23" fmla="*/ 86 h 188"/>
                  <a:gd name="T24" fmla="*/ 78 w 237"/>
                  <a:gd name="T25" fmla="*/ 78 h 188"/>
                  <a:gd name="T26" fmla="*/ 61 w 237"/>
                  <a:gd name="T27" fmla="*/ 73 h 188"/>
                  <a:gd name="T28" fmla="*/ 44 w 237"/>
                  <a:gd name="T29" fmla="*/ 66 h 188"/>
                  <a:gd name="T30" fmla="*/ 28 w 237"/>
                  <a:gd name="T31" fmla="*/ 60 h 188"/>
                  <a:gd name="T32" fmla="*/ 11 w 237"/>
                  <a:gd name="T33" fmla="*/ 53 h 188"/>
                  <a:gd name="T34" fmla="*/ 7 w 237"/>
                  <a:gd name="T35" fmla="*/ 51 h 188"/>
                  <a:gd name="T36" fmla="*/ 4 w 237"/>
                  <a:gd name="T37" fmla="*/ 48 h 188"/>
                  <a:gd name="T38" fmla="*/ 2 w 237"/>
                  <a:gd name="T39" fmla="*/ 45 h 188"/>
                  <a:gd name="T40" fmla="*/ 0 w 237"/>
                  <a:gd name="T41" fmla="*/ 42 h 188"/>
                  <a:gd name="T42" fmla="*/ 0 w 237"/>
                  <a:gd name="T43" fmla="*/ 31 h 188"/>
                  <a:gd name="T44" fmla="*/ 4 w 237"/>
                  <a:gd name="T45" fmla="*/ 21 h 188"/>
                  <a:gd name="T46" fmla="*/ 9 w 237"/>
                  <a:gd name="T47" fmla="*/ 13 h 188"/>
                  <a:gd name="T48" fmla="*/ 20 w 237"/>
                  <a:gd name="T49" fmla="*/ 8 h 188"/>
                  <a:gd name="T50" fmla="*/ 33 w 237"/>
                  <a:gd name="T51" fmla="*/ 4 h 188"/>
                  <a:gd name="T52" fmla="*/ 47 w 237"/>
                  <a:gd name="T53" fmla="*/ 1 h 188"/>
                  <a:gd name="T54" fmla="*/ 61 w 237"/>
                  <a:gd name="T55" fmla="*/ 0 h 188"/>
                  <a:gd name="T56" fmla="*/ 75 w 237"/>
                  <a:gd name="T57" fmla="*/ 1 h 188"/>
                  <a:gd name="T58" fmla="*/ 90 w 237"/>
                  <a:gd name="T59" fmla="*/ 4 h 188"/>
                  <a:gd name="T60" fmla="*/ 103 w 237"/>
                  <a:gd name="T61" fmla="*/ 8 h 188"/>
                  <a:gd name="T62" fmla="*/ 116 w 237"/>
                  <a:gd name="T63" fmla="*/ 13 h 188"/>
                  <a:gd name="T64" fmla="*/ 129 w 237"/>
                  <a:gd name="T65" fmla="*/ 20 h 188"/>
                  <a:gd name="T66" fmla="*/ 145 w 237"/>
                  <a:gd name="T67" fmla="*/ 30 h 188"/>
                  <a:gd name="T68" fmla="*/ 161 w 237"/>
                  <a:gd name="T69" fmla="*/ 42 h 188"/>
                  <a:gd name="T70" fmla="*/ 175 w 237"/>
                  <a:gd name="T71" fmla="*/ 53 h 188"/>
                  <a:gd name="T72" fmla="*/ 188 w 237"/>
                  <a:gd name="T73" fmla="*/ 68 h 188"/>
                  <a:gd name="T74" fmla="*/ 201 w 237"/>
                  <a:gd name="T75" fmla="*/ 82 h 188"/>
                  <a:gd name="T76" fmla="*/ 213 w 237"/>
                  <a:gd name="T77" fmla="*/ 97 h 188"/>
                  <a:gd name="T78" fmla="*/ 226 w 237"/>
                  <a:gd name="T79" fmla="*/ 112 h 188"/>
                  <a:gd name="T80" fmla="*/ 237 w 237"/>
                  <a:gd name="T81" fmla="*/ 127 h 188"/>
                  <a:gd name="T82" fmla="*/ 232 w 237"/>
                  <a:gd name="T83" fmla="*/ 135 h 188"/>
                  <a:gd name="T84" fmla="*/ 227 w 237"/>
                  <a:gd name="T85" fmla="*/ 143 h 188"/>
                  <a:gd name="T86" fmla="*/ 222 w 237"/>
                  <a:gd name="T87" fmla="*/ 150 h 188"/>
                  <a:gd name="T88" fmla="*/ 218 w 237"/>
                  <a:gd name="T89" fmla="*/ 158 h 188"/>
                  <a:gd name="T90" fmla="*/ 213 w 237"/>
                  <a:gd name="T91" fmla="*/ 166 h 188"/>
                  <a:gd name="T92" fmla="*/ 208 w 237"/>
                  <a:gd name="T93" fmla="*/ 174 h 188"/>
                  <a:gd name="T94" fmla="*/ 202 w 237"/>
                  <a:gd name="T95" fmla="*/ 180 h 188"/>
                  <a:gd name="T96" fmla="*/ 197 w 237"/>
                  <a:gd name="T97" fmla="*/ 188 h 1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37"/>
                  <a:gd name="T148" fmla="*/ 0 h 188"/>
                  <a:gd name="T149" fmla="*/ 237 w 237"/>
                  <a:gd name="T150" fmla="*/ 188 h 1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37" h="188">
                    <a:moveTo>
                      <a:pt x="197" y="188"/>
                    </a:moveTo>
                    <a:lnTo>
                      <a:pt x="191" y="179"/>
                    </a:lnTo>
                    <a:lnTo>
                      <a:pt x="183" y="170"/>
                    </a:lnTo>
                    <a:lnTo>
                      <a:pt x="175" y="162"/>
                    </a:lnTo>
                    <a:lnTo>
                      <a:pt x="167" y="153"/>
                    </a:lnTo>
                    <a:lnTo>
                      <a:pt x="160" y="145"/>
                    </a:lnTo>
                    <a:lnTo>
                      <a:pt x="152" y="136"/>
                    </a:lnTo>
                    <a:lnTo>
                      <a:pt x="144" y="128"/>
                    </a:lnTo>
                    <a:lnTo>
                      <a:pt x="136" y="119"/>
                    </a:lnTo>
                    <a:lnTo>
                      <a:pt x="123" y="105"/>
                    </a:lnTo>
                    <a:lnTo>
                      <a:pt x="110" y="95"/>
                    </a:lnTo>
                    <a:lnTo>
                      <a:pt x="95" y="86"/>
                    </a:lnTo>
                    <a:lnTo>
                      <a:pt x="78" y="78"/>
                    </a:lnTo>
                    <a:lnTo>
                      <a:pt x="61" y="73"/>
                    </a:lnTo>
                    <a:lnTo>
                      <a:pt x="44" y="66"/>
                    </a:lnTo>
                    <a:lnTo>
                      <a:pt x="28" y="60"/>
                    </a:lnTo>
                    <a:lnTo>
                      <a:pt x="11" y="53"/>
                    </a:lnTo>
                    <a:lnTo>
                      <a:pt x="7" y="51"/>
                    </a:lnTo>
                    <a:lnTo>
                      <a:pt x="4" y="48"/>
                    </a:lnTo>
                    <a:lnTo>
                      <a:pt x="2" y="45"/>
                    </a:lnTo>
                    <a:lnTo>
                      <a:pt x="0" y="42"/>
                    </a:lnTo>
                    <a:lnTo>
                      <a:pt x="0" y="31"/>
                    </a:lnTo>
                    <a:lnTo>
                      <a:pt x="4" y="21"/>
                    </a:lnTo>
                    <a:lnTo>
                      <a:pt x="9" y="13"/>
                    </a:lnTo>
                    <a:lnTo>
                      <a:pt x="20" y="8"/>
                    </a:lnTo>
                    <a:lnTo>
                      <a:pt x="33" y="4"/>
                    </a:lnTo>
                    <a:lnTo>
                      <a:pt x="47" y="1"/>
                    </a:lnTo>
                    <a:lnTo>
                      <a:pt x="61" y="0"/>
                    </a:lnTo>
                    <a:lnTo>
                      <a:pt x="75" y="1"/>
                    </a:lnTo>
                    <a:lnTo>
                      <a:pt x="90" y="4"/>
                    </a:lnTo>
                    <a:lnTo>
                      <a:pt x="103" y="8"/>
                    </a:lnTo>
                    <a:lnTo>
                      <a:pt x="116" y="13"/>
                    </a:lnTo>
                    <a:lnTo>
                      <a:pt x="129" y="20"/>
                    </a:lnTo>
                    <a:lnTo>
                      <a:pt x="145" y="30"/>
                    </a:lnTo>
                    <a:lnTo>
                      <a:pt x="161" y="42"/>
                    </a:lnTo>
                    <a:lnTo>
                      <a:pt x="175" y="53"/>
                    </a:lnTo>
                    <a:lnTo>
                      <a:pt x="188" y="68"/>
                    </a:lnTo>
                    <a:lnTo>
                      <a:pt x="201" y="82"/>
                    </a:lnTo>
                    <a:lnTo>
                      <a:pt x="213" y="97"/>
                    </a:lnTo>
                    <a:lnTo>
                      <a:pt x="226" y="112"/>
                    </a:lnTo>
                    <a:lnTo>
                      <a:pt x="237" y="127"/>
                    </a:lnTo>
                    <a:lnTo>
                      <a:pt x="232" y="135"/>
                    </a:lnTo>
                    <a:lnTo>
                      <a:pt x="227" y="143"/>
                    </a:lnTo>
                    <a:lnTo>
                      <a:pt x="222" y="150"/>
                    </a:lnTo>
                    <a:lnTo>
                      <a:pt x="218" y="158"/>
                    </a:lnTo>
                    <a:lnTo>
                      <a:pt x="213" y="166"/>
                    </a:lnTo>
                    <a:lnTo>
                      <a:pt x="208" y="174"/>
                    </a:lnTo>
                    <a:lnTo>
                      <a:pt x="202" y="180"/>
                    </a:lnTo>
                    <a:lnTo>
                      <a:pt x="197" y="188"/>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9" name="Freeform 21"/>
              <p:cNvSpPr>
                <a:spLocks/>
              </p:cNvSpPr>
              <p:nvPr/>
            </p:nvSpPr>
            <p:spPr bwMode="auto">
              <a:xfrm>
                <a:off x="2226" y="2783"/>
                <a:ext cx="164" cy="275"/>
              </a:xfrm>
              <a:custGeom>
                <a:avLst/>
                <a:gdLst>
                  <a:gd name="T0" fmla="*/ 160 w 164"/>
                  <a:gd name="T1" fmla="*/ 91 h 275"/>
                  <a:gd name="T2" fmla="*/ 142 w 164"/>
                  <a:gd name="T3" fmla="*/ 112 h 275"/>
                  <a:gd name="T4" fmla="*/ 125 w 164"/>
                  <a:gd name="T5" fmla="*/ 132 h 275"/>
                  <a:gd name="T6" fmla="*/ 108 w 164"/>
                  <a:gd name="T7" fmla="*/ 155 h 275"/>
                  <a:gd name="T8" fmla="*/ 92 w 164"/>
                  <a:gd name="T9" fmla="*/ 175 h 275"/>
                  <a:gd name="T10" fmla="*/ 75 w 164"/>
                  <a:gd name="T11" fmla="*/ 197 h 275"/>
                  <a:gd name="T12" fmla="*/ 58 w 164"/>
                  <a:gd name="T13" fmla="*/ 218 h 275"/>
                  <a:gd name="T14" fmla="*/ 41 w 164"/>
                  <a:gd name="T15" fmla="*/ 240 h 275"/>
                  <a:gd name="T16" fmla="*/ 23 w 164"/>
                  <a:gd name="T17" fmla="*/ 261 h 275"/>
                  <a:gd name="T18" fmla="*/ 19 w 164"/>
                  <a:gd name="T19" fmla="*/ 266 h 275"/>
                  <a:gd name="T20" fmla="*/ 17 w 164"/>
                  <a:gd name="T21" fmla="*/ 267 h 275"/>
                  <a:gd name="T22" fmla="*/ 14 w 164"/>
                  <a:gd name="T23" fmla="*/ 270 h 275"/>
                  <a:gd name="T24" fmla="*/ 10 w 164"/>
                  <a:gd name="T25" fmla="*/ 275 h 275"/>
                  <a:gd name="T26" fmla="*/ 7 w 164"/>
                  <a:gd name="T27" fmla="*/ 270 h 275"/>
                  <a:gd name="T28" fmla="*/ 4 w 164"/>
                  <a:gd name="T29" fmla="*/ 266 h 275"/>
                  <a:gd name="T30" fmla="*/ 1 w 164"/>
                  <a:gd name="T31" fmla="*/ 262 h 275"/>
                  <a:gd name="T32" fmla="*/ 0 w 164"/>
                  <a:gd name="T33" fmla="*/ 261 h 275"/>
                  <a:gd name="T34" fmla="*/ 5 w 164"/>
                  <a:gd name="T35" fmla="*/ 253 h 275"/>
                  <a:gd name="T36" fmla="*/ 10 w 164"/>
                  <a:gd name="T37" fmla="*/ 248 h 275"/>
                  <a:gd name="T38" fmla="*/ 15 w 164"/>
                  <a:gd name="T39" fmla="*/ 241 h 275"/>
                  <a:gd name="T40" fmla="*/ 22 w 164"/>
                  <a:gd name="T41" fmla="*/ 234 h 275"/>
                  <a:gd name="T42" fmla="*/ 23 w 164"/>
                  <a:gd name="T43" fmla="*/ 232 h 275"/>
                  <a:gd name="T44" fmla="*/ 28 w 164"/>
                  <a:gd name="T45" fmla="*/ 230 h 275"/>
                  <a:gd name="T46" fmla="*/ 33 w 164"/>
                  <a:gd name="T47" fmla="*/ 227 h 275"/>
                  <a:gd name="T48" fmla="*/ 40 w 164"/>
                  <a:gd name="T49" fmla="*/ 222 h 275"/>
                  <a:gd name="T50" fmla="*/ 46 w 164"/>
                  <a:gd name="T51" fmla="*/ 215 h 275"/>
                  <a:gd name="T52" fmla="*/ 50 w 164"/>
                  <a:gd name="T53" fmla="*/ 208 h 275"/>
                  <a:gd name="T54" fmla="*/ 53 w 164"/>
                  <a:gd name="T55" fmla="*/ 199 h 275"/>
                  <a:gd name="T56" fmla="*/ 51 w 164"/>
                  <a:gd name="T57" fmla="*/ 188 h 275"/>
                  <a:gd name="T58" fmla="*/ 55 w 164"/>
                  <a:gd name="T59" fmla="*/ 179 h 275"/>
                  <a:gd name="T60" fmla="*/ 66 w 164"/>
                  <a:gd name="T61" fmla="*/ 165 h 275"/>
                  <a:gd name="T62" fmla="*/ 77 w 164"/>
                  <a:gd name="T63" fmla="*/ 149 h 275"/>
                  <a:gd name="T64" fmla="*/ 88 w 164"/>
                  <a:gd name="T65" fmla="*/ 135 h 275"/>
                  <a:gd name="T66" fmla="*/ 92 w 164"/>
                  <a:gd name="T67" fmla="*/ 132 h 275"/>
                  <a:gd name="T68" fmla="*/ 95 w 164"/>
                  <a:gd name="T69" fmla="*/ 130 h 275"/>
                  <a:gd name="T70" fmla="*/ 99 w 164"/>
                  <a:gd name="T71" fmla="*/ 127 h 275"/>
                  <a:gd name="T72" fmla="*/ 102 w 164"/>
                  <a:gd name="T73" fmla="*/ 125 h 275"/>
                  <a:gd name="T74" fmla="*/ 114 w 164"/>
                  <a:gd name="T75" fmla="*/ 112 h 275"/>
                  <a:gd name="T76" fmla="*/ 120 w 164"/>
                  <a:gd name="T77" fmla="*/ 95 h 275"/>
                  <a:gd name="T78" fmla="*/ 120 w 164"/>
                  <a:gd name="T79" fmla="*/ 79 h 275"/>
                  <a:gd name="T80" fmla="*/ 115 w 164"/>
                  <a:gd name="T81" fmla="*/ 63 h 275"/>
                  <a:gd name="T82" fmla="*/ 110 w 164"/>
                  <a:gd name="T83" fmla="*/ 53 h 275"/>
                  <a:gd name="T84" fmla="*/ 102 w 164"/>
                  <a:gd name="T85" fmla="*/ 35 h 275"/>
                  <a:gd name="T86" fmla="*/ 92 w 164"/>
                  <a:gd name="T87" fmla="*/ 16 h 275"/>
                  <a:gd name="T88" fmla="*/ 83 w 164"/>
                  <a:gd name="T89" fmla="*/ 0 h 275"/>
                  <a:gd name="T90" fmla="*/ 90 w 164"/>
                  <a:gd name="T91" fmla="*/ 4 h 275"/>
                  <a:gd name="T92" fmla="*/ 103 w 164"/>
                  <a:gd name="T93" fmla="*/ 11 h 275"/>
                  <a:gd name="T94" fmla="*/ 119 w 164"/>
                  <a:gd name="T95" fmla="*/ 20 h 275"/>
                  <a:gd name="T96" fmla="*/ 134 w 164"/>
                  <a:gd name="T97" fmla="*/ 31 h 275"/>
                  <a:gd name="T98" fmla="*/ 149 w 164"/>
                  <a:gd name="T99" fmla="*/ 44 h 275"/>
                  <a:gd name="T100" fmla="*/ 159 w 164"/>
                  <a:gd name="T101" fmla="*/ 59 h 275"/>
                  <a:gd name="T102" fmla="*/ 164 w 164"/>
                  <a:gd name="T103" fmla="*/ 74 h 275"/>
                  <a:gd name="T104" fmla="*/ 160 w 164"/>
                  <a:gd name="T105" fmla="*/ 91 h 27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4"/>
                  <a:gd name="T160" fmla="*/ 0 h 275"/>
                  <a:gd name="T161" fmla="*/ 164 w 164"/>
                  <a:gd name="T162" fmla="*/ 275 h 275"/>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4" h="275">
                    <a:moveTo>
                      <a:pt x="160" y="91"/>
                    </a:moveTo>
                    <a:lnTo>
                      <a:pt x="142" y="112"/>
                    </a:lnTo>
                    <a:lnTo>
                      <a:pt x="125" y="132"/>
                    </a:lnTo>
                    <a:lnTo>
                      <a:pt x="108" y="155"/>
                    </a:lnTo>
                    <a:lnTo>
                      <a:pt x="92" y="175"/>
                    </a:lnTo>
                    <a:lnTo>
                      <a:pt x="75" y="197"/>
                    </a:lnTo>
                    <a:lnTo>
                      <a:pt x="58" y="218"/>
                    </a:lnTo>
                    <a:lnTo>
                      <a:pt x="41" y="240"/>
                    </a:lnTo>
                    <a:lnTo>
                      <a:pt x="23" y="261"/>
                    </a:lnTo>
                    <a:lnTo>
                      <a:pt x="19" y="266"/>
                    </a:lnTo>
                    <a:lnTo>
                      <a:pt x="17" y="267"/>
                    </a:lnTo>
                    <a:lnTo>
                      <a:pt x="14" y="270"/>
                    </a:lnTo>
                    <a:lnTo>
                      <a:pt x="10" y="275"/>
                    </a:lnTo>
                    <a:lnTo>
                      <a:pt x="7" y="270"/>
                    </a:lnTo>
                    <a:lnTo>
                      <a:pt x="4" y="266"/>
                    </a:lnTo>
                    <a:lnTo>
                      <a:pt x="1" y="262"/>
                    </a:lnTo>
                    <a:lnTo>
                      <a:pt x="0" y="261"/>
                    </a:lnTo>
                    <a:lnTo>
                      <a:pt x="5" y="253"/>
                    </a:lnTo>
                    <a:lnTo>
                      <a:pt x="10" y="248"/>
                    </a:lnTo>
                    <a:lnTo>
                      <a:pt x="15" y="241"/>
                    </a:lnTo>
                    <a:lnTo>
                      <a:pt x="22" y="234"/>
                    </a:lnTo>
                    <a:lnTo>
                      <a:pt x="23" y="232"/>
                    </a:lnTo>
                    <a:lnTo>
                      <a:pt x="28" y="230"/>
                    </a:lnTo>
                    <a:lnTo>
                      <a:pt x="33" y="227"/>
                    </a:lnTo>
                    <a:lnTo>
                      <a:pt x="40" y="222"/>
                    </a:lnTo>
                    <a:lnTo>
                      <a:pt x="46" y="215"/>
                    </a:lnTo>
                    <a:lnTo>
                      <a:pt x="50" y="208"/>
                    </a:lnTo>
                    <a:lnTo>
                      <a:pt x="53" y="199"/>
                    </a:lnTo>
                    <a:lnTo>
                      <a:pt x="51" y="188"/>
                    </a:lnTo>
                    <a:lnTo>
                      <a:pt x="55" y="179"/>
                    </a:lnTo>
                    <a:lnTo>
                      <a:pt x="66" y="165"/>
                    </a:lnTo>
                    <a:lnTo>
                      <a:pt x="77" y="149"/>
                    </a:lnTo>
                    <a:lnTo>
                      <a:pt x="88" y="135"/>
                    </a:lnTo>
                    <a:lnTo>
                      <a:pt x="92" y="132"/>
                    </a:lnTo>
                    <a:lnTo>
                      <a:pt x="95" y="130"/>
                    </a:lnTo>
                    <a:lnTo>
                      <a:pt x="99" y="127"/>
                    </a:lnTo>
                    <a:lnTo>
                      <a:pt x="102" y="125"/>
                    </a:lnTo>
                    <a:lnTo>
                      <a:pt x="114" y="112"/>
                    </a:lnTo>
                    <a:lnTo>
                      <a:pt x="120" y="95"/>
                    </a:lnTo>
                    <a:lnTo>
                      <a:pt x="120" y="79"/>
                    </a:lnTo>
                    <a:lnTo>
                      <a:pt x="115" y="63"/>
                    </a:lnTo>
                    <a:lnTo>
                      <a:pt x="110" y="53"/>
                    </a:lnTo>
                    <a:lnTo>
                      <a:pt x="102" y="35"/>
                    </a:lnTo>
                    <a:lnTo>
                      <a:pt x="92" y="16"/>
                    </a:lnTo>
                    <a:lnTo>
                      <a:pt x="83" y="0"/>
                    </a:lnTo>
                    <a:lnTo>
                      <a:pt x="90" y="4"/>
                    </a:lnTo>
                    <a:lnTo>
                      <a:pt x="103" y="11"/>
                    </a:lnTo>
                    <a:lnTo>
                      <a:pt x="119" y="20"/>
                    </a:lnTo>
                    <a:lnTo>
                      <a:pt x="134" y="31"/>
                    </a:lnTo>
                    <a:lnTo>
                      <a:pt x="149" y="44"/>
                    </a:lnTo>
                    <a:lnTo>
                      <a:pt x="159" y="59"/>
                    </a:lnTo>
                    <a:lnTo>
                      <a:pt x="164" y="74"/>
                    </a:lnTo>
                    <a:lnTo>
                      <a:pt x="160" y="91"/>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50" name="Freeform 22"/>
              <p:cNvSpPr>
                <a:spLocks/>
              </p:cNvSpPr>
              <p:nvPr/>
            </p:nvSpPr>
            <p:spPr bwMode="auto">
              <a:xfrm>
                <a:off x="2209" y="2945"/>
                <a:ext cx="57" cy="57"/>
              </a:xfrm>
              <a:custGeom>
                <a:avLst/>
                <a:gdLst>
                  <a:gd name="T0" fmla="*/ 0 w 57"/>
                  <a:gd name="T1" fmla="*/ 52 h 57"/>
                  <a:gd name="T2" fmla="*/ 5 w 57"/>
                  <a:gd name="T3" fmla="*/ 44 h 57"/>
                  <a:gd name="T4" fmla="*/ 12 w 57"/>
                  <a:gd name="T5" fmla="*/ 37 h 57"/>
                  <a:gd name="T6" fmla="*/ 18 w 57"/>
                  <a:gd name="T7" fmla="*/ 27 h 57"/>
                  <a:gd name="T8" fmla="*/ 24 w 57"/>
                  <a:gd name="T9" fmla="*/ 20 h 57"/>
                  <a:gd name="T10" fmla="*/ 30 w 57"/>
                  <a:gd name="T11" fmla="*/ 12 h 57"/>
                  <a:gd name="T12" fmla="*/ 35 w 57"/>
                  <a:gd name="T13" fmla="*/ 7 h 57"/>
                  <a:gd name="T14" fmla="*/ 39 w 57"/>
                  <a:gd name="T15" fmla="*/ 2 h 57"/>
                  <a:gd name="T16" fmla="*/ 41 w 57"/>
                  <a:gd name="T17" fmla="*/ 0 h 57"/>
                  <a:gd name="T18" fmla="*/ 46 w 57"/>
                  <a:gd name="T19" fmla="*/ 7 h 57"/>
                  <a:gd name="T20" fmla="*/ 52 w 57"/>
                  <a:gd name="T21" fmla="*/ 16 h 57"/>
                  <a:gd name="T22" fmla="*/ 57 w 57"/>
                  <a:gd name="T23" fmla="*/ 27 h 57"/>
                  <a:gd name="T24" fmla="*/ 57 w 57"/>
                  <a:gd name="T25" fmla="*/ 35 h 57"/>
                  <a:gd name="T26" fmla="*/ 53 w 57"/>
                  <a:gd name="T27" fmla="*/ 43 h 57"/>
                  <a:gd name="T28" fmla="*/ 49 w 57"/>
                  <a:gd name="T29" fmla="*/ 49 h 57"/>
                  <a:gd name="T30" fmla="*/ 43 w 57"/>
                  <a:gd name="T31" fmla="*/ 53 h 57"/>
                  <a:gd name="T32" fmla="*/ 35 w 57"/>
                  <a:gd name="T33" fmla="*/ 56 h 57"/>
                  <a:gd name="T34" fmla="*/ 27 w 57"/>
                  <a:gd name="T35" fmla="*/ 57 h 57"/>
                  <a:gd name="T36" fmla="*/ 18 w 57"/>
                  <a:gd name="T37" fmla="*/ 57 h 57"/>
                  <a:gd name="T38" fmla="*/ 9 w 57"/>
                  <a:gd name="T39" fmla="*/ 55 h 57"/>
                  <a:gd name="T40" fmla="*/ 0 w 57"/>
                  <a:gd name="T41" fmla="*/ 52 h 5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
                  <a:gd name="T64" fmla="*/ 0 h 57"/>
                  <a:gd name="T65" fmla="*/ 57 w 57"/>
                  <a:gd name="T66" fmla="*/ 57 h 5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 h="57">
                    <a:moveTo>
                      <a:pt x="0" y="52"/>
                    </a:moveTo>
                    <a:lnTo>
                      <a:pt x="5" y="44"/>
                    </a:lnTo>
                    <a:lnTo>
                      <a:pt x="12" y="37"/>
                    </a:lnTo>
                    <a:lnTo>
                      <a:pt x="18" y="27"/>
                    </a:lnTo>
                    <a:lnTo>
                      <a:pt x="24" y="20"/>
                    </a:lnTo>
                    <a:lnTo>
                      <a:pt x="30" y="12"/>
                    </a:lnTo>
                    <a:lnTo>
                      <a:pt x="35" y="7"/>
                    </a:lnTo>
                    <a:lnTo>
                      <a:pt x="39" y="2"/>
                    </a:lnTo>
                    <a:lnTo>
                      <a:pt x="41" y="0"/>
                    </a:lnTo>
                    <a:lnTo>
                      <a:pt x="46" y="7"/>
                    </a:lnTo>
                    <a:lnTo>
                      <a:pt x="52" y="16"/>
                    </a:lnTo>
                    <a:lnTo>
                      <a:pt x="57" y="27"/>
                    </a:lnTo>
                    <a:lnTo>
                      <a:pt x="57" y="35"/>
                    </a:lnTo>
                    <a:lnTo>
                      <a:pt x="53" y="43"/>
                    </a:lnTo>
                    <a:lnTo>
                      <a:pt x="49" y="49"/>
                    </a:lnTo>
                    <a:lnTo>
                      <a:pt x="43" y="53"/>
                    </a:lnTo>
                    <a:lnTo>
                      <a:pt x="35" y="56"/>
                    </a:lnTo>
                    <a:lnTo>
                      <a:pt x="27" y="57"/>
                    </a:lnTo>
                    <a:lnTo>
                      <a:pt x="18" y="57"/>
                    </a:lnTo>
                    <a:lnTo>
                      <a:pt x="9" y="55"/>
                    </a:lnTo>
                    <a:lnTo>
                      <a:pt x="0" y="5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51" name="Freeform 23"/>
              <p:cNvSpPr>
                <a:spLocks/>
              </p:cNvSpPr>
              <p:nvPr/>
            </p:nvSpPr>
            <p:spPr bwMode="auto">
              <a:xfrm>
                <a:off x="2034" y="2963"/>
                <a:ext cx="51" cy="41"/>
              </a:xfrm>
              <a:custGeom>
                <a:avLst/>
                <a:gdLst>
                  <a:gd name="T0" fmla="*/ 26 w 51"/>
                  <a:gd name="T1" fmla="*/ 0 h 41"/>
                  <a:gd name="T2" fmla="*/ 16 w 51"/>
                  <a:gd name="T3" fmla="*/ 2 h 41"/>
                  <a:gd name="T4" fmla="*/ 8 w 51"/>
                  <a:gd name="T5" fmla="*/ 7 h 41"/>
                  <a:gd name="T6" fmla="*/ 3 w 51"/>
                  <a:gd name="T7" fmla="*/ 13 h 41"/>
                  <a:gd name="T8" fmla="*/ 0 w 51"/>
                  <a:gd name="T9" fmla="*/ 21 h 41"/>
                  <a:gd name="T10" fmla="*/ 3 w 51"/>
                  <a:gd name="T11" fmla="*/ 29 h 41"/>
                  <a:gd name="T12" fmla="*/ 8 w 51"/>
                  <a:gd name="T13" fmla="*/ 34 h 41"/>
                  <a:gd name="T14" fmla="*/ 16 w 51"/>
                  <a:gd name="T15" fmla="*/ 39 h 41"/>
                  <a:gd name="T16" fmla="*/ 26 w 51"/>
                  <a:gd name="T17" fmla="*/ 41 h 41"/>
                  <a:gd name="T18" fmla="*/ 35 w 51"/>
                  <a:gd name="T19" fmla="*/ 39 h 41"/>
                  <a:gd name="T20" fmla="*/ 43 w 51"/>
                  <a:gd name="T21" fmla="*/ 34 h 41"/>
                  <a:gd name="T22" fmla="*/ 48 w 51"/>
                  <a:gd name="T23" fmla="*/ 29 h 41"/>
                  <a:gd name="T24" fmla="*/ 51 w 51"/>
                  <a:gd name="T25" fmla="*/ 21 h 41"/>
                  <a:gd name="T26" fmla="*/ 48 w 51"/>
                  <a:gd name="T27" fmla="*/ 13 h 41"/>
                  <a:gd name="T28" fmla="*/ 43 w 51"/>
                  <a:gd name="T29" fmla="*/ 7 h 41"/>
                  <a:gd name="T30" fmla="*/ 35 w 51"/>
                  <a:gd name="T31" fmla="*/ 2 h 41"/>
                  <a:gd name="T32" fmla="*/ 26 w 51"/>
                  <a:gd name="T33" fmla="*/ 0 h 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1"/>
                  <a:gd name="T52" fmla="*/ 0 h 41"/>
                  <a:gd name="T53" fmla="*/ 51 w 51"/>
                  <a:gd name="T54" fmla="*/ 41 h 4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1" h="41">
                    <a:moveTo>
                      <a:pt x="26" y="0"/>
                    </a:moveTo>
                    <a:lnTo>
                      <a:pt x="16" y="2"/>
                    </a:lnTo>
                    <a:lnTo>
                      <a:pt x="8" y="7"/>
                    </a:lnTo>
                    <a:lnTo>
                      <a:pt x="3" y="13"/>
                    </a:lnTo>
                    <a:lnTo>
                      <a:pt x="0" y="21"/>
                    </a:lnTo>
                    <a:lnTo>
                      <a:pt x="3" y="29"/>
                    </a:lnTo>
                    <a:lnTo>
                      <a:pt x="8" y="34"/>
                    </a:lnTo>
                    <a:lnTo>
                      <a:pt x="16" y="39"/>
                    </a:lnTo>
                    <a:lnTo>
                      <a:pt x="26" y="41"/>
                    </a:lnTo>
                    <a:lnTo>
                      <a:pt x="35" y="39"/>
                    </a:lnTo>
                    <a:lnTo>
                      <a:pt x="43" y="34"/>
                    </a:lnTo>
                    <a:lnTo>
                      <a:pt x="48" y="29"/>
                    </a:lnTo>
                    <a:lnTo>
                      <a:pt x="51" y="21"/>
                    </a:lnTo>
                    <a:lnTo>
                      <a:pt x="48" y="13"/>
                    </a:lnTo>
                    <a:lnTo>
                      <a:pt x="43" y="7"/>
                    </a:lnTo>
                    <a:lnTo>
                      <a:pt x="35" y="2"/>
                    </a:lnTo>
                    <a:lnTo>
                      <a:pt x="2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12294" name="Text Box 24"/>
          <p:cNvSpPr txBox="1">
            <a:spLocks noChangeArrowheads="1"/>
          </p:cNvSpPr>
          <p:nvPr/>
        </p:nvSpPr>
        <p:spPr bwMode="auto">
          <a:xfrm>
            <a:off x="666750" y="2641600"/>
            <a:ext cx="16129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r" eaLnBrk="1" hangingPunct="1"/>
            <a:r>
              <a:rPr lang="en-US" sz="2000" b="1" dirty="0"/>
              <a:t>contacts relevant to</a:t>
            </a:r>
            <a:br>
              <a:rPr lang="en-US" sz="2000" b="1" dirty="0"/>
            </a:br>
            <a:r>
              <a:rPr lang="en-US" sz="2000" b="1" dirty="0"/>
              <a:t>a single claim</a:t>
            </a:r>
          </a:p>
        </p:txBody>
      </p:sp>
      <p:sp>
        <p:nvSpPr>
          <p:cNvPr id="12295" name="AutoShape 25"/>
          <p:cNvSpPr>
            <a:spLocks noChangeArrowheads="1"/>
          </p:cNvSpPr>
          <p:nvPr/>
        </p:nvSpPr>
        <p:spPr bwMode="auto">
          <a:xfrm>
            <a:off x="2395538" y="855663"/>
            <a:ext cx="1881187" cy="3005137"/>
          </a:xfrm>
          <a:prstGeom prst="cube">
            <a:avLst>
              <a:gd name="adj" fmla="val 10472"/>
            </a:avLst>
          </a:prstGeom>
          <a:solidFill>
            <a:schemeClr val="tx1"/>
          </a:solidFill>
          <a:ln w="28575">
            <a:solidFill>
              <a:schemeClr val="bg1"/>
            </a:solidFill>
            <a:miter lim="800000"/>
            <a:headEnd/>
            <a:tailEnd/>
          </a:ln>
        </p:spPr>
        <p:txBody>
          <a:bodyPr lIns="0" tIns="0" rIns="0" bIns="0" anchor="ctr">
            <a:spAutoFit/>
          </a:bodyPr>
          <a:lstStyle/>
          <a:p>
            <a:endParaRPr lang="en-US"/>
          </a:p>
        </p:txBody>
      </p:sp>
      <p:grpSp>
        <p:nvGrpSpPr>
          <p:cNvPr id="12296" name="Group 26"/>
          <p:cNvGrpSpPr>
            <a:grpSpLocks/>
          </p:cNvGrpSpPr>
          <p:nvPr/>
        </p:nvGrpSpPr>
        <p:grpSpPr bwMode="auto">
          <a:xfrm>
            <a:off x="2476500" y="2570163"/>
            <a:ext cx="692150" cy="511175"/>
            <a:chOff x="2083" y="1606"/>
            <a:chExt cx="1489" cy="1097"/>
          </a:xfrm>
        </p:grpSpPr>
        <p:sp>
          <p:nvSpPr>
            <p:cNvPr id="12301" name="Rectangle 27"/>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2302" name="Freeform 28"/>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2303" name="Freeform 29"/>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2304" name="Freeform 30"/>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2305" name="Freeform 31"/>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2306" name="Rectangle 32"/>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2307" name="Rectangle 33"/>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08" name="AutoShape 34"/>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2309" name="Freeform 35"/>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2310" name="Freeform 36"/>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2311" name="Rectangle 37"/>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12" name="Rectangle 38"/>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13" name="Rectangle 39"/>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2314" name="Group 40"/>
            <p:cNvGrpSpPr>
              <a:grpSpLocks/>
            </p:cNvGrpSpPr>
            <p:nvPr/>
          </p:nvGrpSpPr>
          <p:grpSpPr bwMode="auto">
            <a:xfrm>
              <a:off x="2221" y="1871"/>
              <a:ext cx="518" cy="782"/>
              <a:chOff x="2400" y="1656"/>
              <a:chExt cx="752" cy="1136"/>
            </a:xfrm>
          </p:grpSpPr>
          <p:sp>
            <p:nvSpPr>
              <p:cNvPr id="12327" name="Freeform 4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2328" name="Freeform 4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329" name="Freeform 4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330" name="Freeform 4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331" name="Freeform 4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2332" name="Line 4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333" name="Line 4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2315" name="Group 48"/>
            <p:cNvGrpSpPr>
              <a:grpSpLocks/>
            </p:cNvGrpSpPr>
            <p:nvPr/>
          </p:nvGrpSpPr>
          <p:grpSpPr bwMode="auto">
            <a:xfrm rot="-6511945">
              <a:off x="2834" y="1842"/>
              <a:ext cx="518" cy="783"/>
              <a:chOff x="2400" y="1656"/>
              <a:chExt cx="752" cy="1136"/>
            </a:xfrm>
          </p:grpSpPr>
          <p:sp>
            <p:nvSpPr>
              <p:cNvPr id="12320" name="Freeform 4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2321" name="Freeform 5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322" name="Freeform 5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323" name="Freeform 5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324" name="Freeform 5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325" name="Line 5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326" name="Line 5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2316" name="Freeform 56"/>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2317" name="Freeform 57"/>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2318" name="Rectangle 58"/>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19" name="Rectangle 59"/>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2297" name="AutoShape 60"/>
          <p:cNvSpPr>
            <a:spLocks noChangeArrowheads="1"/>
          </p:cNvSpPr>
          <p:nvPr/>
        </p:nvSpPr>
        <p:spPr bwMode="auto">
          <a:xfrm>
            <a:off x="2913063" y="2779713"/>
            <a:ext cx="984250" cy="98425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12298" name="Line 61"/>
          <p:cNvSpPr>
            <a:spLocks noChangeShapeType="1"/>
          </p:cNvSpPr>
          <p:nvPr/>
        </p:nvSpPr>
        <p:spPr bwMode="auto">
          <a:xfrm flipH="1">
            <a:off x="2638425" y="3217863"/>
            <a:ext cx="2809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299" name="Line 62"/>
          <p:cNvSpPr>
            <a:spLocks noChangeShapeType="1"/>
          </p:cNvSpPr>
          <p:nvPr/>
        </p:nvSpPr>
        <p:spPr bwMode="auto">
          <a:xfrm flipV="1">
            <a:off x="2638425" y="2954338"/>
            <a:ext cx="0" cy="26352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pic>
        <p:nvPicPr>
          <p:cNvPr id="12300" name="Picture 17" descr="claimcenter.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68588" y="1214438"/>
            <a:ext cx="1185862" cy="1185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4" name="Group 63"/>
          <p:cNvGrpSpPr/>
          <p:nvPr/>
        </p:nvGrpSpPr>
        <p:grpSpPr>
          <a:xfrm>
            <a:off x="6870913" y="1453342"/>
            <a:ext cx="1136650" cy="1066800"/>
            <a:chOff x="6781800" y="1524000"/>
            <a:chExt cx="1136650" cy="1066800"/>
          </a:xfrm>
        </p:grpSpPr>
        <p:pic>
          <p:nvPicPr>
            <p:cNvPr id="6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2379" y="1524000"/>
              <a:ext cx="994672" cy="993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66" name="Content Placeholder 5"/>
            <p:cNvSpPr txBox="1">
              <a:spLocks/>
            </p:cNvSpPr>
            <p:nvPr/>
          </p:nvSpPr>
          <p:spPr bwMode="auto">
            <a:xfrm>
              <a:off x="6781800" y="2300287"/>
              <a:ext cx="1136650" cy="290513"/>
            </a:xfrm>
            <a:prstGeom prst="rect">
              <a:avLst/>
            </a:prstGeom>
            <a:noFill/>
            <a:ln w="9525">
              <a:noFill/>
              <a:miter lim="800000"/>
              <a:headEnd/>
              <a:tailEnd/>
            </a:ln>
          </p:spPr>
          <p:txBody>
            <a:bodyPr lIns="0" tIns="0" rIns="0" bIns="0"/>
            <a:lstStyle/>
            <a:p>
              <a:pPr marL="457200" indent="-457200" algn="ctr" eaLnBrk="0" hangingPunct="0">
                <a:spcBef>
                  <a:spcPct val="40000"/>
                </a:spcBef>
                <a:buClr>
                  <a:srgbClr val="04628C"/>
                </a:buClr>
                <a:buSzPct val="90000"/>
                <a:buFont typeface="Arial" pitchFamily="34" charset="0"/>
                <a:buNone/>
                <a:defRPr/>
              </a:pPr>
              <a:r>
                <a:rPr lang="en-US" sz="1100" kern="0" dirty="0">
                  <a:solidFill>
                    <a:schemeClr val="tx1"/>
                  </a:solidFill>
                  <a:latin typeface="Arial Narrow" pitchFamily="34" charset="0"/>
                  <a:cs typeface="+mn-cs"/>
                </a:rPr>
                <a:t>ContactManager</a:t>
              </a:r>
            </a:p>
          </p:txBody>
        </p:sp>
      </p:grpSp>
      <p:sp>
        <p:nvSpPr>
          <p:cNvPr id="67" name="Line 133"/>
          <p:cNvSpPr>
            <a:spLocks noChangeShapeType="1"/>
          </p:cNvSpPr>
          <p:nvPr/>
        </p:nvSpPr>
        <p:spPr bwMode="auto">
          <a:xfrm>
            <a:off x="4276725" y="1933126"/>
            <a:ext cx="560388" cy="0"/>
          </a:xfrm>
          <a:prstGeom prst="line">
            <a:avLst/>
          </a:prstGeom>
          <a:noFill/>
          <a:ln w="28575">
            <a:solidFill>
              <a:srgbClr val="0070C0"/>
            </a:solidFill>
            <a:round/>
            <a:headEnd type="triangle" w="med" len="me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68" name="Line 133"/>
          <p:cNvSpPr>
            <a:spLocks noChangeShapeType="1"/>
          </p:cNvSpPr>
          <p:nvPr/>
        </p:nvSpPr>
        <p:spPr bwMode="auto">
          <a:xfrm>
            <a:off x="4276725" y="2026151"/>
            <a:ext cx="592138" cy="0"/>
          </a:xfrm>
          <a:prstGeom prst="line">
            <a:avLst/>
          </a:prstGeom>
          <a:noFill/>
          <a:ln w="28575">
            <a:solidFill>
              <a:srgbClr val="008000"/>
            </a:solidFill>
            <a:round/>
            <a:headEnd type="none" w="med" len="med"/>
            <a:tailEnd type="triangle"/>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2423147012"/>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|EOS~013|</a:t>
            </a:r>
            <a:endParaRPr lang="en-US" sz="100" dirty="0" err="1" smtClean="0">
              <a:solidFill>
                <a:srgbClr val="FFFFFF"/>
              </a:solidFill>
              <a:latin typeface="Arial"/>
              <a:cs typeface="Calibri" pitchFamily="34" charset="0"/>
            </a:endParaRPr>
          </a:p>
        </p:txBody>
      </p:sp>
      <p:sp>
        <p:nvSpPr>
          <p:cNvPr id="13314" name="Rectangle 2"/>
          <p:cNvSpPr>
            <a:spLocks noGrp="1" noChangeArrowheads="1"/>
          </p:cNvSpPr>
          <p:nvPr>
            <p:ph type="title"/>
          </p:nvPr>
        </p:nvSpPr>
        <p:spPr/>
        <p:txBody>
          <a:bodyPr/>
          <a:lstStyle/>
          <a:p>
            <a:pPr eaLnBrk="1" hangingPunct="1"/>
            <a:r>
              <a:rPr lang="en-US" dirty="0" smtClean="0"/>
              <a:t>“Local” contacts</a:t>
            </a:r>
          </a:p>
        </p:txBody>
      </p:sp>
      <p:sp>
        <p:nvSpPr>
          <p:cNvPr id="13315" name="Rectangle 61"/>
          <p:cNvSpPr>
            <a:spLocks noGrp="1" noChangeArrowheads="1"/>
          </p:cNvSpPr>
          <p:nvPr>
            <p:ph idx="1"/>
          </p:nvPr>
        </p:nvSpPr>
        <p:spPr>
          <a:xfrm>
            <a:off x="617538" y="4468813"/>
            <a:ext cx="3379787" cy="1943100"/>
          </a:xfrm>
        </p:spPr>
        <p:txBody>
          <a:bodyPr/>
          <a:lstStyle/>
          <a:p>
            <a:r>
              <a:rPr lang="en-US" dirty="0" smtClean="0"/>
              <a:t>Typically a non-vendor, non-venue contact, such as a passenger, claimant, or a witness</a:t>
            </a:r>
          </a:p>
        </p:txBody>
      </p:sp>
      <p:sp>
        <p:nvSpPr>
          <p:cNvPr id="13316" name="Text Box 3"/>
          <p:cNvSpPr txBox="1">
            <a:spLocks noChangeArrowheads="1"/>
          </p:cNvSpPr>
          <p:nvPr/>
        </p:nvSpPr>
        <p:spPr bwMode="auto">
          <a:xfrm>
            <a:off x="7107238" y="1441450"/>
            <a:ext cx="11080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1800" b="1"/>
              <a:t>Address</a:t>
            </a:r>
            <a:br>
              <a:rPr lang="en-US" sz="1800" b="1"/>
            </a:br>
            <a:r>
              <a:rPr lang="en-US" sz="1800" b="1"/>
              <a:t>Book</a:t>
            </a:r>
          </a:p>
        </p:txBody>
      </p:sp>
      <p:grpSp>
        <p:nvGrpSpPr>
          <p:cNvPr id="13317" name="Group 4"/>
          <p:cNvGrpSpPr>
            <a:grpSpLocks/>
          </p:cNvGrpSpPr>
          <p:nvPr/>
        </p:nvGrpSpPr>
        <p:grpSpPr bwMode="auto">
          <a:xfrm>
            <a:off x="5975350" y="1212850"/>
            <a:ext cx="1109663" cy="969963"/>
            <a:chOff x="1305" y="2500"/>
            <a:chExt cx="1138" cy="995"/>
          </a:xfrm>
        </p:grpSpPr>
        <p:sp>
          <p:nvSpPr>
            <p:cNvPr id="13360" name="Freeform 5"/>
            <p:cNvSpPr>
              <a:spLocks/>
            </p:cNvSpPr>
            <p:nvPr/>
          </p:nvSpPr>
          <p:spPr bwMode="auto">
            <a:xfrm>
              <a:off x="1305" y="2500"/>
              <a:ext cx="1138" cy="995"/>
            </a:xfrm>
            <a:custGeom>
              <a:avLst/>
              <a:gdLst>
                <a:gd name="T0" fmla="*/ 444 w 1138"/>
                <a:gd name="T1" fmla="*/ 1 h 995"/>
                <a:gd name="T2" fmla="*/ 490 w 1138"/>
                <a:gd name="T3" fmla="*/ 0 h 995"/>
                <a:gd name="T4" fmla="*/ 532 w 1138"/>
                <a:gd name="T5" fmla="*/ 10 h 995"/>
                <a:gd name="T6" fmla="*/ 600 w 1138"/>
                <a:gd name="T7" fmla="*/ 40 h 995"/>
                <a:gd name="T8" fmla="*/ 668 w 1138"/>
                <a:gd name="T9" fmla="*/ 66 h 995"/>
                <a:gd name="T10" fmla="*/ 737 w 1138"/>
                <a:gd name="T11" fmla="*/ 85 h 995"/>
                <a:gd name="T12" fmla="*/ 808 w 1138"/>
                <a:gd name="T13" fmla="*/ 101 h 995"/>
                <a:gd name="T14" fmla="*/ 882 w 1138"/>
                <a:gd name="T15" fmla="*/ 111 h 995"/>
                <a:gd name="T16" fmla="*/ 953 w 1138"/>
                <a:gd name="T17" fmla="*/ 125 h 995"/>
                <a:gd name="T18" fmla="*/ 1011 w 1138"/>
                <a:gd name="T19" fmla="*/ 163 h 995"/>
                <a:gd name="T20" fmla="*/ 1036 w 1138"/>
                <a:gd name="T21" fmla="*/ 228 h 995"/>
                <a:gd name="T22" fmla="*/ 1082 w 1138"/>
                <a:gd name="T23" fmla="*/ 252 h 995"/>
                <a:gd name="T24" fmla="*/ 1120 w 1138"/>
                <a:gd name="T25" fmla="*/ 287 h 995"/>
                <a:gd name="T26" fmla="*/ 1137 w 1138"/>
                <a:gd name="T27" fmla="*/ 342 h 995"/>
                <a:gd name="T28" fmla="*/ 1134 w 1138"/>
                <a:gd name="T29" fmla="*/ 405 h 995"/>
                <a:gd name="T30" fmla="*/ 1111 w 1138"/>
                <a:gd name="T31" fmla="*/ 463 h 995"/>
                <a:gd name="T32" fmla="*/ 1068 w 1138"/>
                <a:gd name="T33" fmla="*/ 515 h 995"/>
                <a:gd name="T34" fmla="*/ 1026 w 1138"/>
                <a:gd name="T35" fmla="*/ 568 h 995"/>
                <a:gd name="T36" fmla="*/ 984 w 1138"/>
                <a:gd name="T37" fmla="*/ 627 h 995"/>
                <a:gd name="T38" fmla="*/ 965 w 1138"/>
                <a:gd name="T39" fmla="*/ 646 h 995"/>
                <a:gd name="T40" fmla="*/ 947 w 1138"/>
                <a:gd name="T41" fmla="*/ 664 h 995"/>
                <a:gd name="T42" fmla="*/ 918 w 1138"/>
                <a:gd name="T43" fmla="*/ 712 h 995"/>
                <a:gd name="T44" fmla="*/ 864 w 1138"/>
                <a:gd name="T45" fmla="*/ 796 h 995"/>
                <a:gd name="T46" fmla="*/ 802 w 1138"/>
                <a:gd name="T47" fmla="*/ 881 h 995"/>
                <a:gd name="T48" fmla="*/ 763 w 1138"/>
                <a:gd name="T49" fmla="*/ 927 h 995"/>
                <a:gd name="T50" fmla="*/ 741 w 1138"/>
                <a:gd name="T51" fmla="*/ 950 h 995"/>
                <a:gd name="T52" fmla="*/ 715 w 1138"/>
                <a:gd name="T53" fmla="*/ 963 h 995"/>
                <a:gd name="T54" fmla="*/ 670 w 1138"/>
                <a:gd name="T55" fmla="*/ 975 h 995"/>
                <a:gd name="T56" fmla="*/ 627 w 1138"/>
                <a:gd name="T57" fmla="*/ 985 h 995"/>
                <a:gd name="T58" fmla="*/ 584 w 1138"/>
                <a:gd name="T59" fmla="*/ 993 h 995"/>
                <a:gd name="T60" fmla="*/ 543 w 1138"/>
                <a:gd name="T61" fmla="*/ 995 h 995"/>
                <a:gd name="T62" fmla="*/ 500 w 1138"/>
                <a:gd name="T63" fmla="*/ 988 h 995"/>
                <a:gd name="T64" fmla="*/ 464 w 1138"/>
                <a:gd name="T65" fmla="*/ 975 h 995"/>
                <a:gd name="T66" fmla="*/ 421 w 1138"/>
                <a:gd name="T67" fmla="*/ 953 h 995"/>
                <a:gd name="T68" fmla="*/ 369 w 1138"/>
                <a:gd name="T69" fmla="*/ 925 h 995"/>
                <a:gd name="T70" fmla="*/ 317 w 1138"/>
                <a:gd name="T71" fmla="*/ 899 h 995"/>
                <a:gd name="T72" fmla="*/ 275 w 1138"/>
                <a:gd name="T73" fmla="*/ 878 h 995"/>
                <a:gd name="T74" fmla="*/ 219 w 1138"/>
                <a:gd name="T75" fmla="*/ 861 h 995"/>
                <a:gd name="T76" fmla="*/ 151 w 1138"/>
                <a:gd name="T77" fmla="*/ 851 h 995"/>
                <a:gd name="T78" fmla="*/ 86 w 1138"/>
                <a:gd name="T79" fmla="*/ 827 h 995"/>
                <a:gd name="T80" fmla="*/ 18 w 1138"/>
                <a:gd name="T81" fmla="*/ 764 h 995"/>
                <a:gd name="T82" fmla="*/ 0 w 1138"/>
                <a:gd name="T83" fmla="*/ 678 h 995"/>
                <a:gd name="T84" fmla="*/ 15 w 1138"/>
                <a:gd name="T85" fmla="*/ 590 h 995"/>
                <a:gd name="T86" fmla="*/ 52 w 1138"/>
                <a:gd name="T87" fmla="*/ 520 h 995"/>
                <a:gd name="T88" fmla="*/ 110 w 1138"/>
                <a:gd name="T89" fmla="*/ 462 h 995"/>
                <a:gd name="T90" fmla="*/ 166 w 1138"/>
                <a:gd name="T91" fmla="*/ 392 h 995"/>
                <a:gd name="T92" fmla="*/ 217 w 1138"/>
                <a:gd name="T93" fmla="*/ 316 h 995"/>
                <a:gd name="T94" fmla="*/ 263 w 1138"/>
                <a:gd name="T95" fmla="*/ 239 h 995"/>
                <a:gd name="T96" fmla="*/ 308 w 1138"/>
                <a:gd name="T97" fmla="*/ 156 h 995"/>
                <a:gd name="T98" fmla="*/ 365 w 1138"/>
                <a:gd name="T99" fmla="*/ 58 h 995"/>
                <a:gd name="T100" fmla="*/ 413 w 1138"/>
                <a:gd name="T101" fmla="*/ 5 h 99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38"/>
                <a:gd name="T154" fmla="*/ 0 h 995"/>
                <a:gd name="T155" fmla="*/ 1138 w 1138"/>
                <a:gd name="T156" fmla="*/ 995 h 99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38" h="995">
                  <a:moveTo>
                    <a:pt x="413" y="5"/>
                  </a:moveTo>
                  <a:lnTo>
                    <a:pt x="429" y="2"/>
                  </a:lnTo>
                  <a:lnTo>
                    <a:pt x="444" y="1"/>
                  </a:lnTo>
                  <a:lnTo>
                    <a:pt x="460" y="0"/>
                  </a:lnTo>
                  <a:lnTo>
                    <a:pt x="475" y="0"/>
                  </a:lnTo>
                  <a:lnTo>
                    <a:pt x="490" y="0"/>
                  </a:lnTo>
                  <a:lnTo>
                    <a:pt x="504" y="2"/>
                  </a:lnTo>
                  <a:lnTo>
                    <a:pt x="518" y="5"/>
                  </a:lnTo>
                  <a:lnTo>
                    <a:pt x="532" y="10"/>
                  </a:lnTo>
                  <a:lnTo>
                    <a:pt x="554" y="20"/>
                  </a:lnTo>
                  <a:lnTo>
                    <a:pt x="578" y="31"/>
                  </a:lnTo>
                  <a:lnTo>
                    <a:pt x="600" y="40"/>
                  </a:lnTo>
                  <a:lnTo>
                    <a:pt x="623" y="49"/>
                  </a:lnTo>
                  <a:lnTo>
                    <a:pt x="645" y="57"/>
                  </a:lnTo>
                  <a:lnTo>
                    <a:pt x="668" y="66"/>
                  </a:lnTo>
                  <a:lnTo>
                    <a:pt x="692" y="72"/>
                  </a:lnTo>
                  <a:lnTo>
                    <a:pt x="714" y="79"/>
                  </a:lnTo>
                  <a:lnTo>
                    <a:pt x="737" y="85"/>
                  </a:lnTo>
                  <a:lnTo>
                    <a:pt x="760" y="92"/>
                  </a:lnTo>
                  <a:lnTo>
                    <a:pt x="785" y="97"/>
                  </a:lnTo>
                  <a:lnTo>
                    <a:pt x="808" y="101"/>
                  </a:lnTo>
                  <a:lnTo>
                    <a:pt x="833" y="105"/>
                  </a:lnTo>
                  <a:lnTo>
                    <a:pt x="857" y="108"/>
                  </a:lnTo>
                  <a:lnTo>
                    <a:pt x="882" y="111"/>
                  </a:lnTo>
                  <a:lnTo>
                    <a:pt x="906" y="114"/>
                  </a:lnTo>
                  <a:lnTo>
                    <a:pt x="930" y="119"/>
                  </a:lnTo>
                  <a:lnTo>
                    <a:pt x="953" y="125"/>
                  </a:lnTo>
                  <a:lnTo>
                    <a:pt x="975" y="136"/>
                  </a:lnTo>
                  <a:lnTo>
                    <a:pt x="994" y="147"/>
                  </a:lnTo>
                  <a:lnTo>
                    <a:pt x="1011" y="163"/>
                  </a:lnTo>
                  <a:lnTo>
                    <a:pt x="1024" y="181"/>
                  </a:lnTo>
                  <a:lnTo>
                    <a:pt x="1033" y="202"/>
                  </a:lnTo>
                  <a:lnTo>
                    <a:pt x="1036" y="228"/>
                  </a:lnTo>
                  <a:lnTo>
                    <a:pt x="1051" y="235"/>
                  </a:lnTo>
                  <a:lnTo>
                    <a:pt x="1067" y="243"/>
                  </a:lnTo>
                  <a:lnTo>
                    <a:pt x="1082" y="252"/>
                  </a:lnTo>
                  <a:lnTo>
                    <a:pt x="1097" y="263"/>
                  </a:lnTo>
                  <a:lnTo>
                    <a:pt x="1110" y="274"/>
                  </a:lnTo>
                  <a:lnTo>
                    <a:pt x="1120" y="287"/>
                  </a:lnTo>
                  <a:lnTo>
                    <a:pt x="1129" y="303"/>
                  </a:lnTo>
                  <a:lnTo>
                    <a:pt x="1134" y="321"/>
                  </a:lnTo>
                  <a:lnTo>
                    <a:pt x="1137" y="342"/>
                  </a:lnTo>
                  <a:lnTo>
                    <a:pt x="1138" y="364"/>
                  </a:lnTo>
                  <a:lnTo>
                    <a:pt x="1137" y="384"/>
                  </a:lnTo>
                  <a:lnTo>
                    <a:pt x="1134" y="405"/>
                  </a:lnTo>
                  <a:lnTo>
                    <a:pt x="1128" y="426"/>
                  </a:lnTo>
                  <a:lnTo>
                    <a:pt x="1120" y="445"/>
                  </a:lnTo>
                  <a:lnTo>
                    <a:pt x="1111" y="463"/>
                  </a:lnTo>
                  <a:lnTo>
                    <a:pt x="1098" y="482"/>
                  </a:lnTo>
                  <a:lnTo>
                    <a:pt x="1082" y="498"/>
                  </a:lnTo>
                  <a:lnTo>
                    <a:pt x="1068" y="515"/>
                  </a:lnTo>
                  <a:lnTo>
                    <a:pt x="1053" y="533"/>
                  </a:lnTo>
                  <a:lnTo>
                    <a:pt x="1040" y="550"/>
                  </a:lnTo>
                  <a:lnTo>
                    <a:pt x="1026" y="568"/>
                  </a:lnTo>
                  <a:lnTo>
                    <a:pt x="1011" y="586"/>
                  </a:lnTo>
                  <a:lnTo>
                    <a:pt x="998" y="606"/>
                  </a:lnTo>
                  <a:lnTo>
                    <a:pt x="984" y="627"/>
                  </a:lnTo>
                  <a:lnTo>
                    <a:pt x="978" y="634"/>
                  </a:lnTo>
                  <a:lnTo>
                    <a:pt x="971" y="641"/>
                  </a:lnTo>
                  <a:lnTo>
                    <a:pt x="965" y="646"/>
                  </a:lnTo>
                  <a:lnTo>
                    <a:pt x="960" y="653"/>
                  </a:lnTo>
                  <a:lnTo>
                    <a:pt x="953" y="659"/>
                  </a:lnTo>
                  <a:lnTo>
                    <a:pt x="947" y="664"/>
                  </a:lnTo>
                  <a:lnTo>
                    <a:pt x="941" y="671"/>
                  </a:lnTo>
                  <a:lnTo>
                    <a:pt x="938" y="678"/>
                  </a:lnTo>
                  <a:lnTo>
                    <a:pt x="918" y="712"/>
                  </a:lnTo>
                  <a:lnTo>
                    <a:pt x="900" y="742"/>
                  </a:lnTo>
                  <a:lnTo>
                    <a:pt x="882" y="770"/>
                  </a:lnTo>
                  <a:lnTo>
                    <a:pt x="864" y="796"/>
                  </a:lnTo>
                  <a:lnTo>
                    <a:pt x="844" y="824"/>
                  </a:lnTo>
                  <a:lnTo>
                    <a:pt x="824" y="851"/>
                  </a:lnTo>
                  <a:lnTo>
                    <a:pt x="802" y="881"/>
                  </a:lnTo>
                  <a:lnTo>
                    <a:pt x="777" y="912"/>
                  </a:lnTo>
                  <a:lnTo>
                    <a:pt x="769" y="919"/>
                  </a:lnTo>
                  <a:lnTo>
                    <a:pt x="763" y="927"/>
                  </a:lnTo>
                  <a:lnTo>
                    <a:pt x="755" y="936"/>
                  </a:lnTo>
                  <a:lnTo>
                    <a:pt x="749" y="943"/>
                  </a:lnTo>
                  <a:lnTo>
                    <a:pt x="741" y="950"/>
                  </a:lnTo>
                  <a:lnTo>
                    <a:pt x="733" y="956"/>
                  </a:lnTo>
                  <a:lnTo>
                    <a:pt x="724" y="961"/>
                  </a:lnTo>
                  <a:lnTo>
                    <a:pt x="715" y="963"/>
                  </a:lnTo>
                  <a:lnTo>
                    <a:pt x="699" y="967"/>
                  </a:lnTo>
                  <a:lnTo>
                    <a:pt x="684" y="971"/>
                  </a:lnTo>
                  <a:lnTo>
                    <a:pt x="670" y="975"/>
                  </a:lnTo>
                  <a:lnTo>
                    <a:pt x="655" y="979"/>
                  </a:lnTo>
                  <a:lnTo>
                    <a:pt x="641" y="983"/>
                  </a:lnTo>
                  <a:lnTo>
                    <a:pt x="627" y="985"/>
                  </a:lnTo>
                  <a:lnTo>
                    <a:pt x="613" y="989"/>
                  </a:lnTo>
                  <a:lnTo>
                    <a:pt x="598" y="991"/>
                  </a:lnTo>
                  <a:lnTo>
                    <a:pt x="584" y="993"/>
                  </a:lnTo>
                  <a:lnTo>
                    <a:pt x="570" y="995"/>
                  </a:lnTo>
                  <a:lnTo>
                    <a:pt x="557" y="995"/>
                  </a:lnTo>
                  <a:lnTo>
                    <a:pt x="543" y="995"/>
                  </a:lnTo>
                  <a:lnTo>
                    <a:pt x="528" y="993"/>
                  </a:lnTo>
                  <a:lnTo>
                    <a:pt x="514" y="992"/>
                  </a:lnTo>
                  <a:lnTo>
                    <a:pt x="500" y="988"/>
                  </a:lnTo>
                  <a:lnTo>
                    <a:pt x="486" y="984"/>
                  </a:lnTo>
                  <a:lnTo>
                    <a:pt x="475" y="980"/>
                  </a:lnTo>
                  <a:lnTo>
                    <a:pt x="464" y="975"/>
                  </a:lnTo>
                  <a:lnTo>
                    <a:pt x="451" y="969"/>
                  </a:lnTo>
                  <a:lnTo>
                    <a:pt x="437" y="961"/>
                  </a:lnTo>
                  <a:lnTo>
                    <a:pt x="421" y="953"/>
                  </a:lnTo>
                  <a:lnTo>
                    <a:pt x="404" y="944"/>
                  </a:lnTo>
                  <a:lnTo>
                    <a:pt x="386" y="935"/>
                  </a:lnTo>
                  <a:lnTo>
                    <a:pt x="369" y="925"/>
                  </a:lnTo>
                  <a:lnTo>
                    <a:pt x="352" y="915"/>
                  </a:lnTo>
                  <a:lnTo>
                    <a:pt x="334" y="906"/>
                  </a:lnTo>
                  <a:lnTo>
                    <a:pt x="317" y="899"/>
                  </a:lnTo>
                  <a:lnTo>
                    <a:pt x="302" y="890"/>
                  </a:lnTo>
                  <a:lnTo>
                    <a:pt x="288" y="883"/>
                  </a:lnTo>
                  <a:lnTo>
                    <a:pt x="275" y="878"/>
                  </a:lnTo>
                  <a:lnTo>
                    <a:pt x="263" y="873"/>
                  </a:lnTo>
                  <a:lnTo>
                    <a:pt x="253" y="870"/>
                  </a:lnTo>
                  <a:lnTo>
                    <a:pt x="219" y="861"/>
                  </a:lnTo>
                  <a:lnTo>
                    <a:pt x="193" y="856"/>
                  </a:lnTo>
                  <a:lnTo>
                    <a:pt x="170" y="853"/>
                  </a:lnTo>
                  <a:lnTo>
                    <a:pt x="151" y="851"/>
                  </a:lnTo>
                  <a:lnTo>
                    <a:pt x="131" y="847"/>
                  </a:lnTo>
                  <a:lnTo>
                    <a:pt x="110" y="839"/>
                  </a:lnTo>
                  <a:lnTo>
                    <a:pt x="86" y="827"/>
                  </a:lnTo>
                  <a:lnTo>
                    <a:pt x="56" y="808"/>
                  </a:lnTo>
                  <a:lnTo>
                    <a:pt x="34" y="789"/>
                  </a:lnTo>
                  <a:lnTo>
                    <a:pt x="18" y="764"/>
                  </a:lnTo>
                  <a:lnTo>
                    <a:pt x="8" y="738"/>
                  </a:lnTo>
                  <a:lnTo>
                    <a:pt x="3" y="708"/>
                  </a:lnTo>
                  <a:lnTo>
                    <a:pt x="0" y="678"/>
                  </a:lnTo>
                  <a:lnTo>
                    <a:pt x="3" y="649"/>
                  </a:lnTo>
                  <a:lnTo>
                    <a:pt x="8" y="619"/>
                  </a:lnTo>
                  <a:lnTo>
                    <a:pt x="15" y="590"/>
                  </a:lnTo>
                  <a:lnTo>
                    <a:pt x="22" y="564"/>
                  </a:lnTo>
                  <a:lnTo>
                    <a:pt x="35" y="541"/>
                  </a:lnTo>
                  <a:lnTo>
                    <a:pt x="52" y="520"/>
                  </a:lnTo>
                  <a:lnTo>
                    <a:pt x="70" y="501"/>
                  </a:lnTo>
                  <a:lnTo>
                    <a:pt x="90" y="482"/>
                  </a:lnTo>
                  <a:lnTo>
                    <a:pt x="110" y="462"/>
                  </a:lnTo>
                  <a:lnTo>
                    <a:pt x="131" y="441"/>
                  </a:lnTo>
                  <a:lnTo>
                    <a:pt x="149" y="419"/>
                  </a:lnTo>
                  <a:lnTo>
                    <a:pt x="166" y="392"/>
                  </a:lnTo>
                  <a:lnTo>
                    <a:pt x="183" y="366"/>
                  </a:lnTo>
                  <a:lnTo>
                    <a:pt x="200" y="342"/>
                  </a:lnTo>
                  <a:lnTo>
                    <a:pt x="217" y="316"/>
                  </a:lnTo>
                  <a:lnTo>
                    <a:pt x="232" y="290"/>
                  </a:lnTo>
                  <a:lnTo>
                    <a:pt x="248" y="265"/>
                  </a:lnTo>
                  <a:lnTo>
                    <a:pt x="263" y="239"/>
                  </a:lnTo>
                  <a:lnTo>
                    <a:pt x="279" y="212"/>
                  </a:lnTo>
                  <a:lnTo>
                    <a:pt x="292" y="187"/>
                  </a:lnTo>
                  <a:lnTo>
                    <a:pt x="308" y="156"/>
                  </a:lnTo>
                  <a:lnTo>
                    <a:pt x="327" y="123"/>
                  </a:lnTo>
                  <a:lnTo>
                    <a:pt x="346" y="89"/>
                  </a:lnTo>
                  <a:lnTo>
                    <a:pt x="365" y="58"/>
                  </a:lnTo>
                  <a:lnTo>
                    <a:pt x="384" y="31"/>
                  </a:lnTo>
                  <a:lnTo>
                    <a:pt x="400" y="13"/>
                  </a:lnTo>
                  <a:lnTo>
                    <a:pt x="413" y="5"/>
                  </a:lnTo>
                  <a:close/>
                </a:path>
              </a:pathLst>
            </a:custGeom>
            <a:solidFill>
              <a:srgbClr val="FFFFD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1" name="Freeform 6"/>
            <p:cNvSpPr>
              <a:spLocks/>
            </p:cNvSpPr>
            <p:nvPr/>
          </p:nvSpPr>
          <p:spPr bwMode="auto">
            <a:xfrm>
              <a:off x="1356" y="2554"/>
              <a:ext cx="1055" cy="891"/>
            </a:xfrm>
            <a:custGeom>
              <a:avLst/>
              <a:gdLst>
                <a:gd name="T0" fmla="*/ 1013 w 1055"/>
                <a:gd name="T1" fmla="*/ 247 h 891"/>
                <a:gd name="T2" fmla="*/ 1007 w 1055"/>
                <a:gd name="T3" fmla="*/ 242 h 891"/>
                <a:gd name="T4" fmla="*/ 986 w 1055"/>
                <a:gd name="T5" fmla="*/ 227 h 891"/>
                <a:gd name="T6" fmla="*/ 963 w 1055"/>
                <a:gd name="T7" fmla="*/ 215 h 891"/>
                <a:gd name="T8" fmla="*/ 962 w 1055"/>
                <a:gd name="T9" fmla="*/ 189 h 891"/>
                <a:gd name="T10" fmla="*/ 947 w 1055"/>
                <a:gd name="T11" fmla="*/ 157 h 891"/>
                <a:gd name="T12" fmla="*/ 918 w 1055"/>
                <a:gd name="T13" fmla="*/ 145 h 891"/>
                <a:gd name="T14" fmla="*/ 861 w 1055"/>
                <a:gd name="T15" fmla="*/ 131 h 891"/>
                <a:gd name="T16" fmla="*/ 804 w 1055"/>
                <a:gd name="T17" fmla="*/ 118 h 891"/>
                <a:gd name="T18" fmla="*/ 749 w 1055"/>
                <a:gd name="T19" fmla="*/ 105 h 891"/>
                <a:gd name="T20" fmla="*/ 707 w 1055"/>
                <a:gd name="T21" fmla="*/ 95 h 891"/>
                <a:gd name="T22" fmla="*/ 665 w 1055"/>
                <a:gd name="T23" fmla="*/ 82 h 891"/>
                <a:gd name="T24" fmla="*/ 622 w 1055"/>
                <a:gd name="T25" fmla="*/ 65 h 891"/>
                <a:gd name="T26" fmla="*/ 572 w 1055"/>
                <a:gd name="T27" fmla="*/ 43 h 891"/>
                <a:gd name="T28" fmla="*/ 516 w 1055"/>
                <a:gd name="T29" fmla="*/ 21 h 891"/>
                <a:gd name="T30" fmla="*/ 465 w 1055"/>
                <a:gd name="T31" fmla="*/ 5 h 891"/>
                <a:gd name="T32" fmla="*/ 423 w 1055"/>
                <a:gd name="T33" fmla="*/ 0 h 891"/>
                <a:gd name="T34" fmla="*/ 387 w 1055"/>
                <a:gd name="T35" fmla="*/ 18 h 891"/>
                <a:gd name="T36" fmla="*/ 343 w 1055"/>
                <a:gd name="T37" fmla="*/ 69 h 891"/>
                <a:gd name="T38" fmla="*/ 304 w 1055"/>
                <a:gd name="T39" fmla="*/ 124 h 891"/>
                <a:gd name="T40" fmla="*/ 266 w 1055"/>
                <a:gd name="T41" fmla="*/ 175 h 891"/>
                <a:gd name="T42" fmla="*/ 230 w 1055"/>
                <a:gd name="T43" fmla="*/ 223 h 891"/>
                <a:gd name="T44" fmla="*/ 198 w 1055"/>
                <a:gd name="T45" fmla="*/ 273 h 891"/>
                <a:gd name="T46" fmla="*/ 127 w 1055"/>
                <a:gd name="T47" fmla="*/ 384 h 891"/>
                <a:gd name="T48" fmla="*/ 36 w 1055"/>
                <a:gd name="T49" fmla="*/ 513 h 891"/>
                <a:gd name="T50" fmla="*/ 0 w 1055"/>
                <a:gd name="T51" fmla="*/ 578 h 891"/>
                <a:gd name="T52" fmla="*/ 9 w 1055"/>
                <a:gd name="T53" fmla="*/ 624 h 891"/>
                <a:gd name="T54" fmla="*/ 17 w 1055"/>
                <a:gd name="T55" fmla="*/ 648 h 891"/>
                <a:gd name="T56" fmla="*/ 33 w 1055"/>
                <a:gd name="T57" fmla="*/ 688 h 891"/>
                <a:gd name="T58" fmla="*/ 53 w 1055"/>
                <a:gd name="T59" fmla="*/ 709 h 891"/>
                <a:gd name="T60" fmla="*/ 101 w 1055"/>
                <a:gd name="T61" fmla="*/ 729 h 891"/>
                <a:gd name="T62" fmla="*/ 149 w 1055"/>
                <a:gd name="T63" fmla="*/ 749 h 891"/>
                <a:gd name="T64" fmla="*/ 198 w 1055"/>
                <a:gd name="T65" fmla="*/ 767 h 891"/>
                <a:gd name="T66" fmla="*/ 247 w 1055"/>
                <a:gd name="T67" fmla="*/ 785 h 891"/>
                <a:gd name="T68" fmla="*/ 295 w 1055"/>
                <a:gd name="T69" fmla="*/ 803 h 891"/>
                <a:gd name="T70" fmla="*/ 347 w 1055"/>
                <a:gd name="T71" fmla="*/ 825 h 891"/>
                <a:gd name="T72" fmla="*/ 400 w 1055"/>
                <a:gd name="T73" fmla="*/ 847 h 891"/>
                <a:gd name="T74" fmla="*/ 453 w 1055"/>
                <a:gd name="T75" fmla="*/ 867 h 891"/>
                <a:gd name="T76" fmla="*/ 531 w 1055"/>
                <a:gd name="T77" fmla="*/ 887 h 891"/>
                <a:gd name="T78" fmla="*/ 610 w 1055"/>
                <a:gd name="T79" fmla="*/ 887 h 891"/>
                <a:gd name="T80" fmla="*/ 669 w 1055"/>
                <a:gd name="T81" fmla="*/ 851 h 891"/>
                <a:gd name="T82" fmla="*/ 721 w 1055"/>
                <a:gd name="T83" fmla="*/ 790 h 891"/>
                <a:gd name="T84" fmla="*/ 780 w 1055"/>
                <a:gd name="T85" fmla="*/ 707 h 891"/>
                <a:gd name="T86" fmla="*/ 839 w 1055"/>
                <a:gd name="T87" fmla="*/ 622 h 891"/>
                <a:gd name="T88" fmla="*/ 887 w 1055"/>
                <a:gd name="T89" fmla="*/ 549 h 891"/>
                <a:gd name="T90" fmla="*/ 915 w 1055"/>
                <a:gd name="T91" fmla="*/ 508 h 891"/>
                <a:gd name="T92" fmla="*/ 978 w 1055"/>
                <a:gd name="T93" fmla="*/ 426 h 891"/>
                <a:gd name="T94" fmla="*/ 1038 w 1055"/>
                <a:gd name="T95" fmla="*/ 349 h 891"/>
                <a:gd name="T96" fmla="*/ 1055 w 1055"/>
                <a:gd name="T97" fmla="*/ 312 h 891"/>
                <a:gd name="T98" fmla="*/ 1048 w 1055"/>
                <a:gd name="T99" fmla="*/ 277 h 891"/>
                <a:gd name="T100" fmla="*/ 1025 w 1055"/>
                <a:gd name="T101" fmla="*/ 254 h 8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55"/>
                <a:gd name="T154" fmla="*/ 0 h 891"/>
                <a:gd name="T155" fmla="*/ 1055 w 1055"/>
                <a:gd name="T156" fmla="*/ 891 h 8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55" h="891">
                  <a:moveTo>
                    <a:pt x="1013" y="249"/>
                  </a:moveTo>
                  <a:lnTo>
                    <a:pt x="1013" y="247"/>
                  </a:lnTo>
                  <a:lnTo>
                    <a:pt x="1007" y="242"/>
                  </a:lnTo>
                  <a:lnTo>
                    <a:pt x="1000" y="237"/>
                  </a:lnTo>
                  <a:lnTo>
                    <a:pt x="993" y="232"/>
                  </a:lnTo>
                  <a:lnTo>
                    <a:pt x="986" y="227"/>
                  </a:lnTo>
                  <a:lnTo>
                    <a:pt x="978" y="223"/>
                  </a:lnTo>
                  <a:lnTo>
                    <a:pt x="971" y="219"/>
                  </a:lnTo>
                  <a:lnTo>
                    <a:pt x="963" y="215"/>
                  </a:lnTo>
                  <a:lnTo>
                    <a:pt x="955" y="213"/>
                  </a:lnTo>
                  <a:lnTo>
                    <a:pt x="960" y="201"/>
                  </a:lnTo>
                  <a:lnTo>
                    <a:pt x="962" y="189"/>
                  </a:lnTo>
                  <a:lnTo>
                    <a:pt x="960" y="176"/>
                  </a:lnTo>
                  <a:lnTo>
                    <a:pt x="955" y="165"/>
                  </a:lnTo>
                  <a:lnTo>
                    <a:pt x="947" y="157"/>
                  </a:lnTo>
                  <a:lnTo>
                    <a:pt x="938" y="152"/>
                  </a:lnTo>
                  <a:lnTo>
                    <a:pt x="928" y="148"/>
                  </a:lnTo>
                  <a:lnTo>
                    <a:pt x="918" y="145"/>
                  </a:lnTo>
                  <a:lnTo>
                    <a:pt x="898" y="140"/>
                  </a:lnTo>
                  <a:lnTo>
                    <a:pt x="879" y="135"/>
                  </a:lnTo>
                  <a:lnTo>
                    <a:pt x="861" y="131"/>
                  </a:lnTo>
                  <a:lnTo>
                    <a:pt x="841" y="127"/>
                  </a:lnTo>
                  <a:lnTo>
                    <a:pt x="823" y="122"/>
                  </a:lnTo>
                  <a:lnTo>
                    <a:pt x="804" y="118"/>
                  </a:lnTo>
                  <a:lnTo>
                    <a:pt x="784" y="114"/>
                  </a:lnTo>
                  <a:lnTo>
                    <a:pt x="765" y="109"/>
                  </a:lnTo>
                  <a:lnTo>
                    <a:pt x="749" y="105"/>
                  </a:lnTo>
                  <a:lnTo>
                    <a:pt x="735" y="102"/>
                  </a:lnTo>
                  <a:lnTo>
                    <a:pt x="721" y="99"/>
                  </a:lnTo>
                  <a:lnTo>
                    <a:pt x="707" y="95"/>
                  </a:lnTo>
                  <a:lnTo>
                    <a:pt x="692" y="91"/>
                  </a:lnTo>
                  <a:lnTo>
                    <a:pt x="678" y="87"/>
                  </a:lnTo>
                  <a:lnTo>
                    <a:pt x="665" y="82"/>
                  </a:lnTo>
                  <a:lnTo>
                    <a:pt x="651" y="77"/>
                  </a:lnTo>
                  <a:lnTo>
                    <a:pt x="638" y="71"/>
                  </a:lnTo>
                  <a:lnTo>
                    <a:pt x="622" y="65"/>
                  </a:lnTo>
                  <a:lnTo>
                    <a:pt x="607" y="57"/>
                  </a:lnTo>
                  <a:lnTo>
                    <a:pt x="589" y="51"/>
                  </a:lnTo>
                  <a:lnTo>
                    <a:pt x="572" y="43"/>
                  </a:lnTo>
                  <a:lnTo>
                    <a:pt x="553" y="35"/>
                  </a:lnTo>
                  <a:lnTo>
                    <a:pt x="534" y="29"/>
                  </a:lnTo>
                  <a:lnTo>
                    <a:pt x="516" y="21"/>
                  </a:lnTo>
                  <a:lnTo>
                    <a:pt x="498" y="16"/>
                  </a:lnTo>
                  <a:lnTo>
                    <a:pt x="481" y="10"/>
                  </a:lnTo>
                  <a:lnTo>
                    <a:pt x="465" y="5"/>
                  </a:lnTo>
                  <a:lnTo>
                    <a:pt x="449" y="3"/>
                  </a:lnTo>
                  <a:lnTo>
                    <a:pt x="435" y="0"/>
                  </a:lnTo>
                  <a:lnTo>
                    <a:pt x="423" y="0"/>
                  </a:lnTo>
                  <a:lnTo>
                    <a:pt x="413" y="1"/>
                  </a:lnTo>
                  <a:lnTo>
                    <a:pt x="405" y="5"/>
                  </a:lnTo>
                  <a:lnTo>
                    <a:pt x="387" y="18"/>
                  </a:lnTo>
                  <a:lnTo>
                    <a:pt x="371" y="34"/>
                  </a:lnTo>
                  <a:lnTo>
                    <a:pt x="357" y="51"/>
                  </a:lnTo>
                  <a:lnTo>
                    <a:pt x="343" y="69"/>
                  </a:lnTo>
                  <a:lnTo>
                    <a:pt x="330" y="88"/>
                  </a:lnTo>
                  <a:lnTo>
                    <a:pt x="317" y="106"/>
                  </a:lnTo>
                  <a:lnTo>
                    <a:pt x="304" y="124"/>
                  </a:lnTo>
                  <a:lnTo>
                    <a:pt x="291" y="143"/>
                  </a:lnTo>
                  <a:lnTo>
                    <a:pt x="278" y="159"/>
                  </a:lnTo>
                  <a:lnTo>
                    <a:pt x="266" y="175"/>
                  </a:lnTo>
                  <a:lnTo>
                    <a:pt x="254" y="190"/>
                  </a:lnTo>
                  <a:lnTo>
                    <a:pt x="242" y="206"/>
                  </a:lnTo>
                  <a:lnTo>
                    <a:pt x="230" y="223"/>
                  </a:lnTo>
                  <a:lnTo>
                    <a:pt x="219" y="238"/>
                  </a:lnTo>
                  <a:lnTo>
                    <a:pt x="208" y="255"/>
                  </a:lnTo>
                  <a:lnTo>
                    <a:pt x="198" y="273"/>
                  </a:lnTo>
                  <a:lnTo>
                    <a:pt x="181" y="303"/>
                  </a:lnTo>
                  <a:lnTo>
                    <a:pt x="156" y="341"/>
                  </a:lnTo>
                  <a:lnTo>
                    <a:pt x="127" y="384"/>
                  </a:lnTo>
                  <a:lnTo>
                    <a:pt x="96" y="429"/>
                  </a:lnTo>
                  <a:lnTo>
                    <a:pt x="65" y="473"/>
                  </a:lnTo>
                  <a:lnTo>
                    <a:pt x="36" y="513"/>
                  </a:lnTo>
                  <a:lnTo>
                    <a:pt x="14" y="545"/>
                  </a:lnTo>
                  <a:lnTo>
                    <a:pt x="0" y="567"/>
                  </a:lnTo>
                  <a:lnTo>
                    <a:pt x="0" y="578"/>
                  </a:lnTo>
                  <a:lnTo>
                    <a:pt x="4" y="597"/>
                  </a:lnTo>
                  <a:lnTo>
                    <a:pt x="8" y="615"/>
                  </a:lnTo>
                  <a:lnTo>
                    <a:pt x="9" y="624"/>
                  </a:lnTo>
                  <a:lnTo>
                    <a:pt x="10" y="628"/>
                  </a:lnTo>
                  <a:lnTo>
                    <a:pt x="13" y="637"/>
                  </a:lnTo>
                  <a:lnTo>
                    <a:pt x="17" y="648"/>
                  </a:lnTo>
                  <a:lnTo>
                    <a:pt x="22" y="661"/>
                  </a:lnTo>
                  <a:lnTo>
                    <a:pt x="27" y="675"/>
                  </a:lnTo>
                  <a:lnTo>
                    <a:pt x="33" y="688"/>
                  </a:lnTo>
                  <a:lnTo>
                    <a:pt x="40" y="698"/>
                  </a:lnTo>
                  <a:lnTo>
                    <a:pt x="48" y="706"/>
                  </a:lnTo>
                  <a:lnTo>
                    <a:pt x="53" y="709"/>
                  </a:lnTo>
                  <a:lnTo>
                    <a:pt x="68" y="716"/>
                  </a:lnTo>
                  <a:lnTo>
                    <a:pt x="85" y="723"/>
                  </a:lnTo>
                  <a:lnTo>
                    <a:pt x="101" y="729"/>
                  </a:lnTo>
                  <a:lnTo>
                    <a:pt x="116" y="737"/>
                  </a:lnTo>
                  <a:lnTo>
                    <a:pt x="133" y="744"/>
                  </a:lnTo>
                  <a:lnTo>
                    <a:pt x="149" y="749"/>
                  </a:lnTo>
                  <a:lnTo>
                    <a:pt x="166" y="755"/>
                  </a:lnTo>
                  <a:lnTo>
                    <a:pt x="181" y="762"/>
                  </a:lnTo>
                  <a:lnTo>
                    <a:pt x="198" y="767"/>
                  </a:lnTo>
                  <a:lnTo>
                    <a:pt x="213" y="773"/>
                  </a:lnTo>
                  <a:lnTo>
                    <a:pt x="230" y="780"/>
                  </a:lnTo>
                  <a:lnTo>
                    <a:pt x="247" y="785"/>
                  </a:lnTo>
                  <a:lnTo>
                    <a:pt x="263" y="792"/>
                  </a:lnTo>
                  <a:lnTo>
                    <a:pt x="279" y="797"/>
                  </a:lnTo>
                  <a:lnTo>
                    <a:pt x="295" y="803"/>
                  </a:lnTo>
                  <a:lnTo>
                    <a:pt x="312" y="810"/>
                  </a:lnTo>
                  <a:lnTo>
                    <a:pt x="330" y="817"/>
                  </a:lnTo>
                  <a:lnTo>
                    <a:pt x="347" y="825"/>
                  </a:lnTo>
                  <a:lnTo>
                    <a:pt x="365" y="833"/>
                  </a:lnTo>
                  <a:lnTo>
                    <a:pt x="382" y="839"/>
                  </a:lnTo>
                  <a:lnTo>
                    <a:pt x="400" y="847"/>
                  </a:lnTo>
                  <a:lnTo>
                    <a:pt x="417" y="855"/>
                  </a:lnTo>
                  <a:lnTo>
                    <a:pt x="435" y="861"/>
                  </a:lnTo>
                  <a:lnTo>
                    <a:pt x="453" y="867"/>
                  </a:lnTo>
                  <a:lnTo>
                    <a:pt x="479" y="874"/>
                  </a:lnTo>
                  <a:lnTo>
                    <a:pt x="505" y="881"/>
                  </a:lnTo>
                  <a:lnTo>
                    <a:pt x="531" y="887"/>
                  </a:lnTo>
                  <a:lnTo>
                    <a:pt x="558" y="891"/>
                  </a:lnTo>
                  <a:lnTo>
                    <a:pt x="584" y="891"/>
                  </a:lnTo>
                  <a:lnTo>
                    <a:pt x="610" y="887"/>
                  </a:lnTo>
                  <a:lnTo>
                    <a:pt x="633" y="880"/>
                  </a:lnTo>
                  <a:lnTo>
                    <a:pt x="656" y="864"/>
                  </a:lnTo>
                  <a:lnTo>
                    <a:pt x="669" y="851"/>
                  </a:lnTo>
                  <a:lnTo>
                    <a:pt x="685" y="834"/>
                  </a:lnTo>
                  <a:lnTo>
                    <a:pt x="701" y="814"/>
                  </a:lnTo>
                  <a:lnTo>
                    <a:pt x="721" y="790"/>
                  </a:lnTo>
                  <a:lnTo>
                    <a:pt x="740" y="764"/>
                  </a:lnTo>
                  <a:lnTo>
                    <a:pt x="760" y="736"/>
                  </a:lnTo>
                  <a:lnTo>
                    <a:pt x="780" y="707"/>
                  </a:lnTo>
                  <a:lnTo>
                    <a:pt x="800" y="678"/>
                  </a:lnTo>
                  <a:lnTo>
                    <a:pt x="819" y="649"/>
                  </a:lnTo>
                  <a:lnTo>
                    <a:pt x="839" y="622"/>
                  </a:lnTo>
                  <a:lnTo>
                    <a:pt x="857" y="595"/>
                  </a:lnTo>
                  <a:lnTo>
                    <a:pt x="872" y="570"/>
                  </a:lnTo>
                  <a:lnTo>
                    <a:pt x="887" y="549"/>
                  </a:lnTo>
                  <a:lnTo>
                    <a:pt x="899" y="531"/>
                  </a:lnTo>
                  <a:lnTo>
                    <a:pt x="909" y="517"/>
                  </a:lnTo>
                  <a:lnTo>
                    <a:pt x="915" y="508"/>
                  </a:lnTo>
                  <a:lnTo>
                    <a:pt x="933" y="483"/>
                  </a:lnTo>
                  <a:lnTo>
                    <a:pt x="955" y="456"/>
                  </a:lnTo>
                  <a:lnTo>
                    <a:pt x="978" y="426"/>
                  </a:lnTo>
                  <a:lnTo>
                    <a:pt x="1000" y="396"/>
                  </a:lnTo>
                  <a:lnTo>
                    <a:pt x="1021" y="371"/>
                  </a:lnTo>
                  <a:lnTo>
                    <a:pt x="1038" y="349"/>
                  </a:lnTo>
                  <a:lnTo>
                    <a:pt x="1050" y="333"/>
                  </a:lnTo>
                  <a:lnTo>
                    <a:pt x="1053" y="325"/>
                  </a:lnTo>
                  <a:lnTo>
                    <a:pt x="1055" y="312"/>
                  </a:lnTo>
                  <a:lnTo>
                    <a:pt x="1055" y="301"/>
                  </a:lnTo>
                  <a:lnTo>
                    <a:pt x="1052" y="289"/>
                  </a:lnTo>
                  <a:lnTo>
                    <a:pt x="1048" y="277"/>
                  </a:lnTo>
                  <a:lnTo>
                    <a:pt x="1042" y="268"/>
                  </a:lnTo>
                  <a:lnTo>
                    <a:pt x="1034" y="260"/>
                  </a:lnTo>
                  <a:lnTo>
                    <a:pt x="1025" y="254"/>
                  </a:lnTo>
                  <a:lnTo>
                    <a:pt x="1013" y="2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2" name="Freeform 7"/>
            <p:cNvSpPr>
              <a:spLocks/>
            </p:cNvSpPr>
            <p:nvPr/>
          </p:nvSpPr>
          <p:spPr bwMode="auto">
            <a:xfrm>
              <a:off x="2158" y="2782"/>
              <a:ext cx="151" cy="211"/>
            </a:xfrm>
            <a:custGeom>
              <a:avLst/>
              <a:gdLst>
                <a:gd name="T0" fmla="*/ 151 w 151"/>
                <a:gd name="T1" fmla="*/ 27 h 211"/>
                <a:gd name="T2" fmla="*/ 148 w 151"/>
                <a:gd name="T3" fmla="*/ 32 h 211"/>
                <a:gd name="T4" fmla="*/ 141 w 151"/>
                <a:gd name="T5" fmla="*/ 42 h 211"/>
                <a:gd name="T6" fmla="*/ 131 w 151"/>
                <a:gd name="T7" fmla="*/ 54 h 211"/>
                <a:gd name="T8" fmla="*/ 118 w 151"/>
                <a:gd name="T9" fmla="*/ 69 h 211"/>
                <a:gd name="T10" fmla="*/ 105 w 151"/>
                <a:gd name="T11" fmla="*/ 83 h 211"/>
                <a:gd name="T12" fmla="*/ 95 w 151"/>
                <a:gd name="T13" fmla="*/ 96 h 211"/>
                <a:gd name="T14" fmla="*/ 88 w 151"/>
                <a:gd name="T15" fmla="*/ 105 h 211"/>
                <a:gd name="T16" fmla="*/ 86 w 151"/>
                <a:gd name="T17" fmla="*/ 109 h 211"/>
                <a:gd name="T18" fmla="*/ 87 w 151"/>
                <a:gd name="T19" fmla="*/ 110 h 211"/>
                <a:gd name="T20" fmla="*/ 91 w 151"/>
                <a:gd name="T21" fmla="*/ 113 h 211"/>
                <a:gd name="T22" fmla="*/ 96 w 151"/>
                <a:gd name="T23" fmla="*/ 117 h 211"/>
                <a:gd name="T24" fmla="*/ 104 w 151"/>
                <a:gd name="T25" fmla="*/ 121 h 211"/>
                <a:gd name="T26" fmla="*/ 113 w 151"/>
                <a:gd name="T27" fmla="*/ 126 h 211"/>
                <a:gd name="T28" fmla="*/ 122 w 151"/>
                <a:gd name="T29" fmla="*/ 130 h 211"/>
                <a:gd name="T30" fmla="*/ 131 w 151"/>
                <a:gd name="T31" fmla="*/ 132 h 211"/>
                <a:gd name="T32" fmla="*/ 141 w 151"/>
                <a:gd name="T33" fmla="*/ 132 h 211"/>
                <a:gd name="T34" fmla="*/ 134 w 151"/>
                <a:gd name="T35" fmla="*/ 137 h 211"/>
                <a:gd name="T36" fmla="*/ 126 w 151"/>
                <a:gd name="T37" fmla="*/ 144 h 211"/>
                <a:gd name="T38" fmla="*/ 119 w 151"/>
                <a:gd name="T39" fmla="*/ 152 h 211"/>
                <a:gd name="T40" fmla="*/ 113 w 151"/>
                <a:gd name="T41" fmla="*/ 159 h 211"/>
                <a:gd name="T42" fmla="*/ 109 w 151"/>
                <a:gd name="T43" fmla="*/ 154 h 211"/>
                <a:gd name="T44" fmla="*/ 105 w 151"/>
                <a:gd name="T45" fmla="*/ 145 h 211"/>
                <a:gd name="T46" fmla="*/ 100 w 151"/>
                <a:gd name="T47" fmla="*/ 136 h 211"/>
                <a:gd name="T48" fmla="*/ 99 w 151"/>
                <a:gd name="T49" fmla="*/ 132 h 211"/>
                <a:gd name="T50" fmla="*/ 95 w 151"/>
                <a:gd name="T51" fmla="*/ 135 h 211"/>
                <a:gd name="T52" fmla="*/ 87 w 151"/>
                <a:gd name="T53" fmla="*/ 144 h 211"/>
                <a:gd name="T54" fmla="*/ 75 w 151"/>
                <a:gd name="T55" fmla="*/ 157 h 211"/>
                <a:gd name="T56" fmla="*/ 64 w 151"/>
                <a:gd name="T57" fmla="*/ 171 h 211"/>
                <a:gd name="T58" fmla="*/ 51 w 151"/>
                <a:gd name="T59" fmla="*/ 185 h 211"/>
                <a:gd name="T60" fmla="*/ 41 w 151"/>
                <a:gd name="T61" fmla="*/ 198 h 211"/>
                <a:gd name="T62" fmla="*/ 33 w 151"/>
                <a:gd name="T63" fmla="*/ 207 h 211"/>
                <a:gd name="T64" fmla="*/ 30 w 151"/>
                <a:gd name="T65" fmla="*/ 211 h 211"/>
                <a:gd name="T66" fmla="*/ 20 w 151"/>
                <a:gd name="T67" fmla="*/ 201 h 211"/>
                <a:gd name="T68" fmla="*/ 11 w 151"/>
                <a:gd name="T69" fmla="*/ 192 h 211"/>
                <a:gd name="T70" fmla="*/ 3 w 151"/>
                <a:gd name="T71" fmla="*/ 184 h 211"/>
                <a:gd name="T72" fmla="*/ 0 w 151"/>
                <a:gd name="T73" fmla="*/ 180 h 211"/>
                <a:gd name="T74" fmla="*/ 17 w 151"/>
                <a:gd name="T75" fmla="*/ 163 h 211"/>
                <a:gd name="T76" fmla="*/ 37 w 151"/>
                <a:gd name="T77" fmla="*/ 139 h 211"/>
                <a:gd name="T78" fmla="*/ 57 w 151"/>
                <a:gd name="T79" fmla="*/ 111 h 211"/>
                <a:gd name="T80" fmla="*/ 79 w 151"/>
                <a:gd name="T81" fmla="*/ 83 h 211"/>
                <a:gd name="T82" fmla="*/ 100 w 151"/>
                <a:gd name="T83" fmla="*/ 56 h 211"/>
                <a:gd name="T84" fmla="*/ 118 w 151"/>
                <a:gd name="T85" fmla="*/ 31 h 211"/>
                <a:gd name="T86" fmla="*/ 132 w 151"/>
                <a:gd name="T87" fmla="*/ 12 h 211"/>
                <a:gd name="T88" fmla="*/ 141 w 151"/>
                <a:gd name="T89" fmla="*/ 0 h 211"/>
                <a:gd name="T90" fmla="*/ 144 w 151"/>
                <a:gd name="T91" fmla="*/ 7 h 211"/>
                <a:gd name="T92" fmla="*/ 145 w 151"/>
                <a:gd name="T93" fmla="*/ 13 h 211"/>
                <a:gd name="T94" fmla="*/ 148 w 151"/>
                <a:gd name="T95" fmla="*/ 21 h 211"/>
                <a:gd name="T96" fmla="*/ 151 w 151"/>
                <a:gd name="T97" fmla="*/ 27 h 21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51"/>
                <a:gd name="T148" fmla="*/ 0 h 211"/>
                <a:gd name="T149" fmla="*/ 151 w 151"/>
                <a:gd name="T150" fmla="*/ 211 h 21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51" h="211">
                  <a:moveTo>
                    <a:pt x="151" y="27"/>
                  </a:moveTo>
                  <a:lnTo>
                    <a:pt x="148" y="32"/>
                  </a:lnTo>
                  <a:lnTo>
                    <a:pt x="141" y="42"/>
                  </a:lnTo>
                  <a:lnTo>
                    <a:pt x="131" y="54"/>
                  </a:lnTo>
                  <a:lnTo>
                    <a:pt x="118" y="69"/>
                  </a:lnTo>
                  <a:lnTo>
                    <a:pt x="105" y="83"/>
                  </a:lnTo>
                  <a:lnTo>
                    <a:pt x="95" y="96"/>
                  </a:lnTo>
                  <a:lnTo>
                    <a:pt x="88" y="105"/>
                  </a:lnTo>
                  <a:lnTo>
                    <a:pt x="86" y="109"/>
                  </a:lnTo>
                  <a:lnTo>
                    <a:pt x="87" y="110"/>
                  </a:lnTo>
                  <a:lnTo>
                    <a:pt x="91" y="113"/>
                  </a:lnTo>
                  <a:lnTo>
                    <a:pt x="96" y="117"/>
                  </a:lnTo>
                  <a:lnTo>
                    <a:pt x="104" y="121"/>
                  </a:lnTo>
                  <a:lnTo>
                    <a:pt x="113" y="126"/>
                  </a:lnTo>
                  <a:lnTo>
                    <a:pt x="122" y="130"/>
                  </a:lnTo>
                  <a:lnTo>
                    <a:pt x="131" y="132"/>
                  </a:lnTo>
                  <a:lnTo>
                    <a:pt x="141" y="132"/>
                  </a:lnTo>
                  <a:lnTo>
                    <a:pt x="134" y="137"/>
                  </a:lnTo>
                  <a:lnTo>
                    <a:pt x="126" y="144"/>
                  </a:lnTo>
                  <a:lnTo>
                    <a:pt x="119" y="152"/>
                  </a:lnTo>
                  <a:lnTo>
                    <a:pt x="113" y="159"/>
                  </a:lnTo>
                  <a:lnTo>
                    <a:pt x="109" y="154"/>
                  </a:lnTo>
                  <a:lnTo>
                    <a:pt x="105" y="145"/>
                  </a:lnTo>
                  <a:lnTo>
                    <a:pt x="100" y="136"/>
                  </a:lnTo>
                  <a:lnTo>
                    <a:pt x="99" y="132"/>
                  </a:lnTo>
                  <a:lnTo>
                    <a:pt x="95" y="135"/>
                  </a:lnTo>
                  <a:lnTo>
                    <a:pt x="87" y="144"/>
                  </a:lnTo>
                  <a:lnTo>
                    <a:pt x="75" y="157"/>
                  </a:lnTo>
                  <a:lnTo>
                    <a:pt x="64" y="171"/>
                  </a:lnTo>
                  <a:lnTo>
                    <a:pt x="51" y="185"/>
                  </a:lnTo>
                  <a:lnTo>
                    <a:pt x="41" y="198"/>
                  </a:lnTo>
                  <a:lnTo>
                    <a:pt x="33" y="207"/>
                  </a:lnTo>
                  <a:lnTo>
                    <a:pt x="30" y="211"/>
                  </a:lnTo>
                  <a:lnTo>
                    <a:pt x="20" y="201"/>
                  </a:lnTo>
                  <a:lnTo>
                    <a:pt x="11" y="192"/>
                  </a:lnTo>
                  <a:lnTo>
                    <a:pt x="3" y="184"/>
                  </a:lnTo>
                  <a:lnTo>
                    <a:pt x="0" y="180"/>
                  </a:lnTo>
                  <a:lnTo>
                    <a:pt x="17" y="163"/>
                  </a:lnTo>
                  <a:lnTo>
                    <a:pt x="37" y="139"/>
                  </a:lnTo>
                  <a:lnTo>
                    <a:pt x="57" y="111"/>
                  </a:lnTo>
                  <a:lnTo>
                    <a:pt x="79" y="83"/>
                  </a:lnTo>
                  <a:lnTo>
                    <a:pt x="100" y="56"/>
                  </a:lnTo>
                  <a:lnTo>
                    <a:pt x="118" y="31"/>
                  </a:lnTo>
                  <a:lnTo>
                    <a:pt x="132" y="12"/>
                  </a:lnTo>
                  <a:lnTo>
                    <a:pt x="141" y="0"/>
                  </a:lnTo>
                  <a:lnTo>
                    <a:pt x="144" y="7"/>
                  </a:lnTo>
                  <a:lnTo>
                    <a:pt x="145" y="13"/>
                  </a:lnTo>
                  <a:lnTo>
                    <a:pt x="148" y="21"/>
                  </a:lnTo>
                  <a:lnTo>
                    <a:pt x="151" y="27"/>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3" name="Freeform 8"/>
            <p:cNvSpPr>
              <a:spLocks/>
            </p:cNvSpPr>
            <p:nvPr/>
          </p:nvSpPr>
          <p:spPr bwMode="auto">
            <a:xfrm>
              <a:off x="2271" y="2834"/>
              <a:ext cx="58" cy="65"/>
            </a:xfrm>
            <a:custGeom>
              <a:avLst/>
              <a:gdLst>
                <a:gd name="T0" fmla="*/ 44 w 58"/>
                <a:gd name="T1" fmla="*/ 0 h 65"/>
                <a:gd name="T2" fmla="*/ 53 w 58"/>
                <a:gd name="T3" fmla="*/ 17 h 65"/>
                <a:gd name="T4" fmla="*/ 57 w 58"/>
                <a:gd name="T5" fmla="*/ 31 h 65"/>
                <a:gd name="T6" fmla="*/ 57 w 58"/>
                <a:gd name="T7" fmla="*/ 41 h 65"/>
                <a:gd name="T8" fmla="*/ 58 w 58"/>
                <a:gd name="T9" fmla="*/ 47 h 65"/>
                <a:gd name="T10" fmla="*/ 56 w 58"/>
                <a:gd name="T11" fmla="*/ 52 h 65"/>
                <a:gd name="T12" fmla="*/ 54 w 58"/>
                <a:gd name="T13" fmla="*/ 56 h 65"/>
                <a:gd name="T14" fmla="*/ 52 w 58"/>
                <a:gd name="T15" fmla="*/ 58 h 65"/>
                <a:gd name="T16" fmla="*/ 45 w 58"/>
                <a:gd name="T17" fmla="*/ 61 h 65"/>
                <a:gd name="T18" fmla="*/ 39 w 58"/>
                <a:gd name="T19" fmla="*/ 63 h 65"/>
                <a:gd name="T20" fmla="*/ 34 w 58"/>
                <a:gd name="T21" fmla="*/ 65 h 65"/>
                <a:gd name="T22" fmla="*/ 30 w 58"/>
                <a:gd name="T23" fmla="*/ 65 h 65"/>
                <a:gd name="T24" fmla="*/ 25 w 58"/>
                <a:gd name="T25" fmla="*/ 63 h 65"/>
                <a:gd name="T26" fmla="*/ 19 w 58"/>
                <a:gd name="T27" fmla="*/ 61 h 65"/>
                <a:gd name="T28" fmla="*/ 14 w 58"/>
                <a:gd name="T29" fmla="*/ 58 h 65"/>
                <a:gd name="T30" fmla="*/ 8 w 58"/>
                <a:gd name="T31" fmla="*/ 56 h 65"/>
                <a:gd name="T32" fmla="*/ 0 w 58"/>
                <a:gd name="T33" fmla="*/ 52 h 65"/>
                <a:gd name="T34" fmla="*/ 3 w 58"/>
                <a:gd name="T35" fmla="*/ 48 h 65"/>
                <a:gd name="T36" fmla="*/ 8 w 58"/>
                <a:gd name="T37" fmla="*/ 40 h 65"/>
                <a:gd name="T38" fmla="*/ 14 w 58"/>
                <a:gd name="T39" fmla="*/ 32 h 65"/>
                <a:gd name="T40" fmla="*/ 22 w 58"/>
                <a:gd name="T41" fmla="*/ 22 h 65"/>
                <a:gd name="T42" fmla="*/ 30 w 58"/>
                <a:gd name="T43" fmla="*/ 13 h 65"/>
                <a:gd name="T44" fmla="*/ 36 w 58"/>
                <a:gd name="T45" fmla="*/ 6 h 65"/>
                <a:gd name="T46" fmla="*/ 41 w 58"/>
                <a:gd name="T47" fmla="*/ 1 h 65"/>
                <a:gd name="T48" fmla="*/ 44 w 58"/>
                <a:gd name="T49" fmla="*/ 0 h 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8"/>
                <a:gd name="T76" fmla="*/ 0 h 65"/>
                <a:gd name="T77" fmla="*/ 58 w 58"/>
                <a:gd name="T78" fmla="*/ 65 h 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8" h="65">
                  <a:moveTo>
                    <a:pt x="44" y="0"/>
                  </a:moveTo>
                  <a:lnTo>
                    <a:pt x="53" y="17"/>
                  </a:lnTo>
                  <a:lnTo>
                    <a:pt x="57" y="31"/>
                  </a:lnTo>
                  <a:lnTo>
                    <a:pt x="57" y="41"/>
                  </a:lnTo>
                  <a:lnTo>
                    <a:pt x="58" y="47"/>
                  </a:lnTo>
                  <a:lnTo>
                    <a:pt x="56" y="52"/>
                  </a:lnTo>
                  <a:lnTo>
                    <a:pt x="54" y="56"/>
                  </a:lnTo>
                  <a:lnTo>
                    <a:pt x="52" y="58"/>
                  </a:lnTo>
                  <a:lnTo>
                    <a:pt x="45" y="61"/>
                  </a:lnTo>
                  <a:lnTo>
                    <a:pt x="39" y="63"/>
                  </a:lnTo>
                  <a:lnTo>
                    <a:pt x="34" y="65"/>
                  </a:lnTo>
                  <a:lnTo>
                    <a:pt x="30" y="65"/>
                  </a:lnTo>
                  <a:lnTo>
                    <a:pt x="25" y="63"/>
                  </a:lnTo>
                  <a:lnTo>
                    <a:pt x="19" y="61"/>
                  </a:lnTo>
                  <a:lnTo>
                    <a:pt x="14" y="58"/>
                  </a:lnTo>
                  <a:lnTo>
                    <a:pt x="8" y="56"/>
                  </a:lnTo>
                  <a:lnTo>
                    <a:pt x="0" y="52"/>
                  </a:lnTo>
                  <a:lnTo>
                    <a:pt x="3" y="48"/>
                  </a:lnTo>
                  <a:lnTo>
                    <a:pt x="8" y="40"/>
                  </a:lnTo>
                  <a:lnTo>
                    <a:pt x="14" y="32"/>
                  </a:lnTo>
                  <a:lnTo>
                    <a:pt x="22" y="22"/>
                  </a:lnTo>
                  <a:lnTo>
                    <a:pt x="30" y="13"/>
                  </a:lnTo>
                  <a:lnTo>
                    <a:pt x="36" y="6"/>
                  </a:lnTo>
                  <a:lnTo>
                    <a:pt x="41" y="1"/>
                  </a:lnTo>
                  <a:lnTo>
                    <a:pt x="44" y="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4" name="Freeform 9"/>
            <p:cNvSpPr>
              <a:spLocks/>
            </p:cNvSpPr>
            <p:nvPr/>
          </p:nvSpPr>
          <p:spPr bwMode="auto">
            <a:xfrm>
              <a:off x="2201" y="3015"/>
              <a:ext cx="34" cy="24"/>
            </a:xfrm>
            <a:custGeom>
              <a:avLst/>
              <a:gdLst>
                <a:gd name="T0" fmla="*/ 34 w 34"/>
                <a:gd name="T1" fmla="*/ 3 h 24"/>
                <a:gd name="T2" fmla="*/ 29 w 34"/>
                <a:gd name="T3" fmla="*/ 7 h 24"/>
                <a:gd name="T4" fmla="*/ 23 w 34"/>
                <a:gd name="T5" fmla="*/ 12 h 24"/>
                <a:gd name="T6" fmla="*/ 20 w 34"/>
                <a:gd name="T7" fmla="*/ 18 h 24"/>
                <a:gd name="T8" fmla="*/ 16 w 34"/>
                <a:gd name="T9" fmla="*/ 24 h 24"/>
                <a:gd name="T10" fmla="*/ 12 w 34"/>
                <a:gd name="T11" fmla="*/ 17 h 24"/>
                <a:gd name="T12" fmla="*/ 8 w 34"/>
                <a:gd name="T13" fmla="*/ 12 h 24"/>
                <a:gd name="T14" fmla="*/ 4 w 34"/>
                <a:gd name="T15" fmla="*/ 5 h 24"/>
                <a:gd name="T16" fmla="*/ 0 w 34"/>
                <a:gd name="T17" fmla="*/ 0 h 24"/>
                <a:gd name="T18" fmla="*/ 8 w 34"/>
                <a:gd name="T19" fmla="*/ 3 h 24"/>
                <a:gd name="T20" fmla="*/ 17 w 34"/>
                <a:gd name="T21" fmla="*/ 3 h 24"/>
                <a:gd name="T22" fmla="*/ 25 w 34"/>
                <a:gd name="T23" fmla="*/ 4 h 24"/>
                <a:gd name="T24" fmla="*/ 34 w 34"/>
                <a:gd name="T25" fmla="*/ 3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24"/>
                <a:gd name="T41" fmla="*/ 34 w 34"/>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24">
                  <a:moveTo>
                    <a:pt x="34" y="3"/>
                  </a:moveTo>
                  <a:lnTo>
                    <a:pt x="29" y="7"/>
                  </a:lnTo>
                  <a:lnTo>
                    <a:pt x="23" y="12"/>
                  </a:lnTo>
                  <a:lnTo>
                    <a:pt x="20" y="18"/>
                  </a:lnTo>
                  <a:lnTo>
                    <a:pt x="16" y="24"/>
                  </a:lnTo>
                  <a:lnTo>
                    <a:pt x="12" y="17"/>
                  </a:lnTo>
                  <a:lnTo>
                    <a:pt x="8" y="12"/>
                  </a:lnTo>
                  <a:lnTo>
                    <a:pt x="4" y="5"/>
                  </a:lnTo>
                  <a:lnTo>
                    <a:pt x="0" y="0"/>
                  </a:lnTo>
                  <a:lnTo>
                    <a:pt x="8" y="3"/>
                  </a:lnTo>
                  <a:lnTo>
                    <a:pt x="17" y="3"/>
                  </a:lnTo>
                  <a:lnTo>
                    <a:pt x="25" y="4"/>
                  </a:lnTo>
                  <a:lnTo>
                    <a:pt x="34" y="3"/>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5" name="Freeform 10"/>
            <p:cNvSpPr>
              <a:spLocks/>
            </p:cNvSpPr>
            <p:nvPr/>
          </p:nvSpPr>
          <p:spPr bwMode="auto">
            <a:xfrm>
              <a:off x="1392" y="2572"/>
              <a:ext cx="892" cy="726"/>
            </a:xfrm>
            <a:custGeom>
              <a:avLst/>
              <a:gdLst>
                <a:gd name="T0" fmla="*/ 199 w 892"/>
                <a:gd name="T1" fmla="*/ 233 h 726"/>
                <a:gd name="T2" fmla="*/ 232 w 892"/>
                <a:gd name="T3" fmla="*/ 192 h 726"/>
                <a:gd name="T4" fmla="*/ 265 w 892"/>
                <a:gd name="T5" fmla="*/ 150 h 726"/>
                <a:gd name="T6" fmla="*/ 303 w 892"/>
                <a:gd name="T7" fmla="*/ 95 h 726"/>
                <a:gd name="T8" fmla="*/ 338 w 892"/>
                <a:gd name="T9" fmla="*/ 44 h 726"/>
                <a:gd name="T10" fmla="*/ 379 w 892"/>
                <a:gd name="T11" fmla="*/ 7 h 726"/>
                <a:gd name="T12" fmla="*/ 403 w 892"/>
                <a:gd name="T13" fmla="*/ 0 h 726"/>
                <a:gd name="T14" fmla="*/ 482 w 892"/>
                <a:gd name="T15" fmla="*/ 29 h 726"/>
                <a:gd name="T16" fmla="*/ 555 w 892"/>
                <a:gd name="T17" fmla="*/ 55 h 726"/>
                <a:gd name="T18" fmla="*/ 624 w 892"/>
                <a:gd name="T19" fmla="*/ 82 h 726"/>
                <a:gd name="T20" fmla="*/ 673 w 892"/>
                <a:gd name="T21" fmla="*/ 99 h 726"/>
                <a:gd name="T22" fmla="*/ 721 w 892"/>
                <a:gd name="T23" fmla="*/ 112 h 726"/>
                <a:gd name="T24" fmla="*/ 770 w 892"/>
                <a:gd name="T25" fmla="*/ 122 h 726"/>
                <a:gd name="T26" fmla="*/ 819 w 892"/>
                <a:gd name="T27" fmla="*/ 132 h 726"/>
                <a:gd name="T28" fmla="*/ 873 w 892"/>
                <a:gd name="T29" fmla="*/ 145 h 726"/>
                <a:gd name="T30" fmla="*/ 892 w 892"/>
                <a:gd name="T31" fmla="*/ 179 h 726"/>
                <a:gd name="T32" fmla="*/ 874 w 892"/>
                <a:gd name="T33" fmla="*/ 207 h 726"/>
                <a:gd name="T34" fmla="*/ 860 w 892"/>
                <a:gd name="T35" fmla="*/ 228 h 726"/>
                <a:gd name="T36" fmla="*/ 843 w 892"/>
                <a:gd name="T37" fmla="*/ 250 h 726"/>
                <a:gd name="T38" fmla="*/ 799 w 892"/>
                <a:gd name="T39" fmla="*/ 310 h 726"/>
                <a:gd name="T40" fmla="*/ 755 w 892"/>
                <a:gd name="T41" fmla="*/ 367 h 726"/>
                <a:gd name="T42" fmla="*/ 729 w 892"/>
                <a:gd name="T43" fmla="*/ 372 h 726"/>
                <a:gd name="T44" fmla="*/ 687 w 892"/>
                <a:gd name="T45" fmla="*/ 359 h 726"/>
                <a:gd name="T46" fmla="*/ 645 w 892"/>
                <a:gd name="T47" fmla="*/ 356 h 726"/>
                <a:gd name="T48" fmla="*/ 610 w 892"/>
                <a:gd name="T49" fmla="*/ 363 h 726"/>
                <a:gd name="T50" fmla="*/ 586 w 892"/>
                <a:gd name="T51" fmla="*/ 384 h 726"/>
                <a:gd name="T52" fmla="*/ 577 w 892"/>
                <a:gd name="T53" fmla="*/ 411 h 726"/>
                <a:gd name="T54" fmla="*/ 598 w 892"/>
                <a:gd name="T55" fmla="*/ 451 h 726"/>
                <a:gd name="T56" fmla="*/ 646 w 892"/>
                <a:gd name="T57" fmla="*/ 469 h 726"/>
                <a:gd name="T58" fmla="*/ 674 w 892"/>
                <a:gd name="T59" fmla="*/ 487 h 726"/>
                <a:gd name="T60" fmla="*/ 619 w 892"/>
                <a:gd name="T61" fmla="*/ 573 h 726"/>
                <a:gd name="T62" fmla="*/ 533 w 892"/>
                <a:gd name="T63" fmla="*/ 687 h 726"/>
                <a:gd name="T64" fmla="*/ 492 w 892"/>
                <a:gd name="T65" fmla="*/ 723 h 726"/>
                <a:gd name="T66" fmla="*/ 466 w 892"/>
                <a:gd name="T67" fmla="*/ 726 h 726"/>
                <a:gd name="T68" fmla="*/ 443 w 892"/>
                <a:gd name="T69" fmla="*/ 723 h 726"/>
                <a:gd name="T70" fmla="*/ 370 w 892"/>
                <a:gd name="T71" fmla="*/ 702 h 726"/>
                <a:gd name="T72" fmla="*/ 304 w 892"/>
                <a:gd name="T73" fmla="*/ 678 h 726"/>
                <a:gd name="T74" fmla="*/ 268 w 892"/>
                <a:gd name="T75" fmla="*/ 663 h 726"/>
                <a:gd name="T76" fmla="*/ 216 w 892"/>
                <a:gd name="T77" fmla="*/ 645 h 726"/>
                <a:gd name="T78" fmla="*/ 163 w 892"/>
                <a:gd name="T79" fmla="*/ 626 h 726"/>
                <a:gd name="T80" fmla="*/ 111 w 892"/>
                <a:gd name="T81" fmla="*/ 608 h 726"/>
                <a:gd name="T82" fmla="*/ 58 w 892"/>
                <a:gd name="T83" fmla="*/ 588 h 726"/>
                <a:gd name="T84" fmla="*/ 7 w 892"/>
                <a:gd name="T85" fmla="*/ 568 h 726"/>
                <a:gd name="T86" fmla="*/ 1 w 892"/>
                <a:gd name="T87" fmla="*/ 560 h 726"/>
                <a:gd name="T88" fmla="*/ 44 w 892"/>
                <a:gd name="T89" fmla="*/ 483 h 726"/>
                <a:gd name="T90" fmla="*/ 115 w 892"/>
                <a:gd name="T91" fmla="*/ 376 h 726"/>
                <a:gd name="T92" fmla="*/ 181 w 892"/>
                <a:gd name="T93" fmla="*/ 263 h 72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92"/>
                <a:gd name="T142" fmla="*/ 0 h 726"/>
                <a:gd name="T143" fmla="*/ 892 w 892"/>
                <a:gd name="T144" fmla="*/ 726 h 72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92" h="726">
                  <a:moveTo>
                    <a:pt x="181" y="263"/>
                  </a:moveTo>
                  <a:lnTo>
                    <a:pt x="189" y="248"/>
                  </a:lnTo>
                  <a:lnTo>
                    <a:pt x="199" y="233"/>
                  </a:lnTo>
                  <a:lnTo>
                    <a:pt x="210" y="219"/>
                  </a:lnTo>
                  <a:lnTo>
                    <a:pt x="220" y="205"/>
                  </a:lnTo>
                  <a:lnTo>
                    <a:pt x="232" y="192"/>
                  </a:lnTo>
                  <a:lnTo>
                    <a:pt x="242" y="178"/>
                  </a:lnTo>
                  <a:lnTo>
                    <a:pt x="254" y="165"/>
                  </a:lnTo>
                  <a:lnTo>
                    <a:pt x="265" y="150"/>
                  </a:lnTo>
                  <a:lnTo>
                    <a:pt x="280" y="132"/>
                  </a:lnTo>
                  <a:lnTo>
                    <a:pt x="291" y="113"/>
                  </a:lnTo>
                  <a:lnTo>
                    <a:pt x="303" y="95"/>
                  </a:lnTo>
                  <a:lnTo>
                    <a:pt x="315" y="78"/>
                  </a:lnTo>
                  <a:lnTo>
                    <a:pt x="325" y="61"/>
                  </a:lnTo>
                  <a:lnTo>
                    <a:pt x="338" y="44"/>
                  </a:lnTo>
                  <a:lnTo>
                    <a:pt x="353" y="27"/>
                  </a:lnTo>
                  <a:lnTo>
                    <a:pt x="370" y="12"/>
                  </a:lnTo>
                  <a:lnTo>
                    <a:pt x="379" y="7"/>
                  </a:lnTo>
                  <a:lnTo>
                    <a:pt x="391" y="3"/>
                  </a:lnTo>
                  <a:lnTo>
                    <a:pt x="399" y="0"/>
                  </a:lnTo>
                  <a:lnTo>
                    <a:pt x="403" y="0"/>
                  </a:lnTo>
                  <a:lnTo>
                    <a:pt x="430" y="11"/>
                  </a:lnTo>
                  <a:lnTo>
                    <a:pt x="456" y="21"/>
                  </a:lnTo>
                  <a:lnTo>
                    <a:pt x="482" y="29"/>
                  </a:lnTo>
                  <a:lnTo>
                    <a:pt x="506" y="38"/>
                  </a:lnTo>
                  <a:lnTo>
                    <a:pt x="531" y="47"/>
                  </a:lnTo>
                  <a:lnTo>
                    <a:pt x="555" y="55"/>
                  </a:lnTo>
                  <a:lnTo>
                    <a:pt x="581" y="65"/>
                  </a:lnTo>
                  <a:lnTo>
                    <a:pt x="607" y="75"/>
                  </a:lnTo>
                  <a:lnTo>
                    <a:pt x="624" y="82"/>
                  </a:lnTo>
                  <a:lnTo>
                    <a:pt x="641" y="88"/>
                  </a:lnTo>
                  <a:lnTo>
                    <a:pt x="656" y="93"/>
                  </a:lnTo>
                  <a:lnTo>
                    <a:pt x="673" y="99"/>
                  </a:lnTo>
                  <a:lnTo>
                    <a:pt x="689" y="104"/>
                  </a:lnTo>
                  <a:lnTo>
                    <a:pt x="706" y="108"/>
                  </a:lnTo>
                  <a:lnTo>
                    <a:pt x="721" y="112"/>
                  </a:lnTo>
                  <a:lnTo>
                    <a:pt x="738" y="115"/>
                  </a:lnTo>
                  <a:lnTo>
                    <a:pt x="753" y="119"/>
                  </a:lnTo>
                  <a:lnTo>
                    <a:pt x="770" y="122"/>
                  </a:lnTo>
                  <a:lnTo>
                    <a:pt x="786" y="126"/>
                  </a:lnTo>
                  <a:lnTo>
                    <a:pt x="803" y="130"/>
                  </a:lnTo>
                  <a:lnTo>
                    <a:pt x="819" y="132"/>
                  </a:lnTo>
                  <a:lnTo>
                    <a:pt x="838" y="136"/>
                  </a:lnTo>
                  <a:lnTo>
                    <a:pt x="854" y="141"/>
                  </a:lnTo>
                  <a:lnTo>
                    <a:pt x="873" y="145"/>
                  </a:lnTo>
                  <a:lnTo>
                    <a:pt x="885" y="153"/>
                  </a:lnTo>
                  <a:lnTo>
                    <a:pt x="892" y="165"/>
                  </a:lnTo>
                  <a:lnTo>
                    <a:pt x="892" y="179"/>
                  </a:lnTo>
                  <a:lnTo>
                    <a:pt x="885" y="192"/>
                  </a:lnTo>
                  <a:lnTo>
                    <a:pt x="879" y="200"/>
                  </a:lnTo>
                  <a:lnTo>
                    <a:pt x="874" y="207"/>
                  </a:lnTo>
                  <a:lnTo>
                    <a:pt x="870" y="214"/>
                  </a:lnTo>
                  <a:lnTo>
                    <a:pt x="865" y="220"/>
                  </a:lnTo>
                  <a:lnTo>
                    <a:pt x="860" y="228"/>
                  </a:lnTo>
                  <a:lnTo>
                    <a:pt x="854" y="235"/>
                  </a:lnTo>
                  <a:lnTo>
                    <a:pt x="849" y="242"/>
                  </a:lnTo>
                  <a:lnTo>
                    <a:pt x="843" y="250"/>
                  </a:lnTo>
                  <a:lnTo>
                    <a:pt x="830" y="267"/>
                  </a:lnTo>
                  <a:lnTo>
                    <a:pt x="814" y="288"/>
                  </a:lnTo>
                  <a:lnTo>
                    <a:pt x="799" y="310"/>
                  </a:lnTo>
                  <a:lnTo>
                    <a:pt x="782" y="331"/>
                  </a:lnTo>
                  <a:lnTo>
                    <a:pt x="768" y="350"/>
                  </a:lnTo>
                  <a:lnTo>
                    <a:pt x="755" y="367"/>
                  </a:lnTo>
                  <a:lnTo>
                    <a:pt x="746" y="377"/>
                  </a:lnTo>
                  <a:lnTo>
                    <a:pt x="742" y="380"/>
                  </a:lnTo>
                  <a:lnTo>
                    <a:pt x="729" y="372"/>
                  </a:lnTo>
                  <a:lnTo>
                    <a:pt x="716" y="367"/>
                  </a:lnTo>
                  <a:lnTo>
                    <a:pt x="702" y="363"/>
                  </a:lnTo>
                  <a:lnTo>
                    <a:pt x="687" y="359"/>
                  </a:lnTo>
                  <a:lnTo>
                    <a:pt x="673" y="358"/>
                  </a:lnTo>
                  <a:lnTo>
                    <a:pt x="659" y="356"/>
                  </a:lnTo>
                  <a:lnTo>
                    <a:pt x="645" y="356"/>
                  </a:lnTo>
                  <a:lnTo>
                    <a:pt x="630" y="358"/>
                  </a:lnTo>
                  <a:lnTo>
                    <a:pt x="620" y="359"/>
                  </a:lnTo>
                  <a:lnTo>
                    <a:pt x="610" y="363"/>
                  </a:lnTo>
                  <a:lnTo>
                    <a:pt x="601" y="368"/>
                  </a:lnTo>
                  <a:lnTo>
                    <a:pt x="593" y="375"/>
                  </a:lnTo>
                  <a:lnTo>
                    <a:pt x="586" y="384"/>
                  </a:lnTo>
                  <a:lnTo>
                    <a:pt x="583" y="391"/>
                  </a:lnTo>
                  <a:lnTo>
                    <a:pt x="579" y="402"/>
                  </a:lnTo>
                  <a:lnTo>
                    <a:pt x="577" y="411"/>
                  </a:lnTo>
                  <a:lnTo>
                    <a:pt x="580" y="428"/>
                  </a:lnTo>
                  <a:lnTo>
                    <a:pt x="586" y="441"/>
                  </a:lnTo>
                  <a:lnTo>
                    <a:pt x="598" y="451"/>
                  </a:lnTo>
                  <a:lnTo>
                    <a:pt x="612" y="459"/>
                  </a:lnTo>
                  <a:lnTo>
                    <a:pt x="629" y="464"/>
                  </a:lnTo>
                  <a:lnTo>
                    <a:pt x="646" y="469"/>
                  </a:lnTo>
                  <a:lnTo>
                    <a:pt x="663" y="474"/>
                  </a:lnTo>
                  <a:lnTo>
                    <a:pt x="677" y="479"/>
                  </a:lnTo>
                  <a:lnTo>
                    <a:pt x="674" y="487"/>
                  </a:lnTo>
                  <a:lnTo>
                    <a:pt x="663" y="508"/>
                  </a:lnTo>
                  <a:lnTo>
                    <a:pt x="643" y="538"/>
                  </a:lnTo>
                  <a:lnTo>
                    <a:pt x="619" y="573"/>
                  </a:lnTo>
                  <a:lnTo>
                    <a:pt x="592" y="612"/>
                  </a:lnTo>
                  <a:lnTo>
                    <a:pt x="562" y="650"/>
                  </a:lnTo>
                  <a:lnTo>
                    <a:pt x="533" y="687"/>
                  </a:lnTo>
                  <a:lnTo>
                    <a:pt x="506" y="718"/>
                  </a:lnTo>
                  <a:lnTo>
                    <a:pt x="498" y="720"/>
                  </a:lnTo>
                  <a:lnTo>
                    <a:pt x="492" y="723"/>
                  </a:lnTo>
                  <a:lnTo>
                    <a:pt x="483" y="724"/>
                  </a:lnTo>
                  <a:lnTo>
                    <a:pt x="475" y="724"/>
                  </a:lnTo>
                  <a:lnTo>
                    <a:pt x="466" y="726"/>
                  </a:lnTo>
                  <a:lnTo>
                    <a:pt x="458" y="724"/>
                  </a:lnTo>
                  <a:lnTo>
                    <a:pt x="451" y="724"/>
                  </a:lnTo>
                  <a:lnTo>
                    <a:pt x="443" y="723"/>
                  </a:lnTo>
                  <a:lnTo>
                    <a:pt x="421" y="718"/>
                  </a:lnTo>
                  <a:lnTo>
                    <a:pt x="396" y="710"/>
                  </a:lnTo>
                  <a:lnTo>
                    <a:pt x="370" y="702"/>
                  </a:lnTo>
                  <a:lnTo>
                    <a:pt x="346" y="693"/>
                  </a:lnTo>
                  <a:lnTo>
                    <a:pt x="324" y="684"/>
                  </a:lnTo>
                  <a:lnTo>
                    <a:pt x="304" y="678"/>
                  </a:lnTo>
                  <a:lnTo>
                    <a:pt x="291" y="672"/>
                  </a:lnTo>
                  <a:lnTo>
                    <a:pt x="286" y="670"/>
                  </a:lnTo>
                  <a:lnTo>
                    <a:pt x="268" y="663"/>
                  </a:lnTo>
                  <a:lnTo>
                    <a:pt x="251" y="657"/>
                  </a:lnTo>
                  <a:lnTo>
                    <a:pt x="233" y="652"/>
                  </a:lnTo>
                  <a:lnTo>
                    <a:pt x="216" y="645"/>
                  </a:lnTo>
                  <a:lnTo>
                    <a:pt x="198" y="639"/>
                  </a:lnTo>
                  <a:lnTo>
                    <a:pt x="181" y="632"/>
                  </a:lnTo>
                  <a:lnTo>
                    <a:pt x="163" y="626"/>
                  </a:lnTo>
                  <a:lnTo>
                    <a:pt x="146" y="621"/>
                  </a:lnTo>
                  <a:lnTo>
                    <a:pt x="128" y="614"/>
                  </a:lnTo>
                  <a:lnTo>
                    <a:pt x="111" y="608"/>
                  </a:lnTo>
                  <a:lnTo>
                    <a:pt x="93" y="601"/>
                  </a:lnTo>
                  <a:lnTo>
                    <a:pt x="76" y="595"/>
                  </a:lnTo>
                  <a:lnTo>
                    <a:pt x="58" y="588"/>
                  </a:lnTo>
                  <a:lnTo>
                    <a:pt x="42" y="582"/>
                  </a:lnTo>
                  <a:lnTo>
                    <a:pt x="23" y="574"/>
                  </a:lnTo>
                  <a:lnTo>
                    <a:pt x="7" y="568"/>
                  </a:lnTo>
                  <a:lnTo>
                    <a:pt x="5" y="565"/>
                  </a:lnTo>
                  <a:lnTo>
                    <a:pt x="3" y="562"/>
                  </a:lnTo>
                  <a:lnTo>
                    <a:pt x="1" y="560"/>
                  </a:lnTo>
                  <a:lnTo>
                    <a:pt x="0" y="557"/>
                  </a:lnTo>
                  <a:lnTo>
                    <a:pt x="21" y="520"/>
                  </a:lnTo>
                  <a:lnTo>
                    <a:pt x="44" y="483"/>
                  </a:lnTo>
                  <a:lnTo>
                    <a:pt x="67" y="447"/>
                  </a:lnTo>
                  <a:lnTo>
                    <a:pt x="92" y="412"/>
                  </a:lnTo>
                  <a:lnTo>
                    <a:pt x="115" y="376"/>
                  </a:lnTo>
                  <a:lnTo>
                    <a:pt x="139" y="338"/>
                  </a:lnTo>
                  <a:lnTo>
                    <a:pt x="161" y="302"/>
                  </a:lnTo>
                  <a:lnTo>
                    <a:pt x="181" y="263"/>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6" name="Freeform 11"/>
            <p:cNvSpPr>
              <a:spLocks/>
            </p:cNvSpPr>
            <p:nvPr/>
          </p:nvSpPr>
          <p:spPr bwMode="auto">
            <a:xfrm>
              <a:off x="1387" y="3070"/>
              <a:ext cx="762" cy="308"/>
            </a:xfrm>
            <a:custGeom>
              <a:avLst/>
              <a:gdLst>
                <a:gd name="T0" fmla="*/ 39 w 762"/>
                <a:gd name="T1" fmla="*/ 99 h 308"/>
                <a:gd name="T2" fmla="*/ 103 w 762"/>
                <a:gd name="T3" fmla="*/ 128 h 308"/>
                <a:gd name="T4" fmla="*/ 164 w 762"/>
                <a:gd name="T5" fmla="*/ 152 h 308"/>
                <a:gd name="T6" fmla="*/ 195 w 762"/>
                <a:gd name="T7" fmla="*/ 164 h 308"/>
                <a:gd name="T8" fmla="*/ 250 w 762"/>
                <a:gd name="T9" fmla="*/ 184 h 308"/>
                <a:gd name="T10" fmla="*/ 316 w 762"/>
                <a:gd name="T11" fmla="*/ 208 h 308"/>
                <a:gd name="T12" fmla="*/ 382 w 762"/>
                <a:gd name="T13" fmla="*/ 230 h 308"/>
                <a:gd name="T14" fmla="*/ 435 w 762"/>
                <a:gd name="T15" fmla="*/ 244 h 308"/>
                <a:gd name="T16" fmla="*/ 467 w 762"/>
                <a:gd name="T17" fmla="*/ 251 h 308"/>
                <a:gd name="T18" fmla="*/ 494 w 762"/>
                <a:gd name="T19" fmla="*/ 256 h 308"/>
                <a:gd name="T20" fmla="*/ 520 w 762"/>
                <a:gd name="T21" fmla="*/ 252 h 308"/>
                <a:gd name="T22" fmla="*/ 569 w 762"/>
                <a:gd name="T23" fmla="*/ 190 h 308"/>
                <a:gd name="T24" fmla="*/ 616 w 762"/>
                <a:gd name="T25" fmla="*/ 121 h 308"/>
                <a:gd name="T26" fmla="*/ 656 w 762"/>
                <a:gd name="T27" fmla="*/ 66 h 308"/>
                <a:gd name="T28" fmla="*/ 689 w 762"/>
                <a:gd name="T29" fmla="*/ 26 h 308"/>
                <a:gd name="T30" fmla="*/ 714 w 762"/>
                <a:gd name="T31" fmla="*/ 0 h 308"/>
                <a:gd name="T32" fmla="*/ 729 w 762"/>
                <a:gd name="T33" fmla="*/ 11 h 308"/>
                <a:gd name="T34" fmla="*/ 747 w 762"/>
                <a:gd name="T35" fmla="*/ 32 h 308"/>
                <a:gd name="T36" fmla="*/ 762 w 762"/>
                <a:gd name="T37" fmla="*/ 50 h 308"/>
                <a:gd name="T38" fmla="*/ 745 w 762"/>
                <a:gd name="T39" fmla="*/ 73 h 308"/>
                <a:gd name="T40" fmla="*/ 726 w 762"/>
                <a:gd name="T41" fmla="*/ 64 h 308"/>
                <a:gd name="T42" fmla="*/ 712 w 762"/>
                <a:gd name="T43" fmla="*/ 54 h 308"/>
                <a:gd name="T44" fmla="*/ 685 w 762"/>
                <a:gd name="T45" fmla="*/ 89 h 308"/>
                <a:gd name="T46" fmla="*/ 656 w 762"/>
                <a:gd name="T47" fmla="*/ 130 h 308"/>
                <a:gd name="T48" fmla="*/ 656 w 762"/>
                <a:gd name="T49" fmla="*/ 140 h 308"/>
                <a:gd name="T50" fmla="*/ 677 w 762"/>
                <a:gd name="T51" fmla="*/ 147 h 308"/>
                <a:gd name="T52" fmla="*/ 701 w 762"/>
                <a:gd name="T53" fmla="*/ 147 h 308"/>
                <a:gd name="T54" fmla="*/ 686 w 762"/>
                <a:gd name="T55" fmla="*/ 169 h 308"/>
                <a:gd name="T56" fmla="*/ 669 w 762"/>
                <a:gd name="T57" fmla="*/ 190 h 308"/>
                <a:gd name="T58" fmla="*/ 652 w 762"/>
                <a:gd name="T59" fmla="*/ 191 h 308"/>
                <a:gd name="T60" fmla="*/ 633 w 762"/>
                <a:gd name="T61" fmla="*/ 154 h 308"/>
                <a:gd name="T62" fmla="*/ 610 w 762"/>
                <a:gd name="T63" fmla="*/ 180 h 308"/>
                <a:gd name="T64" fmla="*/ 572 w 762"/>
                <a:gd name="T65" fmla="*/ 225 h 308"/>
                <a:gd name="T66" fmla="*/ 562 w 762"/>
                <a:gd name="T67" fmla="*/ 243 h 308"/>
                <a:gd name="T68" fmla="*/ 579 w 762"/>
                <a:gd name="T69" fmla="*/ 251 h 308"/>
                <a:gd name="T70" fmla="*/ 602 w 762"/>
                <a:gd name="T71" fmla="*/ 256 h 308"/>
                <a:gd name="T72" fmla="*/ 590 w 762"/>
                <a:gd name="T73" fmla="*/ 276 h 308"/>
                <a:gd name="T74" fmla="*/ 568 w 762"/>
                <a:gd name="T75" fmla="*/ 296 h 308"/>
                <a:gd name="T76" fmla="*/ 558 w 762"/>
                <a:gd name="T77" fmla="*/ 308 h 308"/>
                <a:gd name="T78" fmla="*/ 479 w 762"/>
                <a:gd name="T79" fmla="*/ 294 h 308"/>
                <a:gd name="T80" fmla="*/ 375 w 762"/>
                <a:gd name="T81" fmla="*/ 265 h 308"/>
                <a:gd name="T82" fmla="*/ 264 w 762"/>
                <a:gd name="T83" fmla="*/ 228 h 308"/>
                <a:gd name="T84" fmla="*/ 163 w 762"/>
                <a:gd name="T85" fmla="*/ 189 h 308"/>
                <a:gd name="T86" fmla="*/ 88 w 762"/>
                <a:gd name="T87" fmla="*/ 155 h 308"/>
                <a:gd name="T88" fmla="*/ 57 w 762"/>
                <a:gd name="T89" fmla="*/ 140 h 308"/>
                <a:gd name="T90" fmla="*/ 26 w 762"/>
                <a:gd name="T91" fmla="*/ 128 h 308"/>
                <a:gd name="T92" fmla="*/ 9 w 762"/>
                <a:gd name="T93" fmla="*/ 123 h 308"/>
                <a:gd name="T94" fmla="*/ 2 w 762"/>
                <a:gd name="T95" fmla="*/ 90 h 30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62"/>
                <a:gd name="T145" fmla="*/ 0 h 308"/>
                <a:gd name="T146" fmla="*/ 762 w 762"/>
                <a:gd name="T147" fmla="*/ 308 h 30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62" h="308">
                  <a:moveTo>
                    <a:pt x="0" y="84"/>
                  </a:moveTo>
                  <a:lnTo>
                    <a:pt x="18" y="92"/>
                  </a:lnTo>
                  <a:lnTo>
                    <a:pt x="39" y="99"/>
                  </a:lnTo>
                  <a:lnTo>
                    <a:pt x="61" y="108"/>
                  </a:lnTo>
                  <a:lnTo>
                    <a:pt x="83" y="118"/>
                  </a:lnTo>
                  <a:lnTo>
                    <a:pt x="103" y="128"/>
                  </a:lnTo>
                  <a:lnTo>
                    <a:pt x="125" y="136"/>
                  </a:lnTo>
                  <a:lnTo>
                    <a:pt x="146" y="145"/>
                  </a:lnTo>
                  <a:lnTo>
                    <a:pt x="164" y="152"/>
                  </a:lnTo>
                  <a:lnTo>
                    <a:pt x="171" y="155"/>
                  </a:lnTo>
                  <a:lnTo>
                    <a:pt x="181" y="159"/>
                  </a:lnTo>
                  <a:lnTo>
                    <a:pt x="195" y="164"/>
                  </a:lnTo>
                  <a:lnTo>
                    <a:pt x="211" y="169"/>
                  </a:lnTo>
                  <a:lnTo>
                    <a:pt x="229" y="177"/>
                  </a:lnTo>
                  <a:lnTo>
                    <a:pt x="250" y="184"/>
                  </a:lnTo>
                  <a:lnTo>
                    <a:pt x="272" y="191"/>
                  </a:lnTo>
                  <a:lnTo>
                    <a:pt x="294" y="199"/>
                  </a:lnTo>
                  <a:lnTo>
                    <a:pt x="316" y="208"/>
                  </a:lnTo>
                  <a:lnTo>
                    <a:pt x="339" y="216"/>
                  </a:lnTo>
                  <a:lnTo>
                    <a:pt x="361" y="222"/>
                  </a:lnTo>
                  <a:lnTo>
                    <a:pt x="382" y="230"/>
                  </a:lnTo>
                  <a:lnTo>
                    <a:pt x="401" y="235"/>
                  </a:lnTo>
                  <a:lnTo>
                    <a:pt x="419" y="241"/>
                  </a:lnTo>
                  <a:lnTo>
                    <a:pt x="435" y="244"/>
                  </a:lnTo>
                  <a:lnTo>
                    <a:pt x="448" y="247"/>
                  </a:lnTo>
                  <a:lnTo>
                    <a:pt x="457" y="248"/>
                  </a:lnTo>
                  <a:lnTo>
                    <a:pt x="467" y="251"/>
                  </a:lnTo>
                  <a:lnTo>
                    <a:pt x="476" y="252"/>
                  </a:lnTo>
                  <a:lnTo>
                    <a:pt x="485" y="255"/>
                  </a:lnTo>
                  <a:lnTo>
                    <a:pt x="494" y="256"/>
                  </a:lnTo>
                  <a:lnTo>
                    <a:pt x="503" y="256"/>
                  </a:lnTo>
                  <a:lnTo>
                    <a:pt x="512" y="255"/>
                  </a:lnTo>
                  <a:lnTo>
                    <a:pt x="520" y="252"/>
                  </a:lnTo>
                  <a:lnTo>
                    <a:pt x="537" y="233"/>
                  </a:lnTo>
                  <a:lnTo>
                    <a:pt x="554" y="212"/>
                  </a:lnTo>
                  <a:lnTo>
                    <a:pt x="569" y="190"/>
                  </a:lnTo>
                  <a:lnTo>
                    <a:pt x="585" y="167"/>
                  </a:lnTo>
                  <a:lnTo>
                    <a:pt x="601" y="143"/>
                  </a:lnTo>
                  <a:lnTo>
                    <a:pt x="616" y="121"/>
                  </a:lnTo>
                  <a:lnTo>
                    <a:pt x="632" y="98"/>
                  </a:lnTo>
                  <a:lnTo>
                    <a:pt x="647" y="77"/>
                  </a:lnTo>
                  <a:lnTo>
                    <a:pt x="656" y="66"/>
                  </a:lnTo>
                  <a:lnTo>
                    <a:pt x="667" y="53"/>
                  </a:lnTo>
                  <a:lnTo>
                    <a:pt x="678" y="38"/>
                  </a:lnTo>
                  <a:lnTo>
                    <a:pt x="689" y="26"/>
                  </a:lnTo>
                  <a:lnTo>
                    <a:pt x="699" y="14"/>
                  </a:lnTo>
                  <a:lnTo>
                    <a:pt x="708" y="5"/>
                  </a:lnTo>
                  <a:lnTo>
                    <a:pt x="714" y="0"/>
                  </a:lnTo>
                  <a:lnTo>
                    <a:pt x="718" y="0"/>
                  </a:lnTo>
                  <a:lnTo>
                    <a:pt x="723" y="5"/>
                  </a:lnTo>
                  <a:lnTo>
                    <a:pt x="729" y="11"/>
                  </a:lnTo>
                  <a:lnTo>
                    <a:pt x="735" y="18"/>
                  </a:lnTo>
                  <a:lnTo>
                    <a:pt x="740" y="24"/>
                  </a:lnTo>
                  <a:lnTo>
                    <a:pt x="747" y="32"/>
                  </a:lnTo>
                  <a:lnTo>
                    <a:pt x="752" y="38"/>
                  </a:lnTo>
                  <a:lnTo>
                    <a:pt x="757" y="45"/>
                  </a:lnTo>
                  <a:lnTo>
                    <a:pt x="762" y="50"/>
                  </a:lnTo>
                  <a:lnTo>
                    <a:pt x="756" y="58"/>
                  </a:lnTo>
                  <a:lnTo>
                    <a:pt x="751" y="66"/>
                  </a:lnTo>
                  <a:lnTo>
                    <a:pt x="745" y="73"/>
                  </a:lnTo>
                  <a:lnTo>
                    <a:pt x="740" y="83"/>
                  </a:lnTo>
                  <a:lnTo>
                    <a:pt x="734" y="75"/>
                  </a:lnTo>
                  <a:lnTo>
                    <a:pt x="726" y="64"/>
                  </a:lnTo>
                  <a:lnTo>
                    <a:pt x="718" y="55"/>
                  </a:lnTo>
                  <a:lnTo>
                    <a:pt x="714" y="51"/>
                  </a:lnTo>
                  <a:lnTo>
                    <a:pt x="712" y="54"/>
                  </a:lnTo>
                  <a:lnTo>
                    <a:pt x="705" y="63"/>
                  </a:lnTo>
                  <a:lnTo>
                    <a:pt x="695" y="75"/>
                  </a:lnTo>
                  <a:lnTo>
                    <a:pt x="685" y="89"/>
                  </a:lnTo>
                  <a:lnTo>
                    <a:pt x="673" y="105"/>
                  </a:lnTo>
                  <a:lnTo>
                    <a:pt x="663" y="119"/>
                  </a:lnTo>
                  <a:lnTo>
                    <a:pt x="656" y="130"/>
                  </a:lnTo>
                  <a:lnTo>
                    <a:pt x="652" y="137"/>
                  </a:lnTo>
                  <a:lnTo>
                    <a:pt x="652" y="138"/>
                  </a:lnTo>
                  <a:lnTo>
                    <a:pt x="656" y="140"/>
                  </a:lnTo>
                  <a:lnTo>
                    <a:pt x="661" y="142"/>
                  </a:lnTo>
                  <a:lnTo>
                    <a:pt x="669" y="145"/>
                  </a:lnTo>
                  <a:lnTo>
                    <a:pt x="677" y="147"/>
                  </a:lnTo>
                  <a:lnTo>
                    <a:pt x="686" y="149"/>
                  </a:lnTo>
                  <a:lnTo>
                    <a:pt x="694" y="149"/>
                  </a:lnTo>
                  <a:lnTo>
                    <a:pt x="701" y="147"/>
                  </a:lnTo>
                  <a:lnTo>
                    <a:pt x="696" y="155"/>
                  </a:lnTo>
                  <a:lnTo>
                    <a:pt x="691" y="162"/>
                  </a:lnTo>
                  <a:lnTo>
                    <a:pt x="686" y="169"/>
                  </a:lnTo>
                  <a:lnTo>
                    <a:pt x="681" y="176"/>
                  </a:lnTo>
                  <a:lnTo>
                    <a:pt x="674" y="182"/>
                  </a:lnTo>
                  <a:lnTo>
                    <a:pt x="669" y="190"/>
                  </a:lnTo>
                  <a:lnTo>
                    <a:pt x="663" y="197"/>
                  </a:lnTo>
                  <a:lnTo>
                    <a:pt x="657" y="203"/>
                  </a:lnTo>
                  <a:lnTo>
                    <a:pt x="652" y="191"/>
                  </a:lnTo>
                  <a:lnTo>
                    <a:pt x="645" y="174"/>
                  </a:lnTo>
                  <a:lnTo>
                    <a:pt x="637" y="160"/>
                  </a:lnTo>
                  <a:lnTo>
                    <a:pt x="633" y="154"/>
                  </a:lnTo>
                  <a:lnTo>
                    <a:pt x="629" y="158"/>
                  </a:lnTo>
                  <a:lnTo>
                    <a:pt x="621" y="167"/>
                  </a:lnTo>
                  <a:lnTo>
                    <a:pt x="610" y="180"/>
                  </a:lnTo>
                  <a:lnTo>
                    <a:pt x="597" y="195"/>
                  </a:lnTo>
                  <a:lnTo>
                    <a:pt x="584" y="211"/>
                  </a:lnTo>
                  <a:lnTo>
                    <a:pt x="572" y="225"/>
                  </a:lnTo>
                  <a:lnTo>
                    <a:pt x="564" y="235"/>
                  </a:lnTo>
                  <a:lnTo>
                    <a:pt x="560" y="241"/>
                  </a:lnTo>
                  <a:lnTo>
                    <a:pt x="562" y="243"/>
                  </a:lnTo>
                  <a:lnTo>
                    <a:pt x="564" y="246"/>
                  </a:lnTo>
                  <a:lnTo>
                    <a:pt x="571" y="248"/>
                  </a:lnTo>
                  <a:lnTo>
                    <a:pt x="579" y="251"/>
                  </a:lnTo>
                  <a:lnTo>
                    <a:pt x="586" y="254"/>
                  </a:lnTo>
                  <a:lnTo>
                    <a:pt x="594" y="255"/>
                  </a:lnTo>
                  <a:lnTo>
                    <a:pt x="602" y="256"/>
                  </a:lnTo>
                  <a:lnTo>
                    <a:pt x="607" y="256"/>
                  </a:lnTo>
                  <a:lnTo>
                    <a:pt x="598" y="266"/>
                  </a:lnTo>
                  <a:lnTo>
                    <a:pt x="590" y="276"/>
                  </a:lnTo>
                  <a:lnTo>
                    <a:pt x="582" y="283"/>
                  </a:lnTo>
                  <a:lnTo>
                    <a:pt x="575" y="290"/>
                  </a:lnTo>
                  <a:lnTo>
                    <a:pt x="568" y="296"/>
                  </a:lnTo>
                  <a:lnTo>
                    <a:pt x="563" y="301"/>
                  </a:lnTo>
                  <a:lnTo>
                    <a:pt x="559" y="305"/>
                  </a:lnTo>
                  <a:lnTo>
                    <a:pt x="558" y="308"/>
                  </a:lnTo>
                  <a:lnTo>
                    <a:pt x="536" y="305"/>
                  </a:lnTo>
                  <a:lnTo>
                    <a:pt x="509" y="301"/>
                  </a:lnTo>
                  <a:lnTo>
                    <a:pt x="479" y="294"/>
                  </a:lnTo>
                  <a:lnTo>
                    <a:pt x="446" y="286"/>
                  </a:lnTo>
                  <a:lnTo>
                    <a:pt x="412" y="276"/>
                  </a:lnTo>
                  <a:lnTo>
                    <a:pt x="375" y="265"/>
                  </a:lnTo>
                  <a:lnTo>
                    <a:pt x="338" y="254"/>
                  </a:lnTo>
                  <a:lnTo>
                    <a:pt x="302" y="241"/>
                  </a:lnTo>
                  <a:lnTo>
                    <a:pt x="264" y="228"/>
                  </a:lnTo>
                  <a:lnTo>
                    <a:pt x="228" y="215"/>
                  </a:lnTo>
                  <a:lnTo>
                    <a:pt x="194" y="202"/>
                  </a:lnTo>
                  <a:lnTo>
                    <a:pt x="163" y="189"/>
                  </a:lnTo>
                  <a:lnTo>
                    <a:pt x="133" y="176"/>
                  </a:lnTo>
                  <a:lnTo>
                    <a:pt x="109" y="165"/>
                  </a:lnTo>
                  <a:lnTo>
                    <a:pt x="88" y="155"/>
                  </a:lnTo>
                  <a:lnTo>
                    <a:pt x="71" y="146"/>
                  </a:lnTo>
                  <a:lnTo>
                    <a:pt x="65" y="143"/>
                  </a:lnTo>
                  <a:lnTo>
                    <a:pt x="57" y="140"/>
                  </a:lnTo>
                  <a:lnTo>
                    <a:pt x="47" y="136"/>
                  </a:lnTo>
                  <a:lnTo>
                    <a:pt x="36" y="132"/>
                  </a:lnTo>
                  <a:lnTo>
                    <a:pt x="26" y="128"/>
                  </a:lnTo>
                  <a:lnTo>
                    <a:pt x="17" y="125"/>
                  </a:lnTo>
                  <a:lnTo>
                    <a:pt x="12" y="124"/>
                  </a:lnTo>
                  <a:lnTo>
                    <a:pt x="9" y="123"/>
                  </a:lnTo>
                  <a:lnTo>
                    <a:pt x="8" y="115"/>
                  </a:lnTo>
                  <a:lnTo>
                    <a:pt x="5" y="103"/>
                  </a:lnTo>
                  <a:lnTo>
                    <a:pt x="2" y="90"/>
                  </a:lnTo>
                  <a:lnTo>
                    <a:pt x="0" y="84"/>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7" name="Freeform 12"/>
            <p:cNvSpPr>
              <a:spLocks/>
            </p:cNvSpPr>
            <p:nvPr/>
          </p:nvSpPr>
          <p:spPr bwMode="auto">
            <a:xfrm>
              <a:off x="2050" y="3142"/>
              <a:ext cx="68" cy="64"/>
            </a:xfrm>
            <a:custGeom>
              <a:avLst/>
              <a:gdLst>
                <a:gd name="T0" fmla="*/ 68 w 68"/>
                <a:gd name="T1" fmla="*/ 30 h 64"/>
                <a:gd name="T2" fmla="*/ 68 w 68"/>
                <a:gd name="T3" fmla="*/ 30 h 64"/>
                <a:gd name="T4" fmla="*/ 64 w 68"/>
                <a:gd name="T5" fmla="*/ 39 h 64"/>
                <a:gd name="T6" fmla="*/ 58 w 68"/>
                <a:gd name="T7" fmla="*/ 46 h 64"/>
                <a:gd name="T8" fmla="*/ 51 w 68"/>
                <a:gd name="T9" fmla="*/ 51 h 64"/>
                <a:gd name="T10" fmla="*/ 44 w 68"/>
                <a:gd name="T11" fmla="*/ 56 h 64"/>
                <a:gd name="T12" fmla="*/ 36 w 68"/>
                <a:gd name="T13" fmla="*/ 58 h 64"/>
                <a:gd name="T14" fmla="*/ 27 w 68"/>
                <a:gd name="T15" fmla="*/ 61 h 64"/>
                <a:gd name="T16" fmla="*/ 18 w 68"/>
                <a:gd name="T17" fmla="*/ 62 h 64"/>
                <a:gd name="T18" fmla="*/ 9 w 68"/>
                <a:gd name="T19" fmla="*/ 64 h 64"/>
                <a:gd name="T20" fmla="*/ 0 w 68"/>
                <a:gd name="T21" fmla="*/ 64 h 64"/>
                <a:gd name="T22" fmla="*/ 1 w 68"/>
                <a:gd name="T23" fmla="*/ 61 h 64"/>
                <a:gd name="T24" fmla="*/ 4 w 68"/>
                <a:gd name="T25" fmla="*/ 60 h 64"/>
                <a:gd name="T26" fmla="*/ 5 w 68"/>
                <a:gd name="T27" fmla="*/ 57 h 64"/>
                <a:gd name="T28" fmla="*/ 6 w 68"/>
                <a:gd name="T29" fmla="*/ 56 h 64"/>
                <a:gd name="T30" fmla="*/ 7 w 68"/>
                <a:gd name="T31" fmla="*/ 56 h 64"/>
                <a:gd name="T32" fmla="*/ 7 w 68"/>
                <a:gd name="T33" fmla="*/ 56 h 64"/>
                <a:gd name="T34" fmla="*/ 7 w 68"/>
                <a:gd name="T35" fmla="*/ 56 h 64"/>
                <a:gd name="T36" fmla="*/ 9 w 68"/>
                <a:gd name="T37" fmla="*/ 55 h 64"/>
                <a:gd name="T38" fmla="*/ 14 w 68"/>
                <a:gd name="T39" fmla="*/ 48 h 64"/>
                <a:gd name="T40" fmla="*/ 20 w 68"/>
                <a:gd name="T41" fmla="*/ 43 h 64"/>
                <a:gd name="T42" fmla="*/ 26 w 68"/>
                <a:gd name="T43" fmla="*/ 36 h 64"/>
                <a:gd name="T44" fmla="*/ 32 w 68"/>
                <a:gd name="T45" fmla="*/ 29 h 64"/>
                <a:gd name="T46" fmla="*/ 37 w 68"/>
                <a:gd name="T47" fmla="*/ 22 h 64"/>
                <a:gd name="T48" fmla="*/ 42 w 68"/>
                <a:gd name="T49" fmla="*/ 16 h 64"/>
                <a:gd name="T50" fmla="*/ 46 w 68"/>
                <a:gd name="T51" fmla="*/ 8 h 64"/>
                <a:gd name="T52" fmla="*/ 51 w 68"/>
                <a:gd name="T53" fmla="*/ 0 h 64"/>
                <a:gd name="T54" fmla="*/ 57 w 68"/>
                <a:gd name="T55" fmla="*/ 7 h 64"/>
                <a:gd name="T56" fmla="*/ 60 w 68"/>
                <a:gd name="T57" fmla="*/ 12 h 64"/>
                <a:gd name="T58" fmla="*/ 64 w 68"/>
                <a:gd name="T59" fmla="*/ 18 h 64"/>
                <a:gd name="T60" fmla="*/ 67 w 68"/>
                <a:gd name="T61" fmla="*/ 25 h 64"/>
                <a:gd name="T62" fmla="*/ 68 w 68"/>
                <a:gd name="T63" fmla="*/ 25 h 64"/>
                <a:gd name="T64" fmla="*/ 67 w 68"/>
                <a:gd name="T65" fmla="*/ 26 h 64"/>
                <a:gd name="T66" fmla="*/ 67 w 68"/>
                <a:gd name="T67" fmla="*/ 27 h 64"/>
                <a:gd name="T68" fmla="*/ 67 w 68"/>
                <a:gd name="T69" fmla="*/ 29 h 64"/>
                <a:gd name="T70" fmla="*/ 68 w 68"/>
                <a:gd name="T71" fmla="*/ 30 h 6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
                <a:gd name="T109" fmla="*/ 0 h 64"/>
                <a:gd name="T110" fmla="*/ 68 w 68"/>
                <a:gd name="T111" fmla="*/ 64 h 6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 h="64">
                  <a:moveTo>
                    <a:pt x="68" y="30"/>
                  </a:moveTo>
                  <a:lnTo>
                    <a:pt x="68" y="30"/>
                  </a:lnTo>
                  <a:lnTo>
                    <a:pt x="64" y="39"/>
                  </a:lnTo>
                  <a:lnTo>
                    <a:pt x="58" y="46"/>
                  </a:lnTo>
                  <a:lnTo>
                    <a:pt x="51" y="51"/>
                  </a:lnTo>
                  <a:lnTo>
                    <a:pt x="44" y="56"/>
                  </a:lnTo>
                  <a:lnTo>
                    <a:pt x="36" y="58"/>
                  </a:lnTo>
                  <a:lnTo>
                    <a:pt x="27" y="61"/>
                  </a:lnTo>
                  <a:lnTo>
                    <a:pt x="18" y="62"/>
                  </a:lnTo>
                  <a:lnTo>
                    <a:pt x="9" y="64"/>
                  </a:lnTo>
                  <a:lnTo>
                    <a:pt x="0" y="64"/>
                  </a:lnTo>
                  <a:lnTo>
                    <a:pt x="1" y="61"/>
                  </a:lnTo>
                  <a:lnTo>
                    <a:pt x="4" y="60"/>
                  </a:lnTo>
                  <a:lnTo>
                    <a:pt x="5" y="57"/>
                  </a:lnTo>
                  <a:lnTo>
                    <a:pt x="6" y="56"/>
                  </a:lnTo>
                  <a:lnTo>
                    <a:pt x="7" y="56"/>
                  </a:lnTo>
                  <a:lnTo>
                    <a:pt x="9" y="55"/>
                  </a:lnTo>
                  <a:lnTo>
                    <a:pt x="14" y="48"/>
                  </a:lnTo>
                  <a:lnTo>
                    <a:pt x="20" y="43"/>
                  </a:lnTo>
                  <a:lnTo>
                    <a:pt x="26" y="36"/>
                  </a:lnTo>
                  <a:lnTo>
                    <a:pt x="32" y="29"/>
                  </a:lnTo>
                  <a:lnTo>
                    <a:pt x="37" y="22"/>
                  </a:lnTo>
                  <a:lnTo>
                    <a:pt x="42" y="16"/>
                  </a:lnTo>
                  <a:lnTo>
                    <a:pt x="46" y="8"/>
                  </a:lnTo>
                  <a:lnTo>
                    <a:pt x="51" y="0"/>
                  </a:lnTo>
                  <a:lnTo>
                    <a:pt x="57" y="7"/>
                  </a:lnTo>
                  <a:lnTo>
                    <a:pt x="60" y="12"/>
                  </a:lnTo>
                  <a:lnTo>
                    <a:pt x="64" y="18"/>
                  </a:lnTo>
                  <a:lnTo>
                    <a:pt x="67" y="25"/>
                  </a:lnTo>
                  <a:lnTo>
                    <a:pt x="68" y="25"/>
                  </a:lnTo>
                  <a:lnTo>
                    <a:pt x="67" y="26"/>
                  </a:lnTo>
                  <a:lnTo>
                    <a:pt x="67" y="27"/>
                  </a:lnTo>
                  <a:lnTo>
                    <a:pt x="67" y="29"/>
                  </a:lnTo>
                  <a:lnTo>
                    <a:pt x="68" y="3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8" name="Freeform 13"/>
            <p:cNvSpPr>
              <a:spLocks/>
            </p:cNvSpPr>
            <p:nvPr/>
          </p:nvSpPr>
          <p:spPr bwMode="auto">
            <a:xfrm>
              <a:off x="1973" y="3255"/>
              <a:ext cx="52" cy="49"/>
            </a:xfrm>
            <a:custGeom>
              <a:avLst/>
              <a:gdLst>
                <a:gd name="T0" fmla="*/ 51 w 52"/>
                <a:gd name="T1" fmla="*/ 32 h 49"/>
                <a:gd name="T2" fmla="*/ 47 w 52"/>
                <a:gd name="T3" fmla="*/ 40 h 49"/>
                <a:gd name="T4" fmla="*/ 42 w 52"/>
                <a:gd name="T5" fmla="*/ 45 h 49"/>
                <a:gd name="T6" fmla="*/ 37 w 52"/>
                <a:gd name="T7" fmla="*/ 48 h 49"/>
                <a:gd name="T8" fmla="*/ 30 w 52"/>
                <a:gd name="T9" fmla="*/ 49 h 49"/>
                <a:gd name="T10" fmla="*/ 22 w 52"/>
                <a:gd name="T11" fmla="*/ 49 h 49"/>
                <a:gd name="T12" fmla="*/ 16 w 52"/>
                <a:gd name="T13" fmla="*/ 48 h 49"/>
                <a:gd name="T14" fmla="*/ 8 w 52"/>
                <a:gd name="T15" fmla="*/ 45 h 49"/>
                <a:gd name="T16" fmla="*/ 0 w 52"/>
                <a:gd name="T17" fmla="*/ 43 h 49"/>
                <a:gd name="T18" fmla="*/ 2 w 52"/>
                <a:gd name="T19" fmla="*/ 41 h 49"/>
                <a:gd name="T20" fmla="*/ 5 w 52"/>
                <a:gd name="T21" fmla="*/ 39 h 49"/>
                <a:gd name="T22" fmla="*/ 11 w 52"/>
                <a:gd name="T23" fmla="*/ 34 h 49"/>
                <a:gd name="T24" fmla="*/ 17 w 52"/>
                <a:gd name="T25" fmla="*/ 27 h 49"/>
                <a:gd name="T26" fmla="*/ 24 w 52"/>
                <a:gd name="T27" fmla="*/ 21 h 49"/>
                <a:gd name="T28" fmla="*/ 30 w 52"/>
                <a:gd name="T29" fmla="*/ 14 h 49"/>
                <a:gd name="T30" fmla="*/ 37 w 52"/>
                <a:gd name="T31" fmla="*/ 6 h 49"/>
                <a:gd name="T32" fmla="*/ 42 w 52"/>
                <a:gd name="T33" fmla="*/ 0 h 49"/>
                <a:gd name="T34" fmla="*/ 46 w 52"/>
                <a:gd name="T35" fmla="*/ 9 h 49"/>
                <a:gd name="T36" fmla="*/ 49 w 52"/>
                <a:gd name="T37" fmla="*/ 17 h 49"/>
                <a:gd name="T38" fmla="*/ 52 w 52"/>
                <a:gd name="T39" fmla="*/ 24 h 49"/>
                <a:gd name="T40" fmla="*/ 51 w 52"/>
                <a:gd name="T41" fmla="*/ 32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2"/>
                <a:gd name="T64" fmla="*/ 0 h 49"/>
                <a:gd name="T65" fmla="*/ 52 w 52"/>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2" h="49">
                  <a:moveTo>
                    <a:pt x="51" y="32"/>
                  </a:moveTo>
                  <a:lnTo>
                    <a:pt x="47" y="40"/>
                  </a:lnTo>
                  <a:lnTo>
                    <a:pt x="42" y="45"/>
                  </a:lnTo>
                  <a:lnTo>
                    <a:pt x="37" y="48"/>
                  </a:lnTo>
                  <a:lnTo>
                    <a:pt x="30" y="49"/>
                  </a:lnTo>
                  <a:lnTo>
                    <a:pt x="22" y="49"/>
                  </a:lnTo>
                  <a:lnTo>
                    <a:pt x="16" y="48"/>
                  </a:lnTo>
                  <a:lnTo>
                    <a:pt x="8" y="45"/>
                  </a:lnTo>
                  <a:lnTo>
                    <a:pt x="0" y="43"/>
                  </a:lnTo>
                  <a:lnTo>
                    <a:pt x="2" y="41"/>
                  </a:lnTo>
                  <a:lnTo>
                    <a:pt x="5" y="39"/>
                  </a:lnTo>
                  <a:lnTo>
                    <a:pt x="11" y="34"/>
                  </a:lnTo>
                  <a:lnTo>
                    <a:pt x="17" y="27"/>
                  </a:lnTo>
                  <a:lnTo>
                    <a:pt x="24" y="21"/>
                  </a:lnTo>
                  <a:lnTo>
                    <a:pt x="30" y="14"/>
                  </a:lnTo>
                  <a:lnTo>
                    <a:pt x="37" y="6"/>
                  </a:lnTo>
                  <a:lnTo>
                    <a:pt x="42" y="0"/>
                  </a:lnTo>
                  <a:lnTo>
                    <a:pt x="46" y="9"/>
                  </a:lnTo>
                  <a:lnTo>
                    <a:pt x="49" y="17"/>
                  </a:lnTo>
                  <a:lnTo>
                    <a:pt x="52" y="24"/>
                  </a:lnTo>
                  <a:lnTo>
                    <a:pt x="51" y="3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9" name="Freeform 14"/>
            <p:cNvSpPr>
              <a:spLocks/>
            </p:cNvSpPr>
            <p:nvPr/>
          </p:nvSpPr>
          <p:spPr bwMode="auto">
            <a:xfrm>
              <a:off x="1400" y="3136"/>
              <a:ext cx="775" cy="285"/>
            </a:xfrm>
            <a:custGeom>
              <a:avLst/>
              <a:gdLst>
                <a:gd name="T0" fmla="*/ 652 w 775"/>
                <a:gd name="T1" fmla="*/ 190 h 285"/>
                <a:gd name="T2" fmla="*/ 630 w 775"/>
                <a:gd name="T3" fmla="*/ 221 h 285"/>
                <a:gd name="T4" fmla="*/ 606 w 775"/>
                <a:gd name="T5" fmla="*/ 251 h 285"/>
                <a:gd name="T6" fmla="*/ 577 w 775"/>
                <a:gd name="T7" fmla="*/ 273 h 285"/>
                <a:gd name="T8" fmla="*/ 542 w 775"/>
                <a:gd name="T9" fmla="*/ 283 h 285"/>
                <a:gd name="T10" fmla="*/ 503 w 775"/>
                <a:gd name="T11" fmla="*/ 285 h 285"/>
                <a:gd name="T12" fmla="*/ 466 w 775"/>
                <a:gd name="T13" fmla="*/ 278 h 285"/>
                <a:gd name="T14" fmla="*/ 428 w 775"/>
                <a:gd name="T15" fmla="*/ 267 h 285"/>
                <a:gd name="T16" fmla="*/ 386 w 775"/>
                <a:gd name="T17" fmla="*/ 251 h 285"/>
                <a:gd name="T18" fmla="*/ 335 w 775"/>
                <a:gd name="T19" fmla="*/ 232 h 285"/>
                <a:gd name="T20" fmla="*/ 286 w 775"/>
                <a:gd name="T21" fmla="*/ 212 h 285"/>
                <a:gd name="T22" fmla="*/ 234 w 775"/>
                <a:gd name="T23" fmla="*/ 193 h 285"/>
                <a:gd name="T24" fmla="*/ 184 w 775"/>
                <a:gd name="T25" fmla="*/ 172 h 285"/>
                <a:gd name="T26" fmla="*/ 133 w 775"/>
                <a:gd name="T27" fmla="*/ 153 h 285"/>
                <a:gd name="T28" fmla="*/ 84 w 775"/>
                <a:gd name="T29" fmla="*/ 132 h 285"/>
                <a:gd name="T30" fmla="*/ 35 w 775"/>
                <a:gd name="T31" fmla="*/ 111 h 285"/>
                <a:gd name="T32" fmla="*/ 9 w 775"/>
                <a:gd name="T33" fmla="*/ 98 h 285"/>
                <a:gd name="T34" fmla="*/ 1 w 775"/>
                <a:gd name="T35" fmla="*/ 84 h 285"/>
                <a:gd name="T36" fmla="*/ 9 w 775"/>
                <a:gd name="T37" fmla="*/ 83 h 285"/>
                <a:gd name="T38" fmla="*/ 31 w 775"/>
                <a:gd name="T39" fmla="*/ 92 h 285"/>
                <a:gd name="T40" fmla="*/ 54 w 775"/>
                <a:gd name="T41" fmla="*/ 101 h 285"/>
                <a:gd name="T42" fmla="*/ 76 w 775"/>
                <a:gd name="T43" fmla="*/ 110 h 285"/>
                <a:gd name="T44" fmla="*/ 111 w 775"/>
                <a:gd name="T45" fmla="*/ 127 h 285"/>
                <a:gd name="T46" fmla="*/ 158 w 775"/>
                <a:gd name="T47" fmla="*/ 146 h 285"/>
                <a:gd name="T48" fmla="*/ 198 w 775"/>
                <a:gd name="T49" fmla="*/ 160 h 285"/>
                <a:gd name="T50" fmla="*/ 232 w 775"/>
                <a:gd name="T51" fmla="*/ 172 h 285"/>
                <a:gd name="T52" fmla="*/ 264 w 775"/>
                <a:gd name="T53" fmla="*/ 184 h 285"/>
                <a:gd name="T54" fmla="*/ 296 w 775"/>
                <a:gd name="T55" fmla="*/ 195 h 285"/>
                <a:gd name="T56" fmla="*/ 329 w 775"/>
                <a:gd name="T57" fmla="*/ 207 h 285"/>
                <a:gd name="T58" fmla="*/ 361 w 775"/>
                <a:gd name="T59" fmla="*/ 219 h 285"/>
                <a:gd name="T60" fmla="*/ 393 w 775"/>
                <a:gd name="T61" fmla="*/ 230 h 285"/>
                <a:gd name="T62" fmla="*/ 426 w 775"/>
                <a:gd name="T63" fmla="*/ 241 h 285"/>
                <a:gd name="T64" fmla="*/ 458 w 775"/>
                <a:gd name="T65" fmla="*/ 251 h 285"/>
                <a:gd name="T66" fmla="*/ 492 w 775"/>
                <a:gd name="T67" fmla="*/ 260 h 285"/>
                <a:gd name="T68" fmla="*/ 514 w 775"/>
                <a:gd name="T69" fmla="*/ 265 h 285"/>
                <a:gd name="T70" fmla="*/ 531 w 775"/>
                <a:gd name="T71" fmla="*/ 267 h 285"/>
                <a:gd name="T72" fmla="*/ 549 w 775"/>
                <a:gd name="T73" fmla="*/ 264 h 285"/>
                <a:gd name="T74" fmla="*/ 573 w 775"/>
                <a:gd name="T75" fmla="*/ 247 h 285"/>
                <a:gd name="T76" fmla="*/ 597 w 775"/>
                <a:gd name="T77" fmla="*/ 220 h 285"/>
                <a:gd name="T78" fmla="*/ 616 w 775"/>
                <a:gd name="T79" fmla="*/ 194 h 285"/>
                <a:gd name="T80" fmla="*/ 629 w 775"/>
                <a:gd name="T81" fmla="*/ 176 h 285"/>
                <a:gd name="T82" fmla="*/ 638 w 775"/>
                <a:gd name="T83" fmla="*/ 167 h 285"/>
                <a:gd name="T84" fmla="*/ 643 w 775"/>
                <a:gd name="T85" fmla="*/ 162 h 285"/>
                <a:gd name="T86" fmla="*/ 659 w 775"/>
                <a:gd name="T87" fmla="*/ 145 h 285"/>
                <a:gd name="T88" fmla="*/ 676 w 775"/>
                <a:gd name="T89" fmla="*/ 125 h 285"/>
                <a:gd name="T90" fmla="*/ 692 w 775"/>
                <a:gd name="T91" fmla="*/ 101 h 285"/>
                <a:gd name="T92" fmla="*/ 707 w 775"/>
                <a:gd name="T93" fmla="*/ 79 h 285"/>
                <a:gd name="T94" fmla="*/ 720 w 775"/>
                <a:gd name="T95" fmla="*/ 66 h 285"/>
                <a:gd name="T96" fmla="*/ 726 w 775"/>
                <a:gd name="T97" fmla="*/ 58 h 285"/>
                <a:gd name="T98" fmla="*/ 734 w 775"/>
                <a:gd name="T99" fmla="*/ 44 h 285"/>
                <a:gd name="T100" fmla="*/ 738 w 775"/>
                <a:gd name="T101" fmla="*/ 36 h 285"/>
                <a:gd name="T102" fmla="*/ 752 w 775"/>
                <a:gd name="T103" fmla="*/ 11 h 285"/>
                <a:gd name="T104" fmla="*/ 762 w 775"/>
                <a:gd name="T105" fmla="*/ 5 h 285"/>
                <a:gd name="T106" fmla="*/ 773 w 775"/>
                <a:gd name="T107" fmla="*/ 17 h 285"/>
                <a:gd name="T108" fmla="*/ 762 w 775"/>
                <a:gd name="T109" fmla="*/ 40 h 285"/>
                <a:gd name="T110" fmla="*/ 735 w 775"/>
                <a:gd name="T111" fmla="*/ 79 h 285"/>
                <a:gd name="T112" fmla="*/ 707 w 775"/>
                <a:gd name="T113" fmla="*/ 118 h 285"/>
                <a:gd name="T114" fmla="*/ 678 w 775"/>
                <a:gd name="T115" fmla="*/ 156 h 28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775"/>
                <a:gd name="T175" fmla="*/ 0 h 285"/>
                <a:gd name="T176" fmla="*/ 775 w 775"/>
                <a:gd name="T177" fmla="*/ 285 h 28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775" h="285">
                  <a:moveTo>
                    <a:pt x="663" y="176"/>
                  </a:moveTo>
                  <a:lnTo>
                    <a:pt x="652" y="190"/>
                  </a:lnTo>
                  <a:lnTo>
                    <a:pt x="641" y="206"/>
                  </a:lnTo>
                  <a:lnTo>
                    <a:pt x="630" y="221"/>
                  </a:lnTo>
                  <a:lnTo>
                    <a:pt x="619" y="237"/>
                  </a:lnTo>
                  <a:lnTo>
                    <a:pt x="606" y="251"/>
                  </a:lnTo>
                  <a:lnTo>
                    <a:pt x="591" y="264"/>
                  </a:lnTo>
                  <a:lnTo>
                    <a:pt x="577" y="273"/>
                  </a:lnTo>
                  <a:lnTo>
                    <a:pt x="560" y="279"/>
                  </a:lnTo>
                  <a:lnTo>
                    <a:pt x="542" y="283"/>
                  </a:lnTo>
                  <a:lnTo>
                    <a:pt x="523" y="285"/>
                  </a:lnTo>
                  <a:lnTo>
                    <a:pt x="503" y="285"/>
                  </a:lnTo>
                  <a:lnTo>
                    <a:pt x="484" y="282"/>
                  </a:lnTo>
                  <a:lnTo>
                    <a:pt x="466" y="278"/>
                  </a:lnTo>
                  <a:lnTo>
                    <a:pt x="446" y="273"/>
                  </a:lnTo>
                  <a:lnTo>
                    <a:pt x="428" y="267"/>
                  </a:lnTo>
                  <a:lnTo>
                    <a:pt x="410" y="260"/>
                  </a:lnTo>
                  <a:lnTo>
                    <a:pt x="386" y="251"/>
                  </a:lnTo>
                  <a:lnTo>
                    <a:pt x="361" y="241"/>
                  </a:lnTo>
                  <a:lnTo>
                    <a:pt x="335" y="232"/>
                  </a:lnTo>
                  <a:lnTo>
                    <a:pt x="311" y="221"/>
                  </a:lnTo>
                  <a:lnTo>
                    <a:pt x="286" y="212"/>
                  </a:lnTo>
                  <a:lnTo>
                    <a:pt x="260" y="202"/>
                  </a:lnTo>
                  <a:lnTo>
                    <a:pt x="234" y="193"/>
                  </a:lnTo>
                  <a:lnTo>
                    <a:pt x="210" y="182"/>
                  </a:lnTo>
                  <a:lnTo>
                    <a:pt x="184" y="172"/>
                  </a:lnTo>
                  <a:lnTo>
                    <a:pt x="159" y="163"/>
                  </a:lnTo>
                  <a:lnTo>
                    <a:pt x="133" y="153"/>
                  </a:lnTo>
                  <a:lnTo>
                    <a:pt x="109" y="142"/>
                  </a:lnTo>
                  <a:lnTo>
                    <a:pt x="84" y="132"/>
                  </a:lnTo>
                  <a:lnTo>
                    <a:pt x="59" y="121"/>
                  </a:lnTo>
                  <a:lnTo>
                    <a:pt x="35" y="111"/>
                  </a:lnTo>
                  <a:lnTo>
                    <a:pt x="10" y="101"/>
                  </a:lnTo>
                  <a:lnTo>
                    <a:pt x="9" y="98"/>
                  </a:lnTo>
                  <a:lnTo>
                    <a:pt x="5" y="92"/>
                  </a:lnTo>
                  <a:lnTo>
                    <a:pt x="1" y="84"/>
                  </a:lnTo>
                  <a:lnTo>
                    <a:pt x="0" y="79"/>
                  </a:lnTo>
                  <a:lnTo>
                    <a:pt x="9" y="83"/>
                  </a:lnTo>
                  <a:lnTo>
                    <a:pt x="19" y="86"/>
                  </a:lnTo>
                  <a:lnTo>
                    <a:pt x="31" y="92"/>
                  </a:lnTo>
                  <a:lnTo>
                    <a:pt x="43" y="96"/>
                  </a:lnTo>
                  <a:lnTo>
                    <a:pt x="54" y="101"/>
                  </a:lnTo>
                  <a:lnTo>
                    <a:pt x="66" y="105"/>
                  </a:lnTo>
                  <a:lnTo>
                    <a:pt x="76" y="110"/>
                  </a:lnTo>
                  <a:lnTo>
                    <a:pt x="85" y="114"/>
                  </a:lnTo>
                  <a:lnTo>
                    <a:pt x="111" y="127"/>
                  </a:lnTo>
                  <a:lnTo>
                    <a:pt x="136" y="137"/>
                  </a:lnTo>
                  <a:lnTo>
                    <a:pt x="158" y="146"/>
                  </a:lnTo>
                  <a:lnTo>
                    <a:pt x="178" y="154"/>
                  </a:lnTo>
                  <a:lnTo>
                    <a:pt x="198" y="160"/>
                  </a:lnTo>
                  <a:lnTo>
                    <a:pt x="215" y="167"/>
                  </a:lnTo>
                  <a:lnTo>
                    <a:pt x="232" y="172"/>
                  </a:lnTo>
                  <a:lnTo>
                    <a:pt x="247" y="177"/>
                  </a:lnTo>
                  <a:lnTo>
                    <a:pt x="264" y="184"/>
                  </a:lnTo>
                  <a:lnTo>
                    <a:pt x="281" y="189"/>
                  </a:lnTo>
                  <a:lnTo>
                    <a:pt x="296" y="195"/>
                  </a:lnTo>
                  <a:lnTo>
                    <a:pt x="313" y="200"/>
                  </a:lnTo>
                  <a:lnTo>
                    <a:pt x="329" y="207"/>
                  </a:lnTo>
                  <a:lnTo>
                    <a:pt x="345" y="213"/>
                  </a:lnTo>
                  <a:lnTo>
                    <a:pt x="361" y="219"/>
                  </a:lnTo>
                  <a:lnTo>
                    <a:pt x="378" y="224"/>
                  </a:lnTo>
                  <a:lnTo>
                    <a:pt x="393" y="230"/>
                  </a:lnTo>
                  <a:lnTo>
                    <a:pt x="410" y="235"/>
                  </a:lnTo>
                  <a:lnTo>
                    <a:pt x="426" y="241"/>
                  </a:lnTo>
                  <a:lnTo>
                    <a:pt x="443" y="246"/>
                  </a:lnTo>
                  <a:lnTo>
                    <a:pt x="458" y="251"/>
                  </a:lnTo>
                  <a:lnTo>
                    <a:pt x="475" y="256"/>
                  </a:lnTo>
                  <a:lnTo>
                    <a:pt x="492" y="260"/>
                  </a:lnTo>
                  <a:lnTo>
                    <a:pt x="509" y="264"/>
                  </a:lnTo>
                  <a:lnTo>
                    <a:pt x="514" y="265"/>
                  </a:lnTo>
                  <a:lnTo>
                    <a:pt x="522" y="267"/>
                  </a:lnTo>
                  <a:lnTo>
                    <a:pt x="531" y="267"/>
                  </a:lnTo>
                  <a:lnTo>
                    <a:pt x="536" y="267"/>
                  </a:lnTo>
                  <a:lnTo>
                    <a:pt x="549" y="264"/>
                  </a:lnTo>
                  <a:lnTo>
                    <a:pt x="560" y="257"/>
                  </a:lnTo>
                  <a:lnTo>
                    <a:pt x="573" y="247"/>
                  </a:lnTo>
                  <a:lnTo>
                    <a:pt x="585" y="234"/>
                  </a:lnTo>
                  <a:lnTo>
                    <a:pt x="597" y="220"/>
                  </a:lnTo>
                  <a:lnTo>
                    <a:pt x="607" y="206"/>
                  </a:lnTo>
                  <a:lnTo>
                    <a:pt x="616" y="194"/>
                  </a:lnTo>
                  <a:lnTo>
                    <a:pt x="622" y="185"/>
                  </a:lnTo>
                  <a:lnTo>
                    <a:pt x="629" y="176"/>
                  </a:lnTo>
                  <a:lnTo>
                    <a:pt x="635" y="171"/>
                  </a:lnTo>
                  <a:lnTo>
                    <a:pt x="638" y="167"/>
                  </a:lnTo>
                  <a:lnTo>
                    <a:pt x="639" y="165"/>
                  </a:lnTo>
                  <a:lnTo>
                    <a:pt x="643" y="162"/>
                  </a:lnTo>
                  <a:lnTo>
                    <a:pt x="651" y="153"/>
                  </a:lnTo>
                  <a:lnTo>
                    <a:pt x="659" y="145"/>
                  </a:lnTo>
                  <a:lnTo>
                    <a:pt x="663" y="141"/>
                  </a:lnTo>
                  <a:lnTo>
                    <a:pt x="676" y="125"/>
                  </a:lnTo>
                  <a:lnTo>
                    <a:pt x="685" y="114"/>
                  </a:lnTo>
                  <a:lnTo>
                    <a:pt x="692" y="101"/>
                  </a:lnTo>
                  <a:lnTo>
                    <a:pt x="700" y="83"/>
                  </a:lnTo>
                  <a:lnTo>
                    <a:pt x="707" y="79"/>
                  </a:lnTo>
                  <a:lnTo>
                    <a:pt x="713" y="72"/>
                  </a:lnTo>
                  <a:lnTo>
                    <a:pt x="720" y="66"/>
                  </a:lnTo>
                  <a:lnTo>
                    <a:pt x="725" y="61"/>
                  </a:lnTo>
                  <a:lnTo>
                    <a:pt x="726" y="58"/>
                  </a:lnTo>
                  <a:lnTo>
                    <a:pt x="730" y="52"/>
                  </a:lnTo>
                  <a:lnTo>
                    <a:pt x="734" y="44"/>
                  </a:lnTo>
                  <a:lnTo>
                    <a:pt x="735" y="40"/>
                  </a:lnTo>
                  <a:lnTo>
                    <a:pt x="738" y="36"/>
                  </a:lnTo>
                  <a:lnTo>
                    <a:pt x="744" y="26"/>
                  </a:lnTo>
                  <a:lnTo>
                    <a:pt x="752" y="11"/>
                  </a:lnTo>
                  <a:lnTo>
                    <a:pt x="758" y="0"/>
                  </a:lnTo>
                  <a:lnTo>
                    <a:pt x="762" y="5"/>
                  </a:lnTo>
                  <a:lnTo>
                    <a:pt x="767" y="11"/>
                  </a:lnTo>
                  <a:lnTo>
                    <a:pt x="773" y="17"/>
                  </a:lnTo>
                  <a:lnTo>
                    <a:pt x="775" y="20"/>
                  </a:lnTo>
                  <a:lnTo>
                    <a:pt x="762" y="40"/>
                  </a:lnTo>
                  <a:lnTo>
                    <a:pt x="749" y="59"/>
                  </a:lnTo>
                  <a:lnTo>
                    <a:pt x="735" y="79"/>
                  </a:lnTo>
                  <a:lnTo>
                    <a:pt x="721" y="98"/>
                  </a:lnTo>
                  <a:lnTo>
                    <a:pt x="707" y="118"/>
                  </a:lnTo>
                  <a:lnTo>
                    <a:pt x="692" y="137"/>
                  </a:lnTo>
                  <a:lnTo>
                    <a:pt x="678" y="156"/>
                  </a:lnTo>
                  <a:lnTo>
                    <a:pt x="663" y="176"/>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0" name="Freeform 15"/>
            <p:cNvSpPr>
              <a:spLocks/>
            </p:cNvSpPr>
            <p:nvPr/>
          </p:nvSpPr>
          <p:spPr bwMode="auto">
            <a:xfrm>
              <a:off x="1991" y="2949"/>
              <a:ext cx="237" cy="188"/>
            </a:xfrm>
            <a:custGeom>
              <a:avLst/>
              <a:gdLst>
                <a:gd name="T0" fmla="*/ 197 w 237"/>
                <a:gd name="T1" fmla="*/ 188 h 188"/>
                <a:gd name="T2" fmla="*/ 191 w 237"/>
                <a:gd name="T3" fmla="*/ 179 h 188"/>
                <a:gd name="T4" fmla="*/ 183 w 237"/>
                <a:gd name="T5" fmla="*/ 170 h 188"/>
                <a:gd name="T6" fmla="*/ 175 w 237"/>
                <a:gd name="T7" fmla="*/ 162 h 188"/>
                <a:gd name="T8" fmla="*/ 167 w 237"/>
                <a:gd name="T9" fmla="*/ 153 h 188"/>
                <a:gd name="T10" fmla="*/ 160 w 237"/>
                <a:gd name="T11" fmla="*/ 145 h 188"/>
                <a:gd name="T12" fmla="*/ 152 w 237"/>
                <a:gd name="T13" fmla="*/ 136 h 188"/>
                <a:gd name="T14" fmla="*/ 144 w 237"/>
                <a:gd name="T15" fmla="*/ 128 h 188"/>
                <a:gd name="T16" fmla="*/ 136 w 237"/>
                <a:gd name="T17" fmla="*/ 119 h 188"/>
                <a:gd name="T18" fmla="*/ 123 w 237"/>
                <a:gd name="T19" fmla="*/ 105 h 188"/>
                <a:gd name="T20" fmla="*/ 110 w 237"/>
                <a:gd name="T21" fmla="*/ 95 h 188"/>
                <a:gd name="T22" fmla="*/ 95 w 237"/>
                <a:gd name="T23" fmla="*/ 86 h 188"/>
                <a:gd name="T24" fmla="*/ 78 w 237"/>
                <a:gd name="T25" fmla="*/ 78 h 188"/>
                <a:gd name="T26" fmla="*/ 61 w 237"/>
                <a:gd name="T27" fmla="*/ 73 h 188"/>
                <a:gd name="T28" fmla="*/ 44 w 237"/>
                <a:gd name="T29" fmla="*/ 66 h 188"/>
                <a:gd name="T30" fmla="*/ 28 w 237"/>
                <a:gd name="T31" fmla="*/ 60 h 188"/>
                <a:gd name="T32" fmla="*/ 11 w 237"/>
                <a:gd name="T33" fmla="*/ 53 h 188"/>
                <a:gd name="T34" fmla="*/ 7 w 237"/>
                <a:gd name="T35" fmla="*/ 51 h 188"/>
                <a:gd name="T36" fmla="*/ 4 w 237"/>
                <a:gd name="T37" fmla="*/ 48 h 188"/>
                <a:gd name="T38" fmla="*/ 2 w 237"/>
                <a:gd name="T39" fmla="*/ 45 h 188"/>
                <a:gd name="T40" fmla="*/ 0 w 237"/>
                <a:gd name="T41" fmla="*/ 42 h 188"/>
                <a:gd name="T42" fmla="*/ 0 w 237"/>
                <a:gd name="T43" fmla="*/ 31 h 188"/>
                <a:gd name="T44" fmla="*/ 4 w 237"/>
                <a:gd name="T45" fmla="*/ 21 h 188"/>
                <a:gd name="T46" fmla="*/ 9 w 237"/>
                <a:gd name="T47" fmla="*/ 13 h 188"/>
                <a:gd name="T48" fmla="*/ 20 w 237"/>
                <a:gd name="T49" fmla="*/ 8 h 188"/>
                <a:gd name="T50" fmla="*/ 33 w 237"/>
                <a:gd name="T51" fmla="*/ 4 h 188"/>
                <a:gd name="T52" fmla="*/ 47 w 237"/>
                <a:gd name="T53" fmla="*/ 1 h 188"/>
                <a:gd name="T54" fmla="*/ 61 w 237"/>
                <a:gd name="T55" fmla="*/ 0 h 188"/>
                <a:gd name="T56" fmla="*/ 75 w 237"/>
                <a:gd name="T57" fmla="*/ 1 h 188"/>
                <a:gd name="T58" fmla="*/ 90 w 237"/>
                <a:gd name="T59" fmla="*/ 4 h 188"/>
                <a:gd name="T60" fmla="*/ 103 w 237"/>
                <a:gd name="T61" fmla="*/ 8 h 188"/>
                <a:gd name="T62" fmla="*/ 116 w 237"/>
                <a:gd name="T63" fmla="*/ 13 h 188"/>
                <a:gd name="T64" fmla="*/ 129 w 237"/>
                <a:gd name="T65" fmla="*/ 20 h 188"/>
                <a:gd name="T66" fmla="*/ 145 w 237"/>
                <a:gd name="T67" fmla="*/ 30 h 188"/>
                <a:gd name="T68" fmla="*/ 161 w 237"/>
                <a:gd name="T69" fmla="*/ 42 h 188"/>
                <a:gd name="T70" fmla="*/ 175 w 237"/>
                <a:gd name="T71" fmla="*/ 53 h 188"/>
                <a:gd name="T72" fmla="*/ 188 w 237"/>
                <a:gd name="T73" fmla="*/ 68 h 188"/>
                <a:gd name="T74" fmla="*/ 201 w 237"/>
                <a:gd name="T75" fmla="*/ 82 h 188"/>
                <a:gd name="T76" fmla="*/ 213 w 237"/>
                <a:gd name="T77" fmla="*/ 97 h 188"/>
                <a:gd name="T78" fmla="*/ 226 w 237"/>
                <a:gd name="T79" fmla="*/ 112 h 188"/>
                <a:gd name="T80" fmla="*/ 237 w 237"/>
                <a:gd name="T81" fmla="*/ 127 h 188"/>
                <a:gd name="T82" fmla="*/ 232 w 237"/>
                <a:gd name="T83" fmla="*/ 135 h 188"/>
                <a:gd name="T84" fmla="*/ 227 w 237"/>
                <a:gd name="T85" fmla="*/ 143 h 188"/>
                <a:gd name="T86" fmla="*/ 222 w 237"/>
                <a:gd name="T87" fmla="*/ 150 h 188"/>
                <a:gd name="T88" fmla="*/ 218 w 237"/>
                <a:gd name="T89" fmla="*/ 158 h 188"/>
                <a:gd name="T90" fmla="*/ 213 w 237"/>
                <a:gd name="T91" fmla="*/ 166 h 188"/>
                <a:gd name="T92" fmla="*/ 208 w 237"/>
                <a:gd name="T93" fmla="*/ 174 h 188"/>
                <a:gd name="T94" fmla="*/ 202 w 237"/>
                <a:gd name="T95" fmla="*/ 180 h 188"/>
                <a:gd name="T96" fmla="*/ 197 w 237"/>
                <a:gd name="T97" fmla="*/ 188 h 1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37"/>
                <a:gd name="T148" fmla="*/ 0 h 188"/>
                <a:gd name="T149" fmla="*/ 237 w 237"/>
                <a:gd name="T150" fmla="*/ 188 h 1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37" h="188">
                  <a:moveTo>
                    <a:pt x="197" y="188"/>
                  </a:moveTo>
                  <a:lnTo>
                    <a:pt x="191" y="179"/>
                  </a:lnTo>
                  <a:lnTo>
                    <a:pt x="183" y="170"/>
                  </a:lnTo>
                  <a:lnTo>
                    <a:pt x="175" y="162"/>
                  </a:lnTo>
                  <a:lnTo>
                    <a:pt x="167" y="153"/>
                  </a:lnTo>
                  <a:lnTo>
                    <a:pt x="160" y="145"/>
                  </a:lnTo>
                  <a:lnTo>
                    <a:pt x="152" y="136"/>
                  </a:lnTo>
                  <a:lnTo>
                    <a:pt x="144" y="128"/>
                  </a:lnTo>
                  <a:lnTo>
                    <a:pt x="136" y="119"/>
                  </a:lnTo>
                  <a:lnTo>
                    <a:pt x="123" y="105"/>
                  </a:lnTo>
                  <a:lnTo>
                    <a:pt x="110" y="95"/>
                  </a:lnTo>
                  <a:lnTo>
                    <a:pt x="95" y="86"/>
                  </a:lnTo>
                  <a:lnTo>
                    <a:pt x="78" y="78"/>
                  </a:lnTo>
                  <a:lnTo>
                    <a:pt x="61" y="73"/>
                  </a:lnTo>
                  <a:lnTo>
                    <a:pt x="44" y="66"/>
                  </a:lnTo>
                  <a:lnTo>
                    <a:pt x="28" y="60"/>
                  </a:lnTo>
                  <a:lnTo>
                    <a:pt x="11" y="53"/>
                  </a:lnTo>
                  <a:lnTo>
                    <a:pt x="7" y="51"/>
                  </a:lnTo>
                  <a:lnTo>
                    <a:pt x="4" y="48"/>
                  </a:lnTo>
                  <a:lnTo>
                    <a:pt x="2" y="45"/>
                  </a:lnTo>
                  <a:lnTo>
                    <a:pt x="0" y="42"/>
                  </a:lnTo>
                  <a:lnTo>
                    <a:pt x="0" y="31"/>
                  </a:lnTo>
                  <a:lnTo>
                    <a:pt x="4" y="21"/>
                  </a:lnTo>
                  <a:lnTo>
                    <a:pt x="9" y="13"/>
                  </a:lnTo>
                  <a:lnTo>
                    <a:pt x="20" y="8"/>
                  </a:lnTo>
                  <a:lnTo>
                    <a:pt x="33" y="4"/>
                  </a:lnTo>
                  <a:lnTo>
                    <a:pt x="47" y="1"/>
                  </a:lnTo>
                  <a:lnTo>
                    <a:pt x="61" y="0"/>
                  </a:lnTo>
                  <a:lnTo>
                    <a:pt x="75" y="1"/>
                  </a:lnTo>
                  <a:lnTo>
                    <a:pt x="90" y="4"/>
                  </a:lnTo>
                  <a:lnTo>
                    <a:pt x="103" y="8"/>
                  </a:lnTo>
                  <a:lnTo>
                    <a:pt x="116" y="13"/>
                  </a:lnTo>
                  <a:lnTo>
                    <a:pt x="129" y="20"/>
                  </a:lnTo>
                  <a:lnTo>
                    <a:pt x="145" y="30"/>
                  </a:lnTo>
                  <a:lnTo>
                    <a:pt x="161" y="42"/>
                  </a:lnTo>
                  <a:lnTo>
                    <a:pt x="175" y="53"/>
                  </a:lnTo>
                  <a:lnTo>
                    <a:pt x="188" y="68"/>
                  </a:lnTo>
                  <a:lnTo>
                    <a:pt x="201" y="82"/>
                  </a:lnTo>
                  <a:lnTo>
                    <a:pt x="213" y="97"/>
                  </a:lnTo>
                  <a:lnTo>
                    <a:pt x="226" y="112"/>
                  </a:lnTo>
                  <a:lnTo>
                    <a:pt x="237" y="127"/>
                  </a:lnTo>
                  <a:lnTo>
                    <a:pt x="232" y="135"/>
                  </a:lnTo>
                  <a:lnTo>
                    <a:pt x="227" y="143"/>
                  </a:lnTo>
                  <a:lnTo>
                    <a:pt x="222" y="150"/>
                  </a:lnTo>
                  <a:lnTo>
                    <a:pt x="218" y="158"/>
                  </a:lnTo>
                  <a:lnTo>
                    <a:pt x="213" y="166"/>
                  </a:lnTo>
                  <a:lnTo>
                    <a:pt x="208" y="174"/>
                  </a:lnTo>
                  <a:lnTo>
                    <a:pt x="202" y="180"/>
                  </a:lnTo>
                  <a:lnTo>
                    <a:pt x="197" y="188"/>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1" name="Freeform 16"/>
            <p:cNvSpPr>
              <a:spLocks/>
            </p:cNvSpPr>
            <p:nvPr/>
          </p:nvSpPr>
          <p:spPr bwMode="auto">
            <a:xfrm>
              <a:off x="2226" y="2783"/>
              <a:ext cx="164" cy="275"/>
            </a:xfrm>
            <a:custGeom>
              <a:avLst/>
              <a:gdLst>
                <a:gd name="T0" fmla="*/ 160 w 164"/>
                <a:gd name="T1" fmla="*/ 91 h 275"/>
                <a:gd name="T2" fmla="*/ 142 w 164"/>
                <a:gd name="T3" fmla="*/ 112 h 275"/>
                <a:gd name="T4" fmla="*/ 125 w 164"/>
                <a:gd name="T5" fmla="*/ 132 h 275"/>
                <a:gd name="T6" fmla="*/ 108 w 164"/>
                <a:gd name="T7" fmla="*/ 155 h 275"/>
                <a:gd name="T8" fmla="*/ 92 w 164"/>
                <a:gd name="T9" fmla="*/ 175 h 275"/>
                <a:gd name="T10" fmla="*/ 75 w 164"/>
                <a:gd name="T11" fmla="*/ 197 h 275"/>
                <a:gd name="T12" fmla="*/ 58 w 164"/>
                <a:gd name="T13" fmla="*/ 218 h 275"/>
                <a:gd name="T14" fmla="*/ 41 w 164"/>
                <a:gd name="T15" fmla="*/ 240 h 275"/>
                <a:gd name="T16" fmla="*/ 23 w 164"/>
                <a:gd name="T17" fmla="*/ 261 h 275"/>
                <a:gd name="T18" fmla="*/ 19 w 164"/>
                <a:gd name="T19" fmla="*/ 266 h 275"/>
                <a:gd name="T20" fmla="*/ 17 w 164"/>
                <a:gd name="T21" fmla="*/ 267 h 275"/>
                <a:gd name="T22" fmla="*/ 14 w 164"/>
                <a:gd name="T23" fmla="*/ 270 h 275"/>
                <a:gd name="T24" fmla="*/ 10 w 164"/>
                <a:gd name="T25" fmla="*/ 275 h 275"/>
                <a:gd name="T26" fmla="*/ 7 w 164"/>
                <a:gd name="T27" fmla="*/ 270 h 275"/>
                <a:gd name="T28" fmla="*/ 4 w 164"/>
                <a:gd name="T29" fmla="*/ 266 h 275"/>
                <a:gd name="T30" fmla="*/ 1 w 164"/>
                <a:gd name="T31" fmla="*/ 262 h 275"/>
                <a:gd name="T32" fmla="*/ 0 w 164"/>
                <a:gd name="T33" fmla="*/ 261 h 275"/>
                <a:gd name="T34" fmla="*/ 5 w 164"/>
                <a:gd name="T35" fmla="*/ 253 h 275"/>
                <a:gd name="T36" fmla="*/ 10 w 164"/>
                <a:gd name="T37" fmla="*/ 248 h 275"/>
                <a:gd name="T38" fmla="*/ 15 w 164"/>
                <a:gd name="T39" fmla="*/ 241 h 275"/>
                <a:gd name="T40" fmla="*/ 22 w 164"/>
                <a:gd name="T41" fmla="*/ 234 h 275"/>
                <a:gd name="T42" fmla="*/ 23 w 164"/>
                <a:gd name="T43" fmla="*/ 232 h 275"/>
                <a:gd name="T44" fmla="*/ 28 w 164"/>
                <a:gd name="T45" fmla="*/ 230 h 275"/>
                <a:gd name="T46" fmla="*/ 33 w 164"/>
                <a:gd name="T47" fmla="*/ 227 h 275"/>
                <a:gd name="T48" fmla="*/ 40 w 164"/>
                <a:gd name="T49" fmla="*/ 222 h 275"/>
                <a:gd name="T50" fmla="*/ 46 w 164"/>
                <a:gd name="T51" fmla="*/ 215 h 275"/>
                <a:gd name="T52" fmla="*/ 50 w 164"/>
                <a:gd name="T53" fmla="*/ 208 h 275"/>
                <a:gd name="T54" fmla="*/ 53 w 164"/>
                <a:gd name="T55" fmla="*/ 199 h 275"/>
                <a:gd name="T56" fmla="*/ 51 w 164"/>
                <a:gd name="T57" fmla="*/ 188 h 275"/>
                <a:gd name="T58" fmla="*/ 55 w 164"/>
                <a:gd name="T59" fmla="*/ 179 h 275"/>
                <a:gd name="T60" fmla="*/ 66 w 164"/>
                <a:gd name="T61" fmla="*/ 165 h 275"/>
                <a:gd name="T62" fmla="*/ 77 w 164"/>
                <a:gd name="T63" fmla="*/ 149 h 275"/>
                <a:gd name="T64" fmla="*/ 88 w 164"/>
                <a:gd name="T65" fmla="*/ 135 h 275"/>
                <a:gd name="T66" fmla="*/ 92 w 164"/>
                <a:gd name="T67" fmla="*/ 132 h 275"/>
                <a:gd name="T68" fmla="*/ 95 w 164"/>
                <a:gd name="T69" fmla="*/ 130 h 275"/>
                <a:gd name="T70" fmla="*/ 99 w 164"/>
                <a:gd name="T71" fmla="*/ 127 h 275"/>
                <a:gd name="T72" fmla="*/ 102 w 164"/>
                <a:gd name="T73" fmla="*/ 125 h 275"/>
                <a:gd name="T74" fmla="*/ 114 w 164"/>
                <a:gd name="T75" fmla="*/ 112 h 275"/>
                <a:gd name="T76" fmla="*/ 120 w 164"/>
                <a:gd name="T77" fmla="*/ 95 h 275"/>
                <a:gd name="T78" fmla="*/ 120 w 164"/>
                <a:gd name="T79" fmla="*/ 79 h 275"/>
                <a:gd name="T80" fmla="*/ 115 w 164"/>
                <a:gd name="T81" fmla="*/ 63 h 275"/>
                <a:gd name="T82" fmla="*/ 110 w 164"/>
                <a:gd name="T83" fmla="*/ 53 h 275"/>
                <a:gd name="T84" fmla="*/ 102 w 164"/>
                <a:gd name="T85" fmla="*/ 35 h 275"/>
                <a:gd name="T86" fmla="*/ 92 w 164"/>
                <a:gd name="T87" fmla="*/ 16 h 275"/>
                <a:gd name="T88" fmla="*/ 83 w 164"/>
                <a:gd name="T89" fmla="*/ 0 h 275"/>
                <a:gd name="T90" fmla="*/ 90 w 164"/>
                <a:gd name="T91" fmla="*/ 4 h 275"/>
                <a:gd name="T92" fmla="*/ 103 w 164"/>
                <a:gd name="T93" fmla="*/ 11 h 275"/>
                <a:gd name="T94" fmla="*/ 119 w 164"/>
                <a:gd name="T95" fmla="*/ 20 h 275"/>
                <a:gd name="T96" fmla="*/ 134 w 164"/>
                <a:gd name="T97" fmla="*/ 31 h 275"/>
                <a:gd name="T98" fmla="*/ 149 w 164"/>
                <a:gd name="T99" fmla="*/ 44 h 275"/>
                <a:gd name="T100" fmla="*/ 159 w 164"/>
                <a:gd name="T101" fmla="*/ 59 h 275"/>
                <a:gd name="T102" fmla="*/ 164 w 164"/>
                <a:gd name="T103" fmla="*/ 74 h 275"/>
                <a:gd name="T104" fmla="*/ 160 w 164"/>
                <a:gd name="T105" fmla="*/ 91 h 27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4"/>
                <a:gd name="T160" fmla="*/ 0 h 275"/>
                <a:gd name="T161" fmla="*/ 164 w 164"/>
                <a:gd name="T162" fmla="*/ 275 h 275"/>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4" h="275">
                  <a:moveTo>
                    <a:pt x="160" y="91"/>
                  </a:moveTo>
                  <a:lnTo>
                    <a:pt x="142" y="112"/>
                  </a:lnTo>
                  <a:lnTo>
                    <a:pt x="125" y="132"/>
                  </a:lnTo>
                  <a:lnTo>
                    <a:pt x="108" y="155"/>
                  </a:lnTo>
                  <a:lnTo>
                    <a:pt x="92" y="175"/>
                  </a:lnTo>
                  <a:lnTo>
                    <a:pt x="75" y="197"/>
                  </a:lnTo>
                  <a:lnTo>
                    <a:pt x="58" y="218"/>
                  </a:lnTo>
                  <a:lnTo>
                    <a:pt x="41" y="240"/>
                  </a:lnTo>
                  <a:lnTo>
                    <a:pt x="23" y="261"/>
                  </a:lnTo>
                  <a:lnTo>
                    <a:pt x="19" y="266"/>
                  </a:lnTo>
                  <a:lnTo>
                    <a:pt x="17" y="267"/>
                  </a:lnTo>
                  <a:lnTo>
                    <a:pt x="14" y="270"/>
                  </a:lnTo>
                  <a:lnTo>
                    <a:pt x="10" y="275"/>
                  </a:lnTo>
                  <a:lnTo>
                    <a:pt x="7" y="270"/>
                  </a:lnTo>
                  <a:lnTo>
                    <a:pt x="4" y="266"/>
                  </a:lnTo>
                  <a:lnTo>
                    <a:pt x="1" y="262"/>
                  </a:lnTo>
                  <a:lnTo>
                    <a:pt x="0" y="261"/>
                  </a:lnTo>
                  <a:lnTo>
                    <a:pt x="5" y="253"/>
                  </a:lnTo>
                  <a:lnTo>
                    <a:pt x="10" y="248"/>
                  </a:lnTo>
                  <a:lnTo>
                    <a:pt x="15" y="241"/>
                  </a:lnTo>
                  <a:lnTo>
                    <a:pt x="22" y="234"/>
                  </a:lnTo>
                  <a:lnTo>
                    <a:pt x="23" y="232"/>
                  </a:lnTo>
                  <a:lnTo>
                    <a:pt x="28" y="230"/>
                  </a:lnTo>
                  <a:lnTo>
                    <a:pt x="33" y="227"/>
                  </a:lnTo>
                  <a:lnTo>
                    <a:pt x="40" y="222"/>
                  </a:lnTo>
                  <a:lnTo>
                    <a:pt x="46" y="215"/>
                  </a:lnTo>
                  <a:lnTo>
                    <a:pt x="50" y="208"/>
                  </a:lnTo>
                  <a:lnTo>
                    <a:pt x="53" y="199"/>
                  </a:lnTo>
                  <a:lnTo>
                    <a:pt x="51" y="188"/>
                  </a:lnTo>
                  <a:lnTo>
                    <a:pt x="55" y="179"/>
                  </a:lnTo>
                  <a:lnTo>
                    <a:pt x="66" y="165"/>
                  </a:lnTo>
                  <a:lnTo>
                    <a:pt x="77" y="149"/>
                  </a:lnTo>
                  <a:lnTo>
                    <a:pt x="88" y="135"/>
                  </a:lnTo>
                  <a:lnTo>
                    <a:pt x="92" y="132"/>
                  </a:lnTo>
                  <a:lnTo>
                    <a:pt x="95" y="130"/>
                  </a:lnTo>
                  <a:lnTo>
                    <a:pt x="99" y="127"/>
                  </a:lnTo>
                  <a:lnTo>
                    <a:pt x="102" y="125"/>
                  </a:lnTo>
                  <a:lnTo>
                    <a:pt x="114" y="112"/>
                  </a:lnTo>
                  <a:lnTo>
                    <a:pt x="120" y="95"/>
                  </a:lnTo>
                  <a:lnTo>
                    <a:pt x="120" y="79"/>
                  </a:lnTo>
                  <a:lnTo>
                    <a:pt x="115" y="63"/>
                  </a:lnTo>
                  <a:lnTo>
                    <a:pt x="110" y="53"/>
                  </a:lnTo>
                  <a:lnTo>
                    <a:pt x="102" y="35"/>
                  </a:lnTo>
                  <a:lnTo>
                    <a:pt x="92" y="16"/>
                  </a:lnTo>
                  <a:lnTo>
                    <a:pt x="83" y="0"/>
                  </a:lnTo>
                  <a:lnTo>
                    <a:pt x="90" y="4"/>
                  </a:lnTo>
                  <a:lnTo>
                    <a:pt x="103" y="11"/>
                  </a:lnTo>
                  <a:lnTo>
                    <a:pt x="119" y="20"/>
                  </a:lnTo>
                  <a:lnTo>
                    <a:pt x="134" y="31"/>
                  </a:lnTo>
                  <a:lnTo>
                    <a:pt x="149" y="44"/>
                  </a:lnTo>
                  <a:lnTo>
                    <a:pt x="159" y="59"/>
                  </a:lnTo>
                  <a:lnTo>
                    <a:pt x="164" y="74"/>
                  </a:lnTo>
                  <a:lnTo>
                    <a:pt x="160" y="91"/>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2" name="Freeform 17"/>
            <p:cNvSpPr>
              <a:spLocks/>
            </p:cNvSpPr>
            <p:nvPr/>
          </p:nvSpPr>
          <p:spPr bwMode="auto">
            <a:xfrm>
              <a:off x="2209" y="2945"/>
              <a:ext cx="57" cy="57"/>
            </a:xfrm>
            <a:custGeom>
              <a:avLst/>
              <a:gdLst>
                <a:gd name="T0" fmla="*/ 0 w 57"/>
                <a:gd name="T1" fmla="*/ 52 h 57"/>
                <a:gd name="T2" fmla="*/ 5 w 57"/>
                <a:gd name="T3" fmla="*/ 44 h 57"/>
                <a:gd name="T4" fmla="*/ 12 w 57"/>
                <a:gd name="T5" fmla="*/ 37 h 57"/>
                <a:gd name="T6" fmla="*/ 18 w 57"/>
                <a:gd name="T7" fmla="*/ 27 h 57"/>
                <a:gd name="T8" fmla="*/ 24 w 57"/>
                <a:gd name="T9" fmla="*/ 20 h 57"/>
                <a:gd name="T10" fmla="*/ 30 w 57"/>
                <a:gd name="T11" fmla="*/ 12 h 57"/>
                <a:gd name="T12" fmla="*/ 35 w 57"/>
                <a:gd name="T13" fmla="*/ 7 h 57"/>
                <a:gd name="T14" fmla="*/ 39 w 57"/>
                <a:gd name="T15" fmla="*/ 2 h 57"/>
                <a:gd name="T16" fmla="*/ 41 w 57"/>
                <a:gd name="T17" fmla="*/ 0 h 57"/>
                <a:gd name="T18" fmla="*/ 46 w 57"/>
                <a:gd name="T19" fmla="*/ 7 h 57"/>
                <a:gd name="T20" fmla="*/ 52 w 57"/>
                <a:gd name="T21" fmla="*/ 16 h 57"/>
                <a:gd name="T22" fmla="*/ 57 w 57"/>
                <a:gd name="T23" fmla="*/ 27 h 57"/>
                <a:gd name="T24" fmla="*/ 57 w 57"/>
                <a:gd name="T25" fmla="*/ 35 h 57"/>
                <a:gd name="T26" fmla="*/ 53 w 57"/>
                <a:gd name="T27" fmla="*/ 43 h 57"/>
                <a:gd name="T28" fmla="*/ 49 w 57"/>
                <a:gd name="T29" fmla="*/ 49 h 57"/>
                <a:gd name="T30" fmla="*/ 43 w 57"/>
                <a:gd name="T31" fmla="*/ 53 h 57"/>
                <a:gd name="T32" fmla="*/ 35 w 57"/>
                <a:gd name="T33" fmla="*/ 56 h 57"/>
                <a:gd name="T34" fmla="*/ 27 w 57"/>
                <a:gd name="T35" fmla="*/ 57 h 57"/>
                <a:gd name="T36" fmla="*/ 18 w 57"/>
                <a:gd name="T37" fmla="*/ 57 h 57"/>
                <a:gd name="T38" fmla="*/ 9 w 57"/>
                <a:gd name="T39" fmla="*/ 55 h 57"/>
                <a:gd name="T40" fmla="*/ 0 w 57"/>
                <a:gd name="T41" fmla="*/ 52 h 5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
                <a:gd name="T64" fmla="*/ 0 h 57"/>
                <a:gd name="T65" fmla="*/ 57 w 57"/>
                <a:gd name="T66" fmla="*/ 57 h 5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 h="57">
                  <a:moveTo>
                    <a:pt x="0" y="52"/>
                  </a:moveTo>
                  <a:lnTo>
                    <a:pt x="5" y="44"/>
                  </a:lnTo>
                  <a:lnTo>
                    <a:pt x="12" y="37"/>
                  </a:lnTo>
                  <a:lnTo>
                    <a:pt x="18" y="27"/>
                  </a:lnTo>
                  <a:lnTo>
                    <a:pt x="24" y="20"/>
                  </a:lnTo>
                  <a:lnTo>
                    <a:pt x="30" y="12"/>
                  </a:lnTo>
                  <a:lnTo>
                    <a:pt x="35" y="7"/>
                  </a:lnTo>
                  <a:lnTo>
                    <a:pt x="39" y="2"/>
                  </a:lnTo>
                  <a:lnTo>
                    <a:pt x="41" y="0"/>
                  </a:lnTo>
                  <a:lnTo>
                    <a:pt x="46" y="7"/>
                  </a:lnTo>
                  <a:lnTo>
                    <a:pt x="52" y="16"/>
                  </a:lnTo>
                  <a:lnTo>
                    <a:pt x="57" y="27"/>
                  </a:lnTo>
                  <a:lnTo>
                    <a:pt x="57" y="35"/>
                  </a:lnTo>
                  <a:lnTo>
                    <a:pt x="53" y="43"/>
                  </a:lnTo>
                  <a:lnTo>
                    <a:pt x="49" y="49"/>
                  </a:lnTo>
                  <a:lnTo>
                    <a:pt x="43" y="53"/>
                  </a:lnTo>
                  <a:lnTo>
                    <a:pt x="35" y="56"/>
                  </a:lnTo>
                  <a:lnTo>
                    <a:pt x="27" y="57"/>
                  </a:lnTo>
                  <a:lnTo>
                    <a:pt x="18" y="57"/>
                  </a:lnTo>
                  <a:lnTo>
                    <a:pt x="9" y="55"/>
                  </a:lnTo>
                  <a:lnTo>
                    <a:pt x="0" y="5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3" name="Freeform 18"/>
            <p:cNvSpPr>
              <a:spLocks/>
            </p:cNvSpPr>
            <p:nvPr/>
          </p:nvSpPr>
          <p:spPr bwMode="auto">
            <a:xfrm>
              <a:off x="2034" y="2963"/>
              <a:ext cx="51" cy="41"/>
            </a:xfrm>
            <a:custGeom>
              <a:avLst/>
              <a:gdLst>
                <a:gd name="T0" fmla="*/ 26 w 51"/>
                <a:gd name="T1" fmla="*/ 0 h 41"/>
                <a:gd name="T2" fmla="*/ 16 w 51"/>
                <a:gd name="T3" fmla="*/ 2 h 41"/>
                <a:gd name="T4" fmla="*/ 8 w 51"/>
                <a:gd name="T5" fmla="*/ 7 h 41"/>
                <a:gd name="T6" fmla="*/ 3 w 51"/>
                <a:gd name="T7" fmla="*/ 13 h 41"/>
                <a:gd name="T8" fmla="*/ 0 w 51"/>
                <a:gd name="T9" fmla="*/ 21 h 41"/>
                <a:gd name="T10" fmla="*/ 3 w 51"/>
                <a:gd name="T11" fmla="*/ 29 h 41"/>
                <a:gd name="T12" fmla="*/ 8 w 51"/>
                <a:gd name="T13" fmla="*/ 34 h 41"/>
                <a:gd name="T14" fmla="*/ 16 w 51"/>
                <a:gd name="T15" fmla="*/ 39 h 41"/>
                <a:gd name="T16" fmla="*/ 26 w 51"/>
                <a:gd name="T17" fmla="*/ 41 h 41"/>
                <a:gd name="T18" fmla="*/ 35 w 51"/>
                <a:gd name="T19" fmla="*/ 39 h 41"/>
                <a:gd name="T20" fmla="*/ 43 w 51"/>
                <a:gd name="T21" fmla="*/ 34 h 41"/>
                <a:gd name="T22" fmla="*/ 48 w 51"/>
                <a:gd name="T23" fmla="*/ 29 h 41"/>
                <a:gd name="T24" fmla="*/ 51 w 51"/>
                <a:gd name="T25" fmla="*/ 21 h 41"/>
                <a:gd name="T26" fmla="*/ 48 w 51"/>
                <a:gd name="T27" fmla="*/ 13 h 41"/>
                <a:gd name="T28" fmla="*/ 43 w 51"/>
                <a:gd name="T29" fmla="*/ 7 h 41"/>
                <a:gd name="T30" fmla="*/ 35 w 51"/>
                <a:gd name="T31" fmla="*/ 2 h 41"/>
                <a:gd name="T32" fmla="*/ 26 w 51"/>
                <a:gd name="T33" fmla="*/ 0 h 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1"/>
                <a:gd name="T52" fmla="*/ 0 h 41"/>
                <a:gd name="T53" fmla="*/ 51 w 51"/>
                <a:gd name="T54" fmla="*/ 41 h 4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1" h="41">
                  <a:moveTo>
                    <a:pt x="26" y="0"/>
                  </a:moveTo>
                  <a:lnTo>
                    <a:pt x="16" y="2"/>
                  </a:lnTo>
                  <a:lnTo>
                    <a:pt x="8" y="7"/>
                  </a:lnTo>
                  <a:lnTo>
                    <a:pt x="3" y="13"/>
                  </a:lnTo>
                  <a:lnTo>
                    <a:pt x="0" y="21"/>
                  </a:lnTo>
                  <a:lnTo>
                    <a:pt x="3" y="29"/>
                  </a:lnTo>
                  <a:lnTo>
                    <a:pt x="8" y="34"/>
                  </a:lnTo>
                  <a:lnTo>
                    <a:pt x="16" y="39"/>
                  </a:lnTo>
                  <a:lnTo>
                    <a:pt x="26" y="41"/>
                  </a:lnTo>
                  <a:lnTo>
                    <a:pt x="35" y="39"/>
                  </a:lnTo>
                  <a:lnTo>
                    <a:pt x="43" y="34"/>
                  </a:lnTo>
                  <a:lnTo>
                    <a:pt x="48" y="29"/>
                  </a:lnTo>
                  <a:lnTo>
                    <a:pt x="51" y="21"/>
                  </a:lnTo>
                  <a:lnTo>
                    <a:pt x="48" y="13"/>
                  </a:lnTo>
                  <a:lnTo>
                    <a:pt x="43" y="7"/>
                  </a:lnTo>
                  <a:lnTo>
                    <a:pt x="35" y="2"/>
                  </a:lnTo>
                  <a:lnTo>
                    <a:pt x="2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3318" name="Group 19"/>
          <p:cNvGrpSpPr>
            <a:grpSpLocks/>
          </p:cNvGrpSpPr>
          <p:nvPr/>
        </p:nvGrpSpPr>
        <p:grpSpPr bwMode="auto">
          <a:xfrm>
            <a:off x="2476500" y="2447925"/>
            <a:ext cx="692150" cy="511175"/>
            <a:chOff x="2083" y="1606"/>
            <a:chExt cx="1489" cy="1097"/>
          </a:xfrm>
        </p:grpSpPr>
        <p:sp>
          <p:nvSpPr>
            <p:cNvPr id="13327" name="Rectangle 20"/>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3328" name="Freeform 21"/>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3329" name="Freeform 22"/>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3330" name="Freeform 23"/>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3331" name="Freeform 24"/>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3332" name="Rectangle 25"/>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3333" name="Rectangle 26"/>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34" name="AutoShape 27"/>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3335" name="Freeform 28"/>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336" name="Freeform 29"/>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337" name="Rectangle 30"/>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38" name="Rectangle 31"/>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39" name="Rectangle 32"/>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3340" name="Group 33"/>
            <p:cNvGrpSpPr>
              <a:grpSpLocks/>
            </p:cNvGrpSpPr>
            <p:nvPr/>
          </p:nvGrpSpPr>
          <p:grpSpPr bwMode="auto">
            <a:xfrm>
              <a:off x="2221" y="1871"/>
              <a:ext cx="518" cy="782"/>
              <a:chOff x="2400" y="1656"/>
              <a:chExt cx="752" cy="1136"/>
            </a:xfrm>
          </p:grpSpPr>
          <p:sp>
            <p:nvSpPr>
              <p:cNvPr id="13353" name="Freeform 34"/>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354" name="Freeform 35"/>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355" name="Freeform 36"/>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356" name="Freeform 37"/>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357" name="Freeform 38"/>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3358" name="Line 39"/>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59" name="Line 40"/>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3341" name="Group 41"/>
            <p:cNvGrpSpPr>
              <a:grpSpLocks/>
            </p:cNvGrpSpPr>
            <p:nvPr/>
          </p:nvGrpSpPr>
          <p:grpSpPr bwMode="auto">
            <a:xfrm rot="-6511945">
              <a:off x="2834" y="1842"/>
              <a:ext cx="518" cy="783"/>
              <a:chOff x="2400" y="1656"/>
              <a:chExt cx="752" cy="1136"/>
            </a:xfrm>
          </p:grpSpPr>
          <p:sp>
            <p:nvSpPr>
              <p:cNvPr id="13346" name="Freeform 42"/>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347" name="Freeform 43"/>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348" name="Freeform 44"/>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349" name="Freeform 45"/>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350" name="Freeform 46"/>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351" name="Line 47"/>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52" name="Line 48"/>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3342" name="Freeform 49"/>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3343" name="Freeform 50"/>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344" name="Rectangle 51"/>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45" name="Rectangle 52"/>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3319" name="AutoShape 53"/>
          <p:cNvSpPr>
            <a:spLocks noChangeArrowheads="1"/>
          </p:cNvSpPr>
          <p:nvPr/>
        </p:nvSpPr>
        <p:spPr bwMode="auto">
          <a:xfrm>
            <a:off x="2913063" y="2657475"/>
            <a:ext cx="984250" cy="98425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13320" name="Line 54"/>
          <p:cNvSpPr>
            <a:spLocks noChangeShapeType="1"/>
          </p:cNvSpPr>
          <p:nvPr/>
        </p:nvSpPr>
        <p:spPr bwMode="auto">
          <a:xfrm flipH="1">
            <a:off x="2638425" y="3095625"/>
            <a:ext cx="2809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21" name="Line 55"/>
          <p:cNvSpPr>
            <a:spLocks noChangeShapeType="1"/>
          </p:cNvSpPr>
          <p:nvPr/>
        </p:nvSpPr>
        <p:spPr bwMode="auto">
          <a:xfrm flipV="1">
            <a:off x="2638425" y="2832100"/>
            <a:ext cx="0" cy="26352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22" name="Text Box 56"/>
          <p:cNvSpPr txBox="1">
            <a:spLocks noChangeArrowheads="1"/>
          </p:cNvSpPr>
          <p:nvPr/>
        </p:nvSpPr>
        <p:spPr bwMode="auto">
          <a:xfrm>
            <a:off x="492125" y="2411413"/>
            <a:ext cx="19002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r" eaLnBrk="1" hangingPunct="1"/>
            <a:r>
              <a:rPr lang="en-US" sz="1800" b="1" dirty="0"/>
              <a:t>Claim</a:t>
            </a:r>
            <a:br>
              <a:rPr lang="en-US" sz="1800" b="1" dirty="0"/>
            </a:br>
            <a:r>
              <a:rPr lang="en-US" sz="1800" b="1" dirty="0" smtClean="0"/>
              <a:t>000-00-002001</a:t>
            </a:r>
            <a:endParaRPr lang="en-US" sz="1800" b="1" dirty="0"/>
          </a:p>
        </p:txBody>
      </p:sp>
      <p:sp>
        <p:nvSpPr>
          <p:cNvPr id="13323" name="Text Box 57"/>
          <p:cNvSpPr txBox="1">
            <a:spLocks noChangeArrowheads="1"/>
          </p:cNvSpPr>
          <p:nvPr/>
        </p:nvSpPr>
        <p:spPr bwMode="auto">
          <a:xfrm>
            <a:off x="681038" y="3162300"/>
            <a:ext cx="190023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r" eaLnBrk="1" hangingPunct="1"/>
            <a:r>
              <a:rPr lang="en-US" sz="1800" b="1" dirty="0" smtClean="0"/>
              <a:t>Stanley Poole</a:t>
            </a:r>
            <a:r>
              <a:rPr lang="en-US" sz="1800" b="1" dirty="0"/>
              <a:t/>
            </a:r>
            <a:br>
              <a:rPr lang="en-US" sz="1800" b="1" dirty="0"/>
            </a:br>
            <a:r>
              <a:rPr lang="en-US" sz="1800" b="1" dirty="0"/>
              <a:t>(witness)</a:t>
            </a:r>
          </a:p>
        </p:txBody>
      </p:sp>
      <p:sp>
        <p:nvSpPr>
          <p:cNvPr id="13324" name="Rectangle 58"/>
          <p:cNvSpPr>
            <a:spLocks noChangeArrowheads="1"/>
          </p:cNvSpPr>
          <p:nvPr/>
        </p:nvSpPr>
        <p:spPr bwMode="auto">
          <a:xfrm>
            <a:off x="544513" y="1076325"/>
            <a:ext cx="3517900" cy="5327650"/>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3325" name="Rectangle 59"/>
          <p:cNvSpPr>
            <a:spLocks noChangeArrowheads="1"/>
          </p:cNvSpPr>
          <p:nvPr/>
        </p:nvSpPr>
        <p:spPr bwMode="auto">
          <a:xfrm>
            <a:off x="5351463" y="1104900"/>
            <a:ext cx="3517900" cy="5327650"/>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pic>
        <p:nvPicPr>
          <p:cNvPr id="13326" name="Picture 17" descr="claimcenter.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11325" y="1155700"/>
            <a:ext cx="1184275" cy="118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2" name="Group 61"/>
          <p:cNvGrpSpPr/>
          <p:nvPr/>
        </p:nvGrpSpPr>
        <p:grpSpPr>
          <a:xfrm>
            <a:off x="7033332" y="2129858"/>
            <a:ext cx="1136650" cy="1066800"/>
            <a:chOff x="6781800" y="1524000"/>
            <a:chExt cx="1136650" cy="1066800"/>
          </a:xfrm>
        </p:grpSpPr>
        <p:pic>
          <p:nvPicPr>
            <p:cNvPr id="63"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2379" y="1524000"/>
              <a:ext cx="994672" cy="993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64" name="Content Placeholder 5"/>
            <p:cNvSpPr txBox="1">
              <a:spLocks/>
            </p:cNvSpPr>
            <p:nvPr/>
          </p:nvSpPr>
          <p:spPr bwMode="auto">
            <a:xfrm>
              <a:off x="6781800" y="2300287"/>
              <a:ext cx="1136650" cy="290513"/>
            </a:xfrm>
            <a:prstGeom prst="rect">
              <a:avLst/>
            </a:prstGeom>
            <a:noFill/>
            <a:ln w="9525">
              <a:noFill/>
              <a:miter lim="800000"/>
              <a:headEnd/>
              <a:tailEnd/>
            </a:ln>
          </p:spPr>
          <p:txBody>
            <a:bodyPr lIns="0" tIns="0" rIns="0" bIns="0"/>
            <a:lstStyle/>
            <a:p>
              <a:pPr marL="457200" indent="-457200" algn="ctr" eaLnBrk="0" hangingPunct="0">
                <a:spcBef>
                  <a:spcPct val="40000"/>
                </a:spcBef>
                <a:buClr>
                  <a:srgbClr val="04628C"/>
                </a:buClr>
                <a:buSzPct val="90000"/>
                <a:buFont typeface="Arial" pitchFamily="34" charset="0"/>
                <a:buNone/>
                <a:defRPr/>
              </a:pPr>
              <a:r>
                <a:rPr lang="en-US" sz="1100" kern="0" dirty="0">
                  <a:solidFill>
                    <a:schemeClr val="tx1"/>
                  </a:solidFill>
                  <a:latin typeface="Arial Narrow" pitchFamily="34" charset="0"/>
                  <a:cs typeface="+mn-cs"/>
                </a:rPr>
                <a:t>ContactManager</a:t>
              </a:r>
            </a:p>
          </p:txBody>
        </p:sp>
      </p:grpSp>
    </p:spTree>
    <p:extLst>
      <p:ext uri="{BB962C8B-B14F-4D97-AF65-F5344CB8AC3E}">
        <p14:creationId xmlns:p14="http://schemas.microsoft.com/office/powerpoint/2010/main" val="2899299164"/>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|EOS~014|</a:t>
            </a:r>
            <a:endParaRPr lang="en-US" sz="100" dirty="0" err="1" smtClean="0">
              <a:solidFill>
                <a:srgbClr val="FFFFFF"/>
              </a:solidFill>
              <a:latin typeface="Arial"/>
              <a:cs typeface="Calibri" pitchFamily="34" charset="0"/>
            </a:endParaRPr>
          </a:p>
        </p:txBody>
      </p:sp>
      <p:sp>
        <p:nvSpPr>
          <p:cNvPr id="14338" name="Rectangle 2"/>
          <p:cNvSpPr>
            <a:spLocks noGrp="1" noChangeArrowheads="1"/>
          </p:cNvSpPr>
          <p:nvPr>
            <p:ph type="title"/>
          </p:nvPr>
        </p:nvSpPr>
        <p:spPr/>
        <p:txBody>
          <a:bodyPr/>
          <a:lstStyle/>
          <a:p>
            <a:pPr eaLnBrk="1" hangingPunct="1"/>
            <a:r>
              <a:rPr lang="en-US" dirty="0" smtClean="0"/>
              <a:t>“Shared” contacts</a:t>
            </a:r>
          </a:p>
        </p:txBody>
      </p:sp>
      <p:sp>
        <p:nvSpPr>
          <p:cNvPr id="14339" name="Text Box 3"/>
          <p:cNvSpPr txBox="1">
            <a:spLocks noChangeArrowheads="1"/>
          </p:cNvSpPr>
          <p:nvPr/>
        </p:nvSpPr>
        <p:spPr bwMode="auto">
          <a:xfrm>
            <a:off x="7107238" y="1441450"/>
            <a:ext cx="11080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1800" b="1"/>
              <a:t>Address</a:t>
            </a:r>
            <a:br>
              <a:rPr lang="en-US" sz="1800" b="1"/>
            </a:br>
            <a:r>
              <a:rPr lang="en-US" sz="1800" b="1"/>
              <a:t>Book</a:t>
            </a:r>
          </a:p>
        </p:txBody>
      </p:sp>
      <p:grpSp>
        <p:nvGrpSpPr>
          <p:cNvPr id="14340" name="Group 4"/>
          <p:cNvGrpSpPr>
            <a:grpSpLocks/>
          </p:cNvGrpSpPr>
          <p:nvPr/>
        </p:nvGrpSpPr>
        <p:grpSpPr bwMode="auto">
          <a:xfrm>
            <a:off x="5975350" y="1212850"/>
            <a:ext cx="1109663" cy="969963"/>
            <a:chOff x="1305" y="2500"/>
            <a:chExt cx="1138" cy="995"/>
          </a:xfrm>
        </p:grpSpPr>
        <p:sp>
          <p:nvSpPr>
            <p:cNvPr id="14469" name="Freeform 5"/>
            <p:cNvSpPr>
              <a:spLocks/>
            </p:cNvSpPr>
            <p:nvPr/>
          </p:nvSpPr>
          <p:spPr bwMode="auto">
            <a:xfrm>
              <a:off x="1305" y="2500"/>
              <a:ext cx="1138" cy="995"/>
            </a:xfrm>
            <a:custGeom>
              <a:avLst/>
              <a:gdLst>
                <a:gd name="T0" fmla="*/ 444 w 1138"/>
                <a:gd name="T1" fmla="*/ 1 h 995"/>
                <a:gd name="T2" fmla="*/ 490 w 1138"/>
                <a:gd name="T3" fmla="*/ 0 h 995"/>
                <a:gd name="T4" fmla="*/ 532 w 1138"/>
                <a:gd name="T5" fmla="*/ 10 h 995"/>
                <a:gd name="T6" fmla="*/ 600 w 1138"/>
                <a:gd name="T7" fmla="*/ 40 h 995"/>
                <a:gd name="T8" fmla="*/ 668 w 1138"/>
                <a:gd name="T9" fmla="*/ 66 h 995"/>
                <a:gd name="T10" fmla="*/ 737 w 1138"/>
                <a:gd name="T11" fmla="*/ 85 h 995"/>
                <a:gd name="T12" fmla="*/ 808 w 1138"/>
                <a:gd name="T13" fmla="*/ 101 h 995"/>
                <a:gd name="T14" fmla="*/ 882 w 1138"/>
                <a:gd name="T15" fmla="*/ 111 h 995"/>
                <a:gd name="T16" fmla="*/ 953 w 1138"/>
                <a:gd name="T17" fmla="*/ 125 h 995"/>
                <a:gd name="T18" fmla="*/ 1011 w 1138"/>
                <a:gd name="T19" fmla="*/ 163 h 995"/>
                <a:gd name="T20" fmla="*/ 1036 w 1138"/>
                <a:gd name="T21" fmla="*/ 228 h 995"/>
                <a:gd name="T22" fmla="*/ 1082 w 1138"/>
                <a:gd name="T23" fmla="*/ 252 h 995"/>
                <a:gd name="T24" fmla="*/ 1120 w 1138"/>
                <a:gd name="T25" fmla="*/ 287 h 995"/>
                <a:gd name="T26" fmla="*/ 1137 w 1138"/>
                <a:gd name="T27" fmla="*/ 342 h 995"/>
                <a:gd name="T28" fmla="*/ 1134 w 1138"/>
                <a:gd name="T29" fmla="*/ 405 h 995"/>
                <a:gd name="T30" fmla="*/ 1111 w 1138"/>
                <a:gd name="T31" fmla="*/ 463 h 995"/>
                <a:gd name="T32" fmla="*/ 1068 w 1138"/>
                <a:gd name="T33" fmla="*/ 515 h 995"/>
                <a:gd name="T34" fmla="*/ 1026 w 1138"/>
                <a:gd name="T35" fmla="*/ 568 h 995"/>
                <a:gd name="T36" fmla="*/ 984 w 1138"/>
                <a:gd name="T37" fmla="*/ 627 h 995"/>
                <a:gd name="T38" fmla="*/ 965 w 1138"/>
                <a:gd name="T39" fmla="*/ 646 h 995"/>
                <a:gd name="T40" fmla="*/ 947 w 1138"/>
                <a:gd name="T41" fmla="*/ 664 h 995"/>
                <a:gd name="T42" fmla="*/ 918 w 1138"/>
                <a:gd name="T43" fmla="*/ 712 h 995"/>
                <a:gd name="T44" fmla="*/ 864 w 1138"/>
                <a:gd name="T45" fmla="*/ 796 h 995"/>
                <a:gd name="T46" fmla="*/ 802 w 1138"/>
                <a:gd name="T47" fmla="*/ 881 h 995"/>
                <a:gd name="T48" fmla="*/ 763 w 1138"/>
                <a:gd name="T49" fmla="*/ 927 h 995"/>
                <a:gd name="T50" fmla="*/ 741 w 1138"/>
                <a:gd name="T51" fmla="*/ 950 h 995"/>
                <a:gd name="T52" fmla="*/ 715 w 1138"/>
                <a:gd name="T53" fmla="*/ 963 h 995"/>
                <a:gd name="T54" fmla="*/ 670 w 1138"/>
                <a:gd name="T55" fmla="*/ 975 h 995"/>
                <a:gd name="T56" fmla="*/ 627 w 1138"/>
                <a:gd name="T57" fmla="*/ 985 h 995"/>
                <a:gd name="T58" fmla="*/ 584 w 1138"/>
                <a:gd name="T59" fmla="*/ 993 h 995"/>
                <a:gd name="T60" fmla="*/ 543 w 1138"/>
                <a:gd name="T61" fmla="*/ 995 h 995"/>
                <a:gd name="T62" fmla="*/ 500 w 1138"/>
                <a:gd name="T63" fmla="*/ 988 h 995"/>
                <a:gd name="T64" fmla="*/ 464 w 1138"/>
                <a:gd name="T65" fmla="*/ 975 h 995"/>
                <a:gd name="T66" fmla="*/ 421 w 1138"/>
                <a:gd name="T67" fmla="*/ 953 h 995"/>
                <a:gd name="T68" fmla="*/ 369 w 1138"/>
                <a:gd name="T69" fmla="*/ 925 h 995"/>
                <a:gd name="T70" fmla="*/ 317 w 1138"/>
                <a:gd name="T71" fmla="*/ 899 h 995"/>
                <a:gd name="T72" fmla="*/ 275 w 1138"/>
                <a:gd name="T73" fmla="*/ 878 h 995"/>
                <a:gd name="T74" fmla="*/ 219 w 1138"/>
                <a:gd name="T75" fmla="*/ 861 h 995"/>
                <a:gd name="T76" fmla="*/ 151 w 1138"/>
                <a:gd name="T77" fmla="*/ 851 h 995"/>
                <a:gd name="T78" fmla="*/ 86 w 1138"/>
                <a:gd name="T79" fmla="*/ 827 h 995"/>
                <a:gd name="T80" fmla="*/ 18 w 1138"/>
                <a:gd name="T81" fmla="*/ 764 h 995"/>
                <a:gd name="T82" fmla="*/ 0 w 1138"/>
                <a:gd name="T83" fmla="*/ 678 h 995"/>
                <a:gd name="T84" fmla="*/ 15 w 1138"/>
                <a:gd name="T85" fmla="*/ 590 h 995"/>
                <a:gd name="T86" fmla="*/ 52 w 1138"/>
                <a:gd name="T87" fmla="*/ 520 h 995"/>
                <a:gd name="T88" fmla="*/ 110 w 1138"/>
                <a:gd name="T89" fmla="*/ 462 h 995"/>
                <a:gd name="T90" fmla="*/ 166 w 1138"/>
                <a:gd name="T91" fmla="*/ 392 h 995"/>
                <a:gd name="T92" fmla="*/ 217 w 1138"/>
                <a:gd name="T93" fmla="*/ 316 h 995"/>
                <a:gd name="T94" fmla="*/ 263 w 1138"/>
                <a:gd name="T95" fmla="*/ 239 h 995"/>
                <a:gd name="T96" fmla="*/ 308 w 1138"/>
                <a:gd name="T97" fmla="*/ 156 h 995"/>
                <a:gd name="T98" fmla="*/ 365 w 1138"/>
                <a:gd name="T99" fmla="*/ 58 h 995"/>
                <a:gd name="T100" fmla="*/ 413 w 1138"/>
                <a:gd name="T101" fmla="*/ 5 h 99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38"/>
                <a:gd name="T154" fmla="*/ 0 h 995"/>
                <a:gd name="T155" fmla="*/ 1138 w 1138"/>
                <a:gd name="T156" fmla="*/ 995 h 99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38" h="995">
                  <a:moveTo>
                    <a:pt x="413" y="5"/>
                  </a:moveTo>
                  <a:lnTo>
                    <a:pt x="429" y="2"/>
                  </a:lnTo>
                  <a:lnTo>
                    <a:pt x="444" y="1"/>
                  </a:lnTo>
                  <a:lnTo>
                    <a:pt x="460" y="0"/>
                  </a:lnTo>
                  <a:lnTo>
                    <a:pt x="475" y="0"/>
                  </a:lnTo>
                  <a:lnTo>
                    <a:pt x="490" y="0"/>
                  </a:lnTo>
                  <a:lnTo>
                    <a:pt x="504" y="2"/>
                  </a:lnTo>
                  <a:lnTo>
                    <a:pt x="518" y="5"/>
                  </a:lnTo>
                  <a:lnTo>
                    <a:pt x="532" y="10"/>
                  </a:lnTo>
                  <a:lnTo>
                    <a:pt x="554" y="20"/>
                  </a:lnTo>
                  <a:lnTo>
                    <a:pt x="578" y="31"/>
                  </a:lnTo>
                  <a:lnTo>
                    <a:pt x="600" y="40"/>
                  </a:lnTo>
                  <a:lnTo>
                    <a:pt x="623" y="49"/>
                  </a:lnTo>
                  <a:lnTo>
                    <a:pt x="645" y="57"/>
                  </a:lnTo>
                  <a:lnTo>
                    <a:pt x="668" y="66"/>
                  </a:lnTo>
                  <a:lnTo>
                    <a:pt x="692" y="72"/>
                  </a:lnTo>
                  <a:lnTo>
                    <a:pt x="714" y="79"/>
                  </a:lnTo>
                  <a:lnTo>
                    <a:pt x="737" y="85"/>
                  </a:lnTo>
                  <a:lnTo>
                    <a:pt x="760" y="92"/>
                  </a:lnTo>
                  <a:lnTo>
                    <a:pt x="785" y="97"/>
                  </a:lnTo>
                  <a:lnTo>
                    <a:pt x="808" y="101"/>
                  </a:lnTo>
                  <a:lnTo>
                    <a:pt x="833" y="105"/>
                  </a:lnTo>
                  <a:lnTo>
                    <a:pt x="857" y="108"/>
                  </a:lnTo>
                  <a:lnTo>
                    <a:pt x="882" y="111"/>
                  </a:lnTo>
                  <a:lnTo>
                    <a:pt x="906" y="114"/>
                  </a:lnTo>
                  <a:lnTo>
                    <a:pt x="930" y="119"/>
                  </a:lnTo>
                  <a:lnTo>
                    <a:pt x="953" y="125"/>
                  </a:lnTo>
                  <a:lnTo>
                    <a:pt x="975" y="136"/>
                  </a:lnTo>
                  <a:lnTo>
                    <a:pt x="994" y="147"/>
                  </a:lnTo>
                  <a:lnTo>
                    <a:pt x="1011" y="163"/>
                  </a:lnTo>
                  <a:lnTo>
                    <a:pt x="1024" y="181"/>
                  </a:lnTo>
                  <a:lnTo>
                    <a:pt x="1033" y="202"/>
                  </a:lnTo>
                  <a:lnTo>
                    <a:pt x="1036" y="228"/>
                  </a:lnTo>
                  <a:lnTo>
                    <a:pt x="1051" y="235"/>
                  </a:lnTo>
                  <a:lnTo>
                    <a:pt x="1067" y="243"/>
                  </a:lnTo>
                  <a:lnTo>
                    <a:pt x="1082" y="252"/>
                  </a:lnTo>
                  <a:lnTo>
                    <a:pt x="1097" y="263"/>
                  </a:lnTo>
                  <a:lnTo>
                    <a:pt x="1110" y="274"/>
                  </a:lnTo>
                  <a:lnTo>
                    <a:pt x="1120" y="287"/>
                  </a:lnTo>
                  <a:lnTo>
                    <a:pt x="1129" y="303"/>
                  </a:lnTo>
                  <a:lnTo>
                    <a:pt x="1134" y="321"/>
                  </a:lnTo>
                  <a:lnTo>
                    <a:pt x="1137" y="342"/>
                  </a:lnTo>
                  <a:lnTo>
                    <a:pt x="1138" y="364"/>
                  </a:lnTo>
                  <a:lnTo>
                    <a:pt x="1137" y="384"/>
                  </a:lnTo>
                  <a:lnTo>
                    <a:pt x="1134" y="405"/>
                  </a:lnTo>
                  <a:lnTo>
                    <a:pt x="1128" y="426"/>
                  </a:lnTo>
                  <a:lnTo>
                    <a:pt x="1120" y="445"/>
                  </a:lnTo>
                  <a:lnTo>
                    <a:pt x="1111" y="463"/>
                  </a:lnTo>
                  <a:lnTo>
                    <a:pt x="1098" y="482"/>
                  </a:lnTo>
                  <a:lnTo>
                    <a:pt x="1082" y="498"/>
                  </a:lnTo>
                  <a:lnTo>
                    <a:pt x="1068" y="515"/>
                  </a:lnTo>
                  <a:lnTo>
                    <a:pt x="1053" y="533"/>
                  </a:lnTo>
                  <a:lnTo>
                    <a:pt x="1040" y="550"/>
                  </a:lnTo>
                  <a:lnTo>
                    <a:pt x="1026" y="568"/>
                  </a:lnTo>
                  <a:lnTo>
                    <a:pt x="1011" y="586"/>
                  </a:lnTo>
                  <a:lnTo>
                    <a:pt x="998" y="606"/>
                  </a:lnTo>
                  <a:lnTo>
                    <a:pt x="984" y="627"/>
                  </a:lnTo>
                  <a:lnTo>
                    <a:pt x="978" y="634"/>
                  </a:lnTo>
                  <a:lnTo>
                    <a:pt x="971" y="641"/>
                  </a:lnTo>
                  <a:lnTo>
                    <a:pt x="965" y="646"/>
                  </a:lnTo>
                  <a:lnTo>
                    <a:pt x="960" y="653"/>
                  </a:lnTo>
                  <a:lnTo>
                    <a:pt x="953" y="659"/>
                  </a:lnTo>
                  <a:lnTo>
                    <a:pt x="947" y="664"/>
                  </a:lnTo>
                  <a:lnTo>
                    <a:pt x="941" y="671"/>
                  </a:lnTo>
                  <a:lnTo>
                    <a:pt x="938" y="678"/>
                  </a:lnTo>
                  <a:lnTo>
                    <a:pt x="918" y="712"/>
                  </a:lnTo>
                  <a:lnTo>
                    <a:pt x="900" y="742"/>
                  </a:lnTo>
                  <a:lnTo>
                    <a:pt x="882" y="770"/>
                  </a:lnTo>
                  <a:lnTo>
                    <a:pt x="864" y="796"/>
                  </a:lnTo>
                  <a:lnTo>
                    <a:pt x="844" y="824"/>
                  </a:lnTo>
                  <a:lnTo>
                    <a:pt x="824" y="851"/>
                  </a:lnTo>
                  <a:lnTo>
                    <a:pt x="802" y="881"/>
                  </a:lnTo>
                  <a:lnTo>
                    <a:pt x="777" y="912"/>
                  </a:lnTo>
                  <a:lnTo>
                    <a:pt x="769" y="919"/>
                  </a:lnTo>
                  <a:lnTo>
                    <a:pt x="763" y="927"/>
                  </a:lnTo>
                  <a:lnTo>
                    <a:pt x="755" y="936"/>
                  </a:lnTo>
                  <a:lnTo>
                    <a:pt x="749" y="943"/>
                  </a:lnTo>
                  <a:lnTo>
                    <a:pt x="741" y="950"/>
                  </a:lnTo>
                  <a:lnTo>
                    <a:pt x="733" y="956"/>
                  </a:lnTo>
                  <a:lnTo>
                    <a:pt x="724" y="961"/>
                  </a:lnTo>
                  <a:lnTo>
                    <a:pt x="715" y="963"/>
                  </a:lnTo>
                  <a:lnTo>
                    <a:pt x="699" y="967"/>
                  </a:lnTo>
                  <a:lnTo>
                    <a:pt x="684" y="971"/>
                  </a:lnTo>
                  <a:lnTo>
                    <a:pt x="670" y="975"/>
                  </a:lnTo>
                  <a:lnTo>
                    <a:pt x="655" y="979"/>
                  </a:lnTo>
                  <a:lnTo>
                    <a:pt x="641" y="983"/>
                  </a:lnTo>
                  <a:lnTo>
                    <a:pt x="627" y="985"/>
                  </a:lnTo>
                  <a:lnTo>
                    <a:pt x="613" y="989"/>
                  </a:lnTo>
                  <a:lnTo>
                    <a:pt x="598" y="991"/>
                  </a:lnTo>
                  <a:lnTo>
                    <a:pt x="584" y="993"/>
                  </a:lnTo>
                  <a:lnTo>
                    <a:pt x="570" y="995"/>
                  </a:lnTo>
                  <a:lnTo>
                    <a:pt x="557" y="995"/>
                  </a:lnTo>
                  <a:lnTo>
                    <a:pt x="543" y="995"/>
                  </a:lnTo>
                  <a:lnTo>
                    <a:pt x="528" y="993"/>
                  </a:lnTo>
                  <a:lnTo>
                    <a:pt x="514" y="992"/>
                  </a:lnTo>
                  <a:lnTo>
                    <a:pt x="500" y="988"/>
                  </a:lnTo>
                  <a:lnTo>
                    <a:pt x="486" y="984"/>
                  </a:lnTo>
                  <a:lnTo>
                    <a:pt x="475" y="980"/>
                  </a:lnTo>
                  <a:lnTo>
                    <a:pt x="464" y="975"/>
                  </a:lnTo>
                  <a:lnTo>
                    <a:pt x="451" y="969"/>
                  </a:lnTo>
                  <a:lnTo>
                    <a:pt x="437" y="961"/>
                  </a:lnTo>
                  <a:lnTo>
                    <a:pt x="421" y="953"/>
                  </a:lnTo>
                  <a:lnTo>
                    <a:pt x="404" y="944"/>
                  </a:lnTo>
                  <a:lnTo>
                    <a:pt x="386" y="935"/>
                  </a:lnTo>
                  <a:lnTo>
                    <a:pt x="369" y="925"/>
                  </a:lnTo>
                  <a:lnTo>
                    <a:pt x="352" y="915"/>
                  </a:lnTo>
                  <a:lnTo>
                    <a:pt x="334" y="906"/>
                  </a:lnTo>
                  <a:lnTo>
                    <a:pt x="317" y="899"/>
                  </a:lnTo>
                  <a:lnTo>
                    <a:pt x="302" y="890"/>
                  </a:lnTo>
                  <a:lnTo>
                    <a:pt x="288" y="883"/>
                  </a:lnTo>
                  <a:lnTo>
                    <a:pt x="275" y="878"/>
                  </a:lnTo>
                  <a:lnTo>
                    <a:pt x="263" y="873"/>
                  </a:lnTo>
                  <a:lnTo>
                    <a:pt x="253" y="870"/>
                  </a:lnTo>
                  <a:lnTo>
                    <a:pt x="219" y="861"/>
                  </a:lnTo>
                  <a:lnTo>
                    <a:pt x="193" y="856"/>
                  </a:lnTo>
                  <a:lnTo>
                    <a:pt x="170" y="853"/>
                  </a:lnTo>
                  <a:lnTo>
                    <a:pt x="151" y="851"/>
                  </a:lnTo>
                  <a:lnTo>
                    <a:pt x="131" y="847"/>
                  </a:lnTo>
                  <a:lnTo>
                    <a:pt x="110" y="839"/>
                  </a:lnTo>
                  <a:lnTo>
                    <a:pt x="86" y="827"/>
                  </a:lnTo>
                  <a:lnTo>
                    <a:pt x="56" y="808"/>
                  </a:lnTo>
                  <a:lnTo>
                    <a:pt x="34" y="789"/>
                  </a:lnTo>
                  <a:lnTo>
                    <a:pt x="18" y="764"/>
                  </a:lnTo>
                  <a:lnTo>
                    <a:pt x="8" y="738"/>
                  </a:lnTo>
                  <a:lnTo>
                    <a:pt x="3" y="708"/>
                  </a:lnTo>
                  <a:lnTo>
                    <a:pt x="0" y="678"/>
                  </a:lnTo>
                  <a:lnTo>
                    <a:pt x="3" y="649"/>
                  </a:lnTo>
                  <a:lnTo>
                    <a:pt x="8" y="619"/>
                  </a:lnTo>
                  <a:lnTo>
                    <a:pt x="15" y="590"/>
                  </a:lnTo>
                  <a:lnTo>
                    <a:pt x="22" y="564"/>
                  </a:lnTo>
                  <a:lnTo>
                    <a:pt x="35" y="541"/>
                  </a:lnTo>
                  <a:lnTo>
                    <a:pt x="52" y="520"/>
                  </a:lnTo>
                  <a:lnTo>
                    <a:pt x="70" y="501"/>
                  </a:lnTo>
                  <a:lnTo>
                    <a:pt x="90" y="482"/>
                  </a:lnTo>
                  <a:lnTo>
                    <a:pt x="110" y="462"/>
                  </a:lnTo>
                  <a:lnTo>
                    <a:pt x="131" y="441"/>
                  </a:lnTo>
                  <a:lnTo>
                    <a:pt x="149" y="419"/>
                  </a:lnTo>
                  <a:lnTo>
                    <a:pt x="166" y="392"/>
                  </a:lnTo>
                  <a:lnTo>
                    <a:pt x="183" y="366"/>
                  </a:lnTo>
                  <a:lnTo>
                    <a:pt x="200" y="342"/>
                  </a:lnTo>
                  <a:lnTo>
                    <a:pt x="217" y="316"/>
                  </a:lnTo>
                  <a:lnTo>
                    <a:pt x="232" y="290"/>
                  </a:lnTo>
                  <a:lnTo>
                    <a:pt x="248" y="265"/>
                  </a:lnTo>
                  <a:lnTo>
                    <a:pt x="263" y="239"/>
                  </a:lnTo>
                  <a:lnTo>
                    <a:pt x="279" y="212"/>
                  </a:lnTo>
                  <a:lnTo>
                    <a:pt x="292" y="187"/>
                  </a:lnTo>
                  <a:lnTo>
                    <a:pt x="308" y="156"/>
                  </a:lnTo>
                  <a:lnTo>
                    <a:pt x="327" y="123"/>
                  </a:lnTo>
                  <a:lnTo>
                    <a:pt x="346" y="89"/>
                  </a:lnTo>
                  <a:lnTo>
                    <a:pt x="365" y="58"/>
                  </a:lnTo>
                  <a:lnTo>
                    <a:pt x="384" y="31"/>
                  </a:lnTo>
                  <a:lnTo>
                    <a:pt x="400" y="13"/>
                  </a:lnTo>
                  <a:lnTo>
                    <a:pt x="413" y="5"/>
                  </a:lnTo>
                  <a:close/>
                </a:path>
              </a:pathLst>
            </a:custGeom>
            <a:solidFill>
              <a:srgbClr val="FFFFD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70" name="Freeform 6"/>
            <p:cNvSpPr>
              <a:spLocks/>
            </p:cNvSpPr>
            <p:nvPr/>
          </p:nvSpPr>
          <p:spPr bwMode="auto">
            <a:xfrm>
              <a:off x="1356" y="2554"/>
              <a:ext cx="1055" cy="891"/>
            </a:xfrm>
            <a:custGeom>
              <a:avLst/>
              <a:gdLst>
                <a:gd name="T0" fmla="*/ 1013 w 1055"/>
                <a:gd name="T1" fmla="*/ 247 h 891"/>
                <a:gd name="T2" fmla="*/ 1007 w 1055"/>
                <a:gd name="T3" fmla="*/ 242 h 891"/>
                <a:gd name="T4" fmla="*/ 986 w 1055"/>
                <a:gd name="T5" fmla="*/ 227 h 891"/>
                <a:gd name="T6" fmla="*/ 963 w 1055"/>
                <a:gd name="T7" fmla="*/ 215 h 891"/>
                <a:gd name="T8" fmla="*/ 962 w 1055"/>
                <a:gd name="T9" fmla="*/ 189 h 891"/>
                <a:gd name="T10" fmla="*/ 947 w 1055"/>
                <a:gd name="T11" fmla="*/ 157 h 891"/>
                <a:gd name="T12" fmla="*/ 918 w 1055"/>
                <a:gd name="T13" fmla="*/ 145 h 891"/>
                <a:gd name="T14" fmla="*/ 861 w 1055"/>
                <a:gd name="T15" fmla="*/ 131 h 891"/>
                <a:gd name="T16" fmla="*/ 804 w 1055"/>
                <a:gd name="T17" fmla="*/ 118 h 891"/>
                <a:gd name="T18" fmla="*/ 749 w 1055"/>
                <a:gd name="T19" fmla="*/ 105 h 891"/>
                <a:gd name="T20" fmla="*/ 707 w 1055"/>
                <a:gd name="T21" fmla="*/ 95 h 891"/>
                <a:gd name="T22" fmla="*/ 665 w 1055"/>
                <a:gd name="T23" fmla="*/ 82 h 891"/>
                <a:gd name="T24" fmla="*/ 622 w 1055"/>
                <a:gd name="T25" fmla="*/ 65 h 891"/>
                <a:gd name="T26" fmla="*/ 572 w 1055"/>
                <a:gd name="T27" fmla="*/ 43 h 891"/>
                <a:gd name="T28" fmla="*/ 516 w 1055"/>
                <a:gd name="T29" fmla="*/ 21 h 891"/>
                <a:gd name="T30" fmla="*/ 465 w 1055"/>
                <a:gd name="T31" fmla="*/ 5 h 891"/>
                <a:gd name="T32" fmla="*/ 423 w 1055"/>
                <a:gd name="T33" fmla="*/ 0 h 891"/>
                <a:gd name="T34" fmla="*/ 387 w 1055"/>
                <a:gd name="T35" fmla="*/ 18 h 891"/>
                <a:gd name="T36" fmla="*/ 343 w 1055"/>
                <a:gd name="T37" fmla="*/ 69 h 891"/>
                <a:gd name="T38" fmla="*/ 304 w 1055"/>
                <a:gd name="T39" fmla="*/ 124 h 891"/>
                <a:gd name="T40" fmla="*/ 266 w 1055"/>
                <a:gd name="T41" fmla="*/ 175 h 891"/>
                <a:gd name="T42" fmla="*/ 230 w 1055"/>
                <a:gd name="T43" fmla="*/ 223 h 891"/>
                <a:gd name="T44" fmla="*/ 198 w 1055"/>
                <a:gd name="T45" fmla="*/ 273 h 891"/>
                <a:gd name="T46" fmla="*/ 127 w 1055"/>
                <a:gd name="T47" fmla="*/ 384 h 891"/>
                <a:gd name="T48" fmla="*/ 36 w 1055"/>
                <a:gd name="T49" fmla="*/ 513 h 891"/>
                <a:gd name="T50" fmla="*/ 0 w 1055"/>
                <a:gd name="T51" fmla="*/ 578 h 891"/>
                <a:gd name="T52" fmla="*/ 9 w 1055"/>
                <a:gd name="T53" fmla="*/ 624 h 891"/>
                <a:gd name="T54" fmla="*/ 17 w 1055"/>
                <a:gd name="T55" fmla="*/ 648 h 891"/>
                <a:gd name="T56" fmla="*/ 33 w 1055"/>
                <a:gd name="T57" fmla="*/ 688 h 891"/>
                <a:gd name="T58" fmla="*/ 53 w 1055"/>
                <a:gd name="T59" fmla="*/ 709 h 891"/>
                <a:gd name="T60" fmla="*/ 101 w 1055"/>
                <a:gd name="T61" fmla="*/ 729 h 891"/>
                <a:gd name="T62" fmla="*/ 149 w 1055"/>
                <a:gd name="T63" fmla="*/ 749 h 891"/>
                <a:gd name="T64" fmla="*/ 198 w 1055"/>
                <a:gd name="T65" fmla="*/ 767 h 891"/>
                <a:gd name="T66" fmla="*/ 247 w 1055"/>
                <a:gd name="T67" fmla="*/ 785 h 891"/>
                <a:gd name="T68" fmla="*/ 295 w 1055"/>
                <a:gd name="T69" fmla="*/ 803 h 891"/>
                <a:gd name="T70" fmla="*/ 347 w 1055"/>
                <a:gd name="T71" fmla="*/ 825 h 891"/>
                <a:gd name="T72" fmla="*/ 400 w 1055"/>
                <a:gd name="T73" fmla="*/ 847 h 891"/>
                <a:gd name="T74" fmla="*/ 453 w 1055"/>
                <a:gd name="T75" fmla="*/ 867 h 891"/>
                <a:gd name="T76" fmla="*/ 531 w 1055"/>
                <a:gd name="T77" fmla="*/ 887 h 891"/>
                <a:gd name="T78" fmla="*/ 610 w 1055"/>
                <a:gd name="T79" fmla="*/ 887 h 891"/>
                <a:gd name="T80" fmla="*/ 669 w 1055"/>
                <a:gd name="T81" fmla="*/ 851 h 891"/>
                <a:gd name="T82" fmla="*/ 721 w 1055"/>
                <a:gd name="T83" fmla="*/ 790 h 891"/>
                <a:gd name="T84" fmla="*/ 780 w 1055"/>
                <a:gd name="T85" fmla="*/ 707 h 891"/>
                <a:gd name="T86" fmla="*/ 839 w 1055"/>
                <a:gd name="T87" fmla="*/ 622 h 891"/>
                <a:gd name="T88" fmla="*/ 887 w 1055"/>
                <a:gd name="T89" fmla="*/ 549 h 891"/>
                <a:gd name="T90" fmla="*/ 915 w 1055"/>
                <a:gd name="T91" fmla="*/ 508 h 891"/>
                <a:gd name="T92" fmla="*/ 978 w 1055"/>
                <a:gd name="T93" fmla="*/ 426 h 891"/>
                <a:gd name="T94" fmla="*/ 1038 w 1055"/>
                <a:gd name="T95" fmla="*/ 349 h 891"/>
                <a:gd name="T96" fmla="*/ 1055 w 1055"/>
                <a:gd name="T97" fmla="*/ 312 h 891"/>
                <a:gd name="T98" fmla="*/ 1048 w 1055"/>
                <a:gd name="T99" fmla="*/ 277 h 891"/>
                <a:gd name="T100" fmla="*/ 1025 w 1055"/>
                <a:gd name="T101" fmla="*/ 254 h 8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55"/>
                <a:gd name="T154" fmla="*/ 0 h 891"/>
                <a:gd name="T155" fmla="*/ 1055 w 1055"/>
                <a:gd name="T156" fmla="*/ 891 h 8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55" h="891">
                  <a:moveTo>
                    <a:pt x="1013" y="249"/>
                  </a:moveTo>
                  <a:lnTo>
                    <a:pt x="1013" y="247"/>
                  </a:lnTo>
                  <a:lnTo>
                    <a:pt x="1007" y="242"/>
                  </a:lnTo>
                  <a:lnTo>
                    <a:pt x="1000" y="237"/>
                  </a:lnTo>
                  <a:lnTo>
                    <a:pt x="993" y="232"/>
                  </a:lnTo>
                  <a:lnTo>
                    <a:pt x="986" y="227"/>
                  </a:lnTo>
                  <a:lnTo>
                    <a:pt x="978" y="223"/>
                  </a:lnTo>
                  <a:lnTo>
                    <a:pt x="971" y="219"/>
                  </a:lnTo>
                  <a:lnTo>
                    <a:pt x="963" y="215"/>
                  </a:lnTo>
                  <a:lnTo>
                    <a:pt x="955" y="213"/>
                  </a:lnTo>
                  <a:lnTo>
                    <a:pt x="960" y="201"/>
                  </a:lnTo>
                  <a:lnTo>
                    <a:pt x="962" y="189"/>
                  </a:lnTo>
                  <a:lnTo>
                    <a:pt x="960" y="176"/>
                  </a:lnTo>
                  <a:lnTo>
                    <a:pt x="955" y="165"/>
                  </a:lnTo>
                  <a:lnTo>
                    <a:pt x="947" y="157"/>
                  </a:lnTo>
                  <a:lnTo>
                    <a:pt x="938" y="152"/>
                  </a:lnTo>
                  <a:lnTo>
                    <a:pt x="928" y="148"/>
                  </a:lnTo>
                  <a:lnTo>
                    <a:pt x="918" y="145"/>
                  </a:lnTo>
                  <a:lnTo>
                    <a:pt x="898" y="140"/>
                  </a:lnTo>
                  <a:lnTo>
                    <a:pt x="879" y="135"/>
                  </a:lnTo>
                  <a:lnTo>
                    <a:pt x="861" y="131"/>
                  </a:lnTo>
                  <a:lnTo>
                    <a:pt x="841" y="127"/>
                  </a:lnTo>
                  <a:lnTo>
                    <a:pt x="823" y="122"/>
                  </a:lnTo>
                  <a:lnTo>
                    <a:pt x="804" y="118"/>
                  </a:lnTo>
                  <a:lnTo>
                    <a:pt x="784" y="114"/>
                  </a:lnTo>
                  <a:lnTo>
                    <a:pt x="765" y="109"/>
                  </a:lnTo>
                  <a:lnTo>
                    <a:pt x="749" y="105"/>
                  </a:lnTo>
                  <a:lnTo>
                    <a:pt x="735" y="102"/>
                  </a:lnTo>
                  <a:lnTo>
                    <a:pt x="721" y="99"/>
                  </a:lnTo>
                  <a:lnTo>
                    <a:pt x="707" y="95"/>
                  </a:lnTo>
                  <a:lnTo>
                    <a:pt x="692" y="91"/>
                  </a:lnTo>
                  <a:lnTo>
                    <a:pt x="678" y="87"/>
                  </a:lnTo>
                  <a:lnTo>
                    <a:pt x="665" y="82"/>
                  </a:lnTo>
                  <a:lnTo>
                    <a:pt x="651" y="77"/>
                  </a:lnTo>
                  <a:lnTo>
                    <a:pt x="638" y="71"/>
                  </a:lnTo>
                  <a:lnTo>
                    <a:pt x="622" y="65"/>
                  </a:lnTo>
                  <a:lnTo>
                    <a:pt x="607" y="57"/>
                  </a:lnTo>
                  <a:lnTo>
                    <a:pt x="589" y="51"/>
                  </a:lnTo>
                  <a:lnTo>
                    <a:pt x="572" y="43"/>
                  </a:lnTo>
                  <a:lnTo>
                    <a:pt x="553" y="35"/>
                  </a:lnTo>
                  <a:lnTo>
                    <a:pt x="534" y="29"/>
                  </a:lnTo>
                  <a:lnTo>
                    <a:pt x="516" y="21"/>
                  </a:lnTo>
                  <a:lnTo>
                    <a:pt x="498" y="16"/>
                  </a:lnTo>
                  <a:lnTo>
                    <a:pt x="481" y="10"/>
                  </a:lnTo>
                  <a:lnTo>
                    <a:pt x="465" y="5"/>
                  </a:lnTo>
                  <a:lnTo>
                    <a:pt x="449" y="3"/>
                  </a:lnTo>
                  <a:lnTo>
                    <a:pt x="435" y="0"/>
                  </a:lnTo>
                  <a:lnTo>
                    <a:pt x="423" y="0"/>
                  </a:lnTo>
                  <a:lnTo>
                    <a:pt x="413" y="1"/>
                  </a:lnTo>
                  <a:lnTo>
                    <a:pt x="405" y="5"/>
                  </a:lnTo>
                  <a:lnTo>
                    <a:pt x="387" y="18"/>
                  </a:lnTo>
                  <a:lnTo>
                    <a:pt x="371" y="34"/>
                  </a:lnTo>
                  <a:lnTo>
                    <a:pt x="357" y="51"/>
                  </a:lnTo>
                  <a:lnTo>
                    <a:pt x="343" y="69"/>
                  </a:lnTo>
                  <a:lnTo>
                    <a:pt x="330" y="88"/>
                  </a:lnTo>
                  <a:lnTo>
                    <a:pt x="317" y="106"/>
                  </a:lnTo>
                  <a:lnTo>
                    <a:pt x="304" y="124"/>
                  </a:lnTo>
                  <a:lnTo>
                    <a:pt x="291" y="143"/>
                  </a:lnTo>
                  <a:lnTo>
                    <a:pt x="278" y="159"/>
                  </a:lnTo>
                  <a:lnTo>
                    <a:pt x="266" y="175"/>
                  </a:lnTo>
                  <a:lnTo>
                    <a:pt x="254" y="190"/>
                  </a:lnTo>
                  <a:lnTo>
                    <a:pt x="242" y="206"/>
                  </a:lnTo>
                  <a:lnTo>
                    <a:pt x="230" y="223"/>
                  </a:lnTo>
                  <a:lnTo>
                    <a:pt x="219" y="238"/>
                  </a:lnTo>
                  <a:lnTo>
                    <a:pt x="208" y="255"/>
                  </a:lnTo>
                  <a:lnTo>
                    <a:pt x="198" y="273"/>
                  </a:lnTo>
                  <a:lnTo>
                    <a:pt x="181" y="303"/>
                  </a:lnTo>
                  <a:lnTo>
                    <a:pt x="156" y="341"/>
                  </a:lnTo>
                  <a:lnTo>
                    <a:pt x="127" y="384"/>
                  </a:lnTo>
                  <a:lnTo>
                    <a:pt x="96" y="429"/>
                  </a:lnTo>
                  <a:lnTo>
                    <a:pt x="65" y="473"/>
                  </a:lnTo>
                  <a:lnTo>
                    <a:pt x="36" y="513"/>
                  </a:lnTo>
                  <a:lnTo>
                    <a:pt x="14" y="545"/>
                  </a:lnTo>
                  <a:lnTo>
                    <a:pt x="0" y="567"/>
                  </a:lnTo>
                  <a:lnTo>
                    <a:pt x="0" y="578"/>
                  </a:lnTo>
                  <a:lnTo>
                    <a:pt x="4" y="597"/>
                  </a:lnTo>
                  <a:lnTo>
                    <a:pt x="8" y="615"/>
                  </a:lnTo>
                  <a:lnTo>
                    <a:pt x="9" y="624"/>
                  </a:lnTo>
                  <a:lnTo>
                    <a:pt x="10" y="628"/>
                  </a:lnTo>
                  <a:lnTo>
                    <a:pt x="13" y="637"/>
                  </a:lnTo>
                  <a:lnTo>
                    <a:pt x="17" y="648"/>
                  </a:lnTo>
                  <a:lnTo>
                    <a:pt x="22" y="661"/>
                  </a:lnTo>
                  <a:lnTo>
                    <a:pt x="27" y="675"/>
                  </a:lnTo>
                  <a:lnTo>
                    <a:pt x="33" y="688"/>
                  </a:lnTo>
                  <a:lnTo>
                    <a:pt x="40" y="698"/>
                  </a:lnTo>
                  <a:lnTo>
                    <a:pt x="48" y="706"/>
                  </a:lnTo>
                  <a:lnTo>
                    <a:pt x="53" y="709"/>
                  </a:lnTo>
                  <a:lnTo>
                    <a:pt x="68" y="716"/>
                  </a:lnTo>
                  <a:lnTo>
                    <a:pt x="85" y="723"/>
                  </a:lnTo>
                  <a:lnTo>
                    <a:pt x="101" y="729"/>
                  </a:lnTo>
                  <a:lnTo>
                    <a:pt x="116" y="737"/>
                  </a:lnTo>
                  <a:lnTo>
                    <a:pt x="133" y="744"/>
                  </a:lnTo>
                  <a:lnTo>
                    <a:pt x="149" y="749"/>
                  </a:lnTo>
                  <a:lnTo>
                    <a:pt x="166" y="755"/>
                  </a:lnTo>
                  <a:lnTo>
                    <a:pt x="181" y="762"/>
                  </a:lnTo>
                  <a:lnTo>
                    <a:pt x="198" y="767"/>
                  </a:lnTo>
                  <a:lnTo>
                    <a:pt x="213" y="773"/>
                  </a:lnTo>
                  <a:lnTo>
                    <a:pt x="230" y="780"/>
                  </a:lnTo>
                  <a:lnTo>
                    <a:pt x="247" y="785"/>
                  </a:lnTo>
                  <a:lnTo>
                    <a:pt x="263" y="792"/>
                  </a:lnTo>
                  <a:lnTo>
                    <a:pt x="279" y="797"/>
                  </a:lnTo>
                  <a:lnTo>
                    <a:pt x="295" y="803"/>
                  </a:lnTo>
                  <a:lnTo>
                    <a:pt x="312" y="810"/>
                  </a:lnTo>
                  <a:lnTo>
                    <a:pt x="330" y="817"/>
                  </a:lnTo>
                  <a:lnTo>
                    <a:pt x="347" y="825"/>
                  </a:lnTo>
                  <a:lnTo>
                    <a:pt x="365" y="833"/>
                  </a:lnTo>
                  <a:lnTo>
                    <a:pt x="382" y="839"/>
                  </a:lnTo>
                  <a:lnTo>
                    <a:pt x="400" y="847"/>
                  </a:lnTo>
                  <a:lnTo>
                    <a:pt x="417" y="855"/>
                  </a:lnTo>
                  <a:lnTo>
                    <a:pt x="435" y="861"/>
                  </a:lnTo>
                  <a:lnTo>
                    <a:pt x="453" y="867"/>
                  </a:lnTo>
                  <a:lnTo>
                    <a:pt x="479" y="874"/>
                  </a:lnTo>
                  <a:lnTo>
                    <a:pt x="505" y="881"/>
                  </a:lnTo>
                  <a:lnTo>
                    <a:pt x="531" y="887"/>
                  </a:lnTo>
                  <a:lnTo>
                    <a:pt x="558" y="891"/>
                  </a:lnTo>
                  <a:lnTo>
                    <a:pt x="584" y="891"/>
                  </a:lnTo>
                  <a:lnTo>
                    <a:pt x="610" y="887"/>
                  </a:lnTo>
                  <a:lnTo>
                    <a:pt x="633" y="880"/>
                  </a:lnTo>
                  <a:lnTo>
                    <a:pt x="656" y="864"/>
                  </a:lnTo>
                  <a:lnTo>
                    <a:pt x="669" y="851"/>
                  </a:lnTo>
                  <a:lnTo>
                    <a:pt x="685" y="834"/>
                  </a:lnTo>
                  <a:lnTo>
                    <a:pt x="701" y="814"/>
                  </a:lnTo>
                  <a:lnTo>
                    <a:pt x="721" y="790"/>
                  </a:lnTo>
                  <a:lnTo>
                    <a:pt x="740" y="764"/>
                  </a:lnTo>
                  <a:lnTo>
                    <a:pt x="760" y="736"/>
                  </a:lnTo>
                  <a:lnTo>
                    <a:pt x="780" y="707"/>
                  </a:lnTo>
                  <a:lnTo>
                    <a:pt x="800" y="678"/>
                  </a:lnTo>
                  <a:lnTo>
                    <a:pt x="819" y="649"/>
                  </a:lnTo>
                  <a:lnTo>
                    <a:pt x="839" y="622"/>
                  </a:lnTo>
                  <a:lnTo>
                    <a:pt x="857" y="595"/>
                  </a:lnTo>
                  <a:lnTo>
                    <a:pt x="872" y="570"/>
                  </a:lnTo>
                  <a:lnTo>
                    <a:pt x="887" y="549"/>
                  </a:lnTo>
                  <a:lnTo>
                    <a:pt x="899" y="531"/>
                  </a:lnTo>
                  <a:lnTo>
                    <a:pt x="909" y="517"/>
                  </a:lnTo>
                  <a:lnTo>
                    <a:pt x="915" y="508"/>
                  </a:lnTo>
                  <a:lnTo>
                    <a:pt x="933" y="483"/>
                  </a:lnTo>
                  <a:lnTo>
                    <a:pt x="955" y="456"/>
                  </a:lnTo>
                  <a:lnTo>
                    <a:pt x="978" y="426"/>
                  </a:lnTo>
                  <a:lnTo>
                    <a:pt x="1000" y="396"/>
                  </a:lnTo>
                  <a:lnTo>
                    <a:pt x="1021" y="371"/>
                  </a:lnTo>
                  <a:lnTo>
                    <a:pt x="1038" y="349"/>
                  </a:lnTo>
                  <a:lnTo>
                    <a:pt x="1050" y="333"/>
                  </a:lnTo>
                  <a:lnTo>
                    <a:pt x="1053" y="325"/>
                  </a:lnTo>
                  <a:lnTo>
                    <a:pt x="1055" y="312"/>
                  </a:lnTo>
                  <a:lnTo>
                    <a:pt x="1055" y="301"/>
                  </a:lnTo>
                  <a:lnTo>
                    <a:pt x="1052" y="289"/>
                  </a:lnTo>
                  <a:lnTo>
                    <a:pt x="1048" y="277"/>
                  </a:lnTo>
                  <a:lnTo>
                    <a:pt x="1042" y="268"/>
                  </a:lnTo>
                  <a:lnTo>
                    <a:pt x="1034" y="260"/>
                  </a:lnTo>
                  <a:lnTo>
                    <a:pt x="1025" y="254"/>
                  </a:lnTo>
                  <a:lnTo>
                    <a:pt x="1013" y="2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71" name="Freeform 7"/>
            <p:cNvSpPr>
              <a:spLocks/>
            </p:cNvSpPr>
            <p:nvPr/>
          </p:nvSpPr>
          <p:spPr bwMode="auto">
            <a:xfrm>
              <a:off x="2158" y="2782"/>
              <a:ext cx="151" cy="211"/>
            </a:xfrm>
            <a:custGeom>
              <a:avLst/>
              <a:gdLst>
                <a:gd name="T0" fmla="*/ 151 w 151"/>
                <a:gd name="T1" fmla="*/ 27 h 211"/>
                <a:gd name="T2" fmla="*/ 148 w 151"/>
                <a:gd name="T3" fmla="*/ 32 h 211"/>
                <a:gd name="T4" fmla="*/ 141 w 151"/>
                <a:gd name="T5" fmla="*/ 42 h 211"/>
                <a:gd name="T6" fmla="*/ 131 w 151"/>
                <a:gd name="T7" fmla="*/ 54 h 211"/>
                <a:gd name="T8" fmla="*/ 118 w 151"/>
                <a:gd name="T9" fmla="*/ 69 h 211"/>
                <a:gd name="T10" fmla="*/ 105 w 151"/>
                <a:gd name="T11" fmla="*/ 83 h 211"/>
                <a:gd name="T12" fmla="*/ 95 w 151"/>
                <a:gd name="T13" fmla="*/ 96 h 211"/>
                <a:gd name="T14" fmla="*/ 88 w 151"/>
                <a:gd name="T15" fmla="*/ 105 h 211"/>
                <a:gd name="T16" fmla="*/ 86 w 151"/>
                <a:gd name="T17" fmla="*/ 109 h 211"/>
                <a:gd name="T18" fmla="*/ 87 w 151"/>
                <a:gd name="T19" fmla="*/ 110 h 211"/>
                <a:gd name="T20" fmla="*/ 91 w 151"/>
                <a:gd name="T21" fmla="*/ 113 h 211"/>
                <a:gd name="T22" fmla="*/ 96 w 151"/>
                <a:gd name="T23" fmla="*/ 117 h 211"/>
                <a:gd name="T24" fmla="*/ 104 w 151"/>
                <a:gd name="T25" fmla="*/ 121 h 211"/>
                <a:gd name="T26" fmla="*/ 113 w 151"/>
                <a:gd name="T27" fmla="*/ 126 h 211"/>
                <a:gd name="T28" fmla="*/ 122 w 151"/>
                <a:gd name="T29" fmla="*/ 130 h 211"/>
                <a:gd name="T30" fmla="*/ 131 w 151"/>
                <a:gd name="T31" fmla="*/ 132 h 211"/>
                <a:gd name="T32" fmla="*/ 141 w 151"/>
                <a:gd name="T33" fmla="*/ 132 h 211"/>
                <a:gd name="T34" fmla="*/ 134 w 151"/>
                <a:gd name="T35" fmla="*/ 137 h 211"/>
                <a:gd name="T36" fmla="*/ 126 w 151"/>
                <a:gd name="T37" fmla="*/ 144 h 211"/>
                <a:gd name="T38" fmla="*/ 119 w 151"/>
                <a:gd name="T39" fmla="*/ 152 h 211"/>
                <a:gd name="T40" fmla="*/ 113 w 151"/>
                <a:gd name="T41" fmla="*/ 159 h 211"/>
                <a:gd name="T42" fmla="*/ 109 w 151"/>
                <a:gd name="T43" fmla="*/ 154 h 211"/>
                <a:gd name="T44" fmla="*/ 105 w 151"/>
                <a:gd name="T45" fmla="*/ 145 h 211"/>
                <a:gd name="T46" fmla="*/ 100 w 151"/>
                <a:gd name="T47" fmla="*/ 136 h 211"/>
                <a:gd name="T48" fmla="*/ 99 w 151"/>
                <a:gd name="T49" fmla="*/ 132 h 211"/>
                <a:gd name="T50" fmla="*/ 95 w 151"/>
                <a:gd name="T51" fmla="*/ 135 h 211"/>
                <a:gd name="T52" fmla="*/ 87 w 151"/>
                <a:gd name="T53" fmla="*/ 144 h 211"/>
                <a:gd name="T54" fmla="*/ 75 w 151"/>
                <a:gd name="T55" fmla="*/ 157 h 211"/>
                <a:gd name="T56" fmla="*/ 64 w 151"/>
                <a:gd name="T57" fmla="*/ 171 h 211"/>
                <a:gd name="T58" fmla="*/ 51 w 151"/>
                <a:gd name="T59" fmla="*/ 185 h 211"/>
                <a:gd name="T60" fmla="*/ 41 w 151"/>
                <a:gd name="T61" fmla="*/ 198 h 211"/>
                <a:gd name="T62" fmla="*/ 33 w 151"/>
                <a:gd name="T63" fmla="*/ 207 h 211"/>
                <a:gd name="T64" fmla="*/ 30 w 151"/>
                <a:gd name="T65" fmla="*/ 211 h 211"/>
                <a:gd name="T66" fmla="*/ 20 w 151"/>
                <a:gd name="T67" fmla="*/ 201 h 211"/>
                <a:gd name="T68" fmla="*/ 11 w 151"/>
                <a:gd name="T69" fmla="*/ 192 h 211"/>
                <a:gd name="T70" fmla="*/ 3 w 151"/>
                <a:gd name="T71" fmla="*/ 184 h 211"/>
                <a:gd name="T72" fmla="*/ 0 w 151"/>
                <a:gd name="T73" fmla="*/ 180 h 211"/>
                <a:gd name="T74" fmla="*/ 17 w 151"/>
                <a:gd name="T75" fmla="*/ 163 h 211"/>
                <a:gd name="T76" fmla="*/ 37 w 151"/>
                <a:gd name="T77" fmla="*/ 139 h 211"/>
                <a:gd name="T78" fmla="*/ 57 w 151"/>
                <a:gd name="T79" fmla="*/ 111 h 211"/>
                <a:gd name="T80" fmla="*/ 79 w 151"/>
                <a:gd name="T81" fmla="*/ 83 h 211"/>
                <a:gd name="T82" fmla="*/ 100 w 151"/>
                <a:gd name="T83" fmla="*/ 56 h 211"/>
                <a:gd name="T84" fmla="*/ 118 w 151"/>
                <a:gd name="T85" fmla="*/ 31 h 211"/>
                <a:gd name="T86" fmla="*/ 132 w 151"/>
                <a:gd name="T87" fmla="*/ 12 h 211"/>
                <a:gd name="T88" fmla="*/ 141 w 151"/>
                <a:gd name="T89" fmla="*/ 0 h 211"/>
                <a:gd name="T90" fmla="*/ 144 w 151"/>
                <a:gd name="T91" fmla="*/ 7 h 211"/>
                <a:gd name="T92" fmla="*/ 145 w 151"/>
                <a:gd name="T93" fmla="*/ 13 h 211"/>
                <a:gd name="T94" fmla="*/ 148 w 151"/>
                <a:gd name="T95" fmla="*/ 21 h 211"/>
                <a:gd name="T96" fmla="*/ 151 w 151"/>
                <a:gd name="T97" fmla="*/ 27 h 21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51"/>
                <a:gd name="T148" fmla="*/ 0 h 211"/>
                <a:gd name="T149" fmla="*/ 151 w 151"/>
                <a:gd name="T150" fmla="*/ 211 h 21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51" h="211">
                  <a:moveTo>
                    <a:pt x="151" y="27"/>
                  </a:moveTo>
                  <a:lnTo>
                    <a:pt x="148" y="32"/>
                  </a:lnTo>
                  <a:lnTo>
                    <a:pt x="141" y="42"/>
                  </a:lnTo>
                  <a:lnTo>
                    <a:pt x="131" y="54"/>
                  </a:lnTo>
                  <a:lnTo>
                    <a:pt x="118" y="69"/>
                  </a:lnTo>
                  <a:lnTo>
                    <a:pt x="105" y="83"/>
                  </a:lnTo>
                  <a:lnTo>
                    <a:pt x="95" y="96"/>
                  </a:lnTo>
                  <a:lnTo>
                    <a:pt x="88" y="105"/>
                  </a:lnTo>
                  <a:lnTo>
                    <a:pt x="86" y="109"/>
                  </a:lnTo>
                  <a:lnTo>
                    <a:pt x="87" y="110"/>
                  </a:lnTo>
                  <a:lnTo>
                    <a:pt x="91" y="113"/>
                  </a:lnTo>
                  <a:lnTo>
                    <a:pt x="96" y="117"/>
                  </a:lnTo>
                  <a:lnTo>
                    <a:pt x="104" y="121"/>
                  </a:lnTo>
                  <a:lnTo>
                    <a:pt x="113" y="126"/>
                  </a:lnTo>
                  <a:lnTo>
                    <a:pt x="122" y="130"/>
                  </a:lnTo>
                  <a:lnTo>
                    <a:pt x="131" y="132"/>
                  </a:lnTo>
                  <a:lnTo>
                    <a:pt x="141" y="132"/>
                  </a:lnTo>
                  <a:lnTo>
                    <a:pt x="134" y="137"/>
                  </a:lnTo>
                  <a:lnTo>
                    <a:pt x="126" y="144"/>
                  </a:lnTo>
                  <a:lnTo>
                    <a:pt x="119" y="152"/>
                  </a:lnTo>
                  <a:lnTo>
                    <a:pt x="113" y="159"/>
                  </a:lnTo>
                  <a:lnTo>
                    <a:pt x="109" y="154"/>
                  </a:lnTo>
                  <a:lnTo>
                    <a:pt x="105" y="145"/>
                  </a:lnTo>
                  <a:lnTo>
                    <a:pt x="100" y="136"/>
                  </a:lnTo>
                  <a:lnTo>
                    <a:pt x="99" y="132"/>
                  </a:lnTo>
                  <a:lnTo>
                    <a:pt x="95" y="135"/>
                  </a:lnTo>
                  <a:lnTo>
                    <a:pt x="87" y="144"/>
                  </a:lnTo>
                  <a:lnTo>
                    <a:pt x="75" y="157"/>
                  </a:lnTo>
                  <a:lnTo>
                    <a:pt x="64" y="171"/>
                  </a:lnTo>
                  <a:lnTo>
                    <a:pt x="51" y="185"/>
                  </a:lnTo>
                  <a:lnTo>
                    <a:pt x="41" y="198"/>
                  </a:lnTo>
                  <a:lnTo>
                    <a:pt x="33" y="207"/>
                  </a:lnTo>
                  <a:lnTo>
                    <a:pt x="30" y="211"/>
                  </a:lnTo>
                  <a:lnTo>
                    <a:pt x="20" y="201"/>
                  </a:lnTo>
                  <a:lnTo>
                    <a:pt x="11" y="192"/>
                  </a:lnTo>
                  <a:lnTo>
                    <a:pt x="3" y="184"/>
                  </a:lnTo>
                  <a:lnTo>
                    <a:pt x="0" y="180"/>
                  </a:lnTo>
                  <a:lnTo>
                    <a:pt x="17" y="163"/>
                  </a:lnTo>
                  <a:lnTo>
                    <a:pt x="37" y="139"/>
                  </a:lnTo>
                  <a:lnTo>
                    <a:pt x="57" y="111"/>
                  </a:lnTo>
                  <a:lnTo>
                    <a:pt x="79" y="83"/>
                  </a:lnTo>
                  <a:lnTo>
                    <a:pt x="100" y="56"/>
                  </a:lnTo>
                  <a:lnTo>
                    <a:pt x="118" y="31"/>
                  </a:lnTo>
                  <a:lnTo>
                    <a:pt x="132" y="12"/>
                  </a:lnTo>
                  <a:lnTo>
                    <a:pt x="141" y="0"/>
                  </a:lnTo>
                  <a:lnTo>
                    <a:pt x="144" y="7"/>
                  </a:lnTo>
                  <a:lnTo>
                    <a:pt x="145" y="13"/>
                  </a:lnTo>
                  <a:lnTo>
                    <a:pt x="148" y="21"/>
                  </a:lnTo>
                  <a:lnTo>
                    <a:pt x="151" y="27"/>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72" name="Freeform 8"/>
            <p:cNvSpPr>
              <a:spLocks/>
            </p:cNvSpPr>
            <p:nvPr/>
          </p:nvSpPr>
          <p:spPr bwMode="auto">
            <a:xfrm>
              <a:off x="2271" y="2834"/>
              <a:ext cx="58" cy="65"/>
            </a:xfrm>
            <a:custGeom>
              <a:avLst/>
              <a:gdLst>
                <a:gd name="T0" fmla="*/ 44 w 58"/>
                <a:gd name="T1" fmla="*/ 0 h 65"/>
                <a:gd name="T2" fmla="*/ 53 w 58"/>
                <a:gd name="T3" fmla="*/ 17 h 65"/>
                <a:gd name="T4" fmla="*/ 57 w 58"/>
                <a:gd name="T5" fmla="*/ 31 h 65"/>
                <a:gd name="T6" fmla="*/ 57 w 58"/>
                <a:gd name="T7" fmla="*/ 41 h 65"/>
                <a:gd name="T8" fmla="*/ 58 w 58"/>
                <a:gd name="T9" fmla="*/ 47 h 65"/>
                <a:gd name="T10" fmla="*/ 56 w 58"/>
                <a:gd name="T11" fmla="*/ 52 h 65"/>
                <a:gd name="T12" fmla="*/ 54 w 58"/>
                <a:gd name="T13" fmla="*/ 56 h 65"/>
                <a:gd name="T14" fmla="*/ 52 w 58"/>
                <a:gd name="T15" fmla="*/ 58 h 65"/>
                <a:gd name="T16" fmla="*/ 45 w 58"/>
                <a:gd name="T17" fmla="*/ 61 h 65"/>
                <a:gd name="T18" fmla="*/ 39 w 58"/>
                <a:gd name="T19" fmla="*/ 63 h 65"/>
                <a:gd name="T20" fmla="*/ 34 w 58"/>
                <a:gd name="T21" fmla="*/ 65 h 65"/>
                <a:gd name="T22" fmla="*/ 30 w 58"/>
                <a:gd name="T23" fmla="*/ 65 h 65"/>
                <a:gd name="T24" fmla="*/ 25 w 58"/>
                <a:gd name="T25" fmla="*/ 63 h 65"/>
                <a:gd name="T26" fmla="*/ 19 w 58"/>
                <a:gd name="T27" fmla="*/ 61 h 65"/>
                <a:gd name="T28" fmla="*/ 14 w 58"/>
                <a:gd name="T29" fmla="*/ 58 h 65"/>
                <a:gd name="T30" fmla="*/ 8 w 58"/>
                <a:gd name="T31" fmla="*/ 56 h 65"/>
                <a:gd name="T32" fmla="*/ 0 w 58"/>
                <a:gd name="T33" fmla="*/ 52 h 65"/>
                <a:gd name="T34" fmla="*/ 3 w 58"/>
                <a:gd name="T35" fmla="*/ 48 h 65"/>
                <a:gd name="T36" fmla="*/ 8 w 58"/>
                <a:gd name="T37" fmla="*/ 40 h 65"/>
                <a:gd name="T38" fmla="*/ 14 w 58"/>
                <a:gd name="T39" fmla="*/ 32 h 65"/>
                <a:gd name="T40" fmla="*/ 22 w 58"/>
                <a:gd name="T41" fmla="*/ 22 h 65"/>
                <a:gd name="T42" fmla="*/ 30 w 58"/>
                <a:gd name="T43" fmla="*/ 13 h 65"/>
                <a:gd name="T44" fmla="*/ 36 w 58"/>
                <a:gd name="T45" fmla="*/ 6 h 65"/>
                <a:gd name="T46" fmla="*/ 41 w 58"/>
                <a:gd name="T47" fmla="*/ 1 h 65"/>
                <a:gd name="T48" fmla="*/ 44 w 58"/>
                <a:gd name="T49" fmla="*/ 0 h 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8"/>
                <a:gd name="T76" fmla="*/ 0 h 65"/>
                <a:gd name="T77" fmla="*/ 58 w 58"/>
                <a:gd name="T78" fmla="*/ 65 h 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8" h="65">
                  <a:moveTo>
                    <a:pt x="44" y="0"/>
                  </a:moveTo>
                  <a:lnTo>
                    <a:pt x="53" y="17"/>
                  </a:lnTo>
                  <a:lnTo>
                    <a:pt x="57" y="31"/>
                  </a:lnTo>
                  <a:lnTo>
                    <a:pt x="57" y="41"/>
                  </a:lnTo>
                  <a:lnTo>
                    <a:pt x="58" y="47"/>
                  </a:lnTo>
                  <a:lnTo>
                    <a:pt x="56" y="52"/>
                  </a:lnTo>
                  <a:lnTo>
                    <a:pt x="54" y="56"/>
                  </a:lnTo>
                  <a:lnTo>
                    <a:pt x="52" y="58"/>
                  </a:lnTo>
                  <a:lnTo>
                    <a:pt x="45" y="61"/>
                  </a:lnTo>
                  <a:lnTo>
                    <a:pt x="39" y="63"/>
                  </a:lnTo>
                  <a:lnTo>
                    <a:pt x="34" y="65"/>
                  </a:lnTo>
                  <a:lnTo>
                    <a:pt x="30" y="65"/>
                  </a:lnTo>
                  <a:lnTo>
                    <a:pt x="25" y="63"/>
                  </a:lnTo>
                  <a:lnTo>
                    <a:pt x="19" y="61"/>
                  </a:lnTo>
                  <a:lnTo>
                    <a:pt x="14" y="58"/>
                  </a:lnTo>
                  <a:lnTo>
                    <a:pt x="8" y="56"/>
                  </a:lnTo>
                  <a:lnTo>
                    <a:pt x="0" y="52"/>
                  </a:lnTo>
                  <a:lnTo>
                    <a:pt x="3" y="48"/>
                  </a:lnTo>
                  <a:lnTo>
                    <a:pt x="8" y="40"/>
                  </a:lnTo>
                  <a:lnTo>
                    <a:pt x="14" y="32"/>
                  </a:lnTo>
                  <a:lnTo>
                    <a:pt x="22" y="22"/>
                  </a:lnTo>
                  <a:lnTo>
                    <a:pt x="30" y="13"/>
                  </a:lnTo>
                  <a:lnTo>
                    <a:pt x="36" y="6"/>
                  </a:lnTo>
                  <a:lnTo>
                    <a:pt x="41" y="1"/>
                  </a:lnTo>
                  <a:lnTo>
                    <a:pt x="44" y="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73" name="Freeform 9"/>
            <p:cNvSpPr>
              <a:spLocks/>
            </p:cNvSpPr>
            <p:nvPr/>
          </p:nvSpPr>
          <p:spPr bwMode="auto">
            <a:xfrm>
              <a:off x="2201" y="3015"/>
              <a:ext cx="34" cy="24"/>
            </a:xfrm>
            <a:custGeom>
              <a:avLst/>
              <a:gdLst>
                <a:gd name="T0" fmla="*/ 34 w 34"/>
                <a:gd name="T1" fmla="*/ 3 h 24"/>
                <a:gd name="T2" fmla="*/ 29 w 34"/>
                <a:gd name="T3" fmla="*/ 7 h 24"/>
                <a:gd name="T4" fmla="*/ 23 w 34"/>
                <a:gd name="T5" fmla="*/ 12 h 24"/>
                <a:gd name="T6" fmla="*/ 20 w 34"/>
                <a:gd name="T7" fmla="*/ 18 h 24"/>
                <a:gd name="T8" fmla="*/ 16 w 34"/>
                <a:gd name="T9" fmla="*/ 24 h 24"/>
                <a:gd name="T10" fmla="*/ 12 w 34"/>
                <a:gd name="T11" fmla="*/ 17 h 24"/>
                <a:gd name="T12" fmla="*/ 8 w 34"/>
                <a:gd name="T13" fmla="*/ 12 h 24"/>
                <a:gd name="T14" fmla="*/ 4 w 34"/>
                <a:gd name="T15" fmla="*/ 5 h 24"/>
                <a:gd name="T16" fmla="*/ 0 w 34"/>
                <a:gd name="T17" fmla="*/ 0 h 24"/>
                <a:gd name="T18" fmla="*/ 8 w 34"/>
                <a:gd name="T19" fmla="*/ 3 h 24"/>
                <a:gd name="T20" fmla="*/ 17 w 34"/>
                <a:gd name="T21" fmla="*/ 3 h 24"/>
                <a:gd name="T22" fmla="*/ 25 w 34"/>
                <a:gd name="T23" fmla="*/ 4 h 24"/>
                <a:gd name="T24" fmla="*/ 34 w 34"/>
                <a:gd name="T25" fmla="*/ 3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24"/>
                <a:gd name="T41" fmla="*/ 34 w 34"/>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24">
                  <a:moveTo>
                    <a:pt x="34" y="3"/>
                  </a:moveTo>
                  <a:lnTo>
                    <a:pt x="29" y="7"/>
                  </a:lnTo>
                  <a:lnTo>
                    <a:pt x="23" y="12"/>
                  </a:lnTo>
                  <a:lnTo>
                    <a:pt x="20" y="18"/>
                  </a:lnTo>
                  <a:lnTo>
                    <a:pt x="16" y="24"/>
                  </a:lnTo>
                  <a:lnTo>
                    <a:pt x="12" y="17"/>
                  </a:lnTo>
                  <a:lnTo>
                    <a:pt x="8" y="12"/>
                  </a:lnTo>
                  <a:lnTo>
                    <a:pt x="4" y="5"/>
                  </a:lnTo>
                  <a:lnTo>
                    <a:pt x="0" y="0"/>
                  </a:lnTo>
                  <a:lnTo>
                    <a:pt x="8" y="3"/>
                  </a:lnTo>
                  <a:lnTo>
                    <a:pt x="17" y="3"/>
                  </a:lnTo>
                  <a:lnTo>
                    <a:pt x="25" y="4"/>
                  </a:lnTo>
                  <a:lnTo>
                    <a:pt x="34" y="3"/>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74" name="Freeform 10"/>
            <p:cNvSpPr>
              <a:spLocks/>
            </p:cNvSpPr>
            <p:nvPr/>
          </p:nvSpPr>
          <p:spPr bwMode="auto">
            <a:xfrm>
              <a:off x="1392" y="2572"/>
              <a:ext cx="892" cy="726"/>
            </a:xfrm>
            <a:custGeom>
              <a:avLst/>
              <a:gdLst>
                <a:gd name="T0" fmla="*/ 199 w 892"/>
                <a:gd name="T1" fmla="*/ 233 h 726"/>
                <a:gd name="T2" fmla="*/ 232 w 892"/>
                <a:gd name="T3" fmla="*/ 192 h 726"/>
                <a:gd name="T4" fmla="*/ 265 w 892"/>
                <a:gd name="T5" fmla="*/ 150 h 726"/>
                <a:gd name="T6" fmla="*/ 303 w 892"/>
                <a:gd name="T7" fmla="*/ 95 h 726"/>
                <a:gd name="T8" fmla="*/ 338 w 892"/>
                <a:gd name="T9" fmla="*/ 44 h 726"/>
                <a:gd name="T10" fmla="*/ 379 w 892"/>
                <a:gd name="T11" fmla="*/ 7 h 726"/>
                <a:gd name="T12" fmla="*/ 403 w 892"/>
                <a:gd name="T13" fmla="*/ 0 h 726"/>
                <a:gd name="T14" fmla="*/ 482 w 892"/>
                <a:gd name="T15" fmla="*/ 29 h 726"/>
                <a:gd name="T16" fmla="*/ 555 w 892"/>
                <a:gd name="T17" fmla="*/ 55 h 726"/>
                <a:gd name="T18" fmla="*/ 624 w 892"/>
                <a:gd name="T19" fmla="*/ 82 h 726"/>
                <a:gd name="T20" fmla="*/ 673 w 892"/>
                <a:gd name="T21" fmla="*/ 99 h 726"/>
                <a:gd name="T22" fmla="*/ 721 w 892"/>
                <a:gd name="T23" fmla="*/ 112 h 726"/>
                <a:gd name="T24" fmla="*/ 770 w 892"/>
                <a:gd name="T25" fmla="*/ 122 h 726"/>
                <a:gd name="T26" fmla="*/ 819 w 892"/>
                <a:gd name="T27" fmla="*/ 132 h 726"/>
                <a:gd name="T28" fmla="*/ 873 w 892"/>
                <a:gd name="T29" fmla="*/ 145 h 726"/>
                <a:gd name="T30" fmla="*/ 892 w 892"/>
                <a:gd name="T31" fmla="*/ 179 h 726"/>
                <a:gd name="T32" fmla="*/ 874 w 892"/>
                <a:gd name="T33" fmla="*/ 207 h 726"/>
                <a:gd name="T34" fmla="*/ 860 w 892"/>
                <a:gd name="T35" fmla="*/ 228 h 726"/>
                <a:gd name="T36" fmla="*/ 843 w 892"/>
                <a:gd name="T37" fmla="*/ 250 h 726"/>
                <a:gd name="T38" fmla="*/ 799 w 892"/>
                <a:gd name="T39" fmla="*/ 310 h 726"/>
                <a:gd name="T40" fmla="*/ 755 w 892"/>
                <a:gd name="T41" fmla="*/ 367 h 726"/>
                <a:gd name="T42" fmla="*/ 729 w 892"/>
                <a:gd name="T43" fmla="*/ 372 h 726"/>
                <a:gd name="T44" fmla="*/ 687 w 892"/>
                <a:gd name="T45" fmla="*/ 359 h 726"/>
                <a:gd name="T46" fmla="*/ 645 w 892"/>
                <a:gd name="T47" fmla="*/ 356 h 726"/>
                <a:gd name="T48" fmla="*/ 610 w 892"/>
                <a:gd name="T49" fmla="*/ 363 h 726"/>
                <a:gd name="T50" fmla="*/ 586 w 892"/>
                <a:gd name="T51" fmla="*/ 384 h 726"/>
                <a:gd name="T52" fmla="*/ 577 w 892"/>
                <a:gd name="T53" fmla="*/ 411 h 726"/>
                <a:gd name="T54" fmla="*/ 598 w 892"/>
                <a:gd name="T55" fmla="*/ 451 h 726"/>
                <a:gd name="T56" fmla="*/ 646 w 892"/>
                <a:gd name="T57" fmla="*/ 469 h 726"/>
                <a:gd name="T58" fmla="*/ 674 w 892"/>
                <a:gd name="T59" fmla="*/ 487 h 726"/>
                <a:gd name="T60" fmla="*/ 619 w 892"/>
                <a:gd name="T61" fmla="*/ 573 h 726"/>
                <a:gd name="T62" fmla="*/ 533 w 892"/>
                <a:gd name="T63" fmla="*/ 687 h 726"/>
                <a:gd name="T64" fmla="*/ 492 w 892"/>
                <a:gd name="T65" fmla="*/ 723 h 726"/>
                <a:gd name="T66" fmla="*/ 466 w 892"/>
                <a:gd name="T67" fmla="*/ 726 h 726"/>
                <a:gd name="T68" fmla="*/ 443 w 892"/>
                <a:gd name="T69" fmla="*/ 723 h 726"/>
                <a:gd name="T70" fmla="*/ 370 w 892"/>
                <a:gd name="T71" fmla="*/ 702 h 726"/>
                <a:gd name="T72" fmla="*/ 304 w 892"/>
                <a:gd name="T73" fmla="*/ 678 h 726"/>
                <a:gd name="T74" fmla="*/ 268 w 892"/>
                <a:gd name="T75" fmla="*/ 663 h 726"/>
                <a:gd name="T76" fmla="*/ 216 w 892"/>
                <a:gd name="T77" fmla="*/ 645 h 726"/>
                <a:gd name="T78" fmla="*/ 163 w 892"/>
                <a:gd name="T79" fmla="*/ 626 h 726"/>
                <a:gd name="T80" fmla="*/ 111 w 892"/>
                <a:gd name="T81" fmla="*/ 608 h 726"/>
                <a:gd name="T82" fmla="*/ 58 w 892"/>
                <a:gd name="T83" fmla="*/ 588 h 726"/>
                <a:gd name="T84" fmla="*/ 7 w 892"/>
                <a:gd name="T85" fmla="*/ 568 h 726"/>
                <a:gd name="T86" fmla="*/ 1 w 892"/>
                <a:gd name="T87" fmla="*/ 560 h 726"/>
                <a:gd name="T88" fmla="*/ 44 w 892"/>
                <a:gd name="T89" fmla="*/ 483 h 726"/>
                <a:gd name="T90" fmla="*/ 115 w 892"/>
                <a:gd name="T91" fmla="*/ 376 h 726"/>
                <a:gd name="T92" fmla="*/ 181 w 892"/>
                <a:gd name="T93" fmla="*/ 263 h 72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92"/>
                <a:gd name="T142" fmla="*/ 0 h 726"/>
                <a:gd name="T143" fmla="*/ 892 w 892"/>
                <a:gd name="T144" fmla="*/ 726 h 72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92" h="726">
                  <a:moveTo>
                    <a:pt x="181" y="263"/>
                  </a:moveTo>
                  <a:lnTo>
                    <a:pt x="189" y="248"/>
                  </a:lnTo>
                  <a:lnTo>
                    <a:pt x="199" y="233"/>
                  </a:lnTo>
                  <a:lnTo>
                    <a:pt x="210" y="219"/>
                  </a:lnTo>
                  <a:lnTo>
                    <a:pt x="220" y="205"/>
                  </a:lnTo>
                  <a:lnTo>
                    <a:pt x="232" y="192"/>
                  </a:lnTo>
                  <a:lnTo>
                    <a:pt x="242" y="178"/>
                  </a:lnTo>
                  <a:lnTo>
                    <a:pt x="254" y="165"/>
                  </a:lnTo>
                  <a:lnTo>
                    <a:pt x="265" y="150"/>
                  </a:lnTo>
                  <a:lnTo>
                    <a:pt x="280" y="132"/>
                  </a:lnTo>
                  <a:lnTo>
                    <a:pt x="291" y="113"/>
                  </a:lnTo>
                  <a:lnTo>
                    <a:pt x="303" y="95"/>
                  </a:lnTo>
                  <a:lnTo>
                    <a:pt x="315" y="78"/>
                  </a:lnTo>
                  <a:lnTo>
                    <a:pt x="325" y="61"/>
                  </a:lnTo>
                  <a:lnTo>
                    <a:pt x="338" y="44"/>
                  </a:lnTo>
                  <a:lnTo>
                    <a:pt x="353" y="27"/>
                  </a:lnTo>
                  <a:lnTo>
                    <a:pt x="370" y="12"/>
                  </a:lnTo>
                  <a:lnTo>
                    <a:pt x="379" y="7"/>
                  </a:lnTo>
                  <a:lnTo>
                    <a:pt x="391" y="3"/>
                  </a:lnTo>
                  <a:lnTo>
                    <a:pt x="399" y="0"/>
                  </a:lnTo>
                  <a:lnTo>
                    <a:pt x="403" y="0"/>
                  </a:lnTo>
                  <a:lnTo>
                    <a:pt x="430" y="11"/>
                  </a:lnTo>
                  <a:lnTo>
                    <a:pt x="456" y="21"/>
                  </a:lnTo>
                  <a:lnTo>
                    <a:pt x="482" y="29"/>
                  </a:lnTo>
                  <a:lnTo>
                    <a:pt x="506" y="38"/>
                  </a:lnTo>
                  <a:lnTo>
                    <a:pt x="531" y="47"/>
                  </a:lnTo>
                  <a:lnTo>
                    <a:pt x="555" y="55"/>
                  </a:lnTo>
                  <a:lnTo>
                    <a:pt x="581" y="65"/>
                  </a:lnTo>
                  <a:lnTo>
                    <a:pt x="607" y="75"/>
                  </a:lnTo>
                  <a:lnTo>
                    <a:pt x="624" y="82"/>
                  </a:lnTo>
                  <a:lnTo>
                    <a:pt x="641" y="88"/>
                  </a:lnTo>
                  <a:lnTo>
                    <a:pt x="656" y="93"/>
                  </a:lnTo>
                  <a:lnTo>
                    <a:pt x="673" y="99"/>
                  </a:lnTo>
                  <a:lnTo>
                    <a:pt x="689" y="104"/>
                  </a:lnTo>
                  <a:lnTo>
                    <a:pt x="706" y="108"/>
                  </a:lnTo>
                  <a:lnTo>
                    <a:pt x="721" y="112"/>
                  </a:lnTo>
                  <a:lnTo>
                    <a:pt x="738" y="115"/>
                  </a:lnTo>
                  <a:lnTo>
                    <a:pt x="753" y="119"/>
                  </a:lnTo>
                  <a:lnTo>
                    <a:pt x="770" y="122"/>
                  </a:lnTo>
                  <a:lnTo>
                    <a:pt x="786" y="126"/>
                  </a:lnTo>
                  <a:lnTo>
                    <a:pt x="803" y="130"/>
                  </a:lnTo>
                  <a:lnTo>
                    <a:pt x="819" y="132"/>
                  </a:lnTo>
                  <a:lnTo>
                    <a:pt x="838" y="136"/>
                  </a:lnTo>
                  <a:lnTo>
                    <a:pt x="854" y="141"/>
                  </a:lnTo>
                  <a:lnTo>
                    <a:pt x="873" y="145"/>
                  </a:lnTo>
                  <a:lnTo>
                    <a:pt x="885" y="153"/>
                  </a:lnTo>
                  <a:lnTo>
                    <a:pt x="892" y="165"/>
                  </a:lnTo>
                  <a:lnTo>
                    <a:pt x="892" y="179"/>
                  </a:lnTo>
                  <a:lnTo>
                    <a:pt x="885" y="192"/>
                  </a:lnTo>
                  <a:lnTo>
                    <a:pt x="879" y="200"/>
                  </a:lnTo>
                  <a:lnTo>
                    <a:pt x="874" y="207"/>
                  </a:lnTo>
                  <a:lnTo>
                    <a:pt x="870" y="214"/>
                  </a:lnTo>
                  <a:lnTo>
                    <a:pt x="865" y="220"/>
                  </a:lnTo>
                  <a:lnTo>
                    <a:pt x="860" y="228"/>
                  </a:lnTo>
                  <a:lnTo>
                    <a:pt x="854" y="235"/>
                  </a:lnTo>
                  <a:lnTo>
                    <a:pt x="849" y="242"/>
                  </a:lnTo>
                  <a:lnTo>
                    <a:pt x="843" y="250"/>
                  </a:lnTo>
                  <a:lnTo>
                    <a:pt x="830" y="267"/>
                  </a:lnTo>
                  <a:lnTo>
                    <a:pt x="814" y="288"/>
                  </a:lnTo>
                  <a:lnTo>
                    <a:pt x="799" y="310"/>
                  </a:lnTo>
                  <a:lnTo>
                    <a:pt x="782" y="331"/>
                  </a:lnTo>
                  <a:lnTo>
                    <a:pt x="768" y="350"/>
                  </a:lnTo>
                  <a:lnTo>
                    <a:pt x="755" y="367"/>
                  </a:lnTo>
                  <a:lnTo>
                    <a:pt x="746" y="377"/>
                  </a:lnTo>
                  <a:lnTo>
                    <a:pt x="742" y="380"/>
                  </a:lnTo>
                  <a:lnTo>
                    <a:pt x="729" y="372"/>
                  </a:lnTo>
                  <a:lnTo>
                    <a:pt x="716" y="367"/>
                  </a:lnTo>
                  <a:lnTo>
                    <a:pt x="702" y="363"/>
                  </a:lnTo>
                  <a:lnTo>
                    <a:pt x="687" y="359"/>
                  </a:lnTo>
                  <a:lnTo>
                    <a:pt x="673" y="358"/>
                  </a:lnTo>
                  <a:lnTo>
                    <a:pt x="659" y="356"/>
                  </a:lnTo>
                  <a:lnTo>
                    <a:pt x="645" y="356"/>
                  </a:lnTo>
                  <a:lnTo>
                    <a:pt x="630" y="358"/>
                  </a:lnTo>
                  <a:lnTo>
                    <a:pt x="620" y="359"/>
                  </a:lnTo>
                  <a:lnTo>
                    <a:pt x="610" y="363"/>
                  </a:lnTo>
                  <a:lnTo>
                    <a:pt x="601" y="368"/>
                  </a:lnTo>
                  <a:lnTo>
                    <a:pt x="593" y="375"/>
                  </a:lnTo>
                  <a:lnTo>
                    <a:pt x="586" y="384"/>
                  </a:lnTo>
                  <a:lnTo>
                    <a:pt x="583" y="391"/>
                  </a:lnTo>
                  <a:lnTo>
                    <a:pt x="579" y="402"/>
                  </a:lnTo>
                  <a:lnTo>
                    <a:pt x="577" y="411"/>
                  </a:lnTo>
                  <a:lnTo>
                    <a:pt x="580" y="428"/>
                  </a:lnTo>
                  <a:lnTo>
                    <a:pt x="586" y="441"/>
                  </a:lnTo>
                  <a:lnTo>
                    <a:pt x="598" y="451"/>
                  </a:lnTo>
                  <a:lnTo>
                    <a:pt x="612" y="459"/>
                  </a:lnTo>
                  <a:lnTo>
                    <a:pt x="629" y="464"/>
                  </a:lnTo>
                  <a:lnTo>
                    <a:pt x="646" y="469"/>
                  </a:lnTo>
                  <a:lnTo>
                    <a:pt x="663" y="474"/>
                  </a:lnTo>
                  <a:lnTo>
                    <a:pt x="677" y="479"/>
                  </a:lnTo>
                  <a:lnTo>
                    <a:pt x="674" y="487"/>
                  </a:lnTo>
                  <a:lnTo>
                    <a:pt x="663" y="508"/>
                  </a:lnTo>
                  <a:lnTo>
                    <a:pt x="643" y="538"/>
                  </a:lnTo>
                  <a:lnTo>
                    <a:pt x="619" y="573"/>
                  </a:lnTo>
                  <a:lnTo>
                    <a:pt x="592" y="612"/>
                  </a:lnTo>
                  <a:lnTo>
                    <a:pt x="562" y="650"/>
                  </a:lnTo>
                  <a:lnTo>
                    <a:pt x="533" y="687"/>
                  </a:lnTo>
                  <a:lnTo>
                    <a:pt x="506" y="718"/>
                  </a:lnTo>
                  <a:lnTo>
                    <a:pt x="498" y="720"/>
                  </a:lnTo>
                  <a:lnTo>
                    <a:pt x="492" y="723"/>
                  </a:lnTo>
                  <a:lnTo>
                    <a:pt x="483" y="724"/>
                  </a:lnTo>
                  <a:lnTo>
                    <a:pt x="475" y="724"/>
                  </a:lnTo>
                  <a:lnTo>
                    <a:pt x="466" y="726"/>
                  </a:lnTo>
                  <a:lnTo>
                    <a:pt x="458" y="724"/>
                  </a:lnTo>
                  <a:lnTo>
                    <a:pt x="451" y="724"/>
                  </a:lnTo>
                  <a:lnTo>
                    <a:pt x="443" y="723"/>
                  </a:lnTo>
                  <a:lnTo>
                    <a:pt x="421" y="718"/>
                  </a:lnTo>
                  <a:lnTo>
                    <a:pt x="396" y="710"/>
                  </a:lnTo>
                  <a:lnTo>
                    <a:pt x="370" y="702"/>
                  </a:lnTo>
                  <a:lnTo>
                    <a:pt x="346" y="693"/>
                  </a:lnTo>
                  <a:lnTo>
                    <a:pt x="324" y="684"/>
                  </a:lnTo>
                  <a:lnTo>
                    <a:pt x="304" y="678"/>
                  </a:lnTo>
                  <a:lnTo>
                    <a:pt x="291" y="672"/>
                  </a:lnTo>
                  <a:lnTo>
                    <a:pt x="286" y="670"/>
                  </a:lnTo>
                  <a:lnTo>
                    <a:pt x="268" y="663"/>
                  </a:lnTo>
                  <a:lnTo>
                    <a:pt x="251" y="657"/>
                  </a:lnTo>
                  <a:lnTo>
                    <a:pt x="233" y="652"/>
                  </a:lnTo>
                  <a:lnTo>
                    <a:pt x="216" y="645"/>
                  </a:lnTo>
                  <a:lnTo>
                    <a:pt x="198" y="639"/>
                  </a:lnTo>
                  <a:lnTo>
                    <a:pt x="181" y="632"/>
                  </a:lnTo>
                  <a:lnTo>
                    <a:pt x="163" y="626"/>
                  </a:lnTo>
                  <a:lnTo>
                    <a:pt x="146" y="621"/>
                  </a:lnTo>
                  <a:lnTo>
                    <a:pt x="128" y="614"/>
                  </a:lnTo>
                  <a:lnTo>
                    <a:pt x="111" y="608"/>
                  </a:lnTo>
                  <a:lnTo>
                    <a:pt x="93" y="601"/>
                  </a:lnTo>
                  <a:lnTo>
                    <a:pt x="76" y="595"/>
                  </a:lnTo>
                  <a:lnTo>
                    <a:pt x="58" y="588"/>
                  </a:lnTo>
                  <a:lnTo>
                    <a:pt x="42" y="582"/>
                  </a:lnTo>
                  <a:lnTo>
                    <a:pt x="23" y="574"/>
                  </a:lnTo>
                  <a:lnTo>
                    <a:pt x="7" y="568"/>
                  </a:lnTo>
                  <a:lnTo>
                    <a:pt x="5" y="565"/>
                  </a:lnTo>
                  <a:lnTo>
                    <a:pt x="3" y="562"/>
                  </a:lnTo>
                  <a:lnTo>
                    <a:pt x="1" y="560"/>
                  </a:lnTo>
                  <a:lnTo>
                    <a:pt x="0" y="557"/>
                  </a:lnTo>
                  <a:lnTo>
                    <a:pt x="21" y="520"/>
                  </a:lnTo>
                  <a:lnTo>
                    <a:pt x="44" y="483"/>
                  </a:lnTo>
                  <a:lnTo>
                    <a:pt x="67" y="447"/>
                  </a:lnTo>
                  <a:lnTo>
                    <a:pt x="92" y="412"/>
                  </a:lnTo>
                  <a:lnTo>
                    <a:pt x="115" y="376"/>
                  </a:lnTo>
                  <a:lnTo>
                    <a:pt x="139" y="338"/>
                  </a:lnTo>
                  <a:lnTo>
                    <a:pt x="161" y="302"/>
                  </a:lnTo>
                  <a:lnTo>
                    <a:pt x="181" y="263"/>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75" name="Freeform 11"/>
            <p:cNvSpPr>
              <a:spLocks/>
            </p:cNvSpPr>
            <p:nvPr/>
          </p:nvSpPr>
          <p:spPr bwMode="auto">
            <a:xfrm>
              <a:off x="1387" y="3070"/>
              <a:ext cx="762" cy="308"/>
            </a:xfrm>
            <a:custGeom>
              <a:avLst/>
              <a:gdLst>
                <a:gd name="T0" fmla="*/ 39 w 762"/>
                <a:gd name="T1" fmla="*/ 99 h 308"/>
                <a:gd name="T2" fmla="*/ 103 w 762"/>
                <a:gd name="T3" fmla="*/ 128 h 308"/>
                <a:gd name="T4" fmla="*/ 164 w 762"/>
                <a:gd name="T5" fmla="*/ 152 h 308"/>
                <a:gd name="T6" fmla="*/ 195 w 762"/>
                <a:gd name="T7" fmla="*/ 164 h 308"/>
                <a:gd name="T8" fmla="*/ 250 w 762"/>
                <a:gd name="T9" fmla="*/ 184 h 308"/>
                <a:gd name="T10" fmla="*/ 316 w 762"/>
                <a:gd name="T11" fmla="*/ 208 h 308"/>
                <a:gd name="T12" fmla="*/ 382 w 762"/>
                <a:gd name="T13" fmla="*/ 230 h 308"/>
                <a:gd name="T14" fmla="*/ 435 w 762"/>
                <a:gd name="T15" fmla="*/ 244 h 308"/>
                <a:gd name="T16" fmla="*/ 467 w 762"/>
                <a:gd name="T17" fmla="*/ 251 h 308"/>
                <a:gd name="T18" fmla="*/ 494 w 762"/>
                <a:gd name="T19" fmla="*/ 256 h 308"/>
                <a:gd name="T20" fmla="*/ 520 w 762"/>
                <a:gd name="T21" fmla="*/ 252 h 308"/>
                <a:gd name="T22" fmla="*/ 569 w 762"/>
                <a:gd name="T23" fmla="*/ 190 h 308"/>
                <a:gd name="T24" fmla="*/ 616 w 762"/>
                <a:gd name="T25" fmla="*/ 121 h 308"/>
                <a:gd name="T26" fmla="*/ 656 w 762"/>
                <a:gd name="T27" fmla="*/ 66 h 308"/>
                <a:gd name="T28" fmla="*/ 689 w 762"/>
                <a:gd name="T29" fmla="*/ 26 h 308"/>
                <a:gd name="T30" fmla="*/ 714 w 762"/>
                <a:gd name="T31" fmla="*/ 0 h 308"/>
                <a:gd name="T32" fmla="*/ 729 w 762"/>
                <a:gd name="T33" fmla="*/ 11 h 308"/>
                <a:gd name="T34" fmla="*/ 747 w 762"/>
                <a:gd name="T35" fmla="*/ 32 h 308"/>
                <a:gd name="T36" fmla="*/ 762 w 762"/>
                <a:gd name="T37" fmla="*/ 50 h 308"/>
                <a:gd name="T38" fmla="*/ 745 w 762"/>
                <a:gd name="T39" fmla="*/ 73 h 308"/>
                <a:gd name="T40" fmla="*/ 726 w 762"/>
                <a:gd name="T41" fmla="*/ 64 h 308"/>
                <a:gd name="T42" fmla="*/ 712 w 762"/>
                <a:gd name="T43" fmla="*/ 54 h 308"/>
                <a:gd name="T44" fmla="*/ 685 w 762"/>
                <a:gd name="T45" fmla="*/ 89 h 308"/>
                <a:gd name="T46" fmla="*/ 656 w 762"/>
                <a:gd name="T47" fmla="*/ 130 h 308"/>
                <a:gd name="T48" fmla="*/ 656 w 762"/>
                <a:gd name="T49" fmla="*/ 140 h 308"/>
                <a:gd name="T50" fmla="*/ 677 w 762"/>
                <a:gd name="T51" fmla="*/ 147 h 308"/>
                <a:gd name="T52" fmla="*/ 701 w 762"/>
                <a:gd name="T53" fmla="*/ 147 h 308"/>
                <a:gd name="T54" fmla="*/ 686 w 762"/>
                <a:gd name="T55" fmla="*/ 169 h 308"/>
                <a:gd name="T56" fmla="*/ 669 w 762"/>
                <a:gd name="T57" fmla="*/ 190 h 308"/>
                <a:gd name="T58" fmla="*/ 652 w 762"/>
                <a:gd name="T59" fmla="*/ 191 h 308"/>
                <a:gd name="T60" fmla="*/ 633 w 762"/>
                <a:gd name="T61" fmla="*/ 154 h 308"/>
                <a:gd name="T62" fmla="*/ 610 w 762"/>
                <a:gd name="T63" fmla="*/ 180 h 308"/>
                <a:gd name="T64" fmla="*/ 572 w 762"/>
                <a:gd name="T65" fmla="*/ 225 h 308"/>
                <a:gd name="T66" fmla="*/ 562 w 762"/>
                <a:gd name="T67" fmla="*/ 243 h 308"/>
                <a:gd name="T68" fmla="*/ 579 w 762"/>
                <a:gd name="T69" fmla="*/ 251 h 308"/>
                <a:gd name="T70" fmla="*/ 602 w 762"/>
                <a:gd name="T71" fmla="*/ 256 h 308"/>
                <a:gd name="T72" fmla="*/ 590 w 762"/>
                <a:gd name="T73" fmla="*/ 276 h 308"/>
                <a:gd name="T74" fmla="*/ 568 w 762"/>
                <a:gd name="T75" fmla="*/ 296 h 308"/>
                <a:gd name="T76" fmla="*/ 558 w 762"/>
                <a:gd name="T77" fmla="*/ 308 h 308"/>
                <a:gd name="T78" fmla="*/ 479 w 762"/>
                <a:gd name="T79" fmla="*/ 294 h 308"/>
                <a:gd name="T80" fmla="*/ 375 w 762"/>
                <a:gd name="T81" fmla="*/ 265 h 308"/>
                <a:gd name="T82" fmla="*/ 264 w 762"/>
                <a:gd name="T83" fmla="*/ 228 h 308"/>
                <a:gd name="T84" fmla="*/ 163 w 762"/>
                <a:gd name="T85" fmla="*/ 189 h 308"/>
                <a:gd name="T86" fmla="*/ 88 w 762"/>
                <a:gd name="T87" fmla="*/ 155 h 308"/>
                <a:gd name="T88" fmla="*/ 57 w 762"/>
                <a:gd name="T89" fmla="*/ 140 h 308"/>
                <a:gd name="T90" fmla="*/ 26 w 762"/>
                <a:gd name="T91" fmla="*/ 128 h 308"/>
                <a:gd name="T92" fmla="*/ 9 w 762"/>
                <a:gd name="T93" fmla="*/ 123 h 308"/>
                <a:gd name="T94" fmla="*/ 2 w 762"/>
                <a:gd name="T95" fmla="*/ 90 h 30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62"/>
                <a:gd name="T145" fmla="*/ 0 h 308"/>
                <a:gd name="T146" fmla="*/ 762 w 762"/>
                <a:gd name="T147" fmla="*/ 308 h 30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62" h="308">
                  <a:moveTo>
                    <a:pt x="0" y="84"/>
                  </a:moveTo>
                  <a:lnTo>
                    <a:pt x="18" y="92"/>
                  </a:lnTo>
                  <a:lnTo>
                    <a:pt x="39" y="99"/>
                  </a:lnTo>
                  <a:lnTo>
                    <a:pt x="61" y="108"/>
                  </a:lnTo>
                  <a:lnTo>
                    <a:pt x="83" y="118"/>
                  </a:lnTo>
                  <a:lnTo>
                    <a:pt x="103" y="128"/>
                  </a:lnTo>
                  <a:lnTo>
                    <a:pt x="125" y="136"/>
                  </a:lnTo>
                  <a:lnTo>
                    <a:pt x="146" y="145"/>
                  </a:lnTo>
                  <a:lnTo>
                    <a:pt x="164" y="152"/>
                  </a:lnTo>
                  <a:lnTo>
                    <a:pt x="171" y="155"/>
                  </a:lnTo>
                  <a:lnTo>
                    <a:pt x="181" y="159"/>
                  </a:lnTo>
                  <a:lnTo>
                    <a:pt x="195" y="164"/>
                  </a:lnTo>
                  <a:lnTo>
                    <a:pt x="211" y="169"/>
                  </a:lnTo>
                  <a:lnTo>
                    <a:pt x="229" y="177"/>
                  </a:lnTo>
                  <a:lnTo>
                    <a:pt x="250" y="184"/>
                  </a:lnTo>
                  <a:lnTo>
                    <a:pt x="272" y="191"/>
                  </a:lnTo>
                  <a:lnTo>
                    <a:pt x="294" y="199"/>
                  </a:lnTo>
                  <a:lnTo>
                    <a:pt x="316" y="208"/>
                  </a:lnTo>
                  <a:lnTo>
                    <a:pt x="339" y="216"/>
                  </a:lnTo>
                  <a:lnTo>
                    <a:pt x="361" y="222"/>
                  </a:lnTo>
                  <a:lnTo>
                    <a:pt x="382" y="230"/>
                  </a:lnTo>
                  <a:lnTo>
                    <a:pt x="401" y="235"/>
                  </a:lnTo>
                  <a:lnTo>
                    <a:pt x="419" y="241"/>
                  </a:lnTo>
                  <a:lnTo>
                    <a:pt x="435" y="244"/>
                  </a:lnTo>
                  <a:lnTo>
                    <a:pt x="448" y="247"/>
                  </a:lnTo>
                  <a:lnTo>
                    <a:pt x="457" y="248"/>
                  </a:lnTo>
                  <a:lnTo>
                    <a:pt x="467" y="251"/>
                  </a:lnTo>
                  <a:lnTo>
                    <a:pt x="476" y="252"/>
                  </a:lnTo>
                  <a:lnTo>
                    <a:pt x="485" y="255"/>
                  </a:lnTo>
                  <a:lnTo>
                    <a:pt x="494" y="256"/>
                  </a:lnTo>
                  <a:lnTo>
                    <a:pt x="503" y="256"/>
                  </a:lnTo>
                  <a:lnTo>
                    <a:pt x="512" y="255"/>
                  </a:lnTo>
                  <a:lnTo>
                    <a:pt x="520" y="252"/>
                  </a:lnTo>
                  <a:lnTo>
                    <a:pt x="537" y="233"/>
                  </a:lnTo>
                  <a:lnTo>
                    <a:pt x="554" y="212"/>
                  </a:lnTo>
                  <a:lnTo>
                    <a:pt x="569" y="190"/>
                  </a:lnTo>
                  <a:lnTo>
                    <a:pt x="585" y="167"/>
                  </a:lnTo>
                  <a:lnTo>
                    <a:pt x="601" y="143"/>
                  </a:lnTo>
                  <a:lnTo>
                    <a:pt x="616" y="121"/>
                  </a:lnTo>
                  <a:lnTo>
                    <a:pt x="632" y="98"/>
                  </a:lnTo>
                  <a:lnTo>
                    <a:pt x="647" y="77"/>
                  </a:lnTo>
                  <a:lnTo>
                    <a:pt x="656" y="66"/>
                  </a:lnTo>
                  <a:lnTo>
                    <a:pt x="667" y="53"/>
                  </a:lnTo>
                  <a:lnTo>
                    <a:pt x="678" y="38"/>
                  </a:lnTo>
                  <a:lnTo>
                    <a:pt x="689" y="26"/>
                  </a:lnTo>
                  <a:lnTo>
                    <a:pt x="699" y="14"/>
                  </a:lnTo>
                  <a:lnTo>
                    <a:pt x="708" y="5"/>
                  </a:lnTo>
                  <a:lnTo>
                    <a:pt x="714" y="0"/>
                  </a:lnTo>
                  <a:lnTo>
                    <a:pt x="718" y="0"/>
                  </a:lnTo>
                  <a:lnTo>
                    <a:pt x="723" y="5"/>
                  </a:lnTo>
                  <a:lnTo>
                    <a:pt x="729" y="11"/>
                  </a:lnTo>
                  <a:lnTo>
                    <a:pt x="735" y="18"/>
                  </a:lnTo>
                  <a:lnTo>
                    <a:pt x="740" y="24"/>
                  </a:lnTo>
                  <a:lnTo>
                    <a:pt x="747" y="32"/>
                  </a:lnTo>
                  <a:lnTo>
                    <a:pt x="752" y="38"/>
                  </a:lnTo>
                  <a:lnTo>
                    <a:pt x="757" y="45"/>
                  </a:lnTo>
                  <a:lnTo>
                    <a:pt x="762" y="50"/>
                  </a:lnTo>
                  <a:lnTo>
                    <a:pt x="756" y="58"/>
                  </a:lnTo>
                  <a:lnTo>
                    <a:pt x="751" y="66"/>
                  </a:lnTo>
                  <a:lnTo>
                    <a:pt x="745" y="73"/>
                  </a:lnTo>
                  <a:lnTo>
                    <a:pt x="740" y="83"/>
                  </a:lnTo>
                  <a:lnTo>
                    <a:pt x="734" y="75"/>
                  </a:lnTo>
                  <a:lnTo>
                    <a:pt x="726" y="64"/>
                  </a:lnTo>
                  <a:lnTo>
                    <a:pt x="718" y="55"/>
                  </a:lnTo>
                  <a:lnTo>
                    <a:pt x="714" y="51"/>
                  </a:lnTo>
                  <a:lnTo>
                    <a:pt x="712" y="54"/>
                  </a:lnTo>
                  <a:lnTo>
                    <a:pt x="705" y="63"/>
                  </a:lnTo>
                  <a:lnTo>
                    <a:pt x="695" y="75"/>
                  </a:lnTo>
                  <a:lnTo>
                    <a:pt x="685" y="89"/>
                  </a:lnTo>
                  <a:lnTo>
                    <a:pt x="673" y="105"/>
                  </a:lnTo>
                  <a:lnTo>
                    <a:pt x="663" y="119"/>
                  </a:lnTo>
                  <a:lnTo>
                    <a:pt x="656" y="130"/>
                  </a:lnTo>
                  <a:lnTo>
                    <a:pt x="652" y="137"/>
                  </a:lnTo>
                  <a:lnTo>
                    <a:pt x="652" y="138"/>
                  </a:lnTo>
                  <a:lnTo>
                    <a:pt x="656" y="140"/>
                  </a:lnTo>
                  <a:lnTo>
                    <a:pt x="661" y="142"/>
                  </a:lnTo>
                  <a:lnTo>
                    <a:pt x="669" y="145"/>
                  </a:lnTo>
                  <a:lnTo>
                    <a:pt x="677" y="147"/>
                  </a:lnTo>
                  <a:lnTo>
                    <a:pt x="686" y="149"/>
                  </a:lnTo>
                  <a:lnTo>
                    <a:pt x="694" y="149"/>
                  </a:lnTo>
                  <a:lnTo>
                    <a:pt x="701" y="147"/>
                  </a:lnTo>
                  <a:lnTo>
                    <a:pt x="696" y="155"/>
                  </a:lnTo>
                  <a:lnTo>
                    <a:pt x="691" y="162"/>
                  </a:lnTo>
                  <a:lnTo>
                    <a:pt x="686" y="169"/>
                  </a:lnTo>
                  <a:lnTo>
                    <a:pt x="681" y="176"/>
                  </a:lnTo>
                  <a:lnTo>
                    <a:pt x="674" y="182"/>
                  </a:lnTo>
                  <a:lnTo>
                    <a:pt x="669" y="190"/>
                  </a:lnTo>
                  <a:lnTo>
                    <a:pt x="663" y="197"/>
                  </a:lnTo>
                  <a:lnTo>
                    <a:pt x="657" y="203"/>
                  </a:lnTo>
                  <a:lnTo>
                    <a:pt x="652" y="191"/>
                  </a:lnTo>
                  <a:lnTo>
                    <a:pt x="645" y="174"/>
                  </a:lnTo>
                  <a:lnTo>
                    <a:pt x="637" y="160"/>
                  </a:lnTo>
                  <a:lnTo>
                    <a:pt x="633" y="154"/>
                  </a:lnTo>
                  <a:lnTo>
                    <a:pt x="629" y="158"/>
                  </a:lnTo>
                  <a:lnTo>
                    <a:pt x="621" y="167"/>
                  </a:lnTo>
                  <a:lnTo>
                    <a:pt x="610" y="180"/>
                  </a:lnTo>
                  <a:lnTo>
                    <a:pt x="597" y="195"/>
                  </a:lnTo>
                  <a:lnTo>
                    <a:pt x="584" y="211"/>
                  </a:lnTo>
                  <a:lnTo>
                    <a:pt x="572" y="225"/>
                  </a:lnTo>
                  <a:lnTo>
                    <a:pt x="564" y="235"/>
                  </a:lnTo>
                  <a:lnTo>
                    <a:pt x="560" y="241"/>
                  </a:lnTo>
                  <a:lnTo>
                    <a:pt x="562" y="243"/>
                  </a:lnTo>
                  <a:lnTo>
                    <a:pt x="564" y="246"/>
                  </a:lnTo>
                  <a:lnTo>
                    <a:pt x="571" y="248"/>
                  </a:lnTo>
                  <a:lnTo>
                    <a:pt x="579" y="251"/>
                  </a:lnTo>
                  <a:lnTo>
                    <a:pt x="586" y="254"/>
                  </a:lnTo>
                  <a:lnTo>
                    <a:pt x="594" y="255"/>
                  </a:lnTo>
                  <a:lnTo>
                    <a:pt x="602" y="256"/>
                  </a:lnTo>
                  <a:lnTo>
                    <a:pt x="607" y="256"/>
                  </a:lnTo>
                  <a:lnTo>
                    <a:pt x="598" y="266"/>
                  </a:lnTo>
                  <a:lnTo>
                    <a:pt x="590" y="276"/>
                  </a:lnTo>
                  <a:lnTo>
                    <a:pt x="582" y="283"/>
                  </a:lnTo>
                  <a:lnTo>
                    <a:pt x="575" y="290"/>
                  </a:lnTo>
                  <a:lnTo>
                    <a:pt x="568" y="296"/>
                  </a:lnTo>
                  <a:lnTo>
                    <a:pt x="563" y="301"/>
                  </a:lnTo>
                  <a:lnTo>
                    <a:pt x="559" y="305"/>
                  </a:lnTo>
                  <a:lnTo>
                    <a:pt x="558" y="308"/>
                  </a:lnTo>
                  <a:lnTo>
                    <a:pt x="536" y="305"/>
                  </a:lnTo>
                  <a:lnTo>
                    <a:pt x="509" y="301"/>
                  </a:lnTo>
                  <a:lnTo>
                    <a:pt x="479" y="294"/>
                  </a:lnTo>
                  <a:lnTo>
                    <a:pt x="446" y="286"/>
                  </a:lnTo>
                  <a:lnTo>
                    <a:pt x="412" y="276"/>
                  </a:lnTo>
                  <a:lnTo>
                    <a:pt x="375" y="265"/>
                  </a:lnTo>
                  <a:lnTo>
                    <a:pt x="338" y="254"/>
                  </a:lnTo>
                  <a:lnTo>
                    <a:pt x="302" y="241"/>
                  </a:lnTo>
                  <a:lnTo>
                    <a:pt x="264" y="228"/>
                  </a:lnTo>
                  <a:lnTo>
                    <a:pt x="228" y="215"/>
                  </a:lnTo>
                  <a:lnTo>
                    <a:pt x="194" y="202"/>
                  </a:lnTo>
                  <a:lnTo>
                    <a:pt x="163" y="189"/>
                  </a:lnTo>
                  <a:lnTo>
                    <a:pt x="133" y="176"/>
                  </a:lnTo>
                  <a:lnTo>
                    <a:pt x="109" y="165"/>
                  </a:lnTo>
                  <a:lnTo>
                    <a:pt x="88" y="155"/>
                  </a:lnTo>
                  <a:lnTo>
                    <a:pt x="71" y="146"/>
                  </a:lnTo>
                  <a:lnTo>
                    <a:pt x="65" y="143"/>
                  </a:lnTo>
                  <a:lnTo>
                    <a:pt x="57" y="140"/>
                  </a:lnTo>
                  <a:lnTo>
                    <a:pt x="47" y="136"/>
                  </a:lnTo>
                  <a:lnTo>
                    <a:pt x="36" y="132"/>
                  </a:lnTo>
                  <a:lnTo>
                    <a:pt x="26" y="128"/>
                  </a:lnTo>
                  <a:lnTo>
                    <a:pt x="17" y="125"/>
                  </a:lnTo>
                  <a:lnTo>
                    <a:pt x="12" y="124"/>
                  </a:lnTo>
                  <a:lnTo>
                    <a:pt x="9" y="123"/>
                  </a:lnTo>
                  <a:lnTo>
                    <a:pt x="8" y="115"/>
                  </a:lnTo>
                  <a:lnTo>
                    <a:pt x="5" y="103"/>
                  </a:lnTo>
                  <a:lnTo>
                    <a:pt x="2" y="90"/>
                  </a:lnTo>
                  <a:lnTo>
                    <a:pt x="0" y="84"/>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76" name="Freeform 12"/>
            <p:cNvSpPr>
              <a:spLocks/>
            </p:cNvSpPr>
            <p:nvPr/>
          </p:nvSpPr>
          <p:spPr bwMode="auto">
            <a:xfrm>
              <a:off x="2050" y="3142"/>
              <a:ext cx="68" cy="64"/>
            </a:xfrm>
            <a:custGeom>
              <a:avLst/>
              <a:gdLst>
                <a:gd name="T0" fmla="*/ 68 w 68"/>
                <a:gd name="T1" fmla="*/ 30 h 64"/>
                <a:gd name="T2" fmla="*/ 68 w 68"/>
                <a:gd name="T3" fmla="*/ 30 h 64"/>
                <a:gd name="T4" fmla="*/ 64 w 68"/>
                <a:gd name="T5" fmla="*/ 39 h 64"/>
                <a:gd name="T6" fmla="*/ 58 w 68"/>
                <a:gd name="T7" fmla="*/ 46 h 64"/>
                <a:gd name="T8" fmla="*/ 51 w 68"/>
                <a:gd name="T9" fmla="*/ 51 h 64"/>
                <a:gd name="T10" fmla="*/ 44 w 68"/>
                <a:gd name="T11" fmla="*/ 56 h 64"/>
                <a:gd name="T12" fmla="*/ 36 w 68"/>
                <a:gd name="T13" fmla="*/ 58 h 64"/>
                <a:gd name="T14" fmla="*/ 27 w 68"/>
                <a:gd name="T15" fmla="*/ 61 h 64"/>
                <a:gd name="T16" fmla="*/ 18 w 68"/>
                <a:gd name="T17" fmla="*/ 62 h 64"/>
                <a:gd name="T18" fmla="*/ 9 w 68"/>
                <a:gd name="T19" fmla="*/ 64 h 64"/>
                <a:gd name="T20" fmla="*/ 0 w 68"/>
                <a:gd name="T21" fmla="*/ 64 h 64"/>
                <a:gd name="T22" fmla="*/ 1 w 68"/>
                <a:gd name="T23" fmla="*/ 61 h 64"/>
                <a:gd name="T24" fmla="*/ 4 w 68"/>
                <a:gd name="T25" fmla="*/ 60 h 64"/>
                <a:gd name="T26" fmla="*/ 5 w 68"/>
                <a:gd name="T27" fmla="*/ 57 h 64"/>
                <a:gd name="T28" fmla="*/ 6 w 68"/>
                <a:gd name="T29" fmla="*/ 56 h 64"/>
                <a:gd name="T30" fmla="*/ 7 w 68"/>
                <a:gd name="T31" fmla="*/ 56 h 64"/>
                <a:gd name="T32" fmla="*/ 7 w 68"/>
                <a:gd name="T33" fmla="*/ 56 h 64"/>
                <a:gd name="T34" fmla="*/ 7 w 68"/>
                <a:gd name="T35" fmla="*/ 56 h 64"/>
                <a:gd name="T36" fmla="*/ 9 w 68"/>
                <a:gd name="T37" fmla="*/ 55 h 64"/>
                <a:gd name="T38" fmla="*/ 14 w 68"/>
                <a:gd name="T39" fmla="*/ 48 h 64"/>
                <a:gd name="T40" fmla="*/ 20 w 68"/>
                <a:gd name="T41" fmla="*/ 43 h 64"/>
                <a:gd name="T42" fmla="*/ 26 w 68"/>
                <a:gd name="T43" fmla="*/ 36 h 64"/>
                <a:gd name="T44" fmla="*/ 32 w 68"/>
                <a:gd name="T45" fmla="*/ 29 h 64"/>
                <a:gd name="T46" fmla="*/ 37 w 68"/>
                <a:gd name="T47" fmla="*/ 22 h 64"/>
                <a:gd name="T48" fmla="*/ 42 w 68"/>
                <a:gd name="T49" fmla="*/ 16 h 64"/>
                <a:gd name="T50" fmla="*/ 46 w 68"/>
                <a:gd name="T51" fmla="*/ 8 h 64"/>
                <a:gd name="T52" fmla="*/ 51 w 68"/>
                <a:gd name="T53" fmla="*/ 0 h 64"/>
                <a:gd name="T54" fmla="*/ 57 w 68"/>
                <a:gd name="T55" fmla="*/ 7 h 64"/>
                <a:gd name="T56" fmla="*/ 60 w 68"/>
                <a:gd name="T57" fmla="*/ 12 h 64"/>
                <a:gd name="T58" fmla="*/ 64 w 68"/>
                <a:gd name="T59" fmla="*/ 18 h 64"/>
                <a:gd name="T60" fmla="*/ 67 w 68"/>
                <a:gd name="T61" fmla="*/ 25 h 64"/>
                <a:gd name="T62" fmla="*/ 68 w 68"/>
                <a:gd name="T63" fmla="*/ 25 h 64"/>
                <a:gd name="T64" fmla="*/ 67 w 68"/>
                <a:gd name="T65" fmla="*/ 26 h 64"/>
                <a:gd name="T66" fmla="*/ 67 w 68"/>
                <a:gd name="T67" fmla="*/ 27 h 64"/>
                <a:gd name="T68" fmla="*/ 67 w 68"/>
                <a:gd name="T69" fmla="*/ 29 h 64"/>
                <a:gd name="T70" fmla="*/ 68 w 68"/>
                <a:gd name="T71" fmla="*/ 30 h 6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
                <a:gd name="T109" fmla="*/ 0 h 64"/>
                <a:gd name="T110" fmla="*/ 68 w 68"/>
                <a:gd name="T111" fmla="*/ 64 h 6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 h="64">
                  <a:moveTo>
                    <a:pt x="68" y="30"/>
                  </a:moveTo>
                  <a:lnTo>
                    <a:pt x="68" y="30"/>
                  </a:lnTo>
                  <a:lnTo>
                    <a:pt x="64" y="39"/>
                  </a:lnTo>
                  <a:lnTo>
                    <a:pt x="58" y="46"/>
                  </a:lnTo>
                  <a:lnTo>
                    <a:pt x="51" y="51"/>
                  </a:lnTo>
                  <a:lnTo>
                    <a:pt x="44" y="56"/>
                  </a:lnTo>
                  <a:lnTo>
                    <a:pt x="36" y="58"/>
                  </a:lnTo>
                  <a:lnTo>
                    <a:pt x="27" y="61"/>
                  </a:lnTo>
                  <a:lnTo>
                    <a:pt x="18" y="62"/>
                  </a:lnTo>
                  <a:lnTo>
                    <a:pt x="9" y="64"/>
                  </a:lnTo>
                  <a:lnTo>
                    <a:pt x="0" y="64"/>
                  </a:lnTo>
                  <a:lnTo>
                    <a:pt x="1" y="61"/>
                  </a:lnTo>
                  <a:lnTo>
                    <a:pt x="4" y="60"/>
                  </a:lnTo>
                  <a:lnTo>
                    <a:pt x="5" y="57"/>
                  </a:lnTo>
                  <a:lnTo>
                    <a:pt x="6" y="56"/>
                  </a:lnTo>
                  <a:lnTo>
                    <a:pt x="7" y="56"/>
                  </a:lnTo>
                  <a:lnTo>
                    <a:pt x="9" y="55"/>
                  </a:lnTo>
                  <a:lnTo>
                    <a:pt x="14" y="48"/>
                  </a:lnTo>
                  <a:lnTo>
                    <a:pt x="20" y="43"/>
                  </a:lnTo>
                  <a:lnTo>
                    <a:pt x="26" y="36"/>
                  </a:lnTo>
                  <a:lnTo>
                    <a:pt x="32" y="29"/>
                  </a:lnTo>
                  <a:lnTo>
                    <a:pt x="37" y="22"/>
                  </a:lnTo>
                  <a:lnTo>
                    <a:pt x="42" y="16"/>
                  </a:lnTo>
                  <a:lnTo>
                    <a:pt x="46" y="8"/>
                  </a:lnTo>
                  <a:lnTo>
                    <a:pt x="51" y="0"/>
                  </a:lnTo>
                  <a:lnTo>
                    <a:pt x="57" y="7"/>
                  </a:lnTo>
                  <a:lnTo>
                    <a:pt x="60" y="12"/>
                  </a:lnTo>
                  <a:lnTo>
                    <a:pt x="64" y="18"/>
                  </a:lnTo>
                  <a:lnTo>
                    <a:pt x="67" y="25"/>
                  </a:lnTo>
                  <a:lnTo>
                    <a:pt x="68" y="25"/>
                  </a:lnTo>
                  <a:lnTo>
                    <a:pt x="67" y="26"/>
                  </a:lnTo>
                  <a:lnTo>
                    <a:pt x="67" y="27"/>
                  </a:lnTo>
                  <a:lnTo>
                    <a:pt x="67" y="29"/>
                  </a:lnTo>
                  <a:lnTo>
                    <a:pt x="68" y="3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77" name="Freeform 13"/>
            <p:cNvSpPr>
              <a:spLocks/>
            </p:cNvSpPr>
            <p:nvPr/>
          </p:nvSpPr>
          <p:spPr bwMode="auto">
            <a:xfrm>
              <a:off x="1973" y="3255"/>
              <a:ext cx="52" cy="49"/>
            </a:xfrm>
            <a:custGeom>
              <a:avLst/>
              <a:gdLst>
                <a:gd name="T0" fmla="*/ 51 w 52"/>
                <a:gd name="T1" fmla="*/ 32 h 49"/>
                <a:gd name="T2" fmla="*/ 47 w 52"/>
                <a:gd name="T3" fmla="*/ 40 h 49"/>
                <a:gd name="T4" fmla="*/ 42 w 52"/>
                <a:gd name="T5" fmla="*/ 45 h 49"/>
                <a:gd name="T6" fmla="*/ 37 w 52"/>
                <a:gd name="T7" fmla="*/ 48 h 49"/>
                <a:gd name="T8" fmla="*/ 30 w 52"/>
                <a:gd name="T9" fmla="*/ 49 h 49"/>
                <a:gd name="T10" fmla="*/ 22 w 52"/>
                <a:gd name="T11" fmla="*/ 49 h 49"/>
                <a:gd name="T12" fmla="*/ 16 w 52"/>
                <a:gd name="T13" fmla="*/ 48 h 49"/>
                <a:gd name="T14" fmla="*/ 8 w 52"/>
                <a:gd name="T15" fmla="*/ 45 h 49"/>
                <a:gd name="T16" fmla="*/ 0 w 52"/>
                <a:gd name="T17" fmla="*/ 43 h 49"/>
                <a:gd name="T18" fmla="*/ 2 w 52"/>
                <a:gd name="T19" fmla="*/ 41 h 49"/>
                <a:gd name="T20" fmla="*/ 5 w 52"/>
                <a:gd name="T21" fmla="*/ 39 h 49"/>
                <a:gd name="T22" fmla="*/ 11 w 52"/>
                <a:gd name="T23" fmla="*/ 34 h 49"/>
                <a:gd name="T24" fmla="*/ 17 w 52"/>
                <a:gd name="T25" fmla="*/ 27 h 49"/>
                <a:gd name="T26" fmla="*/ 24 w 52"/>
                <a:gd name="T27" fmla="*/ 21 h 49"/>
                <a:gd name="T28" fmla="*/ 30 w 52"/>
                <a:gd name="T29" fmla="*/ 14 h 49"/>
                <a:gd name="T30" fmla="*/ 37 w 52"/>
                <a:gd name="T31" fmla="*/ 6 h 49"/>
                <a:gd name="T32" fmla="*/ 42 w 52"/>
                <a:gd name="T33" fmla="*/ 0 h 49"/>
                <a:gd name="T34" fmla="*/ 46 w 52"/>
                <a:gd name="T35" fmla="*/ 9 h 49"/>
                <a:gd name="T36" fmla="*/ 49 w 52"/>
                <a:gd name="T37" fmla="*/ 17 h 49"/>
                <a:gd name="T38" fmla="*/ 52 w 52"/>
                <a:gd name="T39" fmla="*/ 24 h 49"/>
                <a:gd name="T40" fmla="*/ 51 w 52"/>
                <a:gd name="T41" fmla="*/ 32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2"/>
                <a:gd name="T64" fmla="*/ 0 h 49"/>
                <a:gd name="T65" fmla="*/ 52 w 52"/>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2" h="49">
                  <a:moveTo>
                    <a:pt x="51" y="32"/>
                  </a:moveTo>
                  <a:lnTo>
                    <a:pt x="47" y="40"/>
                  </a:lnTo>
                  <a:lnTo>
                    <a:pt x="42" y="45"/>
                  </a:lnTo>
                  <a:lnTo>
                    <a:pt x="37" y="48"/>
                  </a:lnTo>
                  <a:lnTo>
                    <a:pt x="30" y="49"/>
                  </a:lnTo>
                  <a:lnTo>
                    <a:pt x="22" y="49"/>
                  </a:lnTo>
                  <a:lnTo>
                    <a:pt x="16" y="48"/>
                  </a:lnTo>
                  <a:lnTo>
                    <a:pt x="8" y="45"/>
                  </a:lnTo>
                  <a:lnTo>
                    <a:pt x="0" y="43"/>
                  </a:lnTo>
                  <a:lnTo>
                    <a:pt x="2" y="41"/>
                  </a:lnTo>
                  <a:lnTo>
                    <a:pt x="5" y="39"/>
                  </a:lnTo>
                  <a:lnTo>
                    <a:pt x="11" y="34"/>
                  </a:lnTo>
                  <a:lnTo>
                    <a:pt x="17" y="27"/>
                  </a:lnTo>
                  <a:lnTo>
                    <a:pt x="24" y="21"/>
                  </a:lnTo>
                  <a:lnTo>
                    <a:pt x="30" y="14"/>
                  </a:lnTo>
                  <a:lnTo>
                    <a:pt x="37" y="6"/>
                  </a:lnTo>
                  <a:lnTo>
                    <a:pt x="42" y="0"/>
                  </a:lnTo>
                  <a:lnTo>
                    <a:pt x="46" y="9"/>
                  </a:lnTo>
                  <a:lnTo>
                    <a:pt x="49" y="17"/>
                  </a:lnTo>
                  <a:lnTo>
                    <a:pt x="52" y="24"/>
                  </a:lnTo>
                  <a:lnTo>
                    <a:pt x="51" y="3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78" name="Freeform 14"/>
            <p:cNvSpPr>
              <a:spLocks/>
            </p:cNvSpPr>
            <p:nvPr/>
          </p:nvSpPr>
          <p:spPr bwMode="auto">
            <a:xfrm>
              <a:off x="1400" y="3136"/>
              <a:ext cx="775" cy="285"/>
            </a:xfrm>
            <a:custGeom>
              <a:avLst/>
              <a:gdLst>
                <a:gd name="T0" fmla="*/ 652 w 775"/>
                <a:gd name="T1" fmla="*/ 190 h 285"/>
                <a:gd name="T2" fmla="*/ 630 w 775"/>
                <a:gd name="T3" fmla="*/ 221 h 285"/>
                <a:gd name="T4" fmla="*/ 606 w 775"/>
                <a:gd name="T5" fmla="*/ 251 h 285"/>
                <a:gd name="T6" fmla="*/ 577 w 775"/>
                <a:gd name="T7" fmla="*/ 273 h 285"/>
                <a:gd name="T8" fmla="*/ 542 w 775"/>
                <a:gd name="T9" fmla="*/ 283 h 285"/>
                <a:gd name="T10" fmla="*/ 503 w 775"/>
                <a:gd name="T11" fmla="*/ 285 h 285"/>
                <a:gd name="T12" fmla="*/ 466 w 775"/>
                <a:gd name="T13" fmla="*/ 278 h 285"/>
                <a:gd name="T14" fmla="*/ 428 w 775"/>
                <a:gd name="T15" fmla="*/ 267 h 285"/>
                <a:gd name="T16" fmla="*/ 386 w 775"/>
                <a:gd name="T17" fmla="*/ 251 h 285"/>
                <a:gd name="T18" fmla="*/ 335 w 775"/>
                <a:gd name="T19" fmla="*/ 232 h 285"/>
                <a:gd name="T20" fmla="*/ 286 w 775"/>
                <a:gd name="T21" fmla="*/ 212 h 285"/>
                <a:gd name="T22" fmla="*/ 234 w 775"/>
                <a:gd name="T23" fmla="*/ 193 h 285"/>
                <a:gd name="T24" fmla="*/ 184 w 775"/>
                <a:gd name="T25" fmla="*/ 172 h 285"/>
                <a:gd name="T26" fmla="*/ 133 w 775"/>
                <a:gd name="T27" fmla="*/ 153 h 285"/>
                <a:gd name="T28" fmla="*/ 84 w 775"/>
                <a:gd name="T29" fmla="*/ 132 h 285"/>
                <a:gd name="T30" fmla="*/ 35 w 775"/>
                <a:gd name="T31" fmla="*/ 111 h 285"/>
                <a:gd name="T32" fmla="*/ 9 w 775"/>
                <a:gd name="T33" fmla="*/ 98 h 285"/>
                <a:gd name="T34" fmla="*/ 1 w 775"/>
                <a:gd name="T35" fmla="*/ 84 h 285"/>
                <a:gd name="T36" fmla="*/ 9 w 775"/>
                <a:gd name="T37" fmla="*/ 83 h 285"/>
                <a:gd name="T38" fmla="*/ 31 w 775"/>
                <a:gd name="T39" fmla="*/ 92 h 285"/>
                <a:gd name="T40" fmla="*/ 54 w 775"/>
                <a:gd name="T41" fmla="*/ 101 h 285"/>
                <a:gd name="T42" fmla="*/ 76 w 775"/>
                <a:gd name="T43" fmla="*/ 110 h 285"/>
                <a:gd name="T44" fmla="*/ 111 w 775"/>
                <a:gd name="T45" fmla="*/ 127 h 285"/>
                <a:gd name="T46" fmla="*/ 158 w 775"/>
                <a:gd name="T47" fmla="*/ 146 h 285"/>
                <a:gd name="T48" fmla="*/ 198 w 775"/>
                <a:gd name="T49" fmla="*/ 160 h 285"/>
                <a:gd name="T50" fmla="*/ 232 w 775"/>
                <a:gd name="T51" fmla="*/ 172 h 285"/>
                <a:gd name="T52" fmla="*/ 264 w 775"/>
                <a:gd name="T53" fmla="*/ 184 h 285"/>
                <a:gd name="T54" fmla="*/ 296 w 775"/>
                <a:gd name="T55" fmla="*/ 195 h 285"/>
                <a:gd name="T56" fmla="*/ 329 w 775"/>
                <a:gd name="T57" fmla="*/ 207 h 285"/>
                <a:gd name="T58" fmla="*/ 361 w 775"/>
                <a:gd name="T59" fmla="*/ 219 h 285"/>
                <a:gd name="T60" fmla="*/ 393 w 775"/>
                <a:gd name="T61" fmla="*/ 230 h 285"/>
                <a:gd name="T62" fmla="*/ 426 w 775"/>
                <a:gd name="T63" fmla="*/ 241 h 285"/>
                <a:gd name="T64" fmla="*/ 458 w 775"/>
                <a:gd name="T65" fmla="*/ 251 h 285"/>
                <a:gd name="T66" fmla="*/ 492 w 775"/>
                <a:gd name="T67" fmla="*/ 260 h 285"/>
                <a:gd name="T68" fmla="*/ 514 w 775"/>
                <a:gd name="T69" fmla="*/ 265 h 285"/>
                <a:gd name="T70" fmla="*/ 531 w 775"/>
                <a:gd name="T71" fmla="*/ 267 h 285"/>
                <a:gd name="T72" fmla="*/ 549 w 775"/>
                <a:gd name="T73" fmla="*/ 264 h 285"/>
                <a:gd name="T74" fmla="*/ 573 w 775"/>
                <a:gd name="T75" fmla="*/ 247 h 285"/>
                <a:gd name="T76" fmla="*/ 597 w 775"/>
                <a:gd name="T77" fmla="*/ 220 h 285"/>
                <a:gd name="T78" fmla="*/ 616 w 775"/>
                <a:gd name="T79" fmla="*/ 194 h 285"/>
                <a:gd name="T80" fmla="*/ 629 w 775"/>
                <a:gd name="T81" fmla="*/ 176 h 285"/>
                <a:gd name="T82" fmla="*/ 638 w 775"/>
                <a:gd name="T83" fmla="*/ 167 h 285"/>
                <a:gd name="T84" fmla="*/ 643 w 775"/>
                <a:gd name="T85" fmla="*/ 162 h 285"/>
                <a:gd name="T86" fmla="*/ 659 w 775"/>
                <a:gd name="T87" fmla="*/ 145 h 285"/>
                <a:gd name="T88" fmla="*/ 676 w 775"/>
                <a:gd name="T89" fmla="*/ 125 h 285"/>
                <a:gd name="T90" fmla="*/ 692 w 775"/>
                <a:gd name="T91" fmla="*/ 101 h 285"/>
                <a:gd name="T92" fmla="*/ 707 w 775"/>
                <a:gd name="T93" fmla="*/ 79 h 285"/>
                <a:gd name="T94" fmla="*/ 720 w 775"/>
                <a:gd name="T95" fmla="*/ 66 h 285"/>
                <a:gd name="T96" fmla="*/ 726 w 775"/>
                <a:gd name="T97" fmla="*/ 58 h 285"/>
                <a:gd name="T98" fmla="*/ 734 w 775"/>
                <a:gd name="T99" fmla="*/ 44 h 285"/>
                <a:gd name="T100" fmla="*/ 738 w 775"/>
                <a:gd name="T101" fmla="*/ 36 h 285"/>
                <a:gd name="T102" fmla="*/ 752 w 775"/>
                <a:gd name="T103" fmla="*/ 11 h 285"/>
                <a:gd name="T104" fmla="*/ 762 w 775"/>
                <a:gd name="T105" fmla="*/ 5 h 285"/>
                <a:gd name="T106" fmla="*/ 773 w 775"/>
                <a:gd name="T107" fmla="*/ 17 h 285"/>
                <a:gd name="T108" fmla="*/ 762 w 775"/>
                <a:gd name="T109" fmla="*/ 40 h 285"/>
                <a:gd name="T110" fmla="*/ 735 w 775"/>
                <a:gd name="T111" fmla="*/ 79 h 285"/>
                <a:gd name="T112" fmla="*/ 707 w 775"/>
                <a:gd name="T113" fmla="*/ 118 h 285"/>
                <a:gd name="T114" fmla="*/ 678 w 775"/>
                <a:gd name="T115" fmla="*/ 156 h 28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775"/>
                <a:gd name="T175" fmla="*/ 0 h 285"/>
                <a:gd name="T176" fmla="*/ 775 w 775"/>
                <a:gd name="T177" fmla="*/ 285 h 28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775" h="285">
                  <a:moveTo>
                    <a:pt x="663" y="176"/>
                  </a:moveTo>
                  <a:lnTo>
                    <a:pt x="652" y="190"/>
                  </a:lnTo>
                  <a:lnTo>
                    <a:pt x="641" y="206"/>
                  </a:lnTo>
                  <a:lnTo>
                    <a:pt x="630" y="221"/>
                  </a:lnTo>
                  <a:lnTo>
                    <a:pt x="619" y="237"/>
                  </a:lnTo>
                  <a:lnTo>
                    <a:pt x="606" y="251"/>
                  </a:lnTo>
                  <a:lnTo>
                    <a:pt x="591" y="264"/>
                  </a:lnTo>
                  <a:lnTo>
                    <a:pt x="577" y="273"/>
                  </a:lnTo>
                  <a:lnTo>
                    <a:pt x="560" y="279"/>
                  </a:lnTo>
                  <a:lnTo>
                    <a:pt x="542" y="283"/>
                  </a:lnTo>
                  <a:lnTo>
                    <a:pt x="523" y="285"/>
                  </a:lnTo>
                  <a:lnTo>
                    <a:pt x="503" y="285"/>
                  </a:lnTo>
                  <a:lnTo>
                    <a:pt x="484" y="282"/>
                  </a:lnTo>
                  <a:lnTo>
                    <a:pt x="466" y="278"/>
                  </a:lnTo>
                  <a:lnTo>
                    <a:pt x="446" y="273"/>
                  </a:lnTo>
                  <a:lnTo>
                    <a:pt x="428" y="267"/>
                  </a:lnTo>
                  <a:lnTo>
                    <a:pt x="410" y="260"/>
                  </a:lnTo>
                  <a:lnTo>
                    <a:pt x="386" y="251"/>
                  </a:lnTo>
                  <a:lnTo>
                    <a:pt x="361" y="241"/>
                  </a:lnTo>
                  <a:lnTo>
                    <a:pt x="335" y="232"/>
                  </a:lnTo>
                  <a:lnTo>
                    <a:pt x="311" y="221"/>
                  </a:lnTo>
                  <a:lnTo>
                    <a:pt x="286" y="212"/>
                  </a:lnTo>
                  <a:lnTo>
                    <a:pt x="260" y="202"/>
                  </a:lnTo>
                  <a:lnTo>
                    <a:pt x="234" y="193"/>
                  </a:lnTo>
                  <a:lnTo>
                    <a:pt x="210" y="182"/>
                  </a:lnTo>
                  <a:lnTo>
                    <a:pt x="184" y="172"/>
                  </a:lnTo>
                  <a:lnTo>
                    <a:pt x="159" y="163"/>
                  </a:lnTo>
                  <a:lnTo>
                    <a:pt x="133" y="153"/>
                  </a:lnTo>
                  <a:lnTo>
                    <a:pt x="109" y="142"/>
                  </a:lnTo>
                  <a:lnTo>
                    <a:pt x="84" y="132"/>
                  </a:lnTo>
                  <a:lnTo>
                    <a:pt x="59" y="121"/>
                  </a:lnTo>
                  <a:lnTo>
                    <a:pt x="35" y="111"/>
                  </a:lnTo>
                  <a:lnTo>
                    <a:pt x="10" y="101"/>
                  </a:lnTo>
                  <a:lnTo>
                    <a:pt x="9" y="98"/>
                  </a:lnTo>
                  <a:lnTo>
                    <a:pt x="5" y="92"/>
                  </a:lnTo>
                  <a:lnTo>
                    <a:pt x="1" y="84"/>
                  </a:lnTo>
                  <a:lnTo>
                    <a:pt x="0" y="79"/>
                  </a:lnTo>
                  <a:lnTo>
                    <a:pt x="9" y="83"/>
                  </a:lnTo>
                  <a:lnTo>
                    <a:pt x="19" y="86"/>
                  </a:lnTo>
                  <a:lnTo>
                    <a:pt x="31" y="92"/>
                  </a:lnTo>
                  <a:lnTo>
                    <a:pt x="43" y="96"/>
                  </a:lnTo>
                  <a:lnTo>
                    <a:pt x="54" y="101"/>
                  </a:lnTo>
                  <a:lnTo>
                    <a:pt x="66" y="105"/>
                  </a:lnTo>
                  <a:lnTo>
                    <a:pt x="76" y="110"/>
                  </a:lnTo>
                  <a:lnTo>
                    <a:pt x="85" y="114"/>
                  </a:lnTo>
                  <a:lnTo>
                    <a:pt x="111" y="127"/>
                  </a:lnTo>
                  <a:lnTo>
                    <a:pt x="136" y="137"/>
                  </a:lnTo>
                  <a:lnTo>
                    <a:pt x="158" y="146"/>
                  </a:lnTo>
                  <a:lnTo>
                    <a:pt x="178" y="154"/>
                  </a:lnTo>
                  <a:lnTo>
                    <a:pt x="198" y="160"/>
                  </a:lnTo>
                  <a:lnTo>
                    <a:pt x="215" y="167"/>
                  </a:lnTo>
                  <a:lnTo>
                    <a:pt x="232" y="172"/>
                  </a:lnTo>
                  <a:lnTo>
                    <a:pt x="247" y="177"/>
                  </a:lnTo>
                  <a:lnTo>
                    <a:pt x="264" y="184"/>
                  </a:lnTo>
                  <a:lnTo>
                    <a:pt x="281" y="189"/>
                  </a:lnTo>
                  <a:lnTo>
                    <a:pt x="296" y="195"/>
                  </a:lnTo>
                  <a:lnTo>
                    <a:pt x="313" y="200"/>
                  </a:lnTo>
                  <a:lnTo>
                    <a:pt x="329" y="207"/>
                  </a:lnTo>
                  <a:lnTo>
                    <a:pt x="345" y="213"/>
                  </a:lnTo>
                  <a:lnTo>
                    <a:pt x="361" y="219"/>
                  </a:lnTo>
                  <a:lnTo>
                    <a:pt x="378" y="224"/>
                  </a:lnTo>
                  <a:lnTo>
                    <a:pt x="393" y="230"/>
                  </a:lnTo>
                  <a:lnTo>
                    <a:pt x="410" y="235"/>
                  </a:lnTo>
                  <a:lnTo>
                    <a:pt x="426" y="241"/>
                  </a:lnTo>
                  <a:lnTo>
                    <a:pt x="443" y="246"/>
                  </a:lnTo>
                  <a:lnTo>
                    <a:pt x="458" y="251"/>
                  </a:lnTo>
                  <a:lnTo>
                    <a:pt x="475" y="256"/>
                  </a:lnTo>
                  <a:lnTo>
                    <a:pt x="492" y="260"/>
                  </a:lnTo>
                  <a:lnTo>
                    <a:pt x="509" y="264"/>
                  </a:lnTo>
                  <a:lnTo>
                    <a:pt x="514" y="265"/>
                  </a:lnTo>
                  <a:lnTo>
                    <a:pt x="522" y="267"/>
                  </a:lnTo>
                  <a:lnTo>
                    <a:pt x="531" y="267"/>
                  </a:lnTo>
                  <a:lnTo>
                    <a:pt x="536" y="267"/>
                  </a:lnTo>
                  <a:lnTo>
                    <a:pt x="549" y="264"/>
                  </a:lnTo>
                  <a:lnTo>
                    <a:pt x="560" y="257"/>
                  </a:lnTo>
                  <a:lnTo>
                    <a:pt x="573" y="247"/>
                  </a:lnTo>
                  <a:lnTo>
                    <a:pt x="585" y="234"/>
                  </a:lnTo>
                  <a:lnTo>
                    <a:pt x="597" y="220"/>
                  </a:lnTo>
                  <a:lnTo>
                    <a:pt x="607" y="206"/>
                  </a:lnTo>
                  <a:lnTo>
                    <a:pt x="616" y="194"/>
                  </a:lnTo>
                  <a:lnTo>
                    <a:pt x="622" y="185"/>
                  </a:lnTo>
                  <a:lnTo>
                    <a:pt x="629" y="176"/>
                  </a:lnTo>
                  <a:lnTo>
                    <a:pt x="635" y="171"/>
                  </a:lnTo>
                  <a:lnTo>
                    <a:pt x="638" y="167"/>
                  </a:lnTo>
                  <a:lnTo>
                    <a:pt x="639" y="165"/>
                  </a:lnTo>
                  <a:lnTo>
                    <a:pt x="643" y="162"/>
                  </a:lnTo>
                  <a:lnTo>
                    <a:pt x="651" y="153"/>
                  </a:lnTo>
                  <a:lnTo>
                    <a:pt x="659" y="145"/>
                  </a:lnTo>
                  <a:lnTo>
                    <a:pt x="663" y="141"/>
                  </a:lnTo>
                  <a:lnTo>
                    <a:pt x="676" y="125"/>
                  </a:lnTo>
                  <a:lnTo>
                    <a:pt x="685" y="114"/>
                  </a:lnTo>
                  <a:lnTo>
                    <a:pt x="692" y="101"/>
                  </a:lnTo>
                  <a:lnTo>
                    <a:pt x="700" y="83"/>
                  </a:lnTo>
                  <a:lnTo>
                    <a:pt x="707" y="79"/>
                  </a:lnTo>
                  <a:lnTo>
                    <a:pt x="713" y="72"/>
                  </a:lnTo>
                  <a:lnTo>
                    <a:pt x="720" y="66"/>
                  </a:lnTo>
                  <a:lnTo>
                    <a:pt x="725" y="61"/>
                  </a:lnTo>
                  <a:lnTo>
                    <a:pt x="726" y="58"/>
                  </a:lnTo>
                  <a:lnTo>
                    <a:pt x="730" y="52"/>
                  </a:lnTo>
                  <a:lnTo>
                    <a:pt x="734" y="44"/>
                  </a:lnTo>
                  <a:lnTo>
                    <a:pt x="735" y="40"/>
                  </a:lnTo>
                  <a:lnTo>
                    <a:pt x="738" y="36"/>
                  </a:lnTo>
                  <a:lnTo>
                    <a:pt x="744" y="26"/>
                  </a:lnTo>
                  <a:lnTo>
                    <a:pt x="752" y="11"/>
                  </a:lnTo>
                  <a:lnTo>
                    <a:pt x="758" y="0"/>
                  </a:lnTo>
                  <a:lnTo>
                    <a:pt x="762" y="5"/>
                  </a:lnTo>
                  <a:lnTo>
                    <a:pt x="767" y="11"/>
                  </a:lnTo>
                  <a:lnTo>
                    <a:pt x="773" y="17"/>
                  </a:lnTo>
                  <a:lnTo>
                    <a:pt x="775" y="20"/>
                  </a:lnTo>
                  <a:lnTo>
                    <a:pt x="762" y="40"/>
                  </a:lnTo>
                  <a:lnTo>
                    <a:pt x="749" y="59"/>
                  </a:lnTo>
                  <a:lnTo>
                    <a:pt x="735" y="79"/>
                  </a:lnTo>
                  <a:lnTo>
                    <a:pt x="721" y="98"/>
                  </a:lnTo>
                  <a:lnTo>
                    <a:pt x="707" y="118"/>
                  </a:lnTo>
                  <a:lnTo>
                    <a:pt x="692" y="137"/>
                  </a:lnTo>
                  <a:lnTo>
                    <a:pt x="678" y="156"/>
                  </a:lnTo>
                  <a:lnTo>
                    <a:pt x="663" y="176"/>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79" name="Freeform 15"/>
            <p:cNvSpPr>
              <a:spLocks/>
            </p:cNvSpPr>
            <p:nvPr/>
          </p:nvSpPr>
          <p:spPr bwMode="auto">
            <a:xfrm>
              <a:off x="1991" y="2949"/>
              <a:ext cx="237" cy="188"/>
            </a:xfrm>
            <a:custGeom>
              <a:avLst/>
              <a:gdLst>
                <a:gd name="T0" fmla="*/ 197 w 237"/>
                <a:gd name="T1" fmla="*/ 188 h 188"/>
                <a:gd name="T2" fmla="*/ 191 w 237"/>
                <a:gd name="T3" fmla="*/ 179 h 188"/>
                <a:gd name="T4" fmla="*/ 183 w 237"/>
                <a:gd name="T5" fmla="*/ 170 h 188"/>
                <a:gd name="T6" fmla="*/ 175 w 237"/>
                <a:gd name="T7" fmla="*/ 162 h 188"/>
                <a:gd name="T8" fmla="*/ 167 w 237"/>
                <a:gd name="T9" fmla="*/ 153 h 188"/>
                <a:gd name="T10" fmla="*/ 160 w 237"/>
                <a:gd name="T11" fmla="*/ 145 h 188"/>
                <a:gd name="T12" fmla="*/ 152 w 237"/>
                <a:gd name="T13" fmla="*/ 136 h 188"/>
                <a:gd name="T14" fmla="*/ 144 w 237"/>
                <a:gd name="T15" fmla="*/ 128 h 188"/>
                <a:gd name="T16" fmla="*/ 136 w 237"/>
                <a:gd name="T17" fmla="*/ 119 h 188"/>
                <a:gd name="T18" fmla="*/ 123 w 237"/>
                <a:gd name="T19" fmla="*/ 105 h 188"/>
                <a:gd name="T20" fmla="*/ 110 w 237"/>
                <a:gd name="T21" fmla="*/ 95 h 188"/>
                <a:gd name="T22" fmla="*/ 95 w 237"/>
                <a:gd name="T23" fmla="*/ 86 h 188"/>
                <a:gd name="T24" fmla="*/ 78 w 237"/>
                <a:gd name="T25" fmla="*/ 78 h 188"/>
                <a:gd name="T26" fmla="*/ 61 w 237"/>
                <a:gd name="T27" fmla="*/ 73 h 188"/>
                <a:gd name="T28" fmla="*/ 44 w 237"/>
                <a:gd name="T29" fmla="*/ 66 h 188"/>
                <a:gd name="T30" fmla="*/ 28 w 237"/>
                <a:gd name="T31" fmla="*/ 60 h 188"/>
                <a:gd name="T32" fmla="*/ 11 w 237"/>
                <a:gd name="T33" fmla="*/ 53 h 188"/>
                <a:gd name="T34" fmla="*/ 7 w 237"/>
                <a:gd name="T35" fmla="*/ 51 h 188"/>
                <a:gd name="T36" fmla="*/ 4 w 237"/>
                <a:gd name="T37" fmla="*/ 48 h 188"/>
                <a:gd name="T38" fmla="*/ 2 w 237"/>
                <a:gd name="T39" fmla="*/ 45 h 188"/>
                <a:gd name="T40" fmla="*/ 0 w 237"/>
                <a:gd name="T41" fmla="*/ 42 h 188"/>
                <a:gd name="T42" fmla="*/ 0 w 237"/>
                <a:gd name="T43" fmla="*/ 31 h 188"/>
                <a:gd name="T44" fmla="*/ 4 w 237"/>
                <a:gd name="T45" fmla="*/ 21 h 188"/>
                <a:gd name="T46" fmla="*/ 9 w 237"/>
                <a:gd name="T47" fmla="*/ 13 h 188"/>
                <a:gd name="T48" fmla="*/ 20 w 237"/>
                <a:gd name="T49" fmla="*/ 8 h 188"/>
                <a:gd name="T50" fmla="*/ 33 w 237"/>
                <a:gd name="T51" fmla="*/ 4 h 188"/>
                <a:gd name="T52" fmla="*/ 47 w 237"/>
                <a:gd name="T53" fmla="*/ 1 h 188"/>
                <a:gd name="T54" fmla="*/ 61 w 237"/>
                <a:gd name="T55" fmla="*/ 0 h 188"/>
                <a:gd name="T56" fmla="*/ 75 w 237"/>
                <a:gd name="T57" fmla="*/ 1 h 188"/>
                <a:gd name="T58" fmla="*/ 90 w 237"/>
                <a:gd name="T59" fmla="*/ 4 h 188"/>
                <a:gd name="T60" fmla="*/ 103 w 237"/>
                <a:gd name="T61" fmla="*/ 8 h 188"/>
                <a:gd name="T62" fmla="*/ 116 w 237"/>
                <a:gd name="T63" fmla="*/ 13 h 188"/>
                <a:gd name="T64" fmla="*/ 129 w 237"/>
                <a:gd name="T65" fmla="*/ 20 h 188"/>
                <a:gd name="T66" fmla="*/ 145 w 237"/>
                <a:gd name="T67" fmla="*/ 30 h 188"/>
                <a:gd name="T68" fmla="*/ 161 w 237"/>
                <a:gd name="T69" fmla="*/ 42 h 188"/>
                <a:gd name="T70" fmla="*/ 175 w 237"/>
                <a:gd name="T71" fmla="*/ 53 h 188"/>
                <a:gd name="T72" fmla="*/ 188 w 237"/>
                <a:gd name="T73" fmla="*/ 68 h 188"/>
                <a:gd name="T74" fmla="*/ 201 w 237"/>
                <a:gd name="T75" fmla="*/ 82 h 188"/>
                <a:gd name="T76" fmla="*/ 213 w 237"/>
                <a:gd name="T77" fmla="*/ 97 h 188"/>
                <a:gd name="T78" fmla="*/ 226 w 237"/>
                <a:gd name="T79" fmla="*/ 112 h 188"/>
                <a:gd name="T80" fmla="*/ 237 w 237"/>
                <a:gd name="T81" fmla="*/ 127 h 188"/>
                <a:gd name="T82" fmla="*/ 232 w 237"/>
                <a:gd name="T83" fmla="*/ 135 h 188"/>
                <a:gd name="T84" fmla="*/ 227 w 237"/>
                <a:gd name="T85" fmla="*/ 143 h 188"/>
                <a:gd name="T86" fmla="*/ 222 w 237"/>
                <a:gd name="T87" fmla="*/ 150 h 188"/>
                <a:gd name="T88" fmla="*/ 218 w 237"/>
                <a:gd name="T89" fmla="*/ 158 h 188"/>
                <a:gd name="T90" fmla="*/ 213 w 237"/>
                <a:gd name="T91" fmla="*/ 166 h 188"/>
                <a:gd name="T92" fmla="*/ 208 w 237"/>
                <a:gd name="T93" fmla="*/ 174 h 188"/>
                <a:gd name="T94" fmla="*/ 202 w 237"/>
                <a:gd name="T95" fmla="*/ 180 h 188"/>
                <a:gd name="T96" fmla="*/ 197 w 237"/>
                <a:gd name="T97" fmla="*/ 188 h 1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37"/>
                <a:gd name="T148" fmla="*/ 0 h 188"/>
                <a:gd name="T149" fmla="*/ 237 w 237"/>
                <a:gd name="T150" fmla="*/ 188 h 1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37" h="188">
                  <a:moveTo>
                    <a:pt x="197" y="188"/>
                  </a:moveTo>
                  <a:lnTo>
                    <a:pt x="191" y="179"/>
                  </a:lnTo>
                  <a:lnTo>
                    <a:pt x="183" y="170"/>
                  </a:lnTo>
                  <a:lnTo>
                    <a:pt x="175" y="162"/>
                  </a:lnTo>
                  <a:lnTo>
                    <a:pt x="167" y="153"/>
                  </a:lnTo>
                  <a:lnTo>
                    <a:pt x="160" y="145"/>
                  </a:lnTo>
                  <a:lnTo>
                    <a:pt x="152" y="136"/>
                  </a:lnTo>
                  <a:lnTo>
                    <a:pt x="144" y="128"/>
                  </a:lnTo>
                  <a:lnTo>
                    <a:pt x="136" y="119"/>
                  </a:lnTo>
                  <a:lnTo>
                    <a:pt x="123" y="105"/>
                  </a:lnTo>
                  <a:lnTo>
                    <a:pt x="110" y="95"/>
                  </a:lnTo>
                  <a:lnTo>
                    <a:pt x="95" y="86"/>
                  </a:lnTo>
                  <a:lnTo>
                    <a:pt x="78" y="78"/>
                  </a:lnTo>
                  <a:lnTo>
                    <a:pt x="61" y="73"/>
                  </a:lnTo>
                  <a:lnTo>
                    <a:pt x="44" y="66"/>
                  </a:lnTo>
                  <a:lnTo>
                    <a:pt x="28" y="60"/>
                  </a:lnTo>
                  <a:lnTo>
                    <a:pt x="11" y="53"/>
                  </a:lnTo>
                  <a:lnTo>
                    <a:pt x="7" y="51"/>
                  </a:lnTo>
                  <a:lnTo>
                    <a:pt x="4" y="48"/>
                  </a:lnTo>
                  <a:lnTo>
                    <a:pt x="2" y="45"/>
                  </a:lnTo>
                  <a:lnTo>
                    <a:pt x="0" y="42"/>
                  </a:lnTo>
                  <a:lnTo>
                    <a:pt x="0" y="31"/>
                  </a:lnTo>
                  <a:lnTo>
                    <a:pt x="4" y="21"/>
                  </a:lnTo>
                  <a:lnTo>
                    <a:pt x="9" y="13"/>
                  </a:lnTo>
                  <a:lnTo>
                    <a:pt x="20" y="8"/>
                  </a:lnTo>
                  <a:lnTo>
                    <a:pt x="33" y="4"/>
                  </a:lnTo>
                  <a:lnTo>
                    <a:pt x="47" y="1"/>
                  </a:lnTo>
                  <a:lnTo>
                    <a:pt x="61" y="0"/>
                  </a:lnTo>
                  <a:lnTo>
                    <a:pt x="75" y="1"/>
                  </a:lnTo>
                  <a:lnTo>
                    <a:pt x="90" y="4"/>
                  </a:lnTo>
                  <a:lnTo>
                    <a:pt x="103" y="8"/>
                  </a:lnTo>
                  <a:lnTo>
                    <a:pt x="116" y="13"/>
                  </a:lnTo>
                  <a:lnTo>
                    <a:pt x="129" y="20"/>
                  </a:lnTo>
                  <a:lnTo>
                    <a:pt x="145" y="30"/>
                  </a:lnTo>
                  <a:lnTo>
                    <a:pt x="161" y="42"/>
                  </a:lnTo>
                  <a:lnTo>
                    <a:pt x="175" y="53"/>
                  </a:lnTo>
                  <a:lnTo>
                    <a:pt x="188" y="68"/>
                  </a:lnTo>
                  <a:lnTo>
                    <a:pt x="201" y="82"/>
                  </a:lnTo>
                  <a:lnTo>
                    <a:pt x="213" y="97"/>
                  </a:lnTo>
                  <a:lnTo>
                    <a:pt x="226" y="112"/>
                  </a:lnTo>
                  <a:lnTo>
                    <a:pt x="237" y="127"/>
                  </a:lnTo>
                  <a:lnTo>
                    <a:pt x="232" y="135"/>
                  </a:lnTo>
                  <a:lnTo>
                    <a:pt x="227" y="143"/>
                  </a:lnTo>
                  <a:lnTo>
                    <a:pt x="222" y="150"/>
                  </a:lnTo>
                  <a:lnTo>
                    <a:pt x="218" y="158"/>
                  </a:lnTo>
                  <a:lnTo>
                    <a:pt x="213" y="166"/>
                  </a:lnTo>
                  <a:lnTo>
                    <a:pt x="208" y="174"/>
                  </a:lnTo>
                  <a:lnTo>
                    <a:pt x="202" y="180"/>
                  </a:lnTo>
                  <a:lnTo>
                    <a:pt x="197" y="188"/>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80" name="Freeform 16"/>
            <p:cNvSpPr>
              <a:spLocks/>
            </p:cNvSpPr>
            <p:nvPr/>
          </p:nvSpPr>
          <p:spPr bwMode="auto">
            <a:xfrm>
              <a:off x="2226" y="2783"/>
              <a:ext cx="164" cy="275"/>
            </a:xfrm>
            <a:custGeom>
              <a:avLst/>
              <a:gdLst>
                <a:gd name="T0" fmla="*/ 160 w 164"/>
                <a:gd name="T1" fmla="*/ 91 h 275"/>
                <a:gd name="T2" fmla="*/ 142 w 164"/>
                <a:gd name="T3" fmla="*/ 112 h 275"/>
                <a:gd name="T4" fmla="*/ 125 w 164"/>
                <a:gd name="T5" fmla="*/ 132 h 275"/>
                <a:gd name="T6" fmla="*/ 108 w 164"/>
                <a:gd name="T7" fmla="*/ 155 h 275"/>
                <a:gd name="T8" fmla="*/ 92 w 164"/>
                <a:gd name="T9" fmla="*/ 175 h 275"/>
                <a:gd name="T10" fmla="*/ 75 w 164"/>
                <a:gd name="T11" fmla="*/ 197 h 275"/>
                <a:gd name="T12" fmla="*/ 58 w 164"/>
                <a:gd name="T13" fmla="*/ 218 h 275"/>
                <a:gd name="T14" fmla="*/ 41 w 164"/>
                <a:gd name="T15" fmla="*/ 240 h 275"/>
                <a:gd name="T16" fmla="*/ 23 w 164"/>
                <a:gd name="T17" fmla="*/ 261 h 275"/>
                <a:gd name="T18" fmla="*/ 19 w 164"/>
                <a:gd name="T19" fmla="*/ 266 h 275"/>
                <a:gd name="T20" fmla="*/ 17 w 164"/>
                <a:gd name="T21" fmla="*/ 267 h 275"/>
                <a:gd name="T22" fmla="*/ 14 w 164"/>
                <a:gd name="T23" fmla="*/ 270 h 275"/>
                <a:gd name="T24" fmla="*/ 10 w 164"/>
                <a:gd name="T25" fmla="*/ 275 h 275"/>
                <a:gd name="T26" fmla="*/ 7 w 164"/>
                <a:gd name="T27" fmla="*/ 270 h 275"/>
                <a:gd name="T28" fmla="*/ 4 w 164"/>
                <a:gd name="T29" fmla="*/ 266 h 275"/>
                <a:gd name="T30" fmla="*/ 1 w 164"/>
                <a:gd name="T31" fmla="*/ 262 h 275"/>
                <a:gd name="T32" fmla="*/ 0 w 164"/>
                <a:gd name="T33" fmla="*/ 261 h 275"/>
                <a:gd name="T34" fmla="*/ 5 w 164"/>
                <a:gd name="T35" fmla="*/ 253 h 275"/>
                <a:gd name="T36" fmla="*/ 10 w 164"/>
                <a:gd name="T37" fmla="*/ 248 h 275"/>
                <a:gd name="T38" fmla="*/ 15 w 164"/>
                <a:gd name="T39" fmla="*/ 241 h 275"/>
                <a:gd name="T40" fmla="*/ 22 w 164"/>
                <a:gd name="T41" fmla="*/ 234 h 275"/>
                <a:gd name="T42" fmla="*/ 23 w 164"/>
                <a:gd name="T43" fmla="*/ 232 h 275"/>
                <a:gd name="T44" fmla="*/ 28 w 164"/>
                <a:gd name="T45" fmla="*/ 230 h 275"/>
                <a:gd name="T46" fmla="*/ 33 w 164"/>
                <a:gd name="T47" fmla="*/ 227 h 275"/>
                <a:gd name="T48" fmla="*/ 40 w 164"/>
                <a:gd name="T49" fmla="*/ 222 h 275"/>
                <a:gd name="T50" fmla="*/ 46 w 164"/>
                <a:gd name="T51" fmla="*/ 215 h 275"/>
                <a:gd name="T52" fmla="*/ 50 w 164"/>
                <a:gd name="T53" fmla="*/ 208 h 275"/>
                <a:gd name="T54" fmla="*/ 53 w 164"/>
                <a:gd name="T55" fmla="*/ 199 h 275"/>
                <a:gd name="T56" fmla="*/ 51 w 164"/>
                <a:gd name="T57" fmla="*/ 188 h 275"/>
                <a:gd name="T58" fmla="*/ 55 w 164"/>
                <a:gd name="T59" fmla="*/ 179 h 275"/>
                <a:gd name="T60" fmla="*/ 66 w 164"/>
                <a:gd name="T61" fmla="*/ 165 h 275"/>
                <a:gd name="T62" fmla="*/ 77 w 164"/>
                <a:gd name="T63" fmla="*/ 149 h 275"/>
                <a:gd name="T64" fmla="*/ 88 w 164"/>
                <a:gd name="T65" fmla="*/ 135 h 275"/>
                <a:gd name="T66" fmla="*/ 92 w 164"/>
                <a:gd name="T67" fmla="*/ 132 h 275"/>
                <a:gd name="T68" fmla="*/ 95 w 164"/>
                <a:gd name="T69" fmla="*/ 130 h 275"/>
                <a:gd name="T70" fmla="*/ 99 w 164"/>
                <a:gd name="T71" fmla="*/ 127 h 275"/>
                <a:gd name="T72" fmla="*/ 102 w 164"/>
                <a:gd name="T73" fmla="*/ 125 h 275"/>
                <a:gd name="T74" fmla="*/ 114 w 164"/>
                <a:gd name="T75" fmla="*/ 112 h 275"/>
                <a:gd name="T76" fmla="*/ 120 w 164"/>
                <a:gd name="T77" fmla="*/ 95 h 275"/>
                <a:gd name="T78" fmla="*/ 120 w 164"/>
                <a:gd name="T79" fmla="*/ 79 h 275"/>
                <a:gd name="T80" fmla="*/ 115 w 164"/>
                <a:gd name="T81" fmla="*/ 63 h 275"/>
                <a:gd name="T82" fmla="*/ 110 w 164"/>
                <a:gd name="T83" fmla="*/ 53 h 275"/>
                <a:gd name="T84" fmla="*/ 102 w 164"/>
                <a:gd name="T85" fmla="*/ 35 h 275"/>
                <a:gd name="T86" fmla="*/ 92 w 164"/>
                <a:gd name="T87" fmla="*/ 16 h 275"/>
                <a:gd name="T88" fmla="*/ 83 w 164"/>
                <a:gd name="T89" fmla="*/ 0 h 275"/>
                <a:gd name="T90" fmla="*/ 90 w 164"/>
                <a:gd name="T91" fmla="*/ 4 h 275"/>
                <a:gd name="T92" fmla="*/ 103 w 164"/>
                <a:gd name="T93" fmla="*/ 11 h 275"/>
                <a:gd name="T94" fmla="*/ 119 w 164"/>
                <a:gd name="T95" fmla="*/ 20 h 275"/>
                <a:gd name="T96" fmla="*/ 134 w 164"/>
                <a:gd name="T97" fmla="*/ 31 h 275"/>
                <a:gd name="T98" fmla="*/ 149 w 164"/>
                <a:gd name="T99" fmla="*/ 44 h 275"/>
                <a:gd name="T100" fmla="*/ 159 w 164"/>
                <a:gd name="T101" fmla="*/ 59 h 275"/>
                <a:gd name="T102" fmla="*/ 164 w 164"/>
                <a:gd name="T103" fmla="*/ 74 h 275"/>
                <a:gd name="T104" fmla="*/ 160 w 164"/>
                <a:gd name="T105" fmla="*/ 91 h 27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4"/>
                <a:gd name="T160" fmla="*/ 0 h 275"/>
                <a:gd name="T161" fmla="*/ 164 w 164"/>
                <a:gd name="T162" fmla="*/ 275 h 275"/>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4" h="275">
                  <a:moveTo>
                    <a:pt x="160" y="91"/>
                  </a:moveTo>
                  <a:lnTo>
                    <a:pt x="142" y="112"/>
                  </a:lnTo>
                  <a:lnTo>
                    <a:pt x="125" y="132"/>
                  </a:lnTo>
                  <a:lnTo>
                    <a:pt x="108" y="155"/>
                  </a:lnTo>
                  <a:lnTo>
                    <a:pt x="92" y="175"/>
                  </a:lnTo>
                  <a:lnTo>
                    <a:pt x="75" y="197"/>
                  </a:lnTo>
                  <a:lnTo>
                    <a:pt x="58" y="218"/>
                  </a:lnTo>
                  <a:lnTo>
                    <a:pt x="41" y="240"/>
                  </a:lnTo>
                  <a:lnTo>
                    <a:pt x="23" y="261"/>
                  </a:lnTo>
                  <a:lnTo>
                    <a:pt x="19" y="266"/>
                  </a:lnTo>
                  <a:lnTo>
                    <a:pt x="17" y="267"/>
                  </a:lnTo>
                  <a:lnTo>
                    <a:pt x="14" y="270"/>
                  </a:lnTo>
                  <a:lnTo>
                    <a:pt x="10" y="275"/>
                  </a:lnTo>
                  <a:lnTo>
                    <a:pt x="7" y="270"/>
                  </a:lnTo>
                  <a:lnTo>
                    <a:pt x="4" y="266"/>
                  </a:lnTo>
                  <a:lnTo>
                    <a:pt x="1" y="262"/>
                  </a:lnTo>
                  <a:lnTo>
                    <a:pt x="0" y="261"/>
                  </a:lnTo>
                  <a:lnTo>
                    <a:pt x="5" y="253"/>
                  </a:lnTo>
                  <a:lnTo>
                    <a:pt x="10" y="248"/>
                  </a:lnTo>
                  <a:lnTo>
                    <a:pt x="15" y="241"/>
                  </a:lnTo>
                  <a:lnTo>
                    <a:pt x="22" y="234"/>
                  </a:lnTo>
                  <a:lnTo>
                    <a:pt x="23" y="232"/>
                  </a:lnTo>
                  <a:lnTo>
                    <a:pt x="28" y="230"/>
                  </a:lnTo>
                  <a:lnTo>
                    <a:pt x="33" y="227"/>
                  </a:lnTo>
                  <a:lnTo>
                    <a:pt x="40" y="222"/>
                  </a:lnTo>
                  <a:lnTo>
                    <a:pt x="46" y="215"/>
                  </a:lnTo>
                  <a:lnTo>
                    <a:pt x="50" y="208"/>
                  </a:lnTo>
                  <a:lnTo>
                    <a:pt x="53" y="199"/>
                  </a:lnTo>
                  <a:lnTo>
                    <a:pt x="51" y="188"/>
                  </a:lnTo>
                  <a:lnTo>
                    <a:pt x="55" y="179"/>
                  </a:lnTo>
                  <a:lnTo>
                    <a:pt x="66" y="165"/>
                  </a:lnTo>
                  <a:lnTo>
                    <a:pt x="77" y="149"/>
                  </a:lnTo>
                  <a:lnTo>
                    <a:pt x="88" y="135"/>
                  </a:lnTo>
                  <a:lnTo>
                    <a:pt x="92" y="132"/>
                  </a:lnTo>
                  <a:lnTo>
                    <a:pt x="95" y="130"/>
                  </a:lnTo>
                  <a:lnTo>
                    <a:pt x="99" y="127"/>
                  </a:lnTo>
                  <a:lnTo>
                    <a:pt x="102" y="125"/>
                  </a:lnTo>
                  <a:lnTo>
                    <a:pt x="114" y="112"/>
                  </a:lnTo>
                  <a:lnTo>
                    <a:pt x="120" y="95"/>
                  </a:lnTo>
                  <a:lnTo>
                    <a:pt x="120" y="79"/>
                  </a:lnTo>
                  <a:lnTo>
                    <a:pt x="115" y="63"/>
                  </a:lnTo>
                  <a:lnTo>
                    <a:pt x="110" y="53"/>
                  </a:lnTo>
                  <a:lnTo>
                    <a:pt x="102" y="35"/>
                  </a:lnTo>
                  <a:lnTo>
                    <a:pt x="92" y="16"/>
                  </a:lnTo>
                  <a:lnTo>
                    <a:pt x="83" y="0"/>
                  </a:lnTo>
                  <a:lnTo>
                    <a:pt x="90" y="4"/>
                  </a:lnTo>
                  <a:lnTo>
                    <a:pt x="103" y="11"/>
                  </a:lnTo>
                  <a:lnTo>
                    <a:pt x="119" y="20"/>
                  </a:lnTo>
                  <a:lnTo>
                    <a:pt x="134" y="31"/>
                  </a:lnTo>
                  <a:lnTo>
                    <a:pt x="149" y="44"/>
                  </a:lnTo>
                  <a:lnTo>
                    <a:pt x="159" y="59"/>
                  </a:lnTo>
                  <a:lnTo>
                    <a:pt x="164" y="74"/>
                  </a:lnTo>
                  <a:lnTo>
                    <a:pt x="160" y="91"/>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81" name="Freeform 17"/>
            <p:cNvSpPr>
              <a:spLocks/>
            </p:cNvSpPr>
            <p:nvPr/>
          </p:nvSpPr>
          <p:spPr bwMode="auto">
            <a:xfrm>
              <a:off x="2209" y="2945"/>
              <a:ext cx="57" cy="57"/>
            </a:xfrm>
            <a:custGeom>
              <a:avLst/>
              <a:gdLst>
                <a:gd name="T0" fmla="*/ 0 w 57"/>
                <a:gd name="T1" fmla="*/ 52 h 57"/>
                <a:gd name="T2" fmla="*/ 5 w 57"/>
                <a:gd name="T3" fmla="*/ 44 h 57"/>
                <a:gd name="T4" fmla="*/ 12 w 57"/>
                <a:gd name="T5" fmla="*/ 37 h 57"/>
                <a:gd name="T6" fmla="*/ 18 w 57"/>
                <a:gd name="T7" fmla="*/ 27 h 57"/>
                <a:gd name="T8" fmla="*/ 24 w 57"/>
                <a:gd name="T9" fmla="*/ 20 h 57"/>
                <a:gd name="T10" fmla="*/ 30 w 57"/>
                <a:gd name="T11" fmla="*/ 12 h 57"/>
                <a:gd name="T12" fmla="*/ 35 w 57"/>
                <a:gd name="T13" fmla="*/ 7 h 57"/>
                <a:gd name="T14" fmla="*/ 39 w 57"/>
                <a:gd name="T15" fmla="*/ 2 h 57"/>
                <a:gd name="T16" fmla="*/ 41 w 57"/>
                <a:gd name="T17" fmla="*/ 0 h 57"/>
                <a:gd name="T18" fmla="*/ 46 w 57"/>
                <a:gd name="T19" fmla="*/ 7 h 57"/>
                <a:gd name="T20" fmla="*/ 52 w 57"/>
                <a:gd name="T21" fmla="*/ 16 h 57"/>
                <a:gd name="T22" fmla="*/ 57 w 57"/>
                <a:gd name="T23" fmla="*/ 27 h 57"/>
                <a:gd name="T24" fmla="*/ 57 w 57"/>
                <a:gd name="T25" fmla="*/ 35 h 57"/>
                <a:gd name="T26" fmla="*/ 53 w 57"/>
                <a:gd name="T27" fmla="*/ 43 h 57"/>
                <a:gd name="T28" fmla="*/ 49 w 57"/>
                <a:gd name="T29" fmla="*/ 49 h 57"/>
                <a:gd name="T30" fmla="*/ 43 w 57"/>
                <a:gd name="T31" fmla="*/ 53 h 57"/>
                <a:gd name="T32" fmla="*/ 35 w 57"/>
                <a:gd name="T33" fmla="*/ 56 h 57"/>
                <a:gd name="T34" fmla="*/ 27 w 57"/>
                <a:gd name="T35" fmla="*/ 57 h 57"/>
                <a:gd name="T36" fmla="*/ 18 w 57"/>
                <a:gd name="T37" fmla="*/ 57 h 57"/>
                <a:gd name="T38" fmla="*/ 9 w 57"/>
                <a:gd name="T39" fmla="*/ 55 h 57"/>
                <a:gd name="T40" fmla="*/ 0 w 57"/>
                <a:gd name="T41" fmla="*/ 52 h 5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
                <a:gd name="T64" fmla="*/ 0 h 57"/>
                <a:gd name="T65" fmla="*/ 57 w 57"/>
                <a:gd name="T66" fmla="*/ 57 h 5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 h="57">
                  <a:moveTo>
                    <a:pt x="0" y="52"/>
                  </a:moveTo>
                  <a:lnTo>
                    <a:pt x="5" y="44"/>
                  </a:lnTo>
                  <a:lnTo>
                    <a:pt x="12" y="37"/>
                  </a:lnTo>
                  <a:lnTo>
                    <a:pt x="18" y="27"/>
                  </a:lnTo>
                  <a:lnTo>
                    <a:pt x="24" y="20"/>
                  </a:lnTo>
                  <a:lnTo>
                    <a:pt x="30" y="12"/>
                  </a:lnTo>
                  <a:lnTo>
                    <a:pt x="35" y="7"/>
                  </a:lnTo>
                  <a:lnTo>
                    <a:pt x="39" y="2"/>
                  </a:lnTo>
                  <a:lnTo>
                    <a:pt x="41" y="0"/>
                  </a:lnTo>
                  <a:lnTo>
                    <a:pt x="46" y="7"/>
                  </a:lnTo>
                  <a:lnTo>
                    <a:pt x="52" y="16"/>
                  </a:lnTo>
                  <a:lnTo>
                    <a:pt x="57" y="27"/>
                  </a:lnTo>
                  <a:lnTo>
                    <a:pt x="57" y="35"/>
                  </a:lnTo>
                  <a:lnTo>
                    <a:pt x="53" y="43"/>
                  </a:lnTo>
                  <a:lnTo>
                    <a:pt x="49" y="49"/>
                  </a:lnTo>
                  <a:lnTo>
                    <a:pt x="43" y="53"/>
                  </a:lnTo>
                  <a:lnTo>
                    <a:pt x="35" y="56"/>
                  </a:lnTo>
                  <a:lnTo>
                    <a:pt x="27" y="57"/>
                  </a:lnTo>
                  <a:lnTo>
                    <a:pt x="18" y="57"/>
                  </a:lnTo>
                  <a:lnTo>
                    <a:pt x="9" y="55"/>
                  </a:lnTo>
                  <a:lnTo>
                    <a:pt x="0" y="5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82" name="Freeform 18"/>
            <p:cNvSpPr>
              <a:spLocks/>
            </p:cNvSpPr>
            <p:nvPr/>
          </p:nvSpPr>
          <p:spPr bwMode="auto">
            <a:xfrm>
              <a:off x="2034" y="2963"/>
              <a:ext cx="51" cy="41"/>
            </a:xfrm>
            <a:custGeom>
              <a:avLst/>
              <a:gdLst>
                <a:gd name="T0" fmla="*/ 26 w 51"/>
                <a:gd name="T1" fmla="*/ 0 h 41"/>
                <a:gd name="T2" fmla="*/ 16 w 51"/>
                <a:gd name="T3" fmla="*/ 2 h 41"/>
                <a:gd name="T4" fmla="*/ 8 w 51"/>
                <a:gd name="T5" fmla="*/ 7 h 41"/>
                <a:gd name="T6" fmla="*/ 3 w 51"/>
                <a:gd name="T7" fmla="*/ 13 h 41"/>
                <a:gd name="T8" fmla="*/ 0 w 51"/>
                <a:gd name="T9" fmla="*/ 21 h 41"/>
                <a:gd name="T10" fmla="*/ 3 w 51"/>
                <a:gd name="T11" fmla="*/ 29 h 41"/>
                <a:gd name="T12" fmla="*/ 8 w 51"/>
                <a:gd name="T13" fmla="*/ 34 h 41"/>
                <a:gd name="T14" fmla="*/ 16 w 51"/>
                <a:gd name="T15" fmla="*/ 39 h 41"/>
                <a:gd name="T16" fmla="*/ 26 w 51"/>
                <a:gd name="T17" fmla="*/ 41 h 41"/>
                <a:gd name="T18" fmla="*/ 35 w 51"/>
                <a:gd name="T19" fmla="*/ 39 h 41"/>
                <a:gd name="T20" fmla="*/ 43 w 51"/>
                <a:gd name="T21" fmla="*/ 34 h 41"/>
                <a:gd name="T22" fmla="*/ 48 w 51"/>
                <a:gd name="T23" fmla="*/ 29 h 41"/>
                <a:gd name="T24" fmla="*/ 51 w 51"/>
                <a:gd name="T25" fmla="*/ 21 h 41"/>
                <a:gd name="T26" fmla="*/ 48 w 51"/>
                <a:gd name="T27" fmla="*/ 13 h 41"/>
                <a:gd name="T28" fmla="*/ 43 w 51"/>
                <a:gd name="T29" fmla="*/ 7 h 41"/>
                <a:gd name="T30" fmla="*/ 35 w 51"/>
                <a:gd name="T31" fmla="*/ 2 h 41"/>
                <a:gd name="T32" fmla="*/ 26 w 51"/>
                <a:gd name="T33" fmla="*/ 0 h 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1"/>
                <a:gd name="T52" fmla="*/ 0 h 41"/>
                <a:gd name="T53" fmla="*/ 51 w 51"/>
                <a:gd name="T54" fmla="*/ 41 h 4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1" h="41">
                  <a:moveTo>
                    <a:pt x="26" y="0"/>
                  </a:moveTo>
                  <a:lnTo>
                    <a:pt x="16" y="2"/>
                  </a:lnTo>
                  <a:lnTo>
                    <a:pt x="8" y="7"/>
                  </a:lnTo>
                  <a:lnTo>
                    <a:pt x="3" y="13"/>
                  </a:lnTo>
                  <a:lnTo>
                    <a:pt x="0" y="21"/>
                  </a:lnTo>
                  <a:lnTo>
                    <a:pt x="3" y="29"/>
                  </a:lnTo>
                  <a:lnTo>
                    <a:pt x="8" y="34"/>
                  </a:lnTo>
                  <a:lnTo>
                    <a:pt x="16" y="39"/>
                  </a:lnTo>
                  <a:lnTo>
                    <a:pt x="26" y="41"/>
                  </a:lnTo>
                  <a:lnTo>
                    <a:pt x="35" y="39"/>
                  </a:lnTo>
                  <a:lnTo>
                    <a:pt x="43" y="34"/>
                  </a:lnTo>
                  <a:lnTo>
                    <a:pt x="48" y="29"/>
                  </a:lnTo>
                  <a:lnTo>
                    <a:pt x="51" y="21"/>
                  </a:lnTo>
                  <a:lnTo>
                    <a:pt x="48" y="13"/>
                  </a:lnTo>
                  <a:lnTo>
                    <a:pt x="43" y="7"/>
                  </a:lnTo>
                  <a:lnTo>
                    <a:pt x="35" y="2"/>
                  </a:lnTo>
                  <a:lnTo>
                    <a:pt x="2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4341" name="Group 19"/>
          <p:cNvGrpSpPr>
            <a:grpSpLocks/>
          </p:cNvGrpSpPr>
          <p:nvPr/>
        </p:nvGrpSpPr>
        <p:grpSpPr bwMode="auto">
          <a:xfrm>
            <a:off x="2476500" y="2447925"/>
            <a:ext cx="692150" cy="511175"/>
            <a:chOff x="2083" y="1606"/>
            <a:chExt cx="1489" cy="1097"/>
          </a:xfrm>
        </p:grpSpPr>
        <p:sp>
          <p:nvSpPr>
            <p:cNvPr id="14436" name="Rectangle 20"/>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4437" name="Freeform 21"/>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4438" name="Freeform 22"/>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4439" name="Freeform 23"/>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4440" name="Freeform 24"/>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4441" name="Rectangle 25"/>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4442" name="Rectangle 26"/>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443" name="AutoShape 27"/>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4444" name="Freeform 28"/>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45" name="Freeform 29"/>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46" name="Rectangle 30"/>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447" name="Rectangle 31"/>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448" name="Rectangle 32"/>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4449" name="Group 33"/>
            <p:cNvGrpSpPr>
              <a:grpSpLocks/>
            </p:cNvGrpSpPr>
            <p:nvPr/>
          </p:nvGrpSpPr>
          <p:grpSpPr bwMode="auto">
            <a:xfrm>
              <a:off x="2221" y="1871"/>
              <a:ext cx="518" cy="782"/>
              <a:chOff x="2400" y="1656"/>
              <a:chExt cx="752" cy="1136"/>
            </a:xfrm>
          </p:grpSpPr>
          <p:sp>
            <p:nvSpPr>
              <p:cNvPr id="14462" name="Freeform 34"/>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63" name="Freeform 35"/>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64" name="Freeform 36"/>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65" name="Freeform 37"/>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66" name="Freeform 38"/>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4467" name="Line 39"/>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468" name="Line 40"/>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4450" name="Group 41"/>
            <p:cNvGrpSpPr>
              <a:grpSpLocks/>
            </p:cNvGrpSpPr>
            <p:nvPr/>
          </p:nvGrpSpPr>
          <p:grpSpPr bwMode="auto">
            <a:xfrm rot="-6511945">
              <a:off x="2834" y="1842"/>
              <a:ext cx="518" cy="783"/>
              <a:chOff x="2400" y="1656"/>
              <a:chExt cx="752" cy="1136"/>
            </a:xfrm>
          </p:grpSpPr>
          <p:sp>
            <p:nvSpPr>
              <p:cNvPr id="14455" name="Freeform 42"/>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56" name="Freeform 43"/>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57" name="Freeform 44"/>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58" name="Freeform 45"/>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59" name="Freeform 46"/>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60" name="Line 47"/>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461" name="Line 48"/>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4451" name="Freeform 49"/>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4452" name="Freeform 50"/>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53" name="Rectangle 51"/>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454" name="Rectangle 52"/>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4342" name="AutoShape 53"/>
          <p:cNvSpPr>
            <a:spLocks noChangeArrowheads="1"/>
          </p:cNvSpPr>
          <p:nvPr/>
        </p:nvSpPr>
        <p:spPr bwMode="auto">
          <a:xfrm>
            <a:off x="2913063" y="2657475"/>
            <a:ext cx="984250" cy="98425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14343" name="Line 54"/>
          <p:cNvSpPr>
            <a:spLocks noChangeShapeType="1"/>
          </p:cNvSpPr>
          <p:nvPr/>
        </p:nvSpPr>
        <p:spPr bwMode="auto">
          <a:xfrm flipH="1">
            <a:off x="2638425" y="3095625"/>
            <a:ext cx="2809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44" name="Line 55"/>
          <p:cNvSpPr>
            <a:spLocks noChangeShapeType="1"/>
          </p:cNvSpPr>
          <p:nvPr/>
        </p:nvSpPr>
        <p:spPr bwMode="auto">
          <a:xfrm flipV="1">
            <a:off x="2638425" y="2832100"/>
            <a:ext cx="0" cy="26352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4345" name="Group 56"/>
          <p:cNvGrpSpPr>
            <a:grpSpLocks/>
          </p:cNvGrpSpPr>
          <p:nvPr/>
        </p:nvGrpSpPr>
        <p:grpSpPr bwMode="auto">
          <a:xfrm>
            <a:off x="2471738" y="3832225"/>
            <a:ext cx="692150" cy="511175"/>
            <a:chOff x="2083" y="1606"/>
            <a:chExt cx="1489" cy="1097"/>
          </a:xfrm>
        </p:grpSpPr>
        <p:sp>
          <p:nvSpPr>
            <p:cNvPr id="14403" name="Rectangle 57"/>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4404" name="Freeform 58"/>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4405" name="Freeform 59"/>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4406" name="Freeform 60"/>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4407" name="Freeform 61"/>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4408" name="Rectangle 62"/>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4409" name="Rectangle 63"/>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410" name="AutoShape 64"/>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4411" name="Freeform 65"/>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12" name="Freeform 66"/>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13" name="Rectangle 67"/>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414" name="Rectangle 68"/>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415" name="Rectangle 69"/>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4416" name="Group 70"/>
            <p:cNvGrpSpPr>
              <a:grpSpLocks/>
            </p:cNvGrpSpPr>
            <p:nvPr/>
          </p:nvGrpSpPr>
          <p:grpSpPr bwMode="auto">
            <a:xfrm>
              <a:off x="2221" y="1871"/>
              <a:ext cx="518" cy="782"/>
              <a:chOff x="2400" y="1656"/>
              <a:chExt cx="752" cy="1136"/>
            </a:xfrm>
          </p:grpSpPr>
          <p:sp>
            <p:nvSpPr>
              <p:cNvPr id="14429" name="Freeform 7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30" name="Freeform 7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31" name="Freeform 7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32" name="Freeform 7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33" name="Freeform 7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4434" name="Line 7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435" name="Line 7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4417" name="Group 78"/>
            <p:cNvGrpSpPr>
              <a:grpSpLocks/>
            </p:cNvGrpSpPr>
            <p:nvPr/>
          </p:nvGrpSpPr>
          <p:grpSpPr bwMode="auto">
            <a:xfrm rot="-6511945">
              <a:off x="2834" y="1842"/>
              <a:ext cx="518" cy="783"/>
              <a:chOff x="2400" y="1656"/>
              <a:chExt cx="752" cy="1136"/>
            </a:xfrm>
          </p:grpSpPr>
          <p:sp>
            <p:nvSpPr>
              <p:cNvPr id="14422" name="Freeform 7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23" name="Freeform 8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24" name="Freeform 8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25" name="Freeform 8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26" name="Freeform 8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27" name="Line 8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428" name="Line 8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4418" name="Freeform 86"/>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4419" name="Freeform 87"/>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20" name="Rectangle 88"/>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421" name="Rectangle 89"/>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4346" name="AutoShape 90"/>
          <p:cNvSpPr>
            <a:spLocks noChangeArrowheads="1"/>
          </p:cNvSpPr>
          <p:nvPr/>
        </p:nvSpPr>
        <p:spPr bwMode="auto">
          <a:xfrm>
            <a:off x="2908300" y="4041775"/>
            <a:ext cx="984250" cy="98425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14347" name="Line 91"/>
          <p:cNvSpPr>
            <a:spLocks noChangeShapeType="1"/>
          </p:cNvSpPr>
          <p:nvPr/>
        </p:nvSpPr>
        <p:spPr bwMode="auto">
          <a:xfrm flipH="1">
            <a:off x="2633663" y="4479925"/>
            <a:ext cx="28098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48" name="Line 92"/>
          <p:cNvSpPr>
            <a:spLocks noChangeShapeType="1"/>
          </p:cNvSpPr>
          <p:nvPr/>
        </p:nvSpPr>
        <p:spPr bwMode="auto">
          <a:xfrm flipV="1">
            <a:off x="2633663" y="4216400"/>
            <a:ext cx="0" cy="26352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4349" name="Group 93"/>
          <p:cNvGrpSpPr>
            <a:grpSpLocks/>
          </p:cNvGrpSpPr>
          <p:nvPr/>
        </p:nvGrpSpPr>
        <p:grpSpPr bwMode="auto">
          <a:xfrm>
            <a:off x="2449513" y="5145088"/>
            <a:ext cx="692150" cy="511175"/>
            <a:chOff x="2083" y="1606"/>
            <a:chExt cx="1489" cy="1097"/>
          </a:xfrm>
        </p:grpSpPr>
        <p:sp>
          <p:nvSpPr>
            <p:cNvPr id="14370" name="Rectangle 94"/>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4371" name="Freeform 95"/>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4372" name="Freeform 96"/>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4373" name="Freeform 97"/>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4374" name="Freeform 98"/>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4375" name="Rectangle 99"/>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4376" name="Rectangle 100"/>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377" name="AutoShape 101"/>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4378" name="Freeform 102"/>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379" name="Freeform 103"/>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380" name="Rectangle 104"/>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381" name="Rectangle 105"/>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382" name="Rectangle 106"/>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4383" name="Group 107"/>
            <p:cNvGrpSpPr>
              <a:grpSpLocks/>
            </p:cNvGrpSpPr>
            <p:nvPr/>
          </p:nvGrpSpPr>
          <p:grpSpPr bwMode="auto">
            <a:xfrm>
              <a:off x="2221" y="1871"/>
              <a:ext cx="518" cy="782"/>
              <a:chOff x="2400" y="1656"/>
              <a:chExt cx="752" cy="1136"/>
            </a:xfrm>
          </p:grpSpPr>
          <p:sp>
            <p:nvSpPr>
              <p:cNvPr id="14396" name="Freeform 10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397" name="Freeform 10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398" name="Freeform 11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399" name="Freeform 11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00" name="Freeform 11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4401" name="Line 11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402" name="Line 11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4384" name="Group 115"/>
            <p:cNvGrpSpPr>
              <a:grpSpLocks/>
            </p:cNvGrpSpPr>
            <p:nvPr/>
          </p:nvGrpSpPr>
          <p:grpSpPr bwMode="auto">
            <a:xfrm rot="-6511945">
              <a:off x="2834" y="1842"/>
              <a:ext cx="518" cy="783"/>
              <a:chOff x="2400" y="1656"/>
              <a:chExt cx="752" cy="1136"/>
            </a:xfrm>
          </p:grpSpPr>
          <p:sp>
            <p:nvSpPr>
              <p:cNvPr id="14389" name="Freeform 11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390" name="Freeform 11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391" name="Freeform 11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392" name="Freeform 11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393" name="Freeform 12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394" name="Line 12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95" name="Line 12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4385" name="Freeform 123"/>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4386" name="Freeform 124"/>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387" name="Rectangle 125"/>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388" name="Rectangle 126"/>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4350" name="AutoShape 127"/>
          <p:cNvSpPr>
            <a:spLocks noChangeArrowheads="1"/>
          </p:cNvSpPr>
          <p:nvPr/>
        </p:nvSpPr>
        <p:spPr bwMode="auto">
          <a:xfrm>
            <a:off x="2886075" y="5354638"/>
            <a:ext cx="984250" cy="98425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14351" name="Line 128"/>
          <p:cNvSpPr>
            <a:spLocks noChangeShapeType="1"/>
          </p:cNvSpPr>
          <p:nvPr/>
        </p:nvSpPr>
        <p:spPr bwMode="auto">
          <a:xfrm flipH="1">
            <a:off x="2611438" y="5792788"/>
            <a:ext cx="28098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52" name="Line 129"/>
          <p:cNvSpPr>
            <a:spLocks noChangeShapeType="1"/>
          </p:cNvSpPr>
          <p:nvPr/>
        </p:nvSpPr>
        <p:spPr bwMode="auto">
          <a:xfrm flipV="1">
            <a:off x="2611438" y="5529263"/>
            <a:ext cx="0" cy="26352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53" name="Text Box 130"/>
          <p:cNvSpPr txBox="1">
            <a:spLocks noChangeArrowheads="1"/>
          </p:cNvSpPr>
          <p:nvPr/>
        </p:nvSpPr>
        <p:spPr bwMode="auto">
          <a:xfrm>
            <a:off x="492125" y="2411413"/>
            <a:ext cx="19002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r" eaLnBrk="1" hangingPunct="1"/>
            <a:r>
              <a:rPr lang="en-US" sz="1800" b="1" dirty="0"/>
              <a:t>Claim</a:t>
            </a:r>
            <a:br>
              <a:rPr lang="en-US" sz="1800" b="1" dirty="0"/>
            </a:br>
            <a:r>
              <a:rPr lang="en-US" sz="1800" b="1" dirty="0"/>
              <a:t>000-00-002006</a:t>
            </a:r>
          </a:p>
        </p:txBody>
      </p:sp>
      <p:sp>
        <p:nvSpPr>
          <p:cNvPr id="14354" name="Text Box 131"/>
          <p:cNvSpPr txBox="1">
            <a:spLocks noChangeArrowheads="1"/>
          </p:cNvSpPr>
          <p:nvPr/>
        </p:nvSpPr>
        <p:spPr bwMode="auto">
          <a:xfrm>
            <a:off x="492125" y="3813175"/>
            <a:ext cx="19002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r" eaLnBrk="1" hangingPunct="1"/>
            <a:r>
              <a:rPr lang="en-US" sz="1800" b="1" dirty="0"/>
              <a:t>Claim</a:t>
            </a:r>
            <a:br>
              <a:rPr lang="en-US" sz="1800" b="1" dirty="0"/>
            </a:br>
            <a:r>
              <a:rPr lang="en-US" sz="1800" b="1" dirty="0"/>
              <a:t>036-22-934712</a:t>
            </a:r>
          </a:p>
        </p:txBody>
      </p:sp>
      <p:sp>
        <p:nvSpPr>
          <p:cNvPr id="14355" name="Text Box 132"/>
          <p:cNvSpPr txBox="1">
            <a:spLocks noChangeArrowheads="1"/>
          </p:cNvSpPr>
          <p:nvPr/>
        </p:nvSpPr>
        <p:spPr bwMode="auto">
          <a:xfrm>
            <a:off x="492125" y="5202238"/>
            <a:ext cx="19002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r" eaLnBrk="1" hangingPunct="1"/>
            <a:r>
              <a:rPr lang="en-US" sz="1800" b="1" dirty="0"/>
              <a:t>Claim</a:t>
            </a:r>
            <a:br>
              <a:rPr lang="en-US" sz="1800" b="1" dirty="0"/>
            </a:br>
            <a:r>
              <a:rPr lang="en-US" sz="1800" b="1" dirty="0"/>
              <a:t>908-00-230166</a:t>
            </a:r>
          </a:p>
        </p:txBody>
      </p:sp>
      <p:sp>
        <p:nvSpPr>
          <p:cNvPr id="14356" name="Text Box 133"/>
          <p:cNvSpPr txBox="1">
            <a:spLocks noChangeArrowheads="1"/>
          </p:cNvSpPr>
          <p:nvPr/>
        </p:nvSpPr>
        <p:spPr bwMode="auto">
          <a:xfrm>
            <a:off x="868363" y="3162300"/>
            <a:ext cx="22733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1800" b="1"/>
              <a:t>Dr. Matt Sawyer (1)</a:t>
            </a:r>
          </a:p>
        </p:txBody>
      </p:sp>
      <p:sp>
        <p:nvSpPr>
          <p:cNvPr id="14357" name="Text Box 134"/>
          <p:cNvSpPr txBox="1">
            <a:spLocks noChangeArrowheads="1"/>
          </p:cNvSpPr>
          <p:nvPr/>
        </p:nvSpPr>
        <p:spPr bwMode="auto">
          <a:xfrm>
            <a:off x="868363" y="4545013"/>
            <a:ext cx="20605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1800" b="1"/>
              <a:t>Dr. Matt Sawyer (2)</a:t>
            </a:r>
          </a:p>
        </p:txBody>
      </p:sp>
      <p:sp>
        <p:nvSpPr>
          <p:cNvPr id="14358" name="Text Box 135"/>
          <p:cNvSpPr txBox="1">
            <a:spLocks noChangeArrowheads="1"/>
          </p:cNvSpPr>
          <p:nvPr/>
        </p:nvSpPr>
        <p:spPr bwMode="auto">
          <a:xfrm>
            <a:off x="868363" y="5865813"/>
            <a:ext cx="21145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1800" b="1"/>
              <a:t>Dr. Matt Sawyer (3)</a:t>
            </a:r>
          </a:p>
        </p:txBody>
      </p:sp>
      <p:sp>
        <p:nvSpPr>
          <p:cNvPr id="14359" name="Rectangle 136"/>
          <p:cNvSpPr>
            <a:spLocks noChangeArrowheads="1"/>
          </p:cNvSpPr>
          <p:nvPr/>
        </p:nvSpPr>
        <p:spPr bwMode="auto">
          <a:xfrm>
            <a:off x="544513" y="1076325"/>
            <a:ext cx="3517900" cy="5327650"/>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4360" name="Rectangle 137"/>
          <p:cNvSpPr>
            <a:spLocks noChangeArrowheads="1"/>
          </p:cNvSpPr>
          <p:nvPr/>
        </p:nvSpPr>
        <p:spPr bwMode="auto">
          <a:xfrm>
            <a:off x="5351463" y="1104900"/>
            <a:ext cx="3517900" cy="5327650"/>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4361" name="AutoShape 138"/>
          <p:cNvSpPr>
            <a:spLocks noChangeArrowheads="1"/>
          </p:cNvSpPr>
          <p:nvPr/>
        </p:nvSpPr>
        <p:spPr bwMode="auto">
          <a:xfrm>
            <a:off x="5518150" y="3970338"/>
            <a:ext cx="984250" cy="98425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14362" name="Line 139"/>
          <p:cNvSpPr>
            <a:spLocks noChangeShapeType="1"/>
          </p:cNvSpPr>
          <p:nvPr/>
        </p:nvSpPr>
        <p:spPr bwMode="auto">
          <a:xfrm>
            <a:off x="3886200" y="3148013"/>
            <a:ext cx="2139950" cy="0"/>
          </a:xfrm>
          <a:prstGeom prst="line">
            <a:avLst/>
          </a:prstGeom>
          <a:noFill/>
          <a:ln w="28575">
            <a:solidFill>
              <a:srgbClr val="777777"/>
            </a:solidFill>
            <a:round/>
            <a:headEnd type="diamond" w="med" len="me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63" name="Line 140"/>
          <p:cNvSpPr>
            <a:spLocks noChangeShapeType="1"/>
          </p:cNvSpPr>
          <p:nvPr/>
        </p:nvSpPr>
        <p:spPr bwMode="auto">
          <a:xfrm>
            <a:off x="6019800" y="3148013"/>
            <a:ext cx="0" cy="825500"/>
          </a:xfrm>
          <a:prstGeom prst="line">
            <a:avLst/>
          </a:prstGeom>
          <a:noFill/>
          <a:ln w="28575">
            <a:solidFill>
              <a:srgbClr val="777777"/>
            </a:solidFill>
            <a:round/>
            <a:headEnd/>
            <a:tailEnd type="diamond"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64" name="Line 141"/>
          <p:cNvSpPr>
            <a:spLocks noChangeShapeType="1"/>
          </p:cNvSpPr>
          <p:nvPr/>
        </p:nvSpPr>
        <p:spPr bwMode="auto">
          <a:xfrm flipV="1">
            <a:off x="6013450" y="4953000"/>
            <a:ext cx="0" cy="931863"/>
          </a:xfrm>
          <a:prstGeom prst="line">
            <a:avLst/>
          </a:prstGeom>
          <a:noFill/>
          <a:ln w="28575">
            <a:solidFill>
              <a:srgbClr val="777777"/>
            </a:solidFill>
            <a:round/>
            <a:headEnd/>
            <a:tailEnd type="diamond"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65" name="Line 142"/>
          <p:cNvSpPr>
            <a:spLocks noChangeShapeType="1"/>
          </p:cNvSpPr>
          <p:nvPr/>
        </p:nvSpPr>
        <p:spPr bwMode="auto">
          <a:xfrm>
            <a:off x="3863975" y="5886450"/>
            <a:ext cx="2159000" cy="0"/>
          </a:xfrm>
          <a:prstGeom prst="line">
            <a:avLst/>
          </a:prstGeom>
          <a:noFill/>
          <a:ln w="28575">
            <a:solidFill>
              <a:srgbClr val="777777"/>
            </a:solidFill>
            <a:round/>
            <a:headEnd type="diamond" w="med" len="me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66" name="Line 143"/>
          <p:cNvSpPr>
            <a:spLocks noChangeShapeType="1"/>
          </p:cNvSpPr>
          <p:nvPr/>
        </p:nvSpPr>
        <p:spPr bwMode="auto">
          <a:xfrm>
            <a:off x="3886200" y="4554538"/>
            <a:ext cx="1649413" cy="0"/>
          </a:xfrm>
          <a:prstGeom prst="line">
            <a:avLst/>
          </a:prstGeom>
          <a:noFill/>
          <a:ln w="28575">
            <a:solidFill>
              <a:srgbClr val="777777"/>
            </a:solidFill>
            <a:round/>
            <a:headEnd type="diamond" w="med" len="med"/>
            <a:tailEnd type="diamond"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67" name="Text Box 144"/>
          <p:cNvSpPr txBox="1">
            <a:spLocks noChangeArrowheads="1"/>
          </p:cNvSpPr>
          <p:nvPr/>
        </p:nvSpPr>
        <p:spPr bwMode="auto">
          <a:xfrm>
            <a:off x="6562725" y="4349750"/>
            <a:ext cx="24114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1800" b="1" dirty="0"/>
              <a:t>Dr. Matt Sawyer (AB)</a:t>
            </a:r>
          </a:p>
        </p:txBody>
      </p:sp>
      <p:sp>
        <p:nvSpPr>
          <p:cNvPr id="14368" name="Rectangle 146"/>
          <p:cNvSpPr>
            <a:spLocks noChangeArrowheads="1"/>
          </p:cNvSpPr>
          <p:nvPr/>
        </p:nvSpPr>
        <p:spPr bwMode="auto">
          <a:xfrm>
            <a:off x="6070600" y="5302250"/>
            <a:ext cx="2771775" cy="110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285750" indent="-285750" algn="l" eaLnBrk="0" hangingPunct="0">
              <a:spcBef>
                <a:spcPct val="40000"/>
              </a:spcBef>
              <a:spcAft>
                <a:spcPct val="0"/>
              </a:spcAft>
              <a:buClr>
                <a:srgbClr val="0146AD"/>
              </a:buClr>
              <a:buFont typeface="Wingdings 3" pitchFamily="18" charset="2"/>
              <a:buChar char="}"/>
            </a:pPr>
            <a:r>
              <a:rPr lang="en-US" sz="2400"/>
              <a:t>Typically a vendor (or venue)</a:t>
            </a:r>
          </a:p>
        </p:txBody>
      </p:sp>
      <p:pic>
        <p:nvPicPr>
          <p:cNvPr id="14369" name="Picture 17" descr="claimcenter.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11325" y="1155700"/>
            <a:ext cx="1184275" cy="118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0" name="Group 149"/>
          <p:cNvGrpSpPr/>
          <p:nvPr/>
        </p:nvGrpSpPr>
        <p:grpSpPr>
          <a:xfrm>
            <a:off x="7033332" y="2129858"/>
            <a:ext cx="1136650" cy="1066800"/>
            <a:chOff x="6781800" y="1524000"/>
            <a:chExt cx="1136650" cy="1066800"/>
          </a:xfrm>
        </p:grpSpPr>
        <p:pic>
          <p:nvPicPr>
            <p:cNvPr id="151"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2379" y="1524000"/>
              <a:ext cx="994672" cy="993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152" name="Content Placeholder 5"/>
            <p:cNvSpPr txBox="1">
              <a:spLocks/>
            </p:cNvSpPr>
            <p:nvPr/>
          </p:nvSpPr>
          <p:spPr bwMode="auto">
            <a:xfrm>
              <a:off x="6781800" y="2300287"/>
              <a:ext cx="1136650" cy="290513"/>
            </a:xfrm>
            <a:prstGeom prst="rect">
              <a:avLst/>
            </a:prstGeom>
            <a:noFill/>
            <a:ln w="9525">
              <a:noFill/>
              <a:miter lim="800000"/>
              <a:headEnd/>
              <a:tailEnd/>
            </a:ln>
          </p:spPr>
          <p:txBody>
            <a:bodyPr lIns="0" tIns="0" rIns="0" bIns="0"/>
            <a:lstStyle/>
            <a:p>
              <a:pPr marL="457200" indent="-457200" algn="ctr" eaLnBrk="0" hangingPunct="0">
                <a:spcBef>
                  <a:spcPct val="40000"/>
                </a:spcBef>
                <a:buClr>
                  <a:srgbClr val="04628C"/>
                </a:buClr>
                <a:buSzPct val="90000"/>
                <a:buFont typeface="Arial" pitchFamily="34" charset="0"/>
                <a:buNone/>
                <a:defRPr/>
              </a:pPr>
              <a:r>
                <a:rPr lang="en-US" sz="1100" kern="0" dirty="0">
                  <a:solidFill>
                    <a:schemeClr val="tx1"/>
                  </a:solidFill>
                  <a:latin typeface="Arial Narrow" pitchFamily="34" charset="0"/>
                  <a:cs typeface="+mn-cs"/>
                </a:rPr>
                <a:t>ContactManager</a:t>
              </a:r>
            </a:p>
          </p:txBody>
        </p:sp>
      </p:grpSp>
    </p:spTree>
    <p:extLst>
      <p:ext uri="{BB962C8B-B14F-4D97-AF65-F5344CB8AC3E}">
        <p14:creationId xmlns:p14="http://schemas.microsoft.com/office/powerpoint/2010/main" val="3917336773"/>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|EOS~015|</a:t>
            </a:r>
            <a:endParaRPr lang="en-US" sz="100" dirty="0" err="1" smtClean="0">
              <a:solidFill>
                <a:srgbClr val="FFFFFF"/>
              </a:solidFill>
              <a:latin typeface="Arial"/>
              <a:cs typeface="Calibri" pitchFamily="34" charset="0"/>
            </a:endParaRPr>
          </a:p>
        </p:txBody>
      </p:sp>
      <p:sp>
        <p:nvSpPr>
          <p:cNvPr id="16386" name="Rectangle 2"/>
          <p:cNvSpPr>
            <a:spLocks noGrp="1" noChangeArrowheads="1"/>
          </p:cNvSpPr>
          <p:nvPr>
            <p:ph type="title"/>
          </p:nvPr>
        </p:nvSpPr>
        <p:spPr/>
        <p:txBody>
          <a:bodyPr/>
          <a:lstStyle/>
          <a:p>
            <a:pPr eaLnBrk="1" hangingPunct="1"/>
            <a:r>
              <a:rPr lang="en-US" smtClean="0">
                <a:solidFill>
                  <a:srgbClr val="CC00CC"/>
                </a:solidFill>
              </a:rPr>
              <a:t>(Notes only slide)</a:t>
            </a:r>
          </a:p>
        </p:txBody>
      </p:sp>
      <p:sp>
        <p:nvSpPr>
          <p:cNvPr id="16387" name="Rectangle 3"/>
          <p:cNvSpPr>
            <a:spLocks noGrp="1" noChangeArrowheads="1"/>
          </p:cNvSpPr>
          <p:nvPr>
            <p:ph idx="1"/>
          </p:nvPr>
        </p:nvSpPr>
        <p:spPr/>
        <p:txBody>
          <a:bodyPr/>
          <a:lstStyle/>
          <a:p>
            <a:endParaRPr lang="en-US" smtClean="0"/>
          </a:p>
        </p:txBody>
      </p:sp>
    </p:spTree>
    <p:extLst>
      <p:ext uri="{BB962C8B-B14F-4D97-AF65-F5344CB8AC3E}">
        <p14:creationId xmlns:p14="http://schemas.microsoft.com/office/powerpoint/2010/main" val="2685796566"/>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Picture 17" descr="claimcenter.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80239" y="1155700"/>
            <a:ext cx="1184275" cy="118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|EOS~016|</a:t>
            </a:r>
            <a:endParaRPr lang="en-US" sz="100" dirty="0" err="1" smtClean="0">
              <a:solidFill>
                <a:srgbClr val="FFFFFF"/>
              </a:solidFill>
              <a:latin typeface="Arial"/>
              <a:cs typeface="Calibri" pitchFamily="34" charset="0"/>
            </a:endParaRPr>
          </a:p>
        </p:txBody>
      </p:sp>
      <p:sp>
        <p:nvSpPr>
          <p:cNvPr id="17414" name="Rectangle 19"/>
          <p:cNvSpPr>
            <a:spLocks noChangeArrowheads="1"/>
          </p:cNvSpPr>
          <p:nvPr/>
        </p:nvSpPr>
        <p:spPr bwMode="auto">
          <a:xfrm>
            <a:off x="544513" y="1076325"/>
            <a:ext cx="3517900" cy="5327650"/>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76" name="Group 3"/>
          <p:cNvGrpSpPr>
            <a:grpSpLocks/>
          </p:cNvGrpSpPr>
          <p:nvPr/>
        </p:nvGrpSpPr>
        <p:grpSpPr bwMode="auto">
          <a:xfrm>
            <a:off x="226609" y="853639"/>
            <a:ext cx="1062038" cy="987780"/>
            <a:chOff x="3917" y="3057"/>
            <a:chExt cx="809" cy="771"/>
          </a:xfrm>
        </p:grpSpPr>
        <p:sp>
          <p:nvSpPr>
            <p:cNvPr id="77" name="AutoShape 4"/>
            <p:cNvSpPr>
              <a:spLocks noChangeArrowheads="1"/>
            </p:cNvSpPr>
            <p:nvPr/>
          </p:nvSpPr>
          <p:spPr bwMode="auto">
            <a:xfrm>
              <a:off x="3917" y="3066"/>
              <a:ext cx="747" cy="762"/>
            </a:xfrm>
            <a:prstGeom prst="smileyFace">
              <a:avLst>
                <a:gd name="adj" fmla="val 4653"/>
              </a:avLst>
            </a:prstGeom>
            <a:solidFill>
              <a:srgbClr val="FFFF99"/>
            </a:solidFill>
            <a:ln w="12700">
              <a:solidFill>
                <a:srgbClr val="000000"/>
              </a:solidFill>
              <a:round/>
              <a:headEnd/>
              <a:tailEnd/>
            </a:ln>
          </p:spPr>
          <p:txBody>
            <a:bodyPr wrap="none" anchor="ctr"/>
            <a:lstStyle/>
            <a:p>
              <a:pPr algn="ctr">
                <a:spcBef>
                  <a:spcPct val="50000"/>
                </a:spcBef>
                <a:spcAft>
                  <a:spcPct val="30000"/>
                </a:spcAft>
                <a:buClr>
                  <a:schemeClr val="tx1"/>
                </a:buClr>
              </a:pPr>
              <a:endParaRPr lang="en-US"/>
            </a:p>
          </p:txBody>
        </p:sp>
        <p:sp>
          <p:nvSpPr>
            <p:cNvPr id="78" name="Oval 5"/>
            <p:cNvSpPr>
              <a:spLocks noChangeArrowheads="1"/>
            </p:cNvSpPr>
            <p:nvPr/>
          </p:nvSpPr>
          <p:spPr bwMode="auto">
            <a:xfrm>
              <a:off x="4227" y="3706"/>
              <a:ext cx="175" cy="95"/>
            </a:xfrm>
            <a:prstGeom prst="ellipse">
              <a:avLst/>
            </a:prstGeom>
            <a:solidFill>
              <a:srgbClr val="FAD461"/>
            </a:solidFill>
            <a:ln w="28575" algn="ctr">
              <a:solidFill>
                <a:schemeClr val="bg1"/>
              </a:solidFill>
              <a:round/>
              <a:headEnd/>
              <a:tailEnd/>
            </a:ln>
          </p:spPr>
          <p:txBody>
            <a:bodyPr wrap="none" anchor="ctr"/>
            <a:lstStyle/>
            <a:p>
              <a:pPr algn="ctr">
                <a:spcBef>
                  <a:spcPct val="50000"/>
                </a:spcBef>
                <a:spcAft>
                  <a:spcPct val="30000"/>
                </a:spcAft>
                <a:buClr>
                  <a:schemeClr val="tx1"/>
                </a:buClr>
              </a:pPr>
              <a:endParaRPr lang="en-US"/>
            </a:p>
          </p:txBody>
        </p:sp>
        <p:sp>
          <p:nvSpPr>
            <p:cNvPr id="79" name="Freeform 6"/>
            <p:cNvSpPr>
              <a:spLocks/>
            </p:cNvSpPr>
            <p:nvPr/>
          </p:nvSpPr>
          <p:spPr bwMode="auto">
            <a:xfrm>
              <a:off x="4387" y="3376"/>
              <a:ext cx="270" cy="365"/>
            </a:xfrm>
            <a:custGeom>
              <a:avLst/>
              <a:gdLst>
                <a:gd name="T0" fmla="*/ 0 w 162"/>
                <a:gd name="T1" fmla="*/ 2147483647 h 216"/>
                <a:gd name="T2" fmla="*/ 2147483647 w 162"/>
                <a:gd name="T3" fmla="*/ 2147483647 h 216"/>
                <a:gd name="T4" fmla="*/ 2147483647 w 162"/>
                <a:gd name="T5" fmla="*/ 2147483647 h 216"/>
                <a:gd name="T6" fmla="*/ 2147483647 w 162"/>
                <a:gd name="T7" fmla="*/ 0 h 216"/>
                <a:gd name="T8" fmla="*/ 0 60000 65536"/>
                <a:gd name="T9" fmla="*/ 0 60000 65536"/>
                <a:gd name="T10" fmla="*/ 0 60000 65536"/>
                <a:gd name="T11" fmla="*/ 0 60000 65536"/>
                <a:gd name="T12" fmla="*/ 0 w 162"/>
                <a:gd name="T13" fmla="*/ 0 h 216"/>
                <a:gd name="T14" fmla="*/ 162 w 162"/>
                <a:gd name="T15" fmla="*/ 216 h 216"/>
              </a:gdLst>
              <a:ahLst/>
              <a:cxnLst>
                <a:cxn ang="T8">
                  <a:pos x="T0" y="T1"/>
                </a:cxn>
                <a:cxn ang="T9">
                  <a:pos x="T2" y="T3"/>
                </a:cxn>
                <a:cxn ang="T10">
                  <a:pos x="T4" y="T5"/>
                </a:cxn>
                <a:cxn ang="T11">
                  <a:pos x="T6" y="T7"/>
                </a:cxn>
              </a:cxnLst>
              <a:rect l="T12" t="T13" r="T14" b="T15"/>
              <a:pathLst>
                <a:path w="162" h="216">
                  <a:moveTo>
                    <a:pt x="0" y="216"/>
                  </a:moveTo>
                  <a:cubicBezTo>
                    <a:pt x="25" y="210"/>
                    <a:pt x="51" y="205"/>
                    <a:pt x="75" y="183"/>
                  </a:cubicBezTo>
                  <a:cubicBezTo>
                    <a:pt x="99" y="161"/>
                    <a:pt x="127" y="114"/>
                    <a:pt x="141" y="84"/>
                  </a:cubicBezTo>
                  <a:cubicBezTo>
                    <a:pt x="155" y="54"/>
                    <a:pt x="159" y="14"/>
                    <a:pt x="162" y="0"/>
                  </a:cubicBezTo>
                </a:path>
              </a:pathLst>
            </a:cu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0" name="Freeform 7"/>
            <p:cNvSpPr>
              <a:spLocks/>
            </p:cNvSpPr>
            <p:nvPr/>
          </p:nvSpPr>
          <p:spPr bwMode="auto">
            <a:xfrm>
              <a:off x="3939" y="3057"/>
              <a:ext cx="740" cy="349"/>
            </a:xfrm>
            <a:custGeom>
              <a:avLst/>
              <a:gdLst>
                <a:gd name="T0" fmla="*/ 0 w 446"/>
                <a:gd name="T1" fmla="*/ 2147483647 h 206"/>
                <a:gd name="T2" fmla="*/ 904243438 w 446"/>
                <a:gd name="T3" fmla="*/ 2147483647 h 206"/>
                <a:gd name="T4" fmla="*/ 2147483647 w 446"/>
                <a:gd name="T5" fmla="*/ 1225384145 h 206"/>
                <a:gd name="T6" fmla="*/ 2147483647 w 446"/>
                <a:gd name="T7" fmla="*/ 300808269 h 206"/>
                <a:gd name="T8" fmla="*/ 2147483647 w 446"/>
                <a:gd name="T9" fmla="*/ 2147483647 h 206"/>
                <a:gd name="T10" fmla="*/ 2147483647 w 446"/>
                <a:gd name="T11" fmla="*/ 2147483647 h 206"/>
                <a:gd name="T12" fmla="*/ 2147483647 w 446"/>
                <a:gd name="T13" fmla="*/ 2147483647 h 206"/>
                <a:gd name="T14" fmla="*/ 0 60000 65536"/>
                <a:gd name="T15" fmla="*/ 0 60000 65536"/>
                <a:gd name="T16" fmla="*/ 0 60000 65536"/>
                <a:gd name="T17" fmla="*/ 0 60000 65536"/>
                <a:gd name="T18" fmla="*/ 0 60000 65536"/>
                <a:gd name="T19" fmla="*/ 0 60000 65536"/>
                <a:gd name="T20" fmla="*/ 0 60000 65536"/>
                <a:gd name="T21" fmla="*/ 0 w 446"/>
                <a:gd name="T22" fmla="*/ 0 h 206"/>
                <a:gd name="T23" fmla="*/ 446 w 446"/>
                <a:gd name="T24" fmla="*/ 206 h 2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6" h="206">
                  <a:moveTo>
                    <a:pt x="0" y="167"/>
                  </a:moveTo>
                  <a:cubicBezTo>
                    <a:pt x="3" y="134"/>
                    <a:pt x="6" y="102"/>
                    <a:pt x="30" y="77"/>
                  </a:cubicBezTo>
                  <a:cubicBezTo>
                    <a:pt x="54" y="52"/>
                    <a:pt x="108" y="32"/>
                    <a:pt x="144" y="20"/>
                  </a:cubicBezTo>
                  <a:cubicBezTo>
                    <a:pt x="180" y="8"/>
                    <a:pt x="209" y="0"/>
                    <a:pt x="246" y="5"/>
                  </a:cubicBezTo>
                  <a:cubicBezTo>
                    <a:pt x="283" y="10"/>
                    <a:pt x="335" y="26"/>
                    <a:pt x="366" y="50"/>
                  </a:cubicBezTo>
                  <a:cubicBezTo>
                    <a:pt x="397" y="74"/>
                    <a:pt x="424" y="123"/>
                    <a:pt x="435" y="149"/>
                  </a:cubicBezTo>
                  <a:cubicBezTo>
                    <a:pt x="446" y="175"/>
                    <a:pt x="439" y="190"/>
                    <a:pt x="432" y="206"/>
                  </a:cubicBezTo>
                </a:path>
              </a:pathLst>
            </a:cu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1" name="Oval 8"/>
            <p:cNvSpPr>
              <a:spLocks noChangeArrowheads="1"/>
            </p:cNvSpPr>
            <p:nvPr/>
          </p:nvSpPr>
          <p:spPr bwMode="auto">
            <a:xfrm>
              <a:off x="4601" y="3274"/>
              <a:ext cx="125" cy="203"/>
            </a:xfrm>
            <a:prstGeom prst="ellipse">
              <a:avLst/>
            </a:prstGeom>
            <a:solidFill>
              <a:srgbClr val="FAD461"/>
            </a:solidFill>
            <a:ln w="28575">
              <a:solidFill>
                <a:schemeClr val="bg1"/>
              </a:solidFill>
              <a:round/>
              <a:headEnd/>
              <a:tailEnd/>
            </a:ln>
          </p:spPr>
          <p:txBody>
            <a:bodyPr wrap="none" anchor="ctr"/>
            <a:lstStyle/>
            <a:p>
              <a:pPr algn="ctr">
                <a:spcBef>
                  <a:spcPct val="50000"/>
                </a:spcBef>
                <a:spcAft>
                  <a:spcPct val="30000"/>
                </a:spcAft>
                <a:buClr>
                  <a:schemeClr val="tx1"/>
                </a:buClr>
              </a:pPr>
              <a:endParaRPr lang="en-US"/>
            </a:p>
          </p:txBody>
        </p:sp>
      </p:grpSp>
      <p:sp>
        <p:nvSpPr>
          <p:cNvPr id="17410" name="Rectangle 2"/>
          <p:cNvSpPr>
            <a:spLocks noGrp="1" noChangeArrowheads="1"/>
          </p:cNvSpPr>
          <p:nvPr>
            <p:ph type="title"/>
          </p:nvPr>
        </p:nvSpPr>
        <p:spPr/>
        <p:txBody>
          <a:bodyPr/>
          <a:lstStyle/>
          <a:p>
            <a:pPr eaLnBrk="1" hangingPunct="1"/>
            <a:r>
              <a:rPr lang="en-US" dirty="0" smtClean="0"/>
              <a:t>Types of users that work with contacts</a:t>
            </a:r>
          </a:p>
        </p:txBody>
      </p:sp>
      <p:sp>
        <p:nvSpPr>
          <p:cNvPr id="17411" name="Rectangle 52"/>
          <p:cNvSpPr>
            <a:spLocks noGrp="1" noChangeArrowheads="1"/>
          </p:cNvSpPr>
          <p:nvPr>
            <p:ph idx="1"/>
          </p:nvPr>
        </p:nvSpPr>
        <p:spPr>
          <a:xfrm>
            <a:off x="598488" y="3071813"/>
            <a:ext cx="3440112" cy="3062287"/>
          </a:xfrm>
        </p:spPr>
        <p:txBody>
          <a:bodyPr/>
          <a:lstStyle/>
          <a:p>
            <a:pPr>
              <a:buFont typeface="Wingdings 3" pitchFamily="18" charset="2"/>
              <a:buNone/>
            </a:pPr>
            <a:endParaRPr lang="en-US" sz="2000" dirty="0" smtClean="0"/>
          </a:p>
          <a:p>
            <a:pPr>
              <a:buFont typeface="Wingdings 3" pitchFamily="18" charset="2"/>
              <a:buNone/>
            </a:pPr>
            <a:endParaRPr lang="en-US" sz="2000" dirty="0" smtClean="0"/>
          </a:p>
          <a:p>
            <a:pPr>
              <a:buFont typeface="Wingdings 3" pitchFamily="18" charset="2"/>
              <a:buNone/>
            </a:pPr>
            <a:r>
              <a:rPr lang="en-US" sz="2000" dirty="0" smtClean="0"/>
              <a:t>CSRs, Adjusters, and Supervisors...</a:t>
            </a:r>
          </a:p>
          <a:p>
            <a:r>
              <a:rPr lang="en-US" sz="2000" dirty="0" smtClean="0"/>
              <a:t>Work in </a:t>
            </a:r>
            <a:r>
              <a:rPr lang="en-US" sz="2000" dirty="0" err="1" smtClean="0"/>
              <a:t>ClaimCenter</a:t>
            </a:r>
            <a:endParaRPr lang="en-US" sz="2000" dirty="0" smtClean="0"/>
          </a:p>
          <a:p>
            <a:r>
              <a:rPr lang="en-US" sz="2000" dirty="0" smtClean="0"/>
              <a:t>Create “local" contacts</a:t>
            </a:r>
          </a:p>
          <a:p>
            <a:r>
              <a:rPr lang="en-US" sz="2000" dirty="0" smtClean="0"/>
              <a:t>Create “shared" contacts from AB contacts or in ClaimCenter</a:t>
            </a:r>
          </a:p>
        </p:txBody>
      </p:sp>
      <p:sp>
        <p:nvSpPr>
          <p:cNvPr id="17412" name="Text Box 3"/>
          <p:cNvSpPr txBox="1">
            <a:spLocks noChangeArrowheads="1"/>
          </p:cNvSpPr>
          <p:nvPr/>
        </p:nvSpPr>
        <p:spPr bwMode="auto">
          <a:xfrm>
            <a:off x="7107238" y="1164992"/>
            <a:ext cx="11080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1800" b="1"/>
              <a:t>Address</a:t>
            </a:r>
            <a:br>
              <a:rPr lang="en-US" sz="1800" b="1"/>
            </a:br>
            <a:r>
              <a:rPr lang="en-US" sz="1800" b="1"/>
              <a:t>Book</a:t>
            </a:r>
          </a:p>
        </p:txBody>
      </p:sp>
      <p:sp>
        <p:nvSpPr>
          <p:cNvPr id="17415" name="Rectangle 20"/>
          <p:cNvSpPr>
            <a:spLocks noChangeArrowheads="1"/>
          </p:cNvSpPr>
          <p:nvPr/>
        </p:nvSpPr>
        <p:spPr bwMode="auto">
          <a:xfrm>
            <a:off x="5351463" y="1104900"/>
            <a:ext cx="3517900" cy="5327650"/>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7418" name="Rectangle 53"/>
          <p:cNvSpPr>
            <a:spLocks noChangeArrowheads="1"/>
          </p:cNvSpPr>
          <p:nvPr/>
        </p:nvSpPr>
        <p:spPr bwMode="auto">
          <a:xfrm>
            <a:off x="5434013" y="3281363"/>
            <a:ext cx="3440112" cy="2373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285750" indent="-285750" algn="l" eaLnBrk="0" hangingPunct="0">
              <a:spcBef>
                <a:spcPct val="40000"/>
              </a:spcBef>
              <a:spcAft>
                <a:spcPct val="0"/>
              </a:spcAft>
              <a:buClr>
                <a:srgbClr val="0146AD"/>
              </a:buClr>
              <a:buFont typeface="Wingdings 3" pitchFamily="18" charset="2"/>
              <a:buNone/>
            </a:pPr>
            <a:endParaRPr lang="en-US" sz="2000" dirty="0" smtClean="0"/>
          </a:p>
          <a:p>
            <a:pPr marL="285750" indent="-285750" algn="l" eaLnBrk="0" hangingPunct="0">
              <a:spcBef>
                <a:spcPct val="40000"/>
              </a:spcBef>
              <a:spcAft>
                <a:spcPct val="0"/>
              </a:spcAft>
              <a:buClr>
                <a:srgbClr val="0146AD"/>
              </a:buClr>
              <a:buFont typeface="Wingdings 3" pitchFamily="18" charset="2"/>
              <a:buNone/>
            </a:pPr>
            <a:endParaRPr lang="en-US" sz="2000" dirty="0"/>
          </a:p>
          <a:p>
            <a:pPr marL="285750" indent="-285750" algn="l" eaLnBrk="0" hangingPunct="0">
              <a:spcBef>
                <a:spcPct val="40000"/>
              </a:spcBef>
              <a:spcAft>
                <a:spcPct val="0"/>
              </a:spcAft>
              <a:buClr>
                <a:srgbClr val="0146AD"/>
              </a:buClr>
              <a:buFont typeface="Wingdings 3" pitchFamily="18" charset="2"/>
              <a:buNone/>
            </a:pPr>
            <a:r>
              <a:rPr lang="en-US" sz="2000" dirty="0" smtClean="0"/>
              <a:t>Vendor </a:t>
            </a:r>
            <a:r>
              <a:rPr lang="en-US" sz="2000" dirty="0"/>
              <a:t>managers...</a:t>
            </a:r>
          </a:p>
          <a:p>
            <a:pPr marL="285750" indent="-285750" algn="l" eaLnBrk="0" hangingPunct="0">
              <a:spcBef>
                <a:spcPct val="40000"/>
              </a:spcBef>
              <a:spcAft>
                <a:spcPct val="0"/>
              </a:spcAft>
              <a:buClr>
                <a:srgbClr val="0146AD"/>
              </a:buClr>
              <a:buSzPct val="90000"/>
              <a:buFont typeface="Arial" pitchFamily="34" charset="0"/>
              <a:buChar char="•"/>
            </a:pPr>
            <a:r>
              <a:rPr lang="en-US" sz="2000" dirty="0"/>
              <a:t>Work in Address </a:t>
            </a:r>
            <a:r>
              <a:rPr lang="en-US" sz="2000" dirty="0" smtClean="0"/>
              <a:t>Book (“AB”)</a:t>
            </a:r>
            <a:endParaRPr lang="en-US" sz="2000" dirty="0"/>
          </a:p>
          <a:p>
            <a:pPr marL="285750" indent="-285750" algn="l" eaLnBrk="0" hangingPunct="0">
              <a:spcBef>
                <a:spcPct val="40000"/>
              </a:spcBef>
              <a:spcAft>
                <a:spcPct val="0"/>
              </a:spcAft>
              <a:buClr>
                <a:srgbClr val="0146AD"/>
              </a:buClr>
              <a:buSzPct val="90000"/>
              <a:buFont typeface="Arial" pitchFamily="34" charset="0"/>
              <a:buChar char="•"/>
            </a:pPr>
            <a:r>
              <a:rPr lang="en-US" sz="2000" dirty="0"/>
              <a:t>Create and edit reusable address book </a:t>
            </a:r>
            <a:r>
              <a:rPr lang="en-US" sz="2000" dirty="0" smtClean="0"/>
              <a:t>contacts (mostly vendors)</a:t>
            </a:r>
            <a:endParaRPr lang="en-US" sz="2000" dirty="0"/>
          </a:p>
        </p:txBody>
      </p:sp>
      <p:grpSp>
        <p:nvGrpSpPr>
          <p:cNvPr id="57" name="Group 56"/>
          <p:cNvGrpSpPr/>
          <p:nvPr/>
        </p:nvGrpSpPr>
        <p:grpSpPr>
          <a:xfrm>
            <a:off x="7033332" y="2129858"/>
            <a:ext cx="1136650" cy="1066800"/>
            <a:chOff x="6781800" y="1524000"/>
            <a:chExt cx="1136650" cy="1066800"/>
          </a:xfrm>
        </p:grpSpPr>
        <p:pic>
          <p:nvPicPr>
            <p:cNvPr id="5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2379" y="1524000"/>
              <a:ext cx="994672" cy="993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59" name="Content Placeholder 5"/>
            <p:cNvSpPr txBox="1">
              <a:spLocks/>
            </p:cNvSpPr>
            <p:nvPr/>
          </p:nvSpPr>
          <p:spPr bwMode="auto">
            <a:xfrm>
              <a:off x="6781800" y="2300287"/>
              <a:ext cx="1136650" cy="290513"/>
            </a:xfrm>
            <a:prstGeom prst="rect">
              <a:avLst/>
            </a:prstGeom>
            <a:noFill/>
            <a:ln w="9525">
              <a:noFill/>
              <a:miter lim="800000"/>
              <a:headEnd/>
              <a:tailEnd/>
            </a:ln>
          </p:spPr>
          <p:txBody>
            <a:bodyPr lIns="0" tIns="0" rIns="0" bIns="0"/>
            <a:lstStyle/>
            <a:p>
              <a:pPr marL="457200" indent="-457200" algn="ctr" eaLnBrk="0" hangingPunct="0">
                <a:spcBef>
                  <a:spcPct val="40000"/>
                </a:spcBef>
                <a:buClr>
                  <a:srgbClr val="04628C"/>
                </a:buClr>
                <a:buSzPct val="90000"/>
                <a:buFont typeface="Arial" pitchFamily="34" charset="0"/>
                <a:buNone/>
                <a:defRPr/>
              </a:pPr>
              <a:r>
                <a:rPr lang="en-US" sz="1100" kern="0" dirty="0">
                  <a:solidFill>
                    <a:schemeClr val="tx1"/>
                  </a:solidFill>
                  <a:latin typeface="Arial Narrow" pitchFamily="34" charset="0"/>
                  <a:cs typeface="+mn-cs"/>
                </a:rPr>
                <a:t>ContactManager</a:t>
              </a:r>
            </a:p>
          </p:txBody>
        </p:sp>
      </p:grpSp>
      <p:grpSp>
        <p:nvGrpSpPr>
          <p:cNvPr id="17417" name="Group 36"/>
          <p:cNvGrpSpPr>
            <a:grpSpLocks/>
          </p:cNvGrpSpPr>
          <p:nvPr/>
        </p:nvGrpSpPr>
        <p:grpSpPr bwMode="auto">
          <a:xfrm>
            <a:off x="7551738" y="1479797"/>
            <a:ext cx="1557337" cy="1096962"/>
            <a:chOff x="3415" y="2139"/>
            <a:chExt cx="1032" cy="726"/>
          </a:xfrm>
        </p:grpSpPr>
        <p:sp>
          <p:nvSpPr>
            <p:cNvPr id="17420" name="AutoShape 37"/>
            <p:cNvSpPr>
              <a:spLocks noChangeArrowheads="1"/>
            </p:cNvSpPr>
            <p:nvPr/>
          </p:nvSpPr>
          <p:spPr bwMode="auto">
            <a:xfrm>
              <a:off x="3415" y="2139"/>
              <a:ext cx="679" cy="69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7421" name="Group 38"/>
            <p:cNvGrpSpPr>
              <a:grpSpLocks/>
            </p:cNvGrpSpPr>
            <p:nvPr/>
          </p:nvGrpSpPr>
          <p:grpSpPr bwMode="auto">
            <a:xfrm>
              <a:off x="3867" y="2375"/>
              <a:ext cx="580" cy="490"/>
              <a:chOff x="3381" y="3062"/>
              <a:chExt cx="648" cy="547"/>
            </a:xfrm>
          </p:grpSpPr>
          <p:sp>
            <p:nvSpPr>
              <p:cNvPr id="17422" name="Freeform 39"/>
              <p:cNvSpPr>
                <a:spLocks/>
              </p:cNvSpPr>
              <p:nvPr/>
            </p:nvSpPr>
            <p:spPr bwMode="auto">
              <a:xfrm>
                <a:off x="3381" y="3062"/>
                <a:ext cx="648" cy="547"/>
              </a:xfrm>
              <a:custGeom>
                <a:avLst/>
                <a:gdLst>
                  <a:gd name="T0" fmla="*/ 1 w 1055"/>
                  <a:gd name="T1" fmla="*/ 1 h 891"/>
                  <a:gd name="T2" fmla="*/ 1 w 1055"/>
                  <a:gd name="T3" fmla="*/ 1 h 891"/>
                  <a:gd name="T4" fmla="*/ 1 w 1055"/>
                  <a:gd name="T5" fmla="*/ 1 h 891"/>
                  <a:gd name="T6" fmla="*/ 1 w 1055"/>
                  <a:gd name="T7" fmla="*/ 1 h 891"/>
                  <a:gd name="T8" fmla="*/ 1 w 1055"/>
                  <a:gd name="T9" fmla="*/ 1 h 891"/>
                  <a:gd name="T10" fmla="*/ 1 w 1055"/>
                  <a:gd name="T11" fmla="*/ 1 h 891"/>
                  <a:gd name="T12" fmla="*/ 1 w 1055"/>
                  <a:gd name="T13" fmla="*/ 1 h 891"/>
                  <a:gd name="T14" fmla="*/ 1 w 1055"/>
                  <a:gd name="T15" fmla="*/ 1 h 891"/>
                  <a:gd name="T16" fmla="*/ 1 w 1055"/>
                  <a:gd name="T17" fmla="*/ 1 h 891"/>
                  <a:gd name="T18" fmla="*/ 1 w 1055"/>
                  <a:gd name="T19" fmla="*/ 1 h 891"/>
                  <a:gd name="T20" fmla="*/ 1 w 1055"/>
                  <a:gd name="T21" fmla="*/ 1 h 891"/>
                  <a:gd name="T22" fmla="*/ 1 w 1055"/>
                  <a:gd name="T23" fmla="*/ 1 h 891"/>
                  <a:gd name="T24" fmla="*/ 1 w 1055"/>
                  <a:gd name="T25" fmla="*/ 1 h 891"/>
                  <a:gd name="T26" fmla="*/ 1 w 1055"/>
                  <a:gd name="T27" fmla="*/ 1 h 891"/>
                  <a:gd name="T28" fmla="*/ 1 w 1055"/>
                  <a:gd name="T29" fmla="*/ 1 h 891"/>
                  <a:gd name="T30" fmla="*/ 1 w 1055"/>
                  <a:gd name="T31" fmla="*/ 1 h 891"/>
                  <a:gd name="T32" fmla="*/ 1 w 1055"/>
                  <a:gd name="T33" fmla="*/ 0 h 891"/>
                  <a:gd name="T34" fmla="*/ 1 w 1055"/>
                  <a:gd name="T35" fmla="*/ 1 h 891"/>
                  <a:gd name="T36" fmla="*/ 1 w 1055"/>
                  <a:gd name="T37" fmla="*/ 1 h 891"/>
                  <a:gd name="T38" fmla="*/ 1 w 1055"/>
                  <a:gd name="T39" fmla="*/ 1 h 891"/>
                  <a:gd name="T40" fmla="*/ 1 w 1055"/>
                  <a:gd name="T41" fmla="*/ 1 h 891"/>
                  <a:gd name="T42" fmla="*/ 1 w 1055"/>
                  <a:gd name="T43" fmla="*/ 1 h 891"/>
                  <a:gd name="T44" fmla="*/ 1 w 1055"/>
                  <a:gd name="T45" fmla="*/ 1 h 891"/>
                  <a:gd name="T46" fmla="*/ 1 w 1055"/>
                  <a:gd name="T47" fmla="*/ 1 h 891"/>
                  <a:gd name="T48" fmla="*/ 1 w 1055"/>
                  <a:gd name="T49" fmla="*/ 1 h 891"/>
                  <a:gd name="T50" fmla="*/ 0 w 1055"/>
                  <a:gd name="T51" fmla="*/ 1 h 891"/>
                  <a:gd name="T52" fmla="*/ 1 w 1055"/>
                  <a:gd name="T53" fmla="*/ 1 h 891"/>
                  <a:gd name="T54" fmla="*/ 1 w 1055"/>
                  <a:gd name="T55" fmla="*/ 1 h 891"/>
                  <a:gd name="T56" fmla="*/ 1 w 1055"/>
                  <a:gd name="T57" fmla="*/ 1 h 891"/>
                  <a:gd name="T58" fmla="*/ 1 w 1055"/>
                  <a:gd name="T59" fmla="*/ 1 h 891"/>
                  <a:gd name="T60" fmla="*/ 1 w 1055"/>
                  <a:gd name="T61" fmla="*/ 1 h 891"/>
                  <a:gd name="T62" fmla="*/ 1 w 1055"/>
                  <a:gd name="T63" fmla="*/ 1 h 891"/>
                  <a:gd name="T64" fmla="*/ 1 w 1055"/>
                  <a:gd name="T65" fmla="*/ 1 h 891"/>
                  <a:gd name="T66" fmla="*/ 1 w 1055"/>
                  <a:gd name="T67" fmla="*/ 1 h 891"/>
                  <a:gd name="T68" fmla="*/ 1 w 1055"/>
                  <a:gd name="T69" fmla="*/ 1 h 891"/>
                  <a:gd name="T70" fmla="*/ 1 w 1055"/>
                  <a:gd name="T71" fmla="*/ 1 h 891"/>
                  <a:gd name="T72" fmla="*/ 1 w 1055"/>
                  <a:gd name="T73" fmla="*/ 1 h 891"/>
                  <a:gd name="T74" fmla="*/ 1 w 1055"/>
                  <a:gd name="T75" fmla="*/ 1 h 891"/>
                  <a:gd name="T76" fmla="*/ 1 w 1055"/>
                  <a:gd name="T77" fmla="*/ 1 h 891"/>
                  <a:gd name="T78" fmla="*/ 1 w 1055"/>
                  <a:gd name="T79" fmla="*/ 1 h 891"/>
                  <a:gd name="T80" fmla="*/ 1 w 1055"/>
                  <a:gd name="T81" fmla="*/ 1 h 891"/>
                  <a:gd name="T82" fmla="*/ 1 w 1055"/>
                  <a:gd name="T83" fmla="*/ 1 h 891"/>
                  <a:gd name="T84" fmla="*/ 1 w 1055"/>
                  <a:gd name="T85" fmla="*/ 1 h 891"/>
                  <a:gd name="T86" fmla="*/ 1 w 1055"/>
                  <a:gd name="T87" fmla="*/ 1 h 891"/>
                  <a:gd name="T88" fmla="*/ 1 w 1055"/>
                  <a:gd name="T89" fmla="*/ 1 h 891"/>
                  <a:gd name="T90" fmla="*/ 1 w 1055"/>
                  <a:gd name="T91" fmla="*/ 1 h 891"/>
                  <a:gd name="T92" fmla="*/ 1 w 1055"/>
                  <a:gd name="T93" fmla="*/ 1 h 891"/>
                  <a:gd name="T94" fmla="*/ 1 w 1055"/>
                  <a:gd name="T95" fmla="*/ 1 h 891"/>
                  <a:gd name="T96" fmla="*/ 1 w 1055"/>
                  <a:gd name="T97" fmla="*/ 1 h 891"/>
                  <a:gd name="T98" fmla="*/ 1 w 1055"/>
                  <a:gd name="T99" fmla="*/ 1 h 891"/>
                  <a:gd name="T100" fmla="*/ 1 w 1055"/>
                  <a:gd name="T101" fmla="*/ 1 h 8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55"/>
                  <a:gd name="T154" fmla="*/ 0 h 891"/>
                  <a:gd name="T155" fmla="*/ 1055 w 1055"/>
                  <a:gd name="T156" fmla="*/ 891 h 8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55" h="891">
                    <a:moveTo>
                      <a:pt x="1013" y="249"/>
                    </a:moveTo>
                    <a:lnTo>
                      <a:pt x="1013" y="247"/>
                    </a:lnTo>
                    <a:lnTo>
                      <a:pt x="1007" y="242"/>
                    </a:lnTo>
                    <a:lnTo>
                      <a:pt x="1000" y="237"/>
                    </a:lnTo>
                    <a:lnTo>
                      <a:pt x="993" y="232"/>
                    </a:lnTo>
                    <a:lnTo>
                      <a:pt x="986" y="227"/>
                    </a:lnTo>
                    <a:lnTo>
                      <a:pt x="978" y="223"/>
                    </a:lnTo>
                    <a:lnTo>
                      <a:pt x="971" y="219"/>
                    </a:lnTo>
                    <a:lnTo>
                      <a:pt x="963" y="215"/>
                    </a:lnTo>
                    <a:lnTo>
                      <a:pt x="955" y="213"/>
                    </a:lnTo>
                    <a:lnTo>
                      <a:pt x="960" y="201"/>
                    </a:lnTo>
                    <a:lnTo>
                      <a:pt x="962" y="189"/>
                    </a:lnTo>
                    <a:lnTo>
                      <a:pt x="960" y="176"/>
                    </a:lnTo>
                    <a:lnTo>
                      <a:pt x="955" y="165"/>
                    </a:lnTo>
                    <a:lnTo>
                      <a:pt x="947" y="157"/>
                    </a:lnTo>
                    <a:lnTo>
                      <a:pt x="938" y="152"/>
                    </a:lnTo>
                    <a:lnTo>
                      <a:pt x="928" y="148"/>
                    </a:lnTo>
                    <a:lnTo>
                      <a:pt x="918" y="145"/>
                    </a:lnTo>
                    <a:lnTo>
                      <a:pt x="898" y="140"/>
                    </a:lnTo>
                    <a:lnTo>
                      <a:pt x="879" y="135"/>
                    </a:lnTo>
                    <a:lnTo>
                      <a:pt x="861" y="131"/>
                    </a:lnTo>
                    <a:lnTo>
                      <a:pt x="841" y="127"/>
                    </a:lnTo>
                    <a:lnTo>
                      <a:pt x="823" y="122"/>
                    </a:lnTo>
                    <a:lnTo>
                      <a:pt x="804" y="118"/>
                    </a:lnTo>
                    <a:lnTo>
                      <a:pt x="784" y="114"/>
                    </a:lnTo>
                    <a:lnTo>
                      <a:pt x="765" y="109"/>
                    </a:lnTo>
                    <a:lnTo>
                      <a:pt x="749" y="105"/>
                    </a:lnTo>
                    <a:lnTo>
                      <a:pt x="735" y="102"/>
                    </a:lnTo>
                    <a:lnTo>
                      <a:pt x="721" y="99"/>
                    </a:lnTo>
                    <a:lnTo>
                      <a:pt x="707" y="95"/>
                    </a:lnTo>
                    <a:lnTo>
                      <a:pt x="692" y="91"/>
                    </a:lnTo>
                    <a:lnTo>
                      <a:pt x="678" y="87"/>
                    </a:lnTo>
                    <a:lnTo>
                      <a:pt x="665" y="82"/>
                    </a:lnTo>
                    <a:lnTo>
                      <a:pt x="651" y="77"/>
                    </a:lnTo>
                    <a:lnTo>
                      <a:pt x="638" y="71"/>
                    </a:lnTo>
                    <a:lnTo>
                      <a:pt x="622" y="65"/>
                    </a:lnTo>
                    <a:lnTo>
                      <a:pt x="607" y="57"/>
                    </a:lnTo>
                    <a:lnTo>
                      <a:pt x="589" y="51"/>
                    </a:lnTo>
                    <a:lnTo>
                      <a:pt x="572" y="43"/>
                    </a:lnTo>
                    <a:lnTo>
                      <a:pt x="553" y="35"/>
                    </a:lnTo>
                    <a:lnTo>
                      <a:pt x="534" y="29"/>
                    </a:lnTo>
                    <a:lnTo>
                      <a:pt x="516" y="21"/>
                    </a:lnTo>
                    <a:lnTo>
                      <a:pt x="498" y="16"/>
                    </a:lnTo>
                    <a:lnTo>
                      <a:pt x="481" y="10"/>
                    </a:lnTo>
                    <a:lnTo>
                      <a:pt x="465" y="5"/>
                    </a:lnTo>
                    <a:lnTo>
                      <a:pt x="449" y="3"/>
                    </a:lnTo>
                    <a:lnTo>
                      <a:pt x="435" y="0"/>
                    </a:lnTo>
                    <a:lnTo>
                      <a:pt x="423" y="0"/>
                    </a:lnTo>
                    <a:lnTo>
                      <a:pt x="413" y="1"/>
                    </a:lnTo>
                    <a:lnTo>
                      <a:pt x="405" y="5"/>
                    </a:lnTo>
                    <a:lnTo>
                      <a:pt x="387" y="18"/>
                    </a:lnTo>
                    <a:lnTo>
                      <a:pt x="371" y="34"/>
                    </a:lnTo>
                    <a:lnTo>
                      <a:pt x="357" y="51"/>
                    </a:lnTo>
                    <a:lnTo>
                      <a:pt x="343" y="69"/>
                    </a:lnTo>
                    <a:lnTo>
                      <a:pt x="330" y="88"/>
                    </a:lnTo>
                    <a:lnTo>
                      <a:pt x="317" y="106"/>
                    </a:lnTo>
                    <a:lnTo>
                      <a:pt x="304" y="124"/>
                    </a:lnTo>
                    <a:lnTo>
                      <a:pt x="291" y="143"/>
                    </a:lnTo>
                    <a:lnTo>
                      <a:pt x="278" y="159"/>
                    </a:lnTo>
                    <a:lnTo>
                      <a:pt x="266" y="175"/>
                    </a:lnTo>
                    <a:lnTo>
                      <a:pt x="254" y="190"/>
                    </a:lnTo>
                    <a:lnTo>
                      <a:pt x="242" y="206"/>
                    </a:lnTo>
                    <a:lnTo>
                      <a:pt x="230" y="223"/>
                    </a:lnTo>
                    <a:lnTo>
                      <a:pt x="219" y="238"/>
                    </a:lnTo>
                    <a:lnTo>
                      <a:pt x="208" y="255"/>
                    </a:lnTo>
                    <a:lnTo>
                      <a:pt x="198" y="273"/>
                    </a:lnTo>
                    <a:lnTo>
                      <a:pt x="181" y="303"/>
                    </a:lnTo>
                    <a:lnTo>
                      <a:pt x="156" y="341"/>
                    </a:lnTo>
                    <a:lnTo>
                      <a:pt x="127" y="384"/>
                    </a:lnTo>
                    <a:lnTo>
                      <a:pt x="96" y="429"/>
                    </a:lnTo>
                    <a:lnTo>
                      <a:pt x="65" y="473"/>
                    </a:lnTo>
                    <a:lnTo>
                      <a:pt x="36" y="513"/>
                    </a:lnTo>
                    <a:lnTo>
                      <a:pt x="14" y="545"/>
                    </a:lnTo>
                    <a:lnTo>
                      <a:pt x="0" y="567"/>
                    </a:lnTo>
                    <a:lnTo>
                      <a:pt x="0" y="578"/>
                    </a:lnTo>
                    <a:lnTo>
                      <a:pt x="4" y="597"/>
                    </a:lnTo>
                    <a:lnTo>
                      <a:pt x="8" y="615"/>
                    </a:lnTo>
                    <a:lnTo>
                      <a:pt x="9" y="624"/>
                    </a:lnTo>
                    <a:lnTo>
                      <a:pt x="10" y="628"/>
                    </a:lnTo>
                    <a:lnTo>
                      <a:pt x="13" y="637"/>
                    </a:lnTo>
                    <a:lnTo>
                      <a:pt x="17" y="648"/>
                    </a:lnTo>
                    <a:lnTo>
                      <a:pt x="22" y="661"/>
                    </a:lnTo>
                    <a:lnTo>
                      <a:pt x="27" y="675"/>
                    </a:lnTo>
                    <a:lnTo>
                      <a:pt x="33" y="688"/>
                    </a:lnTo>
                    <a:lnTo>
                      <a:pt x="40" y="698"/>
                    </a:lnTo>
                    <a:lnTo>
                      <a:pt x="48" y="706"/>
                    </a:lnTo>
                    <a:lnTo>
                      <a:pt x="53" y="709"/>
                    </a:lnTo>
                    <a:lnTo>
                      <a:pt x="68" y="716"/>
                    </a:lnTo>
                    <a:lnTo>
                      <a:pt x="85" y="723"/>
                    </a:lnTo>
                    <a:lnTo>
                      <a:pt x="101" y="729"/>
                    </a:lnTo>
                    <a:lnTo>
                      <a:pt x="116" y="737"/>
                    </a:lnTo>
                    <a:lnTo>
                      <a:pt x="133" y="744"/>
                    </a:lnTo>
                    <a:lnTo>
                      <a:pt x="149" y="749"/>
                    </a:lnTo>
                    <a:lnTo>
                      <a:pt x="166" y="755"/>
                    </a:lnTo>
                    <a:lnTo>
                      <a:pt x="181" y="762"/>
                    </a:lnTo>
                    <a:lnTo>
                      <a:pt x="198" y="767"/>
                    </a:lnTo>
                    <a:lnTo>
                      <a:pt x="213" y="773"/>
                    </a:lnTo>
                    <a:lnTo>
                      <a:pt x="230" y="780"/>
                    </a:lnTo>
                    <a:lnTo>
                      <a:pt x="247" y="785"/>
                    </a:lnTo>
                    <a:lnTo>
                      <a:pt x="263" y="792"/>
                    </a:lnTo>
                    <a:lnTo>
                      <a:pt x="279" y="797"/>
                    </a:lnTo>
                    <a:lnTo>
                      <a:pt x="295" y="803"/>
                    </a:lnTo>
                    <a:lnTo>
                      <a:pt x="312" y="810"/>
                    </a:lnTo>
                    <a:lnTo>
                      <a:pt x="330" y="817"/>
                    </a:lnTo>
                    <a:lnTo>
                      <a:pt x="347" y="825"/>
                    </a:lnTo>
                    <a:lnTo>
                      <a:pt x="365" y="833"/>
                    </a:lnTo>
                    <a:lnTo>
                      <a:pt x="382" y="839"/>
                    </a:lnTo>
                    <a:lnTo>
                      <a:pt x="400" y="847"/>
                    </a:lnTo>
                    <a:lnTo>
                      <a:pt x="417" y="855"/>
                    </a:lnTo>
                    <a:lnTo>
                      <a:pt x="435" y="861"/>
                    </a:lnTo>
                    <a:lnTo>
                      <a:pt x="453" y="867"/>
                    </a:lnTo>
                    <a:lnTo>
                      <a:pt x="479" y="874"/>
                    </a:lnTo>
                    <a:lnTo>
                      <a:pt x="505" y="881"/>
                    </a:lnTo>
                    <a:lnTo>
                      <a:pt x="531" y="887"/>
                    </a:lnTo>
                    <a:lnTo>
                      <a:pt x="558" y="891"/>
                    </a:lnTo>
                    <a:lnTo>
                      <a:pt x="584" y="891"/>
                    </a:lnTo>
                    <a:lnTo>
                      <a:pt x="610" y="887"/>
                    </a:lnTo>
                    <a:lnTo>
                      <a:pt x="633" y="880"/>
                    </a:lnTo>
                    <a:lnTo>
                      <a:pt x="656" y="864"/>
                    </a:lnTo>
                    <a:lnTo>
                      <a:pt x="669" y="851"/>
                    </a:lnTo>
                    <a:lnTo>
                      <a:pt x="685" y="834"/>
                    </a:lnTo>
                    <a:lnTo>
                      <a:pt x="701" y="814"/>
                    </a:lnTo>
                    <a:lnTo>
                      <a:pt x="721" y="790"/>
                    </a:lnTo>
                    <a:lnTo>
                      <a:pt x="740" y="764"/>
                    </a:lnTo>
                    <a:lnTo>
                      <a:pt x="760" y="736"/>
                    </a:lnTo>
                    <a:lnTo>
                      <a:pt x="780" y="707"/>
                    </a:lnTo>
                    <a:lnTo>
                      <a:pt x="800" y="678"/>
                    </a:lnTo>
                    <a:lnTo>
                      <a:pt x="819" y="649"/>
                    </a:lnTo>
                    <a:lnTo>
                      <a:pt x="839" y="622"/>
                    </a:lnTo>
                    <a:lnTo>
                      <a:pt x="857" y="595"/>
                    </a:lnTo>
                    <a:lnTo>
                      <a:pt x="872" y="570"/>
                    </a:lnTo>
                    <a:lnTo>
                      <a:pt x="887" y="549"/>
                    </a:lnTo>
                    <a:lnTo>
                      <a:pt x="899" y="531"/>
                    </a:lnTo>
                    <a:lnTo>
                      <a:pt x="909" y="517"/>
                    </a:lnTo>
                    <a:lnTo>
                      <a:pt x="915" y="508"/>
                    </a:lnTo>
                    <a:lnTo>
                      <a:pt x="933" y="483"/>
                    </a:lnTo>
                    <a:lnTo>
                      <a:pt x="955" y="456"/>
                    </a:lnTo>
                    <a:lnTo>
                      <a:pt x="978" y="426"/>
                    </a:lnTo>
                    <a:lnTo>
                      <a:pt x="1000" y="396"/>
                    </a:lnTo>
                    <a:lnTo>
                      <a:pt x="1021" y="371"/>
                    </a:lnTo>
                    <a:lnTo>
                      <a:pt x="1038" y="349"/>
                    </a:lnTo>
                    <a:lnTo>
                      <a:pt x="1050" y="333"/>
                    </a:lnTo>
                    <a:lnTo>
                      <a:pt x="1053" y="325"/>
                    </a:lnTo>
                    <a:lnTo>
                      <a:pt x="1055" y="312"/>
                    </a:lnTo>
                    <a:lnTo>
                      <a:pt x="1055" y="301"/>
                    </a:lnTo>
                    <a:lnTo>
                      <a:pt x="1052" y="289"/>
                    </a:lnTo>
                    <a:lnTo>
                      <a:pt x="1048" y="277"/>
                    </a:lnTo>
                    <a:lnTo>
                      <a:pt x="1042" y="268"/>
                    </a:lnTo>
                    <a:lnTo>
                      <a:pt x="1034" y="260"/>
                    </a:lnTo>
                    <a:lnTo>
                      <a:pt x="1025" y="254"/>
                    </a:lnTo>
                    <a:lnTo>
                      <a:pt x="1013" y="24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23" name="Freeform 40"/>
              <p:cNvSpPr>
                <a:spLocks/>
              </p:cNvSpPr>
              <p:nvPr/>
            </p:nvSpPr>
            <p:spPr bwMode="auto">
              <a:xfrm>
                <a:off x="3874" y="3202"/>
                <a:ext cx="93" cy="130"/>
              </a:xfrm>
              <a:custGeom>
                <a:avLst/>
                <a:gdLst>
                  <a:gd name="T0" fmla="*/ 1 w 151"/>
                  <a:gd name="T1" fmla="*/ 1 h 211"/>
                  <a:gd name="T2" fmla="*/ 1 w 151"/>
                  <a:gd name="T3" fmla="*/ 1 h 211"/>
                  <a:gd name="T4" fmla="*/ 1 w 151"/>
                  <a:gd name="T5" fmla="*/ 1 h 211"/>
                  <a:gd name="T6" fmla="*/ 1 w 151"/>
                  <a:gd name="T7" fmla="*/ 1 h 211"/>
                  <a:gd name="T8" fmla="*/ 1 w 151"/>
                  <a:gd name="T9" fmla="*/ 1 h 211"/>
                  <a:gd name="T10" fmla="*/ 1 w 151"/>
                  <a:gd name="T11" fmla="*/ 1 h 211"/>
                  <a:gd name="T12" fmla="*/ 1 w 151"/>
                  <a:gd name="T13" fmla="*/ 1 h 211"/>
                  <a:gd name="T14" fmla="*/ 1 w 151"/>
                  <a:gd name="T15" fmla="*/ 1 h 211"/>
                  <a:gd name="T16" fmla="*/ 1 w 151"/>
                  <a:gd name="T17" fmla="*/ 1 h 211"/>
                  <a:gd name="T18" fmla="*/ 1 w 151"/>
                  <a:gd name="T19" fmla="*/ 1 h 211"/>
                  <a:gd name="T20" fmla="*/ 1 w 151"/>
                  <a:gd name="T21" fmla="*/ 1 h 211"/>
                  <a:gd name="T22" fmla="*/ 1 w 151"/>
                  <a:gd name="T23" fmla="*/ 1 h 211"/>
                  <a:gd name="T24" fmla="*/ 1 w 151"/>
                  <a:gd name="T25" fmla="*/ 1 h 211"/>
                  <a:gd name="T26" fmla="*/ 1 w 151"/>
                  <a:gd name="T27" fmla="*/ 1 h 211"/>
                  <a:gd name="T28" fmla="*/ 1 w 151"/>
                  <a:gd name="T29" fmla="*/ 1 h 211"/>
                  <a:gd name="T30" fmla="*/ 1 w 151"/>
                  <a:gd name="T31" fmla="*/ 1 h 211"/>
                  <a:gd name="T32" fmla="*/ 1 w 151"/>
                  <a:gd name="T33" fmla="*/ 1 h 211"/>
                  <a:gd name="T34" fmla="*/ 1 w 151"/>
                  <a:gd name="T35" fmla="*/ 1 h 211"/>
                  <a:gd name="T36" fmla="*/ 1 w 151"/>
                  <a:gd name="T37" fmla="*/ 1 h 211"/>
                  <a:gd name="T38" fmla="*/ 1 w 151"/>
                  <a:gd name="T39" fmla="*/ 1 h 211"/>
                  <a:gd name="T40" fmla="*/ 1 w 151"/>
                  <a:gd name="T41" fmla="*/ 1 h 211"/>
                  <a:gd name="T42" fmla="*/ 1 w 151"/>
                  <a:gd name="T43" fmla="*/ 1 h 211"/>
                  <a:gd name="T44" fmla="*/ 1 w 151"/>
                  <a:gd name="T45" fmla="*/ 1 h 211"/>
                  <a:gd name="T46" fmla="*/ 1 w 151"/>
                  <a:gd name="T47" fmla="*/ 1 h 211"/>
                  <a:gd name="T48" fmla="*/ 1 w 151"/>
                  <a:gd name="T49" fmla="*/ 1 h 211"/>
                  <a:gd name="T50" fmla="*/ 1 w 151"/>
                  <a:gd name="T51" fmla="*/ 1 h 211"/>
                  <a:gd name="T52" fmla="*/ 1 w 151"/>
                  <a:gd name="T53" fmla="*/ 1 h 211"/>
                  <a:gd name="T54" fmla="*/ 1 w 151"/>
                  <a:gd name="T55" fmla="*/ 1 h 211"/>
                  <a:gd name="T56" fmla="*/ 1 w 151"/>
                  <a:gd name="T57" fmla="*/ 1 h 211"/>
                  <a:gd name="T58" fmla="*/ 1 w 151"/>
                  <a:gd name="T59" fmla="*/ 1 h 211"/>
                  <a:gd name="T60" fmla="*/ 1 w 151"/>
                  <a:gd name="T61" fmla="*/ 1 h 211"/>
                  <a:gd name="T62" fmla="*/ 1 w 151"/>
                  <a:gd name="T63" fmla="*/ 1 h 211"/>
                  <a:gd name="T64" fmla="*/ 1 w 151"/>
                  <a:gd name="T65" fmla="*/ 1 h 211"/>
                  <a:gd name="T66" fmla="*/ 1 w 151"/>
                  <a:gd name="T67" fmla="*/ 1 h 211"/>
                  <a:gd name="T68" fmla="*/ 1 w 151"/>
                  <a:gd name="T69" fmla="*/ 1 h 211"/>
                  <a:gd name="T70" fmla="*/ 1 w 151"/>
                  <a:gd name="T71" fmla="*/ 1 h 211"/>
                  <a:gd name="T72" fmla="*/ 0 w 151"/>
                  <a:gd name="T73" fmla="*/ 1 h 211"/>
                  <a:gd name="T74" fmla="*/ 1 w 151"/>
                  <a:gd name="T75" fmla="*/ 1 h 211"/>
                  <a:gd name="T76" fmla="*/ 1 w 151"/>
                  <a:gd name="T77" fmla="*/ 1 h 211"/>
                  <a:gd name="T78" fmla="*/ 1 w 151"/>
                  <a:gd name="T79" fmla="*/ 1 h 211"/>
                  <a:gd name="T80" fmla="*/ 1 w 151"/>
                  <a:gd name="T81" fmla="*/ 1 h 211"/>
                  <a:gd name="T82" fmla="*/ 1 w 151"/>
                  <a:gd name="T83" fmla="*/ 1 h 211"/>
                  <a:gd name="T84" fmla="*/ 1 w 151"/>
                  <a:gd name="T85" fmla="*/ 1 h 211"/>
                  <a:gd name="T86" fmla="*/ 1 w 151"/>
                  <a:gd name="T87" fmla="*/ 1 h 211"/>
                  <a:gd name="T88" fmla="*/ 1 w 151"/>
                  <a:gd name="T89" fmla="*/ 0 h 211"/>
                  <a:gd name="T90" fmla="*/ 1 w 151"/>
                  <a:gd name="T91" fmla="*/ 1 h 211"/>
                  <a:gd name="T92" fmla="*/ 1 w 151"/>
                  <a:gd name="T93" fmla="*/ 1 h 211"/>
                  <a:gd name="T94" fmla="*/ 1 w 151"/>
                  <a:gd name="T95" fmla="*/ 1 h 211"/>
                  <a:gd name="T96" fmla="*/ 1 w 151"/>
                  <a:gd name="T97" fmla="*/ 1 h 21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51"/>
                  <a:gd name="T148" fmla="*/ 0 h 211"/>
                  <a:gd name="T149" fmla="*/ 151 w 151"/>
                  <a:gd name="T150" fmla="*/ 211 h 21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51" h="211">
                    <a:moveTo>
                      <a:pt x="151" y="27"/>
                    </a:moveTo>
                    <a:lnTo>
                      <a:pt x="148" y="32"/>
                    </a:lnTo>
                    <a:lnTo>
                      <a:pt x="141" y="42"/>
                    </a:lnTo>
                    <a:lnTo>
                      <a:pt x="131" y="54"/>
                    </a:lnTo>
                    <a:lnTo>
                      <a:pt x="118" y="69"/>
                    </a:lnTo>
                    <a:lnTo>
                      <a:pt x="105" y="83"/>
                    </a:lnTo>
                    <a:lnTo>
                      <a:pt x="95" y="96"/>
                    </a:lnTo>
                    <a:lnTo>
                      <a:pt x="88" y="105"/>
                    </a:lnTo>
                    <a:lnTo>
                      <a:pt x="86" y="109"/>
                    </a:lnTo>
                    <a:lnTo>
                      <a:pt x="87" y="110"/>
                    </a:lnTo>
                    <a:lnTo>
                      <a:pt x="91" y="113"/>
                    </a:lnTo>
                    <a:lnTo>
                      <a:pt x="96" y="117"/>
                    </a:lnTo>
                    <a:lnTo>
                      <a:pt x="104" y="121"/>
                    </a:lnTo>
                    <a:lnTo>
                      <a:pt x="113" y="126"/>
                    </a:lnTo>
                    <a:lnTo>
                      <a:pt x="122" y="130"/>
                    </a:lnTo>
                    <a:lnTo>
                      <a:pt x="131" y="132"/>
                    </a:lnTo>
                    <a:lnTo>
                      <a:pt x="141" y="132"/>
                    </a:lnTo>
                    <a:lnTo>
                      <a:pt x="134" y="137"/>
                    </a:lnTo>
                    <a:lnTo>
                      <a:pt x="126" y="144"/>
                    </a:lnTo>
                    <a:lnTo>
                      <a:pt x="119" y="152"/>
                    </a:lnTo>
                    <a:lnTo>
                      <a:pt x="113" y="159"/>
                    </a:lnTo>
                    <a:lnTo>
                      <a:pt x="109" y="154"/>
                    </a:lnTo>
                    <a:lnTo>
                      <a:pt x="105" y="145"/>
                    </a:lnTo>
                    <a:lnTo>
                      <a:pt x="100" y="136"/>
                    </a:lnTo>
                    <a:lnTo>
                      <a:pt x="99" y="132"/>
                    </a:lnTo>
                    <a:lnTo>
                      <a:pt x="95" y="135"/>
                    </a:lnTo>
                    <a:lnTo>
                      <a:pt x="87" y="144"/>
                    </a:lnTo>
                    <a:lnTo>
                      <a:pt x="75" y="157"/>
                    </a:lnTo>
                    <a:lnTo>
                      <a:pt x="64" y="171"/>
                    </a:lnTo>
                    <a:lnTo>
                      <a:pt x="51" y="185"/>
                    </a:lnTo>
                    <a:lnTo>
                      <a:pt x="41" y="198"/>
                    </a:lnTo>
                    <a:lnTo>
                      <a:pt x="33" y="207"/>
                    </a:lnTo>
                    <a:lnTo>
                      <a:pt x="30" y="211"/>
                    </a:lnTo>
                    <a:lnTo>
                      <a:pt x="20" y="201"/>
                    </a:lnTo>
                    <a:lnTo>
                      <a:pt x="11" y="192"/>
                    </a:lnTo>
                    <a:lnTo>
                      <a:pt x="3" y="184"/>
                    </a:lnTo>
                    <a:lnTo>
                      <a:pt x="0" y="180"/>
                    </a:lnTo>
                    <a:lnTo>
                      <a:pt x="17" y="163"/>
                    </a:lnTo>
                    <a:lnTo>
                      <a:pt x="37" y="139"/>
                    </a:lnTo>
                    <a:lnTo>
                      <a:pt x="57" y="111"/>
                    </a:lnTo>
                    <a:lnTo>
                      <a:pt x="79" y="83"/>
                    </a:lnTo>
                    <a:lnTo>
                      <a:pt x="100" y="56"/>
                    </a:lnTo>
                    <a:lnTo>
                      <a:pt x="118" y="31"/>
                    </a:lnTo>
                    <a:lnTo>
                      <a:pt x="132" y="12"/>
                    </a:lnTo>
                    <a:lnTo>
                      <a:pt x="141" y="0"/>
                    </a:lnTo>
                    <a:lnTo>
                      <a:pt x="144" y="7"/>
                    </a:lnTo>
                    <a:lnTo>
                      <a:pt x="145" y="13"/>
                    </a:lnTo>
                    <a:lnTo>
                      <a:pt x="148" y="21"/>
                    </a:lnTo>
                    <a:lnTo>
                      <a:pt x="151" y="27"/>
                    </a:lnTo>
                    <a:close/>
                  </a:path>
                </a:pathLst>
              </a:custGeom>
              <a:solidFill>
                <a:schemeClr val="tx1"/>
              </a:solidFill>
              <a:ln w="9525">
                <a:solidFill>
                  <a:srgbClr val="CC9900"/>
                </a:solidFill>
                <a:round/>
                <a:headEnd/>
                <a:tailEnd/>
              </a:ln>
            </p:spPr>
            <p:txBody>
              <a:bodyPr/>
              <a:lstStyle/>
              <a:p>
                <a:endParaRPr lang="en-US"/>
              </a:p>
            </p:txBody>
          </p:sp>
          <p:sp>
            <p:nvSpPr>
              <p:cNvPr id="17424" name="Freeform 41"/>
              <p:cNvSpPr>
                <a:spLocks/>
              </p:cNvSpPr>
              <p:nvPr/>
            </p:nvSpPr>
            <p:spPr bwMode="auto">
              <a:xfrm>
                <a:off x="3943" y="3234"/>
                <a:ext cx="36" cy="40"/>
              </a:xfrm>
              <a:custGeom>
                <a:avLst/>
                <a:gdLst>
                  <a:gd name="T0" fmla="*/ 1 w 58"/>
                  <a:gd name="T1" fmla="*/ 0 h 65"/>
                  <a:gd name="T2" fmla="*/ 1 w 58"/>
                  <a:gd name="T3" fmla="*/ 1 h 65"/>
                  <a:gd name="T4" fmla="*/ 1 w 58"/>
                  <a:gd name="T5" fmla="*/ 1 h 65"/>
                  <a:gd name="T6" fmla="*/ 1 w 58"/>
                  <a:gd name="T7" fmla="*/ 1 h 65"/>
                  <a:gd name="T8" fmla="*/ 1 w 58"/>
                  <a:gd name="T9" fmla="*/ 1 h 65"/>
                  <a:gd name="T10" fmla="*/ 1 w 58"/>
                  <a:gd name="T11" fmla="*/ 1 h 65"/>
                  <a:gd name="T12" fmla="*/ 1 w 58"/>
                  <a:gd name="T13" fmla="*/ 1 h 65"/>
                  <a:gd name="T14" fmla="*/ 1 w 58"/>
                  <a:gd name="T15" fmla="*/ 1 h 65"/>
                  <a:gd name="T16" fmla="*/ 1 w 58"/>
                  <a:gd name="T17" fmla="*/ 1 h 65"/>
                  <a:gd name="T18" fmla="*/ 1 w 58"/>
                  <a:gd name="T19" fmla="*/ 1 h 65"/>
                  <a:gd name="T20" fmla="*/ 1 w 58"/>
                  <a:gd name="T21" fmla="*/ 1 h 65"/>
                  <a:gd name="T22" fmla="*/ 1 w 58"/>
                  <a:gd name="T23" fmla="*/ 1 h 65"/>
                  <a:gd name="T24" fmla="*/ 1 w 58"/>
                  <a:gd name="T25" fmla="*/ 1 h 65"/>
                  <a:gd name="T26" fmla="*/ 1 w 58"/>
                  <a:gd name="T27" fmla="*/ 1 h 65"/>
                  <a:gd name="T28" fmla="*/ 1 w 58"/>
                  <a:gd name="T29" fmla="*/ 1 h 65"/>
                  <a:gd name="T30" fmla="*/ 1 w 58"/>
                  <a:gd name="T31" fmla="*/ 1 h 65"/>
                  <a:gd name="T32" fmla="*/ 0 w 58"/>
                  <a:gd name="T33" fmla="*/ 1 h 65"/>
                  <a:gd name="T34" fmla="*/ 1 w 58"/>
                  <a:gd name="T35" fmla="*/ 1 h 65"/>
                  <a:gd name="T36" fmla="*/ 1 w 58"/>
                  <a:gd name="T37" fmla="*/ 1 h 65"/>
                  <a:gd name="T38" fmla="*/ 1 w 58"/>
                  <a:gd name="T39" fmla="*/ 1 h 65"/>
                  <a:gd name="T40" fmla="*/ 1 w 58"/>
                  <a:gd name="T41" fmla="*/ 1 h 65"/>
                  <a:gd name="T42" fmla="*/ 1 w 58"/>
                  <a:gd name="T43" fmla="*/ 1 h 65"/>
                  <a:gd name="T44" fmla="*/ 1 w 58"/>
                  <a:gd name="T45" fmla="*/ 1 h 65"/>
                  <a:gd name="T46" fmla="*/ 1 w 58"/>
                  <a:gd name="T47" fmla="*/ 1 h 65"/>
                  <a:gd name="T48" fmla="*/ 1 w 58"/>
                  <a:gd name="T49" fmla="*/ 0 h 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8"/>
                  <a:gd name="T76" fmla="*/ 0 h 65"/>
                  <a:gd name="T77" fmla="*/ 58 w 58"/>
                  <a:gd name="T78" fmla="*/ 65 h 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8" h="65">
                    <a:moveTo>
                      <a:pt x="44" y="0"/>
                    </a:moveTo>
                    <a:lnTo>
                      <a:pt x="53" y="17"/>
                    </a:lnTo>
                    <a:lnTo>
                      <a:pt x="57" y="31"/>
                    </a:lnTo>
                    <a:lnTo>
                      <a:pt x="57" y="41"/>
                    </a:lnTo>
                    <a:lnTo>
                      <a:pt x="58" y="47"/>
                    </a:lnTo>
                    <a:lnTo>
                      <a:pt x="56" y="52"/>
                    </a:lnTo>
                    <a:lnTo>
                      <a:pt x="54" y="56"/>
                    </a:lnTo>
                    <a:lnTo>
                      <a:pt x="52" y="58"/>
                    </a:lnTo>
                    <a:lnTo>
                      <a:pt x="45" y="61"/>
                    </a:lnTo>
                    <a:lnTo>
                      <a:pt x="39" y="63"/>
                    </a:lnTo>
                    <a:lnTo>
                      <a:pt x="34" y="65"/>
                    </a:lnTo>
                    <a:lnTo>
                      <a:pt x="30" y="65"/>
                    </a:lnTo>
                    <a:lnTo>
                      <a:pt x="25" y="63"/>
                    </a:lnTo>
                    <a:lnTo>
                      <a:pt x="19" y="61"/>
                    </a:lnTo>
                    <a:lnTo>
                      <a:pt x="14" y="58"/>
                    </a:lnTo>
                    <a:lnTo>
                      <a:pt x="8" y="56"/>
                    </a:lnTo>
                    <a:lnTo>
                      <a:pt x="0" y="52"/>
                    </a:lnTo>
                    <a:lnTo>
                      <a:pt x="3" y="48"/>
                    </a:lnTo>
                    <a:lnTo>
                      <a:pt x="8" y="40"/>
                    </a:lnTo>
                    <a:lnTo>
                      <a:pt x="14" y="32"/>
                    </a:lnTo>
                    <a:lnTo>
                      <a:pt x="22" y="22"/>
                    </a:lnTo>
                    <a:lnTo>
                      <a:pt x="30" y="13"/>
                    </a:lnTo>
                    <a:lnTo>
                      <a:pt x="36" y="6"/>
                    </a:lnTo>
                    <a:lnTo>
                      <a:pt x="41" y="1"/>
                    </a:lnTo>
                    <a:lnTo>
                      <a:pt x="44"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25" name="Freeform 42"/>
              <p:cNvSpPr>
                <a:spLocks/>
              </p:cNvSpPr>
              <p:nvPr/>
            </p:nvSpPr>
            <p:spPr bwMode="auto">
              <a:xfrm>
                <a:off x="3900" y="3345"/>
                <a:ext cx="21" cy="15"/>
              </a:xfrm>
              <a:custGeom>
                <a:avLst/>
                <a:gdLst>
                  <a:gd name="T0" fmla="*/ 1 w 34"/>
                  <a:gd name="T1" fmla="*/ 1 h 24"/>
                  <a:gd name="T2" fmla="*/ 1 w 34"/>
                  <a:gd name="T3" fmla="*/ 1 h 24"/>
                  <a:gd name="T4" fmla="*/ 1 w 34"/>
                  <a:gd name="T5" fmla="*/ 1 h 24"/>
                  <a:gd name="T6" fmla="*/ 1 w 34"/>
                  <a:gd name="T7" fmla="*/ 1 h 24"/>
                  <a:gd name="T8" fmla="*/ 1 w 34"/>
                  <a:gd name="T9" fmla="*/ 1 h 24"/>
                  <a:gd name="T10" fmla="*/ 1 w 34"/>
                  <a:gd name="T11" fmla="*/ 1 h 24"/>
                  <a:gd name="T12" fmla="*/ 1 w 34"/>
                  <a:gd name="T13" fmla="*/ 1 h 24"/>
                  <a:gd name="T14" fmla="*/ 1 w 34"/>
                  <a:gd name="T15" fmla="*/ 1 h 24"/>
                  <a:gd name="T16" fmla="*/ 0 w 34"/>
                  <a:gd name="T17" fmla="*/ 0 h 24"/>
                  <a:gd name="T18" fmla="*/ 1 w 34"/>
                  <a:gd name="T19" fmla="*/ 1 h 24"/>
                  <a:gd name="T20" fmla="*/ 1 w 34"/>
                  <a:gd name="T21" fmla="*/ 1 h 24"/>
                  <a:gd name="T22" fmla="*/ 1 w 34"/>
                  <a:gd name="T23" fmla="*/ 1 h 24"/>
                  <a:gd name="T24" fmla="*/ 1 w 34"/>
                  <a:gd name="T25" fmla="*/ 1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24"/>
                  <a:gd name="T41" fmla="*/ 34 w 34"/>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24">
                    <a:moveTo>
                      <a:pt x="34" y="3"/>
                    </a:moveTo>
                    <a:lnTo>
                      <a:pt x="29" y="7"/>
                    </a:lnTo>
                    <a:lnTo>
                      <a:pt x="23" y="12"/>
                    </a:lnTo>
                    <a:lnTo>
                      <a:pt x="20" y="18"/>
                    </a:lnTo>
                    <a:lnTo>
                      <a:pt x="16" y="24"/>
                    </a:lnTo>
                    <a:lnTo>
                      <a:pt x="12" y="17"/>
                    </a:lnTo>
                    <a:lnTo>
                      <a:pt x="8" y="12"/>
                    </a:lnTo>
                    <a:lnTo>
                      <a:pt x="4" y="5"/>
                    </a:lnTo>
                    <a:lnTo>
                      <a:pt x="0" y="0"/>
                    </a:lnTo>
                    <a:lnTo>
                      <a:pt x="8" y="3"/>
                    </a:lnTo>
                    <a:lnTo>
                      <a:pt x="17" y="3"/>
                    </a:lnTo>
                    <a:lnTo>
                      <a:pt x="25" y="4"/>
                    </a:lnTo>
                    <a:lnTo>
                      <a:pt x="34" y="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26" name="Freeform 43"/>
              <p:cNvSpPr>
                <a:spLocks/>
              </p:cNvSpPr>
              <p:nvPr/>
            </p:nvSpPr>
            <p:spPr bwMode="auto">
              <a:xfrm>
                <a:off x="3403" y="3073"/>
                <a:ext cx="548" cy="446"/>
              </a:xfrm>
              <a:custGeom>
                <a:avLst/>
                <a:gdLst>
                  <a:gd name="T0" fmla="*/ 1 w 892"/>
                  <a:gd name="T1" fmla="*/ 1 h 726"/>
                  <a:gd name="T2" fmla="*/ 1 w 892"/>
                  <a:gd name="T3" fmla="*/ 1 h 726"/>
                  <a:gd name="T4" fmla="*/ 1 w 892"/>
                  <a:gd name="T5" fmla="*/ 1 h 726"/>
                  <a:gd name="T6" fmla="*/ 1 w 892"/>
                  <a:gd name="T7" fmla="*/ 1 h 726"/>
                  <a:gd name="T8" fmla="*/ 1 w 892"/>
                  <a:gd name="T9" fmla="*/ 1 h 726"/>
                  <a:gd name="T10" fmla="*/ 1 w 892"/>
                  <a:gd name="T11" fmla="*/ 1 h 726"/>
                  <a:gd name="T12" fmla="*/ 1 w 892"/>
                  <a:gd name="T13" fmla="*/ 0 h 726"/>
                  <a:gd name="T14" fmla="*/ 1 w 892"/>
                  <a:gd name="T15" fmla="*/ 1 h 726"/>
                  <a:gd name="T16" fmla="*/ 1 w 892"/>
                  <a:gd name="T17" fmla="*/ 1 h 726"/>
                  <a:gd name="T18" fmla="*/ 1 w 892"/>
                  <a:gd name="T19" fmla="*/ 1 h 726"/>
                  <a:gd name="T20" fmla="*/ 1 w 892"/>
                  <a:gd name="T21" fmla="*/ 1 h 726"/>
                  <a:gd name="T22" fmla="*/ 1 w 892"/>
                  <a:gd name="T23" fmla="*/ 1 h 726"/>
                  <a:gd name="T24" fmla="*/ 1 w 892"/>
                  <a:gd name="T25" fmla="*/ 1 h 726"/>
                  <a:gd name="T26" fmla="*/ 1 w 892"/>
                  <a:gd name="T27" fmla="*/ 1 h 726"/>
                  <a:gd name="T28" fmla="*/ 1 w 892"/>
                  <a:gd name="T29" fmla="*/ 1 h 726"/>
                  <a:gd name="T30" fmla="*/ 1 w 892"/>
                  <a:gd name="T31" fmla="*/ 1 h 726"/>
                  <a:gd name="T32" fmla="*/ 1 w 892"/>
                  <a:gd name="T33" fmla="*/ 1 h 726"/>
                  <a:gd name="T34" fmla="*/ 1 w 892"/>
                  <a:gd name="T35" fmla="*/ 1 h 726"/>
                  <a:gd name="T36" fmla="*/ 1 w 892"/>
                  <a:gd name="T37" fmla="*/ 1 h 726"/>
                  <a:gd name="T38" fmla="*/ 1 w 892"/>
                  <a:gd name="T39" fmla="*/ 1 h 726"/>
                  <a:gd name="T40" fmla="*/ 1 w 892"/>
                  <a:gd name="T41" fmla="*/ 1 h 726"/>
                  <a:gd name="T42" fmla="*/ 1 w 892"/>
                  <a:gd name="T43" fmla="*/ 1 h 726"/>
                  <a:gd name="T44" fmla="*/ 1 w 892"/>
                  <a:gd name="T45" fmla="*/ 1 h 726"/>
                  <a:gd name="T46" fmla="*/ 1 w 892"/>
                  <a:gd name="T47" fmla="*/ 1 h 726"/>
                  <a:gd name="T48" fmla="*/ 1 w 892"/>
                  <a:gd name="T49" fmla="*/ 1 h 726"/>
                  <a:gd name="T50" fmla="*/ 1 w 892"/>
                  <a:gd name="T51" fmla="*/ 1 h 726"/>
                  <a:gd name="T52" fmla="*/ 1 w 892"/>
                  <a:gd name="T53" fmla="*/ 1 h 726"/>
                  <a:gd name="T54" fmla="*/ 1 w 892"/>
                  <a:gd name="T55" fmla="*/ 1 h 726"/>
                  <a:gd name="T56" fmla="*/ 1 w 892"/>
                  <a:gd name="T57" fmla="*/ 1 h 726"/>
                  <a:gd name="T58" fmla="*/ 1 w 892"/>
                  <a:gd name="T59" fmla="*/ 1 h 726"/>
                  <a:gd name="T60" fmla="*/ 1 w 892"/>
                  <a:gd name="T61" fmla="*/ 1 h 726"/>
                  <a:gd name="T62" fmla="*/ 1 w 892"/>
                  <a:gd name="T63" fmla="*/ 1 h 726"/>
                  <a:gd name="T64" fmla="*/ 1 w 892"/>
                  <a:gd name="T65" fmla="*/ 1 h 726"/>
                  <a:gd name="T66" fmla="*/ 1 w 892"/>
                  <a:gd name="T67" fmla="*/ 1 h 726"/>
                  <a:gd name="T68" fmla="*/ 1 w 892"/>
                  <a:gd name="T69" fmla="*/ 1 h 726"/>
                  <a:gd name="T70" fmla="*/ 1 w 892"/>
                  <a:gd name="T71" fmla="*/ 1 h 726"/>
                  <a:gd name="T72" fmla="*/ 1 w 892"/>
                  <a:gd name="T73" fmla="*/ 1 h 726"/>
                  <a:gd name="T74" fmla="*/ 1 w 892"/>
                  <a:gd name="T75" fmla="*/ 1 h 726"/>
                  <a:gd name="T76" fmla="*/ 1 w 892"/>
                  <a:gd name="T77" fmla="*/ 1 h 726"/>
                  <a:gd name="T78" fmla="*/ 1 w 892"/>
                  <a:gd name="T79" fmla="*/ 1 h 726"/>
                  <a:gd name="T80" fmla="*/ 1 w 892"/>
                  <a:gd name="T81" fmla="*/ 1 h 726"/>
                  <a:gd name="T82" fmla="*/ 1 w 892"/>
                  <a:gd name="T83" fmla="*/ 1 h 726"/>
                  <a:gd name="T84" fmla="*/ 1 w 892"/>
                  <a:gd name="T85" fmla="*/ 1 h 726"/>
                  <a:gd name="T86" fmla="*/ 1 w 892"/>
                  <a:gd name="T87" fmla="*/ 1 h 726"/>
                  <a:gd name="T88" fmla="*/ 1 w 892"/>
                  <a:gd name="T89" fmla="*/ 1 h 726"/>
                  <a:gd name="T90" fmla="*/ 1 w 892"/>
                  <a:gd name="T91" fmla="*/ 1 h 726"/>
                  <a:gd name="T92" fmla="*/ 1 w 892"/>
                  <a:gd name="T93" fmla="*/ 1 h 72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92"/>
                  <a:gd name="T142" fmla="*/ 0 h 726"/>
                  <a:gd name="T143" fmla="*/ 892 w 892"/>
                  <a:gd name="T144" fmla="*/ 726 h 72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92" h="726">
                    <a:moveTo>
                      <a:pt x="181" y="263"/>
                    </a:moveTo>
                    <a:lnTo>
                      <a:pt x="189" y="248"/>
                    </a:lnTo>
                    <a:lnTo>
                      <a:pt x="199" y="233"/>
                    </a:lnTo>
                    <a:lnTo>
                      <a:pt x="210" y="219"/>
                    </a:lnTo>
                    <a:lnTo>
                      <a:pt x="220" y="205"/>
                    </a:lnTo>
                    <a:lnTo>
                      <a:pt x="232" y="192"/>
                    </a:lnTo>
                    <a:lnTo>
                      <a:pt x="242" y="178"/>
                    </a:lnTo>
                    <a:lnTo>
                      <a:pt x="254" y="165"/>
                    </a:lnTo>
                    <a:lnTo>
                      <a:pt x="265" y="150"/>
                    </a:lnTo>
                    <a:lnTo>
                      <a:pt x="280" y="132"/>
                    </a:lnTo>
                    <a:lnTo>
                      <a:pt x="291" y="113"/>
                    </a:lnTo>
                    <a:lnTo>
                      <a:pt x="303" y="95"/>
                    </a:lnTo>
                    <a:lnTo>
                      <a:pt x="315" y="78"/>
                    </a:lnTo>
                    <a:lnTo>
                      <a:pt x="325" y="61"/>
                    </a:lnTo>
                    <a:lnTo>
                      <a:pt x="338" y="44"/>
                    </a:lnTo>
                    <a:lnTo>
                      <a:pt x="353" y="27"/>
                    </a:lnTo>
                    <a:lnTo>
                      <a:pt x="370" y="12"/>
                    </a:lnTo>
                    <a:lnTo>
                      <a:pt x="379" y="7"/>
                    </a:lnTo>
                    <a:lnTo>
                      <a:pt x="391" y="3"/>
                    </a:lnTo>
                    <a:lnTo>
                      <a:pt x="399" y="0"/>
                    </a:lnTo>
                    <a:lnTo>
                      <a:pt x="403" y="0"/>
                    </a:lnTo>
                    <a:lnTo>
                      <a:pt x="430" y="11"/>
                    </a:lnTo>
                    <a:lnTo>
                      <a:pt x="456" y="21"/>
                    </a:lnTo>
                    <a:lnTo>
                      <a:pt x="482" y="29"/>
                    </a:lnTo>
                    <a:lnTo>
                      <a:pt x="506" y="38"/>
                    </a:lnTo>
                    <a:lnTo>
                      <a:pt x="531" y="47"/>
                    </a:lnTo>
                    <a:lnTo>
                      <a:pt x="555" y="55"/>
                    </a:lnTo>
                    <a:lnTo>
                      <a:pt x="581" y="65"/>
                    </a:lnTo>
                    <a:lnTo>
                      <a:pt x="607" y="75"/>
                    </a:lnTo>
                    <a:lnTo>
                      <a:pt x="624" y="82"/>
                    </a:lnTo>
                    <a:lnTo>
                      <a:pt x="641" y="88"/>
                    </a:lnTo>
                    <a:lnTo>
                      <a:pt x="656" y="93"/>
                    </a:lnTo>
                    <a:lnTo>
                      <a:pt x="673" y="99"/>
                    </a:lnTo>
                    <a:lnTo>
                      <a:pt x="689" y="104"/>
                    </a:lnTo>
                    <a:lnTo>
                      <a:pt x="706" y="108"/>
                    </a:lnTo>
                    <a:lnTo>
                      <a:pt x="721" y="112"/>
                    </a:lnTo>
                    <a:lnTo>
                      <a:pt x="738" y="115"/>
                    </a:lnTo>
                    <a:lnTo>
                      <a:pt x="753" y="119"/>
                    </a:lnTo>
                    <a:lnTo>
                      <a:pt x="770" y="122"/>
                    </a:lnTo>
                    <a:lnTo>
                      <a:pt x="786" y="126"/>
                    </a:lnTo>
                    <a:lnTo>
                      <a:pt x="803" y="130"/>
                    </a:lnTo>
                    <a:lnTo>
                      <a:pt x="819" y="132"/>
                    </a:lnTo>
                    <a:lnTo>
                      <a:pt x="838" y="136"/>
                    </a:lnTo>
                    <a:lnTo>
                      <a:pt x="854" y="141"/>
                    </a:lnTo>
                    <a:lnTo>
                      <a:pt x="873" y="145"/>
                    </a:lnTo>
                    <a:lnTo>
                      <a:pt x="885" y="153"/>
                    </a:lnTo>
                    <a:lnTo>
                      <a:pt x="892" y="165"/>
                    </a:lnTo>
                    <a:lnTo>
                      <a:pt x="892" y="179"/>
                    </a:lnTo>
                    <a:lnTo>
                      <a:pt x="885" y="192"/>
                    </a:lnTo>
                    <a:lnTo>
                      <a:pt x="879" y="200"/>
                    </a:lnTo>
                    <a:lnTo>
                      <a:pt x="874" y="207"/>
                    </a:lnTo>
                    <a:lnTo>
                      <a:pt x="870" y="214"/>
                    </a:lnTo>
                    <a:lnTo>
                      <a:pt x="865" y="220"/>
                    </a:lnTo>
                    <a:lnTo>
                      <a:pt x="860" y="228"/>
                    </a:lnTo>
                    <a:lnTo>
                      <a:pt x="854" y="235"/>
                    </a:lnTo>
                    <a:lnTo>
                      <a:pt x="849" y="242"/>
                    </a:lnTo>
                    <a:lnTo>
                      <a:pt x="843" y="250"/>
                    </a:lnTo>
                    <a:lnTo>
                      <a:pt x="830" y="267"/>
                    </a:lnTo>
                    <a:lnTo>
                      <a:pt x="814" y="288"/>
                    </a:lnTo>
                    <a:lnTo>
                      <a:pt x="799" y="310"/>
                    </a:lnTo>
                    <a:lnTo>
                      <a:pt x="782" y="331"/>
                    </a:lnTo>
                    <a:lnTo>
                      <a:pt x="768" y="350"/>
                    </a:lnTo>
                    <a:lnTo>
                      <a:pt x="755" y="367"/>
                    </a:lnTo>
                    <a:lnTo>
                      <a:pt x="746" y="377"/>
                    </a:lnTo>
                    <a:lnTo>
                      <a:pt x="742" y="380"/>
                    </a:lnTo>
                    <a:lnTo>
                      <a:pt x="729" y="372"/>
                    </a:lnTo>
                    <a:lnTo>
                      <a:pt x="716" y="367"/>
                    </a:lnTo>
                    <a:lnTo>
                      <a:pt x="702" y="363"/>
                    </a:lnTo>
                    <a:lnTo>
                      <a:pt x="687" y="359"/>
                    </a:lnTo>
                    <a:lnTo>
                      <a:pt x="673" y="358"/>
                    </a:lnTo>
                    <a:lnTo>
                      <a:pt x="659" y="356"/>
                    </a:lnTo>
                    <a:lnTo>
                      <a:pt x="645" y="356"/>
                    </a:lnTo>
                    <a:lnTo>
                      <a:pt x="630" y="358"/>
                    </a:lnTo>
                    <a:lnTo>
                      <a:pt x="620" y="359"/>
                    </a:lnTo>
                    <a:lnTo>
                      <a:pt x="610" y="363"/>
                    </a:lnTo>
                    <a:lnTo>
                      <a:pt x="601" y="368"/>
                    </a:lnTo>
                    <a:lnTo>
                      <a:pt x="593" y="375"/>
                    </a:lnTo>
                    <a:lnTo>
                      <a:pt x="586" y="384"/>
                    </a:lnTo>
                    <a:lnTo>
                      <a:pt x="583" y="391"/>
                    </a:lnTo>
                    <a:lnTo>
                      <a:pt x="579" y="402"/>
                    </a:lnTo>
                    <a:lnTo>
                      <a:pt x="577" y="411"/>
                    </a:lnTo>
                    <a:lnTo>
                      <a:pt x="580" y="428"/>
                    </a:lnTo>
                    <a:lnTo>
                      <a:pt x="586" y="441"/>
                    </a:lnTo>
                    <a:lnTo>
                      <a:pt x="598" y="451"/>
                    </a:lnTo>
                    <a:lnTo>
                      <a:pt x="612" y="459"/>
                    </a:lnTo>
                    <a:lnTo>
                      <a:pt x="629" y="464"/>
                    </a:lnTo>
                    <a:lnTo>
                      <a:pt x="646" y="469"/>
                    </a:lnTo>
                    <a:lnTo>
                      <a:pt x="663" y="474"/>
                    </a:lnTo>
                    <a:lnTo>
                      <a:pt x="677" y="479"/>
                    </a:lnTo>
                    <a:lnTo>
                      <a:pt x="674" y="487"/>
                    </a:lnTo>
                    <a:lnTo>
                      <a:pt x="663" y="508"/>
                    </a:lnTo>
                    <a:lnTo>
                      <a:pt x="643" y="538"/>
                    </a:lnTo>
                    <a:lnTo>
                      <a:pt x="619" y="573"/>
                    </a:lnTo>
                    <a:lnTo>
                      <a:pt x="592" y="612"/>
                    </a:lnTo>
                    <a:lnTo>
                      <a:pt x="562" y="650"/>
                    </a:lnTo>
                    <a:lnTo>
                      <a:pt x="533" y="687"/>
                    </a:lnTo>
                    <a:lnTo>
                      <a:pt x="506" y="718"/>
                    </a:lnTo>
                    <a:lnTo>
                      <a:pt x="498" y="720"/>
                    </a:lnTo>
                    <a:lnTo>
                      <a:pt x="492" y="723"/>
                    </a:lnTo>
                    <a:lnTo>
                      <a:pt x="483" y="724"/>
                    </a:lnTo>
                    <a:lnTo>
                      <a:pt x="475" y="724"/>
                    </a:lnTo>
                    <a:lnTo>
                      <a:pt x="466" y="726"/>
                    </a:lnTo>
                    <a:lnTo>
                      <a:pt x="458" y="724"/>
                    </a:lnTo>
                    <a:lnTo>
                      <a:pt x="451" y="724"/>
                    </a:lnTo>
                    <a:lnTo>
                      <a:pt x="443" y="723"/>
                    </a:lnTo>
                    <a:lnTo>
                      <a:pt x="421" y="718"/>
                    </a:lnTo>
                    <a:lnTo>
                      <a:pt x="396" y="710"/>
                    </a:lnTo>
                    <a:lnTo>
                      <a:pt x="370" y="702"/>
                    </a:lnTo>
                    <a:lnTo>
                      <a:pt x="346" y="693"/>
                    </a:lnTo>
                    <a:lnTo>
                      <a:pt x="324" y="684"/>
                    </a:lnTo>
                    <a:lnTo>
                      <a:pt x="304" y="678"/>
                    </a:lnTo>
                    <a:lnTo>
                      <a:pt x="291" y="672"/>
                    </a:lnTo>
                    <a:lnTo>
                      <a:pt x="286" y="670"/>
                    </a:lnTo>
                    <a:lnTo>
                      <a:pt x="268" y="663"/>
                    </a:lnTo>
                    <a:lnTo>
                      <a:pt x="251" y="657"/>
                    </a:lnTo>
                    <a:lnTo>
                      <a:pt x="233" y="652"/>
                    </a:lnTo>
                    <a:lnTo>
                      <a:pt x="216" y="645"/>
                    </a:lnTo>
                    <a:lnTo>
                      <a:pt x="198" y="639"/>
                    </a:lnTo>
                    <a:lnTo>
                      <a:pt x="181" y="632"/>
                    </a:lnTo>
                    <a:lnTo>
                      <a:pt x="163" y="626"/>
                    </a:lnTo>
                    <a:lnTo>
                      <a:pt x="146" y="621"/>
                    </a:lnTo>
                    <a:lnTo>
                      <a:pt x="128" y="614"/>
                    </a:lnTo>
                    <a:lnTo>
                      <a:pt x="111" y="608"/>
                    </a:lnTo>
                    <a:lnTo>
                      <a:pt x="93" y="601"/>
                    </a:lnTo>
                    <a:lnTo>
                      <a:pt x="76" y="595"/>
                    </a:lnTo>
                    <a:lnTo>
                      <a:pt x="58" y="588"/>
                    </a:lnTo>
                    <a:lnTo>
                      <a:pt x="42" y="582"/>
                    </a:lnTo>
                    <a:lnTo>
                      <a:pt x="23" y="574"/>
                    </a:lnTo>
                    <a:lnTo>
                      <a:pt x="7" y="568"/>
                    </a:lnTo>
                    <a:lnTo>
                      <a:pt x="5" y="565"/>
                    </a:lnTo>
                    <a:lnTo>
                      <a:pt x="3" y="562"/>
                    </a:lnTo>
                    <a:lnTo>
                      <a:pt x="1" y="560"/>
                    </a:lnTo>
                    <a:lnTo>
                      <a:pt x="0" y="557"/>
                    </a:lnTo>
                    <a:lnTo>
                      <a:pt x="21" y="520"/>
                    </a:lnTo>
                    <a:lnTo>
                      <a:pt x="44" y="483"/>
                    </a:lnTo>
                    <a:lnTo>
                      <a:pt x="67" y="447"/>
                    </a:lnTo>
                    <a:lnTo>
                      <a:pt x="92" y="412"/>
                    </a:lnTo>
                    <a:lnTo>
                      <a:pt x="115" y="376"/>
                    </a:lnTo>
                    <a:lnTo>
                      <a:pt x="139" y="338"/>
                    </a:lnTo>
                    <a:lnTo>
                      <a:pt x="161" y="302"/>
                    </a:lnTo>
                    <a:lnTo>
                      <a:pt x="181" y="263"/>
                    </a:lnTo>
                    <a:close/>
                  </a:path>
                </a:pathLst>
              </a:custGeom>
              <a:solidFill>
                <a:srgbClr val="CC9900"/>
              </a:solidFill>
              <a:ln w="9525">
                <a:solidFill>
                  <a:srgbClr val="CC9900"/>
                </a:solidFill>
                <a:round/>
                <a:headEnd/>
                <a:tailEnd/>
              </a:ln>
            </p:spPr>
            <p:txBody>
              <a:bodyPr/>
              <a:lstStyle/>
              <a:p>
                <a:endParaRPr lang="en-US"/>
              </a:p>
            </p:txBody>
          </p:sp>
          <p:sp>
            <p:nvSpPr>
              <p:cNvPr id="17427" name="Freeform 44"/>
              <p:cNvSpPr>
                <a:spLocks/>
              </p:cNvSpPr>
              <p:nvPr/>
            </p:nvSpPr>
            <p:spPr bwMode="auto">
              <a:xfrm>
                <a:off x="3400" y="3379"/>
                <a:ext cx="468" cy="189"/>
              </a:xfrm>
              <a:custGeom>
                <a:avLst/>
                <a:gdLst>
                  <a:gd name="T0" fmla="*/ 1 w 762"/>
                  <a:gd name="T1" fmla="*/ 1 h 308"/>
                  <a:gd name="T2" fmla="*/ 1 w 762"/>
                  <a:gd name="T3" fmla="*/ 1 h 308"/>
                  <a:gd name="T4" fmla="*/ 1 w 762"/>
                  <a:gd name="T5" fmla="*/ 1 h 308"/>
                  <a:gd name="T6" fmla="*/ 1 w 762"/>
                  <a:gd name="T7" fmla="*/ 1 h 308"/>
                  <a:gd name="T8" fmla="*/ 1 w 762"/>
                  <a:gd name="T9" fmla="*/ 1 h 308"/>
                  <a:gd name="T10" fmla="*/ 1 w 762"/>
                  <a:gd name="T11" fmla="*/ 1 h 308"/>
                  <a:gd name="T12" fmla="*/ 1 w 762"/>
                  <a:gd name="T13" fmla="*/ 1 h 308"/>
                  <a:gd name="T14" fmla="*/ 1 w 762"/>
                  <a:gd name="T15" fmla="*/ 1 h 308"/>
                  <a:gd name="T16" fmla="*/ 1 w 762"/>
                  <a:gd name="T17" fmla="*/ 1 h 308"/>
                  <a:gd name="T18" fmla="*/ 1 w 762"/>
                  <a:gd name="T19" fmla="*/ 1 h 308"/>
                  <a:gd name="T20" fmla="*/ 1 w 762"/>
                  <a:gd name="T21" fmla="*/ 1 h 308"/>
                  <a:gd name="T22" fmla="*/ 1 w 762"/>
                  <a:gd name="T23" fmla="*/ 1 h 308"/>
                  <a:gd name="T24" fmla="*/ 1 w 762"/>
                  <a:gd name="T25" fmla="*/ 1 h 308"/>
                  <a:gd name="T26" fmla="*/ 1 w 762"/>
                  <a:gd name="T27" fmla="*/ 1 h 308"/>
                  <a:gd name="T28" fmla="*/ 1 w 762"/>
                  <a:gd name="T29" fmla="*/ 1 h 308"/>
                  <a:gd name="T30" fmla="*/ 1 w 762"/>
                  <a:gd name="T31" fmla="*/ 0 h 308"/>
                  <a:gd name="T32" fmla="*/ 1 w 762"/>
                  <a:gd name="T33" fmla="*/ 1 h 308"/>
                  <a:gd name="T34" fmla="*/ 1 w 762"/>
                  <a:gd name="T35" fmla="*/ 1 h 308"/>
                  <a:gd name="T36" fmla="*/ 1 w 762"/>
                  <a:gd name="T37" fmla="*/ 1 h 308"/>
                  <a:gd name="T38" fmla="*/ 1 w 762"/>
                  <a:gd name="T39" fmla="*/ 1 h 308"/>
                  <a:gd name="T40" fmla="*/ 1 w 762"/>
                  <a:gd name="T41" fmla="*/ 1 h 308"/>
                  <a:gd name="T42" fmla="*/ 1 w 762"/>
                  <a:gd name="T43" fmla="*/ 1 h 308"/>
                  <a:gd name="T44" fmla="*/ 1 w 762"/>
                  <a:gd name="T45" fmla="*/ 1 h 308"/>
                  <a:gd name="T46" fmla="*/ 1 w 762"/>
                  <a:gd name="T47" fmla="*/ 1 h 308"/>
                  <a:gd name="T48" fmla="*/ 1 w 762"/>
                  <a:gd name="T49" fmla="*/ 1 h 308"/>
                  <a:gd name="T50" fmla="*/ 1 w 762"/>
                  <a:gd name="T51" fmla="*/ 1 h 308"/>
                  <a:gd name="T52" fmla="*/ 1 w 762"/>
                  <a:gd name="T53" fmla="*/ 1 h 308"/>
                  <a:gd name="T54" fmla="*/ 1 w 762"/>
                  <a:gd name="T55" fmla="*/ 1 h 308"/>
                  <a:gd name="T56" fmla="*/ 1 w 762"/>
                  <a:gd name="T57" fmla="*/ 1 h 308"/>
                  <a:gd name="T58" fmla="*/ 1 w 762"/>
                  <a:gd name="T59" fmla="*/ 1 h 308"/>
                  <a:gd name="T60" fmla="*/ 1 w 762"/>
                  <a:gd name="T61" fmla="*/ 1 h 308"/>
                  <a:gd name="T62" fmla="*/ 1 w 762"/>
                  <a:gd name="T63" fmla="*/ 1 h 308"/>
                  <a:gd name="T64" fmla="*/ 1 w 762"/>
                  <a:gd name="T65" fmla="*/ 1 h 308"/>
                  <a:gd name="T66" fmla="*/ 1 w 762"/>
                  <a:gd name="T67" fmla="*/ 1 h 308"/>
                  <a:gd name="T68" fmla="*/ 1 w 762"/>
                  <a:gd name="T69" fmla="*/ 1 h 308"/>
                  <a:gd name="T70" fmla="*/ 1 w 762"/>
                  <a:gd name="T71" fmla="*/ 1 h 308"/>
                  <a:gd name="T72" fmla="*/ 1 w 762"/>
                  <a:gd name="T73" fmla="*/ 1 h 308"/>
                  <a:gd name="T74" fmla="*/ 1 w 762"/>
                  <a:gd name="T75" fmla="*/ 1 h 308"/>
                  <a:gd name="T76" fmla="*/ 1 w 762"/>
                  <a:gd name="T77" fmla="*/ 1 h 308"/>
                  <a:gd name="T78" fmla="*/ 1 w 762"/>
                  <a:gd name="T79" fmla="*/ 1 h 308"/>
                  <a:gd name="T80" fmla="*/ 1 w 762"/>
                  <a:gd name="T81" fmla="*/ 1 h 308"/>
                  <a:gd name="T82" fmla="*/ 1 w 762"/>
                  <a:gd name="T83" fmla="*/ 1 h 308"/>
                  <a:gd name="T84" fmla="*/ 1 w 762"/>
                  <a:gd name="T85" fmla="*/ 1 h 308"/>
                  <a:gd name="T86" fmla="*/ 1 w 762"/>
                  <a:gd name="T87" fmla="*/ 1 h 308"/>
                  <a:gd name="T88" fmla="*/ 1 w 762"/>
                  <a:gd name="T89" fmla="*/ 1 h 308"/>
                  <a:gd name="T90" fmla="*/ 1 w 762"/>
                  <a:gd name="T91" fmla="*/ 1 h 308"/>
                  <a:gd name="T92" fmla="*/ 1 w 762"/>
                  <a:gd name="T93" fmla="*/ 1 h 308"/>
                  <a:gd name="T94" fmla="*/ 1 w 762"/>
                  <a:gd name="T95" fmla="*/ 1 h 30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62"/>
                  <a:gd name="T145" fmla="*/ 0 h 308"/>
                  <a:gd name="T146" fmla="*/ 762 w 762"/>
                  <a:gd name="T147" fmla="*/ 308 h 30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62" h="308">
                    <a:moveTo>
                      <a:pt x="0" y="84"/>
                    </a:moveTo>
                    <a:lnTo>
                      <a:pt x="18" y="92"/>
                    </a:lnTo>
                    <a:lnTo>
                      <a:pt x="39" y="99"/>
                    </a:lnTo>
                    <a:lnTo>
                      <a:pt x="61" y="108"/>
                    </a:lnTo>
                    <a:lnTo>
                      <a:pt x="83" y="118"/>
                    </a:lnTo>
                    <a:lnTo>
                      <a:pt x="103" y="128"/>
                    </a:lnTo>
                    <a:lnTo>
                      <a:pt x="125" y="136"/>
                    </a:lnTo>
                    <a:lnTo>
                      <a:pt x="146" y="145"/>
                    </a:lnTo>
                    <a:lnTo>
                      <a:pt x="164" y="152"/>
                    </a:lnTo>
                    <a:lnTo>
                      <a:pt x="171" y="155"/>
                    </a:lnTo>
                    <a:lnTo>
                      <a:pt x="181" y="159"/>
                    </a:lnTo>
                    <a:lnTo>
                      <a:pt x="195" y="164"/>
                    </a:lnTo>
                    <a:lnTo>
                      <a:pt x="211" y="169"/>
                    </a:lnTo>
                    <a:lnTo>
                      <a:pt x="229" y="177"/>
                    </a:lnTo>
                    <a:lnTo>
                      <a:pt x="250" y="184"/>
                    </a:lnTo>
                    <a:lnTo>
                      <a:pt x="272" y="191"/>
                    </a:lnTo>
                    <a:lnTo>
                      <a:pt x="294" y="199"/>
                    </a:lnTo>
                    <a:lnTo>
                      <a:pt x="316" y="208"/>
                    </a:lnTo>
                    <a:lnTo>
                      <a:pt x="339" y="216"/>
                    </a:lnTo>
                    <a:lnTo>
                      <a:pt x="361" y="222"/>
                    </a:lnTo>
                    <a:lnTo>
                      <a:pt x="382" y="230"/>
                    </a:lnTo>
                    <a:lnTo>
                      <a:pt x="401" y="235"/>
                    </a:lnTo>
                    <a:lnTo>
                      <a:pt x="419" y="241"/>
                    </a:lnTo>
                    <a:lnTo>
                      <a:pt x="435" y="244"/>
                    </a:lnTo>
                    <a:lnTo>
                      <a:pt x="448" y="247"/>
                    </a:lnTo>
                    <a:lnTo>
                      <a:pt x="457" y="248"/>
                    </a:lnTo>
                    <a:lnTo>
                      <a:pt x="467" y="251"/>
                    </a:lnTo>
                    <a:lnTo>
                      <a:pt x="476" y="252"/>
                    </a:lnTo>
                    <a:lnTo>
                      <a:pt x="485" y="255"/>
                    </a:lnTo>
                    <a:lnTo>
                      <a:pt x="494" y="256"/>
                    </a:lnTo>
                    <a:lnTo>
                      <a:pt x="503" y="256"/>
                    </a:lnTo>
                    <a:lnTo>
                      <a:pt x="512" y="255"/>
                    </a:lnTo>
                    <a:lnTo>
                      <a:pt x="520" y="252"/>
                    </a:lnTo>
                    <a:lnTo>
                      <a:pt x="537" y="233"/>
                    </a:lnTo>
                    <a:lnTo>
                      <a:pt x="554" y="212"/>
                    </a:lnTo>
                    <a:lnTo>
                      <a:pt x="569" y="190"/>
                    </a:lnTo>
                    <a:lnTo>
                      <a:pt x="585" y="167"/>
                    </a:lnTo>
                    <a:lnTo>
                      <a:pt x="601" y="143"/>
                    </a:lnTo>
                    <a:lnTo>
                      <a:pt x="616" y="121"/>
                    </a:lnTo>
                    <a:lnTo>
                      <a:pt x="632" y="98"/>
                    </a:lnTo>
                    <a:lnTo>
                      <a:pt x="647" y="77"/>
                    </a:lnTo>
                    <a:lnTo>
                      <a:pt x="656" y="66"/>
                    </a:lnTo>
                    <a:lnTo>
                      <a:pt x="667" y="53"/>
                    </a:lnTo>
                    <a:lnTo>
                      <a:pt x="678" y="38"/>
                    </a:lnTo>
                    <a:lnTo>
                      <a:pt x="689" y="26"/>
                    </a:lnTo>
                    <a:lnTo>
                      <a:pt x="699" y="14"/>
                    </a:lnTo>
                    <a:lnTo>
                      <a:pt x="708" y="5"/>
                    </a:lnTo>
                    <a:lnTo>
                      <a:pt x="714" y="0"/>
                    </a:lnTo>
                    <a:lnTo>
                      <a:pt x="718" y="0"/>
                    </a:lnTo>
                    <a:lnTo>
                      <a:pt x="723" y="5"/>
                    </a:lnTo>
                    <a:lnTo>
                      <a:pt x="729" y="11"/>
                    </a:lnTo>
                    <a:lnTo>
                      <a:pt x="735" y="18"/>
                    </a:lnTo>
                    <a:lnTo>
                      <a:pt x="740" y="24"/>
                    </a:lnTo>
                    <a:lnTo>
                      <a:pt x="747" y="32"/>
                    </a:lnTo>
                    <a:lnTo>
                      <a:pt x="752" y="38"/>
                    </a:lnTo>
                    <a:lnTo>
                      <a:pt x="757" y="45"/>
                    </a:lnTo>
                    <a:lnTo>
                      <a:pt x="762" y="50"/>
                    </a:lnTo>
                    <a:lnTo>
                      <a:pt x="756" y="58"/>
                    </a:lnTo>
                    <a:lnTo>
                      <a:pt x="751" y="66"/>
                    </a:lnTo>
                    <a:lnTo>
                      <a:pt x="745" y="73"/>
                    </a:lnTo>
                    <a:lnTo>
                      <a:pt x="740" y="83"/>
                    </a:lnTo>
                    <a:lnTo>
                      <a:pt x="734" y="75"/>
                    </a:lnTo>
                    <a:lnTo>
                      <a:pt x="726" y="64"/>
                    </a:lnTo>
                    <a:lnTo>
                      <a:pt x="718" y="55"/>
                    </a:lnTo>
                    <a:lnTo>
                      <a:pt x="714" y="51"/>
                    </a:lnTo>
                    <a:lnTo>
                      <a:pt x="712" y="54"/>
                    </a:lnTo>
                    <a:lnTo>
                      <a:pt x="705" y="63"/>
                    </a:lnTo>
                    <a:lnTo>
                      <a:pt x="695" y="75"/>
                    </a:lnTo>
                    <a:lnTo>
                      <a:pt x="685" y="89"/>
                    </a:lnTo>
                    <a:lnTo>
                      <a:pt x="673" y="105"/>
                    </a:lnTo>
                    <a:lnTo>
                      <a:pt x="663" y="119"/>
                    </a:lnTo>
                    <a:lnTo>
                      <a:pt x="656" y="130"/>
                    </a:lnTo>
                    <a:lnTo>
                      <a:pt x="652" y="137"/>
                    </a:lnTo>
                    <a:lnTo>
                      <a:pt x="652" y="138"/>
                    </a:lnTo>
                    <a:lnTo>
                      <a:pt x="656" y="140"/>
                    </a:lnTo>
                    <a:lnTo>
                      <a:pt x="661" y="142"/>
                    </a:lnTo>
                    <a:lnTo>
                      <a:pt x="669" y="145"/>
                    </a:lnTo>
                    <a:lnTo>
                      <a:pt x="677" y="147"/>
                    </a:lnTo>
                    <a:lnTo>
                      <a:pt x="686" y="149"/>
                    </a:lnTo>
                    <a:lnTo>
                      <a:pt x="694" y="149"/>
                    </a:lnTo>
                    <a:lnTo>
                      <a:pt x="701" y="147"/>
                    </a:lnTo>
                    <a:lnTo>
                      <a:pt x="696" y="155"/>
                    </a:lnTo>
                    <a:lnTo>
                      <a:pt x="691" y="162"/>
                    </a:lnTo>
                    <a:lnTo>
                      <a:pt x="686" y="169"/>
                    </a:lnTo>
                    <a:lnTo>
                      <a:pt x="681" y="176"/>
                    </a:lnTo>
                    <a:lnTo>
                      <a:pt x="674" y="182"/>
                    </a:lnTo>
                    <a:lnTo>
                      <a:pt x="669" y="190"/>
                    </a:lnTo>
                    <a:lnTo>
                      <a:pt x="663" y="197"/>
                    </a:lnTo>
                    <a:lnTo>
                      <a:pt x="657" y="203"/>
                    </a:lnTo>
                    <a:lnTo>
                      <a:pt x="652" y="191"/>
                    </a:lnTo>
                    <a:lnTo>
                      <a:pt x="645" y="174"/>
                    </a:lnTo>
                    <a:lnTo>
                      <a:pt x="637" y="160"/>
                    </a:lnTo>
                    <a:lnTo>
                      <a:pt x="633" y="154"/>
                    </a:lnTo>
                    <a:lnTo>
                      <a:pt x="629" y="158"/>
                    </a:lnTo>
                    <a:lnTo>
                      <a:pt x="621" y="167"/>
                    </a:lnTo>
                    <a:lnTo>
                      <a:pt x="610" y="180"/>
                    </a:lnTo>
                    <a:lnTo>
                      <a:pt x="597" y="195"/>
                    </a:lnTo>
                    <a:lnTo>
                      <a:pt x="584" y="211"/>
                    </a:lnTo>
                    <a:lnTo>
                      <a:pt x="572" y="225"/>
                    </a:lnTo>
                    <a:lnTo>
                      <a:pt x="564" y="235"/>
                    </a:lnTo>
                    <a:lnTo>
                      <a:pt x="560" y="241"/>
                    </a:lnTo>
                    <a:lnTo>
                      <a:pt x="562" y="243"/>
                    </a:lnTo>
                    <a:lnTo>
                      <a:pt x="564" y="246"/>
                    </a:lnTo>
                    <a:lnTo>
                      <a:pt x="571" y="248"/>
                    </a:lnTo>
                    <a:lnTo>
                      <a:pt x="579" y="251"/>
                    </a:lnTo>
                    <a:lnTo>
                      <a:pt x="586" y="254"/>
                    </a:lnTo>
                    <a:lnTo>
                      <a:pt x="594" y="255"/>
                    </a:lnTo>
                    <a:lnTo>
                      <a:pt x="602" y="256"/>
                    </a:lnTo>
                    <a:lnTo>
                      <a:pt x="607" y="256"/>
                    </a:lnTo>
                    <a:lnTo>
                      <a:pt x="598" y="266"/>
                    </a:lnTo>
                    <a:lnTo>
                      <a:pt x="590" y="276"/>
                    </a:lnTo>
                    <a:lnTo>
                      <a:pt x="582" y="283"/>
                    </a:lnTo>
                    <a:lnTo>
                      <a:pt x="575" y="290"/>
                    </a:lnTo>
                    <a:lnTo>
                      <a:pt x="568" y="296"/>
                    </a:lnTo>
                    <a:lnTo>
                      <a:pt x="563" y="301"/>
                    </a:lnTo>
                    <a:lnTo>
                      <a:pt x="559" y="305"/>
                    </a:lnTo>
                    <a:lnTo>
                      <a:pt x="558" y="308"/>
                    </a:lnTo>
                    <a:lnTo>
                      <a:pt x="536" y="305"/>
                    </a:lnTo>
                    <a:lnTo>
                      <a:pt x="509" y="301"/>
                    </a:lnTo>
                    <a:lnTo>
                      <a:pt x="479" y="294"/>
                    </a:lnTo>
                    <a:lnTo>
                      <a:pt x="446" y="286"/>
                    </a:lnTo>
                    <a:lnTo>
                      <a:pt x="412" y="276"/>
                    </a:lnTo>
                    <a:lnTo>
                      <a:pt x="375" y="265"/>
                    </a:lnTo>
                    <a:lnTo>
                      <a:pt x="338" y="254"/>
                    </a:lnTo>
                    <a:lnTo>
                      <a:pt x="302" y="241"/>
                    </a:lnTo>
                    <a:lnTo>
                      <a:pt x="264" y="228"/>
                    </a:lnTo>
                    <a:lnTo>
                      <a:pt x="228" y="215"/>
                    </a:lnTo>
                    <a:lnTo>
                      <a:pt x="194" y="202"/>
                    </a:lnTo>
                    <a:lnTo>
                      <a:pt x="163" y="189"/>
                    </a:lnTo>
                    <a:lnTo>
                      <a:pt x="133" y="176"/>
                    </a:lnTo>
                    <a:lnTo>
                      <a:pt x="109" y="165"/>
                    </a:lnTo>
                    <a:lnTo>
                      <a:pt x="88" y="155"/>
                    </a:lnTo>
                    <a:lnTo>
                      <a:pt x="71" y="146"/>
                    </a:lnTo>
                    <a:lnTo>
                      <a:pt x="65" y="143"/>
                    </a:lnTo>
                    <a:lnTo>
                      <a:pt x="57" y="140"/>
                    </a:lnTo>
                    <a:lnTo>
                      <a:pt x="47" y="136"/>
                    </a:lnTo>
                    <a:lnTo>
                      <a:pt x="36" y="132"/>
                    </a:lnTo>
                    <a:lnTo>
                      <a:pt x="26" y="128"/>
                    </a:lnTo>
                    <a:lnTo>
                      <a:pt x="17" y="125"/>
                    </a:lnTo>
                    <a:lnTo>
                      <a:pt x="12" y="124"/>
                    </a:lnTo>
                    <a:lnTo>
                      <a:pt x="9" y="123"/>
                    </a:lnTo>
                    <a:lnTo>
                      <a:pt x="8" y="115"/>
                    </a:lnTo>
                    <a:lnTo>
                      <a:pt x="5" y="103"/>
                    </a:lnTo>
                    <a:lnTo>
                      <a:pt x="2" y="90"/>
                    </a:lnTo>
                    <a:lnTo>
                      <a:pt x="0" y="84"/>
                    </a:lnTo>
                    <a:close/>
                  </a:path>
                </a:pathLst>
              </a:custGeom>
              <a:solidFill>
                <a:schemeClr val="tx1"/>
              </a:solidFill>
              <a:ln w="9525">
                <a:solidFill>
                  <a:srgbClr val="CC9900"/>
                </a:solidFill>
                <a:round/>
                <a:headEnd/>
                <a:tailEnd/>
              </a:ln>
            </p:spPr>
            <p:txBody>
              <a:bodyPr/>
              <a:lstStyle/>
              <a:p>
                <a:endParaRPr lang="en-US"/>
              </a:p>
            </p:txBody>
          </p:sp>
          <p:sp>
            <p:nvSpPr>
              <p:cNvPr id="17428" name="Freeform 45"/>
              <p:cNvSpPr>
                <a:spLocks/>
              </p:cNvSpPr>
              <p:nvPr/>
            </p:nvSpPr>
            <p:spPr bwMode="auto">
              <a:xfrm>
                <a:off x="3808" y="3423"/>
                <a:ext cx="41" cy="40"/>
              </a:xfrm>
              <a:custGeom>
                <a:avLst/>
                <a:gdLst>
                  <a:gd name="T0" fmla="*/ 1 w 68"/>
                  <a:gd name="T1" fmla="*/ 1 h 64"/>
                  <a:gd name="T2" fmla="*/ 1 w 68"/>
                  <a:gd name="T3" fmla="*/ 1 h 64"/>
                  <a:gd name="T4" fmla="*/ 1 w 68"/>
                  <a:gd name="T5" fmla="*/ 1 h 64"/>
                  <a:gd name="T6" fmla="*/ 1 w 68"/>
                  <a:gd name="T7" fmla="*/ 1 h 64"/>
                  <a:gd name="T8" fmla="*/ 1 w 68"/>
                  <a:gd name="T9" fmla="*/ 1 h 64"/>
                  <a:gd name="T10" fmla="*/ 1 w 68"/>
                  <a:gd name="T11" fmla="*/ 1 h 64"/>
                  <a:gd name="T12" fmla="*/ 1 w 68"/>
                  <a:gd name="T13" fmla="*/ 1 h 64"/>
                  <a:gd name="T14" fmla="*/ 1 w 68"/>
                  <a:gd name="T15" fmla="*/ 1 h 64"/>
                  <a:gd name="T16" fmla="*/ 1 w 68"/>
                  <a:gd name="T17" fmla="*/ 1 h 64"/>
                  <a:gd name="T18" fmla="*/ 1 w 68"/>
                  <a:gd name="T19" fmla="*/ 1 h 64"/>
                  <a:gd name="T20" fmla="*/ 0 w 68"/>
                  <a:gd name="T21" fmla="*/ 1 h 64"/>
                  <a:gd name="T22" fmla="*/ 1 w 68"/>
                  <a:gd name="T23" fmla="*/ 1 h 64"/>
                  <a:gd name="T24" fmla="*/ 1 w 68"/>
                  <a:gd name="T25" fmla="*/ 1 h 64"/>
                  <a:gd name="T26" fmla="*/ 1 w 68"/>
                  <a:gd name="T27" fmla="*/ 1 h 64"/>
                  <a:gd name="T28" fmla="*/ 1 w 68"/>
                  <a:gd name="T29" fmla="*/ 1 h 64"/>
                  <a:gd name="T30" fmla="*/ 1 w 68"/>
                  <a:gd name="T31" fmla="*/ 1 h 64"/>
                  <a:gd name="T32" fmla="*/ 1 w 68"/>
                  <a:gd name="T33" fmla="*/ 1 h 64"/>
                  <a:gd name="T34" fmla="*/ 1 w 68"/>
                  <a:gd name="T35" fmla="*/ 1 h 64"/>
                  <a:gd name="T36" fmla="*/ 1 w 68"/>
                  <a:gd name="T37" fmla="*/ 1 h 64"/>
                  <a:gd name="T38" fmla="*/ 1 w 68"/>
                  <a:gd name="T39" fmla="*/ 1 h 64"/>
                  <a:gd name="T40" fmla="*/ 1 w 68"/>
                  <a:gd name="T41" fmla="*/ 1 h 64"/>
                  <a:gd name="T42" fmla="*/ 1 w 68"/>
                  <a:gd name="T43" fmla="*/ 1 h 64"/>
                  <a:gd name="T44" fmla="*/ 1 w 68"/>
                  <a:gd name="T45" fmla="*/ 1 h 64"/>
                  <a:gd name="T46" fmla="*/ 1 w 68"/>
                  <a:gd name="T47" fmla="*/ 1 h 64"/>
                  <a:gd name="T48" fmla="*/ 1 w 68"/>
                  <a:gd name="T49" fmla="*/ 1 h 64"/>
                  <a:gd name="T50" fmla="*/ 1 w 68"/>
                  <a:gd name="T51" fmla="*/ 1 h 64"/>
                  <a:gd name="T52" fmla="*/ 1 w 68"/>
                  <a:gd name="T53" fmla="*/ 0 h 64"/>
                  <a:gd name="T54" fmla="*/ 1 w 68"/>
                  <a:gd name="T55" fmla="*/ 1 h 64"/>
                  <a:gd name="T56" fmla="*/ 1 w 68"/>
                  <a:gd name="T57" fmla="*/ 1 h 64"/>
                  <a:gd name="T58" fmla="*/ 1 w 68"/>
                  <a:gd name="T59" fmla="*/ 1 h 64"/>
                  <a:gd name="T60" fmla="*/ 1 w 68"/>
                  <a:gd name="T61" fmla="*/ 1 h 64"/>
                  <a:gd name="T62" fmla="*/ 1 w 68"/>
                  <a:gd name="T63" fmla="*/ 1 h 64"/>
                  <a:gd name="T64" fmla="*/ 1 w 68"/>
                  <a:gd name="T65" fmla="*/ 1 h 64"/>
                  <a:gd name="T66" fmla="*/ 1 w 68"/>
                  <a:gd name="T67" fmla="*/ 1 h 64"/>
                  <a:gd name="T68" fmla="*/ 1 w 68"/>
                  <a:gd name="T69" fmla="*/ 1 h 64"/>
                  <a:gd name="T70" fmla="*/ 1 w 68"/>
                  <a:gd name="T71" fmla="*/ 1 h 6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
                  <a:gd name="T109" fmla="*/ 0 h 64"/>
                  <a:gd name="T110" fmla="*/ 68 w 68"/>
                  <a:gd name="T111" fmla="*/ 64 h 6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 h="64">
                    <a:moveTo>
                      <a:pt x="68" y="30"/>
                    </a:moveTo>
                    <a:lnTo>
                      <a:pt x="68" y="30"/>
                    </a:lnTo>
                    <a:lnTo>
                      <a:pt x="64" y="39"/>
                    </a:lnTo>
                    <a:lnTo>
                      <a:pt x="58" y="46"/>
                    </a:lnTo>
                    <a:lnTo>
                      <a:pt x="51" y="51"/>
                    </a:lnTo>
                    <a:lnTo>
                      <a:pt x="44" y="56"/>
                    </a:lnTo>
                    <a:lnTo>
                      <a:pt x="36" y="58"/>
                    </a:lnTo>
                    <a:lnTo>
                      <a:pt x="27" y="61"/>
                    </a:lnTo>
                    <a:lnTo>
                      <a:pt x="18" y="62"/>
                    </a:lnTo>
                    <a:lnTo>
                      <a:pt x="9" y="64"/>
                    </a:lnTo>
                    <a:lnTo>
                      <a:pt x="0" y="64"/>
                    </a:lnTo>
                    <a:lnTo>
                      <a:pt x="1" y="61"/>
                    </a:lnTo>
                    <a:lnTo>
                      <a:pt x="4" y="60"/>
                    </a:lnTo>
                    <a:lnTo>
                      <a:pt x="5" y="57"/>
                    </a:lnTo>
                    <a:lnTo>
                      <a:pt x="6" y="56"/>
                    </a:lnTo>
                    <a:lnTo>
                      <a:pt x="7" y="56"/>
                    </a:lnTo>
                    <a:lnTo>
                      <a:pt x="9" y="55"/>
                    </a:lnTo>
                    <a:lnTo>
                      <a:pt x="14" y="48"/>
                    </a:lnTo>
                    <a:lnTo>
                      <a:pt x="20" y="43"/>
                    </a:lnTo>
                    <a:lnTo>
                      <a:pt x="26" y="36"/>
                    </a:lnTo>
                    <a:lnTo>
                      <a:pt x="32" y="29"/>
                    </a:lnTo>
                    <a:lnTo>
                      <a:pt x="37" y="22"/>
                    </a:lnTo>
                    <a:lnTo>
                      <a:pt x="42" y="16"/>
                    </a:lnTo>
                    <a:lnTo>
                      <a:pt x="46" y="8"/>
                    </a:lnTo>
                    <a:lnTo>
                      <a:pt x="51" y="0"/>
                    </a:lnTo>
                    <a:lnTo>
                      <a:pt x="57" y="7"/>
                    </a:lnTo>
                    <a:lnTo>
                      <a:pt x="60" y="12"/>
                    </a:lnTo>
                    <a:lnTo>
                      <a:pt x="64" y="18"/>
                    </a:lnTo>
                    <a:lnTo>
                      <a:pt x="67" y="25"/>
                    </a:lnTo>
                    <a:lnTo>
                      <a:pt x="68" y="25"/>
                    </a:lnTo>
                    <a:lnTo>
                      <a:pt x="67" y="26"/>
                    </a:lnTo>
                    <a:lnTo>
                      <a:pt x="67" y="27"/>
                    </a:lnTo>
                    <a:lnTo>
                      <a:pt x="67" y="29"/>
                    </a:lnTo>
                    <a:lnTo>
                      <a:pt x="68" y="3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29" name="Freeform 46"/>
              <p:cNvSpPr>
                <a:spLocks/>
              </p:cNvSpPr>
              <p:nvPr/>
            </p:nvSpPr>
            <p:spPr bwMode="auto">
              <a:xfrm>
                <a:off x="3760" y="3493"/>
                <a:ext cx="32" cy="30"/>
              </a:xfrm>
              <a:custGeom>
                <a:avLst/>
                <a:gdLst>
                  <a:gd name="T0" fmla="*/ 1 w 52"/>
                  <a:gd name="T1" fmla="*/ 1 h 49"/>
                  <a:gd name="T2" fmla="*/ 1 w 52"/>
                  <a:gd name="T3" fmla="*/ 1 h 49"/>
                  <a:gd name="T4" fmla="*/ 1 w 52"/>
                  <a:gd name="T5" fmla="*/ 1 h 49"/>
                  <a:gd name="T6" fmla="*/ 1 w 52"/>
                  <a:gd name="T7" fmla="*/ 1 h 49"/>
                  <a:gd name="T8" fmla="*/ 1 w 52"/>
                  <a:gd name="T9" fmla="*/ 1 h 49"/>
                  <a:gd name="T10" fmla="*/ 1 w 52"/>
                  <a:gd name="T11" fmla="*/ 1 h 49"/>
                  <a:gd name="T12" fmla="*/ 1 w 52"/>
                  <a:gd name="T13" fmla="*/ 1 h 49"/>
                  <a:gd name="T14" fmla="*/ 1 w 52"/>
                  <a:gd name="T15" fmla="*/ 1 h 49"/>
                  <a:gd name="T16" fmla="*/ 0 w 52"/>
                  <a:gd name="T17" fmla="*/ 1 h 49"/>
                  <a:gd name="T18" fmla="*/ 1 w 52"/>
                  <a:gd name="T19" fmla="*/ 1 h 49"/>
                  <a:gd name="T20" fmla="*/ 1 w 52"/>
                  <a:gd name="T21" fmla="*/ 1 h 49"/>
                  <a:gd name="T22" fmla="*/ 1 w 52"/>
                  <a:gd name="T23" fmla="*/ 1 h 49"/>
                  <a:gd name="T24" fmla="*/ 1 w 52"/>
                  <a:gd name="T25" fmla="*/ 1 h 49"/>
                  <a:gd name="T26" fmla="*/ 1 w 52"/>
                  <a:gd name="T27" fmla="*/ 1 h 49"/>
                  <a:gd name="T28" fmla="*/ 1 w 52"/>
                  <a:gd name="T29" fmla="*/ 1 h 49"/>
                  <a:gd name="T30" fmla="*/ 1 w 52"/>
                  <a:gd name="T31" fmla="*/ 1 h 49"/>
                  <a:gd name="T32" fmla="*/ 1 w 52"/>
                  <a:gd name="T33" fmla="*/ 0 h 49"/>
                  <a:gd name="T34" fmla="*/ 1 w 52"/>
                  <a:gd name="T35" fmla="*/ 1 h 49"/>
                  <a:gd name="T36" fmla="*/ 1 w 52"/>
                  <a:gd name="T37" fmla="*/ 1 h 49"/>
                  <a:gd name="T38" fmla="*/ 1 w 52"/>
                  <a:gd name="T39" fmla="*/ 1 h 49"/>
                  <a:gd name="T40" fmla="*/ 1 w 52"/>
                  <a:gd name="T41" fmla="*/ 1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2"/>
                  <a:gd name="T64" fmla="*/ 0 h 49"/>
                  <a:gd name="T65" fmla="*/ 52 w 52"/>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2" h="49">
                    <a:moveTo>
                      <a:pt x="51" y="32"/>
                    </a:moveTo>
                    <a:lnTo>
                      <a:pt x="47" y="40"/>
                    </a:lnTo>
                    <a:lnTo>
                      <a:pt x="42" y="45"/>
                    </a:lnTo>
                    <a:lnTo>
                      <a:pt x="37" y="48"/>
                    </a:lnTo>
                    <a:lnTo>
                      <a:pt x="30" y="49"/>
                    </a:lnTo>
                    <a:lnTo>
                      <a:pt x="22" y="49"/>
                    </a:lnTo>
                    <a:lnTo>
                      <a:pt x="16" y="48"/>
                    </a:lnTo>
                    <a:lnTo>
                      <a:pt x="8" y="45"/>
                    </a:lnTo>
                    <a:lnTo>
                      <a:pt x="0" y="43"/>
                    </a:lnTo>
                    <a:lnTo>
                      <a:pt x="2" y="41"/>
                    </a:lnTo>
                    <a:lnTo>
                      <a:pt x="5" y="39"/>
                    </a:lnTo>
                    <a:lnTo>
                      <a:pt x="11" y="34"/>
                    </a:lnTo>
                    <a:lnTo>
                      <a:pt x="17" y="27"/>
                    </a:lnTo>
                    <a:lnTo>
                      <a:pt x="24" y="21"/>
                    </a:lnTo>
                    <a:lnTo>
                      <a:pt x="30" y="14"/>
                    </a:lnTo>
                    <a:lnTo>
                      <a:pt x="37" y="6"/>
                    </a:lnTo>
                    <a:lnTo>
                      <a:pt x="42" y="0"/>
                    </a:lnTo>
                    <a:lnTo>
                      <a:pt x="46" y="9"/>
                    </a:lnTo>
                    <a:lnTo>
                      <a:pt x="49" y="17"/>
                    </a:lnTo>
                    <a:lnTo>
                      <a:pt x="52" y="24"/>
                    </a:lnTo>
                    <a:lnTo>
                      <a:pt x="51" y="3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30" name="Freeform 47"/>
              <p:cNvSpPr>
                <a:spLocks/>
              </p:cNvSpPr>
              <p:nvPr/>
            </p:nvSpPr>
            <p:spPr bwMode="auto">
              <a:xfrm>
                <a:off x="3408" y="3420"/>
                <a:ext cx="476" cy="175"/>
              </a:xfrm>
              <a:custGeom>
                <a:avLst/>
                <a:gdLst>
                  <a:gd name="T0" fmla="*/ 1 w 775"/>
                  <a:gd name="T1" fmla="*/ 1 h 285"/>
                  <a:gd name="T2" fmla="*/ 1 w 775"/>
                  <a:gd name="T3" fmla="*/ 1 h 285"/>
                  <a:gd name="T4" fmla="*/ 1 w 775"/>
                  <a:gd name="T5" fmla="*/ 1 h 285"/>
                  <a:gd name="T6" fmla="*/ 1 w 775"/>
                  <a:gd name="T7" fmla="*/ 1 h 285"/>
                  <a:gd name="T8" fmla="*/ 1 w 775"/>
                  <a:gd name="T9" fmla="*/ 1 h 285"/>
                  <a:gd name="T10" fmla="*/ 1 w 775"/>
                  <a:gd name="T11" fmla="*/ 1 h 285"/>
                  <a:gd name="T12" fmla="*/ 1 w 775"/>
                  <a:gd name="T13" fmla="*/ 1 h 285"/>
                  <a:gd name="T14" fmla="*/ 1 w 775"/>
                  <a:gd name="T15" fmla="*/ 1 h 285"/>
                  <a:gd name="T16" fmla="*/ 1 w 775"/>
                  <a:gd name="T17" fmla="*/ 1 h 285"/>
                  <a:gd name="T18" fmla="*/ 1 w 775"/>
                  <a:gd name="T19" fmla="*/ 1 h 285"/>
                  <a:gd name="T20" fmla="*/ 1 w 775"/>
                  <a:gd name="T21" fmla="*/ 1 h 285"/>
                  <a:gd name="T22" fmla="*/ 1 w 775"/>
                  <a:gd name="T23" fmla="*/ 1 h 285"/>
                  <a:gd name="T24" fmla="*/ 1 w 775"/>
                  <a:gd name="T25" fmla="*/ 1 h 285"/>
                  <a:gd name="T26" fmla="*/ 1 w 775"/>
                  <a:gd name="T27" fmla="*/ 1 h 285"/>
                  <a:gd name="T28" fmla="*/ 1 w 775"/>
                  <a:gd name="T29" fmla="*/ 1 h 285"/>
                  <a:gd name="T30" fmla="*/ 1 w 775"/>
                  <a:gd name="T31" fmla="*/ 1 h 285"/>
                  <a:gd name="T32" fmla="*/ 1 w 775"/>
                  <a:gd name="T33" fmla="*/ 1 h 285"/>
                  <a:gd name="T34" fmla="*/ 1 w 775"/>
                  <a:gd name="T35" fmla="*/ 1 h 285"/>
                  <a:gd name="T36" fmla="*/ 1 w 775"/>
                  <a:gd name="T37" fmla="*/ 1 h 285"/>
                  <a:gd name="T38" fmla="*/ 1 w 775"/>
                  <a:gd name="T39" fmla="*/ 1 h 285"/>
                  <a:gd name="T40" fmla="*/ 1 w 775"/>
                  <a:gd name="T41" fmla="*/ 1 h 285"/>
                  <a:gd name="T42" fmla="*/ 1 w 775"/>
                  <a:gd name="T43" fmla="*/ 1 h 285"/>
                  <a:gd name="T44" fmla="*/ 1 w 775"/>
                  <a:gd name="T45" fmla="*/ 1 h 285"/>
                  <a:gd name="T46" fmla="*/ 1 w 775"/>
                  <a:gd name="T47" fmla="*/ 1 h 285"/>
                  <a:gd name="T48" fmla="*/ 1 w 775"/>
                  <a:gd name="T49" fmla="*/ 1 h 285"/>
                  <a:gd name="T50" fmla="*/ 1 w 775"/>
                  <a:gd name="T51" fmla="*/ 1 h 285"/>
                  <a:gd name="T52" fmla="*/ 1 w 775"/>
                  <a:gd name="T53" fmla="*/ 1 h 285"/>
                  <a:gd name="T54" fmla="*/ 1 w 775"/>
                  <a:gd name="T55" fmla="*/ 1 h 285"/>
                  <a:gd name="T56" fmla="*/ 1 w 775"/>
                  <a:gd name="T57" fmla="*/ 1 h 285"/>
                  <a:gd name="T58" fmla="*/ 1 w 775"/>
                  <a:gd name="T59" fmla="*/ 1 h 285"/>
                  <a:gd name="T60" fmla="*/ 1 w 775"/>
                  <a:gd name="T61" fmla="*/ 1 h 285"/>
                  <a:gd name="T62" fmla="*/ 1 w 775"/>
                  <a:gd name="T63" fmla="*/ 1 h 285"/>
                  <a:gd name="T64" fmla="*/ 1 w 775"/>
                  <a:gd name="T65" fmla="*/ 1 h 285"/>
                  <a:gd name="T66" fmla="*/ 1 w 775"/>
                  <a:gd name="T67" fmla="*/ 1 h 285"/>
                  <a:gd name="T68" fmla="*/ 1 w 775"/>
                  <a:gd name="T69" fmla="*/ 1 h 285"/>
                  <a:gd name="T70" fmla="*/ 1 w 775"/>
                  <a:gd name="T71" fmla="*/ 1 h 285"/>
                  <a:gd name="T72" fmla="*/ 1 w 775"/>
                  <a:gd name="T73" fmla="*/ 1 h 285"/>
                  <a:gd name="T74" fmla="*/ 1 w 775"/>
                  <a:gd name="T75" fmla="*/ 1 h 285"/>
                  <a:gd name="T76" fmla="*/ 1 w 775"/>
                  <a:gd name="T77" fmla="*/ 1 h 285"/>
                  <a:gd name="T78" fmla="*/ 1 w 775"/>
                  <a:gd name="T79" fmla="*/ 1 h 285"/>
                  <a:gd name="T80" fmla="*/ 1 w 775"/>
                  <a:gd name="T81" fmla="*/ 1 h 285"/>
                  <a:gd name="T82" fmla="*/ 1 w 775"/>
                  <a:gd name="T83" fmla="*/ 1 h 285"/>
                  <a:gd name="T84" fmla="*/ 1 w 775"/>
                  <a:gd name="T85" fmla="*/ 1 h 285"/>
                  <a:gd name="T86" fmla="*/ 1 w 775"/>
                  <a:gd name="T87" fmla="*/ 1 h 285"/>
                  <a:gd name="T88" fmla="*/ 1 w 775"/>
                  <a:gd name="T89" fmla="*/ 1 h 285"/>
                  <a:gd name="T90" fmla="*/ 1 w 775"/>
                  <a:gd name="T91" fmla="*/ 1 h 285"/>
                  <a:gd name="T92" fmla="*/ 1 w 775"/>
                  <a:gd name="T93" fmla="*/ 1 h 285"/>
                  <a:gd name="T94" fmla="*/ 1 w 775"/>
                  <a:gd name="T95" fmla="*/ 1 h 285"/>
                  <a:gd name="T96" fmla="*/ 1 w 775"/>
                  <a:gd name="T97" fmla="*/ 1 h 285"/>
                  <a:gd name="T98" fmla="*/ 1 w 775"/>
                  <a:gd name="T99" fmla="*/ 1 h 285"/>
                  <a:gd name="T100" fmla="*/ 1 w 775"/>
                  <a:gd name="T101" fmla="*/ 1 h 285"/>
                  <a:gd name="T102" fmla="*/ 1 w 775"/>
                  <a:gd name="T103" fmla="*/ 1 h 285"/>
                  <a:gd name="T104" fmla="*/ 1 w 775"/>
                  <a:gd name="T105" fmla="*/ 1 h 285"/>
                  <a:gd name="T106" fmla="*/ 1 w 775"/>
                  <a:gd name="T107" fmla="*/ 1 h 285"/>
                  <a:gd name="T108" fmla="*/ 1 w 775"/>
                  <a:gd name="T109" fmla="*/ 1 h 285"/>
                  <a:gd name="T110" fmla="*/ 1 w 775"/>
                  <a:gd name="T111" fmla="*/ 1 h 285"/>
                  <a:gd name="T112" fmla="*/ 1 w 775"/>
                  <a:gd name="T113" fmla="*/ 1 h 285"/>
                  <a:gd name="T114" fmla="*/ 1 w 775"/>
                  <a:gd name="T115" fmla="*/ 1 h 28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775"/>
                  <a:gd name="T175" fmla="*/ 0 h 285"/>
                  <a:gd name="T176" fmla="*/ 775 w 775"/>
                  <a:gd name="T177" fmla="*/ 285 h 28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775" h="285">
                    <a:moveTo>
                      <a:pt x="663" y="176"/>
                    </a:moveTo>
                    <a:lnTo>
                      <a:pt x="652" y="190"/>
                    </a:lnTo>
                    <a:lnTo>
                      <a:pt x="641" y="206"/>
                    </a:lnTo>
                    <a:lnTo>
                      <a:pt x="630" y="221"/>
                    </a:lnTo>
                    <a:lnTo>
                      <a:pt x="619" y="237"/>
                    </a:lnTo>
                    <a:lnTo>
                      <a:pt x="606" y="251"/>
                    </a:lnTo>
                    <a:lnTo>
                      <a:pt x="591" y="264"/>
                    </a:lnTo>
                    <a:lnTo>
                      <a:pt x="577" y="273"/>
                    </a:lnTo>
                    <a:lnTo>
                      <a:pt x="560" y="279"/>
                    </a:lnTo>
                    <a:lnTo>
                      <a:pt x="542" y="283"/>
                    </a:lnTo>
                    <a:lnTo>
                      <a:pt x="523" y="285"/>
                    </a:lnTo>
                    <a:lnTo>
                      <a:pt x="503" y="285"/>
                    </a:lnTo>
                    <a:lnTo>
                      <a:pt x="484" y="282"/>
                    </a:lnTo>
                    <a:lnTo>
                      <a:pt x="466" y="278"/>
                    </a:lnTo>
                    <a:lnTo>
                      <a:pt x="446" y="273"/>
                    </a:lnTo>
                    <a:lnTo>
                      <a:pt x="428" y="267"/>
                    </a:lnTo>
                    <a:lnTo>
                      <a:pt x="410" y="260"/>
                    </a:lnTo>
                    <a:lnTo>
                      <a:pt x="386" y="251"/>
                    </a:lnTo>
                    <a:lnTo>
                      <a:pt x="361" y="241"/>
                    </a:lnTo>
                    <a:lnTo>
                      <a:pt x="335" y="232"/>
                    </a:lnTo>
                    <a:lnTo>
                      <a:pt x="311" y="221"/>
                    </a:lnTo>
                    <a:lnTo>
                      <a:pt x="286" y="212"/>
                    </a:lnTo>
                    <a:lnTo>
                      <a:pt x="260" y="202"/>
                    </a:lnTo>
                    <a:lnTo>
                      <a:pt x="234" y="193"/>
                    </a:lnTo>
                    <a:lnTo>
                      <a:pt x="210" y="182"/>
                    </a:lnTo>
                    <a:lnTo>
                      <a:pt x="184" y="172"/>
                    </a:lnTo>
                    <a:lnTo>
                      <a:pt x="159" y="163"/>
                    </a:lnTo>
                    <a:lnTo>
                      <a:pt x="133" y="153"/>
                    </a:lnTo>
                    <a:lnTo>
                      <a:pt x="109" y="142"/>
                    </a:lnTo>
                    <a:lnTo>
                      <a:pt x="84" y="132"/>
                    </a:lnTo>
                    <a:lnTo>
                      <a:pt x="59" y="121"/>
                    </a:lnTo>
                    <a:lnTo>
                      <a:pt x="35" y="111"/>
                    </a:lnTo>
                    <a:lnTo>
                      <a:pt x="10" y="101"/>
                    </a:lnTo>
                    <a:lnTo>
                      <a:pt x="9" y="98"/>
                    </a:lnTo>
                    <a:lnTo>
                      <a:pt x="5" y="92"/>
                    </a:lnTo>
                    <a:lnTo>
                      <a:pt x="1" y="84"/>
                    </a:lnTo>
                    <a:lnTo>
                      <a:pt x="0" y="79"/>
                    </a:lnTo>
                    <a:lnTo>
                      <a:pt x="9" y="83"/>
                    </a:lnTo>
                    <a:lnTo>
                      <a:pt x="19" y="86"/>
                    </a:lnTo>
                    <a:lnTo>
                      <a:pt x="31" y="92"/>
                    </a:lnTo>
                    <a:lnTo>
                      <a:pt x="43" y="96"/>
                    </a:lnTo>
                    <a:lnTo>
                      <a:pt x="54" y="101"/>
                    </a:lnTo>
                    <a:lnTo>
                      <a:pt x="66" y="105"/>
                    </a:lnTo>
                    <a:lnTo>
                      <a:pt x="76" y="110"/>
                    </a:lnTo>
                    <a:lnTo>
                      <a:pt x="85" y="114"/>
                    </a:lnTo>
                    <a:lnTo>
                      <a:pt x="111" y="127"/>
                    </a:lnTo>
                    <a:lnTo>
                      <a:pt x="136" y="137"/>
                    </a:lnTo>
                    <a:lnTo>
                      <a:pt x="158" y="146"/>
                    </a:lnTo>
                    <a:lnTo>
                      <a:pt x="178" y="154"/>
                    </a:lnTo>
                    <a:lnTo>
                      <a:pt x="198" y="160"/>
                    </a:lnTo>
                    <a:lnTo>
                      <a:pt x="215" y="167"/>
                    </a:lnTo>
                    <a:lnTo>
                      <a:pt x="232" y="172"/>
                    </a:lnTo>
                    <a:lnTo>
                      <a:pt x="247" y="177"/>
                    </a:lnTo>
                    <a:lnTo>
                      <a:pt x="264" y="184"/>
                    </a:lnTo>
                    <a:lnTo>
                      <a:pt x="281" y="189"/>
                    </a:lnTo>
                    <a:lnTo>
                      <a:pt x="296" y="195"/>
                    </a:lnTo>
                    <a:lnTo>
                      <a:pt x="313" y="200"/>
                    </a:lnTo>
                    <a:lnTo>
                      <a:pt x="329" y="207"/>
                    </a:lnTo>
                    <a:lnTo>
                      <a:pt x="345" y="213"/>
                    </a:lnTo>
                    <a:lnTo>
                      <a:pt x="361" y="219"/>
                    </a:lnTo>
                    <a:lnTo>
                      <a:pt x="378" y="224"/>
                    </a:lnTo>
                    <a:lnTo>
                      <a:pt x="393" y="230"/>
                    </a:lnTo>
                    <a:lnTo>
                      <a:pt x="410" y="235"/>
                    </a:lnTo>
                    <a:lnTo>
                      <a:pt x="426" y="241"/>
                    </a:lnTo>
                    <a:lnTo>
                      <a:pt x="443" y="246"/>
                    </a:lnTo>
                    <a:lnTo>
                      <a:pt x="458" y="251"/>
                    </a:lnTo>
                    <a:lnTo>
                      <a:pt x="475" y="256"/>
                    </a:lnTo>
                    <a:lnTo>
                      <a:pt x="492" y="260"/>
                    </a:lnTo>
                    <a:lnTo>
                      <a:pt x="509" y="264"/>
                    </a:lnTo>
                    <a:lnTo>
                      <a:pt x="514" y="265"/>
                    </a:lnTo>
                    <a:lnTo>
                      <a:pt x="522" y="267"/>
                    </a:lnTo>
                    <a:lnTo>
                      <a:pt x="531" y="267"/>
                    </a:lnTo>
                    <a:lnTo>
                      <a:pt x="536" y="267"/>
                    </a:lnTo>
                    <a:lnTo>
                      <a:pt x="549" y="264"/>
                    </a:lnTo>
                    <a:lnTo>
                      <a:pt x="560" y="257"/>
                    </a:lnTo>
                    <a:lnTo>
                      <a:pt x="573" y="247"/>
                    </a:lnTo>
                    <a:lnTo>
                      <a:pt x="585" y="234"/>
                    </a:lnTo>
                    <a:lnTo>
                      <a:pt x="597" y="220"/>
                    </a:lnTo>
                    <a:lnTo>
                      <a:pt x="607" y="206"/>
                    </a:lnTo>
                    <a:lnTo>
                      <a:pt x="616" y="194"/>
                    </a:lnTo>
                    <a:lnTo>
                      <a:pt x="622" y="185"/>
                    </a:lnTo>
                    <a:lnTo>
                      <a:pt x="629" y="176"/>
                    </a:lnTo>
                    <a:lnTo>
                      <a:pt x="635" y="171"/>
                    </a:lnTo>
                    <a:lnTo>
                      <a:pt x="638" y="167"/>
                    </a:lnTo>
                    <a:lnTo>
                      <a:pt x="639" y="165"/>
                    </a:lnTo>
                    <a:lnTo>
                      <a:pt x="643" y="162"/>
                    </a:lnTo>
                    <a:lnTo>
                      <a:pt x="651" y="153"/>
                    </a:lnTo>
                    <a:lnTo>
                      <a:pt x="659" y="145"/>
                    </a:lnTo>
                    <a:lnTo>
                      <a:pt x="663" y="141"/>
                    </a:lnTo>
                    <a:lnTo>
                      <a:pt x="676" y="125"/>
                    </a:lnTo>
                    <a:lnTo>
                      <a:pt x="685" y="114"/>
                    </a:lnTo>
                    <a:lnTo>
                      <a:pt x="692" y="101"/>
                    </a:lnTo>
                    <a:lnTo>
                      <a:pt x="700" y="83"/>
                    </a:lnTo>
                    <a:lnTo>
                      <a:pt x="707" y="79"/>
                    </a:lnTo>
                    <a:lnTo>
                      <a:pt x="713" y="72"/>
                    </a:lnTo>
                    <a:lnTo>
                      <a:pt x="720" y="66"/>
                    </a:lnTo>
                    <a:lnTo>
                      <a:pt x="725" y="61"/>
                    </a:lnTo>
                    <a:lnTo>
                      <a:pt x="726" y="58"/>
                    </a:lnTo>
                    <a:lnTo>
                      <a:pt x="730" y="52"/>
                    </a:lnTo>
                    <a:lnTo>
                      <a:pt x="734" y="44"/>
                    </a:lnTo>
                    <a:lnTo>
                      <a:pt x="735" y="40"/>
                    </a:lnTo>
                    <a:lnTo>
                      <a:pt x="738" y="36"/>
                    </a:lnTo>
                    <a:lnTo>
                      <a:pt x="744" y="26"/>
                    </a:lnTo>
                    <a:lnTo>
                      <a:pt x="752" y="11"/>
                    </a:lnTo>
                    <a:lnTo>
                      <a:pt x="758" y="0"/>
                    </a:lnTo>
                    <a:lnTo>
                      <a:pt x="762" y="5"/>
                    </a:lnTo>
                    <a:lnTo>
                      <a:pt x="767" y="11"/>
                    </a:lnTo>
                    <a:lnTo>
                      <a:pt x="773" y="17"/>
                    </a:lnTo>
                    <a:lnTo>
                      <a:pt x="775" y="20"/>
                    </a:lnTo>
                    <a:lnTo>
                      <a:pt x="762" y="40"/>
                    </a:lnTo>
                    <a:lnTo>
                      <a:pt x="749" y="59"/>
                    </a:lnTo>
                    <a:lnTo>
                      <a:pt x="735" y="79"/>
                    </a:lnTo>
                    <a:lnTo>
                      <a:pt x="721" y="98"/>
                    </a:lnTo>
                    <a:lnTo>
                      <a:pt x="707" y="118"/>
                    </a:lnTo>
                    <a:lnTo>
                      <a:pt x="692" y="137"/>
                    </a:lnTo>
                    <a:lnTo>
                      <a:pt x="678" y="156"/>
                    </a:lnTo>
                    <a:lnTo>
                      <a:pt x="663" y="176"/>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31" name="Freeform 48"/>
              <p:cNvSpPr>
                <a:spLocks/>
              </p:cNvSpPr>
              <p:nvPr/>
            </p:nvSpPr>
            <p:spPr bwMode="auto">
              <a:xfrm>
                <a:off x="3771" y="3305"/>
                <a:ext cx="146" cy="115"/>
              </a:xfrm>
              <a:custGeom>
                <a:avLst/>
                <a:gdLst>
                  <a:gd name="T0" fmla="*/ 1 w 237"/>
                  <a:gd name="T1" fmla="*/ 1 h 188"/>
                  <a:gd name="T2" fmla="*/ 1 w 237"/>
                  <a:gd name="T3" fmla="*/ 1 h 188"/>
                  <a:gd name="T4" fmla="*/ 1 w 237"/>
                  <a:gd name="T5" fmla="*/ 1 h 188"/>
                  <a:gd name="T6" fmla="*/ 1 w 237"/>
                  <a:gd name="T7" fmla="*/ 1 h 188"/>
                  <a:gd name="T8" fmla="*/ 1 w 237"/>
                  <a:gd name="T9" fmla="*/ 1 h 188"/>
                  <a:gd name="T10" fmla="*/ 1 w 237"/>
                  <a:gd name="T11" fmla="*/ 1 h 188"/>
                  <a:gd name="T12" fmla="*/ 1 w 237"/>
                  <a:gd name="T13" fmla="*/ 1 h 188"/>
                  <a:gd name="T14" fmla="*/ 1 w 237"/>
                  <a:gd name="T15" fmla="*/ 1 h 188"/>
                  <a:gd name="T16" fmla="*/ 1 w 237"/>
                  <a:gd name="T17" fmla="*/ 1 h 188"/>
                  <a:gd name="T18" fmla="*/ 1 w 237"/>
                  <a:gd name="T19" fmla="*/ 1 h 188"/>
                  <a:gd name="T20" fmla="*/ 1 w 237"/>
                  <a:gd name="T21" fmla="*/ 1 h 188"/>
                  <a:gd name="T22" fmla="*/ 1 w 237"/>
                  <a:gd name="T23" fmla="*/ 1 h 188"/>
                  <a:gd name="T24" fmla="*/ 1 w 237"/>
                  <a:gd name="T25" fmla="*/ 1 h 188"/>
                  <a:gd name="T26" fmla="*/ 1 w 237"/>
                  <a:gd name="T27" fmla="*/ 1 h 188"/>
                  <a:gd name="T28" fmla="*/ 1 w 237"/>
                  <a:gd name="T29" fmla="*/ 1 h 188"/>
                  <a:gd name="T30" fmla="*/ 1 w 237"/>
                  <a:gd name="T31" fmla="*/ 1 h 188"/>
                  <a:gd name="T32" fmla="*/ 1 w 237"/>
                  <a:gd name="T33" fmla="*/ 1 h 188"/>
                  <a:gd name="T34" fmla="*/ 1 w 237"/>
                  <a:gd name="T35" fmla="*/ 1 h 188"/>
                  <a:gd name="T36" fmla="*/ 1 w 237"/>
                  <a:gd name="T37" fmla="*/ 1 h 188"/>
                  <a:gd name="T38" fmla="*/ 1 w 237"/>
                  <a:gd name="T39" fmla="*/ 1 h 188"/>
                  <a:gd name="T40" fmla="*/ 0 w 237"/>
                  <a:gd name="T41" fmla="*/ 1 h 188"/>
                  <a:gd name="T42" fmla="*/ 0 w 237"/>
                  <a:gd name="T43" fmla="*/ 1 h 188"/>
                  <a:gd name="T44" fmla="*/ 1 w 237"/>
                  <a:gd name="T45" fmla="*/ 1 h 188"/>
                  <a:gd name="T46" fmla="*/ 1 w 237"/>
                  <a:gd name="T47" fmla="*/ 1 h 188"/>
                  <a:gd name="T48" fmla="*/ 1 w 237"/>
                  <a:gd name="T49" fmla="*/ 1 h 188"/>
                  <a:gd name="T50" fmla="*/ 1 w 237"/>
                  <a:gd name="T51" fmla="*/ 1 h 188"/>
                  <a:gd name="T52" fmla="*/ 1 w 237"/>
                  <a:gd name="T53" fmla="*/ 1 h 188"/>
                  <a:gd name="T54" fmla="*/ 1 w 237"/>
                  <a:gd name="T55" fmla="*/ 0 h 188"/>
                  <a:gd name="T56" fmla="*/ 1 w 237"/>
                  <a:gd name="T57" fmla="*/ 1 h 188"/>
                  <a:gd name="T58" fmla="*/ 1 w 237"/>
                  <a:gd name="T59" fmla="*/ 1 h 188"/>
                  <a:gd name="T60" fmla="*/ 1 w 237"/>
                  <a:gd name="T61" fmla="*/ 1 h 188"/>
                  <a:gd name="T62" fmla="*/ 1 w 237"/>
                  <a:gd name="T63" fmla="*/ 1 h 188"/>
                  <a:gd name="T64" fmla="*/ 1 w 237"/>
                  <a:gd name="T65" fmla="*/ 1 h 188"/>
                  <a:gd name="T66" fmla="*/ 1 w 237"/>
                  <a:gd name="T67" fmla="*/ 1 h 188"/>
                  <a:gd name="T68" fmla="*/ 1 w 237"/>
                  <a:gd name="T69" fmla="*/ 1 h 188"/>
                  <a:gd name="T70" fmla="*/ 1 w 237"/>
                  <a:gd name="T71" fmla="*/ 1 h 188"/>
                  <a:gd name="T72" fmla="*/ 1 w 237"/>
                  <a:gd name="T73" fmla="*/ 1 h 188"/>
                  <a:gd name="T74" fmla="*/ 1 w 237"/>
                  <a:gd name="T75" fmla="*/ 1 h 188"/>
                  <a:gd name="T76" fmla="*/ 1 w 237"/>
                  <a:gd name="T77" fmla="*/ 1 h 188"/>
                  <a:gd name="T78" fmla="*/ 1 w 237"/>
                  <a:gd name="T79" fmla="*/ 1 h 188"/>
                  <a:gd name="T80" fmla="*/ 1 w 237"/>
                  <a:gd name="T81" fmla="*/ 1 h 188"/>
                  <a:gd name="T82" fmla="*/ 1 w 237"/>
                  <a:gd name="T83" fmla="*/ 1 h 188"/>
                  <a:gd name="T84" fmla="*/ 1 w 237"/>
                  <a:gd name="T85" fmla="*/ 1 h 188"/>
                  <a:gd name="T86" fmla="*/ 1 w 237"/>
                  <a:gd name="T87" fmla="*/ 1 h 188"/>
                  <a:gd name="T88" fmla="*/ 1 w 237"/>
                  <a:gd name="T89" fmla="*/ 1 h 188"/>
                  <a:gd name="T90" fmla="*/ 1 w 237"/>
                  <a:gd name="T91" fmla="*/ 1 h 188"/>
                  <a:gd name="T92" fmla="*/ 1 w 237"/>
                  <a:gd name="T93" fmla="*/ 1 h 188"/>
                  <a:gd name="T94" fmla="*/ 1 w 237"/>
                  <a:gd name="T95" fmla="*/ 1 h 188"/>
                  <a:gd name="T96" fmla="*/ 1 w 237"/>
                  <a:gd name="T97" fmla="*/ 1 h 1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37"/>
                  <a:gd name="T148" fmla="*/ 0 h 188"/>
                  <a:gd name="T149" fmla="*/ 237 w 237"/>
                  <a:gd name="T150" fmla="*/ 188 h 1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37" h="188">
                    <a:moveTo>
                      <a:pt x="197" y="188"/>
                    </a:moveTo>
                    <a:lnTo>
                      <a:pt x="191" y="179"/>
                    </a:lnTo>
                    <a:lnTo>
                      <a:pt x="183" y="170"/>
                    </a:lnTo>
                    <a:lnTo>
                      <a:pt x="175" y="162"/>
                    </a:lnTo>
                    <a:lnTo>
                      <a:pt x="167" y="153"/>
                    </a:lnTo>
                    <a:lnTo>
                      <a:pt x="160" y="145"/>
                    </a:lnTo>
                    <a:lnTo>
                      <a:pt x="152" y="136"/>
                    </a:lnTo>
                    <a:lnTo>
                      <a:pt x="144" y="128"/>
                    </a:lnTo>
                    <a:lnTo>
                      <a:pt x="136" y="119"/>
                    </a:lnTo>
                    <a:lnTo>
                      <a:pt x="123" y="105"/>
                    </a:lnTo>
                    <a:lnTo>
                      <a:pt x="110" y="95"/>
                    </a:lnTo>
                    <a:lnTo>
                      <a:pt x="95" y="86"/>
                    </a:lnTo>
                    <a:lnTo>
                      <a:pt x="78" y="78"/>
                    </a:lnTo>
                    <a:lnTo>
                      <a:pt x="61" y="73"/>
                    </a:lnTo>
                    <a:lnTo>
                      <a:pt x="44" y="66"/>
                    </a:lnTo>
                    <a:lnTo>
                      <a:pt x="28" y="60"/>
                    </a:lnTo>
                    <a:lnTo>
                      <a:pt x="11" y="53"/>
                    </a:lnTo>
                    <a:lnTo>
                      <a:pt x="7" y="51"/>
                    </a:lnTo>
                    <a:lnTo>
                      <a:pt x="4" y="48"/>
                    </a:lnTo>
                    <a:lnTo>
                      <a:pt x="2" y="45"/>
                    </a:lnTo>
                    <a:lnTo>
                      <a:pt x="0" y="42"/>
                    </a:lnTo>
                    <a:lnTo>
                      <a:pt x="0" y="31"/>
                    </a:lnTo>
                    <a:lnTo>
                      <a:pt x="4" y="21"/>
                    </a:lnTo>
                    <a:lnTo>
                      <a:pt x="9" y="13"/>
                    </a:lnTo>
                    <a:lnTo>
                      <a:pt x="20" y="8"/>
                    </a:lnTo>
                    <a:lnTo>
                      <a:pt x="33" y="4"/>
                    </a:lnTo>
                    <a:lnTo>
                      <a:pt x="47" y="1"/>
                    </a:lnTo>
                    <a:lnTo>
                      <a:pt x="61" y="0"/>
                    </a:lnTo>
                    <a:lnTo>
                      <a:pt x="75" y="1"/>
                    </a:lnTo>
                    <a:lnTo>
                      <a:pt x="90" y="4"/>
                    </a:lnTo>
                    <a:lnTo>
                      <a:pt x="103" y="8"/>
                    </a:lnTo>
                    <a:lnTo>
                      <a:pt x="116" y="13"/>
                    </a:lnTo>
                    <a:lnTo>
                      <a:pt x="129" y="20"/>
                    </a:lnTo>
                    <a:lnTo>
                      <a:pt x="145" y="30"/>
                    </a:lnTo>
                    <a:lnTo>
                      <a:pt x="161" y="42"/>
                    </a:lnTo>
                    <a:lnTo>
                      <a:pt x="175" y="53"/>
                    </a:lnTo>
                    <a:lnTo>
                      <a:pt x="188" y="68"/>
                    </a:lnTo>
                    <a:lnTo>
                      <a:pt x="201" y="82"/>
                    </a:lnTo>
                    <a:lnTo>
                      <a:pt x="213" y="97"/>
                    </a:lnTo>
                    <a:lnTo>
                      <a:pt x="226" y="112"/>
                    </a:lnTo>
                    <a:lnTo>
                      <a:pt x="237" y="127"/>
                    </a:lnTo>
                    <a:lnTo>
                      <a:pt x="232" y="135"/>
                    </a:lnTo>
                    <a:lnTo>
                      <a:pt x="227" y="143"/>
                    </a:lnTo>
                    <a:lnTo>
                      <a:pt x="222" y="150"/>
                    </a:lnTo>
                    <a:lnTo>
                      <a:pt x="218" y="158"/>
                    </a:lnTo>
                    <a:lnTo>
                      <a:pt x="213" y="166"/>
                    </a:lnTo>
                    <a:lnTo>
                      <a:pt x="208" y="174"/>
                    </a:lnTo>
                    <a:lnTo>
                      <a:pt x="202" y="180"/>
                    </a:lnTo>
                    <a:lnTo>
                      <a:pt x="197" y="18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32" name="Freeform 49"/>
              <p:cNvSpPr>
                <a:spLocks/>
              </p:cNvSpPr>
              <p:nvPr/>
            </p:nvSpPr>
            <p:spPr bwMode="auto">
              <a:xfrm>
                <a:off x="3916" y="3203"/>
                <a:ext cx="100" cy="169"/>
              </a:xfrm>
              <a:custGeom>
                <a:avLst/>
                <a:gdLst>
                  <a:gd name="T0" fmla="*/ 1 w 164"/>
                  <a:gd name="T1" fmla="*/ 1 h 275"/>
                  <a:gd name="T2" fmla="*/ 1 w 164"/>
                  <a:gd name="T3" fmla="*/ 1 h 275"/>
                  <a:gd name="T4" fmla="*/ 1 w 164"/>
                  <a:gd name="T5" fmla="*/ 1 h 275"/>
                  <a:gd name="T6" fmla="*/ 1 w 164"/>
                  <a:gd name="T7" fmla="*/ 1 h 275"/>
                  <a:gd name="T8" fmla="*/ 1 w 164"/>
                  <a:gd name="T9" fmla="*/ 1 h 275"/>
                  <a:gd name="T10" fmla="*/ 1 w 164"/>
                  <a:gd name="T11" fmla="*/ 1 h 275"/>
                  <a:gd name="T12" fmla="*/ 1 w 164"/>
                  <a:gd name="T13" fmla="*/ 1 h 275"/>
                  <a:gd name="T14" fmla="*/ 1 w 164"/>
                  <a:gd name="T15" fmla="*/ 1 h 275"/>
                  <a:gd name="T16" fmla="*/ 1 w 164"/>
                  <a:gd name="T17" fmla="*/ 1 h 275"/>
                  <a:gd name="T18" fmla="*/ 1 w 164"/>
                  <a:gd name="T19" fmla="*/ 1 h 275"/>
                  <a:gd name="T20" fmla="*/ 1 w 164"/>
                  <a:gd name="T21" fmla="*/ 1 h 275"/>
                  <a:gd name="T22" fmla="*/ 1 w 164"/>
                  <a:gd name="T23" fmla="*/ 1 h 275"/>
                  <a:gd name="T24" fmla="*/ 1 w 164"/>
                  <a:gd name="T25" fmla="*/ 1 h 275"/>
                  <a:gd name="T26" fmla="*/ 1 w 164"/>
                  <a:gd name="T27" fmla="*/ 1 h 275"/>
                  <a:gd name="T28" fmla="*/ 1 w 164"/>
                  <a:gd name="T29" fmla="*/ 1 h 275"/>
                  <a:gd name="T30" fmla="*/ 1 w 164"/>
                  <a:gd name="T31" fmla="*/ 1 h 275"/>
                  <a:gd name="T32" fmla="*/ 0 w 164"/>
                  <a:gd name="T33" fmla="*/ 1 h 275"/>
                  <a:gd name="T34" fmla="*/ 1 w 164"/>
                  <a:gd name="T35" fmla="*/ 1 h 275"/>
                  <a:gd name="T36" fmla="*/ 1 w 164"/>
                  <a:gd name="T37" fmla="*/ 1 h 275"/>
                  <a:gd name="T38" fmla="*/ 1 w 164"/>
                  <a:gd name="T39" fmla="*/ 1 h 275"/>
                  <a:gd name="T40" fmla="*/ 1 w 164"/>
                  <a:gd name="T41" fmla="*/ 1 h 275"/>
                  <a:gd name="T42" fmla="*/ 1 w 164"/>
                  <a:gd name="T43" fmla="*/ 1 h 275"/>
                  <a:gd name="T44" fmla="*/ 1 w 164"/>
                  <a:gd name="T45" fmla="*/ 1 h 275"/>
                  <a:gd name="T46" fmla="*/ 1 w 164"/>
                  <a:gd name="T47" fmla="*/ 1 h 275"/>
                  <a:gd name="T48" fmla="*/ 1 w 164"/>
                  <a:gd name="T49" fmla="*/ 1 h 275"/>
                  <a:gd name="T50" fmla="*/ 1 w 164"/>
                  <a:gd name="T51" fmla="*/ 1 h 275"/>
                  <a:gd name="T52" fmla="*/ 1 w 164"/>
                  <a:gd name="T53" fmla="*/ 1 h 275"/>
                  <a:gd name="T54" fmla="*/ 1 w 164"/>
                  <a:gd name="T55" fmla="*/ 1 h 275"/>
                  <a:gd name="T56" fmla="*/ 1 w 164"/>
                  <a:gd name="T57" fmla="*/ 1 h 275"/>
                  <a:gd name="T58" fmla="*/ 1 w 164"/>
                  <a:gd name="T59" fmla="*/ 1 h 275"/>
                  <a:gd name="T60" fmla="*/ 1 w 164"/>
                  <a:gd name="T61" fmla="*/ 1 h 275"/>
                  <a:gd name="T62" fmla="*/ 1 w 164"/>
                  <a:gd name="T63" fmla="*/ 1 h 275"/>
                  <a:gd name="T64" fmla="*/ 1 w 164"/>
                  <a:gd name="T65" fmla="*/ 1 h 275"/>
                  <a:gd name="T66" fmla="*/ 1 w 164"/>
                  <a:gd name="T67" fmla="*/ 1 h 275"/>
                  <a:gd name="T68" fmla="*/ 1 w 164"/>
                  <a:gd name="T69" fmla="*/ 1 h 275"/>
                  <a:gd name="T70" fmla="*/ 1 w 164"/>
                  <a:gd name="T71" fmla="*/ 1 h 275"/>
                  <a:gd name="T72" fmla="*/ 1 w 164"/>
                  <a:gd name="T73" fmla="*/ 1 h 275"/>
                  <a:gd name="T74" fmla="*/ 1 w 164"/>
                  <a:gd name="T75" fmla="*/ 1 h 275"/>
                  <a:gd name="T76" fmla="*/ 1 w 164"/>
                  <a:gd name="T77" fmla="*/ 1 h 275"/>
                  <a:gd name="T78" fmla="*/ 1 w 164"/>
                  <a:gd name="T79" fmla="*/ 1 h 275"/>
                  <a:gd name="T80" fmla="*/ 1 w 164"/>
                  <a:gd name="T81" fmla="*/ 1 h 275"/>
                  <a:gd name="T82" fmla="*/ 1 w 164"/>
                  <a:gd name="T83" fmla="*/ 1 h 275"/>
                  <a:gd name="T84" fmla="*/ 1 w 164"/>
                  <a:gd name="T85" fmla="*/ 1 h 275"/>
                  <a:gd name="T86" fmla="*/ 1 w 164"/>
                  <a:gd name="T87" fmla="*/ 1 h 275"/>
                  <a:gd name="T88" fmla="*/ 1 w 164"/>
                  <a:gd name="T89" fmla="*/ 0 h 275"/>
                  <a:gd name="T90" fmla="*/ 1 w 164"/>
                  <a:gd name="T91" fmla="*/ 1 h 275"/>
                  <a:gd name="T92" fmla="*/ 1 w 164"/>
                  <a:gd name="T93" fmla="*/ 1 h 275"/>
                  <a:gd name="T94" fmla="*/ 1 w 164"/>
                  <a:gd name="T95" fmla="*/ 1 h 275"/>
                  <a:gd name="T96" fmla="*/ 1 w 164"/>
                  <a:gd name="T97" fmla="*/ 1 h 275"/>
                  <a:gd name="T98" fmla="*/ 1 w 164"/>
                  <a:gd name="T99" fmla="*/ 1 h 275"/>
                  <a:gd name="T100" fmla="*/ 1 w 164"/>
                  <a:gd name="T101" fmla="*/ 1 h 275"/>
                  <a:gd name="T102" fmla="*/ 1 w 164"/>
                  <a:gd name="T103" fmla="*/ 1 h 275"/>
                  <a:gd name="T104" fmla="*/ 1 w 164"/>
                  <a:gd name="T105" fmla="*/ 1 h 27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4"/>
                  <a:gd name="T160" fmla="*/ 0 h 275"/>
                  <a:gd name="T161" fmla="*/ 164 w 164"/>
                  <a:gd name="T162" fmla="*/ 275 h 275"/>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4" h="275">
                    <a:moveTo>
                      <a:pt x="160" y="91"/>
                    </a:moveTo>
                    <a:lnTo>
                      <a:pt x="142" y="112"/>
                    </a:lnTo>
                    <a:lnTo>
                      <a:pt x="125" y="132"/>
                    </a:lnTo>
                    <a:lnTo>
                      <a:pt x="108" y="155"/>
                    </a:lnTo>
                    <a:lnTo>
                      <a:pt x="92" y="175"/>
                    </a:lnTo>
                    <a:lnTo>
                      <a:pt x="75" y="197"/>
                    </a:lnTo>
                    <a:lnTo>
                      <a:pt x="58" y="218"/>
                    </a:lnTo>
                    <a:lnTo>
                      <a:pt x="41" y="240"/>
                    </a:lnTo>
                    <a:lnTo>
                      <a:pt x="23" y="261"/>
                    </a:lnTo>
                    <a:lnTo>
                      <a:pt x="19" y="266"/>
                    </a:lnTo>
                    <a:lnTo>
                      <a:pt x="17" y="267"/>
                    </a:lnTo>
                    <a:lnTo>
                      <a:pt x="14" y="270"/>
                    </a:lnTo>
                    <a:lnTo>
                      <a:pt x="10" y="275"/>
                    </a:lnTo>
                    <a:lnTo>
                      <a:pt x="7" y="270"/>
                    </a:lnTo>
                    <a:lnTo>
                      <a:pt x="4" y="266"/>
                    </a:lnTo>
                    <a:lnTo>
                      <a:pt x="1" y="262"/>
                    </a:lnTo>
                    <a:lnTo>
                      <a:pt x="0" y="261"/>
                    </a:lnTo>
                    <a:lnTo>
                      <a:pt x="5" y="253"/>
                    </a:lnTo>
                    <a:lnTo>
                      <a:pt x="10" y="248"/>
                    </a:lnTo>
                    <a:lnTo>
                      <a:pt x="15" y="241"/>
                    </a:lnTo>
                    <a:lnTo>
                      <a:pt x="22" y="234"/>
                    </a:lnTo>
                    <a:lnTo>
                      <a:pt x="23" y="232"/>
                    </a:lnTo>
                    <a:lnTo>
                      <a:pt x="28" y="230"/>
                    </a:lnTo>
                    <a:lnTo>
                      <a:pt x="33" y="227"/>
                    </a:lnTo>
                    <a:lnTo>
                      <a:pt x="40" y="222"/>
                    </a:lnTo>
                    <a:lnTo>
                      <a:pt x="46" y="215"/>
                    </a:lnTo>
                    <a:lnTo>
                      <a:pt x="50" y="208"/>
                    </a:lnTo>
                    <a:lnTo>
                      <a:pt x="53" y="199"/>
                    </a:lnTo>
                    <a:lnTo>
                      <a:pt x="51" y="188"/>
                    </a:lnTo>
                    <a:lnTo>
                      <a:pt x="55" y="179"/>
                    </a:lnTo>
                    <a:lnTo>
                      <a:pt x="66" y="165"/>
                    </a:lnTo>
                    <a:lnTo>
                      <a:pt x="77" y="149"/>
                    </a:lnTo>
                    <a:lnTo>
                      <a:pt x="88" y="135"/>
                    </a:lnTo>
                    <a:lnTo>
                      <a:pt x="92" y="132"/>
                    </a:lnTo>
                    <a:lnTo>
                      <a:pt x="95" y="130"/>
                    </a:lnTo>
                    <a:lnTo>
                      <a:pt x="99" y="127"/>
                    </a:lnTo>
                    <a:lnTo>
                      <a:pt x="102" y="125"/>
                    </a:lnTo>
                    <a:lnTo>
                      <a:pt x="114" y="112"/>
                    </a:lnTo>
                    <a:lnTo>
                      <a:pt x="120" y="95"/>
                    </a:lnTo>
                    <a:lnTo>
                      <a:pt x="120" y="79"/>
                    </a:lnTo>
                    <a:lnTo>
                      <a:pt x="115" y="63"/>
                    </a:lnTo>
                    <a:lnTo>
                      <a:pt x="110" y="53"/>
                    </a:lnTo>
                    <a:lnTo>
                      <a:pt x="102" y="35"/>
                    </a:lnTo>
                    <a:lnTo>
                      <a:pt x="92" y="16"/>
                    </a:lnTo>
                    <a:lnTo>
                      <a:pt x="83" y="0"/>
                    </a:lnTo>
                    <a:lnTo>
                      <a:pt x="90" y="4"/>
                    </a:lnTo>
                    <a:lnTo>
                      <a:pt x="103" y="11"/>
                    </a:lnTo>
                    <a:lnTo>
                      <a:pt x="119" y="20"/>
                    </a:lnTo>
                    <a:lnTo>
                      <a:pt x="134" y="31"/>
                    </a:lnTo>
                    <a:lnTo>
                      <a:pt x="149" y="44"/>
                    </a:lnTo>
                    <a:lnTo>
                      <a:pt x="159" y="59"/>
                    </a:lnTo>
                    <a:lnTo>
                      <a:pt x="164" y="74"/>
                    </a:lnTo>
                    <a:lnTo>
                      <a:pt x="160" y="91"/>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33" name="Freeform 50"/>
              <p:cNvSpPr>
                <a:spLocks/>
              </p:cNvSpPr>
              <p:nvPr/>
            </p:nvSpPr>
            <p:spPr bwMode="auto">
              <a:xfrm>
                <a:off x="3905" y="3302"/>
                <a:ext cx="35" cy="35"/>
              </a:xfrm>
              <a:custGeom>
                <a:avLst/>
                <a:gdLst>
                  <a:gd name="T0" fmla="*/ 0 w 57"/>
                  <a:gd name="T1" fmla="*/ 1 h 57"/>
                  <a:gd name="T2" fmla="*/ 1 w 57"/>
                  <a:gd name="T3" fmla="*/ 1 h 57"/>
                  <a:gd name="T4" fmla="*/ 1 w 57"/>
                  <a:gd name="T5" fmla="*/ 1 h 57"/>
                  <a:gd name="T6" fmla="*/ 1 w 57"/>
                  <a:gd name="T7" fmla="*/ 1 h 57"/>
                  <a:gd name="T8" fmla="*/ 1 w 57"/>
                  <a:gd name="T9" fmla="*/ 1 h 57"/>
                  <a:gd name="T10" fmla="*/ 1 w 57"/>
                  <a:gd name="T11" fmla="*/ 1 h 57"/>
                  <a:gd name="T12" fmla="*/ 1 w 57"/>
                  <a:gd name="T13" fmla="*/ 1 h 57"/>
                  <a:gd name="T14" fmla="*/ 1 w 57"/>
                  <a:gd name="T15" fmla="*/ 1 h 57"/>
                  <a:gd name="T16" fmla="*/ 1 w 57"/>
                  <a:gd name="T17" fmla="*/ 0 h 57"/>
                  <a:gd name="T18" fmla="*/ 1 w 57"/>
                  <a:gd name="T19" fmla="*/ 1 h 57"/>
                  <a:gd name="T20" fmla="*/ 1 w 57"/>
                  <a:gd name="T21" fmla="*/ 1 h 57"/>
                  <a:gd name="T22" fmla="*/ 1 w 57"/>
                  <a:gd name="T23" fmla="*/ 1 h 57"/>
                  <a:gd name="T24" fmla="*/ 1 w 57"/>
                  <a:gd name="T25" fmla="*/ 1 h 57"/>
                  <a:gd name="T26" fmla="*/ 1 w 57"/>
                  <a:gd name="T27" fmla="*/ 1 h 57"/>
                  <a:gd name="T28" fmla="*/ 1 w 57"/>
                  <a:gd name="T29" fmla="*/ 1 h 57"/>
                  <a:gd name="T30" fmla="*/ 1 w 57"/>
                  <a:gd name="T31" fmla="*/ 1 h 57"/>
                  <a:gd name="T32" fmla="*/ 1 w 57"/>
                  <a:gd name="T33" fmla="*/ 1 h 57"/>
                  <a:gd name="T34" fmla="*/ 1 w 57"/>
                  <a:gd name="T35" fmla="*/ 1 h 57"/>
                  <a:gd name="T36" fmla="*/ 1 w 57"/>
                  <a:gd name="T37" fmla="*/ 1 h 57"/>
                  <a:gd name="T38" fmla="*/ 1 w 57"/>
                  <a:gd name="T39" fmla="*/ 1 h 57"/>
                  <a:gd name="T40" fmla="*/ 0 w 57"/>
                  <a:gd name="T41" fmla="*/ 1 h 5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
                  <a:gd name="T64" fmla="*/ 0 h 57"/>
                  <a:gd name="T65" fmla="*/ 57 w 57"/>
                  <a:gd name="T66" fmla="*/ 57 h 5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 h="57">
                    <a:moveTo>
                      <a:pt x="0" y="52"/>
                    </a:moveTo>
                    <a:lnTo>
                      <a:pt x="5" y="44"/>
                    </a:lnTo>
                    <a:lnTo>
                      <a:pt x="12" y="37"/>
                    </a:lnTo>
                    <a:lnTo>
                      <a:pt x="18" y="27"/>
                    </a:lnTo>
                    <a:lnTo>
                      <a:pt x="24" y="20"/>
                    </a:lnTo>
                    <a:lnTo>
                      <a:pt x="30" y="12"/>
                    </a:lnTo>
                    <a:lnTo>
                      <a:pt x="35" y="7"/>
                    </a:lnTo>
                    <a:lnTo>
                      <a:pt x="39" y="2"/>
                    </a:lnTo>
                    <a:lnTo>
                      <a:pt x="41" y="0"/>
                    </a:lnTo>
                    <a:lnTo>
                      <a:pt x="46" y="7"/>
                    </a:lnTo>
                    <a:lnTo>
                      <a:pt x="52" y="16"/>
                    </a:lnTo>
                    <a:lnTo>
                      <a:pt x="57" y="27"/>
                    </a:lnTo>
                    <a:lnTo>
                      <a:pt x="57" y="35"/>
                    </a:lnTo>
                    <a:lnTo>
                      <a:pt x="53" y="43"/>
                    </a:lnTo>
                    <a:lnTo>
                      <a:pt x="49" y="49"/>
                    </a:lnTo>
                    <a:lnTo>
                      <a:pt x="43" y="53"/>
                    </a:lnTo>
                    <a:lnTo>
                      <a:pt x="35" y="56"/>
                    </a:lnTo>
                    <a:lnTo>
                      <a:pt x="27" y="57"/>
                    </a:lnTo>
                    <a:lnTo>
                      <a:pt x="18" y="57"/>
                    </a:lnTo>
                    <a:lnTo>
                      <a:pt x="9" y="55"/>
                    </a:lnTo>
                    <a:lnTo>
                      <a:pt x="0" y="5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34" name="Freeform 51"/>
              <p:cNvSpPr>
                <a:spLocks/>
              </p:cNvSpPr>
              <p:nvPr/>
            </p:nvSpPr>
            <p:spPr bwMode="auto">
              <a:xfrm>
                <a:off x="3798" y="3313"/>
                <a:ext cx="31" cy="25"/>
              </a:xfrm>
              <a:custGeom>
                <a:avLst/>
                <a:gdLst>
                  <a:gd name="T0" fmla="*/ 1 w 51"/>
                  <a:gd name="T1" fmla="*/ 0 h 41"/>
                  <a:gd name="T2" fmla="*/ 1 w 51"/>
                  <a:gd name="T3" fmla="*/ 1 h 41"/>
                  <a:gd name="T4" fmla="*/ 1 w 51"/>
                  <a:gd name="T5" fmla="*/ 1 h 41"/>
                  <a:gd name="T6" fmla="*/ 1 w 51"/>
                  <a:gd name="T7" fmla="*/ 1 h 41"/>
                  <a:gd name="T8" fmla="*/ 0 w 51"/>
                  <a:gd name="T9" fmla="*/ 1 h 41"/>
                  <a:gd name="T10" fmla="*/ 1 w 51"/>
                  <a:gd name="T11" fmla="*/ 1 h 41"/>
                  <a:gd name="T12" fmla="*/ 1 w 51"/>
                  <a:gd name="T13" fmla="*/ 1 h 41"/>
                  <a:gd name="T14" fmla="*/ 1 w 51"/>
                  <a:gd name="T15" fmla="*/ 1 h 41"/>
                  <a:gd name="T16" fmla="*/ 1 w 51"/>
                  <a:gd name="T17" fmla="*/ 1 h 41"/>
                  <a:gd name="T18" fmla="*/ 1 w 51"/>
                  <a:gd name="T19" fmla="*/ 1 h 41"/>
                  <a:gd name="T20" fmla="*/ 1 w 51"/>
                  <a:gd name="T21" fmla="*/ 1 h 41"/>
                  <a:gd name="T22" fmla="*/ 1 w 51"/>
                  <a:gd name="T23" fmla="*/ 1 h 41"/>
                  <a:gd name="T24" fmla="*/ 1 w 51"/>
                  <a:gd name="T25" fmla="*/ 1 h 41"/>
                  <a:gd name="T26" fmla="*/ 1 w 51"/>
                  <a:gd name="T27" fmla="*/ 1 h 41"/>
                  <a:gd name="T28" fmla="*/ 1 w 51"/>
                  <a:gd name="T29" fmla="*/ 1 h 41"/>
                  <a:gd name="T30" fmla="*/ 1 w 51"/>
                  <a:gd name="T31" fmla="*/ 1 h 41"/>
                  <a:gd name="T32" fmla="*/ 1 w 51"/>
                  <a:gd name="T33" fmla="*/ 0 h 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1"/>
                  <a:gd name="T52" fmla="*/ 0 h 41"/>
                  <a:gd name="T53" fmla="*/ 51 w 51"/>
                  <a:gd name="T54" fmla="*/ 41 h 4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1" h="41">
                    <a:moveTo>
                      <a:pt x="26" y="0"/>
                    </a:moveTo>
                    <a:lnTo>
                      <a:pt x="16" y="2"/>
                    </a:lnTo>
                    <a:lnTo>
                      <a:pt x="8" y="7"/>
                    </a:lnTo>
                    <a:lnTo>
                      <a:pt x="3" y="13"/>
                    </a:lnTo>
                    <a:lnTo>
                      <a:pt x="0" y="21"/>
                    </a:lnTo>
                    <a:lnTo>
                      <a:pt x="3" y="29"/>
                    </a:lnTo>
                    <a:lnTo>
                      <a:pt x="8" y="34"/>
                    </a:lnTo>
                    <a:lnTo>
                      <a:pt x="16" y="39"/>
                    </a:lnTo>
                    <a:lnTo>
                      <a:pt x="26" y="41"/>
                    </a:lnTo>
                    <a:lnTo>
                      <a:pt x="35" y="39"/>
                    </a:lnTo>
                    <a:lnTo>
                      <a:pt x="43" y="34"/>
                    </a:lnTo>
                    <a:lnTo>
                      <a:pt x="48" y="29"/>
                    </a:lnTo>
                    <a:lnTo>
                      <a:pt x="51" y="21"/>
                    </a:lnTo>
                    <a:lnTo>
                      <a:pt x="48" y="13"/>
                    </a:lnTo>
                    <a:lnTo>
                      <a:pt x="43" y="7"/>
                    </a:lnTo>
                    <a:lnTo>
                      <a:pt x="35" y="2"/>
                    </a:lnTo>
                    <a:lnTo>
                      <a:pt x="26"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17413" name="Group 4"/>
          <p:cNvGrpSpPr>
            <a:grpSpLocks/>
          </p:cNvGrpSpPr>
          <p:nvPr/>
        </p:nvGrpSpPr>
        <p:grpSpPr bwMode="auto">
          <a:xfrm>
            <a:off x="5975350" y="936392"/>
            <a:ext cx="1109663" cy="969963"/>
            <a:chOff x="1305" y="2500"/>
            <a:chExt cx="1138" cy="995"/>
          </a:xfrm>
        </p:grpSpPr>
        <p:sp>
          <p:nvSpPr>
            <p:cNvPr id="17448" name="Freeform 5"/>
            <p:cNvSpPr>
              <a:spLocks/>
            </p:cNvSpPr>
            <p:nvPr/>
          </p:nvSpPr>
          <p:spPr bwMode="auto">
            <a:xfrm>
              <a:off x="1305" y="2500"/>
              <a:ext cx="1138" cy="995"/>
            </a:xfrm>
            <a:custGeom>
              <a:avLst/>
              <a:gdLst>
                <a:gd name="T0" fmla="*/ 444 w 1138"/>
                <a:gd name="T1" fmla="*/ 1 h 995"/>
                <a:gd name="T2" fmla="*/ 490 w 1138"/>
                <a:gd name="T3" fmla="*/ 0 h 995"/>
                <a:gd name="T4" fmla="*/ 532 w 1138"/>
                <a:gd name="T5" fmla="*/ 10 h 995"/>
                <a:gd name="T6" fmla="*/ 600 w 1138"/>
                <a:gd name="T7" fmla="*/ 40 h 995"/>
                <a:gd name="T8" fmla="*/ 668 w 1138"/>
                <a:gd name="T9" fmla="*/ 66 h 995"/>
                <a:gd name="T10" fmla="*/ 737 w 1138"/>
                <a:gd name="T11" fmla="*/ 85 h 995"/>
                <a:gd name="T12" fmla="*/ 808 w 1138"/>
                <a:gd name="T13" fmla="*/ 101 h 995"/>
                <a:gd name="T14" fmla="*/ 882 w 1138"/>
                <a:gd name="T15" fmla="*/ 111 h 995"/>
                <a:gd name="T16" fmla="*/ 953 w 1138"/>
                <a:gd name="T17" fmla="*/ 125 h 995"/>
                <a:gd name="T18" fmla="*/ 1011 w 1138"/>
                <a:gd name="T19" fmla="*/ 163 h 995"/>
                <a:gd name="T20" fmla="*/ 1036 w 1138"/>
                <a:gd name="T21" fmla="*/ 228 h 995"/>
                <a:gd name="T22" fmla="*/ 1082 w 1138"/>
                <a:gd name="T23" fmla="*/ 252 h 995"/>
                <a:gd name="T24" fmla="*/ 1120 w 1138"/>
                <a:gd name="T25" fmla="*/ 287 h 995"/>
                <a:gd name="T26" fmla="*/ 1137 w 1138"/>
                <a:gd name="T27" fmla="*/ 342 h 995"/>
                <a:gd name="T28" fmla="*/ 1134 w 1138"/>
                <a:gd name="T29" fmla="*/ 405 h 995"/>
                <a:gd name="T30" fmla="*/ 1111 w 1138"/>
                <a:gd name="T31" fmla="*/ 463 h 995"/>
                <a:gd name="T32" fmla="*/ 1068 w 1138"/>
                <a:gd name="T33" fmla="*/ 515 h 995"/>
                <a:gd name="T34" fmla="*/ 1026 w 1138"/>
                <a:gd name="T35" fmla="*/ 568 h 995"/>
                <a:gd name="T36" fmla="*/ 984 w 1138"/>
                <a:gd name="T37" fmla="*/ 627 h 995"/>
                <a:gd name="T38" fmla="*/ 965 w 1138"/>
                <a:gd name="T39" fmla="*/ 646 h 995"/>
                <a:gd name="T40" fmla="*/ 947 w 1138"/>
                <a:gd name="T41" fmla="*/ 664 h 995"/>
                <a:gd name="T42" fmla="*/ 918 w 1138"/>
                <a:gd name="T43" fmla="*/ 712 h 995"/>
                <a:gd name="T44" fmla="*/ 864 w 1138"/>
                <a:gd name="T45" fmla="*/ 796 h 995"/>
                <a:gd name="T46" fmla="*/ 802 w 1138"/>
                <a:gd name="T47" fmla="*/ 881 h 995"/>
                <a:gd name="T48" fmla="*/ 763 w 1138"/>
                <a:gd name="T49" fmla="*/ 927 h 995"/>
                <a:gd name="T50" fmla="*/ 741 w 1138"/>
                <a:gd name="T51" fmla="*/ 950 h 995"/>
                <a:gd name="T52" fmla="*/ 715 w 1138"/>
                <a:gd name="T53" fmla="*/ 963 h 995"/>
                <a:gd name="T54" fmla="*/ 670 w 1138"/>
                <a:gd name="T55" fmla="*/ 975 h 995"/>
                <a:gd name="T56" fmla="*/ 627 w 1138"/>
                <a:gd name="T57" fmla="*/ 985 h 995"/>
                <a:gd name="T58" fmla="*/ 584 w 1138"/>
                <a:gd name="T59" fmla="*/ 993 h 995"/>
                <a:gd name="T60" fmla="*/ 543 w 1138"/>
                <a:gd name="T61" fmla="*/ 995 h 995"/>
                <a:gd name="T62" fmla="*/ 500 w 1138"/>
                <a:gd name="T63" fmla="*/ 988 h 995"/>
                <a:gd name="T64" fmla="*/ 464 w 1138"/>
                <a:gd name="T65" fmla="*/ 975 h 995"/>
                <a:gd name="T66" fmla="*/ 421 w 1138"/>
                <a:gd name="T67" fmla="*/ 953 h 995"/>
                <a:gd name="T68" fmla="*/ 369 w 1138"/>
                <a:gd name="T69" fmla="*/ 925 h 995"/>
                <a:gd name="T70" fmla="*/ 317 w 1138"/>
                <a:gd name="T71" fmla="*/ 899 h 995"/>
                <a:gd name="T72" fmla="*/ 275 w 1138"/>
                <a:gd name="T73" fmla="*/ 878 h 995"/>
                <a:gd name="T74" fmla="*/ 219 w 1138"/>
                <a:gd name="T75" fmla="*/ 861 h 995"/>
                <a:gd name="T76" fmla="*/ 151 w 1138"/>
                <a:gd name="T77" fmla="*/ 851 h 995"/>
                <a:gd name="T78" fmla="*/ 86 w 1138"/>
                <a:gd name="T79" fmla="*/ 827 h 995"/>
                <a:gd name="T80" fmla="*/ 18 w 1138"/>
                <a:gd name="T81" fmla="*/ 764 h 995"/>
                <a:gd name="T82" fmla="*/ 0 w 1138"/>
                <a:gd name="T83" fmla="*/ 678 h 995"/>
                <a:gd name="T84" fmla="*/ 15 w 1138"/>
                <a:gd name="T85" fmla="*/ 590 h 995"/>
                <a:gd name="T86" fmla="*/ 52 w 1138"/>
                <a:gd name="T87" fmla="*/ 520 h 995"/>
                <a:gd name="T88" fmla="*/ 110 w 1138"/>
                <a:gd name="T89" fmla="*/ 462 h 995"/>
                <a:gd name="T90" fmla="*/ 166 w 1138"/>
                <a:gd name="T91" fmla="*/ 392 h 995"/>
                <a:gd name="T92" fmla="*/ 217 w 1138"/>
                <a:gd name="T93" fmla="*/ 316 h 995"/>
                <a:gd name="T94" fmla="*/ 263 w 1138"/>
                <a:gd name="T95" fmla="*/ 239 h 995"/>
                <a:gd name="T96" fmla="*/ 308 w 1138"/>
                <a:gd name="T97" fmla="*/ 156 h 995"/>
                <a:gd name="T98" fmla="*/ 365 w 1138"/>
                <a:gd name="T99" fmla="*/ 58 h 995"/>
                <a:gd name="T100" fmla="*/ 413 w 1138"/>
                <a:gd name="T101" fmla="*/ 5 h 99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38"/>
                <a:gd name="T154" fmla="*/ 0 h 995"/>
                <a:gd name="T155" fmla="*/ 1138 w 1138"/>
                <a:gd name="T156" fmla="*/ 995 h 99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38" h="995">
                  <a:moveTo>
                    <a:pt x="413" y="5"/>
                  </a:moveTo>
                  <a:lnTo>
                    <a:pt x="429" y="2"/>
                  </a:lnTo>
                  <a:lnTo>
                    <a:pt x="444" y="1"/>
                  </a:lnTo>
                  <a:lnTo>
                    <a:pt x="460" y="0"/>
                  </a:lnTo>
                  <a:lnTo>
                    <a:pt x="475" y="0"/>
                  </a:lnTo>
                  <a:lnTo>
                    <a:pt x="490" y="0"/>
                  </a:lnTo>
                  <a:lnTo>
                    <a:pt x="504" y="2"/>
                  </a:lnTo>
                  <a:lnTo>
                    <a:pt x="518" y="5"/>
                  </a:lnTo>
                  <a:lnTo>
                    <a:pt x="532" y="10"/>
                  </a:lnTo>
                  <a:lnTo>
                    <a:pt x="554" y="20"/>
                  </a:lnTo>
                  <a:lnTo>
                    <a:pt x="578" y="31"/>
                  </a:lnTo>
                  <a:lnTo>
                    <a:pt x="600" y="40"/>
                  </a:lnTo>
                  <a:lnTo>
                    <a:pt x="623" y="49"/>
                  </a:lnTo>
                  <a:lnTo>
                    <a:pt x="645" y="57"/>
                  </a:lnTo>
                  <a:lnTo>
                    <a:pt x="668" y="66"/>
                  </a:lnTo>
                  <a:lnTo>
                    <a:pt x="692" y="72"/>
                  </a:lnTo>
                  <a:lnTo>
                    <a:pt x="714" y="79"/>
                  </a:lnTo>
                  <a:lnTo>
                    <a:pt x="737" y="85"/>
                  </a:lnTo>
                  <a:lnTo>
                    <a:pt x="760" y="92"/>
                  </a:lnTo>
                  <a:lnTo>
                    <a:pt x="785" y="97"/>
                  </a:lnTo>
                  <a:lnTo>
                    <a:pt x="808" y="101"/>
                  </a:lnTo>
                  <a:lnTo>
                    <a:pt x="833" y="105"/>
                  </a:lnTo>
                  <a:lnTo>
                    <a:pt x="857" y="108"/>
                  </a:lnTo>
                  <a:lnTo>
                    <a:pt x="882" y="111"/>
                  </a:lnTo>
                  <a:lnTo>
                    <a:pt x="906" y="114"/>
                  </a:lnTo>
                  <a:lnTo>
                    <a:pt x="930" y="119"/>
                  </a:lnTo>
                  <a:lnTo>
                    <a:pt x="953" y="125"/>
                  </a:lnTo>
                  <a:lnTo>
                    <a:pt x="975" y="136"/>
                  </a:lnTo>
                  <a:lnTo>
                    <a:pt x="994" y="147"/>
                  </a:lnTo>
                  <a:lnTo>
                    <a:pt x="1011" y="163"/>
                  </a:lnTo>
                  <a:lnTo>
                    <a:pt x="1024" y="181"/>
                  </a:lnTo>
                  <a:lnTo>
                    <a:pt x="1033" y="202"/>
                  </a:lnTo>
                  <a:lnTo>
                    <a:pt x="1036" y="228"/>
                  </a:lnTo>
                  <a:lnTo>
                    <a:pt x="1051" y="235"/>
                  </a:lnTo>
                  <a:lnTo>
                    <a:pt x="1067" y="243"/>
                  </a:lnTo>
                  <a:lnTo>
                    <a:pt x="1082" y="252"/>
                  </a:lnTo>
                  <a:lnTo>
                    <a:pt x="1097" y="263"/>
                  </a:lnTo>
                  <a:lnTo>
                    <a:pt x="1110" y="274"/>
                  </a:lnTo>
                  <a:lnTo>
                    <a:pt x="1120" y="287"/>
                  </a:lnTo>
                  <a:lnTo>
                    <a:pt x="1129" y="303"/>
                  </a:lnTo>
                  <a:lnTo>
                    <a:pt x="1134" y="321"/>
                  </a:lnTo>
                  <a:lnTo>
                    <a:pt x="1137" y="342"/>
                  </a:lnTo>
                  <a:lnTo>
                    <a:pt x="1138" y="364"/>
                  </a:lnTo>
                  <a:lnTo>
                    <a:pt x="1137" y="384"/>
                  </a:lnTo>
                  <a:lnTo>
                    <a:pt x="1134" y="405"/>
                  </a:lnTo>
                  <a:lnTo>
                    <a:pt x="1128" y="426"/>
                  </a:lnTo>
                  <a:lnTo>
                    <a:pt x="1120" y="445"/>
                  </a:lnTo>
                  <a:lnTo>
                    <a:pt x="1111" y="463"/>
                  </a:lnTo>
                  <a:lnTo>
                    <a:pt x="1098" y="482"/>
                  </a:lnTo>
                  <a:lnTo>
                    <a:pt x="1082" y="498"/>
                  </a:lnTo>
                  <a:lnTo>
                    <a:pt x="1068" y="515"/>
                  </a:lnTo>
                  <a:lnTo>
                    <a:pt x="1053" y="533"/>
                  </a:lnTo>
                  <a:lnTo>
                    <a:pt x="1040" y="550"/>
                  </a:lnTo>
                  <a:lnTo>
                    <a:pt x="1026" y="568"/>
                  </a:lnTo>
                  <a:lnTo>
                    <a:pt x="1011" y="586"/>
                  </a:lnTo>
                  <a:lnTo>
                    <a:pt x="998" y="606"/>
                  </a:lnTo>
                  <a:lnTo>
                    <a:pt x="984" y="627"/>
                  </a:lnTo>
                  <a:lnTo>
                    <a:pt x="978" y="634"/>
                  </a:lnTo>
                  <a:lnTo>
                    <a:pt x="971" y="641"/>
                  </a:lnTo>
                  <a:lnTo>
                    <a:pt x="965" y="646"/>
                  </a:lnTo>
                  <a:lnTo>
                    <a:pt x="960" y="653"/>
                  </a:lnTo>
                  <a:lnTo>
                    <a:pt x="953" y="659"/>
                  </a:lnTo>
                  <a:lnTo>
                    <a:pt x="947" y="664"/>
                  </a:lnTo>
                  <a:lnTo>
                    <a:pt x="941" y="671"/>
                  </a:lnTo>
                  <a:lnTo>
                    <a:pt x="938" y="678"/>
                  </a:lnTo>
                  <a:lnTo>
                    <a:pt x="918" y="712"/>
                  </a:lnTo>
                  <a:lnTo>
                    <a:pt x="900" y="742"/>
                  </a:lnTo>
                  <a:lnTo>
                    <a:pt x="882" y="770"/>
                  </a:lnTo>
                  <a:lnTo>
                    <a:pt x="864" y="796"/>
                  </a:lnTo>
                  <a:lnTo>
                    <a:pt x="844" y="824"/>
                  </a:lnTo>
                  <a:lnTo>
                    <a:pt x="824" y="851"/>
                  </a:lnTo>
                  <a:lnTo>
                    <a:pt x="802" y="881"/>
                  </a:lnTo>
                  <a:lnTo>
                    <a:pt x="777" y="912"/>
                  </a:lnTo>
                  <a:lnTo>
                    <a:pt x="769" y="919"/>
                  </a:lnTo>
                  <a:lnTo>
                    <a:pt x="763" y="927"/>
                  </a:lnTo>
                  <a:lnTo>
                    <a:pt x="755" y="936"/>
                  </a:lnTo>
                  <a:lnTo>
                    <a:pt x="749" y="943"/>
                  </a:lnTo>
                  <a:lnTo>
                    <a:pt x="741" y="950"/>
                  </a:lnTo>
                  <a:lnTo>
                    <a:pt x="733" y="956"/>
                  </a:lnTo>
                  <a:lnTo>
                    <a:pt x="724" y="961"/>
                  </a:lnTo>
                  <a:lnTo>
                    <a:pt x="715" y="963"/>
                  </a:lnTo>
                  <a:lnTo>
                    <a:pt x="699" y="967"/>
                  </a:lnTo>
                  <a:lnTo>
                    <a:pt x="684" y="971"/>
                  </a:lnTo>
                  <a:lnTo>
                    <a:pt x="670" y="975"/>
                  </a:lnTo>
                  <a:lnTo>
                    <a:pt x="655" y="979"/>
                  </a:lnTo>
                  <a:lnTo>
                    <a:pt x="641" y="983"/>
                  </a:lnTo>
                  <a:lnTo>
                    <a:pt x="627" y="985"/>
                  </a:lnTo>
                  <a:lnTo>
                    <a:pt x="613" y="989"/>
                  </a:lnTo>
                  <a:lnTo>
                    <a:pt x="598" y="991"/>
                  </a:lnTo>
                  <a:lnTo>
                    <a:pt x="584" y="993"/>
                  </a:lnTo>
                  <a:lnTo>
                    <a:pt x="570" y="995"/>
                  </a:lnTo>
                  <a:lnTo>
                    <a:pt x="557" y="995"/>
                  </a:lnTo>
                  <a:lnTo>
                    <a:pt x="543" y="995"/>
                  </a:lnTo>
                  <a:lnTo>
                    <a:pt x="528" y="993"/>
                  </a:lnTo>
                  <a:lnTo>
                    <a:pt x="514" y="992"/>
                  </a:lnTo>
                  <a:lnTo>
                    <a:pt x="500" y="988"/>
                  </a:lnTo>
                  <a:lnTo>
                    <a:pt x="486" y="984"/>
                  </a:lnTo>
                  <a:lnTo>
                    <a:pt x="475" y="980"/>
                  </a:lnTo>
                  <a:lnTo>
                    <a:pt x="464" y="975"/>
                  </a:lnTo>
                  <a:lnTo>
                    <a:pt x="451" y="969"/>
                  </a:lnTo>
                  <a:lnTo>
                    <a:pt x="437" y="961"/>
                  </a:lnTo>
                  <a:lnTo>
                    <a:pt x="421" y="953"/>
                  </a:lnTo>
                  <a:lnTo>
                    <a:pt x="404" y="944"/>
                  </a:lnTo>
                  <a:lnTo>
                    <a:pt x="386" y="935"/>
                  </a:lnTo>
                  <a:lnTo>
                    <a:pt x="369" y="925"/>
                  </a:lnTo>
                  <a:lnTo>
                    <a:pt x="352" y="915"/>
                  </a:lnTo>
                  <a:lnTo>
                    <a:pt x="334" y="906"/>
                  </a:lnTo>
                  <a:lnTo>
                    <a:pt x="317" y="899"/>
                  </a:lnTo>
                  <a:lnTo>
                    <a:pt x="302" y="890"/>
                  </a:lnTo>
                  <a:lnTo>
                    <a:pt x="288" y="883"/>
                  </a:lnTo>
                  <a:lnTo>
                    <a:pt x="275" y="878"/>
                  </a:lnTo>
                  <a:lnTo>
                    <a:pt x="263" y="873"/>
                  </a:lnTo>
                  <a:lnTo>
                    <a:pt x="253" y="870"/>
                  </a:lnTo>
                  <a:lnTo>
                    <a:pt x="219" y="861"/>
                  </a:lnTo>
                  <a:lnTo>
                    <a:pt x="193" y="856"/>
                  </a:lnTo>
                  <a:lnTo>
                    <a:pt x="170" y="853"/>
                  </a:lnTo>
                  <a:lnTo>
                    <a:pt x="151" y="851"/>
                  </a:lnTo>
                  <a:lnTo>
                    <a:pt x="131" y="847"/>
                  </a:lnTo>
                  <a:lnTo>
                    <a:pt x="110" y="839"/>
                  </a:lnTo>
                  <a:lnTo>
                    <a:pt x="86" y="827"/>
                  </a:lnTo>
                  <a:lnTo>
                    <a:pt x="56" y="808"/>
                  </a:lnTo>
                  <a:lnTo>
                    <a:pt x="34" y="789"/>
                  </a:lnTo>
                  <a:lnTo>
                    <a:pt x="18" y="764"/>
                  </a:lnTo>
                  <a:lnTo>
                    <a:pt x="8" y="738"/>
                  </a:lnTo>
                  <a:lnTo>
                    <a:pt x="3" y="708"/>
                  </a:lnTo>
                  <a:lnTo>
                    <a:pt x="0" y="678"/>
                  </a:lnTo>
                  <a:lnTo>
                    <a:pt x="3" y="649"/>
                  </a:lnTo>
                  <a:lnTo>
                    <a:pt x="8" y="619"/>
                  </a:lnTo>
                  <a:lnTo>
                    <a:pt x="15" y="590"/>
                  </a:lnTo>
                  <a:lnTo>
                    <a:pt x="22" y="564"/>
                  </a:lnTo>
                  <a:lnTo>
                    <a:pt x="35" y="541"/>
                  </a:lnTo>
                  <a:lnTo>
                    <a:pt x="52" y="520"/>
                  </a:lnTo>
                  <a:lnTo>
                    <a:pt x="70" y="501"/>
                  </a:lnTo>
                  <a:lnTo>
                    <a:pt x="90" y="482"/>
                  </a:lnTo>
                  <a:lnTo>
                    <a:pt x="110" y="462"/>
                  </a:lnTo>
                  <a:lnTo>
                    <a:pt x="131" y="441"/>
                  </a:lnTo>
                  <a:lnTo>
                    <a:pt x="149" y="419"/>
                  </a:lnTo>
                  <a:lnTo>
                    <a:pt x="166" y="392"/>
                  </a:lnTo>
                  <a:lnTo>
                    <a:pt x="183" y="366"/>
                  </a:lnTo>
                  <a:lnTo>
                    <a:pt x="200" y="342"/>
                  </a:lnTo>
                  <a:lnTo>
                    <a:pt x="217" y="316"/>
                  </a:lnTo>
                  <a:lnTo>
                    <a:pt x="232" y="290"/>
                  </a:lnTo>
                  <a:lnTo>
                    <a:pt x="248" y="265"/>
                  </a:lnTo>
                  <a:lnTo>
                    <a:pt x="263" y="239"/>
                  </a:lnTo>
                  <a:lnTo>
                    <a:pt x="279" y="212"/>
                  </a:lnTo>
                  <a:lnTo>
                    <a:pt x="292" y="187"/>
                  </a:lnTo>
                  <a:lnTo>
                    <a:pt x="308" y="156"/>
                  </a:lnTo>
                  <a:lnTo>
                    <a:pt x="327" y="123"/>
                  </a:lnTo>
                  <a:lnTo>
                    <a:pt x="346" y="89"/>
                  </a:lnTo>
                  <a:lnTo>
                    <a:pt x="365" y="58"/>
                  </a:lnTo>
                  <a:lnTo>
                    <a:pt x="384" y="31"/>
                  </a:lnTo>
                  <a:lnTo>
                    <a:pt x="400" y="13"/>
                  </a:lnTo>
                  <a:lnTo>
                    <a:pt x="413" y="5"/>
                  </a:lnTo>
                  <a:close/>
                </a:path>
              </a:pathLst>
            </a:custGeom>
            <a:solidFill>
              <a:srgbClr val="FFFFD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9" name="Freeform 6"/>
            <p:cNvSpPr>
              <a:spLocks/>
            </p:cNvSpPr>
            <p:nvPr/>
          </p:nvSpPr>
          <p:spPr bwMode="auto">
            <a:xfrm>
              <a:off x="1356" y="2554"/>
              <a:ext cx="1055" cy="891"/>
            </a:xfrm>
            <a:custGeom>
              <a:avLst/>
              <a:gdLst>
                <a:gd name="T0" fmla="*/ 1013 w 1055"/>
                <a:gd name="T1" fmla="*/ 247 h 891"/>
                <a:gd name="T2" fmla="*/ 1007 w 1055"/>
                <a:gd name="T3" fmla="*/ 242 h 891"/>
                <a:gd name="T4" fmla="*/ 986 w 1055"/>
                <a:gd name="T5" fmla="*/ 227 h 891"/>
                <a:gd name="T6" fmla="*/ 963 w 1055"/>
                <a:gd name="T7" fmla="*/ 215 h 891"/>
                <a:gd name="T8" fmla="*/ 962 w 1055"/>
                <a:gd name="T9" fmla="*/ 189 h 891"/>
                <a:gd name="T10" fmla="*/ 947 w 1055"/>
                <a:gd name="T11" fmla="*/ 157 h 891"/>
                <a:gd name="T12" fmla="*/ 918 w 1055"/>
                <a:gd name="T13" fmla="*/ 145 h 891"/>
                <a:gd name="T14" fmla="*/ 861 w 1055"/>
                <a:gd name="T15" fmla="*/ 131 h 891"/>
                <a:gd name="T16" fmla="*/ 804 w 1055"/>
                <a:gd name="T17" fmla="*/ 118 h 891"/>
                <a:gd name="T18" fmla="*/ 749 w 1055"/>
                <a:gd name="T19" fmla="*/ 105 h 891"/>
                <a:gd name="T20" fmla="*/ 707 w 1055"/>
                <a:gd name="T21" fmla="*/ 95 h 891"/>
                <a:gd name="T22" fmla="*/ 665 w 1055"/>
                <a:gd name="T23" fmla="*/ 82 h 891"/>
                <a:gd name="T24" fmla="*/ 622 w 1055"/>
                <a:gd name="T25" fmla="*/ 65 h 891"/>
                <a:gd name="T26" fmla="*/ 572 w 1055"/>
                <a:gd name="T27" fmla="*/ 43 h 891"/>
                <a:gd name="T28" fmla="*/ 516 w 1055"/>
                <a:gd name="T29" fmla="*/ 21 h 891"/>
                <a:gd name="T30" fmla="*/ 465 w 1055"/>
                <a:gd name="T31" fmla="*/ 5 h 891"/>
                <a:gd name="T32" fmla="*/ 423 w 1055"/>
                <a:gd name="T33" fmla="*/ 0 h 891"/>
                <a:gd name="T34" fmla="*/ 387 w 1055"/>
                <a:gd name="T35" fmla="*/ 18 h 891"/>
                <a:gd name="T36" fmla="*/ 343 w 1055"/>
                <a:gd name="T37" fmla="*/ 69 h 891"/>
                <a:gd name="T38" fmla="*/ 304 w 1055"/>
                <a:gd name="T39" fmla="*/ 124 h 891"/>
                <a:gd name="T40" fmla="*/ 266 w 1055"/>
                <a:gd name="T41" fmla="*/ 175 h 891"/>
                <a:gd name="T42" fmla="*/ 230 w 1055"/>
                <a:gd name="T43" fmla="*/ 223 h 891"/>
                <a:gd name="T44" fmla="*/ 198 w 1055"/>
                <a:gd name="T45" fmla="*/ 273 h 891"/>
                <a:gd name="T46" fmla="*/ 127 w 1055"/>
                <a:gd name="T47" fmla="*/ 384 h 891"/>
                <a:gd name="T48" fmla="*/ 36 w 1055"/>
                <a:gd name="T49" fmla="*/ 513 h 891"/>
                <a:gd name="T50" fmla="*/ 0 w 1055"/>
                <a:gd name="T51" fmla="*/ 578 h 891"/>
                <a:gd name="T52" fmla="*/ 9 w 1055"/>
                <a:gd name="T53" fmla="*/ 624 h 891"/>
                <a:gd name="T54" fmla="*/ 17 w 1055"/>
                <a:gd name="T55" fmla="*/ 648 h 891"/>
                <a:gd name="T56" fmla="*/ 33 w 1055"/>
                <a:gd name="T57" fmla="*/ 688 h 891"/>
                <a:gd name="T58" fmla="*/ 53 w 1055"/>
                <a:gd name="T59" fmla="*/ 709 h 891"/>
                <a:gd name="T60" fmla="*/ 101 w 1055"/>
                <a:gd name="T61" fmla="*/ 729 h 891"/>
                <a:gd name="T62" fmla="*/ 149 w 1055"/>
                <a:gd name="T63" fmla="*/ 749 h 891"/>
                <a:gd name="T64" fmla="*/ 198 w 1055"/>
                <a:gd name="T65" fmla="*/ 767 h 891"/>
                <a:gd name="T66" fmla="*/ 247 w 1055"/>
                <a:gd name="T67" fmla="*/ 785 h 891"/>
                <a:gd name="T68" fmla="*/ 295 w 1055"/>
                <a:gd name="T69" fmla="*/ 803 h 891"/>
                <a:gd name="T70" fmla="*/ 347 w 1055"/>
                <a:gd name="T71" fmla="*/ 825 h 891"/>
                <a:gd name="T72" fmla="*/ 400 w 1055"/>
                <a:gd name="T73" fmla="*/ 847 h 891"/>
                <a:gd name="T74" fmla="*/ 453 w 1055"/>
                <a:gd name="T75" fmla="*/ 867 h 891"/>
                <a:gd name="T76" fmla="*/ 531 w 1055"/>
                <a:gd name="T77" fmla="*/ 887 h 891"/>
                <a:gd name="T78" fmla="*/ 610 w 1055"/>
                <a:gd name="T79" fmla="*/ 887 h 891"/>
                <a:gd name="T80" fmla="*/ 669 w 1055"/>
                <a:gd name="T81" fmla="*/ 851 h 891"/>
                <a:gd name="T82" fmla="*/ 721 w 1055"/>
                <a:gd name="T83" fmla="*/ 790 h 891"/>
                <a:gd name="T84" fmla="*/ 780 w 1055"/>
                <a:gd name="T85" fmla="*/ 707 h 891"/>
                <a:gd name="T86" fmla="*/ 839 w 1055"/>
                <a:gd name="T87" fmla="*/ 622 h 891"/>
                <a:gd name="T88" fmla="*/ 887 w 1055"/>
                <a:gd name="T89" fmla="*/ 549 h 891"/>
                <a:gd name="T90" fmla="*/ 915 w 1055"/>
                <a:gd name="T91" fmla="*/ 508 h 891"/>
                <a:gd name="T92" fmla="*/ 978 w 1055"/>
                <a:gd name="T93" fmla="*/ 426 h 891"/>
                <a:gd name="T94" fmla="*/ 1038 w 1055"/>
                <a:gd name="T95" fmla="*/ 349 h 891"/>
                <a:gd name="T96" fmla="*/ 1055 w 1055"/>
                <a:gd name="T97" fmla="*/ 312 h 891"/>
                <a:gd name="T98" fmla="*/ 1048 w 1055"/>
                <a:gd name="T99" fmla="*/ 277 h 891"/>
                <a:gd name="T100" fmla="*/ 1025 w 1055"/>
                <a:gd name="T101" fmla="*/ 254 h 8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55"/>
                <a:gd name="T154" fmla="*/ 0 h 891"/>
                <a:gd name="T155" fmla="*/ 1055 w 1055"/>
                <a:gd name="T156" fmla="*/ 891 h 8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55" h="891">
                  <a:moveTo>
                    <a:pt x="1013" y="249"/>
                  </a:moveTo>
                  <a:lnTo>
                    <a:pt x="1013" y="247"/>
                  </a:lnTo>
                  <a:lnTo>
                    <a:pt x="1007" y="242"/>
                  </a:lnTo>
                  <a:lnTo>
                    <a:pt x="1000" y="237"/>
                  </a:lnTo>
                  <a:lnTo>
                    <a:pt x="993" y="232"/>
                  </a:lnTo>
                  <a:lnTo>
                    <a:pt x="986" y="227"/>
                  </a:lnTo>
                  <a:lnTo>
                    <a:pt x="978" y="223"/>
                  </a:lnTo>
                  <a:lnTo>
                    <a:pt x="971" y="219"/>
                  </a:lnTo>
                  <a:lnTo>
                    <a:pt x="963" y="215"/>
                  </a:lnTo>
                  <a:lnTo>
                    <a:pt x="955" y="213"/>
                  </a:lnTo>
                  <a:lnTo>
                    <a:pt x="960" y="201"/>
                  </a:lnTo>
                  <a:lnTo>
                    <a:pt x="962" y="189"/>
                  </a:lnTo>
                  <a:lnTo>
                    <a:pt x="960" y="176"/>
                  </a:lnTo>
                  <a:lnTo>
                    <a:pt x="955" y="165"/>
                  </a:lnTo>
                  <a:lnTo>
                    <a:pt x="947" y="157"/>
                  </a:lnTo>
                  <a:lnTo>
                    <a:pt x="938" y="152"/>
                  </a:lnTo>
                  <a:lnTo>
                    <a:pt x="928" y="148"/>
                  </a:lnTo>
                  <a:lnTo>
                    <a:pt x="918" y="145"/>
                  </a:lnTo>
                  <a:lnTo>
                    <a:pt x="898" y="140"/>
                  </a:lnTo>
                  <a:lnTo>
                    <a:pt x="879" y="135"/>
                  </a:lnTo>
                  <a:lnTo>
                    <a:pt x="861" y="131"/>
                  </a:lnTo>
                  <a:lnTo>
                    <a:pt x="841" y="127"/>
                  </a:lnTo>
                  <a:lnTo>
                    <a:pt x="823" y="122"/>
                  </a:lnTo>
                  <a:lnTo>
                    <a:pt x="804" y="118"/>
                  </a:lnTo>
                  <a:lnTo>
                    <a:pt x="784" y="114"/>
                  </a:lnTo>
                  <a:lnTo>
                    <a:pt x="765" y="109"/>
                  </a:lnTo>
                  <a:lnTo>
                    <a:pt x="749" y="105"/>
                  </a:lnTo>
                  <a:lnTo>
                    <a:pt x="735" y="102"/>
                  </a:lnTo>
                  <a:lnTo>
                    <a:pt x="721" y="99"/>
                  </a:lnTo>
                  <a:lnTo>
                    <a:pt x="707" y="95"/>
                  </a:lnTo>
                  <a:lnTo>
                    <a:pt x="692" y="91"/>
                  </a:lnTo>
                  <a:lnTo>
                    <a:pt x="678" y="87"/>
                  </a:lnTo>
                  <a:lnTo>
                    <a:pt x="665" y="82"/>
                  </a:lnTo>
                  <a:lnTo>
                    <a:pt x="651" y="77"/>
                  </a:lnTo>
                  <a:lnTo>
                    <a:pt x="638" y="71"/>
                  </a:lnTo>
                  <a:lnTo>
                    <a:pt x="622" y="65"/>
                  </a:lnTo>
                  <a:lnTo>
                    <a:pt x="607" y="57"/>
                  </a:lnTo>
                  <a:lnTo>
                    <a:pt x="589" y="51"/>
                  </a:lnTo>
                  <a:lnTo>
                    <a:pt x="572" y="43"/>
                  </a:lnTo>
                  <a:lnTo>
                    <a:pt x="553" y="35"/>
                  </a:lnTo>
                  <a:lnTo>
                    <a:pt x="534" y="29"/>
                  </a:lnTo>
                  <a:lnTo>
                    <a:pt x="516" y="21"/>
                  </a:lnTo>
                  <a:lnTo>
                    <a:pt x="498" y="16"/>
                  </a:lnTo>
                  <a:lnTo>
                    <a:pt x="481" y="10"/>
                  </a:lnTo>
                  <a:lnTo>
                    <a:pt x="465" y="5"/>
                  </a:lnTo>
                  <a:lnTo>
                    <a:pt x="449" y="3"/>
                  </a:lnTo>
                  <a:lnTo>
                    <a:pt x="435" y="0"/>
                  </a:lnTo>
                  <a:lnTo>
                    <a:pt x="423" y="0"/>
                  </a:lnTo>
                  <a:lnTo>
                    <a:pt x="413" y="1"/>
                  </a:lnTo>
                  <a:lnTo>
                    <a:pt x="405" y="5"/>
                  </a:lnTo>
                  <a:lnTo>
                    <a:pt x="387" y="18"/>
                  </a:lnTo>
                  <a:lnTo>
                    <a:pt x="371" y="34"/>
                  </a:lnTo>
                  <a:lnTo>
                    <a:pt x="357" y="51"/>
                  </a:lnTo>
                  <a:lnTo>
                    <a:pt x="343" y="69"/>
                  </a:lnTo>
                  <a:lnTo>
                    <a:pt x="330" y="88"/>
                  </a:lnTo>
                  <a:lnTo>
                    <a:pt x="317" y="106"/>
                  </a:lnTo>
                  <a:lnTo>
                    <a:pt x="304" y="124"/>
                  </a:lnTo>
                  <a:lnTo>
                    <a:pt x="291" y="143"/>
                  </a:lnTo>
                  <a:lnTo>
                    <a:pt x="278" y="159"/>
                  </a:lnTo>
                  <a:lnTo>
                    <a:pt x="266" y="175"/>
                  </a:lnTo>
                  <a:lnTo>
                    <a:pt x="254" y="190"/>
                  </a:lnTo>
                  <a:lnTo>
                    <a:pt x="242" y="206"/>
                  </a:lnTo>
                  <a:lnTo>
                    <a:pt x="230" y="223"/>
                  </a:lnTo>
                  <a:lnTo>
                    <a:pt x="219" y="238"/>
                  </a:lnTo>
                  <a:lnTo>
                    <a:pt x="208" y="255"/>
                  </a:lnTo>
                  <a:lnTo>
                    <a:pt x="198" y="273"/>
                  </a:lnTo>
                  <a:lnTo>
                    <a:pt x="181" y="303"/>
                  </a:lnTo>
                  <a:lnTo>
                    <a:pt x="156" y="341"/>
                  </a:lnTo>
                  <a:lnTo>
                    <a:pt x="127" y="384"/>
                  </a:lnTo>
                  <a:lnTo>
                    <a:pt x="96" y="429"/>
                  </a:lnTo>
                  <a:lnTo>
                    <a:pt x="65" y="473"/>
                  </a:lnTo>
                  <a:lnTo>
                    <a:pt x="36" y="513"/>
                  </a:lnTo>
                  <a:lnTo>
                    <a:pt x="14" y="545"/>
                  </a:lnTo>
                  <a:lnTo>
                    <a:pt x="0" y="567"/>
                  </a:lnTo>
                  <a:lnTo>
                    <a:pt x="0" y="578"/>
                  </a:lnTo>
                  <a:lnTo>
                    <a:pt x="4" y="597"/>
                  </a:lnTo>
                  <a:lnTo>
                    <a:pt x="8" y="615"/>
                  </a:lnTo>
                  <a:lnTo>
                    <a:pt x="9" y="624"/>
                  </a:lnTo>
                  <a:lnTo>
                    <a:pt x="10" y="628"/>
                  </a:lnTo>
                  <a:lnTo>
                    <a:pt x="13" y="637"/>
                  </a:lnTo>
                  <a:lnTo>
                    <a:pt x="17" y="648"/>
                  </a:lnTo>
                  <a:lnTo>
                    <a:pt x="22" y="661"/>
                  </a:lnTo>
                  <a:lnTo>
                    <a:pt x="27" y="675"/>
                  </a:lnTo>
                  <a:lnTo>
                    <a:pt x="33" y="688"/>
                  </a:lnTo>
                  <a:lnTo>
                    <a:pt x="40" y="698"/>
                  </a:lnTo>
                  <a:lnTo>
                    <a:pt x="48" y="706"/>
                  </a:lnTo>
                  <a:lnTo>
                    <a:pt x="53" y="709"/>
                  </a:lnTo>
                  <a:lnTo>
                    <a:pt x="68" y="716"/>
                  </a:lnTo>
                  <a:lnTo>
                    <a:pt x="85" y="723"/>
                  </a:lnTo>
                  <a:lnTo>
                    <a:pt x="101" y="729"/>
                  </a:lnTo>
                  <a:lnTo>
                    <a:pt x="116" y="737"/>
                  </a:lnTo>
                  <a:lnTo>
                    <a:pt x="133" y="744"/>
                  </a:lnTo>
                  <a:lnTo>
                    <a:pt x="149" y="749"/>
                  </a:lnTo>
                  <a:lnTo>
                    <a:pt x="166" y="755"/>
                  </a:lnTo>
                  <a:lnTo>
                    <a:pt x="181" y="762"/>
                  </a:lnTo>
                  <a:lnTo>
                    <a:pt x="198" y="767"/>
                  </a:lnTo>
                  <a:lnTo>
                    <a:pt x="213" y="773"/>
                  </a:lnTo>
                  <a:lnTo>
                    <a:pt x="230" y="780"/>
                  </a:lnTo>
                  <a:lnTo>
                    <a:pt x="247" y="785"/>
                  </a:lnTo>
                  <a:lnTo>
                    <a:pt x="263" y="792"/>
                  </a:lnTo>
                  <a:lnTo>
                    <a:pt x="279" y="797"/>
                  </a:lnTo>
                  <a:lnTo>
                    <a:pt x="295" y="803"/>
                  </a:lnTo>
                  <a:lnTo>
                    <a:pt x="312" y="810"/>
                  </a:lnTo>
                  <a:lnTo>
                    <a:pt x="330" y="817"/>
                  </a:lnTo>
                  <a:lnTo>
                    <a:pt x="347" y="825"/>
                  </a:lnTo>
                  <a:lnTo>
                    <a:pt x="365" y="833"/>
                  </a:lnTo>
                  <a:lnTo>
                    <a:pt x="382" y="839"/>
                  </a:lnTo>
                  <a:lnTo>
                    <a:pt x="400" y="847"/>
                  </a:lnTo>
                  <a:lnTo>
                    <a:pt x="417" y="855"/>
                  </a:lnTo>
                  <a:lnTo>
                    <a:pt x="435" y="861"/>
                  </a:lnTo>
                  <a:lnTo>
                    <a:pt x="453" y="867"/>
                  </a:lnTo>
                  <a:lnTo>
                    <a:pt x="479" y="874"/>
                  </a:lnTo>
                  <a:lnTo>
                    <a:pt x="505" y="881"/>
                  </a:lnTo>
                  <a:lnTo>
                    <a:pt x="531" y="887"/>
                  </a:lnTo>
                  <a:lnTo>
                    <a:pt x="558" y="891"/>
                  </a:lnTo>
                  <a:lnTo>
                    <a:pt x="584" y="891"/>
                  </a:lnTo>
                  <a:lnTo>
                    <a:pt x="610" y="887"/>
                  </a:lnTo>
                  <a:lnTo>
                    <a:pt x="633" y="880"/>
                  </a:lnTo>
                  <a:lnTo>
                    <a:pt x="656" y="864"/>
                  </a:lnTo>
                  <a:lnTo>
                    <a:pt x="669" y="851"/>
                  </a:lnTo>
                  <a:lnTo>
                    <a:pt x="685" y="834"/>
                  </a:lnTo>
                  <a:lnTo>
                    <a:pt x="701" y="814"/>
                  </a:lnTo>
                  <a:lnTo>
                    <a:pt x="721" y="790"/>
                  </a:lnTo>
                  <a:lnTo>
                    <a:pt x="740" y="764"/>
                  </a:lnTo>
                  <a:lnTo>
                    <a:pt x="760" y="736"/>
                  </a:lnTo>
                  <a:lnTo>
                    <a:pt x="780" y="707"/>
                  </a:lnTo>
                  <a:lnTo>
                    <a:pt x="800" y="678"/>
                  </a:lnTo>
                  <a:lnTo>
                    <a:pt x="819" y="649"/>
                  </a:lnTo>
                  <a:lnTo>
                    <a:pt x="839" y="622"/>
                  </a:lnTo>
                  <a:lnTo>
                    <a:pt x="857" y="595"/>
                  </a:lnTo>
                  <a:lnTo>
                    <a:pt x="872" y="570"/>
                  </a:lnTo>
                  <a:lnTo>
                    <a:pt x="887" y="549"/>
                  </a:lnTo>
                  <a:lnTo>
                    <a:pt x="899" y="531"/>
                  </a:lnTo>
                  <a:lnTo>
                    <a:pt x="909" y="517"/>
                  </a:lnTo>
                  <a:lnTo>
                    <a:pt x="915" y="508"/>
                  </a:lnTo>
                  <a:lnTo>
                    <a:pt x="933" y="483"/>
                  </a:lnTo>
                  <a:lnTo>
                    <a:pt x="955" y="456"/>
                  </a:lnTo>
                  <a:lnTo>
                    <a:pt x="978" y="426"/>
                  </a:lnTo>
                  <a:lnTo>
                    <a:pt x="1000" y="396"/>
                  </a:lnTo>
                  <a:lnTo>
                    <a:pt x="1021" y="371"/>
                  </a:lnTo>
                  <a:lnTo>
                    <a:pt x="1038" y="349"/>
                  </a:lnTo>
                  <a:lnTo>
                    <a:pt x="1050" y="333"/>
                  </a:lnTo>
                  <a:lnTo>
                    <a:pt x="1053" y="325"/>
                  </a:lnTo>
                  <a:lnTo>
                    <a:pt x="1055" y="312"/>
                  </a:lnTo>
                  <a:lnTo>
                    <a:pt x="1055" y="301"/>
                  </a:lnTo>
                  <a:lnTo>
                    <a:pt x="1052" y="289"/>
                  </a:lnTo>
                  <a:lnTo>
                    <a:pt x="1048" y="277"/>
                  </a:lnTo>
                  <a:lnTo>
                    <a:pt x="1042" y="268"/>
                  </a:lnTo>
                  <a:lnTo>
                    <a:pt x="1034" y="260"/>
                  </a:lnTo>
                  <a:lnTo>
                    <a:pt x="1025" y="254"/>
                  </a:lnTo>
                  <a:lnTo>
                    <a:pt x="1013" y="2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0" name="Freeform 7"/>
            <p:cNvSpPr>
              <a:spLocks/>
            </p:cNvSpPr>
            <p:nvPr/>
          </p:nvSpPr>
          <p:spPr bwMode="auto">
            <a:xfrm>
              <a:off x="2158" y="2782"/>
              <a:ext cx="151" cy="211"/>
            </a:xfrm>
            <a:custGeom>
              <a:avLst/>
              <a:gdLst>
                <a:gd name="T0" fmla="*/ 151 w 151"/>
                <a:gd name="T1" fmla="*/ 27 h 211"/>
                <a:gd name="T2" fmla="*/ 148 w 151"/>
                <a:gd name="T3" fmla="*/ 32 h 211"/>
                <a:gd name="T4" fmla="*/ 141 w 151"/>
                <a:gd name="T5" fmla="*/ 42 h 211"/>
                <a:gd name="T6" fmla="*/ 131 w 151"/>
                <a:gd name="T7" fmla="*/ 54 h 211"/>
                <a:gd name="T8" fmla="*/ 118 w 151"/>
                <a:gd name="T9" fmla="*/ 69 h 211"/>
                <a:gd name="T10" fmla="*/ 105 w 151"/>
                <a:gd name="T11" fmla="*/ 83 h 211"/>
                <a:gd name="T12" fmla="*/ 95 w 151"/>
                <a:gd name="T13" fmla="*/ 96 h 211"/>
                <a:gd name="T14" fmla="*/ 88 w 151"/>
                <a:gd name="T15" fmla="*/ 105 h 211"/>
                <a:gd name="T16" fmla="*/ 86 w 151"/>
                <a:gd name="T17" fmla="*/ 109 h 211"/>
                <a:gd name="T18" fmla="*/ 87 w 151"/>
                <a:gd name="T19" fmla="*/ 110 h 211"/>
                <a:gd name="T20" fmla="*/ 91 w 151"/>
                <a:gd name="T21" fmla="*/ 113 h 211"/>
                <a:gd name="T22" fmla="*/ 96 w 151"/>
                <a:gd name="T23" fmla="*/ 117 h 211"/>
                <a:gd name="T24" fmla="*/ 104 w 151"/>
                <a:gd name="T25" fmla="*/ 121 h 211"/>
                <a:gd name="T26" fmla="*/ 113 w 151"/>
                <a:gd name="T27" fmla="*/ 126 h 211"/>
                <a:gd name="T28" fmla="*/ 122 w 151"/>
                <a:gd name="T29" fmla="*/ 130 h 211"/>
                <a:gd name="T30" fmla="*/ 131 w 151"/>
                <a:gd name="T31" fmla="*/ 132 h 211"/>
                <a:gd name="T32" fmla="*/ 141 w 151"/>
                <a:gd name="T33" fmla="*/ 132 h 211"/>
                <a:gd name="T34" fmla="*/ 134 w 151"/>
                <a:gd name="T35" fmla="*/ 137 h 211"/>
                <a:gd name="T36" fmla="*/ 126 w 151"/>
                <a:gd name="T37" fmla="*/ 144 h 211"/>
                <a:gd name="T38" fmla="*/ 119 w 151"/>
                <a:gd name="T39" fmla="*/ 152 h 211"/>
                <a:gd name="T40" fmla="*/ 113 w 151"/>
                <a:gd name="T41" fmla="*/ 159 h 211"/>
                <a:gd name="T42" fmla="*/ 109 w 151"/>
                <a:gd name="T43" fmla="*/ 154 h 211"/>
                <a:gd name="T44" fmla="*/ 105 w 151"/>
                <a:gd name="T45" fmla="*/ 145 h 211"/>
                <a:gd name="T46" fmla="*/ 100 w 151"/>
                <a:gd name="T47" fmla="*/ 136 h 211"/>
                <a:gd name="T48" fmla="*/ 99 w 151"/>
                <a:gd name="T49" fmla="*/ 132 h 211"/>
                <a:gd name="T50" fmla="*/ 95 w 151"/>
                <a:gd name="T51" fmla="*/ 135 h 211"/>
                <a:gd name="T52" fmla="*/ 87 w 151"/>
                <a:gd name="T53" fmla="*/ 144 h 211"/>
                <a:gd name="T54" fmla="*/ 75 w 151"/>
                <a:gd name="T55" fmla="*/ 157 h 211"/>
                <a:gd name="T56" fmla="*/ 64 w 151"/>
                <a:gd name="T57" fmla="*/ 171 h 211"/>
                <a:gd name="T58" fmla="*/ 51 w 151"/>
                <a:gd name="T59" fmla="*/ 185 h 211"/>
                <a:gd name="T60" fmla="*/ 41 w 151"/>
                <a:gd name="T61" fmla="*/ 198 h 211"/>
                <a:gd name="T62" fmla="*/ 33 w 151"/>
                <a:gd name="T63" fmla="*/ 207 h 211"/>
                <a:gd name="T64" fmla="*/ 30 w 151"/>
                <a:gd name="T65" fmla="*/ 211 h 211"/>
                <a:gd name="T66" fmla="*/ 20 w 151"/>
                <a:gd name="T67" fmla="*/ 201 h 211"/>
                <a:gd name="T68" fmla="*/ 11 w 151"/>
                <a:gd name="T69" fmla="*/ 192 h 211"/>
                <a:gd name="T70" fmla="*/ 3 w 151"/>
                <a:gd name="T71" fmla="*/ 184 h 211"/>
                <a:gd name="T72" fmla="*/ 0 w 151"/>
                <a:gd name="T73" fmla="*/ 180 h 211"/>
                <a:gd name="T74" fmla="*/ 17 w 151"/>
                <a:gd name="T75" fmla="*/ 163 h 211"/>
                <a:gd name="T76" fmla="*/ 37 w 151"/>
                <a:gd name="T77" fmla="*/ 139 h 211"/>
                <a:gd name="T78" fmla="*/ 57 w 151"/>
                <a:gd name="T79" fmla="*/ 111 h 211"/>
                <a:gd name="T80" fmla="*/ 79 w 151"/>
                <a:gd name="T81" fmla="*/ 83 h 211"/>
                <a:gd name="T82" fmla="*/ 100 w 151"/>
                <a:gd name="T83" fmla="*/ 56 h 211"/>
                <a:gd name="T84" fmla="*/ 118 w 151"/>
                <a:gd name="T85" fmla="*/ 31 h 211"/>
                <a:gd name="T86" fmla="*/ 132 w 151"/>
                <a:gd name="T87" fmla="*/ 12 h 211"/>
                <a:gd name="T88" fmla="*/ 141 w 151"/>
                <a:gd name="T89" fmla="*/ 0 h 211"/>
                <a:gd name="T90" fmla="*/ 144 w 151"/>
                <a:gd name="T91" fmla="*/ 7 h 211"/>
                <a:gd name="T92" fmla="*/ 145 w 151"/>
                <a:gd name="T93" fmla="*/ 13 h 211"/>
                <a:gd name="T94" fmla="*/ 148 w 151"/>
                <a:gd name="T95" fmla="*/ 21 h 211"/>
                <a:gd name="T96" fmla="*/ 151 w 151"/>
                <a:gd name="T97" fmla="*/ 27 h 21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51"/>
                <a:gd name="T148" fmla="*/ 0 h 211"/>
                <a:gd name="T149" fmla="*/ 151 w 151"/>
                <a:gd name="T150" fmla="*/ 211 h 21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51" h="211">
                  <a:moveTo>
                    <a:pt x="151" y="27"/>
                  </a:moveTo>
                  <a:lnTo>
                    <a:pt x="148" y="32"/>
                  </a:lnTo>
                  <a:lnTo>
                    <a:pt x="141" y="42"/>
                  </a:lnTo>
                  <a:lnTo>
                    <a:pt x="131" y="54"/>
                  </a:lnTo>
                  <a:lnTo>
                    <a:pt x="118" y="69"/>
                  </a:lnTo>
                  <a:lnTo>
                    <a:pt x="105" y="83"/>
                  </a:lnTo>
                  <a:lnTo>
                    <a:pt x="95" y="96"/>
                  </a:lnTo>
                  <a:lnTo>
                    <a:pt x="88" y="105"/>
                  </a:lnTo>
                  <a:lnTo>
                    <a:pt x="86" y="109"/>
                  </a:lnTo>
                  <a:lnTo>
                    <a:pt x="87" y="110"/>
                  </a:lnTo>
                  <a:lnTo>
                    <a:pt x="91" y="113"/>
                  </a:lnTo>
                  <a:lnTo>
                    <a:pt x="96" y="117"/>
                  </a:lnTo>
                  <a:lnTo>
                    <a:pt x="104" y="121"/>
                  </a:lnTo>
                  <a:lnTo>
                    <a:pt x="113" y="126"/>
                  </a:lnTo>
                  <a:lnTo>
                    <a:pt x="122" y="130"/>
                  </a:lnTo>
                  <a:lnTo>
                    <a:pt x="131" y="132"/>
                  </a:lnTo>
                  <a:lnTo>
                    <a:pt x="141" y="132"/>
                  </a:lnTo>
                  <a:lnTo>
                    <a:pt x="134" y="137"/>
                  </a:lnTo>
                  <a:lnTo>
                    <a:pt x="126" y="144"/>
                  </a:lnTo>
                  <a:lnTo>
                    <a:pt x="119" y="152"/>
                  </a:lnTo>
                  <a:lnTo>
                    <a:pt x="113" y="159"/>
                  </a:lnTo>
                  <a:lnTo>
                    <a:pt x="109" y="154"/>
                  </a:lnTo>
                  <a:lnTo>
                    <a:pt x="105" y="145"/>
                  </a:lnTo>
                  <a:lnTo>
                    <a:pt x="100" y="136"/>
                  </a:lnTo>
                  <a:lnTo>
                    <a:pt x="99" y="132"/>
                  </a:lnTo>
                  <a:lnTo>
                    <a:pt x="95" y="135"/>
                  </a:lnTo>
                  <a:lnTo>
                    <a:pt x="87" y="144"/>
                  </a:lnTo>
                  <a:lnTo>
                    <a:pt x="75" y="157"/>
                  </a:lnTo>
                  <a:lnTo>
                    <a:pt x="64" y="171"/>
                  </a:lnTo>
                  <a:lnTo>
                    <a:pt x="51" y="185"/>
                  </a:lnTo>
                  <a:lnTo>
                    <a:pt x="41" y="198"/>
                  </a:lnTo>
                  <a:lnTo>
                    <a:pt x="33" y="207"/>
                  </a:lnTo>
                  <a:lnTo>
                    <a:pt x="30" y="211"/>
                  </a:lnTo>
                  <a:lnTo>
                    <a:pt x="20" y="201"/>
                  </a:lnTo>
                  <a:lnTo>
                    <a:pt x="11" y="192"/>
                  </a:lnTo>
                  <a:lnTo>
                    <a:pt x="3" y="184"/>
                  </a:lnTo>
                  <a:lnTo>
                    <a:pt x="0" y="180"/>
                  </a:lnTo>
                  <a:lnTo>
                    <a:pt x="17" y="163"/>
                  </a:lnTo>
                  <a:lnTo>
                    <a:pt x="37" y="139"/>
                  </a:lnTo>
                  <a:lnTo>
                    <a:pt x="57" y="111"/>
                  </a:lnTo>
                  <a:lnTo>
                    <a:pt x="79" y="83"/>
                  </a:lnTo>
                  <a:lnTo>
                    <a:pt x="100" y="56"/>
                  </a:lnTo>
                  <a:lnTo>
                    <a:pt x="118" y="31"/>
                  </a:lnTo>
                  <a:lnTo>
                    <a:pt x="132" y="12"/>
                  </a:lnTo>
                  <a:lnTo>
                    <a:pt x="141" y="0"/>
                  </a:lnTo>
                  <a:lnTo>
                    <a:pt x="144" y="7"/>
                  </a:lnTo>
                  <a:lnTo>
                    <a:pt x="145" y="13"/>
                  </a:lnTo>
                  <a:lnTo>
                    <a:pt x="148" y="21"/>
                  </a:lnTo>
                  <a:lnTo>
                    <a:pt x="151" y="27"/>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1" name="Freeform 8"/>
            <p:cNvSpPr>
              <a:spLocks/>
            </p:cNvSpPr>
            <p:nvPr/>
          </p:nvSpPr>
          <p:spPr bwMode="auto">
            <a:xfrm>
              <a:off x="2271" y="2834"/>
              <a:ext cx="58" cy="65"/>
            </a:xfrm>
            <a:custGeom>
              <a:avLst/>
              <a:gdLst>
                <a:gd name="T0" fmla="*/ 44 w 58"/>
                <a:gd name="T1" fmla="*/ 0 h 65"/>
                <a:gd name="T2" fmla="*/ 53 w 58"/>
                <a:gd name="T3" fmla="*/ 17 h 65"/>
                <a:gd name="T4" fmla="*/ 57 w 58"/>
                <a:gd name="T5" fmla="*/ 31 h 65"/>
                <a:gd name="T6" fmla="*/ 57 w 58"/>
                <a:gd name="T7" fmla="*/ 41 h 65"/>
                <a:gd name="T8" fmla="*/ 58 w 58"/>
                <a:gd name="T9" fmla="*/ 47 h 65"/>
                <a:gd name="T10" fmla="*/ 56 w 58"/>
                <a:gd name="T11" fmla="*/ 52 h 65"/>
                <a:gd name="T12" fmla="*/ 54 w 58"/>
                <a:gd name="T13" fmla="*/ 56 h 65"/>
                <a:gd name="T14" fmla="*/ 52 w 58"/>
                <a:gd name="T15" fmla="*/ 58 h 65"/>
                <a:gd name="T16" fmla="*/ 45 w 58"/>
                <a:gd name="T17" fmla="*/ 61 h 65"/>
                <a:gd name="T18" fmla="*/ 39 w 58"/>
                <a:gd name="T19" fmla="*/ 63 h 65"/>
                <a:gd name="T20" fmla="*/ 34 w 58"/>
                <a:gd name="T21" fmla="*/ 65 h 65"/>
                <a:gd name="T22" fmla="*/ 30 w 58"/>
                <a:gd name="T23" fmla="*/ 65 h 65"/>
                <a:gd name="T24" fmla="*/ 25 w 58"/>
                <a:gd name="T25" fmla="*/ 63 h 65"/>
                <a:gd name="T26" fmla="*/ 19 w 58"/>
                <a:gd name="T27" fmla="*/ 61 h 65"/>
                <a:gd name="T28" fmla="*/ 14 w 58"/>
                <a:gd name="T29" fmla="*/ 58 h 65"/>
                <a:gd name="T30" fmla="*/ 8 w 58"/>
                <a:gd name="T31" fmla="*/ 56 h 65"/>
                <a:gd name="T32" fmla="*/ 0 w 58"/>
                <a:gd name="T33" fmla="*/ 52 h 65"/>
                <a:gd name="T34" fmla="*/ 3 w 58"/>
                <a:gd name="T35" fmla="*/ 48 h 65"/>
                <a:gd name="T36" fmla="*/ 8 w 58"/>
                <a:gd name="T37" fmla="*/ 40 h 65"/>
                <a:gd name="T38" fmla="*/ 14 w 58"/>
                <a:gd name="T39" fmla="*/ 32 h 65"/>
                <a:gd name="T40" fmla="*/ 22 w 58"/>
                <a:gd name="T41" fmla="*/ 22 h 65"/>
                <a:gd name="T42" fmla="*/ 30 w 58"/>
                <a:gd name="T43" fmla="*/ 13 h 65"/>
                <a:gd name="T44" fmla="*/ 36 w 58"/>
                <a:gd name="T45" fmla="*/ 6 h 65"/>
                <a:gd name="T46" fmla="*/ 41 w 58"/>
                <a:gd name="T47" fmla="*/ 1 h 65"/>
                <a:gd name="T48" fmla="*/ 44 w 58"/>
                <a:gd name="T49" fmla="*/ 0 h 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8"/>
                <a:gd name="T76" fmla="*/ 0 h 65"/>
                <a:gd name="T77" fmla="*/ 58 w 58"/>
                <a:gd name="T78" fmla="*/ 65 h 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8" h="65">
                  <a:moveTo>
                    <a:pt x="44" y="0"/>
                  </a:moveTo>
                  <a:lnTo>
                    <a:pt x="53" y="17"/>
                  </a:lnTo>
                  <a:lnTo>
                    <a:pt x="57" y="31"/>
                  </a:lnTo>
                  <a:lnTo>
                    <a:pt x="57" y="41"/>
                  </a:lnTo>
                  <a:lnTo>
                    <a:pt x="58" y="47"/>
                  </a:lnTo>
                  <a:lnTo>
                    <a:pt x="56" y="52"/>
                  </a:lnTo>
                  <a:lnTo>
                    <a:pt x="54" y="56"/>
                  </a:lnTo>
                  <a:lnTo>
                    <a:pt x="52" y="58"/>
                  </a:lnTo>
                  <a:lnTo>
                    <a:pt x="45" y="61"/>
                  </a:lnTo>
                  <a:lnTo>
                    <a:pt x="39" y="63"/>
                  </a:lnTo>
                  <a:lnTo>
                    <a:pt x="34" y="65"/>
                  </a:lnTo>
                  <a:lnTo>
                    <a:pt x="30" y="65"/>
                  </a:lnTo>
                  <a:lnTo>
                    <a:pt x="25" y="63"/>
                  </a:lnTo>
                  <a:lnTo>
                    <a:pt x="19" y="61"/>
                  </a:lnTo>
                  <a:lnTo>
                    <a:pt x="14" y="58"/>
                  </a:lnTo>
                  <a:lnTo>
                    <a:pt x="8" y="56"/>
                  </a:lnTo>
                  <a:lnTo>
                    <a:pt x="0" y="52"/>
                  </a:lnTo>
                  <a:lnTo>
                    <a:pt x="3" y="48"/>
                  </a:lnTo>
                  <a:lnTo>
                    <a:pt x="8" y="40"/>
                  </a:lnTo>
                  <a:lnTo>
                    <a:pt x="14" y="32"/>
                  </a:lnTo>
                  <a:lnTo>
                    <a:pt x="22" y="22"/>
                  </a:lnTo>
                  <a:lnTo>
                    <a:pt x="30" y="13"/>
                  </a:lnTo>
                  <a:lnTo>
                    <a:pt x="36" y="6"/>
                  </a:lnTo>
                  <a:lnTo>
                    <a:pt x="41" y="1"/>
                  </a:lnTo>
                  <a:lnTo>
                    <a:pt x="44" y="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2" name="Freeform 9"/>
            <p:cNvSpPr>
              <a:spLocks/>
            </p:cNvSpPr>
            <p:nvPr/>
          </p:nvSpPr>
          <p:spPr bwMode="auto">
            <a:xfrm>
              <a:off x="2201" y="3015"/>
              <a:ext cx="34" cy="24"/>
            </a:xfrm>
            <a:custGeom>
              <a:avLst/>
              <a:gdLst>
                <a:gd name="T0" fmla="*/ 34 w 34"/>
                <a:gd name="T1" fmla="*/ 3 h 24"/>
                <a:gd name="T2" fmla="*/ 29 w 34"/>
                <a:gd name="T3" fmla="*/ 7 h 24"/>
                <a:gd name="T4" fmla="*/ 23 w 34"/>
                <a:gd name="T5" fmla="*/ 12 h 24"/>
                <a:gd name="T6" fmla="*/ 20 w 34"/>
                <a:gd name="T7" fmla="*/ 18 h 24"/>
                <a:gd name="T8" fmla="*/ 16 w 34"/>
                <a:gd name="T9" fmla="*/ 24 h 24"/>
                <a:gd name="T10" fmla="*/ 12 w 34"/>
                <a:gd name="T11" fmla="*/ 17 h 24"/>
                <a:gd name="T12" fmla="*/ 8 w 34"/>
                <a:gd name="T13" fmla="*/ 12 h 24"/>
                <a:gd name="T14" fmla="*/ 4 w 34"/>
                <a:gd name="T15" fmla="*/ 5 h 24"/>
                <a:gd name="T16" fmla="*/ 0 w 34"/>
                <a:gd name="T17" fmla="*/ 0 h 24"/>
                <a:gd name="T18" fmla="*/ 8 w 34"/>
                <a:gd name="T19" fmla="*/ 3 h 24"/>
                <a:gd name="T20" fmla="*/ 17 w 34"/>
                <a:gd name="T21" fmla="*/ 3 h 24"/>
                <a:gd name="T22" fmla="*/ 25 w 34"/>
                <a:gd name="T23" fmla="*/ 4 h 24"/>
                <a:gd name="T24" fmla="*/ 34 w 34"/>
                <a:gd name="T25" fmla="*/ 3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24"/>
                <a:gd name="T41" fmla="*/ 34 w 34"/>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24">
                  <a:moveTo>
                    <a:pt x="34" y="3"/>
                  </a:moveTo>
                  <a:lnTo>
                    <a:pt x="29" y="7"/>
                  </a:lnTo>
                  <a:lnTo>
                    <a:pt x="23" y="12"/>
                  </a:lnTo>
                  <a:lnTo>
                    <a:pt x="20" y="18"/>
                  </a:lnTo>
                  <a:lnTo>
                    <a:pt x="16" y="24"/>
                  </a:lnTo>
                  <a:lnTo>
                    <a:pt x="12" y="17"/>
                  </a:lnTo>
                  <a:lnTo>
                    <a:pt x="8" y="12"/>
                  </a:lnTo>
                  <a:lnTo>
                    <a:pt x="4" y="5"/>
                  </a:lnTo>
                  <a:lnTo>
                    <a:pt x="0" y="0"/>
                  </a:lnTo>
                  <a:lnTo>
                    <a:pt x="8" y="3"/>
                  </a:lnTo>
                  <a:lnTo>
                    <a:pt x="17" y="3"/>
                  </a:lnTo>
                  <a:lnTo>
                    <a:pt x="25" y="4"/>
                  </a:lnTo>
                  <a:lnTo>
                    <a:pt x="34" y="3"/>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3" name="Freeform 10"/>
            <p:cNvSpPr>
              <a:spLocks/>
            </p:cNvSpPr>
            <p:nvPr/>
          </p:nvSpPr>
          <p:spPr bwMode="auto">
            <a:xfrm>
              <a:off x="1392" y="2572"/>
              <a:ext cx="892" cy="726"/>
            </a:xfrm>
            <a:custGeom>
              <a:avLst/>
              <a:gdLst>
                <a:gd name="T0" fmla="*/ 199 w 892"/>
                <a:gd name="T1" fmla="*/ 233 h 726"/>
                <a:gd name="T2" fmla="*/ 232 w 892"/>
                <a:gd name="T3" fmla="*/ 192 h 726"/>
                <a:gd name="T4" fmla="*/ 265 w 892"/>
                <a:gd name="T5" fmla="*/ 150 h 726"/>
                <a:gd name="T6" fmla="*/ 303 w 892"/>
                <a:gd name="T7" fmla="*/ 95 h 726"/>
                <a:gd name="T8" fmla="*/ 338 w 892"/>
                <a:gd name="T9" fmla="*/ 44 h 726"/>
                <a:gd name="T10" fmla="*/ 379 w 892"/>
                <a:gd name="T11" fmla="*/ 7 h 726"/>
                <a:gd name="T12" fmla="*/ 403 w 892"/>
                <a:gd name="T13" fmla="*/ 0 h 726"/>
                <a:gd name="T14" fmla="*/ 482 w 892"/>
                <a:gd name="T15" fmla="*/ 29 h 726"/>
                <a:gd name="T16" fmla="*/ 555 w 892"/>
                <a:gd name="T17" fmla="*/ 55 h 726"/>
                <a:gd name="T18" fmla="*/ 624 w 892"/>
                <a:gd name="T19" fmla="*/ 82 h 726"/>
                <a:gd name="T20" fmla="*/ 673 w 892"/>
                <a:gd name="T21" fmla="*/ 99 h 726"/>
                <a:gd name="T22" fmla="*/ 721 w 892"/>
                <a:gd name="T23" fmla="*/ 112 h 726"/>
                <a:gd name="T24" fmla="*/ 770 w 892"/>
                <a:gd name="T25" fmla="*/ 122 h 726"/>
                <a:gd name="T26" fmla="*/ 819 w 892"/>
                <a:gd name="T27" fmla="*/ 132 h 726"/>
                <a:gd name="T28" fmla="*/ 873 w 892"/>
                <a:gd name="T29" fmla="*/ 145 h 726"/>
                <a:gd name="T30" fmla="*/ 892 w 892"/>
                <a:gd name="T31" fmla="*/ 179 h 726"/>
                <a:gd name="T32" fmla="*/ 874 w 892"/>
                <a:gd name="T33" fmla="*/ 207 h 726"/>
                <a:gd name="T34" fmla="*/ 860 w 892"/>
                <a:gd name="T35" fmla="*/ 228 h 726"/>
                <a:gd name="T36" fmla="*/ 843 w 892"/>
                <a:gd name="T37" fmla="*/ 250 h 726"/>
                <a:gd name="T38" fmla="*/ 799 w 892"/>
                <a:gd name="T39" fmla="*/ 310 h 726"/>
                <a:gd name="T40" fmla="*/ 755 w 892"/>
                <a:gd name="T41" fmla="*/ 367 h 726"/>
                <a:gd name="T42" fmla="*/ 729 w 892"/>
                <a:gd name="T43" fmla="*/ 372 h 726"/>
                <a:gd name="T44" fmla="*/ 687 w 892"/>
                <a:gd name="T45" fmla="*/ 359 h 726"/>
                <a:gd name="T46" fmla="*/ 645 w 892"/>
                <a:gd name="T47" fmla="*/ 356 h 726"/>
                <a:gd name="T48" fmla="*/ 610 w 892"/>
                <a:gd name="T49" fmla="*/ 363 h 726"/>
                <a:gd name="T50" fmla="*/ 586 w 892"/>
                <a:gd name="T51" fmla="*/ 384 h 726"/>
                <a:gd name="T52" fmla="*/ 577 w 892"/>
                <a:gd name="T53" fmla="*/ 411 h 726"/>
                <a:gd name="T54" fmla="*/ 598 w 892"/>
                <a:gd name="T55" fmla="*/ 451 h 726"/>
                <a:gd name="T56" fmla="*/ 646 w 892"/>
                <a:gd name="T57" fmla="*/ 469 h 726"/>
                <a:gd name="T58" fmla="*/ 674 w 892"/>
                <a:gd name="T59" fmla="*/ 487 h 726"/>
                <a:gd name="T60" fmla="*/ 619 w 892"/>
                <a:gd name="T61" fmla="*/ 573 h 726"/>
                <a:gd name="T62" fmla="*/ 533 w 892"/>
                <a:gd name="T63" fmla="*/ 687 h 726"/>
                <a:gd name="T64" fmla="*/ 492 w 892"/>
                <a:gd name="T65" fmla="*/ 723 h 726"/>
                <a:gd name="T66" fmla="*/ 466 w 892"/>
                <a:gd name="T67" fmla="*/ 726 h 726"/>
                <a:gd name="T68" fmla="*/ 443 w 892"/>
                <a:gd name="T69" fmla="*/ 723 h 726"/>
                <a:gd name="T70" fmla="*/ 370 w 892"/>
                <a:gd name="T71" fmla="*/ 702 h 726"/>
                <a:gd name="T72" fmla="*/ 304 w 892"/>
                <a:gd name="T73" fmla="*/ 678 h 726"/>
                <a:gd name="T74" fmla="*/ 268 w 892"/>
                <a:gd name="T75" fmla="*/ 663 h 726"/>
                <a:gd name="T76" fmla="*/ 216 w 892"/>
                <a:gd name="T77" fmla="*/ 645 h 726"/>
                <a:gd name="T78" fmla="*/ 163 w 892"/>
                <a:gd name="T79" fmla="*/ 626 h 726"/>
                <a:gd name="T80" fmla="*/ 111 w 892"/>
                <a:gd name="T81" fmla="*/ 608 h 726"/>
                <a:gd name="T82" fmla="*/ 58 w 892"/>
                <a:gd name="T83" fmla="*/ 588 h 726"/>
                <a:gd name="T84" fmla="*/ 7 w 892"/>
                <a:gd name="T85" fmla="*/ 568 h 726"/>
                <a:gd name="T86" fmla="*/ 1 w 892"/>
                <a:gd name="T87" fmla="*/ 560 h 726"/>
                <a:gd name="T88" fmla="*/ 44 w 892"/>
                <a:gd name="T89" fmla="*/ 483 h 726"/>
                <a:gd name="T90" fmla="*/ 115 w 892"/>
                <a:gd name="T91" fmla="*/ 376 h 726"/>
                <a:gd name="T92" fmla="*/ 181 w 892"/>
                <a:gd name="T93" fmla="*/ 263 h 72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92"/>
                <a:gd name="T142" fmla="*/ 0 h 726"/>
                <a:gd name="T143" fmla="*/ 892 w 892"/>
                <a:gd name="T144" fmla="*/ 726 h 72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92" h="726">
                  <a:moveTo>
                    <a:pt x="181" y="263"/>
                  </a:moveTo>
                  <a:lnTo>
                    <a:pt x="189" y="248"/>
                  </a:lnTo>
                  <a:lnTo>
                    <a:pt x="199" y="233"/>
                  </a:lnTo>
                  <a:lnTo>
                    <a:pt x="210" y="219"/>
                  </a:lnTo>
                  <a:lnTo>
                    <a:pt x="220" y="205"/>
                  </a:lnTo>
                  <a:lnTo>
                    <a:pt x="232" y="192"/>
                  </a:lnTo>
                  <a:lnTo>
                    <a:pt x="242" y="178"/>
                  </a:lnTo>
                  <a:lnTo>
                    <a:pt x="254" y="165"/>
                  </a:lnTo>
                  <a:lnTo>
                    <a:pt x="265" y="150"/>
                  </a:lnTo>
                  <a:lnTo>
                    <a:pt x="280" y="132"/>
                  </a:lnTo>
                  <a:lnTo>
                    <a:pt x="291" y="113"/>
                  </a:lnTo>
                  <a:lnTo>
                    <a:pt x="303" y="95"/>
                  </a:lnTo>
                  <a:lnTo>
                    <a:pt x="315" y="78"/>
                  </a:lnTo>
                  <a:lnTo>
                    <a:pt x="325" y="61"/>
                  </a:lnTo>
                  <a:lnTo>
                    <a:pt x="338" y="44"/>
                  </a:lnTo>
                  <a:lnTo>
                    <a:pt x="353" y="27"/>
                  </a:lnTo>
                  <a:lnTo>
                    <a:pt x="370" y="12"/>
                  </a:lnTo>
                  <a:lnTo>
                    <a:pt x="379" y="7"/>
                  </a:lnTo>
                  <a:lnTo>
                    <a:pt x="391" y="3"/>
                  </a:lnTo>
                  <a:lnTo>
                    <a:pt x="399" y="0"/>
                  </a:lnTo>
                  <a:lnTo>
                    <a:pt x="403" y="0"/>
                  </a:lnTo>
                  <a:lnTo>
                    <a:pt x="430" y="11"/>
                  </a:lnTo>
                  <a:lnTo>
                    <a:pt x="456" y="21"/>
                  </a:lnTo>
                  <a:lnTo>
                    <a:pt x="482" y="29"/>
                  </a:lnTo>
                  <a:lnTo>
                    <a:pt x="506" y="38"/>
                  </a:lnTo>
                  <a:lnTo>
                    <a:pt x="531" y="47"/>
                  </a:lnTo>
                  <a:lnTo>
                    <a:pt x="555" y="55"/>
                  </a:lnTo>
                  <a:lnTo>
                    <a:pt x="581" y="65"/>
                  </a:lnTo>
                  <a:lnTo>
                    <a:pt x="607" y="75"/>
                  </a:lnTo>
                  <a:lnTo>
                    <a:pt x="624" y="82"/>
                  </a:lnTo>
                  <a:lnTo>
                    <a:pt x="641" y="88"/>
                  </a:lnTo>
                  <a:lnTo>
                    <a:pt x="656" y="93"/>
                  </a:lnTo>
                  <a:lnTo>
                    <a:pt x="673" y="99"/>
                  </a:lnTo>
                  <a:lnTo>
                    <a:pt x="689" y="104"/>
                  </a:lnTo>
                  <a:lnTo>
                    <a:pt x="706" y="108"/>
                  </a:lnTo>
                  <a:lnTo>
                    <a:pt x="721" y="112"/>
                  </a:lnTo>
                  <a:lnTo>
                    <a:pt x="738" y="115"/>
                  </a:lnTo>
                  <a:lnTo>
                    <a:pt x="753" y="119"/>
                  </a:lnTo>
                  <a:lnTo>
                    <a:pt x="770" y="122"/>
                  </a:lnTo>
                  <a:lnTo>
                    <a:pt x="786" y="126"/>
                  </a:lnTo>
                  <a:lnTo>
                    <a:pt x="803" y="130"/>
                  </a:lnTo>
                  <a:lnTo>
                    <a:pt x="819" y="132"/>
                  </a:lnTo>
                  <a:lnTo>
                    <a:pt x="838" y="136"/>
                  </a:lnTo>
                  <a:lnTo>
                    <a:pt x="854" y="141"/>
                  </a:lnTo>
                  <a:lnTo>
                    <a:pt x="873" y="145"/>
                  </a:lnTo>
                  <a:lnTo>
                    <a:pt x="885" y="153"/>
                  </a:lnTo>
                  <a:lnTo>
                    <a:pt x="892" y="165"/>
                  </a:lnTo>
                  <a:lnTo>
                    <a:pt x="892" y="179"/>
                  </a:lnTo>
                  <a:lnTo>
                    <a:pt x="885" y="192"/>
                  </a:lnTo>
                  <a:lnTo>
                    <a:pt x="879" y="200"/>
                  </a:lnTo>
                  <a:lnTo>
                    <a:pt x="874" y="207"/>
                  </a:lnTo>
                  <a:lnTo>
                    <a:pt x="870" y="214"/>
                  </a:lnTo>
                  <a:lnTo>
                    <a:pt x="865" y="220"/>
                  </a:lnTo>
                  <a:lnTo>
                    <a:pt x="860" y="228"/>
                  </a:lnTo>
                  <a:lnTo>
                    <a:pt x="854" y="235"/>
                  </a:lnTo>
                  <a:lnTo>
                    <a:pt x="849" y="242"/>
                  </a:lnTo>
                  <a:lnTo>
                    <a:pt x="843" y="250"/>
                  </a:lnTo>
                  <a:lnTo>
                    <a:pt x="830" y="267"/>
                  </a:lnTo>
                  <a:lnTo>
                    <a:pt x="814" y="288"/>
                  </a:lnTo>
                  <a:lnTo>
                    <a:pt x="799" y="310"/>
                  </a:lnTo>
                  <a:lnTo>
                    <a:pt x="782" y="331"/>
                  </a:lnTo>
                  <a:lnTo>
                    <a:pt x="768" y="350"/>
                  </a:lnTo>
                  <a:lnTo>
                    <a:pt x="755" y="367"/>
                  </a:lnTo>
                  <a:lnTo>
                    <a:pt x="746" y="377"/>
                  </a:lnTo>
                  <a:lnTo>
                    <a:pt x="742" y="380"/>
                  </a:lnTo>
                  <a:lnTo>
                    <a:pt x="729" y="372"/>
                  </a:lnTo>
                  <a:lnTo>
                    <a:pt x="716" y="367"/>
                  </a:lnTo>
                  <a:lnTo>
                    <a:pt x="702" y="363"/>
                  </a:lnTo>
                  <a:lnTo>
                    <a:pt x="687" y="359"/>
                  </a:lnTo>
                  <a:lnTo>
                    <a:pt x="673" y="358"/>
                  </a:lnTo>
                  <a:lnTo>
                    <a:pt x="659" y="356"/>
                  </a:lnTo>
                  <a:lnTo>
                    <a:pt x="645" y="356"/>
                  </a:lnTo>
                  <a:lnTo>
                    <a:pt x="630" y="358"/>
                  </a:lnTo>
                  <a:lnTo>
                    <a:pt x="620" y="359"/>
                  </a:lnTo>
                  <a:lnTo>
                    <a:pt x="610" y="363"/>
                  </a:lnTo>
                  <a:lnTo>
                    <a:pt x="601" y="368"/>
                  </a:lnTo>
                  <a:lnTo>
                    <a:pt x="593" y="375"/>
                  </a:lnTo>
                  <a:lnTo>
                    <a:pt x="586" y="384"/>
                  </a:lnTo>
                  <a:lnTo>
                    <a:pt x="583" y="391"/>
                  </a:lnTo>
                  <a:lnTo>
                    <a:pt x="579" y="402"/>
                  </a:lnTo>
                  <a:lnTo>
                    <a:pt x="577" y="411"/>
                  </a:lnTo>
                  <a:lnTo>
                    <a:pt x="580" y="428"/>
                  </a:lnTo>
                  <a:lnTo>
                    <a:pt x="586" y="441"/>
                  </a:lnTo>
                  <a:lnTo>
                    <a:pt x="598" y="451"/>
                  </a:lnTo>
                  <a:lnTo>
                    <a:pt x="612" y="459"/>
                  </a:lnTo>
                  <a:lnTo>
                    <a:pt x="629" y="464"/>
                  </a:lnTo>
                  <a:lnTo>
                    <a:pt x="646" y="469"/>
                  </a:lnTo>
                  <a:lnTo>
                    <a:pt x="663" y="474"/>
                  </a:lnTo>
                  <a:lnTo>
                    <a:pt x="677" y="479"/>
                  </a:lnTo>
                  <a:lnTo>
                    <a:pt x="674" y="487"/>
                  </a:lnTo>
                  <a:lnTo>
                    <a:pt x="663" y="508"/>
                  </a:lnTo>
                  <a:lnTo>
                    <a:pt x="643" y="538"/>
                  </a:lnTo>
                  <a:lnTo>
                    <a:pt x="619" y="573"/>
                  </a:lnTo>
                  <a:lnTo>
                    <a:pt x="592" y="612"/>
                  </a:lnTo>
                  <a:lnTo>
                    <a:pt x="562" y="650"/>
                  </a:lnTo>
                  <a:lnTo>
                    <a:pt x="533" y="687"/>
                  </a:lnTo>
                  <a:lnTo>
                    <a:pt x="506" y="718"/>
                  </a:lnTo>
                  <a:lnTo>
                    <a:pt x="498" y="720"/>
                  </a:lnTo>
                  <a:lnTo>
                    <a:pt x="492" y="723"/>
                  </a:lnTo>
                  <a:lnTo>
                    <a:pt x="483" y="724"/>
                  </a:lnTo>
                  <a:lnTo>
                    <a:pt x="475" y="724"/>
                  </a:lnTo>
                  <a:lnTo>
                    <a:pt x="466" y="726"/>
                  </a:lnTo>
                  <a:lnTo>
                    <a:pt x="458" y="724"/>
                  </a:lnTo>
                  <a:lnTo>
                    <a:pt x="451" y="724"/>
                  </a:lnTo>
                  <a:lnTo>
                    <a:pt x="443" y="723"/>
                  </a:lnTo>
                  <a:lnTo>
                    <a:pt x="421" y="718"/>
                  </a:lnTo>
                  <a:lnTo>
                    <a:pt x="396" y="710"/>
                  </a:lnTo>
                  <a:lnTo>
                    <a:pt x="370" y="702"/>
                  </a:lnTo>
                  <a:lnTo>
                    <a:pt x="346" y="693"/>
                  </a:lnTo>
                  <a:lnTo>
                    <a:pt x="324" y="684"/>
                  </a:lnTo>
                  <a:lnTo>
                    <a:pt x="304" y="678"/>
                  </a:lnTo>
                  <a:lnTo>
                    <a:pt x="291" y="672"/>
                  </a:lnTo>
                  <a:lnTo>
                    <a:pt x="286" y="670"/>
                  </a:lnTo>
                  <a:lnTo>
                    <a:pt x="268" y="663"/>
                  </a:lnTo>
                  <a:lnTo>
                    <a:pt x="251" y="657"/>
                  </a:lnTo>
                  <a:lnTo>
                    <a:pt x="233" y="652"/>
                  </a:lnTo>
                  <a:lnTo>
                    <a:pt x="216" y="645"/>
                  </a:lnTo>
                  <a:lnTo>
                    <a:pt x="198" y="639"/>
                  </a:lnTo>
                  <a:lnTo>
                    <a:pt x="181" y="632"/>
                  </a:lnTo>
                  <a:lnTo>
                    <a:pt x="163" y="626"/>
                  </a:lnTo>
                  <a:lnTo>
                    <a:pt x="146" y="621"/>
                  </a:lnTo>
                  <a:lnTo>
                    <a:pt x="128" y="614"/>
                  </a:lnTo>
                  <a:lnTo>
                    <a:pt x="111" y="608"/>
                  </a:lnTo>
                  <a:lnTo>
                    <a:pt x="93" y="601"/>
                  </a:lnTo>
                  <a:lnTo>
                    <a:pt x="76" y="595"/>
                  </a:lnTo>
                  <a:lnTo>
                    <a:pt x="58" y="588"/>
                  </a:lnTo>
                  <a:lnTo>
                    <a:pt x="42" y="582"/>
                  </a:lnTo>
                  <a:lnTo>
                    <a:pt x="23" y="574"/>
                  </a:lnTo>
                  <a:lnTo>
                    <a:pt x="7" y="568"/>
                  </a:lnTo>
                  <a:lnTo>
                    <a:pt x="5" y="565"/>
                  </a:lnTo>
                  <a:lnTo>
                    <a:pt x="3" y="562"/>
                  </a:lnTo>
                  <a:lnTo>
                    <a:pt x="1" y="560"/>
                  </a:lnTo>
                  <a:lnTo>
                    <a:pt x="0" y="557"/>
                  </a:lnTo>
                  <a:lnTo>
                    <a:pt x="21" y="520"/>
                  </a:lnTo>
                  <a:lnTo>
                    <a:pt x="44" y="483"/>
                  </a:lnTo>
                  <a:lnTo>
                    <a:pt x="67" y="447"/>
                  </a:lnTo>
                  <a:lnTo>
                    <a:pt x="92" y="412"/>
                  </a:lnTo>
                  <a:lnTo>
                    <a:pt x="115" y="376"/>
                  </a:lnTo>
                  <a:lnTo>
                    <a:pt x="139" y="338"/>
                  </a:lnTo>
                  <a:lnTo>
                    <a:pt x="161" y="302"/>
                  </a:lnTo>
                  <a:lnTo>
                    <a:pt x="181" y="263"/>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4" name="Freeform 11"/>
            <p:cNvSpPr>
              <a:spLocks/>
            </p:cNvSpPr>
            <p:nvPr/>
          </p:nvSpPr>
          <p:spPr bwMode="auto">
            <a:xfrm>
              <a:off x="1387" y="3070"/>
              <a:ext cx="762" cy="308"/>
            </a:xfrm>
            <a:custGeom>
              <a:avLst/>
              <a:gdLst>
                <a:gd name="T0" fmla="*/ 39 w 762"/>
                <a:gd name="T1" fmla="*/ 99 h 308"/>
                <a:gd name="T2" fmla="*/ 103 w 762"/>
                <a:gd name="T3" fmla="*/ 128 h 308"/>
                <a:gd name="T4" fmla="*/ 164 w 762"/>
                <a:gd name="T5" fmla="*/ 152 h 308"/>
                <a:gd name="T6" fmla="*/ 195 w 762"/>
                <a:gd name="T7" fmla="*/ 164 h 308"/>
                <a:gd name="T8" fmla="*/ 250 w 762"/>
                <a:gd name="T9" fmla="*/ 184 h 308"/>
                <a:gd name="T10" fmla="*/ 316 w 762"/>
                <a:gd name="T11" fmla="*/ 208 h 308"/>
                <a:gd name="T12" fmla="*/ 382 w 762"/>
                <a:gd name="T13" fmla="*/ 230 h 308"/>
                <a:gd name="T14" fmla="*/ 435 w 762"/>
                <a:gd name="T15" fmla="*/ 244 h 308"/>
                <a:gd name="T16" fmla="*/ 467 w 762"/>
                <a:gd name="T17" fmla="*/ 251 h 308"/>
                <a:gd name="T18" fmla="*/ 494 w 762"/>
                <a:gd name="T19" fmla="*/ 256 h 308"/>
                <a:gd name="T20" fmla="*/ 520 w 762"/>
                <a:gd name="T21" fmla="*/ 252 h 308"/>
                <a:gd name="T22" fmla="*/ 569 w 762"/>
                <a:gd name="T23" fmla="*/ 190 h 308"/>
                <a:gd name="T24" fmla="*/ 616 w 762"/>
                <a:gd name="T25" fmla="*/ 121 h 308"/>
                <a:gd name="T26" fmla="*/ 656 w 762"/>
                <a:gd name="T27" fmla="*/ 66 h 308"/>
                <a:gd name="T28" fmla="*/ 689 w 762"/>
                <a:gd name="T29" fmla="*/ 26 h 308"/>
                <a:gd name="T30" fmla="*/ 714 w 762"/>
                <a:gd name="T31" fmla="*/ 0 h 308"/>
                <a:gd name="T32" fmla="*/ 729 w 762"/>
                <a:gd name="T33" fmla="*/ 11 h 308"/>
                <a:gd name="T34" fmla="*/ 747 w 762"/>
                <a:gd name="T35" fmla="*/ 32 h 308"/>
                <a:gd name="T36" fmla="*/ 762 w 762"/>
                <a:gd name="T37" fmla="*/ 50 h 308"/>
                <a:gd name="T38" fmla="*/ 745 w 762"/>
                <a:gd name="T39" fmla="*/ 73 h 308"/>
                <a:gd name="T40" fmla="*/ 726 w 762"/>
                <a:gd name="T41" fmla="*/ 64 h 308"/>
                <a:gd name="T42" fmla="*/ 712 w 762"/>
                <a:gd name="T43" fmla="*/ 54 h 308"/>
                <a:gd name="T44" fmla="*/ 685 w 762"/>
                <a:gd name="T45" fmla="*/ 89 h 308"/>
                <a:gd name="T46" fmla="*/ 656 w 762"/>
                <a:gd name="T47" fmla="*/ 130 h 308"/>
                <a:gd name="T48" fmla="*/ 656 w 762"/>
                <a:gd name="T49" fmla="*/ 140 h 308"/>
                <a:gd name="T50" fmla="*/ 677 w 762"/>
                <a:gd name="T51" fmla="*/ 147 h 308"/>
                <a:gd name="T52" fmla="*/ 701 w 762"/>
                <a:gd name="T53" fmla="*/ 147 h 308"/>
                <a:gd name="T54" fmla="*/ 686 w 762"/>
                <a:gd name="T55" fmla="*/ 169 h 308"/>
                <a:gd name="T56" fmla="*/ 669 w 762"/>
                <a:gd name="T57" fmla="*/ 190 h 308"/>
                <a:gd name="T58" fmla="*/ 652 w 762"/>
                <a:gd name="T59" fmla="*/ 191 h 308"/>
                <a:gd name="T60" fmla="*/ 633 w 762"/>
                <a:gd name="T61" fmla="*/ 154 h 308"/>
                <a:gd name="T62" fmla="*/ 610 w 762"/>
                <a:gd name="T63" fmla="*/ 180 h 308"/>
                <a:gd name="T64" fmla="*/ 572 w 762"/>
                <a:gd name="T65" fmla="*/ 225 h 308"/>
                <a:gd name="T66" fmla="*/ 562 w 762"/>
                <a:gd name="T67" fmla="*/ 243 h 308"/>
                <a:gd name="T68" fmla="*/ 579 w 762"/>
                <a:gd name="T69" fmla="*/ 251 h 308"/>
                <a:gd name="T70" fmla="*/ 602 w 762"/>
                <a:gd name="T71" fmla="*/ 256 h 308"/>
                <a:gd name="T72" fmla="*/ 590 w 762"/>
                <a:gd name="T73" fmla="*/ 276 h 308"/>
                <a:gd name="T74" fmla="*/ 568 w 762"/>
                <a:gd name="T75" fmla="*/ 296 h 308"/>
                <a:gd name="T76" fmla="*/ 558 w 762"/>
                <a:gd name="T77" fmla="*/ 308 h 308"/>
                <a:gd name="T78" fmla="*/ 479 w 762"/>
                <a:gd name="T79" fmla="*/ 294 h 308"/>
                <a:gd name="T80" fmla="*/ 375 w 762"/>
                <a:gd name="T81" fmla="*/ 265 h 308"/>
                <a:gd name="T82" fmla="*/ 264 w 762"/>
                <a:gd name="T83" fmla="*/ 228 h 308"/>
                <a:gd name="T84" fmla="*/ 163 w 762"/>
                <a:gd name="T85" fmla="*/ 189 h 308"/>
                <a:gd name="T86" fmla="*/ 88 w 762"/>
                <a:gd name="T87" fmla="*/ 155 h 308"/>
                <a:gd name="T88" fmla="*/ 57 w 762"/>
                <a:gd name="T89" fmla="*/ 140 h 308"/>
                <a:gd name="T90" fmla="*/ 26 w 762"/>
                <a:gd name="T91" fmla="*/ 128 h 308"/>
                <a:gd name="T92" fmla="*/ 9 w 762"/>
                <a:gd name="T93" fmla="*/ 123 h 308"/>
                <a:gd name="T94" fmla="*/ 2 w 762"/>
                <a:gd name="T95" fmla="*/ 90 h 30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62"/>
                <a:gd name="T145" fmla="*/ 0 h 308"/>
                <a:gd name="T146" fmla="*/ 762 w 762"/>
                <a:gd name="T147" fmla="*/ 308 h 30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62" h="308">
                  <a:moveTo>
                    <a:pt x="0" y="84"/>
                  </a:moveTo>
                  <a:lnTo>
                    <a:pt x="18" y="92"/>
                  </a:lnTo>
                  <a:lnTo>
                    <a:pt x="39" y="99"/>
                  </a:lnTo>
                  <a:lnTo>
                    <a:pt x="61" y="108"/>
                  </a:lnTo>
                  <a:lnTo>
                    <a:pt x="83" y="118"/>
                  </a:lnTo>
                  <a:lnTo>
                    <a:pt x="103" y="128"/>
                  </a:lnTo>
                  <a:lnTo>
                    <a:pt x="125" y="136"/>
                  </a:lnTo>
                  <a:lnTo>
                    <a:pt x="146" y="145"/>
                  </a:lnTo>
                  <a:lnTo>
                    <a:pt x="164" y="152"/>
                  </a:lnTo>
                  <a:lnTo>
                    <a:pt x="171" y="155"/>
                  </a:lnTo>
                  <a:lnTo>
                    <a:pt x="181" y="159"/>
                  </a:lnTo>
                  <a:lnTo>
                    <a:pt x="195" y="164"/>
                  </a:lnTo>
                  <a:lnTo>
                    <a:pt x="211" y="169"/>
                  </a:lnTo>
                  <a:lnTo>
                    <a:pt x="229" y="177"/>
                  </a:lnTo>
                  <a:lnTo>
                    <a:pt x="250" y="184"/>
                  </a:lnTo>
                  <a:lnTo>
                    <a:pt x="272" y="191"/>
                  </a:lnTo>
                  <a:lnTo>
                    <a:pt x="294" y="199"/>
                  </a:lnTo>
                  <a:lnTo>
                    <a:pt x="316" y="208"/>
                  </a:lnTo>
                  <a:lnTo>
                    <a:pt x="339" y="216"/>
                  </a:lnTo>
                  <a:lnTo>
                    <a:pt x="361" y="222"/>
                  </a:lnTo>
                  <a:lnTo>
                    <a:pt x="382" y="230"/>
                  </a:lnTo>
                  <a:lnTo>
                    <a:pt x="401" y="235"/>
                  </a:lnTo>
                  <a:lnTo>
                    <a:pt x="419" y="241"/>
                  </a:lnTo>
                  <a:lnTo>
                    <a:pt x="435" y="244"/>
                  </a:lnTo>
                  <a:lnTo>
                    <a:pt x="448" y="247"/>
                  </a:lnTo>
                  <a:lnTo>
                    <a:pt x="457" y="248"/>
                  </a:lnTo>
                  <a:lnTo>
                    <a:pt x="467" y="251"/>
                  </a:lnTo>
                  <a:lnTo>
                    <a:pt x="476" y="252"/>
                  </a:lnTo>
                  <a:lnTo>
                    <a:pt x="485" y="255"/>
                  </a:lnTo>
                  <a:lnTo>
                    <a:pt x="494" y="256"/>
                  </a:lnTo>
                  <a:lnTo>
                    <a:pt x="503" y="256"/>
                  </a:lnTo>
                  <a:lnTo>
                    <a:pt x="512" y="255"/>
                  </a:lnTo>
                  <a:lnTo>
                    <a:pt x="520" y="252"/>
                  </a:lnTo>
                  <a:lnTo>
                    <a:pt x="537" y="233"/>
                  </a:lnTo>
                  <a:lnTo>
                    <a:pt x="554" y="212"/>
                  </a:lnTo>
                  <a:lnTo>
                    <a:pt x="569" y="190"/>
                  </a:lnTo>
                  <a:lnTo>
                    <a:pt x="585" y="167"/>
                  </a:lnTo>
                  <a:lnTo>
                    <a:pt x="601" y="143"/>
                  </a:lnTo>
                  <a:lnTo>
                    <a:pt x="616" y="121"/>
                  </a:lnTo>
                  <a:lnTo>
                    <a:pt x="632" y="98"/>
                  </a:lnTo>
                  <a:lnTo>
                    <a:pt x="647" y="77"/>
                  </a:lnTo>
                  <a:lnTo>
                    <a:pt x="656" y="66"/>
                  </a:lnTo>
                  <a:lnTo>
                    <a:pt x="667" y="53"/>
                  </a:lnTo>
                  <a:lnTo>
                    <a:pt x="678" y="38"/>
                  </a:lnTo>
                  <a:lnTo>
                    <a:pt x="689" y="26"/>
                  </a:lnTo>
                  <a:lnTo>
                    <a:pt x="699" y="14"/>
                  </a:lnTo>
                  <a:lnTo>
                    <a:pt x="708" y="5"/>
                  </a:lnTo>
                  <a:lnTo>
                    <a:pt x="714" y="0"/>
                  </a:lnTo>
                  <a:lnTo>
                    <a:pt x="718" y="0"/>
                  </a:lnTo>
                  <a:lnTo>
                    <a:pt x="723" y="5"/>
                  </a:lnTo>
                  <a:lnTo>
                    <a:pt x="729" y="11"/>
                  </a:lnTo>
                  <a:lnTo>
                    <a:pt x="735" y="18"/>
                  </a:lnTo>
                  <a:lnTo>
                    <a:pt x="740" y="24"/>
                  </a:lnTo>
                  <a:lnTo>
                    <a:pt x="747" y="32"/>
                  </a:lnTo>
                  <a:lnTo>
                    <a:pt x="752" y="38"/>
                  </a:lnTo>
                  <a:lnTo>
                    <a:pt x="757" y="45"/>
                  </a:lnTo>
                  <a:lnTo>
                    <a:pt x="762" y="50"/>
                  </a:lnTo>
                  <a:lnTo>
                    <a:pt x="756" y="58"/>
                  </a:lnTo>
                  <a:lnTo>
                    <a:pt x="751" y="66"/>
                  </a:lnTo>
                  <a:lnTo>
                    <a:pt x="745" y="73"/>
                  </a:lnTo>
                  <a:lnTo>
                    <a:pt x="740" y="83"/>
                  </a:lnTo>
                  <a:lnTo>
                    <a:pt x="734" y="75"/>
                  </a:lnTo>
                  <a:lnTo>
                    <a:pt x="726" y="64"/>
                  </a:lnTo>
                  <a:lnTo>
                    <a:pt x="718" y="55"/>
                  </a:lnTo>
                  <a:lnTo>
                    <a:pt x="714" y="51"/>
                  </a:lnTo>
                  <a:lnTo>
                    <a:pt x="712" y="54"/>
                  </a:lnTo>
                  <a:lnTo>
                    <a:pt x="705" y="63"/>
                  </a:lnTo>
                  <a:lnTo>
                    <a:pt x="695" y="75"/>
                  </a:lnTo>
                  <a:lnTo>
                    <a:pt x="685" y="89"/>
                  </a:lnTo>
                  <a:lnTo>
                    <a:pt x="673" y="105"/>
                  </a:lnTo>
                  <a:lnTo>
                    <a:pt x="663" y="119"/>
                  </a:lnTo>
                  <a:lnTo>
                    <a:pt x="656" y="130"/>
                  </a:lnTo>
                  <a:lnTo>
                    <a:pt x="652" y="137"/>
                  </a:lnTo>
                  <a:lnTo>
                    <a:pt x="652" y="138"/>
                  </a:lnTo>
                  <a:lnTo>
                    <a:pt x="656" y="140"/>
                  </a:lnTo>
                  <a:lnTo>
                    <a:pt x="661" y="142"/>
                  </a:lnTo>
                  <a:lnTo>
                    <a:pt x="669" y="145"/>
                  </a:lnTo>
                  <a:lnTo>
                    <a:pt x="677" y="147"/>
                  </a:lnTo>
                  <a:lnTo>
                    <a:pt x="686" y="149"/>
                  </a:lnTo>
                  <a:lnTo>
                    <a:pt x="694" y="149"/>
                  </a:lnTo>
                  <a:lnTo>
                    <a:pt x="701" y="147"/>
                  </a:lnTo>
                  <a:lnTo>
                    <a:pt x="696" y="155"/>
                  </a:lnTo>
                  <a:lnTo>
                    <a:pt x="691" y="162"/>
                  </a:lnTo>
                  <a:lnTo>
                    <a:pt x="686" y="169"/>
                  </a:lnTo>
                  <a:lnTo>
                    <a:pt x="681" y="176"/>
                  </a:lnTo>
                  <a:lnTo>
                    <a:pt x="674" y="182"/>
                  </a:lnTo>
                  <a:lnTo>
                    <a:pt x="669" y="190"/>
                  </a:lnTo>
                  <a:lnTo>
                    <a:pt x="663" y="197"/>
                  </a:lnTo>
                  <a:lnTo>
                    <a:pt x="657" y="203"/>
                  </a:lnTo>
                  <a:lnTo>
                    <a:pt x="652" y="191"/>
                  </a:lnTo>
                  <a:lnTo>
                    <a:pt x="645" y="174"/>
                  </a:lnTo>
                  <a:lnTo>
                    <a:pt x="637" y="160"/>
                  </a:lnTo>
                  <a:lnTo>
                    <a:pt x="633" y="154"/>
                  </a:lnTo>
                  <a:lnTo>
                    <a:pt x="629" y="158"/>
                  </a:lnTo>
                  <a:lnTo>
                    <a:pt x="621" y="167"/>
                  </a:lnTo>
                  <a:lnTo>
                    <a:pt x="610" y="180"/>
                  </a:lnTo>
                  <a:lnTo>
                    <a:pt x="597" y="195"/>
                  </a:lnTo>
                  <a:lnTo>
                    <a:pt x="584" y="211"/>
                  </a:lnTo>
                  <a:lnTo>
                    <a:pt x="572" y="225"/>
                  </a:lnTo>
                  <a:lnTo>
                    <a:pt x="564" y="235"/>
                  </a:lnTo>
                  <a:lnTo>
                    <a:pt x="560" y="241"/>
                  </a:lnTo>
                  <a:lnTo>
                    <a:pt x="562" y="243"/>
                  </a:lnTo>
                  <a:lnTo>
                    <a:pt x="564" y="246"/>
                  </a:lnTo>
                  <a:lnTo>
                    <a:pt x="571" y="248"/>
                  </a:lnTo>
                  <a:lnTo>
                    <a:pt x="579" y="251"/>
                  </a:lnTo>
                  <a:lnTo>
                    <a:pt x="586" y="254"/>
                  </a:lnTo>
                  <a:lnTo>
                    <a:pt x="594" y="255"/>
                  </a:lnTo>
                  <a:lnTo>
                    <a:pt x="602" y="256"/>
                  </a:lnTo>
                  <a:lnTo>
                    <a:pt x="607" y="256"/>
                  </a:lnTo>
                  <a:lnTo>
                    <a:pt x="598" y="266"/>
                  </a:lnTo>
                  <a:lnTo>
                    <a:pt x="590" y="276"/>
                  </a:lnTo>
                  <a:lnTo>
                    <a:pt x="582" y="283"/>
                  </a:lnTo>
                  <a:lnTo>
                    <a:pt x="575" y="290"/>
                  </a:lnTo>
                  <a:lnTo>
                    <a:pt x="568" y="296"/>
                  </a:lnTo>
                  <a:lnTo>
                    <a:pt x="563" y="301"/>
                  </a:lnTo>
                  <a:lnTo>
                    <a:pt x="559" y="305"/>
                  </a:lnTo>
                  <a:lnTo>
                    <a:pt x="558" y="308"/>
                  </a:lnTo>
                  <a:lnTo>
                    <a:pt x="536" y="305"/>
                  </a:lnTo>
                  <a:lnTo>
                    <a:pt x="509" y="301"/>
                  </a:lnTo>
                  <a:lnTo>
                    <a:pt x="479" y="294"/>
                  </a:lnTo>
                  <a:lnTo>
                    <a:pt x="446" y="286"/>
                  </a:lnTo>
                  <a:lnTo>
                    <a:pt x="412" y="276"/>
                  </a:lnTo>
                  <a:lnTo>
                    <a:pt x="375" y="265"/>
                  </a:lnTo>
                  <a:lnTo>
                    <a:pt x="338" y="254"/>
                  </a:lnTo>
                  <a:lnTo>
                    <a:pt x="302" y="241"/>
                  </a:lnTo>
                  <a:lnTo>
                    <a:pt x="264" y="228"/>
                  </a:lnTo>
                  <a:lnTo>
                    <a:pt x="228" y="215"/>
                  </a:lnTo>
                  <a:lnTo>
                    <a:pt x="194" y="202"/>
                  </a:lnTo>
                  <a:lnTo>
                    <a:pt x="163" y="189"/>
                  </a:lnTo>
                  <a:lnTo>
                    <a:pt x="133" y="176"/>
                  </a:lnTo>
                  <a:lnTo>
                    <a:pt x="109" y="165"/>
                  </a:lnTo>
                  <a:lnTo>
                    <a:pt x="88" y="155"/>
                  </a:lnTo>
                  <a:lnTo>
                    <a:pt x="71" y="146"/>
                  </a:lnTo>
                  <a:lnTo>
                    <a:pt x="65" y="143"/>
                  </a:lnTo>
                  <a:lnTo>
                    <a:pt x="57" y="140"/>
                  </a:lnTo>
                  <a:lnTo>
                    <a:pt x="47" y="136"/>
                  </a:lnTo>
                  <a:lnTo>
                    <a:pt x="36" y="132"/>
                  </a:lnTo>
                  <a:lnTo>
                    <a:pt x="26" y="128"/>
                  </a:lnTo>
                  <a:lnTo>
                    <a:pt x="17" y="125"/>
                  </a:lnTo>
                  <a:lnTo>
                    <a:pt x="12" y="124"/>
                  </a:lnTo>
                  <a:lnTo>
                    <a:pt x="9" y="123"/>
                  </a:lnTo>
                  <a:lnTo>
                    <a:pt x="8" y="115"/>
                  </a:lnTo>
                  <a:lnTo>
                    <a:pt x="5" y="103"/>
                  </a:lnTo>
                  <a:lnTo>
                    <a:pt x="2" y="90"/>
                  </a:lnTo>
                  <a:lnTo>
                    <a:pt x="0" y="84"/>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5" name="Freeform 12"/>
            <p:cNvSpPr>
              <a:spLocks/>
            </p:cNvSpPr>
            <p:nvPr/>
          </p:nvSpPr>
          <p:spPr bwMode="auto">
            <a:xfrm>
              <a:off x="2050" y="3142"/>
              <a:ext cx="68" cy="64"/>
            </a:xfrm>
            <a:custGeom>
              <a:avLst/>
              <a:gdLst>
                <a:gd name="T0" fmla="*/ 68 w 68"/>
                <a:gd name="T1" fmla="*/ 30 h 64"/>
                <a:gd name="T2" fmla="*/ 68 w 68"/>
                <a:gd name="T3" fmla="*/ 30 h 64"/>
                <a:gd name="T4" fmla="*/ 64 w 68"/>
                <a:gd name="T5" fmla="*/ 39 h 64"/>
                <a:gd name="T6" fmla="*/ 58 w 68"/>
                <a:gd name="T7" fmla="*/ 46 h 64"/>
                <a:gd name="T8" fmla="*/ 51 w 68"/>
                <a:gd name="T9" fmla="*/ 51 h 64"/>
                <a:gd name="T10" fmla="*/ 44 w 68"/>
                <a:gd name="T11" fmla="*/ 56 h 64"/>
                <a:gd name="T12" fmla="*/ 36 w 68"/>
                <a:gd name="T13" fmla="*/ 58 h 64"/>
                <a:gd name="T14" fmla="*/ 27 w 68"/>
                <a:gd name="T15" fmla="*/ 61 h 64"/>
                <a:gd name="T16" fmla="*/ 18 w 68"/>
                <a:gd name="T17" fmla="*/ 62 h 64"/>
                <a:gd name="T18" fmla="*/ 9 w 68"/>
                <a:gd name="T19" fmla="*/ 64 h 64"/>
                <a:gd name="T20" fmla="*/ 0 w 68"/>
                <a:gd name="T21" fmla="*/ 64 h 64"/>
                <a:gd name="T22" fmla="*/ 1 w 68"/>
                <a:gd name="T23" fmla="*/ 61 h 64"/>
                <a:gd name="T24" fmla="*/ 4 w 68"/>
                <a:gd name="T25" fmla="*/ 60 h 64"/>
                <a:gd name="T26" fmla="*/ 5 w 68"/>
                <a:gd name="T27" fmla="*/ 57 h 64"/>
                <a:gd name="T28" fmla="*/ 6 w 68"/>
                <a:gd name="T29" fmla="*/ 56 h 64"/>
                <a:gd name="T30" fmla="*/ 7 w 68"/>
                <a:gd name="T31" fmla="*/ 56 h 64"/>
                <a:gd name="T32" fmla="*/ 7 w 68"/>
                <a:gd name="T33" fmla="*/ 56 h 64"/>
                <a:gd name="T34" fmla="*/ 7 w 68"/>
                <a:gd name="T35" fmla="*/ 56 h 64"/>
                <a:gd name="T36" fmla="*/ 9 w 68"/>
                <a:gd name="T37" fmla="*/ 55 h 64"/>
                <a:gd name="T38" fmla="*/ 14 w 68"/>
                <a:gd name="T39" fmla="*/ 48 h 64"/>
                <a:gd name="T40" fmla="*/ 20 w 68"/>
                <a:gd name="T41" fmla="*/ 43 h 64"/>
                <a:gd name="T42" fmla="*/ 26 w 68"/>
                <a:gd name="T43" fmla="*/ 36 h 64"/>
                <a:gd name="T44" fmla="*/ 32 w 68"/>
                <a:gd name="T45" fmla="*/ 29 h 64"/>
                <a:gd name="T46" fmla="*/ 37 w 68"/>
                <a:gd name="T47" fmla="*/ 22 h 64"/>
                <a:gd name="T48" fmla="*/ 42 w 68"/>
                <a:gd name="T49" fmla="*/ 16 h 64"/>
                <a:gd name="T50" fmla="*/ 46 w 68"/>
                <a:gd name="T51" fmla="*/ 8 h 64"/>
                <a:gd name="T52" fmla="*/ 51 w 68"/>
                <a:gd name="T53" fmla="*/ 0 h 64"/>
                <a:gd name="T54" fmla="*/ 57 w 68"/>
                <a:gd name="T55" fmla="*/ 7 h 64"/>
                <a:gd name="T56" fmla="*/ 60 w 68"/>
                <a:gd name="T57" fmla="*/ 12 h 64"/>
                <a:gd name="T58" fmla="*/ 64 w 68"/>
                <a:gd name="T59" fmla="*/ 18 h 64"/>
                <a:gd name="T60" fmla="*/ 67 w 68"/>
                <a:gd name="T61" fmla="*/ 25 h 64"/>
                <a:gd name="T62" fmla="*/ 68 w 68"/>
                <a:gd name="T63" fmla="*/ 25 h 64"/>
                <a:gd name="T64" fmla="*/ 67 w 68"/>
                <a:gd name="T65" fmla="*/ 26 h 64"/>
                <a:gd name="T66" fmla="*/ 67 w 68"/>
                <a:gd name="T67" fmla="*/ 27 h 64"/>
                <a:gd name="T68" fmla="*/ 67 w 68"/>
                <a:gd name="T69" fmla="*/ 29 h 64"/>
                <a:gd name="T70" fmla="*/ 68 w 68"/>
                <a:gd name="T71" fmla="*/ 30 h 6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
                <a:gd name="T109" fmla="*/ 0 h 64"/>
                <a:gd name="T110" fmla="*/ 68 w 68"/>
                <a:gd name="T111" fmla="*/ 64 h 6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 h="64">
                  <a:moveTo>
                    <a:pt x="68" y="30"/>
                  </a:moveTo>
                  <a:lnTo>
                    <a:pt x="68" y="30"/>
                  </a:lnTo>
                  <a:lnTo>
                    <a:pt x="64" y="39"/>
                  </a:lnTo>
                  <a:lnTo>
                    <a:pt x="58" y="46"/>
                  </a:lnTo>
                  <a:lnTo>
                    <a:pt x="51" y="51"/>
                  </a:lnTo>
                  <a:lnTo>
                    <a:pt x="44" y="56"/>
                  </a:lnTo>
                  <a:lnTo>
                    <a:pt x="36" y="58"/>
                  </a:lnTo>
                  <a:lnTo>
                    <a:pt x="27" y="61"/>
                  </a:lnTo>
                  <a:lnTo>
                    <a:pt x="18" y="62"/>
                  </a:lnTo>
                  <a:lnTo>
                    <a:pt x="9" y="64"/>
                  </a:lnTo>
                  <a:lnTo>
                    <a:pt x="0" y="64"/>
                  </a:lnTo>
                  <a:lnTo>
                    <a:pt x="1" y="61"/>
                  </a:lnTo>
                  <a:lnTo>
                    <a:pt x="4" y="60"/>
                  </a:lnTo>
                  <a:lnTo>
                    <a:pt x="5" y="57"/>
                  </a:lnTo>
                  <a:lnTo>
                    <a:pt x="6" y="56"/>
                  </a:lnTo>
                  <a:lnTo>
                    <a:pt x="7" y="56"/>
                  </a:lnTo>
                  <a:lnTo>
                    <a:pt x="9" y="55"/>
                  </a:lnTo>
                  <a:lnTo>
                    <a:pt x="14" y="48"/>
                  </a:lnTo>
                  <a:lnTo>
                    <a:pt x="20" y="43"/>
                  </a:lnTo>
                  <a:lnTo>
                    <a:pt x="26" y="36"/>
                  </a:lnTo>
                  <a:lnTo>
                    <a:pt x="32" y="29"/>
                  </a:lnTo>
                  <a:lnTo>
                    <a:pt x="37" y="22"/>
                  </a:lnTo>
                  <a:lnTo>
                    <a:pt x="42" y="16"/>
                  </a:lnTo>
                  <a:lnTo>
                    <a:pt x="46" y="8"/>
                  </a:lnTo>
                  <a:lnTo>
                    <a:pt x="51" y="0"/>
                  </a:lnTo>
                  <a:lnTo>
                    <a:pt x="57" y="7"/>
                  </a:lnTo>
                  <a:lnTo>
                    <a:pt x="60" y="12"/>
                  </a:lnTo>
                  <a:lnTo>
                    <a:pt x="64" y="18"/>
                  </a:lnTo>
                  <a:lnTo>
                    <a:pt x="67" y="25"/>
                  </a:lnTo>
                  <a:lnTo>
                    <a:pt x="68" y="25"/>
                  </a:lnTo>
                  <a:lnTo>
                    <a:pt x="67" y="26"/>
                  </a:lnTo>
                  <a:lnTo>
                    <a:pt x="67" y="27"/>
                  </a:lnTo>
                  <a:lnTo>
                    <a:pt x="67" y="29"/>
                  </a:lnTo>
                  <a:lnTo>
                    <a:pt x="68" y="3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6" name="Freeform 13"/>
            <p:cNvSpPr>
              <a:spLocks/>
            </p:cNvSpPr>
            <p:nvPr/>
          </p:nvSpPr>
          <p:spPr bwMode="auto">
            <a:xfrm>
              <a:off x="1973" y="3255"/>
              <a:ext cx="52" cy="49"/>
            </a:xfrm>
            <a:custGeom>
              <a:avLst/>
              <a:gdLst>
                <a:gd name="T0" fmla="*/ 51 w 52"/>
                <a:gd name="T1" fmla="*/ 32 h 49"/>
                <a:gd name="T2" fmla="*/ 47 w 52"/>
                <a:gd name="T3" fmla="*/ 40 h 49"/>
                <a:gd name="T4" fmla="*/ 42 w 52"/>
                <a:gd name="T5" fmla="*/ 45 h 49"/>
                <a:gd name="T6" fmla="*/ 37 w 52"/>
                <a:gd name="T7" fmla="*/ 48 h 49"/>
                <a:gd name="T8" fmla="*/ 30 w 52"/>
                <a:gd name="T9" fmla="*/ 49 h 49"/>
                <a:gd name="T10" fmla="*/ 22 w 52"/>
                <a:gd name="T11" fmla="*/ 49 h 49"/>
                <a:gd name="T12" fmla="*/ 16 w 52"/>
                <a:gd name="T13" fmla="*/ 48 h 49"/>
                <a:gd name="T14" fmla="*/ 8 w 52"/>
                <a:gd name="T15" fmla="*/ 45 h 49"/>
                <a:gd name="T16" fmla="*/ 0 w 52"/>
                <a:gd name="T17" fmla="*/ 43 h 49"/>
                <a:gd name="T18" fmla="*/ 2 w 52"/>
                <a:gd name="T19" fmla="*/ 41 h 49"/>
                <a:gd name="T20" fmla="*/ 5 w 52"/>
                <a:gd name="T21" fmla="*/ 39 h 49"/>
                <a:gd name="T22" fmla="*/ 11 w 52"/>
                <a:gd name="T23" fmla="*/ 34 h 49"/>
                <a:gd name="T24" fmla="*/ 17 w 52"/>
                <a:gd name="T25" fmla="*/ 27 h 49"/>
                <a:gd name="T26" fmla="*/ 24 w 52"/>
                <a:gd name="T27" fmla="*/ 21 h 49"/>
                <a:gd name="T28" fmla="*/ 30 w 52"/>
                <a:gd name="T29" fmla="*/ 14 h 49"/>
                <a:gd name="T30" fmla="*/ 37 w 52"/>
                <a:gd name="T31" fmla="*/ 6 h 49"/>
                <a:gd name="T32" fmla="*/ 42 w 52"/>
                <a:gd name="T33" fmla="*/ 0 h 49"/>
                <a:gd name="T34" fmla="*/ 46 w 52"/>
                <a:gd name="T35" fmla="*/ 9 h 49"/>
                <a:gd name="T36" fmla="*/ 49 w 52"/>
                <a:gd name="T37" fmla="*/ 17 h 49"/>
                <a:gd name="T38" fmla="*/ 52 w 52"/>
                <a:gd name="T39" fmla="*/ 24 h 49"/>
                <a:gd name="T40" fmla="*/ 51 w 52"/>
                <a:gd name="T41" fmla="*/ 32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2"/>
                <a:gd name="T64" fmla="*/ 0 h 49"/>
                <a:gd name="T65" fmla="*/ 52 w 52"/>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2" h="49">
                  <a:moveTo>
                    <a:pt x="51" y="32"/>
                  </a:moveTo>
                  <a:lnTo>
                    <a:pt x="47" y="40"/>
                  </a:lnTo>
                  <a:lnTo>
                    <a:pt x="42" y="45"/>
                  </a:lnTo>
                  <a:lnTo>
                    <a:pt x="37" y="48"/>
                  </a:lnTo>
                  <a:lnTo>
                    <a:pt x="30" y="49"/>
                  </a:lnTo>
                  <a:lnTo>
                    <a:pt x="22" y="49"/>
                  </a:lnTo>
                  <a:lnTo>
                    <a:pt x="16" y="48"/>
                  </a:lnTo>
                  <a:lnTo>
                    <a:pt x="8" y="45"/>
                  </a:lnTo>
                  <a:lnTo>
                    <a:pt x="0" y="43"/>
                  </a:lnTo>
                  <a:lnTo>
                    <a:pt x="2" y="41"/>
                  </a:lnTo>
                  <a:lnTo>
                    <a:pt x="5" y="39"/>
                  </a:lnTo>
                  <a:lnTo>
                    <a:pt x="11" y="34"/>
                  </a:lnTo>
                  <a:lnTo>
                    <a:pt x="17" y="27"/>
                  </a:lnTo>
                  <a:lnTo>
                    <a:pt x="24" y="21"/>
                  </a:lnTo>
                  <a:lnTo>
                    <a:pt x="30" y="14"/>
                  </a:lnTo>
                  <a:lnTo>
                    <a:pt x="37" y="6"/>
                  </a:lnTo>
                  <a:lnTo>
                    <a:pt x="42" y="0"/>
                  </a:lnTo>
                  <a:lnTo>
                    <a:pt x="46" y="9"/>
                  </a:lnTo>
                  <a:lnTo>
                    <a:pt x="49" y="17"/>
                  </a:lnTo>
                  <a:lnTo>
                    <a:pt x="52" y="24"/>
                  </a:lnTo>
                  <a:lnTo>
                    <a:pt x="51" y="3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7" name="Freeform 14"/>
            <p:cNvSpPr>
              <a:spLocks/>
            </p:cNvSpPr>
            <p:nvPr/>
          </p:nvSpPr>
          <p:spPr bwMode="auto">
            <a:xfrm>
              <a:off x="1400" y="3136"/>
              <a:ext cx="775" cy="285"/>
            </a:xfrm>
            <a:custGeom>
              <a:avLst/>
              <a:gdLst>
                <a:gd name="T0" fmla="*/ 652 w 775"/>
                <a:gd name="T1" fmla="*/ 190 h 285"/>
                <a:gd name="T2" fmla="*/ 630 w 775"/>
                <a:gd name="T3" fmla="*/ 221 h 285"/>
                <a:gd name="T4" fmla="*/ 606 w 775"/>
                <a:gd name="T5" fmla="*/ 251 h 285"/>
                <a:gd name="T6" fmla="*/ 577 w 775"/>
                <a:gd name="T7" fmla="*/ 273 h 285"/>
                <a:gd name="T8" fmla="*/ 542 w 775"/>
                <a:gd name="T9" fmla="*/ 283 h 285"/>
                <a:gd name="T10" fmla="*/ 503 w 775"/>
                <a:gd name="T11" fmla="*/ 285 h 285"/>
                <a:gd name="T12" fmla="*/ 466 w 775"/>
                <a:gd name="T13" fmla="*/ 278 h 285"/>
                <a:gd name="T14" fmla="*/ 428 w 775"/>
                <a:gd name="T15" fmla="*/ 267 h 285"/>
                <a:gd name="T16" fmla="*/ 386 w 775"/>
                <a:gd name="T17" fmla="*/ 251 h 285"/>
                <a:gd name="T18" fmla="*/ 335 w 775"/>
                <a:gd name="T19" fmla="*/ 232 h 285"/>
                <a:gd name="T20" fmla="*/ 286 w 775"/>
                <a:gd name="T21" fmla="*/ 212 h 285"/>
                <a:gd name="T22" fmla="*/ 234 w 775"/>
                <a:gd name="T23" fmla="*/ 193 h 285"/>
                <a:gd name="T24" fmla="*/ 184 w 775"/>
                <a:gd name="T25" fmla="*/ 172 h 285"/>
                <a:gd name="T26" fmla="*/ 133 w 775"/>
                <a:gd name="T27" fmla="*/ 153 h 285"/>
                <a:gd name="T28" fmla="*/ 84 w 775"/>
                <a:gd name="T29" fmla="*/ 132 h 285"/>
                <a:gd name="T30" fmla="*/ 35 w 775"/>
                <a:gd name="T31" fmla="*/ 111 h 285"/>
                <a:gd name="T32" fmla="*/ 9 w 775"/>
                <a:gd name="T33" fmla="*/ 98 h 285"/>
                <a:gd name="T34" fmla="*/ 1 w 775"/>
                <a:gd name="T35" fmla="*/ 84 h 285"/>
                <a:gd name="T36" fmla="*/ 9 w 775"/>
                <a:gd name="T37" fmla="*/ 83 h 285"/>
                <a:gd name="T38" fmla="*/ 31 w 775"/>
                <a:gd name="T39" fmla="*/ 92 h 285"/>
                <a:gd name="T40" fmla="*/ 54 w 775"/>
                <a:gd name="T41" fmla="*/ 101 h 285"/>
                <a:gd name="T42" fmla="*/ 76 w 775"/>
                <a:gd name="T43" fmla="*/ 110 h 285"/>
                <a:gd name="T44" fmla="*/ 111 w 775"/>
                <a:gd name="T45" fmla="*/ 127 h 285"/>
                <a:gd name="T46" fmla="*/ 158 w 775"/>
                <a:gd name="T47" fmla="*/ 146 h 285"/>
                <a:gd name="T48" fmla="*/ 198 w 775"/>
                <a:gd name="T49" fmla="*/ 160 h 285"/>
                <a:gd name="T50" fmla="*/ 232 w 775"/>
                <a:gd name="T51" fmla="*/ 172 h 285"/>
                <a:gd name="T52" fmla="*/ 264 w 775"/>
                <a:gd name="T53" fmla="*/ 184 h 285"/>
                <a:gd name="T54" fmla="*/ 296 w 775"/>
                <a:gd name="T55" fmla="*/ 195 h 285"/>
                <a:gd name="T56" fmla="*/ 329 w 775"/>
                <a:gd name="T57" fmla="*/ 207 h 285"/>
                <a:gd name="T58" fmla="*/ 361 w 775"/>
                <a:gd name="T59" fmla="*/ 219 h 285"/>
                <a:gd name="T60" fmla="*/ 393 w 775"/>
                <a:gd name="T61" fmla="*/ 230 h 285"/>
                <a:gd name="T62" fmla="*/ 426 w 775"/>
                <a:gd name="T63" fmla="*/ 241 h 285"/>
                <a:gd name="T64" fmla="*/ 458 w 775"/>
                <a:gd name="T65" fmla="*/ 251 h 285"/>
                <a:gd name="T66" fmla="*/ 492 w 775"/>
                <a:gd name="T67" fmla="*/ 260 h 285"/>
                <a:gd name="T68" fmla="*/ 514 w 775"/>
                <a:gd name="T69" fmla="*/ 265 h 285"/>
                <a:gd name="T70" fmla="*/ 531 w 775"/>
                <a:gd name="T71" fmla="*/ 267 h 285"/>
                <a:gd name="T72" fmla="*/ 549 w 775"/>
                <a:gd name="T73" fmla="*/ 264 h 285"/>
                <a:gd name="T74" fmla="*/ 573 w 775"/>
                <a:gd name="T75" fmla="*/ 247 h 285"/>
                <a:gd name="T76" fmla="*/ 597 w 775"/>
                <a:gd name="T77" fmla="*/ 220 h 285"/>
                <a:gd name="T78" fmla="*/ 616 w 775"/>
                <a:gd name="T79" fmla="*/ 194 h 285"/>
                <a:gd name="T80" fmla="*/ 629 w 775"/>
                <a:gd name="T81" fmla="*/ 176 h 285"/>
                <a:gd name="T82" fmla="*/ 638 w 775"/>
                <a:gd name="T83" fmla="*/ 167 h 285"/>
                <a:gd name="T84" fmla="*/ 643 w 775"/>
                <a:gd name="T85" fmla="*/ 162 h 285"/>
                <a:gd name="T86" fmla="*/ 659 w 775"/>
                <a:gd name="T87" fmla="*/ 145 h 285"/>
                <a:gd name="T88" fmla="*/ 676 w 775"/>
                <a:gd name="T89" fmla="*/ 125 h 285"/>
                <a:gd name="T90" fmla="*/ 692 w 775"/>
                <a:gd name="T91" fmla="*/ 101 h 285"/>
                <a:gd name="T92" fmla="*/ 707 w 775"/>
                <a:gd name="T93" fmla="*/ 79 h 285"/>
                <a:gd name="T94" fmla="*/ 720 w 775"/>
                <a:gd name="T95" fmla="*/ 66 h 285"/>
                <a:gd name="T96" fmla="*/ 726 w 775"/>
                <a:gd name="T97" fmla="*/ 58 h 285"/>
                <a:gd name="T98" fmla="*/ 734 w 775"/>
                <a:gd name="T99" fmla="*/ 44 h 285"/>
                <a:gd name="T100" fmla="*/ 738 w 775"/>
                <a:gd name="T101" fmla="*/ 36 h 285"/>
                <a:gd name="T102" fmla="*/ 752 w 775"/>
                <a:gd name="T103" fmla="*/ 11 h 285"/>
                <a:gd name="T104" fmla="*/ 762 w 775"/>
                <a:gd name="T105" fmla="*/ 5 h 285"/>
                <a:gd name="T106" fmla="*/ 773 w 775"/>
                <a:gd name="T107" fmla="*/ 17 h 285"/>
                <a:gd name="T108" fmla="*/ 762 w 775"/>
                <a:gd name="T109" fmla="*/ 40 h 285"/>
                <a:gd name="T110" fmla="*/ 735 w 775"/>
                <a:gd name="T111" fmla="*/ 79 h 285"/>
                <a:gd name="T112" fmla="*/ 707 w 775"/>
                <a:gd name="T113" fmla="*/ 118 h 285"/>
                <a:gd name="T114" fmla="*/ 678 w 775"/>
                <a:gd name="T115" fmla="*/ 156 h 28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775"/>
                <a:gd name="T175" fmla="*/ 0 h 285"/>
                <a:gd name="T176" fmla="*/ 775 w 775"/>
                <a:gd name="T177" fmla="*/ 285 h 28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775" h="285">
                  <a:moveTo>
                    <a:pt x="663" y="176"/>
                  </a:moveTo>
                  <a:lnTo>
                    <a:pt x="652" y="190"/>
                  </a:lnTo>
                  <a:lnTo>
                    <a:pt x="641" y="206"/>
                  </a:lnTo>
                  <a:lnTo>
                    <a:pt x="630" y="221"/>
                  </a:lnTo>
                  <a:lnTo>
                    <a:pt x="619" y="237"/>
                  </a:lnTo>
                  <a:lnTo>
                    <a:pt x="606" y="251"/>
                  </a:lnTo>
                  <a:lnTo>
                    <a:pt x="591" y="264"/>
                  </a:lnTo>
                  <a:lnTo>
                    <a:pt x="577" y="273"/>
                  </a:lnTo>
                  <a:lnTo>
                    <a:pt x="560" y="279"/>
                  </a:lnTo>
                  <a:lnTo>
                    <a:pt x="542" y="283"/>
                  </a:lnTo>
                  <a:lnTo>
                    <a:pt x="523" y="285"/>
                  </a:lnTo>
                  <a:lnTo>
                    <a:pt x="503" y="285"/>
                  </a:lnTo>
                  <a:lnTo>
                    <a:pt x="484" y="282"/>
                  </a:lnTo>
                  <a:lnTo>
                    <a:pt x="466" y="278"/>
                  </a:lnTo>
                  <a:lnTo>
                    <a:pt x="446" y="273"/>
                  </a:lnTo>
                  <a:lnTo>
                    <a:pt x="428" y="267"/>
                  </a:lnTo>
                  <a:lnTo>
                    <a:pt x="410" y="260"/>
                  </a:lnTo>
                  <a:lnTo>
                    <a:pt x="386" y="251"/>
                  </a:lnTo>
                  <a:lnTo>
                    <a:pt x="361" y="241"/>
                  </a:lnTo>
                  <a:lnTo>
                    <a:pt x="335" y="232"/>
                  </a:lnTo>
                  <a:lnTo>
                    <a:pt x="311" y="221"/>
                  </a:lnTo>
                  <a:lnTo>
                    <a:pt x="286" y="212"/>
                  </a:lnTo>
                  <a:lnTo>
                    <a:pt x="260" y="202"/>
                  </a:lnTo>
                  <a:lnTo>
                    <a:pt x="234" y="193"/>
                  </a:lnTo>
                  <a:lnTo>
                    <a:pt x="210" y="182"/>
                  </a:lnTo>
                  <a:lnTo>
                    <a:pt x="184" y="172"/>
                  </a:lnTo>
                  <a:lnTo>
                    <a:pt x="159" y="163"/>
                  </a:lnTo>
                  <a:lnTo>
                    <a:pt x="133" y="153"/>
                  </a:lnTo>
                  <a:lnTo>
                    <a:pt x="109" y="142"/>
                  </a:lnTo>
                  <a:lnTo>
                    <a:pt x="84" y="132"/>
                  </a:lnTo>
                  <a:lnTo>
                    <a:pt x="59" y="121"/>
                  </a:lnTo>
                  <a:lnTo>
                    <a:pt x="35" y="111"/>
                  </a:lnTo>
                  <a:lnTo>
                    <a:pt x="10" y="101"/>
                  </a:lnTo>
                  <a:lnTo>
                    <a:pt x="9" y="98"/>
                  </a:lnTo>
                  <a:lnTo>
                    <a:pt x="5" y="92"/>
                  </a:lnTo>
                  <a:lnTo>
                    <a:pt x="1" y="84"/>
                  </a:lnTo>
                  <a:lnTo>
                    <a:pt x="0" y="79"/>
                  </a:lnTo>
                  <a:lnTo>
                    <a:pt x="9" y="83"/>
                  </a:lnTo>
                  <a:lnTo>
                    <a:pt x="19" y="86"/>
                  </a:lnTo>
                  <a:lnTo>
                    <a:pt x="31" y="92"/>
                  </a:lnTo>
                  <a:lnTo>
                    <a:pt x="43" y="96"/>
                  </a:lnTo>
                  <a:lnTo>
                    <a:pt x="54" y="101"/>
                  </a:lnTo>
                  <a:lnTo>
                    <a:pt x="66" y="105"/>
                  </a:lnTo>
                  <a:lnTo>
                    <a:pt x="76" y="110"/>
                  </a:lnTo>
                  <a:lnTo>
                    <a:pt x="85" y="114"/>
                  </a:lnTo>
                  <a:lnTo>
                    <a:pt x="111" y="127"/>
                  </a:lnTo>
                  <a:lnTo>
                    <a:pt x="136" y="137"/>
                  </a:lnTo>
                  <a:lnTo>
                    <a:pt x="158" y="146"/>
                  </a:lnTo>
                  <a:lnTo>
                    <a:pt x="178" y="154"/>
                  </a:lnTo>
                  <a:lnTo>
                    <a:pt x="198" y="160"/>
                  </a:lnTo>
                  <a:lnTo>
                    <a:pt x="215" y="167"/>
                  </a:lnTo>
                  <a:lnTo>
                    <a:pt x="232" y="172"/>
                  </a:lnTo>
                  <a:lnTo>
                    <a:pt x="247" y="177"/>
                  </a:lnTo>
                  <a:lnTo>
                    <a:pt x="264" y="184"/>
                  </a:lnTo>
                  <a:lnTo>
                    <a:pt x="281" y="189"/>
                  </a:lnTo>
                  <a:lnTo>
                    <a:pt x="296" y="195"/>
                  </a:lnTo>
                  <a:lnTo>
                    <a:pt x="313" y="200"/>
                  </a:lnTo>
                  <a:lnTo>
                    <a:pt x="329" y="207"/>
                  </a:lnTo>
                  <a:lnTo>
                    <a:pt x="345" y="213"/>
                  </a:lnTo>
                  <a:lnTo>
                    <a:pt x="361" y="219"/>
                  </a:lnTo>
                  <a:lnTo>
                    <a:pt x="378" y="224"/>
                  </a:lnTo>
                  <a:lnTo>
                    <a:pt x="393" y="230"/>
                  </a:lnTo>
                  <a:lnTo>
                    <a:pt x="410" y="235"/>
                  </a:lnTo>
                  <a:lnTo>
                    <a:pt x="426" y="241"/>
                  </a:lnTo>
                  <a:lnTo>
                    <a:pt x="443" y="246"/>
                  </a:lnTo>
                  <a:lnTo>
                    <a:pt x="458" y="251"/>
                  </a:lnTo>
                  <a:lnTo>
                    <a:pt x="475" y="256"/>
                  </a:lnTo>
                  <a:lnTo>
                    <a:pt x="492" y="260"/>
                  </a:lnTo>
                  <a:lnTo>
                    <a:pt x="509" y="264"/>
                  </a:lnTo>
                  <a:lnTo>
                    <a:pt x="514" y="265"/>
                  </a:lnTo>
                  <a:lnTo>
                    <a:pt x="522" y="267"/>
                  </a:lnTo>
                  <a:lnTo>
                    <a:pt x="531" y="267"/>
                  </a:lnTo>
                  <a:lnTo>
                    <a:pt x="536" y="267"/>
                  </a:lnTo>
                  <a:lnTo>
                    <a:pt x="549" y="264"/>
                  </a:lnTo>
                  <a:lnTo>
                    <a:pt x="560" y="257"/>
                  </a:lnTo>
                  <a:lnTo>
                    <a:pt x="573" y="247"/>
                  </a:lnTo>
                  <a:lnTo>
                    <a:pt x="585" y="234"/>
                  </a:lnTo>
                  <a:lnTo>
                    <a:pt x="597" y="220"/>
                  </a:lnTo>
                  <a:lnTo>
                    <a:pt x="607" y="206"/>
                  </a:lnTo>
                  <a:lnTo>
                    <a:pt x="616" y="194"/>
                  </a:lnTo>
                  <a:lnTo>
                    <a:pt x="622" y="185"/>
                  </a:lnTo>
                  <a:lnTo>
                    <a:pt x="629" y="176"/>
                  </a:lnTo>
                  <a:lnTo>
                    <a:pt x="635" y="171"/>
                  </a:lnTo>
                  <a:lnTo>
                    <a:pt x="638" y="167"/>
                  </a:lnTo>
                  <a:lnTo>
                    <a:pt x="639" y="165"/>
                  </a:lnTo>
                  <a:lnTo>
                    <a:pt x="643" y="162"/>
                  </a:lnTo>
                  <a:lnTo>
                    <a:pt x="651" y="153"/>
                  </a:lnTo>
                  <a:lnTo>
                    <a:pt x="659" y="145"/>
                  </a:lnTo>
                  <a:lnTo>
                    <a:pt x="663" y="141"/>
                  </a:lnTo>
                  <a:lnTo>
                    <a:pt x="676" y="125"/>
                  </a:lnTo>
                  <a:lnTo>
                    <a:pt x="685" y="114"/>
                  </a:lnTo>
                  <a:lnTo>
                    <a:pt x="692" y="101"/>
                  </a:lnTo>
                  <a:lnTo>
                    <a:pt x="700" y="83"/>
                  </a:lnTo>
                  <a:lnTo>
                    <a:pt x="707" y="79"/>
                  </a:lnTo>
                  <a:lnTo>
                    <a:pt x="713" y="72"/>
                  </a:lnTo>
                  <a:lnTo>
                    <a:pt x="720" y="66"/>
                  </a:lnTo>
                  <a:lnTo>
                    <a:pt x="725" y="61"/>
                  </a:lnTo>
                  <a:lnTo>
                    <a:pt x="726" y="58"/>
                  </a:lnTo>
                  <a:lnTo>
                    <a:pt x="730" y="52"/>
                  </a:lnTo>
                  <a:lnTo>
                    <a:pt x="734" y="44"/>
                  </a:lnTo>
                  <a:lnTo>
                    <a:pt x="735" y="40"/>
                  </a:lnTo>
                  <a:lnTo>
                    <a:pt x="738" y="36"/>
                  </a:lnTo>
                  <a:lnTo>
                    <a:pt x="744" y="26"/>
                  </a:lnTo>
                  <a:lnTo>
                    <a:pt x="752" y="11"/>
                  </a:lnTo>
                  <a:lnTo>
                    <a:pt x="758" y="0"/>
                  </a:lnTo>
                  <a:lnTo>
                    <a:pt x="762" y="5"/>
                  </a:lnTo>
                  <a:lnTo>
                    <a:pt x="767" y="11"/>
                  </a:lnTo>
                  <a:lnTo>
                    <a:pt x="773" y="17"/>
                  </a:lnTo>
                  <a:lnTo>
                    <a:pt x="775" y="20"/>
                  </a:lnTo>
                  <a:lnTo>
                    <a:pt x="762" y="40"/>
                  </a:lnTo>
                  <a:lnTo>
                    <a:pt x="749" y="59"/>
                  </a:lnTo>
                  <a:lnTo>
                    <a:pt x="735" y="79"/>
                  </a:lnTo>
                  <a:lnTo>
                    <a:pt x="721" y="98"/>
                  </a:lnTo>
                  <a:lnTo>
                    <a:pt x="707" y="118"/>
                  </a:lnTo>
                  <a:lnTo>
                    <a:pt x="692" y="137"/>
                  </a:lnTo>
                  <a:lnTo>
                    <a:pt x="678" y="156"/>
                  </a:lnTo>
                  <a:lnTo>
                    <a:pt x="663" y="176"/>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8" name="Freeform 15"/>
            <p:cNvSpPr>
              <a:spLocks/>
            </p:cNvSpPr>
            <p:nvPr/>
          </p:nvSpPr>
          <p:spPr bwMode="auto">
            <a:xfrm>
              <a:off x="1991" y="2949"/>
              <a:ext cx="237" cy="188"/>
            </a:xfrm>
            <a:custGeom>
              <a:avLst/>
              <a:gdLst>
                <a:gd name="T0" fmla="*/ 197 w 237"/>
                <a:gd name="T1" fmla="*/ 188 h 188"/>
                <a:gd name="T2" fmla="*/ 191 w 237"/>
                <a:gd name="T3" fmla="*/ 179 h 188"/>
                <a:gd name="T4" fmla="*/ 183 w 237"/>
                <a:gd name="T5" fmla="*/ 170 h 188"/>
                <a:gd name="T6" fmla="*/ 175 w 237"/>
                <a:gd name="T7" fmla="*/ 162 h 188"/>
                <a:gd name="T8" fmla="*/ 167 w 237"/>
                <a:gd name="T9" fmla="*/ 153 h 188"/>
                <a:gd name="T10" fmla="*/ 160 w 237"/>
                <a:gd name="T11" fmla="*/ 145 h 188"/>
                <a:gd name="T12" fmla="*/ 152 w 237"/>
                <a:gd name="T13" fmla="*/ 136 h 188"/>
                <a:gd name="T14" fmla="*/ 144 w 237"/>
                <a:gd name="T15" fmla="*/ 128 h 188"/>
                <a:gd name="T16" fmla="*/ 136 w 237"/>
                <a:gd name="T17" fmla="*/ 119 h 188"/>
                <a:gd name="T18" fmla="*/ 123 w 237"/>
                <a:gd name="T19" fmla="*/ 105 h 188"/>
                <a:gd name="T20" fmla="*/ 110 w 237"/>
                <a:gd name="T21" fmla="*/ 95 h 188"/>
                <a:gd name="T22" fmla="*/ 95 w 237"/>
                <a:gd name="T23" fmla="*/ 86 h 188"/>
                <a:gd name="T24" fmla="*/ 78 w 237"/>
                <a:gd name="T25" fmla="*/ 78 h 188"/>
                <a:gd name="T26" fmla="*/ 61 w 237"/>
                <a:gd name="T27" fmla="*/ 73 h 188"/>
                <a:gd name="T28" fmla="*/ 44 w 237"/>
                <a:gd name="T29" fmla="*/ 66 h 188"/>
                <a:gd name="T30" fmla="*/ 28 w 237"/>
                <a:gd name="T31" fmla="*/ 60 h 188"/>
                <a:gd name="T32" fmla="*/ 11 w 237"/>
                <a:gd name="T33" fmla="*/ 53 h 188"/>
                <a:gd name="T34" fmla="*/ 7 w 237"/>
                <a:gd name="T35" fmla="*/ 51 h 188"/>
                <a:gd name="T36" fmla="*/ 4 w 237"/>
                <a:gd name="T37" fmla="*/ 48 h 188"/>
                <a:gd name="T38" fmla="*/ 2 w 237"/>
                <a:gd name="T39" fmla="*/ 45 h 188"/>
                <a:gd name="T40" fmla="*/ 0 w 237"/>
                <a:gd name="T41" fmla="*/ 42 h 188"/>
                <a:gd name="T42" fmla="*/ 0 w 237"/>
                <a:gd name="T43" fmla="*/ 31 h 188"/>
                <a:gd name="T44" fmla="*/ 4 w 237"/>
                <a:gd name="T45" fmla="*/ 21 h 188"/>
                <a:gd name="T46" fmla="*/ 9 w 237"/>
                <a:gd name="T47" fmla="*/ 13 h 188"/>
                <a:gd name="T48" fmla="*/ 20 w 237"/>
                <a:gd name="T49" fmla="*/ 8 h 188"/>
                <a:gd name="T50" fmla="*/ 33 w 237"/>
                <a:gd name="T51" fmla="*/ 4 h 188"/>
                <a:gd name="T52" fmla="*/ 47 w 237"/>
                <a:gd name="T53" fmla="*/ 1 h 188"/>
                <a:gd name="T54" fmla="*/ 61 w 237"/>
                <a:gd name="T55" fmla="*/ 0 h 188"/>
                <a:gd name="T56" fmla="*/ 75 w 237"/>
                <a:gd name="T57" fmla="*/ 1 h 188"/>
                <a:gd name="T58" fmla="*/ 90 w 237"/>
                <a:gd name="T59" fmla="*/ 4 h 188"/>
                <a:gd name="T60" fmla="*/ 103 w 237"/>
                <a:gd name="T61" fmla="*/ 8 h 188"/>
                <a:gd name="T62" fmla="*/ 116 w 237"/>
                <a:gd name="T63" fmla="*/ 13 h 188"/>
                <a:gd name="T64" fmla="*/ 129 w 237"/>
                <a:gd name="T65" fmla="*/ 20 h 188"/>
                <a:gd name="T66" fmla="*/ 145 w 237"/>
                <a:gd name="T67" fmla="*/ 30 h 188"/>
                <a:gd name="T68" fmla="*/ 161 w 237"/>
                <a:gd name="T69" fmla="*/ 42 h 188"/>
                <a:gd name="T70" fmla="*/ 175 w 237"/>
                <a:gd name="T71" fmla="*/ 53 h 188"/>
                <a:gd name="T72" fmla="*/ 188 w 237"/>
                <a:gd name="T73" fmla="*/ 68 h 188"/>
                <a:gd name="T74" fmla="*/ 201 w 237"/>
                <a:gd name="T75" fmla="*/ 82 h 188"/>
                <a:gd name="T76" fmla="*/ 213 w 237"/>
                <a:gd name="T77" fmla="*/ 97 h 188"/>
                <a:gd name="T78" fmla="*/ 226 w 237"/>
                <a:gd name="T79" fmla="*/ 112 h 188"/>
                <a:gd name="T80" fmla="*/ 237 w 237"/>
                <a:gd name="T81" fmla="*/ 127 h 188"/>
                <a:gd name="T82" fmla="*/ 232 w 237"/>
                <a:gd name="T83" fmla="*/ 135 h 188"/>
                <a:gd name="T84" fmla="*/ 227 w 237"/>
                <a:gd name="T85" fmla="*/ 143 h 188"/>
                <a:gd name="T86" fmla="*/ 222 w 237"/>
                <a:gd name="T87" fmla="*/ 150 h 188"/>
                <a:gd name="T88" fmla="*/ 218 w 237"/>
                <a:gd name="T89" fmla="*/ 158 h 188"/>
                <a:gd name="T90" fmla="*/ 213 w 237"/>
                <a:gd name="T91" fmla="*/ 166 h 188"/>
                <a:gd name="T92" fmla="*/ 208 w 237"/>
                <a:gd name="T93" fmla="*/ 174 h 188"/>
                <a:gd name="T94" fmla="*/ 202 w 237"/>
                <a:gd name="T95" fmla="*/ 180 h 188"/>
                <a:gd name="T96" fmla="*/ 197 w 237"/>
                <a:gd name="T97" fmla="*/ 188 h 1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37"/>
                <a:gd name="T148" fmla="*/ 0 h 188"/>
                <a:gd name="T149" fmla="*/ 237 w 237"/>
                <a:gd name="T150" fmla="*/ 188 h 1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37" h="188">
                  <a:moveTo>
                    <a:pt x="197" y="188"/>
                  </a:moveTo>
                  <a:lnTo>
                    <a:pt x="191" y="179"/>
                  </a:lnTo>
                  <a:lnTo>
                    <a:pt x="183" y="170"/>
                  </a:lnTo>
                  <a:lnTo>
                    <a:pt x="175" y="162"/>
                  </a:lnTo>
                  <a:lnTo>
                    <a:pt x="167" y="153"/>
                  </a:lnTo>
                  <a:lnTo>
                    <a:pt x="160" y="145"/>
                  </a:lnTo>
                  <a:lnTo>
                    <a:pt x="152" y="136"/>
                  </a:lnTo>
                  <a:lnTo>
                    <a:pt x="144" y="128"/>
                  </a:lnTo>
                  <a:lnTo>
                    <a:pt x="136" y="119"/>
                  </a:lnTo>
                  <a:lnTo>
                    <a:pt x="123" y="105"/>
                  </a:lnTo>
                  <a:lnTo>
                    <a:pt x="110" y="95"/>
                  </a:lnTo>
                  <a:lnTo>
                    <a:pt x="95" y="86"/>
                  </a:lnTo>
                  <a:lnTo>
                    <a:pt x="78" y="78"/>
                  </a:lnTo>
                  <a:lnTo>
                    <a:pt x="61" y="73"/>
                  </a:lnTo>
                  <a:lnTo>
                    <a:pt x="44" y="66"/>
                  </a:lnTo>
                  <a:lnTo>
                    <a:pt x="28" y="60"/>
                  </a:lnTo>
                  <a:lnTo>
                    <a:pt x="11" y="53"/>
                  </a:lnTo>
                  <a:lnTo>
                    <a:pt x="7" y="51"/>
                  </a:lnTo>
                  <a:lnTo>
                    <a:pt x="4" y="48"/>
                  </a:lnTo>
                  <a:lnTo>
                    <a:pt x="2" y="45"/>
                  </a:lnTo>
                  <a:lnTo>
                    <a:pt x="0" y="42"/>
                  </a:lnTo>
                  <a:lnTo>
                    <a:pt x="0" y="31"/>
                  </a:lnTo>
                  <a:lnTo>
                    <a:pt x="4" y="21"/>
                  </a:lnTo>
                  <a:lnTo>
                    <a:pt x="9" y="13"/>
                  </a:lnTo>
                  <a:lnTo>
                    <a:pt x="20" y="8"/>
                  </a:lnTo>
                  <a:lnTo>
                    <a:pt x="33" y="4"/>
                  </a:lnTo>
                  <a:lnTo>
                    <a:pt x="47" y="1"/>
                  </a:lnTo>
                  <a:lnTo>
                    <a:pt x="61" y="0"/>
                  </a:lnTo>
                  <a:lnTo>
                    <a:pt x="75" y="1"/>
                  </a:lnTo>
                  <a:lnTo>
                    <a:pt x="90" y="4"/>
                  </a:lnTo>
                  <a:lnTo>
                    <a:pt x="103" y="8"/>
                  </a:lnTo>
                  <a:lnTo>
                    <a:pt x="116" y="13"/>
                  </a:lnTo>
                  <a:lnTo>
                    <a:pt x="129" y="20"/>
                  </a:lnTo>
                  <a:lnTo>
                    <a:pt x="145" y="30"/>
                  </a:lnTo>
                  <a:lnTo>
                    <a:pt x="161" y="42"/>
                  </a:lnTo>
                  <a:lnTo>
                    <a:pt x="175" y="53"/>
                  </a:lnTo>
                  <a:lnTo>
                    <a:pt x="188" y="68"/>
                  </a:lnTo>
                  <a:lnTo>
                    <a:pt x="201" y="82"/>
                  </a:lnTo>
                  <a:lnTo>
                    <a:pt x="213" y="97"/>
                  </a:lnTo>
                  <a:lnTo>
                    <a:pt x="226" y="112"/>
                  </a:lnTo>
                  <a:lnTo>
                    <a:pt x="237" y="127"/>
                  </a:lnTo>
                  <a:lnTo>
                    <a:pt x="232" y="135"/>
                  </a:lnTo>
                  <a:lnTo>
                    <a:pt x="227" y="143"/>
                  </a:lnTo>
                  <a:lnTo>
                    <a:pt x="222" y="150"/>
                  </a:lnTo>
                  <a:lnTo>
                    <a:pt x="218" y="158"/>
                  </a:lnTo>
                  <a:lnTo>
                    <a:pt x="213" y="166"/>
                  </a:lnTo>
                  <a:lnTo>
                    <a:pt x="208" y="174"/>
                  </a:lnTo>
                  <a:lnTo>
                    <a:pt x="202" y="180"/>
                  </a:lnTo>
                  <a:lnTo>
                    <a:pt x="197" y="188"/>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9" name="Freeform 16"/>
            <p:cNvSpPr>
              <a:spLocks/>
            </p:cNvSpPr>
            <p:nvPr/>
          </p:nvSpPr>
          <p:spPr bwMode="auto">
            <a:xfrm>
              <a:off x="2226" y="2783"/>
              <a:ext cx="164" cy="275"/>
            </a:xfrm>
            <a:custGeom>
              <a:avLst/>
              <a:gdLst>
                <a:gd name="T0" fmla="*/ 160 w 164"/>
                <a:gd name="T1" fmla="*/ 91 h 275"/>
                <a:gd name="T2" fmla="*/ 142 w 164"/>
                <a:gd name="T3" fmla="*/ 112 h 275"/>
                <a:gd name="T4" fmla="*/ 125 w 164"/>
                <a:gd name="T5" fmla="*/ 132 h 275"/>
                <a:gd name="T6" fmla="*/ 108 w 164"/>
                <a:gd name="T7" fmla="*/ 155 h 275"/>
                <a:gd name="T8" fmla="*/ 92 w 164"/>
                <a:gd name="T9" fmla="*/ 175 h 275"/>
                <a:gd name="T10" fmla="*/ 75 w 164"/>
                <a:gd name="T11" fmla="*/ 197 h 275"/>
                <a:gd name="T12" fmla="*/ 58 w 164"/>
                <a:gd name="T13" fmla="*/ 218 h 275"/>
                <a:gd name="T14" fmla="*/ 41 w 164"/>
                <a:gd name="T15" fmla="*/ 240 h 275"/>
                <a:gd name="T16" fmla="*/ 23 w 164"/>
                <a:gd name="T17" fmla="*/ 261 h 275"/>
                <a:gd name="T18" fmla="*/ 19 w 164"/>
                <a:gd name="T19" fmla="*/ 266 h 275"/>
                <a:gd name="T20" fmla="*/ 17 w 164"/>
                <a:gd name="T21" fmla="*/ 267 h 275"/>
                <a:gd name="T22" fmla="*/ 14 w 164"/>
                <a:gd name="T23" fmla="*/ 270 h 275"/>
                <a:gd name="T24" fmla="*/ 10 w 164"/>
                <a:gd name="T25" fmla="*/ 275 h 275"/>
                <a:gd name="T26" fmla="*/ 7 w 164"/>
                <a:gd name="T27" fmla="*/ 270 h 275"/>
                <a:gd name="T28" fmla="*/ 4 w 164"/>
                <a:gd name="T29" fmla="*/ 266 h 275"/>
                <a:gd name="T30" fmla="*/ 1 w 164"/>
                <a:gd name="T31" fmla="*/ 262 h 275"/>
                <a:gd name="T32" fmla="*/ 0 w 164"/>
                <a:gd name="T33" fmla="*/ 261 h 275"/>
                <a:gd name="T34" fmla="*/ 5 w 164"/>
                <a:gd name="T35" fmla="*/ 253 h 275"/>
                <a:gd name="T36" fmla="*/ 10 w 164"/>
                <a:gd name="T37" fmla="*/ 248 h 275"/>
                <a:gd name="T38" fmla="*/ 15 w 164"/>
                <a:gd name="T39" fmla="*/ 241 h 275"/>
                <a:gd name="T40" fmla="*/ 22 w 164"/>
                <a:gd name="T41" fmla="*/ 234 h 275"/>
                <a:gd name="T42" fmla="*/ 23 w 164"/>
                <a:gd name="T43" fmla="*/ 232 h 275"/>
                <a:gd name="T44" fmla="*/ 28 w 164"/>
                <a:gd name="T45" fmla="*/ 230 h 275"/>
                <a:gd name="T46" fmla="*/ 33 w 164"/>
                <a:gd name="T47" fmla="*/ 227 h 275"/>
                <a:gd name="T48" fmla="*/ 40 w 164"/>
                <a:gd name="T49" fmla="*/ 222 h 275"/>
                <a:gd name="T50" fmla="*/ 46 w 164"/>
                <a:gd name="T51" fmla="*/ 215 h 275"/>
                <a:gd name="T52" fmla="*/ 50 w 164"/>
                <a:gd name="T53" fmla="*/ 208 h 275"/>
                <a:gd name="T54" fmla="*/ 53 w 164"/>
                <a:gd name="T55" fmla="*/ 199 h 275"/>
                <a:gd name="T56" fmla="*/ 51 w 164"/>
                <a:gd name="T57" fmla="*/ 188 h 275"/>
                <a:gd name="T58" fmla="*/ 55 w 164"/>
                <a:gd name="T59" fmla="*/ 179 h 275"/>
                <a:gd name="T60" fmla="*/ 66 w 164"/>
                <a:gd name="T61" fmla="*/ 165 h 275"/>
                <a:gd name="T62" fmla="*/ 77 w 164"/>
                <a:gd name="T63" fmla="*/ 149 h 275"/>
                <a:gd name="T64" fmla="*/ 88 w 164"/>
                <a:gd name="T65" fmla="*/ 135 h 275"/>
                <a:gd name="T66" fmla="*/ 92 w 164"/>
                <a:gd name="T67" fmla="*/ 132 h 275"/>
                <a:gd name="T68" fmla="*/ 95 w 164"/>
                <a:gd name="T69" fmla="*/ 130 h 275"/>
                <a:gd name="T70" fmla="*/ 99 w 164"/>
                <a:gd name="T71" fmla="*/ 127 h 275"/>
                <a:gd name="T72" fmla="*/ 102 w 164"/>
                <a:gd name="T73" fmla="*/ 125 h 275"/>
                <a:gd name="T74" fmla="*/ 114 w 164"/>
                <a:gd name="T75" fmla="*/ 112 h 275"/>
                <a:gd name="T76" fmla="*/ 120 w 164"/>
                <a:gd name="T77" fmla="*/ 95 h 275"/>
                <a:gd name="T78" fmla="*/ 120 w 164"/>
                <a:gd name="T79" fmla="*/ 79 h 275"/>
                <a:gd name="T80" fmla="*/ 115 w 164"/>
                <a:gd name="T81" fmla="*/ 63 h 275"/>
                <a:gd name="T82" fmla="*/ 110 w 164"/>
                <a:gd name="T83" fmla="*/ 53 h 275"/>
                <a:gd name="T84" fmla="*/ 102 w 164"/>
                <a:gd name="T85" fmla="*/ 35 h 275"/>
                <a:gd name="T86" fmla="*/ 92 w 164"/>
                <a:gd name="T87" fmla="*/ 16 h 275"/>
                <a:gd name="T88" fmla="*/ 83 w 164"/>
                <a:gd name="T89" fmla="*/ 0 h 275"/>
                <a:gd name="T90" fmla="*/ 90 w 164"/>
                <a:gd name="T91" fmla="*/ 4 h 275"/>
                <a:gd name="T92" fmla="*/ 103 w 164"/>
                <a:gd name="T93" fmla="*/ 11 h 275"/>
                <a:gd name="T94" fmla="*/ 119 w 164"/>
                <a:gd name="T95" fmla="*/ 20 h 275"/>
                <a:gd name="T96" fmla="*/ 134 w 164"/>
                <a:gd name="T97" fmla="*/ 31 h 275"/>
                <a:gd name="T98" fmla="*/ 149 w 164"/>
                <a:gd name="T99" fmla="*/ 44 h 275"/>
                <a:gd name="T100" fmla="*/ 159 w 164"/>
                <a:gd name="T101" fmla="*/ 59 h 275"/>
                <a:gd name="T102" fmla="*/ 164 w 164"/>
                <a:gd name="T103" fmla="*/ 74 h 275"/>
                <a:gd name="T104" fmla="*/ 160 w 164"/>
                <a:gd name="T105" fmla="*/ 91 h 27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4"/>
                <a:gd name="T160" fmla="*/ 0 h 275"/>
                <a:gd name="T161" fmla="*/ 164 w 164"/>
                <a:gd name="T162" fmla="*/ 275 h 275"/>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4" h="275">
                  <a:moveTo>
                    <a:pt x="160" y="91"/>
                  </a:moveTo>
                  <a:lnTo>
                    <a:pt x="142" y="112"/>
                  </a:lnTo>
                  <a:lnTo>
                    <a:pt x="125" y="132"/>
                  </a:lnTo>
                  <a:lnTo>
                    <a:pt x="108" y="155"/>
                  </a:lnTo>
                  <a:lnTo>
                    <a:pt x="92" y="175"/>
                  </a:lnTo>
                  <a:lnTo>
                    <a:pt x="75" y="197"/>
                  </a:lnTo>
                  <a:lnTo>
                    <a:pt x="58" y="218"/>
                  </a:lnTo>
                  <a:lnTo>
                    <a:pt x="41" y="240"/>
                  </a:lnTo>
                  <a:lnTo>
                    <a:pt x="23" y="261"/>
                  </a:lnTo>
                  <a:lnTo>
                    <a:pt x="19" y="266"/>
                  </a:lnTo>
                  <a:lnTo>
                    <a:pt x="17" y="267"/>
                  </a:lnTo>
                  <a:lnTo>
                    <a:pt x="14" y="270"/>
                  </a:lnTo>
                  <a:lnTo>
                    <a:pt x="10" y="275"/>
                  </a:lnTo>
                  <a:lnTo>
                    <a:pt x="7" y="270"/>
                  </a:lnTo>
                  <a:lnTo>
                    <a:pt x="4" y="266"/>
                  </a:lnTo>
                  <a:lnTo>
                    <a:pt x="1" y="262"/>
                  </a:lnTo>
                  <a:lnTo>
                    <a:pt x="0" y="261"/>
                  </a:lnTo>
                  <a:lnTo>
                    <a:pt x="5" y="253"/>
                  </a:lnTo>
                  <a:lnTo>
                    <a:pt x="10" y="248"/>
                  </a:lnTo>
                  <a:lnTo>
                    <a:pt x="15" y="241"/>
                  </a:lnTo>
                  <a:lnTo>
                    <a:pt x="22" y="234"/>
                  </a:lnTo>
                  <a:lnTo>
                    <a:pt x="23" y="232"/>
                  </a:lnTo>
                  <a:lnTo>
                    <a:pt x="28" y="230"/>
                  </a:lnTo>
                  <a:lnTo>
                    <a:pt x="33" y="227"/>
                  </a:lnTo>
                  <a:lnTo>
                    <a:pt x="40" y="222"/>
                  </a:lnTo>
                  <a:lnTo>
                    <a:pt x="46" y="215"/>
                  </a:lnTo>
                  <a:lnTo>
                    <a:pt x="50" y="208"/>
                  </a:lnTo>
                  <a:lnTo>
                    <a:pt x="53" y="199"/>
                  </a:lnTo>
                  <a:lnTo>
                    <a:pt x="51" y="188"/>
                  </a:lnTo>
                  <a:lnTo>
                    <a:pt x="55" y="179"/>
                  </a:lnTo>
                  <a:lnTo>
                    <a:pt x="66" y="165"/>
                  </a:lnTo>
                  <a:lnTo>
                    <a:pt x="77" y="149"/>
                  </a:lnTo>
                  <a:lnTo>
                    <a:pt x="88" y="135"/>
                  </a:lnTo>
                  <a:lnTo>
                    <a:pt x="92" y="132"/>
                  </a:lnTo>
                  <a:lnTo>
                    <a:pt x="95" y="130"/>
                  </a:lnTo>
                  <a:lnTo>
                    <a:pt x="99" y="127"/>
                  </a:lnTo>
                  <a:lnTo>
                    <a:pt x="102" y="125"/>
                  </a:lnTo>
                  <a:lnTo>
                    <a:pt x="114" y="112"/>
                  </a:lnTo>
                  <a:lnTo>
                    <a:pt x="120" y="95"/>
                  </a:lnTo>
                  <a:lnTo>
                    <a:pt x="120" y="79"/>
                  </a:lnTo>
                  <a:lnTo>
                    <a:pt x="115" y="63"/>
                  </a:lnTo>
                  <a:lnTo>
                    <a:pt x="110" y="53"/>
                  </a:lnTo>
                  <a:lnTo>
                    <a:pt x="102" y="35"/>
                  </a:lnTo>
                  <a:lnTo>
                    <a:pt x="92" y="16"/>
                  </a:lnTo>
                  <a:lnTo>
                    <a:pt x="83" y="0"/>
                  </a:lnTo>
                  <a:lnTo>
                    <a:pt x="90" y="4"/>
                  </a:lnTo>
                  <a:lnTo>
                    <a:pt x="103" y="11"/>
                  </a:lnTo>
                  <a:lnTo>
                    <a:pt x="119" y="20"/>
                  </a:lnTo>
                  <a:lnTo>
                    <a:pt x="134" y="31"/>
                  </a:lnTo>
                  <a:lnTo>
                    <a:pt x="149" y="44"/>
                  </a:lnTo>
                  <a:lnTo>
                    <a:pt x="159" y="59"/>
                  </a:lnTo>
                  <a:lnTo>
                    <a:pt x="164" y="74"/>
                  </a:lnTo>
                  <a:lnTo>
                    <a:pt x="160" y="91"/>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60" name="Freeform 17"/>
            <p:cNvSpPr>
              <a:spLocks/>
            </p:cNvSpPr>
            <p:nvPr/>
          </p:nvSpPr>
          <p:spPr bwMode="auto">
            <a:xfrm>
              <a:off x="2209" y="2945"/>
              <a:ext cx="57" cy="57"/>
            </a:xfrm>
            <a:custGeom>
              <a:avLst/>
              <a:gdLst>
                <a:gd name="T0" fmla="*/ 0 w 57"/>
                <a:gd name="T1" fmla="*/ 52 h 57"/>
                <a:gd name="T2" fmla="*/ 5 w 57"/>
                <a:gd name="T3" fmla="*/ 44 h 57"/>
                <a:gd name="T4" fmla="*/ 12 w 57"/>
                <a:gd name="T5" fmla="*/ 37 h 57"/>
                <a:gd name="T6" fmla="*/ 18 w 57"/>
                <a:gd name="T7" fmla="*/ 27 h 57"/>
                <a:gd name="T8" fmla="*/ 24 w 57"/>
                <a:gd name="T9" fmla="*/ 20 h 57"/>
                <a:gd name="T10" fmla="*/ 30 w 57"/>
                <a:gd name="T11" fmla="*/ 12 h 57"/>
                <a:gd name="T12" fmla="*/ 35 w 57"/>
                <a:gd name="T13" fmla="*/ 7 h 57"/>
                <a:gd name="T14" fmla="*/ 39 w 57"/>
                <a:gd name="T15" fmla="*/ 2 h 57"/>
                <a:gd name="T16" fmla="*/ 41 w 57"/>
                <a:gd name="T17" fmla="*/ 0 h 57"/>
                <a:gd name="T18" fmla="*/ 46 w 57"/>
                <a:gd name="T19" fmla="*/ 7 h 57"/>
                <a:gd name="T20" fmla="*/ 52 w 57"/>
                <a:gd name="T21" fmla="*/ 16 h 57"/>
                <a:gd name="T22" fmla="*/ 57 w 57"/>
                <a:gd name="T23" fmla="*/ 27 h 57"/>
                <a:gd name="T24" fmla="*/ 57 w 57"/>
                <a:gd name="T25" fmla="*/ 35 h 57"/>
                <a:gd name="T26" fmla="*/ 53 w 57"/>
                <a:gd name="T27" fmla="*/ 43 h 57"/>
                <a:gd name="T28" fmla="*/ 49 w 57"/>
                <a:gd name="T29" fmla="*/ 49 h 57"/>
                <a:gd name="T30" fmla="*/ 43 w 57"/>
                <a:gd name="T31" fmla="*/ 53 h 57"/>
                <a:gd name="T32" fmla="*/ 35 w 57"/>
                <a:gd name="T33" fmla="*/ 56 h 57"/>
                <a:gd name="T34" fmla="*/ 27 w 57"/>
                <a:gd name="T35" fmla="*/ 57 h 57"/>
                <a:gd name="T36" fmla="*/ 18 w 57"/>
                <a:gd name="T37" fmla="*/ 57 h 57"/>
                <a:gd name="T38" fmla="*/ 9 w 57"/>
                <a:gd name="T39" fmla="*/ 55 h 57"/>
                <a:gd name="T40" fmla="*/ 0 w 57"/>
                <a:gd name="T41" fmla="*/ 52 h 5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
                <a:gd name="T64" fmla="*/ 0 h 57"/>
                <a:gd name="T65" fmla="*/ 57 w 57"/>
                <a:gd name="T66" fmla="*/ 57 h 5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 h="57">
                  <a:moveTo>
                    <a:pt x="0" y="52"/>
                  </a:moveTo>
                  <a:lnTo>
                    <a:pt x="5" y="44"/>
                  </a:lnTo>
                  <a:lnTo>
                    <a:pt x="12" y="37"/>
                  </a:lnTo>
                  <a:lnTo>
                    <a:pt x="18" y="27"/>
                  </a:lnTo>
                  <a:lnTo>
                    <a:pt x="24" y="20"/>
                  </a:lnTo>
                  <a:lnTo>
                    <a:pt x="30" y="12"/>
                  </a:lnTo>
                  <a:lnTo>
                    <a:pt x="35" y="7"/>
                  </a:lnTo>
                  <a:lnTo>
                    <a:pt x="39" y="2"/>
                  </a:lnTo>
                  <a:lnTo>
                    <a:pt x="41" y="0"/>
                  </a:lnTo>
                  <a:lnTo>
                    <a:pt x="46" y="7"/>
                  </a:lnTo>
                  <a:lnTo>
                    <a:pt x="52" y="16"/>
                  </a:lnTo>
                  <a:lnTo>
                    <a:pt x="57" y="27"/>
                  </a:lnTo>
                  <a:lnTo>
                    <a:pt x="57" y="35"/>
                  </a:lnTo>
                  <a:lnTo>
                    <a:pt x="53" y="43"/>
                  </a:lnTo>
                  <a:lnTo>
                    <a:pt x="49" y="49"/>
                  </a:lnTo>
                  <a:lnTo>
                    <a:pt x="43" y="53"/>
                  </a:lnTo>
                  <a:lnTo>
                    <a:pt x="35" y="56"/>
                  </a:lnTo>
                  <a:lnTo>
                    <a:pt x="27" y="57"/>
                  </a:lnTo>
                  <a:lnTo>
                    <a:pt x="18" y="57"/>
                  </a:lnTo>
                  <a:lnTo>
                    <a:pt x="9" y="55"/>
                  </a:lnTo>
                  <a:lnTo>
                    <a:pt x="0" y="5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61" name="Freeform 18"/>
            <p:cNvSpPr>
              <a:spLocks/>
            </p:cNvSpPr>
            <p:nvPr/>
          </p:nvSpPr>
          <p:spPr bwMode="auto">
            <a:xfrm>
              <a:off x="2034" y="2963"/>
              <a:ext cx="51" cy="41"/>
            </a:xfrm>
            <a:custGeom>
              <a:avLst/>
              <a:gdLst>
                <a:gd name="T0" fmla="*/ 26 w 51"/>
                <a:gd name="T1" fmla="*/ 0 h 41"/>
                <a:gd name="T2" fmla="*/ 16 w 51"/>
                <a:gd name="T3" fmla="*/ 2 h 41"/>
                <a:gd name="T4" fmla="*/ 8 w 51"/>
                <a:gd name="T5" fmla="*/ 7 h 41"/>
                <a:gd name="T6" fmla="*/ 3 w 51"/>
                <a:gd name="T7" fmla="*/ 13 h 41"/>
                <a:gd name="T8" fmla="*/ 0 w 51"/>
                <a:gd name="T9" fmla="*/ 21 h 41"/>
                <a:gd name="T10" fmla="*/ 3 w 51"/>
                <a:gd name="T11" fmla="*/ 29 h 41"/>
                <a:gd name="T12" fmla="*/ 8 w 51"/>
                <a:gd name="T13" fmla="*/ 34 h 41"/>
                <a:gd name="T14" fmla="*/ 16 w 51"/>
                <a:gd name="T15" fmla="*/ 39 h 41"/>
                <a:gd name="T16" fmla="*/ 26 w 51"/>
                <a:gd name="T17" fmla="*/ 41 h 41"/>
                <a:gd name="T18" fmla="*/ 35 w 51"/>
                <a:gd name="T19" fmla="*/ 39 h 41"/>
                <a:gd name="T20" fmla="*/ 43 w 51"/>
                <a:gd name="T21" fmla="*/ 34 h 41"/>
                <a:gd name="T22" fmla="*/ 48 w 51"/>
                <a:gd name="T23" fmla="*/ 29 h 41"/>
                <a:gd name="T24" fmla="*/ 51 w 51"/>
                <a:gd name="T25" fmla="*/ 21 h 41"/>
                <a:gd name="T26" fmla="*/ 48 w 51"/>
                <a:gd name="T27" fmla="*/ 13 h 41"/>
                <a:gd name="T28" fmla="*/ 43 w 51"/>
                <a:gd name="T29" fmla="*/ 7 h 41"/>
                <a:gd name="T30" fmla="*/ 35 w 51"/>
                <a:gd name="T31" fmla="*/ 2 h 41"/>
                <a:gd name="T32" fmla="*/ 26 w 51"/>
                <a:gd name="T33" fmla="*/ 0 h 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1"/>
                <a:gd name="T52" fmla="*/ 0 h 41"/>
                <a:gd name="T53" fmla="*/ 51 w 51"/>
                <a:gd name="T54" fmla="*/ 41 h 4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1" h="41">
                  <a:moveTo>
                    <a:pt x="26" y="0"/>
                  </a:moveTo>
                  <a:lnTo>
                    <a:pt x="16" y="2"/>
                  </a:lnTo>
                  <a:lnTo>
                    <a:pt x="8" y="7"/>
                  </a:lnTo>
                  <a:lnTo>
                    <a:pt x="3" y="13"/>
                  </a:lnTo>
                  <a:lnTo>
                    <a:pt x="0" y="21"/>
                  </a:lnTo>
                  <a:lnTo>
                    <a:pt x="3" y="29"/>
                  </a:lnTo>
                  <a:lnTo>
                    <a:pt x="8" y="34"/>
                  </a:lnTo>
                  <a:lnTo>
                    <a:pt x="16" y="39"/>
                  </a:lnTo>
                  <a:lnTo>
                    <a:pt x="26" y="41"/>
                  </a:lnTo>
                  <a:lnTo>
                    <a:pt x="35" y="39"/>
                  </a:lnTo>
                  <a:lnTo>
                    <a:pt x="43" y="34"/>
                  </a:lnTo>
                  <a:lnTo>
                    <a:pt x="48" y="29"/>
                  </a:lnTo>
                  <a:lnTo>
                    <a:pt x="51" y="21"/>
                  </a:lnTo>
                  <a:lnTo>
                    <a:pt x="48" y="13"/>
                  </a:lnTo>
                  <a:lnTo>
                    <a:pt x="43" y="7"/>
                  </a:lnTo>
                  <a:lnTo>
                    <a:pt x="35" y="2"/>
                  </a:lnTo>
                  <a:lnTo>
                    <a:pt x="2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82" name="Group 4"/>
          <p:cNvGrpSpPr>
            <a:grpSpLocks/>
          </p:cNvGrpSpPr>
          <p:nvPr/>
        </p:nvGrpSpPr>
        <p:grpSpPr bwMode="auto">
          <a:xfrm>
            <a:off x="226609" y="2241469"/>
            <a:ext cx="1062038" cy="1716088"/>
            <a:chOff x="706" y="1029"/>
            <a:chExt cx="669" cy="1081"/>
          </a:xfrm>
        </p:grpSpPr>
        <p:grpSp>
          <p:nvGrpSpPr>
            <p:cNvPr id="83" name="Group 5"/>
            <p:cNvGrpSpPr>
              <a:grpSpLocks/>
            </p:cNvGrpSpPr>
            <p:nvPr/>
          </p:nvGrpSpPr>
          <p:grpSpPr bwMode="auto">
            <a:xfrm>
              <a:off x="706" y="1310"/>
              <a:ext cx="570" cy="800"/>
              <a:chOff x="3870" y="2092"/>
              <a:chExt cx="570" cy="800"/>
            </a:xfrm>
          </p:grpSpPr>
          <p:sp>
            <p:nvSpPr>
              <p:cNvPr id="85" name="Line 6"/>
              <p:cNvSpPr>
                <a:spLocks noChangeShapeType="1"/>
              </p:cNvSpPr>
              <p:nvPr/>
            </p:nvSpPr>
            <p:spPr bwMode="auto">
              <a:xfrm>
                <a:off x="4238"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6" name="Line 7"/>
              <p:cNvSpPr>
                <a:spLocks noChangeShapeType="1"/>
              </p:cNvSpPr>
              <p:nvPr/>
            </p:nvSpPr>
            <p:spPr bwMode="auto">
              <a:xfrm flipH="1">
                <a:off x="3870"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7" name="AutoShape 8"/>
              <p:cNvSpPr>
                <a:spLocks noChangeArrowheads="1"/>
              </p:cNvSpPr>
              <p:nvPr/>
            </p:nvSpPr>
            <p:spPr bwMode="auto">
              <a:xfrm rot="10800000">
                <a:off x="4122" y="2645"/>
                <a:ext cx="89" cy="70"/>
              </a:xfrm>
              <a:prstGeom prst="pentagon">
                <a:avLst/>
              </a:prstGeom>
              <a:solidFill>
                <a:srgbClr val="CC9900"/>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endParaRPr lang="en-US"/>
              </a:p>
            </p:txBody>
          </p:sp>
          <p:sp>
            <p:nvSpPr>
              <p:cNvPr id="88" name="Freeform 9"/>
              <p:cNvSpPr>
                <a:spLocks/>
              </p:cNvSpPr>
              <p:nvPr/>
            </p:nvSpPr>
            <p:spPr bwMode="auto">
              <a:xfrm>
                <a:off x="4114" y="2691"/>
                <a:ext cx="97" cy="201"/>
              </a:xfrm>
              <a:custGeom>
                <a:avLst/>
                <a:gdLst>
                  <a:gd name="T0" fmla="*/ 35 w 75"/>
                  <a:gd name="T1" fmla="*/ 4 h 156"/>
                  <a:gd name="T2" fmla="*/ 0 w 75"/>
                  <a:gd name="T3" fmla="*/ 147 h 156"/>
                  <a:gd name="T4" fmla="*/ 50 w 75"/>
                  <a:gd name="T5" fmla="*/ 201 h 156"/>
                  <a:gd name="T6" fmla="*/ 97 w 75"/>
                  <a:gd name="T7" fmla="*/ 147 h 156"/>
                  <a:gd name="T8" fmla="*/ 62 w 75"/>
                  <a:gd name="T9" fmla="*/ 0 h 156"/>
                  <a:gd name="T10" fmla="*/ 0 60000 65536"/>
                  <a:gd name="T11" fmla="*/ 0 60000 65536"/>
                  <a:gd name="T12" fmla="*/ 0 60000 65536"/>
                  <a:gd name="T13" fmla="*/ 0 60000 65536"/>
                  <a:gd name="T14" fmla="*/ 0 60000 65536"/>
                  <a:gd name="T15" fmla="*/ 0 w 75"/>
                  <a:gd name="T16" fmla="*/ 0 h 156"/>
                  <a:gd name="T17" fmla="*/ 75 w 75"/>
                  <a:gd name="T18" fmla="*/ 156 h 156"/>
                </a:gdLst>
                <a:ahLst/>
                <a:cxnLst>
                  <a:cxn ang="T10">
                    <a:pos x="T0" y="T1"/>
                  </a:cxn>
                  <a:cxn ang="T11">
                    <a:pos x="T2" y="T3"/>
                  </a:cxn>
                  <a:cxn ang="T12">
                    <a:pos x="T4" y="T5"/>
                  </a:cxn>
                  <a:cxn ang="T13">
                    <a:pos x="T6" y="T7"/>
                  </a:cxn>
                  <a:cxn ang="T14">
                    <a:pos x="T8" y="T9"/>
                  </a:cxn>
                </a:cxnLst>
                <a:rect l="T15" t="T16" r="T17" b="T18"/>
                <a:pathLst>
                  <a:path w="75" h="156">
                    <a:moveTo>
                      <a:pt x="27" y="3"/>
                    </a:moveTo>
                    <a:lnTo>
                      <a:pt x="0" y="114"/>
                    </a:lnTo>
                    <a:lnTo>
                      <a:pt x="39" y="156"/>
                    </a:lnTo>
                    <a:lnTo>
                      <a:pt x="75" y="114"/>
                    </a:lnTo>
                    <a:lnTo>
                      <a:pt x="48" y="0"/>
                    </a:lnTo>
                  </a:path>
                </a:pathLst>
              </a:custGeom>
              <a:solidFill>
                <a:srgbClr val="CC99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anchor="ctr"/>
              <a:lstStyle/>
              <a:p>
                <a:endParaRPr lang="en-US"/>
              </a:p>
            </p:txBody>
          </p:sp>
          <p:sp>
            <p:nvSpPr>
              <p:cNvPr id="89" name="AutoShape 10"/>
              <p:cNvSpPr>
                <a:spLocks noChangeArrowheads="1"/>
              </p:cNvSpPr>
              <p:nvPr/>
            </p:nvSpPr>
            <p:spPr bwMode="auto">
              <a:xfrm>
                <a:off x="3887" y="2092"/>
                <a:ext cx="553" cy="56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pic>
          <p:nvPicPr>
            <p:cNvPr id="84" name="Picture 11" descr="j043265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41241">
              <a:off x="788" y="1029"/>
              <a:ext cx="587" cy="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7416" name="Group 22"/>
          <p:cNvGrpSpPr>
            <a:grpSpLocks/>
          </p:cNvGrpSpPr>
          <p:nvPr/>
        </p:nvGrpSpPr>
        <p:grpSpPr bwMode="auto">
          <a:xfrm>
            <a:off x="195263" y="1668463"/>
            <a:ext cx="1558925" cy="1049337"/>
            <a:chOff x="2984" y="3331"/>
            <a:chExt cx="845" cy="569"/>
          </a:xfrm>
        </p:grpSpPr>
        <p:sp>
          <p:nvSpPr>
            <p:cNvPr id="17435" name="AutoShape 23"/>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7436" name="Group 24"/>
            <p:cNvGrpSpPr>
              <a:grpSpLocks/>
            </p:cNvGrpSpPr>
            <p:nvPr/>
          </p:nvGrpSpPr>
          <p:grpSpPr bwMode="auto">
            <a:xfrm>
              <a:off x="3386" y="3487"/>
              <a:ext cx="443" cy="398"/>
              <a:chOff x="4838" y="2218"/>
              <a:chExt cx="395" cy="355"/>
            </a:xfrm>
          </p:grpSpPr>
          <p:sp>
            <p:nvSpPr>
              <p:cNvPr id="17437" name="Freeform 25"/>
              <p:cNvSpPr>
                <a:spLocks/>
              </p:cNvSpPr>
              <p:nvPr/>
            </p:nvSpPr>
            <p:spPr bwMode="auto">
              <a:xfrm>
                <a:off x="4888" y="2251"/>
                <a:ext cx="294" cy="113"/>
              </a:xfrm>
              <a:custGeom>
                <a:avLst/>
                <a:gdLst>
                  <a:gd name="T0" fmla="*/ 0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0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38" name="Freeform 26"/>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39" name="Freeform 27"/>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0" name="Freeform 28"/>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1" name="Freeform 29"/>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2" name="Freeform 30"/>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3" name="Freeform 31"/>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4" name="Rectangle 32"/>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7445" name="Rectangle 33"/>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7446" name="Freeform 34"/>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7" name="Rectangle 35"/>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Tree>
    <p:extLst>
      <p:ext uri="{BB962C8B-B14F-4D97-AF65-F5344CB8AC3E}">
        <p14:creationId xmlns:p14="http://schemas.microsoft.com/office/powerpoint/2010/main" val="2574475203"/>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60" name="Picture 17" descr="claimcenter.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80239" y="1155700"/>
            <a:ext cx="1184275" cy="118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|EOS~017|</a:t>
            </a:r>
            <a:endParaRPr lang="en-US" sz="100" dirty="0" err="1" smtClean="0">
              <a:solidFill>
                <a:srgbClr val="FFFFFF"/>
              </a:solidFill>
              <a:latin typeface="Arial"/>
              <a:cs typeface="Calibri" pitchFamily="34" charset="0"/>
            </a:endParaRPr>
          </a:p>
        </p:txBody>
      </p:sp>
      <p:sp>
        <p:nvSpPr>
          <p:cNvPr id="18434" name="Rectangle 2"/>
          <p:cNvSpPr>
            <a:spLocks noGrp="1" noChangeArrowheads="1"/>
          </p:cNvSpPr>
          <p:nvPr>
            <p:ph type="title"/>
          </p:nvPr>
        </p:nvSpPr>
        <p:spPr/>
        <p:txBody>
          <a:bodyPr/>
          <a:lstStyle/>
          <a:p>
            <a:pPr eaLnBrk="1" hangingPunct="1"/>
            <a:r>
              <a:rPr lang="en-US" dirty="0" smtClean="0"/>
              <a:t>Adding a </a:t>
            </a:r>
            <a:r>
              <a:rPr lang="en-US" dirty="0" smtClean="0"/>
              <a:t>contact </a:t>
            </a:r>
            <a:r>
              <a:rPr lang="en-US" dirty="0" smtClean="0"/>
              <a:t>within ClaimCenter</a:t>
            </a:r>
          </a:p>
        </p:txBody>
      </p:sp>
      <p:sp>
        <p:nvSpPr>
          <p:cNvPr id="18435" name="Text Box 3"/>
          <p:cNvSpPr txBox="1">
            <a:spLocks noChangeArrowheads="1"/>
          </p:cNvSpPr>
          <p:nvPr/>
        </p:nvSpPr>
        <p:spPr bwMode="auto">
          <a:xfrm>
            <a:off x="7107238" y="1441450"/>
            <a:ext cx="11080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1800" b="1"/>
              <a:t>Address</a:t>
            </a:r>
            <a:br>
              <a:rPr lang="en-US" sz="1800" b="1"/>
            </a:br>
            <a:r>
              <a:rPr lang="en-US" sz="1800" b="1"/>
              <a:t>Book</a:t>
            </a:r>
          </a:p>
        </p:txBody>
      </p:sp>
      <p:grpSp>
        <p:nvGrpSpPr>
          <p:cNvPr id="18437" name="Group 19"/>
          <p:cNvGrpSpPr>
            <a:grpSpLocks/>
          </p:cNvGrpSpPr>
          <p:nvPr/>
        </p:nvGrpSpPr>
        <p:grpSpPr bwMode="auto">
          <a:xfrm>
            <a:off x="2476500" y="2447925"/>
            <a:ext cx="692150" cy="511175"/>
            <a:chOff x="2083" y="1606"/>
            <a:chExt cx="1489" cy="1097"/>
          </a:xfrm>
        </p:grpSpPr>
        <p:sp>
          <p:nvSpPr>
            <p:cNvPr id="18507" name="Rectangle 20"/>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8508" name="Freeform 21"/>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8509" name="Freeform 22"/>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8510" name="Freeform 23"/>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8511" name="Freeform 24"/>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8512" name="Rectangle 25"/>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8513" name="Rectangle 26"/>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8514" name="AutoShape 27"/>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8515" name="Freeform 28"/>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8516" name="Freeform 29"/>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8517" name="Rectangle 30"/>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8518" name="Rectangle 31"/>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8519" name="Rectangle 32"/>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8520" name="Group 33"/>
            <p:cNvGrpSpPr>
              <a:grpSpLocks/>
            </p:cNvGrpSpPr>
            <p:nvPr/>
          </p:nvGrpSpPr>
          <p:grpSpPr bwMode="auto">
            <a:xfrm>
              <a:off x="2221" y="1871"/>
              <a:ext cx="518" cy="782"/>
              <a:chOff x="2400" y="1656"/>
              <a:chExt cx="752" cy="1136"/>
            </a:xfrm>
          </p:grpSpPr>
          <p:sp>
            <p:nvSpPr>
              <p:cNvPr id="18533" name="Freeform 34"/>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8534" name="Freeform 35"/>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535" name="Freeform 36"/>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536" name="Freeform 37"/>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537" name="Freeform 38"/>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8538" name="Line 39"/>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39" name="Line 40"/>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8521" name="Group 41"/>
            <p:cNvGrpSpPr>
              <a:grpSpLocks/>
            </p:cNvGrpSpPr>
            <p:nvPr/>
          </p:nvGrpSpPr>
          <p:grpSpPr bwMode="auto">
            <a:xfrm rot="-6511945">
              <a:off x="2834" y="1842"/>
              <a:ext cx="518" cy="783"/>
              <a:chOff x="2400" y="1656"/>
              <a:chExt cx="752" cy="1136"/>
            </a:xfrm>
          </p:grpSpPr>
          <p:sp>
            <p:nvSpPr>
              <p:cNvPr id="18526" name="Freeform 42"/>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8527" name="Freeform 43"/>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528" name="Freeform 44"/>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529" name="Freeform 45"/>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530" name="Freeform 46"/>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531" name="Line 47"/>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532" name="Line 48"/>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8522" name="Freeform 49"/>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8523" name="Freeform 50"/>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8524" name="Rectangle 51"/>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8525" name="Rectangle 52"/>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8438" name="AutoShape 53"/>
          <p:cNvSpPr>
            <a:spLocks noChangeArrowheads="1"/>
          </p:cNvSpPr>
          <p:nvPr/>
        </p:nvSpPr>
        <p:spPr bwMode="auto">
          <a:xfrm>
            <a:off x="2913063" y="2657475"/>
            <a:ext cx="984250" cy="98425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18439" name="Line 54"/>
          <p:cNvSpPr>
            <a:spLocks noChangeShapeType="1"/>
          </p:cNvSpPr>
          <p:nvPr/>
        </p:nvSpPr>
        <p:spPr bwMode="auto">
          <a:xfrm flipH="1">
            <a:off x="2638425" y="3095625"/>
            <a:ext cx="2809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40" name="Line 55"/>
          <p:cNvSpPr>
            <a:spLocks noChangeShapeType="1"/>
          </p:cNvSpPr>
          <p:nvPr/>
        </p:nvSpPr>
        <p:spPr bwMode="auto">
          <a:xfrm flipV="1">
            <a:off x="2638425" y="2832100"/>
            <a:ext cx="0" cy="26352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41" name="Text Box 56"/>
          <p:cNvSpPr txBox="1">
            <a:spLocks noChangeArrowheads="1"/>
          </p:cNvSpPr>
          <p:nvPr/>
        </p:nvSpPr>
        <p:spPr bwMode="auto">
          <a:xfrm>
            <a:off x="492125" y="2411413"/>
            <a:ext cx="19002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r" eaLnBrk="1" hangingPunct="1"/>
            <a:r>
              <a:rPr lang="en-US" sz="1800" b="1" dirty="0"/>
              <a:t>Claim</a:t>
            </a:r>
            <a:br>
              <a:rPr lang="en-US" sz="1800" b="1" dirty="0"/>
            </a:br>
            <a:r>
              <a:rPr lang="en-US" sz="1800" b="1" dirty="0" smtClean="0"/>
              <a:t>000-00-002001</a:t>
            </a:r>
            <a:endParaRPr lang="en-US" sz="1800" b="1" dirty="0"/>
          </a:p>
        </p:txBody>
      </p:sp>
      <p:sp>
        <p:nvSpPr>
          <p:cNvPr id="18442" name="Text Box 57"/>
          <p:cNvSpPr txBox="1">
            <a:spLocks noChangeArrowheads="1"/>
          </p:cNvSpPr>
          <p:nvPr/>
        </p:nvSpPr>
        <p:spPr bwMode="auto">
          <a:xfrm>
            <a:off x="681038" y="2984175"/>
            <a:ext cx="190023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r" eaLnBrk="1" hangingPunct="1"/>
            <a:r>
              <a:rPr lang="en-US" sz="1800" b="1" dirty="0" smtClean="0"/>
              <a:t>Stanley Poole</a:t>
            </a:r>
            <a:r>
              <a:rPr lang="en-US" sz="1800" b="1" dirty="0"/>
              <a:t/>
            </a:r>
            <a:br>
              <a:rPr lang="en-US" sz="1800" b="1" dirty="0"/>
            </a:br>
            <a:r>
              <a:rPr lang="en-US" sz="1800" b="1" dirty="0"/>
              <a:t>(witness)</a:t>
            </a:r>
          </a:p>
        </p:txBody>
      </p:sp>
      <p:sp>
        <p:nvSpPr>
          <p:cNvPr id="18443" name="Rectangle 58"/>
          <p:cNvSpPr>
            <a:spLocks noChangeArrowheads="1"/>
          </p:cNvSpPr>
          <p:nvPr/>
        </p:nvSpPr>
        <p:spPr bwMode="auto">
          <a:xfrm>
            <a:off x="544513" y="1076325"/>
            <a:ext cx="3517900" cy="5327650"/>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8444" name="Rectangle 59"/>
          <p:cNvSpPr>
            <a:spLocks noChangeArrowheads="1"/>
          </p:cNvSpPr>
          <p:nvPr/>
        </p:nvSpPr>
        <p:spPr bwMode="auto">
          <a:xfrm>
            <a:off x="5351463" y="1104900"/>
            <a:ext cx="3517900" cy="5327650"/>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18445" name="Group 60"/>
          <p:cNvGrpSpPr>
            <a:grpSpLocks/>
          </p:cNvGrpSpPr>
          <p:nvPr/>
        </p:nvGrpSpPr>
        <p:grpSpPr bwMode="auto">
          <a:xfrm>
            <a:off x="2427288" y="5359663"/>
            <a:ext cx="692150" cy="511175"/>
            <a:chOff x="2083" y="1606"/>
            <a:chExt cx="1489" cy="1097"/>
          </a:xfrm>
        </p:grpSpPr>
        <p:sp>
          <p:nvSpPr>
            <p:cNvPr id="18474" name="Rectangle 61"/>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8475" name="Freeform 62"/>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8476" name="Freeform 63"/>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8477" name="Freeform 64"/>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8478" name="Freeform 65"/>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8479" name="Rectangle 66"/>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8480" name="Rectangle 67"/>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8481" name="AutoShape 68"/>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8482" name="Freeform 69"/>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8483" name="Freeform 70"/>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8484" name="Rectangle 71"/>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8485" name="Rectangle 72"/>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8486" name="Rectangle 73"/>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8487" name="Group 74"/>
            <p:cNvGrpSpPr>
              <a:grpSpLocks/>
            </p:cNvGrpSpPr>
            <p:nvPr/>
          </p:nvGrpSpPr>
          <p:grpSpPr bwMode="auto">
            <a:xfrm>
              <a:off x="2221" y="1871"/>
              <a:ext cx="518" cy="782"/>
              <a:chOff x="2400" y="1656"/>
              <a:chExt cx="752" cy="1136"/>
            </a:xfrm>
          </p:grpSpPr>
          <p:sp>
            <p:nvSpPr>
              <p:cNvPr id="18500" name="Freeform 7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8501" name="Freeform 7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502" name="Freeform 7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503" name="Freeform 7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504" name="Freeform 7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8505" name="Line 8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06" name="Line 8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8488" name="Group 82"/>
            <p:cNvGrpSpPr>
              <a:grpSpLocks/>
            </p:cNvGrpSpPr>
            <p:nvPr/>
          </p:nvGrpSpPr>
          <p:grpSpPr bwMode="auto">
            <a:xfrm rot="-6511945">
              <a:off x="2834" y="1842"/>
              <a:ext cx="518" cy="783"/>
              <a:chOff x="2400" y="1656"/>
              <a:chExt cx="752" cy="1136"/>
            </a:xfrm>
          </p:grpSpPr>
          <p:sp>
            <p:nvSpPr>
              <p:cNvPr id="18493" name="Freeform 8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8494" name="Freeform 8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495" name="Freeform 8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496" name="Freeform 8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497" name="Freeform 8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498" name="Line 8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99" name="Line 8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8489" name="Freeform 90"/>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8490" name="Freeform 91"/>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8491" name="Rectangle 92"/>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8492" name="Rectangle 93"/>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8446" name="AutoShape 94"/>
          <p:cNvSpPr>
            <a:spLocks noChangeArrowheads="1"/>
          </p:cNvSpPr>
          <p:nvPr/>
        </p:nvSpPr>
        <p:spPr bwMode="auto">
          <a:xfrm>
            <a:off x="2863850" y="5569213"/>
            <a:ext cx="984250" cy="98425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18447" name="Line 95"/>
          <p:cNvSpPr>
            <a:spLocks noChangeShapeType="1"/>
          </p:cNvSpPr>
          <p:nvPr/>
        </p:nvSpPr>
        <p:spPr bwMode="auto">
          <a:xfrm flipH="1">
            <a:off x="2589213" y="5805488"/>
            <a:ext cx="28098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48" name="Line 96"/>
          <p:cNvSpPr>
            <a:spLocks noChangeShapeType="1"/>
          </p:cNvSpPr>
          <p:nvPr/>
        </p:nvSpPr>
        <p:spPr bwMode="auto">
          <a:xfrm flipV="1">
            <a:off x="2589213" y="5541963"/>
            <a:ext cx="0" cy="26352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49" name="Text Box 97"/>
          <p:cNvSpPr txBox="1">
            <a:spLocks noChangeArrowheads="1"/>
          </p:cNvSpPr>
          <p:nvPr/>
        </p:nvSpPr>
        <p:spPr bwMode="auto">
          <a:xfrm>
            <a:off x="469900" y="5416813"/>
            <a:ext cx="19002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r" eaLnBrk="1" hangingPunct="1"/>
            <a:r>
              <a:rPr lang="en-US" sz="1800" b="1" dirty="0">
                <a:solidFill>
                  <a:srgbClr val="006600"/>
                </a:solidFill>
              </a:rPr>
              <a:t>Claim</a:t>
            </a:r>
            <a:br>
              <a:rPr lang="en-US" sz="1800" b="1" dirty="0">
                <a:solidFill>
                  <a:srgbClr val="006600"/>
                </a:solidFill>
              </a:rPr>
            </a:br>
            <a:r>
              <a:rPr lang="en-US" sz="1800" b="1" dirty="0">
                <a:solidFill>
                  <a:srgbClr val="006600"/>
                </a:solidFill>
              </a:rPr>
              <a:t>908-00-230166</a:t>
            </a:r>
          </a:p>
        </p:txBody>
      </p:sp>
      <p:sp>
        <p:nvSpPr>
          <p:cNvPr id="18450" name="Text Box 98"/>
          <p:cNvSpPr txBox="1">
            <a:spLocks noChangeArrowheads="1"/>
          </p:cNvSpPr>
          <p:nvPr/>
        </p:nvSpPr>
        <p:spPr bwMode="auto">
          <a:xfrm>
            <a:off x="846138" y="6080388"/>
            <a:ext cx="1900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1800" b="1">
                <a:solidFill>
                  <a:srgbClr val="006600"/>
                </a:solidFill>
              </a:rPr>
              <a:t>Dr. Matt Sawyer</a:t>
            </a:r>
          </a:p>
        </p:txBody>
      </p:sp>
      <p:sp>
        <p:nvSpPr>
          <p:cNvPr id="18451" name="AutoShape 99"/>
          <p:cNvSpPr>
            <a:spLocks noChangeArrowheads="1"/>
          </p:cNvSpPr>
          <p:nvPr/>
        </p:nvSpPr>
        <p:spPr bwMode="auto">
          <a:xfrm>
            <a:off x="5513388" y="3983038"/>
            <a:ext cx="984250" cy="98425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18452" name="Line 100"/>
          <p:cNvSpPr>
            <a:spLocks noChangeShapeType="1"/>
          </p:cNvSpPr>
          <p:nvPr/>
        </p:nvSpPr>
        <p:spPr bwMode="auto">
          <a:xfrm flipV="1">
            <a:off x="6008688" y="4965698"/>
            <a:ext cx="0" cy="1135326"/>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8453" name="Line 101"/>
          <p:cNvSpPr>
            <a:spLocks noChangeShapeType="1"/>
          </p:cNvSpPr>
          <p:nvPr/>
        </p:nvSpPr>
        <p:spPr bwMode="auto">
          <a:xfrm>
            <a:off x="3876675" y="6101025"/>
            <a:ext cx="2124075" cy="0"/>
          </a:xfrm>
          <a:prstGeom prst="line">
            <a:avLst/>
          </a:prstGeom>
          <a:noFill/>
          <a:ln w="28575">
            <a:solidFill>
              <a:srgbClr val="777777"/>
            </a:solidFill>
            <a:round/>
            <a:headEnd type="triangle" w="med" len="me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54" name="Text Box 102"/>
          <p:cNvSpPr txBox="1">
            <a:spLocks noChangeArrowheads="1"/>
          </p:cNvSpPr>
          <p:nvPr/>
        </p:nvSpPr>
        <p:spPr bwMode="auto">
          <a:xfrm>
            <a:off x="6583363" y="4344988"/>
            <a:ext cx="25606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1800" b="1" dirty="0"/>
              <a:t>Dr. Matt Sawyer (AB)</a:t>
            </a:r>
          </a:p>
        </p:txBody>
      </p:sp>
      <p:sp>
        <p:nvSpPr>
          <p:cNvPr id="18455" name="Text Box 103"/>
          <p:cNvSpPr txBox="1">
            <a:spLocks noChangeArrowheads="1"/>
          </p:cNvSpPr>
          <p:nvPr/>
        </p:nvSpPr>
        <p:spPr bwMode="auto">
          <a:xfrm>
            <a:off x="2600885" y="1527855"/>
            <a:ext cx="143989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1800" b="1" dirty="0">
                <a:solidFill>
                  <a:srgbClr val="C00000"/>
                </a:solidFill>
              </a:rPr>
              <a:t>Adding </a:t>
            </a:r>
            <a:r>
              <a:rPr lang="en-US" sz="1800" b="1" dirty="0" smtClean="0">
                <a:solidFill>
                  <a:srgbClr val="C00000"/>
                </a:solidFill>
              </a:rPr>
              <a:t>a New Contact (non-vendor)</a:t>
            </a:r>
            <a:endParaRPr lang="en-US" sz="1800" b="1" dirty="0">
              <a:solidFill>
                <a:srgbClr val="C00000"/>
              </a:solidFill>
            </a:endParaRPr>
          </a:p>
        </p:txBody>
      </p:sp>
      <p:sp>
        <p:nvSpPr>
          <p:cNvPr id="18456" name="Text Box 104"/>
          <p:cNvSpPr txBox="1">
            <a:spLocks noChangeArrowheads="1"/>
          </p:cNvSpPr>
          <p:nvPr/>
        </p:nvSpPr>
        <p:spPr bwMode="auto">
          <a:xfrm>
            <a:off x="1904794" y="4692650"/>
            <a:ext cx="214153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1800" b="1" dirty="0">
                <a:solidFill>
                  <a:srgbClr val="C00000"/>
                </a:solidFill>
              </a:rPr>
              <a:t>Adding an</a:t>
            </a:r>
            <a:br>
              <a:rPr lang="en-US" sz="1800" b="1" dirty="0">
                <a:solidFill>
                  <a:srgbClr val="C00000"/>
                </a:solidFill>
              </a:rPr>
            </a:br>
            <a:r>
              <a:rPr lang="en-US" sz="1800" b="1" dirty="0">
                <a:solidFill>
                  <a:srgbClr val="C00000"/>
                </a:solidFill>
              </a:rPr>
              <a:t>Existing Contact</a:t>
            </a:r>
          </a:p>
        </p:txBody>
      </p:sp>
      <p:sp>
        <p:nvSpPr>
          <p:cNvPr id="18457" name="AutoShape 105"/>
          <p:cNvSpPr>
            <a:spLocks noChangeArrowheads="1"/>
          </p:cNvSpPr>
          <p:nvPr/>
        </p:nvSpPr>
        <p:spPr bwMode="auto">
          <a:xfrm rot="2186541">
            <a:off x="3454400" y="2459038"/>
            <a:ext cx="636588" cy="636587"/>
          </a:xfrm>
          <a:prstGeom prst="star4">
            <a:avLst>
              <a:gd name="adj" fmla="val 14102"/>
            </a:avLst>
          </a:prstGeom>
          <a:solidFill>
            <a:schemeClr val="folHlink"/>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8458" name="AutoShape 106"/>
          <p:cNvSpPr>
            <a:spLocks noChangeArrowheads="1"/>
          </p:cNvSpPr>
          <p:nvPr/>
        </p:nvSpPr>
        <p:spPr bwMode="auto">
          <a:xfrm rot="2186541">
            <a:off x="3387725" y="5358075"/>
            <a:ext cx="636588" cy="636588"/>
          </a:xfrm>
          <a:prstGeom prst="star4">
            <a:avLst>
              <a:gd name="adj" fmla="val 14102"/>
            </a:avLst>
          </a:prstGeom>
          <a:solidFill>
            <a:schemeClr val="folHlink"/>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nvGrpSpPr>
          <p:cNvPr id="18459" name="Group 108"/>
          <p:cNvGrpSpPr>
            <a:grpSpLocks/>
          </p:cNvGrpSpPr>
          <p:nvPr/>
        </p:nvGrpSpPr>
        <p:grpSpPr bwMode="auto">
          <a:xfrm>
            <a:off x="242888" y="1576388"/>
            <a:ext cx="1243012" cy="836612"/>
            <a:chOff x="2984" y="3331"/>
            <a:chExt cx="845" cy="569"/>
          </a:xfrm>
        </p:grpSpPr>
        <p:sp>
          <p:nvSpPr>
            <p:cNvPr id="18461" name="AutoShape 109"/>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8462" name="Group 110"/>
            <p:cNvGrpSpPr>
              <a:grpSpLocks/>
            </p:cNvGrpSpPr>
            <p:nvPr/>
          </p:nvGrpSpPr>
          <p:grpSpPr bwMode="auto">
            <a:xfrm>
              <a:off x="3386" y="3487"/>
              <a:ext cx="443" cy="398"/>
              <a:chOff x="4838" y="2218"/>
              <a:chExt cx="395" cy="355"/>
            </a:xfrm>
          </p:grpSpPr>
          <p:sp>
            <p:nvSpPr>
              <p:cNvPr id="18463" name="Freeform 111"/>
              <p:cNvSpPr>
                <a:spLocks/>
              </p:cNvSpPr>
              <p:nvPr/>
            </p:nvSpPr>
            <p:spPr bwMode="auto">
              <a:xfrm>
                <a:off x="4888" y="2251"/>
                <a:ext cx="294" cy="113"/>
              </a:xfrm>
              <a:custGeom>
                <a:avLst/>
                <a:gdLst>
                  <a:gd name="T0" fmla="*/ 0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0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64" name="Freeform 112"/>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65" name="Freeform 113"/>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66" name="Freeform 114"/>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67" name="Freeform 115"/>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68" name="Freeform 116"/>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69" name="Freeform 117"/>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70" name="Rectangle 118"/>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8471" name="Rectangle 119"/>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8472" name="Freeform 120"/>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73" name="Rectangle 121"/>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140" name="Group 139"/>
          <p:cNvGrpSpPr/>
          <p:nvPr/>
        </p:nvGrpSpPr>
        <p:grpSpPr>
          <a:xfrm>
            <a:off x="7033332" y="2129858"/>
            <a:ext cx="1136650" cy="1066800"/>
            <a:chOff x="6781800" y="1524000"/>
            <a:chExt cx="1136650" cy="1066800"/>
          </a:xfrm>
        </p:grpSpPr>
        <p:pic>
          <p:nvPicPr>
            <p:cNvPr id="141"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2379" y="1524000"/>
              <a:ext cx="994672" cy="993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142" name="Content Placeholder 5"/>
            <p:cNvSpPr txBox="1">
              <a:spLocks/>
            </p:cNvSpPr>
            <p:nvPr/>
          </p:nvSpPr>
          <p:spPr bwMode="auto">
            <a:xfrm>
              <a:off x="6781800" y="2300287"/>
              <a:ext cx="1136650" cy="290513"/>
            </a:xfrm>
            <a:prstGeom prst="rect">
              <a:avLst/>
            </a:prstGeom>
            <a:noFill/>
            <a:ln w="9525">
              <a:noFill/>
              <a:miter lim="800000"/>
              <a:headEnd/>
              <a:tailEnd/>
            </a:ln>
          </p:spPr>
          <p:txBody>
            <a:bodyPr lIns="0" tIns="0" rIns="0" bIns="0"/>
            <a:lstStyle/>
            <a:p>
              <a:pPr marL="457200" indent="-457200" algn="ctr" eaLnBrk="0" hangingPunct="0">
                <a:spcBef>
                  <a:spcPct val="40000"/>
                </a:spcBef>
                <a:buClr>
                  <a:srgbClr val="04628C"/>
                </a:buClr>
                <a:buSzPct val="90000"/>
                <a:buFont typeface="Arial" pitchFamily="34" charset="0"/>
                <a:buNone/>
                <a:defRPr/>
              </a:pPr>
              <a:r>
                <a:rPr lang="en-US" sz="1100" kern="0" dirty="0">
                  <a:solidFill>
                    <a:schemeClr val="tx1"/>
                  </a:solidFill>
                  <a:latin typeface="Arial Narrow" pitchFamily="34" charset="0"/>
                  <a:cs typeface="+mn-cs"/>
                </a:rPr>
                <a:t>ContactManager</a:t>
              </a:r>
            </a:p>
          </p:txBody>
        </p:sp>
      </p:grpSp>
      <p:grpSp>
        <p:nvGrpSpPr>
          <p:cNvPr id="143" name="Group 4"/>
          <p:cNvGrpSpPr>
            <a:grpSpLocks/>
          </p:cNvGrpSpPr>
          <p:nvPr/>
        </p:nvGrpSpPr>
        <p:grpSpPr bwMode="auto">
          <a:xfrm>
            <a:off x="5975350" y="936392"/>
            <a:ext cx="1109663" cy="969963"/>
            <a:chOff x="1305" y="2500"/>
            <a:chExt cx="1138" cy="995"/>
          </a:xfrm>
        </p:grpSpPr>
        <p:sp>
          <p:nvSpPr>
            <p:cNvPr id="144" name="Freeform 5"/>
            <p:cNvSpPr>
              <a:spLocks/>
            </p:cNvSpPr>
            <p:nvPr/>
          </p:nvSpPr>
          <p:spPr bwMode="auto">
            <a:xfrm>
              <a:off x="1305" y="2500"/>
              <a:ext cx="1138" cy="995"/>
            </a:xfrm>
            <a:custGeom>
              <a:avLst/>
              <a:gdLst>
                <a:gd name="T0" fmla="*/ 444 w 1138"/>
                <a:gd name="T1" fmla="*/ 1 h 995"/>
                <a:gd name="T2" fmla="*/ 490 w 1138"/>
                <a:gd name="T3" fmla="*/ 0 h 995"/>
                <a:gd name="T4" fmla="*/ 532 w 1138"/>
                <a:gd name="T5" fmla="*/ 10 h 995"/>
                <a:gd name="T6" fmla="*/ 600 w 1138"/>
                <a:gd name="T7" fmla="*/ 40 h 995"/>
                <a:gd name="T8" fmla="*/ 668 w 1138"/>
                <a:gd name="T9" fmla="*/ 66 h 995"/>
                <a:gd name="T10" fmla="*/ 737 w 1138"/>
                <a:gd name="T11" fmla="*/ 85 h 995"/>
                <a:gd name="T12" fmla="*/ 808 w 1138"/>
                <a:gd name="T13" fmla="*/ 101 h 995"/>
                <a:gd name="T14" fmla="*/ 882 w 1138"/>
                <a:gd name="T15" fmla="*/ 111 h 995"/>
                <a:gd name="T16" fmla="*/ 953 w 1138"/>
                <a:gd name="T17" fmla="*/ 125 h 995"/>
                <a:gd name="T18" fmla="*/ 1011 w 1138"/>
                <a:gd name="T19" fmla="*/ 163 h 995"/>
                <a:gd name="T20" fmla="*/ 1036 w 1138"/>
                <a:gd name="T21" fmla="*/ 228 h 995"/>
                <a:gd name="T22" fmla="*/ 1082 w 1138"/>
                <a:gd name="T23" fmla="*/ 252 h 995"/>
                <a:gd name="T24" fmla="*/ 1120 w 1138"/>
                <a:gd name="T25" fmla="*/ 287 h 995"/>
                <a:gd name="T26" fmla="*/ 1137 w 1138"/>
                <a:gd name="T27" fmla="*/ 342 h 995"/>
                <a:gd name="T28" fmla="*/ 1134 w 1138"/>
                <a:gd name="T29" fmla="*/ 405 h 995"/>
                <a:gd name="T30" fmla="*/ 1111 w 1138"/>
                <a:gd name="T31" fmla="*/ 463 h 995"/>
                <a:gd name="T32" fmla="*/ 1068 w 1138"/>
                <a:gd name="T33" fmla="*/ 515 h 995"/>
                <a:gd name="T34" fmla="*/ 1026 w 1138"/>
                <a:gd name="T35" fmla="*/ 568 h 995"/>
                <a:gd name="T36" fmla="*/ 984 w 1138"/>
                <a:gd name="T37" fmla="*/ 627 h 995"/>
                <a:gd name="T38" fmla="*/ 965 w 1138"/>
                <a:gd name="T39" fmla="*/ 646 h 995"/>
                <a:gd name="T40" fmla="*/ 947 w 1138"/>
                <a:gd name="T41" fmla="*/ 664 h 995"/>
                <a:gd name="T42" fmla="*/ 918 w 1138"/>
                <a:gd name="T43" fmla="*/ 712 h 995"/>
                <a:gd name="T44" fmla="*/ 864 w 1138"/>
                <a:gd name="T45" fmla="*/ 796 h 995"/>
                <a:gd name="T46" fmla="*/ 802 w 1138"/>
                <a:gd name="T47" fmla="*/ 881 h 995"/>
                <a:gd name="T48" fmla="*/ 763 w 1138"/>
                <a:gd name="T49" fmla="*/ 927 h 995"/>
                <a:gd name="T50" fmla="*/ 741 w 1138"/>
                <a:gd name="T51" fmla="*/ 950 h 995"/>
                <a:gd name="T52" fmla="*/ 715 w 1138"/>
                <a:gd name="T53" fmla="*/ 963 h 995"/>
                <a:gd name="T54" fmla="*/ 670 w 1138"/>
                <a:gd name="T55" fmla="*/ 975 h 995"/>
                <a:gd name="T56" fmla="*/ 627 w 1138"/>
                <a:gd name="T57" fmla="*/ 985 h 995"/>
                <a:gd name="T58" fmla="*/ 584 w 1138"/>
                <a:gd name="T59" fmla="*/ 993 h 995"/>
                <a:gd name="T60" fmla="*/ 543 w 1138"/>
                <a:gd name="T61" fmla="*/ 995 h 995"/>
                <a:gd name="T62" fmla="*/ 500 w 1138"/>
                <a:gd name="T63" fmla="*/ 988 h 995"/>
                <a:gd name="T64" fmla="*/ 464 w 1138"/>
                <a:gd name="T65" fmla="*/ 975 h 995"/>
                <a:gd name="T66" fmla="*/ 421 w 1138"/>
                <a:gd name="T67" fmla="*/ 953 h 995"/>
                <a:gd name="T68" fmla="*/ 369 w 1138"/>
                <a:gd name="T69" fmla="*/ 925 h 995"/>
                <a:gd name="T70" fmla="*/ 317 w 1138"/>
                <a:gd name="T71" fmla="*/ 899 h 995"/>
                <a:gd name="T72" fmla="*/ 275 w 1138"/>
                <a:gd name="T73" fmla="*/ 878 h 995"/>
                <a:gd name="T74" fmla="*/ 219 w 1138"/>
                <a:gd name="T75" fmla="*/ 861 h 995"/>
                <a:gd name="T76" fmla="*/ 151 w 1138"/>
                <a:gd name="T77" fmla="*/ 851 h 995"/>
                <a:gd name="T78" fmla="*/ 86 w 1138"/>
                <a:gd name="T79" fmla="*/ 827 h 995"/>
                <a:gd name="T80" fmla="*/ 18 w 1138"/>
                <a:gd name="T81" fmla="*/ 764 h 995"/>
                <a:gd name="T82" fmla="*/ 0 w 1138"/>
                <a:gd name="T83" fmla="*/ 678 h 995"/>
                <a:gd name="T84" fmla="*/ 15 w 1138"/>
                <a:gd name="T85" fmla="*/ 590 h 995"/>
                <a:gd name="T86" fmla="*/ 52 w 1138"/>
                <a:gd name="T87" fmla="*/ 520 h 995"/>
                <a:gd name="T88" fmla="*/ 110 w 1138"/>
                <a:gd name="T89" fmla="*/ 462 h 995"/>
                <a:gd name="T90" fmla="*/ 166 w 1138"/>
                <a:gd name="T91" fmla="*/ 392 h 995"/>
                <a:gd name="T92" fmla="*/ 217 w 1138"/>
                <a:gd name="T93" fmla="*/ 316 h 995"/>
                <a:gd name="T94" fmla="*/ 263 w 1138"/>
                <a:gd name="T95" fmla="*/ 239 h 995"/>
                <a:gd name="T96" fmla="*/ 308 w 1138"/>
                <a:gd name="T97" fmla="*/ 156 h 995"/>
                <a:gd name="T98" fmla="*/ 365 w 1138"/>
                <a:gd name="T99" fmla="*/ 58 h 995"/>
                <a:gd name="T100" fmla="*/ 413 w 1138"/>
                <a:gd name="T101" fmla="*/ 5 h 99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38"/>
                <a:gd name="T154" fmla="*/ 0 h 995"/>
                <a:gd name="T155" fmla="*/ 1138 w 1138"/>
                <a:gd name="T156" fmla="*/ 995 h 99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38" h="995">
                  <a:moveTo>
                    <a:pt x="413" y="5"/>
                  </a:moveTo>
                  <a:lnTo>
                    <a:pt x="429" y="2"/>
                  </a:lnTo>
                  <a:lnTo>
                    <a:pt x="444" y="1"/>
                  </a:lnTo>
                  <a:lnTo>
                    <a:pt x="460" y="0"/>
                  </a:lnTo>
                  <a:lnTo>
                    <a:pt x="475" y="0"/>
                  </a:lnTo>
                  <a:lnTo>
                    <a:pt x="490" y="0"/>
                  </a:lnTo>
                  <a:lnTo>
                    <a:pt x="504" y="2"/>
                  </a:lnTo>
                  <a:lnTo>
                    <a:pt x="518" y="5"/>
                  </a:lnTo>
                  <a:lnTo>
                    <a:pt x="532" y="10"/>
                  </a:lnTo>
                  <a:lnTo>
                    <a:pt x="554" y="20"/>
                  </a:lnTo>
                  <a:lnTo>
                    <a:pt x="578" y="31"/>
                  </a:lnTo>
                  <a:lnTo>
                    <a:pt x="600" y="40"/>
                  </a:lnTo>
                  <a:lnTo>
                    <a:pt x="623" y="49"/>
                  </a:lnTo>
                  <a:lnTo>
                    <a:pt x="645" y="57"/>
                  </a:lnTo>
                  <a:lnTo>
                    <a:pt x="668" y="66"/>
                  </a:lnTo>
                  <a:lnTo>
                    <a:pt x="692" y="72"/>
                  </a:lnTo>
                  <a:lnTo>
                    <a:pt x="714" y="79"/>
                  </a:lnTo>
                  <a:lnTo>
                    <a:pt x="737" y="85"/>
                  </a:lnTo>
                  <a:lnTo>
                    <a:pt x="760" y="92"/>
                  </a:lnTo>
                  <a:lnTo>
                    <a:pt x="785" y="97"/>
                  </a:lnTo>
                  <a:lnTo>
                    <a:pt x="808" y="101"/>
                  </a:lnTo>
                  <a:lnTo>
                    <a:pt x="833" y="105"/>
                  </a:lnTo>
                  <a:lnTo>
                    <a:pt x="857" y="108"/>
                  </a:lnTo>
                  <a:lnTo>
                    <a:pt x="882" y="111"/>
                  </a:lnTo>
                  <a:lnTo>
                    <a:pt x="906" y="114"/>
                  </a:lnTo>
                  <a:lnTo>
                    <a:pt x="930" y="119"/>
                  </a:lnTo>
                  <a:lnTo>
                    <a:pt x="953" y="125"/>
                  </a:lnTo>
                  <a:lnTo>
                    <a:pt x="975" y="136"/>
                  </a:lnTo>
                  <a:lnTo>
                    <a:pt x="994" y="147"/>
                  </a:lnTo>
                  <a:lnTo>
                    <a:pt x="1011" y="163"/>
                  </a:lnTo>
                  <a:lnTo>
                    <a:pt x="1024" y="181"/>
                  </a:lnTo>
                  <a:lnTo>
                    <a:pt x="1033" y="202"/>
                  </a:lnTo>
                  <a:lnTo>
                    <a:pt x="1036" y="228"/>
                  </a:lnTo>
                  <a:lnTo>
                    <a:pt x="1051" y="235"/>
                  </a:lnTo>
                  <a:lnTo>
                    <a:pt x="1067" y="243"/>
                  </a:lnTo>
                  <a:lnTo>
                    <a:pt x="1082" y="252"/>
                  </a:lnTo>
                  <a:lnTo>
                    <a:pt x="1097" y="263"/>
                  </a:lnTo>
                  <a:lnTo>
                    <a:pt x="1110" y="274"/>
                  </a:lnTo>
                  <a:lnTo>
                    <a:pt x="1120" y="287"/>
                  </a:lnTo>
                  <a:lnTo>
                    <a:pt x="1129" y="303"/>
                  </a:lnTo>
                  <a:lnTo>
                    <a:pt x="1134" y="321"/>
                  </a:lnTo>
                  <a:lnTo>
                    <a:pt x="1137" y="342"/>
                  </a:lnTo>
                  <a:lnTo>
                    <a:pt x="1138" y="364"/>
                  </a:lnTo>
                  <a:lnTo>
                    <a:pt x="1137" y="384"/>
                  </a:lnTo>
                  <a:lnTo>
                    <a:pt x="1134" y="405"/>
                  </a:lnTo>
                  <a:lnTo>
                    <a:pt x="1128" y="426"/>
                  </a:lnTo>
                  <a:lnTo>
                    <a:pt x="1120" y="445"/>
                  </a:lnTo>
                  <a:lnTo>
                    <a:pt x="1111" y="463"/>
                  </a:lnTo>
                  <a:lnTo>
                    <a:pt x="1098" y="482"/>
                  </a:lnTo>
                  <a:lnTo>
                    <a:pt x="1082" y="498"/>
                  </a:lnTo>
                  <a:lnTo>
                    <a:pt x="1068" y="515"/>
                  </a:lnTo>
                  <a:lnTo>
                    <a:pt x="1053" y="533"/>
                  </a:lnTo>
                  <a:lnTo>
                    <a:pt x="1040" y="550"/>
                  </a:lnTo>
                  <a:lnTo>
                    <a:pt x="1026" y="568"/>
                  </a:lnTo>
                  <a:lnTo>
                    <a:pt x="1011" y="586"/>
                  </a:lnTo>
                  <a:lnTo>
                    <a:pt x="998" y="606"/>
                  </a:lnTo>
                  <a:lnTo>
                    <a:pt x="984" y="627"/>
                  </a:lnTo>
                  <a:lnTo>
                    <a:pt x="978" y="634"/>
                  </a:lnTo>
                  <a:lnTo>
                    <a:pt x="971" y="641"/>
                  </a:lnTo>
                  <a:lnTo>
                    <a:pt x="965" y="646"/>
                  </a:lnTo>
                  <a:lnTo>
                    <a:pt x="960" y="653"/>
                  </a:lnTo>
                  <a:lnTo>
                    <a:pt x="953" y="659"/>
                  </a:lnTo>
                  <a:lnTo>
                    <a:pt x="947" y="664"/>
                  </a:lnTo>
                  <a:lnTo>
                    <a:pt x="941" y="671"/>
                  </a:lnTo>
                  <a:lnTo>
                    <a:pt x="938" y="678"/>
                  </a:lnTo>
                  <a:lnTo>
                    <a:pt x="918" y="712"/>
                  </a:lnTo>
                  <a:lnTo>
                    <a:pt x="900" y="742"/>
                  </a:lnTo>
                  <a:lnTo>
                    <a:pt x="882" y="770"/>
                  </a:lnTo>
                  <a:lnTo>
                    <a:pt x="864" y="796"/>
                  </a:lnTo>
                  <a:lnTo>
                    <a:pt x="844" y="824"/>
                  </a:lnTo>
                  <a:lnTo>
                    <a:pt x="824" y="851"/>
                  </a:lnTo>
                  <a:lnTo>
                    <a:pt x="802" y="881"/>
                  </a:lnTo>
                  <a:lnTo>
                    <a:pt x="777" y="912"/>
                  </a:lnTo>
                  <a:lnTo>
                    <a:pt x="769" y="919"/>
                  </a:lnTo>
                  <a:lnTo>
                    <a:pt x="763" y="927"/>
                  </a:lnTo>
                  <a:lnTo>
                    <a:pt x="755" y="936"/>
                  </a:lnTo>
                  <a:lnTo>
                    <a:pt x="749" y="943"/>
                  </a:lnTo>
                  <a:lnTo>
                    <a:pt x="741" y="950"/>
                  </a:lnTo>
                  <a:lnTo>
                    <a:pt x="733" y="956"/>
                  </a:lnTo>
                  <a:lnTo>
                    <a:pt x="724" y="961"/>
                  </a:lnTo>
                  <a:lnTo>
                    <a:pt x="715" y="963"/>
                  </a:lnTo>
                  <a:lnTo>
                    <a:pt x="699" y="967"/>
                  </a:lnTo>
                  <a:lnTo>
                    <a:pt x="684" y="971"/>
                  </a:lnTo>
                  <a:lnTo>
                    <a:pt x="670" y="975"/>
                  </a:lnTo>
                  <a:lnTo>
                    <a:pt x="655" y="979"/>
                  </a:lnTo>
                  <a:lnTo>
                    <a:pt x="641" y="983"/>
                  </a:lnTo>
                  <a:lnTo>
                    <a:pt x="627" y="985"/>
                  </a:lnTo>
                  <a:lnTo>
                    <a:pt x="613" y="989"/>
                  </a:lnTo>
                  <a:lnTo>
                    <a:pt x="598" y="991"/>
                  </a:lnTo>
                  <a:lnTo>
                    <a:pt x="584" y="993"/>
                  </a:lnTo>
                  <a:lnTo>
                    <a:pt x="570" y="995"/>
                  </a:lnTo>
                  <a:lnTo>
                    <a:pt x="557" y="995"/>
                  </a:lnTo>
                  <a:lnTo>
                    <a:pt x="543" y="995"/>
                  </a:lnTo>
                  <a:lnTo>
                    <a:pt x="528" y="993"/>
                  </a:lnTo>
                  <a:lnTo>
                    <a:pt x="514" y="992"/>
                  </a:lnTo>
                  <a:lnTo>
                    <a:pt x="500" y="988"/>
                  </a:lnTo>
                  <a:lnTo>
                    <a:pt x="486" y="984"/>
                  </a:lnTo>
                  <a:lnTo>
                    <a:pt x="475" y="980"/>
                  </a:lnTo>
                  <a:lnTo>
                    <a:pt x="464" y="975"/>
                  </a:lnTo>
                  <a:lnTo>
                    <a:pt x="451" y="969"/>
                  </a:lnTo>
                  <a:lnTo>
                    <a:pt x="437" y="961"/>
                  </a:lnTo>
                  <a:lnTo>
                    <a:pt x="421" y="953"/>
                  </a:lnTo>
                  <a:lnTo>
                    <a:pt x="404" y="944"/>
                  </a:lnTo>
                  <a:lnTo>
                    <a:pt x="386" y="935"/>
                  </a:lnTo>
                  <a:lnTo>
                    <a:pt x="369" y="925"/>
                  </a:lnTo>
                  <a:lnTo>
                    <a:pt x="352" y="915"/>
                  </a:lnTo>
                  <a:lnTo>
                    <a:pt x="334" y="906"/>
                  </a:lnTo>
                  <a:lnTo>
                    <a:pt x="317" y="899"/>
                  </a:lnTo>
                  <a:lnTo>
                    <a:pt x="302" y="890"/>
                  </a:lnTo>
                  <a:lnTo>
                    <a:pt x="288" y="883"/>
                  </a:lnTo>
                  <a:lnTo>
                    <a:pt x="275" y="878"/>
                  </a:lnTo>
                  <a:lnTo>
                    <a:pt x="263" y="873"/>
                  </a:lnTo>
                  <a:lnTo>
                    <a:pt x="253" y="870"/>
                  </a:lnTo>
                  <a:lnTo>
                    <a:pt x="219" y="861"/>
                  </a:lnTo>
                  <a:lnTo>
                    <a:pt x="193" y="856"/>
                  </a:lnTo>
                  <a:lnTo>
                    <a:pt x="170" y="853"/>
                  </a:lnTo>
                  <a:lnTo>
                    <a:pt x="151" y="851"/>
                  </a:lnTo>
                  <a:lnTo>
                    <a:pt x="131" y="847"/>
                  </a:lnTo>
                  <a:lnTo>
                    <a:pt x="110" y="839"/>
                  </a:lnTo>
                  <a:lnTo>
                    <a:pt x="86" y="827"/>
                  </a:lnTo>
                  <a:lnTo>
                    <a:pt x="56" y="808"/>
                  </a:lnTo>
                  <a:lnTo>
                    <a:pt x="34" y="789"/>
                  </a:lnTo>
                  <a:lnTo>
                    <a:pt x="18" y="764"/>
                  </a:lnTo>
                  <a:lnTo>
                    <a:pt x="8" y="738"/>
                  </a:lnTo>
                  <a:lnTo>
                    <a:pt x="3" y="708"/>
                  </a:lnTo>
                  <a:lnTo>
                    <a:pt x="0" y="678"/>
                  </a:lnTo>
                  <a:lnTo>
                    <a:pt x="3" y="649"/>
                  </a:lnTo>
                  <a:lnTo>
                    <a:pt x="8" y="619"/>
                  </a:lnTo>
                  <a:lnTo>
                    <a:pt x="15" y="590"/>
                  </a:lnTo>
                  <a:lnTo>
                    <a:pt x="22" y="564"/>
                  </a:lnTo>
                  <a:lnTo>
                    <a:pt x="35" y="541"/>
                  </a:lnTo>
                  <a:lnTo>
                    <a:pt x="52" y="520"/>
                  </a:lnTo>
                  <a:lnTo>
                    <a:pt x="70" y="501"/>
                  </a:lnTo>
                  <a:lnTo>
                    <a:pt x="90" y="482"/>
                  </a:lnTo>
                  <a:lnTo>
                    <a:pt x="110" y="462"/>
                  </a:lnTo>
                  <a:lnTo>
                    <a:pt x="131" y="441"/>
                  </a:lnTo>
                  <a:lnTo>
                    <a:pt x="149" y="419"/>
                  </a:lnTo>
                  <a:lnTo>
                    <a:pt x="166" y="392"/>
                  </a:lnTo>
                  <a:lnTo>
                    <a:pt x="183" y="366"/>
                  </a:lnTo>
                  <a:lnTo>
                    <a:pt x="200" y="342"/>
                  </a:lnTo>
                  <a:lnTo>
                    <a:pt x="217" y="316"/>
                  </a:lnTo>
                  <a:lnTo>
                    <a:pt x="232" y="290"/>
                  </a:lnTo>
                  <a:lnTo>
                    <a:pt x="248" y="265"/>
                  </a:lnTo>
                  <a:lnTo>
                    <a:pt x="263" y="239"/>
                  </a:lnTo>
                  <a:lnTo>
                    <a:pt x="279" y="212"/>
                  </a:lnTo>
                  <a:lnTo>
                    <a:pt x="292" y="187"/>
                  </a:lnTo>
                  <a:lnTo>
                    <a:pt x="308" y="156"/>
                  </a:lnTo>
                  <a:lnTo>
                    <a:pt x="327" y="123"/>
                  </a:lnTo>
                  <a:lnTo>
                    <a:pt x="346" y="89"/>
                  </a:lnTo>
                  <a:lnTo>
                    <a:pt x="365" y="58"/>
                  </a:lnTo>
                  <a:lnTo>
                    <a:pt x="384" y="31"/>
                  </a:lnTo>
                  <a:lnTo>
                    <a:pt x="400" y="13"/>
                  </a:lnTo>
                  <a:lnTo>
                    <a:pt x="413" y="5"/>
                  </a:lnTo>
                  <a:close/>
                </a:path>
              </a:pathLst>
            </a:custGeom>
            <a:solidFill>
              <a:srgbClr val="FFFFD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5" name="Freeform 6"/>
            <p:cNvSpPr>
              <a:spLocks/>
            </p:cNvSpPr>
            <p:nvPr/>
          </p:nvSpPr>
          <p:spPr bwMode="auto">
            <a:xfrm>
              <a:off x="1356" y="2554"/>
              <a:ext cx="1055" cy="891"/>
            </a:xfrm>
            <a:custGeom>
              <a:avLst/>
              <a:gdLst>
                <a:gd name="T0" fmla="*/ 1013 w 1055"/>
                <a:gd name="T1" fmla="*/ 247 h 891"/>
                <a:gd name="T2" fmla="*/ 1007 w 1055"/>
                <a:gd name="T3" fmla="*/ 242 h 891"/>
                <a:gd name="T4" fmla="*/ 986 w 1055"/>
                <a:gd name="T5" fmla="*/ 227 h 891"/>
                <a:gd name="T6" fmla="*/ 963 w 1055"/>
                <a:gd name="T7" fmla="*/ 215 h 891"/>
                <a:gd name="T8" fmla="*/ 962 w 1055"/>
                <a:gd name="T9" fmla="*/ 189 h 891"/>
                <a:gd name="T10" fmla="*/ 947 w 1055"/>
                <a:gd name="T11" fmla="*/ 157 h 891"/>
                <a:gd name="T12" fmla="*/ 918 w 1055"/>
                <a:gd name="T13" fmla="*/ 145 h 891"/>
                <a:gd name="T14" fmla="*/ 861 w 1055"/>
                <a:gd name="T15" fmla="*/ 131 h 891"/>
                <a:gd name="T16" fmla="*/ 804 w 1055"/>
                <a:gd name="T17" fmla="*/ 118 h 891"/>
                <a:gd name="T18" fmla="*/ 749 w 1055"/>
                <a:gd name="T19" fmla="*/ 105 h 891"/>
                <a:gd name="T20" fmla="*/ 707 w 1055"/>
                <a:gd name="T21" fmla="*/ 95 h 891"/>
                <a:gd name="T22" fmla="*/ 665 w 1055"/>
                <a:gd name="T23" fmla="*/ 82 h 891"/>
                <a:gd name="T24" fmla="*/ 622 w 1055"/>
                <a:gd name="T25" fmla="*/ 65 h 891"/>
                <a:gd name="T26" fmla="*/ 572 w 1055"/>
                <a:gd name="T27" fmla="*/ 43 h 891"/>
                <a:gd name="T28" fmla="*/ 516 w 1055"/>
                <a:gd name="T29" fmla="*/ 21 h 891"/>
                <a:gd name="T30" fmla="*/ 465 w 1055"/>
                <a:gd name="T31" fmla="*/ 5 h 891"/>
                <a:gd name="T32" fmla="*/ 423 w 1055"/>
                <a:gd name="T33" fmla="*/ 0 h 891"/>
                <a:gd name="T34" fmla="*/ 387 w 1055"/>
                <a:gd name="T35" fmla="*/ 18 h 891"/>
                <a:gd name="T36" fmla="*/ 343 w 1055"/>
                <a:gd name="T37" fmla="*/ 69 h 891"/>
                <a:gd name="T38" fmla="*/ 304 w 1055"/>
                <a:gd name="T39" fmla="*/ 124 h 891"/>
                <a:gd name="T40" fmla="*/ 266 w 1055"/>
                <a:gd name="T41" fmla="*/ 175 h 891"/>
                <a:gd name="T42" fmla="*/ 230 w 1055"/>
                <a:gd name="T43" fmla="*/ 223 h 891"/>
                <a:gd name="T44" fmla="*/ 198 w 1055"/>
                <a:gd name="T45" fmla="*/ 273 h 891"/>
                <a:gd name="T46" fmla="*/ 127 w 1055"/>
                <a:gd name="T47" fmla="*/ 384 h 891"/>
                <a:gd name="T48" fmla="*/ 36 w 1055"/>
                <a:gd name="T49" fmla="*/ 513 h 891"/>
                <a:gd name="T50" fmla="*/ 0 w 1055"/>
                <a:gd name="T51" fmla="*/ 578 h 891"/>
                <a:gd name="T52" fmla="*/ 9 w 1055"/>
                <a:gd name="T53" fmla="*/ 624 h 891"/>
                <a:gd name="T54" fmla="*/ 17 w 1055"/>
                <a:gd name="T55" fmla="*/ 648 h 891"/>
                <a:gd name="T56" fmla="*/ 33 w 1055"/>
                <a:gd name="T57" fmla="*/ 688 h 891"/>
                <a:gd name="T58" fmla="*/ 53 w 1055"/>
                <a:gd name="T59" fmla="*/ 709 h 891"/>
                <a:gd name="T60" fmla="*/ 101 w 1055"/>
                <a:gd name="T61" fmla="*/ 729 h 891"/>
                <a:gd name="T62" fmla="*/ 149 w 1055"/>
                <a:gd name="T63" fmla="*/ 749 h 891"/>
                <a:gd name="T64" fmla="*/ 198 w 1055"/>
                <a:gd name="T65" fmla="*/ 767 h 891"/>
                <a:gd name="T66" fmla="*/ 247 w 1055"/>
                <a:gd name="T67" fmla="*/ 785 h 891"/>
                <a:gd name="T68" fmla="*/ 295 w 1055"/>
                <a:gd name="T69" fmla="*/ 803 h 891"/>
                <a:gd name="T70" fmla="*/ 347 w 1055"/>
                <a:gd name="T71" fmla="*/ 825 h 891"/>
                <a:gd name="T72" fmla="*/ 400 w 1055"/>
                <a:gd name="T73" fmla="*/ 847 h 891"/>
                <a:gd name="T74" fmla="*/ 453 w 1055"/>
                <a:gd name="T75" fmla="*/ 867 h 891"/>
                <a:gd name="T76" fmla="*/ 531 w 1055"/>
                <a:gd name="T77" fmla="*/ 887 h 891"/>
                <a:gd name="T78" fmla="*/ 610 w 1055"/>
                <a:gd name="T79" fmla="*/ 887 h 891"/>
                <a:gd name="T80" fmla="*/ 669 w 1055"/>
                <a:gd name="T81" fmla="*/ 851 h 891"/>
                <a:gd name="T82" fmla="*/ 721 w 1055"/>
                <a:gd name="T83" fmla="*/ 790 h 891"/>
                <a:gd name="T84" fmla="*/ 780 w 1055"/>
                <a:gd name="T85" fmla="*/ 707 h 891"/>
                <a:gd name="T86" fmla="*/ 839 w 1055"/>
                <a:gd name="T87" fmla="*/ 622 h 891"/>
                <a:gd name="T88" fmla="*/ 887 w 1055"/>
                <a:gd name="T89" fmla="*/ 549 h 891"/>
                <a:gd name="T90" fmla="*/ 915 w 1055"/>
                <a:gd name="T91" fmla="*/ 508 h 891"/>
                <a:gd name="T92" fmla="*/ 978 w 1055"/>
                <a:gd name="T93" fmla="*/ 426 h 891"/>
                <a:gd name="T94" fmla="*/ 1038 w 1055"/>
                <a:gd name="T95" fmla="*/ 349 h 891"/>
                <a:gd name="T96" fmla="*/ 1055 w 1055"/>
                <a:gd name="T97" fmla="*/ 312 h 891"/>
                <a:gd name="T98" fmla="*/ 1048 w 1055"/>
                <a:gd name="T99" fmla="*/ 277 h 891"/>
                <a:gd name="T100" fmla="*/ 1025 w 1055"/>
                <a:gd name="T101" fmla="*/ 254 h 8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55"/>
                <a:gd name="T154" fmla="*/ 0 h 891"/>
                <a:gd name="T155" fmla="*/ 1055 w 1055"/>
                <a:gd name="T156" fmla="*/ 891 h 8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55" h="891">
                  <a:moveTo>
                    <a:pt x="1013" y="249"/>
                  </a:moveTo>
                  <a:lnTo>
                    <a:pt x="1013" y="247"/>
                  </a:lnTo>
                  <a:lnTo>
                    <a:pt x="1007" y="242"/>
                  </a:lnTo>
                  <a:lnTo>
                    <a:pt x="1000" y="237"/>
                  </a:lnTo>
                  <a:lnTo>
                    <a:pt x="993" y="232"/>
                  </a:lnTo>
                  <a:lnTo>
                    <a:pt x="986" y="227"/>
                  </a:lnTo>
                  <a:lnTo>
                    <a:pt x="978" y="223"/>
                  </a:lnTo>
                  <a:lnTo>
                    <a:pt x="971" y="219"/>
                  </a:lnTo>
                  <a:lnTo>
                    <a:pt x="963" y="215"/>
                  </a:lnTo>
                  <a:lnTo>
                    <a:pt x="955" y="213"/>
                  </a:lnTo>
                  <a:lnTo>
                    <a:pt x="960" y="201"/>
                  </a:lnTo>
                  <a:lnTo>
                    <a:pt x="962" y="189"/>
                  </a:lnTo>
                  <a:lnTo>
                    <a:pt x="960" y="176"/>
                  </a:lnTo>
                  <a:lnTo>
                    <a:pt x="955" y="165"/>
                  </a:lnTo>
                  <a:lnTo>
                    <a:pt x="947" y="157"/>
                  </a:lnTo>
                  <a:lnTo>
                    <a:pt x="938" y="152"/>
                  </a:lnTo>
                  <a:lnTo>
                    <a:pt x="928" y="148"/>
                  </a:lnTo>
                  <a:lnTo>
                    <a:pt x="918" y="145"/>
                  </a:lnTo>
                  <a:lnTo>
                    <a:pt x="898" y="140"/>
                  </a:lnTo>
                  <a:lnTo>
                    <a:pt x="879" y="135"/>
                  </a:lnTo>
                  <a:lnTo>
                    <a:pt x="861" y="131"/>
                  </a:lnTo>
                  <a:lnTo>
                    <a:pt x="841" y="127"/>
                  </a:lnTo>
                  <a:lnTo>
                    <a:pt x="823" y="122"/>
                  </a:lnTo>
                  <a:lnTo>
                    <a:pt x="804" y="118"/>
                  </a:lnTo>
                  <a:lnTo>
                    <a:pt x="784" y="114"/>
                  </a:lnTo>
                  <a:lnTo>
                    <a:pt x="765" y="109"/>
                  </a:lnTo>
                  <a:lnTo>
                    <a:pt x="749" y="105"/>
                  </a:lnTo>
                  <a:lnTo>
                    <a:pt x="735" y="102"/>
                  </a:lnTo>
                  <a:lnTo>
                    <a:pt x="721" y="99"/>
                  </a:lnTo>
                  <a:lnTo>
                    <a:pt x="707" y="95"/>
                  </a:lnTo>
                  <a:lnTo>
                    <a:pt x="692" y="91"/>
                  </a:lnTo>
                  <a:lnTo>
                    <a:pt x="678" y="87"/>
                  </a:lnTo>
                  <a:lnTo>
                    <a:pt x="665" y="82"/>
                  </a:lnTo>
                  <a:lnTo>
                    <a:pt x="651" y="77"/>
                  </a:lnTo>
                  <a:lnTo>
                    <a:pt x="638" y="71"/>
                  </a:lnTo>
                  <a:lnTo>
                    <a:pt x="622" y="65"/>
                  </a:lnTo>
                  <a:lnTo>
                    <a:pt x="607" y="57"/>
                  </a:lnTo>
                  <a:lnTo>
                    <a:pt x="589" y="51"/>
                  </a:lnTo>
                  <a:lnTo>
                    <a:pt x="572" y="43"/>
                  </a:lnTo>
                  <a:lnTo>
                    <a:pt x="553" y="35"/>
                  </a:lnTo>
                  <a:lnTo>
                    <a:pt x="534" y="29"/>
                  </a:lnTo>
                  <a:lnTo>
                    <a:pt x="516" y="21"/>
                  </a:lnTo>
                  <a:lnTo>
                    <a:pt x="498" y="16"/>
                  </a:lnTo>
                  <a:lnTo>
                    <a:pt x="481" y="10"/>
                  </a:lnTo>
                  <a:lnTo>
                    <a:pt x="465" y="5"/>
                  </a:lnTo>
                  <a:lnTo>
                    <a:pt x="449" y="3"/>
                  </a:lnTo>
                  <a:lnTo>
                    <a:pt x="435" y="0"/>
                  </a:lnTo>
                  <a:lnTo>
                    <a:pt x="423" y="0"/>
                  </a:lnTo>
                  <a:lnTo>
                    <a:pt x="413" y="1"/>
                  </a:lnTo>
                  <a:lnTo>
                    <a:pt x="405" y="5"/>
                  </a:lnTo>
                  <a:lnTo>
                    <a:pt x="387" y="18"/>
                  </a:lnTo>
                  <a:lnTo>
                    <a:pt x="371" y="34"/>
                  </a:lnTo>
                  <a:lnTo>
                    <a:pt x="357" y="51"/>
                  </a:lnTo>
                  <a:lnTo>
                    <a:pt x="343" y="69"/>
                  </a:lnTo>
                  <a:lnTo>
                    <a:pt x="330" y="88"/>
                  </a:lnTo>
                  <a:lnTo>
                    <a:pt x="317" y="106"/>
                  </a:lnTo>
                  <a:lnTo>
                    <a:pt x="304" y="124"/>
                  </a:lnTo>
                  <a:lnTo>
                    <a:pt x="291" y="143"/>
                  </a:lnTo>
                  <a:lnTo>
                    <a:pt x="278" y="159"/>
                  </a:lnTo>
                  <a:lnTo>
                    <a:pt x="266" y="175"/>
                  </a:lnTo>
                  <a:lnTo>
                    <a:pt x="254" y="190"/>
                  </a:lnTo>
                  <a:lnTo>
                    <a:pt x="242" y="206"/>
                  </a:lnTo>
                  <a:lnTo>
                    <a:pt x="230" y="223"/>
                  </a:lnTo>
                  <a:lnTo>
                    <a:pt x="219" y="238"/>
                  </a:lnTo>
                  <a:lnTo>
                    <a:pt x="208" y="255"/>
                  </a:lnTo>
                  <a:lnTo>
                    <a:pt x="198" y="273"/>
                  </a:lnTo>
                  <a:lnTo>
                    <a:pt x="181" y="303"/>
                  </a:lnTo>
                  <a:lnTo>
                    <a:pt x="156" y="341"/>
                  </a:lnTo>
                  <a:lnTo>
                    <a:pt x="127" y="384"/>
                  </a:lnTo>
                  <a:lnTo>
                    <a:pt x="96" y="429"/>
                  </a:lnTo>
                  <a:lnTo>
                    <a:pt x="65" y="473"/>
                  </a:lnTo>
                  <a:lnTo>
                    <a:pt x="36" y="513"/>
                  </a:lnTo>
                  <a:lnTo>
                    <a:pt x="14" y="545"/>
                  </a:lnTo>
                  <a:lnTo>
                    <a:pt x="0" y="567"/>
                  </a:lnTo>
                  <a:lnTo>
                    <a:pt x="0" y="578"/>
                  </a:lnTo>
                  <a:lnTo>
                    <a:pt x="4" y="597"/>
                  </a:lnTo>
                  <a:lnTo>
                    <a:pt x="8" y="615"/>
                  </a:lnTo>
                  <a:lnTo>
                    <a:pt x="9" y="624"/>
                  </a:lnTo>
                  <a:lnTo>
                    <a:pt x="10" y="628"/>
                  </a:lnTo>
                  <a:lnTo>
                    <a:pt x="13" y="637"/>
                  </a:lnTo>
                  <a:lnTo>
                    <a:pt x="17" y="648"/>
                  </a:lnTo>
                  <a:lnTo>
                    <a:pt x="22" y="661"/>
                  </a:lnTo>
                  <a:lnTo>
                    <a:pt x="27" y="675"/>
                  </a:lnTo>
                  <a:lnTo>
                    <a:pt x="33" y="688"/>
                  </a:lnTo>
                  <a:lnTo>
                    <a:pt x="40" y="698"/>
                  </a:lnTo>
                  <a:lnTo>
                    <a:pt x="48" y="706"/>
                  </a:lnTo>
                  <a:lnTo>
                    <a:pt x="53" y="709"/>
                  </a:lnTo>
                  <a:lnTo>
                    <a:pt x="68" y="716"/>
                  </a:lnTo>
                  <a:lnTo>
                    <a:pt x="85" y="723"/>
                  </a:lnTo>
                  <a:lnTo>
                    <a:pt x="101" y="729"/>
                  </a:lnTo>
                  <a:lnTo>
                    <a:pt x="116" y="737"/>
                  </a:lnTo>
                  <a:lnTo>
                    <a:pt x="133" y="744"/>
                  </a:lnTo>
                  <a:lnTo>
                    <a:pt x="149" y="749"/>
                  </a:lnTo>
                  <a:lnTo>
                    <a:pt x="166" y="755"/>
                  </a:lnTo>
                  <a:lnTo>
                    <a:pt x="181" y="762"/>
                  </a:lnTo>
                  <a:lnTo>
                    <a:pt x="198" y="767"/>
                  </a:lnTo>
                  <a:lnTo>
                    <a:pt x="213" y="773"/>
                  </a:lnTo>
                  <a:lnTo>
                    <a:pt x="230" y="780"/>
                  </a:lnTo>
                  <a:lnTo>
                    <a:pt x="247" y="785"/>
                  </a:lnTo>
                  <a:lnTo>
                    <a:pt x="263" y="792"/>
                  </a:lnTo>
                  <a:lnTo>
                    <a:pt x="279" y="797"/>
                  </a:lnTo>
                  <a:lnTo>
                    <a:pt x="295" y="803"/>
                  </a:lnTo>
                  <a:lnTo>
                    <a:pt x="312" y="810"/>
                  </a:lnTo>
                  <a:lnTo>
                    <a:pt x="330" y="817"/>
                  </a:lnTo>
                  <a:lnTo>
                    <a:pt x="347" y="825"/>
                  </a:lnTo>
                  <a:lnTo>
                    <a:pt x="365" y="833"/>
                  </a:lnTo>
                  <a:lnTo>
                    <a:pt x="382" y="839"/>
                  </a:lnTo>
                  <a:lnTo>
                    <a:pt x="400" y="847"/>
                  </a:lnTo>
                  <a:lnTo>
                    <a:pt x="417" y="855"/>
                  </a:lnTo>
                  <a:lnTo>
                    <a:pt x="435" y="861"/>
                  </a:lnTo>
                  <a:lnTo>
                    <a:pt x="453" y="867"/>
                  </a:lnTo>
                  <a:lnTo>
                    <a:pt x="479" y="874"/>
                  </a:lnTo>
                  <a:lnTo>
                    <a:pt x="505" y="881"/>
                  </a:lnTo>
                  <a:lnTo>
                    <a:pt x="531" y="887"/>
                  </a:lnTo>
                  <a:lnTo>
                    <a:pt x="558" y="891"/>
                  </a:lnTo>
                  <a:lnTo>
                    <a:pt x="584" y="891"/>
                  </a:lnTo>
                  <a:lnTo>
                    <a:pt x="610" y="887"/>
                  </a:lnTo>
                  <a:lnTo>
                    <a:pt x="633" y="880"/>
                  </a:lnTo>
                  <a:lnTo>
                    <a:pt x="656" y="864"/>
                  </a:lnTo>
                  <a:lnTo>
                    <a:pt x="669" y="851"/>
                  </a:lnTo>
                  <a:lnTo>
                    <a:pt x="685" y="834"/>
                  </a:lnTo>
                  <a:lnTo>
                    <a:pt x="701" y="814"/>
                  </a:lnTo>
                  <a:lnTo>
                    <a:pt x="721" y="790"/>
                  </a:lnTo>
                  <a:lnTo>
                    <a:pt x="740" y="764"/>
                  </a:lnTo>
                  <a:lnTo>
                    <a:pt x="760" y="736"/>
                  </a:lnTo>
                  <a:lnTo>
                    <a:pt x="780" y="707"/>
                  </a:lnTo>
                  <a:lnTo>
                    <a:pt x="800" y="678"/>
                  </a:lnTo>
                  <a:lnTo>
                    <a:pt x="819" y="649"/>
                  </a:lnTo>
                  <a:lnTo>
                    <a:pt x="839" y="622"/>
                  </a:lnTo>
                  <a:lnTo>
                    <a:pt x="857" y="595"/>
                  </a:lnTo>
                  <a:lnTo>
                    <a:pt x="872" y="570"/>
                  </a:lnTo>
                  <a:lnTo>
                    <a:pt x="887" y="549"/>
                  </a:lnTo>
                  <a:lnTo>
                    <a:pt x="899" y="531"/>
                  </a:lnTo>
                  <a:lnTo>
                    <a:pt x="909" y="517"/>
                  </a:lnTo>
                  <a:lnTo>
                    <a:pt x="915" y="508"/>
                  </a:lnTo>
                  <a:lnTo>
                    <a:pt x="933" y="483"/>
                  </a:lnTo>
                  <a:lnTo>
                    <a:pt x="955" y="456"/>
                  </a:lnTo>
                  <a:lnTo>
                    <a:pt x="978" y="426"/>
                  </a:lnTo>
                  <a:lnTo>
                    <a:pt x="1000" y="396"/>
                  </a:lnTo>
                  <a:lnTo>
                    <a:pt x="1021" y="371"/>
                  </a:lnTo>
                  <a:lnTo>
                    <a:pt x="1038" y="349"/>
                  </a:lnTo>
                  <a:lnTo>
                    <a:pt x="1050" y="333"/>
                  </a:lnTo>
                  <a:lnTo>
                    <a:pt x="1053" y="325"/>
                  </a:lnTo>
                  <a:lnTo>
                    <a:pt x="1055" y="312"/>
                  </a:lnTo>
                  <a:lnTo>
                    <a:pt x="1055" y="301"/>
                  </a:lnTo>
                  <a:lnTo>
                    <a:pt x="1052" y="289"/>
                  </a:lnTo>
                  <a:lnTo>
                    <a:pt x="1048" y="277"/>
                  </a:lnTo>
                  <a:lnTo>
                    <a:pt x="1042" y="268"/>
                  </a:lnTo>
                  <a:lnTo>
                    <a:pt x="1034" y="260"/>
                  </a:lnTo>
                  <a:lnTo>
                    <a:pt x="1025" y="254"/>
                  </a:lnTo>
                  <a:lnTo>
                    <a:pt x="1013" y="2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6" name="Freeform 7"/>
            <p:cNvSpPr>
              <a:spLocks/>
            </p:cNvSpPr>
            <p:nvPr/>
          </p:nvSpPr>
          <p:spPr bwMode="auto">
            <a:xfrm>
              <a:off x="2158" y="2782"/>
              <a:ext cx="151" cy="211"/>
            </a:xfrm>
            <a:custGeom>
              <a:avLst/>
              <a:gdLst>
                <a:gd name="T0" fmla="*/ 151 w 151"/>
                <a:gd name="T1" fmla="*/ 27 h 211"/>
                <a:gd name="T2" fmla="*/ 148 w 151"/>
                <a:gd name="T3" fmla="*/ 32 h 211"/>
                <a:gd name="T4" fmla="*/ 141 w 151"/>
                <a:gd name="T5" fmla="*/ 42 h 211"/>
                <a:gd name="T6" fmla="*/ 131 w 151"/>
                <a:gd name="T7" fmla="*/ 54 h 211"/>
                <a:gd name="T8" fmla="*/ 118 w 151"/>
                <a:gd name="T9" fmla="*/ 69 h 211"/>
                <a:gd name="T10" fmla="*/ 105 w 151"/>
                <a:gd name="T11" fmla="*/ 83 h 211"/>
                <a:gd name="T12" fmla="*/ 95 w 151"/>
                <a:gd name="T13" fmla="*/ 96 h 211"/>
                <a:gd name="T14" fmla="*/ 88 w 151"/>
                <a:gd name="T15" fmla="*/ 105 h 211"/>
                <a:gd name="T16" fmla="*/ 86 w 151"/>
                <a:gd name="T17" fmla="*/ 109 h 211"/>
                <a:gd name="T18" fmla="*/ 87 w 151"/>
                <a:gd name="T19" fmla="*/ 110 h 211"/>
                <a:gd name="T20" fmla="*/ 91 w 151"/>
                <a:gd name="T21" fmla="*/ 113 h 211"/>
                <a:gd name="T22" fmla="*/ 96 w 151"/>
                <a:gd name="T23" fmla="*/ 117 h 211"/>
                <a:gd name="T24" fmla="*/ 104 w 151"/>
                <a:gd name="T25" fmla="*/ 121 h 211"/>
                <a:gd name="T26" fmla="*/ 113 w 151"/>
                <a:gd name="T27" fmla="*/ 126 h 211"/>
                <a:gd name="T28" fmla="*/ 122 w 151"/>
                <a:gd name="T29" fmla="*/ 130 h 211"/>
                <a:gd name="T30" fmla="*/ 131 w 151"/>
                <a:gd name="T31" fmla="*/ 132 h 211"/>
                <a:gd name="T32" fmla="*/ 141 w 151"/>
                <a:gd name="T33" fmla="*/ 132 h 211"/>
                <a:gd name="T34" fmla="*/ 134 w 151"/>
                <a:gd name="T35" fmla="*/ 137 h 211"/>
                <a:gd name="T36" fmla="*/ 126 w 151"/>
                <a:gd name="T37" fmla="*/ 144 h 211"/>
                <a:gd name="T38" fmla="*/ 119 w 151"/>
                <a:gd name="T39" fmla="*/ 152 h 211"/>
                <a:gd name="T40" fmla="*/ 113 w 151"/>
                <a:gd name="T41" fmla="*/ 159 h 211"/>
                <a:gd name="T42" fmla="*/ 109 w 151"/>
                <a:gd name="T43" fmla="*/ 154 h 211"/>
                <a:gd name="T44" fmla="*/ 105 w 151"/>
                <a:gd name="T45" fmla="*/ 145 h 211"/>
                <a:gd name="T46" fmla="*/ 100 w 151"/>
                <a:gd name="T47" fmla="*/ 136 h 211"/>
                <a:gd name="T48" fmla="*/ 99 w 151"/>
                <a:gd name="T49" fmla="*/ 132 h 211"/>
                <a:gd name="T50" fmla="*/ 95 w 151"/>
                <a:gd name="T51" fmla="*/ 135 h 211"/>
                <a:gd name="T52" fmla="*/ 87 w 151"/>
                <a:gd name="T53" fmla="*/ 144 h 211"/>
                <a:gd name="T54" fmla="*/ 75 w 151"/>
                <a:gd name="T55" fmla="*/ 157 h 211"/>
                <a:gd name="T56" fmla="*/ 64 w 151"/>
                <a:gd name="T57" fmla="*/ 171 h 211"/>
                <a:gd name="T58" fmla="*/ 51 w 151"/>
                <a:gd name="T59" fmla="*/ 185 h 211"/>
                <a:gd name="T60" fmla="*/ 41 w 151"/>
                <a:gd name="T61" fmla="*/ 198 h 211"/>
                <a:gd name="T62" fmla="*/ 33 w 151"/>
                <a:gd name="T63" fmla="*/ 207 h 211"/>
                <a:gd name="T64" fmla="*/ 30 w 151"/>
                <a:gd name="T65" fmla="*/ 211 h 211"/>
                <a:gd name="T66" fmla="*/ 20 w 151"/>
                <a:gd name="T67" fmla="*/ 201 h 211"/>
                <a:gd name="T68" fmla="*/ 11 w 151"/>
                <a:gd name="T69" fmla="*/ 192 h 211"/>
                <a:gd name="T70" fmla="*/ 3 w 151"/>
                <a:gd name="T71" fmla="*/ 184 h 211"/>
                <a:gd name="T72" fmla="*/ 0 w 151"/>
                <a:gd name="T73" fmla="*/ 180 h 211"/>
                <a:gd name="T74" fmla="*/ 17 w 151"/>
                <a:gd name="T75" fmla="*/ 163 h 211"/>
                <a:gd name="T76" fmla="*/ 37 w 151"/>
                <a:gd name="T77" fmla="*/ 139 h 211"/>
                <a:gd name="T78" fmla="*/ 57 w 151"/>
                <a:gd name="T79" fmla="*/ 111 h 211"/>
                <a:gd name="T80" fmla="*/ 79 w 151"/>
                <a:gd name="T81" fmla="*/ 83 h 211"/>
                <a:gd name="T82" fmla="*/ 100 w 151"/>
                <a:gd name="T83" fmla="*/ 56 h 211"/>
                <a:gd name="T84" fmla="*/ 118 w 151"/>
                <a:gd name="T85" fmla="*/ 31 h 211"/>
                <a:gd name="T86" fmla="*/ 132 w 151"/>
                <a:gd name="T87" fmla="*/ 12 h 211"/>
                <a:gd name="T88" fmla="*/ 141 w 151"/>
                <a:gd name="T89" fmla="*/ 0 h 211"/>
                <a:gd name="T90" fmla="*/ 144 w 151"/>
                <a:gd name="T91" fmla="*/ 7 h 211"/>
                <a:gd name="T92" fmla="*/ 145 w 151"/>
                <a:gd name="T93" fmla="*/ 13 h 211"/>
                <a:gd name="T94" fmla="*/ 148 w 151"/>
                <a:gd name="T95" fmla="*/ 21 h 211"/>
                <a:gd name="T96" fmla="*/ 151 w 151"/>
                <a:gd name="T97" fmla="*/ 27 h 21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51"/>
                <a:gd name="T148" fmla="*/ 0 h 211"/>
                <a:gd name="T149" fmla="*/ 151 w 151"/>
                <a:gd name="T150" fmla="*/ 211 h 21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51" h="211">
                  <a:moveTo>
                    <a:pt x="151" y="27"/>
                  </a:moveTo>
                  <a:lnTo>
                    <a:pt x="148" y="32"/>
                  </a:lnTo>
                  <a:lnTo>
                    <a:pt x="141" y="42"/>
                  </a:lnTo>
                  <a:lnTo>
                    <a:pt x="131" y="54"/>
                  </a:lnTo>
                  <a:lnTo>
                    <a:pt x="118" y="69"/>
                  </a:lnTo>
                  <a:lnTo>
                    <a:pt x="105" y="83"/>
                  </a:lnTo>
                  <a:lnTo>
                    <a:pt x="95" y="96"/>
                  </a:lnTo>
                  <a:lnTo>
                    <a:pt x="88" y="105"/>
                  </a:lnTo>
                  <a:lnTo>
                    <a:pt x="86" y="109"/>
                  </a:lnTo>
                  <a:lnTo>
                    <a:pt x="87" y="110"/>
                  </a:lnTo>
                  <a:lnTo>
                    <a:pt x="91" y="113"/>
                  </a:lnTo>
                  <a:lnTo>
                    <a:pt x="96" y="117"/>
                  </a:lnTo>
                  <a:lnTo>
                    <a:pt x="104" y="121"/>
                  </a:lnTo>
                  <a:lnTo>
                    <a:pt x="113" y="126"/>
                  </a:lnTo>
                  <a:lnTo>
                    <a:pt x="122" y="130"/>
                  </a:lnTo>
                  <a:lnTo>
                    <a:pt x="131" y="132"/>
                  </a:lnTo>
                  <a:lnTo>
                    <a:pt x="141" y="132"/>
                  </a:lnTo>
                  <a:lnTo>
                    <a:pt x="134" y="137"/>
                  </a:lnTo>
                  <a:lnTo>
                    <a:pt x="126" y="144"/>
                  </a:lnTo>
                  <a:lnTo>
                    <a:pt x="119" y="152"/>
                  </a:lnTo>
                  <a:lnTo>
                    <a:pt x="113" y="159"/>
                  </a:lnTo>
                  <a:lnTo>
                    <a:pt x="109" y="154"/>
                  </a:lnTo>
                  <a:lnTo>
                    <a:pt x="105" y="145"/>
                  </a:lnTo>
                  <a:lnTo>
                    <a:pt x="100" y="136"/>
                  </a:lnTo>
                  <a:lnTo>
                    <a:pt x="99" y="132"/>
                  </a:lnTo>
                  <a:lnTo>
                    <a:pt x="95" y="135"/>
                  </a:lnTo>
                  <a:lnTo>
                    <a:pt x="87" y="144"/>
                  </a:lnTo>
                  <a:lnTo>
                    <a:pt x="75" y="157"/>
                  </a:lnTo>
                  <a:lnTo>
                    <a:pt x="64" y="171"/>
                  </a:lnTo>
                  <a:lnTo>
                    <a:pt x="51" y="185"/>
                  </a:lnTo>
                  <a:lnTo>
                    <a:pt x="41" y="198"/>
                  </a:lnTo>
                  <a:lnTo>
                    <a:pt x="33" y="207"/>
                  </a:lnTo>
                  <a:lnTo>
                    <a:pt x="30" y="211"/>
                  </a:lnTo>
                  <a:lnTo>
                    <a:pt x="20" y="201"/>
                  </a:lnTo>
                  <a:lnTo>
                    <a:pt x="11" y="192"/>
                  </a:lnTo>
                  <a:lnTo>
                    <a:pt x="3" y="184"/>
                  </a:lnTo>
                  <a:lnTo>
                    <a:pt x="0" y="180"/>
                  </a:lnTo>
                  <a:lnTo>
                    <a:pt x="17" y="163"/>
                  </a:lnTo>
                  <a:lnTo>
                    <a:pt x="37" y="139"/>
                  </a:lnTo>
                  <a:lnTo>
                    <a:pt x="57" y="111"/>
                  </a:lnTo>
                  <a:lnTo>
                    <a:pt x="79" y="83"/>
                  </a:lnTo>
                  <a:lnTo>
                    <a:pt x="100" y="56"/>
                  </a:lnTo>
                  <a:lnTo>
                    <a:pt x="118" y="31"/>
                  </a:lnTo>
                  <a:lnTo>
                    <a:pt x="132" y="12"/>
                  </a:lnTo>
                  <a:lnTo>
                    <a:pt x="141" y="0"/>
                  </a:lnTo>
                  <a:lnTo>
                    <a:pt x="144" y="7"/>
                  </a:lnTo>
                  <a:lnTo>
                    <a:pt x="145" y="13"/>
                  </a:lnTo>
                  <a:lnTo>
                    <a:pt x="148" y="21"/>
                  </a:lnTo>
                  <a:lnTo>
                    <a:pt x="151" y="27"/>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7" name="Freeform 8"/>
            <p:cNvSpPr>
              <a:spLocks/>
            </p:cNvSpPr>
            <p:nvPr/>
          </p:nvSpPr>
          <p:spPr bwMode="auto">
            <a:xfrm>
              <a:off x="2271" y="2834"/>
              <a:ext cx="58" cy="65"/>
            </a:xfrm>
            <a:custGeom>
              <a:avLst/>
              <a:gdLst>
                <a:gd name="T0" fmla="*/ 44 w 58"/>
                <a:gd name="T1" fmla="*/ 0 h 65"/>
                <a:gd name="T2" fmla="*/ 53 w 58"/>
                <a:gd name="T3" fmla="*/ 17 h 65"/>
                <a:gd name="T4" fmla="*/ 57 w 58"/>
                <a:gd name="T5" fmla="*/ 31 h 65"/>
                <a:gd name="T6" fmla="*/ 57 w 58"/>
                <a:gd name="T7" fmla="*/ 41 h 65"/>
                <a:gd name="T8" fmla="*/ 58 w 58"/>
                <a:gd name="T9" fmla="*/ 47 h 65"/>
                <a:gd name="T10" fmla="*/ 56 w 58"/>
                <a:gd name="T11" fmla="*/ 52 h 65"/>
                <a:gd name="T12" fmla="*/ 54 w 58"/>
                <a:gd name="T13" fmla="*/ 56 h 65"/>
                <a:gd name="T14" fmla="*/ 52 w 58"/>
                <a:gd name="T15" fmla="*/ 58 h 65"/>
                <a:gd name="T16" fmla="*/ 45 w 58"/>
                <a:gd name="T17" fmla="*/ 61 h 65"/>
                <a:gd name="T18" fmla="*/ 39 w 58"/>
                <a:gd name="T19" fmla="*/ 63 h 65"/>
                <a:gd name="T20" fmla="*/ 34 w 58"/>
                <a:gd name="T21" fmla="*/ 65 h 65"/>
                <a:gd name="T22" fmla="*/ 30 w 58"/>
                <a:gd name="T23" fmla="*/ 65 h 65"/>
                <a:gd name="T24" fmla="*/ 25 w 58"/>
                <a:gd name="T25" fmla="*/ 63 h 65"/>
                <a:gd name="T26" fmla="*/ 19 w 58"/>
                <a:gd name="T27" fmla="*/ 61 h 65"/>
                <a:gd name="T28" fmla="*/ 14 w 58"/>
                <a:gd name="T29" fmla="*/ 58 h 65"/>
                <a:gd name="T30" fmla="*/ 8 w 58"/>
                <a:gd name="T31" fmla="*/ 56 h 65"/>
                <a:gd name="T32" fmla="*/ 0 w 58"/>
                <a:gd name="T33" fmla="*/ 52 h 65"/>
                <a:gd name="T34" fmla="*/ 3 w 58"/>
                <a:gd name="T35" fmla="*/ 48 h 65"/>
                <a:gd name="T36" fmla="*/ 8 w 58"/>
                <a:gd name="T37" fmla="*/ 40 h 65"/>
                <a:gd name="T38" fmla="*/ 14 w 58"/>
                <a:gd name="T39" fmla="*/ 32 h 65"/>
                <a:gd name="T40" fmla="*/ 22 w 58"/>
                <a:gd name="T41" fmla="*/ 22 h 65"/>
                <a:gd name="T42" fmla="*/ 30 w 58"/>
                <a:gd name="T43" fmla="*/ 13 h 65"/>
                <a:gd name="T44" fmla="*/ 36 w 58"/>
                <a:gd name="T45" fmla="*/ 6 h 65"/>
                <a:gd name="T46" fmla="*/ 41 w 58"/>
                <a:gd name="T47" fmla="*/ 1 h 65"/>
                <a:gd name="T48" fmla="*/ 44 w 58"/>
                <a:gd name="T49" fmla="*/ 0 h 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8"/>
                <a:gd name="T76" fmla="*/ 0 h 65"/>
                <a:gd name="T77" fmla="*/ 58 w 58"/>
                <a:gd name="T78" fmla="*/ 65 h 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8" h="65">
                  <a:moveTo>
                    <a:pt x="44" y="0"/>
                  </a:moveTo>
                  <a:lnTo>
                    <a:pt x="53" y="17"/>
                  </a:lnTo>
                  <a:lnTo>
                    <a:pt x="57" y="31"/>
                  </a:lnTo>
                  <a:lnTo>
                    <a:pt x="57" y="41"/>
                  </a:lnTo>
                  <a:lnTo>
                    <a:pt x="58" y="47"/>
                  </a:lnTo>
                  <a:lnTo>
                    <a:pt x="56" y="52"/>
                  </a:lnTo>
                  <a:lnTo>
                    <a:pt x="54" y="56"/>
                  </a:lnTo>
                  <a:lnTo>
                    <a:pt x="52" y="58"/>
                  </a:lnTo>
                  <a:lnTo>
                    <a:pt x="45" y="61"/>
                  </a:lnTo>
                  <a:lnTo>
                    <a:pt x="39" y="63"/>
                  </a:lnTo>
                  <a:lnTo>
                    <a:pt x="34" y="65"/>
                  </a:lnTo>
                  <a:lnTo>
                    <a:pt x="30" y="65"/>
                  </a:lnTo>
                  <a:lnTo>
                    <a:pt x="25" y="63"/>
                  </a:lnTo>
                  <a:lnTo>
                    <a:pt x="19" y="61"/>
                  </a:lnTo>
                  <a:lnTo>
                    <a:pt x="14" y="58"/>
                  </a:lnTo>
                  <a:lnTo>
                    <a:pt x="8" y="56"/>
                  </a:lnTo>
                  <a:lnTo>
                    <a:pt x="0" y="52"/>
                  </a:lnTo>
                  <a:lnTo>
                    <a:pt x="3" y="48"/>
                  </a:lnTo>
                  <a:lnTo>
                    <a:pt x="8" y="40"/>
                  </a:lnTo>
                  <a:lnTo>
                    <a:pt x="14" y="32"/>
                  </a:lnTo>
                  <a:lnTo>
                    <a:pt x="22" y="22"/>
                  </a:lnTo>
                  <a:lnTo>
                    <a:pt x="30" y="13"/>
                  </a:lnTo>
                  <a:lnTo>
                    <a:pt x="36" y="6"/>
                  </a:lnTo>
                  <a:lnTo>
                    <a:pt x="41" y="1"/>
                  </a:lnTo>
                  <a:lnTo>
                    <a:pt x="44" y="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8" name="Freeform 9"/>
            <p:cNvSpPr>
              <a:spLocks/>
            </p:cNvSpPr>
            <p:nvPr/>
          </p:nvSpPr>
          <p:spPr bwMode="auto">
            <a:xfrm>
              <a:off x="2201" y="3015"/>
              <a:ext cx="34" cy="24"/>
            </a:xfrm>
            <a:custGeom>
              <a:avLst/>
              <a:gdLst>
                <a:gd name="T0" fmla="*/ 34 w 34"/>
                <a:gd name="T1" fmla="*/ 3 h 24"/>
                <a:gd name="T2" fmla="*/ 29 w 34"/>
                <a:gd name="T3" fmla="*/ 7 h 24"/>
                <a:gd name="T4" fmla="*/ 23 w 34"/>
                <a:gd name="T5" fmla="*/ 12 h 24"/>
                <a:gd name="T6" fmla="*/ 20 w 34"/>
                <a:gd name="T7" fmla="*/ 18 h 24"/>
                <a:gd name="T8" fmla="*/ 16 w 34"/>
                <a:gd name="T9" fmla="*/ 24 h 24"/>
                <a:gd name="T10" fmla="*/ 12 w 34"/>
                <a:gd name="T11" fmla="*/ 17 h 24"/>
                <a:gd name="T12" fmla="*/ 8 w 34"/>
                <a:gd name="T13" fmla="*/ 12 h 24"/>
                <a:gd name="T14" fmla="*/ 4 w 34"/>
                <a:gd name="T15" fmla="*/ 5 h 24"/>
                <a:gd name="T16" fmla="*/ 0 w 34"/>
                <a:gd name="T17" fmla="*/ 0 h 24"/>
                <a:gd name="T18" fmla="*/ 8 w 34"/>
                <a:gd name="T19" fmla="*/ 3 h 24"/>
                <a:gd name="T20" fmla="*/ 17 w 34"/>
                <a:gd name="T21" fmla="*/ 3 h 24"/>
                <a:gd name="T22" fmla="*/ 25 w 34"/>
                <a:gd name="T23" fmla="*/ 4 h 24"/>
                <a:gd name="T24" fmla="*/ 34 w 34"/>
                <a:gd name="T25" fmla="*/ 3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24"/>
                <a:gd name="T41" fmla="*/ 34 w 34"/>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24">
                  <a:moveTo>
                    <a:pt x="34" y="3"/>
                  </a:moveTo>
                  <a:lnTo>
                    <a:pt x="29" y="7"/>
                  </a:lnTo>
                  <a:lnTo>
                    <a:pt x="23" y="12"/>
                  </a:lnTo>
                  <a:lnTo>
                    <a:pt x="20" y="18"/>
                  </a:lnTo>
                  <a:lnTo>
                    <a:pt x="16" y="24"/>
                  </a:lnTo>
                  <a:lnTo>
                    <a:pt x="12" y="17"/>
                  </a:lnTo>
                  <a:lnTo>
                    <a:pt x="8" y="12"/>
                  </a:lnTo>
                  <a:lnTo>
                    <a:pt x="4" y="5"/>
                  </a:lnTo>
                  <a:lnTo>
                    <a:pt x="0" y="0"/>
                  </a:lnTo>
                  <a:lnTo>
                    <a:pt x="8" y="3"/>
                  </a:lnTo>
                  <a:lnTo>
                    <a:pt x="17" y="3"/>
                  </a:lnTo>
                  <a:lnTo>
                    <a:pt x="25" y="4"/>
                  </a:lnTo>
                  <a:lnTo>
                    <a:pt x="34" y="3"/>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9" name="Freeform 10"/>
            <p:cNvSpPr>
              <a:spLocks/>
            </p:cNvSpPr>
            <p:nvPr/>
          </p:nvSpPr>
          <p:spPr bwMode="auto">
            <a:xfrm>
              <a:off x="1392" y="2572"/>
              <a:ext cx="892" cy="726"/>
            </a:xfrm>
            <a:custGeom>
              <a:avLst/>
              <a:gdLst>
                <a:gd name="T0" fmla="*/ 199 w 892"/>
                <a:gd name="T1" fmla="*/ 233 h 726"/>
                <a:gd name="T2" fmla="*/ 232 w 892"/>
                <a:gd name="T3" fmla="*/ 192 h 726"/>
                <a:gd name="T4" fmla="*/ 265 w 892"/>
                <a:gd name="T5" fmla="*/ 150 h 726"/>
                <a:gd name="T6" fmla="*/ 303 w 892"/>
                <a:gd name="T7" fmla="*/ 95 h 726"/>
                <a:gd name="T8" fmla="*/ 338 w 892"/>
                <a:gd name="T9" fmla="*/ 44 h 726"/>
                <a:gd name="T10" fmla="*/ 379 w 892"/>
                <a:gd name="T11" fmla="*/ 7 h 726"/>
                <a:gd name="T12" fmla="*/ 403 w 892"/>
                <a:gd name="T13" fmla="*/ 0 h 726"/>
                <a:gd name="T14" fmla="*/ 482 w 892"/>
                <a:gd name="T15" fmla="*/ 29 h 726"/>
                <a:gd name="T16" fmla="*/ 555 w 892"/>
                <a:gd name="T17" fmla="*/ 55 h 726"/>
                <a:gd name="T18" fmla="*/ 624 w 892"/>
                <a:gd name="T19" fmla="*/ 82 h 726"/>
                <a:gd name="T20" fmla="*/ 673 w 892"/>
                <a:gd name="T21" fmla="*/ 99 h 726"/>
                <a:gd name="T22" fmla="*/ 721 w 892"/>
                <a:gd name="T23" fmla="*/ 112 h 726"/>
                <a:gd name="T24" fmla="*/ 770 w 892"/>
                <a:gd name="T25" fmla="*/ 122 h 726"/>
                <a:gd name="T26" fmla="*/ 819 w 892"/>
                <a:gd name="T27" fmla="*/ 132 h 726"/>
                <a:gd name="T28" fmla="*/ 873 w 892"/>
                <a:gd name="T29" fmla="*/ 145 h 726"/>
                <a:gd name="T30" fmla="*/ 892 w 892"/>
                <a:gd name="T31" fmla="*/ 179 h 726"/>
                <a:gd name="T32" fmla="*/ 874 w 892"/>
                <a:gd name="T33" fmla="*/ 207 h 726"/>
                <a:gd name="T34" fmla="*/ 860 w 892"/>
                <a:gd name="T35" fmla="*/ 228 h 726"/>
                <a:gd name="T36" fmla="*/ 843 w 892"/>
                <a:gd name="T37" fmla="*/ 250 h 726"/>
                <a:gd name="T38" fmla="*/ 799 w 892"/>
                <a:gd name="T39" fmla="*/ 310 h 726"/>
                <a:gd name="T40" fmla="*/ 755 w 892"/>
                <a:gd name="T41" fmla="*/ 367 h 726"/>
                <a:gd name="T42" fmla="*/ 729 w 892"/>
                <a:gd name="T43" fmla="*/ 372 h 726"/>
                <a:gd name="T44" fmla="*/ 687 w 892"/>
                <a:gd name="T45" fmla="*/ 359 h 726"/>
                <a:gd name="T46" fmla="*/ 645 w 892"/>
                <a:gd name="T47" fmla="*/ 356 h 726"/>
                <a:gd name="T48" fmla="*/ 610 w 892"/>
                <a:gd name="T49" fmla="*/ 363 h 726"/>
                <a:gd name="T50" fmla="*/ 586 w 892"/>
                <a:gd name="T51" fmla="*/ 384 h 726"/>
                <a:gd name="T52" fmla="*/ 577 w 892"/>
                <a:gd name="T53" fmla="*/ 411 h 726"/>
                <a:gd name="T54" fmla="*/ 598 w 892"/>
                <a:gd name="T55" fmla="*/ 451 h 726"/>
                <a:gd name="T56" fmla="*/ 646 w 892"/>
                <a:gd name="T57" fmla="*/ 469 h 726"/>
                <a:gd name="T58" fmla="*/ 674 w 892"/>
                <a:gd name="T59" fmla="*/ 487 h 726"/>
                <a:gd name="T60" fmla="*/ 619 w 892"/>
                <a:gd name="T61" fmla="*/ 573 h 726"/>
                <a:gd name="T62" fmla="*/ 533 w 892"/>
                <a:gd name="T63" fmla="*/ 687 h 726"/>
                <a:gd name="T64" fmla="*/ 492 w 892"/>
                <a:gd name="T65" fmla="*/ 723 h 726"/>
                <a:gd name="T66" fmla="*/ 466 w 892"/>
                <a:gd name="T67" fmla="*/ 726 h 726"/>
                <a:gd name="T68" fmla="*/ 443 w 892"/>
                <a:gd name="T69" fmla="*/ 723 h 726"/>
                <a:gd name="T70" fmla="*/ 370 w 892"/>
                <a:gd name="T71" fmla="*/ 702 h 726"/>
                <a:gd name="T72" fmla="*/ 304 w 892"/>
                <a:gd name="T73" fmla="*/ 678 h 726"/>
                <a:gd name="T74" fmla="*/ 268 w 892"/>
                <a:gd name="T75" fmla="*/ 663 h 726"/>
                <a:gd name="T76" fmla="*/ 216 w 892"/>
                <a:gd name="T77" fmla="*/ 645 h 726"/>
                <a:gd name="T78" fmla="*/ 163 w 892"/>
                <a:gd name="T79" fmla="*/ 626 h 726"/>
                <a:gd name="T80" fmla="*/ 111 w 892"/>
                <a:gd name="T81" fmla="*/ 608 h 726"/>
                <a:gd name="T82" fmla="*/ 58 w 892"/>
                <a:gd name="T83" fmla="*/ 588 h 726"/>
                <a:gd name="T84" fmla="*/ 7 w 892"/>
                <a:gd name="T85" fmla="*/ 568 h 726"/>
                <a:gd name="T86" fmla="*/ 1 w 892"/>
                <a:gd name="T87" fmla="*/ 560 h 726"/>
                <a:gd name="T88" fmla="*/ 44 w 892"/>
                <a:gd name="T89" fmla="*/ 483 h 726"/>
                <a:gd name="T90" fmla="*/ 115 w 892"/>
                <a:gd name="T91" fmla="*/ 376 h 726"/>
                <a:gd name="T92" fmla="*/ 181 w 892"/>
                <a:gd name="T93" fmla="*/ 263 h 72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92"/>
                <a:gd name="T142" fmla="*/ 0 h 726"/>
                <a:gd name="T143" fmla="*/ 892 w 892"/>
                <a:gd name="T144" fmla="*/ 726 h 72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92" h="726">
                  <a:moveTo>
                    <a:pt x="181" y="263"/>
                  </a:moveTo>
                  <a:lnTo>
                    <a:pt x="189" y="248"/>
                  </a:lnTo>
                  <a:lnTo>
                    <a:pt x="199" y="233"/>
                  </a:lnTo>
                  <a:lnTo>
                    <a:pt x="210" y="219"/>
                  </a:lnTo>
                  <a:lnTo>
                    <a:pt x="220" y="205"/>
                  </a:lnTo>
                  <a:lnTo>
                    <a:pt x="232" y="192"/>
                  </a:lnTo>
                  <a:lnTo>
                    <a:pt x="242" y="178"/>
                  </a:lnTo>
                  <a:lnTo>
                    <a:pt x="254" y="165"/>
                  </a:lnTo>
                  <a:lnTo>
                    <a:pt x="265" y="150"/>
                  </a:lnTo>
                  <a:lnTo>
                    <a:pt x="280" y="132"/>
                  </a:lnTo>
                  <a:lnTo>
                    <a:pt x="291" y="113"/>
                  </a:lnTo>
                  <a:lnTo>
                    <a:pt x="303" y="95"/>
                  </a:lnTo>
                  <a:lnTo>
                    <a:pt x="315" y="78"/>
                  </a:lnTo>
                  <a:lnTo>
                    <a:pt x="325" y="61"/>
                  </a:lnTo>
                  <a:lnTo>
                    <a:pt x="338" y="44"/>
                  </a:lnTo>
                  <a:lnTo>
                    <a:pt x="353" y="27"/>
                  </a:lnTo>
                  <a:lnTo>
                    <a:pt x="370" y="12"/>
                  </a:lnTo>
                  <a:lnTo>
                    <a:pt x="379" y="7"/>
                  </a:lnTo>
                  <a:lnTo>
                    <a:pt x="391" y="3"/>
                  </a:lnTo>
                  <a:lnTo>
                    <a:pt x="399" y="0"/>
                  </a:lnTo>
                  <a:lnTo>
                    <a:pt x="403" y="0"/>
                  </a:lnTo>
                  <a:lnTo>
                    <a:pt x="430" y="11"/>
                  </a:lnTo>
                  <a:lnTo>
                    <a:pt x="456" y="21"/>
                  </a:lnTo>
                  <a:lnTo>
                    <a:pt x="482" y="29"/>
                  </a:lnTo>
                  <a:lnTo>
                    <a:pt x="506" y="38"/>
                  </a:lnTo>
                  <a:lnTo>
                    <a:pt x="531" y="47"/>
                  </a:lnTo>
                  <a:lnTo>
                    <a:pt x="555" y="55"/>
                  </a:lnTo>
                  <a:lnTo>
                    <a:pt x="581" y="65"/>
                  </a:lnTo>
                  <a:lnTo>
                    <a:pt x="607" y="75"/>
                  </a:lnTo>
                  <a:lnTo>
                    <a:pt x="624" y="82"/>
                  </a:lnTo>
                  <a:lnTo>
                    <a:pt x="641" y="88"/>
                  </a:lnTo>
                  <a:lnTo>
                    <a:pt x="656" y="93"/>
                  </a:lnTo>
                  <a:lnTo>
                    <a:pt x="673" y="99"/>
                  </a:lnTo>
                  <a:lnTo>
                    <a:pt x="689" y="104"/>
                  </a:lnTo>
                  <a:lnTo>
                    <a:pt x="706" y="108"/>
                  </a:lnTo>
                  <a:lnTo>
                    <a:pt x="721" y="112"/>
                  </a:lnTo>
                  <a:lnTo>
                    <a:pt x="738" y="115"/>
                  </a:lnTo>
                  <a:lnTo>
                    <a:pt x="753" y="119"/>
                  </a:lnTo>
                  <a:lnTo>
                    <a:pt x="770" y="122"/>
                  </a:lnTo>
                  <a:lnTo>
                    <a:pt x="786" y="126"/>
                  </a:lnTo>
                  <a:lnTo>
                    <a:pt x="803" y="130"/>
                  </a:lnTo>
                  <a:lnTo>
                    <a:pt x="819" y="132"/>
                  </a:lnTo>
                  <a:lnTo>
                    <a:pt x="838" y="136"/>
                  </a:lnTo>
                  <a:lnTo>
                    <a:pt x="854" y="141"/>
                  </a:lnTo>
                  <a:lnTo>
                    <a:pt x="873" y="145"/>
                  </a:lnTo>
                  <a:lnTo>
                    <a:pt x="885" y="153"/>
                  </a:lnTo>
                  <a:lnTo>
                    <a:pt x="892" y="165"/>
                  </a:lnTo>
                  <a:lnTo>
                    <a:pt x="892" y="179"/>
                  </a:lnTo>
                  <a:lnTo>
                    <a:pt x="885" y="192"/>
                  </a:lnTo>
                  <a:lnTo>
                    <a:pt x="879" y="200"/>
                  </a:lnTo>
                  <a:lnTo>
                    <a:pt x="874" y="207"/>
                  </a:lnTo>
                  <a:lnTo>
                    <a:pt x="870" y="214"/>
                  </a:lnTo>
                  <a:lnTo>
                    <a:pt x="865" y="220"/>
                  </a:lnTo>
                  <a:lnTo>
                    <a:pt x="860" y="228"/>
                  </a:lnTo>
                  <a:lnTo>
                    <a:pt x="854" y="235"/>
                  </a:lnTo>
                  <a:lnTo>
                    <a:pt x="849" y="242"/>
                  </a:lnTo>
                  <a:lnTo>
                    <a:pt x="843" y="250"/>
                  </a:lnTo>
                  <a:lnTo>
                    <a:pt x="830" y="267"/>
                  </a:lnTo>
                  <a:lnTo>
                    <a:pt x="814" y="288"/>
                  </a:lnTo>
                  <a:lnTo>
                    <a:pt x="799" y="310"/>
                  </a:lnTo>
                  <a:lnTo>
                    <a:pt x="782" y="331"/>
                  </a:lnTo>
                  <a:lnTo>
                    <a:pt x="768" y="350"/>
                  </a:lnTo>
                  <a:lnTo>
                    <a:pt x="755" y="367"/>
                  </a:lnTo>
                  <a:lnTo>
                    <a:pt x="746" y="377"/>
                  </a:lnTo>
                  <a:lnTo>
                    <a:pt x="742" y="380"/>
                  </a:lnTo>
                  <a:lnTo>
                    <a:pt x="729" y="372"/>
                  </a:lnTo>
                  <a:lnTo>
                    <a:pt x="716" y="367"/>
                  </a:lnTo>
                  <a:lnTo>
                    <a:pt x="702" y="363"/>
                  </a:lnTo>
                  <a:lnTo>
                    <a:pt x="687" y="359"/>
                  </a:lnTo>
                  <a:lnTo>
                    <a:pt x="673" y="358"/>
                  </a:lnTo>
                  <a:lnTo>
                    <a:pt x="659" y="356"/>
                  </a:lnTo>
                  <a:lnTo>
                    <a:pt x="645" y="356"/>
                  </a:lnTo>
                  <a:lnTo>
                    <a:pt x="630" y="358"/>
                  </a:lnTo>
                  <a:lnTo>
                    <a:pt x="620" y="359"/>
                  </a:lnTo>
                  <a:lnTo>
                    <a:pt x="610" y="363"/>
                  </a:lnTo>
                  <a:lnTo>
                    <a:pt x="601" y="368"/>
                  </a:lnTo>
                  <a:lnTo>
                    <a:pt x="593" y="375"/>
                  </a:lnTo>
                  <a:lnTo>
                    <a:pt x="586" y="384"/>
                  </a:lnTo>
                  <a:lnTo>
                    <a:pt x="583" y="391"/>
                  </a:lnTo>
                  <a:lnTo>
                    <a:pt x="579" y="402"/>
                  </a:lnTo>
                  <a:lnTo>
                    <a:pt x="577" y="411"/>
                  </a:lnTo>
                  <a:lnTo>
                    <a:pt x="580" y="428"/>
                  </a:lnTo>
                  <a:lnTo>
                    <a:pt x="586" y="441"/>
                  </a:lnTo>
                  <a:lnTo>
                    <a:pt x="598" y="451"/>
                  </a:lnTo>
                  <a:lnTo>
                    <a:pt x="612" y="459"/>
                  </a:lnTo>
                  <a:lnTo>
                    <a:pt x="629" y="464"/>
                  </a:lnTo>
                  <a:lnTo>
                    <a:pt x="646" y="469"/>
                  </a:lnTo>
                  <a:lnTo>
                    <a:pt x="663" y="474"/>
                  </a:lnTo>
                  <a:lnTo>
                    <a:pt x="677" y="479"/>
                  </a:lnTo>
                  <a:lnTo>
                    <a:pt x="674" y="487"/>
                  </a:lnTo>
                  <a:lnTo>
                    <a:pt x="663" y="508"/>
                  </a:lnTo>
                  <a:lnTo>
                    <a:pt x="643" y="538"/>
                  </a:lnTo>
                  <a:lnTo>
                    <a:pt x="619" y="573"/>
                  </a:lnTo>
                  <a:lnTo>
                    <a:pt x="592" y="612"/>
                  </a:lnTo>
                  <a:lnTo>
                    <a:pt x="562" y="650"/>
                  </a:lnTo>
                  <a:lnTo>
                    <a:pt x="533" y="687"/>
                  </a:lnTo>
                  <a:lnTo>
                    <a:pt x="506" y="718"/>
                  </a:lnTo>
                  <a:lnTo>
                    <a:pt x="498" y="720"/>
                  </a:lnTo>
                  <a:lnTo>
                    <a:pt x="492" y="723"/>
                  </a:lnTo>
                  <a:lnTo>
                    <a:pt x="483" y="724"/>
                  </a:lnTo>
                  <a:lnTo>
                    <a:pt x="475" y="724"/>
                  </a:lnTo>
                  <a:lnTo>
                    <a:pt x="466" y="726"/>
                  </a:lnTo>
                  <a:lnTo>
                    <a:pt x="458" y="724"/>
                  </a:lnTo>
                  <a:lnTo>
                    <a:pt x="451" y="724"/>
                  </a:lnTo>
                  <a:lnTo>
                    <a:pt x="443" y="723"/>
                  </a:lnTo>
                  <a:lnTo>
                    <a:pt x="421" y="718"/>
                  </a:lnTo>
                  <a:lnTo>
                    <a:pt x="396" y="710"/>
                  </a:lnTo>
                  <a:lnTo>
                    <a:pt x="370" y="702"/>
                  </a:lnTo>
                  <a:lnTo>
                    <a:pt x="346" y="693"/>
                  </a:lnTo>
                  <a:lnTo>
                    <a:pt x="324" y="684"/>
                  </a:lnTo>
                  <a:lnTo>
                    <a:pt x="304" y="678"/>
                  </a:lnTo>
                  <a:lnTo>
                    <a:pt x="291" y="672"/>
                  </a:lnTo>
                  <a:lnTo>
                    <a:pt x="286" y="670"/>
                  </a:lnTo>
                  <a:lnTo>
                    <a:pt x="268" y="663"/>
                  </a:lnTo>
                  <a:lnTo>
                    <a:pt x="251" y="657"/>
                  </a:lnTo>
                  <a:lnTo>
                    <a:pt x="233" y="652"/>
                  </a:lnTo>
                  <a:lnTo>
                    <a:pt x="216" y="645"/>
                  </a:lnTo>
                  <a:lnTo>
                    <a:pt x="198" y="639"/>
                  </a:lnTo>
                  <a:lnTo>
                    <a:pt x="181" y="632"/>
                  </a:lnTo>
                  <a:lnTo>
                    <a:pt x="163" y="626"/>
                  </a:lnTo>
                  <a:lnTo>
                    <a:pt x="146" y="621"/>
                  </a:lnTo>
                  <a:lnTo>
                    <a:pt x="128" y="614"/>
                  </a:lnTo>
                  <a:lnTo>
                    <a:pt x="111" y="608"/>
                  </a:lnTo>
                  <a:lnTo>
                    <a:pt x="93" y="601"/>
                  </a:lnTo>
                  <a:lnTo>
                    <a:pt x="76" y="595"/>
                  </a:lnTo>
                  <a:lnTo>
                    <a:pt x="58" y="588"/>
                  </a:lnTo>
                  <a:lnTo>
                    <a:pt x="42" y="582"/>
                  </a:lnTo>
                  <a:lnTo>
                    <a:pt x="23" y="574"/>
                  </a:lnTo>
                  <a:lnTo>
                    <a:pt x="7" y="568"/>
                  </a:lnTo>
                  <a:lnTo>
                    <a:pt x="5" y="565"/>
                  </a:lnTo>
                  <a:lnTo>
                    <a:pt x="3" y="562"/>
                  </a:lnTo>
                  <a:lnTo>
                    <a:pt x="1" y="560"/>
                  </a:lnTo>
                  <a:lnTo>
                    <a:pt x="0" y="557"/>
                  </a:lnTo>
                  <a:lnTo>
                    <a:pt x="21" y="520"/>
                  </a:lnTo>
                  <a:lnTo>
                    <a:pt x="44" y="483"/>
                  </a:lnTo>
                  <a:lnTo>
                    <a:pt x="67" y="447"/>
                  </a:lnTo>
                  <a:lnTo>
                    <a:pt x="92" y="412"/>
                  </a:lnTo>
                  <a:lnTo>
                    <a:pt x="115" y="376"/>
                  </a:lnTo>
                  <a:lnTo>
                    <a:pt x="139" y="338"/>
                  </a:lnTo>
                  <a:lnTo>
                    <a:pt x="161" y="302"/>
                  </a:lnTo>
                  <a:lnTo>
                    <a:pt x="181" y="263"/>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0" name="Freeform 11"/>
            <p:cNvSpPr>
              <a:spLocks/>
            </p:cNvSpPr>
            <p:nvPr/>
          </p:nvSpPr>
          <p:spPr bwMode="auto">
            <a:xfrm>
              <a:off x="1387" y="3070"/>
              <a:ext cx="762" cy="308"/>
            </a:xfrm>
            <a:custGeom>
              <a:avLst/>
              <a:gdLst>
                <a:gd name="T0" fmla="*/ 39 w 762"/>
                <a:gd name="T1" fmla="*/ 99 h 308"/>
                <a:gd name="T2" fmla="*/ 103 w 762"/>
                <a:gd name="T3" fmla="*/ 128 h 308"/>
                <a:gd name="T4" fmla="*/ 164 w 762"/>
                <a:gd name="T5" fmla="*/ 152 h 308"/>
                <a:gd name="T6" fmla="*/ 195 w 762"/>
                <a:gd name="T7" fmla="*/ 164 h 308"/>
                <a:gd name="T8" fmla="*/ 250 w 762"/>
                <a:gd name="T9" fmla="*/ 184 h 308"/>
                <a:gd name="T10" fmla="*/ 316 w 762"/>
                <a:gd name="T11" fmla="*/ 208 h 308"/>
                <a:gd name="T12" fmla="*/ 382 w 762"/>
                <a:gd name="T13" fmla="*/ 230 h 308"/>
                <a:gd name="T14" fmla="*/ 435 w 762"/>
                <a:gd name="T15" fmla="*/ 244 h 308"/>
                <a:gd name="T16" fmla="*/ 467 w 762"/>
                <a:gd name="T17" fmla="*/ 251 h 308"/>
                <a:gd name="T18" fmla="*/ 494 w 762"/>
                <a:gd name="T19" fmla="*/ 256 h 308"/>
                <a:gd name="T20" fmla="*/ 520 w 762"/>
                <a:gd name="T21" fmla="*/ 252 h 308"/>
                <a:gd name="T22" fmla="*/ 569 w 762"/>
                <a:gd name="T23" fmla="*/ 190 h 308"/>
                <a:gd name="T24" fmla="*/ 616 w 762"/>
                <a:gd name="T25" fmla="*/ 121 h 308"/>
                <a:gd name="T26" fmla="*/ 656 w 762"/>
                <a:gd name="T27" fmla="*/ 66 h 308"/>
                <a:gd name="T28" fmla="*/ 689 w 762"/>
                <a:gd name="T29" fmla="*/ 26 h 308"/>
                <a:gd name="T30" fmla="*/ 714 w 762"/>
                <a:gd name="T31" fmla="*/ 0 h 308"/>
                <a:gd name="T32" fmla="*/ 729 w 762"/>
                <a:gd name="T33" fmla="*/ 11 h 308"/>
                <a:gd name="T34" fmla="*/ 747 w 762"/>
                <a:gd name="T35" fmla="*/ 32 h 308"/>
                <a:gd name="T36" fmla="*/ 762 w 762"/>
                <a:gd name="T37" fmla="*/ 50 h 308"/>
                <a:gd name="T38" fmla="*/ 745 w 762"/>
                <a:gd name="T39" fmla="*/ 73 h 308"/>
                <a:gd name="T40" fmla="*/ 726 w 762"/>
                <a:gd name="T41" fmla="*/ 64 h 308"/>
                <a:gd name="T42" fmla="*/ 712 w 762"/>
                <a:gd name="T43" fmla="*/ 54 h 308"/>
                <a:gd name="T44" fmla="*/ 685 w 762"/>
                <a:gd name="T45" fmla="*/ 89 h 308"/>
                <a:gd name="T46" fmla="*/ 656 w 762"/>
                <a:gd name="T47" fmla="*/ 130 h 308"/>
                <a:gd name="T48" fmla="*/ 656 w 762"/>
                <a:gd name="T49" fmla="*/ 140 h 308"/>
                <a:gd name="T50" fmla="*/ 677 w 762"/>
                <a:gd name="T51" fmla="*/ 147 h 308"/>
                <a:gd name="T52" fmla="*/ 701 w 762"/>
                <a:gd name="T53" fmla="*/ 147 h 308"/>
                <a:gd name="T54" fmla="*/ 686 w 762"/>
                <a:gd name="T55" fmla="*/ 169 h 308"/>
                <a:gd name="T56" fmla="*/ 669 w 762"/>
                <a:gd name="T57" fmla="*/ 190 h 308"/>
                <a:gd name="T58" fmla="*/ 652 w 762"/>
                <a:gd name="T59" fmla="*/ 191 h 308"/>
                <a:gd name="T60" fmla="*/ 633 w 762"/>
                <a:gd name="T61" fmla="*/ 154 h 308"/>
                <a:gd name="T62" fmla="*/ 610 w 762"/>
                <a:gd name="T63" fmla="*/ 180 h 308"/>
                <a:gd name="T64" fmla="*/ 572 w 762"/>
                <a:gd name="T65" fmla="*/ 225 h 308"/>
                <a:gd name="T66" fmla="*/ 562 w 762"/>
                <a:gd name="T67" fmla="*/ 243 h 308"/>
                <a:gd name="T68" fmla="*/ 579 w 762"/>
                <a:gd name="T69" fmla="*/ 251 h 308"/>
                <a:gd name="T70" fmla="*/ 602 w 762"/>
                <a:gd name="T71" fmla="*/ 256 h 308"/>
                <a:gd name="T72" fmla="*/ 590 w 762"/>
                <a:gd name="T73" fmla="*/ 276 h 308"/>
                <a:gd name="T74" fmla="*/ 568 w 762"/>
                <a:gd name="T75" fmla="*/ 296 h 308"/>
                <a:gd name="T76" fmla="*/ 558 w 762"/>
                <a:gd name="T77" fmla="*/ 308 h 308"/>
                <a:gd name="T78" fmla="*/ 479 w 762"/>
                <a:gd name="T79" fmla="*/ 294 h 308"/>
                <a:gd name="T80" fmla="*/ 375 w 762"/>
                <a:gd name="T81" fmla="*/ 265 h 308"/>
                <a:gd name="T82" fmla="*/ 264 w 762"/>
                <a:gd name="T83" fmla="*/ 228 h 308"/>
                <a:gd name="T84" fmla="*/ 163 w 762"/>
                <a:gd name="T85" fmla="*/ 189 h 308"/>
                <a:gd name="T86" fmla="*/ 88 w 762"/>
                <a:gd name="T87" fmla="*/ 155 h 308"/>
                <a:gd name="T88" fmla="*/ 57 w 762"/>
                <a:gd name="T89" fmla="*/ 140 h 308"/>
                <a:gd name="T90" fmla="*/ 26 w 762"/>
                <a:gd name="T91" fmla="*/ 128 h 308"/>
                <a:gd name="T92" fmla="*/ 9 w 762"/>
                <a:gd name="T93" fmla="*/ 123 h 308"/>
                <a:gd name="T94" fmla="*/ 2 w 762"/>
                <a:gd name="T95" fmla="*/ 90 h 30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62"/>
                <a:gd name="T145" fmla="*/ 0 h 308"/>
                <a:gd name="T146" fmla="*/ 762 w 762"/>
                <a:gd name="T147" fmla="*/ 308 h 30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62" h="308">
                  <a:moveTo>
                    <a:pt x="0" y="84"/>
                  </a:moveTo>
                  <a:lnTo>
                    <a:pt x="18" y="92"/>
                  </a:lnTo>
                  <a:lnTo>
                    <a:pt x="39" y="99"/>
                  </a:lnTo>
                  <a:lnTo>
                    <a:pt x="61" y="108"/>
                  </a:lnTo>
                  <a:lnTo>
                    <a:pt x="83" y="118"/>
                  </a:lnTo>
                  <a:lnTo>
                    <a:pt x="103" y="128"/>
                  </a:lnTo>
                  <a:lnTo>
                    <a:pt x="125" y="136"/>
                  </a:lnTo>
                  <a:lnTo>
                    <a:pt x="146" y="145"/>
                  </a:lnTo>
                  <a:lnTo>
                    <a:pt x="164" y="152"/>
                  </a:lnTo>
                  <a:lnTo>
                    <a:pt x="171" y="155"/>
                  </a:lnTo>
                  <a:lnTo>
                    <a:pt x="181" y="159"/>
                  </a:lnTo>
                  <a:lnTo>
                    <a:pt x="195" y="164"/>
                  </a:lnTo>
                  <a:lnTo>
                    <a:pt x="211" y="169"/>
                  </a:lnTo>
                  <a:lnTo>
                    <a:pt x="229" y="177"/>
                  </a:lnTo>
                  <a:lnTo>
                    <a:pt x="250" y="184"/>
                  </a:lnTo>
                  <a:lnTo>
                    <a:pt x="272" y="191"/>
                  </a:lnTo>
                  <a:lnTo>
                    <a:pt x="294" y="199"/>
                  </a:lnTo>
                  <a:lnTo>
                    <a:pt x="316" y="208"/>
                  </a:lnTo>
                  <a:lnTo>
                    <a:pt x="339" y="216"/>
                  </a:lnTo>
                  <a:lnTo>
                    <a:pt x="361" y="222"/>
                  </a:lnTo>
                  <a:lnTo>
                    <a:pt x="382" y="230"/>
                  </a:lnTo>
                  <a:lnTo>
                    <a:pt x="401" y="235"/>
                  </a:lnTo>
                  <a:lnTo>
                    <a:pt x="419" y="241"/>
                  </a:lnTo>
                  <a:lnTo>
                    <a:pt x="435" y="244"/>
                  </a:lnTo>
                  <a:lnTo>
                    <a:pt x="448" y="247"/>
                  </a:lnTo>
                  <a:lnTo>
                    <a:pt x="457" y="248"/>
                  </a:lnTo>
                  <a:lnTo>
                    <a:pt x="467" y="251"/>
                  </a:lnTo>
                  <a:lnTo>
                    <a:pt x="476" y="252"/>
                  </a:lnTo>
                  <a:lnTo>
                    <a:pt x="485" y="255"/>
                  </a:lnTo>
                  <a:lnTo>
                    <a:pt x="494" y="256"/>
                  </a:lnTo>
                  <a:lnTo>
                    <a:pt x="503" y="256"/>
                  </a:lnTo>
                  <a:lnTo>
                    <a:pt x="512" y="255"/>
                  </a:lnTo>
                  <a:lnTo>
                    <a:pt x="520" y="252"/>
                  </a:lnTo>
                  <a:lnTo>
                    <a:pt x="537" y="233"/>
                  </a:lnTo>
                  <a:lnTo>
                    <a:pt x="554" y="212"/>
                  </a:lnTo>
                  <a:lnTo>
                    <a:pt x="569" y="190"/>
                  </a:lnTo>
                  <a:lnTo>
                    <a:pt x="585" y="167"/>
                  </a:lnTo>
                  <a:lnTo>
                    <a:pt x="601" y="143"/>
                  </a:lnTo>
                  <a:lnTo>
                    <a:pt x="616" y="121"/>
                  </a:lnTo>
                  <a:lnTo>
                    <a:pt x="632" y="98"/>
                  </a:lnTo>
                  <a:lnTo>
                    <a:pt x="647" y="77"/>
                  </a:lnTo>
                  <a:lnTo>
                    <a:pt x="656" y="66"/>
                  </a:lnTo>
                  <a:lnTo>
                    <a:pt x="667" y="53"/>
                  </a:lnTo>
                  <a:lnTo>
                    <a:pt x="678" y="38"/>
                  </a:lnTo>
                  <a:lnTo>
                    <a:pt x="689" y="26"/>
                  </a:lnTo>
                  <a:lnTo>
                    <a:pt x="699" y="14"/>
                  </a:lnTo>
                  <a:lnTo>
                    <a:pt x="708" y="5"/>
                  </a:lnTo>
                  <a:lnTo>
                    <a:pt x="714" y="0"/>
                  </a:lnTo>
                  <a:lnTo>
                    <a:pt x="718" y="0"/>
                  </a:lnTo>
                  <a:lnTo>
                    <a:pt x="723" y="5"/>
                  </a:lnTo>
                  <a:lnTo>
                    <a:pt x="729" y="11"/>
                  </a:lnTo>
                  <a:lnTo>
                    <a:pt x="735" y="18"/>
                  </a:lnTo>
                  <a:lnTo>
                    <a:pt x="740" y="24"/>
                  </a:lnTo>
                  <a:lnTo>
                    <a:pt x="747" y="32"/>
                  </a:lnTo>
                  <a:lnTo>
                    <a:pt x="752" y="38"/>
                  </a:lnTo>
                  <a:lnTo>
                    <a:pt x="757" y="45"/>
                  </a:lnTo>
                  <a:lnTo>
                    <a:pt x="762" y="50"/>
                  </a:lnTo>
                  <a:lnTo>
                    <a:pt x="756" y="58"/>
                  </a:lnTo>
                  <a:lnTo>
                    <a:pt x="751" y="66"/>
                  </a:lnTo>
                  <a:lnTo>
                    <a:pt x="745" y="73"/>
                  </a:lnTo>
                  <a:lnTo>
                    <a:pt x="740" y="83"/>
                  </a:lnTo>
                  <a:lnTo>
                    <a:pt x="734" y="75"/>
                  </a:lnTo>
                  <a:lnTo>
                    <a:pt x="726" y="64"/>
                  </a:lnTo>
                  <a:lnTo>
                    <a:pt x="718" y="55"/>
                  </a:lnTo>
                  <a:lnTo>
                    <a:pt x="714" y="51"/>
                  </a:lnTo>
                  <a:lnTo>
                    <a:pt x="712" y="54"/>
                  </a:lnTo>
                  <a:lnTo>
                    <a:pt x="705" y="63"/>
                  </a:lnTo>
                  <a:lnTo>
                    <a:pt x="695" y="75"/>
                  </a:lnTo>
                  <a:lnTo>
                    <a:pt x="685" y="89"/>
                  </a:lnTo>
                  <a:lnTo>
                    <a:pt x="673" y="105"/>
                  </a:lnTo>
                  <a:lnTo>
                    <a:pt x="663" y="119"/>
                  </a:lnTo>
                  <a:lnTo>
                    <a:pt x="656" y="130"/>
                  </a:lnTo>
                  <a:lnTo>
                    <a:pt x="652" y="137"/>
                  </a:lnTo>
                  <a:lnTo>
                    <a:pt x="652" y="138"/>
                  </a:lnTo>
                  <a:lnTo>
                    <a:pt x="656" y="140"/>
                  </a:lnTo>
                  <a:lnTo>
                    <a:pt x="661" y="142"/>
                  </a:lnTo>
                  <a:lnTo>
                    <a:pt x="669" y="145"/>
                  </a:lnTo>
                  <a:lnTo>
                    <a:pt x="677" y="147"/>
                  </a:lnTo>
                  <a:lnTo>
                    <a:pt x="686" y="149"/>
                  </a:lnTo>
                  <a:lnTo>
                    <a:pt x="694" y="149"/>
                  </a:lnTo>
                  <a:lnTo>
                    <a:pt x="701" y="147"/>
                  </a:lnTo>
                  <a:lnTo>
                    <a:pt x="696" y="155"/>
                  </a:lnTo>
                  <a:lnTo>
                    <a:pt x="691" y="162"/>
                  </a:lnTo>
                  <a:lnTo>
                    <a:pt x="686" y="169"/>
                  </a:lnTo>
                  <a:lnTo>
                    <a:pt x="681" y="176"/>
                  </a:lnTo>
                  <a:lnTo>
                    <a:pt x="674" y="182"/>
                  </a:lnTo>
                  <a:lnTo>
                    <a:pt x="669" y="190"/>
                  </a:lnTo>
                  <a:lnTo>
                    <a:pt x="663" y="197"/>
                  </a:lnTo>
                  <a:lnTo>
                    <a:pt x="657" y="203"/>
                  </a:lnTo>
                  <a:lnTo>
                    <a:pt x="652" y="191"/>
                  </a:lnTo>
                  <a:lnTo>
                    <a:pt x="645" y="174"/>
                  </a:lnTo>
                  <a:lnTo>
                    <a:pt x="637" y="160"/>
                  </a:lnTo>
                  <a:lnTo>
                    <a:pt x="633" y="154"/>
                  </a:lnTo>
                  <a:lnTo>
                    <a:pt x="629" y="158"/>
                  </a:lnTo>
                  <a:lnTo>
                    <a:pt x="621" y="167"/>
                  </a:lnTo>
                  <a:lnTo>
                    <a:pt x="610" y="180"/>
                  </a:lnTo>
                  <a:lnTo>
                    <a:pt x="597" y="195"/>
                  </a:lnTo>
                  <a:lnTo>
                    <a:pt x="584" y="211"/>
                  </a:lnTo>
                  <a:lnTo>
                    <a:pt x="572" y="225"/>
                  </a:lnTo>
                  <a:lnTo>
                    <a:pt x="564" y="235"/>
                  </a:lnTo>
                  <a:lnTo>
                    <a:pt x="560" y="241"/>
                  </a:lnTo>
                  <a:lnTo>
                    <a:pt x="562" y="243"/>
                  </a:lnTo>
                  <a:lnTo>
                    <a:pt x="564" y="246"/>
                  </a:lnTo>
                  <a:lnTo>
                    <a:pt x="571" y="248"/>
                  </a:lnTo>
                  <a:lnTo>
                    <a:pt x="579" y="251"/>
                  </a:lnTo>
                  <a:lnTo>
                    <a:pt x="586" y="254"/>
                  </a:lnTo>
                  <a:lnTo>
                    <a:pt x="594" y="255"/>
                  </a:lnTo>
                  <a:lnTo>
                    <a:pt x="602" y="256"/>
                  </a:lnTo>
                  <a:lnTo>
                    <a:pt x="607" y="256"/>
                  </a:lnTo>
                  <a:lnTo>
                    <a:pt x="598" y="266"/>
                  </a:lnTo>
                  <a:lnTo>
                    <a:pt x="590" y="276"/>
                  </a:lnTo>
                  <a:lnTo>
                    <a:pt x="582" y="283"/>
                  </a:lnTo>
                  <a:lnTo>
                    <a:pt x="575" y="290"/>
                  </a:lnTo>
                  <a:lnTo>
                    <a:pt x="568" y="296"/>
                  </a:lnTo>
                  <a:lnTo>
                    <a:pt x="563" y="301"/>
                  </a:lnTo>
                  <a:lnTo>
                    <a:pt x="559" y="305"/>
                  </a:lnTo>
                  <a:lnTo>
                    <a:pt x="558" y="308"/>
                  </a:lnTo>
                  <a:lnTo>
                    <a:pt x="536" y="305"/>
                  </a:lnTo>
                  <a:lnTo>
                    <a:pt x="509" y="301"/>
                  </a:lnTo>
                  <a:lnTo>
                    <a:pt x="479" y="294"/>
                  </a:lnTo>
                  <a:lnTo>
                    <a:pt x="446" y="286"/>
                  </a:lnTo>
                  <a:lnTo>
                    <a:pt x="412" y="276"/>
                  </a:lnTo>
                  <a:lnTo>
                    <a:pt x="375" y="265"/>
                  </a:lnTo>
                  <a:lnTo>
                    <a:pt x="338" y="254"/>
                  </a:lnTo>
                  <a:lnTo>
                    <a:pt x="302" y="241"/>
                  </a:lnTo>
                  <a:lnTo>
                    <a:pt x="264" y="228"/>
                  </a:lnTo>
                  <a:lnTo>
                    <a:pt x="228" y="215"/>
                  </a:lnTo>
                  <a:lnTo>
                    <a:pt x="194" y="202"/>
                  </a:lnTo>
                  <a:lnTo>
                    <a:pt x="163" y="189"/>
                  </a:lnTo>
                  <a:lnTo>
                    <a:pt x="133" y="176"/>
                  </a:lnTo>
                  <a:lnTo>
                    <a:pt x="109" y="165"/>
                  </a:lnTo>
                  <a:lnTo>
                    <a:pt x="88" y="155"/>
                  </a:lnTo>
                  <a:lnTo>
                    <a:pt x="71" y="146"/>
                  </a:lnTo>
                  <a:lnTo>
                    <a:pt x="65" y="143"/>
                  </a:lnTo>
                  <a:lnTo>
                    <a:pt x="57" y="140"/>
                  </a:lnTo>
                  <a:lnTo>
                    <a:pt x="47" y="136"/>
                  </a:lnTo>
                  <a:lnTo>
                    <a:pt x="36" y="132"/>
                  </a:lnTo>
                  <a:lnTo>
                    <a:pt x="26" y="128"/>
                  </a:lnTo>
                  <a:lnTo>
                    <a:pt x="17" y="125"/>
                  </a:lnTo>
                  <a:lnTo>
                    <a:pt x="12" y="124"/>
                  </a:lnTo>
                  <a:lnTo>
                    <a:pt x="9" y="123"/>
                  </a:lnTo>
                  <a:lnTo>
                    <a:pt x="8" y="115"/>
                  </a:lnTo>
                  <a:lnTo>
                    <a:pt x="5" y="103"/>
                  </a:lnTo>
                  <a:lnTo>
                    <a:pt x="2" y="90"/>
                  </a:lnTo>
                  <a:lnTo>
                    <a:pt x="0" y="84"/>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1" name="Freeform 12"/>
            <p:cNvSpPr>
              <a:spLocks/>
            </p:cNvSpPr>
            <p:nvPr/>
          </p:nvSpPr>
          <p:spPr bwMode="auto">
            <a:xfrm>
              <a:off x="2050" y="3142"/>
              <a:ext cx="68" cy="64"/>
            </a:xfrm>
            <a:custGeom>
              <a:avLst/>
              <a:gdLst>
                <a:gd name="T0" fmla="*/ 68 w 68"/>
                <a:gd name="T1" fmla="*/ 30 h 64"/>
                <a:gd name="T2" fmla="*/ 68 w 68"/>
                <a:gd name="T3" fmla="*/ 30 h 64"/>
                <a:gd name="T4" fmla="*/ 64 w 68"/>
                <a:gd name="T5" fmla="*/ 39 h 64"/>
                <a:gd name="T6" fmla="*/ 58 w 68"/>
                <a:gd name="T7" fmla="*/ 46 h 64"/>
                <a:gd name="T8" fmla="*/ 51 w 68"/>
                <a:gd name="T9" fmla="*/ 51 h 64"/>
                <a:gd name="T10" fmla="*/ 44 w 68"/>
                <a:gd name="T11" fmla="*/ 56 h 64"/>
                <a:gd name="T12" fmla="*/ 36 w 68"/>
                <a:gd name="T13" fmla="*/ 58 h 64"/>
                <a:gd name="T14" fmla="*/ 27 w 68"/>
                <a:gd name="T15" fmla="*/ 61 h 64"/>
                <a:gd name="T16" fmla="*/ 18 w 68"/>
                <a:gd name="T17" fmla="*/ 62 h 64"/>
                <a:gd name="T18" fmla="*/ 9 w 68"/>
                <a:gd name="T19" fmla="*/ 64 h 64"/>
                <a:gd name="T20" fmla="*/ 0 w 68"/>
                <a:gd name="T21" fmla="*/ 64 h 64"/>
                <a:gd name="T22" fmla="*/ 1 w 68"/>
                <a:gd name="T23" fmla="*/ 61 h 64"/>
                <a:gd name="T24" fmla="*/ 4 w 68"/>
                <a:gd name="T25" fmla="*/ 60 h 64"/>
                <a:gd name="T26" fmla="*/ 5 w 68"/>
                <a:gd name="T27" fmla="*/ 57 h 64"/>
                <a:gd name="T28" fmla="*/ 6 w 68"/>
                <a:gd name="T29" fmla="*/ 56 h 64"/>
                <a:gd name="T30" fmla="*/ 7 w 68"/>
                <a:gd name="T31" fmla="*/ 56 h 64"/>
                <a:gd name="T32" fmla="*/ 7 w 68"/>
                <a:gd name="T33" fmla="*/ 56 h 64"/>
                <a:gd name="T34" fmla="*/ 7 w 68"/>
                <a:gd name="T35" fmla="*/ 56 h 64"/>
                <a:gd name="T36" fmla="*/ 9 w 68"/>
                <a:gd name="T37" fmla="*/ 55 h 64"/>
                <a:gd name="T38" fmla="*/ 14 w 68"/>
                <a:gd name="T39" fmla="*/ 48 h 64"/>
                <a:gd name="T40" fmla="*/ 20 w 68"/>
                <a:gd name="T41" fmla="*/ 43 h 64"/>
                <a:gd name="T42" fmla="*/ 26 w 68"/>
                <a:gd name="T43" fmla="*/ 36 h 64"/>
                <a:gd name="T44" fmla="*/ 32 w 68"/>
                <a:gd name="T45" fmla="*/ 29 h 64"/>
                <a:gd name="T46" fmla="*/ 37 w 68"/>
                <a:gd name="T47" fmla="*/ 22 h 64"/>
                <a:gd name="T48" fmla="*/ 42 w 68"/>
                <a:gd name="T49" fmla="*/ 16 h 64"/>
                <a:gd name="T50" fmla="*/ 46 w 68"/>
                <a:gd name="T51" fmla="*/ 8 h 64"/>
                <a:gd name="T52" fmla="*/ 51 w 68"/>
                <a:gd name="T53" fmla="*/ 0 h 64"/>
                <a:gd name="T54" fmla="*/ 57 w 68"/>
                <a:gd name="T55" fmla="*/ 7 h 64"/>
                <a:gd name="T56" fmla="*/ 60 w 68"/>
                <a:gd name="T57" fmla="*/ 12 h 64"/>
                <a:gd name="T58" fmla="*/ 64 w 68"/>
                <a:gd name="T59" fmla="*/ 18 h 64"/>
                <a:gd name="T60" fmla="*/ 67 w 68"/>
                <a:gd name="T61" fmla="*/ 25 h 64"/>
                <a:gd name="T62" fmla="*/ 68 w 68"/>
                <a:gd name="T63" fmla="*/ 25 h 64"/>
                <a:gd name="T64" fmla="*/ 67 w 68"/>
                <a:gd name="T65" fmla="*/ 26 h 64"/>
                <a:gd name="T66" fmla="*/ 67 w 68"/>
                <a:gd name="T67" fmla="*/ 27 h 64"/>
                <a:gd name="T68" fmla="*/ 67 w 68"/>
                <a:gd name="T69" fmla="*/ 29 h 64"/>
                <a:gd name="T70" fmla="*/ 68 w 68"/>
                <a:gd name="T71" fmla="*/ 30 h 6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
                <a:gd name="T109" fmla="*/ 0 h 64"/>
                <a:gd name="T110" fmla="*/ 68 w 68"/>
                <a:gd name="T111" fmla="*/ 64 h 6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 h="64">
                  <a:moveTo>
                    <a:pt x="68" y="30"/>
                  </a:moveTo>
                  <a:lnTo>
                    <a:pt x="68" y="30"/>
                  </a:lnTo>
                  <a:lnTo>
                    <a:pt x="64" y="39"/>
                  </a:lnTo>
                  <a:lnTo>
                    <a:pt x="58" y="46"/>
                  </a:lnTo>
                  <a:lnTo>
                    <a:pt x="51" y="51"/>
                  </a:lnTo>
                  <a:lnTo>
                    <a:pt x="44" y="56"/>
                  </a:lnTo>
                  <a:lnTo>
                    <a:pt x="36" y="58"/>
                  </a:lnTo>
                  <a:lnTo>
                    <a:pt x="27" y="61"/>
                  </a:lnTo>
                  <a:lnTo>
                    <a:pt x="18" y="62"/>
                  </a:lnTo>
                  <a:lnTo>
                    <a:pt x="9" y="64"/>
                  </a:lnTo>
                  <a:lnTo>
                    <a:pt x="0" y="64"/>
                  </a:lnTo>
                  <a:lnTo>
                    <a:pt x="1" y="61"/>
                  </a:lnTo>
                  <a:lnTo>
                    <a:pt x="4" y="60"/>
                  </a:lnTo>
                  <a:lnTo>
                    <a:pt x="5" y="57"/>
                  </a:lnTo>
                  <a:lnTo>
                    <a:pt x="6" y="56"/>
                  </a:lnTo>
                  <a:lnTo>
                    <a:pt x="7" y="56"/>
                  </a:lnTo>
                  <a:lnTo>
                    <a:pt x="9" y="55"/>
                  </a:lnTo>
                  <a:lnTo>
                    <a:pt x="14" y="48"/>
                  </a:lnTo>
                  <a:lnTo>
                    <a:pt x="20" y="43"/>
                  </a:lnTo>
                  <a:lnTo>
                    <a:pt x="26" y="36"/>
                  </a:lnTo>
                  <a:lnTo>
                    <a:pt x="32" y="29"/>
                  </a:lnTo>
                  <a:lnTo>
                    <a:pt x="37" y="22"/>
                  </a:lnTo>
                  <a:lnTo>
                    <a:pt x="42" y="16"/>
                  </a:lnTo>
                  <a:lnTo>
                    <a:pt x="46" y="8"/>
                  </a:lnTo>
                  <a:lnTo>
                    <a:pt x="51" y="0"/>
                  </a:lnTo>
                  <a:lnTo>
                    <a:pt x="57" y="7"/>
                  </a:lnTo>
                  <a:lnTo>
                    <a:pt x="60" y="12"/>
                  </a:lnTo>
                  <a:lnTo>
                    <a:pt x="64" y="18"/>
                  </a:lnTo>
                  <a:lnTo>
                    <a:pt x="67" y="25"/>
                  </a:lnTo>
                  <a:lnTo>
                    <a:pt x="68" y="25"/>
                  </a:lnTo>
                  <a:lnTo>
                    <a:pt x="67" y="26"/>
                  </a:lnTo>
                  <a:lnTo>
                    <a:pt x="67" y="27"/>
                  </a:lnTo>
                  <a:lnTo>
                    <a:pt x="67" y="29"/>
                  </a:lnTo>
                  <a:lnTo>
                    <a:pt x="68" y="3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2" name="Freeform 13"/>
            <p:cNvSpPr>
              <a:spLocks/>
            </p:cNvSpPr>
            <p:nvPr/>
          </p:nvSpPr>
          <p:spPr bwMode="auto">
            <a:xfrm>
              <a:off x="1973" y="3255"/>
              <a:ext cx="52" cy="49"/>
            </a:xfrm>
            <a:custGeom>
              <a:avLst/>
              <a:gdLst>
                <a:gd name="T0" fmla="*/ 51 w 52"/>
                <a:gd name="T1" fmla="*/ 32 h 49"/>
                <a:gd name="T2" fmla="*/ 47 w 52"/>
                <a:gd name="T3" fmla="*/ 40 h 49"/>
                <a:gd name="T4" fmla="*/ 42 w 52"/>
                <a:gd name="T5" fmla="*/ 45 h 49"/>
                <a:gd name="T6" fmla="*/ 37 w 52"/>
                <a:gd name="T7" fmla="*/ 48 h 49"/>
                <a:gd name="T8" fmla="*/ 30 w 52"/>
                <a:gd name="T9" fmla="*/ 49 h 49"/>
                <a:gd name="T10" fmla="*/ 22 w 52"/>
                <a:gd name="T11" fmla="*/ 49 h 49"/>
                <a:gd name="T12" fmla="*/ 16 w 52"/>
                <a:gd name="T13" fmla="*/ 48 h 49"/>
                <a:gd name="T14" fmla="*/ 8 w 52"/>
                <a:gd name="T15" fmla="*/ 45 h 49"/>
                <a:gd name="T16" fmla="*/ 0 w 52"/>
                <a:gd name="T17" fmla="*/ 43 h 49"/>
                <a:gd name="T18" fmla="*/ 2 w 52"/>
                <a:gd name="T19" fmla="*/ 41 h 49"/>
                <a:gd name="T20" fmla="*/ 5 w 52"/>
                <a:gd name="T21" fmla="*/ 39 h 49"/>
                <a:gd name="T22" fmla="*/ 11 w 52"/>
                <a:gd name="T23" fmla="*/ 34 h 49"/>
                <a:gd name="T24" fmla="*/ 17 w 52"/>
                <a:gd name="T25" fmla="*/ 27 h 49"/>
                <a:gd name="T26" fmla="*/ 24 w 52"/>
                <a:gd name="T27" fmla="*/ 21 h 49"/>
                <a:gd name="T28" fmla="*/ 30 w 52"/>
                <a:gd name="T29" fmla="*/ 14 h 49"/>
                <a:gd name="T30" fmla="*/ 37 w 52"/>
                <a:gd name="T31" fmla="*/ 6 h 49"/>
                <a:gd name="T32" fmla="*/ 42 w 52"/>
                <a:gd name="T33" fmla="*/ 0 h 49"/>
                <a:gd name="T34" fmla="*/ 46 w 52"/>
                <a:gd name="T35" fmla="*/ 9 h 49"/>
                <a:gd name="T36" fmla="*/ 49 w 52"/>
                <a:gd name="T37" fmla="*/ 17 h 49"/>
                <a:gd name="T38" fmla="*/ 52 w 52"/>
                <a:gd name="T39" fmla="*/ 24 h 49"/>
                <a:gd name="T40" fmla="*/ 51 w 52"/>
                <a:gd name="T41" fmla="*/ 32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2"/>
                <a:gd name="T64" fmla="*/ 0 h 49"/>
                <a:gd name="T65" fmla="*/ 52 w 52"/>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2" h="49">
                  <a:moveTo>
                    <a:pt x="51" y="32"/>
                  </a:moveTo>
                  <a:lnTo>
                    <a:pt x="47" y="40"/>
                  </a:lnTo>
                  <a:lnTo>
                    <a:pt x="42" y="45"/>
                  </a:lnTo>
                  <a:lnTo>
                    <a:pt x="37" y="48"/>
                  </a:lnTo>
                  <a:lnTo>
                    <a:pt x="30" y="49"/>
                  </a:lnTo>
                  <a:lnTo>
                    <a:pt x="22" y="49"/>
                  </a:lnTo>
                  <a:lnTo>
                    <a:pt x="16" y="48"/>
                  </a:lnTo>
                  <a:lnTo>
                    <a:pt x="8" y="45"/>
                  </a:lnTo>
                  <a:lnTo>
                    <a:pt x="0" y="43"/>
                  </a:lnTo>
                  <a:lnTo>
                    <a:pt x="2" y="41"/>
                  </a:lnTo>
                  <a:lnTo>
                    <a:pt x="5" y="39"/>
                  </a:lnTo>
                  <a:lnTo>
                    <a:pt x="11" y="34"/>
                  </a:lnTo>
                  <a:lnTo>
                    <a:pt x="17" y="27"/>
                  </a:lnTo>
                  <a:lnTo>
                    <a:pt x="24" y="21"/>
                  </a:lnTo>
                  <a:lnTo>
                    <a:pt x="30" y="14"/>
                  </a:lnTo>
                  <a:lnTo>
                    <a:pt x="37" y="6"/>
                  </a:lnTo>
                  <a:lnTo>
                    <a:pt x="42" y="0"/>
                  </a:lnTo>
                  <a:lnTo>
                    <a:pt x="46" y="9"/>
                  </a:lnTo>
                  <a:lnTo>
                    <a:pt x="49" y="17"/>
                  </a:lnTo>
                  <a:lnTo>
                    <a:pt x="52" y="24"/>
                  </a:lnTo>
                  <a:lnTo>
                    <a:pt x="51" y="3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 name="Freeform 14"/>
            <p:cNvSpPr>
              <a:spLocks/>
            </p:cNvSpPr>
            <p:nvPr/>
          </p:nvSpPr>
          <p:spPr bwMode="auto">
            <a:xfrm>
              <a:off x="1400" y="3136"/>
              <a:ext cx="775" cy="285"/>
            </a:xfrm>
            <a:custGeom>
              <a:avLst/>
              <a:gdLst>
                <a:gd name="T0" fmla="*/ 652 w 775"/>
                <a:gd name="T1" fmla="*/ 190 h 285"/>
                <a:gd name="T2" fmla="*/ 630 w 775"/>
                <a:gd name="T3" fmla="*/ 221 h 285"/>
                <a:gd name="T4" fmla="*/ 606 w 775"/>
                <a:gd name="T5" fmla="*/ 251 h 285"/>
                <a:gd name="T6" fmla="*/ 577 w 775"/>
                <a:gd name="T7" fmla="*/ 273 h 285"/>
                <a:gd name="T8" fmla="*/ 542 w 775"/>
                <a:gd name="T9" fmla="*/ 283 h 285"/>
                <a:gd name="T10" fmla="*/ 503 w 775"/>
                <a:gd name="T11" fmla="*/ 285 h 285"/>
                <a:gd name="T12" fmla="*/ 466 w 775"/>
                <a:gd name="T13" fmla="*/ 278 h 285"/>
                <a:gd name="T14" fmla="*/ 428 w 775"/>
                <a:gd name="T15" fmla="*/ 267 h 285"/>
                <a:gd name="T16" fmla="*/ 386 w 775"/>
                <a:gd name="T17" fmla="*/ 251 h 285"/>
                <a:gd name="T18" fmla="*/ 335 w 775"/>
                <a:gd name="T19" fmla="*/ 232 h 285"/>
                <a:gd name="T20" fmla="*/ 286 w 775"/>
                <a:gd name="T21" fmla="*/ 212 h 285"/>
                <a:gd name="T22" fmla="*/ 234 w 775"/>
                <a:gd name="T23" fmla="*/ 193 h 285"/>
                <a:gd name="T24" fmla="*/ 184 w 775"/>
                <a:gd name="T25" fmla="*/ 172 h 285"/>
                <a:gd name="T26" fmla="*/ 133 w 775"/>
                <a:gd name="T27" fmla="*/ 153 h 285"/>
                <a:gd name="T28" fmla="*/ 84 w 775"/>
                <a:gd name="T29" fmla="*/ 132 h 285"/>
                <a:gd name="T30" fmla="*/ 35 w 775"/>
                <a:gd name="T31" fmla="*/ 111 h 285"/>
                <a:gd name="T32" fmla="*/ 9 w 775"/>
                <a:gd name="T33" fmla="*/ 98 h 285"/>
                <a:gd name="T34" fmla="*/ 1 w 775"/>
                <a:gd name="T35" fmla="*/ 84 h 285"/>
                <a:gd name="T36" fmla="*/ 9 w 775"/>
                <a:gd name="T37" fmla="*/ 83 h 285"/>
                <a:gd name="T38" fmla="*/ 31 w 775"/>
                <a:gd name="T39" fmla="*/ 92 h 285"/>
                <a:gd name="T40" fmla="*/ 54 w 775"/>
                <a:gd name="T41" fmla="*/ 101 h 285"/>
                <a:gd name="T42" fmla="*/ 76 w 775"/>
                <a:gd name="T43" fmla="*/ 110 h 285"/>
                <a:gd name="T44" fmla="*/ 111 w 775"/>
                <a:gd name="T45" fmla="*/ 127 h 285"/>
                <a:gd name="T46" fmla="*/ 158 w 775"/>
                <a:gd name="T47" fmla="*/ 146 h 285"/>
                <a:gd name="T48" fmla="*/ 198 w 775"/>
                <a:gd name="T49" fmla="*/ 160 h 285"/>
                <a:gd name="T50" fmla="*/ 232 w 775"/>
                <a:gd name="T51" fmla="*/ 172 h 285"/>
                <a:gd name="T52" fmla="*/ 264 w 775"/>
                <a:gd name="T53" fmla="*/ 184 h 285"/>
                <a:gd name="T54" fmla="*/ 296 w 775"/>
                <a:gd name="T55" fmla="*/ 195 h 285"/>
                <a:gd name="T56" fmla="*/ 329 w 775"/>
                <a:gd name="T57" fmla="*/ 207 h 285"/>
                <a:gd name="T58" fmla="*/ 361 w 775"/>
                <a:gd name="T59" fmla="*/ 219 h 285"/>
                <a:gd name="T60" fmla="*/ 393 w 775"/>
                <a:gd name="T61" fmla="*/ 230 h 285"/>
                <a:gd name="T62" fmla="*/ 426 w 775"/>
                <a:gd name="T63" fmla="*/ 241 h 285"/>
                <a:gd name="T64" fmla="*/ 458 w 775"/>
                <a:gd name="T65" fmla="*/ 251 h 285"/>
                <a:gd name="T66" fmla="*/ 492 w 775"/>
                <a:gd name="T67" fmla="*/ 260 h 285"/>
                <a:gd name="T68" fmla="*/ 514 w 775"/>
                <a:gd name="T69" fmla="*/ 265 h 285"/>
                <a:gd name="T70" fmla="*/ 531 w 775"/>
                <a:gd name="T71" fmla="*/ 267 h 285"/>
                <a:gd name="T72" fmla="*/ 549 w 775"/>
                <a:gd name="T73" fmla="*/ 264 h 285"/>
                <a:gd name="T74" fmla="*/ 573 w 775"/>
                <a:gd name="T75" fmla="*/ 247 h 285"/>
                <a:gd name="T76" fmla="*/ 597 w 775"/>
                <a:gd name="T77" fmla="*/ 220 h 285"/>
                <a:gd name="T78" fmla="*/ 616 w 775"/>
                <a:gd name="T79" fmla="*/ 194 h 285"/>
                <a:gd name="T80" fmla="*/ 629 w 775"/>
                <a:gd name="T81" fmla="*/ 176 h 285"/>
                <a:gd name="T82" fmla="*/ 638 w 775"/>
                <a:gd name="T83" fmla="*/ 167 h 285"/>
                <a:gd name="T84" fmla="*/ 643 w 775"/>
                <a:gd name="T85" fmla="*/ 162 h 285"/>
                <a:gd name="T86" fmla="*/ 659 w 775"/>
                <a:gd name="T87" fmla="*/ 145 h 285"/>
                <a:gd name="T88" fmla="*/ 676 w 775"/>
                <a:gd name="T89" fmla="*/ 125 h 285"/>
                <a:gd name="T90" fmla="*/ 692 w 775"/>
                <a:gd name="T91" fmla="*/ 101 h 285"/>
                <a:gd name="T92" fmla="*/ 707 w 775"/>
                <a:gd name="T93" fmla="*/ 79 h 285"/>
                <a:gd name="T94" fmla="*/ 720 w 775"/>
                <a:gd name="T95" fmla="*/ 66 h 285"/>
                <a:gd name="T96" fmla="*/ 726 w 775"/>
                <a:gd name="T97" fmla="*/ 58 h 285"/>
                <a:gd name="T98" fmla="*/ 734 w 775"/>
                <a:gd name="T99" fmla="*/ 44 h 285"/>
                <a:gd name="T100" fmla="*/ 738 w 775"/>
                <a:gd name="T101" fmla="*/ 36 h 285"/>
                <a:gd name="T102" fmla="*/ 752 w 775"/>
                <a:gd name="T103" fmla="*/ 11 h 285"/>
                <a:gd name="T104" fmla="*/ 762 w 775"/>
                <a:gd name="T105" fmla="*/ 5 h 285"/>
                <a:gd name="T106" fmla="*/ 773 w 775"/>
                <a:gd name="T107" fmla="*/ 17 h 285"/>
                <a:gd name="T108" fmla="*/ 762 w 775"/>
                <a:gd name="T109" fmla="*/ 40 h 285"/>
                <a:gd name="T110" fmla="*/ 735 w 775"/>
                <a:gd name="T111" fmla="*/ 79 h 285"/>
                <a:gd name="T112" fmla="*/ 707 w 775"/>
                <a:gd name="T113" fmla="*/ 118 h 285"/>
                <a:gd name="T114" fmla="*/ 678 w 775"/>
                <a:gd name="T115" fmla="*/ 156 h 28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775"/>
                <a:gd name="T175" fmla="*/ 0 h 285"/>
                <a:gd name="T176" fmla="*/ 775 w 775"/>
                <a:gd name="T177" fmla="*/ 285 h 28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775" h="285">
                  <a:moveTo>
                    <a:pt x="663" y="176"/>
                  </a:moveTo>
                  <a:lnTo>
                    <a:pt x="652" y="190"/>
                  </a:lnTo>
                  <a:lnTo>
                    <a:pt x="641" y="206"/>
                  </a:lnTo>
                  <a:lnTo>
                    <a:pt x="630" y="221"/>
                  </a:lnTo>
                  <a:lnTo>
                    <a:pt x="619" y="237"/>
                  </a:lnTo>
                  <a:lnTo>
                    <a:pt x="606" y="251"/>
                  </a:lnTo>
                  <a:lnTo>
                    <a:pt x="591" y="264"/>
                  </a:lnTo>
                  <a:lnTo>
                    <a:pt x="577" y="273"/>
                  </a:lnTo>
                  <a:lnTo>
                    <a:pt x="560" y="279"/>
                  </a:lnTo>
                  <a:lnTo>
                    <a:pt x="542" y="283"/>
                  </a:lnTo>
                  <a:lnTo>
                    <a:pt x="523" y="285"/>
                  </a:lnTo>
                  <a:lnTo>
                    <a:pt x="503" y="285"/>
                  </a:lnTo>
                  <a:lnTo>
                    <a:pt x="484" y="282"/>
                  </a:lnTo>
                  <a:lnTo>
                    <a:pt x="466" y="278"/>
                  </a:lnTo>
                  <a:lnTo>
                    <a:pt x="446" y="273"/>
                  </a:lnTo>
                  <a:lnTo>
                    <a:pt x="428" y="267"/>
                  </a:lnTo>
                  <a:lnTo>
                    <a:pt x="410" y="260"/>
                  </a:lnTo>
                  <a:lnTo>
                    <a:pt x="386" y="251"/>
                  </a:lnTo>
                  <a:lnTo>
                    <a:pt x="361" y="241"/>
                  </a:lnTo>
                  <a:lnTo>
                    <a:pt x="335" y="232"/>
                  </a:lnTo>
                  <a:lnTo>
                    <a:pt x="311" y="221"/>
                  </a:lnTo>
                  <a:lnTo>
                    <a:pt x="286" y="212"/>
                  </a:lnTo>
                  <a:lnTo>
                    <a:pt x="260" y="202"/>
                  </a:lnTo>
                  <a:lnTo>
                    <a:pt x="234" y="193"/>
                  </a:lnTo>
                  <a:lnTo>
                    <a:pt x="210" y="182"/>
                  </a:lnTo>
                  <a:lnTo>
                    <a:pt x="184" y="172"/>
                  </a:lnTo>
                  <a:lnTo>
                    <a:pt x="159" y="163"/>
                  </a:lnTo>
                  <a:lnTo>
                    <a:pt x="133" y="153"/>
                  </a:lnTo>
                  <a:lnTo>
                    <a:pt x="109" y="142"/>
                  </a:lnTo>
                  <a:lnTo>
                    <a:pt x="84" y="132"/>
                  </a:lnTo>
                  <a:lnTo>
                    <a:pt x="59" y="121"/>
                  </a:lnTo>
                  <a:lnTo>
                    <a:pt x="35" y="111"/>
                  </a:lnTo>
                  <a:lnTo>
                    <a:pt x="10" y="101"/>
                  </a:lnTo>
                  <a:lnTo>
                    <a:pt x="9" y="98"/>
                  </a:lnTo>
                  <a:lnTo>
                    <a:pt x="5" y="92"/>
                  </a:lnTo>
                  <a:lnTo>
                    <a:pt x="1" y="84"/>
                  </a:lnTo>
                  <a:lnTo>
                    <a:pt x="0" y="79"/>
                  </a:lnTo>
                  <a:lnTo>
                    <a:pt x="9" y="83"/>
                  </a:lnTo>
                  <a:lnTo>
                    <a:pt x="19" y="86"/>
                  </a:lnTo>
                  <a:lnTo>
                    <a:pt x="31" y="92"/>
                  </a:lnTo>
                  <a:lnTo>
                    <a:pt x="43" y="96"/>
                  </a:lnTo>
                  <a:lnTo>
                    <a:pt x="54" y="101"/>
                  </a:lnTo>
                  <a:lnTo>
                    <a:pt x="66" y="105"/>
                  </a:lnTo>
                  <a:lnTo>
                    <a:pt x="76" y="110"/>
                  </a:lnTo>
                  <a:lnTo>
                    <a:pt x="85" y="114"/>
                  </a:lnTo>
                  <a:lnTo>
                    <a:pt x="111" y="127"/>
                  </a:lnTo>
                  <a:lnTo>
                    <a:pt x="136" y="137"/>
                  </a:lnTo>
                  <a:lnTo>
                    <a:pt x="158" y="146"/>
                  </a:lnTo>
                  <a:lnTo>
                    <a:pt x="178" y="154"/>
                  </a:lnTo>
                  <a:lnTo>
                    <a:pt x="198" y="160"/>
                  </a:lnTo>
                  <a:lnTo>
                    <a:pt x="215" y="167"/>
                  </a:lnTo>
                  <a:lnTo>
                    <a:pt x="232" y="172"/>
                  </a:lnTo>
                  <a:lnTo>
                    <a:pt x="247" y="177"/>
                  </a:lnTo>
                  <a:lnTo>
                    <a:pt x="264" y="184"/>
                  </a:lnTo>
                  <a:lnTo>
                    <a:pt x="281" y="189"/>
                  </a:lnTo>
                  <a:lnTo>
                    <a:pt x="296" y="195"/>
                  </a:lnTo>
                  <a:lnTo>
                    <a:pt x="313" y="200"/>
                  </a:lnTo>
                  <a:lnTo>
                    <a:pt x="329" y="207"/>
                  </a:lnTo>
                  <a:lnTo>
                    <a:pt x="345" y="213"/>
                  </a:lnTo>
                  <a:lnTo>
                    <a:pt x="361" y="219"/>
                  </a:lnTo>
                  <a:lnTo>
                    <a:pt x="378" y="224"/>
                  </a:lnTo>
                  <a:lnTo>
                    <a:pt x="393" y="230"/>
                  </a:lnTo>
                  <a:lnTo>
                    <a:pt x="410" y="235"/>
                  </a:lnTo>
                  <a:lnTo>
                    <a:pt x="426" y="241"/>
                  </a:lnTo>
                  <a:lnTo>
                    <a:pt x="443" y="246"/>
                  </a:lnTo>
                  <a:lnTo>
                    <a:pt x="458" y="251"/>
                  </a:lnTo>
                  <a:lnTo>
                    <a:pt x="475" y="256"/>
                  </a:lnTo>
                  <a:lnTo>
                    <a:pt x="492" y="260"/>
                  </a:lnTo>
                  <a:lnTo>
                    <a:pt x="509" y="264"/>
                  </a:lnTo>
                  <a:lnTo>
                    <a:pt x="514" y="265"/>
                  </a:lnTo>
                  <a:lnTo>
                    <a:pt x="522" y="267"/>
                  </a:lnTo>
                  <a:lnTo>
                    <a:pt x="531" y="267"/>
                  </a:lnTo>
                  <a:lnTo>
                    <a:pt x="536" y="267"/>
                  </a:lnTo>
                  <a:lnTo>
                    <a:pt x="549" y="264"/>
                  </a:lnTo>
                  <a:lnTo>
                    <a:pt x="560" y="257"/>
                  </a:lnTo>
                  <a:lnTo>
                    <a:pt x="573" y="247"/>
                  </a:lnTo>
                  <a:lnTo>
                    <a:pt x="585" y="234"/>
                  </a:lnTo>
                  <a:lnTo>
                    <a:pt x="597" y="220"/>
                  </a:lnTo>
                  <a:lnTo>
                    <a:pt x="607" y="206"/>
                  </a:lnTo>
                  <a:lnTo>
                    <a:pt x="616" y="194"/>
                  </a:lnTo>
                  <a:lnTo>
                    <a:pt x="622" y="185"/>
                  </a:lnTo>
                  <a:lnTo>
                    <a:pt x="629" y="176"/>
                  </a:lnTo>
                  <a:lnTo>
                    <a:pt x="635" y="171"/>
                  </a:lnTo>
                  <a:lnTo>
                    <a:pt x="638" y="167"/>
                  </a:lnTo>
                  <a:lnTo>
                    <a:pt x="639" y="165"/>
                  </a:lnTo>
                  <a:lnTo>
                    <a:pt x="643" y="162"/>
                  </a:lnTo>
                  <a:lnTo>
                    <a:pt x="651" y="153"/>
                  </a:lnTo>
                  <a:lnTo>
                    <a:pt x="659" y="145"/>
                  </a:lnTo>
                  <a:lnTo>
                    <a:pt x="663" y="141"/>
                  </a:lnTo>
                  <a:lnTo>
                    <a:pt x="676" y="125"/>
                  </a:lnTo>
                  <a:lnTo>
                    <a:pt x="685" y="114"/>
                  </a:lnTo>
                  <a:lnTo>
                    <a:pt x="692" y="101"/>
                  </a:lnTo>
                  <a:lnTo>
                    <a:pt x="700" y="83"/>
                  </a:lnTo>
                  <a:lnTo>
                    <a:pt x="707" y="79"/>
                  </a:lnTo>
                  <a:lnTo>
                    <a:pt x="713" y="72"/>
                  </a:lnTo>
                  <a:lnTo>
                    <a:pt x="720" y="66"/>
                  </a:lnTo>
                  <a:lnTo>
                    <a:pt x="725" y="61"/>
                  </a:lnTo>
                  <a:lnTo>
                    <a:pt x="726" y="58"/>
                  </a:lnTo>
                  <a:lnTo>
                    <a:pt x="730" y="52"/>
                  </a:lnTo>
                  <a:lnTo>
                    <a:pt x="734" y="44"/>
                  </a:lnTo>
                  <a:lnTo>
                    <a:pt x="735" y="40"/>
                  </a:lnTo>
                  <a:lnTo>
                    <a:pt x="738" y="36"/>
                  </a:lnTo>
                  <a:lnTo>
                    <a:pt x="744" y="26"/>
                  </a:lnTo>
                  <a:lnTo>
                    <a:pt x="752" y="11"/>
                  </a:lnTo>
                  <a:lnTo>
                    <a:pt x="758" y="0"/>
                  </a:lnTo>
                  <a:lnTo>
                    <a:pt x="762" y="5"/>
                  </a:lnTo>
                  <a:lnTo>
                    <a:pt x="767" y="11"/>
                  </a:lnTo>
                  <a:lnTo>
                    <a:pt x="773" y="17"/>
                  </a:lnTo>
                  <a:lnTo>
                    <a:pt x="775" y="20"/>
                  </a:lnTo>
                  <a:lnTo>
                    <a:pt x="762" y="40"/>
                  </a:lnTo>
                  <a:lnTo>
                    <a:pt x="749" y="59"/>
                  </a:lnTo>
                  <a:lnTo>
                    <a:pt x="735" y="79"/>
                  </a:lnTo>
                  <a:lnTo>
                    <a:pt x="721" y="98"/>
                  </a:lnTo>
                  <a:lnTo>
                    <a:pt x="707" y="118"/>
                  </a:lnTo>
                  <a:lnTo>
                    <a:pt x="692" y="137"/>
                  </a:lnTo>
                  <a:lnTo>
                    <a:pt x="678" y="156"/>
                  </a:lnTo>
                  <a:lnTo>
                    <a:pt x="663" y="176"/>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 name="Freeform 15"/>
            <p:cNvSpPr>
              <a:spLocks/>
            </p:cNvSpPr>
            <p:nvPr/>
          </p:nvSpPr>
          <p:spPr bwMode="auto">
            <a:xfrm>
              <a:off x="1991" y="2949"/>
              <a:ext cx="237" cy="188"/>
            </a:xfrm>
            <a:custGeom>
              <a:avLst/>
              <a:gdLst>
                <a:gd name="T0" fmla="*/ 197 w 237"/>
                <a:gd name="T1" fmla="*/ 188 h 188"/>
                <a:gd name="T2" fmla="*/ 191 w 237"/>
                <a:gd name="T3" fmla="*/ 179 h 188"/>
                <a:gd name="T4" fmla="*/ 183 w 237"/>
                <a:gd name="T5" fmla="*/ 170 h 188"/>
                <a:gd name="T6" fmla="*/ 175 w 237"/>
                <a:gd name="T7" fmla="*/ 162 h 188"/>
                <a:gd name="T8" fmla="*/ 167 w 237"/>
                <a:gd name="T9" fmla="*/ 153 h 188"/>
                <a:gd name="T10" fmla="*/ 160 w 237"/>
                <a:gd name="T11" fmla="*/ 145 h 188"/>
                <a:gd name="T12" fmla="*/ 152 w 237"/>
                <a:gd name="T13" fmla="*/ 136 h 188"/>
                <a:gd name="T14" fmla="*/ 144 w 237"/>
                <a:gd name="T15" fmla="*/ 128 h 188"/>
                <a:gd name="T16" fmla="*/ 136 w 237"/>
                <a:gd name="T17" fmla="*/ 119 h 188"/>
                <a:gd name="T18" fmla="*/ 123 w 237"/>
                <a:gd name="T19" fmla="*/ 105 h 188"/>
                <a:gd name="T20" fmla="*/ 110 w 237"/>
                <a:gd name="T21" fmla="*/ 95 h 188"/>
                <a:gd name="T22" fmla="*/ 95 w 237"/>
                <a:gd name="T23" fmla="*/ 86 h 188"/>
                <a:gd name="T24" fmla="*/ 78 w 237"/>
                <a:gd name="T25" fmla="*/ 78 h 188"/>
                <a:gd name="T26" fmla="*/ 61 w 237"/>
                <a:gd name="T27" fmla="*/ 73 h 188"/>
                <a:gd name="T28" fmla="*/ 44 w 237"/>
                <a:gd name="T29" fmla="*/ 66 h 188"/>
                <a:gd name="T30" fmla="*/ 28 w 237"/>
                <a:gd name="T31" fmla="*/ 60 h 188"/>
                <a:gd name="T32" fmla="*/ 11 w 237"/>
                <a:gd name="T33" fmla="*/ 53 h 188"/>
                <a:gd name="T34" fmla="*/ 7 w 237"/>
                <a:gd name="T35" fmla="*/ 51 h 188"/>
                <a:gd name="T36" fmla="*/ 4 w 237"/>
                <a:gd name="T37" fmla="*/ 48 h 188"/>
                <a:gd name="T38" fmla="*/ 2 w 237"/>
                <a:gd name="T39" fmla="*/ 45 h 188"/>
                <a:gd name="T40" fmla="*/ 0 w 237"/>
                <a:gd name="T41" fmla="*/ 42 h 188"/>
                <a:gd name="T42" fmla="*/ 0 w 237"/>
                <a:gd name="T43" fmla="*/ 31 h 188"/>
                <a:gd name="T44" fmla="*/ 4 w 237"/>
                <a:gd name="T45" fmla="*/ 21 h 188"/>
                <a:gd name="T46" fmla="*/ 9 w 237"/>
                <a:gd name="T47" fmla="*/ 13 h 188"/>
                <a:gd name="T48" fmla="*/ 20 w 237"/>
                <a:gd name="T49" fmla="*/ 8 h 188"/>
                <a:gd name="T50" fmla="*/ 33 w 237"/>
                <a:gd name="T51" fmla="*/ 4 h 188"/>
                <a:gd name="T52" fmla="*/ 47 w 237"/>
                <a:gd name="T53" fmla="*/ 1 h 188"/>
                <a:gd name="T54" fmla="*/ 61 w 237"/>
                <a:gd name="T55" fmla="*/ 0 h 188"/>
                <a:gd name="T56" fmla="*/ 75 w 237"/>
                <a:gd name="T57" fmla="*/ 1 h 188"/>
                <a:gd name="T58" fmla="*/ 90 w 237"/>
                <a:gd name="T59" fmla="*/ 4 h 188"/>
                <a:gd name="T60" fmla="*/ 103 w 237"/>
                <a:gd name="T61" fmla="*/ 8 h 188"/>
                <a:gd name="T62" fmla="*/ 116 w 237"/>
                <a:gd name="T63" fmla="*/ 13 h 188"/>
                <a:gd name="T64" fmla="*/ 129 w 237"/>
                <a:gd name="T65" fmla="*/ 20 h 188"/>
                <a:gd name="T66" fmla="*/ 145 w 237"/>
                <a:gd name="T67" fmla="*/ 30 h 188"/>
                <a:gd name="T68" fmla="*/ 161 w 237"/>
                <a:gd name="T69" fmla="*/ 42 h 188"/>
                <a:gd name="T70" fmla="*/ 175 w 237"/>
                <a:gd name="T71" fmla="*/ 53 h 188"/>
                <a:gd name="T72" fmla="*/ 188 w 237"/>
                <a:gd name="T73" fmla="*/ 68 h 188"/>
                <a:gd name="T74" fmla="*/ 201 w 237"/>
                <a:gd name="T75" fmla="*/ 82 h 188"/>
                <a:gd name="T76" fmla="*/ 213 w 237"/>
                <a:gd name="T77" fmla="*/ 97 h 188"/>
                <a:gd name="T78" fmla="*/ 226 w 237"/>
                <a:gd name="T79" fmla="*/ 112 h 188"/>
                <a:gd name="T80" fmla="*/ 237 w 237"/>
                <a:gd name="T81" fmla="*/ 127 h 188"/>
                <a:gd name="T82" fmla="*/ 232 w 237"/>
                <a:gd name="T83" fmla="*/ 135 h 188"/>
                <a:gd name="T84" fmla="*/ 227 w 237"/>
                <a:gd name="T85" fmla="*/ 143 h 188"/>
                <a:gd name="T86" fmla="*/ 222 w 237"/>
                <a:gd name="T87" fmla="*/ 150 h 188"/>
                <a:gd name="T88" fmla="*/ 218 w 237"/>
                <a:gd name="T89" fmla="*/ 158 h 188"/>
                <a:gd name="T90" fmla="*/ 213 w 237"/>
                <a:gd name="T91" fmla="*/ 166 h 188"/>
                <a:gd name="T92" fmla="*/ 208 w 237"/>
                <a:gd name="T93" fmla="*/ 174 h 188"/>
                <a:gd name="T94" fmla="*/ 202 w 237"/>
                <a:gd name="T95" fmla="*/ 180 h 188"/>
                <a:gd name="T96" fmla="*/ 197 w 237"/>
                <a:gd name="T97" fmla="*/ 188 h 1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37"/>
                <a:gd name="T148" fmla="*/ 0 h 188"/>
                <a:gd name="T149" fmla="*/ 237 w 237"/>
                <a:gd name="T150" fmla="*/ 188 h 1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37" h="188">
                  <a:moveTo>
                    <a:pt x="197" y="188"/>
                  </a:moveTo>
                  <a:lnTo>
                    <a:pt x="191" y="179"/>
                  </a:lnTo>
                  <a:lnTo>
                    <a:pt x="183" y="170"/>
                  </a:lnTo>
                  <a:lnTo>
                    <a:pt x="175" y="162"/>
                  </a:lnTo>
                  <a:lnTo>
                    <a:pt x="167" y="153"/>
                  </a:lnTo>
                  <a:lnTo>
                    <a:pt x="160" y="145"/>
                  </a:lnTo>
                  <a:lnTo>
                    <a:pt x="152" y="136"/>
                  </a:lnTo>
                  <a:lnTo>
                    <a:pt x="144" y="128"/>
                  </a:lnTo>
                  <a:lnTo>
                    <a:pt x="136" y="119"/>
                  </a:lnTo>
                  <a:lnTo>
                    <a:pt x="123" y="105"/>
                  </a:lnTo>
                  <a:lnTo>
                    <a:pt x="110" y="95"/>
                  </a:lnTo>
                  <a:lnTo>
                    <a:pt x="95" y="86"/>
                  </a:lnTo>
                  <a:lnTo>
                    <a:pt x="78" y="78"/>
                  </a:lnTo>
                  <a:lnTo>
                    <a:pt x="61" y="73"/>
                  </a:lnTo>
                  <a:lnTo>
                    <a:pt x="44" y="66"/>
                  </a:lnTo>
                  <a:lnTo>
                    <a:pt x="28" y="60"/>
                  </a:lnTo>
                  <a:lnTo>
                    <a:pt x="11" y="53"/>
                  </a:lnTo>
                  <a:lnTo>
                    <a:pt x="7" y="51"/>
                  </a:lnTo>
                  <a:lnTo>
                    <a:pt x="4" y="48"/>
                  </a:lnTo>
                  <a:lnTo>
                    <a:pt x="2" y="45"/>
                  </a:lnTo>
                  <a:lnTo>
                    <a:pt x="0" y="42"/>
                  </a:lnTo>
                  <a:lnTo>
                    <a:pt x="0" y="31"/>
                  </a:lnTo>
                  <a:lnTo>
                    <a:pt x="4" y="21"/>
                  </a:lnTo>
                  <a:lnTo>
                    <a:pt x="9" y="13"/>
                  </a:lnTo>
                  <a:lnTo>
                    <a:pt x="20" y="8"/>
                  </a:lnTo>
                  <a:lnTo>
                    <a:pt x="33" y="4"/>
                  </a:lnTo>
                  <a:lnTo>
                    <a:pt x="47" y="1"/>
                  </a:lnTo>
                  <a:lnTo>
                    <a:pt x="61" y="0"/>
                  </a:lnTo>
                  <a:lnTo>
                    <a:pt x="75" y="1"/>
                  </a:lnTo>
                  <a:lnTo>
                    <a:pt x="90" y="4"/>
                  </a:lnTo>
                  <a:lnTo>
                    <a:pt x="103" y="8"/>
                  </a:lnTo>
                  <a:lnTo>
                    <a:pt x="116" y="13"/>
                  </a:lnTo>
                  <a:lnTo>
                    <a:pt x="129" y="20"/>
                  </a:lnTo>
                  <a:lnTo>
                    <a:pt x="145" y="30"/>
                  </a:lnTo>
                  <a:lnTo>
                    <a:pt x="161" y="42"/>
                  </a:lnTo>
                  <a:lnTo>
                    <a:pt x="175" y="53"/>
                  </a:lnTo>
                  <a:lnTo>
                    <a:pt x="188" y="68"/>
                  </a:lnTo>
                  <a:lnTo>
                    <a:pt x="201" y="82"/>
                  </a:lnTo>
                  <a:lnTo>
                    <a:pt x="213" y="97"/>
                  </a:lnTo>
                  <a:lnTo>
                    <a:pt x="226" y="112"/>
                  </a:lnTo>
                  <a:lnTo>
                    <a:pt x="237" y="127"/>
                  </a:lnTo>
                  <a:lnTo>
                    <a:pt x="232" y="135"/>
                  </a:lnTo>
                  <a:lnTo>
                    <a:pt x="227" y="143"/>
                  </a:lnTo>
                  <a:lnTo>
                    <a:pt x="222" y="150"/>
                  </a:lnTo>
                  <a:lnTo>
                    <a:pt x="218" y="158"/>
                  </a:lnTo>
                  <a:lnTo>
                    <a:pt x="213" y="166"/>
                  </a:lnTo>
                  <a:lnTo>
                    <a:pt x="208" y="174"/>
                  </a:lnTo>
                  <a:lnTo>
                    <a:pt x="202" y="180"/>
                  </a:lnTo>
                  <a:lnTo>
                    <a:pt x="197" y="188"/>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5" name="Freeform 16"/>
            <p:cNvSpPr>
              <a:spLocks/>
            </p:cNvSpPr>
            <p:nvPr/>
          </p:nvSpPr>
          <p:spPr bwMode="auto">
            <a:xfrm>
              <a:off x="2226" y="2783"/>
              <a:ext cx="164" cy="275"/>
            </a:xfrm>
            <a:custGeom>
              <a:avLst/>
              <a:gdLst>
                <a:gd name="T0" fmla="*/ 160 w 164"/>
                <a:gd name="T1" fmla="*/ 91 h 275"/>
                <a:gd name="T2" fmla="*/ 142 w 164"/>
                <a:gd name="T3" fmla="*/ 112 h 275"/>
                <a:gd name="T4" fmla="*/ 125 w 164"/>
                <a:gd name="T5" fmla="*/ 132 h 275"/>
                <a:gd name="T6" fmla="*/ 108 w 164"/>
                <a:gd name="T7" fmla="*/ 155 h 275"/>
                <a:gd name="T8" fmla="*/ 92 w 164"/>
                <a:gd name="T9" fmla="*/ 175 h 275"/>
                <a:gd name="T10" fmla="*/ 75 w 164"/>
                <a:gd name="T11" fmla="*/ 197 h 275"/>
                <a:gd name="T12" fmla="*/ 58 w 164"/>
                <a:gd name="T13" fmla="*/ 218 h 275"/>
                <a:gd name="T14" fmla="*/ 41 w 164"/>
                <a:gd name="T15" fmla="*/ 240 h 275"/>
                <a:gd name="T16" fmla="*/ 23 w 164"/>
                <a:gd name="T17" fmla="*/ 261 h 275"/>
                <a:gd name="T18" fmla="*/ 19 w 164"/>
                <a:gd name="T19" fmla="*/ 266 h 275"/>
                <a:gd name="T20" fmla="*/ 17 w 164"/>
                <a:gd name="T21" fmla="*/ 267 h 275"/>
                <a:gd name="T22" fmla="*/ 14 w 164"/>
                <a:gd name="T23" fmla="*/ 270 h 275"/>
                <a:gd name="T24" fmla="*/ 10 w 164"/>
                <a:gd name="T25" fmla="*/ 275 h 275"/>
                <a:gd name="T26" fmla="*/ 7 w 164"/>
                <a:gd name="T27" fmla="*/ 270 h 275"/>
                <a:gd name="T28" fmla="*/ 4 w 164"/>
                <a:gd name="T29" fmla="*/ 266 h 275"/>
                <a:gd name="T30" fmla="*/ 1 w 164"/>
                <a:gd name="T31" fmla="*/ 262 h 275"/>
                <a:gd name="T32" fmla="*/ 0 w 164"/>
                <a:gd name="T33" fmla="*/ 261 h 275"/>
                <a:gd name="T34" fmla="*/ 5 w 164"/>
                <a:gd name="T35" fmla="*/ 253 h 275"/>
                <a:gd name="T36" fmla="*/ 10 w 164"/>
                <a:gd name="T37" fmla="*/ 248 h 275"/>
                <a:gd name="T38" fmla="*/ 15 w 164"/>
                <a:gd name="T39" fmla="*/ 241 h 275"/>
                <a:gd name="T40" fmla="*/ 22 w 164"/>
                <a:gd name="T41" fmla="*/ 234 h 275"/>
                <a:gd name="T42" fmla="*/ 23 w 164"/>
                <a:gd name="T43" fmla="*/ 232 h 275"/>
                <a:gd name="T44" fmla="*/ 28 w 164"/>
                <a:gd name="T45" fmla="*/ 230 h 275"/>
                <a:gd name="T46" fmla="*/ 33 w 164"/>
                <a:gd name="T47" fmla="*/ 227 h 275"/>
                <a:gd name="T48" fmla="*/ 40 w 164"/>
                <a:gd name="T49" fmla="*/ 222 h 275"/>
                <a:gd name="T50" fmla="*/ 46 w 164"/>
                <a:gd name="T51" fmla="*/ 215 h 275"/>
                <a:gd name="T52" fmla="*/ 50 w 164"/>
                <a:gd name="T53" fmla="*/ 208 h 275"/>
                <a:gd name="T54" fmla="*/ 53 w 164"/>
                <a:gd name="T55" fmla="*/ 199 h 275"/>
                <a:gd name="T56" fmla="*/ 51 w 164"/>
                <a:gd name="T57" fmla="*/ 188 h 275"/>
                <a:gd name="T58" fmla="*/ 55 w 164"/>
                <a:gd name="T59" fmla="*/ 179 h 275"/>
                <a:gd name="T60" fmla="*/ 66 w 164"/>
                <a:gd name="T61" fmla="*/ 165 h 275"/>
                <a:gd name="T62" fmla="*/ 77 w 164"/>
                <a:gd name="T63" fmla="*/ 149 h 275"/>
                <a:gd name="T64" fmla="*/ 88 w 164"/>
                <a:gd name="T65" fmla="*/ 135 h 275"/>
                <a:gd name="T66" fmla="*/ 92 w 164"/>
                <a:gd name="T67" fmla="*/ 132 h 275"/>
                <a:gd name="T68" fmla="*/ 95 w 164"/>
                <a:gd name="T69" fmla="*/ 130 h 275"/>
                <a:gd name="T70" fmla="*/ 99 w 164"/>
                <a:gd name="T71" fmla="*/ 127 h 275"/>
                <a:gd name="T72" fmla="*/ 102 w 164"/>
                <a:gd name="T73" fmla="*/ 125 h 275"/>
                <a:gd name="T74" fmla="*/ 114 w 164"/>
                <a:gd name="T75" fmla="*/ 112 h 275"/>
                <a:gd name="T76" fmla="*/ 120 w 164"/>
                <a:gd name="T77" fmla="*/ 95 h 275"/>
                <a:gd name="T78" fmla="*/ 120 w 164"/>
                <a:gd name="T79" fmla="*/ 79 h 275"/>
                <a:gd name="T80" fmla="*/ 115 w 164"/>
                <a:gd name="T81" fmla="*/ 63 h 275"/>
                <a:gd name="T82" fmla="*/ 110 w 164"/>
                <a:gd name="T83" fmla="*/ 53 h 275"/>
                <a:gd name="T84" fmla="*/ 102 w 164"/>
                <a:gd name="T85" fmla="*/ 35 h 275"/>
                <a:gd name="T86" fmla="*/ 92 w 164"/>
                <a:gd name="T87" fmla="*/ 16 h 275"/>
                <a:gd name="T88" fmla="*/ 83 w 164"/>
                <a:gd name="T89" fmla="*/ 0 h 275"/>
                <a:gd name="T90" fmla="*/ 90 w 164"/>
                <a:gd name="T91" fmla="*/ 4 h 275"/>
                <a:gd name="T92" fmla="*/ 103 w 164"/>
                <a:gd name="T93" fmla="*/ 11 h 275"/>
                <a:gd name="T94" fmla="*/ 119 w 164"/>
                <a:gd name="T95" fmla="*/ 20 h 275"/>
                <a:gd name="T96" fmla="*/ 134 w 164"/>
                <a:gd name="T97" fmla="*/ 31 h 275"/>
                <a:gd name="T98" fmla="*/ 149 w 164"/>
                <a:gd name="T99" fmla="*/ 44 h 275"/>
                <a:gd name="T100" fmla="*/ 159 w 164"/>
                <a:gd name="T101" fmla="*/ 59 h 275"/>
                <a:gd name="T102" fmla="*/ 164 w 164"/>
                <a:gd name="T103" fmla="*/ 74 h 275"/>
                <a:gd name="T104" fmla="*/ 160 w 164"/>
                <a:gd name="T105" fmla="*/ 91 h 27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4"/>
                <a:gd name="T160" fmla="*/ 0 h 275"/>
                <a:gd name="T161" fmla="*/ 164 w 164"/>
                <a:gd name="T162" fmla="*/ 275 h 275"/>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4" h="275">
                  <a:moveTo>
                    <a:pt x="160" y="91"/>
                  </a:moveTo>
                  <a:lnTo>
                    <a:pt x="142" y="112"/>
                  </a:lnTo>
                  <a:lnTo>
                    <a:pt x="125" y="132"/>
                  </a:lnTo>
                  <a:lnTo>
                    <a:pt x="108" y="155"/>
                  </a:lnTo>
                  <a:lnTo>
                    <a:pt x="92" y="175"/>
                  </a:lnTo>
                  <a:lnTo>
                    <a:pt x="75" y="197"/>
                  </a:lnTo>
                  <a:lnTo>
                    <a:pt x="58" y="218"/>
                  </a:lnTo>
                  <a:lnTo>
                    <a:pt x="41" y="240"/>
                  </a:lnTo>
                  <a:lnTo>
                    <a:pt x="23" y="261"/>
                  </a:lnTo>
                  <a:lnTo>
                    <a:pt x="19" y="266"/>
                  </a:lnTo>
                  <a:lnTo>
                    <a:pt x="17" y="267"/>
                  </a:lnTo>
                  <a:lnTo>
                    <a:pt x="14" y="270"/>
                  </a:lnTo>
                  <a:lnTo>
                    <a:pt x="10" y="275"/>
                  </a:lnTo>
                  <a:lnTo>
                    <a:pt x="7" y="270"/>
                  </a:lnTo>
                  <a:lnTo>
                    <a:pt x="4" y="266"/>
                  </a:lnTo>
                  <a:lnTo>
                    <a:pt x="1" y="262"/>
                  </a:lnTo>
                  <a:lnTo>
                    <a:pt x="0" y="261"/>
                  </a:lnTo>
                  <a:lnTo>
                    <a:pt x="5" y="253"/>
                  </a:lnTo>
                  <a:lnTo>
                    <a:pt x="10" y="248"/>
                  </a:lnTo>
                  <a:lnTo>
                    <a:pt x="15" y="241"/>
                  </a:lnTo>
                  <a:lnTo>
                    <a:pt x="22" y="234"/>
                  </a:lnTo>
                  <a:lnTo>
                    <a:pt x="23" y="232"/>
                  </a:lnTo>
                  <a:lnTo>
                    <a:pt x="28" y="230"/>
                  </a:lnTo>
                  <a:lnTo>
                    <a:pt x="33" y="227"/>
                  </a:lnTo>
                  <a:lnTo>
                    <a:pt x="40" y="222"/>
                  </a:lnTo>
                  <a:lnTo>
                    <a:pt x="46" y="215"/>
                  </a:lnTo>
                  <a:lnTo>
                    <a:pt x="50" y="208"/>
                  </a:lnTo>
                  <a:lnTo>
                    <a:pt x="53" y="199"/>
                  </a:lnTo>
                  <a:lnTo>
                    <a:pt x="51" y="188"/>
                  </a:lnTo>
                  <a:lnTo>
                    <a:pt x="55" y="179"/>
                  </a:lnTo>
                  <a:lnTo>
                    <a:pt x="66" y="165"/>
                  </a:lnTo>
                  <a:lnTo>
                    <a:pt x="77" y="149"/>
                  </a:lnTo>
                  <a:lnTo>
                    <a:pt x="88" y="135"/>
                  </a:lnTo>
                  <a:lnTo>
                    <a:pt x="92" y="132"/>
                  </a:lnTo>
                  <a:lnTo>
                    <a:pt x="95" y="130"/>
                  </a:lnTo>
                  <a:lnTo>
                    <a:pt x="99" y="127"/>
                  </a:lnTo>
                  <a:lnTo>
                    <a:pt x="102" y="125"/>
                  </a:lnTo>
                  <a:lnTo>
                    <a:pt x="114" y="112"/>
                  </a:lnTo>
                  <a:lnTo>
                    <a:pt x="120" y="95"/>
                  </a:lnTo>
                  <a:lnTo>
                    <a:pt x="120" y="79"/>
                  </a:lnTo>
                  <a:lnTo>
                    <a:pt x="115" y="63"/>
                  </a:lnTo>
                  <a:lnTo>
                    <a:pt x="110" y="53"/>
                  </a:lnTo>
                  <a:lnTo>
                    <a:pt x="102" y="35"/>
                  </a:lnTo>
                  <a:lnTo>
                    <a:pt x="92" y="16"/>
                  </a:lnTo>
                  <a:lnTo>
                    <a:pt x="83" y="0"/>
                  </a:lnTo>
                  <a:lnTo>
                    <a:pt x="90" y="4"/>
                  </a:lnTo>
                  <a:lnTo>
                    <a:pt x="103" y="11"/>
                  </a:lnTo>
                  <a:lnTo>
                    <a:pt x="119" y="20"/>
                  </a:lnTo>
                  <a:lnTo>
                    <a:pt x="134" y="31"/>
                  </a:lnTo>
                  <a:lnTo>
                    <a:pt x="149" y="44"/>
                  </a:lnTo>
                  <a:lnTo>
                    <a:pt x="159" y="59"/>
                  </a:lnTo>
                  <a:lnTo>
                    <a:pt x="164" y="74"/>
                  </a:lnTo>
                  <a:lnTo>
                    <a:pt x="160" y="91"/>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6" name="Freeform 17"/>
            <p:cNvSpPr>
              <a:spLocks/>
            </p:cNvSpPr>
            <p:nvPr/>
          </p:nvSpPr>
          <p:spPr bwMode="auto">
            <a:xfrm>
              <a:off x="2209" y="2945"/>
              <a:ext cx="57" cy="57"/>
            </a:xfrm>
            <a:custGeom>
              <a:avLst/>
              <a:gdLst>
                <a:gd name="T0" fmla="*/ 0 w 57"/>
                <a:gd name="T1" fmla="*/ 52 h 57"/>
                <a:gd name="T2" fmla="*/ 5 w 57"/>
                <a:gd name="T3" fmla="*/ 44 h 57"/>
                <a:gd name="T4" fmla="*/ 12 w 57"/>
                <a:gd name="T5" fmla="*/ 37 h 57"/>
                <a:gd name="T6" fmla="*/ 18 w 57"/>
                <a:gd name="T7" fmla="*/ 27 h 57"/>
                <a:gd name="T8" fmla="*/ 24 w 57"/>
                <a:gd name="T9" fmla="*/ 20 h 57"/>
                <a:gd name="T10" fmla="*/ 30 w 57"/>
                <a:gd name="T11" fmla="*/ 12 h 57"/>
                <a:gd name="T12" fmla="*/ 35 w 57"/>
                <a:gd name="T13" fmla="*/ 7 h 57"/>
                <a:gd name="T14" fmla="*/ 39 w 57"/>
                <a:gd name="T15" fmla="*/ 2 h 57"/>
                <a:gd name="T16" fmla="*/ 41 w 57"/>
                <a:gd name="T17" fmla="*/ 0 h 57"/>
                <a:gd name="T18" fmla="*/ 46 w 57"/>
                <a:gd name="T19" fmla="*/ 7 h 57"/>
                <a:gd name="T20" fmla="*/ 52 w 57"/>
                <a:gd name="T21" fmla="*/ 16 h 57"/>
                <a:gd name="T22" fmla="*/ 57 w 57"/>
                <a:gd name="T23" fmla="*/ 27 h 57"/>
                <a:gd name="T24" fmla="*/ 57 w 57"/>
                <a:gd name="T25" fmla="*/ 35 h 57"/>
                <a:gd name="T26" fmla="*/ 53 w 57"/>
                <a:gd name="T27" fmla="*/ 43 h 57"/>
                <a:gd name="T28" fmla="*/ 49 w 57"/>
                <a:gd name="T29" fmla="*/ 49 h 57"/>
                <a:gd name="T30" fmla="*/ 43 w 57"/>
                <a:gd name="T31" fmla="*/ 53 h 57"/>
                <a:gd name="T32" fmla="*/ 35 w 57"/>
                <a:gd name="T33" fmla="*/ 56 h 57"/>
                <a:gd name="T34" fmla="*/ 27 w 57"/>
                <a:gd name="T35" fmla="*/ 57 h 57"/>
                <a:gd name="T36" fmla="*/ 18 w 57"/>
                <a:gd name="T37" fmla="*/ 57 h 57"/>
                <a:gd name="T38" fmla="*/ 9 w 57"/>
                <a:gd name="T39" fmla="*/ 55 h 57"/>
                <a:gd name="T40" fmla="*/ 0 w 57"/>
                <a:gd name="T41" fmla="*/ 52 h 5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
                <a:gd name="T64" fmla="*/ 0 h 57"/>
                <a:gd name="T65" fmla="*/ 57 w 57"/>
                <a:gd name="T66" fmla="*/ 57 h 5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 h="57">
                  <a:moveTo>
                    <a:pt x="0" y="52"/>
                  </a:moveTo>
                  <a:lnTo>
                    <a:pt x="5" y="44"/>
                  </a:lnTo>
                  <a:lnTo>
                    <a:pt x="12" y="37"/>
                  </a:lnTo>
                  <a:lnTo>
                    <a:pt x="18" y="27"/>
                  </a:lnTo>
                  <a:lnTo>
                    <a:pt x="24" y="20"/>
                  </a:lnTo>
                  <a:lnTo>
                    <a:pt x="30" y="12"/>
                  </a:lnTo>
                  <a:lnTo>
                    <a:pt x="35" y="7"/>
                  </a:lnTo>
                  <a:lnTo>
                    <a:pt x="39" y="2"/>
                  </a:lnTo>
                  <a:lnTo>
                    <a:pt x="41" y="0"/>
                  </a:lnTo>
                  <a:lnTo>
                    <a:pt x="46" y="7"/>
                  </a:lnTo>
                  <a:lnTo>
                    <a:pt x="52" y="16"/>
                  </a:lnTo>
                  <a:lnTo>
                    <a:pt x="57" y="27"/>
                  </a:lnTo>
                  <a:lnTo>
                    <a:pt x="57" y="35"/>
                  </a:lnTo>
                  <a:lnTo>
                    <a:pt x="53" y="43"/>
                  </a:lnTo>
                  <a:lnTo>
                    <a:pt x="49" y="49"/>
                  </a:lnTo>
                  <a:lnTo>
                    <a:pt x="43" y="53"/>
                  </a:lnTo>
                  <a:lnTo>
                    <a:pt x="35" y="56"/>
                  </a:lnTo>
                  <a:lnTo>
                    <a:pt x="27" y="57"/>
                  </a:lnTo>
                  <a:lnTo>
                    <a:pt x="18" y="57"/>
                  </a:lnTo>
                  <a:lnTo>
                    <a:pt x="9" y="55"/>
                  </a:lnTo>
                  <a:lnTo>
                    <a:pt x="0" y="5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7" name="Freeform 18"/>
            <p:cNvSpPr>
              <a:spLocks/>
            </p:cNvSpPr>
            <p:nvPr/>
          </p:nvSpPr>
          <p:spPr bwMode="auto">
            <a:xfrm>
              <a:off x="2034" y="2963"/>
              <a:ext cx="51" cy="41"/>
            </a:xfrm>
            <a:custGeom>
              <a:avLst/>
              <a:gdLst>
                <a:gd name="T0" fmla="*/ 26 w 51"/>
                <a:gd name="T1" fmla="*/ 0 h 41"/>
                <a:gd name="T2" fmla="*/ 16 w 51"/>
                <a:gd name="T3" fmla="*/ 2 h 41"/>
                <a:gd name="T4" fmla="*/ 8 w 51"/>
                <a:gd name="T5" fmla="*/ 7 h 41"/>
                <a:gd name="T6" fmla="*/ 3 w 51"/>
                <a:gd name="T7" fmla="*/ 13 h 41"/>
                <a:gd name="T8" fmla="*/ 0 w 51"/>
                <a:gd name="T9" fmla="*/ 21 h 41"/>
                <a:gd name="T10" fmla="*/ 3 w 51"/>
                <a:gd name="T11" fmla="*/ 29 h 41"/>
                <a:gd name="T12" fmla="*/ 8 w 51"/>
                <a:gd name="T13" fmla="*/ 34 h 41"/>
                <a:gd name="T14" fmla="*/ 16 w 51"/>
                <a:gd name="T15" fmla="*/ 39 h 41"/>
                <a:gd name="T16" fmla="*/ 26 w 51"/>
                <a:gd name="T17" fmla="*/ 41 h 41"/>
                <a:gd name="T18" fmla="*/ 35 w 51"/>
                <a:gd name="T19" fmla="*/ 39 h 41"/>
                <a:gd name="T20" fmla="*/ 43 w 51"/>
                <a:gd name="T21" fmla="*/ 34 h 41"/>
                <a:gd name="T22" fmla="*/ 48 w 51"/>
                <a:gd name="T23" fmla="*/ 29 h 41"/>
                <a:gd name="T24" fmla="*/ 51 w 51"/>
                <a:gd name="T25" fmla="*/ 21 h 41"/>
                <a:gd name="T26" fmla="*/ 48 w 51"/>
                <a:gd name="T27" fmla="*/ 13 h 41"/>
                <a:gd name="T28" fmla="*/ 43 w 51"/>
                <a:gd name="T29" fmla="*/ 7 h 41"/>
                <a:gd name="T30" fmla="*/ 35 w 51"/>
                <a:gd name="T31" fmla="*/ 2 h 41"/>
                <a:gd name="T32" fmla="*/ 26 w 51"/>
                <a:gd name="T33" fmla="*/ 0 h 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1"/>
                <a:gd name="T52" fmla="*/ 0 h 41"/>
                <a:gd name="T53" fmla="*/ 51 w 51"/>
                <a:gd name="T54" fmla="*/ 41 h 4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1" h="41">
                  <a:moveTo>
                    <a:pt x="26" y="0"/>
                  </a:moveTo>
                  <a:lnTo>
                    <a:pt x="16" y="2"/>
                  </a:lnTo>
                  <a:lnTo>
                    <a:pt x="8" y="7"/>
                  </a:lnTo>
                  <a:lnTo>
                    <a:pt x="3" y="13"/>
                  </a:lnTo>
                  <a:lnTo>
                    <a:pt x="0" y="21"/>
                  </a:lnTo>
                  <a:lnTo>
                    <a:pt x="3" y="29"/>
                  </a:lnTo>
                  <a:lnTo>
                    <a:pt x="8" y="34"/>
                  </a:lnTo>
                  <a:lnTo>
                    <a:pt x="16" y="39"/>
                  </a:lnTo>
                  <a:lnTo>
                    <a:pt x="26" y="41"/>
                  </a:lnTo>
                  <a:lnTo>
                    <a:pt x="35" y="39"/>
                  </a:lnTo>
                  <a:lnTo>
                    <a:pt x="43" y="34"/>
                  </a:lnTo>
                  <a:lnTo>
                    <a:pt x="48" y="29"/>
                  </a:lnTo>
                  <a:lnTo>
                    <a:pt x="51" y="21"/>
                  </a:lnTo>
                  <a:lnTo>
                    <a:pt x="48" y="13"/>
                  </a:lnTo>
                  <a:lnTo>
                    <a:pt x="43" y="7"/>
                  </a:lnTo>
                  <a:lnTo>
                    <a:pt x="35" y="2"/>
                  </a:lnTo>
                  <a:lnTo>
                    <a:pt x="2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4160998168"/>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 name="Picture 17" descr="claimcenter.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80239" y="1155700"/>
            <a:ext cx="1184275" cy="118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|EOS~018|</a:t>
            </a:r>
            <a:endParaRPr lang="en-US" sz="100" dirty="0" err="1" smtClean="0">
              <a:solidFill>
                <a:srgbClr val="FFFFFF"/>
              </a:solidFill>
              <a:latin typeface="Arial"/>
              <a:cs typeface="Calibri" pitchFamily="34" charset="0"/>
            </a:endParaRPr>
          </a:p>
        </p:txBody>
      </p:sp>
      <p:sp>
        <p:nvSpPr>
          <p:cNvPr id="19458" name="AutoShape 2"/>
          <p:cNvSpPr>
            <a:spLocks noChangeArrowheads="1"/>
          </p:cNvSpPr>
          <p:nvPr/>
        </p:nvSpPr>
        <p:spPr bwMode="auto">
          <a:xfrm>
            <a:off x="5513388" y="3983038"/>
            <a:ext cx="984250" cy="98425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19459" name="Rectangle 3"/>
          <p:cNvSpPr>
            <a:spLocks noGrp="1" noChangeArrowheads="1"/>
          </p:cNvSpPr>
          <p:nvPr>
            <p:ph type="title"/>
          </p:nvPr>
        </p:nvSpPr>
        <p:spPr/>
        <p:txBody>
          <a:bodyPr/>
          <a:lstStyle/>
          <a:p>
            <a:pPr eaLnBrk="1" hangingPunct="1"/>
            <a:r>
              <a:rPr lang="en-US" dirty="0" smtClean="0"/>
              <a:t>AB Contacts are automatically synced</a:t>
            </a:r>
          </a:p>
        </p:txBody>
      </p:sp>
      <p:sp>
        <p:nvSpPr>
          <p:cNvPr id="19460" name="Text Box 4"/>
          <p:cNvSpPr txBox="1">
            <a:spLocks noChangeArrowheads="1"/>
          </p:cNvSpPr>
          <p:nvPr/>
        </p:nvSpPr>
        <p:spPr bwMode="auto">
          <a:xfrm>
            <a:off x="7107238" y="1441450"/>
            <a:ext cx="11080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1800" b="1"/>
              <a:t>Address</a:t>
            </a:r>
            <a:br>
              <a:rPr lang="en-US" sz="1800" b="1"/>
            </a:br>
            <a:r>
              <a:rPr lang="en-US" sz="1800" b="1"/>
              <a:t>Book</a:t>
            </a:r>
          </a:p>
        </p:txBody>
      </p:sp>
      <p:grpSp>
        <p:nvGrpSpPr>
          <p:cNvPr id="19462" name="Group 20"/>
          <p:cNvGrpSpPr>
            <a:grpSpLocks/>
          </p:cNvGrpSpPr>
          <p:nvPr/>
        </p:nvGrpSpPr>
        <p:grpSpPr bwMode="auto">
          <a:xfrm>
            <a:off x="2471738" y="3832225"/>
            <a:ext cx="692150" cy="511175"/>
            <a:chOff x="2083" y="1606"/>
            <a:chExt cx="1489" cy="1097"/>
          </a:xfrm>
        </p:grpSpPr>
        <p:sp>
          <p:nvSpPr>
            <p:cNvPr id="19502" name="Rectangle 21"/>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9503" name="Freeform 22"/>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9504" name="Freeform 23"/>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9505" name="Freeform 24"/>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9506" name="Freeform 25"/>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9507" name="Rectangle 26"/>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9508" name="Rectangle 27"/>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509" name="AutoShape 28"/>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9510" name="Freeform 29"/>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9511" name="Freeform 30"/>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9512" name="Rectangle 31"/>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513" name="Rectangle 32"/>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514" name="Rectangle 33"/>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9515" name="Group 34"/>
            <p:cNvGrpSpPr>
              <a:grpSpLocks/>
            </p:cNvGrpSpPr>
            <p:nvPr/>
          </p:nvGrpSpPr>
          <p:grpSpPr bwMode="auto">
            <a:xfrm>
              <a:off x="2221" y="1871"/>
              <a:ext cx="518" cy="782"/>
              <a:chOff x="2400" y="1656"/>
              <a:chExt cx="752" cy="1136"/>
            </a:xfrm>
          </p:grpSpPr>
          <p:sp>
            <p:nvSpPr>
              <p:cNvPr id="19528" name="Freeform 3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9529" name="Freeform 3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9530" name="Freeform 3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9531" name="Freeform 3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9532" name="Freeform 3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9533" name="Line 4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34" name="Line 4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9516" name="Group 42"/>
            <p:cNvGrpSpPr>
              <a:grpSpLocks/>
            </p:cNvGrpSpPr>
            <p:nvPr/>
          </p:nvGrpSpPr>
          <p:grpSpPr bwMode="auto">
            <a:xfrm rot="-6511945">
              <a:off x="2834" y="1842"/>
              <a:ext cx="518" cy="783"/>
              <a:chOff x="2400" y="1656"/>
              <a:chExt cx="752" cy="1136"/>
            </a:xfrm>
          </p:grpSpPr>
          <p:sp>
            <p:nvSpPr>
              <p:cNvPr id="19521" name="Freeform 4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9522" name="Freeform 4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9523" name="Freeform 4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9524" name="Freeform 4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9525" name="Freeform 4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9526" name="Line 4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27" name="Line 4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9517" name="Freeform 50"/>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9518" name="Freeform 51"/>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9519" name="Rectangle 52"/>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520" name="Rectangle 53"/>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9463" name="AutoShape 54"/>
          <p:cNvSpPr>
            <a:spLocks noChangeArrowheads="1"/>
          </p:cNvSpPr>
          <p:nvPr/>
        </p:nvSpPr>
        <p:spPr bwMode="auto">
          <a:xfrm>
            <a:off x="2908300" y="4041775"/>
            <a:ext cx="984250" cy="98425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19464" name="Line 55"/>
          <p:cNvSpPr>
            <a:spLocks noChangeShapeType="1"/>
          </p:cNvSpPr>
          <p:nvPr/>
        </p:nvSpPr>
        <p:spPr bwMode="auto">
          <a:xfrm flipH="1">
            <a:off x="2633663" y="4479925"/>
            <a:ext cx="28098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465" name="Line 56"/>
          <p:cNvSpPr>
            <a:spLocks noChangeShapeType="1"/>
          </p:cNvSpPr>
          <p:nvPr/>
        </p:nvSpPr>
        <p:spPr bwMode="auto">
          <a:xfrm flipV="1">
            <a:off x="2633663" y="4216400"/>
            <a:ext cx="0" cy="26352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466" name="Rectangle 57"/>
          <p:cNvSpPr>
            <a:spLocks noChangeArrowheads="1"/>
          </p:cNvSpPr>
          <p:nvPr/>
        </p:nvSpPr>
        <p:spPr bwMode="auto">
          <a:xfrm>
            <a:off x="544513" y="1076325"/>
            <a:ext cx="3517900" cy="5327650"/>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467" name="Rectangle 58"/>
          <p:cNvSpPr>
            <a:spLocks noChangeArrowheads="1"/>
          </p:cNvSpPr>
          <p:nvPr/>
        </p:nvSpPr>
        <p:spPr bwMode="auto">
          <a:xfrm>
            <a:off x="5351463" y="1104900"/>
            <a:ext cx="3517900" cy="5327650"/>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468" name="Line 59"/>
          <p:cNvSpPr>
            <a:spLocks noChangeShapeType="1"/>
          </p:cNvSpPr>
          <p:nvPr/>
        </p:nvSpPr>
        <p:spPr bwMode="auto">
          <a:xfrm>
            <a:off x="3886200" y="4554538"/>
            <a:ext cx="1631950" cy="0"/>
          </a:xfrm>
          <a:prstGeom prst="line">
            <a:avLst/>
          </a:prstGeom>
          <a:noFill/>
          <a:ln w="28575">
            <a:solidFill>
              <a:srgbClr val="C00000"/>
            </a:solidFill>
            <a:round/>
            <a:headEnd type="diamond" w="med" len="med"/>
            <a:tailEnd type="diamond"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69" name="Text Box 60"/>
          <p:cNvSpPr txBox="1">
            <a:spLocks noChangeArrowheads="1"/>
          </p:cNvSpPr>
          <p:nvPr/>
        </p:nvSpPr>
        <p:spPr bwMode="auto">
          <a:xfrm>
            <a:off x="746125" y="4514850"/>
            <a:ext cx="206216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1800" b="1" dirty="0"/>
              <a:t>Dr. Matt Sawyer (1)</a:t>
            </a:r>
            <a:br>
              <a:rPr lang="en-US" sz="1800" b="1" dirty="0"/>
            </a:br>
            <a:r>
              <a:rPr lang="en-US" sz="1800" b="1" dirty="0">
                <a:solidFill>
                  <a:srgbClr val="C00000"/>
                </a:solidFill>
              </a:rPr>
              <a:t>phone: 453-2331</a:t>
            </a:r>
          </a:p>
        </p:txBody>
      </p:sp>
      <p:sp>
        <p:nvSpPr>
          <p:cNvPr id="19470" name="Text Box 61"/>
          <p:cNvSpPr txBox="1">
            <a:spLocks noChangeArrowheads="1"/>
          </p:cNvSpPr>
          <p:nvPr/>
        </p:nvSpPr>
        <p:spPr bwMode="auto">
          <a:xfrm>
            <a:off x="4329113" y="4267200"/>
            <a:ext cx="838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1800" b="1" dirty="0">
                <a:solidFill>
                  <a:srgbClr val="C00000"/>
                </a:solidFill>
              </a:rPr>
              <a:t>out of sync</a:t>
            </a:r>
          </a:p>
        </p:txBody>
      </p:sp>
      <p:grpSp>
        <p:nvGrpSpPr>
          <p:cNvPr id="6" name="Group 62"/>
          <p:cNvGrpSpPr>
            <a:grpSpLocks/>
          </p:cNvGrpSpPr>
          <p:nvPr/>
        </p:nvGrpSpPr>
        <p:grpSpPr bwMode="auto">
          <a:xfrm>
            <a:off x="3300413" y="4957763"/>
            <a:ext cx="2755900" cy="787400"/>
            <a:chOff x="2127" y="3123"/>
            <a:chExt cx="1783" cy="496"/>
          </a:xfrm>
        </p:grpSpPr>
        <p:sp>
          <p:nvSpPr>
            <p:cNvPr id="19498" name="Text Box 63"/>
            <p:cNvSpPr txBox="1">
              <a:spLocks noChangeArrowheads="1"/>
            </p:cNvSpPr>
            <p:nvPr/>
          </p:nvSpPr>
          <p:spPr bwMode="auto">
            <a:xfrm>
              <a:off x="2672" y="3446"/>
              <a:ext cx="64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1800" b="1"/>
                <a:t>324-6600</a:t>
              </a:r>
            </a:p>
          </p:txBody>
        </p:sp>
        <p:sp>
          <p:nvSpPr>
            <p:cNvPr id="19499" name="Line 64"/>
            <p:cNvSpPr>
              <a:spLocks noChangeShapeType="1"/>
            </p:cNvSpPr>
            <p:nvPr/>
          </p:nvSpPr>
          <p:spPr bwMode="auto">
            <a:xfrm>
              <a:off x="3910" y="3123"/>
              <a:ext cx="0" cy="289"/>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00" name="Line 65"/>
            <p:cNvSpPr>
              <a:spLocks noChangeShapeType="1"/>
            </p:cNvSpPr>
            <p:nvPr/>
          </p:nvSpPr>
          <p:spPr bwMode="auto">
            <a:xfrm flipH="1">
              <a:off x="2127" y="3412"/>
              <a:ext cx="1783" cy="0"/>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01" name="Line 66"/>
            <p:cNvSpPr>
              <a:spLocks noChangeShapeType="1"/>
            </p:cNvSpPr>
            <p:nvPr/>
          </p:nvSpPr>
          <p:spPr bwMode="auto">
            <a:xfrm flipV="1">
              <a:off x="2127" y="3146"/>
              <a:ext cx="0" cy="266"/>
            </a:xfrm>
            <a:prstGeom prst="line">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612291" name="Text Box 67"/>
          <p:cNvSpPr txBox="1">
            <a:spLocks noChangeArrowheads="1"/>
          </p:cNvSpPr>
          <p:nvPr/>
        </p:nvSpPr>
        <p:spPr bwMode="auto">
          <a:xfrm>
            <a:off x="955675" y="5064125"/>
            <a:ext cx="194468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1800" b="1" dirty="0">
                <a:solidFill>
                  <a:srgbClr val="008000"/>
                </a:solidFill>
              </a:rPr>
              <a:t>phone: 324-6600</a:t>
            </a:r>
          </a:p>
        </p:txBody>
      </p:sp>
      <p:sp>
        <p:nvSpPr>
          <p:cNvPr id="2612292" name="Line 68"/>
          <p:cNvSpPr>
            <a:spLocks noChangeShapeType="1"/>
          </p:cNvSpPr>
          <p:nvPr/>
        </p:nvSpPr>
        <p:spPr bwMode="auto">
          <a:xfrm flipH="1">
            <a:off x="650875" y="4799013"/>
            <a:ext cx="1987550" cy="280987"/>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12299" name="Line 75"/>
          <p:cNvSpPr>
            <a:spLocks noChangeShapeType="1"/>
          </p:cNvSpPr>
          <p:nvPr/>
        </p:nvSpPr>
        <p:spPr bwMode="auto">
          <a:xfrm flipH="1">
            <a:off x="4389438" y="4251325"/>
            <a:ext cx="776287" cy="579438"/>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12300" name="Text Box 76"/>
          <p:cNvSpPr txBox="1">
            <a:spLocks noChangeArrowheads="1"/>
          </p:cNvSpPr>
          <p:nvPr/>
        </p:nvSpPr>
        <p:spPr bwMode="auto">
          <a:xfrm>
            <a:off x="4313238" y="4006850"/>
            <a:ext cx="838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1800" b="1">
                <a:solidFill>
                  <a:srgbClr val="008000"/>
                </a:solidFill>
              </a:rPr>
              <a:t>in sync</a:t>
            </a:r>
          </a:p>
        </p:txBody>
      </p:sp>
      <p:sp>
        <p:nvSpPr>
          <p:cNvPr id="19478" name="Text Box 77"/>
          <p:cNvSpPr txBox="1">
            <a:spLocks noChangeArrowheads="1"/>
          </p:cNvSpPr>
          <p:nvPr/>
        </p:nvSpPr>
        <p:spPr bwMode="auto">
          <a:xfrm>
            <a:off x="6527800" y="4262438"/>
            <a:ext cx="2328863" cy="105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1800" b="1" dirty="0"/>
              <a:t>Dr. Matt Sawyer (</a:t>
            </a:r>
            <a:r>
              <a:rPr lang="en-US" sz="1800" b="1" dirty="0" smtClean="0"/>
              <a:t>AB)</a:t>
            </a:r>
            <a:br>
              <a:rPr lang="en-US" sz="1800" b="1" dirty="0" smtClean="0"/>
            </a:br>
            <a:r>
              <a:rPr lang="en-US" sz="1800" b="1" dirty="0" smtClean="0">
                <a:solidFill>
                  <a:srgbClr val="C00000"/>
                </a:solidFill>
              </a:rPr>
              <a:t>phone</a:t>
            </a:r>
            <a:r>
              <a:rPr lang="en-US" sz="1800" b="1" dirty="0">
                <a:solidFill>
                  <a:srgbClr val="C00000"/>
                </a:solidFill>
              </a:rPr>
              <a:t>: 453-2331</a:t>
            </a:r>
          </a:p>
          <a:p>
            <a:pPr algn="l" eaLnBrk="1" hangingPunct="1"/>
            <a:endParaRPr lang="en-US" sz="1800" b="1" dirty="0">
              <a:solidFill>
                <a:srgbClr val="008000"/>
              </a:solidFill>
            </a:endParaRPr>
          </a:p>
        </p:txBody>
      </p:sp>
      <p:grpSp>
        <p:nvGrpSpPr>
          <p:cNvPr id="19479" name="Group 79"/>
          <p:cNvGrpSpPr>
            <a:grpSpLocks/>
          </p:cNvGrpSpPr>
          <p:nvPr/>
        </p:nvGrpSpPr>
        <p:grpSpPr bwMode="auto">
          <a:xfrm>
            <a:off x="242888" y="1576388"/>
            <a:ext cx="1243012" cy="836612"/>
            <a:chOff x="2984" y="3331"/>
            <a:chExt cx="845" cy="569"/>
          </a:xfrm>
        </p:grpSpPr>
        <p:sp>
          <p:nvSpPr>
            <p:cNvPr id="19481" name="AutoShape 80"/>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9482" name="Group 81"/>
            <p:cNvGrpSpPr>
              <a:grpSpLocks/>
            </p:cNvGrpSpPr>
            <p:nvPr/>
          </p:nvGrpSpPr>
          <p:grpSpPr bwMode="auto">
            <a:xfrm>
              <a:off x="3386" y="3487"/>
              <a:ext cx="443" cy="398"/>
              <a:chOff x="4838" y="2218"/>
              <a:chExt cx="395" cy="355"/>
            </a:xfrm>
          </p:grpSpPr>
          <p:sp>
            <p:nvSpPr>
              <p:cNvPr id="19483" name="Freeform 82"/>
              <p:cNvSpPr>
                <a:spLocks/>
              </p:cNvSpPr>
              <p:nvPr/>
            </p:nvSpPr>
            <p:spPr bwMode="auto">
              <a:xfrm>
                <a:off x="4888" y="2251"/>
                <a:ext cx="294" cy="113"/>
              </a:xfrm>
              <a:custGeom>
                <a:avLst/>
                <a:gdLst>
                  <a:gd name="T0" fmla="*/ 0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0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84" name="Freeform 83"/>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85" name="Freeform 84"/>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86" name="Freeform 85"/>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87" name="Freeform 86"/>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88" name="Freeform 87"/>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89" name="Freeform 88"/>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90" name="Rectangle 89"/>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491" name="Rectangle 90"/>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492" name="Freeform 91"/>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93" name="Rectangle 92"/>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111" name="Group 110"/>
          <p:cNvGrpSpPr/>
          <p:nvPr/>
        </p:nvGrpSpPr>
        <p:grpSpPr>
          <a:xfrm>
            <a:off x="7033332" y="2129858"/>
            <a:ext cx="1136650" cy="1066800"/>
            <a:chOff x="6781800" y="1524000"/>
            <a:chExt cx="1136650" cy="1066800"/>
          </a:xfrm>
        </p:grpSpPr>
        <p:pic>
          <p:nvPicPr>
            <p:cNvPr id="11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2379" y="1524000"/>
              <a:ext cx="994672" cy="993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113" name="Content Placeholder 5"/>
            <p:cNvSpPr txBox="1">
              <a:spLocks/>
            </p:cNvSpPr>
            <p:nvPr/>
          </p:nvSpPr>
          <p:spPr bwMode="auto">
            <a:xfrm>
              <a:off x="6781800" y="2300287"/>
              <a:ext cx="1136650" cy="290513"/>
            </a:xfrm>
            <a:prstGeom prst="rect">
              <a:avLst/>
            </a:prstGeom>
            <a:noFill/>
            <a:ln w="9525">
              <a:noFill/>
              <a:miter lim="800000"/>
              <a:headEnd/>
              <a:tailEnd/>
            </a:ln>
          </p:spPr>
          <p:txBody>
            <a:bodyPr lIns="0" tIns="0" rIns="0" bIns="0"/>
            <a:lstStyle/>
            <a:p>
              <a:pPr marL="457200" indent="-457200" algn="ctr" eaLnBrk="0" hangingPunct="0">
                <a:spcBef>
                  <a:spcPct val="40000"/>
                </a:spcBef>
                <a:buClr>
                  <a:srgbClr val="04628C"/>
                </a:buClr>
                <a:buSzPct val="90000"/>
                <a:buFont typeface="Arial" pitchFamily="34" charset="0"/>
                <a:buNone/>
                <a:defRPr/>
              </a:pPr>
              <a:r>
                <a:rPr lang="en-US" sz="1100" kern="0" dirty="0">
                  <a:solidFill>
                    <a:schemeClr val="tx1"/>
                  </a:solidFill>
                  <a:latin typeface="Arial Narrow" pitchFamily="34" charset="0"/>
                  <a:cs typeface="+mn-cs"/>
                </a:rPr>
                <a:t>ContactManager</a:t>
              </a:r>
            </a:p>
          </p:txBody>
        </p:sp>
      </p:grpSp>
      <p:grpSp>
        <p:nvGrpSpPr>
          <p:cNvPr id="114" name="Group 4"/>
          <p:cNvGrpSpPr>
            <a:grpSpLocks/>
          </p:cNvGrpSpPr>
          <p:nvPr/>
        </p:nvGrpSpPr>
        <p:grpSpPr bwMode="auto">
          <a:xfrm>
            <a:off x="5975350" y="936392"/>
            <a:ext cx="1109663" cy="969963"/>
            <a:chOff x="1305" y="2500"/>
            <a:chExt cx="1138" cy="995"/>
          </a:xfrm>
        </p:grpSpPr>
        <p:sp>
          <p:nvSpPr>
            <p:cNvPr id="115" name="Freeform 5"/>
            <p:cNvSpPr>
              <a:spLocks/>
            </p:cNvSpPr>
            <p:nvPr/>
          </p:nvSpPr>
          <p:spPr bwMode="auto">
            <a:xfrm>
              <a:off x="1305" y="2500"/>
              <a:ext cx="1138" cy="995"/>
            </a:xfrm>
            <a:custGeom>
              <a:avLst/>
              <a:gdLst>
                <a:gd name="T0" fmla="*/ 444 w 1138"/>
                <a:gd name="T1" fmla="*/ 1 h 995"/>
                <a:gd name="T2" fmla="*/ 490 w 1138"/>
                <a:gd name="T3" fmla="*/ 0 h 995"/>
                <a:gd name="T4" fmla="*/ 532 w 1138"/>
                <a:gd name="T5" fmla="*/ 10 h 995"/>
                <a:gd name="T6" fmla="*/ 600 w 1138"/>
                <a:gd name="T7" fmla="*/ 40 h 995"/>
                <a:gd name="T8" fmla="*/ 668 w 1138"/>
                <a:gd name="T9" fmla="*/ 66 h 995"/>
                <a:gd name="T10" fmla="*/ 737 w 1138"/>
                <a:gd name="T11" fmla="*/ 85 h 995"/>
                <a:gd name="T12" fmla="*/ 808 w 1138"/>
                <a:gd name="T13" fmla="*/ 101 h 995"/>
                <a:gd name="T14" fmla="*/ 882 w 1138"/>
                <a:gd name="T15" fmla="*/ 111 h 995"/>
                <a:gd name="T16" fmla="*/ 953 w 1138"/>
                <a:gd name="T17" fmla="*/ 125 h 995"/>
                <a:gd name="T18" fmla="*/ 1011 w 1138"/>
                <a:gd name="T19" fmla="*/ 163 h 995"/>
                <a:gd name="T20" fmla="*/ 1036 w 1138"/>
                <a:gd name="T21" fmla="*/ 228 h 995"/>
                <a:gd name="T22" fmla="*/ 1082 w 1138"/>
                <a:gd name="T23" fmla="*/ 252 h 995"/>
                <a:gd name="T24" fmla="*/ 1120 w 1138"/>
                <a:gd name="T25" fmla="*/ 287 h 995"/>
                <a:gd name="T26" fmla="*/ 1137 w 1138"/>
                <a:gd name="T27" fmla="*/ 342 h 995"/>
                <a:gd name="T28" fmla="*/ 1134 w 1138"/>
                <a:gd name="T29" fmla="*/ 405 h 995"/>
                <a:gd name="T30" fmla="*/ 1111 w 1138"/>
                <a:gd name="T31" fmla="*/ 463 h 995"/>
                <a:gd name="T32" fmla="*/ 1068 w 1138"/>
                <a:gd name="T33" fmla="*/ 515 h 995"/>
                <a:gd name="T34" fmla="*/ 1026 w 1138"/>
                <a:gd name="T35" fmla="*/ 568 h 995"/>
                <a:gd name="T36" fmla="*/ 984 w 1138"/>
                <a:gd name="T37" fmla="*/ 627 h 995"/>
                <a:gd name="T38" fmla="*/ 965 w 1138"/>
                <a:gd name="T39" fmla="*/ 646 h 995"/>
                <a:gd name="T40" fmla="*/ 947 w 1138"/>
                <a:gd name="T41" fmla="*/ 664 h 995"/>
                <a:gd name="T42" fmla="*/ 918 w 1138"/>
                <a:gd name="T43" fmla="*/ 712 h 995"/>
                <a:gd name="T44" fmla="*/ 864 w 1138"/>
                <a:gd name="T45" fmla="*/ 796 h 995"/>
                <a:gd name="T46" fmla="*/ 802 w 1138"/>
                <a:gd name="T47" fmla="*/ 881 h 995"/>
                <a:gd name="T48" fmla="*/ 763 w 1138"/>
                <a:gd name="T49" fmla="*/ 927 h 995"/>
                <a:gd name="T50" fmla="*/ 741 w 1138"/>
                <a:gd name="T51" fmla="*/ 950 h 995"/>
                <a:gd name="T52" fmla="*/ 715 w 1138"/>
                <a:gd name="T53" fmla="*/ 963 h 995"/>
                <a:gd name="T54" fmla="*/ 670 w 1138"/>
                <a:gd name="T55" fmla="*/ 975 h 995"/>
                <a:gd name="T56" fmla="*/ 627 w 1138"/>
                <a:gd name="T57" fmla="*/ 985 h 995"/>
                <a:gd name="T58" fmla="*/ 584 w 1138"/>
                <a:gd name="T59" fmla="*/ 993 h 995"/>
                <a:gd name="T60" fmla="*/ 543 w 1138"/>
                <a:gd name="T61" fmla="*/ 995 h 995"/>
                <a:gd name="T62" fmla="*/ 500 w 1138"/>
                <a:gd name="T63" fmla="*/ 988 h 995"/>
                <a:gd name="T64" fmla="*/ 464 w 1138"/>
                <a:gd name="T65" fmla="*/ 975 h 995"/>
                <a:gd name="T66" fmla="*/ 421 w 1138"/>
                <a:gd name="T67" fmla="*/ 953 h 995"/>
                <a:gd name="T68" fmla="*/ 369 w 1138"/>
                <a:gd name="T69" fmla="*/ 925 h 995"/>
                <a:gd name="T70" fmla="*/ 317 w 1138"/>
                <a:gd name="T71" fmla="*/ 899 h 995"/>
                <a:gd name="T72" fmla="*/ 275 w 1138"/>
                <a:gd name="T73" fmla="*/ 878 h 995"/>
                <a:gd name="T74" fmla="*/ 219 w 1138"/>
                <a:gd name="T75" fmla="*/ 861 h 995"/>
                <a:gd name="T76" fmla="*/ 151 w 1138"/>
                <a:gd name="T77" fmla="*/ 851 h 995"/>
                <a:gd name="T78" fmla="*/ 86 w 1138"/>
                <a:gd name="T79" fmla="*/ 827 h 995"/>
                <a:gd name="T80" fmla="*/ 18 w 1138"/>
                <a:gd name="T81" fmla="*/ 764 h 995"/>
                <a:gd name="T82" fmla="*/ 0 w 1138"/>
                <a:gd name="T83" fmla="*/ 678 h 995"/>
                <a:gd name="T84" fmla="*/ 15 w 1138"/>
                <a:gd name="T85" fmla="*/ 590 h 995"/>
                <a:gd name="T86" fmla="*/ 52 w 1138"/>
                <a:gd name="T87" fmla="*/ 520 h 995"/>
                <a:gd name="T88" fmla="*/ 110 w 1138"/>
                <a:gd name="T89" fmla="*/ 462 h 995"/>
                <a:gd name="T90" fmla="*/ 166 w 1138"/>
                <a:gd name="T91" fmla="*/ 392 h 995"/>
                <a:gd name="T92" fmla="*/ 217 w 1138"/>
                <a:gd name="T93" fmla="*/ 316 h 995"/>
                <a:gd name="T94" fmla="*/ 263 w 1138"/>
                <a:gd name="T95" fmla="*/ 239 h 995"/>
                <a:gd name="T96" fmla="*/ 308 w 1138"/>
                <a:gd name="T97" fmla="*/ 156 h 995"/>
                <a:gd name="T98" fmla="*/ 365 w 1138"/>
                <a:gd name="T99" fmla="*/ 58 h 995"/>
                <a:gd name="T100" fmla="*/ 413 w 1138"/>
                <a:gd name="T101" fmla="*/ 5 h 99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38"/>
                <a:gd name="T154" fmla="*/ 0 h 995"/>
                <a:gd name="T155" fmla="*/ 1138 w 1138"/>
                <a:gd name="T156" fmla="*/ 995 h 99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38" h="995">
                  <a:moveTo>
                    <a:pt x="413" y="5"/>
                  </a:moveTo>
                  <a:lnTo>
                    <a:pt x="429" y="2"/>
                  </a:lnTo>
                  <a:lnTo>
                    <a:pt x="444" y="1"/>
                  </a:lnTo>
                  <a:lnTo>
                    <a:pt x="460" y="0"/>
                  </a:lnTo>
                  <a:lnTo>
                    <a:pt x="475" y="0"/>
                  </a:lnTo>
                  <a:lnTo>
                    <a:pt x="490" y="0"/>
                  </a:lnTo>
                  <a:lnTo>
                    <a:pt x="504" y="2"/>
                  </a:lnTo>
                  <a:lnTo>
                    <a:pt x="518" y="5"/>
                  </a:lnTo>
                  <a:lnTo>
                    <a:pt x="532" y="10"/>
                  </a:lnTo>
                  <a:lnTo>
                    <a:pt x="554" y="20"/>
                  </a:lnTo>
                  <a:lnTo>
                    <a:pt x="578" y="31"/>
                  </a:lnTo>
                  <a:lnTo>
                    <a:pt x="600" y="40"/>
                  </a:lnTo>
                  <a:lnTo>
                    <a:pt x="623" y="49"/>
                  </a:lnTo>
                  <a:lnTo>
                    <a:pt x="645" y="57"/>
                  </a:lnTo>
                  <a:lnTo>
                    <a:pt x="668" y="66"/>
                  </a:lnTo>
                  <a:lnTo>
                    <a:pt x="692" y="72"/>
                  </a:lnTo>
                  <a:lnTo>
                    <a:pt x="714" y="79"/>
                  </a:lnTo>
                  <a:lnTo>
                    <a:pt x="737" y="85"/>
                  </a:lnTo>
                  <a:lnTo>
                    <a:pt x="760" y="92"/>
                  </a:lnTo>
                  <a:lnTo>
                    <a:pt x="785" y="97"/>
                  </a:lnTo>
                  <a:lnTo>
                    <a:pt x="808" y="101"/>
                  </a:lnTo>
                  <a:lnTo>
                    <a:pt x="833" y="105"/>
                  </a:lnTo>
                  <a:lnTo>
                    <a:pt x="857" y="108"/>
                  </a:lnTo>
                  <a:lnTo>
                    <a:pt x="882" y="111"/>
                  </a:lnTo>
                  <a:lnTo>
                    <a:pt x="906" y="114"/>
                  </a:lnTo>
                  <a:lnTo>
                    <a:pt x="930" y="119"/>
                  </a:lnTo>
                  <a:lnTo>
                    <a:pt x="953" y="125"/>
                  </a:lnTo>
                  <a:lnTo>
                    <a:pt x="975" y="136"/>
                  </a:lnTo>
                  <a:lnTo>
                    <a:pt x="994" y="147"/>
                  </a:lnTo>
                  <a:lnTo>
                    <a:pt x="1011" y="163"/>
                  </a:lnTo>
                  <a:lnTo>
                    <a:pt x="1024" y="181"/>
                  </a:lnTo>
                  <a:lnTo>
                    <a:pt x="1033" y="202"/>
                  </a:lnTo>
                  <a:lnTo>
                    <a:pt x="1036" y="228"/>
                  </a:lnTo>
                  <a:lnTo>
                    <a:pt x="1051" y="235"/>
                  </a:lnTo>
                  <a:lnTo>
                    <a:pt x="1067" y="243"/>
                  </a:lnTo>
                  <a:lnTo>
                    <a:pt x="1082" y="252"/>
                  </a:lnTo>
                  <a:lnTo>
                    <a:pt x="1097" y="263"/>
                  </a:lnTo>
                  <a:lnTo>
                    <a:pt x="1110" y="274"/>
                  </a:lnTo>
                  <a:lnTo>
                    <a:pt x="1120" y="287"/>
                  </a:lnTo>
                  <a:lnTo>
                    <a:pt x="1129" y="303"/>
                  </a:lnTo>
                  <a:lnTo>
                    <a:pt x="1134" y="321"/>
                  </a:lnTo>
                  <a:lnTo>
                    <a:pt x="1137" y="342"/>
                  </a:lnTo>
                  <a:lnTo>
                    <a:pt x="1138" y="364"/>
                  </a:lnTo>
                  <a:lnTo>
                    <a:pt x="1137" y="384"/>
                  </a:lnTo>
                  <a:lnTo>
                    <a:pt x="1134" y="405"/>
                  </a:lnTo>
                  <a:lnTo>
                    <a:pt x="1128" y="426"/>
                  </a:lnTo>
                  <a:lnTo>
                    <a:pt x="1120" y="445"/>
                  </a:lnTo>
                  <a:lnTo>
                    <a:pt x="1111" y="463"/>
                  </a:lnTo>
                  <a:lnTo>
                    <a:pt x="1098" y="482"/>
                  </a:lnTo>
                  <a:lnTo>
                    <a:pt x="1082" y="498"/>
                  </a:lnTo>
                  <a:lnTo>
                    <a:pt x="1068" y="515"/>
                  </a:lnTo>
                  <a:lnTo>
                    <a:pt x="1053" y="533"/>
                  </a:lnTo>
                  <a:lnTo>
                    <a:pt x="1040" y="550"/>
                  </a:lnTo>
                  <a:lnTo>
                    <a:pt x="1026" y="568"/>
                  </a:lnTo>
                  <a:lnTo>
                    <a:pt x="1011" y="586"/>
                  </a:lnTo>
                  <a:lnTo>
                    <a:pt x="998" y="606"/>
                  </a:lnTo>
                  <a:lnTo>
                    <a:pt x="984" y="627"/>
                  </a:lnTo>
                  <a:lnTo>
                    <a:pt x="978" y="634"/>
                  </a:lnTo>
                  <a:lnTo>
                    <a:pt x="971" y="641"/>
                  </a:lnTo>
                  <a:lnTo>
                    <a:pt x="965" y="646"/>
                  </a:lnTo>
                  <a:lnTo>
                    <a:pt x="960" y="653"/>
                  </a:lnTo>
                  <a:lnTo>
                    <a:pt x="953" y="659"/>
                  </a:lnTo>
                  <a:lnTo>
                    <a:pt x="947" y="664"/>
                  </a:lnTo>
                  <a:lnTo>
                    <a:pt x="941" y="671"/>
                  </a:lnTo>
                  <a:lnTo>
                    <a:pt x="938" y="678"/>
                  </a:lnTo>
                  <a:lnTo>
                    <a:pt x="918" y="712"/>
                  </a:lnTo>
                  <a:lnTo>
                    <a:pt x="900" y="742"/>
                  </a:lnTo>
                  <a:lnTo>
                    <a:pt x="882" y="770"/>
                  </a:lnTo>
                  <a:lnTo>
                    <a:pt x="864" y="796"/>
                  </a:lnTo>
                  <a:lnTo>
                    <a:pt x="844" y="824"/>
                  </a:lnTo>
                  <a:lnTo>
                    <a:pt x="824" y="851"/>
                  </a:lnTo>
                  <a:lnTo>
                    <a:pt x="802" y="881"/>
                  </a:lnTo>
                  <a:lnTo>
                    <a:pt x="777" y="912"/>
                  </a:lnTo>
                  <a:lnTo>
                    <a:pt x="769" y="919"/>
                  </a:lnTo>
                  <a:lnTo>
                    <a:pt x="763" y="927"/>
                  </a:lnTo>
                  <a:lnTo>
                    <a:pt x="755" y="936"/>
                  </a:lnTo>
                  <a:lnTo>
                    <a:pt x="749" y="943"/>
                  </a:lnTo>
                  <a:lnTo>
                    <a:pt x="741" y="950"/>
                  </a:lnTo>
                  <a:lnTo>
                    <a:pt x="733" y="956"/>
                  </a:lnTo>
                  <a:lnTo>
                    <a:pt x="724" y="961"/>
                  </a:lnTo>
                  <a:lnTo>
                    <a:pt x="715" y="963"/>
                  </a:lnTo>
                  <a:lnTo>
                    <a:pt x="699" y="967"/>
                  </a:lnTo>
                  <a:lnTo>
                    <a:pt x="684" y="971"/>
                  </a:lnTo>
                  <a:lnTo>
                    <a:pt x="670" y="975"/>
                  </a:lnTo>
                  <a:lnTo>
                    <a:pt x="655" y="979"/>
                  </a:lnTo>
                  <a:lnTo>
                    <a:pt x="641" y="983"/>
                  </a:lnTo>
                  <a:lnTo>
                    <a:pt x="627" y="985"/>
                  </a:lnTo>
                  <a:lnTo>
                    <a:pt x="613" y="989"/>
                  </a:lnTo>
                  <a:lnTo>
                    <a:pt x="598" y="991"/>
                  </a:lnTo>
                  <a:lnTo>
                    <a:pt x="584" y="993"/>
                  </a:lnTo>
                  <a:lnTo>
                    <a:pt x="570" y="995"/>
                  </a:lnTo>
                  <a:lnTo>
                    <a:pt x="557" y="995"/>
                  </a:lnTo>
                  <a:lnTo>
                    <a:pt x="543" y="995"/>
                  </a:lnTo>
                  <a:lnTo>
                    <a:pt x="528" y="993"/>
                  </a:lnTo>
                  <a:lnTo>
                    <a:pt x="514" y="992"/>
                  </a:lnTo>
                  <a:lnTo>
                    <a:pt x="500" y="988"/>
                  </a:lnTo>
                  <a:lnTo>
                    <a:pt x="486" y="984"/>
                  </a:lnTo>
                  <a:lnTo>
                    <a:pt x="475" y="980"/>
                  </a:lnTo>
                  <a:lnTo>
                    <a:pt x="464" y="975"/>
                  </a:lnTo>
                  <a:lnTo>
                    <a:pt x="451" y="969"/>
                  </a:lnTo>
                  <a:lnTo>
                    <a:pt x="437" y="961"/>
                  </a:lnTo>
                  <a:lnTo>
                    <a:pt x="421" y="953"/>
                  </a:lnTo>
                  <a:lnTo>
                    <a:pt x="404" y="944"/>
                  </a:lnTo>
                  <a:lnTo>
                    <a:pt x="386" y="935"/>
                  </a:lnTo>
                  <a:lnTo>
                    <a:pt x="369" y="925"/>
                  </a:lnTo>
                  <a:lnTo>
                    <a:pt x="352" y="915"/>
                  </a:lnTo>
                  <a:lnTo>
                    <a:pt x="334" y="906"/>
                  </a:lnTo>
                  <a:lnTo>
                    <a:pt x="317" y="899"/>
                  </a:lnTo>
                  <a:lnTo>
                    <a:pt x="302" y="890"/>
                  </a:lnTo>
                  <a:lnTo>
                    <a:pt x="288" y="883"/>
                  </a:lnTo>
                  <a:lnTo>
                    <a:pt x="275" y="878"/>
                  </a:lnTo>
                  <a:lnTo>
                    <a:pt x="263" y="873"/>
                  </a:lnTo>
                  <a:lnTo>
                    <a:pt x="253" y="870"/>
                  </a:lnTo>
                  <a:lnTo>
                    <a:pt x="219" y="861"/>
                  </a:lnTo>
                  <a:lnTo>
                    <a:pt x="193" y="856"/>
                  </a:lnTo>
                  <a:lnTo>
                    <a:pt x="170" y="853"/>
                  </a:lnTo>
                  <a:lnTo>
                    <a:pt x="151" y="851"/>
                  </a:lnTo>
                  <a:lnTo>
                    <a:pt x="131" y="847"/>
                  </a:lnTo>
                  <a:lnTo>
                    <a:pt x="110" y="839"/>
                  </a:lnTo>
                  <a:lnTo>
                    <a:pt x="86" y="827"/>
                  </a:lnTo>
                  <a:lnTo>
                    <a:pt x="56" y="808"/>
                  </a:lnTo>
                  <a:lnTo>
                    <a:pt x="34" y="789"/>
                  </a:lnTo>
                  <a:lnTo>
                    <a:pt x="18" y="764"/>
                  </a:lnTo>
                  <a:lnTo>
                    <a:pt x="8" y="738"/>
                  </a:lnTo>
                  <a:lnTo>
                    <a:pt x="3" y="708"/>
                  </a:lnTo>
                  <a:lnTo>
                    <a:pt x="0" y="678"/>
                  </a:lnTo>
                  <a:lnTo>
                    <a:pt x="3" y="649"/>
                  </a:lnTo>
                  <a:lnTo>
                    <a:pt x="8" y="619"/>
                  </a:lnTo>
                  <a:lnTo>
                    <a:pt x="15" y="590"/>
                  </a:lnTo>
                  <a:lnTo>
                    <a:pt x="22" y="564"/>
                  </a:lnTo>
                  <a:lnTo>
                    <a:pt x="35" y="541"/>
                  </a:lnTo>
                  <a:lnTo>
                    <a:pt x="52" y="520"/>
                  </a:lnTo>
                  <a:lnTo>
                    <a:pt x="70" y="501"/>
                  </a:lnTo>
                  <a:lnTo>
                    <a:pt x="90" y="482"/>
                  </a:lnTo>
                  <a:lnTo>
                    <a:pt x="110" y="462"/>
                  </a:lnTo>
                  <a:lnTo>
                    <a:pt x="131" y="441"/>
                  </a:lnTo>
                  <a:lnTo>
                    <a:pt x="149" y="419"/>
                  </a:lnTo>
                  <a:lnTo>
                    <a:pt x="166" y="392"/>
                  </a:lnTo>
                  <a:lnTo>
                    <a:pt x="183" y="366"/>
                  </a:lnTo>
                  <a:lnTo>
                    <a:pt x="200" y="342"/>
                  </a:lnTo>
                  <a:lnTo>
                    <a:pt x="217" y="316"/>
                  </a:lnTo>
                  <a:lnTo>
                    <a:pt x="232" y="290"/>
                  </a:lnTo>
                  <a:lnTo>
                    <a:pt x="248" y="265"/>
                  </a:lnTo>
                  <a:lnTo>
                    <a:pt x="263" y="239"/>
                  </a:lnTo>
                  <a:lnTo>
                    <a:pt x="279" y="212"/>
                  </a:lnTo>
                  <a:lnTo>
                    <a:pt x="292" y="187"/>
                  </a:lnTo>
                  <a:lnTo>
                    <a:pt x="308" y="156"/>
                  </a:lnTo>
                  <a:lnTo>
                    <a:pt x="327" y="123"/>
                  </a:lnTo>
                  <a:lnTo>
                    <a:pt x="346" y="89"/>
                  </a:lnTo>
                  <a:lnTo>
                    <a:pt x="365" y="58"/>
                  </a:lnTo>
                  <a:lnTo>
                    <a:pt x="384" y="31"/>
                  </a:lnTo>
                  <a:lnTo>
                    <a:pt x="400" y="13"/>
                  </a:lnTo>
                  <a:lnTo>
                    <a:pt x="413" y="5"/>
                  </a:lnTo>
                  <a:close/>
                </a:path>
              </a:pathLst>
            </a:custGeom>
            <a:solidFill>
              <a:srgbClr val="FFFFD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6" name="Freeform 6"/>
            <p:cNvSpPr>
              <a:spLocks/>
            </p:cNvSpPr>
            <p:nvPr/>
          </p:nvSpPr>
          <p:spPr bwMode="auto">
            <a:xfrm>
              <a:off x="1356" y="2554"/>
              <a:ext cx="1055" cy="891"/>
            </a:xfrm>
            <a:custGeom>
              <a:avLst/>
              <a:gdLst>
                <a:gd name="T0" fmla="*/ 1013 w 1055"/>
                <a:gd name="T1" fmla="*/ 247 h 891"/>
                <a:gd name="T2" fmla="*/ 1007 w 1055"/>
                <a:gd name="T3" fmla="*/ 242 h 891"/>
                <a:gd name="T4" fmla="*/ 986 w 1055"/>
                <a:gd name="T5" fmla="*/ 227 h 891"/>
                <a:gd name="T6" fmla="*/ 963 w 1055"/>
                <a:gd name="T7" fmla="*/ 215 h 891"/>
                <a:gd name="T8" fmla="*/ 962 w 1055"/>
                <a:gd name="T9" fmla="*/ 189 h 891"/>
                <a:gd name="T10" fmla="*/ 947 w 1055"/>
                <a:gd name="T11" fmla="*/ 157 h 891"/>
                <a:gd name="T12" fmla="*/ 918 w 1055"/>
                <a:gd name="T13" fmla="*/ 145 h 891"/>
                <a:gd name="T14" fmla="*/ 861 w 1055"/>
                <a:gd name="T15" fmla="*/ 131 h 891"/>
                <a:gd name="T16" fmla="*/ 804 w 1055"/>
                <a:gd name="T17" fmla="*/ 118 h 891"/>
                <a:gd name="T18" fmla="*/ 749 w 1055"/>
                <a:gd name="T19" fmla="*/ 105 h 891"/>
                <a:gd name="T20" fmla="*/ 707 w 1055"/>
                <a:gd name="T21" fmla="*/ 95 h 891"/>
                <a:gd name="T22" fmla="*/ 665 w 1055"/>
                <a:gd name="T23" fmla="*/ 82 h 891"/>
                <a:gd name="T24" fmla="*/ 622 w 1055"/>
                <a:gd name="T25" fmla="*/ 65 h 891"/>
                <a:gd name="T26" fmla="*/ 572 w 1055"/>
                <a:gd name="T27" fmla="*/ 43 h 891"/>
                <a:gd name="T28" fmla="*/ 516 w 1055"/>
                <a:gd name="T29" fmla="*/ 21 h 891"/>
                <a:gd name="T30" fmla="*/ 465 w 1055"/>
                <a:gd name="T31" fmla="*/ 5 h 891"/>
                <a:gd name="T32" fmla="*/ 423 w 1055"/>
                <a:gd name="T33" fmla="*/ 0 h 891"/>
                <a:gd name="T34" fmla="*/ 387 w 1055"/>
                <a:gd name="T35" fmla="*/ 18 h 891"/>
                <a:gd name="T36" fmla="*/ 343 w 1055"/>
                <a:gd name="T37" fmla="*/ 69 h 891"/>
                <a:gd name="T38" fmla="*/ 304 w 1055"/>
                <a:gd name="T39" fmla="*/ 124 h 891"/>
                <a:gd name="T40" fmla="*/ 266 w 1055"/>
                <a:gd name="T41" fmla="*/ 175 h 891"/>
                <a:gd name="T42" fmla="*/ 230 w 1055"/>
                <a:gd name="T43" fmla="*/ 223 h 891"/>
                <a:gd name="T44" fmla="*/ 198 w 1055"/>
                <a:gd name="T45" fmla="*/ 273 h 891"/>
                <a:gd name="T46" fmla="*/ 127 w 1055"/>
                <a:gd name="T47" fmla="*/ 384 h 891"/>
                <a:gd name="T48" fmla="*/ 36 w 1055"/>
                <a:gd name="T49" fmla="*/ 513 h 891"/>
                <a:gd name="T50" fmla="*/ 0 w 1055"/>
                <a:gd name="T51" fmla="*/ 578 h 891"/>
                <a:gd name="T52" fmla="*/ 9 w 1055"/>
                <a:gd name="T53" fmla="*/ 624 h 891"/>
                <a:gd name="T54" fmla="*/ 17 w 1055"/>
                <a:gd name="T55" fmla="*/ 648 h 891"/>
                <a:gd name="T56" fmla="*/ 33 w 1055"/>
                <a:gd name="T57" fmla="*/ 688 h 891"/>
                <a:gd name="T58" fmla="*/ 53 w 1055"/>
                <a:gd name="T59" fmla="*/ 709 h 891"/>
                <a:gd name="T60" fmla="*/ 101 w 1055"/>
                <a:gd name="T61" fmla="*/ 729 h 891"/>
                <a:gd name="T62" fmla="*/ 149 w 1055"/>
                <a:gd name="T63" fmla="*/ 749 h 891"/>
                <a:gd name="T64" fmla="*/ 198 w 1055"/>
                <a:gd name="T65" fmla="*/ 767 h 891"/>
                <a:gd name="T66" fmla="*/ 247 w 1055"/>
                <a:gd name="T67" fmla="*/ 785 h 891"/>
                <a:gd name="T68" fmla="*/ 295 w 1055"/>
                <a:gd name="T69" fmla="*/ 803 h 891"/>
                <a:gd name="T70" fmla="*/ 347 w 1055"/>
                <a:gd name="T71" fmla="*/ 825 h 891"/>
                <a:gd name="T72" fmla="*/ 400 w 1055"/>
                <a:gd name="T73" fmla="*/ 847 h 891"/>
                <a:gd name="T74" fmla="*/ 453 w 1055"/>
                <a:gd name="T75" fmla="*/ 867 h 891"/>
                <a:gd name="T76" fmla="*/ 531 w 1055"/>
                <a:gd name="T77" fmla="*/ 887 h 891"/>
                <a:gd name="T78" fmla="*/ 610 w 1055"/>
                <a:gd name="T79" fmla="*/ 887 h 891"/>
                <a:gd name="T80" fmla="*/ 669 w 1055"/>
                <a:gd name="T81" fmla="*/ 851 h 891"/>
                <a:gd name="T82" fmla="*/ 721 w 1055"/>
                <a:gd name="T83" fmla="*/ 790 h 891"/>
                <a:gd name="T84" fmla="*/ 780 w 1055"/>
                <a:gd name="T85" fmla="*/ 707 h 891"/>
                <a:gd name="T86" fmla="*/ 839 w 1055"/>
                <a:gd name="T87" fmla="*/ 622 h 891"/>
                <a:gd name="T88" fmla="*/ 887 w 1055"/>
                <a:gd name="T89" fmla="*/ 549 h 891"/>
                <a:gd name="T90" fmla="*/ 915 w 1055"/>
                <a:gd name="T91" fmla="*/ 508 h 891"/>
                <a:gd name="T92" fmla="*/ 978 w 1055"/>
                <a:gd name="T93" fmla="*/ 426 h 891"/>
                <a:gd name="T94" fmla="*/ 1038 w 1055"/>
                <a:gd name="T95" fmla="*/ 349 h 891"/>
                <a:gd name="T96" fmla="*/ 1055 w 1055"/>
                <a:gd name="T97" fmla="*/ 312 h 891"/>
                <a:gd name="T98" fmla="*/ 1048 w 1055"/>
                <a:gd name="T99" fmla="*/ 277 h 891"/>
                <a:gd name="T100" fmla="*/ 1025 w 1055"/>
                <a:gd name="T101" fmla="*/ 254 h 8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55"/>
                <a:gd name="T154" fmla="*/ 0 h 891"/>
                <a:gd name="T155" fmla="*/ 1055 w 1055"/>
                <a:gd name="T156" fmla="*/ 891 h 8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55" h="891">
                  <a:moveTo>
                    <a:pt x="1013" y="249"/>
                  </a:moveTo>
                  <a:lnTo>
                    <a:pt x="1013" y="247"/>
                  </a:lnTo>
                  <a:lnTo>
                    <a:pt x="1007" y="242"/>
                  </a:lnTo>
                  <a:lnTo>
                    <a:pt x="1000" y="237"/>
                  </a:lnTo>
                  <a:lnTo>
                    <a:pt x="993" y="232"/>
                  </a:lnTo>
                  <a:lnTo>
                    <a:pt x="986" y="227"/>
                  </a:lnTo>
                  <a:lnTo>
                    <a:pt x="978" y="223"/>
                  </a:lnTo>
                  <a:lnTo>
                    <a:pt x="971" y="219"/>
                  </a:lnTo>
                  <a:lnTo>
                    <a:pt x="963" y="215"/>
                  </a:lnTo>
                  <a:lnTo>
                    <a:pt x="955" y="213"/>
                  </a:lnTo>
                  <a:lnTo>
                    <a:pt x="960" y="201"/>
                  </a:lnTo>
                  <a:lnTo>
                    <a:pt x="962" y="189"/>
                  </a:lnTo>
                  <a:lnTo>
                    <a:pt x="960" y="176"/>
                  </a:lnTo>
                  <a:lnTo>
                    <a:pt x="955" y="165"/>
                  </a:lnTo>
                  <a:lnTo>
                    <a:pt x="947" y="157"/>
                  </a:lnTo>
                  <a:lnTo>
                    <a:pt x="938" y="152"/>
                  </a:lnTo>
                  <a:lnTo>
                    <a:pt x="928" y="148"/>
                  </a:lnTo>
                  <a:lnTo>
                    <a:pt x="918" y="145"/>
                  </a:lnTo>
                  <a:lnTo>
                    <a:pt x="898" y="140"/>
                  </a:lnTo>
                  <a:lnTo>
                    <a:pt x="879" y="135"/>
                  </a:lnTo>
                  <a:lnTo>
                    <a:pt x="861" y="131"/>
                  </a:lnTo>
                  <a:lnTo>
                    <a:pt x="841" y="127"/>
                  </a:lnTo>
                  <a:lnTo>
                    <a:pt x="823" y="122"/>
                  </a:lnTo>
                  <a:lnTo>
                    <a:pt x="804" y="118"/>
                  </a:lnTo>
                  <a:lnTo>
                    <a:pt x="784" y="114"/>
                  </a:lnTo>
                  <a:lnTo>
                    <a:pt x="765" y="109"/>
                  </a:lnTo>
                  <a:lnTo>
                    <a:pt x="749" y="105"/>
                  </a:lnTo>
                  <a:lnTo>
                    <a:pt x="735" y="102"/>
                  </a:lnTo>
                  <a:lnTo>
                    <a:pt x="721" y="99"/>
                  </a:lnTo>
                  <a:lnTo>
                    <a:pt x="707" y="95"/>
                  </a:lnTo>
                  <a:lnTo>
                    <a:pt x="692" y="91"/>
                  </a:lnTo>
                  <a:lnTo>
                    <a:pt x="678" y="87"/>
                  </a:lnTo>
                  <a:lnTo>
                    <a:pt x="665" y="82"/>
                  </a:lnTo>
                  <a:lnTo>
                    <a:pt x="651" y="77"/>
                  </a:lnTo>
                  <a:lnTo>
                    <a:pt x="638" y="71"/>
                  </a:lnTo>
                  <a:lnTo>
                    <a:pt x="622" y="65"/>
                  </a:lnTo>
                  <a:lnTo>
                    <a:pt x="607" y="57"/>
                  </a:lnTo>
                  <a:lnTo>
                    <a:pt x="589" y="51"/>
                  </a:lnTo>
                  <a:lnTo>
                    <a:pt x="572" y="43"/>
                  </a:lnTo>
                  <a:lnTo>
                    <a:pt x="553" y="35"/>
                  </a:lnTo>
                  <a:lnTo>
                    <a:pt x="534" y="29"/>
                  </a:lnTo>
                  <a:lnTo>
                    <a:pt x="516" y="21"/>
                  </a:lnTo>
                  <a:lnTo>
                    <a:pt x="498" y="16"/>
                  </a:lnTo>
                  <a:lnTo>
                    <a:pt x="481" y="10"/>
                  </a:lnTo>
                  <a:lnTo>
                    <a:pt x="465" y="5"/>
                  </a:lnTo>
                  <a:lnTo>
                    <a:pt x="449" y="3"/>
                  </a:lnTo>
                  <a:lnTo>
                    <a:pt x="435" y="0"/>
                  </a:lnTo>
                  <a:lnTo>
                    <a:pt x="423" y="0"/>
                  </a:lnTo>
                  <a:lnTo>
                    <a:pt x="413" y="1"/>
                  </a:lnTo>
                  <a:lnTo>
                    <a:pt x="405" y="5"/>
                  </a:lnTo>
                  <a:lnTo>
                    <a:pt x="387" y="18"/>
                  </a:lnTo>
                  <a:lnTo>
                    <a:pt x="371" y="34"/>
                  </a:lnTo>
                  <a:lnTo>
                    <a:pt x="357" y="51"/>
                  </a:lnTo>
                  <a:lnTo>
                    <a:pt x="343" y="69"/>
                  </a:lnTo>
                  <a:lnTo>
                    <a:pt x="330" y="88"/>
                  </a:lnTo>
                  <a:lnTo>
                    <a:pt x="317" y="106"/>
                  </a:lnTo>
                  <a:lnTo>
                    <a:pt x="304" y="124"/>
                  </a:lnTo>
                  <a:lnTo>
                    <a:pt x="291" y="143"/>
                  </a:lnTo>
                  <a:lnTo>
                    <a:pt x="278" y="159"/>
                  </a:lnTo>
                  <a:lnTo>
                    <a:pt x="266" y="175"/>
                  </a:lnTo>
                  <a:lnTo>
                    <a:pt x="254" y="190"/>
                  </a:lnTo>
                  <a:lnTo>
                    <a:pt x="242" y="206"/>
                  </a:lnTo>
                  <a:lnTo>
                    <a:pt x="230" y="223"/>
                  </a:lnTo>
                  <a:lnTo>
                    <a:pt x="219" y="238"/>
                  </a:lnTo>
                  <a:lnTo>
                    <a:pt x="208" y="255"/>
                  </a:lnTo>
                  <a:lnTo>
                    <a:pt x="198" y="273"/>
                  </a:lnTo>
                  <a:lnTo>
                    <a:pt x="181" y="303"/>
                  </a:lnTo>
                  <a:lnTo>
                    <a:pt x="156" y="341"/>
                  </a:lnTo>
                  <a:lnTo>
                    <a:pt x="127" y="384"/>
                  </a:lnTo>
                  <a:lnTo>
                    <a:pt x="96" y="429"/>
                  </a:lnTo>
                  <a:lnTo>
                    <a:pt x="65" y="473"/>
                  </a:lnTo>
                  <a:lnTo>
                    <a:pt x="36" y="513"/>
                  </a:lnTo>
                  <a:lnTo>
                    <a:pt x="14" y="545"/>
                  </a:lnTo>
                  <a:lnTo>
                    <a:pt x="0" y="567"/>
                  </a:lnTo>
                  <a:lnTo>
                    <a:pt x="0" y="578"/>
                  </a:lnTo>
                  <a:lnTo>
                    <a:pt x="4" y="597"/>
                  </a:lnTo>
                  <a:lnTo>
                    <a:pt x="8" y="615"/>
                  </a:lnTo>
                  <a:lnTo>
                    <a:pt x="9" y="624"/>
                  </a:lnTo>
                  <a:lnTo>
                    <a:pt x="10" y="628"/>
                  </a:lnTo>
                  <a:lnTo>
                    <a:pt x="13" y="637"/>
                  </a:lnTo>
                  <a:lnTo>
                    <a:pt x="17" y="648"/>
                  </a:lnTo>
                  <a:lnTo>
                    <a:pt x="22" y="661"/>
                  </a:lnTo>
                  <a:lnTo>
                    <a:pt x="27" y="675"/>
                  </a:lnTo>
                  <a:lnTo>
                    <a:pt x="33" y="688"/>
                  </a:lnTo>
                  <a:lnTo>
                    <a:pt x="40" y="698"/>
                  </a:lnTo>
                  <a:lnTo>
                    <a:pt x="48" y="706"/>
                  </a:lnTo>
                  <a:lnTo>
                    <a:pt x="53" y="709"/>
                  </a:lnTo>
                  <a:lnTo>
                    <a:pt x="68" y="716"/>
                  </a:lnTo>
                  <a:lnTo>
                    <a:pt x="85" y="723"/>
                  </a:lnTo>
                  <a:lnTo>
                    <a:pt x="101" y="729"/>
                  </a:lnTo>
                  <a:lnTo>
                    <a:pt x="116" y="737"/>
                  </a:lnTo>
                  <a:lnTo>
                    <a:pt x="133" y="744"/>
                  </a:lnTo>
                  <a:lnTo>
                    <a:pt x="149" y="749"/>
                  </a:lnTo>
                  <a:lnTo>
                    <a:pt x="166" y="755"/>
                  </a:lnTo>
                  <a:lnTo>
                    <a:pt x="181" y="762"/>
                  </a:lnTo>
                  <a:lnTo>
                    <a:pt x="198" y="767"/>
                  </a:lnTo>
                  <a:lnTo>
                    <a:pt x="213" y="773"/>
                  </a:lnTo>
                  <a:lnTo>
                    <a:pt x="230" y="780"/>
                  </a:lnTo>
                  <a:lnTo>
                    <a:pt x="247" y="785"/>
                  </a:lnTo>
                  <a:lnTo>
                    <a:pt x="263" y="792"/>
                  </a:lnTo>
                  <a:lnTo>
                    <a:pt x="279" y="797"/>
                  </a:lnTo>
                  <a:lnTo>
                    <a:pt x="295" y="803"/>
                  </a:lnTo>
                  <a:lnTo>
                    <a:pt x="312" y="810"/>
                  </a:lnTo>
                  <a:lnTo>
                    <a:pt x="330" y="817"/>
                  </a:lnTo>
                  <a:lnTo>
                    <a:pt x="347" y="825"/>
                  </a:lnTo>
                  <a:lnTo>
                    <a:pt x="365" y="833"/>
                  </a:lnTo>
                  <a:lnTo>
                    <a:pt x="382" y="839"/>
                  </a:lnTo>
                  <a:lnTo>
                    <a:pt x="400" y="847"/>
                  </a:lnTo>
                  <a:lnTo>
                    <a:pt x="417" y="855"/>
                  </a:lnTo>
                  <a:lnTo>
                    <a:pt x="435" y="861"/>
                  </a:lnTo>
                  <a:lnTo>
                    <a:pt x="453" y="867"/>
                  </a:lnTo>
                  <a:lnTo>
                    <a:pt x="479" y="874"/>
                  </a:lnTo>
                  <a:lnTo>
                    <a:pt x="505" y="881"/>
                  </a:lnTo>
                  <a:lnTo>
                    <a:pt x="531" y="887"/>
                  </a:lnTo>
                  <a:lnTo>
                    <a:pt x="558" y="891"/>
                  </a:lnTo>
                  <a:lnTo>
                    <a:pt x="584" y="891"/>
                  </a:lnTo>
                  <a:lnTo>
                    <a:pt x="610" y="887"/>
                  </a:lnTo>
                  <a:lnTo>
                    <a:pt x="633" y="880"/>
                  </a:lnTo>
                  <a:lnTo>
                    <a:pt x="656" y="864"/>
                  </a:lnTo>
                  <a:lnTo>
                    <a:pt x="669" y="851"/>
                  </a:lnTo>
                  <a:lnTo>
                    <a:pt x="685" y="834"/>
                  </a:lnTo>
                  <a:lnTo>
                    <a:pt x="701" y="814"/>
                  </a:lnTo>
                  <a:lnTo>
                    <a:pt x="721" y="790"/>
                  </a:lnTo>
                  <a:lnTo>
                    <a:pt x="740" y="764"/>
                  </a:lnTo>
                  <a:lnTo>
                    <a:pt x="760" y="736"/>
                  </a:lnTo>
                  <a:lnTo>
                    <a:pt x="780" y="707"/>
                  </a:lnTo>
                  <a:lnTo>
                    <a:pt x="800" y="678"/>
                  </a:lnTo>
                  <a:lnTo>
                    <a:pt x="819" y="649"/>
                  </a:lnTo>
                  <a:lnTo>
                    <a:pt x="839" y="622"/>
                  </a:lnTo>
                  <a:lnTo>
                    <a:pt x="857" y="595"/>
                  </a:lnTo>
                  <a:lnTo>
                    <a:pt x="872" y="570"/>
                  </a:lnTo>
                  <a:lnTo>
                    <a:pt x="887" y="549"/>
                  </a:lnTo>
                  <a:lnTo>
                    <a:pt x="899" y="531"/>
                  </a:lnTo>
                  <a:lnTo>
                    <a:pt x="909" y="517"/>
                  </a:lnTo>
                  <a:lnTo>
                    <a:pt x="915" y="508"/>
                  </a:lnTo>
                  <a:lnTo>
                    <a:pt x="933" y="483"/>
                  </a:lnTo>
                  <a:lnTo>
                    <a:pt x="955" y="456"/>
                  </a:lnTo>
                  <a:lnTo>
                    <a:pt x="978" y="426"/>
                  </a:lnTo>
                  <a:lnTo>
                    <a:pt x="1000" y="396"/>
                  </a:lnTo>
                  <a:lnTo>
                    <a:pt x="1021" y="371"/>
                  </a:lnTo>
                  <a:lnTo>
                    <a:pt x="1038" y="349"/>
                  </a:lnTo>
                  <a:lnTo>
                    <a:pt x="1050" y="333"/>
                  </a:lnTo>
                  <a:lnTo>
                    <a:pt x="1053" y="325"/>
                  </a:lnTo>
                  <a:lnTo>
                    <a:pt x="1055" y="312"/>
                  </a:lnTo>
                  <a:lnTo>
                    <a:pt x="1055" y="301"/>
                  </a:lnTo>
                  <a:lnTo>
                    <a:pt x="1052" y="289"/>
                  </a:lnTo>
                  <a:lnTo>
                    <a:pt x="1048" y="277"/>
                  </a:lnTo>
                  <a:lnTo>
                    <a:pt x="1042" y="268"/>
                  </a:lnTo>
                  <a:lnTo>
                    <a:pt x="1034" y="260"/>
                  </a:lnTo>
                  <a:lnTo>
                    <a:pt x="1025" y="254"/>
                  </a:lnTo>
                  <a:lnTo>
                    <a:pt x="1013" y="2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7" name="Freeform 7"/>
            <p:cNvSpPr>
              <a:spLocks/>
            </p:cNvSpPr>
            <p:nvPr/>
          </p:nvSpPr>
          <p:spPr bwMode="auto">
            <a:xfrm>
              <a:off x="2158" y="2782"/>
              <a:ext cx="151" cy="211"/>
            </a:xfrm>
            <a:custGeom>
              <a:avLst/>
              <a:gdLst>
                <a:gd name="T0" fmla="*/ 151 w 151"/>
                <a:gd name="T1" fmla="*/ 27 h 211"/>
                <a:gd name="T2" fmla="*/ 148 w 151"/>
                <a:gd name="T3" fmla="*/ 32 h 211"/>
                <a:gd name="T4" fmla="*/ 141 w 151"/>
                <a:gd name="T5" fmla="*/ 42 h 211"/>
                <a:gd name="T6" fmla="*/ 131 w 151"/>
                <a:gd name="T7" fmla="*/ 54 h 211"/>
                <a:gd name="T8" fmla="*/ 118 w 151"/>
                <a:gd name="T9" fmla="*/ 69 h 211"/>
                <a:gd name="T10" fmla="*/ 105 w 151"/>
                <a:gd name="T11" fmla="*/ 83 h 211"/>
                <a:gd name="T12" fmla="*/ 95 w 151"/>
                <a:gd name="T13" fmla="*/ 96 h 211"/>
                <a:gd name="T14" fmla="*/ 88 w 151"/>
                <a:gd name="T15" fmla="*/ 105 h 211"/>
                <a:gd name="T16" fmla="*/ 86 w 151"/>
                <a:gd name="T17" fmla="*/ 109 h 211"/>
                <a:gd name="T18" fmla="*/ 87 w 151"/>
                <a:gd name="T19" fmla="*/ 110 h 211"/>
                <a:gd name="T20" fmla="*/ 91 w 151"/>
                <a:gd name="T21" fmla="*/ 113 h 211"/>
                <a:gd name="T22" fmla="*/ 96 w 151"/>
                <a:gd name="T23" fmla="*/ 117 h 211"/>
                <a:gd name="T24" fmla="*/ 104 w 151"/>
                <a:gd name="T25" fmla="*/ 121 h 211"/>
                <a:gd name="T26" fmla="*/ 113 w 151"/>
                <a:gd name="T27" fmla="*/ 126 h 211"/>
                <a:gd name="T28" fmla="*/ 122 w 151"/>
                <a:gd name="T29" fmla="*/ 130 h 211"/>
                <a:gd name="T30" fmla="*/ 131 w 151"/>
                <a:gd name="T31" fmla="*/ 132 h 211"/>
                <a:gd name="T32" fmla="*/ 141 w 151"/>
                <a:gd name="T33" fmla="*/ 132 h 211"/>
                <a:gd name="T34" fmla="*/ 134 w 151"/>
                <a:gd name="T35" fmla="*/ 137 h 211"/>
                <a:gd name="T36" fmla="*/ 126 w 151"/>
                <a:gd name="T37" fmla="*/ 144 h 211"/>
                <a:gd name="T38" fmla="*/ 119 w 151"/>
                <a:gd name="T39" fmla="*/ 152 h 211"/>
                <a:gd name="T40" fmla="*/ 113 w 151"/>
                <a:gd name="T41" fmla="*/ 159 h 211"/>
                <a:gd name="T42" fmla="*/ 109 w 151"/>
                <a:gd name="T43" fmla="*/ 154 h 211"/>
                <a:gd name="T44" fmla="*/ 105 w 151"/>
                <a:gd name="T45" fmla="*/ 145 h 211"/>
                <a:gd name="T46" fmla="*/ 100 w 151"/>
                <a:gd name="T47" fmla="*/ 136 h 211"/>
                <a:gd name="T48" fmla="*/ 99 w 151"/>
                <a:gd name="T49" fmla="*/ 132 h 211"/>
                <a:gd name="T50" fmla="*/ 95 w 151"/>
                <a:gd name="T51" fmla="*/ 135 h 211"/>
                <a:gd name="T52" fmla="*/ 87 w 151"/>
                <a:gd name="T53" fmla="*/ 144 h 211"/>
                <a:gd name="T54" fmla="*/ 75 w 151"/>
                <a:gd name="T55" fmla="*/ 157 h 211"/>
                <a:gd name="T56" fmla="*/ 64 w 151"/>
                <a:gd name="T57" fmla="*/ 171 h 211"/>
                <a:gd name="T58" fmla="*/ 51 w 151"/>
                <a:gd name="T59" fmla="*/ 185 h 211"/>
                <a:gd name="T60" fmla="*/ 41 w 151"/>
                <a:gd name="T61" fmla="*/ 198 h 211"/>
                <a:gd name="T62" fmla="*/ 33 w 151"/>
                <a:gd name="T63" fmla="*/ 207 h 211"/>
                <a:gd name="T64" fmla="*/ 30 w 151"/>
                <a:gd name="T65" fmla="*/ 211 h 211"/>
                <a:gd name="T66" fmla="*/ 20 w 151"/>
                <a:gd name="T67" fmla="*/ 201 h 211"/>
                <a:gd name="T68" fmla="*/ 11 w 151"/>
                <a:gd name="T69" fmla="*/ 192 h 211"/>
                <a:gd name="T70" fmla="*/ 3 w 151"/>
                <a:gd name="T71" fmla="*/ 184 h 211"/>
                <a:gd name="T72" fmla="*/ 0 w 151"/>
                <a:gd name="T73" fmla="*/ 180 h 211"/>
                <a:gd name="T74" fmla="*/ 17 w 151"/>
                <a:gd name="T75" fmla="*/ 163 h 211"/>
                <a:gd name="T76" fmla="*/ 37 w 151"/>
                <a:gd name="T77" fmla="*/ 139 h 211"/>
                <a:gd name="T78" fmla="*/ 57 w 151"/>
                <a:gd name="T79" fmla="*/ 111 h 211"/>
                <a:gd name="T80" fmla="*/ 79 w 151"/>
                <a:gd name="T81" fmla="*/ 83 h 211"/>
                <a:gd name="T82" fmla="*/ 100 w 151"/>
                <a:gd name="T83" fmla="*/ 56 h 211"/>
                <a:gd name="T84" fmla="*/ 118 w 151"/>
                <a:gd name="T85" fmla="*/ 31 h 211"/>
                <a:gd name="T86" fmla="*/ 132 w 151"/>
                <a:gd name="T87" fmla="*/ 12 h 211"/>
                <a:gd name="T88" fmla="*/ 141 w 151"/>
                <a:gd name="T89" fmla="*/ 0 h 211"/>
                <a:gd name="T90" fmla="*/ 144 w 151"/>
                <a:gd name="T91" fmla="*/ 7 h 211"/>
                <a:gd name="T92" fmla="*/ 145 w 151"/>
                <a:gd name="T93" fmla="*/ 13 h 211"/>
                <a:gd name="T94" fmla="*/ 148 w 151"/>
                <a:gd name="T95" fmla="*/ 21 h 211"/>
                <a:gd name="T96" fmla="*/ 151 w 151"/>
                <a:gd name="T97" fmla="*/ 27 h 21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51"/>
                <a:gd name="T148" fmla="*/ 0 h 211"/>
                <a:gd name="T149" fmla="*/ 151 w 151"/>
                <a:gd name="T150" fmla="*/ 211 h 21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51" h="211">
                  <a:moveTo>
                    <a:pt x="151" y="27"/>
                  </a:moveTo>
                  <a:lnTo>
                    <a:pt x="148" y="32"/>
                  </a:lnTo>
                  <a:lnTo>
                    <a:pt x="141" y="42"/>
                  </a:lnTo>
                  <a:lnTo>
                    <a:pt x="131" y="54"/>
                  </a:lnTo>
                  <a:lnTo>
                    <a:pt x="118" y="69"/>
                  </a:lnTo>
                  <a:lnTo>
                    <a:pt x="105" y="83"/>
                  </a:lnTo>
                  <a:lnTo>
                    <a:pt x="95" y="96"/>
                  </a:lnTo>
                  <a:lnTo>
                    <a:pt x="88" y="105"/>
                  </a:lnTo>
                  <a:lnTo>
                    <a:pt x="86" y="109"/>
                  </a:lnTo>
                  <a:lnTo>
                    <a:pt x="87" y="110"/>
                  </a:lnTo>
                  <a:lnTo>
                    <a:pt x="91" y="113"/>
                  </a:lnTo>
                  <a:lnTo>
                    <a:pt x="96" y="117"/>
                  </a:lnTo>
                  <a:lnTo>
                    <a:pt x="104" y="121"/>
                  </a:lnTo>
                  <a:lnTo>
                    <a:pt x="113" y="126"/>
                  </a:lnTo>
                  <a:lnTo>
                    <a:pt x="122" y="130"/>
                  </a:lnTo>
                  <a:lnTo>
                    <a:pt x="131" y="132"/>
                  </a:lnTo>
                  <a:lnTo>
                    <a:pt x="141" y="132"/>
                  </a:lnTo>
                  <a:lnTo>
                    <a:pt x="134" y="137"/>
                  </a:lnTo>
                  <a:lnTo>
                    <a:pt x="126" y="144"/>
                  </a:lnTo>
                  <a:lnTo>
                    <a:pt x="119" y="152"/>
                  </a:lnTo>
                  <a:lnTo>
                    <a:pt x="113" y="159"/>
                  </a:lnTo>
                  <a:lnTo>
                    <a:pt x="109" y="154"/>
                  </a:lnTo>
                  <a:lnTo>
                    <a:pt x="105" y="145"/>
                  </a:lnTo>
                  <a:lnTo>
                    <a:pt x="100" y="136"/>
                  </a:lnTo>
                  <a:lnTo>
                    <a:pt x="99" y="132"/>
                  </a:lnTo>
                  <a:lnTo>
                    <a:pt x="95" y="135"/>
                  </a:lnTo>
                  <a:lnTo>
                    <a:pt x="87" y="144"/>
                  </a:lnTo>
                  <a:lnTo>
                    <a:pt x="75" y="157"/>
                  </a:lnTo>
                  <a:lnTo>
                    <a:pt x="64" y="171"/>
                  </a:lnTo>
                  <a:lnTo>
                    <a:pt x="51" y="185"/>
                  </a:lnTo>
                  <a:lnTo>
                    <a:pt x="41" y="198"/>
                  </a:lnTo>
                  <a:lnTo>
                    <a:pt x="33" y="207"/>
                  </a:lnTo>
                  <a:lnTo>
                    <a:pt x="30" y="211"/>
                  </a:lnTo>
                  <a:lnTo>
                    <a:pt x="20" y="201"/>
                  </a:lnTo>
                  <a:lnTo>
                    <a:pt x="11" y="192"/>
                  </a:lnTo>
                  <a:lnTo>
                    <a:pt x="3" y="184"/>
                  </a:lnTo>
                  <a:lnTo>
                    <a:pt x="0" y="180"/>
                  </a:lnTo>
                  <a:lnTo>
                    <a:pt x="17" y="163"/>
                  </a:lnTo>
                  <a:lnTo>
                    <a:pt x="37" y="139"/>
                  </a:lnTo>
                  <a:lnTo>
                    <a:pt x="57" y="111"/>
                  </a:lnTo>
                  <a:lnTo>
                    <a:pt x="79" y="83"/>
                  </a:lnTo>
                  <a:lnTo>
                    <a:pt x="100" y="56"/>
                  </a:lnTo>
                  <a:lnTo>
                    <a:pt x="118" y="31"/>
                  </a:lnTo>
                  <a:lnTo>
                    <a:pt x="132" y="12"/>
                  </a:lnTo>
                  <a:lnTo>
                    <a:pt x="141" y="0"/>
                  </a:lnTo>
                  <a:lnTo>
                    <a:pt x="144" y="7"/>
                  </a:lnTo>
                  <a:lnTo>
                    <a:pt x="145" y="13"/>
                  </a:lnTo>
                  <a:lnTo>
                    <a:pt x="148" y="21"/>
                  </a:lnTo>
                  <a:lnTo>
                    <a:pt x="151" y="27"/>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8" name="Freeform 8"/>
            <p:cNvSpPr>
              <a:spLocks/>
            </p:cNvSpPr>
            <p:nvPr/>
          </p:nvSpPr>
          <p:spPr bwMode="auto">
            <a:xfrm>
              <a:off x="2271" y="2834"/>
              <a:ext cx="58" cy="65"/>
            </a:xfrm>
            <a:custGeom>
              <a:avLst/>
              <a:gdLst>
                <a:gd name="T0" fmla="*/ 44 w 58"/>
                <a:gd name="T1" fmla="*/ 0 h 65"/>
                <a:gd name="T2" fmla="*/ 53 w 58"/>
                <a:gd name="T3" fmla="*/ 17 h 65"/>
                <a:gd name="T4" fmla="*/ 57 w 58"/>
                <a:gd name="T5" fmla="*/ 31 h 65"/>
                <a:gd name="T6" fmla="*/ 57 w 58"/>
                <a:gd name="T7" fmla="*/ 41 h 65"/>
                <a:gd name="T8" fmla="*/ 58 w 58"/>
                <a:gd name="T9" fmla="*/ 47 h 65"/>
                <a:gd name="T10" fmla="*/ 56 w 58"/>
                <a:gd name="T11" fmla="*/ 52 h 65"/>
                <a:gd name="T12" fmla="*/ 54 w 58"/>
                <a:gd name="T13" fmla="*/ 56 h 65"/>
                <a:gd name="T14" fmla="*/ 52 w 58"/>
                <a:gd name="T15" fmla="*/ 58 h 65"/>
                <a:gd name="T16" fmla="*/ 45 w 58"/>
                <a:gd name="T17" fmla="*/ 61 h 65"/>
                <a:gd name="T18" fmla="*/ 39 w 58"/>
                <a:gd name="T19" fmla="*/ 63 h 65"/>
                <a:gd name="T20" fmla="*/ 34 w 58"/>
                <a:gd name="T21" fmla="*/ 65 h 65"/>
                <a:gd name="T22" fmla="*/ 30 w 58"/>
                <a:gd name="T23" fmla="*/ 65 h 65"/>
                <a:gd name="T24" fmla="*/ 25 w 58"/>
                <a:gd name="T25" fmla="*/ 63 h 65"/>
                <a:gd name="T26" fmla="*/ 19 w 58"/>
                <a:gd name="T27" fmla="*/ 61 h 65"/>
                <a:gd name="T28" fmla="*/ 14 w 58"/>
                <a:gd name="T29" fmla="*/ 58 h 65"/>
                <a:gd name="T30" fmla="*/ 8 w 58"/>
                <a:gd name="T31" fmla="*/ 56 h 65"/>
                <a:gd name="T32" fmla="*/ 0 w 58"/>
                <a:gd name="T33" fmla="*/ 52 h 65"/>
                <a:gd name="T34" fmla="*/ 3 w 58"/>
                <a:gd name="T35" fmla="*/ 48 h 65"/>
                <a:gd name="T36" fmla="*/ 8 w 58"/>
                <a:gd name="T37" fmla="*/ 40 h 65"/>
                <a:gd name="T38" fmla="*/ 14 w 58"/>
                <a:gd name="T39" fmla="*/ 32 h 65"/>
                <a:gd name="T40" fmla="*/ 22 w 58"/>
                <a:gd name="T41" fmla="*/ 22 h 65"/>
                <a:gd name="T42" fmla="*/ 30 w 58"/>
                <a:gd name="T43" fmla="*/ 13 h 65"/>
                <a:gd name="T44" fmla="*/ 36 w 58"/>
                <a:gd name="T45" fmla="*/ 6 h 65"/>
                <a:gd name="T46" fmla="*/ 41 w 58"/>
                <a:gd name="T47" fmla="*/ 1 h 65"/>
                <a:gd name="T48" fmla="*/ 44 w 58"/>
                <a:gd name="T49" fmla="*/ 0 h 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8"/>
                <a:gd name="T76" fmla="*/ 0 h 65"/>
                <a:gd name="T77" fmla="*/ 58 w 58"/>
                <a:gd name="T78" fmla="*/ 65 h 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8" h="65">
                  <a:moveTo>
                    <a:pt x="44" y="0"/>
                  </a:moveTo>
                  <a:lnTo>
                    <a:pt x="53" y="17"/>
                  </a:lnTo>
                  <a:lnTo>
                    <a:pt x="57" y="31"/>
                  </a:lnTo>
                  <a:lnTo>
                    <a:pt x="57" y="41"/>
                  </a:lnTo>
                  <a:lnTo>
                    <a:pt x="58" y="47"/>
                  </a:lnTo>
                  <a:lnTo>
                    <a:pt x="56" y="52"/>
                  </a:lnTo>
                  <a:lnTo>
                    <a:pt x="54" y="56"/>
                  </a:lnTo>
                  <a:lnTo>
                    <a:pt x="52" y="58"/>
                  </a:lnTo>
                  <a:lnTo>
                    <a:pt x="45" y="61"/>
                  </a:lnTo>
                  <a:lnTo>
                    <a:pt x="39" y="63"/>
                  </a:lnTo>
                  <a:lnTo>
                    <a:pt x="34" y="65"/>
                  </a:lnTo>
                  <a:lnTo>
                    <a:pt x="30" y="65"/>
                  </a:lnTo>
                  <a:lnTo>
                    <a:pt x="25" y="63"/>
                  </a:lnTo>
                  <a:lnTo>
                    <a:pt x="19" y="61"/>
                  </a:lnTo>
                  <a:lnTo>
                    <a:pt x="14" y="58"/>
                  </a:lnTo>
                  <a:lnTo>
                    <a:pt x="8" y="56"/>
                  </a:lnTo>
                  <a:lnTo>
                    <a:pt x="0" y="52"/>
                  </a:lnTo>
                  <a:lnTo>
                    <a:pt x="3" y="48"/>
                  </a:lnTo>
                  <a:lnTo>
                    <a:pt x="8" y="40"/>
                  </a:lnTo>
                  <a:lnTo>
                    <a:pt x="14" y="32"/>
                  </a:lnTo>
                  <a:lnTo>
                    <a:pt x="22" y="22"/>
                  </a:lnTo>
                  <a:lnTo>
                    <a:pt x="30" y="13"/>
                  </a:lnTo>
                  <a:lnTo>
                    <a:pt x="36" y="6"/>
                  </a:lnTo>
                  <a:lnTo>
                    <a:pt x="41" y="1"/>
                  </a:lnTo>
                  <a:lnTo>
                    <a:pt x="44" y="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9" name="Freeform 9"/>
            <p:cNvSpPr>
              <a:spLocks/>
            </p:cNvSpPr>
            <p:nvPr/>
          </p:nvSpPr>
          <p:spPr bwMode="auto">
            <a:xfrm>
              <a:off x="2201" y="3015"/>
              <a:ext cx="34" cy="24"/>
            </a:xfrm>
            <a:custGeom>
              <a:avLst/>
              <a:gdLst>
                <a:gd name="T0" fmla="*/ 34 w 34"/>
                <a:gd name="T1" fmla="*/ 3 h 24"/>
                <a:gd name="T2" fmla="*/ 29 w 34"/>
                <a:gd name="T3" fmla="*/ 7 h 24"/>
                <a:gd name="T4" fmla="*/ 23 w 34"/>
                <a:gd name="T5" fmla="*/ 12 h 24"/>
                <a:gd name="T6" fmla="*/ 20 w 34"/>
                <a:gd name="T7" fmla="*/ 18 h 24"/>
                <a:gd name="T8" fmla="*/ 16 w 34"/>
                <a:gd name="T9" fmla="*/ 24 h 24"/>
                <a:gd name="T10" fmla="*/ 12 w 34"/>
                <a:gd name="T11" fmla="*/ 17 h 24"/>
                <a:gd name="T12" fmla="*/ 8 w 34"/>
                <a:gd name="T13" fmla="*/ 12 h 24"/>
                <a:gd name="T14" fmla="*/ 4 w 34"/>
                <a:gd name="T15" fmla="*/ 5 h 24"/>
                <a:gd name="T16" fmla="*/ 0 w 34"/>
                <a:gd name="T17" fmla="*/ 0 h 24"/>
                <a:gd name="T18" fmla="*/ 8 w 34"/>
                <a:gd name="T19" fmla="*/ 3 h 24"/>
                <a:gd name="T20" fmla="*/ 17 w 34"/>
                <a:gd name="T21" fmla="*/ 3 h 24"/>
                <a:gd name="T22" fmla="*/ 25 w 34"/>
                <a:gd name="T23" fmla="*/ 4 h 24"/>
                <a:gd name="T24" fmla="*/ 34 w 34"/>
                <a:gd name="T25" fmla="*/ 3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24"/>
                <a:gd name="T41" fmla="*/ 34 w 34"/>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24">
                  <a:moveTo>
                    <a:pt x="34" y="3"/>
                  </a:moveTo>
                  <a:lnTo>
                    <a:pt x="29" y="7"/>
                  </a:lnTo>
                  <a:lnTo>
                    <a:pt x="23" y="12"/>
                  </a:lnTo>
                  <a:lnTo>
                    <a:pt x="20" y="18"/>
                  </a:lnTo>
                  <a:lnTo>
                    <a:pt x="16" y="24"/>
                  </a:lnTo>
                  <a:lnTo>
                    <a:pt x="12" y="17"/>
                  </a:lnTo>
                  <a:lnTo>
                    <a:pt x="8" y="12"/>
                  </a:lnTo>
                  <a:lnTo>
                    <a:pt x="4" y="5"/>
                  </a:lnTo>
                  <a:lnTo>
                    <a:pt x="0" y="0"/>
                  </a:lnTo>
                  <a:lnTo>
                    <a:pt x="8" y="3"/>
                  </a:lnTo>
                  <a:lnTo>
                    <a:pt x="17" y="3"/>
                  </a:lnTo>
                  <a:lnTo>
                    <a:pt x="25" y="4"/>
                  </a:lnTo>
                  <a:lnTo>
                    <a:pt x="34" y="3"/>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0" name="Freeform 10"/>
            <p:cNvSpPr>
              <a:spLocks/>
            </p:cNvSpPr>
            <p:nvPr/>
          </p:nvSpPr>
          <p:spPr bwMode="auto">
            <a:xfrm>
              <a:off x="1392" y="2572"/>
              <a:ext cx="892" cy="726"/>
            </a:xfrm>
            <a:custGeom>
              <a:avLst/>
              <a:gdLst>
                <a:gd name="T0" fmla="*/ 199 w 892"/>
                <a:gd name="T1" fmla="*/ 233 h 726"/>
                <a:gd name="T2" fmla="*/ 232 w 892"/>
                <a:gd name="T3" fmla="*/ 192 h 726"/>
                <a:gd name="T4" fmla="*/ 265 w 892"/>
                <a:gd name="T5" fmla="*/ 150 h 726"/>
                <a:gd name="T6" fmla="*/ 303 w 892"/>
                <a:gd name="T7" fmla="*/ 95 h 726"/>
                <a:gd name="T8" fmla="*/ 338 w 892"/>
                <a:gd name="T9" fmla="*/ 44 h 726"/>
                <a:gd name="T10" fmla="*/ 379 w 892"/>
                <a:gd name="T11" fmla="*/ 7 h 726"/>
                <a:gd name="T12" fmla="*/ 403 w 892"/>
                <a:gd name="T13" fmla="*/ 0 h 726"/>
                <a:gd name="T14" fmla="*/ 482 w 892"/>
                <a:gd name="T15" fmla="*/ 29 h 726"/>
                <a:gd name="T16" fmla="*/ 555 w 892"/>
                <a:gd name="T17" fmla="*/ 55 h 726"/>
                <a:gd name="T18" fmla="*/ 624 w 892"/>
                <a:gd name="T19" fmla="*/ 82 h 726"/>
                <a:gd name="T20" fmla="*/ 673 w 892"/>
                <a:gd name="T21" fmla="*/ 99 h 726"/>
                <a:gd name="T22" fmla="*/ 721 w 892"/>
                <a:gd name="T23" fmla="*/ 112 h 726"/>
                <a:gd name="T24" fmla="*/ 770 w 892"/>
                <a:gd name="T25" fmla="*/ 122 h 726"/>
                <a:gd name="T26" fmla="*/ 819 w 892"/>
                <a:gd name="T27" fmla="*/ 132 h 726"/>
                <a:gd name="T28" fmla="*/ 873 w 892"/>
                <a:gd name="T29" fmla="*/ 145 h 726"/>
                <a:gd name="T30" fmla="*/ 892 w 892"/>
                <a:gd name="T31" fmla="*/ 179 h 726"/>
                <a:gd name="T32" fmla="*/ 874 w 892"/>
                <a:gd name="T33" fmla="*/ 207 h 726"/>
                <a:gd name="T34" fmla="*/ 860 w 892"/>
                <a:gd name="T35" fmla="*/ 228 h 726"/>
                <a:gd name="T36" fmla="*/ 843 w 892"/>
                <a:gd name="T37" fmla="*/ 250 h 726"/>
                <a:gd name="T38" fmla="*/ 799 w 892"/>
                <a:gd name="T39" fmla="*/ 310 h 726"/>
                <a:gd name="T40" fmla="*/ 755 w 892"/>
                <a:gd name="T41" fmla="*/ 367 h 726"/>
                <a:gd name="T42" fmla="*/ 729 w 892"/>
                <a:gd name="T43" fmla="*/ 372 h 726"/>
                <a:gd name="T44" fmla="*/ 687 w 892"/>
                <a:gd name="T45" fmla="*/ 359 h 726"/>
                <a:gd name="T46" fmla="*/ 645 w 892"/>
                <a:gd name="T47" fmla="*/ 356 h 726"/>
                <a:gd name="T48" fmla="*/ 610 w 892"/>
                <a:gd name="T49" fmla="*/ 363 h 726"/>
                <a:gd name="T50" fmla="*/ 586 w 892"/>
                <a:gd name="T51" fmla="*/ 384 h 726"/>
                <a:gd name="T52" fmla="*/ 577 w 892"/>
                <a:gd name="T53" fmla="*/ 411 h 726"/>
                <a:gd name="T54" fmla="*/ 598 w 892"/>
                <a:gd name="T55" fmla="*/ 451 h 726"/>
                <a:gd name="T56" fmla="*/ 646 w 892"/>
                <a:gd name="T57" fmla="*/ 469 h 726"/>
                <a:gd name="T58" fmla="*/ 674 w 892"/>
                <a:gd name="T59" fmla="*/ 487 h 726"/>
                <a:gd name="T60" fmla="*/ 619 w 892"/>
                <a:gd name="T61" fmla="*/ 573 h 726"/>
                <a:gd name="T62" fmla="*/ 533 w 892"/>
                <a:gd name="T63" fmla="*/ 687 h 726"/>
                <a:gd name="T64" fmla="*/ 492 w 892"/>
                <a:gd name="T65" fmla="*/ 723 h 726"/>
                <a:gd name="T66" fmla="*/ 466 w 892"/>
                <a:gd name="T67" fmla="*/ 726 h 726"/>
                <a:gd name="T68" fmla="*/ 443 w 892"/>
                <a:gd name="T69" fmla="*/ 723 h 726"/>
                <a:gd name="T70" fmla="*/ 370 w 892"/>
                <a:gd name="T71" fmla="*/ 702 h 726"/>
                <a:gd name="T72" fmla="*/ 304 w 892"/>
                <a:gd name="T73" fmla="*/ 678 h 726"/>
                <a:gd name="T74" fmla="*/ 268 w 892"/>
                <a:gd name="T75" fmla="*/ 663 h 726"/>
                <a:gd name="T76" fmla="*/ 216 w 892"/>
                <a:gd name="T77" fmla="*/ 645 h 726"/>
                <a:gd name="T78" fmla="*/ 163 w 892"/>
                <a:gd name="T79" fmla="*/ 626 h 726"/>
                <a:gd name="T80" fmla="*/ 111 w 892"/>
                <a:gd name="T81" fmla="*/ 608 h 726"/>
                <a:gd name="T82" fmla="*/ 58 w 892"/>
                <a:gd name="T83" fmla="*/ 588 h 726"/>
                <a:gd name="T84" fmla="*/ 7 w 892"/>
                <a:gd name="T85" fmla="*/ 568 h 726"/>
                <a:gd name="T86" fmla="*/ 1 w 892"/>
                <a:gd name="T87" fmla="*/ 560 h 726"/>
                <a:gd name="T88" fmla="*/ 44 w 892"/>
                <a:gd name="T89" fmla="*/ 483 h 726"/>
                <a:gd name="T90" fmla="*/ 115 w 892"/>
                <a:gd name="T91" fmla="*/ 376 h 726"/>
                <a:gd name="T92" fmla="*/ 181 w 892"/>
                <a:gd name="T93" fmla="*/ 263 h 72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92"/>
                <a:gd name="T142" fmla="*/ 0 h 726"/>
                <a:gd name="T143" fmla="*/ 892 w 892"/>
                <a:gd name="T144" fmla="*/ 726 h 72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92" h="726">
                  <a:moveTo>
                    <a:pt x="181" y="263"/>
                  </a:moveTo>
                  <a:lnTo>
                    <a:pt x="189" y="248"/>
                  </a:lnTo>
                  <a:lnTo>
                    <a:pt x="199" y="233"/>
                  </a:lnTo>
                  <a:lnTo>
                    <a:pt x="210" y="219"/>
                  </a:lnTo>
                  <a:lnTo>
                    <a:pt x="220" y="205"/>
                  </a:lnTo>
                  <a:lnTo>
                    <a:pt x="232" y="192"/>
                  </a:lnTo>
                  <a:lnTo>
                    <a:pt x="242" y="178"/>
                  </a:lnTo>
                  <a:lnTo>
                    <a:pt x="254" y="165"/>
                  </a:lnTo>
                  <a:lnTo>
                    <a:pt x="265" y="150"/>
                  </a:lnTo>
                  <a:lnTo>
                    <a:pt x="280" y="132"/>
                  </a:lnTo>
                  <a:lnTo>
                    <a:pt x="291" y="113"/>
                  </a:lnTo>
                  <a:lnTo>
                    <a:pt x="303" y="95"/>
                  </a:lnTo>
                  <a:lnTo>
                    <a:pt x="315" y="78"/>
                  </a:lnTo>
                  <a:lnTo>
                    <a:pt x="325" y="61"/>
                  </a:lnTo>
                  <a:lnTo>
                    <a:pt x="338" y="44"/>
                  </a:lnTo>
                  <a:lnTo>
                    <a:pt x="353" y="27"/>
                  </a:lnTo>
                  <a:lnTo>
                    <a:pt x="370" y="12"/>
                  </a:lnTo>
                  <a:lnTo>
                    <a:pt x="379" y="7"/>
                  </a:lnTo>
                  <a:lnTo>
                    <a:pt x="391" y="3"/>
                  </a:lnTo>
                  <a:lnTo>
                    <a:pt x="399" y="0"/>
                  </a:lnTo>
                  <a:lnTo>
                    <a:pt x="403" y="0"/>
                  </a:lnTo>
                  <a:lnTo>
                    <a:pt x="430" y="11"/>
                  </a:lnTo>
                  <a:lnTo>
                    <a:pt x="456" y="21"/>
                  </a:lnTo>
                  <a:lnTo>
                    <a:pt x="482" y="29"/>
                  </a:lnTo>
                  <a:lnTo>
                    <a:pt x="506" y="38"/>
                  </a:lnTo>
                  <a:lnTo>
                    <a:pt x="531" y="47"/>
                  </a:lnTo>
                  <a:lnTo>
                    <a:pt x="555" y="55"/>
                  </a:lnTo>
                  <a:lnTo>
                    <a:pt x="581" y="65"/>
                  </a:lnTo>
                  <a:lnTo>
                    <a:pt x="607" y="75"/>
                  </a:lnTo>
                  <a:lnTo>
                    <a:pt x="624" y="82"/>
                  </a:lnTo>
                  <a:lnTo>
                    <a:pt x="641" y="88"/>
                  </a:lnTo>
                  <a:lnTo>
                    <a:pt x="656" y="93"/>
                  </a:lnTo>
                  <a:lnTo>
                    <a:pt x="673" y="99"/>
                  </a:lnTo>
                  <a:lnTo>
                    <a:pt x="689" y="104"/>
                  </a:lnTo>
                  <a:lnTo>
                    <a:pt x="706" y="108"/>
                  </a:lnTo>
                  <a:lnTo>
                    <a:pt x="721" y="112"/>
                  </a:lnTo>
                  <a:lnTo>
                    <a:pt x="738" y="115"/>
                  </a:lnTo>
                  <a:lnTo>
                    <a:pt x="753" y="119"/>
                  </a:lnTo>
                  <a:lnTo>
                    <a:pt x="770" y="122"/>
                  </a:lnTo>
                  <a:lnTo>
                    <a:pt x="786" y="126"/>
                  </a:lnTo>
                  <a:lnTo>
                    <a:pt x="803" y="130"/>
                  </a:lnTo>
                  <a:lnTo>
                    <a:pt x="819" y="132"/>
                  </a:lnTo>
                  <a:lnTo>
                    <a:pt x="838" y="136"/>
                  </a:lnTo>
                  <a:lnTo>
                    <a:pt x="854" y="141"/>
                  </a:lnTo>
                  <a:lnTo>
                    <a:pt x="873" y="145"/>
                  </a:lnTo>
                  <a:lnTo>
                    <a:pt x="885" y="153"/>
                  </a:lnTo>
                  <a:lnTo>
                    <a:pt x="892" y="165"/>
                  </a:lnTo>
                  <a:lnTo>
                    <a:pt x="892" y="179"/>
                  </a:lnTo>
                  <a:lnTo>
                    <a:pt x="885" y="192"/>
                  </a:lnTo>
                  <a:lnTo>
                    <a:pt x="879" y="200"/>
                  </a:lnTo>
                  <a:lnTo>
                    <a:pt x="874" y="207"/>
                  </a:lnTo>
                  <a:lnTo>
                    <a:pt x="870" y="214"/>
                  </a:lnTo>
                  <a:lnTo>
                    <a:pt x="865" y="220"/>
                  </a:lnTo>
                  <a:lnTo>
                    <a:pt x="860" y="228"/>
                  </a:lnTo>
                  <a:lnTo>
                    <a:pt x="854" y="235"/>
                  </a:lnTo>
                  <a:lnTo>
                    <a:pt x="849" y="242"/>
                  </a:lnTo>
                  <a:lnTo>
                    <a:pt x="843" y="250"/>
                  </a:lnTo>
                  <a:lnTo>
                    <a:pt x="830" y="267"/>
                  </a:lnTo>
                  <a:lnTo>
                    <a:pt x="814" y="288"/>
                  </a:lnTo>
                  <a:lnTo>
                    <a:pt x="799" y="310"/>
                  </a:lnTo>
                  <a:lnTo>
                    <a:pt x="782" y="331"/>
                  </a:lnTo>
                  <a:lnTo>
                    <a:pt x="768" y="350"/>
                  </a:lnTo>
                  <a:lnTo>
                    <a:pt x="755" y="367"/>
                  </a:lnTo>
                  <a:lnTo>
                    <a:pt x="746" y="377"/>
                  </a:lnTo>
                  <a:lnTo>
                    <a:pt x="742" y="380"/>
                  </a:lnTo>
                  <a:lnTo>
                    <a:pt x="729" y="372"/>
                  </a:lnTo>
                  <a:lnTo>
                    <a:pt x="716" y="367"/>
                  </a:lnTo>
                  <a:lnTo>
                    <a:pt x="702" y="363"/>
                  </a:lnTo>
                  <a:lnTo>
                    <a:pt x="687" y="359"/>
                  </a:lnTo>
                  <a:lnTo>
                    <a:pt x="673" y="358"/>
                  </a:lnTo>
                  <a:lnTo>
                    <a:pt x="659" y="356"/>
                  </a:lnTo>
                  <a:lnTo>
                    <a:pt x="645" y="356"/>
                  </a:lnTo>
                  <a:lnTo>
                    <a:pt x="630" y="358"/>
                  </a:lnTo>
                  <a:lnTo>
                    <a:pt x="620" y="359"/>
                  </a:lnTo>
                  <a:lnTo>
                    <a:pt x="610" y="363"/>
                  </a:lnTo>
                  <a:lnTo>
                    <a:pt x="601" y="368"/>
                  </a:lnTo>
                  <a:lnTo>
                    <a:pt x="593" y="375"/>
                  </a:lnTo>
                  <a:lnTo>
                    <a:pt x="586" y="384"/>
                  </a:lnTo>
                  <a:lnTo>
                    <a:pt x="583" y="391"/>
                  </a:lnTo>
                  <a:lnTo>
                    <a:pt x="579" y="402"/>
                  </a:lnTo>
                  <a:lnTo>
                    <a:pt x="577" y="411"/>
                  </a:lnTo>
                  <a:lnTo>
                    <a:pt x="580" y="428"/>
                  </a:lnTo>
                  <a:lnTo>
                    <a:pt x="586" y="441"/>
                  </a:lnTo>
                  <a:lnTo>
                    <a:pt x="598" y="451"/>
                  </a:lnTo>
                  <a:lnTo>
                    <a:pt x="612" y="459"/>
                  </a:lnTo>
                  <a:lnTo>
                    <a:pt x="629" y="464"/>
                  </a:lnTo>
                  <a:lnTo>
                    <a:pt x="646" y="469"/>
                  </a:lnTo>
                  <a:lnTo>
                    <a:pt x="663" y="474"/>
                  </a:lnTo>
                  <a:lnTo>
                    <a:pt x="677" y="479"/>
                  </a:lnTo>
                  <a:lnTo>
                    <a:pt x="674" y="487"/>
                  </a:lnTo>
                  <a:lnTo>
                    <a:pt x="663" y="508"/>
                  </a:lnTo>
                  <a:lnTo>
                    <a:pt x="643" y="538"/>
                  </a:lnTo>
                  <a:lnTo>
                    <a:pt x="619" y="573"/>
                  </a:lnTo>
                  <a:lnTo>
                    <a:pt x="592" y="612"/>
                  </a:lnTo>
                  <a:lnTo>
                    <a:pt x="562" y="650"/>
                  </a:lnTo>
                  <a:lnTo>
                    <a:pt x="533" y="687"/>
                  </a:lnTo>
                  <a:lnTo>
                    <a:pt x="506" y="718"/>
                  </a:lnTo>
                  <a:lnTo>
                    <a:pt x="498" y="720"/>
                  </a:lnTo>
                  <a:lnTo>
                    <a:pt x="492" y="723"/>
                  </a:lnTo>
                  <a:lnTo>
                    <a:pt x="483" y="724"/>
                  </a:lnTo>
                  <a:lnTo>
                    <a:pt x="475" y="724"/>
                  </a:lnTo>
                  <a:lnTo>
                    <a:pt x="466" y="726"/>
                  </a:lnTo>
                  <a:lnTo>
                    <a:pt x="458" y="724"/>
                  </a:lnTo>
                  <a:lnTo>
                    <a:pt x="451" y="724"/>
                  </a:lnTo>
                  <a:lnTo>
                    <a:pt x="443" y="723"/>
                  </a:lnTo>
                  <a:lnTo>
                    <a:pt x="421" y="718"/>
                  </a:lnTo>
                  <a:lnTo>
                    <a:pt x="396" y="710"/>
                  </a:lnTo>
                  <a:lnTo>
                    <a:pt x="370" y="702"/>
                  </a:lnTo>
                  <a:lnTo>
                    <a:pt x="346" y="693"/>
                  </a:lnTo>
                  <a:lnTo>
                    <a:pt x="324" y="684"/>
                  </a:lnTo>
                  <a:lnTo>
                    <a:pt x="304" y="678"/>
                  </a:lnTo>
                  <a:lnTo>
                    <a:pt x="291" y="672"/>
                  </a:lnTo>
                  <a:lnTo>
                    <a:pt x="286" y="670"/>
                  </a:lnTo>
                  <a:lnTo>
                    <a:pt x="268" y="663"/>
                  </a:lnTo>
                  <a:lnTo>
                    <a:pt x="251" y="657"/>
                  </a:lnTo>
                  <a:lnTo>
                    <a:pt x="233" y="652"/>
                  </a:lnTo>
                  <a:lnTo>
                    <a:pt x="216" y="645"/>
                  </a:lnTo>
                  <a:lnTo>
                    <a:pt x="198" y="639"/>
                  </a:lnTo>
                  <a:lnTo>
                    <a:pt x="181" y="632"/>
                  </a:lnTo>
                  <a:lnTo>
                    <a:pt x="163" y="626"/>
                  </a:lnTo>
                  <a:lnTo>
                    <a:pt x="146" y="621"/>
                  </a:lnTo>
                  <a:lnTo>
                    <a:pt x="128" y="614"/>
                  </a:lnTo>
                  <a:lnTo>
                    <a:pt x="111" y="608"/>
                  </a:lnTo>
                  <a:lnTo>
                    <a:pt x="93" y="601"/>
                  </a:lnTo>
                  <a:lnTo>
                    <a:pt x="76" y="595"/>
                  </a:lnTo>
                  <a:lnTo>
                    <a:pt x="58" y="588"/>
                  </a:lnTo>
                  <a:lnTo>
                    <a:pt x="42" y="582"/>
                  </a:lnTo>
                  <a:lnTo>
                    <a:pt x="23" y="574"/>
                  </a:lnTo>
                  <a:lnTo>
                    <a:pt x="7" y="568"/>
                  </a:lnTo>
                  <a:lnTo>
                    <a:pt x="5" y="565"/>
                  </a:lnTo>
                  <a:lnTo>
                    <a:pt x="3" y="562"/>
                  </a:lnTo>
                  <a:lnTo>
                    <a:pt x="1" y="560"/>
                  </a:lnTo>
                  <a:lnTo>
                    <a:pt x="0" y="557"/>
                  </a:lnTo>
                  <a:lnTo>
                    <a:pt x="21" y="520"/>
                  </a:lnTo>
                  <a:lnTo>
                    <a:pt x="44" y="483"/>
                  </a:lnTo>
                  <a:lnTo>
                    <a:pt x="67" y="447"/>
                  </a:lnTo>
                  <a:lnTo>
                    <a:pt x="92" y="412"/>
                  </a:lnTo>
                  <a:lnTo>
                    <a:pt x="115" y="376"/>
                  </a:lnTo>
                  <a:lnTo>
                    <a:pt x="139" y="338"/>
                  </a:lnTo>
                  <a:lnTo>
                    <a:pt x="161" y="302"/>
                  </a:lnTo>
                  <a:lnTo>
                    <a:pt x="181" y="263"/>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1" name="Freeform 11"/>
            <p:cNvSpPr>
              <a:spLocks/>
            </p:cNvSpPr>
            <p:nvPr/>
          </p:nvSpPr>
          <p:spPr bwMode="auto">
            <a:xfrm>
              <a:off x="1387" y="3070"/>
              <a:ext cx="762" cy="308"/>
            </a:xfrm>
            <a:custGeom>
              <a:avLst/>
              <a:gdLst>
                <a:gd name="T0" fmla="*/ 39 w 762"/>
                <a:gd name="T1" fmla="*/ 99 h 308"/>
                <a:gd name="T2" fmla="*/ 103 w 762"/>
                <a:gd name="T3" fmla="*/ 128 h 308"/>
                <a:gd name="T4" fmla="*/ 164 w 762"/>
                <a:gd name="T5" fmla="*/ 152 h 308"/>
                <a:gd name="T6" fmla="*/ 195 w 762"/>
                <a:gd name="T7" fmla="*/ 164 h 308"/>
                <a:gd name="T8" fmla="*/ 250 w 762"/>
                <a:gd name="T9" fmla="*/ 184 h 308"/>
                <a:gd name="T10" fmla="*/ 316 w 762"/>
                <a:gd name="T11" fmla="*/ 208 h 308"/>
                <a:gd name="T12" fmla="*/ 382 w 762"/>
                <a:gd name="T13" fmla="*/ 230 h 308"/>
                <a:gd name="T14" fmla="*/ 435 w 762"/>
                <a:gd name="T15" fmla="*/ 244 h 308"/>
                <a:gd name="T16" fmla="*/ 467 w 762"/>
                <a:gd name="T17" fmla="*/ 251 h 308"/>
                <a:gd name="T18" fmla="*/ 494 w 762"/>
                <a:gd name="T19" fmla="*/ 256 h 308"/>
                <a:gd name="T20" fmla="*/ 520 w 762"/>
                <a:gd name="T21" fmla="*/ 252 h 308"/>
                <a:gd name="T22" fmla="*/ 569 w 762"/>
                <a:gd name="T23" fmla="*/ 190 h 308"/>
                <a:gd name="T24" fmla="*/ 616 w 762"/>
                <a:gd name="T25" fmla="*/ 121 h 308"/>
                <a:gd name="T26" fmla="*/ 656 w 762"/>
                <a:gd name="T27" fmla="*/ 66 h 308"/>
                <a:gd name="T28" fmla="*/ 689 w 762"/>
                <a:gd name="T29" fmla="*/ 26 h 308"/>
                <a:gd name="T30" fmla="*/ 714 w 762"/>
                <a:gd name="T31" fmla="*/ 0 h 308"/>
                <a:gd name="T32" fmla="*/ 729 w 762"/>
                <a:gd name="T33" fmla="*/ 11 h 308"/>
                <a:gd name="T34" fmla="*/ 747 w 762"/>
                <a:gd name="T35" fmla="*/ 32 h 308"/>
                <a:gd name="T36" fmla="*/ 762 w 762"/>
                <a:gd name="T37" fmla="*/ 50 h 308"/>
                <a:gd name="T38" fmla="*/ 745 w 762"/>
                <a:gd name="T39" fmla="*/ 73 h 308"/>
                <a:gd name="T40" fmla="*/ 726 w 762"/>
                <a:gd name="T41" fmla="*/ 64 h 308"/>
                <a:gd name="T42" fmla="*/ 712 w 762"/>
                <a:gd name="T43" fmla="*/ 54 h 308"/>
                <a:gd name="T44" fmla="*/ 685 w 762"/>
                <a:gd name="T45" fmla="*/ 89 h 308"/>
                <a:gd name="T46" fmla="*/ 656 w 762"/>
                <a:gd name="T47" fmla="*/ 130 h 308"/>
                <a:gd name="T48" fmla="*/ 656 w 762"/>
                <a:gd name="T49" fmla="*/ 140 h 308"/>
                <a:gd name="T50" fmla="*/ 677 w 762"/>
                <a:gd name="T51" fmla="*/ 147 h 308"/>
                <a:gd name="T52" fmla="*/ 701 w 762"/>
                <a:gd name="T53" fmla="*/ 147 h 308"/>
                <a:gd name="T54" fmla="*/ 686 w 762"/>
                <a:gd name="T55" fmla="*/ 169 h 308"/>
                <a:gd name="T56" fmla="*/ 669 w 762"/>
                <a:gd name="T57" fmla="*/ 190 h 308"/>
                <a:gd name="T58" fmla="*/ 652 w 762"/>
                <a:gd name="T59" fmla="*/ 191 h 308"/>
                <a:gd name="T60" fmla="*/ 633 w 762"/>
                <a:gd name="T61" fmla="*/ 154 h 308"/>
                <a:gd name="T62" fmla="*/ 610 w 762"/>
                <a:gd name="T63" fmla="*/ 180 h 308"/>
                <a:gd name="T64" fmla="*/ 572 w 762"/>
                <a:gd name="T65" fmla="*/ 225 h 308"/>
                <a:gd name="T66" fmla="*/ 562 w 762"/>
                <a:gd name="T67" fmla="*/ 243 h 308"/>
                <a:gd name="T68" fmla="*/ 579 w 762"/>
                <a:gd name="T69" fmla="*/ 251 h 308"/>
                <a:gd name="T70" fmla="*/ 602 w 762"/>
                <a:gd name="T71" fmla="*/ 256 h 308"/>
                <a:gd name="T72" fmla="*/ 590 w 762"/>
                <a:gd name="T73" fmla="*/ 276 h 308"/>
                <a:gd name="T74" fmla="*/ 568 w 762"/>
                <a:gd name="T75" fmla="*/ 296 h 308"/>
                <a:gd name="T76" fmla="*/ 558 w 762"/>
                <a:gd name="T77" fmla="*/ 308 h 308"/>
                <a:gd name="T78" fmla="*/ 479 w 762"/>
                <a:gd name="T79" fmla="*/ 294 h 308"/>
                <a:gd name="T80" fmla="*/ 375 w 762"/>
                <a:gd name="T81" fmla="*/ 265 h 308"/>
                <a:gd name="T82" fmla="*/ 264 w 762"/>
                <a:gd name="T83" fmla="*/ 228 h 308"/>
                <a:gd name="T84" fmla="*/ 163 w 762"/>
                <a:gd name="T85" fmla="*/ 189 h 308"/>
                <a:gd name="T86" fmla="*/ 88 w 762"/>
                <a:gd name="T87" fmla="*/ 155 h 308"/>
                <a:gd name="T88" fmla="*/ 57 w 762"/>
                <a:gd name="T89" fmla="*/ 140 h 308"/>
                <a:gd name="T90" fmla="*/ 26 w 762"/>
                <a:gd name="T91" fmla="*/ 128 h 308"/>
                <a:gd name="T92" fmla="*/ 9 w 762"/>
                <a:gd name="T93" fmla="*/ 123 h 308"/>
                <a:gd name="T94" fmla="*/ 2 w 762"/>
                <a:gd name="T95" fmla="*/ 90 h 30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62"/>
                <a:gd name="T145" fmla="*/ 0 h 308"/>
                <a:gd name="T146" fmla="*/ 762 w 762"/>
                <a:gd name="T147" fmla="*/ 308 h 30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62" h="308">
                  <a:moveTo>
                    <a:pt x="0" y="84"/>
                  </a:moveTo>
                  <a:lnTo>
                    <a:pt x="18" y="92"/>
                  </a:lnTo>
                  <a:lnTo>
                    <a:pt x="39" y="99"/>
                  </a:lnTo>
                  <a:lnTo>
                    <a:pt x="61" y="108"/>
                  </a:lnTo>
                  <a:lnTo>
                    <a:pt x="83" y="118"/>
                  </a:lnTo>
                  <a:lnTo>
                    <a:pt x="103" y="128"/>
                  </a:lnTo>
                  <a:lnTo>
                    <a:pt x="125" y="136"/>
                  </a:lnTo>
                  <a:lnTo>
                    <a:pt x="146" y="145"/>
                  </a:lnTo>
                  <a:lnTo>
                    <a:pt x="164" y="152"/>
                  </a:lnTo>
                  <a:lnTo>
                    <a:pt x="171" y="155"/>
                  </a:lnTo>
                  <a:lnTo>
                    <a:pt x="181" y="159"/>
                  </a:lnTo>
                  <a:lnTo>
                    <a:pt x="195" y="164"/>
                  </a:lnTo>
                  <a:lnTo>
                    <a:pt x="211" y="169"/>
                  </a:lnTo>
                  <a:lnTo>
                    <a:pt x="229" y="177"/>
                  </a:lnTo>
                  <a:lnTo>
                    <a:pt x="250" y="184"/>
                  </a:lnTo>
                  <a:lnTo>
                    <a:pt x="272" y="191"/>
                  </a:lnTo>
                  <a:lnTo>
                    <a:pt x="294" y="199"/>
                  </a:lnTo>
                  <a:lnTo>
                    <a:pt x="316" y="208"/>
                  </a:lnTo>
                  <a:lnTo>
                    <a:pt x="339" y="216"/>
                  </a:lnTo>
                  <a:lnTo>
                    <a:pt x="361" y="222"/>
                  </a:lnTo>
                  <a:lnTo>
                    <a:pt x="382" y="230"/>
                  </a:lnTo>
                  <a:lnTo>
                    <a:pt x="401" y="235"/>
                  </a:lnTo>
                  <a:lnTo>
                    <a:pt x="419" y="241"/>
                  </a:lnTo>
                  <a:lnTo>
                    <a:pt x="435" y="244"/>
                  </a:lnTo>
                  <a:lnTo>
                    <a:pt x="448" y="247"/>
                  </a:lnTo>
                  <a:lnTo>
                    <a:pt x="457" y="248"/>
                  </a:lnTo>
                  <a:lnTo>
                    <a:pt x="467" y="251"/>
                  </a:lnTo>
                  <a:lnTo>
                    <a:pt x="476" y="252"/>
                  </a:lnTo>
                  <a:lnTo>
                    <a:pt x="485" y="255"/>
                  </a:lnTo>
                  <a:lnTo>
                    <a:pt x="494" y="256"/>
                  </a:lnTo>
                  <a:lnTo>
                    <a:pt x="503" y="256"/>
                  </a:lnTo>
                  <a:lnTo>
                    <a:pt x="512" y="255"/>
                  </a:lnTo>
                  <a:lnTo>
                    <a:pt x="520" y="252"/>
                  </a:lnTo>
                  <a:lnTo>
                    <a:pt x="537" y="233"/>
                  </a:lnTo>
                  <a:lnTo>
                    <a:pt x="554" y="212"/>
                  </a:lnTo>
                  <a:lnTo>
                    <a:pt x="569" y="190"/>
                  </a:lnTo>
                  <a:lnTo>
                    <a:pt x="585" y="167"/>
                  </a:lnTo>
                  <a:lnTo>
                    <a:pt x="601" y="143"/>
                  </a:lnTo>
                  <a:lnTo>
                    <a:pt x="616" y="121"/>
                  </a:lnTo>
                  <a:lnTo>
                    <a:pt x="632" y="98"/>
                  </a:lnTo>
                  <a:lnTo>
                    <a:pt x="647" y="77"/>
                  </a:lnTo>
                  <a:lnTo>
                    <a:pt x="656" y="66"/>
                  </a:lnTo>
                  <a:lnTo>
                    <a:pt x="667" y="53"/>
                  </a:lnTo>
                  <a:lnTo>
                    <a:pt x="678" y="38"/>
                  </a:lnTo>
                  <a:lnTo>
                    <a:pt x="689" y="26"/>
                  </a:lnTo>
                  <a:lnTo>
                    <a:pt x="699" y="14"/>
                  </a:lnTo>
                  <a:lnTo>
                    <a:pt x="708" y="5"/>
                  </a:lnTo>
                  <a:lnTo>
                    <a:pt x="714" y="0"/>
                  </a:lnTo>
                  <a:lnTo>
                    <a:pt x="718" y="0"/>
                  </a:lnTo>
                  <a:lnTo>
                    <a:pt x="723" y="5"/>
                  </a:lnTo>
                  <a:lnTo>
                    <a:pt x="729" y="11"/>
                  </a:lnTo>
                  <a:lnTo>
                    <a:pt x="735" y="18"/>
                  </a:lnTo>
                  <a:lnTo>
                    <a:pt x="740" y="24"/>
                  </a:lnTo>
                  <a:lnTo>
                    <a:pt x="747" y="32"/>
                  </a:lnTo>
                  <a:lnTo>
                    <a:pt x="752" y="38"/>
                  </a:lnTo>
                  <a:lnTo>
                    <a:pt x="757" y="45"/>
                  </a:lnTo>
                  <a:lnTo>
                    <a:pt x="762" y="50"/>
                  </a:lnTo>
                  <a:lnTo>
                    <a:pt x="756" y="58"/>
                  </a:lnTo>
                  <a:lnTo>
                    <a:pt x="751" y="66"/>
                  </a:lnTo>
                  <a:lnTo>
                    <a:pt x="745" y="73"/>
                  </a:lnTo>
                  <a:lnTo>
                    <a:pt x="740" y="83"/>
                  </a:lnTo>
                  <a:lnTo>
                    <a:pt x="734" y="75"/>
                  </a:lnTo>
                  <a:lnTo>
                    <a:pt x="726" y="64"/>
                  </a:lnTo>
                  <a:lnTo>
                    <a:pt x="718" y="55"/>
                  </a:lnTo>
                  <a:lnTo>
                    <a:pt x="714" y="51"/>
                  </a:lnTo>
                  <a:lnTo>
                    <a:pt x="712" y="54"/>
                  </a:lnTo>
                  <a:lnTo>
                    <a:pt x="705" y="63"/>
                  </a:lnTo>
                  <a:lnTo>
                    <a:pt x="695" y="75"/>
                  </a:lnTo>
                  <a:lnTo>
                    <a:pt x="685" y="89"/>
                  </a:lnTo>
                  <a:lnTo>
                    <a:pt x="673" y="105"/>
                  </a:lnTo>
                  <a:lnTo>
                    <a:pt x="663" y="119"/>
                  </a:lnTo>
                  <a:lnTo>
                    <a:pt x="656" y="130"/>
                  </a:lnTo>
                  <a:lnTo>
                    <a:pt x="652" y="137"/>
                  </a:lnTo>
                  <a:lnTo>
                    <a:pt x="652" y="138"/>
                  </a:lnTo>
                  <a:lnTo>
                    <a:pt x="656" y="140"/>
                  </a:lnTo>
                  <a:lnTo>
                    <a:pt x="661" y="142"/>
                  </a:lnTo>
                  <a:lnTo>
                    <a:pt x="669" y="145"/>
                  </a:lnTo>
                  <a:lnTo>
                    <a:pt x="677" y="147"/>
                  </a:lnTo>
                  <a:lnTo>
                    <a:pt x="686" y="149"/>
                  </a:lnTo>
                  <a:lnTo>
                    <a:pt x="694" y="149"/>
                  </a:lnTo>
                  <a:lnTo>
                    <a:pt x="701" y="147"/>
                  </a:lnTo>
                  <a:lnTo>
                    <a:pt x="696" y="155"/>
                  </a:lnTo>
                  <a:lnTo>
                    <a:pt x="691" y="162"/>
                  </a:lnTo>
                  <a:lnTo>
                    <a:pt x="686" y="169"/>
                  </a:lnTo>
                  <a:lnTo>
                    <a:pt x="681" y="176"/>
                  </a:lnTo>
                  <a:lnTo>
                    <a:pt x="674" y="182"/>
                  </a:lnTo>
                  <a:lnTo>
                    <a:pt x="669" y="190"/>
                  </a:lnTo>
                  <a:lnTo>
                    <a:pt x="663" y="197"/>
                  </a:lnTo>
                  <a:lnTo>
                    <a:pt x="657" y="203"/>
                  </a:lnTo>
                  <a:lnTo>
                    <a:pt x="652" y="191"/>
                  </a:lnTo>
                  <a:lnTo>
                    <a:pt x="645" y="174"/>
                  </a:lnTo>
                  <a:lnTo>
                    <a:pt x="637" y="160"/>
                  </a:lnTo>
                  <a:lnTo>
                    <a:pt x="633" y="154"/>
                  </a:lnTo>
                  <a:lnTo>
                    <a:pt x="629" y="158"/>
                  </a:lnTo>
                  <a:lnTo>
                    <a:pt x="621" y="167"/>
                  </a:lnTo>
                  <a:lnTo>
                    <a:pt x="610" y="180"/>
                  </a:lnTo>
                  <a:lnTo>
                    <a:pt x="597" y="195"/>
                  </a:lnTo>
                  <a:lnTo>
                    <a:pt x="584" y="211"/>
                  </a:lnTo>
                  <a:lnTo>
                    <a:pt x="572" y="225"/>
                  </a:lnTo>
                  <a:lnTo>
                    <a:pt x="564" y="235"/>
                  </a:lnTo>
                  <a:lnTo>
                    <a:pt x="560" y="241"/>
                  </a:lnTo>
                  <a:lnTo>
                    <a:pt x="562" y="243"/>
                  </a:lnTo>
                  <a:lnTo>
                    <a:pt x="564" y="246"/>
                  </a:lnTo>
                  <a:lnTo>
                    <a:pt x="571" y="248"/>
                  </a:lnTo>
                  <a:lnTo>
                    <a:pt x="579" y="251"/>
                  </a:lnTo>
                  <a:lnTo>
                    <a:pt x="586" y="254"/>
                  </a:lnTo>
                  <a:lnTo>
                    <a:pt x="594" y="255"/>
                  </a:lnTo>
                  <a:lnTo>
                    <a:pt x="602" y="256"/>
                  </a:lnTo>
                  <a:lnTo>
                    <a:pt x="607" y="256"/>
                  </a:lnTo>
                  <a:lnTo>
                    <a:pt x="598" y="266"/>
                  </a:lnTo>
                  <a:lnTo>
                    <a:pt x="590" y="276"/>
                  </a:lnTo>
                  <a:lnTo>
                    <a:pt x="582" y="283"/>
                  </a:lnTo>
                  <a:lnTo>
                    <a:pt x="575" y="290"/>
                  </a:lnTo>
                  <a:lnTo>
                    <a:pt x="568" y="296"/>
                  </a:lnTo>
                  <a:lnTo>
                    <a:pt x="563" y="301"/>
                  </a:lnTo>
                  <a:lnTo>
                    <a:pt x="559" y="305"/>
                  </a:lnTo>
                  <a:lnTo>
                    <a:pt x="558" y="308"/>
                  </a:lnTo>
                  <a:lnTo>
                    <a:pt x="536" y="305"/>
                  </a:lnTo>
                  <a:lnTo>
                    <a:pt x="509" y="301"/>
                  </a:lnTo>
                  <a:lnTo>
                    <a:pt x="479" y="294"/>
                  </a:lnTo>
                  <a:lnTo>
                    <a:pt x="446" y="286"/>
                  </a:lnTo>
                  <a:lnTo>
                    <a:pt x="412" y="276"/>
                  </a:lnTo>
                  <a:lnTo>
                    <a:pt x="375" y="265"/>
                  </a:lnTo>
                  <a:lnTo>
                    <a:pt x="338" y="254"/>
                  </a:lnTo>
                  <a:lnTo>
                    <a:pt x="302" y="241"/>
                  </a:lnTo>
                  <a:lnTo>
                    <a:pt x="264" y="228"/>
                  </a:lnTo>
                  <a:lnTo>
                    <a:pt x="228" y="215"/>
                  </a:lnTo>
                  <a:lnTo>
                    <a:pt x="194" y="202"/>
                  </a:lnTo>
                  <a:lnTo>
                    <a:pt x="163" y="189"/>
                  </a:lnTo>
                  <a:lnTo>
                    <a:pt x="133" y="176"/>
                  </a:lnTo>
                  <a:lnTo>
                    <a:pt x="109" y="165"/>
                  </a:lnTo>
                  <a:lnTo>
                    <a:pt x="88" y="155"/>
                  </a:lnTo>
                  <a:lnTo>
                    <a:pt x="71" y="146"/>
                  </a:lnTo>
                  <a:lnTo>
                    <a:pt x="65" y="143"/>
                  </a:lnTo>
                  <a:lnTo>
                    <a:pt x="57" y="140"/>
                  </a:lnTo>
                  <a:lnTo>
                    <a:pt x="47" y="136"/>
                  </a:lnTo>
                  <a:lnTo>
                    <a:pt x="36" y="132"/>
                  </a:lnTo>
                  <a:lnTo>
                    <a:pt x="26" y="128"/>
                  </a:lnTo>
                  <a:lnTo>
                    <a:pt x="17" y="125"/>
                  </a:lnTo>
                  <a:lnTo>
                    <a:pt x="12" y="124"/>
                  </a:lnTo>
                  <a:lnTo>
                    <a:pt x="9" y="123"/>
                  </a:lnTo>
                  <a:lnTo>
                    <a:pt x="8" y="115"/>
                  </a:lnTo>
                  <a:lnTo>
                    <a:pt x="5" y="103"/>
                  </a:lnTo>
                  <a:lnTo>
                    <a:pt x="2" y="90"/>
                  </a:lnTo>
                  <a:lnTo>
                    <a:pt x="0" y="84"/>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2" name="Freeform 12"/>
            <p:cNvSpPr>
              <a:spLocks/>
            </p:cNvSpPr>
            <p:nvPr/>
          </p:nvSpPr>
          <p:spPr bwMode="auto">
            <a:xfrm>
              <a:off x="2050" y="3142"/>
              <a:ext cx="68" cy="64"/>
            </a:xfrm>
            <a:custGeom>
              <a:avLst/>
              <a:gdLst>
                <a:gd name="T0" fmla="*/ 68 w 68"/>
                <a:gd name="T1" fmla="*/ 30 h 64"/>
                <a:gd name="T2" fmla="*/ 68 w 68"/>
                <a:gd name="T3" fmla="*/ 30 h 64"/>
                <a:gd name="T4" fmla="*/ 64 w 68"/>
                <a:gd name="T5" fmla="*/ 39 h 64"/>
                <a:gd name="T6" fmla="*/ 58 w 68"/>
                <a:gd name="T7" fmla="*/ 46 h 64"/>
                <a:gd name="T8" fmla="*/ 51 w 68"/>
                <a:gd name="T9" fmla="*/ 51 h 64"/>
                <a:gd name="T10" fmla="*/ 44 w 68"/>
                <a:gd name="T11" fmla="*/ 56 h 64"/>
                <a:gd name="T12" fmla="*/ 36 w 68"/>
                <a:gd name="T13" fmla="*/ 58 h 64"/>
                <a:gd name="T14" fmla="*/ 27 w 68"/>
                <a:gd name="T15" fmla="*/ 61 h 64"/>
                <a:gd name="T16" fmla="*/ 18 w 68"/>
                <a:gd name="T17" fmla="*/ 62 h 64"/>
                <a:gd name="T18" fmla="*/ 9 w 68"/>
                <a:gd name="T19" fmla="*/ 64 h 64"/>
                <a:gd name="T20" fmla="*/ 0 w 68"/>
                <a:gd name="T21" fmla="*/ 64 h 64"/>
                <a:gd name="T22" fmla="*/ 1 w 68"/>
                <a:gd name="T23" fmla="*/ 61 h 64"/>
                <a:gd name="T24" fmla="*/ 4 w 68"/>
                <a:gd name="T25" fmla="*/ 60 h 64"/>
                <a:gd name="T26" fmla="*/ 5 w 68"/>
                <a:gd name="T27" fmla="*/ 57 h 64"/>
                <a:gd name="T28" fmla="*/ 6 w 68"/>
                <a:gd name="T29" fmla="*/ 56 h 64"/>
                <a:gd name="T30" fmla="*/ 7 w 68"/>
                <a:gd name="T31" fmla="*/ 56 h 64"/>
                <a:gd name="T32" fmla="*/ 7 w 68"/>
                <a:gd name="T33" fmla="*/ 56 h 64"/>
                <a:gd name="T34" fmla="*/ 7 w 68"/>
                <a:gd name="T35" fmla="*/ 56 h 64"/>
                <a:gd name="T36" fmla="*/ 9 w 68"/>
                <a:gd name="T37" fmla="*/ 55 h 64"/>
                <a:gd name="T38" fmla="*/ 14 w 68"/>
                <a:gd name="T39" fmla="*/ 48 h 64"/>
                <a:gd name="T40" fmla="*/ 20 w 68"/>
                <a:gd name="T41" fmla="*/ 43 h 64"/>
                <a:gd name="T42" fmla="*/ 26 w 68"/>
                <a:gd name="T43" fmla="*/ 36 h 64"/>
                <a:gd name="T44" fmla="*/ 32 w 68"/>
                <a:gd name="T45" fmla="*/ 29 h 64"/>
                <a:gd name="T46" fmla="*/ 37 w 68"/>
                <a:gd name="T47" fmla="*/ 22 h 64"/>
                <a:gd name="T48" fmla="*/ 42 w 68"/>
                <a:gd name="T49" fmla="*/ 16 h 64"/>
                <a:gd name="T50" fmla="*/ 46 w 68"/>
                <a:gd name="T51" fmla="*/ 8 h 64"/>
                <a:gd name="T52" fmla="*/ 51 w 68"/>
                <a:gd name="T53" fmla="*/ 0 h 64"/>
                <a:gd name="T54" fmla="*/ 57 w 68"/>
                <a:gd name="T55" fmla="*/ 7 h 64"/>
                <a:gd name="T56" fmla="*/ 60 w 68"/>
                <a:gd name="T57" fmla="*/ 12 h 64"/>
                <a:gd name="T58" fmla="*/ 64 w 68"/>
                <a:gd name="T59" fmla="*/ 18 h 64"/>
                <a:gd name="T60" fmla="*/ 67 w 68"/>
                <a:gd name="T61" fmla="*/ 25 h 64"/>
                <a:gd name="T62" fmla="*/ 68 w 68"/>
                <a:gd name="T63" fmla="*/ 25 h 64"/>
                <a:gd name="T64" fmla="*/ 67 w 68"/>
                <a:gd name="T65" fmla="*/ 26 h 64"/>
                <a:gd name="T66" fmla="*/ 67 w 68"/>
                <a:gd name="T67" fmla="*/ 27 h 64"/>
                <a:gd name="T68" fmla="*/ 67 w 68"/>
                <a:gd name="T69" fmla="*/ 29 h 64"/>
                <a:gd name="T70" fmla="*/ 68 w 68"/>
                <a:gd name="T71" fmla="*/ 30 h 6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
                <a:gd name="T109" fmla="*/ 0 h 64"/>
                <a:gd name="T110" fmla="*/ 68 w 68"/>
                <a:gd name="T111" fmla="*/ 64 h 6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 h="64">
                  <a:moveTo>
                    <a:pt x="68" y="30"/>
                  </a:moveTo>
                  <a:lnTo>
                    <a:pt x="68" y="30"/>
                  </a:lnTo>
                  <a:lnTo>
                    <a:pt x="64" y="39"/>
                  </a:lnTo>
                  <a:lnTo>
                    <a:pt x="58" y="46"/>
                  </a:lnTo>
                  <a:lnTo>
                    <a:pt x="51" y="51"/>
                  </a:lnTo>
                  <a:lnTo>
                    <a:pt x="44" y="56"/>
                  </a:lnTo>
                  <a:lnTo>
                    <a:pt x="36" y="58"/>
                  </a:lnTo>
                  <a:lnTo>
                    <a:pt x="27" y="61"/>
                  </a:lnTo>
                  <a:lnTo>
                    <a:pt x="18" y="62"/>
                  </a:lnTo>
                  <a:lnTo>
                    <a:pt x="9" y="64"/>
                  </a:lnTo>
                  <a:lnTo>
                    <a:pt x="0" y="64"/>
                  </a:lnTo>
                  <a:lnTo>
                    <a:pt x="1" y="61"/>
                  </a:lnTo>
                  <a:lnTo>
                    <a:pt x="4" y="60"/>
                  </a:lnTo>
                  <a:lnTo>
                    <a:pt x="5" y="57"/>
                  </a:lnTo>
                  <a:lnTo>
                    <a:pt x="6" y="56"/>
                  </a:lnTo>
                  <a:lnTo>
                    <a:pt x="7" y="56"/>
                  </a:lnTo>
                  <a:lnTo>
                    <a:pt x="9" y="55"/>
                  </a:lnTo>
                  <a:lnTo>
                    <a:pt x="14" y="48"/>
                  </a:lnTo>
                  <a:lnTo>
                    <a:pt x="20" y="43"/>
                  </a:lnTo>
                  <a:lnTo>
                    <a:pt x="26" y="36"/>
                  </a:lnTo>
                  <a:lnTo>
                    <a:pt x="32" y="29"/>
                  </a:lnTo>
                  <a:lnTo>
                    <a:pt x="37" y="22"/>
                  </a:lnTo>
                  <a:lnTo>
                    <a:pt x="42" y="16"/>
                  </a:lnTo>
                  <a:lnTo>
                    <a:pt x="46" y="8"/>
                  </a:lnTo>
                  <a:lnTo>
                    <a:pt x="51" y="0"/>
                  </a:lnTo>
                  <a:lnTo>
                    <a:pt x="57" y="7"/>
                  </a:lnTo>
                  <a:lnTo>
                    <a:pt x="60" y="12"/>
                  </a:lnTo>
                  <a:lnTo>
                    <a:pt x="64" y="18"/>
                  </a:lnTo>
                  <a:lnTo>
                    <a:pt x="67" y="25"/>
                  </a:lnTo>
                  <a:lnTo>
                    <a:pt x="68" y="25"/>
                  </a:lnTo>
                  <a:lnTo>
                    <a:pt x="67" y="26"/>
                  </a:lnTo>
                  <a:lnTo>
                    <a:pt x="67" y="27"/>
                  </a:lnTo>
                  <a:lnTo>
                    <a:pt x="67" y="29"/>
                  </a:lnTo>
                  <a:lnTo>
                    <a:pt x="68" y="3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 name="Freeform 13"/>
            <p:cNvSpPr>
              <a:spLocks/>
            </p:cNvSpPr>
            <p:nvPr/>
          </p:nvSpPr>
          <p:spPr bwMode="auto">
            <a:xfrm>
              <a:off x="1973" y="3255"/>
              <a:ext cx="52" cy="49"/>
            </a:xfrm>
            <a:custGeom>
              <a:avLst/>
              <a:gdLst>
                <a:gd name="T0" fmla="*/ 51 w 52"/>
                <a:gd name="T1" fmla="*/ 32 h 49"/>
                <a:gd name="T2" fmla="*/ 47 w 52"/>
                <a:gd name="T3" fmla="*/ 40 h 49"/>
                <a:gd name="T4" fmla="*/ 42 w 52"/>
                <a:gd name="T5" fmla="*/ 45 h 49"/>
                <a:gd name="T6" fmla="*/ 37 w 52"/>
                <a:gd name="T7" fmla="*/ 48 h 49"/>
                <a:gd name="T8" fmla="*/ 30 w 52"/>
                <a:gd name="T9" fmla="*/ 49 h 49"/>
                <a:gd name="T10" fmla="*/ 22 w 52"/>
                <a:gd name="T11" fmla="*/ 49 h 49"/>
                <a:gd name="T12" fmla="*/ 16 w 52"/>
                <a:gd name="T13" fmla="*/ 48 h 49"/>
                <a:gd name="T14" fmla="*/ 8 w 52"/>
                <a:gd name="T15" fmla="*/ 45 h 49"/>
                <a:gd name="T16" fmla="*/ 0 w 52"/>
                <a:gd name="T17" fmla="*/ 43 h 49"/>
                <a:gd name="T18" fmla="*/ 2 w 52"/>
                <a:gd name="T19" fmla="*/ 41 h 49"/>
                <a:gd name="T20" fmla="*/ 5 w 52"/>
                <a:gd name="T21" fmla="*/ 39 h 49"/>
                <a:gd name="T22" fmla="*/ 11 w 52"/>
                <a:gd name="T23" fmla="*/ 34 h 49"/>
                <a:gd name="T24" fmla="*/ 17 w 52"/>
                <a:gd name="T25" fmla="*/ 27 h 49"/>
                <a:gd name="T26" fmla="*/ 24 w 52"/>
                <a:gd name="T27" fmla="*/ 21 h 49"/>
                <a:gd name="T28" fmla="*/ 30 w 52"/>
                <a:gd name="T29" fmla="*/ 14 h 49"/>
                <a:gd name="T30" fmla="*/ 37 w 52"/>
                <a:gd name="T31" fmla="*/ 6 h 49"/>
                <a:gd name="T32" fmla="*/ 42 w 52"/>
                <a:gd name="T33" fmla="*/ 0 h 49"/>
                <a:gd name="T34" fmla="*/ 46 w 52"/>
                <a:gd name="T35" fmla="*/ 9 h 49"/>
                <a:gd name="T36" fmla="*/ 49 w 52"/>
                <a:gd name="T37" fmla="*/ 17 h 49"/>
                <a:gd name="T38" fmla="*/ 52 w 52"/>
                <a:gd name="T39" fmla="*/ 24 h 49"/>
                <a:gd name="T40" fmla="*/ 51 w 52"/>
                <a:gd name="T41" fmla="*/ 32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2"/>
                <a:gd name="T64" fmla="*/ 0 h 49"/>
                <a:gd name="T65" fmla="*/ 52 w 52"/>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2" h="49">
                  <a:moveTo>
                    <a:pt x="51" y="32"/>
                  </a:moveTo>
                  <a:lnTo>
                    <a:pt x="47" y="40"/>
                  </a:lnTo>
                  <a:lnTo>
                    <a:pt x="42" y="45"/>
                  </a:lnTo>
                  <a:lnTo>
                    <a:pt x="37" y="48"/>
                  </a:lnTo>
                  <a:lnTo>
                    <a:pt x="30" y="49"/>
                  </a:lnTo>
                  <a:lnTo>
                    <a:pt x="22" y="49"/>
                  </a:lnTo>
                  <a:lnTo>
                    <a:pt x="16" y="48"/>
                  </a:lnTo>
                  <a:lnTo>
                    <a:pt x="8" y="45"/>
                  </a:lnTo>
                  <a:lnTo>
                    <a:pt x="0" y="43"/>
                  </a:lnTo>
                  <a:lnTo>
                    <a:pt x="2" y="41"/>
                  </a:lnTo>
                  <a:lnTo>
                    <a:pt x="5" y="39"/>
                  </a:lnTo>
                  <a:lnTo>
                    <a:pt x="11" y="34"/>
                  </a:lnTo>
                  <a:lnTo>
                    <a:pt x="17" y="27"/>
                  </a:lnTo>
                  <a:lnTo>
                    <a:pt x="24" y="21"/>
                  </a:lnTo>
                  <a:lnTo>
                    <a:pt x="30" y="14"/>
                  </a:lnTo>
                  <a:lnTo>
                    <a:pt x="37" y="6"/>
                  </a:lnTo>
                  <a:lnTo>
                    <a:pt x="42" y="0"/>
                  </a:lnTo>
                  <a:lnTo>
                    <a:pt x="46" y="9"/>
                  </a:lnTo>
                  <a:lnTo>
                    <a:pt x="49" y="17"/>
                  </a:lnTo>
                  <a:lnTo>
                    <a:pt x="52" y="24"/>
                  </a:lnTo>
                  <a:lnTo>
                    <a:pt x="51" y="3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4" name="Freeform 14"/>
            <p:cNvSpPr>
              <a:spLocks/>
            </p:cNvSpPr>
            <p:nvPr/>
          </p:nvSpPr>
          <p:spPr bwMode="auto">
            <a:xfrm>
              <a:off x="1400" y="3136"/>
              <a:ext cx="775" cy="285"/>
            </a:xfrm>
            <a:custGeom>
              <a:avLst/>
              <a:gdLst>
                <a:gd name="T0" fmla="*/ 652 w 775"/>
                <a:gd name="T1" fmla="*/ 190 h 285"/>
                <a:gd name="T2" fmla="*/ 630 w 775"/>
                <a:gd name="T3" fmla="*/ 221 h 285"/>
                <a:gd name="T4" fmla="*/ 606 w 775"/>
                <a:gd name="T5" fmla="*/ 251 h 285"/>
                <a:gd name="T6" fmla="*/ 577 w 775"/>
                <a:gd name="T7" fmla="*/ 273 h 285"/>
                <a:gd name="T8" fmla="*/ 542 w 775"/>
                <a:gd name="T9" fmla="*/ 283 h 285"/>
                <a:gd name="T10" fmla="*/ 503 w 775"/>
                <a:gd name="T11" fmla="*/ 285 h 285"/>
                <a:gd name="T12" fmla="*/ 466 w 775"/>
                <a:gd name="T13" fmla="*/ 278 h 285"/>
                <a:gd name="T14" fmla="*/ 428 w 775"/>
                <a:gd name="T15" fmla="*/ 267 h 285"/>
                <a:gd name="T16" fmla="*/ 386 w 775"/>
                <a:gd name="T17" fmla="*/ 251 h 285"/>
                <a:gd name="T18" fmla="*/ 335 w 775"/>
                <a:gd name="T19" fmla="*/ 232 h 285"/>
                <a:gd name="T20" fmla="*/ 286 w 775"/>
                <a:gd name="T21" fmla="*/ 212 h 285"/>
                <a:gd name="T22" fmla="*/ 234 w 775"/>
                <a:gd name="T23" fmla="*/ 193 h 285"/>
                <a:gd name="T24" fmla="*/ 184 w 775"/>
                <a:gd name="T25" fmla="*/ 172 h 285"/>
                <a:gd name="T26" fmla="*/ 133 w 775"/>
                <a:gd name="T27" fmla="*/ 153 h 285"/>
                <a:gd name="T28" fmla="*/ 84 w 775"/>
                <a:gd name="T29" fmla="*/ 132 h 285"/>
                <a:gd name="T30" fmla="*/ 35 w 775"/>
                <a:gd name="T31" fmla="*/ 111 h 285"/>
                <a:gd name="T32" fmla="*/ 9 w 775"/>
                <a:gd name="T33" fmla="*/ 98 h 285"/>
                <a:gd name="T34" fmla="*/ 1 w 775"/>
                <a:gd name="T35" fmla="*/ 84 h 285"/>
                <a:gd name="T36" fmla="*/ 9 w 775"/>
                <a:gd name="T37" fmla="*/ 83 h 285"/>
                <a:gd name="T38" fmla="*/ 31 w 775"/>
                <a:gd name="T39" fmla="*/ 92 h 285"/>
                <a:gd name="T40" fmla="*/ 54 w 775"/>
                <a:gd name="T41" fmla="*/ 101 h 285"/>
                <a:gd name="T42" fmla="*/ 76 w 775"/>
                <a:gd name="T43" fmla="*/ 110 h 285"/>
                <a:gd name="T44" fmla="*/ 111 w 775"/>
                <a:gd name="T45" fmla="*/ 127 h 285"/>
                <a:gd name="T46" fmla="*/ 158 w 775"/>
                <a:gd name="T47" fmla="*/ 146 h 285"/>
                <a:gd name="T48" fmla="*/ 198 w 775"/>
                <a:gd name="T49" fmla="*/ 160 h 285"/>
                <a:gd name="T50" fmla="*/ 232 w 775"/>
                <a:gd name="T51" fmla="*/ 172 h 285"/>
                <a:gd name="T52" fmla="*/ 264 w 775"/>
                <a:gd name="T53" fmla="*/ 184 h 285"/>
                <a:gd name="T54" fmla="*/ 296 w 775"/>
                <a:gd name="T55" fmla="*/ 195 h 285"/>
                <a:gd name="T56" fmla="*/ 329 w 775"/>
                <a:gd name="T57" fmla="*/ 207 h 285"/>
                <a:gd name="T58" fmla="*/ 361 w 775"/>
                <a:gd name="T59" fmla="*/ 219 h 285"/>
                <a:gd name="T60" fmla="*/ 393 w 775"/>
                <a:gd name="T61" fmla="*/ 230 h 285"/>
                <a:gd name="T62" fmla="*/ 426 w 775"/>
                <a:gd name="T63" fmla="*/ 241 h 285"/>
                <a:gd name="T64" fmla="*/ 458 w 775"/>
                <a:gd name="T65" fmla="*/ 251 h 285"/>
                <a:gd name="T66" fmla="*/ 492 w 775"/>
                <a:gd name="T67" fmla="*/ 260 h 285"/>
                <a:gd name="T68" fmla="*/ 514 w 775"/>
                <a:gd name="T69" fmla="*/ 265 h 285"/>
                <a:gd name="T70" fmla="*/ 531 w 775"/>
                <a:gd name="T71" fmla="*/ 267 h 285"/>
                <a:gd name="T72" fmla="*/ 549 w 775"/>
                <a:gd name="T73" fmla="*/ 264 h 285"/>
                <a:gd name="T74" fmla="*/ 573 w 775"/>
                <a:gd name="T75" fmla="*/ 247 h 285"/>
                <a:gd name="T76" fmla="*/ 597 w 775"/>
                <a:gd name="T77" fmla="*/ 220 h 285"/>
                <a:gd name="T78" fmla="*/ 616 w 775"/>
                <a:gd name="T79" fmla="*/ 194 h 285"/>
                <a:gd name="T80" fmla="*/ 629 w 775"/>
                <a:gd name="T81" fmla="*/ 176 h 285"/>
                <a:gd name="T82" fmla="*/ 638 w 775"/>
                <a:gd name="T83" fmla="*/ 167 h 285"/>
                <a:gd name="T84" fmla="*/ 643 w 775"/>
                <a:gd name="T85" fmla="*/ 162 h 285"/>
                <a:gd name="T86" fmla="*/ 659 w 775"/>
                <a:gd name="T87" fmla="*/ 145 h 285"/>
                <a:gd name="T88" fmla="*/ 676 w 775"/>
                <a:gd name="T89" fmla="*/ 125 h 285"/>
                <a:gd name="T90" fmla="*/ 692 w 775"/>
                <a:gd name="T91" fmla="*/ 101 h 285"/>
                <a:gd name="T92" fmla="*/ 707 w 775"/>
                <a:gd name="T93" fmla="*/ 79 h 285"/>
                <a:gd name="T94" fmla="*/ 720 w 775"/>
                <a:gd name="T95" fmla="*/ 66 h 285"/>
                <a:gd name="T96" fmla="*/ 726 w 775"/>
                <a:gd name="T97" fmla="*/ 58 h 285"/>
                <a:gd name="T98" fmla="*/ 734 w 775"/>
                <a:gd name="T99" fmla="*/ 44 h 285"/>
                <a:gd name="T100" fmla="*/ 738 w 775"/>
                <a:gd name="T101" fmla="*/ 36 h 285"/>
                <a:gd name="T102" fmla="*/ 752 w 775"/>
                <a:gd name="T103" fmla="*/ 11 h 285"/>
                <a:gd name="T104" fmla="*/ 762 w 775"/>
                <a:gd name="T105" fmla="*/ 5 h 285"/>
                <a:gd name="T106" fmla="*/ 773 w 775"/>
                <a:gd name="T107" fmla="*/ 17 h 285"/>
                <a:gd name="T108" fmla="*/ 762 w 775"/>
                <a:gd name="T109" fmla="*/ 40 h 285"/>
                <a:gd name="T110" fmla="*/ 735 w 775"/>
                <a:gd name="T111" fmla="*/ 79 h 285"/>
                <a:gd name="T112" fmla="*/ 707 w 775"/>
                <a:gd name="T113" fmla="*/ 118 h 285"/>
                <a:gd name="T114" fmla="*/ 678 w 775"/>
                <a:gd name="T115" fmla="*/ 156 h 28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775"/>
                <a:gd name="T175" fmla="*/ 0 h 285"/>
                <a:gd name="T176" fmla="*/ 775 w 775"/>
                <a:gd name="T177" fmla="*/ 285 h 28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775" h="285">
                  <a:moveTo>
                    <a:pt x="663" y="176"/>
                  </a:moveTo>
                  <a:lnTo>
                    <a:pt x="652" y="190"/>
                  </a:lnTo>
                  <a:lnTo>
                    <a:pt x="641" y="206"/>
                  </a:lnTo>
                  <a:lnTo>
                    <a:pt x="630" y="221"/>
                  </a:lnTo>
                  <a:lnTo>
                    <a:pt x="619" y="237"/>
                  </a:lnTo>
                  <a:lnTo>
                    <a:pt x="606" y="251"/>
                  </a:lnTo>
                  <a:lnTo>
                    <a:pt x="591" y="264"/>
                  </a:lnTo>
                  <a:lnTo>
                    <a:pt x="577" y="273"/>
                  </a:lnTo>
                  <a:lnTo>
                    <a:pt x="560" y="279"/>
                  </a:lnTo>
                  <a:lnTo>
                    <a:pt x="542" y="283"/>
                  </a:lnTo>
                  <a:lnTo>
                    <a:pt x="523" y="285"/>
                  </a:lnTo>
                  <a:lnTo>
                    <a:pt x="503" y="285"/>
                  </a:lnTo>
                  <a:lnTo>
                    <a:pt x="484" y="282"/>
                  </a:lnTo>
                  <a:lnTo>
                    <a:pt x="466" y="278"/>
                  </a:lnTo>
                  <a:lnTo>
                    <a:pt x="446" y="273"/>
                  </a:lnTo>
                  <a:lnTo>
                    <a:pt x="428" y="267"/>
                  </a:lnTo>
                  <a:lnTo>
                    <a:pt x="410" y="260"/>
                  </a:lnTo>
                  <a:lnTo>
                    <a:pt x="386" y="251"/>
                  </a:lnTo>
                  <a:lnTo>
                    <a:pt x="361" y="241"/>
                  </a:lnTo>
                  <a:lnTo>
                    <a:pt x="335" y="232"/>
                  </a:lnTo>
                  <a:lnTo>
                    <a:pt x="311" y="221"/>
                  </a:lnTo>
                  <a:lnTo>
                    <a:pt x="286" y="212"/>
                  </a:lnTo>
                  <a:lnTo>
                    <a:pt x="260" y="202"/>
                  </a:lnTo>
                  <a:lnTo>
                    <a:pt x="234" y="193"/>
                  </a:lnTo>
                  <a:lnTo>
                    <a:pt x="210" y="182"/>
                  </a:lnTo>
                  <a:lnTo>
                    <a:pt x="184" y="172"/>
                  </a:lnTo>
                  <a:lnTo>
                    <a:pt x="159" y="163"/>
                  </a:lnTo>
                  <a:lnTo>
                    <a:pt x="133" y="153"/>
                  </a:lnTo>
                  <a:lnTo>
                    <a:pt x="109" y="142"/>
                  </a:lnTo>
                  <a:lnTo>
                    <a:pt x="84" y="132"/>
                  </a:lnTo>
                  <a:lnTo>
                    <a:pt x="59" y="121"/>
                  </a:lnTo>
                  <a:lnTo>
                    <a:pt x="35" y="111"/>
                  </a:lnTo>
                  <a:lnTo>
                    <a:pt x="10" y="101"/>
                  </a:lnTo>
                  <a:lnTo>
                    <a:pt x="9" y="98"/>
                  </a:lnTo>
                  <a:lnTo>
                    <a:pt x="5" y="92"/>
                  </a:lnTo>
                  <a:lnTo>
                    <a:pt x="1" y="84"/>
                  </a:lnTo>
                  <a:lnTo>
                    <a:pt x="0" y="79"/>
                  </a:lnTo>
                  <a:lnTo>
                    <a:pt x="9" y="83"/>
                  </a:lnTo>
                  <a:lnTo>
                    <a:pt x="19" y="86"/>
                  </a:lnTo>
                  <a:lnTo>
                    <a:pt x="31" y="92"/>
                  </a:lnTo>
                  <a:lnTo>
                    <a:pt x="43" y="96"/>
                  </a:lnTo>
                  <a:lnTo>
                    <a:pt x="54" y="101"/>
                  </a:lnTo>
                  <a:lnTo>
                    <a:pt x="66" y="105"/>
                  </a:lnTo>
                  <a:lnTo>
                    <a:pt x="76" y="110"/>
                  </a:lnTo>
                  <a:lnTo>
                    <a:pt x="85" y="114"/>
                  </a:lnTo>
                  <a:lnTo>
                    <a:pt x="111" y="127"/>
                  </a:lnTo>
                  <a:lnTo>
                    <a:pt x="136" y="137"/>
                  </a:lnTo>
                  <a:lnTo>
                    <a:pt x="158" y="146"/>
                  </a:lnTo>
                  <a:lnTo>
                    <a:pt x="178" y="154"/>
                  </a:lnTo>
                  <a:lnTo>
                    <a:pt x="198" y="160"/>
                  </a:lnTo>
                  <a:lnTo>
                    <a:pt x="215" y="167"/>
                  </a:lnTo>
                  <a:lnTo>
                    <a:pt x="232" y="172"/>
                  </a:lnTo>
                  <a:lnTo>
                    <a:pt x="247" y="177"/>
                  </a:lnTo>
                  <a:lnTo>
                    <a:pt x="264" y="184"/>
                  </a:lnTo>
                  <a:lnTo>
                    <a:pt x="281" y="189"/>
                  </a:lnTo>
                  <a:lnTo>
                    <a:pt x="296" y="195"/>
                  </a:lnTo>
                  <a:lnTo>
                    <a:pt x="313" y="200"/>
                  </a:lnTo>
                  <a:lnTo>
                    <a:pt x="329" y="207"/>
                  </a:lnTo>
                  <a:lnTo>
                    <a:pt x="345" y="213"/>
                  </a:lnTo>
                  <a:lnTo>
                    <a:pt x="361" y="219"/>
                  </a:lnTo>
                  <a:lnTo>
                    <a:pt x="378" y="224"/>
                  </a:lnTo>
                  <a:lnTo>
                    <a:pt x="393" y="230"/>
                  </a:lnTo>
                  <a:lnTo>
                    <a:pt x="410" y="235"/>
                  </a:lnTo>
                  <a:lnTo>
                    <a:pt x="426" y="241"/>
                  </a:lnTo>
                  <a:lnTo>
                    <a:pt x="443" y="246"/>
                  </a:lnTo>
                  <a:lnTo>
                    <a:pt x="458" y="251"/>
                  </a:lnTo>
                  <a:lnTo>
                    <a:pt x="475" y="256"/>
                  </a:lnTo>
                  <a:lnTo>
                    <a:pt x="492" y="260"/>
                  </a:lnTo>
                  <a:lnTo>
                    <a:pt x="509" y="264"/>
                  </a:lnTo>
                  <a:lnTo>
                    <a:pt x="514" y="265"/>
                  </a:lnTo>
                  <a:lnTo>
                    <a:pt x="522" y="267"/>
                  </a:lnTo>
                  <a:lnTo>
                    <a:pt x="531" y="267"/>
                  </a:lnTo>
                  <a:lnTo>
                    <a:pt x="536" y="267"/>
                  </a:lnTo>
                  <a:lnTo>
                    <a:pt x="549" y="264"/>
                  </a:lnTo>
                  <a:lnTo>
                    <a:pt x="560" y="257"/>
                  </a:lnTo>
                  <a:lnTo>
                    <a:pt x="573" y="247"/>
                  </a:lnTo>
                  <a:lnTo>
                    <a:pt x="585" y="234"/>
                  </a:lnTo>
                  <a:lnTo>
                    <a:pt x="597" y="220"/>
                  </a:lnTo>
                  <a:lnTo>
                    <a:pt x="607" y="206"/>
                  </a:lnTo>
                  <a:lnTo>
                    <a:pt x="616" y="194"/>
                  </a:lnTo>
                  <a:lnTo>
                    <a:pt x="622" y="185"/>
                  </a:lnTo>
                  <a:lnTo>
                    <a:pt x="629" y="176"/>
                  </a:lnTo>
                  <a:lnTo>
                    <a:pt x="635" y="171"/>
                  </a:lnTo>
                  <a:lnTo>
                    <a:pt x="638" y="167"/>
                  </a:lnTo>
                  <a:lnTo>
                    <a:pt x="639" y="165"/>
                  </a:lnTo>
                  <a:lnTo>
                    <a:pt x="643" y="162"/>
                  </a:lnTo>
                  <a:lnTo>
                    <a:pt x="651" y="153"/>
                  </a:lnTo>
                  <a:lnTo>
                    <a:pt x="659" y="145"/>
                  </a:lnTo>
                  <a:lnTo>
                    <a:pt x="663" y="141"/>
                  </a:lnTo>
                  <a:lnTo>
                    <a:pt x="676" y="125"/>
                  </a:lnTo>
                  <a:lnTo>
                    <a:pt x="685" y="114"/>
                  </a:lnTo>
                  <a:lnTo>
                    <a:pt x="692" y="101"/>
                  </a:lnTo>
                  <a:lnTo>
                    <a:pt x="700" y="83"/>
                  </a:lnTo>
                  <a:lnTo>
                    <a:pt x="707" y="79"/>
                  </a:lnTo>
                  <a:lnTo>
                    <a:pt x="713" y="72"/>
                  </a:lnTo>
                  <a:lnTo>
                    <a:pt x="720" y="66"/>
                  </a:lnTo>
                  <a:lnTo>
                    <a:pt x="725" y="61"/>
                  </a:lnTo>
                  <a:lnTo>
                    <a:pt x="726" y="58"/>
                  </a:lnTo>
                  <a:lnTo>
                    <a:pt x="730" y="52"/>
                  </a:lnTo>
                  <a:lnTo>
                    <a:pt x="734" y="44"/>
                  </a:lnTo>
                  <a:lnTo>
                    <a:pt x="735" y="40"/>
                  </a:lnTo>
                  <a:lnTo>
                    <a:pt x="738" y="36"/>
                  </a:lnTo>
                  <a:lnTo>
                    <a:pt x="744" y="26"/>
                  </a:lnTo>
                  <a:lnTo>
                    <a:pt x="752" y="11"/>
                  </a:lnTo>
                  <a:lnTo>
                    <a:pt x="758" y="0"/>
                  </a:lnTo>
                  <a:lnTo>
                    <a:pt x="762" y="5"/>
                  </a:lnTo>
                  <a:lnTo>
                    <a:pt x="767" y="11"/>
                  </a:lnTo>
                  <a:lnTo>
                    <a:pt x="773" y="17"/>
                  </a:lnTo>
                  <a:lnTo>
                    <a:pt x="775" y="20"/>
                  </a:lnTo>
                  <a:lnTo>
                    <a:pt x="762" y="40"/>
                  </a:lnTo>
                  <a:lnTo>
                    <a:pt x="749" y="59"/>
                  </a:lnTo>
                  <a:lnTo>
                    <a:pt x="735" y="79"/>
                  </a:lnTo>
                  <a:lnTo>
                    <a:pt x="721" y="98"/>
                  </a:lnTo>
                  <a:lnTo>
                    <a:pt x="707" y="118"/>
                  </a:lnTo>
                  <a:lnTo>
                    <a:pt x="692" y="137"/>
                  </a:lnTo>
                  <a:lnTo>
                    <a:pt x="678" y="156"/>
                  </a:lnTo>
                  <a:lnTo>
                    <a:pt x="663" y="176"/>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5" name="Freeform 15"/>
            <p:cNvSpPr>
              <a:spLocks/>
            </p:cNvSpPr>
            <p:nvPr/>
          </p:nvSpPr>
          <p:spPr bwMode="auto">
            <a:xfrm>
              <a:off x="1991" y="2949"/>
              <a:ext cx="237" cy="188"/>
            </a:xfrm>
            <a:custGeom>
              <a:avLst/>
              <a:gdLst>
                <a:gd name="T0" fmla="*/ 197 w 237"/>
                <a:gd name="T1" fmla="*/ 188 h 188"/>
                <a:gd name="T2" fmla="*/ 191 w 237"/>
                <a:gd name="T3" fmla="*/ 179 h 188"/>
                <a:gd name="T4" fmla="*/ 183 w 237"/>
                <a:gd name="T5" fmla="*/ 170 h 188"/>
                <a:gd name="T6" fmla="*/ 175 w 237"/>
                <a:gd name="T7" fmla="*/ 162 h 188"/>
                <a:gd name="T8" fmla="*/ 167 w 237"/>
                <a:gd name="T9" fmla="*/ 153 h 188"/>
                <a:gd name="T10" fmla="*/ 160 w 237"/>
                <a:gd name="T11" fmla="*/ 145 h 188"/>
                <a:gd name="T12" fmla="*/ 152 w 237"/>
                <a:gd name="T13" fmla="*/ 136 h 188"/>
                <a:gd name="T14" fmla="*/ 144 w 237"/>
                <a:gd name="T15" fmla="*/ 128 h 188"/>
                <a:gd name="T16" fmla="*/ 136 w 237"/>
                <a:gd name="T17" fmla="*/ 119 h 188"/>
                <a:gd name="T18" fmla="*/ 123 w 237"/>
                <a:gd name="T19" fmla="*/ 105 h 188"/>
                <a:gd name="T20" fmla="*/ 110 w 237"/>
                <a:gd name="T21" fmla="*/ 95 h 188"/>
                <a:gd name="T22" fmla="*/ 95 w 237"/>
                <a:gd name="T23" fmla="*/ 86 h 188"/>
                <a:gd name="T24" fmla="*/ 78 w 237"/>
                <a:gd name="T25" fmla="*/ 78 h 188"/>
                <a:gd name="T26" fmla="*/ 61 w 237"/>
                <a:gd name="T27" fmla="*/ 73 h 188"/>
                <a:gd name="T28" fmla="*/ 44 w 237"/>
                <a:gd name="T29" fmla="*/ 66 h 188"/>
                <a:gd name="T30" fmla="*/ 28 w 237"/>
                <a:gd name="T31" fmla="*/ 60 h 188"/>
                <a:gd name="T32" fmla="*/ 11 w 237"/>
                <a:gd name="T33" fmla="*/ 53 h 188"/>
                <a:gd name="T34" fmla="*/ 7 w 237"/>
                <a:gd name="T35" fmla="*/ 51 h 188"/>
                <a:gd name="T36" fmla="*/ 4 w 237"/>
                <a:gd name="T37" fmla="*/ 48 h 188"/>
                <a:gd name="T38" fmla="*/ 2 w 237"/>
                <a:gd name="T39" fmla="*/ 45 h 188"/>
                <a:gd name="T40" fmla="*/ 0 w 237"/>
                <a:gd name="T41" fmla="*/ 42 h 188"/>
                <a:gd name="T42" fmla="*/ 0 w 237"/>
                <a:gd name="T43" fmla="*/ 31 h 188"/>
                <a:gd name="T44" fmla="*/ 4 w 237"/>
                <a:gd name="T45" fmla="*/ 21 h 188"/>
                <a:gd name="T46" fmla="*/ 9 w 237"/>
                <a:gd name="T47" fmla="*/ 13 h 188"/>
                <a:gd name="T48" fmla="*/ 20 w 237"/>
                <a:gd name="T49" fmla="*/ 8 h 188"/>
                <a:gd name="T50" fmla="*/ 33 w 237"/>
                <a:gd name="T51" fmla="*/ 4 h 188"/>
                <a:gd name="T52" fmla="*/ 47 w 237"/>
                <a:gd name="T53" fmla="*/ 1 h 188"/>
                <a:gd name="T54" fmla="*/ 61 w 237"/>
                <a:gd name="T55" fmla="*/ 0 h 188"/>
                <a:gd name="T56" fmla="*/ 75 w 237"/>
                <a:gd name="T57" fmla="*/ 1 h 188"/>
                <a:gd name="T58" fmla="*/ 90 w 237"/>
                <a:gd name="T59" fmla="*/ 4 h 188"/>
                <a:gd name="T60" fmla="*/ 103 w 237"/>
                <a:gd name="T61" fmla="*/ 8 h 188"/>
                <a:gd name="T62" fmla="*/ 116 w 237"/>
                <a:gd name="T63" fmla="*/ 13 h 188"/>
                <a:gd name="T64" fmla="*/ 129 w 237"/>
                <a:gd name="T65" fmla="*/ 20 h 188"/>
                <a:gd name="T66" fmla="*/ 145 w 237"/>
                <a:gd name="T67" fmla="*/ 30 h 188"/>
                <a:gd name="T68" fmla="*/ 161 w 237"/>
                <a:gd name="T69" fmla="*/ 42 h 188"/>
                <a:gd name="T70" fmla="*/ 175 w 237"/>
                <a:gd name="T71" fmla="*/ 53 h 188"/>
                <a:gd name="T72" fmla="*/ 188 w 237"/>
                <a:gd name="T73" fmla="*/ 68 h 188"/>
                <a:gd name="T74" fmla="*/ 201 w 237"/>
                <a:gd name="T75" fmla="*/ 82 h 188"/>
                <a:gd name="T76" fmla="*/ 213 w 237"/>
                <a:gd name="T77" fmla="*/ 97 h 188"/>
                <a:gd name="T78" fmla="*/ 226 w 237"/>
                <a:gd name="T79" fmla="*/ 112 h 188"/>
                <a:gd name="T80" fmla="*/ 237 w 237"/>
                <a:gd name="T81" fmla="*/ 127 h 188"/>
                <a:gd name="T82" fmla="*/ 232 w 237"/>
                <a:gd name="T83" fmla="*/ 135 h 188"/>
                <a:gd name="T84" fmla="*/ 227 w 237"/>
                <a:gd name="T85" fmla="*/ 143 h 188"/>
                <a:gd name="T86" fmla="*/ 222 w 237"/>
                <a:gd name="T87" fmla="*/ 150 h 188"/>
                <a:gd name="T88" fmla="*/ 218 w 237"/>
                <a:gd name="T89" fmla="*/ 158 h 188"/>
                <a:gd name="T90" fmla="*/ 213 w 237"/>
                <a:gd name="T91" fmla="*/ 166 h 188"/>
                <a:gd name="T92" fmla="*/ 208 w 237"/>
                <a:gd name="T93" fmla="*/ 174 h 188"/>
                <a:gd name="T94" fmla="*/ 202 w 237"/>
                <a:gd name="T95" fmla="*/ 180 h 188"/>
                <a:gd name="T96" fmla="*/ 197 w 237"/>
                <a:gd name="T97" fmla="*/ 188 h 1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37"/>
                <a:gd name="T148" fmla="*/ 0 h 188"/>
                <a:gd name="T149" fmla="*/ 237 w 237"/>
                <a:gd name="T150" fmla="*/ 188 h 1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37" h="188">
                  <a:moveTo>
                    <a:pt x="197" y="188"/>
                  </a:moveTo>
                  <a:lnTo>
                    <a:pt x="191" y="179"/>
                  </a:lnTo>
                  <a:lnTo>
                    <a:pt x="183" y="170"/>
                  </a:lnTo>
                  <a:lnTo>
                    <a:pt x="175" y="162"/>
                  </a:lnTo>
                  <a:lnTo>
                    <a:pt x="167" y="153"/>
                  </a:lnTo>
                  <a:lnTo>
                    <a:pt x="160" y="145"/>
                  </a:lnTo>
                  <a:lnTo>
                    <a:pt x="152" y="136"/>
                  </a:lnTo>
                  <a:lnTo>
                    <a:pt x="144" y="128"/>
                  </a:lnTo>
                  <a:lnTo>
                    <a:pt x="136" y="119"/>
                  </a:lnTo>
                  <a:lnTo>
                    <a:pt x="123" y="105"/>
                  </a:lnTo>
                  <a:lnTo>
                    <a:pt x="110" y="95"/>
                  </a:lnTo>
                  <a:lnTo>
                    <a:pt x="95" y="86"/>
                  </a:lnTo>
                  <a:lnTo>
                    <a:pt x="78" y="78"/>
                  </a:lnTo>
                  <a:lnTo>
                    <a:pt x="61" y="73"/>
                  </a:lnTo>
                  <a:lnTo>
                    <a:pt x="44" y="66"/>
                  </a:lnTo>
                  <a:lnTo>
                    <a:pt x="28" y="60"/>
                  </a:lnTo>
                  <a:lnTo>
                    <a:pt x="11" y="53"/>
                  </a:lnTo>
                  <a:lnTo>
                    <a:pt x="7" y="51"/>
                  </a:lnTo>
                  <a:lnTo>
                    <a:pt x="4" y="48"/>
                  </a:lnTo>
                  <a:lnTo>
                    <a:pt x="2" y="45"/>
                  </a:lnTo>
                  <a:lnTo>
                    <a:pt x="0" y="42"/>
                  </a:lnTo>
                  <a:lnTo>
                    <a:pt x="0" y="31"/>
                  </a:lnTo>
                  <a:lnTo>
                    <a:pt x="4" y="21"/>
                  </a:lnTo>
                  <a:lnTo>
                    <a:pt x="9" y="13"/>
                  </a:lnTo>
                  <a:lnTo>
                    <a:pt x="20" y="8"/>
                  </a:lnTo>
                  <a:lnTo>
                    <a:pt x="33" y="4"/>
                  </a:lnTo>
                  <a:lnTo>
                    <a:pt x="47" y="1"/>
                  </a:lnTo>
                  <a:lnTo>
                    <a:pt x="61" y="0"/>
                  </a:lnTo>
                  <a:lnTo>
                    <a:pt x="75" y="1"/>
                  </a:lnTo>
                  <a:lnTo>
                    <a:pt x="90" y="4"/>
                  </a:lnTo>
                  <a:lnTo>
                    <a:pt x="103" y="8"/>
                  </a:lnTo>
                  <a:lnTo>
                    <a:pt x="116" y="13"/>
                  </a:lnTo>
                  <a:lnTo>
                    <a:pt x="129" y="20"/>
                  </a:lnTo>
                  <a:lnTo>
                    <a:pt x="145" y="30"/>
                  </a:lnTo>
                  <a:lnTo>
                    <a:pt x="161" y="42"/>
                  </a:lnTo>
                  <a:lnTo>
                    <a:pt x="175" y="53"/>
                  </a:lnTo>
                  <a:lnTo>
                    <a:pt x="188" y="68"/>
                  </a:lnTo>
                  <a:lnTo>
                    <a:pt x="201" y="82"/>
                  </a:lnTo>
                  <a:lnTo>
                    <a:pt x="213" y="97"/>
                  </a:lnTo>
                  <a:lnTo>
                    <a:pt x="226" y="112"/>
                  </a:lnTo>
                  <a:lnTo>
                    <a:pt x="237" y="127"/>
                  </a:lnTo>
                  <a:lnTo>
                    <a:pt x="232" y="135"/>
                  </a:lnTo>
                  <a:lnTo>
                    <a:pt x="227" y="143"/>
                  </a:lnTo>
                  <a:lnTo>
                    <a:pt x="222" y="150"/>
                  </a:lnTo>
                  <a:lnTo>
                    <a:pt x="218" y="158"/>
                  </a:lnTo>
                  <a:lnTo>
                    <a:pt x="213" y="166"/>
                  </a:lnTo>
                  <a:lnTo>
                    <a:pt x="208" y="174"/>
                  </a:lnTo>
                  <a:lnTo>
                    <a:pt x="202" y="180"/>
                  </a:lnTo>
                  <a:lnTo>
                    <a:pt x="197" y="188"/>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6" name="Freeform 16"/>
            <p:cNvSpPr>
              <a:spLocks/>
            </p:cNvSpPr>
            <p:nvPr/>
          </p:nvSpPr>
          <p:spPr bwMode="auto">
            <a:xfrm>
              <a:off x="2226" y="2783"/>
              <a:ext cx="164" cy="275"/>
            </a:xfrm>
            <a:custGeom>
              <a:avLst/>
              <a:gdLst>
                <a:gd name="T0" fmla="*/ 160 w 164"/>
                <a:gd name="T1" fmla="*/ 91 h 275"/>
                <a:gd name="T2" fmla="*/ 142 w 164"/>
                <a:gd name="T3" fmla="*/ 112 h 275"/>
                <a:gd name="T4" fmla="*/ 125 w 164"/>
                <a:gd name="T5" fmla="*/ 132 h 275"/>
                <a:gd name="T6" fmla="*/ 108 w 164"/>
                <a:gd name="T7" fmla="*/ 155 h 275"/>
                <a:gd name="T8" fmla="*/ 92 w 164"/>
                <a:gd name="T9" fmla="*/ 175 h 275"/>
                <a:gd name="T10" fmla="*/ 75 w 164"/>
                <a:gd name="T11" fmla="*/ 197 h 275"/>
                <a:gd name="T12" fmla="*/ 58 w 164"/>
                <a:gd name="T13" fmla="*/ 218 h 275"/>
                <a:gd name="T14" fmla="*/ 41 w 164"/>
                <a:gd name="T15" fmla="*/ 240 h 275"/>
                <a:gd name="T16" fmla="*/ 23 w 164"/>
                <a:gd name="T17" fmla="*/ 261 h 275"/>
                <a:gd name="T18" fmla="*/ 19 w 164"/>
                <a:gd name="T19" fmla="*/ 266 h 275"/>
                <a:gd name="T20" fmla="*/ 17 w 164"/>
                <a:gd name="T21" fmla="*/ 267 h 275"/>
                <a:gd name="T22" fmla="*/ 14 w 164"/>
                <a:gd name="T23" fmla="*/ 270 h 275"/>
                <a:gd name="T24" fmla="*/ 10 w 164"/>
                <a:gd name="T25" fmla="*/ 275 h 275"/>
                <a:gd name="T26" fmla="*/ 7 w 164"/>
                <a:gd name="T27" fmla="*/ 270 h 275"/>
                <a:gd name="T28" fmla="*/ 4 w 164"/>
                <a:gd name="T29" fmla="*/ 266 h 275"/>
                <a:gd name="T30" fmla="*/ 1 w 164"/>
                <a:gd name="T31" fmla="*/ 262 h 275"/>
                <a:gd name="T32" fmla="*/ 0 w 164"/>
                <a:gd name="T33" fmla="*/ 261 h 275"/>
                <a:gd name="T34" fmla="*/ 5 w 164"/>
                <a:gd name="T35" fmla="*/ 253 h 275"/>
                <a:gd name="T36" fmla="*/ 10 w 164"/>
                <a:gd name="T37" fmla="*/ 248 h 275"/>
                <a:gd name="T38" fmla="*/ 15 w 164"/>
                <a:gd name="T39" fmla="*/ 241 h 275"/>
                <a:gd name="T40" fmla="*/ 22 w 164"/>
                <a:gd name="T41" fmla="*/ 234 h 275"/>
                <a:gd name="T42" fmla="*/ 23 w 164"/>
                <a:gd name="T43" fmla="*/ 232 h 275"/>
                <a:gd name="T44" fmla="*/ 28 w 164"/>
                <a:gd name="T45" fmla="*/ 230 h 275"/>
                <a:gd name="T46" fmla="*/ 33 w 164"/>
                <a:gd name="T47" fmla="*/ 227 h 275"/>
                <a:gd name="T48" fmla="*/ 40 w 164"/>
                <a:gd name="T49" fmla="*/ 222 h 275"/>
                <a:gd name="T50" fmla="*/ 46 w 164"/>
                <a:gd name="T51" fmla="*/ 215 h 275"/>
                <a:gd name="T52" fmla="*/ 50 w 164"/>
                <a:gd name="T53" fmla="*/ 208 h 275"/>
                <a:gd name="T54" fmla="*/ 53 w 164"/>
                <a:gd name="T55" fmla="*/ 199 h 275"/>
                <a:gd name="T56" fmla="*/ 51 w 164"/>
                <a:gd name="T57" fmla="*/ 188 h 275"/>
                <a:gd name="T58" fmla="*/ 55 w 164"/>
                <a:gd name="T59" fmla="*/ 179 h 275"/>
                <a:gd name="T60" fmla="*/ 66 w 164"/>
                <a:gd name="T61" fmla="*/ 165 h 275"/>
                <a:gd name="T62" fmla="*/ 77 w 164"/>
                <a:gd name="T63" fmla="*/ 149 h 275"/>
                <a:gd name="T64" fmla="*/ 88 w 164"/>
                <a:gd name="T65" fmla="*/ 135 h 275"/>
                <a:gd name="T66" fmla="*/ 92 w 164"/>
                <a:gd name="T67" fmla="*/ 132 h 275"/>
                <a:gd name="T68" fmla="*/ 95 w 164"/>
                <a:gd name="T69" fmla="*/ 130 h 275"/>
                <a:gd name="T70" fmla="*/ 99 w 164"/>
                <a:gd name="T71" fmla="*/ 127 h 275"/>
                <a:gd name="T72" fmla="*/ 102 w 164"/>
                <a:gd name="T73" fmla="*/ 125 h 275"/>
                <a:gd name="T74" fmla="*/ 114 w 164"/>
                <a:gd name="T75" fmla="*/ 112 h 275"/>
                <a:gd name="T76" fmla="*/ 120 w 164"/>
                <a:gd name="T77" fmla="*/ 95 h 275"/>
                <a:gd name="T78" fmla="*/ 120 w 164"/>
                <a:gd name="T79" fmla="*/ 79 h 275"/>
                <a:gd name="T80" fmla="*/ 115 w 164"/>
                <a:gd name="T81" fmla="*/ 63 h 275"/>
                <a:gd name="T82" fmla="*/ 110 w 164"/>
                <a:gd name="T83" fmla="*/ 53 h 275"/>
                <a:gd name="T84" fmla="*/ 102 w 164"/>
                <a:gd name="T85" fmla="*/ 35 h 275"/>
                <a:gd name="T86" fmla="*/ 92 w 164"/>
                <a:gd name="T87" fmla="*/ 16 h 275"/>
                <a:gd name="T88" fmla="*/ 83 w 164"/>
                <a:gd name="T89" fmla="*/ 0 h 275"/>
                <a:gd name="T90" fmla="*/ 90 w 164"/>
                <a:gd name="T91" fmla="*/ 4 h 275"/>
                <a:gd name="T92" fmla="*/ 103 w 164"/>
                <a:gd name="T93" fmla="*/ 11 h 275"/>
                <a:gd name="T94" fmla="*/ 119 w 164"/>
                <a:gd name="T95" fmla="*/ 20 h 275"/>
                <a:gd name="T96" fmla="*/ 134 w 164"/>
                <a:gd name="T97" fmla="*/ 31 h 275"/>
                <a:gd name="T98" fmla="*/ 149 w 164"/>
                <a:gd name="T99" fmla="*/ 44 h 275"/>
                <a:gd name="T100" fmla="*/ 159 w 164"/>
                <a:gd name="T101" fmla="*/ 59 h 275"/>
                <a:gd name="T102" fmla="*/ 164 w 164"/>
                <a:gd name="T103" fmla="*/ 74 h 275"/>
                <a:gd name="T104" fmla="*/ 160 w 164"/>
                <a:gd name="T105" fmla="*/ 91 h 27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4"/>
                <a:gd name="T160" fmla="*/ 0 h 275"/>
                <a:gd name="T161" fmla="*/ 164 w 164"/>
                <a:gd name="T162" fmla="*/ 275 h 275"/>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4" h="275">
                  <a:moveTo>
                    <a:pt x="160" y="91"/>
                  </a:moveTo>
                  <a:lnTo>
                    <a:pt x="142" y="112"/>
                  </a:lnTo>
                  <a:lnTo>
                    <a:pt x="125" y="132"/>
                  </a:lnTo>
                  <a:lnTo>
                    <a:pt x="108" y="155"/>
                  </a:lnTo>
                  <a:lnTo>
                    <a:pt x="92" y="175"/>
                  </a:lnTo>
                  <a:lnTo>
                    <a:pt x="75" y="197"/>
                  </a:lnTo>
                  <a:lnTo>
                    <a:pt x="58" y="218"/>
                  </a:lnTo>
                  <a:lnTo>
                    <a:pt x="41" y="240"/>
                  </a:lnTo>
                  <a:lnTo>
                    <a:pt x="23" y="261"/>
                  </a:lnTo>
                  <a:lnTo>
                    <a:pt x="19" y="266"/>
                  </a:lnTo>
                  <a:lnTo>
                    <a:pt x="17" y="267"/>
                  </a:lnTo>
                  <a:lnTo>
                    <a:pt x="14" y="270"/>
                  </a:lnTo>
                  <a:lnTo>
                    <a:pt x="10" y="275"/>
                  </a:lnTo>
                  <a:lnTo>
                    <a:pt x="7" y="270"/>
                  </a:lnTo>
                  <a:lnTo>
                    <a:pt x="4" y="266"/>
                  </a:lnTo>
                  <a:lnTo>
                    <a:pt x="1" y="262"/>
                  </a:lnTo>
                  <a:lnTo>
                    <a:pt x="0" y="261"/>
                  </a:lnTo>
                  <a:lnTo>
                    <a:pt x="5" y="253"/>
                  </a:lnTo>
                  <a:lnTo>
                    <a:pt x="10" y="248"/>
                  </a:lnTo>
                  <a:lnTo>
                    <a:pt x="15" y="241"/>
                  </a:lnTo>
                  <a:lnTo>
                    <a:pt x="22" y="234"/>
                  </a:lnTo>
                  <a:lnTo>
                    <a:pt x="23" y="232"/>
                  </a:lnTo>
                  <a:lnTo>
                    <a:pt x="28" y="230"/>
                  </a:lnTo>
                  <a:lnTo>
                    <a:pt x="33" y="227"/>
                  </a:lnTo>
                  <a:lnTo>
                    <a:pt x="40" y="222"/>
                  </a:lnTo>
                  <a:lnTo>
                    <a:pt x="46" y="215"/>
                  </a:lnTo>
                  <a:lnTo>
                    <a:pt x="50" y="208"/>
                  </a:lnTo>
                  <a:lnTo>
                    <a:pt x="53" y="199"/>
                  </a:lnTo>
                  <a:lnTo>
                    <a:pt x="51" y="188"/>
                  </a:lnTo>
                  <a:lnTo>
                    <a:pt x="55" y="179"/>
                  </a:lnTo>
                  <a:lnTo>
                    <a:pt x="66" y="165"/>
                  </a:lnTo>
                  <a:lnTo>
                    <a:pt x="77" y="149"/>
                  </a:lnTo>
                  <a:lnTo>
                    <a:pt x="88" y="135"/>
                  </a:lnTo>
                  <a:lnTo>
                    <a:pt x="92" y="132"/>
                  </a:lnTo>
                  <a:lnTo>
                    <a:pt x="95" y="130"/>
                  </a:lnTo>
                  <a:lnTo>
                    <a:pt x="99" y="127"/>
                  </a:lnTo>
                  <a:lnTo>
                    <a:pt x="102" y="125"/>
                  </a:lnTo>
                  <a:lnTo>
                    <a:pt x="114" y="112"/>
                  </a:lnTo>
                  <a:lnTo>
                    <a:pt x="120" y="95"/>
                  </a:lnTo>
                  <a:lnTo>
                    <a:pt x="120" y="79"/>
                  </a:lnTo>
                  <a:lnTo>
                    <a:pt x="115" y="63"/>
                  </a:lnTo>
                  <a:lnTo>
                    <a:pt x="110" y="53"/>
                  </a:lnTo>
                  <a:lnTo>
                    <a:pt x="102" y="35"/>
                  </a:lnTo>
                  <a:lnTo>
                    <a:pt x="92" y="16"/>
                  </a:lnTo>
                  <a:lnTo>
                    <a:pt x="83" y="0"/>
                  </a:lnTo>
                  <a:lnTo>
                    <a:pt x="90" y="4"/>
                  </a:lnTo>
                  <a:lnTo>
                    <a:pt x="103" y="11"/>
                  </a:lnTo>
                  <a:lnTo>
                    <a:pt x="119" y="20"/>
                  </a:lnTo>
                  <a:lnTo>
                    <a:pt x="134" y="31"/>
                  </a:lnTo>
                  <a:lnTo>
                    <a:pt x="149" y="44"/>
                  </a:lnTo>
                  <a:lnTo>
                    <a:pt x="159" y="59"/>
                  </a:lnTo>
                  <a:lnTo>
                    <a:pt x="164" y="74"/>
                  </a:lnTo>
                  <a:lnTo>
                    <a:pt x="160" y="91"/>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7" name="Freeform 17"/>
            <p:cNvSpPr>
              <a:spLocks/>
            </p:cNvSpPr>
            <p:nvPr/>
          </p:nvSpPr>
          <p:spPr bwMode="auto">
            <a:xfrm>
              <a:off x="2209" y="2945"/>
              <a:ext cx="57" cy="57"/>
            </a:xfrm>
            <a:custGeom>
              <a:avLst/>
              <a:gdLst>
                <a:gd name="T0" fmla="*/ 0 w 57"/>
                <a:gd name="T1" fmla="*/ 52 h 57"/>
                <a:gd name="T2" fmla="*/ 5 w 57"/>
                <a:gd name="T3" fmla="*/ 44 h 57"/>
                <a:gd name="T4" fmla="*/ 12 w 57"/>
                <a:gd name="T5" fmla="*/ 37 h 57"/>
                <a:gd name="T6" fmla="*/ 18 w 57"/>
                <a:gd name="T7" fmla="*/ 27 h 57"/>
                <a:gd name="T8" fmla="*/ 24 w 57"/>
                <a:gd name="T9" fmla="*/ 20 h 57"/>
                <a:gd name="T10" fmla="*/ 30 w 57"/>
                <a:gd name="T11" fmla="*/ 12 h 57"/>
                <a:gd name="T12" fmla="*/ 35 w 57"/>
                <a:gd name="T13" fmla="*/ 7 h 57"/>
                <a:gd name="T14" fmla="*/ 39 w 57"/>
                <a:gd name="T15" fmla="*/ 2 h 57"/>
                <a:gd name="T16" fmla="*/ 41 w 57"/>
                <a:gd name="T17" fmla="*/ 0 h 57"/>
                <a:gd name="T18" fmla="*/ 46 w 57"/>
                <a:gd name="T19" fmla="*/ 7 h 57"/>
                <a:gd name="T20" fmla="*/ 52 w 57"/>
                <a:gd name="T21" fmla="*/ 16 h 57"/>
                <a:gd name="T22" fmla="*/ 57 w 57"/>
                <a:gd name="T23" fmla="*/ 27 h 57"/>
                <a:gd name="T24" fmla="*/ 57 w 57"/>
                <a:gd name="T25" fmla="*/ 35 h 57"/>
                <a:gd name="T26" fmla="*/ 53 w 57"/>
                <a:gd name="T27" fmla="*/ 43 h 57"/>
                <a:gd name="T28" fmla="*/ 49 w 57"/>
                <a:gd name="T29" fmla="*/ 49 h 57"/>
                <a:gd name="T30" fmla="*/ 43 w 57"/>
                <a:gd name="T31" fmla="*/ 53 h 57"/>
                <a:gd name="T32" fmla="*/ 35 w 57"/>
                <a:gd name="T33" fmla="*/ 56 h 57"/>
                <a:gd name="T34" fmla="*/ 27 w 57"/>
                <a:gd name="T35" fmla="*/ 57 h 57"/>
                <a:gd name="T36" fmla="*/ 18 w 57"/>
                <a:gd name="T37" fmla="*/ 57 h 57"/>
                <a:gd name="T38" fmla="*/ 9 w 57"/>
                <a:gd name="T39" fmla="*/ 55 h 57"/>
                <a:gd name="T40" fmla="*/ 0 w 57"/>
                <a:gd name="T41" fmla="*/ 52 h 5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
                <a:gd name="T64" fmla="*/ 0 h 57"/>
                <a:gd name="T65" fmla="*/ 57 w 57"/>
                <a:gd name="T66" fmla="*/ 57 h 5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 h="57">
                  <a:moveTo>
                    <a:pt x="0" y="52"/>
                  </a:moveTo>
                  <a:lnTo>
                    <a:pt x="5" y="44"/>
                  </a:lnTo>
                  <a:lnTo>
                    <a:pt x="12" y="37"/>
                  </a:lnTo>
                  <a:lnTo>
                    <a:pt x="18" y="27"/>
                  </a:lnTo>
                  <a:lnTo>
                    <a:pt x="24" y="20"/>
                  </a:lnTo>
                  <a:lnTo>
                    <a:pt x="30" y="12"/>
                  </a:lnTo>
                  <a:lnTo>
                    <a:pt x="35" y="7"/>
                  </a:lnTo>
                  <a:lnTo>
                    <a:pt x="39" y="2"/>
                  </a:lnTo>
                  <a:lnTo>
                    <a:pt x="41" y="0"/>
                  </a:lnTo>
                  <a:lnTo>
                    <a:pt x="46" y="7"/>
                  </a:lnTo>
                  <a:lnTo>
                    <a:pt x="52" y="16"/>
                  </a:lnTo>
                  <a:lnTo>
                    <a:pt x="57" y="27"/>
                  </a:lnTo>
                  <a:lnTo>
                    <a:pt x="57" y="35"/>
                  </a:lnTo>
                  <a:lnTo>
                    <a:pt x="53" y="43"/>
                  </a:lnTo>
                  <a:lnTo>
                    <a:pt x="49" y="49"/>
                  </a:lnTo>
                  <a:lnTo>
                    <a:pt x="43" y="53"/>
                  </a:lnTo>
                  <a:lnTo>
                    <a:pt x="35" y="56"/>
                  </a:lnTo>
                  <a:lnTo>
                    <a:pt x="27" y="57"/>
                  </a:lnTo>
                  <a:lnTo>
                    <a:pt x="18" y="57"/>
                  </a:lnTo>
                  <a:lnTo>
                    <a:pt x="9" y="55"/>
                  </a:lnTo>
                  <a:lnTo>
                    <a:pt x="0" y="5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8" name="Freeform 18"/>
            <p:cNvSpPr>
              <a:spLocks/>
            </p:cNvSpPr>
            <p:nvPr/>
          </p:nvSpPr>
          <p:spPr bwMode="auto">
            <a:xfrm>
              <a:off x="2034" y="2963"/>
              <a:ext cx="51" cy="41"/>
            </a:xfrm>
            <a:custGeom>
              <a:avLst/>
              <a:gdLst>
                <a:gd name="T0" fmla="*/ 26 w 51"/>
                <a:gd name="T1" fmla="*/ 0 h 41"/>
                <a:gd name="T2" fmla="*/ 16 w 51"/>
                <a:gd name="T3" fmla="*/ 2 h 41"/>
                <a:gd name="T4" fmla="*/ 8 w 51"/>
                <a:gd name="T5" fmla="*/ 7 h 41"/>
                <a:gd name="T6" fmla="*/ 3 w 51"/>
                <a:gd name="T7" fmla="*/ 13 h 41"/>
                <a:gd name="T8" fmla="*/ 0 w 51"/>
                <a:gd name="T9" fmla="*/ 21 h 41"/>
                <a:gd name="T10" fmla="*/ 3 w 51"/>
                <a:gd name="T11" fmla="*/ 29 h 41"/>
                <a:gd name="T12" fmla="*/ 8 w 51"/>
                <a:gd name="T13" fmla="*/ 34 h 41"/>
                <a:gd name="T14" fmla="*/ 16 w 51"/>
                <a:gd name="T15" fmla="*/ 39 h 41"/>
                <a:gd name="T16" fmla="*/ 26 w 51"/>
                <a:gd name="T17" fmla="*/ 41 h 41"/>
                <a:gd name="T18" fmla="*/ 35 w 51"/>
                <a:gd name="T19" fmla="*/ 39 h 41"/>
                <a:gd name="T20" fmla="*/ 43 w 51"/>
                <a:gd name="T21" fmla="*/ 34 h 41"/>
                <a:gd name="T22" fmla="*/ 48 w 51"/>
                <a:gd name="T23" fmla="*/ 29 h 41"/>
                <a:gd name="T24" fmla="*/ 51 w 51"/>
                <a:gd name="T25" fmla="*/ 21 h 41"/>
                <a:gd name="T26" fmla="*/ 48 w 51"/>
                <a:gd name="T27" fmla="*/ 13 h 41"/>
                <a:gd name="T28" fmla="*/ 43 w 51"/>
                <a:gd name="T29" fmla="*/ 7 h 41"/>
                <a:gd name="T30" fmla="*/ 35 w 51"/>
                <a:gd name="T31" fmla="*/ 2 h 41"/>
                <a:gd name="T32" fmla="*/ 26 w 51"/>
                <a:gd name="T33" fmla="*/ 0 h 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1"/>
                <a:gd name="T52" fmla="*/ 0 h 41"/>
                <a:gd name="T53" fmla="*/ 51 w 51"/>
                <a:gd name="T54" fmla="*/ 41 h 4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1" h="41">
                  <a:moveTo>
                    <a:pt x="26" y="0"/>
                  </a:moveTo>
                  <a:lnTo>
                    <a:pt x="16" y="2"/>
                  </a:lnTo>
                  <a:lnTo>
                    <a:pt x="8" y="7"/>
                  </a:lnTo>
                  <a:lnTo>
                    <a:pt x="3" y="13"/>
                  </a:lnTo>
                  <a:lnTo>
                    <a:pt x="0" y="21"/>
                  </a:lnTo>
                  <a:lnTo>
                    <a:pt x="3" y="29"/>
                  </a:lnTo>
                  <a:lnTo>
                    <a:pt x="8" y="34"/>
                  </a:lnTo>
                  <a:lnTo>
                    <a:pt x="16" y="39"/>
                  </a:lnTo>
                  <a:lnTo>
                    <a:pt x="26" y="41"/>
                  </a:lnTo>
                  <a:lnTo>
                    <a:pt x="35" y="39"/>
                  </a:lnTo>
                  <a:lnTo>
                    <a:pt x="43" y="34"/>
                  </a:lnTo>
                  <a:lnTo>
                    <a:pt x="48" y="29"/>
                  </a:lnTo>
                  <a:lnTo>
                    <a:pt x="51" y="21"/>
                  </a:lnTo>
                  <a:lnTo>
                    <a:pt x="48" y="13"/>
                  </a:lnTo>
                  <a:lnTo>
                    <a:pt x="43" y="7"/>
                  </a:lnTo>
                  <a:lnTo>
                    <a:pt x="35" y="2"/>
                  </a:lnTo>
                  <a:lnTo>
                    <a:pt x="2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96" name="Text Box 67"/>
          <p:cNvSpPr txBox="1">
            <a:spLocks noChangeArrowheads="1"/>
          </p:cNvSpPr>
          <p:nvPr/>
        </p:nvSpPr>
        <p:spPr bwMode="auto">
          <a:xfrm>
            <a:off x="6748671" y="4781894"/>
            <a:ext cx="194468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1800" b="1" dirty="0">
                <a:solidFill>
                  <a:srgbClr val="008000"/>
                </a:solidFill>
              </a:rPr>
              <a:t>phone: 324-6600</a:t>
            </a:r>
          </a:p>
        </p:txBody>
      </p:sp>
      <p:grpSp>
        <p:nvGrpSpPr>
          <p:cNvPr id="97" name="Group 76"/>
          <p:cNvGrpSpPr>
            <a:grpSpLocks/>
          </p:cNvGrpSpPr>
          <p:nvPr/>
        </p:nvGrpSpPr>
        <p:grpSpPr bwMode="auto">
          <a:xfrm>
            <a:off x="8367713" y="34925"/>
            <a:ext cx="741362" cy="792163"/>
            <a:chOff x="3777" y="1768"/>
            <a:chExt cx="467" cy="499"/>
          </a:xfrm>
        </p:grpSpPr>
        <p:sp>
          <p:nvSpPr>
            <p:cNvPr id="98" name="Rectangle 77"/>
            <p:cNvSpPr>
              <a:spLocks noChangeArrowheads="1"/>
            </p:cNvSpPr>
            <p:nvPr/>
          </p:nvSpPr>
          <p:spPr bwMode="hidden">
            <a:xfrm>
              <a:off x="3777" y="176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9" name="AutoShape 78"/>
            <p:cNvSpPr>
              <a:spLocks noChangeArrowheads="1"/>
            </p:cNvSpPr>
            <p:nvPr/>
          </p:nvSpPr>
          <p:spPr bwMode="hidden">
            <a:xfrm rot="18896145" flipH="1">
              <a:off x="3789" y="1841"/>
              <a:ext cx="353" cy="353"/>
            </a:xfrm>
            <a:prstGeom prst="rtTriangle">
              <a:avLst/>
            </a:prstGeom>
            <a:solidFill>
              <a:srgbClr val="33CC3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grpSp>
        <p:nvGrpSpPr>
          <p:cNvPr id="100" name="Group 79"/>
          <p:cNvGrpSpPr>
            <a:grpSpLocks/>
          </p:cNvGrpSpPr>
          <p:nvPr/>
        </p:nvGrpSpPr>
        <p:grpSpPr bwMode="auto">
          <a:xfrm>
            <a:off x="8367713" y="34925"/>
            <a:ext cx="741362" cy="792163"/>
            <a:chOff x="2967" y="1718"/>
            <a:chExt cx="467" cy="499"/>
          </a:xfrm>
        </p:grpSpPr>
        <p:sp>
          <p:nvSpPr>
            <p:cNvPr id="101" name="Rectangle 80"/>
            <p:cNvSpPr>
              <a:spLocks noChangeArrowheads="1"/>
            </p:cNvSpPr>
            <p:nvPr/>
          </p:nvSpPr>
          <p:spPr bwMode="hidden">
            <a:xfrm>
              <a:off x="2967" y="171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02" name="Rectangle 81"/>
            <p:cNvSpPr>
              <a:spLocks noChangeArrowheads="1"/>
            </p:cNvSpPr>
            <p:nvPr/>
          </p:nvSpPr>
          <p:spPr bwMode="hidden">
            <a:xfrm>
              <a:off x="3043" y="1810"/>
              <a:ext cx="315" cy="31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sp>
        <p:nvSpPr>
          <p:cNvPr id="103" name="Line 68"/>
          <p:cNvSpPr>
            <a:spLocks noChangeShapeType="1"/>
          </p:cNvSpPr>
          <p:nvPr/>
        </p:nvSpPr>
        <p:spPr bwMode="auto">
          <a:xfrm flipH="1">
            <a:off x="6517203" y="4547899"/>
            <a:ext cx="1987550" cy="280987"/>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extLst>
      <p:ext uri="{BB962C8B-B14F-4D97-AF65-F5344CB8AC3E}">
        <p14:creationId xmlns:p14="http://schemas.microsoft.com/office/powerpoint/2010/main" val="324423195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6"/>
                                        </p:tgtEl>
                                        <p:attrNameLst>
                                          <p:attrName>style.visibility</p:attrName>
                                        </p:attrNameLst>
                                      </p:cBhvr>
                                      <p:to>
                                        <p:strVal val="visible"/>
                                      </p:to>
                                    </p:set>
                                    <p:animEffect transition="in" filter="wipe(down)">
                                      <p:cBhvr>
                                        <p:cTn id="7" dur="500"/>
                                        <p:tgtEl>
                                          <p:spTgt spid="9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03"/>
                                        </p:tgtEl>
                                        <p:attrNameLst>
                                          <p:attrName>style.visibility</p:attrName>
                                        </p:attrNameLst>
                                      </p:cBhvr>
                                      <p:to>
                                        <p:strVal val="visible"/>
                                      </p:to>
                                    </p:set>
                                    <p:animEffect transition="in" filter="wipe(down)">
                                      <p:cBhvr>
                                        <p:cTn id="10" dur="500"/>
                                        <p:tgtEl>
                                          <p:spTgt spid="103"/>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9470"/>
                                        </p:tgtEl>
                                        <p:attrNameLst>
                                          <p:attrName>style.visibility</p:attrName>
                                        </p:attrNameLst>
                                      </p:cBhvr>
                                      <p:to>
                                        <p:strVal val="visible"/>
                                      </p:to>
                                    </p:set>
                                    <p:animEffect transition="in" filter="wipe(down)">
                                      <p:cBhvr>
                                        <p:cTn id="13" dur="500"/>
                                        <p:tgtEl>
                                          <p:spTgt spid="19470"/>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9468"/>
                                        </p:tgtEl>
                                        <p:attrNameLst>
                                          <p:attrName>style.visibility</p:attrName>
                                        </p:attrNameLst>
                                      </p:cBhvr>
                                      <p:to>
                                        <p:strVal val="visible"/>
                                      </p:to>
                                    </p:set>
                                    <p:animEffect transition="in" filter="wipe(down)">
                                      <p:cBhvr>
                                        <p:cTn id="16" dur="500"/>
                                        <p:tgtEl>
                                          <p:spTgt spid="1946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down)">
                                      <p:cBhvr>
                                        <p:cTn id="21" dur="500"/>
                                        <p:tgtEl>
                                          <p:spTgt spid="6"/>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2612300"/>
                                        </p:tgtEl>
                                        <p:attrNameLst>
                                          <p:attrName>style.visibility</p:attrName>
                                        </p:attrNameLst>
                                      </p:cBhvr>
                                      <p:to>
                                        <p:strVal val="visible"/>
                                      </p:to>
                                    </p:set>
                                    <p:animEffect transition="in" filter="wipe(down)">
                                      <p:cBhvr>
                                        <p:cTn id="24" dur="500"/>
                                        <p:tgtEl>
                                          <p:spTgt spid="2612300"/>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2612299"/>
                                        </p:tgtEl>
                                        <p:attrNameLst>
                                          <p:attrName>style.visibility</p:attrName>
                                        </p:attrNameLst>
                                      </p:cBhvr>
                                      <p:to>
                                        <p:strVal val="visible"/>
                                      </p:to>
                                    </p:set>
                                    <p:animEffect transition="in" filter="wipe(down)">
                                      <p:cBhvr>
                                        <p:cTn id="27" dur="500"/>
                                        <p:tgtEl>
                                          <p:spTgt spid="2612299"/>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2612291"/>
                                        </p:tgtEl>
                                        <p:attrNameLst>
                                          <p:attrName>style.visibility</p:attrName>
                                        </p:attrNameLst>
                                      </p:cBhvr>
                                      <p:to>
                                        <p:strVal val="visible"/>
                                      </p:to>
                                    </p:set>
                                    <p:animEffect transition="in" filter="wipe(down)">
                                      <p:cBhvr>
                                        <p:cTn id="30" dur="500"/>
                                        <p:tgtEl>
                                          <p:spTgt spid="2612291"/>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2612292"/>
                                        </p:tgtEl>
                                        <p:attrNameLst>
                                          <p:attrName>style.visibility</p:attrName>
                                        </p:attrNameLst>
                                      </p:cBhvr>
                                      <p:to>
                                        <p:strVal val="visible"/>
                                      </p:to>
                                    </p:set>
                                    <p:animEffect transition="in" filter="wipe(down)">
                                      <p:cBhvr>
                                        <p:cTn id="33" dur="500"/>
                                        <p:tgtEl>
                                          <p:spTgt spid="2612292"/>
                                        </p:tgtEl>
                                      </p:cBhvr>
                                    </p:animEffect>
                                  </p:childTnLst>
                                </p:cTn>
                              </p:par>
                            </p:childTnLst>
                          </p:cTn>
                        </p:par>
                        <p:par>
                          <p:cTn id="34" fill="hold">
                            <p:stCondLst>
                              <p:cond delay="500"/>
                            </p:stCondLst>
                            <p:childTnLst>
                              <p:par>
                                <p:cTn id="35" presetID="17" presetClass="entr" presetSubtype="10" fill="hold" nodeType="afterEffect">
                                  <p:stCondLst>
                                    <p:cond delay="0"/>
                                  </p:stCondLst>
                                  <p:childTnLst>
                                    <p:set>
                                      <p:cBhvr>
                                        <p:cTn id="36" dur="1" fill="hold">
                                          <p:stCondLst>
                                            <p:cond delay="0"/>
                                          </p:stCondLst>
                                        </p:cTn>
                                        <p:tgtEl>
                                          <p:spTgt spid="100"/>
                                        </p:tgtEl>
                                        <p:attrNameLst>
                                          <p:attrName>style.visibility</p:attrName>
                                        </p:attrNameLst>
                                      </p:cBhvr>
                                      <p:to>
                                        <p:strVal val="visible"/>
                                      </p:to>
                                    </p:set>
                                    <p:anim calcmode="lin" valueType="num">
                                      <p:cBhvr>
                                        <p:cTn id="37" dur="500" fill="hold"/>
                                        <p:tgtEl>
                                          <p:spTgt spid="100"/>
                                        </p:tgtEl>
                                        <p:attrNameLst>
                                          <p:attrName>ppt_w</p:attrName>
                                        </p:attrNameLst>
                                      </p:cBhvr>
                                      <p:tavLst>
                                        <p:tav tm="0">
                                          <p:val>
                                            <p:fltVal val="0"/>
                                          </p:val>
                                        </p:tav>
                                        <p:tav tm="100000">
                                          <p:val>
                                            <p:strVal val="#ppt_w"/>
                                          </p:val>
                                        </p:tav>
                                      </p:tavLst>
                                    </p:anim>
                                    <p:anim calcmode="lin" valueType="num">
                                      <p:cBhvr>
                                        <p:cTn id="38" dur="500" fill="hold"/>
                                        <p:tgtEl>
                                          <p:spTgt spid="10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8" grpId="0" animBg="1"/>
      <p:bldP spid="19470" grpId="0"/>
      <p:bldP spid="2612291" grpId="0"/>
      <p:bldP spid="2612292" grpId="0" animBg="1"/>
      <p:bldP spid="2612299" grpId="0" animBg="1"/>
      <p:bldP spid="2612300" grpId="0"/>
      <p:bldP spid="96" grpId="0"/>
      <p:bldP spid="10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|EOS~019|</a:t>
            </a:r>
            <a:endParaRPr lang="en-US" sz="100" dirty="0" err="1" smtClean="0">
              <a:solidFill>
                <a:srgbClr val="FFFFFF"/>
              </a:solidFill>
              <a:latin typeface="Arial"/>
              <a:cs typeface="Calibri" pitchFamily="34" charset="0"/>
            </a:endParaRPr>
          </a:p>
        </p:txBody>
      </p:sp>
      <p:sp>
        <p:nvSpPr>
          <p:cNvPr id="20482" name="Rectangle 2"/>
          <p:cNvSpPr>
            <a:spLocks noGrp="1" noChangeArrowheads="1"/>
          </p:cNvSpPr>
          <p:nvPr>
            <p:ph type="title"/>
          </p:nvPr>
        </p:nvSpPr>
        <p:spPr/>
        <p:txBody>
          <a:bodyPr/>
          <a:lstStyle/>
          <a:p>
            <a:pPr eaLnBrk="1" hangingPunct="1"/>
            <a:r>
              <a:rPr lang="en-US" smtClean="0"/>
              <a:t>Adding a contact within Address Book</a:t>
            </a:r>
          </a:p>
        </p:txBody>
      </p:sp>
      <p:sp>
        <p:nvSpPr>
          <p:cNvPr id="20485" name="Rectangle 19"/>
          <p:cNvSpPr>
            <a:spLocks noChangeArrowheads="1"/>
          </p:cNvSpPr>
          <p:nvPr/>
        </p:nvSpPr>
        <p:spPr bwMode="auto">
          <a:xfrm>
            <a:off x="544513" y="1076325"/>
            <a:ext cx="3517900" cy="5327650"/>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486" name="Rectangle 20"/>
          <p:cNvSpPr>
            <a:spLocks noChangeArrowheads="1"/>
          </p:cNvSpPr>
          <p:nvPr/>
        </p:nvSpPr>
        <p:spPr bwMode="auto">
          <a:xfrm>
            <a:off x="5351463" y="1104900"/>
            <a:ext cx="3517900" cy="5327650"/>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487" name="AutoShape 21"/>
          <p:cNvSpPr>
            <a:spLocks noChangeArrowheads="1"/>
          </p:cNvSpPr>
          <p:nvPr/>
        </p:nvSpPr>
        <p:spPr bwMode="auto">
          <a:xfrm>
            <a:off x="5513388" y="3319728"/>
            <a:ext cx="984250" cy="98425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20488" name="Text Box 22"/>
          <p:cNvSpPr txBox="1">
            <a:spLocks noChangeArrowheads="1"/>
          </p:cNvSpPr>
          <p:nvPr/>
        </p:nvSpPr>
        <p:spPr bwMode="auto">
          <a:xfrm>
            <a:off x="6565900" y="3594366"/>
            <a:ext cx="22320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1800" b="1" dirty="0"/>
              <a:t>Quake City Explosives Inc. (AB)</a:t>
            </a:r>
          </a:p>
        </p:txBody>
      </p:sp>
      <p:sp>
        <p:nvSpPr>
          <p:cNvPr id="20489" name="Text Box 23"/>
          <p:cNvSpPr txBox="1">
            <a:spLocks noChangeArrowheads="1"/>
          </p:cNvSpPr>
          <p:nvPr/>
        </p:nvSpPr>
        <p:spPr bwMode="auto">
          <a:xfrm>
            <a:off x="6419922" y="3146343"/>
            <a:ext cx="1900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1800" b="1" dirty="0">
                <a:solidFill>
                  <a:srgbClr val="C00000"/>
                </a:solidFill>
              </a:rPr>
              <a:t>Adding a Contact</a:t>
            </a:r>
          </a:p>
        </p:txBody>
      </p:sp>
      <p:sp>
        <p:nvSpPr>
          <p:cNvPr id="20490" name="AutoShape 24"/>
          <p:cNvSpPr>
            <a:spLocks noChangeArrowheads="1"/>
          </p:cNvSpPr>
          <p:nvPr/>
        </p:nvSpPr>
        <p:spPr bwMode="auto">
          <a:xfrm rot="2186541">
            <a:off x="5319713" y="3075253"/>
            <a:ext cx="636587" cy="636588"/>
          </a:xfrm>
          <a:prstGeom prst="star4">
            <a:avLst>
              <a:gd name="adj" fmla="val 14102"/>
            </a:avLst>
          </a:prstGeom>
          <a:solidFill>
            <a:schemeClr val="folHlink"/>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60" name="Text Box 3"/>
          <p:cNvSpPr txBox="1">
            <a:spLocks noChangeArrowheads="1"/>
          </p:cNvSpPr>
          <p:nvPr/>
        </p:nvSpPr>
        <p:spPr bwMode="auto">
          <a:xfrm>
            <a:off x="7107238" y="1164992"/>
            <a:ext cx="11080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1800" b="1"/>
              <a:t>Address</a:t>
            </a:r>
            <a:br>
              <a:rPr lang="en-US" sz="1800" b="1"/>
            </a:br>
            <a:r>
              <a:rPr lang="en-US" sz="1800" b="1"/>
              <a:t>Book</a:t>
            </a:r>
          </a:p>
        </p:txBody>
      </p:sp>
      <p:grpSp>
        <p:nvGrpSpPr>
          <p:cNvPr id="61" name="Group 4"/>
          <p:cNvGrpSpPr>
            <a:grpSpLocks/>
          </p:cNvGrpSpPr>
          <p:nvPr/>
        </p:nvGrpSpPr>
        <p:grpSpPr bwMode="auto">
          <a:xfrm>
            <a:off x="5975350" y="936392"/>
            <a:ext cx="1109663" cy="969963"/>
            <a:chOff x="1305" y="2500"/>
            <a:chExt cx="1138" cy="995"/>
          </a:xfrm>
        </p:grpSpPr>
        <p:sp>
          <p:nvSpPr>
            <p:cNvPr id="62" name="Freeform 5"/>
            <p:cNvSpPr>
              <a:spLocks/>
            </p:cNvSpPr>
            <p:nvPr/>
          </p:nvSpPr>
          <p:spPr bwMode="auto">
            <a:xfrm>
              <a:off x="1305" y="2500"/>
              <a:ext cx="1138" cy="995"/>
            </a:xfrm>
            <a:custGeom>
              <a:avLst/>
              <a:gdLst>
                <a:gd name="T0" fmla="*/ 444 w 1138"/>
                <a:gd name="T1" fmla="*/ 1 h 995"/>
                <a:gd name="T2" fmla="*/ 490 w 1138"/>
                <a:gd name="T3" fmla="*/ 0 h 995"/>
                <a:gd name="T4" fmla="*/ 532 w 1138"/>
                <a:gd name="T5" fmla="*/ 10 h 995"/>
                <a:gd name="T6" fmla="*/ 600 w 1138"/>
                <a:gd name="T7" fmla="*/ 40 h 995"/>
                <a:gd name="T8" fmla="*/ 668 w 1138"/>
                <a:gd name="T9" fmla="*/ 66 h 995"/>
                <a:gd name="T10" fmla="*/ 737 w 1138"/>
                <a:gd name="T11" fmla="*/ 85 h 995"/>
                <a:gd name="T12" fmla="*/ 808 w 1138"/>
                <a:gd name="T13" fmla="*/ 101 h 995"/>
                <a:gd name="T14" fmla="*/ 882 w 1138"/>
                <a:gd name="T15" fmla="*/ 111 h 995"/>
                <a:gd name="T16" fmla="*/ 953 w 1138"/>
                <a:gd name="T17" fmla="*/ 125 h 995"/>
                <a:gd name="T18" fmla="*/ 1011 w 1138"/>
                <a:gd name="T19" fmla="*/ 163 h 995"/>
                <a:gd name="T20" fmla="*/ 1036 w 1138"/>
                <a:gd name="T21" fmla="*/ 228 h 995"/>
                <a:gd name="T22" fmla="*/ 1082 w 1138"/>
                <a:gd name="T23" fmla="*/ 252 h 995"/>
                <a:gd name="T24" fmla="*/ 1120 w 1138"/>
                <a:gd name="T25" fmla="*/ 287 h 995"/>
                <a:gd name="T26" fmla="*/ 1137 w 1138"/>
                <a:gd name="T27" fmla="*/ 342 h 995"/>
                <a:gd name="T28" fmla="*/ 1134 w 1138"/>
                <a:gd name="T29" fmla="*/ 405 h 995"/>
                <a:gd name="T30" fmla="*/ 1111 w 1138"/>
                <a:gd name="T31" fmla="*/ 463 h 995"/>
                <a:gd name="T32" fmla="*/ 1068 w 1138"/>
                <a:gd name="T33" fmla="*/ 515 h 995"/>
                <a:gd name="T34" fmla="*/ 1026 w 1138"/>
                <a:gd name="T35" fmla="*/ 568 h 995"/>
                <a:gd name="T36" fmla="*/ 984 w 1138"/>
                <a:gd name="T37" fmla="*/ 627 h 995"/>
                <a:gd name="T38" fmla="*/ 965 w 1138"/>
                <a:gd name="T39" fmla="*/ 646 h 995"/>
                <a:gd name="T40" fmla="*/ 947 w 1138"/>
                <a:gd name="T41" fmla="*/ 664 h 995"/>
                <a:gd name="T42" fmla="*/ 918 w 1138"/>
                <a:gd name="T43" fmla="*/ 712 h 995"/>
                <a:gd name="T44" fmla="*/ 864 w 1138"/>
                <a:gd name="T45" fmla="*/ 796 h 995"/>
                <a:gd name="T46" fmla="*/ 802 w 1138"/>
                <a:gd name="T47" fmla="*/ 881 h 995"/>
                <a:gd name="T48" fmla="*/ 763 w 1138"/>
                <a:gd name="T49" fmla="*/ 927 h 995"/>
                <a:gd name="T50" fmla="*/ 741 w 1138"/>
                <a:gd name="T51" fmla="*/ 950 h 995"/>
                <a:gd name="T52" fmla="*/ 715 w 1138"/>
                <a:gd name="T53" fmla="*/ 963 h 995"/>
                <a:gd name="T54" fmla="*/ 670 w 1138"/>
                <a:gd name="T55" fmla="*/ 975 h 995"/>
                <a:gd name="T56" fmla="*/ 627 w 1138"/>
                <a:gd name="T57" fmla="*/ 985 h 995"/>
                <a:gd name="T58" fmla="*/ 584 w 1138"/>
                <a:gd name="T59" fmla="*/ 993 h 995"/>
                <a:gd name="T60" fmla="*/ 543 w 1138"/>
                <a:gd name="T61" fmla="*/ 995 h 995"/>
                <a:gd name="T62" fmla="*/ 500 w 1138"/>
                <a:gd name="T63" fmla="*/ 988 h 995"/>
                <a:gd name="T64" fmla="*/ 464 w 1138"/>
                <a:gd name="T65" fmla="*/ 975 h 995"/>
                <a:gd name="T66" fmla="*/ 421 w 1138"/>
                <a:gd name="T67" fmla="*/ 953 h 995"/>
                <a:gd name="T68" fmla="*/ 369 w 1138"/>
                <a:gd name="T69" fmla="*/ 925 h 995"/>
                <a:gd name="T70" fmla="*/ 317 w 1138"/>
                <a:gd name="T71" fmla="*/ 899 h 995"/>
                <a:gd name="T72" fmla="*/ 275 w 1138"/>
                <a:gd name="T73" fmla="*/ 878 h 995"/>
                <a:gd name="T74" fmla="*/ 219 w 1138"/>
                <a:gd name="T75" fmla="*/ 861 h 995"/>
                <a:gd name="T76" fmla="*/ 151 w 1138"/>
                <a:gd name="T77" fmla="*/ 851 h 995"/>
                <a:gd name="T78" fmla="*/ 86 w 1138"/>
                <a:gd name="T79" fmla="*/ 827 h 995"/>
                <a:gd name="T80" fmla="*/ 18 w 1138"/>
                <a:gd name="T81" fmla="*/ 764 h 995"/>
                <a:gd name="T82" fmla="*/ 0 w 1138"/>
                <a:gd name="T83" fmla="*/ 678 h 995"/>
                <a:gd name="T84" fmla="*/ 15 w 1138"/>
                <a:gd name="T85" fmla="*/ 590 h 995"/>
                <a:gd name="T86" fmla="*/ 52 w 1138"/>
                <a:gd name="T87" fmla="*/ 520 h 995"/>
                <a:gd name="T88" fmla="*/ 110 w 1138"/>
                <a:gd name="T89" fmla="*/ 462 h 995"/>
                <a:gd name="T90" fmla="*/ 166 w 1138"/>
                <a:gd name="T91" fmla="*/ 392 h 995"/>
                <a:gd name="T92" fmla="*/ 217 w 1138"/>
                <a:gd name="T93" fmla="*/ 316 h 995"/>
                <a:gd name="T94" fmla="*/ 263 w 1138"/>
                <a:gd name="T95" fmla="*/ 239 h 995"/>
                <a:gd name="T96" fmla="*/ 308 w 1138"/>
                <a:gd name="T97" fmla="*/ 156 h 995"/>
                <a:gd name="T98" fmla="*/ 365 w 1138"/>
                <a:gd name="T99" fmla="*/ 58 h 995"/>
                <a:gd name="T100" fmla="*/ 413 w 1138"/>
                <a:gd name="T101" fmla="*/ 5 h 99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38"/>
                <a:gd name="T154" fmla="*/ 0 h 995"/>
                <a:gd name="T155" fmla="*/ 1138 w 1138"/>
                <a:gd name="T156" fmla="*/ 995 h 99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38" h="995">
                  <a:moveTo>
                    <a:pt x="413" y="5"/>
                  </a:moveTo>
                  <a:lnTo>
                    <a:pt x="429" y="2"/>
                  </a:lnTo>
                  <a:lnTo>
                    <a:pt x="444" y="1"/>
                  </a:lnTo>
                  <a:lnTo>
                    <a:pt x="460" y="0"/>
                  </a:lnTo>
                  <a:lnTo>
                    <a:pt x="475" y="0"/>
                  </a:lnTo>
                  <a:lnTo>
                    <a:pt x="490" y="0"/>
                  </a:lnTo>
                  <a:lnTo>
                    <a:pt x="504" y="2"/>
                  </a:lnTo>
                  <a:lnTo>
                    <a:pt x="518" y="5"/>
                  </a:lnTo>
                  <a:lnTo>
                    <a:pt x="532" y="10"/>
                  </a:lnTo>
                  <a:lnTo>
                    <a:pt x="554" y="20"/>
                  </a:lnTo>
                  <a:lnTo>
                    <a:pt x="578" y="31"/>
                  </a:lnTo>
                  <a:lnTo>
                    <a:pt x="600" y="40"/>
                  </a:lnTo>
                  <a:lnTo>
                    <a:pt x="623" y="49"/>
                  </a:lnTo>
                  <a:lnTo>
                    <a:pt x="645" y="57"/>
                  </a:lnTo>
                  <a:lnTo>
                    <a:pt x="668" y="66"/>
                  </a:lnTo>
                  <a:lnTo>
                    <a:pt x="692" y="72"/>
                  </a:lnTo>
                  <a:lnTo>
                    <a:pt x="714" y="79"/>
                  </a:lnTo>
                  <a:lnTo>
                    <a:pt x="737" y="85"/>
                  </a:lnTo>
                  <a:lnTo>
                    <a:pt x="760" y="92"/>
                  </a:lnTo>
                  <a:lnTo>
                    <a:pt x="785" y="97"/>
                  </a:lnTo>
                  <a:lnTo>
                    <a:pt x="808" y="101"/>
                  </a:lnTo>
                  <a:lnTo>
                    <a:pt x="833" y="105"/>
                  </a:lnTo>
                  <a:lnTo>
                    <a:pt x="857" y="108"/>
                  </a:lnTo>
                  <a:lnTo>
                    <a:pt x="882" y="111"/>
                  </a:lnTo>
                  <a:lnTo>
                    <a:pt x="906" y="114"/>
                  </a:lnTo>
                  <a:lnTo>
                    <a:pt x="930" y="119"/>
                  </a:lnTo>
                  <a:lnTo>
                    <a:pt x="953" y="125"/>
                  </a:lnTo>
                  <a:lnTo>
                    <a:pt x="975" y="136"/>
                  </a:lnTo>
                  <a:lnTo>
                    <a:pt x="994" y="147"/>
                  </a:lnTo>
                  <a:lnTo>
                    <a:pt x="1011" y="163"/>
                  </a:lnTo>
                  <a:lnTo>
                    <a:pt x="1024" y="181"/>
                  </a:lnTo>
                  <a:lnTo>
                    <a:pt x="1033" y="202"/>
                  </a:lnTo>
                  <a:lnTo>
                    <a:pt x="1036" y="228"/>
                  </a:lnTo>
                  <a:lnTo>
                    <a:pt x="1051" y="235"/>
                  </a:lnTo>
                  <a:lnTo>
                    <a:pt x="1067" y="243"/>
                  </a:lnTo>
                  <a:lnTo>
                    <a:pt x="1082" y="252"/>
                  </a:lnTo>
                  <a:lnTo>
                    <a:pt x="1097" y="263"/>
                  </a:lnTo>
                  <a:lnTo>
                    <a:pt x="1110" y="274"/>
                  </a:lnTo>
                  <a:lnTo>
                    <a:pt x="1120" y="287"/>
                  </a:lnTo>
                  <a:lnTo>
                    <a:pt x="1129" y="303"/>
                  </a:lnTo>
                  <a:lnTo>
                    <a:pt x="1134" y="321"/>
                  </a:lnTo>
                  <a:lnTo>
                    <a:pt x="1137" y="342"/>
                  </a:lnTo>
                  <a:lnTo>
                    <a:pt x="1138" y="364"/>
                  </a:lnTo>
                  <a:lnTo>
                    <a:pt x="1137" y="384"/>
                  </a:lnTo>
                  <a:lnTo>
                    <a:pt x="1134" y="405"/>
                  </a:lnTo>
                  <a:lnTo>
                    <a:pt x="1128" y="426"/>
                  </a:lnTo>
                  <a:lnTo>
                    <a:pt x="1120" y="445"/>
                  </a:lnTo>
                  <a:lnTo>
                    <a:pt x="1111" y="463"/>
                  </a:lnTo>
                  <a:lnTo>
                    <a:pt x="1098" y="482"/>
                  </a:lnTo>
                  <a:lnTo>
                    <a:pt x="1082" y="498"/>
                  </a:lnTo>
                  <a:lnTo>
                    <a:pt x="1068" y="515"/>
                  </a:lnTo>
                  <a:lnTo>
                    <a:pt x="1053" y="533"/>
                  </a:lnTo>
                  <a:lnTo>
                    <a:pt x="1040" y="550"/>
                  </a:lnTo>
                  <a:lnTo>
                    <a:pt x="1026" y="568"/>
                  </a:lnTo>
                  <a:lnTo>
                    <a:pt x="1011" y="586"/>
                  </a:lnTo>
                  <a:lnTo>
                    <a:pt x="998" y="606"/>
                  </a:lnTo>
                  <a:lnTo>
                    <a:pt x="984" y="627"/>
                  </a:lnTo>
                  <a:lnTo>
                    <a:pt x="978" y="634"/>
                  </a:lnTo>
                  <a:lnTo>
                    <a:pt x="971" y="641"/>
                  </a:lnTo>
                  <a:lnTo>
                    <a:pt x="965" y="646"/>
                  </a:lnTo>
                  <a:lnTo>
                    <a:pt x="960" y="653"/>
                  </a:lnTo>
                  <a:lnTo>
                    <a:pt x="953" y="659"/>
                  </a:lnTo>
                  <a:lnTo>
                    <a:pt x="947" y="664"/>
                  </a:lnTo>
                  <a:lnTo>
                    <a:pt x="941" y="671"/>
                  </a:lnTo>
                  <a:lnTo>
                    <a:pt x="938" y="678"/>
                  </a:lnTo>
                  <a:lnTo>
                    <a:pt x="918" y="712"/>
                  </a:lnTo>
                  <a:lnTo>
                    <a:pt x="900" y="742"/>
                  </a:lnTo>
                  <a:lnTo>
                    <a:pt x="882" y="770"/>
                  </a:lnTo>
                  <a:lnTo>
                    <a:pt x="864" y="796"/>
                  </a:lnTo>
                  <a:lnTo>
                    <a:pt x="844" y="824"/>
                  </a:lnTo>
                  <a:lnTo>
                    <a:pt x="824" y="851"/>
                  </a:lnTo>
                  <a:lnTo>
                    <a:pt x="802" y="881"/>
                  </a:lnTo>
                  <a:lnTo>
                    <a:pt x="777" y="912"/>
                  </a:lnTo>
                  <a:lnTo>
                    <a:pt x="769" y="919"/>
                  </a:lnTo>
                  <a:lnTo>
                    <a:pt x="763" y="927"/>
                  </a:lnTo>
                  <a:lnTo>
                    <a:pt x="755" y="936"/>
                  </a:lnTo>
                  <a:lnTo>
                    <a:pt x="749" y="943"/>
                  </a:lnTo>
                  <a:lnTo>
                    <a:pt x="741" y="950"/>
                  </a:lnTo>
                  <a:lnTo>
                    <a:pt x="733" y="956"/>
                  </a:lnTo>
                  <a:lnTo>
                    <a:pt x="724" y="961"/>
                  </a:lnTo>
                  <a:lnTo>
                    <a:pt x="715" y="963"/>
                  </a:lnTo>
                  <a:lnTo>
                    <a:pt x="699" y="967"/>
                  </a:lnTo>
                  <a:lnTo>
                    <a:pt x="684" y="971"/>
                  </a:lnTo>
                  <a:lnTo>
                    <a:pt x="670" y="975"/>
                  </a:lnTo>
                  <a:lnTo>
                    <a:pt x="655" y="979"/>
                  </a:lnTo>
                  <a:lnTo>
                    <a:pt x="641" y="983"/>
                  </a:lnTo>
                  <a:lnTo>
                    <a:pt x="627" y="985"/>
                  </a:lnTo>
                  <a:lnTo>
                    <a:pt x="613" y="989"/>
                  </a:lnTo>
                  <a:lnTo>
                    <a:pt x="598" y="991"/>
                  </a:lnTo>
                  <a:lnTo>
                    <a:pt x="584" y="993"/>
                  </a:lnTo>
                  <a:lnTo>
                    <a:pt x="570" y="995"/>
                  </a:lnTo>
                  <a:lnTo>
                    <a:pt x="557" y="995"/>
                  </a:lnTo>
                  <a:lnTo>
                    <a:pt x="543" y="995"/>
                  </a:lnTo>
                  <a:lnTo>
                    <a:pt x="528" y="993"/>
                  </a:lnTo>
                  <a:lnTo>
                    <a:pt x="514" y="992"/>
                  </a:lnTo>
                  <a:lnTo>
                    <a:pt x="500" y="988"/>
                  </a:lnTo>
                  <a:lnTo>
                    <a:pt x="486" y="984"/>
                  </a:lnTo>
                  <a:lnTo>
                    <a:pt x="475" y="980"/>
                  </a:lnTo>
                  <a:lnTo>
                    <a:pt x="464" y="975"/>
                  </a:lnTo>
                  <a:lnTo>
                    <a:pt x="451" y="969"/>
                  </a:lnTo>
                  <a:lnTo>
                    <a:pt x="437" y="961"/>
                  </a:lnTo>
                  <a:lnTo>
                    <a:pt x="421" y="953"/>
                  </a:lnTo>
                  <a:lnTo>
                    <a:pt x="404" y="944"/>
                  </a:lnTo>
                  <a:lnTo>
                    <a:pt x="386" y="935"/>
                  </a:lnTo>
                  <a:lnTo>
                    <a:pt x="369" y="925"/>
                  </a:lnTo>
                  <a:lnTo>
                    <a:pt x="352" y="915"/>
                  </a:lnTo>
                  <a:lnTo>
                    <a:pt x="334" y="906"/>
                  </a:lnTo>
                  <a:lnTo>
                    <a:pt x="317" y="899"/>
                  </a:lnTo>
                  <a:lnTo>
                    <a:pt x="302" y="890"/>
                  </a:lnTo>
                  <a:lnTo>
                    <a:pt x="288" y="883"/>
                  </a:lnTo>
                  <a:lnTo>
                    <a:pt x="275" y="878"/>
                  </a:lnTo>
                  <a:lnTo>
                    <a:pt x="263" y="873"/>
                  </a:lnTo>
                  <a:lnTo>
                    <a:pt x="253" y="870"/>
                  </a:lnTo>
                  <a:lnTo>
                    <a:pt x="219" y="861"/>
                  </a:lnTo>
                  <a:lnTo>
                    <a:pt x="193" y="856"/>
                  </a:lnTo>
                  <a:lnTo>
                    <a:pt x="170" y="853"/>
                  </a:lnTo>
                  <a:lnTo>
                    <a:pt x="151" y="851"/>
                  </a:lnTo>
                  <a:lnTo>
                    <a:pt x="131" y="847"/>
                  </a:lnTo>
                  <a:lnTo>
                    <a:pt x="110" y="839"/>
                  </a:lnTo>
                  <a:lnTo>
                    <a:pt x="86" y="827"/>
                  </a:lnTo>
                  <a:lnTo>
                    <a:pt x="56" y="808"/>
                  </a:lnTo>
                  <a:lnTo>
                    <a:pt x="34" y="789"/>
                  </a:lnTo>
                  <a:lnTo>
                    <a:pt x="18" y="764"/>
                  </a:lnTo>
                  <a:lnTo>
                    <a:pt x="8" y="738"/>
                  </a:lnTo>
                  <a:lnTo>
                    <a:pt x="3" y="708"/>
                  </a:lnTo>
                  <a:lnTo>
                    <a:pt x="0" y="678"/>
                  </a:lnTo>
                  <a:lnTo>
                    <a:pt x="3" y="649"/>
                  </a:lnTo>
                  <a:lnTo>
                    <a:pt x="8" y="619"/>
                  </a:lnTo>
                  <a:lnTo>
                    <a:pt x="15" y="590"/>
                  </a:lnTo>
                  <a:lnTo>
                    <a:pt x="22" y="564"/>
                  </a:lnTo>
                  <a:lnTo>
                    <a:pt x="35" y="541"/>
                  </a:lnTo>
                  <a:lnTo>
                    <a:pt x="52" y="520"/>
                  </a:lnTo>
                  <a:lnTo>
                    <a:pt x="70" y="501"/>
                  </a:lnTo>
                  <a:lnTo>
                    <a:pt x="90" y="482"/>
                  </a:lnTo>
                  <a:lnTo>
                    <a:pt x="110" y="462"/>
                  </a:lnTo>
                  <a:lnTo>
                    <a:pt x="131" y="441"/>
                  </a:lnTo>
                  <a:lnTo>
                    <a:pt x="149" y="419"/>
                  </a:lnTo>
                  <a:lnTo>
                    <a:pt x="166" y="392"/>
                  </a:lnTo>
                  <a:lnTo>
                    <a:pt x="183" y="366"/>
                  </a:lnTo>
                  <a:lnTo>
                    <a:pt x="200" y="342"/>
                  </a:lnTo>
                  <a:lnTo>
                    <a:pt x="217" y="316"/>
                  </a:lnTo>
                  <a:lnTo>
                    <a:pt x="232" y="290"/>
                  </a:lnTo>
                  <a:lnTo>
                    <a:pt x="248" y="265"/>
                  </a:lnTo>
                  <a:lnTo>
                    <a:pt x="263" y="239"/>
                  </a:lnTo>
                  <a:lnTo>
                    <a:pt x="279" y="212"/>
                  </a:lnTo>
                  <a:lnTo>
                    <a:pt x="292" y="187"/>
                  </a:lnTo>
                  <a:lnTo>
                    <a:pt x="308" y="156"/>
                  </a:lnTo>
                  <a:lnTo>
                    <a:pt x="327" y="123"/>
                  </a:lnTo>
                  <a:lnTo>
                    <a:pt x="346" y="89"/>
                  </a:lnTo>
                  <a:lnTo>
                    <a:pt x="365" y="58"/>
                  </a:lnTo>
                  <a:lnTo>
                    <a:pt x="384" y="31"/>
                  </a:lnTo>
                  <a:lnTo>
                    <a:pt x="400" y="13"/>
                  </a:lnTo>
                  <a:lnTo>
                    <a:pt x="413" y="5"/>
                  </a:lnTo>
                  <a:close/>
                </a:path>
              </a:pathLst>
            </a:custGeom>
            <a:solidFill>
              <a:srgbClr val="FFFFD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 name="Freeform 6"/>
            <p:cNvSpPr>
              <a:spLocks/>
            </p:cNvSpPr>
            <p:nvPr/>
          </p:nvSpPr>
          <p:spPr bwMode="auto">
            <a:xfrm>
              <a:off x="1356" y="2554"/>
              <a:ext cx="1055" cy="891"/>
            </a:xfrm>
            <a:custGeom>
              <a:avLst/>
              <a:gdLst>
                <a:gd name="T0" fmla="*/ 1013 w 1055"/>
                <a:gd name="T1" fmla="*/ 247 h 891"/>
                <a:gd name="T2" fmla="*/ 1007 w 1055"/>
                <a:gd name="T3" fmla="*/ 242 h 891"/>
                <a:gd name="T4" fmla="*/ 986 w 1055"/>
                <a:gd name="T5" fmla="*/ 227 h 891"/>
                <a:gd name="T6" fmla="*/ 963 w 1055"/>
                <a:gd name="T7" fmla="*/ 215 h 891"/>
                <a:gd name="T8" fmla="*/ 962 w 1055"/>
                <a:gd name="T9" fmla="*/ 189 h 891"/>
                <a:gd name="T10" fmla="*/ 947 w 1055"/>
                <a:gd name="T11" fmla="*/ 157 h 891"/>
                <a:gd name="T12" fmla="*/ 918 w 1055"/>
                <a:gd name="T13" fmla="*/ 145 h 891"/>
                <a:gd name="T14" fmla="*/ 861 w 1055"/>
                <a:gd name="T15" fmla="*/ 131 h 891"/>
                <a:gd name="T16" fmla="*/ 804 w 1055"/>
                <a:gd name="T17" fmla="*/ 118 h 891"/>
                <a:gd name="T18" fmla="*/ 749 w 1055"/>
                <a:gd name="T19" fmla="*/ 105 h 891"/>
                <a:gd name="T20" fmla="*/ 707 w 1055"/>
                <a:gd name="T21" fmla="*/ 95 h 891"/>
                <a:gd name="T22" fmla="*/ 665 w 1055"/>
                <a:gd name="T23" fmla="*/ 82 h 891"/>
                <a:gd name="T24" fmla="*/ 622 w 1055"/>
                <a:gd name="T25" fmla="*/ 65 h 891"/>
                <a:gd name="T26" fmla="*/ 572 w 1055"/>
                <a:gd name="T27" fmla="*/ 43 h 891"/>
                <a:gd name="T28" fmla="*/ 516 w 1055"/>
                <a:gd name="T29" fmla="*/ 21 h 891"/>
                <a:gd name="T30" fmla="*/ 465 w 1055"/>
                <a:gd name="T31" fmla="*/ 5 h 891"/>
                <a:gd name="T32" fmla="*/ 423 w 1055"/>
                <a:gd name="T33" fmla="*/ 0 h 891"/>
                <a:gd name="T34" fmla="*/ 387 w 1055"/>
                <a:gd name="T35" fmla="*/ 18 h 891"/>
                <a:gd name="T36" fmla="*/ 343 w 1055"/>
                <a:gd name="T37" fmla="*/ 69 h 891"/>
                <a:gd name="T38" fmla="*/ 304 w 1055"/>
                <a:gd name="T39" fmla="*/ 124 h 891"/>
                <a:gd name="T40" fmla="*/ 266 w 1055"/>
                <a:gd name="T41" fmla="*/ 175 h 891"/>
                <a:gd name="T42" fmla="*/ 230 w 1055"/>
                <a:gd name="T43" fmla="*/ 223 h 891"/>
                <a:gd name="T44" fmla="*/ 198 w 1055"/>
                <a:gd name="T45" fmla="*/ 273 h 891"/>
                <a:gd name="T46" fmla="*/ 127 w 1055"/>
                <a:gd name="T47" fmla="*/ 384 h 891"/>
                <a:gd name="T48" fmla="*/ 36 w 1055"/>
                <a:gd name="T49" fmla="*/ 513 h 891"/>
                <a:gd name="T50" fmla="*/ 0 w 1055"/>
                <a:gd name="T51" fmla="*/ 578 h 891"/>
                <a:gd name="T52" fmla="*/ 9 w 1055"/>
                <a:gd name="T53" fmla="*/ 624 h 891"/>
                <a:gd name="T54" fmla="*/ 17 w 1055"/>
                <a:gd name="T55" fmla="*/ 648 h 891"/>
                <a:gd name="T56" fmla="*/ 33 w 1055"/>
                <a:gd name="T57" fmla="*/ 688 h 891"/>
                <a:gd name="T58" fmla="*/ 53 w 1055"/>
                <a:gd name="T59" fmla="*/ 709 h 891"/>
                <a:gd name="T60" fmla="*/ 101 w 1055"/>
                <a:gd name="T61" fmla="*/ 729 h 891"/>
                <a:gd name="T62" fmla="*/ 149 w 1055"/>
                <a:gd name="T63" fmla="*/ 749 h 891"/>
                <a:gd name="T64" fmla="*/ 198 w 1055"/>
                <a:gd name="T65" fmla="*/ 767 h 891"/>
                <a:gd name="T66" fmla="*/ 247 w 1055"/>
                <a:gd name="T67" fmla="*/ 785 h 891"/>
                <a:gd name="T68" fmla="*/ 295 w 1055"/>
                <a:gd name="T69" fmla="*/ 803 h 891"/>
                <a:gd name="T70" fmla="*/ 347 w 1055"/>
                <a:gd name="T71" fmla="*/ 825 h 891"/>
                <a:gd name="T72" fmla="*/ 400 w 1055"/>
                <a:gd name="T73" fmla="*/ 847 h 891"/>
                <a:gd name="T74" fmla="*/ 453 w 1055"/>
                <a:gd name="T75" fmla="*/ 867 h 891"/>
                <a:gd name="T76" fmla="*/ 531 w 1055"/>
                <a:gd name="T77" fmla="*/ 887 h 891"/>
                <a:gd name="T78" fmla="*/ 610 w 1055"/>
                <a:gd name="T79" fmla="*/ 887 h 891"/>
                <a:gd name="T80" fmla="*/ 669 w 1055"/>
                <a:gd name="T81" fmla="*/ 851 h 891"/>
                <a:gd name="T82" fmla="*/ 721 w 1055"/>
                <a:gd name="T83" fmla="*/ 790 h 891"/>
                <a:gd name="T84" fmla="*/ 780 w 1055"/>
                <a:gd name="T85" fmla="*/ 707 h 891"/>
                <a:gd name="T86" fmla="*/ 839 w 1055"/>
                <a:gd name="T87" fmla="*/ 622 h 891"/>
                <a:gd name="T88" fmla="*/ 887 w 1055"/>
                <a:gd name="T89" fmla="*/ 549 h 891"/>
                <a:gd name="T90" fmla="*/ 915 w 1055"/>
                <a:gd name="T91" fmla="*/ 508 h 891"/>
                <a:gd name="T92" fmla="*/ 978 w 1055"/>
                <a:gd name="T93" fmla="*/ 426 h 891"/>
                <a:gd name="T94" fmla="*/ 1038 w 1055"/>
                <a:gd name="T95" fmla="*/ 349 h 891"/>
                <a:gd name="T96" fmla="*/ 1055 w 1055"/>
                <a:gd name="T97" fmla="*/ 312 h 891"/>
                <a:gd name="T98" fmla="*/ 1048 w 1055"/>
                <a:gd name="T99" fmla="*/ 277 h 891"/>
                <a:gd name="T100" fmla="*/ 1025 w 1055"/>
                <a:gd name="T101" fmla="*/ 254 h 8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55"/>
                <a:gd name="T154" fmla="*/ 0 h 891"/>
                <a:gd name="T155" fmla="*/ 1055 w 1055"/>
                <a:gd name="T156" fmla="*/ 891 h 8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55" h="891">
                  <a:moveTo>
                    <a:pt x="1013" y="249"/>
                  </a:moveTo>
                  <a:lnTo>
                    <a:pt x="1013" y="247"/>
                  </a:lnTo>
                  <a:lnTo>
                    <a:pt x="1007" y="242"/>
                  </a:lnTo>
                  <a:lnTo>
                    <a:pt x="1000" y="237"/>
                  </a:lnTo>
                  <a:lnTo>
                    <a:pt x="993" y="232"/>
                  </a:lnTo>
                  <a:lnTo>
                    <a:pt x="986" y="227"/>
                  </a:lnTo>
                  <a:lnTo>
                    <a:pt x="978" y="223"/>
                  </a:lnTo>
                  <a:lnTo>
                    <a:pt x="971" y="219"/>
                  </a:lnTo>
                  <a:lnTo>
                    <a:pt x="963" y="215"/>
                  </a:lnTo>
                  <a:lnTo>
                    <a:pt x="955" y="213"/>
                  </a:lnTo>
                  <a:lnTo>
                    <a:pt x="960" y="201"/>
                  </a:lnTo>
                  <a:lnTo>
                    <a:pt x="962" y="189"/>
                  </a:lnTo>
                  <a:lnTo>
                    <a:pt x="960" y="176"/>
                  </a:lnTo>
                  <a:lnTo>
                    <a:pt x="955" y="165"/>
                  </a:lnTo>
                  <a:lnTo>
                    <a:pt x="947" y="157"/>
                  </a:lnTo>
                  <a:lnTo>
                    <a:pt x="938" y="152"/>
                  </a:lnTo>
                  <a:lnTo>
                    <a:pt x="928" y="148"/>
                  </a:lnTo>
                  <a:lnTo>
                    <a:pt x="918" y="145"/>
                  </a:lnTo>
                  <a:lnTo>
                    <a:pt x="898" y="140"/>
                  </a:lnTo>
                  <a:lnTo>
                    <a:pt x="879" y="135"/>
                  </a:lnTo>
                  <a:lnTo>
                    <a:pt x="861" y="131"/>
                  </a:lnTo>
                  <a:lnTo>
                    <a:pt x="841" y="127"/>
                  </a:lnTo>
                  <a:lnTo>
                    <a:pt x="823" y="122"/>
                  </a:lnTo>
                  <a:lnTo>
                    <a:pt x="804" y="118"/>
                  </a:lnTo>
                  <a:lnTo>
                    <a:pt x="784" y="114"/>
                  </a:lnTo>
                  <a:lnTo>
                    <a:pt x="765" y="109"/>
                  </a:lnTo>
                  <a:lnTo>
                    <a:pt x="749" y="105"/>
                  </a:lnTo>
                  <a:lnTo>
                    <a:pt x="735" y="102"/>
                  </a:lnTo>
                  <a:lnTo>
                    <a:pt x="721" y="99"/>
                  </a:lnTo>
                  <a:lnTo>
                    <a:pt x="707" y="95"/>
                  </a:lnTo>
                  <a:lnTo>
                    <a:pt x="692" y="91"/>
                  </a:lnTo>
                  <a:lnTo>
                    <a:pt x="678" y="87"/>
                  </a:lnTo>
                  <a:lnTo>
                    <a:pt x="665" y="82"/>
                  </a:lnTo>
                  <a:lnTo>
                    <a:pt x="651" y="77"/>
                  </a:lnTo>
                  <a:lnTo>
                    <a:pt x="638" y="71"/>
                  </a:lnTo>
                  <a:lnTo>
                    <a:pt x="622" y="65"/>
                  </a:lnTo>
                  <a:lnTo>
                    <a:pt x="607" y="57"/>
                  </a:lnTo>
                  <a:lnTo>
                    <a:pt x="589" y="51"/>
                  </a:lnTo>
                  <a:lnTo>
                    <a:pt x="572" y="43"/>
                  </a:lnTo>
                  <a:lnTo>
                    <a:pt x="553" y="35"/>
                  </a:lnTo>
                  <a:lnTo>
                    <a:pt x="534" y="29"/>
                  </a:lnTo>
                  <a:lnTo>
                    <a:pt x="516" y="21"/>
                  </a:lnTo>
                  <a:lnTo>
                    <a:pt x="498" y="16"/>
                  </a:lnTo>
                  <a:lnTo>
                    <a:pt x="481" y="10"/>
                  </a:lnTo>
                  <a:lnTo>
                    <a:pt x="465" y="5"/>
                  </a:lnTo>
                  <a:lnTo>
                    <a:pt x="449" y="3"/>
                  </a:lnTo>
                  <a:lnTo>
                    <a:pt x="435" y="0"/>
                  </a:lnTo>
                  <a:lnTo>
                    <a:pt x="423" y="0"/>
                  </a:lnTo>
                  <a:lnTo>
                    <a:pt x="413" y="1"/>
                  </a:lnTo>
                  <a:lnTo>
                    <a:pt x="405" y="5"/>
                  </a:lnTo>
                  <a:lnTo>
                    <a:pt x="387" y="18"/>
                  </a:lnTo>
                  <a:lnTo>
                    <a:pt x="371" y="34"/>
                  </a:lnTo>
                  <a:lnTo>
                    <a:pt x="357" y="51"/>
                  </a:lnTo>
                  <a:lnTo>
                    <a:pt x="343" y="69"/>
                  </a:lnTo>
                  <a:lnTo>
                    <a:pt x="330" y="88"/>
                  </a:lnTo>
                  <a:lnTo>
                    <a:pt x="317" y="106"/>
                  </a:lnTo>
                  <a:lnTo>
                    <a:pt x="304" y="124"/>
                  </a:lnTo>
                  <a:lnTo>
                    <a:pt x="291" y="143"/>
                  </a:lnTo>
                  <a:lnTo>
                    <a:pt x="278" y="159"/>
                  </a:lnTo>
                  <a:lnTo>
                    <a:pt x="266" y="175"/>
                  </a:lnTo>
                  <a:lnTo>
                    <a:pt x="254" y="190"/>
                  </a:lnTo>
                  <a:lnTo>
                    <a:pt x="242" y="206"/>
                  </a:lnTo>
                  <a:lnTo>
                    <a:pt x="230" y="223"/>
                  </a:lnTo>
                  <a:lnTo>
                    <a:pt x="219" y="238"/>
                  </a:lnTo>
                  <a:lnTo>
                    <a:pt x="208" y="255"/>
                  </a:lnTo>
                  <a:lnTo>
                    <a:pt x="198" y="273"/>
                  </a:lnTo>
                  <a:lnTo>
                    <a:pt x="181" y="303"/>
                  </a:lnTo>
                  <a:lnTo>
                    <a:pt x="156" y="341"/>
                  </a:lnTo>
                  <a:lnTo>
                    <a:pt x="127" y="384"/>
                  </a:lnTo>
                  <a:lnTo>
                    <a:pt x="96" y="429"/>
                  </a:lnTo>
                  <a:lnTo>
                    <a:pt x="65" y="473"/>
                  </a:lnTo>
                  <a:lnTo>
                    <a:pt x="36" y="513"/>
                  </a:lnTo>
                  <a:lnTo>
                    <a:pt x="14" y="545"/>
                  </a:lnTo>
                  <a:lnTo>
                    <a:pt x="0" y="567"/>
                  </a:lnTo>
                  <a:lnTo>
                    <a:pt x="0" y="578"/>
                  </a:lnTo>
                  <a:lnTo>
                    <a:pt x="4" y="597"/>
                  </a:lnTo>
                  <a:lnTo>
                    <a:pt x="8" y="615"/>
                  </a:lnTo>
                  <a:lnTo>
                    <a:pt x="9" y="624"/>
                  </a:lnTo>
                  <a:lnTo>
                    <a:pt x="10" y="628"/>
                  </a:lnTo>
                  <a:lnTo>
                    <a:pt x="13" y="637"/>
                  </a:lnTo>
                  <a:lnTo>
                    <a:pt x="17" y="648"/>
                  </a:lnTo>
                  <a:lnTo>
                    <a:pt x="22" y="661"/>
                  </a:lnTo>
                  <a:lnTo>
                    <a:pt x="27" y="675"/>
                  </a:lnTo>
                  <a:lnTo>
                    <a:pt x="33" y="688"/>
                  </a:lnTo>
                  <a:lnTo>
                    <a:pt x="40" y="698"/>
                  </a:lnTo>
                  <a:lnTo>
                    <a:pt x="48" y="706"/>
                  </a:lnTo>
                  <a:lnTo>
                    <a:pt x="53" y="709"/>
                  </a:lnTo>
                  <a:lnTo>
                    <a:pt x="68" y="716"/>
                  </a:lnTo>
                  <a:lnTo>
                    <a:pt x="85" y="723"/>
                  </a:lnTo>
                  <a:lnTo>
                    <a:pt x="101" y="729"/>
                  </a:lnTo>
                  <a:lnTo>
                    <a:pt x="116" y="737"/>
                  </a:lnTo>
                  <a:lnTo>
                    <a:pt x="133" y="744"/>
                  </a:lnTo>
                  <a:lnTo>
                    <a:pt x="149" y="749"/>
                  </a:lnTo>
                  <a:lnTo>
                    <a:pt x="166" y="755"/>
                  </a:lnTo>
                  <a:lnTo>
                    <a:pt x="181" y="762"/>
                  </a:lnTo>
                  <a:lnTo>
                    <a:pt x="198" y="767"/>
                  </a:lnTo>
                  <a:lnTo>
                    <a:pt x="213" y="773"/>
                  </a:lnTo>
                  <a:lnTo>
                    <a:pt x="230" y="780"/>
                  </a:lnTo>
                  <a:lnTo>
                    <a:pt x="247" y="785"/>
                  </a:lnTo>
                  <a:lnTo>
                    <a:pt x="263" y="792"/>
                  </a:lnTo>
                  <a:lnTo>
                    <a:pt x="279" y="797"/>
                  </a:lnTo>
                  <a:lnTo>
                    <a:pt x="295" y="803"/>
                  </a:lnTo>
                  <a:lnTo>
                    <a:pt x="312" y="810"/>
                  </a:lnTo>
                  <a:lnTo>
                    <a:pt x="330" y="817"/>
                  </a:lnTo>
                  <a:lnTo>
                    <a:pt x="347" y="825"/>
                  </a:lnTo>
                  <a:lnTo>
                    <a:pt x="365" y="833"/>
                  </a:lnTo>
                  <a:lnTo>
                    <a:pt x="382" y="839"/>
                  </a:lnTo>
                  <a:lnTo>
                    <a:pt x="400" y="847"/>
                  </a:lnTo>
                  <a:lnTo>
                    <a:pt x="417" y="855"/>
                  </a:lnTo>
                  <a:lnTo>
                    <a:pt x="435" y="861"/>
                  </a:lnTo>
                  <a:lnTo>
                    <a:pt x="453" y="867"/>
                  </a:lnTo>
                  <a:lnTo>
                    <a:pt x="479" y="874"/>
                  </a:lnTo>
                  <a:lnTo>
                    <a:pt x="505" y="881"/>
                  </a:lnTo>
                  <a:lnTo>
                    <a:pt x="531" y="887"/>
                  </a:lnTo>
                  <a:lnTo>
                    <a:pt x="558" y="891"/>
                  </a:lnTo>
                  <a:lnTo>
                    <a:pt x="584" y="891"/>
                  </a:lnTo>
                  <a:lnTo>
                    <a:pt x="610" y="887"/>
                  </a:lnTo>
                  <a:lnTo>
                    <a:pt x="633" y="880"/>
                  </a:lnTo>
                  <a:lnTo>
                    <a:pt x="656" y="864"/>
                  </a:lnTo>
                  <a:lnTo>
                    <a:pt x="669" y="851"/>
                  </a:lnTo>
                  <a:lnTo>
                    <a:pt x="685" y="834"/>
                  </a:lnTo>
                  <a:lnTo>
                    <a:pt x="701" y="814"/>
                  </a:lnTo>
                  <a:lnTo>
                    <a:pt x="721" y="790"/>
                  </a:lnTo>
                  <a:lnTo>
                    <a:pt x="740" y="764"/>
                  </a:lnTo>
                  <a:lnTo>
                    <a:pt x="760" y="736"/>
                  </a:lnTo>
                  <a:lnTo>
                    <a:pt x="780" y="707"/>
                  </a:lnTo>
                  <a:lnTo>
                    <a:pt x="800" y="678"/>
                  </a:lnTo>
                  <a:lnTo>
                    <a:pt x="819" y="649"/>
                  </a:lnTo>
                  <a:lnTo>
                    <a:pt x="839" y="622"/>
                  </a:lnTo>
                  <a:lnTo>
                    <a:pt x="857" y="595"/>
                  </a:lnTo>
                  <a:lnTo>
                    <a:pt x="872" y="570"/>
                  </a:lnTo>
                  <a:lnTo>
                    <a:pt x="887" y="549"/>
                  </a:lnTo>
                  <a:lnTo>
                    <a:pt x="899" y="531"/>
                  </a:lnTo>
                  <a:lnTo>
                    <a:pt x="909" y="517"/>
                  </a:lnTo>
                  <a:lnTo>
                    <a:pt x="915" y="508"/>
                  </a:lnTo>
                  <a:lnTo>
                    <a:pt x="933" y="483"/>
                  </a:lnTo>
                  <a:lnTo>
                    <a:pt x="955" y="456"/>
                  </a:lnTo>
                  <a:lnTo>
                    <a:pt x="978" y="426"/>
                  </a:lnTo>
                  <a:lnTo>
                    <a:pt x="1000" y="396"/>
                  </a:lnTo>
                  <a:lnTo>
                    <a:pt x="1021" y="371"/>
                  </a:lnTo>
                  <a:lnTo>
                    <a:pt x="1038" y="349"/>
                  </a:lnTo>
                  <a:lnTo>
                    <a:pt x="1050" y="333"/>
                  </a:lnTo>
                  <a:lnTo>
                    <a:pt x="1053" y="325"/>
                  </a:lnTo>
                  <a:lnTo>
                    <a:pt x="1055" y="312"/>
                  </a:lnTo>
                  <a:lnTo>
                    <a:pt x="1055" y="301"/>
                  </a:lnTo>
                  <a:lnTo>
                    <a:pt x="1052" y="289"/>
                  </a:lnTo>
                  <a:lnTo>
                    <a:pt x="1048" y="277"/>
                  </a:lnTo>
                  <a:lnTo>
                    <a:pt x="1042" y="268"/>
                  </a:lnTo>
                  <a:lnTo>
                    <a:pt x="1034" y="260"/>
                  </a:lnTo>
                  <a:lnTo>
                    <a:pt x="1025" y="254"/>
                  </a:lnTo>
                  <a:lnTo>
                    <a:pt x="1013" y="2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 name="Freeform 7"/>
            <p:cNvSpPr>
              <a:spLocks/>
            </p:cNvSpPr>
            <p:nvPr/>
          </p:nvSpPr>
          <p:spPr bwMode="auto">
            <a:xfrm>
              <a:off x="2158" y="2782"/>
              <a:ext cx="151" cy="211"/>
            </a:xfrm>
            <a:custGeom>
              <a:avLst/>
              <a:gdLst>
                <a:gd name="T0" fmla="*/ 151 w 151"/>
                <a:gd name="T1" fmla="*/ 27 h 211"/>
                <a:gd name="T2" fmla="*/ 148 w 151"/>
                <a:gd name="T3" fmla="*/ 32 h 211"/>
                <a:gd name="T4" fmla="*/ 141 w 151"/>
                <a:gd name="T5" fmla="*/ 42 h 211"/>
                <a:gd name="T6" fmla="*/ 131 w 151"/>
                <a:gd name="T7" fmla="*/ 54 h 211"/>
                <a:gd name="T8" fmla="*/ 118 w 151"/>
                <a:gd name="T9" fmla="*/ 69 h 211"/>
                <a:gd name="T10" fmla="*/ 105 w 151"/>
                <a:gd name="T11" fmla="*/ 83 h 211"/>
                <a:gd name="T12" fmla="*/ 95 w 151"/>
                <a:gd name="T13" fmla="*/ 96 h 211"/>
                <a:gd name="T14" fmla="*/ 88 w 151"/>
                <a:gd name="T15" fmla="*/ 105 h 211"/>
                <a:gd name="T16" fmla="*/ 86 w 151"/>
                <a:gd name="T17" fmla="*/ 109 h 211"/>
                <a:gd name="T18" fmla="*/ 87 w 151"/>
                <a:gd name="T19" fmla="*/ 110 h 211"/>
                <a:gd name="T20" fmla="*/ 91 w 151"/>
                <a:gd name="T21" fmla="*/ 113 h 211"/>
                <a:gd name="T22" fmla="*/ 96 w 151"/>
                <a:gd name="T23" fmla="*/ 117 h 211"/>
                <a:gd name="T24" fmla="*/ 104 w 151"/>
                <a:gd name="T25" fmla="*/ 121 h 211"/>
                <a:gd name="T26" fmla="*/ 113 w 151"/>
                <a:gd name="T27" fmla="*/ 126 h 211"/>
                <a:gd name="T28" fmla="*/ 122 w 151"/>
                <a:gd name="T29" fmla="*/ 130 h 211"/>
                <a:gd name="T30" fmla="*/ 131 w 151"/>
                <a:gd name="T31" fmla="*/ 132 h 211"/>
                <a:gd name="T32" fmla="*/ 141 w 151"/>
                <a:gd name="T33" fmla="*/ 132 h 211"/>
                <a:gd name="T34" fmla="*/ 134 w 151"/>
                <a:gd name="T35" fmla="*/ 137 h 211"/>
                <a:gd name="T36" fmla="*/ 126 w 151"/>
                <a:gd name="T37" fmla="*/ 144 h 211"/>
                <a:gd name="T38" fmla="*/ 119 w 151"/>
                <a:gd name="T39" fmla="*/ 152 h 211"/>
                <a:gd name="T40" fmla="*/ 113 w 151"/>
                <a:gd name="T41" fmla="*/ 159 h 211"/>
                <a:gd name="T42" fmla="*/ 109 w 151"/>
                <a:gd name="T43" fmla="*/ 154 h 211"/>
                <a:gd name="T44" fmla="*/ 105 w 151"/>
                <a:gd name="T45" fmla="*/ 145 h 211"/>
                <a:gd name="T46" fmla="*/ 100 w 151"/>
                <a:gd name="T47" fmla="*/ 136 h 211"/>
                <a:gd name="T48" fmla="*/ 99 w 151"/>
                <a:gd name="T49" fmla="*/ 132 h 211"/>
                <a:gd name="T50" fmla="*/ 95 w 151"/>
                <a:gd name="T51" fmla="*/ 135 h 211"/>
                <a:gd name="T52" fmla="*/ 87 w 151"/>
                <a:gd name="T53" fmla="*/ 144 h 211"/>
                <a:gd name="T54" fmla="*/ 75 w 151"/>
                <a:gd name="T55" fmla="*/ 157 h 211"/>
                <a:gd name="T56" fmla="*/ 64 w 151"/>
                <a:gd name="T57" fmla="*/ 171 h 211"/>
                <a:gd name="T58" fmla="*/ 51 w 151"/>
                <a:gd name="T59" fmla="*/ 185 h 211"/>
                <a:gd name="T60" fmla="*/ 41 w 151"/>
                <a:gd name="T61" fmla="*/ 198 h 211"/>
                <a:gd name="T62" fmla="*/ 33 w 151"/>
                <a:gd name="T63" fmla="*/ 207 h 211"/>
                <a:gd name="T64" fmla="*/ 30 w 151"/>
                <a:gd name="T65" fmla="*/ 211 h 211"/>
                <a:gd name="T66" fmla="*/ 20 w 151"/>
                <a:gd name="T67" fmla="*/ 201 h 211"/>
                <a:gd name="T68" fmla="*/ 11 w 151"/>
                <a:gd name="T69" fmla="*/ 192 h 211"/>
                <a:gd name="T70" fmla="*/ 3 w 151"/>
                <a:gd name="T71" fmla="*/ 184 h 211"/>
                <a:gd name="T72" fmla="*/ 0 w 151"/>
                <a:gd name="T73" fmla="*/ 180 h 211"/>
                <a:gd name="T74" fmla="*/ 17 w 151"/>
                <a:gd name="T75" fmla="*/ 163 h 211"/>
                <a:gd name="T76" fmla="*/ 37 w 151"/>
                <a:gd name="T77" fmla="*/ 139 h 211"/>
                <a:gd name="T78" fmla="*/ 57 w 151"/>
                <a:gd name="T79" fmla="*/ 111 h 211"/>
                <a:gd name="T80" fmla="*/ 79 w 151"/>
                <a:gd name="T81" fmla="*/ 83 h 211"/>
                <a:gd name="T82" fmla="*/ 100 w 151"/>
                <a:gd name="T83" fmla="*/ 56 h 211"/>
                <a:gd name="T84" fmla="*/ 118 w 151"/>
                <a:gd name="T85" fmla="*/ 31 h 211"/>
                <a:gd name="T86" fmla="*/ 132 w 151"/>
                <a:gd name="T87" fmla="*/ 12 h 211"/>
                <a:gd name="T88" fmla="*/ 141 w 151"/>
                <a:gd name="T89" fmla="*/ 0 h 211"/>
                <a:gd name="T90" fmla="*/ 144 w 151"/>
                <a:gd name="T91" fmla="*/ 7 h 211"/>
                <a:gd name="T92" fmla="*/ 145 w 151"/>
                <a:gd name="T93" fmla="*/ 13 h 211"/>
                <a:gd name="T94" fmla="*/ 148 w 151"/>
                <a:gd name="T95" fmla="*/ 21 h 211"/>
                <a:gd name="T96" fmla="*/ 151 w 151"/>
                <a:gd name="T97" fmla="*/ 27 h 21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51"/>
                <a:gd name="T148" fmla="*/ 0 h 211"/>
                <a:gd name="T149" fmla="*/ 151 w 151"/>
                <a:gd name="T150" fmla="*/ 211 h 21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51" h="211">
                  <a:moveTo>
                    <a:pt x="151" y="27"/>
                  </a:moveTo>
                  <a:lnTo>
                    <a:pt x="148" y="32"/>
                  </a:lnTo>
                  <a:lnTo>
                    <a:pt x="141" y="42"/>
                  </a:lnTo>
                  <a:lnTo>
                    <a:pt x="131" y="54"/>
                  </a:lnTo>
                  <a:lnTo>
                    <a:pt x="118" y="69"/>
                  </a:lnTo>
                  <a:lnTo>
                    <a:pt x="105" y="83"/>
                  </a:lnTo>
                  <a:lnTo>
                    <a:pt x="95" y="96"/>
                  </a:lnTo>
                  <a:lnTo>
                    <a:pt x="88" y="105"/>
                  </a:lnTo>
                  <a:lnTo>
                    <a:pt x="86" y="109"/>
                  </a:lnTo>
                  <a:lnTo>
                    <a:pt x="87" y="110"/>
                  </a:lnTo>
                  <a:lnTo>
                    <a:pt x="91" y="113"/>
                  </a:lnTo>
                  <a:lnTo>
                    <a:pt x="96" y="117"/>
                  </a:lnTo>
                  <a:lnTo>
                    <a:pt x="104" y="121"/>
                  </a:lnTo>
                  <a:lnTo>
                    <a:pt x="113" y="126"/>
                  </a:lnTo>
                  <a:lnTo>
                    <a:pt x="122" y="130"/>
                  </a:lnTo>
                  <a:lnTo>
                    <a:pt x="131" y="132"/>
                  </a:lnTo>
                  <a:lnTo>
                    <a:pt x="141" y="132"/>
                  </a:lnTo>
                  <a:lnTo>
                    <a:pt x="134" y="137"/>
                  </a:lnTo>
                  <a:lnTo>
                    <a:pt x="126" y="144"/>
                  </a:lnTo>
                  <a:lnTo>
                    <a:pt x="119" y="152"/>
                  </a:lnTo>
                  <a:lnTo>
                    <a:pt x="113" y="159"/>
                  </a:lnTo>
                  <a:lnTo>
                    <a:pt x="109" y="154"/>
                  </a:lnTo>
                  <a:lnTo>
                    <a:pt x="105" y="145"/>
                  </a:lnTo>
                  <a:lnTo>
                    <a:pt x="100" y="136"/>
                  </a:lnTo>
                  <a:lnTo>
                    <a:pt x="99" y="132"/>
                  </a:lnTo>
                  <a:lnTo>
                    <a:pt x="95" y="135"/>
                  </a:lnTo>
                  <a:lnTo>
                    <a:pt x="87" y="144"/>
                  </a:lnTo>
                  <a:lnTo>
                    <a:pt x="75" y="157"/>
                  </a:lnTo>
                  <a:lnTo>
                    <a:pt x="64" y="171"/>
                  </a:lnTo>
                  <a:lnTo>
                    <a:pt x="51" y="185"/>
                  </a:lnTo>
                  <a:lnTo>
                    <a:pt x="41" y="198"/>
                  </a:lnTo>
                  <a:lnTo>
                    <a:pt x="33" y="207"/>
                  </a:lnTo>
                  <a:lnTo>
                    <a:pt x="30" y="211"/>
                  </a:lnTo>
                  <a:lnTo>
                    <a:pt x="20" y="201"/>
                  </a:lnTo>
                  <a:lnTo>
                    <a:pt x="11" y="192"/>
                  </a:lnTo>
                  <a:lnTo>
                    <a:pt x="3" y="184"/>
                  </a:lnTo>
                  <a:lnTo>
                    <a:pt x="0" y="180"/>
                  </a:lnTo>
                  <a:lnTo>
                    <a:pt x="17" y="163"/>
                  </a:lnTo>
                  <a:lnTo>
                    <a:pt x="37" y="139"/>
                  </a:lnTo>
                  <a:lnTo>
                    <a:pt x="57" y="111"/>
                  </a:lnTo>
                  <a:lnTo>
                    <a:pt x="79" y="83"/>
                  </a:lnTo>
                  <a:lnTo>
                    <a:pt x="100" y="56"/>
                  </a:lnTo>
                  <a:lnTo>
                    <a:pt x="118" y="31"/>
                  </a:lnTo>
                  <a:lnTo>
                    <a:pt x="132" y="12"/>
                  </a:lnTo>
                  <a:lnTo>
                    <a:pt x="141" y="0"/>
                  </a:lnTo>
                  <a:lnTo>
                    <a:pt x="144" y="7"/>
                  </a:lnTo>
                  <a:lnTo>
                    <a:pt x="145" y="13"/>
                  </a:lnTo>
                  <a:lnTo>
                    <a:pt x="148" y="21"/>
                  </a:lnTo>
                  <a:lnTo>
                    <a:pt x="151" y="27"/>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 name="Freeform 8"/>
            <p:cNvSpPr>
              <a:spLocks/>
            </p:cNvSpPr>
            <p:nvPr/>
          </p:nvSpPr>
          <p:spPr bwMode="auto">
            <a:xfrm>
              <a:off x="2271" y="2834"/>
              <a:ext cx="58" cy="65"/>
            </a:xfrm>
            <a:custGeom>
              <a:avLst/>
              <a:gdLst>
                <a:gd name="T0" fmla="*/ 44 w 58"/>
                <a:gd name="T1" fmla="*/ 0 h 65"/>
                <a:gd name="T2" fmla="*/ 53 w 58"/>
                <a:gd name="T3" fmla="*/ 17 h 65"/>
                <a:gd name="T4" fmla="*/ 57 w 58"/>
                <a:gd name="T5" fmla="*/ 31 h 65"/>
                <a:gd name="T6" fmla="*/ 57 w 58"/>
                <a:gd name="T7" fmla="*/ 41 h 65"/>
                <a:gd name="T8" fmla="*/ 58 w 58"/>
                <a:gd name="T9" fmla="*/ 47 h 65"/>
                <a:gd name="T10" fmla="*/ 56 w 58"/>
                <a:gd name="T11" fmla="*/ 52 h 65"/>
                <a:gd name="T12" fmla="*/ 54 w 58"/>
                <a:gd name="T13" fmla="*/ 56 h 65"/>
                <a:gd name="T14" fmla="*/ 52 w 58"/>
                <a:gd name="T15" fmla="*/ 58 h 65"/>
                <a:gd name="T16" fmla="*/ 45 w 58"/>
                <a:gd name="T17" fmla="*/ 61 h 65"/>
                <a:gd name="T18" fmla="*/ 39 w 58"/>
                <a:gd name="T19" fmla="*/ 63 h 65"/>
                <a:gd name="T20" fmla="*/ 34 w 58"/>
                <a:gd name="T21" fmla="*/ 65 h 65"/>
                <a:gd name="T22" fmla="*/ 30 w 58"/>
                <a:gd name="T23" fmla="*/ 65 h 65"/>
                <a:gd name="T24" fmla="*/ 25 w 58"/>
                <a:gd name="T25" fmla="*/ 63 h 65"/>
                <a:gd name="T26" fmla="*/ 19 w 58"/>
                <a:gd name="T27" fmla="*/ 61 h 65"/>
                <a:gd name="T28" fmla="*/ 14 w 58"/>
                <a:gd name="T29" fmla="*/ 58 h 65"/>
                <a:gd name="T30" fmla="*/ 8 w 58"/>
                <a:gd name="T31" fmla="*/ 56 h 65"/>
                <a:gd name="T32" fmla="*/ 0 w 58"/>
                <a:gd name="T33" fmla="*/ 52 h 65"/>
                <a:gd name="T34" fmla="*/ 3 w 58"/>
                <a:gd name="T35" fmla="*/ 48 h 65"/>
                <a:gd name="T36" fmla="*/ 8 w 58"/>
                <a:gd name="T37" fmla="*/ 40 h 65"/>
                <a:gd name="T38" fmla="*/ 14 w 58"/>
                <a:gd name="T39" fmla="*/ 32 h 65"/>
                <a:gd name="T40" fmla="*/ 22 w 58"/>
                <a:gd name="T41" fmla="*/ 22 h 65"/>
                <a:gd name="T42" fmla="*/ 30 w 58"/>
                <a:gd name="T43" fmla="*/ 13 h 65"/>
                <a:gd name="T44" fmla="*/ 36 w 58"/>
                <a:gd name="T45" fmla="*/ 6 h 65"/>
                <a:gd name="T46" fmla="*/ 41 w 58"/>
                <a:gd name="T47" fmla="*/ 1 h 65"/>
                <a:gd name="T48" fmla="*/ 44 w 58"/>
                <a:gd name="T49" fmla="*/ 0 h 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8"/>
                <a:gd name="T76" fmla="*/ 0 h 65"/>
                <a:gd name="T77" fmla="*/ 58 w 58"/>
                <a:gd name="T78" fmla="*/ 65 h 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8" h="65">
                  <a:moveTo>
                    <a:pt x="44" y="0"/>
                  </a:moveTo>
                  <a:lnTo>
                    <a:pt x="53" y="17"/>
                  </a:lnTo>
                  <a:lnTo>
                    <a:pt x="57" y="31"/>
                  </a:lnTo>
                  <a:lnTo>
                    <a:pt x="57" y="41"/>
                  </a:lnTo>
                  <a:lnTo>
                    <a:pt x="58" y="47"/>
                  </a:lnTo>
                  <a:lnTo>
                    <a:pt x="56" y="52"/>
                  </a:lnTo>
                  <a:lnTo>
                    <a:pt x="54" y="56"/>
                  </a:lnTo>
                  <a:lnTo>
                    <a:pt x="52" y="58"/>
                  </a:lnTo>
                  <a:lnTo>
                    <a:pt x="45" y="61"/>
                  </a:lnTo>
                  <a:lnTo>
                    <a:pt x="39" y="63"/>
                  </a:lnTo>
                  <a:lnTo>
                    <a:pt x="34" y="65"/>
                  </a:lnTo>
                  <a:lnTo>
                    <a:pt x="30" y="65"/>
                  </a:lnTo>
                  <a:lnTo>
                    <a:pt x="25" y="63"/>
                  </a:lnTo>
                  <a:lnTo>
                    <a:pt x="19" y="61"/>
                  </a:lnTo>
                  <a:lnTo>
                    <a:pt x="14" y="58"/>
                  </a:lnTo>
                  <a:lnTo>
                    <a:pt x="8" y="56"/>
                  </a:lnTo>
                  <a:lnTo>
                    <a:pt x="0" y="52"/>
                  </a:lnTo>
                  <a:lnTo>
                    <a:pt x="3" y="48"/>
                  </a:lnTo>
                  <a:lnTo>
                    <a:pt x="8" y="40"/>
                  </a:lnTo>
                  <a:lnTo>
                    <a:pt x="14" y="32"/>
                  </a:lnTo>
                  <a:lnTo>
                    <a:pt x="22" y="22"/>
                  </a:lnTo>
                  <a:lnTo>
                    <a:pt x="30" y="13"/>
                  </a:lnTo>
                  <a:lnTo>
                    <a:pt x="36" y="6"/>
                  </a:lnTo>
                  <a:lnTo>
                    <a:pt x="41" y="1"/>
                  </a:lnTo>
                  <a:lnTo>
                    <a:pt x="44" y="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 name="Freeform 9"/>
            <p:cNvSpPr>
              <a:spLocks/>
            </p:cNvSpPr>
            <p:nvPr/>
          </p:nvSpPr>
          <p:spPr bwMode="auto">
            <a:xfrm>
              <a:off x="2201" y="3015"/>
              <a:ext cx="34" cy="24"/>
            </a:xfrm>
            <a:custGeom>
              <a:avLst/>
              <a:gdLst>
                <a:gd name="T0" fmla="*/ 34 w 34"/>
                <a:gd name="T1" fmla="*/ 3 h 24"/>
                <a:gd name="T2" fmla="*/ 29 w 34"/>
                <a:gd name="T3" fmla="*/ 7 h 24"/>
                <a:gd name="T4" fmla="*/ 23 w 34"/>
                <a:gd name="T5" fmla="*/ 12 h 24"/>
                <a:gd name="T6" fmla="*/ 20 w 34"/>
                <a:gd name="T7" fmla="*/ 18 h 24"/>
                <a:gd name="T8" fmla="*/ 16 w 34"/>
                <a:gd name="T9" fmla="*/ 24 h 24"/>
                <a:gd name="T10" fmla="*/ 12 w 34"/>
                <a:gd name="T11" fmla="*/ 17 h 24"/>
                <a:gd name="T12" fmla="*/ 8 w 34"/>
                <a:gd name="T13" fmla="*/ 12 h 24"/>
                <a:gd name="T14" fmla="*/ 4 w 34"/>
                <a:gd name="T15" fmla="*/ 5 h 24"/>
                <a:gd name="T16" fmla="*/ 0 w 34"/>
                <a:gd name="T17" fmla="*/ 0 h 24"/>
                <a:gd name="T18" fmla="*/ 8 w 34"/>
                <a:gd name="T19" fmla="*/ 3 h 24"/>
                <a:gd name="T20" fmla="*/ 17 w 34"/>
                <a:gd name="T21" fmla="*/ 3 h 24"/>
                <a:gd name="T22" fmla="*/ 25 w 34"/>
                <a:gd name="T23" fmla="*/ 4 h 24"/>
                <a:gd name="T24" fmla="*/ 34 w 34"/>
                <a:gd name="T25" fmla="*/ 3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24"/>
                <a:gd name="T41" fmla="*/ 34 w 34"/>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24">
                  <a:moveTo>
                    <a:pt x="34" y="3"/>
                  </a:moveTo>
                  <a:lnTo>
                    <a:pt x="29" y="7"/>
                  </a:lnTo>
                  <a:lnTo>
                    <a:pt x="23" y="12"/>
                  </a:lnTo>
                  <a:lnTo>
                    <a:pt x="20" y="18"/>
                  </a:lnTo>
                  <a:lnTo>
                    <a:pt x="16" y="24"/>
                  </a:lnTo>
                  <a:lnTo>
                    <a:pt x="12" y="17"/>
                  </a:lnTo>
                  <a:lnTo>
                    <a:pt x="8" y="12"/>
                  </a:lnTo>
                  <a:lnTo>
                    <a:pt x="4" y="5"/>
                  </a:lnTo>
                  <a:lnTo>
                    <a:pt x="0" y="0"/>
                  </a:lnTo>
                  <a:lnTo>
                    <a:pt x="8" y="3"/>
                  </a:lnTo>
                  <a:lnTo>
                    <a:pt x="17" y="3"/>
                  </a:lnTo>
                  <a:lnTo>
                    <a:pt x="25" y="4"/>
                  </a:lnTo>
                  <a:lnTo>
                    <a:pt x="34" y="3"/>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 name="Freeform 10"/>
            <p:cNvSpPr>
              <a:spLocks/>
            </p:cNvSpPr>
            <p:nvPr/>
          </p:nvSpPr>
          <p:spPr bwMode="auto">
            <a:xfrm>
              <a:off x="1392" y="2572"/>
              <a:ext cx="892" cy="726"/>
            </a:xfrm>
            <a:custGeom>
              <a:avLst/>
              <a:gdLst>
                <a:gd name="T0" fmla="*/ 199 w 892"/>
                <a:gd name="T1" fmla="*/ 233 h 726"/>
                <a:gd name="T2" fmla="*/ 232 w 892"/>
                <a:gd name="T3" fmla="*/ 192 h 726"/>
                <a:gd name="T4" fmla="*/ 265 w 892"/>
                <a:gd name="T5" fmla="*/ 150 h 726"/>
                <a:gd name="T6" fmla="*/ 303 w 892"/>
                <a:gd name="T7" fmla="*/ 95 h 726"/>
                <a:gd name="T8" fmla="*/ 338 w 892"/>
                <a:gd name="T9" fmla="*/ 44 h 726"/>
                <a:gd name="T10" fmla="*/ 379 w 892"/>
                <a:gd name="T11" fmla="*/ 7 h 726"/>
                <a:gd name="T12" fmla="*/ 403 w 892"/>
                <a:gd name="T13" fmla="*/ 0 h 726"/>
                <a:gd name="T14" fmla="*/ 482 w 892"/>
                <a:gd name="T15" fmla="*/ 29 h 726"/>
                <a:gd name="T16" fmla="*/ 555 w 892"/>
                <a:gd name="T17" fmla="*/ 55 h 726"/>
                <a:gd name="T18" fmla="*/ 624 w 892"/>
                <a:gd name="T19" fmla="*/ 82 h 726"/>
                <a:gd name="T20" fmla="*/ 673 w 892"/>
                <a:gd name="T21" fmla="*/ 99 h 726"/>
                <a:gd name="T22" fmla="*/ 721 w 892"/>
                <a:gd name="T23" fmla="*/ 112 h 726"/>
                <a:gd name="T24" fmla="*/ 770 w 892"/>
                <a:gd name="T25" fmla="*/ 122 h 726"/>
                <a:gd name="T26" fmla="*/ 819 w 892"/>
                <a:gd name="T27" fmla="*/ 132 h 726"/>
                <a:gd name="T28" fmla="*/ 873 w 892"/>
                <a:gd name="T29" fmla="*/ 145 h 726"/>
                <a:gd name="T30" fmla="*/ 892 w 892"/>
                <a:gd name="T31" fmla="*/ 179 h 726"/>
                <a:gd name="T32" fmla="*/ 874 w 892"/>
                <a:gd name="T33" fmla="*/ 207 h 726"/>
                <a:gd name="T34" fmla="*/ 860 w 892"/>
                <a:gd name="T35" fmla="*/ 228 h 726"/>
                <a:gd name="T36" fmla="*/ 843 w 892"/>
                <a:gd name="T37" fmla="*/ 250 h 726"/>
                <a:gd name="T38" fmla="*/ 799 w 892"/>
                <a:gd name="T39" fmla="*/ 310 h 726"/>
                <a:gd name="T40" fmla="*/ 755 w 892"/>
                <a:gd name="T41" fmla="*/ 367 h 726"/>
                <a:gd name="T42" fmla="*/ 729 w 892"/>
                <a:gd name="T43" fmla="*/ 372 h 726"/>
                <a:gd name="T44" fmla="*/ 687 w 892"/>
                <a:gd name="T45" fmla="*/ 359 h 726"/>
                <a:gd name="T46" fmla="*/ 645 w 892"/>
                <a:gd name="T47" fmla="*/ 356 h 726"/>
                <a:gd name="T48" fmla="*/ 610 w 892"/>
                <a:gd name="T49" fmla="*/ 363 h 726"/>
                <a:gd name="T50" fmla="*/ 586 w 892"/>
                <a:gd name="T51" fmla="*/ 384 h 726"/>
                <a:gd name="T52" fmla="*/ 577 w 892"/>
                <a:gd name="T53" fmla="*/ 411 h 726"/>
                <a:gd name="T54" fmla="*/ 598 w 892"/>
                <a:gd name="T55" fmla="*/ 451 h 726"/>
                <a:gd name="T56" fmla="*/ 646 w 892"/>
                <a:gd name="T57" fmla="*/ 469 h 726"/>
                <a:gd name="T58" fmla="*/ 674 w 892"/>
                <a:gd name="T59" fmla="*/ 487 h 726"/>
                <a:gd name="T60" fmla="*/ 619 w 892"/>
                <a:gd name="T61" fmla="*/ 573 h 726"/>
                <a:gd name="T62" fmla="*/ 533 w 892"/>
                <a:gd name="T63" fmla="*/ 687 h 726"/>
                <a:gd name="T64" fmla="*/ 492 w 892"/>
                <a:gd name="T65" fmla="*/ 723 h 726"/>
                <a:gd name="T66" fmla="*/ 466 w 892"/>
                <a:gd name="T67" fmla="*/ 726 h 726"/>
                <a:gd name="T68" fmla="*/ 443 w 892"/>
                <a:gd name="T69" fmla="*/ 723 h 726"/>
                <a:gd name="T70" fmla="*/ 370 w 892"/>
                <a:gd name="T71" fmla="*/ 702 h 726"/>
                <a:gd name="T72" fmla="*/ 304 w 892"/>
                <a:gd name="T73" fmla="*/ 678 h 726"/>
                <a:gd name="T74" fmla="*/ 268 w 892"/>
                <a:gd name="T75" fmla="*/ 663 h 726"/>
                <a:gd name="T76" fmla="*/ 216 w 892"/>
                <a:gd name="T77" fmla="*/ 645 h 726"/>
                <a:gd name="T78" fmla="*/ 163 w 892"/>
                <a:gd name="T79" fmla="*/ 626 h 726"/>
                <a:gd name="T80" fmla="*/ 111 w 892"/>
                <a:gd name="T81" fmla="*/ 608 h 726"/>
                <a:gd name="T82" fmla="*/ 58 w 892"/>
                <a:gd name="T83" fmla="*/ 588 h 726"/>
                <a:gd name="T84" fmla="*/ 7 w 892"/>
                <a:gd name="T85" fmla="*/ 568 h 726"/>
                <a:gd name="T86" fmla="*/ 1 w 892"/>
                <a:gd name="T87" fmla="*/ 560 h 726"/>
                <a:gd name="T88" fmla="*/ 44 w 892"/>
                <a:gd name="T89" fmla="*/ 483 h 726"/>
                <a:gd name="T90" fmla="*/ 115 w 892"/>
                <a:gd name="T91" fmla="*/ 376 h 726"/>
                <a:gd name="T92" fmla="*/ 181 w 892"/>
                <a:gd name="T93" fmla="*/ 263 h 72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92"/>
                <a:gd name="T142" fmla="*/ 0 h 726"/>
                <a:gd name="T143" fmla="*/ 892 w 892"/>
                <a:gd name="T144" fmla="*/ 726 h 72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92" h="726">
                  <a:moveTo>
                    <a:pt x="181" y="263"/>
                  </a:moveTo>
                  <a:lnTo>
                    <a:pt x="189" y="248"/>
                  </a:lnTo>
                  <a:lnTo>
                    <a:pt x="199" y="233"/>
                  </a:lnTo>
                  <a:lnTo>
                    <a:pt x="210" y="219"/>
                  </a:lnTo>
                  <a:lnTo>
                    <a:pt x="220" y="205"/>
                  </a:lnTo>
                  <a:lnTo>
                    <a:pt x="232" y="192"/>
                  </a:lnTo>
                  <a:lnTo>
                    <a:pt x="242" y="178"/>
                  </a:lnTo>
                  <a:lnTo>
                    <a:pt x="254" y="165"/>
                  </a:lnTo>
                  <a:lnTo>
                    <a:pt x="265" y="150"/>
                  </a:lnTo>
                  <a:lnTo>
                    <a:pt x="280" y="132"/>
                  </a:lnTo>
                  <a:lnTo>
                    <a:pt x="291" y="113"/>
                  </a:lnTo>
                  <a:lnTo>
                    <a:pt x="303" y="95"/>
                  </a:lnTo>
                  <a:lnTo>
                    <a:pt x="315" y="78"/>
                  </a:lnTo>
                  <a:lnTo>
                    <a:pt x="325" y="61"/>
                  </a:lnTo>
                  <a:lnTo>
                    <a:pt x="338" y="44"/>
                  </a:lnTo>
                  <a:lnTo>
                    <a:pt x="353" y="27"/>
                  </a:lnTo>
                  <a:lnTo>
                    <a:pt x="370" y="12"/>
                  </a:lnTo>
                  <a:lnTo>
                    <a:pt x="379" y="7"/>
                  </a:lnTo>
                  <a:lnTo>
                    <a:pt x="391" y="3"/>
                  </a:lnTo>
                  <a:lnTo>
                    <a:pt x="399" y="0"/>
                  </a:lnTo>
                  <a:lnTo>
                    <a:pt x="403" y="0"/>
                  </a:lnTo>
                  <a:lnTo>
                    <a:pt x="430" y="11"/>
                  </a:lnTo>
                  <a:lnTo>
                    <a:pt x="456" y="21"/>
                  </a:lnTo>
                  <a:lnTo>
                    <a:pt x="482" y="29"/>
                  </a:lnTo>
                  <a:lnTo>
                    <a:pt x="506" y="38"/>
                  </a:lnTo>
                  <a:lnTo>
                    <a:pt x="531" y="47"/>
                  </a:lnTo>
                  <a:lnTo>
                    <a:pt x="555" y="55"/>
                  </a:lnTo>
                  <a:lnTo>
                    <a:pt x="581" y="65"/>
                  </a:lnTo>
                  <a:lnTo>
                    <a:pt x="607" y="75"/>
                  </a:lnTo>
                  <a:lnTo>
                    <a:pt x="624" y="82"/>
                  </a:lnTo>
                  <a:lnTo>
                    <a:pt x="641" y="88"/>
                  </a:lnTo>
                  <a:lnTo>
                    <a:pt x="656" y="93"/>
                  </a:lnTo>
                  <a:lnTo>
                    <a:pt x="673" y="99"/>
                  </a:lnTo>
                  <a:lnTo>
                    <a:pt x="689" y="104"/>
                  </a:lnTo>
                  <a:lnTo>
                    <a:pt x="706" y="108"/>
                  </a:lnTo>
                  <a:lnTo>
                    <a:pt x="721" y="112"/>
                  </a:lnTo>
                  <a:lnTo>
                    <a:pt x="738" y="115"/>
                  </a:lnTo>
                  <a:lnTo>
                    <a:pt x="753" y="119"/>
                  </a:lnTo>
                  <a:lnTo>
                    <a:pt x="770" y="122"/>
                  </a:lnTo>
                  <a:lnTo>
                    <a:pt x="786" y="126"/>
                  </a:lnTo>
                  <a:lnTo>
                    <a:pt x="803" y="130"/>
                  </a:lnTo>
                  <a:lnTo>
                    <a:pt x="819" y="132"/>
                  </a:lnTo>
                  <a:lnTo>
                    <a:pt x="838" y="136"/>
                  </a:lnTo>
                  <a:lnTo>
                    <a:pt x="854" y="141"/>
                  </a:lnTo>
                  <a:lnTo>
                    <a:pt x="873" y="145"/>
                  </a:lnTo>
                  <a:lnTo>
                    <a:pt x="885" y="153"/>
                  </a:lnTo>
                  <a:lnTo>
                    <a:pt x="892" y="165"/>
                  </a:lnTo>
                  <a:lnTo>
                    <a:pt x="892" y="179"/>
                  </a:lnTo>
                  <a:lnTo>
                    <a:pt x="885" y="192"/>
                  </a:lnTo>
                  <a:lnTo>
                    <a:pt x="879" y="200"/>
                  </a:lnTo>
                  <a:lnTo>
                    <a:pt x="874" y="207"/>
                  </a:lnTo>
                  <a:lnTo>
                    <a:pt x="870" y="214"/>
                  </a:lnTo>
                  <a:lnTo>
                    <a:pt x="865" y="220"/>
                  </a:lnTo>
                  <a:lnTo>
                    <a:pt x="860" y="228"/>
                  </a:lnTo>
                  <a:lnTo>
                    <a:pt x="854" y="235"/>
                  </a:lnTo>
                  <a:lnTo>
                    <a:pt x="849" y="242"/>
                  </a:lnTo>
                  <a:lnTo>
                    <a:pt x="843" y="250"/>
                  </a:lnTo>
                  <a:lnTo>
                    <a:pt x="830" y="267"/>
                  </a:lnTo>
                  <a:lnTo>
                    <a:pt x="814" y="288"/>
                  </a:lnTo>
                  <a:lnTo>
                    <a:pt x="799" y="310"/>
                  </a:lnTo>
                  <a:lnTo>
                    <a:pt x="782" y="331"/>
                  </a:lnTo>
                  <a:lnTo>
                    <a:pt x="768" y="350"/>
                  </a:lnTo>
                  <a:lnTo>
                    <a:pt x="755" y="367"/>
                  </a:lnTo>
                  <a:lnTo>
                    <a:pt x="746" y="377"/>
                  </a:lnTo>
                  <a:lnTo>
                    <a:pt x="742" y="380"/>
                  </a:lnTo>
                  <a:lnTo>
                    <a:pt x="729" y="372"/>
                  </a:lnTo>
                  <a:lnTo>
                    <a:pt x="716" y="367"/>
                  </a:lnTo>
                  <a:lnTo>
                    <a:pt x="702" y="363"/>
                  </a:lnTo>
                  <a:lnTo>
                    <a:pt x="687" y="359"/>
                  </a:lnTo>
                  <a:lnTo>
                    <a:pt x="673" y="358"/>
                  </a:lnTo>
                  <a:lnTo>
                    <a:pt x="659" y="356"/>
                  </a:lnTo>
                  <a:lnTo>
                    <a:pt x="645" y="356"/>
                  </a:lnTo>
                  <a:lnTo>
                    <a:pt x="630" y="358"/>
                  </a:lnTo>
                  <a:lnTo>
                    <a:pt x="620" y="359"/>
                  </a:lnTo>
                  <a:lnTo>
                    <a:pt x="610" y="363"/>
                  </a:lnTo>
                  <a:lnTo>
                    <a:pt x="601" y="368"/>
                  </a:lnTo>
                  <a:lnTo>
                    <a:pt x="593" y="375"/>
                  </a:lnTo>
                  <a:lnTo>
                    <a:pt x="586" y="384"/>
                  </a:lnTo>
                  <a:lnTo>
                    <a:pt x="583" y="391"/>
                  </a:lnTo>
                  <a:lnTo>
                    <a:pt x="579" y="402"/>
                  </a:lnTo>
                  <a:lnTo>
                    <a:pt x="577" y="411"/>
                  </a:lnTo>
                  <a:lnTo>
                    <a:pt x="580" y="428"/>
                  </a:lnTo>
                  <a:lnTo>
                    <a:pt x="586" y="441"/>
                  </a:lnTo>
                  <a:lnTo>
                    <a:pt x="598" y="451"/>
                  </a:lnTo>
                  <a:lnTo>
                    <a:pt x="612" y="459"/>
                  </a:lnTo>
                  <a:lnTo>
                    <a:pt x="629" y="464"/>
                  </a:lnTo>
                  <a:lnTo>
                    <a:pt x="646" y="469"/>
                  </a:lnTo>
                  <a:lnTo>
                    <a:pt x="663" y="474"/>
                  </a:lnTo>
                  <a:lnTo>
                    <a:pt x="677" y="479"/>
                  </a:lnTo>
                  <a:lnTo>
                    <a:pt x="674" y="487"/>
                  </a:lnTo>
                  <a:lnTo>
                    <a:pt x="663" y="508"/>
                  </a:lnTo>
                  <a:lnTo>
                    <a:pt x="643" y="538"/>
                  </a:lnTo>
                  <a:lnTo>
                    <a:pt x="619" y="573"/>
                  </a:lnTo>
                  <a:lnTo>
                    <a:pt x="592" y="612"/>
                  </a:lnTo>
                  <a:lnTo>
                    <a:pt x="562" y="650"/>
                  </a:lnTo>
                  <a:lnTo>
                    <a:pt x="533" y="687"/>
                  </a:lnTo>
                  <a:lnTo>
                    <a:pt x="506" y="718"/>
                  </a:lnTo>
                  <a:lnTo>
                    <a:pt x="498" y="720"/>
                  </a:lnTo>
                  <a:lnTo>
                    <a:pt x="492" y="723"/>
                  </a:lnTo>
                  <a:lnTo>
                    <a:pt x="483" y="724"/>
                  </a:lnTo>
                  <a:lnTo>
                    <a:pt x="475" y="724"/>
                  </a:lnTo>
                  <a:lnTo>
                    <a:pt x="466" y="726"/>
                  </a:lnTo>
                  <a:lnTo>
                    <a:pt x="458" y="724"/>
                  </a:lnTo>
                  <a:lnTo>
                    <a:pt x="451" y="724"/>
                  </a:lnTo>
                  <a:lnTo>
                    <a:pt x="443" y="723"/>
                  </a:lnTo>
                  <a:lnTo>
                    <a:pt x="421" y="718"/>
                  </a:lnTo>
                  <a:lnTo>
                    <a:pt x="396" y="710"/>
                  </a:lnTo>
                  <a:lnTo>
                    <a:pt x="370" y="702"/>
                  </a:lnTo>
                  <a:lnTo>
                    <a:pt x="346" y="693"/>
                  </a:lnTo>
                  <a:lnTo>
                    <a:pt x="324" y="684"/>
                  </a:lnTo>
                  <a:lnTo>
                    <a:pt x="304" y="678"/>
                  </a:lnTo>
                  <a:lnTo>
                    <a:pt x="291" y="672"/>
                  </a:lnTo>
                  <a:lnTo>
                    <a:pt x="286" y="670"/>
                  </a:lnTo>
                  <a:lnTo>
                    <a:pt x="268" y="663"/>
                  </a:lnTo>
                  <a:lnTo>
                    <a:pt x="251" y="657"/>
                  </a:lnTo>
                  <a:lnTo>
                    <a:pt x="233" y="652"/>
                  </a:lnTo>
                  <a:lnTo>
                    <a:pt x="216" y="645"/>
                  </a:lnTo>
                  <a:lnTo>
                    <a:pt x="198" y="639"/>
                  </a:lnTo>
                  <a:lnTo>
                    <a:pt x="181" y="632"/>
                  </a:lnTo>
                  <a:lnTo>
                    <a:pt x="163" y="626"/>
                  </a:lnTo>
                  <a:lnTo>
                    <a:pt x="146" y="621"/>
                  </a:lnTo>
                  <a:lnTo>
                    <a:pt x="128" y="614"/>
                  </a:lnTo>
                  <a:lnTo>
                    <a:pt x="111" y="608"/>
                  </a:lnTo>
                  <a:lnTo>
                    <a:pt x="93" y="601"/>
                  </a:lnTo>
                  <a:lnTo>
                    <a:pt x="76" y="595"/>
                  </a:lnTo>
                  <a:lnTo>
                    <a:pt x="58" y="588"/>
                  </a:lnTo>
                  <a:lnTo>
                    <a:pt x="42" y="582"/>
                  </a:lnTo>
                  <a:lnTo>
                    <a:pt x="23" y="574"/>
                  </a:lnTo>
                  <a:lnTo>
                    <a:pt x="7" y="568"/>
                  </a:lnTo>
                  <a:lnTo>
                    <a:pt x="5" y="565"/>
                  </a:lnTo>
                  <a:lnTo>
                    <a:pt x="3" y="562"/>
                  </a:lnTo>
                  <a:lnTo>
                    <a:pt x="1" y="560"/>
                  </a:lnTo>
                  <a:lnTo>
                    <a:pt x="0" y="557"/>
                  </a:lnTo>
                  <a:lnTo>
                    <a:pt x="21" y="520"/>
                  </a:lnTo>
                  <a:lnTo>
                    <a:pt x="44" y="483"/>
                  </a:lnTo>
                  <a:lnTo>
                    <a:pt x="67" y="447"/>
                  </a:lnTo>
                  <a:lnTo>
                    <a:pt x="92" y="412"/>
                  </a:lnTo>
                  <a:lnTo>
                    <a:pt x="115" y="376"/>
                  </a:lnTo>
                  <a:lnTo>
                    <a:pt x="139" y="338"/>
                  </a:lnTo>
                  <a:lnTo>
                    <a:pt x="161" y="302"/>
                  </a:lnTo>
                  <a:lnTo>
                    <a:pt x="181" y="263"/>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 name="Freeform 11"/>
            <p:cNvSpPr>
              <a:spLocks/>
            </p:cNvSpPr>
            <p:nvPr/>
          </p:nvSpPr>
          <p:spPr bwMode="auto">
            <a:xfrm>
              <a:off x="1387" y="3070"/>
              <a:ext cx="762" cy="308"/>
            </a:xfrm>
            <a:custGeom>
              <a:avLst/>
              <a:gdLst>
                <a:gd name="T0" fmla="*/ 39 w 762"/>
                <a:gd name="T1" fmla="*/ 99 h 308"/>
                <a:gd name="T2" fmla="*/ 103 w 762"/>
                <a:gd name="T3" fmla="*/ 128 h 308"/>
                <a:gd name="T4" fmla="*/ 164 w 762"/>
                <a:gd name="T5" fmla="*/ 152 h 308"/>
                <a:gd name="T6" fmla="*/ 195 w 762"/>
                <a:gd name="T7" fmla="*/ 164 h 308"/>
                <a:gd name="T8" fmla="*/ 250 w 762"/>
                <a:gd name="T9" fmla="*/ 184 h 308"/>
                <a:gd name="T10" fmla="*/ 316 w 762"/>
                <a:gd name="T11" fmla="*/ 208 h 308"/>
                <a:gd name="T12" fmla="*/ 382 w 762"/>
                <a:gd name="T13" fmla="*/ 230 h 308"/>
                <a:gd name="T14" fmla="*/ 435 w 762"/>
                <a:gd name="T15" fmla="*/ 244 h 308"/>
                <a:gd name="T16" fmla="*/ 467 w 762"/>
                <a:gd name="T17" fmla="*/ 251 h 308"/>
                <a:gd name="T18" fmla="*/ 494 w 762"/>
                <a:gd name="T19" fmla="*/ 256 h 308"/>
                <a:gd name="T20" fmla="*/ 520 w 762"/>
                <a:gd name="T21" fmla="*/ 252 h 308"/>
                <a:gd name="T22" fmla="*/ 569 w 762"/>
                <a:gd name="T23" fmla="*/ 190 h 308"/>
                <a:gd name="T24" fmla="*/ 616 w 762"/>
                <a:gd name="T25" fmla="*/ 121 h 308"/>
                <a:gd name="T26" fmla="*/ 656 w 762"/>
                <a:gd name="T27" fmla="*/ 66 h 308"/>
                <a:gd name="T28" fmla="*/ 689 w 762"/>
                <a:gd name="T29" fmla="*/ 26 h 308"/>
                <a:gd name="T30" fmla="*/ 714 w 762"/>
                <a:gd name="T31" fmla="*/ 0 h 308"/>
                <a:gd name="T32" fmla="*/ 729 w 762"/>
                <a:gd name="T33" fmla="*/ 11 h 308"/>
                <a:gd name="T34" fmla="*/ 747 w 762"/>
                <a:gd name="T35" fmla="*/ 32 h 308"/>
                <a:gd name="T36" fmla="*/ 762 w 762"/>
                <a:gd name="T37" fmla="*/ 50 h 308"/>
                <a:gd name="T38" fmla="*/ 745 w 762"/>
                <a:gd name="T39" fmla="*/ 73 h 308"/>
                <a:gd name="T40" fmla="*/ 726 w 762"/>
                <a:gd name="T41" fmla="*/ 64 h 308"/>
                <a:gd name="T42" fmla="*/ 712 w 762"/>
                <a:gd name="T43" fmla="*/ 54 h 308"/>
                <a:gd name="T44" fmla="*/ 685 w 762"/>
                <a:gd name="T45" fmla="*/ 89 h 308"/>
                <a:gd name="T46" fmla="*/ 656 w 762"/>
                <a:gd name="T47" fmla="*/ 130 h 308"/>
                <a:gd name="T48" fmla="*/ 656 w 762"/>
                <a:gd name="T49" fmla="*/ 140 h 308"/>
                <a:gd name="T50" fmla="*/ 677 w 762"/>
                <a:gd name="T51" fmla="*/ 147 h 308"/>
                <a:gd name="T52" fmla="*/ 701 w 762"/>
                <a:gd name="T53" fmla="*/ 147 h 308"/>
                <a:gd name="T54" fmla="*/ 686 w 762"/>
                <a:gd name="T55" fmla="*/ 169 h 308"/>
                <a:gd name="T56" fmla="*/ 669 w 762"/>
                <a:gd name="T57" fmla="*/ 190 h 308"/>
                <a:gd name="T58" fmla="*/ 652 w 762"/>
                <a:gd name="T59" fmla="*/ 191 h 308"/>
                <a:gd name="T60" fmla="*/ 633 w 762"/>
                <a:gd name="T61" fmla="*/ 154 h 308"/>
                <a:gd name="T62" fmla="*/ 610 w 762"/>
                <a:gd name="T63" fmla="*/ 180 h 308"/>
                <a:gd name="T64" fmla="*/ 572 w 762"/>
                <a:gd name="T65" fmla="*/ 225 h 308"/>
                <a:gd name="T66" fmla="*/ 562 w 762"/>
                <a:gd name="T67" fmla="*/ 243 h 308"/>
                <a:gd name="T68" fmla="*/ 579 w 762"/>
                <a:gd name="T69" fmla="*/ 251 h 308"/>
                <a:gd name="T70" fmla="*/ 602 w 762"/>
                <a:gd name="T71" fmla="*/ 256 h 308"/>
                <a:gd name="T72" fmla="*/ 590 w 762"/>
                <a:gd name="T73" fmla="*/ 276 h 308"/>
                <a:gd name="T74" fmla="*/ 568 w 762"/>
                <a:gd name="T75" fmla="*/ 296 h 308"/>
                <a:gd name="T76" fmla="*/ 558 w 762"/>
                <a:gd name="T77" fmla="*/ 308 h 308"/>
                <a:gd name="T78" fmla="*/ 479 w 762"/>
                <a:gd name="T79" fmla="*/ 294 h 308"/>
                <a:gd name="T80" fmla="*/ 375 w 762"/>
                <a:gd name="T81" fmla="*/ 265 h 308"/>
                <a:gd name="T82" fmla="*/ 264 w 762"/>
                <a:gd name="T83" fmla="*/ 228 h 308"/>
                <a:gd name="T84" fmla="*/ 163 w 762"/>
                <a:gd name="T85" fmla="*/ 189 h 308"/>
                <a:gd name="T86" fmla="*/ 88 w 762"/>
                <a:gd name="T87" fmla="*/ 155 h 308"/>
                <a:gd name="T88" fmla="*/ 57 w 762"/>
                <a:gd name="T89" fmla="*/ 140 h 308"/>
                <a:gd name="T90" fmla="*/ 26 w 762"/>
                <a:gd name="T91" fmla="*/ 128 h 308"/>
                <a:gd name="T92" fmla="*/ 9 w 762"/>
                <a:gd name="T93" fmla="*/ 123 h 308"/>
                <a:gd name="T94" fmla="*/ 2 w 762"/>
                <a:gd name="T95" fmla="*/ 90 h 30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62"/>
                <a:gd name="T145" fmla="*/ 0 h 308"/>
                <a:gd name="T146" fmla="*/ 762 w 762"/>
                <a:gd name="T147" fmla="*/ 308 h 30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62" h="308">
                  <a:moveTo>
                    <a:pt x="0" y="84"/>
                  </a:moveTo>
                  <a:lnTo>
                    <a:pt x="18" y="92"/>
                  </a:lnTo>
                  <a:lnTo>
                    <a:pt x="39" y="99"/>
                  </a:lnTo>
                  <a:lnTo>
                    <a:pt x="61" y="108"/>
                  </a:lnTo>
                  <a:lnTo>
                    <a:pt x="83" y="118"/>
                  </a:lnTo>
                  <a:lnTo>
                    <a:pt x="103" y="128"/>
                  </a:lnTo>
                  <a:lnTo>
                    <a:pt x="125" y="136"/>
                  </a:lnTo>
                  <a:lnTo>
                    <a:pt x="146" y="145"/>
                  </a:lnTo>
                  <a:lnTo>
                    <a:pt x="164" y="152"/>
                  </a:lnTo>
                  <a:lnTo>
                    <a:pt x="171" y="155"/>
                  </a:lnTo>
                  <a:lnTo>
                    <a:pt x="181" y="159"/>
                  </a:lnTo>
                  <a:lnTo>
                    <a:pt x="195" y="164"/>
                  </a:lnTo>
                  <a:lnTo>
                    <a:pt x="211" y="169"/>
                  </a:lnTo>
                  <a:lnTo>
                    <a:pt x="229" y="177"/>
                  </a:lnTo>
                  <a:lnTo>
                    <a:pt x="250" y="184"/>
                  </a:lnTo>
                  <a:lnTo>
                    <a:pt x="272" y="191"/>
                  </a:lnTo>
                  <a:lnTo>
                    <a:pt x="294" y="199"/>
                  </a:lnTo>
                  <a:lnTo>
                    <a:pt x="316" y="208"/>
                  </a:lnTo>
                  <a:lnTo>
                    <a:pt x="339" y="216"/>
                  </a:lnTo>
                  <a:lnTo>
                    <a:pt x="361" y="222"/>
                  </a:lnTo>
                  <a:lnTo>
                    <a:pt x="382" y="230"/>
                  </a:lnTo>
                  <a:lnTo>
                    <a:pt x="401" y="235"/>
                  </a:lnTo>
                  <a:lnTo>
                    <a:pt x="419" y="241"/>
                  </a:lnTo>
                  <a:lnTo>
                    <a:pt x="435" y="244"/>
                  </a:lnTo>
                  <a:lnTo>
                    <a:pt x="448" y="247"/>
                  </a:lnTo>
                  <a:lnTo>
                    <a:pt x="457" y="248"/>
                  </a:lnTo>
                  <a:lnTo>
                    <a:pt x="467" y="251"/>
                  </a:lnTo>
                  <a:lnTo>
                    <a:pt x="476" y="252"/>
                  </a:lnTo>
                  <a:lnTo>
                    <a:pt x="485" y="255"/>
                  </a:lnTo>
                  <a:lnTo>
                    <a:pt x="494" y="256"/>
                  </a:lnTo>
                  <a:lnTo>
                    <a:pt x="503" y="256"/>
                  </a:lnTo>
                  <a:lnTo>
                    <a:pt x="512" y="255"/>
                  </a:lnTo>
                  <a:lnTo>
                    <a:pt x="520" y="252"/>
                  </a:lnTo>
                  <a:lnTo>
                    <a:pt x="537" y="233"/>
                  </a:lnTo>
                  <a:lnTo>
                    <a:pt x="554" y="212"/>
                  </a:lnTo>
                  <a:lnTo>
                    <a:pt x="569" y="190"/>
                  </a:lnTo>
                  <a:lnTo>
                    <a:pt x="585" y="167"/>
                  </a:lnTo>
                  <a:lnTo>
                    <a:pt x="601" y="143"/>
                  </a:lnTo>
                  <a:lnTo>
                    <a:pt x="616" y="121"/>
                  </a:lnTo>
                  <a:lnTo>
                    <a:pt x="632" y="98"/>
                  </a:lnTo>
                  <a:lnTo>
                    <a:pt x="647" y="77"/>
                  </a:lnTo>
                  <a:lnTo>
                    <a:pt x="656" y="66"/>
                  </a:lnTo>
                  <a:lnTo>
                    <a:pt x="667" y="53"/>
                  </a:lnTo>
                  <a:lnTo>
                    <a:pt x="678" y="38"/>
                  </a:lnTo>
                  <a:lnTo>
                    <a:pt x="689" y="26"/>
                  </a:lnTo>
                  <a:lnTo>
                    <a:pt x="699" y="14"/>
                  </a:lnTo>
                  <a:lnTo>
                    <a:pt x="708" y="5"/>
                  </a:lnTo>
                  <a:lnTo>
                    <a:pt x="714" y="0"/>
                  </a:lnTo>
                  <a:lnTo>
                    <a:pt x="718" y="0"/>
                  </a:lnTo>
                  <a:lnTo>
                    <a:pt x="723" y="5"/>
                  </a:lnTo>
                  <a:lnTo>
                    <a:pt x="729" y="11"/>
                  </a:lnTo>
                  <a:lnTo>
                    <a:pt x="735" y="18"/>
                  </a:lnTo>
                  <a:lnTo>
                    <a:pt x="740" y="24"/>
                  </a:lnTo>
                  <a:lnTo>
                    <a:pt x="747" y="32"/>
                  </a:lnTo>
                  <a:lnTo>
                    <a:pt x="752" y="38"/>
                  </a:lnTo>
                  <a:lnTo>
                    <a:pt x="757" y="45"/>
                  </a:lnTo>
                  <a:lnTo>
                    <a:pt x="762" y="50"/>
                  </a:lnTo>
                  <a:lnTo>
                    <a:pt x="756" y="58"/>
                  </a:lnTo>
                  <a:lnTo>
                    <a:pt x="751" y="66"/>
                  </a:lnTo>
                  <a:lnTo>
                    <a:pt x="745" y="73"/>
                  </a:lnTo>
                  <a:lnTo>
                    <a:pt x="740" y="83"/>
                  </a:lnTo>
                  <a:lnTo>
                    <a:pt x="734" y="75"/>
                  </a:lnTo>
                  <a:lnTo>
                    <a:pt x="726" y="64"/>
                  </a:lnTo>
                  <a:lnTo>
                    <a:pt x="718" y="55"/>
                  </a:lnTo>
                  <a:lnTo>
                    <a:pt x="714" y="51"/>
                  </a:lnTo>
                  <a:lnTo>
                    <a:pt x="712" y="54"/>
                  </a:lnTo>
                  <a:lnTo>
                    <a:pt x="705" y="63"/>
                  </a:lnTo>
                  <a:lnTo>
                    <a:pt x="695" y="75"/>
                  </a:lnTo>
                  <a:lnTo>
                    <a:pt x="685" y="89"/>
                  </a:lnTo>
                  <a:lnTo>
                    <a:pt x="673" y="105"/>
                  </a:lnTo>
                  <a:lnTo>
                    <a:pt x="663" y="119"/>
                  </a:lnTo>
                  <a:lnTo>
                    <a:pt x="656" y="130"/>
                  </a:lnTo>
                  <a:lnTo>
                    <a:pt x="652" y="137"/>
                  </a:lnTo>
                  <a:lnTo>
                    <a:pt x="652" y="138"/>
                  </a:lnTo>
                  <a:lnTo>
                    <a:pt x="656" y="140"/>
                  </a:lnTo>
                  <a:lnTo>
                    <a:pt x="661" y="142"/>
                  </a:lnTo>
                  <a:lnTo>
                    <a:pt x="669" y="145"/>
                  </a:lnTo>
                  <a:lnTo>
                    <a:pt x="677" y="147"/>
                  </a:lnTo>
                  <a:lnTo>
                    <a:pt x="686" y="149"/>
                  </a:lnTo>
                  <a:lnTo>
                    <a:pt x="694" y="149"/>
                  </a:lnTo>
                  <a:lnTo>
                    <a:pt x="701" y="147"/>
                  </a:lnTo>
                  <a:lnTo>
                    <a:pt x="696" y="155"/>
                  </a:lnTo>
                  <a:lnTo>
                    <a:pt x="691" y="162"/>
                  </a:lnTo>
                  <a:lnTo>
                    <a:pt x="686" y="169"/>
                  </a:lnTo>
                  <a:lnTo>
                    <a:pt x="681" y="176"/>
                  </a:lnTo>
                  <a:lnTo>
                    <a:pt x="674" y="182"/>
                  </a:lnTo>
                  <a:lnTo>
                    <a:pt x="669" y="190"/>
                  </a:lnTo>
                  <a:lnTo>
                    <a:pt x="663" y="197"/>
                  </a:lnTo>
                  <a:lnTo>
                    <a:pt x="657" y="203"/>
                  </a:lnTo>
                  <a:lnTo>
                    <a:pt x="652" y="191"/>
                  </a:lnTo>
                  <a:lnTo>
                    <a:pt x="645" y="174"/>
                  </a:lnTo>
                  <a:lnTo>
                    <a:pt x="637" y="160"/>
                  </a:lnTo>
                  <a:lnTo>
                    <a:pt x="633" y="154"/>
                  </a:lnTo>
                  <a:lnTo>
                    <a:pt x="629" y="158"/>
                  </a:lnTo>
                  <a:lnTo>
                    <a:pt x="621" y="167"/>
                  </a:lnTo>
                  <a:lnTo>
                    <a:pt x="610" y="180"/>
                  </a:lnTo>
                  <a:lnTo>
                    <a:pt x="597" y="195"/>
                  </a:lnTo>
                  <a:lnTo>
                    <a:pt x="584" y="211"/>
                  </a:lnTo>
                  <a:lnTo>
                    <a:pt x="572" y="225"/>
                  </a:lnTo>
                  <a:lnTo>
                    <a:pt x="564" y="235"/>
                  </a:lnTo>
                  <a:lnTo>
                    <a:pt x="560" y="241"/>
                  </a:lnTo>
                  <a:lnTo>
                    <a:pt x="562" y="243"/>
                  </a:lnTo>
                  <a:lnTo>
                    <a:pt x="564" y="246"/>
                  </a:lnTo>
                  <a:lnTo>
                    <a:pt x="571" y="248"/>
                  </a:lnTo>
                  <a:lnTo>
                    <a:pt x="579" y="251"/>
                  </a:lnTo>
                  <a:lnTo>
                    <a:pt x="586" y="254"/>
                  </a:lnTo>
                  <a:lnTo>
                    <a:pt x="594" y="255"/>
                  </a:lnTo>
                  <a:lnTo>
                    <a:pt x="602" y="256"/>
                  </a:lnTo>
                  <a:lnTo>
                    <a:pt x="607" y="256"/>
                  </a:lnTo>
                  <a:lnTo>
                    <a:pt x="598" y="266"/>
                  </a:lnTo>
                  <a:lnTo>
                    <a:pt x="590" y="276"/>
                  </a:lnTo>
                  <a:lnTo>
                    <a:pt x="582" y="283"/>
                  </a:lnTo>
                  <a:lnTo>
                    <a:pt x="575" y="290"/>
                  </a:lnTo>
                  <a:lnTo>
                    <a:pt x="568" y="296"/>
                  </a:lnTo>
                  <a:lnTo>
                    <a:pt x="563" y="301"/>
                  </a:lnTo>
                  <a:lnTo>
                    <a:pt x="559" y="305"/>
                  </a:lnTo>
                  <a:lnTo>
                    <a:pt x="558" y="308"/>
                  </a:lnTo>
                  <a:lnTo>
                    <a:pt x="536" y="305"/>
                  </a:lnTo>
                  <a:lnTo>
                    <a:pt x="509" y="301"/>
                  </a:lnTo>
                  <a:lnTo>
                    <a:pt x="479" y="294"/>
                  </a:lnTo>
                  <a:lnTo>
                    <a:pt x="446" y="286"/>
                  </a:lnTo>
                  <a:lnTo>
                    <a:pt x="412" y="276"/>
                  </a:lnTo>
                  <a:lnTo>
                    <a:pt x="375" y="265"/>
                  </a:lnTo>
                  <a:lnTo>
                    <a:pt x="338" y="254"/>
                  </a:lnTo>
                  <a:lnTo>
                    <a:pt x="302" y="241"/>
                  </a:lnTo>
                  <a:lnTo>
                    <a:pt x="264" y="228"/>
                  </a:lnTo>
                  <a:lnTo>
                    <a:pt x="228" y="215"/>
                  </a:lnTo>
                  <a:lnTo>
                    <a:pt x="194" y="202"/>
                  </a:lnTo>
                  <a:lnTo>
                    <a:pt x="163" y="189"/>
                  </a:lnTo>
                  <a:lnTo>
                    <a:pt x="133" y="176"/>
                  </a:lnTo>
                  <a:lnTo>
                    <a:pt x="109" y="165"/>
                  </a:lnTo>
                  <a:lnTo>
                    <a:pt x="88" y="155"/>
                  </a:lnTo>
                  <a:lnTo>
                    <a:pt x="71" y="146"/>
                  </a:lnTo>
                  <a:lnTo>
                    <a:pt x="65" y="143"/>
                  </a:lnTo>
                  <a:lnTo>
                    <a:pt x="57" y="140"/>
                  </a:lnTo>
                  <a:lnTo>
                    <a:pt x="47" y="136"/>
                  </a:lnTo>
                  <a:lnTo>
                    <a:pt x="36" y="132"/>
                  </a:lnTo>
                  <a:lnTo>
                    <a:pt x="26" y="128"/>
                  </a:lnTo>
                  <a:lnTo>
                    <a:pt x="17" y="125"/>
                  </a:lnTo>
                  <a:lnTo>
                    <a:pt x="12" y="124"/>
                  </a:lnTo>
                  <a:lnTo>
                    <a:pt x="9" y="123"/>
                  </a:lnTo>
                  <a:lnTo>
                    <a:pt x="8" y="115"/>
                  </a:lnTo>
                  <a:lnTo>
                    <a:pt x="5" y="103"/>
                  </a:lnTo>
                  <a:lnTo>
                    <a:pt x="2" y="90"/>
                  </a:lnTo>
                  <a:lnTo>
                    <a:pt x="0" y="84"/>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 name="Freeform 12"/>
            <p:cNvSpPr>
              <a:spLocks/>
            </p:cNvSpPr>
            <p:nvPr/>
          </p:nvSpPr>
          <p:spPr bwMode="auto">
            <a:xfrm>
              <a:off x="2050" y="3142"/>
              <a:ext cx="68" cy="64"/>
            </a:xfrm>
            <a:custGeom>
              <a:avLst/>
              <a:gdLst>
                <a:gd name="T0" fmla="*/ 68 w 68"/>
                <a:gd name="T1" fmla="*/ 30 h 64"/>
                <a:gd name="T2" fmla="*/ 68 w 68"/>
                <a:gd name="T3" fmla="*/ 30 h 64"/>
                <a:gd name="T4" fmla="*/ 64 w 68"/>
                <a:gd name="T5" fmla="*/ 39 h 64"/>
                <a:gd name="T6" fmla="*/ 58 w 68"/>
                <a:gd name="T7" fmla="*/ 46 h 64"/>
                <a:gd name="T8" fmla="*/ 51 w 68"/>
                <a:gd name="T9" fmla="*/ 51 h 64"/>
                <a:gd name="T10" fmla="*/ 44 w 68"/>
                <a:gd name="T11" fmla="*/ 56 h 64"/>
                <a:gd name="T12" fmla="*/ 36 w 68"/>
                <a:gd name="T13" fmla="*/ 58 h 64"/>
                <a:gd name="T14" fmla="*/ 27 w 68"/>
                <a:gd name="T15" fmla="*/ 61 h 64"/>
                <a:gd name="T16" fmla="*/ 18 w 68"/>
                <a:gd name="T17" fmla="*/ 62 h 64"/>
                <a:gd name="T18" fmla="*/ 9 w 68"/>
                <a:gd name="T19" fmla="*/ 64 h 64"/>
                <a:gd name="T20" fmla="*/ 0 w 68"/>
                <a:gd name="T21" fmla="*/ 64 h 64"/>
                <a:gd name="T22" fmla="*/ 1 w 68"/>
                <a:gd name="T23" fmla="*/ 61 h 64"/>
                <a:gd name="T24" fmla="*/ 4 w 68"/>
                <a:gd name="T25" fmla="*/ 60 h 64"/>
                <a:gd name="T26" fmla="*/ 5 w 68"/>
                <a:gd name="T27" fmla="*/ 57 h 64"/>
                <a:gd name="T28" fmla="*/ 6 w 68"/>
                <a:gd name="T29" fmla="*/ 56 h 64"/>
                <a:gd name="T30" fmla="*/ 7 w 68"/>
                <a:gd name="T31" fmla="*/ 56 h 64"/>
                <a:gd name="T32" fmla="*/ 7 w 68"/>
                <a:gd name="T33" fmla="*/ 56 h 64"/>
                <a:gd name="T34" fmla="*/ 7 w 68"/>
                <a:gd name="T35" fmla="*/ 56 h 64"/>
                <a:gd name="T36" fmla="*/ 9 w 68"/>
                <a:gd name="T37" fmla="*/ 55 h 64"/>
                <a:gd name="T38" fmla="*/ 14 w 68"/>
                <a:gd name="T39" fmla="*/ 48 h 64"/>
                <a:gd name="T40" fmla="*/ 20 w 68"/>
                <a:gd name="T41" fmla="*/ 43 h 64"/>
                <a:gd name="T42" fmla="*/ 26 w 68"/>
                <a:gd name="T43" fmla="*/ 36 h 64"/>
                <a:gd name="T44" fmla="*/ 32 w 68"/>
                <a:gd name="T45" fmla="*/ 29 h 64"/>
                <a:gd name="T46" fmla="*/ 37 w 68"/>
                <a:gd name="T47" fmla="*/ 22 h 64"/>
                <a:gd name="T48" fmla="*/ 42 w 68"/>
                <a:gd name="T49" fmla="*/ 16 h 64"/>
                <a:gd name="T50" fmla="*/ 46 w 68"/>
                <a:gd name="T51" fmla="*/ 8 h 64"/>
                <a:gd name="T52" fmla="*/ 51 w 68"/>
                <a:gd name="T53" fmla="*/ 0 h 64"/>
                <a:gd name="T54" fmla="*/ 57 w 68"/>
                <a:gd name="T55" fmla="*/ 7 h 64"/>
                <a:gd name="T56" fmla="*/ 60 w 68"/>
                <a:gd name="T57" fmla="*/ 12 h 64"/>
                <a:gd name="T58" fmla="*/ 64 w 68"/>
                <a:gd name="T59" fmla="*/ 18 h 64"/>
                <a:gd name="T60" fmla="*/ 67 w 68"/>
                <a:gd name="T61" fmla="*/ 25 h 64"/>
                <a:gd name="T62" fmla="*/ 68 w 68"/>
                <a:gd name="T63" fmla="*/ 25 h 64"/>
                <a:gd name="T64" fmla="*/ 67 w 68"/>
                <a:gd name="T65" fmla="*/ 26 h 64"/>
                <a:gd name="T66" fmla="*/ 67 w 68"/>
                <a:gd name="T67" fmla="*/ 27 h 64"/>
                <a:gd name="T68" fmla="*/ 67 w 68"/>
                <a:gd name="T69" fmla="*/ 29 h 64"/>
                <a:gd name="T70" fmla="*/ 68 w 68"/>
                <a:gd name="T71" fmla="*/ 30 h 6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
                <a:gd name="T109" fmla="*/ 0 h 64"/>
                <a:gd name="T110" fmla="*/ 68 w 68"/>
                <a:gd name="T111" fmla="*/ 64 h 6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 h="64">
                  <a:moveTo>
                    <a:pt x="68" y="30"/>
                  </a:moveTo>
                  <a:lnTo>
                    <a:pt x="68" y="30"/>
                  </a:lnTo>
                  <a:lnTo>
                    <a:pt x="64" y="39"/>
                  </a:lnTo>
                  <a:lnTo>
                    <a:pt x="58" y="46"/>
                  </a:lnTo>
                  <a:lnTo>
                    <a:pt x="51" y="51"/>
                  </a:lnTo>
                  <a:lnTo>
                    <a:pt x="44" y="56"/>
                  </a:lnTo>
                  <a:lnTo>
                    <a:pt x="36" y="58"/>
                  </a:lnTo>
                  <a:lnTo>
                    <a:pt x="27" y="61"/>
                  </a:lnTo>
                  <a:lnTo>
                    <a:pt x="18" y="62"/>
                  </a:lnTo>
                  <a:lnTo>
                    <a:pt x="9" y="64"/>
                  </a:lnTo>
                  <a:lnTo>
                    <a:pt x="0" y="64"/>
                  </a:lnTo>
                  <a:lnTo>
                    <a:pt x="1" y="61"/>
                  </a:lnTo>
                  <a:lnTo>
                    <a:pt x="4" y="60"/>
                  </a:lnTo>
                  <a:lnTo>
                    <a:pt x="5" y="57"/>
                  </a:lnTo>
                  <a:lnTo>
                    <a:pt x="6" y="56"/>
                  </a:lnTo>
                  <a:lnTo>
                    <a:pt x="7" y="56"/>
                  </a:lnTo>
                  <a:lnTo>
                    <a:pt x="9" y="55"/>
                  </a:lnTo>
                  <a:lnTo>
                    <a:pt x="14" y="48"/>
                  </a:lnTo>
                  <a:lnTo>
                    <a:pt x="20" y="43"/>
                  </a:lnTo>
                  <a:lnTo>
                    <a:pt x="26" y="36"/>
                  </a:lnTo>
                  <a:lnTo>
                    <a:pt x="32" y="29"/>
                  </a:lnTo>
                  <a:lnTo>
                    <a:pt x="37" y="22"/>
                  </a:lnTo>
                  <a:lnTo>
                    <a:pt x="42" y="16"/>
                  </a:lnTo>
                  <a:lnTo>
                    <a:pt x="46" y="8"/>
                  </a:lnTo>
                  <a:lnTo>
                    <a:pt x="51" y="0"/>
                  </a:lnTo>
                  <a:lnTo>
                    <a:pt x="57" y="7"/>
                  </a:lnTo>
                  <a:lnTo>
                    <a:pt x="60" y="12"/>
                  </a:lnTo>
                  <a:lnTo>
                    <a:pt x="64" y="18"/>
                  </a:lnTo>
                  <a:lnTo>
                    <a:pt x="67" y="25"/>
                  </a:lnTo>
                  <a:lnTo>
                    <a:pt x="68" y="25"/>
                  </a:lnTo>
                  <a:lnTo>
                    <a:pt x="67" y="26"/>
                  </a:lnTo>
                  <a:lnTo>
                    <a:pt x="67" y="27"/>
                  </a:lnTo>
                  <a:lnTo>
                    <a:pt x="67" y="29"/>
                  </a:lnTo>
                  <a:lnTo>
                    <a:pt x="68" y="3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 name="Freeform 13"/>
            <p:cNvSpPr>
              <a:spLocks/>
            </p:cNvSpPr>
            <p:nvPr/>
          </p:nvSpPr>
          <p:spPr bwMode="auto">
            <a:xfrm>
              <a:off x="1973" y="3255"/>
              <a:ext cx="52" cy="49"/>
            </a:xfrm>
            <a:custGeom>
              <a:avLst/>
              <a:gdLst>
                <a:gd name="T0" fmla="*/ 51 w 52"/>
                <a:gd name="T1" fmla="*/ 32 h 49"/>
                <a:gd name="T2" fmla="*/ 47 w 52"/>
                <a:gd name="T3" fmla="*/ 40 h 49"/>
                <a:gd name="T4" fmla="*/ 42 w 52"/>
                <a:gd name="T5" fmla="*/ 45 h 49"/>
                <a:gd name="T6" fmla="*/ 37 w 52"/>
                <a:gd name="T7" fmla="*/ 48 h 49"/>
                <a:gd name="T8" fmla="*/ 30 w 52"/>
                <a:gd name="T9" fmla="*/ 49 h 49"/>
                <a:gd name="T10" fmla="*/ 22 w 52"/>
                <a:gd name="T11" fmla="*/ 49 h 49"/>
                <a:gd name="T12" fmla="*/ 16 w 52"/>
                <a:gd name="T13" fmla="*/ 48 h 49"/>
                <a:gd name="T14" fmla="*/ 8 w 52"/>
                <a:gd name="T15" fmla="*/ 45 h 49"/>
                <a:gd name="T16" fmla="*/ 0 w 52"/>
                <a:gd name="T17" fmla="*/ 43 h 49"/>
                <a:gd name="T18" fmla="*/ 2 w 52"/>
                <a:gd name="T19" fmla="*/ 41 h 49"/>
                <a:gd name="T20" fmla="*/ 5 w 52"/>
                <a:gd name="T21" fmla="*/ 39 h 49"/>
                <a:gd name="T22" fmla="*/ 11 w 52"/>
                <a:gd name="T23" fmla="*/ 34 h 49"/>
                <a:gd name="T24" fmla="*/ 17 w 52"/>
                <a:gd name="T25" fmla="*/ 27 h 49"/>
                <a:gd name="T26" fmla="*/ 24 w 52"/>
                <a:gd name="T27" fmla="*/ 21 h 49"/>
                <a:gd name="T28" fmla="*/ 30 w 52"/>
                <a:gd name="T29" fmla="*/ 14 h 49"/>
                <a:gd name="T30" fmla="*/ 37 w 52"/>
                <a:gd name="T31" fmla="*/ 6 h 49"/>
                <a:gd name="T32" fmla="*/ 42 w 52"/>
                <a:gd name="T33" fmla="*/ 0 h 49"/>
                <a:gd name="T34" fmla="*/ 46 w 52"/>
                <a:gd name="T35" fmla="*/ 9 h 49"/>
                <a:gd name="T36" fmla="*/ 49 w 52"/>
                <a:gd name="T37" fmla="*/ 17 h 49"/>
                <a:gd name="T38" fmla="*/ 52 w 52"/>
                <a:gd name="T39" fmla="*/ 24 h 49"/>
                <a:gd name="T40" fmla="*/ 51 w 52"/>
                <a:gd name="T41" fmla="*/ 32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2"/>
                <a:gd name="T64" fmla="*/ 0 h 49"/>
                <a:gd name="T65" fmla="*/ 52 w 52"/>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2" h="49">
                  <a:moveTo>
                    <a:pt x="51" y="32"/>
                  </a:moveTo>
                  <a:lnTo>
                    <a:pt x="47" y="40"/>
                  </a:lnTo>
                  <a:lnTo>
                    <a:pt x="42" y="45"/>
                  </a:lnTo>
                  <a:lnTo>
                    <a:pt x="37" y="48"/>
                  </a:lnTo>
                  <a:lnTo>
                    <a:pt x="30" y="49"/>
                  </a:lnTo>
                  <a:lnTo>
                    <a:pt x="22" y="49"/>
                  </a:lnTo>
                  <a:lnTo>
                    <a:pt x="16" y="48"/>
                  </a:lnTo>
                  <a:lnTo>
                    <a:pt x="8" y="45"/>
                  </a:lnTo>
                  <a:lnTo>
                    <a:pt x="0" y="43"/>
                  </a:lnTo>
                  <a:lnTo>
                    <a:pt x="2" y="41"/>
                  </a:lnTo>
                  <a:lnTo>
                    <a:pt x="5" y="39"/>
                  </a:lnTo>
                  <a:lnTo>
                    <a:pt x="11" y="34"/>
                  </a:lnTo>
                  <a:lnTo>
                    <a:pt x="17" y="27"/>
                  </a:lnTo>
                  <a:lnTo>
                    <a:pt x="24" y="21"/>
                  </a:lnTo>
                  <a:lnTo>
                    <a:pt x="30" y="14"/>
                  </a:lnTo>
                  <a:lnTo>
                    <a:pt x="37" y="6"/>
                  </a:lnTo>
                  <a:lnTo>
                    <a:pt x="42" y="0"/>
                  </a:lnTo>
                  <a:lnTo>
                    <a:pt x="46" y="9"/>
                  </a:lnTo>
                  <a:lnTo>
                    <a:pt x="49" y="17"/>
                  </a:lnTo>
                  <a:lnTo>
                    <a:pt x="52" y="24"/>
                  </a:lnTo>
                  <a:lnTo>
                    <a:pt x="51" y="3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 name="Freeform 14"/>
            <p:cNvSpPr>
              <a:spLocks/>
            </p:cNvSpPr>
            <p:nvPr/>
          </p:nvSpPr>
          <p:spPr bwMode="auto">
            <a:xfrm>
              <a:off x="1400" y="3136"/>
              <a:ext cx="775" cy="285"/>
            </a:xfrm>
            <a:custGeom>
              <a:avLst/>
              <a:gdLst>
                <a:gd name="T0" fmla="*/ 652 w 775"/>
                <a:gd name="T1" fmla="*/ 190 h 285"/>
                <a:gd name="T2" fmla="*/ 630 w 775"/>
                <a:gd name="T3" fmla="*/ 221 h 285"/>
                <a:gd name="T4" fmla="*/ 606 w 775"/>
                <a:gd name="T5" fmla="*/ 251 h 285"/>
                <a:gd name="T6" fmla="*/ 577 w 775"/>
                <a:gd name="T7" fmla="*/ 273 h 285"/>
                <a:gd name="T8" fmla="*/ 542 w 775"/>
                <a:gd name="T9" fmla="*/ 283 h 285"/>
                <a:gd name="T10" fmla="*/ 503 w 775"/>
                <a:gd name="T11" fmla="*/ 285 h 285"/>
                <a:gd name="T12" fmla="*/ 466 w 775"/>
                <a:gd name="T13" fmla="*/ 278 h 285"/>
                <a:gd name="T14" fmla="*/ 428 w 775"/>
                <a:gd name="T15" fmla="*/ 267 h 285"/>
                <a:gd name="T16" fmla="*/ 386 w 775"/>
                <a:gd name="T17" fmla="*/ 251 h 285"/>
                <a:gd name="T18" fmla="*/ 335 w 775"/>
                <a:gd name="T19" fmla="*/ 232 h 285"/>
                <a:gd name="T20" fmla="*/ 286 w 775"/>
                <a:gd name="T21" fmla="*/ 212 h 285"/>
                <a:gd name="T22" fmla="*/ 234 w 775"/>
                <a:gd name="T23" fmla="*/ 193 h 285"/>
                <a:gd name="T24" fmla="*/ 184 w 775"/>
                <a:gd name="T25" fmla="*/ 172 h 285"/>
                <a:gd name="T26" fmla="*/ 133 w 775"/>
                <a:gd name="T27" fmla="*/ 153 h 285"/>
                <a:gd name="T28" fmla="*/ 84 w 775"/>
                <a:gd name="T29" fmla="*/ 132 h 285"/>
                <a:gd name="T30" fmla="*/ 35 w 775"/>
                <a:gd name="T31" fmla="*/ 111 h 285"/>
                <a:gd name="T32" fmla="*/ 9 w 775"/>
                <a:gd name="T33" fmla="*/ 98 h 285"/>
                <a:gd name="T34" fmla="*/ 1 w 775"/>
                <a:gd name="T35" fmla="*/ 84 h 285"/>
                <a:gd name="T36" fmla="*/ 9 w 775"/>
                <a:gd name="T37" fmla="*/ 83 h 285"/>
                <a:gd name="T38" fmla="*/ 31 w 775"/>
                <a:gd name="T39" fmla="*/ 92 h 285"/>
                <a:gd name="T40" fmla="*/ 54 w 775"/>
                <a:gd name="T41" fmla="*/ 101 h 285"/>
                <a:gd name="T42" fmla="*/ 76 w 775"/>
                <a:gd name="T43" fmla="*/ 110 h 285"/>
                <a:gd name="T44" fmla="*/ 111 w 775"/>
                <a:gd name="T45" fmla="*/ 127 h 285"/>
                <a:gd name="T46" fmla="*/ 158 w 775"/>
                <a:gd name="T47" fmla="*/ 146 h 285"/>
                <a:gd name="T48" fmla="*/ 198 w 775"/>
                <a:gd name="T49" fmla="*/ 160 h 285"/>
                <a:gd name="T50" fmla="*/ 232 w 775"/>
                <a:gd name="T51" fmla="*/ 172 h 285"/>
                <a:gd name="T52" fmla="*/ 264 w 775"/>
                <a:gd name="T53" fmla="*/ 184 h 285"/>
                <a:gd name="T54" fmla="*/ 296 w 775"/>
                <a:gd name="T55" fmla="*/ 195 h 285"/>
                <a:gd name="T56" fmla="*/ 329 w 775"/>
                <a:gd name="T57" fmla="*/ 207 h 285"/>
                <a:gd name="T58" fmla="*/ 361 w 775"/>
                <a:gd name="T59" fmla="*/ 219 h 285"/>
                <a:gd name="T60" fmla="*/ 393 w 775"/>
                <a:gd name="T61" fmla="*/ 230 h 285"/>
                <a:gd name="T62" fmla="*/ 426 w 775"/>
                <a:gd name="T63" fmla="*/ 241 h 285"/>
                <a:gd name="T64" fmla="*/ 458 w 775"/>
                <a:gd name="T65" fmla="*/ 251 h 285"/>
                <a:gd name="T66" fmla="*/ 492 w 775"/>
                <a:gd name="T67" fmla="*/ 260 h 285"/>
                <a:gd name="T68" fmla="*/ 514 w 775"/>
                <a:gd name="T69" fmla="*/ 265 h 285"/>
                <a:gd name="T70" fmla="*/ 531 w 775"/>
                <a:gd name="T71" fmla="*/ 267 h 285"/>
                <a:gd name="T72" fmla="*/ 549 w 775"/>
                <a:gd name="T73" fmla="*/ 264 h 285"/>
                <a:gd name="T74" fmla="*/ 573 w 775"/>
                <a:gd name="T75" fmla="*/ 247 h 285"/>
                <a:gd name="T76" fmla="*/ 597 w 775"/>
                <a:gd name="T77" fmla="*/ 220 h 285"/>
                <a:gd name="T78" fmla="*/ 616 w 775"/>
                <a:gd name="T79" fmla="*/ 194 h 285"/>
                <a:gd name="T80" fmla="*/ 629 w 775"/>
                <a:gd name="T81" fmla="*/ 176 h 285"/>
                <a:gd name="T82" fmla="*/ 638 w 775"/>
                <a:gd name="T83" fmla="*/ 167 h 285"/>
                <a:gd name="T84" fmla="*/ 643 w 775"/>
                <a:gd name="T85" fmla="*/ 162 h 285"/>
                <a:gd name="T86" fmla="*/ 659 w 775"/>
                <a:gd name="T87" fmla="*/ 145 h 285"/>
                <a:gd name="T88" fmla="*/ 676 w 775"/>
                <a:gd name="T89" fmla="*/ 125 h 285"/>
                <a:gd name="T90" fmla="*/ 692 w 775"/>
                <a:gd name="T91" fmla="*/ 101 h 285"/>
                <a:gd name="T92" fmla="*/ 707 w 775"/>
                <a:gd name="T93" fmla="*/ 79 h 285"/>
                <a:gd name="T94" fmla="*/ 720 w 775"/>
                <a:gd name="T95" fmla="*/ 66 h 285"/>
                <a:gd name="T96" fmla="*/ 726 w 775"/>
                <a:gd name="T97" fmla="*/ 58 h 285"/>
                <a:gd name="T98" fmla="*/ 734 w 775"/>
                <a:gd name="T99" fmla="*/ 44 h 285"/>
                <a:gd name="T100" fmla="*/ 738 w 775"/>
                <a:gd name="T101" fmla="*/ 36 h 285"/>
                <a:gd name="T102" fmla="*/ 752 w 775"/>
                <a:gd name="T103" fmla="*/ 11 h 285"/>
                <a:gd name="T104" fmla="*/ 762 w 775"/>
                <a:gd name="T105" fmla="*/ 5 h 285"/>
                <a:gd name="T106" fmla="*/ 773 w 775"/>
                <a:gd name="T107" fmla="*/ 17 h 285"/>
                <a:gd name="T108" fmla="*/ 762 w 775"/>
                <a:gd name="T109" fmla="*/ 40 h 285"/>
                <a:gd name="T110" fmla="*/ 735 w 775"/>
                <a:gd name="T111" fmla="*/ 79 h 285"/>
                <a:gd name="T112" fmla="*/ 707 w 775"/>
                <a:gd name="T113" fmla="*/ 118 h 285"/>
                <a:gd name="T114" fmla="*/ 678 w 775"/>
                <a:gd name="T115" fmla="*/ 156 h 28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775"/>
                <a:gd name="T175" fmla="*/ 0 h 285"/>
                <a:gd name="T176" fmla="*/ 775 w 775"/>
                <a:gd name="T177" fmla="*/ 285 h 28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775" h="285">
                  <a:moveTo>
                    <a:pt x="663" y="176"/>
                  </a:moveTo>
                  <a:lnTo>
                    <a:pt x="652" y="190"/>
                  </a:lnTo>
                  <a:lnTo>
                    <a:pt x="641" y="206"/>
                  </a:lnTo>
                  <a:lnTo>
                    <a:pt x="630" y="221"/>
                  </a:lnTo>
                  <a:lnTo>
                    <a:pt x="619" y="237"/>
                  </a:lnTo>
                  <a:lnTo>
                    <a:pt x="606" y="251"/>
                  </a:lnTo>
                  <a:lnTo>
                    <a:pt x="591" y="264"/>
                  </a:lnTo>
                  <a:lnTo>
                    <a:pt x="577" y="273"/>
                  </a:lnTo>
                  <a:lnTo>
                    <a:pt x="560" y="279"/>
                  </a:lnTo>
                  <a:lnTo>
                    <a:pt x="542" y="283"/>
                  </a:lnTo>
                  <a:lnTo>
                    <a:pt x="523" y="285"/>
                  </a:lnTo>
                  <a:lnTo>
                    <a:pt x="503" y="285"/>
                  </a:lnTo>
                  <a:lnTo>
                    <a:pt x="484" y="282"/>
                  </a:lnTo>
                  <a:lnTo>
                    <a:pt x="466" y="278"/>
                  </a:lnTo>
                  <a:lnTo>
                    <a:pt x="446" y="273"/>
                  </a:lnTo>
                  <a:lnTo>
                    <a:pt x="428" y="267"/>
                  </a:lnTo>
                  <a:lnTo>
                    <a:pt x="410" y="260"/>
                  </a:lnTo>
                  <a:lnTo>
                    <a:pt x="386" y="251"/>
                  </a:lnTo>
                  <a:lnTo>
                    <a:pt x="361" y="241"/>
                  </a:lnTo>
                  <a:lnTo>
                    <a:pt x="335" y="232"/>
                  </a:lnTo>
                  <a:lnTo>
                    <a:pt x="311" y="221"/>
                  </a:lnTo>
                  <a:lnTo>
                    <a:pt x="286" y="212"/>
                  </a:lnTo>
                  <a:lnTo>
                    <a:pt x="260" y="202"/>
                  </a:lnTo>
                  <a:lnTo>
                    <a:pt x="234" y="193"/>
                  </a:lnTo>
                  <a:lnTo>
                    <a:pt x="210" y="182"/>
                  </a:lnTo>
                  <a:lnTo>
                    <a:pt x="184" y="172"/>
                  </a:lnTo>
                  <a:lnTo>
                    <a:pt x="159" y="163"/>
                  </a:lnTo>
                  <a:lnTo>
                    <a:pt x="133" y="153"/>
                  </a:lnTo>
                  <a:lnTo>
                    <a:pt x="109" y="142"/>
                  </a:lnTo>
                  <a:lnTo>
                    <a:pt x="84" y="132"/>
                  </a:lnTo>
                  <a:lnTo>
                    <a:pt x="59" y="121"/>
                  </a:lnTo>
                  <a:lnTo>
                    <a:pt x="35" y="111"/>
                  </a:lnTo>
                  <a:lnTo>
                    <a:pt x="10" y="101"/>
                  </a:lnTo>
                  <a:lnTo>
                    <a:pt x="9" y="98"/>
                  </a:lnTo>
                  <a:lnTo>
                    <a:pt x="5" y="92"/>
                  </a:lnTo>
                  <a:lnTo>
                    <a:pt x="1" y="84"/>
                  </a:lnTo>
                  <a:lnTo>
                    <a:pt x="0" y="79"/>
                  </a:lnTo>
                  <a:lnTo>
                    <a:pt x="9" y="83"/>
                  </a:lnTo>
                  <a:lnTo>
                    <a:pt x="19" y="86"/>
                  </a:lnTo>
                  <a:lnTo>
                    <a:pt x="31" y="92"/>
                  </a:lnTo>
                  <a:lnTo>
                    <a:pt x="43" y="96"/>
                  </a:lnTo>
                  <a:lnTo>
                    <a:pt x="54" y="101"/>
                  </a:lnTo>
                  <a:lnTo>
                    <a:pt x="66" y="105"/>
                  </a:lnTo>
                  <a:lnTo>
                    <a:pt x="76" y="110"/>
                  </a:lnTo>
                  <a:lnTo>
                    <a:pt x="85" y="114"/>
                  </a:lnTo>
                  <a:lnTo>
                    <a:pt x="111" y="127"/>
                  </a:lnTo>
                  <a:lnTo>
                    <a:pt x="136" y="137"/>
                  </a:lnTo>
                  <a:lnTo>
                    <a:pt x="158" y="146"/>
                  </a:lnTo>
                  <a:lnTo>
                    <a:pt x="178" y="154"/>
                  </a:lnTo>
                  <a:lnTo>
                    <a:pt x="198" y="160"/>
                  </a:lnTo>
                  <a:lnTo>
                    <a:pt x="215" y="167"/>
                  </a:lnTo>
                  <a:lnTo>
                    <a:pt x="232" y="172"/>
                  </a:lnTo>
                  <a:lnTo>
                    <a:pt x="247" y="177"/>
                  </a:lnTo>
                  <a:lnTo>
                    <a:pt x="264" y="184"/>
                  </a:lnTo>
                  <a:lnTo>
                    <a:pt x="281" y="189"/>
                  </a:lnTo>
                  <a:lnTo>
                    <a:pt x="296" y="195"/>
                  </a:lnTo>
                  <a:lnTo>
                    <a:pt x="313" y="200"/>
                  </a:lnTo>
                  <a:lnTo>
                    <a:pt x="329" y="207"/>
                  </a:lnTo>
                  <a:lnTo>
                    <a:pt x="345" y="213"/>
                  </a:lnTo>
                  <a:lnTo>
                    <a:pt x="361" y="219"/>
                  </a:lnTo>
                  <a:lnTo>
                    <a:pt x="378" y="224"/>
                  </a:lnTo>
                  <a:lnTo>
                    <a:pt x="393" y="230"/>
                  </a:lnTo>
                  <a:lnTo>
                    <a:pt x="410" y="235"/>
                  </a:lnTo>
                  <a:lnTo>
                    <a:pt x="426" y="241"/>
                  </a:lnTo>
                  <a:lnTo>
                    <a:pt x="443" y="246"/>
                  </a:lnTo>
                  <a:lnTo>
                    <a:pt x="458" y="251"/>
                  </a:lnTo>
                  <a:lnTo>
                    <a:pt x="475" y="256"/>
                  </a:lnTo>
                  <a:lnTo>
                    <a:pt x="492" y="260"/>
                  </a:lnTo>
                  <a:lnTo>
                    <a:pt x="509" y="264"/>
                  </a:lnTo>
                  <a:lnTo>
                    <a:pt x="514" y="265"/>
                  </a:lnTo>
                  <a:lnTo>
                    <a:pt x="522" y="267"/>
                  </a:lnTo>
                  <a:lnTo>
                    <a:pt x="531" y="267"/>
                  </a:lnTo>
                  <a:lnTo>
                    <a:pt x="536" y="267"/>
                  </a:lnTo>
                  <a:lnTo>
                    <a:pt x="549" y="264"/>
                  </a:lnTo>
                  <a:lnTo>
                    <a:pt x="560" y="257"/>
                  </a:lnTo>
                  <a:lnTo>
                    <a:pt x="573" y="247"/>
                  </a:lnTo>
                  <a:lnTo>
                    <a:pt x="585" y="234"/>
                  </a:lnTo>
                  <a:lnTo>
                    <a:pt x="597" y="220"/>
                  </a:lnTo>
                  <a:lnTo>
                    <a:pt x="607" y="206"/>
                  </a:lnTo>
                  <a:lnTo>
                    <a:pt x="616" y="194"/>
                  </a:lnTo>
                  <a:lnTo>
                    <a:pt x="622" y="185"/>
                  </a:lnTo>
                  <a:lnTo>
                    <a:pt x="629" y="176"/>
                  </a:lnTo>
                  <a:lnTo>
                    <a:pt x="635" y="171"/>
                  </a:lnTo>
                  <a:lnTo>
                    <a:pt x="638" y="167"/>
                  </a:lnTo>
                  <a:lnTo>
                    <a:pt x="639" y="165"/>
                  </a:lnTo>
                  <a:lnTo>
                    <a:pt x="643" y="162"/>
                  </a:lnTo>
                  <a:lnTo>
                    <a:pt x="651" y="153"/>
                  </a:lnTo>
                  <a:lnTo>
                    <a:pt x="659" y="145"/>
                  </a:lnTo>
                  <a:lnTo>
                    <a:pt x="663" y="141"/>
                  </a:lnTo>
                  <a:lnTo>
                    <a:pt x="676" y="125"/>
                  </a:lnTo>
                  <a:lnTo>
                    <a:pt x="685" y="114"/>
                  </a:lnTo>
                  <a:lnTo>
                    <a:pt x="692" y="101"/>
                  </a:lnTo>
                  <a:lnTo>
                    <a:pt x="700" y="83"/>
                  </a:lnTo>
                  <a:lnTo>
                    <a:pt x="707" y="79"/>
                  </a:lnTo>
                  <a:lnTo>
                    <a:pt x="713" y="72"/>
                  </a:lnTo>
                  <a:lnTo>
                    <a:pt x="720" y="66"/>
                  </a:lnTo>
                  <a:lnTo>
                    <a:pt x="725" y="61"/>
                  </a:lnTo>
                  <a:lnTo>
                    <a:pt x="726" y="58"/>
                  </a:lnTo>
                  <a:lnTo>
                    <a:pt x="730" y="52"/>
                  </a:lnTo>
                  <a:lnTo>
                    <a:pt x="734" y="44"/>
                  </a:lnTo>
                  <a:lnTo>
                    <a:pt x="735" y="40"/>
                  </a:lnTo>
                  <a:lnTo>
                    <a:pt x="738" y="36"/>
                  </a:lnTo>
                  <a:lnTo>
                    <a:pt x="744" y="26"/>
                  </a:lnTo>
                  <a:lnTo>
                    <a:pt x="752" y="11"/>
                  </a:lnTo>
                  <a:lnTo>
                    <a:pt x="758" y="0"/>
                  </a:lnTo>
                  <a:lnTo>
                    <a:pt x="762" y="5"/>
                  </a:lnTo>
                  <a:lnTo>
                    <a:pt x="767" y="11"/>
                  </a:lnTo>
                  <a:lnTo>
                    <a:pt x="773" y="17"/>
                  </a:lnTo>
                  <a:lnTo>
                    <a:pt x="775" y="20"/>
                  </a:lnTo>
                  <a:lnTo>
                    <a:pt x="762" y="40"/>
                  </a:lnTo>
                  <a:lnTo>
                    <a:pt x="749" y="59"/>
                  </a:lnTo>
                  <a:lnTo>
                    <a:pt x="735" y="79"/>
                  </a:lnTo>
                  <a:lnTo>
                    <a:pt x="721" y="98"/>
                  </a:lnTo>
                  <a:lnTo>
                    <a:pt x="707" y="118"/>
                  </a:lnTo>
                  <a:lnTo>
                    <a:pt x="692" y="137"/>
                  </a:lnTo>
                  <a:lnTo>
                    <a:pt x="678" y="156"/>
                  </a:lnTo>
                  <a:lnTo>
                    <a:pt x="663" y="176"/>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 name="Freeform 15"/>
            <p:cNvSpPr>
              <a:spLocks/>
            </p:cNvSpPr>
            <p:nvPr/>
          </p:nvSpPr>
          <p:spPr bwMode="auto">
            <a:xfrm>
              <a:off x="1991" y="2949"/>
              <a:ext cx="237" cy="188"/>
            </a:xfrm>
            <a:custGeom>
              <a:avLst/>
              <a:gdLst>
                <a:gd name="T0" fmla="*/ 197 w 237"/>
                <a:gd name="T1" fmla="*/ 188 h 188"/>
                <a:gd name="T2" fmla="*/ 191 w 237"/>
                <a:gd name="T3" fmla="*/ 179 h 188"/>
                <a:gd name="T4" fmla="*/ 183 w 237"/>
                <a:gd name="T5" fmla="*/ 170 h 188"/>
                <a:gd name="T6" fmla="*/ 175 w 237"/>
                <a:gd name="T7" fmla="*/ 162 h 188"/>
                <a:gd name="T8" fmla="*/ 167 w 237"/>
                <a:gd name="T9" fmla="*/ 153 h 188"/>
                <a:gd name="T10" fmla="*/ 160 w 237"/>
                <a:gd name="T11" fmla="*/ 145 h 188"/>
                <a:gd name="T12" fmla="*/ 152 w 237"/>
                <a:gd name="T13" fmla="*/ 136 h 188"/>
                <a:gd name="T14" fmla="*/ 144 w 237"/>
                <a:gd name="T15" fmla="*/ 128 h 188"/>
                <a:gd name="T16" fmla="*/ 136 w 237"/>
                <a:gd name="T17" fmla="*/ 119 h 188"/>
                <a:gd name="T18" fmla="*/ 123 w 237"/>
                <a:gd name="T19" fmla="*/ 105 h 188"/>
                <a:gd name="T20" fmla="*/ 110 w 237"/>
                <a:gd name="T21" fmla="*/ 95 h 188"/>
                <a:gd name="T22" fmla="*/ 95 w 237"/>
                <a:gd name="T23" fmla="*/ 86 h 188"/>
                <a:gd name="T24" fmla="*/ 78 w 237"/>
                <a:gd name="T25" fmla="*/ 78 h 188"/>
                <a:gd name="T26" fmla="*/ 61 w 237"/>
                <a:gd name="T27" fmla="*/ 73 h 188"/>
                <a:gd name="T28" fmla="*/ 44 w 237"/>
                <a:gd name="T29" fmla="*/ 66 h 188"/>
                <a:gd name="T30" fmla="*/ 28 w 237"/>
                <a:gd name="T31" fmla="*/ 60 h 188"/>
                <a:gd name="T32" fmla="*/ 11 w 237"/>
                <a:gd name="T33" fmla="*/ 53 h 188"/>
                <a:gd name="T34" fmla="*/ 7 w 237"/>
                <a:gd name="T35" fmla="*/ 51 h 188"/>
                <a:gd name="T36" fmla="*/ 4 w 237"/>
                <a:gd name="T37" fmla="*/ 48 h 188"/>
                <a:gd name="T38" fmla="*/ 2 w 237"/>
                <a:gd name="T39" fmla="*/ 45 h 188"/>
                <a:gd name="T40" fmla="*/ 0 w 237"/>
                <a:gd name="T41" fmla="*/ 42 h 188"/>
                <a:gd name="T42" fmla="*/ 0 w 237"/>
                <a:gd name="T43" fmla="*/ 31 h 188"/>
                <a:gd name="T44" fmla="*/ 4 w 237"/>
                <a:gd name="T45" fmla="*/ 21 h 188"/>
                <a:gd name="T46" fmla="*/ 9 w 237"/>
                <a:gd name="T47" fmla="*/ 13 h 188"/>
                <a:gd name="T48" fmla="*/ 20 w 237"/>
                <a:gd name="T49" fmla="*/ 8 h 188"/>
                <a:gd name="T50" fmla="*/ 33 w 237"/>
                <a:gd name="T51" fmla="*/ 4 h 188"/>
                <a:gd name="T52" fmla="*/ 47 w 237"/>
                <a:gd name="T53" fmla="*/ 1 h 188"/>
                <a:gd name="T54" fmla="*/ 61 w 237"/>
                <a:gd name="T55" fmla="*/ 0 h 188"/>
                <a:gd name="T56" fmla="*/ 75 w 237"/>
                <a:gd name="T57" fmla="*/ 1 h 188"/>
                <a:gd name="T58" fmla="*/ 90 w 237"/>
                <a:gd name="T59" fmla="*/ 4 h 188"/>
                <a:gd name="T60" fmla="*/ 103 w 237"/>
                <a:gd name="T61" fmla="*/ 8 h 188"/>
                <a:gd name="T62" fmla="*/ 116 w 237"/>
                <a:gd name="T63" fmla="*/ 13 h 188"/>
                <a:gd name="T64" fmla="*/ 129 w 237"/>
                <a:gd name="T65" fmla="*/ 20 h 188"/>
                <a:gd name="T66" fmla="*/ 145 w 237"/>
                <a:gd name="T67" fmla="*/ 30 h 188"/>
                <a:gd name="T68" fmla="*/ 161 w 237"/>
                <a:gd name="T69" fmla="*/ 42 h 188"/>
                <a:gd name="T70" fmla="*/ 175 w 237"/>
                <a:gd name="T71" fmla="*/ 53 h 188"/>
                <a:gd name="T72" fmla="*/ 188 w 237"/>
                <a:gd name="T73" fmla="*/ 68 h 188"/>
                <a:gd name="T74" fmla="*/ 201 w 237"/>
                <a:gd name="T75" fmla="*/ 82 h 188"/>
                <a:gd name="T76" fmla="*/ 213 w 237"/>
                <a:gd name="T77" fmla="*/ 97 h 188"/>
                <a:gd name="T78" fmla="*/ 226 w 237"/>
                <a:gd name="T79" fmla="*/ 112 h 188"/>
                <a:gd name="T80" fmla="*/ 237 w 237"/>
                <a:gd name="T81" fmla="*/ 127 h 188"/>
                <a:gd name="T82" fmla="*/ 232 w 237"/>
                <a:gd name="T83" fmla="*/ 135 h 188"/>
                <a:gd name="T84" fmla="*/ 227 w 237"/>
                <a:gd name="T85" fmla="*/ 143 h 188"/>
                <a:gd name="T86" fmla="*/ 222 w 237"/>
                <a:gd name="T87" fmla="*/ 150 h 188"/>
                <a:gd name="T88" fmla="*/ 218 w 237"/>
                <a:gd name="T89" fmla="*/ 158 h 188"/>
                <a:gd name="T90" fmla="*/ 213 w 237"/>
                <a:gd name="T91" fmla="*/ 166 h 188"/>
                <a:gd name="T92" fmla="*/ 208 w 237"/>
                <a:gd name="T93" fmla="*/ 174 h 188"/>
                <a:gd name="T94" fmla="*/ 202 w 237"/>
                <a:gd name="T95" fmla="*/ 180 h 188"/>
                <a:gd name="T96" fmla="*/ 197 w 237"/>
                <a:gd name="T97" fmla="*/ 188 h 1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37"/>
                <a:gd name="T148" fmla="*/ 0 h 188"/>
                <a:gd name="T149" fmla="*/ 237 w 237"/>
                <a:gd name="T150" fmla="*/ 188 h 1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37" h="188">
                  <a:moveTo>
                    <a:pt x="197" y="188"/>
                  </a:moveTo>
                  <a:lnTo>
                    <a:pt x="191" y="179"/>
                  </a:lnTo>
                  <a:lnTo>
                    <a:pt x="183" y="170"/>
                  </a:lnTo>
                  <a:lnTo>
                    <a:pt x="175" y="162"/>
                  </a:lnTo>
                  <a:lnTo>
                    <a:pt x="167" y="153"/>
                  </a:lnTo>
                  <a:lnTo>
                    <a:pt x="160" y="145"/>
                  </a:lnTo>
                  <a:lnTo>
                    <a:pt x="152" y="136"/>
                  </a:lnTo>
                  <a:lnTo>
                    <a:pt x="144" y="128"/>
                  </a:lnTo>
                  <a:lnTo>
                    <a:pt x="136" y="119"/>
                  </a:lnTo>
                  <a:lnTo>
                    <a:pt x="123" y="105"/>
                  </a:lnTo>
                  <a:lnTo>
                    <a:pt x="110" y="95"/>
                  </a:lnTo>
                  <a:lnTo>
                    <a:pt x="95" y="86"/>
                  </a:lnTo>
                  <a:lnTo>
                    <a:pt x="78" y="78"/>
                  </a:lnTo>
                  <a:lnTo>
                    <a:pt x="61" y="73"/>
                  </a:lnTo>
                  <a:lnTo>
                    <a:pt x="44" y="66"/>
                  </a:lnTo>
                  <a:lnTo>
                    <a:pt x="28" y="60"/>
                  </a:lnTo>
                  <a:lnTo>
                    <a:pt x="11" y="53"/>
                  </a:lnTo>
                  <a:lnTo>
                    <a:pt x="7" y="51"/>
                  </a:lnTo>
                  <a:lnTo>
                    <a:pt x="4" y="48"/>
                  </a:lnTo>
                  <a:lnTo>
                    <a:pt x="2" y="45"/>
                  </a:lnTo>
                  <a:lnTo>
                    <a:pt x="0" y="42"/>
                  </a:lnTo>
                  <a:lnTo>
                    <a:pt x="0" y="31"/>
                  </a:lnTo>
                  <a:lnTo>
                    <a:pt x="4" y="21"/>
                  </a:lnTo>
                  <a:lnTo>
                    <a:pt x="9" y="13"/>
                  </a:lnTo>
                  <a:lnTo>
                    <a:pt x="20" y="8"/>
                  </a:lnTo>
                  <a:lnTo>
                    <a:pt x="33" y="4"/>
                  </a:lnTo>
                  <a:lnTo>
                    <a:pt x="47" y="1"/>
                  </a:lnTo>
                  <a:lnTo>
                    <a:pt x="61" y="0"/>
                  </a:lnTo>
                  <a:lnTo>
                    <a:pt x="75" y="1"/>
                  </a:lnTo>
                  <a:lnTo>
                    <a:pt x="90" y="4"/>
                  </a:lnTo>
                  <a:lnTo>
                    <a:pt x="103" y="8"/>
                  </a:lnTo>
                  <a:lnTo>
                    <a:pt x="116" y="13"/>
                  </a:lnTo>
                  <a:lnTo>
                    <a:pt x="129" y="20"/>
                  </a:lnTo>
                  <a:lnTo>
                    <a:pt x="145" y="30"/>
                  </a:lnTo>
                  <a:lnTo>
                    <a:pt x="161" y="42"/>
                  </a:lnTo>
                  <a:lnTo>
                    <a:pt x="175" y="53"/>
                  </a:lnTo>
                  <a:lnTo>
                    <a:pt x="188" y="68"/>
                  </a:lnTo>
                  <a:lnTo>
                    <a:pt x="201" y="82"/>
                  </a:lnTo>
                  <a:lnTo>
                    <a:pt x="213" y="97"/>
                  </a:lnTo>
                  <a:lnTo>
                    <a:pt x="226" y="112"/>
                  </a:lnTo>
                  <a:lnTo>
                    <a:pt x="237" y="127"/>
                  </a:lnTo>
                  <a:lnTo>
                    <a:pt x="232" y="135"/>
                  </a:lnTo>
                  <a:lnTo>
                    <a:pt x="227" y="143"/>
                  </a:lnTo>
                  <a:lnTo>
                    <a:pt x="222" y="150"/>
                  </a:lnTo>
                  <a:lnTo>
                    <a:pt x="218" y="158"/>
                  </a:lnTo>
                  <a:lnTo>
                    <a:pt x="213" y="166"/>
                  </a:lnTo>
                  <a:lnTo>
                    <a:pt x="208" y="174"/>
                  </a:lnTo>
                  <a:lnTo>
                    <a:pt x="202" y="180"/>
                  </a:lnTo>
                  <a:lnTo>
                    <a:pt x="197" y="188"/>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3" name="Freeform 16"/>
            <p:cNvSpPr>
              <a:spLocks/>
            </p:cNvSpPr>
            <p:nvPr/>
          </p:nvSpPr>
          <p:spPr bwMode="auto">
            <a:xfrm>
              <a:off x="2226" y="2783"/>
              <a:ext cx="164" cy="275"/>
            </a:xfrm>
            <a:custGeom>
              <a:avLst/>
              <a:gdLst>
                <a:gd name="T0" fmla="*/ 160 w 164"/>
                <a:gd name="T1" fmla="*/ 91 h 275"/>
                <a:gd name="T2" fmla="*/ 142 w 164"/>
                <a:gd name="T3" fmla="*/ 112 h 275"/>
                <a:gd name="T4" fmla="*/ 125 w 164"/>
                <a:gd name="T5" fmla="*/ 132 h 275"/>
                <a:gd name="T6" fmla="*/ 108 w 164"/>
                <a:gd name="T7" fmla="*/ 155 h 275"/>
                <a:gd name="T8" fmla="*/ 92 w 164"/>
                <a:gd name="T9" fmla="*/ 175 h 275"/>
                <a:gd name="T10" fmla="*/ 75 w 164"/>
                <a:gd name="T11" fmla="*/ 197 h 275"/>
                <a:gd name="T12" fmla="*/ 58 w 164"/>
                <a:gd name="T13" fmla="*/ 218 h 275"/>
                <a:gd name="T14" fmla="*/ 41 w 164"/>
                <a:gd name="T15" fmla="*/ 240 h 275"/>
                <a:gd name="T16" fmla="*/ 23 w 164"/>
                <a:gd name="T17" fmla="*/ 261 h 275"/>
                <a:gd name="T18" fmla="*/ 19 w 164"/>
                <a:gd name="T19" fmla="*/ 266 h 275"/>
                <a:gd name="T20" fmla="*/ 17 w 164"/>
                <a:gd name="T21" fmla="*/ 267 h 275"/>
                <a:gd name="T22" fmla="*/ 14 w 164"/>
                <a:gd name="T23" fmla="*/ 270 h 275"/>
                <a:gd name="T24" fmla="*/ 10 w 164"/>
                <a:gd name="T25" fmla="*/ 275 h 275"/>
                <a:gd name="T26" fmla="*/ 7 w 164"/>
                <a:gd name="T27" fmla="*/ 270 h 275"/>
                <a:gd name="T28" fmla="*/ 4 w 164"/>
                <a:gd name="T29" fmla="*/ 266 h 275"/>
                <a:gd name="T30" fmla="*/ 1 w 164"/>
                <a:gd name="T31" fmla="*/ 262 h 275"/>
                <a:gd name="T32" fmla="*/ 0 w 164"/>
                <a:gd name="T33" fmla="*/ 261 h 275"/>
                <a:gd name="T34" fmla="*/ 5 w 164"/>
                <a:gd name="T35" fmla="*/ 253 h 275"/>
                <a:gd name="T36" fmla="*/ 10 w 164"/>
                <a:gd name="T37" fmla="*/ 248 h 275"/>
                <a:gd name="T38" fmla="*/ 15 w 164"/>
                <a:gd name="T39" fmla="*/ 241 h 275"/>
                <a:gd name="T40" fmla="*/ 22 w 164"/>
                <a:gd name="T41" fmla="*/ 234 h 275"/>
                <a:gd name="T42" fmla="*/ 23 w 164"/>
                <a:gd name="T43" fmla="*/ 232 h 275"/>
                <a:gd name="T44" fmla="*/ 28 w 164"/>
                <a:gd name="T45" fmla="*/ 230 h 275"/>
                <a:gd name="T46" fmla="*/ 33 w 164"/>
                <a:gd name="T47" fmla="*/ 227 h 275"/>
                <a:gd name="T48" fmla="*/ 40 w 164"/>
                <a:gd name="T49" fmla="*/ 222 h 275"/>
                <a:gd name="T50" fmla="*/ 46 w 164"/>
                <a:gd name="T51" fmla="*/ 215 h 275"/>
                <a:gd name="T52" fmla="*/ 50 w 164"/>
                <a:gd name="T53" fmla="*/ 208 h 275"/>
                <a:gd name="T54" fmla="*/ 53 w 164"/>
                <a:gd name="T55" fmla="*/ 199 h 275"/>
                <a:gd name="T56" fmla="*/ 51 w 164"/>
                <a:gd name="T57" fmla="*/ 188 h 275"/>
                <a:gd name="T58" fmla="*/ 55 w 164"/>
                <a:gd name="T59" fmla="*/ 179 h 275"/>
                <a:gd name="T60" fmla="*/ 66 w 164"/>
                <a:gd name="T61" fmla="*/ 165 h 275"/>
                <a:gd name="T62" fmla="*/ 77 w 164"/>
                <a:gd name="T63" fmla="*/ 149 h 275"/>
                <a:gd name="T64" fmla="*/ 88 w 164"/>
                <a:gd name="T65" fmla="*/ 135 h 275"/>
                <a:gd name="T66" fmla="*/ 92 w 164"/>
                <a:gd name="T67" fmla="*/ 132 h 275"/>
                <a:gd name="T68" fmla="*/ 95 w 164"/>
                <a:gd name="T69" fmla="*/ 130 h 275"/>
                <a:gd name="T70" fmla="*/ 99 w 164"/>
                <a:gd name="T71" fmla="*/ 127 h 275"/>
                <a:gd name="T72" fmla="*/ 102 w 164"/>
                <a:gd name="T73" fmla="*/ 125 h 275"/>
                <a:gd name="T74" fmla="*/ 114 w 164"/>
                <a:gd name="T75" fmla="*/ 112 h 275"/>
                <a:gd name="T76" fmla="*/ 120 w 164"/>
                <a:gd name="T77" fmla="*/ 95 h 275"/>
                <a:gd name="T78" fmla="*/ 120 w 164"/>
                <a:gd name="T79" fmla="*/ 79 h 275"/>
                <a:gd name="T80" fmla="*/ 115 w 164"/>
                <a:gd name="T81" fmla="*/ 63 h 275"/>
                <a:gd name="T82" fmla="*/ 110 w 164"/>
                <a:gd name="T83" fmla="*/ 53 h 275"/>
                <a:gd name="T84" fmla="*/ 102 w 164"/>
                <a:gd name="T85" fmla="*/ 35 h 275"/>
                <a:gd name="T86" fmla="*/ 92 w 164"/>
                <a:gd name="T87" fmla="*/ 16 h 275"/>
                <a:gd name="T88" fmla="*/ 83 w 164"/>
                <a:gd name="T89" fmla="*/ 0 h 275"/>
                <a:gd name="T90" fmla="*/ 90 w 164"/>
                <a:gd name="T91" fmla="*/ 4 h 275"/>
                <a:gd name="T92" fmla="*/ 103 w 164"/>
                <a:gd name="T93" fmla="*/ 11 h 275"/>
                <a:gd name="T94" fmla="*/ 119 w 164"/>
                <a:gd name="T95" fmla="*/ 20 h 275"/>
                <a:gd name="T96" fmla="*/ 134 w 164"/>
                <a:gd name="T97" fmla="*/ 31 h 275"/>
                <a:gd name="T98" fmla="*/ 149 w 164"/>
                <a:gd name="T99" fmla="*/ 44 h 275"/>
                <a:gd name="T100" fmla="*/ 159 w 164"/>
                <a:gd name="T101" fmla="*/ 59 h 275"/>
                <a:gd name="T102" fmla="*/ 164 w 164"/>
                <a:gd name="T103" fmla="*/ 74 h 275"/>
                <a:gd name="T104" fmla="*/ 160 w 164"/>
                <a:gd name="T105" fmla="*/ 91 h 27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4"/>
                <a:gd name="T160" fmla="*/ 0 h 275"/>
                <a:gd name="T161" fmla="*/ 164 w 164"/>
                <a:gd name="T162" fmla="*/ 275 h 275"/>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4" h="275">
                  <a:moveTo>
                    <a:pt x="160" y="91"/>
                  </a:moveTo>
                  <a:lnTo>
                    <a:pt x="142" y="112"/>
                  </a:lnTo>
                  <a:lnTo>
                    <a:pt x="125" y="132"/>
                  </a:lnTo>
                  <a:lnTo>
                    <a:pt x="108" y="155"/>
                  </a:lnTo>
                  <a:lnTo>
                    <a:pt x="92" y="175"/>
                  </a:lnTo>
                  <a:lnTo>
                    <a:pt x="75" y="197"/>
                  </a:lnTo>
                  <a:lnTo>
                    <a:pt x="58" y="218"/>
                  </a:lnTo>
                  <a:lnTo>
                    <a:pt x="41" y="240"/>
                  </a:lnTo>
                  <a:lnTo>
                    <a:pt x="23" y="261"/>
                  </a:lnTo>
                  <a:lnTo>
                    <a:pt x="19" y="266"/>
                  </a:lnTo>
                  <a:lnTo>
                    <a:pt x="17" y="267"/>
                  </a:lnTo>
                  <a:lnTo>
                    <a:pt x="14" y="270"/>
                  </a:lnTo>
                  <a:lnTo>
                    <a:pt x="10" y="275"/>
                  </a:lnTo>
                  <a:lnTo>
                    <a:pt x="7" y="270"/>
                  </a:lnTo>
                  <a:lnTo>
                    <a:pt x="4" y="266"/>
                  </a:lnTo>
                  <a:lnTo>
                    <a:pt x="1" y="262"/>
                  </a:lnTo>
                  <a:lnTo>
                    <a:pt x="0" y="261"/>
                  </a:lnTo>
                  <a:lnTo>
                    <a:pt x="5" y="253"/>
                  </a:lnTo>
                  <a:lnTo>
                    <a:pt x="10" y="248"/>
                  </a:lnTo>
                  <a:lnTo>
                    <a:pt x="15" y="241"/>
                  </a:lnTo>
                  <a:lnTo>
                    <a:pt x="22" y="234"/>
                  </a:lnTo>
                  <a:lnTo>
                    <a:pt x="23" y="232"/>
                  </a:lnTo>
                  <a:lnTo>
                    <a:pt x="28" y="230"/>
                  </a:lnTo>
                  <a:lnTo>
                    <a:pt x="33" y="227"/>
                  </a:lnTo>
                  <a:lnTo>
                    <a:pt x="40" y="222"/>
                  </a:lnTo>
                  <a:lnTo>
                    <a:pt x="46" y="215"/>
                  </a:lnTo>
                  <a:lnTo>
                    <a:pt x="50" y="208"/>
                  </a:lnTo>
                  <a:lnTo>
                    <a:pt x="53" y="199"/>
                  </a:lnTo>
                  <a:lnTo>
                    <a:pt x="51" y="188"/>
                  </a:lnTo>
                  <a:lnTo>
                    <a:pt x="55" y="179"/>
                  </a:lnTo>
                  <a:lnTo>
                    <a:pt x="66" y="165"/>
                  </a:lnTo>
                  <a:lnTo>
                    <a:pt x="77" y="149"/>
                  </a:lnTo>
                  <a:lnTo>
                    <a:pt x="88" y="135"/>
                  </a:lnTo>
                  <a:lnTo>
                    <a:pt x="92" y="132"/>
                  </a:lnTo>
                  <a:lnTo>
                    <a:pt x="95" y="130"/>
                  </a:lnTo>
                  <a:lnTo>
                    <a:pt x="99" y="127"/>
                  </a:lnTo>
                  <a:lnTo>
                    <a:pt x="102" y="125"/>
                  </a:lnTo>
                  <a:lnTo>
                    <a:pt x="114" y="112"/>
                  </a:lnTo>
                  <a:lnTo>
                    <a:pt x="120" y="95"/>
                  </a:lnTo>
                  <a:lnTo>
                    <a:pt x="120" y="79"/>
                  </a:lnTo>
                  <a:lnTo>
                    <a:pt x="115" y="63"/>
                  </a:lnTo>
                  <a:lnTo>
                    <a:pt x="110" y="53"/>
                  </a:lnTo>
                  <a:lnTo>
                    <a:pt x="102" y="35"/>
                  </a:lnTo>
                  <a:lnTo>
                    <a:pt x="92" y="16"/>
                  </a:lnTo>
                  <a:lnTo>
                    <a:pt x="83" y="0"/>
                  </a:lnTo>
                  <a:lnTo>
                    <a:pt x="90" y="4"/>
                  </a:lnTo>
                  <a:lnTo>
                    <a:pt x="103" y="11"/>
                  </a:lnTo>
                  <a:lnTo>
                    <a:pt x="119" y="20"/>
                  </a:lnTo>
                  <a:lnTo>
                    <a:pt x="134" y="31"/>
                  </a:lnTo>
                  <a:lnTo>
                    <a:pt x="149" y="44"/>
                  </a:lnTo>
                  <a:lnTo>
                    <a:pt x="159" y="59"/>
                  </a:lnTo>
                  <a:lnTo>
                    <a:pt x="164" y="74"/>
                  </a:lnTo>
                  <a:lnTo>
                    <a:pt x="160" y="91"/>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 name="Freeform 17"/>
            <p:cNvSpPr>
              <a:spLocks/>
            </p:cNvSpPr>
            <p:nvPr/>
          </p:nvSpPr>
          <p:spPr bwMode="auto">
            <a:xfrm>
              <a:off x="2209" y="2945"/>
              <a:ext cx="57" cy="57"/>
            </a:xfrm>
            <a:custGeom>
              <a:avLst/>
              <a:gdLst>
                <a:gd name="T0" fmla="*/ 0 w 57"/>
                <a:gd name="T1" fmla="*/ 52 h 57"/>
                <a:gd name="T2" fmla="*/ 5 w 57"/>
                <a:gd name="T3" fmla="*/ 44 h 57"/>
                <a:gd name="T4" fmla="*/ 12 w 57"/>
                <a:gd name="T5" fmla="*/ 37 h 57"/>
                <a:gd name="T6" fmla="*/ 18 w 57"/>
                <a:gd name="T7" fmla="*/ 27 h 57"/>
                <a:gd name="T8" fmla="*/ 24 w 57"/>
                <a:gd name="T9" fmla="*/ 20 h 57"/>
                <a:gd name="T10" fmla="*/ 30 w 57"/>
                <a:gd name="T11" fmla="*/ 12 h 57"/>
                <a:gd name="T12" fmla="*/ 35 w 57"/>
                <a:gd name="T13" fmla="*/ 7 h 57"/>
                <a:gd name="T14" fmla="*/ 39 w 57"/>
                <a:gd name="T15" fmla="*/ 2 h 57"/>
                <a:gd name="T16" fmla="*/ 41 w 57"/>
                <a:gd name="T17" fmla="*/ 0 h 57"/>
                <a:gd name="T18" fmla="*/ 46 w 57"/>
                <a:gd name="T19" fmla="*/ 7 h 57"/>
                <a:gd name="T20" fmla="*/ 52 w 57"/>
                <a:gd name="T21" fmla="*/ 16 h 57"/>
                <a:gd name="T22" fmla="*/ 57 w 57"/>
                <a:gd name="T23" fmla="*/ 27 h 57"/>
                <a:gd name="T24" fmla="*/ 57 w 57"/>
                <a:gd name="T25" fmla="*/ 35 h 57"/>
                <a:gd name="T26" fmla="*/ 53 w 57"/>
                <a:gd name="T27" fmla="*/ 43 h 57"/>
                <a:gd name="T28" fmla="*/ 49 w 57"/>
                <a:gd name="T29" fmla="*/ 49 h 57"/>
                <a:gd name="T30" fmla="*/ 43 w 57"/>
                <a:gd name="T31" fmla="*/ 53 h 57"/>
                <a:gd name="T32" fmla="*/ 35 w 57"/>
                <a:gd name="T33" fmla="*/ 56 h 57"/>
                <a:gd name="T34" fmla="*/ 27 w 57"/>
                <a:gd name="T35" fmla="*/ 57 h 57"/>
                <a:gd name="T36" fmla="*/ 18 w 57"/>
                <a:gd name="T37" fmla="*/ 57 h 57"/>
                <a:gd name="T38" fmla="*/ 9 w 57"/>
                <a:gd name="T39" fmla="*/ 55 h 57"/>
                <a:gd name="T40" fmla="*/ 0 w 57"/>
                <a:gd name="T41" fmla="*/ 52 h 5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
                <a:gd name="T64" fmla="*/ 0 h 57"/>
                <a:gd name="T65" fmla="*/ 57 w 57"/>
                <a:gd name="T66" fmla="*/ 57 h 5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 h="57">
                  <a:moveTo>
                    <a:pt x="0" y="52"/>
                  </a:moveTo>
                  <a:lnTo>
                    <a:pt x="5" y="44"/>
                  </a:lnTo>
                  <a:lnTo>
                    <a:pt x="12" y="37"/>
                  </a:lnTo>
                  <a:lnTo>
                    <a:pt x="18" y="27"/>
                  </a:lnTo>
                  <a:lnTo>
                    <a:pt x="24" y="20"/>
                  </a:lnTo>
                  <a:lnTo>
                    <a:pt x="30" y="12"/>
                  </a:lnTo>
                  <a:lnTo>
                    <a:pt x="35" y="7"/>
                  </a:lnTo>
                  <a:lnTo>
                    <a:pt x="39" y="2"/>
                  </a:lnTo>
                  <a:lnTo>
                    <a:pt x="41" y="0"/>
                  </a:lnTo>
                  <a:lnTo>
                    <a:pt x="46" y="7"/>
                  </a:lnTo>
                  <a:lnTo>
                    <a:pt x="52" y="16"/>
                  </a:lnTo>
                  <a:lnTo>
                    <a:pt x="57" y="27"/>
                  </a:lnTo>
                  <a:lnTo>
                    <a:pt x="57" y="35"/>
                  </a:lnTo>
                  <a:lnTo>
                    <a:pt x="53" y="43"/>
                  </a:lnTo>
                  <a:lnTo>
                    <a:pt x="49" y="49"/>
                  </a:lnTo>
                  <a:lnTo>
                    <a:pt x="43" y="53"/>
                  </a:lnTo>
                  <a:lnTo>
                    <a:pt x="35" y="56"/>
                  </a:lnTo>
                  <a:lnTo>
                    <a:pt x="27" y="57"/>
                  </a:lnTo>
                  <a:lnTo>
                    <a:pt x="18" y="57"/>
                  </a:lnTo>
                  <a:lnTo>
                    <a:pt x="9" y="55"/>
                  </a:lnTo>
                  <a:lnTo>
                    <a:pt x="0" y="5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 name="Freeform 18"/>
            <p:cNvSpPr>
              <a:spLocks/>
            </p:cNvSpPr>
            <p:nvPr/>
          </p:nvSpPr>
          <p:spPr bwMode="auto">
            <a:xfrm>
              <a:off x="2034" y="2963"/>
              <a:ext cx="51" cy="41"/>
            </a:xfrm>
            <a:custGeom>
              <a:avLst/>
              <a:gdLst>
                <a:gd name="T0" fmla="*/ 26 w 51"/>
                <a:gd name="T1" fmla="*/ 0 h 41"/>
                <a:gd name="T2" fmla="*/ 16 w 51"/>
                <a:gd name="T3" fmla="*/ 2 h 41"/>
                <a:gd name="T4" fmla="*/ 8 w 51"/>
                <a:gd name="T5" fmla="*/ 7 h 41"/>
                <a:gd name="T6" fmla="*/ 3 w 51"/>
                <a:gd name="T7" fmla="*/ 13 h 41"/>
                <a:gd name="T8" fmla="*/ 0 w 51"/>
                <a:gd name="T9" fmla="*/ 21 h 41"/>
                <a:gd name="T10" fmla="*/ 3 w 51"/>
                <a:gd name="T11" fmla="*/ 29 h 41"/>
                <a:gd name="T12" fmla="*/ 8 w 51"/>
                <a:gd name="T13" fmla="*/ 34 h 41"/>
                <a:gd name="T14" fmla="*/ 16 w 51"/>
                <a:gd name="T15" fmla="*/ 39 h 41"/>
                <a:gd name="T16" fmla="*/ 26 w 51"/>
                <a:gd name="T17" fmla="*/ 41 h 41"/>
                <a:gd name="T18" fmla="*/ 35 w 51"/>
                <a:gd name="T19" fmla="*/ 39 h 41"/>
                <a:gd name="T20" fmla="*/ 43 w 51"/>
                <a:gd name="T21" fmla="*/ 34 h 41"/>
                <a:gd name="T22" fmla="*/ 48 w 51"/>
                <a:gd name="T23" fmla="*/ 29 h 41"/>
                <a:gd name="T24" fmla="*/ 51 w 51"/>
                <a:gd name="T25" fmla="*/ 21 h 41"/>
                <a:gd name="T26" fmla="*/ 48 w 51"/>
                <a:gd name="T27" fmla="*/ 13 h 41"/>
                <a:gd name="T28" fmla="*/ 43 w 51"/>
                <a:gd name="T29" fmla="*/ 7 h 41"/>
                <a:gd name="T30" fmla="*/ 35 w 51"/>
                <a:gd name="T31" fmla="*/ 2 h 41"/>
                <a:gd name="T32" fmla="*/ 26 w 51"/>
                <a:gd name="T33" fmla="*/ 0 h 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1"/>
                <a:gd name="T52" fmla="*/ 0 h 41"/>
                <a:gd name="T53" fmla="*/ 51 w 51"/>
                <a:gd name="T54" fmla="*/ 41 h 4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1" h="41">
                  <a:moveTo>
                    <a:pt x="26" y="0"/>
                  </a:moveTo>
                  <a:lnTo>
                    <a:pt x="16" y="2"/>
                  </a:lnTo>
                  <a:lnTo>
                    <a:pt x="8" y="7"/>
                  </a:lnTo>
                  <a:lnTo>
                    <a:pt x="3" y="13"/>
                  </a:lnTo>
                  <a:lnTo>
                    <a:pt x="0" y="21"/>
                  </a:lnTo>
                  <a:lnTo>
                    <a:pt x="3" y="29"/>
                  </a:lnTo>
                  <a:lnTo>
                    <a:pt x="8" y="34"/>
                  </a:lnTo>
                  <a:lnTo>
                    <a:pt x="16" y="39"/>
                  </a:lnTo>
                  <a:lnTo>
                    <a:pt x="26" y="41"/>
                  </a:lnTo>
                  <a:lnTo>
                    <a:pt x="35" y="39"/>
                  </a:lnTo>
                  <a:lnTo>
                    <a:pt x="43" y="34"/>
                  </a:lnTo>
                  <a:lnTo>
                    <a:pt x="48" y="29"/>
                  </a:lnTo>
                  <a:lnTo>
                    <a:pt x="51" y="21"/>
                  </a:lnTo>
                  <a:lnTo>
                    <a:pt x="48" y="13"/>
                  </a:lnTo>
                  <a:lnTo>
                    <a:pt x="43" y="7"/>
                  </a:lnTo>
                  <a:lnTo>
                    <a:pt x="35" y="2"/>
                  </a:lnTo>
                  <a:lnTo>
                    <a:pt x="2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76" name="Group 75"/>
          <p:cNvGrpSpPr/>
          <p:nvPr/>
        </p:nvGrpSpPr>
        <p:grpSpPr>
          <a:xfrm>
            <a:off x="7033332" y="2129858"/>
            <a:ext cx="1136650" cy="1066800"/>
            <a:chOff x="6781800" y="1524000"/>
            <a:chExt cx="1136650" cy="1066800"/>
          </a:xfrm>
        </p:grpSpPr>
        <p:pic>
          <p:nvPicPr>
            <p:cNvPr id="7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2379" y="1524000"/>
              <a:ext cx="994672" cy="993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78" name="Content Placeholder 5"/>
            <p:cNvSpPr txBox="1">
              <a:spLocks/>
            </p:cNvSpPr>
            <p:nvPr/>
          </p:nvSpPr>
          <p:spPr bwMode="auto">
            <a:xfrm>
              <a:off x="6781800" y="2300287"/>
              <a:ext cx="1136650" cy="290513"/>
            </a:xfrm>
            <a:prstGeom prst="rect">
              <a:avLst/>
            </a:prstGeom>
            <a:noFill/>
            <a:ln w="9525">
              <a:noFill/>
              <a:miter lim="800000"/>
              <a:headEnd/>
              <a:tailEnd/>
            </a:ln>
          </p:spPr>
          <p:txBody>
            <a:bodyPr lIns="0" tIns="0" rIns="0" bIns="0"/>
            <a:lstStyle/>
            <a:p>
              <a:pPr marL="457200" indent="-457200" algn="ctr" eaLnBrk="0" hangingPunct="0">
                <a:spcBef>
                  <a:spcPct val="40000"/>
                </a:spcBef>
                <a:buClr>
                  <a:srgbClr val="04628C"/>
                </a:buClr>
                <a:buSzPct val="90000"/>
                <a:buFont typeface="Arial" pitchFamily="34" charset="0"/>
                <a:buNone/>
                <a:defRPr/>
              </a:pPr>
              <a:r>
                <a:rPr lang="en-US" sz="1100" kern="0" dirty="0">
                  <a:solidFill>
                    <a:schemeClr val="tx1"/>
                  </a:solidFill>
                  <a:latin typeface="Arial Narrow" pitchFamily="34" charset="0"/>
                  <a:cs typeface="+mn-cs"/>
                </a:rPr>
                <a:t>ContactManager</a:t>
              </a:r>
            </a:p>
          </p:txBody>
        </p:sp>
      </p:grpSp>
      <p:grpSp>
        <p:nvGrpSpPr>
          <p:cNvPr id="79" name="Group 36"/>
          <p:cNvGrpSpPr>
            <a:grpSpLocks/>
          </p:cNvGrpSpPr>
          <p:nvPr/>
        </p:nvGrpSpPr>
        <p:grpSpPr bwMode="auto">
          <a:xfrm>
            <a:off x="7551738" y="1479797"/>
            <a:ext cx="1557337" cy="1096962"/>
            <a:chOff x="3415" y="2139"/>
            <a:chExt cx="1032" cy="726"/>
          </a:xfrm>
        </p:grpSpPr>
        <p:sp>
          <p:nvSpPr>
            <p:cNvPr id="80" name="AutoShape 37"/>
            <p:cNvSpPr>
              <a:spLocks noChangeArrowheads="1"/>
            </p:cNvSpPr>
            <p:nvPr/>
          </p:nvSpPr>
          <p:spPr bwMode="auto">
            <a:xfrm>
              <a:off x="3415" y="2139"/>
              <a:ext cx="679" cy="69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81" name="Group 38"/>
            <p:cNvGrpSpPr>
              <a:grpSpLocks/>
            </p:cNvGrpSpPr>
            <p:nvPr/>
          </p:nvGrpSpPr>
          <p:grpSpPr bwMode="auto">
            <a:xfrm>
              <a:off x="3867" y="2375"/>
              <a:ext cx="580" cy="490"/>
              <a:chOff x="3381" y="3062"/>
              <a:chExt cx="648" cy="547"/>
            </a:xfrm>
          </p:grpSpPr>
          <p:sp>
            <p:nvSpPr>
              <p:cNvPr id="82" name="Freeform 39"/>
              <p:cNvSpPr>
                <a:spLocks/>
              </p:cNvSpPr>
              <p:nvPr/>
            </p:nvSpPr>
            <p:spPr bwMode="auto">
              <a:xfrm>
                <a:off x="3381" y="3062"/>
                <a:ext cx="648" cy="547"/>
              </a:xfrm>
              <a:custGeom>
                <a:avLst/>
                <a:gdLst>
                  <a:gd name="T0" fmla="*/ 1 w 1055"/>
                  <a:gd name="T1" fmla="*/ 1 h 891"/>
                  <a:gd name="T2" fmla="*/ 1 w 1055"/>
                  <a:gd name="T3" fmla="*/ 1 h 891"/>
                  <a:gd name="T4" fmla="*/ 1 w 1055"/>
                  <a:gd name="T5" fmla="*/ 1 h 891"/>
                  <a:gd name="T6" fmla="*/ 1 w 1055"/>
                  <a:gd name="T7" fmla="*/ 1 h 891"/>
                  <a:gd name="T8" fmla="*/ 1 w 1055"/>
                  <a:gd name="T9" fmla="*/ 1 h 891"/>
                  <a:gd name="T10" fmla="*/ 1 w 1055"/>
                  <a:gd name="T11" fmla="*/ 1 h 891"/>
                  <a:gd name="T12" fmla="*/ 1 w 1055"/>
                  <a:gd name="T13" fmla="*/ 1 h 891"/>
                  <a:gd name="T14" fmla="*/ 1 w 1055"/>
                  <a:gd name="T15" fmla="*/ 1 h 891"/>
                  <a:gd name="T16" fmla="*/ 1 w 1055"/>
                  <a:gd name="T17" fmla="*/ 1 h 891"/>
                  <a:gd name="T18" fmla="*/ 1 w 1055"/>
                  <a:gd name="T19" fmla="*/ 1 h 891"/>
                  <a:gd name="T20" fmla="*/ 1 w 1055"/>
                  <a:gd name="T21" fmla="*/ 1 h 891"/>
                  <a:gd name="T22" fmla="*/ 1 w 1055"/>
                  <a:gd name="T23" fmla="*/ 1 h 891"/>
                  <a:gd name="T24" fmla="*/ 1 w 1055"/>
                  <a:gd name="T25" fmla="*/ 1 h 891"/>
                  <a:gd name="T26" fmla="*/ 1 w 1055"/>
                  <a:gd name="T27" fmla="*/ 1 h 891"/>
                  <a:gd name="T28" fmla="*/ 1 w 1055"/>
                  <a:gd name="T29" fmla="*/ 1 h 891"/>
                  <a:gd name="T30" fmla="*/ 1 w 1055"/>
                  <a:gd name="T31" fmla="*/ 1 h 891"/>
                  <a:gd name="T32" fmla="*/ 1 w 1055"/>
                  <a:gd name="T33" fmla="*/ 0 h 891"/>
                  <a:gd name="T34" fmla="*/ 1 w 1055"/>
                  <a:gd name="T35" fmla="*/ 1 h 891"/>
                  <a:gd name="T36" fmla="*/ 1 w 1055"/>
                  <a:gd name="T37" fmla="*/ 1 h 891"/>
                  <a:gd name="T38" fmla="*/ 1 w 1055"/>
                  <a:gd name="T39" fmla="*/ 1 h 891"/>
                  <a:gd name="T40" fmla="*/ 1 w 1055"/>
                  <a:gd name="T41" fmla="*/ 1 h 891"/>
                  <a:gd name="T42" fmla="*/ 1 w 1055"/>
                  <a:gd name="T43" fmla="*/ 1 h 891"/>
                  <a:gd name="T44" fmla="*/ 1 w 1055"/>
                  <a:gd name="T45" fmla="*/ 1 h 891"/>
                  <a:gd name="T46" fmla="*/ 1 w 1055"/>
                  <a:gd name="T47" fmla="*/ 1 h 891"/>
                  <a:gd name="T48" fmla="*/ 1 w 1055"/>
                  <a:gd name="T49" fmla="*/ 1 h 891"/>
                  <a:gd name="T50" fmla="*/ 0 w 1055"/>
                  <a:gd name="T51" fmla="*/ 1 h 891"/>
                  <a:gd name="T52" fmla="*/ 1 w 1055"/>
                  <a:gd name="T53" fmla="*/ 1 h 891"/>
                  <a:gd name="T54" fmla="*/ 1 w 1055"/>
                  <a:gd name="T55" fmla="*/ 1 h 891"/>
                  <a:gd name="T56" fmla="*/ 1 w 1055"/>
                  <a:gd name="T57" fmla="*/ 1 h 891"/>
                  <a:gd name="T58" fmla="*/ 1 w 1055"/>
                  <a:gd name="T59" fmla="*/ 1 h 891"/>
                  <a:gd name="T60" fmla="*/ 1 w 1055"/>
                  <a:gd name="T61" fmla="*/ 1 h 891"/>
                  <a:gd name="T62" fmla="*/ 1 w 1055"/>
                  <a:gd name="T63" fmla="*/ 1 h 891"/>
                  <a:gd name="T64" fmla="*/ 1 w 1055"/>
                  <a:gd name="T65" fmla="*/ 1 h 891"/>
                  <a:gd name="T66" fmla="*/ 1 w 1055"/>
                  <a:gd name="T67" fmla="*/ 1 h 891"/>
                  <a:gd name="T68" fmla="*/ 1 w 1055"/>
                  <a:gd name="T69" fmla="*/ 1 h 891"/>
                  <a:gd name="T70" fmla="*/ 1 w 1055"/>
                  <a:gd name="T71" fmla="*/ 1 h 891"/>
                  <a:gd name="T72" fmla="*/ 1 w 1055"/>
                  <a:gd name="T73" fmla="*/ 1 h 891"/>
                  <a:gd name="T74" fmla="*/ 1 w 1055"/>
                  <a:gd name="T75" fmla="*/ 1 h 891"/>
                  <a:gd name="T76" fmla="*/ 1 w 1055"/>
                  <a:gd name="T77" fmla="*/ 1 h 891"/>
                  <a:gd name="T78" fmla="*/ 1 w 1055"/>
                  <a:gd name="T79" fmla="*/ 1 h 891"/>
                  <a:gd name="T80" fmla="*/ 1 w 1055"/>
                  <a:gd name="T81" fmla="*/ 1 h 891"/>
                  <a:gd name="T82" fmla="*/ 1 w 1055"/>
                  <a:gd name="T83" fmla="*/ 1 h 891"/>
                  <a:gd name="T84" fmla="*/ 1 w 1055"/>
                  <a:gd name="T85" fmla="*/ 1 h 891"/>
                  <a:gd name="T86" fmla="*/ 1 w 1055"/>
                  <a:gd name="T87" fmla="*/ 1 h 891"/>
                  <a:gd name="T88" fmla="*/ 1 w 1055"/>
                  <a:gd name="T89" fmla="*/ 1 h 891"/>
                  <a:gd name="T90" fmla="*/ 1 w 1055"/>
                  <a:gd name="T91" fmla="*/ 1 h 891"/>
                  <a:gd name="T92" fmla="*/ 1 w 1055"/>
                  <a:gd name="T93" fmla="*/ 1 h 891"/>
                  <a:gd name="T94" fmla="*/ 1 w 1055"/>
                  <a:gd name="T95" fmla="*/ 1 h 891"/>
                  <a:gd name="T96" fmla="*/ 1 w 1055"/>
                  <a:gd name="T97" fmla="*/ 1 h 891"/>
                  <a:gd name="T98" fmla="*/ 1 w 1055"/>
                  <a:gd name="T99" fmla="*/ 1 h 891"/>
                  <a:gd name="T100" fmla="*/ 1 w 1055"/>
                  <a:gd name="T101" fmla="*/ 1 h 8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55"/>
                  <a:gd name="T154" fmla="*/ 0 h 891"/>
                  <a:gd name="T155" fmla="*/ 1055 w 1055"/>
                  <a:gd name="T156" fmla="*/ 891 h 8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55" h="891">
                    <a:moveTo>
                      <a:pt x="1013" y="249"/>
                    </a:moveTo>
                    <a:lnTo>
                      <a:pt x="1013" y="247"/>
                    </a:lnTo>
                    <a:lnTo>
                      <a:pt x="1007" y="242"/>
                    </a:lnTo>
                    <a:lnTo>
                      <a:pt x="1000" y="237"/>
                    </a:lnTo>
                    <a:lnTo>
                      <a:pt x="993" y="232"/>
                    </a:lnTo>
                    <a:lnTo>
                      <a:pt x="986" y="227"/>
                    </a:lnTo>
                    <a:lnTo>
                      <a:pt x="978" y="223"/>
                    </a:lnTo>
                    <a:lnTo>
                      <a:pt x="971" y="219"/>
                    </a:lnTo>
                    <a:lnTo>
                      <a:pt x="963" y="215"/>
                    </a:lnTo>
                    <a:lnTo>
                      <a:pt x="955" y="213"/>
                    </a:lnTo>
                    <a:lnTo>
                      <a:pt x="960" y="201"/>
                    </a:lnTo>
                    <a:lnTo>
                      <a:pt x="962" y="189"/>
                    </a:lnTo>
                    <a:lnTo>
                      <a:pt x="960" y="176"/>
                    </a:lnTo>
                    <a:lnTo>
                      <a:pt x="955" y="165"/>
                    </a:lnTo>
                    <a:lnTo>
                      <a:pt x="947" y="157"/>
                    </a:lnTo>
                    <a:lnTo>
                      <a:pt x="938" y="152"/>
                    </a:lnTo>
                    <a:lnTo>
                      <a:pt x="928" y="148"/>
                    </a:lnTo>
                    <a:lnTo>
                      <a:pt x="918" y="145"/>
                    </a:lnTo>
                    <a:lnTo>
                      <a:pt x="898" y="140"/>
                    </a:lnTo>
                    <a:lnTo>
                      <a:pt x="879" y="135"/>
                    </a:lnTo>
                    <a:lnTo>
                      <a:pt x="861" y="131"/>
                    </a:lnTo>
                    <a:lnTo>
                      <a:pt x="841" y="127"/>
                    </a:lnTo>
                    <a:lnTo>
                      <a:pt x="823" y="122"/>
                    </a:lnTo>
                    <a:lnTo>
                      <a:pt x="804" y="118"/>
                    </a:lnTo>
                    <a:lnTo>
                      <a:pt x="784" y="114"/>
                    </a:lnTo>
                    <a:lnTo>
                      <a:pt x="765" y="109"/>
                    </a:lnTo>
                    <a:lnTo>
                      <a:pt x="749" y="105"/>
                    </a:lnTo>
                    <a:lnTo>
                      <a:pt x="735" y="102"/>
                    </a:lnTo>
                    <a:lnTo>
                      <a:pt x="721" y="99"/>
                    </a:lnTo>
                    <a:lnTo>
                      <a:pt x="707" y="95"/>
                    </a:lnTo>
                    <a:lnTo>
                      <a:pt x="692" y="91"/>
                    </a:lnTo>
                    <a:lnTo>
                      <a:pt x="678" y="87"/>
                    </a:lnTo>
                    <a:lnTo>
                      <a:pt x="665" y="82"/>
                    </a:lnTo>
                    <a:lnTo>
                      <a:pt x="651" y="77"/>
                    </a:lnTo>
                    <a:lnTo>
                      <a:pt x="638" y="71"/>
                    </a:lnTo>
                    <a:lnTo>
                      <a:pt x="622" y="65"/>
                    </a:lnTo>
                    <a:lnTo>
                      <a:pt x="607" y="57"/>
                    </a:lnTo>
                    <a:lnTo>
                      <a:pt x="589" y="51"/>
                    </a:lnTo>
                    <a:lnTo>
                      <a:pt x="572" y="43"/>
                    </a:lnTo>
                    <a:lnTo>
                      <a:pt x="553" y="35"/>
                    </a:lnTo>
                    <a:lnTo>
                      <a:pt x="534" y="29"/>
                    </a:lnTo>
                    <a:lnTo>
                      <a:pt x="516" y="21"/>
                    </a:lnTo>
                    <a:lnTo>
                      <a:pt x="498" y="16"/>
                    </a:lnTo>
                    <a:lnTo>
                      <a:pt x="481" y="10"/>
                    </a:lnTo>
                    <a:lnTo>
                      <a:pt x="465" y="5"/>
                    </a:lnTo>
                    <a:lnTo>
                      <a:pt x="449" y="3"/>
                    </a:lnTo>
                    <a:lnTo>
                      <a:pt x="435" y="0"/>
                    </a:lnTo>
                    <a:lnTo>
                      <a:pt x="423" y="0"/>
                    </a:lnTo>
                    <a:lnTo>
                      <a:pt x="413" y="1"/>
                    </a:lnTo>
                    <a:lnTo>
                      <a:pt x="405" y="5"/>
                    </a:lnTo>
                    <a:lnTo>
                      <a:pt x="387" y="18"/>
                    </a:lnTo>
                    <a:lnTo>
                      <a:pt x="371" y="34"/>
                    </a:lnTo>
                    <a:lnTo>
                      <a:pt x="357" y="51"/>
                    </a:lnTo>
                    <a:lnTo>
                      <a:pt x="343" y="69"/>
                    </a:lnTo>
                    <a:lnTo>
                      <a:pt x="330" y="88"/>
                    </a:lnTo>
                    <a:lnTo>
                      <a:pt x="317" y="106"/>
                    </a:lnTo>
                    <a:lnTo>
                      <a:pt x="304" y="124"/>
                    </a:lnTo>
                    <a:lnTo>
                      <a:pt x="291" y="143"/>
                    </a:lnTo>
                    <a:lnTo>
                      <a:pt x="278" y="159"/>
                    </a:lnTo>
                    <a:lnTo>
                      <a:pt x="266" y="175"/>
                    </a:lnTo>
                    <a:lnTo>
                      <a:pt x="254" y="190"/>
                    </a:lnTo>
                    <a:lnTo>
                      <a:pt x="242" y="206"/>
                    </a:lnTo>
                    <a:lnTo>
                      <a:pt x="230" y="223"/>
                    </a:lnTo>
                    <a:lnTo>
                      <a:pt x="219" y="238"/>
                    </a:lnTo>
                    <a:lnTo>
                      <a:pt x="208" y="255"/>
                    </a:lnTo>
                    <a:lnTo>
                      <a:pt x="198" y="273"/>
                    </a:lnTo>
                    <a:lnTo>
                      <a:pt x="181" y="303"/>
                    </a:lnTo>
                    <a:lnTo>
                      <a:pt x="156" y="341"/>
                    </a:lnTo>
                    <a:lnTo>
                      <a:pt x="127" y="384"/>
                    </a:lnTo>
                    <a:lnTo>
                      <a:pt x="96" y="429"/>
                    </a:lnTo>
                    <a:lnTo>
                      <a:pt x="65" y="473"/>
                    </a:lnTo>
                    <a:lnTo>
                      <a:pt x="36" y="513"/>
                    </a:lnTo>
                    <a:lnTo>
                      <a:pt x="14" y="545"/>
                    </a:lnTo>
                    <a:lnTo>
                      <a:pt x="0" y="567"/>
                    </a:lnTo>
                    <a:lnTo>
                      <a:pt x="0" y="578"/>
                    </a:lnTo>
                    <a:lnTo>
                      <a:pt x="4" y="597"/>
                    </a:lnTo>
                    <a:lnTo>
                      <a:pt x="8" y="615"/>
                    </a:lnTo>
                    <a:lnTo>
                      <a:pt x="9" y="624"/>
                    </a:lnTo>
                    <a:lnTo>
                      <a:pt x="10" y="628"/>
                    </a:lnTo>
                    <a:lnTo>
                      <a:pt x="13" y="637"/>
                    </a:lnTo>
                    <a:lnTo>
                      <a:pt x="17" y="648"/>
                    </a:lnTo>
                    <a:lnTo>
                      <a:pt x="22" y="661"/>
                    </a:lnTo>
                    <a:lnTo>
                      <a:pt x="27" y="675"/>
                    </a:lnTo>
                    <a:lnTo>
                      <a:pt x="33" y="688"/>
                    </a:lnTo>
                    <a:lnTo>
                      <a:pt x="40" y="698"/>
                    </a:lnTo>
                    <a:lnTo>
                      <a:pt x="48" y="706"/>
                    </a:lnTo>
                    <a:lnTo>
                      <a:pt x="53" y="709"/>
                    </a:lnTo>
                    <a:lnTo>
                      <a:pt x="68" y="716"/>
                    </a:lnTo>
                    <a:lnTo>
                      <a:pt x="85" y="723"/>
                    </a:lnTo>
                    <a:lnTo>
                      <a:pt x="101" y="729"/>
                    </a:lnTo>
                    <a:lnTo>
                      <a:pt x="116" y="737"/>
                    </a:lnTo>
                    <a:lnTo>
                      <a:pt x="133" y="744"/>
                    </a:lnTo>
                    <a:lnTo>
                      <a:pt x="149" y="749"/>
                    </a:lnTo>
                    <a:lnTo>
                      <a:pt x="166" y="755"/>
                    </a:lnTo>
                    <a:lnTo>
                      <a:pt x="181" y="762"/>
                    </a:lnTo>
                    <a:lnTo>
                      <a:pt x="198" y="767"/>
                    </a:lnTo>
                    <a:lnTo>
                      <a:pt x="213" y="773"/>
                    </a:lnTo>
                    <a:lnTo>
                      <a:pt x="230" y="780"/>
                    </a:lnTo>
                    <a:lnTo>
                      <a:pt x="247" y="785"/>
                    </a:lnTo>
                    <a:lnTo>
                      <a:pt x="263" y="792"/>
                    </a:lnTo>
                    <a:lnTo>
                      <a:pt x="279" y="797"/>
                    </a:lnTo>
                    <a:lnTo>
                      <a:pt x="295" y="803"/>
                    </a:lnTo>
                    <a:lnTo>
                      <a:pt x="312" y="810"/>
                    </a:lnTo>
                    <a:lnTo>
                      <a:pt x="330" y="817"/>
                    </a:lnTo>
                    <a:lnTo>
                      <a:pt x="347" y="825"/>
                    </a:lnTo>
                    <a:lnTo>
                      <a:pt x="365" y="833"/>
                    </a:lnTo>
                    <a:lnTo>
                      <a:pt x="382" y="839"/>
                    </a:lnTo>
                    <a:lnTo>
                      <a:pt x="400" y="847"/>
                    </a:lnTo>
                    <a:lnTo>
                      <a:pt x="417" y="855"/>
                    </a:lnTo>
                    <a:lnTo>
                      <a:pt x="435" y="861"/>
                    </a:lnTo>
                    <a:lnTo>
                      <a:pt x="453" y="867"/>
                    </a:lnTo>
                    <a:lnTo>
                      <a:pt x="479" y="874"/>
                    </a:lnTo>
                    <a:lnTo>
                      <a:pt x="505" y="881"/>
                    </a:lnTo>
                    <a:lnTo>
                      <a:pt x="531" y="887"/>
                    </a:lnTo>
                    <a:lnTo>
                      <a:pt x="558" y="891"/>
                    </a:lnTo>
                    <a:lnTo>
                      <a:pt x="584" y="891"/>
                    </a:lnTo>
                    <a:lnTo>
                      <a:pt x="610" y="887"/>
                    </a:lnTo>
                    <a:lnTo>
                      <a:pt x="633" y="880"/>
                    </a:lnTo>
                    <a:lnTo>
                      <a:pt x="656" y="864"/>
                    </a:lnTo>
                    <a:lnTo>
                      <a:pt x="669" y="851"/>
                    </a:lnTo>
                    <a:lnTo>
                      <a:pt x="685" y="834"/>
                    </a:lnTo>
                    <a:lnTo>
                      <a:pt x="701" y="814"/>
                    </a:lnTo>
                    <a:lnTo>
                      <a:pt x="721" y="790"/>
                    </a:lnTo>
                    <a:lnTo>
                      <a:pt x="740" y="764"/>
                    </a:lnTo>
                    <a:lnTo>
                      <a:pt x="760" y="736"/>
                    </a:lnTo>
                    <a:lnTo>
                      <a:pt x="780" y="707"/>
                    </a:lnTo>
                    <a:lnTo>
                      <a:pt x="800" y="678"/>
                    </a:lnTo>
                    <a:lnTo>
                      <a:pt x="819" y="649"/>
                    </a:lnTo>
                    <a:lnTo>
                      <a:pt x="839" y="622"/>
                    </a:lnTo>
                    <a:lnTo>
                      <a:pt x="857" y="595"/>
                    </a:lnTo>
                    <a:lnTo>
                      <a:pt x="872" y="570"/>
                    </a:lnTo>
                    <a:lnTo>
                      <a:pt x="887" y="549"/>
                    </a:lnTo>
                    <a:lnTo>
                      <a:pt x="899" y="531"/>
                    </a:lnTo>
                    <a:lnTo>
                      <a:pt x="909" y="517"/>
                    </a:lnTo>
                    <a:lnTo>
                      <a:pt x="915" y="508"/>
                    </a:lnTo>
                    <a:lnTo>
                      <a:pt x="933" y="483"/>
                    </a:lnTo>
                    <a:lnTo>
                      <a:pt x="955" y="456"/>
                    </a:lnTo>
                    <a:lnTo>
                      <a:pt x="978" y="426"/>
                    </a:lnTo>
                    <a:lnTo>
                      <a:pt x="1000" y="396"/>
                    </a:lnTo>
                    <a:lnTo>
                      <a:pt x="1021" y="371"/>
                    </a:lnTo>
                    <a:lnTo>
                      <a:pt x="1038" y="349"/>
                    </a:lnTo>
                    <a:lnTo>
                      <a:pt x="1050" y="333"/>
                    </a:lnTo>
                    <a:lnTo>
                      <a:pt x="1053" y="325"/>
                    </a:lnTo>
                    <a:lnTo>
                      <a:pt x="1055" y="312"/>
                    </a:lnTo>
                    <a:lnTo>
                      <a:pt x="1055" y="301"/>
                    </a:lnTo>
                    <a:lnTo>
                      <a:pt x="1052" y="289"/>
                    </a:lnTo>
                    <a:lnTo>
                      <a:pt x="1048" y="277"/>
                    </a:lnTo>
                    <a:lnTo>
                      <a:pt x="1042" y="268"/>
                    </a:lnTo>
                    <a:lnTo>
                      <a:pt x="1034" y="260"/>
                    </a:lnTo>
                    <a:lnTo>
                      <a:pt x="1025" y="254"/>
                    </a:lnTo>
                    <a:lnTo>
                      <a:pt x="1013" y="24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 name="Freeform 40"/>
              <p:cNvSpPr>
                <a:spLocks/>
              </p:cNvSpPr>
              <p:nvPr/>
            </p:nvSpPr>
            <p:spPr bwMode="auto">
              <a:xfrm>
                <a:off x="3874" y="3202"/>
                <a:ext cx="93" cy="130"/>
              </a:xfrm>
              <a:custGeom>
                <a:avLst/>
                <a:gdLst>
                  <a:gd name="T0" fmla="*/ 1 w 151"/>
                  <a:gd name="T1" fmla="*/ 1 h 211"/>
                  <a:gd name="T2" fmla="*/ 1 w 151"/>
                  <a:gd name="T3" fmla="*/ 1 h 211"/>
                  <a:gd name="T4" fmla="*/ 1 w 151"/>
                  <a:gd name="T5" fmla="*/ 1 h 211"/>
                  <a:gd name="T6" fmla="*/ 1 w 151"/>
                  <a:gd name="T7" fmla="*/ 1 h 211"/>
                  <a:gd name="T8" fmla="*/ 1 w 151"/>
                  <a:gd name="T9" fmla="*/ 1 h 211"/>
                  <a:gd name="T10" fmla="*/ 1 w 151"/>
                  <a:gd name="T11" fmla="*/ 1 h 211"/>
                  <a:gd name="T12" fmla="*/ 1 w 151"/>
                  <a:gd name="T13" fmla="*/ 1 h 211"/>
                  <a:gd name="T14" fmla="*/ 1 w 151"/>
                  <a:gd name="T15" fmla="*/ 1 h 211"/>
                  <a:gd name="T16" fmla="*/ 1 w 151"/>
                  <a:gd name="T17" fmla="*/ 1 h 211"/>
                  <a:gd name="T18" fmla="*/ 1 w 151"/>
                  <a:gd name="T19" fmla="*/ 1 h 211"/>
                  <a:gd name="T20" fmla="*/ 1 w 151"/>
                  <a:gd name="T21" fmla="*/ 1 h 211"/>
                  <a:gd name="T22" fmla="*/ 1 w 151"/>
                  <a:gd name="T23" fmla="*/ 1 h 211"/>
                  <a:gd name="T24" fmla="*/ 1 w 151"/>
                  <a:gd name="T25" fmla="*/ 1 h 211"/>
                  <a:gd name="T26" fmla="*/ 1 w 151"/>
                  <a:gd name="T27" fmla="*/ 1 h 211"/>
                  <a:gd name="T28" fmla="*/ 1 w 151"/>
                  <a:gd name="T29" fmla="*/ 1 h 211"/>
                  <a:gd name="T30" fmla="*/ 1 w 151"/>
                  <a:gd name="T31" fmla="*/ 1 h 211"/>
                  <a:gd name="T32" fmla="*/ 1 w 151"/>
                  <a:gd name="T33" fmla="*/ 1 h 211"/>
                  <a:gd name="T34" fmla="*/ 1 w 151"/>
                  <a:gd name="T35" fmla="*/ 1 h 211"/>
                  <a:gd name="T36" fmla="*/ 1 w 151"/>
                  <a:gd name="T37" fmla="*/ 1 h 211"/>
                  <a:gd name="T38" fmla="*/ 1 w 151"/>
                  <a:gd name="T39" fmla="*/ 1 h 211"/>
                  <a:gd name="T40" fmla="*/ 1 w 151"/>
                  <a:gd name="T41" fmla="*/ 1 h 211"/>
                  <a:gd name="T42" fmla="*/ 1 w 151"/>
                  <a:gd name="T43" fmla="*/ 1 h 211"/>
                  <a:gd name="T44" fmla="*/ 1 w 151"/>
                  <a:gd name="T45" fmla="*/ 1 h 211"/>
                  <a:gd name="T46" fmla="*/ 1 w 151"/>
                  <a:gd name="T47" fmla="*/ 1 h 211"/>
                  <a:gd name="T48" fmla="*/ 1 w 151"/>
                  <a:gd name="T49" fmla="*/ 1 h 211"/>
                  <a:gd name="T50" fmla="*/ 1 w 151"/>
                  <a:gd name="T51" fmla="*/ 1 h 211"/>
                  <a:gd name="T52" fmla="*/ 1 w 151"/>
                  <a:gd name="T53" fmla="*/ 1 h 211"/>
                  <a:gd name="T54" fmla="*/ 1 w 151"/>
                  <a:gd name="T55" fmla="*/ 1 h 211"/>
                  <a:gd name="T56" fmla="*/ 1 w 151"/>
                  <a:gd name="T57" fmla="*/ 1 h 211"/>
                  <a:gd name="T58" fmla="*/ 1 w 151"/>
                  <a:gd name="T59" fmla="*/ 1 h 211"/>
                  <a:gd name="T60" fmla="*/ 1 w 151"/>
                  <a:gd name="T61" fmla="*/ 1 h 211"/>
                  <a:gd name="T62" fmla="*/ 1 w 151"/>
                  <a:gd name="T63" fmla="*/ 1 h 211"/>
                  <a:gd name="T64" fmla="*/ 1 w 151"/>
                  <a:gd name="T65" fmla="*/ 1 h 211"/>
                  <a:gd name="T66" fmla="*/ 1 w 151"/>
                  <a:gd name="T67" fmla="*/ 1 h 211"/>
                  <a:gd name="T68" fmla="*/ 1 w 151"/>
                  <a:gd name="T69" fmla="*/ 1 h 211"/>
                  <a:gd name="T70" fmla="*/ 1 w 151"/>
                  <a:gd name="T71" fmla="*/ 1 h 211"/>
                  <a:gd name="T72" fmla="*/ 0 w 151"/>
                  <a:gd name="T73" fmla="*/ 1 h 211"/>
                  <a:gd name="T74" fmla="*/ 1 w 151"/>
                  <a:gd name="T75" fmla="*/ 1 h 211"/>
                  <a:gd name="T76" fmla="*/ 1 w 151"/>
                  <a:gd name="T77" fmla="*/ 1 h 211"/>
                  <a:gd name="T78" fmla="*/ 1 w 151"/>
                  <a:gd name="T79" fmla="*/ 1 h 211"/>
                  <a:gd name="T80" fmla="*/ 1 w 151"/>
                  <a:gd name="T81" fmla="*/ 1 h 211"/>
                  <a:gd name="T82" fmla="*/ 1 w 151"/>
                  <a:gd name="T83" fmla="*/ 1 h 211"/>
                  <a:gd name="T84" fmla="*/ 1 w 151"/>
                  <a:gd name="T85" fmla="*/ 1 h 211"/>
                  <a:gd name="T86" fmla="*/ 1 w 151"/>
                  <a:gd name="T87" fmla="*/ 1 h 211"/>
                  <a:gd name="T88" fmla="*/ 1 w 151"/>
                  <a:gd name="T89" fmla="*/ 0 h 211"/>
                  <a:gd name="T90" fmla="*/ 1 w 151"/>
                  <a:gd name="T91" fmla="*/ 1 h 211"/>
                  <a:gd name="T92" fmla="*/ 1 w 151"/>
                  <a:gd name="T93" fmla="*/ 1 h 211"/>
                  <a:gd name="T94" fmla="*/ 1 w 151"/>
                  <a:gd name="T95" fmla="*/ 1 h 211"/>
                  <a:gd name="T96" fmla="*/ 1 w 151"/>
                  <a:gd name="T97" fmla="*/ 1 h 21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51"/>
                  <a:gd name="T148" fmla="*/ 0 h 211"/>
                  <a:gd name="T149" fmla="*/ 151 w 151"/>
                  <a:gd name="T150" fmla="*/ 211 h 21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51" h="211">
                    <a:moveTo>
                      <a:pt x="151" y="27"/>
                    </a:moveTo>
                    <a:lnTo>
                      <a:pt x="148" y="32"/>
                    </a:lnTo>
                    <a:lnTo>
                      <a:pt x="141" y="42"/>
                    </a:lnTo>
                    <a:lnTo>
                      <a:pt x="131" y="54"/>
                    </a:lnTo>
                    <a:lnTo>
                      <a:pt x="118" y="69"/>
                    </a:lnTo>
                    <a:lnTo>
                      <a:pt x="105" y="83"/>
                    </a:lnTo>
                    <a:lnTo>
                      <a:pt x="95" y="96"/>
                    </a:lnTo>
                    <a:lnTo>
                      <a:pt x="88" y="105"/>
                    </a:lnTo>
                    <a:lnTo>
                      <a:pt x="86" y="109"/>
                    </a:lnTo>
                    <a:lnTo>
                      <a:pt x="87" y="110"/>
                    </a:lnTo>
                    <a:lnTo>
                      <a:pt x="91" y="113"/>
                    </a:lnTo>
                    <a:lnTo>
                      <a:pt x="96" y="117"/>
                    </a:lnTo>
                    <a:lnTo>
                      <a:pt x="104" y="121"/>
                    </a:lnTo>
                    <a:lnTo>
                      <a:pt x="113" y="126"/>
                    </a:lnTo>
                    <a:lnTo>
                      <a:pt x="122" y="130"/>
                    </a:lnTo>
                    <a:lnTo>
                      <a:pt x="131" y="132"/>
                    </a:lnTo>
                    <a:lnTo>
                      <a:pt x="141" y="132"/>
                    </a:lnTo>
                    <a:lnTo>
                      <a:pt x="134" y="137"/>
                    </a:lnTo>
                    <a:lnTo>
                      <a:pt x="126" y="144"/>
                    </a:lnTo>
                    <a:lnTo>
                      <a:pt x="119" y="152"/>
                    </a:lnTo>
                    <a:lnTo>
                      <a:pt x="113" y="159"/>
                    </a:lnTo>
                    <a:lnTo>
                      <a:pt x="109" y="154"/>
                    </a:lnTo>
                    <a:lnTo>
                      <a:pt x="105" y="145"/>
                    </a:lnTo>
                    <a:lnTo>
                      <a:pt x="100" y="136"/>
                    </a:lnTo>
                    <a:lnTo>
                      <a:pt x="99" y="132"/>
                    </a:lnTo>
                    <a:lnTo>
                      <a:pt x="95" y="135"/>
                    </a:lnTo>
                    <a:lnTo>
                      <a:pt x="87" y="144"/>
                    </a:lnTo>
                    <a:lnTo>
                      <a:pt x="75" y="157"/>
                    </a:lnTo>
                    <a:lnTo>
                      <a:pt x="64" y="171"/>
                    </a:lnTo>
                    <a:lnTo>
                      <a:pt x="51" y="185"/>
                    </a:lnTo>
                    <a:lnTo>
                      <a:pt x="41" y="198"/>
                    </a:lnTo>
                    <a:lnTo>
                      <a:pt x="33" y="207"/>
                    </a:lnTo>
                    <a:lnTo>
                      <a:pt x="30" y="211"/>
                    </a:lnTo>
                    <a:lnTo>
                      <a:pt x="20" y="201"/>
                    </a:lnTo>
                    <a:lnTo>
                      <a:pt x="11" y="192"/>
                    </a:lnTo>
                    <a:lnTo>
                      <a:pt x="3" y="184"/>
                    </a:lnTo>
                    <a:lnTo>
                      <a:pt x="0" y="180"/>
                    </a:lnTo>
                    <a:lnTo>
                      <a:pt x="17" y="163"/>
                    </a:lnTo>
                    <a:lnTo>
                      <a:pt x="37" y="139"/>
                    </a:lnTo>
                    <a:lnTo>
                      <a:pt x="57" y="111"/>
                    </a:lnTo>
                    <a:lnTo>
                      <a:pt x="79" y="83"/>
                    </a:lnTo>
                    <a:lnTo>
                      <a:pt x="100" y="56"/>
                    </a:lnTo>
                    <a:lnTo>
                      <a:pt x="118" y="31"/>
                    </a:lnTo>
                    <a:lnTo>
                      <a:pt x="132" y="12"/>
                    </a:lnTo>
                    <a:lnTo>
                      <a:pt x="141" y="0"/>
                    </a:lnTo>
                    <a:lnTo>
                      <a:pt x="144" y="7"/>
                    </a:lnTo>
                    <a:lnTo>
                      <a:pt x="145" y="13"/>
                    </a:lnTo>
                    <a:lnTo>
                      <a:pt x="148" y="21"/>
                    </a:lnTo>
                    <a:lnTo>
                      <a:pt x="151" y="27"/>
                    </a:lnTo>
                    <a:close/>
                  </a:path>
                </a:pathLst>
              </a:custGeom>
              <a:solidFill>
                <a:schemeClr val="tx1"/>
              </a:solidFill>
              <a:ln w="9525">
                <a:solidFill>
                  <a:srgbClr val="CC9900"/>
                </a:solidFill>
                <a:round/>
                <a:headEnd/>
                <a:tailEnd/>
              </a:ln>
            </p:spPr>
            <p:txBody>
              <a:bodyPr/>
              <a:lstStyle/>
              <a:p>
                <a:endParaRPr lang="en-US"/>
              </a:p>
            </p:txBody>
          </p:sp>
          <p:sp>
            <p:nvSpPr>
              <p:cNvPr id="84" name="Freeform 41"/>
              <p:cNvSpPr>
                <a:spLocks/>
              </p:cNvSpPr>
              <p:nvPr/>
            </p:nvSpPr>
            <p:spPr bwMode="auto">
              <a:xfrm>
                <a:off x="3943" y="3234"/>
                <a:ext cx="36" cy="40"/>
              </a:xfrm>
              <a:custGeom>
                <a:avLst/>
                <a:gdLst>
                  <a:gd name="T0" fmla="*/ 1 w 58"/>
                  <a:gd name="T1" fmla="*/ 0 h 65"/>
                  <a:gd name="T2" fmla="*/ 1 w 58"/>
                  <a:gd name="T3" fmla="*/ 1 h 65"/>
                  <a:gd name="T4" fmla="*/ 1 w 58"/>
                  <a:gd name="T5" fmla="*/ 1 h 65"/>
                  <a:gd name="T6" fmla="*/ 1 w 58"/>
                  <a:gd name="T7" fmla="*/ 1 h 65"/>
                  <a:gd name="T8" fmla="*/ 1 w 58"/>
                  <a:gd name="T9" fmla="*/ 1 h 65"/>
                  <a:gd name="T10" fmla="*/ 1 w 58"/>
                  <a:gd name="T11" fmla="*/ 1 h 65"/>
                  <a:gd name="T12" fmla="*/ 1 w 58"/>
                  <a:gd name="T13" fmla="*/ 1 h 65"/>
                  <a:gd name="T14" fmla="*/ 1 w 58"/>
                  <a:gd name="T15" fmla="*/ 1 h 65"/>
                  <a:gd name="T16" fmla="*/ 1 w 58"/>
                  <a:gd name="T17" fmla="*/ 1 h 65"/>
                  <a:gd name="T18" fmla="*/ 1 w 58"/>
                  <a:gd name="T19" fmla="*/ 1 h 65"/>
                  <a:gd name="T20" fmla="*/ 1 w 58"/>
                  <a:gd name="T21" fmla="*/ 1 h 65"/>
                  <a:gd name="T22" fmla="*/ 1 w 58"/>
                  <a:gd name="T23" fmla="*/ 1 h 65"/>
                  <a:gd name="T24" fmla="*/ 1 w 58"/>
                  <a:gd name="T25" fmla="*/ 1 h 65"/>
                  <a:gd name="T26" fmla="*/ 1 w 58"/>
                  <a:gd name="T27" fmla="*/ 1 h 65"/>
                  <a:gd name="T28" fmla="*/ 1 w 58"/>
                  <a:gd name="T29" fmla="*/ 1 h 65"/>
                  <a:gd name="T30" fmla="*/ 1 w 58"/>
                  <a:gd name="T31" fmla="*/ 1 h 65"/>
                  <a:gd name="T32" fmla="*/ 0 w 58"/>
                  <a:gd name="T33" fmla="*/ 1 h 65"/>
                  <a:gd name="T34" fmla="*/ 1 w 58"/>
                  <a:gd name="T35" fmla="*/ 1 h 65"/>
                  <a:gd name="T36" fmla="*/ 1 w 58"/>
                  <a:gd name="T37" fmla="*/ 1 h 65"/>
                  <a:gd name="T38" fmla="*/ 1 w 58"/>
                  <a:gd name="T39" fmla="*/ 1 h 65"/>
                  <a:gd name="T40" fmla="*/ 1 w 58"/>
                  <a:gd name="T41" fmla="*/ 1 h 65"/>
                  <a:gd name="T42" fmla="*/ 1 w 58"/>
                  <a:gd name="T43" fmla="*/ 1 h 65"/>
                  <a:gd name="T44" fmla="*/ 1 w 58"/>
                  <a:gd name="T45" fmla="*/ 1 h 65"/>
                  <a:gd name="T46" fmla="*/ 1 w 58"/>
                  <a:gd name="T47" fmla="*/ 1 h 65"/>
                  <a:gd name="T48" fmla="*/ 1 w 58"/>
                  <a:gd name="T49" fmla="*/ 0 h 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8"/>
                  <a:gd name="T76" fmla="*/ 0 h 65"/>
                  <a:gd name="T77" fmla="*/ 58 w 58"/>
                  <a:gd name="T78" fmla="*/ 65 h 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8" h="65">
                    <a:moveTo>
                      <a:pt x="44" y="0"/>
                    </a:moveTo>
                    <a:lnTo>
                      <a:pt x="53" y="17"/>
                    </a:lnTo>
                    <a:lnTo>
                      <a:pt x="57" y="31"/>
                    </a:lnTo>
                    <a:lnTo>
                      <a:pt x="57" y="41"/>
                    </a:lnTo>
                    <a:lnTo>
                      <a:pt x="58" y="47"/>
                    </a:lnTo>
                    <a:lnTo>
                      <a:pt x="56" y="52"/>
                    </a:lnTo>
                    <a:lnTo>
                      <a:pt x="54" y="56"/>
                    </a:lnTo>
                    <a:lnTo>
                      <a:pt x="52" y="58"/>
                    </a:lnTo>
                    <a:lnTo>
                      <a:pt x="45" y="61"/>
                    </a:lnTo>
                    <a:lnTo>
                      <a:pt x="39" y="63"/>
                    </a:lnTo>
                    <a:lnTo>
                      <a:pt x="34" y="65"/>
                    </a:lnTo>
                    <a:lnTo>
                      <a:pt x="30" y="65"/>
                    </a:lnTo>
                    <a:lnTo>
                      <a:pt x="25" y="63"/>
                    </a:lnTo>
                    <a:lnTo>
                      <a:pt x="19" y="61"/>
                    </a:lnTo>
                    <a:lnTo>
                      <a:pt x="14" y="58"/>
                    </a:lnTo>
                    <a:lnTo>
                      <a:pt x="8" y="56"/>
                    </a:lnTo>
                    <a:lnTo>
                      <a:pt x="0" y="52"/>
                    </a:lnTo>
                    <a:lnTo>
                      <a:pt x="3" y="48"/>
                    </a:lnTo>
                    <a:lnTo>
                      <a:pt x="8" y="40"/>
                    </a:lnTo>
                    <a:lnTo>
                      <a:pt x="14" y="32"/>
                    </a:lnTo>
                    <a:lnTo>
                      <a:pt x="22" y="22"/>
                    </a:lnTo>
                    <a:lnTo>
                      <a:pt x="30" y="13"/>
                    </a:lnTo>
                    <a:lnTo>
                      <a:pt x="36" y="6"/>
                    </a:lnTo>
                    <a:lnTo>
                      <a:pt x="41" y="1"/>
                    </a:lnTo>
                    <a:lnTo>
                      <a:pt x="44"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5" name="Freeform 42"/>
              <p:cNvSpPr>
                <a:spLocks/>
              </p:cNvSpPr>
              <p:nvPr/>
            </p:nvSpPr>
            <p:spPr bwMode="auto">
              <a:xfrm>
                <a:off x="3900" y="3345"/>
                <a:ext cx="21" cy="15"/>
              </a:xfrm>
              <a:custGeom>
                <a:avLst/>
                <a:gdLst>
                  <a:gd name="T0" fmla="*/ 1 w 34"/>
                  <a:gd name="T1" fmla="*/ 1 h 24"/>
                  <a:gd name="T2" fmla="*/ 1 w 34"/>
                  <a:gd name="T3" fmla="*/ 1 h 24"/>
                  <a:gd name="T4" fmla="*/ 1 w 34"/>
                  <a:gd name="T5" fmla="*/ 1 h 24"/>
                  <a:gd name="T6" fmla="*/ 1 w 34"/>
                  <a:gd name="T7" fmla="*/ 1 h 24"/>
                  <a:gd name="T8" fmla="*/ 1 w 34"/>
                  <a:gd name="T9" fmla="*/ 1 h 24"/>
                  <a:gd name="T10" fmla="*/ 1 w 34"/>
                  <a:gd name="T11" fmla="*/ 1 h 24"/>
                  <a:gd name="T12" fmla="*/ 1 w 34"/>
                  <a:gd name="T13" fmla="*/ 1 h 24"/>
                  <a:gd name="T14" fmla="*/ 1 w 34"/>
                  <a:gd name="T15" fmla="*/ 1 h 24"/>
                  <a:gd name="T16" fmla="*/ 0 w 34"/>
                  <a:gd name="T17" fmla="*/ 0 h 24"/>
                  <a:gd name="T18" fmla="*/ 1 w 34"/>
                  <a:gd name="T19" fmla="*/ 1 h 24"/>
                  <a:gd name="T20" fmla="*/ 1 w 34"/>
                  <a:gd name="T21" fmla="*/ 1 h 24"/>
                  <a:gd name="T22" fmla="*/ 1 w 34"/>
                  <a:gd name="T23" fmla="*/ 1 h 24"/>
                  <a:gd name="T24" fmla="*/ 1 w 34"/>
                  <a:gd name="T25" fmla="*/ 1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24"/>
                  <a:gd name="T41" fmla="*/ 34 w 34"/>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24">
                    <a:moveTo>
                      <a:pt x="34" y="3"/>
                    </a:moveTo>
                    <a:lnTo>
                      <a:pt x="29" y="7"/>
                    </a:lnTo>
                    <a:lnTo>
                      <a:pt x="23" y="12"/>
                    </a:lnTo>
                    <a:lnTo>
                      <a:pt x="20" y="18"/>
                    </a:lnTo>
                    <a:lnTo>
                      <a:pt x="16" y="24"/>
                    </a:lnTo>
                    <a:lnTo>
                      <a:pt x="12" y="17"/>
                    </a:lnTo>
                    <a:lnTo>
                      <a:pt x="8" y="12"/>
                    </a:lnTo>
                    <a:lnTo>
                      <a:pt x="4" y="5"/>
                    </a:lnTo>
                    <a:lnTo>
                      <a:pt x="0" y="0"/>
                    </a:lnTo>
                    <a:lnTo>
                      <a:pt x="8" y="3"/>
                    </a:lnTo>
                    <a:lnTo>
                      <a:pt x="17" y="3"/>
                    </a:lnTo>
                    <a:lnTo>
                      <a:pt x="25" y="4"/>
                    </a:lnTo>
                    <a:lnTo>
                      <a:pt x="34" y="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6" name="Freeform 43"/>
              <p:cNvSpPr>
                <a:spLocks/>
              </p:cNvSpPr>
              <p:nvPr/>
            </p:nvSpPr>
            <p:spPr bwMode="auto">
              <a:xfrm>
                <a:off x="3403" y="3073"/>
                <a:ext cx="548" cy="446"/>
              </a:xfrm>
              <a:custGeom>
                <a:avLst/>
                <a:gdLst>
                  <a:gd name="T0" fmla="*/ 1 w 892"/>
                  <a:gd name="T1" fmla="*/ 1 h 726"/>
                  <a:gd name="T2" fmla="*/ 1 w 892"/>
                  <a:gd name="T3" fmla="*/ 1 h 726"/>
                  <a:gd name="T4" fmla="*/ 1 w 892"/>
                  <a:gd name="T5" fmla="*/ 1 h 726"/>
                  <a:gd name="T6" fmla="*/ 1 w 892"/>
                  <a:gd name="T7" fmla="*/ 1 h 726"/>
                  <a:gd name="T8" fmla="*/ 1 w 892"/>
                  <a:gd name="T9" fmla="*/ 1 h 726"/>
                  <a:gd name="T10" fmla="*/ 1 w 892"/>
                  <a:gd name="T11" fmla="*/ 1 h 726"/>
                  <a:gd name="T12" fmla="*/ 1 w 892"/>
                  <a:gd name="T13" fmla="*/ 0 h 726"/>
                  <a:gd name="T14" fmla="*/ 1 w 892"/>
                  <a:gd name="T15" fmla="*/ 1 h 726"/>
                  <a:gd name="T16" fmla="*/ 1 w 892"/>
                  <a:gd name="T17" fmla="*/ 1 h 726"/>
                  <a:gd name="T18" fmla="*/ 1 w 892"/>
                  <a:gd name="T19" fmla="*/ 1 h 726"/>
                  <a:gd name="T20" fmla="*/ 1 w 892"/>
                  <a:gd name="T21" fmla="*/ 1 h 726"/>
                  <a:gd name="T22" fmla="*/ 1 w 892"/>
                  <a:gd name="T23" fmla="*/ 1 h 726"/>
                  <a:gd name="T24" fmla="*/ 1 w 892"/>
                  <a:gd name="T25" fmla="*/ 1 h 726"/>
                  <a:gd name="T26" fmla="*/ 1 w 892"/>
                  <a:gd name="T27" fmla="*/ 1 h 726"/>
                  <a:gd name="T28" fmla="*/ 1 w 892"/>
                  <a:gd name="T29" fmla="*/ 1 h 726"/>
                  <a:gd name="T30" fmla="*/ 1 w 892"/>
                  <a:gd name="T31" fmla="*/ 1 h 726"/>
                  <a:gd name="T32" fmla="*/ 1 w 892"/>
                  <a:gd name="T33" fmla="*/ 1 h 726"/>
                  <a:gd name="T34" fmla="*/ 1 w 892"/>
                  <a:gd name="T35" fmla="*/ 1 h 726"/>
                  <a:gd name="T36" fmla="*/ 1 w 892"/>
                  <a:gd name="T37" fmla="*/ 1 h 726"/>
                  <a:gd name="T38" fmla="*/ 1 w 892"/>
                  <a:gd name="T39" fmla="*/ 1 h 726"/>
                  <a:gd name="T40" fmla="*/ 1 w 892"/>
                  <a:gd name="T41" fmla="*/ 1 h 726"/>
                  <a:gd name="T42" fmla="*/ 1 w 892"/>
                  <a:gd name="T43" fmla="*/ 1 h 726"/>
                  <a:gd name="T44" fmla="*/ 1 w 892"/>
                  <a:gd name="T45" fmla="*/ 1 h 726"/>
                  <a:gd name="T46" fmla="*/ 1 w 892"/>
                  <a:gd name="T47" fmla="*/ 1 h 726"/>
                  <a:gd name="T48" fmla="*/ 1 w 892"/>
                  <a:gd name="T49" fmla="*/ 1 h 726"/>
                  <a:gd name="T50" fmla="*/ 1 w 892"/>
                  <a:gd name="T51" fmla="*/ 1 h 726"/>
                  <a:gd name="T52" fmla="*/ 1 w 892"/>
                  <a:gd name="T53" fmla="*/ 1 h 726"/>
                  <a:gd name="T54" fmla="*/ 1 w 892"/>
                  <a:gd name="T55" fmla="*/ 1 h 726"/>
                  <a:gd name="T56" fmla="*/ 1 w 892"/>
                  <a:gd name="T57" fmla="*/ 1 h 726"/>
                  <a:gd name="T58" fmla="*/ 1 w 892"/>
                  <a:gd name="T59" fmla="*/ 1 h 726"/>
                  <a:gd name="T60" fmla="*/ 1 w 892"/>
                  <a:gd name="T61" fmla="*/ 1 h 726"/>
                  <a:gd name="T62" fmla="*/ 1 w 892"/>
                  <a:gd name="T63" fmla="*/ 1 h 726"/>
                  <a:gd name="T64" fmla="*/ 1 w 892"/>
                  <a:gd name="T65" fmla="*/ 1 h 726"/>
                  <a:gd name="T66" fmla="*/ 1 w 892"/>
                  <a:gd name="T67" fmla="*/ 1 h 726"/>
                  <a:gd name="T68" fmla="*/ 1 w 892"/>
                  <a:gd name="T69" fmla="*/ 1 h 726"/>
                  <a:gd name="T70" fmla="*/ 1 w 892"/>
                  <a:gd name="T71" fmla="*/ 1 h 726"/>
                  <a:gd name="T72" fmla="*/ 1 w 892"/>
                  <a:gd name="T73" fmla="*/ 1 h 726"/>
                  <a:gd name="T74" fmla="*/ 1 w 892"/>
                  <a:gd name="T75" fmla="*/ 1 h 726"/>
                  <a:gd name="T76" fmla="*/ 1 w 892"/>
                  <a:gd name="T77" fmla="*/ 1 h 726"/>
                  <a:gd name="T78" fmla="*/ 1 w 892"/>
                  <a:gd name="T79" fmla="*/ 1 h 726"/>
                  <a:gd name="T80" fmla="*/ 1 w 892"/>
                  <a:gd name="T81" fmla="*/ 1 h 726"/>
                  <a:gd name="T82" fmla="*/ 1 w 892"/>
                  <a:gd name="T83" fmla="*/ 1 h 726"/>
                  <a:gd name="T84" fmla="*/ 1 w 892"/>
                  <a:gd name="T85" fmla="*/ 1 h 726"/>
                  <a:gd name="T86" fmla="*/ 1 w 892"/>
                  <a:gd name="T87" fmla="*/ 1 h 726"/>
                  <a:gd name="T88" fmla="*/ 1 w 892"/>
                  <a:gd name="T89" fmla="*/ 1 h 726"/>
                  <a:gd name="T90" fmla="*/ 1 w 892"/>
                  <a:gd name="T91" fmla="*/ 1 h 726"/>
                  <a:gd name="T92" fmla="*/ 1 w 892"/>
                  <a:gd name="T93" fmla="*/ 1 h 72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92"/>
                  <a:gd name="T142" fmla="*/ 0 h 726"/>
                  <a:gd name="T143" fmla="*/ 892 w 892"/>
                  <a:gd name="T144" fmla="*/ 726 h 72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92" h="726">
                    <a:moveTo>
                      <a:pt x="181" y="263"/>
                    </a:moveTo>
                    <a:lnTo>
                      <a:pt x="189" y="248"/>
                    </a:lnTo>
                    <a:lnTo>
                      <a:pt x="199" y="233"/>
                    </a:lnTo>
                    <a:lnTo>
                      <a:pt x="210" y="219"/>
                    </a:lnTo>
                    <a:lnTo>
                      <a:pt x="220" y="205"/>
                    </a:lnTo>
                    <a:lnTo>
                      <a:pt x="232" y="192"/>
                    </a:lnTo>
                    <a:lnTo>
                      <a:pt x="242" y="178"/>
                    </a:lnTo>
                    <a:lnTo>
                      <a:pt x="254" y="165"/>
                    </a:lnTo>
                    <a:lnTo>
                      <a:pt x="265" y="150"/>
                    </a:lnTo>
                    <a:lnTo>
                      <a:pt x="280" y="132"/>
                    </a:lnTo>
                    <a:lnTo>
                      <a:pt x="291" y="113"/>
                    </a:lnTo>
                    <a:lnTo>
                      <a:pt x="303" y="95"/>
                    </a:lnTo>
                    <a:lnTo>
                      <a:pt x="315" y="78"/>
                    </a:lnTo>
                    <a:lnTo>
                      <a:pt x="325" y="61"/>
                    </a:lnTo>
                    <a:lnTo>
                      <a:pt x="338" y="44"/>
                    </a:lnTo>
                    <a:lnTo>
                      <a:pt x="353" y="27"/>
                    </a:lnTo>
                    <a:lnTo>
                      <a:pt x="370" y="12"/>
                    </a:lnTo>
                    <a:lnTo>
                      <a:pt x="379" y="7"/>
                    </a:lnTo>
                    <a:lnTo>
                      <a:pt x="391" y="3"/>
                    </a:lnTo>
                    <a:lnTo>
                      <a:pt x="399" y="0"/>
                    </a:lnTo>
                    <a:lnTo>
                      <a:pt x="403" y="0"/>
                    </a:lnTo>
                    <a:lnTo>
                      <a:pt x="430" y="11"/>
                    </a:lnTo>
                    <a:lnTo>
                      <a:pt x="456" y="21"/>
                    </a:lnTo>
                    <a:lnTo>
                      <a:pt x="482" y="29"/>
                    </a:lnTo>
                    <a:lnTo>
                      <a:pt x="506" y="38"/>
                    </a:lnTo>
                    <a:lnTo>
                      <a:pt x="531" y="47"/>
                    </a:lnTo>
                    <a:lnTo>
                      <a:pt x="555" y="55"/>
                    </a:lnTo>
                    <a:lnTo>
                      <a:pt x="581" y="65"/>
                    </a:lnTo>
                    <a:lnTo>
                      <a:pt x="607" y="75"/>
                    </a:lnTo>
                    <a:lnTo>
                      <a:pt x="624" y="82"/>
                    </a:lnTo>
                    <a:lnTo>
                      <a:pt x="641" y="88"/>
                    </a:lnTo>
                    <a:lnTo>
                      <a:pt x="656" y="93"/>
                    </a:lnTo>
                    <a:lnTo>
                      <a:pt x="673" y="99"/>
                    </a:lnTo>
                    <a:lnTo>
                      <a:pt x="689" y="104"/>
                    </a:lnTo>
                    <a:lnTo>
                      <a:pt x="706" y="108"/>
                    </a:lnTo>
                    <a:lnTo>
                      <a:pt x="721" y="112"/>
                    </a:lnTo>
                    <a:lnTo>
                      <a:pt x="738" y="115"/>
                    </a:lnTo>
                    <a:lnTo>
                      <a:pt x="753" y="119"/>
                    </a:lnTo>
                    <a:lnTo>
                      <a:pt x="770" y="122"/>
                    </a:lnTo>
                    <a:lnTo>
                      <a:pt x="786" y="126"/>
                    </a:lnTo>
                    <a:lnTo>
                      <a:pt x="803" y="130"/>
                    </a:lnTo>
                    <a:lnTo>
                      <a:pt x="819" y="132"/>
                    </a:lnTo>
                    <a:lnTo>
                      <a:pt x="838" y="136"/>
                    </a:lnTo>
                    <a:lnTo>
                      <a:pt x="854" y="141"/>
                    </a:lnTo>
                    <a:lnTo>
                      <a:pt x="873" y="145"/>
                    </a:lnTo>
                    <a:lnTo>
                      <a:pt x="885" y="153"/>
                    </a:lnTo>
                    <a:lnTo>
                      <a:pt x="892" y="165"/>
                    </a:lnTo>
                    <a:lnTo>
                      <a:pt x="892" y="179"/>
                    </a:lnTo>
                    <a:lnTo>
                      <a:pt x="885" y="192"/>
                    </a:lnTo>
                    <a:lnTo>
                      <a:pt x="879" y="200"/>
                    </a:lnTo>
                    <a:lnTo>
                      <a:pt x="874" y="207"/>
                    </a:lnTo>
                    <a:lnTo>
                      <a:pt x="870" y="214"/>
                    </a:lnTo>
                    <a:lnTo>
                      <a:pt x="865" y="220"/>
                    </a:lnTo>
                    <a:lnTo>
                      <a:pt x="860" y="228"/>
                    </a:lnTo>
                    <a:lnTo>
                      <a:pt x="854" y="235"/>
                    </a:lnTo>
                    <a:lnTo>
                      <a:pt x="849" y="242"/>
                    </a:lnTo>
                    <a:lnTo>
                      <a:pt x="843" y="250"/>
                    </a:lnTo>
                    <a:lnTo>
                      <a:pt x="830" y="267"/>
                    </a:lnTo>
                    <a:lnTo>
                      <a:pt x="814" y="288"/>
                    </a:lnTo>
                    <a:lnTo>
                      <a:pt x="799" y="310"/>
                    </a:lnTo>
                    <a:lnTo>
                      <a:pt x="782" y="331"/>
                    </a:lnTo>
                    <a:lnTo>
                      <a:pt x="768" y="350"/>
                    </a:lnTo>
                    <a:lnTo>
                      <a:pt x="755" y="367"/>
                    </a:lnTo>
                    <a:lnTo>
                      <a:pt x="746" y="377"/>
                    </a:lnTo>
                    <a:lnTo>
                      <a:pt x="742" y="380"/>
                    </a:lnTo>
                    <a:lnTo>
                      <a:pt x="729" y="372"/>
                    </a:lnTo>
                    <a:lnTo>
                      <a:pt x="716" y="367"/>
                    </a:lnTo>
                    <a:lnTo>
                      <a:pt x="702" y="363"/>
                    </a:lnTo>
                    <a:lnTo>
                      <a:pt x="687" y="359"/>
                    </a:lnTo>
                    <a:lnTo>
                      <a:pt x="673" y="358"/>
                    </a:lnTo>
                    <a:lnTo>
                      <a:pt x="659" y="356"/>
                    </a:lnTo>
                    <a:lnTo>
                      <a:pt x="645" y="356"/>
                    </a:lnTo>
                    <a:lnTo>
                      <a:pt x="630" y="358"/>
                    </a:lnTo>
                    <a:lnTo>
                      <a:pt x="620" y="359"/>
                    </a:lnTo>
                    <a:lnTo>
                      <a:pt x="610" y="363"/>
                    </a:lnTo>
                    <a:lnTo>
                      <a:pt x="601" y="368"/>
                    </a:lnTo>
                    <a:lnTo>
                      <a:pt x="593" y="375"/>
                    </a:lnTo>
                    <a:lnTo>
                      <a:pt x="586" y="384"/>
                    </a:lnTo>
                    <a:lnTo>
                      <a:pt x="583" y="391"/>
                    </a:lnTo>
                    <a:lnTo>
                      <a:pt x="579" y="402"/>
                    </a:lnTo>
                    <a:lnTo>
                      <a:pt x="577" y="411"/>
                    </a:lnTo>
                    <a:lnTo>
                      <a:pt x="580" y="428"/>
                    </a:lnTo>
                    <a:lnTo>
                      <a:pt x="586" y="441"/>
                    </a:lnTo>
                    <a:lnTo>
                      <a:pt x="598" y="451"/>
                    </a:lnTo>
                    <a:lnTo>
                      <a:pt x="612" y="459"/>
                    </a:lnTo>
                    <a:lnTo>
                      <a:pt x="629" y="464"/>
                    </a:lnTo>
                    <a:lnTo>
                      <a:pt x="646" y="469"/>
                    </a:lnTo>
                    <a:lnTo>
                      <a:pt x="663" y="474"/>
                    </a:lnTo>
                    <a:lnTo>
                      <a:pt x="677" y="479"/>
                    </a:lnTo>
                    <a:lnTo>
                      <a:pt x="674" y="487"/>
                    </a:lnTo>
                    <a:lnTo>
                      <a:pt x="663" y="508"/>
                    </a:lnTo>
                    <a:lnTo>
                      <a:pt x="643" y="538"/>
                    </a:lnTo>
                    <a:lnTo>
                      <a:pt x="619" y="573"/>
                    </a:lnTo>
                    <a:lnTo>
                      <a:pt x="592" y="612"/>
                    </a:lnTo>
                    <a:lnTo>
                      <a:pt x="562" y="650"/>
                    </a:lnTo>
                    <a:lnTo>
                      <a:pt x="533" y="687"/>
                    </a:lnTo>
                    <a:lnTo>
                      <a:pt x="506" y="718"/>
                    </a:lnTo>
                    <a:lnTo>
                      <a:pt x="498" y="720"/>
                    </a:lnTo>
                    <a:lnTo>
                      <a:pt x="492" y="723"/>
                    </a:lnTo>
                    <a:lnTo>
                      <a:pt x="483" y="724"/>
                    </a:lnTo>
                    <a:lnTo>
                      <a:pt x="475" y="724"/>
                    </a:lnTo>
                    <a:lnTo>
                      <a:pt x="466" y="726"/>
                    </a:lnTo>
                    <a:lnTo>
                      <a:pt x="458" y="724"/>
                    </a:lnTo>
                    <a:lnTo>
                      <a:pt x="451" y="724"/>
                    </a:lnTo>
                    <a:lnTo>
                      <a:pt x="443" y="723"/>
                    </a:lnTo>
                    <a:lnTo>
                      <a:pt x="421" y="718"/>
                    </a:lnTo>
                    <a:lnTo>
                      <a:pt x="396" y="710"/>
                    </a:lnTo>
                    <a:lnTo>
                      <a:pt x="370" y="702"/>
                    </a:lnTo>
                    <a:lnTo>
                      <a:pt x="346" y="693"/>
                    </a:lnTo>
                    <a:lnTo>
                      <a:pt x="324" y="684"/>
                    </a:lnTo>
                    <a:lnTo>
                      <a:pt x="304" y="678"/>
                    </a:lnTo>
                    <a:lnTo>
                      <a:pt x="291" y="672"/>
                    </a:lnTo>
                    <a:lnTo>
                      <a:pt x="286" y="670"/>
                    </a:lnTo>
                    <a:lnTo>
                      <a:pt x="268" y="663"/>
                    </a:lnTo>
                    <a:lnTo>
                      <a:pt x="251" y="657"/>
                    </a:lnTo>
                    <a:lnTo>
                      <a:pt x="233" y="652"/>
                    </a:lnTo>
                    <a:lnTo>
                      <a:pt x="216" y="645"/>
                    </a:lnTo>
                    <a:lnTo>
                      <a:pt x="198" y="639"/>
                    </a:lnTo>
                    <a:lnTo>
                      <a:pt x="181" y="632"/>
                    </a:lnTo>
                    <a:lnTo>
                      <a:pt x="163" y="626"/>
                    </a:lnTo>
                    <a:lnTo>
                      <a:pt x="146" y="621"/>
                    </a:lnTo>
                    <a:lnTo>
                      <a:pt x="128" y="614"/>
                    </a:lnTo>
                    <a:lnTo>
                      <a:pt x="111" y="608"/>
                    </a:lnTo>
                    <a:lnTo>
                      <a:pt x="93" y="601"/>
                    </a:lnTo>
                    <a:lnTo>
                      <a:pt x="76" y="595"/>
                    </a:lnTo>
                    <a:lnTo>
                      <a:pt x="58" y="588"/>
                    </a:lnTo>
                    <a:lnTo>
                      <a:pt x="42" y="582"/>
                    </a:lnTo>
                    <a:lnTo>
                      <a:pt x="23" y="574"/>
                    </a:lnTo>
                    <a:lnTo>
                      <a:pt x="7" y="568"/>
                    </a:lnTo>
                    <a:lnTo>
                      <a:pt x="5" y="565"/>
                    </a:lnTo>
                    <a:lnTo>
                      <a:pt x="3" y="562"/>
                    </a:lnTo>
                    <a:lnTo>
                      <a:pt x="1" y="560"/>
                    </a:lnTo>
                    <a:lnTo>
                      <a:pt x="0" y="557"/>
                    </a:lnTo>
                    <a:lnTo>
                      <a:pt x="21" y="520"/>
                    </a:lnTo>
                    <a:lnTo>
                      <a:pt x="44" y="483"/>
                    </a:lnTo>
                    <a:lnTo>
                      <a:pt x="67" y="447"/>
                    </a:lnTo>
                    <a:lnTo>
                      <a:pt x="92" y="412"/>
                    </a:lnTo>
                    <a:lnTo>
                      <a:pt x="115" y="376"/>
                    </a:lnTo>
                    <a:lnTo>
                      <a:pt x="139" y="338"/>
                    </a:lnTo>
                    <a:lnTo>
                      <a:pt x="161" y="302"/>
                    </a:lnTo>
                    <a:lnTo>
                      <a:pt x="181" y="263"/>
                    </a:lnTo>
                    <a:close/>
                  </a:path>
                </a:pathLst>
              </a:custGeom>
              <a:solidFill>
                <a:srgbClr val="CC9900"/>
              </a:solidFill>
              <a:ln w="9525">
                <a:solidFill>
                  <a:srgbClr val="CC9900"/>
                </a:solidFill>
                <a:round/>
                <a:headEnd/>
                <a:tailEnd/>
              </a:ln>
            </p:spPr>
            <p:txBody>
              <a:bodyPr/>
              <a:lstStyle/>
              <a:p>
                <a:endParaRPr lang="en-US"/>
              </a:p>
            </p:txBody>
          </p:sp>
          <p:sp>
            <p:nvSpPr>
              <p:cNvPr id="87" name="Freeform 44"/>
              <p:cNvSpPr>
                <a:spLocks/>
              </p:cNvSpPr>
              <p:nvPr/>
            </p:nvSpPr>
            <p:spPr bwMode="auto">
              <a:xfrm>
                <a:off x="3400" y="3379"/>
                <a:ext cx="468" cy="189"/>
              </a:xfrm>
              <a:custGeom>
                <a:avLst/>
                <a:gdLst>
                  <a:gd name="T0" fmla="*/ 1 w 762"/>
                  <a:gd name="T1" fmla="*/ 1 h 308"/>
                  <a:gd name="T2" fmla="*/ 1 w 762"/>
                  <a:gd name="T3" fmla="*/ 1 h 308"/>
                  <a:gd name="T4" fmla="*/ 1 w 762"/>
                  <a:gd name="T5" fmla="*/ 1 h 308"/>
                  <a:gd name="T6" fmla="*/ 1 w 762"/>
                  <a:gd name="T7" fmla="*/ 1 h 308"/>
                  <a:gd name="T8" fmla="*/ 1 w 762"/>
                  <a:gd name="T9" fmla="*/ 1 h 308"/>
                  <a:gd name="T10" fmla="*/ 1 w 762"/>
                  <a:gd name="T11" fmla="*/ 1 h 308"/>
                  <a:gd name="T12" fmla="*/ 1 w 762"/>
                  <a:gd name="T13" fmla="*/ 1 h 308"/>
                  <a:gd name="T14" fmla="*/ 1 w 762"/>
                  <a:gd name="T15" fmla="*/ 1 h 308"/>
                  <a:gd name="T16" fmla="*/ 1 w 762"/>
                  <a:gd name="T17" fmla="*/ 1 h 308"/>
                  <a:gd name="T18" fmla="*/ 1 w 762"/>
                  <a:gd name="T19" fmla="*/ 1 h 308"/>
                  <a:gd name="T20" fmla="*/ 1 w 762"/>
                  <a:gd name="T21" fmla="*/ 1 h 308"/>
                  <a:gd name="T22" fmla="*/ 1 w 762"/>
                  <a:gd name="T23" fmla="*/ 1 h 308"/>
                  <a:gd name="T24" fmla="*/ 1 w 762"/>
                  <a:gd name="T25" fmla="*/ 1 h 308"/>
                  <a:gd name="T26" fmla="*/ 1 w 762"/>
                  <a:gd name="T27" fmla="*/ 1 h 308"/>
                  <a:gd name="T28" fmla="*/ 1 w 762"/>
                  <a:gd name="T29" fmla="*/ 1 h 308"/>
                  <a:gd name="T30" fmla="*/ 1 w 762"/>
                  <a:gd name="T31" fmla="*/ 0 h 308"/>
                  <a:gd name="T32" fmla="*/ 1 w 762"/>
                  <a:gd name="T33" fmla="*/ 1 h 308"/>
                  <a:gd name="T34" fmla="*/ 1 w 762"/>
                  <a:gd name="T35" fmla="*/ 1 h 308"/>
                  <a:gd name="T36" fmla="*/ 1 w 762"/>
                  <a:gd name="T37" fmla="*/ 1 h 308"/>
                  <a:gd name="T38" fmla="*/ 1 w 762"/>
                  <a:gd name="T39" fmla="*/ 1 h 308"/>
                  <a:gd name="T40" fmla="*/ 1 w 762"/>
                  <a:gd name="T41" fmla="*/ 1 h 308"/>
                  <a:gd name="T42" fmla="*/ 1 w 762"/>
                  <a:gd name="T43" fmla="*/ 1 h 308"/>
                  <a:gd name="T44" fmla="*/ 1 w 762"/>
                  <a:gd name="T45" fmla="*/ 1 h 308"/>
                  <a:gd name="T46" fmla="*/ 1 w 762"/>
                  <a:gd name="T47" fmla="*/ 1 h 308"/>
                  <a:gd name="T48" fmla="*/ 1 w 762"/>
                  <a:gd name="T49" fmla="*/ 1 h 308"/>
                  <a:gd name="T50" fmla="*/ 1 w 762"/>
                  <a:gd name="T51" fmla="*/ 1 h 308"/>
                  <a:gd name="T52" fmla="*/ 1 w 762"/>
                  <a:gd name="T53" fmla="*/ 1 h 308"/>
                  <a:gd name="T54" fmla="*/ 1 w 762"/>
                  <a:gd name="T55" fmla="*/ 1 h 308"/>
                  <a:gd name="T56" fmla="*/ 1 w 762"/>
                  <a:gd name="T57" fmla="*/ 1 h 308"/>
                  <a:gd name="T58" fmla="*/ 1 w 762"/>
                  <a:gd name="T59" fmla="*/ 1 h 308"/>
                  <a:gd name="T60" fmla="*/ 1 w 762"/>
                  <a:gd name="T61" fmla="*/ 1 h 308"/>
                  <a:gd name="T62" fmla="*/ 1 w 762"/>
                  <a:gd name="T63" fmla="*/ 1 h 308"/>
                  <a:gd name="T64" fmla="*/ 1 w 762"/>
                  <a:gd name="T65" fmla="*/ 1 h 308"/>
                  <a:gd name="T66" fmla="*/ 1 w 762"/>
                  <a:gd name="T67" fmla="*/ 1 h 308"/>
                  <a:gd name="T68" fmla="*/ 1 w 762"/>
                  <a:gd name="T69" fmla="*/ 1 h 308"/>
                  <a:gd name="T70" fmla="*/ 1 w 762"/>
                  <a:gd name="T71" fmla="*/ 1 h 308"/>
                  <a:gd name="T72" fmla="*/ 1 w 762"/>
                  <a:gd name="T73" fmla="*/ 1 h 308"/>
                  <a:gd name="T74" fmla="*/ 1 w 762"/>
                  <a:gd name="T75" fmla="*/ 1 h 308"/>
                  <a:gd name="T76" fmla="*/ 1 w 762"/>
                  <a:gd name="T77" fmla="*/ 1 h 308"/>
                  <a:gd name="T78" fmla="*/ 1 w 762"/>
                  <a:gd name="T79" fmla="*/ 1 h 308"/>
                  <a:gd name="T80" fmla="*/ 1 w 762"/>
                  <a:gd name="T81" fmla="*/ 1 h 308"/>
                  <a:gd name="T82" fmla="*/ 1 w 762"/>
                  <a:gd name="T83" fmla="*/ 1 h 308"/>
                  <a:gd name="T84" fmla="*/ 1 w 762"/>
                  <a:gd name="T85" fmla="*/ 1 h 308"/>
                  <a:gd name="T86" fmla="*/ 1 w 762"/>
                  <a:gd name="T87" fmla="*/ 1 h 308"/>
                  <a:gd name="T88" fmla="*/ 1 w 762"/>
                  <a:gd name="T89" fmla="*/ 1 h 308"/>
                  <a:gd name="T90" fmla="*/ 1 w 762"/>
                  <a:gd name="T91" fmla="*/ 1 h 308"/>
                  <a:gd name="T92" fmla="*/ 1 w 762"/>
                  <a:gd name="T93" fmla="*/ 1 h 308"/>
                  <a:gd name="T94" fmla="*/ 1 w 762"/>
                  <a:gd name="T95" fmla="*/ 1 h 30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62"/>
                  <a:gd name="T145" fmla="*/ 0 h 308"/>
                  <a:gd name="T146" fmla="*/ 762 w 762"/>
                  <a:gd name="T147" fmla="*/ 308 h 30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62" h="308">
                    <a:moveTo>
                      <a:pt x="0" y="84"/>
                    </a:moveTo>
                    <a:lnTo>
                      <a:pt x="18" y="92"/>
                    </a:lnTo>
                    <a:lnTo>
                      <a:pt x="39" y="99"/>
                    </a:lnTo>
                    <a:lnTo>
                      <a:pt x="61" y="108"/>
                    </a:lnTo>
                    <a:lnTo>
                      <a:pt x="83" y="118"/>
                    </a:lnTo>
                    <a:lnTo>
                      <a:pt x="103" y="128"/>
                    </a:lnTo>
                    <a:lnTo>
                      <a:pt x="125" y="136"/>
                    </a:lnTo>
                    <a:lnTo>
                      <a:pt x="146" y="145"/>
                    </a:lnTo>
                    <a:lnTo>
                      <a:pt x="164" y="152"/>
                    </a:lnTo>
                    <a:lnTo>
                      <a:pt x="171" y="155"/>
                    </a:lnTo>
                    <a:lnTo>
                      <a:pt x="181" y="159"/>
                    </a:lnTo>
                    <a:lnTo>
                      <a:pt x="195" y="164"/>
                    </a:lnTo>
                    <a:lnTo>
                      <a:pt x="211" y="169"/>
                    </a:lnTo>
                    <a:lnTo>
                      <a:pt x="229" y="177"/>
                    </a:lnTo>
                    <a:lnTo>
                      <a:pt x="250" y="184"/>
                    </a:lnTo>
                    <a:lnTo>
                      <a:pt x="272" y="191"/>
                    </a:lnTo>
                    <a:lnTo>
                      <a:pt x="294" y="199"/>
                    </a:lnTo>
                    <a:lnTo>
                      <a:pt x="316" y="208"/>
                    </a:lnTo>
                    <a:lnTo>
                      <a:pt x="339" y="216"/>
                    </a:lnTo>
                    <a:lnTo>
                      <a:pt x="361" y="222"/>
                    </a:lnTo>
                    <a:lnTo>
                      <a:pt x="382" y="230"/>
                    </a:lnTo>
                    <a:lnTo>
                      <a:pt x="401" y="235"/>
                    </a:lnTo>
                    <a:lnTo>
                      <a:pt x="419" y="241"/>
                    </a:lnTo>
                    <a:lnTo>
                      <a:pt x="435" y="244"/>
                    </a:lnTo>
                    <a:lnTo>
                      <a:pt x="448" y="247"/>
                    </a:lnTo>
                    <a:lnTo>
                      <a:pt x="457" y="248"/>
                    </a:lnTo>
                    <a:lnTo>
                      <a:pt x="467" y="251"/>
                    </a:lnTo>
                    <a:lnTo>
                      <a:pt x="476" y="252"/>
                    </a:lnTo>
                    <a:lnTo>
                      <a:pt x="485" y="255"/>
                    </a:lnTo>
                    <a:lnTo>
                      <a:pt x="494" y="256"/>
                    </a:lnTo>
                    <a:lnTo>
                      <a:pt x="503" y="256"/>
                    </a:lnTo>
                    <a:lnTo>
                      <a:pt x="512" y="255"/>
                    </a:lnTo>
                    <a:lnTo>
                      <a:pt x="520" y="252"/>
                    </a:lnTo>
                    <a:lnTo>
                      <a:pt x="537" y="233"/>
                    </a:lnTo>
                    <a:lnTo>
                      <a:pt x="554" y="212"/>
                    </a:lnTo>
                    <a:lnTo>
                      <a:pt x="569" y="190"/>
                    </a:lnTo>
                    <a:lnTo>
                      <a:pt x="585" y="167"/>
                    </a:lnTo>
                    <a:lnTo>
                      <a:pt x="601" y="143"/>
                    </a:lnTo>
                    <a:lnTo>
                      <a:pt x="616" y="121"/>
                    </a:lnTo>
                    <a:lnTo>
                      <a:pt x="632" y="98"/>
                    </a:lnTo>
                    <a:lnTo>
                      <a:pt x="647" y="77"/>
                    </a:lnTo>
                    <a:lnTo>
                      <a:pt x="656" y="66"/>
                    </a:lnTo>
                    <a:lnTo>
                      <a:pt x="667" y="53"/>
                    </a:lnTo>
                    <a:lnTo>
                      <a:pt x="678" y="38"/>
                    </a:lnTo>
                    <a:lnTo>
                      <a:pt x="689" y="26"/>
                    </a:lnTo>
                    <a:lnTo>
                      <a:pt x="699" y="14"/>
                    </a:lnTo>
                    <a:lnTo>
                      <a:pt x="708" y="5"/>
                    </a:lnTo>
                    <a:lnTo>
                      <a:pt x="714" y="0"/>
                    </a:lnTo>
                    <a:lnTo>
                      <a:pt x="718" y="0"/>
                    </a:lnTo>
                    <a:lnTo>
                      <a:pt x="723" y="5"/>
                    </a:lnTo>
                    <a:lnTo>
                      <a:pt x="729" y="11"/>
                    </a:lnTo>
                    <a:lnTo>
                      <a:pt x="735" y="18"/>
                    </a:lnTo>
                    <a:lnTo>
                      <a:pt x="740" y="24"/>
                    </a:lnTo>
                    <a:lnTo>
                      <a:pt x="747" y="32"/>
                    </a:lnTo>
                    <a:lnTo>
                      <a:pt x="752" y="38"/>
                    </a:lnTo>
                    <a:lnTo>
                      <a:pt x="757" y="45"/>
                    </a:lnTo>
                    <a:lnTo>
                      <a:pt x="762" y="50"/>
                    </a:lnTo>
                    <a:lnTo>
                      <a:pt x="756" y="58"/>
                    </a:lnTo>
                    <a:lnTo>
                      <a:pt x="751" y="66"/>
                    </a:lnTo>
                    <a:lnTo>
                      <a:pt x="745" y="73"/>
                    </a:lnTo>
                    <a:lnTo>
                      <a:pt x="740" y="83"/>
                    </a:lnTo>
                    <a:lnTo>
                      <a:pt x="734" y="75"/>
                    </a:lnTo>
                    <a:lnTo>
                      <a:pt x="726" y="64"/>
                    </a:lnTo>
                    <a:lnTo>
                      <a:pt x="718" y="55"/>
                    </a:lnTo>
                    <a:lnTo>
                      <a:pt x="714" y="51"/>
                    </a:lnTo>
                    <a:lnTo>
                      <a:pt x="712" y="54"/>
                    </a:lnTo>
                    <a:lnTo>
                      <a:pt x="705" y="63"/>
                    </a:lnTo>
                    <a:lnTo>
                      <a:pt x="695" y="75"/>
                    </a:lnTo>
                    <a:lnTo>
                      <a:pt x="685" y="89"/>
                    </a:lnTo>
                    <a:lnTo>
                      <a:pt x="673" y="105"/>
                    </a:lnTo>
                    <a:lnTo>
                      <a:pt x="663" y="119"/>
                    </a:lnTo>
                    <a:lnTo>
                      <a:pt x="656" y="130"/>
                    </a:lnTo>
                    <a:lnTo>
                      <a:pt x="652" y="137"/>
                    </a:lnTo>
                    <a:lnTo>
                      <a:pt x="652" y="138"/>
                    </a:lnTo>
                    <a:lnTo>
                      <a:pt x="656" y="140"/>
                    </a:lnTo>
                    <a:lnTo>
                      <a:pt x="661" y="142"/>
                    </a:lnTo>
                    <a:lnTo>
                      <a:pt x="669" y="145"/>
                    </a:lnTo>
                    <a:lnTo>
                      <a:pt x="677" y="147"/>
                    </a:lnTo>
                    <a:lnTo>
                      <a:pt x="686" y="149"/>
                    </a:lnTo>
                    <a:lnTo>
                      <a:pt x="694" y="149"/>
                    </a:lnTo>
                    <a:lnTo>
                      <a:pt x="701" y="147"/>
                    </a:lnTo>
                    <a:lnTo>
                      <a:pt x="696" y="155"/>
                    </a:lnTo>
                    <a:lnTo>
                      <a:pt x="691" y="162"/>
                    </a:lnTo>
                    <a:lnTo>
                      <a:pt x="686" y="169"/>
                    </a:lnTo>
                    <a:lnTo>
                      <a:pt x="681" y="176"/>
                    </a:lnTo>
                    <a:lnTo>
                      <a:pt x="674" y="182"/>
                    </a:lnTo>
                    <a:lnTo>
                      <a:pt x="669" y="190"/>
                    </a:lnTo>
                    <a:lnTo>
                      <a:pt x="663" y="197"/>
                    </a:lnTo>
                    <a:lnTo>
                      <a:pt x="657" y="203"/>
                    </a:lnTo>
                    <a:lnTo>
                      <a:pt x="652" y="191"/>
                    </a:lnTo>
                    <a:lnTo>
                      <a:pt x="645" y="174"/>
                    </a:lnTo>
                    <a:lnTo>
                      <a:pt x="637" y="160"/>
                    </a:lnTo>
                    <a:lnTo>
                      <a:pt x="633" y="154"/>
                    </a:lnTo>
                    <a:lnTo>
                      <a:pt x="629" y="158"/>
                    </a:lnTo>
                    <a:lnTo>
                      <a:pt x="621" y="167"/>
                    </a:lnTo>
                    <a:lnTo>
                      <a:pt x="610" y="180"/>
                    </a:lnTo>
                    <a:lnTo>
                      <a:pt x="597" y="195"/>
                    </a:lnTo>
                    <a:lnTo>
                      <a:pt x="584" y="211"/>
                    </a:lnTo>
                    <a:lnTo>
                      <a:pt x="572" y="225"/>
                    </a:lnTo>
                    <a:lnTo>
                      <a:pt x="564" y="235"/>
                    </a:lnTo>
                    <a:lnTo>
                      <a:pt x="560" y="241"/>
                    </a:lnTo>
                    <a:lnTo>
                      <a:pt x="562" y="243"/>
                    </a:lnTo>
                    <a:lnTo>
                      <a:pt x="564" y="246"/>
                    </a:lnTo>
                    <a:lnTo>
                      <a:pt x="571" y="248"/>
                    </a:lnTo>
                    <a:lnTo>
                      <a:pt x="579" y="251"/>
                    </a:lnTo>
                    <a:lnTo>
                      <a:pt x="586" y="254"/>
                    </a:lnTo>
                    <a:lnTo>
                      <a:pt x="594" y="255"/>
                    </a:lnTo>
                    <a:lnTo>
                      <a:pt x="602" y="256"/>
                    </a:lnTo>
                    <a:lnTo>
                      <a:pt x="607" y="256"/>
                    </a:lnTo>
                    <a:lnTo>
                      <a:pt x="598" y="266"/>
                    </a:lnTo>
                    <a:lnTo>
                      <a:pt x="590" y="276"/>
                    </a:lnTo>
                    <a:lnTo>
                      <a:pt x="582" y="283"/>
                    </a:lnTo>
                    <a:lnTo>
                      <a:pt x="575" y="290"/>
                    </a:lnTo>
                    <a:lnTo>
                      <a:pt x="568" y="296"/>
                    </a:lnTo>
                    <a:lnTo>
                      <a:pt x="563" y="301"/>
                    </a:lnTo>
                    <a:lnTo>
                      <a:pt x="559" y="305"/>
                    </a:lnTo>
                    <a:lnTo>
                      <a:pt x="558" y="308"/>
                    </a:lnTo>
                    <a:lnTo>
                      <a:pt x="536" y="305"/>
                    </a:lnTo>
                    <a:lnTo>
                      <a:pt x="509" y="301"/>
                    </a:lnTo>
                    <a:lnTo>
                      <a:pt x="479" y="294"/>
                    </a:lnTo>
                    <a:lnTo>
                      <a:pt x="446" y="286"/>
                    </a:lnTo>
                    <a:lnTo>
                      <a:pt x="412" y="276"/>
                    </a:lnTo>
                    <a:lnTo>
                      <a:pt x="375" y="265"/>
                    </a:lnTo>
                    <a:lnTo>
                      <a:pt x="338" y="254"/>
                    </a:lnTo>
                    <a:lnTo>
                      <a:pt x="302" y="241"/>
                    </a:lnTo>
                    <a:lnTo>
                      <a:pt x="264" y="228"/>
                    </a:lnTo>
                    <a:lnTo>
                      <a:pt x="228" y="215"/>
                    </a:lnTo>
                    <a:lnTo>
                      <a:pt x="194" y="202"/>
                    </a:lnTo>
                    <a:lnTo>
                      <a:pt x="163" y="189"/>
                    </a:lnTo>
                    <a:lnTo>
                      <a:pt x="133" y="176"/>
                    </a:lnTo>
                    <a:lnTo>
                      <a:pt x="109" y="165"/>
                    </a:lnTo>
                    <a:lnTo>
                      <a:pt x="88" y="155"/>
                    </a:lnTo>
                    <a:lnTo>
                      <a:pt x="71" y="146"/>
                    </a:lnTo>
                    <a:lnTo>
                      <a:pt x="65" y="143"/>
                    </a:lnTo>
                    <a:lnTo>
                      <a:pt x="57" y="140"/>
                    </a:lnTo>
                    <a:lnTo>
                      <a:pt x="47" y="136"/>
                    </a:lnTo>
                    <a:lnTo>
                      <a:pt x="36" y="132"/>
                    </a:lnTo>
                    <a:lnTo>
                      <a:pt x="26" y="128"/>
                    </a:lnTo>
                    <a:lnTo>
                      <a:pt x="17" y="125"/>
                    </a:lnTo>
                    <a:lnTo>
                      <a:pt x="12" y="124"/>
                    </a:lnTo>
                    <a:lnTo>
                      <a:pt x="9" y="123"/>
                    </a:lnTo>
                    <a:lnTo>
                      <a:pt x="8" y="115"/>
                    </a:lnTo>
                    <a:lnTo>
                      <a:pt x="5" y="103"/>
                    </a:lnTo>
                    <a:lnTo>
                      <a:pt x="2" y="90"/>
                    </a:lnTo>
                    <a:lnTo>
                      <a:pt x="0" y="84"/>
                    </a:lnTo>
                    <a:close/>
                  </a:path>
                </a:pathLst>
              </a:custGeom>
              <a:solidFill>
                <a:schemeClr val="tx1"/>
              </a:solidFill>
              <a:ln w="9525">
                <a:solidFill>
                  <a:srgbClr val="CC9900"/>
                </a:solidFill>
                <a:round/>
                <a:headEnd/>
                <a:tailEnd/>
              </a:ln>
            </p:spPr>
            <p:txBody>
              <a:bodyPr/>
              <a:lstStyle/>
              <a:p>
                <a:endParaRPr lang="en-US"/>
              </a:p>
            </p:txBody>
          </p:sp>
          <p:sp>
            <p:nvSpPr>
              <p:cNvPr id="88" name="Freeform 45"/>
              <p:cNvSpPr>
                <a:spLocks/>
              </p:cNvSpPr>
              <p:nvPr/>
            </p:nvSpPr>
            <p:spPr bwMode="auto">
              <a:xfrm>
                <a:off x="3808" y="3423"/>
                <a:ext cx="41" cy="40"/>
              </a:xfrm>
              <a:custGeom>
                <a:avLst/>
                <a:gdLst>
                  <a:gd name="T0" fmla="*/ 1 w 68"/>
                  <a:gd name="T1" fmla="*/ 1 h 64"/>
                  <a:gd name="T2" fmla="*/ 1 w 68"/>
                  <a:gd name="T3" fmla="*/ 1 h 64"/>
                  <a:gd name="T4" fmla="*/ 1 w 68"/>
                  <a:gd name="T5" fmla="*/ 1 h 64"/>
                  <a:gd name="T6" fmla="*/ 1 w 68"/>
                  <a:gd name="T7" fmla="*/ 1 h 64"/>
                  <a:gd name="T8" fmla="*/ 1 w 68"/>
                  <a:gd name="T9" fmla="*/ 1 h 64"/>
                  <a:gd name="T10" fmla="*/ 1 w 68"/>
                  <a:gd name="T11" fmla="*/ 1 h 64"/>
                  <a:gd name="T12" fmla="*/ 1 w 68"/>
                  <a:gd name="T13" fmla="*/ 1 h 64"/>
                  <a:gd name="T14" fmla="*/ 1 w 68"/>
                  <a:gd name="T15" fmla="*/ 1 h 64"/>
                  <a:gd name="T16" fmla="*/ 1 w 68"/>
                  <a:gd name="T17" fmla="*/ 1 h 64"/>
                  <a:gd name="T18" fmla="*/ 1 w 68"/>
                  <a:gd name="T19" fmla="*/ 1 h 64"/>
                  <a:gd name="T20" fmla="*/ 0 w 68"/>
                  <a:gd name="T21" fmla="*/ 1 h 64"/>
                  <a:gd name="T22" fmla="*/ 1 w 68"/>
                  <a:gd name="T23" fmla="*/ 1 h 64"/>
                  <a:gd name="T24" fmla="*/ 1 w 68"/>
                  <a:gd name="T25" fmla="*/ 1 h 64"/>
                  <a:gd name="T26" fmla="*/ 1 w 68"/>
                  <a:gd name="T27" fmla="*/ 1 h 64"/>
                  <a:gd name="T28" fmla="*/ 1 w 68"/>
                  <a:gd name="T29" fmla="*/ 1 h 64"/>
                  <a:gd name="T30" fmla="*/ 1 w 68"/>
                  <a:gd name="T31" fmla="*/ 1 h 64"/>
                  <a:gd name="T32" fmla="*/ 1 w 68"/>
                  <a:gd name="T33" fmla="*/ 1 h 64"/>
                  <a:gd name="T34" fmla="*/ 1 w 68"/>
                  <a:gd name="T35" fmla="*/ 1 h 64"/>
                  <a:gd name="T36" fmla="*/ 1 w 68"/>
                  <a:gd name="T37" fmla="*/ 1 h 64"/>
                  <a:gd name="T38" fmla="*/ 1 w 68"/>
                  <a:gd name="T39" fmla="*/ 1 h 64"/>
                  <a:gd name="T40" fmla="*/ 1 w 68"/>
                  <a:gd name="T41" fmla="*/ 1 h 64"/>
                  <a:gd name="T42" fmla="*/ 1 w 68"/>
                  <a:gd name="T43" fmla="*/ 1 h 64"/>
                  <a:gd name="T44" fmla="*/ 1 w 68"/>
                  <a:gd name="T45" fmla="*/ 1 h 64"/>
                  <a:gd name="T46" fmla="*/ 1 w 68"/>
                  <a:gd name="T47" fmla="*/ 1 h 64"/>
                  <a:gd name="T48" fmla="*/ 1 w 68"/>
                  <a:gd name="T49" fmla="*/ 1 h 64"/>
                  <a:gd name="T50" fmla="*/ 1 w 68"/>
                  <a:gd name="T51" fmla="*/ 1 h 64"/>
                  <a:gd name="T52" fmla="*/ 1 w 68"/>
                  <a:gd name="T53" fmla="*/ 0 h 64"/>
                  <a:gd name="T54" fmla="*/ 1 w 68"/>
                  <a:gd name="T55" fmla="*/ 1 h 64"/>
                  <a:gd name="T56" fmla="*/ 1 w 68"/>
                  <a:gd name="T57" fmla="*/ 1 h 64"/>
                  <a:gd name="T58" fmla="*/ 1 w 68"/>
                  <a:gd name="T59" fmla="*/ 1 h 64"/>
                  <a:gd name="T60" fmla="*/ 1 w 68"/>
                  <a:gd name="T61" fmla="*/ 1 h 64"/>
                  <a:gd name="T62" fmla="*/ 1 w 68"/>
                  <a:gd name="T63" fmla="*/ 1 h 64"/>
                  <a:gd name="T64" fmla="*/ 1 w 68"/>
                  <a:gd name="T65" fmla="*/ 1 h 64"/>
                  <a:gd name="T66" fmla="*/ 1 w 68"/>
                  <a:gd name="T67" fmla="*/ 1 h 64"/>
                  <a:gd name="T68" fmla="*/ 1 w 68"/>
                  <a:gd name="T69" fmla="*/ 1 h 64"/>
                  <a:gd name="T70" fmla="*/ 1 w 68"/>
                  <a:gd name="T71" fmla="*/ 1 h 6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
                  <a:gd name="T109" fmla="*/ 0 h 64"/>
                  <a:gd name="T110" fmla="*/ 68 w 68"/>
                  <a:gd name="T111" fmla="*/ 64 h 6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 h="64">
                    <a:moveTo>
                      <a:pt x="68" y="30"/>
                    </a:moveTo>
                    <a:lnTo>
                      <a:pt x="68" y="30"/>
                    </a:lnTo>
                    <a:lnTo>
                      <a:pt x="64" y="39"/>
                    </a:lnTo>
                    <a:lnTo>
                      <a:pt x="58" y="46"/>
                    </a:lnTo>
                    <a:lnTo>
                      <a:pt x="51" y="51"/>
                    </a:lnTo>
                    <a:lnTo>
                      <a:pt x="44" y="56"/>
                    </a:lnTo>
                    <a:lnTo>
                      <a:pt x="36" y="58"/>
                    </a:lnTo>
                    <a:lnTo>
                      <a:pt x="27" y="61"/>
                    </a:lnTo>
                    <a:lnTo>
                      <a:pt x="18" y="62"/>
                    </a:lnTo>
                    <a:lnTo>
                      <a:pt x="9" y="64"/>
                    </a:lnTo>
                    <a:lnTo>
                      <a:pt x="0" y="64"/>
                    </a:lnTo>
                    <a:lnTo>
                      <a:pt x="1" y="61"/>
                    </a:lnTo>
                    <a:lnTo>
                      <a:pt x="4" y="60"/>
                    </a:lnTo>
                    <a:lnTo>
                      <a:pt x="5" y="57"/>
                    </a:lnTo>
                    <a:lnTo>
                      <a:pt x="6" y="56"/>
                    </a:lnTo>
                    <a:lnTo>
                      <a:pt x="7" y="56"/>
                    </a:lnTo>
                    <a:lnTo>
                      <a:pt x="9" y="55"/>
                    </a:lnTo>
                    <a:lnTo>
                      <a:pt x="14" y="48"/>
                    </a:lnTo>
                    <a:lnTo>
                      <a:pt x="20" y="43"/>
                    </a:lnTo>
                    <a:lnTo>
                      <a:pt x="26" y="36"/>
                    </a:lnTo>
                    <a:lnTo>
                      <a:pt x="32" y="29"/>
                    </a:lnTo>
                    <a:lnTo>
                      <a:pt x="37" y="22"/>
                    </a:lnTo>
                    <a:lnTo>
                      <a:pt x="42" y="16"/>
                    </a:lnTo>
                    <a:lnTo>
                      <a:pt x="46" y="8"/>
                    </a:lnTo>
                    <a:lnTo>
                      <a:pt x="51" y="0"/>
                    </a:lnTo>
                    <a:lnTo>
                      <a:pt x="57" y="7"/>
                    </a:lnTo>
                    <a:lnTo>
                      <a:pt x="60" y="12"/>
                    </a:lnTo>
                    <a:lnTo>
                      <a:pt x="64" y="18"/>
                    </a:lnTo>
                    <a:lnTo>
                      <a:pt x="67" y="25"/>
                    </a:lnTo>
                    <a:lnTo>
                      <a:pt x="68" y="25"/>
                    </a:lnTo>
                    <a:lnTo>
                      <a:pt x="67" y="26"/>
                    </a:lnTo>
                    <a:lnTo>
                      <a:pt x="67" y="27"/>
                    </a:lnTo>
                    <a:lnTo>
                      <a:pt x="67" y="29"/>
                    </a:lnTo>
                    <a:lnTo>
                      <a:pt x="68" y="3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9" name="Freeform 46"/>
              <p:cNvSpPr>
                <a:spLocks/>
              </p:cNvSpPr>
              <p:nvPr/>
            </p:nvSpPr>
            <p:spPr bwMode="auto">
              <a:xfrm>
                <a:off x="3760" y="3493"/>
                <a:ext cx="32" cy="30"/>
              </a:xfrm>
              <a:custGeom>
                <a:avLst/>
                <a:gdLst>
                  <a:gd name="T0" fmla="*/ 1 w 52"/>
                  <a:gd name="T1" fmla="*/ 1 h 49"/>
                  <a:gd name="T2" fmla="*/ 1 w 52"/>
                  <a:gd name="T3" fmla="*/ 1 h 49"/>
                  <a:gd name="T4" fmla="*/ 1 w 52"/>
                  <a:gd name="T5" fmla="*/ 1 h 49"/>
                  <a:gd name="T6" fmla="*/ 1 w 52"/>
                  <a:gd name="T7" fmla="*/ 1 h 49"/>
                  <a:gd name="T8" fmla="*/ 1 w 52"/>
                  <a:gd name="T9" fmla="*/ 1 h 49"/>
                  <a:gd name="T10" fmla="*/ 1 w 52"/>
                  <a:gd name="T11" fmla="*/ 1 h 49"/>
                  <a:gd name="T12" fmla="*/ 1 w 52"/>
                  <a:gd name="T13" fmla="*/ 1 h 49"/>
                  <a:gd name="T14" fmla="*/ 1 w 52"/>
                  <a:gd name="T15" fmla="*/ 1 h 49"/>
                  <a:gd name="T16" fmla="*/ 0 w 52"/>
                  <a:gd name="T17" fmla="*/ 1 h 49"/>
                  <a:gd name="T18" fmla="*/ 1 w 52"/>
                  <a:gd name="T19" fmla="*/ 1 h 49"/>
                  <a:gd name="T20" fmla="*/ 1 w 52"/>
                  <a:gd name="T21" fmla="*/ 1 h 49"/>
                  <a:gd name="T22" fmla="*/ 1 w 52"/>
                  <a:gd name="T23" fmla="*/ 1 h 49"/>
                  <a:gd name="T24" fmla="*/ 1 w 52"/>
                  <a:gd name="T25" fmla="*/ 1 h 49"/>
                  <a:gd name="T26" fmla="*/ 1 w 52"/>
                  <a:gd name="T27" fmla="*/ 1 h 49"/>
                  <a:gd name="T28" fmla="*/ 1 w 52"/>
                  <a:gd name="T29" fmla="*/ 1 h 49"/>
                  <a:gd name="T30" fmla="*/ 1 w 52"/>
                  <a:gd name="T31" fmla="*/ 1 h 49"/>
                  <a:gd name="T32" fmla="*/ 1 w 52"/>
                  <a:gd name="T33" fmla="*/ 0 h 49"/>
                  <a:gd name="T34" fmla="*/ 1 w 52"/>
                  <a:gd name="T35" fmla="*/ 1 h 49"/>
                  <a:gd name="T36" fmla="*/ 1 w 52"/>
                  <a:gd name="T37" fmla="*/ 1 h 49"/>
                  <a:gd name="T38" fmla="*/ 1 w 52"/>
                  <a:gd name="T39" fmla="*/ 1 h 49"/>
                  <a:gd name="T40" fmla="*/ 1 w 52"/>
                  <a:gd name="T41" fmla="*/ 1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2"/>
                  <a:gd name="T64" fmla="*/ 0 h 49"/>
                  <a:gd name="T65" fmla="*/ 52 w 52"/>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2" h="49">
                    <a:moveTo>
                      <a:pt x="51" y="32"/>
                    </a:moveTo>
                    <a:lnTo>
                      <a:pt x="47" y="40"/>
                    </a:lnTo>
                    <a:lnTo>
                      <a:pt x="42" y="45"/>
                    </a:lnTo>
                    <a:lnTo>
                      <a:pt x="37" y="48"/>
                    </a:lnTo>
                    <a:lnTo>
                      <a:pt x="30" y="49"/>
                    </a:lnTo>
                    <a:lnTo>
                      <a:pt x="22" y="49"/>
                    </a:lnTo>
                    <a:lnTo>
                      <a:pt x="16" y="48"/>
                    </a:lnTo>
                    <a:lnTo>
                      <a:pt x="8" y="45"/>
                    </a:lnTo>
                    <a:lnTo>
                      <a:pt x="0" y="43"/>
                    </a:lnTo>
                    <a:lnTo>
                      <a:pt x="2" y="41"/>
                    </a:lnTo>
                    <a:lnTo>
                      <a:pt x="5" y="39"/>
                    </a:lnTo>
                    <a:lnTo>
                      <a:pt x="11" y="34"/>
                    </a:lnTo>
                    <a:lnTo>
                      <a:pt x="17" y="27"/>
                    </a:lnTo>
                    <a:lnTo>
                      <a:pt x="24" y="21"/>
                    </a:lnTo>
                    <a:lnTo>
                      <a:pt x="30" y="14"/>
                    </a:lnTo>
                    <a:lnTo>
                      <a:pt x="37" y="6"/>
                    </a:lnTo>
                    <a:lnTo>
                      <a:pt x="42" y="0"/>
                    </a:lnTo>
                    <a:lnTo>
                      <a:pt x="46" y="9"/>
                    </a:lnTo>
                    <a:lnTo>
                      <a:pt x="49" y="17"/>
                    </a:lnTo>
                    <a:lnTo>
                      <a:pt x="52" y="24"/>
                    </a:lnTo>
                    <a:lnTo>
                      <a:pt x="51" y="3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0" name="Freeform 47"/>
              <p:cNvSpPr>
                <a:spLocks/>
              </p:cNvSpPr>
              <p:nvPr/>
            </p:nvSpPr>
            <p:spPr bwMode="auto">
              <a:xfrm>
                <a:off x="3408" y="3420"/>
                <a:ext cx="476" cy="175"/>
              </a:xfrm>
              <a:custGeom>
                <a:avLst/>
                <a:gdLst>
                  <a:gd name="T0" fmla="*/ 1 w 775"/>
                  <a:gd name="T1" fmla="*/ 1 h 285"/>
                  <a:gd name="T2" fmla="*/ 1 w 775"/>
                  <a:gd name="T3" fmla="*/ 1 h 285"/>
                  <a:gd name="T4" fmla="*/ 1 w 775"/>
                  <a:gd name="T5" fmla="*/ 1 h 285"/>
                  <a:gd name="T6" fmla="*/ 1 w 775"/>
                  <a:gd name="T7" fmla="*/ 1 h 285"/>
                  <a:gd name="T8" fmla="*/ 1 w 775"/>
                  <a:gd name="T9" fmla="*/ 1 h 285"/>
                  <a:gd name="T10" fmla="*/ 1 w 775"/>
                  <a:gd name="T11" fmla="*/ 1 h 285"/>
                  <a:gd name="T12" fmla="*/ 1 w 775"/>
                  <a:gd name="T13" fmla="*/ 1 h 285"/>
                  <a:gd name="T14" fmla="*/ 1 w 775"/>
                  <a:gd name="T15" fmla="*/ 1 h 285"/>
                  <a:gd name="T16" fmla="*/ 1 w 775"/>
                  <a:gd name="T17" fmla="*/ 1 h 285"/>
                  <a:gd name="T18" fmla="*/ 1 w 775"/>
                  <a:gd name="T19" fmla="*/ 1 h 285"/>
                  <a:gd name="T20" fmla="*/ 1 w 775"/>
                  <a:gd name="T21" fmla="*/ 1 h 285"/>
                  <a:gd name="T22" fmla="*/ 1 w 775"/>
                  <a:gd name="T23" fmla="*/ 1 h 285"/>
                  <a:gd name="T24" fmla="*/ 1 w 775"/>
                  <a:gd name="T25" fmla="*/ 1 h 285"/>
                  <a:gd name="T26" fmla="*/ 1 w 775"/>
                  <a:gd name="T27" fmla="*/ 1 h 285"/>
                  <a:gd name="T28" fmla="*/ 1 w 775"/>
                  <a:gd name="T29" fmla="*/ 1 h 285"/>
                  <a:gd name="T30" fmla="*/ 1 w 775"/>
                  <a:gd name="T31" fmla="*/ 1 h 285"/>
                  <a:gd name="T32" fmla="*/ 1 w 775"/>
                  <a:gd name="T33" fmla="*/ 1 h 285"/>
                  <a:gd name="T34" fmla="*/ 1 w 775"/>
                  <a:gd name="T35" fmla="*/ 1 h 285"/>
                  <a:gd name="T36" fmla="*/ 1 w 775"/>
                  <a:gd name="T37" fmla="*/ 1 h 285"/>
                  <a:gd name="T38" fmla="*/ 1 w 775"/>
                  <a:gd name="T39" fmla="*/ 1 h 285"/>
                  <a:gd name="T40" fmla="*/ 1 w 775"/>
                  <a:gd name="T41" fmla="*/ 1 h 285"/>
                  <a:gd name="T42" fmla="*/ 1 w 775"/>
                  <a:gd name="T43" fmla="*/ 1 h 285"/>
                  <a:gd name="T44" fmla="*/ 1 w 775"/>
                  <a:gd name="T45" fmla="*/ 1 h 285"/>
                  <a:gd name="T46" fmla="*/ 1 w 775"/>
                  <a:gd name="T47" fmla="*/ 1 h 285"/>
                  <a:gd name="T48" fmla="*/ 1 w 775"/>
                  <a:gd name="T49" fmla="*/ 1 h 285"/>
                  <a:gd name="T50" fmla="*/ 1 w 775"/>
                  <a:gd name="T51" fmla="*/ 1 h 285"/>
                  <a:gd name="T52" fmla="*/ 1 w 775"/>
                  <a:gd name="T53" fmla="*/ 1 h 285"/>
                  <a:gd name="T54" fmla="*/ 1 w 775"/>
                  <a:gd name="T55" fmla="*/ 1 h 285"/>
                  <a:gd name="T56" fmla="*/ 1 w 775"/>
                  <a:gd name="T57" fmla="*/ 1 h 285"/>
                  <a:gd name="T58" fmla="*/ 1 w 775"/>
                  <a:gd name="T59" fmla="*/ 1 h 285"/>
                  <a:gd name="T60" fmla="*/ 1 w 775"/>
                  <a:gd name="T61" fmla="*/ 1 h 285"/>
                  <a:gd name="T62" fmla="*/ 1 w 775"/>
                  <a:gd name="T63" fmla="*/ 1 h 285"/>
                  <a:gd name="T64" fmla="*/ 1 w 775"/>
                  <a:gd name="T65" fmla="*/ 1 h 285"/>
                  <a:gd name="T66" fmla="*/ 1 w 775"/>
                  <a:gd name="T67" fmla="*/ 1 h 285"/>
                  <a:gd name="T68" fmla="*/ 1 w 775"/>
                  <a:gd name="T69" fmla="*/ 1 h 285"/>
                  <a:gd name="T70" fmla="*/ 1 w 775"/>
                  <a:gd name="T71" fmla="*/ 1 h 285"/>
                  <a:gd name="T72" fmla="*/ 1 w 775"/>
                  <a:gd name="T73" fmla="*/ 1 h 285"/>
                  <a:gd name="T74" fmla="*/ 1 w 775"/>
                  <a:gd name="T75" fmla="*/ 1 h 285"/>
                  <a:gd name="T76" fmla="*/ 1 w 775"/>
                  <a:gd name="T77" fmla="*/ 1 h 285"/>
                  <a:gd name="T78" fmla="*/ 1 w 775"/>
                  <a:gd name="T79" fmla="*/ 1 h 285"/>
                  <a:gd name="T80" fmla="*/ 1 w 775"/>
                  <a:gd name="T81" fmla="*/ 1 h 285"/>
                  <a:gd name="T82" fmla="*/ 1 w 775"/>
                  <a:gd name="T83" fmla="*/ 1 h 285"/>
                  <a:gd name="T84" fmla="*/ 1 w 775"/>
                  <a:gd name="T85" fmla="*/ 1 h 285"/>
                  <a:gd name="T86" fmla="*/ 1 w 775"/>
                  <a:gd name="T87" fmla="*/ 1 h 285"/>
                  <a:gd name="T88" fmla="*/ 1 w 775"/>
                  <a:gd name="T89" fmla="*/ 1 h 285"/>
                  <a:gd name="T90" fmla="*/ 1 w 775"/>
                  <a:gd name="T91" fmla="*/ 1 h 285"/>
                  <a:gd name="T92" fmla="*/ 1 w 775"/>
                  <a:gd name="T93" fmla="*/ 1 h 285"/>
                  <a:gd name="T94" fmla="*/ 1 w 775"/>
                  <a:gd name="T95" fmla="*/ 1 h 285"/>
                  <a:gd name="T96" fmla="*/ 1 w 775"/>
                  <a:gd name="T97" fmla="*/ 1 h 285"/>
                  <a:gd name="T98" fmla="*/ 1 w 775"/>
                  <a:gd name="T99" fmla="*/ 1 h 285"/>
                  <a:gd name="T100" fmla="*/ 1 w 775"/>
                  <a:gd name="T101" fmla="*/ 1 h 285"/>
                  <a:gd name="T102" fmla="*/ 1 w 775"/>
                  <a:gd name="T103" fmla="*/ 1 h 285"/>
                  <a:gd name="T104" fmla="*/ 1 w 775"/>
                  <a:gd name="T105" fmla="*/ 1 h 285"/>
                  <a:gd name="T106" fmla="*/ 1 w 775"/>
                  <a:gd name="T107" fmla="*/ 1 h 285"/>
                  <a:gd name="T108" fmla="*/ 1 w 775"/>
                  <a:gd name="T109" fmla="*/ 1 h 285"/>
                  <a:gd name="T110" fmla="*/ 1 w 775"/>
                  <a:gd name="T111" fmla="*/ 1 h 285"/>
                  <a:gd name="T112" fmla="*/ 1 w 775"/>
                  <a:gd name="T113" fmla="*/ 1 h 285"/>
                  <a:gd name="T114" fmla="*/ 1 w 775"/>
                  <a:gd name="T115" fmla="*/ 1 h 28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775"/>
                  <a:gd name="T175" fmla="*/ 0 h 285"/>
                  <a:gd name="T176" fmla="*/ 775 w 775"/>
                  <a:gd name="T177" fmla="*/ 285 h 28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775" h="285">
                    <a:moveTo>
                      <a:pt x="663" y="176"/>
                    </a:moveTo>
                    <a:lnTo>
                      <a:pt x="652" y="190"/>
                    </a:lnTo>
                    <a:lnTo>
                      <a:pt x="641" y="206"/>
                    </a:lnTo>
                    <a:lnTo>
                      <a:pt x="630" y="221"/>
                    </a:lnTo>
                    <a:lnTo>
                      <a:pt x="619" y="237"/>
                    </a:lnTo>
                    <a:lnTo>
                      <a:pt x="606" y="251"/>
                    </a:lnTo>
                    <a:lnTo>
                      <a:pt x="591" y="264"/>
                    </a:lnTo>
                    <a:lnTo>
                      <a:pt x="577" y="273"/>
                    </a:lnTo>
                    <a:lnTo>
                      <a:pt x="560" y="279"/>
                    </a:lnTo>
                    <a:lnTo>
                      <a:pt x="542" y="283"/>
                    </a:lnTo>
                    <a:lnTo>
                      <a:pt x="523" y="285"/>
                    </a:lnTo>
                    <a:lnTo>
                      <a:pt x="503" y="285"/>
                    </a:lnTo>
                    <a:lnTo>
                      <a:pt x="484" y="282"/>
                    </a:lnTo>
                    <a:lnTo>
                      <a:pt x="466" y="278"/>
                    </a:lnTo>
                    <a:lnTo>
                      <a:pt x="446" y="273"/>
                    </a:lnTo>
                    <a:lnTo>
                      <a:pt x="428" y="267"/>
                    </a:lnTo>
                    <a:lnTo>
                      <a:pt x="410" y="260"/>
                    </a:lnTo>
                    <a:lnTo>
                      <a:pt x="386" y="251"/>
                    </a:lnTo>
                    <a:lnTo>
                      <a:pt x="361" y="241"/>
                    </a:lnTo>
                    <a:lnTo>
                      <a:pt x="335" y="232"/>
                    </a:lnTo>
                    <a:lnTo>
                      <a:pt x="311" y="221"/>
                    </a:lnTo>
                    <a:lnTo>
                      <a:pt x="286" y="212"/>
                    </a:lnTo>
                    <a:lnTo>
                      <a:pt x="260" y="202"/>
                    </a:lnTo>
                    <a:lnTo>
                      <a:pt x="234" y="193"/>
                    </a:lnTo>
                    <a:lnTo>
                      <a:pt x="210" y="182"/>
                    </a:lnTo>
                    <a:lnTo>
                      <a:pt x="184" y="172"/>
                    </a:lnTo>
                    <a:lnTo>
                      <a:pt x="159" y="163"/>
                    </a:lnTo>
                    <a:lnTo>
                      <a:pt x="133" y="153"/>
                    </a:lnTo>
                    <a:lnTo>
                      <a:pt x="109" y="142"/>
                    </a:lnTo>
                    <a:lnTo>
                      <a:pt x="84" y="132"/>
                    </a:lnTo>
                    <a:lnTo>
                      <a:pt x="59" y="121"/>
                    </a:lnTo>
                    <a:lnTo>
                      <a:pt x="35" y="111"/>
                    </a:lnTo>
                    <a:lnTo>
                      <a:pt x="10" y="101"/>
                    </a:lnTo>
                    <a:lnTo>
                      <a:pt x="9" y="98"/>
                    </a:lnTo>
                    <a:lnTo>
                      <a:pt x="5" y="92"/>
                    </a:lnTo>
                    <a:lnTo>
                      <a:pt x="1" y="84"/>
                    </a:lnTo>
                    <a:lnTo>
                      <a:pt x="0" y="79"/>
                    </a:lnTo>
                    <a:lnTo>
                      <a:pt x="9" y="83"/>
                    </a:lnTo>
                    <a:lnTo>
                      <a:pt x="19" y="86"/>
                    </a:lnTo>
                    <a:lnTo>
                      <a:pt x="31" y="92"/>
                    </a:lnTo>
                    <a:lnTo>
                      <a:pt x="43" y="96"/>
                    </a:lnTo>
                    <a:lnTo>
                      <a:pt x="54" y="101"/>
                    </a:lnTo>
                    <a:lnTo>
                      <a:pt x="66" y="105"/>
                    </a:lnTo>
                    <a:lnTo>
                      <a:pt x="76" y="110"/>
                    </a:lnTo>
                    <a:lnTo>
                      <a:pt x="85" y="114"/>
                    </a:lnTo>
                    <a:lnTo>
                      <a:pt x="111" y="127"/>
                    </a:lnTo>
                    <a:lnTo>
                      <a:pt x="136" y="137"/>
                    </a:lnTo>
                    <a:lnTo>
                      <a:pt x="158" y="146"/>
                    </a:lnTo>
                    <a:lnTo>
                      <a:pt x="178" y="154"/>
                    </a:lnTo>
                    <a:lnTo>
                      <a:pt x="198" y="160"/>
                    </a:lnTo>
                    <a:lnTo>
                      <a:pt x="215" y="167"/>
                    </a:lnTo>
                    <a:lnTo>
                      <a:pt x="232" y="172"/>
                    </a:lnTo>
                    <a:lnTo>
                      <a:pt x="247" y="177"/>
                    </a:lnTo>
                    <a:lnTo>
                      <a:pt x="264" y="184"/>
                    </a:lnTo>
                    <a:lnTo>
                      <a:pt x="281" y="189"/>
                    </a:lnTo>
                    <a:lnTo>
                      <a:pt x="296" y="195"/>
                    </a:lnTo>
                    <a:lnTo>
                      <a:pt x="313" y="200"/>
                    </a:lnTo>
                    <a:lnTo>
                      <a:pt x="329" y="207"/>
                    </a:lnTo>
                    <a:lnTo>
                      <a:pt x="345" y="213"/>
                    </a:lnTo>
                    <a:lnTo>
                      <a:pt x="361" y="219"/>
                    </a:lnTo>
                    <a:lnTo>
                      <a:pt x="378" y="224"/>
                    </a:lnTo>
                    <a:lnTo>
                      <a:pt x="393" y="230"/>
                    </a:lnTo>
                    <a:lnTo>
                      <a:pt x="410" y="235"/>
                    </a:lnTo>
                    <a:lnTo>
                      <a:pt x="426" y="241"/>
                    </a:lnTo>
                    <a:lnTo>
                      <a:pt x="443" y="246"/>
                    </a:lnTo>
                    <a:lnTo>
                      <a:pt x="458" y="251"/>
                    </a:lnTo>
                    <a:lnTo>
                      <a:pt x="475" y="256"/>
                    </a:lnTo>
                    <a:lnTo>
                      <a:pt x="492" y="260"/>
                    </a:lnTo>
                    <a:lnTo>
                      <a:pt x="509" y="264"/>
                    </a:lnTo>
                    <a:lnTo>
                      <a:pt x="514" y="265"/>
                    </a:lnTo>
                    <a:lnTo>
                      <a:pt x="522" y="267"/>
                    </a:lnTo>
                    <a:lnTo>
                      <a:pt x="531" y="267"/>
                    </a:lnTo>
                    <a:lnTo>
                      <a:pt x="536" y="267"/>
                    </a:lnTo>
                    <a:lnTo>
                      <a:pt x="549" y="264"/>
                    </a:lnTo>
                    <a:lnTo>
                      <a:pt x="560" y="257"/>
                    </a:lnTo>
                    <a:lnTo>
                      <a:pt x="573" y="247"/>
                    </a:lnTo>
                    <a:lnTo>
                      <a:pt x="585" y="234"/>
                    </a:lnTo>
                    <a:lnTo>
                      <a:pt x="597" y="220"/>
                    </a:lnTo>
                    <a:lnTo>
                      <a:pt x="607" y="206"/>
                    </a:lnTo>
                    <a:lnTo>
                      <a:pt x="616" y="194"/>
                    </a:lnTo>
                    <a:lnTo>
                      <a:pt x="622" y="185"/>
                    </a:lnTo>
                    <a:lnTo>
                      <a:pt x="629" y="176"/>
                    </a:lnTo>
                    <a:lnTo>
                      <a:pt x="635" y="171"/>
                    </a:lnTo>
                    <a:lnTo>
                      <a:pt x="638" y="167"/>
                    </a:lnTo>
                    <a:lnTo>
                      <a:pt x="639" y="165"/>
                    </a:lnTo>
                    <a:lnTo>
                      <a:pt x="643" y="162"/>
                    </a:lnTo>
                    <a:lnTo>
                      <a:pt x="651" y="153"/>
                    </a:lnTo>
                    <a:lnTo>
                      <a:pt x="659" y="145"/>
                    </a:lnTo>
                    <a:lnTo>
                      <a:pt x="663" y="141"/>
                    </a:lnTo>
                    <a:lnTo>
                      <a:pt x="676" y="125"/>
                    </a:lnTo>
                    <a:lnTo>
                      <a:pt x="685" y="114"/>
                    </a:lnTo>
                    <a:lnTo>
                      <a:pt x="692" y="101"/>
                    </a:lnTo>
                    <a:lnTo>
                      <a:pt x="700" y="83"/>
                    </a:lnTo>
                    <a:lnTo>
                      <a:pt x="707" y="79"/>
                    </a:lnTo>
                    <a:lnTo>
                      <a:pt x="713" y="72"/>
                    </a:lnTo>
                    <a:lnTo>
                      <a:pt x="720" y="66"/>
                    </a:lnTo>
                    <a:lnTo>
                      <a:pt x="725" y="61"/>
                    </a:lnTo>
                    <a:lnTo>
                      <a:pt x="726" y="58"/>
                    </a:lnTo>
                    <a:lnTo>
                      <a:pt x="730" y="52"/>
                    </a:lnTo>
                    <a:lnTo>
                      <a:pt x="734" y="44"/>
                    </a:lnTo>
                    <a:lnTo>
                      <a:pt x="735" y="40"/>
                    </a:lnTo>
                    <a:lnTo>
                      <a:pt x="738" y="36"/>
                    </a:lnTo>
                    <a:lnTo>
                      <a:pt x="744" y="26"/>
                    </a:lnTo>
                    <a:lnTo>
                      <a:pt x="752" y="11"/>
                    </a:lnTo>
                    <a:lnTo>
                      <a:pt x="758" y="0"/>
                    </a:lnTo>
                    <a:lnTo>
                      <a:pt x="762" y="5"/>
                    </a:lnTo>
                    <a:lnTo>
                      <a:pt x="767" y="11"/>
                    </a:lnTo>
                    <a:lnTo>
                      <a:pt x="773" y="17"/>
                    </a:lnTo>
                    <a:lnTo>
                      <a:pt x="775" y="20"/>
                    </a:lnTo>
                    <a:lnTo>
                      <a:pt x="762" y="40"/>
                    </a:lnTo>
                    <a:lnTo>
                      <a:pt x="749" y="59"/>
                    </a:lnTo>
                    <a:lnTo>
                      <a:pt x="735" y="79"/>
                    </a:lnTo>
                    <a:lnTo>
                      <a:pt x="721" y="98"/>
                    </a:lnTo>
                    <a:lnTo>
                      <a:pt x="707" y="118"/>
                    </a:lnTo>
                    <a:lnTo>
                      <a:pt x="692" y="137"/>
                    </a:lnTo>
                    <a:lnTo>
                      <a:pt x="678" y="156"/>
                    </a:lnTo>
                    <a:lnTo>
                      <a:pt x="663" y="176"/>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1" name="Freeform 48"/>
              <p:cNvSpPr>
                <a:spLocks/>
              </p:cNvSpPr>
              <p:nvPr/>
            </p:nvSpPr>
            <p:spPr bwMode="auto">
              <a:xfrm>
                <a:off x="3771" y="3305"/>
                <a:ext cx="146" cy="115"/>
              </a:xfrm>
              <a:custGeom>
                <a:avLst/>
                <a:gdLst>
                  <a:gd name="T0" fmla="*/ 1 w 237"/>
                  <a:gd name="T1" fmla="*/ 1 h 188"/>
                  <a:gd name="T2" fmla="*/ 1 w 237"/>
                  <a:gd name="T3" fmla="*/ 1 h 188"/>
                  <a:gd name="T4" fmla="*/ 1 w 237"/>
                  <a:gd name="T5" fmla="*/ 1 h 188"/>
                  <a:gd name="T6" fmla="*/ 1 w 237"/>
                  <a:gd name="T7" fmla="*/ 1 h 188"/>
                  <a:gd name="T8" fmla="*/ 1 w 237"/>
                  <a:gd name="T9" fmla="*/ 1 h 188"/>
                  <a:gd name="T10" fmla="*/ 1 w 237"/>
                  <a:gd name="T11" fmla="*/ 1 h 188"/>
                  <a:gd name="T12" fmla="*/ 1 w 237"/>
                  <a:gd name="T13" fmla="*/ 1 h 188"/>
                  <a:gd name="T14" fmla="*/ 1 w 237"/>
                  <a:gd name="T15" fmla="*/ 1 h 188"/>
                  <a:gd name="T16" fmla="*/ 1 w 237"/>
                  <a:gd name="T17" fmla="*/ 1 h 188"/>
                  <a:gd name="T18" fmla="*/ 1 w 237"/>
                  <a:gd name="T19" fmla="*/ 1 h 188"/>
                  <a:gd name="T20" fmla="*/ 1 w 237"/>
                  <a:gd name="T21" fmla="*/ 1 h 188"/>
                  <a:gd name="T22" fmla="*/ 1 w 237"/>
                  <a:gd name="T23" fmla="*/ 1 h 188"/>
                  <a:gd name="T24" fmla="*/ 1 w 237"/>
                  <a:gd name="T25" fmla="*/ 1 h 188"/>
                  <a:gd name="T26" fmla="*/ 1 w 237"/>
                  <a:gd name="T27" fmla="*/ 1 h 188"/>
                  <a:gd name="T28" fmla="*/ 1 w 237"/>
                  <a:gd name="T29" fmla="*/ 1 h 188"/>
                  <a:gd name="T30" fmla="*/ 1 w 237"/>
                  <a:gd name="T31" fmla="*/ 1 h 188"/>
                  <a:gd name="T32" fmla="*/ 1 w 237"/>
                  <a:gd name="T33" fmla="*/ 1 h 188"/>
                  <a:gd name="T34" fmla="*/ 1 w 237"/>
                  <a:gd name="T35" fmla="*/ 1 h 188"/>
                  <a:gd name="T36" fmla="*/ 1 w 237"/>
                  <a:gd name="T37" fmla="*/ 1 h 188"/>
                  <a:gd name="T38" fmla="*/ 1 w 237"/>
                  <a:gd name="T39" fmla="*/ 1 h 188"/>
                  <a:gd name="T40" fmla="*/ 0 w 237"/>
                  <a:gd name="T41" fmla="*/ 1 h 188"/>
                  <a:gd name="T42" fmla="*/ 0 w 237"/>
                  <a:gd name="T43" fmla="*/ 1 h 188"/>
                  <a:gd name="T44" fmla="*/ 1 w 237"/>
                  <a:gd name="T45" fmla="*/ 1 h 188"/>
                  <a:gd name="T46" fmla="*/ 1 w 237"/>
                  <a:gd name="T47" fmla="*/ 1 h 188"/>
                  <a:gd name="T48" fmla="*/ 1 w 237"/>
                  <a:gd name="T49" fmla="*/ 1 h 188"/>
                  <a:gd name="T50" fmla="*/ 1 w 237"/>
                  <a:gd name="T51" fmla="*/ 1 h 188"/>
                  <a:gd name="T52" fmla="*/ 1 w 237"/>
                  <a:gd name="T53" fmla="*/ 1 h 188"/>
                  <a:gd name="T54" fmla="*/ 1 w 237"/>
                  <a:gd name="T55" fmla="*/ 0 h 188"/>
                  <a:gd name="T56" fmla="*/ 1 w 237"/>
                  <a:gd name="T57" fmla="*/ 1 h 188"/>
                  <a:gd name="T58" fmla="*/ 1 w 237"/>
                  <a:gd name="T59" fmla="*/ 1 h 188"/>
                  <a:gd name="T60" fmla="*/ 1 w 237"/>
                  <a:gd name="T61" fmla="*/ 1 h 188"/>
                  <a:gd name="T62" fmla="*/ 1 w 237"/>
                  <a:gd name="T63" fmla="*/ 1 h 188"/>
                  <a:gd name="T64" fmla="*/ 1 w 237"/>
                  <a:gd name="T65" fmla="*/ 1 h 188"/>
                  <a:gd name="T66" fmla="*/ 1 w 237"/>
                  <a:gd name="T67" fmla="*/ 1 h 188"/>
                  <a:gd name="T68" fmla="*/ 1 w 237"/>
                  <a:gd name="T69" fmla="*/ 1 h 188"/>
                  <a:gd name="T70" fmla="*/ 1 w 237"/>
                  <a:gd name="T71" fmla="*/ 1 h 188"/>
                  <a:gd name="T72" fmla="*/ 1 w 237"/>
                  <a:gd name="T73" fmla="*/ 1 h 188"/>
                  <a:gd name="T74" fmla="*/ 1 w 237"/>
                  <a:gd name="T75" fmla="*/ 1 h 188"/>
                  <a:gd name="T76" fmla="*/ 1 w 237"/>
                  <a:gd name="T77" fmla="*/ 1 h 188"/>
                  <a:gd name="T78" fmla="*/ 1 w 237"/>
                  <a:gd name="T79" fmla="*/ 1 h 188"/>
                  <a:gd name="T80" fmla="*/ 1 w 237"/>
                  <a:gd name="T81" fmla="*/ 1 h 188"/>
                  <a:gd name="T82" fmla="*/ 1 w 237"/>
                  <a:gd name="T83" fmla="*/ 1 h 188"/>
                  <a:gd name="T84" fmla="*/ 1 w 237"/>
                  <a:gd name="T85" fmla="*/ 1 h 188"/>
                  <a:gd name="T86" fmla="*/ 1 w 237"/>
                  <a:gd name="T87" fmla="*/ 1 h 188"/>
                  <a:gd name="T88" fmla="*/ 1 w 237"/>
                  <a:gd name="T89" fmla="*/ 1 h 188"/>
                  <a:gd name="T90" fmla="*/ 1 w 237"/>
                  <a:gd name="T91" fmla="*/ 1 h 188"/>
                  <a:gd name="T92" fmla="*/ 1 w 237"/>
                  <a:gd name="T93" fmla="*/ 1 h 188"/>
                  <a:gd name="T94" fmla="*/ 1 w 237"/>
                  <a:gd name="T95" fmla="*/ 1 h 188"/>
                  <a:gd name="T96" fmla="*/ 1 w 237"/>
                  <a:gd name="T97" fmla="*/ 1 h 1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37"/>
                  <a:gd name="T148" fmla="*/ 0 h 188"/>
                  <a:gd name="T149" fmla="*/ 237 w 237"/>
                  <a:gd name="T150" fmla="*/ 188 h 1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37" h="188">
                    <a:moveTo>
                      <a:pt x="197" y="188"/>
                    </a:moveTo>
                    <a:lnTo>
                      <a:pt x="191" y="179"/>
                    </a:lnTo>
                    <a:lnTo>
                      <a:pt x="183" y="170"/>
                    </a:lnTo>
                    <a:lnTo>
                      <a:pt x="175" y="162"/>
                    </a:lnTo>
                    <a:lnTo>
                      <a:pt x="167" y="153"/>
                    </a:lnTo>
                    <a:lnTo>
                      <a:pt x="160" y="145"/>
                    </a:lnTo>
                    <a:lnTo>
                      <a:pt x="152" y="136"/>
                    </a:lnTo>
                    <a:lnTo>
                      <a:pt x="144" y="128"/>
                    </a:lnTo>
                    <a:lnTo>
                      <a:pt x="136" y="119"/>
                    </a:lnTo>
                    <a:lnTo>
                      <a:pt x="123" y="105"/>
                    </a:lnTo>
                    <a:lnTo>
                      <a:pt x="110" y="95"/>
                    </a:lnTo>
                    <a:lnTo>
                      <a:pt x="95" y="86"/>
                    </a:lnTo>
                    <a:lnTo>
                      <a:pt x="78" y="78"/>
                    </a:lnTo>
                    <a:lnTo>
                      <a:pt x="61" y="73"/>
                    </a:lnTo>
                    <a:lnTo>
                      <a:pt x="44" y="66"/>
                    </a:lnTo>
                    <a:lnTo>
                      <a:pt x="28" y="60"/>
                    </a:lnTo>
                    <a:lnTo>
                      <a:pt x="11" y="53"/>
                    </a:lnTo>
                    <a:lnTo>
                      <a:pt x="7" y="51"/>
                    </a:lnTo>
                    <a:lnTo>
                      <a:pt x="4" y="48"/>
                    </a:lnTo>
                    <a:lnTo>
                      <a:pt x="2" y="45"/>
                    </a:lnTo>
                    <a:lnTo>
                      <a:pt x="0" y="42"/>
                    </a:lnTo>
                    <a:lnTo>
                      <a:pt x="0" y="31"/>
                    </a:lnTo>
                    <a:lnTo>
                      <a:pt x="4" y="21"/>
                    </a:lnTo>
                    <a:lnTo>
                      <a:pt x="9" y="13"/>
                    </a:lnTo>
                    <a:lnTo>
                      <a:pt x="20" y="8"/>
                    </a:lnTo>
                    <a:lnTo>
                      <a:pt x="33" y="4"/>
                    </a:lnTo>
                    <a:lnTo>
                      <a:pt x="47" y="1"/>
                    </a:lnTo>
                    <a:lnTo>
                      <a:pt x="61" y="0"/>
                    </a:lnTo>
                    <a:lnTo>
                      <a:pt x="75" y="1"/>
                    </a:lnTo>
                    <a:lnTo>
                      <a:pt x="90" y="4"/>
                    </a:lnTo>
                    <a:lnTo>
                      <a:pt x="103" y="8"/>
                    </a:lnTo>
                    <a:lnTo>
                      <a:pt x="116" y="13"/>
                    </a:lnTo>
                    <a:lnTo>
                      <a:pt x="129" y="20"/>
                    </a:lnTo>
                    <a:lnTo>
                      <a:pt x="145" y="30"/>
                    </a:lnTo>
                    <a:lnTo>
                      <a:pt x="161" y="42"/>
                    </a:lnTo>
                    <a:lnTo>
                      <a:pt x="175" y="53"/>
                    </a:lnTo>
                    <a:lnTo>
                      <a:pt x="188" y="68"/>
                    </a:lnTo>
                    <a:lnTo>
                      <a:pt x="201" y="82"/>
                    </a:lnTo>
                    <a:lnTo>
                      <a:pt x="213" y="97"/>
                    </a:lnTo>
                    <a:lnTo>
                      <a:pt x="226" y="112"/>
                    </a:lnTo>
                    <a:lnTo>
                      <a:pt x="237" y="127"/>
                    </a:lnTo>
                    <a:lnTo>
                      <a:pt x="232" y="135"/>
                    </a:lnTo>
                    <a:lnTo>
                      <a:pt x="227" y="143"/>
                    </a:lnTo>
                    <a:lnTo>
                      <a:pt x="222" y="150"/>
                    </a:lnTo>
                    <a:lnTo>
                      <a:pt x="218" y="158"/>
                    </a:lnTo>
                    <a:lnTo>
                      <a:pt x="213" y="166"/>
                    </a:lnTo>
                    <a:lnTo>
                      <a:pt x="208" y="174"/>
                    </a:lnTo>
                    <a:lnTo>
                      <a:pt x="202" y="180"/>
                    </a:lnTo>
                    <a:lnTo>
                      <a:pt x="197" y="18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 name="Freeform 49"/>
              <p:cNvSpPr>
                <a:spLocks/>
              </p:cNvSpPr>
              <p:nvPr/>
            </p:nvSpPr>
            <p:spPr bwMode="auto">
              <a:xfrm>
                <a:off x="3916" y="3203"/>
                <a:ext cx="100" cy="169"/>
              </a:xfrm>
              <a:custGeom>
                <a:avLst/>
                <a:gdLst>
                  <a:gd name="T0" fmla="*/ 1 w 164"/>
                  <a:gd name="T1" fmla="*/ 1 h 275"/>
                  <a:gd name="T2" fmla="*/ 1 w 164"/>
                  <a:gd name="T3" fmla="*/ 1 h 275"/>
                  <a:gd name="T4" fmla="*/ 1 w 164"/>
                  <a:gd name="T5" fmla="*/ 1 h 275"/>
                  <a:gd name="T6" fmla="*/ 1 w 164"/>
                  <a:gd name="T7" fmla="*/ 1 h 275"/>
                  <a:gd name="T8" fmla="*/ 1 w 164"/>
                  <a:gd name="T9" fmla="*/ 1 h 275"/>
                  <a:gd name="T10" fmla="*/ 1 w 164"/>
                  <a:gd name="T11" fmla="*/ 1 h 275"/>
                  <a:gd name="T12" fmla="*/ 1 w 164"/>
                  <a:gd name="T13" fmla="*/ 1 h 275"/>
                  <a:gd name="T14" fmla="*/ 1 w 164"/>
                  <a:gd name="T15" fmla="*/ 1 h 275"/>
                  <a:gd name="T16" fmla="*/ 1 w 164"/>
                  <a:gd name="T17" fmla="*/ 1 h 275"/>
                  <a:gd name="T18" fmla="*/ 1 w 164"/>
                  <a:gd name="T19" fmla="*/ 1 h 275"/>
                  <a:gd name="T20" fmla="*/ 1 w 164"/>
                  <a:gd name="T21" fmla="*/ 1 h 275"/>
                  <a:gd name="T22" fmla="*/ 1 w 164"/>
                  <a:gd name="T23" fmla="*/ 1 h 275"/>
                  <a:gd name="T24" fmla="*/ 1 w 164"/>
                  <a:gd name="T25" fmla="*/ 1 h 275"/>
                  <a:gd name="T26" fmla="*/ 1 w 164"/>
                  <a:gd name="T27" fmla="*/ 1 h 275"/>
                  <a:gd name="T28" fmla="*/ 1 w 164"/>
                  <a:gd name="T29" fmla="*/ 1 h 275"/>
                  <a:gd name="T30" fmla="*/ 1 w 164"/>
                  <a:gd name="T31" fmla="*/ 1 h 275"/>
                  <a:gd name="T32" fmla="*/ 0 w 164"/>
                  <a:gd name="T33" fmla="*/ 1 h 275"/>
                  <a:gd name="T34" fmla="*/ 1 w 164"/>
                  <a:gd name="T35" fmla="*/ 1 h 275"/>
                  <a:gd name="T36" fmla="*/ 1 w 164"/>
                  <a:gd name="T37" fmla="*/ 1 h 275"/>
                  <a:gd name="T38" fmla="*/ 1 w 164"/>
                  <a:gd name="T39" fmla="*/ 1 h 275"/>
                  <a:gd name="T40" fmla="*/ 1 w 164"/>
                  <a:gd name="T41" fmla="*/ 1 h 275"/>
                  <a:gd name="T42" fmla="*/ 1 w 164"/>
                  <a:gd name="T43" fmla="*/ 1 h 275"/>
                  <a:gd name="T44" fmla="*/ 1 w 164"/>
                  <a:gd name="T45" fmla="*/ 1 h 275"/>
                  <a:gd name="T46" fmla="*/ 1 w 164"/>
                  <a:gd name="T47" fmla="*/ 1 h 275"/>
                  <a:gd name="T48" fmla="*/ 1 w 164"/>
                  <a:gd name="T49" fmla="*/ 1 h 275"/>
                  <a:gd name="T50" fmla="*/ 1 w 164"/>
                  <a:gd name="T51" fmla="*/ 1 h 275"/>
                  <a:gd name="T52" fmla="*/ 1 w 164"/>
                  <a:gd name="T53" fmla="*/ 1 h 275"/>
                  <a:gd name="T54" fmla="*/ 1 w 164"/>
                  <a:gd name="T55" fmla="*/ 1 h 275"/>
                  <a:gd name="T56" fmla="*/ 1 w 164"/>
                  <a:gd name="T57" fmla="*/ 1 h 275"/>
                  <a:gd name="T58" fmla="*/ 1 w 164"/>
                  <a:gd name="T59" fmla="*/ 1 h 275"/>
                  <a:gd name="T60" fmla="*/ 1 w 164"/>
                  <a:gd name="T61" fmla="*/ 1 h 275"/>
                  <a:gd name="T62" fmla="*/ 1 w 164"/>
                  <a:gd name="T63" fmla="*/ 1 h 275"/>
                  <a:gd name="T64" fmla="*/ 1 w 164"/>
                  <a:gd name="T65" fmla="*/ 1 h 275"/>
                  <a:gd name="T66" fmla="*/ 1 w 164"/>
                  <a:gd name="T67" fmla="*/ 1 h 275"/>
                  <a:gd name="T68" fmla="*/ 1 w 164"/>
                  <a:gd name="T69" fmla="*/ 1 h 275"/>
                  <a:gd name="T70" fmla="*/ 1 w 164"/>
                  <a:gd name="T71" fmla="*/ 1 h 275"/>
                  <a:gd name="T72" fmla="*/ 1 w 164"/>
                  <a:gd name="T73" fmla="*/ 1 h 275"/>
                  <a:gd name="T74" fmla="*/ 1 w 164"/>
                  <a:gd name="T75" fmla="*/ 1 h 275"/>
                  <a:gd name="T76" fmla="*/ 1 w 164"/>
                  <a:gd name="T77" fmla="*/ 1 h 275"/>
                  <a:gd name="T78" fmla="*/ 1 w 164"/>
                  <a:gd name="T79" fmla="*/ 1 h 275"/>
                  <a:gd name="T80" fmla="*/ 1 w 164"/>
                  <a:gd name="T81" fmla="*/ 1 h 275"/>
                  <a:gd name="T82" fmla="*/ 1 w 164"/>
                  <a:gd name="T83" fmla="*/ 1 h 275"/>
                  <a:gd name="T84" fmla="*/ 1 w 164"/>
                  <a:gd name="T85" fmla="*/ 1 h 275"/>
                  <a:gd name="T86" fmla="*/ 1 w 164"/>
                  <a:gd name="T87" fmla="*/ 1 h 275"/>
                  <a:gd name="T88" fmla="*/ 1 w 164"/>
                  <a:gd name="T89" fmla="*/ 0 h 275"/>
                  <a:gd name="T90" fmla="*/ 1 w 164"/>
                  <a:gd name="T91" fmla="*/ 1 h 275"/>
                  <a:gd name="T92" fmla="*/ 1 w 164"/>
                  <a:gd name="T93" fmla="*/ 1 h 275"/>
                  <a:gd name="T94" fmla="*/ 1 w 164"/>
                  <a:gd name="T95" fmla="*/ 1 h 275"/>
                  <a:gd name="T96" fmla="*/ 1 w 164"/>
                  <a:gd name="T97" fmla="*/ 1 h 275"/>
                  <a:gd name="T98" fmla="*/ 1 w 164"/>
                  <a:gd name="T99" fmla="*/ 1 h 275"/>
                  <a:gd name="T100" fmla="*/ 1 w 164"/>
                  <a:gd name="T101" fmla="*/ 1 h 275"/>
                  <a:gd name="T102" fmla="*/ 1 w 164"/>
                  <a:gd name="T103" fmla="*/ 1 h 275"/>
                  <a:gd name="T104" fmla="*/ 1 w 164"/>
                  <a:gd name="T105" fmla="*/ 1 h 27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4"/>
                  <a:gd name="T160" fmla="*/ 0 h 275"/>
                  <a:gd name="T161" fmla="*/ 164 w 164"/>
                  <a:gd name="T162" fmla="*/ 275 h 275"/>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4" h="275">
                    <a:moveTo>
                      <a:pt x="160" y="91"/>
                    </a:moveTo>
                    <a:lnTo>
                      <a:pt x="142" y="112"/>
                    </a:lnTo>
                    <a:lnTo>
                      <a:pt x="125" y="132"/>
                    </a:lnTo>
                    <a:lnTo>
                      <a:pt x="108" y="155"/>
                    </a:lnTo>
                    <a:lnTo>
                      <a:pt x="92" y="175"/>
                    </a:lnTo>
                    <a:lnTo>
                      <a:pt x="75" y="197"/>
                    </a:lnTo>
                    <a:lnTo>
                      <a:pt x="58" y="218"/>
                    </a:lnTo>
                    <a:lnTo>
                      <a:pt x="41" y="240"/>
                    </a:lnTo>
                    <a:lnTo>
                      <a:pt x="23" y="261"/>
                    </a:lnTo>
                    <a:lnTo>
                      <a:pt x="19" y="266"/>
                    </a:lnTo>
                    <a:lnTo>
                      <a:pt x="17" y="267"/>
                    </a:lnTo>
                    <a:lnTo>
                      <a:pt x="14" y="270"/>
                    </a:lnTo>
                    <a:lnTo>
                      <a:pt x="10" y="275"/>
                    </a:lnTo>
                    <a:lnTo>
                      <a:pt x="7" y="270"/>
                    </a:lnTo>
                    <a:lnTo>
                      <a:pt x="4" y="266"/>
                    </a:lnTo>
                    <a:lnTo>
                      <a:pt x="1" y="262"/>
                    </a:lnTo>
                    <a:lnTo>
                      <a:pt x="0" y="261"/>
                    </a:lnTo>
                    <a:lnTo>
                      <a:pt x="5" y="253"/>
                    </a:lnTo>
                    <a:lnTo>
                      <a:pt x="10" y="248"/>
                    </a:lnTo>
                    <a:lnTo>
                      <a:pt x="15" y="241"/>
                    </a:lnTo>
                    <a:lnTo>
                      <a:pt x="22" y="234"/>
                    </a:lnTo>
                    <a:lnTo>
                      <a:pt x="23" y="232"/>
                    </a:lnTo>
                    <a:lnTo>
                      <a:pt x="28" y="230"/>
                    </a:lnTo>
                    <a:lnTo>
                      <a:pt x="33" y="227"/>
                    </a:lnTo>
                    <a:lnTo>
                      <a:pt x="40" y="222"/>
                    </a:lnTo>
                    <a:lnTo>
                      <a:pt x="46" y="215"/>
                    </a:lnTo>
                    <a:lnTo>
                      <a:pt x="50" y="208"/>
                    </a:lnTo>
                    <a:lnTo>
                      <a:pt x="53" y="199"/>
                    </a:lnTo>
                    <a:lnTo>
                      <a:pt x="51" y="188"/>
                    </a:lnTo>
                    <a:lnTo>
                      <a:pt x="55" y="179"/>
                    </a:lnTo>
                    <a:lnTo>
                      <a:pt x="66" y="165"/>
                    </a:lnTo>
                    <a:lnTo>
                      <a:pt x="77" y="149"/>
                    </a:lnTo>
                    <a:lnTo>
                      <a:pt x="88" y="135"/>
                    </a:lnTo>
                    <a:lnTo>
                      <a:pt x="92" y="132"/>
                    </a:lnTo>
                    <a:lnTo>
                      <a:pt x="95" y="130"/>
                    </a:lnTo>
                    <a:lnTo>
                      <a:pt x="99" y="127"/>
                    </a:lnTo>
                    <a:lnTo>
                      <a:pt x="102" y="125"/>
                    </a:lnTo>
                    <a:lnTo>
                      <a:pt x="114" y="112"/>
                    </a:lnTo>
                    <a:lnTo>
                      <a:pt x="120" y="95"/>
                    </a:lnTo>
                    <a:lnTo>
                      <a:pt x="120" y="79"/>
                    </a:lnTo>
                    <a:lnTo>
                      <a:pt x="115" y="63"/>
                    </a:lnTo>
                    <a:lnTo>
                      <a:pt x="110" y="53"/>
                    </a:lnTo>
                    <a:lnTo>
                      <a:pt x="102" y="35"/>
                    </a:lnTo>
                    <a:lnTo>
                      <a:pt x="92" y="16"/>
                    </a:lnTo>
                    <a:lnTo>
                      <a:pt x="83" y="0"/>
                    </a:lnTo>
                    <a:lnTo>
                      <a:pt x="90" y="4"/>
                    </a:lnTo>
                    <a:lnTo>
                      <a:pt x="103" y="11"/>
                    </a:lnTo>
                    <a:lnTo>
                      <a:pt x="119" y="20"/>
                    </a:lnTo>
                    <a:lnTo>
                      <a:pt x="134" y="31"/>
                    </a:lnTo>
                    <a:lnTo>
                      <a:pt x="149" y="44"/>
                    </a:lnTo>
                    <a:lnTo>
                      <a:pt x="159" y="59"/>
                    </a:lnTo>
                    <a:lnTo>
                      <a:pt x="164" y="74"/>
                    </a:lnTo>
                    <a:lnTo>
                      <a:pt x="160" y="91"/>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3" name="Freeform 50"/>
              <p:cNvSpPr>
                <a:spLocks/>
              </p:cNvSpPr>
              <p:nvPr/>
            </p:nvSpPr>
            <p:spPr bwMode="auto">
              <a:xfrm>
                <a:off x="3905" y="3302"/>
                <a:ext cx="35" cy="35"/>
              </a:xfrm>
              <a:custGeom>
                <a:avLst/>
                <a:gdLst>
                  <a:gd name="T0" fmla="*/ 0 w 57"/>
                  <a:gd name="T1" fmla="*/ 1 h 57"/>
                  <a:gd name="T2" fmla="*/ 1 w 57"/>
                  <a:gd name="T3" fmla="*/ 1 h 57"/>
                  <a:gd name="T4" fmla="*/ 1 w 57"/>
                  <a:gd name="T5" fmla="*/ 1 h 57"/>
                  <a:gd name="T6" fmla="*/ 1 w 57"/>
                  <a:gd name="T7" fmla="*/ 1 h 57"/>
                  <a:gd name="T8" fmla="*/ 1 w 57"/>
                  <a:gd name="T9" fmla="*/ 1 h 57"/>
                  <a:gd name="T10" fmla="*/ 1 w 57"/>
                  <a:gd name="T11" fmla="*/ 1 h 57"/>
                  <a:gd name="T12" fmla="*/ 1 w 57"/>
                  <a:gd name="T13" fmla="*/ 1 h 57"/>
                  <a:gd name="T14" fmla="*/ 1 w 57"/>
                  <a:gd name="T15" fmla="*/ 1 h 57"/>
                  <a:gd name="T16" fmla="*/ 1 w 57"/>
                  <a:gd name="T17" fmla="*/ 0 h 57"/>
                  <a:gd name="T18" fmla="*/ 1 w 57"/>
                  <a:gd name="T19" fmla="*/ 1 h 57"/>
                  <a:gd name="T20" fmla="*/ 1 w 57"/>
                  <a:gd name="T21" fmla="*/ 1 h 57"/>
                  <a:gd name="T22" fmla="*/ 1 w 57"/>
                  <a:gd name="T23" fmla="*/ 1 h 57"/>
                  <a:gd name="T24" fmla="*/ 1 w 57"/>
                  <a:gd name="T25" fmla="*/ 1 h 57"/>
                  <a:gd name="T26" fmla="*/ 1 w 57"/>
                  <a:gd name="T27" fmla="*/ 1 h 57"/>
                  <a:gd name="T28" fmla="*/ 1 w 57"/>
                  <a:gd name="T29" fmla="*/ 1 h 57"/>
                  <a:gd name="T30" fmla="*/ 1 w 57"/>
                  <a:gd name="T31" fmla="*/ 1 h 57"/>
                  <a:gd name="T32" fmla="*/ 1 w 57"/>
                  <a:gd name="T33" fmla="*/ 1 h 57"/>
                  <a:gd name="T34" fmla="*/ 1 w 57"/>
                  <a:gd name="T35" fmla="*/ 1 h 57"/>
                  <a:gd name="T36" fmla="*/ 1 w 57"/>
                  <a:gd name="T37" fmla="*/ 1 h 57"/>
                  <a:gd name="T38" fmla="*/ 1 w 57"/>
                  <a:gd name="T39" fmla="*/ 1 h 57"/>
                  <a:gd name="T40" fmla="*/ 0 w 57"/>
                  <a:gd name="T41" fmla="*/ 1 h 5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
                  <a:gd name="T64" fmla="*/ 0 h 57"/>
                  <a:gd name="T65" fmla="*/ 57 w 57"/>
                  <a:gd name="T66" fmla="*/ 57 h 5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 h="57">
                    <a:moveTo>
                      <a:pt x="0" y="52"/>
                    </a:moveTo>
                    <a:lnTo>
                      <a:pt x="5" y="44"/>
                    </a:lnTo>
                    <a:lnTo>
                      <a:pt x="12" y="37"/>
                    </a:lnTo>
                    <a:lnTo>
                      <a:pt x="18" y="27"/>
                    </a:lnTo>
                    <a:lnTo>
                      <a:pt x="24" y="20"/>
                    </a:lnTo>
                    <a:lnTo>
                      <a:pt x="30" y="12"/>
                    </a:lnTo>
                    <a:lnTo>
                      <a:pt x="35" y="7"/>
                    </a:lnTo>
                    <a:lnTo>
                      <a:pt x="39" y="2"/>
                    </a:lnTo>
                    <a:lnTo>
                      <a:pt x="41" y="0"/>
                    </a:lnTo>
                    <a:lnTo>
                      <a:pt x="46" y="7"/>
                    </a:lnTo>
                    <a:lnTo>
                      <a:pt x="52" y="16"/>
                    </a:lnTo>
                    <a:lnTo>
                      <a:pt x="57" y="27"/>
                    </a:lnTo>
                    <a:lnTo>
                      <a:pt x="57" y="35"/>
                    </a:lnTo>
                    <a:lnTo>
                      <a:pt x="53" y="43"/>
                    </a:lnTo>
                    <a:lnTo>
                      <a:pt x="49" y="49"/>
                    </a:lnTo>
                    <a:lnTo>
                      <a:pt x="43" y="53"/>
                    </a:lnTo>
                    <a:lnTo>
                      <a:pt x="35" y="56"/>
                    </a:lnTo>
                    <a:lnTo>
                      <a:pt x="27" y="57"/>
                    </a:lnTo>
                    <a:lnTo>
                      <a:pt x="18" y="57"/>
                    </a:lnTo>
                    <a:lnTo>
                      <a:pt x="9" y="55"/>
                    </a:lnTo>
                    <a:lnTo>
                      <a:pt x="0" y="5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4" name="Freeform 51"/>
              <p:cNvSpPr>
                <a:spLocks/>
              </p:cNvSpPr>
              <p:nvPr/>
            </p:nvSpPr>
            <p:spPr bwMode="auto">
              <a:xfrm>
                <a:off x="3798" y="3313"/>
                <a:ext cx="31" cy="25"/>
              </a:xfrm>
              <a:custGeom>
                <a:avLst/>
                <a:gdLst>
                  <a:gd name="T0" fmla="*/ 1 w 51"/>
                  <a:gd name="T1" fmla="*/ 0 h 41"/>
                  <a:gd name="T2" fmla="*/ 1 w 51"/>
                  <a:gd name="T3" fmla="*/ 1 h 41"/>
                  <a:gd name="T4" fmla="*/ 1 w 51"/>
                  <a:gd name="T5" fmla="*/ 1 h 41"/>
                  <a:gd name="T6" fmla="*/ 1 w 51"/>
                  <a:gd name="T7" fmla="*/ 1 h 41"/>
                  <a:gd name="T8" fmla="*/ 0 w 51"/>
                  <a:gd name="T9" fmla="*/ 1 h 41"/>
                  <a:gd name="T10" fmla="*/ 1 w 51"/>
                  <a:gd name="T11" fmla="*/ 1 h 41"/>
                  <a:gd name="T12" fmla="*/ 1 w 51"/>
                  <a:gd name="T13" fmla="*/ 1 h 41"/>
                  <a:gd name="T14" fmla="*/ 1 w 51"/>
                  <a:gd name="T15" fmla="*/ 1 h 41"/>
                  <a:gd name="T16" fmla="*/ 1 w 51"/>
                  <a:gd name="T17" fmla="*/ 1 h 41"/>
                  <a:gd name="T18" fmla="*/ 1 w 51"/>
                  <a:gd name="T19" fmla="*/ 1 h 41"/>
                  <a:gd name="T20" fmla="*/ 1 w 51"/>
                  <a:gd name="T21" fmla="*/ 1 h 41"/>
                  <a:gd name="T22" fmla="*/ 1 w 51"/>
                  <a:gd name="T23" fmla="*/ 1 h 41"/>
                  <a:gd name="T24" fmla="*/ 1 w 51"/>
                  <a:gd name="T25" fmla="*/ 1 h 41"/>
                  <a:gd name="T26" fmla="*/ 1 w 51"/>
                  <a:gd name="T27" fmla="*/ 1 h 41"/>
                  <a:gd name="T28" fmla="*/ 1 w 51"/>
                  <a:gd name="T29" fmla="*/ 1 h 41"/>
                  <a:gd name="T30" fmla="*/ 1 w 51"/>
                  <a:gd name="T31" fmla="*/ 1 h 41"/>
                  <a:gd name="T32" fmla="*/ 1 w 51"/>
                  <a:gd name="T33" fmla="*/ 0 h 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1"/>
                  <a:gd name="T52" fmla="*/ 0 h 41"/>
                  <a:gd name="T53" fmla="*/ 51 w 51"/>
                  <a:gd name="T54" fmla="*/ 41 h 4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1" h="41">
                    <a:moveTo>
                      <a:pt x="26" y="0"/>
                    </a:moveTo>
                    <a:lnTo>
                      <a:pt x="16" y="2"/>
                    </a:lnTo>
                    <a:lnTo>
                      <a:pt x="8" y="7"/>
                    </a:lnTo>
                    <a:lnTo>
                      <a:pt x="3" y="13"/>
                    </a:lnTo>
                    <a:lnTo>
                      <a:pt x="0" y="21"/>
                    </a:lnTo>
                    <a:lnTo>
                      <a:pt x="3" y="29"/>
                    </a:lnTo>
                    <a:lnTo>
                      <a:pt x="8" y="34"/>
                    </a:lnTo>
                    <a:lnTo>
                      <a:pt x="16" y="39"/>
                    </a:lnTo>
                    <a:lnTo>
                      <a:pt x="26" y="41"/>
                    </a:lnTo>
                    <a:lnTo>
                      <a:pt x="35" y="39"/>
                    </a:lnTo>
                    <a:lnTo>
                      <a:pt x="43" y="34"/>
                    </a:lnTo>
                    <a:lnTo>
                      <a:pt x="48" y="29"/>
                    </a:lnTo>
                    <a:lnTo>
                      <a:pt x="51" y="21"/>
                    </a:lnTo>
                    <a:lnTo>
                      <a:pt x="48" y="13"/>
                    </a:lnTo>
                    <a:lnTo>
                      <a:pt x="43" y="7"/>
                    </a:lnTo>
                    <a:lnTo>
                      <a:pt x="35" y="2"/>
                    </a:lnTo>
                    <a:lnTo>
                      <a:pt x="26"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pic>
        <p:nvPicPr>
          <p:cNvPr id="46" name="Picture 17" descr="claimcenter.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380239" y="1155700"/>
            <a:ext cx="1184275" cy="118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15687314"/>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|EOS~020|</a:t>
            </a:r>
            <a:endParaRPr lang="en-US" sz="100" dirty="0" err="1" smtClean="0">
              <a:solidFill>
                <a:srgbClr val="FFFFFF"/>
              </a:solidFill>
              <a:latin typeface="Arial"/>
              <a:cs typeface="Calibri" pitchFamily="34" charset="0"/>
            </a:endParaRPr>
          </a:p>
        </p:txBody>
      </p:sp>
      <p:sp>
        <p:nvSpPr>
          <p:cNvPr id="21506" name="Rectangle 2"/>
          <p:cNvSpPr>
            <a:spLocks noGrp="1" noChangeArrowheads="1"/>
          </p:cNvSpPr>
          <p:nvPr>
            <p:ph type="title"/>
          </p:nvPr>
        </p:nvSpPr>
        <p:spPr/>
        <p:txBody>
          <a:bodyPr/>
          <a:lstStyle/>
          <a:p>
            <a:pPr eaLnBrk="1" hangingPunct="1"/>
            <a:r>
              <a:rPr lang="en-US" smtClean="0"/>
              <a:t>Address Book integration</a:t>
            </a:r>
          </a:p>
        </p:txBody>
      </p:sp>
      <p:sp>
        <p:nvSpPr>
          <p:cNvPr id="21507" name="Rectangle 3"/>
          <p:cNvSpPr>
            <a:spLocks noGrp="1" noChangeArrowheads="1"/>
          </p:cNvSpPr>
          <p:nvPr>
            <p:ph idx="1"/>
          </p:nvPr>
        </p:nvSpPr>
        <p:spPr>
          <a:xfrm>
            <a:off x="519113" y="2981325"/>
            <a:ext cx="8318500" cy="3408363"/>
          </a:xfrm>
        </p:spPr>
        <p:txBody>
          <a:bodyPr/>
          <a:lstStyle/>
          <a:p>
            <a:r>
              <a:rPr lang="en-US" dirty="0" smtClean="0"/>
              <a:t>Every instance of </a:t>
            </a:r>
            <a:r>
              <a:rPr lang="en-US" dirty="0" err="1" smtClean="0"/>
              <a:t>ClaimCenter</a:t>
            </a:r>
            <a:r>
              <a:rPr lang="en-US" dirty="0" smtClean="0"/>
              <a:t> has an integration point to an address book application</a:t>
            </a:r>
          </a:p>
          <a:p>
            <a:pPr lvl="1"/>
            <a:r>
              <a:rPr lang="en-US" dirty="0" smtClean="0"/>
              <a:t>Nearly every implementation uses </a:t>
            </a:r>
            <a:r>
              <a:rPr lang="en-US" dirty="0" err="1" smtClean="0"/>
              <a:t>Guidewire</a:t>
            </a:r>
            <a:r>
              <a:rPr lang="en-US" dirty="0" smtClean="0"/>
              <a:t> </a:t>
            </a:r>
            <a:r>
              <a:rPr lang="en-US" dirty="0" err="1" smtClean="0"/>
              <a:t>ContactManager</a:t>
            </a:r>
            <a:r>
              <a:rPr lang="en-US" dirty="0" smtClean="0"/>
              <a:t> as the address book application</a:t>
            </a:r>
          </a:p>
        </p:txBody>
      </p:sp>
      <p:sp>
        <p:nvSpPr>
          <p:cNvPr id="21508" name="Rectangle 4"/>
          <p:cNvSpPr>
            <a:spLocks noChangeArrowheads="1"/>
          </p:cNvSpPr>
          <p:nvPr/>
        </p:nvSpPr>
        <p:spPr bwMode="auto">
          <a:xfrm>
            <a:off x="5003800" y="1201738"/>
            <a:ext cx="3062288" cy="1052512"/>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sp>
        <p:nvSpPr>
          <p:cNvPr id="21509" name="Text Box 5"/>
          <p:cNvSpPr txBox="1">
            <a:spLocks noChangeArrowheads="1"/>
          </p:cNvSpPr>
          <p:nvPr/>
        </p:nvSpPr>
        <p:spPr bwMode="auto">
          <a:xfrm>
            <a:off x="6081713" y="1223963"/>
            <a:ext cx="208438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a:spcAft>
                <a:spcPct val="0"/>
              </a:spcAft>
              <a:buClrTx/>
            </a:pPr>
            <a:r>
              <a:rPr lang="en-US" sz="2000" b="1" dirty="0">
                <a:solidFill>
                  <a:schemeClr val="accent1"/>
                </a:solidFill>
                <a:latin typeface="MetaPlusBook-Roman" pitchFamily="34" charset="0"/>
              </a:rPr>
              <a:t>Address</a:t>
            </a:r>
            <a:br>
              <a:rPr lang="en-US" sz="2000" b="1" dirty="0">
                <a:solidFill>
                  <a:schemeClr val="accent1"/>
                </a:solidFill>
                <a:latin typeface="MetaPlusBook-Roman" pitchFamily="34" charset="0"/>
              </a:rPr>
            </a:br>
            <a:r>
              <a:rPr lang="en-US" sz="2000" b="1" dirty="0">
                <a:solidFill>
                  <a:schemeClr val="accent1"/>
                </a:solidFill>
                <a:latin typeface="MetaPlusBook-Roman" pitchFamily="34" charset="0"/>
              </a:rPr>
              <a:t>Book</a:t>
            </a:r>
            <a:br>
              <a:rPr lang="en-US" sz="2000" b="1" dirty="0">
                <a:solidFill>
                  <a:schemeClr val="accent1"/>
                </a:solidFill>
                <a:latin typeface="MetaPlusBook-Roman" pitchFamily="34" charset="0"/>
              </a:rPr>
            </a:br>
            <a:r>
              <a:rPr lang="en-US" sz="2000" b="1" dirty="0">
                <a:solidFill>
                  <a:schemeClr val="accent1"/>
                </a:solidFill>
                <a:latin typeface="MetaPlusBook-Roman" pitchFamily="34" charset="0"/>
              </a:rPr>
              <a:t>Application</a:t>
            </a:r>
          </a:p>
        </p:txBody>
      </p:sp>
      <p:pic>
        <p:nvPicPr>
          <p:cNvPr id="21510" name="Picture 6"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49850" y="1266825"/>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1" name="Line 8"/>
          <p:cNvSpPr>
            <a:spLocks noChangeShapeType="1"/>
          </p:cNvSpPr>
          <p:nvPr/>
        </p:nvSpPr>
        <p:spPr bwMode="auto">
          <a:xfrm flipH="1">
            <a:off x="2587625" y="1920875"/>
            <a:ext cx="2408238"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12" name="Line 9"/>
          <p:cNvSpPr>
            <a:spLocks noChangeShapeType="1"/>
          </p:cNvSpPr>
          <p:nvPr/>
        </p:nvSpPr>
        <p:spPr bwMode="auto">
          <a:xfrm>
            <a:off x="2593975" y="1576388"/>
            <a:ext cx="2395538"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13" name="Text Box 10"/>
          <p:cNvSpPr txBox="1">
            <a:spLocks noChangeArrowheads="1"/>
          </p:cNvSpPr>
          <p:nvPr/>
        </p:nvSpPr>
        <p:spPr bwMode="auto">
          <a:xfrm>
            <a:off x="2786063" y="1912938"/>
            <a:ext cx="201136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1800" b="1">
                <a:solidFill>
                  <a:schemeClr val="accent1"/>
                </a:solidFill>
              </a:rPr>
              <a:t>general contact data</a:t>
            </a:r>
          </a:p>
        </p:txBody>
      </p:sp>
      <p:sp>
        <p:nvSpPr>
          <p:cNvPr id="21514" name="Text Box 11"/>
          <p:cNvSpPr txBox="1">
            <a:spLocks noChangeArrowheads="1"/>
          </p:cNvSpPr>
          <p:nvPr/>
        </p:nvSpPr>
        <p:spPr bwMode="auto">
          <a:xfrm>
            <a:off x="2786063" y="1249363"/>
            <a:ext cx="201136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1800" b="1">
                <a:solidFill>
                  <a:schemeClr val="accent1"/>
                </a:solidFill>
              </a:rPr>
              <a:t>search criteria</a:t>
            </a:r>
          </a:p>
        </p:txBody>
      </p:sp>
      <p:pic>
        <p:nvPicPr>
          <p:cNvPr id="21516" name="Picture 17" descr="claimcenter.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406525" y="1166813"/>
            <a:ext cx="1184275" cy="118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9" name="Group 4"/>
          <p:cNvGrpSpPr>
            <a:grpSpLocks/>
          </p:cNvGrpSpPr>
          <p:nvPr/>
        </p:nvGrpSpPr>
        <p:grpSpPr bwMode="auto">
          <a:xfrm>
            <a:off x="7290583" y="980010"/>
            <a:ext cx="1109663" cy="969963"/>
            <a:chOff x="1305" y="2500"/>
            <a:chExt cx="1138" cy="995"/>
          </a:xfrm>
        </p:grpSpPr>
        <p:sp>
          <p:nvSpPr>
            <p:cNvPr id="30" name="Freeform 5"/>
            <p:cNvSpPr>
              <a:spLocks/>
            </p:cNvSpPr>
            <p:nvPr/>
          </p:nvSpPr>
          <p:spPr bwMode="auto">
            <a:xfrm>
              <a:off x="1305" y="2500"/>
              <a:ext cx="1138" cy="995"/>
            </a:xfrm>
            <a:custGeom>
              <a:avLst/>
              <a:gdLst>
                <a:gd name="T0" fmla="*/ 444 w 1138"/>
                <a:gd name="T1" fmla="*/ 1 h 995"/>
                <a:gd name="T2" fmla="*/ 490 w 1138"/>
                <a:gd name="T3" fmla="*/ 0 h 995"/>
                <a:gd name="T4" fmla="*/ 532 w 1138"/>
                <a:gd name="T5" fmla="*/ 10 h 995"/>
                <a:gd name="T6" fmla="*/ 600 w 1138"/>
                <a:gd name="T7" fmla="*/ 40 h 995"/>
                <a:gd name="T8" fmla="*/ 668 w 1138"/>
                <a:gd name="T9" fmla="*/ 66 h 995"/>
                <a:gd name="T10" fmla="*/ 737 w 1138"/>
                <a:gd name="T11" fmla="*/ 85 h 995"/>
                <a:gd name="T12" fmla="*/ 808 w 1138"/>
                <a:gd name="T13" fmla="*/ 101 h 995"/>
                <a:gd name="T14" fmla="*/ 882 w 1138"/>
                <a:gd name="T15" fmla="*/ 111 h 995"/>
                <a:gd name="T16" fmla="*/ 953 w 1138"/>
                <a:gd name="T17" fmla="*/ 125 h 995"/>
                <a:gd name="T18" fmla="*/ 1011 w 1138"/>
                <a:gd name="T19" fmla="*/ 163 h 995"/>
                <a:gd name="T20" fmla="*/ 1036 w 1138"/>
                <a:gd name="T21" fmla="*/ 228 h 995"/>
                <a:gd name="T22" fmla="*/ 1082 w 1138"/>
                <a:gd name="T23" fmla="*/ 252 h 995"/>
                <a:gd name="T24" fmla="*/ 1120 w 1138"/>
                <a:gd name="T25" fmla="*/ 287 h 995"/>
                <a:gd name="T26" fmla="*/ 1137 w 1138"/>
                <a:gd name="T27" fmla="*/ 342 h 995"/>
                <a:gd name="T28" fmla="*/ 1134 w 1138"/>
                <a:gd name="T29" fmla="*/ 405 h 995"/>
                <a:gd name="T30" fmla="*/ 1111 w 1138"/>
                <a:gd name="T31" fmla="*/ 463 h 995"/>
                <a:gd name="T32" fmla="*/ 1068 w 1138"/>
                <a:gd name="T33" fmla="*/ 515 h 995"/>
                <a:gd name="T34" fmla="*/ 1026 w 1138"/>
                <a:gd name="T35" fmla="*/ 568 h 995"/>
                <a:gd name="T36" fmla="*/ 984 w 1138"/>
                <a:gd name="T37" fmla="*/ 627 h 995"/>
                <a:gd name="T38" fmla="*/ 965 w 1138"/>
                <a:gd name="T39" fmla="*/ 646 h 995"/>
                <a:gd name="T40" fmla="*/ 947 w 1138"/>
                <a:gd name="T41" fmla="*/ 664 h 995"/>
                <a:gd name="T42" fmla="*/ 918 w 1138"/>
                <a:gd name="T43" fmla="*/ 712 h 995"/>
                <a:gd name="T44" fmla="*/ 864 w 1138"/>
                <a:gd name="T45" fmla="*/ 796 h 995"/>
                <a:gd name="T46" fmla="*/ 802 w 1138"/>
                <a:gd name="T47" fmla="*/ 881 h 995"/>
                <a:gd name="T48" fmla="*/ 763 w 1138"/>
                <a:gd name="T49" fmla="*/ 927 h 995"/>
                <a:gd name="T50" fmla="*/ 741 w 1138"/>
                <a:gd name="T51" fmla="*/ 950 h 995"/>
                <a:gd name="T52" fmla="*/ 715 w 1138"/>
                <a:gd name="T53" fmla="*/ 963 h 995"/>
                <a:gd name="T54" fmla="*/ 670 w 1138"/>
                <a:gd name="T55" fmla="*/ 975 h 995"/>
                <a:gd name="T56" fmla="*/ 627 w 1138"/>
                <a:gd name="T57" fmla="*/ 985 h 995"/>
                <a:gd name="T58" fmla="*/ 584 w 1138"/>
                <a:gd name="T59" fmla="*/ 993 h 995"/>
                <a:gd name="T60" fmla="*/ 543 w 1138"/>
                <a:gd name="T61" fmla="*/ 995 h 995"/>
                <a:gd name="T62" fmla="*/ 500 w 1138"/>
                <a:gd name="T63" fmla="*/ 988 h 995"/>
                <a:gd name="T64" fmla="*/ 464 w 1138"/>
                <a:gd name="T65" fmla="*/ 975 h 995"/>
                <a:gd name="T66" fmla="*/ 421 w 1138"/>
                <a:gd name="T67" fmla="*/ 953 h 995"/>
                <a:gd name="T68" fmla="*/ 369 w 1138"/>
                <a:gd name="T69" fmla="*/ 925 h 995"/>
                <a:gd name="T70" fmla="*/ 317 w 1138"/>
                <a:gd name="T71" fmla="*/ 899 h 995"/>
                <a:gd name="T72" fmla="*/ 275 w 1138"/>
                <a:gd name="T73" fmla="*/ 878 h 995"/>
                <a:gd name="T74" fmla="*/ 219 w 1138"/>
                <a:gd name="T75" fmla="*/ 861 h 995"/>
                <a:gd name="T76" fmla="*/ 151 w 1138"/>
                <a:gd name="T77" fmla="*/ 851 h 995"/>
                <a:gd name="T78" fmla="*/ 86 w 1138"/>
                <a:gd name="T79" fmla="*/ 827 h 995"/>
                <a:gd name="T80" fmla="*/ 18 w 1138"/>
                <a:gd name="T81" fmla="*/ 764 h 995"/>
                <a:gd name="T82" fmla="*/ 0 w 1138"/>
                <a:gd name="T83" fmla="*/ 678 h 995"/>
                <a:gd name="T84" fmla="*/ 15 w 1138"/>
                <a:gd name="T85" fmla="*/ 590 h 995"/>
                <a:gd name="T86" fmla="*/ 52 w 1138"/>
                <a:gd name="T87" fmla="*/ 520 h 995"/>
                <a:gd name="T88" fmla="*/ 110 w 1138"/>
                <a:gd name="T89" fmla="*/ 462 h 995"/>
                <a:gd name="T90" fmla="*/ 166 w 1138"/>
                <a:gd name="T91" fmla="*/ 392 h 995"/>
                <a:gd name="T92" fmla="*/ 217 w 1138"/>
                <a:gd name="T93" fmla="*/ 316 h 995"/>
                <a:gd name="T94" fmla="*/ 263 w 1138"/>
                <a:gd name="T95" fmla="*/ 239 h 995"/>
                <a:gd name="T96" fmla="*/ 308 w 1138"/>
                <a:gd name="T97" fmla="*/ 156 h 995"/>
                <a:gd name="T98" fmla="*/ 365 w 1138"/>
                <a:gd name="T99" fmla="*/ 58 h 995"/>
                <a:gd name="T100" fmla="*/ 413 w 1138"/>
                <a:gd name="T101" fmla="*/ 5 h 99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38"/>
                <a:gd name="T154" fmla="*/ 0 h 995"/>
                <a:gd name="T155" fmla="*/ 1138 w 1138"/>
                <a:gd name="T156" fmla="*/ 995 h 99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38" h="995">
                  <a:moveTo>
                    <a:pt x="413" y="5"/>
                  </a:moveTo>
                  <a:lnTo>
                    <a:pt x="429" y="2"/>
                  </a:lnTo>
                  <a:lnTo>
                    <a:pt x="444" y="1"/>
                  </a:lnTo>
                  <a:lnTo>
                    <a:pt x="460" y="0"/>
                  </a:lnTo>
                  <a:lnTo>
                    <a:pt x="475" y="0"/>
                  </a:lnTo>
                  <a:lnTo>
                    <a:pt x="490" y="0"/>
                  </a:lnTo>
                  <a:lnTo>
                    <a:pt x="504" y="2"/>
                  </a:lnTo>
                  <a:lnTo>
                    <a:pt x="518" y="5"/>
                  </a:lnTo>
                  <a:lnTo>
                    <a:pt x="532" y="10"/>
                  </a:lnTo>
                  <a:lnTo>
                    <a:pt x="554" y="20"/>
                  </a:lnTo>
                  <a:lnTo>
                    <a:pt x="578" y="31"/>
                  </a:lnTo>
                  <a:lnTo>
                    <a:pt x="600" y="40"/>
                  </a:lnTo>
                  <a:lnTo>
                    <a:pt x="623" y="49"/>
                  </a:lnTo>
                  <a:lnTo>
                    <a:pt x="645" y="57"/>
                  </a:lnTo>
                  <a:lnTo>
                    <a:pt x="668" y="66"/>
                  </a:lnTo>
                  <a:lnTo>
                    <a:pt x="692" y="72"/>
                  </a:lnTo>
                  <a:lnTo>
                    <a:pt x="714" y="79"/>
                  </a:lnTo>
                  <a:lnTo>
                    <a:pt x="737" y="85"/>
                  </a:lnTo>
                  <a:lnTo>
                    <a:pt x="760" y="92"/>
                  </a:lnTo>
                  <a:lnTo>
                    <a:pt x="785" y="97"/>
                  </a:lnTo>
                  <a:lnTo>
                    <a:pt x="808" y="101"/>
                  </a:lnTo>
                  <a:lnTo>
                    <a:pt x="833" y="105"/>
                  </a:lnTo>
                  <a:lnTo>
                    <a:pt x="857" y="108"/>
                  </a:lnTo>
                  <a:lnTo>
                    <a:pt x="882" y="111"/>
                  </a:lnTo>
                  <a:lnTo>
                    <a:pt x="906" y="114"/>
                  </a:lnTo>
                  <a:lnTo>
                    <a:pt x="930" y="119"/>
                  </a:lnTo>
                  <a:lnTo>
                    <a:pt x="953" y="125"/>
                  </a:lnTo>
                  <a:lnTo>
                    <a:pt x="975" y="136"/>
                  </a:lnTo>
                  <a:lnTo>
                    <a:pt x="994" y="147"/>
                  </a:lnTo>
                  <a:lnTo>
                    <a:pt x="1011" y="163"/>
                  </a:lnTo>
                  <a:lnTo>
                    <a:pt x="1024" y="181"/>
                  </a:lnTo>
                  <a:lnTo>
                    <a:pt x="1033" y="202"/>
                  </a:lnTo>
                  <a:lnTo>
                    <a:pt x="1036" y="228"/>
                  </a:lnTo>
                  <a:lnTo>
                    <a:pt x="1051" y="235"/>
                  </a:lnTo>
                  <a:lnTo>
                    <a:pt x="1067" y="243"/>
                  </a:lnTo>
                  <a:lnTo>
                    <a:pt x="1082" y="252"/>
                  </a:lnTo>
                  <a:lnTo>
                    <a:pt x="1097" y="263"/>
                  </a:lnTo>
                  <a:lnTo>
                    <a:pt x="1110" y="274"/>
                  </a:lnTo>
                  <a:lnTo>
                    <a:pt x="1120" y="287"/>
                  </a:lnTo>
                  <a:lnTo>
                    <a:pt x="1129" y="303"/>
                  </a:lnTo>
                  <a:lnTo>
                    <a:pt x="1134" y="321"/>
                  </a:lnTo>
                  <a:lnTo>
                    <a:pt x="1137" y="342"/>
                  </a:lnTo>
                  <a:lnTo>
                    <a:pt x="1138" y="364"/>
                  </a:lnTo>
                  <a:lnTo>
                    <a:pt x="1137" y="384"/>
                  </a:lnTo>
                  <a:lnTo>
                    <a:pt x="1134" y="405"/>
                  </a:lnTo>
                  <a:lnTo>
                    <a:pt x="1128" y="426"/>
                  </a:lnTo>
                  <a:lnTo>
                    <a:pt x="1120" y="445"/>
                  </a:lnTo>
                  <a:lnTo>
                    <a:pt x="1111" y="463"/>
                  </a:lnTo>
                  <a:lnTo>
                    <a:pt x="1098" y="482"/>
                  </a:lnTo>
                  <a:lnTo>
                    <a:pt x="1082" y="498"/>
                  </a:lnTo>
                  <a:lnTo>
                    <a:pt x="1068" y="515"/>
                  </a:lnTo>
                  <a:lnTo>
                    <a:pt x="1053" y="533"/>
                  </a:lnTo>
                  <a:lnTo>
                    <a:pt x="1040" y="550"/>
                  </a:lnTo>
                  <a:lnTo>
                    <a:pt x="1026" y="568"/>
                  </a:lnTo>
                  <a:lnTo>
                    <a:pt x="1011" y="586"/>
                  </a:lnTo>
                  <a:lnTo>
                    <a:pt x="998" y="606"/>
                  </a:lnTo>
                  <a:lnTo>
                    <a:pt x="984" y="627"/>
                  </a:lnTo>
                  <a:lnTo>
                    <a:pt x="978" y="634"/>
                  </a:lnTo>
                  <a:lnTo>
                    <a:pt x="971" y="641"/>
                  </a:lnTo>
                  <a:lnTo>
                    <a:pt x="965" y="646"/>
                  </a:lnTo>
                  <a:lnTo>
                    <a:pt x="960" y="653"/>
                  </a:lnTo>
                  <a:lnTo>
                    <a:pt x="953" y="659"/>
                  </a:lnTo>
                  <a:lnTo>
                    <a:pt x="947" y="664"/>
                  </a:lnTo>
                  <a:lnTo>
                    <a:pt x="941" y="671"/>
                  </a:lnTo>
                  <a:lnTo>
                    <a:pt x="938" y="678"/>
                  </a:lnTo>
                  <a:lnTo>
                    <a:pt x="918" y="712"/>
                  </a:lnTo>
                  <a:lnTo>
                    <a:pt x="900" y="742"/>
                  </a:lnTo>
                  <a:lnTo>
                    <a:pt x="882" y="770"/>
                  </a:lnTo>
                  <a:lnTo>
                    <a:pt x="864" y="796"/>
                  </a:lnTo>
                  <a:lnTo>
                    <a:pt x="844" y="824"/>
                  </a:lnTo>
                  <a:lnTo>
                    <a:pt x="824" y="851"/>
                  </a:lnTo>
                  <a:lnTo>
                    <a:pt x="802" y="881"/>
                  </a:lnTo>
                  <a:lnTo>
                    <a:pt x="777" y="912"/>
                  </a:lnTo>
                  <a:lnTo>
                    <a:pt x="769" y="919"/>
                  </a:lnTo>
                  <a:lnTo>
                    <a:pt x="763" y="927"/>
                  </a:lnTo>
                  <a:lnTo>
                    <a:pt x="755" y="936"/>
                  </a:lnTo>
                  <a:lnTo>
                    <a:pt x="749" y="943"/>
                  </a:lnTo>
                  <a:lnTo>
                    <a:pt x="741" y="950"/>
                  </a:lnTo>
                  <a:lnTo>
                    <a:pt x="733" y="956"/>
                  </a:lnTo>
                  <a:lnTo>
                    <a:pt x="724" y="961"/>
                  </a:lnTo>
                  <a:lnTo>
                    <a:pt x="715" y="963"/>
                  </a:lnTo>
                  <a:lnTo>
                    <a:pt x="699" y="967"/>
                  </a:lnTo>
                  <a:lnTo>
                    <a:pt x="684" y="971"/>
                  </a:lnTo>
                  <a:lnTo>
                    <a:pt x="670" y="975"/>
                  </a:lnTo>
                  <a:lnTo>
                    <a:pt x="655" y="979"/>
                  </a:lnTo>
                  <a:lnTo>
                    <a:pt x="641" y="983"/>
                  </a:lnTo>
                  <a:lnTo>
                    <a:pt x="627" y="985"/>
                  </a:lnTo>
                  <a:lnTo>
                    <a:pt x="613" y="989"/>
                  </a:lnTo>
                  <a:lnTo>
                    <a:pt x="598" y="991"/>
                  </a:lnTo>
                  <a:lnTo>
                    <a:pt x="584" y="993"/>
                  </a:lnTo>
                  <a:lnTo>
                    <a:pt x="570" y="995"/>
                  </a:lnTo>
                  <a:lnTo>
                    <a:pt x="557" y="995"/>
                  </a:lnTo>
                  <a:lnTo>
                    <a:pt x="543" y="995"/>
                  </a:lnTo>
                  <a:lnTo>
                    <a:pt x="528" y="993"/>
                  </a:lnTo>
                  <a:lnTo>
                    <a:pt x="514" y="992"/>
                  </a:lnTo>
                  <a:lnTo>
                    <a:pt x="500" y="988"/>
                  </a:lnTo>
                  <a:lnTo>
                    <a:pt x="486" y="984"/>
                  </a:lnTo>
                  <a:lnTo>
                    <a:pt x="475" y="980"/>
                  </a:lnTo>
                  <a:lnTo>
                    <a:pt x="464" y="975"/>
                  </a:lnTo>
                  <a:lnTo>
                    <a:pt x="451" y="969"/>
                  </a:lnTo>
                  <a:lnTo>
                    <a:pt x="437" y="961"/>
                  </a:lnTo>
                  <a:lnTo>
                    <a:pt x="421" y="953"/>
                  </a:lnTo>
                  <a:lnTo>
                    <a:pt x="404" y="944"/>
                  </a:lnTo>
                  <a:lnTo>
                    <a:pt x="386" y="935"/>
                  </a:lnTo>
                  <a:lnTo>
                    <a:pt x="369" y="925"/>
                  </a:lnTo>
                  <a:lnTo>
                    <a:pt x="352" y="915"/>
                  </a:lnTo>
                  <a:lnTo>
                    <a:pt x="334" y="906"/>
                  </a:lnTo>
                  <a:lnTo>
                    <a:pt x="317" y="899"/>
                  </a:lnTo>
                  <a:lnTo>
                    <a:pt x="302" y="890"/>
                  </a:lnTo>
                  <a:lnTo>
                    <a:pt x="288" y="883"/>
                  </a:lnTo>
                  <a:lnTo>
                    <a:pt x="275" y="878"/>
                  </a:lnTo>
                  <a:lnTo>
                    <a:pt x="263" y="873"/>
                  </a:lnTo>
                  <a:lnTo>
                    <a:pt x="253" y="870"/>
                  </a:lnTo>
                  <a:lnTo>
                    <a:pt x="219" y="861"/>
                  </a:lnTo>
                  <a:lnTo>
                    <a:pt x="193" y="856"/>
                  </a:lnTo>
                  <a:lnTo>
                    <a:pt x="170" y="853"/>
                  </a:lnTo>
                  <a:lnTo>
                    <a:pt x="151" y="851"/>
                  </a:lnTo>
                  <a:lnTo>
                    <a:pt x="131" y="847"/>
                  </a:lnTo>
                  <a:lnTo>
                    <a:pt x="110" y="839"/>
                  </a:lnTo>
                  <a:lnTo>
                    <a:pt x="86" y="827"/>
                  </a:lnTo>
                  <a:lnTo>
                    <a:pt x="56" y="808"/>
                  </a:lnTo>
                  <a:lnTo>
                    <a:pt x="34" y="789"/>
                  </a:lnTo>
                  <a:lnTo>
                    <a:pt x="18" y="764"/>
                  </a:lnTo>
                  <a:lnTo>
                    <a:pt x="8" y="738"/>
                  </a:lnTo>
                  <a:lnTo>
                    <a:pt x="3" y="708"/>
                  </a:lnTo>
                  <a:lnTo>
                    <a:pt x="0" y="678"/>
                  </a:lnTo>
                  <a:lnTo>
                    <a:pt x="3" y="649"/>
                  </a:lnTo>
                  <a:lnTo>
                    <a:pt x="8" y="619"/>
                  </a:lnTo>
                  <a:lnTo>
                    <a:pt x="15" y="590"/>
                  </a:lnTo>
                  <a:lnTo>
                    <a:pt x="22" y="564"/>
                  </a:lnTo>
                  <a:lnTo>
                    <a:pt x="35" y="541"/>
                  </a:lnTo>
                  <a:lnTo>
                    <a:pt x="52" y="520"/>
                  </a:lnTo>
                  <a:lnTo>
                    <a:pt x="70" y="501"/>
                  </a:lnTo>
                  <a:lnTo>
                    <a:pt x="90" y="482"/>
                  </a:lnTo>
                  <a:lnTo>
                    <a:pt x="110" y="462"/>
                  </a:lnTo>
                  <a:lnTo>
                    <a:pt x="131" y="441"/>
                  </a:lnTo>
                  <a:lnTo>
                    <a:pt x="149" y="419"/>
                  </a:lnTo>
                  <a:lnTo>
                    <a:pt x="166" y="392"/>
                  </a:lnTo>
                  <a:lnTo>
                    <a:pt x="183" y="366"/>
                  </a:lnTo>
                  <a:lnTo>
                    <a:pt x="200" y="342"/>
                  </a:lnTo>
                  <a:lnTo>
                    <a:pt x="217" y="316"/>
                  </a:lnTo>
                  <a:lnTo>
                    <a:pt x="232" y="290"/>
                  </a:lnTo>
                  <a:lnTo>
                    <a:pt x="248" y="265"/>
                  </a:lnTo>
                  <a:lnTo>
                    <a:pt x="263" y="239"/>
                  </a:lnTo>
                  <a:lnTo>
                    <a:pt x="279" y="212"/>
                  </a:lnTo>
                  <a:lnTo>
                    <a:pt x="292" y="187"/>
                  </a:lnTo>
                  <a:lnTo>
                    <a:pt x="308" y="156"/>
                  </a:lnTo>
                  <a:lnTo>
                    <a:pt x="327" y="123"/>
                  </a:lnTo>
                  <a:lnTo>
                    <a:pt x="346" y="89"/>
                  </a:lnTo>
                  <a:lnTo>
                    <a:pt x="365" y="58"/>
                  </a:lnTo>
                  <a:lnTo>
                    <a:pt x="384" y="31"/>
                  </a:lnTo>
                  <a:lnTo>
                    <a:pt x="400" y="13"/>
                  </a:lnTo>
                  <a:lnTo>
                    <a:pt x="413" y="5"/>
                  </a:lnTo>
                  <a:close/>
                </a:path>
              </a:pathLst>
            </a:custGeom>
            <a:solidFill>
              <a:srgbClr val="FFFFD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 name="Freeform 6"/>
            <p:cNvSpPr>
              <a:spLocks/>
            </p:cNvSpPr>
            <p:nvPr/>
          </p:nvSpPr>
          <p:spPr bwMode="auto">
            <a:xfrm>
              <a:off x="1356" y="2554"/>
              <a:ext cx="1055" cy="891"/>
            </a:xfrm>
            <a:custGeom>
              <a:avLst/>
              <a:gdLst>
                <a:gd name="T0" fmla="*/ 1013 w 1055"/>
                <a:gd name="T1" fmla="*/ 247 h 891"/>
                <a:gd name="T2" fmla="*/ 1007 w 1055"/>
                <a:gd name="T3" fmla="*/ 242 h 891"/>
                <a:gd name="T4" fmla="*/ 986 w 1055"/>
                <a:gd name="T5" fmla="*/ 227 h 891"/>
                <a:gd name="T6" fmla="*/ 963 w 1055"/>
                <a:gd name="T7" fmla="*/ 215 h 891"/>
                <a:gd name="T8" fmla="*/ 962 w 1055"/>
                <a:gd name="T9" fmla="*/ 189 h 891"/>
                <a:gd name="T10" fmla="*/ 947 w 1055"/>
                <a:gd name="T11" fmla="*/ 157 h 891"/>
                <a:gd name="T12" fmla="*/ 918 w 1055"/>
                <a:gd name="T13" fmla="*/ 145 h 891"/>
                <a:gd name="T14" fmla="*/ 861 w 1055"/>
                <a:gd name="T15" fmla="*/ 131 h 891"/>
                <a:gd name="T16" fmla="*/ 804 w 1055"/>
                <a:gd name="T17" fmla="*/ 118 h 891"/>
                <a:gd name="T18" fmla="*/ 749 w 1055"/>
                <a:gd name="T19" fmla="*/ 105 h 891"/>
                <a:gd name="T20" fmla="*/ 707 w 1055"/>
                <a:gd name="T21" fmla="*/ 95 h 891"/>
                <a:gd name="T22" fmla="*/ 665 w 1055"/>
                <a:gd name="T23" fmla="*/ 82 h 891"/>
                <a:gd name="T24" fmla="*/ 622 w 1055"/>
                <a:gd name="T25" fmla="*/ 65 h 891"/>
                <a:gd name="T26" fmla="*/ 572 w 1055"/>
                <a:gd name="T27" fmla="*/ 43 h 891"/>
                <a:gd name="T28" fmla="*/ 516 w 1055"/>
                <a:gd name="T29" fmla="*/ 21 h 891"/>
                <a:gd name="T30" fmla="*/ 465 w 1055"/>
                <a:gd name="T31" fmla="*/ 5 h 891"/>
                <a:gd name="T32" fmla="*/ 423 w 1055"/>
                <a:gd name="T33" fmla="*/ 0 h 891"/>
                <a:gd name="T34" fmla="*/ 387 w 1055"/>
                <a:gd name="T35" fmla="*/ 18 h 891"/>
                <a:gd name="T36" fmla="*/ 343 w 1055"/>
                <a:gd name="T37" fmla="*/ 69 h 891"/>
                <a:gd name="T38" fmla="*/ 304 w 1055"/>
                <a:gd name="T39" fmla="*/ 124 h 891"/>
                <a:gd name="T40" fmla="*/ 266 w 1055"/>
                <a:gd name="T41" fmla="*/ 175 h 891"/>
                <a:gd name="T42" fmla="*/ 230 w 1055"/>
                <a:gd name="T43" fmla="*/ 223 h 891"/>
                <a:gd name="T44" fmla="*/ 198 w 1055"/>
                <a:gd name="T45" fmla="*/ 273 h 891"/>
                <a:gd name="T46" fmla="*/ 127 w 1055"/>
                <a:gd name="T47" fmla="*/ 384 h 891"/>
                <a:gd name="T48" fmla="*/ 36 w 1055"/>
                <a:gd name="T49" fmla="*/ 513 h 891"/>
                <a:gd name="T50" fmla="*/ 0 w 1055"/>
                <a:gd name="T51" fmla="*/ 578 h 891"/>
                <a:gd name="T52" fmla="*/ 9 w 1055"/>
                <a:gd name="T53" fmla="*/ 624 h 891"/>
                <a:gd name="T54" fmla="*/ 17 w 1055"/>
                <a:gd name="T55" fmla="*/ 648 h 891"/>
                <a:gd name="T56" fmla="*/ 33 w 1055"/>
                <a:gd name="T57" fmla="*/ 688 h 891"/>
                <a:gd name="T58" fmla="*/ 53 w 1055"/>
                <a:gd name="T59" fmla="*/ 709 h 891"/>
                <a:gd name="T60" fmla="*/ 101 w 1055"/>
                <a:gd name="T61" fmla="*/ 729 h 891"/>
                <a:gd name="T62" fmla="*/ 149 w 1055"/>
                <a:gd name="T63" fmla="*/ 749 h 891"/>
                <a:gd name="T64" fmla="*/ 198 w 1055"/>
                <a:gd name="T65" fmla="*/ 767 h 891"/>
                <a:gd name="T66" fmla="*/ 247 w 1055"/>
                <a:gd name="T67" fmla="*/ 785 h 891"/>
                <a:gd name="T68" fmla="*/ 295 w 1055"/>
                <a:gd name="T69" fmla="*/ 803 h 891"/>
                <a:gd name="T70" fmla="*/ 347 w 1055"/>
                <a:gd name="T71" fmla="*/ 825 h 891"/>
                <a:gd name="T72" fmla="*/ 400 w 1055"/>
                <a:gd name="T73" fmla="*/ 847 h 891"/>
                <a:gd name="T74" fmla="*/ 453 w 1055"/>
                <a:gd name="T75" fmla="*/ 867 h 891"/>
                <a:gd name="T76" fmla="*/ 531 w 1055"/>
                <a:gd name="T77" fmla="*/ 887 h 891"/>
                <a:gd name="T78" fmla="*/ 610 w 1055"/>
                <a:gd name="T79" fmla="*/ 887 h 891"/>
                <a:gd name="T80" fmla="*/ 669 w 1055"/>
                <a:gd name="T81" fmla="*/ 851 h 891"/>
                <a:gd name="T82" fmla="*/ 721 w 1055"/>
                <a:gd name="T83" fmla="*/ 790 h 891"/>
                <a:gd name="T84" fmla="*/ 780 w 1055"/>
                <a:gd name="T85" fmla="*/ 707 h 891"/>
                <a:gd name="T86" fmla="*/ 839 w 1055"/>
                <a:gd name="T87" fmla="*/ 622 h 891"/>
                <a:gd name="T88" fmla="*/ 887 w 1055"/>
                <a:gd name="T89" fmla="*/ 549 h 891"/>
                <a:gd name="T90" fmla="*/ 915 w 1055"/>
                <a:gd name="T91" fmla="*/ 508 h 891"/>
                <a:gd name="T92" fmla="*/ 978 w 1055"/>
                <a:gd name="T93" fmla="*/ 426 h 891"/>
                <a:gd name="T94" fmla="*/ 1038 w 1055"/>
                <a:gd name="T95" fmla="*/ 349 h 891"/>
                <a:gd name="T96" fmla="*/ 1055 w 1055"/>
                <a:gd name="T97" fmla="*/ 312 h 891"/>
                <a:gd name="T98" fmla="*/ 1048 w 1055"/>
                <a:gd name="T99" fmla="*/ 277 h 891"/>
                <a:gd name="T100" fmla="*/ 1025 w 1055"/>
                <a:gd name="T101" fmla="*/ 254 h 8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55"/>
                <a:gd name="T154" fmla="*/ 0 h 891"/>
                <a:gd name="T155" fmla="*/ 1055 w 1055"/>
                <a:gd name="T156" fmla="*/ 891 h 8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55" h="891">
                  <a:moveTo>
                    <a:pt x="1013" y="249"/>
                  </a:moveTo>
                  <a:lnTo>
                    <a:pt x="1013" y="247"/>
                  </a:lnTo>
                  <a:lnTo>
                    <a:pt x="1007" y="242"/>
                  </a:lnTo>
                  <a:lnTo>
                    <a:pt x="1000" y="237"/>
                  </a:lnTo>
                  <a:lnTo>
                    <a:pt x="993" y="232"/>
                  </a:lnTo>
                  <a:lnTo>
                    <a:pt x="986" y="227"/>
                  </a:lnTo>
                  <a:lnTo>
                    <a:pt x="978" y="223"/>
                  </a:lnTo>
                  <a:lnTo>
                    <a:pt x="971" y="219"/>
                  </a:lnTo>
                  <a:lnTo>
                    <a:pt x="963" y="215"/>
                  </a:lnTo>
                  <a:lnTo>
                    <a:pt x="955" y="213"/>
                  </a:lnTo>
                  <a:lnTo>
                    <a:pt x="960" y="201"/>
                  </a:lnTo>
                  <a:lnTo>
                    <a:pt x="962" y="189"/>
                  </a:lnTo>
                  <a:lnTo>
                    <a:pt x="960" y="176"/>
                  </a:lnTo>
                  <a:lnTo>
                    <a:pt x="955" y="165"/>
                  </a:lnTo>
                  <a:lnTo>
                    <a:pt x="947" y="157"/>
                  </a:lnTo>
                  <a:lnTo>
                    <a:pt x="938" y="152"/>
                  </a:lnTo>
                  <a:lnTo>
                    <a:pt x="928" y="148"/>
                  </a:lnTo>
                  <a:lnTo>
                    <a:pt x="918" y="145"/>
                  </a:lnTo>
                  <a:lnTo>
                    <a:pt x="898" y="140"/>
                  </a:lnTo>
                  <a:lnTo>
                    <a:pt x="879" y="135"/>
                  </a:lnTo>
                  <a:lnTo>
                    <a:pt x="861" y="131"/>
                  </a:lnTo>
                  <a:lnTo>
                    <a:pt x="841" y="127"/>
                  </a:lnTo>
                  <a:lnTo>
                    <a:pt x="823" y="122"/>
                  </a:lnTo>
                  <a:lnTo>
                    <a:pt x="804" y="118"/>
                  </a:lnTo>
                  <a:lnTo>
                    <a:pt x="784" y="114"/>
                  </a:lnTo>
                  <a:lnTo>
                    <a:pt x="765" y="109"/>
                  </a:lnTo>
                  <a:lnTo>
                    <a:pt x="749" y="105"/>
                  </a:lnTo>
                  <a:lnTo>
                    <a:pt x="735" y="102"/>
                  </a:lnTo>
                  <a:lnTo>
                    <a:pt x="721" y="99"/>
                  </a:lnTo>
                  <a:lnTo>
                    <a:pt x="707" y="95"/>
                  </a:lnTo>
                  <a:lnTo>
                    <a:pt x="692" y="91"/>
                  </a:lnTo>
                  <a:lnTo>
                    <a:pt x="678" y="87"/>
                  </a:lnTo>
                  <a:lnTo>
                    <a:pt x="665" y="82"/>
                  </a:lnTo>
                  <a:lnTo>
                    <a:pt x="651" y="77"/>
                  </a:lnTo>
                  <a:lnTo>
                    <a:pt x="638" y="71"/>
                  </a:lnTo>
                  <a:lnTo>
                    <a:pt x="622" y="65"/>
                  </a:lnTo>
                  <a:lnTo>
                    <a:pt x="607" y="57"/>
                  </a:lnTo>
                  <a:lnTo>
                    <a:pt x="589" y="51"/>
                  </a:lnTo>
                  <a:lnTo>
                    <a:pt x="572" y="43"/>
                  </a:lnTo>
                  <a:lnTo>
                    <a:pt x="553" y="35"/>
                  </a:lnTo>
                  <a:lnTo>
                    <a:pt x="534" y="29"/>
                  </a:lnTo>
                  <a:lnTo>
                    <a:pt x="516" y="21"/>
                  </a:lnTo>
                  <a:lnTo>
                    <a:pt x="498" y="16"/>
                  </a:lnTo>
                  <a:lnTo>
                    <a:pt x="481" y="10"/>
                  </a:lnTo>
                  <a:lnTo>
                    <a:pt x="465" y="5"/>
                  </a:lnTo>
                  <a:lnTo>
                    <a:pt x="449" y="3"/>
                  </a:lnTo>
                  <a:lnTo>
                    <a:pt x="435" y="0"/>
                  </a:lnTo>
                  <a:lnTo>
                    <a:pt x="423" y="0"/>
                  </a:lnTo>
                  <a:lnTo>
                    <a:pt x="413" y="1"/>
                  </a:lnTo>
                  <a:lnTo>
                    <a:pt x="405" y="5"/>
                  </a:lnTo>
                  <a:lnTo>
                    <a:pt x="387" y="18"/>
                  </a:lnTo>
                  <a:lnTo>
                    <a:pt x="371" y="34"/>
                  </a:lnTo>
                  <a:lnTo>
                    <a:pt x="357" y="51"/>
                  </a:lnTo>
                  <a:lnTo>
                    <a:pt x="343" y="69"/>
                  </a:lnTo>
                  <a:lnTo>
                    <a:pt x="330" y="88"/>
                  </a:lnTo>
                  <a:lnTo>
                    <a:pt x="317" y="106"/>
                  </a:lnTo>
                  <a:lnTo>
                    <a:pt x="304" y="124"/>
                  </a:lnTo>
                  <a:lnTo>
                    <a:pt x="291" y="143"/>
                  </a:lnTo>
                  <a:lnTo>
                    <a:pt x="278" y="159"/>
                  </a:lnTo>
                  <a:lnTo>
                    <a:pt x="266" y="175"/>
                  </a:lnTo>
                  <a:lnTo>
                    <a:pt x="254" y="190"/>
                  </a:lnTo>
                  <a:lnTo>
                    <a:pt x="242" y="206"/>
                  </a:lnTo>
                  <a:lnTo>
                    <a:pt x="230" y="223"/>
                  </a:lnTo>
                  <a:lnTo>
                    <a:pt x="219" y="238"/>
                  </a:lnTo>
                  <a:lnTo>
                    <a:pt x="208" y="255"/>
                  </a:lnTo>
                  <a:lnTo>
                    <a:pt x="198" y="273"/>
                  </a:lnTo>
                  <a:lnTo>
                    <a:pt x="181" y="303"/>
                  </a:lnTo>
                  <a:lnTo>
                    <a:pt x="156" y="341"/>
                  </a:lnTo>
                  <a:lnTo>
                    <a:pt x="127" y="384"/>
                  </a:lnTo>
                  <a:lnTo>
                    <a:pt x="96" y="429"/>
                  </a:lnTo>
                  <a:lnTo>
                    <a:pt x="65" y="473"/>
                  </a:lnTo>
                  <a:lnTo>
                    <a:pt x="36" y="513"/>
                  </a:lnTo>
                  <a:lnTo>
                    <a:pt x="14" y="545"/>
                  </a:lnTo>
                  <a:lnTo>
                    <a:pt x="0" y="567"/>
                  </a:lnTo>
                  <a:lnTo>
                    <a:pt x="0" y="578"/>
                  </a:lnTo>
                  <a:lnTo>
                    <a:pt x="4" y="597"/>
                  </a:lnTo>
                  <a:lnTo>
                    <a:pt x="8" y="615"/>
                  </a:lnTo>
                  <a:lnTo>
                    <a:pt x="9" y="624"/>
                  </a:lnTo>
                  <a:lnTo>
                    <a:pt x="10" y="628"/>
                  </a:lnTo>
                  <a:lnTo>
                    <a:pt x="13" y="637"/>
                  </a:lnTo>
                  <a:lnTo>
                    <a:pt x="17" y="648"/>
                  </a:lnTo>
                  <a:lnTo>
                    <a:pt x="22" y="661"/>
                  </a:lnTo>
                  <a:lnTo>
                    <a:pt x="27" y="675"/>
                  </a:lnTo>
                  <a:lnTo>
                    <a:pt x="33" y="688"/>
                  </a:lnTo>
                  <a:lnTo>
                    <a:pt x="40" y="698"/>
                  </a:lnTo>
                  <a:lnTo>
                    <a:pt x="48" y="706"/>
                  </a:lnTo>
                  <a:lnTo>
                    <a:pt x="53" y="709"/>
                  </a:lnTo>
                  <a:lnTo>
                    <a:pt x="68" y="716"/>
                  </a:lnTo>
                  <a:lnTo>
                    <a:pt x="85" y="723"/>
                  </a:lnTo>
                  <a:lnTo>
                    <a:pt x="101" y="729"/>
                  </a:lnTo>
                  <a:lnTo>
                    <a:pt x="116" y="737"/>
                  </a:lnTo>
                  <a:lnTo>
                    <a:pt x="133" y="744"/>
                  </a:lnTo>
                  <a:lnTo>
                    <a:pt x="149" y="749"/>
                  </a:lnTo>
                  <a:lnTo>
                    <a:pt x="166" y="755"/>
                  </a:lnTo>
                  <a:lnTo>
                    <a:pt x="181" y="762"/>
                  </a:lnTo>
                  <a:lnTo>
                    <a:pt x="198" y="767"/>
                  </a:lnTo>
                  <a:lnTo>
                    <a:pt x="213" y="773"/>
                  </a:lnTo>
                  <a:lnTo>
                    <a:pt x="230" y="780"/>
                  </a:lnTo>
                  <a:lnTo>
                    <a:pt x="247" y="785"/>
                  </a:lnTo>
                  <a:lnTo>
                    <a:pt x="263" y="792"/>
                  </a:lnTo>
                  <a:lnTo>
                    <a:pt x="279" y="797"/>
                  </a:lnTo>
                  <a:lnTo>
                    <a:pt x="295" y="803"/>
                  </a:lnTo>
                  <a:lnTo>
                    <a:pt x="312" y="810"/>
                  </a:lnTo>
                  <a:lnTo>
                    <a:pt x="330" y="817"/>
                  </a:lnTo>
                  <a:lnTo>
                    <a:pt x="347" y="825"/>
                  </a:lnTo>
                  <a:lnTo>
                    <a:pt x="365" y="833"/>
                  </a:lnTo>
                  <a:lnTo>
                    <a:pt x="382" y="839"/>
                  </a:lnTo>
                  <a:lnTo>
                    <a:pt x="400" y="847"/>
                  </a:lnTo>
                  <a:lnTo>
                    <a:pt x="417" y="855"/>
                  </a:lnTo>
                  <a:lnTo>
                    <a:pt x="435" y="861"/>
                  </a:lnTo>
                  <a:lnTo>
                    <a:pt x="453" y="867"/>
                  </a:lnTo>
                  <a:lnTo>
                    <a:pt x="479" y="874"/>
                  </a:lnTo>
                  <a:lnTo>
                    <a:pt x="505" y="881"/>
                  </a:lnTo>
                  <a:lnTo>
                    <a:pt x="531" y="887"/>
                  </a:lnTo>
                  <a:lnTo>
                    <a:pt x="558" y="891"/>
                  </a:lnTo>
                  <a:lnTo>
                    <a:pt x="584" y="891"/>
                  </a:lnTo>
                  <a:lnTo>
                    <a:pt x="610" y="887"/>
                  </a:lnTo>
                  <a:lnTo>
                    <a:pt x="633" y="880"/>
                  </a:lnTo>
                  <a:lnTo>
                    <a:pt x="656" y="864"/>
                  </a:lnTo>
                  <a:lnTo>
                    <a:pt x="669" y="851"/>
                  </a:lnTo>
                  <a:lnTo>
                    <a:pt x="685" y="834"/>
                  </a:lnTo>
                  <a:lnTo>
                    <a:pt x="701" y="814"/>
                  </a:lnTo>
                  <a:lnTo>
                    <a:pt x="721" y="790"/>
                  </a:lnTo>
                  <a:lnTo>
                    <a:pt x="740" y="764"/>
                  </a:lnTo>
                  <a:lnTo>
                    <a:pt x="760" y="736"/>
                  </a:lnTo>
                  <a:lnTo>
                    <a:pt x="780" y="707"/>
                  </a:lnTo>
                  <a:lnTo>
                    <a:pt x="800" y="678"/>
                  </a:lnTo>
                  <a:lnTo>
                    <a:pt x="819" y="649"/>
                  </a:lnTo>
                  <a:lnTo>
                    <a:pt x="839" y="622"/>
                  </a:lnTo>
                  <a:lnTo>
                    <a:pt x="857" y="595"/>
                  </a:lnTo>
                  <a:lnTo>
                    <a:pt x="872" y="570"/>
                  </a:lnTo>
                  <a:lnTo>
                    <a:pt x="887" y="549"/>
                  </a:lnTo>
                  <a:lnTo>
                    <a:pt x="899" y="531"/>
                  </a:lnTo>
                  <a:lnTo>
                    <a:pt x="909" y="517"/>
                  </a:lnTo>
                  <a:lnTo>
                    <a:pt x="915" y="508"/>
                  </a:lnTo>
                  <a:lnTo>
                    <a:pt x="933" y="483"/>
                  </a:lnTo>
                  <a:lnTo>
                    <a:pt x="955" y="456"/>
                  </a:lnTo>
                  <a:lnTo>
                    <a:pt x="978" y="426"/>
                  </a:lnTo>
                  <a:lnTo>
                    <a:pt x="1000" y="396"/>
                  </a:lnTo>
                  <a:lnTo>
                    <a:pt x="1021" y="371"/>
                  </a:lnTo>
                  <a:lnTo>
                    <a:pt x="1038" y="349"/>
                  </a:lnTo>
                  <a:lnTo>
                    <a:pt x="1050" y="333"/>
                  </a:lnTo>
                  <a:lnTo>
                    <a:pt x="1053" y="325"/>
                  </a:lnTo>
                  <a:lnTo>
                    <a:pt x="1055" y="312"/>
                  </a:lnTo>
                  <a:lnTo>
                    <a:pt x="1055" y="301"/>
                  </a:lnTo>
                  <a:lnTo>
                    <a:pt x="1052" y="289"/>
                  </a:lnTo>
                  <a:lnTo>
                    <a:pt x="1048" y="277"/>
                  </a:lnTo>
                  <a:lnTo>
                    <a:pt x="1042" y="268"/>
                  </a:lnTo>
                  <a:lnTo>
                    <a:pt x="1034" y="260"/>
                  </a:lnTo>
                  <a:lnTo>
                    <a:pt x="1025" y="254"/>
                  </a:lnTo>
                  <a:lnTo>
                    <a:pt x="1013" y="2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 name="Freeform 7"/>
            <p:cNvSpPr>
              <a:spLocks/>
            </p:cNvSpPr>
            <p:nvPr/>
          </p:nvSpPr>
          <p:spPr bwMode="auto">
            <a:xfrm>
              <a:off x="2158" y="2782"/>
              <a:ext cx="151" cy="211"/>
            </a:xfrm>
            <a:custGeom>
              <a:avLst/>
              <a:gdLst>
                <a:gd name="T0" fmla="*/ 151 w 151"/>
                <a:gd name="T1" fmla="*/ 27 h 211"/>
                <a:gd name="T2" fmla="*/ 148 w 151"/>
                <a:gd name="T3" fmla="*/ 32 h 211"/>
                <a:gd name="T4" fmla="*/ 141 w 151"/>
                <a:gd name="T5" fmla="*/ 42 h 211"/>
                <a:gd name="T6" fmla="*/ 131 w 151"/>
                <a:gd name="T7" fmla="*/ 54 h 211"/>
                <a:gd name="T8" fmla="*/ 118 w 151"/>
                <a:gd name="T9" fmla="*/ 69 h 211"/>
                <a:gd name="T10" fmla="*/ 105 w 151"/>
                <a:gd name="T11" fmla="*/ 83 h 211"/>
                <a:gd name="T12" fmla="*/ 95 w 151"/>
                <a:gd name="T13" fmla="*/ 96 h 211"/>
                <a:gd name="T14" fmla="*/ 88 w 151"/>
                <a:gd name="T15" fmla="*/ 105 h 211"/>
                <a:gd name="T16" fmla="*/ 86 w 151"/>
                <a:gd name="T17" fmla="*/ 109 h 211"/>
                <a:gd name="T18" fmla="*/ 87 w 151"/>
                <a:gd name="T19" fmla="*/ 110 h 211"/>
                <a:gd name="T20" fmla="*/ 91 w 151"/>
                <a:gd name="T21" fmla="*/ 113 h 211"/>
                <a:gd name="T22" fmla="*/ 96 w 151"/>
                <a:gd name="T23" fmla="*/ 117 h 211"/>
                <a:gd name="T24" fmla="*/ 104 w 151"/>
                <a:gd name="T25" fmla="*/ 121 h 211"/>
                <a:gd name="T26" fmla="*/ 113 w 151"/>
                <a:gd name="T27" fmla="*/ 126 h 211"/>
                <a:gd name="T28" fmla="*/ 122 w 151"/>
                <a:gd name="T29" fmla="*/ 130 h 211"/>
                <a:gd name="T30" fmla="*/ 131 w 151"/>
                <a:gd name="T31" fmla="*/ 132 h 211"/>
                <a:gd name="T32" fmla="*/ 141 w 151"/>
                <a:gd name="T33" fmla="*/ 132 h 211"/>
                <a:gd name="T34" fmla="*/ 134 w 151"/>
                <a:gd name="T35" fmla="*/ 137 h 211"/>
                <a:gd name="T36" fmla="*/ 126 w 151"/>
                <a:gd name="T37" fmla="*/ 144 h 211"/>
                <a:gd name="T38" fmla="*/ 119 w 151"/>
                <a:gd name="T39" fmla="*/ 152 h 211"/>
                <a:gd name="T40" fmla="*/ 113 w 151"/>
                <a:gd name="T41" fmla="*/ 159 h 211"/>
                <a:gd name="T42" fmla="*/ 109 w 151"/>
                <a:gd name="T43" fmla="*/ 154 h 211"/>
                <a:gd name="T44" fmla="*/ 105 w 151"/>
                <a:gd name="T45" fmla="*/ 145 h 211"/>
                <a:gd name="T46" fmla="*/ 100 w 151"/>
                <a:gd name="T47" fmla="*/ 136 h 211"/>
                <a:gd name="T48" fmla="*/ 99 w 151"/>
                <a:gd name="T49" fmla="*/ 132 h 211"/>
                <a:gd name="T50" fmla="*/ 95 w 151"/>
                <a:gd name="T51" fmla="*/ 135 h 211"/>
                <a:gd name="T52" fmla="*/ 87 w 151"/>
                <a:gd name="T53" fmla="*/ 144 h 211"/>
                <a:gd name="T54" fmla="*/ 75 w 151"/>
                <a:gd name="T55" fmla="*/ 157 h 211"/>
                <a:gd name="T56" fmla="*/ 64 w 151"/>
                <a:gd name="T57" fmla="*/ 171 h 211"/>
                <a:gd name="T58" fmla="*/ 51 w 151"/>
                <a:gd name="T59" fmla="*/ 185 h 211"/>
                <a:gd name="T60" fmla="*/ 41 w 151"/>
                <a:gd name="T61" fmla="*/ 198 h 211"/>
                <a:gd name="T62" fmla="*/ 33 w 151"/>
                <a:gd name="T63" fmla="*/ 207 h 211"/>
                <a:gd name="T64" fmla="*/ 30 w 151"/>
                <a:gd name="T65" fmla="*/ 211 h 211"/>
                <a:gd name="T66" fmla="*/ 20 w 151"/>
                <a:gd name="T67" fmla="*/ 201 h 211"/>
                <a:gd name="T68" fmla="*/ 11 w 151"/>
                <a:gd name="T69" fmla="*/ 192 h 211"/>
                <a:gd name="T70" fmla="*/ 3 w 151"/>
                <a:gd name="T71" fmla="*/ 184 h 211"/>
                <a:gd name="T72" fmla="*/ 0 w 151"/>
                <a:gd name="T73" fmla="*/ 180 h 211"/>
                <a:gd name="T74" fmla="*/ 17 w 151"/>
                <a:gd name="T75" fmla="*/ 163 h 211"/>
                <a:gd name="T76" fmla="*/ 37 w 151"/>
                <a:gd name="T77" fmla="*/ 139 h 211"/>
                <a:gd name="T78" fmla="*/ 57 w 151"/>
                <a:gd name="T79" fmla="*/ 111 h 211"/>
                <a:gd name="T80" fmla="*/ 79 w 151"/>
                <a:gd name="T81" fmla="*/ 83 h 211"/>
                <a:gd name="T82" fmla="*/ 100 w 151"/>
                <a:gd name="T83" fmla="*/ 56 h 211"/>
                <a:gd name="T84" fmla="*/ 118 w 151"/>
                <a:gd name="T85" fmla="*/ 31 h 211"/>
                <a:gd name="T86" fmla="*/ 132 w 151"/>
                <a:gd name="T87" fmla="*/ 12 h 211"/>
                <a:gd name="T88" fmla="*/ 141 w 151"/>
                <a:gd name="T89" fmla="*/ 0 h 211"/>
                <a:gd name="T90" fmla="*/ 144 w 151"/>
                <a:gd name="T91" fmla="*/ 7 h 211"/>
                <a:gd name="T92" fmla="*/ 145 w 151"/>
                <a:gd name="T93" fmla="*/ 13 h 211"/>
                <a:gd name="T94" fmla="*/ 148 w 151"/>
                <a:gd name="T95" fmla="*/ 21 h 211"/>
                <a:gd name="T96" fmla="*/ 151 w 151"/>
                <a:gd name="T97" fmla="*/ 27 h 21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51"/>
                <a:gd name="T148" fmla="*/ 0 h 211"/>
                <a:gd name="T149" fmla="*/ 151 w 151"/>
                <a:gd name="T150" fmla="*/ 211 h 21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51" h="211">
                  <a:moveTo>
                    <a:pt x="151" y="27"/>
                  </a:moveTo>
                  <a:lnTo>
                    <a:pt x="148" y="32"/>
                  </a:lnTo>
                  <a:lnTo>
                    <a:pt x="141" y="42"/>
                  </a:lnTo>
                  <a:lnTo>
                    <a:pt x="131" y="54"/>
                  </a:lnTo>
                  <a:lnTo>
                    <a:pt x="118" y="69"/>
                  </a:lnTo>
                  <a:lnTo>
                    <a:pt x="105" y="83"/>
                  </a:lnTo>
                  <a:lnTo>
                    <a:pt x="95" y="96"/>
                  </a:lnTo>
                  <a:lnTo>
                    <a:pt x="88" y="105"/>
                  </a:lnTo>
                  <a:lnTo>
                    <a:pt x="86" y="109"/>
                  </a:lnTo>
                  <a:lnTo>
                    <a:pt x="87" y="110"/>
                  </a:lnTo>
                  <a:lnTo>
                    <a:pt x="91" y="113"/>
                  </a:lnTo>
                  <a:lnTo>
                    <a:pt x="96" y="117"/>
                  </a:lnTo>
                  <a:lnTo>
                    <a:pt x="104" y="121"/>
                  </a:lnTo>
                  <a:lnTo>
                    <a:pt x="113" y="126"/>
                  </a:lnTo>
                  <a:lnTo>
                    <a:pt x="122" y="130"/>
                  </a:lnTo>
                  <a:lnTo>
                    <a:pt x="131" y="132"/>
                  </a:lnTo>
                  <a:lnTo>
                    <a:pt x="141" y="132"/>
                  </a:lnTo>
                  <a:lnTo>
                    <a:pt x="134" y="137"/>
                  </a:lnTo>
                  <a:lnTo>
                    <a:pt x="126" y="144"/>
                  </a:lnTo>
                  <a:lnTo>
                    <a:pt x="119" y="152"/>
                  </a:lnTo>
                  <a:lnTo>
                    <a:pt x="113" y="159"/>
                  </a:lnTo>
                  <a:lnTo>
                    <a:pt x="109" y="154"/>
                  </a:lnTo>
                  <a:lnTo>
                    <a:pt x="105" y="145"/>
                  </a:lnTo>
                  <a:lnTo>
                    <a:pt x="100" y="136"/>
                  </a:lnTo>
                  <a:lnTo>
                    <a:pt x="99" y="132"/>
                  </a:lnTo>
                  <a:lnTo>
                    <a:pt x="95" y="135"/>
                  </a:lnTo>
                  <a:lnTo>
                    <a:pt x="87" y="144"/>
                  </a:lnTo>
                  <a:lnTo>
                    <a:pt x="75" y="157"/>
                  </a:lnTo>
                  <a:lnTo>
                    <a:pt x="64" y="171"/>
                  </a:lnTo>
                  <a:lnTo>
                    <a:pt x="51" y="185"/>
                  </a:lnTo>
                  <a:lnTo>
                    <a:pt x="41" y="198"/>
                  </a:lnTo>
                  <a:lnTo>
                    <a:pt x="33" y="207"/>
                  </a:lnTo>
                  <a:lnTo>
                    <a:pt x="30" y="211"/>
                  </a:lnTo>
                  <a:lnTo>
                    <a:pt x="20" y="201"/>
                  </a:lnTo>
                  <a:lnTo>
                    <a:pt x="11" y="192"/>
                  </a:lnTo>
                  <a:lnTo>
                    <a:pt x="3" y="184"/>
                  </a:lnTo>
                  <a:lnTo>
                    <a:pt x="0" y="180"/>
                  </a:lnTo>
                  <a:lnTo>
                    <a:pt x="17" y="163"/>
                  </a:lnTo>
                  <a:lnTo>
                    <a:pt x="37" y="139"/>
                  </a:lnTo>
                  <a:lnTo>
                    <a:pt x="57" y="111"/>
                  </a:lnTo>
                  <a:lnTo>
                    <a:pt x="79" y="83"/>
                  </a:lnTo>
                  <a:lnTo>
                    <a:pt x="100" y="56"/>
                  </a:lnTo>
                  <a:lnTo>
                    <a:pt x="118" y="31"/>
                  </a:lnTo>
                  <a:lnTo>
                    <a:pt x="132" y="12"/>
                  </a:lnTo>
                  <a:lnTo>
                    <a:pt x="141" y="0"/>
                  </a:lnTo>
                  <a:lnTo>
                    <a:pt x="144" y="7"/>
                  </a:lnTo>
                  <a:lnTo>
                    <a:pt x="145" y="13"/>
                  </a:lnTo>
                  <a:lnTo>
                    <a:pt x="148" y="21"/>
                  </a:lnTo>
                  <a:lnTo>
                    <a:pt x="151" y="27"/>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 name="Freeform 8"/>
            <p:cNvSpPr>
              <a:spLocks/>
            </p:cNvSpPr>
            <p:nvPr/>
          </p:nvSpPr>
          <p:spPr bwMode="auto">
            <a:xfrm>
              <a:off x="2271" y="2834"/>
              <a:ext cx="58" cy="65"/>
            </a:xfrm>
            <a:custGeom>
              <a:avLst/>
              <a:gdLst>
                <a:gd name="T0" fmla="*/ 44 w 58"/>
                <a:gd name="T1" fmla="*/ 0 h 65"/>
                <a:gd name="T2" fmla="*/ 53 w 58"/>
                <a:gd name="T3" fmla="*/ 17 h 65"/>
                <a:gd name="T4" fmla="*/ 57 w 58"/>
                <a:gd name="T5" fmla="*/ 31 h 65"/>
                <a:gd name="T6" fmla="*/ 57 w 58"/>
                <a:gd name="T7" fmla="*/ 41 h 65"/>
                <a:gd name="T8" fmla="*/ 58 w 58"/>
                <a:gd name="T9" fmla="*/ 47 h 65"/>
                <a:gd name="T10" fmla="*/ 56 w 58"/>
                <a:gd name="T11" fmla="*/ 52 h 65"/>
                <a:gd name="T12" fmla="*/ 54 w 58"/>
                <a:gd name="T13" fmla="*/ 56 h 65"/>
                <a:gd name="T14" fmla="*/ 52 w 58"/>
                <a:gd name="T15" fmla="*/ 58 h 65"/>
                <a:gd name="T16" fmla="*/ 45 w 58"/>
                <a:gd name="T17" fmla="*/ 61 h 65"/>
                <a:gd name="T18" fmla="*/ 39 w 58"/>
                <a:gd name="T19" fmla="*/ 63 h 65"/>
                <a:gd name="T20" fmla="*/ 34 w 58"/>
                <a:gd name="T21" fmla="*/ 65 h 65"/>
                <a:gd name="T22" fmla="*/ 30 w 58"/>
                <a:gd name="T23" fmla="*/ 65 h 65"/>
                <a:gd name="T24" fmla="*/ 25 w 58"/>
                <a:gd name="T25" fmla="*/ 63 h 65"/>
                <a:gd name="T26" fmla="*/ 19 w 58"/>
                <a:gd name="T27" fmla="*/ 61 h 65"/>
                <a:gd name="T28" fmla="*/ 14 w 58"/>
                <a:gd name="T29" fmla="*/ 58 h 65"/>
                <a:gd name="T30" fmla="*/ 8 w 58"/>
                <a:gd name="T31" fmla="*/ 56 h 65"/>
                <a:gd name="T32" fmla="*/ 0 w 58"/>
                <a:gd name="T33" fmla="*/ 52 h 65"/>
                <a:gd name="T34" fmla="*/ 3 w 58"/>
                <a:gd name="T35" fmla="*/ 48 h 65"/>
                <a:gd name="T36" fmla="*/ 8 w 58"/>
                <a:gd name="T37" fmla="*/ 40 h 65"/>
                <a:gd name="T38" fmla="*/ 14 w 58"/>
                <a:gd name="T39" fmla="*/ 32 h 65"/>
                <a:gd name="T40" fmla="*/ 22 w 58"/>
                <a:gd name="T41" fmla="*/ 22 h 65"/>
                <a:gd name="T42" fmla="*/ 30 w 58"/>
                <a:gd name="T43" fmla="*/ 13 h 65"/>
                <a:gd name="T44" fmla="*/ 36 w 58"/>
                <a:gd name="T45" fmla="*/ 6 h 65"/>
                <a:gd name="T46" fmla="*/ 41 w 58"/>
                <a:gd name="T47" fmla="*/ 1 h 65"/>
                <a:gd name="T48" fmla="*/ 44 w 58"/>
                <a:gd name="T49" fmla="*/ 0 h 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8"/>
                <a:gd name="T76" fmla="*/ 0 h 65"/>
                <a:gd name="T77" fmla="*/ 58 w 58"/>
                <a:gd name="T78" fmla="*/ 65 h 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8" h="65">
                  <a:moveTo>
                    <a:pt x="44" y="0"/>
                  </a:moveTo>
                  <a:lnTo>
                    <a:pt x="53" y="17"/>
                  </a:lnTo>
                  <a:lnTo>
                    <a:pt x="57" y="31"/>
                  </a:lnTo>
                  <a:lnTo>
                    <a:pt x="57" y="41"/>
                  </a:lnTo>
                  <a:lnTo>
                    <a:pt x="58" y="47"/>
                  </a:lnTo>
                  <a:lnTo>
                    <a:pt x="56" y="52"/>
                  </a:lnTo>
                  <a:lnTo>
                    <a:pt x="54" y="56"/>
                  </a:lnTo>
                  <a:lnTo>
                    <a:pt x="52" y="58"/>
                  </a:lnTo>
                  <a:lnTo>
                    <a:pt x="45" y="61"/>
                  </a:lnTo>
                  <a:lnTo>
                    <a:pt x="39" y="63"/>
                  </a:lnTo>
                  <a:lnTo>
                    <a:pt x="34" y="65"/>
                  </a:lnTo>
                  <a:lnTo>
                    <a:pt x="30" y="65"/>
                  </a:lnTo>
                  <a:lnTo>
                    <a:pt x="25" y="63"/>
                  </a:lnTo>
                  <a:lnTo>
                    <a:pt x="19" y="61"/>
                  </a:lnTo>
                  <a:lnTo>
                    <a:pt x="14" y="58"/>
                  </a:lnTo>
                  <a:lnTo>
                    <a:pt x="8" y="56"/>
                  </a:lnTo>
                  <a:lnTo>
                    <a:pt x="0" y="52"/>
                  </a:lnTo>
                  <a:lnTo>
                    <a:pt x="3" y="48"/>
                  </a:lnTo>
                  <a:lnTo>
                    <a:pt x="8" y="40"/>
                  </a:lnTo>
                  <a:lnTo>
                    <a:pt x="14" y="32"/>
                  </a:lnTo>
                  <a:lnTo>
                    <a:pt x="22" y="22"/>
                  </a:lnTo>
                  <a:lnTo>
                    <a:pt x="30" y="13"/>
                  </a:lnTo>
                  <a:lnTo>
                    <a:pt x="36" y="6"/>
                  </a:lnTo>
                  <a:lnTo>
                    <a:pt x="41" y="1"/>
                  </a:lnTo>
                  <a:lnTo>
                    <a:pt x="44" y="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 name="Freeform 9"/>
            <p:cNvSpPr>
              <a:spLocks/>
            </p:cNvSpPr>
            <p:nvPr/>
          </p:nvSpPr>
          <p:spPr bwMode="auto">
            <a:xfrm>
              <a:off x="2201" y="3015"/>
              <a:ext cx="34" cy="24"/>
            </a:xfrm>
            <a:custGeom>
              <a:avLst/>
              <a:gdLst>
                <a:gd name="T0" fmla="*/ 34 w 34"/>
                <a:gd name="T1" fmla="*/ 3 h 24"/>
                <a:gd name="T2" fmla="*/ 29 w 34"/>
                <a:gd name="T3" fmla="*/ 7 h 24"/>
                <a:gd name="T4" fmla="*/ 23 w 34"/>
                <a:gd name="T5" fmla="*/ 12 h 24"/>
                <a:gd name="T6" fmla="*/ 20 w 34"/>
                <a:gd name="T7" fmla="*/ 18 h 24"/>
                <a:gd name="T8" fmla="*/ 16 w 34"/>
                <a:gd name="T9" fmla="*/ 24 h 24"/>
                <a:gd name="T10" fmla="*/ 12 w 34"/>
                <a:gd name="T11" fmla="*/ 17 h 24"/>
                <a:gd name="T12" fmla="*/ 8 w 34"/>
                <a:gd name="T13" fmla="*/ 12 h 24"/>
                <a:gd name="T14" fmla="*/ 4 w 34"/>
                <a:gd name="T15" fmla="*/ 5 h 24"/>
                <a:gd name="T16" fmla="*/ 0 w 34"/>
                <a:gd name="T17" fmla="*/ 0 h 24"/>
                <a:gd name="T18" fmla="*/ 8 w 34"/>
                <a:gd name="T19" fmla="*/ 3 h 24"/>
                <a:gd name="T20" fmla="*/ 17 w 34"/>
                <a:gd name="T21" fmla="*/ 3 h 24"/>
                <a:gd name="T22" fmla="*/ 25 w 34"/>
                <a:gd name="T23" fmla="*/ 4 h 24"/>
                <a:gd name="T24" fmla="*/ 34 w 34"/>
                <a:gd name="T25" fmla="*/ 3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24"/>
                <a:gd name="T41" fmla="*/ 34 w 34"/>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24">
                  <a:moveTo>
                    <a:pt x="34" y="3"/>
                  </a:moveTo>
                  <a:lnTo>
                    <a:pt x="29" y="7"/>
                  </a:lnTo>
                  <a:lnTo>
                    <a:pt x="23" y="12"/>
                  </a:lnTo>
                  <a:lnTo>
                    <a:pt x="20" y="18"/>
                  </a:lnTo>
                  <a:lnTo>
                    <a:pt x="16" y="24"/>
                  </a:lnTo>
                  <a:lnTo>
                    <a:pt x="12" y="17"/>
                  </a:lnTo>
                  <a:lnTo>
                    <a:pt x="8" y="12"/>
                  </a:lnTo>
                  <a:lnTo>
                    <a:pt x="4" y="5"/>
                  </a:lnTo>
                  <a:lnTo>
                    <a:pt x="0" y="0"/>
                  </a:lnTo>
                  <a:lnTo>
                    <a:pt x="8" y="3"/>
                  </a:lnTo>
                  <a:lnTo>
                    <a:pt x="17" y="3"/>
                  </a:lnTo>
                  <a:lnTo>
                    <a:pt x="25" y="4"/>
                  </a:lnTo>
                  <a:lnTo>
                    <a:pt x="34" y="3"/>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 name="Freeform 10"/>
            <p:cNvSpPr>
              <a:spLocks/>
            </p:cNvSpPr>
            <p:nvPr/>
          </p:nvSpPr>
          <p:spPr bwMode="auto">
            <a:xfrm>
              <a:off x="1392" y="2572"/>
              <a:ext cx="892" cy="726"/>
            </a:xfrm>
            <a:custGeom>
              <a:avLst/>
              <a:gdLst>
                <a:gd name="T0" fmla="*/ 199 w 892"/>
                <a:gd name="T1" fmla="*/ 233 h 726"/>
                <a:gd name="T2" fmla="*/ 232 w 892"/>
                <a:gd name="T3" fmla="*/ 192 h 726"/>
                <a:gd name="T4" fmla="*/ 265 w 892"/>
                <a:gd name="T5" fmla="*/ 150 h 726"/>
                <a:gd name="T6" fmla="*/ 303 w 892"/>
                <a:gd name="T7" fmla="*/ 95 h 726"/>
                <a:gd name="T8" fmla="*/ 338 w 892"/>
                <a:gd name="T9" fmla="*/ 44 h 726"/>
                <a:gd name="T10" fmla="*/ 379 w 892"/>
                <a:gd name="T11" fmla="*/ 7 h 726"/>
                <a:gd name="T12" fmla="*/ 403 w 892"/>
                <a:gd name="T13" fmla="*/ 0 h 726"/>
                <a:gd name="T14" fmla="*/ 482 w 892"/>
                <a:gd name="T15" fmla="*/ 29 h 726"/>
                <a:gd name="T16" fmla="*/ 555 w 892"/>
                <a:gd name="T17" fmla="*/ 55 h 726"/>
                <a:gd name="T18" fmla="*/ 624 w 892"/>
                <a:gd name="T19" fmla="*/ 82 h 726"/>
                <a:gd name="T20" fmla="*/ 673 w 892"/>
                <a:gd name="T21" fmla="*/ 99 h 726"/>
                <a:gd name="T22" fmla="*/ 721 w 892"/>
                <a:gd name="T23" fmla="*/ 112 h 726"/>
                <a:gd name="T24" fmla="*/ 770 w 892"/>
                <a:gd name="T25" fmla="*/ 122 h 726"/>
                <a:gd name="T26" fmla="*/ 819 w 892"/>
                <a:gd name="T27" fmla="*/ 132 h 726"/>
                <a:gd name="T28" fmla="*/ 873 w 892"/>
                <a:gd name="T29" fmla="*/ 145 h 726"/>
                <a:gd name="T30" fmla="*/ 892 w 892"/>
                <a:gd name="T31" fmla="*/ 179 h 726"/>
                <a:gd name="T32" fmla="*/ 874 w 892"/>
                <a:gd name="T33" fmla="*/ 207 h 726"/>
                <a:gd name="T34" fmla="*/ 860 w 892"/>
                <a:gd name="T35" fmla="*/ 228 h 726"/>
                <a:gd name="T36" fmla="*/ 843 w 892"/>
                <a:gd name="T37" fmla="*/ 250 h 726"/>
                <a:gd name="T38" fmla="*/ 799 w 892"/>
                <a:gd name="T39" fmla="*/ 310 h 726"/>
                <a:gd name="T40" fmla="*/ 755 w 892"/>
                <a:gd name="T41" fmla="*/ 367 h 726"/>
                <a:gd name="T42" fmla="*/ 729 w 892"/>
                <a:gd name="T43" fmla="*/ 372 h 726"/>
                <a:gd name="T44" fmla="*/ 687 w 892"/>
                <a:gd name="T45" fmla="*/ 359 h 726"/>
                <a:gd name="T46" fmla="*/ 645 w 892"/>
                <a:gd name="T47" fmla="*/ 356 h 726"/>
                <a:gd name="T48" fmla="*/ 610 w 892"/>
                <a:gd name="T49" fmla="*/ 363 h 726"/>
                <a:gd name="T50" fmla="*/ 586 w 892"/>
                <a:gd name="T51" fmla="*/ 384 h 726"/>
                <a:gd name="T52" fmla="*/ 577 w 892"/>
                <a:gd name="T53" fmla="*/ 411 h 726"/>
                <a:gd name="T54" fmla="*/ 598 w 892"/>
                <a:gd name="T55" fmla="*/ 451 h 726"/>
                <a:gd name="T56" fmla="*/ 646 w 892"/>
                <a:gd name="T57" fmla="*/ 469 h 726"/>
                <a:gd name="T58" fmla="*/ 674 w 892"/>
                <a:gd name="T59" fmla="*/ 487 h 726"/>
                <a:gd name="T60" fmla="*/ 619 w 892"/>
                <a:gd name="T61" fmla="*/ 573 h 726"/>
                <a:gd name="T62" fmla="*/ 533 w 892"/>
                <a:gd name="T63" fmla="*/ 687 h 726"/>
                <a:gd name="T64" fmla="*/ 492 w 892"/>
                <a:gd name="T65" fmla="*/ 723 h 726"/>
                <a:gd name="T66" fmla="*/ 466 w 892"/>
                <a:gd name="T67" fmla="*/ 726 h 726"/>
                <a:gd name="T68" fmla="*/ 443 w 892"/>
                <a:gd name="T69" fmla="*/ 723 h 726"/>
                <a:gd name="T70" fmla="*/ 370 w 892"/>
                <a:gd name="T71" fmla="*/ 702 h 726"/>
                <a:gd name="T72" fmla="*/ 304 w 892"/>
                <a:gd name="T73" fmla="*/ 678 h 726"/>
                <a:gd name="T74" fmla="*/ 268 w 892"/>
                <a:gd name="T75" fmla="*/ 663 h 726"/>
                <a:gd name="T76" fmla="*/ 216 w 892"/>
                <a:gd name="T77" fmla="*/ 645 h 726"/>
                <a:gd name="T78" fmla="*/ 163 w 892"/>
                <a:gd name="T79" fmla="*/ 626 h 726"/>
                <a:gd name="T80" fmla="*/ 111 w 892"/>
                <a:gd name="T81" fmla="*/ 608 h 726"/>
                <a:gd name="T82" fmla="*/ 58 w 892"/>
                <a:gd name="T83" fmla="*/ 588 h 726"/>
                <a:gd name="T84" fmla="*/ 7 w 892"/>
                <a:gd name="T85" fmla="*/ 568 h 726"/>
                <a:gd name="T86" fmla="*/ 1 w 892"/>
                <a:gd name="T87" fmla="*/ 560 h 726"/>
                <a:gd name="T88" fmla="*/ 44 w 892"/>
                <a:gd name="T89" fmla="*/ 483 h 726"/>
                <a:gd name="T90" fmla="*/ 115 w 892"/>
                <a:gd name="T91" fmla="*/ 376 h 726"/>
                <a:gd name="T92" fmla="*/ 181 w 892"/>
                <a:gd name="T93" fmla="*/ 263 h 72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92"/>
                <a:gd name="T142" fmla="*/ 0 h 726"/>
                <a:gd name="T143" fmla="*/ 892 w 892"/>
                <a:gd name="T144" fmla="*/ 726 h 72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92" h="726">
                  <a:moveTo>
                    <a:pt x="181" y="263"/>
                  </a:moveTo>
                  <a:lnTo>
                    <a:pt x="189" y="248"/>
                  </a:lnTo>
                  <a:lnTo>
                    <a:pt x="199" y="233"/>
                  </a:lnTo>
                  <a:lnTo>
                    <a:pt x="210" y="219"/>
                  </a:lnTo>
                  <a:lnTo>
                    <a:pt x="220" y="205"/>
                  </a:lnTo>
                  <a:lnTo>
                    <a:pt x="232" y="192"/>
                  </a:lnTo>
                  <a:lnTo>
                    <a:pt x="242" y="178"/>
                  </a:lnTo>
                  <a:lnTo>
                    <a:pt x="254" y="165"/>
                  </a:lnTo>
                  <a:lnTo>
                    <a:pt x="265" y="150"/>
                  </a:lnTo>
                  <a:lnTo>
                    <a:pt x="280" y="132"/>
                  </a:lnTo>
                  <a:lnTo>
                    <a:pt x="291" y="113"/>
                  </a:lnTo>
                  <a:lnTo>
                    <a:pt x="303" y="95"/>
                  </a:lnTo>
                  <a:lnTo>
                    <a:pt x="315" y="78"/>
                  </a:lnTo>
                  <a:lnTo>
                    <a:pt x="325" y="61"/>
                  </a:lnTo>
                  <a:lnTo>
                    <a:pt x="338" y="44"/>
                  </a:lnTo>
                  <a:lnTo>
                    <a:pt x="353" y="27"/>
                  </a:lnTo>
                  <a:lnTo>
                    <a:pt x="370" y="12"/>
                  </a:lnTo>
                  <a:lnTo>
                    <a:pt x="379" y="7"/>
                  </a:lnTo>
                  <a:lnTo>
                    <a:pt x="391" y="3"/>
                  </a:lnTo>
                  <a:lnTo>
                    <a:pt x="399" y="0"/>
                  </a:lnTo>
                  <a:lnTo>
                    <a:pt x="403" y="0"/>
                  </a:lnTo>
                  <a:lnTo>
                    <a:pt x="430" y="11"/>
                  </a:lnTo>
                  <a:lnTo>
                    <a:pt x="456" y="21"/>
                  </a:lnTo>
                  <a:lnTo>
                    <a:pt x="482" y="29"/>
                  </a:lnTo>
                  <a:lnTo>
                    <a:pt x="506" y="38"/>
                  </a:lnTo>
                  <a:lnTo>
                    <a:pt x="531" y="47"/>
                  </a:lnTo>
                  <a:lnTo>
                    <a:pt x="555" y="55"/>
                  </a:lnTo>
                  <a:lnTo>
                    <a:pt x="581" y="65"/>
                  </a:lnTo>
                  <a:lnTo>
                    <a:pt x="607" y="75"/>
                  </a:lnTo>
                  <a:lnTo>
                    <a:pt x="624" y="82"/>
                  </a:lnTo>
                  <a:lnTo>
                    <a:pt x="641" y="88"/>
                  </a:lnTo>
                  <a:lnTo>
                    <a:pt x="656" y="93"/>
                  </a:lnTo>
                  <a:lnTo>
                    <a:pt x="673" y="99"/>
                  </a:lnTo>
                  <a:lnTo>
                    <a:pt x="689" y="104"/>
                  </a:lnTo>
                  <a:lnTo>
                    <a:pt x="706" y="108"/>
                  </a:lnTo>
                  <a:lnTo>
                    <a:pt x="721" y="112"/>
                  </a:lnTo>
                  <a:lnTo>
                    <a:pt x="738" y="115"/>
                  </a:lnTo>
                  <a:lnTo>
                    <a:pt x="753" y="119"/>
                  </a:lnTo>
                  <a:lnTo>
                    <a:pt x="770" y="122"/>
                  </a:lnTo>
                  <a:lnTo>
                    <a:pt x="786" y="126"/>
                  </a:lnTo>
                  <a:lnTo>
                    <a:pt x="803" y="130"/>
                  </a:lnTo>
                  <a:lnTo>
                    <a:pt x="819" y="132"/>
                  </a:lnTo>
                  <a:lnTo>
                    <a:pt x="838" y="136"/>
                  </a:lnTo>
                  <a:lnTo>
                    <a:pt x="854" y="141"/>
                  </a:lnTo>
                  <a:lnTo>
                    <a:pt x="873" y="145"/>
                  </a:lnTo>
                  <a:lnTo>
                    <a:pt x="885" y="153"/>
                  </a:lnTo>
                  <a:lnTo>
                    <a:pt x="892" y="165"/>
                  </a:lnTo>
                  <a:lnTo>
                    <a:pt x="892" y="179"/>
                  </a:lnTo>
                  <a:lnTo>
                    <a:pt x="885" y="192"/>
                  </a:lnTo>
                  <a:lnTo>
                    <a:pt x="879" y="200"/>
                  </a:lnTo>
                  <a:lnTo>
                    <a:pt x="874" y="207"/>
                  </a:lnTo>
                  <a:lnTo>
                    <a:pt x="870" y="214"/>
                  </a:lnTo>
                  <a:lnTo>
                    <a:pt x="865" y="220"/>
                  </a:lnTo>
                  <a:lnTo>
                    <a:pt x="860" y="228"/>
                  </a:lnTo>
                  <a:lnTo>
                    <a:pt x="854" y="235"/>
                  </a:lnTo>
                  <a:lnTo>
                    <a:pt x="849" y="242"/>
                  </a:lnTo>
                  <a:lnTo>
                    <a:pt x="843" y="250"/>
                  </a:lnTo>
                  <a:lnTo>
                    <a:pt x="830" y="267"/>
                  </a:lnTo>
                  <a:lnTo>
                    <a:pt x="814" y="288"/>
                  </a:lnTo>
                  <a:lnTo>
                    <a:pt x="799" y="310"/>
                  </a:lnTo>
                  <a:lnTo>
                    <a:pt x="782" y="331"/>
                  </a:lnTo>
                  <a:lnTo>
                    <a:pt x="768" y="350"/>
                  </a:lnTo>
                  <a:lnTo>
                    <a:pt x="755" y="367"/>
                  </a:lnTo>
                  <a:lnTo>
                    <a:pt x="746" y="377"/>
                  </a:lnTo>
                  <a:lnTo>
                    <a:pt x="742" y="380"/>
                  </a:lnTo>
                  <a:lnTo>
                    <a:pt x="729" y="372"/>
                  </a:lnTo>
                  <a:lnTo>
                    <a:pt x="716" y="367"/>
                  </a:lnTo>
                  <a:lnTo>
                    <a:pt x="702" y="363"/>
                  </a:lnTo>
                  <a:lnTo>
                    <a:pt x="687" y="359"/>
                  </a:lnTo>
                  <a:lnTo>
                    <a:pt x="673" y="358"/>
                  </a:lnTo>
                  <a:lnTo>
                    <a:pt x="659" y="356"/>
                  </a:lnTo>
                  <a:lnTo>
                    <a:pt x="645" y="356"/>
                  </a:lnTo>
                  <a:lnTo>
                    <a:pt x="630" y="358"/>
                  </a:lnTo>
                  <a:lnTo>
                    <a:pt x="620" y="359"/>
                  </a:lnTo>
                  <a:lnTo>
                    <a:pt x="610" y="363"/>
                  </a:lnTo>
                  <a:lnTo>
                    <a:pt x="601" y="368"/>
                  </a:lnTo>
                  <a:lnTo>
                    <a:pt x="593" y="375"/>
                  </a:lnTo>
                  <a:lnTo>
                    <a:pt x="586" y="384"/>
                  </a:lnTo>
                  <a:lnTo>
                    <a:pt x="583" y="391"/>
                  </a:lnTo>
                  <a:lnTo>
                    <a:pt x="579" y="402"/>
                  </a:lnTo>
                  <a:lnTo>
                    <a:pt x="577" y="411"/>
                  </a:lnTo>
                  <a:lnTo>
                    <a:pt x="580" y="428"/>
                  </a:lnTo>
                  <a:lnTo>
                    <a:pt x="586" y="441"/>
                  </a:lnTo>
                  <a:lnTo>
                    <a:pt x="598" y="451"/>
                  </a:lnTo>
                  <a:lnTo>
                    <a:pt x="612" y="459"/>
                  </a:lnTo>
                  <a:lnTo>
                    <a:pt x="629" y="464"/>
                  </a:lnTo>
                  <a:lnTo>
                    <a:pt x="646" y="469"/>
                  </a:lnTo>
                  <a:lnTo>
                    <a:pt x="663" y="474"/>
                  </a:lnTo>
                  <a:lnTo>
                    <a:pt x="677" y="479"/>
                  </a:lnTo>
                  <a:lnTo>
                    <a:pt x="674" y="487"/>
                  </a:lnTo>
                  <a:lnTo>
                    <a:pt x="663" y="508"/>
                  </a:lnTo>
                  <a:lnTo>
                    <a:pt x="643" y="538"/>
                  </a:lnTo>
                  <a:lnTo>
                    <a:pt x="619" y="573"/>
                  </a:lnTo>
                  <a:lnTo>
                    <a:pt x="592" y="612"/>
                  </a:lnTo>
                  <a:lnTo>
                    <a:pt x="562" y="650"/>
                  </a:lnTo>
                  <a:lnTo>
                    <a:pt x="533" y="687"/>
                  </a:lnTo>
                  <a:lnTo>
                    <a:pt x="506" y="718"/>
                  </a:lnTo>
                  <a:lnTo>
                    <a:pt x="498" y="720"/>
                  </a:lnTo>
                  <a:lnTo>
                    <a:pt x="492" y="723"/>
                  </a:lnTo>
                  <a:lnTo>
                    <a:pt x="483" y="724"/>
                  </a:lnTo>
                  <a:lnTo>
                    <a:pt x="475" y="724"/>
                  </a:lnTo>
                  <a:lnTo>
                    <a:pt x="466" y="726"/>
                  </a:lnTo>
                  <a:lnTo>
                    <a:pt x="458" y="724"/>
                  </a:lnTo>
                  <a:lnTo>
                    <a:pt x="451" y="724"/>
                  </a:lnTo>
                  <a:lnTo>
                    <a:pt x="443" y="723"/>
                  </a:lnTo>
                  <a:lnTo>
                    <a:pt x="421" y="718"/>
                  </a:lnTo>
                  <a:lnTo>
                    <a:pt x="396" y="710"/>
                  </a:lnTo>
                  <a:lnTo>
                    <a:pt x="370" y="702"/>
                  </a:lnTo>
                  <a:lnTo>
                    <a:pt x="346" y="693"/>
                  </a:lnTo>
                  <a:lnTo>
                    <a:pt x="324" y="684"/>
                  </a:lnTo>
                  <a:lnTo>
                    <a:pt x="304" y="678"/>
                  </a:lnTo>
                  <a:lnTo>
                    <a:pt x="291" y="672"/>
                  </a:lnTo>
                  <a:lnTo>
                    <a:pt x="286" y="670"/>
                  </a:lnTo>
                  <a:lnTo>
                    <a:pt x="268" y="663"/>
                  </a:lnTo>
                  <a:lnTo>
                    <a:pt x="251" y="657"/>
                  </a:lnTo>
                  <a:lnTo>
                    <a:pt x="233" y="652"/>
                  </a:lnTo>
                  <a:lnTo>
                    <a:pt x="216" y="645"/>
                  </a:lnTo>
                  <a:lnTo>
                    <a:pt x="198" y="639"/>
                  </a:lnTo>
                  <a:lnTo>
                    <a:pt x="181" y="632"/>
                  </a:lnTo>
                  <a:lnTo>
                    <a:pt x="163" y="626"/>
                  </a:lnTo>
                  <a:lnTo>
                    <a:pt x="146" y="621"/>
                  </a:lnTo>
                  <a:lnTo>
                    <a:pt x="128" y="614"/>
                  </a:lnTo>
                  <a:lnTo>
                    <a:pt x="111" y="608"/>
                  </a:lnTo>
                  <a:lnTo>
                    <a:pt x="93" y="601"/>
                  </a:lnTo>
                  <a:lnTo>
                    <a:pt x="76" y="595"/>
                  </a:lnTo>
                  <a:lnTo>
                    <a:pt x="58" y="588"/>
                  </a:lnTo>
                  <a:lnTo>
                    <a:pt x="42" y="582"/>
                  </a:lnTo>
                  <a:lnTo>
                    <a:pt x="23" y="574"/>
                  </a:lnTo>
                  <a:lnTo>
                    <a:pt x="7" y="568"/>
                  </a:lnTo>
                  <a:lnTo>
                    <a:pt x="5" y="565"/>
                  </a:lnTo>
                  <a:lnTo>
                    <a:pt x="3" y="562"/>
                  </a:lnTo>
                  <a:lnTo>
                    <a:pt x="1" y="560"/>
                  </a:lnTo>
                  <a:lnTo>
                    <a:pt x="0" y="557"/>
                  </a:lnTo>
                  <a:lnTo>
                    <a:pt x="21" y="520"/>
                  </a:lnTo>
                  <a:lnTo>
                    <a:pt x="44" y="483"/>
                  </a:lnTo>
                  <a:lnTo>
                    <a:pt x="67" y="447"/>
                  </a:lnTo>
                  <a:lnTo>
                    <a:pt x="92" y="412"/>
                  </a:lnTo>
                  <a:lnTo>
                    <a:pt x="115" y="376"/>
                  </a:lnTo>
                  <a:lnTo>
                    <a:pt x="139" y="338"/>
                  </a:lnTo>
                  <a:lnTo>
                    <a:pt x="161" y="302"/>
                  </a:lnTo>
                  <a:lnTo>
                    <a:pt x="181" y="263"/>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 name="Freeform 11"/>
            <p:cNvSpPr>
              <a:spLocks/>
            </p:cNvSpPr>
            <p:nvPr/>
          </p:nvSpPr>
          <p:spPr bwMode="auto">
            <a:xfrm>
              <a:off x="1387" y="3070"/>
              <a:ext cx="762" cy="308"/>
            </a:xfrm>
            <a:custGeom>
              <a:avLst/>
              <a:gdLst>
                <a:gd name="T0" fmla="*/ 39 w 762"/>
                <a:gd name="T1" fmla="*/ 99 h 308"/>
                <a:gd name="T2" fmla="*/ 103 w 762"/>
                <a:gd name="T3" fmla="*/ 128 h 308"/>
                <a:gd name="T4" fmla="*/ 164 w 762"/>
                <a:gd name="T5" fmla="*/ 152 h 308"/>
                <a:gd name="T6" fmla="*/ 195 w 762"/>
                <a:gd name="T7" fmla="*/ 164 h 308"/>
                <a:gd name="T8" fmla="*/ 250 w 762"/>
                <a:gd name="T9" fmla="*/ 184 h 308"/>
                <a:gd name="T10" fmla="*/ 316 w 762"/>
                <a:gd name="T11" fmla="*/ 208 h 308"/>
                <a:gd name="T12" fmla="*/ 382 w 762"/>
                <a:gd name="T13" fmla="*/ 230 h 308"/>
                <a:gd name="T14" fmla="*/ 435 w 762"/>
                <a:gd name="T15" fmla="*/ 244 h 308"/>
                <a:gd name="T16" fmla="*/ 467 w 762"/>
                <a:gd name="T17" fmla="*/ 251 h 308"/>
                <a:gd name="T18" fmla="*/ 494 w 762"/>
                <a:gd name="T19" fmla="*/ 256 h 308"/>
                <a:gd name="T20" fmla="*/ 520 w 762"/>
                <a:gd name="T21" fmla="*/ 252 h 308"/>
                <a:gd name="T22" fmla="*/ 569 w 762"/>
                <a:gd name="T23" fmla="*/ 190 h 308"/>
                <a:gd name="T24" fmla="*/ 616 w 762"/>
                <a:gd name="T25" fmla="*/ 121 h 308"/>
                <a:gd name="T26" fmla="*/ 656 w 762"/>
                <a:gd name="T27" fmla="*/ 66 h 308"/>
                <a:gd name="T28" fmla="*/ 689 w 762"/>
                <a:gd name="T29" fmla="*/ 26 h 308"/>
                <a:gd name="T30" fmla="*/ 714 w 762"/>
                <a:gd name="T31" fmla="*/ 0 h 308"/>
                <a:gd name="T32" fmla="*/ 729 w 762"/>
                <a:gd name="T33" fmla="*/ 11 h 308"/>
                <a:gd name="T34" fmla="*/ 747 w 762"/>
                <a:gd name="T35" fmla="*/ 32 h 308"/>
                <a:gd name="T36" fmla="*/ 762 w 762"/>
                <a:gd name="T37" fmla="*/ 50 h 308"/>
                <a:gd name="T38" fmla="*/ 745 w 762"/>
                <a:gd name="T39" fmla="*/ 73 h 308"/>
                <a:gd name="T40" fmla="*/ 726 w 762"/>
                <a:gd name="T41" fmla="*/ 64 h 308"/>
                <a:gd name="T42" fmla="*/ 712 w 762"/>
                <a:gd name="T43" fmla="*/ 54 h 308"/>
                <a:gd name="T44" fmla="*/ 685 w 762"/>
                <a:gd name="T45" fmla="*/ 89 h 308"/>
                <a:gd name="T46" fmla="*/ 656 w 762"/>
                <a:gd name="T47" fmla="*/ 130 h 308"/>
                <a:gd name="T48" fmla="*/ 656 w 762"/>
                <a:gd name="T49" fmla="*/ 140 h 308"/>
                <a:gd name="T50" fmla="*/ 677 w 762"/>
                <a:gd name="T51" fmla="*/ 147 h 308"/>
                <a:gd name="T52" fmla="*/ 701 w 762"/>
                <a:gd name="T53" fmla="*/ 147 h 308"/>
                <a:gd name="T54" fmla="*/ 686 w 762"/>
                <a:gd name="T55" fmla="*/ 169 h 308"/>
                <a:gd name="T56" fmla="*/ 669 w 762"/>
                <a:gd name="T57" fmla="*/ 190 h 308"/>
                <a:gd name="T58" fmla="*/ 652 w 762"/>
                <a:gd name="T59" fmla="*/ 191 h 308"/>
                <a:gd name="T60" fmla="*/ 633 w 762"/>
                <a:gd name="T61" fmla="*/ 154 h 308"/>
                <a:gd name="T62" fmla="*/ 610 w 762"/>
                <a:gd name="T63" fmla="*/ 180 h 308"/>
                <a:gd name="T64" fmla="*/ 572 w 762"/>
                <a:gd name="T65" fmla="*/ 225 h 308"/>
                <a:gd name="T66" fmla="*/ 562 w 762"/>
                <a:gd name="T67" fmla="*/ 243 h 308"/>
                <a:gd name="T68" fmla="*/ 579 w 762"/>
                <a:gd name="T69" fmla="*/ 251 h 308"/>
                <a:gd name="T70" fmla="*/ 602 w 762"/>
                <a:gd name="T71" fmla="*/ 256 h 308"/>
                <a:gd name="T72" fmla="*/ 590 w 762"/>
                <a:gd name="T73" fmla="*/ 276 h 308"/>
                <a:gd name="T74" fmla="*/ 568 w 762"/>
                <a:gd name="T75" fmla="*/ 296 h 308"/>
                <a:gd name="T76" fmla="*/ 558 w 762"/>
                <a:gd name="T77" fmla="*/ 308 h 308"/>
                <a:gd name="T78" fmla="*/ 479 w 762"/>
                <a:gd name="T79" fmla="*/ 294 h 308"/>
                <a:gd name="T80" fmla="*/ 375 w 762"/>
                <a:gd name="T81" fmla="*/ 265 h 308"/>
                <a:gd name="T82" fmla="*/ 264 w 762"/>
                <a:gd name="T83" fmla="*/ 228 h 308"/>
                <a:gd name="T84" fmla="*/ 163 w 762"/>
                <a:gd name="T85" fmla="*/ 189 h 308"/>
                <a:gd name="T86" fmla="*/ 88 w 762"/>
                <a:gd name="T87" fmla="*/ 155 h 308"/>
                <a:gd name="T88" fmla="*/ 57 w 762"/>
                <a:gd name="T89" fmla="*/ 140 h 308"/>
                <a:gd name="T90" fmla="*/ 26 w 762"/>
                <a:gd name="T91" fmla="*/ 128 h 308"/>
                <a:gd name="T92" fmla="*/ 9 w 762"/>
                <a:gd name="T93" fmla="*/ 123 h 308"/>
                <a:gd name="T94" fmla="*/ 2 w 762"/>
                <a:gd name="T95" fmla="*/ 90 h 30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62"/>
                <a:gd name="T145" fmla="*/ 0 h 308"/>
                <a:gd name="T146" fmla="*/ 762 w 762"/>
                <a:gd name="T147" fmla="*/ 308 h 30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62" h="308">
                  <a:moveTo>
                    <a:pt x="0" y="84"/>
                  </a:moveTo>
                  <a:lnTo>
                    <a:pt x="18" y="92"/>
                  </a:lnTo>
                  <a:lnTo>
                    <a:pt x="39" y="99"/>
                  </a:lnTo>
                  <a:lnTo>
                    <a:pt x="61" y="108"/>
                  </a:lnTo>
                  <a:lnTo>
                    <a:pt x="83" y="118"/>
                  </a:lnTo>
                  <a:lnTo>
                    <a:pt x="103" y="128"/>
                  </a:lnTo>
                  <a:lnTo>
                    <a:pt x="125" y="136"/>
                  </a:lnTo>
                  <a:lnTo>
                    <a:pt x="146" y="145"/>
                  </a:lnTo>
                  <a:lnTo>
                    <a:pt x="164" y="152"/>
                  </a:lnTo>
                  <a:lnTo>
                    <a:pt x="171" y="155"/>
                  </a:lnTo>
                  <a:lnTo>
                    <a:pt x="181" y="159"/>
                  </a:lnTo>
                  <a:lnTo>
                    <a:pt x="195" y="164"/>
                  </a:lnTo>
                  <a:lnTo>
                    <a:pt x="211" y="169"/>
                  </a:lnTo>
                  <a:lnTo>
                    <a:pt x="229" y="177"/>
                  </a:lnTo>
                  <a:lnTo>
                    <a:pt x="250" y="184"/>
                  </a:lnTo>
                  <a:lnTo>
                    <a:pt x="272" y="191"/>
                  </a:lnTo>
                  <a:lnTo>
                    <a:pt x="294" y="199"/>
                  </a:lnTo>
                  <a:lnTo>
                    <a:pt x="316" y="208"/>
                  </a:lnTo>
                  <a:lnTo>
                    <a:pt x="339" y="216"/>
                  </a:lnTo>
                  <a:lnTo>
                    <a:pt x="361" y="222"/>
                  </a:lnTo>
                  <a:lnTo>
                    <a:pt x="382" y="230"/>
                  </a:lnTo>
                  <a:lnTo>
                    <a:pt x="401" y="235"/>
                  </a:lnTo>
                  <a:lnTo>
                    <a:pt x="419" y="241"/>
                  </a:lnTo>
                  <a:lnTo>
                    <a:pt x="435" y="244"/>
                  </a:lnTo>
                  <a:lnTo>
                    <a:pt x="448" y="247"/>
                  </a:lnTo>
                  <a:lnTo>
                    <a:pt x="457" y="248"/>
                  </a:lnTo>
                  <a:lnTo>
                    <a:pt x="467" y="251"/>
                  </a:lnTo>
                  <a:lnTo>
                    <a:pt x="476" y="252"/>
                  </a:lnTo>
                  <a:lnTo>
                    <a:pt x="485" y="255"/>
                  </a:lnTo>
                  <a:lnTo>
                    <a:pt x="494" y="256"/>
                  </a:lnTo>
                  <a:lnTo>
                    <a:pt x="503" y="256"/>
                  </a:lnTo>
                  <a:lnTo>
                    <a:pt x="512" y="255"/>
                  </a:lnTo>
                  <a:lnTo>
                    <a:pt x="520" y="252"/>
                  </a:lnTo>
                  <a:lnTo>
                    <a:pt x="537" y="233"/>
                  </a:lnTo>
                  <a:lnTo>
                    <a:pt x="554" y="212"/>
                  </a:lnTo>
                  <a:lnTo>
                    <a:pt x="569" y="190"/>
                  </a:lnTo>
                  <a:lnTo>
                    <a:pt x="585" y="167"/>
                  </a:lnTo>
                  <a:lnTo>
                    <a:pt x="601" y="143"/>
                  </a:lnTo>
                  <a:lnTo>
                    <a:pt x="616" y="121"/>
                  </a:lnTo>
                  <a:lnTo>
                    <a:pt x="632" y="98"/>
                  </a:lnTo>
                  <a:lnTo>
                    <a:pt x="647" y="77"/>
                  </a:lnTo>
                  <a:lnTo>
                    <a:pt x="656" y="66"/>
                  </a:lnTo>
                  <a:lnTo>
                    <a:pt x="667" y="53"/>
                  </a:lnTo>
                  <a:lnTo>
                    <a:pt x="678" y="38"/>
                  </a:lnTo>
                  <a:lnTo>
                    <a:pt x="689" y="26"/>
                  </a:lnTo>
                  <a:lnTo>
                    <a:pt x="699" y="14"/>
                  </a:lnTo>
                  <a:lnTo>
                    <a:pt x="708" y="5"/>
                  </a:lnTo>
                  <a:lnTo>
                    <a:pt x="714" y="0"/>
                  </a:lnTo>
                  <a:lnTo>
                    <a:pt x="718" y="0"/>
                  </a:lnTo>
                  <a:lnTo>
                    <a:pt x="723" y="5"/>
                  </a:lnTo>
                  <a:lnTo>
                    <a:pt x="729" y="11"/>
                  </a:lnTo>
                  <a:lnTo>
                    <a:pt x="735" y="18"/>
                  </a:lnTo>
                  <a:lnTo>
                    <a:pt x="740" y="24"/>
                  </a:lnTo>
                  <a:lnTo>
                    <a:pt x="747" y="32"/>
                  </a:lnTo>
                  <a:lnTo>
                    <a:pt x="752" y="38"/>
                  </a:lnTo>
                  <a:lnTo>
                    <a:pt x="757" y="45"/>
                  </a:lnTo>
                  <a:lnTo>
                    <a:pt x="762" y="50"/>
                  </a:lnTo>
                  <a:lnTo>
                    <a:pt x="756" y="58"/>
                  </a:lnTo>
                  <a:lnTo>
                    <a:pt x="751" y="66"/>
                  </a:lnTo>
                  <a:lnTo>
                    <a:pt x="745" y="73"/>
                  </a:lnTo>
                  <a:lnTo>
                    <a:pt x="740" y="83"/>
                  </a:lnTo>
                  <a:lnTo>
                    <a:pt x="734" y="75"/>
                  </a:lnTo>
                  <a:lnTo>
                    <a:pt x="726" y="64"/>
                  </a:lnTo>
                  <a:lnTo>
                    <a:pt x="718" y="55"/>
                  </a:lnTo>
                  <a:lnTo>
                    <a:pt x="714" y="51"/>
                  </a:lnTo>
                  <a:lnTo>
                    <a:pt x="712" y="54"/>
                  </a:lnTo>
                  <a:lnTo>
                    <a:pt x="705" y="63"/>
                  </a:lnTo>
                  <a:lnTo>
                    <a:pt x="695" y="75"/>
                  </a:lnTo>
                  <a:lnTo>
                    <a:pt x="685" y="89"/>
                  </a:lnTo>
                  <a:lnTo>
                    <a:pt x="673" y="105"/>
                  </a:lnTo>
                  <a:lnTo>
                    <a:pt x="663" y="119"/>
                  </a:lnTo>
                  <a:lnTo>
                    <a:pt x="656" y="130"/>
                  </a:lnTo>
                  <a:lnTo>
                    <a:pt x="652" y="137"/>
                  </a:lnTo>
                  <a:lnTo>
                    <a:pt x="652" y="138"/>
                  </a:lnTo>
                  <a:lnTo>
                    <a:pt x="656" y="140"/>
                  </a:lnTo>
                  <a:lnTo>
                    <a:pt x="661" y="142"/>
                  </a:lnTo>
                  <a:lnTo>
                    <a:pt x="669" y="145"/>
                  </a:lnTo>
                  <a:lnTo>
                    <a:pt x="677" y="147"/>
                  </a:lnTo>
                  <a:lnTo>
                    <a:pt x="686" y="149"/>
                  </a:lnTo>
                  <a:lnTo>
                    <a:pt x="694" y="149"/>
                  </a:lnTo>
                  <a:lnTo>
                    <a:pt x="701" y="147"/>
                  </a:lnTo>
                  <a:lnTo>
                    <a:pt x="696" y="155"/>
                  </a:lnTo>
                  <a:lnTo>
                    <a:pt x="691" y="162"/>
                  </a:lnTo>
                  <a:lnTo>
                    <a:pt x="686" y="169"/>
                  </a:lnTo>
                  <a:lnTo>
                    <a:pt x="681" y="176"/>
                  </a:lnTo>
                  <a:lnTo>
                    <a:pt x="674" y="182"/>
                  </a:lnTo>
                  <a:lnTo>
                    <a:pt x="669" y="190"/>
                  </a:lnTo>
                  <a:lnTo>
                    <a:pt x="663" y="197"/>
                  </a:lnTo>
                  <a:lnTo>
                    <a:pt x="657" y="203"/>
                  </a:lnTo>
                  <a:lnTo>
                    <a:pt x="652" y="191"/>
                  </a:lnTo>
                  <a:lnTo>
                    <a:pt x="645" y="174"/>
                  </a:lnTo>
                  <a:lnTo>
                    <a:pt x="637" y="160"/>
                  </a:lnTo>
                  <a:lnTo>
                    <a:pt x="633" y="154"/>
                  </a:lnTo>
                  <a:lnTo>
                    <a:pt x="629" y="158"/>
                  </a:lnTo>
                  <a:lnTo>
                    <a:pt x="621" y="167"/>
                  </a:lnTo>
                  <a:lnTo>
                    <a:pt x="610" y="180"/>
                  </a:lnTo>
                  <a:lnTo>
                    <a:pt x="597" y="195"/>
                  </a:lnTo>
                  <a:lnTo>
                    <a:pt x="584" y="211"/>
                  </a:lnTo>
                  <a:lnTo>
                    <a:pt x="572" y="225"/>
                  </a:lnTo>
                  <a:lnTo>
                    <a:pt x="564" y="235"/>
                  </a:lnTo>
                  <a:lnTo>
                    <a:pt x="560" y="241"/>
                  </a:lnTo>
                  <a:lnTo>
                    <a:pt x="562" y="243"/>
                  </a:lnTo>
                  <a:lnTo>
                    <a:pt x="564" y="246"/>
                  </a:lnTo>
                  <a:lnTo>
                    <a:pt x="571" y="248"/>
                  </a:lnTo>
                  <a:lnTo>
                    <a:pt x="579" y="251"/>
                  </a:lnTo>
                  <a:lnTo>
                    <a:pt x="586" y="254"/>
                  </a:lnTo>
                  <a:lnTo>
                    <a:pt x="594" y="255"/>
                  </a:lnTo>
                  <a:lnTo>
                    <a:pt x="602" y="256"/>
                  </a:lnTo>
                  <a:lnTo>
                    <a:pt x="607" y="256"/>
                  </a:lnTo>
                  <a:lnTo>
                    <a:pt x="598" y="266"/>
                  </a:lnTo>
                  <a:lnTo>
                    <a:pt x="590" y="276"/>
                  </a:lnTo>
                  <a:lnTo>
                    <a:pt x="582" y="283"/>
                  </a:lnTo>
                  <a:lnTo>
                    <a:pt x="575" y="290"/>
                  </a:lnTo>
                  <a:lnTo>
                    <a:pt x="568" y="296"/>
                  </a:lnTo>
                  <a:lnTo>
                    <a:pt x="563" y="301"/>
                  </a:lnTo>
                  <a:lnTo>
                    <a:pt x="559" y="305"/>
                  </a:lnTo>
                  <a:lnTo>
                    <a:pt x="558" y="308"/>
                  </a:lnTo>
                  <a:lnTo>
                    <a:pt x="536" y="305"/>
                  </a:lnTo>
                  <a:lnTo>
                    <a:pt x="509" y="301"/>
                  </a:lnTo>
                  <a:lnTo>
                    <a:pt x="479" y="294"/>
                  </a:lnTo>
                  <a:lnTo>
                    <a:pt x="446" y="286"/>
                  </a:lnTo>
                  <a:lnTo>
                    <a:pt x="412" y="276"/>
                  </a:lnTo>
                  <a:lnTo>
                    <a:pt x="375" y="265"/>
                  </a:lnTo>
                  <a:lnTo>
                    <a:pt x="338" y="254"/>
                  </a:lnTo>
                  <a:lnTo>
                    <a:pt x="302" y="241"/>
                  </a:lnTo>
                  <a:lnTo>
                    <a:pt x="264" y="228"/>
                  </a:lnTo>
                  <a:lnTo>
                    <a:pt x="228" y="215"/>
                  </a:lnTo>
                  <a:lnTo>
                    <a:pt x="194" y="202"/>
                  </a:lnTo>
                  <a:lnTo>
                    <a:pt x="163" y="189"/>
                  </a:lnTo>
                  <a:lnTo>
                    <a:pt x="133" y="176"/>
                  </a:lnTo>
                  <a:lnTo>
                    <a:pt x="109" y="165"/>
                  </a:lnTo>
                  <a:lnTo>
                    <a:pt x="88" y="155"/>
                  </a:lnTo>
                  <a:lnTo>
                    <a:pt x="71" y="146"/>
                  </a:lnTo>
                  <a:lnTo>
                    <a:pt x="65" y="143"/>
                  </a:lnTo>
                  <a:lnTo>
                    <a:pt x="57" y="140"/>
                  </a:lnTo>
                  <a:lnTo>
                    <a:pt x="47" y="136"/>
                  </a:lnTo>
                  <a:lnTo>
                    <a:pt x="36" y="132"/>
                  </a:lnTo>
                  <a:lnTo>
                    <a:pt x="26" y="128"/>
                  </a:lnTo>
                  <a:lnTo>
                    <a:pt x="17" y="125"/>
                  </a:lnTo>
                  <a:lnTo>
                    <a:pt x="12" y="124"/>
                  </a:lnTo>
                  <a:lnTo>
                    <a:pt x="9" y="123"/>
                  </a:lnTo>
                  <a:lnTo>
                    <a:pt x="8" y="115"/>
                  </a:lnTo>
                  <a:lnTo>
                    <a:pt x="5" y="103"/>
                  </a:lnTo>
                  <a:lnTo>
                    <a:pt x="2" y="90"/>
                  </a:lnTo>
                  <a:lnTo>
                    <a:pt x="0" y="84"/>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 name="Freeform 12"/>
            <p:cNvSpPr>
              <a:spLocks/>
            </p:cNvSpPr>
            <p:nvPr/>
          </p:nvSpPr>
          <p:spPr bwMode="auto">
            <a:xfrm>
              <a:off x="2050" y="3142"/>
              <a:ext cx="68" cy="64"/>
            </a:xfrm>
            <a:custGeom>
              <a:avLst/>
              <a:gdLst>
                <a:gd name="T0" fmla="*/ 68 w 68"/>
                <a:gd name="T1" fmla="*/ 30 h 64"/>
                <a:gd name="T2" fmla="*/ 68 w 68"/>
                <a:gd name="T3" fmla="*/ 30 h 64"/>
                <a:gd name="T4" fmla="*/ 64 w 68"/>
                <a:gd name="T5" fmla="*/ 39 h 64"/>
                <a:gd name="T6" fmla="*/ 58 w 68"/>
                <a:gd name="T7" fmla="*/ 46 h 64"/>
                <a:gd name="T8" fmla="*/ 51 w 68"/>
                <a:gd name="T9" fmla="*/ 51 h 64"/>
                <a:gd name="T10" fmla="*/ 44 w 68"/>
                <a:gd name="T11" fmla="*/ 56 h 64"/>
                <a:gd name="T12" fmla="*/ 36 w 68"/>
                <a:gd name="T13" fmla="*/ 58 h 64"/>
                <a:gd name="T14" fmla="*/ 27 w 68"/>
                <a:gd name="T15" fmla="*/ 61 h 64"/>
                <a:gd name="T16" fmla="*/ 18 w 68"/>
                <a:gd name="T17" fmla="*/ 62 h 64"/>
                <a:gd name="T18" fmla="*/ 9 w 68"/>
                <a:gd name="T19" fmla="*/ 64 h 64"/>
                <a:gd name="T20" fmla="*/ 0 w 68"/>
                <a:gd name="T21" fmla="*/ 64 h 64"/>
                <a:gd name="T22" fmla="*/ 1 w 68"/>
                <a:gd name="T23" fmla="*/ 61 h 64"/>
                <a:gd name="T24" fmla="*/ 4 w 68"/>
                <a:gd name="T25" fmla="*/ 60 h 64"/>
                <a:gd name="T26" fmla="*/ 5 w 68"/>
                <a:gd name="T27" fmla="*/ 57 h 64"/>
                <a:gd name="T28" fmla="*/ 6 w 68"/>
                <a:gd name="T29" fmla="*/ 56 h 64"/>
                <a:gd name="T30" fmla="*/ 7 w 68"/>
                <a:gd name="T31" fmla="*/ 56 h 64"/>
                <a:gd name="T32" fmla="*/ 7 w 68"/>
                <a:gd name="T33" fmla="*/ 56 h 64"/>
                <a:gd name="T34" fmla="*/ 7 w 68"/>
                <a:gd name="T35" fmla="*/ 56 h 64"/>
                <a:gd name="T36" fmla="*/ 9 w 68"/>
                <a:gd name="T37" fmla="*/ 55 h 64"/>
                <a:gd name="T38" fmla="*/ 14 w 68"/>
                <a:gd name="T39" fmla="*/ 48 h 64"/>
                <a:gd name="T40" fmla="*/ 20 w 68"/>
                <a:gd name="T41" fmla="*/ 43 h 64"/>
                <a:gd name="T42" fmla="*/ 26 w 68"/>
                <a:gd name="T43" fmla="*/ 36 h 64"/>
                <a:gd name="T44" fmla="*/ 32 w 68"/>
                <a:gd name="T45" fmla="*/ 29 h 64"/>
                <a:gd name="T46" fmla="*/ 37 w 68"/>
                <a:gd name="T47" fmla="*/ 22 h 64"/>
                <a:gd name="T48" fmla="*/ 42 w 68"/>
                <a:gd name="T49" fmla="*/ 16 h 64"/>
                <a:gd name="T50" fmla="*/ 46 w 68"/>
                <a:gd name="T51" fmla="*/ 8 h 64"/>
                <a:gd name="T52" fmla="*/ 51 w 68"/>
                <a:gd name="T53" fmla="*/ 0 h 64"/>
                <a:gd name="T54" fmla="*/ 57 w 68"/>
                <a:gd name="T55" fmla="*/ 7 h 64"/>
                <a:gd name="T56" fmla="*/ 60 w 68"/>
                <a:gd name="T57" fmla="*/ 12 h 64"/>
                <a:gd name="T58" fmla="*/ 64 w 68"/>
                <a:gd name="T59" fmla="*/ 18 h 64"/>
                <a:gd name="T60" fmla="*/ 67 w 68"/>
                <a:gd name="T61" fmla="*/ 25 h 64"/>
                <a:gd name="T62" fmla="*/ 68 w 68"/>
                <a:gd name="T63" fmla="*/ 25 h 64"/>
                <a:gd name="T64" fmla="*/ 67 w 68"/>
                <a:gd name="T65" fmla="*/ 26 h 64"/>
                <a:gd name="T66" fmla="*/ 67 w 68"/>
                <a:gd name="T67" fmla="*/ 27 h 64"/>
                <a:gd name="T68" fmla="*/ 67 w 68"/>
                <a:gd name="T69" fmla="*/ 29 h 64"/>
                <a:gd name="T70" fmla="*/ 68 w 68"/>
                <a:gd name="T71" fmla="*/ 30 h 6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
                <a:gd name="T109" fmla="*/ 0 h 64"/>
                <a:gd name="T110" fmla="*/ 68 w 68"/>
                <a:gd name="T111" fmla="*/ 64 h 6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 h="64">
                  <a:moveTo>
                    <a:pt x="68" y="30"/>
                  </a:moveTo>
                  <a:lnTo>
                    <a:pt x="68" y="30"/>
                  </a:lnTo>
                  <a:lnTo>
                    <a:pt x="64" y="39"/>
                  </a:lnTo>
                  <a:lnTo>
                    <a:pt x="58" y="46"/>
                  </a:lnTo>
                  <a:lnTo>
                    <a:pt x="51" y="51"/>
                  </a:lnTo>
                  <a:lnTo>
                    <a:pt x="44" y="56"/>
                  </a:lnTo>
                  <a:lnTo>
                    <a:pt x="36" y="58"/>
                  </a:lnTo>
                  <a:lnTo>
                    <a:pt x="27" y="61"/>
                  </a:lnTo>
                  <a:lnTo>
                    <a:pt x="18" y="62"/>
                  </a:lnTo>
                  <a:lnTo>
                    <a:pt x="9" y="64"/>
                  </a:lnTo>
                  <a:lnTo>
                    <a:pt x="0" y="64"/>
                  </a:lnTo>
                  <a:lnTo>
                    <a:pt x="1" y="61"/>
                  </a:lnTo>
                  <a:lnTo>
                    <a:pt x="4" y="60"/>
                  </a:lnTo>
                  <a:lnTo>
                    <a:pt x="5" y="57"/>
                  </a:lnTo>
                  <a:lnTo>
                    <a:pt x="6" y="56"/>
                  </a:lnTo>
                  <a:lnTo>
                    <a:pt x="7" y="56"/>
                  </a:lnTo>
                  <a:lnTo>
                    <a:pt x="9" y="55"/>
                  </a:lnTo>
                  <a:lnTo>
                    <a:pt x="14" y="48"/>
                  </a:lnTo>
                  <a:lnTo>
                    <a:pt x="20" y="43"/>
                  </a:lnTo>
                  <a:lnTo>
                    <a:pt x="26" y="36"/>
                  </a:lnTo>
                  <a:lnTo>
                    <a:pt x="32" y="29"/>
                  </a:lnTo>
                  <a:lnTo>
                    <a:pt x="37" y="22"/>
                  </a:lnTo>
                  <a:lnTo>
                    <a:pt x="42" y="16"/>
                  </a:lnTo>
                  <a:lnTo>
                    <a:pt x="46" y="8"/>
                  </a:lnTo>
                  <a:lnTo>
                    <a:pt x="51" y="0"/>
                  </a:lnTo>
                  <a:lnTo>
                    <a:pt x="57" y="7"/>
                  </a:lnTo>
                  <a:lnTo>
                    <a:pt x="60" y="12"/>
                  </a:lnTo>
                  <a:lnTo>
                    <a:pt x="64" y="18"/>
                  </a:lnTo>
                  <a:lnTo>
                    <a:pt x="67" y="25"/>
                  </a:lnTo>
                  <a:lnTo>
                    <a:pt x="68" y="25"/>
                  </a:lnTo>
                  <a:lnTo>
                    <a:pt x="67" y="26"/>
                  </a:lnTo>
                  <a:lnTo>
                    <a:pt x="67" y="27"/>
                  </a:lnTo>
                  <a:lnTo>
                    <a:pt x="67" y="29"/>
                  </a:lnTo>
                  <a:lnTo>
                    <a:pt x="68" y="3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 name="Freeform 13"/>
            <p:cNvSpPr>
              <a:spLocks/>
            </p:cNvSpPr>
            <p:nvPr/>
          </p:nvSpPr>
          <p:spPr bwMode="auto">
            <a:xfrm>
              <a:off x="1973" y="3255"/>
              <a:ext cx="52" cy="49"/>
            </a:xfrm>
            <a:custGeom>
              <a:avLst/>
              <a:gdLst>
                <a:gd name="T0" fmla="*/ 51 w 52"/>
                <a:gd name="T1" fmla="*/ 32 h 49"/>
                <a:gd name="T2" fmla="*/ 47 w 52"/>
                <a:gd name="T3" fmla="*/ 40 h 49"/>
                <a:gd name="T4" fmla="*/ 42 w 52"/>
                <a:gd name="T5" fmla="*/ 45 h 49"/>
                <a:gd name="T6" fmla="*/ 37 w 52"/>
                <a:gd name="T7" fmla="*/ 48 h 49"/>
                <a:gd name="T8" fmla="*/ 30 w 52"/>
                <a:gd name="T9" fmla="*/ 49 h 49"/>
                <a:gd name="T10" fmla="*/ 22 w 52"/>
                <a:gd name="T11" fmla="*/ 49 h 49"/>
                <a:gd name="T12" fmla="*/ 16 w 52"/>
                <a:gd name="T13" fmla="*/ 48 h 49"/>
                <a:gd name="T14" fmla="*/ 8 w 52"/>
                <a:gd name="T15" fmla="*/ 45 h 49"/>
                <a:gd name="T16" fmla="*/ 0 w 52"/>
                <a:gd name="T17" fmla="*/ 43 h 49"/>
                <a:gd name="T18" fmla="*/ 2 w 52"/>
                <a:gd name="T19" fmla="*/ 41 h 49"/>
                <a:gd name="T20" fmla="*/ 5 w 52"/>
                <a:gd name="T21" fmla="*/ 39 h 49"/>
                <a:gd name="T22" fmla="*/ 11 w 52"/>
                <a:gd name="T23" fmla="*/ 34 h 49"/>
                <a:gd name="T24" fmla="*/ 17 w 52"/>
                <a:gd name="T25" fmla="*/ 27 h 49"/>
                <a:gd name="T26" fmla="*/ 24 w 52"/>
                <a:gd name="T27" fmla="*/ 21 h 49"/>
                <a:gd name="T28" fmla="*/ 30 w 52"/>
                <a:gd name="T29" fmla="*/ 14 h 49"/>
                <a:gd name="T30" fmla="*/ 37 w 52"/>
                <a:gd name="T31" fmla="*/ 6 h 49"/>
                <a:gd name="T32" fmla="*/ 42 w 52"/>
                <a:gd name="T33" fmla="*/ 0 h 49"/>
                <a:gd name="T34" fmla="*/ 46 w 52"/>
                <a:gd name="T35" fmla="*/ 9 h 49"/>
                <a:gd name="T36" fmla="*/ 49 w 52"/>
                <a:gd name="T37" fmla="*/ 17 h 49"/>
                <a:gd name="T38" fmla="*/ 52 w 52"/>
                <a:gd name="T39" fmla="*/ 24 h 49"/>
                <a:gd name="T40" fmla="*/ 51 w 52"/>
                <a:gd name="T41" fmla="*/ 32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2"/>
                <a:gd name="T64" fmla="*/ 0 h 49"/>
                <a:gd name="T65" fmla="*/ 52 w 52"/>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2" h="49">
                  <a:moveTo>
                    <a:pt x="51" y="32"/>
                  </a:moveTo>
                  <a:lnTo>
                    <a:pt x="47" y="40"/>
                  </a:lnTo>
                  <a:lnTo>
                    <a:pt x="42" y="45"/>
                  </a:lnTo>
                  <a:lnTo>
                    <a:pt x="37" y="48"/>
                  </a:lnTo>
                  <a:lnTo>
                    <a:pt x="30" y="49"/>
                  </a:lnTo>
                  <a:lnTo>
                    <a:pt x="22" y="49"/>
                  </a:lnTo>
                  <a:lnTo>
                    <a:pt x="16" y="48"/>
                  </a:lnTo>
                  <a:lnTo>
                    <a:pt x="8" y="45"/>
                  </a:lnTo>
                  <a:lnTo>
                    <a:pt x="0" y="43"/>
                  </a:lnTo>
                  <a:lnTo>
                    <a:pt x="2" y="41"/>
                  </a:lnTo>
                  <a:lnTo>
                    <a:pt x="5" y="39"/>
                  </a:lnTo>
                  <a:lnTo>
                    <a:pt x="11" y="34"/>
                  </a:lnTo>
                  <a:lnTo>
                    <a:pt x="17" y="27"/>
                  </a:lnTo>
                  <a:lnTo>
                    <a:pt x="24" y="21"/>
                  </a:lnTo>
                  <a:lnTo>
                    <a:pt x="30" y="14"/>
                  </a:lnTo>
                  <a:lnTo>
                    <a:pt x="37" y="6"/>
                  </a:lnTo>
                  <a:lnTo>
                    <a:pt x="42" y="0"/>
                  </a:lnTo>
                  <a:lnTo>
                    <a:pt x="46" y="9"/>
                  </a:lnTo>
                  <a:lnTo>
                    <a:pt x="49" y="17"/>
                  </a:lnTo>
                  <a:lnTo>
                    <a:pt x="52" y="24"/>
                  </a:lnTo>
                  <a:lnTo>
                    <a:pt x="51" y="3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 name="Freeform 14"/>
            <p:cNvSpPr>
              <a:spLocks/>
            </p:cNvSpPr>
            <p:nvPr/>
          </p:nvSpPr>
          <p:spPr bwMode="auto">
            <a:xfrm>
              <a:off x="1400" y="3136"/>
              <a:ext cx="775" cy="285"/>
            </a:xfrm>
            <a:custGeom>
              <a:avLst/>
              <a:gdLst>
                <a:gd name="T0" fmla="*/ 652 w 775"/>
                <a:gd name="T1" fmla="*/ 190 h 285"/>
                <a:gd name="T2" fmla="*/ 630 w 775"/>
                <a:gd name="T3" fmla="*/ 221 h 285"/>
                <a:gd name="T4" fmla="*/ 606 w 775"/>
                <a:gd name="T5" fmla="*/ 251 h 285"/>
                <a:gd name="T6" fmla="*/ 577 w 775"/>
                <a:gd name="T7" fmla="*/ 273 h 285"/>
                <a:gd name="T8" fmla="*/ 542 w 775"/>
                <a:gd name="T9" fmla="*/ 283 h 285"/>
                <a:gd name="T10" fmla="*/ 503 w 775"/>
                <a:gd name="T11" fmla="*/ 285 h 285"/>
                <a:gd name="T12" fmla="*/ 466 w 775"/>
                <a:gd name="T13" fmla="*/ 278 h 285"/>
                <a:gd name="T14" fmla="*/ 428 w 775"/>
                <a:gd name="T15" fmla="*/ 267 h 285"/>
                <a:gd name="T16" fmla="*/ 386 w 775"/>
                <a:gd name="T17" fmla="*/ 251 h 285"/>
                <a:gd name="T18" fmla="*/ 335 w 775"/>
                <a:gd name="T19" fmla="*/ 232 h 285"/>
                <a:gd name="T20" fmla="*/ 286 w 775"/>
                <a:gd name="T21" fmla="*/ 212 h 285"/>
                <a:gd name="T22" fmla="*/ 234 w 775"/>
                <a:gd name="T23" fmla="*/ 193 h 285"/>
                <a:gd name="T24" fmla="*/ 184 w 775"/>
                <a:gd name="T25" fmla="*/ 172 h 285"/>
                <a:gd name="T26" fmla="*/ 133 w 775"/>
                <a:gd name="T27" fmla="*/ 153 h 285"/>
                <a:gd name="T28" fmla="*/ 84 w 775"/>
                <a:gd name="T29" fmla="*/ 132 h 285"/>
                <a:gd name="T30" fmla="*/ 35 w 775"/>
                <a:gd name="T31" fmla="*/ 111 h 285"/>
                <a:gd name="T32" fmla="*/ 9 w 775"/>
                <a:gd name="T33" fmla="*/ 98 h 285"/>
                <a:gd name="T34" fmla="*/ 1 w 775"/>
                <a:gd name="T35" fmla="*/ 84 h 285"/>
                <a:gd name="T36" fmla="*/ 9 w 775"/>
                <a:gd name="T37" fmla="*/ 83 h 285"/>
                <a:gd name="T38" fmla="*/ 31 w 775"/>
                <a:gd name="T39" fmla="*/ 92 h 285"/>
                <a:gd name="T40" fmla="*/ 54 w 775"/>
                <a:gd name="T41" fmla="*/ 101 h 285"/>
                <a:gd name="T42" fmla="*/ 76 w 775"/>
                <a:gd name="T43" fmla="*/ 110 h 285"/>
                <a:gd name="T44" fmla="*/ 111 w 775"/>
                <a:gd name="T45" fmla="*/ 127 h 285"/>
                <a:gd name="T46" fmla="*/ 158 w 775"/>
                <a:gd name="T47" fmla="*/ 146 h 285"/>
                <a:gd name="T48" fmla="*/ 198 w 775"/>
                <a:gd name="T49" fmla="*/ 160 h 285"/>
                <a:gd name="T50" fmla="*/ 232 w 775"/>
                <a:gd name="T51" fmla="*/ 172 h 285"/>
                <a:gd name="T52" fmla="*/ 264 w 775"/>
                <a:gd name="T53" fmla="*/ 184 h 285"/>
                <a:gd name="T54" fmla="*/ 296 w 775"/>
                <a:gd name="T55" fmla="*/ 195 h 285"/>
                <a:gd name="T56" fmla="*/ 329 w 775"/>
                <a:gd name="T57" fmla="*/ 207 h 285"/>
                <a:gd name="T58" fmla="*/ 361 w 775"/>
                <a:gd name="T59" fmla="*/ 219 h 285"/>
                <a:gd name="T60" fmla="*/ 393 w 775"/>
                <a:gd name="T61" fmla="*/ 230 h 285"/>
                <a:gd name="T62" fmla="*/ 426 w 775"/>
                <a:gd name="T63" fmla="*/ 241 h 285"/>
                <a:gd name="T64" fmla="*/ 458 w 775"/>
                <a:gd name="T65" fmla="*/ 251 h 285"/>
                <a:gd name="T66" fmla="*/ 492 w 775"/>
                <a:gd name="T67" fmla="*/ 260 h 285"/>
                <a:gd name="T68" fmla="*/ 514 w 775"/>
                <a:gd name="T69" fmla="*/ 265 h 285"/>
                <a:gd name="T70" fmla="*/ 531 w 775"/>
                <a:gd name="T71" fmla="*/ 267 h 285"/>
                <a:gd name="T72" fmla="*/ 549 w 775"/>
                <a:gd name="T73" fmla="*/ 264 h 285"/>
                <a:gd name="T74" fmla="*/ 573 w 775"/>
                <a:gd name="T75" fmla="*/ 247 h 285"/>
                <a:gd name="T76" fmla="*/ 597 w 775"/>
                <a:gd name="T77" fmla="*/ 220 h 285"/>
                <a:gd name="T78" fmla="*/ 616 w 775"/>
                <a:gd name="T79" fmla="*/ 194 h 285"/>
                <a:gd name="T80" fmla="*/ 629 w 775"/>
                <a:gd name="T81" fmla="*/ 176 h 285"/>
                <a:gd name="T82" fmla="*/ 638 w 775"/>
                <a:gd name="T83" fmla="*/ 167 h 285"/>
                <a:gd name="T84" fmla="*/ 643 w 775"/>
                <a:gd name="T85" fmla="*/ 162 h 285"/>
                <a:gd name="T86" fmla="*/ 659 w 775"/>
                <a:gd name="T87" fmla="*/ 145 h 285"/>
                <a:gd name="T88" fmla="*/ 676 w 775"/>
                <a:gd name="T89" fmla="*/ 125 h 285"/>
                <a:gd name="T90" fmla="*/ 692 w 775"/>
                <a:gd name="T91" fmla="*/ 101 h 285"/>
                <a:gd name="T92" fmla="*/ 707 w 775"/>
                <a:gd name="T93" fmla="*/ 79 h 285"/>
                <a:gd name="T94" fmla="*/ 720 w 775"/>
                <a:gd name="T95" fmla="*/ 66 h 285"/>
                <a:gd name="T96" fmla="*/ 726 w 775"/>
                <a:gd name="T97" fmla="*/ 58 h 285"/>
                <a:gd name="T98" fmla="*/ 734 w 775"/>
                <a:gd name="T99" fmla="*/ 44 h 285"/>
                <a:gd name="T100" fmla="*/ 738 w 775"/>
                <a:gd name="T101" fmla="*/ 36 h 285"/>
                <a:gd name="T102" fmla="*/ 752 w 775"/>
                <a:gd name="T103" fmla="*/ 11 h 285"/>
                <a:gd name="T104" fmla="*/ 762 w 775"/>
                <a:gd name="T105" fmla="*/ 5 h 285"/>
                <a:gd name="T106" fmla="*/ 773 w 775"/>
                <a:gd name="T107" fmla="*/ 17 h 285"/>
                <a:gd name="T108" fmla="*/ 762 w 775"/>
                <a:gd name="T109" fmla="*/ 40 h 285"/>
                <a:gd name="T110" fmla="*/ 735 w 775"/>
                <a:gd name="T111" fmla="*/ 79 h 285"/>
                <a:gd name="T112" fmla="*/ 707 w 775"/>
                <a:gd name="T113" fmla="*/ 118 h 285"/>
                <a:gd name="T114" fmla="*/ 678 w 775"/>
                <a:gd name="T115" fmla="*/ 156 h 28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775"/>
                <a:gd name="T175" fmla="*/ 0 h 285"/>
                <a:gd name="T176" fmla="*/ 775 w 775"/>
                <a:gd name="T177" fmla="*/ 285 h 28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775" h="285">
                  <a:moveTo>
                    <a:pt x="663" y="176"/>
                  </a:moveTo>
                  <a:lnTo>
                    <a:pt x="652" y="190"/>
                  </a:lnTo>
                  <a:lnTo>
                    <a:pt x="641" y="206"/>
                  </a:lnTo>
                  <a:lnTo>
                    <a:pt x="630" y="221"/>
                  </a:lnTo>
                  <a:lnTo>
                    <a:pt x="619" y="237"/>
                  </a:lnTo>
                  <a:lnTo>
                    <a:pt x="606" y="251"/>
                  </a:lnTo>
                  <a:lnTo>
                    <a:pt x="591" y="264"/>
                  </a:lnTo>
                  <a:lnTo>
                    <a:pt x="577" y="273"/>
                  </a:lnTo>
                  <a:lnTo>
                    <a:pt x="560" y="279"/>
                  </a:lnTo>
                  <a:lnTo>
                    <a:pt x="542" y="283"/>
                  </a:lnTo>
                  <a:lnTo>
                    <a:pt x="523" y="285"/>
                  </a:lnTo>
                  <a:lnTo>
                    <a:pt x="503" y="285"/>
                  </a:lnTo>
                  <a:lnTo>
                    <a:pt x="484" y="282"/>
                  </a:lnTo>
                  <a:lnTo>
                    <a:pt x="466" y="278"/>
                  </a:lnTo>
                  <a:lnTo>
                    <a:pt x="446" y="273"/>
                  </a:lnTo>
                  <a:lnTo>
                    <a:pt x="428" y="267"/>
                  </a:lnTo>
                  <a:lnTo>
                    <a:pt x="410" y="260"/>
                  </a:lnTo>
                  <a:lnTo>
                    <a:pt x="386" y="251"/>
                  </a:lnTo>
                  <a:lnTo>
                    <a:pt x="361" y="241"/>
                  </a:lnTo>
                  <a:lnTo>
                    <a:pt x="335" y="232"/>
                  </a:lnTo>
                  <a:lnTo>
                    <a:pt x="311" y="221"/>
                  </a:lnTo>
                  <a:lnTo>
                    <a:pt x="286" y="212"/>
                  </a:lnTo>
                  <a:lnTo>
                    <a:pt x="260" y="202"/>
                  </a:lnTo>
                  <a:lnTo>
                    <a:pt x="234" y="193"/>
                  </a:lnTo>
                  <a:lnTo>
                    <a:pt x="210" y="182"/>
                  </a:lnTo>
                  <a:lnTo>
                    <a:pt x="184" y="172"/>
                  </a:lnTo>
                  <a:lnTo>
                    <a:pt x="159" y="163"/>
                  </a:lnTo>
                  <a:lnTo>
                    <a:pt x="133" y="153"/>
                  </a:lnTo>
                  <a:lnTo>
                    <a:pt x="109" y="142"/>
                  </a:lnTo>
                  <a:lnTo>
                    <a:pt x="84" y="132"/>
                  </a:lnTo>
                  <a:lnTo>
                    <a:pt x="59" y="121"/>
                  </a:lnTo>
                  <a:lnTo>
                    <a:pt x="35" y="111"/>
                  </a:lnTo>
                  <a:lnTo>
                    <a:pt x="10" y="101"/>
                  </a:lnTo>
                  <a:lnTo>
                    <a:pt x="9" y="98"/>
                  </a:lnTo>
                  <a:lnTo>
                    <a:pt x="5" y="92"/>
                  </a:lnTo>
                  <a:lnTo>
                    <a:pt x="1" y="84"/>
                  </a:lnTo>
                  <a:lnTo>
                    <a:pt x="0" y="79"/>
                  </a:lnTo>
                  <a:lnTo>
                    <a:pt x="9" y="83"/>
                  </a:lnTo>
                  <a:lnTo>
                    <a:pt x="19" y="86"/>
                  </a:lnTo>
                  <a:lnTo>
                    <a:pt x="31" y="92"/>
                  </a:lnTo>
                  <a:lnTo>
                    <a:pt x="43" y="96"/>
                  </a:lnTo>
                  <a:lnTo>
                    <a:pt x="54" y="101"/>
                  </a:lnTo>
                  <a:lnTo>
                    <a:pt x="66" y="105"/>
                  </a:lnTo>
                  <a:lnTo>
                    <a:pt x="76" y="110"/>
                  </a:lnTo>
                  <a:lnTo>
                    <a:pt x="85" y="114"/>
                  </a:lnTo>
                  <a:lnTo>
                    <a:pt x="111" y="127"/>
                  </a:lnTo>
                  <a:lnTo>
                    <a:pt x="136" y="137"/>
                  </a:lnTo>
                  <a:lnTo>
                    <a:pt x="158" y="146"/>
                  </a:lnTo>
                  <a:lnTo>
                    <a:pt x="178" y="154"/>
                  </a:lnTo>
                  <a:lnTo>
                    <a:pt x="198" y="160"/>
                  </a:lnTo>
                  <a:lnTo>
                    <a:pt x="215" y="167"/>
                  </a:lnTo>
                  <a:lnTo>
                    <a:pt x="232" y="172"/>
                  </a:lnTo>
                  <a:lnTo>
                    <a:pt x="247" y="177"/>
                  </a:lnTo>
                  <a:lnTo>
                    <a:pt x="264" y="184"/>
                  </a:lnTo>
                  <a:lnTo>
                    <a:pt x="281" y="189"/>
                  </a:lnTo>
                  <a:lnTo>
                    <a:pt x="296" y="195"/>
                  </a:lnTo>
                  <a:lnTo>
                    <a:pt x="313" y="200"/>
                  </a:lnTo>
                  <a:lnTo>
                    <a:pt x="329" y="207"/>
                  </a:lnTo>
                  <a:lnTo>
                    <a:pt x="345" y="213"/>
                  </a:lnTo>
                  <a:lnTo>
                    <a:pt x="361" y="219"/>
                  </a:lnTo>
                  <a:lnTo>
                    <a:pt x="378" y="224"/>
                  </a:lnTo>
                  <a:lnTo>
                    <a:pt x="393" y="230"/>
                  </a:lnTo>
                  <a:lnTo>
                    <a:pt x="410" y="235"/>
                  </a:lnTo>
                  <a:lnTo>
                    <a:pt x="426" y="241"/>
                  </a:lnTo>
                  <a:lnTo>
                    <a:pt x="443" y="246"/>
                  </a:lnTo>
                  <a:lnTo>
                    <a:pt x="458" y="251"/>
                  </a:lnTo>
                  <a:lnTo>
                    <a:pt x="475" y="256"/>
                  </a:lnTo>
                  <a:lnTo>
                    <a:pt x="492" y="260"/>
                  </a:lnTo>
                  <a:lnTo>
                    <a:pt x="509" y="264"/>
                  </a:lnTo>
                  <a:lnTo>
                    <a:pt x="514" y="265"/>
                  </a:lnTo>
                  <a:lnTo>
                    <a:pt x="522" y="267"/>
                  </a:lnTo>
                  <a:lnTo>
                    <a:pt x="531" y="267"/>
                  </a:lnTo>
                  <a:lnTo>
                    <a:pt x="536" y="267"/>
                  </a:lnTo>
                  <a:lnTo>
                    <a:pt x="549" y="264"/>
                  </a:lnTo>
                  <a:lnTo>
                    <a:pt x="560" y="257"/>
                  </a:lnTo>
                  <a:lnTo>
                    <a:pt x="573" y="247"/>
                  </a:lnTo>
                  <a:lnTo>
                    <a:pt x="585" y="234"/>
                  </a:lnTo>
                  <a:lnTo>
                    <a:pt x="597" y="220"/>
                  </a:lnTo>
                  <a:lnTo>
                    <a:pt x="607" y="206"/>
                  </a:lnTo>
                  <a:lnTo>
                    <a:pt x="616" y="194"/>
                  </a:lnTo>
                  <a:lnTo>
                    <a:pt x="622" y="185"/>
                  </a:lnTo>
                  <a:lnTo>
                    <a:pt x="629" y="176"/>
                  </a:lnTo>
                  <a:lnTo>
                    <a:pt x="635" y="171"/>
                  </a:lnTo>
                  <a:lnTo>
                    <a:pt x="638" y="167"/>
                  </a:lnTo>
                  <a:lnTo>
                    <a:pt x="639" y="165"/>
                  </a:lnTo>
                  <a:lnTo>
                    <a:pt x="643" y="162"/>
                  </a:lnTo>
                  <a:lnTo>
                    <a:pt x="651" y="153"/>
                  </a:lnTo>
                  <a:lnTo>
                    <a:pt x="659" y="145"/>
                  </a:lnTo>
                  <a:lnTo>
                    <a:pt x="663" y="141"/>
                  </a:lnTo>
                  <a:lnTo>
                    <a:pt x="676" y="125"/>
                  </a:lnTo>
                  <a:lnTo>
                    <a:pt x="685" y="114"/>
                  </a:lnTo>
                  <a:lnTo>
                    <a:pt x="692" y="101"/>
                  </a:lnTo>
                  <a:lnTo>
                    <a:pt x="700" y="83"/>
                  </a:lnTo>
                  <a:lnTo>
                    <a:pt x="707" y="79"/>
                  </a:lnTo>
                  <a:lnTo>
                    <a:pt x="713" y="72"/>
                  </a:lnTo>
                  <a:lnTo>
                    <a:pt x="720" y="66"/>
                  </a:lnTo>
                  <a:lnTo>
                    <a:pt x="725" y="61"/>
                  </a:lnTo>
                  <a:lnTo>
                    <a:pt x="726" y="58"/>
                  </a:lnTo>
                  <a:lnTo>
                    <a:pt x="730" y="52"/>
                  </a:lnTo>
                  <a:lnTo>
                    <a:pt x="734" y="44"/>
                  </a:lnTo>
                  <a:lnTo>
                    <a:pt x="735" y="40"/>
                  </a:lnTo>
                  <a:lnTo>
                    <a:pt x="738" y="36"/>
                  </a:lnTo>
                  <a:lnTo>
                    <a:pt x="744" y="26"/>
                  </a:lnTo>
                  <a:lnTo>
                    <a:pt x="752" y="11"/>
                  </a:lnTo>
                  <a:lnTo>
                    <a:pt x="758" y="0"/>
                  </a:lnTo>
                  <a:lnTo>
                    <a:pt x="762" y="5"/>
                  </a:lnTo>
                  <a:lnTo>
                    <a:pt x="767" y="11"/>
                  </a:lnTo>
                  <a:lnTo>
                    <a:pt x="773" y="17"/>
                  </a:lnTo>
                  <a:lnTo>
                    <a:pt x="775" y="20"/>
                  </a:lnTo>
                  <a:lnTo>
                    <a:pt x="762" y="40"/>
                  </a:lnTo>
                  <a:lnTo>
                    <a:pt x="749" y="59"/>
                  </a:lnTo>
                  <a:lnTo>
                    <a:pt x="735" y="79"/>
                  </a:lnTo>
                  <a:lnTo>
                    <a:pt x="721" y="98"/>
                  </a:lnTo>
                  <a:lnTo>
                    <a:pt x="707" y="118"/>
                  </a:lnTo>
                  <a:lnTo>
                    <a:pt x="692" y="137"/>
                  </a:lnTo>
                  <a:lnTo>
                    <a:pt x="678" y="156"/>
                  </a:lnTo>
                  <a:lnTo>
                    <a:pt x="663" y="176"/>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 name="Freeform 15"/>
            <p:cNvSpPr>
              <a:spLocks/>
            </p:cNvSpPr>
            <p:nvPr/>
          </p:nvSpPr>
          <p:spPr bwMode="auto">
            <a:xfrm>
              <a:off x="1991" y="2949"/>
              <a:ext cx="237" cy="188"/>
            </a:xfrm>
            <a:custGeom>
              <a:avLst/>
              <a:gdLst>
                <a:gd name="T0" fmla="*/ 197 w 237"/>
                <a:gd name="T1" fmla="*/ 188 h 188"/>
                <a:gd name="T2" fmla="*/ 191 w 237"/>
                <a:gd name="T3" fmla="*/ 179 h 188"/>
                <a:gd name="T4" fmla="*/ 183 w 237"/>
                <a:gd name="T5" fmla="*/ 170 h 188"/>
                <a:gd name="T6" fmla="*/ 175 w 237"/>
                <a:gd name="T7" fmla="*/ 162 h 188"/>
                <a:gd name="T8" fmla="*/ 167 w 237"/>
                <a:gd name="T9" fmla="*/ 153 h 188"/>
                <a:gd name="T10" fmla="*/ 160 w 237"/>
                <a:gd name="T11" fmla="*/ 145 h 188"/>
                <a:gd name="T12" fmla="*/ 152 w 237"/>
                <a:gd name="T13" fmla="*/ 136 h 188"/>
                <a:gd name="T14" fmla="*/ 144 w 237"/>
                <a:gd name="T15" fmla="*/ 128 h 188"/>
                <a:gd name="T16" fmla="*/ 136 w 237"/>
                <a:gd name="T17" fmla="*/ 119 h 188"/>
                <a:gd name="T18" fmla="*/ 123 w 237"/>
                <a:gd name="T19" fmla="*/ 105 h 188"/>
                <a:gd name="T20" fmla="*/ 110 w 237"/>
                <a:gd name="T21" fmla="*/ 95 h 188"/>
                <a:gd name="T22" fmla="*/ 95 w 237"/>
                <a:gd name="T23" fmla="*/ 86 h 188"/>
                <a:gd name="T24" fmla="*/ 78 w 237"/>
                <a:gd name="T25" fmla="*/ 78 h 188"/>
                <a:gd name="T26" fmla="*/ 61 w 237"/>
                <a:gd name="T27" fmla="*/ 73 h 188"/>
                <a:gd name="T28" fmla="*/ 44 w 237"/>
                <a:gd name="T29" fmla="*/ 66 h 188"/>
                <a:gd name="T30" fmla="*/ 28 w 237"/>
                <a:gd name="T31" fmla="*/ 60 h 188"/>
                <a:gd name="T32" fmla="*/ 11 w 237"/>
                <a:gd name="T33" fmla="*/ 53 h 188"/>
                <a:gd name="T34" fmla="*/ 7 w 237"/>
                <a:gd name="T35" fmla="*/ 51 h 188"/>
                <a:gd name="T36" fmla="*/ 4 w 237"/>
                <a:gd name="T37" fmla="*/ 48 h 188"/>
                <a:gd name="T38" fmla="*/ 2 w 237"/>
                <a:gd name="T39" fmla="*/ 45 h 188"/>
                <a:gd name="T40" fmla="*/ 0 w 237"/>
                <a:gd name="T41" fmla="*/ 42 h 188"/>
                <a:gd name="T42" fmla="*/ 0 w 237"/>
                <a:gd name="T43" fmla="*/ 31 h 188"/>
                <a:gd name="T44" fmla="*/ 4 w 237"/>
                <a:gd name="T45" fmla="*/ 21 h 188"/>
                <a:gd name="T46" fmla="*/ 9 w 237"/>
                <a:gd name="T47" fmla="*/ 13 h 188"/>
                <a:gd name="T48" fmla="*/ 20 w 237"/>
                <a:gd name="T49" fmla="*/ 8 h 188"/>
                <a:gd name="T50" fmla="*/ 33 w 237"/>
                <a:gd name="T51" fmla="*/ 4 h 188"/>
                <a:gd name="T52" fmla="*/ 47 w 237"/>
                <a:gd name="T53" fmla="*/ 1 h 188"/>
                <a:gd name="T54" fmla="*/ 61 w 237"/>
                <a:gd name="T55" fmla="*/ 0 h 188"/>
                <a:gd name="T56" fmla="*/ 75 w 237"/>
                <a:gd name="T57" fmla="*/ 1 h 188"/>
                <a:gd name="T58" fmla="*/ 90 w 237"/>
                <a:gd name="T59" fmla="*/ 4 h 188"/>
                <a:gd name="T60" fmla="*/ 103 w 237"/>
                <a:gd name="T61" fmla="*/ 8 h 188"/>
                <a:gd name="T62" fmla="*/ 116 w 237"/>
                <a:gd name="T63" fmla="*/ 13 h 188"/>
                <a:gd name="T64" fmla="*/ 129 w 237"/>
                <a:gd name="T65" fmla="*/ 20 h 188"/>
                <a:gd name="T66" fmla="*/ 145 w 237"/>
                <a:gd name="T67" fmla="*/ 30 h 188"/>
                <a:gd name="T68" fmla="*/ 161 w 237"/>
                <a:gd name="T69" fmla="*/ 42 h 188"/>
                <a:gd name="T70" fmla="*/ 175 w 237"/>
                <a:gd name="T71" fmla="*/ 53 h 188"/>
                <a:gd name="T72" fmla="*/ 188 w 237"/>
                <a:gd name="T73" fmla="*/ 68 h 188"/>
                <a:gd name="T74" fmla="*/ 201 w 237"/>
                <a:gd name="T75" fmla="*/ 82 h 188"/>
                <a:gd name="T76" fmla="*/ 213 w 237"/>
                <a:gd name="T77" fmla="*/ 97 h 188"/>
                <a:gd name="T78" fmla="*/ 226 w 237"/>
                <a:gd name="T79" fmla="*/ 112 h 188"/>
                <a:gd name="T80" fmla="*/ 237 w 237"/>
                <a:gd name="T81" fmla="*/ 127 h 188"/>
                <a:gd name="T82" fmla="*/ 232 w 237"/>
                <a:gd name="T83" fmla="*/ 135 h 188"/>
                <a:gd name="T84" fmla="*/ 227 w 237"/>
                <a:gd name="T85" fmla="*/ 143 h 188"/>
                <a:gd name="T86" fmla="*/ 222 w 237"/>
                <a:gd name="T87" fmla="*/ 150 h 188"/>
                <a:gd name="T88" fmla="*/ 218 w 237"/>
                <a:gd name="T89" fmla="*/ 158 h 188"/>
                <a:gd name="T90" fmla="*/ 213 w 237"/>
                <a:gd name="T91" fmla="*/ 166 h 188"/>
                <a:gd name="T92" fmla="*/ 208 w 237"/>
                <a:gd name="T93" fmla="*/ 174 h 188"/>
                <a:gd name="T94" fmla="*/ 202 w 237"/>
                <a:gd name="T95" fmla="*/ 180 h 188"/>
                <a:gd name="T96" fmla="*/ 197 w 237"/>
                <a:gd name="T97" fmla="*/ 188 h 1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37"/>
                <a:gd name="T148" fmla="*/ 0 h 188"/>
                <a:gd name="T149" fmla="*/ 237 w 237"/>
                <a:gd name="T150" fmla="*/ 188 h 1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37" h="188">
                  <a:moveTo>
                    <a:pt x="197" y="188"/>
                  </a:moveTo>
                  <a:lnTo>
                    <a:pt x="191" y="179"/>
                  </a:lnTo>
                  <a:lnTo>
                    <a:pt x="183" y="170"/>
                  </a:lnTo>
                  <a:lnTo>
                    <a:pt x="175" y="162"/>
                  </a:lnTo>
                  <a:lnTo>
                    <a:pt x="167" y="153"/>
                  </a:lnTo>
                  <a:lnTo>
                    <a:pt x="160" y="145"/>
                  </a:lnTo>
                  <a:lnTo>
                    <a:pt x="152" y="136"/>
                  </a:lnTo>
                  <a:lnTo>
                    <a:pt x="144" y="128"/>
                  </a:lnTo>
                  <a:lnTo>
                    <a:pt x="136" y="119"/>
                  </a:lnTo>
                  <a:lnTo>
                    <a:pt x="123" y="105"/>
                  </a:lnTo>
                  <a:lnTo>
                    <a:pt x="110" y="95"/>
                  </a:lnTo>
                  <a:lnTo>
                    <a:pt x="95" y="86"/>
                  </a:lnTo>
                  <a:lnTo>
                    <a:pt x="78" y="78"/>
                  </a:lnTo>
                  <a:lnTo>
                    <a:pt x="61" y="73"/>
                  </a:lnTo>
                  <a:lnTo>
                    <a:pt x="44" y="66"/>
                  </a:lnTo>
                  <a:lnTo>
                    <a:pt x="28" y="60"/>
                  </a:lnTo>
                  <a:lnTo>
                    <a:pt x="11" y="53"/>
                  </a:lnTo>
                  <a:lnTo>
                    <a:pt x="7" y="51"/>
                  </a:lnTo>
                  <a:lnTo>
                    <a:pt x="4" y="48"/>
                  </a:lnTo>
                  <a:lnTo>
                    <a:pt x="2" y="45"/>
                  </a:lnTo>
                  <a:lnTo>
                    <a:pt x="0" y="42"/>
                  </a:lnTo>
                  <a:lnTo>
                    <a:pt x="0" y="31"/>
                  </a:lnTo>
                  <a:lnTo>
                    <a:pt x="4" y="21"/>
                  </a:lnTo>
                  <a:lnTo>
                    <a:pt x="9" y="13"/>
                  </a:lnTo>
                  <a:lnTo>
                    <a:pt x="20" y="8"/>
                  </a:lnTo>
                  <a:lnTo>
                    <a:pt x="33" y="4"/>
                  </a:lnTo>
                  <a:lnTo>
                    <a:pt x="47" y="1"/>
                  </a:lnTo>
                  <a:lnTo>
                    <a:pt x="61" y="0"/>
                  </a:lnTo>
                  <a:lnTo>
                    <a:pt x="75" y="1"/>
                  </a:lnTo>
                  <a:lnTo>
                    <a:pt x="90" y="4"/>
                  </a:lnTo>
                  <a:lnTo>
                    <a:pt x="103" y="8"/>
                  </a:lnTo>
                  <a:lnTo>
                    <a:pt x="116" y="13"/>
                  </a:lnTo>
                  <a:lnTo>
                    <a:pt x="129" y="20"/>
                  </a:lnTo>
                  <a:lnTo>
                    <a:pt x="145" y="30"/>
                  </a:lnTo>
                  <a:lnTo>
                    <a:pt x="161" y="42"/>
                  </a:lnTo>
                  <a:lnTo>
                    <a:pt x="175" y="53"/>
                  </a:lnTo>
                  <a:lnTo>
                    <a:pt x="188" y="68"/>
                  </a:lnTo>
                  <a:lnTo>
                    <a:pt x="201" y="82"/>
                  </a:lnTo>
                  <a:lnTo>
                    <a:pt x="213" y="97"/>
                  </a:lnTo>
                  <a:lnTo>
                    <a:pt x="226" y="112"/>
                  </a:lnTo>
                  <a:lnTo>
                    <a:pt x="237" y="127"/>
                  </a:lnTo>
                  <a:lnTo>
                    <a:pt x="232" y="135"/>
                  </a:lnTo>
                  <a:lnTo>
                    <a:pt x="227" y="143"/>
                  </a:lnTo>
                  <a:lnTo>
                    <a:pt x="222" y="150"/>
                  </a:lnTo>
                  <a:lnTo>
                    <a:pt x="218" y="158"/>
                  </a:lnTo>
                  <a:lnTo>
                    <a:pt x="213" y="166"/>
                  </a:lnTo>
                  <a:lnTo>
                    <a:pt x="208" y="174"/>
                  </a:lnTo>
                  <a:lnTo>
                    <a:pt x="202" y="180"/>
                  </a:lnTo>
                  <a:lnTo>
                    <a:pt x="197" y="188"/>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 name="Freeform 16"/>
            <p:cNvSpPr>
              <a:spLocks/>
            </p:cNvSpPr>
            <p:nvPr/>
          </p:nvSpPr>
          <p:spPr bwMode="auto">
            <a:xfrm>
              <a:off x="2226" y="2783"/>
              <a:ext cx="164" cy="275"/>
            </a:xfrm>
            <a:custGeom>
              <a:avLst/>
              <a:gdLst>
                <a:gd name="T0" fmla="*/ 160 w 164"/>
                <a:gd name="T1" fmla="*/ 91 h 275"/>
                <a:gd name="T2" fmla="*/ 142 w 164"/>
                <a:gd name="T3" fmla="*/ 112 h 275"/>
                <a:gd name="T4" fmla="*/ 125 w 164"/>
                <a:gd name="T5" fmla="*/ 132 h 275"/>
                <a:gd name="T6" fmla="*/ 108 w 164"/>
                <a:gd name="T7" fmla="*/ 155 h 275"/>
                <a:gd name="T8" fmla="*/ 92 w 164"/>
                <a:gd name="T9" fmla="*/ 175 h 275"/>
                <a:gd name="T10" fmla="*/ 75 w 164"/>
                <a:gd name="T11" fmla="*/ 197 h 275"/>
                <a:gd name="T12" fmla="*/ 58 w 164"/>
                <a:gd name="T13" fmla="*/ 218 h 275"/>
                <a:gd name="T14" fmla="*/ 41 w 164"/>
                <a:gd name="T15" fmla="*/ 240 h 275"/>
                <a:gd name="T16" fmla="*/ 23 w 164"/>
                <a:gd name="T17" fmla="*/ 261 h 275"/>
                <a:gd name="T18" fmla="*/ 19 w 164"/>
                <a:gd name="T19" fmla="*/ 266 h 275"/>
                <a:gd name="T20" fmla="*/ 17 w 164"/>
                <a:gd name="T21" fmla="*/ 267 h 275"/>
                <a:gd name="T22" fmla="*/ 14 w 164"/>
                <a:gd name="T23" fmla="*/ 270 h 275"/>
                <a:gd name="T24" fmla="*/ 10 w 164"/>
                <a:gd name="T25" fmla="*/ 275 h 275"/>
                <a:gd name="T26" fmla="*/ 7 w 164"/>
                <a:gd name="T27" fmla="*/ 270 h 275"/>
                <a:gd name="T28" fmla="*/ 4 w 164"/>
                <a:gd name="T29" fmla="*/ 266 h 275"/>
                <a:gd name="T30" fmla="*/ 1 w 164"/>
                <a:gd name="T31" fmla="*/ 262 h 275"/>
                <a:gd name="T32" fmla="*/ 0 w 164"/>
                <a:gd name="T33" fmla="*/ 261 h 275"/>
                <a:gd name="T34" fmla="*/ 5 w 164"/>
                <a:gd name="T35" fmla="*/ 253 h 275"/>
                <a:gd name="T36" fmla="*/ 10 w 164"/>
                <a:gd name="T37" fmla="*/ 248 h 275"/>
                <a:gd name="T38" fmla="*/ 15 w 164"/>
                <a:gd name="T39" fmla="*/ 241 h 275"/>
                <a:gd name="T40" fmla="*/ 22 w 164"/>
                <a:gd name="T41" fmla="*/ 234 h 275"/>
                <a:gd name="T42" fmla="*/ 23 w 164"/>
                <a:gd name="T43" fmla="*/ 232 h 275"/>
                <a:gd name="T44" fmla="*/ 28 w 164"/>
                <a:gd name="T45" fmla="*/ 230 h 275"/>
                <a:gd name="T46" fmla="*/ 33 w 164"/>
                <a:gd name="T47" fmla="*/ 227 h 275"/>
                <a:gd name="T48" fmla="*/ 40 w 164"/>
                <a:gd name="T49" fmla="*/ 222 h 275"/>
                <a:gd name="T50" fmla="*/ 46 w 164"/>
                <a:gd name="T51" fmla="*/ 215 h 275"/>
                <a:gd name="T52" fmla="*/ 50 w 164"/>
                <a:gd name="T53" fmla="*/ 208 h 275"/>
                <a:gd name="T54" fmla="*/ 53 w 164"/>
                <a:gd name="T55" fmla="*/ 199 h 275"/>
                <a:gd name="T56" fmla="*/ 51 w 164"/>
                <a:gd name="T57" fmla="*/ 188 h 275"/>
                <a:gd name="T58" fmla="*/ 55 w 164"/>
                <a:gd name="T59" fmla="*/ 179 h 275"/>
                <a:gd name="T60" fmla="*/ 66 w 164"/>
                <a:gd name="T61" fmla="*/ 165 h 275"/>
                <a:gd name="T62" fmla="*/ 77 w 164"/>
                <a:gd name="T63" fmla="*/ 149 h 275"/>
                <a:gd name="T64" fmla="*/ 88 w 164"/>
                <a:gd name="T65" fmla="*/ 135 h 275"/>
                <a:gd name="T66" fmla="*/ 92 w 164"/>
                <a:gd name="T67" fmla="*/ 132 h 275"/>
                <a:gd name="T68" fmla="*/ 95 w 164"/>
                <a:gd name="T69" fmla="*/ 130 h 275"/>
                <a:gd name="T70" fmla="*/ 99 w 164"/>
                <a:gd name="T71" fmla="*/ 127 h 275"/>
                <a:gd name="T72" fmla="*/ 102 w 164"/>
                <a:gd name="T73" fmla="*/ 125 h 275"/>
                <a:gd name="T74" fmla="*/ 114 w 164"/>
                <a:gd name="T75" fmla="*/ 112 h 275"/>
                <a:gd name="T76" fmla="*/ 120 w 164"/>
                <a:gd name="T77" fmla="*/ 95 h 275"/>
                <a:gd name="T78" fmla="*/ 120 w 164"/>
                <a:gd name="T79" fmla="*/ 79 h 275"/>
                <a:gd name="T80" fmla="*/ 115 w 164"/>
                <a:gd name="T81" fmla="*/ 63 h 275"/>
                <a:gd name="T82" fmla="*/ 110 w 164"/>
                <a:gd name="T83" fmla="*/ 53 h 275"/>
                <a:gd name="T84" fmla="*/ 102 w 164"/>
                <a:gd name="T85" fmla="*/ 35 h 275"/>
                <a:gd name="T86" fmla="*/ 92 w 164"/>
                <a:gd name="T87" fmla="*/ 16 h 275"/>
                <a:gd name="T88" fmla="*/ 83 w 164"/>
                <a:gd name="T89" fmla="*/ 0 h 275"/>
                <a:gd name="T90" fmla="*/ 90 w 164"/>
                <a:gd name="T91" fmla="*/ 4 h 275"/>
                <a:gd name="T92" fmla="*/ 103 w 164"/>
                <a:gd name="T93" fmla="*/ 11 h 275"/>
                <a:gd name="T94" fmla="*/ 119 w 164"/>
                <a:gd name="T95" fmla="*/ 20 h 275"/>
                <a:gd name="T96" fmla="*/ 134 w 164"/>
                <a:gd name="T97" fmla="*/ 31 h 275"/>
                <a:gd name="T98" fmla="*/ 149 w 164"/>
                <a:gd name="T99" fmla="*/ 44 h 275"/>
                <a:gd name="T100" fmla="*/ 159 w 164"/>
                <a:gd name="T101" fmla="*/ 59 h 275"/>
                <a:gd name="T102" fmla="*/ 164 w 164"/>
                <a:gd name="T103" fmla="*/ 74 h 275"/>
                <a:gd name="T104" fmla="*/ 160 w 164"/>
                <a:gd name="T105" fmla="*/ 91 h 27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4"/>
                <a:gd name="T160" fmla="*/ 0 h 275"/>
                <a:gd name="T161" fmla="*/ 164 w 164"/>
                <a:gd name="T162" fmla="*/ 275 h 275"/>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4" h="275">
                  <a:moveTo>
                    <a:pt x="160" y="91"/>
                  </a:moveTo>
                  <a:lnTo>
                    <a:pt x="142" y="112"/>
                  </a:lnTo>
                  <a:lnTo>
                    <a:pt x="125" y="132"/>
                  </a:lnTo>
                  <a:lnTo>
                    <a:pt x="108" y="155"/>
                  </a:lnTo>
                  <a:lnTo>
                    <a:pt x="92" y="175"/>
                  </a:lnTo>
                  <a:lnTo>
                    <a:pt x="75" y="197"/>
                  </a:lnTo>
                  <a:lnTo>
                    <a:pt x="58" y="218"/>
                  </a:lnTo>
                  <a:lnTo>
                    <a:pt x="41" y="240"/>
                  </a:lnTo>
                  <a:lnTo>
                    <a:pt x="23" y="261"/>
                  </a:lnTo>
                  <a:lnTo>
                    <a:pt x="19" y="266"/>
                  </a:lnTo>
                  <a:lnTo>
                    <a:pt x="17" y="267"/>
                  </a:lnTo>
                  <a:lnTo>
                    <a:pt x="14" y="270"/>
                  </a:lnTo>
                  <a:lnTo>
                    <a:pt x="10" y="275"/>
                  </a:lnTo>
                  <a:lnTo>
                    <a:pt x="7" y="270"/>
                  </a:lnTo>
                  <a:lnTo>
                    <a:pt x="4" y="266"/>
                  </a:lnTo>
                  <a:lnTo>
                    <a:pt x="1" y="262"/>
                  </a:lnTo>
                  <a:lnTo>
                    <a:pt x="0" y="261"/>
                  </a:lnTo>
                  <a:lnTo>
                    <a:pt x="5" y="253"/>
                  </a:lnTo>
                  <a:lnTo>
                    <a:pt x="10" y="248"/>
                  </a:lnTo>
                  <a:lnTo>
                    <a:pt x="15" y="241"/>
                  </a:lnTo>
                  <a:lnTo>
                    <a:pt x="22" y="234"/>
                  </a:lnTo>
                  <a:lnTo>
                    <a:pt x="23" y="232"/>
                  </a:lnTo>
                  <a:lnTo>
                    <a:pt x="28" y="230"/>
                  </a:lnTo>
                  <a:lnTo>
                    <a:pt x="33" y="227"/>
                  </a:lnTo>
                  <a:lnTo>
                    <a:pt x="40" y="222"/>
                  </a:lnTo>
                  <a:lnTo>
                    <a:pt x="46" y="215"/>
                  </a:lnTo>
                  <a:lnTo>
                    <a:pt x="50" y="208"/>
                  </a:lnTo>
                  <a:lnTo>
                    <a:pt x="53" y="199"/>
                  </a:lnTo>
                  <a:lnTo>
                    <a:pt x="51" y="188"/>
                  </a:lnTo>
                  <a:lnTo>
                    <a:pt x="55" y="179"/>
                  </a:lnTo>
                  <a:lnTo>
                    <a:pt x="66" y="165"/>
                  </a:lnTo>
                  <a:lnTo>
                    <a:pt x="77" y="149"/>
                  </a:lnTo>
                  <a:lnTo>
                    <a:pt x="88" y="135"/>
                  </a:lnTo>
                  <a:lnTo>
                    <a:pt x="92" y="132"/>
                  </a:lnTo>
                  <a:lnTo>
                    <a:pt x="95" y="130"/>
                  </a:lnTo>
                  <a:lnTo>
                    <a:pt x="99" y="127"/>
                  </a:lnTo>
                  <a:lnTo>
                    <a:pt x="102" y="125"/>
                  </a:lnTo>
                  <a:lnTo>
                    <a:pt x="114" y="112"/>
                  </a:lnTo>
                  <a:lnTo>
                    <a:pt x="120" y="95"/>
                  </a:lnTo>
                  <a:lnTo>
                    <a:pt x="120" y="79"/>
                  </a:lnTo>
                  <a:lnTo>
                    <a:pt x="115" y="63"/>
                  </a:lnTo>
                  <a:lnTo>
                    <a:pt x="110" y="53"/>
                  </a:lnTo>
                  <a:lnTo>
                    <a:pt x="102" y="35"/>
                  </a:lnTo>
                  <a:lnTo>
                    <a:pt x="92" y="16"/>
                  </a:lnTo>
                  <a:lnTo>
                    <a:pt x="83" y="0"/>
                  </a:lnTo>
                  <a:lnTo>
                    <a:pt x="90" y="4"/>
                  </a:lnTo>
                  <a:lnTo>
                    <a:pt x="103" y="11"/>
                  </a:lnTo>
                  <a:lnTo>
                    <a:pt x="119" y="20"/>
                  </a:lnTo>
                  <a:lnTo>
                    <a:pt x="134" y="31"/>
                  </a:lnTo>
                  <a:lnTo>
                    <a:pt x="149" y="44"/>
                  </a:lnTo>
                  <a:lnTo>
                    <a:pt x="159" y="59"/>
                  </a:lnTo>
                  <a:lnTo>
                    <a:pt x="164" y="74"/>
                  </a:lnTo>
                  <a:lnTo>
                    <a:pt x="160" y="91"/>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 name="Freeform 17"/>
            <p:cNvSpPr>
              <a:spLocks/>
            </p:cNvSpPr>
            <p:nvPr/>
          </p:nvSpPr>
          <p:spPr bwMode="auto">
            <a:xfrm>
              <a:off x="2209" y="2945"/>
              <a:ext cx="57" cy="57"/>
            </a:xfrm>
            <a:custGeom>
              <a:avLst/>
              <a:gdLst>
                <a:gd name="T0" fmla="*/ 0 w 57"/>
                <a:gd name="T1" fmla="*/ 52 h 57"/>
                <a:gd name="T2" fmla="*/ 5 w 57"/>
                <a:gd name="T3" fmla="*/ 44 h 57"/>
                <a:gd name="T4" fmla="*/ 12 w 57"/>
                <a:gd name="T5" fmla="*/ 37 h 57"/>
                <a:gd name="T6" fmla="*/ 18 w 57"/>
                <a:gd name="T7" fmla="*/ 27 h 57"/>
                <a:gd name="T8" fmla="*/ 24 w 57"/>
                <a:gd name="T9" fmla="*/ 20 h 57"/>
                <a:gd name="T10" fmla="*/ 30 w 57"/>
                <a:gd name="T11" fmla="*/ 12 h 57"/>
                <a:gd name="T12" fmla="*/ 35 w 57"/>
                <a:gd name="T13" fmla="*/ 7 h 57"/>
                <a:gd name="T14" fmla="*/ 39 w 57"/>
                <a:gd name="T15" fmla="*/ 2 h 57"/>
                <a:gd name="T16" fmla="*/ 41 w 57"/>
                <a:gd name="T17" fmla="*/ 0 h 57"/>
                <a:gd name="T18" fmla="*/ 46 w 57"/>
                <a:gd name="T19" fmla="*/ 7 h 57"/>
                <a:gd name="T20" fmla="*/ 52 w 57"/>
                <a:gd name="T21" fmla="*/ 16 h 57"/>
                <a:gd name="T22" fmla="*/ 57 w 57"/>
                <a:gd name="T23" fmla="*/ 27 h 57"/>
                <a:gd name="T24" fmla="*/ 57 w 57"/>
                <a:gd name="T25" fmla="*/ 35 h 57"/>
                <a:gd name="T26" fmla="*/ 53 w 57"/>
                <a:gd name="T27" fmla="*/ 43 h 57"/>
                <a:gd name="T28" fmla="*/ 49 w 57"/>
                <a:gd name="T29" fmla="*/ 49 h 57"/>
                <a:gd name="T30" fmla="*/ 43 w 57"/>
                <a:gd name="T31" fmla="*/ 53 h 57"/>
                <a:gd name="T32" fmla="*/ 35 w 57"/>
                <a:gd name="T33" fmla="*/ 56 h 57"/>
                <a:gd name="T34" fmla="*/ 27 w 57"/>
                <a:gd name="T35" fmla="*/ 57 h 57"/>
                <a:gd name="T36" fmla="*/ 18 w 57"/>
                <a:gd name="T37" fmla="*/ 57 h 57"/>
                <a:gd name="T38" fmla="*/ 9 w 57"/>
                <a:gd name="T39" fmla="*/ 55 h 57"/>
                <a:gd name="T40" fmla="*/ 0 w 57"/>
                <a:gd name="T41" fmla="*/ 52 h 5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
                <a:gd name="T64" fmla="*/ 0 h 57"/>
                <a:gd name="T65" fmla="*/ 57 w 57"/>
                <a:gd name="T66" fmla="*/ 57 h 5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 h="57">
                  <a:moveTo>
                    <a:pt x="0" y="52"/>
                  </a:moveTo>
                  <a:lnTo>
                    <a:pt x="5" y="44"/>
                  </a:lnTo>
                  <a:lnTo>
                    <a:pt x="12" y="37"/>
                  </a:lnTo>
                  <a:lnTo>
                    <a:pt x="18" y="27"/>
                  </a:lnTo>
                  <a:lnTo>
                    <a:pt x="24" y="20"/>
                  </a:lnTo>
                  <a:lnTo>
                    <a:pt x="30" y="12"/>
                  </a:lnTo>
                  <a:lnTo>
                    <a:pt x="35" y="7"/>
                  </a:lnTo>
                  <a:lnTo>
                    <a:pt x="39" y="2"/>
                  </a:lnTo>
                  <a:lnTo>
                    <a:pt x="41" y="0"/>
                  </a:lnTo>
                  <a:lnTo>
                    <a:pt x="46" y="7"/>
                  </a:lnTo>
                  <a:lnTo>
                    <a:pt x="52" y="16"/>
                  </a:lnTo>
                  <a:lnTo>
                    <a:pt x="57" y="27"/>
                  </a:lnTo>
                  <a:lnTo>
                    <a:pt x="57" y="35"/>
                  </a:lnTo>
                  <a:lnTo>
                    <a:pt x="53" y="43"/>
                  </a:lnTo>
                  <a:lnTo>
                    <a:pt x="49" y="49"/>
                  </a:lnTo>
                  <a:lnTo>
                    <a:pt x="43" y="53"/>
                  </a:lnTo>
                  <a:lnTo>
                    <a:pt x="35" y="56"/>
                  </a:lnTo>
                  <a:lnTo>
                    <a:pt x="27" y="57"/>
                  </a:lnTo>
                  <a:lnTo>
                    <a:pt x="18" y="57"/>
                  </a:lnTo>
                  <a:lnTo>
                    <a:pt x="9" y="55"/>
                  </a:lnTo>
                  <a:lnTo>
                    <a:pt x="0" y="5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 name="Freeform 18"/>
            <p:cNvSpPr>
              <a:spLocks/>
            </p:cNvSpPr>
            <p:nvPr/>
          </p:nvSpPr>
          <p:spPr bwMode="auto">
            <a:xfrm>
              <a:off x="2034" y="2963"/>
              <a:ext cx="51" cy="41"/>
            </a:xfrm>
            <a:custGeom>
              <a:avLst/>
              <a:gdLst>
                <a:gd name="T0" fmla="*/ 26 w 51"/>
                <a:gd name="T1" fmla="*/ 0 h 41"/>
                <a:gd name="T2" fmla="*/ 16 w 51"/>
                <a:gd name="T3" fmla="*/ 2 h 41"/>
                <a:gd name="T4" fmla="*/ 8 w 51"/>
                <a:gd name="T5" fmla="*/ 7 h 41"/>
                <a:gd name="T6" fmla="*/ 3 w 51"/>
                <a:gd name="T7" fmla="*/ 13 h 41"/>
                <a:gd name="T8" fmla="*/ 0 w 51"/>
                <a:gd name="T9" fmla="*/ 21 h 41"/>
                <a:gd name="T10" fmla="*/ 3 w 51"/>
                <a:gd name="T11" fmla="*/ 29 h 41"/>
                <a:gd name="T12" fmla="*/ 8 w 51"/>
                <a:gd name="T13" fmla="*/ 34 h 41"/>
                <a:gd name="T14" fmla="*/ 16 w 51"/>
                <a:gd name="T15" fmla="*/ 39 h 41"/>
                <a:gd name="T16" fmla="*/ 26 w 51"/>
                <a:gd name="T17" fmla="*/ 41 h 41"/>
                <a:gd name="T18" fmla="*/ 35 w 51"/>
                <a:gd name="T19" fmla="*/ 39 h 41"/>
                <a:gd name="T20" fmla="*/ 43 w 51"/>
                <a:gd name="T21" fmla="*/ 34 h 41"/>
                <a:gd name="T22" fmla="*/ 48 w 51"/>
                <a:gd name="T23" fmla="*/ 29 h 41"/>
                <a:gd name="T24" fmla="*/ 51 w 51"/>
                <a:gd name="T25" fmla="*/ 21 h 41"/>
                <a:gd name="T26" fmla="*/ 48 w 51"/>
                <a:gd name="T27" fmla="*/ 13 h 41"/>
                <a:gd name="T28" fmla="*/ 43 w 51"/>
                <a:gd name="T29" fmla="*/ 7 h 41"/>
                <a:gd name="T30" fmla="*/ 35 w 51"/>
                <a:gd name="T31" fmla="*/ 2 h 41"/>
                <a:gd name="T32" fmla="*/ 26 w 51"/>
                <a:gd name="T33" fmla="*/ 0 h 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1"/>
                <a:gd name="T52" fmla="*/ 0 h 41"/>
                <a:gd name="T53" fmla="*/ 51 w 51"/>
                <a:gd name="T54" fmla="*/ 41 h 4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1" h="41">
                  <a:moveTo>
                    <a:pt x="26" y="0"/>
                  </a:moveTo>
                  <a:lnTo>
                    <a:pt x="16" y="2"/>
                  </a:lnTo>
                  <a:lnTo>
                    <a:pt x="8" y="7"/>
                  </a:lnTo>
                  <a:lnTo>
                    <a:pt x="3" y="13"/>
                  </a:lnTo>
                  <a:lnTo>
                    <a:pt x="0" y="21"/>
                  </a:lnTo>
                  <a:lnTo>
                    <a:pt x="3" y="29"/>
                  </a:lnTo>
                  <a:lnTo>
                    <a:pt x="8" y="34"/>
                  </a:lnTo>
                  <a:lnTo>
                    <a:pt x="16" y="39"/>
                  </a:lnTo>
                  <a:lnTo>
                    <a:pt x="26" y="41"/>
                  </a:lnTo>
                  <a:lnTo>
                    <a:pt x="35" y="39"/>
                  </a:lnTo>
                  <a:lnTo>
                    <a:pt x="43" y="34"/>
                  </a:lnTo>
                  <a:lnTo>
                    <a:pt x="48" y="29"/>
                  </a:lnTo>
                  <a:lnTo>
                    <a:pt x="51" y="21"/>
                  </a:lnTo>
                  <a:lnTo>
                    <a:pt x="48" y="13"/>
                  </a:lnTo>
                  <a:lnTo>
                    <a:pt x="43" y="7"/>
                  </a:lnTo>
                  <a:lnTo>
                    <a:pt x="35" y="2"/>
                  </a:lnTo>
                  <a:lnTo>
                    <a:pt x="2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6" name="Group 25"/>
          <p:cNvGrpSpPr/>
          <p:nvPr/>
        </p:nvGrpSpPr>
        <p:grpSpPr>
          <a:xfrm>
            <a:off x="7597775" y="1570128"/>
            <a:ext cx="1136650" cy="1066800"/>
            <a:chOff x="6781800" y="1524000"/>
            <a:chExt cx="1136650" cy="1066800"/>
          </a:xfrm>
        </p:grpSpPr>
        <p:pic>
          <p:nvPicPr>
            <p:cNvPr id="27"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2379" y="1524000"/>
              <a:ext cx="994672" cy="993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28" name="Content Placeholder 5"/>
            <p:cNvSpPr txBox="1">
              <a:spLocks/>
            </p:cNvSpPr>
            <p:nvPr/>
          </p:nvSpPr>
          <p:spPr bwMode="auto">
            <a:xfrm>
              <a:off x="6781800" y="2300287"/>
              <a:ext cx="1136650" cy="290513"/>
            </a:xfrm>
            <a:prstGeom prst="rect">
              <a:avLst/>
            </a:prstGeom>
            <a:noFill/>
            <a:ln w="9525">
              <a:noFill/>
              <a:miter lim="800000"/>
              <a:headEnd/>
              <a:tailEnd/>
            </a:ln>
          </p:spPr>
          <p:txBody>
            <a:bodyPr lIns="0" tIns="0" rIns="0" bIns="0"/>
            <a:lstStyle/>
            <a:p>
              <a:pPr marL="457200" indent="-457200" algn="ctr" eaLnBrk="0" hangingPunct="0">
                <a:spcBef>
                  <a:spcPct val="40000"/>
                </a:spcBef>
                <a:buClr>
                  <a:srgbClr val="04628C"/>
                </a:buClr>
                <a:buSzPct val="90000"/>
                <a:buFont typeface="Arial" pitchFamily="34" charset="0"/>
                <a:buNone/>
                <a:defRPr/>
              </a:pPr>
              <a:r>
                <a:rPr lang="en-US" sz="1100" kern="0" dirty="0">
                  <a:solidFill>
                    <a:schemeClr val="tx1"/>
                  </a:solidFill>
                  <a:latin typeface="Arial Narrow" pitchFamily="34" charset="0"/>
                  <a:cs typeface="+mn-cs"/>
                </a:rPr>
                <a:t>ContactManager</a:t>
              </a:r>
            </a:p>
          </p:txBody>
        </p:sp>
      </p:grpSp>
    </p:spTree>
    <p:extLst>
      <p:ext uri="{BB962C8B-B14F-4D97-AF65-F5344CB8AC3E}">
        <p14:creationId xmlns:p14="http://schemas.microsoft.com/office/powerpoint/2010/main" val="2531925980"/>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|EOS~021|</a:t>
            </a:r>
            <a:endParaRPr lang="en-US" sz="100" dirty="0" err="1" smtClean="0">
              <a:solidFill>
                <a:srgbClr val="FFFFFF"/>
              </a:solidFill>
              <a:latin typeface="Arial"/>
              <a:cs typeface="Calibri" pitchFamily="34" charset="0"/>
            </a:endParaRPr>
          </a:p>
        </p:txBody>
      </p:sp>
      <p:grpSp>
        <p:nvGrpSpPr>
          <p:cNvPr id="22530" name="Group 2"/>
          <p:cNvGrpSpPr>
            <a:grpSpLocks/>
          </p:cNvGrpSpPr>
          <p:nvPr/>
        </p:nvGrpSpPr>
        <p:grpSpPr bwMode="auto">
          <a:xfrm>
            <a:off x="5837238" y="1987550"/>
            <a:ext cx="1074737" cy="714375"/>
            <a:chOff x="2496" y="1641"/>
            <a:chExt cx="767" cy="510"/>
          </a:xfrm>
        </p:grpSpPr>
        <p:sp>
          <p:nvSpPr>
            <p:cNvPr id="22619" name="AutoShape 3"/>
            <p:cNvSpPr>
              <a:spLocks noChangeArrowheads="1"/>
            </p:cNvSpPr>
            <p:nvPr/>
          </p:nvSpPr>
          <p:spPr bwMode="auto">
            <a:xfrm>
              <a:off x="2496" y="1641"/>
              <a:ext cx="767" cy="510"/>
            </a:xfrm>
            <a:prstGeom prst="cube">
              <a:avLst>
                <a:gd name="adj" fmla="val 18921"/>
              </a:avLst>
            </a:prstGeom>
            <a:solidFill>
              <a:srgbClr val="FFCC99"/>
            </a:solidFill>
            <a:ln w="12700">
              <a:solidFill>
                <a:schemeClr val="bg1"/>
              </a:solidFill>
              <a:miter lim="800000"/>
              <a:headEnd/>
              <a:tailEnd/>
            </a:ln>
          </p:spPr>
          <p:txBody>
            <a:bodyPr wrap="none" anchor="ctr"/>
            <a:lstStyle/>
            <a:p>
              <a:endParaRPr lang="en-US"/>
            </a:p>
          </p:txBody>
        </p:sp>
        <p:sp>
          <p:nvSpPr>
            <p:cNvPr id="22620" name="Rectangle 4"/>
            <p:cNvSpPr>
              <a:spLocks noChangeArrowheads="1"/>
            </p:cNvSpPr>
            <p:nvPr/>
          </p:nvSpPr>
          <p:spPr bwMode="auto">
            <a:xfrm>
              <a:off x="2718" y="1797"/>
              <a:ext cx="221" cy="354"/>
            </a:xfrm>
            <a:prstGeom prst="rect">
              <a:avLst/>
            </a:prstGeom>
            <a:solidFill>
              <a:srgbClr val="CC9900"/>
            </a:solidFill>
            <a:ln w="12700">
              <a:solidFill>
                <a:schemeClr val="bg1"/>
              </a:solidFill>
              <a:miter lim="800000"/>
              <a:headEnd/>
              <a:tailEnd/>
            </a:ln>
          </p:spPr>
          <p:txBody>
            <a:bodyPr wrap="none" anchor="ctr"/>
            <a:lstStyle/>
            <a:p>
              <a:endParaRPr lang="en-US"/>
            </a:p>
          </p:txBody>
        </p:sp>
        <p:sp>
          <p:nvSpPr>
            <p:cNvPr id="22621" name="Rectangle 5"/>
            <p:cNvSpPr>
              <a:spLocks noChangeArrowheads="1"/>
            </p:cNvSpPr>
            <p:nvPr/>
          </p:nvSpPr>
          <p:spPr bwMode="auto">
            <a:xfrm>
              <a:off x="2543"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2622" name="Rectangle 6"/>
            <p:cNvSpPr>
              <a:spLocks noChangeArrowheads="1"/>
            </p:cNvSpPr>
            <p:nvPr/>
          </p:nvSpPr>
          <p:spPr bwMode="auto">
            <a:xfrm>
              <a:off x="2987"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grpSp>
      <p:grpSp>
        <p:nvGrpSpPr>
          <p:cNvPr id="22531" name="Group 7"/>
          <p:cNvGrpSpPr>
            <a:grpSpLocks/>
          </p:cNvGrpSpPr>
          <p:nvPr/>
        </p:nvGrpSpPr>
        <p:grpSpPr bwMode="auto">
          <a:xfrm>
            <a:off x="4583113" y="1033463"/>
            <a:ext cx="1233487" cy="909637"/>
            <a:chOff x="1760" y="442"/>
            <a:chExt cx="1054" cy="777"/>
          </a:xfrm>
        </p:grpSpPr>
        <p:sp>
          <p:nvSpPr>
            <p:cNvPr id="22585" name="Rectangle 8"/>
            <p:cNvSpPr>
              <a:spLocks noChangeArrowheads="1"/>
            </p:cNvSpPr>
            <p:nvPr/>
          </p:nvSpPr>
          <p:spPr bwMode="auto">
            <a:xfrm>
              <a:off x="1760" y="442"/>
              <a:ext cx="1054" cy="77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2586" name="AutoShape 9"/>
            <p:cNvSpPr>
              <a:spLocks noChangeArrowheads="1"/>
            </p:cNvSpPr>
            <p:nvPr/>
          </p:nvSpPr>
          <p:spPr bwMode="auto">
            <a:xfrm rot="2681173">
              <a:off x="1969" y="624"/>
              <a:ext cx="399" cy="409"/>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2587" name="Freeform 10"/>
            <p:cNvSpPr>
              <a:spLocks/>
            </p:cNvSpPr>
            <p:nvPr/>
          </p:nvSpPr>
          <p:spPr bwMode="auto">
            <a:xfrm>
              <a:off x="2021" y="743"/>
              <a:ext cx="19" cy="19"/>
            </a:xfrm>
            <a:custGeom>
              <a:avLst/>
              <a:gdLst>
                <a:gd name="T0" fmla="*/ 0 w 75"/>
                <a:gd name="T1" fmla="*/ 0 h 76"/>
                <a:gd name="T2" fmla="*/ 0 w 75"/>
                <a:gd name="T3" fmla="*/ 0 h 76"/>
                <a:gd name="T4" fmla="*/ 0 w 75"/>
                <a:gd name="T5" fmla="*/ 0 h 76"/>
                <a:gd name="T6" fmla="*/ 0 w 75"/>
                <a:gd name="T7" fmla="*/ 0 h 76"/>
                <a:gd name="T8" fmla="*/ 0 w 75"/>
                <a:gd name="T9" fmla="*/ 0 h 76"/>
                <a:gd name="T10" fmla="*/ 0 w 75"/>
                <a:gd name="T11" fmla="*/ 0 h 76"/>
                <a:gd name="T12" fmla="*/ 0 w 75"/>
                <a:gd name="T13" fmla="*/ 0 h 76"/>
                <a:gd name="T14" fmla="*/ 0 w 75"/>
                <a:gd name="T15" fmla="*/ 0 h 76"/>
                <a:gd name="T16" fmla="*/ 0 w 75"/>
                <a:gd name="T17" fmla="*/ 0 h 76"/>
                <a:gd name="T18" fmla="*/ 0 w 75"/>
                <a:gd name="T19" fmla="*/ 0 h 76"/>
                <a:gd name="T20" fmla="*/ 0 w 75"/>
                <a:gd name="T21" fmla="*/ 0 h 76"/>
                <a:gd name="T22" fmla="*/ 0 w 75"/>
                <a:gd name="T23" fmla="*/ 0 h 76"/>
                <a:gd name="T24" fmla="*/ 0 w 75"/>
                <a:gd name="T25" fmla="*/ 0 h 76"/>
                <a:gd name="T26" fmla="*/ 0 w 75"/>
                <a:gd name="T27" fmla="*/ 0 h 76"/>
                <a:gd name="T28" fmla="*/ 0 w 75"/>
                <a:gd name="T29" fmla="*/ 0 h 76"/>
                <a:gd name="T30" fmla="*/ 0 w 75"/>
                <a:gd name="T31" fmla="*/ 0 h 76"/>
                <a:gd name="T32" fmla="*/ 0 w 75"/>
                <a:gd name="T33" fmla="*/ 0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5"/>
                <a:gd name="T52" fmla="*/ 0 h 76"/>
                <a:gd name="T53" fmla="*/ 75 w 75"/>
                <a:gd name="T54" fmla="*/ 76 h 7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5" h="76">
                  <a:moveTo>
                    <a:pt x="37" y="76"/>
                  </a:moveTo>
                  <a:lnTo>
                    <a:pt x="52" y="74"/>
                  </a:lnTo>
                  <a:lnTo>
                    <a:pt x="65" y="65"/>
                  </a:lnTo>
                  <a:lnTo>
                    <a:pt x="72" y="53"/>
                  </a:lnTo>
                  <a:lnTo>
                    <a:pt x="75" y="38"/>
                  </a:lnTo>
                  <a:lnTo>
                    <a:pt x="72" y="23"/>
                  </a:lnTo>
                  <a:lnTo>
                    <a:pt x="65" y="12"/>
                  </a:lnTo>
                  <a:lnTo>
                    <a:pt x="52" y="3"/>
                  </a:lnTo>
                  <a:lnTo>
                    <a:pt x="37" y="0"/>
                  </a:lnTo>
                  <a:lnTo>
                    <a:pt x="23" y="3"/>
                  </a:lnTo>
                  <a:lnTo>
                    <a:pt x="11" y="12"/>
                  </a:lnTo>
                  <a:lnTo>
                    <a:pt x="3" y="23"/>
                  </a:lnTo>
                  <a:lnTo>
                    <a:pt x="0" y="38"/>
                  </a:lnTo>
                  <a:lnTo>
                    <a:pt x="3" y="53"/>
                  </a:lnTo>
                  <a:lnTo>
                    <a:pt x="11" y="65"/>
                  </a:lnTo>
                  <a:lnTo>
                    <a:pt x="23" y="74"/>
                  </a:lnTo>
                  <a:lnTo>
                    <a:pt x="37" y="7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88" name="Freeform 11"/>
            <p:cNvSpPr>
              <a:spLocks/>
            </p:cNvSpPr>
            <p:nvPr/>
          </p:nvSpPr>
          <p:spPr bwMode="auto">
            <a:xfrm>
              <a:off x="2054" y="743"/>
              <a:ext cx="20" cy="20"/>
            </a:xfrm>
            <a:custGeom>
              <a:avLst/>
              <a:gdLst>
                <a:gd name="T0" fmla="*/ 0 w 77"/>
                <a:gd name="T1" fmla="*/ 0 h 76"/>
                <a:gd name="T2" fmla="*/ 0 w 77"/>
                <a:gd name="T3" fmla="*/ 0 h 76"/>
                <a:gd name="T4" fmla="*/ 0 w 77"/>
                <a:gd name="T5" fmla="*/ 0 h 76"/>
                <a:gd name="T6" fmla="*/ 0 w 77"/>
                <a:gd name="T7" fmla="*/ 0 h 76"/>
                <a:gd name="T8" fmla="*/ 0 w 77"/>
                <a:gd name="T9" fmla="*/ 0 h 76"/>
                <a:gd name="T10" fmla="*/ 0 w 77"/>
                <a:gd name="T11" fmla="*/ 0 h 76"/>
                <a:gd name="T12" fmla="*/ 0 w 77"/>
                <a:gd name="T13" fmla="*/ 0 h 76"/>
                <a:gd name="T14" fmla="*/ 0 w 77"/>
                <a:gd name="T15" fmla="*/ 0 h 76"/>
                <a:gd name="T16" fmla="*/ 0 w 77"/>
                <a:gd name="T17" fmla="*/ 0 h 76"/>
                <a:gd name="T18" fmla="*/ 0 w 77"/>
                <a:gd name="T19" fmla="*/ 0 h 76"/>
                <a:gd name="T20" fmla="*/ 0 w 77"/>
                <a:gd name="T21" fmla="*/ 0 h 76"/>
                <a:gd name="T22" fmla="*/ 0 w 77"/>
                <a:gd name="T23" fmla="*/ 0 h 76"/>
                <a:gd name="T24" fmla="*/ 0 w 77"/>
                <a:gd name="T25" fmla="*/ 0 h 76"/>
                <a:gd name="T26" fmla="*/ 0 w 77"/>
                <a:gd name="T27" fmla="*/ 0 h 76"/>
                <a:gd name="T28" fmla="*/ 0 w 77"/>
                <a:gd name="T29" fmla="*/ 0 h 76"/>
                <a:gd name="T30" fmla="*/ 0 w 77"/>
                <a:gd name="T31" fmla="*/ 0 h 76"/>
                <a:gd name="T32" fmla="*/ 0 w 77"/>
                <a:gd name="T33" fmla="*/ 0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7"/>
                <a:gd name="T52" fmla="*/ 0 h 76"/>
                <a:gd name="T53" fmla="*/ 77 w 77"/>
                <a:gd name="T54" fmla="*/ 76 h 7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7" h="76">
                  <a:moveTo>
                    <a:pt x="38" y="76"/>
                  </a:moveTo>
                  <a:lnTo>
                    <a:pt x="54" y="73"/>
                  </a:lnTo>
                  <a:lnTo>
                    <a:pt x="65" y="65"/>
                  </a:lnTo>
                  <a:lnTo>
                    <a:pt x="74" y="53"/>
                  </a:lnTo>
                  <a:lnTo>
                    <a:pt x="77" y="39"/>
                  </a:lnTo>
                  <a:lnTo>
                    <a:pt x="74" y="23"/>
                  </a:lnTo>
                  <a:lnTo>
                    <a:pt x="65" y="11"/>
                  </a:lnTo>
                  <a:lnTo>
                    <a:pt x="54" y="3"/>
                  </a:lnTo>
                  <a:lnTo>
                    <a:pt x="38" y="0"/>
                  </a:lnTo>
                  <a:lnTo>
                    <a:pt x="24" y="3"/>
                  </a:lnTo>
                  <a:lnTo>
                    <a:pt x="12" y="11"/>
                  </a:lnTo>
                  <a:lnTo>
                    <a:pt x="3" y="23"/>
                  </a:lnTo>
                  <a:lnTo>
                    <a:pt x="0" y="39"/>
                  </a:lnTo>
                  <a:lnTo>
                    <a:pt x="3" y="53"/>
                  </a:lnTo>
                  <a:lnTo>
                    <a:pt x="12" y="65"/>
                  </a:lnTo>
                  <a:lnTo>
                    <a:pt x="24" y="73"/>
                  </a:lnTo>
                  <a:lnTo>
                    <a:pt x="38" y="7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89" name="Freeform 12"/>
            <p:cNvSpPr>
              <a:spLocks/>
            </p:cNvSpPr>
            <p:nvPr/>
          </p:nvSpPr>
          <p:spPr bwMode="auto">
            <a:xfrm>
              <a:off x="2109" y="787"/>
              <a:ext cx="19" cy="19"/>
            </a:xfrm>
            <a:custGeom>
              <a:avLst/>
              <a:gdLst>
                <a:gd name="T0" fmla="*/ 0 w 74"/>
                <a:gd name="T1" fmla="*/ 0 h 75"/>
                <a:gd name="T2" fmla="*/ 0 w 74"/>
                <a:gd name="T3" fmla="*/ 0 h 75"/>
                <a:gd name="T4" fmla="*/ 0 w 74"/>
                <a:gd name="T5" fmla="*/ 0 h 75"/>
                <a:gd name="T6" fmla="*/ 0 w 74"/>
                <a:gd name="T7" fmla="*/ 0 h 75"/>
                <a:gd name="T8" fmla="*/ 0 w 74"/>
                <a:gd name="T9" fmla="*/ 0 h 75"/>
                <a:gd name="T10" fmla="*/ 0 w 74"/>
                <a:gd name="T11" fmla="*/ 0 h 75"/>
                <a:gd name="T12" fmla="*/ 0 w 74"/>
                <a:gd name="T13" fmla="*/ 0 h 75"/>
                <a:gd name="T14" fmla="*/ 0 w 74"/>
                <a:gd name="T15" fmla="*/ 0 h 75"/>
                <a:gd name="T16" fmla="*/ 0 w 74"/>
                <a:gd name="T17" fmla="*/ 0 h 75"/>
                <a:gd name="T18" fmla="*/ 0 w 74"/>
                <a:gd name="T19" fmla="*/ 0 h 75"/>
                <a:gd name="T20" fmla="*/ 0 w 74"/>
                <a:gd name="T21" fmla="*/ 0 h 75"/>
                <a:gd name="T22" fmla="*/ 0 w 74"/>
                <a:gd name="T23" fmla="*/ 0 h 75"/>
                <a:gd name="T24" fmla="*/ 0 w 74"/>
                <a:gd name="T25" fmla="*/ 0 h 75"/>
                <a:gd name="T26" fmla="*/ 0 w 74"/>
                <a:gd name="T27" fmla="*/ 0 h 75"/>
                <a:gd name="T28" fmla="*/ 0 w 74"/>
                <a:gd name="T29" fmla="*/ 0 h 75"/>
                <a:gd name="T30" fmla="*/ 0 w 74"/>
                <a:gd name="T31" fmla="*/ 0 h 75"/>
                <a:gd name="T32" fmla="*/ 0 w 74"/>
                <a:gd name="T33" fmla="*/ 0 h 75"/>
                <a:gd name="T34" fmla="*/ 0 w 74"/>
                <a:gd name="T35" fmla="*/ 0 h 75"/>
                <a:gd name="T36" fmla="*/ 0 w 74"/>
                <a:gd name="T37" fmla="*/ 0 h 75"/>
                <a:gd name="T38" fmla="*/ 0 w 74"/>
                <a:gd name="T39" fmla="*/ 0 h 75"/>
                <a:gd name="T40" fmla="*/ 0 w 74"/>
                <a:gd name="T41" fmla="*/ 0 h 75"/>
                <a:gd name="T42" fmla="*/ 0 w 74"/>
                <a:gd name="T43" fmla="*/ 0 h 75"/>
                <a:gd name="T44" fmla="*/ 0 w 74"/>
                <a:gd name="T45" fmla="*/ 0 h 75"/>
                <a:gd name="T46" fmla="*/ 0 w 74"/>
                <a:gd name="T47" fmla="*/ 0 h 75"/>
                <a:gd name="T48" fmla="*/ 0 w 74"/>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4"/>
                <a:gd name="T76" fmla="*/ 0 h 75"/>
                <a:gd name="T77" fmla="*/ 74 w 74"/>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4" h="75">
                  <a:moveTo>
                    <a:pt x="56" y="71"/>
                  </a:moveTo>
                  <a:lnTo>
                    <a:pt x="67" y="61"/>
                  </a:lnTo>
                  <a:lnTo>
                    <a:pt x="74" y="47"/>
                  </a:lnTo>
                  <a:lnTo>
                    <a:pt x="74" y="34"/>
                  </a:lnTo>
                  <a:lnTo>
                    <a:pt x="70" y="19"/>
                  </a:lnTo>
                  <a:lnTo>
                    <a:pt x="66" y="13"/>
                  </a:lnTo>
                  <a:lnTo>
                    <a:pt x="60" y="8"/>
                  </a:lnTo>
                  <a:lnTo>
                    <a:pt x="54" y="3"/>
                  </a:lnTo>
                  <a:lnTo>
                    <a:pt x="47" y="0"/>
                  </a:lnTo>
                  <a:lnTo>
                    <a:pt x="40" y="0"/>
                  </a:lnTo>
                  <a:lnTo>
                    <a:pt x="33" y="0"/>
                  </a:lnTo>
                  <a:lnTo>
                    <a:pt x="25" y="2"/>
                  </a:lnTo>
                  <a:lnTo>
                    <a:pt x="18" y="5"/>
                  </a:lnTo>
                  <a:lnTo>
                    <a:pt x="7" y="15"/>
                  </a:lnTo>
                  <a:lnTo>
                    <a:pt x="1" y="28"/>
                  </a:lnTo>
                  <a:lnTo>
                    <a:pt x="0" y="42"/>
                  </a:lnTo>
                  <a:lnTo>
                    <a:pt x="5" y="57"/>
                  </a:lnTo>
                  <a:lnTo>
                    <a:pt x="10" y="62"/>
                  </a:lnTo>
                  <a:lnTo>
                    <a:pt x="15" y="68"/>
                  </a:lnTo>
                  <a:lnTo>
                    <a:pt x="21" y="73"/>
                  </a:lnTo>
                  <a:lnTo>
                    <a:pt x="28" y="74"/>
                  </a:lnTo>
                  <a:lnTo>
                    <a:pt x="34" y="75"/>
                  </a:lnTo>
                  <a:lnTo>
                    <a:pt x="41" y="75"/>
                  </a:lnTo>
                  <a:lnTo>
                    <a:pt x="49" y="74"/>
                  </a:lnTo>
                  <a:lnTo>
                    <a:pt x="56" y="7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90" name="Freeform 13"/>
            <p:cNvSpPr>
              <a:spLocks/>
            </p:cNvSpPr>
            <p:nvPr/>
          </p:nvSpPr>
          <p:spPr bwMode="auto">
            <a:xfrm>
              <a:off x="2081" y="761"/>
              <a:ext cx="19" cy="19"/>
            </a:xfrm>
            <a:custGeom>
              <a:avLst/>
              <a:gdLst>
                <a:gd name="T0" fmla="*/ 0 w 75"/>
                <a:gd name="T1" fmla="*/ 0 h 77"/>
                <a:gd name="T2" fmla="*/ 0 w 75"/>
                <a:gd name="T3" fmla="*/ 0 h 77"/>
                <a:gd name="T4" fmla="*/ 0 w 75"/>
                <a:gd name="T5" fmla="*/ 0 h 77"/>
                <a:gd name="T6" fmla="*/ 0 w 75"/>
                <a:gd name="T7" fmla="*/ 0 h 77"/>
                <a:gd name="T8" fmla="*/ 0 w 75"/>
                <a:gd name="T9" fmla="*/ 0 h 77"/>
                <a:gd name="T10" fmla="*/ 0 w 75"/>
                <a:gd name="T11" fmla="*/ 0 h 77"/>
                <a:gd name="T12" fmla="*/ 0 w 75"/>
                <a:gd name="T13" fmla="*/ 0 h 77"/>
                <a:gd name="T14" fmla="*/ 0 w 75"/>
                <a:gd name="T15" fmla="*/ 0 h 77"/>
                <a:gd name="T16" fmla="*/ 0 w 75"/>
                <a:gd name="T17" fmla="*/ 0 h 77"/>
                <a:gd name="T18" fmla="*/ 0 w 75"/>
                <a:gd name="T19" fmla="*/ 0 h 77"/>
                <a:gd name="T20" fmla="*/ 0 w 75"/>
                <a:gd name="T21" fmla="*/ 0 h 77"/>
                <a:gd name="T22" fmla="*/ 0 w 75"/>
                <a:gd name="T23" fmla="*/ 0 h 77"/>
                <a:gd name="T24" fmla="*/ 0 w 75"/>
                <a:gd name="T25" fmla="*/ 0 h 77"/>
                <a:gd name="T26" fmla="*/ 0 w 75"/>
                <a:gd name="T27" fmla="*/ 0 h 77"/>
                <a:gd name="T28" fmla="*/ 0 w 75"/>
                <a:gd name="T29" fmla="*/ 0 h 77"/>
                <a:gd name="T30" fmla="*/ 0 w 75"/>
                <a:gd name="T31" fmla="*/ 0 h 77"/>
                <a:gd name="T32" fmla="*/ 0 w 75"/>
                <a:gd name="T33" fmla="*/ 0 h 77"/>
                <a:gd name="T34" fmla="*/ 0 w 75"/>
                <a:gd name="T35" fmla="*/ 0 h 77"/>
                <a:gd name="T36" fmla="*/ 0 w 75"/>
                <a:gd name="T37" fmla="*/ 0 h 77"/>
                <a:gd name="T38" fmla="*/ 0 w 75"/>
                <a:gd name="T39" fmla="*/ 0 h 77"/>
                <a:gd name="T40" fmla="*/ 0 w 75"/>
                <a:gd name="T41" fmla="*/ 0 h 77"/>
                <a:gd name="T42" fmla="*/ 0 w 75"/>
                <a:gd name="T43" fmla="*/ 0 h 77"/>
                <a:gd name="T44" fmla="*/ 0 w 75"/>
                <a:gd name="T45" fmla="*/ 0 h 77"/>
                <a:gd name="T46" fmla="*/ 0 w 75"/>
                <a:gd name="T47" fmla="*/ 0 h 77"/>
                <a:gd name="T48" fmla="*/ 0 w 75"/>
                <a:gd name="T49" fmla="*/ 0 h 7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5"/>
                <a:gd name="T76" fmla="*/ 0 h 77"/>
                <a:gd name="T77" fmla="*/ 75 w 75"/>
                <a:gd name="T78" fmla="*/ 77 h 7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5" h="77">
                  <a:moveTo>
                    <a:pt x="64" y="64"/>
                  </a:moveTo>
                  <a:lnTo>
                    <a:pt x="72" y="51"/>
                  </a:lnTo>
                  <a:lnTo>
                    <a:pt x="75" y="36"/>
                  </a:lnTo>
                  <a:lnTo>
                    <a:pt x="72" y="23"/>
                  </a:lnTo>
                  <a:lnTo>
                    <a:pt x="63" y="10"/>
                  </a:lnTo>
                  <a:lnTo>
                    <a:pt x="57" y="6"/>
                  </a:lnTo>
                  <a:lnTo>
                    <a:pt x="50" y="3"/>
                  </a:lnTo>
                  <a:lnTo>
                    <a:pt x="43" y="0"/>
                  </a:lnTo>
                  <a:lnTo>
                    <a:pt x="36" y="0"/>
                  </a:lnTo>
                  <a:lnTo>
                    <a:pt x="28" y="2"/>
                  </a:lnTo>
                  <a:lnTo>
                    <a:pt x="21" y="4"/>
                  </a:lnTo>
                  <a:lnTo>
                    <a:pt x="15" y="7"/>
                  </a:lnTo>
                  <a:lnTo>
                    <a:pt x="10" y="13"/>
                  </a:lnTo>
                  <a:lnTo>
                    <a:pt x="1" y="26"/>
                  </a:lnTo>
                  <a:lnTo>
                    <a:pt x="0" y="39"/>
                  </a:lnTo>
                  <a:lnTo>
                    <a:pt x="3" y="53"/>
                  </a:lnTo>
                  <a:lnTo>
                    <a:pt x="11" y="66"/>
                  </a:lnTo>
                  <a:lnTo>
                    <a:pt x="17" y="71"/>
                  </a:lnTo>
                  <a:lnTo>
                    <a:pt x="24" y="74"/>
                  </a:lnTo>
                  <a:lnTo>
                    <a:pt x="31" y="77"/>
                  </a:lnTo>
                  <a:lnTo>
                    <a:pt x="39" y="77"/>
                  </a:lnTo>
                  <a:lnTo>
                    <a:pt x="46" y="75"/>
                  </a:lnTo>
                  <a:lnTo>
                    <a:pt x="53" y="72"/>
                  </a:lnTo>
                  <a:lnTo>
                    <a:pt x="59" y="69"/>
                  </a:lnTo>
                  <a:lnTo>
                    <a:pt x="64" y="6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22591" name="Group 14"/>
            <p:cNvGrpSpPr>
              <a:grpSpLocks/>
            </p:cNvGrpSpPr>
            <p:nvPr/>
          </p:nvGrpSpPr>
          <p:grpSpPr bwMode="auto">
            <a:xfrm>
              <a:off x="1779" y="671"/>
              <a:ext cx="234" cy="219"/>
              <a:chOff x="3323" y="2342"/>
              <a:chExt cx="463" cy="432"/>
            </a:xfrm>
          </p:grpSpPr>
          <p:sp>
            <p:nvSpPr>
              <p:cNvPr id="22615" name="Freeform 15"/>
              <p:cNvSpPr>
                <a:spLocks/>
              </p:cNvSpPr>
              <p:nvPr/>
            </p:nvSpPr>
            <p:spPr bwMode="auto">
              <a:xfrm>
                <a:off x="3323" y="2342"/>
                <a:ext cx="463" cy="432"/>
              </a:xfrm>
              <a:custGeom>
                <a:avLst/>
                <a:gdLst>
                  <a:gd name="T0" fmla="*/ 1 w 926"/>
                  <a:gd name="T1" fmla="*/ 0 h 865"/>
                  <a:gd name="T2" fmla="*/ 1 w 926"/>
                  <a:gd name="T3" fmla="*/ 0 h 865"/>
                  <a:gd name="T4" fmla="*/ 0 w 926"/>
                  <a:gd name="T5" fmla="*/ 0 h 865"/>
                  <a:gd name="T6" fmla="*/ 1 w 926"/>
                  <a:gd name="T7" fmla="*/ 0 h 865"/>
                  <a:gd name="T8" fmla="*/ 1 w 926"/>
                  <a:gd name="T9" fmla="*/ 0 h 865"/>
                  <a:gd name="T10" fmla="*/ 0 60000 65536"/>
                  <a:gd name="T11" fmla="*/ 0 60000 65536"/>
                  <a:gd name="T12" fmla="*/ 0 60000 65536"/>
                  <a:gd name="T13" fmla="*/ 0 60000 65536"/>
                  <a:gd name="T14" fmla="*/ 0 60000 65536"/>
                  <a:gd name="T15" fmla="*/ 0 w 926"/>
                  <a:gd name="T16" fmla="*/ 0 h 865"/>
                  <a:gd name="T17" fmla="*/ 926 w 926"/>
                  <a:gd name="T18" fmla="*/ 865 h 865"/>
                </a:gdLst>
                <a:ahLst/>
                <a:cxnLst>
                  <a:cxn ang="T10">
                    <a:pos x="T0" y="T1"/>
                  </a:cxn>
                  <a:cxn ang="T11">
                    <a:pos x="T2" y="T3"/>
                  </a:cxn>
                  <a:cxn ang="T12">
                    <a:pos x="T4" y="T5"/>
                  </a:cxn>
                  <a:cxn ang="T13">
                    <a:pos x="T6" y="T7"/>
                  </a:cxn>
                  <a:cxn ang="T14">
                    <a:pos x="T8" y="T9"/>
                  </a:cxn>
                </a:cxnLst>
                <a:rect l="T15" t="T16" r="T17" b="T18"/>
                <a:pathLst>
                  <a:path w="926" h="865">
                    <a:moveTo>
                      <a:pt x="926" y="321"/>
                    </a:moveTo>
                    <a:lnTo>
                      <a:pt x="663" y="0"/>
                    </a:lnTo>
                    <a:lnTo>
                      <a:pt x="0" y="543"/>
                    </a:lnTo>
                    <a:lnTo>
                      <a:pt x="264" y="865"/>
                    </a:lnTo>
                    <a:lnTo>
                      <a:pt x="926" y="321"/>
                    </a:lnTo>
                    <a:close/>
                  </a:path>
                </a:pathLst>
              </a:custGeom>
              <a:solidFill>
                <a:srgbClr val="FF0000"/>
              </a:solidFill>
              <a:ln w="12700" cmpd="sng">
                <a:solidFill>
                  <a:schemeClr val="bg1"/>
                </a:solidFill>
                <a:round/>
                <a:headEnd/>
                <a:tailEnd/>
              </a:ln>
            </p:spPr>
            <p:txBody>
              <a:bodyPr/>
              <a:lstStyle/>
              <a:p>
                <a:endParaRPr lang="en-US"/>
              </a:p>
            </p:txBody>
          </p:sp>
          <p:sp>
            <p:nvSpPr>
              <p:cNvPr id="22616" name="Freeform 16"/>
              <p:cNvSpPr>
                <a:spLocks/>
              </p:cNvSpPr>
              <p:nvPr/>
            </p:nvSpPr>
            <p:spPr bwMode="auto">
              <a:xfrm>
                <a:off x="3416" y="2609"/>
                <a:ext cx="60" cy="59"/>
              </a:xfrm>
              <a:custGeom>
                <a:avLst/>
                <a:gdLst>
                  <a:gd name="T0" fmla="*/ 0 w 121"/>
                  <a:gd name="T1" fmla="*/ 0 h 120"/>
                  <a:gd name="T2" fmla="*/ 0 w 121"/>
                  <a:gd name="T3" fmla="*/ 0 h 120"/>
                  <a:gd name="T4" fmla="*/ 0 w 121"/>
                  <a:gd name="T5" fmla="*/ 0 h 120"/>
                  <a:gd name="T6" fmla="*/ 0 w 121"/>
                  <a:gd name="T7" fmla="*/ 0 h 120"/>
                  <a:gd name="T8" fmla="*/ 0 w 121"/>
                  <a:gd name="T9" fmla="*/ 0 h 120"/>
                  <a:gd name="T10" fmla="*/ 0 w 121"/>
                  <a:gd name="T11" fmla="*/ 0 h 120"/>
                  <a:gd name="T12" fmla="*/ 0 w 121"/>
                  <a:gd name="T13" fmla="*/ 0 h 120"/>
                  <a:gd name="T14" fmla="*/ 0 w 121"/>
                  <a:gd name="T15" fmla="*/ 0 h 120"/>
                  <a:gd name="T16" fmla="*/ 0 w 121"/>
                  <a:gd name="T17" fmla="*/ 0 h 120"/>
                  <a:gd name="T18" fmla="*/ 0 w 121"/>
                  <a:gd name="T19" fmla="*/ 0 h 120"/>
                  <a:gd name="T20" fmla="*/ 0 w 121"/>
                  <a:gd name="T21" fmla="*/ 0 h 120"/>
                  <a:gd name="T22" fmla="*/ 0 w 121"/>
                  <a:gd name="T23" fmla="*/ 0 h 120"/>
                  <a:gd name="T24" fmla="*/ 0 w 121"/>
                  <a:gd name="T25" fmla="*/ 0 h 120"/>
                  <a:gd name="T26" fmla="*/ 0 w 121"/>
                  <a:gd name="T27" fmla="*/ 0 h 120"/>
                  <a:gd name="T28" fmla="*/ 0 w 121"/>
                  <a:gd name="T29" fmla="*/ 0 h 120"/>
                  <a:gd name="T30" fmla="*/ 0 w 121"/>
                  <a:gd name="T31" fmla="*/ 0 h 120"/>
                  <a:gd name="T32" fmla="*/ 0 w 121"/>
                  <a:gd name="T33" fmla="*/ 0 h 120"/>
                  <a:gd name="T34" fmla="*/ 0 w 121"/>
                  <a:gd name="T35" fmla="*/ 0 h 120"/>
                  <a:gd name="T36" fmla="*/ 0 w 121"/>
                  <a:gd name="T37" fmla="*/ 0 h 120"/>
                  <a:gd name="T38" fmla="*/ 0 w 121"/>
                  <a:gd name="T39" fmla="*/ 0 h 120"/>
                  <a:gd name="T40" fmla="*/ 0 w 121"/>
                  <a:gd name="T41" fmla="*/ 0 h 120"/>
                  <a:gd name="T42" fmla="*/ 0 w 121"/>
                  <a:gd name="T43" fmla="*/ 0 h 120"/>
                  <a:gd name="T44" fmla="*/ 0 w 121"/>
                  <a:gd name="T45" fmla="*/ 0 h 120"/>
                  <a:gd name="T46" fmla="*/ 0 w 121"/>
                  <a:gd name="T47" fmla="*/ 0 h 120"/>
                  <a:gd name="T48" fmla="*/ 0 w 121"/>
                  <a:gd name="T49" fmla="*/ 0 h 120"/>
                  <a:gd name="T50" fmla="*/ 0 w 121"/>
                  <a:gd name="T51" fmla="*/ 0 h 120"/>
                  <a:gd name="T52" fmla="*/ 0 w 121"/>
                  <a:gd name="T53" fmla="*/ 0 h 120"/>
                  <a:gd name="T54" fmla="*/ 0 w 121"/>
                  <a:gd name="T55" fmla="*/ 0 h 120"/>
                  <a:gd name="T56" fmla="*/ 0 w 121"/>
                  <a:gd name="T57" fmla="*/ 0 h 120"/>
                  <a:gd name="T58" fmla="*/ 0 w 121"/>
                  <a:gd name="T59" fmla="*/ 0 h 120"/>
                  <a:gd name="T60" fmla="*/ 0 w 121"/>
                  <a:gd name="T61" fmla="*/ 0 h 120"/>
                  <a:gd name="T62" fmla="*/ 0 w 121"/>
                  <a:gd name="T63" fmla="*/ 0 h 120"/>
                  <a:gd name="T64" fmla="*/ 0 w 121"/>
                  <a:gd name="T65" fmla="*/ 0 h 1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1"/>
                  <a:gd name="T100" fmla="*/ 0 h 120"/>
                  <a:gd name="T101" fmla="*/ 121 w 121"/>
                  <a:gd name="T102" fmla="*/ 120 h 12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1" h="120">
                    <a:moveTo>
                      <a:pt x="60" y="120"/>
                    </a:moveTo>
                    <a:lnTo>
                      <a:pt x="72" y="119"/>
                    </a:lnTo>
                    <a:lnTo>
                      <a:pt x="83" y="116"/>
                    </a:lnTo>
                    <a:lnTo>
                      <a:pt x="93" y="110"/>
                    </a:lnTo>
                    <a:lnTo>
                      <a:pt x="104" y="103"/>
                    </a:lnTo>
                    <a:lnTo>
                      <a:pt x="111" y="94"/>
                    </a:lnTo>
                    <a:lnTo>
                      <a:pt x="117" y="84"/>
                    </a:lnTo>
                    <a:lnTo>
                      <a:pt x="119" y="72"/>
                    </a:lnTo>
                    <a:lnTo>
                      <a:pt x="121" y="59"/>
                    </a:lnTo>
                    <a:lnTo>
                      <a:pt x="119" y="48"/>
                    </a:lnTo>
                    <a:lnTo>
                      <a:pt x="117" y="36"/>
                    </a:lnTo>
                    <a:lnTo>
                      <a:pt x="111" y="26"/>
                    </a:lnTo>
                    <a:lnTo>
                      <a:pt x="104" y="18"/>
                    </a:lnTo>
                    <a:lnTo>
                      <a:pt x="93" y="10"/>
                    </a:lnTo>
                    <a:lnTo>
                      <a:pt x="83" y="5"/>
                    </a:lnTo>
                    <a:lnTo>
                      <a:pt x="72" y="2"/>
                    </a:lnTo>
                    <a:lnTo>
                      <a:pt x="60" y="0"/>
                    </a:lnTo>
                    <a:lnTo>
                      <a:pt x="49" y="2"/>
                    </a:lnTo>
                    <a:lnTo>
                      <a:pt x="37" y="5"/>
                    </a:lnTo>
                    <a:lnTo>
                      <a:pt x="27" y="10"/>
                    </a:lnTo>
                    <a:lnTo>
                      <a:pt x="17" y="18"/>
                    </a:lnTo>
                    <a:lnTo>
                      <a:pt x="10" y="26"/>
                    </a:lnTo>
                    <a:lnTo>
                      <a:pt x="4" y="36"/>
                    </a:lnTo>
                    <a:lnTo>
                      <a:pt x="1" y="48"/>
                    </a:lnTo>
                    <a:lnTo>
                      <a:pt x="0" y="59"/>
                    </a:lnTo>
                    <a:lnTo>
                      <a:pt x="1" y="72"/>
                    </a:lnTo>
                    <a:lnTo>
                      <a:pt x="4" y="84"/>
                    </a:lnTo>
                    <a:lnTo>
                      <a:pt x="10" y="94"/>
                    </a:lnTo>
                    <a:lnTo>
                      <a:pt x="17" y="103"/>
                    </a:lnTo>
                    <a:lnTo>
                      <a:pt x="27" y="110"/>
                    </a:lnTo>
                    <a:lnTo>
                      <a:pt x="37" y="116"/>
                    </a:lnTo>
                    <a:lnTo>
                      <a:pt x="49" y="119"/>
                    </a:lnTo>
                    <a:lnTo>
                      <a:pt x="6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617" name="Freeform 17"/>
              <p:cNvSpPr>
                <a:spLocks/>
              </p:cNvSpPr>
              <p:nvPr/>
            </p:nvSpPr>
            <p:spPr bwMode="auto">
              <a:xfrm>
                <a:off x="3520" y="2527"/>
                <a:ext cx="60" cy="60"/>
              </a:xfrm>
              <a:custGeom>
                <a:avLst/>
                <a:gdLst>
                  <a:gd name="T0" fmla="*/ 0 w 121"/>
                  <a:gd name="T1" fmla="*/ 1 h 120"/>
                  <a:gd name="T2" fmla="*/ 0 w 121"/>
                  <a:gd name="T3" fmla="*/ 1 h 120"/>
                  <a:gd name="T4" fmla="*/ 0 w 121"/>
                  <a:gd name="T5" fmla="*/ 1 h 120"/>
                  <a:gd name="T6" fmla="*/ 0 w 121"/>
                  <a:gd name="T7" fmla="*/ 1 h 120"/>
                  <a:gd name="T8" fmla="*/ 0 w 121"/>
                  <a:gd name="T9" fmla="*/ 1 h 120"/>
                  <a:gd name="T10" fmla="*/ 0 w 121"/>
                  <a:gd name="T11" fmla="*/ 1 h 120"/>
                  <a:gd name="T12" fmla="*/ 0 w 121"/>
                  <a:gd name="T13" fmla="*/ 1 h 120"/>
                  <a:gd name="T14" fmla="*/ 0 w 121"/>
                  <a:gd name="T15" fmla="*/ 1 h 120"/>
                  <a:gd name="T16" fmla="*/ 0 w 121"/>
                  <a:gd name="T17" fmla="*/ 1 h 120"/>
                  <a:gd name="T18" fmla="*/ 0 w 121"/>
                  <a:gd name="T19" fmla="*/ 1 h 120"/>
                  <a:gd name="T20" fmla="*/ 0 w 121"/>
                  <a:gd name="T21" fmla="*/ 1 h 120"/>
                  <a:gd name="T22" fmla="*/ 0 w 121"/>
                  <a:gd name="T23" fmla="*/ 1 h 120"/>
                  <a:gd name="T24" fmla="*/ 0 w 121"/>
                  <a:gd name="T25" fmla="*/ 1 h 120"/>
                  <a:gd name="T26" fmla="*/ 0 w 121"/>
                  <a:gd name="T27" fmla="*/ 1 h 120"/>
                  <a:gd name="T28" fmla="*/ 0 w 121"/>
                  <a:gd name="T29" fmla="*/ 1 h 120"/>
                  <a:gd name="T30" fmla="*/ 0 w 121"/>
                  <a:gd name="T31" fmla="*/ 1 h 120"/>
                  <a:gd name="T32" fmla="*/ 0 w 121"/>
                  <a:gd name="T33" fmla="*/ 0 h 120"/>
                  <a:gd name="T34" fmla="*/ 0 w 121"/>
                  <a:gd name="T35" fmla="*/ 1 h 120"/>
                  <a:gd name="T36" fmla="*/ 0 w 121"/>
                  <a:gd name="T37" fmla="*/ 1 h 120"/>
                  <a:gd name="T38" fmla="*/ 0 w 121"/>
                  <a:gd name="T39" fmla="*/ 1 h 120"/>
                  <a:gd name="T40" fmla="*/ 0 w 121"/>
                  <a:gd name="T41" fmla="*/ 1 h 120"/>
                  <a:gd name="T42" fmla="*/ 0 w 121"/>
                  <a:gd name="T43" fmla="*/ 1 h 120"/>
                  <a:gd name="T44" fmla="*/ 0 w 121"/>
                  <a:gd name="T45" fmla="*/ 1 h 120"/>
                  <a:gd name="T46" fmla="*/ 0 w 121"/>
                  <a:gd name="T47" fmla="*/ 1 h 120"/>
                  <a:gd name="T48" fmla="*/ 0 w 121"/>
                  <a:gd name="T49" fmla="*/ 1 h 120"/>
                  <a:gd name="T50" fmla="*/ 0 w 121"/>
                  <a:gd name="T51" fmla="*/ 1 h 120"/>
                  <a:gd name="T52" fmla="*/ 0 w 121"/>
                  <a:gd name="T53" fmla="*/ 1 h 120"/>
                  <a:gd name="T54" fmla="*/ 0 w 121"/>
                  <a:gd name="T55" fmla="*/ 1 h 120"/>
                  <a:gd name="T56" fmla="*/ 0 w 121"/>
                  <a:gd name="T57" fmla="*/ 1 h 120"/>
                  <a:gd name="T58" fmla="*/ 0 w 121"/>
                  <a:gd name="T59" fmla="*/ 1 h 120"/>
                  <a:gd name="T60" fmla="*/ 0 w 121"/>
                  <a:gd name="T61" fmla="*/ 1 h 120"/>
                  <a:gd name="T62" fmla="*/ 0 w 121"/>
                  <a:gd name="T63" fmla="*/ 1 h 120"/>
                  <a:gd name="T64" fmla="*/ 0 w 121"/>
                  <a:gd name="T65" fmla="*/ 1 h 1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1"/>
                  <a:gd name="T100" fmla="*/ 0 h 120"/>
                  <a:gd name="T101" fmla="*/ 121 w 121"/>
                  <a:gd name="T102" fmla="*/ 120 h 12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1" h="120">
                    <a:moveTo>
                      <a:pt x="61" y="120"/>
                    </a:moveTo>
                    <a:lnTo>
                      <a:pt x="72" y="119"/>
                    </a:lnTo>
                    <a:lnTo>
                      <a:pt x="84" y="116"/>
                    </a:lnTo>
                    <a:lnTo>
                      <a:pt x="94" y="110"/>
                    </a:lnTo>
                    <a:lnTo>
                      <a:pt x="104" y="103"/>
                    </a:lnTo>
                    <a:lnTo>
                      <a:pt x="111" y="94"/>
                    </a:lnTo>
                    <a:lnTo>
                      <a:pt x="117" y="84"/>
                    </a:lnTo>
                    <a:lnTo>
                      <a:pt x="120" y="73"/>
                    </a:lnTo>
                    <a:lnTo>
                      <a:pt x="121" y="61"/>
                    </a:lnTo>
                    <a:lnTo>
                      <a:pt x="120" y="49"/>
                    </a:lnTo>
                    <a:lnTo>
                      <a:pt x="117" y="38"/>
                    </a:lnTo>
                    <a:lnTo>
                      <a:pt x="111" y="28"/>
                    </a:lnTo>
                    <a:lnTo>
                      <a:pt x="104" y="18"/>
                    </a:lnTo>
                    <a:lnTo>
                      <a:pt x="94" y="11"/>
                    </a:lnTo>
                    <a:lnTo>
                      <a:pt x="84" y="5"/>
                    </a:lnTo>
                    <a:lnTo>
                      <a:pt x="72" y="2"/>
                    </a:lnTo>
                    <a:lnTo>
                      <a:pt x="61" y="0"/>
                    </a:lnTo>
                    <a:lnTo>
                      <a:pt x="49" y="2"/>
                    </a:lnTo>
                    <a:lnTo>
                      <a:pt x="38" y="5"/>
                    </a:lnTo>
                    <a:lnTo>
                      <a:pt x="28" y="11"/>
                    </a:lnTo>
                    <a:lnTo>
                      <a:pt x="18" y="18"/>
                    </a:lnTo>
                    <a:lnTo>
                      <a:pt x="10" y="28"/>
                    </a:lnTo>
                    <a:lnTo>
                      <a:pt x="5" y="38"/>
                    </a:lnTo>
                    <a:lnTo>
                      <a:pt x="2" y="49"/>
                    </a:lnTo>
                    <a:lnTo>
                      <a:pt x="0" y="61"/>
                    </a:lnTo>
                    <a:lnTo>
                      <a:pt x="2" y="73"/>
                    </a:lnTo>
                    <a:lnTo>
                      <a:pt x="5" y="84"/>
                    </a:lnTo>
                    <a:lnTo>
                      <a:pt x="10" y="94"/>
                    </a:lnTo>
                    <a:lnTo>
                      <a:pt x="18" y="103"/>
                    </a:lnTo>
                    <a:lnTo>
                      <a:pt x="28" y="110"/>
                    </a:lnTo>
                    <a:lnTo>
                      <a:pt x="38" y="116"/>
                    </a:lnTo>
                    <a:lnTo>
                      <a:pt x="49" y="119"/>
                    </a:lnTo>
                    <a:lnTo>
                      <a:pt x="61"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618" name="Freeform 18"/>
              <p:cNvSpPr>
                <a:spLocks/>
              </p:cNvSpPr>
              <p:nvPr/>
            </p:nvSpPr>
            <p:spPr bwMode="auto">
              <a:xfrm>
                <a:off x="3618" y="2449"/>
                <a:ext cx="59" cy="61"/>
              </a:xfrm>
              <a:custGeom>
                <a:avLst/>
                <a:gdLst>
                  <a:gd name="T0" fmla="*/ 0 w 120"/>
                  <a:gd name="T1" fmla="*/ 1 h 121"/>
                  <a:gd name="T2" fmla="*/ 0 w 120"/>
                  <a:gd name="T3" fmla="*/ 1 h 121"/>
                  <a:gd name="T4" fmla="*/ 0 w 120"/>
                  <a:gd name="T5" fmla="*/ 1 h 121"/>
                  <a:gd name="T6" fmla="*/ 0 w 120"/>
                  <a:gd name="T7" fmla="*/ 1 h 121"/>
                  <a:gd name="T8" fmla="*/ 0 w 120"/>
                  <a:gd name="T9" fmla="*/ 1 h 121"/>
                  <a:gd name="T10" fmla="*/ 0 w 120"/>
                  <a:gd name="T11" fmla="*/ 1 h 121"/>
                  <a:gd name="T12" fmla="*/ 0 w 120"/>
                  <a:gd name="T13" fmla="*/ 1 h 121"/>
                  <a:gd name="T14" fmla="*/ 0 w 120"/>
                  <a:gd name="T15" fmla="*/ 1 h 121"/>
                  <a:gd name="T16" fmla="*/ 0 w 120"/>
                  <a:gd name="T17" fmla="*/ 1 h 121"/>
                  <a:gd name="T18" fmla="*/ 0 w 120"/>
                  <a:gd name="T19" fmla="*/ 1 h 121"/>
                  <a:gd name="T20" fmla="*/ 0 w 120"/>
                  <a:gd name="T21" fmla="*/ 1 h 121"/>
                  <a:gd name="T22" fmla="*/ 0 w 120"/>
                  <a:gd name="T23" fmla="*/ 1 h 121"/>
                  <a:gd name="T24" fmla="*/ 0 w 120"/>
                  <a:gd name="T25" fmla="*/ 1 h 121"/>
                  <a:gd name="T26" fmla="*/ 0 w 120"/>
                  <a:gd name="T27" fmla="*/ 1 h 121"/>
                  <a:gd name="T28" fmla="*/ 0 w 120"/>
                  <a:gd name="T29" fmla="*/ 1 h 121"/>
                  <a:gd name="T30" fmla="*/ 0 w 120"/>
                  <a:gd name="T31" fmla="*/ 1 h 121"/>
                  <a:gd name="T32" fmla="*/ 0 w 120"/>
                  <a:gd name="T33" fmla="*/ 0 h 121"/>
                  <a:gd name="T34" fmla="*/ 0 w 120"/>
                  <a:gd name="T35" fmla="*/ 1 h 121"/>
                  <a:gd name="T36" fmla="*/ 0 w 120"/>
                  <a:gd name="T37" fmla="*/ 1 h 121"/>
                  <a:gd name="T38" fmla="*/ 0 w 120"/>
                  <a:gd name="T39" fmla="*/ 1 h 121"/>
                  <a:gd name="T40" fmla="*/ 0 w 120"/>
                  <a:gd name="T41" fmla="*/ 1 h 121"/>
                  <a:gd name="T42" fmla="*/ 0 w 120"/>
                  <a:gd name="T43" fmla="*/ 1 h 121"/>
                  <a:gd name="T44" fmla="*/ 0 w 120"/>
                  <a:gd name="T45" fmla="*/ 1 h 121"/>
                  <a:gd name="T46" fmla="*/ 0 w 120"/>
                  <a:gd name="T47" fmla="*/ 1 h 121"/>
                  <a:gd name="T48" fmla="*/ 0 w 120"/>
                  <a:gd name="T49" fmla="*/ 1 h 121"/>
                  <a:gd name="T50" fmla="*/ 0 w 120"/>
                  <a:gd name="T51" fmla="*/ 1 h 121"/>
                  <a:gd name="T52" fmla="*/ 0 w 120"/>
                  <a:gd name="T53" fmla="*/ 1 h 121"/>
                  <a:gd name="T54" fmla="*/ 0 w 120"/>
                  <a:gd name="T55" fmla="*/ 1 h 121"/>
                  <a:gd name="T56" fmla="*/ 0 w 120"/>
                  <a:gd name="T57" fmla="*/ 1 h 121"/>
                  <a:gd name="T58" fmla="*/ 0 w 120"/>
                  <a:gd name="T59" fmla="*/ 1 h 121"/>
                  <a:gd name="T60" fmla="*/ 0 w 120"/>
                  <a:gd name="T61" fmla="*/ 1 h 121"/>
                  <a:gd name="T62" fmla="*/ 0 w 120"/>
                  <a:gd name="T63" fmla="*/ 1 h 121"/>
                  <a:gd name="T64" fmla="*/ 0 w 120"/>
                  <a:gd name="T65" fmla="*/ 1 h 1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0"/>
                  <a:gd name="T100" fmla="*/ 0 h 121"/>
                  <a:gd name="T101" fmla="*/ 120 w 120"/>
                  <a:gd name="T102" fmla="*/ 121 h 12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0" h="121">
                    <a:moveTo>
                      <a:pt x="61" y="121"/>
                    </a:moveTo>
                    <a:lnTo>
                      <a:pt x="72" y="119"/>
                    </a:lnTo>
                    <a:lnTo>
                      <a:pt x="84" y="117"/>
                    </a:lnTo>
                    <a:lnTo>
                      <a:pt x="94" y="111"/>
                    </a:lnTo>
                    <a:lnTo>
                      <a:pt x="102" y="104"/>
                    </a:lnTo>
                    <a:lnTo>
                      <a:pt x="110" y="93"/>
                    </a:lnTo>
                    <a:lnTo>
                      <a:pt x="115" y="83"/>
                    </a:lnTo>
                    <a:lnTo>
                      <a:pt x="118" y="72"/>
                    </a:lnTo>
                    <a:lnTo>
                      <a:pt x="120" y="60"/>
                    </a:lnTo>
                    <a:lnTo>
                      <a:pt x="118" y="49"/>
                    </a:lnTo>
                    <a:lnTo>
                      <a:pt x="115" y="37"/>
                    </a:lnTo>
                    <a:lnTo>
                      <a:pt x="110" y="27"/>
                    </a:lnTo>
                    <a:lnTo>
                      <a:pt x="102" y="17"/>
                    </a:lnTo>
                    <a:lnTo>
                      <a:pt x="94" y="10"/>
                    </a:lnTo>
                    <a:lnTo>
                      <a:pt x="84" y="4"/>
                    </a:lnTo>
                    <a:lnTo>
                      <a:pt x="72" y="1"/>
                    </a:lnTo>
                    <a:lnTo>
                      <a:pt x="61" y="0"/>
                    </a:lnTo>
                    <a:lnTo>
                      <a:pt x="49" y="1"/>
                    </a:lnTo>
                    <a:lnTo>
                      <a:pt x="38" y="4"/>
                    </a:lnTo>
                    <a:lnTo>
                      <a:pt x="28" y="10"/>
                    </a:lnTo>
                    <a:lnTo>
                      <a:pt x="17" y="17"/>
                    </a:lnTo>
                    <a:lnTo>
                      <a:pt x="10" y="27"/>
                    </a:lnTo>
                    <a:lnTo>
                      <a:pt x="5" y="37"/>
                    </a:lnTo>
                    <a:lnTo>
                      <a:pt x="2" y="49"/>
                    </a:lnTo>
                    <a:lnTo>
                      <a:pt x="0" y="60"/>
                    </a:lnTo>
                    <a:lnTo>
                      <a:pt x="2" y="72"/>
                    </a:lnTo>
                    <a:lnTo>
                      <a:pt x="5" y="83"/>
                    </a:lnTo>
                    <a:lnTo>
                      <a:pt x="10" y="93"/>
                    </a:lnTo>
                    <a:lnTo>
                      <a:pt x="17" y="104"/>
                    </a:lnTo>
                    <a:lnTo>
                      <a:pt x="28" y="111"/>
                    </a:lnTo>
                    <a:lnTo>
                      <a:pt x="38" y="117"/>
                    </a:lnTo>
                    <a:lnTo>
                      <a:pt x="49" y="119"/>
                    </a:lnTo>
                    <a:lnTo>
                      <a:pt x="61" y="1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2592" name="Freeform 19"/>
            <p:cNvSpPr>
              <a:spLocks/>
            </p:cNvSpPr>
            <p:nvPr/>
          </p:nvSpPr>
          <p:spPr bwMode="auto">
            <a:xfrm>
              <a:off x="2137" y="664"/>
              <a:ext cx="19" cy="19"/>
            </a:xfrm>
            <a:custGeom>
              <a:avLst/>
              <a:gdLst>
                <a:gd name="T0" fmla="*/ 0 w 74"/>
                <a:gd name="T1" fmla="*/ 0 h 75"/>
                <a:gd name="T2" fmla="*/ 0 w 74"/>
                <a:gd name="T3" fmla="*/ 0 h 75"/>
                <a:gd name="T4" fmla="*/ 0 w 74"/>
                <a:gd name="T5" fmla="*/ 0 h 75"/>
                <a:gd name="T6" fmla="*/ 0 w 74"/>
                <a:gd name="T7" fmla="*/ 0 h 75"/>
                <a:gd name="T8" fmla="*/ 0 w 74"/>
                <a:gd name="T9" fmla="*/ 0 h 75"/>
                <a:gd name="T10" fmla="*/ 0 w 74"/>
                <a:gd name="T11" fmla="*/ 0 h 75"/>
                <a:gd name="T12" fmla="*/ 0 w 74"/>
                <a:gd name="T13" fmla="*/ 0 h 75"/>
                <a:gd name="T14" fmla="*/ 0 w 74"/>
                <a:gd name="T15" fmla="*/ 0 h 75"/>
                <a:gd name="T16" fmla="*/ 0 w 74"/>
                <a:gd name="T17" fmla="*/ 0 h 75"/>
                <a:gd name="T18" fmla="*/ 0 w 74"/>
                <a:gd name="T19" fmla="*/ 0 h 75"/>
                <a:gd name="T20" fmla="*/ 0 w 74"/>
                <a:gd name="T21" fmla="*/ 0 h 75"/>
                <a:gd name="T22" fmla="*/ 0 w 74"/>
                <a:gd name="T23" fmla="*/ 0 h 75"/>
                <a:gd name="T24" fmla="*/ 0 w 74"/>
                <a:gd name="T25" fmla="*/ 0 h 75"/>
                <a:gd name="T26" fmla="*/ 0 w 74"/>
                <a:gd name="T27" fmla="*/ 0 h 75"/>
                <a:gd name="T28" fmla="*/ 0 w 74"/>
                <a:gd name="T29" fmla="*/ 0 h 75"/>
                <a:gd name="T30" fmla="*/ 0 w 74"/>
                <a:gd name="T31" fmla="*/ 0 h 75"/>
                <a:gd name="T32" fmla="*/ 0 w 74"/>
                <a:gd name="T33" fmla="*/ 0 h 75"/>
                <a:gd name="T34" fmla="*/ 0 w 74"/>
                <a:gd name="T35" fmla="*/ 0 h 75"/>
                <a:gd name="T36" fmla="*/ 0 w 74"/>
                <a:gd name="T37" fmla="*/ 0 h 75"/>
                <a:gd name="T38" fmla="*/ 0 w 74"/>
                <a:gd name="T39" fmla="*/ 0 h 75"/>
                <a:gd name="T40" fmla="*/ 0 w 74"/>
                <a:gd name="T41" fmla="*/ 0 h 75"/>
                <a:gd name="T42" fmla="*/ 0 w 74"/>
                <a:gd name="T43" fmla="*/ 0 h 75"/>
                <a:gd name="T44" fmla="*/ 0 w 74"/>
                <a:gd name="T45" fmla="*/ 0 h 75"/>
                <a:gd name="T46" fmla="*/ 0 w 74"/>
                <a:gd name="T47" fmla="*/ 0 h 75"/>
                <a:gd name="T48" fmla="*/ 0 w 74"/>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4"/>
                <a:gd name="T76" fmla="*/ 0 h 75"/>
                <a:gd name="T77" fmla="*/ 74 w 74"/>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4" h="75">
                  <a:moveTo>
                    <a:pt x="56" y="71"/>
                  </a:moveTo>
                  <a:lnTo>
                    <a:pt x="67" y="61"/>
                  </a:lnTo>
                  <a:lnTo>
                    <a:pt x="74" y="47"/>
                  </a:lnTo>
                  <a:lnTo>
                    <a:pt x="74" y="34"/>
                  </a:lnTo>
                  <a:lnTo>
                    <a:pt x="70" y="19"/>
                  </a:lnTo>
                  <a:lnTo>
                    <a:pt x="66" y="13"/>
                  </a:lnTo>
                  <a:lnTo>
                    <a:pt x="60" y="8"/>
                  </a:lnTo>
                  <a:lnTo>
                    <a:pt x="54" y="3"/>
                  </a:lnTo>
                  <a:lnTo>
                    <a:pt x="47" y="0"/>
                  </a:lnTo>
                  <a:lnTo>
                    <a:pt x="40" y="0"/>
                  </a:lnTo>
                  <a:lnTo>
                    <a:pt x="33" y="0"/>
                  </a:lnTo>
                  <a:lnTo>
                    <a:pt x="25" y="2"/>
                  </a:lnTo>
                  <a:lnTo>
                    <a:pt x="18" y="5"/>
                  </a:lnTo>
                  <a:lnTo>
                    <a:pt x="7" y="15"/>
                  </a:lnTo>
                  <a:lnTo>
                    <a:pt x="1" y="28"/>
                  </a:lnTo>
                  <a:lnTo>
                    <a:pt x="0" y="42"/>
                  </a:lnTo>
                  <a:lnTo>
                    <a:pt x="5" y="57"/>
                  </a:lnTo>
                  <a:lnTo>
                    <a:pt x="10" y="62"/>
                  </a:lnTo>
                  <a:lnTo>
                    <a:pt x="15" y="68"/>
                  </a:lnTo>
                  <a:lnTo>
                    <a:pt x="21" y="73"/>
                  </a:lnTo>
                  <a:lnTo>
                    <a:pt x="28" y="74"/>
                  </a:lnTo>
                  <a:lnTo>
                    <a:pt x="34" y="75"/>
                  </a:lnTo>
                  <a:lnTo>
                    <a:pt x="41" y="75"/>
                  </a:lnTo>
                  <a:lnTo>
                    <a:pt x="49" y="74"/>
                  </a:lnTo>
                  <a:lnTo>
                    <a:pt x="56" y="7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93" name="Freeform 20"/>
            <p:cNvSpPr>
              <a:spLocks/>
            </p:cNvSpPr>
            <p:nvPr/>
          </p:nvSpPr>
          <p:spPr bwMode="auto">
            <a:xfrm>
              <a:off x="2137" y="629"/>
              <a:ext cx="19" cy="19"/>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94" name="Freeform 21"/>
            <p:cNvSpPr>
              <a:spLocks/>
            </p:cNvSpPr>
            <p:nvPr/>
          </p:nvSpPr>
          <p:spPr bwMode="auto">
            <a:xfrm>
              <a:off x="2137" y="594"/>
              <a:ext cx="19" cy="19"/>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95" name="Freeform 22"/>
            <p:cNvSpPr>
              <a:spLocks/>
            </p:cNvSpPr>
            <p:nvPr/>
          </p:nvSpPr>
          <p:spPr bwMode="auto">
            <a:xfrm>
              <a:off x="2137" y="559"/>
              <a:ext cx="19" cy="18"/>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3"/>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96" name="Freeform 23"/>
            <p:cNvSpPr>
              <a:spLocks/>
            </p:cNvSpPr>
            <p:nvPr/>
          </p:nvSpPr>
          <p:spPr bwMode="auto">
            <a:xfrm>
              <a:off x="2137" y="523"/>
              <a:ext cx="19" cy="20"/>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3"/>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97" name="Freeform 24"/>
            <p:cNvSpPr>
              <a:spLocks/>
            </p:cNvSpPr>
            <p:nvPr/>
          </p:nvSpPr>
          <p:spPr bwMode="auto">
            <a:xfrm>
              <a:off x="2137" y="805"/>
              <a:ext cx="19" cy="19"/>
            </a:xfrm>
            <a:custGeom>
              <a:avLst/>
              <a:gdLst>
                <a:gd name="T0" fmla="*/ 0 w 74"/>
                <a:gd name="T1" fmla="*/ 0 h 75"/>
                <a:gd name="T2" fmla="*/ 0 w 74"/>
                <a:gd name="T3" fmla="*/ 0 h 75"/>
                <a:gd name="T4" fmla="*/ 0 w 74"/>
                <a:gd name="T5" fmla="*/ 0 h 75"/>
                <a:gd name="T6" fmla="*/ 0 w 74"/>
                <a:gd name="T7" fmla="*/ 0 h 75"/>
                <a:gd name="T8" fmla="*/ 0 w 74"/>
                <a:gd name="T9" fmla="*/ 0 h 75"/>
                <a:gd name="T10" fmla="*/ 0 w 74"/>
                <a:gd name="T11" fmla="*/ 0 h 75"/>
                <a:gd name="T12" fmla="*/ 0 w 74"/>
                <a:gd name="T13" fmla="*/ 0 h 75"/>
                <a:gd name="T14" fmla="*/ 0 w 74"/>
                <a:gd name="T15" fmla="*/ 0 h 75"/>
                <a:gd name="T16" fmla="*/ 0 w 74"/>
                <a:gd name="T17" fmla="*/ 0 h 75"/>
                <a:gd name="T18" fmla="*/ 0 w 74"/>
                <a:gd name="T19" fmla="*/ 0 h 75"/>
                <a:gd name="T20" fmla="*/ 0 w 74"/>
                <a:gd name="T21" fmla="*/ 0 h 75"/>
                <a:gd name="T22" fmla="*/ 0 w 74"/>
                <a:gd name="T23" fmla="*/ 0 h 75"/>
                <a:gd name="T24" fmla="*/ 0 w 74"/>
                <a:gd name="T25" fmla="*/ 0 h 75"/>
                <a:gd name="T26" fmla="*/ 0 w 74"/>
                <a:gd name="T27" fmla="*/ 0 h 75"/>
                <a:gd name="T28" fmla="*/ 0 w 74"/>
                <a:gd name="T29" fmla="*/ 0 h 75"/>
                <a:gd name="T30" fmla="*/ 0 w 74"/>
                <a:gd name="T31" fmla="*/ 0 h 75"/>
                <a:gd name="T32" fmla="*/ 0 w 74"/>
                <a:gd name="T33" fmla="*/ 0 h 75"/>
                <a:gd name="T34" fmla="*/ 0 w 74"/>
                <a:gd name="T35" fmla="*/ 0 h 75"/>
                <a:gd name="T36" fmla="*/ 0 w 74"/>
                <a:gd name="T37" fmla="*/ 0 h 75"/>
                <a:gd name="T38" fmla="*/ 0 w 74"/>
                <a:gd name="T39" fmla="*/ 0 h 75"/>
                <a:gd name="T40" fmla="*/ 0 w 74"/>
                <a:gd name="T41" fmla="*/ 0 h 75"/>
                <a:gd name="T42" fmla="*/ 0 w 74"/>
                <a:gd name="T43" fmla="*/ 0 h 75"/>
                <a:gd name="T44" fmla="*/ 0 w 74"/>
                <a:gd name="T45" fmla="*/ 0 h 75"/>
                <a:gd name="T46" fmla="*/ 0 w 74"/>
                <a:gd name="T47" fmla="*/ 0 h 75"/>
                <a:gd name="T48" fmla="*/ 0 w 74"/>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4"/>
                <a:gd name="T76" fmla="*/ 0 h 75"/>
                <a:gd name="T77" fmla="*/ 74 w 74"/>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4" h="75">
                  <a:moveTo>
                    <a:pt x="56" y="71"/>
                  </a:moveTo>
                  <a:lnTo>
                    <a:pt x="67" y="61"/>
                  </a:lnTo>
                  <a:lnTo>
                    <a:pt x="74" y="47"/>
                  </a:lnTo>
                  <a:lnTo>
                    <a:pt x="74" y="34"/>
                  </a:lnTo>
                  <a:lnTo>
                    <a:pt x="70" y="19"/>
                  </a:lnTo>
                  <a:lnTo>
                    <a:pt x="66" y="13"/>
                  </a:lnTo>
                  <a:lnTo>
                    <a:pt x="60" y="8"/>
                  </a:lnTo>
                  <a:lnTo>
                    <a:pt x="54" y="3"/>
                  </a:lnTo>
                  <a:lnTo>
                    <a:pt x="47" y="0"/>
                  </a:lnTo>
                  <a:lnTo>
                    <a:pt x="40" y="0"/>
                  </a:lnTo>
                  <a:lnTo>
                    <a:pt x="33" y="0"/>
                  </a:lnTo>
                  <a:lnTo>
                    <a:pt x="25" y="2"/>
                  </a:lnTo>
                  <a:lnTo>
                    <a:pt x="18" y="5"/>
                  </a:lnTo>
                  <a:lnTo>
                    <a:pt x="7" y="15"/>
                  </a:lnTo>
                  <a:lnTo>
                    <a:pt x="1" y="28"/>
                  </a:lnTo>
                  <a:lnTo>
                    <a:pt x="0" y="42"/>
                  </a:lnTo>
                  <a:lnTo>
                    <a:pt x="5" y="57"/>
                  </a:lnTo>
                  <a:lnTo>
                    <a:pt x="10" y="62"/>
                  </a:lnTo>
                  <a:lnTo>
                    <a:pt x="15" y="68"/>
                  </a:lnTo>
                  <a:lnTo>
                    <a:pt x="21" y="73"/>
                  </a:lnTo>
                  <a:lnTo>
                    <a:pt x="28" y="74"/>
                  </a:lnTo>
                  <a:lnTo>
                    <a:pt x="34" y="75"/>
                  </a:lnTo>
                  <a:lnTo>
                    <a:pt x="41" y="75"/>
                  </a:lnTo>
                  <a:lnTo>
                    <a:pt x="49" y="74"/>
                  </a:lnTo>
                  <a:lnTo>
                    <a:pt x="56" y="7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98" name="Freeform 25"/>
            <p:cNvSpPr>
              <a:spLocks/>
            </p:cNvSpPr>
            <p:nvPr/>
          </p:nvSpPr>
          <p:spPr bwMode="auto">
            <a:xfrm>
              <a:off x="2137" y="769"/>
              <a:ext cx="19" cy="19"/>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99" name="Freeform 26"/>
            <p:cNvSpPr>
              <a:spLocks/>
            </p:cNvSpPr>
            <p:nvPr/>
          </p:nvSpPr>
          <p:spPr bwMode="auto">
            <a:xfrm>
              <a:off x="2137" y="734"/>
              <a:ext cx="19" cy="19"/>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600" name="Freeform 27"/>
            <p:cNvSpPr>
              <a:spLocks/>
            </p:cNvSpPr>
            <p:nvPr/>
          </p:nvSpPr>
          <p:spPr bwMode="auto">
            <a:xfrm>
              <a:off x="2137" y="699"/>
              <a:ext cx="19" cy="19"/>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3"/>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601" name="Freeform 28"/>
            <p:cNvSpPr>
              <a:spLocks/>
            </p:cNvSpPr>
            <p:nvPr/>
          </p:nvSpPr>
          <p:spPr bwMode="auto">
            <a:xfrm>
              <a:off x="2149" y="806"/>
              <a:ext cx="214" cy="367"/>
            </a:xfrm>
            <a:custGeom>
              <a:avLst/>
              <a:gdLst>
                <a:gd name="T0" fmla="*/ 1 w 423"/>
                <a:gd name="T1" fmla="*/ 1 h 726"/>
                <a:gd name="T2" fmla="*/ 1 w 423"/>
                <a:gd name="T3" fmla="*/ 1 h 726"/>
                <a:gd name="T4" fmla="*/ 1 w 423"/>
                <a:gd name="T5" fmla="*/ 0 h 726"/>
                <a:gd name="T6" fmla="*/ 0 w 423"/>
                <a:gd name="T7" fmla="*/ 1 h 726"/>
                <a:gd name="T8" fmla="*/ 1 w 423"/>
                <a:gd name="T9" fmla="*/ 1 h 726"/>
                <a:gd name="T10" fmla="*/ 1 w 423"/>
                <a:gd name="T11" fmla="*/ 1 h 726"/>
                <a:gd name="T12" fmla="*/ 1 w 423"/>
                <a:gd name="T13" fmla="*/ 1 h 726"/>
                <a:gd name="T14" fmla="*/ 1 w 423"/>
                <a:gd name="T15" fmla="*/ 1 h 726"/>
                <a:gd name="T16" fmla="*/ 1 w 423"/>
                <a:gd name="T17" fmla="*/ 1 h 726"/>
                <a:gd name="T18" fmla="*/ 1 w 423"/>
                <a:gd name="T19" fmla="*/ 1 h 726"/>
                <a:gd name="T20" fmla="*/ 1 w 423"/>
                <a:gd name="T21" fmla="*/ 1 h 726"/>
                <a:gd name="T22" fmla="*/ 1 w 423"/>
                <a:gd name="T23" fmla="*/ 1 h 726"/>
                <a:gd name="T24" fmla="*/ 1 w 423"/>
                <a:gd name="T25" fmla="*/ 1 h 726"/>
                <a:gd name="T26" fmla="*/ 1 w 423"/>
                <a:gd name="T27" fmla="*/ 1 h 726"/>
                <a:gd name="T28" fmla="*/ 1 w 423"/>
                <a:gd name="T29" fmla="*/ 1 h 726"/>
                <a:gd name="T30" fmla="*/ 1 w 423"/>
                <a:gd name="T31" fmla="*/ 1 h 72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23"/>
                <a:gd name="T49" fmla="*/ 0 h 726"/>
                <a:gd name="T50" fmla="*/ 423 w 423"/>
                <a:gd name="T51" fmla="*/ 726 h 72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23" h="726">
                  <a:moveTo>
                    <a:pt x="333" y="111"/>
                  </a:moveTo>
                  <a:lnTo>
                    <a:pt x="219" y="18"/>
                  </a:lnTo>
                  <a:lnTo>
                    <a:pt x="45" y="0"/>
                  </a:lnTo>
                  <a:lnTo>
                    <a:pt x="0" y="249"/>
                  </a:lnTo>
                  <a:lnTo>
                    <a:pt x="36" y="405"/>
                  </a:lnTo>
                  <a:lnTo>
                    <a:pt x="141" y="507"/>
                  </a:lnTo>
                  <a:lnTo>
                    <a:pt x="117" y="540"/>
                  </a:lnTo>
                  <a:lnTo>
                    <a:pt x="144" y="693"/>
                  </a:lnTo>
                  <a:lnTo>
                    <a:pt x="327" y="726"/>
                  </a:lnTo>
                  <a:lnTo>
                    <a:pt x="423" y="639"/>
                  </a:lnTo>
                  <a:lnTo>
                    <a:pt x="396" y="474"/>
                  </a:lnTo>
                  <a:lnTo>
                    <a:pt x="300" y="423"/>
                  </a:lnTo>
                  <a:lnTo>
                    <a:pt x="309" y="255"/>
                  </a:lnTo>
                  <a:lnTo>
                    <a:pt x="270" y="207"/>
                  </a:lnTo>
                  <a:lnTo>
                    <a:pt x="315" y="168"/>
                  </a:lnTo>
                  <a:lnTo>
                    <a:pt x="333" y="111"/>
                  </a:lnTo>
                  <a:close/>
                </a:path>
              </a:pathLst>
            </a:custGeom>
            <a:solidFill>
              <a:schemeClr val="tx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2602" name="Freeform 29"/>
            <p:cNvSpPr>
              <a:spLocks/>
            </p:cNvSpPr>
            <p:nvPr/>
          </p:nvSpPr>
          <p:spPr bwMode="auto">
            <a:xfrm flipH="1">
              <a:off x="2549" y="807"/>
              <a:ext cx="213" cy="367"/>
            </a:xfrm>
            <a:custGeom>
              <a:avLst/>
              <a:gdLst>
                <a:gd name="T0" fmla="*/ 1 w 423"/>
                <a:gd name="T1" fmla="*/ 1 h 726"/>
                <a:gd name="T2" fmla="*/ 1 w 423"/>
                <a:gd name="T3" fmla="*/ 1 h 726"/>
                <a:gd name="T4" fmla="*/ 1 w 423"/>
                <a:gd name="T5" fmla="*/ 0 h 726"/>
                <a:gd name="T6" fmla="*/ 0 w 423"/>
                <a:gd name="T7" fmla="*/ 1 h 726"/>
                <a:gd name="T8" fmla="*/ 1 w 423"/>
                <a:gd name="T9" fmla="*/ 1 h 726"/>
                <a:gd name="T10" fmla="*/ 1 w 423"/>
                <a:gd name="T11" fmla="*/ 1 h 726"/>
                <a:gd name="T12" fmla="*/ 1 w 423"/>
                <a:gd name="T13" fmla="*/ 1 h 726"/>
                <a:gd name="T14" fmla="*/ 1 w 423"/>
                <a:gd name="T15" fmla="*/ 1 h 726"/>
                <a:gd name="T16" fmla="*/ 1 w 423"/>
                <a:gd name="T17" fmla="*/ 1 h 726"/>
                <a:gd name="T18" fmla="*/ 1 w 423"/>
                <a:gd name="T19" fmla="*/ 1 h 726"/>
                <a:gd name="T20" fmla="*/ 1 w 423"/>
                <a:gd name="T21" fmla="*/ 1 h 726"/>
                <a:gd name="T22" fmla="*/ 1 w 423"/>
                <a:gd name="T23" fmla="*/ 1 h 726"/>
                <a:gd name="T24" fmla="*/ 1 w 423"/>
                <a:gd name="T25" fmla="*/ 1 h 726"/>
                <a:gd name="T26" fmla="*/ 1 w 423"/>
                <a:gd name="T27" fmla="*/ 1 h 726"/>
                <a:gd name="T28" fmla="*/ 1 w 423"/>
                <a:gd name="T29" fmla="*/ 1 h 726"/>
                <a:gd name="T30" fmla="*/ 1 w 423"/>
                <a:gd name="T31" fmla="*/ 1 h 72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23"/>
                <a:gd name="T49" fmla="*/ 0 h 726"/>
                <a:gd name="T50" fmla="*/ 423 w 423"/>
                <a:gd name="T51" fmla="*/ 726 h 72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23" h="726">
                  <a:moveTo>
                    <a:pt x="333" y="111"/>
                  </a:moveTo>
                  <a:lnTo>
                    <a:pt x="219" y="18"/>
                  </a:lnTo>
                  <a:lnTo>
                    <a:pt x="45" y="0"/>
                  </a:lnTo>
                  <a:lnTo>
                    <a:pt x="0" y="249"/>
                  </a:lnTo>
                  <a:lnTo>
                    <a:pt x="36" y="405"/>
                  </a:lnTo>
                  <a:lnTo>
                    <a:pt x="141" y="507"/>
                  </a:lnTo>
                  <a:lnTo>
                    <a:pt x="117" y="540"/>
                  </a:lnTo>
                  <a:lnTo>
                    <a:pt x="144" y="693"/>
                  </a:lnTo>
                  <a:lnTo>
                    <a:pt x="327" y="726"/>
                  </a:lnTo>
                  <a:lnTo>
                    <a:pt x="423" y="639"/>
                  </a:lnTo>
                  <a:lnTo>
                    <a:pt x="396" y="474"/>
                  </a:lnTo>
                  <a:lnTo>
                    <a:pt x="300" y="423"/>
                  </a:lnTo>
                  <a:lnTo>
                    <a:pt x="309" y="255"/>
                  </a:lnTo>
                  <a:lnTo>
                    <a:pt x="270" y="207"/>
                  </a:lnTo>
                  <a:lnTo>
                    <a:pt x="315" y="168"/>
                  </a:lnTo>
                  <a:lnTo>
                    <a:pt x="333" y="111"/>
                  </a:lnTo>
                  <a:close/>
                </a:path>
              </a:pathLst>
            </a:custGeom>
            <a:solidFill>
              <a:schemeClr val="tx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2603" name="Freeform 30"/>
            <p:cNvSpPr>
              <a:spLocks/>
            </p:cNvSpPr>
            <p:nvPr/>
          </p:nvSpPr>
          <p:spPr bwMode="auto">
            <a:xfrm>
              <a:off x="2163" y="681"/>
              <a:ext cx="593" cy="376"/>
            </a:xfrm>
            <a:custGeom>
              <a:avLst/>
              <a:gdLst>
                <a:gd name="T0" fmla="*/ 1 w 1176"/>
                <a:gd name="T1" fmla="*/ 1 h 744"/>
                <a:gd name="T2" fmla="*/ 1 w 1176"/>
                <a:gd name="T3" fmla="*/ 1 h 744"/>
                <a:gd name="T4" fmla="*/ 1 w 1176"/>
                <a:gd name="T5" fmla="*/ 1 h 744"/>
                <a:gd name="T6" fmla="*/ 1 w 1176"/>
                <a:gd name="T7" fmla="*/ 1 h 744"/>
                <a:gd name="T8" fmla="*/ 0 w 1176"/>
                <a:gd name="T9" fmla="*/ 1 h 744"/>
                <a:gd name="T10" fmla="*/ 1 w 1176"/>
                <a:gd name="T11" fmla="*/ 1 h 744"/>
                <a:gd name="T12" fmla="*/ 1 w 1176"/>
                <a:gd name="T13" fmla="*/ 1 h 744"/>
                <a:gd name="T14" fmla="*/ 1 w 1176"/>
                <a:gd name="T15" fmla="*/ 1 h 744"/>
                <a:gd name="T16" fmla="*/ 1 w 1176"/>
                <a:gd name="T17" fmla="*/ 0 h 744"/>
                <a:gd name="T18" fmla="*/ 1 w 1176"/>
                <a:gd name="T19" fmla="*/ 1 h 744"/>
                <a:gd name="T20" fmla="*/ 1 w 1176"/>
                <a:gd name="T21" fmla="*/ 1 h 744"/>
                <a:gd name="T22" fmla="*/ 1 w 1176"/>
                <a:gd name="T23" fmla="*/ 1 h 744"/>
                <a:gd name="T24" fmla="*/ 1 w 1176"/>
                <a:gd name="T25" fmla="*/ 1 h 744"/>
                <a:gd name="T26" fmla="*/ 1 w 1176"/>
                <a:gd name="T27" fmla="*/ 1 h 744"/>
                <a:gd name="T28" fmla="*/ 1 w 1176"/>
                <a:gd name="T29" fmla="*/ 1 h 74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76"/>
                <a:gd name="T46" fmla="*/ 0 h 744"/>
                <a:gd name="T47" fmla="*/ 1176 w 1176"/>
                <a:gd name="T48" fmla="*/ 744 h 74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76" h="744">
                  <a:moveTo>
                    <a:pt x="789" y="720"/>
                  </a:moveTo>
                  <a:lnTo>
                    <a:pt x="378" y="744"/>
                  </a:lnTo>
                  <a:lnTo>
                    <a:pt x="345" y="471"/>
                  </a:lnTo>
                  <a:lnTo>
                    <a:pt x="303" y="360"/>
                  </a:lnTo>
                  <a:lnTo>
                    <a:pt x="0" y="249"/>
                  </a:lnTo>
                  <a:lnTo>
                    <a:pt x="15" y="153"/>
                  </a:lnTo>
                  <a:lnTo>
                    <a:pt x="213" y="48"/>
                  </a:lnTo>
                  <a:lnTo>
                    <a:pt x="402" y="6"/>
                  </a:lnTo>
                  <a:lnTo>
                    <a:pt x="654" y="0"/>
                  </a:lnTo>
                  <a:lnTo>
                    <a:pt x="873" y="21"/>
                  </a:lnTo>
                  <a:lnTo>
                    <a:pt x="1056" y="102"/>
                  </a:lnTo>
                  <a:lnTo>
                    <a:pt x="1176" y="234"/>
                  </a:lnTo>
                  <a:lnTo>
                    <a:pt x="855" y="360"/>
                  </a:lnTo>
                  <a:lnTo>
                    <a:pt x="795" y="483"/>
                  </a:lnTo>
                  <a:lnTo>
                    <a:pt x="789" y="72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2604" name="Oval 31"/>
            <p:cNvSpPr>
              <a:spLocks noChangeArrowheads="1"/>
            </p:cNvSpPr>
            <p:nvPr/>
          </p:nvSpPr>
          <p:spPr bwMode="auto">
            <a:xfrm>
              <a:off x="2336" y="478"/>
              <a:ext cx="221" cy="242"/>
            </a:xfrm>
            <a:prstGeom prst="ellipse">
              <a:avLst/>
            </a:prstGeom>
            <a:solidFill>
              <a:schemeClr val="tx2"/>
            </a:solidFill>
            <a:ln w="12700" algn="ctr">
              <a:solidFill>
                <a:schemeClr val="bg1"/>
              </a:solidFill>
              <a:round/>
              <a:headEnd/>
              <a:tailEnd/>
            </a:ln>
          </p:spPr>
          <p:txBody>
            <a:bodyPr lIns="0" tIns="0" rIns="0" bIns="0" anchor="ctr">
              <a:spAutoFit/>
            </a:bodyPr>
            <a:lstStyle/>
            <a:p>
              <a:endParaRPr lang="en-US"/>
            </a:p>
          </p:txBody>
        </p:sp>
        <p:sp>
          <p:nvSpPr>
            <p:cNvPr id="22605" name="Rectangle 32"/>
            <p:cNvSpPr>
              <a:spLocks noChangeArrowheads="1"/>
            </p:cNvSpPr>
            <p:nvPr/>
          </p:nvSpPr>
          <p:spPr bwMode="auto">
            <a:xfrm>
              <a:off x="2355" y="1031"/>
              <a:ext cx="206" cy="18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2606" name="Freeform 33"/>
            <p:cNvSpPr>
              <a:spLocks/>
            </p:cNvSpPr>
            <p:nvPr/>
          </p:nvSpPr>
          <p:spPr bwMode="auto">
            <a:xfrm>
              <a:off x="2327" y="681"/>
              <a:ext cx="240" cy="470"/>
            </a:xfrm>
            <a:custGeom>
              <a:avLst/>
              <a:gdLst>
                <a:gd name="T0" fmla="*/ 1 w 476"/>
                <a:gd name="T1" fmla="*/ 0 h 988"/>
                <a:gd name="T2" fmla="*/ 1 w 476"/>
                <a:gd name="T3" fmla="*/ 0 h 988"/>
                <a:gd name="T4" fmla="*/ 1 w 476"/>
                <a:gd name="T5" fmla="*/ 0 h 988"/>
                <a:gd name="T6" fmla="*/ 0 w 476"/>
                <a:gd name="T7" fmla="*/ 0 h 988"/>
                <a:gd name="T8" fmla="*/ 1 w 476"/>
                <a:gd name="T9" fmla="*/ 0 h 988"/>
                <a:gd name="T10" fmla="*/ 1 w 476"/>
                <a:gd name="T11" fmla="*/ 0 h 988"/>
                <a:gd name="T12" fmla="*/ 1 w 476"/>
                <a:gd name="T13" fmla="*/ 0 h 988"/>
                <a:gd name="T14" fmla="*/ 1 w 476"/>
                <a:gd name="T15" fmla="*/ 0 h 988"/>
                <a:gd name="T16" fmla="*/ 1 w 476"/>
                <a:gd name="T17" fmla="*/ 0 h 988"/>
                <a:gd name="T18" fmla="*/ 1 w 476"/>
                <a:gd name="T19" fmla="*/ 0 h 988"/>
                <a:gd name="T20" fmla="*/ 1 w 476"/>
                <a:gd name="T21" fmla="*/ 0 h 988"/>
                <a:gd name="T22" fmla="*/ 1 w 476"/>
                <a:gd name="T23" fmla="*/ 0 h 988"/>
                <a:gd name="T24" fmla="*/ 1 w 476"/>
                <a:gd name="T25" fmla="*/ 0 h 988"/>
                <a:gd name="T26" fmla="*/ 1 w 476"/>
                <a:gd name="T27" fmla="*/ 0 h 988"/>
                <a:gd name="T28" fmla="*/ 1 w 476"/>
                <a:gd name="T29" fmla="*/ 0 h 98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76"/>
                <a:gd name="T46" fmla="*/ 0 h 988"/>
                <a:gd name="T47" fmla="*/ 476 w 476"/>
                <a:gd name="T48" fmla="*/ 988 h 98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76" h="988">
                  <a:moveTo>
                    <a:pt x="64" y="988"/>
                  </a:moveTo>
                  <a:lnTo>
                    <a:pt x="52" y="488"/>
                  </a:lnTo>
                  <a:lnTo>
                    <a:pt x="28" y="448"/>
                  </a:lnTo>
                  <a:lnTo>
                    <a:pt x="0" y="208"/>
                  </a:lnTo>
                  <a:lnTo>
                    <a:pt x="20" y="8"/>
                  </a:lnTo>
                  <a:lnTo>
                    <a:pt x="68" y="8"/>
                  </a:lnTo>
                  <a:lnTo>
                    <a:pt x="72" y="256"/>
                  </a:lnTo>
                  <a:lnTo>
                    <a:pt x="392" y="248"/>
                  </a:lnTo>
                  <a:lnTo>
                    <a:pt x="392" y="12"/>
                  </a:lnTo>
                  <a:lnTo>
                    <a:pt x="440" y="0"/>
                  </a:lnTo>
                  <a:lnTo>
                    <a:pt x="464" y="184"/>
                  </a:lnTo>
                  <a:lnTo>
                    <a:pt x="464" y="404"/>
                  </a:lnTo>
                  <a:lnTo>
                    <a:pt x="440" y="460"/>
                  </a:lnTo>
                  <a:lnTo>
                    <a:pt x="476" y="980"/>
                  </a:lnTo>
                  <a:lnTo>
                    <a:pt x="64" y="988"/>
                  </a:lnTo>
                  <a:close/>
                </a:path>
              </a:pathLst>
            </a:custGeom>
            <a:solidFill>
              <a:schemeClr val="bg1"/>
            </a:solidFill>
            <a:ln w="12700" cap="flat" cmpd="sng">
              <a:solidFill>
                <a:schemeClr val="bg1"/>
              </a:solidFill>
              <a:prstDash val="solid"/>
              <a:round/>
              <a:headEnd/>
              <a:tailEnd/>
            </a:ln>
          </p:spPr>
          <p:txBody>
            <a:bodyPr lIns="0" tIns="0" rIns="0" bIns="0" anchor="ctr">
              <a:spAutoFit/>
            </a:bodyPr>
            <a:lstStyle/>
            <a:p>
              <a:endParaRPr lang="en-US"/>
            </a:p>
          </p:txBody>
        </p:sp>
        <p:sp>
          <p:nvSpPr>
            <p:cNvPr id="22607" name="Line 34"/>
            <p:cNvSpPr>
              <a:spLocks noChangeShapeType="1"/>
            </p:cNvSpPr>
            <p:nvPr/>
          </p:nvSpPr>
          <p:spPr bwMode="auto">
            <a:xfrm flipV="1">
              <a:off x="2458" y="1082"/>
              <a:ext cx="0" cy="1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608" name="Freeform 35"/>
            <p:cNvSpPr>
              <a:spLocks/>
            </p:cNvSpPr>
            <p:nvPr/>
          </p:nvSpPr>
          <p:spPr bwMode="auto">
            <a:xfrm>
              <a:off x="2137" y="486"/>
              <a:ext cx="19" cy="20"/>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609" name="Freeform 36"/>
            <p:cNvSpPr>
              <a:spLocks/>
            </p:cNvSpPr>
            <p:nvPr/>
          </p:nvSpPr>
          <p:spPr bwMode="auto">
            <a:xfrm>
              <a:off x="2137" y="452"/>
              <a:ext cx="19" cy="18"/>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3"/>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610" name="Freeform 37"/>
            <p:cNvSpPr>
              <a:spLocks/>
            </p:cNvSpPr>
            <p:nvPr/>
          </p:nvSpPr>
          <p:spPr bwMode="auto">
            <a:xfrm>
              <a:off x="2293" y="450"/>
              <a:ext cx="303" cy="116"/>
            </a:xfrm>
            <a:custGeom>
              <a:avLst/>
              <a:gdLst>
                <a:gd name="T0" fmla="*/ 0 w 600"/>
                <a:gd name="T1" fmla="*/ 1 h 230"/>
                <a:gd name="T2" fmla="*/ 1 w 600"/>
                <a:gd name="T3" fmla="*/ 1 h 230"/>
                <a:gd name="T4" fmla="*/ 1 w 600"/>
                <a:gd name="T5" fmla="*/ 1 h 230"/>
                <a:gd name="T6" fmla="*/ 1 w 600"/>
                <a:gd name="T7" fmla="*/ 1 h 230"/>
                <a:gd name="T8" fmla="*/ 1 w 600"/>
                <a:gd name="T9" fmla="*/ 1 h 230"/>
                <a:gd name="T10" fmla="*/ 1 w 600"/>
                <a:gd name="T11" fmla="*/ 1 h 230"/>
                <a:gd name="T12" fmla="*/ 1 w 600"/>
                <a:gd name="T13" fmla="*/ 1 h 230"/>
                <a:gd name="T14" fmla="*/ 1 w 600"/>
                <a:gd name="T15" fmla="*/ 1 h 230"/>
                <a:gd name="T16" fmla="*/ 1 w 600"/>
                <a:gd name="T17" fmla="*/ 1 h 230"/>
                <a:gd name="T18" fmla="*/ 1 w 600"/>
                <a:gd name="T19" fmla="*/ 0 h 230"/>
                <a:gd name="T20" fmla="*/ 1 w 600"/>
                <a:gd name="T21" fmla="*/ 0 h 230"/>
                <a:gd name="T22" fmla="*/ 1 w 600"/>
                <a:gd name="T23" fmla="*/ 0 h 230"/>
                <a:gd name="T24" fmla="*/ 1 w 600"/>
                <a:gd name="T25" fmla="*/ 1 h 230"/>
                <a:gd name="T26" fmla="*/ 1 w 600"/>
                <a:gd name="T27" fmla="*/ 1 h 230"/>
                <a:gd name="T28" fmla="*/ 1 w 600"/>
                <a:gd name="T29" fmla="*/ 1 h 230"/>
                <a:gd name="T30" fmla="*/ 1 w 600"/>
                <a:gd name="T31" fmla="*/ 1 h 230"/>
                <a:gd name="T32" fmla="*/ 1 w 600"/>
                <a:gd name="T33" fmla="*/ 1 h 230"/>
                <a:gd name="T34" fmla="*/ 1 w 600"/>
                <a:gd name="T35" fmla="*/ 1 h 230"/>
                <a:gd name="T36" fmla="*/ 1 w 600"/>
                <a:gd name="T37" fmla="*/ 1 h 230"/>
                <a:gd name="T38" fmla="*/ 1 w 600"/>
                <a:gd name="T39" fmla="*/ 1 h 230"/>
                <a:gd name="T40" fmla="*/ 1 w 600"/>
                <a:gd name="T41" fmla="*/ 1 h 230"/>
                <a:gd name="T42" fmla="*/ 0 w 600"/>
                <a:gd name="T43" fmla="*/ 1 h 2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00"/>
                <a:gd name="T67" fmla="*/ 0 h 230"/>
                <a:gd name="T68" fmla="*/ 600 w 600"/>
                <a:gd name="T69" fmla="*/ 230 h 23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00" h="230">
                  <a:moveTo>
                    <a:pt x="0" y="230"/>
                  </a:moveTo>
                  <a:lnTo>
                    <a:pt x="600" y="230"/>
                  </a:lnTo>
                  <a:lnTo>
                    <a:pt x="572" y="202"/>
                  </a:lnTo>
                  <a:lnTo>
                    <a:pt x="538" y="186"/>
                  </a:lnTo>
                  <a:lnTo>
                    <a:pt x="508" y="180"/>
                  </a:lnTo>
                  <a:lnTo>
                    <a:pt x="500" y="122"/>
                  </a:lnTo>
                  <a:lnTo>
                    <a:pt x="476" y="72"/>
                  </a:lnTo>
                  <a:lnTo>
                    <a:pt x="424" y="30"/>
                  </a:lnTo>
                  <a:lnTo>
                    <a:pt x="376" y="10"/>
                  </a:lnTo>
                  <a:lnTo>
                    <a:pt x="326" y="0"/>
                  </a:lnTo>
                  <a:lnTo>
                    <a:pt x="298" y="0"/>
                  </a:lnTo>
                  <a:lnTo>
                    <a:pt x="260" y="0"/>
                  </a:lnTo>
                  <a:lnTo>
                    <a:pt x="208" y="12"/>
                  </a:lnTo>
                  <a:lnTo>
                    <a:pt x="174" y="32"/>
                  </a:lnTo>
                  <a:lnTo>
                    <a:pt x="140" y="54"/>
                  </a:lnTo>
                  <a:lnTo>
                    <a:pt x="114" y="90"/>
                  </a:lnTo>
                  <a:lnTo>
                    <a:pt x="98" y="118"/>
                  </a:lnTo>
                  <a:lnTo>
                    <a:pt x="92" y="152"/>
                  </a:lnTo>
                  <a:lnTo>
                    <a:pt x="90" y="180"/>
                  </a:lnTo>
                  <a:lnTo>
                    <a:pt x="46" y="190"/>
                  </a:lnTo>
                  <a:lnTo>
                    <a:pt x="16" y="212"/>
                  </a:lnTo>
                  <a:lnTo>
                    <a:pt x="0" y="23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2611" name="Freeform 38"/>
            <p:cNvSpPr>
              <a:spLocks/>
            </p:cNvSpPr>
            <p:nvPr/>
          </p:nvSpPr>
          <p:spPr bwMode="auto">
            <a:xfrm>
              <a:off x="2464" y="461"/>
              <a:ext cx="68" cy="84"/>
            </a:xfrm>
            <a:custGeom>
              <a:avLst/>
              <a:gdLst>
                <a:gd name="T0" fmla="*/ 0 w 347"/>
                <a:gd name="T1" fmla="*/ 0 h 433"/>
                <a:gd name="T2" fmla="*/ 0 w 347"/>
                <a:gd name="T3" fmla="*/ 0 h 433"/>
                <a:gd name="T4" fmla="*/ 0 w 347"/>
                <a:gd name="T5" fmla="*/ 0 h 433"/>
                <a:gd name="T6" fmla="*/ 0 w 347"/>
                <a:gd name="T7" fmla="*/ 0 h 433"/>
                <a:gd name="T8" fmla="*/ 0 w 347"/>
                <a:gd name="T9" fmla="*/ 0 h 433"/>
                <a:gd name="T10" fmla="*/ 0 w 347"/>
                <a:gd name="T11" fmla="*/ 0 h 433"/>
                <a:gd name="T12" fmla="*/ 0 w 347"/>
                <a:gd name="T13" fmla="*/ 0 h 433"/>
                <a:gd name="T14" fmla="*/ 0 w 347"/>
                <a:gd name="T15" fmla="*/ 0 h 433"/>
                <a:gd name="T16" fmla="*/ 0 w 347"/>
                <a:gd name="T17" fmla="*/ 0 h 433"/>
                <a:gd name="T18" fmla="*/ 0 w 347"/>
                <a:gd name="T19" fmla="*/ 0 h 433"/>
                <a:gd name="T20" fmla="*/ 0 w 347"/>
                <a:gd name="T21" fmla="*/ 0 h 433"/>
                <a:gd name="T22" fmla="*/ 0 w 347"/>
                <a:gd name="T23" fmla="*/ 0 h 433"/>
                <a:gd name="T24" fmla="*/ 0 w 347"/>
                <a:gd name="T25" fmla="*/ 0 h 433"/>
                <a:gd name="T26" fmla="*/ 0 w 347"/>
                <a:gd name="T27" fmla="*/ 0 h 433"/>
                <a:gd name="T28" fmla="*/ 0 w 347"/>
                <a:gd name="T29" fmla="*/ 0 h 433"/>
                <a:gd name="T30" fmla="*/ 0 w 347"/>
                <a:gd name="T31" fmla="*/ 0 h 433"/>
                <a:gd name="T32" fmla="*/ 0 w 347"/>
                <a:gd name="T33" fmla="*/ 0 h 433"/>
                <a:gd name="T34" fmla="*/ 0 w 347"/>
                <a:gd name="T35" fmla="*/ 0 h 433"/>
                <a:gd name="T36" fmla="*/ 0 w 347"/>
                <a:gd name="T37" fmla="*/ 0 h 433"/>
                <a:gd name="T38" fmla="*/ 0 w 347"/>
                <a:gd name="T39" fmla="*/ 0 h 433"/>
                <a:gd name="T40" fmla="*/ 0 w 347"/>
                <a:gd name="T41" fmla="*/ 0 h 433"/>
                <a:gd name="T42" fmla="*/ 0 w 347"/>
                <a:gd name="T43" fmla="*/ 0 h 433"/>
                <a:gd name="T44" fmla="*/ 0 w 347"/>
                <a:gd name="T45" fmla="*/ 0 h 433"/>
                <a:gd name="T46" fmla="*/ 0 w 347"/>
                <a:gd name="T47" fmla="*/ 0 h 433"/>
                <a:gd name="T48" fmla="*/ 0 w 347"/>
                <a:gd name="T49" fmla="*/ 0 h 433"/>
                <a:gd name="T50" fmla="*/ 0 w 347"/>
                <a:gd name="T51" fmla="*/ 0 h 433"/>
                <a:gd name="T52" fmla="*/ 0 w 347"/>
                <a:gd name="T53" fmla="*/ 0 h 433"/>
                <a:gd name="T54" fmla="*/ 0 w 347"/>
                <a:gd name="T55" fmla="*/ 0 h 433"/>
                <a:gd name="T56" fmla="*/ 0 w 347"/>
                <a:gd name="T57" fmla="*/ 0 h 433"/>
                <a:gd name="T58" fmla="*/ 0 w 347"/>
                <a:gd name="T59" fmla="*/ 0 h 433"/>
                <a:gd name="T60" fmla="*/ 0 w 347"/>
                <a:gd name="T61" fmla="*/ 0 h 433"/>
                <a:gd name="T62" fmla="*/ 0 w 347"/>
                <a:gd name="T63" fmla="*/ 0 h 433"/>
                <a:gd name="T64" fmla="*/ 0 w 347"/>
                <a:gd name="T65" fmla="*/ 0 h 433"/>
                <a:gd name="T66" fmla="*/ 0 w 347"/>
                <a:gd name="T67" fmla="*/ 0 h 433"/>
                <a:gd name="T68" fmla="*/ 0 w 347"/>
                <a:gd name="T69" fmla="*/ 0 h 433"/>
                <a:gd name="T70" fmla="*/ 0 w 347"/>
                <a:gd name="T71" fmla="*/ 0 h 433"/>
                <a:gd name="T72" fmla="*/ 0 w 347"/>
                <a:gd name="T73" fmla="*/ 0 h 433"/>
                <a:gd name="T74" fmla="*/ 0 w 347"/>
                <a:gd name="T75" fmla="*/ 0 h 433"/>
                <a:gd name="T76" fmla="*/ 0 w 347"/>
                <a:gd name="T77" fmla="*/ 0 h 433"/>
                <a:gd name="T78" fmla="*/ 0 w 347"/>
                <a:gd name="T79" fmla="*/ 0 h 433"/>
                <a:gd name="T80" fmla="*/ 0 w 347"/>
                <a:gd name="T81" fmla="*/ 0 h 433"/>
                <a:gd name="T82" fmla="*/ 0 w 347"/>
                <a:gd name="T83" fmla="*/ 0 h 433"/>
                <a:gd name="T84" fmla="*/ 0 w 347"/>
                <a:gd name="T85" fmla="*/ 0 h 433"/>
                <a:gd name="T86" fmla="*/ 0 w 347"/>
                <a:gd name="T87" fmla="*/ 0 h 433"/>
                <a:gd name="T88" fmla="*/ 0 w 347"/>
                <a:gd name="T89" fmla="*/ 0 h 433"/>
                <a:gd name="T90" fmla="*/ 0 w 347"/>
                <a:gd name="T91" fmla="*/ 0 h 433"/>
                <a:gd name="T92" fmla="*/ 0 w 347"/>
                <a:gd name="T93" fmla="*/ 0 h 433"/>
                <a:gd name="T94" fmla="*/ 0 w 347"/>
                <a:gd name="T95" fmla="*/ 0 h 433"/>
                <a:gd name="T96" fmla="*/ 0 w 347"/>
                <a:gd name="T97" fmla="*/ 0 h 433"/>
                <a:gd name="T98" fmla="*/ 0 w 347"/>
                <a:gd name="T99" fmla="*/ 0 h 433"/>
                <a:gd name="T100" fmla="*/ 0 w 347"/>
                <a:gd name="T101" fmla="*/ 0 h 43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347"/>
                <a:gd name="T154" fmla="*/ 0 h 433"/>
                <a:gd name="T155" fmla="*/ 347 w 347"/>
                <a:gd name="T156" fmla="*/ 433 h 43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347" h="433">
                  <a:moveTo>
                    <a:pt x="24" y="0"/>
                  </a:moveTo>
                  <a:lnTo>
                    <a:pt x="24" y="0"/>
                  </a:lnTo>
                  <a:lnTo>
                    <a:pt x="16" y="0"/>
                  </a:lnTo>
                  <a:lnTo>
                    <a:pt x="8" y="3"/>
                  </a:lnTo>
                  <a:lnTo>
                    <a:pt x="3" y="7"/>
                  </a:lnTo>
                  <a:lnTo>
                    <a:pt x="0" y="14"/>
                  </a:lnTo>
                  <a:lnTo>
                    <a:pt x="0" y="23"/>
                  </a:lnTo>
                  <a:lnTo>
                    <a:pt x="1" y="30"/>
                  </a:lnTo>
                  <a:lnTo>
                    <a:pt x="7" y="36"/>
                  </a:lnTo>
                  <a:lnTo>
                    <a:pt x="14" y="40"/>
                  </a:lnTo>
                  <a:lnTo>
                    <a:pt x="18" y="42"/>
                  </a:lnTo>
                  <a:lnTo>
                    <a:pt x="29" y="45"/>
                  </a:lnTo>
                  <a:lnTo>
                    <a:pt x="42" y="51"/>
                  </a:lnTo>
                  <a:lnTo>
                    <a:pt x="59" y="58"/>
                  </a:lnTo>
                  <a:lnTo>
                    <a:pt x="79" y="68"/>
                  </a:lnTo>
                  <a:lnTo>
                    <a:pt x="101" y="81"/>
                  </a:lnTo>
                  <a:lnTo>
                    <a:pt x="125" y="97"/>
                  </a:lnTo>
                  <a:lnTo>
                    <a:pt x="150" y="115"/>
                  </a:lnTo>
                  <a:lnTo>
                    <a:pt x="174" y="138"/>
                  </a:lnTo>
                  <a:lnTo>
                    <a:pt x="200" y="164"/>
                  </a:lnTo>
                  <a:lnTo>
                    <a:pt x="223" y="195"/>
                  </a:lnTo>
                  <a:lnTo>
                    <a:pt x="246" y="229"/>
                  </a:lnTo>
                  <a:lnTo>
                    <a:pt x="266" y="268"/>
                  </a:lnTo>
                  <a:lnTo>
                    <a:pt x="284" y="313"/>
                  </a:lnTo>
                  <a:lnTo>
                    <a:pt x="296" y="360"/>
                  </a:lnTo>
                  <a:lnTo>
                    <a:pt x="307" y="415"/>
                  </a:lnTo>
                  <a:lnTo>
                    <a:pt x="309" y="422"/>
                  </a:lnTo>
                  <a:lnTo>
                    <a:pt x="314" y="428"/>
                  </a:lnTo>
                  <a:lnTo>
                    <a:pt x="321" y="433"/>
                  </a:lnTo>
                  <a:lnTo>
                    <a:pt x="330" y="433"/>
                  </a:lnTo>
                  <a:lnTo>
                    <a:pt x="337" y="430"/>
                  </a:lnTo>
                  <a:lnTo>
                    <a:pt x="343" y="425"/>
                  </a:lnTo>
                  <a:lnTo>
                    <a:pt x="347" y="418"/>
                  </a:lnTo>
                  <a:lnTo>
                    <a:pt x="347" y="409"/>
                  </a:lnTo>
                  <a:lnTo>
                    <a:pt x="337" y="350"/>
                  </a:lnTo>
                  <a:lnTo>
                    <a:pt x="321" y="297"/>
                  </a:lnTo>
                  <a:lnTo>
                    <a:pt x="302" y="248"/>
                  </a:lnTo>
                  <a:lnTo>
                    <a:pt x="279" y="206"/>
                  </a:lnTo>
                  <a:lnTo>
                    <a:pt x="255" y="167"/>
                  </a:lnTo>
                  <a:lnTo>
                    <a:pt x="227" y="134"/>
                  </a:lnTo>
                  <a:lnTo>
                    <a:pt x="199" y="105"/>
                  </a:lnTo>
                  <a:lnTo>
                    <a:pt x="171" y="81"/>
                  </a:lnTo>
                  <a:lnTo>
                    <a:pt x="144" y="61"/>
                  </a:lnTo>
                  <a:lnTo>
                    <a:pt x="116" y="43"/>
                  </a:lnTo>
                  <a:lnTo>
                    <a:pt x="92" y="29"/>
                  </a:lnTo>
                  <a:lnTo>
                    <a:pt x="70" y="17"/>
                  </a:lnTo>
                  <a:lnTo>
                    <a:pt x="52" y="10"/>
                  </a:lnTo>
                  <a:lnTo>
                    <a:pt x="37" y="4"/>
                  </a:lnTo>
                  <a:lnTo>
                    <a:pt x="29" y="2"/>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612" name="Freeform 39"/>
            <p:cNvSpPr>
              <a:spLocks/>
            </p:cNvSpPr>
            <p:nvPr/>
          </p:nvSpPr>
          <p:spPr bwMode="auto">
            <a:xfrm>
              <a:off x="2351" y="461"/>
              <a:ext cx="69" cy="84"/>
            </a:xfrm>
            <a:custGeom>
              <a:avLst/>
              <a:gdLst>
                <a:gd name="T0" fmla="*/ 0 w 350"/>
                <a:gd name="T1" fmla="*/ 0 h 433"/>
                <a:gd name="T2" fmla="*/ 0 w 350"/>
                <a:gd name="T3" fmla="*/ 0 h 433"/>
                <a:gd name="T4" fmla="*/ 0 w 350"/>
                <a:gd name="T5" fmla="*/ 0 h 433"/>
                <a:gd name="T6" fmla="*/ 0 w 350"/>
                <a:gd name="T7" fmla="*/ 0 h 433"/>
                <a:gd name="T8" fmla="*/ 0 w 350"/>
                <a:gd name="T9" fmla="*/ 0 h 433"/>
                <a:gd name="T10" fmla="*/ 0 w 350"/>
                <a:gd name="T11" fmla="*/ 0 h 433"/>
                <a:gd name="T12" fmla="*/ 0 w 350"/>
                <a:gd name="T13" fmla="*/ 0 h 433"/>
                <a:gd name="T14" fmla="*/ 0 w 350"/>
                <a:gd name="T15" fmla="*/ 0 h 433"/>
                <a:gd name="T16" fmla="*/ 0 w 350"/>
                <a:gd name="T17" fmla="*/ 0 h 433"/>
                <a:gd name="T18" fmla="*/ 0 w 350"/>
                <a:gd name="T19" fmla="*/ 0 h 433"/>
                <a:gd name="T20" fmla="*/ 0 w 350"/>
                <a:gd name="T21" fmla="*/ 0 h 433"/>
                <a:gd name="T22" fmla="*/ 0 w 350"/>
                <a:gd name="T23" fmla="*/ 0 h 433"/>
                <a:gd name="T24" fmla="*/ 0 w 350"/>
                <a:gd name="T25" fmla="*/ 0 h 433"/>
                <a:gd name="T26" fmla="*/ 0 w 350"/>
                <a:gd name="T27" fmla="*/ 0 h 433"/>
                <a:gd name="T28" fmla="*/ 0 w 350"/>
                <a:gd name="T29" fmla="*/ 0 h 433"/>
                <a:gd name="T30" fmla="*/ 0 w 350"/>
                <a:gd name="T31" fmla="*/ 0 h 433"/>
                <a:gd name="T32" fmla="*/ 0 w 350"/>
                <a:gd name="T33" fmla="*/ 0 h 433"/>
                <a:gd name="T34" fmla="*/ 0 w 350"/>
                <a:gd name="T35" fmla="*/ 0 h 433"/>
                <a:gd name="T36" fmla="*/ 0 w 350"/>
                <a:gd name="T37" fmla="*/ 0 h 433"/>
                <a:gd name="T38" fmla="*/ 0 w 350"/>
                <a:gd name="T39" fmla="*/ 0 h 433"/>
                <a:gd name="T40" fmla="*/ 0 w 350"/>
                <a:gd name="T41" fmla="*/ 0 h 433"/>
                <a:gd name="T42" fmla="*/ 0 w 350"/>
                <a:gd name="T43" fmla="*/ 0 h 433"/>
                <a:gd name="T44" fmla="*/ 0 w 350"/>
                <a:gd name="T45" fmla="*/ 0 h 433"/>
                <a:gd name="T46" fmla="*/ 0 w 350"/>
                <a:gd name="T47" fmla="*/ 0 h 433"/>
                <a:gd name="T48" fmla="*/ 0 w 350"/>
                <a:gd name="T49" fmla="*/ 0 h 433"/>
                <a:gd name="T50" fmla="*/ 0 w 350"/>
                <a:gd name="T51" fmla="*/ 0 h 433"/>
                <a:gd name="T52" fmla="*/ 0 w 350"/>
                <a:gd name="T53" fmla="*/ 0 h 433"/>
                <a:gd name="T54" fmla="*/ 0 w 350"/>
                <a:gd name="T55" fmla="*/ 0 h 433"/>
                <a:gd name="T56" fmla="*/ 0 w 350"/>
                <a:gd name="T57" fmla="*/ 0 h 433"/>
                <a:gd name="T58" fmla="*/ 0 w 350"/>
                <a:gd name="T59" fmla="*/ 0 h 433"/>
                <a:gd name="T60" fmla="*/ 0 w 350"/>
                <a:gd name="T61" fmla="*/ 0 h 433"/>
                <a:gd name="T62" fmla="*/ 0 w 350"/>
                <a:gd name="T63" fmla="*/ 0 h 433"/>
                <a:gd name="T64" fmla="*/ 0 w 350"/>
                <a:gd name="T65" fmla="*/ 0 h 433"/>
                <a:gd name="T66" fmla="*/ 0 w 350"/>
                <a:gd name="T67" fmla="*/ 0 h 433"/>
                <a:gd name="T68" fmla="*/ 0 w 350"/>
                <a:gd name="T69" fmla="*/ 0 h 433"/>
                <a:gd name="T70" fmla="*/ 0 w 350"/>
                <a:gd name="T71" fmla="*/ 0 h 433"/>
                <a:gd name="T72" fmla="*/ 0 w 350"/>
                <a:gd name="T73" fmla="*/ 0 h 433"/>
                <a:gd name="T74" fmla="*/ 0 w 350"/>
                <a:gd name="T75" fmla="*/ 0 h 433"/>
                <a:gd name="T76" fmla="*/ 0 w 350"/>
                <a:gd name="T77" fmla="*/ 0 h 433"/>
                <a:gd name="T78" fmla="*/ 0 w 350"/>
                <a:gd name="T79" fmla="*/ 0 h 433"/>
                <a:gd name="T80" fmla="*/ 0 w 350"/>
                <a:gd name="T81" fmla="*/ 0 h 433"/>
                <a:gd name="T82" fmla="*/ 0 w 350"/>
                <a:gd name="T83" fmla="*/ 0 h 433"/>
                <a:gd name="T84" fmla="*/ 0 w 350"/>
                <a:gd name="T85" fmla="*/ 0 h 433"/>
                <a:gd name="T86" fmla="*/ 0 w 350"/>
                <a:gd name="T87" fmla="*/ 0 h 433"/>
                <a:gd name="T88" fmla="*/ 0 w 350"/>
                <a:gd name="T89" fmla="*/ 0 h 433"/>
                <a:gd name="T90" fmla="*/ 0 w 350"/>
                <a:gd name="T91" fmla="*/ 0 h 433"/>
                <a:gd name="T92" fmla="*/ 0 w 350"/>
                <a:gd name="T93" fmla="*/ 0 h 433"/>
                <a:gd name="T94" fmla="*/ 0 w 350"/>
                <a:gd name="T95" fmla="*/ 0 h 433"/>
                <a:gd name="T96" fmla="*/ 0 w 350"/>
                <a:gd name="T97" fmla="*/ 0 h 433"/>
                <a:gd name="T98" fmla="*/ 0 w 350"/>
                <a:gd name="T99" fmla="*/ 0 h 43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350"/>
                <a:gd name="T151" fmla="*/ 0 h 433"/>
                <a:gd name="T152" fmla="*/ 350 w 350"/>
                <a:gd name="T153" fmla="*/ 433 h 433"/>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350" h="433">
                  <a:moveTo>
                    <a:pt x="336" y="40"/>
                  </a:moveTo>
                  <a:lnTo>
                    <a:pt x="343" y="36"/>
                  </a:lnTo>
                  <a:lnTo>
                    <a:pt x="349" y="30"/>
                  </a:lnTo>
                  <a:lnTo>
                    <a:pt x="350" y="23"/>
                  </a:lnTo>
                  <a:lnTo>
                    <a:pt x="350" y="14"/>
                  </a:lnTo>
                  <a:lnTo>
                    <a:pt x="346" y="7"/>
                  </a:lnTo>
                  <a:lnTo>
                    <a:pt x="340" y="3"/>
                  </a:lnTo>
                  <a:lnTo>
                    <a:pt x="333" y="0"/>
                  </a:lnTo>
                  <a:lnTo>
                    <a:pt x="326" y="0"/>
                  </a:lnTo>
                  <a:lnTo>
                    <a:pt x="322" y="2"/>
                  </a:lnTo>
                  <a:lnTo>
                    <a:pt x="313" y="4"/>
                  </a:lnTo>
                  <a:lnTo>
                    <a:pt x="299" y="10"/>
                  </a:lnTo>
                  <a:lnTo>
                    <a:pt x="280" y="17"/>
                  </a:lnTo>
                  <a:lnTo>
                    <a:pt x="258" y="29"/>
                  </a:lnTo>
                  <a:lnTo>
                    <a:pt x="234" y="43"/>
                  </a:lnTo>
                  <a:lnTo>
                    <a:pt x="206" y="61"/>
                  </a:lnTo>
                  <a:lnTo>
                    <a:pt x="179" y="81"/>
                  </a:lnTo>
                  <a:lnTo>
                    <a:pt x="150" y="105"/>
                  </a:lnTo>
                  <a:lnTo>
                    <a:pt x="121" y="134"/>
                  </a:lnTo>
                  <a:lnTo>
                    <a:pt x="94" y="167"/>
                  </a:lnTo>
                  <a:lnTo>
                    <a:pt x="70" y="206"/>
                  </a:lnTo>
                  <a:lnTo>
                    <a:pt x="46" y="248"/>
                  </a:lnTo>
                  <a:lnTo>
                    <a:pt x="26" y="297"/>
                  </a:lnTo>
                  <a:lnTo>
                    <a:pt x="10" y="350"/>
                  </a:lnTo>
                  <a:lnTo>
                    <a:pt x="0" y="409"/>
                  </a:lnTo>
                  <a:lnTo>
                    <a:pt x="0" y="418"/>
                  </a:lnTo>
                  <a:lnTo>
                    <a:pt x="5" y="425"/>
                  </a:lnTo>
                  <a:lnTo>
                    <a:pt x="10" y="430"/>
                  </a:lnTo>
                  <a:lnTo>
                    <a:pt x="19" y="433"/>
                  </a:lnTo>
                  <a:lnTo>
                    <a:pt x="26" y="433"/>
                  </a:lnTo>
                  <a:lnTo>
                    <a:pt x="34" y="428"/>
                  </a:lnTo>
                  <a:lnTo>
                    <a:pt x="39" y="422"/>
                  </a:lnTo>
                  <a:lnTo>
                    <a:pt x="42" y="415"/>
                  </a:lnTo>
                  <a:lnTo>
                    <a:pt x="51" y="360"/>
                  </a:lnTo>
                  <a:lnTo>
                    <a:pt x="65" y="313"/>
                  </a:lnTo>
                  <a:lnTo>
                    <a:pt x="83" y="268"/>
                  </a:lnTo>
                  <a:lnTo>
                    <a:pt x="103" y="229"/>
                  </a:lnTo>
                  <a:lnTo>
                    <a:pt x="124" y="195"/>
                  </a:lnTo>
                  <a:lnTo>
                    <a:pt x="149" y="164"/>
                  </a:lnTo>
                  <a:lnTo>
                    <a:pt x="175" y="138"/>
                  </a:lnTo>
                  <a:lnTo>
                    <a:pt x="199" y="115"/>
                  </a:lnTo>
                  <a:lnTo>
                    <a:pt x="225" y="97"/>
                  </a:lnTo>
                  <a:lnTo>
                    <a:pt x="248" y="81"/>
                  </a:lnTo>
                  <a:lnTo>
                    <a:pt x="271" y="68"/>
                  </a:lnTo>
                  <a:lnTo>
                    <a:pt x="291" y="58"/>
                  </a:lnTo>
                  <a:lnTo>
                    <a:pt x="309" y="51"/>
                  </a:lnTo>
                  <a:lnTo>
                    <a:pt x="322" y="45"/>
                  </a:lnTo>
                  <a:lnTo>
                    <a:pt x="332" y="42"/>
                  </a:lnTo>
                  <a:lnTo>
                    <a:pt x="336"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613" name="Freeform 40"/>
            <p:cNvSpPr>
              <a:spLocks/>
            </p:cNvSpPr>
            <p:nvPr/>
          </p:nvSpPr>
          <p:spPr bwMode="auto">
            <a:xfrm>
              <a:off x="2406" y="461"/>
              <a:ext cx="30" cy="83"/>
            </a:xfrm>
            <a:custGeom>
              <a:avLst/>
              <a:gdLst>
                <a:gd name="T0" fmla="*/ 0 w 148"/>
                <a:gd name="T1" fmla="*/ 0 h 420"/>
                <a:gd name="T2" fmla="*/ 0 w 148"/>
                <a:gd name="T3" fmla="*/ 0 h 420"/>
                <a:gd name="T4" fmla="*/ 0 w 148"/>
                <a:gd name="T5" fmla="*/ 0 h 420"/>
                <a:gd name="T6" fmla="*/ 0 w 148"/>
                <a:gd name="T7" fmla="*/ 0 h 420"/>
                <a:gd name="T8" fmla="*/ 0 w 148"/>
                <a:gd name="T9" fmla="*/ 0 h 420"/>
                <a:gd name="T10" fmla="*/ 0 w 148"/>
                <a:gd name="T11" fmla="*/ 0 h 420"/>
                <a:gd name="T12" fmla="*/ 0 w 148"/>
                <a:gd name="T13" fmla="*/ 0 h 420"/>
                <a:gd name="T14" fmla="*/ 0 w 148"/>
                <a:gd name="T15" fmla="*/ 0 h 420"/>
                <a:gd name="T16" fmla="*/ 0 w 148"/>
                <a:gd name="T17" fmla="*/ 0 h 420"/>
                <a:gd name="T18" fmla="*/ 0 w 148"/>
                <a:gd name="T19" fmla="*/ 0 h 420"/>
                <a:gd name="T20" fmla="*/ 0 w 148"/>
                <a:gd name="T21" fmla="*/ 0 h 420"/>
                <a:gd name="T22" fmla="*/ 0 w 148"/>
                <a:gd name="T23" fmla="*/ 0 h 420"/>
                <a:gd name="T24" fmla="*/ 0 w 148"/>
                <a:gd name="T25" fmla="*/ 0 h 420"/>
                <a:gd name="T26" fmla="*/ 0 w 148"/>
                <a:gd name="T27" fmla="*/ 0 h 420"/>
                <a:gd name="T28" fmla="*/ 0 w 148"/>
                <a:gd name="T29" fmla="*/ 0 h 420"/>
                <a:gd name="T30" fmla="*/ 0 w 148"/>
                <a:gd name="T31" fmla="*/ 0 h 420"/>
                <a:gd name="T32" fmla="*/ 0 w 148"/>
                <a:gd name="T33" fmla="*/ 0 h 420"/>
                <a:gd name="T34" fmla="*/ 0 w 148"/>
                <a:gd name="T35" fmla="*/ 0 h 420"/>
                <a:gd name="T36" fmla="*/ 0 w 148"/>
                <a:gd name="T37" fmla="*/ 0 h 420"/>
                <a:gd name="T38" fmla="*/ 0 w 148"/>
                <a:gd name="T39" fmla="*/ 0 h 420"/>
                <a:gd name="T40" fmla="*/ 0 w 148"/>
                <a:gd name="T41" fmla="*/ 0 h 420"/>
                <a:gd name="T42" fmla="*/ 0 w 148"/>
                <a:gd name="T43" fmla="*/ 0 h 420"/>
                <a:gd name="T44" fmla="*/ 0 w 148"/>
                <a:gd name="T45" fmla="*/ 0 h 420"/>
                <a:gd name="T46" fmla="*/ 0 w 148"/>
                <a:gd name="T47" fmla="*/ 0 h 420"/>
                <a:gd name="T48" fmla="*/ 0 w 148"/>
                <a:gd name="T49" fmla="*/ 0 h 420"/>
                <a:gd name="T50" fmla="*/ 0 w 148"/>
                <a:gd name="T51" fmla="*/ 0 h 420"/>
                <a:gd name="T52" fmla="*/ 0 w 148"/>
                <a:gd name="T53" fmla="*/ 0 h 420"/>
                <a:gd name="T54" fmla="*/ 0 w 148"/>
                <a:gd name="T55" fmla="*/ 0 h 420"/>
                <a:gd name="T56" fmla="*/ 0 w 148"/>
                <a:gd name="T57" fmla="*/ 0 h 420"/>
                <a:gd name="T58" fmla="*/ 0 w 148"/>
                <a:gd name="T59" fmla="*/ 0 h 420"/>
                <a:gd name="T60" fmla="*/ 0 w 148"/>
                <a:gd name="T61" fmla="*/ 0 h 420"/>
                <a:gd name="T62" fmla="*/ 0 w 148"/>
                <a:gd name="T63" fmla="*/ 0 h 420"/>
                <a:gd name="T64" fmla="*/ 0 w 148"/>
                <a:gd name="T65" fmla="*/ 0 h 420"/>
                <a:gd name="T66" fmla="*/ 0 w 148"/>
                <a:gd name="T67" fmla="*/ 0 h 420"/>
                <a:gd name="T68" fmla="*/ 0 w 148"/>
                <a:gd name="T69" fmla="*/ 0 h 42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8"/>
                <a:gd name="T106" fmla="*/ 0 h 420"/>
                <a:gd name="T107" fmla="*/ 148 w 148"/>
                <a:gd name="T108" fmla="*/ 420 h 42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8" h="420">
                  <a:moveTo>
                    <a:pt x="142" y="7"/>
                  </a:moveTo>
                  <a:lnTo>
                    <a:pt x="137" y="2"/>
                  </a:lnTo>
                  <a:lnTo>
                    <a:pt x="128" y="0"/>
                  </a:lnTo>
                  <a:lnTo>
                    <a:pt x="121" y="1"/>
                  </a:lnTo>
                  <a:lnTo>
                    <a:pt x="114" y="5"/>
                  </a:lnTo>
                  <a:lnTo>
                    <a:pt x="106" y="12"/>
                  </a:lnTo>
                  <a:lnTo>
                    <a:pt x="92" y="30"/>
                  </a:lnTo>
                  <a:lnTo>
                    <a:pt x="72" y="59"/>
                  </a:lnTo>
                  <a:lnTo>
                    <a:pt x="50" y="100"/>
                  </a:lnTo>
                  <a:lnTo>
                    <a:pt x="29" y="155"/>
                  </a:lnTo>
                  <a:lnTo>
                    <a:pt x="11" y="223"/>
                  </a:lnTo>
                  <a:lnTo>
                    <a:pt x="1" y="305"/>
                  </a:lnTo>
                  <a:lnTo>
                    <a:pt x="0" y="402"/>
                  </a:lnTo>
                  <a:lnTo>
                    <a:pt x="1" y="410"/>
                  </a:lnTo>
                  <a:lnTo>
                    <a:pt x="7" y="416"/>
                  </a:lnTo>
                  <a:lnTo>
                    <a:pt x="13" y="420"/>
                  </a:lnTo>
                  <a:lnTo>
                    <a:pt x="21" y="420"/>
                  </a:lnTo>
                  <a:lnTo>
                    <a:pt x="30" y="419"/>
                  </a:lnTo>
                  <a:lnTo>
                    <a:pt x="36" y="413"/>
                  </a:lnTo>
                  <a:lnTo>
                    <a:pt x="40" y="407"/>
                  </a:lnTo>
                  <a:lnTo>
                    <a:pt x="42" y="399"/>
                  </a:lnTo>
                  <a:lnTo>
                    <a:pt x="43" y="309"/>
                  </a:lnTo>
                  <a:lnTo>
                    <a:pt x="52" y="234"/>
                  </a:lnTo>
                  <a:lnTo>
                    <a:pt x="67" y="171"/>
                  </a:lnTo>
                  <a:lnTo>
                    <a:pt x="88" y="121"/>
                  </a:lnTo>
                  <a:lnTo>
                    <a:pt x="106" y="83"/>
                  </a:lnTo>
                  <a:lnTo>
                    <a:pt x="124" y="56"/>
                  </a:lnTo>
                  <a:lnTo>
                    <a:pt x="137" y="41"/>
                  </a:lnTo>
                  <a:lnTo>
                    <a:pt x="141" y="36"/>
                  </a:lnTo>
                  <a:lnTo>
                    <a:pt x="145" y="28"/>
                  </a:lnTo>
                  <a:lnTo>
                    <a:pt x="148" y="21"/>
                  </a:lnTo>
                  <a:lnTo>
                    <a:pt x="147" y="12"/>
                  </a:lnTo>
                  <a:lnTo>
                    <a:pt x="142"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614" name="Freeform 41"/>
            <p:cNvSpPr>
              <a:spLocks/>
            </p:cNvSpPr>
            <p:nvPr/>
          </p:nvSpPr>
          <p:spPr bwMode="auto">
            <a:xfrm>
              <a:off x="2444" y="461"/>
              <a:ext cx="30" cy="84"/>
            </a:xfrm>
            <a:custGeom>
              <a:avLst/>
              <a:gdLst>
                <a:gd name="T0" fmla="*/ 0 w 152"/>
                <a:gd name="T1" fmla="*/ 0 h 427"/>
                <a:gd name="T2" fmla="*/ 0 w 152"/>
                <a:gd name="T3" fmla="*/ 0 h 427"/>
                <a:gd name="T4" fmla="*/ 0 w 152"/>
                <a:gd name="T5" fmla="*/ 0 h 427"/>
                <a:gd name="T6" fmla="*/ 0 w 152"/>
                <a:gd name="T7" fmla="*/ 0 h 427"/>
                <a:gd name="T8" fmla="*/ 0 w 152"/>
                <a:gd name="T9" fmla="*/ 0 h 427"/>
                <a:gd name="T10" fmla="*/ 0 w 152"/>
                <a:gd name="T11" fmla="*/ 0 h 427"/>
                <a:gd name="T12" fmla="*/ 0 w 152"/>
                <a:gd name="T13" fmla="*/ 0 h 427"/>
                <a:gd name="T14" fmla="*/ 0 w 152"/>
                <a:gd name="T15" fmla="*/ 0 h 427"/>
                <a:gd name="T16" fmla="*/ 0 w 152"/>
                <a:gd name="T17" fmla="*/ 0 h 427"/>
                <a:gd name="T18" fmla="*/ 0 w 152"/>
                <a:gd name="T19" fmla="*/ 0 h 427"/>
                <a:gd name="T20" fmla="*/ 0 w 152"/>
                <a:gd name="T21" fmla="*/ 0 h 427"/>
                <a:gd name="T22" fmla="*/ 0 w 152"/>
                <a:gd name="T23" fmla="*/ 0 h 427"/>
                <a:gd name="T24" fmla="*/ 0 w 152"/>
                <a:gd name="T25" fmla="*/ 0 h 427"/>
                <a:gd name="T26" fmla="*/ 0 w 152"/>
                <a:gd name="T27" fmla="*/ 0 h 427"/>
                <a:gd name="T28" fmla="*/ 0 w 152"/>
                <a:gd name="T29" fmla="*/ 0 h 427"/>
                <a:gd name="T30" fmla="*/ 0 w 152"/>
                <a:gd name="T31" fmla="*/ 0 h 427"/>
                <a:gd name="T32" fmla="*/ 0 w 152"/>
                <a:gd name="T33" fmla="*/ 0 h 427"/>
                <a:gd name="T34" fmla="*/ 0 w 152"/>
                <a:gd name="T35" fmla="*/ 0 h 427"/>
                <a:gd name="T36" fmla="*/ 0 w 152"/>
                <a:gd name="T37" fmla="*/ 0 h 427"/>
                <a:gd name="T38" fmla="*/ 0 w 152"/>
                <a:gd name="T39" fmla="*/ 0 h 427"/>
                <a:gd name="T40" fmla="*/ 0 w 152"/>
                <a:gd name="T41" fmla="*/ 0 h 427"/>
                <a:gd name="T42" fmla="*/ 0 w 152"/>
                <a:gd name="T43" fmla="*/ 0 h 427"/>
                <a:gd name="T44" fmla="*/ 0 w 152"/>
                <a:gd name="T45" fmla="*/ 0 h 427"/>
                <a:gd name="T46" fmla="*/ 0 w 152"/>
                <a:gd name="T47" fmla="*/ 0 h 427"/>
                <a:gd name="T48" fmla="*/ 0 w 152"/>
                <a:gd name="T49" fmla="*/ 0 h 427"/>
                <a:gd name="T50" fmla="*/ 0 w 152"/>
                <a:gd name="T51" fmla="*/ 0 h 427"/>
                <a:gd name="T52" fmla="*/ 0 w 152"/>
                <a:gd name="T53" fmla="*/ 0 h 427"/>
                <a:gd name="T54" fmla="*/ 0 w 152"/>
                <a:gd name="T55" fmla="*/ 0 h 427"/>
                <a:gd name="T56" fmla="*/ 0 w 152"/>
                <a:gd name="T57" fmla="*/ 0 h 427"/>
                <a:gd name="T58" fmla="*/ 0 w 152"/>
                <a:gd name="T59" fmla="*/ 0 h 427"/>
                <a:gd name="T60" fmla="*/ 0 w 152"/>
                <a:gd name="T61" fmla="*/ 0 h 427"/>
                <a:gd name="T62" fmla="*/ 0 w 152"/>
                <a:gd name="T63" fmla="*/ 0 h 427"/>
                <a:gd name="T64" fmla="*/ 0 w 152"/>
                <a:gd name="T65" fmla="*/ 0 h 427"/>
                <a:gd name="T66" fmla="*/ 0 w 152"/>
                <a:gd name="T67" fmla="*/ 0 h 4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52"/>
                <a:gd name="T103" fmla="*/ 0 h 427"/>
                <a:gd name="T104" fmla="*/ 152 w 152"/>
                <a:gd name="T105" fmla="*/ 427 h 4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52" h="427">
                  <a:moveTo>
                    <a:pt x="33" y="4"/>
                  </a:moveTo>
                  <a:lnTo>
                    <a:pt x="26" y="0"/>
                  </a:lnTo>
                  <a:lnTo>
                    <a:pt x="19" y="0"/>
                  </a:lnTo>
                  <a:lnTo>
                    <a:pt x="10" y="1"/>
                  </a:lnTo>
                  <a:lnTo>
                    <a:pt x="5" y="7"/>
                  </a:lnTo>
                  <a:lnTo>
                    <a:pt x="0" y="14"/>
                  </a:lnTo>
                  <a:lnTo>
                    <a:pt x="0" y="22"/>
                  </a:lnTo>
                  <a:lnTo>
                    <a:pt x="2" y="30"/>
                  </a:lnTo>
                  <a:lnTo>
                    <a:pt x="8" y="36"/>
                  </a:lnTo>
                  <a:lnTo>
                    <a:pt x="15" y="43"/>
                  </a:lnTo>
                  <a:lnTo>
                    <a:pt x="29" y="59"/>
                  </a:lnTo>
                  <a:lnTo>
                    <a:pt x="49" y="86"/>
                  </a:lnTo>
                  <a:lnTo>
                    <a:pt x="71" y="125"/>
                  </a:lnTo>
                  <a:lnTo>
                    <a:pt x="90" y="176"/>
                  </a:lnTo>
                  <a:lnTo>
                    <a:pt x="104" y="238"/>
                  </a:lnTo>
                  <a:lnTo>
                    <a:pt x="111" y="314"/>
                  </a:lnTo>
                  <a:lnTo>
                    <a:pt x="105" y="404"/>
                  </a:lnTo>
                  <a:lnTo>
                    <a:pt x="105" y="412"/>
                  </a:lnTo>
                  <a:lnTo>
                    <a:pt x="110" y="419"/>
                  </a:lnTo>
                  <a:lnTo>
                    <a:pt x="116" y="424"/>
                  </a:lnTo>
                  <a:lnTo>
                    <a:pt x="123" y="427"/>
                  </a:lnTo>
                  <a:lnTo>
                    <a:pt x="131" y="427"/>
                  </a:lnTo>
                  <a:lnTo>
                    <a:pt x="139" y="422"/>
                  </a:lnTo>
                  <a:lnTo>
                    <a:pt x="143" y="417"/>
                  </a:lnTo>
                  <a:lnTo>
                    <a:pt x="146" y="409"/>
                  </a:lnTo>
                  <a:lnTo>
                    <a:pt x="152" y="311"/>
                  </a:lnTo>
                  <a:lnTo>
                    <a:pt x="144" y="228"/>
                  </a:lnTo>
                  <a:lnTo>
                    <a:pt x="129" y="159"/>
                  </a:lnTo>
                  <a:lnTo>
                    <a:pt x="105" y="102"/>
                  </a:lnTo>
                  <a:lnTo>
                    <a:pt x="81" y="60"/>
                  </a:lnTo>
                  <a:lnTo>
                    <a:pt x="59" y="30"/>
                  </a:lnTo>
                  <a:lnTo>
                    <a:pt x="42" y="11"/>
                  </a:lnTo>
                  <a:lnTo>
                    <a:pt x="33"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2532" name="Rectangle 42"/>
          <p:cNvSpPr>
            <a:spLocks noGrp="1" noChangeArrowheads="1"/>
          </p:cNvSpPr>
          <p:nvPr>
            <p:ph type="title"/>
          </p:nvPr>
        </p:nvSpPr>
        <p:spPr/>
        <p:txBody>
          <a:bodyPr/>
          <a:lstStyle/>
          <a:p>
            <a:pPr eaLnBrk="1" hangingPunct="1"/>
            <a:r>
              <a:rPr lang="en-US" dirty="0" smtClean="0"/>
              <a:t>Contact roles in ClaimCenter</a:t>
            </a:r>
          </a:p>
        </p:txBody>
      </p:sp>
      <p:grpSp>
        <p:nvGrpSpPr>
          <p:cNvPr id="22533" name="Group 43"/>
          <p:cNvGrpSpPr>
            <a:grpSpLocks/>
          </p:cNvGrpSpPr>
          <p:nvPr/>
        </p:nvGrpSpPr>
        <p:grpSpPr bwMode="auto">
          <a:xfrm>
            <a:off x="417513" y="1033463"/>
            <a:ext cx="1228725" cy="908050"/>
            <a:chOff x="2083" y="1606"/>
            <a:chExt cx="1489" cy="1097"/>
          </a:xfrm>
        </p:grpSpPr>
        <p:sp>
          <p:nvSpPr>
            <p:cNvPr id="22552" name="Rectangle 44"/>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2553" name="Freeform 45"/>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2554" name="Freeform 46"/>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2555" name="Freeform 47"/>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2556" name="Freeform 48"/>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22557" name="Rectangle 49"/>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2558" name="Rectangle 50"/>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2559" name="AutoShape 51"/>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2560" name="Freeform 52"/>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2561" name="Freeform 53"/>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2562" name="Rectangle 54"/>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2563" name="Rectangle 55"/>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2564" name="Rectangle 56"/>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2565" name="Group 57"/>
            <p:cNvGrpSpPr>
              <a:grpSpLocks/>
            </p:cNvGrpSpPr>
            <p:nvPr/>
          </p:nvGrpSpPr>
          <p:grpSpPr bwMode="auto">
            <a:xfrm>
              <a:off x="2221" y="1871"/>
              <a:ext cx="518" cy="782"/>
              <a:chOff x="2400" y="1656"/>
              <a:chExt cx="752" cy="1136"/>
            </a:xfrm>
          </p:grpSpPr>
          <p:sp>
            <p:nvSpPr>
              <p:cNvPr id="22578" name="Freeform 5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2579" name="Freeform 5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2580" name="Freeform 6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2581" name="Freeform 6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2582" name="Freeform 6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2583" name="Line 6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84" name="Line 6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2566" name="Group 65"/>
            <p:cNvGrpSpPr>
              <a:grpSpLocks/>
            </p:cNvGrpSpPr>
            <p:nvPr/>
          </p:nvGrpSpPr>
          <p:grpSpPr bwMode="auto">
            <a:xfrm rot="-6511945">
              <a:off x="2834" y="1842"/>
              <a:ext cx="518" cy="783"/>
              <a:chOff x="2400" y="1656"/>
              <a:chExt cx="752" cy="1136"/>
            </a:xfrm>
          </p:grpSpPr>
          <p:sp>
            <p:nvSpPr>
              <p:cNvPr id="22571" name="Freeform 6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2572" name="Freeform 6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2573" name="Freeform 6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2574" name="Freeform 6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2575" name="Freeform 7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2576" name="Line 7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77" name="Line 7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2567" name="Freeform 73"/>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22568" name="Freeform 74"/>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2569" name="Rectangle 75"/>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2570" name="Rectangle 76"/>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22534" name="Line 77"/>
          <p:cNvSpPr>
            <a:spLocks noChangeShapeType="1"/>
          </p:cNvSpPr>
          <p:nvPr/>
        </p:nvSpPr>
        <p:spPr bwMode="auto">
          <a:xfrm flipV="1">
            <a:off x="998538" y="1912938"/>
            <a:ext cx="0" cy="31670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35" name="Text Box 78"/>
          <p:cNvSpPr txBox="1">
            <a:spLocks noChangeArrowheads="1"/>
          </p:cNvSpPr>
          <p:nvPr/>
        </p:nvSpPr>
        <p:spPr bwMode="auto">
          <a:xfrm>
            <a:off x="1704975" y="1039813"/>
            <a:ext cx="18002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2000" b="1" dirty="0"/>
              <a:t>Auto Claim</a:t>
            </a:r>
            <a:br>
              <a:rPr lang="en-US" sz="2000" b="1" dirty="0"/>
            </a:br>
            <a:r>
              <a:rPr lang="en-US" sz="2000" b="1" dirty="0"/>
              <a:t>036-22-934712</a:t>
            </a:r>
          </a:p>
        </p:txBody>
      </p:sp>
      <p:sp>
        <p:nvSpPr>
          <p:cNvPr id="22536" name="AutoShape 79"/>
          <p:cNvSpPr>
            <a:spLocks noChangeArrowheads="1"/>
          </p:cNvSpPr>
          <p:nvPr/>
        </p:nvSpPr>
        <p:spPr bwMode="auto">
          <a:xfrm>
            <a:off x="1666875" y="2284413"/>
            <a:ext cx="704850" cy="70485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22537" name="Line 80"/>
          <p:cNvSpPr>
            <a:spLocks noChangeShapeType="1"/>
          </p:cNvSpPr>
          <p:nvPr/>
        </p:nvSpPr>
        <p:spPr bwMode="auto">
          <a:xfrm flipH="1">
            <a:off x="998538" y="2679700"/>
            <a:ext cx="677862"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38" name="Text Box 81"/>
          <p:cNvSpPr txBox="1">
            <a:spLocks noChangeArrowheads="1"/>
          </p:cNvSpPr>
          <p:nvPr/>
        </p:nvSpPr>
        <p:spPr bwMode="auto">
          <a:xfrm>
            <a:off x="1795463" y="3071813"/>
            <a:ext cx="294957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71600" algn="l"/>
              </a:tabLst>
              <a:defRPr sz="1400">
                <a:solidFill>
                  <a:schemeClr val="bg1"/>
                </a:solidFill>
                <a:latin typeface="Arial" pitchFamily="34" charset="0"/>
              </a:defRPr>
            </a:lvl1pPr>
            <a:lvl2pPr marL="742950" indent="-285750" eaLnBrk="0" hangingPunct="0">
              <a:tabLst>
                <a:tab pos="1371600" algn="l"/>
              </a:tabLst>
              <a:defRPr sz="1400">
                <a:solidFill>
                  <a:schemeClr val="bg1"/>
                </a:solidFill>
                <a:latin typeface="Arial" pitchFamily="34" charset="0"/>
              </a:defRPr>
            </a:lvl2pPr>
            <a:lvl3pPr marL="1143000" indent="-228600" eaLnBrk="0" hangingPunct="0">
              <a:tabLst>
                <a:tab pos="1371600" algn="l"/>
              </a:tabLst>
              <a:defRPr sz="1400">
                <a:solidFill>
                  <a:schemeClr val="bg1"/>
                </a:solidFill>
                <a:latin typeface="Arial" pitchFamily="34" charset="0"/>
              </a:defRPr>
            </a:lvl3pPr>
            <a:lvl4pPr marL="1600200" indent="-228600" eaLnBrk="0" hangingPunct="0">
              <a:tabLst>
                <a:tab pos="1371600" algn="l"/>
              </a:tabLst>
              <a:defRPr sz="1400">
                <a:solidFill>
                  <a:schemeClr val="bg1"/>
                </a:solidFill>
                <a:latin typeface="Arial" pitchFamily="34" charset="0"/>
              </a:defRPr>
            </a:lvl4pPr>
            <a:lvl5pPr marL="2057400" indent="-228600" eaLnBrk="0" hangingPunct="0">
              <a:tabLst>
                <a:tab pos="1371600" algn="l"/>
              </a:tabLst>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tabLst>
                <a:tab pos="1371600" algn="l"/>
              </a:tabLst>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tabLst>
                <a:tab pos="1371600" algn="l"/>
              </a:tabLst>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tabLst>
                <a:tab pos="1371600" algn="l"/>
              </a:tabLst>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tabLst>
                <a:tab pos="1371600" algn="l"/>
              </a:tabLst>
              <a:defRPr sz="1400">
                <a:solidFill>
                  <a:schemeClr val="bg1"/>
                </a:solidFill>
                <a:latin typeface="Arial" pitchFamily="34" charset="0"/>
              </a:defRPr>
            </a:lvl9pPr>
          </a:lstStyle>
          <a:p>
            <a:pPr algn="l" eaLnBrk="1" hangingPunct="1"/>
            <a:r>
              <a:rPr lang="en-US" sz="2000" b="1" dirty="0"/>
              <a:t>Ellen Lopez</a:t>
            </a:r>
            <a:r>
              <a:rPr lang="en-US" sz="2000" b="1" dirty="0">
                <a:solidFill>
                  <a:srgbClr val="C00000"/>
                </a:solidFill>
              </a:rPr>
              <a:t/>
            </a:r>
            <a:br>
              <a:rPr lang="en-US" sz="2000" b="1" dirty="0">
                <a:solidFill>
                  <a:srgbClr val="C00000"/>
                </a:solidFill>
              </a:rPr>
            </a:br>
            <a:r>
              <a:rPr lang="en-US" sz="2000" b="1" dirty="0">
                <a:solidFill>
                  <a:srgbClr val="C00000"/>
                </a:solidFill>
              </a:rPr>
              <a:t>- Insured	(policy)</a:t>
            </a:r>
            <a:br>
              <a:rPr lang="en-US" sz="2000" b="1" dirty="0">
                <a:solidFill>
                  <a:srgbClr val="C00000"/>
                </a:solidFill>
              </a:rPr>
            </a:br>
            <a:r>
              <a:rPr lang="en-US" sz="2000" b="1" dirty="0">
                <a:solidFill>
                  <a:srgbClr val="C00000"/>
                </a:solidFill>
              </a:rPr>
              <a:t>- Reporter	(entire claim)</a:t>
            </a:r>
            <a:br>
              <a:rPr lang="en-US" sz="2000" b="1" dirty="0">
                <a:solidFill>
                  <a:srgbClr val="C00000"/>
                </a:solidFill>
              </a:rPr>
            </a:br>
            <a:r>
              <a:rPr lang="en-US" sz="2000" b="1" dirty="0">
                <a:solidFill>
                  <a:srgbClr val="C00000"/>
                </a:solidFill>
              </a:rPr>
              <a:t>- Claimant	(exposure 1)</a:t>
            </a:r>
          </a:p>
        </p:txBody>
      </p:sp>
      <p:sp>
        <p:nvSpPr>
          <p:cNvPr id="22539" name="AutoShape 82"/>
          <p:cNvSpPr>
            <a:spLocks noChangeArrowheads="1"/>
          </p:cNvSpPr>
          <p:nvPr/>
        </p:nvSpPr>
        <p:spPr bwMode="auto">
          <a:xfrm>
            <a:off x="1677988" y="4678363"/>
            <a:ext cx="704850" cy="70485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22540" name="Line 83"/>
          <p:cNvSpPr>
            <a:spLocks noChangeShapeType="1"/>
          </p:cNvSpPr>
          <p:nvPr/>
        </p:nvSpPr>
        <p:spPr bwMode="auto">
          <a:xfrm flipH="1">
            <a:off x="1009650" y="5073650"/>
            <a:ext cx="67786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41" name="Text Box 84"/>
          <p:cNvSpPr txBox="1">
            <a:spLocks noChangeArrowheads="1"/>
          </p:cNvSpPr>
          <p:nvPr/>
        </p:nvSpPr>
        <p:spPr bwMode="auto">
          <a:xfrm>
            <a:off x="1806575" y="5465763"/>
            <a:ext cx="30353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71600" algn="l"/>
              </a:tabLst>
              <a:defRPr sz="1400">
                <a:solidFill>
                  <a:schemeClr val="bg1"/>
                </a:solidFill>
                <a:latin typeface="Arial" pitchFamily="34" charset="0"/>
              </a:defRPr>
            </a:lvl1pPr>
            <a:lvl2pPr marL="742950" indent="-285750" eaLnBrk="0" hangingPunct="0">
              <a:tabLst>
                <a:tab pos="1371600" algn="l"/>
              </a:tabLst>
              <a:defRPr sz="1400">
                <a:solidFill>
                  <a:schemeClr val="bg1"/>
                </a:solidFill>
                <a:latin typeface="Arial" pitchFamily="34" charset="0"/>
              </a:defRPr>
            </a:lvl2pPr>
            <a:lvl3pPr marL="1143000" indent="-228600" eaLnBrk="0" hangingPunct="0">
              <a:tabLst>
                <a:tab pos="1371600" algn="l"/>
              </a:tabLst>
              <a:defRPr sz="1400">
                <a:solidFill>
                  <a:schemeClr val="bg1"/>
                </a:solidFill>
                <a:latin typeface="Arial" pitchFamily="34" charset="0"/>
              </a:defRPr>
            </a:lvl3pPr>
            <a:lvl4pPr marL="1600200" indent="-228600" eaLnBrk="0" hangingPunct="0">
              <a:tabLst>
                <a:tab pos="1371600" algn="l"/>
              </a:tabLst>
              <a:defRPr sz="1400">
                <a:solidFill>
                  <a:schemeClr val="bg1"/>
                </a:solidFill>
                <a:latin typeface="Arial" pitchFamily="34" charset="0"/>
              </a:defRPr>
            </a:lvl4pPr>
            <a:lvl5pPr marL="2057400" indent="-228600" eaLnBrk="0" hangingPunct="0">
              <a:tabLst>
                <a:tab pos="1371600" algn="l"/>
              </a:tabLst>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tabLst>
                <a:tab pos="1371600" algn="l"/>
              </a:tabLst>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tabLst>
                <a:tab pos="1371600" algn="l"/>
              </a:tabLst>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tabLst>
                <a:tab pos="1371600" algn="l"/>
              </a:tabLst>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tabLst>
                <a:tab pos="1371600" algn="l"/>
              </a:tabLst>
              <a:defRPr sz="1400">
                <a:solidFill>
                  <a:schemeClr val="bg1"/>
                </a:solidFill>
                <a:latin typeface="Arial" pitchFamily="34" charset="0"/>
              </a:defRPr>
            </a:lvl9pPr>
          </a:lstStyle>
          <a:p>
            <a:pPr algn="l" eaLnBrk="1" hangingPunct="1"/>
            <a:r>
              <a:rPr lang="en-US" sz="2000" b="1" dirty="0"/>
              <a:t>Matt Sawyer</a:t>
            </a:r>
            <a:r>
              <a:rPr lang="en-US" sz="2000" b="1" dirty="0">
                <a:solidFill>
                  <a:srgbClr val="C00000"/>
                </a:solidFill>
              </a:rPr>
              <a:t/>
            </a:r>
            <a:br>
              <a:rPr lang="en-US" sz="2000" b="1" dirty="0">
                <a:solidFill>
                  <a:srgbClr val="C00000"/>
                </a:solidFill>
              </a:rPr>
            </a:br>
            <a:r>
              <a:rPr lang="en-US" sz="2000" b="1" dirty="0">
                <a:solidFill>
                  <a:srgbClr val="C00000"/>
                </a:solidFill>
              </a:rPr>
              <a:t>- Doctor	(entire claim)</a:t>
            </a:r>
          </a:p>
        </p:txBody>
      </p:sp>
      <p:sp>
        <p:nvSpPr>
          <p:cNvPr id="22542" name="Line 85"/>
          <p:cNvSpPr>
            <a:spLocks noChangeShapeType="1"/>
          </p:cNvSpPr>
          <p:nvPr/>
        </p:nvSpPr>
        <p:spPr bwMode="auto">
          <a:xfrm flipV="1">
            <a:off x="5164138" y="1871663"/>
            <a:ext cx="0" cy="356393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43" name="Text Box 86"/>
          <p:cNvSpPr txBox="1">
            <a:spLocks noChangeArrowheads="1"/>
          </p:cNvSpPr>
          <p:nvPr/>
        </p:nvSpPr>
        <p:spPr bwMode="auto">
          <a:xfrm>
            <a:off x="5870575" y="1039813"/>
            <a:ext cx="25781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2000" b="1" dirty="0"/>
              <a:t>Workers' Comp Claim</a:t>
            </a:r>
            <a:br>
              <a:rPr lang="en-US" sz="2000" b="1" dirty="0"/>
            </a:br>
            <a:r>
              <a:rPr lang="en-US" sz="2000" b="1" dirty="0" smtClean="0"/>
              <a:t>772-12-900000</a:t>
            </a:r>
            <a:endParaRPr lang="en-US" sz="2000" b="1" dirty="0"/>
          </a:p>
        </p:txBody>
      </p:sp>
      <p:sp>
        <p:nvSpPr>
          <p:cNvPr id="22544" name="Line 87"/>
          <p:cNvSpPr>
            <a:spLocks noChangeShapeType="1"/>
          </p:cNvSpPr>
          <p:nvPr/>
        </p:nvSpPr>
        <p:spPr bwMode="auto">
          <a:xfrm flipH="1">
            <a:off x="5164138" y="2390775"/>
            <a:ext cx="677862"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45" name="Text Box 88"/>
          <p:cNvSpPr txBox="1">
            <a:spLocks noChangeArrowheads="1"/>
          </p:cNvSpPr>
          <p:nvPr/>
        </p:nvSpPr>
        <p:spPr bwMode="auto">
          <a:xfrm>
            <a:off x="5961063" y="2782888"/>
            <a:ext cx="276383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71600" algn="l"/>
              </a:tabLst>
              <a:defRPr sz="1400">
                <a:solidFill>
                  <a:schemeClr val="bg1"/>
                </a:solidFill>
                <a:latin typeface="Arial" pitchFamily="34" charset="0"/>
              </a:defRPr>
            </a:lvl1pPr>
            <a:lvl2pPr marL="742950" indent="-285750" eaLnBrk="0" hangingPunct="0">
              <a:tabLst>
                <a:tab pos="1371600" algn="l"/>
              </a:tabLst>
              <a:defRPr sz="1400">
                <a:solidFill>
                  <a:schemeClr val="bg1"/>
                </a:solidFill>
                <a:latin typeface="Arial" pitchFamily="34" charset="0"/>
              </a:defRPr>
            </a:lvl2pPr>
            <a:lvl3pPr marL="1143000" indent="-228600" eaLnBrk="0" hangingPunct="0">
              <a:tabLst>
                <a:tab pos="1371600" algn="l"/>
              </a:tabLst>
              <a:defRPr sz="1400">
                <a:solidFill>
                  <a:schemeClr val="bg1"/>
                </a:solidFill>
                <a:latin typeface="Arial" pitchFamily="34" charset="0"/>
              </a:defRPr>
            </a:lvl3pPr>
            <a:lvl4pPr marL="1600200" indent="-228600" eaLnBrk="0" hangingPunct="0">
              <a:tabLst>
                <a:tab pos="1371600" algn="l"/>
              </a:tabLst>
              <a:defRPr sz="1400">
                <a:solidFill>
                  <a:schemeClr val="bg1"/>
                </a:solidFill>
                <a:latin typeface="Arial" pitchFamily="34" charset="0"/>
              </a:defRPr>
            </a:lvl4pPr>
            <a:lvl5pPr marL="2057400" indent="-228600" eaLnBrk="0" hangingPunct="0">
              <a:tabLst>
                <a:tab pos="1371600" algn="l"/>
              </a:tabLst>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tabLst>
                <a:tab pos="1371600" algn="l"/>
              </a:tabLst>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tabLst>
                <a:tab pos="1371600" algn="l"/>
              </a:tabLst>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tabLst>
                <a:tab pos="1371600" algn="l"/>
              </a:tabLst>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tabLst>
                <a:tab pos="1371600" algn="l"/>
              </a:tabLst>
              <a:defRPr sz="1400">
                <a:solidFill>
                  <a:schemeClr val="bg1"/>
                </a:solidFill>
                <a:latin typeface="Arial" pitchFamily="34" charset="0"/>
              </a:defRPr>
            </a:lvl9pPr>
          </a:lstStyle>
          <a:p>
            <a:pPr algn="l" eaLnBrk="1" hangingPunct="1"/>
            <a:r>
              <a:rPr lang="en-US" sz="2000" b="1" dirty="0" err="1"/>
              <a:t>OmniTech</a:t>
            </a:r>
            <a:r>
              <a:rPr lang="en-US" sz="2000" b="1" dirty="0"/>
              <a:t> Inc.</a:t>
            </a:r>
            <a:br>
              <a:rPr lang="en-US" sz="2000" b="1" dirty="0"/>
            </a:br>
            <a:r>
              <a:rPr lang="en-US" sz="2000" b="1" dirty="0">
                <a:solidFill>
                  <a:srgbClr val="C00000"/>
                </a:solidFill>
              </a:rPr>
              <a:t>- Insured	(policy)</a:t>
            </a:r>
          </a:p>
        </p:txBody>
      </p:sp>
      <p:sp>
        <p:nvSpPr>
          <p:cNvPr id="22546" name="AutoShape 89"/>
          <p:cNvSpPr>
            <a:spLocks noChangeArrowheads="1"/>
          </p:cNvSpPr>
          <p:nvPr/>
        </p:nvSpPr>
        <p:spPr bwMode="auto">
          <a:xfrm>
            <a:off x="5843588" y="3522663"/>
            <a:ext cx="704850" cy="70485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22547" name="Line 90"/>
          <p:cNvSpPr>
            <a:spLocks noChangeShapeType="1"/>
          </p:cNvSpPr>
          <p:nvPr/>
        </p:nvSpPr>
        <p:spPr bwMode="auto">
          <a:xfrm flipH="1">
            <a:off x="5175250" y="3917950"/>
            <a:ext cx="67786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48" name="Text Box 91"/>
          <p:cNvSpPr txBox="1">
            <a:spLocks noChangeArrowheads="1"/>
          </p:cNvSpPr>
          <p:nvPr/>
        </p:nvSpPr>
        <p:spPr bwMode="auto">
          <a:xfrm>
            <a:off x="5972175" y="4310063"/>
            <a:ext cx="2898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71600" algn="l"/>
              </a:tabLst>
              <a:defRPr sz="1400">
                <a:solidFill>
                  <a:schemeClr val="bg1"/>
                </a:solidFill>
                <a:latin typeface="Arial" pitchFamily="34" charset="0"/>
              </a:defRPr>
            </a:lvl1pPr>
            <a:lvl2pPr marL="742950" indent="-285750" eaLnBrk="0" hangingPunct="0">
              <a:tabLst>
                <a:tab pos="1371600" algn="l"/>
              </a:tabLst>
              <a:defRPr sz="1400">
                <a:solidFill>
                  <a:schemeClr val="bg1"/>
                </a:solidFill>
                <a:latin typeface="Arial" pitchFamily="34" charset="0"/>
              </a:defRPr>
            </a:lvl2pPr>
            <a:lvl3pPr marL="1143000" indent="-228600" eaLnBrk="0" hangingPunct="0">
              <a:tabLst>
                <a:tab pos="1371600" algn="l"/>
              </a:tabLst>
              <a:defRPr sz="1400">
                <a:solidFill>
                  <a:schemeClr val="bg1"/>
                </a:solidFill>
                <a:latin typeface="Arial" pitchFamily="34" charset="0"/>
              </a:defRPr>
            </a:lvl3pPr>
            <a:lvl4pPr marL="1600200" indent="-228600" eaLnBrk="0" hangingPunct="0">
              <a:tabLst>
                <a:tab pos="1371600" algn="l"/>
              </a:tabLst>
              <a:defRPr sz="1400">
                <a:solidFill>
                  <a:schemeClr val="bg1"/>
                </a:solidFill>
                <a:latin typeface="Arial" pitchFamily="34" charset="0"/>
              </a:defRPr>
            </a:lvl4pPr>
            <a:lvl5pPr marL="2057400" indent="-228600" eaLnBrk="0" hangingPunct="0">
              <a:tabLst>
                <a:tab pos="1371600" algn="l"/>
              </a:tabLst>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tabLst>
                <a:tab pos="1371600" algn="l"/>
              </a:tabLst>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tabLst>
                <a:tab pos="1371600" algn="l"/>
              </a:tabLst>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tabLst>
                <a:tab pos="1371600" algn="l"/>
              </a:tabLst>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tabLst>
                <a:tab pos="1371600" algn="l"/>
              </a:tabLst>
              <a:defRPr sz="1400">
                <a:solidFill>
                  <a:schemeClr val="bg1"/>
                </a:solidFill>
                <a:latin typeface="Arial" pitchFamily="34" charset="0"/>
              </a:defRPr>
            </a:lvl9pPr>
          </a:lstStyle>
          <a:p>
            <a:pPr algn="l" eaLnBrk="1" hangingPunct="1"/>
            <a:r>
              <a:rPr lang="en-US" sz="2000" b="1" dirty="0"/>
              <a:t>Tommy Duke</a:t>
            </a:r>
            <a:br>
              <a:rPr lang="en-US" sz="2000" b="1" dirty="0"/>
            </a:br>
            <a:r>
              <a:rPr lang="en-US" sz="2000" b="1" dirty="0">
                <a:solidFill>
                  <a:srgbClr val="C00000"/>
                </a:solidFill>
              </a:rPr>
              <a:t>- Claimant	(exposure 1)</a:t>
            </a:r>
          </a:p>
        </p:txBody>
      </p:sp>
      <p:sp>
        <p:nvSpPr>
          <p:cNvPr id="22549" name="AutoShape 92"/>
          <p:cNvSpPr>
            <a:spLocks noChangeArrowheads="1"/>
          </p:cNvSpPr>
          <p:nvPr/>
        </p:nvSpPr>
        <p:spPr bwMode="auto">
          <a:xfrm>
            <a:off x="5830888" y="5037138"/>
            <a:ext cx="704850" cy="70485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22550" name="Line 93"/>
          <p:cNvSpPr>
            <a:spLocks noChangeShapeType="1"/>
          </p:cNvSpPr>
          <p:nvPr/>
        </p:nvSpPr>
        <p:spPr bwMode="auto">
          <a:xfrm flipH="1">
            <a:off x="5162550" y="5432425"/>
            <a:ext cx="67786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51" name="Text Box 94"/>
          <p:cNvSpPr txBox="1">
            <a:spLocks noChangeArrowheads="1"/>
          </p:cNvSpPr>
          <p:nvPr/>
        </p:nvSpPr>
        <p:spPr bwMode="auto">
          <a:xfrm>
            <a:off x="5959475" y="5824538"/>
            <a:ext cx="31845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71600" algn="l"/>
              </a:tabLst>
              <a:defRPr sz="1400">
                <a:solidFill>
                  <a:schemeClr val="bg1"/>
                </a:solidFill>
                <a:latin typeface="Arial" pitchFamily="34" charset="0"/>
              </a:defRPr>
            </a:lvl1pPr>
            <a:lvl2pPr marL="742950" indent="-285750" eaLnBrk="0" hangingPunct="0">
              <a:tabLst>
                <a:tab pos="1371600" algn="l"/>
              </a:tabLst>
              <a:defRPr sz="1400">
                <a:solidFill>
                  <a:schemeClr val="bg1"/>
                </a:solidFill>
                <a:latin typeface="Arial" pitchFamily="34" charset="0"/>
              </a:defRPr>
            </a:lvl2pPr>
            <a:lvl3pPr marL="1143000" indent="-228600" eaLnBrk="0" hangingPunct="0">
              <a:tabLst>
                <a:tab pos="1371600" algn="l"/>
              </a:tabLst>
              <a:defRPr sz="1400">
                <a:solidFill>
                  <a:schemeClr val="bg1"/>
                </a:solidFill>
                <a:latin typeface="Arial" pitchFamily="34" charset="0"/>
              </a:defRPr>
            </a:lvl3pPr>
            <a:lvl4pPr marL="1600200" indent="-228600" eaLnBrk="0" hangingPunct="0">
              <a:tabLst>
                <a:tab pos="1371600" algn="l"/>
              </a:tabLst>
              <a:defRPr sz="1400">
                <a:solidFill>
                  <a:schemeClr val="bg1"/>
                </a:solidFill>
                <a:latin typeface="Arial" pitchFamily="34" charset="0"/>
              </a:defRPr>
            </a:lvl4pPr>
            <a:lvl5pPr marL="2057400" indent="-228600" eaLnBrk="0" hangingPunct="0">
              <a:tabLst>
                <a:tab pos="1371600" algn="l"/>
              </a:tabLst>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tabLst>
                <a:tab pos="1371600" algn="l"/>
              </a:tabLst>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tabLst>
                <a:tab pos="1371600" algn="l"/>
              </a:tabLst>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tabLst>
                <a:tab pos="1371600" algn="l"/>
              </a:tabLst>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tabLst>
                <a:tab pos="1371600" algn="l"/>
              </a:tabLst>
              <a:defRPr sz="1400">
                <a:solidFill>
                  <a:schemeClr val="bg1"/>
                </a:solidFill>
                <a:latin typeface="Arial" pitchFamily="34" charset="0"/>
              </a:defRPr>
            </a:lvl9pPr>
          </a:lstStyle>
          <a:p>
            <a:pPr algn="l" eaLnBrk="1" hangingPunct="1"/>
            <a:r>
              <a:rPr lang="en-US" sz="2000" b="1" dirty="0"/>
              <a:t>Matt Sawyer</a:t>
            </a:r>
            <a:br>
              <a:rPr lang="en-US" sz="2000" b="1" dirty="0"/>
            </a:br>
            <a:r>
              <a:rPr lang="en-US" sz="2000" b="1" dirty="0">
                <a:solidFill>
                  <a:srgbClr val="C00000"/>
                </a:solidFill>
              </a:rPr>
              <a:t>- Doctor	(entire claim)</a:t>
            </a:r>
          </a:p>
        </p:txBody>
      </p:sp>
      <p:pic>
        <p:nvPicPr>
          <p:cNvPr id="95" name="Picture 17" descr="claimcenter.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59774" y="541908"/>
            <a:ext cx="927642" cy="927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33443949"/>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|EOS~022|</a:t>
            </a:r>
            <a:endParaRPr lang="en-US" sz="100" dirty="0" err="1" smtClean="0">
              <a:solidFill>
                <a:srgbClr val="FFFFFF"/>
              </a:solidFill>
              <a:latin typeface="Arial"/>
              <a:cs typeface="Calibri" pitchFamily="34" charset="0"/>
            </a:endParaRPr>
          </a:p>
        </p:txBody>
      </p:sp>
      <p:sp>
        <p:nvSpPr>
          <p:cNvPr id="24578" name="Rectangle 2"/>
          <p:cNvSpPr>
            <a:spLocks noGrp="1" noChangeArrowheads="1"/>
          </p:cNvSpPr>
          <p:nvPr>
            <p:ph type="title"/>
          </p:nvPr>
        </p:nvSpPr>
        <p:spPr/>
        <p:txBody>
          <a:bodyPr/>
          <a:lstStyle/>
          <a:p>
            <a:pPr eaLnBrk="1" hangingPunct="1"/>
            <a:r>
              <a:rPr lang="en-US" dirty="0" smtClean="0"/>
              <a:t>Lesson outline</a:t>
            </a:r>
          </a:p>
        </p:txBody>
      </p:sp>
      <p:sp>
        <p:nvSpPr>
          <p:cNvPr id="24579" name="Rectangle 3"/>
          <p:cNvSpPr>
            <a:spLocks noGrp="1" noChangeArrowheads="1"/>
          </p:cNvSpPr>
          <p:nvPr>
            <p:ph idx="1"/>
          </p:nvPr>
        </p:nvSpPr>
        <p:spPr/>
        <p:txBody>
          <a:bodyPr/>
          <a:lstStyle/>
          <a:p>
            <a:pPr>
              <a:lnSpc>
                <a:spcPct val="150000"/>
              </a:lnSpc>
            </a:pPr>
            <a:r>
              <a:rPr lang="en-US" sz="2800" dirty="0" smtClean="0">
                <a:solidFill>
                  <a:srgbClr val="C0C0C0"/>
                </a:solidFill>
              </a:rPr>
              <a:t>Contact basics</a:t>
            </a:r>
          </a:p>
          <a:p>
            <a:pPr>
              <a:lnSpc>
                <a:spcPct val="150000"/>
              </a:lnSpc>
            </a:pPr>
            <a:r>
              <a:rPr lang="en-US" sz="2800" dirty="0" err="1" smtClean="0"/>
              <a:t>ContactManager</a:t>
            </a:r>
            <a:endParaRPr lang="en-US" sz="2800" dirty="0" smtClean="0"/>
          </a:p>
          <a:p>
            <a:pPr>
              <a:lnSpc>
                <a:spcPct val="150000"/>
              </a:lnSpc>
            </a:pPr>
            <a:r>
              <a:rPr lang="en-US" sz="2800" dirty="0" smtClean="0">
                <a:solidFill>
                  <a:srgbClr val="C0C0C0"/>
                </a:solidFill>
              </a:rPr>
              <a:t>Creating </a:t>
            </a:r>
            <a:r>
              <a:rPr lang="en-US" sz="2800" dirty="0" err="1" smtClean="0">
                <a:solidFill>
                  <a:srgbClr val="C0C0C0"/>
                </a:solidFill>
              </a:rPr>
              <a:t>ClaimCenter</a:t>
            </a:r>
            <a:r>
              <a:rPr lang="en-US" sz="2800" dirty="0" smtClean="0">
                <a:solidFill>
                  <a:srgbClr val="C0C0C0"/>
                </a:solidFill>
              </a:rPr>
              <a:t> contacts</a:t>
            </a:r>
          </a:p>
          <a:p>
            <a:pPr>
              <a:lnSpc>
                <a:spcPct val="150000"/>
              </a:lnSpc>
            </a:pPr>
            <a:r>
              <a:rPr lang="en-US" sz="2800" dirty="0" smtClean="0">
                <a:solidFill>
                  <a:srgbClr val="C0C0C0"/>
                </a:solidFill>
              </a:rPr>
              <a:t>Searching for contacts</a:t>
            </a:r>
          </a:p>
        </p:txBody>
      </p:sp>
    </p:spTree>
    <p:extLst>
      <p:ext uri="{BB962C8B-B14F-4D97-AF65-F5344CB8AC3E}">
        <p14:creationId xmlns:p14="http://schemas.microsoft.com/office/powerpoint/2010/main" val="1454251161"/>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|EOS~023|</a:t>
            </a:r>
            <a:endParaRPr lang="en-US" sz="100" dirty="0" err="1" smtClean="0">
              <a:solidFill>
                <a:srgbClr val="FFFFFF"/>
              </a:solidFill>
              <a:latin typeface="Arial"/>
              <a:cs typeface="Calibri" pitchFamily="34"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820" y="2337655"/>
            <a:ext cx="8308905" cy="3658646"/>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0232" y="1423255"/>
            <a:ext cx="7078663" cy="1555558"/>
          </a:xfrm>
          <a:prstGeom prst="rect">
            <a:avLst/>
          </a:prstGeom>
          <a:noFill/>
          <a:ln w="9525" algn="ctr">
            <a:solidFill>
              <a:schemeClr val="bg1"/>
            </a:solidFill>
            <a:miter lim="800000"/>
            <a:headEnd/>
            <a:tailEnd/>
          </a:ln>
          <a:effectLst>
            <a:glow rad="101600">
              <a:schemeClr val="accent4">
                <a:satMod val="175000"/>
                <a:alpha val="40000"/>
              </a:schemeClr>
            </a:glow>
            <a:outerShdw blurRad="50800" dist="38100" dir="5400000" algn="t"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25604" name="Rectangle 2"/>
          <p:cNvSpPr>
            <a:spLocks noGrp="1" noChangeArrowheads="1"/>
          </p:cNvSpPr>
          <p:nvPr>
            <p:ph type="title"/>
          </p:nvPr>
        </p:nvSpPr>
        <p:spPr/>
        <p:txBody>
          <a:bodyPr/>
          <a:lstStyle/>
          <a:p>
            <a:pPr eaLnBrk="1" hangingPunct="1"/>
            <a:r>
              <a:rPr lang="en-US" smtClean="0"/>
              <a:t>Accessing ContactManager</a:t>
            </a:r>
          </a:p>
        </p:txBody>
      </p:sp>
      <p:grpSp>
        <p:nvGrpSpPr>
          <p:cNvPr id="24" name="Group 23"/>
          <p:cNvGrpSpPr/>
          <p:nvPr/>
        </p:nvGrpSpPr>
        <p:grpSpPr>
          <a:xfrm>
            <a:off x="1384314" y="4429985"/>
            <a:ext cx="1136650" cy="1066800"/>
            <a:chOff x="6781800" y="1524000"/>
            <a:chExt cx="1136650" cy="1066800"/>
          </a:xfrm>
        </p:grpSpPr>
        <p:pic>
          <p:nvPicPr>
            <p:cNvPr id="25"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2379" y="1524000"/>
              <a:ext cx="994672" cy="993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26" name="Content Placeholder 5"/>
            <p:cNvSpPr txBox="1">
              <a:spLocks/>
            </p:cNvSpPr>
            <p:nvPr/>
          </p:nvSpPr>
          <p:spPr bwMode="auto">
            <a:xfrm>
              <a:off x="6781800" y="2300287"/>
              <a:ext cx="1136650" cy="290513"/>
            </a:xfrm>
            <a:prstGeom prst="rect">
              <a:avLst/>
            </a:prstGeom>
            <a:noFill/>
            <a:ln w="9525">
              <a:noFill/>
              <a:miter lim="800000"/>
              <a:headEnd/>
              <a:tailEnd/>
            </a:ln>
          </p:spPr>
          <p:txBody>
            <a:bodyPr lIns="0" tIns="0" rIns="0" bIns="0"/>
            <a:lstStyle/>
            <a:p>
              <a:pPr marL="457200" indent="-457200" algn="ctr" eaLnBrk="0" hangingPunct="0">
                <a:spcBef>
                  <a:spcPct val="40000"/>
                </a:spcBef>
                <a:buClr>
                  <a:srgbClr val="04628C"/>
                </a:buClr>
                <a:buSzPct val="90000"/>
                <a:buFont typeface="Arial" pitchFamily="34" charset="0"/>
                <a:buNone/>
                <a:defRPr/>
              </a:pPr>
              <a:r>
                <a:rPr lang="en-US" sz="1100" kern="0" dirty="0">
                  <a:solidFill>
                    <a:schemeClr val="tx1"/>
                  </a:solidFill>
                  <a:latin typeface="Arial Narrow" pitchFamily="34" charset="0"/>
                  <a:cs typeface="+mn-cs"/>
                </a:rPr>
                <a:t>ContactManager</a:t>
              </a:r>
            </a:p>
          </p:txBody>
        </p:sp>
      </p:grpSp>
      <p:grpSp>
        <p:nvGrpSpPr>
          <p:cNvPr id="27" name="Group 4"/>
          <p:cNvGrpSpPr>
            <a:grpSpLocks/>
          </p:cNvGrpSpPr>
          <p:nvPr/>
        </p:nvGrpSpPr>
        <p:grpSpPr bwMode="auto">
          <a:xfrm>
            <a:off x="1015568" y="3670100"/>
            <a:ext cx="1109663" cy="969963"/>
            <a:chOff x="1305" y="2500"/>
            <a:chExt cx="1138" cy="995"/>
          </a:xfrm>
        </p:grpSpPr>
        <p:sp>
          <p:nvSpPr>
            <p:cNvPr id="28" name="Freeform 5"/>
            <p:cNvSpPr>
              <a:spLocks/>
            </p:cNvSpPr>
            <p:nvPr/>
          </p:nvSpPr>
          <p:spPr bwMode="auto">
            <a:xfrm>
              <a:off x="1305" y="2500"/>
              <a:ext cx="1138" cy="995"/>
            </a:xfrm>
            <a:custGeom>
              <a:avLst/>
              <a:gdLst>
                <a:gd name="T0" fmla="*/ 444 w 1138"/>
                <a:gd name="T1" fmla="*/ 1 h 995"/>
                <a:gd name="T2" fmla="*/ 490 w 1138"/>
                <a:gd name="T3" fmla="*/ 0 h 995"/>
                <a:gd name="T4" fmla="*/ 532 w 1138"/>
                <a:gd name="T5" fmla="*/ 10 h 995"/>
                <a:gd name="T6" fmla="*/ 600 w 1138"/>
                <a:gd name="T7" fmla="*/ 40 h 995"/>
                <a:gd name="T8" fmla="*/ 668 w 1138"/>
                <a:gd name="T9" fmla="*/ 66 h 995"/>
                <a:gd name="T10" fmla="*/ 737 w 1138"/>
                <a:gd name="T11" fmla="*/ 85 h 995"/>
                <a:gd name="T12" fmla="*/ 808 w 1138"/>
                <a:gd name="T13" fmla="*/ 101 h 995"/>
                <a:gd name="T14" fmla="*/ 882 w 1138"/>
                <a:gd name="T15" fmla="*/ 111 h 995"/>
                <a:gd name="T16" fmla="*/ 953 w 1138"/>
                <a:gd name="T17" fmla="*/ 125 h 995"/>
                <a:gd name="T18" fmla="*/ 1011 w 1138"/>
                <a:gd name="T19" fmla="*/ 163 h 995"/>
                <a:gd name="T20" fmla="*/ 1036 w 1138"/>
                <a:gd name="T21" fmla="*/ 228 h 995"/>
                <a:gd name="T22" fmla="*/ 1082 w 1138"/>
                <a:gd name="T23" fmla="*/ 252 h 995"/>
                <a:gd name="T24" fmla="*/ 1120 w 1138"/>
                <a:gd name="T25" fmla="*/ 287 h 995"/>
                <a:gd name="T26" fmla="*/ 1137 w 1138"/>
                <a:gd name="T27" fmla="*/ 342 h 995"/>
                <a:gd name="T28" fmla="*/ 1134 w 1138"/>
                <a:gd name="T29" fmla="*/ 405 h 995"/>
                <a:gd name="T30" fmla="*/ 1111 w 1138"/>
                <a:gd name="T31" fmla="*/ 463 h 995"/>
                <a:gd name="T32" fmla="*/ 1068 w 1138"/>
                <a:gd name="T33" fmla="*/ 515 h 995"/>
                <a:gd name="T34" fmla="*/ 1026 w 1138"/>
                <a:gd name="T35" fmla="*/ 568 h 995"/>
                <a:gd name="T36" fmla="*/ 984 w 1138"/>
                <a:gd name="T37" fmla="*/ 627 h 995"/>
                <a:gd name="T38" fmla="*/ 965 w 1138"/>
                <a:gd name="T39" fmla="*/ 646 h 995"/>
                <a:gd name="T40" fmla="*/ 947 w 1138"/>
                <a:gd name="T41" fmla="*/ 664 h 995"/>
                <a:gd name="T42" fmla="*/ 918 w 1138"/>
                <a:gd name="T43" fmla="*/ 712 h 995"/>
                <a:gd name="T44" fmla="*/ 864 w 1138"/>
                <a:gd name="T45" fmla="*/ 796 h 995"/>
                <a:gd name="T46" fmla="*/ 802 w 1138"/>
                <a:gd name="T47" fmla="*/ 881 h 995"/>
                <a:gd name="T48" fmla="*/ 763 w 1138"/>
                <a:gd name="T49" fmla="*/ 927 h 995"/>
                <a:gd name="T50" fmla="*/ 741 w 1138"/>
                <a:gd name="T51" fmla="*/ 950 h 995"/>
                <a:gd name="T52" fmla="*/ 715 w 1138"/>
                <a:gd name="T53" fmla="*/ 963 h 995"/>
                <a:gd name="T54" fmla="*/ 670 w 1138"/>
                <a:gd name="T55" fmla="*/ 975 h 995"/>
                <a:gd name="T56" fmla="*/ 627 w 1138"/>
                <a:gd name="T57" fmla="*/ 985 h 995"/>
                <a:gd name="T58" fmla="*/ 584 w 1138"/>
                <a:gd name="T59" fmla="*/ 993 h 995"/>
                <a:gd name="T60" fmla="*/ 543 w 1138"/>
                <a:gd name="T61" fmla="*/ 995 h 995"/>
                <a:gd name="T62" fmla="*/ 500 w 1138"/>
                <a:gd name="T63" fmla="*/ 988 h 995"/>
                <a:gd name="T64" fmla="*/ 464 w 1138"/>
                <a:gd name="T65" fmla="*/ 975 h 995"/>
                <a:gd name="T66" fmla="*/ 421 w 1138"/>
                <a:gd name="T67" fmla="*/ 953 h 995"/>
                <a:gd name="T68" fmla="*/ 369 w 1138"/>
                <a:gd name="T69" fmla="*/ 925 h 995"/>
                <a:gd name="T70" fmla="*/ 317 w 1138"/>
                <a:gd name="T71" fmla="*/ 899 h 995"/>
                <a:gd name="T72" fmla="*/ 275 w 1138"/>
                <a:gd name="T73" fmla="*/ 878 h 995"/>
                <a:gd name="T74" fmla="*/ 219 w 1138"/>
                <a:gd name="T75" fmla="*/ 861 h 995"/>
                <a:gd name="T76" fmla="*/ 151 w 1138"/>
                <a:gd name="T77" fmla="*/ 851 h 995"/>
                <a:gd name="T78" fmla="*/ 86 w 1138"/>
                <a:gd name="T79" fmla="*/ 827 h 995"/>
                <a:gd name="T80" fmla="*/ 18 w 1138"/>
                <a:gd name="T81" fmla="*/ 764 h 995"/>
                <a:gd name="T82" fmla="*/ 0 w 1138"/>
                <a:gd name="T83" fmla="*/ 678 h 995"/>
                <a:gd name="T84" fmla="*/ 15 w 1138"/>
                <a:gd name="T85" fmla="*/ 590 h 995"/>
                <a:gd name="T86" fmla="*/ 52 w 1138"/>
                <a:gd name="T87" fmla="*/ 520 h 995"/>
                <a:gd name="T88" fmla="*/ 110 w 1138"/>
                <a:gd name="T89" fmla="*/ 462 h 995"/>
                <a:gd name="T90" fmla="*/ 166 w 1138"/>
                <a:gd name="T91" fmla="*/ 392 h 995"/>
                <a:gd name="T92" fmla="*/ 217 w 1138"/>
                <a:gd name="T93" fmla="*/ 316 h 995"/>
                <a:gd name="T94" fmla="*/ 263 w 1138"/>
                <a:gd name="T95" fmla="*/ 239 h 995"/>
                <a:gd name="T96" fmla="*/ 308 w 1138"/>
                <a:gd name="T97" fmla="*/ 156 h 995"/>
                <a:gd name="T98" fmla="*/ 365 w 1138"/>
                <a:gd name="T99" fmla="*/ 58 h 995"/>
                <a:gd name="T100" fmla="*/ 413 w 1138"/>
                <a:gd name="T101" fmla="*/ 5 h 99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38"/>
                <a:gd name="T154" fmla="*/ 0 h 995"/>
                <a:gd name="T155" fmla="*/ 1138 w 1138"/>
                <a:gd name="T156" fmla="*/ 995 h 99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38" h="995">
                  <a:moveTo>
                    <a:pt x="413" y="5"/>
                  </a:moveTo>
                  <a:lnTo>
                    <a:pt x="429" y="2"/>
                  </a:lnTo>
                  <a:lnTo>
                    <a:pt x="444" y="1"/>
                  </a:lnTo>
                  <a:lnTo>
                    <a:pt x="460" y="0"/>
                  </a:lnTo>
                  <a:lnTo>
                    <a:pt x="475" y="0"/>
                  </a:lnTo>
                  <a:lnTo>
                    <a:pt x="490" y="0"/>
                  </a:lnTo>
                  <a:lnTo>
                    <a:pt x="504" y="2"/>
                  </a:lnTo>
                  <a:lnTo>
                    <a:pt x="518" y="5"/>
                  </a:lnTo>
                  <a:lnTo>
                    <a:pt x="532" y="10"/>
                  </a:lnTo>
                  <a:lnTo>
                    <a:pt x="554" y="20"/>
                  </a:lnTo>
                  <a:lnTo>
                    <a:pt x="578" y="31"/>
                  </a:lnTo>
                  <a:lnTo>
                    <a:pt x="600" y="40"/>
                  </a:lnTo>
                  <a:lnTo>
                    <a:pt x="623" y="49"/>
                  </a:lnTo>
                  <a:lnTo>
                    <a:pt x="645" y="57"/>
                  </a:lnTo>
                  <a:lnTo>
                    <a:pt x="668" y="66"/>
                  </a:lnTo>
                  <a:lnTo>
                    <a:pt x="692" y="72"/>
                  </a:lnTo>
                  <a:lnTo>
                    <a:pt x="714" y="79"/>
                  </a:lnTo>
                  <a:lnTo>
                    <a:pt x="737" y="85"/>
                  </a:lnTo>
                  <a:lnTo>
                    <a:pt x="760" y="92"/>
                  </a:lnTo>
                  <a:lnTo>
                    <a:pt x="785" y="97"/>
                  </a:lnTo>
                  <a:lnTo>
                    <a:pt x="808" y="101"/>
                  </a:lnTo>
                  <a:lnTo>
                    <a:pt x="833" y="105"/>
                  </a:lnTo>
                  <a:lnTo>
                    <a:pt x="857" y="108"/>
                  </a:lnTo>
                  <a:lnTo>
                    <a:pt x="882" y="111"/>
                  </a:lnTo>
                  <a:lnTo>
                    <a:pt x="906" y="114"/>
                  </a:lnTo>
                  <a:lnTo>
                    <a:pt x="930" y="119"/>
                  </a:lnTo>
                  <a:lnTo>
                    <a:pt x="953" y="125"/>
                  </a:lnTo>
                  <a:lnTo>
                    <a:pt x="975" y="136"/>
                  </a:lnTo>
                  <a:lnTo>
                    <a:pt x="994" y="147"/>
                  </a:lnTo>
                  <a:lnTo>
                    <a:pt x="1011" y="163"/>
                  </a:lnTo>
                  <a:lnTo>
                    <a:pt x="1024" y="181"/>
                  </a:lnTo>
                  <a:lnTo>
                    <a:pt x="1033" y="202"/>
                  </a:lnTo>
                  <a:lnTo>
                    <a:pt x="1036" y="228"/>
                  </a:lnTo>
                  <a:lnTo>
                    <a:pt x="1051" y="235"/>
                  </a:lnTo>
                  <a:lnTo>
                    <a:pt x="1067" y="243"/>
                  </a:lnTo>
                  <a:lnTo>
                    <a:pt x="1082" y="252"/>
                  </a:lnTo>
                  <a:lnTo>
                    <a:pt x="1097" y="263"/>
                  </a:lnTo>
                  <a:lnTo>
                    <a:pt x="1110" y="274"/>
                  </a:lnTo>
                  <a:lnTo>
                    <a:pt x="1120" y="287"/>
                  </a:lnTo>
                  <a:lnTo>
                    <a:pt x="1129" y="303"/>
                  </a:lnTo>
                  <a:lnTo>
                    <a:pt x="1134" y="321"/>
                  </a:lnTo>
                  <a:lnTo>
                    <a:pt x="1137" y="342"/>
                  </a:lnTo>
                  <a:lnTo>
                    <a:pt x="1138" y="364"/>
                  </a:lnTo>
                  <a:lnTo>
                    <a:pt x="1137" y="384"/>
                  </a:lnTo>
                  <a:lnTo>
                    <a:pt x="1134" y="405"/>
                  </a:lnTo>
                  <a:lnTo>
                    <a:pt x="1128" y="426"/>
                  </a:lnTo>
                  <a:lnTo>
                    <a:pt x="1120" y="445"/>
                  </a:lnTo>
                  <a:lnTo>
                    <a:pt x="1111" y="463"/>
                  </a:lnTo>
                  <a:lnTo>
                    <a:pt x="1098" y="482"/>
                  </a:lnTo>
                  <a:lnTo>
                    <a:pt x="1082" y="498"/>
                  </a:lnTo>
                  <a:lnTo>
                    <a:pt x="1068" y="515"/>
                  </a:lnTo>
                  <a:lnTo>
                    <a:pt x="1053" y="533"/>
                  </a:lnTo>
                  <a:lnTo>
                    <a:pt x="1040" y="550"/>
                  </a:lnTo>
                  <a:lnTo>
                    <a:pt x="1026" y="568"/>
                  </a:lnTo>
                  <a:lnTo>
                    <a:pt x="1011" y="586"/>
                  </a:lnTo>
                  <a:lnTo>
                    <a:pt x="998" y="606"/>
                  </a:lnTo>
                  <a:lnTo>
                    <a:pt x="984" y="627"/>
                  </a:lnTo>
                  <a:lnTo>
                    <a:pt x="978" y="634"/>
                  </a:lnTo>
                  <a:lnTo>
                    <a:pt x="971" y="641"/>
                  </a:lnTo>
                  <a:lnTo>
                    <a:pt x="965" y="646"/>
                  </a:lnTo>
                  <a:lnTo>
                    <a:pt x="960" y="653"/>
                  </a:lnTo>
                  <a:lnTo>
                    <a:pt x="953" y="659"/>
                  </a:lnTo>
                  <a:lnTo>
                    <a:pt x="947" y="664"/>
                  </a:lnTo>
                  <a:lnTo>
                    <a:pt x="941" y="671"/>
                  </a:lnTo>
                  <a:lnTo>
                    <a:pt x="938" y="678"/>
                  </a:lnTo>
                  <a:lnTo>
                    <a:pt x="918" y="712"/>
                  </a:lnTo>
                  <a:lnTo>
                    <a:pt x="900" y="742"/>
                  </a:lnTo>
                  <a:lnTo>
                    <a:pt x="882" y="770"/>
                  </a:lnTo>
                  <a:lnTo>
                    <a:pt x="864" y="796"/>
                  </a:lnTo>
                  <a:lnTo>
                    <a:pt x="844" y="824"/>
                  </a:lnTo>
                  <a:lnTo>
                    <a:pt x="824" y="851"/>
                  </a:lnTo>
                  <a:lnTo>
                    <a:pt x="802" y="881"/>
                  </a:lnTo>
                  <a:lnTo>
                    <a:pt x="777" y="912"/>
                  </a:lnTo>
                  <a:lnTo>
                    <a:pt x="769" y="919"/>
                  </a:lnTo>
                  <a:lnTo>
                    <a:pt x="763" y="927"/>
                  </a:lnTo>
                  <a:lnTo>
                    <a:pt x="755" y="936"/>
                  </a:lnTo>
                  <a:lnTo>
                    <a:pt x="749" y="943"/>
                  </a:lnTo>
                  <a:lnTo>
                    <a:pt x="741" y="950"/>
                  </a:lnTo>
                  <a:lnTo>
                    <a:pt x="733" y="956"/>
                  </a:lnTo>
                  <a:lnTo>
                    <a:pt x="724" y="961"/>
                  </a:lnTo>
                  <a:lnTo>
                    <a:pt x="715" y="963"/>
                  </a:lnTo>
                  <a:lnTo>
                    <a:pt x="699" y="967"/>
                  </a:lnTo>
                  <a:lnTo>
                    <a:pt x="684" y="971"/>
                  </a:lnTo>
                  <a:lnTo>
                    <a:pt x="670" y="975"/>
                  </a:lnTo>
                  <a:lnTo>
                    <a:pt x="655" y="979"/>
                  </a:lnTo>
                  <a:lnTo>
                    <a:pt x="641" y="983"/>
                  </a:lnTo>
                  <a:lnTo>
                    <a:pt x="627" y="985"/>
                  </a:lnTo>
                  <a:lnTo>
                    <a:pt x="613" y="989"/>
                  </a:lnTo>
                  <a:lnTo>
                    <a:pt x="598" y="991"/>
                  </a:lnTo>
                  <a:lnTo>
                    <a:pt x="584" y="993"/>
                  </a:lnTo>
                  <a:lnTo>
                    <a:pt x="570" y="995"/>
                  </a:lnTo>
                  <a:lnTo>
                    <a:pt x="557" y="995"/>
                  </a:lnTo>
                  <a:lnTo>
                    <a:pt x="543" y="995"/>
                  </a:lnTo>
                  <a:lnTo>
                    <a:pt x="528" y="993"/>
                  </a:lnTo>
                  <a:lnTo>
                    <a:pt x="514" y="992"/>
                  </a:lnTo>
                  <a:lnTo>
                    <a:pt x="500" y="988"/>
                  </a:lnTo>
                  <a:lnTo>
                    <a:pt x="486" y="984"/>
                  </a:lnTo>
                  <a:lnTo>
                    <a:pt x="475" y="980"/>
                  </a:lnTo>
                  <a:lnTo>
                    <a:pt x="464" y="975"/>
                  </a:lnTo>
                  <a:lnTo>
                    <a:pt x="451" y="969"/>
                  </a:lnTo>
                  <a:lnTo>
                    <a:pt x="437" y="961"/>
                  </a:lnTo>
                  <a:lnTo>
                    <a:pt x="421" y="953"/>
                  </a:lnTo>
                  <a:lnTo>
                    <a:pt x="404" y="944"/>
                  </a:lnTo>
                  <a:lnTo>
                    <a:pt x="386" y="935"/>
                  </a:lnTo>
                  <a:lnTo>
                    <a:pt x="369" y="925"/>
                  </a:lnTo>
                  <a:lnTo>
                    <a:pt x="352" y="915"/>
                  </a:lnTo>
                  <a:lnTo>
                    <a:pt x="334" y="906"/>
                  </a:lnTo>
                  <a:lnTo>
                    <a:pt x="317" y="899"/>
                  </a:lnTo>
                  <a:lnTo>
                    <a:pt x="302" y="890"/>
                  </a:lnTo>
                  <a:lnTo>
                    <a:pt x="288" y="883"/>
                  </a:lnTo>
                  <a:lnTo>
                    <a:pt x="275" y="878"/>
                  </a:lnTo>
                  <a:lnTo>
                    <a:pt x="263" y="873"/>
                  </a:lnTo>
                  <a:lnTo>
                    <a:pt x="253" y="870"/>
                  </a:lnTo>
                  <a:lnTo>
                    <a:pt x="219" y="861"/>
                  </a:lnTo>
                  <a:lnTo>
                    <a:pt x="193" y="856"/>
                  </a:lnTo>
                  <a:lnTo>
                    <a:pt x="170" y="853"/>
                  </a:lnTo>
                  <a:lnTo>
                    <a:pt x="151" y="851"/>
                  </a:lnTo>
                  <a:lnTo>
                    <a:pt x="131" y="847"/>
                  </a:lnTo>
                  <a:lnTo>
                    <a:pt x="110" y="839"/>
                  </a:lnTo>
                  <a:lnTo>
                    <a:pt x="86" y="827"/>
                  </a:lnTo>
                  <a:lnTo>
                    <a:pt x="56" y="808"/>
                  </a:lnTo>
                  <a:lnTo>
                    <a:pt x="34" y="789"/>
                  </a:lnTo>
                  <a:lnTo>
                    <a:pt x="18" y="764"/>
                  </a:lnTo>
                  <a:lnTo>
                    <a:pt x="8" y="738"/>
                  </a:lnTo>
                  <a:lnTo>
                    <a:pt x="3" y="708"/>
                  </a:lnTo>
                  <a:lnTo>
                    <a:pt x="0" y="678"/>
                  </a:lnTo>
                  <a:lnTo>
                    <a:pt x="3" y="649"/>
                  </a:lnTo>
                  <a:lnTo>
                    <a:pt x="8" y="619"/>
                  </a:lnTo>
                  <a:lnTo>
                    <a:pt x="15" y="590"/>
                  </a:lnTo>
                  <a:lnTo>
                    <a:pt x="22" y="564"/>
                  </a:lnTo>
                  <a:lnTo>
                    <a:pt x="35" y="541"/>
                  </a:lnTo>
                  <a:lnTo>
                    <a:pt x="52" y="520"/>
                  </a:lnTo>
                  <a:lnTo>
                    <a:pt x="70" y="501"/>
                  </a:lnTo>
                  <a:lnTo>
                    <a:pt x="90" y="482"/>
                  </a:lnTo>
                  <a:lnTo>
                    <a:pt x="110" y="462"/>
                  </a:lnTo>
                  <a:lnTo>
                    <a:pt x="131" y="441"/>
                  </a:lnTo>
                  <a:lnTo>
                    <a:pt x="149" y="419"/>
                  </a:lnTo>
                  <a:lnTo>
                    <a:pt x="166" y="392"/>
                  </a:lnTo>
                  <a:lnTo>
                    <a:pt x="183" y="366"/>
                  </a:lnTo>
                  <a:lnTo>
                    <a:pt x="200" y="342"/>
                  </a:lnTo>
                  <a:lnTo>
                    <a:pt x="217" y="316"/>
                  </a:lnTo>
                  <a:lnTo>
                    <a:pt x="232" y="290"/>
                  </a:lnTo>
                  <a:lnTo>
                    <a:pt x="248" y="265"/>
                  </a:lnTo>
                  <a:lnTo>
                    <a:pt x="263" y="239"/>
                  </a:lnTo>
                  <a:lnTo>
                    <a:pt x="279" y="212"/>
                  </a:lnTo>
                  <a:lnTo>
                    <a:pt x="292" y="187"/>
                  </a:lnTo>
                  <a:lnTo>
                    <a:pt x="308" y="156"/>
                  </a:lnTo>
                  <a:lnTo>
                    <a:pt x="327" y="123"/>
                  </a:lnTo>
                  <a:lnTo>
                    <a:pt x="346" y="89"/>
                  </a:lnTo>
                  <a:lnTo>
                    <a:pt x="365" y="58"/>
                  </a:lnTo>
                  <a:lnTo>
                    <a:pt x="384" y="31"/>
                  </a:lnTo>
                  <a:lnTo>
                    <a:pt x="400" y="13"/>
                  </a:lnTo>
                  <a:lnTo>
                    <a:pt x="413" y="5"/>
                  </a:lnTo>
                  <a:close/>
                </a:path>
              </a:pathLst>
            </a:custGeom>
            <a:solidFill>
              <a:srgbClr val="FFFFD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 name="Freeform 6"/>
            <p:cNvSpPr>
              <a:spLocks/>
            </p:cNvSpPr>
            <p:nvPr/>
          </p:nvSpPr>
          <p:spPr bwMode="auto">
            <a:xfrm>
              <a:off x="1356" y="2554"/>
              <a:ext cx="1055" cy="891"/>
            </a:xfrm>
            <a:custGeom>
              <a:avLst/>
              <a:gdLst>
                <a:gd name="T0" fmla="*/ 1013 w 1055"/>
                <a:gd name="T1" fmla="*/ 247 h 891"/>
                <a:gd name="T2" fmla="*/ 1007 w 1055"/>
                <a:gd name="T3" fmla="*/ 242 h 891"/>
                <a:gd name="T4" fmla="*/ 986 w 1055"/>
                <a:gd name="T5" fmla="*/ 227 h 891"/>
                <a:gd name="T6" fmla="*/ 963 w 1055"/>
                <a:gd name="T7" fmla="*/ 215 h 891"/>
                <a:gd name="T8" fmla="*/ 962 w 1055"/>
                <a:gd name="T9" fmla="*/ 189 h 891"/>
                <a:gd name="T10" fmla="*/ 947 w 1055"/>
                <a:gd name="T11" fmla="*/ 157 h 891"/>
                <a:gd name="T12" fmla="*/ 918 w 1055"/>
                <a:gd name="T13" fmla="*/ 145 h 891"/>
                <a:gd name="T14" fmla="*/ 861 w 1055"/>
                <a:gd name="T15" fmla="*/ 131 h 891"/>
                <a:gd name="T16" fmla="*/ 804 w 1055"/>
                <a:gd name="T17" fmla="*/ 118 h 891"/>
                <a:gd name="T18" fmla="*/ 749 w 1055"/>
                <a:gd name="T19" fmla="*/ 105 h 891"/>
                <a:gd name="T20" fmla="*/ 707 w 1055"/>
                <a:gd name="T21" fmla="*/ 95 h 891"/>
                <a:gd name="T22" fmla="*/ 665 w 1055"/>
                <a:gd name="T23" fmla="*/ 82 h 891"/>
                <a:gd name="T24" fmla="*/ 622 w 1055"/>
                <a:gd name="T25" fmla="*/ 65 h 891"/>
                <a:gd name="T26" fmla="*/ 572 w 1055"/>
                <a:gd name="T27" fmla="*/ 43 h 891"/>
                <a:gd name="T28" fmla="*/ 516 w 1055"/>
                <a:gd name="T29" fmla="*/ 21 h 891"/>
                <a:gd name="T30" fmla="*/ 465 w 1055"/>
                <a:gd name="T31" fmla="*/ 5 h 891"/>
                <a:gd name="T32" fmla="*/ 423 w 1055"/>
                <a:gd name="T33" fmla="*/ 0 h 891"/>
                <a:gd name="T34" fmla="*/ 387 w 1055"/>
                <a:gd name="T35" fmla="*/ 18 h 891"/>
                <a:gd name="T36" fmla="*/ 343 w 1055"/>
                <a:gd name="T37" fmla="*/ 69 h 891"/>
                <a:gd name="T38" fmla="*/ 304 w 1055"/>
                <a:gd name="T39" fmla="*/ 124 h 891"/>
                <a:gd name="T40" fmla="*/ 266 w 1055"/>
                <a:gd name="T41" fmla="*/ 175 h 891"/>
                <a:gd name="T42" fmla="*/ 230 w 1055"/>
                <a:gd name="T43" fmla="*/ 223 h 891"/>
                <a:gd name="T44" fmla="*/ 198 w 1055"/>
                <a:gd name="T45" fmla="*/ 273 h 891"/>
                <a:gd name="T46" fmla="*/ 127 w 1055"/>
                <a:gd name="T47" fmla="*/ 384 h 891"/>
                <a:gd name="T48" fmla="*/ 36 w 1055"/>
                <a:gd name="T49" fmla="*/ 513 h 891"/>
                <a:gd name="T50" fmla="*/ 0 w 1055"/>
                <a:gd name="T51" fmla="*/ 578 h 891"/>
                <a:gd name="T52" fmla="*/ 9 w 1055"/>
                <a:gd name="T53" fmla="*/ 624 h 891"/>
                <a:gd name="T54" fmla="*/ 17 w 1055"/>
                <a:gd name="T55" fmla="*/ 648 h 891"/>
                <a:gd name="T56" fmla="*/ 33 w 1055"/>
                <a:gd name="T57" fmla="*/ 688 h 891"/>
                <a:gd name="T58" fmla="*/ 53 w 1055"/>
                <a:gd name="T59" fmla="*/ 709 h 891"/>
                <a:gd name="T60" fmla="*/ 101 w 1055"/>
                <a:gd name="T61" fmla="*/ 729 h 891"/>
                <a:gd name="T62" fmla="*/ 149 w 1055"/>
                <a:gd name="T63" fmla="*/ 749 h 891"/>
                <a:gd name="T64" fmla="*/ 198 w 1055"/>
                <a:gd name="T65" fmla="*/ 767 h 891"/>
                <a:gd name="T66" fmla="*/ 247 w 1055"/>
                <a:gd name="T67" fmla="*/ 785 h 891"/>
                <a:gd name="T68" fmla="*/ 295 w 1055"/>
                <a:gd name="T69" fmla="*/ 803 h 891"/>
                <a:gd name="T70" fmla="*/ 347 w 1055"/>
                <a:gd name="T71" fmla="*/ 825 h 891"/>
                <a:gd name="T72" fmla="*/ 400 w 1055"/>
                <a:gd name="T73" fmla="*/ 847 h 891"/>
                <a:gd name="T74" fmla="*/ 453 w 1055"/>
                <a:gd name="T75" fmla="*/ 867 h 891"/>
                <a:gd name="T76" fmla="*/ 531 w 1055"/>
                <a:gd name="T77" fmla="*/ 887 h 891"/>
                <a:gd name="T78" fmla="*/ 610 w 1055"/>
                <a:gd name="T79" fmla="*/ 887 h 891"/>
                <a:gd name="T80" fmla="*/ 669 w 1055"/>
                <a:gd name="T81" fmla="*/ 851 h 891"/>
                <a:gd name="T82" fmla="*/ 721 w 1055"/>
                <a:gd name="T83" fmla="*/ 790 h 891"/>
                <a:gd name="T84" fmla="*/ 780 w 1055"/>
                <a:gd name="T85" fmla="*/ 707 h 891"/>
                <a:gd name="T86" fmla="*/ 839 w 1055"/>
                <a:gd name="T87" fmla="*/ 622 h 891"/>
                <a:gd name="T88" fmla="*/ 887 w 1055"/>
                <a:gd name="T89" fmla="*/ 549 h 891"/>
                <a:gd name="T90" fmla="*/ 915 w 1055"/>
                <a:gd name="T91" fmla="*/ 508 h 891"/>
                <a:gd name="T92" fmla="*/ 978 w 1055"/>
                <a:gd name="T93" fmla="*/ 426 h 891"/>
                <a:gd name="T94" fmla="*/ 1038 w 1055"/>
                <a:gd name="T95" fmla="*/ 349 h 891"/>
                <a:gd name="T96" fmla="*/ 1055 w 1055"/>
                <a:gd name="T97" fmla="*/ 312 h 891"/>
                <a:gd name="T98" fmla="*/ 1048 w 1055"/>
                <a:gd name="T99" fmla="*/ 277 h 891"/>
                <a:gd name="T100" fmla="*/ 1025 w 1055"/>
                <a:gd name="T101" fmla="*/ 254 h 8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55"/>
                <a:gd name="T154" fmla="*/ 0 h 891"/>
                <a:gd name="T155" fmla="*/ 1055 w 1055"/>
                <a:gd name="T156" fmla="*/ 891 h 8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55" h="891">
                  <a:moveTo>
                    <a:pt x="1013" y="249"/>
                  </a:moveTo>
                  <a:lnTo>
                    <a:pt x="1013" y="247"/>
                  </a:lnTo>
                  <a:lnTo>
                    <a:pt x="1007" y="242"/>
                  </a:lnTo>
                  <a:lnTo>
                    <a:pt x="1000" y="237"/>
                  </a:lnTo>
                  <a:lnTo>
                    <a:pt x="993" y="232"/>
                  </a:lnTo>
                  <a:lnTo>
                    <a:pt x="986" y="227"/>
                  </a:lnTo>
                  <a:lnTo>
                    <a:pt x="978" y="223"/>
                  </a:lnTo>
                  <a:lnTo>
                    <a:pt x="971" y="219"/>
                  </a:lnTo>
                  <a:lnTo>
                    <a:pt x="963" y="215"/>
                  </a:lnTo>
                  <a:lnTo>
                    <a:pt x="955" y="213"/>
                  </a:lnTo>
                  <a:lnTo>
                    <a:pt x="960" y="201"/>
                  </a:lnTo>
                  <a:lnTo>
                    <a:pt x="962" y="189"/>
                  </a:lnTo>
                  <a:lnTo>
                    <a:pt x="960" y="176"/>
                  </a:lnTo>
                  <a:lnTo>
                    <a:pt x="955" y="165"/>
                  </a:lnTo>
                  <a:lnTo>
                    <a:pt x="947" y="157"/>
                  </a:lnTo>
                  <a:lnTo>
                    <a:pt x="938" y="152"/>
                  </a:lnTo>
                  <a:lnTo>
                    <a:pt x="928" y="148"/>
                  </a:lnTo>
                  <a:lnTo>
                    <a:pt x="918" y="145"/>
                  </a:lnTo>
                  <a:lnTo>
                    <a:pt x="898" y="140"/>
                  </a:lnTo>
                  <a:lnTo>
                    <a:pt x="879" y="135"/>
                  </a:lnTo>
                  <a:lnTo>
                    <a:pt x="861" y="131"/>
                  </a:lnTo>
                  <a:lnTo>
                    <a:pt x="841" y="127"/>
                  </a:lnTo>
                  <a:lnTo>
                    <a:pt x="823" y="122"/>
                  </a:lnTo>
                  <a:lnTo>
                    <a:pt x="804" y="118"/>
                  </a:lnTo>
                  <a:lnTo>
                    <a:pt x="784" y="114"/>
                  </a:lnTo>
                  <a:lnTo>
                    <a:pt x="765" y="109"/>
                  </a:lnTo>
                  <a:lnTo>
                    <a:pt x="749" y="105"/>
                  </a:lnTo>
                  <a:lnTo>
                    <a:pt x="735" y="102"/>
                  </a:lnTo>
                  <a:lnTo>
                    <a:pt x="721" y="99"/>
                  </a:lnTo>
                  <a:lnTo>
                    <a:pt x="707" y="95"/>
                  </a:lnTo>
                  <a:lnTo>
                    <a:pt x="692" y="91"/>
                  </a:lnTo>
                  <a:lnTo>
                    <a:pt x="678" y="87"/>
                  </a:lnTo>
                  <a:lnTo>
                    <a:pt x="665" y="82"/>
                  </a:lnTo>
                  <a:lnTo>
                    <a:pt x="651" y="77"/>
                  </a:lnTo>
                  <a:lnTo>
                    <a:pt x="638" y="71"/>
                  </a:lnTo>
                  <a:lnTo>
                    <a:pt x="622" y="65"/>
                  </a:lnTo>
                  <a:lnTo>
                    <a:pt x="607" y="57"/>
                  </a:lnTo>
                  <a:lnTo>
                    <a:pt x="589" y="51"/>
                  </a:lnTo>
                  <a:lnTo>
                    <a:pt x="572" y="43"/>
                  </a:lnTo>
                  <a:lnTo>
                    <a:pt x="553" y="35"/>
                  </a:lnTo>
                  <a:lnTo>
                    <a:pt x="534" y="29"/>
                  </a:lnTo>
                  <a:lnTo>
                    <a:pt x="516" y="21"/>
                  </a:lnTo>
                  <a:lnTo>
                    <a:pt x="498" y="16"/>
                  </a:lnTo>
                  <a:lnTo>
                    <a:pt x="481" y="10"/>
                  </a:lnTo>
                  <a:lnTo>
                    <a:pt x="465" y="5"/>
                  </a:lnTo>
                  <a:lnTo>
                    <a:pt x="449" y="3"/>
                  </a:lnTo>
                  <a:lnTo>
                    <a:pt x="435" y="0"/>
                  </a:lnTo>
                  <a:lnTo>
                    <a:pt x="423" y="0"/>
                  </a:lnTo>
                  <a:lnTo>
                    <a:pt x="413" y="1"/>
                  </a:lnTo>
                  <a:lnTo>
                    <a:pt x="405" y="5"/>
                  </a:lnTo>
                  <a:lnTo>
                    <a:pt x="387" y="18"/>
                  </a:lnTo>
                  <a:lnTo>
                    <a:pt x="371" y="34"/>
                  </a:lnTo>
                  <a:lnTo>
                    <a:pt x="357" y="51"/>
                  </a:lnTo>
                  <a:lnTo>
                    <a:pt x="343" y="69"/>
                  </a:lnTo>
                  <a:lnTo>
                    <a:pt x="330" y="88"/>
                  </a:lnTo>
                  <a:lnTo>
                    <a:pt x="317" y="106"/>
                  </a:lnTo>
                  <a:lnTo>
                    <a:pt x="304" y="124"/>
                  </a:lnTo>
                  <a:lnTo>
                    <a:pt x="291" y="143"/>
                  </a:lnTo>
                  <a:lnTo>
                    <a:pt x="278" y="159"/>
                  </a:lnTo>
                  <a:lnTo>
                    <a:pt x="266" y="175"/>
                  </a:lnTo>
                  <a:lnTo>
                    <a:pt x="254" y="190"/>
                  </a:lnTo>
                  <a:lnTo>
                    <a:pt x="242" y="206"/>
                  </a:lnTo>
                  <a:lnTo>
                    <a:pt x="230" y="223"/>
                  </a:lnTo>
                  <a:lnTo>
                    <a:pt x="219" y="238"/>
                  </a:lnTo>
                  <a:lnTo>
                    <a:pt x="208" y="255"/>
                  </a:lnTo>
                  <a:lnTo>
                    <a:pt x="198" y="273"/>
                  </a:lnTo>
                  <a:lnTo>
                    <a:pt x="181" y="303"/>
                  </a:lnTo>
                  <a:lnTo>
                    <a:pt x="156" y="341"/>
                  </a:lnTo>
                  <a:lnTo>
                    <a:pt x="127" y="384"/>
                  </a:lnTo>
                  <a:lnTo>
                    <a:pt x="96" y="429"/>
                  </a:lnTo>
                  <a:lnTo>
                    <a:pt x="65" y="473"/>
                  </a:lnTo>
                  <a:lnTo>
                    <a:pt x="36" y="513"/>
                  </a:lnTo>
                  <a:lnTo>
                    <a:pt x="14" y="545"/>
                  </a:lnTo>
                  <a:lnTo>
                    <a:pt x="0" y="567"/>
                  </a:lnTo>
                  <a:lnTo>
                    <a:pt x="0" y="578"/>
                  </a:lnTo>
                  <a:lnTo>
                    <a:pt x="4" y="597"/>
                  </a:lnTo>
                  <a:lnTo>
                    <a:pt x="8" y="615"/>
                  </a:lnTo>
                  <a:lnTo>
                    <a:pt x="9" y="624"/>
                  </a:lnTo>
                  <a:lnTo>
                    <a:pt x="10" y="628"/>
                  </a:lnTo>
                  <a:lnTo>
                    <a:pt x="13" y="637"/>
                  </a:lnTo>
                  <a:lnTo>
                    <a:pt x="17" y="648"/>
                  </a:lnTo>
                  <a:lnTo>
                    <a:pt x="22" y="661"/>
                  </a:lnTo>
                  <a:lnTo>
                    <a:pt x="27" y="675"/>
                  </a:lnTo>
                  <a:lnTo>
                    <a:pt x="33" y="688"/>
                  </a:lnTo>
                  <a:lnTo>
                    <a:pt x="40" y="698"/>
                  </a:lnTo>
                  <a:lnTo>
                    <a:pt x="48" y="706"/>
                  </a:lnTo>
                  <a:lnTo>
                    <a:pt x="53" y="709"/>
                  </a:lnTo>
                  <a:lnTo>
                    <a:pt x="68" y="716"/>
                  </a:lnTo>
                  <a:lnTo>
                    <a:pt x="85" y="723"/>
                  </a:lnTo>
                  <a:lnTo>
                    <a:pt x="101" y="729"/>
                  </a:lnTo>
                  <a:lnTo>
                    <a:pt x="116" y="737"/>
                  </a:lnTo>
                  <a:lnTo>
                    <a:pt x="133" y="744"/>
                  </a:lnTo>
                  <a:lnTo>
                    <a:pt x="149" y="749"/>
                  </a:lnTo>
                  <a:lnTo>
                    <a:pt x="166" y="755"/>
                  </a:lnTo>
                  <a:lnTo>
                    <a:pt x="181" y="762"/>
                  </a:lnTo>
                  <a:lnTo>
                    <a:pt x="198" y="767"/>
                  </a:lnTo>
                  <a:lnTo>
                    <a:pt x="213" y="773"/>
                  </a:lnTo>
                  <a:lnTo>
                    <a:pt x="230" y="780"/>
                  </a:lnTo>
                  <a:lnTo>
                    <a:pt x="247" y="785"/>
                  </a:lnTo>
                  <a:lnTo>
                    <a:pt x="263" y="792"/>
                  </a:lnTo>
                  <a:lnTo>
                    <a:pt x="279" y="797"/>
                  </a:lnTo>
                  <a:lnTo>
                    <a:pt x="295" y="803"/>
                  </a:lnTo>
                  <a:lnTo>
                    <a:pt x="312" y="810"/>
                  </a:lnTo>
                  <a:lnTo>
                    <a:pt x="330" y="817"/>
                  </a:lnTo>
                  <a:lnTo>
                    <a:pt x="347" y="825"/>
                  </a:lnTo>
                  <a:lnTo>
                    <a:pt x="365" y="833"/>
                  </a:lnTo>
                  <a:lnTo>
                    <a:pt x="382" y="839"/>
                  </a:lnTo>
                  <a:lnTo>
                    <a:pt x="400" y="847"/>
                  </a:lnTo>
                  <a:lnTo>
                    <a:pt x="417" y="855"/>
                  </a:lnTo>
                  <a:lnTo>
                    <a:pt x="435" y="861"/>
                  </a:lnTo>
                  <a:lnTo>
                    <a:pt x="453" y="867"/>
                  </a:lnTo>
                  <a:lnTo>
                    <a:pt x="479" y="874"/>
                  </a:lnTo>
                  <a:lnTo>
                    <a:pt x="505" y="881"/>
                  </a:lnTo>
                  <a:lnTo>
                    <a:pt x="531" y="887"/>
                  </a:lnTo>
                  <a:lnTo>
                    <a:pt x="558" y="891"/>
                  </a:lnTo>
                  <a:lnTo>
                    <a:pt x="584" y="891"/>
                  </a:lnTo>
                  <a:lnTo>
                    <a:pt x="610" y="887"/>
                  </a:lnTo>
                  <a:lnTo>
                    <a:pt x="633" y="880"/>
                  </a:lnTo>
                  <a:lnTo>
                    <a:pt x="656" y="864"/>
                  </a:lnTo>
                  <a:lnTo>
                    <a:pt x="669" y="851"/>
                  </a:lnTo>
                  <a:lnTo>
                    <a:pt x="685" y="834"/>
                  </a:lnTo>
                  <a:lnTo>
                    <a:pt x="701" y="814"/>
                  </a:lnTo>
                  <a:lnTo>
                    <a:pt x="721" y="790"/>
                  </a:lnTo>
                  <a:lnTo>
                    <a:pt x="740" y="764"/>
                  </a:lnTo>
                  <a:lnTo>
                    <a:pt x="760" y="736"/>
                  </a:lnTo>
                  <a:lnTo>
                    <a:pt x="780" y="707"/>
                  </a:lnTo>
                  <a:lnTo>
                    <a:pt x="800" y="678"/>
                  </a:lnTo>
                  <a:lnTo>
                    <a:pt x="819" y="649"/>
                  </a:lnTo>
                  <a:lnTo>
                    <a:pt x="839" y="622"/>
                  </a:lnTo>
                  <a:lnTo>
                    <a:pt x="857" y="595"/>
                  </a:lnTo>
                  <a:lnTo>
                    <a:pt x="872" y="570"/>
                  </a:lnTo>
                  <a:lnTo>
                    <a:pt x="887" y="549"/>
                  </a:lnTo>
                  <a:lnTo>
                    <a:pt x="899" y="531"/>
                  </a:lnTo>
                  <a:lnTo>
                    <a:pt x="909" y="517"/>
                  </a:lnTo>
                  <a:lnTo>
                    <a:pt x="915" y="508"/>
                  </a:lnTo>
                  <a:lnTo>
                    <a:pt x="933" y="483"/>
                  </a:lnTo>
                  <a:lnTo>
                    <a:pt x="955" y="456"/>
                  </a:lnTo>
                  <a:lnTo>
                    <a:pt x="978" y="426"/>
                  </a:lnTo>
                  <a:lnTo>
                    <a:pt x="1000" y="396"/>
                  </a:lnTo>
                  <a:lnTo>
                    <a:pt x="1021" y="371"/>
                  </a:lnTo>
                  <a:lnTo>
                    <a:pt x="1038" y="349"/>
                  </a:lnTo>
                  <a:lnTo>
                    <a:pt x="1050" y="333"/>
                  </a:lnTo>
                  <a:lnTo>
                    <a:pt x="1053" y="325"/>
                  </a:lnTo>
                  <a:lnTo>
                    <a:pt x="1055" y="312"/>
                  </a:lnTo>
                  <a:lnTo>
                    <a:pt x="1055" y="301"/>
                  </a:lnTo>
                  <a:lnTo>
                    <a:pt x="1052" y="289"/>
                  </a:lnTo>
                  <a:lnTo>
                    <a:pt x="1048" y="277"/>
                  </a:lnTo>
                  <a:lnTo>
                    <a:pt x="1042" y="268"/>
                  </a:lnTo>
                  <a:lnTo>
                    <a:pt x="1034" y="260"/>
                  </a:lnTo>
                  <a:lnTo>
                    <a:pt x="1025" y="254"/>
                  </a:lnTo>
                  <a:lnTo>
                    <a:pt x="1013" y="2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 name="Freeform 7"/>
            <p:cNvSpPr>
              <a:spLocks/>
            </p:cNvSpPr>
            <p:nvPr/>
          </p:nvSpPr>
          <p:spPr bwMode="auto">
            <a:xfrm>
              <a:off x="2158" y="2782"/>
              <a:ext cx="151" cy="211"/>
            </a:xfrm>
            <a:custGeom>
              <a:avLst/>
              <a:gdLst>
                <a:gd name="T0" fmla="*/ 151 w 151"/>
                <a:gd name="T1" fmla="*/ 27 h 211"/>
                <a:gd name="T2" fmla="*/ 148 w 151"/>
                <a:gd name="T3" fmla="*/ 32 h 211"/>
                <a:gd name="T4" fmla="*/ 141 w 151"/>
                <a:gd name="T5" fmla="*/ 42 h 211"/>
                <a:gd name="T6" fmla="*/ 131 w 151"/>
                <a:gd name="T7" fmla="*/ 54 h 211"/>
                <a:gd name="T8" fmla="*/ 118 w 151"/>
                <a:gd name="T9" fmla="*/ 69 h 211"/>
                <a:gd name="T10" fmla="*/ 105 w 151"/>
                <a:gd name="T11" fmla="*/ 83 h 211"/>
                <a:gd name="T12" fmla="*/ 95 w 151"/>
                <a:gd name="T13" fmla="*/ 96 h 211"/>
                <a:gd name="T14" fmla="*/ 88 w 151"/>
                <a:gd name="T15" fmla="*/ 105 h 211"/>
                <a:gd name="T16" fmla="*/ 86 w 151"/>
                <a:gd name="T17" fmla="*/ 109 h 211"/>
                <a:gd name="T18" fmla="*/ 87 w 151"/>
                <a:gd name="T19" fmla="*/ 110 h 211"/>
                <a:gd name="T20" fmla="*/ 91 w 151"/>
                <a:gd name="T21" fmla="*/ 113 h 211"/>
                <a:gd name="T22" fmla="*/ 96 w 151"/>
                <a:gd name="T23" fmla="*/ 117 h 211"/>
                <a:gd name="T24" fmla="*/ 104 w 151"/>
                <a:gd name="T25" fmla="*/ 121 h 211"/>
                <a:gd name="T26" fmla="*/ 113 w 151"/>
                <a:gd name="T27" fmla="*/ 126 h 211"/>
                <a:gd name="T28" fmla="*/ 122 w 151"/>
                <a:gd name="T29" fmla="*/ 130 h 211"/>
                <a:gd name="T30" fmla="*/ 131 w 151"/>
                <a:gd name="T31" fmla="*/ 132 h 211"/>
                <a:gd name="T32" fmla="*/ 141 w 151"/>
                <a:gd name="T33" fmla="*/ 132 h 211"/>
                <a:gd name="T34" fmla="*/ 134 w 151"/>
                <a:gd name="T35" fmla="*/ 137 h 211"/>
                <a:gd name="T36" fmla="*/ 126 w 151"/>
                <a:gd name="T37" fmla="*/ 144 h 211"/>
                <a:gd name="T38" fmla="*/ 119 w 151"/>
                <a:gd name="T39" fmla="*/ 152 h 211"/>
                <a:gd name="T40" fmla="*/ 113 w 151"/>
                <a:gd name="T41" fmla="*/ 159 h 211"/>
                <a:gd name="T42" fmla="*/ 109 w 151"/>
                <a:gd name="T43" fmla="*/ 154 h 211"/>
                <a:gd name="T44" fmla="*/ 105 w 151"/>
                <a:gd name="T45" fmla="*/ 145 h 211"/>
                <a:gd name="T46" fmla="*/ 100 w 151"/>
                <a:gd name="T47" fmla="*/ 136 h 211"/>
                <a:gd name="T48" fmla="*/ 99 w 151"/>
                <a:gd name="T49" fmla="*/ 132 h 211"/>
                <a:gd name="T50" fmla="*/ 95 w 151"/>
                <a:gd name="T51" fmla="*/ 135 h 211"/>
                <a:gd name="T52" fmla="*/ 87 w 151"/>
                <a:gd name="T53" fmla="*/ 144 h 211"/>
                <a:gd name="T54" fmla="*/ 75 w 151"/>
                <a:gd name="T55" fmla="*/ 157 h 211"/>
                <a:gd name="T56" fmla="*/ 64 w 151"/>
                <a:gd name="T57" fmla="*/ 171 h 211"/>
                <a:gd name="T58" fmla="*/ 51 w 151"/>
                <a:gd name="T59" fmla="*/ 185 h 211"/>
                <a:gd name="T60" fmla="*/ 41 w 151"/>
                <a:gd name="T61" fmla="*/ 198 h 211"/>
                <a:gd name="T62" fmla="*/ 33 w 151"/>
                <a:gd name="T63" fmla="*/ 207 h 211"/>
                <a:gd name="T64" fmla="*/ 30 w 151"/>
                <a:gd name="T65" fmla="*/ 211 h 211"/>
                <a:gd name="T66" fmla="*/ 20 w 151"/>
                <a:gd name="T67" fmla="*/ 201 h 211"/>
                <a:gd name="T68" fmla="*/ 11 w 151"/>
                <a:gd name="T69" fmla="*/ 192 h 211"/>
                <a:gd name="T70" fmla="*/ 3 w 151"/>
                <a:gd name="T71" fmla="*/ 184 h 211"/>
                <a:gd name="T72" fmla="*/ 0 w 151"/>
                <a:gd name="T73" fmla="*/ 180 h 211"/>
                <a:gd name="T74" fmla="*/ 17 w 151"/>
                <a:gd name="T75" fmla="*/ 163 h 211"/>
                <a:gd name="T76" fmla="*/ 37 w 151"/>
                <a:gd name="T77" fmla="*/ 139 h 211"/>
                <a:gd name="T78" fmla="*/ 57 w 151"/>
                <a:gd name="T79" fmla="*/ 111 h 211"/>
                <a:gd name="T80" fmla="*/ 79 w 151"/>
                <a:gd name="T81" fmla="*/ 83 h 211"/>
                <a:gd name="T82" fmla="*/ 100 w 151"/>
                <a:gd name="T83" fmla="*/ 56 h 211"/>
                <a:gd name="T84" fmla="*/ 118 w 151"/>
                <a:gd name="T85" fmla="*/ 31 h 211"/>
                <a:gd name="T86" fmla="*/ 132 w 151"/>
                <a:gd name="T87" fmla="*/ 12 h 211"/>
                <a:gd name="T88" fmla="*/ 141 w 151"/>
                <a:gd name="T89" fmla="*/ 0 h 211"/>
                <a:gd name="T90" fmla="*/ 144 w 151"/>
                <a:gd name="T91" fmla="*/ 7 h 211"/>
                <a:gd name="T92" fmla="*/ 145 w 151"/>
                <a:gd name="T93" fmla="*/ 13 h 211"/>
                <a:gd name="T94" fmla="*/ 148 w 151"/>
                <a:gd name="T95" fmla="*/ 21 h 211"/>
                <a:gd name="T96" fmla="*/ 151 w 151"/>
                <a:gd name="T97" fmla="*/ 27 h 21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51"/>
                <a:gd name="T148" fmla="*/ 0 h 211"/>
                <a:gd name="T149" fmla="*/ 151 w 151"/>
                <a:gd name="T150" fmla="*/ 211 h 21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51" h="211">
                  <a:moveTo>
                    <a:pt x="151" y="27"/>
                  </a:moveTo>
                  <a:lnTo>
                    <a:pt x="148" y="32"/>
                  </a:lnTo>
                  <a:lnTo>
                    <a:pt x="141" y="42"/>
                  </a:lnTo>
                  <a:lnTo>
                    <a:pt x="131" y="54"/>
                  </a:lnTo>
                  <a:lnTo>
                    <a:pt x="118" y="69"/>
                  </a:lnTo>
                  <a:lnTo>
                    <a:pt x="105" y="83"/>
                  </a:lnTo>
                  <a:lnTo>
                    <a:pt x="95" y="96"/>
                  </a:lnTo>
                  <a:lnTo>
                    <a:pt x="88" y="105"/>
                  </a:lnTo>
                  <a:lnTo>
                    <a:pt x="86" y="109"/>
                  </a:lnTo>
                  <a:lnTo>
                    <a:pt x="87" y="110"/>
                  </a:lnTo>
                  <a:lnTo>
                    <a:pt x="91" y="113"/>
                  </a:lnTo>
                  <a:lnTo>
                    <a:pt x="96" y="117"/>
                  </a:lnTo>
                  <a:lnTo>
                    <a:pt x="104" y="121"/>
                  </a:lnTo>
                  <a:lnTo>
                    <a:pt x="113" y="126"/>
                  </a:lnTo>
                  <a:lnTo>
                    <a:pt x="122" y="130"/>
                  </a:lnTo>
                  <a:lnTo>
                    <a:pt x="131" y="132"/>
                  </a:lnTo>
                  <a:lnTo>
                    <a:pt x="141" y="132"/>
                  </a:lnTo>
                  <a:lnTo>
                    <a:pt x="134" y="137"/>
                  </a:lnTo>
                  <a:lnTo>
                    <a:pt x="126" y="144"/>
                  </a:lnTo>
                  <a:lnTo>
                    <a:pt x="119" y="152"/>
                  </a:lnTo>
                  <a:lnTo>
                    <a:pt x="113" y="159"/>
                  </a:lnTo>
                  <a:lnTo>
                    <a:pt x="109" y="154"/>
                  </a:lnTo>
                  <a:lnTo>
                    <a:pt x="105" y="145"/>
                  </a:lnTo>
                  <a:lnTo>
                    <a:pt x="100" y="136"/>
                  </a:lnTo>
                  <a:lnTo>
                    <a:pt x="99" y="132"/>
                  </a:lnTo>
                  <a:lnTo>
                    <a:pt x="95" y="135"/>
                  </a:lnTo>
                  <a:lnTo>
                    <a:pt x="87" y="144"/>
                  </a:lnTo>
                  <a:lnTo>
                    <a:pt x="75" y="157"/>
                  </a:lnTo>
                  <a:lnTo>
                    <a:pt x="64" y="171"/>
                  </a:lnTo>
                  <a:lnTo>
                    <a:pt x="51" y="185"/>
                  </a:lnTo>
                  <a:lnTo>
                    <a:pt x="41" y="198"/>
                  </a:lnTo>
                  <a:lnTo>
                    <a:pt x="33" y="207"/>
                  </a:lnTo>
                  <a:lnTo>
                    <a:pt x="30" y="211"/>
                  </a:lnTo>
                  <a:lnTo>
                    <a:pt x="20" y="201"/>
                  </a:lnTo>
                  <a:lnTo>
                    <a:pt x="11" y="192"/>
                  </a:lnTo>
                  <a:lnTo>
                    <a:pt x="3" y="184"/>
                  </a:lnTo>
                  <a:lnTo>
                    <a:pt x="0" y="180"/>
                  </a:lnTo>
                  <a:lnTo>
                    <a:pt x="17" y="163"/>
                  </a:lnTo>
                  <a:lnTo>
                    <a:pt x="37" y="139"/>
                  </a:lnTo>
                  <a:lnTo>
                    <a:pt x="57" y="111"/>
                  </a:lnTo>
                  <a:lnTo>
                    <a:pt x="79" y="83"/>
                  </a:lnTo>
                  <a:lnTo>
                    <a:pt x="100" y="56"/>
                  </a:lnTo>
                  <a:lnTo>
                    <a:pt x="118" y="31"/>
                  </a:lnTo>
                  <a:lnTo>
                    <a:pt x="132" y="12"/>
                  </a:lnTo>
                  <a:lnTo>
                    <a:pt x="141" y="0"/>
                  </a:lnTo>
                  <a:lnTo>
                    <a:pt x="144" y="7"/>
                  </a:lnTo>
                  <a:lnTo>
                    <a:pt x="145" y="13"/>
                  </a:lnTo>
                  <a:lnTo>
                    <a:pt x="148" y="21"/>
                  </a:lnTo>
                  <a:lnTo>
                    <a:pt x="151" y="27"/>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 name="Freeform 8"/>
            <p:cNvSpPr>
              <a:spLocks/>
            </p:cNvSpPr>
            <p:nvPr/>
          </p:nvSpPr>
          <p:spPr bwMode="auto">
            <a:xfrm>
              <a:off x="2271" y="2834"/>
              <a:ext cx="58" cy="65"/>
            </a:xfrm>
            <a:custGeom>
              <a:avLst/>
              <a:gdLst>
                <a:gd name="T0" fmla="*/ 44 w 58"/>
                <a:gd name="T1" fmla="*/ 0 h 65"/>
                <a:gd name="T2" fmla="*/ 53 w 58"/>
                <a:gd name="T3" fmla="*/ 17 h 65"/>
                <a:gd name="T4" fmla="*/ 57 w 58"/>
                <a:gd name="T5" fmla="*/ 31 h 65"/>
                <a:gd name="T6" fmla="*/ 57 w 58"/>
                <a:gd name="T7" fmla="*/ 41 h 65"/>
                <a:gd name="T8" fmla="*/ 58 w 58"/>
                <a:gd name="T9" fmla="*/ 47 h 65"/>
                <a:gd name="T10" fmla="*/ 56 w 58"/>
                <a:gd name="T11" fmla="*/ 52 h 65"/>
                <a:gd name="T12" fmla="*/ 54 w 58"/>
                <a:gd name="T13" fmla="*/ 56 h 65"/>
                <a:gd name="T14" fmla="*/ 52 w 58"/>
                <a:gd name="T15" fmla="*/ 58 h 65"/>
                <a:gd name="T16" fmla="*/ 45 w 58"/>
                <a:gd name="T17" fmla="*/ 61 h 65"/>
                <a:gd name="T18" fmla="*/ 39 w 58"/>
                <a:gd name="T19" fmla="*/ 63 h 65"/>
                <a:gd name="T20" fmla="*/ 34 w 58"/>
                <a:gd name="T21" fmla="*/ 65 h 65"/>
                <a:gd name="T22" fmla="*/ 30 w 58"/>
                <a:gd name="T23" fmla="*/ 65 h 65"/>
                <a:gd name="T24" fmla="*/ 25 w 58"/>
                <a:gd name="T25" fmla="*/ 63 h 65"/>
                <a:gd name="T26" fmla="*/ 19 w 58"/>
                <a:gd name="T27" fmla="*/ 61 h 65"/>
                <a:gd name="T28" fmla="*/ 14 w 58"/>
                <a:gd name="T29" fmla="*/ 58 h 65"/>
                <a:gd name="T30" fmla="*/ 8 w 58"/>
                <a:gd name="T31" fmla="*/ 56 h 65"/>
                <a:gd name="T32" fmla="*/ 0 w 58"/>
                <a:gd name="T33" fmla="*/ 52 h 65"/>
                <a:gd name="T34" fmla="*/ 3 w 58"/>
                <a:gd name="T35" fmla="*/ 48 h 65"/>
                <a:gd name="T36" fmla="*/ 8 w 58"/>
                <a:gd name="T37" fmla="*/ 40 h 65"/>
                <a:gd name="T38" fmla="*/ 14 w 58"/>
                <a:gd name="T39" fmla="*/ 32 h 65"/>
                <a:gd name="T40" fmla="*/ 22 w 58"/>
                <a:gd name="T41" fmla="*/ 22 h 65"/>
                <a:gd name="T42" fmla="*/ 30 w 58"/>
                <a:gd name="T43" fmla="*/ 13 h 65"/>
                <a:gd name="T44" fmla="*/ 36 w 58"/>
                <a:gd name="T45" fmla="*/ 6 h 65"/>
                <a:gd name="T46" fmla="*/ 41 w 58"/>
                <a:gd name="T47" fmla="*/ 1 h 65"/>
                <a:gd name="T48" fmla="*/ 44 w 58"/>
                <a:gd name="T49" fmla="*/ 0 h 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8"/>
                <a:gd name="T76" fmla="*/ 0 h 65"/>
                <a:gd name="T77" fmla="*/ 58 w 58"/>
                <a:gd name="T78" fmla="*/ 65 h 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8" h="65">
                  <a:moveTo>
                    <a:pt x="44" y="0"/>
                  </a:moveTo>
                  <a:lnTo>
                    <a:pt x="53" y="17"/>
                  </a:lnTo>
                  <a:lnTo>
                    <a:pt x="57" y="31"/>
                  </a:lnTo>
                  <a:lnTo>
                    <a:pt x="57" y="41"/>
                  </a:lnTo>
                  <a:lnTo>
                    <a:pt x="58" y="47"/>
                  </a:lnTo>
                  <a:lnTo>
                    <a:pt x="56" y="52"/>
                  </a:lnTo>
                  <a:lnTo>
                    <a:pt x="54" y="56"/>
                  </a:lnTo>
                  <a:lnTo>
                    <a:pt x="52" y="58"/>
                  </a:lnTo>
                  <a:lnTo>
                    <a:pt x="45" y="61"/>
                  </a:lnTo>
                  <a:lnTo>
                    <a:pt x="39" y="63"/>
                  </a:lnTo>
                  <a:lnTo>
                    <a:pt x="34" y="65"/>
                  </a:lnTo>
                  <a:lnTo>
                    <a:pt x="30" y="65"/>
                  </a:lnTo>
                  <a:lnTo>
                    <a:pt x="25" y="63"/>
                  </a:lnTo>
                  <a:lnTo>
                    <a:pt x="19" y="61"/>
                  </a:lnTo>
                  <a:lnTo>
                    <a:pt x="14" y="58"/>
                  </a:lnTo>
                  <a:lnTo>
                    <a:pt x="8" y="56"/>
                  </a:lnTo>
                  <a:lnTo>
                    <a:pt x="0" y="52"/>
                  </a:lnTo>
                  <a:lnTo>
                    <a:pt x="3" y="48"/>
                  </a:lnTo>
                  <a:lnTo>
                    <a:pt x="8" y="40"/>
                  </a:lnTo>
                  <a:lnTo>
                    <a:pt x="14" y="32"/>
                  </a:lnTo>
                  <a:lnTo>
                    <a:pt x="22" y="22"/>
                  </a:lnTo>
                  <a:lnTo>
                    <a:pt x="30" y="13"/>
                  </a:lnTo>
                  <a:lnTo>
                    <a:pt x="36" y="6"/>
                  </a:lnTo>
                  <a:lnTo>
                    <a:pt x="41" y="1"/>
                  </a:lnTo>
                  <a:lnTo>
                    <a:pt x="44" y="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 name="Freeform 9"/>
            <p:cNvSpPr>
              <a:spLocks/>
            </p:cNvSpPr>
            <p:nvPr/>
          </p:nvSpPr>
          <p:spPr bwMode="auto">
            <a:xfrm>
              <a:off x="2201" y="3015"/>
              <a:ext cx="34" cy="24"/>
            </a:xfrm>
            <a:custGeom>
              <a:avLst/>
              <a:gdLst>
                <a:gd name="T0" fmla="*/ 34 w 34"/>
                <a:gd name="T1" fmla="*/ 3 h 24"/>
                <a:gd name="T2" fmla="*/ 29 w 34"/>
                <a:gd name="T3" fmla="*/ 7 h 24"/>
                <a:gd name="T4" fmla="*/ 23 w 34"/>
                <a:gd name="T5" fmla="*/ 12 h 24"/>
                <a:gd name="T6" fmla="*/ 20 w 34"/>
                <a:gd name="T7" fmla="*/ 18 h 24"/>
                <a:gd name="T8" fmla="*/ 16 w 34"/>
                <a:gd name="T9" fmla="*/ 24 h 24"/>
                <a:gd name="T10" fmla="*/ 12 w 34"/>
                <a:gd name="T11" fmla="*/ 17 h 24"/>
                <a:gd name="T12" fmla="*/ 8 w 34"/>
                <a:gd name="T13" fmla="*/ 12 h 24"/>
                <a:gd name="T14" fmla="*/ 4 w 34"/>
                <a:gd name="T15" fmla="*/ 5 h 24"/>
                <a:gd name="T16" fmla="*/ 0 w 34"/>
                <a:gd name="T17" fmla="*/ 0 h 24"/>
                <a:gd name="T18" fmla="*/ 8 w 34"/>
                <a:gd name="T19" fmla="*/ 3 h 24"/>
                <a:gd name="T20" fmla="*/ 17 w 34"/>
                <a:gd name="T21" fmla="*/ 3 h 24"/>
                <a:gd name="T22" fmla="*/ 25 w 34"/>
                <a:gd name="T23" fmla="*/ 4 h 24"/>
                <a:gd name="T24" fmla="*/ 34 w 34"/>
                <a:gd name="T25" fmla="*/ 3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24"/>
                <a:gd name="T41" fmla="*/ 34 w 34"/>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24">
                  <a:moveTo>
                    <a:pt x="34" y="3"/>
                  </a:moveTo>
                  <a:lnTo>
                    <a:pt x="29" y="7"/>
                  </a:lnTo>
                  <a:lnTo>
                    <a:pt x="23" y="12"/>
                  </a:lnTo>
                  <a:lnTo>
                    <a:pt x="20" y="18"/>
                  </a:lnTo>
                  <a:lnTo>
                    <a:pt x="16" y="24"/>
                  </a:lnTo>
                  <a:lnTo>
                    <a:pt x="12" y="17"/>
                  </a:lnTo>
                  <a:lnTo>
                    <a:pt x="8" y="12"/>
                  </a:lnTo>
                  <a:lnTo>
                    <a:pt x="4" y="5"/>
                  </a:lnTo>
                  <a:lnTo>
                    <a:pt x="0" y="0"/>
                  </a:lnTo>
                  <a:lnTo>
                    <a:pt x="8" y="3"/>
                  </a:lnTo>
                  <a:lnTo>
                    <a:pt x="17" y="3"/>
                  </a:lnTo>
                  <a:lnTo>
                    <a:pt x="25" y="4"/>
                  </a:lnTo>
                  <a:lnTo>
                    <a:pt x="34" y="3"/>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 name="Freeform 10"/>
            <p:cNvSpPr>
              <a:spLocks/>
            </p:cNvSpPr>
            <p:nvPr/>
          </p:nvSpPr>
          <p:spPr bwMode="auto">
            <a:xfrm>
              <a:off x="1392" y="2572"/>
              <a:ext cx="892" cy="726"/>
            </a:xfrm>
            <a:custGeom>
              <a:avLst/>
              <a:gdLst>
                <a:gd name="T0" fmla="*/ 199 w 892"/>
                <a:gd name="T1" fmla="*/ 233 h 726"/>
                <a:gd name="T2" fmla="*/ 232 w 892"/>
                <a:gd name="T3" fmla="*/ 192 h 726"/>
                <a:gd name="T4" fmla="*/ 265 w 892"/>
                <a:gd name="T5" fmla="*/ 150 h 726"/>
                <a:gd name="T6" fmla="*/ 303 w 892"/>
                <a:gd name="T7" fmla="*/ 95 h 726"/>
                <a:gd name="T8" fmla="*/ 338 w 892"/>
                <a:gd name="T9" fmla="*/ 44 h 726"/>
                <a:gd name="T10" fmla="*/ 379 w 892"/>
                <a:gd name="T11" fmla="*/ 7 h 726"/>
                <a:gd name="T12" fmla="*/ 403 w 892"/>
                <a:gd name="T13" fmla="*/ 0 h 726"/>
                <a:gd name="T14" fmla="*/ 482 w 892"/>
                <a:gd name="T15" fmla="*/ 29 h 726"/>
                <a:gd name="T16" fmla="*/ 555 w 892"/>
                <a:gd name="T17" fmla="*/ 55 h 726"/>
                <a:gd name="T18" fmla="*/ 624 w 892"/>
                <a:gd name="T19" fmla="*/ 82 h 726"/>
                <a:gd name="T20" fmla="*/ 673 w 892"/>
                <a:gd name="T21" fmla="*/ 99 h 726"/>
                <a:gd name="T22" fmla="*/ 721 w 892"/>
                <a:gd name="T23" fmla="*/ 112 h 726"/>
                <a:gd name="T24" fmla="*/ 770 w 892"/>
                <a:gd name="T25" fmla="*/ 122 h 726"/>
                <a:gd name="T26" fmla="*/ 819 w 892"/>
                <a:gd name="T27" fmla="*/ 132 h 726"/>
                <a:gd name="T28" fmla="*/ 873 w 892"/>
                <a:gd name="T29" fmla="*/ 145 h 726"/>
                <a:gd name="T30" fmla="*/ 892 w 892"/>
                <a:gd name="T31" fmla="*/ 179 h 726"/>
                <a:gd name="T32" fmla="*/ 874 w 892"/>
                <a:gd name="T33" fmla="*/ 207 h 726"/>
                <a:gd name="T34" fmla="*/ 860 w 892"/>
                <a:gd name="T35" fmla="*/ 228 h 726"/>
                <a:gd name="T36" fmla="*/ 843 w 892"/>
                <a:gd name="T37" fmla="*/ 250 h 726"/>
                <a:gd name="T38" fmla="*/ 799 w 892"/>
                <a:gd name="T39" fmla="*/ 310 h 726"/>
                <a:gd name="T40" fmla="*/ 755 w 892"/>
                <a:gd name="T41" fmla="*/ 367 h 726"/>
                <a:gd name="T42" fmla="*/ 729 w 892"/>
                <a:gd name="T43" fmla="*/ 372 h 726"/>
                <a:gd name="T44" fmla="*/ 687 w 892"/>
                <a:gd name="T45" fmla="*/ 359 h 726"/>
                <a:gd name="T46" fmla="*/ 645 w 892"/>
                <a:gd name="T47" fmla="*/ 356 h 726"/>
                <a:gd name="T48" fmla="*/ 610 w 892"/>
                <a:gd name="T49" fmla="*/ 363 h 726"/>
                <a:gd name="T50" fmla="*/ 586 w 892"/>
                <a:gd name="T51" fmla="*/ 384 h 726"/>
                <a:gd name="T52" fmla="*/ 577 w 892"/>
                <a:gd name="T53" fmla="*/ 411 h 726"/>
                <a:gd name="T54" fmla="*/ 598 w 892"/>
                <a:gd name="T55" fmla="*/ 451 h 726"/>
                <a:gd name="T56" fmla="*/ 646 w 892"/>
                <a:gd name="T57" fmla="*/ 469 h 726"/>
                <a:gd name="T58" fmla="*/ 674 w 892"/>
                <a:gd name="T59" fmla="*/ 487 h 726"/>
                <a:gd name="T60" fmla="*/ 619 w 892"/>
                <a:gd name="T61" fmla="*/ 573 h 726"/>
                <a:gd name="T62" fmla="*/ 533 w 892"/>
                <a:gd name="T63" fmla="*/ 687 h 726"/>
                <a:gd name="T64" fmla="*/ 492 w 892"/>
                <a:gd name="T65" fmla="*/ 723 h 726"/>
                <a:gd name="T66" fmla="*/ 466 w 892"/>
                <a:gd name="T67" fmla="*/ 726 h 726"/>
                <a:gd name="T68" fmla="*/ 443 w 892"/>
                <a:gd name="T69" fmla="*/ 723 h 726"/>
                <a:gd name="T70" fmla="*/ 370 w 892"/>
                <a:gd name="T71" fmla="*/ 702 h 726"/>
                <a:gd name="T72" fmla="*/ 304 w 892"/>
                <a:gd name="T73" fmla="*/ 678 h 726"/>
                <a:gd name="T74" fmla="*/ 268 w 892"/>
                <a:gd name="T75" fmla="*/ 663 h 726"/>
                <a:gd name="T76" fmla="*/ 216 w 892"/>
                <a:gd name="T77" fmla="*/ 645 h 726"/>
                <a:gd name="T78" fmla="*/ 163 w 892"/>
                <a:gd name="T79" fmla="*/ 626 h 726"/>
                <a:gd name="T80" fmla="*/ 111 w 892"/>
                <a:gd name="T81" fmla="*/ 608 h 726"/>
                <a:gd name="T82" fmla="*/ 58 w 892"/>
                <a:gd name="T83" fmla="*/ 588 h 726"/>
                <a:gd name="T84" fmla="*/ 7 w 892"/>
                <a:gd name="T85" fmla="*/ 568 h 726"/>
                <a:gd name="T86" fmla="*/ 1 w 892"/>
                <a:gd name="T87" fmla="*/ 560 h 726"/>
                <a:gd name="T88" fmla="*/ 44 w 892"/>
                <a:gd name="T89" fmla="*/ 483 h 726"/>
                <a:gd name="T90" fmla="*/ 115 w 892"/>
                <a:gd name="T91" fmla="*/ 376 h 726"/>
                <a:gd name="T92" fmla="*/ 181 w 892"/>
                <a:gd name="T93" fmla="*/ 263 h 72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92"/>
                <a:gd name="T142" fmla="*/ 0 h 726"/>
                <a:gd name="T143" fmla="*/ 892 w 892"/>
                <a:gd name="T144" fmla="*/ 726 h 72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92" h="726">
                  <a:moveTo>
                    <a:pt x="181" y="263"/>
                  </a:moveTo>
                  <a:lnTo>
                    <a:pt x="189" y="248"/>
                  </a:lnTo>
                  <a:lnTo>
                    <a:pt x="199" y="233"/>
                  </a:lnTo>
                  <a:lnTo>
                    <a:pt x="210" y="219"/>
                  </a:lnTo>
                  <a:lnTo>
                    <a:pt x="220" y="205"/>
                  </a:lnTo>
                  <a:lnTo>
                    <a:pt x="232" y="192"/>
                  </a:lnTo>
                  <a:lnTo>
                    <a:pt x="242" y="178"/>
                  </a:lnTo>
                  <a:lnTo>
                    <a:pt x="254" y="165"/>
                  </a:lnTo>
                  <a:lnTo>
                    <a:pt x="265" y="150"/>
                  </a:lnTo>
                  <a:lnTo>
                    <a:pt x="280" y="132"/>
                  </a:lnTo>
                  <a:lnTo>
                    <a:pt x="291" y="113"/>
                  </a:lnTo>
                  <a:lnTo>
                    <a:pt x="303" y="95"/>
                  </a:lnTo>
                  <a:lnTo>
                    <a:pt x="315" y="78"/>
                  </a:lnTo>
                  <a:lnTo>
                    <a:pt x="325" y="61"/>
                  </a:lnTo>
                  <a:lnTo>
                    <a:pt x="338" y="44"/>
                  </a:lnTo>
                  <a:lnTo>
                    <a:pt x="353" y="27"/>
                  </a:lnTo>
                  <a:lnTo>
                    <a:pt x="370" y="12"/>
                  </a:lnTo>
                  <a:lnTo>
                    <a:pt x="379" y="7"/>
                  </a:lnTo>
                  <a:lnTo>
                    <a:pt x="391" y="3"/>
                  </a:lnTo>
                  <a:lnTo>
                    <a:pt x="399" y="0"/>
                  </a:lnTo>
                  <a:lnTo>
                    <a:pt x="403" y="0"/>
                  </a:lnTo>
                  <a:lnTo>
                    <a:pt x="430" y="11"/>
                  </a:lnTo>
                  <a:lnTo>
                    <a:pt x="456" y="21"/>
                  </a:lnTo>
                  <a:lnTo>
                    <a:pt x="482" y="29"/>
                  </a:lnTo>
                  <a:lnTo>
                    <a:pt x="506" y="38"/>
                  </a:lnTo>
                  <a:lnTo>
                    <a:pt x="531" y="47"/>
                  </a:lnTo>
                  <a:lnTo>
                    <a:pt x="555" y="55"/>
                  </a:lnTo>
                  <a:lnTo>
                    <a:pt x="581" y="65"/>
                  </a:lnTo>
                  <a:lnTo>
                    <a:pt x="607" y="75"/>
                  </a:lnTo>
                  <a:lnTo>
                    <a:pt x="624" y="82"/>
                  </a:lnTo>
                  <a:lnTo>
                    <a:pt x="641" y="88"/>
                  </a:lnTo>
                  <a:lnTo>
                    <a:pt x="656" y="93"/>
                  </a:lnTo>
                  <a:lnTo>
                    <a:pt x="673" y="99"/>
                  </a:lnTo>
                  <a:lnTo>
                    <a:pt x="689" y="104"/>
                  </a:lnTo>
                  <a:lnTo>
                    <a:pt x="706" y="108"/>
                  </a:lnTo>
                  <a:lnTo>
                    <a:pt x="721" y="112"/>
                  </a:lnTo>
                  <a:lnTo>
                    <a:pt x="738" y="115"/>
                  </a:lnTo>
                  <a:lnTo>
                    <a:pt x="753" y="119"/>
                  </a:lnTo>
                  <a:lnTo>
                    <a:pt x="770" y="122"/>
                  </a:lnTo>
                  <a:lnTo>
                    <a:pt x="786" y="126"/>
                  </a:lnTo>
                  <a:lnTo>
                    <a:pt x="803" y="130"/>
                  </a:lnTo>
                  <a:lnTo>
                    <a:pt x="819" y="132"/>
                  </a:lnTo>
                  <a:lnTo>
                    <a:pt x="838" y="136"/>
                  </a:lnTo>
                  <a:lnTo>
                    <a:pt x="854" y="141"/>
                  </a:lnTo>
                  <a:lnTo>
                    <a:pt x="873" y="145"/>
                  </a:lnTo>
                  <a:lnTo>
                    <a:pt x="885" y="153"/>
                  </a:lnTo>
                  <a:lnTo>
                    <a:pt x="892" y="165"/>
                  </a:lnTo>
                  <a:lnTo>
                    <a:pt x="892" y="179"/>
                  </a:lnTo>
                  <a:lnTo>
                    <a:pt x="885" y="192"/>
                  </a:lnTo>
                  <a:lnTo>
                    <a:pt x="879" y="200"/>
                  </a:lnTo>
                  <a:lnTo>
                    <a:pt x="874" y="207"/>
                  </a:lnTo>
                  <a:lnTo>
                    <a:pt x="870" y="214"/>
                  </a:lnTo>
                  <a:lnTo>
                    <a:pt x="865" y="220"/>
                  </a:lnTo>
                  <a:lnTo>
                    <a:pt x="860" y="228"/>
                  </a:lnTo>
                  <a:lnTo>
                    <a:pt x="854" y="235"/>
                  </a:lnTo>
                  <a:lnTo>
                    <a:pt x="849" y="242"/>
                  </a:lnTo>
                  <a:lnTo>
                    <a:pt x="843" y="250"/>
                  </a:lnTo>
                  <a:lnTo>
                    <a:pt x="830" y="267"/>
                  </a:lnTo>
                  <a:lnTo>
                    <a:pt x="814" y="288"/>
                  </a:lnTo>
                  <a:lnTo>
                    <a:pt x="799" y="310"/>
                  </a:lnTo>
                  <a:lnTo>
                    <a:pt x="782" y="331"/>
                  </a:lnTo>
                  <a:lnTo>
                    <a:pt x="768" y="350"/>
                  </a:lnTo>
                  <a:lnTo>
                    <a:pt x="755" y="367"/>
                  </a:lnTo>
                  <a:lnTo>
                    <a:pt x="746" y="377"/>
                  </a:lnTo>
                  <a:lnTo>
                    <a:pt x="742" y="380"/>
                  </a:lnTo>
                  <a:lnTo>
                    <a:pt x="729" y="372"/>
                  </a:lnTo>
                  <a:lnTo>
                    <a:pt x="716" y="367"/>
                  </a:lnTo>
                  <a:lnTo>
                    <a:pt x="702" y="363"/>
                  </a:lnTo>
                  <a:lnTo>
                    <a:pt x="687" y="359"/>
                  </a:lnTo>
                  <a:lnTo>
                    <a:pt x="673" y="358"/>
                  </a:lnTo>
                  <a:lnTo>
                    <a:pt x="659" y="356"/>
                  </a:lnTo>
                  <a:lnTo>
                    <a:pt x="645" y="356"/>
                  </a:lnTo>
                  <a:lnTo>
                    <a:pt x="630" y="358"/>
                  </a:lnTo>
                  <a:lnTo>
                    <a:pt x="620" y="359"/>
                  </a:lnTo>
                  <a:lnTo>
                    <a:pt x="610" y="363"/>
                  </a:lnTo>
                  <a:lnTo>
                    <a:pt x="601" y="368"/>
                  </a:lnTo>
                  <a:lnTo>
                    <a:pt x="593" y="375"/>
                  </a:lnTo>
                  <a:lnTo>
                    <a:pt x="586" y="384"/>
                  </a:lnTo>
                  <a:lnTo>
                    <a:pt x="583" y="391"/>
                  </a:lnTo>
                  <a:lnTo>
                    <a:pt x="579" y="402"/>
                  </a:lnTo>
                  <a:lnTo>
                    <a:pt x="577" y="411"/>
                  </a:lnTo>
                  <a:lnTo>
                    <a:pt x="580" y="428"/>
                  </a:lnTo>
                  <a:lnTo>
                    <a:pt x="586" y="441"/>
                  </a:lnTo>
                  <a:lnTo>
                    <a:pt x="598" y="451"/>
                  </a:lnTo>
                  <a:lnTo>
                    <a:pt x="612" y="459"/>
                  </a:lnTo>
                  <a:lnTo>
                    <a:pt x="629" y="464"/>
                  </a:lnTo>
                  <a:lnTo>
                    <a:pt x="646" y="469"/>
                  </a:lnTo>
                  <a:lnTo>
                    <a:pt x="663" y="474"/>
                  </a:lnTo>
                  <a:lnTo>
                    <a:pt x="677" y="479"/>
                  </a:lnTo>
                  <a:lnTo>
                    <a:pt x="674" y="487"/>
                  </a:lnTo>
                  <a:lnTo>
                    <a:pt x="663" y="508"/>
                  </a:lnTo>
                  <a:lnTo>
                    <a:pt x="643" y="538"/>
                  </a:lnTo>
                  <a:lnTo>
                    <a:pt x="619" y="573"/>
                  </a:lnTo>
                  <a:lnTo>
                    <a:pt x="592" y="612"/>
                  </a:lnTo>
                  <a:lnTo>
                    <a:pt x="562" y="650"/>
                  </a:lnTo>
                  <a:lnTo>
                    <a:pt x="533" y="687"/>
                  </a:lnTo>
                  <a:lnTo>
                    <a:pt x="506" y="718"/>
                  </a:lnTo>
                  <a:lnTo>
                    <a:pt x="498" y="720"/>
                  </a:lnTo>
                  <a:lnTo>
                    <a:pt x="492" y="723"/>
                  </a:lnTo>
                  <a:lnTo>
                    <a:pt x="483" y="724"/>
                  </a:lnTo>
                  <a:lnTo>
                    <a:pt x="475" y="724"/>
                  </a:lnTo>
                  <a:lnTo>
                    <a:pt x="466" y="726"/>
                  </a:lnTo>
                  <a:lnTo>
                    <a:pt x="458" y="724"/>
                  </a:lnTo>
                  <a:lnTo>
                    <a:pt x="451" y="724"/>
                  </a:lnTo>
                  <a:lnTo>
                    <a:pt x="443" y="723"/>
                  </a:lnTo>
                  <a:lnTo>
                    <a:pt x="421" y="718"/>
                  </a:lnTo>
                  <a:lnTo>
                    <a:pt x="396" y="710"/>
                  </a:lnTo>
                  <a:lnTo>
                    <a:pt x="370" y="702"/>
                  </a:lnTo>
                  <a:lnTo>
                    <a:pt x="346" y="693"/>
                  </a:lnTo>
                  <a:lnTo>
                    <a:pt x="324" y="684"/>
                  </a:lnTo>
                  <a:lnTo>
                    <a:pt x="304" y="678"/>
                  </a:lnTo>
                  <a:lnTo>
                    <a:pt x="291" y="672"/>
                  </a:lnTo>
                  <a:lnTo>
                    <a:pt x="286" y="670"/>
                  </a:lnTo>
                  <a:lnTo>
                    <a:pt x="268" y="663"/>
                  </a:lnTo>
                  <a:lnTo>
                    <a:pt x="251" y="657"/>
                  </a:lnTo>
                  <a:lnTo>
                    <a:pt x="233" y="652"/>
                  </a:lnTo>
                  <a:lnTo>
                    <a:pt x="216" y="645"/>
                  </a:lnTo>
                  <a:lnTo>
                    <a:pt x="198" y="639"/>
                  </a:lnTo>
                  <a:lnTo>
                    <a:pt x="181" y="632"/>
                  </a:lnTo>
                  <a:lnTo>
                    <a:pt x="163" y="626"/>
                  </a:lnTo>
                  <a:lnTo>
                    <a:pt x="146" y="621"/>
                  </a:lnTo>
                  <a:lnTo>
                    <a:pt x="128" y="614"/>
                  </a:lnTo>
                  <a:lnTo>
                    <a:pt x="111" y="608"/>
                  </a:lnTo>
                  <a:lnTo>
                    <a:pt x="93" y="601"/>
                  </a:lnTo>
                  <a:lnTo>
                    <a:pt x="76" y="595"/>
                  </a:lnTo>
                  <a:lnTo>
                    <a:pt x="58" y="588"/>
                  </a:lnTo>
                  <a:lnTo>
                    <a:pt x="42" y="582"/>
                  </a:lnTo>
                  <a:lnTo>
                    <a:pt x="23" y="574"/>
                  </a:lnTo>
                  <a:lnTo>
                    <a:pt x="7" y="568"/>
                  </a:lnTo>
                  <a:lnTo>
                    <a:pt x="5" y="565"/>
                  </a:lnTo>
                  <a:lnTo>
                    <a:pt x="3" y="562"/>
                  </a:lnTo>
                  <a:lnTo>
                    <a:pt x="1" y="560"/>
                  </a:lnTo>
                  <a:lnTo>
                    <a:pt x="0" y="557"/>
                  </a:lnTo>
                  <a:lnTo>
                    <a:pt x="21" y="520"/>
                  </a:lnTo>
                  <a:lnTo>
                    <a:pt x="44" y="483"/>
                  </a:lnTo>
                  <a:lnTo>
                    <a:pt x="67" y="447"/>
                  </a:lnTo>
                  <a:lnTo>
                    <a:pt x="92" y="412"/>
                  </a:lnTo>
                  <a:lnTo>
                    <a:pt x="115" y="376"/>
                  </a:lnTo>
                  <a:lnTo>
                    <a:pt x="139" y="338"/>
                  </a:lnTo>
                  <a:lnTo>
                    <a:pt x="161" y="302"/>
                  </a:lnTo>
                  <a:lnTo>
                    <a:pt x="181" y="263"/>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 name="Freeform 11"/>
            <p:cNvSpPr>
              <a:spLocks/>
            </p:cNvSpPr>
            <p:nvPr/>
          </p:nvSpPr>
          <p:spPr bwMode="auto">
            <a:xfrm>
              <a:off x="1387" y="3070"/>
              <a:ext cx="762" cy="308"/>
            </a:xfrm>
            <a:custGeom>
              <a:avLst/>
              <a:gdLst>
                <a:gd name="T0" fmla="*/ 39 w 762"/>
                <a:gd name="T1" fmla="*/ 99 h 308"/>
                <a:gd name="T2" fmla="*/ 103 w 762"/>
                <a:gd name="T3" fmla="*/ 128 h 308"/>
                <a:gd name="T4" fmla="*/ 164 w 762"/>
                <a:gd name="T5" fmla="*/ 152 h 308"/>
                <a:gd name="T6" fmla="*/ 195 w 762"/>
                <a:gd name="T7" fmla="*/ 164 h 308"/>
                <a:gd name="T8" fmla="*/ 250 w 762"/>
                <a:gd name="T9" fmla="*/ 184 h 308"/>
                <a:gd name="T10" fmla="*/ 316 w 762"/>
                <a:gd name="T11" fmla="*/ 208 h 308"/>
                <a:gd name="T12" fmla="*/ 382 w 762"/>
                <a:gd name="T13" fmla="*/ 230 h 308"/>
                <a:gd name="T14" fmla="*/ 435 w 762"/>
                <a:gd name="T15" fmla="*/ 244 h 308"/>
                <a:gd name="T16" fmla="*/ 467 w 762"/>
                <a:gd name="T17" fmla="*/ 251 h 308"/>
                <a:gd name="T18" fmla="*/ 494 w 762"/>
                <a:gd name="T19" fmla="*/ 256 h 308"/>
                <a:gd name="T20" fmla="*/ 520 w 762"/>
                <a:gd name="T21" fmla="*/ 252 h 308"/>
                <a:gd name="T22" fmla="*/ 569 w 762"/>
                <a:gd name="T23" fmla="*/ 190 h 308"/>
                <a:gd name="T24" fmla="*/ 616 w 762"/>
                <a:gd name="T25" fmla="*/ 121 h 308"/>
                <a:gd name="T26" fmla="*/ 656 w 762"/>
                <a:gd name="T27" fmla="*/ 66 h 308"/>
                <a:gd name="T28" fmla="*/ 689 w 762"/>
                <a:gd name="T29" fmla="*/ 26 h 308"/>
                <a:gd name="T30" fmla="*/ 714 w 762"/>
                <a:gd name="T31" fmla="*/ 0 h 308"/>
                <a:gd name="T32" fmla="*/ 729 w 762"/>
                <a:gd name="T33" fmla="*/ 11 h 308"/>
                <a:gd name="T34" fmla="*/ 747 w 762"/>
                <a:gd name="T35" fmla="*/ 32 h 308"/>
                <a:gd name="T36" fmla="*/ 762 w 762"/>
                <a:gd name="T37" fmla="*/ 50 h 308"/>
                <a:gd name="T38" fmla="*/ 745 w 762"/>
                <a:gd name="T39" fmla="*/ 73 h 308"/>
                <a:gd name="T40" fmla="*/ 726 w 762"/>
                <a:gd name="T41" fmla="*/ 64 h 308"/>
                <a:gd name="T42" fmla="*/ 712 w 762"/>
                <a:gd name="T43" fmla="*/ 54 h 308"/>
                <a:gd name="T44" fmla="*/ 685 w 762"/>
                <a:gd name="T45" fmla="*/ 89 h 308"/>
                <a:gd name="T46" fmla="*/ 656 w 762"/>
                <a:gd name="T47" fmla="*/ 130 h 308"/>
                <a:gd name="T48" fmla="*/ 656 w 762"/>
                <a:gd name="T49" fmla="*/ 140 h 308"/>
                <a:gd name="T50" fmla="*/ 677 w 762"/>
                <a:gd name="T51" fmla="*/ 147 h 308"/>
                <a:gd name="T52" fmla="*/ 701 w 762"/>
                <a:gd name="T53" fmla="*/ 147 h 308"/>
                <a:gd name="T54" fmla="*/ 686 w 762"/>
                <a:gd name="T55" fmla="*/ 169 h 308"/>
                <a:gd name="T56" fmla="*/ 669 w 762"/>
                <a:gd name="T57" fmla="*/ 190 h 308"/>
                <a:gd name="T58" fmla="*/ 652 w 762"/>
                <a:gd name="T59" fmla="*/ 191 h 308"/>
                <a:gd name="T60" fmla="*/ 633 w 762"/>
                <a:gd name="T61" fmla="*/ 154 h 308"/>
                <a:gd name="T62" fmla="*/ 610 w 762"/>
                <a:gd name="T63" fmla="*/ 180 h 308"/>
                <a:gd name="T64" fmla="*/ 572 w 762"/>
                <a:gd name="T65" fmla="*/ 225 h 308"/>
                <a:gd name="T66" fmla="*/ 562 w 762"/>
                <a:gd name="T67" fmla="*/ 243 h 308"/>
                <a:gd name="T68" fmla="*/ 579 w 762"/>
                <a:gd name="T69" fmla="*/ 251 h 308"/>
                <a:gd name="T70" fmla="*/ 602 w 762"/>
                <a:gd name="T71" fmla="*/ 256 h 308"/>
                <a:gd name="T72" fmla="*/ 590 w 762"/>
                <a:gd name="T73" fmla="*/ 276 h 308"/>
                <a:gd name="T74" fmla="*/ 568 w 762"/>
                <a:gd name="T75" fmla="*/ 296 h 308"/>
                <a:gd name="T76" fmla="*/ 558 w 762"/>
                <a:gd name="T77" fmla="*/ 308 h 308"/>
                <a:gd name="T78" fmla="*/ 479 w 762"/>
                <a:gd name="T79" fmla="*/ 294 h 308"/>
                <a:gd name="T80" fmla="*/ 375 w 762"/>
                <a:gd name="T81" fmla="*/ 265 h 308"/>
                <a:gd name="T82" fmla="*/ 264 w 762"/>
                <a:gd name="T83" fmla="*/ 228 h 308"/>
                <a:gd name="T84" fmla="*/ 163 w 762"/>
                <a:gd name="T85" fmla="*/ 189 h 308"/>
                <a:gd name="T86" fmla="*/ 88 w 762"/>
                <a:gd name="T87" fmla="*/ 155 h 308"/>
                <a:gd name="T88" fmla="*/ 57 w 762"/>
                <a:gd name="T89" fmla="*/ 140 h 308"/>
                <a:gd name="T90" fmla="*/ 26 w 762"/>
                <a:gd name="T91" fmla="*/ 128 h 308"/>
                <a:gd name="T92" fmla="*/ 9 w 762"/>
                <a:gd name="T93" fmla="*/ 123 h 308"/>
                <a:gd name="T94" fmla="*/ 2 w 762"/>
                <a:gd name="T95" fmla="*/ 90 h 30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62"/>
                <a:gd name="T145" fmla="*/ 0 h 308"/>
                <a:gd name="T146" fmla="*/ 762 w 762"/>
                <a:gd name="T147" fmla="*/ 308 h 30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62" h="308">
                  <a:moveTo>
                    <a:pt x="0" y="84"/>
                  </a:moveTo>
                  <a:lnTo>
                    <a:pt x="18" y="92"/>
                  </a:lnTo>
                  <a:lnTo>
                    <a:pt x="39" y="99"/>
                  </a:lnTo>
                  <a:lnTo>
                    <a:pt x="61" y="108"/>
                  </a:lnTo>
                  <a:lnTo>
                    <a:pt x="83" y="118"/>
                  </a:lnTo>
                  <a:lnTo>
                    <a:pt x="103" y="128"/>
                  </a:lnTo>
                  <a:lnTo>
                    <a:pt x="125" y="136"/>
                  </a:lnTo>
                  <a:lnTo>
                    <a:pt x="146" y="145"/>
                  </a:lnTo>
                  <a:lnTo>
                    <a:pt x="164" y="152"/>
                  </a:lnTo>
                  <a:lnTo>
                    <a:pt x="171" y="155"/>
                  </a:lnTo>
                  <a:lnTo>
                    <a:pt x="181" y="159"/>
                  </a:lnTo>
                  <a:lnTo>
                    <a:pt x="195" y="164"/>
                  </a:lnTo>
                  <a:lnTo>
                    <a:pt x="211" y="169"/>
                  </a:lnTo>
                  <a:lnTo>
                    <a:pt x="229" y="177"/>
                  </a:lnTo>
                  <a:lnTo>
                    <a:pt x="250" y="184"/>
                  </a:lnTo>
                  <a:lnTo>
                    <a:pt x="272" y="191"/>
                  </a:lnTo>
                  <a:lnTo>
                    <a:pt x="294" y="199"/>
                  </a:lnTo>
                  <a:lnTo>
                    <a:pt x="316" y="208"/>
                  </a:lnTo>
                  <a:lnTo>
                    <a:pt x="339" y="216"/>
                  </a:lnTo>
                  <a:lnTo>
                    <a:pt x="361" y="222"/>
                  </a:lnTo>
                  <a:lnTo>
                    <a:pt x="382" y="230"/>
                  </a:lnTo>
                  <a:lnTo>
                    <a:pt x="401" y="235"/>
                  </a:lnTo>
                  <a:lnTo>
                    <a:pt x="419" y="241"/>
                  </a:lnTo>
                  <a:lnTo>
                    <a:pt x="435" y="244"/>
                  </a:lnTo>
                  <a:lnTo>
                    <a:pt x="448" y="247"/>
                  </a:lnTo>
                  <a:lnTo>
                    <a:pt x="457" y="248"/>
                  </a:lnTo>
                  <a:lnTo>
                    <a:pt x="467" y="251"/>
                  </a:lnTo>
                  <a:lnTo>
                    <a:pt x="476" y="252"/>
                  </a:lnTo>
                  <a:lnTo>
                    <a:pt x="485" y="255"/>
                  </a:lnTo>
                  <a:lnTo>
                    <a:pt x="494" y="256"/>
                  </a:lnTo>
                  <a:lnTo>
                    <a:pt x="503" y="256"/>
                  </a:lnTo>
                  <a:lnTo>
                    <a:pt x="512" y="255"/>
                  </a:lnTo>
                  <a:lnTo>
                    <a:pt x="520" y="252"/>
                  </a:lnTo>
                  <a:lnTo>
                    <a:pt x="537" y="233"/>
                  </a:lnTo>
                  <a:lnTo>
                    <a:pt x="554" y="212"/>
                  </a:lnTo>
                  <a:lnTo>
                    <a:pt x="569" y="190"/>
                  </a:lnTo>
                  <a:lnTo>
                    <a:pt x="585" y="167"/>
                  </a:lnTo>
                  <a:lnTo>
                    <a:pt x="601" y="143"/>
                  </a:lnTo>
                  <a:lnTo>
                    <a:pt x="616" y="121"/>
                  </a:lnTo>
                  <a:lnTo>
                    <a:pt x="632" y="98"/>
                  </a:lnTo>
                  <a:lnTo>
                    <a:pt x="647" y="77"/>
                  </a:lnTo>
                  <a:lnTo>
                    <a:pt x="656" y="66"/>
                  </a:lnTo>
                  <a:lnTo>
                    <a:pt x="667" y="53"/>
                  </a:lnTo>
                  <a:lnTo>
                    <a:pt x="678" y="38"/>
                  </a:lnTo>
                  <a:lnTo>
                    <a:pt x="689" y="26"/>
                  </a:lnTo>
                  <a:lnTo>
                    <a:pt x="699" y="14"/>
                  </a:lnTo>
                  <a:lnTo>
                    <a:pt x="708" y="5"/>
                  </a:lnTo>
                  <a:lnTo>
                    <a:pt x="714" y="0"/>
                  </a:lnTo>
                  <a:lnTo>
                    <a:pt x="718" y="0"/>
                  </a:lnTo>
                  <a:lnTo>
                    <a:pt x="723" y="5"/>
                  </a:lnTo>
                  <a:lnTo>
                    <a:pt x="729" y="11"/>
                  </a:lnTo>
                  <a:lnTo>
                    <a:pt x="735" y="18"/>
                  </a:lnTo>
                  <a:lnTo>
                    <a:pt x="740" y="24"/>
                  </a:lnTo>
                  <a:lnTo>
                    <a:pt x="747" y="32"/>
                  </a:lnTo>
                  <a:lnTo>
                    <a:pt x="752" y="38"/>
                  </a:lnTo>
                  <a:lnTo>
                    <a:pt x="757" y="45"/>
                  </a:lnTo>
                  <a:lnTo>
                    <a:pt x="762" y="50"/>
                  </a:lnTo>
                  <a:lnTo>
                    <a:pt x="756" y="58"/>
                  </a:lnTo>
                  <a:lnTo>
                    <a:pt x="751" y="66"/>
                  </a:lnTo>
                  <a:lnTo>
                    <a:pt x="745" y="73"/>
                  </a:lnTo>
                  <a:lnTo>
                    <a:pt x="740" y="83"/>
                  </a:lnTo>
                  <a:lnTo>
                    <a:pt x="734" y="75"/>
                  </a:lnTo>
                  <a:lnTo>
                    <a:pt x="726" y="64"/>
                  </a:lnTo>
                  <a:lnTo>
                    <a:pt x="718" y="55"/>
                  </a:lnTo>
                  <a:lnTo>
                    <a:pt x="714" y="51"/>
                  </a:lnTo>
                  <a:lnTo>
                    <a:pt x="712" y="54"/>
                  </a:lnTo>
                  <a:lnTo>
                    <a:pt x="705" y="63"/>
                  </a:lnTo>
                  <a:lnTo>
                    <a:pt x="695" y="75"/>
                  </a:lnTo>
                  <a:lnTo>
                    <a:pt x="685" y="89"/>
                  </a:lnTo>
                  <a:lnTo>
                    <a:pt x="673" y="105"/>
                  </a:lnTo>
                  <a:lnTo>
                    <a:pt x="663" y="119"/>
                  </a:lnTo>
                  <a:lnTo>
                    <a:pt x="656" y="130"/>
                  </a:lnTo>
                  <a:lnTo>
                    <a:pt x="652" y="137"/>
                  </a:lnTo>
                  <a:lnTo>
                    <a:pt x="652" y="138"/>
                  </a:lnTo>
                  <a:lnTo>
                    <a:pt x="656" y="140"/>
                  </a:lnTo>
                  <a:lnTo>
                    <a:pt x="661" y="142"/>
                  </a:lnTo>
                  <a:lnTo>
                    <a:pt x="669" y="145"/>
                  </a:lnTo>
                  <a:lnTo>
                    <a:pt x="677" y="147"/>
                  </a:lnTo>
                  <a:lnTo>
                    <a:pt x="686" y="149"/>
                  </a:lnTo>
                  <a:lnTo>
                    <a:pt x="694" y="149"/>
                  </a:lnTo>
                  <a:lnTo>
                    <a:pt x="701" y="147"/>
                  </a:lnTo>
                  <a:lnTo>
                    <a:pt x="696" y="155"/>
                  </a:lnTo>
                  <a:lnTo>
                    <a:pt x="691" y="162"/>
                  </a:lnTo>
                  <a:lnTo>
                    <a:pt x="686" y="169"/>
                  </a:lnTo>
                  <a:lnTo>
                    <a:pt x="681" y="176"/>
                  </a:lnTo>
                  <a:lnTo>
                    <a:pt x="674" y="182"/>
                  </a:lnTo>
                  <a:lnTo>
                    <a:pt x="669" y="190"/>
                  </a:lnTo>
                  <a:lnTo>
                    <a:pt x="663" y="197"/>
                  </a:lnTo>
                  <a:lnTo>
                    <a:pt x="657" y="203"/>
                  </a:lnTo>
                  <a:lnTo>
                    <a:pt x="652" y="191"/>
                  </a:lnTo>
                  <a:lnTo>
                    <a:pt x="645" y="174"/>
                  </a:lnTo>
                  <a:lnTo>
                    <a:pt x="637" y="160"/>
                  </a:lnTo>
                  <a:lnTo>
                    <a:pt x="633" y="154"/>
                  </a:lnTo>
                  <a:lnTo>
                    <a:pt x="629" y="158"/>
                  </a:lnTo>
                  <a:lnTo>
                    <a:pt x="621" y="167"/>
                  </a:lnTo>
                  <a:lnTo>
                    <a:pt x="610" y="180"/>
                  </a:lnTo>
                  <a:lnTo>
                    <a:pt x="597" y="195"/>
                  </a:lnTo>
                  <a:lnTo>
                    <a:pt x="584" y="211"/>
                  </a:lnTo>
                  <a:lnTo>
                    <a:pt x="572" y="225"/>
                  </a:lnTo>
                  <a:lnTo>
                    <a:pt x="564" y="235"/>
                  </a:lnTo>
                  <a:lnTo>
                    <a:pt x="560" y="241"/>
                  </a:lnTo>
                  <a:lnTo>
                    <a:pt x="562" y="243"/>
                  </a:lnTo>
                  <a:lnTo>
                    <a:pt x="564" y="246"/>
                  </a:lnTo>
                  <a:lnTo>
                    <a:pt x="571" y="248"/>
                  </a:lnTo>
                  <a:lnTo>
                    <a:pt x="579" y="251"/>
                  </a:lnTo>
                  <a:lnTo>
                    <a:pt x="586" y="254"/>
                  </a:lnTo>
                  <a:lnTo>
                    <a:pt x="594" y="255"/>
                  </a:lnTo>
                  <a:lnTo>
                    <a:pt x="602" y="256"/>
                  </a:lnTo>
                  <a:lnTo>
                    <a:pt x="607" y="256"/>
                  </a:lnTo>
                  <a:lnTo>
                    <a:pt x="598" y="266"/>
                  </a:lnTo>
                  <a:lnTo>
                    <a:pt x="590" y="276"/>
                  </a:lnTo>
                  <a:lnTo>
                    <a:pt x="582" y="283"/>
                  </a:lnTo>
                  <a:lnTo>
                    <a:pt x="575" y="290"/>
                  </a:lnTo>
                  <a:lnTo>
                    <a:pt x="568" y="296"/>
                  </a:lnTo>
                  <a:lnTo>
                    <a:pt x="563" y="301"/>
                  </a:lnTo>
                  <a:lnTo>
                    <a:pt x="559" y="305"/>
                  </a:lnTo>
                  <a:lnTo>
                    <a:pt x="558" y="308"/>
                  </a:lnTo>
                  <a:lnTo>
                    <a:pt x="536" y="305"/>
                  </a:lnTo>
                  <a:lnTo>
                    <a:pt x="509" y="301"/>
                  </a:lnTo>
                  <a:lnTo>
                    <a:pt x="479" y="294"/>
                  </a:lnTo>
                  <a:lnTo>
                    <a:pt x="446" y="286"/>
                  </a:lnTo>
                  <a:lnTo>
                    <a:pt x="412" y="276"/>
                  </a:lnTo>
                  <a:lnTo>
                    <a:pt x="375" y="265"/>
                  </a:lnTo>
                  <a:lnTo>
                    <a:pt x="338" y="254"/>
                  </a:lnTo>
                  <a:lnTo>
                    <a:pt x="302" y="241"/>
                  </a:lnTo>
                  <a:lnTo>
                    <a:pt x="264" y="228"/>
                  </a:lnTo>
                  <a:lnTo>
                    <a:pt x="228" y="215"/>
                  </a:lnTo>
                  <a:lnTo>
                    <a:pt x="194" y="202"/>
                  </a:lnTo>
                  <a:lnTo>
                    <a:pt x="163" y="189"/>
                  </a:lnTo>
                  <a:lnTo>
                    <a:pt x="133" y="176"/>
                  </a:lnTo>
                  <a:lnTo>
                    <a:pt x="109" y="165"/>
                  </a:lnTo>
                  <a:lnTo>
                    <a:pt x="88" y="155"/>
                  </a:lnTo>
                  <a:lnTo>
                    <a:pt x="71" y="146"/>
                  </a:lnTo>
                  <a:lnTo>
                    <a:pt x="65" y="143"/>
                  </a:lnTo>
                  <a:lnTo>
                    <a:pt x="57" y="140"/>
                  </a:lnTo>
                  <a:lnTo>
                    <a:pt x="47" y="136"/>
                  </a:lnTo>
                  <a:lnTo>
                    <a:pt x="36" y="132"/>
                  </a:lnTo>
                  <a:lnTo>
                    <a:pt x="26" y="128"/>
                  </a:lnTo>
                  <a:lnTo>
                    <a:pt x="17" y="125"/>
                  </a:lnTo>
                  <a:lnTo>
                    <a:pt x="12" y="124"/>
                  </a:lnTo>
                  <a:lnTo>
                    <a:pt x="9" y="123"/>
                  </a:lnTo>
                  <a:lnTo>
                    <a:pt x="8" y="115"/>
                  </a:lnTo>
                  <a:lnTo>
                    <a:pt x="5" y="103"/>
                  </a:lnTo>
                  <a:lnTo>
                    <a:pt x="2" y="90"/>
                  </a:lnTo>
                  <a:lnTo>
                    <a:pt x="0" y="84"/>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 name="Freeform 12"/>
            <p:cNvSpPr>
              <a:spLocks/>
            </p:cNvSpPr>
            <p:nvPr/>
          </p:nvSpPr>
          <p:spPr bwMode="auto">
            <a:xfrm>
              <a:off x="2050" y="3142"/>
              <a:ext cx="68" cy="64"/>
            </a:xfrm>
            <a:custGeom>
              <a:avLst/>
              <a:gdLst>
                <a:gd name="T0" fmla="*/ 68 w 68"/>
                <a:gd name="T1" fmla="*/ 30 h 64"/>
                <a:gd name="T2" fmla="*/ 68 w 68"/>
                <a:gd name="T3" fmla="*/ 30 h 64"/>
                <a:gd name="T4" fmla="*/ 64 w 68"/>
                <a:gd name="T5" fmla="*/ 39 h 64"/>
                <a:gd name="T6" fmla="*/ 58 w 68"/>
                <a:gd name="T7" fmla="*/ 46 h 64"/>
                <a:gd name="T8" fmla="*/ 51 w 68"/>
                <a:gd name="T9" fmla="*/ 51 h 64"/>
                <a:gd name="T10" fmla="*/ 44 w 68"/>
                <a:gd name="T11" fmla="*/ 56 h 64"/>
                <a:gd name="T12" fmla="*/ 36 w 68"/>
                <a:gd name="T13" fmla="*/ 58 h 64"/>
                <a:gd name="T14" fmla="*/ 27 w 68"/>
                <a:gd name="T15" fmla="*/ 61 h 64"/>
                <a:gd name="T16" fmla="*/ 18 w 68"/>
                <a:gd name="T17" fmla="*/ 62 h 64"/>
                <a:gd name="T18" fmla="*/ 9 w 68"/>
                <a:gd name="T19" fmla="*/ 64 h 64"/>
                <a:gd name="T20" fmla="*/ 0 w 68"/>
                <a:gd name="T21" fmla="*/ 64 h 64"/>
                <a:gd name="T22" fmla="*/ 1 w 68"/>
                <a:gd name="T23" fmla="*/ 61 h 64"/>
                <a:gd name="T24" fmla="*/ 4 w 68"/>
                <a:gd name="T25" fmla="*/ 60 h 64"/>
                <a:gd name="T26" fmla="*/ 5 w 68"/>
                <a:gd name="T27" fmla="*/ 57 h 64"/>
                <a:gd name="T28" fmla="*/ 6 w 68"/>
                <a:gd name="T29" fmla="*/ 56 h 64"/>
                <a:gd name="T30" fmla="*/ 7 w 68"/>
                <a:gd name="T31" fmla="*/ 56 h 64"/>
                <a:gd name="T32" fmla="*/ 7 w 68"/>
                <a:gd name="T33" fmla="*/ 56 h 64"/>
                <a:gd name="T34" fmla="*/ 7 w 68"/>
                <a:gd name="T35" fmla="*/ 56 h 64"/>
                <a:gd name="T36" fmla="*/ 9 w 68"/>
                <a:gd name="T37" fmla="*/ 55 h 64"/>
                <a:gd name="T38" fmla="*/ 14 w 68"/>
                <a:gd name="T39" fmla="*/ 48 h 64"/>
                <a:gd name="T40" fmla="*/ 20 w 68"/>
                <a:gd name="T41" fmla="*/ 43 h 64"/>
                <a:gd name="T42" fmla="*/ 26 w 68"/>
                <a:gd name="T43" fmla="*/ 36 h 64"/>
                <a:gd name="T44" fmla="*/ 32 w 68"/>
                <a:gd name="T45" fmla="*/ 29 h 64"/>
                <a:gd name="T46" fmla="*/ 37 w 68"/>
                <a:gd name="T47" fmla="*/ 22 h 64"/>
                <a:gd name="T48" fmla="*/ 42 w 68"/>
                <a:gd name="T49" fmla="*/ 16 h 64"/>
                <a:gd name="T50" fmla="*/ 46 w 68"/>
                <a:gd name="T51" fmla="*/ 8 h 64"/>
                <a:gd name="T52" fmla="*/ 51 w 68"/>
                <a:gd name="T53" fmla="*/ 0 h 64"/>
                <a:gd name="T54" fmla="*/ 57 w 68"/>
                <a:gd name="T55" fmla="*/ 7 h 64"/>
                <a:gd name="T56" fmla="*/ 60 w 68"/>
                <a:gd name="T57" fmla="*/ 12 h 64"/>
                <a:gd name="T58" fmla="*/ 64 w 68"/>
                <a:gd name="T59" fmla="*/ 18 h 64"/>
                <a:gd name="T60" fmla="*/ 67 w 68"/>
                <a:gd name="T61" fmla="*/ 25 h 64"/>
                <a:gd name="T62" fmla="*/ 68 w 68"/>
                <a:gd name="T63" fmla="*/ 25 h 64"/>
                <a:gd name="T64" fmla="*/ 67 w 68"/>
                <a:gd name="T65" fmla="*/ 26 h 64"/>
                <a:gd name="T66" fmla="*/ 67 w 68"/>
                <a:gd name="T67" fmla="*/ 27 h 64"/>
                <a:gd name="T68" fmla="*/ 67 w 68"/>
                <a:gd name="T69" fmla="*/ 29 h 64"/>
                <a:gd name="T70" fmla="*/ 68 w 68"/>
                <a:gd name="T71" fmla="*/ 30 h 6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
                <a:gd name="T109" fmla="*/ 0 h 64"/>
                <a:gd name="T110" fmla="*/ 68 w 68"/>
                <a:gd name="T111" fmla="*/ 64 h 6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 h="64">
                  <a:moveTo>
                    <a:pt x="68" y="30"/>
                  </a:moveTo>
                  <a:lnTo>
                    <a:pt x="68" y="30"/>
                  </a:lnTo>
                  <a:lnTo>
                    <a:pt x="64" y="39"/>
                  </a:lnTo>
                  <a:lnTo>
                    <a:pt x="58" y="46"/>
                  </a:lnTo>
                  <a:lnTo>
                    <a:pt x="51" y="51"/>
                  </a:lnTo>
                  <a:lnTo>
                    <a:pt x="44" y="56"/>
                  </a:lnTo>
                  <a:lnTo>
                    <a:pt x="36" y="58"/>
                  </a:lnTo>
                  <a:lnTo>
                    <a:pt x="27" y="61"/>
                  </a:lnTo>
                  <a:lnTo>
                    <a:pt x="18" y="62"/>
                  </a:lnTo>
                  <a:lnTo>
                    <a:pt x="9" y="64"/>
                  </a:lnTo>
                  <a:lnTo>
                    <a:pt x="0" y="64"/>
                  </a:lnTo>
                  <a:lnTo>
                    <a:pt x="1" y="61"/>
                  </a:lnTo>
                  <a:lnTo>
                    <a:pt x="4" y="60"/>
                  </a:lnTo>
                  <a:lnTo>
                    <a:pt x="5" y="57"/>
                  </a:lnTo>
                  <a:lnTo>
                    <a:pt x="6" y="56"/>
                  </a:lnTo>
                  <a:lnTo>
                    <a:pt x="7" y="56"/>
                  </a:lnTo>
                  <a:lnTo>
                    <a:pt x="9" y="55"/>
                  </a:lnTo>
                  <a:lnTo>
                    <a:pt x="14" y="48"/>
                  </a:lnTo>
                  <a:lnTo>
                    <a:pt x="20" y="43"/>
                  </a:lnTo>
                  <a:lnTo>
                    <a:pt x="26" y="36"/>
                  </a:lnTo>
                  <a:lnTo>
                    <a:pt x="32" y="29"/>
                  </a:lnTo>
                  <a:lnTo>
                    <a:pt x="37" y="22"/>
                  </a:lnTo>
                  <a:lnTo>
                    <a:pt x="42" y="16"/>
                  </a:lnTo>
                  <a:lnTo>
                    <a:pt x="46" y="8"/>
                  </a:lnTo>
                  <a:lnTo>
                    <a:pt x="51" y="0"/>
                  </a:lnTo>
                  <a:lnTo>
                    <a:pt x="57" y="7"/>
                  </a:lnTo>
                  <a:lnTo>
                    <a:pt x="60" y="12"/>
                  </a:lnTo>
                  <a:lnTo>
                    <a:pt x="64" y="18"/>
                  </a:lnTo>
                  <a:lnTo>
                    <a:pt x="67" y="25"/>
                  </a:lnTo>
                  <a:lnTo>
                    <a:pt x="68" y="25"/>
                  </a:lnTo>
                  <a:lnTo>
                    <a:pt x="67" y="26"/>
                  </a:lnTo>
                  <a:lnTo>
                    <a:pt x="67" y="27"/>
                  </a:lnTo>
                  <a:lnTo>
                    <a:pt x="67" y="29"/>
                  </a:lnTo>
                  <a:lnTo>
                    <a:pt x="68" y="3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 name="Freeform 13"/>
            <p:cNvSpPr>
              <a:spLocks/>
            </p:cNvSpPr>
            <p:nvPr/>
          </p:nvSpPr>
          <p:spPr bwMode="auto">
            <a:xfrm>
              <a:off x="1973" y="3255"/>
              <a:ext cx="52" cy="49"/>
            </a:xfrm>
            <a:custGeom>
              <a:avLst/>
              <a:gdLst>
                <a:gd name="T0" fmla="*/ 51 w 52"/>
                <a:gd name="T1" fmla="*/ 32 h 49"/>
                <a:gd name="T2" fmla="*/ 47 w 52"/>
                <a:gd name="T3" fmla="*/ 40 h 49"/>
                <a:gd name="T4" fmla="*/ 42 w 52"/>
                <a:gd name="T5" fmla="*/ 45 h 49"/>
                <a:gd name="T6" fmla="*/ 37 w 52"/>
                <a:gd name="T7" fmla="*/ 48 h 49"/>
                <a:gd name="T8" fmla="*/ 30 w 52"/>
                <a:gd name="T9" fmla="*/ 49 h 49"/>
                <a:gd name="T10" fmla="*/ 22 w 52"/>
                <a:gd name="T11" fmla="*/ 49 h 49"/>
                <a:gd name="T12" fmla="*/ 16 w 52"/>
                <a:gd name="T13" fmla="*/ 48 h 49"/>
                <a:gd name="T14" fmla="*/ 8 w 52"/>
                <a:gd name="T15" fmla="*/ 45 h 49"/>
                <a:gd name="T16" fmla="*/ 0 w 52"/>
                <a:gd name="T17" fmla="*/ 43 h 49"/>
                <a:gd name="T18" fmla="*/ 2 w 52"/>
                <a:gd name="T19" fmla="*/ 41 h 49"/>
                <a:gd name="T20" fmla="*/ 5 w 52"/>
                <a:gd name="T21" fmla="*/ 39 h 49"/>
                <a:gd name="T22" fmla="*/ 11 w 52"/>
                <a:gd name="T23" fmla="*/ 34 h 49"/>
                <a:gd name="T24" fmla="*/ 17 w 52"/>
                <a:gd name="T25" fmla="*/ 27 h 49"/>
                <a:gd name="T26" fmla="*/ 24 w 52"/>
                <a:gd name="T27" fmla="*/ 21 h 49"/>
                <a:gd name="T28" fmla="*/ 30 w 52"/>
                <a:gd name="T29" fmla="*/ 14 h 49"/>
                <a:gd name="T30" fmla="*/ 37 w 52"/>
                <a:gd name="T31" fmla="*/ 6 h 49"/>
                <a:gd name="T32" fmla="*/ 42 w 52"/>
                <a:gd name="T33" fmla="*/ 0 h 49"/>
                <a:gd name="T34" fmla="*/ 46 w 52"/>
                <a:gd name="T35" fmla="*/ 9 h 49"/>
                <a:gd name="T36" fmla="*/ 49 w 52"/>
                <a:gd name="T37" fmla="*/ 17 h 49"/>
                <a:gd name="T38" fmla="*/ 52 w 52"/>
                <a:gd name="T39" fmla="*/ 24 h 49"/>
                <a:gd name="T40" fmla="*/ 51 w 52"/>
                <a:gd name="T41" fmla="*/ 32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2"/>
                <a:gd name="T64" fmla="*/ 0 h 49"/>
                <a:gd name="T65" fmla="*/ 52 w 52"/>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2" h="49">
                  <a:moveTo>
                    <a:pt x="51" y="32"/>
                  </a:moveTo>
                  <a:lnTo>
                    <a:pt x="47" y="40"/>
                  </a:lnTo>
                  <a:lnTo>
                    <a:pt x="42" y="45"/>
                  </a:lnTo>
                  <a:lnTo>
                    <a:pt x="37" y="48"/>
                  </a:lnTo>
                  <a:lnTo>
                    <a:pt x="30" y="49"/>
                  </a:lnTo>
                  <a:lnTo>
                    <a:pt x="22" y="49"/>
                  </a:lnTo>
                  <a:lnTo>
                    <a:pt x="16" y="48"/>
                  </a:lnTo>
                  <a:lnTo>
                    <a:pt x="8" y="45"/>
                  </a:lnTo>
                  <a:lnTo>
                    <a:pt x="0" y="43"/>
                  </a:lnTo>
                  <a:lnTo>
                    <a:pt x="2" y="41"/>
                  </a:lnTo>
                  <a:lnTo>
                    <a:pt x="5" y="39"/>
                  </a:lnTo>
                  <a:lnTo>
                    <a:pt x="11" y="34"/>
                  </a:lnTo>
                  <a:lnTo>
                    <a:pt x="17" y="27"/>
                  </a:lnTo>
                  <a:lnTo>
                    <a:pt x="24" y="21"/>
                  </a:lnTo>
                  <a:lnTo>
                    <a:pt x="30" y="14"/>
                  </a:lnTo>
                  <a:lnTo>
                    <a:pt x="37" y="6"/>
                  </a:lnTo>
                  <a:lnTo>
                    <a:pt x="42" y="0"/>
                  </a:lnTo>
                  <a:lnTo>
                    <a:pt x="46" y="9"/>
                  </a:lnTo>
                  <a:lnTo>
                    <a:pt x="49" y="17"/>
                  </a:lnTo>
                  <a:lnTo>
                    <a:pt x="52" y="24"/>
                  </a:lnTo>
                  <a:lnTo>
                    <a:pt x="51" y="3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 name="Freeform 14"/>
            <p:cNvSpPr>
              <a:spLocks/>
            </p:cNvSpPr>
            <p:nvPr/>
          </p:nvSpPr>
          <p:spPr bwMode="auto">
            <a:xfrm>
              <a:off x="1400" y="3136"/>
              <a:ext cx="775" cy="285"/>
            </a:xfrm>
            <a:custGeom>
              <a:avLst/>
              <a:gdLst>
                <a:gd name="T0" fmla="*/ 652 w 775"/>
                <a:gd name="T1" fmla="*/ 190 h 285"/>
                <a:gd name="T2" fmla="*/ 630 w 775"/>
                <a:gd name="T3" fmla="*/ 221 h 285"/>
                <a:gd name="T4" fmla="*/ 606 w 775"/>
                <a:gd name="T5" fmla="*/ 251 h 285"/>
                <a:gd name="T6" fmla="*/ 577 w 775"/>
                <a:gd name="T7" fmla="*/ 273 h 285"/>
                <a:gd name="T8" fmla="*/ 542 w 775"/>
                <a:gd name="T9" fmla="*/ 283 h 285"/>
                <a:gd name="T10" fmla="*/ 503 w 775"/>
                <a:gd name="T11" fmla="*/ 285 h 285"/>
                <a:gd name="T12" fmla="*/ 466 w 775"/>
                <a:gd name="T13" fmla="*/ 278 h 285"/>
                <a:gd name="T14" fmla="*/ 428 w 775"/>
                <a:gd name="T15" fmla="*/ 267 h 285"/>
                <a:gd name="T16" fmla="*/ 386 w 775"/>
                <a:gd name="T17" fmla="*/ 251 h 285"/>
                <a:gd name="T18" fmla="*/ 335 w 775"/>
                <a:gd name="T19" fmla="*/ 232 h 285"/>
                <a:gd name="T20" fmla="*/ 286 w 775"/>
                <a:gd name="T21" fmla="*/ 212 h 285"/>
                <a:gd name="T22" fmla="*/ 234 w 775"/>
                <a:gd name="T23" fmla="*/ 193 h 285"/>
                <a:gd name="T24" fmla="*/ 184 w 775"/>
                <a:gd name="T25" fmla="*/ 172 h 285"/>
                <a:gd name="T26" fmla="*/ 133 w 775"/>
                <a:gd name="T27" fmla="*/ 153 h 285"/>
                <a:gd name="T28" fmla="*/ 84 w 775"/>
                <a:gd name="T29" fmla="*/ 132 h 285"/>
                <a:gd name="T30" fmla="*/ 35 w 775"/>
                <a:gd name="T31" fmla="*/ 111 h 285"/>
                <a:gd name="T32" fmla="*/ 9 w 775"/>
                <a:gd name="T33" fmla="*/ 98 h 285"/>
                <a:gd name="T34" fmla="*/ 1 w 775"/>
                <a:gd name="T35" fmla="*/ 84 h 285"/>
                <a:gd name="T36" fmla="*/ 9 w 775"/>
                <a:gd name="T37" fmla="*/ 83 h 285"/>
                <a:gd name="T38" fmla="*/ 31 w 775"/>
                <a:gd name="T39" fmla="*/ 92 h 285"/>
                <a:gd name="T40" fmla="*/ 54 w 775"/>
                <a:gd name="T41" fmla="*/ 101 h 285"/>
                <a:gd name="T42" fmla="*/ 76 w 775"/>
                <a:gd name="T43" fmla="*/ 110 h 285"/>
                <a:gd name="T44" fmla="*/ 111 w 775"/>
                <a:gd name="T45" fmla="*/ 127 h 285"/>
                <a:gd name="T46" fmla="*/ 158 w 775"/>
                <a:gd name="T47" fmla="*/ 146 h 285"/>
                <a:gd name="T48" fmla="*/ 198 w 775"/>
                <a:gd name="T49" fmla="*/ 160 h 285"/>
                <a:gd name="T50" fmla="*/ 232 w 775"/>
                <a:gd name="T51" fmla="*/ 172 h 285"/>
                <a:gd name="T52" fmla="*/ 264 w 775"/>
                <a:gd name="T53" fmla="*/ 184 h 285"/>
                <a:gd name="T54" fmla="*/ 296 w 775"/>
                <a:gd name="T55" fmla="*/ 195 h 285"/>
                <a:gd name="T56" fmla="*/ 329 w 775"/>
                <a:gd name="T57" fmla="*/ 207 h 285"/>
                <a:gd name="T58" fmla="*/ 361 w 775"/>
                <a:gd name="T59" fmla="*/ 219 h 285"/>
                <a:gd name="T60" fmla="*/ 393 w 775"/>
                <a:gd name="T61" fmla="*/ 230 h 285"/>
                <a:gd name="T62" fmla="*/ 426 w 775"/>
                <a:gd name="T63" fmla="*/ 241 h 285"/>
                <a:gd name="T64" fmla="*/ 458 w 775"/>
                <a:gd name="T65" fmla="*/ 251 h 285"/>
                <a:gd name="T66" fmla="*/ 492 w 775"/>
                <a:gd name="T67" fmla="*/ 260 h 285"/>
                <a:gd name="T68" fmla="*/ 514 w 775"/>
                <a:gd name="T69" fmla="*/ 265 h 285"/>
                <a:gd name="T70" fmla="*/ 531 w 775"/>
                <a:gd name="T71" fmla="*/ 267 h 285"/>
                <a:gd name="T72" fmla="*/ 549 w 775"/>
                <a:gd name="T73" fmla="*/ 264 h 285"/>
                <a:gd name="T74" fmla="*/ 573 w 775"/>
                <a:gd name="T75" fmla="*/ 247 h 285"/>
                <a:gd name="T76" fmla="*/ 597 w 775"/>
                <a:gd name="T77" fmla="*/ 220 h 285"/>
                <a:gd name="T78" fmla="*/ 616 w 775"/>
                <a:gd name="T79" fmla="*/ 194 h 285"/>
                <a:gd name="T80" fmla="*/ 629 w 775"/>
                <a:gd name="T81" fmla="*/ 176 h 285"/>
                <a:gd name="T82" fmla="*/ 638 w 775"/>
                <a:gd name="T83" fmla="*/ 167 h 285"/>
                <a:gd name="T84" fmla="*/ 643 w 775"/>
                <a:gd name="T85" fmla="*/ 162 h 285"/>
                <a:gd name="T86" fmla="*/ 659 w 775"/>
                <a:gd name="T87" fmla="*/ 145 h 285"/>
                <a:gd name="T88" fmla="*/ 676 w 775"/>
                <a:gd name="T89" fmla="*/ 125 h 285"/>
                <a:gd name="T90" fmla="*/ 692 w 775"/>
                <a:gd name="T91" fmla="*/ 101 h 285"/>
                <a:gd name="T92" fmla="*/ 707 w 775"/>
                <a:gd name="T93" fmla="*/ 79 h 285"/>
                <a:gd name="T94" fmla="*/ 720 w 775"/>
                <a:gd name="T95" fmla="*/ 66 h 285"/>
                <a:gd name="T96" fmla="*/ 726 w 775"/>
                <a:gd name="T97" fmla="*/ 58 h 285"/>
                <a:gd name="T98" fmla="*/ 734 w 775"/>
                <a:gd name="T99" fmla="*/ 44 h 285"/>
                <a:gd name="T100" fmla="*/ 738 w 775"/>
                <a:gd name="T101" fmla="*/ 36 h 285"/>
                <a:gd name="T102" fmla="*/ 752 w 775"/>
                <a:gd name="T103" fmla="*/ 11 h 285"/>
                <a:gd name="T104" fmla="*/ 762 w 775"/>
                <a:gd name="T105" fmla="*/ 5 h 285"/>
                <a:gd name="T106" fmla="*/ 773 w 775"/>
                <a:gd name="T107" fmla="*/ 17 h 285"/>
                <a:gd name="T108" fmla="*/ 762 w 775"/>
                <a:gd name="T109" fmla="*/ 40 h 285"/>
                <a:gd name="T110" fmla="*/ 735 w 775"/>
                <a:gd name="T111" fmla="*/ 79 h 285"/>
                <a:gd name="T112" fmla="*/ 707 w 775"/>
                <a:gd name="T113" fmla="*/ 118 h 285"/>
                <a:gd name="T114" fmla="*/ 678 w 775"/>
                <a:gd name="T115" fmla="*/ 156 h 28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775"/>
                <a:gd name="T175" fmla="*/ 0 h 285"/>
                <a:gd name="T176" fmla="*/ 775 w 775"/>
                <a:gd name="T177" fmla="*/ 285 h 28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775" h="285">
                  <a:moveTo>
                    <a:pt x="663" y="176"/>
                  </a:moveTo>
                  <a:lnTo>
                    <a:pt x="652" y="190"/>
                  </a:lnTo>
                  <a:lnTo>
                    <a:pt x="641" y="206"/>
                  </a:lnTo>
                  <a:lnTo>
                    <a:pt x="630" y="221"/>
                  </a:lnTo>
                  <a:lnTo>
                    <a:pt x="619" y="237"/>
                  </a:lnTo>
                  <a:lnTo>
                    <a:pt x="606" y="251"/>
                  </a:lnTo>
                  <a:lnTo>
                    <a:pt x="591" y="264"/>
                  </a:lnTo>
                  <a:lnTo>
                    <a:pt x="577" y="273"/>
                  </a:lnTo>
                  <a:lnTo>
                    <a:pt x="560" y="279"/>
                  </a:lnTo>
                  <a:lnTo>
                    <a:pt x="542" y="283"/>
                  </a:lnTo>
                  <a:lnTo>
                    <a:pt x="523" y="285"/>
                  </a:lnTo>
                  <a:lnTo>
                    <a:pt x="503" y="285"/>
                  </a:lnTo>
                  <a:lnTo>
                    <a:pt x="484" y="282"/>
                  </a:lnTo>
                  <a:lnTo>
                    <a:pt x="466" y="278"/>
                  </a:lnTo>
                  <a:lnTo>
                    <a:pt x="446" y="273"/>
                  </a:lnTo>
                  <a:lnTo>
                    <a:pt x="428" y="267"/>
                  </a:lnTo>
                  <a:lnTo>
                    <a:pt x="410" y="260"/>
                  </a:lnTo>
                  <a:lnTo>
                    <a:pt x="386" y="251"/>
                  </a:lnTo>
                  <a:lnTo>
                    <a:pt x="361" y="241"/>
                  </a:lnTo>
                  <a:lnTo>
                    <a:pt x="335" y="232"/>
                  </a:lnTo>
                  <a:lnTo>
                    <a:pt x="311" y="221"/>
                  </a:lnTo>
                  <a:lnTo>
                    <a:pt x="286" y="212"/>
                  </a:lnTo>
                  <a:lnTo>
                    <a:pt x="260" y="202"/>
                  </a:lnTo>
                  <a:lnTo>
                    <a:pt x="234" y="193"/>
                  </a:lnTo>
                  <a:lnTo>
                    <a:pt x="210" y="182"/>
                  </a:lnTo>
                  <a:lnTo>
                    <a:pt x="184" y="172"/>
                  </a:lnTo>
                  <a:lnTo>
                    <a:pt x="159" y="163"/>
                  </a:lnTo>
                  <a:lnTo>
                    <a:pt x="133" y="153"/>
                  </a:lnTo>
                  <a:lnTo>
                    <a:pt x="109" y="142"/>
                  </a:lnTo>
                  <a:lnTo>
                    <a:pt x="84" y="132"/>
                  </a:lnTo>
                  <a:lnTo>
                    <a:pt x="59" y="121"/>
                  </a:lnTo>
                  <a:lnTo>
                    <a:pt x="35" y="111"/>
                  </a:lnTo>
                  <a:lnTo>
                    <a:pt x="10" y="101"/>
                  </a:lnTo>
                  <a:lnTo>
                    <a:pt x="9" y="98"/>
                  </a:lnTo>
                  <a:lnTo>
                    <a:pt x="5" y="92"/>
                  </a:lnTo>
                  <a:lnTo>
                    <a:pt x="1" y="84"/>
                  </a:lnTo>
                  <a:lnTo>
                    <a:pt x="0" y="79"/>
                  </a:lnTo>
                  <a:lnTo>
                    <a:pt x="9" y="83"/>
                  </a:lnTo>
                  <a:lnTo>
                    <a:pt x="19" y="86"/>
                  </a:lnTo>
                  <a:lnTo>
                    <a:pt x="31" y="92"/>
                  </a:lnTo>
                  <a:lnTo>
                    <a:pt x="43" y="96"/>
                  </a:lnTo>
                  <a:lnTo>
                    <a:pt x="54" y="101"/>
                  </a:lnTo>
                  <a:lnTo>
                    <a:pt x="66" y="105"/>
                  </a:lnTo>
                  <a:lnTo>
                    <a:pt x="76" y="110"/>
                  </a:lnTo>
                  <a:lnTo>
                    <a:pt x="85" y="114"/>
                  </a:lnTo>
                  <a:lnTo>
                    <a:pt x="111" y="127"/>
                  </a:lnTo>
                  <a:lnTo>
                    <a:pt x="136" y="137"/>
                  </a:lnTo>
                  <a:lnTo>
                    <a:pt x="158" y="146"/>
                  </a:lnTo>
                  <a:lnTo>
                    <a:pt x="178" y="154"/>
                  </a:lnTo>
                  <a:lnTo>
                    <a:pt x="198" y="160"/>
                  </a:lnTo>
                  <a:lnTo>
                    <a:pt x="215" y="167"/>
                  </a:lnTo>
                  <a:lnTo>
                    <a:pt x="232" y="172"/>
                  </a:lnTo>
                  <a:lnTo>
                    <a:pt x="247" y="177"/>
                  </a:lnTo>
                  <a:lnTo>
                    <a:pt x="264" y="184"/>
                  </a:lnTo>
                  <a:lnTo>
                    <a:pt x="281" y="189"/>
                  </a:lnTo>
                  <a:lnTo>
                    <a:pt x="296" y="195"/>
                  </a:lnTo>
                  <a:lnTo>
                    <a:pt x="313" y="200"/>
                  </a:lnTo>
                  <a:lnTo>
                    <a:pt x="329" y="207"/>
                  </a:lnTo>
                  <a:lnTo>
                    <a:pt x="345" y="213"/>
                  </a:lnTo>
                  <a:lnTo>
                    <a:pt x="361" y="219"/>
                  </a:lnTo>
                  <a:lnTo>
                    <a:pt x="378" y="224"/>
                  </a:lnTo>
                  <a:lnTo>
                    <a:pt x="393" y="230"/>
                  </a:lnTo>
                  <a:lnTo>
                    <a:pt x="410" y="235"/>
                  </a:lnTo>
                  <a:lnTo>
                    <a:pt x="426" y="241"/>
                  </a:lnTo>
                  <a:lnTo>
                    <a:pt x="443" y="246"/>
                  </a:lnTo>
                  <a:lnTo>
                    <a:pt x="458" y="251"/>
                  </a:lnTo>
                  <a:lnTo>
                    <a:pt x="475" y="256"/>
                  </a:lnTo>
                  <a:lnTo>
                    <a:pt x="492" y="260"/>
                  </a:lnTo>
                  <a:lnTo>
                    <a:pt x="509" y="264"/>
                  </a:lnTo>
                  <a:lnTo>
                    <a:pt x="514" y="265"/>
                  </a:lnTo>
                  <a:lnTo>
                    <a:pt x="522" y="267"/>
                  </a:lnTo>
                  <a:lnTo>
                    <a:pt x="531" y="267"/>
                  </a:lnTo>
                  <a:lnTo>
                    <a:pt x="536" y="267"/>
                  </a:lnTo>
                  <a:lnTo>
                    <a:pt x="549" y="264"/>
                  </a:lnTo>
                  <a:lnTo>
                    <a:pt x="560" y="257"/>
                  </a:lnTo>
                  <a:lnTo>
                    <a:pt x="573" y="247"/>
                  </a:lnTo>
                  <a:lnTo>
                    <a:pt x="585" y="234"/>
                  </a:lnTo>
                  <a:lnTo>
                    <a:pt x="597" y="220"/>
                  </a:lnTo>
                  <a:lnTo>
                    <a:pt x="607" y="206"/>
                  </a:lnTo>
                  <a:lnTo>
                    <a:pt x="616" y="194"/>
                  </a:lnTo>
                  <a:lnTo>
                    <a:pt x="622" y="185"/>
                  </a:lnTo>
                  <a:lnTo>
                    <a:pt x="629" y="176"/>
                  </a:lnTo>
                  <a:lnTo>
                    <a:pt x="635" y="171"/>
                  </a:lnTo>
                  <a:lnTo>
                    <a:pt x="638" y="167"/>
                  </a:lnTo>
                  <a:lnTo>
                    <a:pt x="639" y="165"/>
                  </a:lnTo>
                  <a:lnTo>
                    <a:pt x="643" y="162"/>
                  </a:lnTo>
                  <a:lnTo>
                    <a:pt x="651" y="153"/>
                  </a:lnTo>
                  <a:lnTo>
                    <a:pt x="659" y="145"/>
                  </a:lnTo>
                  <a:lnTo>
                    <a:pt x="663" y="141"/>
                  </a:lnTo>
                  <a:lnTo>
                    <a:pt x="676" y="125"/>
                  </a:lnTo>
                  <a:lnTo>
                    <a:pt x="685" y="114"/>
                  </a:lnTo>
                  <a:lnTo>
                    <a:pt x="692" y="101"/>
                  </a:lnTo>
                  <a:lnTo>
                    <a:pt x="700" y="83"/>
                  </a:lnTo>
                  <a:lnTo>
                    <a:pt x="707" y="79"/>
                  </a:lnTo>
                  <a:lnTo>
                    <a:pt x="713" y="72"/>
                  </a:lnTo>
                  <a:lnTo>
                    <a:pt x="720" y="66"/>
                  </a:lnTo>
                  <a:lnTo>
                    <a:pt x="725" y="61"/>
                  </a:lnTo>
                  <a:lnTo>
                    <a:pt x="726" y="58"/>
                  </a:lnTo>
                  <a:lnTo>
                    <a:pt x="730" y="52"/>
                  </a:lnTo>
                  <a:lnTo>
                    <a:pt x="734" y="44"/>
                  </a:lnTo>
                  <a:lnTo>
                    <a:pt x="735" y="40"/>
                  </a:lnTo>
                  <a:lnTo>
                    <a:pt x="738" y="36"/>
                  </a:lnTo>
                  <a:lnTo>
                    <a:pt x="744" y="26"/>
                  </a:lnTo>
                  <a:lnTo>
                    <a:pt x="752" y="11"/>
                  </a:lnTo>
                  <a:lnTo>
                    <a:pt x="758" y="0"/>
                  </a:lnTo>
                  <a:lnTo>
                    <a:pt x="762" y="5"/>
                  </a:lnTo>
                  <a:lnTo>
                    <a:pt x="767" y="11"/>
                  </a:lnTo>
                  <a:lnTo>
                    <a:pt x="773" y="17"/>
                  </a:lnTo>
                  <a:lnTo>
                    <a:pt x="775" y="20"/>
                  </a:lnTo>
                  <a:lnTo>
                    <a:pt x="762" y="40"/>
                  </a:lnTo>
                  <a:lnTo>
                    <a:pt x="749" y="59"/>
                  </a:lnTo>
                  <a:lnTo>
                    <a:pt x="735" y="79"/>
                  </a:lnTo>
                  <a:lnTo>
                    <a:pt x="721" y="98"/>
                  </a:lnTo>
                  <a:lnTo>
                    <a:pt x="707" y="118"/>
                  </a:lnTo>
                  <a:lnTo>
                    <a:pt x="692" y="137"/>
                  </a:lnTo>
                  <a:lnTo>
                    <a:pt x="678" y="156"/>
                  </a:lnTo>
                  <a:lnTo>
                    <a:pt x="663" y="176"/>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 name="Freeform 15"/>
            <p:cNvSpPr>
              <a:spLocks/>
            </p:cNvSpPr>
            <p:nvPr/>
          </p:nvSpPr>
          <p:spPr bwMode="auto">
            <a:xfrm>
              <a:off x="1991" y="2949"/>
              <a:ext cx="237" cy="188"/>
            </a:xfrm>
            <a:custGeom>
              <a:avLst/>
              <a:gdLst>
                <a:gd name="T0" fmla="*/ 197 w 237"/>
                <a:gd name="T1" fmla="*/ 188 h 188"/>
                <a:gd name="T2" fmla="*/ 191 w 237"/>
                <a:gd name="T3" fmla="*/ 179 h 188"/>
                <a:gd name="T4" fmla="*/ 183 w 237"/>
                <a:gd name="T5" fmla="*/ 170 h 188"/>
                <a:gd name="T6" fmla="*/ 175 w 237"/>
                <a:gd name="T7" fmla="*/ 162 h 188"/>
                <a:gd name="T8" fmla="*/ 167 w 237"/>
                <a:gd name="T9" fmla="*/ 153 h 188"/>
                <a:gd name="T10" fmla="*/ 160 w 237"/>
                <a:gd name="T11" fmla="*/ 145 h 188"/>
                <a:gd name="T12" fmla="*/ 152 w 237"/>
                <a:gd name="T13" fmla="*/ 136 h 188"/>
                <a:gd name="T14" fmla="*/ 144 w 237"/>
                <a:gd name="T15" fmla="*/ 128 h 188"/>
                <a:gd name="T16" fmla="*/ 136 w 237"/>
                <a:gd name="T17" fmla="*/ 119 h 188"/>
                <a:gd name="T18" fmla="*/ 123 w 237"/>
                <a:gd name="T19" fmla="*/ 105 h 188"/>
                <a:gd name="T20" fmla="*/ 110 w 237"/>
                <a:gd name="T21" fmla="*/ 95 h 188"/>
                <a:gd name="T22" fmla="*/ 95 w 237"/>
                <a:gd name="T23" fmla="*/ 86 h 188"/>
                <a:gd name="T24" fmla="*/ 78 w 237"/>
                <a:gd name="T25" fmla="*/ 78 h 188"/>
                <a:gd name="T26" fmla="*/ 61 w 237"/>
                <a:gd name="T27" fmla="*/ 73 h 188"/>
                <a:gd name="T28" fmla="*/ 44 w 237"/>
                <a:gd name="T29" fmla="*/ 66 h 188"/>
                <a:gd name="T30" fmla="*/ 28 w 237"/>
                <a:gd name="T31" fmla="*/ 60 h 188"/>
                <a:gd name="T32" fmla="*/ 11 w 237"/>
                <a:gd name="T33" fmla="*/ 53 h 188"/>
                <a:gd name="T34" fmla="*/ 7 w 237"/>
                <a:gd name="T35" fmla="*/ 51 h 188"/>
                <a:gd name="T36" fmla="*/ 4 w 237"/>
                <a:gd name="T37" fmla="*/ 48 h 188"/>
                <a:gd name="T38" fmla="*/ 2 w 237"/>
                <a:gd name="T39" fmla="*/ 45 h 188"/>
                <a:gd name="T40" fmla="*/ 0 w 237"/>
                <a:gd name="T41" fmla="*/ 42 h 188"/>
                <a:gd name="T42" fmla="*/ 0 w 237"/>
                <a:gd name="T43" fmla="*/ 31 h 188"/>
                <a:gd name="T44" fmla="*/ 4 w 237"/>
                <a:gd name="T45" fmla="*/ 21 h 188"/>
                <a:gd name="T46" fmla="*/ 9 w 237"/>
                <a:gd name="T47" fmla="*/ 13 h 188"/>
                <a:gd name="T48" fmla="*/ 20 w 237"/>
                <a:gd name="T49" fmla="*/ 8 h 188"/>
                <a:gd name="T50" fmla="*/ 33 w 237"/>
                <a:gd name="T51" fmla="*/ 4 h 188"/>
                <a:gd name="T52" fmla="*/ 47 w 237"/>
                <a:gd name="T53" fmla="*/ 1 h 188"/>
                <a:gd name="T54" fmla="*/ 61 w 237"/>
                <a:gd name="T55" fmla="*/ 0 h 188"/>
                <a:gd name="T56" fmla="*/ 75 w 237"/>
                <a:gd name="T57" fmla="*/ 1 h 188"/>
                <a:gd name="T58" fmla="*/ 90 w 237"/>
                <a:gd name="T59" fmla="*/ 4 h 188"/>
                <a:gd name="T60" fmla="*/ 103 w 237"/>
                <a:gd name="T61" fmla="*/ 8 h 188"/>
                <a:gd name="T62" fmla="*/ 116 w 237"/>
                <a:gd name="T63" fmla="*/ 13 h 188"/>
                <a:gd name="T64" fmla="*/ 129 w 237"/>
                <a:gd name="T65" fmla="*/ 20 h 188"/>
                <a:gd name="T66" fmla="*/ 145 w 237"/>
                <a:gd name="T67" fmla="*/ 30 h 188"/>
                <a:gd name="T68" fmla="*/ 161 w 237"/>
                <a:gd name="T69" fmla="*/ 42 h 188"/>
                <a:gd name="T70" fmla="*/ 175 w 237"/>
                <a:gd name="T71" fmla="*/ 53 h 188"/>
                <a:gd name="T72" fmla="*/ 188 w 237"/>
                <a:gd name="T73" fmla="*/ 68 h 188"/>
                <a:gd name="T74" fmla="*/ 201 w 237"/>
                <a:gd name="T75" fmla="*/ 82 h 188"/>
                <a:gd name="T76" fmla="*/ 213 w 237"/>
                <a:gd name="T77" fmla="*/ 97 h 188"/>
                <a:gd name="T78" fmla="*/ 226 w 237"/>
                <a:gd name="T79" fmla="*/ 112 h 188"/>
                <a:gd name="T80" fmla="*/ 237 w 237"/>
                <a:gd name="T81" fmla="*/ 127 h 188"/>
                <a:gd name="T82" fmla="*/ 232 w 237"/>
                <a:gd name="T83" fmla="*/ 135 h 188"/>
                <a:gd name="T84" fmla="*/ 227 w 237"/>
                <a:gd name="T85" fmla="*/ 143 h 188"/>
                <a:gd name="T86" fmla="*/ 222 w 237"/>
                <a:gd name="T87" fmla="*/ 150 h 188"/>
                <a:gd name="T88" fmla="*/ 218 w 237"/>
                <a:gd name="T89" fmla="*/ 158 h 188"/>
                <a:gd name="T90" fmla="*/ 213 w 237"/>
                <a:gd name="T91" fmla="*/ 166 h 188"/>
                <a:gd name="T92" fmla="*/ 208 w 237"/>
                <a:gd name="T93" fmla="*/ 174 h 188"/>
                <a:gd name="T94" fmla="*/ 202 w 237"/>
                <a:gd name="T95" fmla="*/ 180 h 188"/>
                <a:gd name="T96" fmla="*/ 197 w 237"/>
                <a:gd name="T97" fmla="*/ 188 h 1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37"/>
                <a:gd name="T148" fmla="*/ 0 h 188"/>
                <a:gd name="T149" fmla="*/ 237 w 237"/>
                <a:gd name="T150" fmla="*/ 188 h 1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37" h="188">
                  <a:moveTo>
                    <a:pt x="197" y="188"/>
                  </a:moveTo>
                  <a:lnTo>
                    <a:pt x="191" y="179"/>
                  </a:lnTo>
                  <a:lnTo>
                    <a:pt x="183" y="170"/>
                  </a:lnTo>
                  <a:lnTo>
                    <a:pt x="175" y="162"/>
                  </a:lnTo>
                  <a:lnTo>
                    <a:pt x="167" y="153"/>
                  </a:lnTo>
                  <a:lnTo>
                    <a:pt x="160" y="145"/>
                  </a:lnTo>
                  <a:lnTo>
                    <a:pt x="152" y="136"/>
                  </a:lnTo>
                  <a:lnTo>
                    <a:pt x="144" y="128"/>
                  </a:lnTo>
                  <a:lnTo>
                    <a:pt x="136" y="119"/>
                  </a:lnTo>
                  <a:lnTo>
                    <a:pt x="123" y="105"/>
                  </a:lnTo>
                  <a:lnTo>
                    <a:pt x="110" y="95"/>
                  </a:lnTo>
                  <a:lnTo>
                    <a:pt x="95" y="86"/>
                  </a:lnTo>
                  <a:lnTo>
                    <a:pt x="78" y="78"/>
                  </a:lnTo>
                  <a:lnTo>
                    <a:pt x="61" y="73"/>
                  </a:lnTo>
                  <a:lnTo>
                    <a:pt x="44" y="66"/>
                  </a:lnTo>
                  <a:lnTo>
                    <a:pt x="28" y="60"/>
                  </a:lnTo>
                  <a:lnTo>
                    <a:pt x="11" y="53"/>
                  </a:lnTo>
                  <a:lnTo>
                    <a:pt x="7" y="51"/>
                  </a:lnTo>
                  <a:lnTo>
                    <a:pt x="4" y="48"/>
                  </a:lnTo>
                  <a:lnTo>
                    <a:pt x="2" y="45"/>
                  </a:lnTo>
                  <a:lnTo>
                    <a:pt x="0" y="42"/>
                  </a:lnTo>
                  <a:lnTo>
                    <a:pt x="0" y="31"/>
                  </a:lnTo>
                  <a:lnTo>
                    <a:pt x="4" y="21"/>
                  </a:lnTo>
                  <a:lnTo>
                    <a:pt x="9" y="13"/>
                  </a:lnTo>
                  <a:lnTo>
                    <a:pt x="20" y="8"/>
                  </a:lnTo>
                  <a:lnTo>
                    <a:pt x="33" y="4"/>
                  </a:lnTo>
                  <a:lnTo>
                    <a:pt x="47" y="1"/>
                  </a:lnTo>
                  <a:lnTo>
                    <a:pt x="61" y="0"/>
                  </a:lnTo>
                  <a:lnTo>
                    <a:pt x="75" y="1"/>
                  </a:lnTo>
                  <a:lnTo>
                    <a:pt x="90" y="4"/>
                  </a:lnTo>
                  <a:lnTo>
                    <a:pt x="103" y="8"/>
                  </a:lnTo>
                  <a:lnTo>
                    <a:pt x="116" y="13"/>
                  </a:lnTo>
                  <a:lnTo>
                    <a:pt x="129" y="20"/>
                  </a:lnTo>
                  <a:lnTo>
                    <a:pt x="145" y="30"/>
                  </a:lnTo>
                  <a:lnTo>
                    <a:pt x="161" y="42"/>
                  </a:lnTo>
                  <a:lnTo>
                    <a:pt x="175" y="53"/>
                  </a:lnTo>
                  <a:lnTo>
                    <a:pt x="188" y="68"/>
                  </a:lnTo>
                  <a:lnTo>
                    <a:pt x="201" y="82"/>
                  </a:lnTo>
                  <a:lnTo>
                    <a:pt x="213" y="97"/>
                  </a:lnTo>
                  <a:lnTo>
                    <a:pt x="226" y="112"/>
                  </a:lnTo>
                  <a:lnTo>
                    <a:pt x="237" y="127"/>
                  </a:lnTo>
                  <a:lnTo>
                    <a:pt x="232" y="135"/>
                  </a:lnTo>
                  <a:lnTo>
                    <a:pt x="227" y="143"/>
                  </a:lnTo>
                  <a:lnTo>
                    <a:pt x="222" y="150"/>
                  </a:lnTo>
                  <a:lnTo>
                    <a:pt x="218" y="158"/>
                  </a:lnTo>
                  <a:lnTo>
                    <a:pt x="213" y="166"/>
                  </a:lnTo>
                  <a:lnTo>
                    <a:pt x="208" y="174"/>
                  </a:lnTo>
                  <a:lnTo>
                    <a:pt x="202" y="180"/>
                  </a:lnTo>
                  <a:lnTo>
                    <a:pt x="197" y="188"/>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 name="Freeform 16"/>
            <p:cNvSpPr>
              <a:spLocks/>
            </p:cNvSpPr>
            <p:nvPr/>
          </p:nvSpPr>
          <p:spPr bwMode="auto">
            <a:xfrm>
              <a:off x="2226" y="2783"/>
              <a:ext cx="164" cy="275"/>
            </a:xfrm>
            <a:custGeom>
              <a:avLst/>
              <a:gdLst>
                <a:gd name="T0" fmla="*/ 160 w 164"/>
                <a:gd name="T1" fmla="*/ 91 h 275"/>
                <a:gd name="T2" fmla="*/ 142 w 164"/>
                <a:gd name="T3" fmla="*/ 112 h 275"/>
                <a:gd name="T4" fmla="*/ 125 w 164"/>
                <a:gd name="T5" fmla="*/ 132 h 275"/>
                <a:gd name="T6" fmla="*/ 108 w 164"/>
                <a:gd name="T7" fmla="*/ 155 h 275"/>
                <a:gd name="T8" fmla="*/ 92 w 164"/>
                <a:gd name="T9" fmla="*/ 175 h 275"/>
                <a:gd name="T10" fmla="*/ 75 w 164"/>
                <a:gd name="T11" fmla="*/ 197 h 275"/>
                <a:gd name="T12" fmla="*/ 58 w 164"/>
                <a:gd name="T13" fmla="*/ 218 h 275"/>
                <a:gd name="T14" fmla="*/ 41 w 164"/>
                <a:gd name="T15" fmla="*/ 240 h 275"/>
                <a:gd name="T16" fmla="*/ 23 w 164"/>
                <a:gd name="T17" fmla="*/ 261 h 275"/>
                <a:gd name="T18" fmla="*/ 19 w 164"/>
                <a:gd name="T19" fmla="*/ 266 h 275"/>
                <a:gd name="T20" fmla="*/ 17 w 164"/>
                <a:gd name="T21" fmla="*/ 267 h 275"/>
                <a:gd name="T22" fmla="*/ 14 w 164"/>
                <a:gd name="T23" fmla="*/ 270 h 275"/>
                <a:gd name="T24" fmla="*/ 10 w 164"/>
                <a:gd name="T25" fmla="*/ 275 h 275"/>
                <a:gd name="T26" fmla="*/ 7 w 164"/>
                <a:gd name="T27" fmla="*/ 270 h 275"/>
                <a:gd name="T28" fmla="*/ 4 w 164"/>
                <a:gd name="T29" fmla="*/ 266 h 275"/>
                <a:gd name="T30" fmla="*/ 1 w 164"/>
                <a:gd name="T31" fmla="*/ 262 h 275"/>
                <a:gd name="T32" fmla="*/ 0 w 164"/>
                <a:gd name="T33" fmla="*/ 261 h 275"/>
                <a:gd name="T34" fmla="*/ 5 w 164"/>
                <a:gd name="T35" fmla="*/ 253 h 275"/>
                <a:gd name="T36" fmla="*/ 10 w 164"/>
                <a:gd name="T37" fmla="*/ 248 h 275"/>
                <a:gd name="T38" fmla="*/ 15 w 164"/>
                <a:gd name="T39" fmla="*/ 241 h 275"/>
                <a:gd name="T40" fmla="*/ 22 w 164"/>
                <a:gd name="T41" fmla="*/ 234 h 275"/>
                <a:gd name="T42" fmla="*/ 23 w 164"/>
                <a:gd name="T43" fmla="*/ 232 h 275"/>
                <a:gd name="T44" fmla="*/ 28 w 164"/>
                <a:gd name="T45" fmla="*/ 230 h 275"/>
                <a:gd name="T46" fmla="*/ 33 w 164"/>
                <a:gd name="T47" fmla="*/ 227 h 275"/>
                <a:gd name="T48" fmla="*/ 40 w 164"/>
                <a:gd name="T49" fmla="*/ 222 h 275"/>
                <a:gd name="T50" fmla="*/ 46 w 164"/>
                <a:gd name="T51" fmla="*/ 215 h 275"/>
                <a:gd name="T52" fmla="*/ 50 w 164"/>
                <a:gd name="T53" fmla="*/ 208 h 275"/>
                <a:gd name="T54" fmla="*/ 53 w 164"/>
                <a:gd name="T55" fmla="*/ 199 h 275"/>
                <a:gd name="T56" fmla="*/ 51 w 164"/>
                <a:gd name="T57" fmla="*/ 188 h 275"/>
                <a:gd name="T58" fmla="*/ 55 w 164"/>
                <a:gd name="T59" fmla="*/ 179 h 275"/>
                <a:gd name="T60" fmla="*/ 66 w 164"/>
                <a:gd name="T61" fmla="*/ 165 h 275"/>
                <a:gd name="T62" fmla="*/ 77 w 164"/>
                <a:gd name="T63" fmla="*/ 149 h 275"/>
                <a:gd name="T64" fmla="*/ 88 w 164"/>
                <a:gd name="T65" fmla="*/ 135 h 275"/>
                <a:gd name="T66" fmla="*/ 92 w 164"/>
                <a:gd name="T67" fmla="*/ 132 h 275"/>
                <a:gd name="T68" fmla="*/ 95 w 164"/>
                <a:gd name="T69" fmla="*/ 130 h 275"/>
                <a:gd name="T70" fmla="*/ 99 w 164"/>
                <a:gd name="T71" fmla="*/ 127 h 275"/>
                <a:gd name="T72" fmla="*/ 102 w 164"/>
                <a:gd name="T73" fmla="*/ 125 h 275"/>
                <a:gd name="T74" fmla="*/ 114 w 164"/>
                <a:gd name="T75" fmla="*/ 112 h 275"/>
                <a:gd name="T76" fmla="*/ 120 w 164"/>
                <a:gd name="T77" fmla="*/ 95 h 275"/>
                <a:gd name="T78" fmla="*/ 120 w 164"/>
                <a:gd name="T79" fmla="*/ 79 h 275"/>
                <a:gd name="T80" fmla="*/ 115 w 164"/>
                <a:gd name="T81" fmla="*/ 63 h 275"/>
                <a:gd name="T82" fmla="*/ 110 w 164"/>
                <a:gd name="T83" fmla="*/ 53 h 275"/>
                <a:gd name="T84" fmla="*/ 102 w 164"/>
                <a:gd name="T85" fmla="*/ 35 h 275"/>
                <a:gd name="T86" fmla="*/ 92 w 164"/>
                <a:gd name="T87" fmla="*/ 16 h 275"/>
                <a:gd name="T88" fmla="*/ 83 w 164"/>
                <a:gd name="T89" fmla="*/ 0 h 275"/>
                <a:gd name="T90" fmla="*/ 90 w 164"/>
                <a:gd name="T91" fmla="*/ 4 h 275"/>
                <a:gd name="T92" fmla="*/ 103 w 164"/>
                <a:gd name="T93" fmla="*/ 11 h 275"/>
                <a:gd name="T94" fmla="*/ 119 w 164"/>
                <a:gd name="T95" fmla="*/ 20 h 275"/>
                <a:gd name="T96" fmla="*/ 134 w 164"/>
                <a:gd name="T97" fmla="*/ 31 h 275"/>
                <a:gd name="T98" fmla="*/ 149 w 164"/>
                <a:gd name="T99" fmla="*/ 44 h 275"/>
                <a:gd name="T100" fmla="*/ 159 w 164"/>
                <a:gd name="T101" fmla="*/ 59 h 275"/>
                <a:gd name="T102" fmla="*/ 164 w 164"/>
                <a:gd name="T103" fmla="*/ 74 h 275"/>
                <a:gd name="T104" fmla="*/ 160 w 164"/>
                <a:gd name="T105" fmla="*/ 91 h 27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4"/>
                <a:gd name="T160" fmla="*/ 0 h 275"/>
                <a:gd name="T161" fmla="*/ 164 w 164"/>
                <a:gd name="T162" fmla="*/ 275 h 275"/>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4" h="275">
                  <a:moveTo>
                    <a:pt x="160" y="91"/>
                  </a:moveTo>
                  <a:lnTo>
                    <a:pt x="142" y="112"/>
                  </a:lnTo>
                  <a:lnTo>
                    <a:pt x="125" y="132"/>
                  </a:lnTo>
                  <a:lnTo>
                    <a:pt x="108" y="155"/>
                  </a:lnTo>
                  <a:lnTo>
                    <a:pt x="92" y="175"/>
                  </a:lnTo>
                  <a:lnTo>
                    <a:pt x="75" y="197"/>
                  </a:lnTo>
                  <a:lnTo>
                    <a:pt x="58" y="218"/>
                  </a:lnTo>
                  <a:lnTo>
                    <a:pt x="41" y="240"/>
                  </a:lnTo>
                  <a:lnTo>
                    <a:pt x="23" y="261"/>
                  </a:lnTo>
                  <a:lnTo>
                    <a:pt x="19" y="266"/>
                  </a:lnTo>
                  <a:lnTo>
                    <a:pt x="17" y="267"/>
                  </a:lnTo>
                  <a:lnTo>
                    <a:pt x="14" y="270"/>
                  </a:lnTo>
                  <a:lnTo>
                    <a:pt x="10" y="275"/>
                  </a:lnTo>
                  <a:lnTo>
                    <a:pt x="7" y="270"/>
                  </a:lnTo>
                  <a:lnTo>
                    <a:pt x="4" y="266"/>
                  </a:lnTo>
                  <a:lnTo>
                    <a:pt x="1" y="262"/>
                  </a:lnTo>
                  <a:lnTo>
                    <a:pt x="0" y="261"/>
                  </a:lnTo>
                  <a:lnTo>
                    <a:pt x="5" y="253"/>
                  </a:lnTo>
                  <a:lnTo>
                    <a:pt x="10" y="248"/>
                  </a:lnTo>
                  <a:lnTo>
                    <a:pt x="15" y="241"/>
                  </a:lnTo>
                  <a:lnTo>
                    <a:pt x="22" y="234"/>
                  </a:lnTo>
                  <a:lnTo>
                    <a:pt x="23" y="232"/>
                  </a:lnTo>
                  <a:lnTo>
                    <a:pt x="28" y="230"/>
                  </a:lnTo>
                  <a:lnTo>
                    <a:pt x="33" y="227"/>
                  </a:lnTo>
                  <a:lnTo>
                    <a:pt x="40" y="222"/>
                  </a:lnTo>
                  <a:lnTo>
                    <a:pt x="46" y="215"/>
                  </a:lnTo>
                  <a:lnTo>
                    <a:pt x="50" y="208"/>
                  </a:lnTo>
                  <a:lnTo>
                    <a:pt x="53" y="199"/>
                  </a:lnTo>
                  <a:lnTo>
                    <a:pt x="51" y="188"/>
                  </a:lnTo>
                  <a:lnTo>
                    <a:pt x="55" y="179"/>
                  </a:lnTo>
                  <a:lnTo>
                    <a:pt x="66" y="165"/>
                  </a:lnTo>
                  <a:lnTo>
                    <a:pt x="77" y="149"/>
                  </a:lnTo>
                  <a:lnTo>
                    <a:pt x="88" y="135"/>
                  </a:lnTo>
                  <a:lnTo>
                    <a:pt x="92" y="132"/>
                  </a:lnTo>
                  <a:lnTo>
                    <a:pt x="95" y="130"/>
                  </a:lnTo>
                  <a:lnTo>
                    <a:pt x="99" y="127"/>
                  </a:lnTo>
                  <a:lnTo>
                    <a:pt x="102" y="125"/>
                  </a:lnTo>
                  <a:lnTo>
                    <a:pt x="114" y="112"/>
                  </a:lnTo>
                  <a:lnTo>
                    <a:pt x="120" y="95"/>
                  </a:lnTo>
                  <a:lnTo>
                    <a:pt x="120" y="79"/>
                  </a:lnTo>
                  <a:lnTo>
                    <a:pt x="115" y="63"/>
                  </a:lnTo>
                  <a:lnTo>
                    <a:pt x="110" y="53"/>
                  </a:lnTo>
                  <a:lnTo>
                    <a:pt x="102" y="35"/>
                  </a:lnTo>
                  <a:lnTo>
                    <a:pt x="92" y="16"/>
                  </a:lnTo>
                  <a:lnTo>
                    <a:pt x="83" y="0"/>
                  </a:lnTo>
                  <a:lnTo>
                    <a:pt x="90" y="4"/>
                  </a:lnTo>
                  <a:lnTo>
                    <a:pt x="103" y="11"/>
                  </a:lnTo>
                  <a:lnTo>
                    <a:pt x="119" y="20"/>
                  </a:lnTo>
                  <a:lnTo>
                    <a:pt x="134" y="31"/>
                  </a:lnTo>
                  <a:lnTo>
                    <a:pt x="149" y="44"/>
                  </a:lnTo>
                  <a:lnTo>
                    <a:pt x="159" y="59"/>
                  </a:lnTo>
                  <a:lnTo>
                    <a:pt x="164" y="74"/>
                  </a:lnTo>
                  <a:lnTo>
                    <a:pt x="160" y="91"/>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 name="Freeform 17"/>
            <p:cNvSpPr>
              <a:spLocks/>
            </p:cNvSpPr>
            <p:nvPr/>
          </p:nvSpPr>
          <p:spPr bwMode="auto">
            <a:xfrm>
              <a:off x="2209" y="2945"/>
              <a:ext cx="57" cy="57"/>
            </a:xfrm>
            <a:custGeom>
              <a:avLst/>
              <a:gdLst>
                <a:gd name="T0" fmla="*/ 0 w 57"/>
                <a:gd name="T1" fmla="*/ 52 h 57"/>
                <a:gd name="T2" fmla="*/ 5 w 57"/>
                <a:gd name="T3" fmla="*/ 44 h 57"/>
                <a:gd name="T4" fmla="*/ 12 w 57"/>
                <a:gd name="T5" fmla="*/ 37 h 57"/>
                <a:gd name="T6" fmla="*/ 18 w 57"/>
                <a:gd name="T7" fmla="*/ 27 h 57"/>
                <a:gd name="T8" fmla="*/ 24 w 57"/>
                <a:gd name="T9" fmla="*/ 20 h 57"/>
                <a:gd name="T10" fmla="*/ 30 w 57"/>
                <a:gd name="T11" fmla="*/ 12 h 57"/>
                <a:gd name="T12" fmla="*/ 35 w 57"/>
                <a:gd name="T13" fmla="*/ 7 h 57"/>
                <a:gd name="T14" fmla="*/ 39 w 57"/>
                <a:gd name="T15" fmla="*/ 2 h 57"/>
                <a:gd name="T16" fmla="*/ 41 w 57"/>
                <a:gd name="T17" fmla="*/ 0 h 57"/>
                <a:gd name="T18" fmla="*/ 46 w 57"/>
                <a:gd name="T19" fmla="*/ 7 h 57"/>
                <a:gd name="T20" fmla="*/ 52 w 57"/>
                <a:gd name="T21" fmla="*/ 16 h 57"/>
                <a:gd name="T22" fmla="*/ 57 w 57"/>
                <a:gd name="T23" fmla="*/ 27 h 57"/>
                <a:gd name="T24" fmla="*/ 57 w 57"/>
                <a:gd name="T25" fmla="*/ 35 h 57"/>
                <a:gd name="T26" fmla="*/ 53 w 57"/>
                <a:gd name="T27" fmla="*/ 43 h 57"/>
                <a:gd name="T28" fmla="*/ 49 w 57"/>
                <a:gd name="T29" fmla="*/ 49 h 57"/>
                <a:gd name="T30" fmla="*/ 43 w 57"/>
                <a:gd name="T31" fmla="*/ 53 h 57"/>
                <a:gd name="T32" fmla="*/ 35 w 57"/>
                <a:gd name="T33" fmla="*/ 56 h 57"/>
                <a:gd name="T34" fmla="*/ 27 w 57"/>
                <a:gd name="T35" fmla="*/ 57 h 57"/>
                <a:gd name="T36" fmla="*/ 18 w 57"/>
                <a:gd name="T37" fmla="*/ 57 h 57"/>
                <a:gd name="T38" fmla="*/ 9 w 57"/>
                <a:gd name="T39" fmla="*/ 55 h 57"/>
                <a:gd name="T40" fmla="*/ 0 w 57"/>
                <a:gd name="T41" fmla="*/ 52 h 5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
                <a:gd name="T64" fmla="*/ 0 h 57"/>
                <a:gd name="T65" fmla="*/ 57 w 57"/>
                <a:gd name="T66" fmla="*/ 57 h 5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 h="57">
                  <a:moveTo>
                    <a:pt x="0" y="52"/>
                  </a:moveTo>
                  <a:lnTo>
                    <a:pt x="5" y="44"/>
                  </a:lnTo>
                  <a:lnTo>
                    <a:pt x="12" y="37"/>
                  </a:lnTo>
                  <a:lnTo>
                    <a:pt x="18" y="27"/>
                  </a:lnTo>
                  <a:lnTo>
                    <a:pt x="24" y="20"/>
                  </a:lnTo>
                  <a:lnTo>
                    <a:pt x="30" y="12"/>
                  </a:lnTo>
                  <a:lnTo>
                    <a:pt x="35" y="7"/>
                  </a:lnTo>
                  <a:lnTo>
                    <a:pt x="39" y="2"/>
                  </a:lnTo>
                  <a:lnTo>
                    <a:pt x="41" y="0"/>
                  </a:lnTo>
                  <a:lnTo>
                    <a:pt x="46" y="7"/>
                  </a:lnTo>
                  <a:lnTo>
                    <a:pt x="52" y="16"/>
                  </a:lnTo>
                  <a:lnTo>
                    <a:pt x="57" y="27"/>
                  </a:lnTo>
                  <a:lnTo>
                    <a:pt x="57" y="35"/>
                  </a:lnTo>
                  <a:lnTo>
                    <a:pt x="53" y="43"/>
                  </a:lnTo>
                  <a:lnTo>
                    <a:pt x="49" y="49"/>
                  </a:lnTo>
                  <a:lnTo>
                    <a:pt x="43" y="53"/>
                  </a:lnTo>
                  <a:lnTo>
                    <a:pt x="35" y="56"/>
                  </a:lnTo>
                  <a:lnTo>
                    <a:pt x="27" y="57"/>
                  </a:lnTo>
                  <a:lnTo>
                    <a:pt x="18" y="57"/>
                  </a:lnTo>
                  <a:lnTo>
                    <a:pt x="9" y="55"/>
                  </a:lnTo>
                  <a:lnTo>
                    <a:pt x="0" y="5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 name="Freeform 18"/>
            <p:cNvSpPr>
              <a:spLocks/>
            </p:cNvSpPr>
            <p:nvPr/>
          </p:nvSpPr>
          <p:spPr bwMode="auto">
            <a:xfrm>
              <a:off x="2034" y="2963"/>
              <a:ext cx="51" cy="41"/>
            </a:xfrm>
            <a:custGeom>
              <a:avLst/>
              <a:gdLst>
                <a:gd name="T0" fmla="*/ 26 w 51"/>
                <a:gd name="T1" fmla="*/ 0 h 41"/>
                <a:gd name="T2" fmla="*/ 16 w 51"/>
                <a:gd name="T3" fmla="*/ 2 h 41"/>
                <a:gd name="T4" fmla="*/ 8 w 51"/>
                <a:gd name="T5" fmla="*/ 7 h 41"/>
                <a:gd name="T6" fmla="*/ 3 w 51"/>
                <a:gd name="T7" fmla="*/ 13 h 41"/>
                <a:gd name="T8" fmla="*/ 0 w 51"/>
                <a:gd name="T9" fmla="*/ 21 h 41"/>
                <a:gd name="T10" fmla="*/ 3 w 51"/>
                <a:gd name="T11" fmla="*/ 29 h 41"/>
                <a:gd name="T12" fmla="*/ 8 w 51"/>
                <a:gd name="T13" fmla="*/ 34 h 41"/>
                <a:gd name="T14" fmla="*/ 16 w 51"/>
                <a:gd name="T15" fmla="*/ 39 h 41"/>
                <a:gd name="T16" fmla="*/ 26 w 51"/>
                <a:gd name="T17" fmla="*/ 41 h 41"/>
                <a:gd name="T18" fmla="*/ 35 w 51"/>
                <a:gd name="T19" fmla="*/ 39 h 41"/>
                <a:gd name="T20" fmla="*/ 43 w 51"/>
                <a:gd name="T21" fmla="*/ 34 h 41"/>
                <a:gd name="T22" fmla="*/ 48 w 51"/>
                <a:gd name="T23" fmla="*/ 29 h 41"/>
                <a:gd name="T24" fmla="*/ 51 w 51"/>
                <a:gd name="T25" fmla="*/ 21 h 41"/>
                <a:gd name="T26" fmla="*/ 48 w 51"/>
                <a:gd name="T27" fmla="*/ 13 h 41"/>
                <a:gd name="T28" fmla="*/ 43 w 51"/>
                <a:gd name="T29" fmla="*/ 7 h 41"/>
                <a:gd name="T30" fmla="*/ 35 w 51"/>
                <a:gd name="T31" fmla="*/ 2 h 41"/>
                <a:gd name="T32" fmla="*/ 26 w 51"/>
                <a:gd name="T33" fmla="*/ 0 h 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1"/>
                <a:gd name="T52" fmla="*/ 0 h 41"/>
                <a:gd name="T53" fmla="*/ 51 w 51"/>
                <a:gd name="T54" fmla="*/ 41 h 4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1" h="41">
                  <a:moveTo>
                    <a:pt x="26" y="0"/>
                  </a:moveTo>
                  <a:lnTo>
                    <a:pt x="16" y="2"/>
                  </a:lnTo>
                  <a:lnTo>
                    <a:pt x="8" y="7"/>
                  </a:lnTo>
                  <a:lnTo>
                    <a:pt x="3" y="13"/>
                  </a:lnTo>
                  <a:lnTo>
                    <a:pt x="0" y="21"/>
                  </a:lnTo>
                  <a:lnTo>
                    <a:pt x="3" y="29"/>
                  </a:lnTo>
                  <a:lnTo>
                    <a:pt x="8" y="34"/>
                  </a:lnTo>
                  <a:lnTo>
                    <a:pt x="16" y="39"/>
                  </a:lnTo>
                  <a:lnTo>
                    <a:pt x="26" y="41"/>
                  </a:lnTo>
                  <a:lnTo>
                    <a:pt x="35" y="39"/>
                  </a:lnTo>
                  <a:lnTo>
                    <a:pt x="43" y="34"/>
                  </a:lnTo>
                  <a:lnTo>
                    <a:pt x="48" y="29"/>
                  </a:lnTo>
                  <a:lnTo>
                    <a:pt x="51" y="21"/>
                  </a:lnTo>
                  <a:lnTo>
                    <a:pt x="48" y="13"/>
                  </a:lnTo>
                  <a:lnTo>
                    <a:pt x="43" y="7"/>
                  </a:lnTo>
                  <a:lnTo>
                    <a:pt x="35" y="2"/>
                  </a:lnTo>
                  <a:lnTo>
                    <a:pt x="2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 name="Rounded Rectangle 1"/>
          <p:cNvSpPr/>
          <p:nvPr/>
        </p:nvSpPr>
        <p:spPr bwMode="auto">
          <a:xfrm>
            <a:off x="2125231" y="2201034"/>
            <a:ext cx="5493664" cy="592270"/>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1563199878"/>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|EOS~024|</a:t>
            </a:r>
            <a:endParaRPr lang="en-US" sz="100" dirty="0" err="1" smtClean="0">
              <a:solidFill>
                <a:srgbClr val="FFFFFF"/>
              </a:solidFill>
              <a:latin typeface="Arial"/>
              <a:cs typeface="Calibri" pitchFamily="34" charset="0"/>
            </a:endParaRPr>
          </a:p>
        </p:txBody>
      </p:sp>
      <p:pic>
        <p:nvPicPr>
          <p:cNvPr id="4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4842" y="4895930"/>
            <a:ext cx="7078663" cy="1555558"/>
          </a:xfrm>
          <a:prstGeom prst="rect">
            <a:avLst/>
          </a:prstGeom>
          <a:noFill/>
          <a:ln w="9525" algn="ctr">
            <a:solidFill>
              <a:schemeClr val="bg1"/>
            </a:solidFill>
            <a:miter lim="800000"/>
            <a:headEnd/>
            <a:tailEnd/>
          </a:ln>
          <a:effectLst>
            <a:glow rad="101600">
              <a:schemeClr val="accent4">
                <a:satMod val="175000"/>
                <a:alpha val="40000"/>
              </a:schemeClr>
            </a:glow>
            <a:outerShdw blurRad="50800" dist="38100" dir="5400000" algn="t"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202" y="939673"/>
            <a:ext cx="7452468" cy="319391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dirty="0" smtClean="0"/>
              <a:t>Accessing ContactManager from ClaimCenter</a:t>
            </a:r>
            <a:endParaRPr lang="en-US" dirty="0"/>
          </a:p>
        </p:txBody>
      </p:sp>
      <p:sp>
        <p:nvSpPr>
          <p:cNvPr id="3" name="Rounded Rectangle 2"/>
          <p:cNvSpPr/>
          <p:nvPr/>
        </p:nvSpPr>
        <p:spPr bwMode="auto">
          <a:xfrm>
            <a:off x="2467627" y="1901166"/>
            <a:ext cx="1766170" cy="414395"/>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24" name="Picture 17" descr="claimcenter.png"/>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5795" y="2108364"/>
            <a:ext cx="1019219" cy="1019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 name="Group 24"/>
          <p:cNvGrpSpPr/>
          <p:nvPr/>
        </p:nvGrpSpPr>
        <p:grpSpPr>
          <a:xfrm>
            <a:off x="5925709" y="4884226"/>
            <a:ext cx="1136650" cy="1066800"/>
            <a:chOff x="6781800" y="1524000"/>
            <a:chExt cx="1136650" cy="1066800"/>
          </a:xfrm>
        </p:grpSpPr>
        <p:pic>
          <p:nvPicPr>
            <p:cNvPr id="2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2379" y="1524000"/>
              <a:ext cx="994672" cy="993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27" name="Content Placeholder 5"/>
            <p:cNvSpPr txBox="1">
              <a:spLocks/>
            </p:cNvSpPr>
            <p:nvPr/>
          </p:nvSpPr>
          <p:spPr bwMode="auto">
            <a:xfrm>
              <a:off x="6781800" y="2300287"/>
              <a:ext cx="1136650" cy="290513"/>
            </a:xfrm>
            <a:prstGeom prst="rect">
              <a:avLst/>
            </a:prstGeom>
            <a:noFill/>
            <a:ln w="9525">
              <a:noFill/>
              <a:miter lim="800000"/>
              <a:headEnd/>
              <a:tailEnd/>
            </a:ln>
          </p:spPr>
          <p:txBody>
            <a:bodyPr lIns="0" tIns="0" rIns="0" bIns="0"/>
            <a:lstStyle/>
            <a:p>
              <a:pPr marL="457200" indent="-457200" algn="ctr" eaLnBrk="0" hangingPunct="0">
                <a:spcBef>
                  <a:spcPct val="40000"/>
                </a:spcBef>
                <a:buClr>
                  <a:srgbClr val="04628C"/>
                </a:buClr>
                <a:buSzPct val="90000"/>
                <a:buFont typeface="Arial" pitchFamily="34" charset="0"/>
                <a:buNone/>
                <a:defRPr/>
              </a:pPr>
              <a:r>
                <a:rPr lang="en-US" sz="1100" kern="0" dirty="0">
                  <a:solidFill>
                    <a:schemeClr val="tx1"/>
                  </a:solidFill>
                  <a:latin typeface="Arial Narrow" pitchFamily="34" charset="0"/>
                  <a:cs typeface="+mn-cs"/>
                </a:rPr>
                <a:t>ContactManager</a:t>
              </a:r>
            </a:p>
          </p:txBody>
        </p:sp>
      </p:grpSp>
      <p:grpSp>
        <p:nvGrpSpPr>
          <p:cNvPr id="28" name="Group 4"/>
          <p:cNvGrpSpPr>
            <a:grpSpLocks/>
          </p:cNvGrpSpPr>
          <p:nvPr/>
        </p:nvGrpSpPr>
        <p:grpSpPr bwMode="auto">
          <a:xfrm>
            <a:off x="5594017" y="4275934"/>
            <a:ext cx="1109663" cy="969963"/>
            <a:chOff x="1305" y="2500"/>
            <a:chExt cx="1138" cy="995"/>
          </a:xfrm>
        </p:grpSpPr>
        <p:sp>
          <p:nvSpPr>
            <p:cNvPr id="29" name="Freeform 5"/>
            <p:cNvSpPr>
              <a:spLocks/>
            </p:cNvSpPr>
            <p:nvPr/>
          </p:nvSpPr>
          <p:spPr bwMode="auto">
            <a:xfrm>
              <a:off x="1305" y="2500"/>
              <a:ext cx="1138" cy="995"/>
            </a:xfrm>
            <a:custGeom>
              <a:avLst/>
              <a:gdLst>
                <a:gd name="T0" fmla="*/ 444 w 1138"/>
                <a:gd name="T1" fmla="*/ 1 h 995"/>
                <a:gd name="T2" fmla="*/ 490 w 1138"/>
                <a:gd name="T3" fmla="*/ 0 h 995"/>
                <a:gd name="T4" fmla="*/ 532 w 1138"/>
                <a:gd name="T5" fmla="*/ 10 h 995"/>
                <a:gd name="T6" fmla="*/ 600 w 1138"/>
                <a:gd name="T7" fmla="*/ 40 h 995"/>
                <a:gd name="T8" fmla="*/ 668 w 1138"/>
                <a:gd name="T9" fmla="*/ 66 h 995"/>
                <a:gd name="T10" fmla="*/ 737 w 1138"/>
                <a:gd name="T11" fmla="*/ 85 h 995"/>
                <a:gd name="T12" fmla="*/ 808 w 1138"/>
                <a:gd name="T13" fmla="*/ 101 h 995"/>
                <a:gd name="T14" fmla="*/ 882 w 1138"/>
                <a:gd name="T15" fmla="*/ 111 h 995"/>
                <a:gd name="T16" fmla="*/ 953 w 1138"/>
                <a:gd name="T17" fmla="*/ 125 h 995"/>
                <a:gd name="T18" fmla="*/ 1011 w 1138"/>
                <a:gd name="T19" fmla="*/ 163 h 995"/>
                <a:gd name="T20" fmla="*/ 1036 w 1138"/>
                <a:gd name="T21" fmla="*/ 228 h 995"/>
                <a:gd name="T22" fmla="*/ 1082 w 1138"/>
                <a:gd name="T23" fmla="*/ 252 h 995"/>
                <a:gd name="T24" fmla="*/ 1120 w 1138"/>
                <a:gd name="T25" fmla="*/ 287 h 995"/>
                <a:gd name="T26" fmla="*/ 1137 w 1138"/>
                <a:gd name="T27" fmla="*/ 342 h 995"/>
                <a:gd name="T28" fmla="*/ 1134 w 1138"/>
                <a:gd name="T29" fmla="*/ 405 h 995"/>
                <a:gd name="T30" fmla="*/ 1111 w 1138"/>
                <a:gd name="T31" fmla="*/ 463 h 995"/>
                <a:gd name="T32" fmla="*/ 1068 w 1138"/>
                <a:gd name="T33" fmla="*/ 515 h 995"/>
                <a:gd name="T34" fmla="*/ 1026 w 1138"/>
                <a:gd name="T35" fmla="*/ 568 h 995"/>
                <a:gd name="T36" fmla="*/ 984 w 1138"/>
                <a:gd name="T37" fmla="*/ 627 h 995"/>
                <a:gd name="T38" fmla="*/ 965 w 1138"/>
                <a:gd name="T39" fmla="*/ 646 h 995"/>
                <a:gd name="T40" fmla="*/ 947 w 1138"/>
                <a:gd name="T41" fmla="*/ 664 h 995"/>
                <a:gd name="T42" fmla="*/ 918 w 1138"/>
                <a:gd name="T43" fmla="*/ 712 h 995"/>
                <a:gd name="T44" fmla="*/ 864 w 1138"/>
                <a:gd name="T45" fmla="*/ 796 h 995"/>
                <a:gd name="T46" fmla="*/ 802 w 1138"/>
                <a:gd name="T47" fmla="*/ 881 h 995"/>
                <a:gd name="T48" fmla="*/ 763 w 1138"/>
                <a:gd name="T49" fmla="*/ 927 h 995"/>
                <a:gd name="T50" fmla="*/ 741 w 1138"/>
                <a:gd name="T51" fmla="*/ 950 h 995"/>
                <a:gd name="T52" fmla="*/ 715 w 1138"/>
                <a:gd name="T53" fmla="*/ 963 h 995"/>
                <a:gd name="T54" fmla="*/ 670 w 1138"/>
                <a:gd name="T55" fmla="*/ 975 h 995"/>
                <a:gd name="T56" fmla="*/ 627 w 1138"/>
                <a:gd name="T57" fmla="*/ 985 h 995"/>
                <a:gd name="T58" fmla="*/ 584 w 1138"/>
                <a:gd name="T59" fmla="*/ 993 h 995"/>
                <a:gd name="T60" fmla="*/ 543 w 1138"/>
                <a:gd name="T61" fmla="*/ 995 h 995"/>
                <a:gd name="T62" fmla="*/ 500 w 1138"/>
                <a:gd name="T63" fmla="*/ 988 h 995"/>
                <a:gd name="T64" fmla="*/ 464 w 1138"/>
                <a:gd name="T65" fmla="*/ 975 h 995"/>
                <a:gd name="T66" fmla="*/ 421 w 1138"/>
                <a:gd name="T67" fmla="*/ 953 h 995"/>
                <a:gd name="T68" fmla="*/ 369 w 1138"/>
                <a:gd name="T69" fmla="*/ 925 h 995"/>
                <a:gd name="T70" fmla="*/ 317 w 1138"/>
                <a:gd name="T71" fmla="*/ 899 h 995"/>
                <a:gd name="T72" fmla="*/ 275 w 1138"/>
                <a:gd name="T73" fmla="*/ 878 h 995"/>
                <a:gd name="T74" fmla="*/ 219 w 1138"/>
                <a:gd name="T75" fmla="*/ 861 h 995"/>
                <a:gd name="T76" fmla="*/ 151 w 1138"/>
                <a:gd name="T77" fmla="*/ 851 h 995"/>
                <a:gd name="T78" fmla="*/ 86 w 1138"/>
                <a:gd name="T79" fmla="*/ 827 h 995"/>
                <a:gd name="T80" fmla="*/ 18 w 1138"/>
                <a:gd name="T81" fmla="*/ 764 h 995"/>
                <a:gd name="T82" fmla="*/ 0 w 1138"/>
                <a:gd name="T83" fmla="*/ 678 h 995"/>
                <a:gd name="T84" fmla="*/ 15 w 1138"/>
                <a:gd name="T85" fmla="*/ 590 h 995"/>
                <a:gd name="T86" fmla="*/ 52 w 1138"/>
                <a:gd name="T87" fmla="*/ 520 h 995"/>
                <a:gd name="T88" fmla="*/ 110 w 1138"/>
                <a:gd name="T89" fmla="*/ 462 h 995"/>
                <a:gd name="T90" fmla="*/ 166 w 1138"/>
                <a:gd name="T91" fmla="*/ 392 h 995"/>
                <a:gd name="T92" fmla="*/ 217 w 1138"/>
                <a:gd name="T93" fmla="*/ 316 h 995"/>
                <a:gd name="T94" fmla="*/ 263 w 1138"/>
                <a:gd name="T95" fmla="*/ 239 h 995"/>
                <a:gd name="T96" fmla="*/ 308 w 1138"/>
                <a:gd name="T97" fmla="*/ 156 h 995"/>
                <a:gd name="T98" fmla="*/ 365 w 1138"/>
                <a:gd name="T99" fmla="*/ 58 h 995"/>
                <a:gd name="T100" fmla="*/ 413 w 1138"/>
                <a:gd name="T101" fmla="*/ 5 h 99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38"/>
                <a:gd name="T154" fmla="*/ 0 h 995"/>
                <a:gd name="T155" fmla="*/ 1138 w 1138"/>
                <a:gd name="T156" fmla="*/ 995 h 99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38" h="995">
                  <a:moveTo>
                    <a:pt x="413" y="5"/>
                  </a:moveTo>
                  <a:lnTo>
                    <a:pt x="429" y="2"/>
                  </a:lnTo>
                  <a:lnTo>
                    <a:pt x="444" y="1"/>
                  </a:lnTo>
                  <a:lnTo>
                    <a:pt x="460" y="0"/>
                  </a:lnTo>
                  <a:lnTo>
                    <a:pt x="475" y="0"/>
                  </a:lnTo>
                  <a:lnTo>
                    <a:pt x="490" y="0"/>
                  </a:lnTo>
                  <a:lnTo>
                    <a:pt x="504" y="2"/>
                  </a:lnTo>
                  <a:lnTo>
                    <a:pt x="518" y="5"/>
                  </a:lnTo>
                  <a:lnTo>
                    <a:pt x="532" y="10"/>
                  </a:lnTo>
                  <a:lnTo>
                    <a:pt x="554" y="20"/>
                  </a:lnTo>
                  <a:lnTo>
                    <a:pt x="578" y="31"/>
                  </a:lnTo>
                  <a:lnTo>
                    <a:pt x="600" y="40"/>
                  </a:lnTo>
                  <a:lnTo>
                    <a:pt x="623" y="49"/>
                  </a:lnTo>
                  <a:lnTo>
                    <a:pt x="645" y="57"/>
                  </a:lnTo>
                  <a:lnTo>
                    <a:pt x="668" y="66"/>
                  </a:lnTo>
                  <a:lnTo>
                    <a:pt x="692" y="72"/>
                  </a:lnTo>
                  <a:lnTo>
                    <a:pt x="714" y="79"/>
                  </a:lnTo>
                  <a:lnTo>
                    <a:pt x="737" y="85"/>
                  </a:lnTo>
                  <a:lnTo>
                    <a:pt x="760" y="92"/>
                  </a:lnTo>
                  <a:lnTo>
                    <a:pt x="785" y="97"/>
                  </a:lnTo>
                  <a:lnTo>
                    <a:pt x="808" y="101"/>
                  </a:lnTo>
                  <a:lnTo>
                    <a:pt x="833" y="105"/>
                  </a:lnTo>
                  <a:lnTo>
                    <a:pt x="857" y="108"/>
                  </a:lnTo>
                  <a:lnTo>
                    <a:pt x="882" y="111"/>
                  </a:lnTo>
                  <a:lnTo>
                    <a:pt x="906" y="114"/>
                  </a:lnTo>
                  <a:lnTo>
                    <a:pt x="930" y="119"/>
                  </a:lnTo>
                  <a:lnTo>
                    <a:pt x="953" y="125"/>
                  </a:lnTo>
                  <a:lnTo>
                    <a:pt x="975" y="136"/>
                  </a:lnTo>
                  <a:lnTo>
                    <a:pt x="994" y="147"/>
                  </a:lnTo>
                  <a:lnTo>
                    <a:pt x="1011" y="163"/>
                  </a:lnTo>
                  <a:lnTo>
                    <a:pt x="1024" y="181"/>
                  </a:lnTo>
                  <a:lnTo>
                    <a:pt x="1033" y="202"/>
                  </a:lnTo>
                  <a:lnTo>
                    <a:pt x="1036" y="228"/>
                  </a:lnTo>
                  <a:lnTo>
                    <a:pt x="1051" y="235"/>
                  </a:lnTo>
                  <a:lnTo>
                    <a:pt x="1067" y="243"/>
                  </a:lnTo>
                  <a:lnTo>
                    <a:pt x="1082" y="252"/>
                  </a:lnTo>
                  <a:lnTo>
                    <a:pt x="1097" y="263"/>
                  </a:lnTo>
                  <a:lnTo>
                    <a:pt x="1110" y="274"/>
                  </a:lnTo>
                  <a:lnTo>
                    <a:pt x="1120" y="287"/>
                  </a:lnTo>
                  <a:lnTo>
                    <a:pt x="1129" y="303"/>
                  </a:lnTo>
                  <a:lnTo>
                    <a:pt x="1134" y="321"/>
                  </a:lnTo>
                  <a:lnTo>
                    <a:pt x="1137" y="342"/>
                  </a:lnTo>
                  <a:lnTo>
                    <a:pt x="1138" y="364"/>
                  </a:lnTo>
                  <a:lnTo>
                    <a:pt x="1137" y="384"/>
                  </a:lnTo>
                  <a:lnTo>
                    <a:pt x="1134" y="405"/>
                  </a:lnTo>
                  <a:lnTo>
                    <a:pt x="1128" y="426"/>
                  </a:lnTo>
                  <a:lnTo>
                    <a:pt x="1120" y="445"/>
                  </a:lnTo>
                  <a:lnTo>
                    <a:pt x="1111" y="463"/>
                  </a:lnTo>
                  <a:lnTo>
                    <a:pt x="1098" y="482"/>
                  </a:lnTo>
                  <a:lnTo>
                    <a:pt x="1082" y="498"/>
                  </a:lnTo>
                  <a:lnTo>
                    <a:pt x="1068" y="515"/>
                  </a:lnTo>
                  <a:lnTo>
                    <a:pt x="1053" y="533"/>
                  </a:lnTo>
                  <a:lnTo>
                    <a:pt x="1040" y="550"/>
                  </a:lnTo>
                  <a:lnTo>
                    <a:pt x="1026" y="568"/>
                  </a:lnTo>
                  <a:lnTo>
                    <a:pt x="1011" y="586"/>
                  </a:lnTo>
                  <a:lnTo>
                    <a:pt x="998" y="606"/>
                  </a:lnTo>
                  <a:lnTo>
                    <a:pt x="984" y="627"/>
                  </a:lnTo>
                  <a:lnTo>
                    <a:pt x="978" y="634"/>
                  </a:lnTo>
                  <a:lnTo>
                    <a:pt x="971" y="641"/>
                  </a:lnTo>
                  <a:lnTo>
                    <a:pt x="965" y="646"/>
                  </a:lnTo>
                  <a:lnTo>
                    <a:pt x="960" y="653"/>
                  </a:lnTo>
                  <a:lnTo>
                    <a:pt x="953" y="659"/>
                  </a:lnTo>
                  <a:lnTo>
                    <a:pt x="947" y="664"/>
                  </a:lnTo>
                  <a:lnTo>
                    <a:pt x="941" y="671"/>
                  </a:lnTo>
                  <a:lnTo>
                    <a:pt x="938" y="678"/>
                  </a:lnTo>
                  <a:lnTo>
                    <a:pt x="918" y="712"/>
                  </a:lnTo>
                  <a:lnTo>
                    <a:pt x="900" y="742"/>
                  </a:lnTo>
                  <a:lnTo>
                    <a:pt x="882" y="770"/>
                  </a:lnTo>
                  <a:lnTo>
                    <a:pt x="864" y="796"/>
                  </a:lnTo>
                  <a:lnTo>
                    <a:pt x="844" y="824"/>
                  </a:lnTo>
                  <a:lnTo>
                    <a:pt x="824" y="851"/>
                  </a:lnTo>
                  <a:lnTo>
                    <a:pt x="802" y="881"/>
                  </a:lnTo>
                  <a:lnTo>
                    <a:pt x="777" y="912"/>
                  </a:lnTo>
                  <a:lnTo>
                    <a:pt x="769" y="919"/>
                  </a:lnTo>
                  <a:lnTo>
                    <a:pt x="763" y="927"/>
                  </a:lnTo>
                  <a:lnTo>
                    <a:pt x="755" y="936"/>
                  </a:lnTo>
                  <a:lnTo>
                    <a:pt x="749" y="943"/>
                  </a:lnTo>
                  <a:lnTo>
                    <a:pt x="741" y="950"/>
                  </a:lnTo>
                  <a:lnTo>
                    <a:pt x="733" y="956"/>
                  </a:lnTo>
                  <a:lnTo>
                    <a:pt x="724" y="961"/>
                  </a:lnTo>
                  <a:lnTo>
                    <a:pt x="715" y="963"/>
                  </a:lnTo>
                  <a:lnTo>
                    <a:pt x="699" y="967"/>
                  </a:lnTo>
                  <a:lnTo>
                    <a:pt x="684" y="971"/>
                  </a:lnTo>
                  <a:lnTo>
                    <a:pt x="670" y="975"/>
                  </a:lnTo>
                  <a:lnTo>
                    <a:pt x="655" y="979"/>
                  </a:lnTo>
                  <a:lnTo>
                    <a:pt x="641" y="983"/>
                  </a:lnTo>
                  <a:lnTo>
                    <a:pt x="627" y="985"/>
                  </a:lnTo>
                  <a:lnTo>
                    <a:pt x="613" y="989"/>
                  </a:lnTo>
                  <a:lnTo>
                    <a:pt x="598" y="991"/>
                  </a:lnTo>
                  <a:lnTo>
                    <a:pt x="584" y="993"/>
                  </a:lnTo>
                  <a:lnTo>
                    <a:pt x="570" y="995"/>
                  </a:lnTo>
                  <a:lnTo>
                    <a:pt x="557" y="995"/>
                  </a:lnTo>
                  <a:lnTo>
                    <a:pt x="543" y="995"/>
                  </a:lnTo>
                  <a:lnTo>
                    <a:pt x="528" y="993"/>
                  </a:lnTo>
                  <a:lnTo>
                    <a:pt x="514" y="992"/>
                  </a:lnTo>
                  <a:lnTo>
                    <a:pt x="500" y="988"/>
                  </a:lnTo>
                  <a:lnTo>
                    <a:pt x="486" y="984"/>
                  </a:lnTo>
                  <a:lnTo>
                    <a:pt x="475" y="980"/>
                  </a:lnTo>
                  <a:lnTo>
                    <a:pt x="464" y="975"/>
                  </a:lnTo>
                  <a:lnTo>
                    <a:pt x="451" y="969"/>
                  </a:lnTo>
                  <a:lnTo>
                    <a:pt x="437" y="961"/>
                  </a:lnTo>
                  <a:lnTo>
                    <a:pt x="421" y="953"/>
                  </a:lnTo>
                  <a:lnTo>
                    <a:pt x="404" y="944"/>
                  </a:lnTo>
                  <a:lnTo>
                    <a:pt x="386" y="935"/>
                  </a:lnTo>
                  <a:lnTo>
                    <a:pt x="369" y="925"/>
                  </a:lnTo>
                  <a:lnTo>
                    <a:pt x="352" y="915"/>
                  </a:lnTo>
                  <a:lnTo>
                    <a:pt x="334" y="906"/>
                  </a:lnTo>
                  <a:lnTo>
                    <a:pt x="317" y="899"/>
                  </a:lnTo>
                  <a:lnTo>
                    <a:pt x="302" y="890"/>
                  </a:lnTo>
                  <a:lnTo>
                    <a:pt x="288" y="883"/>
                  </a:lnTo>
                  <a:lnTo>
                    <a:pt x="275" y="878"/>
                  </a:lnTo>
                  <a:lnTo>
                    <a:pt x="263" y="873"/>
                  </a:lnTo>
                  <a:lnTo>
                    <a:pt x="253" y="870"/>
                  </a:lnTo>
                  <a:lnTo>
                    <a:pt x="219" y="861"/>
                  </a:lnTo>
                  <a:lnTo>
                    <a:pt x="193" y="856"/>
                  </a:lnTo>
                  <a:lnTo>
                    <a:pt x="170" y="853"/>
                  </a:lnTo>
                  <a:lnTo>
                    <a:pt x="151" y="851"/>
                  </a:lnTo>
                  <a:lnTo>
                    <a:pt x="131" y="847"/>
                  </a:lnTo>
                  <a:lnTo>
                    <a:pt x="110" y="839"/>
                  </a:lnTo>
                  <a:lnTo>
                    <a:pt x="86" y="827"/>
                  </a:lnTo>
                  <a:lnTo>
                    <a:pt x="56" y="808"/>
                  </a:lnTo>
                  <a:lnTo>
                    <a:pt x="34" y="789"/>
                  </a:lnTo>
                  <a:lnTo>
                    <a:pt x="18" y="764"/>
                  </a:lnTo>
                  <a:lnTo>
                    <a:pt x="8" y="738"/>
                  </a:lnTo>
                  <a:lnTo>
                    <a:pt x="3" y="708"/>
                  </a:lnTo>
                  <a:lnTo>
                    <a:pt x="0" y="678"/>
                  </a:lnTo>
                  <a:lnTo>
                    <a:pt x="3" y="649"/>
                  </a:lnTo>
                  <a:lnTo>
                    <a:pt x="8" y="619"/>
                  </a:lnTo>
                  <a:lnTo>
                    <a:pt x="15" y="590"/>
                  </a:lnTo>
                  <a:lnTo>
                    <a:pt x="22" y="564"/>
                  </a:lnTo>
                  <a:lnTo>
                    <a:pt x="35" y="541"/>
                  </a:lnTo>
                  <a:lnTo>
                    <a:pt x="52" y="520"/>
                  </a:lnTo>
                  <a:lnTo>
                    <a:pt x="70" y="501"/>
                  </a:lnTo>
                  <a:lnTo>
                    <a:pt x="90" y="482"/>
                  </a:lnTo>
                  <a:lnTo>
                    <a:pt x="110" y="462"/>
                  </a:lnTo>
                  <a:lnTo>
                    <a:pt x="131" y="441"/>
                  </a:lnTo>
                  <a:lnTo>
                    <a:pt x="149" y="419"/>
                  </a:lnTo>
                  <a:lnTo>
                    <a:pt x="166" y="392"/>
                  </a:lnTo>
                  <a:lnTo>
                    <a:pt x="183" y="366"/>
                  </a:lnTo>
                  <a:lnTo>
                    <a:pt x="200" y="342"/>
                  </a:lnTo>
                  <a:lnTo>
                    <a:pt x="217" y="316"/>
                  </a:lnTo>
                  <a:lnTo>
                    <a:pt x="232" y="290"/>
                  </a:lnTo>
                  <a:lnTo>
                    <a:pt x="248" y="265"/>
                  </a:lnTo>
                  <a:lnTo>
                    <a:pt x="263" y="239"/>
                  </a:lnTo>
                  <a:lnTo>
                    <a:pt x="279" y="212"/>
                  </a:lnTo>
                  <a:lnTo>
                    <a:pt x="292" y="187"/>
                  </a:lnTo>
                  <a:lnTo>
                    <a:pt x="308" y="156"/>
                  </a:lnTo>
                  <a:lnTo>
                    <a:pt x="327" y="123"/>
                  </a:lnTo>
                  <a:lnTo>
                    <a:pt x="346" y="89"/>
                  </a:lnTo>
                  <a:lnTo>
                    <a:pt x="365" y="58"/>
                  </a:lnTo>
                  <a:lnTo>
                    <a:pt x="384" y="31"/>
                  </a:lnTo>
                  <a:lnTo>
                    <a:pt x="400" y="13"/>
                  </a:lnTo>
                  <a:lnTo>
                    <a:pt x="413" y="5"/>
                  </a:lnTo>
                  <a:close/>
                </a:path>
              </a:pathLst>
            </a:custGeom>
            <a:solidFill>
              <a:srgbClr val="FFFFD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 name="Freeform 6"/>
            <p:cNvSpPr>
              <a:spLocks/>
            </p:cNvSpPr>
            <p:nvPr/>
          </p:nvSpPr>
          <p:spPr bwMode="auto">
            <a:xfrm>
              <a:off x="1356" y="2554"/>
              <a:ext cx="1055" cy="891"/>
            </a:xfrm>
            <a:custGeom>
              <a:avLst/>
              <a:gdLst>
                <a:gd name="T0" fmla="*/ 1013 w 1055"/>
                <a:gd name="T1" fmla="*/ 247 h 891"/>
                <a:gd name="T2" fmla="*/ 1007 w 1055"/>
                <a:gd name="T3" fmla="*/ 242 h 891"/>
                <a:gd name="T4" fmla="*/ 986 w 1055"/>
                <a:gd name="T5" fmla="*/ 227 h 891"/>
                <a:gd name="T6" fmla="*/ 963 w 1055"/>
                <a:gd name="T7" fmla="*/ 215 h 891"/>
                <a:gd name="T8" fmla="*/ 962 w 1055"/>
                <a:gd name="T9" fmla="*/ 189 h 891"/>
                <a:gd name="T10" fmla="*/ 947 w 1055"/>
                <a:gd name="T11" fmla="*/ 157 h 891"/>
                <a:gd name="T12" fmla="*/ 918 w 1055"/>
                <a:gd name="T13" fmla="*/ 145 h 891"/>
                <a:gd name="T14" fmla="*/ 861 w 1055"/>
                <a:gd name="T15" fmla="*/ 131 h 891"/>
                <a:gd name="T16" fmla="*/ 804 w 1055"/>
                <a:gd name="T17" fmla="*/ 118 h 891"/>
                <a:gd name="T18" fmla="*/ 749 w 1055"/>
                <a:gd name="T19" fmla="*/ 105 h 891"/>
                <a:gd name="T20" fmla="*/ 707 w 1055"/>
                <a:gd name="T21" fmla="*/ 95 h 891"/>
                <a:gd name="T22" fmla="*/ 665 w 1055"/>
                <a:gd name="T23" fmla="*/ 82 h 891"/>
                <a:gd name="T24" fmla="*/ 622 w 1055"/>
                <a:gd name="T25" fmla="*/ 65 h 891"/>
                <a:gd name="T26" fmla="*/ 572 w 1055"/>
                <a:gd name="T27" fmla="*/ 43 h 891"/>
                <a:gd name="T28" fmla="*/ 516 w 1055"/>
                <a:gd name="T29" fmla="*/ 21 h 891"/>
                <a:gd name="T30" fmla="*/ 465 w 1055"/>
                <a:gd name="T31" fmla="*/ 5 h 891"/>
                <a:gd name="T32" fmla="*/ 423 w 1055"/>
                <a:gd name="T33" fmla="*/ 0 h 891"/>
                <a:gd name="T34" fmla="*/ 387 w 1055"/>
                <a:gd name="T35" fmla="*/ 18 h 891"/>
                <a:gd name="T36" fmla="*/ 343 w 1055"/>
                <a:gd name="T37" fmla="*/ 69 h 891"/>
                <a:gd name="T38" fmla="*/ 304 w 1055"/>
                <a:gd name="T39" fmla="*/ 124 h 891"/>
                <a:gd name="T40" fmla="*/ 266 w 1055"/>
                <a:gd name="T41" fmla="*/ 175 h 891"/>
                <a:gd name="T42" fmla="*/ 230 w 1055"/>
                <a:gd name="T43" fmla="*/ 223 h 891"/>
                <a:gd name="T44" fmla="*/ 198 w 1055"/>
                <a:gd name="T45" fmla="*/ 273 h 891"/>
                <a:gd name="T46" fmla="*/ 127 w 1055"/>
                <a:gd name="T47" fmla="*/ 384 h 891"/>
                <a:gd name="T48" fmla="*/ 36 w 1055"/>
                <a:gd name="T49" fmla="*/ 513 h 891"/>
                <a:gd name="T50" fmla="*/ 0 w 1055"/>
                <a:gd name="T51" fmla="*/ 578 h 891"/>
                <a:gd name="T52" fmla="*/ 9 w 1055"/>
                <a:gd name="T53" fmla="*/ 624 h 891"/>
                <a:gd name="T54" fmla="*/ 17 w 1055"/>
                <a:gd name="T55" fmla="*/ 648 h 891"/>
                <a:gd name="T56" fmla="*/ 33 w 1055"/>
                <a:gd name="T57" fmla="*/ 688 h 891"/>
                <a:gd name="T58" fmla="*/ 53 w 1055"/>
                <a:gd name="T59" fmla="*/ 709 h 891"/>
                <a:gd name="T60" fmla="*/ 101 w 1055"/>
                <a:gd name="T61" fmla="*/ 729 h 891"/>
                <a:gd name="T62" fmla="*/ 149 w 1055"/>
                <a:gd name="T63" fmla="*/ 749 h 891"/>
                <a:gd name="T64" fmla="*/ 198 w 1055"/>
                <a:gd name="T65" fmla="*/ 767 h 891"/>
                <a:gd name="T66" fmla="*/ 247 w 1055"/>
                <a:gd name="T67" fmla="*/ 785 h 891"/>
                <a:gd name="T68" fmla="*/ 295 w 1055"/>
                <a:gd name="T69" fmla="*/ 803 h 891"/>
                <a:gd name="T70" fmla="*/ 347 w 1055"/>
                <a:gd name="T71" fmla="*/ 825 h 891"/>
                <a:gd name="T72" fmla="*/ 400 w 1055"/>
                <a:gd name="T73" fmla="*/ 847 h 891"/>
                <a:gd name="T74" fmla="*/ 453 w 1055"/>
                <a:gd name="T75" fmla="*/ 867 h 891"/>
                <a:gd name="T76" fmla="*/ 531 w 1055"/>
                <a:gd name="T77" fmla="*/ 887 h 891"/>
                <a:gd name="T78" fmla="*/ 610 w 1055"/>
                <a:gd name="T79" fmla="*/ 887 h 891"/>
                <a:gd name="T80" fmla="*/ 669 w 1055"/>
                <a:gd name="T81" fmla="*/ 851 h 891"/>
                <a:gd name="T82" fmla="*/ 721 w 1055"/>
                <a:gd name="T83" fmla="*/ 790 h 891"/>
                <a:gd name="T84" fmla="*/ 780 w 1055"/>
                <a:gd name="T85" fmla="*/ 707 h 891"/>
                <a:gd name="T86" fmla="*/ 839 w 1055"/>
                <a:gd name="T87" fmla="*/ 622 h 891"/>
                <a:gd name="T88" fmla="*/ 887 w 1055"/>
                <a:gd name="T89" fmla="*/ 549 h 891"/>
                <a:gd name="T90" fmla="*/ 915 w 1055"/>
                <a:gd name="T91" fmla="*/ 508 h 891"/>
                <a:gd name="T92" fmla="*/ 978 w 1055"/>
                <a:gd name="T93" fmla="*/ 426 h 891"/>
                <a:gd name="T94" fmla="*/ 1038 w 1055"/>
                <a:gd name="T95" fmla="*/ 349 h 891"/>
                <a:gd name="T96" fmla="*/ 1055 w 1055"/>
                <a:gd name="T97" fmla="*/ 312 h 891"/>
                <a:gd name="T98" fmla="*/ 1048 w 1055"/>
                <a:gd name="T99" fmla="*/ 277 h 891"/>
                <a:gd name="T100" fmla="*/ 1025 w 1055"/>
                <a:gd name="T101" fmla="*/ 254 h 8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55"/>
                <a:gd name="T154" fmla="*/ 0 h 891"/>
                <a:gd name="T155" fmla="*/ 1055 w 1055"/>
                <a:gd name="T156" fmla="*/ 891 h 8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55" h="891">
                  <a:moveTo>
                    <a:pt x="1013" y="249"/>
                  </a:moveTo>
                  <a:lnTo>
                    <a:pt x="1013" y="247"/>
                  </a:lnTo>
                  <a:lnTo>
                    <a:pt x="1007" y="242"/>
                  </a:lnTo>
                  <a:lnTo>
                    <a:pt x="1000" y="237"/>
                  </a:lnTo>
                  <a:lnTo>
                    <a:pt x="993" y="232"/>
                  </a:lnTo>
                  <a:lnTo>
                    <a:pt x="986" y="227"/>
                  </a:lnTo>
                  <a:lnTo>
                    <a:pt x="978" y="223"/>
                  </a:lnTo>
                  <a:lnTo>
                    <a:pt x="971" y="219"/>
                  </a:lnTo>
                  <a:lnTo>
                    <a:pt x="963" y="215"/>
                  </a:lnTo>
                  <a:lnTo>
                    <a:pt x="955" y="213"/>
                  </a:lnTo>
                  <a:lnTo>
                    <a:pt x="960" y="201"/>
                  </a:lnTo>
                  <a:lnTo>
                    <a:pt x="962" y="189"/>
                  </a:lnTo>
                  <a:lnTo>
                    <a:pt x="960" y="176"/>
                  </a:lnTo>
                  <a:lnTo>
                    <a:pt x="955" y="165"/>
                  </a:lnTo>
                  <a:lnTo>
                    <a:pt x="947" y="157"/>
                  </a:lnTo>
                  <a:lnTo>
                    <a:pt x="938" y="152"/>
                  </a:lnTo>
                  <a:lnTo>
                    <a:pt x="928" y="148"/>
                  </a:lnTo>
                  <a:lnTo>
                    <a:pt x="918" y="145"/>
                  </a:lnTo>
                  <a:lnTo>
                    <a:pt x="898" y="140"/>
                  </a:lnTo>
                  <a:lnTo>
                    <a:pt x="879" y="135"/>
                  </a:lnTo>
                  <a:lnTo>
                    <a:pt x="861" y="131"/>
                  </a:lnTo>
                  <a:lnTo>
                    <a:pt x="841" y="127"/>
                  </a:lnTo>
                  <a:lnTo>
                    <a:pt x="823" y="122"/>
                  </a:lnTo>
                  <a:lnTo>
                    <a:pt x="804" y="118"/>
                  </a:lnTo>
                  <a:lnTo>
                    <a:pt x="784" y="114"/>
                  </a:lnTo>
                  <a:lnTo>
                    <a:pt x="765" y="109"/>
                  </a:lnTo>
                  <a:lnTo>
                    <a:pt x="749" y="105"/>
                  </a:lnTo>
                  <a:lnTo>
                    <a:pt x="735" y="102"/>
                  </a:lnTo>
                  <a:lnTo>
                    <a:pt x="721" y="99"/>
                  </a:lnTo>
                  <a:lnTo>
                    <a:pt x="707" y="95"/>
                  </a:lnTo>
                  <a:lnTo>
                    <a:pt x="692" y="91"/>
                  </a:lnTo>
                  <a:lnTo>
                    <a:pt x="678" y="87"/>
                  </a:lnTo>
                  <a:lnTo>
                    <a:pt x="665" y="82"/>
                  </a:lnTo>
                  <a:lnTo>
                    <a:pt x="651" y="77"/>
                  </a:lnTo>
                  <a:lnTo>
                    <a:pt x="638" y="71"/>
                  </a:lnTo>
                  <a:lnTo>
                    <a:pt x="622" y="65"/>
                  </a:lnTo>
                  <a:lnTo>
                    <a:pt x="607" y="57"/>
                  </a:lnTo>
                  <a:lnTo>
                    <a:pt x="589" y="51"/>
                  </a:lnTo>
                  <a:lnTo>
                    <a:pt x="572" y="43"/>
                  </a:lnTo>
                  <a:lnTo>
                    <a:pt x="553" y="35"/>
                  </a:lnTo>
                  <a:lnTo>
                    <a:pt x="534" y="29"/>
                  </a:lnTo>
                  <a:lnTo>
                    <a:pt x="516" y="21"/>
                  </a:lnTo>
                  <a:lnTo>
                    <a:pt x="498" y="16"/>
                  </a:lnTo>
                  <a:lnTo>
                    <a:pt x="481" y="10"/>
                  </a:lnTo>
                  <a:lnTo>
                    <a:pt x="465" y="5"/>
                  </a:lnTo>
                  <a:lnTo>
                    <a:pt x="449" y="3"/>
                  </a:lnTo>
                  <a:lnTo>
                    <a:pt x="435" y="0"/>
                  </a:lnTo>
                  <a:lnTo>
                    <a:pt x="423" y="0"/>
                  </a:lnTo>
                  <a:lnTo>
                    <a:pt x="413" y="1"/>
                  </a:lnTo>
                  <a:lnTo>
                    <a:pt x="405" y="5"/>
                  </a:lnTo>
                  <a:lnTo>
                    <a:pt x="387" y="18"/>
                  </a:lnTo>
                  <a:lnTo>
                    <a:pt x="371" y="34"/>
                  </a:lnTo>
                  <a:lnTo>
                    <a:pt x="357" y="51"/>
                  </a:lnTo>
                  <a:lnTo>
                    <a:pt x="343" y="69"/>
                  </a:lnTo>
                  <a:lnTo>
                    <a:pt x="330" y="88"/>
                  </a:lnTo>
                  <a:lnTo>
                    <a:pt x="317" y="106"/>
                  </a:lnTo>
                  <a:lnTo>
                    <a:pt x="304" y="124"/>
                  </a:lnTo>
                  <a:lnTo>
                    <a:pt x="291" y="143"/>
                  </a:lnTo>
                  <a:lnTo>
                    <a:pt x="278" y="159"/>
                  </a:lnTo>
                  <a:lnTo>
                    <a:pt x="266" y="175"/>
                  </a:lnTo>
                  <a:lnTo>
                    <a:pt x="254" y="190"/>
                  </a:lnTo>
                  <a:lnTo>
                    <a:pt x="242" y="206"/>
                  </a:lnTo>
                  <a:lnTo>
                    <a:pt x="230" y="223"/>
                  </a:lnTo>
                  <a:lnTo>
                    <a:pt x="219" y="238"/>
                  </a:lnTo>
                  <a:lnTo>
                    <a:pt x="208" y="255"/>
                  </a:lnTo>
                  <a:lnTo>
                    <a:pt x="198" y="273"/>
                  </a:lnTo>
                  <a:lnTo>
                    <a:pt x="181" y="303"/>
                  </a:lnTo>
                  <a:lnTo>
                    <a:pt x="156" y="341"/>
                  </a:lnTo>
                  <a:lnTo>
                    <a:pt x="127" y="384"/>
                  </a:lnTo>
                  <a:lnTo>
                    <a:pt x="96" y="429"/>
                  </a:lnTo>
                  <a:lnTo>
                    <a:pt x="65" y="473"/>
                  </a:lnTo>
                  <a:lnTo>
                    <a:pt x="36" y="513"/>
                  </a:lnTo>
                  <a:lnTo>
                    <a:pt x="14" y="545"/>
                  </a:lnTo>
                  <a:lnTo>
                    <a:pt x="0" y="567"/>
                  </a:lnTo>
                  <a:lnTo>
                    <a:pt x="0" y="578"/>
                  </a:lnTo>
                  <a:lnTo>
                    <a:pt x="4" y="597"/>
                  </a:lnTo>
                  <a:lnTo>
                    <a:pt x="8" y="615"/>
                  </a:lnTo>
                  <a:lnTo>
                    <a:pt x="9" y="624"/>
                  </a:lnTo>
                  <a:lnTo>
                    <a:pt x="10" y="628"/>
                  </a:lnTo>
                  <a:lnTo>
                    <a:pt x="13" y="637"/>
                  </a:lnTo>
                  <a:lnTo>
                    <a:pt x="17" y="648"/>
                  </a:lnTo>
                  <a:lnTo>
                    <a:pt x="22" y="661"/>
                  </a:lnTo>
                  <a:lnTo>
                    <a:pt x="27" y="675"/>
                  </a:lnTo>
                  <a:lnTo>
                    <a:pt x="33" y="688"/>
                  </a:lnTo>
                  <a:lnTo>
                    <a:pt x="40" y="698"/>
                  </a:lnTo>
                  <a:lnTo>
                    <a:pt x="48" y="706"/>
                  </a:lnTo>
                  <a:lnTo>
                    <a:pt x="53" y="709"/>
                  </a:lnTo>
                  <a:lnTo>
                    <a:pt x="68" y="716"/>
                  </a:lnTo>
                  <a:lnTo>
                    <a:pt x="85" y="723"/>
                  </a:lnTo>
                  <a:lnTo>
                    <a:pt x="101" y="729"/>
                  </a:lnTo>
                  <a:lnTo>
                    <a:pt x="116" y="737"/>
                  </a:lnTo>
                  <a:lnTo>
                    <a:pt x="133" y="744"/>
                  </a:lnTo>
                  <a:lnTo>
                    <a:pt x="149" y="749"/>
                  </a:lnTo>
                  <a:lnTo>
                    <a:pt x="166" y="755"/>
                  </a:lnTo>
                  <a:lnTo>
                    <a:pt x="181" y="762"/>
                  </a:lnTo>
                  <a:lnTo>
                    <a:pt x="198" y="767"/>
                  </a:lnTo>
                  <a:lnTo>
                    <a:pt x="213" y="773"/>
                  </a:lnTo>
                  <a:lnTo>
                    <a:pt x="230" y="780"/>
                  </a:lnTo>
                  <a:lnTo>
                    <a:pt x="247" y="785"/>
                  </a:lnTo>
                  <a:lnTo>
                    <a:pt x="263" y="792"/>
                  </a:lnTo>
                  <a:lnTo>
                    <a:pt x="279" y="797"/>
                  </a:lnTo>
                  <a:lnTo>
                    <a:pt x="295" y="803"/>
                  </a:lnTo>
                  <a:lnTo>
                    <a:pt x="312" y="810"/>
                  </a:lnTo>
                  <a:lnTo>
                    <a:pt x="330" y="817"/>
                  </a:lnTo>
                  <a:lnTo>
                    <a:pt x="347" y="825"/>
                  </a:lnTo>
                  <a:lnTo>
                    <a:pt x="365" y="833"/>
                  </a:lnTo>
                  <a:lnTo>
                    <a:pt x="382" y="839"/>
                  </a:lnTo>
                  <a:lnTo>
                    <a:pt x="400" y="847"/>
                  </a:lnTo>
                  <a:lnTo>
                    <a:pt x="417" y="855"/>
                  </a:lnTo>
                  <a:lnTo>
                    <a:pt x="435" y="861"/>
                  </a:lnTo>
                  <a:lnTo>
                    <a:pt x="453" y="867"/>
                  </a:lnTo>
                  <a:lnTo>
                    <a:pt x="479" y="874"/>
                  </a:lnTo>
                  <a:lnTo>
                    <a:pt x="505" y="881"/>
                  </a:lnTo>
                  <a:lnTo>
                    <a:pt x="531" y="887"/>
                  </a:lnTo>
                  <a:lnTo>
                    <a:pt x="558" y="891"/>
                  </a:lnTo>
                  <a:lnTo>
                    <a:pt x="584" y="891"/>
                  </a:lnTo>
                  <a:lnTo>
                    <a:pt x="610" y="887"/>
                  </a:lnTo>
                  <a:lnTo>
                    <a:pt x="633" y="880"/>
                  </a:lnTo>
                  <a:lnTo>
                    <a:pt x="656" y="864"/>
                  </a:lnTo>
                  <a:lnTo>
                    <a:pt x="669" y="851"/>
                  </a:lnTo>
                  <a:lnTo>
                    <a:pt x="685" y="834"/>
                  </a:lnTo>
                  <a:lnTo>
                    <a:pt x="701" y="814"/>
                  </a:lnTo>
                  <a:lnTo>
                    <a:pt x="721" y="790"/>
                  </a:lnTo>
                  <a:lnTo>
                    <a:pt x="740" y="764"/>
                  </a:lnTo>
                  <a:lnTo>
                    <a:pt x="760" y="736"/>
                  </a:lnTo>
                  <a:lnTo>
                    <a:pt x="780" y="707"/>
                  </a:lnTo>
                  <a:lnTo>
                    <a:pt x="800" y="678"/>
                  </a:lnTo>
                  <a:lnTo>
                    <a:pt x="819" y="649"/>
                  </a:lnTo>
                  <a:lnTo>
                    <a:pt x="839" y="622"/>
                  </a:lnTo>
                  <a:lnTo>
                    <a:pt x="857" y="595"/>
                  </a:lnTo>
                  <a:lnTo>
                    <a:pt x="872" y="570"/>
                  </a:lnTo>
                  <a:lnTo>
                    <a:pt x="887" y="549"/>
                  </a:lnTo>
                  <a:lnTo>
                    <a:pt x="899" y="531"/>
                  </a:lnTo>
                  <a:lnTo>
                    <a:pt x="909" y="517"/>
                  </a:lnTo>
                  <a:lnTo>
                    <a:pt x="915" y="508"/>
                  </a:lnTo>
                  <a:lnTo>
                    <a:pt x="933" y="483"/>
                  </a:lnTo>
                  <a:lnTo>
                    <a:pt x="955" y="456"/>
                  </a:lnTo>
                  <a:lnTo>
                    <a:pt x="978" y="426"/>
                  </a:lnTo>
                  <a:lnTo>
                    <a:pt x="1000" y="396"/>
                  </a:lnTo>
                  <a:lnTo>
                    <a:pt x="1021" y="371"/>
                  </a:lnTo>
                  <a:lnTo>
                    <a:pt x="1038" y="349"/>
                  </a:lnTo>
                  <a:lnTo>
                    <a:pt x="1050" y="333"/>
                  </a:lnTo>
                  <a:lnTo>
                    <a:pt x="1053" y="325"/>
                  </a:lnTo>
                  <a:lnTo>
                    <a:pt x="1055" y="312"/>
                  </a:lnTo>
                  <a:lnTo>
                    <a:pt x="1055" y="301"/>
                  </a:lnTo>
                  <a:lnTo>
                    <a:pt x="1052" y="289"/>
                  </a:lnTo>
                  <a:lnTo>
                    <a:pt x="1048" y="277"/>
                  </a:lnTo>
                  <a:lnTo>
                    <a:pt x="1042" y="268"/>
                  </a:lnTo>
                  <a:lnTo>
                    <a:pt x="1034" y="260"/>
                  </a:lnTo>
                  <a:lnTo>
                    <a:pt x="1025" y="254"/>
                  </a:lnTo>
                  <a:lnTo>
                    <a:pt x="1013" y="2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 name="Freeform 7"/>
            <p:cNvSpPr>
              <a:spLocks/>
            </p:cNvSpPr>
            <p:nvPr/>
          </p:nvSpPr>
          <p:spPr bwMode="auto">
            <a:xfrm>
              <a:off x="2158" y="2782"/>
              <a:ext cx="151" cy="211"/>
            </a:xfrm>
            <a:custGeom>
              <a:avLst/>
              <a:gdLst>
                <a:gd name="T0" fmla="*/ 151 w 151"/>
                <a:gd name="T1" fmla="*/ 27 h 211"/>
                <a:gd name="T2" fmla="*/ 148 w 151"/>
                <a:gd name="T3" fmla="*/ 32 h 211"/>
                <a:gd name="T4" fmla="*/ 141 w 151"/>
                <a:gd name="T5" fmla="*/ 42 h 211"/>
                <a:gd name="T6" fmla="*/ 131 w 151"/>
                <a:gd name="T7" fmla="*/ 54 h 211"/>
                <a:gd name="T8" fmla="*/ 118 w 151"/>
                <a:gd name="T9" fmla="*/ 69 h 211"/>
                <a:gd name="T10" fmla="*/ 105 w 151"/>
                <a:gd name="T11" fmla="*/ 83 h 211"/>
                <a:gd name="T12" fmla="*/ 95 w 151"/>
                <a:gd name="T13" fmla="*/ 96 h 211"/>
                <a:gd name="T14" fmla="*/ 88 w 151"/>
                <a:gd name="T15" fmla="*/ 105 h 211"/>
                <a:gd name="T16" fmla="*/ 86 w 151"/>
                <a:gd name="T17" fmla="*/ 109 h 211"/>
                <a:gd name="T18" fmla="*/ 87 w 151"/>
                <a:gd name="T19" fmla="*/ 110 h 211"/>
                <a:gd name="T20" fmla="*/ 91 w 151"/>
                <a:gd name="T21" fmla="*/ 113 h 211"/>
                <a:gd name="T22" fmla="*/ 96 w 151"/>
                <a:gd name="T23" fmla="*/ 117 h 211"/>
                <a:gd name="T24" fmla="*/ 104 w 151"/>
                <a:gd name="T25" fmla="*/ 121 h 211"/>
                <a:gd name="T26" fmla="*/ 113 w 151"/>
                <a:gd name="T27" fmla="*/ 126 h 211"/>
                <a:gd name="T28" fmla="*/ 122 w 151"/>
                <a:gd name="T29" fmla="*/ 130 h 211"/>
                <a:gd name="T30" fmla="*/ 131 w 151"/>
                <a:gd name="T31" fmla="*/ 132 h 211"/>
                <a:gd name="T32" fmla="*/ 141 w 151"/>
                <a:gd name="T33" fmla="*/ 132 h 211"/>
                <a:gd name="T34" fmla="*/ 134 w 151"/>
                <a:gd name="T35" fmla="*/ 137 h 211"/>
                <a:gd name="T36" fmla="*/ 126 w 151"/>
                <a:gd name="T37" fmla="*/ 144 h 211"/>
                <a:gd name="T38" fmla="*/ 119 w 151"/>
                <a:gd name="T39" fmla="*/ 152 h 211"/>
                <a:gd name="T40" fmla="*/ 113 w 151"/>
                <a:gd name="T41" fmla="*/ 159 h 211"/>
                <a:gd name="T42" fmla="*/ 109 w 151"/>
                <a:gd name="T43" fmla="*/ 154 h 211"/>
                <a:gd name="T44" fmla="*/ 105 w 151"/>
                <a:gd name="T45" fmla="*/ 145 h 211"/>
                <a:gd name="T46" fmla="*/ 100 w 151"/>
                <a:gd name="T47" fmla="*/ 136 h 211"/>
                <a:gd name="T48" fmla="*/ 99 w 151"/>
                <a:gd name="T49" fmla="*/ 132 h 211"/>
                <a:gd name="T50" fmla="*/ 95 w 151"/>
                <a:gd name="T51" fmla="*/ 135 h 211"/>
                <a:gd name="T52" fmla="*/ 87 w 151"/>
                <a:gd name="T53" fmla="*/ 144 h 211"/>
                <a:gd name="T54" fmla="*/ 75 w 151"/>
                <a:gd name="T55" fmla="*/ 157 h 211"/>
                <a:gd name="T56" fmla="*/ 64 w 151"/>
                <a:gd name="T57" fmla="*/ 171 h 211"/>
                <a:gd name="T58" fmla="*/ 51 w 151"/>
                <a:gd name="T59" fmla="*/ 185 h 211"/>
                <a:gd name="T60" fmla="*/ 41 w 151"/>
                <a:gd name="T61" fmla="*/ 198 h 211"/>
                <a:gd name="T62" fmla="*/ 33 w 151"/>
                <a:gd name="T63" fmla="*/ 207 h 211"/>
                <a:gd name="T64" fmla="*/ 30 w 151"/>
                <a:gd name="T65" fmla="*/ 211 h 211"/>
                <a:gd name="T66" fmla="*/ 20 w 151"/>
                <a:gd name="T67" fmla="*/ 201 h 211"/>
                <a:gd name="T68" fmla="*/ 11 w 151"/>
                <a:gd name="T69" fmla="*/ 192 h 211"/>
                <a:gd name="T70" fmla="*/ 3 w 151"/>
                <a:gd name="T71" fmla="*/ 184 h 211"/>
                <a:gd name="T72" fmla="*/ 0 w 151"/>
                <a:gd name="T73" fmla="*/ 180 h 211"/>
                <a:gd name="T74" fmla="*/ 17 w 151"/>
                <a:gd name="T75" fmla="*/ 163 h 211"/>
                <a:gd name="T76" fmla="*/ 37 w 151"/>
                <a:gd name="T77" fmla="*/ 139 h 211"/>
                <a:gd name="T78" fmla="*/ 57 w 151"/>
                <a:gd name="T79" fmla="*/ 111 h 211"/>
                <a:gd name="T80" fmla="*/ 79 w 151"/>
                <a:gd name="T81" fmla="*/ 83 h 211"/>
                <a:gd name="T82" fmla="*/ 100 w 151"/>
                <a:gd name="T83" fmla="*/ 56 h 211"/>
                <a:gd name="T84" fmla="*/ 118 w 151"/>
                <a:gd name="T85" fmla="*/ 31 h 211"/>
                <a:gd name="T86" fmla="*/ 132 w 151"/>
                <a:gd name="T87" fmla="*/ 12 h 211"/>
                <a:gd name="T88" fmla="*/ 141 w 151"/>
                <a:gd name="T89" fmla="*/ 0 h 211"/>
                <a:gd name="T90" fmla="*/ 144 w 151"/>
                <a:gd name="T91" fmla="*/ 7 h 211"/>
                <a:gd name="T92" fmla="*/ 145 w 151"/>
                <a:gd name="T93" fmla="*/ 13 h 211"/>
                <a:gd name="T94" fmla="*/ 148 w 151"/>
                <a:gd name="T95" fmla="*/ 21 h 211"/>
                <a:gd name="T96" fmla="*/ 151 w 151"/>
                <a:gd name="T97" fmla="*/ 27 h 21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51"/>
                <a:gd name="T148" fmla="*/ 0 h 211"/>
                <a:gd name="T149" fmla="*/ 151 w 151"/>
                <a:gd name="T150" fmla="*/ 211 h 21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51" h="211">
                  <a:moveTo>
                    <a:pt x="151" y="27"/>
                  </a:moveTo>
                  <a:lnTo>
                    <a:pt x="148" y="32"/>
                  </a:lnTo>
                  <a:lnTo>
                    <a:pt x="141" y="42"/>
                  </a:lnTo>
                  <a:lnTo>
                    <a:pt x="131" y="54"/>
                  </a:lnTo>
                  <a:lnTo>
                    <a:pt x="118" y="69"/>
                  </a:lnTo>
                  <a:lnTo>
                    <a:pt x="105" y="83"/>
                  </a:lnTo>
                  <a:lnTo>
                    <a:pt x="95" y="96"/>
                  </a:lnTo>
                  <a:lnTo>
                    <a:pt x="88" y="105"/>
                  </a:lnTo>
                  <a:lnTo>
                    <a:pt x="86" y="109"/>
                  </a:lnTo>
                  <a:lnTo>
                    <a:pt x="87" y="110"/>
                  </a:lnTo>
                  <a:lnTo>
                    <a:pt x="91" y="113"/>
                  </a:lnTo>
                  <a:lnTo>
                    <a:pt x="96" y="117"/>
                  </a:lnTo>
                  <a:lnTo>
                    <a:pt x="104" y="121"/>
                  </a:lnTo>
                  <a:lnTo>
                    <a:pt x="113" y="126"/>
                  </a:lnTo>
                  <a:lnTo>
                    <a:pt x="122" y="130"/>
                  </a:lnTo>
                  <a:lnTo>
                    <a:pt x="131" y="132"/>
                  </a:lnTo>
                  <a:lnTo>
                    <a:pt x="141" y="132"/>
                  </a:lnTo>
                  <a:lnTo>
                    <a:pt x="134" y="137"/>
                  </a:lnTo>
                  <a:lnTo>
                    <a:pt x="126" y="144"/>
                  </a:lnTo>
                  <a:lnTo>
                    <a:pt x="119" y="152"/>
                  </a:lnTo>
                  <a:lnTo>
                    <a:pt x="113" y="159"/>
                  </a:lnTo>
                  <a:lnTo>
                    <a:pt x="109" y="154"/>
                  </a:lnTo>
                  <a:lnTo>
                    <a:pt x="105" y="145"/>
                  </a:lnTo>
                  <a:lnTo>
                    <a:pt x="100" y="136"/>
                  </a:lnTo>
                  <a:lnTo>
                    <a:pt x="99" y="132"/>
                  </a:lnTo>
                  <a:lnTo>
                    <a:pt x="95" y="135"/>
                  </a:lnTo>
                  <a:lnTo>
                    <a:pt x="87" y="144"/>
                  </a:lnTo>
                  <a:lnTo>
                    <a:pt x="75" y="157"/>
                  </a:lnTo>
                  <a:lnTo>
                    <a:pt x="64" y="171"/>
                  </a:lnTo>
                  <a:lnTo>
                    <a:pt x="51" y="185"/>
                  </a:lnTo>
                  <a:lnTo>
                    <a:pt x="41" y="198"/>
                  </a:lnTo>
                  <a:lnTo>
                    <a:pt x="33" y="207"/>
                  </a:lnTo>
                  <a:lnTo>
                    <a:pt x="30" y="211"/>
                  </a:lnTo>
                  <a:lnTo>
                    <a:pt x="20" y="201"/>
                  </a:lnTo>
                  <a:lnTo>
                    <a:pt x="11" y="192"/>
                  </a:lnTo>
                  <a:lnTo>
                    <a:pt x="3" y="184"/>
                  </a:lnTo>
                  <a:lnTo>
                    <a:pt x="0" y="180"/>
                  </a:lnTo>
                  <a:lnTo>
                    <a:pt x="17" y="163"/>
                  </a:lnTo>
                  <a:lnTo>
                    <a:pt x="37" y="139"/>
                  </a:lnTo>
                  <a:lnTo>
                    <a:pt x="57" y="111"/>
                  </a:lnTo>
                  <a:lnTo>
                    <a:pt x="79" y="83"/>
                  </a:lnTo>
                  <a:lnTo>
                    <a:pt x="100" y="56"/>
                  </a:lnTo>
                  <a:lnTo>
                    <a:pt x="118" y="31"/>
                  </a:lnTo>
                  <a:lnTo>
                    <a:pt x="132" y="12"/>
                  </a:lnTo>
                  <a:lnTo>
                    <a:pt x="141" y="0"/>
                  </a:lnTo>
                  <a:lnTo>
                    <a:pt x="144" y="7"/>
                  </a:lnTo>
                  <a:lnTo>
                    <a:pt x="145" y="13"/>
                  </a:lnTo>
                  <a:lnTo>
                    <a:pt x="148" y="21"/>
                  </a:lnTo>
                  <a:lnTo>
                    <a:pt x="151" y="27"/>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 name="Freeform 8"/>
            <p:cNvSpPr>
              <a:spLocks/>
            </p:cNvSpPr>
            <p:nvPr/>
          </p:nvSpPr>
          <p:spPr bwMode="auto">
            <a:xfrm>
              <a:off x="2271" y="2834"/>
              <a:ext cx="58" cy="65"/>
            </a:xfrm>
            <a:custGeom>
              <a:avLst/>
              <a:gdLst>
                <a:gd name="T0" fmla="*/ 44 w 58"/>
                <a:gd name="T1" fmla="*/ 0 h 65"/>
                <a:gd name="T2" fmla="*/ 53 w 58"/>
                <a:gd name="T3" fmla="*/ 17 h 65"/>
                <a:gd name="T4" fmla="*/ 57 w 58"/>
                <a:gd name="T5" fmla="*/ 31 h 65"/>
                <a:gd name="T6" fmla="*/ 57 w 58"/>
                <a:gd name="T7" fmla="*/ 41 h 65"/>
                <a:gd name="T8" fmla="*/ 58 w 58"/>
                <a:gd name="T9" fmla="*/ 47 h 65"/>
                <a:gd name="T10" fmla="*/ 56 w 58"/>
                <a:gd name="T11" fmla="*/ 52 h 65"/>
                <a:gd name="T12" fmla="*/ 54 w 58"/>
                <a:gd name="T13" fmla="*/ 56 h 65"/>
                <a:gd name="T14" fmla="*/ 52 w 58"/>
                <a:gd name="T15" fmla="*/ 58 h 65"/>
                <a:gd name="T16" fmla="*/ 45 w 58"/>
                <a:gd name="T17" fmla="*/ 61 h 65"/>
                <a:gd name="T18" fmla="*/ 39 w 58"/>
                <a:gd name="T19" fmla="*/ 63 h 65"/>
                <a:gd name="T20" fmla="*/ 34 w 58"/>
                <a:gd name="T21" fmla="*/ 65 h 65"/>
                <a:gd name="T22" fmla="*/ 30 w 58"/>
                <a:gd name="T23" fmla="*/ 65 h 65"/>
                <a:gd name="T24" fmla="*/ 25 w 58"/>
                <a:gd name="T25" fmla="*/ 63 h 65"/>
                <a:gd name="T26" fmla="*/ 19 w 58"/>
                <a:gd name="T27" fmla="*/ 61 h 65"/>
                <a:gd name="T28" fmla="*/ 14 w 58"/>
                <a:gd name="T29" fmla="*/ 58 h 65"/>
                <a:gd name="T30" fmla="*/ 8 w 58"/>
                <a:gd name="T31" fmla="*/ 56 h 65"/>
                <a:gd name="T32" fmla="*/ 0 w 58"/>
                <a:gd name="T33" fmla="*/ 52 h 65"/>
                <a:gd name="T34" fmla="*/ 3 w 58"/>
                <a:gd name="T35" fmla="*/ 48 h 65"/>
                <a:gd name="T36" fmla="*/ 8 w 58"/>
                <a:gd name="T37" fmla="*/ 40 h 65"/>
                <a:gd name="T38" fmla="*/ 14 w 58"/>
                <a:gd name="T39" fmla="*/ 32 h 65"/>
                <a:gd name="T40" fmla="*/ 22 w 58"/>
                <a:gd name="T41" fmla="*/ 22 h 65"/>
                <a:gd name="T42" fmla="*/ 30 w 58"/>
                <a:gd name="T43" fmla="*/ 13 h 65"/>
                <a:gd name="T44" fmla="*/ 36 w 58"/>
                <a:gd name="T45" fmla="*/ 6 h 65"/>
                <a:gd name="T46" fmla="*/ 41 w 58"/>
                <a:gd name="T47" fmla="*/ 1 h 65"/>
                <a:gd name="T48" fmla="*/ 44 w 58"/>
                <a:gd name="T49" fmla="*/ 0 h 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8"/>
                <a:gd name="T76" fmla="*/ 0 h 65"/>
                <a:gd name="T77" fmla="*/ 58 w 58"/>
                <a:gd name="T78" fmla="*/ 65 h 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8" h="65">
                  <a:moveTo>
                    <a:pt x="44" y="0"/>
                  </a:moveTo>
                  <a:lnTo>
                    <a:pt x="53" y="17"/>
                  </a:lnTo>
                  <a:lnTo>
                    <a:pt x="57" y="31"/>
                  </a:lnTo>
                  <a:lnTo>
                    <a:pt x="57" y="41"/>
                  </a:lnTo>
                  <a:lnTo>
                    <a:pt x="58" y="47"/>
                  </a:lnTo>
                  <a:lnTo>
                    <a:pt x="56" y="52"/>
                  </a:lnTo>
                  <a:lnTo>
                    <a:pt x="54" y="56"/>
                  </a:lnTo>
                  <a:lnTo>
                    <a:pt x="52" y="58"/>
                  </a:lnTo>
                  <a:lnTo>
                    <a:pt x="45" y="61"/>
                  </a:lnTo>
                  <a:lnTo>
                    <a:pt x="39" y="63"/>
                  </a:lnTo>
                  <a:lnTo>
                    <a:pt x="34" y="65"/>
                  </a:lnTo>
                  <a:lnTo>
                    <a:pt x="30" y="65"/>
                  </a:lnTo>
                  <a:lnTo>
                    <a:pt x="25" y="63"/>
                  </a:lnTo>
                  <a:lnTo>
                    <a:pt x="19" y="61"/>
                  </a:lnTo>
                  <a:lnTo>
                    <a:pt x="14" y="58"/>
                  </a:lnTo>
                  <a:lnTo>
                    <a:pt x="8" y="56"/>
                  </a:lnTo>
                  <a:lnTo>
                    <a:pt x="0" y="52"/>
                  </a:lnTo>
                  <a:lnTo>
                    <a:pt x="3" y="48"/>
                  </a:lnTo>
                  <a:lnTo>
                    <a:pt x="8" y="40"/>
                  </a:lnTo>
                  <a:lnTo>
                    <a:pt x="14" y="32"/>
                  </a:lnTo>
                  <a:lnTo>
                    <a:pt x="22" y="22"/>
                  </a:lnTo>
                  <a:lnTo>
                    <a:pt x="30" y="13"/>
                  </a:lnTo>
                  <a:lnTo>
                    <a:pt x="36" y="6"/>
                  </a:lnTo>
                  <a:lnTo>
                    <a:pt x="41" y="1"/>
                  </a:lnTo>
                  <a:lnTo>
                    <a:pt x="44" y="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 name="Freeform 9"/>
            <p:cNvSpPr>
              <a:spLocks/>
            </p:cNvSpPr>
            <p:nvPr/>
          </p:nvSpPr>
          <p:spPr bwMode="auto">
            <a:xfrm>
              <a:off x="2201" y="3015"/>
              <a:ext cx="34" cy="24"/>
            </a:xfrm>
            <a:custGeom>
              <a:avLst/>
              <a:gdLst>
                <a:gd name="T0" fmla="*/ 34 w 34"/>
                <a:gd name="T1" fmla="*/ 3 h 24"/>
                <a:gd name="T2" fmla="*/ 29 w 34"/>
                <a:gd name="T3" fmla="*/ 7 h 24"/>
                <a:gd name="T4" fmla="*/ 23 w 34"/>
                <a:gd name="T5" fmla="*/ 12 h 24"/>
                <a:gd name="T6" fmla="*/ 20 w 34"/>
                <a:gd name="T7" fmla="*/ 18 h 24"/>
                <a:gd name="T8" fmla="*/ 16 w 34"/>
                <a:gd name="T9" fmla="*/ 24 h 24"/>
                <a:gd name="T10" fmla="*/ 12 w 34"/>
                <a:gd name="T11" fmla="*/ 17 h 24"/>
                <a:gd name="T12" fmla="*/ 8 w 34"/>
                <a:gd name="T13" fmla="*/ 12 h 24"/>
                <a:gd name="T14" fmla="*/ 4 w 34"/>
                <a:gd name="T15" fmla="*/ 5 h 24"/>
                <a:gd name="T16" fmla="*/ 0 w 34"/>
                <a:gd name="T17" fmla="*/ 0 h 24"/>
                <a:gd name="T18" fmla="*/ 8 w 34"/>
                <a:gd name="T19" fmla="*/ 3 h 24"/>
                <a:gd name="T20" fmla="*/ 17 w 34"/>
                <a:gd name="T21" fmla="*/ 3 h 24"/>
                <a:gd name="T22" fmla="*/ 25 w 34"/>
                <a:gd name="T23" fmla="*/ 4 h 24"/>
                <a:gd name="T24" fmla="*/ 34 w 34"/>
                <a:gd name="T25" fmla="*/ 3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24"/>
                <a:gd name="T41" fmla="*/ 34 w 34"/>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24">
                  <a:moveTo>
                    <a:pt x="34" y="3"/>
                  </a:moveTo>
                  <a:lnTo>
                    <a:pt x="29" y="7"/>
                  </a:lnTo>
                  <a:lnTo>
                    <a:pt x="23" y="12"/>
                  </a:lnTo>
                  <a:lnTo>
                    <a:pt x="20" y="18"/>
                  </a:lnTo>
                  <a:lnTo>
                    <a:pt x="16" y="24"/>
                  </a:lnTo>
                  <a:lnTo>
                    <a:pt x="12" y="17"/>
                  </a:lnTo>
                  <a:lnTo>
                    <a:pt x="8" y="12"/>
                  </a:lnTo>
                  <a:lnTo>
                    <a:pt x="4" y="5"/>
                  </a:lnTo>
                  <a:lnTo>
                    <a:pt x="0" y="0"/>
                  </a:lnTo>
                  <a:lnTo>
                    <a:pt x="8" y="3"/>
                  </a:lnTo>
                  <a:lnTo>
                    <a:pt x="17" y="3"/>
                  </a:lnTo>
                  <a:lnTo>
                    <a:pt x="25" y="4"/>
                  </a:lnTo>
                  <a:lnTo>
                    <a:pt x="34" y="3"/>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 name="Freeform 10"/>
            <p:cNvSpPr>
              <a:spLocks/>
            </p:cNvSpPr>
            <p:nvPr/>
          </p:nvSpPr>
          <p:spPr bwMode="auto">
            <a:xfrm>
              <a:off x="1392" y="2572"/>
              <a:ext cx="892" cy="726"/>
            </a:xfrm>
            <a:custGeom>
              <a:avLst/>
              <a:gdLst>
                <a:gd name="T0" fmla="*/ 199 w 892"/>
                <a:gd name="T1" fmla="*/ 233 h 726"/>
                <a:gd name="T2" fmla="*/ 232 w 892"/>
                <a:gd name="T3" fmla="*/ 192 h 726"/>
                <a:gd name="T4" fmla="*/ 265 w 892"/>
                <a:gd name="T5" fmla="*/ 150 h 726"/>
                <a:gd name="T6" fmla="*/ 303 w 892"/>
                <a:gd name="T7" fmla="*/ 95 h 726"/>
                <a:gd name="T8" fmla="*/ 338 w 892"/>
                <a:gd name="T9" fmla="*/ 44 h 726"/>
                <a:gd name="T10" fmla="*/ 379 w 892"/>
                <a:gd name="T11" fmla="*/ 7 h 726"/>
                <a:gd name="T12" fmla="*/ 403 w 892"/>
                <a:gd name="T13" fmla="*/ 0 h 726"/>
                <a:gd name="T14" fmla="*/ 482 w 892"/>
                <a:gd name="T15" fmla="*/ 29 h 726"/>
                <a:gd name="T16" fmla="*/ 555 w 892"/>
                <a:gd name="T17" fmla="*/ 55 h 726"/>
                <a:gd name="T18" fmla="*/ 624 w 892"/>
                <a:gd name="T19" fmla="*/ 82 h 726"/>
                <a:gd name="T20" fmla="*/ 673 w 892"/>
                <a:gd name="T21" fmla="*/ 99 h 726"/>
                <a:gd name="T22" fmla="*/ 721 w 892"/>
                <a:gd name="T23" fmla="*/ 112 h 726"/>
                <a:gd name="T24" fmla="*/ 770 w 892"/>
                <a:gd name="T25" fmla="*/ 122 h 726"/>
                <a:gd name="T26" fmla="*/ 819 w 892"/>
                <a:gd name="T27" fmla="*/ 132 h 726"/>
                <a:gd name="T28" fmla="*/ 873 w 892"/>
                <a:gd name="T29" fmla="*/ 145 h 726"/>
                <a:gd name="T30" fmla="*/ 892 w 892"/>
                <a:gd name="T31" fmla="*/ 179 h 726"/>
                <a:gd name="T32" fmla="*/ 874 w 892"/>
                <a:gd name="T33" fmla="*/ 207 h 726"/>
                <a:gd name="T34" fmla="*/ 860 w 892"/>
                <a:gd name="T35" fmla="*/ 228 h 726"/>
                <a:gd name="T36" fmla="*/ 843 w 892"/>
                <a:gd name="T37" fmla="*/ 250 h 726"/>
                <a:gd name="T38" fmla="*/ 799 w 892"/>
                <a:gd name="T39" fmla="*/ 310 h 726"/>
                <a:gd name="T40" fmla="*/ 755 w 892"/>
                <a:gd name="T41" fmla="*/ 367 h 726"/>
                <a:gd name="T42" fmla="*/ 729 w 892"/>
                <a:gd name="T43" fmla="*/ 372 h 726"/>
                <a:gd name="T44" fmla="*/ 687 w 892"/>
                <a:gd name="T45" fmla="*/ 359 h 726"/>
                <a:gd name="T46" fmla="*/ 645 w 892"/>
                <a:gd name="T47" fmla="*/ 356 h 726"/>
                <a:gd name="T48" fmla="*/ 610 w 892"/>
                <a:gd name="T49" fmla="*/ 363 h 726"/>
                <a:gd name="T50" fmla="*/ 586 w 892"/>
                <a:gd name="T51" fmla="*/ 384 h 726"/>
                <a:gd name="T52" fmla="*/ 577 w 892"/>
                <a:gd name="T53" fmla="*/ 411 h 726"/>
                <a:gd name="T54" fmla="*/ 598 w 892"/>
                <a:gd name="T55" fmla="*/ 451 h 726"/>
                <a:gd name="T56" fmla="*/ 646 w 892"/>
                <a:gd name="T57" fmla="*/ 469 h 726"/>
                <a:gd name="T58" fmla="*/ 674 w 892"/>
                <a:gd name="T59" fmla="*/ 487 h 726"/>
                <a:gd name="T60" fmla="*/ 619 w 892"/>
                <a:gd name="T61" fmla="*/ 573 h 726"/>
                <a:gd name="T62" fmla="*/ 533 w 892"/>
                <a:gd name="T63" fmla="*/ 687 h 726"/>
                <a:gd name="T64" fmla="*/ 492 w 892"/>
                <a:gd name="T65" fmla="*/ 723 h 726"/>
                <a:gd name="T66" fmla="*/ 466 w 892"/>
                <a:gd name="T67" fmla="*/ 726 h 726"/>
                <a:gd name="T68" fmla="*/ 443 w 892"/>
                <a:gd name="T69" fmla="*/ 723 h 726"/>
                <a:gd name="T70" fmla="*/ 370 w 892"/>
                <a:gd name="T71" fmla="*/ 702 h 726"/>
                <a:gd name="T72" fmla="*/ 304 w 892"/>
                <a:gd name="T73" fmla="*/ 678 h 726"/>
                <a:gd name="T74" fmla="*/ 268 w 892"/>
                <a:gd name="T75" fmla="*/ 663 h 726"/>
                <a:gd name="T76" fmla="*/ 216 w 892"/>
                <a:gd name="T77" fmla="*/ 645 h 726"/>
                <a:gd name="T78" fmla="*/ 163 w 892"/>
                <a:gd name="T79" fmla="*/ 626 h 726"/>
                <a:gd name="T80" fmla="*/ 111 w 892"/>
                <a:gd name="T81" fmla="*/ 608 h 726"/>
                <a:gd name="T82" fmla="*/ 58 w 892"/>
                <a:gd name="T83" fmla="*/ 588 h 726"/>
                <a:gd name="T84" fmla="*/ 7 w 892"/>
                <a:gd name="T85" fmla="*/ 568 h 726"/>
                <a:gd name="T86" fmla="*/ 1 w 892"/>
                <a:gd name="T87" fmla="*/ 560 h 726"/>
                <a:gd name="T88" fmla="*/ 44 w 892"/>
                <a:gd name="T89" fmla="*/ 483 h 726"/>
                <a:gd name="T90" fmla="*/ 115 w 892"/>
                <a:gd name="T91" fmla="*/ 376 h 726"/>
                <a:gd name="T92" fmla="*/ 181 w 892"/>
                <a:gd name="T93" fmla="*/ 263 h 72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92"/>
                <a:gd name="T142" fmla="*/ 0 h 726"/>
                <a:gd name="T143" fmla="*/ 892 w 892"/>
                <a:gd name="T144" fmla="*/ 726 h 72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92" h="726">
                  <a:moveTo>
                    <a:pt x="181" y="263"/>
                  </a:moveTo>
                  <a:lnTo>
                    <a:pt x="189" y="248"/>
                  </a:lnTo>
                  <a:lnTo>
                    <a:pt x="199" y="233"/>
                  </a:lnTo>
                  <a:lnTo>
                    <a:pt x="210" y="219"/>
                  </a:lnTo>
                  <a:lnTo>
                    <a:pt x="220" y="205"/>
                  </a:lnTo>
                  <a:lnTo>
                    <a:pt x="232" y="192"/>
                  </a:lnTo>
                  <a:lnTo>
                    <a:pt x="242" y="178"/>
                  </a:lnTo>
                  <a:lnTo>
                    <a:pt x="254" y="165"/>
                  </a:lnTo>
                  <a:lnTo>
                    <a:pt x="265" y="150"/>
                  </a:lnTo>
                  <a:lnTo>
                    <a:pt x="280" y="132"/>
                  </a:lnTo>
                  <a:lnTo>
                    <a:pt x="291" y="113"/>
                  </a:lnTo>
                  <a:lnTo>
                    <a:pt x="303" y="95"/>
                  </a:lnTo>
                  <a:lnTo>
                    <a:pt x="315" y="78"/>
                  </a:lnTo>
                  <a:lnTo>
                    <a:pt x="325" y="61"/>
                  </a:lnTo>
                  <a:lnTo>
                    <a:pt x="338" y="44"/>
                  </a:lnTo>
                  <a:lnTo>
                    <a:pt x="353" y="27"/>
                  </a:lnTo>
                  <a:lnTo>
                    <a:pt x="370" y="12"/>
                  </a:lnTo>
                  <a:lnTo>
                    <a:pt x="379" y="7"/>
                  </a:lnTo>
                  <a:lnTo>
                    <a:pt x="391" y="3"/>
                  </a:lnTo>
                  <a:lnTo>
                    <a:pt x="399" y="0"/>
                  </a:lnTo>
                  <a:lnTo>
                    <a:pt x="403" y="0"/>
                  </a:lnTo>
                  <a:lnTo>
                    <a:pt x="430" y="11"/>
                  </a:lnTo>
                  <a:lnTo>
                    <a:pt x="456" y="21"/>
                  </a:lnTo>
                  <a:lnTo>
                    <a:pt x="482" y="29"/>
                  </a:lnTo>
                  <a:lnTo>
                    <a:pt x="506" y="38"/>
                  </a:lnTo>
                  <a:lnTo>
                    <a:pt x="531" y="47"/>
                  </a:lnTo>
                  <a:lnTo>
                    <a:pt x="555" y="55"/>
                  </a:lnTo>
                  <a:lnTo>
                    <a:pt x="581" y="65"/>
                  </a:lnTo>
                  <a:lnTo>
                    <a:pt x="607" y="75"/>
                  </a:lnTo>
                  <a:lnTo>
                    <a:pt x="624" y="82"/>
                  </a:lnTo>
                  <a:lnTo>
                    <a:pt x="641" y="88"/>
                  </a:lnTo>
                  <a:lnTo>
                    <a:pt x="656" y="93"/>
                  </a:lnTo>
                  <a:lnTo>
                    <a:pt x="673" y="99"/>
                  </a:lnTo>
                  <a:lnTo>
                    <a:pt x="689" y="104"/>
                  </a:lnTo>
                  <a:lnTo>
                    <a:pt x="706" y="108"/>
                  </a:lnTo>
                  <a:lnTo>
                    <a:pt x="721" y="112"/>
                  </a:lnTo>
                  <a:lnTo>
                    <a:pt x="738" y="115"/>
                  </a:lnTo>
                  <a:lnTo>
                    <a:pt x="753" y="119"/>
                  </a:lnTo>
                  <a:lnTo>
                    <a:pt x="770" y="122"/>
                  </a:lnTo>
                  <a:lnTo>
                    <a:pt x="786" y="126"/>
                  </a:lnTo>
                  <a:lnTo>
                    <a:pt x="803" y="130"/>
                  </a:lnTo>
                  <a:lnTo>
                    <a:pt x="819" y="132"/>
                  </a:lnTo>
                  <a:lnTo>
                    <a:pt x="838" y="136"/>
                  </a:lnTo>
                  <a:lnTo>
                    <a:pt x="854" y="141"/>
                  </a:lnTo>
                  <a:lnTo>
                    <a:pt x="873" y="145"/>
                  </a:lnTo>
                  <a:lnTo>
                    <a:pt x="885" y="153"/>
                  </a:lnTo>
                  <a:lnTo>
                    <a:pt x="892" y="165"/>
                  </a:lnTo>
                  <a:lnTo>
                    <a:pt x="892" y="179"/>
                  </a:lnTo>
                  <a:lnTo>
                    <a:pt x="885" y="192"/>
                  </a:lnTo>
                  <a:lnTo>
                    <a:pt x="879" y="200"/>
                  </a:lnTo>
                  <a:lnTo>
                    <a:pt x="874" y="207"/>
                  </a:lnTo>
                  <a:lnTo>
                    <a:pt x="870" y="214"/>
                  </a:lnTo>
                  <a:lnTo>
                    <a:pt x="865" y="220"/>
                  </a:lnTo>
                  <a:lnTo>
                    <a:pt x="860" y="228"/>
                  </a:lnTo>
                  <a:lnTo>
                    <a:pt x="854" y="235"/>
                  </a:lnTo>
                  <a:lnTo>
                    <a:pt x="849" y="242"/>
                  </a:lnTo>
                  <a:lnTo>
                    <a:pt x="843" y="250"/>
                  </a:lnTo>
                  <a:lnTo>
                    <a:pt x="830" y="267"/>
                  </a:lnTo>
                  <a:lnTo>
                    <a:pt x="814" y="288"/>
                  </a:lnTo>
                  <a:lnTo>
                    <a:pt x="799" y="310"/>
                  </a:lnTo>
                  <a:lnTo>
                    <a:pt x="782" y="331"/>
                  </a:lnTo>
                  <a:lnTo>
                    <a:pt x="768" y="350"/>
                  </a:lnTo>
                  <a:lnTo>
                    <a:pt x="755" y="367"/>
                  </a:lnTo>
                  <a:lnTo>
                    <a:pt x="746" y="377"/>
                  </a:lnTo>
                  <a:lnTo>
                    <a:pt x="742" y="380"/>
                  </a:lnTo>
                  <a:lnTo>
                    <a:pt x="729" y="372"/>
                  </a:lnTo>
                  <a:lnTo>
                    <a:pt x="716" y="367"/>
                  </a:lnTo>
                  <a:lnTo>
                    <a:pt x="702" y="363"/>
                  </a:lnTo>
                  <a:lnTo>
                    <a:pt x="687" y="359"/>
                  </a:lnTo>
                  <a:lnTo>
                    <a:pt x="673" y="358"/>
                  </a:lnTo>
                  <a:lnTo>
                    <a:pt x="659" y="356"/>
                  </a:lnTo>
                  <a:lnTo>
                    <a:pt x="645" y="356"/>
                  </a:lnTo>
                  <a:lnTo>
                    <a:pt x="630" y="358"/>
                  </a:lnTo>
                  <a:lnTo>
                    <a:pt x="620" y="359"/>
                  </a:lnTo>
                  <a:lnTo>
                    <a:pt x="610" y="363"/>
                  </a:lnTo>
                  <a:lnTo>
                    <a:pt x="601" y="368"/>
                  </a:lnTo>
                  <a:lnTo>
                    <a:pt x="593" y="375"/>
                  </a:lnTo>
                  <a:lnTo>
                    <a:pt x="586" y="384"/>
                  </a:lnTo>
                  <a:lnTo>
                    <a:pt x="583" y="391"/>
                  </a:lnTo>
                  <a:lnTo>
                    <a:pt x="579" y="402"/>
                  </a:lnTo>
                  <a:lnTo>
                    <a:pt x="577" y="411"/>
                  </a:lnTo>
                  <a:lnTo>
                    <a:pt x="580" y="428"/>
                  </a:lnTo>
                  <a:lnTo>
                    <a:pt x="586" y="441"/>
                  </a:lnTo>
                  <a:lnTo>
                    <a:pt x="598" y="451"/>
                  </a:lnTo>
                  <a:lnTo>
                    <a:pt x="612" y="459"/>
                  </a:lnTo>
                  <a:lnTo>
                    <a:pt x="629" y="464"/>
                  </a:lnTo>
                  <a:lnTo>
                    <a:pt x="646" y="469"/>
                  </a:lnTo>
                  <a:lnTo>
                    <a:pt x="663" y="474"/>
                  </a:lnTo>
                  <a:lnTo>
                    <a:pt x="677" y="479"/>
                  </a:lnTo>
                  <a:lnTo>
                    <a:pt x="674" y="487"/>
                  </a:lnTo>
                  <a:lnTo>
                    <a:pt x="663" y="508"/>
                  </a:lnTo>
                  <a:lnTo>
                    <a:pt x="643" y="538"/>
                  </a:lnTo>
                  <a:lnTo>
                    <a:pt x="619" y="573"/>
                  </a:lnTo>
                  <a:lnTo>
                    <a:pt x="592" y="612"/>
                  </a:lnTo>
                  <a:lnTo>
                    <a:pt x="562" y="650"/>
                  </a:lnTo>
                  <a:lnTo>
                    <a:pt x="533" y="687"/>
                  </a:lnTo>
                  <a:lnTo>
                    <a:pt x="506" y="718"/>
                  </a:lnTo>
                  <a:lnTo>
                    <a:pt x="498" y="720"/>
                  </a:lnTo>
                  <a:lnTo>
                    <a:pt x="492" y="723"/>
                  </a:lnTo>
                  <a:lnTo>
                    <a:pt x="483" y="724"/>
                  </a:lnTo>
                  <a:lnTo>
                    <a:pt x="475" y="724"/>
                  </a:lnTo>
                  <a:lnTo>
                    <a:pt x="466" y="726"/>
                  </a:lnTo>
                  <a:lnTo>
                    <a:pt x="458" y="724"/>
                  </a:lnTo>
                  <a:lnTo>
                    <a:pt x="451" y="724"/>
                  </a:lnTo>
                  <a:lnTo>
                    <a:pt x="443" y="723"/>
                  </a:lnTo>
                  <a:lnTo>
                    <a:pt x="421" y="718"/>
                  </a:lnTo>
                  <a:lnTo>
                    <a:pt x="396" y="710"/>
                  </a:lnTo>
                  <a:lnTo>
                    <a:pt x="370" y="702"/>
                  </a:lnTo>
                  <a:lnTo>
                    <a:pt x="346" y="693"/>
                  </a:lnTo>
                  <a:lnTo>
                    <a:pt x="324" y="684"/>
                  </a:lnTo>
                  <a:lnTo>
                    <a:pt x="304" y="678"/>
                  </a:lnTo>
                  <a:lnTo>
                    <a:pt x="291" y="672"/>
                  </a:lnTo>
                  <a:lnTo>
                    <a:pt x="286" y="670"/>
                  </a:lnTo>
                  <a:lnTo>
                    <a:pt x="268" y="663"/>
                  </a:lnTo>
                  <a:lnTo>
                    <a:pt x="251" y="657"/>
                  </a:lnTo>
                  <a:lnTo>
                    <a:pt x="233" y="652"/>
                  </a:lnTo>
                  <a:lnTo>
                    <a:pt x="216" y="645"/>
                  </a:lnTo>
                  <a:lnTo>
                    <a:pt x="198" y="639"/>
                  </a:lnTo>
                  <a:lnTo>
                    <a:pt x="181" y="632"/>
                  </a:lnTo>
                  <a:lnTo>
                    <a:pt x="163" y="626"/>
                  </a:lnTo>
                  <a:lnTo>
                    <a:pt x="146" y="621"/>
                  </a:lnTo>
                  <a:lnTo>
                    <a:pt x="128" y="614"/>
                  </a:lnTo>
                  <a:lnTo>
                    <a:pt x="111" y="608"/>
                  </a:lnTo>
                  <a:lnTo>
                    <a:pt x="93" y="601"/>
                  </a:lnTo>
                  <a:lnTo>
                    <a:pt x="76" y="595"/>
                  </a:lnTo>
                  <a:lnTo>
                    <a:pt x="58" y="588"/>
                  </a:lnTo>
                  <a:lnTo>
                    <a:pt x="42" y="582"/>
                  </a:lnTo>
                  <a:lnTo>
                    <a:pt x="23" y="574"/>
                  </a:lnTo>
                  <a:lnTo>
                    <a:pt x="7" y="568"/>
                  </a:lnTo>
                  <a:lnTo>
                    <a:pt x="5" y="565"/>
                  </a:lnTo>
                  <a:lnTo>
                    <a:pt x="3" y="562"/>
                  </a:lnTo>
                  <a:lnTo>
                    <a:pt x="1" y="560"/>
                  </a:lnTo>
                  <a:lnTo>
                    <a:pt x="0" y="557"/>
                  </a:lnTo>
                  <a:lnTo>
                    <a:pt x="21" y="520"/>
                  </a:lnTo>
                  <a:lnTo>
                    <a:pt x="44" y="483"/>
                  </a:lnTo>
                  <a:lnTo>
                    <a:pt x="67" y="447"/>
                  </a:lnTo>
                  <a:lnTo>
                    <a:pt x="92" y="412"/>
                  </a:lnTo>
                  <a:lnTo>
                    <a:pt x="115" y="376"/>
                  </a:lnTo>
                  <a:lnTo>
                    <a:pt x="139" y="338"/>
                  </a:lnTo>
                  <a:lnTo>
                    <a:pt x="161" y="302"/>
                  </a:lnTo>
                  <a:lnTo>
                    <a:pt x="181" y="263"/>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 name="Freeform 11"/>
            <p:cNvSpPr>
              <a:spLocks/>
            </p:cNvSpPr>
            <p:nvPr/>
          </p:nvSpPr>
          <p:spPr bwMode="auto">
            <a:xfrm>
              <a:off x="1387" y="3070"/>
              <a:ext cx="762" cy="308"/>
            </a:xfrm>
            <a:custGeom>
              <a:avLst/>
              <a:gdLst>
                <a:gd name="T0" fmla="*/ 39 w 762"/>
                <a:gd name="T1" fmla="*/ 99 h 308"/>
                <a:gd name="T2" fmla="*/ 103 w 762"/>
                <a:gd name="T3" fmla="*/ 128 h 308"/>
                <a:gd name="T4" fmla="*/ 164 w 762"/>
                <a:gd name="T5" fmla="*/ 152 h 308"/>
                <a:gd name="T6" fmla="*/ 195 w 762"/>
                <a:gd name="T7" fmla="*/ 164 h 308"/>
                <a:gd name="T8" fmla="*/ 250 w 762"/>
                <a:gd name="T9" fmla="*/ 184 h 308"/>
                <a:gd name="T10" fmla="*/ 316 w 762"/>
                <a:gd name="T11" fmla="*/ 208 h 308"/>
                <a:gd name="T12" fmla="*/ 382 w 762"/>
                <a:gd name="T13" fmla="*/ 230 h 308"/>
                <a:gd name="T14" fmla="*/ 435 w 762"/>
                <a:gd name="T15" fmla="*/ 244 h 308"/>
                <a:gd name="T16" fmla="*/ 467 w 762"/>
                <a:gd name="T17" fmla="*/ 251 h 308"/>
                <a:gd name="T18" fmla="*/ 494 w 762"/>
                <a:gd name="T19" fmla="*/ 256 h 308"/>
                <a:gd name="T20" fmla="*/ 520 w 762"/>
                <a:gd name="T21" fmla="*/ 252 h 308"/>
                <a:gd name="T22" fmla="*/ 569 w 762"/>
                <a:gd name="T23" fmla="*/ 190 h 308"/>
                <a:gd name="T24" fmla="*/ 616 w 762"/>
                <a:gd name="T25" fmla="*/ 121 h 308"/>
                <a:gd name="T26" fmla="*/ 656 w 762"/>
                <a:gd name="T27" fmla="*/ 66 h 308"/>
                <a:gd name="T28" fmla="*/ 689 w 762"/>
                <a:gd name="T29" fmla="*/ 26 h 308"/>
                <a:gd name="T30" fmla="*/ 714 w 762"/>
                <a:gd name="T31" fmla="*/ 0 h 308"/>
                <a:gd name="T32" fmla="*/ 729 w 762"/>
                <a:gd name="T33" fmla="*/ 11 h 308"/>
                <a:gd name="T34" fmla="*/ 747 w 762"/>
                <a:gd name="T35" fmla="*/ 32 h 308"/>
                <a:gd name="T36" fmla="*/ 762 w 762"/>
                <a:gd name="T37" fmla="*/ 50 h 308"/>
                <a:gd name="T38" fmla="*/ 745 w 762"/>
                <a:gd name="T39" fmla="*/ 73 h 308"/>
                <a:gd name="T40" fmla="*/ 726 w 762"/>
                <a:gd name="T41" fmla="*/ 64 h 308"/>
                <a:gd name="T42" fmla="*/ 712 w 762"/>
                <a:gd name="T43" fmla="*/ 54 h 308"/>
                <a:gd name="T44" fmla="*/ 685 w 762"/>
                <a:gd name="T45" fmla="*/ 89 h 308"/>
                <a:gd name="T46" fmla="*/ 656 w 762"/>
                <a:gd name="T47" fmla="*/ 130 h 308"/>
                <a:gd name="T48" fmla="*/ 656 w 762"/>
                <a:gd name="T49" fmla="*/ 140 h 308"/>
                <a:gd name="T50" fmla="*/ 677 w 762"/>
                <a:gd name="T51" fmla="*/ 147 h 308"/>
                <a:gd name="T52" fmla="*/ 701 w 762"/>
                <a:gd name="T53" fmla="*/ 147 h 308"/>
                <a:gd name="T54" fmla="*/ 686 w 762"/>
                <a:gd name="T55" fmla="*/ 169 h 308"/>
                <a:gd name="T56" fmla="*/ 669 w 762"/>
                <a:gd name="T57" fmla="*/ 190 h 308"/>
                <a:gd name="T58" fmla="*/ 652 w 762"/>
                <a:gd name="T59" fmla="*/ 191 h 308"/>
                <a:gd name="T60" fmla="*/ 633 w 762"/>
                <a:gd name="T61" fmla="*/ 154 h 308"/>
                <a:gd name="T62" fmla="*/ 610 w 762"/>
                <a:gd name="T63" fmla="*/ 180 h 308"/>
                <a:gd name="T64" fmla="*/ 572 w 762"/>
                <a:gd name="T65" fmla="*/ 225 h 308"/>
                <a:gd name="T66" fmla="*/ 562 w 762"/>
                <a:gd name="T67" fmla="*/ 243 h 308"/>
                <a:gd name="T68" fmla="*/ 579 w 762"/>
                <a:gd name="T69" fmla="*/ 251 h 308"/>
                <a:gd name="T70" fmla="*/ 602 w 762"/>
                <a:gd name="T71" fmla="*/ 256 h 308"/>
                <a:gd name="T72" fmla="*/ 590 w 762"/>
                <a:gd name="T73" fmla="*/ 276 h 308"/>
                <a:gd name="T74" fmla="*/ 568 w 762"/>
                <a:gd name="T75" fmla="*/ 296 h 308"/>
                <a:gd name="T76" fmla="*/ 558 w 762"/>
                <a:gd name="T77" fmla="*/ 308 h 308"/>
                <a:gd name="T78" fmla="*/ 479 w 762"/>
                <a:gd name="T79" fmla="*/ 294 h 308"/>
                <a:gd name="T80" fmla="*/ 375 w 762"/>
                <a:gd name="T81" fmla="*/ 265 h 308"/>
                <a:gd name="T82" fmla="*/ 264 w 762"/>
                <a:gd name="T83" fmla="*/ 228 h 308"/>
                <a:gd name="T84" fmla="*/ 163 w 762"/>
                <a:gd name="T85" fmla="*/ 189 h 308"/>
                <a:gd name="T86" fmla="*/ 88 w 762"/>
                <a:gd name="T87" fmla="*/ 155 h 308"/>
                <a:gd name="T88" fmla="*/ 57 w 762"/>
                <a:gd name="T89" fmla="*/ 140 h 308"/>
                <a:gd name="T90" fmla="*/ 26 w 762"/>
                <a:gd name="T91" fmla="*/ 128 h 308"/>
                <a:gd name="T92" fmla="*/ 9 w 762"/>
                <a:gd name="T93" fmla="*/ 123 h 308"/>
                <a:gd name="T94" fmla="*/ 2 w 762"/>
                <a:gd name="T95" fmla="*/ 90 h 30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62"/>
                <a:gd name="T145" fmla="*/ 0 h 308"/>
                <a:gd name="T146" fmla="*/ 762 w 762"/>
                <a:gd name="T147" fmla="*/ 308 h 30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62" h="308">
                  <a:moveTo>
                    <a:pt x="0" y="84"/>
                  </a:moveTo>
                  <a:lnTo>
                    <a:pt x="18" y="92"/>
                  </a:lnTo>
                  <a:lnTo>
                    <a:pt x="39" y="99"/>
                  </a:lnTo>
                  <a:lnTo>
                    <a:pt x="61" y="108"/>
                  </a:lnTo>
                  <a:lnTo>
                    <a:pt x="83" y="118"/>
                  </a:lnTo>
                  <a:lnTo>
                    <a:pt x="103" y="128"/>
                  </a:lnTo>
                  <a:lnTo>
                    <a:pt x="125" y="136"/>
                  </a:lnTo>
                  <a:lnTo>
                    <a:pt x="146" y="145"/>
                  </a:lnTo>
                  <a:lnTo>
                    <a:pt x="164" y="152"/>
                  </a:lnTo>
                  <a:lnTo>
                    <a:pt x="171" y="155"/>
                  </a:lnTo>
                  <a:lnTo>
                    <a:pt x="181" y="159"/>
                  </a:lnTo>
                  <a:lnTo>
                    <a:pt x="195" y="164"/>
                  </a:lnTo>
                  <a:lnTo>
                    <a:pt x="211" y="169"/>
                  </a:lnTo>
                  <a:lnTo>
                    <a:pt x="229" y="177"/>
                  </a:lnTo>
                  <a:lnTo>
                    <a:pt x="250" y="184"/>
                  </a:lnTo>
                  <a:lnTo>
                    <a:pt x="272" y="191"/>
                  </a:lnTo>
                  <a:lnTo>
                    <a:pt x="294" y="199"/>
                  </a:lnTo>
                  <a:lnTo>
                    <a:pt x="316" y="208"/>
                  </a:lnTo>
                  <a:lnTo>
                    <a:pt x="339" y="216"/>
                  </a:lnTo>
                  <a:lnTo>
                    <a:pt x="361" y="222"/>
                  </a:lnTo>
                  <a:lnTo>
                    <a:pt x="382" y="230"/>
                  </a:lnTo>
                  <a:lnTo>
                    <a:pt x="401" y="235"/>
                  </a:lnTo>
                  <a:lnTo>
                    <a:pt x="419" y="241"/>
                  </a:lnTo>
                  <a:lnTo>
                    <a:pt x="435" y="244"/>
                  </a:lnTo>
                  <a:lnTo>
                    <a:pt x="448" y="247"/>
                  </a:lnTo>
                  <a:lnTo>
                    <a:pt x="457" y="248"/>
                  </a:lnTo>
                  <a:lnTo>
                    <a:pt x="467" y="251"/>
                  </a:lnTo>
                  <a:lnTo>
                    <a:pt x="476" y="252"/>
                  </a:lnTo>
                  <a:lnTo>
                    <a:pt x="485" y="255"/>
                  </a:lnTo>
                  <a:lnTo>
                    <a:pt x="494" y="256"/>
                  </a:lnTo>
                  <a:lnTo>
                    <a:pt x="503" y="256"/>
                  </a:lnTo>
                  <a:lnTo>
                    <a:pt x="512" y="255"/>
                  </a:lnTo>
                  <a:lnTo>
                    <a:pt x="520" y="252"/>
                  </a:lnTo>
                  <a:lnTo>
                    <a:pt x="537" y="233"/>
                  </a:lnTo>
                  <a:lnTo>
                    <a:pt x="554" y="212"/>
                  </a:lnTo>
                  <a:lnTo>
                    <a:pt x="569" y="190"/>
                  </a:lnTo>
                  <a:lnTo>
                    <a:pt x="585" y="167"/>
                  </a:lnTo>
                  <a:lnTo>
                    <a:pt x="601" y="143"/>
                  </a:lnTo>
                  <a:lnTo>
                    <a:pt x="616" y="121"/>
                  </a:lnTo>
                  <a:lnTo>
                    <a:pt x="632" y="98"/>
                  </a:lnTo>
                  <a:lnTo>
                    <a:pt x="647" y="77"/>
                  </a:lnTo>
                  <a:lnTo>
                    <a:pt x="656" y="66"/>
                  </a:lnTo>
                  <a:lnTo>
                    <a:pt x="667" y="53"/>
                  </a:lnTo>
                  <a:lnTo>
                    <a:pt x="678" y="38"/>
                  </a:lnTo>
                  <a:lnTo>
                    <a:pt x="689" y="26"/>
                  </a:lnTo>
                  <a:lnTo>
                    <a:pt x="699" y="14"/>
                  </a:lnTo>
                  <a:lnTo>
                    <a:pt x="708" y="5"/>
                  </a:lnTo>
                  <a:lnTo>
                    <a:pt x="714" y="0"/>
                  </a:lnTo>
                  <a:lnTo>
                    <a:pt x="718" y="0"/>
                  </a:lnTo>
                  <a:lnTo>
                    <a:pt x="723" y="5"/>
                  </a:lnTo>
                  <a:lnTo>
                    <a:pt x="729" y="11"/>
                  </a:lnTo>
                  <a:lnTo>
                    <a:pt x="735" y="18"/>
                  </a:lnTo>
                  <a:lnTo>
                    <a:pt x="740" y="24"/>
                  </a:lnTo>
                  <a:lnTo>
                    <a:pt x="747" y="32"/>
                  </a:lnTo>
                  <a:lnTo>
                    <a:pt x="752" y="38"/>
                  </a:lnTo>
                  <a:lnTo>
                    <a:pt x="757" y="45"/>
                  </a:lnTo>
                  <a:lnTo>
                    <a:pt x="762" y="50"/>
                  </a:lnTo>
                  <a:lnTo>
                    <a:pt x="756" y="58"/>
                  </a:lnTo>
                  <a:lnTo>
                    <a:pt x="751" y="66"/>
                  </a:lnTo>
                  <a:lnTo>
                    <a:pt x="745" y="73"/>
                  </a:lnTo>
                  <a:lnTo>
                    <a:pt x="740" y="83"/>
                  </a:lnTo>
                  <a:lnTo>
                    <a:pt x="734" y="75"/>
                  </a:lnTo>
                  <a:lnTo>
                    <a:pt x="726" y="64"/>
                  </a:lnTo>
                  <a:lnTo>
                    <a:pt x="718" y="55"/>
                  </a:lnTo>
                  <a:lnTo>
                    <a:pt x="714" y="51"/>
                  </a:lnTo>
                  <a:lnTo>
                    <a:pt x="712" y="54"/>
                  </a:lnTo>
                  <a:lnTo>
                    <a:pt x="705" y="63"/>
                  </a:lnTo>
                  <a:lnTo>
                    <a:pt x="695" y="75"/>
                  </a:lnTo>
                  <a:lnTo>
                    <a:pt x="685" y="89"/>
                  </a:lnTo>
                  <a:lnTo>
                    <a:pt x="673" y="105"/>
                  </a:lnTo>
                  <a:lnTo>
                    <a:pt x="663" y="119"/>
                  </a:lnTo>
                  <a:lnTo>
                    <a:pt x="656" y="130"/>
                  </a:lnTo>
                  <a:lnTo>
                    <a:pt x="652" y="137"/>
                  </a:lnTo>
                  <a:lnTo>
                    <a:pt x="652" y="138"/>
                  </a:lnTo>
                  <a:lnTo>
                    <a:pt x="656" y="140"/>
                  </a:lnTo>
                  <a:lnTo>
                    <a:pt x="661" y="142"/>
                  </a:lnTo>
                  <a:lnTo>
                    <a:pt x="669" y="145"/>
                  </a:lnTo>
                  <a:lnTo>
                    <a:pt x="677" y="147"/>
                  </a:lnTo>
                  <a:lnTo>
                    <a:pt x="686" y="149"/>
                  </a:lnTo>
                  <a:lnTo>
                    <a:pt x="694" y="149"/>
                  </a:lnTo>
                  <a:lnTo>
                    <a:pt x="701" y="147"/>
                  </a:lnTo>
                  <a:lnTo>
                    <a:pt x="696" y="155"/>
                  </a:lnTo>
                  <a:lnTo>
                    <a:pt x="691" y="162"/>
                  </a:lnTo>
                  <a:lnTo>
                    <a:pt x="686" y="169"/>
                  </a:lnTo>
                  <a:lnTo>
                    <a:pt x="681" y="176"/>
                  </a:lnTo>
                  <a:lnTo>
                    <a:pt x="674" y="182"/>
                  </a:lnTo>
                  <a:lnTo>
                    <a:pt x="669" y="190"/>
                  </a:lnTo>
                  <a:lnTo>
                    <a:pt x="663" y="197"/>
                  </a:lnTo>
                  <a:lnTo>
                    <a:pt x="657" y="203"/>
                  </a:lnTo>
                  <a:lnTo>
                    <a:pt x="652" y="191"/>
                  </a:lnTo>
                  <a:lnTo>
                    <a:pt x="645" y="174"/>
                  </a:lnTo>
                  <a:lnTo>
                    <a:pt x="637" y="160"/>
                  </a:lnTo>
                  <a:lnTo>
                    <a:pt x="633" y="154"/>
                  </a:lnTo>
                  <a:lnTo>
                    <a:pt x="629" y="158"/>
                  </a:lnTo>
                  <a:lnTo>
                    <a:pt x="621" y="167"/>
                  </a:lnTo>
                  <a:lnTo>
                    <a:pt x="610" y="180"/>
                  </a:lnTo>
                  <a:lnTo>
                    <a:pt x="597" y="195"/>
                  </a:lnTo>
                  <a:lnTo>
                    <a:pt x="584" y="211"/>
                  </a:lnTo>
                  <a:lnTo>
                    <a:pt x="572" y="225"/>
                  </a:lnTo>
                  <a:lnTo>
                    <a:pt x="564" y="235"/>
                  </a:lnTo>
                  <a:lnTo>
                    <a:pt x="560" y="241"/>
                  </a:lnTo>
                  <a:lnTo>
                    <a:pt x="562" y="243"/>
                  </a:lnTo>
                  <a:lnTo>
                    <a:pt x="564" y="246"/>
                  </a:lnTo>
                  <a:lnTo>
                    <a:pt x="571" y="248"/>
                  </a:lnTo>
                  <a:lnTo>
                    <a:pt x="579" y="251"/>
                  </a:lnTo>
                  <a:lnTo>
                    <a:pt x="586" y="254"/>
                  </a:lnTo>
                  <a:lnTo>
                    <a:pt x="594" y="255"/>
                  </a:lnTo>
                  <a:lnTo>
                    <a:pt x="602" y="256"/>
                  </a:lnTo>
                  <a:lnTo>
                    <a:pt x="607" y="256"/>
                  </a:lnTo>
                  <a:lnTo>
                    <a:pt x="598" y="266"/>
                  </a:lnTo>
                  <a:lnTo>
                    <a:pt x="590" y="276"/>
                  </a:lnTo>
                  <a:lnTo>
                    <a:pt x="582" y="283"/>
                  </a:lnTo>
                  <a:lnTo>
                    <a:pt x="575" y="290"/>
                  </a:lnTo>
                  <a:lnTo>
                    <a:pt x="568" y="296"/>
                  </a:lnTo>
                  <a:lnTo>
                    <a:pt x="563" y="301"/>
                  </a:lnTo>
                  <a:lnTo>
                    <a:pt x="559" y="305"/>
                  </a:lnTo>
                  <a:lnTo>
                    <a:pt x="558" y="308"/>
                  </a:lnTo>
                  <a:lnTo>
                    <a:pt x="536" y="305"/>
                  </a:lnTo>
                  <a:lnTo>
                    <a:pt x="509" y="301"/>
                  </a:lnTo>
                  <a:lnTo>
                    <a:pt x="479" y="294"/>
                  </a:lnTo>
                  <a:lnTo>
                    <a:pt x="446" y="286"/>
                  </a:lnTo>
                  <a:lnTo>
                    <a:pt x="412" y="276"/>
                  </a:lnTo>
                  <a:lnTo>
                    <a:pt x="375" y="265"/>
                  </a:lnTo>
                  <a:lnTo>
                    <a:pt x="338" y="254"/>
                  </a:lnTo>
                  <a:lnTo>
                    <a:pt x="302" y="241"/>
                  </a:lnTo>
                  <a:lnTo>
                    <a:pt x="264" y="228"/>
                  </a:lnTo>
                  <a:lnTo>
                    <a:pt x="228" y="215"/>
                  </a:lnTo>
                  <a:lnTo>
                    <a:pt x="194" y="202"/>
                  </a:lnTo>
                  <a:lnTo>
                    <a:pt x="163" y="189"/>
                  </a:lnTo>
                  <a:lnTo>
                    <a:pt x="133" y="176"/>
                  </a:lnTo>
                  <a:lnTo>
                    <a:pt x="109" y="165"/>
                  </a:lnTo>
                  <a:lnTo>
                    <a:pt x="88" y="155"/>
                  </a:lnTo>
                  <a:lnTo>
                    <a:pt x="71" y="146"/>
                  </a:lnTo>
                  <a:lnTo>
                    <a:pt x="65" y="143"/>
                  </a:lnTo>
                  <a:lnTo>
                    <a:pt x="57" y="140"/>
                  </a:lnTo>
                  <a:lnTo>
                    <a:pt x="47" y="136"/>
                  </a:lnTo>
                  <a:lnTo>
                    <a:pt x="36" y="132"/>
                  </a:lnTo>
                  <a:lnTo>
                    <a:pt x="26" y="128"/>
                  </a:lnTo>
                  <a:lnTo>
                    <a:pt x="17" y="125"/>
                  </a:lnTo>
                  <a:lnTo>
                    <a:pt x="12" y="124"/>
                  </a:lnTo>
                  <a:lnTo>
                    <a:pt x="9" y="123"/>
                  </a:lnTo>
                  <a:lnTo>
                    <a:pt x="8" y="115"/>
                  </a:lnTo>
                  <a:lnTo>
                    <a:pt x="5" y="103"/>
                  </a:lnTo>
                  <a:lnTo>
                    <a:pt x="2" y="90"/>
                  </a:lnTo>
                  <a:lnTo>
                    <a:pt x="0" y="84"/>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 name="Freeform 12"/>
            <p:cNvSpPr>
              <a:spLocks/>
            </p:cNvSpPr>
            <p:nvPr/>
          </p:nvSpPr>
          <p:spPr bwMode="auto">
            <a:xfrm>
              <a:off x="2050" y="3142"/>
              <a:ext cx="68" cy="64"/>
            </a:xfrm>
            <a:custGeom>
              <a:avLst/>
              <a:gdLst>
                <a:gd name="T0" fmla="*/ 68 w 68"/>
                <a:gd name="T1" fmla="*/ 30 h 64"/>
                <a:gd name="T2" fmla="*/ 68 w 68"/>
                <a:gd name="T3" fmla="*/ 30 h 64"/>
                <a:gd name="T4" fmla="*/ 64 w 68"/>
                <a:gd name="T5" fmla="*/ 39 h 64"/>
                <a:gd name="T6" fmla="*/ 58 w 68"/>
                <a:gd name="T7" fmla="*/ 46 h 64"/>
                <a:gd name="T8" fmla="*/ 51 w 68"/>
                <a:gd name="T9" fmla="*/ 51 h 64"/>
                <a:gd name="T10" fmla="*/ 44 w 68"/>
                <a:gd name="T11" fmla="*/ 56 h 64"/>
                <a:gd name="T12" fmla="*/ 36 w 68"/>
                <a:gd name="T13" fmla="*/ 58 h 64"/>
                <a:gd name="T14" fmla="*/ 27 w 68"/>
                <a:gd name="T15" fmla="*/ 61 h 64"/>
                <a:gd name="T16" fmla="*/ 18 w 68"/>
                <a:gd name="T17" fmla="*/ 62 h 64"/>
                <a:gd name="T18" fmla="*/ 9 w 68"/>
                <a:gd name="T19" fmla="*/ 64 h 64"/>
                <a:gd name="T20" fmla="*/ 0 w 68"/>
                <a:gd name="T21" fmla="*/ 64 h 64"/>
                <a:gd name="T22" fmla="*/ 1 w 68"/>
                <a:gd name="T23" fmla="*/ 61 h 64"/>
                <a:gd name="T24" fmla="*/ 4 w 68"/>
                <a:gd name="T25" fmla="*/ 60 h 64"/>
                <a:gd name="T26" fmla="*/ 5 w 68"/>
                <a:gd name="T27" fmla="*/ 57 h 64"/>
                <a:gd name="T28" fmla="*/ 6 w 68"/>
                <a:gd name="T29" fmla="*/ 56 h 64"/>
                <a:gd name="T30" fmla="*/ 7 w 68"/>
                <a:gd name="T31" fmla="*/ 56 h 64"/>
                <a:gd name="T32" fmla="*/ 7 w 68"/>
                <a:gd name="T33" fmla="*/ 56 h 64"/>
                <a:gd name="T34" fmla="*/ 7 w 68"/>
                <a:gd name="T35" fmla="*/ 56 h 64"/>
                <a:gd name="T36" fmla="*/ 9 w 68"/>
                <a:gd name="T37" fmla="*/ 55 h 64"/>
                <a:gd name="T38" fmla="*/ 14 w 68"/>
                <a:gd name="T39" fmla="*/ 48 h 64"/>
                <a:gd name="T40" fmla="*/ 20 w 68"/>
                <a:gd name="T41" fmla="*/ 43 h 64"/>
                <a:gd name="T42" fmla="*/ 26 w 68"/>
                <a:gd name="T43" fmla="*/ 36 h 64"/>
                <a:gd name="T44" fmla="*/ 32 w 68"/>
                <a:gd name="T45" fmla="*/ 29 h 64"/>
                <a:gd name="T46" fmla="*/ 37 w 68"/>
                <a:gd name="T47" fmla="*/ 22 h 64"/>
                <a:gd name="T48" fmla="*/ 42 w 68"/>
                <a:gd name="T49" fmla="*/ 16 h 64"/>
                <a:gd name="T50" fmla="*/ 46 w 68"/>
                <a:gd name="T51" fmla="*/ 8 h 64"/>
                <a:gd name="T52" fmla="*/ 51 w 68"/>
                <a:gd name="T53" fmla="*/ 0 h 64"/>
                <a:gd name="T54" fmla="*/ 57 w 68"/>
                <a:gd name="T55" fmla="*/ 7 h 64"/>
                <a:gd name="T56" fmla="*/ 60 w 68"/>
                <a:gd name="T57" fmla="*/ 12 h 64"/>
                <a:gd name="T58" fmla="*/ 64 w 68"/>
                <a:gd name="T59" fmla="*/ 18 h 64"/>
                <a:gd name="T60" fmla="*/ 67 w 68"/>
                <a:gd name="T61" fmla="*/ 25 h 64"/>
                <a:gd name="T62" fmla="*/ 68 w 68"/>
                <a:gd name="T63" fmla="*/ 25 h 64"/>
                <a:gd name="T64" fmla="*/ 67 w 68"/>
                <a:gd name="T65" fmla="*/ 26 h 64"/>
                <a:gd name="T66" fmla="*/ 67 w 68"/>
                <a:gd name="T67" fmla="*/ 27 h 64"/>
                <a:gd name="T68" fmla="*/ 67 w 68"/>
                <a:gd name="T69" fmla="*/ 29 h 64"/>
                <a:gd name="T70" fmla="*/ 68 w 68"/>
                <a:gd name="T71" fmla="*/ 30 h 6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
                <a:gd name="T109" fmla="*/ 0 h 64"/>
                <a:gd name="T110" fmla="*/ 68 w 68"/>
                <a:gd name="T111" fmla="*/ 64 h 6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 h="64">
                  <a:moveTo>
                    <a:pt x="68" y="30"/>
                  </a:moveTo>
                  <a:lnTo>
                    <a:pt x="68" y="30"/>
                  </a:lnTo>
                  <a:lnTo>
                    <a:pt x="64" y="39"/>
                  </a:lnTo>
                  <a:lnTo>
                    <a:pt x="58" y="46"/>
                  </a:lnTo>
                  <a:lnTo>
                    <a:pt x="51" y="51"/>
                  </a:lnTo>
                  <a:lnTo>
                    <a:pt x="44" y="56"/>
                  </a:lnTo>
                  <a:lnTo>
                    <a:pt x="36" y="58"/>
                  </a:lnTo>
                  <a:lnTo>
                    <a:pt x="27" y="61"/>
                  </a:lnTo>
                  <a:lnTo>
                    <a:pt x="18" y="62"/>
                  </a:lnTo>
                  <a:lnTo>
                    <a:pt x="9" y="64"/>
                  </a:lnTo>
                  <a:lnTo>
                    <a:pt x="0" y="64"/>
                  </a:lnTo>
                  <a:lnTo>
                    <a:pt x="1" y="61"/>
                  </a:lnTo>
                  <a:lnTo>
                    <a:pt x="4" y="60"/>
                  </a:lnTo>
                  <a:lnTo>
                    <a:pt x="5" y="57"/>
                  </a:lnTo>
                  <a:lnTo>
                    <a:pt x="6" y="56"/>
                  </a:lnTo>
                  <a:lnTo>
                    <a:pt x="7" y="56"/>
                  </a:lnTo>
                  <a:lnTo>
                    <a:pt x="9" y="55"/>
                  </a:lnTo>
                  <a:lnTo>
                    <a:pt x="14" y="48"/>
                  </a:lnTo>
                  <a:lnTo>
                    <a:pt x="20" y="43"/>
                  </a:lnTo>
                  <a:lnTo>
                    <a:pt x="26" y="36"/>
                  </a:lnTo>
                  <a:lnTo>
                    <a:pt x="32" y="29"/>
                  </a:lnTo>
                  <a:lnTo>
                    <a:pt x="37" y="22"/>
                  </a:lnTo>
                  <a:lnTo>
                    <a:pt x="42" y="16"/>
                  </a:lnTo>
                  <a:lnTo>
                    <a:pt x="46" y="8"/>
                  </a:lnTo>
                  <a:lnTo>
                    <a:pt x="51" y="0"/>
                  </a:lnTo>
                  <a:lnTo>
                    <a:pt x="57" y="7"/>
                  </a:lnTo>
                  <a:lnTo>
                    <a:pt x="60" y="12"/>
                  </a:lnTo>
                  <a:lnTo>
                    <a:pt x="64" y="18"/>
                  </a:lnTo>
                  <a:lnTo>
                    <a:pt x="67" y="25"/>
                  </a:lnTo>
                  <a:lnTo>
                    <a:pt x="68" y="25"/>
                  </a:lnTo>
                  <a:lnTo>
                    <a:pt x="67" y="26"/>
                  </a:lnTo>
                  <a:lnTo>
                    <a:pt x="67" y="27"/>
                  </a:lnTo>
                  <a:lnTo>
                    <a:pt x="67" y="29"/>
                  </a:lnTo>
                  <a:lnTo>
                    <a:pt x="68" y="3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 name="Freeform 13"/>
            <p:cNvSpPr>
              <a:spLocks/>
            </p:cNvSpPr>
            <p:nvPr/>
          </p:nvSpPr>
          <p:spPr bwMode="auto">
            <a:xfrm>
              <a:off x="1973" y="3255"/>
              <a:ext cx="52" cy="49"/>
            </a:xfrm>
            <a:custGeom>
              <a:avLst/>
              <a:gdLst>
                <a:gd name="T0" fmla="*/ 51 w 52"/>
                <a:gd name="T1" fmla="*/ 32 h 49"/>
                <a:gd name="T2" fmla="*/ 47 w 52"/>
                <a:gd name="T3" fmla="*/ 40 h 49"/>
                <a:gd name="T4" fmla="*/ 42 w 52"/>
                <a:gd name="T5" fmla="*/ 45 h 49"/>
                <a:gd name="T6" fmla="*/ 37 w 52"/>
                <a:gd name="T7" fmla="*/ 48 h 49"/>
                <a:gd name="T8" fmla="*/ 30 w 52"/>
                <a:gd name="T9" fmla="*/ 49 h 49"/>
                <a:gd name="T10" fmla="*/ 22 w 52"/>
                <a:gd name="T11" fmla="*/ 49 h 49"/>
                <a:gd name="T12" fmla="*/ 16 w 52"/>
                <a:gd name="T13" fmla="*/ 48 h 49"/>
                <a:gd name="T14" fmla="*/ 8 w 52"/>
                <a:gd name="T15" fmla="*/ 45 h 49"/>
                <a:gd name="T16" fmla="*/ 0 w 52"/>
                <a:gd name="T17" fmla="*/ 43 h 49"/>
                <a:gd name="T18" fmla="*/ 2 w 52"/>
                <a:gd name="T19" fmla="*/ 41 h 49"/>
                <a:gd name="T20" fmla="*/ 5 w 52"/>
                <a:gd name="T21" fmla="*/ 39 h 49"/>
                <a:gd name="T22" fmla="*/ 11 w 52"/>
                <a:gd name="T23" fmla="*/ 34 h 49"/>
                <a:gd name="T24" fmla="*/ 17 w 52"/>
                <a:gd name="T25" fmla="*/ 27 h 49"/>
                <a:gd name="T26" fmla="*/ 24 w 52"/>
                <a:gd name="T27" fmla="*/ 21 h 49"/>
                <a:gd name="T28" fmla="*/ 30 w 52"/>
                <a:gd name="T29" fmla="*/ 14 h 49"/>
                <a:gd name="T30" fmla="*/ 37 w 52"/>
                <a:gd name="T31" fmla="*/ 6 h 49"/>
                <a:gd name="T32" fmla="*/ 42 w 52"/>
                <a:gd name="T33" fmla="*/ 0 h 49"/>
                <a:gd name="T34" fmla="*/ 46 w 52"/>
                <a:gd name="T35" fmla="*/ 9 h 49"/>
                <a:gd name="T36" fmla="*/ 49 w 52"/>
                <a:gd name="T37" fmla="*/ 17 h 49"/>
                <a:gd name="T38" fmla="*/ 52 w 52"/>
                <a:gd name="T39" fmla="*/ 24 h 49"/>
                <a:gd name="T40" fmla="*/ 51 w 52"/>
                <a:gd name="T41" fmla="*/ 32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2"/>
                <a:gd name="T64" fmla="*/ 0 h 49"/>
                <a:gd name="T65" fmla="*/ 52 w 52"/>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2" h="49">
                  <a:moveTo>
                    <a:pt x="51" y="32"/>
                  </a:moveTo>
                  <a:lnTo>
                    <a:pt x="47" y="40"/>
                  </a:lnTo>
                  <a:lnTo>
                    <a:pt x="42" y="45"/>
                  </a:lnTo>
                  <a:lnTo>
                    <a:pt x="37" y="48"/>
                  </a:lnTo>
                  <a:lnTo>
                    <a:pt x="30" y="49"/>
                  </a:lnTo>
                  <a:lnTo>
                    <a:pt x="22" y="49"/>
                  </a:lnTo>
                  <a:lnTo>
                    <a:pt x="16" y="48"/>
                  </a:lnTo>
                  <a:lnTo>
                    <a:pt x="8" y="45"/>
                  </a:lnTo>
                  <a:lnTo>
                    <a:pt x="0" y="43"/>
                  </a:lnTo>
                  <a:lnTo>
                    <a:pt x="2" y="41"/>
                  </a:lnTo>
                  <a:lnTo>
                    <a:pt x="5" y="39"/>
                  </a:lnTo>
                  <a:lnTo>
                    <a:pt x="11" y="34"/>
                  </a:lnTo>
                  <a:lnTo>
                    <a:pt x="17" y="27"/>
                  </a:lnTo>
                  <a:lnTo>
                    <a:pt x="24" y="21"/>
                  </a:lnTo>
                  <a:lnTo>
                    <a:pt x="30" y="14"/>
                  </a:lnTo>
                  <a:lnTo>
                    <a:pt x="37" y="6"/>
                  </a:lnTo>
                  <a:lnTo>
                    <a:pt x="42" y="0"/>
                  </a:lnTo>
                  <a:lnTo>
                    <a:pt x="46" y="9"/>
                  </a:lnTo>
                  <a:lnTo>
                    <a:pt x="49" y="17"/>
                  </a:lnTo>
                  <a:lnTo>
                    <a:pt x="52" y="24"/>
                  </a:lnTo>
                  <a:lnTo>
                    <a:pt x="51" y="3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 name="Freeform 14"/>
            <p:cNvSpPr>
              <a:spLocks/>
            </p:cNvSpPr>
            <p:nvPr/>
          </p:nvSpPr>
          <p:spPr bwMode="auto">
            <a:xfrm>
              <a:off x="1400" y="3136"/>
              <a:ext cx="775" cy="285"/>
            </a:xfrm>
            <a:custGeom>
              <a:avLst/>
              <a:gdLst>
                <a:gd name="T0" fmla="*/ 652 w 775"/>
                <a:gd name="T1" fmla="*/ 190 h 285"/>
                <a:gd name="T2" fmla="*/ 630 w 775"/>
                <a:gd name="T3" fmla="*/ 221 h 285"/>
                <a:gd name="T4" fmla="*/ 606 w 775"/>
                <a:gd name="T5" fmla="*/ 251 h 285"/>
                <a:gd name="T6" fmla="*/ 577 w 775"/>
                <a:gd name="T7" fmla="*/ 273 h 285"/>
                <a:gd name="T8" fmla="*/ 542 w 775"/>
                <a:gd name="T9" fmla="*/ 283 h 285"/>
                <a:gd name="T10" fmla="*/ 503 w 775"/>
                <a:gd name="T11" fmla="*/ 285 h 285"/>
                <a:gd name="T12" fmla="*/ 466 w 775"/>
                <a:gd name="T13" fmla="*/ 278 h 285"/>
                <a:gd name="T14" fmla="*/ 428 w 775"/>
                <a:gd name="T15" fmla="*/ 267 h 285"/>
                <a:gd name="T16" fmla="*/ 386 w 775"/>
                <a:gd name="T17" fmla="*/ 251 h 285"/>
                <a:gd name="T18" fmla="*/ 335 w 775"/>
                <a:gd name="T19" fmla="*/ 232 h 285"/>
                <a:gd name="T20" fmla="*/ 286 w 775"/>
                <a:gd name="T21" fmla="*/ 212 h 285"/>
                <a:gd name="T22" fmla="*/ 234 w 775"/>
                <a:gd name="T23" fmla="*/ 193 h 285"/>
                <a:gd name="T24" fmla="*/ 184 w 775"/>
                <a:gd name="T25" fmla="*/ 172 h 285"/>
                <a:gd name="T26" fmla="*/ 133 w 775"/>
                <a:gd name="T27" fmla="*/ 153 h 285"/>
                <a:gd name="T28" fmla="*/ 84 w 775"/>
                <a:gd name="T29" fmla="*/ 132 h 285"/>
                <a:gd name="T30" fmla="*/ 35 w 775"/>
                <a:gd name="T31" fmla="*/ 111 h 285"/>
                <a:gd name="T32" fmla="*/ 9 w 775"/>
                <a:gd name="T33" fmla="*/ 98 h 285"/>
                <a:gd name="T34" fmla="*/ 1 w 775"/>
                <a:gd name="T35" fmla="*/ 84 h 285"/>
                <a:gd name="T36" fmla="*/ 9 w 775"/>
                <a:gd name="T37" fmla="*/ 83 h 285"/>
                <a:gd name="T38" fmla="*/ 31 w 775"/>
                <a:gd name="T39" fmla="*/ 92 h 285"/>
                <a:gd name="T40" fmla="*/ 54 w 775"/>
                <a:gd name="T41" fmla="*/ 101 h 285"/>
                <a:gd name="T42" fmla="*/ 76 w 775"/>
                <a:gd name="T43" fmla="*/ 110 h 285"/>
                <a:gd name="T44" fmla="*/ 111 w 775"/>
                <a:gd name="T45" fmla="*/ 127 h 285"/>
                <a:gd name="T46" fmla="*/ 158 w 775"/>
                <a:gd name="T47" fmla="*/ 146 h 285"/>
                <a:gd name="T48" fmla="*/ 198 w 775"/>
                <a:gd name="T49" fmla="*/ 160 h 285"/>
                <a:gd name="T50" fmla="*/ 232 w 775"/>
                <a:gd name="T51" fmla="*/ 172 h 285"/>
                <a:gd name="T52" fmla="*/ 264 w 775"/>
                <a:gd name="T53" fmla="*/ 184 h 285"/>
                <a:gd name="T54" fmla="*/ 296 w 775"/>
                <a:gd name="T55" fmla="*/ 195 h 285"/>
                <a:gd name="T56" fmla="*/ 329 w 775"/>
                <a:gd name="T57" fmla="*/ 207 h 285"/>
                <a:gd name="T58" fmla="*/ 361 w 775"/>
                <a:gd name="T59" fmla="*/ 219 h 285"/>
                <a:gd name="T60" fmla="*/ 393 w 775"/>
                <a:gd name="T61" fmla="*/ 230 h 285"/>
                <a:gd name="T62" fmla="*/ 426 w 775"/>
                <a:gd name="T63" fmla="*/ 241 h 285"/>
                <a:gd name="T64" fmla="*/ 458 w 775"/>
                <a:gd name="T65" fmla="*/ 251 h 285"/>
                <a:gd name="T66" fmla="*/ 492 w 775"/>
                <a:gd name="T67" fmla="*/ 260 h 285"/>
                <a:gd name="T68" fmla="*/ 514 w 775"/>
                <a:gd name="T69" fmla="*/ 265 h 285"/>
                <a:gd name="T70" fmla="*/ 531 w 775"/>
                <a:gd name="T71" fmla="*/ 267 h 285"/>
                <a:gd name="T72" fmla="*/ 549 w 775"/>
                <a:gd name="T73" fmla="*/ 264 h 285"/>
                <a:gd name="T74" fmla="*/ 573 w 775"/>
                <a:gd name="T75" fmla="*/ 247 h 285"/>
                <a:gd name="T76" fmla="*/ 597 w 775"/>
                <a:gd name="T77" fmla="*/ 220 h 285"/>
                <a:gd name="T78" fmla="*/ 616 w 775"/>
                <a:gd name="T79" fmla="*/ 194 h 285"/>
                <a:gd name="T80" fmla="*/ 629 w 775"/>
                <a:gd name="T81" fmla="*/ 176 h 285"/>
                <a:gd name="T82" fmla="*/ 638 w 775"/>
                <a:gd name="T83" fmla="*/ 167 h 285"/>
                <a:gd name="T84" fmla="*/ 643 w 775"/>
                <a:gd name="T85" fmla="*/ 162 h 285"/>
                <a:gd name="T86" fmla="*/ 659 w 775"/>
                <a:gd name="T87" fmla="*/ 145 h 285"/>
                <a:gd name="T88" fmla="*/ 676 w 775"/>
                <a:gd name="T89" fmla="*/ 125 h 285"/>
                <a:gd name="T90" fmla="*/ 692 w 775"/>
                <a:gd name="T91" fmla="*/ 101 h 285"/>
                <a:gd name="T92" fmla="*/ 707 w 775"/>
                <a:gd name="T93" fmla="*/ 79 h 285"/>
                <a:gd name="T94" fmla="*/ 720 w 775"/>
                <a:gd name="T95" fmla="*/ 66 h 285"/>
                <a:gd name="T96" fmla="*/ 726 w 775"/>
                <a:gd name="T97" fmla="*/ 58 h 285"/>
                <a:gd name="T98" fmla="*/ 734 w 775"/>
                <a:gd name="T99" fmla="*/ 44 h 285"/>
                <a:gd name="T100" fmla="*/ 738 w 775"/>
                <a:gd name="T101" fmla="*/ 36 h 285"/>
                <a:gd name="T102" fmla="*/ 752 w 775"/>
                <a:gd name="T103" fmla="*/ 11 h 285"/>
                <a:gd name="T104" fmla="*/ 762 w 775"/>
                <a:gd name="T105" fmla="*/ 5 h 285"/>
                <a:gd name="T106" fmla="*/ 773 w 775"/>
                <a:gd name="T107" fmla="*/ 17 h 285"/>
                <a:gd name="T108" fmla="*/ 762 w 775"/>
                <a:gd name="T109" fmla="*/ 40 h 285"/>
                <a:gd name="T110" fmla="*/ 735 w 775"/>
                <a:gd name="T111" fmla="*/ 79 h 285"/>
                <a:gd name="T112" fmla="*/ 707 w 775"/>
                <a:gd name="T113" fmla="*/ 118 h 285"/>
                <a:gd name="T114" fmla="*/ 678 w 775"/>
                <a:gd name="T115" fmla="*/ 156 h 28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775"/>
                <a:gd name="T175" fmla="*/ 0 h 285"/>
                <a:gd name="T176" fmla="*/ 775 w 775"/>
                <a:gd name="T177" fmla="*/ 285 h 28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775" h="285">
                  <a:moveTo>
                    <a:pt x="663" y="176"/>
                  </a:moveTo>
                  <a:lnTo>
                    <a:pt x="652" y="190"/>
                  </a:lnTo>
                  <a:lnTo>
                    <a:pt x="641" y="206"/>
                  </a:lnTo>
                  <a:lnTo>
                    <a:pt x="630" y="221"/>
                  </a:lnTo>
                  <a:lnTo>
                    <a:pt x="619" y="237"/>
                  </a:lnTo>
                  <a:lnTo>
                    <a:pt x="606" y="251"/>
                  </a:lnTo>
                  <a:lnTo>
                    <a:pt x="591" y="264"/>
                  </a:lnTo>
                  <a:lnTo>
                    <a:pt x="577" y="273"/>
                  </a:lnTo>
                  <a:lnTo>
                    <a:pt x="560" y="279"/>
                  </a:lnTo>
                  <a:lnTo>
                    <a:pt x="542" y="283"/>
                  </a:lnTo>
                  <a:lnTo>
                    <a:pt x="523" y="285"/>
                  </a:lnTo>
                  <a:lnTo>
                    <a:pt x="503" y="285"/>
                  </a:lnTo>
                  <a:lnTo>
                    <a:pt x="484" y="282"/>
                  </a:lnTo>
                  <a:lnTo>
                    <a:pt x="466" y="278"/>
                  </a:lnTo>
                  <a:lnTo>
                    <a:pt x="446" y="273"/>
                  </a:lnTo>
                  <a:lnTo>
                    <a:pt x="428" y="267"/>
                  </a:lnTo>
                  <a:lnTo>
                    <a:pt x="410" y="260"/>
                  </a:lnTo>
                  <a:lnTo>
                    <a:pt x="386" y="251"/>
                  </a:lnTo>
                  <a:lnTo>
                    <a:pt x="361" y="241"/>
                  </a:lnTo>
                  <a:lnTo>
                    <a:pt x="335" y="232"/>
                  </a:lnTo>
                  <a:lnTo>
                    <a:pt x="311" y="221"/>
                  </a:lnTo>
                  <a:lnTo>
                    <a:pt x="286" y="212"/>
                  </a:lnTo>
                  <a:lnTo>
                    <a:pt x="260" y="202"/>
                  </a:lnTo>
                  <a:lnTo>
                    <a:pt x="234" y="193"/>
                  </a:lnTo>
                  <a:lnTo>
                    <a:pt x="210" y="182"/>
                  </a:lnTo>
                  <a:lnTo>
                    <a:pt x="184" y="172"/>
                  </a:lnTo>
                  <a:lnTo>
                    <a:pt x="159" y="163"/>
                  </a:lnTo>
                  <a:lnTo>
                    <a:pt x="133" y="153"/>
                  </a:lnTo>
                  <a:lnTo>
                    <a:pt x="109" y="142"/>
                  </a:lnTo>
                  <a:lnTo>
                    <a:pt x="84" y="132"/>
                  </a:lnTo>
                  <a:lnTo>
                    <a:pt x="59" y="121"/>
                  </a:lnTo>
                  <a:lnTo>
                    <a:pt x="35" y="111"/>
                  </a:lnTo>
                  <a:lnTo>
                    <a:pt x="10" y="101"/>
                  </a:lnTo>
                  <a:lnTo>
                    <a:pt x="9" y="98"/>
                  </a:lnTo>
                  <a:lnTo>
                    <a:pt x="5" y="92"/>
                  </a:lnTo>
                  <a:lnTo>
                    <a:pt x="1" y="84"/>
                  </a:lnTo>
                  <a:lnTo>
                    <a:pt x="0" y="79"/>
                  </a:lnTo>
                  <a:lnTo>
                    <a:pt x="9" y="83"/>
                  </a:lnTo>
                  <a:lnTo>
                    <a:pt x="19" y="86"/>
                  </a:lnTo>
                  <a:lnTo>
                    <a:pt x="31" y="92"/>
                  </a:lnTo>
                  <a:lnTo>
                    <a:pt x="43" y="96"/>
                  </a:lnTo>
                  <a:lnTo>
                    <a:pt x="54" y="101"/>
                  </a:lnTo>
                  <a:lnTo>
                    <a:pt x="66" y="105"/>
                  </a:lnTo>
                  <a:lnTo>
                    <a:pt x="76" y="110"/>
                  </a:lnTo>
                  <a:lnTo>
                    <a:pt x="85" y="114"/>
                  </a:lnTo>
                  <a:lnTo>
                    <a:pt x="111" y="127"/>
                  </a:lnTo>
                  <a:lnTo>
                    <a:pt x="136" y="137"/>
                  </a:lnTo>
                  <a:lnTo>
                    <a:pt x="158" y="146"/>
                  </a:lnTo>
                  <a:lnTo>
                    <a:pt x="178" y="154"/>
                  </a:lnTo>
                  <a:lnTo>
                    <a:pt x="198" y="160"/>
                  </a:lnTo>
                  <a:lnTo>
                    <a:pt x="215" y="167"/>
                  </a:lnTo>
                  <a:lnTo>
                    <a:pt x="232" y="172"/>
                  </a:lnTo>
                  <a:lnTo>
                    <a:pt x="247" y="177"/>
                  </a:lnTo>
                  <a:lnTo>
                    <a:pt x="264" y="184"/>
                  </a:lnTo>
                  <a:lnTo>
                    <a:pt x="281" y="189"/>
                  </a:lnTo>
                  <a:lnTo>
                    <a:pt x="296" y="195"/>
                  </a:lnTo>
                  <a:lnTo>
                    <a:pt x="313" y="200"/>
                  </a:lnTo>
                  <a:lnTo>
                    <a:pt x="329" y="207"/>
                  </a:lnTo>
                  <a:lnTo>
                    <a:pt x="345" y="213"/>
                  </a:lnTo>
                  <a:lnTo>
                    <a:pt x="361" y="219"/>
                  </a:lnTo>
                  <a:lnTo>
                    <a:pt x="378" y="224"/>
                  </a:lnTo>
                  <a:lnTo>
                    <a:pt x="393" y="230"/>
                  </a:lnTo>
                  <a:lnTo>
                    <a:pt x="410" y="235"/>
                  </a:lnTo>
                  <a:lnTo>
                    <a:pt x="426" y="241"/>
                  </a:lnTo>
                  <a:lnTo>
                    <a:pt x="443" y="246"/>
                  </a:lnTo>
                  <a:lnTo>
                    <a:pt x="458" y="251"/>
                  </a:lnTo>
                  <a:lnTo>
                    <a:pt x="475" y="256"/>
                  </a:lnTo>
                  <a:lnTo>
                    <a:pt x="492" y="260"/>
                  </a:lnTo>
                  <a:lnTo>
                    <a:pt x="509" y="264"/>
                  </a:lnTo>
                  <a:lnTo>
                    <a:pt x="514" y="265"/>
                  </a:lnTo>
                  <a:lnTo>
                    <a:pt x="522" y="267"/>
                  </a:lnTo>
                  <a:lnTo>
                    <a:pt x="531" y="267"/>
                  </a:lnTo>
                  <a:lnTo>
                    <a:pt x="536" y="267"/>
                  </a:lnTo>
                  <a:lnTo>
                    <a:pt x="549" y="264"/>
                  </a:lnTo>
                  <a:lnTo>
                    <a:pt x="560" y="257"/>
                  </a:lnTo>
                  <a:lnTo>
                    <a:pt x="573" y="247"/>
                  </a:lnTo>
                  <a:lnTo>
                    <a:pt x="585" y="234"/>
                  </a:lnTo>
                  <a:lnTo>
                    <a:pt x="597" y="220"/>
                  </a:lnTo>
                  <a:lnTo>
                    <a:pt x="607" y="206"/>
                  </a:lnTo>
                  <a:lnTo>
                    <a:pt x="616" y="194"/>
                  </a:lnTo>
                  <a:lnTo>
                    <a:pt x="622" y="185"/>
                  </a:lnTo>
                  <a:lnTo>
                    <a:pt x="629" y="176"/>
                  </a:lnTo>
                  <a:lnTo>
                    <a:pt x="635" y="171"/>
                  </a:lnTo>
                  <a:lnTo>
                    <a:pt x="638" y="167"/>
                  </a:lnTo>
                  <a:lnTo>
                    <a:pt x="639" y="165"/>
                  </a:lnTo>
                  <a:lnTo>
                    <a:pt x="643" y="162"/>
                  </a:lnTo>
                  <a:lnTo>
                    <a:pt x="651" y="153"/>
                  </a:lnTo>
                  <a:lnTo>
                    <a:pt x="659" y="145"/>
                  </a:lnTo>
                  <a:lnTo>
                    <a:pt x="663" y="141"/>
                  </a:lnTo>
                  <a:lnTo>
                    <a:pt x="676" y="125"/>
                  </a:lnTo>
                  <a:lnTo>
                    <a:pt x="685" y="114"/>
                  </a:lnTo>
                  <a:lnTo>
                    <a:pt x="692" y="101"/>
                  </a:lnTo>
                  <a:lnTo>
                    <a:pt x="700" y="83"/>
                  </a:lnTo>
                  <a:lnTo>
                    <a:pt x="707" y="79"/>
                  </a:lnTo>
                  <a:lnTo>
                    <a:pt x="713" y="72"/>
                  </a:lnTo>
                  <a:lnTo>
                    <a:pt x="720" y="66"/>
                  </a:lnTo>
                  <a:lnTo>
                    <a:pt x="725" y="61"/>
                  </a:lnTo>
                  <a:lnTo>
                    <a:pt x="726" y="58"/>
                  </a:lnTo>
                  <a:lnTo>
                    <a:pt x="730" y="52"/>
                  </a:lnTo>
                  <a:lnTo>
                    <a:pt x="734" y="44"/>
                  </a:lnTo>
                  <a:lnTo>
                    <a:pt x="735" y="40"/>
                  </a:lnTo>
                  <a:lnTo>
                    <a:pt x="738" y="36"/>
                  </a:lnTo>
                  <a:lnTo>
                    <a:pt x="744" y="26"/>
                  </a:lnTo>
                  <a:lnTo>
                    <a:pt x="752" y="11"/>
                  </a:lnTo>
                  <a:lnTo>
                    <a:pt x="758" y="0"/>
                  </a:lnTo>
                  <a:lnTo>
                    <a:pt x="762" y="5"/>
                  </a:lnTo>
                  <a:lnTo>
                    <a:pt x="767" y="11"/>
                  </a:lnTo>
                  <a:lnTo>
                    <a:pt x="773" y="17"/>
                  </a:lnTo>
                  <a:lnTo>
                    <a:pt x="775" y="20"/>
                  </a:lnTo>
                  <a:lnTo>
                    <a:pt x="762" y="40"/>
                  </a:lnTo>
                  <a:lnTo>
                    <a:pt x="749" y="59"/>
                  </a:lnTo>
                  <a:lnTo>
                    <a:pt x="735" y="79"/>
                  </a:lnTo>
                  <a:lnTo>
                    <a:pt x="721" y="98"/>
                  </a:lnTo>
                  <a:lnTo>
                    <a:pt x="707" y="118"/>
                  </a:lnTo>
                  <a:lnTo>
                    <a:pt x="692" y="137"/>
                  </a:lnTo>
                  <a:lnTo>
                    <a:pt x="678" y="156"/>
                  </a:lnTo>
                  <a:lnTo>
                    <a:pt x="663" y="176"/>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 name="Freeform 15"/>
            <p:cNvSpPr>
              <a:spLocks/>
            </p:cNvSpPr>
            <p:nvPr/>
          </p:nvSpPr>
          <p:spPr bwMode="auto">
            <a:xfrm>
              <a:off x="1991" y="2949"/>
              <a:ext cx="237" cy="188"/>
            </a:xfrm>
            <a:custGeom>
              <a:avLst/>
              <a:gdLst>
                <a:gd name="T0" fmla="*/ 197 w 237"/>
                <a:gd name="T1" fmla="*/ 188 h 188"/>
                <a:gd name="T2" fmla="*/ 191 w 237"/>
                <a:gd name="T3" fmla="*/ 179 h 188"/>
                <a:gd name="T4" fmla="*/ 183 w 237"/>
                <a:gd name="T5" fmla="*/ 170 h 188"/>
                <a:gd name="T6" fmla="*/ 175 w 237"/>
                <a:gd name="T7" fmla="*/ 162 h 188"/>
                <a:gd name="T8" fmla="*/ 167 w 237"/>
                <a:gd name="T9" fmla="*/ 153 h 188"/>
                <a:gd name="T10" fmla="*/ 160 w 237"/>
                <a:gd name="T11" fmla="*/ 145 h 188"/>
                <a:gd name="T12" fmla="*/ 152 w 237"/>
                <a:gd name="T13" fmla="*/ 136 h 188"/>
                <a:gd name="T14" fmla="*/ 144 w 237"/>
                <a:gd name="T15" fmla="*/ 128 h 188"/>
                <a:gd name="T16" fmla="*/ 136 w 237"/>
                <a:gd name="T17" fmla="*/ 119 h 188"/>
                <a:gd name="T18" fmla="*/ 123 w 237"/>
                <a:gd name="T19" fmla="*/ 105 h 188"/>
                <a:gd name="T20" fmla="*/ 110 w 237"/>
                <a:gd name="T21" fmla="*/ 95 h 188"/>
                <a:gd name="T22" fmla="*/ 95 w 237"/>
                <a:gd name="T23" fmla="*/ 86 h 188"/>
                <a:gd name="T24" fmla="*/ 78 w 237"/>
                <a:gd name="T25" fmla="*/ 78 h 188"/>
                <a:gd name="T26" fmla="*/ 61 w 237"/>
                <a:gd name="T27" fmla="*/ 73 h 188"/>
                <a:gd name="T28" fmla="*/ 44 w 237"/>
                <a:gd name="T29" fmla="*/ 66 h 188"/>
                <a:gd name="T30" fmla="*/ 28 w 237"/>
                <a:gd name="T31" fmla="*/ 60 h 188"/>
                <a:gd name="T32" fmla="*/ 11 w 237"/>
                <a:gd name="T33" fmla="*/ 53 h 188"/>
                <a:gd name="T34" fmla="*/ 7 w 237"/>
                <a:gd name="T35" fmla="*/ 51 h 188"/>
                <a:gd name="T36" fmla="*/ 4 w 237"/>
                <a:gd name="T37" fmla="*/ 48 h 188"/>
                <a:gd name="T38" fmla="*/ 2 w 237"/>
                <a:gd name="T39" fmla="*/ 45 h 188"/>
                <a:gd name="T40" fmla="*/ 0 w 237"/>
                <a:gd name="T41" fmla="*/ 42 h 188"/>
                <a:gd name="T42" fmla="*/ 0 w 237"/>
                <a:gd name="T43" fmla="*/ 31 h 188"/>
                <a:gd name="T44" fmla="*/ 4 w 237"/>
                <a:gd name="T45" fmla="*/ 21 h 188"/>
                <a:gd name="T46" fmla="*/ 9 w 237"/>
                <a:gd name="T47" fmla="*/ 13 h 188"/>
                <a:gd name="T48" fmla="*/ 20 w 237"/>
                <a:gd name="T49" fmla="*/ 8 h 188"/>
                <a:gd name="T50" fmla="*/ 33 w 237"/>
                <a:gd name="T51" fmla="*/ 4 h 188"/>
                <a:gd name="T52" fmla="*/ 47 w 237"/>
                <a:gd name="T53" fmla="*/ 1 h 188"/>
                <a:gd name="T54" fmla="*/ 61 w 237"/>
                <a:gd name="T55" fmla="*/ 0 h 188"/>
                <a:gd name="T56" fmla="*/ 75 w 237"/>
                <a:gd name="T57" fmla="*/ 1 h 188"/>
                <a:gd name="T58" fmla="*/ 90 w 237"/>
                <a:gd name="T59" fmla="*/ 4 h 188"/>
                <a:gd name="T60" fmla="*/ 103 w 237"/>
                <a:gd name="T61" fmla="*/ 8 h 188"/>
                <a:gd name="T62" fmla="*/ 116 w 237"/>
                <a:gd name="T63" fmla="*/ 13 h 188"/>
                <a:gd name="T64" fmla="*/ 129 w 237"/>
                <a:gd name="T65" fmla="*/ 20 h 188"/>
                <a:gd name="T66" fmla="*/ 145 w 237"/>
                <a:gd name="T67" fmla="*/ 30 h 188"/>
                <a:gd name="T68" fmla="*/ 161 w 237"/>
                <a:gd name="T69" fmla="*/ 42 h 188"/>
                <a:gd name="T70" fmla="*/ 175 w 237"/>
                <a:gd name="T71" fmla="*/ 53 h 188"/>
                <a:gd name="T72" fmla="*/ 188 w 237"/>
                <a:gd name="T73" fmla="*/ 68 h 188"/>
                <a:gd name="T74" fmla="*/ 201 w 237"/>
                <a:gd name="T75" fmla="*/ 82 h 188"/>
                <a:gd name="T76" fmla="*/ 213 w 237"/>
                <a:gd name="T77" fmla="*/ 97 h 188"/>
                <a:gd name="T78" fmla="*/ 226 w 237"/>
                <a:gd name="T79" fmla="*/ 112 h 188"/>
                <a:gd name="T80" fmla="*/ 237 w 237"/>
                <a:gd name="T81" fmla="*/ 127 h 188"/>
                <a:gd name="T82" fmla="*/ 232 w 237"/>
                <a:gd name="T83" fmla="*/ 135 h 188"/>
                <a:gd name="T84" fmla="*/ 227 w 237"/>
                <a:gd name="T85" fmla="*/ 143 h 188"/>
                <a:gd name="T86" fmla="*/ 222 w 237"/>
                <a:gd name="T87" fmla="*/ 150 h 188"/>
                <a:gd name="T88" fmla="*/ 218 w 237"/>
                <a:gd name="T89" fmla="*/ 158 h 188"/>
                <a:gd name="T90" fmla="*/ 213 w 237"/>
                <a:gd name="T91" fmla="*/ 166 h 188"/>
                <a:gd name="T92" fmla="*/ 208 w 237"/>
                <a:gd name="T93" fmla="*/ 174 h 188"/>
                <a:gd name="T94" fmla="*/ 202 w 237"/>
                <a:gd name="T95" fmla="*/ 180 h 188"/>
                <a:gd name="T96" fmla="*/ 197 w 237"/>
                <a:gd name="T97" fmla="*/ 188 h 1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37"/>
                <a:gd name="T148" fmla="*/ 0 h 188"/>
                <a:gd name="T149" fmla="*/ 237 w 237"/>
                <a:gd name="T150" fmla="*/ 188 h 1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37" h="188">
                  <a:moveTo>
                    <a:pt x="197" y="188"/>
                  </a:moveTo>
                  <a:lnTo>
                    <a:pt x="191" y="179"/>
                  </a:lnTo>
                  <a:lnTo>
                    <a:pt x="183" y="170"/>
                  </a:lnTo>
                  <a:lnTo>
                    <a:pt x="175" y="162"/>
                  </a:lnTo>
                  <a:lnTo>
                    <a:pt x="167" y="153"/>
                  </a:lnTo>
                  <a:lnTo>
                    <a:pt x="160" y="145"/>
                  </a:lnTo>
                  <a:lnTo>
                    <a:pt x="152" y="136"/>
                  </a:lnTo>
                  <a:lnTo>
                    <a:pt x="144" y="128"/>
                  </a:lnTo>
                  <a:lnTo>
                    <a:pt x="136" y="119"/>
                  </a:lnTo>
                  <a:lnTo>
                    <a:pt x="123" y="105"/>
                  </a:lnTo>
                  <a:lnTo>
                    <a:pt x="110" y="95"/>
                  </a:lnTo>
                  <a:lnTo>
                    <a:pt x="95" y="86"/>
                  </a:lnTo>
                  <a:lnTo>
                    <a:pt x="78" y="78"/>
                  </a:lnTo>
                  <a:lnTo>
                    <a:pt x="61" y="73"/>
                  </a:lnTo>
                  <a:lnTo>
                    <a:pt x="44" y="66"/>
                  </a:lnTo>
                  <a:lnTo>
                    <a:pt x="28" y="60"/>
                  </a:lnTo>
                  <a:lnTo>
                    <a:pt x="11" y="53"/>
                  </a:lnTo>
                  <a:lnTo>
                    <a:pt x="7" y="51"/>
                  </a:lnTo>
                  <a:lnTo>
                    <a:pt x="4" y="48"/>
                  </a:lnTo>
                  <a:lnTo>
                    <a:pt x="2" y="45"/>
                  </a:lnTo>
                  <a:lnTo>
                    <a:pt x="0" y="42"/>
                  </a:lnTo>
                  <a:lnTo>
                    <a:pt x="0" y="31"/>
                  </a:lnTo>
                  <a:lnTo>
                    <a:pt x="4" y="21"/>
                  </a:lnTo>
                  <a:lnTo>
                    <a:pt x="9" y="13"/>
                  </a:lnTo>
                  <a:lnTo>
                    <a:pt x="20" y="8"/>
                  </a:lnTo>
                  <a:lnTo>
                    <a:pt x="33" y="4"/>
                  </a:lnTo>
                  <a:lnTo>
                    <a:pt x="47" y="1"/>
                  </a:lnTo>
                  <a:lnTo>
                    <a:pt x="61" y="0"/>
                  </a:lnTo>
                  <a:lnTo>
                    <a:pt x="75" y="1"/>
                  </a:lnTo>
                  <a:lnTo>
                    <a:pt x="90" y="4"/>
                  </a:lnTo>
                  <a:lnTo>
                    <a:pt x="103" y="8"/>
                  </a:lnTo>
                  <a:lnTo>
                    <a:pt x="116" y="13"/>
                  </a:lnTo>
                  <a:lnTo>
                    <a:pt x="129" y="20"/>
                  </a:lnTo>
                  <a:lnTo>
                    <a:pt x="145" y="30"/>
                  </a:lnTo>
                  <a:lnTo>
                    <a:pt x="161" y="42"/>
                  </a:lnTo>
                  <a:lnTo>
                    <a:pt x="175" y="53"/>
                  </a:lnTo>
                  <a:lnTo>
                    <a:pt x="188" y="68"/>
                  </a:lnTo>
                  <a:lnTo>
                    <a:pt x="201" y="82"/>
                  </a:lnTo>
                  <a:lnTo>
                    <a:pt x="213" y="97"/>
                  </a:lnTo>
                  <a:lnTo>
                    <a:pt x="226" y="112"/>
                  </a:lnTo>
                  <a:lnTo>
                    <a:pt x="237" y="127"/>
                  </a:lnTo>
                  <a:lnTo>
                    <a:pt x="232" y="135"/>
                  </a:lnTo>
                  <a:lnTo>
                    <a:pt x="227" y="143"/>
                  </a:lnTo>
                  <a:lnTo>
                    <a:pt x="222" y="150"/>
                  </a:lnTo>
                  <a:lnTo>
                    <a:pt x="218" y="158"/>
                  </a:lnTo>
                  <a:lnTo>
                    <a:pt x="213" y="166"/>
                  </a:lnTo>
                  <a:lnTo>
                    <a:pt x="208" y="174"/>
                  </a:lnTo>
                  <a:lnTo>
                    <a:pt x="202" y="180"/>
                  </a:lnTo>
                  <a:lnTo>
                    <a:pt x="197" y="188"/>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 name="Freeform 16"/>
            <p:cNvSpPr>
              <a:spLocks/>
            </p:cNvSpPr>
            <p:nvPr/>
          </p:nvSpPr>
          <p:spPr bwMode="auto">
            <a:xfrm>
              <a:off x="2226" y="2783"/>
              <a:ext cx="164" cy="275"/>
            </a:xfrm>
            <a:custGeom>
              <a:avLst/>
              <a:gdLst>
                <a:gd name="T0" fmla="*/ 160 w 164"/>
                <a:gd name="T1" fmla="*/ 91 h 275"/>
                <a:gd name="T2" fmla="*/ 142 w 164"/>
                <a:gd name="T3" fmla="*/ 112 h 275"/>
                <a:gd name="T4" fmla="*/ 125 w 164"/>
                <a:gd name="T5" fmla="*/ 132 h 275"/>
                <a:gd name="T6" fmla="*/ 108 w 164"/>
                <a:gd name="T7" fmla="*/ 155 h 275"/>
                <a:gd name="T8" fmla="*/ 92 w 164"/>
                <a:gd name="T9" fmla="*/ 175 h 275"/>
                <a:gd name="T10" fmla="*/ 75 w 164"/>
                <a:gd name="T11" fmla="*/ 197 h 275"/>
                <a:gd name="T12" fmla="*/ 58 w 164"/>
                <a:gd name="T13" fmla="*/ 218 h 275"/>
                <a:gd name="T14" fmla="*/ 41 w 164"/>
                <a:gd name="T15" fmla="*/ 240 h 275"/>
                <a:gd name="T16" fmla="*/ 23 w 164"/>
                <a:gd name="T17" fmla="*/ 261 h 275"/>
                <a:gd name="T18" fmla="*/ 19 w 164"/>
                <a:gd name="T19" fmla="*/ 266 h 275"/>
                <a:gd name="T20" fmla="*/ 17 w 164"/>
                <a:gd name="T21" fmla="*/ 267 h 275"/>
                <a:gd name="T22" fmla="*/ 14 w 164"/>
                <a:gd name="T23" fmla="*/ 270 h 275"/>
                <a:gd name="T24" fmla="*/ 10 w 164"/>
                <a:gd name="T25" fmla="*/ 275 h 275"/>
                <a:gd name="T26" fmla="*/ 7 w 164"/>
                <a:gd name="T27" fmla="*/ 270 h 275"/>
                <a:gd name="T28" fmla="*/ 4 w 164"/>
                <a:gd name="T29" fmla="*/ 266 h 275"/>
                <a:gd name="T30" fmla="*/ 1 w 164"/>
                <a:gd name="T31" fmla="*/ 262 h 275"/>
                <a:gd name="T32" fmla="*/ 0 w 164"/>
                <a:gd name="T33" fmla="*/ 261 h 275"/>
                <a:gd name="T34" fmla="*/ 5 w 164"/>
                <a:gd name="T35" fmla="*/ 253 h 275"/>
                <a:gd name="T36" fmla="*/ 10 w 164"/>
                <a:gd name="T37" fmla="*/ 248 h 275"/>
                <a:gd name="T38" fmla="*/ 15 w 164"/>
                <a:gd name="T39" fmla="*/ 241 h 275"/>
                <a:gd name="T40" fmla="*/ 22 w 164"/>
                <a:gd name="T41" fmla="*/ 234 h 275"/>
                <a:gd name="T42" fmla="*/ 23 w 164"/>
                <a:gd name="T43" fmla="*/ 232 h 275"/>
                <a:gd name="T44" fmla="*/ 28 w 164"/>
                <a:gd name="T45" fmla="*/ 230 h 275"/>
                <a:gd name="T46" fmla="*/ 33 w 164"/>
                <a:gd name="T47" fmla="*/ 227 h 275"/>
                <a:gd name="T48" fmla="*/ 40 w 164"/>
                <a:gd name="T49" fmla="*/ 222 h 275"/>
                <a:gd name="T50" fmla="*/ 46 w 164"/>
                <a:gd name="T51" fmla="*/ 215 h 275"/>
                <a:gd name="T52" fmla="*/ 50 w 164"/>
                <a:gd name="T53" fmla="*/ 208 h 275"/>
                <a:gd name="T54" fmla="*/ 53 w 164"/>
                <a:gd name="T55" fmla="*/ 199 h 275"/>
                <a:gd name="T56" fmla="*/ 51 w 164"/>
                <a:gd name="T57" fmla="*/ 188 h 275"/>
                <a:gd name="T58" fmla="*/ 55 w 164"/>
                <a:gd name="T59" fmla="*/ 179 h 275"/>
                <a:gd name="T60" fmla="*/ 66 w 164"/>
                <a:gd name="T61" fmla="*/ 165 h 275"/>
                <a:gd name="T62" fmla="*/ 77 w 164"/>
                <a:gd name="T63" fmla="*/ 149 h 275"/>
                <a:gd name="T64" fmla="*/ 88 w 164"/>
                <a:gd name="T65" fmla="*/ 135 h 275"/>
                <a:gd name="T66" fmla="*/ 92 w 164"/>
                <a:gd name="T67" fmla="*/ 132 h 275"/>
                <a:gd name="T68" fmla="*/ 95 w 164"/>
                <a:gd name="T69" fmla="*/ 130 h 275"/>
                <a:gd name="T70" fmla="*/ 99 w 164"/>
                <a:gd name="T71" fmla="*/ 127 h 275"/>
                <a:gd name="T72" fmla="*/ 102 w 164"/>
                <a:gd name="T73" fmla="*/ 125 h 275"/>
                <a:gd name="T74" fmla="*/ 114 w 164"/>
                <a:gd name="T75" fmla="*/ 112 h 275"/>
                <a:gd name="T76" fmla="*/ 120 w 164"/>
                <a:gd name="T77" fmla="*/ 95 h 275"/>
                <a:gd name="T78" fmla="*/ 120 w 164"/>
                <a:gd name="T79" fmla="*/ 79 h 275"/>
                <a:gd name="T80" fmla="*/ 115 w 164"/>
                <a:gd name="T81" fmla="*/ 63 h 275"/>
                <a:gd name="T82" fmla="*/ 110 w 164"/>
                <a:gd name="T83" fmla="*/ 53 h 275"/>
                <a:gd name="T84" fmla="*/ 102 w 164"/>
                <a:gd name="T85" fmla="*/ 35 h 275"/>
                <a:gd name="T86" fmla="*/ 92 w 164"/>
                <a:gd name="T87" fmla="*/ 16 h 275"/>
                <a:gd name="T88" fmla="*/ 83 w 164"/>
                <a:gd name="T89" fmla="*/ 0 h 275"/>
                <a:gd name="T90" fmla="*/ 90 w 164"/>
                <a:gd name="T91" fmla="*/ 4 h 275"/>
                <a:gd name="T92" fmla="*/ 103 w 164"/>
                <a:gd name="T93" fmla="*/ 11 h 275"/>
                <a:gd name="T94" fmla="*/ 119 w 164"/>
                <a:gd name="T95" fmla="*/ 20 h 275"/>
                <a:gd name="T96" fmla="*/ 134 w 164"/>
                <a:gd name="T97" fmla="*/ 31 h 275"/>
                <a:gd name="T98" fmla="*/ 149 w 164"/>
                <a:gd name="T99" fmla="*/ 44 h 275"/>
                <a:gd name="T100" fmla="*/ 159 w 164"/>
                <a:gd name="T101" fmla="*/ 59 h 275"/>
                <a:gd name="T102" fmla="*/ 164 w 164"/>
                <a:gd name="T103" fmla="*/ 74 h 275"/>
                <a:gd name="T104" fmla="*/ 160 w 164"/>
                <a:gd name="T105" fmla="*/ 91 h 27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4"/>
                <a:gd name="T160" fmla="*/ 0 h 275"/>
                <a:gd name="T161" fmla="*/ 164 w 164"/>
                <a:gd name="T162" fmla="*/ 275 h 275"/>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4" h="275">
                  <a:moveTo>
                    <a:pt x="160" y="91"/>
                  </a:moveTo>
                  <a:lnTo>
                    <a:pt x="142" y="112"/>
                  </a:lnTo>
                  <a:lnTo>
                    <a:pt x="125" y="132"/>
                  </a:lnTo>
                  <a:lnTo>
                    <a:pt x="108" y="155"/>
                  </a:lnTo>
                  <a:lnTo>
                    <a:pt x="92" y="175"/>
                  </a:lnTo>
                  <a:lnTo>
                    <a:pt x="75" y="197"/>
                  </a:lnTo>
                  <a:lnTo>
                    <a:pt x="58" y="218"/>
                  </a:lnTo>
                  <a:lnTo>
                    <a:pt x="41" y="240"/>
                  </a:lnTo>
                  <a:lnTo>
                    <a:pt x="23" y="261"/>
                  </a:lnTo>
                  <a:lnTo>
                    <a:pt x="19" y="266"/>
                  </a:lnTo>
                  <a:lnTo>
                    <a:pt x="17" y="267"/>
                  </a:lnTo>
                  <a:lnTo>
                    <a:pt x="14" y="270"/>
                  </a:lnTo>
                  <a:lnTo>
                    <a:pt x="10" y="275"/>
                  </a:lnTo>
                  <a:lnTo>
                    <a:pt x="7" y="270"/>
                  </a:lnTo>
                  <a:lnTo>
                    <a:pt x="4" y="266"/>
                  </a:lnTo>
                  <a:lnTo>
                    <a:pt x="1" y="262"/>
                  </a:lnTo>
                  <a:lnTo>
                    <a:pt x="0" y="261"/>
                  </a:lnTo>
                  <a:lnTo>
                    <a:pt x="5" y="253"/>
                  </a:lnTo>
                  <a:lnTo>
                    <a:pt x="10" y="248"/>
                  </a:lnTo>
                  <a:lnTo>
                    <a:pt x="15" y="241"/>
                  </a:lnTo>
                  <a:lnTo>
                    <a:pt x="22" y="234"/>
                  </a:lnTo>
                  <a:lnTo>
                    <a:pt x="23" y="232"/>
                  </a:lnTo>
                  <a:lnTo>
                    <a:pt x="28" y="230"/>
                  </a:lnTo>
                  <a:lnTo>
                    <a:pt x="33" y="227"/>
                  </a:lnTo>
                  <a:lnTo>
                    <a:pt x="40" y="222"/>
                  </a:lnTo>
                  <a:lnTo>
                    <a:pt x="46" y="215"/>
                  </a:lnTo>
                  <a:lnTo>
                    <a:pt x="50" y="208"/>
                  </a:lnTo>
                  <a:lnTo>
                    <a:pt x="53" y="199"/>
                  </a:lnTo>
                  <a:lnTo>
                    <a:pt x="51" y="188"/>
                  </a:lnTo>
                  <a:lnTo>
                    <a:pt x="55" y="179"/>
                  </a:lnTo>
                  <a:lnTo>
                    <a:pt x="66" y="165"/>
                  </a:lnTo>
                  <a:lnTo>
                    <a:pt x="77" y="149"/>
                  </a:lnTo>
                  <a:lnTo>
                    <a:pt x="88" y="135"/>
                  </a:lnTo>
                  <a:lnTo>
                    <a:pt x="92" y="132"/>
                  </a:lnTo>
                  <a:lnTo>
                    <a:pt x="95" y="130"/>
                  </a:lnTo>
                  <a:lnTo>
                    <a:pt x="99" y="127"/>
                  </a:lnTo>
                  <a:lnTo>
                    <a:pt x="102" y="125"/>
                  </a:lnTo>
                  <a:lnTo>
                    <a:pt x="114" y="112"/>
                  </a:lnTo>
                  <a:lnTo>
                    <a:pt x="120" y="95"/>
                  </a:lnTo>
                  <a:lnTo>
                    <a:pt x="120" y="79"/>
                  </a:lnTo>
                  <a:lnTo>
                    <a:pt x="115" y="63"/>
                  </a:lnTo>
                  <a:lnTo>
                    <a:pt x="110" y="53"/>
                  </a:lnTo>
                  <a:lnTo>
                    <a:pt x="102" y="35"/>
                  </a:lnTo>
                  <a:lnTo>
                    <a:pt x="92" y="16"/>
                  </a:lnTo>
                  <a:lnTo>
                    <a:pt x="83" y="0"/>
                  </a:lnTo>
                  <a:lnTo>
                    <a:pt x="90" y="4"/>
                  </a:lnTo>
                  <a:lnTo>
                    <a:pt x="103" y="11"/>
                  </a:lnTo>
                  <a:lnTo>
                    <a:pt x="119" y="20"/>
                  </a:lnTo>
                  <a:lnTo>
                    <a:pt x="134" y="31"/>
                  </a:lnTo>
                  <a:lnTo>
                    <a:pt x="149" y="44"/>
                  </a:lnTo>
                  <a:lnTo>
                    <a:pt x="159" y="59"/>
                  </a:lnTo>
                  <a:lnTo>
                    <a:pt x="164" y="74"/>
                  </a:lnTo>
                  <a:lnTo>
                    <a:pt x="160" y="91"/>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 name="Freeform 17"/>
            <p:cNvSpPr>
              <a:spLocks/>
            </p:cNvSpPr>
            <p:nvPr/>
          </p:nvSpPr>
          <p:spPr bwMode="auto">
            <a:xfrm>
              <a:off x="2209" y="2945"/>
              <a:ext cx="57" cy="57"/>
            </a:xfrm>
            <a:custGeom>
              <a:avLst/>
              <a:gdLst>
                <a:gd name="T0" fmla="*/ 0 w 57"/>
                <a:gd name="T1" fmla="*/ 52 h 57"/>
                <a:gd name="T2" fmla="*/ 5 w 57"/>
                <a:gd name="T3" fmla="*/ 44 h 57"/>
                <a:gd name="T4" fmla="*/ 12 w 57"/>
                <a:gd name="T5" fmla="*/ 37 h 57"/>
                <a:gd name="T6" fmla="*/ 18 w 57"/>
                <a:gd name="T7" fmla="*/ 27 h 57"/>
                <a:gd name="T8" fmla="*/ 24 w 57"/>
                <a:gd name="T9" fmla="*/ 20 h 57"/>
                <a:gd name="T10" fmla="*/ 30 w 57"/>
                <a:gd name="T11" fmla="*/ 12 h 57"/>
                <a:gd name="T12" fmla="*/ 35 w 57"/>
                <a:gd name="T13" fmla="*/ 7 h 57"/>
                <a:gd name="T14" fmla="*/ 39 w 57"/>
                <a:gd name="T15" fmla="*/ 2 h 57"/>
                <a:gd name="T16" fmla="*/ 41 w 57"/>
                <a:gd name="T17" fmla="*/ 0 h 57"/>
                <a:gd name="T18" fmla="*/ 46 w 57"/>
                <a:gd name="T19" fmla="*/ 7 h 57"/>
                <a:gd name="T20" fmla="*/ 52 w 57"/>
                <a:gd name="T21" fmla="*/ 16 h 57"/>
                <a:gd name="T22" fmla="*/ 57 w 57"/>
                <a:gd name="T23" fmla="*/ 27 h 57"/>
                <a:gd name="T24" fmla="*/ 57 w 57"/>
                <a:gd name="T25" fmla="*/ 35 h 57"/>
                <a:gd name="T26" fmla="*/ 53 w 57"/>
                <a:gd name="T27" fmla="*/ 43 h 57"/>
                <a:gd name="T28" fmla="*/ 49 w 57"/>
                <a:gd name="T29" fmla="*/ 49 h 57"/>
                <a:gd name="T30" fmla="*/ 43 w 57"/>
                <a:gd name="T31" fmla="*/ 53 h 57"/>
                <a:gd name="T32" fmla="*/ 35 w 57"/>
                <a:gd name="T33" fmla="*/ 56 h 57"/>
                <a:gd name="T34" fmla="*/ 27 w 57"/>
                <a:gd name="T35" fmla="*/ 57 h 57"/>
                <a:gd name="T36" fmla="*/ 18 w 57"/>
                <a:gd name="T37" fmla="*/ 57 h 57"/>
                <a:gd name="T38" fmla="*/ 9 w 57"/>
                <a:gd name="T39" fmla="*/ 55 h 57"/>
                <a:gd name="T40" fmla="*/ 0 w 57"/>
                <a:gd name="T41" fmla="*/ 52 h 5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
                <a:gd name="T64" fmla="*/ 0 h 57"/>
                <a:gd name="T65" fmla="*/ 57 w 57"/>
                <a:gd name="T66" fmla="*/ 57 h 5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 h="57">
                  <a:moveTo>
                    <a:pt x="0" y="52"/>
                  </a:moveTo>
                  <a:lnTo>
                    <a:pt x="5" y="44"/>
                  </a:lnTo>
                  <a:lnTo>
                    <a:pt x="12" y="37"/>
                  </a:lnTo>
                  <a:lnTo>
                    <a:pt x="18" y="27"/>
                  </a:lnTo>
                  <a:lnTo>
                    <a:pt x="24" y="20"/>
                  </a:lnTo>
                  <a:lnTo>
                    <a:pt x="30" y="12"/>
                  </a:lnTo>
                  <a:lnTo>
                    <a:pt x="35" y="7"/>
                  </a:lnTo>
                  <a:lnTo>
                    <a:pt x="39" y="2"/>
                  </a:lnTo>
                  <a:lnTo>
                    <a:pt x="41" y="0"/>
                  </a:lnTo>
                  <a:lnTo>
                    <a:pt x="46" y="7"/>
                  </a:lnTo>
                  <a:lnTo>
                    <a:pt x="52" y="16"/>
                  </a:lnTo>
                  <a:lnTo>
                    <a:pt x="57" y="27"/>
                  </a:lnTo>
                  <a:lnTo>
                    <a:pt x="57" y="35"/>
                  </a:lnTo>
                  <a:lnTo>
                    <a:pt x="53" y="43"/>
                  </a:lnTo>
                  <a:lnTo>
                    <a:pt x="49" y="49"/>
                  </a:lnTo>
                  <a:lnTo>
                    <a:pt x="43" y="53"/>
                  </a:lnTo>
                  <a:lnTo>
                    <a:pt x="35" y="56"/>
                  </a:lnTo>
                  <a:lnTo>
                    <a:pt x="27" y="57"/>
                  </a:lnTo>
                  <a:lnTo>
                    <a:pt x="18" y="57"/>
                  </a:lnTo>
                  <a:lnTo>
                    <a:pt x="9" y="55"/>
                  </a:lnTo>
                  <a:lnTo>
                    <a:pt x="0" y="5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 name="Freeform 18"/>
            <p:cNvSpPr>
              <a:spLocks/>
            </p:cNvSpPr>
            <p:nvPr/>
          </p:nvSpPr>
          <p:spPr bwMode="auto">
            <a:xfrm>
              <a:off x="2034" y="2963"/>
              <a:ext cx="51" cy="41"/>
            </a:xfrm>
            <a:custGeom>
              <a:avLst/>
              <a:gdLst>
                <a:gd name="T0" fmla="*/ 26 w 51"/>
                <a:gd name="T1" fmla="*/ 0 h 41"/>
                <a:gd name="T2" fmla="*/ 16 w 51"/>
                <a:gd name="T3" fmla="*/ 2 h 41"/>
                <a:gd name="T4" fmla="*/ 8 w 51"/>
                <a:gd name="T5" fmla="*/ 7 h 41"/>
                <a:gd name="T6" fmla="*/ 3 w 51"/>
                <a:gd name="T7" fmla="*/ 13 h 41"/>
                <a:gd name="T8" fmla="*/ 0 w 51"/>
                <a:gd name="T9" fmla="*/ 21 h 41"/>
                <a:gd name="T10" fmla="*/ 3 w 51"/>
                <a:gd name="T11" fmla="*/ 29 h 41"/>
                <a:gd name="T12" fmla="*/ 8 w 51"/>
                <a:gd name="T13" fmla="*/ 34 h 41"/>
                <a:gd name="T14" fmla="*/ 16 w 51"/>
                <a:gd name="T15" fmla="*/ 39 h 41"/>
                <a:gd name="T16" fmla="*/ 26 w 51"/>
                <a:gd name="T17" fmla="*/ 41 h 41"/>
                <a:gd name="T18" fmla="*/ 35 w 51"/>
                <a:gd name="T19" fmla="*/ 39 h 41"/>
                <a:gd name="T20" fmla="*/ 43 w 51"/>
                <a:gd name="T21" fmla="*/ 34 h 41"/>
                <a:gd name="T22" fmla="*/ 48 w 51"/>
                <a:gd name="T23" fmla="*/ 29 h 41"/>
                <a:gd name="T24" fmla="*/ 51 w 51"/>
                <a:gd name="T25" fmla="*/ 21 h 41"/>
                <a:gd name="T26" fmla="*/ 48 w 51"/>
                <a:gd name="T27" fmla="*/ 13 h 41"/>
                <a:gd name="T28" fmla="*/ 43 w 51"/>
                <a:gd name="T29" fmla="*/ 7 h 41"/>
                <a:gd name="T30" fmla="*/ 35 w 51"/>
                <a:gd name="T31" fmla="*/ 2 h 41"/>
                <a:gd name="T32" fmla="*/ 26 w 51"/>
                <a:gd name="T33" fmla="*/ 0 h 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1"/>
                <a:gd name="T52" fmla="*/ 0 h 41"/>
                <a:gd name="T53" fmla="*/ 51 w 51"/>
                <a:gd name="T54" fmla="*/ 41 h 4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1" h="41">
                  <a:moveTo>
                    <a:pt x="26" y="0"/>
                  </a:moveTo>
                  <a:lnTo>
                    <a:pt x="16" y="2"/>
                  </a:lnTo>
                  <a:lnTo>
                    <a:pt x="8" y="7"/>
                  </a:lnTo>
                  <a:lnTo>
                    <a:pt x="3" y="13"/>
                  </a:lnTo>
                  <a:lnTo>
                    <a:pt x="0" y="21"/>
                  </a:lnTo>
                  <a:lnTo>
                    <a:pt x="3" y="29"/>
                  </a:lnTo>
                  <a:lnTo>
                    <a:pt x="8" y="34"/>
                  </a:lnTo>
                  <a:lnTo>
                    <a:pt x="16" y="39"/>
                  </a:lnTo>
                  <a:lnTo>
                    <a:pt x="26" y="41"/>
                  </a:lnTo>
                  <a:lnTo>
                    <a:pt x="35" y="39"/>
                  </a:lnTo>
                  <a:lnTo>
                    <a:pt x="43" y="34"/>
                  </a:lnTo>
                  <a:lnTo>
                    <a:pt x="48" y="29"/>
                  </a:lnTo>
                  <a:lnTo>
                    <a:pt x="51" y="21"/>
                  </a:lnTo>
                  <a:lnTo>
                    <a:pt x="48" y="13"/>
                  </a:lnTo>
                  <a:lnTo>
                    <a:pt x="43" y="7"/>
                  </a:lnTo>
                  <a:lnTo>
                    <a:pt x="35" y="2"/>
                  </a:lnTo>
                  <a:lnTo>
                    <a:pt x="2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cxnSp>
        <p:nvCxnSpPr>
          <p:cNvPr id="48" name="Straight Arrow Connector 47"/>
          <p:cNvCxnSpPr>
            <a:endCxn id="29" idx="50"/>
          </p:cNvCxnSpPr>
          <p:nvPr/>
        </p:nvCxnSpPr>
        <p:spPr bwMode="auto">
          <a:xfrm>
            <a:off x="3876805" y="2321822"/>
            <a:ext cx="2119928" cy="1958986"/>
          </a:xfrm>
          <a:prstGeom prst="straightConnector1">
            <a:avLst/>
          </a:prstGeom>
          <a:noFill/>
          <a:ln w="19050" cap="flat" cmpd="sng" algn="ctr">
            <a:solidFill>
              <a:srgbClr val="C00000"/>
            </a:solidFill>
            <a:prstDash val="solid"/>
            <a:round/>
            <a:headEnd type="none" w="med" len="med"/>
            <a:tailEnd type="arrow"/>
          </a:ln>
          <a:effectLst/>
        </p:spPr>
      </p:cxnSp>
    </p:spTree>
    <p:extLst>
      <p:ext uri="{BB962C8B-B14F-4D97-AF65-F5344CB8AC3E}">
        <p14:creationId xmlns:p14="http://schemas.microsoft.com/office/powerpoint/2010/main" val="532314344"/>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|EOS~025|</a:t>
            </a:r>
            <a:endParaRPr lang="en-US" sz="100" dirty="0" err="1" smtClean="0">
              <a:solidFill>
                <a:srgbClr val="FFFFFF"/>
              </a:solidFill>
              <a:latin typeface="Arial"/>
              <a:cs typeface="Calibri" pitchFamily="34" charset="0"/>
            </a:endParaRPr>
          </a:p>
        </p:txBody>
      </p:sp>
      <p:sp>
        <p:nvSpPr>
          <p:cNvPr id="26626" name="Rectangle 2"/>
          <p:cNvSpPr>
            <a:spLocks noGrp="1" noChangeArrowheads="1"/>
          </p:cNvSpPr>
          <p:nvPr>
            <p:ph type="title"/>
          </p:nvPr>
        </p:nvSpPr>
        <p:spPr/>
        <p:txBody>
          <a:bodyPr/>
          <a:lstStyle/>
          <a:p>
            <a:pPr eaLnBrk="1" hangingPunct="1"/>
            <a:r>
              <a:rPr lang="en-US" smtClean="0"/>
              <a:t>The ContactManager interface</a:t>
            </a:r>
          </a:p>
        </p:txBody>
      </p:sp>
      <p:pic>
        <p:nvPicPr>
          <p:cNvPr id="2"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584"/>
          <a:stretch/>
        </p:blipFill>
        <p:spPr bwMode="auto">
          <a:xfrm>
            <a:off x="1903955" y="1005800"/>
            <a:ext cx="5652567" cy="517207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bwMode="auto">
          <a:xfrm>
            <a:off x="1903955" y="1331933"/>
            <a:ext cx="1853852" cy="1423794"/>
          </a:xfrm>
          <a:prstGeom prst="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0" name="Rectangle 9"/>
          <p:cNvSpPr/>
          <p:nvPr/>
        </p:nvSpPr>
        <p:spPr bwMode="auto">
          <a:xfrm>
            <a:off x="3803312" y="1356985"/>
            <a:ext cx="3753210" cy="4820889"/>
          </a:xfrm>
          <a:prstGeom prst="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cxnSp>
        <p:nvCxnSpPr>
          <p:cNvPr id="20" name="Straight Connector 19"/>
          <p:cNvCxnSpPr/>
          <p:nvPr/>
        </p:nvCxnSpPr>
        <p:spPr bwMode="auto">
          <a:xfrm>
            <a:off x="1642996" y="2139860"/>
            <a:ext cx="250521" cy="0"/>
          </a:xfrm>
          <a:prstGeom prst="line">
            <a:avLst/>
          </a:prstGeom>
          <a:noFill/>
          <a:ln w="19050" cap="flat" cmpd="sng" algn="ctr">
            <a:solidFill>
              <a:srgbClr val="C00000"/>
            </a:solidFill>
            <a:prstDash val="solid"/>
            <a:round/>
            <a:headEnd type="none" w="med" len="med"/>
            <a:tailEnd type="none" w="med" len="med"/>
          </a:ln>
          <a:effectLst/>
        </p:spPr>
      </p:cxnSp>
      <p:cxnSp>
        <p:nvCxnSpPr>
          <p:cNvPr id="21" name="Straight Connector 20"/>
          <p:cNvCxnSpPr/>
          <p:nvPr/>
        </p:nvCxnSpPr>
        <p:spPr bwMode="auto">
          <a:xfrm>
            <a:off x="3552791" y="4384102"/>
            <a:ext cx="250521" cy="0"/>
          </a:xfrm>
          <a:prstGeom prst="line">
            <a:avLst/>
          </a:prstGeom>
          <a:noFill/>
          <a:ln w="19050" cap="flat" cmpd="sng" algn="ctr">
            <a:solidFill>
              <a:srgbClr val="C00000"/>
            </a:solidFill>
            <a:prstDash val="solid"/>
            <a:round/>
            <a:headEnd type="none" w="med" len="med"/>
            <a:tailEnd type="none" w="med" len="med"/>
          </a:ln>
          <a:effectLst/>
        </p:spPr>
      </p:cxnSp>
      <p:sp>
        <p:nvSpPr>
          <p:cNvPr id="18" name="Rectangle 17"/>
          <p:cNvSpPr/>
          <p:nvPr/>
        </p:nvSpPr>
        <p:spPr bwMode="auto">
          <a:xfrm>
            <a:off x="1903956" y="993274"/>
            <a:ext cx="4271376" cy="351184"/>
          </a:xfrm>
          <a:prstGeom prst="rect">
            <a:avLst/>
          </a:prstGeom>
          <a:noFill/>
          <a:ln w="19050" algn="ctr">
            <a:solidFill>
              <a:srgbClr val="C00000"/>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cxnSp>
        <p:nvCxnSpPr>
          <p:cNvPr id="23" name="Straight Connector 22"/>
          <p:cNvCxnSpPr/>
          <p:nvPr/>
        </p:nvCxnSpPr>
        <p:spPr bwMode="auto">
          <a:xfrm>
            <a:off x="6175331" y="1168866"/>
            <a:ext cx="250521" cy="0"/>
          </a:xfrm>
          <a:prstGeom prst="line">
            <a:avLst/>
          </a:prstGeom>
          <a:noFill/>
          <a:ln w="19050" cap="flat" cmpd="sng" algn="ctr">
            <a:solidFill>
              <a:srgbClr val="C00000"/>
            </a:solidFill>
            <a:prstDash val="solid"/>
            <a:round/>
            <a:headEnd type="none" w="med" len="med"/>
            <a:tailEnd type="none" w="med" len="med"/>
          </a:ln>
          <a:effectLst/>
        </p:spPr>
      </p:cxnSp>
      <p:sp>
        <p:nvSpPr>
          <p:cNvPr id="25" name="TextBox 24"/>
          <p:cNvSpPr txBox="1"/>
          <p:nvPr/>
        </p:nvSpPr>
        <p:spPr>
          <a:xfrm>
            <a:off x="801210" y="1955252"/>
            <a:ext cx="893194" cy="369332"/>
          </a:xfrm>
          <a:prstGeom prst="rect">
            <a:avLst/>
          </a:prstGeom>
          <a:noFill/>
        </p:spPr>
        <p:txBody>
          <a:bodyPr wrap="none" rtlCol="0">
            <a:spAutoFit/>
          </a:bodyPr>
          <a:lstStyle/>
          <a:p>
            <a:r>
              <a:rPr lang="en-US" sz="1800" dirty="0" smtClean="0">
                <a:solidFill>
                  <a:srgbClr val="C00000"/>
                </a:solidFill>
                <a:latin typeface="Calibri" pitchFamily="34" charset="0"/>
                <a:cs typeface="Calibri" pitchFamily="34" charset="0"/>
              </a:rPr>
              <a:t>Sidebar</a:t>
            </a:r>
          </a:p>
        </p:txBody>
      </p:sp>
      <p:sp>
        <p:nvSpPr>
          <p:cNvPr id="26" name="TextBox 25"/>
          <p:cNvSpPr txBox="1"/>
          <p:nvPr/>
        </p:nvSpPr>
        <p:spPr>
          <a:xfrm>
            <a:off x="6429151" y="962600"/>
            <a:ext cx="876778" cy="369332"/>
          </a:xfrm>
          <a:prstGeom prst="rect">
            <a:avLst/>
          </a:prstGeom>
          <a:noFill/>
        </p:spPr>
        <p:txBody>
          <a:bodyPr wrap="none" rtlCol="0">
            <a:spAutoFit/>
          </a:bodyPr>
          <a:lstStyle/>
          <a:p>
            <a:r>
              <a:rPr lang="en-US" sz="1800" dirty="0" smtClean="0">
                <a:solidFill>
                  <a:srgbClr val="C00000"/>
                </a:solidFill>
                <a:latin typeface="Calibri" pitchFamily="34" charset="0"/>
                <a:cs typeface="Calibri" pitchFamily="34" charset="0"/>
              </a:rPr>
              <a:t>Tab bar</a:t>
            </a:r>
          </a:p>
        </p:txBody>
      </p:sp>
      <p:sp>
        <p:nvSpPr>
          <p:cNvPr id="27" name="TextBox 26"/>
          <p:cNvSpPr txBox="1"/>
          <p:nvPr/>
        </p:nvSpPr>
        <p:spPr>
          <a:xfrm>
            <a:off x="2325604" y="4199436"/>
            <a:ext cx="1360052" cy="369332"/>
          </a:xfrm>
          <a:prstGeom prst="rect">
            <a:avLst/>
          </a:prstGeom>
          <a:noFill/>
        </p:spPr>
        <p:txBody>
          <a:bodyPr wrap="none" rtlCol="0">
            <a:spAutoFit/>
          </a:bodyPr>
          <a:lstStyle/>
          <a:p>
            <a:r>
              <a:rPr lang="en-US" sz="1800" dirty="0" smtClean="0">
                <a:solidFill>
                  <a:srgbClr val="C00000"/>
                </a:solidFill>
                <a:latin typeface="Calibri" pitchFamily="34" charset="0"/>
                <a:cs typeface="Calibri" pitchFamily="34" charset="0"/>
              </a:rPr>
              <a:t>Screen Area </a:t>
            </a:r>
          </a:p>
        </p:txBody>
      </p:sp>
      <p:grpSp>
        <p:nvGrpSpPr>
          <p:cNvPr id="28" name="Group 27"/>
          <p:cNvGrpSpPr/>
          <p:nvPr/>
        </p:nvGrpSpPr>
        <p:grpSpPr>
          <a:xfrm>
            <a:off x="7438774" y="1147266"/>
            <a:ext cx="1136650" cy="1066800"/>
            <a:chOff x="6781800" y="1524000"/>
            <a:chExt cx="1136650" cy="1066800"/>
          </a:xfrm>
        </p:grpSpPr>
        <p:pic>
          <p:nvPicPr>
            <p:cNvPr id="2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2379" y="1524000"/>
              <a:ext cx="994672" cy="993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30" name="Content Placeholder 5"/>
            <p:cNvSpPr txBox="1">
              <a:spLocks/>
            </p:cNvSpPr>
            <p:nvPr/>
          </p:nvSpPr>
          <p:spPr bwMode="auto">
            <a:xfrm>
              <a:off x="6781800" y="2300287"/>
              <a:ext cx="1136650" cy="290513"/>
            </a:xfrm>
            <a:prstGeom prst="rect">
              <a:avLst/>
            </a:prstGeom>
            <a:noFill/>
            <a:ln w="9525">
              <a:noFill/>
              <a:miter lim="800000"/>
              <a:headEnd/>
              <a:tailEnd/>
            </a:ln>
          </p:spPr>
          <p:txBody>
            <a:bodyPr lIns="0" tIns="0" rIns="0" bIns="0"/>
            <a:lstStyle/>
            <a:p>
              <a:pPr marL="457200" indent="-457200" algn="ctr" eaLnBrk="0" hangingPunct="0">
                <a:spcBef>
                  <a:spcPct val="40000"/>
                </a:spcBef>
                <a:buClr>
                  <a:srgbClr val="04628C"/>
                </a:buClr>
                <a:buSzPct val="90000"/>
                <a:buFont typeface="Arial" pitchFamily="34" charset="0"/>
                <a:buNone/>
                <a:defRPr/>
              </a:pPr>
              <a:r>
                <a:rPr lang="en-US" sz="1100" kern="0" dirty="0">
                  <a:solidFill>
                    <a:schemeClr val="tx1"/>
                  </a:solidFill>
                  <a:latin typeface="Arial Narrow" pitchFamily="34" charset="0"/>
                  <a:cs typeface="+mn-cs"/>
                </a:rPr>
                <a:t>ContactManager</a:t>
              </a:r>
            </a:p>
          </p:txBody>
        </p:sp>
      </p:grpSp>
    </p:spTree>
    <p:extLst>
      <p:ext uri="{BB962C8B-B14F-4D97-AF65-F5344CB8AC3E}">
        <p14:creationId xmlns:p14="http://schemas.microsoft.com/office/powerpoint/2010/main" val="116766563"/>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|EOS~026|</a:t>
            </a:r>
            <a:endParaRPr lang="en-US" sz="100" dirty="0" err="1" smtClean="0">
              <a:solidFill>
                <a:srgbClr val="FFFFFF"/>
              </a:solidFill>
              <a:latin typeface="Arial"/>
              <a:cs typeface="Calibri" pitchFamily="34" charset="0"/>
            </a:endParaRPr>
          </a:p>
        </p:txBody>
      </p:sp>
      <p:sp>
        <p:nvSpPr>
          <p:cNvPr id="27650" name="Rectangle 2"/>
          <p:cNvSpPr>
            <a:spLocks noGrp="1" noChangeArrowheads="1"/>
          </p:cNvSpPr>
          <p:nvPr>
            <p:ph type="title"/>
          </p:nvPr>
        </p:nvSpPr>
        <p:spPr/>
        <p:txBody>
          <a:bodyPr/>
          <a:lstStyle/>
          <a:p>
            <a:pPr eaLnBrk="1" hangingPunct="1"/>
            <a:r>
              <a:rPr lang="en-US" dirty="0" smtClean="0"/>
              <a:t>Creating new contacts in </a:t>
            </a:r>
            <a:r>
              <a:rPr lang="en-US" dirty="0" err="1" smtClean="0"/>
              <a:t>ContactManager</a:t>
            </a:r>
            <a:endParaRPr lang="en-US" dirty="0" smtClean="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382" y="958081"/>
            <a:ext cx="6628088" cy="4152537"/>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 name="Rectangle 2"/>
          <p:cNvSpPr/>
          <p:nvPr/>
        </p:nvSpPr>
        <p:spPr bwMode="auto">
          <a:xfrm>
            <a:off x="1189972" y="2392471"/>
            <a:ext cx="2167002" cy="400833"/>
          </a:xfrm>
          <a:prstGeom prst="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6" name="Rectangle 5"/>
          <p:cNvSpPr/>
          <p:nvPr/>
        </p:nvSpPr>
        <p:spPr bwMode="auto">
          <a:xfrm>
            <a:off x="3356974" y="3935260"/>
            <a:ext cx="2026216" cy="400833"/>
          </a:xfrm>
          <a:prstGeom prst="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7" name="Rectangle 6"/>
          <p:cNvSpPr/>
          <p:nvPr/>
        </p:nvSpPr>
        <p:spPr bwMode="auto">
          <a:xfrm>
            <a:off x="5395714" y="4709785"/>
            <a:ext cx="2224281" cy="400833"/>
          </a:xfrm>
          <a:prstGeom prst="rect">
            <a:avLst/>
          </a:prstGeom>
          <a:noFill/>
          <a:ln w="19050" algn="ctr">
            <a:solidFill>
              <a:srgbClr val="D33941"/>
            </a:solidFill>
            <a:round/>
            <a:headEnd/>
            <a:tailEnd/>
          </a:ln>
          <a:effectLst>
            <a:outerShdw blurRad="50800" dist="38100" dir="13500000" algn="br"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 name="Arc 3"/>
          <p:cNvSpPr/>
          <p:nvPr/>
        </p:nvSpPr>
        <p:spPr bwMode="auto">
          <a:xfrm>
            <a:off x="3162820" y="2793304"/>
            <a:ext cx="388307" cy="977031"/>
          </a:xfrm>
          <a:prstGeom prst="arc">
            <a:avLst/>
          </a:prstGeom>
          <a:noFill/>
          <a:ln w="19050" cap="flat" cmpd="sng" algn="ctr">
            <a:solidFill>
              <a:srgbClr val="C00000"/>
            </a:solidFill>
            <a:prstDash val="solid"/>
            <a:round/>
            <a:headEnd type="none" w="med" len="med"/>
            <a:tailEnd type="triangle" w="med" len="med"/>
          </a:ln>
          <a:effectLst>
            <a:outerShdw blurRad="50800" dist="38100" dir="5400000" algn="t" rotWithShape="0">
              <a:prstClr val="black">
                <a:alpha val="40000"/>
              </a:prstClr>
            </a:outerShdw>
          </a:effectLst>
        </p:spPr>
        <p:txBody>
          <a:bodyPr rtlCol="0" anchor="ctr"/>
          <a:lstStyle/>
          <a:p>
            <a:pPr algn="ctr"/>
            <a:endParaRPr lang="en-US"/>
          </a:p>
        </p:txBody>
      </p:sp>
      <p:sp>
        <p:nvSpPr>
          <p:cNvPr id="9" name="Arc 8"/>
          <p:cNvSpPr/>
          <p:nvPr/>
        </p:nvSpPr>
        <p:spPr bwMode="auto">
          <a:xfrm>
            <a:off x="5201562" y="4133587"/>
            <a:ext cx="388307" cy="977031"/>
          </a:xfrm>
          <a:prstGeom prst="arc">
            <a:avLst/>
          </a:prstGeom>
          <a:noFill/>
          <a:ln w="19050" cap="flat" cmpd="sng" algn="ctr">
            <a:solidFill>
              <a:srgbClr val="C00000"/>
            </a:solidFill>
            <a:prstDash val="solid"/>
            <a:round/>
            <a:headEnd type="none" w="med" len="med"/>
            <a:tailEnd type="triangle" w="med" len="med"/>
          </a:ln>
          <a:effectLst>
            <a:outerShdw blurRad="50800" dist="38100" dir="10800000" algn="r" rotWithShape="0">
              <a:prstClr val="black">
                <a:alpha val="40000"/>
              </a:prstClr>
            </a:outerShdw>
          </a:effectLst>
        </p:spPr>
        <p:txBody>
          <a:bodyPr rtlCol="0" anchor="ctr"/>
          <a:lstStyle/>
          <a:p>
            <a:pPr algn="ctr"/>
            <a:endParaRPr lang="en-US"/>
          </a:p>
        </p:txBody>
      </p:sp>
      <p:grpSp>
        <p:nvGrpSpPr>
          <p:cNvPr id="13" name="Group 12"/>
          <p:cNvGrpSpPr/>
          <p:nvPr/>
        </p:nvGrpSpPr>
        <p:grpSpPr>
          <a:xfrm>
            <a:off x="7438774" y="1147266"/>
            <a:ext cx="1136650" cy="1066800"/>
            <a:chOff x="6781800" y="1524000"/>
            <a:chExt cx="1136650" cy="1066800"/>
          </a:xfrm>
        </p:grpSpPr>
        <p:pic>
          <p:nvPicPr>
            <p:cNvPr id="1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2379" y="1524000"/>
              <a:ext cx="994672" cy="993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15" name="Content Placeholder 5"/>
            <p:cNvSpPr txBox="1">
              <a:spLocks/>
            </p:cNvSpPr>
            <p:nvPr/>
          </p:nvSpPr>
          <p:spPr bwMode="auto">
            <a:xfrm>
              <a:off x="6781800" y="2300287"/>
              <a:ext cx="1136650" cy="290513"/>
            </a:xfrm>
            <a:prstGeom prst="rect">
              <a:avLst/>
            </a:prstGeom>
            <a:noFill/>
            <a:ln w="9525">
              <a:noFill/>
              <a:miter lim="800000"/>
              <a:headEnd/>
              <a:tailEnd/>
            </a:ln>
          </p:spPr>
          <p:txBody>
            <a:bodyPr lIns="0" tIns="0" rIns="0" bIns="0"/>
            <a:lstStyle/>
            <a:p>
              <a:pPr marL="457200" indent="-457200" algn="ctr" eaLnBrk="0" hangingPunct="0">
                <a:spcBef>
                  <a:spcPct val="40000"/>
                </a:spcBef>
                <a:buClr>
                  <a:srgbClr val="04628C"/>
                </a:buClr>
                <a:buSzPct val="90000"/>
                <a:buFont typeface="Arial" pitchFamily="34" charset="0"/>
                <a:buNone/>
                <a:defRPr/>
              </a:pPr>
              <a:r>
                <a:rPr lang="en-US" sz="1100" kern="0" dirty="0">
                  <a:solidFill>
                    <a:schemeClr val="tx1"/>
                  </a:solidFill>
                  <a:latin typeface="Arial Narrow" pitchFamily="34" charset="0"/>
                  <a:cs typeface="+mn-cs"/>
                </a:rPr>
                <a:t>ContactManager</a:t>
              </a:r>
            </a:p>
          </p:txBody>
        </p:sp>
      </p:grpSp>
    </p:spTree>
    <p:extLst>
      <p:ext uri="{BB962C8B-B14F-4D97-AF65-F5344CB8AC3E}">
        <p14:creationId xmlns:p14="http://schemas.microsoft.com/office/powerpoint/2010/main" val="3272276177"/>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|EOS~027|</a:t>
            </a:r>
            <a:endParaRPr lang="en-US" sz="100" dirty="0" err="1" smtClean="0">
              <a:solidFill>
                <a:srgbClr val="FFFFFF"/>
              </a:solidFill>
              <a:latin typeface="Arial"/>
              <a:cs typeface="Calibri" pitchFamily="34" charset="0"/>
            </a:endParaRPr>
          </a:p>
        </p:txBody>
      </p:sp>
      <p:sp>
        <p:nvSpPr>
          <p:cNvPr id="28674" name="Rectangle 2"/>
          <p:cNvSpPr>
            <a:spLocks noGrp="1" noChangeArrowheads="1"/>
          </p:cNvSpPr>
          <p:nvPr>
            <p:ph type="title"/>
          </p:nvPr>
        </p:nvSpPr>
        <p:spPr/>
        <p:txBody>
          <a:bodyPr/>
          <a:lstStyle/>
          <a:p>
            <a:pPr eaLnBrk="1" hangingPunct="1"/>
            <a:r>
              <a:rPr lang="en-US" dirty="0" smtClean="0"/>
              <a:t>Lesson outline</a:t>
            </a:r>
          </a:p>
        </p:txBody>
      </p:sp>
      <p:sp>
        <p:nvSpPr>
          <p:cNvPr id="28675" name="Rectangle 3"/>
          <p:cNvSpPr>
            <a:spLocks noGrp="1" noChangeArrowheads="1"/>
          </p:cNvSpPr>
          <p:nvPr>
            <p:ph idx="1"/>
          </p:nvPr>
        </p:nvSpPr>
        <p:spPr/>
        <p:txBody>
          <a:bodyPr/>
          <a:lstStyle/>
          <a:p>
            <a:pPr>
              <a:lnSpc>
                <a:spcPct val="150000"/>
              </a:lnSpc>
            </a:pPr>
            <a:r>
              <a:rPr lang="en-US" sz="2800" dirty="0" smtClean="0">
                <a:solidFill>
                  <a:srgbClr val="C0C0C0"/>
                </a:solidFill>
              </a:rPr>
              <a:t>Contact Basics</a:t>
            </a:r>
          </a:p>
          <a:p>
            <a:pPr>
              <a:lnSpc>
                <a:spcPct val="150000"/>
              </a:lnSpc>
            </a:pPr>
            <a:r>
              <a:rPr lang="en-US" sz="2800" dirty="0" err="1" smtClean="0">
                <a:solidFill>
                  <a:srgbClr val="C0C0C0"/>
                </a:solidFill>
              </a:rPr>
              <a:t>ContactManager</a:t>
            </a:r>
            <a:endParaRPr lang="en-US" sz="2800" dirty="0" smtClean="0">
              <a:solidFill>
                <a:srgbClr val="C0C0C0"/>
              </a:solidFill>
            </a:endParaRPr>
          </a:p>
          <a:p>
            <a:pPr>
              <a:lnSpc>
                <a:spcPct val="150000"/>
              </a:lnSpc>
            </a:pPr>
            <a:r>
              <a:rPr lang="en-US" sz="2800" dirty="0" smtClean="0"/>
              <a:t>Creating </a:t>
            </a:r>
            <a:r>
              <a:rPr lang="en-US" sz="2800" dirty="0" err="1" smtClean="0"/>
              <a:t>ClaimCenter</a:t>
            </a:r>
            <a:r>
              <a:rPr lang="en-US" sz="2800" dirty="0" smtClean="0"/>
              <a:t> contacts</a:t>
            </a:r>
          </a:p>
          <a:p>
            <a:pPr>
              <a:lnSpc>
                <a:spcPct val="150000"/>
              </a:lnSpc>
            </a:pPr>
            <a:r>
              <a:rPr lang="en-US" sz="2800" dirty="0" smtClean="0">
                <a:solidFill>
                  <a:srgbClr val="C0C0C0"/>
                </a:solidFill>
              </a:rPr>
              <a:t>Searching for contacts</a:t>
            </a:r>
            <a:endParaRPr lang="en-US" sz="2800" dirty="0" smtClean="0"/>
          </a:p>
        </p:txBody>
      </p:sp>
    </p:spTree>
    <p:extLst>
      <p:ext uri="{BB962C8B-B14F-4D97-AF65-F5344CB8AC3E}">
        <p14:creationId xmlns:p14="http://schemas.microsoft.com/office/powerpoint/2010/main" val="2990063232"/>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|EOS~028|</a:t>
            </a:r>
            <a:endParaRPr lang="en-US" sz="100" dirty="0" err="1" smtClean="0">
              <a:solidFill>
                <a:srgbClr val="FFFFFF"/>
              </a:solidFill>
              <a:latin typeface="Arial"/>
              <a:cs typeface="Calibri" pitchFamily="34" charset="0"/>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076" y="520700"/>
            <a:ext cx="4343692" cy="60579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9700" name="Rectangle 2"/>
          <p:cNvSpPr>
            <a:spLocks noGrp="1" noChangeArrowheads="1"/>
          </p:cNvSpPr>
          <p:nvPr>
            <p:ph type="title"/>
          </p:nvPr>
        </p:nvSpPr>
        <p:spPr/>
        <p:txBody>
          <a:bodyPr/>
          <a:lstStyle/>
          <a:p>
            <a:pPr eaLnBrk="1" hangingPunct="1"/>
            <a:r>
              <a:rPr lang="en-US" dirty="0" smtClean="0"/>
              <a:t>Creating contacts from the new claim wizard</a:t>
            </a:r>
          </a:p>
        </p:txBody>
      </p:sp>
      <p:sp>
        <p:nvSpPr>
          <p:cNvPr id="29701" name="Text Box 5"/>
          <p:cNvSpPr txBox="1">
            <a:spLocks noChangeArrowheads="1"/>
          </p:cNvSpPr>
          <p:nvPr/>
        </p:nvSpPr>
        <p:spPr bwMode="auto">
          <a:xfrm>
            <a:off x="4846638" y="1006475"/>
            <a:ext cx="367665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2400" b="1" dirty="0">
                <a:solidFill>
                  <a:srgbClr val="C00000"/>
                </a:solidFill>
              </a:rPr>
              <a:t>Contacts added on the Basic Information step have a pre-defined role</a:t>
            </a:r>
          </a:p>
        </p:txBody>
      </p:sp>
      <p:sp>
        <p:nvSpPr>
          <p:cNvPr id="29702" name="Text Box 6"/>
          <p:cNvSpPr txBox="1">
            <a:spLocks noChangeArrowheads="1"/>
          </p:cNvSpPr>
          <p:nvPr/>
        </p:nvSpPr>
        <p:spPr bwMode="auto">
          <a:xfrm>
            <a:off x="4930775" y="5168900"/>
            <a:ext cx="3813175"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r" eaLnBrk="1" hangingPunct="1"/>
            <a:r>
              <a:rPr lang="en-US" sz="2400" b="1" dirty="0">
                <a:solidFill>
                  <a:srgbClr val="C00000"/>
                </a:solidFill>
              </a:rPr>
              <a:t>Contacts added on the Parties involved step can have any role</a:t>
            </a:r>
          </a:p>
        </p:txBody>
      </p:sp>
      <p:sp>
        <p:nvSpPr>
          <p:cNvPr id="29703" name="AutoShape 9"/>
          <p:cNvSpPr>
            <a:spLocks/>
          </p:cNvSpPr>
          <p:nvPr/>
        </p:nvSpPr>
        <p:spPr bwMode="auto">
          <a:xfrm>
            <a:off x="4733925" y="957263"/>
            <a:ext cx="3943350" cy="1352550"/>
          </a:xfrm>
          <a:prstGeom prst="borderCallout2">
            <a:avLst>
              <a:gd name="adj1" fmla="val 8449"/>
              <a:gd name="adj2" fmla="val -1931"/>
              <a:gd name="adj3" fmla="val 8449"/>
              <a:gd name="adj4" fmla="val -4431"/>
              <a:gd name="adj5" fmla="val 46477"/>
              <a:gd name="adj6" fmla="val -7005"/>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3737" y="2562223"/>
            <a:ext cx="5786438" cy="227663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9704" name="AutoShape 11"/>
          <p:cNvSpPr>
            <a:spLocks/>
          </p:cNvSpPr>
          <p:nvPr/>
        </p:nvSpPr>
        <p:spPr bwMode="auto">
          <a:xfrm>
            <a:off x="5033963" y="5114925"/>
            <a:ext cx="3771900" cy="1252538"/>
          </a:xfrm>
          <a:prstGeom prst="borderCallout2">
            <a:avLst>
              <a:gd name="adj1" fmla="val 9125"/>
              <a:gd name="adj2" fmla="val -2019"/>
              <a:gd name="adj3" fmla="val 9125"/>
              <a:gd name="adj4" fmla="val -3537"/>
              <a:gd name="adj5" fmla="val -30796"/>
              <a:gd name="adj6" fmla="val -5051"/>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pic>
        <p:nvPicPr>
          <p:cNvPr id="9" name="Picture 17" descr="claimcenter.png"/>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410533" y="499434"/>
            <a:ext cx="509609" cy="509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3260697"/>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|EOS~029|</a:t>
            </a:r>
            <a:endParaRPr lang="en-US" sz="100" dirty="0" err="1" smtClean="0">
              <a:solidFill>
                <a:srgbClr val="FFFFFF"/>
              </a:solidFill>
              <a:latin typeface="Arial"/>
              <a:cs typeface="Calibri" pitchFamily="34" charset="0"/>
            </a:endParaRPr>
          </a:p>
        </p:txBody>
      </p:sp>
      <p:pic>
        <p:nvPicPr>
          <p:cNvPr id="3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9994" y="436800"/>
            <a:ext cx="4807920" cy="45092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0293" y="4905147"/>
            <a:ext cx="5813707" cy="161305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dirty="0" smtClean="0"/>
              <a:t>Adding a new local contact</a:t>
            </a:r>
            <a:endParaRPr lang="en-US" dirty="0"/>
          </a:p>
        </p:txBody>
      </p:sp>
      <p:pic>
        <p:nvPicPr>
          <p:cNvPr id="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3293" y="935476"/>
            <a:ext cx="1924050" cy="369570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rotWithShape="1">
          <a:blip r:embed="rId6">
            <a:extLst>
              <a:ext uri="{28A0092B-C50C-407E-A947-70E740481C1C}">
                <a14:useLocalDpi xmlns:a14="http://schemas.microsoft.com/office/drawing/2010/main" val="0"/>
              </a:ext>
            </a:extLst>
          </a:blip>
          <a:srcRect b="37253"/>
          <a:stretch/>
        </p:blipFill>
        <p:spPr bwMode="auto">
          <a:xfrm>
            <a:off x="187043" y="4759896"/>
            <a:ext cx="3143250" cy="1189356"/>
          </a:xfrm>
          <a:prstGeom prst="rect">
            <a:avLst/>
          </a:prstGeom>
          <a:noFill/>
          <a:ln w="9525">
            <a:solidFill>
              <a:schemeClr val="bg1"/>
            </a:solidFill>
            <a:miter lim="800000"/>
            <a:headEnd/>
            <a:tailEnd/>
          </a:ln>
          <a:effectLst>
            <a:outerShdw blurRad="63500" sx="102000" sy="102000" algn="ctr"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6" name="AutoShape 6"/>
          <p:cNvSpPr>
            <a:spLocks noChangeArrowheads="1"/>
          </p:cNvSpPr>
          <p:nvPr/>
        </p:nvSpPr>
        <p:spPr bwMode="auto">
          <a:xfrm>
            <a:off x="2152153" y="5284829"/>
            <a:ext cx="1189831" cy="684414"/>
          </a:xfrm>
          <a:prstGeom prst="roundRect">
            <a:avLst>
              <a:gd name="adj" fmla="val 16667"/>
            </a:avLst>
          </a:prstGeom>
          <a:noFill/>
          <a:ln w="190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4" name="Arc 13"/>
          <p:cNvSpPr/>
          <p:nvPr/>
        </p:nvSpPr>
        <p:spPr bwMode="auto">
          <a:xfrm>
            <a:off x="1069259" y="4261625"/>
            <a:ext cx="1907740" cy="2046407"/>
          </a:xfrm>
          <a:prstGeom prst="arc">
            <a:avLst/>
          </a:prstGeom>
          <a:noFill/>
          <a:ln w="19050" cap="flat" cmpd="sng" algn="ctr">
            <a:solidFill>
              <a:srgbClr val="C00000"/>
            </a:solidFill>
            <a:prstDash val="solid"/>
            <a:round/>
            <a:headEnd type="none" w="med" len="med"/>
            <a:tailEnd type="triangle" w="med" len="med"/>
          </a:ln>
          <a:effectLst/>
        </p:spPr>
        <p:txBody>
          <a:bodyPr rtlCol="0" anchor="ctr"/>
          <a:lstStyle/>
          <a:p>
            <a:pPr algn="ctr"/>
            <a:endParaRPr lang="en-US"/>
          </a:p>
        </p:txBody>
      </p:sp>
      <p:cxnSp>
        <p:nvCxnSpPr>
          <p:cNvPr id="18" name="Straight Arrow Connector 17"/>
          <p:cNvCxnSpPr/>
          <p:nvPr/>
        </p:nvCxnSpPr>
        <p:spPr bwMode="auto">
          <a:xfrm flipV="1">
            <a:off x="3156559" y="2805830"/>
            <a:ext cx="438411" cy="2478999"/>
          </a:xfrm>
          <a:prstGeom prst="straightConnector1">
            <a:avLst/>
          </a:prstGeom>
          <a:noFill/>
          <a:ln w="19050" cap="flat" cmpd="sng" algn="ctr">
            <a:solidFill>
              <a:srgbClr val="C00000"/>
            </a:solidFill>
            <a:prstDash val="solid"/>
            <a:round/>
            <a:headEnd type="none" w="med" len="med"/>
            <a:tailEnd type="arrow"/>
          </a:ln>
          <a:effectLst/>
        </p:spPr>
      </p:cxnSp>
      <p:sp>
        <p:nvSpPr>
          <p:cNvPr id="21" name="TextBox 20"/>
          <p:cNvSpPr txBox="1"/>
          <p:nvPr/>
        </p:nvSpPr>
        <p:spPr>
          <a:xfrm>
            <a:off x="2152153" y="4330003"/>
            <a:ext cx="314510" cy="400110"/>
          </a:xfrm>
          <a:prstGeom prst="rect">
            <a:avLst/>
          </a:prstGeom>
          <a:noFill/>
        </p:spPr>
        <p:txBody>
          <a:bodyPr wrap="none" rtlCol="0">
            <a:spAutoFit/>
          </a:bodyPr>
          <a:lstStyle/>
          <a:p>
            <a:r>
              <a:rPr lang="en-US" sz="2000" dirty="0" smtClean="0">
                <a:solidFill>
                  <a:srgbClr val="C00000"/>
                </a:solidFill>
                <a:latin typeface="Calibri" pitchFamily="34" charset="0"/>
                <a:cs typeface="Calibri" pitchFamily="34" charset="0"/>
              </a:rPr>
              <a:t>1</a:t>
            </a:r>
          </a:p>
        </p:txBody>
      </p:sp>
      <p:sp>
        <p:nvSpPr>
          <p:cNvPr id="22" name="TextBox 21"/>
          <p:cNvSpPr txBox="1"/>
          <p:nvPr/>
        </p:nvSpPr>
        <p:spPr>
          <a:xfrm>
            <a:off x="2989737" y="4086195"/>
            <a:ext cx="314510" cy="400110"/>
          </a:xfrm>
          <a:prstGeom prst="rect">
            <a:avLst/>
          </a:prstGeom>
          <a:noFill/>
        </p:spPr>
        <p:txBody>
          <a:bodyPr wrap="none" rtlCol="0">
            <a:spAutoFit/>
          </a:bodyPr>
          <a:lstStyle/>
          <a:p>
            <a:r>
              <a:rPr lang="en-US" sz="2000" dirty="0" smtClean="0">
                <a:solidFill>
                  <a:srgbClr val="C00000"/>
                </a:solidFill>
                <a:latin typeface="Calibri" pitchFamily="34" charset="0"/>
                <a:cs typeface="Calibri" pitchFamily="34" charset="0"/>
              </a:rPr>
              <a:t>2</a:t>
            </a:r>
          </a:p>
        </p:txBody>
      </p:sp>
      <p:sp>
        <p:nvSpPr>
          <p:cNvPr id="23" name="TextBox 22"/>
          <p:cNvSpPr txBox="1"/>
          <p:nvPr/>
        </p:nvSpPr>
        <p:spPr>
          <a:xfrm>
            <a:off x="4771057" y="3400475"/>
            <a:ext cx="314510" cy="400110"/>
          </a:xfrm>
          <a:prstGeom prst="rect">
            <a:avLst/>
          </a:prstGeom>
          <a:noFill/>
        </p:spPr>
        <p:txBody>
          <a:bodyPr wrap="none" rtlCol="0">
            <a:spAutoFit/>
          </a:bodyPr>
          <a:lstStyle/>
          <a:p>
            <a:r>
              <a:rPr lang="en-US" sz="2000" dirty="0" smtClean="0">
                <a:solidFill>
                  <a:srgbClr val="C00000"/>
                </a:solidFill>
                <a:latin typeface="Calibri" pitchFamily="34" charset="0"/>
                <a:cs typeface="Calibri" pitchFamily="34" charset="0"/>
              </a:rPr>
              <a:t>3</a:t>
            </a:r>
          </a:p>
        </p:txBody>
      </p:sp>
      <p:sp>
        <p:nvSpPr>
          <p:cNvPr id="16" name="Rounded Rectangle 15"/>
          <p:cNvSpPr/>
          <p:nvPr/>
        </p:nvSpPr>
        <p:spPr bwMode="auto">
          <a:xfrm>
            <a:off x="5085567" y="1311461"/>
            <a:ext cx="1549980" cy="404605"/>
          </a:xfrm>
          <a:prstGeom prst="roundRect">
            <a:avLst/>
          </a:prstGeom>
          <a:noFill/>
          <a:ln w="19050" algn="ctr">
            <a:solidFill>
              <a:srgbClr val="C00000"/>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grpSp>
        <p:nvGrpSpPr>
          <p:cNvPr id="17" name="Group 16"/>
          <p:cNvGrpSpPr/>
          <p:nvPr/>
        </p:nvGrpSpPr>
        <p:grpSpPr>
          <a:xfrm>
            <a:off x="7845309" y="499286"/>
            <a:ext cx="1136650" cy="1066800"/>
            <a:chOff x="6781800" y="1524000"/>
            <a:chExt cx="1136650" cy="1066800"/>
          </a:xfrm>
        </p:grpSpPr>
        <p:pic>
          <p:nvPicPr>
            <p:cNvPr id="19"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52379" y="1524000"/>
              <a:ext cx="994672" cy="993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
          <p:nvSpPr>
            <p:cNvPr id="20" name="Content Placeholder 5"/>
            <p:cNvSpPr txBox="1">
              <a:spLocks/>
            </p:cNvSpPr>
            <p:nvPr/>
          </p:nvSpPr>
          <p:spPr bwMode="auto">
            <a:xfrm>
              <a:off x="6781800" y="2300287"/>
              <a:ext cx="1136650" cy="290513"/>
            </a:xfrm>
            <a:prstGeom prst="rect">
              <a:avLst/>
            </a:prstGeom>
            <a:noFill/>
            <a:ln w="9525">
              <a:noFill/>
              <a:miter lim="800000"/>
              <a:headEnd/>
              <a:tailEnd/>
            </a:ln>
          </p:spPr>
          <p:txBody>
            <a:bodyPr lIns="0" tIns="0" rIns="0" bIns="0"/>
            <a:lstStyle/>
            <a:p>
              <a:pPr marL="457200" indent="-457200" algn="ctr" eaLnBrk="0" hangingPunct="0">
                <a:spcBef>
                  <a:spcPct val="40000"/>
                </a:spcBef>
                <a:buClr>
                  <a:srgbClr val="04628C"/>
                </a:buClr>
                <a:buSzPct val="90000"/>
                <a:buFont typeface="Arial" pitchFamily="34" charset="0"/>
                <a:buNone/>
                <a:defRPr/>
              </a:pPr>
              <a:r>
                <a:rPr lang="en-US" sz="1100" kern="0" dirty="0">
                  <a:solidFill>
                    <a:schemeClr val="tx1"/>
                  </a:solidFill>
                  <a:latin typeface="Arial Narrow" pitchFamily="34" charset="0"/>
                  <a:cs typeface="+mn-cs"/>
                </a:rPr>
                <a:t>ContactManager</a:t>
              </a:r>
            </a:p>
          </p:txBody>
        </p:sp>
      </p:grpSp>
      <p:cxnSp>
        <p:nvCxnSpPr>
          <p:cNvPr id="25" name="Straight Arrow Connector 24"/>
          <p:cNvCxnSpPr>
            <a:endCxn id="19" idx="1"/>
          </p:cNvCxnSpPr>
          <p:nvPr/>
        </p:nvCxnSpPr>
        <p:spPr bwMode="auto">
          <a:xfrm flipV="1">
            <a:off x="6635547" y="996197"/>
            <a:ext cx="1280341" cy="496910"/>
          </a:xfrm>
          <a:prstGeom prst="straightConnector1">
            <a:avLst/>
          </a:prstGeom>
          <a:noFill/>
          <a:ln w="19050" cap="flat" cmpd="sng" algn="ctr">
            <a:solidFill>
              <a:srgbClr val="C00000"/>
            </a:solidFill>
            <a:prstDash val="solid"/>
            <a:round/>
            <a:headEnd type="none" w="med" len="med"/>
            <a:tailEnd type="arrow"/>
          </a:ln>
          <a:effectLst/>
        </p:spPr>
      </p:cxnSp>
      <p:cxnSp>
        <p:nvCxnSpPr>
          <p:cNvPr id="26" name="Straight Arrow Connector 25"/>
          <p:cNvCxnSpPr/>
          <p:nvPr/>
        </p:nvCxnSpPr>
        <p:spPr bwMode="auto">
          <a:xfrm flipH="1">
            <a:off x="8436411" y="1493107"/>
            <a:ext cx="22462" cy="3412040"/>
          </a:xfrm>
          <a:prstGeom prst="straightConnector1">
            <a:avLst/>
          </a:prstGeom>
          <a:noFill/>
          <a:ln w="19050" cap="flat" cmpd="sng" algn="ctr">
            <a:solidFill>
              <a:srgbClr val="C00000"/>
            </a:solidFill>
            <a:prstDash val="solid"/>
            <a:round/>
            <a:headEnd type="none" w="med" len="med"/>
            <a:tailEnd type="arrow"/>
          </a:ln>
          <a:effectLst/>
        </p:spPr>
      </p:cxnSp>
      <p:sp>
        <p:nvSpPr>
          <p:cNvPr id="27" name="AutoShape 21"/>
          <p:cNvSpPr>
            <a:spLocks noChangeArrowheads="1"/>
          </p:cNvSpPr>
          <p:nvPr/>
        </p:nvSpPr>
        <p:spPr bwMode="auto">
          <a:xfrm>
            <a:off x="8413634" y="2286170"/>
            <a:ext cx="492125" cy="492125"/>
          </a:xfrm>
          <a:prstGeom prst="smileyFace">
            <a:avLst>
              <a:gd name="adj" fmla="val 153"/>
            </a:avLst>
          </a:prstGeom>
          <a:solidFill>
            <a:schemeClr val="tx1">
              <a:lumMod val="75000"/>
            </a:schemeClr>
          </a:solidFill>
          <a:ln w="12700">
            <a:solidFill>
              <a:srgbClr val="000000"/>
            </a:solidFill>
            <a:round/>
            <a:headEnd/>
            <a:tailEnd/>
          </a:ln>
        </p:spPr>
        <p:txBody>
          <a:bodyPr wrap="none" anchor="ctr"/>
          <a:lstStyle/>
          <a:p>
            <a:endParaRPr lang="en-US"/>
          </a:p>
        </p:txBody>
      </p:sp>
      <p:sp>
        <p:nvSpPr>
          <p:cNvPr id="28" name="AutoShape 24"/>
          <p:cNvSpPr>
            <a:spLocks noChangeArrowheads="1"/>
          </p:cNvSpPr>
          <p:nvPr/>
        </p:nvSpPr>
        <p:spPr bwMode="auto">
          <a:xfrm rot="2186541">
            <a:off x="8369889" y="2200842"/>
            <a:ext cx="318294" cy="318295"/>
          </a:xfrm>
          <a:prstGeom prst="star4">
            <a:avLst>
              <a:gd name="adj" fmla="val 14102"/>
            </a:avLst>
          </a:prstGeom>
          <a:solidFill>
            <a:schemeClr val="folHlink"/>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nchor="ctr">
            <a:spAutoFit/>
          </a:bodyPr>
          <a:lstStyle/>
          <a:p>
            <a:endParaRPr lang="en-US"/>
          </a:p>
        </p:txBody>
      </p:sp>
      <p:sp>
        <p:nvSpPr>
          <p:cNvPr id="29" name="AutoShape 21"/>
          <p:cNvSpPr>
            <a:spLocks noChangeArrowheads="1"/>
          </p:cNvSpPr>
          <p:nvPr/>
        </p:nvSpPr>
        <p:spPr bwMode="auto">
          <a:xfrm>
            <a:off x="8566034" y="2438570"/>
            <a:ext cx="492125" cy="492125"/>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30" name="AutoShape 24"/>
          <p:cNvSpPr>
            <a:spLocks noChangeArrowheads="1"/>
          </p:cNvSpPr>
          <p:nvPr/>
        </p:nvSpPr>
        <p:spPr bwMode="auto">
          <a:xfrm rot="2186541">
            <a:off x="8522289" y="2353242"/>
            <a:ext cx="318294" cy="318295"/>
          </a:xfrm>
          <a:prstGeom prst="star4">
            <a:avLst>
              <a:gd name="adj" fmla="val 14102"/>
            </a:avLst>
          </a:prstGeom>
          <a:solidFill>
            <a:schemeClr val="folHlink"/>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nchor="ctr">
            <a:spAutoFit/>
          </a:bodyPr>
          <a:lstStyle/>
          <a:p>
            <a:endParaRPr lang="en-US"/>
          </a:p>
        </p:txBody>
      </p:sp>
      <p:sp>
        <p:nvSpPr>
          <p:cNvPr id="31" name="TextBox 30"/>
          <p:cNvSpPr txBox="1"/>
          <p:nvPr/>
        </p:nvSpPr>
        <p:spPr>
          <a:xfrm>
            <a:off x="6661055" y="1447084"/>
            <a:ext cx="1393456" cy="400110"/>
          </a:xfrm>
          <a:prstGeom prst="rect">
            <a:avLst/>
          </a:prstGeom>
          <a:noFill/>
        </p:spPr>
        <p:txBody>
          <a:bodyPr wrap="square" rtlCol="0">
            <a:spAutoFit/>
          </a:bodyPr>
          <a:lstStyle/>
          <a:p>
            <a:pPr algn="l"/>
            <a:r>
              <a:rPr lang="en-US" sz="2000" dirty="0" smtClean="0">
                <a:solidFill>
                  <a:srgbClr val="C00000"/>
                </a:solidFill>
                <a:latin typeface="Calibri" pitchFamily="34" charset="0"/>
                <a:cs typeface="Calibri" pitchFamily="34" charset="0"/>
              </a:rPr>
              <a:t>4 (optional)</a:t>
            </a:r>
          </a:p>
        </p:txBody>
      </p:sp>
      <p:sp>
        <p:nvSpPr>
          <p:cNvPr id="13" name="Rectangle 12"/>
          <p:cNvSpPr/>
          <p:nvPr/>
        </p:nvSpPr>
        <p:spPr bwMode="auto">
          <a:xfrm>
            <a:off x="5085567" y="3390401"/>
            <a:ext cx="2968944" cy="1514746"/>
          </a:xfrm>
          <a:prstGeom prst="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1900199356"/>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|EOS~030|</a:t>
            </a:r>
            <a:endParaRPr lang="en-US" sz="100" dirty="0" err="1" smtClean="0">
              <a:solidFill>
                <a:srgbClr val="FFFFFF"/>
              </a:solidFill>
              <a:latin typeface="Arial"/>
              <a:cs typeface="Calibri" pitchFamily="34"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282" y="592624"/>
            <a:ext cx="4994493" cy="46869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dirty="0" smtClean="0"/>
              <a:t>(cont.) Adding a new local contact</a:t>
            </a:r>
            <a:endParaRPr lang="en-US" dirty="0"/>
          </a:p>
        </p:txBody>
      </p:sp>
      <p:sp>
        <p:nvSpPr>
          <p:cNvPr id="5" name="Rounded Rectangle 4"/>
          <p:cNvSpPr/>
          <p:nvPr/>
        </p:nvSpPr>
        <p:spPr bwMode="auto">
          <a:xfrm>
            <a:off x="2164731" y="3243297"/>
            <a:ext cx="3134044" cy="389087"/>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6" name="TextBox 5"/>
          <p:cNvSpPr txBox="1"/>
          <p:nvPr/>
        </p:nvSpPr>
        <p:spPr>
          <a:xfrm>
            <a:off x="1580291" y="2454101"/>
            <a:ext cx="316884" cy="400110"/>
          </a:xfrm>
          <a:prstGeom prst="rect">
            <a:avLst/>
          </a:prstGeom>
          <a:noFill/>
        </p:spPr>
        <p:txBody>
          <a:bodyPr wrap="square" rtlCol="0">
            <a:spAutoFit/>
          </a:bodyPr>
          <a:lstStyle/>
          <a:p>
            <a:r>
              <a:rPr lang="en-US" sz="2000" dirty="0" smtClean="0">
                <a:solidFill>
                  <a:srgbClr val="C00000"/>
                </a:solidFill>
                <a:latin typeface="Calibri" pitchFamily="34" charset="0"/>
                <a:cs typeface="Calibri" pitchFamily="34" charset="0"/>
              </a:rPr>
              <a:t>4</a:t>
            </a:r>
          </a:p>
        </p:txBody>
      </p:sp>
      <p:sp>
        <p:nvSpPr>
          <p:cNvPr id="7" name="Rounded Rectangle 6"/>
          <p:cNvSpPr/>
          <p:nvPr/>
        </p:nvSpPr>
        <p:spPr bwMode="auto">
          <a:xfrm>
            <a:off x="353172" y="1508580"/>
            <a:ext cx="756423" cy="388247"/>
          </a:xfrm>
          <a:prstGeom prst="roundRect">
            <a:avLst/>
          </a:prstGeom>
          <a:noFill/>
          <a:ln w="19050" algn="ctr">
            <a:solidFill>
              <a:srgbClr val="C00000"/>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8" name="TextBox 7"/>
          <p:cNvSpPr txBox="1"/>
          <p:nvPr/>
        </p:nvSpPr>
        <p:spPr>
          <a:xfrm>
            <a:off x="1807041" y="3243298"/>
            <a:ext cx="316884" cy="400110"/>
          </a:xfrm>
          <a:prstGeom prst="rect">
            <a:avLst/>
          </a:prstGeom>
          <a:noFill/>
        </p:spPr>
        <p:txBody>
          <a:bodyPr wrap="square" rtlCol="0">
            <a:spAutoFit/>
          </a:bodyPr>
          <a:lstStyle/>
          <a:p>
            <a:r>
              <a:rPr lang="en-US" sz="2000" dirty="0" smtClean="0">
                <a:solidFill>
                  <a:srgbClr val="C00000"/>
                </a:solidFill>
                <a:latin typeface="Calibri" pitchFamily="34" charset="0"/>
                <a:cs typeface="Calibri" pitchFamily="34" charset="0"/>
              </a:rPr>
              <a:t>5</a:t>
            </a:r>
          </a:p>
        </p:txBody>
      </p:sp>
      <p:cxnSp>
        <p:nvCxnSpPr>
          <p:cNvPr id="12" name="Straight Arrow Connector 11"/>
          <p:cNvCxnSpPr/>
          <p:nvPr/>
        </p:nvCxnSpPr>
        <p:spPr bwMode="auto">
          <a:xfrm flipH="1">
            <a:off x="4258849" y="1873147"/>
            <a:ext cx="450937" cy="313153"/>
          </a:xfrm>
          <a:prstGeom prst="straightConnector1">
            <a:avLst/>
          </a:prstGeom>
          <a:noFill/>
          <a:ln w="19050" cap="flat" cmpd="sng" algn="ctr">
            <a:solidFill>
              <a:srgbClr val="C00000"/>
            </a:solidFill>
            <a:prstDash val="solid"/>
            <a:round/>
            <a:headEnd type="none" w="med" len="med"/>
            <a:tailEnd type="arrow"/>
          </a:ln>
          <a:effectLst/>
        </p:spPr>
      </p:cxnSp>
      <p:sp>
        <p:nvSpPr>
          <p:cNvPr id="13" name="TextBox 12"/>
          <p:cNvSpPr txBox="1"/>
          <p:nvPr/>
        </p:nvSpPr>
        <p:spPr>
          <a:xfrm>
            <a:off x="4686408" y="1638560"/>
            <a:ext cx="314510" cy="400110"/>
          </a:xfrm>
          <a:prstGeom prst="rect">
            <a:avLst/>
          </a:prstGeom>
          <a:noFill/>
        </p:spPr>
        <p:txBody>
          <a:bodyPr wrap="none" rtlCol="0">
            <a:spAutoFit/>
          </a:bodyPr>
          <a:lstStyle/>
          <a:p>
            <a:r>
              <a:rPr lang="en-US" sz="2000" dirty="0">
                <a:solidFill>
                  <a:srgbClr val="C00000"/>
                </a:solidFill>
                <a:latin typeface="Calibri" pitchFamily="34" charset="0"/>
                <a:cs typeface="Calibri" pitchFamily="34" charset="0"/>
              </a:rPr>
              <a:t>6</a:t>
            </a:r>
            <a:endParaRPr lang="en-US" sz="2000" dirty="0" smtClean="0">
              <a:solidFill>
                <a:srgbClr val="C00000"/>
              </a:solidFill>
              <a:latin typeface="Calibri" pitchFamily="34" charset="0"/>
              <a:cs typeface="Calibri" pitchFamily="34" charset="0"/>
            </a:endParaRPr>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9057" y="4021442"/>
            <a:ext cx="3800475" cy="1685925"/>
          </a:xfrm>
          <a:prstGeom prst="rect">
            <a:avLst/>
          </a:prstGeom>
          <a:noFill/>
          <a:ln w="9525">
            <a:solidFill>
              <a:schemeClr val="bg1"/>
            </a:solidFill>
            <a:miter lim="800000"/>
            <a:headEnd/>
            <a:tailEnd/>
          </a:ln>
          <a:effectLst>
            <a:outerShdw blurRad="63500" sx="102000" sy="102000" algn="ctr"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15" name="TextBox 14"/>
          <p:cNvSpPr txBox="1"/>
          <p:nvPr/>
        </p:nvSpPr>
        <p:spPr>
          <a:xfrm>
            <a:off x="4296428" y="5758396"/>
            <a:ext cx="4020854" cy="646331"/>
          </a:xfrm>
          <a:prstGeom prst="rect">
            <a:avLst/>
          </a:prstGeom>
          <a:noFill/>
        </p:spPr>
        <p:txBody>
          <a:bodyPr wrap="square" rtlCol="0">
            <a:spAutoFit/>
          </a:bodyPr>
          <a:lstStyle/>
          <a:p>
            <a:pPr algn="l"/>
            <a:r>
              <a:rPr lang="en-US" sz="1800" dirty="0" smtClean="0">
                <a:solidFill>
                  <a:srgbClr val="C00000"/>
                </a:solidFill>
                <a:latin typeface="Calibri" pitchFamily="34" charset="0"/>
                <a:cs typeface="Calibri" pitchFamily="34" charset="0"/>
              </a:rPr>
              <a:t>Resulting screen after Update – the new contact appears in the Contacts list</a:t>
            </a:r>
          </a:p>
        </p:txBody>
      </p:sp>
      <p:cxnSp>
        <p:nvCxnSpPr>
          <p:cNvPr id="14" name="Straight Arrow Connector 13"/>
          <p:cNvCxnSpPr/>
          <p:nvPr/>
        </p:nvCxnSpPr>
        <p:spPr bwMode="auto">
          <a:xfrm>
            <a:off x="1897176" y="2642272"/>
            <a:ext cx="450239" cy="0"/>
          </a:xfrm>
          <a:prstGeom prst="straightConnector1">
            <a:avLst/>
          </a:prstGeom>
          <a:noFill/>
          <a:ln w="19050" cap="flat" cmpd="sng" algn="ctr">
            <a:solidFill>
              <a:srgbClr val="C00000"/>
            </a:solidFill>
            <a:prstDash val="solid"/>
            <a:round/>
            <a:headEnd type="none" w="med" len="med"/>
            <a:tailEnd type="arrow"/>
          </a:ln>
          <a:effectLst/>
        </p:spPr>
      </p:cxnSp>
    </p:spTree>
    <p:extLst>
      <p:ext uri="{BB962C8B-B14F-4D97-AF65-F5344CB8AC3E}">
        <p14:creationId xmlns:p14="http://schemas.microsoft.com/office/powerpoint/2010/main" val="3033199416"/>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|EOS~031|</a:t>
            </a:r>
            <a:endParaRPr lang="en-US" sz="100" dirty="0" err="1" smtClean="0">
              <a:solidFill>
                <a:srgbClr val="FFFFFF"/>
              </a:solidFill>
              <a:latin typeface="Arial"/>
              <a:cs typeface="Calibri" pitchFamily="34" charset="0"/>
            </a:endParaRPr>
          </a:p>
        </p:txBody>
      </p:sp>
      <p:sp>
        <p:nvSpPr>
          <p:cNvPr id="31747" name="Line 2"/>
          <p:cNvSpPr>
            <a:spLocks noChangeShapeType="1"/>
          </p:cNvSpPr>
          <p:nvPr/>
        </p:nvSpPr>
        <p:spPr bwMode="auto">
          <a:xfrm>
            <a:off x="2760663" y="1893888"/>
            <a:ext cx="0" cy="1049337"/>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1748" name="Rectangle 3"/>
          <p:cNvSpPr>
            <a:spLocks noGrp="1" noChangeArrowheads="1"/>
          </p:cNvSpPr>
          <p:nvPr>
            <p:ph type="title"/>
          </p:nvPr>
        </p:nvSpPr>
        <p:spPr/>
        <p:txBody>
          <a:bodyPr/>
          <a:lstStyle/>
          <a:p>
            <a:pPr eaLnBrk="1" hangingPunct="1"/>
            <a:r>
              <a:rPr lang="en-US" dirty="0" smtClean="0"/>
              <a:t>Roles in the User Interface</a:t>
            </a:r>
          </a:p>
        </p:txBody>
      </p:sp>
      <p:grpSp>
        <p:nvGrpSpPr>
          <p:cNvPr id="31749" name="Group 5"/>
          <p:cNvGrpSpPr>
            <a:grpSpLocks/>
          </p:cNvGrpSpPr>
          <p:nvPr/>
        </p:nvGrpSpPr>
        <p:grpSpPr bwMode="auto">
          <a:xfrm>
            <a:off x="2387600" y="1427163"/>
            <a:ext cx="1160463" cy="855662"/>
            <a:chOff x="2083" y="1606"/>
            <a:chExt cx="1489" cy="1097"/>
          </a:xfrm>
        </p:grpSpPr>
        <p:sp>
          <p:nvSpPr>
            <p:cNvPr id="31782" name="Rectangle 6"/>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31783" name="Freeform 7"/>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1784" name="Freeform 8"/>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1785" name="Freeform 9"/>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1786" name="Freeform 10"/>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31787" name="Rectangle 11"/>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31788" name="Rectangle 12"/>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1789" name="AutoShape 13"/>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31790" name="Freeform 14"/>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791" name="Freeform 15"/>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792" name="Rectangle 16"/>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1793" name="Rectangle 17"/>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1794" name="Rectangle 18"/>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31795" name="Group 19"/>
            <p:cNvGrpSpPr>
              <a:grpSpLocks/>
            </p:cNvGrpSpPr>
            <p:nvPr/>
          </p:nvGrpSpPr>
          <p:grpSpPr bwMode="auto">
            <a:xfrm>
              <a:off x="2221" y="1871"/>
              <a:ext cx="518" cy="782"/>
              <a:chOff x="2400" y="1656"/>
              <a:chExt cx="752" cy="1136"/>
            </a:xfrm>
          </p:grpSpPr>
          <p:sp>
            <p:nvSpPr>
              <p:cNvPr id="31808" name="Freeform 2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809" name="Freeform 2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10" name="Freeform 2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11" name="Freeform 2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12" name="Freeform 2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31813" name="Line 2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814" name="Line 2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1796" name="Group 27"/>
            <p:cNvGrpSpPr>
              <a:grpSpLocks/>
            </p:cNvGrpSpPr>
            <p:nvPr/>
          </p:nvGrpSpPr>
          <p:grpSpPr bwMode="auto">
            <a:xfrm rot="-6511945">
              <a:off x="2834" y="1842"/>
              <a:ext cx="518" cy="783"/>
              <a:chOff x="2400" y="1656"/>
              <a:chExt cx="752" cy="1136"/>
            </a:xfrm>
          </p:grpSpPr>
          <p:sp>
            <p:nvSpPr>
              <p:cNvPr id="31801" name="Freeform 2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802" name="Freeform 2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03" name="Freeform 3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04" name="Freeform 3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05" name="Freeform 3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06" name="Line 3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1807" name="Line 3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1797" name="Freeform 35"/>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798" name="Freeform 36"/>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799" name="Rectangle 37"/>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1800" name="Rectangle 38"/>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31750" name="Text Box 39"/>
          <p:cNvSpPr txBox="1">
            <a:spLocks noChangeArrowheads="1"/>
          </p:cNvSpPr>
          <p:nvPr/>
        </p:nvSpPr>
        <p:spPr bwMode="auto">
          <a:xfrm>
            <a:off x="2074863" y="863600"/>
            <a:ext cx="17557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1800" b="1" dirty="0"/>
              <a:t>Claim</a:t>
            </a:r>
            <a:br>
              <a:rPr lang="en-US" sz="1800" b="1" dirty="0"/>
            </a:br>
            <a:r>
              <a:rPr lang="en-US" sz="1800" b="1" dirty="0" smtClean="0"/>
              <a:t>235-53-365889</a:t>
            </a:r>
            <a:endParaRPr lang="en-US" sz="1800" b="1" dirty="0"/>
          </a:p>
        </p:txBody>
      </p:sp>
      <p:sp>
        <p:nvSpPr>
          <p:cNvPr id="31751" name="AutoShape 40"/>
          <p:cNvSpPr>
            <a:spLocks noChangeArrowheads="1"/>
          </p:cNvSpPr>
          <p:nvPr/>
        </p:nvSpPr>
        <p:spPr bwMode="auto">
          <a:xfrm>
            <a:off x="5967413" y="2019300"/>
            <a:ext cx="984250" cy="984250"/>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31752" name="Text Box 41"/>
          <p:cNvSpPr txBox="1">
            <a:spLocks noChangeArrowheads="1"/>
          </p:cNvSpPr>
          <p:nvPr/>
        </p:nvSpPr>
        <p:spPr bwMode="auto">
          <a:xfrm>
            <a:off x="7137400" y="2320925"/>
            <a:ext cx="9144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1800" b="1"/>
              <a:t>Helen</a:t>
            </a:r>
            <a:br>
              <a:rPr lang="en-US" sz="1800" b="1"/>
            </a:br>
            <a:r>
              <a:rPr lang="en-US" sz="1800" b="1"/>
              <a:t>Nixon</a:t>
            </a:r>
          </a:p>
        </p:txBody>
      </p:sp>
      <p:sp>
        <p:nvSpPr>
          <p:cNvPr id="31753" name="Line 42"/>
          <p:cNvSpPr>
            <a:spLocks noChangeShapeType="1"/>
          </p:cNvSpPr>
          <p:nvPr/>
        </p:nvSpPr>
        <p:spPr bwMode="auto">
          <a:xfrm>
            <a:off x="3543300" y="1843088"/>
            <a:ext cx="2414588" cy="631825"/>
          </a:xfrm>
          <a:prstGeom prst="line">
            <a:avLst/>
          </a:prstGeom>
          <a:noFill/>
          <a:ln w="28575">
            <a:solidFill>
              <a:srgbClr val="00B050"/>
            </a:solidFill>
            <a:round/>
            <a:headEnd type="diamond" w="med" len="med"/>
            <a:tailEnd type="diamond"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755" name="Line 44"/>
          <p:cNvSpPr>
            <a:spLocks noChangeShapeType="1"/>
          </p:cNvSpPr>
          <p:nvPr/>
        </p:nvSpPr>
        <p:spPr bwMode="auto">
          <a:xfrm flipV="1">
            <a:off x="4254500" y="2640013"/>
            <a:ext cx="1722438" cy="271462"/>
          </a:xfrm>
          <a:prstGeom prst="line">
            <a:avLst/>
          </a:prstGeom>
          <a:noFill/>
          <a:ln w="28575">
            <a:solidFill>
              <a:srgbClr val="FFC000"/>
            </a:solidFill>
            <a:round/>
            <a:headEnd type="diamond" w="med" len="med"/>
            <a:tailEnd type="diamond"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756" name="Text Box 45"/>
          <p:cNvSpPr txBox="1">
            <a:spLocks noChangeArrowheads="1"/>
          </p:cNvSpPr>
          <p:nvPr/>
        </p:nvSpPr>
        <p:spPr bwMode="auto">
          <a:xfrm>
            <a:off x="4447478" y="2921000"/>
            <a:ext cx="15716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400" b="1" dirty="0">
                <a:solidFill>
                  <a:srgbClr val="FFC000"/>
                </a:solidFill>
              </a:rPr>
              <a:t>passenger</a:t>
            </a:r>
          </a:p>
        </p:txBody>
      </p:sp>
      <p:sp>
        <p:nvSpPr>
          <p:cNvPr id="31757" name="Line 46"/>
          <p:cNvSpPr>
            <a:spLocks noChangeShapeType="1"/>
          </p:cNvSpPr>
          <p:nvPr/>
        </p:nvSpPr>
        <p:spPr bwMode="auto">
          <a:xfrm>
            <a:off x="2760663" y="2943225"/>
            <a:ext cx="642937"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31758" name="Group 47"/>
          <p:cNvGrpSpPr>
            <a:grpSpLocks/>
          </p:cNvGrpSpPr>
          <p:nvPr/>
        </p:nvGrpSpPr>
        <p:grpSpPr bwMode="auto">
          <a:xfrm>
            <a:off x="3044825" y="2519363"/>
            <a:ext cx="1184275" cy="812800"/>
            <a:chOff x="463" y="1743"/>
            <a:chExt cx="1186" cy="813"/>
          </a:xfrm>
        </p:grpSpPr>
        <p:sp>
          <p:nvSpPr>
            <p:cNvPr id="31762" name="Freeform 48"/>
            <p:cNvSpPr>
              <a:spLocks/>
            </p:cNvSpPr>
            <p:nvPr/>
          </p:nvSpPr>
          <p:spPr bwMode="auto">
            <a:xfrm>
              <a:off x="1338" y="2248"/>
              <a:ext cx="137" cy="216"/>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63" name="Freeform 49"/>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64" name="AutoShape 50"/>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31765" name="AutoShape 51"/>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31766" name="Freeform 52"/>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lIns="0" tIns="0" rIns="0" bIns="0" anchor="ctr">
              <a:spAutoFit/>
            </a:bodyPr>
            <a:lstStyle/>
            <a:p>
              <a:endParaRPr lang="en-US"/>
            </a:p>
          </p:txBody>
        </p:sp>
        <p:sp>
          <p:nvSpPr>
            <p:cNvPr id="31767" name="Freeform 53"/>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768" name="Freeform 54"/>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769" name="Freeform 55"/>
            <p:cNvSpPr>
              <a:spLocks/>
            </p:cNvSpPr>
            <p:nvPr/>
          </p:nvSpPr>
          <p:spPr bwMode="auto">
            <a:xfrm>
              <a:off x="1142" y="1990"/>
              <a:ext cx="71" cy="99"/>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70" name="Freeform 56"/>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71" name="Freeform 57"/>
            <p:cNvSpPr>
              <a:spLocks/>
            </p:cNvSpPr>
            <p:nvPr/>
          </p:nvSpPr>
          <p:spPr bwMode="auto">
            <a:xfrm>
              <a:off x="1153" y="2018"/>
              <a:ext cx="51" cy="36"/>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72" name="Freeform 58"/>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1773" name="Freeform 59"/>
            <p:cNvSpPr>
              <a:spLocks/>
            </p:cNvSpPr>
            <p:nvPr/>
          </p:nvSpPr>
          <p:spPr bwMode="auto">
            <a:xfrm rot="1661969">
              <a:off x="1352" y="1764"/>
              <a:ext cx="205" cy="160"/>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31774" name="Line 60"/>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1775" name="Line 61"/>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1776" name="Oval 62"/>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31777" name="Freeform 63"/>
            <p:cNvSpPr>
              <a:spLocks/>
            </p:cNvSpPr>
            <p:nvPr/>
          </p:nvSpPr>
          <p:spPr bwMode="auto">
            <a:xfrm>
              <a:off x="611" y="2261"/>
              <a:ext cx="197" cy="198"/>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78" name="Freeform 64"/>
            <p:cNvSpPr>
              <a:spLocks/>
            </p:cNvSpPr>
            <p:nvPr/>
          </p:nvSpPr>
          <p:spPr bwMode="auto">
            <a:xfrm>
              <a:off x="653" y="2425"/>
              <a:ext cx="38" cy="24"/>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79" name="Oval 65"/>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31780" name="Freeform 66"/>
            <p:cNvSpPr>
              <a:spLocks/>
            </p:cNvSpPr>
            <p:nvPr/>
          </p:nvSpPr>
          <p:spPr bwMode="auto">
            <a:xfrm>
              <a:off x="1336" y="2201"/>
              <a:ext cx="156" cy="249"/>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81" name="Freeform 67"/>
            <p:cNvSpPr>
              <a:spLocks/>
            </p:cNvSpPr>
            <p:nvPr/>
          </p:nvSpPr>
          <p:spPr bwMode="auto">
            <a:xfrm>
              <a:off x="1360" y="2402"/>
              <a:ext cx="33" cy="30"/>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31759" name="Text Box 68"/>
          <p:cNvSpPr txBox="1">
            <a:spLocks noChangeArrowheads="1"/>
          </p:cNvSpPr>
          <p:nvPr/>
        </p:nvSpPr>
        <p:spPr bwMode="auto">
          <a:xfrm>
            <a:off x="2652713" y="3362325"/>
            <a:ext cx="1974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1800" b="1" dirty="0"/>
              <a:t>Incident</a:t>
            </a:r>
            <a:br>
              <a:rPr lang="en-US" sz="1800" b="1" dirty="0"/>
            </a:br>
            <a:r>
              <a:rPr lang="en-US" sz="1800" b="1" dirty="0" smtClean="0"/>
              <a:t>2003 BMW 355i</a:t>
            </a:r>
            <a:endParaRPr lang="en-US" sz="1800" b="1" dirty="0"/>
          </a:p>
        </p:txBody>
      </p:sp>
      <p:sp>
        <p:nvSpPr>
          <p:cNvPr id="31761" name="Text Box 70"/>
          <p:cNvSpPr txBox="1">
            <a:spLocks noChangeArrowheads="1"/>
          </p:cNvSpPr>
          <p:nvPr/>
        </p:nvSpPr>
        <p:spPr bwMode="auto">
          <a:xfrm>
            <a:off x="4574478" y="1745685"/>
            <a:ext cx="14446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2400" b="1" dirty="0">
                <a:solidFill>
                  <a:srgbClr val="00B050"/>
                </a:solidFill>
              </a:rPr>
              <a:t>witness</a:t>
            </a:r>
          </a:p>
        </p:txBody>
      </p:sp>
      <p:grpSp>
        <p:nvGrpSpPr>
          <p:cNvPr id="6" name="Group 5"/>
          <p:cNvGrpSpPr/>
          <p:nvPr/>
        </p:nvGrpSpPr>
        <p:grpSpPr>
          <a:xfrm>
            <a:off x="450937" y="4096011"/>
            <a:ext cx="8417490" cy="2179529"/>
            <a:chOff x="450937" y="4096011"/>
            <a:chExt cx="8417490" cy="2179529"/>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7042" y="4237398"/>
              <a:ext cx="6751930" cy="1833858"/>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pic>
        <p:sp>
          <p:nvSpPr>
            <p:cNvPr id="72" name="Line 7"/>
            <p:cNvSpPr>
              <a:spLocks noChangeShapeType="1"/>
            </p:cNvSpPr>
            <p:nvPr/>
          </p:nvSpPr>
          <p:spPr bwMode="auto">
            <a:xfrm flipV="1">
              <a:off x="3384497" y="5497240"/>
              <a:ext cx="668533" cy="0"/>
            </a:xfrm>
            <a:prstGeom prst="line">
              <a:avLst/>
            </a:prstGeom>
            <a:noFill/>
            <a:ln w="19050">
              <a:solidFill>
                <a:srgbClr val="00B050"/>
              </a:solidFill>
              <a:round/>
              <a:headEnd/>
              <a:tailEnd type="triangle"/>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 name="Rounded Rectangle 1"/>
            <p:cNvSpPr/>
            <p:nvPr/>
          </p:nvSpPr>
          <p:spPr bwMode="auto">
            <a:xfrm>
              <a:off x="4086962" y="5273457"/>
              <a:ext cx="4542010" cy="413359"/>
            </a:xfrm>
            <a:prstGeom prst="roundRect">
              <a:avLst/>
            </a:prstGeom>
            <a:noFill/>
            <a:ln w="19050" algn="ctr">
              <a:solidFill>
                <a:srgbClr val="00B050"/>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73" name="Line 7"/>
            <p:cNvSpPr>
              <a:spLocks noChangeShapeType="1"/>
            </p:cNvSpPr>
            <p:nvPr/>
          </p:nvSpPr>
          <p:spPr bwMode="auto">
            <a:xfrm flipV="1">
              <a:off x="3373993" y="5850057"/>
              <a:ext cx="668533" cy="0"/>
            </a:xfrm>
            <a:prstGeom prst="line">
              <a:avLst/>
            </a:prstGeom>
            <a:noFill/>
            <a:ln w="19050">
              <a:solidFill>
                <a:srgbClr val="FFC000"/>
              </a:solidFill>
              <a:round/>
              <a:headEnd/>
              <a:tailEnd type="triangle"/>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 name="Rounded Rectangle 2"/>
            <p:cNvSpPr/>
            <p:nvPr/>
          </p:nvSpPr>
          <p:spPr bwMode="auto">
            <a:xfrm>
              <a:off x="4098856" y="5699342"/>
              <a:ext cx="4505064" cy="384440"/>
            </a:xfrm>
            <a:prstGeom prst="roundRect">
              <a:avLst/>
            </a:prstGeom>
            <a:noFill/>
            <a:ln w="19050" algn="ctr">
              <a:solidFill>
                <a:srgbClr val="FFC000"/>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 name="TextBox 3"/>
            <p:cNvSpPr txBox="1"/>
            <p:nvPr/>
          </p:nvSpPr>
          <p:spPr>
            <a:xfrm>
              <a:off x="744385" y="5248405"/>
              <a:ext cx="2638543" cy="369332"/>
            </a:xfrm>
            <a:prstGeom prst="rect">
              <a:avLst/>
            </a:prstGeom>
            <a:noFill/>
          </p:spPr>
          <p:txBody>
            <a:bodyPr wrap="none" rtlCol="0">
              <a:spAutoFit/>
            </a:bodyPr>
            <a:lstStyle/>
            <a:p>
              <a:r>
                <a:rPr lang="en-US" sz="1800" dirty="0" smtClean="0">
                  <a:solidFill>
                    <a:srgbClr val="C00000"/>
                  </a:solidFill>
                  <a:latin typeface="Calibri" pitchFamily="34" charset="0"/>
                  <a:cs typeface="Calibri" pitchFamily="34" charset="0"/>
                </a:rPr>
                <a:t>Role holds for entire claim</a:t>
              </a:r>
            </a:p>
          </p:txBody>
        </p:sp>
        <p:sp>
          <p:nvSpPr>
            <p:cNvPr id="76" name="TextBox 75"/>
            <p:cNvSpPr txBox="1"/>
            <p:nvPr/>
          </p:nvSpPr>
          <p:spPr>
            <a:xfrm>
              <a:off x="561473" y="5612063"/>
              <a:ext cx="2869183" cy="369332"/>
            </a:xfrm>
            <a:prstGeom prst="rect">
              <a:avLst/>
            </a:prstGeom>
            <a:noFill/>
          </p:spPr>
          <p:txBody>
            <a:bodyPr wrap="none" rtlCol="0">
              <a:spAutoFit/>
            </a:bodyPr>
            <a:lstStyle/>
            <a:p>
              <a:r>
                <a:rPr lang="en-US" sz="1800" dirty="0" smtClean="0">
                  <a:solidFill>
                    <a:srgbClr val="C00000"/>
                  </a:solidFill>
                  <a:latin typeface="Calibri" pitchFamily="34" charset="0"/>
                  <a:cs typeface="Calibri" pitchFamily="34" charset="0"/>
                </a:rPr>
                <a:t>Role holds for BMW incident</a:t>
              </a:r>
            </a:p>
          </p:txBody>
        </p:sp>
        <p:sp>
          <p:nvSpPr>
            <p:cNvPr id="5" name="Rectangle 4"/>
            <p:cNvSpPr/>
            <p:nvPr/>
          </p:nvSpPr>
          <p:spPr bwMode="auto">
            <a:xfrm>
              <a:off x="450937" y="4096011"/>
              <a:ext cx="8417490" cy="2179529"/>
            </a:xfrm>
            <a:prstGeom prst="rect">
              <a:avLst/>
            </a:prstGeom>
            <a:no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grpSp>
    </p:spTree>
    <p:extLst>
      <p:ext uri="{BB962C8B-B14F-4D97-AF65-F5344CB8AC3E}">
        <p14:creationId xmlns:p14="http://schemas.microsoft.com/office/powerpoint/2010/main" val="1458773293"/>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|EOS~032|</a:t>
            </a:r>
            <a:endParaRPr lang="en-US" sz="100" dirty="0" err="1" smtClean="0">
              <a:solidFill>
                <a:srgbClr val="FFFFFF"/>
              </a:solidFill>
              <a:latin typeface="Arial"/>
              <a:cs typeface="Calibri" pitchFamily="34" charset="0"/>
            </a:endParaRPr>
          </a:p>
        </p:txBody>
      </p:sp>
      <p:sp>
        <p:nvSpPr>
          <p:cNvPr id="2" name="Title 1"/>
          <p:cNvSpPr>
            <a:spLocks noGrp="1"/>
          </p:cNvSpPr>
          <p:nvPr>
            <p:ph type="title"/>
          </p:nvPr>
        </p:nvSpPr>
        <p:spPr/>
        <p:txBody>
          <a:bodyPr/>
          <a:lstStyle/>
          <a:p>
            <a:r>
              <a:rPr lang="en-US" dirty="0" smtClean="0"/>
              <a:t>Adding shared (existing) contacts</a:t>
            </a:r>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983" y="766959"/>
            <a:ext cx="1924050" cy="369570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b="30710"/>
          <a:stretch/>
        </p:blipFill>
        <p:spPr bwMode="auto">
          <a:xfrm>
            <a:off x="966983" y="4705114"/>
            <a:ext cx="4352925" cy="129357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6" name="AutoShape 7"/>
          <p:cNvSpPr>
            <a:spLocks noChangeArrowheads="1"/>
          </p:cNvSpPr>
          <p:nvPr/>
        </p:nvSpPr>
        <p:spPr bwMode="auto">
          <a:xfrm>
            <a:off x="4022919" y="5239980"/>
            <a:ext cx="1296989" cy="223838"/>
          </a:xfrm>
          <a:prstGeom prst="roundRect">
            <a:avLst>
              <a:gd name="adj" fmla="val 16667"/>
            </a:avLst>
          </a:prstGeom>
          <a:noFill/>
          <a:ln w="190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1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73676" y="754433"/>
            <a:ext cx="3956753" cy="3622742"/>
          </a:xfrm>
          <a:prstGeom prst="rect">
            <a:avLst/>
          </a:prstGeom>
          <a:noFill/>
          <a:ln w="9525">
            <a:solidFill>
              <a:schemeClr val="bg1"/>
            </a:solidFill>
            <a:miter lim="800000"/>
            <a:headEnd/>
            <a:tailEnd/>
          </a:ln>
          <a:effectLst>
            <a:outerShdw blurRad="63500" sx="102000" sy="102000" algn="ctr"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22" name="AutoShape 11"/>
          <p:cNvSpPr>
            <a:spLocks noChangeArrowheads="1"/>
          </p:cNvSpPr>
          <p:nvPr/>
        </p:nvSpPr>
        <p:spPr bwMode="auto">
          <a:xfrm>
            <a:off x="4095074" y="2856846"/>
            <a:ext cx="601391" cy="276607"/>
          </a:xfrm>
          <a:prstGeom prst="roundRect">
            <a:avLst>
              <a:gd name="adj" fmla="val 16667"/>
            </a:avLst>
          </a:prstGeom>
          <a:noFill/>
          <a:ln w="190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1" name="Rounded Rectangle 20"/>
          <p:cNvSpPr/>
          <p:nvPr/>
        </p:nvSpPr>
        <p:spPr bwMode="auto">
          <a:xfrm>
            <a:off x="5473873" y="1509466"/>
            <a:ext cx="1665962" cy="475989"/>
          </a:xfrm>
          <a:prstGeom prst="roundRect">
            <a:avLst/>
          </a:prstGeom>
          <a:noFill/>
          <a:ln w="19050" algn="ctr">
            <a:solidFill>
              <a:srgbClr val="C00000"/>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3" name="TextBox 22"/>
          <p:cNvSpPr txBox="1"/>
          <p:nvPr/>
        </p:nvSpPr>
        <p:spPr>
          <a:xfrm>
            <a:off x="2903546" y="4212954"/>
            <a:ext cx="314510" cy="400110"/>
          </a:xfrm>
          <a:prstGeom prst="rect">
            <a:avLst/>
          </a:prstGeom>
          <a:noFill/>
        </p:spPr>
        <p:txBody>
          <a:bodyPr wrap="none" rtlCol="0">
            <a:spAutoFit/>
          </a:bodyPr>
          <a:lstStyle/>
          <a:p>
            <a:r>
              <a:rPr lang="en-US" sz="2000" dirty="0" smtClean="0">
                <a:solidFill>
                  <a:srgbClr val="C00000"/>
                </a:solidFill>
                <a:latin typeface="Calibri" pitchFamily="34" charset="0"/>
                <a:cs typeface="Calibri" pitchFamily="34" charset="0"/>
              </a:rPr>
              <a:t>1</a:t>
            </a:r>
          </a:p>
        </p:txBody>
      </p:sp>
      <p:sp>
        <p:nvSpPr>
          <p:cNvPr id="25" name="TextBox 24"/>
          <p:cNvSpPr txBox="1"/>
          <p:nvPr/>
        </p:nvSpPr>
        <p:spPr>
          <a:xfrm>
            <a:off x="7140695" y="1593571"/>
            <a:ext cx="314510" cy="400110"/>
          </a:xfrm>
          <a:prstGeom prst="rect">
            <a:avLst/>
          </a:prstGeom>
          <a:noFill/>
        </p:spPr>
        <p:txBody>
          <a:bodyPr wrap="none" rtlCol="0">
            <a:spAutoFit/>
          </a:bodyPr>
          <a:lstStyle/>
          <a:p>
            <a:r>
              <a:rPr lang="en-US" sz="2000" dirty="0" smtClean="0">
                <a:solidFill>
                  <a:srgbClr val="C00000"/>
                </a:solidFill>
                <a:latin typeface="Calibri" pitchFamily="34" charset="0"/>
                <a:cs typeface="Calibri" pitchFamily="34" charset="0"/>
              </a:rPr>
              <a:t>2</a:t>
            </a:r>
          </a:p>
        </p:txBody>
      </p:sp>
      <p:sp>
        <p:nvSpPr>
          <p:cNvPr id="26" name="TextBox 25"/>
          <p:cNvSpPr txBox="1"/>
          <p:nvPr/>
        </p:nvSpPr>
        <p:spPr>
          <a:xfrm>
            <a:off x="3755512" y="2795094"/>
            <a:ext cx="314510" cy="400110"/>
          </a:xfrm>
          <a:prstGeom prst="rect">
            <a:avLst/>
          </a:prstGeom>
          <a:noFill/>
        </p:spPr>
        <p:txBody>
          <a:bodyPr wrap="none" rtlCol="0">
            <a:spAutoFit/>
          </a:bodyPr>
          <a:lstStyle/>
          <a:p>
            <a:r>
              <a:rPr lang="en-US" sz="2000" dirty="0" smtClean="0">
                <a:solidFill>
                  <a:srgbClr val="C00000"/>
                </a:solidFill>
                <a:latin typeface="Calibri" pitchFamily="34" charset="0"/>
                <a:cs typeface="Calibri" pitchFamily="34" charset="0"/>
              </a:rPr>
              <a:t>3</a:t>
            </a:r>
          </a:p>
        </p:txBody>
      </p:sp>
      <p:sp>
        <p:nvSpPr>
          <p:cNvPr id="24" name="TextBox 23"/>
          <p:cNvSpPr txBox="1"/>
          <p:nvPr/>
        </p:nvSpPr>
        <p:spPr>
          <a:xfrm>
            <a:off x="5820555" y="1125250"/>
            <a:ext cx="2226956" cy="400110"/>
          </a:xfrm>
          <a:prstGeom prst="rect">
            <a:avLst/>
          </a:prstGeom>
          <a:noFill/>
        </p:spPr>
        <p:txBody>
          <a:bodyPr wrap="none" rtlCol="0">
            <a:spAutoFit/>
          </a:bodyPr>
          <a:lstStyle/>
          <a:p>
            <a:r>
              <a:rPr lang="en-US" sz="2000" dirty="0" smtClean="0">
                <a:solidFill>
                  <a:srgbClr val="C00000"/>
                </a:solidFill>
                <a:latin typeface="Calibri" pitchFamily="34" charset="0"/>
                <a:cs typeface="Calibri" pitchFamily="34" charset="0"/>
              </a:rPr>
              <a:t>Enter contact name</a:t>
            </a:r>
          </a:p>
        </p:txBody>
      </p:sp>
      <p:sp>
        <p:nvSpPr>
          <p:cNvPr id="15" name="Arc 14"/>
          <p:cNvSpPr/>
          <p:nvPr/>
        </p:nvSpPr>
        <p:spPr bwMode="auto">
          <a:xfrm>
            <a:off x="2335516" y="4126706"/>
            <a:ext cx="1615857" cy="1215024"/>
          </a:xfrm>
          <a:prstGeom prst="arc">
            <a:avLst/>
          </a:prstGeom>
          <a:noFill/>
          <a:ln w="19050" cap="flat" cmpd="sng" algn="ctr">
            <a:solidFill>
              <a:srgbClr val="C00000"/>
            </a:solidFill>
            <a:prstDash val="solid"/>
            <a:round/>
            <a:headEnd type="none" w="med" len="med"/>
            <a:tailEnd type="triangle" w="med" len="med"/>
          </a:ln>
          <a:effectLst/>
        </p:spPr>
        <p:txBody>
          <a:bodyPr rtlCol="0" anchor="ctr"/>
          <a:lstStyle/>
          <a:p>
            <a:pPr algn="ctr"/>
            <a:endParaRPr lang="en-US"/>
          </a:p>
        </p:txBody>
      </p:sp>
      <p:sp>
        <p:nvSpPr>
          <p:cNvPr id="3" name="Arc 2"/>
          <p:cNvSpPr/>
          <p:nvPr/>
        </p:nvSpPr>
        <p:spPr bwMode="auto">
          <a:xfrm flipH="1">
            <a:off x="2925704" y="573414"/>
            <a:ext cx="4045907" cy="4768316"/>
          </a:xfrm>
          <a:prstGeom prst="arc">
            <a:avLst>
              <a:gd name="adj1" fmla="val 5936332"/>
              <a:gd name="adj2" fmla="val 8314342"/>
            </a:avLst>
          </a:prstGeom>
          <a:noFill/>
          <a:ln w="19050" cap="flat" cmpd="sng" algn="ctr">
            <a:solidFill>
              <a:srgbClr val="C00000"/>
            </a:solidFill>
            <a:prstDash val="solid"/>
            <a:round/>
            <a:headEnd type="none" w="med" len="med"/>
            <a:tailEnd type="triangle" w="med" len="med"/>
          </a:ln>
          <a:effectLst/>
        </p:spPr>
        <p:txBody>
          <a:bodyPr rtlCol="0" anchor="ctr"/>
          <a:lstStyle/>
          <a:p>
            <a:pPr algn="ctr"/>
            <a:endParaRPr lang="en-US"/>
          </a:p>
        </p:txBody>
      </p:sp>
    </p:spTree>
    <p:extLst>
      <p:ext uri="{BB962C8B-B14F-4D97-AF65-F5344CB8AC3E}">
        <p14:creationId xmlns:p14="http://schemas.microsoft.com/office/powerpoint/2010/main" val="2631442451"/>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|EOS~033|</a:t>
            </a:r>
            <a:endParaRPr lang="en-US" sz="100" dirty="0" err="1" smtClean="0">
              <a:solidFill>
                <a:srgbClr val="FFFFFF"/>
              </a:solidFill>
              <a:latin typeface="Arial"/>
              <a:cs typeface="Calibri" pitchFamily="34" charset="0"/>
            </a:endParaRPr>
          </a:p>
        </p:txBody>
      </p:sp>
      <p:pic>
        <p:nvPicPr>
          <p:cNvPr id="307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5136" y="4697181"/>
            <a:ext cx="4015854" cy="153236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Lst>
        </p:spPr>
      </p:pic>
      <p:pic>
        <p:nvPicPr>
          <p:cNvPr id="1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7635" y="1301770"/>
            <a:ext cx="3956753" cy="3622742"/>
          </a:xfrm>
          <a:prstGeom prst="rect">
            <a:avLst/>
          </a:prstGeom>
          <a:noFill/>
          <a:ln w="12700">
            <a:solidFill>
              <a:schemeClr val="bg1"/>
            </a:solidFill>
            <a:round/>
            <a:headEnd/>
            <a:tailEnd/>
          </a:ln>
          <a:effectLst/>
          <a:extLst>
            <a:ext uri="{909E8E84-426E-40DD-AFC4-6F175D3DCCD1}">
              <a14:hiddenFill xmlns:a14="http://schemas.microsoft.com/office/drawing/2010/main">
                <a:solidFill>
                  <a:schemeClr val="accent1"/>
                </a:solidFill>
              </a14:hiddenFill>
            </a:ext>
          </a:extLst>
        </p:spPr>
      </p:pic>
      <p:pic>
        <p:nvPicPr>
          <p:cNvPr id="3077" name="Picture 5"/>
          <p:cNvPicPr>
            <a:picLocks noChangeAspect="1" noChangeArrowheads="1"/>
          </p:cNvPicPr>
          <p:nvPr/>
        </p:nvPicPr>
        <p:blipFill rotWithShape="1">
          <a:blip r:embed="rId5">
            <a:extLst>
              <a:ext uri="{28A0092B-C50C-407E-A947-70E740481C1C}">
                <a14:useLocalDpi xmlns:a14="http://schemas.microsoft.com/office/drawing/2010/main" val="0"/>
              </a:ext>
            </a:extLst>
          </a:blip>
          <a:srcRect r="7166"/>
          <a:stretch/>
        </p:blipFill>
        <p:spPr bwMode="auto">
          <a:xfrm>
            <a:off x="3354652" y="1875478"/>
            <a:ext cx="4021828" cy="2626934"/>
          </a:xfrm>
          <a:prstGeom prst="rect">
            <a:avLst/>
          </a:prstGeom>
          <a:noFill/>
          <a:ln w="9525">
            <a:solidFill>
              <a:schemeClr val="bg1"/>
            </a:solidFill>
            <a:miter lim="800000"/>
            <a:headEnd/>
            <a:tailEnd/>
          </a:ln>
          <a:effectLst>
            <a:outerShdw blurRad="63500" sx="102000" sy="102000" algn="ctr"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32774" name="Rectangle 2"/>
          <p:cNvSpPr>
            <a:spLocks noGrp="1" noChangeArrowheads="1"/>
          </p:cNvSpPr>
          <p:nvPr>
            <p:ph type="title"/>
          </p:nvPr>
        </p:nvSpPr>
        <p:spPr/>
        <p:txBody>
          <a:bodyPr/>
          <a:lstStyle/>
          <a:p>
            <a:pPr eaLnBrk="1" hangingPunct="1"/>
            <a:r>
              <a:rPr lang="en-US" dirty="0" smtClean="0"/>
              <a:t>Adding shared (existing) contacts</a:t>
            </a:r>
          </a:p>
        </p:txBody>
      </p:sp>
      <p:sp>
        <p:nvSpPr>
          <p:cNvPr id="32777" name="AutoShape 9"/>
          <p:cNvSpPr>
            <a:spLocks noChangeArrowheads="1"/>
          </p:cNvSpPr>
          <p:nvPr/>
        </p:nvSpPr>
        <p:spPr bwMode="auto">
          <a:xfrm>
            <a:off x="3360626" y="2491563"/>
            <a:ext cx="632427" cy="238363"/>
          </a:xfrm>
          <a:prstGeom prst="roundRect">
            <a:avLst>
              <a:gd name="adj" fmla="val 16667"/>
            </a:avLst>
          </a:prstGeom>
          <a:noFill/>
          <a:ln w="190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solidFill>
                <a:srgbClr val="C00000"/>
              </a:solidFill>
            </a:endParaRPr>
          </a:p>
        </p:txBody>
      </p:sp>
      <p:sp>
        <p:nvSpPr>
          <p:cNvPr id="32779" name="AutoShape 11"/>
          <p:cNvSpPr>
            <a:spLocks noChangeArrowheads="1"/>
          </p:cNvSpPr>
          <p:nvPr/>
        </p:nvSpPr>
        <p:spPr bwMode="auto">
          <a:xfrm>
            <a:off x="557592" y="4598836"/>
            <a:ext cx="496075" cy="265112"/>
          </a:xfrm>
          <a:prstGeom prst="roundRect">
            <a:avLst>
              <a:gd name="adj" fmla="val 16667"/>
            </a:avLst>
          </a:prstGeom>
          <a:noFill/>
          <a:ln w="190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9" name="AutoShape 11"/>
          <p:cNvSpPr>
            <a:spLocks noChangeArrowheads="1"/>
          </p:cNvSpPr>
          <p:nvPr/>
        </p:nvSpPr>
        <p:spPr bwMode="auto">
          <a:xfrm>
            <a:off x="4715136" y="5977808"/>
            <a:ext cx="3358675" cy="238363"/>
          </a:xfrm>
          <a:prstGeom prst="roundRect">
            <a:avLst>
              <a:gd name="adj" fmla="val 16667"/>
            </a:avLst>
          </a:prstGeom>
          <a:noFill/>
          <a:ln w="190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solidFill>
                <a:srgbClr val="C00000"/>
              </a:solidFill>
            </a:endParaRPr>
          </a:p>
        </p:txBody>
      </p:sp>
      <p:sp>
        <p:nvSpPr>
          <p:cNvPr id="2" name="Rounded Rectangle 1"/>
          <p:cNvSpPr/>
          <p:nvPr/>
        </p:nvSpPr>
        <p:spPr bwMode="auto">
          <a:xfrm>
            <a:off x="4715136" y="3113046"/>
            <a:ext cx="526093" cy="281835"/>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3" name="TextBox 2"/>
          <p:cNvSpPr txBox="1"/>
          <p:nvPr/>
        </p:nvSpPr>
        <p:spPr>
          <a:xfrm>
            <a:off x="3657856" y="3321039"/>
            <a:ext cx="1024033" cy="707886"/>
          </a:xfrm>
          <a:prstGeom prst="rect">
            <a:avLst/>
          </a:prstGeom>
          <a:noFill/>
          <a:ln>
            <a:noFill/>
          </a:ln>
        </p:spPr>
        <p:txBody>
          <a:bodyPr wrap="square" rtlCol="0">
            <a:spAutoFit/>
          </a:bodyPr>
          <a:lstStyle/>
          <a:p>
            <a:pPr algn="r"/>
            <a:r>
              <a:rPr lang="en-US" sz="2000" dirty="0" smtClean="0">
                <a:solidFill>
                  <a:srgbClr val="C00000"/>
                </a:solidFill>
                <a:latin typeface="Calibri" pitchFamily="34" charset="0"/>
                <a:cs typeface="Calibri" pitchFamily="34" charset="0"/>
              </a:rPr>
              <a:t>Select role</a:t>
            </a:r>
          </a:p>
        </p:txBody>
      </p:sp>
      <p:sp>
        <p:nvSpPr>
          <p:cNvPr id="4" name="TextBox 3"/>
          <p:cNvSpPr txBox="1"/>
          <p:nvPr/>
        </p:nvSpPr>
        <p:spPr>
          <a:xfrm>
            <a:off x="548971" y="4964185"/>
            <a:ext cx="314510" cy="400110"/>
          </a:xfrm>
          <a:prstGeom prst="rect">
            <a:avLst/>
          </a:prstGeom>
          <a:noFill/>
        </p:spPr>
        <p:txBody>
          <a:bodyPr wrap="none" rtlCol="0">
            <a:spAutoFit/>
          </a:bodyPr>
          <a:lstStyle/>
          <a:p>
            <a:r>
              <a:rPr lang="en-US" sz="2000" dirty="0" smtClean="0">
                <a:solidFill>
                  <a:srgbClr val="C00000"/>
                </a:solidFill>
                <a:latin typeface="Calibri" pitchFamily="34" charset="0"/>
                <a:cs typeface="Calibri" pitchFamily="34" charset="0"/>
              </a:rPr>
              <a:t>4</a:t>
            </a:r>
          </a:p>
        </p:txBody>
      </p:sp>
      <p:sp>
        <p:nvSpPr>
          <p:cNvPr id="20" name="TextBox 19"/>
          <p:cNvSpPr txBox="1"/>
          <p:nvPr/>
        </p:nvSpPr>
        <p:spPr>
          <a:xfrm>
            <a:off x="4370733" y="3100520"/>
            <a:ext cx="301686" cy="369332"/>
          </a:xfrm>
          <a:prstGeom prst="rect">
            <a:avLst/>
          </a:prstGeom>
          <a:noFill/>
          <a:ln>
            <a:noFill/>
          </a:ln>
        </p:spPr>
        <p:txBody>
          <a:bodyPr wrap="none" rtlCol="0">
            <a:spAutoFit/>
          </a:bodyPr>
          <a:lstStyle/>
          <a:p>
            <a:r>
              <a:rPr lang="en-US" sz="1800" dirty="0" smtClean="0">
                <a:solidFill>
                  <a:srgbClr val="C00000"/>
                </a:solidFill>
                <a:latin typeface="Calibri" pitchFamily="34" charset="0"/>
                <a:cs typeface="Calibri" pitchFamily="34" charset="0"/>
              </a:rPr>
              <a:t>5</a:t>
            </a:r>
          </a:p>
        </p:txBody>
      </p:sp>
      <p:sp>
        <p:nvSpPr>
          <p:cNvPr id="10" name="Freeform 9"/>
          <p:cNvSpPr/>
          <p:nvPr/>
        </p:nvSpPr>
        <p:spPr bwMode="auto">
          <a:xfrm>
            <a:off x="815605" y="3006247"/>
            <a:ext cx="2516318" cy="1595133"/>
          </a:xfrm>
          <a:custGeom>
            <a:avLst/>
            <a:gdLst>
              <a:gd name="connsiteX0" fmla="*/ 73743 w 2516318"/>
              <a:gd name="connsiteY0" fmla="*/ 1540701 h 1595133"/>
              <a:gd name="connsiteX1" fmla="*/ 123847 w 2516318"/>
              <a:gd name="connsiteY1" fmla="*/ 1478071 h 1595133"/>
              <a:gd name="connsiteX2" fmla="*/ 1226137 w 2516318"/>
              <a:gd name="connsiteY2" fmla="*/ 501041 h 1595133"/>
              <a:gd name="connsiteX3" fmla="*/ 2516318 w 2516318"/>
              <a:gd name="connsiteY3" fmla="*/ 0 h 1595133"/>
            </a:gdLst>
            <a:ahLst/>
            <a:cxnLst>
              <a:cxn ang="0">
                <a:pos x="connsiteX0" y="connsiteY0"/>
              </a:cxn>
              <a:cxn ang="0">
                <a:pos x="connsiteX1" y="connsiteY1"/>
              </a:cxn>
              <a:cxn ang="0">
                <a:pos x="connsiteX2" y="connsiteY2"/>
              </a:cxn>
              <a:cxn ang="0">
                <a:pos x="connsiteX3" y="connsiteY3"/>
              </a:cxn>
            </a:cxnLst>
            <a:rect l="l" t="t" r="r" b="b"/>
            <a:pathLst>
              <a:path w="2516318" h="1595133">
                <a:moveTo>
                  <a:pt x="73743" y="1540701"/>
                </a:moveTo>
                <a:cubicBezTo>
                  <a:pt x="2762" y="1596024"/>
                  <a:pt x="-68219" y="1651348"/>
                  <a:pt x="123847" y="1478071"/>
                </a:cubicBezTo>
                <a:cubicBezTo>
                  <a:pt x="315913" y="1304794"/>
                  <a:pt x="827392" y="747386"/>
                  <a:pt x="1226137" y="501041"/>
                </a:cubicBezTo>
                <a:cubicBezTo>
                  <a:pt x="1624882" y="254696"/>
                  <a:pt x="2070600" y="127348"/>
                  <a:pt x="2516318" y="0"/>
                </a:cubicBezTo>
              </a:path>
            </a:pathLst>
          </a:custGeom>
          <a:noFill/>
          <a:ln w="19050" algn="ctr">
            <a:solidFill>
              <a:srgbClr val="D33941"/>
            </a:solidFill>
            <a:round/>
            <a:headEnd/>
            <a:tailEnd/>
          </a:ln>
        </p:spPr>
        <p:txBody>
          <a:bodyPr rtlCol="0" anchor="ctr"/>
          <a:lstStyle/>
          <a:p>
            <a:pPr algn="ctr"/>
            <a:endParaRPr lang="en-US"/>
          </a:p>
        </p:txBody>
      </p:sp>
      <p:cxnSp>
        <p:nvCxnSpPr>
          <p:cNvPr id="15" name="Straight Arrow Connector 14"/>
          <p:cNvCxnSpPr/>
          <p:nvPr/>
        </p:nvCxnSpPr>
        <p:spPr bwMode="auto">
          <a:xfrm flipV="1">
            <a:off x="3031299" y="2993721"/>
            <a:ext cx="329327" cy="106799"/>
          </a:xfrm>
          <a:prstGeom prst="straightConnector1">
            <a:avLst/>
          </a:prstGeom>
          <a:noFill/>
          <a:ln w="19050" cap="flat" cmpd="sng" algn="ctr">
            <a:solidFill>
              <a:srgbClr val="C00000"/>
            </a:solidFill>
            <a:prstDash val="solid"/>
            <a:round/>
            <a:headEnd type="none" w="med" len="med"/>
            <a:tailEnd type="arrow"/>
          </a:ln>
          <a:effectLst/>
        </p:spPr>
      </p:cxnSp>
      <p:sp>
        <p:nvSpPr>
          <p:cNvPr id="17" name="Arc 16"/>
          <p:cNvSpPr/>
          <p:nvPr/>
        </p:nvSpPr>
        <p:spPr bwMode="auto">
          <a:xfrm>
            <a:off x="5553267" y="4502412"/>
            <a:ext cx="339553" cy="642706"/>
          </a:xfrm>
          <a:prstGeom prst="arc">
            <a:avLst/>
          </a:prstGeom>
          <a:noFill/>
          <a:ln w="19050" cap="flat" cmpd="sng" algn="ctr">
            <a:solidFill>
              <a:srgbClr val="C00000"/>
            </a:solidFill>
            <a:prstDash val="solid"/>
            <a:round/>
            <a:headEnd type="none" w="med" len="med"/>
            <a:tailEnd type="triangle" w="med" len="med"/>
          </a:ln>
          <a:effectLst/>
        </p:spPr>
        <p:txBody>
          <a:bodyPr rtlCol="0" anchor="ctr"/>
          <a:lstStyle/>
          <a:p>
            <a:pPr algn="ctr"/>
            <a:endParaRPr lang="en-US"/>
          </a:p>
        </p:txBody>
      </p:sp>
      <p:sp>
        <p:nvSpPr>
          <p:cNvPr id="18" name="TextBox 17"/>
          <p:cNvSpPr txBox="1"/>
          <p:nvPr/>
        </p:nvSpPr>
        <p:spPr>
          <a:xfrm>
            <a:off x="548971" y="5895868"/>
            <a:ext cx="4058612" cy="307777"/>
          </a:xfrm>
          <a:prstGeom prst="rect">
            <a:avLst/>
          </a:prstGeom>
          <a:noFill/>
        </p:spPr>
        <p:txBody>
          <a:bodyPr wrap="none" rtlCol="0">
            <a:spAutoFit/>
          </a:bodyPr>
          <a:lstStyle/>
          <a:p>
            <a:r>
              <a:rPr lang="en-US" dirty="0" smtClean="0">
                <a:solidFill>
                  <a:srgbClr val="C00000"/>
                </a:solidFill>
                <a:latin typeface="Calibri" pitchFamily="34" charset="0"/>
                <a:cs typeface="Calibri" pitchFamily="34" charset="0"/>
              </a:rPr>
              <a:t>After Update, the contact appears in the Contacts list</a:t>
            </a:r>
          </a:p>
        </p:txBody>
      </p:sp>
      <p:sp>
        <p:nvSpPr>
          <p:cNvPr id="22" name="Rounded Rectangle 21"/>
          <p:cNvSpPr/>
          <p:nvPr/>
        </p:nvSpPr>
        <p:spPr bwMode="auto">
          <a:xfrm>
            <a:off x="4727662" y="3671079"/>
            <a:ext cx="2661344" cy="299672"/>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4112133447"/>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|EOS~034|</a:t>
            </a:r>
            <a:endParaRPr lang="en-US" sz="100" dirty="0" err="1" smtClean="0">
              <a:solidFill>
                <a:srgbClr val="FFFFFF"/>
              </a:solidFill>
              <a:latin typeface="Arial"/>
              <a:cs typeface="Calibri" pitchFamily="34" charset="0"/>
            </a:endParaRPr>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083" y="586277"/>
            <a:ext cx="7822733" cy="4315489"/>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3795" name="Rectangle 4"/>
          <p:cNvSpPr>
            <a:spLocks noGrp="1" noChangeArrowheads="1"/>
          </p:cNvSpPr>
          <p:nvPr>
            <p:ph type="title"/>
          </p:nvPr>
        </p:nvSpPr>
        <p:spPr/>
        <p:txBody>
          <a:bodyPr/>
          <a:lstStyle/>
          <a:p>
            <a:pPr eaLnBrk="1" hangingPunct="1"/>
            <a:r>
              <a:rPr lang="en-US" smtClean="0"/>
              <a:t>Transferring roles on a claim</a:t>
            </a:r>
          </a:p>
        </p:txBody>
      </p:sp>
      <p:sp>
        <p:nvSpPr>
          <p:cNvPr id="33796" name="AutoShape 6"/>
          <p:cNvSpPr>
            <a:spLocks noChangeArrowheads="1"/>
          </p:cNvSpPr>
          <p:nvPr/>
        </p:nvSpPr>
        <p:spPr bwMode="auto">
          <a:xfrm>
            <a:off x="1552354" y="3451808"/>
            <a:ext cx="2509284" cy="309562"/>
          </a:xfrm>
          <a:prstGeom prst="roundRect">
            <a:avLst>
              <a:gd name="adj" fmla="val 16667"/>
            </a:avLst>
          </a:prstGeom>
          <a:noFill/>
          <a:ln w="190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33797" name="Content Placeholder 16"/>
          <p:cNvSpPr>
            <a:spLocks noGrp="1"/>
          </p:cNvSpPr>
          <p:nvPr>
            <p:ph idx="1"/>
          </p:nvPr>
        </p:nvSpPr>
        <p:spPr>
          <a:xfrm>
            <a:off x="414090" y="5000702"/>
            <a:ext cx="7763726" cy="1313759"/>
          </a:xfrm>
          <a:solidFill>
            <a:schemeClr val="tx1"/>
          </a:solidFill>
        </p:spPr>
        <p:txBody>
          <a:bodyPr/>
          <a:lstStyle/>
          <a:p>
            <a:r>
              <a:rPr lang="en-US" sz="2000" dirty="0" smtClean="0"/>
              <a:t>Transfer roles from other contacts… button initiates process to move roles from multiple contacts into one (surviving) contact</a:t>
            </a:r>
          </a:p>
          <a:p>
            <a:pPr lvl="1"/>
            <a:r>
              <a:rPr lang="en-US" sz="2000" dirty="0" smtClean="0"/>
              <a:t>Contacts whose roles are transferred (chosen on next screen) will be removed</a:t>
            </a:r>
          </a:p>
          <a:p>
            <a:endParaRPr lang="en-US" sz="2000" dirty="0" smtClean="0"/>
          </a:p>
          <a:p>
            <a:pPr lvl="1"/>
            <a:endParaRPr lang="en-US" sz="2000" dirty="0" smtClean="0"/>
          </a:p>
        </p:txBody>
      </p:sp>
    </p:spTree>
    <p:extLst>
      <p:ext uri="{BB962C8B-B14F-4D97-AF65-F5344CB8AC3E}">
        <p14:creationId xmlns:p14="http://schemas.microsoft.com/office/powerpoint/2010/main" val="1534638788"/>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|EOS~035|</a:t>
            </a:r>
            <a:endParaRPr lang="en-US" sz="100" dirty="0" err="1" smtClean="0">
              <a:solidFill>
                <a:srgbClr val="FFFFFF"/>
              </a:solidFill>
              <a:latin typeface="Arial"/>
              <a:cs typeface="Calibri" pitchFamily="34" charset="0"/>
            </a:endParaRPr>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055" y="496728"/>
            <a:ext cx="6007949" cy="3635694"/>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512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97200" y="2802631"/>
            <a:ext cx="5998387" cy="3649863"/>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4820" name="Title 1"/>
          <p:cNvSpPr>
            <a:spLocks noGrp="1"/>
          </p:cNvSpPr>
          <p:nvPr>
            <p:ph type="title"/>
          </p:nvPr>
        </p:nvSpPr>
        <p:spPr/>
        <p:txBody>
          <a:bodyPr/>
          <a:lstStyle/>
          <a:p>
            <a:r>
              <a:rPr lang="en-US" smtClean="0"/>
              <a:t>Transferring roles screen</a:t>
            </a:r>
          </a:p>
        </p:txBody>
      </p:sp>
      <p:sp>
        <p:nvSpPr>
          <p:cNvPr id="34821" name="Content Placeholder 2"/>
          <p:cNvSpPr>
            <a:spLocks noGrp="1"/>
          </p:cNvSpPr>
          <p:nvPr>
            <p:ph idx="1"/>
          </p:nvPr>
        </p:nvSpPr>
        <p:spPr>
          <a:xfrm>
            <a:off x="6411433" y="444590"/>
            <a:ext cx="2582050" cy="2305903"/>
          </a:xfrm>
        </p:spPr>
        <p:txBody>
          <a:bodyPr/>
          <a:lstStyle/>
          <a:p>
            <a:r>
              <a:rPr lang="en-US" sz="2000" dirty="0" smtClean="0"/>
              <a:t>Select contacts to merge into survivor </a:t>
            </a:r>
          </a:p>
          <a:p>
            <a:r>
              <a:rPr lang="en-US" sz="2000" dirty="0" smtClean="0"/>
              <a:t>Selected contacts moved to “to be removed” list view</a:t>
            </a:r>
          </a:p>
          <a:p>
            <a:pPr lvl="1"/>
            <a:r>
              <a:rPr lang="en-US" sz="2000" dirty="0" smtClean="0"/>
              <a:t>List of roles for survivor updated</a:t>
            </a:r>
          </a:p>
          <a:p>
            <a:pPr lvl="1"/>
            <a:endParaRPr lang="en-US" sz="2000" dirty="0" smtClean="0"/>
          </a:p>
          <a:p>
            <a:endParaRPr lang="en-US" sz="2000" dirty="0" smtClean="0"/>
          </a:p>
          <a:p>
            <a:endParaRPr lang="en-US" sz="2000" dirty="0" smtClean="0"/>
          </a:p>
        </p:txBody>
      </p:sp>
      <p:sp>
        <p:nvSpPr>
          <p:cNvPr id="34822" name="AutoShape 6"/>
          <p:cNvSpPr>
            <a:spLocks noChangeArrowheads="1"/>
          </p:cNvSpPr>
          <p:nvPr/>
        </p:nvSpPr>
        <p:spPr bwMode="auto">
          <a:xfrm>
            <a:off x="329055" y="3975334"/>
            <a:ext cx="2531103" cy="146216"/>
          </a:xfrm>
          <a:prstGeom prst="roundRect">
            <a:avLst>
              <a:gd name="adj" fmla="val 16667"/>
            </a:avLst>
          </a:prstGeom>
          <a:noFill/>
          <a:ln w="190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34825" name="AutoShape 6"/>
          <p:cNvSpPr>
            <a:spLocks noChangeArrowheads="1"/>
          </p:cNvSpPr>
          <p:nvPr/>
        </p:nvSpPr>
        <p:spPr bwMode="auto">
          <a:xfrm>
            <a:off x="421058" y="1597542"/>
            <a:ext cx="557138" cy="285750"/>
          </a:xfrm>
          <a:prstGeom prst="roundRect">
            <a:avLst>
              <a:gd name="adj" fmla="val 16667"/>
            </a:avLst>
          </a:prstGeom>
          <a:noFill/>
          <a:ln w="190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cxnSp>
        <p:nvCxnSpPr>
          <p:cNvPr id="34826" name="Straight Arrow Connector 14"/>
          <p:cNvCxnSpPr>
            <a:cxnSpLocks noChangeShapeType="1"/>
            <a:endCxn id="20" idx="1"/>
          </p:cNvCxnSpPr>
          <p:nvPr/>
        </p:nvCxnSpPr>
        <p:spPr bwMode="auto">
          <a:xfrm>
            <a:off x="1429801" y="4154722"/>
            <a:ext cx="1582757" cy="2224664"/>
          </a:xfrm>
          <a:prstGeom prst="straightConnector1">
            <a:avLst/>
          </a:prstGeom>
          <a:noFill/>
          <a:ln w="19050" algn="ctr">
            <a:solidFill>
              <a:srgbClr val="C00000"/>
            </a:solidFill>
            <a:round/>
            <a:headEnd/>
            <a:tailEnd type="triangle" w="med" len="med"/>
          </a:ln>
          <a:extLst>
            <a:ext uri="{909E8E84-426E-40DD-AFC4-6F175D3DCCD1}">
              <a14:hiddenFill xmlns:a14="http://schemas.microsoft.com/office/drawing/2010/main">
                <a:noFill/>
              </a14:hiddenFill>
            </a:ext>
          </a:extLst>
        </p:spPr>
      </p:cxnSp>
      <p:sp>
        <p:nvSpPr>
          <p:cNvPr id="20" name="AutoShape 6"/>
          <p:cNvSpPr>
            <a:spLocks noChangeArrowheads="1"/>
          </p:cNvSpPr>
          <p:nvPr/>
        </p:nvSpPr>
        <p:spPr bwMode="auto">
          <a:xfrm>
            <a:off x="3012558" y="6306278"/>
            <a:ext cx="3398875" cy="146216"/>
          </a:xfrm>
          <a:prstGeom prst="roundRect">
            <a:avLst>
              <a:gd name="adj" fmla="val 16667"/>
            </a:avLst>
          </a:prstGeom>
          <a:noFill/>
          <a:ln w="190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Tree>
    <p:extLst>
      <p:ext uri="{BB962C8B-B14F-4D97-AF65-F5344CB8AC3E}">
        <p14:creationId xmlns:p14="http://schemas.microsoft.com/office/powerpoint/2010/main" val="961583901"/>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|EOS~036|</a:t>
            </a:r>
            <a:endParaRPr lang="en-US" sz="100" dirty="0" err="1" smtClean="0">
              <a:solidFill>
                <a:srgbClr val="FFFFFF"/>
              </a:solidFill>
              <a:latin typeface="Arial"/>
              <a:cs typeface="Calibri" pitchFamily="34" charset="0"/>
            </a:endParaRPr>
          </a:p>
        </p:txBody>
      </p:sp>
      <p:pic>
        <p:nvPicPr>
          <p:cNvPr id="61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0619" y="2416913"/>
            <a:ext cx="7331148" cy="2326230"/>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693" y="755592"/>
            <a:ext cx="5610114" cy="725546"/>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5844" name="Title 1"/>
          <p:cNvSpPr>
            <a:spLocks noGrp="1"/>
          </p:cNvSpPr>
          <p:nvPr>
            <p:ph type="title"/>
          </p:nvPr>
        </p:nvSpPr>
        <p:spPr/>
        <p:txBody>
          <a:bodyPr/>
          <a:lstStyle/>
          <a:p>
            <a:r>
              <a:rPr lang="en-US" smtClean="0"/>
              <a:t>Transfer the roles</a:t>
            </a:r>
          </a:p>
        </p:txBody>
      </p:sp>
      <p:sp>
        <p:nvSpPr>
          <p:cNvPr id="35845" name="Content Placeholder 2"/>
          <p:cNvSpPr>
            <a:spLocks noGrp="1"/>
          </p:cNvSpPr>
          <p:nvPr>
            <p:ph idx="1"/>
          </p:nvPr>
        </p:nvSpPr>
        <p:spPr>
          <a:xfrm>
            <a:off x="467323" y="4953739"/>
            <a:ext cx="8318500" cy="1622425"/>
          </a:xfrm>
        </p:spPr>
        <p:txBody>
          <a:bodyPr/>
          <a:lstStyle/>
          <a:p>
            <a:r>
              <a:rPr lang="en-US" dirty="0" smtClean="0"/>
              <a:t>Click Transfer Roles to perform transfer</a:t>
            </a:r>
          </a:p>
          <a:p>
            <a:pPr lvl="1"/>
            <a:r>
              <a:rPr lang="en-US" dirty="0" err="1" smtClean="0"/>
              <a:t>ClaimCenter</a:t>
            </a:r>
            <a:r>
              <a:rPr lang="en-US" dirty="0" smtClean="0"/>
              <a:t> displays final message detailing roles survivor will have, and contacts to be removed from claim</a:t>
            </a:r>
          </a:p>
          <a:p>
            <a:pPr lvl="1"/>
            <a:r>
              <a:rPr lang="en-US" dirty="0" smtClean="0"/>
              <a:t>Can only transfer if survivor allowed to have all selected roles</a:t>
            </a:r>
          </a:p>
          <a:p>
            <a:endParaRPr lang="en-US" dirty="0" smtClean="0"/>
          </a:p>
          <a:p>
            <a:endParaRPr lang="en-US" dirty="0" smtClean="0"/>
          </a:p>
          <a:p>
            <a:endParaRPr lang="en-US" dirty="0" smtClean="0"/>
          </a:p>
        </p:txBody>
      </p:sp>
      <p:sp>
        <p:nvSpPr>
          <p:cNvPr id="35846" name="AutoShape 6"/>
          <p:cNvSpPr>
            <a:spLocks noChangeArrowheads="1"/>
          </p:cNvSpPr>
          <p:nvPr/>
        </p:nvSpPr>
        <p:spPr bwMode="auto">
          <a:xfrm>
            <a:off x="2783183" y="3793331"/>
            <a:ext cx="3022194" cy="347663"/>
          </a:xfrm>
          <a:prstGeom prst="roundRect">
            <a:avLst>
              <a:gd name="adj" fmla="val 16667"/>
            </a:avLst>
          </a:prstGeom>
          <a:noFill/>
          <a:ln w="190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pic>
        <p:nvPicPr>
          <p:cNvPr id="614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3183" y="1257854"/>
            <a:ext cx="5695950" cy="1314450"/>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5848" name="Line 10"/>
          <p:cNvSpPr>
            <a:spLocks noChangeShapeType="1"/>
          </p:cNvSpPr>
          <p:nvPr/>
        </p:nvSpPr>
        <p:spPr bwMode="auto">
          <a:xfrm>
            <a:off x="1124254" y="1295433"/>
            <a:ext cx="1493685" cy="0"/>
          </a:xfrm>
          <a:prstGeom prst="line">
            <a:avLst/>
          </a:prstGeom>
          <a:noFill/>
          <a:ln w="19050">
            <a:solidFill>
              <a:srgbClr val="C0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2" name="Line 10"/>
          <p:cNvSpPr>
            <a:spLocks noChangeShapeType="1"/>
          </p:cNvSpPr>
          <p:nvPr/>
        </p:nvSpPr>
        <p:spPr bwMode="auto">
          <a:xfrm>
            <a:off x="5280430" y="2479543"/>
            <a:ext cx="0" cy="383838"/>
          </a:xfrm>
          <a:prstGeom prst="line">
            <a:avLst/>
          </a:prstGeom>
          <a:noFill/>
          <a:ln w="19050">
            <a:solidFill>
              <a:srgbClr val="C0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 name="Rounded Rectangle 1"/>
          <p:cNvSpPr/>
          <p:nvPr/>
        </p:nvSpPr>
        <p:spPr bwMode="auto">
          <a:xfrm>
            <a:off x="274693" y="1064712"/>
            <a:ext cx="863668" cy="230720"/>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4044030856"/>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|EOS~037|</a:t>
            </a:r>
            <a:endParaRPr lang="en-US" sz="100" dirty="0" err="1" smtClean="0">
              <a:solidFill>
                <a:srgbClr val="FFFFFF"/>
              </a:solidFill>
              <a:latin typeface="Arial"/>
              <a:cs typeface="Calibri" pitchFamily="34" charset="0"/>
            </a:endParaRPr>
          </a:p>
        </p:txBody>
      </p:sp>
      <p:sp>
        <p:nvSpPr>
          <p:cNvPr id="49154" name="Rectangle 2"/>
          <p:cNvSpPr>
            <a:spLocks noGrp="1" noChangeArrowheads="1"/>
          </p:cNvSpPr>
          <p:nvPr>
            <p:ph type="title"/>
          </p:nvPr>
        </p:nvSpPr>
        <p:spPr/>
        <p:txBody>
          <a:bodyPr/>
          <a:lstStyle/>
          <a:p>
            <a:pPr eaLnBrk="1" hangingPunct="1"/>
            <a:r>
              <a:rPr lang="en-US" dirty="0" smtClean="0"/>
              <a:t>Lesson outline</a:t>
            </a:r>
          </a:p>
        </p:txBody>
      </p:sp>
      <p:sp>
        <p:nvSpPr>
          <p:cNvPr id="49155" name="Rectangle 3"/>
          <p:cNvSpPr>
            <a:spLocks noGrp="1" noChangeArrowheads="1"/>
          </p:cNvSpPr>
          <p:nvPr>
            <p:ph idx="1"/>
          </p:nvPr>
        </p:nvSpPr>
        <p:spPr/>
        <p:txBody>
          <a:bodyPr/>
          <a:lstStyle/>
          <a:p>
            <a:pPr>
              <a:lnSpc>
                <a:spcPct val="150000"/>
              </a:lnSpc>
            </a:pPr>
            <a:r>
              <a:rPr lang="en-US" sz="2800" dirty="0" smtClean="0">
                <a:solidFill>
                  <a:srgbClr val="C0C0C0"/>
                </a:solidFill>
              </a:rPr>
              <a:t>Contact Basics</a:t>
            </a:r>
          </a:p>
          <a:p>
            <a:pPr>
              <a:lnSpc>
                <a:spcPct val="150000"/>
              </a:lnSpc>
            </a:pPr>
            <a:r>
              <a:rPr lang="en-US" sz="2800" dirty="0" err="1" smtClean="0">
                <a:solidFill>
                  <a:srgbClr val="C0C0C0"/>
                </a:solidFill>
              </a:rPr>
              <a:t>ContactManager</a:t>
            </a:r>
            <a:endParaRPr lang="en-US" sz="2800" dirty="0" smtClean="0">
              <a:solidFill>
                <a:srgbClr val="C0C0C0"/>
              </a:solidFill>
            </a:endParaRPr>
          </a:p>
          <a:p>
            <a:pPr>
              <a:lnSpc>
                <a:spcPct val="150000"/>
              </a:lnSpc>
            </a:pPr>
            <a:r>
              <a:rPr lang="en-US" sz="2800" dirty="0" smtClean="0">
                <a:solidFill>
                  <a:srgbClr val="C0C0C0"/>
                </a:solidFill>
              </a:rPr>
              <a:t>Creating </a:t>
            </a:r>
            <a:r>
              <a:rPr lang="en-US" sz="2800" dirty="0" err="1" smtClean="0">
                <a:solidFill>
                  <a:srgbClr val="C0C0C0"/>
                </a:solidFill>
              </a:rPr>
              <a:t>ClaimCenter</a:t>
            </a:r>
            <a:r>
              <a:rPr lang="en-US" sz="2800" dirty="0" smtClean="0">
                <a:solidFill>
                  <a:srgbClr val="C0C0C0"/>
                </a:solidFill>
              </a:rPr>
              <a:t> contacts</a:t>
            </a:r>
          </a:p>
          <a:p>
            <a:pPr>
              <a:lnSpc>
                <a:spcPct val="150000"/>
              </a:lnSpc>
            </a:pPr>
            <a:r>
              <a:rPr lang="en-US" sz="2800" dirty="0" smtClean="0"/>
              <a:t>Searching for contacts</a:t>
            </a:r>
          </a:p>
        </p:txBody>
      </p:sp>
    </p:spTree>
    <p:extLst>
      <p:ext uri="{BB962C8B-B14F-4D97-AF65-F5344CB8AC3E}">
        <p14:creationId xmlns:p14="http://schemas.microsoft.com/office/powerpoint/2010/main" val="153627845"/>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|EOS~038|</a:t>
            </a:r>
            <a:endParaRPr lang="en-US" sz="100" dirty="0" err="1" smtClean="0">
              <a:solidFill>
                <a:srgbClr val="FFFFFF"/>
              </a:solidFill>
              <a:latin typeface="Arial"/>
              <a:cs typeface="Calibri" pitchFamily="34" charset="0"/>
            </a:endParaRPr>
          </a:p>
        </p:txBody>
      </p:sp>
      <p:sp>
        <p:nvSpPr>
          <p:cNvPr id="50178" name="Rectangle 2"/>
          <p:cNvSpPr>
            <a:spLocks noGrp="1" noChangeArrowheads="1"/>
          </p:cNvSpPr>
          <p:nvPr>
            <p:ph type="title"/>
          </p:nvPr>
        </p:nvSpPr>
        <p:spPr/>
        <p:txBody>
          <a:bodyPr/>
          <a:lstStyle/>
          <a:p>
            <a:pPr eaLnBrk="1" hangingPunct="1"/>
            <a:r>
              <a:rPr lang="en-US" dirty="0" smtClean="0"/>
              <a:t>Approaches to Searching for Contacts</a:t>
            </a:r>
          </a:p>
        </p:txBody>
      </p:sp>
      <p:sp>
        <p:nvSpPr>
          <p:cNvPr id="50179" name="Rectangle 3"/>
          <p:cNvSpPr>
            <a:spLocks noGrp="1" noChangeArrowheads="1"/>
          </p:cNvSpPr>
          <p:nvPr>
            <p:ph idx="1"/>
          </p:nvPr>
        </p:nvSpPr>
        <p:spPr>
          <a:xfrm>
            <a:off x="519113" y="914400"/>
            <a:ext cx="8461114" cy="5486400"/>
          </a:xfrm>
        </p:spPr>
        <p:txBody>
          <a:bodyPr/>
          <a:lstStyle/>
          <a:p>
            <a:pPr marL="457200" indent="-457200"/>
            <a:r>
              <a:rPr lang="en-US" sz="2200" dirty="0" smtClean="0"/>
              <a:t>Searching for contacts in the Address Book can be done using four different approaches (or combinations thereof) to reduce time and improve quality of service. This includes searching:</a:t>
            </a:r>
          </a:p>
          <a:p>
            <a:pPr marL="819150" lvl="1" indent="-419100">
              <a:buFont typeface="Wingdings 2" pitchFamily="18" charset="2"/>
              <a:buAutoNum type="arabicPeriod"/>
            </a:pPr>
            <a:r>
              <a:rPr lang="en-US" dirty="0"/>
              <a:t>B</a:t>
            </a:r>
            <a:r>
              <a:rPr lang="en-US" dirty="0" smtClean="0"/>
              <a:t>y Name, Type or Services Provided</a:t>
            </a:r>
          </a:p>
          <a:p>
            <a:pPr lvl="2">
              <a:buFont typeface="Arial" pitchFamily="34" charset="0"/>
              <a:buChar char="•"/>
            </a:pPr>
            <a:r>
              <a:rPr lang="en-US" dirty="0" smtClean="0"/>
              <a:t>For example, an Auto Repair Shop named “Express Auto” providing auto body services</a:t>
            </a:r>
          </a:p>
          <a:p>
            <a:pPr marL="819150" lvl="1" indent="-419100">
              <a:buFont typeface="Wingdings 2" pitchFamily="18" charset="2"/>
              <a:buAutoNum type="arabicPeriod"/>
            </a:pPr>
            <a:r>
              <a:rPr lang="en-US" dirty="0"/>
              <a:t>B</a:t>
            </a:r>
            <a:r>
              <a:rPr lang="en-US" dirty="0" smtClean="0"/>
              <a:t>y Location</a:t>
            </a:r>
          </a:p>
          <a:p>
            <a:pPr lvl="2">
              <a:buFont typeface="Arial" pitchFamily="34" charset="0"/>
              <a:buChar char="•"/>
            </a:pPr>
            <a:r>
              <a:rPr lang="en-US" dirty="0"/>
              <a:t>For example, all contacts in 94404 (Zip Code), or a city and state (Memphis, TN)</a:t>
            </a:r>
          </a:p>
          <a:p>
            <a:pPr marL="819150" lvl="1" indent="-419100">
              <a:buFont typeface="Wingdings 2" pitchFamily="18" charset="2"/>
              <a:buAutoNum type="arabicPeriod"/>
            </a:pPr>
            <a:r>
              <a:rPr lang="en-US" dirty="0" smtClean="0"/>
              <a:t>By Proximity to a Location (using the Geocoding service)</a:t>
            </a:r>
          </a:p>
          <a:p>
            <a:pPr lvl="2">
              <a:buFont typeface="Arial" pitchFamily="34" charset="0"/>
              <a:buChar char="•"/>
            </a:pPr>
            <a:r>
              <a:rPr lang="en-US" dirty="0" smtClean="0"/>
              <a:t>For example, any Auto Repair Shop within 40 miles of the loss location</a:t>
            </a:r>
          </a:p>
          <a:p>
            <a:pPr marL="819150" lvl="1" indent="-419100">
              <a:buFont typeface="Wingdings 2" pitchFamily="18" charset="2"/>
              <a:buAutoNum type="arabicPeriod"/>
            </a:pPr>
            <a:r>
              <a:rPr lang="en-US" dirty="0"/>
              <a:t>B</a:t>
            </a:r>
            <a:r>
              <a:rPr lang="en-US" dirty="0" smtClean="0"/>
              <a:t>y Preferred Status and/or by Performance Score</a:t>
            </a:r>
          </a:p>
          <a:p>
            <a:pPr lvl="2">
              <a:buFont typeface="Arial" pitchFamily="34" charset="0"/>
              <a:buChar char="•"/>
            </a:pPr>
            <a:r>
              <a:rPr lang="en-US" dirty="0" smtClean="0"/>
              <a:t>For example, an Auto Repair Shop who is a Preferred Vendor and whose Average Review Score is at least 80</a:t>
            </a:r>
          </a:p>
        </p:txBody>
      </p:sp>
      <p:grpSp>
        <p:nvGrpSpPr>
          <p:cNvPr id="4" name="Group 18"/>
          <p:cNvGrpSpPr>
            <a:grpSpLocks/>
          </p:cNvGrpSpPr>
          <p:nvPr/>
        </p:nvGrpSpPr>
        <p:grpSpPr bwMode="auto">
          <a:xfrm>
            <a:off x="7449522" y="0"/>
            <a:ext cx="1109663" cy="969963"/>
            <a:chOff x="1305" y="2500"/>
            <a:chExt cx="1138" cy="995"/>
          </a:xfrm>
        </p:grpSpPr>
        <p:sp>
          <p:nvSpPr>
            <p:cNvPr id="5" name="Freeform 19"/>
            <p:cNvSpPr>
              <a:spLocks/>
            </p:cNvSpPr>
            <p:nvPr/>
          </p:nvSpPr>
          <p:spPr bwMode="auto">
            <a:xfrm>
              <a:off x="1305" y="2500"/>
              <a:ext cx="1138" cy="995"/>
            </a:xfrm>
            <a:custGeom>
              <a:avLst/>
              <a:gdLst>
                <a:gd name="T0" fmla="*/ 444 w 1138"/>
                <a:gd name="T1" fmla="*/ 1 h 995"/>
                <a:gd name="T2" fmla="*/ 490 w 1138"/>
                <a:gd name="T3" fmla="*/ 0 h 995"/>
                <a:gd name="T4" fmla="*/ 532 w 1138"/>
                <a:gd name="T5" fmla="*/ 10 h 995"/>
                <a:gd name="T6" fmla="*/ 600 w 1138"/>
                <a:gd name="T7" fmla="*/ 40 h 995"/>
                <a:gd name="T8" fmla="*/ 668 w 1138"/>
                <a:gd name="T9" fmla="*/ 66 h 995"/>
                <a:gd name="T10" fmla="*/ 737 w 1138"/>
                <a:gd name="T11" fmla="*/ 85 h 995"/>
                <a:gd name="T12" fmla="*/ 808 w 1138"/>
                <a:gd name="T13" fmla="*/ 101 h 995"/>
                <a:gd name="T14" fmla="*/ 882 w 1138"/>
                <a:gd name="T15" fmla="*/ 111 h 995"/>
                <a:gd name="T16" fmla="*/ 953 w 1138"/>
                <a:gd name="T17" fmla="*/ 125 h 995"/>
                <a:gd name="T18" fmla="*/ 1011 w 1138"/>
                <a:gd name="T19" fmla="*/ 163 h 995"/>
                <a:gd name="T20" fmla="*/ 1036 w 1138"/>
                <a:gd name="T21" fmla="*/ 228 h 995"/>
                <a:gd name="T22" fmla="*/ 1082 w 1138"/>
                <a:gd name="T23" fmla="*/ 252 h 995"/>
                <a:gd name="T24" fmla="*/ 1120 w 1138"/>
                <a:gd name="T25" fmla="*/ 287 h 995"/>
                <a:gd name="T26" fmla="*/ 1137 w 1138"/>
                <a:gd name="T27" fmla="*/ 342 h 995"/>
                <a:gd name="T28" fmla="*/ 1134 w 1138"/>
                <a:gd name="T29" fmla="*/ 405 h 995"/>
                <a:gd name="T30" fmla="*/ 1111 w 1138"/>
                <a:gd name="T31" fmla="*/ 463 h 995"/>
                <a:gd name="T32" fmla="*/ 1068 w 1138"/>
                <a:gd name="T33" fmla="*/ 515 h 995"/>
                <a:gd name="T34" fmla="*/ 1026 w 1138"/>
                <a:gd name="T35" fmla="*/ 568 h 995"/>
                <a:gd name="T36" fmla="*/ 984 w 1138"/>
                <a:gd name="T37" fmla="*/ 627 h 995"/>
                <a:gd name="T38" fmla="*/ 965 w 1138"/>
                <a:gd name="T39" fmla="*/ 646 h 995"/>
                <a:gd name="T40" fmla="*/ 947 w 1138"/>
                <a:gd name="T41" fmla="*/ 664 h 995"/>
                <a:gd name="T42" fmla="*/ 918 w 1138"/>
                <a:gd name="T43" fmla="*/ 712 h 995"/>
                <a:gd name="T44" fmla="*/ 864 w 1138"/>
                <a:gd name="T45" fmla="*/ 796 h 995"/>
                <a:gd name="T46" fmla="*/ 802 w 1138"/>
                <a:gd name="T47" fmla="*/ 881 h 995"/>
                <a:gd name="T48" fmla="*/ 763 w 1138"/>
                <a:gd name="T49" fmla="*/ 927 h 995"/>
                <a:gd name="T50" fmla="*/ 741 w 1138"/>
                <a:gd name="T51" fmla="*/ 950 h 995"/>
                <a:gd name="T52" fmla="*/ 715 w 1138"/>
                <a:gd name="T53" fmla="*/ 963 h 995"/>
                <a:gd name="T54" fmla="*/ 670 w 1138"/>
                <a:gd name="T55" fmla="*/ 975 h 995"/>
                <a:gd name="T56" fmla="*/ 627 w 1138"/>
                <a:gd name="T57" fmla="*/ 985 h 995"/>
                <a:gd name="T58" fmla="*/ 584 w 1138"/>
                <a:gd name="T59" fmla="*/ 993 h 995"/>
                <a:gd name="T60" fmla="*/ 543 w 1138"/>
                <a:gd name="T61" fmla="*/ 995 h 995"/>
                <a:gd name="T62" fmla="*/ 500 w 1138"/>
                <a:gd name="T63" fmla="*/ 988 h 995"/>
                <a:gd name="T64" fmla="*/ 464 w 1138"/>
                <a:gd name="T65" fmla="*/ 975 h 995"/>
                <a:gd name="T66" fmla="*/ 421 w 1138"/>
                <a:gd name="T67" fmla="*/ 953 h 995"/>
                <a:gd name="T68" fmla="*/ 369 w 1138"/>
                <a:gd name="T69" fmla="*/ 925 h 995"/>
                <a:gd name="T70" fmla="*/ 317 w 1138"/>
                <a:gd name="T71" fmla="*/ 899 h 995"/>
                <a:gd name="T72" fmla="*/ 275 w 1138"/>
                <a:gd name="T73" fmla="*/ 878 h 995"/>
                <a:gd name="T74" fmla="*/ 219 w 1138"/>
                <a:gd name="T75" fmla="*/ 861 h 995"/>
                <a:gd name="T76" fmla="*/ 151 w 1138"/>
                <a:gd name="T77" fmla="*/ 851 h 995"/>
                <a:gd name="T78" fmla="*/ 86 w 1138"/>
                <a:gd name="T79" fmla="*/ 827 h 995"/>
                <a:gd name="T80" fmla="*/ 18 w 1138"/>
                <a:gd name="T81" fmla="*/ 764 h 995"/>
                <a:gd name="T82" fmla="*/ 0 w 1138"/>
                <a:gd name="T83" fmla="*/ 678 h 995"/>
                <a:gd name="T84" fmla="*/ 15 w 1138"/>
                <a:gd name="T85" fmla="*/ 590 h 995"/>
                <a:gd name="T86" fmla="*/ 52 w 1138"/>
                <a:gd name="T87" fmla="*/ 520 h 995"/>
                <a:gd name="T88" fmla="*/ 110 w 1138"/>
                <a:gd name="T89" fmla="*/ 462 h 995"/>
                <a:gd name="T90" fmla="*/ 166 w 1138"/>
                <a:gd name="T91" fmla="*/ 392 h 995"/>
                <a:gd name="T92" fmla="*/ 217 w 1138"/>
                <a:gd name="T93" fmla="*/ 316 h 995"/>
                <a:gd name="T94" fmla="*/ 263 w 1138"/>
                <a:gd name="T95" fmla="*/ 239 h 995"/>
                <a:gd name="T96" fmla="*/ 308 w 1138"/>
                <a:gd name="T97" fmla="*/ 156 h 995"/>
                <a:gd name="T98" fmla="*/ 365 w 1138"/>
                <a:gd name="T99" fmla="*/ 58 h 995"/>
                <a:gd name="T100" fmla="*/ 413 w 1138"/>
                <a:gd name="T101" fmla="*/ 5 h 99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38"/>
                <a:gd name="T154" fmla="*/ 0 h 995"/>
                <a:gd name="T155" fmla="*/ 1138 w 1138"/>
                <a:gd name="T156" fmla="*/ 995 h 99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38" h="995">
                  <a:moveTo>
                    <a:pt x="413" y="5"/>
                  </a:moveTo>
                  <a:lnTo>
                    <a:pt x="429" y="2"/>
                  </a:lnTo>
                  <a:lnTo>
                    <a:pt x="444" y="1"/>
                  </a:lnTo>
                  <a:lnTo>
                    <a:pt x="460" y="0"/>
                  </a:lnTo>
                  <a:lnTo>
                    <a:pt x="475" y="0"/>
                  </a:lnTo>
                  <a:lnTo>
                    <a:pt x="490" y="0"/>
                  </a:lnTo>
                  <a:lnTo>
                    <a:pt x="504" y="2"/>
                  </a:lnTo>
                  <a:lnTo>
                    <a:pt x="518" y="5"/>
                  </a:lnTo>
                  <a:lnTo>
                    <a:pt x="532" y="10"/>
                  </a:lnTo>
                  <a:lnTo>
                    <a:pt x="554" y="20"/>
                  </a:lnTo>
                  <a:lnTo>
                    <a:pt x="578" y="31"/>
                  </a:lnTo>
                  <a:lnTo>
                    <a:pt x="600" y="40"/>
                  </a:lnTo>
                  <a:lnTo>
                    <a:pt x="623" y="49"/>
                  </a:lnTo>
                  <a:lnTo>
                    <a:pt x="645" y="57"/>
                  </a:lnTo>
                  <a:lnTo>
                    <a:pt x="668" y="66"/>
                  </a:lnTo>
                  <a:lnTo>
                    <a:pt x="692" y="72"/>
                  </a:lnTo>
                  <a:lnTo>
                    <a:pt x="714" y="79"/>
                  </a:lnTo>
                  <a:lnTo>
                    <a:pt x="737" y="85"/>
                  </a:lnTo>
                  <a:lnTo>
                    <a:pt x="760" y="92"/>
                  </a:lnTo>
                  <a:lnTo>
                    <a:pt x="785" y="97"/>
                  </a:lnTo>
                  <a:lnTo>
                    <a:pt x="808" y="101"/>
                  </a:lnTo>
                  <a:lnTo>
                    <a:pt x="833" y="105"/>
                  </a:lnTo>
                  <a:lnTo>
                    <a:pt x="857" y="108"/>
                  </a:lnTo>
                  <a:lnTo>
                    <a:pt x="882" y="111"/>
                  </a:lnTo>
                  <a:lnTo>
                    <a:pt x="906" y="114"/>
                  </a:lnTo>
                  <a:lnTo>
                    <a:pt x="930" y="119"/>
                  </a:lnTo>
                  <a:lnTo>
                    <a:pt x="953" y="125"/>
                  </a:lnTo>
                  <a:lnTo>
                    <a:pt x="975" y="136"/>
                  </a:lnTo>
                  <a:lnTo>
                    <a:pt x="994" y="147"/>
                  </a:lnTo>
                  <a:lnTo>
                    <a:pt x="1011" y="163"/>
                  </a:lnTo>
                  <a:lnTo>
                    <a:pt x="1024" y="181"/>
                  </a:lnTo>
                  <a:lnTo>
                    <a:pt x="1033" y="202"/>
                  </a:lnTo>
                  <a:lnTo>
                    <a:pt x="1036" y="228"/>
                  </a:lnTo>
                  <a:lnTo>
                    <a:pt x="1051" y="235"/>
                  </a:lnTo>
                  <a:lnTo>
                    <a:pt x="1067" y="243"/>
                  </a:lnTo>
                  <a:lnTo>
                    <a:pt x="1082" y="252"/>
                  </a:lnTo>
                  <a:lnTo>
                    <a:pt x="1097" y="263"/>
                  </a:lnTo>
                  <a:lnTo>
                    <a:pt x="1110" y="274"/>
                  </a:lnTo>
                  <a:lnTo>
                    <a:pt x="1120" y="287"/>
                  </a:lnTo>
                  <a:lnTo>
                    <a:pt x="1129" y="303"/>
                  </a:lnTo>
                  <a:lnTo>
                    <a:pt x="1134" y="321"/>
                  </a:lnTo>
                  <a:lnTo>
                    <a:pt x="1137" y="342"/>
                  </a:lnTo>
                  <a:lnTo>
                    <a:pt x="1138" y="364"/>
                  </a:lnTo>
                  <a:lnTo>
                    <a:pt x="1137" y="384"/>
                  </a:lnTo>
                  <a:lnTo>
                    <a:pt x="1134" y="405"/>
                  </a:lnTo>
                  <a:lnTo>
                    <a:pt x="1128" y="426"/>
                  </a:lnTo>
                  <a:lnTo>
                    <a:pt x="1120" y="445"/>
                  </a:lnTo>
                  <a:lnTo>
                    <a:pt x="1111" y="463"/>
                  </a:lnTo>
                  <a:lnTo>
                    <a:pt x="1098" y="482"/>
                  </a:lnTo>
                  <a:lnTo>
                    <a:pt x="1082" y="498"/>
                  </a:lnTo>
                  <a:lnTo>
                    <a:pt x="1068" y="515"/>
                  </a:lnTo>
                  <a:lnTo>
                    <a:pt x="1053" y="533"/>
                  </a:lnTo>
                  <a:lnTo>
                    <a:pt x="1040" y="550"/>
                  </a:lnTo>
                  <a:lnTo>
                    <a:pt x="1026" y="568"/>
                  </a:lnTo>
                  <a:lnTo>
                    <a:pt x="1011" y="586"/>
                  </a:lnTo>
                  <a:lnTo>
                    <a:pt x="998" y="606"/>
                  </a:lnTo>
                  <a:lnTo>
                    <a:pt x="984" y="627"/>
                  </a:lnTo>
                  <a:lnTo>
                    <a:pt x="978" y="634"/>
                  </a:lnTo>
                  <a:lnTo>
                    <a:pt x="971" y="641"/>
                  </a:lnTo>
                  <a:lnTo>
                    <a:pt x="965" y="646"/>
                  </a:lnTo>
                  <a:lnTo>
                    <a:pt x="960" y="653"/>
                  </a:lnTo>
                  <a:lnTo>
                    <a:pt x="953" y="659"/>
                  </a:lnTo>
                  <a:lnTo>
                    <a:pt x="947" y="664"/>
                  </a:lnTo>
                  <a:lnTo>
                    <a:pt x="941" y="671"/>
                  </a:lnTo>
                  <a:lnTo>
                    <a:pt x="938" y="678"/>
                  </a:lnTo>
                  <a:lnTo>
                    <a:pt x="918" y="712"/>
                  </a:lnTo>
                  <a:lnTo>
                    <a:pt x="900" y="742"/>
                  </a:lnTo>
                  <a:lnTo>
                    <a:pt x="882" y="770"/>
                  </a:lnTo>
                  <a:lnTo>
                    <a:pt x="864" y="796"/>
                  </a:lnTo>
                  <a:lnTo>
                    <a:pt x="844" y="824"/>
                  </a:lnTo>
                  <a:lnTo>
                    <a:pt x="824" y="851"/>
                  </a:lnTo>
                  <a:lnTo>
                    <a:pt x="802" y="881"/>
                  </a:lnTo>
                  <a:lnTo>
                    <a:pt x="777" y="912"/>
                  </a:lnTo>
                  <a:lnTo>
                    <a:pt x="769" y="919"/>
                  </a:lnTo>
                  <a:lnTo>
                    <a:pt x="763" y="927"/>
                  </a:lnTo>
                  <a:lnTo>
                    <a:pt x="755" y="936"/>
                  </a:lnTo>
                  <a:lnTo>
                    <a:pt x="749" y="943"/>
                  </a:lnTo>
                  <a:lnTo>
                    <a:pt x="741" y="950"/>
                  </a:lnTo>
                  <a:lnTo>
                    <a:pt x="733" y="956"/>
                  </a:lnTo>
                  <a:lnTo>
                    <a:pt x="724" y="961"/>
                  </a:lnTo>
                  <a:lnTo>
                    <a:pt x="715" y="963"/>
                  </a:lnTo>
                  <a:lnTo>
                    <a:pt x="699" y="967"/>
                  </a:lnTo>
                  <a:lnTo>
                    <a:pt x="684" y="971"/>
                  </a:lnTo>
                  <a:lnTo>
                    <a:pt x="670" y="975"/>
                  </a:lnTo>
                  <a:lnTo>
                    <a:pt x="655" y="979"/>
                  </a:lnTo>
                  <a:lnTo>
                    <a:pt x="641" y="983"/>
                  </a:lnTo>
                  <a:lnTo>
                    <a:pt x="627" y="985"/>
                  </a:lnTo>
                  <a:lnTo>
                    <a:pt x="613" y="989"/>
                  </a:lnTo>
                  <a:lnTo>
                    <a:pt x="598" y="991"/>
                  </a:lnTo>
                  <a:lnTo>
                    <a:pt x="584" y="993"/>
                  </a:lnTo>
                  <a:lnTo>
                    <a:pt x="570" y="995"/>
                  </a:lnTo>
                  <a:lnTo>
                    <a:pt x="557" y="995"/>
                  </a:lnTo>
                  <a:lnTo>
                    <a:pt x="543" y="995"/>
                  </a:lnTo>
                  <a:lnTo>
                    <a:pt x="528" y="993"/>
                  </a:lnTo>
                  <a:lnTo>
                    <a:pt x="514" y="992"/>
                  </a:lnTo>
                  <a:lnTo>
                    <a:pt x="500" y="988"/>
                  </a:lnTo>
                  <a:lnTo>
                    <a:pt x="486" y="984"/>
                  </a:lnTo>
                  <a:lnTo>
                    <a:pt x="475" y="980"/>
                  </a:lnTo>
                  <a:lnTo>
                    <a:pt x="464" y="975"/>
                  </a:lnTo>
                  <a:lnTo>
                    <a:pt x="451" y="969"/>
                  </a:lnTo>
                  <a:lnTo>
                    <a:pt x="437" y="961"/>
                  </a:lnTo>
                  <a:lnTo>
                    <a:pt x="421" y="953"/>
                  </a:lnTo>
                  <a:lnTo>
                    <a:pt x="404" y="944"/>
                  </a:lnTo>
                  <a:lnTo>
                    <a:pt x="386" y="935"/>
                  </a:lnTo>
                  <a:lnTo>
                    <a:pt x="369" y="925"/>
                  </a:lnTo>
                  <a:lnTo>
                    <a:pt x="352" y="915"/>
                  </a:lnTo>
                  <a:lnTo>
                    <a:pt x="334" y="906"/>
                  </a:lnTo>
                  <a:lnTo>
                    <a:pt x="317" y="899"/>
                  </a:lnTo>
                  <a:lnTo>
                    <a:pt x="302" y="890"/>
                  </a:lnTo>
                  <a:lnTo>
                    <a:pt x="288" y="883"/>
                  </a:lnTo>
                  <a:lnTo>
                    <a:pt x="275" y="878"/>
                  </a:lnTo>
                  <a:lnTo>
                    <a:pt x="263" y="873"/>
                  </a:lnTo>
                  <a:lnTo>
                    <a:pt x="253" y="870"/>
                  </a:lnTo>
                  <a:lnTo>
                    <a:pt x="219" y="861"/>
                  </a:lnTo>
                  <a:lnTo>
                    <a:pt x="193" y="856"/>
                  </a:lnTo>
                  <a:lnTo>
                    <a:pt x="170" y="853"/>
                  </a:lnTo>
                  <a:lnTo>
                    <a:pt x="151" y="851"/>
                  </a:lnTo>
                  <a:lnTo>
                    <a:pt x="131" y="847"/>
                  </a:lnTo>
                  <a:lnTo>
                    <a:pt x="110" y="839"/>
                  </a:lnTo>
                  <a:lnTo>
                    <a:pt x="86" y="827"/>
                  </a:lnTo>
                  <a:lnTo>
                    <a:pt x="56" y="808"/>
                  </a:lnTo>
                  <a:lnTo>
                    <a:pt x="34" y="789"/>
                  </a:lnTo>
                  <a:lnTo>
                    <a:pt x="18" y="764"/>
                  </a:lnTo>
                  <a:lnTo>
                    <a:pt x="8" y="738"/>
                  </a:lnTo>
                  <a:lnTo>
                    <a:pt x="3" y="708"/>
                  </a:lnTo>
                  <a:lnTo>
                    <a:pt x="0" y="678"/>
                  </a:lnTo>
                  <a:lnTo>
                    <a:pt x="3" y="649"/>
                  </a:lnTo>
                  <a:lnTo>
                    <a:pt x="8" y="619"/>
                  </a:lnTo>
                  <a:lnTo>
                    <a:pt x="15" y="590"/>
                  </a:lnTo>
                  <a:lnTo>
                    <a:pt x="22" y="564"/>
                  </a:lnTo>
                  <a:lnTo>
                    <a:pt x="35" y="541"/>
                  </a:lnTo>
                  <a:lnTo>
                    <a:pt x="52" y="520"/>
                  </a:lnTo>
                  <a:lnTo>
                    <a:pt x="70" y="501"/>
                  </a:lnTo>
                  <a:lnTo>
                    <a:pt x="90" y="482"/>
                  </a:lnTo>
                  <a:lnTo>
                    <a:pt x="110" y="462"/>
                  </a:lnTo>
                  <a:lnTo>
                    <a:pt x="131" y="441"/>
                  </a:lnTo>
                  <a:lnTo>
                    <a:pt x="149" y="419"/>
                  </a:lnTo>
                  <a:lnTo>
                    <a:pt x="166" y="392"/>
                  </a:lnTo>
                  <a:lnTo>
                    <a:pt x="183" y="366"/>
                  </a:lnTo>
                  <a:lnTo>
                    <a:pt x="200" y="342"/>
                  </a:lnTo>
                  <a:lnTo>
                    <a:pt x="217" y="316"/>
                  </a:lnTo>
                  <a:lnTo>
                    <a:pt x="232" y="290"/>
                  </a:lnTo>
                  <a:lnTo>
                    <a:pt x="248" y="265"/>
                  </a:lnTo>
                  <a:lnTo>
                    <a:pt x="263" y="239"/>
                  </a:lnTo>
                  <a:lnTo>
                    <a:pt x="279" y="212"/>
                  </a:lnTo>
                  <a:lnTo>
                    <a:pt x="292" y="187"/>
                  </a:lnTo>
                  <a:lnTo>
                    <a:pt x="308" y="156"/>
                  </a:lnTo>
                  <a:lnTo>
                    <a:pt x="327" y="123"/>
                  </a:lnTo>
                  <a:lnTo>
                    <a:pt x="346" y="89"/>
                  </a:lnTo>
                  <a:lnTo>
                    <a:pt x="365" y="58"/>
                  </a:lnTo>
                  <a:lnTo>
                    <a:pt x="384" y="31"/>
                  </a:lnTo>
                  <a:lnTo>
                    <a:pt x="400" y="13"/>
                  </a:lnTo>
                  <a:lnTo>
                    <a:pt x="413" y="5"/>
                  </a:lnTo>
                  <a:close/>
                </a:path>
              </a:pathLst>
            </a:custGeom>
            <a:solidFill>
              <a:srgbClr val="FFFFD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 name="Freeform 20"/>
            <p:cNvSpPr>
              <a:spLocks/>
            </p:cNvSpPr>
            <p:nvPr/>
          </p:nvSpPr>
          <p:spPr bwMode="auto">
            <a:xfrm>
              <a:off x="1356" y="2554"/>
              <a:ext cx="1055" cy="891"/>
            </a:xfrm>
            <a:custGeom>
              <a:avLst/>
              <a:gdLst>
                <a:gd name="T0" fmla="*/ 1013 w 1055"/>
                <a:gd name="T1" fmla="*/ 247 h 891"/>
                <a:gd name="T2" fmla="*/ 1007 w 1055"/>
                <a:gd name="T3" fmla="*/ 242 h 891"/>
                <a:gd name="T4" fmla="*/ 986 w 1055"/>
                <a:gd name="T5" fmla="*/ 227 h 891"/>
                <a:gd name="T6" fmla="*/ 963 w 1055"/>
                <a:gd name="T7" fmla="*/ 215 h 891"/>
                <a:gd name="T8" fmla="*/ 962 w 1055"/>
                <a:gd name="T9" fmla="*/ 189 h 891"/>
                <a:gd name="T10" fmla="*/ 947 w 1055"/>
                <a:gd name="T11" fmla="*/ 157 h 891"/>
                <a:gd name="T12" fmla="*/ 918 w 1055"/>
                <a:gd name="T13" fmla="*/ 145 h 891"/>
                <a:gd name="T14" fmla="*/ 861 w 1055"/>
                <a:gd name="T15" fmla="*/ 131 h 891"/>
                <a:gd name="T16" fmla="*/ 804 w 1055"/>
                <a:gd name="T17" fmla="*/ 118 h 891"/>
                <a:gd name="T18" fmla="*/ 749 w 1055"/>
                <a:gd name="T19" fmla="*/ 105 h 891"/>
                <a:gd name="T20" fmla="*/ 707 w 1055"/>
                <a:gd name="T21" fmla="*/ 95 h 891"/>
                <a:gd name="T22" fmla="*/ 665 w 1055"/>
                <a:gd name="T23" fmla="*/ 82 h 891"/>
                <a:gd name="T24" fmla="*/ 622 w 1055"/>
                <a:gd name="T25" fmla="*/ 65 h 891"/>
                <a:gd name="T26" fmla="*/ 572 w 1055"/>
                <a:gd name="T27" fmla="*/ 43 h 891"/>
                <a:gd name="T28" fmla="*/ 516 w 1055"/>
                <a:gd name="T29" fmla="*/ 21 h 891"/>
                <a:gd name="T30" fmla="*/ 465 w 1055"/>
                <a:gd name="T31" fmla="*/ 5 h 891"/>
                <a:gd name="T32" fmla="*/ 423 w 1055"/>
                <a:gd name="T33" fmla="*/ 0 h 891"/>
                <a:gd name="T34" fmla="*/ 387 w 1055"/>
                <a:gd name="T35" fmla="*/ 18 h 891"/>
                <a:gd name="T36" fmla="*/ 343 w 1055"/>
                <a:gd name="T37" fmla="*/ 69 h 891"/>
                <a:gd name="T38" fmla="*/ 304 w 1055"/>
                <a:gd name="T39" fmla="*/ 124 h 891"/>
                <a:gd name="T40" fmla="*/ 266 w 1055"/>
                <a:gd name="T41" fmla="*/ 175 h 891"/>
                <a:gd name="T42" fmla="*/ 230 w 1055"/>
                <a:gd name="T43" fmla="*/ 223 h 891"/>
                <a:gd name="T44" fmla="*/ 198 w 1055"/>
                <a:gd name="T45" fmla="*/ 273 h 891"/>
                <a:gd name="T46" fmla="*/ 127 w 1055"/>
                <a:gd name="T47" fmla="*/ 384 h 891"/>
                <a:gd name="T48" fmla="*/ 36 w 1055"/>
                <a:gd name="T49" fmla="*/ 513 h 891"/>
                <a:gd name="T50" fmla="*/ 0 w 1055"/>
                <a:gd name="T51" fmla="*/ 578 h 891"/>
                <a:gd name="T52" fmla="*/ 9 w 1055"/>
                <a:gd name="T53" fmla="*/ 624 h 891"/>
                <a:gd name="T54" fmla="*/ 17 w 1055"/>
                <a:gd name="T55" fmla="*/ 648 h 891"/>
                <a:gd name="T56" fmla="*/ 33 w 1055"/>
                <a:gd name="T57" fmla="*/ 688 h 891"/>
                <a:gd name="T58" fmla="*/ 53 w 1055"/>
                <a:gd name="T59" fmla="*/ 709 h 891"/>
                <a:gd name="T60" fmla="*/ 101 w 1055"/>
                <a:gd name="T61" fmla="*/ 729 h 891"/>
                <a:gd name="T62" fmla="*/ 149 w 1055"/>
                <a:gd name="T63" fmla="*/ 749 h 891"/>
                <a:gd name="T64" fmla="*/ 198 w 1055"/>
                <a:gd name="T65" fmla="*/ 767 h 891"/>
                <a:gd name="T66" fmla="*/ 247 w 1055"/>
                <a:gd name="T67" fmla="*/ 785 h 891"/>
                <a:gd name="T68" fmla="*/ 295 w 1055"/>
                <a:gd name="T69" fmla="*/ 803 h 891"/>
                <a:gd name="T70" fmla="*/ 347 w 1055"/>
                <a:gd name="T71" fmla="*/ 825 h 891"/>
                <a:gd name="T72" fmla="*/ 400 w 1055"/>
                <a:gd name="T73" fmla="*/ 847 h 891"/>
                <a:gd name="T74" fmla="*/ 453 w 1055"/>
                <a:gd name="T75" fmla="*/ 867 h 891"/>
                <a:gd name="T76" fmla="*/ 531 w 1055"/>
                <a:gd name="T77" fmla="*/ 887 h 891"/>
                <a:gd name="T78" fmla="*/ 610 w 1055"/>
                <a:gd name="T79" fmla="*/ 887 h 891"/>
                <a:gd name="T80" fmla="*/ 669 w 1055"/>
                <a:gd name="T81" fmla="*/ 851 h 891"/>
                <a:gd name="T82" fmla="*/ 721 w 1055"/>
                <a:gd name="T83" fmla="*/ 790 h 891"/>
                <a:gd name="T84" fmla="*/ 780 w 1055"/>
                <a:gd name="T85" fmla="*/ 707 h 891"/>
                <a:gd name="T86" fmla="*/ 839 w 1055"/>
                <a:gd name="T87" fmla="*/ 622 h 891"/>
                <a:gd name="T88" fmla="*/ 887 w 1055"/>
                <a:gd name="T89" fmla="*/ 549 h 891"/>
                <a:gd name="T90" fmla="*/ 915 w 1055"/>
                <a:gd name="T91" fmla="*/ 508 h 891"/>
                <a:gd name="T92" fmla="*/ 978 w 1055"/>
                <a:gd name="T93" fmla="*/ 426 h 891"/>
                <a:gd name="T94" fmla="*/ 1038 w 1055"/>
                <a:gd name="T95" fmla="*/ 349 h 891"/>
                <a:gd name="T96" fmla="*/ 1055 w 1055"/>
                <a:gd name="T97" fmla="*/ 312 h 891"/>
                <a:gd name="T98" fmla="*/ 1048 w 1055"/>
                <a:gd name="T99" fmla="*/ 277 h 891"/>
                <a:gd name="T100" fmla="*/ 1025 w 1055"/>
                <a:gd name="T101" fmla="*/ 254 h 8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55"/>
                <a:gd name="T154" fmla="*/ 0 h 891"/>
                <a:gd name="T155" fmla="*/ 1055 w 1055"/>
                <a:gd name="T156" fmla="*/ 891 h 8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55" h="891">
                  <a:moveTo>
                    <a:pt x="1013" y="249"/>
                  </a:moveTo>
                  <a:lnTo>
                    <a:pt x="1013" y="247"/>
                  </a:lnTo>
                  <a:lnTo>
                    <a:pt x="1007" y="242"/>
                  </a:lnTo>
                  <a:lnTo>
                    <a:pt x="1000" y="237"/>
                  </a:lnTo>
                  <a:lnTo>
                    <a:pt x="993" y="232"/>
                  </a:lnTo>
                  <a:lnTo>
                    <a:pt x="986" y="227"/>
                  </a:lnTo>
                  <a:lnTo>
                    <a:pt x="978" y="223"/>
                  </a:lnTo>
                  <a:lnTo>
                    <a:pt x="971" y="219"/>
                  </a:lnTo>
                  <a:lnTo>
                    <a:pt x="963" y="215"/>
                  </a:lnTo>
                  <a:lnTo>
                    <a:pt x="955" y="213"/>
                  </a:lnTo>
                  <a:lnTo>
                    <a:pt x="960" y="201"/>
                  </a:lnTo>
                  <a:lnTo>
                    <a:pt x="962" y="189"/>
                  </a:lnTo>
                  <a:lnTo>
                    <a:pt x="960" y="176"/>
                  </a:lnTo>
                  <a:lnTo>
                    <a:pt x="955" y="165"/>
                  </a:lnTo>
                  <a:lnTo>
                    <a:pt x="947" y="157"/>
                  </a:lnTo>
                  <a:lnTo>
                    <a:pt x="938" y="152"/>
                  </a:lnTo>
                  <a:lnTo>
                    <a:pt x="928" y="148"/>
                  </a:lnTo>
                  <a:lnTo>
                    <a:pt x="918" y="145"/>
                  </a:lnTo>
                  <a:lnTo>
                    <a:pt x="898" y="140"/>
                  </a:lnTo>
                  <a:lnTo>
                    <a:pt x="879" y="135"/>
                  </a:lnTo>
                  <a:lnTo>
                    <a:pt x="861" y="131"/>
                  </a:lnTo>
                  <a:lnTo>
                    <a:pt x="841" y="127"/>
                  </a:lnTo>
                  <a:lnTo>
                    <a:pt x="823" y="122"/>
                  </a:lnTo>
                  <a:lnTo>
                    <a:pt x="804" y="118"/>
                  </a:lnTo>
                  <a:lnTo>
                    <a:pt x="784" y="114"/>
                  </a:lnTo>
                  <a:lnTo>
                    <a:pt x="765" y="109"/>
                  </a:lnTo>
                  <a:lnTo>
                    <a:pt x="749" y="105"/>
                  </a:lnTo>
                  <a:lnTo>
                    <a:pt x="735" y="102"/>
                  </a:lnTo>
                  <a:lnTo>
                    <a:pt x="721" y="99"/>
                  </a:lnTo>
                  <a:lnTo>
                    <a:pt x="707" y="95"/>
                  </a:lnTo>
                  <a:lnTo>
                    <a:pt x="692" y="91"/>
                  </a:lnTo>
                  <a:lnTo>
                    <a:pt x="678" y="87"/>
                  </a:lnTo>
                  <a:lnTo>
                    <a:pt x="665" y="82"/>
                  </a:lnTo>
                  <a:lnTo>
                    <a:pt x="651" y="77"/>
                  </a:lnTo>
                  <a:lnTo>
                    <a:pt x="638" y="71"/>
                  </a:lnTo>
                  <a:lnTo>
                    <a:pt x="622" y="65"/>
                  </a:lnTo>
                  <a:lnTo>
                    <a:pt x="607" y="57"/>
                  </a:lnTo>
                  <a:lnTo>
                    <a:pt x="589" y="51"/>
                  </a:lnTo>
                  <a:lnTo>
                    <a:pt x="572" y="43"/>
                  </a:lnTo>
                  <a:lnTo>
                    <a:pt x="553" y="35"/>
                  </a:lnTo>
                  <a:lnTo>
                    <a:pt x="534" y="29"/>
                  </a:lnTo>
                  <a:lnTo>
                    <a:pt x="516" y="21"/>
                  </a:lnTo>
                  <a:lnTo>
                    <a:pt x="498" y="16"/>
                  </a:lnTo>
                  <a:lnTo>
                    <a:pt x="481" y="10"/>
                  </a:lnTo>
                  <a:lnTo>
                    <a:pt x="465" y="5"/>
                  </a:lnTo>
                  <a:lnTo>
                    <a:pt x="449" y="3"/>
                  </a:lnTo>
                  <a:lnTo>
                    <a:pt x="435" y="0"/>
                  </a:lnTo>
                  <a:lnTo>
                    <a:pt x="423" y="0"/>
                  </a:lnTo>
                  <a:lnTo>
                    <a:pt x="413" y="1"/>
                  </a:lnTo>
                  <a:lnTo>
                    <a:pt x="405" y="5"/>
                  </a:lnTo>
                  <a:lnTo>
                    <a:pt x="387" y="18"/>
                  </a:lnTo>
                  <a:lnTo>
                    <a:pt x="371" y="34"/>
                  </a:lnTo>
                  <a:lnTo>
                    <a:pt x="357" y="51"/>
                  </a:lnTo>
                  <a:lnTo>
                    <a:pt x="343" y="69"/>
                  </a:lnTo>
                  <a:lnTo>
                    <a:pt x="330" y="88"/>
                  </a:lnTo>
                  <a:lnTo>
                    <a:pt x="317" y="106"/>
                  </a:lnTo>
                  <a:lnTo>
                    <a:pt x="304" y="124"/>
                  </a:lnTo>
                  <a:lnTo>
                    <a:pt x="291" y="143"/>
                  </a:lnTo>
                  <a:lnTo>
                    <a:pt x="278" y="159"/>
                  </a:lnTo>
                  <a:lnTo>
                    <a:pt x="266" y="175"/>
                  </a:lnTo>
                  <a:lnTo>
                    <a:pt x="254" y="190"/>
                  </a:lnTo>
                  <a:lnTo>
                    <a:pt x="242" y="206"/>
                  </a:lnTo>
                  <a:lnTo>
                    <a:pt x="230" y="223"/>
                  </a:lnTo>
                  <a:lnTo>
                    <a:pt x="219" y="238"/>
                  </a:lnTo>
                  <a:lnTo>
                    <a:pt x="208" y="255"/>
                  </a:lnTo>
                  <a:lnTo>
                    <a:pt x="198" y="273"/>
                  </a:lnTo>
                  <a:lnTo>
                    <a:pt x="181" y="303"/>
                  </a:lnTo>
                  <a:lnTo>
                    <a:pt x="156" y="341"/>
                  </a:lnTo>
                  <a:lnTo>
                    <a:pt x="127" y="384"/>
                  </a:lnTo>
                  <a:lnTo>
                    <a:pt x="96" y="429"/>
                  </a:lnTo>
                  <a:lnTo>
                    <a:pt x="65" y="473"/>
                  </a:lnTo>
                  <a:lnTo>
                    <a:pt x="36" y="513"/>
                  </a:lnTo>
                  <a:lnTo>
                    <a:pt x="14" y="545"/>
                  </a:lnTo>
                  <a:lnTo>
                    <a:pt x="0" y="567"/>
                  </a:lnTo>
                  <a:lnTo>
                    <a:pt x="0" y="578"/>
                  </a:lnTo>
                  <a:lnTo>
                    <a:pt x="4" y="597"/>
                  </a:lnTo>
                  <a:lnTo>
                    <a:pt x="8" y="615"/>
                  </a:lnTo>
                  <a:lnTo>
                    <a:pt x="9" y="624"/>
                  </a:lnTo>
                  <a:lnTo>
                    <a:pt x="10" y="628"/>
                  </a:lnTo>
                  <a:lnTo>
                    <a:pt x="13" y="637"/>
                  </a:lnTo>
                  <a:lnTo>
                    <a:pt x="17" y="648"/>
                  </a:lnTo>
                  <a:lnTo>
                    <a:pt x="22" y="661"/>
                  </a:lnTo>
                  <a:lnTo>
                    <a:pt x="27" y="675"/>
                  </a:lnTo>
                  <a:lnTo>
                    <a:pt x="33" y="688"/>
                  </a:lnTo>
                  <a:lnTo>
                    <a:pt x="40" y="698"/>
                  </a:lnTo>
                  <a:lnTo>
                    <a:pt x="48" y="706"/>
                  </a:lnTo>
                  <a:lnTo>
                    <a:pt x="53" y="709"/>
                  </a:lnTo>
                  <a:lnTo>
                    <a:pt x="68" y="716"/>
                  </a:lnTo>
                  <a:lnTo>
                    <a:pt x="85" y="723"/>
                  </a:lnTo>
                  <a:lnTo>
                    <a:pt x="101" y="729"/>
                  </a:lnTo>
                  <a:lnTo>
                    <a:pt x="116" y="737"/>
                  </a:lnTo>
                  <a:lnTo>
                    <a:pt x="133" y="744"/>
                  </a:lnTo>
                  <a:lnTo>
                    <a:pt x="149" y="749"/>
                  </a:lnTo>
                  <a:lnTo>
                    <a:pt x="166" y="755"/>
                  </a:lnTo>
                  <a:lnTo>
                    <a:pt x="181" y="762"/>
                  </a:lnTo>
                  <a:lnTo>
                    <a:pt x="198" y="767"/>
                  </a:lnTo>
                  <a:lnTo>
                    <a:pt x="213" y="773"/>
                  </a:lnTo>
                  <a:lnTo>
                    <a:pt x="230" y="780"/>
                  </a:lnTo>
                  <a:lnTo>
                    <a:pt x="247" y="785"/>
                  </a:lnTo>
                  <a:lnTo>
                    <a:pt x="263" y="792"/>
                  </a:lnTo>
                  <a:lnTo>
                    <a:pt x="279" y="797"/>
                  </a:lnTo>
                  <a:lnTo>
                    <a:pt x="295" y="803"/>
                  </a:lnTo>
                  <a:lnTo>
                    <a:pt x="312" y="810"/>
                  </a:lnTo>
                  <a:lnTo>
                    <a:pt x="330" y="817"/>
                  </a:lnTo>
                  <a:lnTo>
                    <a:pt x="347" y="825"/>
                  </a:lnTo>
                  <a:lnTo>
                    <a:pt x="365" y="833"/>
                  </a:lnTo>
                  <a:lnTo>
                    <a:pt x="382" y="839"/>
                  </a:lnTo>
                  <a:lnTo>
                    <a:pt x="400" y="847"/>
                  </a:lnTo>
                  <a:lnTo>
                    <a:pt x="417" y="855"/>
                  </a:lnTo>
                  <a:lnTo>
                    <a:pt x="435" y="861"/>
                  </a:lnTo>
                  <a:lnTo>
                    <a:pt x="453" y="867"/>
                  </a:lnTo>
                  <a:lnTo>
                    <a:pt x="479" y="874"/>
                  </a:lnTo>
                  <a:lnTo>
                    <a:pt x="505" y="881"/>
                  </a:lnTo>
                  <a:lnTo>
                    <a:pt x="531" y="887"/>
                  </a:lnTo>
                  <a:lnTo>
                    <a:pt x="558" y="891"/>
                  </a:lnTo>
                  <a:lnTo>
                    <a:pt x="584" y="891"/>
                  </a:lnTo>
                  <a:lnTo>
                    <a:pt x="610" y="887"/>
                  </a:lnTo>
                  <a:lnTo>
                    <a:pt x="633" y="880"/>
                  </a:lnTo>
                  <a:lnTo>
                    <a:pt x="656" y="864"/>
                  </a:lnTo>
                  <a:lnTo>
                    <a:pt x="669" y="851"/>
                  </a:lnTo>
                  <a:lnTo>
                    <a:pt x="685" y="834"/>
                  </a:lnTo>
                  <a:lnTo>
                    <a:pt x="701" y="814"/>
                  </a:lnTo>
                  <a:lnTo>
                    <a:pt x="721" y="790"/>
                  </a:lnTo>
                  <a:lnTo>
                    <a:pt x="740" y="764"/>
                  </a:lnTo>
                  <a:lnTo>
                    <a:pt x="760" y="736"/>
                  </a:lnTo>
                  <a:lnTo>
                    <a:pt x="780" y="707"/>
                  </a:lnTo>
                  <a:lnTo>
                    <a:pt x="800" y="678"/>
                  </a:lnTo>
                  <a:lnTo>
                    <a:pt x="819" y="649"/>
                  </a:lnTo>
                  <a:lnTo>
                    <a:pt x="839" y="622"/>
                  </a:lnTo>
                  <a:lnTo>
                    <a:pt x="857" y="595"/>
                  </a:lnTo>
                  <a:lnTo>
                    <a:pt x="872" y="570"/>
                  </a:lnTo>
                  <a:lnTo>
                    <a:pt x="887" y="549"/>
                  </a:lnTo>
                  <a:lnTo>
                    <a:pt x="899" y="531"/>
                  </a:lnTo>
                  <a:lnTo>
                    <a:pt x="909" y="517"/>
                  </a:lnTo>
                  <a:lnTo>
                    <a:pt x="915" y="508"/>
                  </a:lnTo>
                  <a:lnTo>
                    <a:pt x="933" y="483"/>
                  </a:lnTo>
                  <a:lnTo>
                    <a:pt x="955" y="456"/>
                  </a:lnTo>
                  <a:lnTo>
                    <a:pt x="978" y="426"/>
                  </a:lnTo>
                  <a:lnTo>
                    <a:pt x="1000" y="396"/>
                  </a:lnTo>
                  <a:lnTo>
                    <a:pt x="1021" y="371"/>
                  </a:lnTo>
                  <a:lnTo>
                    <a:pt x="1038" y="349"/>
                  </a:lnTo>
                  <a:lnTo>
                    <a:pt x="1050" y="333"/>
                  </a:lnTo>
                  <a:lnTo>
                    <a:pt x="1053" y="325"/>
                  </a:lnTo>
                  <a:lnTo>
                    <a:pt x="1055" y="312"/>
                  </a:lnTo>
                  <a:lnTo>
                    <a:pt x="1055" y="301"/>
                  </a:lnTo>
                  <a:lnTo>
                    <a:pt x="1052" y="289"/>
                  </a:lnTo>
                  <a:lnTo>
                    <a:pt x="1048" y="277"/>
                  </a:lnTo>
                  <a:lnTo>
                    <a:pt x="1042" y="268"/>
                  </a:lnTo>
                  <a:lnTo>
                    <a:pt x="1034" y="260"/>
                  </a:lnTo>
                  <a:lnTo>
                    <a:pt x="1025" y="254"/>
                  </a:lnTo>
                  <a:lnTo>
                    <a:pt x="1013" y="2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 name="Freeform 21"/>
            <p:cNvSpPr>
              <a:spLocks/>
            </p:cNvSpPr>
            <p:nvPr/>
          </p:nvSpPr>
          <p:spPr bwMode="auto">
            <a:xfrm>
              <a:off x="2158" y="2782"/>
              <a:ext cx="151" cy="211"/>
            </a:xfrm>
            <a:custGeom>
              <a:avLst/>
              <a:gdLst>
                <a:gd name="T0" fmla="*/ 151 w 151"/>
                <a:gd name="T1" fmla="*/ 27 h 211"/>
                <a:gd name="T2" fmla="*/ 148 w 151"/>
                <a:gd name="T3" fmla="*/ 32 h 211"/>
                <a:gd name="T4" fmla="*/ 141 w 151"/>
                <a:gd name="T5" fmla="*/ 42 h 211"/>
                <a:gd name="T6" fmla="*/ 131 w 151"/>
                <a:gd name="T7" fmla="*/ 54 h 211"/>
                <a:gd name="T8" fmla="*/ 118 w 151"/>
                <a:gd name="T9" fmla="*/ 69 h 211"/>
                <a:gd name="T10" fmla="*/ 105 w 151"/>
                <a:gd name="T11" fmla="*/ 83 h 211"/>
                <a:gd name="T12" fmla="*/ 95 w 151"/>
                <a:gd name="T13" fmla="*/ 96 h 211"/>
                <a:gd name="T14" fmla="*/ 88 w 151"/>
                <a:gd name="T15" fmla="*/ 105 h 211"/>
                <a:gd name="T16" fmla="*/ 86 w 151"/>
                <a:gd name="T17" fmla="*/ 109 h 211"/>
                <a:gd name="T18" fmla="*/ 87 w 151"/>
                <a:gd name="T19" fmla="*/ 110 h 211"/>
                <a:gd name="T20" fmla="*/ 91 w 151"/>
                <a:gd name="T21" fmla="*/ 113 h 211"/>
                <a:gd name="T22" fmla="*/ 96 w 151"/>
                <a:gd name="T23" fmla="*/ 117 h 211"/>
                <a:gd name="T24" fmla="*/ 104 w 151"/>
                <a:gd name="T25" fmla="*/ 121 h 211"/>
                <a:gd name="T26" fmla="*/ 113 w 151"/>
                <a:gd name="T27" fmla="*/ 126 h 211"/>
                <a:gd name="T28" fmla="*/ 122 w 151"/>
                <a:gd name="T29" fmla="*/ 130 h 211"/>
                <a:gd name="T30" fmla="*/ 131 w 151"/>
                <a:gd name="T31" fmla="*/ 132 h 211"/>
                <a:gd name="T32" fmla="*/ 141 w 151"/>
                <a:gd name="T33" fmla="*/ 132 h 211"/>
                <a:gd name="T34" fmla="*/ 134 w 151"/>
                <a:gd name="T35" fmla="*/ 137 h 211"/>
                <a:gd name="T36" fmla="*/ 126 w 151"/>
                <a:gd name="T37" fmla="*/ 144 h 211"/>
                <a:gd name="T38" fmla="*/ 119 w 151"/>
                <a:gd name="T39" fmla="*/ 152 h 211"/>
                <a:gd name="T40" fmla="*/ 113 w 151"/>
                <a:gd name="T41" fmla="*/ 159 h 211"/>
                <a:gd name="T42" fmla="*/ 109 w 151"/>
                <a:gd name="T43" fmla="*/ 154 h 211"/>
                <a:gd name="T44" fmla="*/ 105 w 151"/>
                <a:gd name="T45" fmla="*/ 145 h 211"/>
                <a:gd name="T46" fmla="*/ 100 w 151"/>
                <a:gd name="T47" fmla="*/ 136 h 211"/>
                <a:gd name="T48" fmla="*/ 99 w 151"/>
                <a:gd name="T49" fmla="*/ 132 h 211"/>
                <a:gd name="T50" fmla="*/ 95 w 151"/>
                <a:gd name="T51" fmla="*/ 135 h 211"/>
                <a:gd name="T52" fmla="*/ 87 w 151"/>
                <a:gd name="T53" fmla="*/ 144 h 211"/>
                <a:gd name="T54" fmla="*/ 75 w 151"/>
                <a:gd name="T55" fmla="*/ 157 h 211"/>
                <a:gd name="T56" fmla="*/ 64 w 151"/>
                <a:gd name="T57" fmla="*/ 171 h 211"/>
                <a:gd name="T58" fmla="*/ 51 w 151"/>
                <a:gd name="T59" fmla="*/ 185 h 211"/>
                <a:gd name="T60" fmla="*/ 41 w 151"/>
                <a:gd name="T61" fmla="*/ 198 h 211"/>
                <a:gd name="T62" fmla="*/ 33 w 151"/>
                <a:gd name="T63" fmla="*/ 207 h 211"/>
                <a:gd name="T64" fmla="*/ 30 w 151"/>
                <a:gd name="T65" fmla="*/ 211 h 211"/>
                <a:gd name="T66" fmla="*/ 20 w 151"/>
                <a:gd name="T67" fmla="*/ 201 h 211"/>
                <a:gd name="T68" fmla="*/ 11 w 151"/>
                <a:gd name="T69" fmla="*/ 192 h 211"/>
                <a:gd name="T70" fmla="*/ 3 w 151"/>
                <a:gd name="T71" fmla="*/ 184 h 211"/>
                <a:gd name="T72" fmla="*/ 0 w 151"/>
                <a:gd name="T73" fmla="*/ 180 h 211"/>
                <a:gd name="T74" fmla="*/ 17 w 151"/>
                <a:gd name="T75" fmla="*/ 163 h 211"/>
                <a:gd name="T76" fmla="*/ 37 w 151"/>
                <a:gd name="T77" fmla="*/ 139 h 211"/>
                <a:gd name="T78" fmla="*/ 57 w 151"/>
                <a:gd name="T79" fmla="*/ 111 h 211"/>
                <a:gd name="T80" fmla="*/ 79 w 151"/>
                <a:gd name="T81" fmla="*/ 83 h 211"/>
                <a:gd name="T82" fmla="*/ 100 w 151"/>
                <a:gd name="T83" fmla="*/ 56 h 211"/>
                <a:gd name="T84" fmla="*/ 118 w 151"/>
                <a:gd name="T85" fmla="*/ 31 h 211"/>
                <a:gd name="T86" fmla="*/ 132 w 151"/>
                <a:gd name="T87" fmla="*/ 12 h 211"/>
                <a:gd name="T88" fmla="*/ 141 w 151"/>
                <a:gd name="T89" fmla="*/ 0 h 211"/>
                <a:gd name="T90" fmla="*/ 144 w 151"/>
                <a:gd name="T91" fmla="*/ 7 h 211"/>
                <a:gd name="T92" fmla="*/ 145 w 151"/>
                <a:gd name="T93" fmla="*/ 13 h 211"/>
                <a:gd name="T94" fmla="*/ 148 w 151"/>
                <a:gd name="T95" fmla="*/ 21 h 211"/>
                <a:gd name="T96" fmla="*/ 151 w 151"/>
                <a:gd name="T97" fmla="*/ 27 h 21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51"/>
                <a:gd name="T148" fmla="*/ 0 h 211"/>
                <a:gd name="T149" fmla="*/ 151 w 151"/>
                <a:gd name="T150" fmla="*/ 211 h 21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51" h="211">
                  <a:moveTo>
                    <a:pt x="151" y="27"/>
                  </a:moveTo>
                  <a:lnTo>
                    <a:pt x="148" y="32"/>
                  </a:lnTo>
                  <a:lnTo>
                    <a:pt x="141" y="42"/>
                  </a:lnTo>
                  <a:lnTo>
                    <a:pt x="131" y="54"/>
                  </a:lnTo>
                  <a:lnTo>
                    <a:pt x="118" y="69"/>
                  </a:lnTo>
                  <a:lnTo>
                    <a:pt x="105" y="83"/>
                  </a:lnTo>
                  <a:lnTo>
                    <a:pt x="95" y="96"/>
                  </a:lnTo>
                  <a:lnTo>
                    <a:pt x="88" y="105"/>
                  </a:lnTo>
                  <a:lnTo>
                    <a:pt x="86" y="109"/>
                  </a:lnTo>
                  <a:lnTo>
                    <a:pt x="87" y="110"/>
                  </a:lnTo>
                  <a:lnTo>
                    <a:pt x="91" y="113"/>
                  </a:lnTo>
                  <a:lnTo>
                    <a:pt x="96" y="117"/>
                  </a:lnTo>
                  <a:lnTo>
                    <a:pt x="104" y="121"/>
                  </a:lnTo>
                  <a:lnTo>
                    <a:pt x="113" y="126"/>
                  </a:lnTo>
                  <a:lnTo>
                    <a:pt x="122" y="130"/>
                  </a:lnTo>
                  <a:lnTo>
                    <a:pt x="131" y="132"/>
                  </a:lnTo>
                  <a:lnTo>
                    <a:pt x="141" y="132"/>
                  </a:lnTo>
                  <a:lnTo>
                    <a:pt x="134" y="137"/>
                  </a:lnTo>
                  <a:lnTo>
                    <a:pt x="126" y="144"/>
                  </a:lnTo>
                  <a:lnTo>
                    <a:pt x="119" y="152"/>
                  </a:lnTo>
                  <a:lnTo>
                    <a:pt x="113" y="159"/>
                  </a:lnTo>
                  <a:lnTo>
                    <a:pt x="109" y="154"/>
                  </a:lnTo>
                  <a:lnTo>
                    <a:pt x="105" y="145"/>
                  </a:lnTo>
                  <a:lnTo>
                    <a:pt x="100" y="136"/>
                  </a:lnTo>
                  <a:lnTo>
                    <a:pt x="99" y="132"/>
                  </a:lnTo>
                  <a:lnTo>
                    <a:pt x="95" y="135"/>
                  </a:lnTo>
                  <a:lnTo>
                    <a:pt x="87" y="144"/>
                  </a:lnTo>
                  <a:lnTo>
                    <a:pt x="75" y="157"/>
                  </a:lnTo>
                  <a:lnTo>
                    <a:pt x="64" y="171"/>
                  </a:lnTo>
                  <a:lnTo>
                    <a:pt x="51" y="185"/>
                  </a:lnTo>
                  <a:lnTo>
                    <a:pt x="41" y="198"/>
                  </a:lnTo>
                  <a:lnTo>
                    <a:pt x="33" y="207"/>
                  </a:lnTo>
                  <a:lnTo>
                    <a:pt x="30" y="211"/>
                  </a:lnTo>
                  <a:lnTo>
                    <a:pt x="20" y="201"/>
                  </a:lnTo>
                  <a:lnTo>
                    <a:pt x="11" y="192"/>
                  </a:lnTo>
                  <a:lnTo>
                    <a:pt x="3" y="184"/>
                  </a:lnTo>
                  <a:lnTo>
                    <a:pt x="0" y="180"/>
                  </a:lnTo>
                  <a:lnTo>
                    <a:pt x="17" y="163"/>
                  </a:lnTo>
                  <a:lnTo>
                    <a:pt x="37" y="139"/>
                  </a:lnTo>
                  <a:lnTo>
                    <a:pt x="57" y="111"/>
                  </a:lnTo>
                  <a:lnTo>
                    <a:pt x="79" y="83"/>
                  </a:lnTo>
                  <a:lnTo>
                    <a:pt x="100" y="56"/>
                  </a:lnTo>
                  <a:lnTo>
                    <a:pt x="118" y="31"/>
                  </a:lnTo>
                  <a:lnTo>
                    <a:pt x="132" y="12"/>
                  </a:lnTo>
                  <a:lnTo>
                    <a:pt x="141" y="0"/>
                  </a:lnTo>
                  <a:lnTo>
                    <a:pt x="144" y="7"/>
                  </a:lnTo>
                  <a:lnTo>
                    <a:pt x="145" y="13"/>
                  </a:lnTo>
                  <a:lnTo>
                    <a:pt x="148" y="21"/>
                  </a:lnTo>
                  <a:lnTo>
                    <a:pt x="151" y="27"/>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 name="Freeform 22"/>
            <p:cNvSpPr>
              <a:spLocks/>
            </p:cNvSpPr>
            <p:nvPr/>
          </p:nvSpPr>
          <p:spPr bwMode="auto">
            <a:xfrm>
              <a:off x="2271" y="2834"/>
              <a:ext cx="58" cy="65"/>
            </a:xfrm>
            <a:custGeom>
              <a:avLst/>
              <a:gdLst>
                <a:gd name="T0" fmla="*/ 44 w 58"/>
                <a:gd name="T1" fmla="*/ 0 h 65"/>
                <a:gd name="T2" fmla="*/ 53 w 58"/>
                <a:gd name="T3" fmla="*/ 17 h 65"/>
                <a:gd name="T4" fmla="*/ 57 w 58"/>
                <a:gd name="T5" fmla="*/ 31 h 65"/>
                <a:gd name="T6" fmla="*/ 57 w 58"/>
                <a:gd name="T7" fmla="*/ 41 h 65"/>
                <a:gd name="T8" fmla="*/ 58 w 58"/>
                <a:gd name="T9" fmla="*/ 47 h 65"/>
                <a:gd name="T10" fmla="*/ 56 w 58"/>
                <a:gd name="T11" fmla="*/ 52 h 65"/>
                <a:gd name="T12" fmla="*/ 54 w 58"/>
                <a:gd name="T13" fmla="*/ 56 h 65"/>
                <a:gd name="T14" fmla="*/ 52 w 58"/>
                <a:gd name="T15" fmla="*/ 58 h 65"/>
                <a:gd name="T16" fmla="*/ 45 w 58"/>
                <a:gd name="T17" fmla="*/ 61 h 65"/>
                <a:gd name="T18" fmla="*/ 39 w 58"/>
                <a:gd name="T19" fmla="*/ 63 h 65"/>
                <a:gd name="T20" fmla="*/ 34 w 58"/>
                <a:gd name="T21" fmla="*/ 65 h 65"/>
                <a:gd name="T22" fmla="*/ 30 w 58"/>
                <a:gd name="T23" fmla="*/ 65 h 65"/>
                <a:gd name="T24" fmla="*/ 25 w 58"/>
                <a:gd name="T25" fmla="*/ 63 h 65"/>
                <a:gd name="T26" fmla="*/ 19 w 58"/>
                <a:gd name="T27" fmla="*/ 61 h 65"/>
                <a:gd name="T28" fmla="*/ 14 w 58"/>
                <a:gd name="T29" fmla="*/ 58 h 65"/>
                <a:gd name="T30" fmla="*/ 8 w 58"/>
                <a:gd name="T31" fmla="*/ 56 h 65"/>
                <a:gd name="T32" fmla="*/ 0 w 58"/>
                <a:gd name="T33" fmla="*/ 52 h 65"/>
                <a:gd name="T34" fmla="*/ 3 w 58"/>
                <a:gd name="T35" fmla="*/ 48 h 65"/>
                <a:gd name="T36" fmla="*/ 8 w 58"/>
                <a:gd name="T37" fmla="*/ 40 h 65"/>
                <a:gd name="T38" fmla="*/ 14 w 58"/>
                <a:gd name="T39" fmla="*/ 32 h 65"/>
                <a:gd name="T40" fmla="*/ 22 w 58"/>
                <a:gd name="T41" fmla="*/ 22 h 65"/>
                <a:gd name="T42" fmla="*/ 30 w 58"/>
                <a:gd name="T43" fmla="*/ 13 h 65"/>
                <a:gd name="T44" fmla="*/ 36 w 58"/>
                <a:gd name="T45" fmla="*/ 6 h 65"/>
                <a:gd name="T46" fmla="*/ 41 w 58"/>
                <a:gd name="T47" fmla="*/ 1 h 65"/>
                <a:gd name="T48" fmla="*/ 44 w 58"/>
                <a:gd name="T49" fmla="*/ 0 h 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8"/>
                <a:gd name="T76" fmla="*/ 0 h 65"/>
                <a:gd name="T77" fmla="*/ 58 w 58"/>
                <a:gd name="T78" fmla="*/ 65 h 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8" h="65">
                  <a:moveTo>
                    <a:pt x="44" y="0"/>
                  </a:moveTo>
                  <a:lnTo>
                    <a:pt x="53" y="17"/>
                  </a:lnTo>
                  <a:lnTo>
                    <a:pt x="57" y="31"/>
                  </a:lnTo>
                  <a:lnTo>
                    <a:pt x="57" y="41"/>
                  </a:lnTo>
                  <a:lnTo>
                    <a:pt x="58" y="47"/>
                  </a:lnTo>
                  <a:lnTo>
                    <a:pt x="56" y="52"/>
                  </a:lnTo>
                  <a:lnTo>
                    <a:pt x="54" y="56"/>
                  </a:lnTo>
                  <a:lnTo>
                    <a:pt x="52" y="58"/>
                  </a:lnTo>
                  <a:lnTo>
                    <a:pt x="45" y="61"/>
                  </a:lnTo>
                  <a:lnTo>
                    <a:pt x="39" y="63"/>
                  </a:lnTo>
                  <a:lnTo>
                    <a:pt x="34" y="65"/>
                  </a:lnTo>
                  <a:lnTo>
                    <a:pt x="30" y="65"/>
                  </a:lnTo>
                  <a:lnTo>
                    <a:pt x="25" y="63"/>
                  </a:lnTo>
                  <a:lnTo>
                    <a:pt x="19" y="61"/>
                  </a:lnTo>
                  <a:lnTo>
                    <a:pt x="14" y="58"/>
                  </a:lnTo>
                  <a:lnTo>
                    <a:pt x="8" y="56"/>
                  </a:lnTo>
                  <a:lnTo>
                    <a:pt x="0" y="52"/>
                  </a:lnTo>
                  <a:lnTo>
                    <a:pt x="3" y="48"/>
                  </a:lnTo>
                  <a:lnTo>
                    <a:pt x="8" y="40"/>
                  </a:lnTo>
                  <a:lnTo>
                    <a:pt x="14" y="32"/>
                  </a:lnTo>
                  <a:lnTo>
                    <a:pt x="22" y="22"/>
                  </a:lnTo>
                  <a:lnTo>
                    <a:pt x="30" y="13"/>
                  </a:lnTo>
                  <a:lnTo>
                    <a:pt x="36" y="6"/>
                  </a:lnTo>
                  <a:lnTo>
                    <a:pt x="41" y="1"/>
                  </a:lnTo>
                  <a:lnTo>
                    <a:pt x="44" y="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 name="Freeform 23"/>
            <p:cNvSpPr>
              <a:spLocks/>
            </p:cNvSpPr>
            <p:nvPr/>
          </p:nvSpPr>
          <p:spPr bwMode="auto">
            <a:xfrm>
              <a:off x="2201" y="3015"/>
              <a:ext cx="34" cy="24"/>
            </a:xfrm>
            <a:custGeom>
              <a:avLst/>
              <a:gdLst>
                <a:gd name="T0" fmla="*/ 34 w 34"/>
                <a:gd name="T1" fmla="*/ 3 h 24"/>
                <a:gd name="T2" fmla="*/ 29 w 34"/>
                <a:gd name="T3" fmla="*/ 7 h 24"/>
                <a:gd name="T4" fmla="*/ 23 w 34"/>
                <a:gd name="T5" fmla="*/ 12 h 24"/>
                <a:gd name="T6" fmla="*/ 20 w 34"/>
                <a:gd name="T7" fmla="*/ 18 h 24"/>
                <a:gd name="T8" fmla="*/ 16 w 34"/>
                <a:gd name="T9" fmla="*/ 24 h 24"/>
                <a:gd name="T10" fmla="*/ 12 w 34"/>
                <a:gd name="T11" fmla="*/ 17 h 24"/>
                <a:gd name="T12" fmla="*/ 8 w 34"/>
                <a:gd name="T13" fmla="*/ 12 h 24"/>
                <a:gd name="T14" fmla="*/ 4 w 34"/>
                <a:gd name="T15" fmla="*/ 5 h 24"/>
                <a:gd name="T16" fmla="*/ 0 w 34"/>
                <a:gd name="T17" fmla="*/ 0 h 24"/>
                <a:gd name="T18" fmla="*/ 8 w 34"/>
                <a:gd name="T19" fmla="*/ 3 h 24"/>
                <a:gd name="T20" fmla="*/ 17 w 34"/>
                <a:gd name="T21" fmla="*/ 3 h 24"/>
                <a:gd name="T22" fmla="*/ 25 w 34"/>
                <a:gd name="T23" fmla="*/ 4 h 24"/>
                <a:gd name="T24" fmla="*/ 34 w 34"/>
                <a:gd name="T25" fmla="*/ 3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24"/>
                <a:gd name="T41" fmla="*/ 34 w 34"/>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24">
                  <a:moveTo>
                    <a:pt x="34" y="3"/>
                  </a:moveTo>
                  <a:lnTo>
                    <a:pt x="29" y="7"/>
                  </a:lnTo>
                  <a:lnTo>
                    <a:pt x="23" y="12"/>
                  </a:lnTo>
                  <a:lnTo>
                    <a:pt x="20" y="18"/>
                  </a:lnTo>
                  <a:lnTo>
                    <a:pt x="16" y="24"/>
                  </a:lnTo>
                  <a:lnTo>
                    <a:pt x="12" y="17"/>
                  </a:lnTo>
                  <a:lnTo>
                    <a:pt x="8" y="12"/>
                  </a:lnTo>
                  <a:lnTo>
                    <a:pt x="4" y="5"/>
                  </a:lnTo>
                  <a:lnTo>
                    <a:pt x="0" y="0"/>
                  </a:lnTo>
                  <a:lnTo>
                    <a:pt x="8" y="3"/>
                  </a:lnTo>
                  <a:lnTo>
                    <a:pt x="17" y="3"/>
                  </a:lnTo>
                  <a:lnTo>
                    <a:pt x="25" y="4"/>
                  </a:lnTo>
                  <a:lnTo>
                    <a:pt x="34" y="3"/>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 name="Freeform 24"/>
            <p:cNvSpPr>
              <a:spLocks/>
            </p:cNvSpPr>
            <p:nvPr/>
          </p:nvSpPr>
          <p:spPr bwMode="auto">
            <a:xfrm>
              <a:off x="1392" y="2572"/>
              <a:ext cx="892" cy="726"/>
            </a:xfrm>
            <a:custGeom>
              <a:avLst/>
              <a:gdLst>
                <a:gd name="T0" fmla="*/ 199 w 892"/>
                <a:gd name="T1" fmla="*/ 233 h 726"/>
                <a:gd name="T2" fmla="*/ 232 w 892"/>
                <a:gd name="T3" fmla="*/ 192 h 726"/>
                <a:gd name="T4" fmla="*/ 265 w 892"/>
                <a:gd name="T5" fmla="*/ 150 h 726"/>
                <a:gd name="T6" fmla="*/ 303 w 892"/>
                <a:gd name="T7" fmla="*/ 95 h 726"/>
                <a:gd name="T8" fmla="*/ 338 w 892"/>
                <a:gd name="T9" fmla="*/ 44 h 726"/>
                <a:gd name="T10" fmla="*/ 379 w 892"/>
                <a:gd name="T11" fmla="*/ 7 h 726"/>
                <a:gd name="T12" fmla="*/ 403 w 892"/>
                <a:gd name="T13" fmla="*/ 0 h 726"/>
                <a:gd name="T14" fmla="*/ 482 w 892"/>
                <a:gd name="T15" fmla="*/ 29 h 726"/>
                <a:gd name="T16" fmla="*/ 555 w 892"/>
                <a:gd name="T17" fmla="*/ 55 h 726"/>
                <a:gd name="T18" fmla="*/ 624 w 892"/>
                <a:gd name="T19" fmla="*/ 82 h 726"/>
                <a:gd name="T20" fmla="*/ 673 w 892"/>
                <a:gd name="T21" fmla="*/ 99 h 726"/>
                <a:gd name="T22" fmla="*/ 721 w 892"/>
                <a:gd name="T23" fmla="*/ 112 h 726"/>
                <a:gd name="T24" fmla="*/ 770 w 892"/>
                <a:gd name="T25" fmla="*/ 122 h 726"/>
                <a:gd name="T26" fmla="*/ 819 w 892"/>
                <a:gd name="T27" fmla="*/ 132 h 726"/>
                <a:gd name="T28" fmla="*/ 873 w 892"/>
                <a:gd name="T29" fmla="*/ 145 h 726"/>
                <a:gd name="T30" fmla="*/ 892 w 892"/>
                <a:gd name="T31" fmla="*/ 179 h 726"/>
                <a:gd name="T32" fmla="*/ 874 w 892"/>
                <a:gd name="T33" fmla="*/ 207 h 726"/>
                <a:gd name="T34" fmla="*/ 860 w 892"/>
                <a:gd name="T35" fmla="*/ 228 h 726"/>
                <a:gd name="T36" fmla="*/ 843 w 892"/>
                <a:gd name="T37" fmla="*/ 250 h 726"/>
                <a:gd name="T38" fmla="*/ 799 w 892"/>
                <a:gd name="T39" fmla="*/ 310 h 726"/>
                <a:gd name="T40" fmla="*/ 755 w 892"/>
                <a:gd name="T41" fmla="*/ 367 h 726"/>
                <a:gd name="T42" fmla="*/ 729 w 892"/>
                <a:gd name="T43" fmla="*/ 372 h 726"/>
                <a:gd name="T44" fmla="*/ 687 w 892"/>
                <a:gd name="T45" fmla="*/ 359 h 726"/>
                <a:gd name="T46" fmla="*/ 645 w 892"/>
                <a:gd name="T47" fmla="*/ 356 h 726"/>
                <a:gd name="T48" fmla="*/ 610 w 892"/>
                <a:gd name="T49" fmla="*/ 363 h 726"/>
                <a:gd name="T50" fmla="*/ 586 w 892"/>
                <a:gd name="T51" fmla="*/ 384 h 726"/>
                <a:gd name="T52" fmla="*/ 577 w 892"/>
                <a:gd name="T53" fmla="*/ 411 h 726"/>
                <a:gd name="T54" fmla="*/ 598 w 892"/>
                <a:gd name="T55" fmla="*/ 451 h 726"/>
                <a:gd name="T56" fmla="*/ 646 w 892"/>
                <a:gd name="T57" fmla="*/ 469 h 726"/>
                <a:gd name="T58" fmla="*/ 674 w 892"/>
                <a:gd name="T59" fmla="*/ 487 h 726"/>
                <a:gd name="T60" fmla="*/ 619 w 892"/>
                <a:gd name="T61" fmla="*/ 573 h 726"/>
                <a:gd name="T62" fmla="*/ 533 w 892"/>
                <a:gd name="T63" fmla="*/ 687 h 726"/>
                <a:gd name="T64" fmla="*/ 492 w 892"/>
                <a:gd name="T65" fmla="*/ 723 h 726"/>
                <a:gd name="T66" fmla="*/ 466 w 892"/>
                <a:gd name="T67" fmla="*/ 726 h 726"/>
                <a:gd name="T68" fmla="*/ 443 w 892"/>
                <a:gd name="T69" fmla="*/ 723 h 726"/>
                <a:gd name="T70" fmla="*/ 370 w 892"/>
                <a:gd name="T71" fmla="*/ 702 h 726"/>
                <a:gd name="T72" fmla="*/ 304 w 892"/>
                <a:gd name="T73" fmla="*/ 678 h 726"/>
                <a:gd name="T74" fmla="*/ 268 w 892"/>
                <a:gd name="T75" fmla="*/ 663 h 726"/>
                <a:gd name="T76" fmla="*/ 216 w 892"/>
                <a:gd name="T77" fmla="*/ 645 h 726"/>
                <a:gd name="T78" fmla="*/ 163 w 892"/>
                <a:gd name="T79" fmla="*/ 626 h 726"/>
                <a:gd name="T80" fmla="*/ 111 w 892"/>
                <a:gd name="T81" fmla="*/ 608 h 726"/>
                <a:gd name="T82" fmla="*/ 58 w 892"/>
                <a:gd name="T83" fmla="*/ 588 h 726"/>
                <a:gd name="T84" fmla="*/ 7 w 892"/>
                <a:gd name="T85" fmla="*/ 568 h 726"/>
                <a:gd name="T86" fmla="*/ 1 w 892"/>
                <a:gd name="T87" fmla="*/ 560 h 726"/>
                <a:gd name="T88" fmla="*/ 44 w 892"/>
                <a:gd name="T89" fmla="*/ 483 h 726"/>
                <a:gd name="T90" fmla="*/ 115 w 892"/>
                <a:gd name="T91" fmla="*/ 376 h 726"/>
                <a:gd name="T92" fmla="*/ 181 w 892"/>
                <a:gd name="T93" fmla="*/ 263 h 72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92"/>
                <a:gd name="T142" fmla="*/ 0 h 726"/>
                <a:gd name="T143" fmla="*/ 892 w 892"/>
                <a:gd name="T144" fmla="*/ 726 h 72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92" h="726">
                  <a:moveTo>
                    <a:pt x="181" y="263"/>
                  </a:moveTo>
                  <a:lnTo>
                    <a:pt x="189" y="248"/>
                  </a:lnTo>
                  <a:lnTo>
                    <a:pt x="199" y="233"/>
                  </a:lnTo>
                  <a:lnTo>
                    <a:pt x="210" y="219"/>
                  </a:lnTo>
                  <a:lnTo>
                    <a:pt x="220" y="205"/>
                  </a:lnTo>
                  <a:lnTo>
                    <a:pt x="232" y="192"/>
                  </a:lnTo>
                  <a:lnTo>
                    <a:pt x="242" y="178"/>
                  </a:lnTo>
                  <a:lnTo>
                    <a:pt x="254" y="165"/>
                  </a:lnTo>
                  <a:lnTo>
                    <a:pt x="265" y="150"/>
                  </a:lnTo>
                  <a:lnTo>
                    <a:pt x="280" y="132"/>
                  </a:lnTo>
                  <a:lnTo>
                    <a:pt x="291" y="113"/>
                  </a:lnTo>
                  <a:lnTo>
                    <a:pt x="303" y="95"/>
                  </a:lnTo>
                  <a:lnTo>
                    <a:pt x="315" y="78"/>
                  </a:lnTo>
                  <a:lnTo>
                    <a:pt x="325" y="61"/>
                  </a:lnTo>
                  <a:lnTo>
                    <a:pt x="338" y="44"/>
                  </a:lnTo>
                  <a:lnTo>
                    <a:pt x="353" y="27"/>
                  </a:lnTo>
                  <a:lnTo>
                    <a:pt x="370" y="12"/>
                  </a:lnTo>
                  <a:lnTo>
                    <a:pt x="379" y="7"/>
                  </a:lnTo>
                  <a:lnTo>
                    <a:pt x="391" y="3"/>
                  </a:lnTo>
                  <a:lnTo>
                    <a:pt x="399" y="0"/>
                  </a:lnTo>
                  <a:lnTo>
                    <a:pt x="403" y="0"/>
                  </a:lnTo>
                  <a:lnTo>
                    <a:pt x="430" y="11"/>
                  </a:lnTo>
                  <a:lnTo>
                    <a:pt x="456" y="21"/>
                  </a:lnTo>
                  <a:lnTo>
                    <a:pt x="482" y="29"/>
                  </a:lnTo>
                  <a:lnTo>
                    <a:pt x="506" y="38"/>
                  </a:lnTo>
                  <a:lnTo>
                    <a:pt x="531" y="47"/>
                  </a:lnTo>
                  <a:lnTo>
                    <a:pt x="555" y="55"/>
                  </a:lnTo>
                  <a:lnTo>
                    <a:pt x="581" y="65"/>
                  </a:lnTo>
                  <a:lnTo>
                    <a:pt x="607" y="75"/>
                  </a:lnTo>
                  <a:lnTo>
                    <a:pt x="624" y="82"/>
                  </a:lnTo>
                  <a:lnTo>
                    <a:pt x="641" y="88"/>
                  </a:lnTo>
                  <a:lnTo>
                    <a:pt x="656" y="93"/>
                  </a:lnTo>
                  <a:lnTo>
                    <a:pt x="673" y="99"/>
                  </a:lnTo>
                  <a:lnTo>
                    <a:pt x="689" y="104"/>
                  </a:lnTo>
                  <a:lnTo>
                    <a:pt x="706" y="108"/>
                  </a:lnTo>
                  <a:lnTo>
                    <a:pt x="721" y="112"/>
                  </a:lnTo>
                  <a:lnTo>
                    <a:pt x="738" y="115"/>
                  </a:lnTo>
                  <a:lnTo>
                    <a:pt x="753" y="119"/>
                  </a:lnTo>
                  <a:lnTo>
                    <a:pt x="770" y="122"/>
                  </a:lnTo>
                  <a:lnTo>
                    <a:pt x="786" y="126"/>
                  </a:lnTo>
                  <a:lnTo>
                    <a:pt x="803" y="130"/>
                  </a:lnTo>
                  <a:lnTo>
                    <a:pt x="819" y="132"/>
                  </a:lnTo>
                  <a:lnTo>
                    <a:pt x="838" y="136"/>
                  </a:lnTo>
                  <a:lnTo>
                    <a:pt x="854" y="141"/>
                  </a:lnTo>
                  <a:lnTo>
                    <a:pt x="873" y="145"/>
                  </a:lnTo>
                  <a:lnTo>
                    <a:pt x="885" y="153"/>
                  </a:lnTo>
                  <a:lnTo>
                    <a:pt x="892" y="165"/>
                  </a:lnTo>
                  <a:lnTo>
                    <a:pt x="892" y="179"/>
                  </a:lnTo>
                  <a:lnTo>
                    <a:pt x="885" y="192"/>
                  </a:lnTo>
                  <a:lnTo>
                    <a:pt x="879" y="200"/>
                  </a:lnTo>
                  <a:lnTo>
                    <a:pt x="874" y="207"/>
                  </a:lnTo>
                  <a:lnTo>
                    <a:pt x="870" y="214"/>
                  </a:lnTo>
                  <a:lnTo>
                    <a:pt x="865" y="220"/>
                  </a:lnTo>
                  <a:lnTo>
                    <a:pt x="860" y="228"/>
                  </a:lnTo>
                  <a:lnTo>
                    <a:pt x="854" y="235"/>
                  </a:lnTo>
                  <a:lnTo>
                    <a:pt x="849" y="242"/>
                  </a:lnTo>
                  <a:lnTo>
                    <a:pt x="843" y="250"/>
                  </a:lnTo>
                  <a:lnTo>
                    <a:pt x="830" y="267"/>
                  </a:lnTo>
                  <a:lnTo>
                    <a:pt x="814" y="288"/>
                  </a:lnTo>
                  <a:lnTo>
                    <a:pt x="799" y="310"/>
                  </a:lnTo>
                  <a:lnTo>
                    <a:pt x="782" y="331"/>
                  </a:lnTo>
                  <a:lnTo>
                    <a:pt x="768" y="350"/>
                  </a:lnTo>
                  <a:lnTo>
                    <a:pt x="755" y="367"/>
                  </a:lnTo>
                  <a:lnTo>
                    <a:pt x="746" y="377"/>
                  </a:lnTo>
                  <a:lnTo>
                    <a:pt x="742" y="380"/>
                  </a:lnTo>
                  <a:lnTo>
                    <a:pt x="729" y="372"/>
                  </a:lnTo>
                  <a:lnTo>
                    <a:pt x="716" y="367"/>
                  </a:lnTo>
                  <a:lnTo>
                    <a:pt x="702" y="363"/>
                  </a:lnTo>
                  <a:lnTo>
                    <a:pt x="687" y="359"/>
                  </a:lnTo>
                  <a:lnTo>
                    <a:pt x="673" y="358"/>
                  </a:lnTo>
                  <a:lnTo>
                    <a:pt x="659" y="356"/>
                  </a:lnTo>
                  <a:lnTo>
                    <a:pt x="645" y="356"/>
                  </a:lnTo>
                  <a:lnTo>
                    <a:pt x="630" y="358"/>
                  </a:lnTo>
                  <a:lnTo>
                    <a:pt x="620" y="359"/>
                  </a:lnTo>
                  <a:lnTo>
                    <a:pt x="610" y="363"/>
                  </a:lnTo>
                  <a:lnTo>
                    <a:pt x="601" y="368"/>
                  </a:lnTo>
                  <a:lnTo>
                    <a:pt x="593" y="375"/>
                  </a:lnTo>
                  <a:lnTo>
                    <a:pt x="586" y="384"/>
                  </a:lnTo>
                  <a:lnTo>
                    <a:pt x="583" y="391"/>
                  </a:lnTo>
                  <a:lnTo>
                    <a:pt x="579" y="402"/>
                  </a:lnTo>
                  <a:lnTo>
                    <a:pt x="577" y="411"/>
                  </a:lnTo>
                  <a:lnTo>
                    <a:pt x="580" y="428"/>
                  </a:lnTo>
                  <a:lnTo>
                    <a:pt x="586" y="441"/>
                  </a:lnTo>
                  <a:lnTo>
                    <a:pt x="598" y="451"/>
                  </a:lnTo>
                  <a:lnTo>
                    <a:pt x="612" y="459"/>
                  </a:lnTo>
                  <a:lnTo>
                    <a:pt x="629" y="464"/>
                  </a:lnTo>
                  <a:lnTo>
                    <a:pt x="646" y="469"/>
                  </a:lnTo>
                  <a:lnTo>
                    <a:pt x="663" y="474"/>
                  </a:lnTo>
                  <a:lnTo>
                    <a:pt x="677" y="479"/>
                  </a:lnTo>
                  <a:lnTo>
                    <a:pt x="674" y="487"/>
                  </a:lnTo>
                  <a:lnTo>
                    <a:pt x="663" y="508"/>
                  </a:lnTo>
                  <a:lnTo>
                    <a:pt x="643" y="538"/>
                  </a:lnTo>
                  <a:lnTo>
                    <a:pt x="619" y="573"/>
                  </a:lnTo>
                  <a:lnTo>
                    <a:pt x="592" y="612"/>
                  </a:lnTo>
                  <a:lnTo>
                    <a:pt x="562" y="650"/>
                  </a:lnTo>
                  <a:lnTo>
                    <a:pt x="533" y="687"/>
                  </a:lnTo>
                  <a:lnTo>
                    <a:pt x="506" y="718"/>
                  </a:lnTo>
                  <a:lnTo>
                    <a:pt x="498" y="720"/>
                  </a:lnTo>
                  <a:lnTo>
                    <a:pt x="492" y="723"/>
                  </a:lnTo>
                  <a:lnTo>
                    <a:pt x="483" y="724"/>
                  </a:lnTo>
                  <a:lnTo>
                    <a:pt x="475" y="724"/>
                  </a:lnTo>
                  <a:lnTo>
                    <a:pt x="466" y="726"/>
                  </a:lnTo>
                  <a:lnTo>
                    <a:pt x="458" y="724"/>
                  </a:lnTo>
                  <a:lnTo>
                    <a:pt x="451" y="724"/>
                  </a:lnTo>
                  <a:lnTo>
                    <a:pt x="443" y="723"/>
                  </a:lnTo>
                  <a:lnTo>
                    <a:pt x="421" y="718"/>
                  </a:lnTo>
                  <a:lnTo>
                    <a:pt x="396" y="710"/>
                  </a:lnTo>
                  <a:lnTo>
                    <a:pt x="370" y="702"/>
                  </a:lnTo>
                  <a:lnTo>
                    <a:pt x="346" y="693"/>
                  </a:lnTo>
                  <a:lnTo>
                    <a:pt x="324" y="684"/>
                  </a:lnTo>
                  <a:lnTo>
                    <a:pt x="304" y="678"/>
                  </a:lnTo>
                  <a:lnTo>
                    <a:pt x="291" y="672"/>
                  </a:lnTo>
                  <a:lnTo>
                    <a:pt x="286" y="670"/>
                  </a:lnTo>
                  <a:lnTo>
                    <a:pt x="268" y="663"/>
                  </a:lnTo>
                  <a:lnTo>
                    <a:pt x="251" y="657"/>
                  </a:lnTo>
                  <a:lnTo>
                    <a:pt x="233" y="652"/>
                  </a:lnTo>
                  <a:lnTo>
                    <a:pt x="216" y="645"/>
                  </a:lnTo>
                  <a:lnTo>
                    <a:pt x="198" y="639"/>
                  </a:lnTo>
                  <a:lnTo>
                    <a:pt x="181" y="632"/>
                  </a:lnTo>
                  <a:lnTo>
                    <a:pt x="163" y="626"/>
                  </a:lnTo>
                  <a:lnTo>
                    <a:pt x="146" y="621"/>
                  </a:lnTo>
                  <a:lnTo>
                    <a:pt x="128" y="614"/>
                  </a:lnTo>
                  <a:lnTo>
                    <a:pt x="111" y="608"/>
                  </a:lnTo>
                  <a:lnTo>
                    <a:pt x="93" y="601"/>
                  </a:lnTo>
                  <a:lnTo>
                    <a:pt x="76" y="595"/>
                  </a:lnTo>
                  <a:lnTo>
                    <a:pt x="58" y="588"/>
                  </a:lnTo>
                  <a:lnTo>
                    <a:pt x="42" y="582"/>
                  </a:lnTo>
                  <a:lnTo>
                    <a:pt x="23" y="574"/>
                  </a:lnTo>
                  <a:lnTo>
                    <a:pt x="7" y="568"/>
                  </a:lnTo>
                  <a:lnTo>
                    <a:pt x="5" y="565"/>
                  </a:lnTo>
                  <a:lnTo>
                    <a:pt x="3" y="562"/>
                  </a:lnTo>
                  <a:lnTo>
                    <a:pt x="1" y="560"/>
                  </a:lnTo>
                  <a:lnTo>
                    <a:pt x="0" y="557"/>
                  </a:lnTo>
                  <a:lnTo>
                    <a:pt x="21" y="520"/>
                  </a:lnTo>
                  <a:lnTo>
                    <a:pt x="44" y="483"/>
                  </a:lnTo>
                  <a:lnTo>
                    <a:pt x="67" y="447"/>
                  </a:lnTo>
                  <a:lnTo>
                    <a:pt x="92" y="412"/>
                  </a:lnTo>
                  <a:lnTo>
                    <a:pt x="115" y="376"/>
                  </a:lnTo>
                  <a:lnTo>
                    <a:pt x="139" y="338"/>
                  </a:lnTo>
                  <a:lnTo>
                    <a:pt x="161" y="302"/>
                  </a:lnTo>
                  <a:lnTo>
                    <a:pt x="181" y="263"/>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 name="Freeform 25"/>
            <p:cNvSpPr>
              <a:spLocks/>
            </p:cNvSpPr>
            <p:nvPr/>
          </p:nvSpPr>
          <p:spPr bwMode="auto">
            <a:xfrm>
              <a:off x="1387" y="3070"/>
              <a:ext cx="762" cy="308"/>
            </a:xfrm>
            <a:custGeom>
              <a:avLst/>
              <a:gdLst>
                <a:gd name="T0" fmla="*/ 39 w 762"/>
                <a:gd name="T1" fmla="*/ 99 h 308"/>
                <a:gd name="T2" fmla="*/ 103 w 762"/>
                <a:gd name="T3" fmla="*/ 128 h 308"/>
                <a:gd name="T4" fmla="*/ 164 w 762"/>
                <a:gd name="T5" fmla="*/ 152 h 308"/>
                <a:gd name="T6" fmla="*/ 195 w 762"/>
                <a:gd name="T7" fmla="*/ 164 h 308"/>
                <a:gd name="T8" fmla="*/ 250 w 762"/>
                <a:gd name="T9" fmla="*/ 184 h 308"/>
                <a:gd name="T10" fmla="*/ 316 w 762"/>
                <a:gd name="T11" fmla="*/ 208 h 308"/>
                <a:gd name="T12" fmla="*/ 382 w 762"/>
                <a:gd name="T13" fmla="*/ 230 h 308"/>
                <a:gd name="T14" fmla="*/ 435 w 762"/>
                <a:gd name="T15" fmla="*/ 244 h 308"/>
                <a:gd name="T16" fmla="*/ 467 w 762"/>
                <a:gd name="T17" fmla="*/ 251 h 308"/>
                <a:gd name="T18" fmla="*/ 494 w 762"/>
                <a:gd name="T19" fmla="*/ 256 h 308"/>
                <a:gd name="T20" fmla="*/ 520 w 762"/>
                <a:gd name="T21" fmla="*/ 252 h 308"/>
                <a:gd name="T22" fmla="*/ 569 w 762"/>
                <a:gd name="T23" fmla="*/ 190 h 308"/>
                <a:gd name="T24" fmla="*/ 616 w 762"/>
                <a:gd name="T25" fmla="*/ 121 h 308"/>
                <a:gd name="T26" fmla="*/ 656 w 762"/>
                <a:gd name="T27" fmla="*/ 66 h 308"/>
                <a:gd name="T28" fmla="*/ 689 w 762"/>
                <a:gd name="T29" fmla="*/ 26 h 308"/>
                <a:gd name="T30" fmla="*/ 714 w 762"/>
                <a:gd name="T31" fmla="*/ 0 h 308"/>
                <a:gd name="T32" fmla="*/ 729 w 762"/>
                <a:gd name="T33" fmla="*/ 11 h 308"/>
                <a:gd name="T34" fmla="*/ 747 w 762"/>
                <a:gd name="T35" fmla="*/ 32 h 308"/>
                <a:gd name="T36" fmla="*/ 762 w 762"/>
                <a:gd name="T37" fmla="*/ 50 h 308"/>
                <a:gd name="T38" fmla="*/ 745 w 762"/>
                <a:gd name="T39" fmla="*/ 73 h 308"/>
                <a:gd name="T40" fmla="*/ 726 w 762"/>
                <a:gd name="T41" fmla="*/ 64 h 308"/>
                <a:gd name="T42" fmla="*/ 712 w 762"/>
                <a:gd name="T43" fmla="*/ 54 h 308"/>
                <a:gd name="T44" fmla="*/ 685 w 762"/>
                <a:gd name="T45" fmla="*/ 89 h 308"/>
                <a:gd name="T46" fmla="*/ 656 w 762"/>
                <a:gd name="T47" fmla="*/ 130 h 308"/>
                <a:gd name="T48" fmla="*/ 656 w 762"/>
                <a:gd name="T49" fmla="*/ 140 h 308"/>
                <a:gd name="T50" fmla="*/ 677 w 762"/>
                <a:gd name="T51" fmla="*/ 147 h 308"/>
                <a:gd name="T52" fmla="*/ 701 w 762"/>
                <a:gd name="T53" fmla="*/ 147 h 308"/>
                <a:gd name="T54" fmla="*/ 686 w 762"/>
                <a:gd name="T55" fmla="*/ 169 h 308"/>
                <a:gd name="T56" fmla="*/ 669 w 762"/>
                <a:gd name="T57" fmla="*/ 190 h 308"/>
                <a:gd name="T58" fmla="*/ 652 w 762"/>
                <a:gd name="T59" fmla="*/ 191 h 308"/>
                <a:gd name="T60" fmla="*/ 633 w 762"/>
                <a:gd name="T61" fmla="*/ 154 h 308"/>
                <a:gd name="T62" fmla="*/ 610 w 762"/>
                <a:gd name="T63" fmla="*/ 180 h 308"/>
                <a:gd name="T64" fmla="*/ 572 w 762"/>
                <a:gd name="T65" fmla="*/ 225 h 308"/>
                <a:gd name="T66" fmla="*/ 562 w 762"/>
                <a:gd name="T67" fmla="*/ 243 h 308"/>
                <a:gd name="T68" fmla="*/ 579 w 762"/>
                <a:gd name="T69" fmla="*/ 251 h 308"/>
                <a:gd name="T70" fmla="*/ 602 w 762"/>
                <a:gd name="T71" fmla="*/ 256 h 308"/>
                <a:gd name="T72" fmla="*/ 590 w 762"/>
                <a:gd name="T73" fmla="*/ 276 h 308"/>
                <a:gd name="T74" fmla="*/ 568 w 762"/>
                <a:gd name="T75" fmla="*/ 296 h 308"/>
                <a:gd name="T76" fmla="*/ 558 w 762"/>
                <a:gd name="T77" fmla="*/ 308 h 308"/>
                <a:gd name="T78" fmla="*/ 479 w 762"/>
                <a:gd name="T79" fmla="*/ 294 h 308"/>
                <a:gd name="T80" fmla="*/ 375 w 762"/>
                <a:gd name="T81" fmla="*/ 265 h 308"/>
                <a:gd name="T82" fmla="*/ 264 w 762"/>
                <a:gd name="T83" fmla="*/ 228 h 308"/>
                <a:gd name="T84" fmla="*/ 163 w 762"/>
                <a:gd name="T85" fmla="*/ 189 h 308"/>
                <a:gd name="T86" fmla="*/ 88 w 762"/>
                <a:gd name="T87" fmla="*/ 155 h 308"/>
                <a:gd name="T88" fmla="*/ 57 w 762"/>
                <a:gd name="T89" fmla="*/ 140 h 308"/>
                <a:gd name="T90" fmla="*/ 26 w 762"/>
                <a:gd name="T91" fmla="*/ 128 h 308"/>
                <a:gd name="T92" fmla="*/ 9 w 762"/>
                <a:gd name="T93" fmla="*/ 123 h 308"/>
                <a:gd name="T94" fmla="*/ 2 w 762"/>
                <a:gd name="T95" fmla="*/ 90 h 30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62"/>
                <a:gd name="T145" fmla="*/ 0 h 308"/>
                <a:gd name="T146" fmla="*/ 762 w 762"/>
                <a:gd name="T147" fmla="*/ 308 h 30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62" h="308">
                  <a:moveTo>
                    <a:pt x="0" y="84"/>
                  </a:moveTo>
                  <a:lnTo>
                    <a:pt x="18" y="92"/>
                  </a:lnTo>
                  <a:lnTo>
                    <a:pt x="39" y="99"/>
                  </a:lnTo>
                  <a:lnTo>
                    <a:pt x="61" y="108"/>
                  </a:lnTo>
                  <a:lnTo>
                    <a:pt x="83" y="118"/>
                  </a:lnTo>
                  <a:lnTo>
                    <a:pt x="103" y="128"/>
                  </a:lnTo>
                  <a:lnTo>
                    <a:pt x="125" y="136"/>
                  </a:lnTo>
                  <a:lnTo>
                    <a:pt x="146" y="145"/>
                  </a:lnTo>
                  <a:lnTo>
                    <a:pt x="164" y="152"/>
                  </a:lnTo>
                  <a:lnTo>
                    <a:pt x="171" y="155"/>
                  </a:lnTo>
                  <a:lnTo>
                    <a:pt x="181" y="159"/>
                  </a:lnTo>
                  <a:lnTo>
                    <a:pt x="195" y="164"/>
                  </a:lnTo>
                  <a:lnTo>
                    <a:pt x="211" y="169"/>
                  </a:lnTo>
                  <a:lnTo>
                    <a:pt x="229" y="177"/>
                  </a:lnTo>
                  <a:lnTo>
                    <a:pt x="250" y="184"/>
                  </a:lnTo>
                  <a:lnTo>
                    <a:pt x="272" y="191"/>
                  </a:lnTo>
                  <a:lnTo>
                    <a:pt x="294" y="199"/>
                  </a:lnTo>
                  <a:lnTo>
                    <a:pt x="316" y="208"/>
                  </a:lnTo>
                  <a:lnTo>
                    <a:pt x="339" y="216"/>
                  </a:lnTo>
                  <a:lnTo>
                    <a:pt x="361" y="222"/>
                  </a:lnTo>
                  <a:lnTo>
                    <a:pt x="382" y="230"/>
                  </a:lnTo>
                  <a:lnTo>
                    <a:pt x="401" y="235"/>
                  </a:lnTo>
                  <a:lnTo>
                    <a:pt x="419" y="241"/>
                  </a:lnTo>
                  <a:lnTo>
                    <a:pt x="435" y="244"/>
                  </a:lnTo>
                  <a:lnTo>
                    <a:pt x="448" y="247"/>
                  </a:lnTo>
                  <a:lnTo>
                    <a:pt x="457" y="248"/>
                  </a:lnTo>
                  <a:lnTo>
                    <a:pt x="467" y="251"/>
                  </a:lnTo>
                  <a:lnTo>
                    <a:pt x="476" y="252"/>
                  </a:lnTo>
                  <a:lnTo>
                    <a:pt x="485" y="255"/>
                  </a:lnTo>
                  <a:lnTo>
                    <a:pt x="494" y="256"/>
                  </a:lnTo>
                  <a:lnTo>
                    <a:pt x="503" y="256"/>
                  </a:lnTo>
                  <a:lnTo>
                    <a:pt x="512" y="255"/>
                  </a:lnTo>
                  <a:lnTo>
                    <a:pt x="520" y="252"/>
                  </a:lnTo>
                  <a:lnTo>
                    <a:pt x="537" y="233"/>
                  </a:lnTo>
                  <a:lnTo>
                    <a:pt x="554" y="212"/>
                  </a:lnTo>
                  <a:lnTo>
                    <a:pt x="569" y="190"/>
                  </a:lnTo>
                  <a:lnTo>
                    <a:pt x="585" y="167"/>
                  </a:lnTo>
                  <a:lnTo>
                    <a:pt x="601" y="143"/>
                  </a:lnTo>
                  <a:lnTo>
                    <a:pt x="616" y="121"/>
                  </a:lnTo>
                  <a:lnTo>
                    <a:pt x="632" y="98"/>
                  </a:lnTo>
                  <a:lnTo>
                    <a:pt x="647" y="77"/>
                  </a:lnTo>
                  <a:lnTo>
                    <a:pt x="656" y="66"/>
                  </a:lnTo>
                  <a:lnTo>
                    <a:pt x="667" y="53"/>
                  </a:lnTo>
                  <a:lnTo>
                    <a:pt x="678" y="38"/>
                  </a:lnTo>
                  <a:lnTo>
                    <a:pt x="689" y="26"/>
                  </a:lnTo>
                  <a:lnTo>
                    <a:pt x="699" y="14"/>
                  </a:lnTo>
                  <a:lnTo>
                    <a:pt x="708" y="5"/>
                  </a:lnTo>
                  <a:lnTo>
                    <a:pt x="714" y="0"/>
                  </a:lnTo>
                  <a:lnTo>
                    <a:pt x="718" y="0"/>
                  </a:lnTo>
                  <a:lnTo>
                    <a:pt x="723" y="5"/>
                  </a:lnTo>
                  <a:lnTo>
                    <a:pt x="729" y="11"/>
                  </a:lnTo>
                  <a:lnTo>
                    <a:pt x="735" y="18"/>
                  </a:lnTo>
                  <a:lnTo>
                    <a:pt x="740" y="24"/>
                  </a:lnTo>
                  <a:lnTo>
                    <a:pt x="747" y="32"/>
                  </a:lnTo>
                  <a:lnTo>
                    <a:pt x="752" y="38"/>
                  </a:lnTo>
                  <a:lnTo>
                    <a:pt x="757" y="45"/>
                  </a:lnTo>
                  <a:lnTo>
                    <a:pt x="762" y="50"/>
                  </a:lnTo>
                  <a:lnTo>
                    <a:pt x="756" y="58"/>
                  </a:lnTo>
                  <a:lnTo>
                    <a:pt x="751" y="66"/>
                  </a:lnTo>
                  <a:lnTo>
                    <a:pt x="745" y="73"/>
                  </a:lnTo>
                  <a:lnTo>
                    <a:pt x="740" y="83"/>
                  </a:lnTo>
                  <a:lnTo>
                    <a:pt x="734" y="75"/>
                  </a:lnTo>
                  <a:lnTo>
                    <a:pt x="726" y="64"/>
                  </a:lnTo>
                  <a:lnTo>
                    <a:pt x="718" y="55"/>
                  </a:lnTo>
                  <a:lnTo>
                    <a:pt x="714" y="51"/>
                  </a:lnTo>
                  <a:lnTo>
                    <a:pt x="712" y="54"/>
                  </a:lnTo>
                  <a:lnTo>
                    <a:pt x="705" y="63"/>
                  </a:lnTo>
                  <a:lnTo>
                    <a:pt x="695" y="75"/>
                  </a:lnTo>
                  <a:lnTo>
                    <a:pt x="685" y="89"/>
                  </a:lnTo>
                  <a:lnTo>
                    <a:pt x="673" y="105"/>
                  </a:lnTo>
                  <a:lnTo>
                    <a:pt x="663" y="119"/>
                  </a:lnTo>
                  <a:lnTo>
                    <a:pt x="656" y="130"/>
                  </a:lnTo>
                  <a:lnTo>
                    <a:pt x="652" y="137"/>
                  </a:lnTo>
                  <a:lnTo>
                    <a:pt x="652" y="138"/>
                  </a:lnTo>
                  <a:lnTo>
                    <a:pt x="656" y="140"/>
                  </a:lnTo>
                  <a:lnTo>
                    <a:pt x="661" y="142"/>
                  </a:lnTo>
                  <a:lnTo>
                    <a:pt x="669" y="145"/>
                  </a:lnTo>
                  <a:lnTo>
                    <a:pt x="677" y="147"/>
                  </a:lnTo>
                  <a:lnTo>
                    <a:pt x="686" y="149"/>
                  </a:lnTo>
                  <a:lnTo>
                    <a:pt x="694" y="149"/>
                  </a:lnTo>
                  <a:lnTo>
                    <a:pt x="701" y="147"/>
                  </a:lnTo>
                  <a:lnTo>
                    <a:pt x="696" y="155"/>
                  </a:lnTo>
                  <a:lnTo>
                    <a:pt x="691" y="162"/>
                  </a:lnTo>
                  <a:lnTo>
                    <a:pt x="686" y="169"/>
                  </a:lnTo>
                  <a:lnTo>
                    <a:pt x="681" y="176"/>
                  </a:lnTo>
                  <a:lnTo>
                    <a:pt x="674" y="182"/>
                  </a:lnTo>
                  <a:lnTo>
                    <a:pt x="669" y="190"/>
                  </a:lnTo>
                  <a:lnTo>
                    <a:pt x="663" y="197"/>
                  </a:lnTo>
                  <a:lnTo>
                    <a:pt x="657" y="203"/>
                  </a:lnTo>
                  <a:lnTo>
                    <a:pt x="652" y="191"/>
                  </a:lnTo>
                  <a:lnTo>
                    <a:pt x="645" y="174"/>
                  </a:lnTo>
                  <a:lnTo>
                    <a:pt x="637" y="160"/>
                  </a:lnTo>
                  <a:lnTo>
                    <a:pt x="633" y="154"/>
                  </a:lnTo>
                  <a:lnTo>
                    <a:pt x="629" y="158"/>
                  </a:lnTo>
                  <a:lnTo>
                    <a:pt x="621" y="167"/>
                  </a:lnTo>
                  <a:lnTo>
                    <a:pt x="610" y="180"/>
                  </a:lnTo>
                  <a:lnTo>
                    <a:pt x="597" y="195"/>
                  </a:lnTo>
                  <a:lnTo>
                    <a:pt x="584" y="211"/>
                  </a:lnTo>
                  <a:lnTo>
                    <a:pt x="572" y="225"/>
                  </a:lnTo>
                  <a:lnTo>
                    <a:pt x="564" y="235"/>
                  </a:lnTo>
                  <a:lnTo>
                    <a:pt x="560" y="241"/>
                  </a:lnTo>
                  <a:lnTo>
                    <a:pt x="562" y="243"/>
                  </a:lnTo>
                  <a:lnTo>
                    <a:pt x="564" y="246"/>
                  </a:lnTo>
                  <a:lnTo>
                    <a:pt x="571" y="248"/>
                  </a:lnTo>
                  <a:lnTo>
                    <a:pt x="579" y="251"/>
                  </a:lnTo>
                  <a:lnTo>
                    <a:pt x="586" y="254"/>
                  </a:lnTo>
                  <a:lnTo>
                    <a:pt x="594" y="255"/>
                  </a:lnTo>
                  <a:lnTo>
                    <a:pt x="602" y="256"/>
                  </a:lnTo>
                  <a:lnTo>
                    <a:pt x="607" y="256"/>
                  </a:lnTo>
                  <a:lnTo>
                    <a:pt x="598" y="266"/>
                  </a:lnTo>
                  <a:lnTo>
                    <a:pt x="590" y="276"/>
                  </a:lnTo>
                  <a:lnTo>
                    <a:pt x="582" y="283"/>
                  </a:lnTo>
                  <a:lnTo>
                    <a:pt x="575" y="290"/>
                  </a:lnTo>
                  <a:lnTo>
                    <a:pt x="568" y="296"/>
                  </a:lnTo>
                  <a:lnTo>
                    <a:pt x="563" y="301"/>
                  </a:lnTo>
                  <a:lnTo>
                    <a:pt x="559" y="305"/>
                  </a:lnTo>
                  <a:lnTo>
                    <a:pt x="558" y="308"/>
                  </a:lnTo>
                  <a:lnTo>
                    <a:pt x="536" y="305"/>
                  </a:lnTo>
                  <a:lnTo>
                    <a:pt x="509" y="301"/>
                  </a:lnTo>
                  <a:lnTo>
                    <a:pt x="479" y="294"/>
                  </a:lnTo>
                  <a:lnTo>
                    <a:pt x="446" y="286"/>
                  </a:lnTo>
                  <a:lnTo>
                    <a:pt x="412" y="276"/>
                  </a:lnTo>
                  <a:lnTo>
                    <a:pt x="375" y="265"/>
                  </a:lnTo>
                  <a:lnTo>
                    <a:pt x="338" y="254"/>
                  </a:lnTo>
                  <a:lnTo>
                    <a:pt x="302" y="241"/>
                  </a:lnTo>
                  <a:lnTo>
                    <a:pt x="264" y="228"/>
                  </a:lnTo>
                  <a:lnTo>
                    <a:pt x="228" y="215"/>
                  </a:lnTo>
                  <a:lnTo>
                    <a:pt x="194" y="202"/>
                  </a:lnTo>
                  <a:lnTo>
                    <a:pt x="163" y="189"/>
                  </a:lnTo>
                  <a:lnTo>
                    <a:pt x="133" y="176"/>
                  </a:lnTo>
                  <a:lnTo>
                    <a:pt x="109" y="165"/>
                  </a:lnTo>
                  <a:lnTo>
                    <a:pt x="88" y="155"/>
                  </a:lnTo>
                  <a:lnTo>
                    <a:pt x="71" y="146"/>
                  </a:lnTo>
                  <a:lnTo>
                    <a:pt x="65" y="143"/>
                  </a:lnTo>
                  <a:lnTo>
                    <a:pt x="57" y="140"/>
                  </a:lnTo>
                  <a:lnTo>
                    <a:pt x="47" y="136"/>
                  </a:lnTo>
                  <a:lnTo>
                    <a:pt x="36" y="132"/>
                  </a:lnTo>
                  <a:lnTo>
                    <a:pt x="26" y="128"/>
                  </a:lnTo>
                  <a:lnTo>
                    <a:pt x="17" y="125"/>
                  </a:lnTo>
                  <a:lnTo>
                    <a:pt x="12" y="124"/>
                  </a:lnTo>
                  <a:lnTo>
                    <a:pt x="9" y="123"/>
                  </a:lnTo>
                  <a:lnTo>
                    <a:pt x="8" y="115"/>
                  </a:lnTo>
                  <a:lnTo>
                    <a:pt x="5" y="103"/>
                  </a:lnTo>
                  <a:lnTo>
                    <a:pt x="2" y="90"/>
                  </a:lnTo>
                  <a:lnTo>
                    <a:pt x="0" y="84"/>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 name="Freeform 26"/>
            <p:cNvSpPr>
              <a:spLocks/>
            </p:cNvSpPr>
            <p:nvPr/>
          </p:nvSpPr>
          <p:spPr bwMode="auto">
            <a:xfrm>
              <a:off x="2050" y="3142"/>
              <a:ext cx="68" cy="64"/>
            </a:xfrm>
            <a:custGeom>
              <a:avLst/>
              <a:gdLst>
                <a:gd name="T0" fmla="*/ 68 w 68"/>
                <a:gd name="T1" fmla="*/ 30 h 64"/>
                <a:gd name="T2" fmla="*/ 68 w 68"/>
                <a:gd name="T3" fmla="*/ 30 h 64"/>
                <a:gd name="T4" fmla="*/ 64 w 68"/>
                <a:gd name="T5" fmla="*/ 39 h 64"/>
                <a:gd name="T6" fmla="*/ 58 w 68"/>
                <a:gd name="T7" fmla="*/ 46 h 64"/>
                <a:gd name="T8" fmla="*/ 51 w 68"/>
                <a:gd name="T9" fmla="*/ 51 h 64"/>
                <a:gd name="T10" fmla="*/ 44 w 68"/>
                <a:gd name="T11" fmla="*/ 56 h 64"/>
                <a:gd name="T12" fmla="*/ 36 w 68"/>
                <a:gd name="T13" fmla="*/ 58 h 64"/>
                <a:gd name="T14" fmla="*/ 27 w 68"/>
                <a:gd name="T15" fmla="*/ 61 h 64"/>
                <a:gd name="T16" fmla="*/ 18 w 68"/>
                <a:gd name="T17" fmla="*/ 62 h 64"/>
                <a:gd name="T18" fmla="*/ 9 w 68"/>
                <a:gd name="T19" fmla="*/ 64 h 64"/>
                <a:gd name="T20" fmla="*/ 0 w 68"/>
                <a:gd name="T21" fmla="*/ 64 h 64"/>
                <a:gd name="T22" fmla="*/ 1 w 68"/>
                <a:gd name="T23" fmla="*/ 61 h 64"/>
                <a:gd name="T24" fmla="*/ 4 w 68"/>
                <a:gd name="T25" fmla="*/ 60 h 64"/>
                <a:gd name="T26" fmla="*/ 5 w 68"/>
                <a:gd name="T27" fmla="*/ 57 h 64"/>
                <a:gd name="T28" fmla="*/ 6 w 68"/>
                <a:gd name="T29" fmla="*/ 56 h 64"/>
                <a:gd name="T30" fmla="*/ 7 w 68"/>
                <a:gd name="T31" fmla="*/ 56 h 64"/>
                <a:gd name="T32" fmla="*/ 7 w 68"/>
                <a:gd name="T33" fmla="*/ 56 h 64"/>
                <a:gd name="T34" fmla="*/ 7 w 68"/>
                <a:gd name="T35" fmla="*/ 56 h 64"/>
                <a:gd name="T36" fmla="*/ 9 w 68"/>
                <a:gd name="T37" fmla="*/ 55 h 64"/>
                <a:gd name="T38" fmla="*/ 14 w 68"/>
                <a:gd name="T39" fmla="*/ 48 h 64"/>
                <a:gd name="T40" fmla="*/ 20 w 68"/>
                <a:gd name="T41" fmla="*/ 43 h 64"/>
                <a:gd name="T42" fmla="*/ 26 w 68"/>
                <a:gd name="T43" fmla="*/ 36 h 64"/>
                <a:gd name="T44" fmla="*/ 32 w 68"/>
                <a:gd name="T45" fmla="*/ 29 h 64"/>
                <a:gd name="T46" fmla="*/ 37 w 68"/>
                <a:gd name="T47" fmla="*/ 22 h 64"/>
                <a:gd name="T48" fmla="*/ 42 w 68"/>
                <a:gd name="T49" fmla="*/ 16 h 64"/>
                <a:gd name="T50" fmla="*/ 46 w 68"/>
                <a:gd name="T51" fmla="*/ 8 h 64"/>
                <a:gd name="T52" fmla="*/ 51 w 68"/>
                <a:gd name="T53" fmla="*/ 0 h 64"/>
                <a:gd name="T54" fmla="*/ 57 w 68"/>
                <a:gd name="T55" fmla="*/ 7 h 64"/>
                <a:gd name="T56" fmla="*/ 60 w 68"/>
                <a:gd name="T57" fmla="*/ 12 h 64"/>
                <a:gd name="T58" fmla="*/ 64 w 68"/>
                <a:gd name="T59" fmla="*/ 18 h 64"/>
                <a:gd name="T60" fmla="*/ 67 w 68"/>
                <a:gd name="T61" fmla="*/ 25 h 64"/>
                <a:gd name="T62" fmla="*/ 68 w 68"/>
                <a:gd name="T63" fmla="*/ 25 h 64"/>
                <a:gd name="T64" fmla="*/ 67 w 68"/>
                <a:gd name="T65" fmla="*/ 26 h 64"/>
                <a:gd name="T66" fmla="*/ 67 w 68"/>
                <a:gd name="T67" fmla="*/ 27 h 64"/>
                <a:gd name="T68" fmla="*/ 67 w 68"/>
                <a:gd name="T69" fmla="*/ 29 h 64"/>
                <a:gd name="T70" fmla="*/ 68 w 68"/>
                <a:gd name="T71" fmla="*/ 30 h 6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
                <a:gd name="T109" fmla="*/ 0 h 64"/>
                <a:gd name="T110" fmla="*/ 68 w 68"/>
                <a:gd name="T111" fmla="*/ 64 h 6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 h="64">
                  <a:moveTo>
                    <a:pt x="68" y="30"/>
                  </a:moveTo>
                  <a:lnTo>
                    <a:pt x="68" y="30"/>
                  </a:lnTo>
                  <a:lnTo>
                    <a:pt x="64" y="39"/>
                  </a:lnTo>
                  <a:lnTo>
                    <a:pt x="58" y="46"/>
                  </a:lnTo>
                  <a:lnTo>
                    <a:pt x="51" y="51"/>
                  </a:lnTo>
                  <a:lnTo>
                    <a:pt x="44" y="56"/>
                  </a:lnTo>
                  <a:lnTo>
                    <a:pt x="36" y="58"/>
                  </a:lnTo>
                  <a:lnTo>
                    <a:pt x="27" y="61"/>
                  </a:lnTo>
                  <a:lnTo>
                    <a:pt x="18" y="62"/>
                  </a:lnTo>
                  <a:lnTo>
                    <a:pt x="9" y="64"/>
                  </a:lnTo>
                  <a:lnTo>
                    <a:pt x="0" y="64"/>
                  </a:lnTo>
                  <a:lnTo>
                    <a:pt x="1" y="61"/>
                  </a:lnTo>
                  <a:lnTo>
                    <a:pt x="4" y="60"/>
                  </a:lnTo>
                  <a:lnTo>
                    <a:pt x="5" y="57"/>
                  </a:lnTo>
                  <a:lnTo>
                    <a:pt x="6" y="56"/>
                  </a:lnTo>
                  <a:lnTo>
                    <a:pt x="7" y="56"/>
                  </a:lnTo>
                  <a:lnTo>
                    <a:pt x="9" y="55"/>
                  </a:lnTo>
                  <a:lnTo>
                    <a:pt x="14" y="48"/>
                  </a:lnTo>
                  <a:lnTo>
                    <a:pt x="20" y="43"/>
                  </a:lnTo>
                  <a:lnTo>
                    <a:pt x="26" y="36"/>
                  </a:lnTo>
                  <a:lnTo>
                    <a:pt x="32" y="29"/>
                  </a:lnTo>
                  <a:lnTo>
                    <a:pt x="37" y="22"/>
                  </a:lnTo>
                  <a:lnTo>
                    <a:pt x="42" y="16"/>
                  </a:lnTo>
                  <a:lnTo>
                    <a:pt x="46" y="8"/>
                  </a:lnTo>
                  <a:lnTo>
                    <a:pt x="51" y="0"/>
                  </a:lnTo>
                  <a:lnTo>
                    <a:pt x="57" y="7"/>
                  </a:lnTo>
                  <a:lnTo>
                    <a:pt x="60" y="12"/>
                  </a:lnTo>
                  <a:lnTo>
                    <a:pt x="64" y="18"/>
                  </a:lnTo>
                  <a:lnTo>
                    <a:pt x="67" y="25"/>
                  </a:lnTo>
                  <a:lnTo>
                    <a:pt x="68" y="25"/>
                  </a:lnTo>
                  <a:lnTo>
                    <a:pt x="67" y="26"/>
                  </a:lnTo>
                  <a:lnTo>
                    <a:pt x="67" y="27"/>
                  </a:lnTo>
                  <a:lnTo>
                    <a:pt x="67" y="29"/>
                  </a:lnTo>
                  <a:lnTo>
                    <a:pt x="68" y="3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 name="Freeform 27"/>
            <p:cNvSpPr>
              <a:spLocks/>
            </p:cNvSpPr>
            <p:nvPr/>
          </p:nvSpPr>
          <p:spPr bwMode="auto">
            <a:xfrm>
              <a:off x="1973" y="3255"/>
              <a:ext cx="52" cy="49"/>
            </a:xfrm>
            <a:custGeom>
              <a:avLst/>
              <a:gdLst>
                <a:gd name="T0" fmla="*/ 51 w 52"/>
                <a:gd name="T1" fmla="*/ 32 h 49"/>
                <a:gd name="T2" fmla="*/ 47 w 52"/>
                <a:gd name="T3" fmla="*/ 40 h 49"/>
                <a:gd name="T4" fmla="*/ 42 w 52"/>
                <a:gd name="T5" fmla="*/ 45 h 49"/>
                <a:gd name="T6" fmla="*/ 37 w 52"/>
                <a:gd name="T7" fmla="*/ 48 h 49"/>
                <a:gd name="T8" fmla="*/ 30 w 52"/>
                <a:gd name="T9" fmla="*/ 49 h 49"/>
                <a:gd name="T10" fmla="*/ 22 w 52"/>
                <a:gd name="T11" fmla="*/ 49 h 49"/>
                <a:gd name="T12" fmla="*/ 16 w 52"/>
                <a:gd name="T13" fmla="*/ 48 h 49"/>
                <a:gd name="T14" fmla="*/ 8 w 52"/>
                <a:gd name="T15" fmla="*/ 45 h 49"/>
                <a:gd name="T16" fmla="*/ 0 w 52"/>
                <a:gd name="T17" fmla="*/ 43 h 49"/>
                <a:gd name="T18" fmla="*/ 2 w 52"/>
                <a:gd name="T19" fmla="*/ 41 h 49"/>
                <a:gd name="T20" fmla="*/ 5 w 52"/>
                <a:gd name="T21" fmla="*/ 39 h 49"/>
                <a:gd name="T22" fmla="*/ 11 w 52"/>
                <a:gd name="T23" fmla="*/ 34 h 49"/>
                <a:gd name="T24" fmla="*/ 17 w 52"/>
                <a:gd name="T25" fmla="*/ 27 h 49"/>
                <a:gd name="T26" fmla="*/ 24 w 52"/>
                <a:gd name="T27" fmla="*/ 21 h 49"/>
                <a:gd name="T28" fmla="*/ 30 w 52"/>
                <a:gd name="T29" fmla="*/ 14 h 49"/>
                <a:gd name="T30" fmla="*/ 37 w 52"/>
                <a:gd name="T31" fmla="*/ 6 h 49"/>
                <a:gd name="T32" fmla="*/ 42 w 52"/>
                <a:gd name="T33" fmla="*/ 0 h 49"/>
                <a:gd name="T34" fmla="*/ 46 w 52"/>
                <a:gd name="T35" fmla="*/ 9 h 49"/>
                <a:gd name="T36" fmla="*/ 49 w 52"/>
                <a:gd name="T37" fmla="*/ 17 h 49"/>
                <a:gd name="T38" fmla="*/ 52 w 52"/>
                <a:gd name="T39" fmla="*/ 24 h 49"/>
                <a:gd name="T40" fmla="*/ 51 w 52"/>
                <a:gd name="T41" fmla="*/ 32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2"/>
                <a:gd name="T64" fmla="*/ 0 h 49"/>
                <a:gd name="T65" fmla="*/ 52 w 52"/>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2" h="49">
                  <a:moveTo>
                    <a:pt x="51" y="32"/>
                  </a:moveTo>
                  <a:lnTo>
                    <a:pt x="47" y="40"/>
                  </a:lnTo>
                  <a:lnTo>
                    <a:pt x="42" y="45"/>
                  </a:lnTo>
                  <a:lnTo>
                    <a:pt x="37" y="48"/>
                  </a:lnTo>
                  <a:lnTo>
                    <a:pt x="30" y="49"/>
                  </a:lnTo>
                  <a:lnTo>
                    <a:pt x="22" y="49"/>
                  </a:lnTo>
                  <a:lnTo>
                    <a:pt x="16" y="48"/>
                  </a:lnTo>
                  <a:lnTo>
                    <a:pt x="8" y="45"/>
                  </a:lnTo>
                  <a:lnTo>
                    <a:pt x="0" y="43"/>
                  </a:lnTo>
                  <a:lnTo>
                    <a:pt x="2" y="41"/>
                  </a:lnTo>
                  <a:lnTo>
                    <a:pt x="5" y="39"/>
                  </a:lnTo>
                  <a:lnTo>
                    <a:pt x="11" y="34"/>
                  </a:lnTo>
                  <a:lnTo>
                    <a:pt x="17" y="27"/>
                  </a:lnTo>
                  <a:lnTo>
                    <a:pt x="24" y="21"/>
                  </a:lnTo>
                  <a:lnTo>
                    <a:pt x="30" y="14"/>
                  </a:lnTo>
                  <a:lnTo>
                    <a:pt x="37" y="6"/>
                  </a:lnTo>
                  <a:lnTo>
                    <a:pt x="42" y="0"/>
                  </a:lnTo>
                  <a:lnTo>
                    <a:pt x="46" y="9"/>
                  </a:lnTo>
                  <a:lnTo>
                    <a:pt x="49" y="17"/>
                  </a:lnTo>
                  <a:lnTo>
                    <a:pt x="52" y="24"/>
                  </a:lnTo>
                  <a:lnTo>
                    <a:pt x="51" y="3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 name="Freeform 28"/>
            <p:cNvSpPr>
              <a:spLocks/>
            </p:cNvSpPr>
            <p:nvPr/>
          </p:nvSpPr>
          <p:spPr bwMode="auto">
            <a:xfrm>
              <a:off x="1400" y="3136"/>
              <a:ext cx="775" cy="285"/>
            </a:xfrm>
            <a:custGeom>
              <a:avLst/>
              <a:gdLst>
                <a:gd name="T0" fmla="*/ 652 w 775"/>
                <a:gd name="T1" fmla="*/ 190 h 285"/>
                <a:gd name="T2" fmla="*/ 630 w 775"/>
                <a:gd name="T3" fmla="*/ 221 h 285"/>
                <a:gd name="T4" fmla="*/ 606 w 775"/>
                <a:gd name="T5" fmla="*/ 251 h 285"/>
                <a:gd name="T6" fmla="*/ 577 w 775"/>
                <a:gd name="T7" fmla="*/ 273 h 285"/>
                <a:gd name="T8" fmla="*/ 542 w 775"/>
                <a:gd name="T9" fmla="*/ 283 h 285"/>
                <a:gd name="T10" fmla="*/ 503 w 775"/>
                <a:gd name="T11" fmla="*/ 285 h 285"/>
                <a:gd name="T12" fmla="*/ 466 w 775"/>
                <a:gd name="T13" fmla="*/ 278 h 285"/>
                <a:gd name="T14" fmla="*/ 428 w 775"/>
                <a:gd name="T15" fmla="*/ 267 h 285"/>
                <a:gd name="T16" fmla="*/ 386 w 775"/>
                <a:gd name="T17" fmla="*/ 251 h 285"/>
                <a:gd name="T18" fmla="*/ 335 w 775"/>
                <a:gd name="T19" fmla="*/ 232 h 285"/>
                <a:gd name="T20" fmla="*/ 286 w 775"/>
                <a:gd name="T21" fmla="*/ 212 h 285"/>
                <a:gd name="T22" fmla="*/ 234 w 775"/>
                <a:gd name="T23" fmla="*/ 193 h 285"/>
                <a:gd name="T24" fmla="*/ 184 w 775"/>
                <a:gd name="T25" fmla="*/ 172 h 285"/>
                <a:gd name="T26" fmla="*/ 133 w 775"/>
                <a:gd name="T27" fmla="*/ 153 h 285"/>
                <a:gd name="T28" fmla="*/ 84 w 775"/>
                <a:gd name="T29" fmla="*/ 132 h 285"/>
                <a:gd name="T30" fmla="*/ 35 w 775"/>
                <a:gd name="T31" fmla="*/ 111 h 285"/>
                <a:gd name="T32" fmla="*/ 9 w 775"/>
                <a:gd name="T33" fmla="*/ 98 h 285"/>
                <a:gd name="T34" fmla="*/ 1 w 775"/>
                <a:gd name="T35" fmla="*/ 84 h 285"/>
                <a:gd name="T36" fmla="*/ 9 w 775"/>
                <a:gd name="T37" fmla="*/ 83 h 285"/>
                <a:gd name="T38" fmla="*/ 31 w 775"/>
                <a:gd name="T39" fmla="*/ 92 h 285"/>
                <a:gd name="T40" fmla="*/ 54 w 775"/>
                <a:gd name="T41" fmla="*/ 101 h 285"/>
                <a:gd name="T42" fmla="*/ 76 w 775"/>
                <a:gd name="T43" fmla="*/ 110 h 285"/>
                <a:gd name="T44" fmla="*/ 111 w 775"/>
                <a:gd name="T45" fmla="*/ 127 h 285"/>
                <a:gd name="T46" fmla="*/ 158 w 775"/>
                <a:gd name="T47" fmla="*/ 146 h 285"/>
                <a:gd name="T48" fmla="*/ 198 w 775"/>
                <a:gd name="T49" fmla="*/ 160 h 285"/>
                <a:gd name="T50" fmla="*/ 232 w 775"/>
                <a:gd name="T51" fmla="*/ 172 h 285"/>
                <a:gd name="T52" fmla="*/ 264 w 775"/>
                <a:gd name="T53" fmla="*/ 184 h 285"/>
                <a:gd name="T54" fmla="*/ 296 w 775"/>
                <a:gd name="T55" fmla="*/ 195 h 285"/>
                <a:gd name="T56" fmla="*/ 329 w 775"/>
                <a:gd name="T57" fmla="*/ 207 h 285"/>
                <a:gd name="T58" fmla="*/ 361 w 775"/>
                <a:gd name="T59" fmla="*/ 219 h 285"/>
                <a:gd name="T60" fmla="*/ 393 w 775"/>
                <a:gd name="T61" fmla="*/ 230 h 285"/>
                <a:gd name="T62" fmla="*/ 426 w 775"/>
                <a:gd name="T63" fmla="*/ 241 h 285"/>
                <a:gd name="T64" fmla="*/ 458 w 775"/>
                <a:gd name="T65" fmla="*/ 251 h 285"/>
                <a:gd name="T66" fmla="*/ 492 w 775"/>
                <a:gd name="T67" fmla="*/ 260 h 285"/>
                <a:gd name="T68" fmla="*/ 514 w 775"/>
                <a:gd name="T69" fmla="*/ 265 h 285"/>
                <a:gd name="T70" fmla="*/ 531 w 775"/>
                <a:gd name="T71" fmla="*/ 267 h 285"/>
                <a:gd name="T72" fmla="*/ 549 w 775"/>
                <a:gd name="T73" fmla="*/ 264 h 285"/>
                <a:gd name="T74" fmla="*/ 573 w 775"/>
                <a:gd name="T75" fmla="*/ 247 h 285"/>
                <a:gd name="T76" fmla="*/ 597 w 775"/>
                <a:gd name="T77" fmla="*/ 220 h 285"/>
                <a:gd name="T78" fmla="*/ 616 w 775"/>
                <a:gd name="T79" fmla="*/ 194 h 285"/>
                <a:gd name="T80" fmla="*/ 629 w 775"/>
                <a:gd name="T81" fmla="*/ 176 h 285"/>
                <a:gd name="T82" fmla="*/ 638 w 775"/>
                <a:gd name="T83" fmla="*/ 167 h 285"/>
                <a:gd name="T84" fmla="*/ 643 w 775"/>
                <a:gd name="T85" fmla="*/ 162 h 285"/>
                <a:gd name="T86" fmla="*/ 659 w 775"/>
                <a:gd name="T87" fmla="*/ 145 h 285"/>
                <a:gd name="T88" fmla="*/ 676 w 775"/>
                <a:gd name="T89" fmla="*/ 125 h 285"/>
                <a:gd name="T90" fmla="*/ 692 w 775"/>
                <a:gd name="T91" fmla="*/ 101 h 285"/>
                <a:gd name="T92" fmla="*/ 707 w 775"/>
                <a:gd name="T93" fmla="*/ 79 h 285"/>
                <a:gd name="T94" fmla="*/ 720 w 775"/>
                <a:gd name="T95" fmla="*/ 66 h 285"/>
                <a:gd name="T96" fmla="*/ 726 w 775"/>
                <a:gd name="T97" fmla="*/ 58 h 285"/>
                <a:gd name="T98" fmla="*/ 734 w 775"/>
                <a:gd name="T99" fmla="*/ 44 h 285"/>
                <a:gd name="T100" fmla="*/ 738 w 775"/>
                <a:gd name="T101" fmla="*/ 36 h 285"/>
                <a:gd name="T102" fmla="*/ 752 w 775"/>
                <a:gd name="T103" fmla="*/ 11 h 285"/>
                <a:gd name="T104" fmla="*/ 762 w 775"/>
                <a:gd name="T105" fmla="*/ 5 h 285"/>
                <a:gd name="T106" fmla="*/ 773 w 775"/>
                <a:gd name="T107" fmla="*/ 17 h 285"/>
                <a:gd name="T108" fmla="*/ 762 w 775"/>
                <a:gd name="T109" fmla="*/ 40 h 285"/>
                <a:gd name="T110" fmla="*/ 735 w 775"/>
                <a:gd name="T111" fmla="*/ 79 h 285"/>
                <a:gd name="T112" fmla="*/ 707 w 775"/>
                <a:gd name="T113" fmla="*/ 118 h 285"/>
                <a:gd name="T114" fmla="*/ 678 w 775"/>
                <a:gd name="T115" fmla="*/ 156 h 28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775"/>
                <a:gd name="T175" fmla="*/ 0 h 285"/>
                <a:gd name="T176" fmla="*/ 775 w 775"/>
                <a:gd name="T177" fmla="*/ 285 h 28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775" h="285">
                  <a:moveTo>
                    <a:pt x="663" y="176"/>
                  </a:moveTo>
                  <a:lnTo>
                    <a:pt x="652" y="190"/>
                  </a:lnTo>
                  <a:lnTo>
                    <a:pt x="641" y="206"/>
                  </a:lnTo>
                  <a:lnTo>
                    <a:pt x="630" y="221"/>
                  </a:lnTo>
                  <a:lnTo>
                    <a:pt x="619" y="237"/>
                  </a:lnTo>
                  <a:lnTo>
                    <a:pt x="606" y="251"/>
                  </a:lnTo>
                  <a:lnTo>
                    <a:pt x="591" y="264"/>
                  </a:lnTo>
                  <a:lnTo>
                    <a:pt x="577" y="273"/>
                  </a:lnTo>
                  <a:lnTo>
                    <a:pt x="560" y="279"/>
                  </a:lnTo>
                  <a:lnTo>
                    <a:pt x="542" y="283"/>
                  </a:lnTo>
                  <a:lnTo>
                    <a:pt x="523" y="285"/>
                  </a:lnTo>
                  <a:lnTo>
                    <a:pt x="503" y="285"/>
                  </a:lnTo>
                  <a:lnTo>
                    <a:pt x="484" y="282"/>
                  </a:lnTo>
                  <a:lnTo>
                    <a:pt x="466" y="278"/>
                  </a:lnTo>
                  <a:lnTo>
                    <a:pt x="446" y="273"/>
                  </a:lnTo>
                  <a:lnTo>
                    <a:pt x="428" y="267"/>
                  </a:lnTo>
                  <a:lnTo>
                    <a:pt x="410" y="260"/>
                  </a:lnTo>
                  <a:lnTo>
                    <a:pt x="386" y="251"/>
                  </a:lnTo>
                  <a:lnTo>
                    <a:pt x="361" y="241"/>
                  </a:lnTo>
                  <a:lnTo>
                    <a:pt x="335" y="232"/>
                  </a:lnTo>
                  <a:lnTo>
                    <a:pt x="311" y="221"/>
                  </a:lnTo>
                  <a:lnTo>
                    <a:pt x="286" y="212"/>
                  </a:lnTo>
                  <a:lnTo>
                    <a:pt x="260" y="202"/>
                  </a:lnTo>
                  <a:lnTo>
                    <a:pt x="234" y="193"/>
                  </a:lnTo>
                  <a:lnTo>
                    <a:pt x="210" y="182"/>
                  </a:lnTo>
                  <a:lnTo>
                    <a:pt x="184" y="172"/>
                  </a:lnTo>
                  <a:lnTo>
                    <a:pt x="159" y="163"/>
                  </a:lnTo>
                  <a:lnTo>
                    <a:pt x="133" y="153"/>
                  </a:lnTo>
                  <a:lnTo>
                    <a:pt x="109" y="142"/>
                  </a:lnTo>
                  <a:lnTo>
                    <a:pt x="84" y="132"/>
                  </a:lnTo>
                  <a:lnTo>
                    <a:pt x="59" y="121"/>
                  </a:lnTo>
                  <a:lnTo>
                    <a:pt x="35" y="111"/>
                  </a:lnTo>
                  <a:lnTo>
                    <a:pt x="10" y="101"/>
                  </a:lnTo>
                  <a:lnTo>
                    <a:pt x="9" y="98"/>
                  </a:lnTo>
                  <a:lnTo>
                    <a:pt x="5" y="92"/>
                  </a:lnTo>
                  <a:lnTo>
                    <a:pt x="1" y="84"/>
                  </a:lnTo>
                  <a:lnTo>
                    <a:pt x="0" y="79"/>
                  </a:lnTo>
                  <a:lnTo>
                    <a:pt x="9" y="83"/>
                  </a:lnTo>
                  <a:lnTo>
                    <a:pt x="19" y="86"/>
                  </a:lnTo>
                  <a:lnTo>
                    <a:pt x="31" y="92"/>
                  </a:lnTo>
                  <a:lnTo>
                    <a:pt x="43" y="96"/>
                  </a:lnTo>
                  <a:lnTo>
                    <a:pt x="54" y="101"/>
                  </a:lnTo>
                  <a:lnTo>
                    <a:pt x="66" y="105"/>
                  </a:lnTo>
                  <a:lnTo>
                    <a:pt x="76" y="110"/>
                  </a:lnTo>
                  <a:lnTo>
                    <a:pt x="85" y="114"/>
                  </a:lnTo>
                  <a:lnTo>
                    <a:pt x="111" y="127"/>
                  </a:lnTo>
                  <a:lnTo>
                    <a:pt x="136" y="137"/>
                  </a:lnTo>
                  <a:lnTo>
                    <a:pt x="158" y="146"/>
                  </a:lnTo>
                  <a:lnTo>
                    <a:pt x="178" y="154"/>
                  </a:lnTo>
                  <a:lnTo>
                    <a:pt x="198" y="160"/>
                  </a:lnTo>
                  <a:lnTo>
                    <a:pt x="215" y="167"/>
                  </a:lnTo>
                  <a:lnTo>
                    <a:pt x="232" y="172"/>
                  </a:lnTo>
                  <a:lnTo>
                    <a:pt x="247" y="177"/>
                  </a:lnTo>
                  <a:lnTo>
                    <a:pt x="264" y="184"/>
                  </a:lnTo>
                  <a:lnTo>
                    <a:pt x="281" y="189"/>
                  </a:lnTo>
                  <a:lnTo>
                    <a:pt x="296" y="195"/>
                  </a:lnTo>
                  <a:lnTo>
                    <a:pt x="313" y="200"/>
                  </a:lnTo>
                  <a:lnTo>
                    <a:pt x="329" y="207"/>
                  </a:lnTo>
                  <a:lnTo>
                    <a:pt x="345" y="213"/>
                  </a:lnTo>
                  <a:lnTo>
                    <a:pt x="361" y="219"/>
                  </a:lnTo>
                  <a:lnTo>
                    <a:pt x="378" y="224"/>
                  </a:lnTo>
                  <a:lnTo>
                    <a:pt x="393" y="230"/>
                  </a:lnTo>
                  <a:lnTo>
                    <a:pt x="410" y="235"/>
                  </a:lnTo>
                  <a:lnTo>
                    <a:pt x="426" y="241"/>
                  </a:lnTo>
                  <a:lnTo>
                    <a:pt x="443" y="246"/>
                  </a:lnTo>
                  <a:lnTo>
                    <a:pt x="458" y="251"/>
                  </a:lnTo>
                  <a:lnTo>
                    <a:pt x="475" y="256"/>
                  </a:lnTo>
                  <a:lnTo>
                    <a:pt x="492" y="260"/>
                  </a:lnTo>
                  <a:lnTo>
                    <a:pt x="509" y="264"/>
                  </a:lnTo>
                  <a:lnTo>
                    <a:pt x="514" y="265"/>
                  </a:lnTo>
                  <a:lnTo>
                    <a:pt x="522" y="267"/>
                  </a:lnTo>
                  <a:lnTo>
                    <a:pt x="531" y="267"/>
                  </a:lnTo>
                  <a:lnTo>
                    <a:pt x="536" y="267"/>
                  </a:lnTo>
                  <a:lnTo>
                    <a:pt x="549" y="264"/>
                  </a:lnTo>
                  <a:lnTo>
                    <a:pt x="560" y="257"/>
                  </a:lnTo>
                  <a:lnTo>
                    <a:pt x="573" y="247"/>
                  </a:lnTo>
                  <a:lnTo>
                    <a:pt x="585" y="234"/>
                  </a:lnTo>
                  <a:lnTo>
                    <a:pt x="597" y="220"/>
                  </a:lnTo>
                  <a:lnTo>
                    <a:pt x="607" y="206"/>
                  </a:lnTo>
                  <a:lnTo>
                    <a:pt x="616" y="194"/>
                  </a:lnTo>
                  <a:lnTo>
                    <a:pt x="622" y="185"/>
                  </a:lnTo>
                  <a:lnTo>
                    <a:pt x="629" y="176"/>
                  </a:lnTo>
                  <a:lnTo>
                    <a:pt x="635" y="171"/>
                  </a:lnTo>
                  <a:lnTo>
                    <a:pt x="638" y="167"/>
                  </a:lnTo>
                  <a:lnTo>
                    <a:pt x="639" y="165"/>
                  </a:lnTo>
                  <a:lnTo>
                    <a:pt x="643" y="162"/>
                  </a:lnTo>
                  <a:lnTo>
                    <a:pt x="651" y="153"/>
                  </a:lnTo>
                  <a:lnTo>
                    <a:pt x="659" y="145"/>
                  </a:lnTo>
                  <a:lnTo>
                    <a:pt x="663" y="141"/>
                  </a:lnTo>
                  <a:lnTo>
                    <a:pt x="676" y="125"/>
                  </a:lnTo>
                  <a:lnTo>
                    <a:pt x="685" y="114"/>
                  </a:lnTo>
                  <a:lnTo>
                    <a:pt x="692" y="101"/>
                  </a:lnTo>
                  <a:lnTo>
                    <a:pt x="700" y="83"/>
                  </a:lnTo>
                  <a:lnTo>
                    <a:pt x="707" y="79"/>
                  </a:lnTo>
                  <a:lnTo>
                    <a:pt x="713" y="72"/>
                  </a:lnTo>
                  <a:lnTo>
                    <a:pt x="720" y="66"/>
                  </a:lnTo>
                  <a:lnTo>
                    <a:pt x="725" y="61"/>
                  </a:lnTo>
                  <a:lnTo>
                    <a:pt x="726" y="58"/>
                  </a:lnTo>
                  <a:lnTo>
                    <a:pt x="730" y="52"/>
                  </a:lnTo>
                  <a:lnTo>
                    <a:pt x="734" y="44"/>
                  </a:lnTo>
                  <a:lnTo>
                    <a:pt x="735" y="40"/>
                  </a:lnTo>
                  <a:lnTo>
                    <a:pt x="738" y="36"/>
                  </a:lnTo>
                  <a:lnTo>
                    <a:pt x="744" y="26"/>
                  </a:lnTo>
                  <a:lnTo>
                    <a:pt x="752" y="11"/>
                  </a:lnTo>
                  <a:lnTo>
                    <a:pt x="758" y="0"/>
                  </a:lnTo>
                  <a:lnTo>
                    <a:pt x="762" y="5"/>
                  </a:lnTo>
                  <a:lnTo>
                    <a:pt x="767" y="11"/>
                  </a:lnTo>
                  <a:lnTo>
                    <a:pt x="773" y="17"/>
                  </a:lnTo>
                  <a:lnTo>
                    <a:pt x="775" y="20"/>
                  </a:lnTo>
                  <a:lnTo>
                    <a:pt x="762" y="40"/>
                  </a:lnTo>
                  <a:lnTo>
                    <a:pt x="749" y="59"/>
                  </a:lnTo>
                  <a:lnTo>
                    <a:pt x="735" y="79"/>
                  </a:lnTo>
                  <a:lnTo>
                    <a:pt x="721" y="98"/>
                  </a:lnTo>
                  <a:lnTo>
                    <a:pt x="707" y="118"/>
                  </a:lnTo>
                  <a:lnTo>
                    <a:pt x="692" y="137"/>
                  </a:lnTo>
                  <a:lnTo>
                    <a:pt x="678" y="156"/>
                  </a:lnTo>
                  <a:lnTo>
                    <a:pt x="663" y="176"/>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 name="Freeform 29"/>
            <p:cNvSpPr>
              <a:spLocks/>
            </p:cNvSpPr>
            <p:nvPr/>
          </p:nvSpPr>
          <p:spPr bwMode="auto">
            <a:xfrm>
              <a:off x="1991" y="2949"/>
              <a:ext cx="237" cy="188"/>
            </a:xfrm>
            <a:custGeom>
              <a:avLst/>
              <a:gdLst>
                <a:gd name="T0" fmla="*/ 197 w 237"/>
                <a:gd name="T1" fmla="*/ 188 h 188"/>
                <a:gd name="T2" fmla="*/ 191 w 237"/>
                <a:gd name="T3" fmla="*/ 179 h 188"/>
                <a:gd name="T4" fmla="*/ 183 w 237"/>
                <a:gd name="T5" fmla="*/ 170 h 188"/>
                <a:gd name="T6" fmla="*/ 175 w 237"/>
                <a:gd name="T7" fmla="*/ 162 h 188"/>
                <a:gd name="T8" fmla="*/ 167 w 237"/>
                <a:gd name="T9" fmla="*/ 153 h 188"/>
                <a:gd name="T10" fmla="*/ 160 w 237"/>
                <a:gd name="T11" fmla="*/ 145 h 188"/>
                <a:gd name="T12" fmla="*/ 152 w 237"/>
                <a:gd name="T13" fmla="*/ 136 h 188"/>
                <a:gd name="T14" fmla="*/ 144 w 237"/>
                <a:gd name="T15" fmla="*/ 128 h 188"/>
                <a:gd name="T16" fmla="*/ 136 w 237"/>
                <a:gd name="T17" fmla="*/ 119 h 188"/>
                <a:gd name="T18" fmla="*/ 123 w 237"/>
                <a:gd name="T19" fmla="*/ 105 h 188"/>
                <a:gd name="T20" fmla="*/ 110 w 237"/>
                <a:gd name="T21" fmla="*/ 95 h 188"/>
                <a:gd name="T22" fmla="*/ 95 w 237"/>
                <a:gd name="T23" fmla="*/ 86 h 188"/>
                <a:gd name="T24" fmla="*/ 78 w 237"/>
                <a:gd name="T25" fmla="*/ 78 h 188"/>
                <a:gd name="T26" fmla="*/ 61 w 237"/>
                <a:gd name="T27" fmla="*/ 73 h 188"/>
                <a:gd name="T28" fmla="*/ 44 w 237"/>
                <a:gd name="T29" fmla="*/ 66 h 188"/>
                <a:gd name="T30" fmla="*/ 28 w 237"/>
                <a:gd name="T31" fmla="*/ 60 h 188"/>
                <a:gd name="T32" fmla="*/ 11 w 237"/>
                <a:gd name="T33" fmla="*/ 53 h 188"/>
                <a:gd name="T34" fmla="*/ 7 w 237"/>
                <a:gd name="T35" fmla="*/ 51 h 188"/>
                <a:gd name="T36" fmla="*/ 4 w 237"/>
                <a:gd name="T37" fmla="*/ 48 h 188"/>
                <a:gd name="T38" fmla="*/ 2 w 237"/>
                <a:gd name="T39" fmla="*/ 45 h 188"/>
                <a:gd name="T40" fmla="*/ 0 w 237"/>
                <a:gd name="T41" fmla="*/ 42 h 188"/>
                <a:gd name="T42" fmla="*/ 0 w 237"/>
                <a:gd name="T43" fmla="*/ 31 h 188"/>
                <a:gd name="T44" fmla="*/ 4 w 237"/>
                <a:gd name="T45" fmla="*/ 21 h 188"/>
                <a:gd name="T46" fmla="*/ 9 w 237"/>
                <a:gd name="T47" fmla="*/ 13 h 188"/>
                <a:gd name="T48" fmla="*/ 20 w 237"/>
                <a:gd name="T49" fmla="*/ 8 h 188"/>
                <a:gd name="T50" fmla="*/ 33 w 237"/>
                <a:gd name="T51" fmla="*/ 4 h 188"/>
                <a:gd name="T52" fmla="*/ 47 w 237"/>
                <a:gd name="T53" fmla="*/ 1 h 188"/>
                <a:gd name="T54" fmla="*/ 61 w 237"/>
                <a:gd name="T55" fmla="*/ 0 h 188"/>
                <a:gd name="T56" fmla="*/ 75 w 237"/>
                <a:gd name="T57" fmla="*/ 1 h 188"/>
                <a:gd name="T58" fmla="*/ 90 w 237"/>
                <a:gd name="T59" fmla="*/ 4 h 188"/>
                <a:gd name="T60" fmla="*/ 103 w 237"/>
                <a:gd name="T61" fmla="*/ 8 h 188"/>
                <a:gd name="T62" fmla="*/ 116 w 237"/>
                <a:gd name="T63" fmla="*/ 13 h 188"/>
                <a:gd name="T64" fmla="*/ 129 w 237"/>
                <a:gd name="T65" fmla="*/ 20 h 188"/>
                <a:gd name="T66" fmla="*/ 145 w 237"/>
                <a:gd name="T67" fmla="*/ 30 h 188"/>
                <a:gd name="T68" fmla="*/ 161 w 237"/>
                <a:gd name="T69" fmla="*/ 42 h 188"/>
                <a:gd name="T70" fmla="*/ 175 w 237"/>
                <a:gd name="T71" fmla="*/ 53 h 188"/>
                <a:gd name="T72" fmla="*/ 188 w 237"/>
                <a:gd name="T73" fmla="*/ 68 h 188"/>
                <a:gd name="T74" fmla="*/ 201 w 237"/>
                <a:gd name="T75" fmla="*/ 82 h 188"/>
                <a:gd name="T76" fmla="*/ 213 w 237"/>
                <a:gd name="T77" fmla="*/ 97 h 188"/>
                <a:gd name="T78" fmla="*/ 226 w 237"/>
                <a:gd name="T79" fmla="*/ 112 h 188"/>
                <a:gd name="T80" fmla="*/ 237 w 237"/>
                <a:gd name="T81" fmla="*/ 127 h 188"/>
                <a:gd name="T82" fmla="*/ 232 w 237"/>
                <a:gd name="T83" fmla="*/ 135 h 188"/>
                <a:gd name="T84" fmla="*/ 227 w 237"/>
                <a:gd name="T85" fmla="*/ 143 h 188"/>
                <a:gd name="T86" fmla="*/ 222 w 237"/>
                <a:gd name="T87" fmla="*/ 150 h 188"/>
                <a:gd name="T88" fmla="*/ 218 w 237"/>
                <a:gd name="T89" fmla="*/ 158 h 188"/>
                <a:gd name="T90" fmla="*/ 213 w 237"/>
                <a:gd name="T91" fmla="*/ 166 h 188"/>
                <a:gd name="T92" fmla="*/ 208 w 237"/>
                <a:gd name="T93" fmla="*/ 174 h 188"/>
                <a:gd name="T94" fmla="*/ 202 w 237"/>
                <a:gd name="T95" fmla="*/ 180 h 188"/>
                <a:gd name="T96" fmla="*/ 197 w 237"/>
                <a:gd name="T97" fmla="*/ 188 h 1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37"/>
                <a:gd name="T148" fmla="*/ 0 h 188"/>
                <a:gd name="T149" fmla="*/ 237 w 237"/>
                <a:gd name="T150" fmla="*/ 188 h 1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37" h="188">
                  <a:moveTo>
                    <a:pt x="197" y="188"/>
                  </a:moveTo>
                  <a:lnTo>
                    <a:pt x="191" y="179"/>
                  </a:lnTo>
                  <a:lnTo>
                    <a:pt x="183" y="170"/>
                  </a:lnTo>
                  <a:lnTo>
                    <a:pt x="175" y="162"/>
                  </a:lnTo>
                  <a:lnTo>
                    <a:pt x="167" y="153"/>
                  </a:lnTo>
                  <a:lnTo>
                    <a:pt x="160" y="145"/>
                  </a:lnTo>
                  <a:lnTo>
                    <a:pt x="152" y="136"/>
                  </a:lnTo>
                  <a:lnTo>
                    <a:pt x="144" y="128"/>
                  </a:lnTo>
                  <a:lnTo>
                    <a:pt x="136" y="119"/>
                  </a:lnTo>
                  <a:lnTo>
                    <a:pt x="123" y="105"/>
                  </a:lnTo>
                  <a:lnTo>
                    <a:pt x="110" y="95"/>
                  </a:lnTo>
                  <a:lnTo>
                    <a:pt x="95" y="86"/>
                  </a:lnTo>
                  <a:lnTo>
                    <a:pt x="78" y="78"/>
                  </a:lnTo>
                  <a:lnTo>
                    <a:pt x="61" y="73"/>
                  </a:lnTo>
                  <a:lnTo>
                    <a:pt x="44" y="66"/>
                  </a:lnTo>
                  <a:lnTo>
                    <a:pt x="28" y="60"/>
                  </a:lnTo>
                  <a:lnTo>
                    <a:pt x="11" y="53"/>
                  </a:lnTo>
                  <a:lnTo>
                    <a:pt x="7" y="51"/>
                  </a:lnTo>
                  <a:lnTo>
                    <a:pt x="4" y="48"/>
                  </a:lnTo>
                  <a:lnTo>
                    <a:pt x="2" y="45"/>
                  </a:lnTo>
                  <a:lnTo>
                    <a:pt x="0" y="42"/>
                  </a:lnTo>
                  <a:lnTo>
                    <a:pt x="0" y="31"/>
                  </a:lnTo>
                  <a:lnTo>
                    <a:pt x="4" y="21"/>
                  </a:lnTo>
                  <a:lnTo>
                    <a:pt x="9" y="13"/>
                  </a:lnTo>
                  <a:lnTo>
                    <a:pt x="20" y="8"/>
                  </a:lnTo>
                  <a:lnTo>
                    <a:pt x="33" y="4"/>
                  </a:lnTo>
                  <a:lnTo>
                    <a:pt x="47" y="1"/>
                  </a:lnTo>
                  <a:lnTo>
                    <a:pt x="61" y="0"/>
                  </a:lnTo>
                  <a:lnTo>
                    <a:pt x="75" y="1"/>
                  </a:lnTo>
                  <a:lnTo>
                    <a:pt x="90" y="4"/>
                  </a:lnTo>
                  <a:lnTo>
                    <a:pt x="103" y="8"/>
                  </a:lnTo>
                  <a:lnTo>
                    <a:pt x="116" y="13"/>
                  </a:lnTo>
                  <a:lnTo>
                    <a:pt x="129" y="20"/>
                  </a:lnTo>
                  <a:lnTo>
                    <a:pt x="145" y="30"/>
                  </a:lnTo>
                  <a:lnTo>
                    <a:pt x="161" y="42"/>
                  </a:lnTo>
                  <a:lnTo>
                    <a:pt x="175" y="53"/>
                  </a:lnTo>
                  <a:lnTo>
                    <a:pt x="188" y="68"/>
                  </a:lnTo>
                  <a:lnTo>
                    <a:pt x="201" y="82"/>
                  </a:lnTo>
                  <a:lnTo>
                    <a:pt x="213" y="97"/>
                  </a:lnTo>
                  <a:lnTo>
                    <a:pt x="226" y="112"/>
                  </a:lnTo>
                  <a:lnTo>
                    <a:pt x="237" y="127"/>
                  </a:lnTo>
                  <a:lnTo>
                    <a:pt x="232" y="135"/>
                  </a:lnTo>
                  <a:lnTo>
                    <a:pt x="227" y="143"/>
                  </a:lnTo>
                  <a:lnTo>
                    <a:pt x="222" y="150"/>
                  </a:lnTo>
                  <a:lnTo>
                    <a:pt x="218" y="158"/>
                  </a:lnTo>
                  <a:lnTo>
                    <a:pt x="213" y="166"/>
                  </a:lnTo>
                  <a:lnTo>
                    <a:pt x="208" y="174"/>
                  </a:lnTo>
                  <a:lnTo>
                    <a:pt x="202" y="180"/>
                  </a:lnTo>
                  <a:lnTo>
                    <a:pt x="197" y="188"/>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 name="Freeform 30"/>
            <p:cNvSpPr>
              <a:spLocks/>
            </p:cNvSpPr>
            <p:nvPr/>
          </p:nvSpPr>
          <p:spPr bwMode="auto">
            <a:xfrm>
              <a:off x="2226" y="2783"/>
              <a:ext cx="164" cy="275"/>
            </a:xfrm>
            <a:custGeom>
              <a:avLst/>
              <a:gdLst>
                <a:gd name="T0" fmla="*/ 160 w 164"/>
                <a:gd name="T1" fmla="*/ 91 h 275"/>
                <a:gd name="T2" fmla="*/ 142 w 164"/>
                <a:gd name="T3" fmla="*/ 112 h 275"/>
                <a:gd name="T4" fmla="*/ 125 w 164"/>
                <a:gd name="T5" fmla="*/ 132 h 275"/>
                <a:gd name="T6" fmla="*/ 108 w 164"/>
                <a:gd name="T7" fmla="*/ 155 h 275"/>
                <a:gd name="T8" fmla="*/ 92 w 164"/>
                <a:gd name="T9" fmla="*/ 175 h 275"/>
                <a:gd name="T10" fmla="*/ 75 w 164"/>
                <a:gd name="T11" fmla="*/ 197 h 275"/>
                <a:gd name="T12" fmla="*/ 58 w 164"/>
                <a:gd name="T13" fmla="*/ 218 h 275"/>
                <a:gd name="T14" fmla="*/ 41 w 164"/>
                <a:gd name="T15" fmla="*/ 240 h 275"/>
                <a:gd name="T16" fmla="*/ 23 w 164"/>
                <a:gd name="T17" fmla="*/ 261 h 275"/>
                <a:gd name="T18" fmla="*/ 19 w 164"/>
                <a:gd name="T19" fmla="*/ 266 h 275"/>
                <a:gd name="T20" fmla="*/ 17 w 164"/>
                <a:gd name="T21" fmla="*/ 267 h 275"/>
                <a:gd name="T22" fmla="*/ 14 w 164"/>
                <a:gd name="T23" fmla="*/ 270 h 275"/>
                <a:gd name="T24" fmla="*/ 10 w 164"/>
                <a:gd name="T25" fmla="*/ 275 h 275"/>
                <a:gd name="T26" fmla="*/ 7 w 164"/>
                <a:gd name="T27" fmla="*/ 270 h 275"/>
                <a:gd name="T28" fmla="*/ 4 w 164"/>
                <a:gd name="T29" fmla="*/ 266 h 275"/>
                <a:gd name="T30" fmla="*/ 1 w 164"/>
                <a:gd name="T31" fmla="*/ 262 h 275"/>
                <a:gd name="T32" fmla="*/ 0 w 164"/>
                <a:gd name="T33" fmla="*/ 261 h 275"/>
                <a:gd name="T34" fmla="*/ 5 w 164"/>
                <a:gd name="T35" fmla="*/ 253 h 275"/>
                <a:gd name="T36" fmla="*/ 10 w 164"/>
                <a:gd name="T37" fmla="*/ 248 h 275"/>
                <a:gd name="T38" fmla="*/ 15 w 164"/>
                <a:gd name="T39" fmla="*/ 241 h 275"/>
                <a:gd name="T40" fmla="*/ 22 w 164"/>
                <a:gd name="T41" fmla="*/ 234 h 275"/>
                <a:gd name="T42" fmla="*/ 23 w 164"/>
                <a:gd name="T43" fmla="*/ 232 h 275"/>
                <a:gd name="T44" fmla="*/ 28 w 164"/>
                <a:gd name="T45" fmla="*/ 230 h 275"/>
                <a:gd name="T46" fmla="*/ 33 w 164"/>
                <a:gd name="T47" fmla="*/ 227 h 275"/>
                <a:gd name="T48" fmla="*/ 40 w 164"/>
                <a:gd name="T49" fmla="*/ 222 h 275"/>
                <a:gd name="T50" fmla="*/ 46 w 164"/>
                <a:gd name="T51" fmla="*/ 215 h 275"/>
                <a:gd name="T52" fmla="*/ 50 w 164"/>
                <a:gd name="T53" fmla="*/ 208 h 275"/>
                <a:gd name="T54" fmla="*/ 53 w 164"/>
                <a:gd name="T55" fmla="*/ 199 h 275"/>
                <a:gd name="T56" fmla="*/ 51 w 164"/>
                <a:gd name="T57" fmla="*/ 188 h 275"/>
                <a:gd name="T58" fmla="*/ 55 w 164"/>
                <a:gd name="T59" fmla="*/ 179 h 275"/>
                <a:gd name="T60" fmla="*/ 66 w 164"/>
                <a:gd name="T61" fmla="*/ 165 h 275"/>
                <a:gd name="T62" fmla="*/ 77 w 164"/>
                <a:gd name="T63" fmla="*/ 149 h 275"/>
                <a:gd name="T64" fmla="*/ 88 w 164"/>
                <a:gd name="T65" fmla="*/ 135 h 275"/>
                <a:gd name="T66" fmla="*/ 92 w 164"/>
                <a:gd name="T67" fmla="*/ 132 h 275"/>
                <a:gd name="T68" fmla="*/ 95 w 164"/>
                <a:gd name="T69" fmla="*/ 130 h 275"/>
                <a:gd name="T70" fmla="*/ 99 w 164"/>
                <a:gd name="T71" fmla="*/ 127 h 275"/>
                <a:gd name="T72" fmla="*/ 102 w 164"/>
                <a:gd name="T73" fmla="*/ 125 h 275"/>
                <a:gd name="T74" fmla="*/ 114 w 164"/>
                <a:gd name="T75" fmla="*/ 112 h 275"/>
                <a:gd name="T76" fmla="*/ 120 w 164"/>
                <a:gd name="T77" fmla="*/ 95 h 275"/>
                <a:gd name="T78" fmla="*/ 120 w 164"/>
                <a:gd name="T79" fmla="*/ 79 h 275"/>
                <a:gd name="T80" fmla="*/ 115 w 164"/>
                <a:gd name="T81" fmla="*/ 63 h 275"/>
                <a:gd name="T82" fmla="*/ 110 w 164"/>
                <a:gd name="T83" fmla="*/ 53 h 275"/>
                <a:gd name="T84" fmla="*/ 102 w 164"/>
                <a:gd name="T85" fmla="*/ 35 h 275"/>
                <a:gd name="T86" fmla="*/ 92 w 164"/>
                <a:gd name="T87" fmla="*/ 16 h 275"/>
                <a:gd name="T88" fmla="*/ 83 w 164"/>
                <a:gd name="T89" fmla="*/ 0 h 275"/>
                <a:gd name="T90" fmla="*/ 90 w 164"/>
                <a:gd name="T91" fmla="*/ 4 h 275"/>
                <a:gd name="T92" fmla="*/ 103 w 164"/>
                <a:gd name="T93" fmla="*/ 11 h 275"/>
                <a:gd name="T94" fmla="*/ 119 w 164"/>
                <a:gd name="T95" fmla="*/ 20 h 275"/>
                <a:gd name="T96" fmla="*/ 134 w 164"/>
                <a:gd name="T97" fmla="*/ 31 h 275"/>
                <a:gd name="T98" fmla="*/ 149 w 164"/>
                <a:gd name="T99" fmla="*/ 44 h 275"/>
                <a:gd name="T100" fmla="*/ 159 w 164"/>
                <a:gd name="T101" fmla="*/ 59 h 275"/>
                <a:gd name="T102" fmla="*/ 164 w 164"/>
                <a:gd name="T103" fmla="*/ 74 h 275"/>
                <a:gd name="T104" fmla="*/ 160 w 164"/>
                <a:gd name="T105" fmla="*/ 91 h 27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4"/>
                <a:gd name="T160" fmla="*/ 0 h 275"/>
                <a:gd name="T161" fmla="*/ 164 w 164"/>
                <a:gd name="T162" fmla="*/ 275 h 275"/>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4" h="275">
                  <a:moveTo>
                    <a:pt x="160" y="91"/>
                  </a:moveTo>
                  <a:lnTo>
                    <a:pt x="142" y="112"/>
                  </a:lnTo>
                  <a:lnTo>
                    <a:pt x="125" y="132"/>
                  </a:lnTo>
                  <a:lnTo>
                    <a:pt x="108" y="155"/>
                  </a:lnTo>
                  <a:lnTo>
                    <a:pt x="92" y="175"/>
                  </a:lnTo>
                  <a:lnTo>
                    <a:pt x="75" y="197"/>
                  </a:lnTo>
                  <a:lnTo>
                    <a:pt x="58" y="218"/>
                  </a:lnTo>
                  <a:lnTo>
                    <a:pt x="41" y="240"/>
                  </a:lnTo>
                  <a:lnTo>
                    <a:pt x="23" y="261"/>
                  </a:lnTo>
                  <a:lnTo>
                    <a:pt x="19" y="266"/>
                  </a:lnTo>
                  <a:lnTo>
                    <a:pt x="17" y="267"/>
                  </a:lnTo>
                  <a:lnTo>
                    <a:pt x="14" y="270"/>
                  </a:lnTo>
                  <a:lnTo>
                    <a:pt x="10" y="275"/>
                  </a:lnTo>
                  <a:lnTo>
                    <a:pt x="7" y="270"/>
                  </a:lnTo>
                  <a:lnTo>
                    <a:pt x="4" y="266"/>
                  </a:lnTo>
                  <a:lnTo>
                    <a:pt x="1" y="262"/>
                  </a:lnTo>
                  <a:lnTo>
                    <a:pt x="0" y="261"/>
                  </a:lnTo>
                  <a:lnTo>
                    <a:pt x="5" y="253"/>
                  </a:lnTo>
                  <a:lnTo>
                    <a:pt x="10" y="248"/>
                  </a:lnTo>
                  <a:lnTo>
                    <a:pt x="15" y="241"/>
                  </a:lnTo>
                  <a:lnTo>
                    <a:pt x="22" y="234"/>
                  </a:lnTo>
                  <a:lnTo>
                    <a:pt x="23" y="232"/>
                  </a:lnTo>
                  <a:lnTo>
                    <a:pt x="28" y="230"/>
                  </a:lnTo>
                  <a:lnTo>
                    <a:pt x="33" y="227"/>
                  </a:lnTo>
                  <a:lnTo>
                    <a:pt x="40" y="222"/>
                  </a:lnTo>
                  <a:lnTo>
                    <a:pt x="46" y="215"/>
                  </a:lnTo>
                  <a:lnTo>
                    <a:pt x="50" y="208"/>
                  </a:lnTo>
                  <a:lnTo>
                    <a:pt x="53" y="199"/>
                  </a:lnTo>
                  <a:lnTo>
                    <a:pt x="51" y="188"/>
                  </a:lnTo>
                  <a:lnTo>
                    <a:pt x="55" y="179"/>
                  </a:lnTo>
                  <a:lnTo>
                    <a:pt x="66" y="165"/>
                  </a:lnTo>
                  <a:lnTo>
                    <a:pt x="77" y="149"/>
                  </a:lnTo>
                  <a:lnTo>
                    <a:pt x="88" y="135"/>
                  </a:lnTo>
                  <a:lnTo>
                    <a:pt x="92" y="132"/>
                  </a:lnTo>
                  <a:lnTo>
                    <a:pt x="95" y="130"/>
                  </a:lnTo>
                  <a:lnTo>
                    <a:pt x="99" y="127"/>
                  </a:lnTo>
                  <a:lnTo>
                    <a:pt x="102" y="125"/>
                  </a:lnTo>
                  <a:lnTo>
                    <a:pt x="114" y="112"/>
                  </a:lnTo>
                  <a:lnTo>
                    <a:pt x="120" y="95"/>
                  </a:lnTo>
                  <a:lnTo>
                    <a:pt x="120" y="79"/>
                  </a:lnTo>
                  <a:lnTo>
                    <a:pt x="115" y="63"/>
                  </a:lnTo>
                  <a:lnTo>
                    <a:pt x="110" y="53"/>
                  </a:lnTo>
                  <a:lnTo>
                    <a:pt x="102" y="35"/>
                  </a:lnTo>
                  <a:lnTo>
                    <a:pt x="92" y="16"/>
                  </a:lnTo>
                  <a:lnTo>
                    <a:pt x="83" y="0"/>
                  </a:lnTo>
                  <a:lnTo>
                    <a:pt x="90" y="4"/>
                  </a:lnTo>
                  <a:lnTo>
                    <a:pt x="103" y="11"/>
                  </a:lnTo>
                  <a:lnTo>
                    <a:pt x="119" y="20"/>
                  </a:lnTo>
                  <a:lnTo>
                    <a:pt x="134" y="31"/>
                  </a:lnTo>
                  <a:lnTo>
                    <a:pt x="149" y="44"/>
                  </a:lnTo>
                  <a:lnTo>
                    <a:pt x="159" y="59"/>
                  </a:lnTo>
                  <a:lnTo>
                    <a:pt x="164" y="74"/>
                  </a:lnTo>
                  <a:lnTo>
                    <a:pt x="160" y="91"/>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 name="Freeform 31"/>
            <p:cNvSpPr>
              <a:spLocks/>
            </p:cNvSpPr>
            <p:nvPr/>
          </p:nvSpPr>
          <p:spPr bwMode="auto">
            <a:xfrm>
              <a:off x="2209" y="2945"/>
              <a:ext cx="57" cy="57"/>
            </a:xfrm>
            <a:custGeom>
              <a:avLst/>
              <a:gdLst>
                <a:gd name="T0" fmla="*/ 0 w 57"/>
                <a:gd name="T1" fmla="*/ 52 h 57"/>
                <a:gd name="T2" fmla="*/ 5 w 57"/>
                <a:gd name="T3" fmla="*/ 44 h 57"/>
                <a:gd name="T4" fmla="*/ 12 w 57"/>
                <a:gd name="T5" fmla="*/ 37 h 57"/>
                <a:gd name="T6" fmla="*/ 18 w 57"/>
                <a:gd name="T7" fmla="*/ 27 h 57"/>
                <a:gd name="T8" fmla="*/ 24 w 57"/>
                <a:gd name="T9" fmla="*/ 20 h 57"/>
                <a:gd name="T10" fmla="*/ 30 w 57"/>
                <a:gd name="T11" fmla="*/ 12 h 57"/>
                <a:gd name="T12" fmla="*/ 35 w 57"/>
                <a:gd name="T13" fmla="*/ 7 h 57"/>
                <a:gd name="T14" fmla="*/ 39 w 57"/>
                <a:gd name="T15" fmla="*/ 2 h 57"/>
                <a:gd name="T16" fmla="*/ 41 w 57"/>
                <a:gd name="T17" fmla="*/ 0 h 57"/>
                <a:gd name="T18" fmla="*/ 46 w 57"/>
                <a:gd name="T19" fmla="*/ 7 h 57"/>
                <a:gd name="T20" fmla="*/ 52 w 57"/>
                <a:gd name="T21" fmla="*/ 16 h 57"/>
                <a:gd name="T22" fmla="*/ 57 w 57"/>
                <a:gd name="T23" fmla="*/ 27 h 57"/>
                <a:gd name="T24" fmla="*/ 57 w 57"/>
                <a:gd name="T25" fmla="*/ 35 h 57"/>
                <a:gd name="T26" fmla="*/ 53 w 57"/>
                <a:gd name="T27" fmla="*/ 43 h 57"/>
                <a:gd name="T28" fmla="*/ 49 w 57"/>
                <a:gd name="T29" fmla="*/ 49 h 57"/>
                <a:gd name="T30" fmla="*/ 43 w 57"/>
                <a:gd name="T31" fmla="*/ 53 h 57"/>
                <a:gd name="T32" fmla="*/ 35 w 57"/>
                <a:gd name="T33" fmla="*/ 56 h 57"/>
                <a:gd name="T34" fmla="*/ 27 w 57"/>
                <a:gd name="T35" fmla="*/ 57 h 57"/>
                <a:gd name="T36" fmla="*/ 18 w 57"/>
                <a:gd name="T37" fmla="*/ 57 h 57"/>
                <a:gd name="T38" fmla="*/ 9 w 57"/>
                <a:gd name="T39" fmla="*/ 55 h 57"/>
                <a:gd name="T40" fmla="*/ 0 w 57"/>
                <a:gd name="T41" fmla="*/ 52 h 5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
                <a:gd name="T64" fmla="*/ 0 h 57"/>
                <a:gd name="T65" fmla="*/ 57 w 57"/>
                <a:gd name="T66" fmla="*/ 57 h 5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 h="57">
                  <a:moveTo>
                    <a:pt x="0" y="52"/>
                  </a:moveTo>
                  <a:lnTo>
                    <a:pt x="5" y="44"/>
                  </a:lnTo>
                  <a:lnTo>
                    <a:pt x="12" y="37"/>
                  </a:lnTo>
                  <a:lnTo>
                    <a:pt x="18" y="27"/>
                  </a:lnTo>
                  <a:lnTo>
                    <a:pt x="24" y="20"/>
                  </a:lnTo>
                  <a:lnTo>
                    <a:pt x="30" y="12"/>
                  </a:lnTo>
                  <a:lnTo>
                    <a:pt x="35" y="7"/>
                  </a:lnTo>
                  <a:lnTo>
                    <a:pt x="39" y="2"/>
                  </a:lnTo>
                  <a:lnTo>
                    <a:pt x="41" y="0"/>
                  </a:lnTo>
                  <a:lnTo>
                    <a:pt x="46" y="7"/>
                  </a:lnTo>
                  <a:lnTo>
                    <a:pt x="52" y="16"/>
                  </a:lnTo>
                  <a:lnTo>
                    <a:pt x="57" y="27"/>
                  </a:lnTo>
                  <a:lnTo>
                    <a:pt x="57" y="35"/>
                  </a:lnTo>
                  <a:lnTo>
                    <a:pt x="53" y="43"/>
                  </a:lnTo>
                  <a:lnTo>
                    <a:pt x="49" y="49"/>
                  </a:lnTo>
                  <a:lnTo>
                    <a:pt x="43" y="53"/>
                  </a:lnTo>
                  <a:lnTo>
                    <a:pt x="35" y="56"/>
                  </a:lnTo>
                  <a:lnTo>
                    <a:pt x="27" y="57"/>
                  </a:lnTo>
                  <a:lnTo>
                    <a:pt x="18" y="57"/>
                  </a:lnTo>
                  <a:lnTo>
                    <a:pt x="9" y="55"/>
                  </a:lnTo>
                  <a:lnTo>
                    <a:pt x="0" y="5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 name="Freeform 32"/>
            <p:cNvSpPr>
              <a:spLocks/>
            </p:cNvSpPr>
            <p:nvPr/>
          </p:nvSpPr>
          <p:spPr bwMode="auto">
            <a:xfrm>
              <a:off x="2034" y="2963"/>
              <a:ext cx="51" cy="41"/>
            </a:xfrm>
            <a:custGeom>
              <a:avLst/>
              <a:gdLst>
                <a:gd name="T0" fmla="*/ 26 w 51"/>
                <a:gd name="T1" fmla="*/ 0 h 41"/>
                <a:gd name="T2" fmla="*/ 16 w 51"/>
                <a:gd name="T3" fmla="*/ 2 h 41"/>
                <a:gd name="T4" fmla="*/ 8 w 51"/>
                <a:gd name="T5" fmla="*/ 7 h 41"/>
                <a:gd name="T6" fmla="*/ 3 w 51"/>
                <a:gd name="T7" fmla="*/ 13 h 41"/>
                <a:gd name="T8" fmla="*/ 0 w 51"/>
                <a:gd name="T9" fmla="*/ 21 h 41"/>
                <a:gd name="T10" fmla="*/ 3 w 51"/>
                <a:gd name="T11" fmla="*/ 29 h 41"/>
                <a:gd name="T12" fmla="*/ 8 w 51"/>
                <a:gd name="T13" fmla="*/ 34 h 41"/>
                <a:gd name="T14" fmla="*/ 16 w 51"/>
                <a:gd name="T15" fmla="*/ 39 h 41"/>
                <a:gd name="T16" fmla="*/ 26 w 51"/>
                <a:gd name="T17" fmla="*/ 41 h 41"/>
                <a:gd name="T18" fmla="*/ 35 w 51"/>
                <a:gd name="T19" fmla="*/ 39 h 41"/>
                <a:gd name="T20" fmla="*/ 43 w 51"/>
                <a:gd name="T21" fmla="*/ 34 h 41"/>
                <a:gd name="T22" fmla="*/ 48 w 51"/>
                <a:gd name="T23" fmla="*/ 29 h 41"/>
                <a:gd name="T24" fmla="*/ 51 w 51"/>
                <a:gd name="T25" fmla="*/ 21 h 41"/>
                <a:gd name="T26" fmla="*/ 48 w 51"/>
                <a:gd name="T27" fmla="*/ 13 h 41"/>
                <a:gd name="T28" fmla="*/ 43 w 51"/>
                <a:gd name="T29" fmla="*/ 7 h 41"/>
                <a:gd name="T30" fmla="*/ 35 w 51"/>
                <a:gd name="T31" fmla="*/ 2 h 41"/>
                <a:gd name="T32" fmla="*/ 26 w 51"/>
                <a:gd name="T33" fmla="*/ 0 h 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1"/>
                <a:gd name="T52" fmla="*/ 0 h 41"/>
                <a:gd name="T53" fmla="*/ 51 w 51"/>
                <a:gd name="T54" fmla="*/ 41 h 4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1" h="41">
                  <a:moveTo>
                    <a:pt x="26" y="0"/>
                  </a:moveTo>
                  <a:lnTo>
                    <a:pt x="16" y="2"/>
                  </a:lnTo>
                  <a:lnTo>
                    <a:pt x="8" y="7"/>
                  </a:lnTo>
                  <a:lnTo>
                    <a:pt x="3" y="13"/>
                  </a:lnTo>
                  <a:lnTo>
                    <a:pt x="0" y="21"/>
                  </a:lnTo>
                  <a:lnTo>
                    <a:pt x="3" y="29"/>
                  </a:lnTo>
                  <a:lnTo>
                    <a:pt x="8" y="34"/>
                  </a:lnTo>
                  <a:lnTo>
                    <a:pt x="16" y="39"/>
                  </a:lnTo>
                  <a:lnTo>
                    <a:pt x="26" y="41"/>
                  </a:lnTo>
                  <a:lnTo>
                    <a:pt x="35" y="39"/>
                  </a:lnTo>
                  <a:lnTo>
                    <a:pt x="43" y="34"/>
                  </a:lnTo>
                  <a:lnTo>
                    <a:pt x="48" y="29"/>
                  </a:lnTo>
                  <a:lnTo>
                    <a:pt x="51" y="21"/>
                  </a:lnTo>
                  <a:lnTo>
                    <a:pt x="48" y="13"/>
                  </a:lnTo>
                  <a:lnTo>
                    <a:pt x="43" y="7"/>
                  </a:lnTo>
                  <a:lnTo>
                    <a:pt x="35" y="2"/>
                  </a:lnTo>
                  <a:lnTo>
                    <a:pt x="2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1536553831"/>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|EOS~039|</a:t>
            </a:r>
            <a:endParaRPr lang="en-US" sz="100" dirty="0" err="1" smtClean="0">
              <a:solidFill>
                <a:srgbClr val="FFFFFF"/>
              </a:solidFill>
              <a:latin typeface="Arial"/>
              <a:cs typeface="Calibri" pitchFamily="34"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811" y="599722"/>
            <a:ext cx="3886200" cy="548640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Lst>
        </p:spPr>
      </p:pic>
      <p:sp>
        <p:nvSpPr>
          <p:cNvPr id="51203" name="Rectangle 4"/>
          <p:cNvSpPr>
            <a:spLocks noGrp="1" noChangeArrowheads="1"/>
          </p:cNvSpPr>
          <p:nvPr>
            <p:ph type="title"/>
          </p:nvPr>
        </p:nvSpPr>
        <p:spPr/>
        <p:txBody>
          <a:bodyPr/>
          <a:lstStyle/>
          <a:p>
            <a:pPr eaLnBrk="1" hangingPunct="1"/>
            <a:r>
              <a:rPr lang="en-US" dirty="0" smtClean="0"/>
              <a:t>Searching by Name, Type or Services Provided</a:t>
            </a:r>
          </a:p>
        </p:txBody>
      </p:sp>
      <p:grpSp>
        <p:nvGrpSpPr>
          <p:cNvPr id="51206" name="Group 7"/>
          <p:cNvGrpSpPr>
            <a:grpSpLocks/>
          </p:cNvGrpSpPr>
          <p:nvPr/>
        </p:nvGrpSpPr>
        <p:grpSpPr bwMode="auto">
          <a:xfrm>
            <a:off x="3565619" y="737822"/>
            <a:ext cx="1109662" cy="969963"/>
            <a:chOff x="1305" y="2500"/>
            <a:chExt cx="1138" cy="995"/>
          </a:xfrm>
        </p:grpSpPr>
        <p:sp>
          <p:nvSpPr>
            <p:cNvPr id="51222" name="Freeform 8"/>
            <p:cNvSpPr>
              <a:spLocks/>
            </p:cNvSpPr>
            <p:nvPr/>
          </p:nvSpPr>
          <p:spPr bwMode="auto">
            <a:xfrm>
              <a:off x="1305" y="2500"/>
              <a:ext cx="1138" cy="995"/>
            </a:xfrm>
            <a:custGeom>
              <a:avLst/>
              <a:gdLst>
                <a:gd name="T0" fmla="*/ 444 w 1138"/>
                <a:gd name="T1" fmla="*/ 1 h 995"/>
                <a:gd name="T2" fmla="*/ 490 w 1138"/>
                <a:gd name="T3" fmla="*/ 0 h 995"/>
                <a:gd name="T4" fmla="*/ 532 w 1138"/>
                <a:gd name="T5" fmla="*/ 10 h 995"/>
                <a:gd name="T6" fmla="*/ 600 w 1138"/>
                <a:gd name="T7" fmla="*/ 40 h 995"/>
                <a:gd name="T8" fmla="*/ 668 w 1138"/>
                <a:gd name="T9" fmla="*/ 66 h 995"/>
                <a:gd name="T10" fmla="*/ 737 w 1138"/>
                <a:gd name="T11" fmla="*/ 85 h 995"/>
                <a:gd name="T12" fmla="*/ 808 w 1138"/>
                <a:gd name="T13" fmla="*/ 101 h 995"/>
                <a:gd name="T14" fmla="*/ 882 w 1138"/>
                <a:gd name="T15" fmla="*/ 111 h 995"/>
                <a:gd name="T16" fmla="*/ 953 w 1138"/>
                <a:gd name="T17" fmla="*/ 125 h 995"/>
                <a:gd name="T18" fmla="*/ 1011 w 1138"/>
                <a:gd name="T19" fmla="*/ 163 h 995"/>
                <a:gd name="T20" fmla="*/ 1036 w 1138"/>
                <a:gd name="T21" fmla="*/ 228 h 995"/>
                <a:gd name="T22" fmla="*/ 1082 w 1138"/>
                <a:gd name="T23" fmla="*/ 252 h 995"/>
                <a:gd name="T24" fmla="*/ 1120 w 1138"/>
                <a:gd name="T25" fmla="*/ 287 h 995"/>
                <a:gd name="T26" fmla="*/ 1137 w 1138"/>
                <a:gd name="T27" fmla="*/ 342 h 995"/>
                <a:gd name="T28" fmla="*/ 1134 w 1138"/>
                <a:gd name="T29" fmla="*/ 405 h 995"/>
                <a:gd name="T30" fmla="*/ 1111 w 1138"/>
                <a:gd name="T31" fmla="*/ 463 h 995"/>
                <a:gd name="T32" fmla="*/ 1068 w 1138"/>
                <a:gd name="T33" fmla="*/ 515 h 995"/>
                <a:gd name="T34" fmla="*/ 1026 w 1138"/>
                <a:gd name="T35" fmla="*/ 568 h 995"/>
                <a:gd name="T36" fmla="*/ 984 w 1138"/>
                <a:gd name="T37" fmla="*/ 627 h 995"/>
                <a:gd name="T38" fmla="*/ 965 w 1138"/>
                <a:gd name="T39" fmla="*/ 646 h 995"/>
                <a:gd name="T40" fmla="*/ 947 w 1138"/>
                <a:gd name="T41" fmla="*/ 664 h 995"/>
                <a:gd name="T42" fmla="*/ 918 w 1138"/>
                <a:gd name="T43" fmla="*/ 712 h 995"/>
                <a:gd name="T44" fmla="*/ 864 w 1138"/>
                <a:gd name="T45" fmla="*/ 796 h 995"/>
                <a:gd name="T46" fmla="*/ 802 w 1138"/>
                <a:gd name="T47" fmla="*/ 881 h 995"/>
                <a:gd name="T48" fmla="*/ 763 w 1138"/>
                <a:gd name="T49" fmla="*/ 927 h 995"/>
                <a:gd name="T50" fmla="*/ 741 w 1138"/>
                <a:gd name="T51" fmla="*/ 950 h 995"/>
                <a:gd name="T52" fmla="*/ 715 w 1138"/>
                <a:gd name="T53" fmla="*/ 963 h 995"/>
                <a:gd name="T54" fmla="*/ 670 w 1138"/>
                <a:gd name="T55" fmla="*/ 975 h 995"/>
                <a:gd name="T56" fmla="*/ 627 w 1138"/>
                <a:gd name="T57" fmla="*/ 985 h 995"/>
                <a:gd name="T58" fmla="*/ 584 w 1138"/>
                <a:gd name="T59" fmla="*/ 993 h 995"/>
                <a:gd name="T60" fmla="*/ 543 w 1138"/>
                <a:gd name="T61" fmla="*/ 995 h 995"/>
                <a:gd name="T62" fmla="*/ 500 w 1138"/>
                <a:gd name="T63" fmla="*/ 988 h 995"/>
                <a:gd name="T64" fmla="*/ 464 w 1138"/>
                <a:gd name="T65" fmla="*/ 975 h 995"/>
                <a:gd name="T66" fmla="*/ 421 w 1138"/>
                <a:gd name="T67" fmla="*/ 953 h 995"/>
                <a:gd name="T68" fmla="*/ 369 w 1138"/>
                <a:gd name="T69" fmla="*/ 925 h 995"/>
                <a:gd name="T70" fmla="*/ 317 w 1138"/>
                <a:gd name="T71" fmla="*/ 899 h 995"/>
                <a:gd name="T72" fmla="*/ 275 w 1138"/>
                <a:gd name="T73" fmla="*/ 878 h 995"/>
                <a:gd name="T74" fmla="*/ 219 w 1138"/>
                <a:gd name="T75" fmla="*/ 861 h 995"/>
                <a:gd name="T76" fmla="*/ 151 w 1138"/>
                <a:gd name="T77" fmla="*/ 851 h 995"/>
                <a:gd name="T78" fmla="*/ 86 w 1138"/>
                <a:gd name="T79" fmla="*/ 827 h 995"/>
                <a:gd name="T80" fmla="*/ 18 w 1138"/>
                <a:gd name="T81" fmla="*/ 764 h 995"/>
                <a:gd name="T82" fmla="*/ 0 w 1138"/>
                <a:gd name="T83" fmla="*/ 678 h 995"/>
                <a:gd name="T84" fmla="*/ 15 w 1138"/>
                <a:gd name="T85" fmla="*/ 590 h 995"/>
                <a:gd name="T86" fmla="*/ 52 w 1138"/>
                <a:gd name="T87" fmla="*/ 520 h 995"/>
                <a:gd name="T88" fmla="*/ 110 w 1138"/>
                <a:gd name="T89" fmla="*/ 462 h 995"/>
                <a:gd name="T90" fmla="*/ 166 w 1138"/>
                <a:gd name="T91" fmla="*/ 392 h 995"/>
                <a:gd name="T92" fmla="*/ 217 w 1138"/>
                <a:gd name="T93" fmla="*/ 316 h 995"/>
                <a:gd name="T94" fmla="*/ 263 w 1138"/>
                <a:gd name="T95" fmla="*/ 239 h 995"/>
                <a:gd name="T96" fmla="*/ 308 w 1138"/>
                <a:gd name="T97" fmla="*/ 156 h 995"/>
                <a:gd name="T98" fmla="*/ 365 w 1138"/>
                <a:gd name="T99" fmla="*/ 58 h 995"/>
                <a:gd name="T100" fmla="*/ 413 w 1138"/>
                <a:gd name="T101" fmla="*/ 5 h 99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38"/>
                <a:gd name="T154" fmla="*/ 0 h 995"/>
                <a:gd name="T155" fmla="*/ 1138 w 1138"/>
                <a:gd name="T156" fmla="*/ 995 h 99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38" h="995">
                  <a:moveTo>
                    <a:pt x="413" y="5"/>
                  </a:moveTo>
                  <a:lnTo>
                    <a:pt x="429" y="2"/>
                  </a:lnTo>
                  <a:lnTo>
                    <a:pt x="444" y="1"/>
                  </a:lnTo>
                  <a:lnTo>
                    <a:pt x="460" y="0"/>
                  </a:lnTo>
                  <a:lnTo>
                    <a:pt x="475" y="0"/>
                  </a:lnTo>
                  <a:lnTo>
                    <a:pt x="490" y="0"/>
                  </a:lnTo>
                  <a:lnTo>
                    <a:pt x="504" y="2"/>
                  </a:lnTo>
                  <a:lnTo>
                    <a:pt x="518" y="5"/>
                  </a:lnTo>
                  <a:lnTo>
                    <a:pt x="532" y="10"/>
                  </a:lnTo>
                  <a:lnTo>
                    <a:pt x="554" y="20"/>
                  </a:lnTo>
                  <a:lnTo>
                    <a:pt x="578" y="31"/>
                  </a:lnTo>
                  <a:lnTo>
                    <a:pt x="600" y="40"/>
                  </a:lnTo>
                  <a:lnTo>
                    <a:pt x="623" y="49"/>
                  </a:lnTo>
                  <a:lnTo>
                    <a:pt x="645" y="57"/>
                  </a:lnTo>
                  <a:lnTo>
                    <a:pt x="668" y="66"/>
                  </a:lnTo>
                  <a:lnTo>
                    <a:pt x="692" y="72"/>
                  </a:lnTo>
                  <a:lnTo>
                    <a:pt x="714" y="79"/>
                  </a:lnTo>
                  <a:lnTo>
                    <a:pt x="737" y="85"/>
                  </a:lnTo>
                  <a:lnTo>
                    <a:pt x="760" y="92"/>
                  </a:lnTo>
                  <a:lnTo>
                    <a:pt x="785" y="97"/>
                  </a:lnTo>
                  <a:lnTo>
                    <a:pt x="808" y="101"/>
                  </a:lnTo>
                  <a:lnTo>
                    <a:pt x="833" y="105"/>
                  </a:lnTo>
                  <a:lnTo>
                    <a:pt x="857" y="108"/>
                  </a:lnTo>
                  <a:lnTo>
                    <a:pt x="882" y="111"/>
                  </a:lnTo>
                  <a:lnTo>
                    <a:pt x="906" y="114"/>
                  </a:lnTo>
                  <a:lnTo>
                    <a:pt x="930" y="119"/>
                  </a:lnTo>
                  <a:lnTo>
                    <a:pt x="953" y="125"/>
                  </a:lnTo>
                  <a:lnTo>
                    <a:pt x="975" y="136"/>
                  </a:lnTo>
                  <a:lnTo>
                    <a:pt x="994" y="147"/>
                  </a:lnTo>
                  <a:lnTo>
                    <a:pt x="1011" y="163"/>
                  </a:lnTo>
                  <a:lnTo>
                    <a:pt x="1024" y="181"/>
                  </a:lnTo>
                  <a:lnTo>
                    <a:pt x="1033" y="202"/>
                  </a:lnTo>
                  <a:lnTo>
                    <a:pt x="1036" y="228"/>
                  </a:lnTo>
                  <a:lnTo>
                    <a:pt x="1051" y="235"/>
                  </a:lnTo>
                  <a:lnTo>
                    <a:pt x="1067" y="243"/>
                  </a:lnTo>
                  <a:lnTo>
                    <a:pt x="1082" y="252"/>
                  </a:lnTo>
                  <a:lnTo>
                    <a:pt x="1097" y="263"/>
                  </a:lnTo>
                  <a:lnTo>
                    <a:pt x="1110" y="274"/>
                  </a:lnTo>
                  <a:lnTo>
                    <a:pt x="1120" y="287"/>
                  </a:lnTo>
                  <a:lnTo>
                    <a:pt x="1129" y="303"/>
                  </a:lnTo>
                  <a:lnTo>
                    <a:pt x="1134" y="321"/>
                  </a:lnTo>
                  <a:lnTo>
                    <a:pt x="1137" y="342"/>
                  </a:lnTo>
                  <a:lnTo>
                    <a:pt x="1138" y="364"/>
                  </a:lnTo>
                  <a:lnTo>
                    <a:pt x="1137" y="384"/>
                  </a:lnTo>
                  <a:lnTo>
                    <a:pt x="1134" y="405"/>
                  </a:lnTo>
                  <a:lnTo>
                    <a:pt x="1128" y="426"/>
                  </a:lnTo>
                  <a:lnTo>
                    <a:pt x="1120" y="445"/>
                  </a:lnTo>
                  <a:lnTo>
                    <a:pt x="1111" y="463"/>
                  </a:lnTo>
                  <a:lnTo>
                    <a:pt x="1098" y="482"/>
                  </a:lnTo>
                  <a:lnTo>
                    <a:pt x="1082" y="498"/>
                  </a:lnTo>
                  <a:lnTo>
                    <a:pt x="1068" y="515"/>
                  </a:lnTo>
                  <a:lnTo>
                    <a:pt x="1053" y="533"/>
                  </a:lnTo>
                  <a:lnTo>
                    <a:pt x="1040" y="550"/>
                  </a:lnTo>
                  <a:lnTo>
                    <a:pt x="1026" y="568"/>
                  </a:lnTo>
                  <a:lnTo>
                    <a:pt x="1011" y="586"/>
                  </a:lnTo>
                  <a:lnTo>
                    <a:pt x="998" y="606"/>
                  </a:lnTo>
                  <a:lnTo>
                    <a:pt x="984" y="627"/>
                  </a:lnTo>
                  <a:lnTo>
                    <a:pt x="978" y="634"/>
                  </a:lnTo>
                  <a:lnTo>
                    <a:pt x="971" y="641"/>
                  </a:lnTo>
                  <a:lnTo>
                    <a:pt x="965" y="646"/>
                  </a:lnTo>
                  <a:lnTo>
                    <a:pt x="960" y="653"/>
                  </a:lnTo>
                  <a:lnTo>
                    <a:pt x="953" y="659"/>
                  </a:lnTo>
                  <a:lnTo>
                    <a:pt x="947" y="664"/>
                  </a:lnTo>
                  <a:lnTo>
                    <a:pt x="941" y="671"/>
                  </a:lnTo>
                  <a:lnTo>
                    <a:pt x="938" y="678"/>
                  </a:lnTo>
                  <a:lnTo>
                    <a:pt x="918" y="712"/>
                  </a:lnTo>
                  <a:lnTo>
                    <a:pt x="900" y="742"/>
                  </a:lnTo>
                  <a:lnTo>
                    <a:pt x="882" y="770"/>
                  </a:lnTo>
                  <a:lnTo>
                    <a:pt x="864" y="796"/>
                  </a:lnTo>
                  <a:lnTo>
                    <a:pt x="844" y="824"/>
                  </a:lnTo>
                  <a:lnTo>
                    <a:pt x="824" y="851"/>
                  </a:lnTo>
                  <a:lnTo>
                    <a:pt x="802" y="881"/>
                  </a:lnTo>
                  <a:lnTo>
                    <a:pt x="777" y="912"/>
                  </a:lnTo>
                  <a:lnTo>
                    <a:pt x="769" y="919"/>
                  </a:lnTo>
                  <a:lnTo>
                    <a:pt x="763" y="927"/>
                  </a:lnTo>
                  <a:lnTo>
                    <a:pt x="755" y="936"/>
                  </a:lnTo>
                  <a:lnTo>
                    <a:pt x="749" y="943"/>
                  </a:lnTo>
                  <a:lnTo>
                    <a:pt x="741" y="950"/>
                  </a:lnTo>
                  <a:lnTo>
                    <a:pt x="733" y="956"/>
                  </a:lnTo>
                  <a:lnTo>
                    <a:pt x="724" y="961"/>
                  </a:lnTo>
                  <a:lnTo>
                    <a:pt x="715" y="963"/>
                  </a:lnTo>
                  <a:lnTo>
                    <a:pt x="699" y="967"/>
                  </a:lnTo>
                  <a:lnTo>
                    <a:pt x="684" y="971"/>
                  </a:lnTo>
                  <a:lnTo>
                    <a:pt x="670" y="975"/>
                  </a:lnTo>
                  <a:lnTo>
                    <a:pt x="655" y="979"/>
                  </a:lnTo>
                  <a:lnTo>
                    <a:pt x="641" y="983"/>
                  </a:lnTo>
                  <a:lnTo>
                    <a:pt x="627" y="985"/>
                  </a:lnTo>
                  <a:lnTo>
                    <a:pt x="613" y="989"/>
                  </a:lnTo>
                  <a:lnTo>
                    <a:pt x="598" y="991"/>
                  </a:lnTo>
                  <a:lnTo>
                    <a:pt x="584" y="993"/>
                  </a:lnTo>
                  <a:lnTo>
                    <a:pt x="570" y="995"/>
                  </a:lnTo>
                  <a:lnTo>
                    <a:pt x="557" y="995"/>
                  </a:lnTo>
                  <a:lnTo>
                    <a:pt x="543" y="995"/>
                  </a:lnTo>
                  <a:lnTo>
                    <a:pt x="528" y="993"/>
                  </a:lnTo>
                  <a:lnTo>
                    <a:pt x="514" y="992"/>
                  </a:lnTo>
                  <a:lnTo>
                    <a:pt x="500" y="988"/>
                  </a:lnTo>
                  <a:lnTo>
                    <a:pt x="486" y="984"/>
                  </a:lnTo>
                  <a:lnTo>
                    <a:pt x="475" y="980"/>
                  </a:lnTo>
                  <a:lnTo>
                    <a:pt x="464" y="975"/>
                  </a:lnTo>
                  <a:lnTo>
                    <a:pt x="451" y="969"/>
                  </a:lnTo>
                  <a:lnTo>
                    <a:pt x="437" y="961"/>
                  </a:lnTo>
                  <a:lnTo>
                    <a:pt x="421" y="953"/>
                  </a:lnTo>
                  <a:lnTo>
                    <a:pt x="404" y="944"/>
                  </a:lnTo>
                  <a:lnTo>
                    <a:pt x="386" y="935"/>
                  </a:lnTo>
                  <a:lnTo>
                    <a:pt x="369" y="925"/>
                  </a:lnTo>
                  <a:lnTo>
                    <a:pt x="352" y="915"/>
                  </a:lnTo>
                  <a:lnTo>
                    <a:pt x="334" y="906"/>
                  </a:lnTo>
                  <a:lnTo>
                    <a:pt x="317" y="899"/>
                  </a:lnTo>
                  <a:lnTo>
                    <a:pt x="302" y="890"/>
                  </a:lnTo>
                  <a:lnTo>
                    <a:pt x="288" y="883"/>
                  </a:lnTo>
                  <a:lnTo>
                    <a:pt x="275" y="878"/>
                  </a:lnTo>
                  <a:lnTo>
                    <a:pt x="263" y="873"/>
                  </a:lnTo>
                  <a:lnTo>
                    <a:pt x="253" y="870"/>
                  </a:lnTo>
                  <a:lnTo>
                    <a:pt x="219" y="861"/>
                  </a:lnTo>
                  <a:lnTo>
                    <a:pt x="193" y="856"/>
                  </a:lnTo>
                  <a:lnTo>
                    <a:pt x="170" y="853"/>
                  </a:lnTo>
                  <a:lnTo>
                    <a:pt x="151" y="851"/>
                  </a:lnTo>
                  <a:lnTo>
                    <a:pt x="131" y="847"/>
                  </a:lnTo>
                  <a:lnTo>
                    <a:pt x="110" y="839"/>
                  </a:lnTo>
                  <a:lnTo>
                    <a:pt x="86" y="827"/>
                  </a:lnTo>
                  <a:lnTo>
                    <a:pt x="56" y="808"/>
                  </a:lnTo>
                  <a:lnTo>
                    <a:pt x="34" y="789"/>
                  </a:lnTo>
                  <a:lnTo>
                    <a:pt x="18" y="764"/>
                  </a:lnTo>
                  <a:lnTo>
                    <a:pt x="8" y="738"/>
                  </a:lnTo>
                  <a:lnTo>
                    <a:pt x="3" y="708"/>
                  </a:lnTo>
                  <a:lnTo>
                    <a:pt x="0" y="678"/>
                  </a:lnTo>
                  <a:lnTo>
                    <a:pt x="3" y="649"/>
                  </a:lnTo>
                  <a:lnTo>
                    <a:pt x="8" y="619"/>
                  </a:lnTo>
                  <a:lnTo>
                    <a:pt x="15" y="590"/>
                  </a:lnTo>
                  <a:lnTo>
                    <a:pt x="22" y="564"/>
                  </a:lnTo>
                  <a:lnTo>
                    <a:pt x="35" y="541"/>
                  </a:lnTo>
                  <a:lnTo>
                    <a:pt x="52" y="520"/>
                  </a:lnTo>
                  <a:lnTo>
                    <a:pt x="70" y="501"/>
                  </a:lnTo>
                  <a:lnTo>
                    <a:pt x="90" y="482"/>
                  </a:lnTo>
                  <a:lnTo>
                    <a:pt x="110" y="462"/>
                  </a:lnTo>
                  <a:lnTo>
                    <a:pt x="131" y="441"/>
                  </a:lnTo>
                  <a:lnTo>
                    <a:pt x="149" y="419"/>
                  </a:lnTo>
                  <a:lnTo>
                    <a:pt x="166" y="392"/>
                  </a:lnTo>
                  <a:lnTo>
                    <a:pt x="183" y="366"/>
                  </a:lnTo>
                  <a:lnTo>
                    <a:pt x="200" y="342"/>
                  </a:lnTo>
                  <a:lnTo>
                    <a:pt x="217" y="316"/>
                  </a:lnTo>
                  <a:lnTo>
                    <a:pt x="232" y="290"/>
                  </a:lnTo>
                  <a:lnTo>
                    <a:pt x="248" y="265"/>
                  </a:lnTo>
                  <a:lnTo>
                    <a:pt x="263" y="239"/>
                  </a:lnTo>
                  <a:lnTo>
                    <a:pt x="279" y="212"/>
                  </a:lnTo>
                  <a:lnTo>
                    <a:pt x="292" y="187"/>
                  </a:lnTo>
                  <a:lnTo>
                    <a:pt x="308" y="156"/>
                  </a:lnTo>
                  <a:lnTo>
                    <a:pt x="327" y="123"/>
                  </a:lnTo>
                  <a:lnTo>
                    <a:pt x="346" y="89"/>
                  </a:lnTo>
                  <a:lnTo>
                    <a:pt x="365" y="58"/>
                  </a:lnTo>
                  <a:lnTo>
                    <a:pt x="384" y="31"/>
                  </a:lnTo>
                  <a:lnTo>
                    <a:pt x="400" y="13"/>
                  </a:lnTo>
                  <a:lnTo>
                    <a:pt x="413" y="5"/>
                  </a:lnTo>
                  <a:close/>
                </a:path>
              </a:pathLst>
            </a:custGeom>
            <a:solidFill>
              <a:srgbClr val="FFFFD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23" name="Freeform 9"/>
            <p:cNvSpPr>
              <a:spLocks/>
            </p:cNvSpPr>
            <p:nvPr/>
          </p:nvSpPr>
          <p:spPr bwMode="auto">
            <a:xfrm>
              <a:off x="1356" y="2554"/>
              <a:ext cx="1055" cy="891"/>
            </a:xfrm>
            <a:custGeom>
              <a:avLst/>
              <a:gdLst>
                <a:gd name="T0" fmla="*/ 1013 w 1055"/>
                <a:gd name="T1" fmla="*/ 247 h 891"/>
                <a:gd name="T2" fmla="*/ 1007 w 1055"/>
                <a:gd name="T3" fmla="*/ 242 h 891"/>
                <a:gd name="T4" fmla="*/ 986 w 1055"/>
                <a:gd name="T5" fmla="*/ 227 h 891"/>
                <a:gd name="T6" fmla="*/ 963 w 1055"/>
                <a:gd name="T7" fmla="*/ 215 h 891"/>
                <a:gd name="T8" fmla="*/ 962 w 1055"/>
                <a:gd name="T9" fmla="*/ 189 h 891"/>
                <a:gd name="T10" fmla="*/ 947 w 1055"/>
                <a:gd name="T11" fmla="*/ 157 h 891"/>
                <a:gd name="T12" fmla="*/ 918 w 1055"/>
                <a:gd name="T13" fmla="*/ 145 h 891"/>
                <a:gd name="T14" fmla="*/ 861 w 1055"/>
                <a:gd name="T15" fmla="*/ 131 h 891"/>
                <a:gd name="T16" fmla="*/ 804 w 1055"/>
                <a:gd name="T17" fmla="*/ 118 h 891"/>
                <a:gd name="T18" fmla="*/ 749 w 1055"/>
                <a:gd name="T19" fmla="*/ 105 h 891"/>
                <a:gd name="T20" fmla="*/ 707 w 1055"/>
                <a:gd name="T21" fmla="*/ 95 h 891"/>
                <a:gd name="T22" fmla="*/ 665 w 1055"/>
                <a:gd name="T23" fmla="*/ 82 h 891"/>
                <a:gd name="T24" fmla="*/ 622 w 1055"/>
                <a:gd name="T25" fmla="*/ 65 h 891"/>
                <a:gd name="T26" fmla="*/ 572 w 1055"/>
                <a:gd name="T27" fmla="*/ 43 h 891"/>
                <a:gd name="T28" fmla="*/ 516 w 1055"/>
                <a:gd name="T29" fmla="*/ 21 h 891"/>
                <a:gd name="T30" fmla="*/ 465 w 1055"/>
                <a:gd name="T31" fmla="*/ 5 h 891"/>
                <a:gd name="T32" fmla="*/ 423 w 1055"/>
                <a:gd name="T33" fmla="*/ 0 h 891"/>
                <a:gd name="T34" fmla="*/ 387 w 1055"/>
                <a:gd name="T35" fmla="*/ 18 h 891"/>
                <a:gd name="T36" fmla="*/ 343 w 1055"/>
                <a:gd name="T37" fmla="*/ 69 h 891"/>
                <a:gd name="T38" fmla="*/ 304 w 1055"/>
                <a:gd name="T39" fmla="*/ 124 h 891"/>
                <a:gd name="T40" fmla="*/ 266 w 1055"/>
                <a:gd name="T41" fmla="*/ 175 h 891"/>
                <a:gd name="T42" fmla="*/ 230 w 1055"/>
                <a:gd name="T43" fmla="*/ 223 h 891"/>
                <a:gd name="T44" fmla="*/ 198 w 1055"/>
                <a:gd name="T45" fmla="*/ 273 h 891"/>
                <a:gd name="T46" fmla="*/ 127 w 1055"/>
                <a:gd name="T47" fmla="*/ 384 h 891"/>
                <a:gd name="T48" fmla="*/ 36 w 1055"/>
                <a:gd name="T49" fmla="*/ 513 h 891"/>
                <a:gd name="T50" fmla="*/ 0 w 1055"/>
                <a:gd name="T51" fmla="*/ 578 h 891"/>
                <a:gd name="T52" fmla="*/ 9 w 1055"/>
                <a:gd name="T53" fmla="*/ 624 h 891"/>
                <a:gd name="T54" fmla="*/ 17 w 1055"/>
                <a:gd name="T55" fmla="*/ 648 h 891"/>
                <a:gd name="T56" fmla="*/ 33 w 1055"/>
                <a:gd name="T57" fmla="*/ 688 h 891"/>
                <a:gd name="T58" fmla="*/ 53 w 1055"/>
                <a:gd name="T59" fmla="*/ 709 h 891"/>
                <a:gd name="T60" fmla="*/ 101 w 1055"/>
                <a:gd name="T61" fmla="*/ 729 h 891"/>
                <a:gd name="T62" fmla="*/ 149 w 1055"/>
                <a:gd name="T63" fmla="*/ 749 h 891"/>
                <a:gd name="T64" fmla="*/ 198 w 1055"/>
                <a:gd name="T65" fmla="*/ 767 h 891"/>
                <a:gd name="T66" fmla="*/ 247 w 1055"/>
                <a:gd name="T67" fmla="*/ 785 h 891"/>
                <a:gd name="T68" fmla="*/ 295 w 1055"/>
                <a:gd name="T69" fmla="*/ 803 h 891"/>
                <a:gd name="T70" fmla="*/ 347 w 1055"/>
                <a:gd name="T71" fmla="*/ 825 h 891"/>
                <a:gd name="T72" fmla="*/ 400 w 1055"/>
                <a:gd name="T73" fmla="*/ 847 h 891"/>
                <a:gd name="T74" fmla="*/ 453 w 1055"/>
                <a:gd name="T75" fmla="*/ 867 h 891"/>
                <a:gd name="T76" fmla="*/ 531 w 1055"/>
                <a:gd name="T77" fmla="*/ 887 h 891"/>
                <a:gd name="T78" fmla="*/ 610 w 1055"/>
                <a:gd name="T79" fmla="*/ 887 h 891"/>
                <a:gd name="T80" fmla="*/ 669 w 1055"/>
                <a:gd name="T81" fmla="*/ 851 h 891"/>
                <a:gd name="T82" fmla="*/ 721 w 1055"/>
                <a:gd name="T83" fmla="*/ 790 h 891"/>
                <a:gd name="T84" fmla="*/ 780 w 1055"/>
                <a:gd name="T85" fmla="*/ 707 h 891"/>
                <a:gd name="T86" fmla="*/ 839 w 1055"/>
                <a:gd name="T87" fmla="*/ 622 h 891"/>
                <a:gd name="T88" fmla="*/ 887 w 1055"/>
                <a:gd name="T89" fmla="*/ 549 h 891"/>
                <a:gd name="T90" fmla="*/ 915 w 1055"/>
                <a:gd name="T91" fmla="*/ 508 h 891"/>
                <a:gd name="T92" fmla="*/ 978 w 1055"/>
                <a:gd name="T93" fmla="*/ 426 h 891"/>
                <a:gd name="T94" fmla="*/ 1038 w 1055"/>
                <a:gd name="T95" fmla="*/ 349 h 891"/>
                <a:gd name="T96" fmla="*/ 1055 w 1055"/>
                <a:gd name="T97" fmla="*/ 312 h 891"/>
                <a:gd name="T98" fmla="*/ 1048 w 1055"/>
                <a:gd name="T99" fmla="*/ 277 h 891"/>
                <a:gd name="T100" fmla="*/ 1025 w 1055"/>
                <a:gd name="T101" fmla="*/ 254 h 8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55"/>
                <a:gd name="T154" fmla="*/ 0 h 891"/>
                <a:gd name="T155" fmla="*/ 1055 w 1055"/>
                <a:gd name="T156" fmla="*/ 891 h 8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55" h="891">
                  <a:moveTo>
                    <a:pt x="1013" y="249"/>
                  </a:moveTo>
                  <a:lnTo>
                    <a:pt x="1013" y="247"/>
                  </a:lnTo>
                  <a:lnTo>
                    <a:pt x="1007" y="242"/>
                  </a:lnTo>
                  <a:lnTo>
                    <a:pt x="1000" y="237"/>
                  </a:lnTo>
                  <a:lnTo>
                    <a:pt x="993" y="232"/>
                  </a:lnTo>
                  <a:lnTo>
                    <a:pt x="986" y="227"/>
                  </a:lnTo>
                  <a:lnTo>
                    <a:pt x="978" y="223"/>
                  </a:lnTo>
                  <a:lnTo>
                    <a:pt x="971" y="219"/>
                  </a:lnTo>
                  <a:lnTo>
                    <a:pt x="963" y="215"/>
                  </a:lnTo>
                  <a:lnTo>
                    <a:pt x="955" y="213"/>
                  </a:lnTo>
                  <a:lnTo>
                    <a:pt x="960" y="201"/>
                  </a:lnTo>
                  <a:lnTo>
                    <a:pt x="962" y="189"/>
                  </a:lnTo>
                  <a:lnTo>
                    <a:pt x="960" y="176"/>
                  </a:lnTo>
                  <a:lnTo>
                    <a:pt x="955" y="165"/>
                  </a:lnTo>
                  <a:lnTo>
                    <a:pt x="947" y="157"/>
                  </a:lnTo>
                  <a:lnTo>
                    <a:pt x="938" y="152"/>
                  </a:lnTo>
                  <a:lnTo>
                    <a:pt x="928" y="148"/>
                  </a:lnTo>
                  <a:lnTo>
                    <a:pt x="918" y="145"/>
                  </a:lnTo>
                  <a:lnTo>
                    <a:pt x="898" y="140"/>
                  </a:lnTo>
                  <a:lnTo>
                    <a:pt x="879" y="135"/>
                  </a:lnTo>
                  <a:lnTo>
                    <a:pt x="861" y="131"/>
                  </a:lnTo>
                  <a:lnTo>
                    <a:pt x="841" y="127"/>
                  </a:lnTo>
                  <a:lnTo>
                    <a:pt x="823" y="122"/>
                  </a:lnTo>
                  <a:lnTo>
                    <a:pt x="804" y="118"/>
                  </a:lnTo>
                  <a:lnTo>
                    <a:pt x="784" y="114"/>
                  </a:lnTo>
                  <a:lnTo>
                    <a:pt x="765" y="109"/>
                  </a:lnTo>
                  <a:lnTo>
                    <a:pt x="749" y="105"/>
                  </a:lnTo>
                  <a:lnTo>
                    <a:pt x="735" y="102"/>
                  </a:lnTo>
                  <a:lnTo>
                    <a:pt x="721" y="99"/>
                  </a:lnTo>
                  <a:lnTo>
                    <a:pt x="707" y="95"/>
                  </a:lnTo>
                  <a:lnTo>
                    <a:pt x="692" y="91"/>
                  </a:lnTo>
                  <a:lnTo>
                    <a:pt x="678" y="87"/>
                  </a:lnTo>
                  <a:lnTo>
                    <a:pt x="665" y="82"/>
                  </a:lnTo>
                  <a:lnTo>
                    <a:pt x="651" y="77"/>
                  </a:lnTo>
                  <a:lnTo>
                    <a:pt x="638" y="71"/>
                  </a:lnTo>
                  <a:lnTo>
                    <a:pt x="622" y="65"/>
                  </a:lnTo>
                  <a:lnTo>
                    <a:pt x="607" y="57"/>
                  </a:lnTo>
                  <a:lnTo>
                    <a:pt x="589" y="51"/>
                  </a:lnTo>
                  <a:lnTo>
                    <a:pt x="572" y="43"/>
                  </a:lnTo>
                  <a:lnTo>
                    <a:pt x="553" y="35"/>
                  </a:lnTo>
                  <a:lnTo>
                    <a:pt x="534" y="29"/>
                  </a:lnTo>
                  <a:lnTo>
                    <a:pt x="516" y="21"/>
                  </a:lnTo>
                  <a:lnTo>
                    <a:pt x="498" y="16"/>
                  </a:lnTo>
                  <a:lnTo>
                    <a:pt x="481" y="10"/>
                  </a:lnTo>
                  <a:lnTo>
                    <a:pt x="465" y="5"/>
                  </a:lnTo>
                  <a:lnTo>
                    <a:pt x="449" y="3"/>
                  </a:lnTo>
                  <a:lnTo>
                    <a:pt x="435" y="0"/>
                  </a:lnTo>
                  <a:lnTo>
                    <a:pt x="423" y="0"/>
                  </a:lnTo>
                  <a:lnTo>
                    <a:pt x="413" y="1"/>
                  </a:lnTo>
                  <a:lnTo>
                    <a:pt x="405" y="5"/>
                  </a:lnTo>
                  <a:lnTo>
                    <a:pt x="387" y="18"/>
                  </a:lnTo>
                  <a:lnTo>
                    <a:pt x="371" y="34"/>
                  </a:lnTo>
                  <a:lnTo>
                    <a:pt x="357" y="51"/>
                  </a:lnTo>
                  <a:lnTo>
                    <a:pt x="343" y="69"/>
                  </a:lnTo>
                  <a:lnTo>
                    <a:pt x="330" y="88"/>
                  </a:lnTo>
                  <a:lnTo>
                    <a:pt x="317" y="106"/>
                  </a:lnTo>
                  <a:lnTo>
                    <a:pt x="304" y="124"/>
                  </a:lnTo>
                  <a:lnTo>
                    <a:pt x="291" y="143"/>
                  </a:lnTo>
                  <a:lnTo>
                    <a:pt x="278" y="159"/>
                  </a:lnTo>
                  <a:lnTo>
                    <a:pt x="266" y="175"/>
                  </a:lnTo>
                  <a:lnTo>
                    <a:pt x="254" y="190"/>
                  </a:lnTo>
                  <a:lnTo>
                    <a:pt x="242" y="206"/>
                  </a:lnTo>
                  <a:lnTo>
                    <a:pt x="230" y="223"/>
                  </a:lnTo>
                  <a:lnTo>
                    <a:pt x="219" y="238"/>
                  </a:lnTo>
                  <a:lnTo>
                    <a:pt x="208" y="255"/>
                  </a:lnTo>
                  <a:lnTo>
                    <a:pt x="198" y="273"/>
                  </a:lnTo>
                  <a:lnTo>
                    <a:pt x="181" y="303"/>
                  </a:lnTo>
                  <a:lnTo>
                    <a:pt x="156" y="341"/>
                  </a:lnTo>
                  <a:lnTo>
                    <a:pt x="127" y="384"/>
                  </a:lnTo>
                  <a:lnTo>
                    <a:pt x="96" y="429"/>
                  </a:lnTo>
                  <a:lnTo>
                    <a:pt x="65" y="473"/>
                  </a:lnTo>
                  <a:lnTo>
                    <a:pt x="36" y="513"/>
                  </a:lnTo>
                  <a:lnTo>
                    <a:pt x="14" y="545"/>
                  </a:lnTo>
                  <a:lnTo>
                    <a:pt x="0" y="567"/>
                  </a:lnTo>
                  <a:lnTo>
                    <a:pt x="0" y="578"/>
                  </a:lnTo>
                  <a:lnTo>
                    <a:pt x="4" y="597"/>
                  </a:lnTo>
                  <a:lnTo>
                    <a:pt x="8" y="615"/>
                  </a:lnTo>
                  <a:lnTo>
                    <a:pt x="9" y="624"/>
                  </a:lnTo>
                  <a:lnTo>
                    <a:pt x="10" y="628"/>
                  </a:lnTo>
                  <a:lnTo>
                    <a:pt x="13" y="637"/>
                  </a:lnTo>
                  <a:lnTo>
                    <a:pt x="17" y="648"/>
                  </a:lnTo>
                  <a:lnTo>
                    <a:pt x="22" y="661"/>
                  </a:lnTo>
                  <a:lnTo>
                    <a:pt x="27" y="675"/>
                  </a:lnTo>
                  <a:lnTo>
                    <a:pt x="33" y="688"/>
                  </a:lnTo>
                  <a:lnTo>
                    <a:pt x="40" y="698"/>
                  </a:lnTo>
                  <a:lnTo>
                    <a:pt x="48" y="706"/>
                  </a:lnTo>
                  <a:lnTo>
                    <a:pt x="53" y="709"/>
                  </a:lnTo>
                  <a:lnTo>
                    <a:pt x="68" y="716"/>
                  </a:lnTo>
                  <a:lnTo>
                    <a:pt x="85" y="723"/>
                  </a:lnTo>
                  <a:lnTo>
                    <a:pt x="101" y="729"/>
                  </a:lnTo>
                  <a:lnTo>
                    <a:pt x="116" y="737"/>
                  </a:lnTo>
                  <a:lnTo>
                    <a:pt x="133" y="744"/>
                  </a:lnTo>
                  <a:lnTo>
                    <a:pt x="149" y="749"/>
                  </a:lnTo>
                  <a:lnTo>
                    <a:pt x="166" y="755"/>
                  </a:lnTo>
                  <a:lnTo>
                    <a:pt x="181" y="762"/>
                  </a:lnTo>
                  <a:lnTo>
                    <a:pt x="198" y="767"/>
                  </a:lnTo>
                  <a:lnTo>
                    <a:pt x="213" y="773"/>
                  </a:lnTo>
                  <a:lnTo>
                    <a:pt x="230" y="780"/>
                  </a:lnTo>
                  <a:lnTo>
                    <a:pt x="247" y="785"/>
                  </a:lnTo>
                  <a:lnTo>
                    <a:pt x="263" y="792"/>
                  </a:lnTo>
                  <a:lnTo>
                    <a:pt x="279" y="797"/>
                  </a:lnTo>
                  <a:lnTo>
                    <a:pt x="295" y="803"/>
                  </a:lnTo>
                  <a:lnTo>
                    <a:pt x="312" y="810"/>
                  </a:lnTo>
                  <a:lnTo>
                    <a:pt x="330" y="817"/>
                  </a:lnTo>
                  <a:lnTo>
                    <a:pt x="347" y="825"/>
                  </a:lnTo>
                  <a:lnTo>
                    <a:pt x="365" y="833"/>
                  </a:lnTo>
                  <a:lnTo>
                    <a:pt x="382" y="839"/>
                  </a:lnTo>
                  <a:lnTo>
                    <a:pt x="400" y="847"/>
                  </a:lnTo>
                  <a:lnTo>
                    <a:pt x="417" y="855"/>
                  </a:lnTo>
                  <a:lnTo>
                    <a:pt x="435" y="861"/>
                  </a:lnTo>
                  <a:lnTo>
                    <a:pt x="453" y="867"/>
                  </a:lnTo>
                  <a:lnTo>
                    <a:pt x="479" y="874"/>
                  </a:lnTo>
                  <a:lnTo>
                    <a:pt x="505" y="881"/>
                  </a:lnTo>
                  <a:lnTo>
                    <a:pt x="531" y="887"/>
                  </a:lnTo>
                  <a:lnTo>
                    <a:pt x="558" y="891"/>
                  </a:lnTo>
                  <a:lnTo>
                    <a:pt x="584" y="891"/>
                  </a:lnTo>
                  <a:lnTo>
                    <a:pt x="610" y="887"/>
                  </a:lnTo>
                  <a:lnTo>
                    <a:pt x="633" y="880"/>
                  </a:lnTo>
                  <a:lnTo>
                    <a:pt x="656" y="864"/>
                  </a:lnTo>
                  <a:lnTo>
                    <a:pt x="669" y="851"/>
                  </a:lnTo>
                  <a:lnTo>
                    <a:pt x="685" y="834"/>
                  </a:lnTo>
                  <a:lnTo>
                    <a:pt x="701" y="814"/>
                  </a:lnTo>
                  <a:lnTo>
                    <a:pt x="721" y="790"/>
                  </a:lnTo>
                  <a:lnTo>
                    <a:pt x="740" y="764"/>
                  </a:lnTo>
                  <a:lnTo>
                    <a:pt x="760" y="736"/>
                  </a:lnTo>
                  <a:lnTo>
                    <a:pt x="780" y="707"/>
                  </a:lnTo>
                  <a:lnTo>
                    <a:pt x="800" y="678"/>
                  </a:lnTo>
                  <a:lnTo>
                    <a:pt x="819" y="649"/>
                  </a:lnTo>
                  <a:lnTo>
                    <a:pt x="839" y="622"/>
                  </a:lnTo>
                  <a:lnTo>
                    <a:pt x="857" y="595"/>
                  </a:lnTo>
                  <a:lnTo>
                    <a:pt x="872" y="570"/>
                  </a:lnTo>
                  <a:lnTo>
                    <a:pt x="887" y="549"/>
                  </a:lnTo>
                  <a:lnTo>
                    <a:pt x="899" y="531"/>
                  </a:lnTo>
                  <a:lnTo>
                    <a:pt x="909" y="517"/>
                  </a:lnTo>
                  <a:lnTo>
                    <a:pt x="915" y="508"/>
                  </a:lnTo>
                  <a:lnTo>
                    <a:pt x="933" y="483"/>
                  </a:lnTo>
                  <a:lnTo>
                    <a:pt x="955" y="456"/>
                  </a:lnTo>
                  <a:lnTo>
                    <a:pt x="978" y="426"/>
                  </a:lnTo>
                  <a:lnTo>
                    <a:pt x="1000" y="396"/>
                  </a:lnTo>
                  <a:lnTo>
                    <a:pt x="1021" y="371"/>
                  </a:lnTo>
                  <a:lnTo>
                    <a:pt x="1038" y="349"/>
                  </a:lnTo>
                  <a:lnTo>
                    <a:pt x="1050" y="333"/>
                  </a:lnTo>
                  <a:lnTo>
                    <a:pt x="1053" y="325"/>
                  </a:lnTo>
                  <a:lnTo>
                    <a:pt x="1055" y="312"/>
                  </a:lnTo>
                  <a:lnTo>
                    <a:pt x="1055" y="301"/>
                  </a:lnTo>
                  <a:lnTo>
                    <a:pt x="1052" y="289"/>
                  </a:lnTo>
                  <a:lnTo>
                    <a:pt x="1048" y="277"/>
                  </a:lnTo>
                  <a:lnTo>
                    <a:pt x="1042" y="268"/>
                  </a:lnTo>
                  <a:lnTo>
                    <a:pt x="1034" y="260"/>
                  </a:lnTo>
                  <a:lnTo>
                    <a:pt x="1025" y="254"/>
                  </a:lnTo>
                  <a:lnTo>
                    <a:pt x="1013" y="2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24" name="Freeform 10"/>
            <p:cNvSpPr>
              <a:spLocks/>
            </p:cNvSpPr>
            <p:nvPr/>
          </p:nvSpPr>
          <p:spPr bwMode="auto">
            <a:xfrm>
              <a:off x="2158" y="2782"/>
              <a:ext cx="151" cy="211"/>
            </a:xfrm>
            <a:custGeom>
              <a:avLst/>
              <a:gdLst>
                <a:gd name="T0" fmla="*/ 151 w 151"/>
                <a:gd name="T1" fmla="*/ 27 h 211"/>
                <a:gd name="T2" fmla="*/ 148 w 151"/>
                <a:gd name="T3" fmla="*/ 32 h 211"/>
                <a:gd name="T4" fmla="*/ 141 w 151"/>
                <a:gd name="T5" fmla="*/ 42 h 211"/>
                <a:gd name="T6" fmla="*/ 131 w 151"/>
                <a:gd name="T7" fmla="*/ 54 h 211"/>
                <a:gd name="T8" fmla="*/ 118 w 151"/>
                <a:gd name="T9" fmla="*/ 69 h 211"/>
                <a:gd name="T10" fmla="*/ 105 w 151"/>
                <a:gd name="T11" fmla="*/ 83 h 211"/>
                <a:gd name="T12" fmla="*/ 95 w 151"/>
                <a:gd name="T13" fmla="*/ 96 h 211"/>
                <a:gd name="T14" fmla="*/ 88 w 151"/>
                <a:gd name="T15" fmla="*/ 105 h 211"/>
                <a:gd name="T16" fmla="*/ 86 w 151"/>
                <a:gd name="T17" fmla="*/ 109 h 211"/>
                <a:gd name="T18" fmla="*/ 87 w 151"/>
                <a:gd name="T19" fmla="*/ 110 h 211"/>
                <a:gd name="T20" fmla="*/ 91 w 151"/>
                <a:gd name="T21" fmla="*/ 113 h 211"/>
                <a:gd name="T22" fmla="*/ 96 w 151"/>
                <a:gd name="T23" fmla="*/ 117 h 211"/>
                <a:gd name="T24" fmla="*/ 104 w 151"/>
                <a:gd name="T25" fmla="*/ 121 h 211"/>
                <a:gd name="T26" fmla="*/ 113 w 151"/>
                <a:gd name="T27" fmla="*/ 126 h 211"/>
                <a:gd name="T28" fmla="*/ 122 w 151"/>
                <a:gd name="T29" fmla="*/ 130 h 211"/>
                <a:gd name="T30" fmla="*/ 131 w 151"/>
                <a:gd name="T31" fmla="*/ 132 h 211"/>
                <a:gd name="T32" fmla="*/ 141 w 151"/>
                <a:gd name="T33" fmla="*/ 132 h 211"/>
                <a:gd name="T34" fmla="*/ 134 w 151"/>
                <a:gd name="T35" fmla="*/ 137 h 211"/>
                <a:gd name="T36" fmla="*/ 126 w 151"/>
                <a:gd name="T37" fmla="*/ 144 h 211"/>
                <a:gd name="T38" fmla="*/ 119 w 151"/>
                <a:gd name="T39" fmla="*/ 152 h 211"/>
                <a:gd name="T40" fmla="*/ 113 w 151"/>
                <a:gd name="T41" fmla="*/ 159 h 211"/>
                <a:gd name="T42" fmla="*/ 109 w 151"/>
                <a:gd name="T43" fmla="*/ 154 h 211"/>
                <a:gd name="T44" fmla="*/ 105 w 151"/>
                <a:gd name="T45" fmla="*/ 145 h 211"/>
                <a:gd name="T46" fmla="*/ 100 w 151"/>
                <a:gd name="T47" fmla="*/ 136 h 211"/>
                <a:gd name="T48" fmla="*/ 99 w 151"/>
                <a:gd name="T49" fmla="*/ 132 h 211"/>
                <a:gd name="T50" fmla="*/ 95 w 151"/>
                <a:gd name="T51" fmla="*/ 135 h 211"/>
                <a:gd name="T52" fmla="*/ 87 w 151"/>
                <a:gd name="T53" fmla="*/ 144 h 211"/>
                <a:gd name="T54" fmla="*/ 75 w 151"/>
                <a:gd name="T55" fmla="*/ 157 h 211"/>
                <a:gd name="T56" fmla="*/ 64 w 151"/>
                <a:gd name="T57" fmla="*/ 171 h 211"/>
                <a:gd name="T58" fmla="*/ 51 w 151"/>
                <a:gd name="T59" fmla="*/ 185 h 211"/>
                <a:gd name="T60" fmla="*/ 41 w 151"/>
                <a:gd name="T61" fmla="*/ 198 h 211"/>
                <a:gd name="T62" fmla="*/ 33 w 151"/>
                <a:gd name="T63" fmla="*/ 207 h 211"/>
                <a:gd name="T64" fmla="*/ 30 w 151"/>
                <a:gd name="T65" fmla="*/ 211 h 211"/>
                <a:gd name="T66" fmla="*/ 20 w 151"/>
                <a:gd name="T67" fmla="*/ 201 h 211"/>
                <a:gd name="T68" fmla="*/ 11 w 151"/>
                <a:gd name="T69" fmla="*/ 192 h 211"/>
                <a:gd name="T70" fmla="*/ 3 w 151"/>
                <a:gd name="T71" fmla="*/ 184 h 211"/>
                <a:gd name="T72" fmla="*/ 0 w 151"/>
                <a:gd name="T73" fmla="*/ 180 h 211"/>
                <a:gd name="T74" fmla="*/ 17 w 151"/>
                <a:gd name="T75" fmla="*/ 163 h 211"/>
                <a:gd name="T76" fmla="*/ 37 w 151"/>
                <a:gd name="T77" fmla="*/ 139 h 211"/>
                <a:gd name="T78" fmla="*/ 57 w 151"/>
                <a:gd name="T79" fmla="*/ 111 h 211"/>
                <a:gd name="T80" fmla="*/ 79 w 151"/>
                <a:gd name="T81" fmla="*/ 83 h 211"/>
                <a:gd name="T82" fmla="*/ 100 w 151"/>
                <a:gd name="T83" fmla="*/ 56 h 211"/>
                <a:gd name="T84" fmla="*/ 118 w 151"/>
                <a:gd name="T85" fmla="*/ 31 h 211"/>
                <a:gd name="T86" fmla="*/ 132 w 151"/>
                <a:gd name="T87" fmla="*/ 12 h 211"/>
                <a:gd name="T88" fmla="*/ 141 w 151"/>
                <a:gd name="T89" fmla="*/ 0 h 211"/>
                <a:gd name="T90" fmla="*/ 144 w 151"/>
                <a:gd name="T91" fmla="*/ 7 h 211"/>
                <a:gd name="T92" fmla="*/ 145 w 151"/>
                <a:gd name="T93" fmla="*/ 13 h 211"/>
                <a:gd name="T94" fmla="*/ 148 w 151"/>
                <a:gd name="T95" fmla="*/ 21 h 211"/>
                <a:gd name="T96" fmla="*/ 151 w 151"/>
                <a:gd name="T97" fmla="*/ 27 h 21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51"/>
                <a:gd name="T148" fmla="*/ 0 h 211"/>
                <a:gd name="T149" fmla="*/ 151 w 151"/>
                <a:gd name="T150" fmla="*/ 211 h 21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51" h="211">
                  <a:moveTo>
                    <a:pt x="151" y="27"/>
                  </a:moveTo>
                  <a:lnTo>
                    <a:pt x="148" y="32"/>
                  </a:lnTo>
                  <a:lnTo>
                    <a:pt x="141" y="42"/>
                  </a:lnTo>
                  <a:lnTo>
                    <a:pt x="131" y="54"/>
                  </a:lnTo>
                  <a:lnTo>
                    <a:pt x="118" y="69"/>
                  </a:lnTo>
                  <a:lnTo>
                    <a:pt x="105" y="83"/>
                  </a:lnTo>
                  <a:lnTo>
                    <a:pt x="95" y="96"/>
                  </a:lnTo>
                  <a:lnTo>
                    <a:pt x="88" y="105"/>
                  </a:lnTo>
                  <a:lnTo>
                    <a:pt x="86" y="109"/>
                  </a:lnTo>
                  <a:lnTo>
                    <a:pt x="87" y="110"/>
                  </a:lnTo>
                  <a:lnTo>
                    <a:pt x="91" y="113"/>
                  </a:lnTo>
                  <a:lnTo>
                    <a:pt x="96" y="117"/>
                  </a:lnTo>
                  <a:lnTo>
                    <a:pt x="104" y="121"/>
                  </a:lnTo>
                  <a:lnTo>
                    <a:pt x="113" y="126"/>
                  </a:lnTo>
                  <a:lnTo>
                    <a:pt x="122" y="130"/>
                  </a:lnTo>
                  <a:lnTo>
                    <a:pt x="131" y="132"/>
                  </a:lnTo>
                  <a:lnTo>
                    <a:pt x="141" y="132"/>
                  </a:lnTo>
                  <a:lnTo>
                    <a:pt x="134" y="137"/>
                  </a:lnTo>
                  <a:lnTo>
                    <a:pt x="126" y="144"/>
                  </a:lnTo>
                  <a:lnTo>
                    <a:pt x="119" y="152"/>
                  </a:lnTo>
                  <a:lnTo>
                    <a:pt x="113" y="159"/>
                  </a:lnTo>
                  <a:lnTo>
                    <a:pt x="109" y="154"/>
                  </a:lnTo>
                  <a:lnTo>
                    <a:pt x="105" y="145"/>
                  </a:lnTo>
                  <a:lnTo>
                    <a:pt x="100" y="136"/>
                  </a:lnTo>
                  <a:lnTo>
                    <a:pt x="99" y="132"/>
                  </a:lnTo>
                  <a:lnTo>
                    <a:pt x="95" y="135"/>
                  </a:lnTo>
                  <a:lnTo>
                    <a:pt x="87" y="144"/>
                  </a:lnTo>
                  <a:lnTo>
                    <a:pt x="75" y="157"/>
                  </a:lnTo>
                  <a:lnTo>
                    <a:pt x="64" y="171"/>
                  </a:lnTo>
                  <a:lnTo>
                    <a:pt x="51" y="185"/>
                  </a:lnTo>
                  <a:lnTo>
                    <a:pt x="41" y="198"/>
                  </a:lnTo>
                  <a:lnTo>
                    <a:pt x="33" y="207"/>
                  </a:lnTo>
                  <a:lnTo>
                    <a:pt x="30" y="211"/>
                  </a:lnTo>
                  <a:lnTo>
                    <a:pt x="20" y="201"/>
                  </a:lnTo>
                  <a:lnTo>
                    <a:pt x="11" y="192"/>
                  </a:lnTo>
                  <a:lnTo>
                    <a:pt x="3" y="184"/>
                  </a:lnTo>
                  <a:lnTo>
                    <a:pt x="0" y="180"/>
                  </a:lnTo>
                  <a:lnTo>
                    <a:pt x="17" y="163"/>
                  </a:lnTo>
                  <a:lnTo>
                    <a:pt x="37" y="139"/>
                  </a:lnTo>
                  <a:lnTo>
                    <a:pt x="57" y="111"/>
                  </a:lnTo>
                  <a:lnTo>
                    <a:pt x="79" y="83"/>
                  </a:lnTo>
                  <a:lnTo>
                    <a:pt x="100" y="56"/>
                  </a:lnTo>
                  <a:lnTo>
                    <a:pt x="118" y="31"/>
                  </a:lnTo>
                  <a:lnTo>
                    <a:pt x="132" y="12"/>
                  </a:lnTo>
                  <a:lnTo>
                    <a:pt x="141" y="0"/>
                  </a:lnTo>
                  <a:lnTo>
                    <a:pt x="144" y="7"/>
                  </a:lnTo>
                  <a:lnTo>
                    <a:pt x="145" y="13"/>
                  </a:lnTo>
                  <a:lnTo>
                    <a:pt x="148" y="21"/>
                  </a:lnTo>
                  <a:lnTo>
                    <a:pt x="151" y="27"/>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25" name="Freeform 11"/>
            <p:cNvSpPr>
              <a:spLocks/>
            </p:cNvSpPr>
            <p:nvPr/>
          </p:nvSpPr>
          <p:spPr bwMode="auto">
            <a:xfrm>
              <a:off x="2271" y="2834"/>
              <a:ext cx="58" cy="65"/>
            </a:xfrm>
            <a:custGeom>
              <a:avLst/>
              <a:gdLst>
                <a:gd name="T0" fmla="*/ 44 w 58"/>
                <a:gd name="T1" fmla="*/ 0 h 65"/>
                <a:gd name="T2" fmla="*/ 53 w 58"/>
                <a:gd name="T3" fmla="*/ 17 h 65"/>
                <a:gd name="T4" fmla="*/ 57 w 58"/>
                <a:gd name="T5" fmla="*/ 31 h 65"/>
                <a:gd name="T6" fmla="*/ 57 w 58"/>
                <a:gd name="T7" fmla="*/ 41 h 65"/>
                <a:gd name="T8" fmla="*/ 58 w 58"/>
                <a:gd name="T9" fmla="*/ 47 h 65"/>
                <a:gd name="T10" fmla="*/ 56 w 58"/>
                <a:gd name="T11" fmla="*/ 52 h 65"/>
                <a:gd name="T12" fmla="*/ 54 w 58"/>
                <a:gd name="T13" fmla="*/ 56 h 65"/>
                <a:gd name="T14" fmla="*/ 52 w 58"/>
                <a:gd name="T15" fmla="*/ 58 h 65"/>
                <a:gd name="T16" fmla="*/ 45 w 58"/>
                <a:gd name="T17" fmla="*/ 61 h 65"/>
                <a:gd name="T18" fmla="*/ 39 w 58"/>
                <a:gd name="T19" fmla="*/ 63 h 65"/>
                <a:gd name="T20" fmla="*/ 34 w 58"/>
                <a:gd name="T21" fmla="*/ 65 h 65"/>
                <a:gd name="T22" fmla="*/ 30 w 58"/>
                <a:gd name="T23" fmla="*/ 65 h 65"/>
                <a:gd name="T24" fmla="*/ 25 w 58"/>
                <a:gd name="T25" fmla="*/ 63 h 65"/>
                <a:gd name="T26" fmla="*/ 19 w 58"/>
                <a:gd name="T27" fmla="*/ 61 h 65"/>
                <a:gd name="T28" fmla="*/ 14 w 58"/>
                <a:gd name="T29" fmla="*/ 58 h 65"/>
                <a:gd name="T30" fmla="*/ 8 w 58"/>
                <a:gd name="T31" fmla="*/ 56 h 65"/>
                <a:gd name="T32" fmla="*/ 0 w 58"/>
                <a:gd name="T33" fmla="*/ 52 h 65"/>
                <a:gd name="T34" fmla="*/ 3 w 58"/>
                <a:gd name="T35" fmla="*/ 48 h 65"/>
                <a:gd name="T36" fmla="*/ 8 w 58"/>
                <a:gd name="T37" fmla="*/ 40 h 65"/>
                <a:gd name="T38" fmla="*/ 14 w 58"/>
                <a:gd name="T39" fmla="*/ 32 h 65"/>
                <a:gd name="T40" fmla="*/ 22 w 58"/>
                <a:gd name="T41" fmla="*/ 22 h 65"/>
                <a:gd name="T42" fmla="*/ 30 w 58"/>
                <a:gd name="T43" fmla="*/ 13 h 65"/>
                <a:gd name="T44" fmla="*/ 36 w 58"/>
                <a:gd name="T45" fmla="*/ 6 h 65"/>
                <a:gd name="T46" fmla="*/ 41 w 58"/>
                <a:gd name="T47" fmla="*/ 1 h 65"/>
                <a:gd name="T48" fmla="*/ 44 w 58"/>
                <a:gd name="T49" fmla="*/ 0 h 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8"/>
                <a:gd name="T76" fmla="*/ 0 h 65"/>
                <a:gd name="T77" fmla="*/ 58 w 58"/>
                <a:gd name="T78" fmla="*/ 65 h 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8" h="65">
                  <a:moveTo>
                    <a:pt x="44" y="0"/>
                  </a:moveTo>
                  <a:lnTo>
                    <a:pt x="53" y="17"/>
                  </a:lnTo>
                  <a:lnTo>
                    <a:pt x="57" y="31"/>
                  </a:lnTo>
                  <a:lnTo>
                    <a:pt x="57" y="41"/>
                  </a:lnTo>
                  <a:lnTo>
                    <a:pt x="58" y="47"/>
                  </a:lnTo>
                  <a:lnTo>
                    <a:pt x="56" y="52"/>
                  </a:lnTo>
                  <a:lnTo>
                    <a:pt x="54" y="56"/>
                  </a:lnTo>
                  <a:lnTo>
                    <a:pt x="52" y="58"/>
                  </a:lnTo>
                  <a:lnTo>
                    <a:pt x="45" y="61"/>
                  </a:lnTo>
                  <a:lnTo>
                    <a:pt x="39" y="63"/>
                  </a:lnTo>
                  <a:lnTo>
                    <a:pt x="34" y="65"/>
                  </a:lnTo>
                  <a:lnTo>
                    <a:pt x="30" y="65"/>
                  </a:lnTo>
                  <a:lnTo>
                    <a:pt x="25" y="63"/>
                  </a:lnTo>
                  <a:lnTo>
                    <a:pt x="19" y="61"/>
                  </a:lnTo>
                  <a:lnTo>
                    <a:pt x="14" y="58"/>
                  </a:lnTo>
                  <a:lnTo>
                    <a:pt x="8" y="56"/>
                  </a:lnTo>
                  <a:lnTo>
                    <a:pt x="0" y="52"/>
                  </a:lnTo>
                  <a:lnTo>
                    <a:pt x="3" y="48"/>
                  </a:lnTo>
                  <a:lnTo>
                    <a:pt x="8" y="40"/>
                  </a:lnTo>
                  <a:lnTo>
                    <a:pt x="14" y="32"/>
                  </a:lnTo>
                  <a:lnTo>
                    <a:pt x="22" y="22"/>
                  </a:lnTo>
                  <a:lnTo>
                    <a:pt x="30" y="13"/>
                  </a:lnTo>
                  <a:lnTo>
                    <a:pt x="36" y="6"/>
                  </a:lnTo>
                  <a:lnTo>
                    <a:pt x="41" y="1"/>
                  </a:lnTo>
                  <a:lnTo>
                    <a:pt x="44" y="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26" name="Freeform 12"/>
            <p:cNvSpPr>
              <a:spLocks/>
            </p:cNvSpPr>
            <p:nvPr/>
          </p:nvSpPr>
          <p:spPr bwMode="auto">
            <a:xfrm>
              <a:off x="2201" y="3015"/>
              <a:ext cx="34" cy="24"/>
            </a:xfrm>
            <a:custGeom>
              <a:avLst/>
              <a:gdLst>
                <a:gd name="T0" fmla="*/ 34 w 34"/>
                <a:gd name="T1" fmla="*/ 3 h 24"/>
                <a:gd name="T2" fmla="*/ 29 w 34"/>
                <a:gd name="T3" fmla="*/ 7 h 24"/>
                <a:gd name="T4" fmla="*/ 23 w 34"/>
                <a:gd name="T5" fmla="*/ 12 h 24"/>
                <a:gd name="T6" fmla="*/ 20 w 34"/>
                <a:gd name="T7" fmla="*/ 18 h 24"/>
                <a:gd name="T8" fmla="*/ 16 w 34"/>
                <a:gd name="T9" fmla="*/ 24 h 24"/>
                <a:gd name="T10" fmla="*/ 12 w 34"/>
                <a:gd name="T11" fmla="*/ 17 h 24"/>
                <a:gd name="T12" fmla="*/ 8 w 34"/>
                <a:gd name="T13" fmla="*/ 12 h 24"/>
                <a:gd name="T14" fmla="*/ 4 w 34"/>
                <a:gd name="T15" fmla="*/ 5 h 24"/>
                <a:gd name="T16" fmla="*/ 0 w 34"/>
                <a:gd name="T17" fmla="*/ 0 h 24"/>
                <a:gd name="T18" fmla="*/ 8 w 34"/>
                <a:gd name="T19" fmla="*/ 3 h 24"/>
                <a:gd name="T20" fmla="*/ 17 w 34"/>
                <a:gd name="T21" fmla="*/ 3 h 24"/>
                <a:gd name="T22" fmla="*/ 25 w 34"/>
                <a:gd name="T23" fmla="*/ 4 h 24"/>
                <a:gd name="T24" fmla="*/ 34 w 34"/>
                <a:gd name="T25" fmla="*/ 3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24"/>
                <a:gd name="T41" fmla="*/ 34 w 34"/>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24">
                  <a:moveTo>
                    <a:pt x="34" y="3"/>
                  </a:moveTo>
                  <a:lnTo>
                    <a:pt x="29" y="7"/>
                  </a:lnTo>
                  <a:lnTo>
                    <a:pt x="23" y="12"/>
                  </a:lnTo>
                  <a:lnTo>
                    <a:pt x="20" y="18"/>
                  </a:lnTo>
                  <a:lnTo>
                    <a:pt x="16" y="24"/>
                  </a:lnTo>
                  <a:lnTo>
                    <a:pt x="12" y="17"/>
                  </a:lnTo>
                  <a:lnTo>
                    <a:pt x="8" y="12"/>
                  </a:lnTo>
                  <a:lnTo>
                    <a:pt x="4" y="5"/>
                  </a:lnTo>
                  <a:lnTo>
                    <a:pt x="0" y="0"/>
                  </a:lnTo>
                  <a:lnTo>
                    <a:pt x="8" y="3"/>
                  </a:lnTo>
                  <a:lnTo>
                    <a:pt x="17" y="3"/>
                  </a:lnTo>
                  <a:lnTo>
                    <a:pt x="25" y="4"/>
                  </a:lnTo>
                  <a:lnTo>
                    <a:pt x="34" y="3"/>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27" name="Freeform 13"/>
            <p:cNvSpPr>
              <a:spLocks/>
            </p:cNvSpPr>
            <p:nvPr/>
          </p:nvSpPr>
          <p:spPr bwMode="auto">
            <a:xfrm>
              <a:off x="1392" y="2572"/>
              <a:ext cx="892" cy="726"/>
            </a:xfrm>
            <a:custGeom>
              <a:avLst/>
              <a:gdLst>
                <a:gd name="T0" fmla="*/ 199 w 892"/>
                <a:gd name="T1" fmla="*/ 233 h 726"/>
                <a:gd name="T2" fmla="*/ 232 w 892"/>
                <a:gd name="T3" fmla="*/ 192 h 726"/>
                <a:gd name="T4" fmla="*/ 265 w 892"/>
                <a:gd name="T5" fmla="*/ 150 h 726"/>
                <a:gd name="T6" fmla="*/ 303 w 892"/>
                <a:gd name="T7" fmla="*/ 95 h 726"/>
                <a:gd name="T8" fmla="*/ 338 w 892"/>
                <a:gd name="T9" fmla="*/ 44 h 726"/>
                <a:gd name="T10" fmla="*/ 379 w 892"/>
                <a:gd name="T11" fmla="*/ 7 h 726"/>
                <a:gd name="T12" fmla="*/ 403 w 892"/>
                <a:gd name="T13" fmla="*/ 0 h 726"/>
                <a:gd name="T14" fmla="*/ 482 w 892"/>
                <a:gd name="T15" fmla="*/ 29 h 726"/>
                <a:gd name="T16" fmla="*/ 555 w 892"/>
                <a:gd name="T17" fmla="*/ 55 h 726"/>
                <a:gd name="T18" fmla="*/ 624 w 892"/>
                <a:gd name="T19" fmla="*/ 82 h 726"/>
                <a:gd name="T20" fmla="*/ 673 w 892"/>
                <a:gd name="T21" fmla="*/ 99 h 726"/>
                <a:gd name="T22" fmla="*/ 721 w 892"/>
                <a:gd name="T23" fmla="*/ 112 h 726"/>
                <a:gd name="T24" fmla="*/ 770 w 892"/>
                <a:gd name="T25" fmla="*/ 122 h 726"/>
                <a:gd name="T26" fmla="*/ 819 w 892"/>
                <a:gd name="T27" fmla="*/ 132 h 726"/>
                <a:gd name="T28" fmla="*/ 873 w 892"/>
                <a:gd name="T29" fmla="*/ 145 h 726"/>
                <a:gd name="T30" fmla="*/ 892 w 892"/>
                <a:gd name="T31" fmla="*/ 179 h 726"/>
                <a:gd name="T32" fmla="*/ 874 w 892"/>
                <a:gd name="T33" fmla="*/ 207 h 726"/>
                <a:gd name="T34" fmla="*/ 860 w 892"/>
                <a:gd name="T35" fmla="*/ 228 h 726"/>
                <a:gd name="T36" fmla="*/ 843 w 892"/>
                <a:gd name="T37" fmla="*/ 250 h 726"/>
                <a:gd name="T38" fmla="*/ 799 w 892"/>
                <a:gd name="T39" fmla="*/ 310 h 726"/>
                <a:gd name="T40" fmla="*/ 755 w 892"/>
                <a:gd name="T41" fmla="*/ 367 h 726"/>
                <a:gd name="T42" fmla="*/ 729 w 892"/>
                <a:gd name="T43" fmla="*/ 372 h 726"/>
                <a:gd name="T44" fmla="*/ 687 w 892"/>
                <a:gd name="T45" fmla="*/ 359 h 726"/>
                <a:gd name="T46" fmla="*/ 645 w 892"/>
                <a:gd name="T47" fmla="*/ 356 h 726"/>
                <a:gd name="T48" fmla="*/ 610 w 892"/>
                <a:gd name="T49" fmla="*/ 363 h 726"/>
                <a:gd name="T50" fmla="*/ 586 w 892"/>
                <a:gd name="T51" fmla="*/ 384 h 726"/>
                <a:gd name="T52" fmla="*/ 577 w 892"/>
                <a:gd name="T53" fmla="*/ 411 h 726"/>
                <a:gd name="T54" fmla="*/ 598 w 892"/>
                <a:gd name="T55" fmla="*/ 451 h 726"/>
                <a:gd name="T56" fmla="*/ 646 w 892"/>
                <a:gd name="T57" fmla="*/ 469 h 726"/>
                <a:gd name="T58" fmla="*/ 674 w 892"/>
                <a:gd name="T59" fmla="*/ 487 h 726"/>
                <a:gd name="T60" fmla="*/ 619 w 892"/>
                <a:gd name="T61" fmla="*/ 573 h 726"/>
                <a:gd name="T62" fmla="*/ 533 w 892"/>
                <a:gd name="T63" fmla="*/ 687 h 726"/>
                <a:gd name="T64" fmla="*/ 492 w 892"/>
                <a:gd name="T65" fmla="*/ 723 h 726"/>
                <a:gd name="T66" fmla="*/ 466 w 892"/>
                <a:gd name="T67" fmla="*/ 726 h 726"/>
                <a:gd name="T68" fmla="*/ 443 w 892"/>
                <a:gd name="T69" fmla="*/ 723 h 726"/>
                <a:gd name="T70" fmla="*/ 370 w 892"/>
                <a:gd name="T71" fmla="*/ 702 h 726"/>
                <a:gd name="T72" fmla="*/ 304 w 892"/>
                <a:gd name="T73" fmla="*/ 678 h 726"/>
                <a:gd name="T74" fmla="*/ 268 w 892"/>
                <a:gd name="T75" fmla="*/ 663 h 726"/>
                <a:gd name="T76" fmla="*/ 216 w 892"/>
                <a:gd name="T77" fmla="*/ 645 h 726"/>
                <a:gd name="T78" fmla="*/ 163 w 892"/>
                <a:gd name="T79" fmla="*/ 626 h 726"/>
                <a:gd name="T80" fmla="*/ 111 w 892"/>
                <a:gd name="T81" fmla="*/ 608 h 726"/>
                <a:gd name="T82" fmla="*/ 58 w 892"/>
                <a:gd name="T83" fmla="*/ 588 h 726"/>
                <a:gd name="T84" fmla="*/ 7 w 892"/>
                <a:gd name="T85" fmla="*/ 568 h 726"/>
                <a:gd name="T86" fmla="*/ 1 w 892"/>
                <a:gd name="T87" fmla="*/ 560 h 726"/>
                <a:gd name="T88" fmla="*/ 44 w 892"/>
                <a:gd name="T89" fmla="*/ 483 h 726"/>
                <a:gd name="T90" fmla="*/ 115 w 892"/>
                <a:gd name="T91" fmla="*/ 376 h 726"/>
                <a:gd name="T92" fmla="*/ 181 w 892"/>
                <a:gd name="T93" fmla="*/ 263 h 72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92"/>
                <a:gd name="T142" fmla="*/ 0 h 726"/>
                <a:gd name="T143" fmla="*/ 892 w 892"/>
                <a:gd name="T144" fmla="*/ 726 h 72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92" h="726">
                  <a:moveTo>
                    <a:pt x="181" y="263"/>
                  </a:moveTo>
                  <a:lnTo>
                    <a:pt x="189" y="248"/>
                  </a:lnTo>
                  <a:lnTo>
                    <a:pt x="199" y="233"/>
                  </a:lnTo>
                  <a:lnTo>
                    <a:pt x="210" y="219"/>
                  </a:lnTo>
                  <a:lnTo>
                    <a:pt x="220" y="205"/>
                  </a:lnTo>
                  <a:lnTo>
                    <a:pt x="232" y="192"/>
                  </a:lnTo>
                  <a:lnTo>
                    <a:pt x="242" y="178"/>
                  </a:lnTo>
                  <a:lnTo>
                    <a:pt x="254" y="165"/>
                  </a:lnTo>
                  <a:lnTo>
                    <a:pt x="265" y="150"/>
                  </a:lnTo>
                  <a:lnTo>
                    <a:pt x="280" y="132"/>
                  </a:lnTo>
                  <a:lnTo>
                    <a:pt x="291" y="113"/>
                  </a:lnTo>
                  <a:lnTo>
                    <a:pt x="303" y="95"/>
                  </a:lnTo>
                  <a:lnTo>
                    <a:pt x="315" y="78"/>
                  </a:lnTo>
                  <a:lnTo>
                    <a:pt x="325" y="61"/>
                  </a:lnTo>
                  <a:lnTo>
                    <a:pt x="338" y="44"/>
                  </a:lnTo>
                  <a:lnTo>
                    <a:pt x="353" y="27"/>
                  </a:lnTo>
                  <a:lnTo>
                    <a:pt x="370" y="12"/>
                  </a:lnTo>
                  <a:lnTo>
                    <a:pt x="379" y="7"/>
                  </a:lnTo>
                  <a:lnTo>
                    <a:pt x="391" y="3"/>
                  </a:lnTo>
                  <a:lnTo>
                    <a:pt x="399" y="0"/>
                  </a:lnTo>
                  <a:lnTo>
                    <a:pt x="403" y="0"/>
                  </a:lnTo>
                  <a:lnTo>
                    <a:pt x="430" y="11"/>
                  </a:lnTo>
                  <a:lnTo>
                    <a:pt x="456" y="21"/>
                  </a:lnTo>
                  <a:lnTo>
                    <a:pt x="482" y="29"/>
                  </a:lnTo>
                  <a:lnTo>
                    <a:pt x="506" y="38"/>
                  </a:lnTo>
                  <a:lnTo>
                    <a:pt x="531" y="47"/>
                  </a:lnTo>
                  <a:lnTo>
                    <a:pt x="555" y="55"/>
                  </a:lnTo>
                  <a:lnTo>
                    <a:pt x="581" y="65"/>
                  </a:lnTo>
                  <a:lnTo>
                    <a:pt x="607" y="75"/>
                  </a:lnTo>
                  <a:lnTo>
                    <a:pt x="624" y="82"/>
                  </a:lnTo>
                  <a:lnTo>
                    <a:pt x="641" y="88"/>
                  </a:lnTo>
                  <a:lnTo>
                    <a:pt x="656" y="93"/>
                  </a:lnTo>
                  <a:lnTo>
                    <a:pt x="673" y="99"/>
                  </a:lnTo>
                  <a:lnTo>
                    <a:pt x="689" y="104"/>
                  </a:lnTo>
                  <a:lnTo>
                    <a:pt x="706" y="108"/>
                  </a:lnTo>
                  <a:lnTo>
                    <a:pt x="721" y="112"/>
                  </a:lnTo>
                  <a:lnTo>
                    <a:pt x="738" y="115"/>
                  </a:lnTo>
                  <a:lnTo>
                    <a:pt x="753" y="119"/>
                  </a:lnTo>
                  <a:lnTo>
                    <a:pt x="770" y="122"/>
                  </a:lnTo>
                  <a:lnTo>
                    <a:pt x="786" y="126"/>
                  </a:lnTo>
                  <a:lnTo>
                    <a:pt x="803" y="130"/>
                  </a:lnTo>
                  <a:lnTo>
                    <a:pt x="819" y="132"/>
                  </a:lnTo>
                  <a:lnTo>
                    <a:pt x="838" y="136"/>
                  </a:lnTo>
                  <a:lnTo>
                    <a:pt x="854" y="141"/>
                  </a:lnTo>
                  <a:lnTo>
                    <a:pt x="873" y="145"/>
                  </a:lnTo>
                  <a:lnTo>
                    <a:pt x="885" y="153"/>
                  </a:lnTo>
                  <a:lnTo>
                    <a:pt x="892" y="165"/>
                  </a:lnTo>
                  <a:lnTo>
                    <a:pt x="892" y="179"/>
                  </a:lnTo>
                  <a:lnTo>
                    <a:pt x="885" y="192"/>
                  </a:lnTo>
                  <a:lnTo>
                    <a:pt x="879" y="200"/>
                  </a:lnTo>
                  <a:lnTo>
                    <a:pt x="874" y="207"/>
                  </a:lnTo>
                  <a:lnTo>
                    <a:pt x="870" y="214"/>
                  </a:lnTo>
                  <a:lnTo>
                    <a:pt x="865" y="220"/>
                  </a:lnTo>
                  <a:lnTo>
                    <a:pt x="860" y="228"/>
                  </a:lnTo>
                  <a:lnTo>
                    <a:pt x="854" y="235"/>
                  </a:lnTo>
                  <a:lnTo>
                    <a:pt x="849" y="242"/>
                  </a:lnTo>
                  <a:lnTo>
                    <a:pt x="843" y="250"/>
                  </a:lnTo>
                  <a:lnTo>
                    <a:pt x="830" y="267"/>
                  </a:lnTo>
                  <a:lnTo>
                    <a:pt x="814" y="288"/>
                  </a:lnTo>
                  <a:lnTo>
                    <a:pt x="799" y="310"/>
                  </a:lnTo>
                  <a:lnTo>
                    <a:pt x="782" y="331"/>
                  </a:lnTo>
                  <a:lnTo>
                    <a:pt x="768" y="350"/>
                  </a:lnTo>
                  <a:lnTo>
                    <a:pt x="755" y="367"/>
                  </a:lnTo>
                  <a:lnTo>
                    <a:pt x="746" y="377"/>
                  </a:lnTo>
                  <a:lnTo>
                    <a:pt x="742" y="380"/>
                  </a:lnTo>
                  <a:lnTo>
                    <a:pt x="729" y="372"/>
                  </a:lnTo>
                  <a:lnTo>
                    <a:pt x="716" y="367"/>
                  </a:lnTo>
                  <a:lnTo>
                    <a:pt x="702" y="363"/>
                  </a:lnTo>
                  <a:lnTo>
                    <a:pt x="687" y="359"/>
                  </a:lnTo>
                  <a:lnTo>
                    <a:pt x="673" y="358"/>
                  </a:lnTo>
                  <a:lnTo>
                    <a:pt x="659" y="356"/>
                  </a:lnTo>
                  <a:lnTo>
                    <a:pt x="645" y="356"/>
                  </a:lnTo>
                  <a:lnTo>
                    <a:pt x="630" y="358"/>
                  </a:lnTo>
                  <a:lnTo>
                    <a:pt x="620" y="359"/>
                  </a:lnTo>
                  <a:lnTo>
                    <a:pt x="610" y="363"/>
                  </a:lnTo>
                  <a:lnTo>
                    <a:pt x="601" y="368"/>
                  </a:lnTo>
                  <a:lnTo>
                    <a:pt x="593" y="375"/>
                  </a:lnTo>
                  <a:lnTo>
                    <a:pt x="586" y="384"/>
                  </a:lnTo>
                  <a:lnTo>
                    <a:pt x="583" y="391"/>
                  </a:lnTo>
                  <a:lnTo>
                    <a:pt x="579" y="402"/>
                  </a:lnTo>
                  <a:lnTo>
                    <a:pt x="577" y="411"/>
                  </a:lnTo>
                  <a:lnTo>
                    <a:pt x="580" y="428"/>
                  </a:lnTo>
                  <a:lnTo>
                    <a:pt x="586" y="441"/>
                  </a:lnTo>
                  <a:lnTo>
                    <a:pt x="598" y="451"/>
                  </a:lnTo>
                  <a:lnTo>
                    <a:pt x="612" y="459"/>
                  </a:lnTo>
                  <a:lnTo>
                    <a:pt x="629" y="464"/>
                  </a:lnTo>
                  <a:lnTo>
                    <a:pt x="646" y="469"/>
                  </a:lnTo>
                  <a:lnTo>
                    <a:pt x="663" y="474"/>
                  </a:lnTo>
                  <a:lnTo>
                    <a:pt x="677" y="479"/>
                  </a:lnTo>
                  <a:lnTo>
                    <a:pt x="674" y="487"/>
                  </a:lnTo>
                  <a:lnTo>
                    <a:pt x="663" y="508"/>
                  </a:lnTo>
                  <a:lnTo>
                    <a:pt x="643" y="538"/>
                  </a:lnTo>
                  <a:lnTo>
                    <a:pt x="619" y="573"/>
                  </a:lnTo>
                  <a:lnTo>
                    <a:pt x="592" y="612"/>
                  </a:lnTo>
                  <a:lnTo>
                    <a:pt x="562" y="650"/>
                  </a:lnTo>
                  <a:lnTo>
                    <a:pt x="533" y="687"/>
                  </a:lnTo>
                  <a:lnTo>
                    <a:pt x="506" y="718"/>
                  </a:lnTo>
                  <a:lnTo>
                    <a:pt x="498" y="720"/>
                  </a:lnTo>
                  <a:lnTo>
                    <a:pt x="492" y="723"/>
                  </a:lnTo>
                  <a:lnTo>
                    <a:pt x="483" y="724"/>
                  </a:lnTo>
                  <a:lnTo>
                    <a:pt x="475" y="724"/>
                  </a:lnTo>
                  <a:lnTo>
                    <a:pt x="466" y="726"/>
                  </a:lnTo>
                  <a:lnTo>
                    <a:pt x="458" y="724"/>
                  </a:lnTo>
                  <a:lnTo>
                    <a:pt x="451" y="724"/>
                  </a:lnTo>
                  <a:lnTo>
                    <a:pt x="443" y="723"/>
                  </a:lnTo>
                  <a:lnTo>
                    <a:pt x="421" y="718"/>
                  </a:lnTo>
                  <a:lnTo>
                    <a:pt x="396" y="710"/>
                  </a:lnTo>
                  <a:lnTo>
                    <a:pt x="370" y="702"/>
                  </a:lnTo>
                  <a:lnTo>
                    <a:pt x="346" y="693"/>
                  </a:lnTo>
                  <a:lnTo>
                    <a:pt x="324" y="684"/>
                  </a:lnTo>
                  <a:lnTo>
                    <a:pt x="304" y="678"/>
                  </a:lnTo>
                  <a:lnTo>
                    <a:pt x="291" y="672"/>
                  </a:lnTo>
                  <a:lnTo>
                    <a:pt x="286" y="670"/>
                  </a:lnTo>
                  <a:lnTo>
                    <a:pt x="268" y="663"/>
                  </a:lnTo>
                  <a:lnTo>
                    <a:pt x="251" y="657"/>
                  </a:lnTo>
                  <a:lnTo>
                    <a:pt x="233" y="652"/>
                  </a:lnTo>
                  <a:lnTo>
                    <a:pt x="216" y="645"/>
                  </a:lnTo>
                  <a:lnTo>
                    <a:pt x="198" y="639"/>
                  </a:lnTo>
                  <a:lnTo>
                    <a:pt x="181" y="632"/>
                  </a:lnTo>
                  <a:lnTo>
                    <a:pt x="163" y="626"/>
                  </a:lnTo>
                  <a:lnTo>
                    <a:pt x="146" y="621"/>
                  </a:lnTo>
                  <a:lnTo>
                    <a:pt x="128" y="614"/>
                  </a:lnTo>
                  <a:lnTo>
                    <a:pt x="111" y="608"/>
                  </a:lnTo>
                  <a:lnTo>
                    <a:pt x="93" y="601"/>
                  </a:lnTo>
                  <a:lnTo>
                    <a:pt x="76" y="595"/>
                  </a:lnTo>
                  <a:lnTo>
                    <a:pt x="58" y="588"/>
                  </a:lnTo>
                  <a:lnTo>
                    <a:pt x="42" y="582"/>
                  </a:lnTo>
                  <a:lnTo>
                    <a:pt x="23" y="574"/>
                  </a:lnTo>
                  <a:lnTo>
                    <a:pt x="7" y="568"/>
                  </a:lnTo>
                  <a:lnTo>
                    <a:pt x="5" y="565"/>
                  </a:lnTo>
                  <a:lnTo>
                    <a:pt x="3" y="562"/>
                  </a:lnTo>
                  <a:lnTo>
                    <a:pt x="1" y="560"/>
                  </a:lnTo>
                  <a:lnTo>
                    <a:pt x="0" y="557"/>
                  </a:lnTo>
                  <a:lnTo>
                    <a:pt x="21" y="520"/>
                  </a:lnTo>
                  <a:lnTo>
                    <a:pt x="44" y="483"/>
                  </a:lnTo>
                  <a:lnTo>
                    <a:pt x="67" y="447"/>
                  </a:lnTo>
                  <a:lnTo>
                    <a:pt x="92" y="412"/>
                  </a:lnTo>
                  <a:lnTo>
                    <a:pt x="115" y="376"/>
                  </a:lnTo>
                  <a:lnTo>
                    <a:pt x="139" y="338"/>
                  </a:lnTo>
                  <a:lnTo>
                    <a:pt x="161" y="302"/>
                  </a:lnTo>
                  <a:lnTo>
                    <a:pt x="181" y="263"/>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28" name="Freeform 14"/>
            <p:cNvSpPr>
              <a:spLocks/>
            </p:cNvSpPr>
            <p:nvPr/>
          </p:nvSpPr>
          <p:spPr bwMode="auto">
            <a:xfrm>
              <a:off x="1387" y="3070"/>
              <a:ext cx="762" cy="308"/>
            </a:xfrm>
            <a:custGeom>
              <a:avLst/>
              <a:gdLst>
                <a:gd name="T0" fmla="*/ 39 w 762"/>
                <a:gd name="T1" fmla="*/ 99 h 308"/>
                <a:gd name="T2" fmla="*/ 103 w 762"/>
                <a:gd name="T3" fmla="*/ 128 h 308"/>
                <a:gd name="T4" fmla="*/ 164 w 762"/>
                <a:gd name="T5" fmla="*/ 152 h 308"/>
                <a:gd name="T6" fmla="*/ 195 w 762"/>
                <a:gd name="T7" fmla="*/ 164 h 308"/>
                <a:gd name="T8" fmla="*/ 250 w 762"/>
                <a:gd name="T9" fmla="*/ 184 h 308"/>
                <a:gd name="T10" fmla="*/ 316 w 762"/>
                <a:gd name="T11" fmla="*/ 208 h 308"/>
                <a:gd name="T12" fmla="*/ 382 w 762"/>
                <a:gd name="T13" fmla="*/ 230 h 308"/>
                <a:gd name="T14" fmla="*/ 435 w 762"/>
                <a:gd name="T15" fmla="*/ 244 h 308"/>
                <a:gd name="T16" fmla="*/ 467 w 762"/>
                <a:gd name="T17" fmla="*/ 251 h 308"/>
                <a:gd name="T18" fmla="*/ 494 w 762"/>
                <a:gd name="T19" fmla="*/ 256 h 308"/>
                <a:gd name="T20" fmla="*/ 520 w 762"/>
                <a:gd name="T21" fmla="*/ 252 h 308"/>
                <a:gd name="T22" fmla="*/ 569 w 762"/>
                <a:gd name="T23" fmla="*/ 190 h 308"/>
                <a:gd name="T24" fmla="*/ 616 w 762"/>
                <a:gd name="T25" fmla="*/ 121 h 308"/>
                <a:gd name="T26" fmla="*/ 656 w 762"/>
                <a:gd name="T27" fmla="*/ 66 h 308"/>
                <a:gd name="T28" fmla="*/ 689 w 762"/>
                <a:gd name="T29" fmla="*/ 26 h 308"/>
                <a:gd name="T30" fmla="*/ 714 w 762"/>
                <a:gd name="T31" fmla="*/ 0 h 308"/>
                <a:gd name="T32" fmla="*/ 729 w 762"/>
                <a:gd name="T33" fmla="*/ 11 h 308"/>
                <a:gd name="T34" fmla="*/ 747 w 762"/>
                <a:gd name="T35" fmla="*/ 32 h 308"/>
                <a:gd name="T36" fmla="*/ 762 w 762"/>
                <a:gd name="T37" fmla="*/ 50 h 308"/>
                <a:gd name="T38" fmla="*/ 745 w 762"/>
                <a:gd name="T39" fmla="*/ 73 h 308"/>
                <a:gd name="T40" fmla="*/ 726 w 762"/>
                <a:gd name="T41" fmla="*/ 64 h 308"/>
                <a:gd name="T42" fmla="*/ 712 w 762"/>
                <a:gd name="T43" fmla="*/ 54 h 308"/>
                <a:gd name="T44" fmla="*/ 685 w 762"/>
                <a:gd name="T45" fmla="*/ 89 h 308"/>
                <a:gd name="T46" fmla="*/ 656 w 762"/>
                <a:gd name="T47" fmla="*/ 130 h 308"/>
                <a:gd name="T48" fmla="*/ 656 w 762"/>
                <a:gd name="T49" fmla="*/ 140 h 308"/>
                <a:gd name="T50" fmla="*/ 677 w 762"/>
                <a:gd name="T51" fmla="*/ 147 h 308"/>
                <a:gd name="T52" fmla="*/ 701 w 762"/>
                <a:gd name="T53" fmla="*/ 147 h 308"/>
                <a:gd name="T54" fmla="*/ 686 w 762"/>
                <a:gd name="T55" fmla="*/ 169 h 308"/>
                <a:gd name="T56" fmla="*/ 669 w 762"/>
                <a:gd name="T57" fmla="*/ 190 h 308"/>
                <a:gd name="T58" fmla="*/ 652 w 762"/>
                <a:gd name="T59" fmla="*/ 191 h 308"/>
                <a:gd name="T60" fmla="*/ 633 w 762"/>
                <a:gd name="T61" fmla="*/ 154 h 308"/>
                <a:gd name="T62" fmla="*/ 610 w 762"/>
                <a:gd name="T63" fmla="*/ 180 h 308"/>
                <a:gd name="T64" fmla="*/ 572 w 762"/>
                <a:gd name="T65" fmla="*/ 225 h 308"/>
                <a:gd name="T66" fmla="*/ 562 w 762"/>
                <a:gd name="T67" fmla="*/ 243 h 308"/>
                <a:gd name="T68" fmla="*/ 579 w 762"/>
                <a:gd name="T69" fmla="*/ 251 h 308"/>
                <a:gd name="T70" fmla="*/ 602 w 762"/>
                <a:gd name="T71" fmla="*/ 256 h 308"/>
                <a:gd name="T72" fmla="*/ 590 w 762"/>
                <a:gd name="T73" fmla="*/ 276 h 308"/>
                <a:gd name="T74" fmla="*/ 568 w 762"/>
                <a:gd name="T75" fmla="*/ 296 h 308"/>
                <a:gd name="T76" fmla="*/ 558 w 762"/>
                <a:gd name="T77" fmla="*/ 308 h 308"/>
                <a:gd name="T78" fmla="*/ 479 w 762"/>
                <a:gd name="T79" fmla="*/ 294 h 308"/>
                <a:gd name="T80" fmla="*/ 375 w 762"/>
                <a:gd name="T81" fmla="*/ 265 h 308"/>
                <a:gd name="T82" fmla="*/ 264 w 762"/>
                <a:gd name="T83" fmla="*/ 228 h 308"/>
                <a:gd name="T84" fmla="*/ 163 w 762"/>
                <a:gd name="T85" fmla="*/ 189 h 308"/>
                <a:gd name="T86" fmla="*/ 88 w 762"/>
                <a:gd name="T87" fmla="*/ 155 h 308"/>
                <a:gd name="T88" fmla="*/ 57 w 762"/>
                <a:gd name="T89" fmla="*/ 140 h 308"/>
                <a:gd name="T90" fmla="*/ 26 w 762"/>
                <a:gd name="T91" fmla="*/ 128 h 308"/>
                <a:gd name="T92" fmla="*/ 9 w 762"/>
                <a:gd name="T93" fmla="*/ 123 h 308"/>
                <a:gd name="T94" fmla="*/ 2 w 762"/>
                <a:gd name="T95" fmla="*/ 90 h 30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62"/>
                <a:gd name="T145" fmla="*/ 0 h 308"/>
                <a:gd name="T146" fmla="*/ 762 w 762"/>
                <a:gd name="T147" fmla="*/ 308 h 30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62" h="308">
                  <a:moveTo>
                    <a:pt x="0" y="84"/>
                  </a:moveTo>
                  <a:lnTo>
                    <a:pt x="18" y="92"/>
                  </a:lnTo>
                  <a:lnTo>
                    <a:pt x="39" y="99"/>
                  </a:lnTo>
                  <a:lnTo>
                    <a:pt x="61" y="108"/>
                  </a:lnTo>
                  <a:lnTo>
                    <a:pt x="83" y="118"/>
                  </a:lnTo>
                  <a:lnTo>
                    <a:pt x="103" y="128"/>
                  </a:lnTo>
                  <a:lnTo>
                    <a:pt x="125" y="136"/>
                  </a:lnTo>
                  <a:lnTo>
                    <a:pt x="146" y="145"/>
                  </a:lnTo>
                  <a:lnTo>
                    <a:pt x="164" y="152"/>
                  </a:lnTo>
                  <a:lnTo>
                    <a:pt x="171" y="155"/>
                  </a:lnTo>
                  <a:lnTo>
                    <a:pt x="181" y="159"/>
                  </a:lnTo>
                  <a:lnTo>
                    <a:pt x="195" y="164"/>
                  </a:lnTo>
                  <a:lnTo>
                    <a:pt x="211" y="169"/>
                  </a:lnTo>
                  <a:lnTo>
                    <a:pt x="229" y="177"/>
                  </a:lnTo>
                  <a:lnTo>
                    <a:pt x="250" y="184"/>
                  </a:lnTo>
                  <a:lnTo>
                    <a:pt x="272" y="191"/>
                  </a:lnTo>
                  <a:lnTo>
                    <a:pt x="294" y="199"/>
                  </a:lnTo>
                  <a:lnTo>
                    <a:pt x="316" y="208"/>
                  </a:lnTo>
                  <a:lnTo>
                    <a:pt x="339" y="216"/>
                  </a:lnTo>
                  <a:lnTo>
                    <a:pt x="361" y="222"/>
                  </a:lnTo>
                  <a:lnTo>
                    <a:pt x="382" y="230"/>
                  </a:lnTo>
                  <a:lnTo>
                    <a:pt x="401" y="235"/>
                  </a:lnTo>
                  <a:lnTo>
                    <a:pt x="419" y="241"/>
                  </a:lnTo>
                  <a:lnTo>
                    <a:pt x="435" y="244"/>
                  </a:lnTo>
                  <a:lnTo>
                    <a:pt x="448" y="247"/>
                  </a:lnTo>
                  <a:lnTo>
                    <a:pt x="457" y="248"/>
                  </a:lnTo>
                  <a:lnTo>
                    <a:pt x="467" y="251"/>
                  </a:lnTo>
                  <a:lnTo>
                    <a:pt x="476" y="252"/>
                  </a:lnTo>
                  <a:lnTo>
                    <a:pt x="485" y="255"/>
                  </a:lnTo>
                  <a:lnTo>
                    <a:pt x="494" y="256"/>
                  </a:lnTo>
                  <a:lnTo>
                    <a:pt x="503" y="256"/>
                  </a:lnTo>
                  <a:lnTo>
                    <a:pt x="512" y="255"/>
                  </a:lnTo>
                  <a:lnTo>
                    <a:pt x="520" y="252"/>
                  </a:lnTo>
                  <a:lnTo>
                    <a:pt x="537" y="233"/>
                  </a:lnTo>
                  <a:lnTo>
                    <a:pt x="554" y="212"/>
                  </a:lnTo>
                  <a:lnTo>
                    <a:pt x="569" y="190"/>
                  </a:lnTo>
                  <a:lnTo>
                    <a:pt x="585" y="167"/>
                  </a:lnTo>
                  <a:lnTo>
                    <a:pt x="601" y="143"/>
                  </a:lnTo>
                  <a:lnTo>
                    <a:pt x="616" y="121"/>
                  </a:lnTo>
                  <a:lnTo>
                    <a:pt x="632" y="98"/>
                  </a:lnTo>
                  <a:lnTo>
                    <a:pt x="647" y="77"/>
                  </a:lnTo>
                  <a:lnTo>
                    <a:pt x="656" y="66"/>
                  </a:lnTo>
                  <a:lnTo>
                    <a:pt x="667" y="53"/>
                  </a:lnTo>
                  <a:lnTo>
                    <a:pt x="678" y="38"/>
                  </a:lnTo>
                  <a:lnTo>
                    <a:pt x="689" y="26"/>
                  </a:lnTo>
                  <a:lnTo>
                    <a:pt x="699" y="14"/>
                  </a:lnTo>
                  <a:lnTo>
                    <a:pt x="708" y="5"/>
                  </a:lnTo>
                  <a:lnTo>
                    <a:pt x="714" y="0"/>
                  </a:lnTo>
                  <a:lnTo>
                    <a:pt x="718" y="0"/>
                  </a:lnTo>
                  <a:lnTo>
                    <a:pt x="723" y="5"/>
                  </a:lnTo>
                  <a:lnTo>
                    <a:pt x="729" y="11"/>
                  </a:lnTo>
                  <a:lnTo>
                    <a:pt x="735" y="18"/>
                  </a:lnTo>
                  <a:lnTo>
                    <a:pt x="740" y="24"/>
                  </a:lnTo>
                  <a:lnTo>
                    <a:pt x="747" y="32"/>
                  </a:lnTo>
                  <a:lnTo>
                    <a:pt x="752" y="38"/>
                  </a:lnTo>
                  <a:lnTo>
                    <a:pt x="757" y="45"/>
                  </a:lnTo>
                  <a:lnTo>
                    <a:pt x="762" y="50"/>
                  </a:lnTo>
                  <a:lnTo>
                    <a:pt x="756" y="58"/>
                  </a:lnTo>
                  <a:lnTo>
                    <a:pt x="751" y="66"/>
                  </a:lnTo>
                  <a:lnTo>
                    <a:pt x="745" y="73"/>
                  </a:lnTo>
                  <a:lnTo>
                    <a:pt x="740" y="83"/>
                  </a:lnTo>
                  <a:lnTo>
                    <a:pt x="734" y="75"/>
                  </a:lnTo>
                  <a:lnTo>
                    <a:pt x="726" y="64"/>
                  </a:lnTo>
                  <a:lnTo>
                    <a:pt x="718" y="55"/>
                  </a:lnTo>
                  <a:lnTo>
                    <a:pt x="714" y="51"/>
                  </a:lnTo>
                  <a:lnTo>
                    <a:pt x="712" y="54"/>
                  </a:lnTo>
                  <a:lnTo>
                    <a:pt x="705" y="63"/>
                  </a:lnTo>
                  <a:lnTo>
                    <a:pt x="695" y="75"/>
                  </a:lnTo>
                  <a:lnTo>
                    <a:pt x="685" y="89"/>
                  </a:lnTo>
                  <a:lnTo>
                    <a:pt x="673" y="105"/>
                  </a:lnTo>
                  <a:lnTo>
                    <a:pt x="663" y="119"/>
                  </a:lnTo>
                  <a:lnTo>
                    <a:pt x="656" y="130"/>
                  </a:lnTo>
                  <a:lnTo>
                    <a:pt x="652" y="137"/>
                  </a:lnTo>
                  <a:lnTo>
                    <a:pt x="652" y="138"/>
                  </a:lnTo>
                  <a:lnTo>
                    <a:pt x="656" y="140"/>
                  </a:lnTo>
                  <a:lnTo>
                    <a:pt x="661" y="142"/>
                  </a:lnTo>
                  <a:lnTo>
                    <a:pt x="669" y="145"/>
                  </a:lnTo>
                  <a:lnTo>
                    <a:pt x="677" y="147"/>
                  </a:lnTo>
                  <a:lnTo>
                    <a:pt x="686" y="149"/>
                  </a:lnTo>
                  <a:lnTo>
                    <a:pt x="694" y="149"/>
                  </a:lnTo>
                  <a:lnTo>
                    <a:pt x="701" y="147"/>
                  </a:lnTo>
                  <a:lnTo>
                    <a:pt x="696" y="155"/>
                  </a:lnTo>
                  <a:lnTo>
                    <a:pt x="691" y="162"/>
                  </a:lnTo>
                  <a:lnTo>
                    <a:pt x="686" y="169"/>
                  </a:lnTo>
                  <a:lnTo>
                    <a:pt x="681" y="176"/>
                  </a:lnTo>
                  <a:lnTo>
                    <a:pt x="674" y="182"/>
                  </a:lnTo>
                  <a:lnTo>
                    <a:pt x="669" y="190"/>
                  </a:lnTo>
                  <a:lnTo>
                    <a:pt x="663" y="197"/>
                  </a:lnTo>
                  <a:lnTo>
                    <a:pt x="657" y="203"/>
                  </a:lnTo>
                  <a:lnTo>
                    <a:pt x="652" y="191"/>
                  </a:lnTo>
                  <a:lnTo>
                    <a:pt x="645" y="174"/>
                  </a:lnTo>
                  <a:lnTo>
                    <a:pt x="637" y="160"/>
                  </a:lnTo>
                  <a:lnTo>
                    <a:pt x="633" y="154"/>
                  </a:lnTo>
                  <a:lnTo>
                    <a:pt x="629" y="158"/>
                  </a:lnTo>
                  <a:lnTo>
                    <a:pt x="621" y="167"/>
                  </a:lnTo>
                  <a:lnTo>
                    <a:pt x="610" y="180"/>
                  </a:lnTo>
                  <a:lnTo>
                    <a:pt x="597" y="195"/>
                  </a:lnTo>
                  <a:lnTo>
                    <a:pt x="584" y="211"/>
                  </a:lnTo>
                  <a:lnTo>
                    <a:pt x="572" y="225"/>
                  </a:lnTo>
                  <a:lnTo>
                    <a:pt x="564" y="235"/>
                  </a:lnTo>
                  <a:lnTo>
                    <a:pt x="560" y="241"/>
                  </a:lnTo>
                  <a:lnTo>
                    <a:pt x="562" y="243"/>
                  </a:lnTo>
                  <a:lnTo>
                    <a:pt x="564" y="246"/>
                  </a:lnTo>
                  <a:lnTo>
                    <a:pt x="571" y="248"/>
                  </a:lnTo>
                  <a:lnTo>
                    <a:pt x="579" y="251"/>
                  </a:lnTo>
                  <a:lnTo>
                    <a:pt x="586" y="254"/>
                  </a:lnTo>
                  <a:lnTo>
                    <a:pt x="594" y="255"/>
                  </a:lnTo>
                  <a:lnTo>
                    <a:pt x="602" y="256"/>
                  </a:lnTo>
                  <a:lnTo>
                    <a:pt x="607" y="256"/>
                  </a:lnTo>
                  <a:lnTo>
                    <a:pt x="598" y="266"/>
                  </a:lnTo>
                  <a:lnTo>
                    <a:pt x="590" y="276"/>
                  </a:lnTo>
                  <a:lnTo>
                    <a:pt x="582" y="283"/>
                  </a:lnTo>
                  <a:lnTo>
                    <a:pt x="575" y="290"/>
                  </a:lnTo>
                  <a:lnTo>
                    <a:pt x="568" y="296"/>
                  </a:lnTo>
                  <a:lnTo>
                    <a:pt x="563" y="301"/>
                  </a:lnTo>
                  <a:lnTo>
                    <a:pt x="559" y="305"/>
                  </a:lnTo>
                  <a:lnTo>
                    <a:pt x="558" y="308"/>
                  </a:lnTo>
                  <a:lnTo>
                    <a:pt x="536" y="305"/>
                  </a:lnTo>
                  <a:lnTo>
                    <a:pt x="509" y="301"/>
                  </a:lnTo>
                  <a:lnTo>
                    <a:pt x="479" y="294"/>
                  </a:lnTo>
                  <a:lnTo>
                    <a:pt x="446" y="286"/>
                  </a:lnTo>
                  <a:lnTo>
                    <a:pt x="412" y="276"/>
                  </a:lnTo>
                  <a:lnTo>
                    <a:pt x="375" y="265"/>
                  </a:lnTo>
                  <a:lnTo>
                    <a:pt x="338" y="254"/>
                  </a:lnTo>
                  <a:lnTo>
                    <a:pt x="302" y="241"/>
                  </a:lnTo>
                  <a:lnTo>
                    <a:pt x="264" y="228"/>
                  </a:lnTo>
                  <a:lnTo>
                    <a:pt x="228" y="215"/>
                  </a:lnTo>
                  <a:lnTo>
                    <a:pt x="194" y="202"/>
                  </a:lnTo>
                  <a:lnTo>
                    <a:pt x="163" y="189"/>
                  </a:lnTo>
                  <a:lnTo>
                    <a:pt x="133" y="176"/>
                  </a:lnTo>
                  <a:lnTo>
                    <a:pt x="109" y="165"/>
                  </a:lnTo>
                  <a:lnTo>
                    <a:pt x="88" y="155"/>
                  </a:lnTo>
                  <a:lnTo>
                    <a:pt x="71" y="146"/>
                  </a:lnTo>
                  <a:lnTo>
                    <a:pt x="65" y="143"/>
                  </a:lnTo>
                  <a:lnTo>
                    <a:pt x="57" y="140"/>
                  </a:lnTo>
                  <a:lnTo>
                    <a:pt x="47" y="136"/>
                  </a:lnTo>
                  <a:lnTo>
                    <a:pt x="36" y="132"/>
                  </a:lnTo>
                  <a:lnTo>
                    <a:pt x="26" y="128"/>
                  </a:lnTo>
                  <a:lnTo>
                    <a:pt x="17" y="125"/>
                  </a:lnTo>
                  <a:lnTo>
                    <a:pt x="12" y="124"/>
                  </a:lnTo>
                  <a:lnTo>
                    <a:pt x="9" y="123"/>
                  </a:lnTo>
                  <a:lnTo>
                    <a:pt x="8" y="115"/>
                  </a:lnTo>
                  <a:lnTo>
                    <a:pt x="5" y="103"/>
                  </a:lnTo>
                  <a:lnTo>
                    <a:pt x="2" y="90"/>
                  </a:lnTo>
                  <a:lnTo>
                    <a:pt x="0" y="84"/>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29" name="Freeform 15"/>
            <p:cNvSpPr>
              <a:spLocks/>
            </p:cNvSpPr>
            <p:nvPr/>
          </p:nvSpPr>
          <p:spPr bwMode="auto">
            <a:xfrm>
              <a:off x="2050" y="3142"/>
              <a:ext cx="68" cy="64"/>
            </a:xfrm>
            <a:custGeom>
              <a:avLst/>
              <a:gdLst>
                <a:gd name="T0" fmla="*/ 68 w 68"/>
                <a:gd name="T1" fmla="*/ 30 h 64"/>
                <a:gd name="T2" fmla="*/ 68 w 68"/>
                <a:gd name="T3" fmla="*/ 30 h 64"/>
                <a:gd name="T4" fmla="*/ 64 w 68"/>
                <a:gd name="T5" fmla="*/ 39 h 64"/>
                <a:gd name="T6" fmla="*/ 58 w 68"/>
                <a:gd name="T7" fmla="*/ 46 h 64"/>
                <a:gd name="T8" fmla="*/ 51 w 68"/>
                <a:gd name="T9" fmla="*/ 51 h 64"/>
                <a:gd name="T10" fmla="*/ 44 w 68"/>
                <a:gd name="T11" fmla="*/ 56 h 64"/>
                <a:gd name="T12" fmla="*/ 36 w 68"/>
                <a:gd name="T13" fmla="*/ 58 h 64"/>
                <a:gd name="T14" fmla="*/ 27 w 68"/>
                <a:gd name="T15" fmla="*/ 61 h 64"/>
                <a:gd name="T16" fmla="*/ 18 w 68"/>
                <a:gd name="T17" fmla="*/ 62 h 64"/>
                <a:gd name="T18" fmla="*/ 9 w 68"/>
                <a:gd name="T19" fmla="*/ 64 h 64"/>
                <a:gd name="T20" fmla="*/ 0 w 68"/>
                <a:gd name="T21" fmla="*/ 64 h 64"/>
                <a:gd name="T22" fmla="*/ 1 w 68"/>
                <a:gd name="T23" fmla="*/ 61 h 64"/>
                <a:gd name="T24" fmla="*/ 4 w 68"/>
                <a:gd name="T25" fmla="*/ 60 h 64"/>
                <a:gd name="T26" fmla="*/ 5 w 68"/>
                <a:gd name="T27" fmla="*/ 57 h 64"/>
                <a:gd name="T28" fmla="*/ 6 w 68"/>
                <a:gd name="T29" fmla="*/ 56 h 64"/>
                <a:gd name="T30" fmla="*/ 7 w 68"/>
                <a:gd name="T31" fmla="*/ 56 h 64"/>
                <a:gd name="T32" fmla="*/ 7 w 68"/>
                <a:gd name="T33" fmla="*/ 56 h 64"/>
                <a:gd name="T34" fmla="*/ 7 w 68"/>
                <a:gd name="T35" fmla="*/ 56 h 64"/>
                <a:gd name="T36" fmla="*/ 9 w 68"/>
                <a:gd name="T37" fmla="*/ 55 h 64"/>
                <a:gd name="T38" fmla="*/ 14 w 68"/>
                <a:gd name="T39" fmla="*/ 48 h 64"/>
                <a:gd name="T40" fmla="*/ 20 w 68"/>
                <a:gd name="T41" fmla="*/ 43 h 64"/>
                <a:gd name="T42" fmla="*/ 26 w 68"/>
                <a:gd name="T43" fmla="*/ 36 h 64"/>
                <a:gd name="T44" fmla="*/ 32 w 68"/>
                <a:gd name="T45" fmla="*/ 29 h 64"/>
                <a:gd name="T46" fmla="*/ 37 w 68"/>
                <a:gd name="T47" fmla="*/ 22 h 64"/>
                <a:gd name="T48" fmla="*/ 42 w 68"/>
                <a:gd name="T49" fmla="*/ 16 h 64"/>
                <a:gd name="T50" fmla="*/ 46 w 68"/>
                <a:gd name="T51" fmla="*/ 8 h 64"/>
                <a:gd name="T52" fmla="*/ 51 w 68"/>
                <a:gd name="T53" fmla="*/ 0 h 64"/>
                <a:gd name="T54" fmla="*/ 57 w 68"/>
                <a:gd name="T55" fmla="*/ 7 h 64"/>
                <a:gd name="T56" fmla="*/ 60 w 68"/>
                <a:gd name="T57" fmla="*/ 12 h 64"/>
                <a:gd name="T58" fmla="*/ 64 w 68"/>
                <a:gd name="T59" fmla="*/ 18 h 64"/>
                <a:gd name="T60" fmla="*/ 67 w 68"/>
                <a:gd name="T61" fmla="*/ 25 h 64"/>
                <a:gd name="T62" fmla="*/ 68 w 68"/>
                <a:gd name="T63" fmla="*/ 25 h 64"/>
                <a:gd name="T64" fmla="*/ 67 w 68"/>
                <a:gd name="T65" fmla="*/ 26 h 64"/>
                <a:gd name="T66" fmla="*/ 67 w 68"/>
                <a:gd name="T67" fmla="*/ 27 h 64"/>
                <a:gd name="T68" fmla="*/ 67 w 68"/>
                <a:gd name="T69" fmla="*/ 29 h 64"/>
                <a:gd name="T70" fmla="*/ 68 w 68"/>
                <a:gd name="T71" fmla="*/ 30 h 6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
                <a:gd name="T109" fmla="*/ 0 h 64"/>
                <a:gd name="T110" fmla="*/ 68 w 68"/>
                <a:gd name="T111" fmla="*/ 64 h 6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 h="64">
                  <a:moveTo>
                    <a:pt x="68" y="30"/>
                  </a:moveTo>
                  <a:lnTo>
                    <a:pt x="68" y="30"/>
                  </a:lnTo>
                  <a:lnTo>
                    <a:pt x="64" y="39"/>
                  </a:lnTo>
                  <a:lnTo>
                    <a:pt x="58" y="46"/>
                  </a:lnTo>
                  <a:lnTo>
                    <a:pt x="51" y="51"/>
                  </a:lnTo>
                  <a:lnTo>
                    <a:pt x="44" y="56"/>
                  </a:lnTo>
                  <a:lnTo>
                    <a:pt x="36" y="58"/>
                  </a:lnTo>
                  <a:lnTo>
                    <a:pt x="27" y="61"/>
                  </a:lnTo>
                  <a:lnTo>
                    <a:pt x="18" y="62"/>
                  </a:lnTo>
                  <a:lnTo>
                    <a:pt x="9" y="64"/>
                  </a:lnTo>
                  <a:lnTo>
                    <a:pt x="0" y="64"/>
                  </a:lnTo>
                  <a:lnTo>
                    <a:pt x="1" y="61"/>
                  </a:lnTo>
                  <a:lnTo>
                    <a:pt x="4" y="60"/>
                  </a:lnTo>
                  <a:lnTo>
                    <a:pt x="5" y="57"/>
                  </a:lnTo>
                  <a:lnTo>
                    <a:pt x="6" y="56"/>
                  </a:lnTo>
                  <a:lnTo>
                    <a:pt x="7" y="56"/>
                  </a:lnTo>
                  <a:lnTo>
                    <a:pt x="9" y="55"/>
                  </a:lnTo>
                  <a:lnTo>
                    <a:pt x="14" y="48"/>
                  </a:lnTo>
                  <a:lnTo>
                    <a:pt x="20" y="43"/>
                  </a:lnTo>
                  <a:lnTo>
                    <a:pt x="26" y="36"/>
                  </a:lnTo>
                  <a:lnTo>
                    <a:pt x="32" y="29"/>
                  </a:lnTo>
                  <a:lnTo>
                    <a:pt x="37" y="22"/>
                  </a:lnTo>
                  <a:lnTo>
                    <a:pt x="42" y="16"/>
                  </a:lnTo>
                  <a:lnTo>
                    <a:pt x="46" y="8"/>
                  </a:lnTo>
                  <a:lnTo>
                    <a:pt x="51" y="0"/>
                  </a:lnTo>
                  <a:lnTo>
                    <a:pt x="57" y="7"/>
                  </a:lnTo>
                  <a:lnTo>
                    <a:pt x="60" y="12"/>
                  </a:lnTo>
                  <a:lnTo>
                    <a:pt x="64" y="18"/>
                  </a:lnTo>
                  <a:lnTo>
                    <a:pt x="67" y="25"/>
                  </a:lnTo>
                  <a:lnTo>
                    <a:pt x="68" y="25"/>
                  </a:lnTo>
                  <a:lnTo>
                    <a:pt x="67" y="26"/>
                  </a:lnTo>
                  <a:lnTo>
                    <a:pt x="67" y="27"/>
                  </a:lnTo>
                  <a:lnTo>
                    <a:pt x="67" y="29"/>
                  </a:lnTo>
                  <a:lnTo>
                    <a:pt x="68" y="3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30" name="Freeform 16"/>
            <p:cNvSpPr>
              <a:spLocks/>
            </p:cNvSpPr>
            <p:nvPr/>
          </p:nvSpPr>
          <p:spPr bwMode="auto">
            <a:xfrm>
              <a:off x="1973" y="3255"/>
              <a:ext cx="52" cy="49"/>
            </a:xfrm>
            <a:custGeom>
              <a:avLst/>
              <a:gdLst>
                <a:gd name="T0" fmla="*/ 51 w 52"/>
                <a:gd name="T1" fmla="*/ 32 h 49"/>
                <a:gd name="T2" fmla="*/ 47 w 52"/>
                <a:gd name="T3" fmla="*/ 40 h 49"/>
                <a:gd name="T4" fmla="*/ 42 w 52"/>
                <a:gd name="T5" fmla="*/ 45 h 49"/>
                <a:gd name="T6" fmla="*/ 37 w 52"/>
                <a:gd name="T7" fmla="*/ 48 h 49"/>
                <a:gd name="T8" fmla="*/ 30 w 52"/>
                <a:gd name="T9" fmla="*/ 49 h 49"/>
                <a:gd name="T10" fmla="*/ 22 w 52"/>
                <a:gd name="T11" fmla="*/ 49 h 49"/>
                <a:gd name="T12" fmla="*/ 16 w 52"/>
                <a:gd name="T13" fmla="*/ 48 h 49"/>
                <a:gd name="T14" fmla="*/ 8 w 52"/>
                <a:gd name="T15" fmla="*/ 45 h 49"/>
                <a:gd name="T16" fmla="*/ 0 w 52"/>
                <a:gd name="T17" fmla="*/ 43 h 49"/>
                <a:gd name="T18" fmla="*/ 2 w 52"/>
                <a:gd name="T19" fmla="*/ 41 h 49"/>
                <a:gd name="T20" fmla="*/ 5 w 52"/>
                <a:gd name="T21" fmla="*/ 39 h 49"/>
                <a:gd name="T22" fmla="*/ 11 w 52"/>
                <a:gd name="T23" fmla="*/ 34 h 49"/>
                <a:gd name="T24" fmla="*/ 17 w 52"/>
                <a:gd name="T25" fmla="*/ 27 h 49"/>
                <a:gd name="T26" fmla="*/ 24 w 52"/>
                <a:gd name="T27" fmla="*/ 21 h 49"/>
                <a:gd name="T28" fmla="*/ 30 w 52"/>
                <a:gd name="T29" fmla="*/ 14 h 49"/>
                <a:gd name="T30" fmla="*/ 37 w 52"/>
                <a:gd name="T31" fmla="*/ 6 h 49"/>
                <a:gd name="T32" fmla="*/ 42 w 52"/>
                <a:gd name="T33" fmla="*/ 0 h 49"/>
                <a:gd name="T34" fmla="*/ 46 w 52"/>
                <a:gd name="T35" fmla="*/ 9 h 49"/>
                <a:gd name="T36" fmla="*/ 49 w 52"/>
                <a:gd name="T37" fmla="*/ 17 h 49"/>
                <a:gd name="T38" fmla="*/ 52 w 52"/>
                <a:gd name="T39" fmla="*/ 24 h 49"/>
                <a:gd name="T40" fmla="*/ 51 w 52"/>
                <a:gd name="T41" fmla="*/ 32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2"/>
                <a:gd name="T64" fmla="*/ 0 h 49"/>
                <a:gd name="T65" fmla="*/ 52 w 52"/>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2" h="49">
                  <a:moveTo>
                    <a:pt x="51" y="32"/>
                  </a:moveTo>
                  <a:lnTo>
                    <a:pt x="47" y="40"/>
                  </a:lnTo>
                  <a:lnTo>
                    <a:pt x="42" y="45"/>
                  </a:lnTo>
                  <a:lnTo>
                    <a:pt x="37" y="48"/>
                  </a:lnTo>
                  <a:lnTo>
                    <a:pt x="30" y="49"/>
                  </a:lnTo>
                  <a:lnTo>
                    <a:pt x="22" y="49"/>
                  </a:lnTo>
                  <a:lnTo>
                    <a:pt x="16" y="48"/>
                  </a:lnTo>
                  <a:lnTo>
                    <a:pt x="8" y="45"/>
                  </a:lnTo>
                  <a:lnTo>
                    <a:pt x="0" y="43"/>
                  </a:lnTo>
                  <a:lnTo>
                    <a:pt x="2" y="41"/>
                  </a:lnTo>
                  <a:lnTo>
                    <a:pt x="5" y="39"/>
                  </a:lnTo>
                  <a:lnTo>
                    <a:pt x="11" y="34"/>
                  </a:lnTo>
                  <a:lnTo>
                    <a:pt x="17" y="27"/>
                  </a:lnTo>
                  <a:lnTo>
                    <a:pt x="24" y="21"/>
                  </a:lnTo>
                  <a:lnTo>
                    <a:pt x="30" y="14"/>
                  </a:lnTo>
                  <a:lnTo>
                    <a:pt x="37" y="6"/>
                  </a:lnTo>
                  <a:lnTo>
                    <a:pt x="42" y="0"/>
                  </a:lnTo>
                  <a:lnTo>
                    <a:pt x="46" y="9"/>
                  </a:lnTo>
                  <a:lnTo>
                    <a:pt x="49" y="17"/>
                  </a:lnTo>
                  <a:lnTo>
                    <a:pt x="52" y="24"/>
                  </a:lnTo>
                  <a:lnTo>
                    <a:pt x="51" y="3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31" name="Freeform 17"/>
            <p:cNvSpPr>
              <a:spLocks/>
            </p:cNvSpPr>
            <p:nvPr/>
          </p:nvSpPr>
          <p:spPr bwMode="auto">
            <a:xfrm>
              <a:off x="1400" y="3136"/>
              <a:ext cx="775" cy="285"/>
            </a:xfrm>
            <a:custGeom>
              <a:avLst/>
              <a:gdLst>
                <a:gd name="T0" fmla="*/ 652 w 775"/>
                <a:gd name="T1" fmla="*/ 190 h 285"/>
                <a:gd name="T2" fmla="*/ 630 w 775"/>
                <a:gd name="T3" fmla="*/ 221 h 285"/>
                <a:gd name="T4" fmla="*/ 606 w 775"/>
                <a:gd name="T5" fmla="*/ 251 h 285"/>
                <a:gd name="T6" fmla="*/ 577 w 775"/>
                <a:gd name="T7" fmla="*/ 273 h 285"/>
                <a:gd name="T8" fmla="*/ 542 w 775"/>
                <a:gd name="T9" fmla="*/ 283 h 285"/>
                <a:gd name="T10" fmla="*/ 503 w 775"/>
                <a:gd name="T11" fmla="*/ 285 h 285"/>
                <a:gd name="T12" fmla="*/ 466 w 775"/>
                <a:gd name="T13" fmla="*/ 278 h 285"/>
                <a:gd name="T14" fmla="*/ 428 w 775"/>
                <a:gd name="T15" fmla="*/ 267 h 285"/>
                <a:gd name="T16" fmla="*/ 386 w 775"/>
                <a:gd name="T17" fmla="*/ 251 h 285"/>
                <a:gd name="T18" fmla="*/ 335 w 775"/>
                <a:gd name="T19" fmla="*/ 232 h 285"/>
                <a:gd name="T20" fmla="*/ 286 w 775"/>
                <a:gd name="T21" fmla="*/ 212 h 285"/>
                <a:gd name="T22" fmla="*/ 234 w 775"/>
                <a:gd name="T23" fmla="*/ 193 h 285"/>
                <a:gd name="T24" fmla="*/ 184 w 775"/>
                <a:gd name="T25" fmla="*/ 172 h 285"/>
                <a:gd name="T26" fmla="*/ 133 w 775"/>
                <a:gd name="T27" fmla="*/ 153 h 285"/>
                <a:gd name="T28" fmla="*/ 84 w 775"/>
                <a:gd name="T29" fmla="*/ 132 h 285"/>
                <a:gd name="T30" fmla="*/ 35 w 775"/>
                <a:gd name="T31" fmla="*/ 111 h 285"/>
                <a:gd name="T32" fmla="*/ 9 w 775"/>
                <a:gd name="T33" fmla="*/ 98 h 285"/>
                <a:gd name="T34" fmla="*/ 1 w 775"/>
                <a:gd name="T35" fmla="*/ 84 h 285"/>
                <a:gd name="T36" fmla="*/ 9 w 775"/>
                <a:gd name="T37" fmla="*/ 83 h 285"/>
                <a:gd name="T38" fmla="*/ 31 w 775"/>
                <a:gd name="T39" fmla="*/ 92 h 285"/>
                <a:gd name="T40" fmla="*/ 54 w 775"/>
                <a:gd name="T41" fmla="*/ 101 h 285"/>
                <a:gd name="T42" fmla="*/ 76 w 775"/>
                <a:gd name="T43" fmla="*/ 110 h 285"/>
                <a:gd name="T44" fmla="*/ 111 w 775"/>
                <a:gd name="T45" fmla="*/ 127 h 285"/>
                <a:gd name="T46" fmla="*/ 158 w 775"/>
                <a:gd name="T47" fmla="*/ 146 h 285"/>
                <a:gd name="T48" fmla="*/ 198 w 775"/>
                <a:gd name="T49" fmla="*/ 160 h 285"/>
                <a:gd name="T50" fmla="*/ 232 w 775"/>
                <a:gd name="T51" fmla="*/ 172 h 285"/>
                <a:gd name="T52" fmla="*/ 264 w 775"/>
                <a:gd name="T53" fmla="*/ 184 h 285"/>
                <a:gd name="T54" fmla="*/ 296 w 775"/>
                <a:gd name="T55" fmla="*/ 195 h 285"/>
                <a:gd name="T56" fmla="*/ 329 w 775"/>
                <a:gd name="T57" fmla="*/ 207 h 285"/>
                <a:gd name="T58" fmla="*/ 361 w 775"/>
                <a:gd name="T59" fmla="*/ 219 h 285"/>
                <a:gd name="T60" fmla="*/ 393 w 775"/>
                <a:gd name="T61" fmla="*/ 230 h 285"/>
                <a:gd name="T62" fmla="*/ 426 w 775"/>
                <a:gd name="T63" fmla="*/ 241 h 285"/>
                <a:gd name="T64" fmla="*/ 458 w 775"/>
                <a:gd name="T65" fmla="*/ 251 h 285"/>
                <a:gd name="T66" fmla="*/ 492 w 775"/>
                <a:gd name="T67" fmla="*/ 260 h 285"/>
                <a:gd name="T68" fmla="*/ 514 w 775"/>
                <a:gd name="T69" fmla="*/ 265 h 285"/>
                <a:gd name="T70" fmla="*/ 531 w 775"/>
                <a:gd name="T71" fmla="*/ 267 h 285"/>
                <a:gd name="T72" fmla="*/ 549 w 775"/>
                <a:gd name="T73" fmla="*/ 264 h 285"/>
                <a:gd name="T74" fmla="*/ 573 w 775"/>
                <a:gd name="T75" fmla="*/ 247 h 285"/>
                <a:gd name="T76" fmla="*/ 597 w 775"/>
                <a:gd name="T77" fmla="*/ 220 h 285"/>
                <a:gd name="T78" fmla="*/ 616 w 775"/>
                <a:gd name="T79" fmla="*/ 194 h 285"/>
                <a:gd name="T80" fmla="*/ 629 w 775"/>
                <a:gd name="T81" fmla="*/ 176 h 285"/>
                <a:gd name="T82" fmla="*/ 638 w 775"/>
                <a:gd name="T83" fmla="*/ 167 h 285"/>
                <a:gd name="T84" fmla="*/ 643 w 775"/>
                <a:gd name="T85" fmla="*/ 162 h 285"/>
                <a:gd name="T86" fmla="*/ 659 w 775"/>
                <a:gd name="T87" fmla="*/ 145 h 285"/>
                <a:gd name="T88" fmla="*/ 676 w 775"/>
                <a:gd name="T89" fmla="*/ 125 h 285"/>
                <a:gd name="T90" fmla="*/ 692 w 775"/>
                <a:gd name="T91" fmla="*/ 101 h 285"/>
                <a:gd name="T92" fmla="*/ 707 w 775"/>
                <a:gd name="T93" fmla="*/ 79 h 285"/>
                <a:gd name="T94" fmla="*/ 720 w 775"/>
                <a:gd name="T95" fmla="*/ 66 h 285"/>
                <a:gd name="T96" fmla="*/ 726 w 775"/>
                <a:gd name="T97" fmla="*/ 58 h 285"/>
                <a:gd name="T98" fmla="*/ 734 w 775"/>
                <a:gd name="T99" fmla="*/ 44 h 285"/>
                <a:gd name="T100" fmla="*/ 738 w 775"/>
                <a:gd name="T101" fmla="*/ 36 h 285"/>
                <a:gd name="T102" fmla="*/ 752 w 775"/>
                <a:gd name="T103" fmla="*/ 11 h 285"/>
                <a:gd name="T104" fmla="*/ 762 w 775"/>
                <a:gd name="T105" fmla="*/ 5 h 285"/>
                <a:gd name="T106" fmla="*/ 773 w 775"/>
                <a:gd name="T107" fmla="*/ 17 h 285"/>
                <a:gd name="T108" fmla="*/ 762 w 775"/>
                <a:gd name="T109" fmla="*/ 40 h 285"/>
                <a:gd name="T110" fmla="*/ 735 w 775"/>
                <a:gd name="T111" fmla="*/ 79 h 285"/>
                <a:gd name="T112" fmla="*/ 707 w 775"/>
                <a:gd name="T113" fmla="*/ 118 h 285"/>
                <a:gd name="T114" fmla="*/ 678 w 775"/>
                <a:gd name="T115" fmla="*/ 156 h 28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775"/>
                <a:gd name="T175" fmla="*/ 0 h 285"/>
                <a:gd name="T176" fmla="*/ 775 w 775"/>
                <a:gd name="T177" fmla="*/ 285 h 28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775" h="285">
                  <a:moveTo>
                    <a:pt x="663" y="176"/>
                  </a:moveTo>
                  <a:lnTo>
                    <a:pt x="652" y="190"/>
                  </a:lnTo>
                  <a:lnTo>
                    <a:pt x="641" y="206"/>
                  </a:lnTo>
                  <a:lnTo>
                    <a:pt x="630" y="221"/>
                  </a:lnTo>
                  <a:lnTo>
                    <a:pt x="619" y="237"/>
                  </a:lnTo>
                  <a:lnTo>
                    <a:pt x="606" y="251"/>
                  </a:lnTo>
                  <a:lnTo>
                    <a:pt x="591" y="264"/>
                  </a:lnTo>
                  <a:lnTo>
                    <a:pt x="577" y="273"/>
                  </a:lnTo>
                  <a:lnTo>
                    <a:pt x="560" y="279"/>
                  </a:lnTo>
                  <a:lnTo>
                    <a:pt x="542" y="283"/>
                  </a:lnTo>
                  <a:lnTo>
                    <a:pt x="523" y="285"/>
                  </a:lnTo>
                  <a:lnTo>
                    <a:pt x="503" y="285"/>
                  </a:lnTo>
                  <a:lnTo>
                    <a:pt x="484" y="282"/>
                  </a:lnTo>
                  <a:lnTo>
                    <a:pt x="466" y="278"/>
                  </a:lnTo>
                  <a:lnTo>
                    <a:pt x="446" y="273"/>
                  </a:lnTo>
                  <a:lnTo>
                    <a:pt x="428" y="267"/>
                  </a:lnTo>
                  <a:lnTo>
                    <a:pt x="410" y="260"/>
                  </a:lnTo>
                  <a:lnTo>
                    <a:pt x="386" y="251"/>
                  </a:lnTo>
                  <a:lnTo>
                    <a:pt x="361" y="241"/>
                  </a:lnTo>
                  <a:lnTo>
                    <a:pt x="335" y="232"/>
                  </a:lnTo>
                  <a:lnTo>
                    <a:pt x="311" y="221"/>
                  </a:lnTo>
                  <a:lnTo>
                    <a:pt x="286" y="212"/>
                  </a:lnTo>
                  <a:lnTo>
                    <a:pt x="260" y="202"/>
                  </a:lnTo>
                  <a:lnTo>
                    <a:pt x="234" y="193"/>
                  </a:lnTo>
                  <a:lnTo>
                    <a:pt x="210" y="182"/>
                  </a:lnTo>
                  <a:lnTo>
                    <a:pt x="184" y="172"/>
                  </a:lnTo>
                  <a:lnTo>
                    <a:pt x="159" y="163"/>
                  </a:lnTo>
                  <a:lnTo>
                    <a:pt x="133" y="153"/>
                  </a:lnTo>
                  <a:lnTo>
                    <a:pt x="109" y="142"/>
                  </a:lnTo>
                  <a:lnTo>
                    <a:pt x="84" y="132"/>
                  </a:lnTo>
                  <a:lnTo>
                    <a:pt x="59" y="121"/>
                  </a:lnTo>
                  <a:lnTo>
                    <a:pt x="35" y="111"/>
                  </a:lnTo>
                  <a:lnTo>
                    <a:pt x="10" y="101"/>
                  </a:lnTo>
                  <a:lnTo>
                    <a:pt x="9" y="98"/>
                  </a:lnTo>
                  <a:lnTo>
                    <a:pt x="5" y="92"/>
                  </a:lnTo>
                  <a:lnTo>
                    <a:pt x="1" y="84"/>
                  </a:lnTo>
                  <a:lnTo>
                    <a:pt x="0" y="79"/>
                  </a:lnTo>
                  <a:lnTo>
                    <a:pt x="9" y="83"/>
                  </a:lnTo>
                  <a:lnTo>
                    <a:pt x="19" y="86"/>
                  </a:lnTo>
                  <a:lnTo>
                    <a:pt x="31" y="92"/>
                  </a:lnTo>
                  <a:lnTo>
                    <a:pt x="43" y="96"/>
                  </a:lnTo>
                  <a:lnTo>
                    <a:pt x="54" y="101"/>
                  </a:lnTo>
                  <a:lnTo>
                    <a:pt x="66" y="105"/>
                  </a:lnTo>
                  <a:lnTo>
                    <a:pt x="76" y="110"/>
                  </a:lnTo>
                  <a:lnTo>
                    <a:pt x="85" y="114"/>
                  </a:lnTo>
                  <a:lnTo>
                    <a:pt x="111" y="127"/>
                  </a:lnTo>
                  <a:lnTo>
                    <a:pt x="136" y="137"/>
                  </a:lnTo>
                  <a:lnTo>
                    <a:pt x="158" y="146"/>
                  </a:lnTo>
                  <a:lnTo>
                    <a:pt x="178" y="154"/>
                  </a:lnTo>
                  <a:lnTo>
                    <a:pt x="198" y="160"/>
                  </a:lnTo>
                  <a:lnTo>
                    <a:pt x="215" y="167"/>
                  </a:lnTo>
                  <a:lnTo>
                    <a:pt x="232" y="172"/>
                  </a:lnTo>
                  <a:lnTo>
                    <a:pt x="247" y="177"/>
                  </a:lnTo>
                  <a:lnTo>
                    <a:pt x="264" y="184"/>
                  </a:lnTo>
                  <a:lnTo>
                    <a:pt x="281" y="189"/>
                  </a:lnTo>
                  <a:lnTo>
                    <a:pt x="296" y="195"/>
                  </a:lnTo>
                  <a:lnTo>
                    <a:pt x="313" y="200"/>
                  </a:lnTo>
                  <a:lnTo>
                    <a:pt x="329" y="207"/>
                  </a:lnTo>
                  <a:lnTo>
                    <a:pt x="345" y="213"/>
                  </a:lnTo>
                  <a:lnTo>
                    <a:pt x="361" y="219"/>
                  </a:lnTo>
                  <a:lnTo>
                    <a:pt x="378" y="224"/>
                  </a:lnTo>
                  <a:lnTo>
                    <a:pt x="393" y="230"/>
                  </a:lnTo>
                  <a:lnTo>
                    <a:pt x="410" y="235"/>
                  </a:lnTo>
                  <a:lnTo>
                    <a:pt x="426" y="241"/>
                  </a:lnTo>
                  <a:lnTo>
                    <a:pt x="443" y="246"/>
                  </a:lnTo>
                  <a:lnTo>
                    <a:pt x="458" y="251"/>
                  </a:lnTo>
                  <a:lnTo>
                    <a:pt x="475" y="256"/>
                  </a:lnTo>
                  <a:lnTo>
                    <a:pt x="492" y="260"/>
                  </a:lnTo>
                  <a:lnTo>
                    <a:pt x="509" y="264"/>
                  </a:lnTo>
                  <a:lnTo>
                    <a:pt x="514" y="265"/>
                  </a:lnTo>
                  <a:lnTo>
                    <a:pt x="522" y="267"/>
                  </a:lnTo>
                  <a:lnTo>
                    <a:pt x="531" y="267"/>
                  </a:lnTo>
                  <a:lnTo>
                    <a:pt x="536" y="267"/>
                  </a:lnTo>
                  <a:lnTo>
                    <a:pt x="549" y="264"/>
                  </a:lnTo>
                  <a:lnTo>
                    <a:pt x="560" y="257"/>
                  </a:lnTo>
                  <a:lnTo>
                    <a:pt x="573" y="247"/>
                  </a:lnTo>
                  <a:lnTo>
                    <a:pt x="585" y="234"/>
                  </a:lnTo>
                  <a:lnTo>
                    <a:pt x="597" y="220"/>
                  </a:lnTo>
                  <a:lnTo>
                    <a:pt x="607" y="206"/>
                  </a:lnTo>
                  <a:lnTo>
                    <a:pt x="616" y="194"/>
                  </a:lnTo>
                  <a:lnTo>
                    <a:pt x="622" y="185"/>
                  </a:lnTo>
                  <a:lnTo>
                    <a:pt x="629" y="176"/>
                  </a:lnTo>
                  <a:lnTo>
                    <a:pt x="635" y="171"/>
                  </a:lnTo>
                  <a:lnTo>
                    <a:pt x="638" y="167"/>
                  </a:lnTo>
                  <a:lnTo>
                    <a:pt x="639" y="165"/>
                  </a:lnTo>
                  <a:lnTo>
                    <a:pt x="643" y="162"/>
                  </a:lnTo>
                  <a:lnTo>
                    <a:pt x="651" y="153"/>
                  </a:lnTo>
                  <a:lnTo>
                    <a:pt x="659" y="145"/>
                  </a:lnTo>
                  <a:lnTo>
                    <a:pt x="663" y="141"/>
                  </a:lnTo>
                  <a:lnTo>
                    <a:pt x="676" y="125"/>
                  </a:lnTo>
                  <a:lnTo>
                    <a:pt x="685" y="114"/>
                  </a:lnTo>
                  <a:lnTo>
                    <a:pt x="692" y="101"/>
                  </a:lnTo>
                  <a:lnTo>
                    <a:pt x="700" y="83"/>
                  </a:lnTo>
                  <a:lnTo>
                    <a:pt x="707" y="79"/>
                  </a:lnTo>
                  <a:lnTo>
                    <a:pt x="713" y="72"/>
                  </a:lnTo>
                  <a:lnTo>
                    <a:pt x="720" y="66"/>
                  </a:lnTo>
                  <a:lnTo>
                    <a:pt x="725" y="61"/>
                  </a:lnTo>
                  <a:lnTo>
                    <a:pt x="726" y="58"/>
                  </a:lnTo>
                  <a:lnTo>
                    <a:pt x="730" y="52"/>
                  </a:lnTo>
                  <a:lnTo>
                    <a:pt x="734" y="44"/>
                  </a:lnTo>
                  <a:lnTo>
                    <a:pt x="735" y="40"/>
                  </a:lnTo>
                  <a:lnTo>
                    <a:pt x="738" y="36"/>
                  </a:lnTo>
                  <a:lnTo>
                    <a:pt x="744" y="26"/>
                  </a:lnTo>
                  <a:lnTo>
                    <a:pt x="752" y="11"/>
                  </a:lnTo>
                  <a:lnTo>
                    <a:pt x="758" y="0"/>
                  </a:lnTo>
                  <a:lnTo>
                    <a:pt x="762" y="5"/>
                  </a:lnTo>
                  <a:lnTo>
                    <a:pt x="767" y="11"/>
                  </a:lnTo>
                  <a:lnTo>
                    <a:pt x="773" y="17"/>
                  </a:lnTo>
                  <a:lnTo>
                    <a:pt x="775" y="20"/>
                  </a:lnTo>
                  <a:lnTo>
                    <a:pt x="762" y="40"/>
                  </a:lnTo>
                  <a:lnTo>
                    <a:pt x="749" y="59"/>
                  </a:lnTo>
                  <a:lnTo>
                    <a:pt x="735" y="79"/>
                  </a:lnTo>
                  <a:lnTo>
                    <a:pt x="721" y="98"/>
                  </a:lnTo>
                  <a:lnTo>
                    <a:pt x="707" y="118"/>
                  </a:lnTo>
                  <a:lnTo>
                    <a:pt x="692" y="137"/>
                  </a:lnTo>
                  <a:lnTo>
                    <a:pt x="678" y="156"/>
                  </a:lnTo>
                  <a:lnTo>
                    <a:pt x="663" y="176"/>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32" name="Freeform 18"/>
            <p:cNvSpPr>
              <a:spLocks/>
            </p:cNvSpPr>
            <p:nvPr/>
          </p:nvSpPr>
          <p:spPr bwMode="auto">
            <a:xfrm>
              <a:off x="1991" y="2949"/>
              <a:ext cx="237" cy="188"/>
            </a:xfrm>
            <a:custGeom>
              <a:avLst/>
              <a:gdLst>
                <a:gd name="T0" fmla="*/ 197 w 237"/>
                <a:gd name="T1" fmla="*/ 188 h 188"/>
                <a:gd name="T2" fmla="*/ 191 w 237"/>
                <a:gd name="T3" fmla="*/ 179 h 188"/>
                <a:gd name="T4" fmla="*/ 183 w 237"/>
                <a:gd name="T5" fmla="*/ 170 h 188"/>
                <a:gd name="T6" fmla="*/ 175 w 237"/>
                <a:gd name="T7" fmla="*/ 162 h 188"/>
                <a:gd name="T8" fmla="*/ 167 w 237"/>
                <a:gd name="T9" fmla="*/ 153 h 188"/>
                <a:gd name="T10" fmla="*/ 160 w 237"/>
                <a:gd name="T11" fmla="*/ 145 h 188"/>
                <a:gd name="T12" fmla="*/ 152 w 237"/>
                <a:gd name="T13" fmla="*/ 136 h 188"/>
                <a:gd name="T14" fmla="*/ 144 w 237"/>
                <a:gd name="T15" fmla="*/ 128 h 188"/>
                <a:gd name="T16" fmla="*/ 136 w 237"/>
                <a:gd name="T17" fmla="*/ 119 h 188"/>
                <a:gd name="T18" fmla="*/ 123 w 237"/>
                <a:gd name="T19" fmla="*/ 105 h 188"/>
                <a:gd name="T20" fmla="*/ 110 w 237"/>
                <a:gd name="T21" fmla="*/ 95 h 188"/>
                <a:gd name="T22" fmla="*/ 95 w 237"/>
                <a:gd name="T23" fmla="*/ 86 h 188"/>
                <a:gd name="T24" fmla="*/ 78 w 237"/>
                <a:gd name="T25" fmla="*/ 78 h 188"/>
                <a:gd name="T26" fmla="*/ 61 w 237"/>
                <a:gd name="T27" fmla="*/ 73 h 188"/>
                <a:gd name="T28" fmla="*/ 44 w 237"/>
                <a:gd name="T29" fmla="*/ 66 h 188"/>
                <a:gd name="T30" fmla="*/ 28 w 237"/>
                <a:gd name="T31" fmla="*/ 60 h 188"/>
                <a:gd name="T32" fmla="*/ 11 w 237"/>
                <a:gd name="T33" fmla="*/ 53 h 188"/>
                <a:gd name="T34" fmla="*/ 7 w 237"/>
                <a:gd name="T35" fmla="*/ 51 h 188"/>
                <a:gd name="T36" fmla="*/ 4 w 237"/>
                <a:gd name="T37" fmla="*/ 48 h 188"/>
                <a:gd name="T38" fmla="*/ 2 w 237"/>
                <a:gd name="T39" fmla="*/ 45 h 188"/>
                <a:gd name="T40" fmla="*/ 0 w 237"/>
                <a:gd name="T41" fmla="*/ 42 h 188"/>
                <a:gd name="T42" fmla="*/ 0 w 237"/>
                <a:gd name="T43" fmla="*/ 31 h 188"/>
                <a:gd name="T44" fmla="*/ 4 w 237"/>
                <a:gd name="T45" fmla="*/ 21 h 188"/>
                <a:gd name="T46" fmla="*/ 9 w 237"/>
                <a:gd name="T47" fmla="*/ 13 h 188"/>
                <a:gd name="T48" fmla="*/ 20 w 237"/>
                <a:gd name="T49" fmla="*/ 8 h 188"/>
                <a:gd name="T50" fmla="*/ 33 w 237"/>
                <a:gd name="T51" fmla="*/ 4 h 188"/>
                <a:gd name="T52" fmla="*/ 47 w 237"/>
                <a:gd name="T53" fmla="*/ 1 h 188"/>
                <a:gd name="T54" fmla="*/ 61 w 237"/>
                <a:gd name="T55" fmla="*/ 0 h 188"/>
                <a:gd name="T56" fmla="*/ 75 w 237"/>
                <a:gd name="T57" fmla="*/ 1 h 188"/>
                <a:gd name="T58" fmla="*/ 90 w 237"/>
                <a:gd name="T59" fmla="*/ 4 h 188"/>
                <a:gd name="T60" fmla="*/ 103 w 237"/>
                <a:gd name="T61" fmla="*/ 8 h 188"/>
                <a:gd name="T62" fmla="*/ 116 w 237"/>
                <a:gd name="T63" fmla="*/ 13 h 188"/>
                <a:gd name="T64" fmla="*/ 129 w 237"/>
                <a:gd name="T65" fmla="*/ 20 h 188"/>
                <a:gd name="T66" fmla="*/ 145 w 237"/>
                <a:gd name="T67" fmla="*/ 30 h 188"/>
                <a:gd name="T68" fmla="*/ 161 w 237"/>
                <a:gd name="T69" fmla="*/ 42 h 188"/>
                <a:gd name="T70" fmla="*/ 175 w 237"/>
                <a:gd name="T71" fmla="*/ 53 h 188"/>
                <a:gd name="T72" fmla="*/ 188 w 237"/>
                <a:gd name="T73" fmla="*/ 68 h 188"/>
                <a:gd name="T74" fmla="*/ 201 w 237"/>
                <a:gd name="T75" fmla="*/ 82 h 188"/>
                <a:gd name="T76" fmla="*/ 213 w 237"/>
                <a:gd name="T77" fmla="*/ 97 h 188"/>
                <a:gd name="T78" fmla="*/ 226 w 237"/>
                <a:gd name="T79" fmla="*/ 112 h 188"/>
                <a:gd name="T80" fmla="*/ 237 w 237"/>
                <a:gd name="T81" fmla="*/ 127 h 188"/>
                <a:gd name="T82" fmla="*/ 232 w 237"/>
                <a:gd name="T83" fmla="*/ 135 h 188"/>
                <a:gd name="T84" fmla="*/ 227 w 237"/>
                <a:gd name="T85" fmla="*/ 143 h 188"/>
                <a:gd name="T86" fmla="*/ 222 w 237"/>
                <a:gd name="T87" fmla="*/ 150 h 188"/>
                <a:gd name="T88" fmla="*/ 218 w 237"/>
                <a:gd name="T89" fmla="*/ 158 h 188"/>
                <a:gd name="T90" fmla="*/ 213 w 237"/>
                <a:gd name="T91" fmla="*/ 166 h 188"/>
                <a:gd name="T92" fmla="*/ 208 w 237"/>
                <a:gd name="T93" fmla="*/ 174 h 188"/>
                <a:gd name="T94" fmla="*/ 202 w 237"/>
                <a:gd name="T95" fmla="*/ 180 h 188"/>
                <a:gd name="T96" fmla="*/ 197 w 237"/>
                <a:gd name="T97" fmla="*/ 188 h 1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37"/>
                <a:gd name="T148" fmla="*/ 0 h 188"/>
                <a:gd name="T149" fmla="*/ 237 w 237"/>
                <a:gd name="T150" fmla="*/ 188 h 1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37" h="188">
                  <a:moveTo>
                    <a:pt x="197" y="188"/>
                  </a:moveTo>
                  <a:lnTo>
                    <a:pt x="191" y="179"/>
                  </a:lnTo>
                  <a:lnTo>
                    <a:pt x="183" y="170"/>
                  </a:lnTo>
                  <a:lnTo>
                    <a:pt x="175" y="162"/>
                  </a:lnTo>
                  <a:lnTo>
                    <a:pt x="167" y="153"/>
                  </a:lnTo>
                  <a:lnTo>
                    <a:pt x="160" y="145"/>
                  </a:lnTo>
                  <a:lnTo>
                    <a:pt x="152" y="136"/>
                  </a:lnTo>
                  <a:lnTo>
                    <a:pt x="144" y="128"/>
                  </a:lnTo>
                  <a:lnTo>
                    <a:pt x="136" y="119"/>
                  </a:lnTo>
                  <a:lnTo>
                    <a:pt x="123" y="105"/>
                  </a:lnTo>
                  <a:lnTo>
                    <a:pt x="110" y="95"/>
                  </a:lnTo>
                  <a:lnTo>
                    <a:pt x="95" y="86"/>
                  </a:lnTo>
                  <a:lnTo>
                    <a:pt x="78" y="78"/>
                  </a:lnTo>
                  <a:lnTo>
                    <a:pt x="61" y="73"/>
                  </a:lnTo>
                  <a:lnTo>
                    <a:pt x="44" y="66"/>
                  </a:lnTo>
                  <a:lnTo>
                    <a:pt x="28" y="60"/>
                  </a:lnTo>
                  <a:lnTo>
                    <a:pt x="11" y="53"/>
                  </a:lnTo>
                  <a:lnTo>
                    <a:pt x="7" y="51"/>
                  </a:lnTo>
                  <a:lnTo>
                    <a:pt x="4" y="48"/>
                  </a:lnTo>
                  <a:lnTo>
                    <a:pt x="2" y="45"/>
                  </a:lnTo>
                  <a:lnTo>
                    <a:pt x="0" y="42"/>
                  </a:lnTo>
                  <a:lnTo>
                    <a:pt x="0" y="31"/>
                  </a:lnTo>
                  <a:lnTo>
                    <a:pt x="4" y="21"/>
                  </a:lnTo>
                  <a:lnTo>
                    <a:pt x="9" y="13"/>
                  </a:lnTo>
                  <a:lnTo>
                    <a:pt x="20" y="8"/>
                  </a:lnTo>
                  <a:lnTo>
                    <a:pt x="33" y="4"/>
                  </a:lnTo>
                  <a:lnTo>
                    <a:pt x="47" y="1"/>
                  </a:lnTo>
                  <a:lnTo>
                    <a:pt x="61" y="0"/>
                  </a:lnTo>
                  <a:lnTo>
                    <a:pt x="75" y="1"/>
                  </a:lnTo>
                  <a:lnTo>
                    <a:pt x="90" y="4"/>
                  </a:lnTo>
                  <a:lnTo>
                    <a:pt x="103" y="8"/>
                  </a:lnTo>
                  <a:lnTo>
                    <a:pt x="116" y="13"/>
                  </a:lnTo>
                  <a:lnTo>
                    <a:pt x="129" y="20"/>
                  </a:lnTo>
                  <a:lnTo>
                    <a:pt x="145" y="30"/>
                  </a:lnTo>
                  <a:lnTo>
                    <a:pt x="161" y="42"/>
                  </a:lnTo>
                  <a:lnTo>
                    <a:pt x="175" y="53"/>
                  </a:lnTo>
                  <a:lnTo>
                    <a:pt x="188" y="68"/>
                  </a:lnTo>
                  <a:lnTo>
                    <a:pt x="201" y="82"/>
                  </a:lnTo>
                  <a:lnTo>
                    <a:pt x="213" y="97"/>
                  </a:lnTo>
                  <a:lnTo>
                    <a:pt x="226" y="112"/>
                  </a:lnTo>
                  <a:lnTo>
                    <a:pt x="237" y="127"/>
                  </a:lnTo>
                  <a:lnTo>
                    <a:pt x="232" y="135"/>
                  </a:lnTo>
                  <a:lnTo>
                    <a:pt x="227" y="143"/>
                  </a:lnTo>
                  <a:lnTo>
                    <a:pt x="222" y="150"/>
                  </a:lnTo>
                  <a:lnTo>
                    <a:pt x="218" y="158"/>
                  </a:lnTo>
                  <a:lnTo>
                    <a:pt x="213" y="166"/>
                  </a:lnTo>
                  <a:lnTo>
                    <a:pt x="208" y="174"/>
                  </a:lnTo>
                  <a:lnTo>
                    <a:pt x="202" y="180"/>
                  </a:lnTo>
                  <a:lnTo>
                    <a:pt x="197" y="188"/>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33" name="Freeform 19"/>
            <p:cNvSpPr>
              <a:spLocks/>
            </p:cNvSpPr>
            <p:nvPr/>
          </p:nvSpPr>
          <p:spPr bwMode="auto">
            <a:xfrm>
              <a:off x="2226" y="2783"/>
              <a:ext cx="164" cy="275"/>
            </a:xfrm>
            <a:custGeom>
              <a:avLst/>
              <a:gdLst>
                <a:gd name="T0" fmla="*/ 160 w 164"/>
                <a:gd name="T1" fmla="*/ 91 h 275"/>
                <a:gd name="T2" fmla="*/ 142 w 164"/>
                <a:gd name="T3" fmla="*/ 112 h 275"/>
                <a:gd name="T4" fmla="*/ 125 w 164"/>
                <a:gd name="T5" fmla="*/ 132 h 275"/>
                <a:gd name="T6" fmla="*/ 108 w 164"/>
                <a:gd name="T7" fmla="*/ 155 h 275"/>
                <a:gd name="T8" fmla="*/ 92 w 164"/>
                <a:gd name="T9" fmla="*/ 175 h 275"/>
                <a:gd name="T10" fmla="*/ 75 w 164"/>
                <a:gd name="T11" fmla="*/ 197 h 275"/>
                <a:gd name="T12" fmla="*/ 58 w 164"/>
                <a:gd name="T13" fmla="*/ 218 h 275"/>
                <a:gd name="T14" fmla="*/ 41 w 164"/>
                <a:gd name="T15" fmla="*/ 240 h 275"/>
                <a:gd name="T16" fmla="*/ 23 w 164"/>
                <a:gd name="T17" fmla="*/ 261 h 275"/>
                <a:gd name="T18" fmla="*/ 19 w 164"/>
                <a:gd name="T19" fmla="*/ 266 h 275"/>
                <a:gd name="T20" fmla="*/ 17 w 164"/>
                <a:gd name="T21" fmla="*/ 267 h 275"/>
                <a:gd name="T22" fmla="*/ 14 w 164"/>
                <a:gd name="T23" fmla="*/ 270 h 275"/>
                <a:gd name="T24" fmla="*/ 10 w 164"/>
                <a:gd name="T25" fmla="*/ 275 h 275"/>
                <a:gd name="T26" fmla="*/ 7 w 164"/>
                <a:gd name="T27" fmla="*/ 270 h 275"/>
                <a:gd name="T28" fmla="*/ 4 w 164"/>
                <a:gd name="T29" fmla="*/ 266 h 275"/>
                <a:gd name="T30" fmla="*/ 1 w 164"/>
                <a:gd name="T31" fmla="*/ 262 h 275"/>
                <a:gd name="T32" fmla="*/ 0 w 164"/>
                <a:gd name="T33" fmla="*/ 261 h 275"/>
                <a:gd name="T34" fmla="*/ 5 w 164"/>
                <a:gd name="T35" fmla="*/ 253 h 275"/>
                <a:gd name="T36" fmla="*/ 10 w 164"/>
                <a:gd name="T37" fmla="*/ 248 h 275"/>
                <a:gd name="T38" fmla="*/ 15 w 164"/>
                <a:gd name="T39" fmla="*/ 241 h 275"/>
                <a:gd name="T40" fmla="*/ 22 w 164"/>
                <a:gd name="T41" fmla="*/ 234 h 275"/>
                <a:gd name="T42" fmla="*/ 23 w 164"/>
                <a:gd name="T43" fmla="*/ 232 h 275"/>
                <a:gd name="T44" fmla="*/ 28 w 164"/>
                <a:gd name="T45" fmla="*/ 230 h 275"/>
                <a:gd name="T46" fmla="*/ 33 w 164"/>
                <a:gd name="T47" fmla="*/ 227 h 275"/>
                <a:gd name="T48" fmla="*/ 40 w 164"/>
                <a:gd name="T49" fmla="*/ 222 h 275"/>
                <a:gd name="T50" fmla="*/ 46 w 164"/>
                <a:gd name="T51" fmla="*/ 215 h 275"/>
                <a:gd name="T52" fmla="*/ 50 w 164"/>
                <a:gd name="T53" fmla="*/ 208 h 275"/>
                <a:gd name="T54" fmla="*/ 53 w 164"/>
                <a:gd name="T55" fmla="*/ 199 h 275"/>
                <a:gd name="T56" fmla="*/ 51 w 164"/>
                <a:gd name="T57" fmla="*/ 188 h 275"/>
                <a:gd name="T58" fmla="*/ 55 w 164"/>
                <a:gd name="T59" fmla="*/ 179 h 275"/>
                <a:gd name="T60" fmla="*/ 66 w 164"/>
                <a:gd name="T61" fmla="*/ 165 h 275"/>
                <a:gd name="T62" fmla="*/ 77 w 164"/>
                <a:gd name="T63" fmla="*/ 149 h 275"/>
                <a:gd name="T64" fmla="*/ 88 w 164"/>
                <a:gd name="T65" fmla="*/ 135 h 275"/>
                <a:gd name="T66" fmla="*/ 92 w 164"/>
                <a:gd name="T67" fmla="*/ 132 h 275"/>
                <a:gd name="T68" fmla="*/ 95 w 164"/>
                <a:gd name="T69" fmla="*/ 130 h 275"/>
                <a:gd name="T70" fmla="*/ 99 w 164"/>
                <a:gd name="T71" fmla="*/ 127 h 275"/>
                <a:gd name="T72" fmla="*/ 102 w 164"/>
                <a:gd name="T73" fmla="*/ 125 h 275"/>
                <a:gd name="T74" fmla="*/ 114 w 164"/>
                <a:gd name="T75" fmla="*/ 112 h 275"/>
                <a:gd name="T76" fmla="*/ 120 w 164"/>
                <a:gd name="T77" fmla="*/ 95 h 275"/>
                <a:gd name="T78" fmla="*/ 120 w 164"/>
                <a:gd name="T79" fmla="*/ 79 h 275"/>
                <a:gd name="T80" fmla="*/ 115 w 164"/>
                <a:gd name="T81" fmla="*/ 63 h 275"/>
                <a:gd name="T82" fmla="*/ 110 w 164"/>
                <a:gd name="T83" fmla="*/ 53 h 275"/>
                <a:gd name="T84" fmla="*/ 102 w 164"/>
                <a:gd name="T85" fmla="*/ 35 h 275"/>
                <a:gd name="T86" fmla="*/ 92 w 164"/>
                <a:gd name="T87" fmla="*/ 16 h 275"/>
                <a:gd name="T88" fmla="*/ 83 w 164"/>
                <a:gd name="T89" fmla="*/ 0 h 275"/>
                <a:gd name="T90" fmla="*/ 90 w 164"/>
                <a:gd name="T91" fmla="*/ 4 h 275"/>
                <a:gd name="T92" fmla="*/ 103 w 164"/>
                <a:gd name="T93" fmla="*/ 11 h 275"/>
                <a:gd name="T94" fmla="*/ 119 w 164"/>
                <a:gd name="T95" fmla="*/ 20 h 275"/>
                <a:gd name="T96" fmla="*/ 134 w 164"/>
                <a:gd name="T97" fmla="*/ 31 h 275"/>
                <a:gd name="T98" fmla="*/ 149 w 164"/>
                <a:gd name="T99" fmla="*/ 44 h 275"/>
                <a:gd name="T100" fmla="*/ 159 w 164"/>
                <a:gd name="T101" fmla="*/ 59 h 275"/>
                <a:gd name="T102" fmla="*/ 164 w 164"/>
                <a:gd name="T103" fmla="*/ 74 h 275"/>
                <a:gd name="T104" fmla="*/ 160 w 164"/>
                <a:gd name="T105" fmla="*/ 91 h 27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4"/>
                <a:gd name="T160" fmla="*/ 0 h 275"/>
                <a:gd name="T161" fmla="*/ 164 w 164"/>
                <a:gd name="T162" fmla="*/ 275 h 275"/>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4" h="275">
                  <a:moveTo>
                    <a:pt x="160" y="91"/>
                  </a:moveTo>
                  <a:lnTo>
                    <a:pt x="142" y="112"/>
                  </a:lnTo>
                  <a:lnTo>
                    <a:pt x="125" y="132"/>
                  </a:lnTo>
                  <a:lnTo>
                    <a:pt x="108" y="155"/>
                  </a:lnTo>
                  <a:lnTo>
                    <a:pt x="92" y="175"/>
                  </a:lnTo>
                  <a:lnTo>
                    <a:pt x="75" y="197"/>
                  </a:lnTo>
                  <a:lnTo>
                    <a:pt x="58" y="218"/>
                  </a:lnTo>
                  <a:lnTo>
                    <a:pt x="41" y="240"/>
                  </a:lnTo>
                  <a:lnTo>
                    <a:pt x="23" y="261"/>
                  </a:lnTo>
                  <a:lnTo>
                    <a:pt x="19" y="266"/>
                  </a:lnTo>
                  <a:lnTo>
                    <a:pt x="17" y="267"/>
                  </a:lnTo>
                  <a:lnTo>
                    <a:pt x="14" y="270"/>
                  </a:lnTo>
                  <a:lnTo>
                    <a:pt x="10" y="275"/>
                  </a:lnTo>
                  <a:lnTo>
                    <a:pt x="7" y="270"/>
                  </a:lnTo>
                  <a:lnTo>
                    <a:pt x="4" y="266"/>
                  </a:lnTo>
                  <a:lnTo>
                    <a:pt x="1" y="262"/>
                  </a:lnTo>
                  <a:lnTo>
                    <a:pt x="0" y="261"/>
                  </a:lnTo>
                  <a:lnTo>
                    <a:pt x="5" y="253"/>
                  </a:lnTo>
                  <a:lnTo>
                    <a:pt x="10" y="248"/>
                  </a:lnTo>
                  <a:lnTo>
                    <a:pt x="15" y="241"/>
                  </a:lnTo>
                  <a:lnTo>
                    <a:pt x="22" y="234"/>
                  </a:lnTo>
                  <a:lnTo>
                    <a:pt x="23" y="232"/>
                  </a:lnTo>
                  <a:lnTo>
                    <a:pt x="28" y="230"/>
                  </a:lnTo>
                  <a:lnTo>
                    <a:pt x="33" y="227"/>
                  </a:lnTo>
                  <a:lnTo>
                    <a:pt x="40" y="222"/>
                  </a:lnTo>
                  <a:lnTo>
                    <a:pt x="46" y="215"/>
                  </a:lnTo>
                  <a:lnTo>
                    <a:pt x="50" y="208"/>
                  </a:lnTo>
                  <a:lnTo>
                    <a:pt x="53" y="199"/>
                  </a:lnTo>
                  <a:lnTo>
                    <a:pt x="51" y="188"/>
                  </a:lnTo>
                  <a:lnTo>
                    <a:pt x="55" y="179"/>
                  </a:lnTo>
                  <a:lnTo>
                    <a:pt x="66" y="165"/>
                  </a:lnTo>
                  <a:lnTo>
                    <a:pt x="77" y="149"/>
                  </a:lnTo>
                  <a:lnTo>
                    <a:pt x="88" y="135"/>
                  </a:lnTo>
                  <a:lnTo>
                    <a:pt x="92" y="132"/>
                  </a:lnTo>
                  <a:lnTo>
                    <a:pt x="95" y="130"/>
                  </a:lnTo>
                  <a:lnTo>
                    <a:pt x="99" y="127"/>
                  </a:lnTo>
                  <a:lnTo>
                    <a:pt x="102" y="125"/>
                  </a:lnTo>
                  <a:lnTo>
                    <a:pt x="114" y="112"/>
                  </a:lnTo>
                  <a:lnTo>
                    <a:pt x="120" y="95"/>
                  </a:lnTo>
                  <a:lnTo>
                    <a:pt x="120" y="79"/>
                  </a:lnTo>
                  <a:lnTo>
                    <a:pt x="115" y="63"/>
                  </a:lnTo>
                  <a:lnTo>
                    <a:pt x="110" y="53"/>
                  </a:lnTo>
                  <a:lnTo>
                    <a:pt x="102" y="35"/>
                  </a:lnTo>
                  <a:lnTo>
                    <a:pt x="92" y="16"/>
                  </a:lnTo>
                  <a:lnTo>
                    <a:pt x="83" y="0"/>
                  </a:lnTo>
                  <a:lnTo>
                    <a:pt x="90" y="4"/>
                  </a:lnTo>
                  <a:lnTo>
                    <a:pt x="103" y="11"/>
                  </a:lnTo>
                  <a:lnTo>
                    <a:pt x="119" y="20"/>
                  </a:lnTo>
                  <a:lnTo>
                    <a:pt x="134" y="31"/>
                  </a:lnTo>
                  <a:lnTo>
                    <a:pt x="149" y="44"/>
                  </a:lnTo>
                  <a:lnTo>
                    <a:pt x="159" y="59"/>
                  </a:lnTo>
                  <a:lnTo>
                    <a:pt x="164" y="74"/>
                  </a:lnTo>
                  <a:lnTo>
                    <a:pt x="160" y="91"/>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34" name="Freeform 20"/>
            <p:cNvSpPr>
              <a:spLocks/>
            </p:cNvSpPr>
            <p:nvPr/>
          </p:nvSpPr>
          <p:spPr bwMode="auto">
            <a:xfrm>
              <a:off x="2209" y="2945"/>
              <a:ext cx="57" cy="57"/>
            </a:xfrm>
            <a:custGeom>
              <a:avLst/>
              <a:gdLst>
                <a:gd name="T0" fmla="*/ 0 w 57"/>
                <a:gd name="T1" fmla="*/ 52 h 57"/>
                <a:gd name="T2" fmla="*/ 5 w 57"/>
                <a:gd name="T3" fmla="*/ 44 h 57"/>
                <a:gd name="T4" fmla="*/ 12 w 57"/>
                <a:gd name="T5" fmla="*/ 37 h 57"/>
                <a:gd name="T6" fmla="*/ 18 w 57"/>
                <a:gd name="T7" fmla="*/ 27 h 57"/>
                <a:gd name="T8" fmla="*/ 24 w 57"/>
                <a:gd name="T9" fmla="*/ 20 h 57"/>
                <a:gd name="T10" fmla="*/ 30 w 57"/>
                <a:gd name="T11" fmla="*/ 12 h 57"/>
                <a:gd name="T12" fmla="*/ 35 w 57"/>
                <a:gd name="T13" fmla="*/ 7 h 57"/>
                <a:gd name="T14" fmla="*/ 39 w 57"/>
                <a:gd name="T15" fmla="*/ 2 h 57"/>
                <a:gd name="T16" fmla="*/ 41 w 57"/>
                <a:gd name="T17" fmla="*/ 0 h 57"/>
                <a:gd name="T18" fmla="*/ 46 w 57"/>
                <a:gd name="T19" fmla="*/ 7 h 57"/>
                <a:gd name="T20" fmla="*/ 52 w 57"/>
                <a:gd name="T21" fmla="*/ 16 h 57"/>
                <a:gd name="T22" fmla="*/ 57 w 57"/>
                <a:gd name="T23" fmla="*/ 27 h 57"/>
                <a:gd name="T24" fmla="*/ 57 w 57"/>
                <a:gd name="T25" fmla="*/ 35 h 57"/>
                <a:gd name="T26" fmla="*/ 53 w 57"/>
                <a:gd name="T27" fmla="*/ 43 h 57"/>
                <a:gd name="T28" fmla="*/ 49 w 57"/>
                <a:gd name="T29" fmla="*/ 49 h 57"/>
                <a:gd name="T30" fmla="*/ 43 w 57"/>
                <a:gd name="T31" fmla="*/ 53 h 57"/>
                <a:gd name="T32" fmla="*/ 35 w 57"/>
                <a:gd name="T33" fmla="*/ 56 h 57"/>
                <a:gd name="T34" fmla="*/ 27 w 57"/>
                <a:gd name="T35" fmla="*/ 57 h 57"/>
                <a:gd name="T36" fmla="*/ 18 w 57"/>
                <a:gd name="T37" fmla="*/ 57 h 57"/>
                <a:gd name="T38" fmla="*/ 9 w 57"/>
                <a:gd name="T39" fmla="*/ 55 h 57"/>
                <a:gd name="T40" fmla="*/ 0 w 57"/>
                <a:gd name="T41" fmla="*/ 52 h 5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
                <a:gd name="T64" fmla="*/ 0 h 57"/>
                <a:gd name="T65" fmla="*/ 57 w 57"/>
                <a:gd name="T66" fmla="*/ 57 h 5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 h="57">
                  <a:moveTo>
                    <a:pt x="0" y="52"/>
                  </a:moveTo>
                  <a:lnTo>
                    <a:pt x="5" y="44"/>
                  </a:lnTo>
                  <a:lnTo>
                    <a:pt x="12" y="37"/>
                  </a:lnTo>
                  <a:lnTo>
                    <a:pt x="18" y="27"/>
                  </a:lnTo>
                  <a:lnTo>
                    <a:pt x="24" y="20"/>
                  </a:lnTo>
                  <a:lnTo>
                    <a:pt x="30" y="12"/>
                  </a:lnTo>
                  <a:lnTo>
                    <a:pt x="35" y="7"/>
                  </a:lnTo>
                  <a:lnTo>
                    <a:pt x="39" y="2"/>
                  </a:lnTo>
                  <a:lnTo>
                    <a:pt x="41" y="0"/>
                  </a:lnTo>
                  <a:lnTo>
                    <a:pt x="46" y="7"/>
                  </a:lnTo>
                  <a:lnTo>
                    <a:pt x="52" y="16"/>
                  </a:lnTo>
                  <a:lnTo>
                    <a:pt x="57" y="27"/>
                  </a:lnTo>
                  <a:lnTo>
                    <a:pt x="57" y="35"/>
                  </a:lnTo>
                  <a:lnTo>
                    <a:pt x="53" y="43"/>
                  </a:lnTo>
                  <a:lnTo>
                    <a:pt x="49" y="49"/>
                  </a:lnTo>
                  <a:lnTo>
                    <a:pt x="43" y="53"/>
                  </a:lnTo>
                  <a:lnTo>
                    <a:pt x="35" y="56"/>
                  </a:lnTo>
                  <a:lnTo>
                    <a:pt x="27" y="57"/>
                  </a:lnTo>
                  <a:lnTo>
                    <a:pt x="18" y="57"/>
                  </a:lnTo>
                  <a:lnTo>
                    <a:pt x="9" y="55"/>
                  </a:lnTo>
                  <a:lnTo>
                    <a:pt x="0" y="5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35" name="Freeform 21"/>
            <p:cNvSpPr>
              <a:spLocks/>
            </p:cNvSpPr>
            <p:nvPr/>
          </p:nvSpPr>
          <p:spPr bwMode="auto">
            <a:xfrm>
              <a:off x="2034" y="2963"/>
              <a:ext cx="51" cy="41"/>
            </a:xfrm>
            <a:custGeom>
              <a:avLst/>
              <a:gdLst>
                <a:gd name="T0" fmla="*/ 26 w 51"/>
                <a:gd name="T1" fmla="*/ 0 h 41"/>
                <a:gd name="T2" fmla="*/ 16 w 51"/>
                <a:gd name="T3" fmla="*/ 2 h 41"/>
                <a:gd name="T4" fmla="*/ 8 w 51"/>
                <a:gd name="T5" fmla="*/ 7 h 41"/>
                <a:gd name="T6" fmla="*/ 3 w 51"/>
                <a:gd name="T7" fmla="*/ 13 h 41"/>
                <a:gd name="T8" fmla="*/ 0 w 51"/>
                <a:gd name="T9" fmla="*/ 21 h 41"/>
                <a:gd name="T10" fmla="*/ 3 w 51"/>
                <a:gd name="T11" fmla="*/ 29 h 41"/>
                <a:gd name="T12" fmla="*/ 8 w 51"/>
                <a:gd name="T13" fmla="*/ 34 h 41"/>
                <a:gd name="T14" fmla="*/ 16 w 51"/>
                <a:gd name="T15" fmla="*/ 39 h 41"/>
                <a:gd name="T16" fmla="*/ 26 w 51"/>
                <a:gd name="T17" fmla="*/ 41 h 41"/>
                <a:gd name="T18" fmla="*/ 35 w 51"/>
                <a:gd name="T19" fmla="*/ 39 h 41"/>
                <a:gd name="T20" fmla="*/ 43 w 51"/>
                <a:gd name="T21" fmla="*/ 34 h 41"/>
                <a:gd name="T22" fmla="*/ 48 w 51"/>
                <a:gd name="T23" fmla="*/ 29 h 41"/>
                <a:gd name="T24" fmla="*/ 51 w 51"/>
                <a:gd name="T25" fmla="*/ 21 h 41"/>
                <a:gd name="T26" fmla="*/ 48 w 51"/>
                <a:gd name="T27" fmla="*/ 13 h 41"/>
                <a:gd name="T28" fmla="*/ 43 w 51"/>
                <a:gd name="T29" fmla="*/ 7 h 41"/>
                <a:gd name="T30" fmla="*/ 35 w 51"/>
                <a:gd name="T31" fmla="*/ 2 h 41"/>
                <a:gd name="T32" fmla="*/ 26 w 51"/>
                <a:gd name="T33" fmla="*/ 0 h 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1"/>
                <a:gd name="T52" fmla="*/ 0 h 41"/>
                <a:gd name="T53" fmla="*/ 51 w 51"/>
                <a:gd name="T54" fmla="*/ 41 h 4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1" h="41">
                  <a:moveTo>
                    <a:pt x="26" y="0"/>
                  </a:moveTo>
                  <a:lnTo>
                    <a:pt x="16" y="2"/>
                  </a:lnTo>
                  <a:lnTo>
                    <a:pt x="8" y="7"/>
                  </a:lnTo>
                  <a:lnTo>
                    <a:pt x="3" y="13"/>
                  </a:lnTo>
                  <a:lnTo>
                    <a:pt x="0" y="21"/>
                  </a:lnTo>
                  <a:lnTo>
                    <a:pt x="3" y="29"/>
                  </a:lnTo>
                  <a:lnTo>
                    <a:pt x="8" y="34"/>
                  </a:lnTo>
                  <a:lnTo>
                    <a:pt x="16" y="39"/>
                  </a:lnTo>
                  <a:lnTo>
                    <a:pt x="26" y="41"/>
                  </a:lnTo>
                  <a:lnTo>
                    <a:pt x="35" y="39"/>
                  </a:lnTo>
                  <a:lnTo>
                    <a:pt x="43" y="34"/>
                  </a:lnTo>
                  <a:lnTo>
                    <a:pt x="48" y="29"/>
                  </a:lnTo>
                  <a:lnTo>
                    <a:pt x="51" y="21"/>
                  </a:lnTo>
                  <a:lnTo>
                    <a:pt x="48" y="13"/>
                  </a:lnTo>
                  <a:lnTo>
                    <a:pt x="43" y="7"/>
                  </a:lnTo>
                  <a:lnTo>
                    <a:pt x="35" y="2"/>
                  </a:lnTo>
                  <a:lnTo>
                    <a:pt x="2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51213" name="Group 28"/>
          <p:cNvGrpSpPr>
            <a:grpSpLocks/>
          </p:cNvGrpSpPr>
          <p:nvPr/>
        </p:nvGrpSpPr>
        <p:grpSpPr bwMode="auto">
          <a:xfrm>
            <a:off x="7295948" y="2805186"/>
            <a:ext cx="492125" cy="539750"/>
            <a:chOff x="4508" y="1968"/>
            <a:chExt cx="310" cy="340"/>
          </a:xfrm>
        </p:grpSpPr>
        <p:sp>
          <p:nvSpPr>
            <p:cNvPr id="51218" name="Rectangle 29"/>
            <p:cNvSpPr>
              <a:spLocks noChangeArrowheads="1"/>
            </p:cNvSpPr>
            <p:nvPr/>
          </p:nvSpPr>
          <p:spPr bwMode="auto">
            <a:xfrm rot="19100882" flipH="1">
              <a:off x="4734" y="2152"/>
              <a:ext cx="84" cy="144"/>
            </a:xfrm>
            <a:prstGeom prst="rect">
              <a:avLst/>
            </a:prstGeom>
            <a:solidFill>
              <a:srgbClr val="996633"/>
            </a:solidFill>
            <a:ln w="12700">
              <a:solidFill>
                <a:schemeClr val="bg1"/>
              </a:solidFill>
              <a:miter lim="800000"/>
              <a:headEnd/>
              <a:tailEnd/>
            </a:ln>
          </p:spPr>
          <p:txBody>
            <a:bodyPr wrap="none" anchor="ctr">
              <a:spAutoFit/>
            </a:bodyPr>
            <a:lstStyle/>
            <a:p>
              <a:endParaRPr lang="en-US"/>
            </a:p>
          </p:txBody>
        </p:sp>
        <p:sp>
          <p:nvSpPr>
            <p:cNvPr id="51219" name="Oval 30"/>
            <p:cNvSpPr>
              <a:spLocks noChangeArrowheads="1"/>
            </p:cNvSpPr>
            <p:nvPr/>
          </p:nvSpPr>
          <p:spPr bwMode="auto">
            <a:xfrm flipH="1">
              <a:off x="4526" y="1968"/>
              <a:ext cx="246" cy="246"/>
            </a:xfrm>
            <a:prstGeom prst="ellipse">
              <a:avLst/>
            </a:prstGeom>
            <a:solidFill>
              <a:schemeClr val="hlink"/>
            </a:solidFill>
            <a:ln w="12700">
              <a:solidFill>
                <a:schemeClr val="bg1"/>
              </a:solidFill>
              <a:round/>
              <a:headEnd/>
              <a:tailEnd/>
            </a:ln>
          </p:spPr>
          <p:txBody>
            <a:bodyPr wrap="none" anchor="ctr">
              <a:spAutoFit/>
            </a:bodyPr>
            <a:lstStyle/>
            <a:p>
              <a:endParaRPr lang="en-US"/>
            </a:p>
          </p:txBody>
        </p:sp>
        <p:sp>
          <p:nvSpPr>
            <p:cNvPr id="51220" name="Rectangle 31"/>
            <p:cNvSpPr>
              <a:spLocks noChangeArrowheads="1"/>
            </p:cNvSpPr>
            <p:nvPr/>
          </p:nvSpPr>
          <p:spPr bwMode="auto">
            <a:xfrm rot="19100882" flipH="1">
              <a:off x="4717" y="2164"/>
              <a:ext cx="84" cy="144"/>
            </a:xfrm>
            <a:prstGeom prst="rect">
              <a:avLst/>
            </a:prstGeom>
            <a:gradFill rotWithShape="0">
              <a:gsLst>
                <a:gs pos="0">
                  <a:srgbClr val="996633"/>
                </a:gs>
                <a:gs pos="100000">
                  <a:srgbClr val="FFCC33"/>
                </a:gs>
              </a:gsLst>
              <a:lin ang="2700000" scaled="1"/>
            </a:gradFill>
            <a:ln w="12700">
              <a:solidFill>
                <a:schemeClr val="bg1"/>
              </a:solidFill>
              <a:miter lim="800000"/>
              <a:headEnd/>
              <a:tailEnd/>
            </a:ln>
          </p:spPr>
          <p:txBody>
            <a:bodyPr wrap="none" anchor="ctr">
              <a:spAutoFit/>
            </a:bodyPr>
            <a:lstStyle/>
            <a:p>
              <a:endParaRPr lang="en-US"/>
            </a:p>
          </p:txBody>
        </p:sp>
        <p:sp>
          <p:nvSpPr>
            <p:cNvPr id="51221" name="Oval 32"/>
            <p:cNvSpPr>
              <a:spLocks noChangeArrowheads="1"/>
            </p:cNvSpPr>
            <p:nvPr/>
          </p:nvSpPr>
          <p:spPr bwMode="auto">
            <a:xfrm flipH="1">
              <a:off x="4508" y="1971"/>
              <a:ext cx="246" cy="247"/>
            </a:xfrm>
            <a:prstGeom prst="ellipse">
              <a:avLst/>
            </a:prstGeom>
            <a:gradFill rotWithShape="0">
              <a:gsLst>
                <a:gs pos="0">
                  <a:srgbClr val="FFFFFF"/>
                </a:gs>
                <a:gs pos="100000">
                  <a:srgbClr val="99CCFF"/>
                </a:gs>
              </a:gsLst>
              <a:lin ang="18900000" scaled="1"/>
            </a:gradFill>
            <a:ln w="12700">
              <a:solidFill>
                <a:schemeClr val="bg1"/>
              </a:solidFill>
              <a:round/>
              <a:headEnd/>
              <a:tailEnd/>
            </a:ln>
          </p:spPr>
          <p:txBody>
            <a:bodyPr anchor="ctr">
              <a:spAutoFit/>
            </a:bodyPr>
            <a:lstStyle/>
            <a:p>
              <a:endParaRPr lang="en-US"/>
            </a:p>
          </p:txBody>
        </p:sp>
      </p:grpSp>
      <p:sp>
        <p:nvSpPr>
          <p:cNvPr id="51214" name="AutoShape 33"/>
          <p:cNvSpPr>
            <a:spLocks noChangeArrowheads="1"/>
          </p:cNvSpPr>
          <p:nvPr/>
        </p:nvSpPr>
        <p:spPr bwMode="auto">
          <a:xfrm>
            <a:off x="251040" y="4411569"/>
            <a:ext cx="700087" cy="241300"/>
          </a:xfrm>
          <a:prstGeom prst="roundRect">
            <a:avLst>
              <a:gd name="adj" fmla="val 16667"/>
            </a:avLst>
          </a:prstGeom>
          <a:noFill/>
          <a:ln w="190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3" name="Arc 2"/>
          <p:cNvSpPr/>
          <p:nvPr/>
        </p:nvSpPr>
        <p:spPr bwMode="auto">
          <a:xfrm>
            <a:off x="418395" y="4555482"/>
            <a:ext cx="1065463" cy="2118449"/>
          </a:xfrm>
          <a:prstGeom prst="arc">
            <a:avLst/>
          </a:prstGeom>
          <a:noFill/>
          <a:ln w="19050" cap="flat" cmpd="sng" algn="ctr">
            <a:solidFill>
              <a:srgbClr val="C00000"/>
            </a:solidFill>
            <a:prstDash val="solid"/>
            <a:round/>
            <a:headEnd type="none" w="med" len="med"/>
            <a:tailEnd type="triangle" w="med" len="med"/>
          </a:ln>
          <a:effectLst/>
        </p:spPr>
        <p:txBody>
          <a:bodyPr rtlCol="0" anchor="ctr"/>
          <a:lstStyle/>
          <a:p>
            <a:pPr algn="ctr"/>
            <a:endParaRPr lang="en-US"/>
          </a:p>
        </p:txBody>
      </p:sp>
      <p:sp>
        <p:nvSpPr>
          <p:cNvPr id="4" name="TextBox 3"/>
          <p:cNvSpPr txBox="1"/>
          <p:nvPr/>
        </p:nvSpPr>
        <p:spPr>
          <a:xfrm>
            <a:off x="4036103" y="4877254"/>
            <a:ext cx="2595845" cy="707886"/>
          </a:xfrm>
          <a:prstGeom prst="rect">
            <a:avLst/>
          </a:prstGeom>
          <a:noFill/>
          <a:ln>
            <a:noFill/>
          </a:ln>
        </p:spPr>
        <p:txBody>
          <a:bodyPr wrap="square" rtlCol="0">
            <a:spAutoFit/>
          </a:bodyPr>
          <a:lstStyle/>
          <a:p>
            <a:r>
              <a:rPr lang="en-US" sz="2000" dirty="0" smtClean="0">
                <a:solidFill>
                  <a:srgbClr val="C00000"/>
                </a:solidFill>
                <a:latin typeface="Calibri" pitchFamily="34" charset="0"/>
                <a:cs typeface="Calibri" pitchFamily="34" charset="0"/>
              </a:rPr>
              <a:t>Search result, not associated claim</a:t>
            </a:r>
          </a:p>
        </p:txBody>
      </p:sp>
      <p:sp>
        <p:nvSpPr>
          <p:cNvPr id="5" name="Rounded Rectangle 4"/>
          <p:cNvSpPr/>
          <p:nvPr/>
        </p:nvSpPr>
        <p:spPr bwMode="auto">
          <a:xfrm>
            <a:off x="1316235" y="5923154"/>
            <a:ext cx="2779776" cy="143665"/>
          </a:xfrm>
          <a:prstGeom prst="roundRect">
            <a:avLst/>
          </a:prstGeom>
          <a:noFill/>
          <a:ln w="19050" algn="ctr">
            <a:solidFill>
              <a:srgbClr val="C00000"/>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7" name="AutoShape 33"/>
          <p:cNvSpPr>
            <a:spLocks noChangeArrowheads="1"/>
          </p:cNvSpPr>
          <p:nvPr/>
        </p:nvSpPr>
        <p:spPr bwMode="auto">
          <a:xfrm>
            <a:off x="209810" y="2931861"/>
            <a:ext cx="3282867" cy="1440756"/>
          </a:xfrm>
          <a:prstGeom prst="roundRect">
            <a:avLst>
              <a:gd name="adj" fmla="val 16667"/>
            </a:avLst>
          </a:prstGeom>
          <a:noFill/>
          <a:ln w="190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45" name="AutoShape 33"/>
          <p:cNvSpPr>
            <a:spLocks noChangeArrowheads="1"/>
          </p:cNvSpPr>
          <p:nvPr/>
        </p:nvSpPr>
        <p:spPr bwMode="auto">
          <a:xfrm>
            <a:off x="1742467" y="1678773"/>
            <a:ext cx="1794343" cy="245339"/>
          </a:xfrm>
          <a:prstGeom prst="roundRect">
            <a:avLst>
              <a:gd name="adj" fmla="val 16667"/>
            </a:avLst>
          </a:prstGeom>
          <a:noFill/>
          <a:ln w="190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46" name="AutoShape 33"/>
          <p:cNvSpPr>
            <a:spLocks noChangeArrowheads="1"/>
          </p:cNvSpPr>
          <p:nvPr/>
        </p:nvSpPr>
        <p:spPr bwMode="auto">
          <a:xfrm>
            <a:off x="1730591" y="1379910"/>
            <a:ext cx="1794343" cy="245339"/>
          </a:xfrm>
          <a:prstGeom prst="roundRect">
            <a:avLst>
              <a:gd name="adj" fmla="val 16667"/>
            </a:avLst>
          </a:prstGeom>
          <a:noFill/>
          <a:ln w="190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512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6810" y="1900144"/>
            <a:ext cx="4391025" cy="2752725"/>
          </a:xfrm>
          <a:prstGeom prst="rect">
            <a:avLst/>
          </a:prstGeom>
          <a:noFill/>
          <a:ln w="9525">
            <a:solidFill>
              <a:schemeClr val="bg1"/>
            </a:solidFill>
            <a:miter lim="800000"/>
            <a:headEnd/>
            <a:tailEnd/>
          </a:ln>
          <a:effectLst>
            <a:outerShdw blurRad="63500" sx="102000" sy="102000" algn="ctr"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38" name="AutoShape 33"/>
          <p:cNvSpPr>
            <a:spLocks noChangeArrowheads="1"/>
          </p:cNvSpPr>
          <p:nvPr/>
        </p:nvSpPr>
        <p:spPr bwMode="auto">
          <a:xfrm>
            <a:off x="7386638" y="2717253"/>
            <a:ext cx="536130" cy="392919"/>
          </a:xfrm>
          <a:prstGeom prst="roundRect">
            <a:avLst>
              <a:gd name="adj" fmla="val 16667"/>
            </a:avLst>
          </a:prstGeom>
          <a:noFill/>
          <a:ln w="190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41" name="AutoShape 33"/>
          <p:cNvSpPr>
            <a:spLocks noChangeArrowheads="1"/>
          </p:cNvSpPr>
          <p:nvPr/>
        </p:nvSpPr>
        <p:spPr bwMode="auto">
          <a:xfrm>
            <a:off x="7216848" y="3519742"/>
            <a:ext cx="703558" cy="264993"/>
          </a:xfrm>
          <a:prstGeom prst="roundRect">
            <a:avLst>
              <a:gd name="adj" fmla="val 16667"/>
            </a:avLst>
          </a:prstGeom>
          <a:noFill/>
          <a:ln w="190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42" name="TextBox 41"/>
          <p:cNvSpPr txBox="1"/>
          <p:nvPr/>
        </p:nvSpPr>
        <p:spPr>
          <a:xfrm>
            <a:off x="5592405" y="1142182"/>
            <a:ext cx="2675732" cy="400110"/>
          </a:xfrm>
          <a:prstGeom prst="rect">
            <a:avLst/>
          </a:prstGeom>
          <a:noFill/>
        </p:spPr>
        <p:txBody>
          <a:bodyPr wrap="none" rtlCol="0">
            <a:spAutoFit/>
          </a:bodyPr>
          <a:lstStyle/>
          <a:p>
            <a:r>
              <a:rPr lang="en-US" sz="2000" dirty="0" smtClean="0">
                <a:solidFill>
                  <a:srgbClr val="C00000"/>
                </a:solidFill>
                <a:latin typeface="Calibri" pitchFamily="34" charset="0"/>
                <a:cs typeface="Calibri" pitchFamily="34" charset="0"/>
              </a:rPr>
              <a:t>List of associated claims</a:t>
            </a:r>
          </a:p>
        </p:txBody>
      </p:sp>
      <p:sp>
        <p:nvSpPr>
          <p:cNvPr id="43" name="Arc 42"/>
          <p:cNvSpPr/>
          <p:nvPr/>
        </p:nvSpPr>
        <p:spPr bwMode="auto">
          <a:xfrm>
            <a:off x="7111066" y="1448806"/>
            <a:ext cx="1065463" cy="1663388"/>
          </a:xfrm>
          <a:prstGeom prst="arc">
            <a:avLst>
              <a:gd name="adj1" fmla="val 16200000"/>
              <a:gd name="adj2" fmla="val 3951443"/>
            </a:avLst>
          </a:prstGeom>
          <a:noFill/>
          <a:ln w="19050" cap="flat" cmpd="sng" algn="ctr">
            <a:solidFill>
              <a:srgbClr val="C00000"/>
            </a:solidFill>
            <a:prstDash val="solid"/>
            <a:round/>
            <a:headEnd type="none" w="med" len="med"/>
            <a:tailEnd type="triangle" w="med" len="med"/>
          </a:ln>
          <a:effectLst/>
        </p:spPr>
        <p:txBody>
          <a:bodyPr rtlCol="0" anchor="ctr"/>
          <a:lstStyle/>
          <a:p>
            <a:pPr algn="ctr"/>
            <a:endParaRPr lang="en-US"/>
          </a:p>
        </p:txBody>
      </p:sp>
      <p:sp>
        <p:nvSpPr>
          <p:cNvPr id="37" name="AutoShape 5"/>
          <p:cNvSpPr>
            <a:spLocks noChangeArrowheads="1"/>
          </p:cNvSpPr>
          <p:nvPr/>
        </p:nvSpPr>
        <p:spPr bwMode="auto">
          <a:xfrm>
            <a:off x="7156450" y="3284617"/>
            <a:ext cx="1881188" cy="3213100"/>
          </a:xfrm>
          <a:prstGeom prst="cube">
            <a:avLst>
              <a:gd name="adj" fmla="val 10472"/>
            </a:avLst>
          </a:prstGeom>
          <a:solidFill>
            <a:schemeClr val="tx1"/>
          </a:solidFill>
          <a:ln w="28575">
            <a:solidFill>
              <a:schemeClr val="bg1"/>
            </a:solidFill>
            <a:miter lim="800000"/>
            <a:headEnd/>
            <a:tailEnd/>
          </a:ln>
        </p:spPr>
        <p:txBody>
          <a:bodyPr lIns="0" tIns="0" rIns="0" bIns="0" anchor="ctr">
            <a:spAutoFit/>
          </a:bodyPr>
          <a:lstStyle/>
          <a:p>
            <a:endParaRPr lang="en-US"/>
          </a:p>
        </p:txBody>
      </p:sp>
      <p:sp>
        <p:nvSpPr>
          <p:cNvPr id="39" name="AutoShape 6"/>
          <p:cNvSpPr>
            <a:spLocks noChangeArrowheads="1"/>
          </p:cNvSpPr>
          <p:nvPr/>
        </p:nvSpPr>
        <p:spPr bwMode="auto">
          <a:xfrm>
            <a:off x="7234238" y="4727654"/>
            <a:ext cx="587375" cy="587375"/>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grpSp>
        <p:nvGrpSpPr>
          <p:cNvPr id="40" name="Group 7"/>
          <p:cNvGrpSpPr>
            <a:grpSpLocks/>
          </p:cNvGrpSpPr>
          <p:nvPr/>
        </p:nvGrpSpPr>
        <p:grpSpPr bwMode="auto">
          <a:xfrm>
            <a:off x="7462838" y="3597354"/>
            <a:ext cx="1109662" cy="969963"/>
            <a:chOff x="1305" y="2500"/>
            <a:chExt cx="1138" cy="995"/>
          </a:xfrm>
        </p:grpSpPr>
        <p:sp>
          <p:nvSpPr>
            <p:cNvPr id="44" name="Freeform 8"/>
            <p:cNvSpPr>
              <a:spLocks/>
            </p:cNvSpPr>
            <p:nvPr/>
          </p:nvSpPr>
          <p:spPr bwMode="auto">
            <a:xfrm>
              <a:off x="1305" y="2500"/>
              <a:ext cx="1138" cy="995"/>
            </a:xfrm>
            <a:custGeom>
              <a:avLst/>
              <a:gdLst>
                <a:gd name="T0" fmla="*/ 444 w 1138"/>
                <a:gd name="T1" fmla="*/ 1 h 995"/>
                <a:gd name="T2" fmla="*/ 490 w 1138"/>
                <a:gd name="T3" fmla="*/ 0 h 995"/>
                <a:gd name="T4" fmla="*/ 532 w 1138"/>
                <a:gd name="T5" fmla="*/ 10 h 995"/>
                <a:gd name="T6" fmla="*/ 600 w 1138"/>
                <a:gd name="T7" fmla="*/ 40 h 995"/>
                <a:gd name="T8" fmla="*/ 668 w 1138"/>
                <a:gd name="T9" fmla="*/ 66 h 995"/>
                <a:gd name="T10" fmla="*/ 737 w 1138"/>
                <a:gd name="T11" fmla="*/ 85 h 995"/>
                <a:gd name="T12" fmla="*/ 808 w 1138"/>
                <a:gd name="T13" fmla="*/ 101 h 995"/>
                <a:gd name="T14" fmla="*/ 882 w 1138"/>
                <a:gd name="T15" fmla="*/ 111 h 995"/>
                <a:gd name="T16" fmla="*/ 953 w 1138"/>
                <a:gd name="T17" fmla="*/ 125 h 995"/>
                <a:gd name="T18" fmla="*/ 1011 w 1138"/>
                <a:gd name="T19" fmla="*/ 163 h 995"/>
                <a:gd name="T20" fmla="*/ 1036 w 1138"/>
                <a:gd name="T21" fmla="*/ 228 h 995"/>
                <a:gd name="T22" fmla="*/ 1082 w 1138"/>
                <a:gd name="T23" fmla="*/ 252 h 995"/>
                <a:gd name="T24" fmla="*/ 1120 w 1138"/>
                <a:gd name="T25" fmla="*/ 287 h 995"/>
                <a:gd name="T26" fmla="*/ 1137 w 1138"/>
                <a:gd name="T27" fmla="*/ 342 h 995"/>
                <a:gd name="T28" fmla="*/ 1134 w 1138"/>
                <a:gd name="T29" fmla="*/ 405 h 995"/>
                <a:gd name="T30" fmla="*/ 1111 w 1138"/>
                <a:gd name="T31" fmla="*/ 463 h 995"/>
                <a:gd name="T32" fmla="*/ 1068 w 1138"/>
                <a:gd name="T33" fmla="*/ 515 h 995"/>
                <a:gd name="T34" fmla="*/ 1026 w 1138"/>
                <a:gd name="T35" fmla="*/ 568 h 995"/>
                <a:gd name="T36" fmla="*/ 984 w 1138"/>
                <a:gd name="T37" fmla="*/ 627 h 995"/>
                <a:gd name="T38" fmla="*/ 965 w 1138"/>
                <a:gd name="T39" fmla="*/ 646 h 995"/>
                <a:gd name="T40" fmla="*/ 947 w 1138"/>
                <a:gd name="T41" fmla="*/ 664 h 995"/>
                <a:gd name="T42" fmla="*/ 918 w 1138"/>
                <a:gd name="T43" fmla="*/ 712 h 995"/>
                <a:gd name="T44" fmla="*/ 864 w 1138"/>
                <a:gd name="T45" fmla="*/ 796 h 995"/>
                <a:gd name="T46" fmla="*/ 802 w 1138"/>
                <a:gd name="T47" fmla="*/ 881 h 995"/>
                <a:gd name="T48" fmla="*/ 763 w 1138"/>
                <a:gd name="T49" fmla="*/ 927 h 995"/>
                <a:gd name="T50" fmla="*/ 741 w 1138"/>
                <a:gd name="T51" fmla="*/ 950 h 995"/>
                <a:gd name="T52" fmla="*/ 715 w 1138"/>
                <a:gd name="T53" fmla="*/ 963 h 995"/>
                <a:gd name="T54" fmla="*/ 670 w 1138"/>
                <a:gd name="T55" fmla="*/ 975 h 995"/>
                <a:gd name="T56" fmla="*/ 627 w 1138"/>
                <a:gd name="T57" fmla="*/ 985 h 995"/>
                <a:gd name="T58" fmla="*/ 584 w 1138"/>
                <a:gd name="T59" fmla="*/ 993 h 995"/>
                <a:gd name="T60" fmla="*/ 543 w 1138"/>
                <a:gd name="T61" fmla="*/ 995 h 995"/>
                <a:gd name="T62" fmla="*/ 500 w 1138"/>
                <a:gd name="T63" fmla="*/ 988 h 995"/>
                <a:gd name="T64" fmla="*/ 464 w 1138"/>
                <a:gd name="T65" fmla="*/ 975 h 995"/>
                <a:gd name="T66" fmla="*/ 421 w 1138"/>
                <a:gd name="T67" fmla="*/ 953 h 995"/>
                <a:gd name="T68" fmla="*/ 369 w 1138"/>
                <a:gd name="T69" fmla="*/ 925 h 995"/>
                <a:gd name="T70" fmla="*/ 317 w 1138"/>
                <a:gd name="T71" fmla="*/ 899 h 995"/>
                <a:gd name="T72" fmla="*/ 275 w 1138"/>
                <a:gd name="T73" fmla="*/ 878 h 995"/>
                <a:gd name="T74" fmla="*/ 219 w 1138"/>
                <a:gd name="T75" fmla="*/ 861 h 995"/>
                <a:gd name="T76" fmla="*/ 151 w 1138"/>
                <a:gd name="T77" fmla="*/ 851 h 995"/>
                <a:gd name="T78" fmla="*/ 86 w 1138"/>
                <a:gd name="T79" fmla="*/ 827 h 995"/>
                <a:gd name="T80" fmla="*/ 18 w 1138"/>
                <a:gd name="T81" fmla="*/ 764 h 995"/>
                <a:gd name="T82" fmla="*/ 0 w 1138"/>
                <a:gd name="T83" fmla="*/ 678 h 995"/>
                <a:gd name="T84" fmla="*/ 15 w 1138"/>
                <a:gd name="T85" fmla="*/ 590 h 995"/>
                <a:gd name="T86" fmla="*/ 52 w 1138"/>
                <a:gd name="T87" fmla="*/ 520 h 995"/>
                <a:gd name="T88" fmla="*/ 110 w 1138"/>
                <a:gd name="T89" fmla="*/ 462 h 995"/>
                <a:gd name="T90" fmla="*/ 166 w 1138"/>
                <a:gd name="T91" fmla="*/ 392 h 995"/>
                <a:gd name="T92" fmla="*/ 217 w 1138"/>
                <a:gd name="T93" fmla="*/ 316 h 995"/>
                <a:gd name="T94" fmla="*/ 263 w 1138"/>
                <a:gd name="T95" fmla="*/ 239 h 995"/>
                <a:gd name="T96" fmla="*/ 308 w 1138"/>
                <a:gd name="T97" fmla="*/ 156 h 995"/>
                <a:gd name="T98" fmla="*/ 365 w 1138"/>
                <a:gd name="T99" fmla="*/ 58 h 995"/>
                <a:gd name="T100" fmla="*/ 413 w 1138"/>
                <a:gd name="T101" fmla="*/ 5 h 99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38"/>
                <a:gd name="T154" fmla="*/ 0 h 995"/>
                <a:gd name="T155" fmla="*/ 1138 w 1138"/>
                <a:gd name="T156" fmla="*/ 995 h 99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38" h="995">
                  <a:moveTo>
                    <a:pt x="413" y="5"/>
                  </a:moveTo>
                  <a:lnTo>
                    <a:pt x="429" y="2"/>
                  </a:lnTo>
                  <a:lnTo>
                    <a:pt x="444" y="1"/>
                  </a:lnTo>
                  <a:lnTo>
                    <a:pt x="460" y="0"/>
                  </a:lnTo>
                  <a:lnTo>
                    <a:pt x="475" y="0"/>
                  </a:lnTo>
                  <a:lnTo>
                    <a:pt x="490" y="0"/>
                  </a:lnTo>
                  <a:lnTo>
                    <a:pt x="504" y="2"/>
                  </a:lnTo>
                  <a:lnTo>
                    <a:pt x="518" y="5"/>
                  </a:lnTo>
                  <a:lnTo>
                    <a:pt x="532" y="10"/>
                  </a:lnTo>
                  <a:lnTo>
                    <a:pt x="554" y="20"/>
                  </a:lnTo>
                  <a:lnTo>
                    <a:pt x="578" y="31"/>
                  </a:lnTo>
                  <a:lnTo>
                    <a:pt x="600" y="40"/>
                  </a:lnTo>
                  <a:lnTo>
                    <a:pt x="623" y="49"/>
                  </a:lnTo>
                  <a:lnTo>
                    <a:pt x="645" y="57"/>
                  </a:lnTo>
                  <a:lnTo>
                    <a:pt x="668" y="66"/>
                  </a:lnTo>
                  <a:lnTo>
                    <a:pt x="692" y="72"/>
                  </a:lnTo>
                  <a:lnTo>
                    <a:pt x="714" y="79"/>
                  </a:lnTo>
                  <a:lnTo>
                    <a:pt x="737" y="85"/>
                  </a:lnTo>
                  <a:lnTo>
                    <a:pt x="760" y="92"/>
                  </a:lnTo>
                  <a:lnTo>
                    <a:pt x="785" y="97"/>
                  </a:lnTo>
                  <a:lnTo>
                    <a:pt x="808" y="101"/>
                  </a:lnTo>
                  <a:lnTo>
                    <a:pt x="833" y="105"/>
                  </a:lnTo>
                  <a:lnTo>
                    <a:pt x="857" y="108"/>
                  </a:lnTo>
                  <a:lnTo>
                    <a:pt x="882" y="111"/>
                  </a:lnTo>
                  <a:lnTo>
                    <a:pt x="906" y="114"/>
                  </a:lnTo>
                  <a:lnTo>
                    <a:pt x="930" y="119"/>
                  </a:lnTo>
                  <a:lnTo>
                    <a:pt x="953" y="125"/>
                  </a:lnTo>
                  <a:lnTo>
                    <a:pt x="975" y="136"/>
                  </a:lnTo>
                  <a:lnTo>
                    <a:pt x="994" y="147"/>
                  </a:lnTo>
                  <a:lnTo>
                    <a:pt x="1011" y="163"/>
                  </a:lnTo>
                  <a:lnTo>
                    <a:pt x="1024" y="181"/>
                  </a:lnTo>
                  <a:lnTo>
                    <a:pt x="1033" y="202"/>
                  </a:lnTo>
                  <a:lnTo>
                    <a:pt x="1036" y="228"/>
                  </a:lnTo>
                  <a:lnTo>
                    <a:pt x="1051" y="235"/>
                  </a:lnTo>
                  <a:lnTo>
                    <a:pt x="1067" y="243"/>
                  </a:lnTo>
                  <a:lnTo>
                    <a:pt x="1082" y="252"/>
                  </a:lnTo>
                  <a:lnTo>
                    <a:pt x="1097" y="263"/>
                  </a:lnTo>
                  <a:lnTo>
                    <a:pt x="1110" y="274"/>
                  </a:lnTo>
                  <a:lnTo>
                    <a:pt x="1120" y="287"/>
                  </a:lnTo>
                  <a:lnTo>
                    <a:pt x="1129" y="303"/>
                  </a:lnTo>
                  <a:lnTo>
                    <a:pt x="1134" y="321"/>
                  </a:lnTo>
                  <a:lnTo>
                    <a:pt x="1137" y="342"/>
                  </a:lnTo>
                  <a:lnTo>
                    <a:pt x="1138" y="364"/>
                  </a:lnTo>
                  <a:lnTo>
                    <a:pt x="1137" y="384"/>
                  </a:lnTo>
                  <a:lnTo>
                    <a:pt x="1134" y="405"/>
                  </a:lnTo>
                  <a:lnTo>
                    <a:pt x="1128" y="426"/>
                  </a:lnTo>
                  <a:lnTo>
                    <a:pt x="1120" y="445"/>
                  </a:lnTo>
                  <a:lnTo>
                    <a:pt x="1111" y="463"/>
                  </a:lnTo>
                  <a:lnTo>
                    <a:pt x="1098" y="482"/>
                  </a:lnTo>
                  <a:lnTo>
                    <a:pt x="1082" y="498"/>
                  </a:lnTo>
                  <a:lnTo>
                    <a:pt x="1068" y="515"/>
                  </a:lnTo>
                  <a:lnTo>
                    <a:pt x="1053" y="533"/>
                  </a:lnTo>
                  <a:lnTo>
                    <a:pt x="1040" y="550"/>
                  </a:lnTo>
                  <a:lnTo>
                    <a:pt x="1026" y="568"/>
                  </a:lnTo>
                  <a:lnTo>
                    <a:pt x="1011" y="586"/>
                  </a:lnTo>
                  <a:lnTo>
                    <a:pt x="998" y="606"/>
                  </a:lnTo>
                  <a:lnTo>
                    <a:pt x="984" y="627"/>
                  </a:lnTo>
                  <a:lnTo>
                    <a:pt x="978" y="634"/>
                  </a:lnTo>
                  <a:lnTo>
                    <a:pt x="971" y="641"/>
                  </a:lnTo>
                  <a:lnTo>
                    <a:pt x="965" y="646"/>
                  </a:lnTo>
                  <a:lnTo>
                    <a:pt x="960" y="653"/>
                  </a:lnTo>
                  <a:lnTo>
                    <a:pt x="953" y="659"/>
                  </a:lnTo>
                  <a:lnTo>
                    <a:pt x="947" y="664"/>
                  </a:lnTo>
                  <a:lnTo>
                    <a:pt x="941" y="671"/>
                  </a:lnTo>
                  <a:lnTo>
                    <a:pt x="938" y="678"/>
                  </a:lnTo>
                  <a:lnTo>
                    <a:pt x="918" y="712"/>
                  </a:lnTo>
                  <a:lnTo>
                    <a:pt x="900" y="742"/>
                  </a:lnTo>
                  <a:lnTo>
                    <a:pt x="882" y="770"/>
                  </a:lnTo>
                  <a:lnTo>
                    <a:pt x="864" y="796"/>
                  </a:lnTo>
                  <a:lnTo>
                    <a:pt x="844" y="824"/>
                  </a:lnTo>
                  <a:lnTo>
                    <a:pt x="824" y="851"/>
                  </a:lnTo>
                  <a:lnTo>
                    <a:pt x="802" y="881"/>
                  </a:lnTo>
                  <a:lnTo>
                    <a:pt x="777" y="912"/>
                  </a:lnTo>
                  <a:lnTo>
                    <a:pt x="769" y="919"/>
                  </a:lnTo>
                  <a:lnTo>
                    <a:pt x="763" y="927"/>
                  </a:lnTo>
                  <a:lnTo>
                    <a:pt x="755" y="936"/>
                  </a:lnTo>
                  <a:lnTo>
                    <a:pt x="749" y="943"/>
                  </a:lnTo>
                  <a:lnTo>
                    <a:pt x="741" y="950"/>
                  </a:lnTo>
                  <a:lnTo>
                    <a:pt x="733" y="956"/>
                  </a:lnTo>
                  <a:lnTo>
                    <a:pt x="724" y="961"/>
                  </a:lnTo>
                  <a:lnTo>
                    <a:pt x="715" y="963"/>
                  </a:lnTo>
                  <a:lnTo>
                    <a:pt x="699" y="967"/>
                  </a:lnTo>
                  <a:lnTo>
                    <a:pt x="684" y="971"/>
                  </a:lnTo>
                  <a:lnTo>
                    <a:pt x="670" y="975"/>
                  </a:lnTo>
                  <a:lnTo>
                    <a:pt x="655" y="979"/>
                  </a:lnTo>
                  <a:lnTo>
                    <a:pt x="641" y="983"/>
                  </a:lnTo>
                  <a:lnTo>
                    <a:pt x="627" y="985"/>
                  </a:lnTo>
                  <a:lnTo>
                    <a:pt x="613" y="989"/>
                  </a:lnTo>
                  <a:lnTo>
                    <a:pt x="598" y="991"/>
                  </a:lnTo>
                  <a:lnTo>
                    <a:pt x="584" y="993"/>
                  </a:lnTo>
                  <a:lnTo>
                    <a:pt x="570" y="995"/>
                  </a:lnTo>
                  <a:lnTo>
                    <a:pt x="557" y="995"/>
                  </a:lnTo>
                  <a:lnTo>
                    <a:pt x="543" y="995"/>
                  </a:lnTo>
                  <a:lnTo>
                    <a:pt x="528" y="993"/>
                  </a:lnTo>
                  <a:lnTo>
                    <a:pt x="514" y="992"/>
                  </a:lnTo>
                  <a:lnTo>
                    <a:pt x="500" y="988"/>
                  </a:lnTo>
                  <a:lnTo>
                    <a:pt x="486" y="984"/>
                  </a:lnTo>
                  <a:lnTo>
                    <a:pt x="475" y="980"/>
                  </a:lnTo>
                  <a:lnTo>
                    <a:pt x="464" y="975"/>
                  </a:lnTo>
                  <a:lnTo>
                    <a:pt x="451" y="969"/>
                  </a:lnTo>
                  <a:lnTo>
                    <a:pt x="437" y="961"/>
                  </a:lnTo>
                  <a:lnTo>
                    <a:pt x="421" y="953"/>
                  </a:lnTo>
                  <a:lnTo>
                    <a:pt x="404" y="944"/>
                  </a:lnTo>
                  <a:lnTo>
                    <a:pt x="386" y="935"/>
                  </a:lnTo>
                  <a:lnTo>
                    <a:pt x="369" y="925"/>
                  </a:lnTo>
                  <a:lnTo>
                    <a:pt x="352" y="915"/>
                  </a:lnTo>
                  <a:lnTo>
                    <a:pt x="334" y="906"/>
                  </a:lnTo>
                  <a:lnTo>
                    <a:pt x="317" y="899"/>
                  </a:lnTo>
                  <a:lnTo>
                    <a:pt x="302" y="890"/>
                  </a:lnTo>
                  <a:lnTo>
                    <a:pt x="288" y="883"/>
                  </a:lnTo>
                  <a:lnTo>
                    <a:pt x="275" y="878"/>
                  </a:lnTo>
                  <a:lnTo>
                    <a:pt x="263" y="873"/>
                  </a:lnTo>
                  <a:lnTo>
                    <a:pt x="253" y="870"/>
                  </a:lnTo>
                  <a:lnTo>
                    <a:pt x="219" y="861"/>
                  </a:lnTo>
                  <a:lnTo>
                    <a:pt x="193" y="856"/>
                  </a:lnTo>
                  <a:lnTo>
                    <a:pt x="170" y="853"/>
                  </a:lnTo>
                  <a:lnTo>
                    <a:pt x="151" y="851"/>
                  </a:lnTo>
                  <a:lnTo>
                    <a:pt x="131" y="847"/>
                  </a:lnTo>
                  <a:lnTo>
                    <a:pt x="110" y="839"/>
                  </a:lnTo>
                  <a:lnTo>
                    <a:pt x="86" y="827"/>
                  </a:lnTo>
                  <a:lnTo>
                    <a:pt x="56" y="808"/>
                  </a:lnTo>
                  <a:lnTo>
                    <a:pt x="34" y="789"/>
                  </a:lnTo>
                  <a:lnTo>
                    <a:pt x="18" y="764"/>
                  </a:lnTo>
                  <a:lnTo>
                    <a:pt x="8" y="738"/>
                  </a:lnTo>
                  <a:lnTo>
                    <a:pt x="3" y="708"/>
                  </a:lnTo>
                  <a:lnTo>
                    <a:pt x="0" y="678"/>
                  </a:lnTo>
                  <a:lnTo>
                    <a:pt x="3" y="649"/>
                  </a:lnTo>
                  <a:lnTo>
                    <a:pt x="8" y="619"/>
                  </a:lnTo>
                  <a:lnTo>
                    <a:pt x="15" y="590"/>
                  </a:lnTo>
                  <a:lnTo>
                    <a:pt x="22" y="564"/>
                  </a:lnTo>
                  <a:lnTo>
                    <a:pt x="35" y="541"/>
                  </a:lnTo>
                  <a:lnTo>
                    <a:pt x="52" y="520"/>
                  </a:lnTo>
                  <a:lnTo>
                    <a:pt x="70" y="501"/>
                  </a:lnTo>
                  <a:lnTo>
                    <a:pt x="90" y="482"/>
                  </a:lnTo>
                  <a:lnTo>
                    <a:pt x="110" y="462"/>
                  </a:lnTo>
                  <a:lnTo>
                    <a:pt x="131" y="441"/>
                  </a:lnTo>
                  <a:lnTo>
                    <a:pt x="149" y="419"/>
                  </a:lnTo>
                  <a:lnTo>
                    <a:pt x="166" y="392"/>
                  </a:lnTo>
                  <a:lnTo>
                    <a:pt x="183" y="366"/>
                  </a:lnTo>
                  <a:lnTo>
                    <a:pt x="200" y="342"/>
                  </a:lnTo>
                  <a:lnTo>
                    <a:pt x="217" y="316"/>
                  </a:lnTo>
                  <a:lnTo>
                    <a:pt x="232" y="290"/>
                  </a:lnTo>
                  <a:lnTo>
                    <a:pt x="248" y="265"/>
                  </a:lnTo>
                  <a:lnTo>
                    <a:pt x="263" y="239"/>
                  </a:lnTo>
                  <a:lnTo>
                    <a:pt x="279" y="212"/>
                  </a:lnTo>
                  <a:lnTo>
                    <a:pt x="292" y="187"/>
                  </a:lnTo>
                  <a:lnTo>
                    <a:pt x="308" y="156"/>
                  </a:lnTo>
                  <a:lnTo>
                    <a:pt x="327" y="123"/>
                  </a:lnTo>
                  <a:lnTo>
                    <a:pt x="346" y="89"/>
                  </a:lnTo>
                  <a:lnTo>
                    <a:pt x="365" y="58"/>
                  </a:lnTo>
                  <a:lnTo>
                    <a:pt x="384" y="31"/>
                  </a:lnTo>
                  <a:lnTo>
                    <a:pt x="400" y="13"/>
                  </a:lnTo>
                  <a:lnTo>
                    <a:pt x="413" y="5"/>
                  </a:lnTo>
                  <a:close/>
                </a:path>
              </a:pathLst>
            </a:custGeom>
            <a:solidFill>
              <a:srgbClr val="FFFFD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 name="Freeform 9"/>
            <p:cNvSpPr>
              <a:spLocks/>
            </p:cNvSpPr>
            <p:nvPr/>
          </p:nvSpPr>
          <p:spPr bwMode="auto">
            <a:xfrm>
              <a:off x="1356" y="2554"/>
              <a:ext cx="1055" cy="891"/>
            </a:xfrm>
            <a:custGeom>
              <a:avLst/>
              <a:gdLst>
                <a:gd name="T0" fmla="*/ 1013 w 1055"/>
                <a:gd name="T1" fmla="*/ 247 h 891"/>
                <a:gd name="T2" fmla="*/ 1007 w 1055"/>
                <a:gd name="T3" fmla="*/ 242 h 891"/>
                <a:gd name="T4" fmla="*/ 986 w 1055"/>
                <a:gd name="T5" fmla="*/ 227 h 891"/>
                <a:gd name="T6" fmla="*/ 963 w 1055"/>
                <a:gd name="T7" fmla="*/ 215 h 891"/>
                <a:gd name="T8" fmla="*/ 962 w 1055"/>
                <a:gd name="T9" fmla="*/ 189 h 891"/>
                <a:gd name="T10" fmla="*/ 947 w 1055"/>
                <a:gd name="T11" fmla="*/ 157 h 891"/>
                <a:gd name="T12" fmla="*/ 918 w 1055"/>
                <a:gd name="T13" fmla="*/ 145 h 891"/>
                <a:gd name="T14" fmla="*/ 861 w 1055"/>
                <a:gd name="T15" fmla="*/ 131 h 891"/>
                <a:gd name="T16" fmla="*/ 804 w 1055"/>
                <a:gd name="T17" fmla="*/ 118 h 891"/>
                <a:gd name="T18" fmla="*/ 749 w 1055"/>
                <a:gd name="T19" fmla="*/ 105 h 891"/>
                <a:gd name="T20" fmla="*/ 707 w 1055"/>
                <a:gd name="T21" fmla="*/ 95 h 891"/>
                <a:gd name="T22" fmla="*/ 665 w 1055"/>
                <a:gd name="T23" fmla="*/ 82 h 891"/>
                <a:gd name="T24" fmla="*/ 622 w 1055"/>
                <a:gd name="T25" fmla="*/ 65 h 891"/>
                <a:gd name="T26" fmla="*/ 572 w 1055"/>
                <a:gd name="T27" fmla="*/ 43 h 891"/>
                <a:gd name="T28" fmla="*/ 516 w 1055"/>
                <a:gd name="T29" fmla="*/ 21 h 891"/>
                <a:gd name="T30" fmla="*/ 465 w 1055"/>
                <a:gd name="T31" fmla="*/ 5 h 891"/>
                <a:gd name="T32" fmla="*/ 423 w 1055"/>
                <a:gd name="T33" fmla="*/ 0 h 891"/>
                <a:gd name="T34" fmla="*/ 387 w 1055"/>
                <a:gd name="T35" fmla="*/ 18 h 891"/>
                <a:gd name="T36" fmla="*/ 343 w 1055"/>
                <a:gd name="T37" fmla="*/ 69 h 891"/>
                <a:gd name="T38" fmla="*/ 304 w 1055"/>
                <a:gd name="T39" fmla="*/ 124 h 891"/>
                <a:gd name="T40" fmla="*/ 266 w 1055"/>
                <a:gd name="T41" fmla="*/ 175 h 891"/>
                <a:gd name="T42" fmla="*/ 230 w 1055"/>
                <a:gd name="T43" fmla="*/ 223 h 891"/>
                <a:gd name="T44" fmla="*/ 198 w 1055"/>
                <a:gd name="T45" fmla="*/ 273 h 891"/>
                <a:gd name="T46" fmla="*/ 127 w 1055"/>
                <a:gd name="T47" fmla="*/ 384 h 891"/>
                <a:gd name="T48" fmla="*/ 36 w 1055"/>
                <a:gd name="T49" fmla="*/ 513 h 891"/>
                <a:gd name="T50" fmla="*/ 0 w 1055"/>
                <a:gd name="T51" fmla="*/ 578 h 891"/>
                <a:gd name="T52" fmla="*/ 9 w 1055"/>
                <a:gd name="T53" fmla="*/ 624 h 891"/>
                <a:gd name="T54" fmla="*/ 17 w 1055"/>
                <a:gd name="T55" fmla="*/ 648 h 891"/>
                <a:gd name="T56" fmla="*/ 33 w 1055"/>
                <a:gd name="T57" fmla="*/ 688 h 891"/>
                <a:gd name="T58" fmla="*/ 53 w 1055"/>
                <a:gd name="T59" fmla="*/ 709 h 891"/>
                <a:gd name="T60" fmla="*/ 101 w 1055"/>
                <a:gd name="T61" fmla="*/ 729 h 891"/>
                <a:gd name="T62" fmla="*/ 149 w 1055"/>
                <a:gd name="T63" fmla="*/ 749 h 891"/>
                <a:gd name="T64" fmla="*/ 198 w 1055"/>
                <a:gd name="T65" fmla="*/ 767 h 891"/>
                <a:gd name="T66" fmla="*/ 247 w 1055"/>
                <a:gd name="T67" fmla="*/ 785 h 891"/>
                <a:gd name="T68" fmla="*/ 295 w 1055"/>
                <a:gd name="T69" fmla="*/ 803 h 891"/>
                <a:gd name="T70" fmla="*/ 347 w 1055"/>
                <a:gd name="T71" fmla="*/ 825 h 891"/>
                <a:gd name="T72" fmla="*/ 400 w 1055"/>
                <a:gd name="T73" fmla="*/ 847 h 891"/>
                <a:gd name="T74" fmla="*/ 453 w 1055"/>
                <a:gd name="T75" fmla="*/ 867 h 891"/>
                <a:gd name="T76" fmla="*/ 531 w 1055"/>
                <a:gd name="T77" fmla="*/ 887 h 891"/>
                <a:gd name="T78" fmla="*/ 610 w 1055"/>
                <a:gd name="T79" fmla="*/ 887 h 891"/>
                <a:gd name="T80" fmla="*/ 669 w 1055"/>
                <a:gd name="T81" fmla="*/ 851 h 891"/>
                <a:gd name="T82" fmla="*/ 721 w 1055"/>
                <a:gd name="T83" fmla="*/ 790 h 891"/>
                <a:gd name="T84" fmla="*/ 780 w 1055"/>
                <a:gd name="T85" fmla="*/ 707 h 891"/>
                <a:gd name="T86" fmla="*/ 839 w 1055"/>
                <a:gd name="T87" fmla="*/ 622 h 891"/>
                <a:gd name="T88" fmla="*/ 887 w 1055"/>
                <a:gd name="T89" fmla="*/ 549 h 891"/>
                <a:gd name="T90" fmla="*/ 915 w 1055"/>
                <a:gd name="T91" fmla="*/ 508 h 891"/>
                <a:gd name="T92" fmla="*/ 978 w 1055"/>
                <a:gd name="T93" fmla="*/ 426 h 891"/>
                <a:gd name="T94" fmla="*/ 1038 w 1055"/>
                <a:gd name="T95" fmla="*/ 349 h 891"/>
                <a:gd name="T96" fmla="*/ 1055 w 1055"/>
                <a:gd name="T97" fmla="*/ 312 h 891"/>
                <a:gd name="T98" fmla="*/ 1048 w 1055"/>
                <a:gd name="T99" fmla="*/ 277 h 891"/>
                <a:gd name="T100" fmla="*/ 1025 w 1055"/>
                <a:gd name="T101" fmla="*/ 254 h 8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55"/>
                <a:gd name="T154" fmla="*/ 0 h 891"/>
                <a:gd name="T155" fmla="*/ 1055 w 1055"/>
                <a:gd name="T156" fmla="*/ 891 h 8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55" h="891">
                  <a:moveTo>
                    <a:pt x="1013" y="249"/>
                  </a:moveTo>
                  <a:lnTo>
                    <a:pt x="1013" y="247"/>
                  </a:lnTo>
                  <a:lnTo>
                    <a:pt x="1007" y="242"/>
                  </a:lnTo>
                  <a:lnTo>
                    <a:pt x="1000" y="237"/>
                  </a:lnTo>
                  <a:lnTo>
                    <a:pt x="993" y="232"/>
                  </a:lnTo>
                  <a:lnTo>
                    <a:pt x="986" y="227"/>
                  </a:lnTo>
                  <a:lnTo>
                    <a:pt x="978" y="223"/>
                  </a:lnTo>
                  <a:lnTo>
                    <a:pt x="971" y="219"/>
                  </a:lnTo>
                  <a:lnTo>
                    <a:pt x="963" y="215"/>
                  </a:lnTo>
                  <a:lnTo>
                    <a:pt x="955" y="213"/>
                  </a:lnTo>
                  <a:lnTo>
                    <a:pt x="960" y="201"/>
                  </a:lnTo>
                  <a:lnTo>
                    <a:pt x="962" y="189"/>
                  </a:lnTo>
                  <a:lnTo>
                    <a:pt x="960" y="176"/>
                  </a:lnTo>
                  <a:lnTo>
                    <a:pt x="955" y="165"/>
                  </a:lnTo>
                  <a:lnTo>
                    <a:pt x="947" y="157"/>
                  </a:lnTo>
                  <a:lnTo>
                    <a:pt x="938" y="152"/>
                  </a:lnTo>
                  <a:lnTo>
                    <a:pt x="928" y="148"/>
                  </a:lnTo>
                  <a:lnTo>
                    <a:pt x="918" y="145"/>
                  </a:lnTo>
                  <a:lnTo>
                    <a:pt x="898" y="140"/>
                  </a:lnTo>
                  <a:lnTo>
                    <a:pt x="879" y="135"/>
                  </a:lnTo>
                  <a:lnTo>
                    <a:pt x="861" y="131"/>
                  </a:lnTo>
                  <a:lnTo>
                    <a:pt x="841" y="127"/>
                  </a:lnTo>
                  <a:lnTo>
                    <a:pt x="823" y="122"/>
                  </a:lnTo>
                  <a:lnTo>
                    <a:pt x="804" y="118"/>
                  </a:lnTo>
                  <a:lnTo>
                    <a:pt x="784" y="114"/>
                  </a:lnTo>
                  <a:lnTo>
                    <a:pt x="765" y="109"/>
                  </a:lnTo>
                  <a:lnTo>
                    <a:pt x="749" y="105"/>
                  </a:lnTo>
                  <a:lnTo>
                    <a:pt x="735" y="102"/>
                  </a:lnTo>
                  <a:lnTo>
                    <a:pt x="721" y="99"/>
                  </a:lnTo>
                  <a:lnTo>
                    <a:pt x="707" y="95"/>
                  </a:lnTo>
                  <a:lnTo>
                    <a:pt x="692" y="91"/>
                  </a:lnTo>
                  <a:lnTo>
                    <a:pt x="678" y="87"/>
                  </a:lnTo>
                  <a:lnTo>
                    <a:pt x="665" y="82"/>
                  </a:lnTo>
                  <a:lnTo>
                    <a:pt x="651" y="77"/>
                  </a:lnTo>
                  <a:lnTo>
                    <a:pt x="638" y="71"/>
                  </a:lnTo>
                  <a:lnTo>
                    <a:pt x="622" y="65"/>
                  </a:lnTo>
                  <a:lnTo>
                    <a:pt x="607" y="57"/>
                  </a:lnTo>
                  <a:lnTo>
                    <a:pt x="589" y="51"/>
                  </a:lnTo>
                  <a:lnTo>
                    <a:pt x="572" y="43"/>
                  </a:lnTo>
                  <a:lnTo>
                    <a:pt x="553" y="35"/>
                  </a:lnTo>
                  <a:lnTo>
                    <a:pt x="534" y="29"/>
                  </a:lnTo>
                  <a:lnTo>
                    <a:pt x="516" y="21"/>
                  </a:lnTo>
                  <a:lnTo>
                    <a:pt x="498" y="16"/>
                  </a:lnTo>
                  <a:lnTo>
                    <a:pt x="481" y="10"/>
                  </a:lnTo>
                  <a:lnTo>
                    <a:pt x="465" y="5"/>
                  </a:lnTo>
                  <a:lnTo>
                    <a:pt x="449" y="3"/>
                  </a:lnTo>
                  <a:lnTo>
                    <a:pt x="435" y="0"/>
                  </a:lnTo>
                  <a:lnTo>
                    <a:pt x="423" y="0"/>
                  </a:lnTo>
                  <a:lnTo>
                    <a:pt x="413" y="1"/>
                  </a:lnTo>
                  <a:lnTo>
                    <a:pt x="405" y="5"/>
                  </a:lnTo>
                  <a:lnTo>
                    <a:pt x="387" y="18"/>
                  </a:lnTo>
                  <a:lnTo>
                    <a:pt x="371" y="34"/>
                  </a:lnTo>
                  <a:lnTo>
                    <a:pt x="357" y="51"/>
                  </a:lnTo>
                  <a:lnTo>
                    <a:pt x="343" y="69"/>
                  </a:lnTo>
                  <a:lnTo>
                    <a:pt x="330" y="88"/>
                  </a:lnTo>
                  <a:lnTo>
                    <a:pt x="317" y="106"/>
                  </a:lnTo>
                  <a:lnTo>
                    <a:pt x="304" y="124"/>
                  </a:lnTo>
                  <a:lnTo>
                    <a:pt x="291" y="143"/>
                  </a:lnTo>
                  <a:lnTo>
                    <a:pt x="278" y="159"/>
                  </a:lnTo>
                  <a:lnTo>
                    <a:pt x="266" y="175"/>
                  </a:lnTo>
                  <a:lnTo>
                    <a:pt x="254" y="190"/>
                  </a:lnTo>
                  <a:lnTo>
                    <a:pt x="242" y="206"/>
                  </a:lnTo>
                  <a:lnTo>
                    <a:pt x="230" y="223"/>
                  </a:lnTo>
                  <a:lnTo>
                    <a:pt x="219" y="238"/>
                  </a:lnTo>
                  <a:lnTo>
                    <a:pt x="208" y="255"/>
                  </a:lnTo>
                  <a:lnTo>
                    <a:pt x="198" y="273"/>
                  </a:lnTo>
                  <a:lnTo>
                    <a:pt x="181" y="303"/>
                  </a:lnTo>
                  <a:lnTo>
                    <a:pt x="156" y="341"/>
                  </a:lnTo>
                  <a:lnTo>
                    <a:pt x="127" y="384"/>
                  </a:lnTo>
                  <a:lnTo>
                    <a:pt x="96" y="429"/>
                  </a:lnTo>
                  <a:lnTo>
                    <a:pt x="65" y="473"/>
                  </a:lnTo>
                  <a:lnTo>
                    <a:pt x="36" y="513"/>
                  </a:lnTo>
                  <a:lnTo>
                    <a:pt x="14" y="545"/>
                  </a:lnTo>
                  <a:lnTo>
                    <a:pt x="0" y="567"/>
                  </a:lnTo>
                  <a:lnTo>
                    <a:pt x="0" y="578"/>
                  </a:lnTo>
                  <a:lnTo>
                    <a:pt x="4" y="597"/>
                  </a:lnTo>
                  <a:lnTo>
                    <a:pt x="8" y="615"/>
                  </a:lnTo>
                  <a:lnTo>
                    <a:pt x="9" y="624"/>
                  </a:lnTo>
                  <a:lnTo>
                    <a:pt x="10" y="628"/>
                  </a:lnTo>
                  <a:lnTo>
                    <a:pt x="13" y="637"/>
                  </a:lnTo>
                  <a:lnTo>
                    <a:pt x="17" y="648"/>
                  </a:lnTo>
                  <a:lnTo>
                    <a:pt x="22" y="661"/>
                  </a:lnTo>
                  <a:lnTo>
                    <a:pt x="27" y="675"/>
                  </a:lnTo>
                  <a:lnTo>
                    <a:pt x="33" y="688"/>
                  </a:lnTo>
                  <a:lnTo>
                    <a:pt x="40" y="698"/>
                  </a:lnTo>
                  <a:lnTo>
                    <a:pt x="48" y="706"/>
                  </a:lnTo>
                  <a:lnTo>
                    <a:pt x="53" y="709"/>
                  </a:lnTo>
                  <a:lnTo>
                    <a:pt x="68" y="716"/>
                  </a:lnTo>
                  <a:lnTo>
                    <a:pt x="85" y="723"/>
                  </a:lnTo>
                  <a:lnTo>
                    <a:pt x="101" y="729"/>
                  </a:lnTo>
                  <a:lnTo>
                    <a:pt x="116" y="737"/>
                  </a:lnTo>
                  <a:lnTo>
                    <a:pt x="133" y="744"/>
                  </a:lnTo>
                  <a:lnTo>
                    <a:pt x="149" y="749"/>
                  </a:lnTo>
                  <a:lnTo>
                    <a:pt x="166" y="755"/>
                  </a:lnTo>
                  <a:lnTo>
                    <a:pt x="181" y="762"/>
                  </a:lnTo>
                  <a:lnTo>
                    <a:pt x="198" y="767"/>
                  </a:lnTo>
                  <a:lnTo>
                    <a:pt x="213" y="773"/>
                  </a:lnTo>
                  <a:lnTo>
                    <a:pt x="230" y="780"/>
                  </a:lnTo>
                  <a:lnTo>
                    <a:pt x="247" y="785"/>
                  </a:lnTo>
                  <a:lnTo>
                    <a:pt x="263" y="792"/>
                  </a:lnTo>
                  <a:lnTo>
                    <a:pt x="279" y="797"/>
                  </a:lnTo>
                  <a:lnTo>
                    <a:pt x="295" y="803"/>
                  </a:lnTo>
                  <a:lnTo>
                    <a:pt x="312" y="810"/>
                  </a:lnTo>
                  <a:lnTo>
                    <a:pt x="330" y="817"/>
                  </a:lnTo>
                  <a:lnTo>
                    <a:pt x="347" y="825"/>
                  </a:lnTo>
                  <a:lnTo>
                    <a:pt x="365" y="833"/>
                  </a:lnTo>
                  <a:lnTo>
                    <a:pt x="382" y="839"/>
                  </a:lnTo>
                  <a:lnTo>
                    <a:pt x="400" y="847"/>
                  </a:lnTo>
                  <a:lnTo>
                    <a:pt x="417" y="855"/>
                  </a:lnTo>
                  <a:lnTo>
                    <a:pt x="435" y="861"/>
                  </a:lnTo>
                  <a:lnTo>
                    <a:pt x="453" y="867"/>
                  </a:lnTo>
                  <a:lnTo>
                    <a:pt x="479" y="874"/>
                  </a:lnTo>
                  <a:lnTo>
                    <a:pt x="505" y="881"/>
                  </a:lnTo>
                  <a:lnTo>
                    <a:pt x="531" y="887"/>
                  </a:lnTo>
                  <a:lnTo>
                    <a:pt x="558" y="891"/>
                  </a:lnTo>
                  <a:lnTo>
                    <a:pt x="584" y="891"/>
                  </a:lnTo>
                  <a:lnTo>
                    <a:pt x="610" y="887"/>
                  </a:lnTo>
                  <a:lnTo>
                    <a:pt x="633" y="880"/>
                  </a:lnTo>
                  <a:lnTo>
                    <a:pt x="656" y="864"/>
                  </a:lnTo>
                  <a:lnTo>
                    <a:pt x="669" y="851"/>
                  </a:lnTo>
                  <a:lnTo>
                    <a:pt x="685" y="834"/>
                  </a:lnTo>
                  <a:lnTo>
                    <a:pt x="701" y="814"/>
                  </a:lnTo>
                  <a:lnTo>
                    <a:pt x="721" y="790"/>
                  </a:lnTo>
                  <a:lnTo>
                    <a:pt x="740" y="764"/>
                  </a:lnTo>
                  <a:lnTo>
                    <a:pt x="760" y="736"/>
                  </a:lnTo>
                  <a:lnTo>
                    <a:pt x="780" y="707"/>
                  </a:lnTo>
                  <a:lnTo>
                    <a:pt x="800" y="678"/>
                  </a:lnTo>
                  <a:lnTo>
                    <a:pt x="819" y="649"/>
                  </a:lnTo>
                  <a:lnTo>
                    <a:pt x="839" y="622"/>
                  </a:lnTo>
                  <a:lnTo>
                    <a:pt x="857" y="595"/>
                  </a:lnTo>
                  <a:lnTo>
                    <a:pt x="872" y="570"/>
                  </a:lnTo>
                  <a:lnTo>
                    <a:pt x="887" y="549"/>
                  </a:lnTo>
                  <a:lnTo>
                    <a:pt x="899" y="531"/>
                  </a:lnTo>
                  <a:lnTo>
                    <a:pt x="909" y="517"/>
                  </a:lnTo>
                  <a:lnTo>
                    <a:pt x="915" y="508"/>
                  </a:lnTo>
                  <a:lnTo>
                    <a:pt x="933" y="483"/>
                  </a:lnTo>
                  <a:lnTo>
                    <a:pt x="955" y="456"/>
                  </a:lnTo>
                  <a:lnTo>
                    <a:pt x="978" y="426"/>
                  </a:lnTo>
                  <a:lnTo>
                    <a:pt x="1000" y="396"/>
                  </a:lnTo>
                  <a:lnTo>
                    <a:pt x="1021" y="371"/>
                  </a:lnTo>
                  <a:lnTo>
                    <a:pt x="1038" y="349"/>
                  </a:lnTo>
                  <a:lnTo>
                    <a:pt x="1050" y="333"/>
                  </a:lnTo>
                  <a:lnTo>
                    <a:pt x="1053" y="325"/>
                  </a:lnTo>
                  <a:lnTo>
                    <a:pt x="1055" y="312"/>
                  </a:lnTo>
                  <a:lnTo>
                    <a:pt x="1055" y="301"/>
                  </a:lnTo>
                  <a:lnTo>
                    <a:pt x="1052" y="289"/>
                  </a:lnTo>
                  <a:lnTo>
                    <a:pt x="1048" y="277"/>
                  </a:lnTo>
                  <a:lnTo>
                    <a:pt x="1042" y="268"/>
                  </a:lnTo>
                  <a:lnTo>
                    <a:pt x="1034" y="260"/>
                  </a:lnTo>
                  <a:lnTo>
                    <a:pt x="1025" y="254"/>
                  </a:lnTo>
                  <a:lnTo>
                    <a:pt x="1013" y="2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 name="Freeform 10"/>
            <p:cNvSpPr>
              <a:spLocks/>
            </p:cNvSpPr>
            <p:nvPr/>
          </p:nvSpPr>
          <p:spPr bwMode="auto">
            <a:xfrm>
              <a:off x="2158" y="2782"/>
              <a:ext cx="151" cy="211"/>
            </a:xfrm>
            <a:custGeom>
              <a:avLst/>
              <a:gdLst>
                <a:gd name="T0" fmla="*/ 151 w 151"/>
                <a:gd name="T1" fmla="*/ 27 h 211"/>
                <a:gd name="T2" fmla="*/ 148 w 151"/>
                <a:gd name="T3" fmla="*/ 32 h 211"/>
                <a:gd name="T4" fmla="*/ 141 w 151"/>
                <a:gd name="T5" fmla="*/ 42 h 211"/>
                <a:gd name="T6" fmla="*/ 131 w 151"/>
                <a:gd name="T7" fmla="*/ 54 h 211"/>
                <a:gd name="T8" fmla="*/ 118 w 151"/>
                <a:gd name="T9" fmla="*/ 69 h 211"/>
                <a:gd name="T10" fmla="*/ 105 w 151"/>
                <a:gd name="T11" fmla="*/ 83 h 211"/>
                <a:gd name="T12" fmla="*/ 95 w 151"/>
                <a:gd name="T13" fmla="*/ 96 h 211"/>
                <a:gd name="T14" fmla="*/ 88 w 151"/>
                <a:gd name="T15" fmla="*/ 105 h 211"/>
                <a:gd name="T16" fmla="*/ 86 w 151"/>
                <a:gd name="T17" fmla="*/ 109 h 211"/>
                <a:gd name="T18" fmla="*/ 87 w 151"/>
                <a:gd name="T19" fmla="*/ 110 h 211"/>
                <a:gd name="T20" fmla="*/ 91 w 151"/>
                <a:gd name="T21" fmla="*/ 113 h 211"/>
                <a:gd name="T22" fmla="*/ 96 w 151"/>
                <a:gd name="T23" fmla="*/ 117 h 211"/>
                <a:gd name="T24" fmla="*/ 104 w 151"/>
                <a:gd name="T25" fmla="*/ 121 h 211"/>
                <a:gd name="T26" fmla="*/ 113 w 151"/>
                <a:gd name="T27" fmla="*/ 126 h 211"/>
                <a:gd name="T28" fmla="*/ 122 w 151"/>
                <a:gd name="T29" fmla="*/ 130 h 211"/>
                <a:gd name="T30" fmla="*/ 131 w 151"/>
                <a:gd name="T31" fmla="*/ 132 h 211"/>
                <a:gd name="T32" fmla="*/ 141 w 151"/>
                <a:gd name="T33" fmla="*/ 132 h 211"/>
                <a:gd name="T34" fmla="*/ 134 w 151"/>
                <a:gd name="T35" fmla="*/ 137 h 211"/>
                <a:gd name="T36" fmla="*/ 126 w 151"/>
                <a:gd name="T37" fmla="*/ 144 h 211"/>
                <a:gd name="T38" fmla="*/ 119 w 151"/>
                <a:gd name="T39" fmla="*/ 152 h 211"/>
                <a:gd name="T40" fmla="*/ 113 w 151"/>
                <a:gd name="T41" fmla="*/ 159 h 211"/>
                <a:gd name="T42" fmla="*/ 109 w 151"/>
                <a:gd name="T43" fmla="*/ 154 h 211"/>
                <a:gd name="T44" fmla="*/ 105 w 151"/>
                <a:gd name="T45" fmla="*/ 145 h 211"/>
                <a:gd name="T46" fmla="*/ 100 w 151"/>
                <a:gd name="T47" fmla="*/ 136 h 211"/>
                <a:gd name="T48" fmla="*/ 99 w 151"/>
                <a:gd name="T49" fmla="*/ 132 h 211"/>
                <a:gd name="T50" fmla="*/ 95 w 151"/>
                <a:gd name="T51" fmla="*/ 135 h 211"/>
                <a:gd name="T52" fmla="*/ 87 w 151"/>
                <a:gd name="T53" fmla="*/ 144 h 211"/>
                <a:gd name="T54" fmla="*/ 75 w 151"/>
                <a:gd name="T55" fmla="*/ 157 h 211"/>
                <a:gd name="T56" fmla="*/ 64 w 151"/>
                <a:gd name="T57" fmla="*/ 171 h 211"/>
                <a:gd name="T58" fmla="*/ 51 w 151"/>
                <a:gd name="T59" fmla="*/ 185 h 211"/>
                <a:gd name="T60" fmla="*/ 41 w 151"/>
                <a:gd name="T61" fmla="*/ 198 h 211"/>
                <a:gd name="T62" fmla="*/ 33 w 151"/>
                <a:gd name="T63" fmla="*/ 207 h 211"/>
                <a:gd name="T64" fmla="*/ 30 w 151"/>
                <a:gd name="T65" fmla="*/ 211 h 211"/>
                <a:gd name="T66" fmla="*/ 20 w 151"/>
                <a:gd name="T67" fmla="*/ 201 h 211"/>
                <a:gd name="T68" fmla="*/ 11 w 151"/>
                <a:gd name="T69" fmla="*/ 192 h 211"/>
                <a:gd name="T70" fmla="*/ 3 w 151"/>
                <a:gd name="T71" fmla="*/ 184 h 211"/>
                <a:gd name="T72" fmla="*/ 0 w 151"/>
                <a:gd name="T73" fmla="*/ 180 h 211"/>
                <a:gd name="T74" fmla="*/ 17 w 151"/>
                <a:gd name="T75" fmla="*/ 163 h 211"/>
                <a:gd name="T76" fmla="*/ 37 w 151"/>
                <a:gd name="T77" fmla="*/ 139 h 211"/>
                <a:gd name="T78" fmla="*/ 57 w 151"/>
                <a:gd name="T79" fmla="*/ 111 h 211"/>
                <a:gd name="T80" fmla="*/ 79 w 151"/>
                <a:gd name="T81" fmla="*/ 83 h 211"/>
                <a:gd name="T82" fmla="*/ 100 w 151"/>
                <a:gd name="T83" fmla="*/ 56 h 211"/>
                <a:gd name="T84" fmla="*/ 118 w 151"/>
                <a:gd name="T85" fmla="*/ 31 h 211"/>
                <a:gd name="T86" fmla="*/ 132 w 151"/>
                <a:gd name="T87" fmla="*/ 12 h 211"/>
                <a:gd name="T88" fmla="*/ 141 w 151"/>
                <a:gd name="T89" fmla="*/ 0 h 211"/>
                <a:gd name="T90" fmla="*/ 144 w 151"/>
                <a:gd name="T91" fmla="*/ 7 h 211"/>
                <a:gd name="T92" fmla="*/ 145 w 151"/>
                <a:gd name="T93" fmla="*/ 13 h 211"/>
                <a:gd name="T94" fmla="*/ 148 w 151"/>
                <a:gd name="T95" fmla="*/ 21 h 211"/>
                <a:gd name="T96" fmla="*/ 151 w 151"/>
                <a:gd name="T97" fmla="*/ 27 h 21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51"/>
                <a:gd name="T148" fmla="*/ 0 h 211"/>
                <a:gd name="T149" fmla="*/ 151 w 151"/>
                <a:gd name="T150" fmla="*/ 211 h 21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51" h="211">
                  <a:moveTo>
                    <a:pt x="151" y="27"/>
                  </a:moveTo>
                  <a:lnTo>
                    <a:pt x="148" y="32"/>
                  </a:lnTo>
                  <a:lnTo>
                    <a:pt x="141" y="42"/>
                  </a:lnTo>
                  <a:lnTo>
                    <a:pt x="131" y="54"/>
                  </a:lnTo>
                  <a:lnTo>
                    <a:pt x="118" y="69"/>
                  </a:lnTo>
                  <a:lnTo>
                    <a:pt x="105" y="83"/>
                  </a:lnTo>
                  <a:lnTo>
                    <a:pt x="95" y="96"/>
                  </a:lnTo>
                  <a:lnTo>
                    <a:pt x="88" y="105"/>
                  </a:lnTo>
                  <a:lnTo>
                    <a:pt x="86" y="109"/>
                  </a:lnTo>
                  <a:lnTo>
                    <a:pt x="87" y="110"/>
                  </a:lnTo>
                  <a:lnTo>
                    <a:pt x="91" y="113"/>
                  </a:lnTo>
                  <a:lnTo>
                    <a:pt x="96" y="117"/>
                  </a:lnTo>
                  <a:lnTo>
                    <a:pt x="104" y="121"/>
                  </a:lnTo>
                  <a:lnTo>
                    <a:pt x="113" y="126"/>
                  </a:lnTo>
                  <a:lnTo>
                    <a:pt x="122" y="130"/>
                  </a:lnTo>
                  <a:lnTo>
                    <a:pt x="131" y="132"/>
                  </a:lnTo>
                  <a:lnTo>
                    <a:pt x="141" y="132"/>
                  </a:lnTo>
                  <a:lnTo>
                    <a:pt x="134" y="137"/>
                  </a:lnTo>
                  <a:lnTo>
                    <a:pt x="126" y="144"/>
                  </a:lnTo>
                  <a:lnTo>
                    <a:pt x="119" y="152"/>
                  </a:lnTo>
                  <a:lnTo>
                    <a:pt x="113" y="159"/>
                  </a:lnTo>
                  <a:lnTo>
                    <a:pt x="109" y="154"/>
                  </a:lnTo>
                  <a:lnTo>
                    <a:pt x="105" y="145"/>
                  </a:lnTo>
                  <a:lnTo>
                    <a:pt x="100" y="136"/>
                  </a:lnTo>
                  <a:lnTo>
                    <a:pt x="99" y="132"/>
                  </a:lnTo>
                  <a:lnTo>
                    <a:pt x="95" y="135"/>
                  </a:lnTo>
                  <a:lnTo>
                    <a:pt x="87" y="144"/>
                  </a:lnTo>
                  <a:lnTo>
                    <a:pt x="75" y="157"/>
                  </a:lnTo>
                  <a:lnTo>
                    <a:pt x="64" y="171"/>
                  </a:lnTo>
                  <a:lnTo>
                    <a:pt x="51" y="185"/>
                  </a:lnTo>
                  <a:lnTo>
                    <a:pt x="41" y="198"/>
                  </a:lnTo>
                  <a:lnTo>
                    <a:pt x="33" y="207"/>
                  </a:lnTo>
                  <a:lnTo>
                    <a:pt x="30" y="211"/>
                  </a:lnTo>
                  <a:lnTo>
                    <a:pt x="20" y="201"/>
                  </a:lnTo>
                  <a:lnTo>
                    <a:pt x="11" y="192"/>
                  </a:lnTo>
                  <a:lnTo>
                    <a:pt x="3" y="184"/>
                  </a:lnTo>
                  <a:lnTo>
                    <a:pt x="0" y="180"/>
                  </a:lnTo>
                  <a:lnTo>
                    <a:pt x="17" y="163"/>
                  </a:lnTo>
                  <a:lnTo>
                    <a:pt x="37" y="139"/>
                  </a:lnTo>
                  <a:lnTo>
                    <a:pt x="57" y="111"/>
                  </a:lnTo>
                  <a:lnTo>
                    <a:pt x="79" y="83"/>
                  </a:lnTo>
                  <a:lnTo>
                    <a:pt x="100" y="56"/>
                  </a:lnTo>
                  <a:lnTo>
                    <a:pt x="118" y="31"/>
                  </a:lnTo>
                  <a:lnTo>
                    <a:pt x="132" y="12"/>
                  </a:lnTo>
                  <a:lnTo>
                    <a:pt x="141" y="0"/>
                  </a:lnTo>
                  <a:lnTo>
                    <a:pt x="144" y="7"/>
                  </a:lnTo>
                  <a:lnTo>
                    <a:pt x="145" y="13"/>
                  </a:lnTo>
                  <a:lnTo>
                    <a:pt x="148" y="21"/>
                  </a:lnTo>
                  <a:lnTo>
                    <a:pt x="151" y="27"/>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 name="Freeform 11"/>
            <p:cNvSpPr>
              <a:spLocks/>
            </p:cNvSpPr>
            <p:nvPr/>
          </p:nvSpPr>
          <p:spPr bwMode="auto">
            <a:xfrm>
              <a:off x="2271" y="2834"/>
              <a:ext cx="58" cy="65"/>
            </a:xfrm>
            <a:custGeom>
              <a:avLst/>
              <a:gdLst>
                <a:gd name="T0" fmla="*/ 44 w 58"/>
                <a:gd name="T1" fmla="*/ 0 h 65"/>
                <a:gd name="T2" fmla="*/ 53 w 58"/>
                <a:gd name="T3" fmla="*/ 17 h 65"/>
                <a:gd name="T4" fmla="*/ 57 w 58"/>
                <a:gd name="T5" fmla="*/ 31 h 65"/>
                <a:gd name="T6" fmla="*/ 57 w 58"/>
                <a:gd name="T7" fmla="*/ 41 h 65"/>
                <a:gd name="T8" fmla="*/ 58 w 58"/>
                <a:gd name="T9" fmla="*/ 47 h 65"/>
                <a:gd name="T10" fmla="*/ 56 w 58"/>
                <a:gd name="T11" fmla="*/ 52 h 65"/>
                <a:gd name="T12" fmla="*/ 54 w 58"/>
                <a:gd name="T13" fmla="*/ 56 h 65"/>
                <a:gd name="T14" fmla="*/ 52 w 58"/>
                <a:gd name="T15" fmla="*/ 58 h 65"/>
                <a:gd name="T16" fmla="*/ 45 w 58"/>
                <a:gd name="T17" fmla="*/ 61 h 65"/>
                <a:gd name="T18" fmla="*/ 39 w 58"/>
                <a:gd name="T19" fmla="*/ 63 h 65"/>
                <a:gd name="T20" fmla="*/ 34 w 58"/>
                <a:gd name="T21" fmla="*/ 65 h 65"/>
                <a:gd name="T22" fmla="*/ 30 w 58"/>
                <a:gd name="T23" fmla="*/ 65 h 65"/>
                <a:gd name="T24" fmla="*/ 25 w 58"/>
                <a:gd name="T25" fmla="*/ 63 h 65"/>
                <a:gd name="T26" fmla="*/ 19 w 58"/>
                <a:gd name="T27" fmla="*/ 61 h 65"/>
                <a:gd name="T28" fmla="*/ 14 w 58"/>
                <a:gd name="T29" fmla="*/ 58 h 65"/>
                <a:gd name="T30" fmla="*/ 8 w 58"/>
                <a:gd name="T31" fmla="*/ 56 h 65"/>
                <a:gd name="T32" fmla="*/ 0 w 58"/>
                <a:gd name="T33" fmla="*/ 52 h 65"/>
                <a:gd name="T34" fmla="*/ 3 w 58"/>
                <a:gd name="T35" fmla="*/ 48 h 65"/>
                <a:gd name="T36" fmla="*/ 8 w 58"/>
                <a:gd name="T37" fmla="*/ 40 h 65"/>
                <a:gd name="T38" fmla="*/ 14 w 58"/>
                <a:gd name="T39" fmla="*/ 32 h 65"/>
                <a:gd name="T40" fmla="*/ 22 w 58"/>
                <a:gd name="T41" fmla="*/ 22 h 65"/>
                <a:gd name="T42" fmla="*/ 30 w 58"/>
                <a:gd name="T43" fmla="*/ 13 h 65"/>
                <a:gd name="T44" fmla="*/ 36 w 58"/>
                <a:gd name="T45" fmla="*/ 6 h 65"/>
                <a:gd name="T46" fmla="*/ 41 w 58"/>
                <a:gd name="T47" fmla="*/ 1 h 65"/>
                <a:gd name="T48" fmla="*/ 44 w 58"/>
                <a:gd name="T49" fmla="*/ 0 h 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8"/>
                <a:gd name="T76" fmla="*/ 0 h 65"/>
                <a:gd name="T77" fmla="*/ 58 w 58"/>
                <a:gd name="T78" fmla="*/ 65 h 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8" h="65">
                  <a:moveTo>
                    <a:pt x="44" y="0"/>
                  </a:moveTo>
                  <a:lnTo>
                    <a:pt x="53" y="17"/>
                  </a:lnTo>
                  <a:lnTo>
                    <a:pt x="57" y="31"/>
                  </a:lnTo>
                  <a:lnTo>
                    <a:pt x="57" y="41"/>
                  </a:lnTo>
                  <a:lnTo>
                    <a:pt x="58" y="47"/>
                  </a:lnTo>
                  <a:lnTo>
                    <a:pt x="56" y="52"/>
                  </a:lnTo>
                  <a:lnTo>
                    <a:pt x="54" y="56"/>
                  </a:lnTo>
                  <a:lnTo>
                    <a:pt x="52" y="58"/>
                  </a:lnTo>
                  <a:lnTo>
                    <a:pt x="45" y="61"/>
                  </a:lnTo>
                  <a:lnTo>
                    <a:pt x="39" y="63"/>
                  </a:lnTo>
                  <a:lnTo>
                    <a:pt x="34" y="65"/>
                  </a:lnTo>
                  <a:lnTo>
                    <a:pt x="30" y="65"/>
                  </a:lnTo>
                  <a:lnTo>
                    <a:pt x="25" y="63"/>
                  </a:lnTo>
                  <a:lnTo>
                    <a:pt x="19" y="61"/>
                  </a:lnTo>
                  <a:lnTo>
                    <a:pt x="14" y="58"/>
                  </a:lnTo>
                  <a:lnTo>
                    <a:pt x="8" y="56"/>
                  </a:lnTo>
                  <a:lnTo>
                    <a:pt x="0" y="52"/>
                  </a:lnTo>
                  <a:lnTo>
                    <a:pt x="3" y="48"/>
                  </a:lnTo>
                  <a:lnTo>
                    <a:pt x="8" y="40"/>
                  </a:lnTo>
                  <a:lnTo>
                    <a:pt x="14" y="32"/>
                  </a:lnTo>
                  <a:lnTo>
                    <a:pt x="22" y="22"/>
                  </a:lnTo>
                  <a:lnTo>
                    <a:pt x="30" y="13"/>
                  </a:lnTo>
                  <a:lnTo>
                    <a:pt x="36" y="6"/>
                  </a:lnTo>
                  <a:lnTo>
                    <a:pt x="41" y="1"/>
                  </a:lnTo>
                  <a:lnTo>
                    <a:pt x="44" y="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 name="Freeform 12"/>
            <p:cNvSpPr>
              <a:spLocks/>
            </p:cNvSpPr>
            <p:nvPr/>
          </p:nvSpPr>
          <p:spPr bwMode="auto">
            <a:xfrm>
              <a:off x="2201" y="3015"/>
              <a:ext cx="34" cy="24"/>
            </a:xfrm>
            <a:custGeom>
              <a:avLst/>
              <a:gdLst>
                <a:gd name="T0" fmla="*/ 34 w 34"/>
                <a:gd name="T1" fmla="*/ 3 h 24"/>
                <a:gd name="T2" fmla="*/ 29 w 34"/>
                <a:gd name="T3" fmla="*/ 7 h 24"/>
                <a:gd name="T4" fmla="*/ 23 w 34"/>
                <a:gd name="T5" fmla="*/ 12 h 24"/>
                <a:gd name="T6" fmla="*/ 20 w 34"/>
                <a:gd name="T7" fmla="*/ 18 h 24"/>
                <a:gd name="T8" fmla="*/ 16 w 34"/>
                <a:gd name="T9" fmla="*/ 24 h 24"/>
                <a:gd name="T10" fmla="*/ 12 w 34"/>
                <a:gd name="T11" fmla="*/ 17 h 24"/>
                <a:gd name="T12" fmla="*/ 8 w 34"/>
                <a:gd name="T13" fmla="*/ 12 h 24"/>
                <a:gd name="T14" fmla="*/ 4 w 34"/>
                <a:gd name="T15" fmla="*/ 5 h 24"/>
                <a:gd name="T16" fmla="*/ 0 w 34"/>
                <a:gd name="T17" fmla="*/ 0 h 24"/>
                <a:gd name="T18" fmla="*/ 8 w 34"/>
                <a:gd name="T19" fmla="*/ 3 h 24"/>
                <a:gd name="T20" fmla="*/ 17 w 34"/>
                <a:gd name="T21" fmla="*/ 3 h 24"/>
                <a:gd name="T22" fmla="*/ 25 w 34"/>
                <a:gd name="T23" fmla="*/ 4 h 24"/>
                <a:gd name="T24" fmla="*/ 34 w 34"/>
                <a:gd name="T25" fmla="*/ 3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24"/>
                <a:gd name="T41" fmla="*/ 34 w 34"/>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24">
                  <a:moveTo>
                    <a:pt x="34" y="3"/>
                  </a:moveTo>
                  <a:lnTo>
                    <a:pt x="29" y="7"/>
                  </a:lnTo>
                  <a:lnTo>
                    <a:pt x="23" y="12"/>
                  </a:lnTo>
                  <a:lnTo>
                    <a:pt x="20" y="18"/>
                  </a:lnTo>
                  <a:lnTo>
                    <a:pt x="16" y="24"/>
                  </a:lnTo>
                  <a:lnTo>
                    <a:pt x="12" y="17"/>
                  </a:lnTo>
                  <a:lnTo>
                    <a:pt x="8" y="12"/>
                  </a:lnTo>
                  <a:lnTo>
                    <a:pt x="4" y="5"/>
                  </a:lnTo>
                  <a:lnTo>
                    <a:pt x="0" y="0"/>
                  </a:lnTo>
                  <a:lnTo>
                    <a:pt x="8" y="3"/>
                  </a:lnTo>
                  <a:lnTo>
                    <a:pt x="17" y="3"/>
                  </a:lnTo>
                  <a:lnTo>
                    <a:pt x="25" y="4"/>
                  </a:lnTo>
                  <a:lnTo>
                    <a:pt x="34" y="3"/>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 name="Freeform 13"/>
            <p:cNvSpPr>
              <a:spLocks/>
            </p:cNvSpPr>
            <p:nvPr/>
          </p:nvSpPr>
          <p:spPr bwMode="auto">
            <a:xfrm>
              <a:off x="1392" y="2572"/>
              <a:ext cx="892" cy="726"/>
            </a:xfrm>
            <a:custGeom>
              <a:avLst/>
              <a:gdLst>
                <a:gd name="T0" fmla="*/ 199 w 892"/>
                <a:gd name="T1" fmla="*/ 233 h 726"/>
                <a:gd name="T2" fmla="*/ 232 w 892"/>
                <a:gd name="T3" fmla="*/ 192 h 726"/>
                <a:gd name="T4" fmla="*/ 265 w 892"/>
                <a:gd name="T5" fmla="*/ 150 h 726"/>
                <a:gd name="T6" fmla="*/ 303 w 892"/>
                <a:gd name="T7" fmla="*/ 95 h 726"/>
                <a:gd name="T8" fmla="*/ 338 w 892"/>
                <a:gd name="T9" fmla="*/ 44 h 726"/>
                <a:gd name="T10" fmla="*/ 379 w 892"/>
                <a:gd name="T11" fmla="*/ 7 h 726"/>
                <a:gd name="T12" fmla="*/ 403 w 892"/>
                <a:gd name="T13" fmla="*/ 0 h 726"/>
                <a:gd name="T14" fmla="*/ 482 w 892"/>
                <a:gd name="T15" fmla="*/ 29 h 726"/>
                <a:gd name="T16" fmla="*/ 555 w 892"/>
                <a:gd name="T17" fmla="*/ 55 h 726"/>
                <a:gd name="T18" fmla="*/ 624 w 892"/>
                <a:gd name="T19" fmla="*/ 82 h 726"/>
                <a:gd name="T20" fmla="*/ 673 w 892"/>
                <a:gd name="T21" fmla="*/ 99 h 726"/>
                <a:gd name="T22" fmla="*/ 721 w 892"/>
                <a:gd name="T23" fmla="*/ 112 h 726"/>
                <a:gd name="T24" fmla="*/ 770 w 892"/>
                <a:gd name="T25" fmla="*/ 122 h 726"/>
                <a:gd name="T26" fmla="*/ 819 w 892"/>
                <a:gd name="T27" fmla="*/ 132 h 726"/>
                <a:gd name="T28" fmla="*/ 873 w 892"/>
                <a:gd name="T29" fmla="*/ 145 h 726"/>
                <a:gd name="T30" fmla="*/ 892 w 892"/>
                <a:gd name="T31" fmla="*/ 179 h 726"/>
                <a:gd name="T32" fmla="*/ 874 w 892"/>
                <a:gd name="T33" fmla="*/ 207 h 726"/>
                <a:gd name="T34" fmla="*/ 860 w 892"/>
                <a:gd name="T35" fmla="*/ 228 h 726"/>
                <a:gd name="T36" fmla="*/ 843 w 892"/>
                <a:gd name="T37" fmla="*/ 250 h 726"/>
                <a:gd name="T38" fmla="*/ 799 w 892"/>
                <a:gd name="T39" fmla="*/ 310 h 726"/>
                <a:gd name="T40" fmla="*/ 755 w 892"/>
                <a:gd name="T41" fmla="*/ 367 h 726"/>
                <a:gd name="T42" fmla="*/ 729 w 892"/>
                <a:gd name="T43" fmla="*/ 372 h 726"/>
                <a:gd name="T44" fmla="*/ 687 w 892"/>
                <a:gd name="T45" fmla="*/ 359 h 726"/>
                <a:gd name="T46" fmla="*/ 645 w 892"/>
                <a:gd name="T47" fmla="*/ 356 h 726"/>
                <a:gd name="T48" fmla="*/ 610 w 892"/>
                <a:gd name="T49" fmla="*/ 363 h 726"/>
                <a:gd name="T50" fmla="*/ 586 w 892"/>
                <a:gd name="T51" fmla="*/ 384 h 726"/>
                <a:gd name="T52" fmla="*/ 577 w 892"/>
                <a:gd name="T53" fmla="*/ 411 h 726"/>
                <a:gd name="T54" fmla="*/ 598 w 892"/>
                <a:gd name="T55" fmla="*/ 451 h 726"/>
                <a:gd name="T56" fmla="*/ 646 w 892"/>
                <a:gd name="T57" fmla="*/ 469 h 726"/>
                <a:gd name="T58" fmla="*/ 674 w 892"/>
                <a:gd name="T59" fmla="*/ 487 h 726"/>
                <a:gd name="T60" fmla="*/ 619 w 892"/>
                <a:gd name="T61" fmla="*/ 573 h 726"/>
                <a:gd name="T62" fmla="*/ 533 w 892"/>
                <a:gd name="T63" fmla="*/ 687 h 726"/>
                <a:gd name="T64" fmla="*/ 492 w 892"/>
                <a:gd name="T65" fmla="*/ 723 h 726"/>
                <a:gd name="T66" fmla="*/ 466 w 892"/>
                <a:gd name="T67" fmla="*/ 726 h 726"/>
                <a:gd name="T68" fmla="*/ 443 w 892"/>
                <a:gd name="T69" fmla="*/ 723 h 726"/>
                <a:gd name="T70" fmla="*/ 370 w 892"/>
                <a:gd name="T71" fmla="*/ 702 h 726"/>
                <a:gd name="T72" fmla="*/ 304 w 892"/>
                <a:gd name="T73" fmla="*/ 678 h 726"/>
                <a:gd name="T74" fmla="*/ 268 w 892"/>
                <a:gd name="T75" fmla="*/ 663 h 726"/>
                <a:gd name="T76" fmla="*/ 216 w 892"/>
                <a:gd name="T77" fmla="*/ 645 h 726"/>
                <a:gd name="T78" fmla="*/ 163 w 892"/>
                <a:gd name="T79" fmla="*/ 626 h 726"/>
                <a:gd name="T80" fmla="*/ 111 w 892"/>
                <a:gd name="T81" fmla="*/ 608 h 726"/>
                <a:gd name="T82" fmla="*/ 58 w 892"/>
                <a:gd name="T83" fmla="*/ 588 h 726"/>
                <a:gd name="T84" fmla="*/ 7 w 892"/>
                <a:gd name="T85" fmla="*/ 568 h 726"/>
                <a:gd name="T86" fmla="*/ 1 w 892"/>
                <a:gd name="T87" fmla="*/ 560 h 726"/>
                <a:gd name="T88" fmla="*/ 44 w 892"/>
                <a:gd name="T89" fmla="*/ 483 h 726"/>
                <a:gd name="T90" fmla="*/ 115 w 892"/>
                <a:gd name="T91" fmla="*/ 376 h 726"/>
                <a:gd name="T92" fmla="*/ 181 w 892"/>
                <a:gd name="T93" fmla="*/ 263 h 72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92"/>
                <a:gd name="T142" fmla="*/ 0 h 726"/>
                <a:gd name="T143" fmla="*/ 892 w 892"/>
                <a:gd name="T144" fmla="*/ 726 h 72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92" h="726">
                  <a:moveTo>
                    <a:pt x="181" y="263"/>
                  </a:moveTo>
                  <a:lnTo>
                    <a:pt x="189" y="248"/>
                  </a:lnTo>
                  <a:lnTo>
                    <a:pt x="199" y="233"/>
                  </a:lnTo>
                  <a:lnTo>
                    <a:pt x="210" y="219"/>
                  </a:lnTo>
                  <a:lnTo>
                    <a:pt x="220" y="205"/>
                  </a:lnTo>
                  <a:lnTo>
                    <a:pt x="232" y="192"/>
                  </a:lnTo>
                  <a:lnTo>
                    <a:pt x="242" y="178"/>
                  </a:lnTo>
                  <a:lnTo>
                    <a:pt x="254" y="165"/>
                  </a:lnTo>
                  <a:lnTo>
                    <a:pt x="265" y="150"/>
                  </a:lnTo>
                  <a:lnTo>
                    <a:pt x="280" y="132"/>
                  </a:lnTo>
                  <a:lnTo>
                    <a:pt x="291" y="113"/>
                  </a:lnTo>
                  <a:lnTo>
                    <a:pt x="303" y="95"/>
                  </a:lnTo>
                  <a:lnTo>
                    <a:pt x="315" y="78"/>
                  </a:lnTo>
                  <a:lnTo>
                    <a:pt x="325" y="61"/>
                  </a:lnTo>
                  <a:lnTo>
                    <a:pt x="338" y="44"/>
                  </a:lnTo>
                  <a:lnTo>
                    <a:pt x="353" y="27"/>
                  </a:lnTo>
                  <a:lnTo>
                    <a:pt x="370" y="12"/>
                  </a:lnTo>
                  <a:lnTo>
                    <a:pt x="379" y="7"/>
                  </a:lnTo>
                  <a:lnTo>
                    <a:pt x="391" y="3"/>
                  </a:lnTo>
                  <a:lnTo>
                    <a:pt x="399" y="0"/>
                  </a:lnTo>
                  <a:lnTo>
                    <a:pt x="403" y="0"/>
                  </a:lnTo>
                  <a:lnTo>
                    <a:pt x="430" y="11"/>
                  </a:lnTo>
                  <a:lnTo>
                    <a:pt x="456" y="21"/>
                  </a:lnTo>
                  <a:lnTo>
                    <a:pt x="482" y="29"/>
                  </a:lnTo>
                  <a:lnTo>
                    <a:pt x="506" y="38"/>
                  </a:lnTo>
                  <a:lnTo>
                    <a:pt x="531" y="47"/>
                  </a:lnTo>
                  <a:lnTo>
                    <a:pt x="555" y="55"/>
                  </a:lnTo>
                  <a:lnTo>
                    <a:pt x="581" y="65"/>
                  </a:lnTo>
                  <a:lnTo>
                    <a:pt x="607" y="75"/>
                  </a:lnTo>
                  <a:lnTo>
                    <a:pt x="624" y="82"/>
                  </a:lnTo>
                  <a:lnTo>
                    <a:pt x="641" y="88"/>
                  </a:lnTo>
                  <a:lnTo>
                    <a:pt x="656" y="93"/>
                  </a:lnTo>
                  <a:lnTo>
                    <a:pt x="673" y="99"/>
                  </a:lnTo>
                  <a:lnTo>
                    <a:pt x="689" y="104"/>
                  </a:lnTo>
                  <a:lnTo>
                    <a:pt x="706" y="108"/>
                  </a:lnTo>
                  <a:lnTo>
                    <a:pt x="721" y="112"/>
                  </a:lnTo>
                  <a:lnTo>
                    <a:pt x="738" y="115"/>
                  </a:lnTo>
                  <a:lnTo>
                    <a:pt x="753" y="119"/>
                  </a:lnTo>
                  <a:lnTo>
                    <a:pt x="770" y="122"/>
                  </a:lnTo>
                  <a:lnTo>
                    <a:pt x="786" y="126"/>
                  </a:lnTo>
                  <a:lnTo>
                    <a:pt x="803" y="130"/>
                  </a:lnTo>
                  <a:lnTo>
                    <a:pt x="819" y="132"/>
                  </a:lnTo>
                  <a:lnTo>
                    <a:pt x="838" y="136"/>
                  </a:lnTo>
                  <a:lnTo>
                    <a:pt x="854" y="141"/>
                  </a:lnTo>
                  <a:lnTo>
                    <a:pt x="873" y="145"/>
                  </a:lnTo>
                  <a:lnTo>
                    <a:pt x="885" y="153"/>
                  </a:lnTo>
                  <a:lnTo>
                    <a:pt x="892" y="165"/>
                  </a:lnTo>
                  <a:lnTo>
                    <a:pt x="892" y="179"/>
                  </a:lnTo>
                  <a:lnTo>
                    <a:pt x="885" y="192"/>
                  </a:lnTo>
                  <a:lnTo>
                    <a:pt x="879" y="200"/>
                  </a:lnTo>
                  <a:lnTo>
                    <a:pt x="874" y="207"/>
                  </a:lnTo>
                  <a:lnTo>
                    <a:pt x="870" y="214"/>
                  </a:lnTo>
                  <a:lnTo>
                    <a:pt x="865" y="220"/>
                  </a:lnTo>
                  <a:lnTo>
                    <a:pt x="860" y="228"/>
                  </a:lnTo>
                  <a:lnTo>
                    <a:pt x="854" y="235"/>
                  </a:lnTo>
                  <a:lnTo>
                    <a:pt x="849" y="242"/>
                  </a:lnTo>
                  <a:lnTo>
                    <a:pt x="843" y="250"/>
                  </a:lnTo>
                  <a:lnTo>
                    <a:pt x="830" y="267"/>
                  </a:lnTo>
                  <a:lnTo>
                    <a:pt x="814" y="288"/>
                  </a:lnTo>
                  <a:lnTo>
                    <a:pt x="799" y="310"/>
                  </a:lnTo>
                  <a:lnTo>
                    <a:pt x="782" y="331"/>
                  </a:lnTo>
                  <a:lnTo>
                    <a:pt x="768" y="350"/>
                  </a:lnTo>
                  <a:lnTo>
                    <a:pt x="755" y="367"/>
                  </a:lnTo>
                  <a:lnTo>
                    <a:pt x="746" y="377"/>
                  </a:lnTo>
                  <a:lnTo>
                    <a:pt x="742" y="380"/>
                  </a:lnTo>
                  <a:lnTo>
                    <a:pt x="729" y="372"/>
                  </a:lnTo>
                  <a:lnTo>
                    <a:pt x="716" y="367"/>
                  </a:lnTo>
                  <a:lnTo>
                    <a:pt x="702" y="363"/>
                  </a:lnTo>
                  <a:lnTo>
                    <a:pt x="687" y="359"/>
                  </a:lnTo>
                  <a:lnTo>
                    <a:pt x="673" y="358"/>
                  </a:lnTo>
                  <a:lnTo>
                    <a:pt x="659" y="356"/>
                  </a:lnTo>
                  <a:lnTo>
                    <a:pt x="645" y="356"/>
                  </a:lnTo>
                  <a:lnTo>
                    <a:pt x="630" y="358"/>
                  </a:lnTo>
                  <a:lnTo>
                    <a:pt x="620" y="359"/>
                  </a:lnTo>
                  <a:lnTo>
                    <a:pt x="610" y="363"/>
                  </a:lnTo>
                  <a:lnTo>
                    <a:pt x="601" y="368"/>
                  </a:lnTo>
                  <a:lnTo>
                    <a:pt x="593" y="375"/>
                  </a:lnTo>
                  <a:lnTo>
                    <a:pt x="586" y="384"/>
                  </a:lnTo>
                  <a:lnTo>
                    <a:pt x="583" y="391"/>
                  </a:lnTo>
                  <a:lnTo>
                    <a:pt x="579" y="402"/>
                  </a:lnTo>
                  <a:lnTo>
                    <a:pt x="577" y="411"/>
                  </a:lnTo>
                  <a:lnTo>
                    <a:pt x="580" y="428"/>
                  </a:lnTo>
                  <a:lnTo>
                    <a:pt x="586" y="441"/>
                  </a:lnTo>
                  <a:lnTo>
                    <a:pt x="598" y="451"/>
                  </a:lnTo>
                  <a:lnTo>
                    <a:pt x="612" y="459"/>
                  </a:lnTo>
                  <a:lnTo>
                    <a:pt x="629" y="464"/>
                  </a:lnTo>
                  <a:lnTo>
                    <a:pt x="646" y="469"/>
                  </a:lnTo>
                  <a:lnTo>
                    <a:pt x="663" y="474"/>
                  </a:lnTo>
                  <a:lnTo>
                    <a:pt x="677" y="479"/>
                  </a:lnTo>
                  <a:lnTo>
                    <a:pt x="674" y="487"/>
                  </a:lnTo>
                  <a:lnTo>
                    <a:pt x="663" y="508"/>
                  </a:lnTo>
                  <a:lnTo>
                    <a:pt x="643" y="538"/>
                  </a:lnTo>
                  <a:lnTo>
                    <a:pt x="619" y="573"/>
                  </a:lnTo>
                  <a:lnTo>
                    <a:pt x="592" y="612"/>
                  </a:lnTo>
                  <a:lnTo>
                    <a:pt x="562" y="650"/>
                  </a:lnTo>
                  <a:lnTo>
                    <a:pt x="533" y="687"/>
                  </a:lnTo>
                  <a:lnTo>
                    <a:pt x="506" y="718"/>
                  </a:lnTo>
                  <a:lnTo>
                    <a:pt x="498" y="720"/>
                  </a:lnTo>
                  <a:lnTo>
                    <a:pt x="492" y="723"/>
                  </a:lnTo>
                  <a:lnTo>
                    <a:pt x="483" y="724"/>
                  </a:lnTo>
                  <a:lnTo>
                    <a:pt x="475" y="724"/>
                  </a:lnTo>
                  <a:lnTo>
                    <a:pt x="466" y="726"/>
                  </a:lnTo>
                  <a:lnTo>
                    <a:pt x="458" y="724"/>
                  </a:lnTo>
                  <a:lnTo>
                    <a:pt x="451" y="724"/>
                  </a:lnTo>
                  <a:lnTo>
                    <a:pt x="443" y="723"/>
                  </a:lnTo>
                  <a:lnTo>
                    <a:pt x="421" y="718"/>
                  </a:lnTo>
                  <a:lnTo>
                    <a:pt x="396" y="710"/>
                  </a:lnTo>
                  <a:lnTo>
                    <a:pt x="370" y="702"/>
                  </a:lnTo>
                  <a:lnTo>
                    <a:pt x="346" y="693"/>
                  </a:lnTo>
                  <a:lnTo>
                    <a:pt x="324" y="684"/>
                  </a:lnTo>
                  <a:lnTo>
                    <a:pt x="304" y="678"/>
                  </a:lnTo>
                  <a:lnTo>
                    <a:pt x="291" y="672"/>
                  </a:lnTo>
                  <a:lnTo>
                    <a:pt x="286" y="670"/>
                  </a:lnTo>
                  <a:lnTo>
                    <a:pt x="268" y="663"/>
                  </a:lnTo>
                  <a:lnTo>
                    <a:pt x="251" y="657"/>
                  </a:lnTo>
                  <a:lnTo>
                    <a:pt x="233" y="652"/>
                  </a:lnTo>
                  <a:lnTo>
                    <a:pt x="216" y="645"/>
                  </a:lnTo>
                  <a:lnTo>
                    <a:pt x="198" y="639"/>
                  </a:lnTo>
                  <a:lnTo>
                    <a:pt x="181" y="632"/>
                  </a:lnTo>
                  <a:lnTo>
                    <a:pt x="163" y="626"/>
                  </a:lnTo>
                  <a:lnTo>
                    <a:pt x="146" y="621"/>
                  </a:lnTo>
                  <a:lnTo>
                    <a:pt x="128" y="614"/>
                  </a:lnTo>
                  <a:lnTo>
                    <a:pt x="111" y="608"/>
                  </a:lnTo>
                  <a:lnTo>
                    <a:pt x="93" y="601"/>
                  </a:lnTo>
                  <a:lnTo>
                    <a:pt x="76" y="595"/>
                  </a:lnTo>
                  <a:lnTo>
                    <a:pt x="58" y="588"/>
                  </a:lnTo>
                  <a:lnTo>
                    <a:pt x="42" y="582"/>
                  </a:lnTo>
                  <a:lnTo>
                    <a:pt x="23" y="574"/>
                  </a:lnTo>
                  <a:lnTo>
                    <a:pt x="7" y="568"/>
                  </a:lnTo>
                  <a:lnTo>
                    <a:pt x="5" y="565"/>
                  </a:lnTo>
                  <a:lnTo>
                    <a:pt x="3" y="562"/>
                  </a:lnTo>
                  <a:lnTo>
                    <a:pt x="1" y="560"/>
                  </a:lnTo>
                  <a:lnTo>
                    <a:pt x="0" y="557"/>
                  </a:lnTo>
                  <a:lnTo>
                    <a:pt x="21" y="520"/>
                  </a:lnTo>
                  <a:lnTo>
                    <a:pt x="44" y="483"/>
                  </a:lnTo>
                  <a:lnTo>
                    <a:pt x="67" y="447"/>
                  </a:lnTo>
                  <a:lnTo>
                    <a:pt x="92" y="412"/>
                  </a:lnTo>
                  <a:lnTo>
                    <a:pt x="115" y="376"/>
                  </a:lnTo>
                  <a:lnTo>
                    <a:pt x="139" y="338"/>
                  </a:lnTo>
                  <a:lnTo>
                    <a:pt x="161" y="302"/>
                  </a:lnTo>
                  <a:lnTo>
                    <a:pt x="181" y="263"/>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 name="Freeform 14"/>
            <p:cNvSpPr>
              <a:spLocks/>
            </p:cNvSpPr>
            <p:nvPr/>
          </p:nvSpPr>
          <p:spPr bwMode="auto">
            <a:xfrm>
              <a:off x="1387" y="3070"/>
              <a:ext cx="762" cy="308"/>
            </a:xfrm>
            <a:custGeom>
              <a:avLst/>
              <a:gdLst>
                <a:gd name="T0" fmla="*/ 39 w 762"/>
                <a:gd name="T1" fmla="*/ 99 h 308"/>
                <a:gd name="T2" fmla="*/ 103 w 762"/>
                <a:gd name="T3" fmla="*/ 128 h 308"/>
                <a:gd name="T4" fmla="*/ 164 w 762"/>
                <a:gd name="T5" fmla="*/ 152 h 308"/>
                <a:gd name="T6" fmla="*/ 195 w 762"/>
                <a:gd name="T7" fmla="*/ 164 h 308"/>
                <a:gd name="T8" fmla="*/ 250 w 762"/>
                <a:gd name="T9" fmla="*/ 184 h 308"/>
                <a:gd name="T10" fmla="*/ 316 w 762"/>
                <a:gd name="T11" fmla="*/ 208 h 308"/>
                <a:gd name="T12" fmla="*/ 382 w 762"/>
                <a:gd name="T13" fmla="*/ 230 h 308"/>
                <a:gd name="T14" fmla="*/ 435 w 762"/>
                <a:gd name="T15" fmla="*/ 244 h 308"/>
                <a:gd name="T16" fmla="*/ 467 w 762"/>
                <a:gd name="T17" fmla="*/ 251 h 308"/>
                <a:gd name="T18" fmla="*/ 494 w 762"/>
                <a:gd name="T19" fmla="*/ 256 h 308"/>
                <a:gd name="T20" fmla="*/ 520 w 762"/>
                <a:gd name="T21" fmla="*/ 252 h 308"/>
                <a:gd name="T22" fmla="*/ 569 w 762"/>
                <a:gd name="T23" fmla="*/ 190 h 308"/>
                <a:gd name="T24" fmla="*/ 616 w 762"/>
                <a:gd name="T25" fmla="*/ 121 h 308"/>
                <a:gd name="T26" fmla="*/ 656 w 762"/>
                <a:gd name="T27" fmla="*/ 66 h 308"/>
                <a:gd name="T28" fmla="*/ 689 w 762"/>
                <a:gd name="T29" fmla="*/ 26 h 308"/>
                <a:gd name="T30" fmla="*/ 714 w 762"/>
                <a:gd name="T31" fmla="*/ 0 h 308"/>
                <a:gd name="T32" fmla="*/ 729 w 762"/>
                <a:gd name="T33" fmla="*/ 11 h 308"/>
                <a:gd name="T34" fmla="*/ 747 w 762"/>
                <a:gd name="T35" fmla="*/ 32 h 308"/>
                <a:gd name="T36" fmla="*/ 762 w 762"/>
                <a:gd name="T37" fmla="*/ 50 h 308"/>
                <a:gd name="T38" fmla="*/ 745 w 762"/>
                <a:gd name="T39" fmla="*/ 73 h 308"/>
                <a:gd name="T40" fmla="*/ 726 w 762"/>
                <a:gd name="T41" fmla="*/ 64 h 308"/>
                <a:gd name="T42" fmla="*/ 712 w 762"/>
                <a:gd name="T43" fmla="*/ 54 h 308"/>
                <a:gd name="T44" fmla="*/ 685 w 762"/>
                <a:gd name="T45" fmla="*/ 89 h 308"/>
                <a:gd name="T46" fmla="*/ 656 w 762"/>
                <a:gd name="T47" fmla="*/ 130 h 308"/>
                <a:gd name="T48" fmla="*/ 656 w 762"/>
                <a:gd name="T49" fmla="*/ 140 h 308"/>
                <a:gd name="T50" fmla="*/ 677 w 762"/>
                <a:gd name="T51" fmla="*/ 147 h 308"/>
                <a:gd name="T52" fmla="*/ 701 w 762"/>
                <a:gd name="T53" fmla="*/ 147 h 308"/>
                <a:gd name="T54" fmla="*/ 686 w 762"/>
                <a:gd name="T55" fmla="*/ 169 h 308"/>
                <a:gd name="T56" fmla="*/ 669 w 762"/>
                <a:gd name="T57" fmla="*/ 190 h 308"/>
                <a:gd name="T58" fmla="*/ 652 w 762"/>
                <a:gd name="T59" fmla="*/ 191 h 308"/>
                <a:gd name="T60" fmla="*/ 633 w 762"/>
                <a:gd name="T61" fmla="*/ 154 h 308"/>
                <a:gd name="T62" fmla="*/ 610 w 762"/>
                <a:gd name="T63" fmla="*/ 180 h 308"/>
                <a:gd name="T64" fmla="*/ 572 w 762"/>
                <a:gd name="T65" fmla="*/ 225 h 308"/>
                <a:gd name="T66" fmla="*/ 562 w 762"/>
                <a:gd name="T67" fmla="*/ 243 h 308"/>
                <a:gd name="T68" fmla="*/ 579 w 762"/>
                <a:gd name="T69" fmla="*/ 251 h 308"/>
                <a:gd name="T70" fmla="*/ 602 w 762"/>
                <a:gd name="T71" fmla="*/ 256 h 308"/>
                <a:gd name="T72" fmla="*/ 590 w 762"/>
                <a:gd name="T73" fmla="*/ 276 h 308"/>
                <a:gd name="T74" fmla="*/ 568 w 762"/>
                <a:gd name="T75" fmla="*/ 296 h 308"/>
                <a:gd name="T76" fmla="*/ 558 w 762"/>
                <a:gd name="T77" fmla="*/ 308 h 308"/>
                <a:gd name="T78" fmla="*/ 479 w 762"/>
                <a:gd name="T79" fmla="*/ 294 h 308"/>
                <a:gd name="T80" fmla="*/ 375 w 762"/>
                <a:gd name="T81" fmla="*/ 265 h 308"/>
                <a:gd name="T82" fmla="*/ 264 w 762"/>
                <a:gd name="T83" fmla="*/ 228 h 308"/>
                <a:gd name="T84" fmla="*/ 163 w 762"/>
                <a:gd name="T85" fmla="*/ 189 h 308"/>
                <a:gd name="T86" fmla="*/ 88 w 762"/>
                <a:gd name="T87" fmla="*/ 155 h 308"/>
                <a:gd name="T88" fmla="*/ 57 w 762"/>
                <a:gd name="T89" fmla="*/ 140 h 308"/>
                <a:gd name="T90" fmla="*/ 26 w 762"/>
                <a:gd name="T91" fmla="*/ 128 h 308"/>
                <a:gd name="T92" fmla="*/ 9 w 762"/>
                <a:gd name="T93" fmla="*/ 123 h 308"/>
                <a:gd name="T94" fmla="*/ 2 w 762"/>
                <a:gd name="T95" fmla="*/ 90 h 30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62"/>
                <a:gd name="T145" fmla="*/ 0 h 308"/>
                <a:gd name="T146" fmla="*/ 762 w 762"/>
                <a:gd name="T147" fmla="*/ 308 h 30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62" h="308">
                  <a:moveTo>
                    <a:pt x="0" y="84"/>
                  </a:moveTo>
                  <a:lnTo>
                    <a:pt x="18" y="92"/>
                  </a:lnTo>
                  <a:lnTo>
                    <a:pt x="39" y="99"/>
                  </a:lnTo>
                  <a:lnTo>
                    <a:pt x="61" y="108"/>
                  </a:lnTo>
                  <a:lnTo>
                    <a:pt x="83" y="118"/>
                  </a:lnTo>
                  <a:lnTo>
                    <a:pt x="103" y="128"/>
                  </a:lnTo>
                  <a:lnTo>
                    <a:pt x="125" y="136"/>
                  </a:lnTo>
                  <a:lnTo>
                    <a:pt x="146" y="145"/>
                  </a:lnTo>
                  <a:lnTo>
                    <a:pt x="164" y="152"/>
                  </a:lnTo>
                  <a:lnTo>
                    <a:pt x="171" y="155"/>
                  </a:lnTo>
                  <a:lnTo>
                    <a:pt x="181" y="159"/>
                  </a:lnTo>
                  <a:lnTo>
                    <a:pt x="195" y="164"/>
                  </a:lnTo>
                  <a:lnTo>
                    <a:pt x="211" y="169"/>
                  </a:lnTo>
                  <a:lnTo>
                    <a:pt x="229" y="177"/>
                  </a:lnTo>
                  <a:lnTo>
                    <a:pt x="250" y="184"/>
                  </a:lnTo>
                  <a:lnTo>
                    <a:pt x="272" y="191"/>
                  </a:lnTo>
                  <a:lnTo>
                    <a:pt x="294" y="199"/>
                  </a:lnTo>
                  <a:lnTo>
                    <a:pt x="316" y="208"/>
                  </a:lnTo>
                  <a:lnTo>
                    <a:pt x="339" y="216"/>
                  </a:lnTo>
                  <a:lnTo>
                    <a:pt x="361" y="222"/>
                  </a:lnTo>
                  <a:lnTo>
                    <a:pt x="382" y="230"/>
                  </a:lnTo>
                  <a:lnTo>
                    <a:pt x="401" y="235"/>
                  </a:lnTo>
                  <a:lnTo>
                    <a:pt x="419" y="241"/>
                  </a:lnTo>
                  <a:lnTo>
                    <a:pt x="435" y="244"/>
                  </a:lnTo>
                  <a:lnTo>
                    <a:pt x="448" y="247"/>
                  </a:lnTo>
                  <a:lnTo>
                    <a:pt x="457" y="248"/>
                  </a:lnTo>
                  <a:lnTo>
                    <a:pt x="467" y="251"/>
                  </a:lnTo>
                  <a:lnTo>
                    <a:pt x="476" y="252"/>
                  </a:lnTo>
                  <a:lnTo>
                    <a:pt x="485" y="255"/>
                  </a:lnTo>
                  <a:lnTo>
                    <a:pt x="494" y="256"/>
                  </a:lnTo>
                  <a:lnTo>
                    <a:pt x="503" y="256"/>
                  </a:lnTo>
                  <a:lnTo>
                    <a:pt x="512" y="255"/>
                  </a:lnTo>
                  <a:lnTo>
                    <a:pt x="520" y="252"/>
                  </a:lnTo>
                  <a:lnTo>
                    <a:pt x="537" y="233"/>
                  </a:lnTo>
                  <a:lnTo>
                    <a:pt x="554" y="212"/>
                  </a:lnTo>
                  <a:lnTo>
                    <a:pt x="569" y="190"/>
                  </a:lnTo>
                  <a:lnTo>
                    <a:pt x="585" y="167"/>
                  </a:lnTo>
                  <a:lnTo>
                    <a:pt x="601" y="143"/>
                  </a:lnTo>
                  <a:lnTo>
                    <a:pt x="616" y="121"/>
                  </a:lnTo>
                  <a:lnTo>
                    <a:pt x="632" y="98"/>
                  </a:lnTo>
                  <a:lnTo>
                    <a:pt x="647" y="77"/>
                  </a:lnTo>
                  <a:lnTo>
                    <a:pt x="656" y="66"/>
                  </a:lnTo>
                  <a:lnTo>
                    <a:pt x="667" y="53"/>
                  </a:lnTo>
                  <a:lnTo>
                    <a:pt x="678" y="38"/>
                  </a:lnTo>
                  <a:lnTo>
                    <a:pt x="689" y="26"/>
                  </a:lnTo>
                  <a:lnTo>
                    <a:pt x="699" y="14"/>
                  </a:lnTo>
                  <a:lnTo>
                    <a:pt x="708" y="5"/>
                  </a:lnTo>
                  <a:lnTo>
                    <a:pt x="714" y="0"/>
                  </a:lnTo>
                  <a:lnTo>
                    <a:pt x="718" y="0"/>
                  </a:lnTo>
                  <a:lnTo>
                    <a:pt x="723" y="5"/>
                  </a:lnTo>
                  <a:lnTo>
                    <a:pt x="729" y="11"/>
                  </a:lnTo>
                  <a:lnTo>
                    <a:pt x="735" y="18"/>
                  </a:lnTo>
                  <a:lnTo>
                    <a:pt x="740" y="24"/>
                  </a:lnTo>
                  <a:lnTo>
                    <a:pt x="747" y="32"/>
                  </a:lnTo>
                  <a:lnTo>
                    <a:pt x="752" y="38"/>
                  </a:lnTo>
                  <a:lnTo>
                    <a:pt x="757" y="45"/>
                  </a:lnTo>
                  <a:lnTo>
                    <a:pt x="762" y="50"/>
                  </a:lnTo>
                  <a:lnTo>
                    <a:pt x="756" y="58"/>
                  </a:lnTo>
                  <a:lnTo>
                    <a:pt x="751" y="66"/>
                  </a:lnTo>
                  <a:lnTo>
                    <a:pt x="745" y="73"/>
                  </a:lnTo>
                  <a:lnTo>
                    <a:pt x="740" y="83"/>
                  </a:lnTo>
                  <a:lnTo>
                    <a:pt x="734" y="75"/>
                  </a:lnTo>
                  <a:lnTo>
                    <a:pt x="726" y="64"/>
                  </a:lnTo>
                  <a:lnTo>
                    <a:pt x="718" y="55"/>
                  </a:lnTo>
                  <a:lnTo>
                    <a:pt x="714" y="51"/>
                  </a:lnTo>
                  <a:lnTo>
                    <a:pt x="712" y="54"/>
                  </a:lnTo>
                  <a:lnTo>
                    <a:pt x="705" y="63"/>
                  </a:lnTo>
                  <a:lnTo>
                    <a:pt x="695" y="75"/>
                  </a:lnTo>
                  <a:lnTo>
                    <a:pt x="685" y="89"/>
                  </a:lnTo>
                  <a:lnTo>
                    <a:pt x="673" y="105"/>
                  </a:lnTo>
                  <a:lnTo>
                    <a:pt x="663" y="119"/>
                  </a:lnTo>
                  <a:lnTo>
                    <a:pt x="656" y="130"/>
                  </a:lnTo>
                  <a:lnTo>
                    <a:pt x="652" y="137"/>
                  </a:lnTo>
                  <a:lnTo>
                    <a:pt x="652" y="138"/>
                  </a:lnTo>
                  <a:lnTo>
                    <a:pt x="656" y="140"/>
                  </a:lnTo>
                  <a:lnTo>
                    <a:pt x="661" y="142"/>
                  </a:lnTo>
                  <a:lnTo>
                    <a:pt x="669" y="145"/>
                  </a:lnTo>
                  <a:lnTo>
                    <a:pt x="677" y="147"/>
                  </a:lnTo>
                  <a:lnTo>
                    <a:pt x="686" y="149"/>
                  </a:lnTo>
                  <a:lnTo>
                    <a:pt x="694" y="149"/>
                  </a:lnTo>
                  <a:lnTo>
                    <a:pt x="701" y="147"/>
                  </a:lnTo>
                  <a:lnTo>
                    <a:pt x="696" y="155"/>
                  </a:lnTo>
                  <a:lnTo>
                    <a:pt x="691" y="162"/>
                  </a:lnTo>
                  <a:lnTo>
                    <a:pt x="686" y="169"/>
                  </a:lnTo>
                  <a:lnTo>
                    <a:pt x="681" y="176"/>
                  </a:lnTo>
                  <a:lnTo>
                    <a:pt x="674" y="182"/>
                  </a:lnTo>
                  <a:lnTo>
                    <a:pt x="669" y="190"/>
                  </a:lnTo>
                  <a:lnTo>
                    <a:pt x="663" y="197"/>
                  </a:lnTo>
                  <a:lnTo>
                    <a:pt x="657" y="203"/>
                  </a:lnTo>
                  <a:lnTo>
                    <a:pt x="652" y="191"/>
                  </a:lnTo>
                  <a:lnTo>
                    <a:pt x="645" y="174"/>
                  </a:lnTo>
                  <a:lnTo>
                    <a:pt x="637" y="160"/>
                  </a:lnTo>
                  <a:lnTo>
                    <a:pt x="633" y="154"/>
                  </a:lnTo>
                  <a:lnTo>
                    <a:pt x="629" y="158"/>
                  </a:lnTo>
                  <a:lnTo>
                    <a:pt x="621" y="167"/>
                  </a:lnTo>
                  <a:lnTo>
                    <a:pt x="610" y="180"/>
                  </a:lnTo>
                  <a:lnTo>
                    <a:pt x="597" y="195"/>
                  </a:lnTo>
                  <a:lnTo>
                    <a:pt x="584" y="211"/>
                  </a:lnTo>
                  <a:lnTo>
                    <a:pt x="572" y="225"/>
                  </a:lnTo>
                  <a:lnTo>
                    <a:pt x="564" y="235"/>
                  </a:lnTo>
                  <a:lnTo>
                    <a:pt x="560" y="241"/>
                  </a:lnTo>
                  <a:lnTo>
                    <a:pt x="562" y="243"/>
                  </a:lnTo>
                  <a:lnTo>
                    <a:pt x="564" y="246"/>
                  </a:lnTo>
                  <a:lnTo>
                    <a:pt x="571" y="248"/>
                  </a:lnTo>
                  <a:lnTo>
                    <a:pt x="579" y="251"/>
                  </a:lnTo>
                  <a:lnTo>
                    <a:pt x="586" y="254"/>
                  </a:lnTo>
                  <a:lnTo>
                    <a:pt x="594" y="255"/>
                  </a:lnTo>
                  <a:lnTo>
                    <a:pt x="602" y="256"/>
                  </a:lnTo>
                  <a:lnTo>
                    <a:pt x="607" y="256"/>
                  </a:lnTo>
                  <a:lnTo>
                    <a:pt x="598" y="266"/>
                  </a:lnTo>
                  <a:lnTo>
                    <a:pt x="590" y="276"/>
                  </a:lnTo>
                  <a:lnTo>
                    <a:pt x="582" y="283"/>
                  </a:lnTo>
                  <a:lnTo>
                    <a:pt x="575" y="290"/>
                  </a:lnTo>
                  <a:lnTo>
                    <a:pt x="568" y="296"/>
                  </a:lnTo>
                  <a:lnTo>
                    <a:pt x="563" y="301"/>
                  </a:lnTo>
                  <a:lnTo>
                    <a:pt x="559" y="305"/>
                  </a:lnTo>
                  <a:lnTo>
                    <a:pt x="558" y="308"/>
                  </a:lnTo>
                  <a:lnTo>
                    <a:pt x="536" y="305"/>
                  </a:lnTo>
                  <a:lnTo>
                    <a:pt x="509" y="301"/>
                  </a:lnTo>
                  <a:lnTo>
                    <a:pt x="479" y="294"/>
                  </a:lnTo>
                  <a:lnTo>
                    <a:pt x="446" y="286"/>
                  </a:lnTo>
                  <a:lnTo>
                    <a:pt x="412" y="276"/>
                  </a:lnTo>
                  <a:lnTo>
                    <a:pt x="375" y="265"/>
                  </a:lnTo>
                  <a:lnTo>
                    <a:pt x="338" y="254"/>
                  </a:lnTo>
                  <a:lnTo>
                    <a:pt x="302" y="241"/>
                  </a:lnTo>
                  <a:lnTo>
                    <a:pt x="264" y="228"/>
                  </a:lnTo>
                  <a:lnTo>
                    <a:pt x="228" y="215"/>
                  </a:lnTo>
                  <a:lnTo>
                    <a:pt x="194" y="202"/>
                  </a:lnTo>
                  <a:lnTo>
                    <a:pt x="163" y="189"/>
                  </a:lnTo>
                  <a:lnTo>
                    <a:pt x="133" y="176"/>
                  </a:lnTo>
                  <a:lnTo>
                    <a:pt x="109" y="165"/>
                  </a:lnTo>
                  <a:lnTo>
                    <a:pt x="88" y="155"/>
                  </a:lnTo>
                  <a:lnTo>
                    <a:pt x="71" y="146"/>
                  </a:lnTo>
                  <a:lnTo>
                    <a:pt x="65" y="143"/>
                  </a:lnTo>
                  <a:lnTo>
                    <a:pt x="57" y="140"/>
                  </a:lnTo>
                  <a:lnTo>
                    <a:pt x="47" y="136"/>
                  </a:lnTo>
                  <a:lnTo>
                    <a:pt x="36" y="132"/>
                  </a:lnTo>
                  <a:lnTo>
                    <a:pt x="26" y="128"/>
                  </a:lnTo>
                  <a:lnTo>
                    <a:pt x="17" y="125"/>
                  </a:lnTo>
                  <a:lnTo>
                    <a:pt x="12" y="124"/>
                  </a:lnTo>
                  <a:lnTo>
                    <a:pt x="9" y="123"/>
                  </a:lnTo>
                  <a:lnTo>
                    <a:pt x="8" y="115"/>
                  </a:lnTo>
                  <a:lnTo>
                    <a:pt x="5" y="103"/>
                  </a:lnTo>
                  <a:lnTo>
                    <a:pt x="2" y="90"/>
                  </a:lnTo>
                  <a:lnTo>
                    <a:pt x="0" y="84"/>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 name="Freeform 15"/>
            <p:cNvSpPr>
              <a:spLocks/>
            </p:cNvSpPr>
            <p:nvPr/>
          </p:nvSpPr>
          <p:spPr bwMode="auto">
            <a:xfrm>
              <a:off x="2050" y="3142"/>
              <a:ext cx="68" cy="64"/>
            </a:xfrm>
            <a:custGeom>
              <a:avLst/>
              <a:gdLst>
                <a:gd name="T0" fmla="*/ 68 w 68"/>
                <a:gd name="T1" fmla="*/ 30 h 64"/>
                <a:gd name="T2" fmla="*/ 68 w 68"/>
                <a:gd name="T3" fmla="*/ 30 h 64"/>
                <a:gd name="T4" fmla="*/ 64 w 68"/>
                <a:gd name="T5" fmla="*/ 39 h 64"/>
                <a:gd name="T6" fmla="*/ 58 w 68"/>
                <a:gd name="T7" fmla="*/ 46 h 64"/>
                <a:gd name="T8" fmla="*/ 51 w 68"/>
                <a:gd name="T9" fmla="*/ 51 h 64"/>
                <a:gd name="T10" fmla="*/ 44 w 68"/>
                <a:gd name="T11" fmla="*/ 56 h 64"/>
                <a:gd name="T12" fmla="*/ 36 w 68"/>
                <a:gd name="T13" fmla="*/ 58 h 64"/>
                <a:gd name="T14" fmla="*/ 27 w 68"/>
                <a:gd name="T15" fmla="*/ 61 h 64"/>
                <a:gd name="T16" fmla="*/ 18 w 68"/>
                <a:gd name="T17" fmla="*/ 62 h 64"/>
                <a:gd name="T18" fmla="*/ 9 w 68"/>
                <a:gd name="T19" fmla="*/ 64 h 64"/>
                <a:gd name="T20" fmla="*/ 0 w 68"/>
                <a:gd name="T21" fmla="*/ 64 h 64"/>
                <a:gd name="T22" fmla="*/ 1 w 68"/>
                <a:gd name="T23" fmla="*/ 61 h 64"/>
                <a:gd name="T24" fmla="*/ 4 w 68"/>
                <a:gd name="T25" fmla="*/ 60 h 64"/>
                <a:gd name="T26" fmla="*/ 5 w 68"/>
                <a:gd name="T27" fmla="*/ 57 h 64"/>
                <a:gd name="T28" fmla="*/ 6 w 68"/>
                <a:gd name="T29" fmla="*/ 56 h 64"/>
                <a:gd name="T30" fmla="*/ 7 w 68"/>
                <a:gd name="T31" fmla="*/ 56 h 64"/>
                <a:gd name="T32" fmla="*/ 7 w 68"/>
                <a:gd name="T33" fmla="*/ 56 h 64"/>
                <a:gd name="T34" fmla="*/ 7 w 68"/>
                <a:gd name="T35" fmla="*/ 56 h 64"/>
                <a:gd name="T36" fmla="*/ 9 w 68"/>
                <a:gd name="T37" fmla="*/ 55 h 64"/>
                <a:gd name="T38" fmla="*/ 14 w 68"/>
                <a:gd name="T39" fmla="*/ 48 h 64"/>
                <a:gd name="T40" fmla="*/ 20 w 68"/>
                <a:gd name="T41" fmla="*/ 43 h 64"/>
                <a:gd name="T42" fmla="*/ 26 w 68"/>
                <a:gd name="T43" fmla="*/ 36 h 64"/>
                <a:gd name="T44" fmla="*/ 32 w 68"/>
                <a:gd name="T45" fmla="*/ 29 h 64"/>
                <a:gd name="T46" fmla="*/ 37 w 68"/>
                <a:gd name="T47" fmla="*/ 22 h 64"/>
                <a:gd name="T48" fmla="*/ 42 w 68"/>
                <a:gd name="T49" fmla="*/ 16 h 64"/>
                <a:gd name="T50" fmla="*/ 46 w 68"/>
                <a:gd name="T51" fmla="*/ 8 h 64"/>
                <a:gd name="T52" fmla="*/ 51 w 68"/>
                <a:gd name="T53" fmla="*/ 0 h 64"/>
                <a:gd name="T54" fmla="*/ 57 w 68"/>
                <a:gd name="T55" fmla="*/ 7 h 64"/>
                <a:gd name="T56" fmla="*/ 60 w 68"/>
                <a:gd name="T57" fmla="*/ 12 h 64"/>
                <a:gd name="T58" fmla="*/ 64 w 68"/>
                <a:gd name="T59" fmla="*/ 18 h 64"/>
                <a:gd name="T60" fmla="*/ 67 w 68"/>
                <a:gd name="T61" fmla="*/ 25 h 64"/>
                <a:gd name="T62" fmla="*/ 68 w 68"/>
                <a:gd name="T63" fmla="*/ 25 h 64"/>
                <a:gd name="T64" fmla="*/ 67 w 68"/>
                <a:gd name="T65" fmla="*/ 26 h 64"/>
                <a:gd name="T66" fmla="*/ 67 w 68"/>
                <a:gd name="T67" fmla="*/ 27 h 64"/>
                <a:gd name="T68" fmla="*/ 67 w 68"/>
                <a:gd name="T69" fmla="*/ 29 h 64"/>
                <a:gd name="T70" fmla="*/ 68 w 68"/>
                <a:gd name="T71" fmla="*/ 30 h 6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
                <a:gd name="T109" fmla="*/ 0 h 64"/>
                <a:gd name="T110" fmla="*/ 68 w 68"/>
                <a:gd name="T111" fmla="*/ 64 h 6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 h="64">
                  <a:moveTo>
                    <a:pt x="68" y="30"/>
                  </a:moveTo>
                  <a:lnTo>
                    <a:pt x="68" y="30"/>
                  </a:lnTo>
                  <a:lnTo>
                    <a:pt x="64" y="39"/>
                  </a:lnTo>
                  <a:lnTo>
                    <a:pt x="58" y="46"/>
                  </a:lnTo>
                  <a:lnTo>
                    <a:pt x="51" y="51"/>
                  </a:lnTo>
                  <a:lnTo>
                    <a:pt x="44" y="56"/>
                  </a:lnTo>
                  <a:lnTo>
                    <a:pt x="36" y="58"/>
                  </a:lnTo>
                  <a:lnTo>
                    <a:pt x="27" y="61"/>
                  </a:lnTo>
                  <a:lnTo>
                    <a:pt x="18" y="62"/>
                  </a:lnTo>
                  <a:lnTo>
                    <a:pt x="9" y="64"/>
                  </a:lnTo>
                  <a:lnTo>
                    <a:pt x="0" y="64"/>
                  </a:lnTo>
                  <a:lnTo>
                    <a:pt x="1" y="61"/>
                  </a:lnTo>
                  <a:lnTo>
                    <a:pt x="4" y="60"/>
                  </a:lnTo>
                  <a:lnTo>
                    <a:pt x="5" y="57"/>
                  </a:lnTo>
                  <a:lnTo>
                    <a:pt x="6" y="56"/>
                  </a:lnTo>
                  <a:lnTo>
                    <a:pt x="7" y="56"/>
                  </a:lnTo>
                  <a:lnTo>
                    <a:pt x="9" y="55"/>
                  </a:lnTo>
                  <a:lnTo>
                    <a:pt x="14" y="48"/>
                  </a:lnTo>
                  <a:lnTo>
                    <a:pt x="20" y="43"/>
                  </a:lnTo>
                  <a:lnTo>
                    <a:pt x="26" y="36"/>
                  </a:lnTo>
                  <a:lnTo>
                    <a:pt x="32" y="29"/>
                  </a:lnTo>
                  <a:lnTo>
                    <a:pt x="37" y="22"/>
                  </a:lnTo>
                  <a:lnTo>
                    <a:pt x="42" y="16"/>
                  </a:lnTo>
                  <a:lnTo>
                    <a:pt x="46" y="8"/>
                  </a:lnTo>
                  <a:lnTo>
                    <a:pt x="51" y="0"/>
                  </a:lnTo>
                  <a:lnTo>
                    <a:pt x="57" y="7"/>
                  </a:lnTo>
                  <a:lnTo>
                    <a:pt x="60" y="12"/>
                  </a:lnTo>
                  <a:lnTo>
                    <a:pt x="64" y="18"/>
                  </a:lnTo>
                  <a:lnTo>
                    <a:pt x="67" y="25"/>
                  </a:lnTo>
                  <a:lnTo>
                    <a:pt x="68" y="25"/>
                  </a:lnTo>
                  <a:lnTo>
                    <a:pt x="67" y="26"/>
                  </a:lnTo>
                  <a:lnTo>
                    <a:pt x="67" y="27"/>
                  </a:lnTo>
                  <a:lnTo>
                    <a:pt x="67" y="29"/>
                  </a:lnTo>
                  <a:lnTo>
                    <a:pt x="68" y="3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 name="Freeform 16"/>
            <p:cNvSpPr>
              <a:spLocks/>
            </p:cNvSpPr>
            <p:nvPr/>
          </p:nvSpPr>
          <p:spPr bwMode="auto">
            <a:xfrm>
              <a:off x="1973" y="3255"/>
              <a:ext cx="52" cy="49"/>
            </a:xfrm>
            <a:custGeom>
              <a:avLst/>
              <a:gdLst>
                <a:gd name="T0" fmla="*/ 51 w 52"/>
                <a:gd name="T1" fmla="*/ 32 h 49"/>
                <a:gd name="T2" fmla="*/ 47 w 52"/>
                <a:gd name="T3" fmla="*/ 40 h 49"/>
                <a:gd name="T4" fmla="*/ 42 w 52"/>
                <a:gd name="T5" fmla="*/ 45 h 49"/>
                <a:gd name="T6" fmla="*/ 37 w 52"/>
                <a:gd name="T7" fmla="*/ 48 h 49"/>
                <a:gd name="T8" fmla="*/ 30 w 52"/>
                <a:gd name="T9" fmla="*/ 49 h 49"/>
                <a:gd name="T10" fmla="*/ 22 w 52"/>
                <a:gd name="T11" fmla="*/ 49 h 49"/>
                <a:gd name="T12" fmla="*/ 16 w 52"/>
                <a:gd name="T13" fmla="*/ 48 h 49"/>
                <a:gd name="T14" fmla="*/ 8 w 52"/>
                <a:gd name="T15" fmla="*/ 45 h 49"/>
                <a:gd name="T16" fmla="*/ 0 w 52"/>
                <a:gd name="T17" fmla="*/ 43 h 49"/>
                <a:gd name="T18" fmla="*/ 2 w 52"/>
                <a:gd name="T19" fmla="*/ 41 h 49"/>
                <a:gd name="T20" fmla="*/ 5 w 52"/>
                <a:gd name="T21" fmla="*/ 39 h 49"/>
                <a:gd name="T22" fmla="*/ 11 w 52"/>
                <a:gd name="T23" fmla="*/ 34 h 49"/>
                <a:gd name="T24" fmla="*/ 17 w 52"/>
                <a:gd name="T25" fmla="*/ 27 h 49"/>
                <a:gd name="T26" fmla="*/ 24 w 52"/>
                <a:gd name="T27" fmla="*/ 21 h 49"/>
                <a:gd name="T28" fmla="*/ 30 w 52"/>
                <a:gd name="T29" fmla="*/ 14 h 49"/>
                <a:gd name="T30" fmla="*/ 37 w 52"/>
                <a:gd name="T31" fmla="*/ 6 h 49"/>
                <a:gd name="T32" fmla="*/ 42 w 52"/>
                <a:gd name="T33" fmla="*/ 0 h 49"/>
                <a:gd name="T34" fmla="*/ 46 w 52"/>
                <a:gd name="T35" fmla="*/ 9 h 49"/>
                <a:gd name="T36" fmla="*/ 49 w 52"/>
                <a:gd name="T37" fmla="*/ 17 h 49"/>
                <a:gd name="T38" fmla="*/ 52 w 52"/>
                <a:gd name="T39" fmla="*/ 24 h 49"/>
                <a:gd name="T40" fmla="*/ 51 w 52"/>
                <a:gd name="T41" fmla="*/ 32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2"/>
                <a:gd name="T64" fmla="*/ 0 h 49"/>
                <a:gd name="T65" fmla="*/ 52 w 52"/>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2" h="49">
                  <a:moveTo>
                    <a:pt x="51" y="32"/>
                  </a:moveTo>
                  <a:lnTo>
                    <a:pt x="47" y="40"/>
                  </a:lnTo>
                  <a:lnTo>
                    <a:pt x="42" y="45"/>
                  </a:lnTo>
                  <a:lnTo>
                    <a:pt x="37" y="48"/>
                  </a:lnTo>
                  <a:lnTo>
                    <a:pt x="30" y="49"/>
                  </a:lnTo>
                  <a:lnTo>
                    <a:pt x="22" y="49"/>
                  </a:lnTo>
                  <a:lnTo>
                    <a:pt x="16" y="48"/>
                  </a:lnTo>
                  <a:lnTo>
                    <a:pt x="8" y="45"/>
                  </a:lnTo>
                  <a:lnTo>
                    <a:pt x="0" y="43"/>
                  </a:lnTo>
                  <a:lnTo>
                    <a:pt x="2" y="41"/>
                  </a:lnTo>
                  <a:lnTo>
                    <a:pt x="5" y="39"/>
                  </a:lnTo>
                  <a:lnTo>
                    <a:pt x="11" y="34"/>
                  </a:lnTo>
                  <a:lnTo>
                    <a:pt x="17" y="27"/>
                  </a:lnTo>
                  <a:lnTo>
                    <a:pt x="24" y="21"/>
                  </a:lnTo>
                  <a:lnTo>
                    <a:pt x="30" y="14"/>
                  </a:lnTo>
                  <a:lnTo>
                    <a:pt x="37" y="6"/>
                  </a:lnTo>
                  <a:lnTo>
                    <a:pt x="42" y="0"/>
                  </a:lnTo>
                  <a:lnTo>
                    <a:pt x="46" y="9"/>
                  </a:lnTo>
                  <a:lnTo>
                    <a:pt x="49" y="17"/>
                  </a:lnTo>
                  <a:lnTo>
                    <a:pt x="52" y="24"/>
                  </a:lnTo>
                  <a:lnTo>
                    <a:pt x="51" y="3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 name="Freeform 17"/>
            <p:cNvSpPr>
              <a:spLocks/>
            </p:cNvSpPr>
            <p:nvPr/>
          </p:nvSpPr>
          <p:spPr bwMode="auto">
            <a:xfrm>
              <a:off x="1400" y="3136"/>
              <a:ext cx="775" cy="285"/>
            </a:xfrm>
            <a:custGeom>
              <a:avLst/>
              <a:gdLst>
                <a:gd name="T0" fmla="*/ 652 w 775"/>
                <a:gd name="T1" fmla="*/ 190 h 285"/>
                <a:gd name="T2" fmla="*/ 630 w 775"/>
                <a:gd name="T3" fmla="*/ 221 h 285"/>
                <a:gd name="T4" fmla="*/ 606 w 775"/>
                <a:gd name="T5" fmla="*/ 251 h 285"/>
                <a:gd name="T6" fmla="*/ 577 w 775"/>
                <a:gd name="T7" fmla="*/ 273 h 285"/>
                <a:gd name="T8" fmla="*/ 542 w 775"/>
                <a:gd name="T9" fmla="*/ 283 h 285"/>
                <a:gd name="T10" fmla="*/ 503 w 775"/>
                <a:gd name="T11" fmla="*/ 285 h 285"/>
                <a:gd name="T12" fmla="*/ 466 w 775"/>
                <a:gd name="T13" fmla="*/ 278 h 285"/>
                <a:gd name="T14" fmla="*/ 428 w 775"/>
                <a:gd name="T15" fmla="*/ 267 h 285"/>
                <a:gd name="T16" fmla="*/ 386 w 775"/>
                <a:gd name="T17" fmla="*/ 251 h 285"/>
                <a:gd name="T18" fmla="*/ 335 w 775"/>
                <a:gd name="T19" fmla="*/ 232 h 285"/>
                <a:gd name="T20" fmla="*/ 286 w 775"/>
                <a:gd name="T21" fmla="*/ 212 h 285"/>
                <a:gd name="T22" fmla="*/ 234 w 775"/>
                <a:gd name="T23" fmla="*/ 193 h 285"/>
                <a:gd name="T24" fmla="*/ 184 w 775"/>
                <a:gd name="T25" fmla="*/ 172 h 285"/>
                <a:gd name="T26" fmla="*/ 133 w 775"/>
                <a:gd name="T27" fmla="*/ 153 h 285"/>
                <a:gd name="T28" fmla="*/ 84 w 775"/>
                <a:gd name="T29" fmla="*/ 132 h 285"/>
                <a:gd name="T30" fmla="*/ 35 w 775"/>
                <a:gd name="T31" fmla="*/ 111 h 285"/>
                <a:gd name="T32" fmla="*/ 9 w 775"/>
                <a:gd name="T33" fmla="*/ 98 h 285"/>
                <a:gd name="T34" fmla="*/ 1 w 775"/>
                <a:gd name="T35" fmla="*/ 84 h 285"/>
                <a:gd name="T36" fmla="*/ 9 w 775"/>
                <a:gd name="T37" fmla="*/ 83 h 285"/>
                <a:gd name="T38" fmla="*/ 31 w 775"/>
                <a:gd name="T39" fmla="*/ 92 h 285"/>
                <a:gd name="T40" fmla="*/ 54 w 775"/>
                <a:gd name="T41" fmla="*/ 101 h 285"/>
                <a:gd name="T42" fmla="*/ 76 w 775"/>
                <a:gd name="T43" fmla="*/ 110 h 285"/>
                <a:gd name="T44" fmla="*/ 111 w 775"/>
                <a:gd name="T45" fmla="*/ 127 h 285"/>
                <a:gd name="T46" fmla="*/ 158 w 775"/>
                <a:gd name="T47" fmla="*/ 146 h 285"/>
                <a:gd name="T48" fmla="*/ 198 w 775"/>
                <a:gd name="T49" fmla="*/ 160 h 285"/>
                <a:gd name="T50" fmla="*/ 232 w 775"/>
                <a:gd name="T51" fmla="*/ 172 h 285"/>
                <a:gd name="T52" fmla="*/ 264 w 775"/>
                <a:gd name="T53" fmla="*/ 184 h 285"/>
                <a:gd name="T54" fmla="*/ 296 w 775"/>
                <a:gd name="T55" fmla="*/ 195 h 285"/>
                <a:gd name="T56" fmla="*/ 329 w 775"/>
                <a:gd name="T57" fmla="*/ 207 h 285"/>
                <a:gd name="T58" fmla="*/ 361 w 775"/>
                <a:gd name="T59" fmla="*/ 219 h 285"/>
                <a:gd name="T60" fmla="*/ 393 w 775"/>
                <a:gd name="T61" fmla="*/ 230 h 285"/>
                <a:gd name="T62" fmla="*/ 426 w 775"/>
                <a:gd name="T63" fmla="*/ 241 h 285"/>
                <a:gd name="T64" fmla="*/ 458 w 775"/>
                <a:gd name="T65" fmla="*/ 251 h 285"/>
                <a:gd name="T66" fmla="*/ 492 w 775"/>
                <a:gd name="T67" fmla="*/ 260 h 285"/>
                <a:gd name="T68" fmla="*/ 514 w 775"/>
                <a:gd name="T69" fmla="*/ 265 h 285"/>
                <a:gd name="T70" fmla="*/ 531 w 775"/>
                <a:gd name="T71" fmla="*/ 267 h 285"/>
                <a:gd name="T72" fmla="*/ 549 w 775"/>
                <a:gd name="T73" fmla="*/ 264 h 285"/>
                <a:gd name="T74" fmla="*/ 573 w 775"/>
                <a:gd name="T75" fmla="*/ 247 h 285"/>
                <a:gd name="T76" fmla="*/ 597 w 775"/>
                <a:gd name="T77" fmla="*/ 220 h 285"/>
                <a:gd name="T78" fmla="*/ 616 w 775"/>
                <a:gd name="T79" fmla="*/ 194 h 285"/>
                <a:gd name="T80" fmla="*/ 629 w 775"/>
                <a:gd name="T81" fmla="*/ 176 h 285"/>
                <a:gd name="T82" fmla="*/ 638 w 775"/>
                <a:gd name="T83" fmla="*/ 167 h 285"/>
                <a:gd name="T84" fmla="*/ 643 w 775"/>
                <a:gd name="T85" fmla="*/ 162 h 285"/>
                <a:gd name="T86" fmla="*/ 659 w 775"/>
                <a:gd name="T87" fmla="*/ 145 h 285"/>
                <a:gd name="T88" fmla="*/ 676 w 775"/>
                <a:gd name="T89" fmla="*/ 125 h 285"/>
                <a:gd name="T90" fmla="*/ 692 w 775"/>
                <a:gd name="T91" fmla="*/ 101 h 285"/>
                <a:gd name="T92" fmla="*/ 707 w 775"/>
                <a:gd name="T93" fmla="*/ 79 h 285"/>
                <a:gd name="T94" fmla="*/ 720 w 775"/>
                <a:gd name="T95" fmla="*/ 66 h 285"/>
                <a:gd name="T96" fmla="*/ 726 w 775"/>
                <a:gd name="T97" fmla="*/ 58 h 285"/>
                <a:gd name="T98" fmla="*/ 734 w 775"/>
                <a:gd name="T99" fmla="*/ 44 h 285"/>
                <a:gd name="T100" fmla="*/ 738 w 775"/>
                <a:gd name="T101" fmla="*/ 36 h 285"/>
                <a:gd name="T102" fmla="*/ 752 w 775"/>
                <a:gd name="T103" fmla="*/ 11 h 285"/>
                <a:gd name="T104" fmla="*/ 762 w 775"/>
                <a:gd name="T105" fmla="*/ 5 h 285"/>
                <a:gd name="T106" fmla="*/ 773 w 775"/>
                <a:gd name="T107" fmla="*/ 17 h 285"/>
                <a:gd name="T108" fmla="*/ 762 w 775"/>
                <a:gd name="T109" fmla="*/ 40 h 285"/>
                <a:gd name="T110" fmla="*/ 735 w 775"/>
                <a:gd name="T111" fmla="*/ 79 h 285"/>
                <a:gd name="T112" fmla="*/ 707 w 775"/>
                <a:gd name="T113" fmla="*/ 118 h 285"/>
                <a:gd name="T114" fmla="*/ 678 w 775"/>
                <a:gd name="T115" fmla="*/ 156 h 28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775"/>
                <a:gd name="T175" fmla="*/ 0 h 285"/>
                <a:gd name="T176" fmla="*/ 775 w 775"/>
                <a:gd name="T177" fmla="*/ 285 h 28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775" h="285">
                  <a:moveTo>
                    <a:pt x="663" y="176"/>
                  </a:moveTo>
                  <a:lnTo>
                    <a:pt x="652" y="190"/>
                  </a:lnTo>
                  <a:lnTo>
                    <a:pt x="641" y="206"/>
                  </a:lnTo>
                  <a:lnTo>
                    <a:pt x="630" y="221"/>
                  </a:lnTo>
                  <a:lnTo>
                    <a:pt x="619" y="237"/>
                  </a:lnTo>
                  <a:lnTo>
                    <a:pt x="606" y="251"/>
                  </a:lnTo>
                  <a:lnTo>
                    <a:pt x="591" y="264"/>
                  </a:lnTo>
                  <a:lnTo>
                    <a:pt x="577" y="273"/>
                  </a:lnTo>
                  <a:lnTo>
                    <a:pt x="560" y="279"/>
                  </a:lnTo>
                  <a:lnTo>
                    <a:pt x="542" y="283"/>
                  </a:lnTo>
                  <a:lnTo>
                    <a:pt x="523" y="285"/>
                  </a:lnTo>
                  <a:lnTo>
                    <a:pt x="503" y="285"/>
                  </a:lnTo>
                  <a:lnTo>
                    <a:pt x="484" y="282"/>
                  </a:lnTo>
                  <a:lnTo>
                    <a:pt x="466" y="278"/>
                  </a:lnTo>
                  <a:lnTo>
                    <a:pt x="446" y="273"/>
                  </a:lnTo>
                  <a:lnTo>
                    <a:pt x="428" y="267"/>
                  </a:lnTo>
                  <a:lnTo>
                    <a:pt x="410" y="260"/>
                  </a:lnTo>
                  <a:lnTo>
                    <a:pt x="386" y="251"/>
                  </a:lnTo>
                  <a:lnTo>
                    <a:pt x="361" y="241"/>
                  </a:lnTo>
                  <a:lnTo>
                    <a:pt x="335" y="232"/>
                  </a:lnTo>
                  <a:lnTo>
                    <a:pt x="311" y="221"/>
                  </a:lnTo>
                  <a:lnTo>
                    <a:pt x="286" y="212"/>
                  </a:lnTo>
                  <a:lnTo>
                    <a:pt x="260" y="202"/>
                  </a:lnTo>
                  <a:lnTo>
                    <a:pt x="234" y="193"/>
                  </a:lnTo>
                  <a:lnTo>
                    <a:pt x="210" y="182"/>
                  </a:lnTo>
                  <a:lnTo>
                    <a:pt x="184" y="172"/>
                  </a:lnTo>
                  <a:lnTo>
                    <a:pt x="159" y="163"/>
                  </a:lnTo>
                  <a:lnTo>
                    <a:pt x="133" y="153"/>
                  </a:lnTo>
                  <a:lnTo>
                    <a:pt x="109" y="142"/>
                  </a:lnTo>
                  <a:lnTo>
                    <a:pt x="84" y="132"/>
                  </a:lnTo>
                  <a:lnTo>
                    <a:pt x="59" y="121"/>
                  </a:lnTo>
                  <a:lnTo>
                    <a:pt x="35" y="111"/>
                  </a:lnTo>
                  <a:lnTo>
                    <a:pt x="10" y="101"/>
                  </a:lnTo>
                  <a:lnTo>
                    <a:pt x="9" y="98"/>
                  </a:lnTo>
                  <a:lnTo>
                    <a:pt x="5" y="92"/>
                  </a:lnTo>
                  <a:lnTo>
                    <a:pt x="1" y="84"/>
                  </a:lnTo>
                  <a:lnTo>
                    <a:pt x="0" y="79"/>
                  </a:lnTo>
                  <a:lnTo>
                    <a:pt x="9" y="83"/>
                  </a:lnTo>
                  <a:lnTo>
                    <a:pt x="19" y="86"/>
                  </a:lnTo>
                  <a:lnTo>
                    <a:pt x="31" y="92"/>
                  </a:lnTo>
                  <a:lnTo>
                    <a:pt x="43" y="96"/>
                  </a:lnTo>
                  <a:lnTo>
                    <a:pt x="54" y="101"/>
                  </a:lnTo>
                  <a:lnTo>
                    <a:pt x="66" y="105"/>
                  </a:lnTo>
                  <a:lnTo>
                    <a:pt x="76" y="110"/>
                  </a:lnTo>
                  <a:lnTo>
                    <a:pt x="85" y="114"/>
                  </a:lnTo>
                  <a:lnTo>
                    <a:pt x="111" y="127"/>
                  </a:lnTo>
                  <a:lnTo>
                    <a:pt x="136" y="137"/>
                  </a:lnTo>
                  <a:lnTo>
                    <a:pt x="158" y="146"/>
                  </a:lnTo>
                  <a:lnTo>
                    <a:pt x="178" y="154"/>
                  </a:lnTo>
                  <a:lnTo>
                    <a:pt x="198" y="160"/>
                  </a:lnTo>
                  <a:lnTo>
                    <a:pt x="215" y="167"/>
                  </a:lnTo>
                  <a:lnTo>
                    <a:pt x="232" y="172"/>
                  </a:lnTo>
                  <a:lnTo>
                    <a:pt x="247" y="177"/>
                  </a:lnTo>
                  <a:lnTo>
                    <a:pt x="264" y="184"/>
                  </a:lnTo>
                  <a:lnTo>
                    <a:pt x="281" y="189"/>
                  </a:lnTo>
                  <a:lnTo>
                    <a:pt x="296" y="195"/>
                  </a:lnTo>
                  <a:lnTo>
                    <a:pt x="313" y="200"/>
                  </a:lnTo>
                  <a:lnTo>
                    <a:pt x="329" y="207"/>
                  </a:lnTo>
                  <a:lnTo>
                    <a:pt x="345" y="213"/>
                  </a:lnTo>
                  <a:lnTo>
                    <a:pt x="361" y="219"/>
                  </a:lnTo>
                  <a:lnTo>
                    <a:pt x="378" y="224"/>
                  </a:lnTo>
                  <a:lnTo>
                    <a:pt x="393" y="230"/>
                  </a:lnTo>
                  <a:lnTo>
                    <a:pt x="410" y="235"/>
                  </a:lnTo>
                  <a:lnTo>
                    <a:pt x="426" y="241"/>
                  </a:lnTo>
                  <a:lnTo>
                    <a:pt x="443" y="246"/>
                  </a:lnTo>
                  <a:lnTo>
                    <a:pt x="458" y="251"/>
                  </a:lnTo>
                  <a:lnTo>
                    <a:pt x="475" y="256"/>
                  </a:lnTo>
                  <a:lnTo>
                    <a:pt x="492" y="260"/>
                  </a:lnTo>
                  <a:lnTo>
                    <a:pt x="509" y="264"/>
                  </a:lnTo>
                  <a:lnTo>
                    <a:pt x="514" y="265"/>
                  </a:lnTo>
                  <a:lnTo>
                    <a:pt x="522" y="267"/>
                  </a:lnTo>
                  <a:lnTo>
                    <a:pt x="531" y="267"/>
                  </a:lnTo>
                  <a:lnTo>
                    <a:pt x="536" y="267"/>
                  </a:lnTo>
                  <a:lnTo>
                    <a:pt x="549" y="264"/>
                  </a:lnTo>
                  <a:lnTo>
                    <a:pt x="560" y="257"/>
                  </a:lnTo>
                  <a:lnTo>
                    <a:pt x="573" y="247"/>
                  </a:lnTo>
                  <a:lnTo>
                    <a:pt x="585" y="234"/>
                  </a:lnTo>
                  <a:lnTo>
                    <a:pt x="597" y="220"/>
                  </a:lnTo>
                  <a:lnTo>
                    <a:pt x="607" y="206"/>
                  </a:lnTo>
                  <a:lnTo>
                    <a:pt x="616" y="194"/>
                  </a:lnTo>
                  <a:lnTo>
                    <a:pt x="622" y="185"/>
                  </a:lnTo>
                  <a:lnTo>
                    <a:pt x="629" y="176"/>
                  </a:lnTo>
                  <a:lnTo>
                    <a:pt x="635" y="171"/>
                  </a:lnTo>
                  <a:lnTo>
                    <a:pt x="638" y="167"/>
                  </a:lnTo>
                  <a:lnTo>
                    <a:pt x="639" y="165"/>
                  </a:lnTo>
                  <a:lnTo>
                    <a:pt x="643" y="162"/>
                  </a:lnTo>
                  <a:lnTo>
                    <a:pt x="651" y="153"/>
                  </a:lnTo>
                  <a:lnTo>
                    <a:pt x="659" y="145"/>
                  </a:lnTo>
                  <a:lnTo>
                    <a:pt x="663" y="141"/>
                  </a:lnTo>
                  <a:lnTo>
                    <a:pt x="676" y="125"/>
                  </a:lnTo>
                  <a:lnTo>
                    <a:pt x="685" y="114"/>
                  </a:lnTo>
                  <a:lnTo>
                    <a:pt x="692" y="101"/>
                  </a:lnTo>
                  <a:lnTo>
                    <a:pt x="700" y="83"/>
                  </a:lnTo>
                  <a:lnTo>
                    <a:pt x="707" y="79"/>
                  </a:lnTo>
                  <a:lnTo>
                    <a:pt x="713" y="72"/>
                  </a:lnTo>
                  <a:lnTo>
                    <a:pt x="720" y="66"/>
                  </a:lnTo>
                  <a:lnTo>
                    <a:pt x="725" y="61"/>
                  </a:lnTo>
                  <a:lnTo>
                    <a:pt x="726" y="58"/>
                  </a:lnTo>
                  <a:lnTo>
                    <a:pt x="730" y="52"/>
                  </a:lnTo>
                  <a:lnTo>
                    <a:pt x="734" y="44"/>
                  </a:lnTo>
                  <a:lnTo>
                    <a:pt x="735" y="40"/>
                  </a:lnTo>
                  <a:lnTo>
                    <a:pt x="738" y="36"/>
                  </a:lnTo>
                  <a:lnTo>
                    <a:pt x="744" y="26"/>
                  </a:lnTo>
                  <a:lnTo>
                    <a:pt x="752" y="11"/>
                  </a:lnTo>
                  <a:lnTo>
                    <a:pt x="758" y="0"/>
                  </a:lnTo>
                  <a:lnTo>
                    <a:pt x="762" y="5"/>
                  </a:lnTo>
                  <a:lnTo>
                    <a:pt x="767" y="11"/>
                  </a:lnTo>
                  <a:lnTo>
                    <a:pt x="773" y="17"/>
                  </a:lnTo>
                  <a:lnTo>
                    <a:pt x="775" y="20"/>
                  </a:lnTo>
                  <a:lnTo>
                    <a:pt x="762" y="40"/>
                  </a:lnTo>
                  <a:lnTo>
                    <a:pt x="749" y="59"/>
                  </a:lnTo>
                  <a:lnTo>
                    <a:pt x="735" y="79"/>
                  </a:lnTo>
                  <a:lnTo>
                    <a:pt x="721" y="98"/>
                  </a:lnTo>
                  <a:lnTo>
                    <a:pt x="707" y="118"/>
                  </a:lnTo>
                  <a:lnTo>
                    <a:pt x="692" y="137"/>
                  </a:lnTo>
                  <a:lnTo>
                    <a:pt x="678" y="156"/>
                  </a:lnTo>
                  <a:lnTo>
                    <a:pt x="663" y="176"/>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 name="Freeform 18"/>
            <p:cNvSpPr>
              <a:spLocks/>
            </p:cNvSpPr>
            <p:nvPr/>
          </p:nvSpPr>
          <p:spPr bwMode="auto">
            <a:xfrm>
              <a:off x="1991" y="2949"/>
              <a:ext cx="237" cy="188"/>
            </a:xfrm>
            <a:custGeom>
              <a:avLst/>
              <a:gdLst>
                <a:gd name="T0" fmla="*/ 197 w 237"/>
                <a:gd name="T1" fmla="*/ 188 h 188"/>
                <a:gd name="T2" fmla="*/ 191 w 237"/>
                <a:gd name="T3" fmla="*/ 179 h 188"/>
                <a:gd name="T4" fmla="*/ 183 w 237"/>
                <a:gd name="T5" fmla="*/ 170 h 188"/>
                <a:gd name="T6" fmla="*/ 175 w 237"/>
                <a:gd name="T7" fmla="*/ 162 h 188"/>
                <a:gd name="T8" fmla="*/ 167 w 237"/>
                <a:gd name="T9" fmla="*/ 153 h 188"/>
                <a:gd name="T10" fmla="*/ 160 w 237"/>
                <a:gd name="T11" fmla="*/ 145 h 188"/>
                <a:gd name="T12" fmla="*/ 152 w 237"/>
                <a:gd name="T13" fmla="*/ 136 h 188"/>
                <a:gd name="T14" fmla="*/ 144 w 237"/>
                <a:gd name="T15" fmla="*/ 128 h 188"/>
                <a:gd name="T16" fmla="*/ 136 w 237"/>
                <a:gd name="T17" fmla="*/ 119 h 188"/>
                <a:gd name="T18" fmla="*/ 123 w 237"/>
                <a:gd name="T19" fmla="*/ 105 h 188"/>
                <a:gd name="T20" fmla="*/ 110 w 237"/>
                <a:gd name="T21" fmla="*/ 95 h 188"/>
                <a:gd name="T22" fmla="*/ 95 w 237"/>
                <a:gd name="T23" fmla="*/ 86 h 188"/>
                <a:gd name="T24" fmla="*/ 78 w 237"/>
                <a:gd name="T25" fmla="*/ 78 h 188"/>
                <a:gd name="T26" fmla="*/ 61 w 237"/>
                <a:gd name="T27" fmla="*/ 73 h 188"/>
                <a:gd name="T28" fmla="*/ 44 w 237"/>
                <a:gd name="T29" fmla="*/ 66 h 188"/>
                <a:gd name="T30" fmla="*/ 28 w 237"/>
                <a:gd name="T31" fmla="*/ 60 h 188"/>
                <a:gd name="T32" fmla="*/ 11 w 237"/>
                <a:gd name="T33" fmla="*/ 53 h 188"/>
                <a:gd name="T34" fmla="*/ 7 w 237"/>
                <a:gd name="T35" fmla="*/ 51 h 188"/>
                <a:gd name="T36" fmla="*/ 4 w 237"/>
                <a:gd name="T37" fmla="*/ 48 h 188"/>
                <a:gd name="T38" fmla="*/ 2 w 237"/>
                <a:gd name="T39" fmla="*/ 45 h 188"/>
                <a:gd name="T40" fmla="*/ 0 w 237"/>
                <a:gd name="T41" fmla="*/ 42 h 188"/>
                <a:gd name="T42" fmla="*/ 0 w 237"/>
                <a:gd name="T43" fmla="*/ 31 h 188"/>
                <a:gd name="T44" fmla="*/ 4 w 237"/>
                <a:gd name="T45" fmla="*/ 21 h 188"/>
                <a:gd name="T46" fmla="*/ 9 w 237"/>
                <a:gd name="T47" fmla="*/ 13 h 188"/>
                <a:gd name="T48" fmla="*/ 20 w 237"/>
                <a:gd name="T49" fmla="*/ 8 h 188"/>
                <a:gd name="T50" fmla="*/ 33 w 237"/>
                <a:gd name="T51" fmla="*/ 4 h 188"/>
                <a:gd name="T52" fmla="*/ 47 w 237"/>
                <a:gd name="T53" fmla="*/ 1 h 188"/>
                <a:gd name="T54" fmla="*/ 61 w 237"/>
                <a:gd name="T55" fmla="*/ 0 h 188"/>
                <a:gd name="T56" fmla="*/ 75 w 237"/>
                <a:gd name="T57" fmla="*/ 1 h 188"/>
                <a:gd name="T58" fmla="*/ 90 w 237"/>
                <a:gd name="T59" fmla="*/ 4 h 188"/>
                <a:gd name="T60" fmla="*/ 103 w 237"/>
                <a:gd name="T61" fmla="*/ 8 h 188"/>
                <a:gd name="T62" fmla="*/ 116 w 237"/>
                <a:gd name="T63" fmla="*/ 13 h 188"/>
                <a:gd name="T64" fmla="*/ 129 w 237"/>
                <a:gd name="T65" fmla="*/ 20 h 188"/>
                <a:gd name="T66" fmla="*/ 145 w 237"/>
                <a:gd name="T67" fmla="*/ 30 h 188"/>
                <a:gd name="T68" fmla="*/ 161 w 237"/>
                <a:gd name="T69" fmla="*/ 42 h 188"/>
                <a:gd name="T70" fmla="*/ 175 w 237"/>
                <a:gd name="T71" fmla="*/ 53 h 188"/>
                <a:gd name="T72" fmla="*/ 188 w 237"/>
                <a:gd name="T73" fmla="*/ 68 h 188"/>
                <a:gd name="T74" fmla="*/ 201 w 237"/>
                <a:gd name="T75" fmla="*/ 82 h 188"/>
                <a:gd name="T76" fmla="*/ 213 w 237"/>
                <a:gd name="T77" fmla="*/ 97 h 188"/>
                <a:gd name="T78" fmla="*/ 226 w 237"/>
                <a:gd name="T79" fmla="*/ 112 h 188"/>
                <a:gd name="T80" fmla="*/ 237 w 237"/>
                <a:gd name="T81" fmla="*/ 127 h 188"/>
                <a:gd name="T82" fmla="*/ 232 w 237"/>
                <a:gd name="T83" fmla="*/ 135 h 188"/>
                <a:gd name="T84" fmla="*/ 227 w 237"/>
                <a:gd name="T85" fmla="*/ 143 h 188"/>
                <a:gd name="T86" fmla="*/ 222 w 237"/>
                <a:gd name="T87" fmla="*/ 150 h 188"/>
                <a:gd name="T88" fmla="*/ 218 w 237"/>
                <a:gd name="T89" fmla="*/ 158 h 188"/>
                <a:gd name="T90" fmla="*/ 213 w 237"/>
                <a:gd name="T91" fmla="*/ 166 h 188"/>
                <a:gd name="T92" fmla="*/ 208 w 237"/>
                <a:gd name="T93" fmla="*/ 174 h 188"/>
                <a:gd name="T94" fmla="*/ 202 w 237"/>
                <a:gd name="T95" fmla="*/ 180 h 188"/>
                <a:gd name="T96" fmla="*/ 197 w 237"/>
                <a:gd name="T97" fmla="*/ 188 h 1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37"/>
                <a:gd name="T148" fmla="*/ 0 h 188"/>
                <a:gd name="T149" fmla="*/ 237 w 237"/>
                <a:gd name="T150" fmla="*/ 188 h 1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37" h="188">
                  <a:moveTo>
                    <a:pt x="197" y="188"/>
                  </a:moveTo>
                  <a:lnTo>
                    <a:pt x="191" y="179"/>
                  </a:lnTo>
                  <a:lnTo>
                    <a:pt x="183" y="170"/>
                  </a:lnTo>
                  <a:lnTo>
                    <a:pt x="175" y="162"/>
                  </a:lnTo>
                  <a:lnTo>
                    <a:pt x="167" y="153"/>
                  </a:lnTo>
                  <a:lnTo>
                    <a:pt x="160" y="145"/>
                  </a:lnTo>
                  <a:lnTo>
                    <a:pt x="152" y="136"/>
                  </a:lnTo>
                  <a:lnTo>
                    <a:pt x="144" y="128"/>
                  </a:lnTo>
                  <a:lnTo>
                    <a:pt x="136" y="119"/>
                  </a:lnTo>
                  <a:lnTo>
                    <a:pt x="123" y="105"/>
                  </a:lnTo>
                  <a:lnTo>
                    <a:pt x="110" y="95"/>
                  </a:lnTo>
                  <a:lnTo>
                    <a:pt x="95" y="86"/>
                  </a:lnTo>
                  <a:lnTo>
                    <a:pt x="78" y="78"/>
                  </a:lnTo>
                  <a:lnTo>
                    <a:pt x="61" y="73"/>
                  </a:lnTo>
                  <a:lnTo>
                    <a:pt x="44" y="66"/>
                  </a:lnTo>
                  <a:lnTo>
                    <a:pt x="28" y="60"/>
                  </a:lnTo>
                  <a:lnTo>
                    <a:pt x="11" y="53"/>
                  </a:lnTo>
                  <a:lnTo>
                    <a:pt x="7" y="51"/>
                  </a:lnTo>
                  <a:lnTo>
                    <a:pt x="4" y="48"/>
                  </a:lnTo>
                  <a:lnTo>
                    <a:pt x="2" y="45"/>
                  </a:lnTo>
                  <a:lnTo>
                    <a:pt x="0" y="42"/>
                  </a:lnTo>
                  <a:lnTo>
                    <a:pt x="0" y="31"/>
                  </a:lnTo>
                  <a:lnTo>
                    <a:pt x="4" y="21"/>
                  </a:lnTo>
                  <a:lnTo>
                    <a:pt x="9" y="13"/>
                  </a:lnTo>
                  <a:lnTo>
                    <a:pt x="20" y="8"/>
                  </a:lnTo>
                  <a:lnTo>
                    <a:pt x="33" y="4"/>
                  </a:lnTo>
                  <a:lnTo>
                    <a:pt x="47" y="1"/>
                  </a:lnTo>
                  <a:lnTo>
                    <a:pt x="61" y="0"/>
                  </a:lnTo>
                  <a:lnTo>
                    <a:pt x="75" y="1"/>
                  </a:lnTo>
                  <a:lnTo>
                    <a:pt x="90" y="4"/>
                  </a:lnTo>
                  <a:lnTo>
                    <a:pt x="103" y="8"/>
                  </a:lnTo>
                  <a:lnTo>
                    <a:pt x="116" y="13"/>
                  </a:lnTo>
                  <a:lnTo>
                    <a:pt x="129" y="20"/>
                  </a:lnTo>
                  <a:lnTo>
                    <a:pt x="145" y="30"/>
                  </a:lnTo>
                  <a:lnTo>
                    <a:pt x="161" y="42"/>
                  </a:lnTo>
                  <a:lnTo>
                    <a:pt x="175" y="53"/>
                  </a:lnTo>
                  <a:lnTo>
                    <a:pt x="188" y="68"/>
                  </a:lnTo>
                  <a:lnTo>
                    <a:pt x="201" y="82"/>
                  </a:lnTo>
                  <a:lnTo>
                    <a:pt x="213" y="97"/>
                  </a:lnTo>
                  <a:lnTo>
                    <a:pt x="226" y="112"/>
                  </a:lnTo>
                  <a:lnTo>
                    <a:pt x="237" y="127"/>
                  </a:lnTo>
                  <a:lnTo>
                    <a:pt x="232" y="135"/>
                  </a:lnTo>
                  <a:lnTo>
                    <a:pt x="227" y="143"/>
                  </a:lnTo>
                  <a:lnTo>
                    <a:pt x="222" y="150"/>
                  </a:lnTo>
                  <a:lnTo>
                    <a:pt x="218" y="158"/>
                  </a:lnTo>
                  <a:lnTo>
                    <a:pt x="213" y="166"/>
                  </a:lnTo>
                  <a:lnTo>
                    <a:pt x="208" y="174"/>
                  </a:lnTo>
                  <a:lnTo>
                    <a:pt x="202" y="180"/>
                  </a:lnTo>
                  <a:lnTo>
                    <a:pt x="197" y="188"/>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 name="Freeform 19"/>
            <p:cNvSpPr>
              <a:spLocks/>
            </p:cNvSpPr>
            <p:nvPr/>
          </p:nvSpPr>
          <p:spPr bwMode="auto">
            <a:xfrm>
              <a:off x="2226" y="2783"/>
              <a:ext cx="164" cy="275"/>
            </a:xfrm>
            <a:custGeom>
              <a:avLst/>
              <a:gdLst>
                <a:gd name="T0" fmla="*/ 160 w 164"/>
                <a:gd name="T1" fmla="*/ 91 h 275"/>
                <a:gd name="T2" fmla="*/ 142 w 164"/>
                <a:gd name="T3" fmla="*/ 112 h 275"/>
                <a:gd name="T4" fmla="*/ 125 w 164"/>
                <a:gd name="T5" fmla="*/ 132 h 275"/>
                <a:gd name="T6" fmla="*/ 108 w 164"/>
                <a:gd name="T7" fmla="*/ 155 h 275"/>
                <a:gd name="T8" fmla="*/ 92 w 164"/>
                <a:gd name="T9" fmla="*/ 175 h 275"/>
                <a:gd name="T10" fmla="*/ 75 w 164"/>
                <a:gd name="T11" fmla="*/ 197 h 275"/>
                <a:gd name="T12" fmla="*/ 58 w 164"/>
                <a:gd name="T13" fmla="*/ 218 h 275"/>
                <a:gd name="T14" fmla="*/ 41 w 164"/>
                <a:gd name="T15" fmla="*/ 240 h 275"/>
                <a:gd name="T16" fmla="*/ 23 w 164"/>
                <a:gd name="T17" fmla="*/ 261 h 275"/>
                <a:gd name="T18" fmla="*/ 19 w 164"/>
                <a:gd name="T19" fmla="*/ 266 h 275"/>
                <a:gd name="T20" fmla="*/ 17 w 164"/>
                <a:gd name="T21" fmla="*/ 267 h 275"/>
                <a:gd name="T22" fmla="*/ 14 w 164"/>
                <a:gd name="T23" fmla="*/ 270 h 275"/>
                <a:gd name="T24" fmla="*/ 10 w 164"/>
                <a:gd name="T25" fmla="*/ 275 h 275"/>
                <a:gd name="T26" fmla="*/ 7 w 164"/>
                <a:gd name="T27" fmla="*/ 270 h 275"/>
                <a:gd name="T28" fmla="*/ 4 w 164"/>
                <a:gd name="T29" fmla="*/ 266 h 275"/>
                <a:gd name="T30" fmla="*/ 1 w 164"/>
                <a:gd name="T31" fmla="*/ 262 h 275"/>
                <a:gd name="T32" fmla="*/ 0 w 164"/>
                <a:gd name="T33" fmla="*/ 261 h 275"/>
                <a:gd name="T34" fmla="*/ 5 w 164"/>
                <a:gd name="T35" fmla="*/ 253 h 275"/>
                <a:gd name="T36" fmla="*/ 10 w 164"/>
                <a:gd name="T37" fmla="*/ 248 h 275"/>
                <a:gd name="T38" fmla="*/ 15 w 164"/>
                <a:gd name="T39" fmla="*/ 241 h 275"/>
                <a:gd name="T40" fmla="*/ 22 w 164"/>
                <a:gd name="T41" fmla="*/ 234 h 275"/>
                <a:gd name="T42" fmla="*/ 23 w 164"/>
                <a:gd name="T43" fmla="*/ 232 h 275"/>
                <a:gd name="T44" fmla="*/ 28 w 164"/>
                <a:gd name="T45" fmla="*/ 230 h 275"/>
                <a:gd name="T46" fmla="*/ 33 w 164"/>
                <a:gd name="T47" fmla="*/ 227 h 275"/>
                <a:gd name="T48" fmla="*/ 40 w 164"/>
                <a:gd name="T49" fmla="*/ 222 h 275"/>
                <a:gd name="T50" fmla="*/ 46 w 164"/>
                <a:gd name="T51" fmla="*/ 215 h 275"/>
                <a:gd name="T52" fmla="*/ 50 w 164"/>
                <a:gd name="T53" fmla="*/ 208 h 275"/>
                <a:gd name="T54" fmla="*/ 53 w 164"/>
                <a:gd name="T55" fmla="*/ 199 h 275"/>
                <a:gd name="T56" fmla="*/ 51 w 164"/>
                <a:gd name="T57" fmla="*/ 188 h 275"/>
                <a:gd name="T58" fmla="*/ 55 w 164"/>
                <a:gd name="T59" fmla="*/ 179 h 275"/>
                <a:gd name="T60" fmla="*/ 66 w 164"/>
                <a:gd name="T61" fmla="*/ 165 h 275"/>
                <a:gd name="T62" fmla="*/ 77 w 164"/>
                <a:gd name="T63" fmla="*/ 149 h 275"/>
                <a:gd name="T64" fmla="*/ 88 w 164"/>
                <a:gd name="T65" fmla="*/ 135 h 275"/>
                <a:gd name="T66" fmla="*/ 92 w 164"/>
                <a:gd name="T67" fmla="*/ 132 h 275"/>
                <a:gd name="T68" fmla="*/ 95 w 164"/>
                <a:gd name="T69" fmla="*/ 130 h 275"/>
                <a:gd name="T70" fmla="*/ 99 w 164"/>
                <a:gd name="T71" fmla="*/ 127 h 275"/>
                <a:gd name="T72" fmla="*/ 102 w 164"/>
                <a:gd name="T73" fmla="*/ 125 h 275"/>
                <a:gd name="T74" fmla="*/ 114 w 164"/>
                <a:gd name="T75" fmla="*/ 112 h 275"/>
                <a:gd name="T76" fmla="*/ 120 w 164"/>
                <a:gd name="T77" fmla="*/ 95 h 275"/>
                <a:gd name="T78" fmla="*/ 120 w 164"/>
                <a:gd name="T79" fmla="*/ 79 h 275"/>
                <a:gd name="T80" fmla="*/ 115 w 164"/>
                <a:gd name="T81" fmla="*/ 63 h 275"/>
                <a:gd name="T82" fmla="*/ 110 w 164"/>
                <a:gd name="T83" fmla="*/ 53 h 275"/>
                <a:gd name="T84" fmla="*/ 102 w 164"/>
                <a:gd name="T85" fmla="*/ 35 h 275"/>
                <a:gd name="T86" fmla="*/ 92 w 164"/>
                <a:gd name="T87" fmla="*/ 16 h 275"/>
                <a:gd name="T88" fmla="*/ 83 w 164"/>
                <a:gd name="T89" fmla="*/ 0 h 275"/>
                <a:gd name="T90" fmla="*/ 90 w 164"/>
                <a:gd name="T91" fmla="*/ 4 h 275"/>
                <a:gd name="T92" fmla="*/ 103 w 164"/>
                <a:gd name="T93" fmla="*/ 11 h 275"/>
                <a:gd name="T94" fmla="*/ 119 w 164"/>
                <a:gd name="T95" fmla="*/ 20 h 275"/>
                <a:gd name="T96" fmla="*/ 134 w 164"/>
                <a:gd name="T97" fmla="*/ 31 h 275"/>
                <a:gd name="T98" fmla="*/ 149 w 164"/>
                <a:gd name="T99" fmla="*/ 44 h 275"/>
                <a:gd name="T100" fmla="*/ 159 w 164"/>
                <a:gd name="T101" fmla="*/ 59 h 275"/>
                <a:gd name="T102" fmla="*/ 164 w 164"/>
                <a:gd name="T103" fmla="*/ 74 h 275"/>
                <a:gd name="T104" fmla="*/ 160 w 164"/>
                <a:gd name="T105" fmla="*/ 91 h 27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4"/>
                <a:gd name="T160" fmla="*/ 0 h 275"/>
                <a:gd name="T161" fmla="*/ 164 w 164"/>
                <a:gd name="T162" fmla="*/ 275 h 275"/>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4" h="275">
                  <a:moveTo>
                    <a:pt x="160" y="91"/>
                  </a:moveTo>
                  <a:lnTo>
                    <a:pt x="142" y="112"/>
                  </a:lnTo>
                  <a:lnTo>
                    <a:pt x="125" y="132"/>
                  </a:lnTo>
                  <a:lnTo>
                    <a:pt x="108" y="155"/>
                  </a:lnTo>
                  <a:lnTo>
                    <a:pt x="92" y="175"/>
                  </a:lnTo>
                  <a:lnTo>
                    <a:pt x="75" y="197"/>
                  </a:lnTo>
                  <a:lnTo>
                    <a:pt x="58" y="218"/>
                  </a:lnTo>
                  <a:lnTo>
                    <a:pt x="41" y="240"/>
                  </a:lnTo>
                  <a:lnTo>
                    <a:pt x="23" y="261"/>
                  </a:lnTo>
                  <a:lnTo>
                    <a:pt x="19" y="266"/>
                  </a:lnTo>
                  <a:lnTo>
                    <a:pt x="17" y="267"/>
                  </a:lnTo>
                  <a:lnTo>
                    <a:pt x="14" y="270"/>
                  </a:lnTo>
                  <a:lnTo>
                    <a:pt x="10" y="275"/>
                  </a:lnTo>
                  <a:lnTo>
                    <a:pt x="7" y="270"/>
                  </a:lnTo>
                  <a:lnTo>
                    <a:pt x="4" y="266"/>
                  </a:lnTo>
                  <a:lnTo>
                    <a:pt x="1" y="262"/>
                  </a:lnTo>
                  <a:lnTo>
                    <a:pt x="0" y="261"/>
                  </a:lnTo>
                  <a:lnTo>
                    <a:pt x="5" y="253"/>
                  </a:lnTo>
                  <a:lnTo>
                    <a:pt x="10" y="248"/>
                  </a:lnTo>
                  <a:lnTo>
                    <a:pt x="15" y="241"/>
                  </a:lnTo>
                  <a:lnTo>
                    <a:pt x="22" y="234"/>
                  </a:lnTo>
                  <a:lnTo>
                    <a:pt x="23" y="232"/>
                  </a:lnTo>
                  <a:lnTo>
                    <a:pt x="28" y="230"/>
                  </a:lnTo>
                  <a:lnTo>
                    <a:pt x="33" y="227"/>
                  </a:lnTo>
                  <a:lnTo>
                    <a:pt x="40" y="222"/>
                  </a:lnTo>
                  <a:lnTo>
                    <a:pt x="46" y="215"/>
                  </a:lnTo>
                  <a:lnTo>
                    <a:pt x="50" y="208"/>
                  </a:lnTo>
                  <a:lnTo>
                    <a:pt x="53" y="199"/>
                  </a:lnTo>
                  <a:lnTo>
                    <a:pt x="51" y="188"/>
                  </a:lnTo>
                  <a:lnTo>
                    <a:pt x="55" y="179"/>
                  </a:lnTo>
                  <a:lnTo>
                    <a:pt x="66" y="165"/>
                  </a:lnTo>
                  <a:lnTo>
                    <a:pt x="77" y="149"/>
                  </a:lnTo>
                  <a:lnTo>
                    <a:pt x="88" y="135"/>
                  </a:lnTo>
                  <a:lnTo>
                    <a:pt x="92" y="132"/>
                  </a:lnTo>
                  <a:lnTo>
                    <a:pt x="95" y="130"/>
                  </a:lnTo>
                  <a:lnTo>
                    <a:pt x="99" y="127"/>
                  </a:lnTo>
                  <a:lnTo>
                    <a:pt x="102" y="125"/>
                  </a:lnTo>
                  <a:lnTo>
                    <a:pt x="114" y="112"/>
                  </a:lnTo>
                  <a:lnTo>
                    <a:pt x="120" y="95"/>
                  </a:lnTo>
                  <a:lnTo>
                    <a:pt x="120" y="79"/>
                  </a:lnTo>
                  <a:lnTo>
                    <a:pt x="115" y="63"/>
                  </a:lnTo>
                  <a:lnTo>
                    <a:pt x="110" y="53"/>
                  </a:lnTo>
                  <a:lnTo>
                    <a:pt x="102" y="35"/>
                  </a:lnTo>
                  <a:lnTo>
                    <a:pt x="92" y="16"/>
                  </a:lnTo>
                  <a:lnTo>
                    <a:pt x="83" y="0"/>
                  </a:lnTo>
                  <a:lnTo>
                    <a:pt x="90" y="4"/>
                  </a:lnTo>
                  <a:lnTo>
                    <a:pt x="103" y="11"/>
                  </a:lnTo>
                  <a:lnTo>
                    <a:pt x="119" y="20"/>
                  </a:lnTo>
                  <a:lnTo>
                    <a:pt x="134" y="31"/>
                  </a:lnTo>
                  <a:lnTo>
                    <a:pt x="149" y="44"/>
                  </a:lnTo>
                  <a:lnTo>
                    <a:pt x="159" y="59"/>
                  </a:lnTo>
                  <a:lnTo>
                    <a:pt x="164" y="74"/>
                  </a:lnTo>
                  <a:lnTo>
                    <a:pt x="160" y="91"/>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 name="Freeform 20"/>
            <p:cNvSpPr>
              <a:spLocks/>
            </p:cNvSpPr>
            <p:nvPr/>
          </p:nvSpPr>
          <p:spPr bwMode="auto">
            <a:xfrm>
              <a:off x="2209" y="2945"/>
              <a:ext cx="57" cy="57"/>
            </a:xfrm>
            <a:custGeom>
              <a:avLst/>
              <a:gdLst>
                <a:gd name="T0" fmla="*/ 0 w 57"/>
                <a:gd name="T1" fmla="*/ 52 h 57"/>
                <a:gd name="T2" fmla="*/ 5 w 57"/>
                <a:gd name="T3" fmla="*/ 44 h 57"/>
                <a:gd name="T4" fmla="*/ 12 w 57"/>
                <a:gd name="T5" fmla="*/ 37 h 57"/>
                <a:gd name="T6" fmla="*/ 18 w 57"/>
                <a:gd name="T7" fmla="*/ 27 h 57"/>
                <a:gd name="T8" fmla="*/ 24 w 57"/>
                <a:gd name="T9" fmla="*/ 20 h 57"/>
                <a:gd name="T10" fmla="*/ 30 w 57"/>
                <a:gd name="T11" fmla="*/ 12 h 57"/>
                <a:gd name="T12" fmla="*/ 35 w 57"/>
                <a:gd name="T13" fmla="*/ 7 h 57"/>
                <a:gd name="T14" fmla="*/ 39 w 57"/>
                <a:gd name="T15" fmla="*/ 2 h 57"/>
                <a:gd name="T16" fmla="*/ 41 w 57"/>
                <a:gd name="T17" fmla="*/ 0 h 57"/>
                <a:gd name="T18" fmla="*/ 46 w 57"/>
                <a:gd name="T19" fmla="*/ 7 h 57"/>
                <a:gd name="T20" fmla="*/ 52 w 57"/>
                <a:gd name="T21" fmla="*/ 16 h 57"/>
                <a:gd name="T22" fmla="*/ 57 w 57"/>
                <a:gd name="T23" fmla="*/ 27 h 57"/>
                <a:gd name="T24" fmla="*/ 57 w 57"/>
                <a:gd name="T25" fmla="*/ 35 h 57"/>
                <a:gd name="T26" fmla="*/ 53 w 57"/>
                <a:gd name="T27" fmla="*/ 43 h 57"/>
                <a:gd name="T28" fmla="*/ 49 w 57"/>
                <a:gd name="T29" fmla="*/ 49 h 57"/>
                <a:gd name="T30" fmla="*/ 43 w 57"/>
                <a:gd name="T31" fmla="*/ 53 h 57"/>
                <a:gd name="T32" fmla="*/ 35 w 57"/>
                <a:gd name="T33" fmla="*/ 56 h 57"/>
                <a:gd name="T34" fmla="*/ 27 w 57"/>
                <a:gd name="T35" fmla="*/ 57 h 57"/>
                <a:gd name="T36" fmla="*/ 18 w 57"/>
                <a:gd name="T37" fmla="*/ 57 h 57"/>
                <a:gd name="T38" fmla="*/ 9 w 57"/>
                <a:gd name="T39" fmla="*/ 55 h 57"/>
                <a:gd name="T40" fmla="*/ 0 w 57"/>
                <a:gd name="T41" fmla="*/ 52 h 5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
                <a:gd name="T64" fmla="*/ 0 h 57"/>
                <a:gd name="T65" fmla="*/ 57 w 57"/>
                <a:gd name="T66" fmla="*/ 57 h 5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 h="57">
                  <a:moveTo>
                    <a:pt x="0" y="52"/>
                  </a:moveTo>
                  <a:lnTo>
                    <a:pt x="5" y="44"/>
                  </a:lnTo>
                  <a:lnTo>
                    <a:pt x="12" y="37"/>
                  </a:lnTo>
                  <a:lnTo>
                    <a:pt x="18" y="27"/>
                  </a:lnTo>
                  <a:lnTo>
                    <a:pt x="24" y="20"/>
                  </a:lnTo>
                  <a:lnTo>
                    <a:pt x="30" y="12"/>
                  </a:lnTo>
                  <a:lnTo>
                    <a:pt x="35" y="7"/>
                  </a:lnTo>
                  <a:lnTo>
                    <a:pt x="39" y="2"/>
                  </a:lnTo>
                  <a:lnTo>
                    <a:pt x="41" y="0"/>
                  </a:lnTo>
                  <a:lnTo>
                    <a:pt x="46" y="7"/>
                  </a:lnTo>
                  <a:lnTo>
                    <a:pt x="52" y="16"/>
                  </a:lnTo>
                  <a:lnTo>
                    <a:pt x="57" y="27"/>
                  </a:lnTo>
                  <a:lnTo>
                    <a:pt x="57" y="35"/>
                  </a:lnTo>
                  <a:lnTo>
                    <a:pt x="53" y="43"/>
                  </a:lnTo>
                  <a:lnTo>
                    <a:pt x="49" y="49"/>
                  </a:lnTo>
                  <a:lnTo>
                    <a:pt x="43" y="53"/>
                  </a:lnTo>
                  <a:lnTo>
                    <a:pt x="35" y="56"/>
                  </a:lnTo>
                  <a:lnTo>
                    <a:pt x="27" y="57"/>
                  </a:lnTo>
                  <a:lnTo>
                    <a:pt x="18" y="57"/>
                  </a:lnTo>
                  <a:lnTo>
                    <a:pt x="9" y="55"/>
                  </a:lnTo>
                  <a:lnTo>
                    <a:pt x="0" y="5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 name="Freeform 21"/>
            <p:cNvSpPr>
              <a:spLocks/>
            </p:cNvSpPr>
            <p:nvPr/>
          </p:nvSpPr>
          <p:spPr bwMode="auto">
            <a:xfrm>
              <a:off x="2034" y="2963"/>
              <a:ext cx="51" cy="41"/>
            </a:xfrm>
            <a:custGeom>
              <a:avLst/>
              <a:gdLst>
                <a:gd name="T0" fmla="*/ 26 w 51"/>
                <a:gd name="T1" fmla="*/ 0 h 41"/>
                <a:gd name="T2" fmla="*/ 16 w 51"/>
                <a:gd name="T3" fmla="*/ 2 h 41"/>
                <a:gd name="T4" fmla="*/ 8 w 51"/>
                <a:gd name="T5" fmla="*/ 7 h 41"/>
                <a:gd name="T6" fmla="*/ 3 w 51"/>
                <a:gd name="T7" fmla="*/ 13 h 41"/>
                <a:gd name="T8" fmla="*/ 0 w 51"/>
                <a:gd name="T9" fmla="*/ 21 h 41"/>
                <a:gd name="T10" fmla="*/ 3 w 51"/>
                <a:gd name="T11" fmla="*/ 29 h 41"/>
                <a:gd name="T12" fmla="*/ 8 w 51"/>
                <a:gd name="T13" fmla="*/ 34 h 41"/>
                <a:gd name="T14" fmla="*/ 16 w 51"/>
                <a:gd name="T15" fmla="*/ 39 h 41"/>
                <a:gd name="T16" fmla="*/ 26 w 51"/>
                <a:gd name="T17" fmla="*/ 41 h 41"/>
                <a:gd name="T18" fmla="*/ 35 w 51"/>
                <a:gd name="T19" fmla="*/ 39 h 41"/>
                <a:gd name="T20" fmla="*/ 43 w 51"/>
                <a:gd name="T21" fmla="*/ 34 h 41"/>
                <a:gd name="T22" fmla="*/ 48 w 51"/>
                <a:gd name="T23" fmla="*/ 29 h 41"/>
                <a:gd name="T24" fmla="*/ 51 w 51"/>
                <a:gd name="T25" fmla="*/ 21 h 41"/>
                <a:gd name="T26" fmla="*/ 48 w 51"/>
                <a:gd name="T27" fmla="*/ 13 h 41"/>
                <a:gd name="T28" fmla="*/ 43 w 51"/>
                <a:gd name="T29" fmla="*/ 7 h 41"/>
                <a:gd name="T30" fmla="*/ 35 w 51"/>
                <a:gd name="T31" fmla="*/ 2 h 41"/>
                <a:gd name="T32" fmla="*/ 26 w 51"/>
                <a:gd name="T33" fmla="*/ 0 h 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1"/>
                <a:gd name="T52" fmla="*/ 0 h 41"/>
                <a:gd name="T53" fmla="*/ 51 w 51"/>
                <a:gd name="T54" fmla="*/ 41 h 4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1" h="41">
                  <a:moveTo>
                    <a:pt x="26" y="0"/>
                  </a:moveTo>
                  <a:lnTo>
                    <a:pt x="16" y="2"/>
                  </a:lnTo>
                  <a:lnTo>
                    <a:pt x="8" y="7"/>
                  </a:lnTo>
                  <a:lnTo>
                    <a:pt x="3" y="13"/>
                  </a:lnTo>
                  <a:lnTo>
                    <a:pt x="0" y="21"/>
                  </a:lnTo>
                  <a:lnTo>
                    <a:pt x="3" y="29"/>
                  </a:lnTo>
                  <a:lnTo>
                    <a:pt x="8" y="34"/>
                  </a:lnTo>
                  <a:lnTo>
                    <a:pt x="16" y="39"/>
                  </a:lnTo>
                  <a:lnTo>
                    <a:pt x="26" y="41"/>
                  </a:lnTo>
                  <a:lnTo>
                    <a:pt x="35" y="39"/>
                  </a:lnTo>
                  <a:lnTo>
                    <a:pt x="43" y="34"/>
                  </a:lnTo>
                  <a:lnTo>
                    <a:pt x="48" y="29"/>
                  </a:lnTo>
                  <a:lnTo>
                    <a:pt x="51" y="21"/>
                  </a:lnTo>
                  <a:lnTo>
                    <a:pt x="48" y="13"/>
                  </a:lnTo>
                  <a:lnTo>
                    <a:pt x="43" y="7"/>
                  </a:lnTo>
                  <a:lnTo>
                    <a:pt x="35" y="2"/>
                  </a:lnTo>
                  <a:lnTo>
                    <a:pt x="2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61" name="AutoShape 22"/>
          <p:cNvSpPr>
            <a:spLocks noChangeArrowheads="1"/>
          </p:cNvSpPr>
          <p:nvPr/>
        </p:nvSpPr>
        <p:spPr bwMode="auto">
          <a:xfrm>
            <a:off x="7386638" y="4880054"/>
            <a:ext cx="587375" cy="587375"/>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62" name="AutoShape 23"/>
          <p:cNvSpPr>
            <a:spLocks noChangeArrowheads="1"/>
          </p:cNvSpPr>
          <p:nvPr/>
        </p:nvSpPr>
        <p:spPr bwMode="auto">
          <a:xfrm>
            <a:off x="7539038" y="5032454"/>
            <a:ext cx="587375" cy="587375"/>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63" name="AutoShape 24"/>
          <p:cNvSpPr>
            <a:spLocks noChangeArrowheads="1"/>
          </p:cNvSpPr>
          <p:nvPr/>
        </p:nvSpPr>
        <p:spPr bwMode="auto">
          <a:xfrm>
            <a:off x="7691438" y="5184854"/>
            <a:ext cx="587375" cy="587375"/>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64" name="AutoShape 25"/>
          <p:cNvSpPr>
            <a:spLocks noChangeArrowheads="1"/>
          </p:cNvSpPr>
          <p:nvPr/>
        </p:nvSpPr>
        <p:spPr bwMode="auto">
          <a:xfrm>
            <a:off x="7843838" y="5337254"/>
            <a:ext cx="587375" cy="587375"/>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65" name="AutoShape 26"/>
          <p:cNvSpPr>
            <a:spLocks noChangeArrowheads="1"/>
          </p:cNvSpPr>
          <p:nvPr/>
        </p:nvSpPr>
        <p:spPr bwMode="auto">
          <a:xfrm>
            <a:off x="7996238" y="5489654"/>
            <a:ext cx="587375" cy="587375"/>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66" name="AutoShape 27"/>
          <p:cNvSpPr>
            <a:spLocks noChangeArrowheads="1"/>
          </p:cNvSpPr>
          <p:nvPr/>
        </p:nvSpPr>
        <p:spPr bwMode="auto">
          <a:xfrm>
            <a:off x="8148638" y="5642054"/>
            <a:ext cx="587375" cy="587375"/>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grpSp>
        <p:nvGrpSpPr>
          <p:cNvPr id="67" name="Group 28"/>
          <p:cNvGrpSpPr>
            <a:grpSpLocks/>
          </p:cNvGrpSpPr>
          <p:nvPr/>
        </p:nvGrpSpPr>
        <p:grpSpPr bwMode="auto">
          <a:xfrm>
            <a:off x="7264400" y="5743654"/>
            <a:ext cx="492125" cy="539750"/>
            <a:chOff x="4508" y="1968"/>
            <a:chExt cx="310" cy="340"/>
          </a:xfrm>
        </p:grpSpPr>
        <p:sp>
          <p:nvSpPr>
            <p:cNvPr id="68" name="Rectangle 29"/>
            <p:cNvSpPr>
              <a:spLocks noChangeArrowheads="1"/>
            </p:cNvSpPr>
            <p:nvPr/>
          </p:nvSpPr>
          <p:spPr bwMode="auto">
            <a:xfrm rot="19100882" flipH="1">
              <a:off x="4734" y="2152"/>
              <a:ext cx="84" cy="144"/>
            </a:xfrm>
            <a:prstGeom prst="rect">
              <a:avLst/>
            </a:prstGeom>
            <a:solidFill>
              <a:srgbClr val="996633"/>
            </a:solidFill>
            <a:ln w="12700">
              <a:solidFill>
                <a:schemeClr val="bg1"/>
              </a:solidFill>
              <a:miter lim="800000"/>
              <a:headEnd/>
              <a:tailEnd/>
            </a:ln>
          </p:spPr>
          <p:txBody>
            <a:bodyPr wrap="none" anchor="ctr">
              <a:spAutoFit/>
            </a:bodyPr>
            <a:lstStyle/>
            <a:p>
              <a:endParaRPr lang="en-US"/>
            </a:p>
          </p:txBody>
        </p:sp>
        <p:sp>
          <p:nvSpPr>
            <p:cNvPr id="69" name="Oval 30"/>
            <p:cNvSpPr>
              <a:spLocks noChangeArrowheads="1"/>
            </p:cNvSpPr>
            <p:nvPr/>
          </p:nvSpPr>
          <p:spPr bwMode="auto">
            <a:xfrm flipH="1">
              <a:off x="4526" y="1968"/>
              <a:ext cx="246" cy="246"/>
            </a:xfrm>
            <a:prstGeom prst="ellipse">
              <a:avLst/>
            </a:prstGeom>
            <a:solidFill>
              <a:schemeClr val="hlink"/>
            </a:solidFill>
            <a:ln w="12700">
              <a:solidFill>
                <a:schemeClr val="bg1"/>
              </a:solidFill>
              <a:round/>
              <a:headEnd/>
              <a:tailEnd/>
            </a:ln>
          </p:spPr>
          <p:txBody>
            <a:bodyPr wrap="none" anchor="ctr">
              <a:spAutoFit/>
            </a:bodyPr>
            <a:lstStyle/>
            <a:p>
              <a:endParaRPr lang="en-US"/>
            </a:p>
          </p:txBody>
        </p:sp>
        <p:sp>
          <p:nvSpPr>
            <p:cNvPr id="70" name="Rectangle 31"/>
            <p:cNvSpPr>
              <a:spLocks noChangeArrowheads="1"/>
            </p:cNvSpPr>
            <p:nvPr/>
          </p:nvSpPr>
          <p:spPr bwMode="auto">
            <a:xfrm rot="19100882" flipH="1">
              <a:off x="4717" y="2164"/>
              <a:ext cx="84" cy="144"/>
            </a:xfrm>
            <a:prstGeom prst="rect">
              <a:avLst/>
            </a:prstGeom>
            <a:gradFill rotWithShape="0">
              <a:gsLst>
                <a:gs pos="0">
                  <a:srgbClr val="996633"/>
                </a:gs>
                <a:gs pos="100000">
                  <a:srgbClr val="FFCC33"/>
                </a:gs>
              </a:gsLst>
              <a:lin ang="2700000" scaled="1"/>
            </a:gradFill>
            <a:ln w="12700">
              <a:solidFill>
                <a:schemeClr val="bg1"/>
              </a:solidFill>
              <a:miter lim="800000"/>
              <a:headEnd/>
              <a:tailEnd/>
            </a:ln>
          </p:spPr>
          <p:txBody>
            <a:bodyPr wrap="none" anchor="ctr">
              <a:spAutoFit/>
            </a:bodyPr>
            <a:lstStyle/>
            <a:p>
              <a:endParaRPr lang="en-US"/>
            </a:p>
          </p:txBody>
        </p:sp>
        <p:sp>
          <p:nvSpPr>
            <p:cNvPr id="71" name="Oval 32"/>
            <p:cNvSpPr>
              <a:spLocks noChangeArrowheads="1"/>
            </p:cNvSpPr>
            <p:nvPr/>
          </p:nvSpPr>
          <p:spPr bwMode="auto">
            <a:xfrm flipH="1">
              <a:off x="4508" y="1971"/>
              <a:ext cx="246" cy="247"/>
            </a:xfrm>
            <a:prstGeom prst="ellipse">
              <a:avLst/>
            </a:prstGeom>
            <a:gradFill rotWithShape="0">
              <a:gsLst>
                <a:gs pos="0">
                  <a:srgbClr val="FFFFFF"/>
                </a:gs>
                <a:gs pos="100000">
                  <a:srgbClr val="99CCFF"/>
                </a:gs>
              </a:gsLst>
              <a:lin ang="18900000" scaled="1"/>
            </a:gradFill>
            <a:ln w="12700">
              <a:solidFill>
                <a:schemeClr val="bg1"/>
              </a:solidFill>
              <a:round/>
              <a:headEnd/>
              <a:tailEnd/>
            </a:ln>
          </p:spPr>
          <p:txBody>
            <a:bodyPr anchor="ctr">
              <a:spAutoFit/>
            </a:bodyPr>
            <a:lstStyle/>
            <a:p>
              <a:endParaRPr lang="en-US"/>
            </a:p>
          </p:txBody>
        </p:sp>
      </p:grpSp>
      <p:sp>
        <p:nvSpPr>
          <p:cNvPr id="72" name="Line 37"/>
          <p:cNvSpPr>
            <a:spLocks noChangeShapeType="1"/>
          </p:cNvSpPr>
          <p:nvPr/>
        </p:nvSpPr>
        <p:spPr bwMode="auto">
          <a:xfrm flipV="1">
            <a:off x="7448550" y="5537279"/>
            <a:ext cx="531813" cy="37782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 name="Arc 5"/>
          <p:cNvSpPr/>
          <p:nvPr/>
        </p:nvSpPr>
        <p:spPr bwMode="auto">
          <a:xfrm flipH="1">
            <a:off x="951126" y="2805186"/>
            <a:ext cx="3065962" cy="3189799"/>
          </a:xfrm>
          <a:prstGeom prst="arc">
            <a:avLst>
              <a:gd name="adj1" fmla="val 5867953"/>
              <a:gd name="adj2" fmla="val 10478953"/>
            </a:avLst>
          </a:prstGeom>
          <a:noFill/>
          <a:ln w="19050" cap="flat" cmpd="sng" algn="ctr">
            <a:solidFill>
              <a:srgbClr val="C00000"/>
            </a:solidFill>
            <a:prstDash val="solid"/>
            <a:round/>
            <a:headEnd type="none" w="med" len="med"/>
            <a:tailEnd type="triangle" w="med" len="med"/>
          </a:ln>
          <a:effectLst/>
        </p:spPr>
        <p:txBody>
          <a:bodyPr rtlCol="0" anchor="ctr"/>
          <a:lstStyle/>
          <a:p>
            <a:pPr algn="ctr"/>
            <a:endParaRPr lang="en-US"/>
          </a:p>
        </p:txBody>
      </p:sp>
    </p:spTree>
    <p:extLst>
      <p:ext uri="{BB962C8B-B14F-4D97-AF65-F5344CB8AC3E}">
        <p14:creationId xmlns:p14="http://schemas.microsoft.com/office/powerpoint/2010/main" val="332642184"/>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Searching Vendors: “Pending Creates”</a:t>
            </a:r>
            <a:endParaRPr lang="en-US" dirty="0"/>
          </a:p>
        </p:txBody>
      </p:sp>
      <p:sp>
        <p:nvSpPr>
          <p:cNvPr id="3" name="Content Placeholder 2"/>
          <p:cNvSpPr>
            <a:spLocks noGrp="1"/>
          </p:cNvSpPr>
          <p:nvPr>
            <p:ph idx="1"/>
          </p:nvPr>
        </p:nvSpPr>
        <p:spPr>
          <a:xfrm>
            <a:off x="5153285" y="551782"/>
            <a:ext cx="3684328" cy="5486400"/>
          </a:xfrm>
        </p:spPr>
        <p:txBody>
          <a:bodyPr/>
          <a:lstStyle/>
          <a:p>
            <a:r>
              <a:rPr lang="en-US" dirty="0" smtClean="0"/>
              <a:t>Vendor Contacts may be added to a Claim by any ClaimCenter user</a:t>
            </a:r>
          </a:p>
          <a:p>
            <a:pPr lvl="1"/>
            <a:r>
              <a:rPr lang="en-US" sz="2000" dirty="0" smtClean="0"/>
              <a:t>When users without “</a:t>
            </a:r>
            <a:r>
              <a:rPr lang="en-US" sz="2000" dirty="0" err="1" smtClean="0"/>
              <a:t>abcreate</a:t>
            </a:r>
            <a:r>
              <a:rPr lang="en-US" sz="2000" dirty="0" smtClean="0"/>
              <a:t>” permissions add a vendor, those vendors will be in a “pending” state</a:t>
            </a:r>
          </a:p>
          <a:p>
            <a:pPr lvl="1"/>
            <a:r>
              <a:rPr lang="en-US" sz="2000" dirty="0" smtClean="0"/>
              <a:t>“Pending” contacts may be approved or rejected by a vendor manager user in the Address Book</a:t>
            </a:r>
          </a:p>
          <a:p>
            <a:pPr lvl="1"/>
            <a:r>
              <a:rPr lang="en-US" sz="2000" dirty="0" smtClean="0"/>
              <a:t>These pending Contacts are immediately linked and in sync and are searchable in the Address Book just like any other AB Contact</a:t>
            </a:r>
          </a:p>
          <a:p>
            <a:pPr lvl="1"/>
            <a:endParaRPr lang="en-US" dirty="0"/>
          </a:p>
        </p:txBody>
      </p:sp>
      <p:pic>
        <p:nvPicPr>
          <p:cNvPr id="5" name="Picture 2" descr="C:\Users\trhoades\AppData\Local\Temp\SNAGHTML2dc671e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810" y="548010"/>
            <a:ext cx="4943475" cy="3905251"/>
          </a:xfrm>
          <a:prstGeom prst="rect">
            <a:avLst/>
          </a:prstGeom>
          <a:noFill/>
          <a:extLst>
            <a:ext uri="{909E8E84-426E-40DD-AFC4-6F175D3DCCD1}">
              <a14:hiddenFill xmlns:a14="http://schemas.microsoft.com/office/drawing/2010/main">
                <a:solidFill>
                  <a:srgbClr val="FFFFFF"/>
                </a:solidFill>
              </a14:hiddenFill>
            </a:ext>
          </a:extLst>
        </p:spPr>
      </p:pic>
      <p:sp>
        <p:nvSpPr>
          <p:cNvPr id="6" name="AutoShape 33"/>
          <p:cNvSpPr>
            <a:spLocks noChangeArrowheads="1"/>
          </p:cNvSpPr>
          <p:nvPr/>
        </p:nvSpPr>
        <p:spPr bwMode="auto">
          <a:xfrm>
            <a:off x="209810" y="1805579"/>
            <a:ext cx="1794343" cy="245339"/>
          </a:xfrm>
          <a:prstGeom prst="roundRect">
            <a:avLst>
              <a:gd name="adj" fmla="val 16667"/>
            </a:avLst>
          </a:prstGeom>
          <a:noFill/>
          <a:ln w="190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7" name="AutoShape 33"/>
          <p:cNvSpPr>
            <a:spLocks noChangeArrowheads="1"/>
          </p:cNvSpPr>
          <p:nvPr/>
        </p:nvSpPr>
        <p:spPr bwMode="auto">
          <a:xfrm>
            <a:off x="2408508" y="3697441"/>
            <a:ext cx="1359451" cy="755820"/>
          </a:xfrm>
          <a:prstGeom prst="roundRect">
            <a:avLst>
              <a:gd name="adj" fmla="val 16667"/>
            </a:avLst>
          </a:prstGeom>
          <a:noFill/>
          <a:ln w="190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8" name="TextBox 7"/>
          <p:cNvSpPr txBox="1"/>
          <p:nvPr/>
        </p:nvSpPr>
        <p:spPr>
          <a:xfrm>
            <a:off x="2738180" y="1928248"/>
            <a:ext cx="2595845" cy="1015663"/>
          </a:xfrm>
          <a:prstGeom prst="rect">
            <a:avLst/>
          </a:prstGeom>
          <a:noFill/>
          <a:ln>
            <a:noFill/>
          </a:ln>
        </p:spPr>
        <p:txBody>
          <a:bodyPr wrap="square" rtlCol="0">
            <a:spAutoFit/>
          </a:bodyPr>
          <a:lstStyle/>
          <a:p>
            <a:r>
              <a:rPr lang="en-US" sz="2000" dirty="0" smtClean="0">
                <a:solidFill>
                  <a:srgbClr val="C00000"/>
                </a:solidFill>
                <a:latin typeface="Calibri" pitchFamily="34" charset="0"/>
                <a:cs typeface="Calibri" pitchFamily="34" charset="0"/>
              </a:rPr>
              <a:t>Search all types of newly created “pending” vendors</a:t>
            </a:r>
          </a:p>
        </p:txBody>
      </p:sp>
      <p:cxnSp>
        <p:nvCxnSpPr>
          <p:cNvPr id="9" name="Straight Arrow Connector 8"/>
          <p:cNvCxnSpPr>
            <a:endCxn id="6" idx="3"/>
          </p:cNvCxnSpPr>
          <p:nvPr/>
        </p:nvCxnSpPr>
        <p:spPr bwMode="auto">
          <a:xfrm flipH="1" flipV="1">
            <a:off x="2004153" y="1928249"/>
            <a:ext cx="1084080" cy="122669"/>
          </a:xfrm>
          <a:prstGeom prst="straightConnector1">
            <a:avLst/>
          </a:prstGeom>
          <a:noFill/>
          <a:ln w="19050" cap="flat" cmpd="sng" algn="ctr">
            <a:solidFill>
              <a:srgbClr val="FF0000"/>
            </a:solidFill>
            <a:prstDash val="solid"/>
            <a:round/>
            <a:headEnd type="none" w="med" len="med"/>
            <a:tailEnd type="arrow"/>
          </a:ln>
          <a:effectLst/>
        </p:spPr>
      </p:cxnSp>
      <p:sp>
        <p:nvSpPr>
          <p:cNvPr id="11" name="AutoShape 33"/>
          <p:cNvSpPr>
            <a:spLocks noChangeArrowheads="1"/>
          </p:cNvSpPr>
          <p:nvPr/>
        </p:nvSpPr>
        <p:spPr bwMode="auto">
          <a:xfrm>
            <a:off x="1511336" y="1264296"/>
            <a:ext cx="1794343" cy="245339"/>
          </a:xfrm>
          <a:prstGeom prst="roundRect">
            <a:avLst>
              <a:gd name="adj" fmla="val 16667"/>
            </a:avLst>
          </a:prstGeom>
          <a:noFill/>
          <a:ln w="190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cxnSp>
        <p:nvCxnSpPr>
          <p:cNvPr id="12" name="Straight Arrow Connector 11"/>
          <p:cNvCxnSpPr/>
          <p:nvPr/>
        </p:nvCxnSpPr>
        <p:spPr bwMode="auto">
          <a:xfrm flipH="1" flipV="1">
            <a:off x="2738181" y="1509635"/>
            <a:ext cx="350052" cy="541283"/>
          </a:xfrm>
          <a:prstGeom prst="straightConnector1">
            <a:avLst/>
          </a:prstGeom>
          <a:noFill/>
          <a:ln w="19050" cap="flat" cmpd="sng" algn="ctr">
            <a:solidFill>
              <a:srgbClr val="FF0000"/>
            </a:solidFill>
            <a:prstDash val="solid"/>
            <a:round/>
            <a:headEnd type="none" w="med" len="med"/>
            <a:tailEnd type="arrow"/>
          </a:ln>
          <a:effectLst/>
        </p:spPr>
      </p:cxn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809" y="4658213"/>
            <a:ext cx="5124216" cy="1834383"/>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Lst>
        </p:spPr>
      </p:pic>
      <p:sp>
        <p:nvSpPr>
          <p:cNvPr id="16" name="AutoShape 33"/>
          <p:cNvSpPr>
            <a:spLocks noChangeArrowheads="1"/>
          </p:cNvSpPr>
          <p:nvPr/>
        </p:nvSpPr>
        <p:spPr bwMode="auto">
          <a:xfrm>
            <a:off x="2681547" y="5330065"/>
            <a:ext cx="897171" cy="245339"/>
          </a:xfrm>
          <a:prstGeom prst="roundRect">
            <a:avLst>
              <a:gd name="adj" fmla="val 16667"/>
            </a:avLst>
          </a:prstGeom>
          <a:noFill/>
          <a:ln w="190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grpSp>
        <p:nvGrpSpPr>
          <p:cNvPr id="17" name="Group 7"/>
          <p:cNvGrpSpPr>
            <a:grpSpLocks/>
          </p:cNvGrpSpPr>
          <p:nvPr/>
        </p:nvGrpSpPr>
        <p:grpSpPr bwMode="auto">
          <a:xfrm>
            <a:off x="4243849" y="4482771"/>
            <a:ext cx="1109662" cy="969963"/>
            <a:chOff x="1305" y="2500"/>
            <a:chExt cx="1138" cy="995"/>
          </a:xfrm>
        </p:grpSpPr>
        <p:sp>
          <p:nvSpPr>
            <p:cNvPr id="18" name="Freeform 8"/>
            <p:cNvSpPr>
              <a:spLocks/>
            </p:cNvSpPr>
            <p:nvPr/>
          </p:nvSpPr>
          <p:spPr bwMode="auto">
            <a:xfrm>
              <a:off x="1305" y="2500"/>
              <a:ext cx="1138" cy="995"/>
            </a:xfrm>
            <a:custGeom>
              <a:avLst/>
              <a:gdLst>
                <a:gd name="T0" fmla="*/ 444 w 1138"/>
                <a:gd name="T1" fmla="*/ 1 h 995"/>
                <a:gd name="T2" fmla="*/ 490 w 1138"/>
                <a:gd name="T3" fmla="*/ 0 h 995"/>
                <a:gd name="T4" fmla="*/ 532 w 1138"/>
                <a:gd name="T5" fmla="*/ 10 h 995"/>
                <a:gd name="T6" fmla="*/ 600 w 1138"/>
                <a:gd name="T7" fmla="*/ 40 h 995"/>
                <a:gd name="T8" fmla="*/ 668 w 1138"/>
                <a:gd name="T9" fmla="*/ 66 h 995"/>
                <a:gd name="T10" fmla="*/ 737 w 1138"/>
                <a:gd name="T11" fmla="*/ 85 h 995"/>
                <a:gd name="T12" fmla="*/ 808 w 1138"/>
                <a:gd name="T13" fmla="*/ 101 h 995"/>
                <a:gd name="T14" fmla="*/ 882 w 1138"/>
                <a:gd name="T15" fmla="*/ 111 h 995"/>
                <a:gd name="T16" fmla="*/ 953 w 1138"/>
                <a:gd name="T17" fmla="*/ 125 h 995"/>
                <a:gd name="T18" fmla="*/ 1011 w 1138"/>
                <a:gd name="T19" fmla="*/ 163 h 995"/>
                <a:gd name="T20" fmla="*/ 1036 w 1138"/>
                <a:gd name="T21" fmla="*/ 228 h 995"/>
                <a:gd name="T22" fmla="*/ 1082 w 1138"/>
                <a:gd name="T23" fmla="*/ 252 h 995"/>
                <a:gd name="T24" fmla="*/ 1120 w 1138"/>
                <a:gd name="T25" fmla="*/ 287 h 995"/>
                <a:gd name="T26" fmla="*/ 1137 w 1138"/>
                <a:gd name="T27" fmla="*/ 342 h 995"/>
                <a:gd name="T28" fmla="*/ 1134 w 1138"/>
                <a:gd name="T29" fmla="*/ 405 h 995"/>
                <a:gd name="T30" fmla="*/ 1111 w 1138"/>
                <a:gd name="T31" fmla="*/ 463 h 995"/>
                <a:gd name="T32" fmla="*/ 1068 w 1138"/>
                <a:gd name="T33" fmla="*/ 515 h 995"/>
                <a:gd name="T34" fmla="*/ 1026 w 1138"/>
                <a:gd name="T35" fmla="*/ 568 h 995"/>
                <a:gd name="T36" fmla="*/ 984 w 1138"/>
                <a:gd name="T37" fmla="*/ 627 h 995"/>
                <a:gd name="T38" fmla="*/ 965 w 1138"/>
                <a:gd name="T39" fmla="*/ 646 h 995"/>
                <a:gd name="T40" fmla="*/ 947 w 1138"/>
                <a:gd name="T41" fmla="*/ 664 h 995"/>
                <a:gd name="T42" fmla="*/ 918 w 1138"/>
                <a:gd name="T43" fmla="*/ 712 h 995"/>
                <a:gd name="T44" fmla="*/ 864 w 1138"/>
                <a:gd name="T45" fmla="*/ 796 h 995"/>
                <a:gd name="T46" fmla="*/ 802 w 1138"/>
                <a:gd name="T47" fmla="*/ 881 h 995"/>
                <a:gd name="T48" fmla="*/ 763 w 1138"/>
                <a:gd name="T49" fmla="*/ 927 h 995"/>
                <a:gd name="T50" fmla="*/ 741 w 1138"/>
                <a:gd name="T51" fmla="*/ 950 h 995"/>
                <a:gd name="T52" fmla="*/ 715 w 1138"/>
                <a:gd name="T53" fmla="*/ 963 h 995"/>
                <a:gd name="T54" fmla="*/ 670 w 1138"/>
                <a:gd name="T55" fmla="*/ 975 h 995"/>
                <a:gd name="T56" fmla="*/ 627 w 1138"/>
                <a:gd name="T57" fmla="*/ 985 h 995"/>
                <a:gd name="T58" fmla="*/ 584 w 1138"/>
                <a:gd name="T59" fmla="*/ 993 h 995"/>
                <a:gd name="T60" fmla="*/ 543 w 1138"/>
                <a:gd name="T61" fmla="*/ 995 h 995"/>
                <a:gd name="T62" fmla="*/ 500 w 1138"/>
                <a:gd name="T63" fmla="*/ 988 h 995"/>
                <a:gd name="T64" fmla="*/ 464 w 1138"/>
                <a:gd name="T65" fmla="*/ 975 h 995"/>
                <a:gd name="T66" fmla="*/ 421 w 1138"/>
                <a:gd name="T67" fmla="*/ 953 h 995"/>
                <a:gd name="T68" fmla="*/ 369 w 1138"/>
                <a:gd name="T69" fmla="*/ 925 h 995"/>
                <a:gd name="T70" fmla="*/ 317 w 1138"/>
                <a:gd name="T71" fmla="*/ 899 h 995"/>
                <a:gd name="T72" fmla="*/ 275 w 1138"/>
                <a:gd name="T73" fmla="*/ 878 h 995"/>
                <a:gd name="T74" fmla="*/ 219 w 1138"/>
                <a:gd name="T75" fmla="*/ 861 h 995"/>
                <a:gd name="T76" fmla="*/ 151 w 1138"/>
                <a:gd name="T77" fmla="*/ 851 h 995"/>
                <a:gd name="T78" fmla="*/ 86 w 1138"/>
                <a:gd name="T79" fmla="*/ 827 h 995"/>
                <a:gd name="T80" fmla="*/ 18 w 1138"/>
                <a:gd name="T81" fmla="*/ 764 h 995"/>
                <a:gd name="T82" fmla="*/ 0 w 1138"/>
                <a:gd name="T83" fmla="*/ 678 h 995"/>
                <a:gd name="T84" fmla="*/ 15 w 1138"/>
                <a:gd name="T85" fmla="*/ 590 h 995"/>
                <a:gd name="T86" fmla="*/ 52 w 1138"/>
                <a:gd name="T87" fmla="*/ 520 h 995"/>
                <a:gd name="T88" fmla="*/ 110 w 1138"/>
                <a:gd name="T89" fmla="*/ 462 h 995"/>
                <a:gd name="T90" fmla="*/ 166 w 1138"/>
                <a:gd name="T91" fmla="*/ 392 h 995"/>
                <a:gd name="T92" fmla="*/ 217 w 1138"/>
                <a:gd name="T93" fmla="*/ 316 h 995"/>
                <a:gd name="T94" fmla="*/ 263 w 1138"/>
                <a:gd name="T95" fmla="*/ 239 h 995"/>
                <a:gd name="T96" fmla="*/ 308 w 1138"/>
                <a:gd name="T97" fmla="*/ 156 h 995"/>
                <a:gd name="T98" fmla="*/ 365 w 1138"/>
                <a:gd name="T99" fmla="*/ 58 h 995"/>
                <a:gd name="T100" fmla="*/ 413 w 1138"/>
                <a:gd name="T101" fmla="*/ 5 h 99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38"/>
                <a:gd name="T154" fmla="*/ 0 h 995"/>
                <a:gd name="T155" fmla="*/ 1138 w 1138"/>
                <a:gd name="T156" fmla="*/ 995 h 99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38" h="995">
                  <a:moveTo>
                    <a:pt x="413" y="5"/>
                  </a:moveTo>
                  <a:lnTo>
                    <a:pt x="429" y="2"/>
                  </a:lnTo>
                  <a:lnTo>
                    <a:pt x="444" y="1"/>
                  </a:lnTo>
                  <a:lnTo>
                    <a:pt x="460" y="0"/>
                  </a:lnTo>
                  <a:lnTo>
                    <a:pt x="475" y="0"/>
                  </a:lnTo>
                  <a:lnTo>
                    <a:pt x="490" y="0"/>
                  </a:lnTo>
                  <a:lnTo>
                    <a:pt x="504" y="2"/>
                  </a:lnTo>
                  <a:lnTo>
                    <a:pt x="518" y="5"/>
                  </a:lnTo>
                  <a:lnTo>
                    <a:pt x="532" y="10"/>
                  </a:lnTo>
                  <a:lnTo>
                    <a:pt x="554" y="20"/>
                  </a:lnTo>
                  <a:lnTo>
                    <a:pt x="578" y="31"/>
                  </a:lnTo>
                  <a:lnTo>
                    <a:pt x="600" y="40"/>
                  </a:lnTo>
                  <a:lnTo>
                    <a:pt x="623" y="49"/>
                  </a:lnTo>
                  <a:lnTo>
                    <a:pt x="645" y="57"/>
                  </a:lnTo>
                  <a:lnTo>
                    <a:pt x="668" y="66"/>
                  </a:lnTo>
                  <a:lnTo>
                    <a:pt x="692" y="72"/>
                  </a:lnTo>
                  <a:lnTo>
                    <a:pt x="714" y="79"/>
                  </a:lnTo>
                  <a:lnTo>
                    <a:pt x="737" y="85"/>
                  </a:lnTo>
                  <a:lnTo>
                    <a:pt x="760" y="92"/>
                  </a:lnTo>
                  <a:lnTo>
                    <a:pt x="785" y="97"/>
                  </a:lnTo>
                  <a:lnTo>
                    <a:pt x="808" y="101"/>
                  </a:lnTo>
                  <a:lnTo>
                    <a:pt x="833" y="105"/>
                  </a:lnTo>
                  <a:lnTo>
                    <a:pt x="857" y="108"/>
                  </a:lnTo>
                  <a:lnTo>
                    <a:pt x="882" y="111"/>
                  </a:lnTo>
                  <a:lnTo>
                    <a:pt x="906" y="114"/>
                  </a:lnTo>
                  <a:lnTo>
                    <a:pt x="930" y="119"/>
                  </a:lnTo>
                  <a:lnTo>
                    <a:pt x="953" y="125"/>
                  </a:lnTo>
                  <a:lnTo>
                    <a:pt x="975" y="136"/>
                  </a:lnTo>
                  <a:lnTo>
                    <a:pt x="994" y="147"/>
                  </a:lnTo>
                  <a:lnTo>
                    <a:pt x="1011" y="163"/>
                  </a:lnTo>
                  <a:lnTo>
                    <a:pt x="1024" y="181"/>
                  </a:lnTo>
                  <a:lnTo>
                    <a:pt x="1033" y="202"/>
                  </a:lnTo>
                  <a:lnTo>
                    <a:pt x="1036" y="228"/>
                  </a:lnTo>
                  <a:lnTo>
                    <a:pt x="1051" y="235"/>
                  </a:lnTo>
                  <a:lnTo>
                    <a:pt x="1067" y="243"/>
                  </a:lnTo>
                  <a:lnTo>
                    <a:pt x="1082" y="252"/>
                  </a:lnTo>
                  <a:lnTo>
                    <a:pt x="1097" y="263"/>
                  </a:lnTo>
                  <a:lnTo>
                    <a:pt x="1110" y="274"/>
                  </a:lnTo>
                  <a:lnTo>
                    <a:pt x="1120" y="287"/>
                  </a:lnTo>
                  <a:lnTo>
                    <a:pt x="1129" y="303"/>
                  </a:lnTo>
                  <a:lnTo>
                    <a:pt x="1134" y="321"/>
                  </a:lnTo>
                  <a:lnTo>
                    <a:pt x="1137" y="342"/>
                  </a:lnTo>
                  <a:lnTo>
                    <a:pt x="1138" y="364"/>
                  </a:lnTo>
                  <a:lnTo>
                    <a:pt x="1137" y="384"/>
                  </a:lnTo>
                  <a:lnTo>
                    <a:pt x="1134" y="405"/>
                  </a:lnTo>
                  <a:lnTo>
                    <a:pt x="1128" y="426"/>
                  </a:lnTo>
                  <a:lnTo>
                    <a:pt x="1120" y="445"/>
                  </a:lnTo>
                  <a:lnTo>
                    <a:pt x="1111" y="463"/>
                  </a:lnTo>
                  <a:lnTo>
                    <a:pt x="1098" y="482"/>
                  </a:lnTo>
                  <a:lnTo>
                    <a:pt x="1082" y="498"/>
                  </a:lnTo>
                  <a:lnTo>
                    <a:pt x="1068" y="515"/>
                  </a:lnTo>
                  <a:lnTo>
                    <a:pt x="1053" y="533"/>
                  </a:lnTo>
                  <a:lnTo>
                    <a:pt x="1040" y="550"/>
                  </a:lnTo>
                  <a:lnTo>
                    <a:pt x="1026" y="568"/>
                  </a:lnTo>
                  <a:lnTo>
                    <a:pt x="1011" y="586"/>
                  </a:lnTo>
                  <a:lnTo>
                    <a:pt x="998" y="606"/>
                  </a:lnTo>
                  <a:lnTo>
                    <a:pt x="984" y="627"/>
                  </a:lnTo>
                  <a:lnTo>
                    <a:pt x="978" y="634"/>
                  </a:lnTo>
                  <a:lnTo>
                    <a:pt x="971" y="641"/>
                  </a:lnTo>
                  <a:lnTo>
                    <a:pt x="965" y="646"/>
                  </a:lnTo>
                  <a:lnTo>
                    <a:pt x="960" y="653"/>
                  </a:lnTo>
                  <a:lnTo>
                    <a:pt x="953" y="659"/>
                  </a:lnTo>
                  <a:lnTo>
                    <a:pt x="947" y="664"/>
                  </a:lnTo>
                  <a:lnTo>
                    <a:pt x="941" y="671"/>
                  </a:lnTo>
                  <a:lnTo>
                    <a:pt x="938" y="678"/>
                  </a:lnTo>
                  <a:lnTo>
                    <a:pt x="918" y="712"/>
                  </a:lnTo>
                  <a:lnTo>
                    <a:pt x="900" y="742"/>
                  </a:lnTo>
                  <a:lnTo>
                    <a:pt x="882" y="770"/>
                  </a:lnTo>
                  <a:lnTo>
                    <a:pt x="864" y="796"/>
                  </a:lnTo>
                  <a:lnTo>
                    <a:pt x="844" y="824"/>
                  </a:lnTo>
                  <a:lnTo>
                    <a:pt x="824" y="851"/>
                  </a:lnTo>
                  <a:lnTo>
                    <a:pt x="802" y="881"/>
                  </a:lnTo>
                  <a:lnTo>
                    <a:pt x="777" y="912"/>
                  </a:lnTo>
                  <a:lnTo>
                    <a:pt x="769" y="919"/>
                  </a:lnTo>
                  <a:lnTo>
                    <a:pt x="763" y="927"/>
                  </a:lnTo>
                  <a:lnTo>
                    <a:pt x="755" y="936"/>
                  </a:lnTo>
                  <a:lnTo>
                    <a:pt x="749" y="943"/>
                  </a:lnTo>
                  <a:lnTo>
                    <a:pt x="741" y="950"/>
                  </a:lnTo>
                  <a:lnTo>
                    <a:pt x="733" y="956"/>
                  </a:lnTo>
                  <a:lnTo>
                    <a:pt x="724" y="961"/>
                  </a:lnTo>
                  <a:lnTo>
                    <a:pt x="715" y="963"/>
                  </a:lnTo>
                  <a:lnTo>
                    <a:pt x="699" y="967"/>
                  </a:lnTo>
                  <a:lnTo>
                    <a:pt x="684" y="971"/>
                  </a:lnTo>
                  <a:lnTo>
                    <a:pt x="670" y="975"/>
                  </a:lnTo>
                  <a:lnTo>
                    <a:pt x="655" y="979"/>
                  </a:lnTo>
                  <a:lnTo>
                    <a:pt x="641" y="983"/>
                  </a:lnTo>
                  <a:lnTo>
                    <a:pt x="627" y="985"/>
                  </a:lnTo>
                  <a:lnTo>
                    <a:pt x="613" y="989"/>
                  </a:lnTo>
                  <a:lnTo>
                    <a:pt x="598" y="991"/>
                  </a:lnTo>
                  <a:lnTo>
                    <a:pt x="584" y="993"/>
                  </a:lnTo>
                  <a:lnTo>
                    <a:pt x="570" y="995"/>
                  </a:lnTo>
                  <a:lnTo>
                    <a:pt x="557" y="995"/>
                  </a:lnTo>
                  <a:lnTo>
                    <a:pt x="543" y="995"/>
                  </a:lnTo>
                  <a:lnTo>
                    <a:pt x="528" y="993"/>
                  </a:lnTo>
                  <a:lnTo>
                    <a:pt x="514" y="992"/>
                  </a:lnTo>
                  <a:lnTo>
                    <a:pt x="500" y="988"/>
                  </a:lnTo>
                  <a:lnTo>
                    <a:pt x="486" y="984"/>
                  </a:lnTo>
                  <a:lnTo>
                    <a:pt x="475" y="980"/>
                  </a:lnTo>
                  <a:lnTo>
                    <a:pt x="464" y="975"/>
                  </a:lnTo>
                  <a:lnTo>
                    <a:pt x="451" y="969"/>
                  </a:lnTo>
                  <a:lnTo>
                    <a:pt x="437" y="961"/>
                  </a:lnTo>
                  <a:lnTo>
                    <a:pt x="421" y="953"/>
                  </a:lnTo>
                  <a:lnTo>
                    <a:pt x="404" y="944"/>
                  </a:lnTo>
                  <a:lnTo>
                    <a:pt x="386" y="935"/>
                  </a:lnTo>
                  <a:lnTo>
                    <a:pt x="369" y="925"/>
                  </a:lnTo>
                  <a:lnTo>
                    <a:pt x="352" y="915"/>
                  </a:lnTo>
                  <a:lnTo>
                    <a:pt x="334" y="906"/>
                  </a:lnTo>
                  <a:lnTo>
                    <a:pt x="317" y="899"/>
                  </a:lnTo>
                  <a:lnTo>
                    <a:pt x="302" y="890"/>
                  </a:lnTo>
                  <a:lnTo>
                    <a:pt x="288" y="883"/>
                  </a:lnTo>
                  <a:lnTo>
                    <a:pt x="275" y="878"/>
                  </a:lnTo>
                  <a:lnTo>
                    <a:pt x="263" y="873"/>
                  </a:lnTo>
                  <a:lnTo>
                    <a:pt x="253" y="870"/>
                  </a:lnTo>
                  <a:lnTo>
                    <a:pt x="219" y="861"/>
                  </a:lnTo>
                  <a:lnTo>
                    <a:pt x="193" y="856"/>
                  </a:lnTo>
                  <a:lnTo>
                    <a:pt x="170" y="853"/>
                  </a:lnTo>
                  <a:lnTo>
                    <a:pt x="151" y="851"/>
                  </a:lnTo>
                  <a:lnTo>
                    <a:pt x="131" y="847"/>
                  </a:lnTo>
                  <a:lnTo>
                    <a:pt x="110" y="839"/>
                  </a:lnTo>
                  <a:lnTo>
                    <a:pt x="86" y="827"/>
                  </a:lnTo>
                  <a:lnTo>
                    <a:pt x="56" y="808"/>
                  </a:lnTo>
                  <a:lnTo>
                    <a:pt x="34" y="789"/>
                  </a:lnTo>
                  <a:lnTo>
                    <a:pt x="18" y="764"/>
                  </a:lnTo>
                  <a:lnTo>
                    <a:pt x="8" y="738"/>
                  </a:lnTo>
                  <a:lnTo>
                    <a:pt x="3" y="708"/>
                  </a:lnTo>
                  <a:lnTo>
                    <a:pt x="0" y="678"/>
                  </a:lnTo>
                  <a:lnTo>
                    <a:pt x="3" y="649"/>
                  </a:lnTo>
                  <a:lnTo>
                    <a:pt x="8" y="619"/>
                  </a:lnTo>
                  <a:lnTo>
                    <a:pt x="15" y="590"/>
                  </a:lnTo>
                  <a:lnTo>
                    <a:pt x="22" y="564"/>
                  </a:lnTo>
                  <a:lnTo>
                    <a:pt x="35" y="541"/>
                  </a:lnTo>
                  <a:lnTo>
                    <a:pt x="52" y="520"/>
                  </a:lnTo>
                  <a:lnTo>
                    <a:pt x="70" y="501"/>
                  </a:lnTo>
                  <a:lnTo>
                    <a:pt x="90" y="482"/>
                  </a:lnTo>
                  <a:lnTo>
                    <a:pt x="110" y="462"/>
                  </a:lnTo>
                  <a:lnTo>
                    <a:pt x="131" y="441"/>
                  </a:lnTo>
                  <a:lnTo>
                    <a:pt x="149" y="419"/>
                  </a:lnTo>
                  <a:lnTo>
                    <a:pt x="166" y="392"/>
                  </a:lnTo>
                  <a:lnTo>
                    <a:pt x="183" y="366"/>
                  </a:lnTo>
                  <a:lnTo>
                    <a:pt x="200" y="342"/>
                  </a:lnTo>
                  <a:lnTo>
                    <a:pt x="217" y="316"/>
                  </a:lnTo>
                  <a:lnTo>
                    <a:pt x="232" y="290"/>
                  </a:lnTo>
                  <a:lnTo>
                    <a:pt x="248" y="265"/>
                  </a:lnTo>
                  <a:lnTo>
                    <a:pt x="263" y="239"/>
                  </a:lnTo>
                  <a:lnTo>
                    <a:pt x="279" y="212"/>
                  </a:lnTo>
                  <a:lnTo>
                    <a:pt x="292" y="187"/>
                  </a:lnTo>
                  <a:lnTo>
                    <a:pt x="308" y="156"/>
                  </a:lnTo>
                  <a:lnTo>
                    <a:pt x="327" y="123"/>
                  </a:lnTo>
                  <a:lnTo>
                    <a:pt x="346" y="89"/>
                  </a:lnTo>
                  <a:lnTo>
                    <a:pt x="365" y="58"/>
                  </a:lnTo>
                  <a:lnTo>
                    <a:pt x="384" y="31"/>
                  </a:lnTo>
                  <a:lnTo>
                    <a:pt x="400" y="13"/>
                  </a:lnTo>
                  <a:lnTo>
                    <a:pt x="413" y="5"/>
                  </a:lnTo>
                  <a:close/>
                </a:path>
              </a:pathLst>
            </a:custGeom>
            <a:solidFill>
              <a:srgbClr val="FFFFD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 name="Freeform 9"/>
            <p:cNvSpPr>
              <a:spLocks/>
            </p:cNvSpPr>
            <p:nvPr/>
          </p:nvSpPr>
          <p:spPr bwMode="auto">
            <a:xfrm>
              <a:off x="1356" y="2554"/>
              <a:ext cx="1055" cy="891"/>
            </a:xfrm>
            <a:custGeom>
              <a:avLst/>
              <a:gdLst>
                <a:gd name="T0" fmla="*/ 1013 w 1055"/>
                <a:gd name="T1" fmla="*/ 247 h 891"/>
                <a:gd name="T2" fmla="*/ 1007 w 1055"/>
                <a:gd name="T3" fmla="*/ 242 h 891"/>
                <a:gd name="T4" fmla="*/ 986 w 1055"/>
                <a:gd name="T5" fmla="*/ 227 h 891"/>
                <a:gd name="T6" fmla="*/ 963 w 1055"/>
                <a:gd name="T7" fmla="*/ 215 h 891"/>
                <a:gd name="T8" fmla="*/ 962 w 1055"/>
                <a:gd name="T9" fmla="*/ 189 h 891"/>
                <a:gd name="T10" fmla="*/ 947 w 1055"/>
                <a:gd name="T11" fmla="*/ 157 h 891"/>
                <a:gd name="T12" fmla="*/ 918 w 1055"/>
                <a:gd name="T13" fmla="*/ 145 h 891"/>
                <a:gd name="T14" fmla="*/ 861 w 1055"/>
                <a:gd name="T15" fmla="*/ 131 h 891"/>
                <a:gd name="T16" fmla="*/ 804 w 1055"/>
                <a:gd name="T17" fmla="*/ 118 h 891"/>
                <a:gd name="T18" fmla="*/ 749 w 1055"/>
                <a:gd name="T19" fmla="*/ 105 h 891"/>
                <a:gd name="T20" fmla="*/ 707 w 1055"/>
                <a:gd name="T21" fmla="*/ 95 h 891"/>
                <a:gd name="T22" fmla="*/ 665 w 1055"/>
                <a:gd name="T23" fmla="*/ 82 h 891"/>
                <a:gd name="T24" fmla="*/ 622 w 1055"/>
                <a:gd name="T25" fmla="*/ 65 h 891"/>
                <a:gd name="T26" fmla="*/ 572 w 1055"/>
                <a:gd name="T27" fmla="*/ 43 h 891"/>
                <a:gd name="T28" fmla="*/ 516 w 1055"/>
                <a:gd name="T29" fmla="*/ 21 h 891"/>
                <a:gd name="T30" fmla="*/ 465 w 1055"/>
                <a:gd name="T31" fmla="*/ 5 h 891"/>
                <a:gd name="T32" fmla="*/ 423 w 1055"/>
                <a:gd name="T33" fmla="*/ 0 h 891"/>
                <a:gd name="T34" fmla="*/ 387 w 1055"/>
                <a:gd name="T35" fmla="*/ 18 h 891"/>
                <a:gd name="T36" fmla="*/ 343 w 1055"/>
                <a:gd name="T37" fmla="*/ 69 h 891"/>
                <a:gd name="T38" fmla="*/ 304 w 1055"/>
                <a:gd name="T39" fmla="*/ 124 h 891"/>
                <a:gd name="T40" fmla="*/ 266 w 1055"/>
                <a:gd name="T41" fmla="*/ 175 h 891"/>
                <a:gd name="T42" fmla="*/ 230 w 1055"/>
                <a:gd name="T43" fmla="*/ 223 h 891"/>
                <a:gd name="T44" fmla="*/ 198 w 1055"/>
                <a:gd name="T45" fmla="*/ 273 h 891"/>
                <a:gd name="T46" fmla="*/ 127 w 1055"/>
                <a:gd name="T47" fmla="*/ 384 h 891"/>
                <a:gd name="T48" fmla="*/ 36 w 1055"/>
                <a:gd name="T49" fmla="*/ 513 h 891"/>
                <a:gd name="T50" fmla="*/ 0 w 1055"/>
                <a:gd name="T51" fmla="*/ 578 h 891"/>
                <a:gd name="T52" fmla="*/ 9 w 1055"/>
                <a:gd name="T53" fmla="*/ 624 h 891"/>
                <a:gd name="T54" fmla="*/ 17 w 1055"/>
                <a:gd name="T55" fmla="*/ 648 h 891"/>
                <a:gd name="T56" fmla="*/ 33 w 1055"/>
                <a:gd name="T57" fmla="*/ 688 h 891"/>
                <a:gd name="T58" fmla="*/ 53 w 1055"/>
                <a:gd name="T59" fmla="*/ 709 h 891"/>
                <a:gd name="T60" fmla="*/ 101 w 1055"/>
                <a:gd name="T61" fmla="*/ 729 h 891"/>
                <a:gd name="T62" fmla="*/ 149 w 1055"/>
                <a:gd name="T63" fmla="*/ 749 h 891"/>
                <a:gd name="T64" fmla="*/ 198 w 1055"/>
                <a:gd name="T65" fmla="*/ 767 h 891"/>
                <a:gd name="T66" fmla="*/ 247 w 1055"/>
                <a:gd name="T67" fmla="*/ 785 h 891"/>
                <a:gd name="T68" fmla="*/ 295 w 1055"/>
                <a:gd name="T69" fmla="*/ 803 h 891"/>
                <a:gd name="T70" fmla="*/ 347 w 1055"/>
                <a:gd name="T71" fmla="*/ 825 h 891"/>
                <a:gd name="T72" fmla="*/ 400 w 1055"/>
                <a:gd name="T73" fmla="*/ 847 h 891"/>
                <a:gd name="T74" fmla="*/ 453 w 1055"/>
                <a:gd name="T75" fmla="*/ 867 h 891"/>
                <a:gd name="T76" fmla="*/ 531 w 1055"/>
                <a:gd name="T77" fmla="*/ 887 h 891"/>
                <a:gd name="T78" fmla="*/ 610 w 1055"/>
                <a:gd name="T79" fmla="*/ 887 h 891"/>
                <a:gd name="T80" fmla="*/ 669 w 1055"/>
                <a:gd name="T81" fmla="*/ 851 h 891"/>
                <a:gd name="T82" fmla="*/ 721 w 1055"/>
                <a:gd name="T83" fmla="*/ 790 h 891"/>
                <a:gd name="T84" fmla="*/ 780 w 1055"/>
                <a:gd name="T85" fmla="*/ 707 h 891"/>
                <a:gd name="T86" fmla="*/ 839 w 1055"/>
                <a:gd name="T87" fmla="*/ 622 h 891"/>
                <a:gd name="T88" fmla="*/ 887 w 1055"/>
                <a:gd name="T89" fmla="*/ 549 h 891"/>
                <a:gd name="T90" fmla="*/ 915 w 1055"/>
                <a:gd name="T91" fmla="*/ 508 h 891"/>
                <a:gd name="T92" fmla="*/ 978 w 1055"/>
                <a:gd name="T93" fmla="*/ 426 h 891"/>
                <a:gd name="T94" fmla="*/ 1038 w 1055"/>
                <a:gd name="T95" fmla="*/ 349 h 891"/>
                <a:gd name="T96" fmla="*/ 1055 w 1055"/>
                <a:gd name="T97" fmla="*/ 312 h 891"/>
                <a:gd name="T98" fmla="*/ 1048 w 1055"/>
                <a:gd name="T99" fmla="*/ 277 h 891"/>
                <a:gd name="T100" fmla="*/ 1025 w 1055"/>
                <a:gd name="T101" fmla="*/ 254 h 8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55"/>
                <a:gd name="T154" fmla="*/ 0 h 891"/>
                <a:gd name="T155" fmla="*/ 1055 w 1055"/>
                <a:gd name="T156" fmla="*/ 891 h 8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55" h="891">
                  <a:moveTo>
                    <a:pt x="1013" y="249"/>
                  </a:moveTo>
                  <a:lnTo>
                    <a:pt x="1013" y="247"/>
                  </a:lnTo>
                  <a:lnTo>
                    <a:pt x="1007" y="242"/>
                  </a:lnTo>
                  <a:lnTo>
                    <a:pt x="1000" y="237"/>
                  </a:lnTo>
                  <a:lnTo>
                    <a:pt x="993" y="232"/>
                  </a:lnTo>
                  <a:lnTo>
                    <a:pt x="986" y="227"/>
                  </a:lnTo>
                  <a:lnTo>
                    <a:pt x="978" y="223"/>
                  </a:lnTo>
                  <a:lnTo>
                    <a:pt x="971" y="219"/>
                  </a:lnTo>
                  <a:lnTo>
                    <a:pt x="963" y="215"/>
                  </a:lnTo>
                  <a:lnTo>
                    <a:pt x="955" y="213"/>
                  </a:lnTo>
                  <a:lnTo>
                    <a:pt x="960" y="201"/>
                  </a:lnTo>
                  <a:lnTo>
                    <a:pt x="962" y="189"/>
                  </a:lnTo>
                  <a:lnTo>
                    <a:pt x="960" y="176"/>
                  </a:lnTo>
                  <a:lnTo>
                    <a:pt x="955" y="165"/>
                  </a:lnTo>
                  <a:lnTo>
                    <a:pt x="947" y="157"/>
                  </a:lnTo>
                  <a:lnTo>
                    <a:pt x="938" y="152"/>
                  </a:lnTo>
                  <a:lnTo>
                    <a:pt x="928" y="148"/>
                  </a:lnTo>
                  <a:lnTo>
                    <a:pt x="918" y="145"/>
                  </a:lnTo>
                  <a:lnTo>
                    <a:pt x="898" y="140"/>
                  </a:lnTo>
                  <a:lnTo>
                    <a:pt x="879" y="135"/>
                  </a:lnTo>
                  <a:lnTo>
                    <a:pt x="861" y="131"/>
                  </a:lnTo>
                  <a:lnTo>
                    <a:pt x="841" y="127"/>
                  </a:lnTo>
                  <a:lnTo>
                    <a:pt x="823" y="122"/>
                  </a:lnTo>
                  <a:lnTo>
                    <a:pt x="804" y="118"/>
                  </a:lnTo>
                  <a:lnTo>
                    <a:pt x="784" y="114"/>
                  </a:lnTo>
                  <a:lnTo>
                    <a:pt x="765" y="109"/>
                  </a:lnTo>
                  <a:lnTo>
                    <a:pt x="749" y="105"/>
                  </a:lnTo>
                  <a:lnTo>
                    <a:pt x="735" y="102"/>
                  </a:lnTo>
                  <a:lnTo>
                    <a:pt x="721" y="99"/>
                  </a:lnTo>
                  <a:lnTo>
                    <a:pt x="707" y="95"/>
                  </a:lnTo>
                  <a:lnTo>
                    <a:pt x="692" y="91"/>
                  </a:lnTo>
                  <a:lnTo>
                    <a:pt x="678" y="87"/>
                  </a:lnTo>
                  <a:lnTo>
                    <a:pt x="665" y="82"/>
                  </a:lnTo>
                  <a:lnTo>
                    <a:pt x="651" y="77"/>
                  </a:lnTo>
                  <a:lnTo>
                    <a:pt x="638" y="71"/>
                  </a:lnTo>
                  <a:lnTo>
                    <a:pt x="622" y="65"/>
                  </a:lnTo>
                  <a:lnTo>
                    <a:pt x="607" y="57"/>
                  </a:lnTo>
                  <a:lnTo>
                    <a:pt x="589" y="51"/>
                  </a:lnTo>
                  <a:lnTo>
                    <a:pt x="572" y="43"/>
                  </a:lnTo>
                  <a:lnTo>
                    <a:pt x="553" y="35"/>
                  </a:lnTo>
                  <a:lnTo>
                    <a:pt x="534" y="29"/>
                  </a:lnTo>
                  <a:lnTo>
                    <a:pt x="516" y="21"/>
                  </a:lnTo>
                  <a:lnTo>
                    <a:pt x="498" y="16"/>
                  </a:lnTo>
                  <a:lnTo>
                    <a:pt x="481" y="10"/>
                  </a:lnTo>
                  <a:lnTo>
                    <a:pt x="465" y="5"/>
                  </a:lnTo>
                  <a:lnTo>
                    <a:pt x="449" y="3"/>
                  </a:lnTo>
                  <a:lnTo>
                    <a:pt x="435" y="0"/>
                  </a:lnTo>
                  <a:lnTo>
                    <a:pt x="423" y="0"/>
                  </a:lnTo>
                  <a:lnTo>
                    <a:pt x="413" y="1"/>
                  </a:lnTo>
                  <a:lnTo>
                    <a:pt x="405" y="5"/>
                  </a:lnTo>
                  <a:lnTo>
                    <a:pt x="387" y="18"/>
                  </a:lnTo>
                  <a:lnTo>
                    <a:pt x="371" y="34"/>
                  </a:lnTo>
                  <a:lnTo>
                    <a:pt x="357" y="51"/>
                  </a:lnTo>
                  <a:lnTo>
                    <a:pt x="343" y="69"/>
                  </a:lnTo>
                  <a:lnTo>
                    <a:pt x="330" y="88"/>
                  </a:lnTo>
                  <a:lnTo>
                    <a:pt x="317" y="106"/>
                  </a:lnTo>
                  <a:lnTo>
                    <a:pt x="304" y="124"/>
                  </a:lnTo>
                  <a:lnTo>
                    <a:pt x="291" y="143"/>
                  </a:lnTo>
                  <a:lnTo>
                    <a:pt x="278" y="159"/>
                  </a:lnTo>
                  <a:lnTo>
                    <a:pt x="266" y="175"/>
                  </a:lnTo>
                  <a:lnTo>
                    <a:pt x="254" y="190"/>
                  </a:lnTo>
                  <a:lnTo>
                    <a:pt x="242" y="206"/>
                  </a:lnTo>
                  <a:lnTo>
                    <a:pt x="230" y="223"/>
                  </a:lnTo>
                  <a:lnTo>
                    <a:pt x="219" y="238"/>
                  </a:lnTo>
                  <a:lnTo>
                    <a:pt x="208" y="255"/>
                  </a:lnTo>
                  <a:lnTo>
                    <a:pt x="198" y="273"/>
                  </a:lnTo>
                  <a:lnTo>
                    <a:pt x="181" y="303"/>
                  </a:lnTo>
                  <a:lnTo>
                    <a:pt x="156" y="341"/>
                  </a:lnTo>
                  <a:lnTo>
                    <a:pt x="127" y="384"/>
                  </a:lnTo>
                  <a:lnTo>
                    <a:pt x="96" y="429"/>
                  </a:lnTo>
                  <a:lnTo>
                    <a:pt x="65" y="473"/>
                  </a:lnTo>
                  <a:lnTo>
                    <a:pt x="36" y="513"/>
                  </a:lnTo>
                  <a:lnTo>
                    <a:pt x="14" y="545"/>
                  </a:lnTo>
                  <a:lnTo>
                    <a:pt x="0" y="567"/>
                  </a:lnTo>
                  <a:lnTo>
                    <a:pt x="0" y="578"/>
                  </a:lnTo>
                  <a:lnTo>
                    <a:pt x="4" y="597"/>
                  </a:lnTo>
                  <a:lnTo>
                    <a:pt x="8" y="615"/>
                  </a:lnTo>
                  <a:lnTo>
                    <a:pt x="9" y="624"/>
                  </a:lnTo>
                  <a:lnTo>
                    <a:pt x="10" y="628"/>
                  </a:lnTo>
                  <a:lnTo>
                    <a:pt x="13" y="637"/>
                  </a:lnTo>
                  <a:lnTo>
                    <a:pt x="17" y="648"/>
                  </a:lnTo>
                  <a:lnTo>
                    <a:pt x="22" y="661"/>
                  </a:lnTo>
                  <a:lnTo>
                    <a:pt x="27" y="675"/>
                  </a:lnTo>
                  <a:lnTo>
                    <a:pt x="33" y="688"/>
                  </a:lnTo>
                  <a:lnTo>
                    <a:pt x="40" y="698"/>
                  </a:lnTo>
                  <a:lnTo>
                    <a:pt x="48" y="706"/>
                  </a:lnTo>
                  <a:lnTo>
                    <a:pt x="53" y="709"/>
                  </a:lnTo>
                  <a:lnTo>
                    <a:pt x="68" y="716"/>
                  </a:lnTo>
                  <a:lnTo>
                    <a:pt x="85" y="723"/>
                  </a:lnTo>
                  <a:lnTo>
                    <a:pt x="101" y="729"/>
                  </a:lnTo>
                  <a:lnTo>
                    <a:pt x="116" y="737"/>
                  </a:lnTo>
                  <a:lnTo>
                    <a:pt x="133" y="744"/>
                  </a:lnTo>
                  <a:lnTo>
                    <a:pt x="149" y="749"/>
                  </a:lnTo>
                  <a:lnTo>
                    <a:pt x="166" y="755"/>
                  </a:lnTo>
                  <a:lnTo>
                    <a:pt x="181" y="762"/>
                  </a:lnTo>
                  <a:lnTo>
                    <a:pt x="198" y="767"/>
                  </a:lnTo>
                  <a:lnTo>
                    <a:pt x="213" y="773"/>
                  </a:lnTo>
                  <a:lnTo>
                    <a:pt x="230" y="780"/>
                  </a:lnTo>
                  <a:lnTo>
                    <a:pt x="247" y="785"/>
                  </a:lnTo>
                  <a:lnTo>
                    <a:pt x="263" y="792"/>
                  </a:lnTo>
                  <a:lnTo>
                    <a:pt x="279" y="797"/>
                  </a:lnTo>
                  <a:lnTo>
                    <a:pt x="295" y="803"/>
                  </a:lnTo>
                  <a:lnTo>
                    <a:pt x="312" y="810"/>
                  </a:lnTo>
                  <a:lnTo>
                    <a:pt x="330" y="817"/>
                  </a:lnTo>
                  <a:lnTo>
                    <a:pt x="347" y="825"/>
                  </a:lnTo>
                  <a:lnTo>
                    <a:pt x="365" y="833"/>
                  </a:lnTo>
                  <a:lnTo>
                    <a:pt x="382" y="839"/>
                  </a:lnTo>
                  <a:lnTo>
                    <a:pt x="400" y="847"/>
                  </a:lnTo>
                  <a:lnTo>
                    <a:pt x="417" y="855"/>
                  </a:lnTo>
                  <a:lnTo>
                    <a:pt x="435" y="861"/>
                  </a:lnTo>
                  <a:lnTo>
                    <a:pt x="453" y="867"/>
                  </a:lnTo>
                  <a:lnTo>
                    <a:pt x="479" y="874"/>
                  </a:lnTo>
                  <a:lnTo>
                    <a:pt x="505" y="881"/>
                  </a:lnTo>
                  <a:lnTo>
                    <a:pt x="531" y="887"/>
                  </a:lnTo>
                  <a:lnTo>
                    <a:pt x="558" y="891"/>
                  </a:lnTo>
                  <a:lnTo>
                    <a:pt x="584" y="891"/>
                  </a:lnTo>
                  <a:lnTo>
                    <a:pt x="610" y="887"/>
                  </a:lnTo>
                  <a:lnTo>
                    <a:pt x="633" y="880"/>
                  </a:lnTo>
                  <a:lnTo>
                    <a:pt x="656" y="864"/>
                  </a:lnTo>
                  <a:lnTo>
                    <a:pt x="669" y="851"/>
                  </a:lnTo>
                  <a:lnTo>
                    <a:pt x="685" y="834"/>
                  </a:lnTo>
                  <a:lnTo>
                    <a:pt x="701" y="814"/>
                  </a:lnTo>
                  <a:lnTo>
                    <a:pt x="721" y="790"/>
                  </a:lnTo>
                  <a:lnTo>
                    <a:pt x="740" y="764"/>
                  </a:lnTo>
                  <a:lnTo>
                    <a:pt x="760" y="736"/>
                  </a:lnTo>
                  <a:lnTo>
                    <a:pt x="780" y="707"/>
                  </a:lnTo>
                  <a:lnTo>
                    <a:pt x="800" y="678"/>
                  </a:lnTo>
                  <a:lnTo>
                    <a:pt x="819" y="649"/>
                  </a:lnTo>
                  <a:lnTo>
                    <a:pt x="839" y="622"/>
                  </a:lnTo>
                  <a:lnTo>
                    <a:pt x="857" y="595"/>
                  </a:lnTo>
                  <a:lnTo>
                    <a:pt x="872" y="570"/>
                  </a:lnTo>
                  <a:lnTo>
                    <a:pt x="887" y="549"/>
                  </a:lnTo>
                  <a:lnTo>
                    <a:pt x="899" y="531"/>
                  </a:lnTo>
                  <a:lnTo>
                    <a:pt x="909" y="517"/>
                  </a:lnTo>
                  <a:lnTo>
                    <a:pt x="915" y="508"/>
                  </a:lnTo>
                  <a:lnTo>
                    <a:pt x="933" y="483"/>
                  </a:lnTo>
                  <a:lnTo>
                    <a:pt x="955" y="456"/>
                  </a:lnTo>
                  <a:lnTo>
                    <a:pt x="978" y="426"/>
                  </a:lnTo>
                  <a:lnTo>
                    <a:pt x="1000" y="396"/>
                  </a:lnTo>
                  <a:lnTo>
                    <a:pt x="1021" y="371"/>
                  </a:lnTo>
                  <a:lnTo>
                    <a:pt x="1038" y="349"/>
                  </a:lnTo>
                  <a:lnTo>
                    <a:pt x="1050" y="333"/>
                  </a:lnTo>
                  <a:lnTo>
                    <a:pt x="1053" y="325"/>
                  </a:lnTo>
                  <a:lnTo>
                    <a:pt x="1055" y="312"/>
                  </a:lnTo>
                  <a:lnTo>
                    <a:pt x="1055" y="301"/>
                  </a:lnTo>
                  <a:lnTo>
                    <a:pt x="1052" y="289"/>
                  </a:lnTo>
                  <a:lnTo>
                    <a:pt x="1048" y="277"/>
                  </a:lnTo>
                  <a:lnTo>
                    <a:pt x="1042" y="268"/>
                  </a:lnTo>
                  <a:lnTo>
                    <a:pt x="1034" y="260"/>
                  </a:lnTo>
                  <a:lnTo>
                    <a:pt x="1025" y="254"/>
                  </a:lnTo>
                  <a:lnTo>
                    <a:pt x="1013" y="2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 name="Freeform 10"/>
            <p:cNvSpPr>
              <a:spLocks/>
            </p:cNvSpPr>
            <p:nvPr/>
          </p:nvSpPr>
          <p:spPr bwMode="auto">
            <a:xfrm>
              <a:off x="2158" y="2782"/>
              <a:ext cx="151" cy="211"/>
            </a:xfrm>
            <a:custGeom>
              <a:avLst/>
              <a:gdLst>
                <a:gd name="T0" fmla="*/ 151 w 151"/>
                <a:gd name="T1" fmla="*/ 27 h 211"/>
                <a:gd name="T2" fmla="*/ 148 w 151"/>
                <a:gd name="T3" fmla="*/ 32 h 211"/>
                <a:gd name="T4" fmla="*/ 141 w 151"/>
                <a:gd name="T5" fmla="*/ 42 h 211"/>
                <a:gd name="T6" fmla="*/ 131 w 151"/>
                <a:gd name="T7" fmla="*/ 54 h 211"/>
                <a:gd name="T8" fmla="*/ 118 w 151"/>
                <a:gd name="T9" fmla="*/ 69 h 211"/>
                <a:gd name="T10" fmla="*/ 105 w 151"/>
                <a:gd name="T11" fmla="*/ 83 h 211"/>
                <a:gd name="T12" fmla="*/ 95 w 151"/>
                <a:gd name="T13" fmla="*/ 96 h 211"/>
                <a:gd name="T14" fmla="*/ 88 w 151"/>
                <a:gd name="T15" fmla="*/ 105 h 211"/>
                <a:gd name="T16" fmla="*/ 86 w 151"/>
                <a:gd name="T17" fmla="*/ 109 h 211"/>
                <a:gd name="T18" fmla="*/ 87 w 151"/>
                <a:gd name="T19" fmla="*/ 110 h 211"/>
                <a:gd name="T20" fmla="*/ 91 w 151"/>
                <a:gd name="T21" fmla="*/ 113 h 211"/>
                <a:gd name="T22" fmla="*/ 96 w 151"/>
                <a:gd name="T23" fmla="*/ 117 h 211"/>
                <a:gd name="T24" fmla="*/ 104 w 151"/>
                <a:gd name="T25" fmla="*/ 121 h 211"/>
                <a:gd name="T26" fmla="*/ 113 w 151"/>
                <a:gd name="T27" fmla="*/ 126 h 211"/>
                <a:gd name="T28" fmla="*/ 122 w 151"/>
                <a:gd name="T29" fmla="*/ 130 h 211"/>
                <a:gd name="T30" fmla="*/ 131 w 151"/>
                <a:gd name="T31" fmla="*/ 132 h 211"/>
                <a:gd name="T32" fmla="*/ 141 w 151"/>
                <a:gd name="T33" fmla="*/ 132 h 211"/>
                <a:gd name="T34" fmla="*/ 134 w 151"/>
                <a:gd name="T35" fmla="*/ 137 h 211"/>
                <a:gd name="T36" fmla="*/ 126 w 151"/>
                <a:gd name="T37" fmla="*/ 144 h 211"/>
                <a:gd name="T38" fmla="*/ 119 w 151"/>
                <a:gd name="T39" fmla="*/ 152 h 211"/>
                <a:gd name="T40" fmla="*/ 113 w 151"/>
                <a:gd name="T41" fmla="*/ 159 h 211"/>
                <a:gd name="T42" fmla="*/ 109 w 151"/>
                <a:gd name="T43" fmla="*/ 154 h 211"/>
                <a:gd name="T44" fmla="*/ 105 w 151"/>
                <a:gd name="T45" fmla="*/ 145 h 211"/>
                <a:gd name="T46" fmla="*/ 100 w 151"/>
                <a:gd name="T47" fmla="*/ 136 h 211"/>
                <a:gd name="T48" fmla="*/ 99 w 151"/>
                <a:gd name="T49" fmla="*/ 132 h 211"/>
                <a:gd name="T50" fmla="*/ 95 w 151"/>
                <a:gd name="T51" fmla="*/ 135 h 211"/>
                <a:gd name="T52" fmla="*/ 87 w 151"/>
                <a:gd name="T53" fmla="*/ 144 h 211"/>
                <a:gd name="T54" fmla="*/ 75 w 151"/>
                <a:gd name="T55" fmla="*/ 157 h 211"/>
                <a:gd name="T56" fmla="*/ 64 w 151"/>
                <a:gd name="T57" fmla="*/ 171 h 211"/>
                <a:gd name="T58" fmla="*/ 51 w 151"/>
                <a:gd name="T59" fmla="*/ 185 h 211"/>
                <a:gd name="T60" fmla="*/ 41 w 151"/>
                <a:gd name="T61" fmla="*/ 198 h 211"/>
                <a:gd name="T62" fmla="*/ 33 w 151"/>
                <a:gd name="T63" fmla="*/ 207 h 211"/>
                <a:gd name="T64" fmla="*/ 30 w 151"/>
                <a:gd name="T65" fmla="*/ 211 h 211"/>
                <a:gd name="T66" fmla="*/ 20 w 151"/>
                <a:gd name="T67" fmla="*/ 201 h 211"/>
                <a:gd name="T68" fmla="*/ 11 w 151"/>
                <a:gd name="T69" fmla="*/ 192 h 211"/>
                <a:gd name="T70" fmla="*/ 3 w 151"/>
                <a:gd name="T71" fmla="*/ 184 h 211"/>
                <a:gd name="T72" fmla="*/ 0 w 151"/>
                <a:gd name="T73" fmla="*/ 180 h 211"/>
                <a:gd name="T74" fmla="*/ 17 w 151"/>
                <a:gd name="T75" fmla="*/ 163 h 211"/>
                <a:gd name="T76" fmla="*/ 37 w 151"/>
                <a:gd name="T77" fmla="*/ 139 h 211"/>
                <a:gd name="T78" fmla="*/ 57 w 151"/>
                <a:gd name="T79" fmla="*/ 111 h 211"/>
                <a:gd name="T80" fmla="*/ 79 w 151"/>
                <a:gd name="T81" fmla="*/ 83 h 211"/>
                <a:gd name="T82" fmla="*/ 100 w 151"/>
                <a:gd name="T83" fmla="*/ 56 h 211"/>
                <a:gd name="T84" fmla="*/ 118 w 151"/>
                <a:gd name="T85" fmla="*/ 31 h 211"/>
                <a:gd name="T86" fmla="*/ 132 w 151"/>
                <a:gd name="T87" fmla="*/ 12 h 211"/>
                <a:gd name="T88" fmla="*/ 141 w 151"/>
                <a:gd name="T89" fmla="*/ 0 h 211"/>
                <a:gd name="T90" fmla="*/ 144 w 151"/>
                <a:gd name="T91" fmla="*/ 7 h 211"/>
                <a:gd name="T92" fmla="*/ 145 w 151"/>
                <a:gd name="T93" fmla="*/ 13 h 211"/>
                <a:gd name="T94" fmla="*/ 148 w 151"/>
                <a:gd name="T95" fmla="*/ 21 h 211"/>
                <a:gd name="T96" fmla="*/ 151 w 151"/>
                <a:gd name="T97" fmla="*/ 27 h 21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51"/>
                <a:gd name="T148" fmla="*/ 0 h 211"/>
                <a:gd name="T149" fmla="*/ 151 w 151"/>
                <a:gd name="T150" fmla="*/ 211 h 21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51" h="211">
                  <a:moveTo>
                    <a:pt x="151" y="27"/>
                  </a:moveTo>
                  <a:lnTo>
                    <a:pt x="148" y="32"/>
                  </a:lnTo>
                  <a:lnTo>
                    <a:pt x="141" y="42"/>
                  </a:lnTo>
                  <a:lnTo>
                    <a:pt x="131" y="54"/>
                  </a:lnTo>
                  <a:lnTo>
                    <a:pt x="118" y="69"/>
                  </a:lnTo>
                  <a:lnTo>
                    <a:pt x="105" y="83"/>
                  </a:lnTo>
                  <a:lnTo>
                    <a:pt x="95" y="96"/>
                  </a:lnTo>
                  <a:lnTo>
                    <a:pt x="88" y="105"/>
                  </a:lnTo>
                  <a:lnTo>
                    <a:pt x="86" y="109"/>
                  </a:lnTo>
                  <a:lnTo>
                    <a:pt x="87" y="110"/>
                  </a:lnTo>
                  <a:lnTo>
                    <a:pt x="91" y="113"/>
                  </a:lnTo>
                  <a:lnTo>
                    <a:pt x="96" y="117"/>
                  </a:lnTo>
                  <a:lnTo>
                    <a:pt x="104" y="121"/>
                  </a:lnTo>
                  <a:lnTo>
                    <a:pt x="113" y="126"/>
                  </a:lnTo>
                  <a:lnTo>
                    <a:pt x="122" y="130"/>
                  </a:lnTo>
                  <a:lnTo>
                    <a:pt x="131" y="132"/>
                  </a:lnTo>
                  <a:lnTo>
                    <a:pt x="141" y="132"/>
                  </a:lnTo>
                  <a:lnTo>
                    <a:pt x="134" y="137"/>
                  </a:lnTo>
                  <a:lnTo>
                    <a:pt x="126" y="144"/>
                  </a:lnTo>
                  <a:lnTo>
                    <a:pt x="119" y="152"/>
                  </a:lnTo>
                  <a:lnTo>
                    <a:pt x="113" y="159"/>
                  </a:lnTo>
                  <a:lnTo>
                    <a:pt x="109" y="154"/>
                  </a:lnTo>
                  <a:lnTo>
                    <a:pt x="105" y="145"/>
                  </a:lnTo>
                  <a:lnTo>
                    <a:pt x="100" y="136"/>
                  </a:lnTo>
                  <a:lnTo>
                    <a:pt x="99" y="132"/>
                  </a:lnTo>
                  <a:lnTo>
                    <a:pt x="95" y="135"/>
                  </a:lnTo>
                  <a:lnTo>
                    <a:pt x="87" y="144"/>
                  </a:lnTo>
                  <a:lnTo>
                    <a:pt x="75" y="157"/>
                  </a:lnTo>
                  <a:lnTo>
                    <a:pt x="64" y="171"/>
                  </a:lnTo>
                  <a:lnTo>
                    <a:pt x="51" y="185"/>
                  </a:lnTo>
                  <a:lnTo>
                    <a:pt x="41" y="198"/>
                  </a:lnTo>
                  <a:lnTo>
                    <a:pt x="33" y="207"/>
                  </a:lnTo>
                  <a:lnTo>
                    <a:pt x="30" y="211"/>
                  </a:lnTo>
                  <a:lnTo>
                    <a:pt x="20" y="201"/>
                  </a:lnTo>
                  <a:lnTo>
                    <a:pt x="11" y="192"/>
                  </a:lnTo>
                  <a:lnTo>
                    <a:pt x="3" y="184"/>
                  </a:lnTo>
                  <a:lnTo>
                    <a:pt x="0" y="180"/>
                  </a:lnTo>
                  <a:lnTo>
                    <a:pt x="17" y="163"/>
                  </a:lnTo>
                  <a:lnTo>
                    <a:pt x="37" y="139"/>
                  </a:lnTo>
                  <a:lnTo>
                    <a:pt x="57" y="111"/>
                  </a:lnTo>
                  <a:lnTo>
                    <a:pt x="79" y="83"/>
                  </a:lnTo>
                  <a:lnTo>
                    <a:pt x="100" y="56"/>
                  </a:lnTo>
                  <a:lnTo>
                    <a:pt x="118" y="31"/>
                  </a:lnTo>
                  <a:lnTo>
                    <a:pt x="132" y="12"/>
                  </a:lnTo>
                  <a:lnTo>
                    <a:pt x="141" y="0"/>
                  </a:lnTo>
                  <a:lnTo>
                    <a:pt x="144" y="7"/>
                  </a:lnTo>
                  <a:lnTo>
                    <a:pt x="145" y="13"/>
                  </a:lnTo>
                  <a:lnTo>
                    <a:pt x="148" y="21"/>
                  </a:lnTo>
                  <a:lnTo>
                    <a:pt x="151" y="27"/>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 name="Freeform 11"/>
            <p:cNvSpPr>
              <a:spLocks/>
            </p:cNvSpPr>
            <p:nvPr/>
          </p:nvSpPr>
          <p:spPr bwMode="auto">
            <a:xfrm>
              <a:off x="2271" y="2834"/>
              <a:ext cx="58" cy="65"/>
            </a:xfrm>
            <a:custGeom>
              <a:avLst/>
              <a:gdLst>
                <a:gd name="T0" fmla="*/ 44 w 58"/>
                <a:gd name="T1" fmla="*/ 0 h 65"/>
                <a:gd name="T2" fmla="*/ 53 w 58"/>
                <a:gd name="T3" fmla="*/ 17 h 65"/>
                <a:gd name="T4" fmla="*/ 57 w 58"/>
                <a:gd name="T5" fmla="*/ 31 h 65"/>
                <a:gd name="T6" fmla="*/ 57 w 58"/>
                <a:gd name="T7" fmla="*/ 41 h 65"/>
                <a:gd name="T8" fmla="*/ 58 w 58"/>
                <a:gd name="T9" fmla="*/ 47 h 65"/>
                <a:gd name="T10" fmla="*/ 56 w 58"/>
                <a:gd name="T11" fmla="*/ 52 h 65"/>
                <a:gd name="T12" fmla="*/ 54 w 58"/>
                <a:gd name="T13" fmla="*/ 56 h 65"/>
                <a:gd name="T14" fmla="*/ 52 w 58"/>
                <a:gd name="T15" fmla="*/ 58 h 65"/>
                <a:gd name="T16" fmla="*/ 45 w 58"/>
                <a:gd name="T17" fmla="*/ 61 h 65"/>
                <a:gd name="T18" fmla="*/ 39 w 58"/>
                <a:gd name="T19" fmla="*/ 63 h 65"/>
                <a:gd name="T20" fmla="*/ 34 w 58"/>
                <a:gd name="T21" fmla="*/ 65 h 65"/>
                <a:gd name="T22" fmla="*/ 30 w 58"/>
                <a:gd name="T23" fmla="*/ 65 h 65"/>
                <a:gd name="T24" fmla="*/ 25 w 58"/>
                <a:gd name="T25" fmla="*/ 63 h 65"/>
                <a:gd name="T26" fmla="*/ 19 w 58"/>
                <a:gd name="T27" fmla="*/ 61 h 65"/>
                <a:gd name="T28" fmla="*/ 14 w 58"/>
                <a:gd name="T29" fmla="*/ 58 h 65"/>
                <a:gd name="T30" fmla="*/ 8 w 58"/>
                <a:gd name="T31" fmla="*/ 56 h 65"/>
                <a:gd name="T32" fmla="*/ 0 w 58"/>
                <a:gd name="T33" fmla="*/ 52 h 65"/>
                <a:gd name="T34" fmla="*/ 3 w 58"/>
                <a:gd name="T35" fmla="*/ 48 h 65"/>
                <a:gd name="T36" fmla="*/ 8 w 58"/>
                <a:gd name="T37" fmla="*/ 40 h 65"/>
                <a:gd name="T38" fmla="*/ 14 w 58"/>
                <a:gd name="T39" fmla="*/ 32 h 65"/>
                <a:gd name="T40" fmla="*/ 22 w 58"/>
                <a:gd name="T41" fmla="*/ 22 h 65"/>
                <a:gd name="T42" fmla="*/ 30 w 58"/>
                <a:gd name="T43" fmla="*/ 13 h 65"/>
                <a:gd name="T44" fmla="*/ 36 w 58"/>
                <a:gd name="T45" fmla="*/ 6 h 65"/>
                <a:gd name="T46" fmla="*/ 41 w 58"/>
                <a:gd name="T47" fmla="*/ 1 h 65"/>
                <a:gd name="T48" fmla="*/ 44 w 58"/>
                <a:gd name="T49" fmla="*/ 0 h 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8"/>
                <a:gd name="T76" fmla="*/ 0 h 65"/>
                <a:gd name="T77" fmla="*/ 58 w 58"/>
                <a:gd name="T78" fmla="*/ 65 h 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8" h="65">
                  <a:moveTo>
                    <a:pt x="44" y="0"/>
                  </a:moveTo>
                  <a:lnTo>
                    <a:pt x="53" y="17"/>
                  </a:lnTo>
                  <a:lnTo>
                    <a:pt x="57" y="31"/>
                  </a:lnTo>
                  <a:lnTo>
                    <a:pt x="57" y="41"/>
                  </a:lnTo>
                  <a:lnTo>
                    <a:pt x="58" y="47"/>
                  </a:lnTo>
                  <a:lnTo>
                    <a:pt x="56" y="52"/>
                  </a:lnTo>
                  <a:lnTo>
                    <a:pt x="54" y="56"/>
                  </a:lnTo>
                  <a:lnTo>
                    <a:pt x="52" y="58"/>
                  </a:lnTo>
                  <a:lnTo>
                    <a:pt x="45" y="61"/>
                  </a:lnTo>
                  <a:lnTo>
                    <a:pt x="39" y="63"/>
                  </a:lnTo>
                  <a:lnTo>
                    <a:pt x="34" y="65"/>
                  </a:lnTo>
                  <a:lnTo>
                    <a:pt x="30" y="65"/>
                  </a:lnTo>
                  <a:lnTo>
                    <a:pt x="25" y="63"/>
                  </a:lnTo>
                  <a:lnTo>
                    <a:pt x="19" y="61"/>
                  </a:lnTo>
                  <a:lnTo>
                    <a:pt x="14" y="58"/>
                  </a:lnTo>
                  <a:lnTo>
                    <a:pt x="8" y="56"/>
                  </a:lnTo>
                  <a:lnTo>
                    <a:pt x="0" y="52"/>
                  </a:lnTo>
                  <a:lnTo>
                    <a:pt x="3" y="48"/>
                  </a:lnTo>
                  <a:lnTo>
                    <a:pt x="8" y="40"/>
                  </a:lnTo>
                  <a:lnTo>
                    <a:pt x="14" y="32"/>
                  </a:lnTo>
                  <a:lnTo>
                    <a:pt x="22" y="22"/>
                  </a:lnTo>
                  <a:lnTo>
                    <a:pt x="30" y="13"/>
                  </a:lnTo>
                  <a:lnTo>
                    <a:pt x="36" y="6"/>
                  </a:lnTo>
                  <a:lnTo>
                    <a:pt x="41" y="1"/>
                  </a:lnTo>
                  <a:lnTo>
                    <a:pt x="44" y="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 name="Freeform 12"/>
            <p:cNvSpPr>
              <a:spLocks/>
            </p:cNvSpPr>
            <p:nvPr/>
          </p:nvSpPr>
          <p:spPr bwMode="auto">
            <a:xfrm>
              <a:off x="2201" y="3015"/>
              <a:ext cx="34" cy="24"/>
            </a:xfrm>
            <a:custGeom>
              <a:avLst/>
              <a:gdLst>
                <a:gd name="T0" fmla="*/ 34 w 34"/>
                <a:gd name="T1" fmla="*/ 3 h 24"/>
                <a:gd name="T2" fmla="*/ 29 w 34"/>
                <a:gd name="T3" fmla="*/ 7 h 24"/>
                <a:gd name="T4" fmla="*/ 23 w 34"/>
                <a:gd name="T5" fmla="*/ 12 h 24"/>
                <a:gd name="T6" fmla="*/ 20 w 34"/>
                <a:gd name="T7" fmla="*/ 18 h 24"/>
                <a:gd name="T8" fmla="*/ 16 w 34"/>
                <a:gd name="T9" fmla="*/ 24 h 24"/>
                <a:gd name="T10" fmla="*/ 12 w 34"/>
                <a:gd name="T11" fmla="*/ 17 h 24"/>
                <a:gd name="T12" fmla="*/ 8 w 34"/>
                <a:gd name="T13" fmla="*/ 12 h 24"/>
                <a:gd name="T14" fmla="*/ 4 w 34"/>
                <a:gd name="T15" fmla="*/ 5 h 24"/>
                <a:gd name="T16" fmla="*/ 0 w 34"/>
                <a:gd name="T17" fmla="*/ 0 h 24"/>
                <a:gd name="T18" fmla="*/ 8 w 34"/>
                <a:gd name="T19" fmla="*/ 3 h 24"/>
                <a:gd name="T20" fmla="*/ 17 w 34"/>
                <a:gd name="T21" fmla="*/ 3 h 24"/>
                <a:gd name="T22" fmla="*/ 25 w 34"/>
                <a:gd name="T23" fmla="*/ 4 h 24"/>
                <a:gd name="T24" fmla="*/ 34 w 34"/>
                <a:gd name="T25" fmla="*/ 3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24"/>
                <a:gd name="T41" fmla="*/ 34 w 34"/>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24">
                  <a:moveTo>
                    <a:pt x="34" y="3"/>
                  </a:moveTo>
                  <a:lnTo>
                    <a:pt x="29" y="7"/>
                  </a:lnTo>
                  <a:lnTo>
                    <a:pt x="23" y="12"/>
                  </a:lnTo>
                  <a:lnTo>
                    <a:pt x="20" y="18"/>
                  </a:lnTo>
                  <a:lnTo>
                    <a:pt x="16" y="24"/>
                  </a:lnTo>
                  <a:lnTo>
                    <a:pt x="12" y="17"/>
                  </a:lnTo>
                  <a:lnTo>
                    <a:pt x="8" y="12"/>
                  </a:lnTo>
                  <a:lnTo>
                    <a:pt x="4" y="5"/>
                  </a:lnTo>
                  <a:lnTo>
                    <a:pt x="0" y="0"/>
                  </a:lnTo>
                  <a:lnTo>
                    <a:pt x="8" y="3"/>
                  </a:lnTo>
                  <a:lnTo>
                    <a:pt x="17" y="3"/>
                  </a:lnTo>
                  <a:lnTo>
                    <a:pt x="25" y="4"/>
                  </a:lnTo>
                  <a:lnTo>
                    <a:pt x="34" y="3"/>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 name="Freeform 13"/>
            <p:cNvSpPr>
              <a:spLocks/>
            </p:cNvSpPr>
            <p:nvPr/>
          </p:nvSpPr>
          <p:spPr bwMode="auto">
            <a:xfrm>
              <a:off x="1392" y="2572"/>
              <a:ext cx="892" cy="726"/>
            </a:xfrm>
            <a:custGeom>
              <a:avLst/>
              <a:gdLst>
                <a:gd name="T0" fmla="*/ 199 w 892"/>
                <a:gd name="T1" fmla="*/ 233 h 726"/>
                <a:gd name="T2" fmla="*/ 232 w 892"/>
                <a:gd name="T3" fmla="*/ 192 h 726"/>
                <a:gd name="T4" fmla="*/ 265 w 892"/>
                <a:gd name="T5" fmla="*/ 150 h 726"/>
                <a:gd name="T6" fmla="*/ 303 w 892"/>
                <a:gd name="T7" fmla="*/ 95 h 726"/>
                <a:gd name="T8" fmla="*/ 338 w 892"/>
                <a:gd name="T9" fmla="*/ 44 h 726"/>
                <a:gd name="T10" fmla="*/ 379 w 892"/>
                <a:gd name="T11" fmla="*/ 7 h 726"/>
                <a:gd name="T12" fmla="*/ 403 w 892"/>
                <a:gd name="T13" fmla="*/ 0 h 726"/>
                <a:gd name="T14" fmla="*/ 482 w 892"/>
                <a:gd name="T15" fmla="*/ 29 h 726"/>
                <a:gd name="T16" fmla="*/ 555 w 892"/>
                <a:gd name="T17" fmla="*/ 55 h 726"/>
                <a:gd name="T18" fmla="*/ 624 w 892"/>
                <a:gd name="T19" fmla="*/ 82 h 726"/>
                <a:gd name="T20" fmla="*/ 673 w 892"/>
                <a:gd name="T21" fmla="*/ 99 h 726"/>
                <a:gd name="T22" fmla="*/ 721 w 892"/>
                <a:gd name="T23" fmla="*/ 112 h 726"/>
                <a:gd name="T24" fmla="*/ 770 w 892"/>
                <a:gd name="T25" fmla="*/ 122 h 726"/>
                <a:gd name="T26" fmla="*/ 819 w 892"/>
                <a:gd name="T27" fmla="*/ 132 h 726"/>
                <a:gd name="T28" fmla="*/ 873 w 892"/>
                <a:gd name="T29" fmla="*/ 145 h 726"/>
                <a:gd name="T30" fmla="*/ 892 w 892"/>
                <a:gd name="T31" fmla="*/ 179 h 726"/>
                <a:gd name="T32" fmla="*/ 874 w 892"/>
                <a:gd name="T33" fmla="*/ 207 h 726"/>
                <a:gd name="T34" fmla="*/ 860 w 892"/>
                <a:gd name="T35" fmla="*/ 228 h 726"/>
                <a:gd name="T36" fmla="*/ 843 w 892"/>
                <a:gd name="T37" fmla="*/ 250 h 726"/>
                <a:gd name="T38" fmla="*/ 799 w 892"/>
                <a:gd name="T39" fmla="*/ 310 h 726"/>
                <a:gd name="T40" fmla="*/ 755 w 892"/>
                <a:gd name="T41" fmla="*/ 367 h 726"/>
                <a:gd name="T42" fmla="*/ 729 w 892"/>
                <a:gd name="T43" fmla="*/ 372 h 726"/>
                <a:gd name="T44" fmla="*/ 687 w 892"/>
                <a:gd name="T45" fmla="*/ 359 h 726"/>
                <a:gd name="T46" fmla="*/ 645 w 892"/>
                <a:gd name="T47" fmla="*/ 356 h 726"/>
                <a:gd name="T48" fmla="*/ 610 w 892"/>
                <a:gd name="T49" fmla="*/ 363 h 726"/>
                <a:gd name="T50" fmla="*/ 586 w 892"/>
                <a:gd name="T51" fmla="*/ 384 h 726"/>
                <a:gd name="T52" fmla="*/ 577 w 892"/>
                <a:gd name="T53" fmla="*/ 411 h 726"/>
                <a:gd name="T54" fmla="*/ 598 w 892"/>
                <a:gd name="T55" fmla="*/ 451 h 726"/>
                <a:gd name="T56" fmla="*/ 646 w 892"/>
                <a:gd name="T57" fmla="*/ 469 h 726"/>
                <a:gd name="T58" fmla="*/ 674 w 892"/>
                <a:gd name="T59" fmla="*/ 487 h 726"/>
                <a:gd name="T60" fmla="*/ 619 w 892"/>
                <a:gd name="T61" fmla="*/ 573 h 726"/>
                <a:gd name="T62" fmla="*/ 533 w 892"/>
                <a:gd name="T63" fmla="*/ 687 h 726"/>
                <a:gd name="T64" fmla="*/ 492 w 892"/>
                <a:gd name="T65" fmla="*/ 723 h 726"/>
                <a:gd name="T66" fmla="*/ 466 w 892"/>
                <a:gd name="T67" fmla="*/ 726 h 726"/>
                <a:gd name="T68" fmla="*/ 443 w 892"/>
                <a:gd name="T69" fmla="*/ 723 h 726"/>
                <a:gd name="T70" fmla="*/ 370 w 892"/>
                <a:gd name="T71" fmla="*/ 702 h 726"/>
                <a:gd name="T72" fmla="*/ 304 w 892"/>
                <a:gd name="T73" fmla="*/ 678 h 726"/>
                <a:gd name="T74" fmla="*/ 268 w 892"/>
                <a:gd name="T75" fmla="*/ 663 h 726"/>
                <a:gd name="T76" fmla="*/ 216 w 892"/>
                <a:gd name="T77" fmla="*/ 645 h 726"/>
                <a:gd name="T78" fmla="*/ 163 w 892"/>
                <a:gd name="T79" fmla="*/ 626 h 726"/>
                <a:gd name="T80" fmla="*/ 111 w 892"/>
                <a:gd name="T81" fmla="*/ 608 h 726"/>
                <a:gd name="T82" fmla="*/ 58 w 892"/>
                <a:gd name="T83" fmla="*/ 588 h 726"/>
                <a:gd name="T84" fmla="*/ 7 w 892"/>
                <a:gd name="T85" fmla="*/ 568 h 726"/>
                <a:gd name="T86" fmla="*/ 1 w 892"/>
                <a:gd name="T87" fmla="*/ 560 h 726"/>
                <a:gd name="T88" fmla="*/ 44 w 892"/>
                <a:gd name="T89" fmla="*/ 483 h 726"/>
                <a:gd name="T90" fmla="*/ 115 w 892"/>
                <a:gd name="T91" fmla="*/ 376 h 726"/>
                <a:gd name="T92" fmla="*/ 181 w 892"/>
                <a:gd name="T93" fmla="*/ 263 h 72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92"/>
                <a:gd name="T142" fmla="*/ 0 h 726"/>
                <a:gd name="T143" fmla="*/ 892 w 892"/>
                <a:gd name="T144" fmla="*/ 726 h 72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92" h="726">
                  <a:moveTo>
                    <a:pt x="181" y="263"/>
                  </a:moveTo>
                  <a:lnTo>
                    <a:pt x="189" y="248"/>
                  </a:lnTo>
                  <a:lnTo>
                    <a:pt x="199" y="233"/>
                  </a:lnTo>
                  <a:lnTo>
                    <a:pt x="210" y="219"/>
                  </a:lnTo>
                  <a:lnTo>
                    <a:pt x="220" y="205"/>
                  </a:lnTo>
                  <a:lnTo>
                    <a:pt x="232" y="192"/>
                  </a:lnTo>
                  <a:lnTo>
                    <a:pt x="242" y="178"/>
                  </a:lnTo>
                  <a:lnTo>
                    <a:pt x="254" y="165"/>
                  </a:lnTo>
                  <a:lnTo>
                    <a:pt x="265" y="150"/>
                  </a:lnTo>
                  <a:lnTo>
                    <a:pt x="280" y="132"/>
                  </a:lnTo>
                  <a:lnTo>
                    <a:pt x="291" y="113"/>
                  </a:lnTo>
                  <a:lnTo>
                    <a:pt x="303" y="95"/>
                  </a:lnTo>
                  <a:lnTo>
                    <a:pt x="315" y="78"/>
                  </a:lnTo>
                  <a:lnTo>
                    <a:pt x="325" y="61"/>
                  </a:lnTo>
                  <a:lnTo>
                    <a:pt x="338" y="44"/>
                  </a:lnTo>
                  <a:lnTo>
                    <a:pt x="353" y="27"/>
                  </a:lnTo>
                  <a:lnTo>
                    <a:pt x="370" y="12"/>
                  </a:lnTo>
                  <a:lnTo>
                    <a:pt x="379" y="7"/>
                  </a:lnTo>
                  <a:lnTo>
                    <a:pt x="391" y="3"/>
                  </a:lnTo>
                  <a:lnTo>
                    <a:pt x="399" y="0"/>
                  </a:lnTo>
                  <a:lnTo>
                    <a:pt x="403" y="0"/>
                  </a:lnTo>
                  <a:lnTo>
                    <a:pt x="430" y="11"/>
                  </a:lnTo>
                  <a:lnTo>
                    <a:pt x="456" y="21"/>
                  </a:lnTo>
                  <a:lnTo>
                    <a:pt x="482" y="29"/>
                  </a:lnTo>
                  <a:lnTo>
                    <a:pt x="506" y="38"/>
                  </a:lnTo>
                  <a:lnTo>
                    <a:pt x="531" y="47"/>
                  </a:lnTo>
                  <a:lnTo>
                    <a:pt x="555" y="55"/>
                  </a:lnTo>
                  <a:lnTo>
                    <a:pt x="581" y="65"/>
                  </a:lnTo>
                  <a:lnTo>
                    <a:pt x="607" y="75"/>
                  </a:lnTo>
                  <a:lnTo>
                    <a:pt x="624" y="82"/>
                  </a:lnTo>
                  <a:lnTo>
                    <a:pt x="641" y="88"/>
                  </a:lnTo>
                  <a:lnTo>
                    <a:pt x="656" y="93"/>
                  </a:lnTo>
                  <a:lnTo>
                    <a:pt x="673" y="99"/>
                  </a:lnTo>
                  <a:lnTo>
                    <a:pt x="689" y="104"/>
                  </a:lnTo>
                  <a:lnTo>
                    <a:pt x="706" y="108"/>
                  </a:lnTo>
                  <a:lnTo>
                    <a:pt x="721" y="112"/>
                  </a:lnTo>
                  <a:lnTo>
                    <a:pt x="738" y="115"/>
                  </a:lnTo>
                  <a:lnTo>
                    <a:pt x="753" y="119"/>
                  </a:lnTo>
                  <a:lnTo>
                    <a:pt x="770" y="122"/>
                  </a:lnTo>
                  <a:lnTo>
                    <a:pt x="786" y="126"/>
                  </a:lnTo>
                  <a:lnTo>
                    <a:pt x="803" y="130"/>
                  </a:lnTo>
                  <a:lnTo>
                    <a:pt x="819" y="132"/>
                  </a:lnTo>
                  <a:lnTo>
                    <a:pt x="838" y="136"/>
                  </a:lnTo>
                  <a:lnTo>
                    <a:pt x="854" y="141"/>
                  </a:lnTo>
                  <a:lnTo>
                    <a:pt x="873" y="145"/>
                  </a:lnTo>
                  <a:lnTo>
                    <a:pt x="885" y="153"/>
                  </a:lnTo>
                  <a:lnTo>
                    <a:pt x="892" y="165"/>
                  </a:lnTo>
                  <a:lnTo>
                    <a:pt x="892" y="179"/>
                  </a:lnTo>
                  <a:lnTo>
                    <a:pt x="885" y="192"/>
                  </a:lnTo>
                  <a:lnTo>
                    <a:pt x="879" y="200"/>
                  </a:lnTo>
                  <a:lnTo>
                    <a:pt x="874" y="207"/>
                  </a:lnTo>
                  <a:lnTo>
                    <a:pt x="870" y="214"/>
                  </a:lnTo>
                  <a:lnTo>
                    <a:pt x="865" y="220"/>
                  </a:lnTo>
                  <a:lnTo>
                    <a:pt x="860" y="228"/>
                  </a:lnTo>
                  <a:lnTo>
                    <a:pt x="854" y="235"/>
                  </a:lnTo>
                  <a:lnTo>
                    <a:pt x="849" y="242"/>
                  </a:lnTo>
                  <a:lnTo>
                    <a:pt x="843" y="250"/>
                  </a:lnTo>
                  <a:lnTo>
                    <a:pt x="830" y="267"/>
                  </a:lnTo>
                  <a:lnTo>
                    <a:pt x="814" y="288"/>
                  </a:lnTo>
                  <a:lnTo>
                    <a:pt x="799" y="310"/>
                  </a:lnTo>
                  <a:lnTo>
                    <a:pt x="782" y="331"/>
                  </a:lnTo>
                  <a:lnTo>
                    <a:pt x="768" y="350"/>
                  </a:lnTo>
                  <a:lnTo>
                    <a:pt x="755" y="367"/>
                  </a:lnTo>
                  <a:lnTo>
                    <a:pt x="746" y="377"/>
                  </a:lnTo>
                  <a:lnTo>
                    <a:pt x="742" y="380"/>
                  </a:lnTo>
                  <a:lnTo>
                    <a:pt x="729" y="372"/>
                  </a:lnTo>
                  <a:lnTo>
                    <a:pt x="716" y="367"/>
                  </a:lnTo>
                  <a:lnTo>
                    <a:pt x="702" y="363"/>
                  </a:lnTo>
                  <a:lnTo>
                    <a:pt x="687" y="359"/>
                  </a:lnTo>
                  <a:lnTo>
                    <a:pt x="673" y="358"/>
                  </a:lnTo>
                  <a:lnTo>
                    <a:pt x="659" y="356"/>
                  </a:lnTo>
                  <a:lnTo>
                    <a:pt x="645" y="356"/>
                  </a:lnTo>
                  <a:lnTo>
                    <a:pt x="630" y="358"/>
                  </a:lnTo>
                  <a:lnTo>
                    <a:pt x="620" y="359"/>
                  </a:lnTo>
                  <a:lnTo>
                    <a:pt x="610" y="363"/>
                  </a:lnTo>
                  <a:lnTo>
                    <a:pt x="601" y="368"/>
                  </a:lnTo>
                  <a:lnTo>
                    <a:pt x="593" y="375"/>
                  </a:lnTo>
                  <a:lnTo>
                    <a:pt x="586" y="384"/>
                  </a:lnTo>
                  <a:lnTo>
                    <a:pt x="583" y="391"/>
                  </a:lnTo>
                  <a:lnTo>
                    <a:pt x="579" y="402"/>
                  </a:lnTo>
                  <a:lnTo>
                    <a:pt x="577" y="411"/>
                  </a:lnTo>
                  <a:lnTo>
                    <a:pt x="580" y="428"/>
                  </a:lnTo>
                  <a:lnTo>
                    <a:pt x="586" y="441"/>
                  </a:lnTo>
                  <a:lnTo>
                    <a:pt x="598" y="451"/>
                  </a:lnTo>
                  <a:lnTo>
                    <a:pt x="612" y="459"/>
                  </a:lnTo>
                  <a:lnTo>
                    <a:pt x="629" y="464"/>
                  </a:lnTo>
                  <a:lnTo>
                    <a:pt x="646" y="469"/>
                  </a:lnTo>
                  <a:lnTo>
                    <a:pt x="663" y="474"/>
                  </a:lnTo>
                  <a:lnTo>
                    <a:pt x="677" y="479"/>
                  </a:lnTo>
                  <a:lnTo>
                    <a:pt x="674" y="487"/>
                  </a:lnTo>
                  <a:lnTo>
                    <a:pt x="663" y="508"/>
                  </a:lnTo>
                  <a:lnTo>
                    <a:pt x="643" y="538"/>
                  </a:lnTo>
                  <a:lnTo>
                    <a:pt x="619" y="573"/>
                  </a:lnTo>
                  <a:lnTo>
                    <a:pt x="592" y="612"/>
                  </a:lnTo>
                  <a:lnTo>
                    <a:pt x="562" y="650"/>
                  </a:lnTo>
                  <a:lnTo>
                    <a:pt x="533" y="687"/>
                  </a:lnTo>
                  <a:lnTo>
                    <a:pt x="506" y="718"/>
                  </a:lnTo>
                  <a:lnTo>
                    <a:pt x="498" y="720"/>
                  </a:lnTo>
                  <a:lnTo>
                    <a:pt x="492" y="723"/>
                  </a:lnTo>
                  <a:lnTo>
                    <a:pt x="483" y="724"/>
                  </a:lnTo>
                  <a:lnTo>
                    <a:pt x="475" y="724"/>
                  </a:lnTo>
                  <a:lnTo>
                    <a:pt x="466" y="726"/>
                  </a:lnTo>
                  <a:lnTo>
                    <a:pt x="458" y="724"/>
                  </a:lnTo>
                  <a:lnTo>
                    <a:pt x="451" y="724"/>
                  </a:lnTo>
                  <a:lnTo>
                    <a:pt x="443" y="723"/>
                  </a:lnTo>
                  <a:lnTo>
                    <a:pt x="421" y="718"/>
                  </a:lnTo>
                  <a:lnTo>
                    <a:pt x="396" y="710"/>
                  </a:lnTo>
                  <a:lnTo>
                    <a:pt x="370" y="702"/>
                  </a:lnTo>
                  <a:lnTo>
                    <a:pt x="346" y="693"/>
                  </a:lnTo>
                  <a:lnTo>
                    <a:pt x="324" y="684"/>
                  </a:lnTo>
                  <a:lnTo>
                    <a:pt x="304" y="678"/>
                  </a:lnTo>
                  <a:lnTo>
                    <a:pt x="291" y="672"/>
                  </a:lnTo>
                  <a:lnTo>
                    <a:pt x="286" y="670"/>
                  </a:lnTo>
                  <a:lnTo>
                    <a:pt x="268" y="663"/>
                  </a:lnTo>
                  <a:lnTo>
                    <a:pt x="251" y="657"/>
                  </a:lnTo>
                  <a:lnTo>
                    <a:pt x="233" y="652"/>
                  </a:lnTo>
                  <a:lnTo>
                    <a:pt x="216" y="645"/>
                  </a:lnTo>
                  <a:lnTo>
                    <a:pt x="198" y="639"/>
                  </a:lnTo>
                  <a:lnTo>
                    <a:pt x="181" y="632"/>
                  </a:lnTo>
                  <a:lnTo>
                    <a:pt x="163" y="626"/>
                  </a:lnTo>
                  <a:lnTo>
                    <a:pt x="146" y="621"/>
                  </a:lnTo>
                  <a:lnTo>
                    <a:pt x="128" y="614"/>
                  </a:lnTo>
                  <a:lnTo>
                    <a:pt x="111" y="608"/>
                  </a:lnTo>
                  <a:lnTo>
                    <a:pt x="93" y="601"/>
                  </a:lnTo>
                  <a:lnTo>
                    <a:pt x="76" y="595"/>
                  </a:lnTo>
                  <a:lnTo>
                    <a:pt x="58" y="588"/>
                  </a:lnTo>
                  <a:lnTo>
                    <a:pt x="42" y="582"/>
                  </a:lnTo>
                  <a:lnTo>
                    <a:pt x="23" y="574"/>
                  </a:lnTo>
                  <a:lnTo>
                    <a:pt x="7" y="568"/>
                  </a:lnTo>
                  <a:lnTo>
                    <a:pt x="5" y="565"/>
                  </a:lnTo>
                  <a:lnTo>
                    <a:pt x="3" y="562"/>
                  </a:lnTo>
                  <a:lnTo>
                    <a:pt x="1" y="560"/>
                  </a:lnTo>
                  <a:lnTo>
                    <a:pt x="0" y="557"/>
                  </a:lnTo>
                  <a:lnTo>
                    <a:pt x="21" y="520"/>
                  </a:lnTo>
                  <a:lnTo>
                    <a:pt x="44" y="483"/>
                  </a:lnTo>
                  <a:lnTo>
                    <a:pt x="67" y="447"/>
                  </a:lnTo>
                  <a:lnTo>
                    <a:pt x="92" y="412"/>
                  </a:lnTo>
                  <a:lnTo>
                    <a:pt x="115" y="376"/>
                  </a:lnTo>
                  <a:lnTo>
                    <a:pt x="139" y="338"/>
                  </a:lnTo>
                  <a:lnTo>
                    <a:pt x="161" y="302"/>
                  </a:lnTo>
                  <a:lnTo>
                    <a:pt x="181" y="263"/>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 name="Freeform 14"/>
            <p:cNvSpPr>
              <a:spLocks/>
            </p:cNvSpPr>
            <p:nvPr/>
          </p:nvSpPr>
          <p:spPr bwMode="auto">
            <a:xfrm>
              <a:off x="1387" y="3070"/>
              <a:ext cx="762" cy="308"/>
            </a:xfrm>
            <a:custGeom>
              <a:avLst/>
              <a:gdLst>
                <a:gd name="T0" fmla="*/ 39 w 762"/>
                <a:gd name="T1" fmla="*/ 99 h 308"/>
                <a:gd name="T2" fmla="*/ 103 w 762"/>
                <a:gd name="T3" fmla="*/ 128 h 308"/>
                <a:gd name="T4" fmla="*/ 164 w 762"/>
                <a:gd name="T5" fmla="*/ 152 h 308"/>
                <a:gd name="T6" fmla="*/ 195 w 762"/>
                <a:gd name="T7" fmla="*/ 164 h 308"/>
                <a:gd name="T8" fmla="*/ 250 w 762"/>
                <a:gd name="T9" fmla="*/ 184 h 308"/>
                <a:gd name="T10" fmla="*/ 316 w 762"/>
                <a:gd name="T11" fmla="*/ 208 h 308"/>
                <a:gd name="T12" fmla="*/ 382 w 762"/>
                <a:gd name="T13" fmla="*/ 230 h 308"/>
                <a:gd name="T14" fmla="*/ 435 w 762"/>
                <a:gd name="T15" fmla="*/ 244 h 308"/>
                <a:gd name="T16" fmla="*/ 467 w 762"/>
                <a:gd name="T17" fmla="*/ 251 h 308"/>
                <a:gd name="T18" fmla="*/ 494 w 762"/>
                <a:gd name="T19" fmla="*/ 256 h 308"/>
                <a:gd name="T20" fmla="*/ 520 w 762"/>
                <a:gd name="T21" fmla="*/ 252 h 308"/>
                <a:gd name="T22" fmla="*/ 569 w 762"/>
                <a:gd name="T23" fmla="*/ 190 h 308"/>
                <a:gd name="T24" fmla="*/ 616 w 762"/>
                <a:gd name="T25" fmla="*/ 121 h 308"/>
                <a:gd name="T26" fmla="*/ 656 w 762"/>
                <a:gd name="T27" fmla="*/ 66 h 308"/>
                <a:gd name="T28" fmla="*/ 689 w 762"/>
                <a:gd name="T29" fmla="*/ 26 h 308"/>
                <a:gd name="T30" fmla="*/ 714 w 762"/>
                <a:gd name="T31" fmla="*/ 0 h 308"/>
                <a:gd name="T32" fmla="*/ 729 w 762"/>
                <a:gd name="T33" fmla="*/ 11 h 308"/>
                <a:gd name="T34" fmla="*/ 747 w 762"/>
                <a:gd name="T35" fmla="*/ 32 h 308"/>
                <a:gd name="T36" fmla="*/ 762 w 762"/>
                <a:gd name="T37" fmla="*/ 50 h 308"/>
                <a:gd name="T38" fmla="*/ 745 w 762"/>
                <a:gd name="T39" fmla="*/ 73 h 308"/>
                <a:gd name="T40" fmla="*/ 726 w 762"/>
                <a:gd name="T41" fmla="*/ 64 h 308"/>
                <a:gd name="T42" fmla="*/ 712 w 762"/>
                <a:gd name="T43" fmla="*/ 54 h 308"/>
                <a:gd name="T44" fmla="*/ 685 w 762"/>
                <a:gd name="T45" fmla="*/ 89 h 308"/>
                <a:gd name="T46" fmla="*/ 656 w 762"/>
                <a:gd name="T47" fmla="*/ 130 h 308"/>
                <a:gd name="T48" fmla="*/ 656 w 762"/>
                <a:gd name="T49" fmla="*/ 140 h 308"/>
                <a:gd name="T50" fmla="*/ 677 w 762"/>
                <a:gd name="T51" fmla="*/ 147 h 308"/>
                <a:gd name="T52" fmla="*/ 701 w 762"/>
                <a:gd name="T53" fmla="*/ 147 h 308"/>
                <a:gd name="T54" fmla="*/ 686 w 762"/>
                <a:gd name="T55" fmla="*/ 169 h 308"/>
                <a:gd name="T56" fmla="*/ 669 w 762"/>
                <a:gd name="T57" fmla="*/ 190 h 308"/>
                <a:gd name="T58" fmla="*/ 652 w 762"/>
                <a:gd name="T59" fmla="*/ 191 h 308"/>
                <a:gd name="T60" fmla="*/ 633 w 762"/>
                <a:gd name="T61" fmla="*/ 154 h 308"/>
                <a:gd name="T62" fmla="*/ 610 w 762"/>
                <a:gd name="T63" fmla="*/ 180 h 308"/>
                <a:gd name="T64" fmla="*/ 572 w 762"/>
                <a:gd name="T65" fmla="*/ 225 h 308"/>
                <a:gd name="T66" fmla="*/ 562 w 762"/>
                <a:gd name="T67" fmla="*/ 243 h 308"/>
                <a:gd name="T68" fmla="*/ 579 w 762"/>
                <a:gd name="T69" fmla="*/ 251 h 308"/>
                <a:gd name="T70" fmla="*/ 602 w 762"/>
                <a:gd name="T71" fmla="*/ 256 h 308"/>
                <a:gd name="T72" fmla="*/ 590 w 762"/>
                <a:gd name="T73" fmla="*/ 276 h 308"/>
                <a:gd name="T74" fmla="*/ 568 w 762"/>
                <a:gd name="T75" fmla="*/ 296 h 308"/>
                <a:gd name="T76" fmla="*/ 558 w 762"/>
                <a:gd name="T77" fmla="*/ 308 h 308"/>
                <a:gd name="T78" fmla="*/ 479 w 762"/>
                <a:gd name="T79" fmla="*/ 294 h 308"/>
                <a:gd name="T80" fmla="*/ 375 w 762"/>
                <a:gd name="T81" fmla="*/ 265 h 308"/>
                <a:gd name="T82" fmla="*/ 264 w 762"/>
                <a:gd name="T83" fmla="*/ 228 h 308"/>
                <a:gd name="T84" fmla="*/ 163 w 762"/>
                <a:gd name="T85" fmla="*/ 189 h 308"/>
                <a:gd name="T86" fmla="*/ 88 w 762"/>
                <a:gd name="T87" fmla="*/ 155 h 308"/>
                <a:gd name="T88" fmla="*/ 57 w 762"/>
                <a:gd name="T89" fmla="*/ 140 h 308"/>
                <a:gd name="T90" fmla="*/ 26 w 762"/>
                <a:gd name="T91" fmla="*/ 128 h 308"/>
                <a:gd name="T92" fmla="*/ 9 w 762"/>
                <a:gd name="T93" fmla="*/ 123 h 308"/>
                <a:gd name="T94" fmla="*/ 2 w 762"/>
                <a:gd name="T95" fmla="*/ 90 h 30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62"/>
                <a:gd name="T145" fmla="*/ 0 h 308"/>
                <a:gd name="T146" fmla="*/ 762 w 762"/>
                <a:gd name="T147" fmla="*/ 308 h 30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62" h="308">
                  <a:moveTo>
                    <a:pt x="0" y="84"/>
                  </a:moveTo>
                  <a:lnTo>
                    <a:pt x="18" y="92"/>
                  </a:lnTo>
                  <a:lnTo>
                    <a:pt x="39" y="99"/>
                  </a:lnTo>
                  <a:lnTo>
                    <a:pt x="61" y="108"/>
                  </a:lnTo>
                  <a:lnTo>
                    <a:pt x="83" y="118"/>
                  </a:lnTo>
                  <a:lnTo>
                    <a:pt x="103" y="128"/>
                  </a:lnTo>
                  <a:lnTo>
                    <a:pt x="125" y="136"/>
                  </a:lnTo>
                  <a:lnTo>
                    <a:pt x="146" y="145"/>
                  </a:lnTo>
                  <a:lnTo>
                    <a:pt x="164" y="152"/>
                  </a:lnTo>
                  <a:lnTo>
                    <a:pt x="171" y="155"/>
                  </a:lnTo>
                  <a:lnTo>
                    <a:pt x="181" y="159"/>
                  </a:lnTo>
                  <a:lnTo>
                    <a:pt x="195" y="164"/>
                  </a:lnTo>
                  <a:lnTo>
                    <a:pt x="211" y="169"/>
                  </a:lnTo>
                  <a:lnTo>
                    <a:pt x="229" y="177"/>
                  </a:lnTo>
                  <a:lnTo>
                    <a:pt x="250" y="184"/>
                  </a:lnTo>
                  <a:lnTo>
                    <a:pt x="272" y="191"/>
                  </a:lnTo>
                  <a:lnTo>
                    <a:pt x="294" y="199"/>
                  </a:lnTo>
                  <a:lnTo>
                    <a:pt x="316" y="208"/>
                  </a:lnTo>
                  <a:lnTo>
                    <a:pt x="339" y="216"/>
                  </a:lnTo>
                  <a:lnTo>
                    <a:pt x="361" y="222"/>
                  </a:lnTo>
                  <a:lnTo>
                    <a:pt x="382" y="230"/>
                  </a:lnTo>
                  <a:lnTo>
                    <a:pt x="401" y="235"/>
                  </a:lnTo>
                  <a:lnTo>
                    <a:pt x="419" y="241"/>
                  </a:lnTo>
                  <a:lnTo>
                    <a:pt x="435" y="244"/>
                  </a:lnTo>
                  <a:lnTo>
                    <a:pt x="448" y="247"/>
                  </a:lnTo>
                  <a:lnTo>
                    <a:pt x="457" y="248"/>
                  </a:lnTo>
                  <a:lnTo>
                    <a:pt x="467" y="251"/>
                  </a:lnTo>
                  <a:lnTo>
                    <a:pt x="476" y="252"/>
                  </a:lnTo>
                  <a:lnTo>
                    <a:pt x="485" y="255"/>
                  </a:lnTo>
                  <a:lnTo>
                    <a:pt x="494" y="256"/>
                  </a:lnTo>
                  <a:lnTo>
                    <a:pt x="503" y="256"/>
                  </a:lnTo>
                  <a:lnTo>
                    <a:pt x="512" y="255"/>
                  </a:lnTo>
                  <a:lnTo>
                    <a:pt x="520" y="252"/>
                  </a:lnTo>
                  <a:lnTo>
                    <a:pt x="537" y="233"/>
                  </a:lnTo>
                  <a:lnTo>
                    <a:pt x="554" y="212"/>
                  </a:lnTo>
                  <a:lnTo>
                    <a:pt x="569" y="190"/>
                  </a:lnTo>
                  <a:lnTo>
                    <a:pt x="585" y="167"/>
                  </a:lnTo>
                  <a:lnTo>
                    <a:pt x="601" y="143"/>
                  </a:lnTo>
                  <a:lnTo>
                    <a:pt x="616" y="121"/>
                  </a:lnTo>
                  <a:lnTo>
                    <a:pt x="632" y="98"/>
                  </a:lnTo>
                  <a:lnTo>
                    <a:pt x="647" y="77"/>
                  </a:lnTo>
                  <a:lnTo>
                    <a:pt x="656" y="66"/>
                  </a:lnTo>
                  <a:lnTo>
                    <a:pt x="667" y="53"/>
                  </a:lnTo>
                  <a:lnTo>
                    <a:pt x="678" y="38"/>
                  </a:lnTo>
                  <a:lnTo>
                    <a:pt x="689" y="26"/>
                  </a:lnTo>
                  <a:lnTo>
                    <a:pt x="699" y="14"/>
                  </a:lnTo>
                  <a:lnTo>
                    <a:pt x="708" y="5"/>
                  </a:lnTo>
                  <a:lnTo>
                    <a:pt x="714" y="0"/>
                  </a:lnTo>
                  <a:lnTo>
                    <a:pt x="718" y="0"/>
                  </a:lnTo>
                  <a:lnTo>
                    <a:pt x="723" y="5"/>
                  </a:lnTo>
                  <a:lnTo>
                    <a:pt x="729" y="11"/>
                  </a:lnTo>
                  <a:lnTo>
                    <a:pt x="735" y="18"/>
                  </a:lnTo>
                  <a:lnTo>
                    <a:pt x="740" y="24"/>
                  </a:lnTo>
                  <a:lnTo>
                    <a:pt x="747" y="32"/>
                  </a:lnTo>
                  <a:lnTo>
                    <a:pt x="752" y="38"/>
                  </a:lnTo>
                  <a:lnTo>
                    <a:pt x="757" y="45"/>
                  </a:lnTo>
                  <a:lnTo>
                    <a:pt x="762" y="50"/>
                  </a:lnTo>
                  <a:lnTo>
                    <a:pt x="756" y="58"/>
                  </a:lnTo>
                  <a:lnTo>
                    <a:pt x="751" y="66"/>
                  </a:lnTo>
                  <a:lnTo>
                    <a:pt x="745" y="73"/>
                  </a:lnTo>
                  <a:lnTo>
                    <a:pt x="740" y="83"/>
                  </a:lnTo>
                  <a:lnTo>
                    <a:pt x="734" y="75"/>
                  </a:lnTo>
                  <a:lnTo>
                    <a:pt x="726" y="64"/>
                  </a:lnTo>
                  <a:lnTo>
                    <a:pt x="718" y="55"/>
                  </a:lnTo>
                  <a:lnTo>
                    <a:pt x="714" y="51"/>
                  </a:lnTo>
                  <a:lnTo>
                    <a:pt x="712" y="54"/>
                  </a:lnTo>
                  <a:lnTo>
                    <a:pt x="705" y="63"/>
                  </a:lnTo>
                  <a:lnTo>
                    <a:pt x="695" y="75"/>
                  </a:lnTo>
                  <a:lnTo>
                    <a:pt x="685" y="89"/>
                  </a:lnTo>
                  <a:lnTo>
                    <a:pt x="673" y="105"/>
                  </a:lnTo>
                  <a:lnTo>
                    <a:pt x="663" y="119"/>
                  </a:lnTo>
                  <a:lnTo>
                    <a:pt x="656" y="130"/>
                  </a:lnTo>
                  <a:lnTo>
                    <a:pt x="652" y="137"/>
                  </a:lnTo>
                  <a:lnTo>
                    <a:pt x="652" y="138"/>
                  </a:lnTo>
                  <a:lnTo>
                    <a:pt x="656" y="140"/>
                  </a:lnTo>
                  <a:lnTo>
                    <a:pt x="661" y="142"/>
                  </a:lnTo>
                  <a:lnTo>
                    <a:pt x="669" y="145"/>
                  </a:lnTo>
                  <a:lnTo>
                    <a:pt x="677" y="147"/>
                  </a:lnTo>
                  <a:lnTo>
                    <a:pt x="686" y="149"/>
                  </a:lnTo>
                  <a:lnTo>
                    <a:pt x="694" y="149"/>
                  </a:lnTo>
                  <a:lnTo>
                    <a:pt x="701" y="147"/>
                  </a:lnTo>
                  <a:lnTo>
                    <a:pt x="696" y="155"/>
                  </a:lnTo>
                  <a:lnTo>
                    <a:pt x="691" y="162"/>
                  </a:lnTo>
                  <a:lnTo>
                    <a:pt x="686" y="169"/>
                  </a:lnTo>
                  <a:lnTo>
                    <a:pt x="681" y="176"/>
                  </a:lnTo>
                  <a:lnTo>
                    <a:pt x="674" y="182"/>
                  </a:lnTo>
                  <a:lnTo>
                    <a:pt x="669" y="190"/>
                  </a:lnTo>
                  <a:lnTo>
                    <a:pt x="663" y="197"/>
                  </a:lnTo>
                  <a:lnTo>
                    <a:pt x="657" y="203"/>
                  </a:lnTo>
                  <a:lnTo>
                    <a:pt x="652" y="191"/>
                  </a:lnTo>
                  <a:lnTo>
                    <a:pt x="645" y="174"/>
                  </a:lnTo>
                  <a:lnTo>
                    <a:pt x="637" y="160"/>
                  </a:lnTo>
                  <a:lnTo>
                    <a:pt x="633" y="154"/>
                  </a:lnTo>
                  <a:lnTo>
                    <a:pt x="629" y="158"/>
                  </a:lnTo>
                  <a:lnTo>
                    <a:pt x="621" y="167"/>
                  </a:lnTo>
                  <a:lnTo>
                    <a:pt x="610" y="180"/>
                  </a:lnTo>
                  <a:lnTo>
                    <a:pt x="597" y="195"/>
                  </a:lnTo>
                  <a:lnTo>
                    <a:pt x="584" y="211"/>
                  </a:lnTo>
                  <a:lnTo>
                    <a:pt x="572" y="225"/>
                  </a:lnTo>
                  <a:lnTo>
                    <a:pt x="564" y="235"/>
                  </a:lnTo>
                  <a:lnTo>
                    <a:pt x="560" y="241"/>
                  </a:lnTo>
                  <a:lnTo>
                    <a:pt x="562" y="243"/>
                  </a:lnTo>
                  <a:lnTo>
                    <a:pt x="564" y="246"/>
                  </a:lnTo>
                  <a:lnTo>
                    <a:pt x="571" y="248"/>
                  </a:lnTo>
                  <a:lnTo>
                    <a:pt x="579" y="251"/>
                  </a:lnTo>
                  <a:lnTo>
                    <a:pt x="586" y="254"/>
                  </a:lnTo>
                  <a:lnTo>
                    <a:pt x="594" y="255"/>
                  </a:lnTo>
                  <a:lnTo>
                    <a:pt x="602" y="256"/>
                  </a:lnTo>
                  <a:lnTo>
                    <a:pt x="607" y="256"/>
                  </a:lnTo>
                  <a:lnTo>
                    <a:pt x="598" y="266"/>
                  </a:lnTo>
                  <a:lnTo>
                    <a:pt x="590" y="276"/>
                  </a:lnTo>
                  <a:lnTo>
                    <a:pt x="582" y="283"/>
                  </a:lnTo>
                  <a:lnTo>
                    <a:pt x="575" y="290"/>
                  </a:lnTo>
                  <a:lnTo>
                    <a:pt x="568" y="296"/>
                  </a:lnTo>
                  <a:lnTo>
                    <a:pt x="563" y="301"/>
                  </a:lnTo>
                  <a:lnTo>
                    <a:pt x="559" y="305"/>
                  </a:lnTo>
                  <a:lnTo>
                    <a:pt x="558" y="308"/>
                  </a:lnTo>
                  <a:lnTo>
                    <a:pt x="536" y="305"/>
                  </a:lnTo>
                  <a:lnTo>
                    <a:pt x="509" y="301"/>
                  </a:lnTo>
                  <a:lnTo>
                    <a:pt x="479" y="294"/>
                  </a:lnTo>
                  <a:lnTo>
                    <a:pt x="446" y="286"/>
                  </a:lnTo>
                  <a:lnTo>
                    <a:pt x="412" y="276"/>
                  </a:lnTo>
                  <a:lnTo>
                    <a:pt x="375" y="265"/>
                  </a:lnTo>
                  <a:lnTo>
                    <a:pt x="338" y="254"/>
                  </a:lnTo>
                  <a:lnTo>
                    <a:pt x="302" y="241"/>
                  </a:lnTo>
                  <a:lnTo>
                    <a:pt x="264" y="228"/>
                  </a:lnTo>
                  <a:lnTo>
                    <a:pt x="228" y="215"/>
                  </a:lnTo>
                  <a:lnTo>
                    <a:pt x="194" y="202"/>
                  </a:lnTo>
                  <a:lnTo>
                    <a:pt x="163" y="189"/>
                  </a:lnTo>
                  <a:lnTo>
                    <a:pt x="133" y="176"/>
                  </a:lnTo>
                  <a:lnTo>
                    <a:pt x="109" y="165"/>
                  </a:lnTo>
                  <a:lnTo>
                    <a:pt x="88" y="155"/>
                  </a:lnTo>
                  <a:lnTo>
                    <a:pt x="71" y="146"/>
                  </a:lnTo>
                  <a:lnTo>
                    <a:pt x="65" y="143"/>
                  </a:lnTo>
                  <a:lnTo>
                    <a:pt x="57" y="140"/>
                  </a:lnTo>
                  <a:lnTo>
                    <a:pt x="47" y="136"/>
                  </a:lnTo>
                  <a:lnTo>
                    <a:pt x="36" y="132"/>
                  </a:lnTo>
                  <a:lnTo>
                    <a:pt x="26" y="128"/>
                  </a:lnTo>
                  <a:lnTo>
                    <a:pt x="17" y="125"/>
                  </a:lnTo>
                  <a:lnTo>
                    <a:pt x="12" y="124"/>
                  </a:lnTo>
                  <a:lnTo>
                    <a:pt x="9" y="123"/>
                  </a:lnTo>
                  <a:lnTo>
                    <a:pt x="8" y="115"/>
                  </a:lnTo>
                  <a:lnTo>
                    <a:pt x="5" y="103"/>
                  </a:lnTo>
                  <a:lnTo>
                    <a:pt x="2" y="90"/>
                  </a:lnTo>
                  <a:lnTo>
                    <a:pt x="0" y="84"/>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 name="Freeform 15"/>
            <p:cNvSpPr>
              <a:spLocks/>
            </p:cNvSpPr>
            <p:nvPr/>
          </p:nvSpPr>
          <p:spPr bwMode="auto">
            <a:xfrm>
              <a:off x="2050" y="3142"/>
              <a:ext cx="68" cy="64"/>
            </a:xfrm>
            <a:custGeom>
              <a:avLst/>
              <a:gdLst>
                <a:gd name="T0" fmla="*/ 68 w 68"/>
                <a:gd name="T1" fmla="*/ 30 h 64"/>
                <a:gd name="T2" fmla="*/ 68 w 68"/>
                <a:gd name="T3" fmla="*/ 30 h 64"/>
                <a:gd name="T4" fmla="*/ 64 w 68"/>
                <a:gd name="T5" fmla="*/ 39 h 64"/>
                <a:gd name="T6" fmla="*/ 58 w 68"/>
                <a:gd name="T7" fmla="*/ 46 h 64"/>
                <a:gd name="T8" fmla="*/ 51 w 68"/>
                <a:gd name="T9" fmla="*/ 51 h 64"/>
                <a:gd name="T10" fmla="*/ 44 w 68"/>
                <a:gd name="T11" fmla="*/ 56 h 64"/>
                <a:gd name="T12" fmla="*/ 36 w 68"/>
                <a:gd name="T13" fmla="*/ 58 h 64"/>
                <a:gd name="T14" fmla="*/ 27 w 68"/>
                <a:gd name="T15" fmla="*/ 61 h 64"/>
                <a:gd name="T16" fmla="*/ 18 w 68"/>
                <a:gd name="T17" fmla="*/ 62 h 64"/>
                <a:gd name="T18" fmla="*/ 9 w 68"/>
                <a:gd name="T19" fmla="*/ 64 h 64"/>
                <a:gd name="T20" fmla="*/ 0 w 68"/>
                <a:gd name="T21" fmla="*/ 64 h 64"/>
                <a:gd name="T22" fmla="*/ 1 w 68"/>
                <a:gd name="T23" fmla="*/ 61 h 64"/>
                <a:gd name="T24" fmla="*/ 4 w 68"/>
                <a:gd name="T25" fmla="*/ 60 h 64"/>
                <a:gd name="T26" fmla="*/ 5 w 68"/>
                <a:gd name="T27" fmla="*/ 57 h 64"/>
                <a:gd name="T28" fmla="*/ 6 w 68"/>
                <a:gd name="T29" fmla="*/ 56 h 64"/>
                <a:gd name="T30" fmla="*/ 7 w 68"/>
                <a:gd name="T31" fmla="*/ 56 h 64"/>
                <a:gd name="T32" fmla="*/ 7 w 68"/>
                <a:gd name="T33" fmla="*/ 56 h 64"/>
                <a:gd name="T34" fmla="*/ 7 w 68"/>
                <a:gd name="T35" fmla="*/ 56 h 64"/>
                <a:gd name="T36" fmla="*/ 9 w 68"/>
                <a:gd name="T37" fmla="*/ 55 h 64"/>
                <a:gd name="T38" fmla="*/ 14 w 68"/>
                <a:gd name="T39" fmla="*/ 48 h 64"/>
                <a:gd name="T40" fmla="*/ 20 w 68"/>
                <a:gd name="T41" fmla="*/ 43 h 64"/>
                <a:gd name="T42" fmla="*/ 26 w 68"/>
                <a:gd name="T43" fmla="*/ 36 h 64"/>
                <a:gd name="T44" fmla="*/ 32 w 68"/>
                <a:gd name="T45" fmla="*/ 29 h 64"/>
                <a:gd name="T46" fmla="*/ 37 w 68"/>
                <a:gd name="T47" fmla="*/ 22 h 64"/>
                <a:gd name="T48" fmla="*/ 42 w 68"/>
                <a:gd name="T49" fmla="*/ 16 h 64"/>
                <a:gd name="T50" fmla="*/ 46 w 68"/>
                <a:gd name="T51" fmla="*/ 8 h 64"/>
                <a:gd name="T52" fmla="*/ 51 w 68"/>
                <a:gd name="T53" fmla="*/ 0 h 64"/>
                <a:gd name="T54" fmla="*/ 57 w 68"/>
                <a:gd name="T55" fmla="*/ 7 h 64"/>
                <a:gd name="T56" fmla="*/ 60 w 68"/>
                <a:gd name="T57" fmla="*/ 12 h 64"/>
                <a:gd name="T58" fmla="*/ 64 w 68"/>
                <a:gd name="T59" fmla="*/ 18 h 64"/>
                <a:gd name="T60" fmla="*/ 67 w 68"/>
                <a:gd name="T61" fmla="*/ 25 h 64"/>
                <a:gd name="T62" fmla="*/ 68 w 68"/>
                <a:gd name="T63" fmla="*/ 25 h 64"/>
                <a:gd name="T64" fmla="*/ 67 w 68"/>
                <a:gd name="T65" fmla="*/ 26 h 64"/>
                <a:gd name="T66" fmla="*/ 67 w 68"/>
                <a:gd name="T67" fmla="*/ 27 h 64"/>
                <a:gd name="T68" fmla="*/ 67 w 68"/>
                <a:gd name="T69" fmla="*/ 29 h 64"/>
                <a:gd name="T70" fmla="*/ 68 w 68"/>
                <a:gd name="T71" fmla="*/ 30 h 6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
                <a:gd name="T109" fmla="*/ 0 h 64"/>
                <a:gd name="T110" fmla="*/ 68 w 68"/>
                <a:gd name="T111" fmla="*/ 64 h 6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 h="64">
                  <a:moveTo>
                    <a:pt x="68" y="30"/>
                  </a:moveTo>
                  <a:lnTo>
                    <a:pt x="68" y="30"/>
                  </a:lnTo>
                  <a:lnTo>
                    <a:pt x="64" y="39"/>
                  </a:lnTo>
                  <a:lnTo>
                    <a:pt x="58" y="46"/>
                  </a:lnTo>
                  <a:lnTo>
                    <a:pt x="51" y="51"/>
                  </a:lnTo>
                  <a:lnTo>
                    <a:pt x="44" y="56"/>
                  </a:lnTo>
                  <a:lnTo>
                    <a:pt x="36" y="58"/>
                  </a:lnTo>
                  <a:lnTo>
                    <a:pt x="27" y="61"/>
                  </a:lnTo>
                  <a:lnTo>
                    <a:pt x="18" y="62"/>
                  </a:lnTo>
                  <a:lnTo>
                    <a:pt x="9" y="64"/>
                  </a:lnTo>
                  <a:lnTo>
                    <a:pt x="0" y="64"/>
                  </a:lnTo>
                  <a:lnTo>
                    <a:pt x="1" y="61"/>
                  </a:lnTo>
                  <a:lnTo>
                    <a:pt x="4" y="60"/>
                  </a:lnTo>
                  <a:lnTo>
                    <a:pt x="5" y="57"/>
                  </a:lnTo>
                  <a:lnTo>
                    <a:pt x="6" y="56"/>
                  </a:lnTo>
                  <a:lnTo>
                    <a:pt x="7" y="56"/>
                  </a:lnTo>
                  <a:lnTo>
                    <a:pt x="9" y="55"/>
                  </a:lnTo>
                  <a:lnTo>
                    <a:pt x="14" y="48"/>
                  </a:lnTo>
                  <a:lnTo>
                    <a:pt x="20" y="43"/>
                  </a:lnTo>
                  <a:lnTo>
                    <a:pt x="26" y="36"/>
                  </a:lnTo>
                  <a:lnTo>
                    <a:pt x="32" y="29"/>
                  </a:lnTo>
                  <a:lnTo>
                    <a:pt x="37" y="22"/>
                  </a:lnTo>
                  <a:lnTo>
                    <a:pt x="42" y="16"/>
                  </a:lnTo>
                  <a:lnTo>
                    <a:pt x="46" y="8"/>
                  </a:lnTo>
                  <a:lnTo>
                    <a:pt x="51" y="0"/>
                  </a:lnTo>
                  <a:lnTo>
                    <a:pt x="57" y="7"/>
                  </a:lnTo>
                  <a:lnTo>
                    <a:pt x="60" y="12"/>
                  </a:lnTo>
                  <a:lnTo>
                    <a:pt x="64" y="18"/>
                  </a:lnTo>
                  <a:lnTo>
                    <a:pt x="67" y="25"/>
                  </a:lnTo>
                  <a:lnTo>
                    <a:pt x="68" y="25"/>
                  </a:lnTo>
                  <a:lnTo>
                    <a:pt x="67" y="26"/>
                  </a:lnTo>
                  <a:lnTo>
                    <a:pt x="67" y="27"/>
                  </a:lnTo>
                  <a:lnTo>
                    <a:pt x="67" y="29"/>
                  </a:lnTo>
                  <a:lnTo>
                    <a:pt x="68" y="3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 name="Freeform 16"/>
            <p:cNvSpPr>
              <a:spLocks/>
            </p:cNvSpPr>
            <p:nvPr/>
          </p:nvSpPr>
          <p:spPr bwMode="auto">
            <a:xfrm>
              <a:off x="1973" y="3255"/>
              <a:ext cx="52" cy="49"/>
            </a:xfrm>
            <a:custGeom>
              <a:avLst/>
              <a:gdLst>
                <a:gd name="T0" fmla="*/ 51 w 52"/>
                <a:gd name="T1" fmla="*/ 32 h 49"/>
                <a:gd name="T2" fmla="*/ 47 w 52"/>
                <a:gd name="T3" fmla="*/ 40 h 49"/>
                <a:gd name="T4" fmla="*/ 42 w 52"/>
                <a:gd name="T5" fmla="*/ 45 h 49"/>
                <a:gd name="T6" fmla="*/ 37 w 52"/>
                <a:gd name="T7" fmla="*/ 48 h 49"/>
                <a:gd name="T8" fmla="*/ 30 w 52"/>
                <a:gd name="T9" fmla="*/ 49 h 49"/>
                <a:gd name="T10" fmla="*/ 22 w 52"/>
                <a:gd name="T11" fmla="*/ 49 h 49"/>
                <a:gd name="T12" fmla="*/ 16 w 52"/>
                <a:gd name="T13" fmla="*/ 48 h 49"/>
                <a:gd name="T14" fmla="*/ 8 w 52"/>
                <a:gd name="T15" fmla="*/ 45 h 49"/>
                <a:gd name="T16" fmla="*/ 0 w 52"/>
                <a:gd name="T17" fmla="*/ 43 h 49"/>
                <a:gd name="T18" fmla="*/ 2 w 52"/>
                <a:gd name="T19" fmla="*/ 41 h 49"/>
                <a:gd name="T20" fmla="*/ 5 w 52"/>
                <a:gd name="T21" fmla="*/ 39 h 49"/>
                <a:gd name="T22" fmla="*/ 11 w 52"/>
                <a:gd name="T23" fmla="*/ 34 h 49"/>
                <a:gd name="T24" fmla="*/ 17 w 52"/>
                <a:gd name="T25" fmla="*/ 27 h 49"/>
                <a:gd name="T26" fmla="*/ 24 w 52"/>
                <a:gd name="T27" fmla="*/ 21 h 49"/>
                <a:gd name="T28" fmla="*/ 30 w 52"/>
                <a:gd name="T29" fmla="*/ 14 h 49"/>
                <a:gd name="T30" fmla="*/ 37 w 52"/>
                <a:gd name="T31" fmla="*/ 6 h 49"/>
                <a:gd name="T32" fmla="*/ 42 w 52"/>
                <a:gd name="T33" fmla="*/ 0 h 49"/>
                <a:gd name="T34" fmla="*/ 46 w 52"/>
                <a:gd name="T35" fmla="*/ 9 h 49"/>
                <a:gd name="T36" fmla="*/ 49 w 52"/>
                <a:gd name="T37" fmla="*/ 17 h 49"/>
                <a:gd name="T38" fmla="*/ 52 w 52"/>
                <a:gd name="T39" fmla="*/ 24 h 49"/>
                <a:gd name="T40" fmla="*/ 51 w 52"/>
                <a:gd name="T41" fmla="*/ 32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2"/>
                <a:gd name="T64" fmla="*/ 0 h 49"/>
                <a:gd name="T65" fmla="*/ 52 w 52"/>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2" h="49">
                  <a:moveTo>
                    <a:pt x="51" y="32"/>
                  </a:moveTo>
                  <a:lnTo>
                    <a:pt x="47" y="40"/>
                  </a:lnTo>
                  <a:lnTo>
                    <a:pt x="42" y="45"/>
                  </a:lnTo>
                  <a:lnTo>
                    <a:pt x="37" y="48"/>
                  </a:lnTo>
                  <a:lnTo>
                    <a:pt x="30" y="49"/>
                  </a:lnTo>
                  <a:lnTo>
                    <a:pt x="22" y="49"/>
                  </a:lnTo>
                  <a:lnTo>
                    <a:pt x="16" y="48"/>
                  </a:lnTo>
                  <a:lnTo>
                    <a:pt x="8" y="45"/>
                  </a:lnTo>
                  <a:lnTo>
                    <a:pt x="0" y="43"/>
                  </a:lnTo>
                  <a:lnTo>
                    <a:pt x="2" y="41"/>
                  </a:lnTo>
                  <a:lnTo>
                    <a:pt x="5" y="39"/>
                  </a:lnTo>
                  <a:lnTo>
                    <a:pt x="11" y="34"/>
                  </a:lnTo>
                  <a:lnTo>
                    <a:pt x="17" y="27"/>
                  </a:lnTo>
                  <a:lnTo>
                    <a:pt x="24" y="21"/>
                  </a:lnTo>
                  <a:lnTo>
                    <a:pt x="30" y="14"/>
                  </a:lnTo>
                  <a:lnTo>
                    <a:pt x="37" y="6"/>
                  </a:lnTo>
                  <a:lnTo>
                    <a:pt x="42" y="0"/>
                  </a:lnTo>
                  <a:lnTo>
                    <a:pt x="46" y="9"/>
                  </a:lnTo>
                  <a:lnTo>
                    <a:pt x="49" y="17"/>
                  </a:lnTo>
                  <a:lnTo>
                    <a:pt x="52" y="24"/>
                  </a:lnTo>
                  <a:lnTo>
                    <a:pt x="51" y="3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 name="Freeform 17"/>
            <p:cNvSpPr>
              <a:spLocks/>
            </p:cNvSpPr>
            <p:nvPr/>
          </p:nvSpPr>
          <p:spPr bwMode="auto">
            <a:xfrm>
              <a:off x="1400" y="3136"/>
              <a:ext cx="775" cy="285"/>
            </a:xfrm>
            <a:custGeom>
              <a:avLst/>
              <a:gdLst>
                <a:gd name="T0" fmla="*/ 652 w 775"/>
                <a:gd name="T1" fmla="*/ 190 h 285"/>
                <a:gd name="T2" fmla="*/ 630 w 775"/>
                <a:gd name="T3" fmla="*/ 221 h 285"/>
                <a:gd name="T4" fmla="*/ 606 w 775"/>
                <a:gd name="T5" fmla="*/ 251 h 285"/>
                <a:gd name="T6" fmla="*/ 577 w 775"/>
                <a:gd name="T7" fmla="*/ 273 h 285"/>
                <a:gd name="T8" fmla="*/ 542 w 775"/>
                <a:gd name="T9" fmla="*/ 283 h 285"/>
                <a:gd name="T10" fmla="*/ 503 w 775"/>
                <a:gd name="T11" fmla="*/ 285 h 285"/>
                <a:gd name="T12" fmla="*/ 466 w 775"/>
                <a:gd name="T13" fmla="*/ 278 h 285"/>
                <a:gd name="T14" fmla="*/ 428 w 775"/>
                <a:gd name="T15" fmla="*/ 267 h 285"/>
                <a:gd name="T16" fmla="*/ 386 w 775"/>
                <a:gd name="T17" fmla="*/ 251 h 285"/>
                <a:gd name="T18" fmla="*/ 335 w 775"/>
                <a:gd name="T19" fmla="*/ 232 h 285"/>
                <a:gd name="T20" fmla="*/ 286 w 775"/>
                <a:gd name="T21" fmla="*/ 212 h 285"/>
                <a:gd name="T22" fmla="*/ 234 w 775"/>
                <a:gd name="T23" fmla="*/ 193 h 285"/>
                <a:gd name="T24" fmla="*/ 184 w 775"/>
                <a:gd name="T25" fmla="*/ 172 h 285"/>
                <a:gd name="T26" fmla="*/ 133 w 775"/>
                <a:gd name="T27" fmla="*/ 153 h 285"/>
                <a:gd name="T28" fmla="*/ 84 w 775"/>
                <a:gd name="T29" fmla="*/ 132 h 285"/>
                <a:gd name="T30" fmla="*/ 35 w 775"/>
                <a:gd name="T31" fmla="*/ 111 h 285"/>
                <a:gd name="T32" fmla="*/ 9 w 775"/>
                <a:gd name="T33" fmla="*/ 98 h 285"/>
                <a:gd name="T34" fmla="*/ 1 w 775"/>
                <a:gd name="T35" fmla="*/ 84 h 285"/>
                <a:gd name="T36" fmla="*/ 9 w 775"/>
                <a:gd name="T37" fmla="*/ 83 h 285"/>
                <a:gd name="T38" fmla="*/ 31 w 775"/>
                <a:gd name="T39" fmla="*/ 92 h 285"/>
                <a:gd name="T40" fmla="*/ 54 w 775"/>
                <a:gd name="T41" fmla="*/ 101 h 285"/>
                <a:gd name="T42" fmla="*/ 76 w 775"/>
                <a:gd name="T43" fmla="*/ 110 h 285"/>
                <a:gd name="T44" fmla="*/ 111 w 775"/>
                <a:gd name="T45" fmla="*/ 127 h 285"/>
                <a:gd name="T46" fmla="*/ 158 w 775"/>
                <a:gd name="T47" fmla="*/ 146 h 285"/>
                <a:gd name="T48" fmla="*/ 198 w 775"/>
                <a:gd name="T49" fmla="*/ 160 h 285"/>
                <a:gd name="T50" fmla="*/ 232 w 775"/>
                <a:gd name="T51" fmla="*/ 172 h 285"/>
                <a:gd name="T52" fmla="*/ 264 w 775"/>
                <a:gd name="T53" fmla="*/ 184 h 285"/>
                <a:gd name="T54" fmla="*/ 296 w 775"/>
                <a:gd name="T55" fmla="*/ 195 h 285"/>
                <a:gd name="T56" fmla="*/ 329 w 775"/>
                <a:gd name="T57" fmla="*/ 207 h 285"/>
                <a:gd name="T58" fmla="*/ 361 w 775"/>
                <a:gd name="T59" fmla="*/ 219 h 285"/>
                <a:gd name="T60" fmla="*/ 393 w 775"/>
                <a:gd name="T61" fmla="*/ 230 h 285"/>
                <a:gd name="T62" fmla="*/ 426 w 775"/>
                <a:gd name="T63" fmla="*/ 241 h 285"/>
                <a:gd name="T64" fmla="*/ 458 w 775"/>
                <a:gd name="T65" fmla="*/ 251 h 285"/>
                <a:gd name="T66" fmla="*/ 492 w 775"/>
                <a:gd name="T67" fmla="*/ 260 h 285"/>
                <a:gd name="T68" fmla="*/ 514 w 775"/>
                <a:gd name="T69" fmla="*/ 265 h 285"/>
                <a:gd name="T70" fmla="*/ 531 w 775"/>
                <a:gd name="T71" fmla="*/ 267 h 285"/>
                <a:gd name="T72" fmla="*/ 549 w 775"/>
                <a:gd name="T73" fmla="*/ 264 h 285"/>
                <a:gd name="T74" fmla="*/ 573 w 775"/>
                <a:gd name="T75" fmla="*/ 247 h 285"/>
                <a:gd name="T76" fmla="*/ 597 w 775"/>
                <a:gd name="T77" fmla="*/ 220 h 285"/>
                <a:gd name="T78" fmla="*/ 616 w 775"/>
                <a:gd name="T79" fmla="*/ 194 h 285"/>
                <a:gd name="T80" fmla="*/ 629 w 775"/>
                <a:gd name="T81" fmla="*/ 176 h 285"/>
                <a:gd name="T82" fmla="*/ 638 w 775"/>
                <a:gd name="T83" fmla="*/ 167 h 285"/>
                <a:gd name="T84" fmla="*/ 643 w 775"/>
                <a:gd name="T85" fmla="*/ 162 h 285"/>
                <a:gd name="T86" fmla="*/ 659 w 775"/>
                <a:gd name="T87" fmla="*/ 145 h 285"/>
                <a:gd name="T88" fmla="*/ 676 w 775"/>
                <a:gd name="T89" fmla="*/ 125 h 285"/>
                <a:gd name="T90" fmla="*/ 692 w 775"/>
                <a:gd name="T91" fmla="*/ 101 h 285"/>
                <a:gd name="T92" fmla="*/ 707 w 775"/>
                <a:gd name="T93" fmla="*/ 79 h 285"/>
                <a:gd name="T94" fmla="*/ 720 w 775"/>
                <a:gd name="T95" fmla="*/ 66 h 285"/>
                <a:gd name="T96" fmla="*/ 726 w 775"/>
                <a:gd name="T97" fmla="*/ 58 h 285"/>
                <a:gd name="T98" fmla="*/ 734 w 775"/>
                <a:gd name="T99" fmla="*/ 44 h 285"/>
                <a:gd name="T100" fmla="*/ 738 w 775"/>
                <a:gd name="T101" fmla="*/ 36 h 285"/>
                <a:gd name="T102" fmla="*/ 752 w 775"/>
                <a:gd name="T103" fmla="*/ 11 h 285"/>
                <a:gd name="T104" fmla="*/ 762 w 775"/>
                <a:gd name="T105" fmla="*/ 5 h 285"/>
                <a:gd name="T106" fmla="*/ 773 w 775"/>
                <a:gd name="T107" fmla="*/ 17 h 285"/>
                <a:gd name="T108" fmla="*/ 762 w 775"/>
                <a:gd name="T109" fmla="*/ 40 h 285"/>
                <a:gd name="T110" fmla="*/ 735 w 775"/>
                <a:gd name="T111" fmla="*/ 79 h 285"/>
                <a:gd name="T112" fmla="*/ 707 w 775"/>
                <a:gd name="T113" fmla="*/ 118 h 285"/>
                <a:gd name="T114" fmla="*/ 678 w 775"/>
                <a:gd name="T115" fmla="*/ 156 h 28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775"/>
                <a:gd name="T175" fmla="*/ 0 h 285"/>
                <a:gd name="T176" fmla="*/ 775 w 775"/>
                <a:gd name="T177" fmla="*/ 285 h 28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775" h="285">
                  <a:moveTo>
                    <a:pt x="663" y="176"/>
                  </a:moveTo>
                  <a:lnTo>
                    <a:pt x="652" y="190"/>
                  </a:lnTo>
                  <a:lnTo>
                    <a:pt x="641" y="206"/>
                  </a:lnTo>
                  <a:lnTo>
                    <a:pt x="630" y="221"/>
                  </a:lnTo>
                  <a:lnTo>
                    <a:pt x="619" y="237"/>
                  </a:lnTo>
                  <a:lnTo>
                    <a:pt x="606" y="251"/>
                  </a:lnTo>
                  <a:lnTo>
                    <a:pt x="591" y="264"/>
                  </a:lnTo>
                  <a:lnTo>
                    <a:pt x="577" y="273"/>
                  </a:lnTo>
                  <a:lnTo>
                    <a:pt x="560" y="279"/>
                  </a:lnTo>
                  <a:lnTo>
                    <a:pt x="542" y="283"/>
                  </a:lnTo>
                  <a:lnTo>
                    <a:pt x="523" y="285"/>
                  </a:lnTo>
                  <a:lnTo>
                    <a:pt x="503" y="285"/>
                  </a:lnTo>
                  <a:lnTo>
                    <a:pt x="484" y="282"/>
                  </a:lnTo>
                  <a:lnTo>
                    <a:pt x="466" y="278"/>
                  </a:lnTo>
                  <a:lnTo>
                    <a:pt x="446" y="273"/>
                  </a:lnTo>
                  <a:lnTo>
                    <a:pt x="428" y="267"/>
                  </a:lnTo>
                  <a:lnTo>
                    <a:pt x="410" y="260"/>
                  </a:lnTo>
                  <a:lnTo>
                    <a:pt x="386" y="251"/>
                  </a:lnTo>
                  <a:lnTo>
                    <a:pt x="361" y="241"/>
                  </a:lnTo>
                  <a:lnTo>
                    <a:pt x="335" y="232"/>
                  </a:lnTo>
                  <a:lnTo>
                    <a:pt x="311" y="221"/>
                  </a:lnTo>
                  <a:lnTo>
                    <a:pt x="286" y="212"/>
                  </a:lnTo>
                  <a:lnTo>
                    <a:pt x="260" y="202"/>
                  </a:lnTo>
                  <a:lnTo>
                    <a:pt x="234" y="193"/>
                  </a:lnTo>
                  <a:lnTo>
                    <a:pt x="210" y="182"/>
                  </a:lnTo>
                  <a:lnTo>
                    <a:pt x="184" y="172"/>
                  </a:lnTo>
                  <a:lnTo>
                    <a:pt x="159" y="163"/>
                  </a:lnTo>
                  <a:lnTo>
                    <a:pt x="133" y="153"/>
                  </a:lnTo>
                  <a:lnTo>
                    <a:pt x="109" y="142"/>
                  </a:lnTo>
                  <a:lnTo>
                    <a:pt x="84" y="132"/>
                  </a:lnTo>
                  <a:lnTo>
                    <a:pt x="59" y="121"/>
                  </a:lnTo>
                  <a:lnTo>
                    <a:pt x="35" y="111"/>
                  </a:lnTo>
                  <a:lnTo>
                    <a:pt x="10" y="101"/>
                  </a:lnTo>
                  <a:lnTo>
                    <a:pt x="9" y="98"/>
                  </a:lnTo>
                  <a:lnTo>
                    <a:pt x="5" y="92"/>
                  </a:lnTo>
                  <a:lnTo>
                    <a:pt x="1" y="84"/>
                  </a:lnTo>
                  <a:lnTo>
                    <a:pt x="0" y="79"/>
                  </a:lnTo>
                  <a:lnTo>
                    <a:pt x="9" y="83"/>
                  </a:lnTo>
                  <a:lnTo>
                    <a:pt x="19" y="86"/>
                  </a:lnTo>
                  <a:lnTo>
                    <a:pt x="31" y="92"/>
                  </a:lnTo>
                  <a:lnTo>
                    <a:pt x="43" y="96"/>
                  </a:lnTo>
                  <a:lnTo>
                    <a:pt x="54" y="101"/>
                  </a:lnTo>
                  <a:lnTo>
                    <a:pt x="66" y="105"/>
                  </a:lnTo>
                  <a:lnTo>
                    <a:pt x="76" y="110"/>
                  </a:lnTo>
                  <a:lnTo>
                    <a:pt x="85" y="114"/>
                  </a:lnTo>
                  <a:lnTo>
                    <a:pt x="111" y="127"/>
                  </a:lnTo>
                  <a:lnTo>
                    <a:pt x="136" y="137"/>
                  </a:lnTo>
                  <a:lnTo>
                    <a:pt x="158" y="146"/>
                  </a:lnTo>
                  <a:lnTo>
                    <a:pt x="178" y="154"/>
                  </a:lnTo>
                  <a:lnTo>
                    <a:pt x="198" y="160"/>
                  </a:lnTo>
                  <a:lnTo>
                    <a:pt x="215" y="167"/>
                  </a:lnTo>
                  <a:lnTo>
                    <a:pt x="232" y="172"/>
                  </a:lnTo>
                  <a:lnTo>
                    <a:pt x="247" y="177"/>
                  </a:lnTo>
                  <a:lnTo>
                    <a:pt x="264" y="184"/>
                  </a:lnTo>
                  <a:lnTo>
                    <a:pt x="281" y="189"/>
                  </a:lnTo>
                  <a:lnTo>
                    <a:pt x="296" y="195"/>
                  </a:lnTo>
                  <a:lnTo>
                    <a:pt x="313" y="200"/>
                  </a:lnTo>
                  <a:lnTo>
                    <a:pt x="329" y="207"/>
                  </a:lnTo>
                  <a:lnTo>
                    <a:pt x="345" y="213"/>
                  </a:lnTo>
                  <a:lnTo>
                    <a:pt x="361" y="219"/>
                  </a:lnTo>
                  <a:lnTo>
                    <a:pt x="378" y="224"/>
                  </a:lnTo>
                  <a:lnTo>
                    <a:pt x="393" y="230"/>
                  </a:lnTo>
                  <a:lnTo>
                    <a:pt x="410" y="235"/>
                  </a:lnTo>
                  <a:lnTo>
                    <a:pt x="426" y="241"/>
                  </a:lnTo>
                  <a:lnTo>
                    <a:pt x="443" y="246"/>
                  </a:lnTo>
                  <a:lnTo>
                    <a:pt x="458" y="251"/>
                  </a:lnTo>
                  <a:lnTo>
                    <a:pt x="475" y="256"/>
                  </a:lnTo>
                  <a:lnTo>
                    <a:pt x="492" y="260"/>
                  </a:lnTo>
                  <a:lnTo>
                    <a:pt x="509" y="264"/>
                  </a:lnTo>
                  <a:lnTo>
                    <a:pt x="514" y="265"/>
                  </a:lnTo>
                  <a:lnTo>
                    <a:pt x="522" y="267"/>
                  </a:lnTo>
                  <a:lnTo>
                    <a:pt x="531" y="267"/>
                  </a:lnTo>
                  <a:lnTo>
                    <a:pt x="536" y="267"/>
                  </a:lnTo>
                  <a:lnTo>
                    <a:pt x="549" y="264"/>
                  </a:lnTo>
                  <a:lnTo>
                    <a:pt x="560" y="257"/>
                  </a:lnTo>
                  <a:lnTo>
                    <a:pt x="573" y="247"/>
                  </a:lnTo>
                  <a:lnTo>
                    <a:pt x="585" y="234"/>
                  </a:lnTo>
                  <a:lnTo>
                    <a:pt x="597" y="220"/>
                  </a:lnTo>
                  <a:lnTo>
                    <a:pt x="607" y="206"/>
                  </a:lnTo>
                  <a:lnTo>
                    <a:pt x="616" y="194"/>
                  </a:lnTo>
                  <a:lnTo>
                    <a:pt x="622" y="185"/>
                  </a:lnTo>
                  <a:lnTo>
                    <a:pt x="629" y="176"/>
                  </a:lnTo>
                  <a:lnTo>
                    <a:pt x="635" y="171"/>
                  </a:lnTo>
                  <a:lnTo>
                    <a:pt x="638" y="167"/>
                  </a:lnTo>
                  <a:lnTo>
                    <a:pt x="639" y="165"/>
                  </a:lnTo>
                  <a:lnTo>
                    <a:pt x="643" y="162"/>
                  </a:lnTo>
                  <a:lnTo>
                    <a:pt x="651" y="153"/>
                  </a:lnTo>
                  <a:lnTo>
                    <a:pt x="659" y="145"/>
                  </a:lnTo>
                  <a:lnTo>
                    <a:pt x="663" y="141"/>
                  </a:lnTo>
                  <a:lnTo>
                    <a:pt x="676" y="125"/>
                  </a:lnTo>
                  <a:lnTo>
                    <a:pt x="685" y="114"/>
                  </a:lnTo>
                  <a:lnTo>
                    <a:pt x="692" y="101"/>
                  </a:lnTo>
                  <a:lnTo>
                    <a:pt x="700" y="83"/>
                  </a:lnTo>
                  <a:lnTo>
                    <a:pt x="707" y="79"/>
                  </a:lnTo>
                  <a:lnTo>
                    <a:pt x="713" y="72"/>
                  </a:lnTo>
                  <a:lnTo>
                    <a:pt x="720" y="66"/>
                  </a:lnTo>
                  <a:lnTo>
                    <a:pt x="725" y="61"/>
                  </a:lnTo>
                  <a:lnTo>
                    <a:pt x="726" y="58"/>
                  </a:lnTo>
                  <a:lnTo>
                    <a:pt x="730" y="52"/>
                  </a:lnTo>
                  <a:lnTo>
                    <a:pt x="734" y="44"/>
                  </a:lnTo>
                  <a:lnTo>
                    <a:pt x="735" y="40"/>
                  </a:lnTo>
                  <a:lnTo>
                    <a:pt x="738" y="36"/>
                  </a:lnTo>
                  <a:lnTo>
                    <a:pt x="744" y="26"/>
                  </a:lnTo>
                  <a:lnTo>
                    <a:pt x="752" y="11"/>
                  </a:lnTo>
                  <a:lnTo>
                    <a:pt x="758" y="0"/>
                  </a:lnTo>
                  <a:lnTo>
                    <a:pt x="762" y="5"/>
                  </a:lnTo>
                  <a:lnTo>
                    <a:pt x="767" y="11"/>
                  </a:lnTo>
                  <a:lnTo>
                    <a:pt x="773" y="17"/>
                  </a:lnTo>
                  <a:lnTo>
                    <a:pt x="775" y="20"/>
                  </a:lnTo>
                  <a:lnTo>
                    <a:pt x="762" y="40"/>
                  </a:lnTo>
                  <a:lnTo>
                    <a:pt x="749" y="59"/>
                  </a:lnTo>
                  <a:lnTo>
                    <a:pt x="735" y="79"/>
                  </a:lnTo>
                  <a:lnTo>
                    <a:pt x="721" y="98"/>
                  </a:lnTo>
                  <a:lnTo>
                    <a:pt x="707" y="118"/>
                  </a:lnTo>
                  <a:lnTo>
                    <a:pt x="692" y="137"/>
                  </a:lnTo>
                  <a:lnTo>
                    <a:pt x="678" y="156"/>
                  </a:lnTo>
                  <a:lnTo>
                    <a:pt x="663" y="176"/>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 name="Freeform 18"/>
            <p:cNvSpPr>
              <a:spLocks/>
            </p:cNvSpPr>
            <p:nvPr/>
          </p:nvSpPr>
          <p:spPr bwMode="auto">
            <a:xfrm>
              <a:off x="1991" y="2949"/>
              <a:ext cx="237" cy="188"/>
            </a:xfrm>
            <a:custGeom>
              <a:avLst/>
              <a:gdLst>
                <a:gd name="T0" fmla="*/ 197 w 237"/>
                <a:gd name="T1" fmla="*/ 188 h 188"/>
                <a:gd name="T2" fmla="*/ 191 w 237"/>
                <a:gd name="T3" fmla="*/ 179 h 188"/>
                <a:gd name="T4" fmla="*/ 183 w 237"/>
                <a:gd name="T5" fmla="*/ 170 h 188"/>
                <a:gd name="T6" fmla="*/ 175 w 237"/>
                <a:gd name="T7" fmla="*/ 162 h 188"/>
                <a:gd name="T8" fmla="*/ 167 w 237"/>
                <a:gd name="T9" fmla="*/ 153 h 188"/>
                <a:gd name="T10" fmla="*/ 160 w 237"/>
                <a:gd name="T11" fmla="*/ 145 h 188"/>
                <a:gd name="T12" fmla="*/ 152 w 237"/>
                <a:gd name="T13" fmla="*/ 136 h 188"/>
                <a:gd name="T14" fmla="*/ 144 w 237"/>
                <a:gd name="T15" fmla="*/ 128 h 188"/>
                <a:gd name="T16" fmla="*/ 136 w 237"/>
                <a:gd name="T17" fmla="*/ 119 h 188"/>
                <a:gd name="T18" fmla="*/ 123 w 237"/>
                <a:gd name="T19" fmla="*/ 105 h 188"/>
                <a:gd name="T20" fmla="*/ 110 w 237"/>
                <a:gd name="T21" fmla="*/ 95 h 188"/>
                <a:gd name="T22" fmla="*/ 95 w 237"/>
                <a:gd name="T23" fmla="*/ 86 h 188"/>
                <a:gd name="T24" fmla="*/ 78 w 237"/>
                <a:gd name="T25" fmla="*/ 78 h 188"/>
                <a:gd name="T26" fmla="*/ 61 w 237"/>
                <a:gd name="T27" fmla="*/ 73 h 188"/>
                <a:gd name="T28" fmla="*/ 44 w 237"/>
                <a:gd name="T29" fmla="*/ 66 h 188"/>
                <a:gd name="T30" fmla="*/ 28 w 237"/>
                <a:gd name="T31" fmla="*/ 60 h 188"/>
                <a:gd name="T32" fmla="*/ 11 w 237"/>
                <a:gd name="T33" fmla="*/ 53 h 188"/>
                <a:gd name="T34" fmla="*/ 7 w 237"/>
                <a:gd name="T35" fmla="*/ 51 h 188"/>
                <a:gd name="T36" fmla="*/ 4 w 237"/>
                <a:gd name="T37" fmla="*/ 48 h 188"/>
                <a:gd name="T38" fmla="*/ 2 w 237"/>
                <a:gd name="T39" fmla="*/ 45 h 188"/>
                <a:gd name="T40" fmla="*/ 0 w 237"/>
                <a:gd name="T41" fmla="*/ 42 h 188"/>
                <a:gd name="T42" fmla="*/ 0 w 237"/>
                <a:gd name="T43" fmla="*/ 31 h 188"/>
                <a:gd name="T44" fmla="*/ 4 w 237"/>
                <a:gd name="T45" fmla="*/ 21 h 188"/>
                <a:gd name="T46" fmla="*/ 9 w 237"/>
                <a:gd name="T47" fmla="*/ 13 h 188"/>
                <a:gd name="T48" fmla="*/ 20 w 237"/>
                <a:gd name="T49" fmla="*/ 8 h 188"/>
                <a:gd name="T50" fmla="*/ 33 w 237"/>
                <a:gd name="T51" fmla="*/ 4 h 188"/>
                <a:gd name="T52" fmla="*/ 47 w 237"/>
                <a:gd name="T53" fmla="*/ 1 h 188"/>
                <a:gd name="T54" fmla="*/ 61 w 237"/>
                <a:gd name="T55" fmla="*/ 0 h 188"/>
                <a:gd name="T56" fmla="*/ 75 w 237"/>
                <a:gd name="T57" fmla="*/ 1 h 188"/>
                <a:gd name="T58" fmla="*/ 90 w 237"/>
                <a:gd name="T59" fmla="*/ 4 h 188"/>
                <a:gd name="T60" fmla="*/ 103 w 237"/>
                <a:gd name="T61" fmla="*/ 8 h 188"/>
                <a:gd name="T62" fmla="*/ 116 w 237"/>
                <a:gd name="T63" fmla="*/ 13 h 188"/>
                <a:gd name="T64" fmla="*/ 129 w 237"/>
                <a:gd name="T65" fmla="*/ 20 h 188"/>
                <a:gd name="T66" fmla="*/ 145 w 237"/>
                <a:gd name="T67" fmla="*/ 30 h 188"/>
                <a:gd name="T68" fmla="*/ 161 w 237"/>
                <a:gd name="T69" fmla="*/ 42 h 188"/>
                <a:gd name="T70" fmla="*/ 175 w 237"/>
                <a:gd name="T71" fmla="*/ 53 h 188"/>
                <a:gd name="T72" fmla="*/ 188 w 237"/>
                <a:gd name="T73" fmla="*/ 68 h 188"/>
                <a:gd name="T74" fmla="*/ 201 w 237"/>
                <a:gd name="T75" fmla="*/ 82 h 188"/>
                <a:gd name="T76" fmla="*/ 213 w 237"/>
                <a:gd name="T77" fmla="*/ 97 h 188"/>
                <a:gd name="T78" fmla="*/ 226 w 237"/>
                <a:gd name="T79" fmla="*/ 112 h 188"/>
                <a:gd name="T80" fmla="*/ 237 w 237"/>
                <a:gd name="T81" fmla="*/ 127 h 188"/>
                <a:gd name="T82" fmla="*/ 232 w 237"/>
                <a:gd name="T83" fmla="*/ 135 h 188"/>
                <a:gd name="T84" fmla="*/ 227 w 237"/>
                <a:gd name="T85" fmla="*/ 143 h 188"/>
                <a:gd name="T86" fmla="*/ 222 w 237"/>
                <a:gd name="T87" fmla="*/ 150 h 188"/>
                <a:gd name="T88" fmla="*/ 218 w 237"/>
                <a:gd name="T89" fmla="*/ 158 h 188"/>
                <a:gd name="T90" fmla="*/ 213 w 237"/>
                <a:gd name="T91" fmla="*/ 166 h 188"/>
                <a:gd name="T92" fmla="*/ 208 w 237"/>
                <a:gd name="T93" fmla="*/ 174 h 188"/>
                <a:gd name="T94" fmla="*/ 202 w 237"/>
                <a:gd name="T95" fmla="*/ 180 h 188"/>
                <a:gd name="T96" fmla="*/ 197 w 237"/>
                <a:gd name="T97" fmla="*/ 188 h 1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37"/>
                <a:gd name="T148" fmla="*/ 0 h 188"/>
                <a:gd name="T149" fmla="*/ 237 w 237"/>
                <a:gd name="T150" fmla="*/ 188 h 1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37" h="188">
                  <a:moveTo>
                    <a:pt x="197" y="188"/>
                  </a:moveTo>
                  <a:lnTo>
                    <a:pt x="191" y="179"/>
                  </a:lnTo>
                  <a:lnTo>
                    <a:pt x="183" y="170"/>
                  </a:lnTo>
                  <a:lnTo>
                    <a:pt x="175" y="162"/>
                  </a:lnTo>
                  <a:lnTo>
                    <a:pt x="167" y="153"/>
                  </a:lnTo>
                  <a:lnTo>
                    <a:pt x="160" y="145"/>
                  </a:lnTo>
                  <a:lnTo>
                    <a:pt x="152" y="136"/>
                  </a:lnTo>
                  <a:lnTo>
                    <a:pt x="144" y="128"/>
                  </a:lnTo>
                  <a:lnTo>
                    <a:pt x="136" y="119"/>
                  </a:lnTo>
                  <a:lnTo>
                    <a:pt x="123" y="105"/>
                  </a:lnTo>
                  <a:lnTo>
                    <a:pt x="110" y="95"/>
                  </a:lnTo>
                  <a:lnTo>
                    <a:pt x="95" y="86"/>
                  </a:lnTo>
                  <a:lnTo>
                    <a:pt x="78" y="78"/>
                  </a:lnTo>
                  <a:lnTo>
                    <a:pt x="61" y="73"/>
                  </a:lnTo>
                  <a:lnTo>
                    <a:pt x="44" y="66"/>
                  </a:lnTo>
                  <a:lnTo>
                    <a:pt x="28" y="60"/>
                  </a:lnTo>
                  <a:lnTo>
                    <a:pt x="11" y="53"/>
                  </a:lnTo>
                  <a:lnTo>
                    <a:pt x="7" y="51"/>
                  </a:lnTo>
                  <a:lnTo>
                    <a:pt x="4" y="48"/>
                  </a:lnTo>
                  <a:lnTo>
                    <a:pt x="2" y="45"/>
                  </a:lnTo>
                  <a:lnTo>
                    <a:pt x="0" y="42"/>
                  </a:lnTo>
                  <a:lnTo>
                    <a:pt x="0" y="31"/>
                  </a:lnTo>
                  <a:lnTo>
                    <a:pt x="4" y="21"/>
                  </a:lnTo>
                  <a:lnTo>
                    <a:pt x="9" y="13"/>
                  </a:lnTo>
                  <a:lnTo>
                    <a:pt x="20" y="8"/>
                  </a:lnTo>
                  <a:lnTo>
                    <a:pt x="33" y="4"/>
                  </a:lnTo>
                  <a:lnTo>
                    <a:pt x="47" y="1"/>
                  </a:lnTo>
                  <a:lnTo>
                    <a:pt x="61" y="0"/>
                  </a:lnTo>
                  <a:lnTo>
                    <a:pt x="75" y="1"/>
                  </a:lnTo>
                  <a:lnTo>
                    <a:pt x="90" y="4"/>
                  </a:lnTo>
                  <a:lnTo>
                    <a:pt x="103" y="8"/>
                  </a:lnTo>
                  <a:lnTo>
                    <a:pt x="116" y="13"/>
                  </a:lnTo>
                  <a:lnTo>
                    <a:pt x="129" y="20"/>
                  </a:lnTo>
                  <a:lnTo>
                    <a:pt x="145" y="30"/>
                  </a:lnTo>
                  <a:lnTo>
                    <a:pt x="161" y="42"/>
                  </a:lnTo>
                  <a:lnTo>
                    <a:pt x="175" y="53"/>
                  </a:lnTo>
                  <a:lnTo>
                    <a:pt x="188" y="68"/>
                  </a:lnTo>
                  <a:lnTo>
                    <a:pt x="201" y="82"/>
                  </a:lnTo>
                  <a:lnTo>
                    <a:pt x="213" y="97"/>
                  </a:lnTo>
                  <a:lnTo>
                    <a:pt x="226" y="112"/>
                  </a:lnTo>
                  <a:lnTo>
                    <a:pt x="237" y="127"/>
                  </a:lnTo>
                  <a:lnTo>
                    <a:pt x="232" y="135"/>
                  </a:lnTo>
                  <a:lnTo>
                    <a:pt x="227" y="143"/>
                  </a:lnTo>
                  <a:lnTo>
                    <a:pt x="222" y="150"/>
                  </a:lnTo>
                  <a:lnTo>
                    <a:pt x="218" y="158"/>
                  </a:lnTo>
                  <a:lnTo>
                    <a:pt x="213" y="166"/>
                  </a:lnTo>
                  <a:lnTo>
                    <a:pt x="208" y="174"/>
                  </a:lnTo>
                  <a:lnTo>
                    <a:pt x="202" y="180"/>
                  </a:lnTo>
                  <a:lnTo>
                    <a:pt x="197" y="188"/>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 name="Freeform 19"/>
            <p:cNvSpPr>
              <a:spLocks/>
            </p:cNvSpPr>
            <p:nvPr/>
          </p:nvSpPr>
          <p:spPr bwMode="auto">
            <a:xfrm>
              <a:off x="2226" y="2783"/>
              <a:ext cx="164" cy="275"/>
            </a:xfrm>
            <a:custGeom>
              <a:avLst/>
              <a:gdLst>
                <a:gd name="T0" fmla="*/ 160 w 164"/>
                <a:gd name="T1" fmla="*/ 91 h 275"/>
                <a:gd name="T2" fmla="*/ 142 w 164"/>
                <a:gd name="T3" fmla="*/ 112 h 275"/>
                <a:gd name="T4" fmla="*/ 125 w 164"/>
                <a:gd name="T5" fmla="*/ 132 h 275"/>
                <a:gd name="T6" fmla="*/ 108 w 164"/>
                <a:gd name="T7" fmla="*/ 155 h 275"/>
                <a:gd name="T8" fmla="*/ 92 w 164"/>
                <a:gd name="T9" fmla="*/ 175 h 275"/>
                <a:gd name="T10" fmla="*/ 75 w 164"/>
                <a:gd name="T11" fmla="*/ 197 h 275"/>
                <a:gd name="T12" fmla="*/ 58 w 164"/>
                <a:gd name="T13" fmla="*/ 218 h 275"/>
                <a:gd name="T14" fmla="*/ 41 w 164"/>
                <a:gd name="T15" fmla="*/ 240 h 275"/>
                <a:gd name="T16" fmla="*/ 23 w 164"/>
                <a:gd name="T17" fmla="*/ 261 h 275"/>
                <a:gd name="T18" fmla="*/ 19 w 164"/>
                <a:gd name="T19" fmla="*/ 266 h 275"/>
                <a:gd name="T20" fmla="*/ 17 w 164"/>
                <a:gd name="T21" fmla="*/ 267 h 275"/>
                <a:gd name="T22" fmla="*/ 14 w 164"/>
                <a:gd name="T23" fmla="*/ 270 h 275"/>
                <a:gd name="T24" fmla="*/ 10 w 164"/>
                <a:gd name="T25" fmla="*/ 275 h 275"/>
                <a:gd name="T26" fmla="*/ 7 w 164"/>
                <a:gd name="T27" fmla="*/ 270 h 275"/>
                <a:gd name="T28" fmla="*/ 4 w 164"/>
                <a:gd name="T29" fmla="*/ 266 h 275"/>
                <a:gd name="T30" fmla="*/ 1 w 164"/>
                <a:gd name="T31" fmla="*/ 262 h 275"/>
                <a:gd name="T32" fmla="*/ 0 w 164"/>
                <a:gd name="T33" fmla="*/ 261 h 275"/>
                <a:gd name="T34" fmla="*/ 5 w 164"/>
                <a:gd name="T35" fmla="*/ 253 h 275"/>
                <a:gd name="T36" fmla="*/ 10 w 164"/>
                <a:gd name="T37" fmla="*/ 248 h 275"/>
                <a:gd name="T38" fmla="*/ 15 w 164"/>
                <a:gd name="T39" fmla="*/ 241 h 275"/>
                <a:gd name="T40" fmla="*/ 22 w 164"/>
                <a:gd name="T41" fmla="*/ 234 h 275"/>
                <a:gd name="T42" fmla="*/ 23 w 164"/>
                <a:gd name="T43" fmla="*/ 232 h 275"/>
                <a:gd name="T44" fmla="*/ 28 w 164"/>
                <a:gd name="T45" fmla="*/ 230 h 275"/>
                <a:gd name="T46" fmla="*/ 33 w 164"/>
                <a:gd name="T47" fmla="*/ 227 h 275"/>
                <a:gd name="T48" fmla="*/ 40 w 164"/>
                <a:gd name="T49" fmla="*/ 222 h 275"/>
                <a:gd name="T50" fmla="*/ 46 w 164"/>
                <a:gd name="T51" fmla="*/ 215 h 275"/>
                <a:gd name="T52" fmla="*/ 50 w 164"/>
                <a:gd name="T53" fmla="*/ 208 h 275"/>
                <a:gd name="T54" fmla="*/ 53 w 164"/>
                <a:gd name="T55" fmla="*/ 199 h 275"/>
                <a:gd name="T56" fmla="*/ 51 w 164"/>
                <a:gd name="T57" fmla="*/ 188 h 275"/>
                <a:gd name="T58" fmla="*/ 55 w 164"/>
                <a:gd name="T59" fmla="*/ 179 h 275"/>
                <a:gd name="T60" fmla="*/ 66 w 164"/>
                <a:gd name="T61" fmla="*/ 165 h 275"/>
                <a:gd name="T62" fmla="*/ 77 w 164"/>
                <a:gd name="T63" fmla="*/ 149 h 275"/>
                <a:gd name="T64" fmla="*/ 88 w 164"/>
                <a:gd name="T65" fmla="*/ 135 h 275"/>
                <a:gd name="T66" fmla="*/ 92 w 164"/>
                <a:gd name="T67" fmla="*/ 132 h 275"/>
                <a:gd name="T68" fmla="*/ 95 w 164"/>
                <a:gd name="T69" fmla="*/ 130 h 275"/>
                <a:gd name="T70" fmla="*/ 99 w 164"/>
                <a:gd name="T71" fmla="*/ 127 h 275"/>
                <a:gd name="T72" fmla="*/ 102 w 164"/>
                <a:gd name="T73" fmla="*/ 125 h 275"/>
                <a:gd name="T74" fmla="*/ 114 w 164"/>
                <a:gd name="T75" fmla="*/ 112 h 275"/>
                <a:gd name="T76" fmla="*/ 120 w 164"/>
                <a:gd name="T77" fmla="*/ 95 h 275"/>
                <a:gd name="T78" fmla="*/ 120 w 164"/>
                <a:gd name="T79" fmla="*/ 79 h 275"/>
                <a:gd name="T80" fmla="*/ 115 w 164"/>
                <a:gd name="T81" fmla="*/ 63 h 275"/>
                <a:gd name="T82" fmla="*/ 110 w 164"/>
                <a:gd name="T83" fmla="*/ 53 h 275"/>
                <a:gd name="T84" fmla="*/ 102 w 164"/>
                <a:gd name="T85" fmla="*/ 35 h 275"/>
                <a:gd name="T86" fmla="*/ 92 w 164"/>
                <a:gd name="T87" fmla="*/ 16 h 275"/>
                <a:gd name="T88" fmla="*/ 83 w 164"/>
                <a:gd name="T89" fmla="*/ 0 h 275"/>
                <a:gd name="T90" fmla="*/ 90 w 164"/>
                <a:gd name="T91" fmla="*/ 4 h 275"/>
                <a:gd name="T92" fmla="*/ 103 w 164"/>
                <a:gd name="T93" fmla="*/ 11 h 275"/>
                <a:gd name="T94" fmla="*/ 119 w 164"/>
                <a:gd name="T95" fmla="*/ 20 h 275"/>
                <a:gd name="T96" fmla="*/ 134 w 164"/>
                <a:gd name="T97" fmla="*/ 31 h 275"/>
                <a:gd name="T98" fmla="*/ 149 w 164"/>
                <a:gd name="T99" fmla="*/ 44 h 275"/>
                <a:gd name="T100" fmla="*/ 159 w 164"/>
                <a:gd name="T101" fmla="*/ 59 h 275"/>
                <a:gd name="T102" fmla="*/ 164 w 164"/>
                <a:gd name="T103" fmla="*/ 74 h 275"/>
                <a:gd name="T104" fmla="*/ 160 w 164"/>
                <a:gd name="T105" fmla="*/ 91 h 27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4"/>
                <a:gd name="T160" fmla="*/ 0 h 275"/>
                <a:gd name="T161" fmla="*/ 164 w 164"/>
                <a:gd name="T162" fmla="*/ 275 h 275"/>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4" h="275">
                  <a:moveTo>
                    <a:pt x="160" y="91"/>
                  </a:moveTo>
                  <a:lnTo>
                    <a:pt x="142" y="112"/>
                  </a:lnTo>
                  <a:lnTo>
                    <a:pt x="125" y="132"/>
                  </a:lnTo>
                  <a:lnTo>
                    <a:pt x="108" y="155"/>
                  </a:lnTo>
                  <a:lnTo>
                    <a:pt x="92" y="175"/>
                  </a:lnTo>
                  <a:lnTo>
                    <a:pt x="75" y="197"/>
                  </a:lnTo>
                  <a:lnTo>
                    <a:pt x="58" y="218"/>
                  </a:lnTo>
                  <a:lnTo>
                    <a:pt x="41" y="240"/>
                  </a:lnTo>
                  <a:lnTo>
                    <a:pt x="23" y="261"/>
                  </a:lnTo>
                  <a:lnTo>
                    <a:pt x="19" y="266"/>
                  </a:lnTo>
                  <a:lnTo>
                    <a:pt x="17" y="267"/>
                  </a:lnTo>
                  <a:lnTo>
                    <a:pt x="14" y="270"/>
                  </a:lnTo>
                  <a:lnTo>
                    <a:pt x="10" y="275"/>
                  </a:lnTo>
                  <a:lnTo>
                    <a:pt x="7" y="270"/>
                  </a:lnTo>
                  <a:lnTo>
                    <a:pt x="4" y="266"/>
                  </a:lnTo>
                  <a:lnTo>
                    <a:pt x="1" y="262"/>
                  </a:lnTo>
                  <a:lnTo>
                    <a:pt x="0" y="261"/>
                  </a:lnTo>
                  <a:lnTo>
                    <a:pt x="5" y="253"/>
                  </a:lnTo>
                  <a:lnTo>
                    <a:pt x="10" y="248"/>
                  </a:lnTo>
                  <a:lnTo>
                    <a:pt x="15" y="241"/>
                  </a:lnTo>
                  <a:lnTo>
                    <a:pt x="22" y="234"/>
                  </a:lnTo>
                  <a:lnTo>
                    <a:pt x="23" y="232"/>
                  </a:lnTo>
                  <a:lnTo>
                    <a:pt x="28" y="230"/>
                  </a:lnTo>
                  <a:lnTo>
                    <a:pt x="33" y="227"/>
                  </a:lnTo>
                  <a:lnTo>
                    <a:pt x="40" y="222"/>
                  </a:lnTo>
                  <a:lnTo>
                    <a:pt x="46" y="215"/>
                  </a:lnTo>
                  <a:lnTo>
                    <a:pt x="50" y="208"/>
                  </a:lnTo>
                  <a:lnTo>
                    <a:pt x="53" y="199"/>
                  </a:lnTo>
                  <a:lnTo>
                    <a:pt x="51" y="188"/>
                  </a:lnTo>
                  <a:lnTo>
                    <a:pt x="55" y="179"/>
                  </a:lnTo>
                  <a:lnTo>
                    <a:pt x="66" y="165"/>
                  </a:lnTo>
                  <a:lnTo>
                    <a:pt x="77" y="149"/>
                  </a:lnTo>
                  <a:lnTo>
                    <a:pt x="88" y="135"/>
                  </a:lnTo>
                  <a:lnTo>
                    <a:pt x="92" y="132"/>
                  </a:lnTo>
                  <a:lnTo>
                    <a:pt x="95" y="130"/>
                  </a:lnTo>
                  <a:lnTo>
                    <a:pt x="99" y="127"/>
                  </a:lnTo>
                  <a:lnTo>
                    <a:pt x="102" y="125"/>
                  </a:lnTo>
                  <a:lnTo>
                    <a:pt x="114" y="112"/>
                  </a:lnTo>
                  <a:lnTo>
                    <a:pt x="120" y="95"/>
                  </a:lnTo>
                  <a:lnTo>
                    <a:pt x="120" y="79"/>
                  </a:lnTo>
                  <a:lnTo>
                    <a:pt x="115" y="63"/>
                  </a:lnTo>
                  <a:lnTo>
                    <a:pt x="110" y="53"/>
                  </a:lnTo>
                  <a:lnTo>
                    <a:pt x="102" y="35"/>
                  </a:lnTo>
                  <a:lnTo>
                    <a:pt x="92" y="16"/>
                  </a:lnTo>
                  <a:lnTo>
                    <a:pt x="83" y="0"/>
                  </a:lnTo>
                  <a:lnTo>
                    <a:pt x="90" y="4"/>
                  </a:lnTo>
                  <a:lnTo>
                    <a:pt x="103" y="11"/>
                  </a:lnTo>
                  <a:lnTo>
                    <a:pt x="119" y="20"/>
                  </a:lnTo>
                  <a:lnTo>
                    <a:pt x="134" y="31"/>
                  </a:lnTo>
                  <a:lnTo>
                    <a:pt x="149" y="44"/>
                  </a:lnTo>
                  <a:lnTo>
                    <a:pt x="159" y="59"/>
                  </a:lnTo>
                  <a:lnTo>
                    <a:pt x="164" y="74"/>
                  </a:lnTo>
                  <a:lnTo>
                    <a:pt x="160" y="91"/>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 name="Freeform 20"/>
            <p:cNvSpPr>
              <a:spLocks/>
            </p:cNvSpPr>
            <p:nvPr/>
          </p:nvSpPr>
          <p:spPr bwMode="auto">
            <a:xfrm>
              <a:off x="2209" y="2945"/>
              <a:ext cx="57" cy="57"/>
            </a:xfrm>
            <a:custGeom>
              <a:avLst/>
              <a:gdLst>
                <a:gd name="T0" fmla="*/ 0 w 57"/>
                <a:gd name="T1" fmla="*/ 52 h 57"/>
                <a:gd name="T2" fmla="*/ 5 w 57"/>
                <a:gd name="T3" fmla="*/ 44 h 57"/>
                <a:gd name="T4" fmla="*/ 12 w 57"/>
                <a:gd name="T5" fmla="*/ 37 h 57"/>
                <a:gd name="T6" fmla="*/ 18 w 57"/>
                <a:gd name="T7" fmla="*/ 27 h 57"/>
                <a:gd name="T8" fmla="*/ 24 w 57"/>
                <a:gd name="T9" fmla="*/ 20 h 57"/>
                <a:gd name="T10" fmla="*/ 30 w 57"/>
                <a:gd name="T11" fmla="*/ 12 h 57"/>
                <a:gd name="T12" fmla="*/ 35 w 57"/>
                <a:gd name="T13" fmla="*/ 7 h 57"/>
                <a:gd name="T14" fmla="*/ 39 w 57"/>
                <a:gd name="T15" fmla="*/ 2 h 57"/>
                <a:gd name="T16" fmla="*/ 41 w 57"/>
                <a:gd name="T17" fmla="*/ 0 h 57"/>
                <a:gd name="T18" fmla="*/ 46 w 57"/>
                <a:gd name="T19" fmla="*/ 7 h 57"/>
                <a:gd name="T20" fmla="*/ 52 w 57"/>
                <a:gd name="T21" fmla="*/ 16 h 57"/>
                <a:gd name="T22" fmla="*/ 57 w 57"/>
                <a:gd name="T23" fmla="*/ 27 h 57"/>
                <a:gd name="T24" fmla="*/ 57 w 57"/>
                <a:gd name="T25" fmla="*/ 35 h 57"/>
                <a:gd name="T26" fmla="*/ 53 w 57"/>
                <a:gd name="T27" fmla="*/ 43 h 57"/>
                <a:gd name="T28" fmla="*/ 49 w 57"/>
                <a:gd name="T29" fmla="*/ 49 h 57"/>
                <a:gd name="T30" fmla="*/ 43 w 57"/>
                <a:gd name="T31" fmla="*/ 53 h 57"/>
                <a:gd name="T32" fmla="*/ 35 w 57"/>
                <a:gd name="T33" fmla="*/ 56 h 57"/>
                <a:gd name="T34" fmla="*/ 27 w 57"/>
                <a:gd name="T35" fmla="*/ 57 h 57"/>
                <a:gd name="T36" fmla="*/ 18 w 57"/>
                <a:gd name="T37" fmla="*/ 57 h 57"/>
                <a:gd name="T38" fmla="*/ 9 w 57"/>
                <a:gd name="T39" fmla="*/ 55 h 57"/>
                <a:gd name="T40" fmla="*/ 0 w 57"/>
                <a:gd name="T41" fmla="*/ 52 h 5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
                <a:gd name="T64" fmla="*/ 0 h 57"/>
                <a:gd name="T65" fmla="*/ 57 w 57"/>
                <a:gd name="T66" fmla="*/ 57 h 5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 h="57">
                  <a:moveTo>
                    <a:pt x="0" y="52"/>
                  </a:moveTo>
                  <a:lnTo>
                    <a:pt x="5" y="44"/>
                  </a:lnTo>
                  <a:lnTo>
                    <a:pt x="12" y="37"/>
                  </a:lnTo>
                  <a:lnTo>
                    <a:pt x="18" y="27"/>
                  </a:lnTo>
                  <a:lnTo>
                    <a:pt x="24" y="20"/>
                  </a:lnTo>
                  <a:lnTo>
                    <a:pt x="30" y="12"/>
                  </a:lnTo>
                  <a:lnTo>
                    <a:pt x="35" y="7"/>
                  </a:lnTo>
                  <a:lnTo>
                    <a:pt x="39" y="2"/>
                  </a:lnTo>
                  <a:lnTo>
                    <a:pt x="41" y="0"/>
                  </a:lnTo>
                  <a:lnTo>
                    <a:pt x="46" y="7"/>
                  </a:lnTo>
                  <a:lnTo>
                    <a:pt x="52" y="16"/>
                  </a:lnTo>
                  <a:lnTo>
                    <a:pt x="57" y="27"/>
                  </a:lnTo>
                  <a:lnTo>
                    <a:pt x="57" y="35"/>
                  </a:lnTo>
                  <a:lnTo>
                    <a:pt x="53" y="43"/>
                  </a:lnTo>
                  <a:lnTo>
                    <a:pt x="49" y="49"/>
                  </a:lnTo>
                  <a:lnTo>
                    <a:pt x="43" y="53"/>
                  </a:lnTo>
                  <a:lnTo>
                    <a:pt x="35" y="56"/>
                  </a:lnTo>
                  <a:lnTo>
                    <a:pt x="27" y="57"/>
                  </a:lnTo>
                  <a:lnTo>
                    <a:pt x="18" y="57"/>
                  </a:lnTo>
                  <a:lnTo>
                    <a:pt x="9" y="55"/>
                  </a:lnTo>
                  <a:lnTo>
                    <a:pt x="0" y="5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 name="Freeform 21"/>
            <p:cNvSpPr>
              <a:spLocks/>
            </p:cNvSpPr>
            <p:nvPr/>
          </p:nvSpPr>
          <p:spPr bwMode="auto">
            <a:xfrm>
              <a:off x="2034" y="2963"/>
              <a:ext cx="51" cy="41"/>
            </a:xfrm>
            <a:custGeom>
              <a:avLst/>
              <a:gdLst>
                <a:gd name="T0" fmla="*/ 26 w 51"/>
                <a:gd name="T1" fmla="*/ 0 h 41"/>
                <a:gd name="T2" fmla="*/ 16 w 51"/>
                <a:gd name="T3" fmla="*/ 2 h 41"/>
                <a:gd name="T4" fmla="*/ 8 w 51"/>
                <a:gd name="T5" fmla="*/ 7 h 41"/>
                <a:gd name="T6" fmla="*/ 3 w 51"/>
                <a:gd name="T7" fmla="*/ 13 h 41"/>
                <a:gd name="T8" fmla="*/ 0 w 51"/>
                <a:gd name="T9" fmla="*/ 21 h 41"/>
                <a:gd name="T10" fmla="*/ 3 w 51"/>
                <a:gd name="T11" fmla="*/ 29 h 41"/>
                <a:gd name="T12" fmla="*/ 8 w 51"/>
                <a:gd name="T13" fmla="*/ 34 h 41"/>
                <a:gd name="T14" fmla="*/ 16 w 51"/>
                <a:gd name="T15" fmla="*/ 39 h 41"/>
                <a:gd name="T16" fmla="*/ 26 w 51"/>
                <a:gd name="T17" fmla="*/ 41 h 41"/>
                <a:gd name="T18" fmla="*/ 35 w 51"/>
                <a:gd name="T19" fmla="*/ 39 h 41"/>
                <a:gd name="T20" fmla="*/ 43 w 51"/>
                <a:gd name="T21" fmla="*/ 34 h 41"/>
                <a:gd name="T22" fmla="*/ 48 w 51"/>
                <a:gd name="T23" fmla="*/ 29 h 41"/>
                <a:gd name="T24" fmla="*/ 51 w 51"/>
                <a:gd name="T25" fmla="*/ 21 h 41"/>
                <a:gd name="T26" fmla="*/ 48 w 51"/>
                <a:gd name="T27" fmla="*/ 13 h 41"/>
                <a:gd name="T28" fmla="*/ 43 w 51"/>
                <a:gd name="T29" fmla="*/ 7 h 41"/>
                <a:gd name="T30" fmla="*/ 35 w 51"/>
                <a:gd name="T31" fmla="*/ 2 h 41"/>
                <a:gd name="T32" fmla="*/ 26 w 51"/>
                <a:gd name="T33" fmla="*/ 0 h 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1"/>
                <a:gd name="T52" fmla="*/ 0 h 41"/>
                <a:gd name="T53" fmla="*/ 51 w 51"/>
                <a:gd name="T54" fmla="*/ 41 h 4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1" h="41">
                  <a:moveTo>
                    <a:pt x="26" y="0"/>
                  </a:moveTo>
                  <a:lnTo>
                    <a:pt x="16" y="2"/>
                  </a:lnTo>
                  <a:lnTo>
                    <a:pt x="8" y="7"/>
                  </a:lnTo>
                  <a:lnTo>
                    <a:pt x="3" y="13"/>
                  </a:lnTo>
                  <a:lnTo>
                    <a:pt x="0" y="21"/>
                  </a:lnTo>
                  <a:lnTo>
                    <a:pt x="3" y="29"/>
                  </a:lnTo>
                  <a:lnTo>
                    <a:pt x="8" y="34"/>
                  </a:lnTo>
                  <a:lnTo>
                    <a:pt x="16" y="39"/>
                  </a:lnTo>
                  <a:lnTo>
                    <a:pt x="26" y="41"/>
                  </a:lnTo>
                  <a:lnTo>
                    <a:pt x="35" y="39"/>
                  </a:lnTo>
                  <a:lnTo>
                    <a:pt x="43" y="34"/>
                  </a:lnTo>
                  <a:lnTo>
                    <a:pt x="48" y="29"/>
                  </a:lnTo>
                  <a:lnTo>
                    <a:pt x="51" y="21"/>
                  </a:lnTo>
                  <a:lnTo>
                    <a:pt x="48" y="13"/>
                  </a:lnTo>
                  <a:lnTo>
                    <a:pt x="43" y="7"/>
                  </a:lnTo>
                  <a:lnTo>
                    <a:pt x="35" y="2"/>
                  </a:lnTo>
                  <a:lnTo>
                    <a:pt x="2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pic>
        <p:nvPicPr>
          <p:cNvPr id="32" name="Picture 17" descr="claimcenter.png"/>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93282" y="505200"/>
            <a:ext cx="777015" cy="777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0870049"/>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|EOS~040|</a:t>
            </a:r>
            <a:endParaRPr lang="en-US" sz="100" dirty="0" err="1" smtClean="0">
              <a:solidFill>
                <a:srgbClr val="FFFFFF"/>
              </a:solidFill>
              <a:latin typeface="Arial"/>
              <a:cs typeface="Calibri" pitchFamily="34" charset="0"/>
            </a:endParaRPr>
          </a:p>
        </p:txBody>
      </p:sp>
      <p:sp>
        <p:nvSpPr>
          <p:cNvPr id="2" name="Title 1"/>
          <p:cNvSpPr>
            <a:spLocks noGrp="1"/>
          </p:cNvSpPr>
          <p:nvPr>
            <p:ph type="title"/>
          </p:nvPr>
        </p:nvSpPr>
        <p:spPr/>
        <p:txBody>
          <a:bodyPr/>
          <a:lstStyle/>
          <a:p>
            <a:r>
              <a:rPr lang="en-US" dirty="0" smtClean="0"/>
              <a:t>Searching by Location</a:t>
            </a:r>
            <a:endParaRPr lang="en-US" dirty="0"/>
          </a:p>
        </p:txBody>
      </p:sp>
      <p:sp>
        <p:nvSpPr>
          <p:cNvPr id="3" name="Content Placeholder 2"/>
          <p:cNvSpPr>
            <a:spLocks noGrp="1"/>
          </p:cNvSpPr>
          <p:nvPr>
            <p:ph idx="1"/>
          </p:nvPr>
        </p:nvSpPr>
        <p:spPr>
          <a:xfrm>
            <a:off x="519113" y="629400"/>
            <a:ext cx="8318500" cy="5486400"/>
          </a:xfrm>
        </p:spPr>
        <p:txBody>
          <a:bodyPr/>
          <a:lstStyle/>
          <a:p>
            <a:r>
              <a:rPr lang="en-US" dirty="0" smtClean="0"/>
              <a:t>You may search by:</a:t>
            </a:r>
          </a:p>
          <a:p>
            <a:pPr lvl="1"/>
            <a:r>
              <a:rPr lang="en-US" dirty="0" smtClean="0"/>
              <a:t>A city and state (i.e. “Arlington, TX”) (or city and province)</a:t>
            </a:r>
          </a:p>
          <a:p>
            <a:pPr lvl="1"/>
            <a:r>
              <a:rPr lang="en-US" dirty="0" smtClean="0"/>
              <a:t>A zip code (or postal code) (</a:t>
            </a:r>
            <a:r>
              <a:rPr lang="en-US" dirty="0" err="1" smtClean="0"/>
              <a:t>i.e</a:t>
            </a:r>
            <a:r>
              <a:rPr lang="en-US" dirty="0" smtClean="0"/>
              <a:t> “02258”)</a:t>
            </a:r>
            <a:endParaRPr lang="en-US"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791" y="2590553"/>
            <a:ext cx="8256587" cy="369570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881908508"/>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|EOS~041|</a:t>
            </a:r>
            <a:endParaRPr lang="en-US" sz="100" dirty="0" err="1" smtClean="0">
              <a:solidFill>
                <a:srgbClr val="FFFFFF"/>
              </a:solidFill>
              <a:latin typeface="Arial"/>
              <a:cs typeface="Calibri" pitchFamily="34" charset="0"/>
            </a:endParaRPr>
          </a:p>
        </p:txBody>
      </p:sp>
      <p:sp>
        <p:nvSpPr>
          <p:cNvPr id="52227" name="Rectangle 3"/>
          <p:cNvSpPr>
            <a:spLocks noGrp="1" noChangeArrowheads="1"/>
          </p:cNvSpPr>
          <p:nvPr>
            <p:ph type="title"/>
          </p:nvPr>
        </p:nvSpPr>
        <p:spPr/>
        <p:txBody>
          <a:bodyPr/>
          <a:lstStyle/>
          <a:p>
            <a:pPr eaLnBrk="1" hangingPunct="1"/>
            <a:r>
              <a:rPr lang="en-US" dirty="0" smtClean="0"/>
              <a:t>Searching by proximity to a location</a:t>
            </a:r>
          </a:p>
        </p:txBody>
      </p:sp>
      <p:sp>
        <p:nvSpPr>
          <p:cNvPr id="52228" name="Rectangle 4"/>
          <p:cNvSpPr>
            <a:spLocks noGrp="1" noChangeArrowheads="1"/>
          </p:cNvSpPr>
          <p:nvPr>
            <p:ph idx="1"/>
          </p:nvPr>
        </p:nvSpPr>
        <p:spPr>
          <a:xfrm>
            <a:off x="5144543" y="541328"/>
            <a:ext cx="3147687" cy="2208494"/>
          </a:xfrm>
        </p:spPr>
        <p:txBody>
          <a:bodyPr/>
          <a:lstStyle/>
          <a:p>
            <a:pPr marL="0" indent="0">
              <a:buNone/>
            </a:pPr>
            <a:r>
              <a:rPr lang="en-US" sz="2200" dirty="0" smtClean="0"/>
              <a:t>Using the Geocoding service, you can search either ClaimCenter or Address Book for contacts that meet a given proximity criteria</a:t>
            </a:r>
          </a:p>
        </p:txBody>
      </p:sp>
      <p:pic>
        <p:nvPicPr>
          <p:cNvPr id="410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924" y="601510"/>
            <a:ext cx="4381500" cy="590550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ounded Rectangle 1"/>
          <p:cNvSpPr/>
          <p:nvPr/>
        </p:nvSpPr>
        <p:spPr bwMode="auto">
          <a:xfrm>
            <a:off x="688932" y="4822521"/>
            <a:ext cx="601249" cy="350728"/>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3" name="Arc 2"/>
          <p:cNvSpPr/>
          <p:nvPr/>
        </p:nvSpPr>
        <p:spPr bwMode="auto">
          <a:xfrm>
            <a:off x="748430" y="5104355"/>
            <a:ext cx="1083501" cy="1866379"/>
          </a:xfrm>
          <a:prstGeom prst="arc">
            <a:avLst/>
          </a:prstGeom>
          <a:noFill/>
          <a:ln w="19050" cap="flat" cmpd="sng" algn="ctr">
            <a:solidFill>
              <a:srgbClr val="C00000"/>
            </a:solidFill>
            <a:prstDash val="solid"/>
            <a:round/>
            <a:headEnd type="none" w="med" len="med"/>
            <a:tailEnd type="triangle" w="med" len="med"/>
          </a:ln>
          <a:effectLst/>
        </p:spPr>
        <p:txBody>
          <a:bodyPr rtlCol="0" anchor="ctr"/>
          <a:lstStyle/>
          <a:p>
            <a:pPr algn="ctr"/>
            <a:endParaRPr lang="en-US"/>
          </a:p>
        </p:txBody>
      </p:sp>
      <p:sp>
        <p:nvSpPr>
          <p:cNvPr id="4" name="TextBox 3"/>
          <p:cNvSpPr txBox="1"/>
          <p:nvPr/>
        </p:nvSpPr>
        <p:spPr>
          <a:xfrm>
            <a:off x="688932" y="4177429"/>
            <a:ext cx="2519035" cy="523220"/>
          </a:xfrm>
          <a:prstGeom prst="rect">
            <a:avLst/>
          </a:prstGeom>
          <a:noFill/>
        </p:spPr>
        <p:txBody>
          <a:bodyPr wrap="square" rtlCol="0">
            <a:spAutoFit/>
          </a:bodyPr>
          <a:lstStyle/>
          <a:p>
            <a:pPr algn="l"/>
            <a:r>
              <a:rPr lang="en-US" dirty="0" smtClean="0">
                <a:solidFill>
                  <a:srgbClr val="C00000"/>
                </a:solidFill>
                <a:latin typeface="Calibri" pitchFamily="34" charset="0"/>
                <a:cs typeface="Calibri" pitchFamily="34" charset="0"/>
              </a:rPr>
              <a:t>Result is within 15 miles of the address or zip code entered.</a:t>
            </a:r>
          </a:p>
        </p:txBody>
      </p:sp>
      <p:pic>
        <p:nvPicPr>
          <p:cNvPr id="4103"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1327" y="3029339"/>
            <a:ext cx="3990975" cy="2819400"/>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2" name="Group 12"/>
          <p:cNvGrpSpPr>
            <a:grpSpLocks/>
          </p:cNvGrpSpPr>
          <p:nvPr/>
        </p:nvGrpSpPr>
        <p:grpSpPr bwMode="auto">
          <a:xfrm>
            <a:off x="7499764" y="3029339"/>
            <a:ext cx="537018" cy="537018"/>
            <a:chOff x="4122" y="2306"/>
            <a:chExt cx="930" cy="930"/>
          </a:xfrm>
        </p:grpSpPr>
        <p:sp>
          <p:nvSpPr>
            <p:cNvPr id="13" name="Freeform 13"/>
            <p:cNvSpPr>
              <a:spLocks/>
            </p:cNvSpPr>
            <p:nvPr/>
          </p:nvSpPr>
          <p:spPr bwMode="auto">
            <a:xfrm>
              <a:off x="4122" y="2306"/>
              <a:ext cx="930" cy="930"/>
            </a:xfrm>
            <a:custGeom>
              <a:avLst/>
              <a:gdLst>
                <a:gd name="T0" fmla="*/ 917 w 930"/>
                <a:gd name="T1" fmla="*/ 573 h 930"/>
                <a:gd name="T2" fmla="*/ 887 w 930"/>
                <a:gd name="T3" fmla="*/ 662 h 930"/>
                <a:gd name="T4" fmla="*/ 841 w 930"/>
                <a:gd name="T5" fmla="*/ 740 h 930"/>
                <a:gd name="T6" fmla="*/ 781 w 930"/>
                <a:gd name="T7" fmla="*/ 806 h 930"/>
                <a:gd name="T8" fmla="*/ 709 w 930"/>
                <a:gd name="T9" fmla="*/ 860 h 930"/>
                <a:gd name="T10" fmla="*/ 630 w 930"/>
                <a:gd name="T11" fmla="*/ 901 h 930"/>
                <a:gd name="T12" fmla="*/ 541 w 930"/>
                <a:gd name="T13" fmla="*/ 924 h 930"/>
                <a:gd name="T14" fmla="*/ 450 w 930"/>
                <a:gd name="T15" fmla="*/ 930 h 930"/>
                <a:gd name="T16" fmla="*/ 355 w 930"/>
                <a:gd name="T17" fmla="*/ 916 h 930"/>
                <a:gd name="T18" fmla="*/ 268 w 930"/>
                <a:gd name="T19" fmla="*/ 887 h 930"/>
                <a:gd name="T20" fmla="*/ 190 w 930"/>
                <a:gd name="T21" fmla="*/ 841 h 930"/>
                <a:gd name="T22" fmla="*/ 122 w 930"/>
                <a:gd name="T23" fmla="*/ 780 h 930"/>
                <a:gd name="T24" fmla="*/ 70 w 930"/>
                <a:gd name="T25" fmla="*/ 709 h 930"/>
                <a:gd name="T26" fmla="*/ 30 w 930"/>
                <a:gd name="T27" fmla="*/ 627 h 930"/>
                <a:gd name="T28" fmla="*/ 6 w 930"/>
                <a:gd name="T29" fmla="*/ 540 h 930"/>
                <a:gd name="T30" fmla="*/ 0 w 930"/>
                <a:gd name="T31" fmla="*/ 447 h 930"/>
                <a:gd name="T32" fmla="*/ 14 w 930"/>
                <a:gd name="T33" fmla="*/ 352 h 930"/>
                <a:gd name="T34" fmla="*/ 43 w 930"/>
                <a:gd name="T35" fmla="*/ 265 h 930"/>
                <a:gd name="T36" fmla="*/ 90 w 930"/>
                <a:gd name="T37" fmla="*/ 188 h 930"/>
                <a:gd name="T38" fmla="*/ 150 w 930"/>
                <a:gd name="T39" fmla="*/ 122 h 930"/>
                <a:gd name="T40" fmla="*/ 221 w 930"/>
                <a:gd name="T41" fmla="*/ 70 h 930"/>
                <a:gd name="T42" fmla="*/ 301 w 930"/>
                <a:gd name="T43" fmla="*/ 29 h 930"/>
                <a:gd name="T44" fmla="*/ 388 w 930"/>
                <a:gd name="T45" fmla="*/ 6 h 930"/>
                <a:gd name="T46" fmla="*/ 481 w 930"/>
                <a:gd name="T47" fmla="*/ 0 h 930"/>
                <a:gd name="T48" fmla="*/ 574 w 930"/>
                <a:gd name="T49" fmla="*/ 14 h 930"/>
                <a:gd name="T50" fmla="*/ 663 w 930"/>
                <a:gd name="T51" fmla="*/ 43 h 930"/>
                <a:gd name="T52" fmla="*/ 740 w 930"/>
                <a:gd name="T53" fmla="*/ 89 h 930"/>
                <a:gd name="T54" fmla="*/ 806 w 930"/>
                <a:gd name="T55" fmla="*/ 149 h 930"/>
                <a:gd name="T56" fmla="*/ 860 w 930"/>
                <a:gd name="T57" fmla="*/ 221 h 930"/>
                <a:gd name="T58" fmla="*/ 901 w 930"/>
                <a:gd name="T59" fmla="*/ 300 h 930"/>
                <a:gd name="T60" fmla="*/ 924 w 930"/>
                <a:gd name="T61" fmla="*/ 387 h 930"/>
                <a:gd name="T62" fmla="*/ 930 w 930"/>
                <a:gd name="T63" fmla="*/ 480 h 93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930"/>
                <a:gd name="T97" fmla="*/ 0 h 930"/>
                <a:gd name="T98" fmla="*/ 930 w 930"/>
                <a:gd name="T99" fmla="*/ 930 h 93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930" h="930">
                  <a:moveTo>
                    <a:pt x="926" y="527"/>
                  </a:moveTo>
                  <a:lnTo>
                    <a:pt x="917" y="573"/>
                  </a:lnTo>
                  <a:lnTo>
                    <a:pt x="905" y="618"/>
                  </a:lnTo>
                  <a:lnTo>
                    <a:pt x="887" y="662"/>
                  </a:lnTo>
                  <a:lnTo>
                    <a:pt x="866" y="701"/>
                  </a:lnTo>
                  <a:lnTo>
                    <a:pt x="841" y="740"/>
                  </a:lnTo>
                  <a:lnTo>
                    <a:pt x="812" y="775"/>
                  </a:lnTo>
                  <a:lnTo>
                    <a:pt x="781" y="806"/>
                  </a:lnTo>
                  <a:lnTo>
                    <a:pt x="746" y="835"/>
                  </a:lnTo>
                  <a:lnTo>
                    <a:pt x="709" y="860"/>
                  </a:lnTo>
                  <a:lnTo>
                    <a:pt x="671" y="883"/>
                  </a:lnTo>
                  <a:lnTo>
                    <a:pt x="630" y="901"/>
                  </a:lnTo>
                  <a:lnTo>
                    <a:pt x="587" y="914"/>
                  </a:lnTo>
                  <a:lnTo>
                    <a:pt x="541" y="924"/>
                  </a:lnTo>
                  <a:lnTo>
                    <a:pt x="496" y="930"/>
                  </a:lnTo>
                  <a:lnTo>
                    <a:pt x="450" y="930"/>
                  </a:lnTo>
                  <a:lnTo>
                    <a:pt x="401" y="926"/>
                  </a:lnTo>
                  <a:lnTo>
                    <a:pt x="355" y="916"/>
                  </a:lnTo>
                  <a:lnTo>
                    <a:pt x="310" y="904"/>
                  </a:lnTo>
                  <a:lnTo>
                    <a:pt x="268" y="887"/>
                  </a:lnTo>
                  <a:lnTo>
                    <a:pt x="227" y="864"/>
                  </a:lnTo>
                  <a:lnTo>
                    <a:pt x="190" y="841"/>
                  </a:lnTo>
                  <a:lnTo>
                    <a:pt x="155" y="811"/>
                  </a:lnTo>
                  <a:lnTo>
                    <a:pt x="122" y="780"/>
                  </a:lnTo>
                  <a:lnTo>
                    <a:pt x="95" y="746"/>
                  </a:lnTo>
                  <a:lnTo>
                    <a:pt x="70" y="709"/>
                  </a:lnTo>
                  <a:lnTo>
                    <a:pt x="47" y="668"/>
                  </a:lnTo>
                  <a:lnTo>
                    <a:pt x="30" y="627"/>
                  </a:lnTo>
                  <a:lnTo>
                    <a:pt x="16" y="585"/>
                  </a:lnTo>
                  <a:lnTo>
                    <a:pt x="6" y="540"/>
                  </a:lnTo>
                  <a:lnTo>
                    <a:pt x="0" y="494"/>
                  </a:lnTo>
                  <a:lnTo>
                    <a:pt x="0" y="447"/>
                  </a:lnTo>
                  <a:lnTo>
                    <a:pt x="4" y="399"/>
                  </a:lnTo>
                  <a:lnTo>
                    <a:pt x="14" y="352"/>
                  </a:lnTo>
                  <a:lnTo>
                    <a:pt x="26" y="308"/>
                  </a:lnTo>
                  <a:lnTo>
                    <a:pt x="43" y="265"/>
                  </a:lnTo>
                  <a:lnTo>
                    <a:pt x="66" y="227"/>
                  </a:lnTo>
                  <a:lnTo>
                    <a:pt x="90" y="188"/>
                  </a:lnTo>
                  <a:lnTo>
                    <a:pt x="119" y="155"/>
                  </a:lnTo>
                  <a:lnTo>
                    <a:pt x="150" y="122"/>
                  </a:lnTo>
                  <a:lnTo>
                    <a:pt x="184" y="93"/>
                  </a:lnTo>
                  <a:lnTo>
                    <a:pt x="221" y="70"/>
                  </a:lnTo>
                  <a:lnTo>
                    <a:pt x="260" y="46"/>
                  </a:lnTo>
                  <a:lnTo>
                    <a:pt x="301" y="29"/>
                  </a:lnTo>
                  <a:lnTo>
                    <a:pt x="345" y="15"/>
                  </a:lnTo>
                  <a:lnTo>
                    <a:pt x="388" y="6"/>
                  </a:lnTo>
                  <a:lnTo>
                    <a:pt x="434" y="0"/>
                  </a:lnTo>
                  <a:lnTo>
                    <a:pt x="481" y="0"/>
                  </a:lnTo>
                  <a:lnTo>
                    <a:pt x="527" y="4"/>
                  </a:lnTo>
                  <a:lnTo>
                    <a:pt x="574" y="14"/>
                  </a:lnTo>
                  <a:lnTo>
                    <a:pt x="618" y="25"/>
                  </a:lnTo>
                  <a:lnTo>
                    <a:pt x="663" y="43"/>
                  </a:lnTo>
                  <a:lnTo>
                    <a:pt x="702" y="64"/>
                  </a:lnTo>
                  <a:lnTo>
                    <a:pt x="740" y="89"/>
                  </a:lnTo>
                  <a:lnTo>
                    <a:pt x="775" y="118"/>
                  </a:lnTo>
                  <a:lnTo>
                    <a:pt x="806" y="149"/>
                  </a:lnTo>
                  <a:lnTo>
                    <a:pt x="835" y="184"/>
                  </a:lnTo>
                  <a:lnTo>
                    <a:pt x="860" y="221"/>
                  </a:lnTo>
                  <a:lnTo>
                    <a:pt x="884" y="260"/>
                  </a:lnTo>
                  <a:lnTo>
                    <a:pt x="901" y="300"/>
                  </a:lnTo>
                  <a:lnTo>
                    <a:pt x="915" y="343"/>
                  </a:lnTo>
                  <a:lnTo>
                    <a:pt x="924" y="387"/>
                  </a:lnTo>
                  <a:lnTo>
                    <a:pt x="930" y="434"/>
                  </a:lnTo>
                  <a:lnTo>
                    <a:pt x="930" y="480"/>
                  </a:lnTo>
                  <a:lnTo>
                    <a:pt x="926" y="5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 name="Freeform 14"/>
            <p:cNvSpPr>
              <a:spLocks/>
            </p:cNvSpPr>
            <p:nvPr/>
          </p:nvSpPr>
          <p:spPr bwMode="auto">
            <a:xfrm>
              <a:off x="4266" y="2416"/>
              <a:ext cx="730" cy="763"/>
            </a:xfrm>
            <a:custGeom>
              <a:avLst/>
              <a:gdLst>
                <a:gd name="T0" fmla="*/ 730 w 730"/>
                <a:gd name="T1" fmla="*/ 347 h 763"/>
                <a:gd name="T2" fmla="*/ 711 w 730"/>
                <a:gd name="T3" fmla="*/ 227 h 763"/>
                <a:gd name="T4" fmla="*/ 656 w 730"/>
                <a:gd name="T5" fmla="*/ 120 h 763"/>
                <a:gd name="T6" fmla="*/ 577 w 730"/>
                <a:gd name="T7" fmla="*/ 35 h 763"/>
                <a:gd name="T8" fmla="*/ 550 w 730"/>
                <a:gd name="T9" fmla="*/ 33 h 763"/>
                <a:gd name="T10" fmla="*/ 587 w 730"/>
                <a:gd name="T11" fmla="*/ 105 h 763"/>
                <a:gd name="T12" fmla="*/ 608 w 730"/>
                <a:gd name="T13" fmla="*/ 182 h 763"/>
                <a:gd name="T14" fmla="*/ 612 w 730"/>
                <a:gd name="T15" fmla="*/ 264 h 763"/>
                <a:gd name="T16" fmla="*/ 600 w 730"/>
                <a:gd name="T17" fmla="*/ 347 h 763"/>
                <a:gd name="T18" fmla="*/ 573 w 730"/>
                <a:gd name="T19" fmla="*/ 425 h 763"/>
                <a:gd name="T20" fmla="*/ 534 w 730"/>
                <a:gd name="T21" fmla="*/ 492 h 763"/>
                <a:gd name="T22" fmla="*/ 482 w 730"/>
                <a:gd name="T23" fmla="*/ 550 h 763"/>
                <a:gd name="T24" fmla="*/ 418 w 730"/>
                <a:gd name="T25" fmla="*/ 599 h 763"/>
                <a:gd name="T26" fmla="*/ 348 w 730"/>
                <a:gd name="T27" fmla="*/ 634 h 763"/>
                <a:gd name="T28" fmla="*/ 271 w 730"/>
                <a:gd name="T29" fmla="*/ 655 h 763"/>
                <a:gd name="T30" fmla="*/ 190 w 730"/>
                <a:gd name="T31" fmla="*/ 661 h 763"/>
                <a:gd name="T32" fmla="*/ 130 w 730"/>
                <a:gd name="T33" fmla="*/ 653 h 763"/>
                <a:gd name="T34" fmla="*/ 89 w 730"/>
                <a:gd name="T35" fmla="*/ 643 h 763"/>
                <a:gd name="T36" fmla="*/ 52 w 730"/>
                <a:gd name="T37" fmla="*/ 630 h 763"/>
                <a:gd name="T38" fmla="*/ 17 w 730"/>
                <a:gd name="T39" fmla="*/ 614 h 763"/>
                <a:gd name="T40" fmla="*/ 25 w 730"/>
                <a:gd name="T41" fmla="*/ 634 h 763"/>
                <a:gd name="T42" fmla="*/ 83 w 730"/>
                <a:gd name="T43" fmla="*/ 686 h 763"/>
                <a:gd name="T44" fmla="*/ 149 w 730"/>
                <a:gd name="T45" fmla="*/ 725 h 763"/>
                <a:gd name="T46" fmla="*/ 224 w 730"/>
                <a:gd name="T47" fmla="*/ 752 h 763"/>
                <a:gd name="T48" fmla="*/ 308 w 730"/>
                <a:gd name="T49" fmla="*/ 763 h 763"/>
                <a:gd name="T50" fmla="*/ 389 w 730"/>
                <a:gd name="T51" fmla="*/ 758 h 763"/>
                <a:gd name="T52" fmla="*/ 465 w 730"/>
                <a:gd name="T53" fmla="*/ 736 h 763"/>
                <a:gd name="T54" fmla="*/ 536 w 730"/>
                <a:gd name="T55" fmla="*/ 701 h 763"/>
                <a:gd name="T56" fmla="*/ 598 w 730"/>
                <a:gd name="T57" fmla="*/ 655 h 763"/>
                <a:gd name="T58" fmla="*/ 651 w 730"/>
                <a:gd name="T59" fmla="*/ 597 h 763"/>
                <a:gd name="T60" fmla="*/ 691 w 730"/>
                <a:gd name="T61" fmla="*/ 527 h 763"/>
                <a:gd name="T62" fmla="*/ 718 w 730"/>
                <a:gd name="T63" fmla="*/ 450 h 76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30"/>
                <a:gd name="T97" fmla="*/ 0 h 763"/>
                <a:gd name="T98" fmla="*/ 730 w 730"/>
                <a:gd name="T99" fmla="*/ 763 h 76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30" h="763">
                  <a:moveTo>
                    <a:pt x="726" y="409"/>
                  </a:moveTo>
                  <a:lnTo>
                    <a:pt x="730" y="347"/>
                  </a:lnTo>
                  <a:lnTo>
                    <a:pt x="724" y="285"/>
                  </a:lnTo>
                  <a:lnTo>
                    <a:pt x="711" y="227"/>
                  </a:lnTo>
                  <a:lnTo>
                    <a:pt x="687" y="173"/>
                  </a:lnTo>
                  <a:lnTo>
                    <a:pt x="656" y="120"/>
                  </a:lnTo>
                  <a:lnTo>
                    <a:pt x="620" y="74"/>
                  </a:lnTo>
                  <a:lnTo>
                    <a:pt x="577" y="35"/>
                  </a:lnTo>
                  <a:lnTo>
                    <a:pt x="527" y="0"/>
                  </a:lnTo>
                  <a:lnTo>
                    <a:pt x="550" y="33"/>
                  </a:lnTo>
                  <a:lnTo>
                    <a:pt x="569" y="68"/>
                  </a:lnTo>
                  <a:lnTo>
                    <a:pt x="587" y="105"/>
                  </a:lnTo>
                  <a:lnTo>
                    <a:pt x="598" y="144"/>
                  </a:lnTo>
                  <a:lnTo>
                    <a:pt x="608" y="182"/>
                  </a:lnTo>
                  <a:lnTo>
                    <a:pt x="612" y="223"/>
                  </a:lnTo>
                  <a:lnTo>
                    <a:pt x="612" y="264"/>
                  </a:lnTo>
                  <a:lnTo>
                    <a:pt x="608" y="306"/>
                  </a:lnTo>
                  <a:lnTo>
                    <a:pt x="600" y="347"/>
                  </a:lnTo>
                  <a:lnTo>
                    <a:pt x="589" y="386"/>
                  </a:lnTo>
                  <a:lnTo>
                    <a:pt x="573" y="425"/>
                  </a:lnTo>
                  <a:lnTo>
                    <a:pt x="556" y="459"/>
                  </a:lnTo>
                  <a:lnTo>
                    <a:pt x="534" y="492"/>
                  </a:lnTo>
                  <a:lnTo>
                    <a:pt x="509" y="523"/>
                  </a:lnTo>
                  <a:lnTo>
                    <a:pt x="482" y="550"/>
                  </a:lnTo>
                  <a:lnTo>
                    <a:pt x="451" y="576"/>
                  </a:lnTo>
                  <a:lnTo>
                    <a:pt x="418" y="599"/>
                  </a:lnTo>
                  <a:lnTo>
                    <a:pt x="385" y="618"/>
                  </a:lnTo>
                  <a:lnTo>
                    <a:pt x="348" y="634"/>
                  </a:lnTo>
                  <a:lnTo>
                    <a:pt x="310" y="645"/>
                  </a:lnTo>
                  <a:lnTo>
                    <a:pt x="271" y="655"/>
                  </a:lnTo>
                  <a:lnTo>
                    <a:pt x="232" y="659"/>
                  </a:lnTo>
                  <a:lnTo>
                    <a:pt x="190" y="661"/>
                  </a:lnTo>
                  <a:lnTo>
                    <a:pt x="149" y="657"/>
                  </a:lnTo>
                  <a:lnTo>
                    <a:pt x="130" y="653"/>
                  </a:lnTo>
                  <a:lnTo>
                    <a:pt x="108" y="649"/>
                  </a:lnTo>
                  <a:lnTo>
                    <a:pt x="89" y="643"/>
                  </a:lnTo>
                  <a:lnTo>
                    <a:pt x="71" y="638"/>
                  </a:lnTo>
                  <a:lnTo>
                    <a:pt x="52" y="630"/>
                  </a:lnTo>
                  <a:lnTo>
                    <a:pt x="35" y="622"/>
                  </a:lnTo>
                  <a:lnTo>
                    <a:pt x="17" y="614"/>
                  </a:lnTo>
                  <a:lnTo>
                    <a:pt x="0" y="605"/>
                  </a:lnTo>
                  <a:lnTo>
                    <a:pt x="25" y="634"/>
                  </a:lnTo>
                  <a:lnTo>
                    <a:pt x="52" y="661"/>
                  </a:lnTo>
                  <a:lnTo>
                    <a:pt x="83" y="686"/>
                  </a:lnTo>
                  <a:lnTo>
                    <a:pt x="116" y="707"/>
                  </a:lnTo>
                  <a:lnTo>
                    <a:pt x="149" y="725"/>
                  </a:lnTo>
                  <a:lnTo>
                    <a:pt x="186" y="740"/>
                  </a:lnTo>
                  <a:lnTo>
                    <a:pt x="224" y="752"/>
                  </a:lnTo>
                  <a:lnTo>
                    <a:pt x="265" y="760"/>
                  </a:lnTo>
                  <a:lnTo>
                    <a:pt x="308" y="763"/>
                  </a:lnTo>
                  <a:lnTo>
                    <a:pt x="348" y="763"/>
                  </a:lnTo>
                  <a:lnTo>
                    <a:pt x="389" y="758"/>
                  </a:lnTo>
                  <a:lnTo>
                    <a:pt x="428" y="750"/>
                  </a:lnTo>
                  <a:lnTo>
                    <a:pt x="465" y="736"/>
                  </a:lnTo>
                  <a:lnTo>
                    <a:pt x="501" y="721"/>
                  </a:lnTo>
                  <a:lnTo>
                    <a:pt x="536" y="701"/>
                  </a:lnTo>
                  <a:lnTo>
                    <a:pt x="569" y="680"/>
                  </a:lnTo>
                  <a:lnTo>
                    <a:pt x="598" y="655"/>
                  </a:lnTo>
                  <a:lnTo>
                    <a:pt x="625" y="626"/>
                  </a:lnTo>
                  <a:lnTo>
                    <a:pt x="651" y="597"/>
                  </a:lnTo>
                  <a:lnTo>
                    <a:pt x="672" y="562"/>
                  </a:lnTo>
                  <a:lnTo>
                    <a:pt x="691" y="527"/>
                  </a:lnTo>
                  <a:lnTo>
                    <a:pt x="707" y="490"/>
                  </a:lnTo>
                  <a:lnTo>
                    <a:pt x="718" y="450"/>
                  </a:lnTo>
                  <a:lnTo>
                    <a:pt x="726" y="409"/>
                  </a:lnTo>
                  <a:close/>
                </a:path>
              </a:pathLst>
            </a:custGeom>
            <a:solidFill>
              <a:srgbClr val="60C6F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 name="Freeform 15"/>
            <p:cNvSpPr>
              <a:spLocks/>
            </p:cNvSpPr>
            <p:nvPr/>
          </p:nvSpPr>
          <p:spPr bwMode="auto">
            <a:xfrm>
              <a:off x="4179" y="2362"/>
              <a:ext cx="699" cy="715"/>
            </a:xfrm>
            <a:custGeom>
              <a:avLst/>
              <a:gdLst>
                <a:gd name="T0" fmla="*/ 277 w 699"/>
                <a:gd name="T1" fmla="*/ 715 h 715"/>
                <a:gd name="T2" fmla="*/ 358 w 699"/>
                <a:gd name="T3" fmla="*/ 709 h 715"/>
                <a:gd name="T4" fmla="*/ 435 w 699"/>
                <a:gd name="T5" fmla="*/ 688 h 715"/>
                <a:gd name="T6" fmla="*/ 505 w 699"/>
                <a:gd name="T7" fmla="*/ 653 h 715"/>
                <a:gd name="T8" fmla="*/ 569 w 699"/>
                <a:gd name="T9" fmla="*/ 604 h 715"/>
                <a:gd name="T10" fmla="*/ 621 w 699"/>
                <a:gd name="T11" fmla="*/ 546 h 715"/>
                <a:gd name="T12" fmla="*/ 660 w 699"/>
                <a:gd name="T13" fmla="*/ 479 h 715"/>
                <a:gd name="T14" fmla="*/ 687 w 699"/>
                <a:gd name="T15" fmla="*/ 401 h 715"/>
                <a:gd name="T16" fmla="*/ 699 w 699"/>
                <a:gd name="T17" fmla="*/ 318 h 715"/>
                <a:gd name="T18" fmla="*/ 695 w 699"/>
                <a:gd name="T19" fmla="*/ 236 h 715"/>
                <a:gd name="T20" fmla="*/ 674 w 699"/>
                <a:gd name="T21" fmla="*/ 159 h 715"/>
                <a:gd name="T22" fmla="*/ 637 w 699"/>
                <a:gd name="T23" fmla="*/ 87 h 715"/>
                <a:gd name="T24" fmla="*/ 596 w 699"/>
                <a:gd name="T25" fmla="*/ 45 h 715"/>
                <a:gd name="T26" fmla="*/ 561 w 699"/>
                <a:gd name="T27" fmla="*/ 29 h 715"/>
                <a:gd name="T28" fmla="*/ 523 w 699"/>
                <a:gd name="T29" fmla="*/ 16 h 715"/>
                <a:gd name="T30" fmla="*/ 484 w 699"/>
                <a:gd name="T31" fmla="*/ 6 h 715"/>
                <a:gd name="T32" fmla="*/ 422 w 699"/>
                <a:gd name="T33" fmla="*/ 0 h 715"/>
                <a:gd name="T34" fmla="*/ 341 w 699"/>
                <a:gd name="T35" fmla="*/ 6 h 715"/>
                <a:gd name="T36" fmla="*/ 265 w 699"/>
                <a:gd name="T37" fmla="*/ 25 h 715"/>
                <a:gd name="T38" fmla="*/ 193 w 699"/>
                <a:gd name="T39" fmla="*/ 60 h 715"/>
                <a:gd name="T40" fmla="*/ 131 w 699"/>
                <a:gd name="T41" fmla="*/ 109 h 715"/>
                <a:gd name="T42" fmla="*/ 79 w 699"/>
                <a:gd name="T43" fmla="*/ 167 h 715"/>
                <a:gd name="T44" fmla="*/ 38 w 699"/>
                <a:gd name="T45" fmla="*/ 235 h 715"/>
                <a:gd name="T46" fmla="*/ 11 w 699"/>
                <a:gd name="T47" fmla="*/ 310 h 715"/>
                <a:gd name="T48" fmla="*/ 0 w 699"/>
                <a:gd name="T49" fmla="*/ 393 h 715"/>
                <a:gd name="T50" fmla="*/ 5 w 699"/>
                <a:gd name="T51" fmla="*/ 477 h 715"/>
                <a:gd name="T52" fmla="*/ 27 w 699"/>
                <a:gd name="T53" fmla="*/ 554 h 715"/>
                <a:gd name="T54" fmla="*/ 64 w 699"/>
                <a:gd name="T55" fmla="*/ 626 h 715"/>
                <a:gd name="T56" fmla="*/ 104 w 699"/>
                <a:gd name="T57" fmla="*/ 668 h 715"/>
                <a:gd name="T58" fmla="*/ 139 w 699"/>
                <a:gd name="T59" fmla="*/ 684 h 715"/>
                <a:gd name="T60" fmla="*/ 176 w 699"/>
                <a:gd name="T61" fmla="*/ 697 h 715"/>
                <a:gd name="T62" fmla="*/ 217 w 699"/>
                <a:gd name="T63" fmla="*/ 707 h 71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99"/>
                <a:gd name="T97" fmla="*/ 0 h 715"/>
                <a:gd name="T98" fmla="*/ 699 w 699"/>
                <a:gd name="T99" fmla="*/ 715 h 71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99" h="715">
                  <a:moveTo>
                    <a:pt x="236" y="711"/>
                  </a:moveTo>
                  <a:lnTo>
                    <a:pt x="277" y="715"/>
                  </a:lnTo>
                  <a:lnTo>
                    <a:pt x="319" y="713"/>
                  </a:lnTo>
                  <a:lnTo>
                    <a:pt x="358" y="709"/>
                  </a:lnTo>
                  <a:lnTo>
                    <a:pt x="397" y="699"/>
                  </a:lnTo>
                  <a:lnTo>
                    <a:pt x="435" y="688"/>
                  </a:lnTo>
                  <a:lnTo>
                    <a:pt x="472" y="672"/>
                  </a:lnTo>
                  <a:lnTo>
                    <a:pt x="505" y="653"/>
                  </a:lnTo>
                  <a:lnTo>
                    <a:pt x="538" y="630"/>
                  </a:lnTo>
                  <a:lnTo>
                    <a:pt x="569" y="604"/>
                  </a:lnTo>
                  <a:lnTo>
                    <a:pt x="596" y="577"/>
                  </a:lnTo>
                  <a:lnTo>
                    <a:pt x="621" y="546"/>
                  </a:lnTo>
                  <a:lnTo>
                    <a:pt x="643" y="513"/>
                  </a:lnTo>
                  <a:lnTo>
                    <a:pt x="660" y="479"/>
                  </a:lnTo>
                  <a:lnTo>
                    <a:pt x="676" y="440"/>
                  </a:lnTo>
                  <a:lnTo>
                    <a:pt x="687" y="401"/>
                  </a:lnTo>
                  <a:lnTo>
                    <a:pt x="695" y="360"/>
                  </a:lnTo>
                  <a:lnTo>
                    <a:pt x="699" y="318"/>
                  </a:lnTo>
                  <a:lnTo>
                    <a:pt x="699" y="277"/>
                  </a:lnTo>
                  <a:lnTo>
                    <a:pt x="695" y="236"/>
                  </a:lnTo>
                  <a:lnTo>
                    <a:pt x="685" y="198"/>
                  </a:lnTo>
                  <a:lnTo>
                    <a:pt x="674" y="159"/>
                  </a:lnTo>
                  <a:lnTo>
                    <a:pt x="656" y="122"/>
                  </a:lnTo>
                  <a:lnTo>
                    <a:pt x="637" y="87"/>
                  </a:lnTo>
                  <a:lnTo>
                    <a:pt x="614" y="54"/>
                  </a:lnTo>
                  <a:lnTo>
                    <a:pt x="596" y="45"/>
                  </a:lnTo>
                  <a:lnTo>
                    <a:pt x="579" y="37"/>
                  </a:lnTo>
                  <a:lnTo>
                    <a:pt x="561" y="29"/>
                  </a:lnTo>
                  <a:lnTo>
                    <a:pt x="542" y="21"/>
                  </a:lnTo>
                  <a:lnTo>
                    <a:pt x="523" y="16"/>
                  </a:lnTo>
                  <a:lnTo>
                    <a:pt x="503" y="10"/>
                  </a:lnTo>
                  <a:lnTo>
                    <a:pt x="484" y="6"/>
                  </a:lnTo>
                  <a:lnTo>
                    <a:pt x="463" y="4"/>
                  </a:lnTo>
                  <a:lnTo>
                    <a:pt x="422" y="0"/>
                  </a:lnTo>
                  <a:lnTo>
                    <a:pt x="381" y="0"/>
                  </a:lnTo>
                  <a:lnTo>
                    <a:pt x="341" y="6"/>
                  </a:lnTo>
                  <a:lnTo>
                    <a:pt x="302" y="14"/>
                  </a:lnTo>
                  <a:lnTo>
                    <a:pt x="265" y="25"/>
                  </a:lnTo>
                  <a:lnTo>
                    <a:pt x="228" y="43"/>
                  </a:lnTo>
                  <a:lnTo>
                    <a:pt x="193" y="60"/>
                  </a:lnTo>
                  <a:lnTo>
                    <a:pt x="162" y="83"/>
                  </a:lnTo>
                  <a:lnTo>
                    <a:pt x="131" y="109"/>
                  </a:lnTo>
                  <a:lnTo>
                    <a:pt x="104" y="136"/>
                  </a:lnTo>
                  <a:lnTo>
                    <a:pt x="79" y="167"/>
                  </a:lnTo>
                  <a:lnTo>
                    <a:pt x="58" y="200"/>
                  </a:lnTo>
                  <a:lnTo>
                    <a:pt x="38" y="235"/>
                  </a:lnTo>
                  <a:lnTo>
                    <a:pt x="23" y="271"/>
                  </a:lnTo>
                  <a:lnTo>
                    <a:pt x="11" y="310"/>
                  </a:lnTo>
                  <a:lnTo>
                    <a:pt x="4" y="351"/>
                  </a:lnTo>
                  <a:lnTo>
                    <a:pt x="0" y="393"/>
                  </a:lnTo>
                  <a:lnTo>
                    <a:pt x="2" y="436"/>
                  </a:lnTo>
                  <a:lnTo>
                    <a:pt x="5" y="477"/>
                  </a:lnTo>
                  <a:lnTo>
                    <a:pt x="15" y="515"/>
                  </a:lnTo>
                  <a:lnTo>
                    <a:pt x="27" y="554"/>
                  </a:lnTo>
                  <a:lnTo>
                    <a:pt x="44" y="591"/>
                  </a:lnTo>
                  <a:lnTo>
                    <a:pt x="64" y="626"/>
                  </a:lnTo>
                  <a:lnTo>
                    <a:pt x="87" y="659"/>
                  </a:lnTo>
                  <a:lnTo>
                    <a:pt x="104" y="668"/>
                  </a:lnTo>
                  <a:lnTo>
                    <a:pt x="122" y="676"/>
                  </a:lnTo>
                  <a:lnTo>
                    <a:pt x="139" y="684"/>
                  </a:lnTo>
                  <a:lnTo>
                    <a:pt x="158" y="692"/>
                  </a:lnTo>
                  <a:lnTo>
                    <a:pt x="176" y="697"/>
                  </a:lnTo>
                  <a:lnTo>
                    <a:pt x="195" y="703"/>
                  </a:lnTo>
                  <a:lnTo>
                    <a:pt x="217" y="707"/>
                  </a:lnTo>
                  <a:lnTo>
                    <a:pt x="236" y="711"/>
                  </a:lnTo>
                  <a:close/>
                </a:path>
              </a:pathLst>
            </a:custGeom>
            <a:solidFill>
              <a:srgbClr val="9BED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 name="Freeform 16"/>
            <p:cNvSpPr>
              <a:spLocks/>
            </p:cNvSpPr>
            <p:nvPr/>
          </p:nvSpPr>
          <p:spPr bwMode="auto">
            <a:xfrm>
              <a:off x="4624" y="2391"/>
              <a:ext cx="103" cy="136"/>
            </a:xfrm>
            <a:custGeom>
              <a:avLst/>
              <a:gdLst>
                <a:gd name="T0" fmla="*/ 52 w 103"/>
                <a:gd name="T1" fmla="*/ 4 h 136"/>
                <a:gd name="T2" fmla="*/ 56 w 103"/>
                <a:gd name="T3" fmla="*/ 6 h 136"/>
                <a:gd name="T4" fmla="*/ 64 w 103"/>
                <a:gd name="T5" fmla="*/ 12 h 136"/>
                <a:gd name="T6" fmla="*/ 76 w 103"/>
                <a:gd name="T7" fmla="*/ 20 h 136"/>
                <a:gd name="T8" fmla="*/ 87 w 103"/>
                <a:gd name="T9" fmla="*/ 29 h 136"/>
                <a:gd name="T10" fmla="*/ 97 w 103"/>
                <a:gd name="T11" fmla="*/ 43 h 136"/>
                <a:gd name="T12" fmla="*/ 103 w 103"/>
                <a:gd name="T13" fmla="*/ 54 h 136"/>
                <a:gd name="T14" fmla="*/ 101 w 103"/>
                <a:gd name="T15" fmla="*/ 68 h 136"/>
                <a:gd name="T16" fmla="*/ 91 w 103"/>
                <a:gd name="T17" fmla="*/ 80 h 136"/>
                <a:gd name="T18" fmla="*/ 78 w 103"/>
                <a:gd name="T19" fmla="*/ 91 h 136"/>
                <a:gd name="T20" fmla="*/ 74 w 103"/>
                <a:gd name="T21" fmla="*/ 103 h 136"/>
                <a:gd name="T22" fmla="*/ 72 w 103"/>
                <a:gd name="T23" fmla="*/ 114 h 136"/>
                <a:gd name="T24" fmla="*/ 66 w 103"/>
                <a:gd name="T25" fmla="*/ 128 h 136"/>
                <a:gd name="T26" fmla="*/ 54 w 103"/>
                <a:gd name="T27" fmla="*/ 136 h 136"/>
                <a:gd name="T28" fmla="*/ 41 w 103"/>
                <a:gd name="T29" fmla="*/ 132 h 136"/>
                <a:gd name="T30" fmla="*/ 31 w 103"/>
                <a:gd name="T31" fmla="*/ 118 h 136"/>
                <a:gd name="T32" fmla="*/ 35 w 103"/>
                <a:gd name="T33" fmla="*/ 101 h 136"/>
                <a:gd name="T34" fmla="*/ 43 w 103"/>
                <a:gd name="T35" fmla="*/ 83 h 136"/>
                <a:gd name="T36" fmla="*/ 45 w 103"/>
                <a:gd name="T37" fmla="*/ 68 h 136"/>
                <a:gd name="T38" fmla="*/ 37 w 103"/>
                <a:gd name="T39" fmla="*/ 58 h 136"/>
                <a:gd name="T40" fmla="*/ 16 w 103"/>
                <a:gd name="T41" fmla="*/ 54 h 136"/>
                <a:gd name="T42" fmla="*/ 6 w 103"/>
                <a:gd name="T43" fmla="*/ 53 h 136"/>
                <a:gd name="T44" fmla="*/ 0 w 103"/>
                <a:gd name="T45" fmla="*/ 47 h 136"/>
                <a:gd name="T46" fmla="*/ 0 w 103"/>
                <a:gd name="T47" fmla="*/ 37 h 136"/>
                <a:gd name="T48" fmla="*/ 6 w 103"/>
                <a:gd name="T49" fmla="*/ 27 h 136"/>
                <a:gd name="T50" fmla="*/ 14 w 103"/>
                <a:gd name="T51" fmla="*/ 16 h 136"/>
                <a:gd name="T52" fmla="*/ 23 w 103"/>
                <a:gd name="T53" fmla="*/ 8 h 136"/>
                <a:gd name="T54" fmla="*/ 35 w 103"/>
                <a:gd name="T55" fmla="*/ 2 h 136"/>
                <a:gd name="T56" fmla="*/ 47 w 103"/>
                <a:gd name="T57" fmla="*/ 0 h 136"/>
                <a:gd name="T58" fmla="*/ 52 w 103"/>
                <a:gd name="T59" fmla="*/ 4 h 1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03"/>
                <a:gd name="T91" fmla="*/ 0 h 136"/>
                <a:gd name="T92" fmla="*/ 103 w 103"/>
                <a:gd name="T93" fmla="*/ 136 h 1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03" h="136">
                  <a:moveTo>
                    <a:pt x="52" y="4"/>
                  </a:moveTo>
                  <a:lnTo>
                    <a:pt x="56" y="6"/>
                  </a:lnTo>
                  <a:lnTo>
                    <a:pt x="64" y="12"/>
                  </a:lnTo>
                  <a:lnTo>
                    <a:pt x="76" y="20"/>
                  </a:lnTo>
                  <a:lnTo>
                    <a:pt x="87" y="29"/>
                  </a:lnTo>
                  <a:lnTo>
                    <a:pt x="97" y="43"/>
                  </a:lnTo>
                  <a:lnTo>
                    <a:pt x="103" y="54"/>
                  </a:lnTo>
                  <a:lnTo>
                    <a:pt x="101" y="68"/>
                  </a:lnTo>
                  <a:lnTo>
                    <a:pt x="91" y="80"/>
                  </a:lnTo>
                  <a:lnTo>
                    <a:pt x="78" y="91"/>
                  </a:lnTo>
                  <a:lnTo>
                    <a:pt x="74" y="103"/>
                  </a:lnTo>
                  <a:lnTo>
                    <a:pt x="72" y="114"/>
                  </a:lnTo>
                  <a:lnTo>
                    <a:pt x="66" y="128"/>
                  </a:lnTo>
                  <a:lnTo>
                    <a:pt x="54" y="136"/>
                  </a:lnTo>
                  <a:lnTo>
                    <a:pt x="41" y="132"/>
                  </a:lnTo>
                  <a:lnTo>
                    <a:pt x="31" y="118"/>
                  </a:lnTo>
                  <a:lnTo>
                    <a:pt x="35" y="101"/>
                  </a:lnTo>
                  <a:lnTo>
                    <a:pt x="43" y="83"/>
                  </a:lnTo>
                  <a:lnTo>
                    <a:pt x="45" y="68"/>
                  </a:lnTo>
                  <a:lnTo>
                    <a:pt x="37" y="58"/>
                  </a:lnTo>
                  <a:lnTo>
                    <a:pt x="16" y="54"/>
                  </a:lnTo>
                  <a:lnTo>
                    <a:pt x="6" y="53"/>
                  </a:lnTo>
                  <a:lnTo>
                    <a:pt x="0" y="47"/>
                  </a:lnTo>
                  <a:lnTo>
                    <a:pt x="0" y="37"/>
                  </a:lnTo>
                  <a:lnTo>
                    <a:pt x="6" y="27"/>
                  </a:lnTo>
                  <a:lnTo>
                    <a:pt x="14" y="16"/>
                  </a:lnTo>
                  <a:lnTo>
                    <a:pt x="23" y="8"/>
                  </a:lnTo>
                  <a:lnTo>
                    <a:pt x="35" y="2"/>
                  </a:lnTo>
                  <a:lnTo>
                    <a:pt x="47" y="0"/>
                  </a:lnTo>
                  <a:lnTo>
                    <a:pt x="52" y="4"/>
                  </a:lnTo>
                  <a:close/>
                </a:path>
              </a:pathLst>
            </a:custGeom>
            <a:solidFill>
              <a:srgbClr val="8C60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 name="Freeform 17"/>
            <p:cNvSpPr>
              <a:spLocks/>
            </p:cNvSpPr>
            <p:nvPr/>
          </p:nvSpPr>
          <p:spPr bwMode="auto">
            <a:xfrm>
              <a:off x="4543" y="2409"/>
              <a:ext cx="60" cy="56"/>
            </a:xfrm>
            <a:custGeom>
              <a:avLst/>
              <a:gdLst>
                <a:gd name="T0" fmla="*/ 23 w 60"/>
                <a:gd name="T1" fmla="*/ 31 h 56"/>
                <a:gd name="T2" fmla="*/ 21 w 60"/>
                <a:gd name="T3" fmla="*/ 33 h 56"/>
                <a:gd name="T4" fmla="*/ 21 w 60"/>
                <a:gd name="T5" fmla="*/ 40 h 56"/>
                <a:gd name="T6" fmla="*/ 25 w 60"/>
                <a:gd name="T7" fmla="*/ 48 h 56"/>
                <a:gd name="T8" fmla="*/ 38 w 60"/>
                <a:gd name="T9" fmla="*/ 56 h 56"/>
                <a:gd name="T10" fmla="*/ 54 w 60"/>
                <a:gd name="T11" fmla="*/ 54 h 56"/>
                <a:gd name="T12" fmla="*/ 60 w 60"/>
                <a:gd name="T13" fmla="*/ 40 h 56"/>
                <a:gd name="T14" fmla="*/ 56 w 60"/>
                <a:gd name="T15" fmla="*/ 23 h 56"/>
                <a:gd name="T16" fmla="*/ 42 w 60"/>
                <a:gd name="T17" fmla="*/ 7 h 56"/>
                <a:gd name="T18" fmla="*/ 23 w 60"/>
                <a:gd name="T19" fmla="*/ 0 h 56"/>
                <a:gd name="T20" fmla="*/ 7 w 60"/>
                <a:gd name="T21" fmla="*/ 0 h 56"/>
                <a:gd name="T22" fmla="*/ 0 w 60"/>
                <a:gd name="T23" fmla="*/ 5 h 56"/>
                <a:gd name="T24" fmla="*/ 2 w 60"/>
                <a:gd name="T25" fmla="*/ 9 h 56"/>
                <a:gd name="T26" fmla="*/ 11 w 60"/>
                <a:gd name="T27" fmla="*/ 13 h 56"/>
                <a:gd name="T28" fmla="*/ 19 w 60"/>
                <a:gd name="T29" fmla="*/ 17 h 56"/>
                <a:gd name="T30" fmla="*/ 25 w 60"/>
                <a:gd name="T31" fmla="*/ 23 h 56"/>
                <a:gd name="T32" fmla="*/ 23 w 60"/>
                <a:gd name="T33" fmla="*/ 31 h 5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0"/>
                <a:gd name="T52" fmla="*/ 0 h 56"/>
                <a:gd name="T53" fmla="*/ 60 w 60"/>
                <a:gd name="T54" fmla="*/ 56 h 5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0" h="56">
                  <a:moveTo>
                    <a:pt x="23" y="31"/>
                  </a:moveTo>
                  <a:lnTo>
                    <a:pt x="21" y="33"/>
                  </a:lnTo>
                  <a:lnTo>
                    <a:pt x="21" y="40"/>
                  </a:lnTo>
                  <a:lnTo>
                    <a:pt x="25" y="48"/>
                  </a:lnTo>
                  <a:lnTo>
                    <a:pt x="38" y="56"/>
                  </a:lnTo>
                  <a:lnTo>
                    <a:pt x="54" y="54"/>
                  </a:lnTo>
                  <a:lnTo>
                    <a:pt x="60" y="40"/>
                  </a:lnTo>
                  <a:lnTo>
                    <a:pt x="56" y="23"/>
                  </a:lnTo>
                  <a:lnTo>
                    <a:pt x="42" y="7"/>
                  </a:lnTo>
                  <a:lnTo>
                    <a:pt x="23" y="0"/>
                  </a:lnTo>
                  <a:lnTo>
                    <a:pt x="7" y="0"/>
                  </a:lnTo>
                  <a:lnTo>
                    <a:pt x="0" y="5"/>
                  </a:lnTo>
                  <a:lnTo>
                    <a:pt x="2" y="9"/>
                  </a:lnTo>
                  <a:lnTo>
                    <a:pt x="11" y="13"/>
                  </a:lnTo>
                  <a:lnTo>
                    <a:pt x="19" y="17"/>
                  </a:lnTo>
                  <a:lnTo>
                    <a:pt x="25" y="23"/>
                  </a:lnTo>
                  <a:lnTo>
                    <a:pt x="23" y="31"/>
                  </a:lnTo>
                  <a:close/>
                </a:path>
              </a:pathLst>
            </a:custGeom>
            <a:solidFill>
              <a:srgbClr val="8C60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 name="Freeform 18"/>
            <p:cNvSpPr>
              <a:spLocks/>
            </p:cNvSpPr>
            <p:nvPr/>
          </p:nvSpPr>
          <p:spPr bwMode="auto">
            <a:xfrm>
              <a:off x="4490" y="2399"/>
              <a:ext cx="35" cy="14"/>
            </a:xfrm>
            <a:custGeom>
              <a:avLst/>
              <a:gdLst>
                <a:gd name="T0" fmla="*/ 31 w 35"/>
                <a:gd name="T1" fmla="*/ 6 h 14"/>
                <a:gd name="T2" fmla="*/ 30 w 35"/>
                <a:gd name="T3" fmla="*/ 4 h 14"/>
                <a:gd name="T4" fmla="*/ 22 w 35"/>
                <a:gd name="T5" fmla="*/ 2 h 14"/>
                <a:gd name="T6" fmla="*/ 12 w 35"/>
                <a:gd name="T7" fmla="*/ 0 h 14"/>
                <a:gd name="T8" fmla="*/ 2 w 35"/>
                <a:gd name="T9" fmla="*/ 2 h 14"/>
                <a:gd name="T10" fmla="*/ 0 w 35"/>
                <a:gd name="T11" fmla="*/ 4 h 14"/>
                <a:gd name="T12" fmla="*/ 4 w 35"/>
                <a:gd name="T13" fmla="*/ 8 h 14"/>
                <a:gd name="T14" fmla="*/ 12 w 35"/>
                <a:gd name="T15" fmla="*/ 10 h 14"/>
                <a:gd name="T16" fmla="*/ 20 w 35"/>
                <a:gd name="T17" fmla="*/ 12 h 14"/>
                <a:gd name="T18" fmla="*/ 28 w 35"/>
                <a:gd name="T19" fmla="*/ 14 h 14"/>
                <a:gd name="T20" fmla="*/ 33 w 35"/>
                <a:gd name="T21" fmla="*/ 14 h 14"/>
                <a:gd name="T22" fmla="*/ 35 w 35"/>
                <a:gd name="T23" fmla="*/ 12 h 14"/>
                <a:gd name="T24" fmla="*/ 31 w 35"/>
                <a:gd name="T25" fmla="*/ 6 h 1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5"/>
                <a:gd name="T40" fmla="*/ 0 h 14"/>
                <a:gd name="T41" fmla="*/ 35 w 35"/>
                <a:gd name="T42" fmla="*/ 14 h 1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5" h="14">
                  <a:moveTo>
                    <a:pt x="31" y="6"/>
                  </a:moveTo>
                  <a:lnTo>
                    <a:pt x="30" y="4"/>
                  </a:lnTo>
                  <a:lnTo>
                    <a:pt x="22" y="2"/>
                  </a:lnTo>
                  <a:lnTo>
                    <a:pt x="12" y="0"/>
                  </a:lnTo>
                  <a:lnTo>
                    <a:pt x="2" y="2"/>
                  </a:lnTo>
                  <a:lnTo>
                    <a:pt x="0" y="4"/>
                  </a:lnTo>
                  <a:lnTo>
                    <a:pt x="4" y="8"/>
                  </a:lnTo>
                  <a:lnTo>
                    <a:pt x="12" y="10"/>
                  </a:lnTo>
                  <a:lnTo>
                    <a:pt x="20" y="12"/>
                  </a:lnTo>
                  <a:lnTo>
                    <a:pt x="28" y="14"/>
                  </a:lnTo>
                  <a:lnTo>
                    <a:pt x="33" y="14"/>
                  </a:lnTo>
                  <a:lnTo>
                    <a:pt x="35" y="12"/>
                  </a:lnTo>
                  <a:lnTo>
                    <a:pt x="31" y="6"/>
                  </a:lnTo>
                  <a:close/>
                </a:path>
              </a:pathLst>
            </a:custGeom>
            <a:solidFill>
              <a:srgbClr val="8C60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 name="Freeform 19"/>
            <p:cNvSpPr>
              <a:spLocks/>
            </p:cNvSpPr>
            <p:nvPr/>
          </p:nvSpPr>
          <p:spPr bwMode="auto">
            <a:xfrm>
              <a:off x="4277" y="2418"/>
              <a:ext cx="353" cy="707"/>
            </a:xfrm>
            <a:custGeom>
              <a:avLst/>
              <a:gdLst>
                <a:gd name="T0" fmla="*/ 4 w 353"/>
                <a:gd name="T1" fmla="*/ 192 h 707"/>
                <a:gd name="T2" fmla="*/ 22 w 353"/>
                <a:gd name="T3" fmla="*/ 235 h 707"/>
                <a:gd name="T4" fmla="*/ 29 w 353"/>
                <a:gd name="T5" fmla="*/ 273 h 707"/>
                <a:gd name="T6" fmla="*/ 60 w 353"/>
                <a:gd name="T7" fmla="*/ 302 h 707"/>
                <a:gd name="T8" fmla="*/ 109 w 353"/>
                <a:gd name="T9" fmla="*/ 337 h 707"/>
                <a:gd name="T10" fmla="*/ 146 w 353"/>
                <a:gd name="T11" fmla="*/ 359 h 707"/>
                <a:gd name="T12" fmla="*/ 132 w 353"/>
                <a:gd name="T13" fmla="*/ 386 h 707"/>
                <a:gd name="T14" fmla="*/ 119 w 353"/>
                <a:gd name="T15" fmla="*/ 426 h 707"/>
                <a:gd name="T16" fmla="*/ 136 w 353"/>
                <a:gd name="T17" fmla="*/ 473 h 707"/>
                <a:gd name="T18" fmla="*/ 173 w 353"/>
                <a:gd name="T19" fmla="*/ 519 h 707"/>
                <a:gd name="T20" fmla="*/ 171 w 353"/>
                <a:gd name="T21" fmla="*/ 659 h 707"/>
                <a:gd name="T22" fmla="*/ 212 w 353"/>
                <a:gd name="T23" fmla="*/ 707 h 707"/>
                <a:gd name="T24" fmla="*/ 206 w 353"/>
                <a:gd name="T25" fmla="*/ 670 h 707"/>
                <a:gd name="T26" fmla="*/ 241 w 353"/>
                <a:gd name="T27" fmla="*/ 624 h 707"/>
                <a:gd name="T28" fmla="*/ 260 w 353"/>
                <a:gd name="T29" fmla="*/ 593 h 707"/>
                <a:gd name="T30" fmla="*/ 279 w 353"/>
                <a:gd name="T31" fmla="*/ 562 h 707"/>
                <a:gd name="T32" fmla="*/ 320 w 353"/>
                <a:gd name="T33" fmla="*/ 527 h 707"/>
                <a:gd name="T34" fmla="*/ 353 w 353"/>
                <a:gd name="T35" fmla="*/ 471 h 707"/>
                <a:gd name="T36" fmla="*/ 337 w 353"/>
                <a:gd name="T37" fmla="*/ 444 h 707"/>
                <a:gd name="T38" fmla="*/ 301 w 353"/>
                <a:gd name="T39" fmla="*/ 421 h 707"/>
                <a:gd name="T40" fmla="*/ 270 w 353"/>
                <a:gd name="T41" fmla="*/ 380 h 707"/>
                <a:gd name="T42" fmla="*/ 237 w 353"/>
                <a:gd name="T43" fmla="*/ 351 h 707"/>
                <a:gd name="T44" fmla="*/ 200 w 353"/>
                <a:gd name="T45" fmla="*/ 343 h 707"/>
                <a:gd name="T46" fmla="*/ 163 w 353"/>
                <a:gd name="T47" fmla="*/ 343 h 707"/>
                <a:gd name="T48" fmla="*/ 138 w 353"/>
                <a:gd name="T49" fmla="*/ 343 h 707"/>
                <a:gd name="T50" fmla="*/ 134 w 353"/>
                <a:gd name="T51" fmla="*/ 322 h 707"/>
                <a:gd name="T52" fmla="*/ 134 w 353"/>
                <a:gd name="T53" fmla="*/ 304 h 707"/>
                <a:gd name="T54" fmla="*/ 124 w 353"/>
                <a:gd name="T55" fmla="*/ 297 h 707"/>
                <a:gd name="T56" fmla="*/ 122 w 353"/>
                <a:gd name="T57" fmla="*/ 277 h 707"/>
                <a:gd name="T58" fmla="*/ 86 w 353"/>
                <a:gd name="T59" fmla="*/ 281 h 707"/>
                <a:gd name="T60" fmla="*/ 91 w 353"/>
                <a:gd name="T61" fmla="*/ 242 h 707"/>
                <a:gd name="T62" fmla="*/ 119 w 353"/>
                <a:gd name="T63" fmla="*/ 231 h 707"/>
                <a:gd name="T64" fmla="*/ 148 w 353"/>
                <a:gd name="T65" fmla="*/ 235 h 707"/>
                <a:gd name="T66" fmla="*/ 161 w 353"/>
                <a:gd name="T67" fmla="*/ 254 h 707"/>
                <a:gd name="T68" fmla="*/ 173 w 353"/>
                <a:gd name="T69" fmla="*/ 260 h 707"/>
                <a:gd name="T70" fmla="*/ 179 w 353"/>
                <a:gd name="T71" fmla="*/ 233 h 707"/>
                <a:gd name="T72" fmla="*/ 215 w 353"/>
                <a:gd name="T73" fmla="*/ 202 h 707"/>
                <a:gd name="T74" fmla="*/ 256 w 353"/>
                <a:gd name="T75" fmla="*/ 173 h 707"/>
                <a:gd name="T76" fmla="*/ 293 w 353"/>
                <a:gd name="T77" fmla="*/ 163 h 707"/>
                <a:gd name="T78" fmla="*/ 291 w 353"/>
                <a:gd name="T79" fmla="*/ 144 h 707"/>
                <a:gd name="T80" fmla="*/ 335 w 353"/>
                <a:gd name="T81" fmla="*/ 128 h 707"/>
                <a:gd name="T82" fmla="*/ 297 w 353"/>
                <a:gd name="T83" fmla="*/ 86 h 707"/>
                <a:gd name="T84" fmla="*/ 260 w 353"/>
                <a:gd name="T85" fmla="*/ 107 h 707"/>
                <a:gd name="T86" fmla="*/ 235 w 353"/>
                <a:gd name="T87" fmla="*/ 120 h 707"/>
                <a:gd name="T88" fmla="*/ 215 w 353"/>
                <a:gd name="T89" fmla="*/ 95 h 707"/>
                <a:gd name="T90" fmla="*/ 202 w 353"/>
                <a:gd name="T91" fmla="*/ 78 h 707"/>
                <a:gd name="T92" fmla="*/ 233 w 353"/>
                <a:gd name="T93" fmla="*/ 62 h 707"/>
                <a:gd name="T94" fmla="*/ 262 w 353"/>
                <a:gd name="T95" fmla="*/ 58 h 707"/>
                <a:gd name="T96" fmla="*/ 270 w 353"/>
                <a:gd name="T97" fmla="*/ 47 h 707"/>
                <a:gd name="T98" fmla="*/ 260 w 353"/>
                <a:gd name="T99" fmla="*/ 26 h 707"/>
                <a:gd name="T100" fmla="*/ 243 w 353"/>
                <a:gd name="T101" fmla="*/ 29 h 707"/>
                <a:gd name="T102" fmla="*/ 223 w 353"/>
                <a:gd name="T103" fmla="*/ 35 h 707"/>
                <a:gd name="T104" fmla="*/ 217 w 353"/>
                <a:gd name="T105" fmla="*/ 22 h 707"/>
                <a:gd name="T106" fmla="*/ 192 w 353"/>
                <a:gd name="T107" fmla="*/ 8 h 707"/>
                <a:gd name="T108" fmla="*/ 173 w 353"/>
                <a:gd name="T109" fmla="*/ 0 h 707"/>
                <a:gd name="T110" fmla="*/ 157 w 353"/>
                <a:gd name="T111" fmla="*/ 16 h 707"/>
                <a:gd name="T112" fmla="*/ 136 w 353"/>
                <a:gd name="T113" fmla="*/ 20 h 707"/>
                <a:gd name="T114" fmla="*/ 111 w 353"/>
                <a:gd name="T115" fmla="*/ 18 h 707"/>
                <a:gd name="T116" fmla="*/ 84 w 353"/>
                <a:gd name="T117" fmla="*/ 12 h 707"/>
                <a:gd name="T118" fmla="*/ 60 w 353"/>
                <a:gd name="T119" fmla="*/ 29 h 707"/>
                <a:gd name="T120" fmla="*/ 39 w 353"/>
                <a:gd name="T121" fmla="*/ 47 h 707"/>
                <a:gd name="T122" fmla="*/ 37 w 353"/>
                <a:gd name="T123" fmla="*/ 74 h 707"/>
                <a:gd name="T124" fmla="*/ 22 w 353"/>
                <a:gd name="T125" fmla="*/ 130 h 70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53"/>
                <a:gd name="T190" fmla="*/ 0 h 707"/>
                <a:gd name="T191" fmla="*/ 353 w 353"/>
                <a:gd name="T192" fmla="*/ 707 h 707"/>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53" h="707">
                  <a:moveTo>
                    <a:pt x="22" y="130"/>
                  </a:moveTo>
                  <a:lnTo>
                    <a:pt x="0" y="163"/>
                  </a:lnTo>
                  <a:lnTo>
                    <a:pt x="4" y="192"/>
                  </a:lnTo>
                  <a:lnTo>
                    <a:pt x="14" y="211"/>
                  </a:lnTo>
                  <a:lnTo>
                    <a:pt x="22" y="219"/>
                  </a:lnTo>
                  <a:lnTo>
                    <a:pt x="22" y="235"/>
                  </a:lnTo>
                  <a:lnTo>
                    <a:pt x="22" y="248"/>
                  </a:lnTo>
                  <a:lnTo>
                    <a:pt x="24" y="262"/>
                  </a:lnTo>
                  <a:lnTo>
                    <a:pt x="29" y="273"/>
                  </a:lnTo>
                  <a:lnTo>
                    <a:pt x="37" y="285"/>
                  </a:lnTo>
                  <a:lnTo>
                    <a:pt x="47" y="295"/>
                  </a:lnTo>
                  <a:lnTo>
                    <a:pt x="60" y="302"/>
                  </a:lnTo>
                  <a:lnTo>
                    <a:pt x="78" y="308"/>
                  </a:lnTo>
                  <a:lnTo>
                    <a:pt x="101" y="324"/>
                  </a:lnTo>
                  <a:lnTo>
                    <a:pt x="109" y="337"/>
                  </a:lnTo>
                  <a:lnTo>
                    <a:pt x="115" y="351"/>
                  </a:lnTo>
                  <a:lnTo>
                    <a:pt x="128" y="357"/>
                  </a:lnTo>
                  <a:lnTo>
                    <a:pt x="146" y="359"/>
                  </a:lnTo>
                  <a:lnTo>
                    <a:pt x="153" y="362"/>
                  </a:lnTo>
                  <a:lnTo>
                    <a:pt x="150" y="372"/>
                  </a:lnTo>
                  <a:lnTo>
                    <a:pt x="132" y="386"/>
                  </a:lnTo>
                  <a:lnTo>
                    <a:pt x="122" y="395"/>
                  </a:lnTo>
                  <a:lnTo>
                    <a:pt x="119" y="411"/>
                  </a:lnTo>
                  <a:lnTo>
                    <a:pt x="119" y="426"/>
                  </a:lnTo>
                  <a:lnTo>
                    <a:pt x="122" y="442"/>
                  </a:lnTo>
                  <a:lnTo>
                    <a:pt x="128" y="457"/>
                  </a:lnTo>
                  <a:lnTo>
                    <a:pt x="136" y="473"/>
                  </a:lnTo>
                  <a:lnTo>
                    <a:pt x="148" y="486"/>
                  </a:lnTo>
                  <a:lnTo>
                    <a:pt x="159" y="494"/>
                  </a:lnTo>
                  <a:lnTo>
                    <a:pt x="173" y="519"/>
                  </a:lnTo>
                  <a:lnTo>
                    <a:pt x="173" y="560"/>
                  </a:lnTo>
                  <a:lnTo>
                    <a:pt x="169" y="610"/>
                  </a:lnTo>
                  <a:lnTo>
                    <a:pt x="171" y="659"/>
                  </a:lnTo>
                  <a:lnTo>
                    <a:pt x="181" y="692"/>
                  </a:lnTo>
                  <a:lnTo>
                    <a:pt x="198" y="705"/>
                  </a:lnTo>
                  <a:lnTo>
                    <a:pt x="212" y="707"/>
                  </a:lnTo>
                  <a:lnTo>
                    <a:pt x="217" y="707"/>
                  </a:lnTo>
                  <a:lnTo>
                    <a:pt x="213" y="694"/>
                  </a:lnTo>
                  <a:lnTo>
                    <a:pt x="206" y="670"/>
                  </a:lnTo>
                  <a:lnTo>
                    <a:pt x="208" y="645"/>
                  </a:lnTo>
                  <a:lnTo>
                    <a:pt x="227" y="630"/>
                  </a:lnTo>
                  <a:lnTo>
                    <a:pt x="241" y="624"/>
                  </a:lnTo>
                  <a:lnTo>
                    <a:pt x="248" y="614"/>
                  </a:lnTo>
                  <a:lnTo>
                    <a:pt x="254" y="603"/>
                  </a:lnTo>
                  <a:lnTo>
                    <a:pt x="260" y="593"/>
                  </a:lnTo>
                  <a:lnTo>
                    <a:pt x="266" y="581"/>
                  </a:lnTo>
                  <a:lnTo>
                    <a:pt x="272" y="570"/>
                  </a:lnTo>
                  <a:lnTo>
                    <a:pt x="279" y="562"/>
                  </a:lnTo>
                  <a:lnTo>
                    <a:pt x="293" y="556"/>
                  </a:lnTo>
                  <a:lnTo>
                    <a:pt x="312" y="545"/>
                  </a:lnTo>
                  <a:lnTo>
                    <a:pt x="320" y="527"/>
                  </a:lnTo>
                  <a:lnTo>
                    <a:pt x="328" y="506"/>
                  </a:lnTo>
                  <a:lnTo>
                    <a:pt x="345" y="483"/>
                  </a:lnTo>
                  <a:lnTo>
                    <a:pt x="353" y="471"/>
                  </a:lnTo>
                  <a:lnTo>
                    <a:pt x="353" y="461"/>
                  </a:lnTo>
                  <a:lnTo>
                    <a:pt x="347" y="454"/>
                  </a:lnTo>
                  <a:lnTo>
                    <a:pt x="337" y="444"/>
                  </a:lnTo>
                  <a:lnTo>
                    <a:pt x="324" y="436"/>
                  </a:lnTo>
                  <a:lnTo>
                    <a:pt x="312" y="428"/>
                  </a:lnTo>
                  <a:lnTo>
                    <a:pt x="301" y="421"/>
                  </a:lnTo>
                  <a:lnTo>
                    <a:pt x="295" y="411"/>
                  </a:lnTo>
                  <a:lnTo>
                    <a:pt x="283" y="393"/>
                  </a:lnTo>
                  <a:lnTo>
                    <a:pt x="270" y="380"/>
                  </a:lnTo>
                  <a:lnTo>
                    <a:pt x="254" y="368"/>
                  </a:lnTo>
                  <a:lnTo>
                    <a:pt x="243" y="357"/>
                  </a:lnTo>
                  <a:lnTo>
                    <a:pt x="237" y="351"/>
                  </a:lnTo>
                  <a:lnTo>
                    <a:pt x="227" y="347"/>
                  </a:lnTo>
                  <a:lnTo>
                    <a:pt x="213" y="345"/>
                  </a:lnTo>
                  <a:lnTo>
                    <a:pt x="200" y="343"/>
                  </a:lnTo>
                  <a:lnTo>
                    <a:pt x="186" y="343"/>
                  </a:lnTo>
                  <a:lnTo>
                    <a:pt x="173" y="343"/>
                  </a:lnTo>
                  <a:lnTo>
                    <a:pt x="163" y="343"/>
                  </a:lnTo>
                  <a:lnTo>
                    <a:pt x="157" y="345"/>
                  </a:lnTo>
                  <a:lnTo>
                    <a:pt x="148" y="345"/>
                  </a:lnTo>
                  <a:lnTo>
                    <a:pt x="138" y="343"/>
                  </a:lnTo>
                  <a:lnTo>
                    <a:pt x="130" y="337"/>
                  </a:lnTo>
                  <a:lnTo>
                    <a:pt x="130" y="330"/>
                  </a:lnTo>
                  <a:lnTo>
                    <a:pt x="134" y="322"/>
                  </a:lnTo>
                  <a:lnTo>
                    <a:pt x="140" y="314"/>
                  </a:lnTo>
                  <a:lnTo>
                    <a:pt x="142" y="308"/>
                  </a:lnTo>
                  <a:lnTo>
                    <a:pt x="134" y="304"/>
                  </a:lnTo>
                  <a:lnTo>
                    <a:pt x="124" y="302"/>
                  </a:lnTo>
                  <a:lnTo>
                    <a:pt x="122" y="302"/>
                  </a:lnTo>
                  <a:lnTo>
                    <a:pt x="124" y="297"/>
                  </a:lnTo>
                  <a:lnTo>
                    <a:pt x="128" y="283"/>
                  </a:lnTo>
                  <a:lnTo>
                    <a:pt x="128" y="275"/>
                  </a:lnTo>
                  <a:lnTo>
                    <a:pt x="122" y="277"/>
                  </a:lnTo>
                  <a:lnTo>
                    <a:pt x="113" y="285"/>
                  </a:lnTo>
                  <a:lnTo>
                    <a:pt x="97" y="287"/>
                  </a:lnTo>
                  <a:lnTo>
                    <a:pt x="86" y="281"/>
                  </a:lnTo>
                  <a:lnTo>
                    <a:pt x="80" y="270"/>
                  </a:lnTo>
                  <a:lnTo>
                    <a:pt x="84" y="258"/>
                  </a:lnTo>
                  <a:lnTo>
                    <a:pt x="91" y="242"/>
                  </a:lnTo>
                  <a:lnTo>
                    <a:pt x="99" y="237"/>
                  </a:lnTo>
                  <a:lnTo>
                    <a:pt x="107" y="233"/>
                  </a:lnTo>
                  <a:lnTo>
                    <a:pt x="119" y="231"/>
                  </a:lnTo>
                  <a:lnTo>
                    <a:pt x="128" y="231"/>
                  </a:lnTo>
                  <a:lnTo>
                    <a:pt x="138" y="233"/>
                  </a:lnTo>
                  <a:lnTo>
                    <a:pt x="148" y="235"/>
                  </a:lnTo>
                  <a:lnTo>
                    <a:pt x="153" y="239"/>
                  </a:lnTo>
                  <a:lnTo>
                    <a:pt x="157" y="244"/>
                  </a:lnTo>
                  <a:lnTo>
                    <a:pt x="161" y="254"/>
                  </a:lnTo>
                  <a:lnTo>
                    <a:pt x="165" y="262"/>
                  </a:lnTo>
                  <a:lnTo>
                    <a:pt x="171" y="264"/>
                  </a:lnTo>
                  <a:lnTo>
                    <a:pt x="173" y="260"/>
                  </a:lnTo>
                  <a:lnTo>
                    <a:pt x="173" y="250"/>
                  </a:lnTo>
                  <a:lnTo>
                    <a:pt x="175" y="242"/>
                  </a:lnTo>
                  <a:lnTo>
                    <a:pt x="179" y="233"/>
                  </a:lnTo>
                  <a:lnTo>
                    <a:pt x="190" y="225"/>
                  </a:lnTo>
                  <a:lnTo>
                    <a:pt x="204" y="215"/>
                  </a:lnTo>
                  <a:lnTo>
                    <a:pt x="215" y="202"/>
                  </a:lnTo>
                  <a:lnTo>
                    <a:pt x="225" y="190"/>
                  </a:lnTo>
                  <a:lnTo>
                    <a:pt x="241" y="179"/>
                  </a:lnTo>
                  <a:lnTo>
                    <a:pt x="256" y="173"/>
                  </a:lnTo>
                  <a:lnTo>
                    <a:pt x="273" y="171"/>
                  </a:lnTo>
                  <a:lnTo>
                    <a:pt x="285" y="169"/>
                  </a:lnTo>
                  <a:lnTo>
                    <a:pt x="293" y="163"/>
                  </a:lnTo>
                  <a:lnTo>
                    <a:pt x="291" y="153"/>
                  </a:lnTo>
                  <a:lnTo>
                    <a:pt x="289" y="148"/>
                  </a:lnTo>
                  <a:lnTo>
                    <a:pt x="291" y="144"/>
                  </a:lnTo>
                  <a:lnTo>
                    <a:pt x="312" y="144"/>
                  </a:lnTo>
                  <a:lnTo>
                    <a:pt x="334" y="140"/>
                  </a:lnTo>
                  <a:lnTo>
                    <a:pt x="335" y="128"/>
                  </a:lnTo>
                  <a:lnTo>
                    <a:pt x="324" y="111"/>
                  </a:lnTo>
                  <a:lnTo>
                    <a:pt x="310" y="95"/>
                  </a:lnTo>
                  <a:lnTo>
                    <a:pt x="297" y="86"/>
                  </a:lnTo>
                  <a:lnTo>
                    <a:pt x="285" y="84"/>
                  </a:lnTo>
                  <a:lnTo>
                    <a:pt x="272" y="91"/>
                  </a:lnTo>
                  <a:lnTo>
                    <a:pt x="260" y="107"/>
                  </a:lnTo>
                  <a:lnTo>
                    <a:pt x="248" y="120"/>
                  </a:lnTo>
                  <a:lnTo>
                    <a:pt x="241" y="124"/>
                  </a:lnTo>
                  <a:lnTo>
                    <a:pt x="235" y="120"/>
                  </a:lnTo>
                  <a:lnTo>
                    <a:pt x="233" y="107"/>
                  </a:lnTo>
                  <a:lnTo>
                    <a:pt x="227" y="97"/>
                  </a:lnTo>
                  <a:lnTo>
                    <a:pt x="215" y="95"/>
                  </a:lnTo>
                  <a:lnTo>
                    <a:pt x="204" y="95"/>
                  </a:lnTo>
                  <a:lnTo>
                    <a:pt x="198" y="86"/>
                  </a:lnTo>
                  <a:lnTo>
                    <a:pt x="202" y="78"/>
                  </a:lnTo>
                  <a:lnTo>
                    <a:pt x="208" y="72"/>
                  </a:lnTo>
                  <a:lnTo>
                    <a:pt x="219" y="66"/>
                  </a:lnTo>
                  <a:lnTo>
                    <a:pt x="233" y="62"/>
                  </a:lnTo>
                  <a:lnTo>
                    <a:pt x="244" y="60"/>
                  </a:lnTo>
                  <a:lnTo>
                    <a:pt x="256" y="58"/>
                  </a:lnTo>
                  <a:lnTo>
                    <a:pt x="262" y="58"/>
                  </a:lnTo>
                  <a:lnTo>
                    <a:pt x="266" y="58"/>
                  </a:lnTo>
                  <a:lnTo>
                    <a:pt x="275" y="55"/>
                  </a:lnTo>
                  <a:lnTo>
                    <a:pt x="270" y="47"/>
                  </a:lnTo>
                  <a:lnTo>
                    <a:pt x="262" y="39"/>
                  </a:lnTo>
                  <a:lnTo>
                    <a:pt x="260" y="31"/>
                  </a:lnTo>
                  <a:lnTo>
                    <a:pt x="260" y="26"/>
                  </a:lnTo>
                  <a:lnTo>
                    <a:pt x="254" y="22"/>
                  </a:lnTo>
                  <a:lnTo>
                    <a:pt x="246" y="22"/>
                  </a:lnTo>
                  <a:lnTo>
                    <a:pt x="243" y="29"/>
                  </a:lnTo>
                  <a:lnTo>
                    <a:pt x="239" y="37"/>
                  </a:lnTo>
                  <a:lnTo>
                    <a:pt x="231" y="39"/>
                  </a:lnTo>
                  <a:lnTo>
                    <a:pt x="223" y="35"/>
                  </a:lnTo>
                  <a:lnTo>
                    <a:pt x="225" y="27"/>
                  </a:lnTo>
                  <a:lnTo>
                    <a:pt x="227" y="22"/>
                  </a:lnTo>
                  <a:lnTo>
                    <a:pt x="217" y="22"/>
                  </a:lnTo>
                  <a:lnTo>
                    <a:pt x="206" y="20"/>
                  </a:lnTo>
                  <a:lnTo>
                    <a:pt x="196" y="16"/>
                  </a:lnTo>
                  <a:lnTo>
                    <a:pt x="192" y="8"/>
                  </a:lnTo>
                  <a:lnTo>
                    <a:pt x="192" y="4"/>
                  </a:lnTo>
                  <a:lnTo>
                    <a:pt x="186" y="0"/>
                  </a:lnTo>
                  <a:lnTo>
                    <a:pt x="173" y="0"/>
                  </a:lnTo>
                  <a:lnTo>
                    <a:pt x="163" y="4"/>
                  </a:lnTo>
                  <a:lnTo>
                    <a:pt x="161" y="10"/>
                  </a:lnTo>
                  <a:lnTo>
                    <a:pt x="157" y="16"/>
                  </a:lnTo>
                  <a:lnTo>
                    <a:pt x="148" y="20"/>
                  </a:lnTo>
                  <a:lnTo>
                    <a:pt x="142" y="20"/>
                  </a:lnTo>
                  <a:lnTo>
                    <a:pt x="136" y="20"/>
                  </a:lnTo>
                  <a:lnTo>
                    <a:pt x="128" y="20"/>
                  </a:lnTo>
                  <a:lnTo>
                    <a:pt x="120" y="18"/>
                  </a:lnTo>
                  <a:lnTo>
                    <a:pt x="111" y="18"/>
                  </a:lnTo>
                  <a:lnTo>
                    <a:pt x="103" y="16"/>
                  </a:lnTo>
                  <a:lnTo>
                    <a:pt x="93" y="14"/>
                  </a:lnTo>
                  <a:lnTo>
                    <a:pt x="84" y="12"/>
                  </a:lnTo>
                  <a:lnTo>
                    <a:pt x="76" y="18"/>
                  </a:lnTo>
                  <a:lnTo>
                    <a:pt x="68" y="24"/>
                  </a:lnTo>
                  <a:lnTo>
                    <a:pt x="60" y="29"/>
                  </a:lnTo>
                  <a:lnTo>
                    <a:pt x="53" y="35"/>
                  </a:lnTo>
                  <a:lnTo>
                    <a:pt x="47" y="41"/>
                  </a:lnTo>
                  <a:lnTo>
                    <a:pt x="39" y="47"/>
                  </a:lnTo>
                  <a:lnTo>
                    <a:pt x="31" y="55"/>
                  </a:lnTo>
                  <a:lnTo>
                    <a:pt x="26" y="60"/>
                  </a:lnTo>
                  <a:lnTo>
                    <a:pt x="37" y="74"/>
                  </a:lnTo>
                  <a:lnTo>
                    <a:pt x="41" y="91"/>
                  </a:lnTo>
                  <a:lnTo>
                    <a:pt x="37" y="111"/>
                  </a:lnTo>
                  <a:lnTo>
                    <a:pt x="22" y="130"/>
                  </a:lnTo>
                  <a:close/>
                </a:path>
              </a:pathLst>
            </a:custGeom>
            <a:solidFill>
              <a:srgbClr val="8C60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 name="Freeform 20"/>
            <p:cNvSpPr>
              <a:spLocks/>
            </p:cNvSpPr>
            <p:nvPr/>
          </p:nvSpPr>
          <p:spPr bwMode="auto">
            <a:xfrm>
              <a:off x="4698" y="2657"/>
              <a:ext cx="296" cy="414"/>
            </a:xfrm>
            <a:custGeom>
              <a:avLst/>
              <a:gdLst>
                <a:gd name="T0" fmla="*/ 267 w 296"/>
                <a:gd name="T1" fmla="*/ 96 h 414"/>
                <a:gd name="T2" fmla="*/ 267 w 296"/>
                <a:gd name="T3" fmla="*/ 96 h 414"/>
                <a:gd name="T4" fmla="*/ 257 w 296"/>
                <a:gd name="T5" fmla="*/ 87 h 414"/>
                <a:gd name="T6" fmla="*/ 251 w 296"/>
                <a:gd name="T7" fmla="*/ 69 h 414"/>
                <a:gd name="T8" fmla="*/ 250 w 296"/>
                <a:gd name="T9" fmla="*/ 56 h 414"/>
                <a:gd name="T10" fmla="*/ 234 w 296"/>
                <a:gd name="T11" fmla="*/ 48 h 414"/>
                <a:gd name="T12" fmla="*/ 217 w 296"/>
                <a:gd name="T13" fmla="*/ 44 h 414"/>
                <a:gd name="T14" fmla="*/ 197 w 296"/>
                <a:gd name="T15" fmla="*/ 46 h 414"/>
                <a:gd name="T16" fmla="*/ 180 w 296"/>
                <a:gd name="T17" fmla="*/ 48 h 414"/>
                <a:gd name="T18" fmla="*/ 164 w 296"/>
                <a:gd name="T19" fmla="*/ 34 h 414"/>
                <a:gd name="T20" fmla="*/ 149 w 296"/>
                <a:gd name="T21" fmla="*/ 13 h 414"/>
                <a:gd name="T22" fmla="*/ 126 w 296"/>
                <a:gd name="T23" fmla="*/ 0 h 414"/>
                <a:gd name="T24" fmla="*/ 104 w 296"/>
                <a:gd name="T25" fmla="*/ 5 h 414"/>
                <a:gd name="T26" fmla="*/ 95 w 296"/>
                <a:gd name="T27" fmla="*/ 13 h 414"/>
                <a:gd name="T28" fmla="*/ 83 w 296"/>
                <a:gd name="T29" fmla="*/ 11 h 414"/>
                <a:gd name="T30" fmla="*/ 81 w 296"/>
                <a:gd name="T31" fmla="*/ 11 h 414"/>
                <a:gd name="T32" fmla="*/ 79 w 296"/>
                <a:gd name="T33" fmla="*/ 11 h 414"/>
                <a:gd name="T34" fmla="*/ 77 w 296"/>
                <a:gd name="T35" fmla="*/ 11 h 414"/>
                <a:gd name="T36" fmla="*/ 71 w 296"/>
                <a:gd name="T37" fmla="*/ 15 h 414"/>
                <a:gd name="T38" fmla="*/ 52 w 296"/>
                <a:gd name="T39" fmla="*/ 29 h 414"/>
                <a:gd name="T40" fmla="*/ 27 w 296"/>
                <a:gd name="T41" fmla="*/ 54 h 414"/>
                <a:gd name="T42" fmla="*/ 5 w 296"/>
                <a:gd name="T43" fmla="*/ 87 h 414"/>
                <a:gd name="T44" fmla="*/ 0 w 296"/>
                <a:gd name="T45" fmla="*/ 125 h 414"/>
                <a:gd name="T46" fmla="*/ 7 w 296"/>
                <a:gd name="T47" fmla="*/ 154 h 414"/>
                <a:gd name="T48" fmla="*/ 23 w 296"/>
                <a:gd name="T49" fmla="*/ 172 h 414"/>
                <a:gd name="T50" fmla="*/ 48 w 296"/>
                <a:gd name="T51" fmla="*/ 180 h 414"/>
                <a:gd name="T52" fmla="*/ 75 w 296"/>
                <a:gd name="T53" fmla="*/ 180 h 414"/>
                <a:gd name="T54" fmla="*/ 106 w 296"/>
                <a:gd name="T55" fmla="*/ 191 h 414"/>
                <a:gd name="T56" fmla="*/ 127 w 296"/>
                <a:gd name="T57" fmla="*/ 216 h 414"/>
                <a:gd name="T58" fmla="*/ 133 w 296"/>
                <a:gd name="T59" fmla="*/ 253 h 414"/>
                <a:gd name="T60" fmla="*/ 122 w 296"/>
                <a:gd name="T61" fmla="*/ 296 h 414"/>
                <a:gd name="T62" fmla="*/ 122 w 296"/>
                <a:gd name="T63" fmla="*/ 342 h 414"/>
                <a:gd name="T64" fmla="*/ 133 w 296"/>
                <a:gd name="T65" fmla="*/ 385 h 414"/>
                <a:gd name="T66" fmla="*/ 155 w 296"/>
                <a:gd name="T67" fmla="*/ 410 h 414"/>
                <a:gd name="T68" fmla="*/ 180 w 296"/>
                <a:gd name="T69" fmla="*/ 400 h 414"/>
                <a:gd name="T70" fmla="*/ 203 w 296"/>
                <a:gd name="T71" fmla="*/ 375 h 414"/>
                <a:gd name="T72" fmla="*/ 226 w 296"/>
                <a:gd name="T73" fmla="*/ 346 h 414"/>
                <a:gd name="T74" fmla="*/ 246 w 296"/>
                <a:gd name="T75" fmla="*/ 313 h 414"/>
                <a:gd name="T76" fmla="*/ 255 w 296"/>
                <a:gd name="T77" fmla="*/ 292 h 414"/>
                <a:gd name="T78" fmla="*/ 255 w 296"/>
                <a:gd name="T79" fmla="*/ 280 h 414"/>
                <a:gd name="T80" fmla="*/ 253 w 296"/>
                <a:gd name="T81" fmla="*/ 257 h 414"/>
                <a:gd name="T82" fmla="*/ 271 w 296"/>
                <a:gd name="T83" fmla="*/ 230 h 414"/>
                <a:gd name="T84" fmla="*/ 286 w 296"/>
                <a:gd name="T85" fmla="*/ 205 h 414"/>
                <a:gd name="T86" fmla="*/ 292 w 296"/>
                <a:gd name="T87" fmla="*/ 182 h 414"/>
                <a:gd name="T88" fmla="*/ 294 w 296"/>
                <a:gd name="T89" fmla="*/ 166 h 414"/>
                <a:gd name="T90" fmla="*/ 294 w 296"/>
                <a:gd name="T91" fmla="*/ 164 h 414"/>
                <a:gd name="T92" fmla="*/ 284 w 296"/>
                <a:gd name="T93" fmla="*/ 151 h 414"/>
                <a:gd name="T94" fmla="*/ 269 w 296"/>
                <a:gd name="T95" fmla="*/ 116 h 41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96"/>
                <a:gd name="T145" fmla="*/ 0 h 414"/>
                <a:gd name="T146" fmla="*/ 296 w 296"/>
                <a:gd name="T147" fmla="*/ 414 h 41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96" h="414">
                  <a:moveTo>
                    <a:pt x="267" y="96"/>
                  </a:moveTo>
                  <a:lnTo>
                    <a:pt x="267" y="96"/>
                  </a:lnTo>
                  <a:lnTo>
                    <a:pt x="257" y="87"/>
                  </a:lnTo>
                  <a:lnTo>
                    <a:pt x="253" y="79"/>
                  </a:lnTo>
                  <a:lnTo>
                    <a:pt x="251" y="69"/>
                  </a:lnTo>
                  <a:lnTo>
                    <a:pt x="257" y="62"/>
                  </a:lnTo>
                  <a:lnTo>
                    <a:pt x="250" y="56"/>
                  </a:lnTo>
                  <a:lnTo>
                    <a:pt x="242" y="52"/>
                  </a:lnTo>
                  <a:lnTo>
                    <a:pt x="234" y="48"/>
                  </a:lnTo>
                  <a:lnTo>
                    <a:pt x="224" y="46"/>
                  </a:lnTo>
                  <a:lnTo>
                    <a:pt x="217" y="44"/>
                  </a:lnTo>
                  <a:lnTo>
                    <a:pt x="207" y="44"/>
                  </a:lnTo>
                  <a:lnTo>
                    <a:pt x="197" y="46"/>
                  </a:lnTo>
                  <a:lnTo>
                    <a:pt x="189" y="48"/>
                  </a:lnTo>
                  <a:lnTo>
                    <a:pt x="180" y="48"/>
                  </a:lnTo>
                  <a:lnTo>
                    <a:pt x="172" y="42"/>
                  </a:lnTo>
                  <a:lnTo>
                    <a:pt x="164" y="34"/>
                  </a:lnTo>
                  <a:lnTo>
                    <a:pt x="158" y="23"/>
                  </a:lnTo>
                  <a:lnTo>
                    <a:pt x="149" y="13"/>
                  </a:lnTo>
                  <a:lnTo>
                    <a:pt x="139" y="3"/>
                  </a:lnTo>
                  <a:lnTo>
                    <a:pt x="126" y="0"/>
                  </a:lnTo>
                  <a:lnTo>
                    <a:pt x="108" y="0"/>
                  </a:lnTo>
                  <a:lnTo>
                    <a:pt x="104" y="5"/>
                  </a:lnTo>
                  <a:lnTo>
                    <a:pt x="100" y="11"/>
                  </a:lnTo>
                  <a:lnTo>
                    <a:pt x="95" y="13"/>
                  </a:lnTo>
                  <a:lnTo>
                    <a:pt x="85" y="11"/>
                  </a:lnTo>
                  <a:lnTo>
                    <a:pt x="83" y="11"/>
                  </a:lnTo>
                  <a:lnTo>
                    <a:pt x="81" y="11"/>
                  </a:lnTo>
                  <a:lnTo>
                    <a:pt x="79" y="9"/>
                  </a:lnTo>
                  <a:lnTo>
                    <a:pt x="79" y="11"/>
                  </a:lnTo>
                  <a:lnTo>
                    <a:pt x="77" y="11"/>
                  </a:lnTo>
                  <a:lnTo>
                    <a:pt x="75" y="13"/>
                  </a:lnTo>
                  <a:lnTo>
                    <a:pt x="71" y="15"/>
                  </a:lnTo>
                  <a:lnTo>
                    <a:pt x="64" y="21"/>
                  </a:lnTo>
                  <a:lnTo>
                    <a:pt x="52" y="29"/>
                  </a:lnTo>
                  <a:lnTo>
                    <a:pt x="40" y="40"/>
                  </a:lnTo>
                  <a:lnTo>
                    <a:pt x="27" y="54"/>
                  </a:lnTo>
                  <a:lnTo>
                    <a:pt x="13" y="69"/>
                  </a:lnTo>
                  <a:lnTo>
                    <a:pt x="5" y="87"/>
                  </a:lnTo>
                  <a:lnTo>
                    <a:pt x="0" y="106"/>
                  </a:lnTo>
                  <a:lnTo>
                    <a:pt x="0" y="125"/>
                  </a:lnTo>
                  <a:lnTo>
                    <a:pt x="2" y="141"/>
                  </a:lnTo>
                  <a:lnTo>
                    <a:pt x="7" y="154"/>
                  </a:lnTo>
                  <a:lnTo>
                    <a:pt x="13" y="164"/>
                  </a:lnTo>
                  <a:lnTo>
                    <a:pt x="23" y="172"/>
                  </a:lnTo>
                  <a:lnTo>
                    <a:pt x="35" y="178"/>
                  </a:lnTo>
                  <a:lnTo>
                    <a:pt x="48" y="180"/>
                  </a:lnTo>
                  <a:lnTo>
                    <a:pt x="62" y="180"/>
                  </a:lnTo>
                  <a:lnTo>
                    <a:pt x="75" y="180"/>
                  </a:lnTo>
                  <a:lnTo>
                    <a:pt x="91" y="184"/>
                  </a:lnTo>
                  <a:lnTo>
                    <a:pt x="106" y="191"/>
                  </a:lnTo>
                  <a:lnTo>
                    <a:pt x="118" y="201"/>
                  </a:lnTo>
                  <a:lnTo>
                    <a:pt x="127" y="216"/>
                  </a:lnTo>
                  <a:lnTo>
                    <a:pt x="133" y="232"/>
                  </a:lnTo>
                  <a:lnTo>
                    <a:pt x="133" y="253"/>
                  </a:lnTo>
                  <a:lnTo>
                    <a:pt x="127" y="275"/>
                  </a:lnTo>
                  <a:lnTo>
                    <a:pt x="122" y="296"/>
                  </a:lnTo>
                  <a:lnTo>
                    <a:pt x="120" y="319"/>
                  </a:lnTo>
                  <a:lnTo>
                    <a:pt x="122" y="342"/>
                  </a:lnTo>
                  <a:lnTo>
                    <a:pt x="126" y="366"/>
                  </a:lnTo>
                  <a:lnTo>
                    <a:pt x="133" y="385"/>
                  </a:lnTo>
                  <a:lnTo>
                    <a:pt x="143" y="400"/>
                  </a:lnTo>
                  <a:lnTo>
                    <a:pt x="155" y="410"/>
                  </a:lnTo>
                  <a:lnTo>
                    <a:pt x="166" y="414"/>
                  </a:lnTo>
                  <a:lnTo>
                    <a:pt x="180" y="400"/>
                  </a:lnTo>
                  <a:lnTo>
                    <a:pt x="191" y="389"/>
                  </a:lnTo>
                  <a:lnTo>
                    <a:pt x="203" y="375"/>
                  </a:lnTo>
                  <a:lnTo>
                    <a:pt x="215" y="360"/>
                  </a:lnTo>
                  <a:lnTo>
                    <a:pt x="226" y="346"/>
                  </a:lnTo>
                  <a:lnTo>
                    <a:pt x="236" y="331"/>
                  </a:lnTo>
                  <a:lnTo>
                    <a:pt x="246" y="313"/>
                  </a:lnTo>
                  <a:lnTo>
                    <a:pt x="253" y="298"/>
                  </a:lnTo>
                  <a:lnTo>
                    <a:pt x="255" y="292"/>
                  </a:lnTo>
                  <a:lnTo>
                    <a:pt x="255" y="286"/>
                  </a:lnTo>
                  <a:lnTo>
                    <a:pt x="255" y="280"/>
                  </a:lnTo>
                  <a:lnTo>
                    <a:pt x="253" y="273"/>
                  </a:lnTo>
                  <a:lnTo>
                    <a:pt x="253" y="257"/>
                  </a:lnTo>
                  <a:lnTo>
                    <a:pt x="261" y="244"/>
                  </a:lnTo>
                  <a:lnTo>
                    <a:pt x="271" y="230"/>
                  </a:lnTo>
                  <a:lnTo>
                    <a:pt x="284" y="216"/>
                  </a:lnTo>
                  <a:lnTo>
                    <a:pt x="286" y="205"/>
                  </a:lnTo>
                  <a:lnTo>
                    <a:pt x="290" y="193"/>
                  </a:lnTo>
                  <a:lnTo>
                    <a:pt x="292" y="182"/>
                  </a:lnTo>
                  <a:lnTo>
                    <a:pt x="294" y="168"/>
                  </a:lnTo>
                  <a:lnTo>
                    <a:pt x="294" y="166"/>
                  </a:lnTo>
                  <a:lnTo>
                    <a:pt x="294" y="164"/>
                  </a:lnTo>
                  <a:lnTo>
                    <a:pt x="296" y="164"/>
                  </a:lnTo>
                  <a:lnTo>
                    <a:pt x="284" y="151"/>
                  </a:lnTo>
                  <a:lnTo>
                    <a:pt x="275" y="133"/>
                  </a:lnTo>
                  <a:lnTo>
                    <a:pt x="269" y="116"/>
                  </a:lnTo>
                  <a:lnTo>
                    <a:pt x="267" y="96"/>
                  </a:lnTo>
                  <a:close/>
                </a:path>
              </a:pathLst>
            </a:custGeom>
            <a:solidFill>
              <a:srgbClr val="8C60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 name="Freeform 21"/>
            <p:cNvSpPr>
              <a:spLocks/>
            </p:cNvSpPr>
            <p:nvPr/>
          </p:nvSpPr>
          <p:spPr bwMode="auto">
            <a:xfrm>
              <a:off x="4930" y="2651"/>
              <a:ext cx="66" cy="162"/>
            </a:xfrm>
            <a:custGeom>
              <a:avLst/>
              <a:gdLst>
                <a:gd name="T0" fmla="*/ 4 w 66"/>
                <a:gd name="T1" fmla="*/ 21 h 162"/>
                <a:gd name="T2" fmla="*/ 18 w 66"/>
                <a:gd name="T3" fmla="*/ 35 h 162"/>
                <a:gd name="T4" fmla="*/ 27 w 66"/>
                <a:gd name="T5" fmla="*/ 46 h 162"/>
                <a:gd name="T6" fmla="*/ 31 w 66"/>
                <a:gd name="T7" fmla="*/ 56 h 162"/>
                <a:gd name="T8" fmla="*/ 27 w 66"/>
                <a:gd name="T9" fmla="*/ 66 h 162"/>
                <a:gd name="T10" fmla="*/ 25 w 66"/>
                <a:gd name="T11" fmla="*/ 66 h 162"/>
                <a:gd name="T12" fmla="*/ 25 w 66"/>
                <a:gd name="T13" fmla="*/ 66 h 162"/>
                <a:gd name="T14" fmla="*/ 25 w 66"/>
                <a:gd name="T15" fmla="*/ 66 h 162"/>
                <a:gd name="T16" fmla="*/ 25 w 66"/>
                <a:gd name="T17" fmla="*/ 68 h 162"/>
                <a:gd name="T18" fmla="*/ 29 w 66"/>
                <a:gd name="T19" fmla="*/ 71 h 162"/>
                <a:gd name="T20" fmla="*/ 33 w 66"/>
                <a:gd name="T21" fmla="*/ 77 h 162"/>
                <a:gd name="T22" fmla="*/ 35 w 66"/>
                <a:gd name="T23" fmla="*/ 83 h 162"/>
                <a:gd name="T24" fmla="*/ 35 w 66"/>
                <a:gd name="T25" fmla="*/ 91 h 162"/>
                <a:gd name="T26" fmla="*/ 35 w 66"/>
                <a:gd name="T27" fmla="*/ 93 h 162"/>
                <a:gd name="T28" fmla="*/ 35 w 66"/>
                <a:gd name="T29" fmla="*/ 97 h 162"/>
                <a:gd name="T30" fmla="*/ 35 w 66"/>
                <a:gd name="T31" fmla="*/ 99 h 162"/>
                <a:gd name="T32" fmla="*/ 35 w 66"/>
                <a:gd name="T33" fmla="*/ 102 h 162"/>
                <a:gd name="T34" fmla="*/ 43 w 66"/>
                <a:gd name="T35" fmla="*/ 114 h 162"/>
                <a:gd name="T36" fmla="*/ 47 w 66"/>
                <a:gd name="T37" fmla="*/ 129 h 162"/>
                <a:gd name="T38" fmla="*/ 54 w 66"/>
                <a:gd name="T39" fmla="*/ 147 h 162"/>
                <a:gd name="T40" fmla="*/ 64 w 66"/>
                <a:gd name="T41" fmla="*/ 162 h 162"/>
                <a:gd name="T42" fmla="*/ 66 w 66"/>
                <a:gd name="T43" fmla="*/ 120 h 162"/>
                <a:gd name="T44" fmla="*/ 64 w 66"/>
                <a:gd name="T45" fmla="*/ 77 h 162"/>
                <a:gd name="T46" fmla="*/ 58 w 66"/>
                <a:gd name="T47" fmla="*/ 38 h 162"/>
                <a:gd name="T48" fmla="*/ 48 w 66"/>
                <a:gd name="T49" fmla="*/ 0 h 162"/>
                <a:gd name="T50" fmla="*/ 45 w 66"/>
                <a:gd name="T51" fmla="*/ 4 h 162"/>
                <a:gd name="T52" fmla="*/ 37 w 66"/>
                <a:gd name="T53" fmla="*/ 6 h 162"/>
                <a:gd name="T54" fmla="*/ 27 w 66"/>
                <a:gd name="T55" fmla="*/ 7 h 162"/>
                <a:gd name="T56" fmla="*/ 18 w 66"/>
                <a:gd name="T57" fmla="*/ 7 h 162"/>
                <a:gd name="T58" fmla="*/ 8 w 66"/>
                <a:gd name="T59" fmla="*/ 9 h 162"/>
                <a:gd name="T60" fmla="*/ 2 w 66"/>
                <a:gd name="T61" fmla="*/ 11 h 162"/>
                <a:gd name="T62" fmla="*/ 0 w 66"/>
                <a:gd name="T63" fmla="*/ 15 h 162"/>
                <a:gd name="T64" fmla="*/ 4 w 66"/>
                <a:gd name="T65" fmla="*/ 21 h 16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6"/>
                <a:gd name="T100" fmla="*/ 0 h 162"/>
                <a:gd name="T101" fmla="*/ 66 w 66"/>
                <a:gd name="T102" fmla="*/ 162 h 16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6" h="162">
                  <a:moveTo>
                    <a:pt x="4" y="21"/>
                  </a:moveTo>
                  <a:lnTo>
                    <a:pt x="18" y="35"/>
                  </a:lnTo>
                  <a:lnTo>
                    <a:pt x="27" y="46"/>
                  </a:lnTo>
                  <a:lnTo>
                    <a:pt x="31" y="56"/>
                  </a:lnTo>
                  <a:lnTo>
                    <a:pt x="27" y="66"/>
                  </a:lnTo>
                  <a:lnTo>
                    <a:pt x="25" y="66"/>
                  </a:lnTo>
                  <a:lnTo>
                    <a:pt x="25" y="68"/>
                  </a:lnTo>
                  <a:lnTo>
                    <a:pt x="29" y="71"/>
                  </a:lnTo>
                  <a:lnTo>
                    <a:pt x="33" y="77"/>
                  </a:lnTo>
                  <a:lnTo>
                    <a:pt x="35" y="83"/>
                  </a:lnTo>
                  <a:lnTo>
                    <a:pt x="35" y="91"/>
                  </a:lnTo>
                  <a:lnTo>
                    <a:pt x="35" y="93"/>
                  </a:lnTo>
                  <a:lnTo>
                    <a:pt x="35" y="97"/>
                  </a:lnTo>
                  <a:lnTo>
                    <a:pt x="35" y="99"/>
                  </a:lnTo>
                  <a:lnTo>
                    <a:pt x="35" y="102"/>
                  </a:lnTo>
                  <a:lnTo>
                    <a:pt x="43" y="114"/>
                  </a:lnTo>
                  <a:lnTo>
                    <a:pt x="47" y="129"/>
                  </a:lnTo>
                  <a:lnTo>
                    <a:pt x="54" y="147"/>
                  </a:lnTo>
                  <a:lnTo>
                    <a:pt x="64" y="162"/>
                  </a:lnTo>
                  <a:lnTo>
                    <a:pt x="66" y="120"/>
                  </a:lnTo>
                  <a:lnTo>
                    <a:pt x="64" y="77"/>
                  </a:lnTo>
                  <a:lnTo>
                    <a:pt x="58" y="38"/>
                  </a:lnTo>
                  <a:lnTo>
                    <a:pt x="48" y="0"/>
                  </a:lnTo>
                  <a:lnTo>
                    <a:pt x="45" y="4"/>
                  </a:lnTo>
                  <a:lnTo>
                    <a:pt x="37" y="6"/>
                  </a:lnTo>
                  <a:lnTo>
                    <a:pt x="27" y="7"/>
                  </a:lnTo>
                  <a:lnTo>
                    <a:pt x="18" y="7"/>
                  </a:lnTo>
                  <a:lnTo>
                    <a:pt x="8" y="9"/>
                  </a:lnTo>
                  <a:lnTo>
                    <a:pt x="2" y="11"/>
                  </a:lnTo>
                  <a:lnTo>
                    <a:pt x="0" y="15"/>
                  </a:lnTo>
                  <a:lnTo>
                    <a:pt x="4" y="21"/>
                  </a:lnTo>
                  <a:close/>
                </a:path>
              </a:pathLst>
            </a:custGeom>
            <a:solidFill>
              <a:srgbClr val="8C60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 name="Freeform 22"/>
            <p:cNvSpPr>
              <a:spLocks/>
            </p:cNvSpPr>
            <p:nvPr/>
          </p:nvSpPr>
          <p:spPr bwMode="auto">
            <a:xfrm>
              <a:off x="4758" y="2498"/>
              <a:ext cx="219" cy="170"/>
            </a:xfrm>
            <a:custGeom>
              <a:avLst/>
              <a:gdLst>
                <a:gd name="T0" fmla="*/ 108 w 219"/>
                <a:gd name="T1" fmla="*/ 27 h 170"/>
                <a:gd name="T2" fmla="*/ 83 w 219"/>
                <a:gd name="T3" fmla="*/ 44 h 170"/>
                <a:gd name="T4" fmla="*/ 91 w 219"/>
                <a:gd name="T5" fmla="*/ 68 h 170"/>
                <a:gd name="T6" fmla="*/ 116 w 219"/>
                <a:gd name="T7" fmla="*/ 62 h 170"/>
                <a:gd name="T8" fmla="*/ 128 w 219"/>
                <a:gd name="T9" fmla="*/ 44 h 170"/>
                <a:gd name="T10" fmla="*/ 147 w 219"/>
                <a:gd name="T11" fmla="*/ 46 h 170"/>
                <a:gd name="T12" fmla="*/ 145 w 219"/>
                <a:gd name="T13" fmla="*/ 68 h 170"/>
                <a:gd name="T14" fmla="*/ 120 w 219"/>
                <a:gd name="T15" fmla="*/ 83 h 170"/>
                <a:gd name="T16" fmla="*/ 81 w 219"/>
                <a:gd name="T17" fmla="*/ 77 h 170"/>
                <a:gd name="T18" fmla="*/ 62 w 219"/>
                <a:gd name="T19" fmla="*/ 81 h 170"/>
                <a:gd name="T20" fmla="*/ 56 w 219"/>
                <a:gd name="T21" fmla="*/ 85 h 170"/>
                <a:gd name="T22" fmla="*/ 37 w 219"/>
                <a:gd name="T23" fmla="*/ 97 h 170"/>
                <a:gd name="T24" fmla="*/ 35 w 219"/>
                <a:gd name="T25" fmla="*/ 118 h 170"/>
                <a:gd name="T26" fmla="*/ 27 w 219"/>
                <a:gd name="T27" fmla="*/ 124 h 170"/>
                <a:gd name="T28" fmla="*/ 2 w 219"/>
                <a:gd name="T29" fmla="*/ 126 h 170"/>
                <a:gd name="T30" fmla="*/ 6 w 219"/>
                <a:gd name="T31" fmla="*/ 157 h 170"/>
                <a:gd name="T32" fmla="*/ 27 w 219"/>
                <a:gd name="T33" fmla="*/ 164 h 170"/>
                <a:gd name="T34" fmla="*/ 42 w 219"/>
                <a:gd name="T35" fmla="*/ 160 h 170"/>
                <a:gd name="T36" fmla="*/ 50 w 219"/>
                <a:gd name="T37" fmla="*/ 153 h 170"/>
                <a:gd name="T38" fmla="*/ 58 w 219"/>
                <a:gd name="T39" fmla="*/ 141 h 170"/>
                <a:gd name="T40" fmla="*/ 79 w 219"/>
                <a:gd name="T41" fmla="*/ 135 h 170"/>
                <a:gd name="T42" fmla="*/ 106 w 219"/>
                <a:gd name="T43" fmla="*/ 147 h 170"/>
                <a:gd name="T44" fmla="*/ 128 w 219"/>
                <a:gd name="T45" fmla="*/ 166 h 170"/>
                <a:gd name="T46" fmla="*/ 160 w 219"/>
                <a:gd name="T47" fmla="*/ 166 h 170"/>
                <a:gd name="T48" fmla="*/ 182 w 219"/>
                <a:gd name="T49" fmla="*/ 145 h 170"/>
                <a:gd name="T50" fmla="*/ 209 w 219"/>
                <a:gd name="T51" fmla="*/ 141 h 170"/>
                <a:gd name="T52" fmla="*/ 211 w 219"/>
                <a:gd name="T53" fmla="*/ 126 h 170"/>
                <a:gd name="T54" fmla="*/ 193 w 219"/>
                <a:gd name="T55" fmla="*/ 87 h 170"/>
                <a:gd name="T56" fmla="*/ 172 w 219"/>
                <a:gd name="T57" fmla="*/ 50 h 170"/>
                <a:gd name="T58" fmla="*/ 147 w 219"/>
                <a:gd name="T59" fmla="*/ 15 h 170"/>
                <a:gd name="T60" fmla="*/ 129 w 219"/>
                <a:gd name="T61" fmla="*/ 2 h 170"/>
                <a:gd name="T62" fmla="*/ 124 w 219"/>
                <a:gd name="T63" fmla="*/ 6 h 17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9"/>
                <a:gd name="T97" fmla="*/ 0 h 170"/>
                <a:gd name="T98" fmla="*/ 219 w 219"/>
                <a:gd name="T99" fmla="*/ 170 h 17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9" h="170">
                  <a:moveTo>
                    <a:pt x="122" y="9"/>
                  </a:moveTo>
                  <a:lnTo>
                    <a:pt x="108" y="27"/>
                  </a:lnTo>
                  <a:lnTo>
                    <a:pt x="93" y="37"/>
                  </a:lnTo>
                  <a:lnTo>
                    <a:pt x="83" y="44"/>
                  </a:lnTo>
                  <a:lnTo>
                    <a:pt x="81" y="54"/>
                  </a:lnTo>
                  <a:lnTo>
                    <a:pt x="91" y="68"/>
                  </a:lnTo>
                  <a:lnTo>
                    <a:pt x="104" y="68"/>
                  </a:lnTo>
                  <a:lnTo>
                    <a:pt x="116" y="62"/>
                  </a:lnTo>
                  <a:lnTo>
                    <a:pt x="122" y="52"/>
                  </a:lnTo>
                  <a:lnTo>
                    <a:pt x="128" y="44"/>
                  </a:lnTo>
                  <a:lnTo>
                    <a:pt x="137" y="42"/>
                  </a:lnTo>
                  <a:lnTo>
                    <a:pt x="147" y="46"/>
                  </a:lnTo>
                  <a:lnTo>
                    <a:pt x="149" y="56"/>
                  </a:lnTo>
                  <a:lnTo>
                    <a:pt x="145" y="68"/>
                  </a:lnTo>
                  <a:lnTo>
                    <a:pt x="135" y="77"/>
                  </a:lnTo>
                  <a:lnTo>
                    <a:pt x="120" y="83"/>
                  </a:lnTo>
                  <a:lnTo>
                    <a:pt x="98" y="81"/>
                  </a:lnTo>
                  <a:lnTo>
                    <a:pt x="81" y="77"/>
                  </a:lnTo>
                  <a:lnTo>
                    <a:pt x="67" y="79"/>
                  </a:lnTo>
                  <a:lnTo>
                    <a:pt x="62" y="81"/>
                  </a:lnTo>
                  <a:lnTo>
                    <a:pt x="60" y="83"/>
                  </a:lnTo>
                  <a:lnTo>
                    <a:pt x="56" y="85"/>
                  </a:lnTo>
                  <a:lnTo>
                    <a:pt x="46" y="89"/>
                  </a:lnTo>
                  <a:lnTo>
                    <a:pt x="37" y="97"/>
                  </a:lnTo>
                  <a:lnTo>
                    <a:pt x="35" y="108"/>
                  </a:lnTo>
                  <a:lnTo>
                    <a:pt x="35" y="118"/>
                  </a:lnTo>
                  <a:lnTo>
                    <a:pt x="33" y="124"/>
                  </a:lnTo>
                  <a:lnTo>
                    <a:pt x="27" y="124"/>
                  </a:lnTo>
                  <a:lnTo>
                    <a:pt x="13" y="122"/>
                  </a:lnTo>
                  <a:lnTo>
                    <a:pt x="2" y="126"/>
                  </a:lnTo>
                  <a:lnTo>
                    <a:pt x="0" y="139"/>
                  </a:lnTo>
                  <a:lnTo>
                    <a:pt x="6" y="157"/>
                  </a:lnTo>
                  <a:lnTo>
                    <a:pt x="19" y="168"/>
                  </a:lnTo>
                  <a:lnTo>
                    <a:pt x="27" y="164"/>
                  </a:lnTo>
                  <a:lnTo>
                    <a:pt x="35" y="162"/>
                  </a:lnTo>
                  <a:lnTo>
                    <a:pt x="42" y="160"/>
                  </a:lnTo>
                  <a:lnTo>
                    <a:pt x="48" y="159"/>
                  </a:lnTo>
                  <a:lnTo>
                    <a:pt x="50" y="153"/>
                  </a:lnTo>
                  <a:lnTo>
                    <a:pt x="54" y="147"/>
                  </a:lnTo>
                  <a:lnTo>
                    <a:pt x="58" y="141"/>
                  </a:lnTo>
                  <a:lnTo>
                    <a:pt x="64" y="137"/>
                  </a:lnTo>
                  <a:lnTo>
                    <a:pt x="79" y="135"/>
                  </a:lnTo>
                  <a:lnTo>
                    <a:pt x="95" y="139"/>
                  </a:lnTo>
                  <a:lnTo>
                    <a:pt x="106" y="147"/>
                  </a:lnTo>
                  <a:lnTo>
                    <a:pt x="116" y="157"/>
                  </a:lnTo>
                  <a:lnTo>
                    <a:pt x="128" y="166"/>
                  </a:lnTo>
                  <a:lnTo>
                    <a:pt x="145" y="170"/>
                  </a:lnTo>
                  <a:lnTo>
                    <a:pt x="160" y="166"/>
                  </a:lnTo>
                  <a:lnTo>
                    <a:pt x="172" y="155"/>
                  </a:lnTo>
                  <a:lnTo>
                    <a:pt x="182" y="145"/>
                  </a:lnTo>
                  <a:lnTo>
                    <a:pt x="195" y="141"/>
                  </a:lnTo>
                  <a:lnTo>
                    <a:pt x="209" y="141"/>
                  </a:lnTo>
                  <a:lnTo>
                    <a:pt x="219" y="145"/>
                  </a:lnTo>
                  <a:lnTo>
                    <a:pt x="211" y="126"/>
                  </a:lnTo>
                  <a:lnTo>
                    <a:pt x="203" y="106"/>
                  </a:lnTo>
                  <a:lnTo>
                    <a:pt x="193" y="87"/>
                  </a:lnTo>
                  <a:lnTo>
                    <a:pt x="184" y="68"/>
                  </a:lnTo>
                  <a:lnTo>
                    <a:pt x="172" y="50"/>
                  </a:lnTo>
                  <a:lnTo>
                    <a:pt x="160" y="33"/>
                  </a:lnTo>
                  <a:lnTo>
                    <a:pt x="147" y="15"/>
                  </a:lnTo>
                  <a:lnTo>
                    <a:pt x="133" y="0"/>
                  </a:lnTo>
                  <a:lnTo>
                    <a:pt x="129" y="2"/>
                  </a:lnTo>
                  <a:lnTo>
                    <a:pt x="126" y="4"/>
                  </a:lnTo>
                  <a:lnTo>
                    <a:pt x="124" y="6"/>
                  </a:lnTo>
                  <a:lnTo>
                    <a:pt x="122" y="9"/>
                  </a:lnTo>
                  <a:close/>
                </a:path>
              </a:pathLst>
            </a:custGeom>
            <a:solidFill>
              <a:srgbClr val="8C60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 name="Freeform 23"/>
            <p:cNvSpPr>
              <a:spLocks/>
            </p:cNvSpPr>
            <p:nvPr/>
          </p:nvSpPr>
          <p:spPr bwMode="auto">
            <a:xfrm>
              <a:off x="4949" y="2719"/>
              <a:ext cx="16" cy="34"/>
            </a:xfrm>
            <a:custGeom>
              <a:avLst/>
              <a:gdLst>
                <a:gd name="T0" fmla="*/ 6 w 16"/>
                <a:gd name="T1" fmla="*/ 0 h 34"/>
                <a:gd name="T2" fmla="*/ 0 w 16"/>
                <a:gd name="T3" fmla="*/ 7 h 34"/>
                <a:gd name="T4" fmla="*/ 2 w 16"/>
                <a:gd name="T5" fmla="*/ 17 h 34"/>
                <a:gd name="T6" fmla="*/ 6 w 16"/>
                <a:gd name="T7" fmla="*/ 25 h 34"/>
                <a:gd name="T8" fmla="*/ 16 w 16"/>
                <a:gd name="T9" fmla="*/ 34 h 34"/>
                <a:gd name="T10" fmla="*/ 16 w 16"/>
                <a:gd name="T11" fmla="*/ 34 h 34"/>
                <a:gd name="T12" fmla="*/ 16 w 16"/>
                <a:gd name="T13" fmla="*/ 34 h 34"/>
                <a:gd name="T14" fmla="*/ 16 w 16"/>
                <a:gd name="T15" fmla="*/ 34 h 34"/>
                <a:gd name="T16" fmla="*/ 16 w 16"/>
                <a:gd name="T17" fmla="*/ 34 h 34"/>
                <a:gd name="T18" fmla="*/ 16 w 16"/>
                <a:gd name="T19" fmla="*/ 31 h 34"/>
                <a:gd name="T20" fmla="*/ 16 w 16"/>
                <a:gd name="T21" fmla="*/ 29 h 34"/>
                <a:gd name="T22" fmla="*/ 16 w 16"/>
                <a:gd name="T23" fmla="*/ 25 h 34"/>
                <a:gd name="T24" fmla="*/ 16 w 16"/>
                <a:gd name="T25" fmla="*/ 23 h 34"/>
                <a:gd name="T26" fmla="*/ 16 w 16"/>
                <a:gd name="T27" fmla="*/ 15 h 34"/>
                <a:gd name="T28" fmla="*/ 14 w 16"/>
                <a:gd name="T29" fmla="*/ 9 h 34"/>
                <a:gd name="T30" fmla="*/ 10 w 16"/>
                <a:gd name="T31" fmla="*/ 3 h 34"/>
                <a:gd name="T32" fmla="*/ 6 w 16"/>
                <a:gd name="T33" fmla="*/ 0 h 3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6"/>
                <a:gd name="T52" fmla="*/ 0 h 34"/>
                <a:gd name="T53" fmla="*/ 16 w 16"/>
                <a:gd name="T54" fmla="*/ 34 h 3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6" h="34">
                  <a:moveTo>
                    <a:pt x="6" y="0"/>
                  </a:moveTo>
                  <a:lnTo>
                    <a:pt x="0" y="7"/>
                  </a:lnTo>
                  <a:lnTo>
                    <a:pt x="2" y="17"/>
                  </a:lnTo>
                  <a:lnTo>
                    <a:pt x="6" y="25"/>
                  </a:lnTo>
                  <a:lnTo>
                    <a:pt x="16" y="34"/>
                  </a:lnTo>
                  <a:lnTo>
                    <a:pt x="16" y="31"/>
                  </a:lnTo>
                  <a:lnTo>
                    <a:pt x="16" y="29"/>
                  </a:lnTo>
                  <a:lnTo>
                    <a:pt x="16" y="25"/>
                  </a:lnTo>
                  <a:lnTo>
                    <a:pt x="16" y="23"/>
                  </a:lnTo>
                  <a:lnTo>
                    <a:pt x="16" y="15"/>
                  </a:lnTo>
                  <a:lnTo>
                    <a:pt x="14" y="9"/>
                  </a:lnTo>
                  <a:lnTo>
                    <a:pt x="10" y="3"/>
                  </a:lnTo>
                  <a:lnTo>
                    <a:pt x="6" y="0"/>
                  </a:lnTo>
                  <a:close/>
                </a:path>
              </a:pathLst>
            </a:custGeom>
            <a:solidFill>
              <a:srgbClr val="8C60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 name="Freeform 24"/>
            <p:cNvSpPr>
              <a:spLocks/>
            </p:cNvSpPr>
            <p:nvPr/>
          </p:nvSpPr>
          <p:spPr bwMode="auto">
            <a:xfrm>
              <a:off x="4777" y="2657"/>
              <a:ext cx="29" cy="13"/>
            </a:xfrm>
            <a:custGeom>
              <a:avLst/>
              <a:gdLst>
                <a:gd name="T0" fmla="*/ 6 w 29"/>
                <a:gd name="T1" fmla="*/ 11 h 13"/>
                <a:gd name="T2" fmla="*/ 16 w 29"/>
                <a:gd name="T3" fmla="*/ 13 h 13"/>
                <a:gd name="T4" fmla="*/ 21 w 29"/>
                <a:gd name="T5" fmla="*/ 11 h 13"/>
                <a:gd name="T6" fmla="*/ 25 w 29"/>
                <a:gd name="T7" fmla="*/ 5 h 13"/>
                <a:gd name="T8" fmla="*/ 29 w 29"/>
                <a:gd name="T9" fmla="*/ 0 h 13"/>
                <a:gd name="T10" fmla="*/ 23 w 29"/>
                <a:gd name="T11" fmla="*/ 1 h 13"/>
                <a:gd name="T12" fmla="*/ 16 w 29"/>
                <a:gd name="T13" fmla="*/ 3 h 13"/>
                <a:gd name="T14" fmla="*/ 8 w 29"/>
                <a:gd name="T15" fmla="*/ 5 h 13"/>
                <a:gd name="T16" fmla="*/ 0 w 29"/>
                <a:gd name="T17" fmla="*/ 9 h 13"/>
                <a:gd name="T18" fmla="*/ 2 w 29"/>
                <a:gd name="T19" fmla="*/ 11 h 13"/>
                <a:gd name="T20" fmla="*/ 4 w 29"/>
                <a:gd name="T21" fmla="*/ 11 h 13"/>
                <a:gd name="T22" fmla="*/ 4 w 29"/>
                <a:gd name="T23" fmla="*/ 11 h 13"/>
                <a:gd name="T24" fmla="*/ 6 w 29"/>
                <a:gd name="T25" fmla="*/ 11 h 1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9"/>
                <a:gd name="T40" fmla="*/ 0 h 13"/>
                <a:gd name="T41" fmla="*/ 29 w 29"/>
                <a:gd name="T42" fmla="*/ 13 h 1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9" h="13">
                  <a:moveTo>
                    <a:pt x="6" y="11"/>
                  </a:moveTo>
                  <a:lnTo>
                    <a:pt x="16" y="13"/>
                  </a:lnTo>
                  <a:lnTo>
                    <a:pt x="21" y="11"/>
                  </a:lnTo>
                  <a:lnTo>
                    <a:pt x="25" y="5"/>
                  </a:lnTo>
                  <a:lnTo>
                    <a:pt x="29" y="0"/>
                  </a:lnTo>
                  <a:lnTo>
                    <a:pt x="23" y="1"/>
                  </a:lnTo>
                  <a:lnTo>
                    <a:pt x="16" y="3"/>
                  </a:lnTo>
                  <a:lnTo>
                    <a:pt x="8" y="5"/>
                  </a:lnTo>
                  <a:lnTo>
                    <a:pt x="0" y="9"/>
                  </a:lnTo>
                  <a:lnTo>
                    <a:pt x="2" y="11"/>
                  </a:lnTo>
                  <a:lnTo>
                    <a:pt x="4" y="11"/>
                  </a:lnTo>
                  <a:lnTo>
                    <a:pt x="6" y="11"/>
                  </a:lnTo>
                  <a:close/>
                </a:path>
              </a:pathLst>
            </a:custGeom>
            <a:solidFill>
              <a:srgbClr val="8C60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 name="Freeform 25"/>
            <p:cNvSpPr>
              <a:spLocks/>
            </p:cNvSpPr>
            <p:nvPr/>
          </p:nvSpPr>
          <p:spPr bwMode="auto">
            <a:xfrm>
              <a:off x="4777" y="2552"/>
              <a:ext cx="25" cy="37"/>
            </a:xfrm>
            <a:custGeom>
              <a:avLst/>
              <a:gdLst>
                <a:gd name="T0" fmla="*/ 25 w 25"/>
                <a:gd name="T1" fmla="*/ 4 h 37"/>
                <a:gd name="T2" fmla="*/ 25 w 25"/>
                <a:gd name="T3" fmla="*/ 8 h 37"/>
                <a:gd name="T4" fmla="*/ 23 w 25"/>
                <a:gd name="T5" fmla="*/ 17 h 37"/>
                <a:gd name="T6" fmla="*/ 21 w 25"/>
                <a:gd name="T7" fmla="*/ 29 h 37"/>
                <a:gd name="T8" fmla="*/ 16 w 25"/>
                <a:gd name="T9" fmla="*/ 35 h 37"/>
                <a:gd name="T10" fmla="*/ 8 w 25"/>
                <a:gd name="T11" fmla="*/ 37 h 37"/>
                <a:gd name="T12" fmla="*/ 2 w 25"/>
                <a:gd name="T13" fmla="*/ 35 h 37"/>
                <a:gd name="T14" fmla="*/ 0 w 25"/>
                <a:gd name="T15" fmla="*/ 31 h 37"/>
                <a:gd name="T16" fmla="*/ 4 w 25"/>
                <a:gd name="T17" fmla="*/ 23 h 37"/>
                <a:gd name="T18" fmla="*/ 12 w 25"/>
                <a:gd name="T19" fmla="*/ 14 h 37"/>
                <a:gd name="T20" fmla="*/ 18 w 25"/>
                <a:gd name="T21" fmla="*/ 4 h 37"/>
                <a:gd name="T22" fmla="*/ 23 w 25"/>
                <a:gd name="T23" fmla="*/ 0 h 37"/>
                <a:gd name="T24" fmla="*/ 25 w 25"/>
                <a:gd name="T25" fmla="*/ 4 h 3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5"/>
                <a:gd name="T40" fmla="*/ 0 h 37"/>
                <a:gd name="T41" fmla="*/ 25 w 25"/>
                <a:gd name="T42" fmla="*/ 37 h 3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5" h="37">
                  <a:moveTo>
                    <a:pt x="25" y="4"/>
                  </a:moveTo>
                  <a:lnTo>
                    <a:pt x="25" y="8"/>
                  </a:lnTo>
                  <a:lnTo>
                    <a:pt x="23" y="17"/>
                  </a:lnTo>
                  <a:lnTo>
                    <a:pt x="21" y="29"/>
                  </a:lnTo>
                  <a:lnTo>
                    <a:pt x="16" y="35"/>
                  </a:lnTo>
                  <a:lnTo>
                    <a:pt x="8" y="37"/>
                  </a:lnTo>
                  <a:lnTo>
                    <a:pt x="2" y="35"/>
                  </a:lnTo>
                  <a:lnTo>
                    <a:pt x="0" y="31"/>
                  </a:lnTo>
                  <a:lnTo>
                    <a:pt x="4" y="23"/>
                  </a:lnTo>
                  <a:lnTo>
                    <a:pt x="12" y="14"/>
                  </a:lnTo>
                  <a:lnTo>
                    <a:pt x="18" y="4"/>
                  </a:lnTo>
                  <a:lnTo>
                    <a:pt x="23" y="0"/>
                  </a:lnTo>
                  <a:lnTo>
                    <a:pt x="25" y="4"/>
                  </a:lnTo>
                  <a:close/>
                </a:path>
              </a:pathLst>
            </a:custGeom>
            <a:solidFill>
              <a:srgbClr val="8C60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cxnSp>
        <p:nvCxnSpPr>
          <p:cNvPr id="26" name="Straight Arrow Connector 25"/>
          <p:cNvCxnSpPr/>
          <p:nvPr/>
        </p:nvCxnSpPr>
        <p:spPr bwMode="auto">
          <a:xfrm flipH="1">
            <a:off x="6282047" y="3238372"/>
            <a:ext cx="1223023" cy="1155"/>
          </a:xfrm>
          <a:prstGeom prst="straightConnector1">
            <a:avLst/>
          </a:prstGeom>
          <a:noFill/>
          <a:ln w="19050" cap="flat" cmpd="sng" algn="ctr">
            <a:solidFill>
              <a:srgbClr val="C00000"/>
            </a:solidFill>
            <a:prstDash val="solid"/>
            <a:round/>
            <a:headEnd type="none" w="med" len="med"/>
            <a:tailEnd type="arrow"/>
          </a:ln>
          <a:effectLst/>
        </p:spPr>
      </p:cxnSp>
    </p:spTree>
    <p:extLst>
      <p:ext uri="{BB962C8B-B14F-4D97-AF65-F5344CB8AC3E}">
        <p14:creationId xmlns:p14="http://schemas.microsoft.com/office/powerpoint/2010/main" val="885429659"/>
      </p:ext>
    </p:extLst>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|EOS~042|</a:t>
            </a:r>
            <a:endParaRPr lang="en-US" sz="100" dirty="0" err="1" smtClean="0">
              <a:solidFill>
                <a:srgbClr val="FFFFFF"/>
              </a:solidFill>
              <a:latin typeface="Arial"/>
              <a:cs typeface="Calibri" pitchFamily="34" charset="0"/>
            </a:endParaRPr>
          </a:p>
        </p:txBody>
      </p:sp>
      <p:sp>
        <p:nvSpPr>
          <p:cNvPr id="53250" name="Rectangle 2"/>
          <p:cNvSpPr>
            <a:spLocks noGrp="1" noChangeArrowheads="1"/>
          </p:cNvSpPr>
          <p:nvPr>
            <p:ph type="title"/>
          </p:nvPr>
        </p:nvSpPr>
        <p:spPr/>
        <p:txBody>
          <a:bodyPr/>
          <a:lstStyle/>
          <a:p>
            <a:pPr eaLnBrk="1" hangingPunct="1"/>
            <a:r>
              <a:rPr lang="en-US" smtClean="0"/>
              <a:t>Geocoding integration</a:t>
            </a:r>
          </a:p>
        </p:txBody>
      </p:sp>
      <p:sp>
        <p:nvSpPr>
          <p:cNvPr id="53251" name="Rectangle 3"/>
          <p:cNvSpPr>
            <a:spLocks noGrp="1" noChangeArrowheads="1"/>
          </p:cNvSpPr>
          <p:nvPr>
            <p:ph idx="1"/>
          </p:nvPr>
        </p:nvSpPr>
        <p:spPr>
          <a:xfrm>
            <a:off x="519113" y="2981325"/>
            <a:ext cx="8318500" cy="3408363"/>
          </a:xfrm>
        </p:spPr>
        <p:txBody>
          <a:bodyPr/>
          <a:lstStyle/>
          <a:p>
            <a:r>
              <a:rPr lang="en-US" dirty="0" smtClean="0"/>
              <a:t>Many instances of ClaimCenter have an integration point to a geocoding service, such as Microsoft's Bing</a:t>
            </a:r>
          </a:p>
          <a:p>
            <a:pPr lvl="1"/>
            <a:r>
              <a:rPr lang="en-US" dirty="0" smtClean="0"/>
              <a:t>This service provides longitude and latitude coordinates for a street address (or exchanges zip code for city/state and vice versa)</a:t>
            </a:r>
          </a:p>
        </p:txBody>
      </p:sp>
      <p:sp>
        <p:nvSpPr>
          <p:cNvPr id="53252" name="Rectangle 4"/>
          <p:cNvSpPr>
            <a:spLocks noChangeArrowheads="1"/>
          </p:cNvSpPr>
          <p:nvPr/>
        </p:nvSpPr>
        <p:spPr bwMode="auto">
          <a:xfrm>
            <a:off x="5003800" y="1201738"/>
            <a:ext cx="3062288" cy="1052512"/>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sp>
        <p:nvSpPr>
          <p:cNvPr id="53253" name="Text Box 5"/>
          <p:cNvSpPr txBox="1">
            <a:spLocks noChangeArrowheads="1"/>
          </p:cNvSpPr>
          <p:nvPr/>
        </p:nvSpPr>
        <p:spPr bwMode="auto">
          <a:xfrm>
            <a:off x="6081713" y="1363663"/>
            <a:ext cx="20843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a:spcAft>
                <a:spcPct val="0"/>
              </a:spcAft>
              <a:buClrTx/>
            </a:pPr>
            <a:r>
              <a:rPr lang="en-US" sz="2000" b="1" dirty="0">
                <a:solidFill>
                  <a:schemeClr val="accent1"/>
                </a:solidFill>
                <a:latin typeface="MetaPlusBook-Roman" pitchFamily="34" charset="0"/>
              </a:rPr>
              <a:t>Geocoding</a:t>
            </a:r>
            <a:br>
              <a:rPr lang="en-US" sz="2000" b="1" dirty="0">
                <a:solidFill>
                  <a:schemeClr val="accent1"/>
                </a:solidFill>
                <a:latin typeface="MetaPlusBook-Roman" pitchFamily="34" charset="0"/>
              </a:rPr>
            </a:br>
            <a:r>
              <a:rPr lang="en-US" sz="2000" b="1" dirty="0">
                <a:solidFill>
                  <a:schemeClr val="accent1"/>
                </a:solidFill>
                <a:latin typeface="MetaPlusBook-Roman" pitchFamily="34" charset="0"/>
              </a:rPr>
              <a:t>Service</a:t>
            </a:r>
          </a:p>
        </p:txBody>
      </p:sp>
      <p:pic>
        <p:nvPicPr>
          <p:cNvPr id="53254" name="Picture 6"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49850" y="1266825"/>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5" name="Line 8"/>
          <p:cNvSpPr>
            <a:spLocks noChangeShapeType="1"/>
          </p:cNvSpPr>
          <p:nvPr/>
        </p:nvSpPr>
        <p:spPr bwMode="auto">
          <a:xfrm flipH="1">
            <a:off x="2587625" y="1920875"/>
            <a:ext cx="2408238"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3256" name="Line 9"/>
          <p:cNvSpPr>
            <a:spLocks noChangeShapeType="1"/>
          </p:cNvSpPr>
          <p:nvPr/>
        </p:nvSpPr>
        <p:spPr bwMode="auto">
          <a:xfrm>
            <a:off x="2593975" y="1576388"/>
            <a:ext cx="2395538"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3257" name="Text Box 10"/>
          <p:cNvSpPr txBox="1">
            <a:spLocks noChangeArrowheads="1"/>
          </p:cNvSpPr>
          <p:nvPr/>
        </p:nvSpPr>
        <p:spPr bwMode="auto">
          <a:xfrm>
            <a:off x="2786063" y="1912938"/>
            <a:ext cx="201136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1800" b="1">
                <a:solidFill>
                  <a:schemeClr val="accent1"/>
                </a:solidFill>
              </a:rPr>
              <a:t>map coordinates, zip code data</a:t>
            </a:r>
          </a:p>
        </p:txBody>
      </p:sp>
      <p:sp>
        <p:nvSpPr>
          <p:cNvPr id="53258" name="Text Box 11"/>
          <p:cNvSpPr txBox="1">
            <a:spLocks noChangeArrowheads="1"/>
          </p:cNvSpPr>
          <p:nvPr/>
        </p:nvSpPr>
        <p:spPr bwMode="auto">
          <a:xfrm>
            <a:off x="2786063" y="1249363"/>
            <a:ext cx="201136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sz="1800" b="1">
                <a:solidFill>
                  <a:schemeClr val="accent1"/>
                </a:solidFill>
              </a:rPr>
              <a:t>address</a:t>
            </a:r>
          </a:p>
        </p:txBody>
      </p:sp>
      <p:grpSp>
        <p:nvGrpSpPr>
          <p:cNvPr id="53259" name="Group 12"/>
          <p:cNvGrpSpPr>
            <a:grpSpLocks/>
          </p:cNvGrpSpPr>
          <p:nvPr/>
        </p:nvGrpSpPr>
        <p:grpSpPr bwMode="auto">
          <a:xfrm>
            <a:off x="7653338" y="785813"/>
            <a:ext cx="825500" cy="825500"/>
            <a:chOff x="4122" y="2306"/>
            <a:chExt cx="930" cy="930"/>
          </a:xfrm>
        </p:grpSpPr>
        <p:sp>
          <p:nvSpPr>
            <p:cNvPr id="53261" name="Freeform 13"/>
            <p:cNvSpPr>
              <a:spLocks/>
            </p:cNvSpPr>
            <p:nvPr/>
          </p:nvSpPr>
          <p:spPr bwMode="auto">
            <a:xfrm>
              <a:off x="4122" y="2306"/>
              <a:ext cx="930" cy="930"/>
            </a:xfrm>
            <a:custGeom>
              <a:avLst/>
              <a:gdLst>
                <a:gd name="T0" fmla="*/ 917 w 930"/>
                <a:gd name="T1" fmla="*/ 573 h 930"/>
                <a:gd name="T2" fmla="*/ 887 w 930"/>
                <a:gd name="T3" fmla="*/ 662 h 930"/>
                <a:gd name="T4" fmla="*/ 841 w 930"/>
                <a:gd name="T5" fmla="*/ 740 h 930"/>
                <a:gd name="T6" fmla="*/ 781 w 930"/>
                <a:gd name="T7" fmla="*/ 806 h 930"/>
                <a:gd name="T8" fmla="*/ 709 w 930"/>
                <a:gd name="T9" fmla="*/ 860 h 930"/>
                <a:gd name="T10" fmla="*/ 630 w 930"/>
                <a:gd name="T11" fmla="*/ 901 h 930"/>
                <a:gd name="T12" fmla="*/ 541 w 930"/>
                <a:gd name="T13" fmla="*/ 924 h 930"/>
                <a:gd name="T14" fmla="*/ 450 w 930"/>
                <a:gd name="T15" fmla="*/ 930 h 930"/>
                <a:gd name="T16" fmla="*/ 355 w 930"/>
                <a:gd name="T17" fmla="*/ 916 h 930"/>
                <a:gd name="T18" fmla="*/ 268 w 930"/>
                <a:gd name="T19" fmla="*/ 887 h 930"/>
                <a:gd name="T20" fmla="*/ 190 w 930"/>
                <a:gd name="T21" fmla="*/ 841 h 930"/>
                <a:gd name="T22" fmla="*/ 122 w 930"/>
                <a:gd name="T23" fmla="*/ 780 h 930"/>
                <a:gd name="T24" fmla="*/ 70 w 930"/>
                <a:gd name="T25" fmla="*/ 709 h 930"/>
                <a:gd name="T26" fmla="*/ 30 w 930"/>
                <a:gd name="T27" fmla="*/ 627 h 930"/>
                <a:gd name="T28" fmla="*/ 6 w 930"/>
                <a:gd name="T29" fmla="*/ 540 h 930"/>
                <a:gd name="T30" fmla="*/ 0 w 930"/>
                <a:gd name="T31" fmla="*/ 447 h 930"/>
                <a:gd name="T32" fmla="*/ 14 w 930"/>
                <a:gd name="T33" fmla="*/ 352 h 930"/>
                <a:gd name="T34" fmla="*/ 43 w 930"/>
                <a:gd name="T35" fmla="*/ 265 h 930"/>
                <a:gd name="T36" fmla="*/ 90 w 930"/>
                <a:gd name="T37" fmla="*/ 188 h 930"/>
                <a:gd name="T38" fmla="*/ 150 w 930"/>
                <a:gd name="T39" fmla="*/ 122 h 930"/>
                <a:gd name="T40" fmla="*/ 221 w 930"/>
                <a:gd name="T41" fmla="*/ 70 h 930"/>
                <a:gd name="T42" fmla="*/ 301 w 930"/>
                <a:gd name="T43" fmla="*/ 29 h 930"/>
                <a:gd name="T44" fmla="*/ 388 w 930"/>
                <a:gd name="T45" fmla="*/ 6 h 930"/>
                <a:gd name="T46" fmla="*/ 481 w 930"/>
                <a:gd name="T47" fmla="*/ 0 h 930"/>
                <a:gd name="T48" fmla="*/ 574 w 930"/>
                <a:gd name="T49" fmla="*/ 14 h 930"/>
                <a:gd name="T50" fmla="*/ 663 w 930"/>
                <a:gd name="T51" fmla="*/ 43 h 930"/>
                <a:gd name="T52" fmla="*/ 740 w 930"/>
                <a:gd name="T53" fmla="*/ 89 h 930"/>
                <a:gd name="T54" fmla="*/ 806 w 930"/>
                <a:gd name="T55" fmla="*/ 149 h 930"/>
                <a:gd name="T56" fmla="*/ 860 w 930"/>
                <a:gd name="T57" fmla="*/ 221 h 930"/>
                <a:gd name="T58" fmla="*/ 901 w 930"/>
                <a:gd name="T59" fmla="*/ 300 h 930"/>
                <a:gd name="T60" fmla="*/ 924 w 930"/>
                <a:gd name="T61" fmla="*/ 387 h 930"/>
                <a:gd name="T62" fmla="*/ 930 w 930"/>
                <a:gd name="T63" fmla="*/ 480 h 93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930"/>
                <a:gd name="T97" fmla="*/ 0 h 930"/>
                <a:gd name="T98" fmla="*/ 930 w 930"/>
                <a:gd name="T99" fmla="*/ 930 h 93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930" h="930">
                  <a:moveTo>
                    <a:pt x="926" y="527"/>
                  </a:moveTo>
                  <a:lnTo>
                    <a:pt x="917" y="573"/>
                  </a:lnTo>
                  <a:lnTo>
                    <a:pt x="905" y="618"/>
                  </a:lnTo>
                  <a:lnTo>
                    <a:pt x="887" y="662"/>
                  </a:lnTo>
                  <a:lnTo>
                    <a:pt x="866" y="701"/>
                  </a:lnTo>
                  <a:lnTo>
                    <a:pt x="841" y="740"/>
                  </a:lnTo>
                  <a:lnTo>
                    <a:pt x="812" y="775"/>
                  </a:lnTo>
                  <a:lnTo>
                    <a:pt x="781" y="806"/>
                  </a:lnTo>
                  <a:lnTo>
                    <a:pt x="746" y="835"/>
                  </a:lnTo>
                  <a:lnTo>
                    <a:pt x="709" y="860"/>
                  </a:lnTo>
                  <a:lnTo>
                    <a:pt x="671" y="883"/>
                  </a:lnTo>
                  <a:lnTo>
                    <a:pt x="630" y="901"/>
                  </a:lnTo>
                  <a:lnTo>
                    <a:pt x="587" y="914"/>
                  </a:lnTo>
                  <a:lnTo>
                    <a:pt x="541" y="924"/>
                  </a:lnTo>
                  <a:lnTo>
                    <a:pt x="496" y="930"/>
                  </a:lnTo>
                  <a:lnTo>
                    <a:pt x="450" y="930"/>
                  </a:lnTo>
                  <a:lnTo>
                    <a:pt x="401" y="926"/>
                  </a:lnTo>
                  <a:lnTo>
                    <a:pt x="355" y="916"/>
                  </a:lnTo>
                  <a:lnTo>
                    <a:pt x="310" y="904"/>
                  </a:lnTo>
                  <a:lnTo>
                    <a:pt x="268" y="887"/>
                  </a:lnTo>
                  <a:lnTo>
                    <a:pt x="227" y="864"/>
                  </a:lnTo>
                  <a:lnTo>
                    <a:pt x="190" y="841"/>
                  </a:lnTo>
                  <a:lnTo>
                    <a:pt x="155" y="811"/>
                  </a:lnTo>
                  <a:lnTo>
                    <a:pt x="122" y="780"/>
                  </a:lnTo>
                  <a:lnTo>
                    <a:pt x="95" y="746"/>
                  </a:lnTo>
                  <a:lnTo>
                    <a:pt x="70" y="709"/>
                  </a:lnTo>
                  <a:lnTo>
                    <a:pt x="47" y="668"/>
                  </a:lnTo>
                  <a:lnTo>
                    <a:pt x="30" y="627"/>
                  </a:lnTo>
                  <a:lnTo>
                    <a:pt x="16" y="585"/>
                  </a:lnTo>
                  <a:lnTo>
                    <a:pt x="6" y="540"/>
                  </a:lnTo>
                  <a:lnTo>
                    <a:pt x="0" y="494"/>
                  </a:lnTo>
                  <a:lnTo>
                    <a:pt x="0" y="447"/>
                  </a:lnTo>
                  <a:lnTo>
                    <a:pt x="4" y="399"/>
                  </a:lnTo>
                  <a:lnTo>
                    <a:pt x="14" y="352"/>
                  </a:lnTo>
                  <a:lnTo>
                    <a:pt x="26" y="308"/>
                  </a:lnTo>
                  <a:lnTo>
                    <a:pt x="43" y="265"/>
                  </a:lnTo>
                  <a:lnTo>
                    <a:pt x="66" y="227"/>
                  </a:lnTo>
                  <a:lnTo>
                    <a:pt x="90" y="188"/>
                  </a:lnTo>
                  <a:lnTo>
                    <a:pt x="119" y="155"/>
                  </a:lnTo>
                  <a:lnTo>
                    <a:pt x="150" y="122"/>
                  </a:lnTo>
                  <a:lnTo>
                    <a:pt x="184" y="93"/>
                  </a:lnTo>
                  <a:lnTo>
                    <a:pt x="221" y="70"/>
                  </a:lnTo>
                  <a:lnTo>
                    <a:pt x="260" y="46"/>
                  </a:lnTo>
                  <a:lnTo>
                    <a:pt x="301" y="29"/>
                  </a:lnTo>
                  <a:lnTo>
                    <a:pt x="345" y="15"/>
                  </a:lnTo>
                  <a:lnTo>
                    <a:pt x="388" y="6"/>
                  </a:lnTo>
                  <a:lnTo>
                    <a:pt x="434" y="0"/>
                  </a:lnTo>
                  <a:lnTo>
                    <a:pt x="481" y="0"/>
                  </a:lnTo>
                  <a:lnTo>
                    <a:pt x="527" y="4"/>
                  </a:lnTo>
                  <a:lnTo>
                    <a:pt x="574" y="14"/>
                  </a:lnTo>
                  <a:lnTo>
                    <a:pt x="618" y="25"/>
                  </a:lnTo>
                  <a:lnTo>
                    <a:pt x="663" y="43"/>
                  </a:lnTo>
                  <a:lnTo>
                    <a:pt x="702" y="64"/>
                  </a:lnTo>
                  <a:lnTo>
                    <a:pt x="740" y="89"/>
                  </a:lnTo>
                  <a:lnTo>
                    <a:pt x="775" y="118"/>
                  </a:lnTo>
                  <a:lnTo>
                    <a:pt x="806" y="149"/>
                  </a:lnTo>
                  <a:lnTo>
                    <a:pt x="835" y="184"/>
                  </a:lnTo>
                  <a:lnTo>
                    <a:pt x="860" y="221"/>
                  </a:lnTo>
                  <a:lnTo>
                    <a:pt x="884" y="260"/>
                  </a:lnTo>
                  <a:lnTo>
                    <a:pt x="901" y="300"/>
                  </a:lnTo>
                  <a:lnTo>
                    <a:pt x="915" y="343"/>
                  </a:lnTo>
                  <a:lnTo>
                    <a:pt x="924" y="387"/>
                  </a:lnTo>
                  <a:lnTo>
                    <a:pt x="930" y="434"/>
                  </a:lnTo>
                  <a:lnTo>
                    <a:pt x="930" y="480"/>
                  </a:lnTo>
                  <a:lnTo>
                    <a:pt x="926" y="5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262" name="Freeform 14"/>
            <p:cNvSpPr>
              <a:spLocks/>
            </p:cNvSpPr>
            <p:nvPr/>
          </p:nvSpPr>
          <p:spPr bwMode="auto">
            <a:xfrm>
              <a:off x="4266" y="2416"/>
              <a:ext cx="730" cy="763"/>
            </a:xfrm>
            <a:custGeom>
              <a:avLst/>
              <a:gdLst>
                <a:gd name="T0" fmla="*/ 730 w 730"/>
                <a:gd name="T1" fmla="*/ 347 h 763"/>
                <a:gd name="T2" fmla="*/ 711 w 730"/>
                <a:gd name="T3" fmla="*/ 227 h 763"/>
                <a:gd name="T4" fmla="*/ 656 w 730"/>
                <a:gd name="T5" fmla="*/ 120 h 763"/>
                <a:gd name="T6" fmla="*/ 577 w 730"/>
                <a:gd name="T7" fmla="*/ 35 h 763"/>
                <a:gd name="T8" fmla="*/ 550 w 730"/>
                <a:gd name="T9" fmla="*/ 33 h 763"/>
                <a:gd name="T10" fmla="*/ 587 w 730"/>
                <a:gd name="T11" fmla="*/ 105 h 763"/>
                <a:gd name="T12" fmla="*/ 608 w 730"/>
                <a:gd name="T13" fmla="*/ 182 h 763"/>
                <a:gd name="T14" fmla="*/ 612 w 730"/>
                <a:gd name="T15" fmla="*/ 264 h 763"/>
                <a:gd name="T16" fmla="*/ 600 w 730"/>
                <a:gd name="T17" fmla="*/ 347 h 763"/>
                <a:gd name="T18" fmla="*/ 573 w 730"/>
                <a:gd name="T19" fmla="*/ 425 h 763"/>
                <a:gd name="T20" fmla="*/ 534 w 730"/>
                <a:gd name="T21" fmla="*/ 492 h 763"/>
                <a:gd name="T22" fmla="*/ 482 w 730"/>
                <a:gd name="T23" fmla="*/ 550 h 763"/>
                <a:gd name="T24" fmla="*/ 418 w 730"/>
                <a:gd name="T25" fmla="*/ 599 h 763"/>
                <a:gd name="T26" fmla="*/ 348 w 730"/>
                <a:gd name="T27" fmla="*/ 634 h 763"/>
                <a:gd name="T28" fmla="*/ 271 w 730"/>
                <a:gd name="T29" fmla="*/ 655 h 763"/>
                <a:gd name="T30" fmla="*/ 190 w 730"/>
                <a:gd name="T31" fmla="*/ 661 h 763"/>
                <a:gd name="T32" fmla="*/ 130 w 730"/>
                <a:gd name="T33" fmla="*/ 653 h 763"/>
                <a:gd name="T34" fmla="*/ 89 w 730"/>
                <a:gd name="T35" fmla="*/ 643 h 763"/>
                <a:gd name="T36" fmla="*/ 52 w 730"/>
                <a:gd name="T37" fmla="*/ 630 h 763"/>
                <a:gd name="T38" fmla="*/ 17 w 730"/>
                <a:gd name="T39" fmla="*/ 614 h 763"/>
                <a:gd name="T40" fmla="*/ 25 w 730"/>
                <a:gd name="T41" fmla="*/ 634 h 763"/>
                <a:gd name="T42" fmla="*/ 83 w 730"/>
                <a:gd name="T43" fmla="*/ 686 h 763"/>
                <a:gd name="T44" fmla="*/ 149 w 730"/>
                <a:gd name="T45" fmla="*/ 725 h 763"/>
                <a:gd name="T46" fmla="*/ 224 w 730"/>
                <a:gd name="T47" fmla="*/ 752 h 763"/>
                <a:gd name="T48" fmla="*/ 308 w 730"/>
                <a:gd name="T49" fmla="*/ 763 h 763"/>
                <a:gd name="T50" fmla="*/ 389 w 730"/>
                <a:gd name="T51" fmla="*/ 758 h 763"/>
                <a:gd name="T52" fmla="*/ 465 w 730"/>
                <a:gd name="T53" fmla="*/ 736 h 763"/>
                <a:gd name="T54" fmla="*/ 536 w 730"/>
                <a:gd name="T55" fmla="*/ 701 h 763"/>
                <a:gd name="T56" fmla="*/ 598 w 730"/>
                <a:gd name="T57" fmla="*/ 655 h 763"/>
                <a:gd name="T58" fmla="*/ 651 w 730"/>
                <a:gd name="T59" fmla="*/ 597 h 763"/>
                <a:gd name="T60" fmla="*/ 691 w 730"/>
                <a:gd name="T61" fmla="*/ 527 h 763"/>
                <a:gd name="T62" fmla="*/ 718 w 730"/>
                <a:gd name="T63" fmla="*/ 450 h 76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30"/>
                <a:gd name="T97" fmla="*/ 0 h 763"/>
                <a:gd name="T98" fmla="*/ 730 w 730"/>
                <a:gd name="T99" fmla="*/ 763 h 76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30" h="763">
                  <a:moveTo>
                    <a:pt x="726" y="409"/>
                  </a:moveTo>
                  <a:lnTo>
                    <a:pt x="730" y="347"/>
                  </a:lnTo>
                  <a:lnTo>
                    <a:pt x="724" y="285"/>
                  </a:lnTo>
                  <a:lnTo>
                    <a:pt x="711" y="227"/>
                  </a:lnTo>
                  <a:lnTo>
                    <a:pt x="687" y="173"/>
                  </a:lnTo>
                  <a:lnTo>
                    <a:pt x="656" y="120"/>
                  </a:lnTo>
                  <a:lnTo>
                    <a:pt x="620" y="74"/>
                  </a:lnTo>
                  <a:lnTo>
                    <a:pt x="577" y="35"/>
                  </a:lnTo>
                  <a:lnTo>
                    <a:pt x="527" y="0"/>
                  </a:lnTo>
                  <a:lnTo>
                    <a:pt x="550" y="33"/>
                  </a:lnTo>
                  <a:lnTo>
                    <a:pt x="569" y="68"/>
                  </a:lnTo>
                  <a:lnTo>
                    <a:pt x="587" y="105"/>
                  </a:lnTo>
                  <a:lnTo>
                    <a:pt x="598" y="144"/>
                  </a:lnTo>
                  <a:lnTo>
                    <a:pt x="608" y="182"/>
                  </a:lnTo>
                  <a:lnTo>
                    <a:pt x="612" y="223"/>
                  </a:lnTo>
                  <a:lnTo>
                    <a:pt x="612" y="264"/>
                  </a:lnTo>
                  <a:lnTo>
                    <a:pt x="608" y="306"/>
                  </a:lnTo>
                  <a:lnTo>
                    <a:pt x="600" y="347"/>
                  </a:lnTo>
                  <a:lnTo>
                    <a:pt x="589" y="386"/>
                  </a:lnTo>
                  <a:lnTo>
                    <a:pt x="573" y="425"/>
                  </a:lnTo>
                  <a:lnTo>
                    <a:pt x="556" y="459"/>
                  </a:lnTo>
                  <a:lnTo>
                    <a:pt x="534" y="492"/>
                  </a:lnTo>
                  <a:lnTo>
                    <a:pt x="509" y="523"/>
                  </a:lnTo>
                  <a:lnTo>
                    <a:pt x="482" y="550"/>
                  </a:lnTo>
                  <a:lnTo>
                    <a:pt x="451" y="576"/>
                  </a:lnTo>
                  <a:lnTo>
                    <a:pt x="418" y="599"/>
                  </a:lnTo>
                  <a:lnTo>
                    <a:pt x="385" y="618"/>
                  </a:lnTo>
                  <a:lnTo>
                    <a:pt x="348" y="634"/>
                  </a:lnTo>
                  <a:lnTo>
                    <a:pt x="310" y="645"/>
                  </a:lnTo>
                  <a:lnTo>
                    <a:pt x="271" y="655"/>
                  </a:lnTo>
                  <a:lnTo>
                    <a:pt x="232" y="659"/>
                  </a:lnTo>
                  <a:lnTo>
                    <a:pt x="190" y="661"/>
                  </a:lnTo>
                  <a:lnTo>
                    <a:pt x="149" y="657"/>
                  </a:lnTo>
                  <a:lnTo>
                    <a:pt x="130" y="653"/>
                  </a:lnTo>
                  <a:lnTo>
                    <a:pt x="108" y="649"/>
                  </a:lnTo>
                  <a:lnTo>
                    <a:pt x="89" y="643"/>
                  </a:lnTo>
                  <a:lnTo>
                    <a:pt x="71" y="638"/>
                  </a:lnTo>
                  <a:lnTo>
                    <a:pt x="52" y="630"/>
                  </a:lnTo>
                  <a:lnTo>
                    <a:pt x="35" y="622"/>
                  </a:lnTo>
                  <a:lnTo>
                    <a:pt x="17" y="614"/>
                  </a:lnTo>
                  <a:lnTo>
                    <a:pt x="0" y="605"/>
                  </a:lnTo>
                  <a:lnTo>
                    <a:pt x="25" y="634"/>
                  </a:lnTo>
                  <a:lnTo>
                    <a:pt x="52" y="661"/>
                  </a:lnTo>
                  <a:lnTo>
                    <a:pt x="83" y="686"/>
                  </a:lnTo>
                  <a:lnTo>
                    <a:pt x="116" y="707"/>
                  </a:lnTo>
                  <a:lnTo>
                    <a:pt x="149" y="725"/>
                  </a:lnTo>
                  <a:lnTo>
                    <a:pt x="186" y="740"/>
                  </a:lnTo>
                  <a:lnTo>
                    <a:pt x="224" y="752"/>
                  </a:lnTo>
                  <a:lnTo>
                    <a:pt x="265" y="760"/>
                  </a:lnTo>
                  <a:lnTo>
                    <a:pt x="308" y="763"/>
                  </a:lnTo>
                  <a:lnTo>
                    <a:pt x="348" y="763"/>
                  </a:lnTo>
                  <a:lnTo>
                    <a:pt x="389" y="758"/>
                  </a:lnTo>
                  <a:lnTo>
                    <a:pt x="428" y="750"/>
                  </a:lnTo>
                  <a:lnTo>
                    <a:pt x="465" y="736"/>
                  </a:lnTo>
                  <a:lnTo>
                    <a:pt x="501" y="721"/>
                  </a:lnTo>
                  <a:lnTo>
                    <a:pt x="536" y="701"/>
                  </a:lnTo>
                  <a:lnTo>
                    <a:pt x="569" y="680"/>
                  </a:lnTo>
                  <a:lnTo>
                    <a:pt x="598" y="655"/>
                  </a:lnTo>
                  <a:lnTo>
                    <a:pt x="625" y="626"/>
                  </a:lnTo>
                  <a:lnTo>
                    <a:pt x="651" y="597"/>
                  </a:lnTo>
                  <a:lnTo>
                    <a:pt x="672" y="562"/>
                  </a:lnTo>
                  <a:lnTo>
                    <a:pt x="691" y="527"/>
                  </a:lnTo>
                  <a:lnTo>
                    <a:pt x="707" y="490"/>
                  </a:lnTo>
                  <a:lnTo>
                    <a:pt x="718" y="450"/>
                  </a:lnTo>
                  <a:lnTo>
                    <a:pt x="726" y="409"/>
                  </a:lnTo>
                  <a:close/>
                </a:path>
              </a:pathLst>
            </a:custGeom>
            <a:solidFill>
              <a:srgbClr val="60C6F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263" name="Freeform 15"/>
            <p:cNvSpPr>
              <a:spLocks/>
            </p:cNvSpPr>
            <p:nvPr/>
          </p:nvSpPr>
          <p:spPr bwMode="auto">
            <a:xfrm>
              <a:off x="4179" y="2362"/>
              <a:ext cx="699" cy="715"/>
            </a:xfrm>
            <a:custGeom>
              <a:avLst/>
              <a:gdLst>
                <a:gd name="T0" fmla="*/ 277 w 699"/>
                <a:gd name="T1" fmla="*/ 715 h 715"/>
                <a:gd name="T2" fmla="*/ 358 w 699"/>
                <a:gd name="T3" fmla="*/ 709 h 715"/>
                <a:gd name="T4" fmla="*/ 435 w 699"/>
                <a:gd name="T5" fmla="*/ 688 h 715"/>
                <a:gd name="T6" fmla="*/ 505 w 699"/>
                <a:gd name="T7" fmla="*/ 653 h 715"/>
                <a:gd name="T8" fmla="*/ 569 w 699"/>
                <a:gd name="T9" fmla="*/ 604 h 715"/>
                <a:gd name="T10" fmla="*/ 621 w 699"/>
                <a:gd name="T11" fmla="*/ 546 h 715"/>
                <a:gd name="T12" fmla="*/ 660 w 699"/>
                <a:gd name="T13" fmla="*/ 479 h 715"/>
                <a:gd name="T14" fmla="*/ 687 w 699"/>
                <a:gd name="T15" fmla="*/ 401 h 715"/>
                <a:gd name="T16" fmla="*/ 699 w 699"/>
                <a:gd name="T17" fmla="*/ 318 h 715"/>
                <a:gd name="T18" fmla="*/ 695 w 699"/>
                <a:gd name="T19" fmla="*/ 236 h 715"/>
                <a:gd name="T20" fmla="*/ 674 w 699"/>
                <a:gd name="T21" fmla="*/ 159 h 715"/>
                <a:gd name="T22" fmla="*/ 637 w 699"/>
                <a:gd name="T23" fmla="*/ 87 h 715"/>
                <a:gd name="T24" fmla="*/ 596 w 699"/>
                <a:gd name="T25" fmla="*/ 45 h 715"/>
                <a:gd name="T26" fmla="*/ 561 w 699"/>
                <a:gd name="T27" fmla="*/ 29 h 715"/>
                <a:gd name="T28" fmla="*/ 523 w 699"/>
                <a:gd name="T29" fmla="*/ 16 h 715"/>
                <a:gd name="T30" fmla="*/ 484 w 699"/>
                <a:gd name="T31" fmla="*/ 6 h 715"/>
                <a:gd name="T32" fmla="*/ 422 w 699"/>
                <a:gd name="T33" fmla="*/ 0 h 715"/>
                <a:gd name="T34" fmla="*/ 341 w 699"/>
                <a:gd name="T35" fmla="*/ 6 h 715"/>
                <a:gd name="T36" fmla="*/ 265 w 699"/>
                <a:gd name="T37" fmla="*/ 25 h 715"/>
                <a:gd name="T38" fmla="*/ 193 w 699"/>
                <a:gd name="T39" fmla="*/ 60 h 715"/>
                <a:gd name="T40" fmla="*/ 131 w 699"/>
                <a:gd name="T41" fmla="*/ 109 h 715"/>
                <a:gd name="T42" fmla="*/ 79 w 699"/>
                <a:gd name="T43" fmla="*/ 167 h 715"/>
                <a:gd name="T44" fmla="*/ 38 w 699"/>
                <a:gd name="T45" fmla="*/ 235 h 715"/>
                <a:gd name="T46" fmla="*/ 11 w 699"/>
                <a:gd name="T47" fmla="*/ 310 h 715"/>
                <a:gd name="T48" fmla="*/ 0 w 699"/>
                <a:gd name="T49" fmla="*/ 393 h 715"/>
                <a:gd name="T50" fmla="*/ 5 w 699"/>
                <a:gd name="T51" fmla="*/ 477 h 715"/>
                <a:gd name="T52" fmla="*/ 27 w 699"/>
                <a:gd name="T53" fmla="*/ 554 h 715"/>
                <a:gd name="T54" fmla="*/ 64 w 699"/>
                <a:gd name="T55" fmla="*/ 626 h 715"/>
                <a:gd name="T56" fmla="*/ 104 w 699"/>
                <a:gd name="T57" fmla="*/ 668 h 715"/>
                <a:gd name="T58" fmla="*/ 139 w 699"/>
                <a:gd name="T59" fmla="*/ 684 h 715"/>
                <a:gd name="T60" fmla="*/ 176 w 699"/>
                <a:gd name="T61" fmla="*/ 697 h 715"/>
                <a:gd name="T62" fmla="*/ 217 w 699"/>
                <a:gd name="T63" fmla="*/ 707 h 71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99"/>
                <a:gd name="T97" fmla="*/ 0 h 715"/>
                <a:gd name="T98" fmla="*/ 699 w 699"/>
                <a:gd name="T99" fmla="*/ 715 h 71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99" h="715">
                  <a:moveTo>
                    <a:pt x="236" y="711"/>
                  </a:moveTo>
                  <a:lnTo>
                    <a:pt x="277" y="715"/>
                  </a:lnTo>
                  <a:lnTo>
                    <a:pt x="319" y="713"/>
                  </a:lnTo>
                  <a:lnTo>
                    <a:pt x="358" y="709"/>
                  </a:lnTo>
                  <a:lnTo>
                    <a:pt x="397" y="699"/>
                  </a:lnTo>
                  <a:lnTo>
                    <a:pt x="435" y="688"/>
                  </a:lnTo>
                  <a:lnTo>
                    <a:pt x="472" y="672"/>
                  </a:lnTo>
                  <a:lnTo>
                    <a:pt x="505" y="653"/>
                  </a:lnTo>
                  <a:lnTo>
                    <a:pt x="538" y="630"/>
                  </a:lnTo>
                  <a:lnTo>
                    <a:pt x="569" y="604"/>
                  </a:lnTo>
                  <a:lnTo>
                    <a:pt x="596" y="577"/>
                  </a:lnTo>
                  <a:lnTo>
                    <a:pt x="621" y="546"/>
                  </a:lnTo>
                  <a:lnTo>
                    <a:pt x="643" y="513"/>
                  </a:lnTo>
                  <a:lnTo>
                    <a:pt x="660" y="479"/>
                  </a:lnTo>
                  <a:lnTo>
                    <a:pt x="676" y="440"/>
                  </a:lnTo>
                  <a:lnTo>
                    <a:pt x="687" y="401"/>
                  </a:lnTo>
                  <a:lnTo>
                    <a:pt x="695" y="360"/>
                  </a:lnTo>
                  <a:lnTo>
                    <a:pt x="699" y="318"/>
                  </a:lnTo>
                  <a:lnTo>
                    <a:pt x="699" y="277"/>
                  </a:lnTo>
                  <a:lnTo>
                    <a:pt x="695" y="236"/>
                  </a:lnTo>
                  <a:lnTo>
                    <a:pt x="685" y="198"/>
                  </a:lnTo>
                  <a:lnTo>
                    <a:pt x="674" y="159"/>
                  </a:lnTo>
                  <a:lnTo>
                    <a:pt x="656" y="122"/>
                  </a:lnTo>
                  <a:lnTo>
                    <a:pt x="637" y="87"/>
                  </a:lnTo>
                  <a:lnTo>
                    <a:pt x="614" y="54"/>
                  </a:lnTo>
                  <a:lnTo>
                    <a:pt x="596" y="45"/>
                  </a:lnTo>
                  <a:lnTo>
                    <a:pt x="579" y="37"/>
                  </a:lnTo>
                  <a:lnTo>
                    <a:pt x="561" y="29"/>
                  </a:lnTo>
                  <a:lnTo>
                    <a:pt x="542" y="21"/>
                  </a:lnTo>
                  <a:lnTo>
                    <a:pt x="523" y="16"/>
                  </a:lnTo>
                  <a:lnTo>
                    <a:pt x="503" y="10"/>
                  </a:lnTo>
                  <a:lnTo>
                    <a:pt x="484" y="6"/>
                  </a:lnTo>
                  <a:lnTo>
                    <a:pt x="463" y="4"/>
                  </a:lnTo>
                  <a:lnTo>
                    <a:pt x="422" y="0"/>
                  </a:lnTo>
                  <a:lnTo>
                    <a:pt x="381" y="0"/>
                  </a:lnTo>
                  <a:lnTo>
                    <a:pt x="341" y="6"/>
                  </a:lnTo>
                  <a:lnTo>
                    <a:pt x="302" y="14"/>
                  </a:lnTo>
                  <a:lnTo>
                    <a:pt x="265" y="25"/>
                  </a:lnTo>
                  <a:lnTo>
                    <a:pt x="228" y="43"/>
                  </a:lnTo>
                  <a:lnTo>
                    <a:pt x="193" y="60"/>
                  </a:lnTo>
                  <a:lnTo>
                    <a:pt x="162" y="83"/>
                  </a:lnTo>
                  <a:lnTo>
                    <a:pt x="131" y="109"/>
                  </a:lnTo>
                  <a:lnTo>
                    <a:pt x="104" y="136"/>
                  </a:lnTo>
                  <a:lnTo>
                    <a:pt x="79" y="167"/>
                  </a:lnTo>
                  <a:lnTo>
                    <a:pt x="58" y="200"/>
                  </a:lnTo>
                  <a:lnTo>
                    <a:pt x="38" y="235"/>
                  </a:lnTo>
                  <a:lnTo>
                    <a:pt x="23" y="271"/>
                  </a:lnTo>
                  <a:lnTo>
                    <a:pt x="11" y="310"/>
                  </a:lnTo>
                  <a:lnTo>
                    <a:pt x="4" y="351"/>
                  </a:lnTo>
                  <a:lnTo>
                    <a:pt x="0" y="393"/>
                  </a:lnTo>
                  <a:lnTo>
                    <a:pt x="2" y="436"/>
                  </a:lnTo>
                  <a:lnTo>
                    <a:pt x="5" y="477"/>
                  </a:lnTo>
                  <a:lnTo>
                    <a:pt x="15" y="515"/>
                  </a:lnTo>
                  <a:lnTo>
                    <a:pt x="27" y="554"/>
                  </a:lnTo>
                  <a:lnTo>
                    <a:pt x="44" y="591"/>
                  </a:lnTo>
                  <a:lnTo>
                    <a:pt x="64" y="626"/>
                  </a:lnTo>
                  <a:lnTo>
                    <a:pt x="87" y="659"/>
                  </a:lnTo>
                  <a:lnTo>
                    <a:pt x="104" y="668"/>
                  </a:lnTo>
                  <a:lnTo>
                    <a:pt x="122" y="676"/>
                  </a:lnTo>
                  <a:lnTo>
                    <a:pt x="139" y="684"/>
                  </a:lnTo>
                  <a:lnTo>
                    <a:pt x="158" y="692"/>
                  </a:lnTo>
                  <a:lnTo>
                    <a:pt x="176" y="697"/>
                  </a:lnTo>
                  <a:lnTo>
                    <a:pt x="195" y="703"/>
                  </a:lnTo>
                  <a:lnTo>
                    <a:pt x="217" y="707"/>
                  </a:lnTo>
                  <a:lnTo>
                    <a:pt x="236" y="711"/>
                  </a:lnTo>
                  <a:close/>
                </a:path>
              </a:pathLst>
            </a:custGeom>
            <a:solidFill>
              <a:srgbClr val="9BED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264" name="Freeform 16"/>
            <p:cNvSpPr>
              <a:spLocks/>
            </p:cNvSpPr>
            <p:nvPr/>
          </p:nvSpPr>
          <p:spPr bwMode="auto">
            <a:xfrm>
              <a:off x="4624" y="2391"/>
              <a:ext cx="103" cy="136"/>
            </a:xfrm>
            <a:custGeom>
              <a:avLst/>
              <a:gdLst>
                <a:gd name="T0" fmla="*/ 52 w 103"/>
                <a:gd name="T1" fmla="*/ 4 h 136"/>
                <a:gd name="T2" fmla="*/ 56 w 103"/>
                <a:gd name="T3" fmla="*/ 6 h 136"/>
                <a:gd name="T4" fmla="*/ 64 w 103"/>
                <a:gd name="T5" fmla="*/ 12 h 136"/>
                <a:gd name="T6" fmla="*/ 76 w 103"/>
                <a:gd name="T7" fmla="*/ 20 h 136"/>
                <a:gd name="T8" fmla="*/ 87 w 103"/>
                <a:gd name="T9" fmla="*/ 29 h 136"/>
                <a:gd name="T10" fmla="*/ 97 w 103"/>
                <a:gd name="T11" fmla="*/ 43 h 136"/>
                <a:gd name="T12" fmla="*/ 103 w 103"/>
                <a:gd name="T13" fmla="*/ 54 h 136"/>
                <a:gd name="T14" fmla="*/ 101 w 103"/>
                <a:gd name="T15" fmla="*/ 68 h 136"/>
                <a:gd name="T16" fmla="*/ 91 w 103"/>
                <a:gd name="T17" fmla="*/ 80 h 136"/>
                <a:gd name="T18" fmla="*/ 78 w 103"/>
                <a:gd name="T19" fmla="*/ 91 h 136"/>
                <a:gd name="T20" fmla="*/ 74 w 103"/>
                <a:gd name="T21" fmla="*/ 103 h 136"/>
                <a:gd name="T22" fmla="*/ 72 w 103"/>
                <a:gd name="T23" fmla="*/ 114 h 136"/>
                <a:gd name="T24" fmla="*/ 66 w 103"/>
                <a:gd name="T25" fmla="*/ 128 h 136"/>
                <a:gd name="T26" fmla="*/ 54 w 103"/>
                <a:gd name="T27" fmla="*/ 136 h 136"/>
                <a:gd name="T28" fmla="*/ 41 w 103"/>
                <a:gd name="T29" fmla="*/ 132 h 136"/>
                <a:gd name="T30" fmla="*/ 31 w 103"/>
                <a:gd name="T31" fmla="*/ 118 h 136"/>
                <a:gd name="T32" fmla="*/ 35 w 103"/>
                <a:gd name="T33" fmla="*/ 101 h 136"/>
                <a:gd name="T34" fmla="*/ 43 w 103"/>
                <a:gd name="T35" fmla="*/ 83 h 136"/>
                <a:gd name="T36" fmla="*/ 45 w 103"/>
                <a:gd name="T37" fmla="*/ 68 h 136"/>
                <a:gd name="T38" fmla="*/ 37 w 103"/>
                <a:gd name="T39" fmla="*/ 58 h 136"/>
                <a:gd name="T40" fmla="*/ 16 w 103"/>
                <a:gd name="T41" fmla="*/ 54 h 136"/>
                <a:gd name="T42" fmla="*/ 6 w 103"/>
                <a:gd name="T43" fmla="*/ 53 h 136"/>
                <a:gd name="T44" fmla="*/ 0 w 103"/>
                <a:gd name="T45" fmla="*/ 47 h 136"/>
                <a:gd name="T46" fmla="*/ 0 w 103"/>
                <a:gd name="T47" fmla="*/ 37 h 136"/>
                <a:gd name="T48" fmla="*/ 6 w 103"/>
                <a:gd name="T49" fmla="*/ 27 h 136"/>
                <a:gd name="T50" fmla="*/ 14 w 103"/>
                <a:gd name="T51" fmla="*/ 16 h 136"/>
                <a:gd name="T52" fmla="*/ 23 w 103"/>
                <a:gd name="T53" fmla="*/ 8 h 136"/>
                <a:gd name="T54" fmla="*/ 35 w 103"/>
                <a:gd name="T55" fmla="*/ 2 h 136"/>
                <a:gd name="T56" fmla="*/ 47 w 103"/>
                <a:gd name="T57" fmla="*/ 0 h 136"/>
                <a:gd name="T58" fmla="*/ 52 w 103"/>
                <a:gd name="T59" fmla="*/ 4 h 1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03"/>
                <a:gd name="T91" fmla="*/ 0 h 136"/>
                <a:gd name="T92" fmla="*/ 103 w 103"/>
                <a:gd name="T93" fmla="*/ 136 h 1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03" h="136">
                  <a:moveTo>
                    <a:pt x="52" y="4"/>
                  </a:moveTo>
                  <a:lnTo>
                    <a:pt x="56" y="6"/>
                  </a:lnTo>
                  <a:lnTo>
                    <a:pt x="64" y="12"/>
                  </a:lnTo>
                  <a:lnTo>
                    <a:pt x="76" y="20"/>
                  </a:lnTo>
                  <a:lnTo>
                    <a:pt x="87" y="29"/>
                  </a:lnTo>
                  <a:lnTo>
                    <a:pt x="97" y="43"/>
                  </a:lnTo>
                  <a:lnTo>
                    <a:pt x="103" y="54"/>
                  </a:lnTo>
                  <a:lnTo>
                    <a:pt x="101" y="68"/>
                  </a:lnTo>
                  <a:lnTo>
                    <a:pt x="91" y="80"/>
                  </a:lnTo>
                  <a:lnTo>
                    <a:pt x="78" y="91"/>
                  </a:lnTo>
                  <a:lnTo>
                    <a:pt x="74" y="103"/>
                  </a:lnTo>
                  <a:lnTo>
                    <a:pt x="72" y="114"/>
                  </a:lnTo>
                  <a:lnTo>
                    <a:pt x="66" y="128"/>
                  </a:lnTo>
                  <a:lnTo>
                    <a:pt x="54" y="136"/>
                  </a:lnTo>
                  <a:lnTo>
                    <a:pt x="41" y="132"/>
                  </a:lnTo>
                  <a:lnTo>
                    <a:pt x="31" y="118"/>
                  </a:lnTo>
                  <a:lnTo>
                    <a:pt x="35" y="101"/>
                  </a:lnTo>
                  <a:lnTo>
                    <a:pt x="43" y="83"/>
                  </a:lnTo>
                  <a:lnTo>
                    <a:pt x="45" y="68"/>
                  </a:lnTo>
                  <a:lnTo>
                    <a:pt x="37" y="58"/>
                  </a:lnTo>
                  <a:lnTo>
                    <a:pt x="16" y="54"/>
                  </a:lnTo>
                  <a:lnTo>
                    <a:pt x="6" y="53"/>
                  </a:lnTo>
                  <a:lnTo>
                    <a:pt x="0" y="47"/>
                  </a:lnTo>
                  <a:lnTo>
                    <a:pt x="0" y="37"/>
                  </a:lnTo>
                  <a:lnTo>
                    <a:pt x="6" y="27"/>
                  </a:lnTo>
                  <a:lnTo>
                    <a:pt x="14" y="16"/>
                  </a:lnTo>
                  <a:lnTo>
                    <a:pt x="23" y="8"/>
                  </a:lnTo>
                  <a:lnTo>
                    <a:pt x="35" y="2"/>
                  </a:lnTo>
                  <a:lnTo>
                    <a:pt x="47" y="0"/>
                  </a:lnTo>
                  <a:lnTo>
                    <a:pt x="52" y="4"/>
                  </a:lnTo>
                  <a:close/>
                </a:path>
              </a:pathLst>
            </a:custGeom>
            <a:solidFill>
              <a:srgbClr val="8C60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265" name="Freeform 17"/>
            <p:cNvSpPr>
              <a:spLocks/>
            </p:cNvSpPr>
            <p:nvPr/>
          </p:nvSpPr>
          <p:spPr bwMode="auto">
            <a:xfrm>
              <a:off x="4543" y="2409"/>
              <a:ext cx="60" cy="56"/>
            </a:xfrm>
            <a:custGeom>
              <a:avLst/>
              <a:gdLst>
                <a:gd name="T0" fmla="*/ 23 w 60"/>
                <a:gd name="T1" fmla="*/ 31 h 56"/>
                <a:gd name="T2" fmla="*/ 21 w 60"/>
                <a:gd name="T3" fmla="*/ 33 h 56"/>
                <a:gd name="T4" fmla="*/ 21 w 60"/>
                <a:gd name="T5" fmla="*/ 40 h 56"/>
                <a:gd name="T6" fmla="*/ 25 w 60"/>
                <a:gd name="T7" fmla="*/ 48 h 56"/>
                <a:gd name="T8" fmla="*/ 38 w 60"/>
                <a:gd name="T9" fmla="*/ 56 h 56"/>
                <a:gd name="T10" fmla="*/ 54 w 60"/>
                <a:gd name="T11" fmla="*/ 54 h 56"/>
                <a:gd name="T12" fmla="*/ 60 w 60"/>
                <a:gd name="T13" fmla="*/ 40 h 56"/>
                <a:gd name="T14" fmla="*/ 56 w 60"/>
                <a:gd name="T15" fmla="*/ 23 h 56"/>
                <a:gd name="T16" fmla="*/ 42 w 60"/>
                <a:gd name="T17" fmla="*/ 7 h 56"/>
                <a:gd name="T18" fmla="*/ 23 w 60"/>
                <a:gd name="T19" fmla="*/ 0 h 56"/>
                <a:gd name="T20" fmla="*/ 7 w 60"/>
                <a:gd name="T21" fmla="*/ 0 h 56"/>
                <a:gd name="T22" fmla="*/ 0 w 60"/>
                <a:gd name="T23" fmla="*/ 5 h 56"/>
                <a:gd name="T24" fmla="*/ 2 w 60"/>
                <a:gd name="T25" fmla="*/ 9 h 56"/>
                <a:gd name="T26" fmla="*/ 11 w 60"/>
                <a:gd name="T27" fmla="*/ 13 h 56"/>
                <a:gd name="T28" fmla="*/ 19 w 60"/>
                <a:gd name="T29" fmla="*/ 17 h 56"/>
                <a:gd name="T30" fmla="*/ 25 w 60"/>
                <a:gd name="T31" fmla="*/ 23 h 56"/>
                <a:gd name="T32" fmla="*/ 23 w 60"/>
                <a:gd name="T33" fmla="*/ 31 h 5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0"/>
                <a:gd name="T52" fmla="*/ 0 h 56"/>
                <a:gd name="T53" fmla="*/ 60 w 60"/>
                <a:gd name="T54" fmla="*/ 56 h 5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0" h="56">
                  <a:moveTo>
                    <a:pt x="23" y="31"/>
                  </a:moveTo>
                  <a:lnTo>
                    <a:pt x="21" y="33"/>
                  </a:lnTo>
                  <a:lnTo>
                    <a:pt x="21" y="40"/>
                  </a:lnTo>
                  <a:lnTo>
                    <a:pt x="25" y="48"/>
                  </a:lnTo>
                  <a:lnTo>
                    <a:pt x="38" y="56"/>
                  </a:lnTo>
                  <a:lnTo>
                    <a:pt x="54" y="54"/>
                  </a:lnTo>
                  <a:lnTo>
                    <a:pt x="60" y="40"/>
                  </a:lnTo>
                  <a:lnTo>
                    <a:pt x="56" y="23"/>
                  </a:lnTo>
                  <a:lnTo>
                    <a:pt x="42" y="7"/>
                  </a:lnTo>
                  <a:lnTo>
                    <a:pt x="23" y="0"/>
                  </a:lnTo>
                  <a:lnTo>
                    <a:pt x="7" y="0"/>
                  </a:lnTo>
                  <a:lnTo>
                    <a:pt x="0" y="5"/>
                  </a:lnTo>
                  <a:lnTo>
                    <a:pt x="2" y="9"/>
                  </a:lnTo>
                  <a:lnTo>
                    <a:pt x="11" y="13"/>
                  </a:lnTo>
                  <a:lnTo>
                    <a:pt x="19" y="17"/>
                  </a:lnTo>
                  <a:lnTo>
                    <a:pt x="25" y="23"/>
                  </a:lnTo>
                  <a:lnTo>
                    <a:pt x="23" y="31"/>
                  </a:lnTo>
                  <a:close/>
                </a:path>
              </a:pathLst>
            </a:custGeom>
            <a:solidFill>
              <a:srgbClr val="8C60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266" name="Freeform 18"/>
            <p:cNvSpPr>
              <a:spLocks/>
            </p:cNvSpPr>
            <p:nvPr/>
          </p:nvSpPr>
          <p:spPr bwMode="auto">
            <a:xfrm>
              <a:off x="4490" y="2399"/>
              <a:ext cx="35" cy="14"/>
            </a:xfrm>
            <a:custGeom>
              <a:avLst/>
              <a:gdLst>
                <a:gd name="T0" fmla="*/ 31 w 35"/>
                <a:gd name="T1" fmla="*/ 6 h 14"/>
                <a:gd name="T2" fmla="*/ 30 w 35"/>
                <a:gd name="T3" fmla="*/ 4 h 14"/>
                <a:gd name="T4" fmla="*/ 22 w 35"/>
                <a:gd name="T5" fmla="*/ 2 h 14"/>
                <a:gd name="T6" fmla="*/ 12 w 35"/>
                <a:gd name="T7" fmla="*/ 0 h 14"/>
                <a:gd name="T8" fmla="*/ 2 w 35"/>
                <a:gd name="T9" fmla="*/ 2 h 14"/>
                <a:gd name="T10" fmla="*/ 0 w 35"/>
                <a:gd name="T11" fmla="*/ 4 h 14"/>
                <a:gd name="T12" fmla="*/ 4 w 35"/>
                <a:gd name="T13" fmla="*/ 8 h 14"/>
                <a:gd name="T14" fmla="*/ 12 w 35"/>
                <a:gd name="T15" fmla="*/ 10 h 14"/>
                <a:gd name="T16" fmla="*/ 20 w 35"/>
                <a:gd name="T17" fmla="*/ 12 h 14"/>
                <a:gd name="T18" fmla="*/ 28 w 35"/>
                <a:gd name="T19" fmla="*/ 14 h 14"/>
                <a:gd name="T20" fmla="*/ 33 w 35"/>
                <a:gd name="T21" fmla="*/ 14 h 14"/>
                <a:gd name="T22" fmla="*/ 35 w 35"/>
                <a:gd name="T23" fmla="*/ 12 h 14"/>
                <a:gd name="T24" fmla="*/ 31 w 35"/>
                <a:gd name="T25" fmla="*/ 6 h 1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5"/>
                <a:gd name="T40" fmla="*/ 0 h 14"/>
                <a:gd name="T41" fmla="*/ 35 w 35"/>
                <a:gd name="T42" fmla="*/ 14 h 1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5" h="14">
                  <a:moveTo>
                    <a:pt x="31" y="6"/>
                  </a:moveTo>
                  <a:lnTo>
                    <a:pt x="30" y="4"/>
                  </a:lnTo>
                  <a:lnTo>
                    <a:pt x="22" y="2"/>
                  </a:lnTo>
                  <a:lnTo>
                    <a:pt x="12" y="0"/>
                  </a:lnTo>
                  <a:lnTo>
                    <a:pt x="2" y="2"/>
                  </a:lnTo>
                  <a:lnTo>
                    <a:pt x="0" y="4"/>
                  </a:lnTo>
                  <a:lnTo>
                    <a:pt x="4" y="8"/>
                  </a:lnTo>
                  <a:lnTo>
                    <a:pt x="12" y="10"/>
                  </a:lnTo>
                  <a:lnTo>
                    <a:pt x="20" y="12"/>
                  </a:lnTo>
                  <a:lnTo>
                    <a:pt x="28" y="14"/>
                  </a:lnTo>
                  <a:lnTo>
                    <a:pt x="33" y="14"/>
                  </a:lnTo>
                  <a:lnTo>
                    <a:pt x="35" y="12"/>
                  </a:lnTo>
                  <a:lnTo>
                    <a:pt x="31" y="6"/>
                  </a:lnTo>
                  <a:close/>
                </a:path>
              </a:pathLst>
            </a:custGeom>
            <a:solidFill>
              <a:srgbClr val="8C60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267" name="Freeform 19"/>
            <p:cNvSpPr>
              <a:spLocks/>
            </p:cNvSpPr>
            <p:nvPr/>
          </p:nvSpPr>
          <p:spPr bwMode="auto">
            <a:xfrm>
              <a:off x="4277" y="2418"/>
              <a:ext cx="353" cy="707"/>
            </a:xfrm>
            <a:custGeom>
              <a:avLst/>
              <a:gdLst>
                <a:gd name="T0" fmla="*/ 4 w 353"/>
                <a:gd name="T1" fmla="*/ 192 h 707"/>
                <a:gd name="T2" fmla="*/ 22 w 353"/>
                <a:gd name="T3" fmla="*/ 235 h 707"/>
                <a:gd name="T4" fmla="*/ 29 w 353"/>
                <a:gd name="T5" fmla="*/ 273 h 707"/>
                <a:gd name="T6" fmla="*/ 60 w 353"/>
                <a:gd name="T7" fmla="*/ 302 h 707"/>
                <a:gd name="T8" fmla="*/ 109 w 353"/>
                <a:gd name="T9" fmla="*/ 337 h 707"/>
                <a:gd name="T10" fmla="*/ 146 w 353"/>
                <a:gd name="T11" fmla="*/ 359 h 707"/>
                <a:gd name="T12" fmla="*/ 132 w 353"/>
                <a:gd name="T13" fmla="*/ 386 h 707"/>
                <a:gd name="T14" fmla="*/ 119 w 353"/>
                <a:gd name="T15" fmla="*/ 426 h 707"/>
                <a:gd name="T16" fmla="*/ 136 w 353"/>
                <a:gd name="T17" fmla="*/ 473 h 707"/>
                <a:gd name="T18" fmla="*/ 173 w 353"/>
                <a:gd name="T19" fmla="*/ 519 h 707"/>
                <a:gd name="T20" fmla="*/ 171 w 353"/>
                <a:gd name="T21" fmla="*/ 659 h 707"/>
                <a:gd name="T22" fmla="*/ 212 w 353"/>
                <a:gd name="T23" fmla="*/ 707 h 707"/>
                <a:gd name="T24" fmla="*/ 206 w 353"/>
                <a:gd name="T25" fmla="*/ 670 h 707"/>
                <a:gd name="T26" fmla="*/ 241 w 353"/>
                <a:gd name="T27" fmla="*/ 624 h 707"/>
                <a:gd name="T28" fmla="*/ 260 w 353"/>
                <a:gd name="T29" fmla="*/ 593 h 707"/>
                <a:gd name="T30" fmla="*/ 279 w 353"/>
                <a:gd name="T31" fmla="*/ 562 h 707"/>
                <a:gd name="T32" fmla="*/ 320 w 353"/>
                <a:gd name="T33" fmla="*/ 527 h 707"/>
                <a:gd name="T34" fmla="*/ 353 w 353"/>
                <a:gd name="T35" fmla="*/ 471 h 707"/>
                <a:gd name="T36" fmla="*/ 337 w 353"/>
                <a:gd name="T37" fmla="*/ 444 h 707"/>
                <a:gd name="T38" fmla="*/ 301 w 353"/>
                <a:gd name="T39" fmla="*/ 421 h 707"/>
                <a:gd name="T40" fmla="*/ 270 w 353"/>
                <a:gd name="T41" fmla="*/ 380 h 707"/>
                <a:gd name="T42" fmla="*/ 237 w 353"/>
                <a:gd name="T43" fmla="*/ 351 h 707"/>
                <a:gd name="T44" fmla="*/ 200 w 353"/>
                <a:gd name="T45" fmla="*/ 343 h 707"/>
                <a:gd name="T46" fmla="*/ 163 w 353"/>
                <a:gd name="T47" fmla="*/ 343 h 707"/>
                <a:gd name="T48" fmla="*/ 138 w 353"/>
                <a:gd name="T49" fmla="*/ 343 h 707"/>
                <a:gd name="T50" fmla="*/ 134 w 353"/>
                <a:gd name="T51" fmla="*/ 322 h 707"/>
                <a:gd name="T52" fmla="*/ 134 w 353"/>
                <a:gd name="T53" fmla="*/ 304 h 707"/>
                <a:gd name="T54" fmla="*/ 124 w 353"/>
                <a:gd name="T55" fmla="*/ 297 h 707"/>
                <a:gd name="T56" fmla="*/ 122 w 353"/>
                <a:gd name="T57" fmla="*/ 277 h 707"/>
                <a:gd name="T58" fmla="*/ 86 w 353"/>
                <a:gd name="T59" fmla="*/ 281 h 707"/>
                <a:gd name="T60" fmla="*/ 91 w 353"/>
                <a:gd name="T61" fmla="*/ 242 h 707"/>
                <a:gd name="T62" fmla="*/ 119 w 353"/>
                <a:gd name="T63" fmla="*/ 231 h 707"/>
                <a:gd name="T64" fmla="*/ 148 w 353"/>
                <a:gd name="T65" fmla="*/ 235 h 707"/>
                <a:gd name="T66" fmla="*/ 161 w 353"/>
                <a:gd name="T67" fmla="*/ 254 h 707"/>
                <a:gd name="T68" fmla="*/ 173 w 353"/>
                <a:gd name="T69" fmla="*/ 260 h 707"/>
                <a:gd name="T70" fmla="*/ 179 w 353"/>
                <a:gd name="T71" fmla="*/ 233 h 707"/>
                <a:gd name="T72" fmla="*/ 215 w 353"/>
                <a:gd name="T73" fmla="*/ 202 h 707"/>
                <a:gd name="T74" fmla="*/ 256 w 353"/>
                <a:gd name="T75" fmla="*/ 173 h 707"/>
                <a:gd name="T76" fmla="*/ 293 w 353"/>
                <a:gd name="T77" fmla="*/ 163 h 707"/>
                <a:gd name="T78" fmla="*/ 291 w 353"/>
                <a:gd name="T79" fmla="*/ 144 h 707"/>
                <a:gd name="T80" fmla="*/ 335 w 353"/>
                <a:gd name="T81" fmla="*/ 128 h 707"/>
                <a:gd name="T82" fmla="*/ 297 w 353"/>
                <a:gd name="T83" fmla="*/ 86 h 707"/>
                <a:gd name="T84" fmla="*/ 260 w 353"/>
                <a:gd name="T85" fmla="*/ 107 h 707"/>
                <a:gd name="T86" fmla="*/ 235 w 353"/>
                <a:gd name="T87" fmla="*/ 120 h 707"/>
                <a:gd name="T88" fmla="*/ 215 w 353"/>
                <a:gd name="T89" fmla="*/ 95 h 707"/>
                <a:gd name="T90" fmla="*/ 202 w 353"/>
                <a:gd name="T91" fmla="*/ 78 h 707"/>
                <a:gd name="T92" fmla="*/ 233 w 353"/>
                <a:gd name="T93" fmla="*/ 62 h 707"/>
                <a:gd name="T94" fmla="*/ 262 w 353"/>
                <a:gd name="T95" fmla="*/ 58 h 707"/>
                <a:gd name="T96" fmla="*/ 270 w 353"/>
                <a:gd name="T97" fmla="*/ 47 h 707"/>
                <a:gd name="T98" fmla="*/ 260 w 353"/>
                <a:gd name="T99" fmla="*/ 26 h 707"/>
                <a:gd name="T100" fmla="*/ 243 w 353"/>
                <a:gd name="T101" fmla="*/ 29 h 707"/>
                <a:gd name="T102" fmla="*/ 223 w 353"/>
                <a:gd name="T103" fmla="*/ 35 h 707"/>
                <a:gd name="T104" fmla="*/ 217 w 353"/>
                <a:gd name="T105" fmla="*/ 22 h 707"/>
                <a:gd name="T106" fmla="*/ 192 w 353"/>
                <a:gd name="T107" fmla="*/ 8 h 707"/>
                <a:gd name="T108" fmla="*/ 173 w 353"/>
                <a:gd name="T109" fmla="*/ 0 h 707"/>
                <a:gd name="T110" fmla="*/ 157 w 353"/>
                <a:gd name="T111" fmla="*/ 16 h 707"/>
                <a:gd name="T112" fmla="*/ 136 w 353"/>
                <a:gd name="T113" fmla="*/ 20 h 707"/>
                <a:gd name="T114" fmla="*/ 111 w 353"/>
                <a:gd name="T115" fmla="*/ 18 h 707"/>
                <a:gd name="T116" fmla="*/ 84 w 353"/>
                <a:gd name="T117" fmla="*/ 12 h 707"/>
                <a:gd name="T118" fmla="*/ 60 w 353"/>
                <a:gd name="T119" fmla="*/ 29 h 707"/>
                <a:gd name="T120" fmla="*/ 39 w 353"/>
                <a:gd name="T121" fmla="*/ 47 h 707"/>
                <a:gd name="T122" fmla="*/ 37 w 353"/>
                <a:gd name="T123" fmla="*/ 74 h 707"/>
                <a:gd name="T124" fmla="*/ 22 w 353"/>
                <a:gd name="T125" fmla="*/ 130 h 70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53"/>
                <a:gd name="T190" fmla="*/ 0 h 707"/>
                <a:gd name="T191" fmla="*/ 353 w 353"/>
                <a:gd name="T192" fmla="*/ 707 h 707"/>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53" h="707">
                  <a:moveTo>
                    <a:pt x="22" y="130"/>
                  </a:moveTo>
                  <a:lnTo>
                    <a:pt x="0" y="163"/>
                  </a:lnTo>
                  <a:lnTo>
                    <a:pt x="4" y="192"/>
                  </a:lnTo>
                  <a:lnTo>
                    <a:pt x="14" y="211"/>
                  </a:lnTo>
                  <a:lnTo>
                    <a:pt x="22" y="219"/>
                  </a:lnTo>
                  <a:lnTo>
                    <a:pt x="22" y="235"/>
                  </a:lnTo>
                  <a:lnTo>
                    <a:pt x="22" y="248"/>
                  </a:lnTo>
                  <a:lnTo>
                    <a:pt x="24" y="262"/>
                  </a:lnTo>
                  <a:lnTo>
                    <a:pt x="29" y="273"/>
                  </a:lnTo>
                  <a:lnTo>
                    <a:pt x="37" y="285"/>
                  </a:lnTo>
                  <a:lnTo>
                    <a:pt x="47" y="295"/>
                  </a:lnTo>
                  <a:lnTo>
                    <a:pt x="60" y="302"/>
                  </a:lnTo>
                  <a:lnTo>
                    <a:pt x="78" y="308"/>
                  </a:lnTo>
                  <a:lnTo>
                    <a:pt x="101" y="324"/>
                  </a:lnTo>
                  <a:lnTo>
                    <a:pt x="109" y="337"/>
                  </a:lnTo>
                  <a:lnTo>
                    <a:pt x="115" y="351"/>
                  </a:lnTo>
                  <a:lnTo>
                    <a:pt x="128" y="357"/>
                  </a:lnTo>
                  <a:lnTo>
                    <a:pt x="146" y="359"/>
                  </a:lnTo>
                  <a:lnTo>
                    <a:pt x="153" y="362"/>
                  </a:lnTo>
                  <a:lnTo>
                    <a:pt x="150" y="372"/>
                  </a:lnTo>
                  <a:lnTo>
                    <a:pt x="132" y="386"/>
                  </a:lnTo>
                  <a:lnTo>
                    <a:pt x="122" y="395"/>
                  </a:lnTo>
                  <a:lnTo>
                    <a:pt x="119" y="411"/>
                  </a:lnTo>
                  <a:lnTo>
                    <a:pt x="119" y="426"/>
                  </a:lnTo>
                  <a:lnTo>
                    <a:pt x="122" y="442"/>
                  </a:lnTo>
                  <a:lnTo>
                    <a:pt x="128" y="457"/>
                  </a:lnTo>
                  <a:lnTo>
                    <a:pt x="136" y="473"/>
                  </a:lnTo>
                  <a:lnTo>
                    <a:pt x="148" y="486"/>
                  </a:lnTo>
                  <a:lnTo>
                    <a:pt x="159" y="494"/>
                  </a:lnTo>
                  <a:lnTo>
                    <a:pt x="173" y="519"/>
                  </a:lnTo>
                  <a:lnTo>
                    <a:pt x="173" y="560"/>
                  </a:lnTo>
                  <a:lnTo>
                    <a:pt x="169" y="610"/>
                  </a:lnTo>
                  <a:lnTo>
                    <a:pt x="171" y="659"/>
                  </a:lnTo>
                  <a:lnTo>
                    <a:pt x="181" y="692"/>
                  </a:lnTo>
                  <a:lnTo>
                    <a:pt x="198" y="705"/>
                  </a:lnTo>
                  <a:lnTo>
                    <a:pt x="212" y="707"/>
                  </a:lnTo>
                  <a:lnTo>
                    <a:pt x="217" y="707"/>
                  </a:lnTo>
                  <a:lnTo>
                    <a:pt x="213" y="694"/>
                  </a:lnTo>
                  <a:lnTo>
                    <a:pt x="206" y="670"/>
                  </a:lnTo>
                  <a:lnTo>
                    <a:pt x="208" y="645"/>
                  </a:lnTo>
                  <a:lnTo>
                    <a:pt x="227" y="630"/>
                  </a:lnTo>
                  <a:lnTo>
                    <a:pt x="241" y="624"/>
                  </a:lnTo>
                  <a:lnTo>
                    <a:pt x="248" y="614"/>
                  </a:lnTo>
                  <a:lnTo>
                    <a:pt x="254" y="603"/>
                  </a:lnTo>
                  <a:lnTo>
                    <a:pt x="260" y="593"/>
                  </a:lnTo>
                  <a:lnTo>
                    <a:pt x="266" y="581"/>
                  </a:lnTo>
                  <a:lnTo>
                    <a:pt x="272" y="570"/>
                  </a:lnTo>
                  <a:lnTo>
                    <a:pt x="279" y="562"/>
                  </a:lnTo>
                  <a:lnTo>
                    <a:pt x="293" y="556"/>
                  </a:lnTo>
                  <a:lnTo>
                    <a:pt x="312" y="545"/>
                  </a:lnTo>
                  <a:lnTo>
                    <a:pt x="320" y="527"/>
                  </a:lnTo>
                  <a:lnTo>
                    <a:pt x="328" y="506"/>
                  </a:lnTo>
                  <a:lnTo>
                    <a:pt x="345" y="483"/>
                  </a:lnTo>
                  <a:lnTo>
                    <a:pt x="353" y="471"/>
                  </a:lnTo>
                  <a:lnTo>
                    <a:pt x="353" y="461"/>
                  </a:lnTo>
                  <a:lnTo>
                    <a:pt x="347" y="454"/>
                  </a:lnTo>
                  <a:lnTo>
                    <a:pt x="337" y="444"/>
                  </a:lnTo>
                  <a:lnTo>
                    <a:pt x="324" y="436"/>
                  </a:lnTo>
                  <a:lnTo>
                    <a:pt x="312" y="428"/>
                  </a:lnTo>
                  <a:lnTo>
                    <a:pt x="301" y="421"/>
                  </a:lnTo>
                  <a:lnTo>
                    <a:pt x="295" y="411"/>
                  </a:lnTo>
                  <a:lnTo>
                    <a:pt x="283" y="393"/>
                  </a:lnTo>
                  <a:lnTo>
                    <a:pt x="270" y="380"/>
                  </a:lnTo>
                  <a:lnTo>
                    <a:pt x="254" y="368"/>
                  </a:lnTo>
                  <a:lnTo>
                    <a:pt x="243" y="357"/>
                  </a:lnTo>
                  <a:lnTo>
                    <a:pt x="237" y="351"/>
                  </a:lnTo>
                  <a:lnTo>
                    <a:pt x="227" y="347"/>
                  </a:lnTo>
                  <a:lnTo>
                    <a:pt x="213" y="345"/>
                  </a:lnTo>
                  <a:lnTo>
                    <a:pt x="200" y="343"/>
                  </a:lnTo>
                  <a:lnTo>
                    <a:pt x="186" y="343"/>
                  </a:lnTo>
                  <a:lnTo>
                    <a:pt x="173" y="343"/>
                  </a:lnTo>
                  <a:lnTo>
                    <a:pt x="163" y="343"/>
                  </a:lnTo>
                  <a:lnTo>
                    <a:pt x="157" y="345"/>
                  </a:lnTo>
                  <a:lnTo>
                    <a:pt x="148" y="345"/>
                  </a:lnTo>
                  <a:lnTo>
                    <a:pt x="138" y="343"/>
                  </a:lnTo>
                  <a:lnTo>
                    <a:pt x="130" y="337"/>
                  </a:lnTo>
                  <a:lnTo>
                    <a:pt x="130" y="330"/>
                  </a:lnTo>
                  <a:lnTo>
                    <a:pt x="134" y="322"/>
                  </a:lnTo>
                  <a:lnTo>
                    <a:pt x="140" y="314"/>
                  </a:lnTo>
                  <a:lnTo>
                    <a:pt x="142" y="308"/>
                  </a:lnTo>
                  <a:lnTo>
                    <a:pt x="134" y="304"/>
                  </a:lnTo>
                  <a:lnTo>
                    <a:pt x="124" y="302"/>
                  </a:lnTo>
                  <a:lnTo>
                    <a:pt x="122" y="302"/>
                  </a:lnTo>
                  <a:lnTo>
                    <a:pt x="124" y="297"/>
                  </a:lnTo>
                  <a:lnTo>
                    <a:pt x="128" y="283"/>
                  </a:lnTo>
                  <a:lnTo>
                    <a:pt x="128" y="275"/>
                  </a:lnTo>
                  <a:lnTo>
                    <a:pt x="122" y="277"/>
                  </a:lnTo>
                  <a:lnTo>
                    <a:pt x="113" y="285"/>
                  </a:lnTo>
                  <a:lnTo>
                    <a:pt x="97" y="287"/>
                  </a:lnTo>
                  <a:lnTo>
                    <a:pt x="86" y="281"/>
                  </a:lnTo>
                  <a:lnTo>
                    <a:pt x="80" y="270"/>
                  </a:lnTo>
                  <a:lnTo>
                    <a:pt x="84" y="258"/>
                  </a:lnTo>
                  <a:lnTo>
                    <a:pt x="91" y="242"/>
                  </a:lnTo>
                  <a:lnTo>
                    <a:pt x="99" y="237"/>
                  </a:lnTo>
                  <a:lnTo>
                    <a:pt x="107" y="233"/>
                  </a:lnTo>
                  <a:lnTo>
                    <a:pt x="119" y="231"/>
                  </a:lnTo>
                  <a:lnTo>
                    <a:pt x="128" y="231"/>
                  </a:lnTo>
                  <a:lnTo>
                    <a:pt x="138" y="233"/>
                  </a:lnTo>
                  <a:lnTo>
                    <a:pt x="148" y="235"/>
                  </a:lnTo>
                  <a:lnTo>
                    <a:pt x="153" y="239"/>
                  </a:lnTo>
                  <a:lnTo>
                    <a:pt x="157" y="244"/>
                  </a:lnTo>
                  <a:lnTo>
                    <a:pt x="161" y="254"/>
                  </a:lnTo>
                  <a:lnTo>
                    <a:pt x="165" y="262"/>
                  </a:lnTo>
                  <a:lnTo>
                    <a:pt x="171" y="264"/>
                  </a:lnTo>
                  <a:lnTo>
                    <a:pt x="173" y="260"/>
                  </a:lnTo>
                  <a:lnTo>
                    <a:pt x="173" y="250"/>
                  </a:lnTo>
                  <a:lnTo>
                    <a:pt x="175" y="242"/>
                  </a:lnTo>
                  <a:lnTo>
                    <a:pt x="179" y="233"/>
                  </a:lnTo>
                  <a:lnTo>
                    <a:pt x="190" y="225"/>
                  </a:lnTo>
                  <a:lnTo>
                    <a:pt x="204" y="215"/>
                  </a:lnTo>
                  <a:lnTo>
                    <a:pt x="215" y="202"/>
                  </a:lnTo>
                  <a:lnTo>
                    <a:pt x="225" y="190"/>
                  </a:lnTo>
                  <a:lnTo>
                    <a:pt x="241" y="179"/>
                  </a:lnTo>
                  <a:lnTo>
                    <a:pt x="256" y="173"/>
                  </a:lnTo>
                  <a:lnTo>
                    <a:pt x="273" y="171"/>
                  </a:lnTo>
                  <a:lnTo>
                    <a:pt x="285" y="169"/>
                  </a:lnTo>
                  <a:lnTo>
                    <a:pt x="293" y="163"/>
                  </a:lnTo>
                  <a:lnTo>
                    <a:pt x="291" y="153"/>
                  </a:lnTo>
                  <a:lnTo>
                    <a:pt x="289" y="148"/>
                  </a:lnTo>
                  <a:lnTo>
                    <a:pt x="291" y="144"/>
                  </a:lnTo>
                  <a:lnTo>
                    <a:pt x="312" y="144"/>
                  </a:lnTo>
                  <a:lnTo>
                    <a:pt x="334" y="140"/>
                  </a:lnTo>
                  <a:lnTo>
                    <a:pt x="335" y="128"/>
                  </a:lnTo>
                  <a:lnTo>
                    <a:pt x="324" y="111"/>
                  </a:lnTo>
                  <a:lnTo>
                    <a:pt x="310" y="95"/>
                  </a:lnTo>
                  <a:lnTo>
                    <a:pt x="297" y="86"/>
                  </a:lnTo>
                  <a:lnTo>
                    <a:pt x="285" y="84"/>
                  </a:lnTo>
                  <a:lnTo>
                    <a:pt x="272" y="91"/>
                  </a:lnTo>
                  <a:lnTo>
                    <a:pt x="260" y="107"/>
                  </a:lnTo>
                  <a:lnTo>
                    <a:pt x="248" y="120"/>
                  </a:lnTo>
                  <a:lnTo>
                    <a:pt x="241" y="124"/>
                  </a:lnTo>
                  <a:lnTo>
                    <a:pt x="235" y="120"/>
                  </a:lnTo>
                  <a:lnTo>
                    <a:pt x="233" y="107"/>
                  </a:lnTo>
                  <a:lnTo>
                    <a:pt x="227" y="97"/>
                  </a:lnTo>
                  <a:lnTo>
                    <a:pt x="215" y="95"/>
                  </a:lnTo>
                  <a:lnTo>
                    <a:pt x="204" y="95"/>
                  </a:lnTo>
                  <a:lnTo>
                    <a:pt x="198" y="86"/>
                  </a:lnTo>
                  <a:lnTo>
                    <a:pt x="202" y="78"/>
                  </a:lnTo>
                  <a:lnTo>
                    <a:pt x="208" y="72"/>
                  </a:lnTo>
                  <a:lnTo>
                    <a:pt x="219" y="66"/>
                  </a:lnTo>
                  <a:lnTo>
                    <a:pt x="233" y="62"/>
                  </a:lnTo>
                  <a:lnTo>
                    <a:pt x="244" y="60"/>
                  </a:lnTo>
                  <a:lnTo>
                    <a:pt x="256" y="58"/>
                  </a:lnTo>
                  <a:lnTo>
                    <a:pt x="262" y="58"/>
                  </a:lnTo>
                  <a:lnTo>
                    <a:pt x="266" y="58"/>
                  </a:lnTo>
                  <a:lnTo>
                    <a:pt x="275" y="55"/>
                  </a:lnTo>
                  <a:lnTo>
                    <a:pt x="270" y="47"/>
                  </a:lnTo>
                  <a:lnTo>
                    <a:pt x="262" y="39"/>
                  </a:lnTo>
                  <a:lnTo>
                    <a:pt x="260" y="31"/>
                  </a:lnTo>
                  <a:lnTo>
                    <a:pt x="260" y="26"/>
                  </a:lnTo>
                  <a:lnTo>
                    <a:pt x="254" y="22"/>
                  </a:lnTo>
                  <a:lnTo>
                    <a:pt x="246" y="22"/>
                  </a:lnTo>
                  <a:lnTo>
                    <a:pt x="243" y="29"/>
                  </a:lnTo>
                  <a:lnTo>
                    <a:pt x="239" y="37"/>
                  </a:lnTo>
                  <a:lnTo>
                    <a:pt x="231" y="39"/>
                  </a:lnTo>
                  <a:lnTo>
                    <a:pt x="223" y="35"/>
                  </a:lnTo>
                  <a:lnTo>
                    <a:pt x="225" y="27"/>
                  </a:lnTo>
                  <a:lnTo>
                    <a:pt x="227" y="22"/>
                  </a:lnTo>
                  <a:lnTo>
                    <a:pt x="217" y="22"/>
                  </a:lnTo>
                  <a:lnTo>
                    <a:pt x="206" y="20"/>
                  </a:lnTo>
                  <a:lnTo>
                    <a:pt x="196" y="16"/>
                  </a:lnTo>
                  <a:lnTo>
                    <a:pt x="192" y="8"/>
                  </a:lnTo>
                  <a:lnTo>
                    <a:pt x="192" y="4"/>
                  </a:lnTo>
                  <a:lnTo>
                    <a:pt x="186" y="0"/>
                  </a:lnTo>
                  <a:lnTo>
                    <a:pt x="173" y="0"/>
                  </a:lnTo>
                  <a:lnTo>
                    <a:pt x="163" y="4"/>
                  </a:lnTo>
                  <a:lnTo>
                    <a:pt x="161" y="10"/>
                  </a:lnTo>
                  <a:lnTo>
                    <a:pt x="157" y="16"/>
                  </a:lnTo>
                  <a:lnTo>
                    <a:pt x="148" y="20"/>
                  </a:lnTo>
                  <a:lnTo>
                    <a:pt x="142" y="20"/>
                  </a:lnTo>
                  <a:lnTo>
                    <a:pt x="136" y="20"/>
                  </a:lnTo>
                  <a:lnTo>
                    <a:pt x="128" y="20"/>
                  </a:lnTo>
                  <a:lnTo>
                    <a:pt x="120" y="18"/>
                  </a:lnTo>
                  <a:lnTo>
                    <a:pt x="111" y="18"/>
                  </a:lnTo>
                  <a:lnTo>
                    <a:pt x="103" y="16"/>
                  </a:lnTo>
                  <a:lnTo>
                    <a:pt x="93" y="14"/>
                  </a:lnTo>
                  <a:lnTo>
                    <a:pt x="84" y="12"/>
                  </a:lnTo>
                  <a:lnTo>
                    <a:pt x="76" y="18"/>
                  </a:lnTo>
                  <a:lnTo>
                    <a:pt x="68" y="24"/>
                  </a:lnTo>
                  <a:lnTo>
                    <a:pt x="60" y="29"/>
                  </a:lnTo>
                  <a:lnTo>
                    <a:pt x="53" y="35"/>
                  </a:lnTo>
                  <a:lnTo>
                    <a:pt x="47" y="41"/>
                  </a:lnTo>
                  <a:lnTo>
                    <a:pt x="39" y="47"/>
                  </a:lnTo>
                  <a:lnTo>
                    <a:pt x="31" y="55"/>
                  </a:lnTo>
                  <a:lnTo>
                    <a:pt x="26" y="60"/>
                  </a:lnTo>
                  <a:lnTo>
                    <a:pt x="37" y="74"/>
                  </a:lnTo>
                  <a:lnTo>
                    <a:pt x="41" y="91"/>
                  </a:lnTo>
                  <a:lnTo>
                    <a:pt x="37" y="111"/>
                  </a:lnTo>
                  <a:lnTo>
                    <a:pt x="22" y="130"/>
                  </a:lnTo>
                  <a:close/>
                </a:path>
              </a:pathLst>
            </a:custGeom>
            <a:solidFill>
              <a:srgbClr val="8C60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268" name="Freeform 20"/>
            <p:cNvSpPr>
              <a:spLocks/>
            </p:cNvSpPr>
            <p:nvPr/>
          </p:nvSpPr>
          <p:spPr bwMode="auto">
            <a:xfrm>
              <a:off x="4698" y="2657"/>
              <a:ext cx="296" cy="414"/>
            </a:xfrm>
            <a:custGeom>
              <a:avLst/>
              <a:gdLst>
                <a:gd name="T0" fmla="*/ 267 w 296"/>
                <a:gd name="T1" fmla="*/ 96 h 414"/>
                <a:gd name="T2" fmla="*/ 267 w 296"/>
                <a:gd name="T3" fmla="*/ 96 h 414"/>
                <a:gd name="T4" fmla="*/ 257 w 296"/>
                <a:gd name="T5" fmla="*/ 87 h 414"/>
                <a:gd name="T6" fmla="*/ 251 w 296"/>
                <a:gd name="T7" fmla="*/ 69 h 414"/>
                <a:gd name="T8" fmla="*/ 250 w 296"/>
                <a:gd name="T9" fmla="*/ 56 h 414"/>
                <a:gd name="T10" fmla="*/ 234 w 296"/>
                <a:gd name="T11" fmla="*/ 48 h 414"/>
                <a:gd name="T12" fmla="*/ 217 w 296"/>
                <a:gd name="T13" fmla="*/ 44 h 414"/>
                <a:gd name="T14" fmla="*/ 197 w 296"/>
                <a:gd name="T15" fmla="*/ 46 h 414"/>
                <a:gd name="T16" fmla="*/ 180 w 296"/>
                <a:gd name="T17" fmla="*/ 48 h 414"/>
                <a:gd name="T18" fmla="*/ 164 w 296"/>
                <a:gd name="T19" fmla="*/ 34 h 414"/>
                <a:gd name="T20" fmla="*/ 149 w 296"/>
                <a:gd name="T21" fmla="*/ 13 h 414"/>
                <a:gd name="T22" fmla="*/ 126 w 296"/>
                <a:gd name="T23" fmla="*/ 0 h 414"/>
                <a:gd name="T24" fmla="*/ 104 w 296"/>
                <a:gd name="T25" fmla="*/ 5 h 414"/>
                <a:gd name="T26" fmla="*/ 95 w 296"/>
                <a:gd name="T27" fmla="*/ 13 h 414"/>
                <a:gd name="T28" fmla="*/ 83 w 296"/>
                <a:gd name="T29" fmla="*/ 11 h 414"/>
                <a:gd name="T30" fmla="*/ 81 w 296"/>
                <a:gd name="T31" fmla="*/ 11 h 414"/>
                <a:gd name="T32" fmla="*/ 79 w 296"/>
                <a:gd name="T33" fmla="*/ 11 h 414"/>
                <a:gd name="T34" fmla="*/ 77 w 296"/>
                <a:gd name="T35" fmla="*/ 11 h 414"/>
                <a:gd name="T36" fmla="*/ 71 w 296"/>
                <a:gd name="T37" fmla="*/ 15 h 414"/>
                <a:gd name="T38" fmla="*/ 52 w 296"/>
                <a:gd name="T39" fmla="*/ 29 h 414"/>
                <a:gd name="T40" fmla="*/ 27 w 296"/>
                <a:gd name="T41" fmla="*/ 54 h 414"/>
                <a:gd name="T42" fmla="*/ 5 w 296"/>
                <a:gd name="T43" fmla="*/ 87 h 414"/>
                <a:gd name="T44" fmla="*/ 0 w 296"/>
                <a:gd name="T45" fmla="*/ 125 h 414"/>
                <a:gd name="T46" fmla="*/ 7 w 296"/>
                <a:gd name="T47" fmla="*/ 154 h 414"/>
                <a:gd name="T48" fmla="*/ 23 w 296"/>
                <a:gd name="T49" fmla="*/ 172 h 414"/>
                <a:gd name="T50" fmla="*/ 48 w 296"/>
                <a:gd name="T51" fmla="*/ 180 h 414"/>
                <a:gd name="T52" fmla="*/ 75 w 296"/>
                <a:gd name="T53" fmla="*/ 180 h 414"/>
                <a:gd name="T54" fmla="*/ 106 w 296"/>
                <a:gd name="T55" fmla="*/ 191 h 414"/>
                <a:gd name="T56" fmla="*/ 127 w 296"/>
                <a:gd name="T57" fmla="*/ 216 h 414"/>
                <a:gd name="T58" fmla="*/ 133 w 296"/>
                <a:gd name="T59" fmla="*/ 253 h 414"/>
                <a:gd name="T60" fmla="*/ 122 w 296"/>
                <a:gd name="T61" fmla="*/ 296 h 414"/>
                <a:gd name="T62" fmla="*/ 122 w 296"/>
                <a:gd name="T63" fmla="*/ 342 h 414"/>
                <a:gd name="T64" fmla="*/ 133 w 296"/>
                <a:gd name="T65" fmla="*/ 385 h 414"/>
                <a:gd name="T66" fmla="*/ 155 w 296"/>
                <a:gd name="T67" fmla="*/ 410 h 414"/>
                <a:gd name="T68" fmla="*/ 180 w 296"/>
                <a:gd name="T69" fmla="*/ 400 h 414"/>
                <a:gd name="T70" fmla="*/ 203 w 296"/>
                <a:gd name="T71" fmla="*/ 375 h 414"/>
                <a:gd name="T72" fmla="*/ 226 w 296"/>
                <a:gd name="T73" fmla="*/ 346 h 414"/>
                <a:gd name="T74" fmla="*/ 246 w 296"/>
                <a:gd name="T75" fmla="*/ 313 h 414"/>
                <a:gd name="T76" fmla="*/ 255 w 296"/>
                <a:gd name="T77" fmla="*/ 292 h 414"/>
                <a:gd name="T78" fmla="*/ 255 w 296"/>
                <a:gd name="T79" fmla="*/ 280 h 414"/>
                <a:gd name="T80" fmla="*/ 253 w 296"/>
                <a:gd name="T81" fmla="*/ 257 h 414"/>
                <a:gd name="T82" fmla="*/ 271 w 296"/>
                <a:gd name="T83" fmla="*/ 230 h 414"/>
                <a:gd name="T84" fmla="*/ 286 w 296"/>
                <a:gd name="T85" fmla="*/ 205 h 414"/>
                <a:gd name="T86" fmla="*/ 292 w 296"/>
                <a:gd name="T87" fmla="*/ 182 h 414"/>
                <a:gd name="T88" fmla="*/ 294 w 296"/>
                <a:gd name="T89" fmla="*/ 166 h 414"/>
                <a:gd name="T90" fmla="*/ 294 w 296"/>
                <a:gd name="T91" fmla="*/ 164 h 414"/>
                <a:gd name="T92" fmla="*/ 284 w 296"/>
                <a:gd name="T93" fmla="*/ 151 h 414"/>
                <a:gd name="T94" fmla="*/ 269 w 296"/>
                <a:gd name="T95" fmla="*/ 116 h 41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96"/>
                <a:gd name="T145" fmla="*/ 0 h 414"/>
                <a:gd name="T146" fmla="*/ 296 w 296"/>
                <a:gd name="T147" fmla="*/ 414 h 41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96" h="414">
                  <a:moveTo>
                    <a:pt x="267" y="96"/>
                  </a:moveTo>
                  <a:lnTo>
                    <a:pt x="267" y="96"/>
                  </a:lnTo>
                  <a:lnTo>
                    <a:pt x="257" y="87"/>
                  </a:lnTo>
                  <a:lnTo>
                    <a:pt x="253" y="79"/>
                  </a:lnTo>
                  <a:lnTo>
                    <a:pt x="251" y="69"/>
                  </a:lnTo>
                  <a:lnTo>
                    <a:pt x="257" y="62"/>
                  </a:lnTo>
                  <a:lnTo>
                    <a:pt x="250" y="56"/>
                  </a:lnTo>
                  <a:lnTo>
                    <a:pt x="242" y="52"/>
                  </a:lnTo>
                  <a:lnTo>
                    <a:pt x="234" y="48"/>
                  </a:lnTo>
                  <a:lnTo>
                    <a:pt x="224" y="46"/>
                  </a:lnTo>
                  <a:lnTo>
                    <a:pt x="217" y="44"/>
                  </a:lnTo>
                  <a:lnTo>
                    <a:pt x="207" y="44"/>
                  </a:lnTo>
                  <a:lnTo>
                    <a:pt x="197" y="46"/>
                  </a:lnTo>
                  <a:lnTo>
                    <a:pt x="189" y="48"/>
                  </a:lnTo>
                  <a:lnTo>
                    <a:pt x="180" y="48"/>
                  </a:lnTo>
                  <a:lnTo>
                    <a:pt x="172" y="42"/>
                  </a:lnTo>
                  <a:lnTo>
                    <a:pt x="164" y="34"/>
                  </a:lnTo>
                  <a:lnTo>
                    <a:pt x="158" y="23"/>
                  </a:lnTo>
                  <a:lnTo>
                    <a:pt x="149" y="13"/>
                  </a:lnTo>
                  <a:lnTo>
                    <a:pt x="139" y="3"/>
                  </a:lnTo>
                  <a:lnTo>
                    <a:pt x="126" y="0"/>
                  </a:lnTo>
                  <a:lnTo>
                    <a:pt x="108" y="0"/>
                  </a:lnTo>
                  <a:lnTo>
                    <a:pt x="104" y="5"/>
                  </a:lnTo>
                  <a:lnTo>
                    <a:pt x="100" y="11"/>
                  </a:lnTo>
                  <a:lnTo>
                    <a:pt x="95" y="13"/>
                  </a:lnTo>
                  <a:lnTo>
                    <a:pt x="85" y="11"/>
                  </a:lnTo>
                  <a:lnTo>
                    <a:pt x="83" y="11"/>
                  </a:lnTo>
                  <a:lnTo>
                    <a:pt x="81" y="11"/>
                  </a:lnTo>
                  <a:lnTo>
                    <a:pt x="79" y="9"/>
                  </a:lnTo>
                  <a:lnTo>
                    <a:pt x="79" y="11"/>
                  </a:lnTo>
                  <a:lnTo>
                    <a:pt x="77" y="11"/>
                  </a:lnTo>
                  <a:lnTo>
                    <a:pt x="75" y="13"/>
                  </a:lnTo>
                  <a:lnTo>
                    <a:pt x="71" y="15"/>
                  </a:lnTo>
                  <a:lnTo>
                    <a:pt x="64" y="21"/>
                  </a:lnTo>
                  <a:lnTo>
                    <a:pt x="52" y="29"/>
                  </a:lnTo>
                  <a:lnTo>
                    <a:pt x="40" y="40"/>
                  </a:lnTo>
                  <a:lnTo>
                    <a:pt x="27" y="54"/>
                  </a:lnTo>
                  <a:lnTo>
                    <a:pt x="13" y="69"/>
                  </a:lnTo>
                  <a:lnTo>
                    <a:pt x="5" y="87"/>
                  </a:lnTo>
                  <a:lnTo>
                    <a:pt x="0" y="106"/>
                  </a:lnTo>
                  <a:lnTo>
                    <a:pt x="0" y="125"/>
                  </a:lnTo>
                  <a:lnTo>
                    <a:pt x="2" y="141"/>
                  </a:lnTo>
                  <a:lnTo>
                    <a:pt x="7" y="154"/>
                  </a:lnTo>
                  <a:lnTo>
                    <a:pt x="13" y="164"/>
                  </a:lnTo>
                  <a:lnTo>
                    <a:pt x="23" y="172"/>
                  </a:lnTo>
                  <a:lnTo>
                    <a:pt x="35" y="178"/>
                  </a:lnTo>
                  <a:lnTo>
                    <a:pt x="48" y="180"/>
                  </a:lnTo>
                  <a:lnTo>
                    <a:pt x="62" y="180"/>
                  </a:lnTo>
                  <a:lnTo>
                    <a:pt x="75" y="180"/>
                  </a:lnTo>
                  <a:lnTo>
                    <a:pt x="91" y="184"/>
                  </a:lnTo>
                  <a:lnTo>
                    <a:pt x="106" y="191"/>
                  </a:lnTo>
                  <a:lnTo>
                    <a:pt x="118" y="201"/>
                  </a:lnTo>
                  <a:lnTo>
                    <a:pt x="127" y="216"/>
                  </a:lnTo>
                  <a:lnTo>
                    <a:pt x="133" y="232"/>
                  </a:lnTo>
                  <a:lnTo>
                    <a:pt x="133" y="253"/>
                  </a:lnTo>
                  <a:lnTo>
                    <a:pt x="127" y="275"/>
                  </a:lnTo>
                  <a:lnTo>
                    <a:pt x="122" y="296"/>
                  </a:lnTo>
                  <a:lnTo>
                    <a:pt x="120" y="319"/>
                  </a:lnTo>
                  <a:lnTo>
                    <a:pt x="122" y="342"/>
                  </a:lnTo>
                  <a:lnTo>
                    <a:pt x="126" y="366"/>
                  </a:lnTo>
                  <a:lnTo>
                    <a:pt x="133" y="385"/>
                  </a:lnTo>
                  <a:lnTo>
                    <a:pt x="143" y="400"/>
                  </a:lnTo>
                  <a:lnTo>
                    <a:pt x="155" y="410"/>
                  </a:lnTo>
                  <a:lnTo>
                    <a:pt x="166" y="414"/>
                  </a:lnTo>
                  <a:lnTo>
                    <a:pt x="180" y="400"/>
                  </a:lnTo>
                  <a:lnTo>
                    <a:pt x="191" y="389"/>
                  </a:lnTo>
                  <a:lnTo>
                    <a:pt x="203" y="375"/>
                  </a:lnTo>
                  <a:lnTo>
                    <a:pt x="215" y="360"/>
                  </a:lnTo>
                  <a:lnTo>
                    <a:pt x="226" y="346"/>
                  </a:lnTo>
                  <a:lnTo>
                    <a:pt x="236" y="331"/>
                  </a:lnTo>
                  <a:lnTo>
                    <a:pt x="246" y="313"/>
                  </a:lnTo>
                  <a:lnTo>
                    <a:pt x="253" y="298"/>
                  </a:lnTo>
                  <a:lnTo>
                    <a:pt x="255" y="292"/>
                  </a:lnTo>
                  <a:lnTo>
                    <a:pt x="255" y="286"/>
                  </a:lnTo>
                  <a:lnTo>
                    <a:pt x="255" y="280"/>
                  </a:lnTo>
                  <a:lnTo>
                    <a:pt x="253" y="273"/>
                  </a:lnTo>
                  <a:lnTo>
                    <a:pt x="253" y="257"/>
                  </a:lnTo>
                  <a:lnTo>
                    <a:pt x="261" y="244"/>
                  </a:lnTo>
                  <a:lnTo>
                    <a:pt x="271" y="230"/>
                  </a:lnTo>
                  <a:lnTo>
                    <a:pt x="284" y="216"/>
                  </a:lnTo>
                  <a:lnTo>
                    <a:pt x="286" y="205"/>
                  </a:lnTo>
                  <a:lnTo>
                    <a:pt x="290" y="193"/>
                  </a:lnTo>
                  <a:lnTo>
                    <a:pt x="292" y="182"/>
                  </a:lnTo>
                  <a:lnTo>
                    <a:pt x="294" y="168"/>
                  </a:lnTo>
                  <a:lnTo>
                    <a:pt x="294" y="166"/>
                  </a:lnTo>
                  <a:lnTo>
                    <a:pt x="294" y="164"/>
                  </a:lnTo>
                  <a:lnTo>
                    <a:pt x="296" y="164"/>
                  </a:lnTo>
                  <a:lnTo>
                    <a:pt x="284" y="151"/>
                  </a:lnTo>
                  <a:lnTo>
                    <a:pt x="275" y="133"/>
                  </a:lnTo>
                  <a:lnTo>
                    <a:pt x="269" y="116"/>
                  </a:lnTo>
                  <a:lnTo>
                    <a:pt x="267" y="96"/>
                  </a:lnTo>
                  <a:close/>
                </a:path>
              </a:pathLst>
            </a:custGeom>
            <a:solidFill>
              <a:srgbClr val="8C60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269" name="Freeform 21"/>
            <p:cNvSpPr>
              <a:spLocks/>
            </p:cNvSpPr>
            <p:nvPr/>
          </p:nvSpPr>
          <p:spPr bwMode="auto">
            <a:xfrm>
              <a:off x="4930" y="2651"/>
              <a:ext cx="66" cy="162"/>
            </a:xfrm>
            <a:custGeom>
              <a:avLst/>
              <a:gdLst>
                <a:gd name="T0" fmla="*/ 4 w 66"/>
                <a:gd name="T1" fmla="*/ 21 h 162"/>
                <a:gd name="T2" fmla="*/ 18 w 66"/>
                <a:gd name="T3" fmla="*/ 35 h 162"/>
                <a:gd name="T4" fmla="*/ 27 w 66"/>
                <a:gd name="T5" fmla="*/ 46 h 162"/>
                <a:gd name="T6" fmla="*/ 31 w 66"/>
                <a:gd name="T7" fmla="*/ 56 h 162"/>
                <a:gd name="T8" fmla="*/ 27 w 66"/>
                <a:gd name="T9" fmla="*/ 66 h 162"/>
                <a:gd name="T10" fmla="*/ 25 w 66"/>
                <a:gd name="T11" fmla="*/ 66 h 162"/>
                <a:gd name="T12" fmla="*/ 25 w 66"/>
                <a:gd name="T13" fmla="*/ 66 h 162"/>
                <a:gd name="T14" fmla="*/ 25 w 66"/>
                <a:gd name="T15" fmla="*/ 66 h 162"/>
                <a:gd name="T16" fmla="*/ 25 w 66"/>
                <a:gd name="T17" fmla="*/ 68 h 162"/>
                <a:gd name="T18" fmla="*/ 29 w 66"/>
                <a:gd name="T19" fmla="*/ 71 h 162"/>
                <a:gd name="T20" fmla="*/ 33 w 66"/>
                <a:gd name="T21" fmla="*/ 77 h 162"/>
                <a:gd name="T22" fmla="*/ 35 w 66"/>
                <a:gd name="T23" fmla="*/ 83 h 162"/>
                <a:gd name="T24" fmla="*/ 35 w 66"/>
                <a:gd name="T25" fmla="*/ 91 h 162"/>
                <a:gd name="T26" fmla="*/ 35 w 66"/>
                <a:gd name="T27" fmla="*/ 93 h 162"/>
                <a:gd name="T28" fmla="*/ 35 w 66"/>
                <a:gd name="T29" fmla="*/ 97 h 162"/>
                <a:gd name="T30" fmla="*/ 35 w 66"/>
                <a:gd name="T31" fmla="*/ 99 h 162"/>
                <a:gd name="T32" fmla="*/ 35 w 66"/>
                <a:gd name="T33" fmla="*/ 102 h 162"/>
                <a:gd name="T34" fmla="*/ 43 w 66"/>
                <a:gd name="T35" fmla="*/ 114 h 162"/>
                <a:gd name="T36" fmla="*/ 47 w 66"/>
                <a:gd name="T37" fmla="*/ 129 h 162"/>
                <a:gd name="T38" fmla="*/ 54 w 66"/>
                <a:gd name="T39" fmla="*/ 147 h 162"/>
                <a:gd name="T40" fmla="*/ 64 w 66"/>
                <a:gd name="T41" fmla="*/ 162 h 162"/>
                <a:gd name="T42" fmla="*/ 66 w 66"/>
                <a:gd name="T43" fmla="*/ 120 h 162"/>
                <a:gd name="T44" fmla="*/ 64 w 66"/>
                <a:gd name="T45" fmla="*/ 77 h 162"/>
                <a:gd name="T46" fmla="*/ 58 w 66"/>
                <a:gd name="T47" fmla="*/ 38 h 162"/>
                <a:gd name="T48" fmla="*/ 48 w 66"/>
                <a:gd name="T49" fmla="*/ 0 h 162"/>
                <a:gd name="T50" fmla="*/ 45 w 66"/>
                <a:gd name="T51" fmla="*/ 4 h 162"/>
                <a:gd name="T52" fmla="*/ 37 w 66"/>
                <a:gd name="T53" fmla="*/ 6 h 162"/>
                <a:gd name="T54" fmla="*/ 27 w 66"/>
                <a:gd name="T55" fmla="*/ 7 h 162"/>
                <a:gd name="T56" fmla="*/ 18 w 66"/>
                <a:gd name="T57" fmla="*/ 7 h 162"/>
                <a:gd name="T58" fmla="*/ 8 w 66"/>
                <a:gd name="T59" fmla="*/ 9 h 162"/>
                <a:gd name="T60" fmla="*/ 2 w 66"/>
                <a:gd name="T61" fmla="*/ 11 h 162"/>
                <a:gd name="T62" fmla="*/ 0 w 66"/>
                <a:gd name="T63" fmla="*/ 15 h 162"/>
                <a:gd name="T64" fmla="*/ 4 w 66"/>
                <a:gd name="T65" fmla="*/ 21 h 16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6"/>
                <a:gd name="T100" fmla="*/ 0 h 162"/>
                <a:gd name="T101" fmla="*/ 66 w 66"/>
                <a:gd name="T102" fmla="*/ 162 h 16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6" h="162">
                  <a:moveTo>
                    <a:pt x="4" y="21"/>
                  </a:moveTo>
                  <a:lnTo>
                    <a:pt x="18" y="35"/>
                  </a:lnTo>
                  <a:lnTo>
                    <a:pt x="27" y="46"/>
                  </a:lnTo>
                  <a:lnTo>
                    <a:pt x="31" y="56"/>
                  </a:lnTo>
                  <a:lnTo>
                    <a:pt x="27" y="66"/>
                  </a:lnTo>
                  <a:lnTo>
                    <a:pt x="25" y="66"/>
                  </a:lnTo>
                  <a:lnTo>
                    <a:pt x="25" y="68"/>
                  </a:lnTo>
                  <a:lnTo>
                    <a:pt x="29" y="71"/>
                  </a:lnTo>
                  <a:lnTo>
                    <a:pt x="33" y="77"/>
                  </a:lnTo>
                  <a:lnTo>
                    <a:pt x="35" y="83"/>
                  </a:lnTo>
                  <a:lnTo>
                    <a:pt x="35" y="91"/>
                  </a:lnTo>
                  <a:lnTo>
                    <a:pt x="35" y="93"/>
                  </a:lnTo>
                  <a:lnTo>
                    <a:pt x="35" y="97"/>
                  </a:lnTo>
                  <a:lnTo>
                    <a:pt x="35" y="99"/>
                  </a:lnTo>
                  <a:lnTo>
                    <a:pt x="35" y="102"/>
                  </a:lnTo>
                  <a:lnTo>
                    <a:pt x="43" y="114"/>
                  </a:lnTo>
                  <a:lnTo>
                    <a:pt x="47" y="129"/>
                  </a:lnTo>
                  <a:lnTo>
                    <a:pt x="54" y="147"/>
                  </a:lnTo>
                  <a:lnTo>
                    <a:pt x="64" y="162"/>
                  </a:lnTo>
                  <a:lnTo>
                    <a:pt x="66" y="120"/>
                  </a:lnTo>
                  <a:lnTo>
                    <a:pt x="64" y="77"/>
                  </a:lnTo>
                  <a:lnTo>
                    <a:pt x="58" y="38"/>
                  </a:lnTo>
                  <a:lnTo>
                    <a:pt x="48" y="0"/>
                  </a:lnTo>
                  <a:lnTo>
                    <a:pt x="45" y="4"/>
                  </a:lnTo>
                  <a:lnTo>
                    <a:pt x="37" y="6"/>
                  </a:lnTo>
                  <a:lnTo>
                    <a:pt x="27" y="7"/>
                  </a:lnTo>
                  <a:lnTo>
                    <a:pt x="18" y="7"/>
                  </a:lnTo>
                  <a:lnTo>
                    <a:pt x="8" y="9"/>
                  </a:lnTo>
                  <a:lnTo>
                    <a:pt x="2" y="11"/>
                  </a:lnTo>
                  <a:lnTo>
                    <a:pt x="0" y="15"/>
                  </a:lnTo>
                  <a:lnTo>
                    <a:pt x="4" y="21"/>
                  </a:lnTo>
                  <a:close/>
                </a:path>
              </a:pathLst>
            </a:custGeom>
            <a:solidFill>
              <a:srgbClr val="8C60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270" name="Freeform 22"/>
            <p:cNvSpPr>
              <a:spLocks/>
            </p:cNvSpPr>
            <p:nvPr/>
          </p:nvSpPr>
          <p:spPr bwMode="auto">
            <a:xfrm>
              <a:off x="4758" y="2498"/>
              <a:ext cx="219" cy="170"/>
            </a:xfrm>
            <a:custGeom>
              <a:avLst/>
              <a:gdLst>
                <a:gd name="T0" fmla="*/ 108 w 219"/>
                <a:gd name="T1" fmla="*/ 27 h 170"/>
                <a:gd name="T2" fmla="*/ 83 w 219"/>
                <a:gd name="T3" fmla="*/ 44 h 170"/>
                <a:gd name="T4" fmla="*/ 91 w 219"/>
                <a:gd name="T5" fmla="*/ 68 h 170"/>
                <a:gd name="T6" fmla="*/ 116 w 219"/>
                <a:gd name="T7" fmla="*/ 62 h 170"/>
                <a:gd name="T8" fmla="*/ 128 w 219"/>
                <a:gd name="T9" fmla="*/ 44 h 170"/>
                <a:gd name="T10" fmla="*/ 147 w 219"/>
                <a:gd name="T11" fmla="*/ 46 h 170"/>
                <a:gd name="T12" fmla="*/ 145 w 219"/>
                <a:gd name="T13" fmla="*/ 68 h 170"/>
                <a:gd name="T14" fmla="*/ 120 w 219"/>
                <a:gd name="T15" fmla="*/ 83 h 170"/>
                <a:gd name="T16" fmla="*/ 81 w 219"/>
                <a:gd name="T17" fmla="*/ 77 h 170"/>
                <a:gd name="T18" fmla="*/ 62 w 219"/>
                <a:gd name="T19" fmla="*/ 81 h 170"/>
                <a:gd name="T20" fmla="*/ 56 w 219"/>
                <a:gd name="T21" fmla="*/ 85 h 170"/>
                <a:gd name="T22" fmla="*/ 37 w 219"/>
                <a:gd name="T23" fmla="*/ 97 h 170"/>
                <a:gd name="T24" fmla="*/ 35 w 219"/>
                <a:gd name="T25" fmla="*/ 118 h 170"/>
                <a:gd name="T26" fmla="*/ 27 w 219"/>
                <a:gd name="T27" fmla="*/ 124 h 170"/>
                <a:gd name="T28" fmla="*/ 2 w 219"/>
                <a:gd name="T29" fmla="*/ 126 h 170"/>
                <a:gd name="T30" fmla="*/ 6 w 219"/>
                <a:gd name="T31" fmla="*/ 157 h 170"/>
                <a:gd name="T32" fmla="*/ 27 w 219"/>
                <a:gd name="T33" fmla="*/ 164 h 170"/>
                <a:gd name="T34" fmla="*/ 42 w 219"/>
                <a:gd name="T35" fmla="*/ 160 h 170"/>
                <a:gd name="T36" fmla="*/ 50 w 219"/>
                <a:gd name="T37" fmla="*/ 153 h 170"/>
                <a:gd name="T38" fmla="*/ 58 w 219"/>
                <a:gd name="T39" fmla="*/ 141 h 170"/>
                <a:gd name="T40" fmla="*/ 79 w 219"/>
                <a:gd name="T41" fmla="*/ 135 h 170"/>
                <a:gd name="T42" fmla="*/ 106 w 219"/>
                <a:gd name="T43" fmla="*/ 147 h 170"/>
                <a:gd name="T44" fmla="*/ 128 w 219"/>
                <a:gd name="T45" fmla="*/ 166 h 170"/>
                <a:gd name="T46" fmla="*/ 160 w 219"/>
                <a:gd name="T47" fmla="*/ 166 h 170"/>
                <a:gd name="T48" fmla="*/ 182 w 219"/>
                <a:gd name="T49" fmla="*/ 145 h 170"/>
                <a:gd name="T50" fmla="*/ 209 w 219"/>
                <a:gd name="T51" fmla="*/ 141 h 170"/>
                <a:gd name="T52" fmla="*/ 211 w 219"/>
                <a:gd name="T53" fmla="*/ 126 h 170"/>
                <a:gd name="T54" fmla="*/ 193 w 219"/>
                <a:gd name="T55" fmla="*/ 87 h 170"/>
                <a:gd name="T56" fmla="*/ 172 w 219"/>
                <a:gd name="T57" fmla="*/ 50 h 170"/>
                <a:gd name="T58" fmla="*/ 147 w 219"/>
                <a:gd name="T59" fmla="*/ 15 h 170"/>
                <a:gd name="T60" fmla="*/ 129 w 219"/>
                <a:gd name="T61" fmla="*/ 2 h 170"/>
                <a:gd name="T62" fmla="*/ 124 w 219"/>
                <a:gd name="T63" fmla="*/ 6 h 17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9"/>
                <a:gd name="T97" fmla="*/ 0 h 170"/>
                <a:gd name="T98" fmla="*/ 219 w 219"/>
                <a:gd name="T99" fmla="*/ 170 h 17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9" h="170">
                  <a:moveTo>
                    <a:pt x="122" y="9"/>
                  </a:moveTo>
                  <a:lnTo>
                    <a:pt x="108" y="27"/>
                  </a:lnTo>
                  <a:lnTo>
                    <a:pt x="93" y="37"/>
                  </a:lnTo>
                  <a:lnTo>
                    <a:pt x="83" y="44"/>
                  </a:lnTo>
                  <a:lnTo>
                    <a:pt x="81" y="54"/>
                  </a:lnTo>
                  <a:lnTo>
                    <a:pt x="91" y="68"/>
                  </a:lnTo>
                  <a:lnTo>
                    <a:pt x="104" y="68"/>
                  </a:lnTo>
                  <a:lnTo>
                    <a:pt x="116" y="62"/>
                  </a:lnTo>
                  <a:lnTo>
                    <a:pt x="122" y="52"/>
                  </a:lnTo>
                  <a:lnTo>
                    <a:pt x="128" y="44"/>
                  </a:lnTo>
                  <a:lnTo>
                    <a:pt x="137" y="42"/>
                  </a:lnTo>
                  <a:lnTo>
                    <a:pt x="147" y="46"/>
                  </a:lnTo>
                  <a:lnTo>
                    <a:pt x="149" y="56"/>
                  </a:lnTo>
                  <a:lnTo>
                    <a:pt x="145" y="68"/>
                  </a:lnTo>
                  <a:lnTo>
                    <a:pt x="135" y="77"/>
                  </a:lnTo>
                  <a:lnTo>
                    <a:pt x="120" y="83"/>
                  </a:lnTo>
                  <a:lnTo>
                    <a:pt x="98" y="81"/>
                  </a:lnTo>
                  <a:lnTo>
                    <a:pt x="81" y="77"/>
                  </a:lnTo>
                  <a:lnTo>
                    <a:pt x="67" y="79"/>
                  </a:lnTo>
                  <a:lnTo>
                    <a:pt x="62" y="81"/>
                  </a:lnTo>
                  <a:lnTo>
                    <a:pt x="60" y="83"/>
                  </a:lnTo>
                  <a:lnTo>
                    <a:pt x="56" y="85"/>
                  </a:lnTo>
                  <a:lnTo>
                    <a:pt x="46" y="89"/>
                  </a:lnTo>
                  <a:lnTo>
                    <a:pt x="37" y="97"/>
                  </a:lnTo>
                  <a:lnTo>
                    <a:pt x="35" y="108"/>
                  </a:lnTo>
                  <a:lnTo>
                    <a:pt x="35" y="118"/>
                  </a:lnTo>
                  <a:lnTo>
                    <a:pt x="33" y="124"/>
                  </a:lnTo>
                  <a:lnTo>
                    <a:pt x="27" y="124"/>
                  </a:lnTo>
                  <a:lnTo>
                    <a:pt x="13" y="122"/>
                  </a:lnTo>
                  <a:lnTo>
                    <a:pt x="2" y="126"/>
                  </a:lnTo>
                  <a:lnTo>
                    <a:pt x="0" y="139"/>
                  </a:lnTo>
                  <a:lnTo>
                    <a:pt x="6" y="157"/>
                  </a:lnTo>
                  <a:lnTo>
                    <a:pt x="19" y="168"/>
                  </a:lnTo>
                  <a:lnTo>
                    <a:pt x="27" y="164"/>
                  </a:lnTo>
                  <a:lnTo>
                    <a:pt x="35" y="162"/>
                  </a:lnTo>
                  <a:lnTo>
                    <a:pt x="42" y="160"/>
                  </a:lnTo>
                  <a:lnTo>
                    <a:pt x="48" y="159"/>
                  </a:lnTo>
                  <a:lnTo>
                    <a:pt x="50" y="153"/>
                  </a:lnTo>
                  <a:lnTo>
                    <a:pt x="54" y="147"/>
                  </a:lnTo>
                  <a:lnTo>
                    <a:pt x="58" y="141"/>
                  </a:lnTo>
                  <a:lnTo>
                    <a:pt x="64" y="137"/>
                  </a:lnTo>
                  <a:lnTo>
                    <a:pt x="79" y="135"/>
                  </a:lnTo>
                  <a:lnTo>
                    <a:pt x="95" y="139"/>
                  </a:lnTo>
                  <a:lnTo>
                    <a:pt x="106" y="147"/>
                  </a:lnTo>
                  <a:lnTo>
                    <a:pt x="116" y="157"/>
                  </a:lnTo>
                  <a:lnTo>
                    <a:pt x="128" y="166"/>
                  </a:lnTo>
                  <a:lnTo>
                    <a:pt x="145" y="170"/>
                  </a:lnTo>
                  <a:lnTo>
                    <a:pt x="160" y="166"/>
                  </a:lnTo>
                  <a:lnTo>
                    <a:pt x="172" y="155"/>
                  </a:lnTo>
                  <a:lnTo>
                    <a:pt x="182" y="145"/>
                  </a:lnTo>
                  <a:lnTo>
                    <a:pt x="195" y="141"/>
                  </a:lnTo>
                  <a:lnTo>
                    <a:pt x="209" y="141"/>
                  </a:lnTo>
                  <a:lnTo>
                    <a:pt x="219" y="145"/>
                  </a:lnTo>
                  <a:lnTo>
                    <a:pt x="211" y="126"/>
                  </a:lnTo>
                  <a:lnTo>
                    <a:pt x="203" y="106"/>
                  </a:lnTo>
                  <a:lnTo>
                    <a:pt x="193" y="87"/>
                  </a:lnTo>
                  <a:lnTo>
                    <a:pt x="184" y="68"/>
                  </a:lnTo>
                  <a:lnTo>
                    <a:pt x="172" y="50"/>
                  </a:lnTo>
                  <a:lnTo>
                    <a:pt x="160" y="33"/>
                  </a:lnTo>
                  <a:lnTo>
                    <a:pt x="147" y="15"/>
                  </a:lnTo>
                  <a:lnTo>
                    <a:pt x="133" y="0"/>
                  </a:lnTo>
                  <a:lnTo>
                    <a:pt x="129" y="2"/>
                  </a:lnTo>
                  <a:lnTo>
                    <a:pt x="126" y="4"/>
                  </a:lnTo>
                  <a:lnTo>
                    <a:pt x="124" y="6"/>
                  </a:lnTo>
                  <a:lnTo>
                    <a:pt x="122" y="9"/>
                  </a:lnTo>
                  <a:close/>
                </a:path>
              </a:pathLst>
            </a:custGeom>
            <a:solidFill>
              <a:srgbClr val="8C60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271" name="Freeform 23"/>
            <p:cNvSpPr>
              <a:spLocks/>
            </p:cNvSpPr>
            <p:nvPr/>
          </p:nvSpPr>
          <p:spPr bwMode="auto">
            <a:xfrm>
              <a:off x="4949" y="2719"/>
              <a:ext cx="16" cy="34"/>
            </a:xfrm>
            <a:custGeom>
              <a:avLst/>
              <a:gdLst>
                <a:gd name="T0" fmla="*/ 6 w 16"/>
                <a:gd name="T1" fmla="*/ 0 h 34"/>
                <a:gd name="T2" fmla="*/ 0 w 16"/>
                <a:gd name="T3" fmla="*/ 7 h 34"/>
                <a:gd name="T4" fmla="*/ 2 w 16"/>
                <a:gd name="T5" fmla="*/ 17 h 34"/>
                <a:gd name="T6" fmla="*/ 6 w 16"/>
                <a:gd name="T7" fmla="*/ 25 h 34"/>
                <a:gd name="T8" fmla="*/ 16 w 16"/>
                <a:gd name="T9" fmla="*/ 34 h 34"/>
                <a:gd name="T10" fmla="*/ 16 w 16"/>
                <a:gd name="T11" fmla="*/ 34 h 34"/>
                <a:gd name="T12" fmla="*/ 16 w 16"/>
                <a:gd name="T13" fmla="*/ 34 h 34"/>
                <a:gd name="T14" fmla="*/ 16 w 16"/>
                <a:gd name="T15" fmla="*/ 34 h 34"/>
                <a:gd name="T16" fmla="*/ 16 w 16"/>
                <a:gd name="T17" fmla="*/ 34 h 34"/>
                <a:gd name="T18" fmla="*/ 16 w 16"/>
                <a:gd name="T19" fmla="*/ 31 h 34"/>
                <a:gd name="T20" fmla="*/ 16 w 16"/>
                <a:gd name="T21" fmla="*/ 29 h 34"/>
                <a:gd name="T22" fmla="*/ 16 w 16"/>
                <a:gd name="T23" fmla="*/ 25 h 34"/>
                <a:gd name="T24" fmla="*/ 16 w 16"/>
                <a:gd name="T25" fmla="*/ 23 h 34"/>
                <a:gd name="T26" fmla="*/ 16 w 16"/>
                <a:gd name="T27" fmla="*/ 15 h 34"/>
                <a:gd name="T28" fmla="*/ 14 w 16"/>
                <a:gd name="T29" fmla="*/ 9 h 34"/>
                <a:gd name="T30" fmla="*/ 10 w 16"/>
                <a:gd name="T31" fmla="*/ 3 h 34"/>
                <a:gd name="T32" fmla="*/ 6 w 16"/>
                <a:gd name="T33" fmla="*/ 0 h 3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6"/>
                <a:gd name="T52" fmla="*/ 0 h 34"/>
                <a:gd name="T53" fmla="*/ 16 w 16"/>
                <a:gd name="T54" fmla="*/ 34 h 3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6" h="34">
                  <a:moveTo>
                    <a:pt x="6" y="0"/>
                  </a:moveTo>
                  <a:lnTo>
                    <a:pt x="0" y="7"/>
                  </a:lnTo>
                  <a:lnTo>
                    <a:pt x="2" y="17"/>
                  </a:lnTo>
                  <a:lnTo>
                    <a:pt x="6" y="25"/>
                  </a:lnTo>
                  <a:lnTo>
                    <a:pt x="16" y="34"/>
                  </a:lnTo>
                  <a:lnTo>
                    <a:pt x="16" y="31"/>
                  </a:lnTo>
                  <a:lnTo>
                    <a:pt x="16" y="29"/>
                  </a:lnTo>
                  <a:lnTo>
                    <a:pt x="16" y="25"/>
                  </a:lnTo>
                  <a:lnTo>
                    <a:pt x="16" y="23"/>
                  </a:lnTo>
                  <a:lnTo>
                    <a:pt x="16" y="15"/>
                  </a:lnTo>
                  <a:lnTo>
                    <a:pt x="14" y="9"/>
                  </a:lnTo>
                  <a:lnTo>
                    <a:pt x="10" y="3"/>
                  </a:lnTo>
                  <a:lnTo>
                    <a:pt x="6" y="0"/>
                  </a:lnTo>
                  <a:close/>
                </a:path>
              </a:pathLst>
            </a:custGeom>
            <a:solidFill>
              <a:srgbClr val="8C60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272" name="Freeform 24"/>
            <p:cNvSpPr>
              <a:spLocks/>
            </p:cNvSpPr>
            <p:nvPr/>
          </p:nvSpPr>
          <p:spPr bwMode="auto">
            <a:xfrm>
              <a:off x="4777" y="2657"/>
              <a:ext cx="29" cy="13"/>
            </a:xfrm>
            <a:custGeom>
              <a:avLst/>
              <a:gdLst>
                <a:gd name="T0" fmla="*/ 6 w 29"/>
                <a:gd name="T1" fmla="*/ 11 h 13"/>
                <a:gd name="T2" fmla="*/ 16 w 29"/>
                <a:gd name="T3" fmla="*/ 13 h 13"/>
                <a:gd name="T4" fmla="*/ 21 w 29"/>
                <a:gd name="T5" fmla="*/ 11 h 13"/>
                <a:gd name="T6" fmla="*/ 25 w 29"/>
                <a:gd name="T7" fmla="*/ 5 h 13"/>
                <a:gd name="T8" fmla="*/ 29 w 29"/>
                <a:gd name="T9" fmla="*/ 0 h 13"/>
                <a:gd name="T10" fmla="*/ 23 w 29"/>
                <a:gd name="T11" fmla="*/ 1 h 13"/>
                <a:gd name="T12" fmla="*/ 16 w 29"/>
                <a:gd name="T13" fmla="*/ 3 h 13"/>
                <a:gd name="T14" fmla="*/ 8 w 29"/>
                <a:gd name="T15" fmla="*/ 5 h 13"/>
                <a:gd name="T16" fmla="*/ 0 w 29"/>
                <a:gd name="T17" fmla="*/ 9 h 13"/>
                <a:gd name="T18" fmla="*/ 2 w 29"/>
                <a:gd name="T19" fmla="*/ 11 h 13"/>
                <a:gd name="T20" fmla="*/ 4 w 29"/>
                <a:gd name="T21" fmla="*/ 11 h 13"/>
                <a:gd name="T22" fmla="*/ 4 w 29"/>
                <a:gd name="T23" fmla="*/ 11 h 13"/>
                <a:gd name="T24" fmla="*/ 6 w 29"/>
                <a:gd name="T25" fmla="*/ 11 h 1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9"/>
                <a:gd name="T40" fmla="*/ 0 h 13"/>
                <a:gd name="T41" fmla="*/ 29 w 29"/>
                <a:gd name="T42" fmla="*/ 13 h 1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9" h="13">
                  <a:moveTo>
                    <a:pt x="6" y="11"/>
                  </a:moveTo>
                  <a:lnTo>
                    <a:pt x="16" y="13"/>
                  </a:lnTo>
                  <a:lnTo>
                    <a:pt x="21" y="11"/>
                  </a:lnTo>
                  <a:lnTo>
                    <a:pt x="25" y="5"/>
                  </a:lnTo>
                  <a:lnTo>
                    <a:pt x="29" y="0"/>
                  </a:lnTo>
                  <a:lnTo>
                    <a:pt x="23" y="1"/>
                  </a:lnTo>
                  <a:lnTo>
                    <a:pt x="16" y="3"/>
                  </a:lnTo>
                  <a:lnTo>
                    <a:pt x="8" y="5"/>
                  </a:lnTo>
                  <a:lnTo>
                    <a:pt x="0" y="9"/>
                  </a:lnTo>
                  <a:lnTo>
                    <a:pt x="2" y="11"/>
                  </a:lnTo>
                  <a:lnTo>
                    <a:pt x="4" y="11"/>
                  </a:lnTo>
                  <a:lnTo>
                    <a:pt x="6" y="11"/>
                  </a:lnTo>
                  <a:close/>
                </a:path>
              </a:pathLst>
            </a:custGeom>
            <a:solidFill>
              <a:srgbClr val="8C60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273" name="Freeform 25"/>
            <p:cNvSpPr>
              <a:spLocks/>
            </p:cNvSpPr>
            <p:nvPr/>
          </p:nvSpPr>
          <p:spPr bwMode="auto">
            <a:xfrm>
              <a:off x="4777" y="2552"/>
              <a:ext cx="25" cy="37"/>
            </a:xfrm>
            <a:custGeom>
              <a:avLst/>
              <a:gdLst>
                <a:gd name="T0" fmla="*/ 25 w 25"/>
                <a:gd name="T1" fmla="*/ 4 h 37"/>
                <a:gd name="T2" fmla="*/ 25 w 25"/>
                <a:gd name="T3" fmla="*/ 8 h 37"/>
                <a:gd name="T4" fmla="*/ 23 w 25"/>
                <a:gd name="T5" fmla="*/ 17 h 37"/>
                <a:gd name="T6" fmla="*/ 21 w 25"/>
                <a:gd name="T7" fmla="*/ 29 h 37"/>
                <a:gd name="T8" fmla="*/ 16 w 25"/>
                <a:gd name="T9" fmla="*/ 35 h 37"/>
                <a:gd name="T10" fmla="*/ 8 w 25"/>
                <a:gd name="T11" fmla="*/ 37 h 37"/>
                <a:gd name="T12" fmla="*/ 2 w 25"/>
                <a:gd name="T13" fmla="*/ 35 h 37"/>
                <a:gd name="T14" fmla="*/ 0 w 25"/>
                <a:gd name="T15" fmla="*/ 31 h 37"/>
                <a:gd name="T16" fmla="*/ 4 w 25"/>
                <a:gd name="T17" fmla="*/ 23 h 37"/>
                <a:gd name="T18" fmla="*/ 12 w 25"/>
                <a:gd name="T19" fmla="*/ 14 h 37"/>
                <a:gd name="T20" fmla="*/ 18 w 25"/>
                <a:gd name="T21" fmla="*/ 4 h 37"/>
                <a:gd name="T22" fmla="*/ 23 w 25"/>
                <a:gd name="T23" fmla="*/ 0 h 37"/>
                <a:gd name="T24" fmla="*/ 25 w 25"/>
                <a:gd name="T25" fmla="*/ 4 h 3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5"/>
                <a:gd name="T40" fmla="*/ 0 h 37"/>
                <a:gd name="T41" fmla="*/ 25 w 25"/>
                <a:gd name="T42" fmla="*/ 37 h 3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5" h="37">
                  <a:moveTo>
                    <a:pt x="25" y="4"/>
                  </a:moveTo>
                  <a:lnTo>
                    <a:pt x="25" y="8"/>
                  </a:lnTo>
                  <a:lnTo>
                    <a:pt x="23" y="17"/>
                  </a:lnTo>
                  <a:lnTo>
                    <a:pt x="21" y="29"/>
                  </a:lnTo>
                  <a:lnTo>
                    <a:pt x="16" y="35"/>
                  </a:lnTo>
                  <a:lnTo>
                    <a:pt x="8" y="37"/>
                  </a:lnTo>
                  <a:lnTo>
                    <a:pt x="2" y="35"/>
                  </a:lnTo>
                  <a:lnTo>
                    <a:pt x="0" y="31"/>
                  </a:lnTo>
                  <a:lnTo>
                    <a:pt x="4" y="23"/>
                  </a:lnTo>
                  <a:lnTo>
                    <a:pt x="12" y="14"/>
                  </a:lnTo>
                  <a:lnTo>
                    <a:pt x="18" y="4"/>
                  </a:lnTo>
                  <a:lnTo>
                    <a:pt x="23" y="0"/>
                  </a:lnTo>
                  <a:lnTo>
                    <a:pt x="25" y="4"/>
                  </a:lnTo>
                  <a:close/>
                </a:path>
              </a:pathLst>
            </a:custGeom>
            <a:solidFill>
              <a:srgbClr val="8C602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pic>
        <p:nvPicPr>
          <p:cNvPr id="53260" name="Picture 17" descr="claimcenter.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27138" y="1014413"/>
            <a:ext cx="1366837"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90843225"/>
      </p:ext>
    </p:extLst>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|EOS~043|</a:t>
            </a:r>
            <a:endParaRPr lang="en-US" sz="100" dirty="0" err="1" smtClean="0">
              <a:solidFill>
                <a:srgbClr val="FFFFFF"/>
              </a:solidFill>
              <a:latin typeface="Arial"/>
              <a:cs typeface="Calibri" pitchFamily="34"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926" y="1741633"/>
            <a:ext cx="8113713" cy="39338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54274" name="Rectangle 2"/>
          <p:cNvSpPr>
            <a:spLocks noGrp="1" noChangeArrowheads="1"/>
          </p:cNvSpPr>
          <p:nvPr>
            <p:ph type="title"/>
          </p:nvPr>
        </p:nvSpPr>
        <p:spPr/>
        <p:txBody>
          <a:bodyPr/>
          <a:lstStyle/>
          <a:p>
            <a:pPr eaLnBrk="1" hangingPunct="1"/>
            <a:r>
              <a:rPr lang="en-US" dirty="0" smtClean="0"/>
              <a:t>Service provider reviews</a:t>
            </a:r>
          </a:p>
        </p:txBody>
      </p:sp>
      <p:sp>
        <p:nvSpPr>
          <p:cNvPr id="54275" name="Rectangle 52"/>
          <p:cNvSpPr>
            <a:spLocks noGrp="1" noChangeArrowheads="1"/>
          </p:cNvSpPr>
          <p:nvPr>
            <p:ph idx="1"/>
          </p:nvPr>
        </p:nvSpPr>
        <p:spPr>
          <a:xfrm>
            <a:off x="469926" y="836064"/>
            <a:ext cx="6729086" cy="724448"/>
          </a:xfrm>
        </p:spPr>
        <p:txBody>
          <a:bodyPr/>
          <a:lstStyle/>
          <a:p>
            <a:pPr marL="0" indent="0">
              <a:buNone/>
            </a:pPr>
            <a:r>
              <a:rPr lang="en-US" sz="2000" dirty="0" smtClean="0"/>
              <a:t>You can review and track the performance of a service provider at the claim level for different categories of service</a:t>
            </a:r>
            <a:br>
              <a:rPr lang="en-US" sz="2000" dirty="0" smtClean="0"/>
            </a:br>
            <a:endParaRPr lang="en-US" sz="2000" dirty="0" smtClean="0"/>
          </a:p>
        </p:txBody>
      </p:sp>
      <p:sp>
        <p:nvSpPr>
          <p:cNvPr id="54279" name="AutoShape 54"/>
          <p:cNvSpPr>
            <a:spLocks noChangeArrowheads="1"/>
          </p:cNvSpPr>
          <p:nvPr/>
        </p:nvSpPr>
        <p:spPr bwMode="auto">
          <a:xfrm>
            <a:off x="7740650" y="374650"/>
            <a:ext cx="1096963" cy="2371725"/>
          </a:xfrm>
          <a:prstGeom prst="cube">
            <a:avLst>
              <a:gd name="adj" fmla="val 10472"/>
            </a:avLst>
          </a:prstGeom>
          <a:solidFill>
            <a:schemeClr val="tx1"/>
          </a:solidFill>
          <a:ln w="28575">
            <a:solidFill>
              <a:schemeClr val="bg1"/>
            </a:solidFill>
            <a:miter lim="800000"/>
            <a:headEnd/>
            <a:tailEnd/>
          </a:ln>
        </p:spPr>
        <p:txBody>
          <a:bodyPr lIns="0" tIns="0" rIns="0" bIns="0" anchor="ctr">
            <a:spAutoFit/>
          </a:bodyPr>
          <a:lstStyle/>
          <a:p>
            <a:endParaRPr lang="en-US"/>
          </a:p>
        </p:txBody>
      </p:sp>
      <p:grpSp>
        <p:nvGrpSpPr>
          <p:cNvPr id="54281" name="Group 70"/>
          <p:cNvGrpSpPr>
            <a:grpSpLocks/>
          </p:cNvGrpSpPr>
          <p:nvPr/>
        </p:nvGrpSpPr>
        <p:grpSpPr bwMode="auto">
          <a:xfrm>
            <a:off x="7813675" y="1720850"/>
            <a:ext cx="676275" cy="542925"/>
            <a:chOff x="2496" y="1641"/>
            <a:chExt cx="767" cy="510"/>
          </a:xfrm>
        </p:grpSpPr>
        <p:sp>
          <p:nvSpPr>
            <p:cNvPr id="54302" name="AutoShape 71"/>
            <p:cNvSpPr>
              <a:spLocks noChangeArrowheads="1"/>
            </p:cNvSpPr>
            <p:nvPr/>
          </p:nvSpPr>
          <p:spPr bwMode="auto">
            <a:xfrm>
              <a:off x="2496" y="1641"/>
              <a:ext cx="767" cy="510"/>
            </a:xfrm>
            <a:prstGeom prst="cube">
              <a:avLst>
                <a:gd name="adj" fmla="val 18921"/>
              </a:avLst>
            </a:prstGeom>
            <a:solidFill>
              <a:srgbClr val="FFCC99"/>
            </a:solidFill>
            <a:ln w="12700">
              <a:solidFill>
                <a:schemeClr val="bg1"/>
              </a:solidFill>
              <a:miter lim="800000"/>
              <a:headEnd/>
              <a:tailEnd/>
            </a:ln>
          </p:spPr>
          <p:txBody>
            <a:bodyPr wrap="none" anchor="ctr"/>
            <a:lstStyle/>
            <a:p>
              <a:endParaRPr lang="en-US"/>
            </a:p>
          </p:txBody>
        </p:sp>
        <p:sp>
          <p:nvSpPr>
            <p:cNvPr id="54303" name="Rectangle 72"/>
            <p:cNvSpPr>
              <a:spLocks noChangeArrowheads="1"/>
            </p:cNvSpPr>
            <p:nvPr/>
          </p:nvSpPr>
          <p:spPr bwMode="auto">
            <a:xfrm>
              <a:off x="2718" y="1797"/>
              <a:ext cx="221" cy="354"/>
            </a:xfrm>
            <a:prstGeom prst="rect">
              <a:avLst/>
            </a:prstGeom>
            <a:solidFill>
              <a:srgbClr val="CC9900"/>
            </a:solidFill>
            <a:ln w="12700">
              <a:solidFill>
                <a:schemeClr val="bg1"/>
              </a:solidFill>
              <a:miter lim="800000"/>
              <a:headEnd/>
              <a:tailEnd/>
            </a:ln>
          </p:spPr>
          <p:txBody>
            <a:bodyPr wrap="none" anchor="ctr"/>
            <a:lstStyle/>
            <a:p>
              <a:endParaRPr lang="en-US"/>
            </a:p>
          </p:txBody>
        </p:sp>
        <p:sp>
          <p:nvSpPr>
            <p:cNvPr id="54304" name="Rectangle 73"/>
            <p:cNvSpPr>
              <a:spLocks noChangeArrowheads="1"/>
            </p:cNvSpPr>
            <p:nvPr/>
          </p:nvSpPr>
          <p:spPr bwMode="auto">
            <a:xfrm>
              <a:off x="2543"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54305" name="Rectangle 74"/>
            <p:cNvSpPr>
              <a:spLocks noChangeArrowheads="1"/>
            </p:cNvSpPr>
            <p:nvPr/>
          </p:nvSpPr>
          <p:spPr bwMode="auto">
            <a:xfrm>
              <a:off x="2987"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grpSp>
      <p:grpSp>
        <p:nvGrpSpPr>
          <p:cNvPr id="54282" name="Group 75"/>
          <p:cNvGrpSpPr>
            <a:grpSpLocks/>
          </p:cNvGrpSpPr>
          <p:nvPr/>
        </p:nvGrpSpPr>
        <p:grpSpPr bwMode="auto">
          <a:xfrm>
            <a:off x="8050213" y="2108200"/>
            <a:ext cx="638175" cy="473075"/>
            <a:chOff x="2943" y="3239"/>
            <a:chExt cx="725" cy="446"/>
          </a:xfrm>
        </p:grpSpPr>
        <p:sp>
          <p:nvSpPr>
            <p:cNvPr id="54284" name="Freeform 76"/>
            <p:cNvSpPr>
              <a:spLocks/>
            </p:cNvSpPr>
            <p:nvPr/>
          </p:nvSpPr>
          <p:spPr bwMode="auto">
            <a:xfrm>
              <a:off x="3485" y="3548"/>
              <a:ext cx="87" cy="137"/>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285" name="Freeform 77"/>
            <p:cNvSpPr>
              <a:spLocks/>
            </p:cNvSpPr>
            <p:nvPr/>
          </p:nvSpPr>
          <p:spPr bwMode="auto">
            <a:xfrm>
              <a:off x="3357" y="3450"/>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286" name="Freeform 78"/>
            <p:cNvSpPr>
              <a:spLocks/>
            </p:cNvSpPr>
            <p:nvPr/>
          </p:nvSpPr>
          <p:spPr bwMode="auto">
            <a:xfrm>
              <a:off x="2943" y="3288"/>
              <a:ext cx="725" cy="336"/>
            </a:xfrm>
            <a:custGeom>
              <a:avLst/>
              <a:gdLst>
                <a:gd name="T0" fmla="*/ 1 w 1140"/>
                <a:gd name="T1" fmla="*/ 1 h 526"/>
                <a:gd name="T2" fmla="*/ 1 w 1140"/>
                <a:gd name="T3" fmla="*/ 1 h 526"/>
                <a:gd name="T4" fmla="*/ 0 w 1140"/>
                <a:gd name="T5" fmla="*/ 1 h 526"/>
                <a:gd name="T6" fmla="*/ 1 w 1140"/>
                <a:gd name="T7" fmla="*/ 1 h 526"/>
                <a:gd name="T8" fmla="*/ 1 w 1140"/>
                <a:gd name="T9" fmla="*/ 1 h 526"/>
                <a:gd name="T10" fmla="*/ 1 w 1140"/>
                <a:gd name="T11" fmla="*/ 1 h 526"/>
                <a:gd name="T12" fmla="*/ 1 w 1140"/>
                <a:gd name="T13" fmla="*/ 1 h 526"/>
                <a:gd name="T14" fmla="*/ 1 w 1140"/>
                <a:gd name="T15" fmla="*/ 1 h 526"/>
                <a:gd name="T16" fmla="*/ 1 w 1140"/>
                <a:gd name="T17" fmla="*/ 1 h 526"/>
                <a:gd name="T18" fmla="*/ 1 w 1140"/>
                <a:gd name="T19" fmla="*/ 1 h 526"/>
                <a:gd name="T20" fmla="*/ 1 w 1140"/>
                <a:gd name="T21" fmla="*/ 1 h 526"/>
                <a:gd name="T22" fmla="*/ 1 w 1140"/>
                <a:gd name="T23" fmla="*/ 1 h 526"/>
                <a:gd name="T24" fmla="*/ 1 w 1140"/>
                <a:gd name="T25" fmla="*/ 1 h 526"/>
                <a:gd name="T26" fmla="*/ 1 w 1140"/>
                <a:gd name="T27" fmla="*/ 0 h 526"/>
                <a:gd name="T28" fmla="*/ 1 w 1140"/>
                <a:gd name="T29" fmla="*/ 0 h 526"/>
                <a:gd name="T30" fmla="*/ 1 w 1140"/>
                <a:gd name="T31" fmla="*/ 1 h 526"/>
                <a:gd name="T32" fmla="*/ 1 w 1140"/>
                <a:gd name="T33" fmla="*/ 1 h 526"/>
                <a:gd name="T34" fmla="*/ 1 w 1140"/>
                <a:gd name="T35" fmla="*/ 1 h 526"/>
                <a:gd name="T36" fmla="*/ 2 w 1140"/>
                <a:gd name="T37" fmla="*/ 1 h 526"/>
                <a:gd name="T38" fmla="*/ 2 w 1140"/>
                <a:gd name="T39" fmla="*/ 1 h 526"/>
                <a:gd name="T40" fmla="*/ 2 w 1140"/>
                <a:gd name="T41" fmla="*/ 1 h 526"/>
                <a:gd name="T42" fmla="*/ 2 w 1140"/>
                <a:gd name="T43" fmla="*/ 1 h 526"/>
                <a:gd name="T44" fmla="*/ 2 w 1140"/>
                <a:gd name="T45" fmla="*/ 1 h 526"/>
                <a:gd name="T46" fmla="*/ 2 w 1140"/>
                <a:gd name="T47" fmla="*/ 1 h 526"/>
                <a:gd name="T48" fmla="*/ 2 w 1140"/>
                <a:gd name="T49" fmla="*/ 1 h 526"/>
                <a:gd name="T50" fmla="*/ 2 w 1140"/>
                <a:gd name="T51" fmla="*/ 1 h 526"/>
                <a:gd name="T52" fmla="*/ 2 w 1140"/>
                <a:gd name="T53" fmla="*/ 1 h 526"/>
                <a:gd name="T54" fmla="*/ 2 w 1140"/>
                <a:gd name="T55" fmla="*/ 1 h 526"/>
                <a:gd name="T56" fmla="*/ 2 w 1140"/>
                <a:gd name="T57" fmla="*/ 1 h 526"/>
                <a:gd name="T58" fmla="*/ 2 w 1140"/>
                <a:gd name="T59" fmla="*/ 1 h 526"/>
                <a:gd name="T60" fmla="*/ 2 w 1140"/>
                <a:gd name="T61" fmla="*/ 1 h 526"/>
                <a:gd name="T62" fmla="*/ 2 w 1140"/>
                <a:gd name="T63" fmla="*/ 1 h 526"/>
                <a:gd name="T64" fmla="*/ 2 w 1140"/>
                <a:gd name="T65" fmla="*/ 1 h 526"/>
                <a:gd name="T66" fmla="*/ 2 w 1140"/>
                <a:gd name="T67" fmla="*/ 1 h 526"/>
                <a:gd name="T68" fmla="*/ 2 w 1140"/>
                <a:gd name="T69" fmla="*/ 1 h 526"/>
                <a:gd name="T70" fmla="*/ 2 w 1140"/>
                <a:gd name="T71" fmla="*/ 1 h 526"/>
                <a:gd name="T72" fmla="*/ 2 w 1140"/>
                <a:gd name="T73" fmla="*/ 1 h 526"/>
                <a:gd name="T74" fmla="*/ 2 w 1140"/>
                <a:gd name="T75" fmla="*/ 1 h 526"/>
                <a:gd name="T76" fmla="*/ 2 w 1140"/>
                <a:gd name="T77" fmla="*/ 1 h 526"/>
                <a:gd name="T78" fmla="*/ 2 w 1140"/>
                <a:gd name="T79" fmla="*/ 1 h 526"/>
                <a:gd name="T80" fmla="*/ 2 w 1140"/>
                <a:gd name="T81" fmla="*/ 1 h 526"/>
                <a:gd name="T82" fmla="*/ 1 w 1140"/>
                <a:gd name="T83" fmla="*/ 1 h 526"/>
                <a:gd name="T84" fmla="*/ 1 w 1140"/>
                <a:gd name="T85" fmla="*/ 1 h 526"/>
                <a:gd name="T86" fmla="*/ 1 w 1140"/>
                <a:gd name="T87" fmla="*/ 1 h 526"/>
                <a:gd name="T88" fmla="*/ 1 w 1140"/>
                <a:gd name="T89" fmla="*/ 1 h 526"/>
                <a:gd name="T90" fmla="*/ 1 w 1140"/>
                <a:gd name="T91" fmla="*/ 1 h 526"/>
                <a:gd name="T92" fmla="*/ 1 w 1140"/>
                <a:gd name="T93" fmla="*/ 1 h 526"/>
                <a:gd name="T94" fmla="*/ 1 w 1140"/>
                <a:gd name="T95" fmla="*/ 1 h 526"/>
                <a:gd name="T96" fmla="*/ 1 w 1140"/>
                <a:gd name="T97" fmla="*/ 1 h 526"/>
                <a:gd name="T98" fmla="*/ 1 w 1140"/>
                <a:gd name="T99" fmla="*/ 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54287" name="Freeform 79"/>
            <p:cNvSpPr>
              <a:spLocks/>
            </p:cNvSpPr>
            <p:nvPr/>
          </p:nvSpPr>
          <p:spPr bwMode="auto">
            <a:xfrm>
              <a:off x="3113" y="3325"/>
              <a:ext cx="121" cy="130"/>
            </a:xfrm>
            <a:custGeom>
              <a:avLst/>
              <a:gdLst>
                <a:gd name="T0" fmla="*/ 0 w 189"/>
                <a:gd name="T1" fmla="*/ 1 h 204"/>
                <a:gd name="T2" fmla="*/ 1 w 189"/>
                <a:gd name="T3" fmla="*/ 1 h 204"/>
                <a:gd name="T4" fmla="*/ 1 w 189"/>
                <a:gd name="T5" fmla="*/ 1 h 204"/>
                <a:gd name="T6" fmla="*/ 1 w 189"/>
                <a:gd name="T7" fmla="*/ 1 h 204"/>
                <a:gd name="T8" fmla="*/ 1 w 189"/>
                <a:gd name="T9" fmla="*/ 1 h 204"/>
                <a:gd name="T10" fmla="*/ 1 w 189"/>
                <a:gd name="T11" fmla="*/ 1 h 204"/>
                <a:gd name="T12" fmla="*/ 1 w 189"/>
                <a:gd name="T13" fmla="*/ 0 h 204"/>
                <a:gd name="T14" fmla="*/ 1 w 189"/>
                <a:gd name="T15" fmla="*/ 1 h 204"/>
                <a:gd name="T16" fmla="*/ 0 w 189"/>
                <a:gd name="T17" fmla="*/ 1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54288" name="Freeform 80"/>
            <p:cNvSpPr>
              <a:spLocks/>
            </p:cNvSpPr>
            <p:nvPr/>
          </p:nvSpPr>
          <p:spPr bwMode="auto">
            <a:xfrm>
              <a:off x="3255" y="3322"/>
              <a:ext cx="160" cy="135"/>
            </a:xfrm>
            <a:custGeom>
              <a:avLst/>
              <a:gdLst>
                <a:gd name="T0" fmla="*/ 1 w 252"/>
                <a:gd name="T1" fmla="*/ 1 h 213"/>
                <a:gd name="T2" fmla="*/ 0 w 252"/>
                <a:gd name="T3" fmla="*/ 0 h 213"/>
                <a:gd name="T4" fmla="*/ 1 w 252"/>
                <a:gd name="T5" fmla="*/ 0 h 213"/>
                <a:gd name="T6" fmla="*/ 1 w 252"/>
                <a:gd name="T7" fmla="*/ 1 h 213"/>
                <a:gd name="T8" fmla="*/ 1 w 252"/>
                <a:gd name="T9" fmla="*/ 1 h 213"/>
                <a:gd name="T10" fmla="*/ 1 w 252"/>
                <a:gd name="T11" fmla="*/ 1 h 213"/>
                <a:gd name="T12" fmla="*/ 1 w 252"/>
                <a:gd name="T13" fmla="*/ 1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54289" name="Freeform 81"/>
            <p:cNvSpPr>
              <a:spLocks/>
            </p:cNvSpPr>
            <p:nvPr/>
          </p:nvSpPr>
          <p:spPr bwMode="auto">
            <a:xfrm>
              <a:off x="3360" y="3383"/>
              <a:ext cx="45" cy="63"/>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290" name="Freeform 82"/>
            <p:cNvSpPr>
              <a:spLocks/>
            </p:cNvSpPr>
            <p:nvPr/>
          </p:nvSpPr>
          <p:spPr bwMode="auto">
            <a:xfrm>
              <a:off x="3362" y="3431"/>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291" name="Freeform 83"/>
            <p:cNvSpPr>
              <a:spLocks/>
            </p:cNvSpPr>
            <p:nvPr/>
          </p:nvSpPr>
          <p:spPr bwMode="auto">
            <a:xfrm>
              <a:off x="3367" y="3401"/>
              <a:ext cx="33" cy="23"/>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292" name="Freeform 84"/>
            <p:cNvSpPr>
              <a:spLocks/>
            </p:cNvSpPr>
            <p:nvPr/>
          </p:nvSpPr>
          <p:spPr bwMode="auto">
            <a:xfrm>
              <a:off x="3245" y="3415"/>
              <a:ext cx="195" cy="185"/>
            </a:xfrm>
            <a:custGeom>
              <a:avLst/>
              <a:gdLst>
                <a:gd name="T0" fmla="*/ 0 w 306"/>
                <a:gd name="T1" fmla="*/ 1 h 290"/>
                <a:gd name="T2" fmla="*/ 1 w 306"/>
                <a:gd name="T3" fmla="*/ 1 h 290"/>
                <a:gd name="T4" fmla="*/ 1 w 306"/>
                <a:gd name="T5" fmla="*/ 1 h 290"/>
                <a:gd name="T6" fmla="*/ 1 w 306"/>
                <a:gd name="T7" fmla="*/ 1 h 290"/>
                <a:gd name="T8" fmla="*/ 1 w 306"/>
                <a:gd name="T9" fmla="*/ 1 h 290"/>
                <a:gd name="T10" fmla="*/ 1 w 306"/>
                <a:gd name="T11" fmla="*/ 1 h 290"/>
                <a:gd name="T12" fmla="*/ 1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54293" name="Freeform 85"/>
            <p:cNvSpPr>
              <a:spLocks/>
            </p:cNvSpPr>
            <p:nvPr/>
          </p:nvSpPr>
          <p:spPr bwMode="auto">
            <a:xfrm rot="1661969">
              <a:off x="3494" y="3239"/>
              <a:ext cx="130" cy="102"/>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54294" name="Line 86"/>
            <p:cNvSpPr>
              <a:spLocks noChangeShapeType="1"/>
            </p:cNvSpPr>
            <p:nvPr/>
          </p:nvSpPr>
          <p:spPr bwMode="auto">
            <a:xfrm flipH="1" flipV="1">
              <a:off x="3544" y="3332"/>
              <a:ext cx="5" cy="7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4295" name="Line 87"/>
            <p:cNvSpPr>
              <a:spLocks noChangeShapeType="1"/>
            </p:cNvSpPr>
            <p:nvPr/>
          </p:nvSpPr>
          <p:spPr bwMode="auto">
            <a:xfrm flipV="1">
              <a:off x="3565" y="3332"/>
              <a:ext cx="22" cy="7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4296" name="Oval 88"/>
            <p:cNvSpPr>
              <a:spLocks noChangeArrowheads="1"/>
            </p:cNvSpPr>
            <p:nvPr/>
          </p:nvSpPr>
          <p:spPr bwMode="auto">
            <a:xfrm>
              <a:off x="3034" y="3568"/>
              <a:ext cx="103" cy="101"/>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54297" name="Freeform 89"/>
            <p:cNvSpPr>
              <a:spLocks/>
            </p:cNvSpPr>
            <p:nvPr/>
          </p:nvSpPr>
          <p:spPr bwMode="auto">
            <a:xfrm>
              <a:off x="3022" y="3556"/>
              <a:ext cx="126" cy="126"/>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298" name="Freeform 90"/>
            <p:cNvSpPr>
              <a:spLocks/>
            </p:cNvSpPr>
            <p:nvPr/>
          </p:nvSpPr>
          <p:spPr bwMode="auto">
            <a:xfrm>
              <a:off x="3049" y="3661"/>
              <a:ext cx="24" cy="15"/>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299" name="Oval 91"/>
            <p:cNvSpPr>
              <a:spLocks noChangeArrowheads="1"/>
            </p:cNvSpPr>
            <p:nvPr/>
          </p:nvSpPr>
          <p:spPr bwMode="auto">
            <a:xfrm>
              <a:off x="3492" y="3528"/>
              <a:ext cx="80" cy="138"/>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54300" name="Freeform 92"/>
            <p:cNvSpPr>
              <a:spLocks/>
            </p:cNvSpPr>
            <p:nvPr/>
          </p:nvSpPr>
          <p:spPr bwMode="auto">
            <a:xfrm>
              <a:off x="3484" y="3518"/>
              <a:ext cx="99" cy="158"/>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301" name="Freeform 93"/>
            <p:cNvSpPr>
              <a:spLocks/>
            </p:cNvSpPr>
            <p:nvPr/>
          </p:nvSpPr>
          <p:spPr bwMode="auto">
            <a:xfrm>
              <a:off x="3499" y="3646"/>
              <a:ext cx="21" cy="19"/>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pic>
        <p:nvPicPr>
          <p:cNvPr id="48" name="Picture 17" descr="claimcenter.png"/>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97346" y="672308"/>
            <a:ext cx="683418"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ounded Rectangle 1"/>
          <p:cNvSpPr/>
          <p:nvPr/>
        </p:nvSpPr>
        <p:spPr bwMode="auto">
          <a:xfrm>
            <a:off x="1916482" y="2267836"/>
            <a:ext cx="3820439" cy="287982"/>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3" name="Rounded Rectangle 2"/>
          <p:cNvSpPr/>
          <p:nvPr/>
        </p:nvSpPr>
        <p:spPr bwMode="auto">
          <a:xfrm>
            <a:off x="1928738" y="3893619"/>
            <a:ext cx="501312" cy="315126"/>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 name="Arc 3"/>
          <p:cNvSpPr/>
          <p:nvPr/>
        </p:nvSpPr>
        <p:spPr bwMode="auto">
          <a:xfrm>
            <a:off x="1916482" y="2568749"/>
            <a:ext cx="363255" cy="2654604"/>
          </a:xfrm>
          <a:prstGeom prst="arc">
            <a:avLst/>
          </a:prstGeom>
          <a:noFill/>
          <a:ln w="19050" cap="flat" cmpd="sng" algn="ctr">
            <a:solidFill>
              <a:srgbClr val="C00000"/>
            </a:solidFill>
            <a:prstDash val="solid"/>
            <a:round/>
            <a:headEnd type="none" w="med" len="med"/>
            <a:tailEnd type="triangle" w="med" len="med"/>
          </a:ln>
          <a:effectLst/>
        </p:spPr>
        <p:txBody>
          <a:bodyPr rtlCol="0" anchor="ctr"/>
          <a:lstStyle/>
          <a:p>
            <a:pPr algn="ctr"/>
            <a:endParaRPr lang="en-US"/>
          </a:p>
        </p:txBody>
      </p:sp>
    </p:spTree>
    <p:extLst>
      <p:ext uri="{BB962C8B-B14F-4D97-AF65-F5344CB8AC3E}">
        <p14:creationId xmlns:p14="http://schemas.microsoft.com/office/powerpoint/2010/main" val="3608911860"/>
      </p:ext>
    </p:extLst>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|EOS~044|</a:t>
            </a:r>
            <a:endParaRPr lang="en-US" sz="100" dirty="0" err="1" smtClean="0">
              <a:solidFill>
                <a:srgbClr val="FFFFFF"/>
              </a:solidFill>
              <a:latin typeface="Arial"/>
              <a:cs typeface="Calibri" pitchFamily="34" charset="0"/>
            </a:endParaRPr>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r="44922"/>
          <a:stretch/>
        </p:blipFill>
        <p:spPr bwMode="auto">
          <a:xfrm>
            <a:off x="791410" y="1635916"/>
            <a:ext cx="3978735" cy="396790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55299" name="Rectangle 2"/>
          <p:cNvSpPr>
            <a:spLocks noGrp="1" noChangeArrowheads="1"/>
          </p:cNvSpPr>
          <p:nvPr>
            <p:ph type="title"/>
          </p:nvPr>
        </p:nvSpPr>
        <p:spPr>
          <a:xfrm>
            <a:off x="366713" y="120650"/>
            <a:ext cx="8648700" cy="742950"/>
          </a:xfrm>
        </p:spPr>
        <p:txBody>
          <a:bodyPr/>
          <a:lstStyle/>
          <a:p>
            <a:pPr eaLnBrk="1" hangingPunct="1"/>
            <a:r>
              <a:rPr lang="en-US" sz="3200" dirty="0" smtClean="0"/>
              <a:t>Search by preferred status and/or review scores</a:t>
            </a:r>
          </a:p>
        </p:txBody>
      </p:sp>
      <p:sp>
        <p:nvSpPr>
          <p:cNvPr id="55306" name="AutoShape 16"/>
          <p:cNvSpPr>
            <a:spLocks noChangeArrowheads="1"/>
          </p:cNvSpPr>
          <p:nvPr/>
        </p:nvSpPr>
        <p:spPr bwMode="auto">
          <a:xfrm>
            <a:off x="7294870" y="1632964"/>
            <a:ext cx="1677987" cy="2967037"/>
          </a:xfrm>
          <a:prstGeom prst="cube">
            <a:avLst>
              <a:gd name="adj" fmla="val 10472"/>
            </a:avLst>
          </a:prstGeom>
          <a:solidFill>
            <a:schemeClr val="tx1"/>
          </a:solidFill>
          <a:ln w="28575">
            <a:solidFill>
              <a:schemeClr val="bg1"/>
            </a:solidFill>
            <a:miter lim="800000"/>
            <a:headEnd/>
            <a:tailEnd/>
          </a:ln>
        </p:spPr>
        <p:txBody>
          <a:bodyPr lIns="0" tIns="0" rIns="0" bIns="0" anchor="ctr">
            <a:spAutoFit/>
          </a:bodyPr>
          <a:lstStyle/>
          <a:p>
            <a:endParaRPr lang="en-US"/>
          </a:p>
        </p:txBody>
      </p:sp>
      <p:sp>
        <p:nvSpPr>
          <p:cNvPr id="55307" name="AutoShape 17"/>
          <p:cNvSpPr>
            <a:spLocks noChangeArrowheads="1"/>
          </p:cNvSpPr>
          <p:nvPr/>
        </p:nvSpPr>
        <p:spPr bwMode="auto">
          <a:xfrm>
            <a:off x="7341125" y="2988689"/>
            <a:ext cx="587375" cy="587375"/>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grpSp>
        <p:nvGrpSpPr>
          <p:cNvPr id="55308" name="Group 18"/>
          <p:cNvGrpSpPr>
            <a:grpSpLocks/>
          </p:cNvGrpSpPr>
          <p:nvPr/>
        </p:nvGrpSpPr>
        <p:grpSpPr bwMode="auto">
          <a:xfrm>
            <a:off x="7518598" y="1945701"/>
            <a:ext cx="1109663" cy="969963"/>
            <a:chOff x="1305" y="2500"/>
            <a:chExt cx="1138" cy="995"/>
          </a:xfrm>
        </p:grpSpPr>
        <p:sp>
          <p:nvSpPr>
            <p:cNvPr id="55323" name="Freeform 19"/>
            <p:cNvSpPr>
              <a:spLocks/>
            </p:cNvSpPr>
            <p:nvPr/>
          </p:nvSpPr>
          <p:spPr bwMode="auto">
            <a:xfrm>
              <a:off x="1305" y="2500"/>
              <a:ext cx="1138" cy="995"/>
            </a:xfrm>
            <a:custGeom>
              <a:avLst/>
              <a:gdLst>
                <a:gd name="T0" fmla="*/ 444 w 1138"/>
                <a:gd name="T1" fmla="*/ 1 h 995"/>
                <a:gd name="T2" fmla="*/ 490 w 1138"/>
                <a:gd name="T3" fmla="*/ 0 h 995"/>
                <a:gd name="T4" fmla="*/ 532 w 1138"/>
                <a:gd name="T5" fmla="*/ 10 h 995"/>
                <a:gd name="T6" fmla="*/ 600 w 1138"/>
                <a:gd name="T7" fmla="*/ 40 h 995"/>
                <a:gd name="T8" fmla="*/ 668 w 1138"/>
                <a:gd name="T9" fmla="*/ 66 h 995"/>
                <a:gd name="T10" fmla="*/ 737 w 1138"/>
                <a:gd name="T11" fmla="*/ 85 h 995"/>
                <a:gd name="T12" fmla="*/ 808 w 1138"/>
                <a:gd name="T13" fmla="*/ 101 h 995"/>
                <a:gd name="T14" fmla="*/ 882 w 1138"/>
                <a:gd name="T15" fmla="*/ 111 h 995"/>
                <a:gd name="T16" fmla="*/ 953 w 1138"/>
                <a:gd name="T17" fmla="*/ 125 h 995"/>
                <a:gd name="T18" fmla="*/ 1011 w 1138"/>
                <a:gd name="T19" fmla="*/ 163 h 995"/>
                <a:gd name="T20" fmla="*/ 1036 w 1138"/>
                <a:gd name="T21" fmla="*/ 228 h 995"/>
                <a:gd name="T22" fmla="*/ 1082 w 1138"/>
                <a:gd name="T23" fmla="*/ 252 h 995"/>
                <a:gd name="T24" fmla="*/ 1120 w 1138"/>
                <a:gd name="T25" fmla="*/ 287 h 995"/>
                <a:gd name="T26" fmla="*/ 1137 w 1138"/>
                <a:gd name="T27" fmla="*/ 342 h 995"/>
                <a:gd name="T28" fmla="*/ 1134 w 1138"/>
                <a:gd name="T29" fmla="*/ 405 h 995"/>
                <a:gd name="T30" fmla="*/ 1111 w 1138"/>
                <a:gd name="T31" fmla="*/ 463 h 995"/>
                <a:gd name="T32" fmla="*/ 1068 w 1138"/>
                <a:gd name="T33" fmla="*/ 515 h 995"/>
                <a:gd name="T34" fmla="*/ 1026 w 1138"/>
                <a:gd name="T35" fmla="*/ 568 h 995"/>
                <a:gd name="T36" fmla="*/ 984 w 1138"/>
                <a:gd name="T37" fmla="*/ 627 h 995"/>
                <a:gd name="T38" fmla="*/ 965 w 1138"/>
                <a:gd name="T39" fmla="*/ 646 h 995"/>
                <a:gd name="T40" fmla="*/ 947 w 1138"/>
                <a:gd name="T41" fmla="*/ 664 h 995"/>
                <a:gd name="T42" fmla="*/ 918 w 1138"/>
                <a:gd name="T43" fmla="*/ 712 h 995"/>
                <a:gd name="T44" fmla="*/ 864 w 1138"/>
                <a:gd name="T45" fmla="*/ 796 h 995"/>
                <a:gd name="T46" fmla="*/ 802 w 1138"/>
                <a:gd name="T47" fmla="*/ 881 h 995"/>
                <a:gd name="T48" fmla="*/ 763 w 1138"/>
                <a:gd name="T49" fmla="*/ 927 h 995"/>
                <a:gd name="T50" fmla="*/ 741 w 1138"/>
                <a:gd name="T51" fmla="*/ 950 h 995"/>
                <a:gd name="T52" fmla="*/ 715 w 1138"/>
                <a:gd name="T53" fmla="*/ 963 h 995"/>
                <a:gd name="T54" fmla="*/ 670 w 1138"/>
                <a:gd name="T55" fmla="*/ 975 h 995"/>
                <a:gd name="T56" fmla="*/ 627 w 1138"/>
                <a:gd name="T57" fmla="*/ 985 h 995"/>
                <a:gd name="T58" fmla="*/ 584 w 1138"/>
                <a:gd name="T59" fmla="*/ 993 h 995"/>
                <a:gd name="T60" fmla="*/ 543 w 1138"/>
                <a:gd name="T61" fmla="*/ 995 h 995"/>
                <a:gd name="T62" fmla="*/ 500 w 1138"/>
                <a:gd name="T63" fmla="*/ 988 h 995"/>
                <a:gd name="T64" fmla="*/ 464 w 1138"/>
                <a:gd name="T65" fmla="*/ 975 h 995"/>
                <a:gd name="T66" fmla="*/ 421 w 1138"/>
                <a:gd name="T67" fmla="*/ 953 h 995"/>
                <a:gd name="T68" fmla="*/ 369 w 1138"/>
                <a:gd name="T69" fmla="*/ 925 h 995"/>
                <a:gd name="T70" fmla="*/ 317 w 1138"/>
                <a:gd name="T71" fmla="*/ 899 h 995"/>
                <a:gd name="T72" fmla="*/ 275 w 1138"/>
                <a:gd name="T73" fmla="*/ 878 h 995"/>
                <a:gd name="T74" fmla="*/ 219 w 1138"/>
                <a:gd name="T75" fmla="*/ 861 h 995"/>
                <a:gd name="T76" fmla="*/ 151 w 1138"/>
                <a:gd name="T77" fmla="*/ 851 h 995"/>
                <a:gd name="T78" fmla="*/ 86 w 1138"/>
                <a:gd name="T79" fmla="*/ 827 h 995"/>
                <a:gd name="T80" fmla="*/ 18 w 1138"/>
                <a:gd name="T81" fmla="*/ 764 h 995"/>
                <a:gd name="T82" fmla="*/ 0 w 1138"/>
                <a:gd name="T83" fmla="*/ 678 h 995"/>
                <a:gd name="T84" fmla="*/ 15 w 1138"/>
                <a:gd name="T85" fmla="*/ 590 h 995"/>
                <a:gd name="T86" fmla="*/ 52 w 1138"/>
                <a:gd name="T87" fmla="*/ 520 h 995"/>
                <a:gd name="T88" fmla="*/ 110 w 1138"/>
                <a:gd name="T89" fmla="*/ 462 h 995"/>
                <a:gd name="T90" fmla="*/ 166 w 1138"/>
                <a:gd name="T91" fmla="*/ 392 h 995"/>
                <a:gd name="T92" fmla="*/ 217 w 1138"/>
                <a:gd name="T93" fmla="*/ 316 h 995"/>
                <a:gd name="T94" fmla="*/ 263 w 1138"/>
                <a:gd name="T95" fmla="*/ 239 h 995"/>
                <a:gd name="T96" fmla="*/ 308 w 1138"/>
                <a:gd name="T97" fmla="*/ 156 h 995"/>
                <a:gd name="T98" fmla="*/ 365 w 1138"/>
                <a:gd name="T99" fmla="*/ 58 h 995"/>
                <a:gd name="T100" fmla="*/ 413 w 1138"/>
                <a:gd name="T101" fmla="*/ 5 h 99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38"/>
                <a:gd name="T154" fmla="*/ 0 h 995"/>
                <a:gd name="T155" fmla="*/ 1138 w 1138"/>
                <a:gd name="T156" fmla="*/ 995 h 99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38" h="995">
                  <a:moveTo>
                    <a:pt x="413" y="5"/>
                  </a:moveTo>
                  <a:lnTo>
                    <a:pt x="429" y="2"/>
                  </a:lnTo>
                  <a:lnTo>
                    <a:pt x="444" y="1"/>
                  </a:lnTo>
                  <a:lnTo>
                    <a:pt x="460" y="0"/>
                  </a:lnTo>
                  <a:lnTo>
                    <a:pt x="475" y="0"/>
                  </a:lnTo>
                  <a:lnTo>
                    <a:pt x="490" y="0"/>
                  </a:lnTo>
                  <a:lnTo>
                    <a:pt x="504" y="2"/>
                  </a:lnTo>
                  <a:lnTo>
                    <a:pt x="518" y="5"/>
                  </a:lnTo>
                  <a:lnTo>
                    <a:pt x="532" y="10"/>
                  </a:lnTo>
                  <a:lnTo>
                    <a:pt x="554" y="20"/>
                  </a:lnTo>
                  <a:lnTo>
                    <a:pt x="578" y="31"/>
                  </a:lnTo>
                  <a:lnTo>
                    <a:pt x="600" y="40"/>
                  </a:lnTo>
                  <a:lnTo>
                    <a:pt x="623" y="49"/>
                  </a:lnTo>
                  <a:lnTo>
                    <a:pt x="645" y="57"/>
                  </a:lnTo>
                  <a:lnTo>
                    <a:pt x="668" y="66"/>
                  </a:lnTo>
                  <a:lnTo>
                    <a:pt x="692" y="72"/>
                  </a:lnTo>
                  <a:lnTo>
                    <a:pt x="714" y="79"/>
                  </a:lnTo>
                  <a:lnTo>
                    <a:pt x="737" y="85"/>
                  </a:lnTo>
                  <a:lnTo>
                    <a:pt x="760" y="92"/>
                  </a:lnTo>
                  <a:lnTo>
                    <a:pt x="785" y="97"/>
                  </a:lnTo>
                  <a:lnTo>
                    <a:pt x="808" y="101"/>
                  </a:lnTo>
                  <a:lnTo>
                    <a:pt x="833" y="105"/>
                  </a:lnTo>
                  <a:lnTo>
                    <a:pt x="857" y="108"/>
                  </a:lnTo>
                  <a:lnTo>
                    <a:pt x="882" y="111"/>
                  </a:lnTo>
                  <a:lnTo>
                    <a:pt x="906" y="114"/>
                  </a:lnTo>
                  <a:lnTo>
                    <a:pt x="930" y="119"/>
                  </a:lnTo>
                  <a:lnTo>
                    <a:pt x="953" y="125"/>
                  </a:lnTo>
                  <a:lnTo>
                    <a:pt x="975" y="136"/>
                  </a:lnTo>
                  <a:lnTo>
                    <a:pt x="994" y="147"/>
                  </a:lnTo>
                  <a:lnTo>
                    <a:pt x="1011" y="163"/>
                  </a:lnTo>
                  <a:lnTo>
                    <a:pt x="1024" y="181"/>
                  </a:lnTo>
                  <a:lnTo>
                    <a:pt x="1033" y="202"/>
                  </a:lnTo>
                  <a:lnTo>
                    <a:pt x="1036" y="228"/>
                  </a:lnTo>
                  <a:lnTo>
                    <a:pt x="1051" y="235"/>
                  </a:lnTo>
                  <a:lnTo>
                    <a:pt x="1067" y="243"/>
                  </a:lnTo>
                  <a:lnTo>
                    <a:pt x="1082" y="252"/>
                  </a:lnTo>
                  <a:lnTo>
                    <a:pt x="1097" y="263"/>
                  </a:lnTo>
                  <a:lnTo>
                    <a:pt x="1110" y="274"/>
                  </a:lnTo>
                  <a:lnTo>
                    <a:pt x="1120" y="287"/>
                  </a:lnTo>
                  <a:lnTo>
                    <a:pt x="1129" y="303"/>
                  </a:lnTo>
                  <a:lnTo>
                    <a:pt x="1134" y="321"/>
                  </a:lnTo>
                  <a:lnTo>
                    <a:pt x="1137" y="342"/>
                  </a:lnTo>
                  <a:lnTo>
                    <a:pt x="1138" y="364"/>
                  </a:lnTo>
                  <a:lnTo>
                    <a:pt x="1137" y="384"/>
                  </a:lnTo>
                  <a:lnTo>
                    <a:pt x="1134" y="405"/>
                  </a:lnTo>
                  <a:lnTo>
                    <a:pt x="1128" y="426"/>
                  </a:lnTo>
                  <a:lnTo>
                    <a:pt x="1120" y="445"/>
                  </a:lnTo>
                  <a:lnTo>
                    <a:pt x="1111" y="463"/>
                  </a:lnTo>
                  <a:lnTo>
                    <a:pt x="1098" y="482"/>
                  </a:lnTo>
                  <a:lnTo>
                    <a:pt x="1082" y="498"/>
                  </a:lnTo>
                  <a:lnTo>
                    <a:pt x="1068" y="515"/>
                  </a:lnTo>
                  <a:lnTo>
                    <a:pt x="1053" y="533"/>
                  </a:lnTo>
                  <a:lnTo>
                    <a:pt x="1040" y="550"/>
                  </a:lnTo>
                  <a:lnTo>
                    <a:pt x="1026" y="568"/>
                  </a:lnTo>
                  <a:lnTo>
                    <a:pt x="1011" y="586"/>
                  </a:lnTo>
                  <a:lnTo>
                    <a:pt x="998" y="606"/>
                  </a:lnTo>
                  <a:lnTo>
                    <a:pt x="984" y="627"/>
                  </a:lnTo>
                  <a:lnTo>
                    <a:pt x="978" y="634"/>
                  </a:lnTo>
                  <a:lnTo>
                    <a:pt x="971" y="641"/>
                  </a:lnTo>
                  <a:lnTo>
                    <a:pt x="965" y="646"/>
                  </a:lnTo>
                  <a:lnTo>
                    <a:pt x="960" y="653"/>
                  </a:lnTo>
                  <a:lnTo>
                    <a:pt x="953" y="659"/>
                  </a:lnTo>
                  <a:lnTo>
                    <a:pt x="947" y="664"/>
                  </a:lnTo>
                  <a:lnTo>
                    <a:pt x="941" y="671"/>
                  </a:lnTo>
                  <a:lnTo>
                    <a:pt x="938" y="678"/>
                  </a:lnTo>
                  <a:lnTo>
                    <a:pt x="918" y="712"/>
                  </a:lnTo>
                  <a:lnTo>
                    <a:pt x="900" y="742"/>
                  </a:lnTo>
                  <a:lnTo>
                    <a:pt x="882" y="770"/>
                  </a:lnTo>
                  <a:lnTo>
                    <a:pt x="864" y="796"/>
                  </a:lnTo>
                  <a:lnTo>
                    <a:pt x="844" y="824"/>
                  </a:lnTo>
                  <a:lnTo>
                    <a:pt x="824" y="851"/>
                  </a:lnTo>
                  <a:lnTo>
                    <a:pt x="802" y="881"/>
                  </a:lnTo>
                  <a:lnTo>
                    <a:pt x="777" y="912"/>
                  </a:lnTo>
                  <a:lnTo>
                    <a:pt x="769" y="919"/>
                  </a:lnTo>
                  <a:lnTo>
                    <a:pt x="763" y="927"/>
                  </a:lnTo>
                  <a:lnTo>
                    <a:pt x="755" y="936"/>
                  </a:lnTo>
                  <a:lnTo>
                    <a:pt x="749" y="943"/>
                  </a:lnTo>
                  <a:lnTo>
                    <a:pt x="741" y="950"/>
                  </a:lnTo>
                  <a:lnTo>
                    <a:pt x="733" y="956"/>
                  </a:lnTo>
                  <a:lnTo>
                    <a:pt x="724" y="961"/>
                  </a:lnTo>
                  <a:lnTo>
                    <a:pt x="715" y="963"/>
                  </a:lnTo>
                  <a:lnTo>
                    <a:pt x="699" y="967"/>
                  </a:lnTo>
                  <a:lnTo>
                    <a:pt x="684" y="971"/>
                  </a:lnTo>
                  <a:lnTo>
                    <a:pt x="670" y="975"/>
                  </a:lnTo>
                  <a:lnTo>
                    <a:pt x="655" y="979"/>
                  </a:lnTo>
                  <a:lnTo>
                    <a:pt x="641" y="983"/>
                  </a:lnTo>
                  <a:lnTo>
                    <a:pt x="627" y="985"/>
                  </a:lnTo>
                  <a:lnTo>
                    <a:pt x="613" y="989"/>
                  </a:lnTo>
                  <a:lnTo>
                    <a:pt x="598" y="991"/>
                  </a:lnTo>
                  <a:lnTo>
                    <a:pt x="584" y="993"/>
                  </a:lnTo>
                  <a:lnTo>
                    <a:pt x="570" y="995"/>
                  </a:lnTo>
                  <a:lnTo>
                    <a:pt x="557" y="995"/>
                  </a:lnTo>
                  <a:lnTo>
                    <a:pt x="543" y="995"/>
                  </a:lnTo>
                  <a:lnTo>
                    <a:pt x="528" y="993"/>
                  </a:lnTo>
                  <a:lnTo>
                    <a:pt x="514" y="992"/>
                  </a:lnTo>
                  <a:lnTo>
                    <a:pt x="500" y="988"/>
                  </a:lnTo>
                  <a:lnTo>
                    <a:pt x="486" y="984"/>
                  </a:lnTo>
                  <a:lnTo>
                    <a:pt x="475" y="980"/>
                  </a:lnTo>
                  <a:lnTo>
                    <a:pt x="464" y="975"/>
                  </a:lnTo>
                  <a:lnTo>
                    <a:pt x="451" y="969"/>
                  </a:lnTo>
                  <a:lnTo>
                    <a:pt x="437" y="961"/>
                  </a:lnTo>
                  <a:lnTo>
                    <a:pt x="421" y="953"/>
                  </a:lnTo>
                  <a:lnTo>
                    <a:pt x="404" y="944"/>
                  </a:lnTo>
                  <a:lnTo>
                    <a:pt x="386" y="935"/>
                  </a:lnTo>
                  <a:lnTo>
                    <a:pt x="369" y="925"/>
                  </a:lnTo>
                  <a:lnTo>
                    <a:pt x="352" y="915"/>
                  </a:lnTo>
                  <a:lnTo>
                    <a:pt x="334" y="906"/>
                  </a:lnTo>
                  <a:lnTo>
                    <a:pt x="317" y="899"/>
                  </a:lnTo>
                  <a:lnTo>
                    <a:pt x="302" y="890"/>
                  </a:lnTo>
                  <a:lnTo>
                    <a:pt x="288" y="883"/>
                  </a:lnTo>
                  <a:lnTo>
                    <a:pt x="275" y="878"/>
                  </a:lnTo>
                  <a:lnTo>
                    <a:pt x="263" y="873"/>
                  </a:lnTo>
                  <a:lnTo>
                    <a:pt x="253" y="870"/>
                  </a:lnTo>
                  <a:lnTo>
                    <a:pt x="219" y="861"/>
                  </a:lnTo>
                  <a:lnTo>
                    <a:pt x="193" y="856"/>
                  </a:lnTo>
                  <a:lnTo>
                    <a:pt x="170" y="853"/>
                  </a:lnTo>
                  <a:lnTo>
                    <a:pt x="151" y="851"/>
                  </a:lnTo>
                  <a:lnTo>
                    <a:pt x="131" y="847"/>
                  </a:lnTo>
                  <a:lnTo>
                    <a:pt x="110" y="839"/>
                  </a:lnTo>
                  <a:lnTo>
                    <a:pt x="86" y="827"/>
                  </a:lnTo>
                  <a:lnTo>
                    <a:pt x="56" y="808"/>
                  </a:lnTo>
                  <a:lnTo>
                    <a:pt x="34" y="789"/>
                  </a:lnTo>
                  <a:lnTo>
                    <a:pt x="18" y="764"/>
                  </a:lnTo>
                  <a:lnTo>
                    <a:pt x="8" y="738"/>
                  </a:lnTo>
                  <a:lnTo>
                    <a:pt x="3" y="708"/>
                  </a:lnTo>
                  <a:lnTo>
                    <a:pt x="0" y="678"/>
                  </a:lnTo>
                  <a:lnTo>
                    <a:pt x="3" y="649"/>
                  </a:lnTo>
                  <a:lnTo>
                    <a:pt x="8" y="619"/>
                  </a:lnTo>
                  <a:lnTo>
                    <a:pt x="15" y="590"/>
                  </a:lnTo>
                  <a:lnTo>
                    <a:pt x="22" y="564"/>
                  </a:lnTo>
                  <a:lnTo>
                    <a:pt x="35" y="541"/>
                  </a:lnTo>
                  <a:lnTo>
                    <a:pt x="52" y="520"/>
                  </a:lnTo>
                  <a:lnTo>
                    <a:pt x="70" y="501"/>
                  </a:lnTo>
                  <a:lnTo>
                    <a:pt x="90" y="482"/>
                  </a:lnTo>
                  <a:lnTo>
                    <a:pt x="110" y="462"/>
                  </a:lnTo>
                  <a:lnTo>
                    <a:pt x="131" y="441"/>
                  </a:lnTo>
                  <a:lnTo>
                    <a:pt x="149" y="419"/>
                  </a:lnTo>
                  <a:lnTo>
                    <a:pt x="166" y="392"/>
                  </a:lnTo>
                  <a:lnTo>
                    <a:pt x="183" y="366"/>
                  </a:lnTo>
                  <a:lnTo>
                    <a:pt x="200" y="342"/>
                  </a:lnTo>
                  <a:lnTo>
                    <a:pt x="217" y="316"/>
                  </a:lnTo>
                  <a:lnTo>
                    <a:pt x="232" y="290"/>
                  </a:lnTo>
                  <a:lnTo>
                    <a:pt x="248" y="265"/>
                  </a:lnTo>
                  <a:lnTo>
                    <a:pt x="263" y="239"/>
                  </a:lnTo>
                  <a:lnTo>
                    <a:pt x="279" y="212"/>
                  </a:lnTo>
                  <a:lnTo>
                    <a:pt x="292" y="187"/>
                  </a:lnTo>
                  <a:lnTo>
                    <a:pt x="308" y="156"/>
                  </a:lnTo>
                  <a:lnTo>
                    <a:pt x="327" y="123"/>
                  </a:lnTo>
                  <a:lnTo>
                    <a:pt x="346" y="89"/>
                  </a:lnTo>
                  <a:lnTo>
                    <a:pt x="365" y="58"/>
                  </a:lnTo>
                  <a:lnTo>
                    <a:pt x="384" y="31"/>
                  </a:lnTo>
                  <a:lnTo>
                    <a:pt x="400" y="13"/>
                  </a:lnTo>
                  <a:lnTo>
                    <a:pt x="413" y="5"/>
                  </a:lnTo>
                  <a:close/>
                </a:path>
              </a:pathLst>
            </a:custGeom>
            <a:solidFill>
              <a:srgbClr val="FFFFD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324" name="Freeform 20"/>
            <p:cNvSpPr>
              <a:spLocks/>
            </p:cNvSpPr>
            <p:nvPr/>
          </p:nvSpPr>
          <p:spPr bwMode="auto">
            <a:xfrm>
              <a:off x="1356" y="2554"/>
              <a:ext cx="1055" cy="891"/>
            </a:xfrm>
            <a:custGeom>
              <a:avLst/>
              <a:gdLst>
                <a:gd name="T0" fmla="*/ 1013 w 1055"/>
                <a:gd name="T1" fmla="*/ 247 h 891"/>
                <a:gd name="T2" fmla="*/ 1007 w 1055"/>
                <a:gd name="T3" fmla="*/ 242 h 891"/>
                <a:gd name="T4" fmla="*/ 986 w 1055"/>
                <a:gd name="T5" fmla="*/ 227 h 891"/>
                <a:gd name="T6" fmla="*/ 963 w 1055"/>
                <a:gd name="T7" fmla="*/ 215 h 891"/>
                <a:gd name="T8" fmla="*/ 962 w 1055"/>
                <a:gd name="T9" fmla="*/ 189 h 891"/>
                <a:gd name="T10" fmla="*/ 947 w 1055"/>
                <a:gd name="T11" fmla="*/ 157 h 891"/>
                <a:gd name="T12" fmla="*/ 918 w 1055"/>
                <a:gd name="T13" fmla="*/ 145 h 891"/>
                <a:gd name="T14" fmla="*/ 861 w 1055"/>
                <a:gd name="T15" fmla="*/ 131 h 891"/>
                <a:gd name="T16" fmla="*/ 804 w 1055"/>
                <a:gd name="T17" fmla="*/ 118 h 891"/>
                <a:gd name="T18" fmla="*/ 749 w 1055"/>
                <a:gd name="T19" fmla="*/ 105 h 891"/>
                <a:gd name="T20" fmla="*/ 707 w 1055"/>
                <a:gd name="T21" fmla="*/ 95 h 891"/>
                <a:gd name="T22" fmla="*/ 665 w 1055"/>
                <a:gd name="T23" fmla="*/ 82 h 891"/>
                <a:gd name="T24" fmla="*/ 622 w 1055"/>
                <a:gd name="T25" fmla="*/ 65 h 891"/>
                <a:gd name="T26" fmla="*/ 572 w 1055"/>
                <a:gd name="T27" fmla="*/ 43 h 891"/>
                <a:gd name="T28" fmla="*/ 516 w 1055"/>
                <a:gd name="T29" fmla="*/ 21 h 891"/>
                <a:gd name="T30" fmla="*/ 465 w 1055"/>
                <a:gd name="T31" fmla="*/ 5 h 891"/>
                <a:gd name="T32" fmla="*/ 423 w 1055"/>
                <a:gd name="T33" fmla="*/ 0 h 891"/>
                <a:gd name="T34" fmla="*/ 387 w 1055"/>
                <a:gd name="T35" fmla="*/ 18 h 891"/>
                <a:gd name="T36" fmla="*/ 343 w 1055"/>
                <a:gd name="T37" fmla="*/ 69 h 891"/>
                <a:gd name="T38" fmla="*/ 304 w 1055"/>
                <a:gd name="T39" fmla="*/ 124 h 891"/>
                <a:gd name="T40" fmla="*/ 266 w 1055"/>
                <a:gd name="T41" fmla="*/ 175 h 891"/>
                <a:gd name="T42" fmla="*/ 230 w 1055"/>
                <a:gd name="T43" fmla="*/ 223 h 891"/>
                <a:gd name="T44" fmla="*/ 198 w 1055"/>
                <a:gd name="T45" fmla="*/ 273 h 891"/>
                <a:gd name="T46" fmla="*/ 127 w 1055"/>
                <a:gd name="T47" fmla="*/ 384 h 891"/>
                <a:gd name="T48" fmla="*/ 36 w 1055"/>
                <a:gd name="T49" fmla="*/ 513 h 891"/>
                <a:gd name="T50" fmla="*/ 0 w 1055"/>
                <a:gd name="T51" fmla="*/ 578 h 891"/>
                <a:gd name="T52" fmla="*/ 9 w 1055"/>
                <a:gd name="T53" fmla="*/ 624 h 891"/>
                <a:gd name="T54" fmla="*/ 17 w 1055"/>
                <a:gd name="T55" fmla="*/ 648 h 891"/>
                <a:gd name="T56" fmla="*/ 33 w 1055"/>
                <a:gd name="T57" fmla="*/ 688 h 891"/>
                <a:gd name="T58" fmla="*/ 53 w 1055"/>
                <a:gd name="T59" fmla="*/ 709 h 891"/>
                <a:gd name="T60" fmla="*/ 101 w 1055"/>
                <a:gd name="T61" fmla="*/ 729 h 891"/>
                <a:gd name="T62" fmla="*/ 149 w 1055"/>
                <a:gd name="T63" fmla="*/ 749 h 891"/>
                <a:gd name="T64" fmla="*/ 198 w 1055"/>
                <a:gd name="T65" fmla="*/ 767 h 891"/>
                <a:gd name="T66" fmla="*/ 247 w 1055"/>
                <a:gd name="T67" fmla="*/ 785 h 891"/>
                <a:gd name="T68" fmla="*/ 295 w 1055"/>
                <a:gd name="T69" fmla="*/ 803 h 891"/>
                <a:gd name="T70" fmla="*/ 347 w 1055"/>
                <a:gd name="T71" fmla="*/ 825 h 891"/>
                <a:gd name="T72" fmla="*/ 400 w 1055"/>
                <a:gd name="T73" fmla="*/ 847 h 891"/>
                <a:gd name="T74" fmla="*/ 453 w 1055"/>
                <a:gd name="T75" fmla="*/ 867 h 891"/>
                <a:gd name="T76" fmla="*/ 531 w 1055"/>
                <a:gd name="T77" fmla="*/ 887 h 891"/>
                <a:gd name="T78" fmla="*/ 610 w 1055"/>
                <a:gd name="T79" fmla="*/ 887 h 891"/>
                <a:gd name="T80" fmla="*/ 669 w 1055"/>
                <a:gd name="T81" fmla="*/ 851 h 891"/>
                <a:gd name="T82" fmla="*/ 721 w 1055"/>
                <a:gd name="T83" fmla="*/ 790 h 891"/>
                <a:gd name="T84" fmla="*/ 780 w 1055"/>
                <a:gd name="T85" fmla="*/ 707 h 891"/>
                <a:gd name="T86" fmla="*/ 839 w 1055"/>
                <a:gd name="T87" fmla="*/ 622 h 891"/>
                <a:gd name="T88" fmla="*/ 887 w 1055"/>
                <a:gd name="T89" fmla="*/ 549 h 891"/>
                <a:gd name="T90" fmla="*/ 915 w 1055"/>
                <a:gd name="T91" fmla="*/ 508 h 891"/>
                <a:gd name="T92" fmla="*/ 978 w 1055"/>
                <a:gd name="T93" fmla="*/ 426 h 891"/>
                <a:gd name="T94" fmla="*/ 1038 w 1055"/>
                <a:gd name="T95" fmla="*/ 349 h 891"/>
                <a:gd name="T96" fmla="*/ 1055 w 1055"/>
                <a:gd name="T97" fmla="*/ 312 h 891"/>
                <a:gd name="T98" fmla="*/ 1048 w 1055"/>
                <a:gd name="T99" fmla="*/ 277 h 891"/>
                <a:gd name="T100" fmla="*/ 1025 w 1055"/>
                <a:gd name="T101" fmla="*/ 254 h 8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55"/>
                <a:gd name="T154" fmla="*/ 0 h 891"/>
                <a:gd name="T155" fmla="*/ 1055 w 1055"/>
                <a:gd name="T156" fmla="*/ 891 h 8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55" h="891">
                  <a:moveTo>
                    <a:pt x="1013" y="249"/>
                  </a:moveTo>
                  <a:lnTo>
                    <a:pt x="1013" y="247"/>
                  </a:lnTo>
                  <a:lnTo>
                    <a:pt x="1007" y="242"/>
                  </a:lnTo>
                  <a:lnTo>
                    <a:pt x="1000" y="237"/>
                  </a:lnTo>
                  <a:lnTo>
                    <a:pt x="993" y="232"/>
                  </a:lnTo>
                  <a:lnTo>
                    <a:pt x="986" y="227"/>
                  </a:lnTo>
                  <a:lnTo>
                    <a:pt x="978" y="223"/>
                  </a:lnTo>
                  <a:lnTo>
                    <a:pt x="971" y="219"/>
                  </a:lnTo>
                  <a:lnTo>
                    <a:pt x="963" y="215"/>
                  </a:lnTo>
                  <a:lnTo>
                    <a:pt x="955" y="213"/>
                  </a:lnTo>
                  <a:lnTo>
                    <a:pt x="960" y="201"/>
                  </a:lnTo>
                  <a:lnTo>
                    <a:pt x="962" y="189"/>
                  </a:lnTo>
                  <a:lnTo>
                    <a:pt x="960" y="176"/>
                  </a:lnTo>
                  <a:lnTo>
                    <a:pt x="955" y="165"/>
                  </a:lnTo>
                  <a:lnTo>
                    <a:pt x="947" y="157"/>
                  </a:lnTo>
                  <a:lnTo>
                    <a:pt x="938" y="152"/>
                  </a:lnTo>
                  <a:lnTo>
                    <a:pt x="928" y="148"/>
                  </a:lnTo>
                  <a:lnTo>
                    <a:pt x="918" y="145"/>
                  </a:lnTo>
                  <a:lnTo>
                    <a:pt x="898" y="140"/>
                  </a:lnTo>
                  <a:lnTo>
                    <a:pt x="879" y="135"/>
                  </a:lnTo>
                  <a:lnTo>
                    <a:pt x="861" y="131"/>
                  </a:lnTo>
                  <a:lnTo>
                    <a:pt x="841" y="127"/>
                  </a:lnTo>
                  <a:lnTo>
                    <a:pt x="823" y="122"/>
                  </a:lnTo>
                  <a:lnTo>
                    <a:pt x="804" y="118"/>
                  </a:lnTo>
                  <a:lnTo>
                    <a:pt x="784" y="114"/>
                  </a:lnTo>
                  <a:lnTo>
                    <a:pt x="765" y="109"/>
                  </a:lnTo>
                  <a:lnTo>
                    <a:pt x="749" y="105"/>
                  </a:lnTo>
                  <a:lnTo>
                    <a:pt x="735" y="102"/>
                  </a:lnTo>
                  <a:lnTo>
                    <a:pt x="721" y="99"/>
                  </a:lnTo>
                  <a:lnTo>
                    <a:pt x="707" y="95"/>
                  </a:lnTo>
                  <a:lnTo>
                    <a:pt x="692" y="91"/>
                  </a:lnTo>
                  <a:lnTo>
                    <a:pt x="678" y="87"/>
                  </a:lnTo>
                  <a:lnTo>
                    <a:pt x="665" y="82"/>
                  </a:lnTo>
                  <a:lnTo>
                    <a:pt x="651" y="77"/>
                  </a:lnTo>
                  <a:lnTo>
                    <a:pt x="638" y="71"/>
                  </a:lnTo>
                  <a:lnTo>
                    <a:pt x="622" y="65"/>
                  </a:lnTo>
                  <a:lnTo>
                    <a:pt x="607" y="57"/>
                  </a:lnTo>
                  <a:lnTo>
                    <a:pt x="589" y="51"/>
                  </a:lnTo>
                  <a:lnTo>
                    <a:pt x="572" y="43"/>
                  </a:lnTo>
                  <a:lnTo>
                    <a:pt x="553" y="35"/>
                  </a:lnTo>
                  <a:lnTo>
                    <a:pt x="534" y="29"/>
                  </a:lnTo>
                  <a:lnTo>
                    <a:pt x="516" y="21"/>
                  </a:lnTo>
                  <a:lnTo>
                    <a:pt x="498" y="16"/>
                  </a:lnTo>
                  <a:lnTo>
                    <a:pt x="481" y="10"/>
                  </a:lnTo>
                  <a:lnTo>
                    <a:pt x="465" y="5"/>
                  </a:lnTo>
                  <a:lnTo>
                    <a:pt x="449" y="3"/>
                  </a:lnTo>
                  <a:lnTo>
                    <a:pt x="435" y="0"/>
                  </a:lnTo>
                  <a:lnTo>
                    <a:pt x="423" y="0"/>
                  </a:lnTo>
                  <a:lnTo>
                    <a:pt x="413" y="1"/>
                  </a:lnTo>
                  <a:lnTo>
                    <a:pt x="405" y="5"/>
                  </a:lnTo>
                  <a:lnTo>
                    <a:pt x="387" y="18"/>
                  </a:lnTo>
                  <a:lnTo>
                    <a:pt x="371" y="34"/>
                  </a:lnTo>
                  <a:lnTo>
                    <a:pt x="357" y="51"/>
                  </a:lnTo>
                  <a:lnTo>
                    <a:pt x="343" y="69"/>
                  </a:lnTo>
                  <a:lnTo>
                    <a:pt x="330" y="88"/>
                  </a:lnTo>
                  <a:lnTo>
                    <a:pt x="317" y="106"/>
                  </a:lnTo>
                  <a:lnTo>
                    <a:pt x="304" y="124"/>
                  </a:lnTo>
                  <a:lnTo>
                    <a:pt x="291" y="143"/>
                  </a:lnTo>
                  <a:lnTo>
                    <a:pt x="278" y="159"/>
                  </a:lnTo>
                  <a:lnTo>
                    <a:pt x="266" y="175"/>
                  </a:lnTo>
                  <a:lnTo>
                    <a:pt x="254" y="190"/>
                  </a:lnTo>
                  <a:lnTo>
                    <a:pt x="242" y="206"/>
                  </a:lnTo>
                  <a:lnTo>
                    <a:pt x="230" y="223"/>
                  </a:lnTo>
                  <a:lnTo>
                    <a:pt x="219" y="238"/>
                  </a:lnTo>
                  <a:lnTo>
                    <a:pt x="208" y="255"/>
                  </a:lnTo>
                  <a:lnTo>
                    <a:pt x="198" y="273"/>
                  </a:lnTo>
                  <a:lnTo>
                    <a:pt x="181" y="303"/>
                  </a:lnTo>
                  <a:lnTo>
                    <a:pt x="156" y="341"/>
                  </a:lnTo>
                  <a:lnTo>
                    <a:pt x="127" y="384"/>
                  </a:lnTo>
                  <a:lnTo>
                    <a:pt x="96" y="429"/>
                  </a:lnTo>
                  <a:lnTo>
                    <a:pt x="65" y="473"/>
                  </a:lnTo>
                  <a:lnTo>
                    <a:pt x="36" y="513"/>
                  </a:lnTo>
                  <a:lnTo>
                    <a:pt x="14" y="545"/>
                  </a:lnTo>
                  <a:lnTo>
                    <a:pt x="0" y="567"/>
                  </a:lnTo>
                  <a:lnTo>
                    <a:pt x="0" y="578"/>
                  </a:lnTo>
                  <a:lnTo>
                    <a:pt x="4" y="597"/>
                  </a:lnTo>
                  <a:lnTo>
                    <a:pt x="8" y="615"/>
                  </a:lnTo>
                  <a:lnTo>
                    <a:pt x="9" y="624"/>
                  </a:lnTo>
                  <a:lnTo>
                    <a:pt x="10" y="628"/>
                  </a:lnTo>
                  <a:lnTo>
                    <a:pt x="13" y="637"/>
                  </a:lnTo>
                  <a:lnTo>
                    <a:pt x="17" y="648"/>
                  </a:lnTo>
                  <a:lnTo>
                    <a:pt x="22" y="661"/>
                  </a:lnTo>
                  <a:lnTo>
                    <a:pt x="27" y="675"/>
                  </a:lnTo>
                  <a:lnTo>
                    <a:pt x="33" y="688"/>
                  </a:lnTo>
                  <a:lnTo>
                    <a:pt x="40" y="698"/>
                  </a:lnTo>
                  <a:lnTo>
                    <a:pt x="48" y="706"/>
                  </a:lnTo>
                  <a:lnTo>
                    <a:pt x="53" y="709"/>
                  </a:lnTo>
                  <a:lnTo>
                    <a:pt x="68" y="716"/>
                  </a:lnTo>
                  <a:lnTo>
                    <a:pt x="85" y="723"/>
                  </a:lnTo>
                  <a:lnTo>
                    <a:pt x="101" y="729"/>
                  </a:lnTo>
                  <a:lnTo>
                    <a:pt x="116" y="737"/>
                  </a:lnTo>
                  <a:lnTo>
                    <a:pt x="133" y="744"/>
                  </a:lnTo>
                  <a:lnTo>
                    <a:pt x="149" y="749"/>
                  </a:lnTo>
                  <a:lnTo>
                    <a:pt x="166" y="755"/>
                  </a:lnTo>
                  <a:lnTo>
                    <a:pt x="181" y="762"/>
                  </a:lnTo>
                  <a:lnTo>
                    <a:pt x="198" y="767"/>
                  </a:lnTo>
                  <a:lnTo>
                    <a:pt x="213" y="773"/>
                  </a:lnTo>
                  <a:lnTo>
                    <a:pt x="230" y="780"/>
                  </a:lnTo>
                  <a:lnTo>
                    <a:pt x="247" y="785"/>
                  </a:lnTo>
                  <a:lnTo>
                    <a:pt x="263" y="792"/>
                  </a:lnTo>
                  <a:lnTo>
                    <a:pt x="279" y="797"/>
                  </a:lnTo>
                  <a:lnTo>
                    <a:pt x="295" y="803"/>
                  </a:lnTo>
                  <a:lnTo>
                    <a:pt x="312" y="810"/>
                  </a:lnTo>
                  <a:lnTo>
                    <a:pt x="330" y="817"/>
                  </a:lnTo>
                  <a:lnTo>
                    <a:pt x="347" y="825"/>
                  </a:lnTo>
                  <a:lnTo>
                    <a:pt x="365" y="833"/>
                  </a:lnTo>
                  <a:lnTo>
                    <a:pt x="382" y="839"/>
                  </a:lnTo>
                  <a:lnTo>
                    <a:pt x="400" y="847"/>
                  </a:lnTo>
                  <a:lnTo>
                    <a:pt x="417" y="855"/>
                  </a:lnTo>
                  <a:lnTo>
                    <a:pt x="435" y="861"/>
                  </a:lnTo>
                  <a:lnTo>
                    <a:pt x="453" y="867"/>
                  </a:lnTo>
                  <a:lnTo>
                    <a:pt x="479" y="874"/>
                  </a:lnTo>
                  <a:lnTo>
                    <a:pt x="505" y="881"/>
                  </a:lnTo>
                  <a:lnTo>
                    <a:pt x="531" y="887"/>
                  </a:lnTo>
                  <a:lnTo>
                    <a:pt x="558" y="891"/>
                  </a:lnTo>
                  <a:lnTo>
                    <a:pt x="584" y="891"/>
                  </a:lnTo>
                  <a:lnTo>
                    <a:pt x="610" y="887"/>
                  </a:lnTo>
                  <a:lnTo>
                    <a:pt x="633" y="880"/>
                  </a:lnTo>
                  <a:lnTo>
                    <a:pt x="656" y="864"/>
                  </a:lnTo>
                  <a:lnTo>
                    <a:pt x="669" y="851"/>
                  </a:lnTo>
                  <a:lnTo>
                    <a:pt x="685" y="834"/>
                  </a:lnTo>
                  <a:lnTo>
                    <a:pt x="701" y="814"/>
                  </a:lnTo>
                  <a:lnTo>
                    <a:pt x="721" y="790"/>
                  </a:lnTo>
                  <a:lnTo>
                    <a:pt x="740" y="764"/>
                  </a:lnTo>
                  <a:lnTo>
                    <a:pt x="760" y="736"/>
                  </a:lnTo>
                  <a:lnTo>
                    <a:pt x="780" y="707"/>
                  </a:lnTo>
                  <a:lnTo>
                    <a:pt x="800" y="678"/>
                  </a:lnTo>
                  <a:lnTo>
                    <a:pt x="819" y="649"/>
                  </a:lnTo>
                  <a:lnTo>
                    <a:pt x="839" y="622"/>
                  </a:lnTo>
                  <a:lnTo>
                    <a:pt x="857" y="595"/>
                  </a:lnTo>
                  <a:lnTo>
                    <a:pt x="872" y="570"/>
                  </a:lnTo>
                  <a:lnTo>
                    <a:pt x="887" y="549"/>
                  </a:lnTo>
                  <a:lnTo>
                    <a:pt x="899" y="531"/>
                  </a:lnTo>
                  <a:lnTo>
                    <a:pt x="909" y="517"/>
                  </a:lnTo>
                  <a:lnTo>
                    <a:pt x="915" y="508"/>
                  </a:lnTo>
                  <a:lnTo>
                    <a:pt x="933" y="483"/>
                  </a:lnTo>
                  <a:lnTo>
                    <a:pt x="955" y="456"/>
                  </a:lnTo>
                  <a:lnTo>
                    <a:pt x="978" y="426"/>
                  </a:lnTo>
                  <a:lnTo>
                    <a:pt x="1000" y="396"/>
                  </a:lnTo>
                  <a:lnTo>
                    <a:pt x="1021" y="371"/>
                  </a:lnTo>
                  <a:lnTo>
                    <a:pt x="1038" y="349"/>
                  </a:lnTo>
                  <a:lnTo>
                    <a:pt x="1050" y="333"/>
                  </a:lnTo>
                  <a:lnTo>
                    <a:pt x="1053" y="325"/>
                  </a:lnTo>
                  <a:lnTo>
                    <a:pt x="1055" y="312"/>
                  </a:lnTo>
                  <a:lnTo>
                    <a:pt x="1055" y="301"/>
                  </a:lnTo>
                  <a:lnTo>
                    <a:pt x="1052" y="289"/>
                  </a:lnTo>
                  <a:lnTo>
                    <a:pt x="1048" y="277"/>
                  </a:lnTo>
                  <a:lnTo>
                    <a:pt x="1042" y="268"/>
                  </a:lnTo>
                  <a:lnTo>
                    <a:pt x="1034" y="260"/>
                  </a:lnTo>
                  <a:lnTo>
                    <a:pt x="1025" y="254"/>
                  </a:lnTo>
                  <a:lnTo>
                    <a:pt x="1013" y="2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325" name="Freeform 21"/>
            <p:cNvSpPr>
              <a:spLocks/>
            </p:cNvSpPr>
            <p:nvPr/>
          </p:nvSpPr>
          <p:spPr bwMode="auto">
            <a:xfrm>
              <a:off x="2158" y="2782"/>
              <a:ext cx="151" cy="211"/>
            </a:xfrm>
            <a:custGeom>
              <a:avLst/>
              <a:gdLst>
                <a:gd name="T0" fmla="*/ 151 w 151"/>
                <a:gd name="T1" fmla="*/ 27 h 211"/>
                <a:gd name="T2" fmla="*/ 148 w 151"/>
                <a:gd name="T3" fmla="*/ 32 h 211"/>
                <a:gd name="T4" fmla="*/ 141 w 151"/>
                <a:gd name="T5" fmla="*/ 42 h 211"/>
                <a:gd name="T6" fmla="*/ 131 w 151"/>
                <a:gd name="T7" fmla="*/ 54 h 211"/>
                <a:gd name="T8" fmla="*/ 118 w 151"/>
                <a:gd name="T9" fmla="*/ 69 h 211"/>
                <a:gd name="T10" fmla="*/ 105 w 151"/>
                <a:gd name="T11" fmla="*/ 83 h 211"/>
                <a:gd name="T12" fmla="*/ 95 w 151"/>
                <a:gd name="T13" fmla="*/ 96 h 211"/>
                <a:gd name="T14" fmla="*/ 88 w 151"/>
                <a:gd name="T15" fmla="*/ 105 h 211"/>
                <a:gd name="T16" fmla="*/ 86 w 151"/>
                <a:gd name="T17" fmla="*/ 109 h 211"/>
                <a:gd name="T18" fmla="*/ 87 w 151"/>
                <a:gd name="T19" fmla="*/ 110 h 211"/>
                <a:gd name="T20" fmla="*/ 91 w 151"/>
                <a:gd name="T21" fmla="*/ 113 h 211"/>
                <a:gd name="T22" fmla="*/ 96 w 151"/>
                <a:gd name="T23" fmla="*/ 117 h 211"/>
                <a:gd name="T24" fmla="*/ 104 w 151"/>
                <a:gd name="T25" fmla="*/ 121 h 211"/>
                <a:gd name="T26" fmla="*/ 113 w 151"/>
                <a:gd name="T27" fmla="*/ 126 h 211"/>
                <a:gd name="T28" fmla="*/ 122 w 151"/>
                <a:gd name="T29" fmla="*/ 130 h 211"/>
                <a:gd name="T30" fmla="*/ 131 w 151"/>
                <a:gd name="T31" fmla="*/ 132 h 211"/>
                <a:gd name="T32" fmla="*/ 141 w 151"/>
                <a:gd name="T33" fmla="*/ 132 h 211"/>
                <a:gd name="T34" fmla="*/ 134 w 151"/>
                <a:gd name="T35" fmla="*/ 137 h 211"/>
                <a:gd name="T36" fmla="*/ 126 w 151"/>
                <a:gd name="T37" fmla="*/ 144 h 211"/>
                <a:gd name="T38" fmla="*/ 119 w 151"/>
                <a:gd name="T39" fmla="*/ 152 h 211"/>
                <a:gd name="T40" fmla="*/ 113 w 151"/>
                <a:gd name="T41" fmla="*/ 159 h 211"/>
                <a:gd name="T42" fmla="*/ 109 w 151"/>
                <a:gd name="T43" fmla="*/ 154 h 211"/>
                <a:gd name="T44" fmla="*/ 105 w 151"/>
                <a:gd name="T45" fmla="*/ 145 h 211"/>
                <a:gd name="T46" fmla="*/ 100 w 151"/>
                <a:gd name="T47" fmla="*/ 136 h 211"/>
                <a:gd name="T48" fmla="*/ 99 w 151"/>
                <a:gd name="T49" fmla="*/ 132 h 211"/>
                <a:gd name="T50" fmla="*/ 95 w 151"/>
                <a:gd name="T51" fmla="*/ 135 h 211"/>
                <a:gd name="T52" fmla="*/ 87 w 151"/>
                <a:gd name="T53" fmla="*/ 144 h 211"/>
                <a:gd name="T54" fmla="*/ 75 w 151"/>
                <a:gd name="T55" fmla="*/ 157 h 211"/>
                <a:gd name="T56" fmla="*/ 64 w 151"/>
                <a:gd name="T57" fmla="*/ 171 h 211"/>
                <a:gd name="T58" fmla="*/ 51 w 151"/>
                <a:gd name="T59" fmla="*/ 185 h 211"/>
                <a:gd name="T60" fmla="*/ 41 w 151"/>
                <a:gd name="T61" fmla="*/ 198 h 211"/>
                <a:gd name="T62" fmla="*/ 33 w 151"/>
                <a:gd name="T63" fmla="*/ 207 h 211"/>
                <a:gd name="T64" fmla="*/ 30 w 151"/>
                <a:gd name="T65" fmla="*/ 211 h 211"/>
                <a:gd name="T66" fmla="*/ 20 w 151"/>
                <a:gd name="T67" fmla="*/ 201 h 211"/>
                <a:gd name="T68" fmla="*/ 11 w 151"/>
                <a:gd name="T69" fmla="*/ 192 h 211"/>
                <a:gd name="T70" fmla="*/ 3 w 151"/>
                <a:gd name="T71" fmla="*/ 184 h 211"/>
                <a:gd name="T72" fmla="*/ 0 w 151"/>
                <a:gd name="T73" fmla="*/ 180 h 211"/>
                <a:gd name="T74" fmla="*/ 17 w 151"/>
                <a:gd name="T75" fmla="*/ 163 h 211"/>
                <a:gd name="T76" fmla="*/ 37 w 151"/>
                <a:gd name="T77" fmla="*/ 139 h 211"/>
                <a:gd name="T78" fmla="*/ 57 w 151"/>
                <a:gd name="T79" fmla="*/ 111 h 211"/>
                <a:gd name="T80" fmla="*/ 79 w 151"/>
                <a:gd name="T81" fmla="*/ 83 h 211"/>
                <a:gd name="T82" fmla="*/ 100 w 151"/>
                <a:gd name="T83" fmla="*/ 56 h 211"/>
                <a:gd name="T84" fmla="*/ 118 w 151"/>
                <a:gd name="T85" fmla="*/ 31 h 211"/>
                <a:gd name="T86" fmla="*/ 132 w 151"/>
                <a:gd name="T87" fmla="*/ 12 h 211"/>
                <a:gd name="T88" fmla="*/ 141 w 151"/>
                <a:gd name="T89" fmla="*/ 0 h 211"/>
                <a:gd name="T90" fmla="*/ 144 w 151"/>
                <a:gd name="T91" fmla="*/ 7 h 211"/>
                <a:gd name="T92" fmla="*/ 145 w 151"/>
                <a:gd name="T93" fmla="*/ 13 h 211"/>
                <a:gd name="T94" fmla="*/ 148 w 151"/>
                <a:gd name="T95" fmla="*/ 21 h 211"/>
                <a:gd name="T96" fmla="*/ 151 w 151"/>
                <a:gd name="T97" fmla="*/ 27 h 21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51"/>
                <a:gd name="T148" fmla="*/ 0 h 211"/>
                <a:gd name="T149" fmla="*/ 151 w 151"/>
                <a:gd name="T150" fmla="*/ 211 h 21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51" h="211">
                  <a:moveTo>
                    <a:pt x="151" y="27"/>
                  </a:moveTo>
                  <a:lnTo>
                    <a:pt x="148" y="32"/>
                  </a:lnTo>
                  <a:lnTo>
                    <a:pt x="141" y="42"/>
                  </a:lnTo>
                  <a:lnTo>
                    <a:pt x="131" y="54"/>
                  </a:lnTo>
                  <a:lnTo>
                    <a:pt x="118" y="69"/>
                  </a:lnTo>
                  <a:lnTo>
                    <a:pt x="105" y="83"/>
                  </a:lnTo>
                  <a:lnTo>
                    <a:pt x="95" y="96"/>
                  </a:lnTo>
                  <a:lnTo>
                    <a:pt x="88" y="105"/>
                  </a:lnTo>
                  <a:lnTo>
                    <a:pt x="86" y="109"/>
                  </a:lnTo>
                  <a:lnTo>
                    <a:pt x="87" y="110"/>
                  </a:lnTo>
                  <a:lnTo>
                    <a:pt x="91" y="113"/>
                  </a:lnTo>
                  <a:lnTo>
                    <a:pt x="96" y="117"/>
                  </a:lnTo>
                  <a:lnTo>
                    <a:pt x="104" y="121"/>
                  </a:lnTo>
                  <a:lnTo>
                    <a:pt x="113" y="126"/>
                  </a:lnTo>
                  <a:lnTo>
                    <a:pt x="122" y="130"/>
                  </a:lnTo>
                  <a:lnTo>
                    <a:pt x="131" y="132"/>
                  </a:lnTo>
                  <a:lnTo>
                    <a:pt x="141" y="132"/>
                  </a:lnTo>
                  <a:lnTo>
                    <a:pt x="134" y="137"/>
                  </a:lnTo>
                  <a:lnTo>
                    <a:pt x="126" y="144"/>
                  </a:lnTo>
                  <a:lnTo>
                    <a:pt x="119" y="152"/>
                  </a:lnTo>
                  <a:lnTo>
                    <a:pt x="113" y="159"/>
                  </a:lnTo>
                  <a:lnTo>
                    <a:pt x="109" y="154"/>
                  </a:lnTo>
                  <a:lnTo>
                    <a:pt x="105" y="145"/>
                  </a:lnTo>
                  <a:lnTo>
                    <a:pt x="100" y="136"/>
                  </a:lnTo>
                  <a:lnTo>
                    <a:pt x="99" y="132"/>
                  </a:lnTo>
                  <a:lnTo>
                    <a:pt x="95" y="135"/>
                  </a:lnTo>
                  <a:lnTo>
                    <a:pt x="87" y="144"/>
                  </a:lnTo>
                  <a:lnTo>
                    <a:pt x="75" y="157"/>
                  </a:lnTo>
                  <a:lnTo>
                    <a:pt x="64" y="171"/>
                  </a:lnTo>
                  <a:lnTo>
                    <a:pt x="51" y="185"/>
                  </a:lnTo>
                  <a:lnTo>
                    <a:pt x="41" y="198"/>
                  </a:lnTo>
                  <a:lnTo>
                    <a:pt x="33" y="207"/>
                  </a:lnTo>
                  <a:lnTo>
                    <a:pt x="30" y="211"/>
                  </a:lnTo>
                  <a:lnTo>
                    <a:pt x="20" y="201"/>
                  </a:lnTo>
                  <a:lnTo>
                    <a:pt x="11" y="192"/>
                  </a:lnTo>
                  <a:lnTo>
                    <a:pt x="3" y="184"/>
                  </a:lnTo>
                  <a:lnTo>
                    <a:pt x="0" y="180"/>
                  </a:lnTo>
                  <a:lnTo>
                    <a:pt x="17" y="163"/>
                  </a:lnTo>
                  <a:lnTo>
                    <a:pt x="37" y="139"/>
                  </a:lnTo>
                  <a:lnTo>
                    <a:pt x="57" y="111"/>
                  </a:lnTo>
                  <a:lnTo>
                    <a:pt x="79" y="83"/>
                  </a:lnTo>
                  <a:lnTo>
                    <a:pt x="100" y="56"/>
                  </a:lnTo>
                  <a:lnTo>
                    <a:pt x="118" y="31"/>
                  </a:lnTo>
                  <a:lnTo>
                    <a:pt x="132" y="12"/>
                  </a:lnTo>
                  <a:lnTo>
                    <a:pt x="141" y="0"/>
                  </a:lnTo>
                  <a:lnTo>
                    <a:pt x="144" y="7"/>
                  </a:lnTo>
                  <a:lnTo>
                    <a:pt x="145" y="13"/>
                  </a:lnTo>
                  <a:lnTo>
                    <a:pt x="148" y="21"/>
                  </a:lnTo>
                  <a:lnTo>
                    <a:pt x="151" y="27"/>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326" name="Freeform 22"/>
            <p:cNvSpPr>
              <a:spLocks/>
            </p:cNvSpPr>
            <p:nvPr/>
          </p:nvSpPr>
          <p:spPr bwMode="auto">
            <a:xfrm>
              <a:off x="2271" y="2834"/>
              <a:ext cx="58" cy="65"/>
            </a:xfrm>
            <a:custGeom>
              <a:avLst/>
              <a:gdLst>
                <a:gd name="T0" fmla="*/ 44 w 58"/>
                <a:gd name="T1" fmla="*/ 0 h 65"/>
                <a:gd name="T2" fmla="*/ 53 w 58"/>
                <a:gd name="T3" fmla="*/ 17 h 65"/>
                <a:gd name="T4" fmla="*/ 57 w 58"/>
                <a:gd name="T5" fmla="*/ 31 h 65"/>
                <a:gd name="T6" fmla="*/ 57 w 58"/>
                <a:gd name="T7" fmla="*/ 41 h 65"/>
                <a:gd name="T8" fmla="*/ 58 w 58"/>
                <a:gd name="T9" fmla="*/ 47 h 65"/>
                <a:gd name="T10" fmla="*/ 56 w 58"/>
                <a:gd name="T11" fmla="*/ 52 h 65"/>
                <a:gd name="T12" fmla="*/ 54 w 58"/>
                <a:gd name="T13" fmla="*/ 56 h 65"/>
                <a:gd name="T14" fmla="*/ 52 w 58"/>
                <a:gd name="T15" fmla="*/ 58 h 65"/>
                <a:gd name="T16" fmla="*/ 45 w 58"/>
                <a:gd name="T17" fmla="*/ 61 h 65"/>
                <a:gd name="T18" fmla="*/ 39 w 58"/>
                <a:gd name="T19" fmla="*/ 63 h 65"/>
                <a:gd name="T20" fmla="*/ 34 w 58"/>
                <a:gd name="T21" fmla="*/ 65 h 65"/>
                <a:gd name="T22" fmla="*/ 30 w 58"/>
                <a:gd name="T23" fmla="*/ 65 h 65"/>
                <a:gd name="T24" fmla="*/ 25 w 58"/>
                <a:gd name="T25" fmla="*/ 63 h 65"/>
                <a:gd name="T26" fmla="*/ 19 w 58"/>
                <a:gd name="T27" fmla="*/ 61 h 65"/>
                <a:gd name="T28" fmla="*/ 14 w 58"/>
                <a:gd name="T29" fmla="*/ 58 h 65"/>
                <a:gd name="T30" fmla="*/ 8 w 58"/>
                <a:gd name="T31" fmla="*/ 56 h 65"/>
                <a:gd name="T32" fmla="*/ 0 w 58"/>
                <a:gd name="T33" fmla="*/ 52 h 65"/>
                <a:gd name="T34" fmla="*/ 3 w 58"/>
                <a:gd name="T35" fmla="*/ 48 h 65"/>
                <a:gd name="T36" fmla="*/ 8 w 58"/>
                <a:gd name="T37" fmla="*/ 40 h 65"/>
                <a:gd name="T38" fmla="*/ 14 w 58"/>
                <a:gd name="T39" fmla="*/ 32 h 65"/>
                <a:gd name="T40" fmla="*/ 22 w 58"/>
                <a:gd name="T41" fmla="*/ 22 h 65"/>
                <a:gd name="T42" fmla="*/ 30 w 58"/>
                <a:gd name="T43" fmla="*/ 13 h 65"/>
                <a:gd name="T44" fmla="*/ 36 w 58"/>
                <a:gd name="T45" fmla="*/ 6 h 65"/>
                <a:gd name="T46" fmla="*/ 41 w 58"/>
                <a:gd name="T47" fmla="*/ 1 h 65"/>
                <a:gd name="T48" fmla="*/ 44 w 58"/>
                <a:gd name="T49" fmla="*/ 0 h 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8"/>
                <a:gd name="T76" fmla="*/ 0 h 65"/>
                <a:gd name="T77" fmla="*/ 58 w 58"/>
                <a:gd name="T78" fmla="*/ 65 h 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8" h="65">
                  <a:moveTo>
                    <a:pt x="44" y="0"/>
                  </a:moveTo>
                  <a:lnTo>
                    <a:pt x="53" y="17"/>
                  </a:lnTo>
                  <a:lnTo>
                    <a:pt x="57" y="31"/>
                  </a:lnTo>
                  <a:lnTo>
                    <a:pt x="57" y="41"/>
                  </a:lnTo>
                  <a:lnTo>
                    <a:pt x="58" y="47"/>
                  </a:lnTo>
                  <a:lnTo>
                    <a:pt x="56" y="52"/>
                  </a:lnTo>
                  <a:lnTo>
                    <a:pt x="54" y="56"/>
                  </a:lnTo>
                  <a:lnTo>
                    <a:pt x="52" y="58"/>
                  </a:lnTo>
                  <a:lnTo>
                    <a:pt x="45" y="61"/>
                  </a:lnTo>
                  <a:lnTo>
                    <a:pt x="39" y="63"/>
                  </a:lnTo>
                  <a:lnTo>
                    <a:pt x="34" y="65"/>
                  </a:lnTo>
                  <a:lnTo>
                    <a:pt x="30" y="65"/>
                  </a:lnTo>
                  <a:lnTo>
                    <a:pt x="25" y="63"/>
                  </a:lnTo>
                  <a:lnTo>
                    <a:pt x="19" y="61"/>
                  </a:lnTo>
                  <a:lnTo>
                    <a:pt x="14" y="58"/>
                  </a:lnTo>
                  <a:lnTo>
                    <a:pt x="8" y="56"/>
                  </a:lnTo>
                  <a:lnTo>
                    <a:pt x="0" y="52"/>
                  </a:lnTo>
                  <a:lnTo>
                    <a:pt x="3" y="48"/>
                  </a:lnTo>
                  <a:lnTo>
                    <a:pt x="8" y="40"/>
                  </a:lnTo>
                  <a:lnTo>
                    <a:pt x="14" y="32"/>
                  </a:lnTo>
                  <a:lnTo>
                    <a:pt x="22" y="22"/>
                  </a:lnTo>
                  <a:lnTo>
                    <a:pt x="30" y="13"/>
                  </a:lnTo>
                  <a:lnTo>
                    <a:pt x="36" y="6"/>
                  </a:lnTo>
                  <a:lnTo>
                    <a:pt x="41" y="1"/>
                  </a:lnTo>
                  <a:lnTo>
                    <a:pt x="44" y="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327" name="Freeform 23"/>
            <p:cNvSpPr>
              <a:spLocks/>
            </p:cNvSpPr>
            <p:nvPr/>
          </p:nvSpPr>
          <p:spPr bwMode="auto">
            <a:xfrm>
              <a:off x="2201" y="3015"/>
              <a:ext cx="34" cy="24"/>
            </a:xfrm>
            <a:custGeom>
              <a:avLst/>
              <a:gdLst>
                <a:gd name="T0" fmla="*/ 34 w 34"/>
                <a:gd name="T1" fmla="*/ 3 h 24"/>
                <a:gd name="T2" fmla="*/ 29 w 34"/>
                <a:gd name="T3" fmla="*/ 7 h 24"/>
                <a:gd name="T4" fmla="*/ 23 w 34"/>
                <a:gd name="T5" fmla="*/ 12 h 24"/>
                <a:gd name="T6" fmla="*/ 20 w 34"/>
                <a:gd name="T7" fmla="*/ 18 h 24"/>
                <a:gd name="T8" fmla="*/ 16 w 34"/>
                <a:gd name="T9" fmla="*/ 24 h 24"/>
                <a:gd name="T10" fmla="*/ 12 w 34"/>
                <a:gd name="T11" fmla="*/ 17 h 24"/>
                <a:gd name="T12" fmla="*/ 8 w 34"/>
                <a:gd name="T13" fmla="*/ 12 h 24"/>
                <a:gd name="T14" fmla="*/ 4 w 34"/>
                <a:gd name="T15" fmla="*/ 5 h 24"/>
                <a:gd name="T16" fmla="*/ 0 w 34"/>
                <a:gd name="T17" fmla="*/ 0 h 24"/>
                <a:gd name="T18" fmla="*/ 8 w 34"/>
                <a:gd name="T19" fmla="*/ 3 h 24"/>
                <a:gd name="T20" fmla="*/ 17 w 34"/>
                <a:gd name="T21" fmla="*/ 3 h 24"/>
                <a:gd name="T22" fmla="*/ 25 w 34"/>
                <a:gd name="T23" fmla="*/ 4 h 24"/>
                <a:gd name="T24" fmla="*/ 34 w 34"/>
                <a:gd name="T25" fmla="*/ 3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24"/>
                <a:gd name="T41" fmla="*/ 34 w 34"/>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24">
                  <a:moveTo>
                    <a:pt x="34" y="3"/>
                  </a:moveTo>
                  <a:lnTo>
                    <a:pt x="29" y="7"/>
                  </a:lnTo>
                  <a:lnTo>
                    <a:pt x="23" y="12"/>
                  </a:lnTo>
                  <a:lnTo>
                    <a:pt x="20" y="18"/>
                  </a:lnTo>
                  <a:lnTo>
                    <a:pt x="16" y="24"/>
                  </a:lnTo>
                  <a:lnTo>
                    <a:pt x="12" y="17"/>
                  </a:lnTo>
                  <a:lnTo>
                    <a:pt x="8" y="12"/>
                  </a:lnTo>
                  <a:lnTo>
                    <a:pt x="4" y="5"/>
                  </a:lnTo>
                  <a:lnTo>
                    <a:pt x="0" y="0"/>
                  </a:lnTo>
                  <a:lnTo>
                    <a:pt x="8" y="3"/>
                  </a:lnTo>
                  <a:lnTo>
                    <a:pt x="17" y="3"/>
                  </a:lnTo>
                  <a:lnTo>
                    <a:pt x="25" y="4"/>
                  </a:lnTo>
                  <a:lnTo>
                    <a:pt x="34" y="3"/>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328" name="Freeform 24"/>
            <p:cNvSpPr>
              <a:spLocks/>
            </p:cNvSpPr>
            <p:nvPr/>
          </p:nvSpPr>
          <p:spPr bwMode="auto">
            <a:xfrm>
              <a:off x="1392" y="2572"/>
              <a:ext cx="892" cy="726"/>
            </a:xfrm>
            <a:custGeom>
              <a:avLst/>
              <a:gdLst>
                <a:gd name="T0" fmla="*/ 199 w 892"/>
                <a:gd name="T1" fmla="*/ 233 h 726"/>
                <a:gd name="T2" fmla="*/ 232 w 892"/>
                <a:gd name="T3" fmla="*/ 192 h 726"/>
                <a:gd name="T4" fmla="*/ 265 w 892"/>
                <a:gd name="T5" fmla="*/ 150 h 726"/>
                <a:gd name="T6" fmla="*/ 303 w 892"/>
                <a:gd name="T7" fmla="*/ 95 h 726"/>
                <a:gd name="T8" fmla="*/ 338 w 892"/>
                <a:gd name="T9" fmla="*/ 44 h 726"/>
                <a:gd name="T10" fmla="*/ 379 w 892"/>
                <a:gd name="T11" fmla="*/ 7 h 726"/>
                <a:gd name="T12" fmla="*/ 403 w 892"/>
                <a:gd name="T13" fmla="*/ 0 h 726"/>
                <a:gd name="T14" fmla="*/ 482 w 892"/>
                <a:gd name="T15" fmla="*/ 29 h 726"/>
                <a:gd name="T16" fmla="*/ 555 w 892"/>
                <a:gd name="T17" fmla="*/ 55 h 726"/>
                <a:gd name="T18" fmla="*/ 624 w 892"/>
                <a:gd name="T19" fmla="*/ 82 h 726"/>
                <a:gd name="T20" fmla="*/ 673 w 892"/>
                <a:gd name="T21" fmla="*/ 99 h 726"/>
                <a:gd name="T22" fmla="*/ 721 w 892"/>
                <a:gd name="T23" fmla="*/ 112 h 726"/>
                <a:gd name="T24" fmla="*/ 770 w 892"/>
                <a:gd name="T25" fmla="*/ 122 h 726"/>
                <a:gd name="T26" fmla="*/ 819 w 892"/>
                <a:gd name="T27" fmla="*/ 132 h 726"/>
                <a:gd name="T28" fmla="*/ 873 w 892"/>
                <a:gd name="T29" fmla="*/ 145 h 726"/>
                <a:gd name="T30" fmla="*/ 892 w 892"/>
                <a:gd name="T31" fmla="*/ 179 h 726"/>
                <a:gd name="T32" fmla="*/ 874 w 892"/>
                <a:gd name="T33" fmla="*/ 207 h 726"/>
                <a:gd name="T34" fmla="*/ 860 w 892"/>
                <a:gd name="T35" fmla="*/ 228 h 726"/>
                <a:gd name="T36" fmla="*/ 843 w 892"/>
                <a:gd name="T37" fmla="*/ 250 h 726"/>
                <a:gd name="T38" fmla="*/ 799 w 892"/>
                <a:gd name="T39" fmla="*/ 310 h 726"/>
                <a:gd name="T40" fmla="*/ 755 w 892"/>
                <a:gd name="T41" fmla="*/ 367 h 726"/>
                <a:gd name="T42" fmla="*/ 729 w 892"/>
                <a:gd name="T43" fmla="*/ 372 h 726"/>
                <a:gd name="T44" fmla="*/ 687 w 892"/>
                <a:gd name="T45" fmla="*/ 359 h 726"/>
                <a:gd name="T46" fmla="*/ 645 w 892"/>
                <a:gd name="T47" fmla="*/ 356 h 726"/>
                <a:gd name="T48" fmla="*/ 610 w 892"/>
                <a:gd name="T49" fmla="*/ 363 h 726"/>
                <a:gd name="T50" fmla="*/ 586 w 892"/>
                <a:gd name="T51" fmla="*/ 384 h 726"/>
                <a:gd name="T52" fmla="*/ 577 w 892"/>
                <a:gd name="T53" fmla="*/ 411 h 726"/>
                <a:gd name="T54" fmla="*/ 598 w 892"/>
                <a:gd name="T55" fmla="*/ 451 h 726"/>
                <a:gd name="T56" fmla="*/ 646 w 892"/>
                <a:gd name="T57" fmla="*/ 469 h 726"/>
                <a:gd name="T58" fmla="*/ 674 w 892"/>
                <a:gd name="T59" fmla="*/ 487 h 726"/>
                <a:gd name="T60" fmla="*/ 619 w 892"/>
                <a:gd name="T61" fmla="*/ 573 h 726"/>
                <a:gd name="T62" fmla="*/ 533 w 892"/>
                <a:gd name="T63" fmla="*/ 687 h 726"/>
                <a:gd name="T64" fmla="*/ 492 w 892"/>
                <a:gd name="T65" fmla="*/ 723 h 726"/>
                <a:gd name="T66" fmla="*/ 466 w 892"/>
                <a:gd name="T67" fmla="*/ 726 h 726"/>
                <a:gd name="T68" fmla="*/ 443 w 892"/>
                <a:gd name="T69" fmla="*/ 723 h 726"/>
                <a:gd name="T70" fmla="*/ 370 w 892"/>
                <a:gd name="T71" fmla="*/ 702 h 726"/>
                <a:gd name="T72" fmla="*/ 304 w 892"/>
                <a:gd name="T73" fmla="*/ 678 h 726"/>
                <a:gd name="T74" fmla="*/ 268 w 892"/>
                <a:gd name="T75" fmla="*/ 663 h 726"/>
                <a:gd name="T76" fmla="*/ 216 w 892"/>
                <a:gd name="T77" fmla="*/ 645 h 726"/>
                <a:gd name="T78" fmla="*/ 163 w 892"/>
                <a:gd name="T79" fmla="*/ 626 h 726"/>
                <a:gd name="T80" fmla="*/ 111 w 892"/>
                <a:gd name="T81" fmla="*/ 608 h 726"/>
                <a:gd name="T82" fmla="*/ 58 w 892"/>
                <a:gd name="T83" fmla="*/ 588 h 726"/>
                <a:gd name="T84" fmla="*/ 7 w 892"/>
                <a:gd name="T85" fmla="*/ 568 h 726"/>
                <a:gd name="T86" fmla="*/ 1 w 892"/>
                <a:gd name="T87" fmla="*/ 560 h 726"/>
                <a:gd name="T88" fmla="*/ 44 w 892"/>
                <a:gd name="T89" fmla="*/ 483 h 726"/>
                <a:gd name="T90" fmla="*/ 115 w 892"/>
                <a:gd name="T91" fmla="*/ 376 h 726"/>
                <a:gd name="T92" fmla="*/ 181 w 892"/>
                <a:gd name="T93" fmla="*/ 263 h 72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92"/>
                <a:gd name="T142" fmla="*/ 0 h 726"/>
                <a:gd name="T143" fmla="*/ 892 w 892"/>
                <a:gd name="T144" fmla="*/ 726 h 72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92" h="726">
                  <a:moveTo>
                    <a:pt x="181" y="263"/>
                  </a:moveTo>
                  <a:lnTo>
                    <a:pt x="189" y="248"/>
                  </a:lnTo>
                  <a:lnTo>
                    <a:pt x="199" y="233"/>
                  </a:lnTo>
                  <a:lnTo>
                    <a:pt x="210" y="219"/>
                  </a:lnTo>
                  <a:lnTo>
                    <a:pt x="220" y="205"/>
                  </a:lnTo>
                  <a:lnTo>
                    <a:pt x="232" y="192"/>
                  </a:lnTo>
                  <a:lnTo>
                    <a:pt x="242" y="178"/>
                  </a:lnTo>
                  <a:lnTo>
                    <a:pt x="254" y="165"/>
                  </a:lnTo>
                  <a:lnTo>
                    <a:pt x="265" y="150"/>
                  </a:lnTo>
                  <a:lnTo>
                    <a:pt x="280" y="132"/>
                  </a:lnTo>
                  <a:lnTo>
                    <a:pt x="291" y="113"/>
                  </a:lnTo>
                  <a:lnTo>
                    <a:pt x="303" y="95"/>
                  </a:lnTo>
                  <a:lnTo>
                    <a:pt x="315" y="78"/>
                  </a:lnTo>
                  <a:lnTo>
                    <a:pt x="325" y="61"/>
                  </a:lnTo>
                  <a:lnTo>
                    <a:pt x="338" y="44"/>
                  </a:lnTo>
                  <a:lnTo>
                    <a:pt x="353" y="27"/>
                  </a:lnTo>
                  <a:lnTo>
                    <a:pt x="370" y="12"/>
                  </a:lnTo>
                  <a:lnTo>
                    <a:pt x="379" y="7"/>
                  </a:lnTo>
                  <a:lnTo>
                    <a:pt x="391" y="3"/>
                  </a:lnTo>
                  <a:lnTo>
                    <a:pt x="399" y="0"/>
                  </a:lnTo>
                  <a:lnTo>
                    <a:pt x="403" y="0"/>
                  </a:lnTo>
                  <a:lnTo>
                    <a:pt x="430" y="11"/>
                  </a:lnTo>
                  <a:lnTo>
                    <a:pt x="456" y="21"/>
                  </a:lnTo>
                  <a:lnTo>
                    <a:pt x="482" y="29"/>
                  </a:lnTo>
                  <a:lnTo>
                    <a:pt x="506" y="38"/>
                  </a:lnTo>
                  <a:lnTo>
                    <a:pt x="531" y="47"/>
                  </a:lnTo>
                  <a:lnTo>
                    <a:pt x="555" y="55"/>
                  </a:lnTo>
                  <a:lnTo>
                    <a:pt x="581" y="65"/>
                  </a:lnTo>
                  <a:lnTo>
                    <a:pt x="607" y="75"/>
                  </a:lnTo>
                  <a:lnTo>
                    <a:pt x="624" y="82"/>
                  </a:lnTo>
                  <a:lnTo>
                    <a:pt x="641" y="88"/>
                  </a:lnTo>
                  <a:lnTo>
                    <a:pt x="656" y="93"/>
                  </a:lnTo>
                  <a:lnTo>
                    <a:pt x="673" y="99"/>
                  </a:lnTo>
                  <a:lnTo>
                    <a:pt x="689" y="104"/>
                  </a:lnTo>
                  <a:lnTo>
                    <a:pt x="706" y="108"/>
                  </a:lnTo>
                  <a:lnTo>
                    <a:pt x="721" y="112"/>
                  </a:lnTo>
                  <a:lnTo>
                    <a:pt x="738" y="115"/>
                  </a:lnTo>
                  <a:lnTo>
                    <a:pt x="753" y="119"/>
                  </a:lnTo>
                  <a:lnTo>
                    <a:pt x="770" y="122"/>
                  </a:lnTo>
                  <a:lnTo>
                    <a:pt x="786" y="126"/>
                  </a:lnTo>
                  <a:lnTo>
                    <a:pt x="803" y="130"/>
                  </a:lnTo>
                  <a:lnTo>
                    <a:pt x="819" y="132"/>
                  </a:lnTo>
                  <a:lnTo>
                    <a:pt x="838" y="136"/>
                  </a:lnTo>
                  <a:lnTo>
                    <a:pt x="854" y="141"/>
                  </a:lnTo>
                  <a:lnTo>
                    <a:pt x="873" y="145"/>
                  </a:lnTo>
                  <a:lnTo>
                    <a:pt x="885" y="153"/>
                  </a:lnTo>
                  <a:lnTo>
                    <a:pt x="892" y="165"/>
                  </a:lnTo>
                  <a:lnTo>
                    <a:pt x="892" y="179"/>
                  </a:lnTo>
                  <a:lnTo>
                    <a:pt x="885" y="192"/>
                  </a:lnTo>
                  <a:lnTo>
                    <a:pt x="879" y="200"/>
                  </a:lnTo>
                  <a:lnTo>
                    <a:pt x="874" y="207"/>
                  </a:lnTo>
                  <a:lnTo>
                    <a:pt x="870" y="214"/>
                  </a:lnTo>
                  <a:lnTo>
                    <a:pt x="865" y="220"/>
                  </a:lnTo>
                  <a:lnTo>
                    <a:pt x="860" y="228"/>
                  </a:lnTo>
                  <a:lnTo>
                    <a:pt x="854" y="235"/>
                  </a:lnTo>
                  <a:lnTo>
                    <a:pt x="849" y="242"/>
                  </a:lnTo>
                  <a:lnTo>
                    <a:pt x="843" y="250"/>
                  </a:lnTo>
                  <a:lnTo>
                    <a:pt x="830" y="267"/>
                  </a:lnTo>
                  <a:lnTo>
                    <a:pt x="814" y="288"/>
                  </a:lnTo>
                  <a:lnTo>
                    <a:pt x="799" y="310"/>
                  </a:lnTo>
                  <a:lnTo>
                    <a:pt x="782" y="331"/>
                  </a:lnTo>
                  <a:lnTo>
                    <a:pt x="768" y="350"/>
                  </a:lnTo>
                  <a:lnTo>
                    <a:pt x="755" y="367"/>
                  </a:lnTo>
                  <a:lnTo>
                    <a:pt x="746" y="377"/>
                  </a:lnTo>
                  <a:lnTo>
                    <a:pt x="742" y="380"/>
                  </a:lnTo>
                  <a:lnTo>
                    <a:pt x="729" y="372"/>
                  </a:lnTo>
                  <a:lnTo>
                    <a:pt x="716" y="367"/>
                  </a:lnTo>
                  <a:lnTo>
                    <a:pt x="702" y="363"/>
                  </a:lnTo>
                  <a:lnTo>
                    <a:pt x="687" y="359"/>
                  </a:lnTo>
                  <a:lnTo>
                    <a:pt x="673" y="358"/>
                  </a:lnTo>
                  <a:lnTo>
                    <a:pt x="659" y="356"/>
                  </a:lnTo>
                  <a:lnTo>
                    <a:pt x="645" y="356"/>
                  </a:lnTo>
                  <a:lnTo>
                    <a:pt x="630" y="358"/>
                  </a:lnTo>
                  <a:lnTo>
                    <a:pt x="620" y="359"/>
                  </a:lnTo>
                  <a:lnTo>
                    <a:pt x="610" y="363"/>
                  </a:lnTo>
                  <a:lnTo>
                    <a:pt x="601" y="368"/>
                  </a:lnTo>
                  <a:lnTo>
                    <a:pt x="593" y="375"/>
                  </a:lnTo>
                  <a:lnTo>
                    <a:pt x="586" y="384"/>
                  </a:lnTo>
                  <a:lnTo>
                    <a:pt x="583" y="391"/>
                  </a:lnTo>
                  <a:lnTo>
                    <a:pt x="579" y="402"/>
                  </a:lnTo>
                  <a:lnTo>
                    <a:pt x="577" y="411"/>
                  </a:lnTo>
                  <a:lnTo>
                    <a:pt x="580" y="428"/>
                  </a:lnTo>
                  <a:lnTo>
                    <a:pt x="586" y="441"/>
                  </a:lnTo>
                  <a:lnTo>
                    <a:pt x="598" y="451"/>
                  </a:lnTo>
                  <a:lnTo>
                    <a:pt x="612" y="459"/>
                  </a:lnTo>
                  <a:lnTo>
                    <a:pt x="629" y="464"/>
                  </a:lnTo>
                  <a:lnTo>
                    <a:pt x="646" y="469"/>
                  </a:lnTo>
                  <a:lnTo>
                    <a:pt x="663" y="474"/>
                  </a:lnTo>
                  <a:lnTo>
                    <a:pt x="677" y="479"/>
                  </a:lnTo>
                  <a:lnTo>
                    <a:pt x="674" y="487"/>
                  </a:lnTo>
                  <a:lnTo>
                    <a:pt x="663" y="508"/>
                  </a:lnTo>
                  <a:lnTo>
                    <a:pt x="643" y="538"/>
                  </a:lnTo>
                  <a:lnTo>
                    <a:pt x="619" y="573"/>
                  </a:lnTo>
                  <a:lnTo>
                    <a:pt x="592" y="612"/>
                  </a:lnTo>
                  <a:lnTo>
                    <a:pt x="562" y="650"/>
                  </a:lnTo>
                  <a:lnTo>
                    <a:pt x="533" y="687"/>
                  </a:lnTo>
                  <a:lnTo>
                    <a:pt x="506" y="718"/>
                  </a:lnTo>
                  <a:lnTo>
                    <a:pt x="498" y="720"/>
                  </a:lnTo>
                  <a:lnTo>
                    <a:pt x="492" y="723"/>
                  </a:lnTo>
                  <a:lnTo>
                    <a:pt x="483" y="724"/>
                  </a:lnTo>
                  <a:lnTo>
                    <a:pt x="475" y="724"/>
                  </a:lnTo>
                  <a:lnTo>
                    <a:pt x="466" y="726"/>
                  </a:lnTo>
                  <a:lnTo>
                    <a:pt x="458" y="724"/>
                  </a:lnTo>
                  <a:lnTo>
                    <a:pt x="451" y="724"/>
                  </a:lnTo>
                  <a:lnTo>
                    <a:pt x="443" y="723"/>
                  </a:lnTo>
                  <a:lnTo>
                    <a:pt x="421" y="718"/>
                  </a:lnTo>
                  <a:lnTo>
                    <a:pt x="396" y="710"/>
                  </a:lnTo>
                  <a:lnTo>
                    <a:pt x="370" y="702"/>
                  </a:lnTo>
                  <a:lnTo>
                    <a:pt x="346" y="693"/>
                  </a:lnTo>
                  <a:lnTo>
                    <a:pt x="324" y="684"/>
                  </a:lnTo>
                  <a:lnTo>
                    <a:pt x="304" y="678"/>
                  </a:lnTo>
                  <a:lnTo>
                    <a:pt x="291" y="672"/>
                  </a:lnTo>
                  <a:lnTo>
                    <a:pt x="286" y="670"/>
                  </a:lnTo>
                  <a:lnTo>
                    <a:pt x="268" y="663"/>
                  </a:lnTo>
                  <a:lnTo>
                    <a:pt x="251" y="657"/>
                  </a:lnTo>
                  <a:lnTo>
                    <a:pt x="233" y="652"/>
                  </a:lnTo>
                  <a:lnTo>
                    <a:pt x="216" y="645"/>
                  </a:lnTo>
                  <a:lnTo>
                    <a:pt x="198" y="639"/>
                  </a:lnTo>
                  <a:lnTo>
                    <a:pt x="181" y="632"/>
                  </a:lnTo>
                  <a:lnTo>
                    <a:pt x="163" y="626"/>
                  </a:lnTo>
                  <a:lnTo>
                    <a:pt x="146" y="621"/>
                  </a:lnTo>
                  <a:lnTo>
                    <a:pt x="128" y="614"/>
                  </a:lnTo>
                  <a:lnTo>
                    <a:pt x="111" y="608"/>
                  </a:lnTo>
                  <a:lnTo>
                    <a:pt x="93" y="601"/>
                  </a:lnTo>
                  <a:lnTo>
                    <a:pt x="76" y="595"/>
                  </a:lnTo>
                  <a:lnTo>
                    <a:pt x="58" y="588"/>
                  </a:lnTo>
                  <a:lnTo>
                    <a:pt x="42" y="582"/>
                  </a:lnTo>
                  <a:lnTo>
                    <a:pt x="23" y="574"/>
                  </a:lnTo>
                  <a:lnTo>
                    <a:pt x="7" y="568"/>
                  </a:lnTo>
                  <a:lnTo>
                    <a:pt x="5" y="565"/>
                  </a:lnTo>
                  <a:lnTo>
                    <a:pt x="3" y="562"/>
                  </a:lnTo>
                  <a:lnTo>
                    <a:pt x="1" y="560"/>
                  </a:lnTo>
                  <a:lnTo>
                    <a:pt x="0" y="557"/>
                  </a:lnTo>
                  <a:lnTo>
                    <a:pt x="21" y="520"/>
                  </a:lnTo>
                  <a:lnTo>
                    <a:pt x="44" y="483"/>
                  </a:lnTo>
                  <a:lnTo>
                    <a:pt x="67" y="447"/>
                  </a:lnTo>
                  <a:lnTo>
                    <a:pt x="92" y="412"/>
                  </a:lnTo>
                  <a:lnTo>
                    <a:pt x="115" y="376"/>
                  </a:lnTo>
                  <a:lnTo>
                    <a:pt x="139" y="338"/>
                  </a:lnTo>
                  <a:lnTo>
                    <a:pt x="161" y="302"/>
                  </a:lnTo>
                  <a:lnTo>
                    <a:pt x="181" y="263"/>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329" name="Freeform 25"/>
            <p:cNvSpPr>
              <a:spLocks/>
            </p:cNvSpPr>
            <p:nvPr/>
          </p:nvSpPr>
          <p:spPr bwMode="auto">
            <a:xfrm>
              <a:off x="1387" y="3070"/>
              <a:ext cx="762" cy="308"/>
            </a:xfrm>
            <a:custGeom>
              <a:avLst/>
              <a:gdLst>
                <a:gd name="T0" fmla="*/ 39 w 762"/>
                <a:gd name="T1" fmla="*/ 99 h 308"/>
                <a:gd name="T2" fmla="*/ 103 w 762"/>
                <a:gd name="T3" fmla="*/ 128 h 308"/>
                <a:gd name="T4" fmla="*/ 164 w 762"/>
                <a:gd name="T5" fmla="*/ 152 h 308"/>
                <a:gd name="T6" fmla="*/ 195 w 762"/>
                <a:gd name="T7" fmla="*/ 164 h 308"/>
                <a:gd name="T8" fmla="*/ 250 w 762"/>
                <a:gd name="T9" fmla="*/ 184 h 308"/>
                <a:gd name="T10" fmla="*/ 316 w 762"/>
                <a:gd name="T11" fmla="*/ 208 h 308"/>
                <a:gd name="T12" fmla="*/ 382 w 762"/>
                <a:gd name="T13" fmla="*/ 230 h 308"/>
                <a:gd name="T14" fmla="*/ 435 w 762"/>
                <a:gd name="T15" fmla="*/ 244 h 308"/>
                <a:gd name="T16" fmla="*/ 467 w 762"/>
                <a:gd name="T17" fmla="*/ 251 h 308"/>
                <a:gd name="T18" fmla="*/ 494 w 762"/>
                <a:gd name="T19" fmla="*/ 256 h 308"/>
                <a:gd name="T20" fmla="*/ 520 w 762"/>
                <a:gd name="T21" fmla="*/ 252 h 308"/>
                <a:gd name="T22" fmla="*/ 569 w 762"/>
                <a:gd name="T23" fmla="*/ 190 h 308"/>
                <a:gd name="T24" fmla="*/ 616 w 762"/>
                <a:gd name="T25" fmla="*/ 121 h 308"/>
                <a:gd name="T26" fmla="*/ 656 w 762"/>
                <a:gd name="T27" fmla="*/ 66 h 308"/>
                <a:gd name="T28" fmla="*/ 689 w 762"/>
                <a:gd name="T29" fmla="*/ 26 h 308"/>
                <a:gd name="T30" fmla="*/ 714 w 762"/>
                <a:gd name="T31" fmla="*/ 0 h 308"/>
                <a:gd name="T32" fmla="*/ 729 w 762"/>
                <a:gd name="T33" fmla="*/ 11 h 308"/>
                <a:gd name="T34" fmla="*/ 747 w 762"/>
                <a:gd name="T35" fmla="*/ 32 h 308"/>
                <a:gd name="T36" fmla="*/ 762 w 762"/>
                <a:gd name="T37" fmla="*/ 50 h 308"/>
                <a:gd name="T38" fmla="*/ 745 w 762"/>
                <a:gd name="T39" fmla="*/ 73 h 308"/>
                <a:gd name="T40" fmla="*/ 726 w 762"/>
                <a:gd name="T41" fmla="*/ 64 h 308"/>
                <a:gd name="T42" fmla="*/ 712 w 762"/>
                <a:gd name="T43" fmla="*/ 54 h 308"/>
                <a:gd name="T44" fmla="*/ 685 w 762"/>
                <a:gd name="T45" fmla="*/ 89 h 308"/>
                <a:gd name="T46" fmla="*/ 656 w 762"/>
                <a:gd name="T47" fmla="*/ 130 h 308"/>
                <a:gd name="T48" fmla="*/ 656 w 762"/>
                <a:gd name="T49" fmla="*/ 140 h 308"/>
                <a:gd name="T50" fmla="*/ 677 w 762"/>
                <a:gd name="T51" fmla="*/ 147 h 308"/>
                <a:gd name="T52" fmla="*/ 701 w 762"/>
                <a:gd name="T53" fmla="*/ 147 h 308"/>
                <a:gd name="T54" fmla="*/ 686 w 762"/>
                <a:gd name="T55" fmla="*/ 169 h 308"/>
                <a:gd name="T56" fmla="*/ 669 w 762"/>
                <a:gd name="T57" fmla="*/ 190 h 308"/>
                <a:gd name="T58" fmla="*/ 652 w 762"/>
                <a:gd name="T59" fmla="*/ 191 h 308"/>
                <a:gd name="T60" fmla="*/ 633 w 762"/>
                <a:gd name="T61" fmla="*/ 154 h 308"/>
                <a:gd name="T62" fmla="*/ 610 w 762"/>
                <a:gd name="T63" fmla="*/ 180 h 308"/>
                <a:gd name="T64" fmla="*/ 572 w 762"/>
                <a:gd name="T65" fmla="*/ 225 h 308"/>
                <a:gd name="T66" fmla="*/ 562 w 762"/>
                <a:gd name="T67" fmla="*/ 243 h 308"/>
                <a:gd name="T68" fmla="*/ 579 w 762"/>
                <a:gd name="T69" fmla="*/ 251 h 308"/>
                <a:gd name="T70" fmla="*/ 602 w 762"/>
                <a:gd name="T71" fmla="*/ 256 h 308"/>
                <a:gd name="T72" fmla="*/ 590 w 762"/>
                <a:gd name="T73" fmla="*/ 276 h 308"/>
                <a:gd name="T74" fmla="*/ 568 w 762"/>
                <a:gd name="T75" fmla="*/ 296 h 308"/>
                <a:gd name="T76" fmla="*/ 558 w 762"/>
                <a:gd name="T77" fmla="*/ 308 h 308"/>
                <a:gd name="T78" fmla="*/ 479 w 762"/>
                <a:gd name="T79" fmla="*/ 294 h 308"/>
                <a:gd name="T80" fmla="*/ 375 w 762"/>
                <a:gd name="T81" fmla="*/ 265 h 308"/>
                <a:gd name="T82" fmla="*/ 264 w 762"/>
                <a:gd name="T83" fmla="*/ 228 h 308"/>
                <a:gd name="T84" fmla="*/ 163 w 762"/>
                <a:gd name="T85" fmla="*/ 189 h 308"/>
                <a:gd name="T86" fmla="*/ 88 w 762"/>
                <a:gd name="T87" fmla="*/ 155 h 308"/>
                <a:gd name="T88" fmla="*/ 57 w 762"/>
                <a:gd name="T89" fmla="*/ 140 h 308"/>
                <a:gd name="T90" fmla="*/ 26 w 762"/>
                <a:gd name="T91" fmla="*/ 128 h 308"/>
                <a:gd name="T92" fmla="*/ 9 w 762"/>
                <a:gd name="T93" fmla="*/ 123 h 308"/>
                <a:gd name="T94" fmla="*/ 2 w 762"/>
                <a:gd name="T95" fmla="*/ 90 h 30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62"/>
                <a:gd name="T145" fmla="*/ 0 h 308"/>
                <a:gd name="T146" fmla="*/ 762 w 762"/>
                <a:gd name="T147" fmla="*/ 308 h 30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62" h="308">
                  <a:moveTo>
                    <a:pt x="0" y="84"/>
                  </a:moveTo>
                  <a:lnTo>
                    <a:pt x="18" y="92"/>
                  </a:lnTo>
                  <a:lnTo>
                    <a:pt x="39" y="99"/>
                  </a:lnTo>
                  <a:lnTo>
                    <a:pt x="61" y="108"/>
                  </a:lnTo>
                  <a:lnTo>
                    <a:pt x="83" y="118"/>
                  </a:lnTo>
                  <a:lnTo>
                    <a:pt x="103" y="128"/>
                  </a:lnTo>
                  <a:lnTo>
                    <a:pt x="125" y="136"/>
                  </a:lnTo>
                  <a:lnTo>
                    <a:pt x="146" y="145"/>
                  </a:lnTo>
                  <a:lnTo>
                    <a:pt x="164" y="152"/>
                  </a:lnTo>
                  <a:lnTo>
                    <a:pt x="171" y="155"/>
                  </a:lnTo>
                  <a:lnTo>
                    <a:pt x="181" y="159"/>
                  </a:lnTo>
                  <a:lnTo>
                    <a:pt x="195" y="164"/>
                  </a:lnTo>
                  <a:lnTo>
                    <a:pt x="211" y="169"/>
                  </a:lnTo>
                  <a:lnTo>
                    <a:pt x="229" y="177"/>
                  </a:lnTo>
                  <a:lnTo>
                    <a:pt x="250" y="184"/>
                  </a:lnTo>
                  <a:lnTo>
                    <a:pt x="272" y="191"/>
                  </a:lnTo>
                  <a:lnTo>
                    <a:pt x="294" y="199"/>
                  </a:lnTo>
                  <a:lnTo>
                    <a:pt x="316" y="208"/>
                  </a:lnTo>
                  <a:lnTo>
                    <a:pt x="339" y="216"/>
                  </a:lnTo>
                  <a:lnTo>
                    <a:pt x="361" y="222"/>
                  </a:lnTo>
                  <a:lnTo>
                    <a:pt x="382" y="230"/>
                  </a:lnTo>
                  <a:lnTo>
                    <a:pt x="401" y="235"/>
                  </a:lnTo>
                  <a:lnTo>
                    <a:pt x="419" y="241"/>
                  </a:lnTo>
                  <a:lnTo>
                    <a:pt x="435" y="244"/>
                  </a:lnTo>
                  <a:lnTo>
                    <a:pt x="448" y="247"/>
                  </a:lnTo>
                  <a:lnTo>
                    <a:pt x="457" y="248"/>
                  </a:lnTo>
                  <a:lnTo>
                    <a:pt x="467" y="251"/>
                  </a:lnTo>
                  <a:lnTo>
                    <a:pt x="476" y="252"/>
                  </a:lnTo>
                  <a:lnTo>
                    <a:pt x="485" y="255"/>
                  </a:lnTo>
                  <a:lnTo>
                    <a:pt x="494" y="256"/>
                  </a:lnTo>
                  <a:lnTo>
                    <a:pt x="503" y="256"/>
                  </a:lnTo>
                  <a:lnTo>
                    <a:pt x="512" y="255"/>
                  </a:lnTo>
                  <a:lnTo>
                    <a:pt x="520" y="252"/>
                  </a:lnTo>
                  <a:lnTo>
                    <a:pt x="537" y="233"/>
                  </a:lnTo>
                  <a:lnTo>
                    <a:pt x="554" y="212"/>
                  </a:lnTo>
                  <a:lnTo>
                    <a:pt x="569" y="190"/>
                  </a:lnTo>
                  <a:lnTo>
                    <a:pt x="585" y="167"/>
                  </a:lnTo>
                  <a:lnTo>
                    <a:pt x="601" y="143"/>
                  </a:lnTo>
                  <a:lnTo>
                    <a:pt x="616" y="121"/>
                  </a:lnTo>
                  <a:lnTo>
                    <a:pt x="632" y="98"/>
                  </a:lnTo>
                  <a:lnTo>
                    <a:pt x="647" y="77"/>
                  </a:lnTo>
                  <a:lnTo>
                    <a:pt x="656" y="66"/>
                  </a:lnTo>
                  <a:lnTo>
                    <a:pt x="667" y="53"/>
                  </a:lnTo>
                  <a:lnTo>
                    <a:pt x="678" y="38"/>
                  </a:lnTo>
                  <a:lnTo>
                    <a:pt x="689" y="26"/>
                  </a:lnTo>
                  <a:lnTo>
                    <a:pt x="699" y="14"/>
                  </a:lnTo>
                  <a:lnTo>
                    <a:pt x="708" y="5"/>
                  </a:lnTo>
                  <a:lnTo>
                    <a:pt x="714" y="0"/>
                  </a:lnTo>
                  <a:lnTo>
                    <a:pt x="718" y="0"/>
                  </a:lnTo>
                  <a:lnTo>
                    <a:pt x="723" y="5"/>
                  </a:lnTo>
                  <a:lnTo>
                    <a:pt x="729" y="11"/>
                  </a:lnTo>
                  <a:lnTo>
                    <a:pt x="735" y="18"/>
                  </a:lnTo>
                  <a:lnTo>
                    <a:pt x="740" y="24"/>
                  </a:lnTo>
                  <a:lnTo>
                    <a:pt x="747" y="32"/>
                  </a:lnTo>
                  <a:lnTo>
                    <a:pt x="752" y="38"/>
                  </a:lnTo>
                  <a:lnTo>
                    <a:pt x="757" y="45"/>
                  </a:lnTo>
                  <a:lnTo>
                    <a:pt x="762" y="50"/>
                  </a:lnTo>
                  <a:lnTo>
                    <a:pt x="756" y="58"/>
                  </a:lnTo>
                  <a:lnTo>
                    <a:pt x="751" y="66"/>
                  </a:lnTo>
                  <a:lnTo>
                    <a:pt x="745" y="73"/>
                  </a:lnTo>
                  <a:lnTo>
                    <a:pt x="740" y="83"/>
                  </a:lnTo>
                  <a:lnTo>
                    <a:pt x="734" y="75"/>
                  </a:lnTo>
                  <a:lnTo>
                    <a:pt x="726" y="64"/>
                  </a:lnTo>
                  <a:lnTo>
                    <a:pt x="718" y="55"/>
                  </a:lnTo>
                  <a:lnTo>
                    <a:pt x="714" y="51"/>
                  </a:lnTo>
                  <a:lnTo>
                    <a:pt x="712" y="54"/>
                  </a:lnTo>
                  <a:lnTo>
                    <a:pt x="705" y="63"/>
                  </a:lnTo>
                  <a:lnTo>
                    <a:pt x="695" y="75"/>
                  </a:lnTo>
                  <a:lnTo>
                    <a:pt x="685" y="89"/>
                  </a:lnTo>
                  <a:lnTo>
                    <a:pt x="673" y="105"/>
                  </a:lnTo>
                  <a:lnTo>
                    <a:pt x="663" y="119"/>
                  </a:lnTo>
                  <a:lnTo>
                    <a:pt x="656" y="130"/>
                  </a:lnTo>
                  <a:lnTo>
                    <a:pt x="652" y="137"/>
                  </a:lnTo>
                  <a:lnTo>
                    <a:pt x="652" y="138"/>
                  </a:lnTo>
                  <a:lnTo>
                    <a:pt x="656" y="140"/>
                  </a:lnTo>
                  <a:lnTo>
                    <a:pt x="661" y="142"/>
                  </a:lnTo>
                  <a:lnTo>
                    <a:pt x="669" y="145"/>
                  </a:lnTo>
                  <a:lnTo>
                    <a:pt x="677" y="147"/>
                  </a:lnTo>
                  <a:lnTo>
                    <a:pt x="686" y="149"/>
                  </a:lnTo>
                  <a:lnTo>
                    <a:pt x="694" y="149"/>
                  </a:lnTo>
                  <a:lnTo>
                    <a:pt x="701" y="147"/>
                  </a:lnTo>
                  <a:lnTo>
                    <a:pt x="696" y="155"/>
                  </a:lnTo>
                  <a:lnTo>
                    <a:pt x="691" y="162"/>
                  </a:lnTo>
                  <a:lnTo>
                    <a:pt x="686" y="169"/>
                  </a:lnTo>
                  <a:lnTo>
                    <a:pt x="681" y="176"/>
                  </a:lnTo>
                  <a:lnTo>
                    <a:pt x="674" y="182"/>
                  </a:lnTo>
                  <a:lnTo>
                    <a:pt x="669" y="190"/>
                  </a:lnTo>
                  <a:lnTo>
                    <a:pt x="663" y="197"/>
                  </a:lnTo>
                  <a:lnTo>
                    <a:pt x="657" y="203"/>
                  </a:lnTo>
                  <a:lnTo>
                    <a:pt x="652" y="191"/>
                  </a:lnTo>
                  <a:lnTo>
                    <a:pt x="645" y="174"/>
                  </a:lnTo>
                  <a:lnTo>
                    <a:pt x="637" y="160"/>
                  </a:lnTo>
                  <a:lnTo>
                    <a:pt x="633" y="154"/>
                  </a:lnTo>
                  <a:lnTo>
                    <a:pt x="629" y="158"/>
                  </a:lnTo>
                  <a:lnTo>
                    <a:pt x="621" y="167"/>
                  </a:lnTo>
                  <a:lnTo>
                    <a:pt x="610" y="180"/>
                  </a:lnTo>
                  <a:lnTo>
                    <a:pt x="597" y="195"/>
                  </a:lnTo>
                  <a:lnTo>
                    <a:pt x="584" y="211"/>
                  </a:lnTo>
                  <a:lnTo>
                    <a:pt x="572" y="225"/>
                  </a:lnTo>
                  <a:lnTo>
                    <a:pt x="564" y="235"/>
                  </a:lnTo>
                  <a:lnTo>
                    <a:pt x="560" y="241"/>
                  </a:lnTo>
                  <a:lnTo>
                    <a:pt x="562" y="243"/>
                  </a:lnTo>
                  <a:lnTo>
                    <a:pt x="564" y="246"/>
                  </a:lnTo>
                  <a:lnTo>
                    <a:pt x="571" y="248"/>
                  </a:lnTo>
                  <a:lnTo>
                    <a:pt x="579" y="251"/>
                  </a:lnTo>
                  <a:lnTo>
                    <a:pt x="586" y="254"/>
                  </a:lnTo>
                  <a:lnTo>
                    <a:pt x="594" y="255"/>
                  </a:lnTo>
                  <a:lnTo>
                    <a:pt x="602" y="256"/>
                  </a:lnTo>
                  <a:lnTo>
                    <a:pt x="607" y="256"/>
                  </a:lnTo>
                  <a:lnTo>
                    <a:pt x="598" y="266"/>
                  </a:lnTo>
                  <a:lnTo>
                    <a:pt x="590" y="276"/>
                  </a:lnTo>
                  <a:lnTo>
                    <a:pt x="582" y="283"/>
                  </a:lnTo>
                  <a:lnTo>
                    <a:pt x="575" y="290"/>
                  </a:lnTo>
                  <a:lnTo>
                    <a:pt x="568" y="296"/>
                  </a:lnTo>
                  <a:lnTo>
                    <a:pt x="563" y="301"/>
                  </a:lnTo>
                  <a:lnTo>
                    <a:pt x="559" y="305"/>
                  </a:lnTo>
                  <a:lnTo>
                    <a:pt x="558" y="308"/>
                  </a:lnTo>
                  <a:lnTo>
                    <a:pt x="536" y="305"/>
                  </a:lnTo>
                  <a:lnTo>
                    <a:pt x="509" y="301"/>
                  </a:lnTo>
                  <a:lnTo>
                    <a:pt x="479" y="294"/>
                  </a:lnTo>
                  <a:lnTo>
                    <a:pt x="446" y="286"/>
                  </a:lnTo>
                  <a:lnTo>
                    <a:pt x="412" y="276"/>
                  </a:lnTo>
                  <a:lnTo>
                    <a:pt x="375" y="265"/>
                  </a:lnTo>
                  <a:lnTo>
                    <a:pt x="338" y="254"/>
                  </a:lnTo>
                  <a:lnTo>
                    <a:pt x="302" y="241"/>
                  </a:lnTo>
                  <a:lnTo>
                    <a:pt x="264" y="228"/>
                  </a:lnTo>
                  <a:lnTo>
                    <a:pt x="228" y="215"/>
                  </a:lnTo>
                  <a:lnTo>
                    <a:pt x="194" y="202"/>
                  </a:lnTo>
                  <a:lnTo>
                    <a:pt x="163" y="189"/>
                  </a:lnTo>
                  <a:lnTo>
                    <a:pt x="133" y="176"/>
                  </a:lnTo>
                  <a:lnTo>
                    <a:pt x="109" y="165"/>
                  </a:lnTo>
                  <a:lnTo>
                    <a:pt x="88" y="155"/>
                  </a:lnTo>
                  <a:lnTo>
                    <a:pt x="71" y="146"/>
                  </a:lnTo>
                  <a:lnTo>
                    <a:pt x="65" y="143"/>
                  </a:lnTo>
                  <a:lnTo>
                    <a:pt x="57" y="140"/>
                  </a:lnTo>
                  <a:lnTo>
                    <a:pt x="47" y="136"/>
                  </a:lnTo>
                  <a:lnTo>
                    <a:pt x="36" y="132"/>
                  </a:lnTo>
                  <a:lnTo>
                    <a:pt x="26" y="128"/>
                  </a:lnTo>
                  <a:lnTo>
                    <a:pt x="17" y="125"/>
                  </a:lnTo>
                  <a:lnTo>
                    <a:pt x="12" y="124"/>
                  </a:lnTo>
                  <a:lnTo>
                    <a:pt x="9" y="123"/>
                  </a:lnTo>
                  <a:lnTo>
                    <a:pt x="8" y="115"/>
                  </a:lnTo>
                  <a:lnTo>
                    <a:pt x="5" y="103"/>
                  </a:lnTo>
                  <a:lnTo>
                    <a:pt x="2" y="90"/>
                  </a:lnTo>
                  <a:lnTo>
                    <a:pt x="0" y="84"/>
                  </a:lnTo>
                  <a:close/>
                </a:path>
              </a:pathLst>
            </a:custGeom>
            <a:solidFill>
              <a:srgbClr val="FFFF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330" name="Freeform 26"/>
            <p:cNvSpPr>
              <a:spLocks/>
            </p:cNvSpPr>
            <p:nvPr/>
          </p:nvSpPr>
          <p:spPr bwMode="auto">
            <a:xfrm>
              <a:off x="2050" y="3142"/>
              <a:ext cx="68" cy="64"/>
            </a:xfrm>
            <a:custGeom>
              <a:avLst/>
              <a:gdLst>
                <a:gd name="T0" fmla="*/ 68 w 68"/>
                <a:gd name="T1" fmla="*/ 30 h 64"/>
                <a:gd name="T2" fmla="*/ 68 w 68"/>
                <a:gd name="T3" fmla="*/ 30 h 64"/>
                <a:gd name="T4" fmla="*/ 64 w 68"/>
                <a:gd name="T5" fmla="*/ 39 h 64"/>
                <a:gd name="T6" fmla="*/ 58 w 68"/>
                <a:gd name="T7" fmla="*/ 46 h 64"/>
                <a:gd name="T8" fmla="*/ 51 w 68"/>
                <a:gd name="T9" fmla="*/ 51 h 64"/>
                <a:gd name="T10" fmla="*/ 44 w 68"/>
                <a:gd name="T11" fmla="*/ 56 h 64"/>
                <a:gd name="T12" fmla="*/ 36 w 68"/>
                <a:gd name="T13" fmla="*/ 58 h 64"/>
                <a:gd name="T14" fmla="*/ 27 w 68"/>
                <a:gd name="T15" fmla="*/ 61 h 64"/>
                <a:gd name="T16" fmla="*/ 18 w 68"/>
                <a:gd name="T17" fmla="*/ 62 h 64"/>
                <a:gd name="T18" fmla="*/ 9 w 68"/>
                <a:gd name="T19" fmla="*/ 64 h 64"/>
                <a:gd name="T20" fmla="*/ 0 w 68"/>
                <a:gd name="T21" fmla="*/ 64 h 64"/>
                <a:gd name="T22" fmla="*/ 1 w 68"/>
                <a:gd name="T23" fmla="*/ 61 h 64"/>
                <a:gd name="T24" fmla="*/ 4 w 68"/>
                <a:gd name="T25" fmla="*/ 60 h 64"/>
                <a:gd name="T26" fmla="*/ 5 w 68"/>
                <a:gd name="T27" fmla="*/ 57 h 64"/>
                <a:gd name="T28" fmla="*/ 6 w 68"/>
                <a:gd name="T29" fmla="*/ 56 h 64"/>
                <a:gd name="T30" fmla="*/ 7 w 68"/>
                <a:gd name="T31" fmla="*/ 56 h 64"/>
                <a:gd name="T32" fmla="*/ 7 w 68"/>
                <a:gd name="T33" fmla="*/ 56 h 64"/>
                <a:gd name="T34" fmla="*/ 7 w 68"/>
                <a:gd name="T35" fmla="*/ 56 h 64"/>
                <a:gd name="T36" fmla="*/ 9 w 68"/>
                <a:gd name="T37" fmla="*/ 55 h 64"/>
                <a:gd name="T38" fmla="*/ 14 w 68"/>
                <a:gd name="T39" fmla="*/ 48 h 64"/>
                <a:gd name="T40" fmla="*/ 20 w 68"/>
                <a:gd name="T41" fmla="*/ 43 h 64"/>
                <a:gd name="T42" fmla="*/ 26 w 68"/>
                <a:gd name="T43" fmla="*/ 36 h 64"/>
                <a:gd name="T44" fmla="*/ 32 w 68"/>
                <a:gd name="T45" fmla="*/ 29 h 64"/>
                <a:gd name="T46" fmla="*/ 37 w 68"/>
                <a:gd name="T47" fmla="*/ 22 h 64"/>
                <a:gd name="T48" fmla="*/ 42 w 68"/>
                <a:gd name="T49" fmla="*/ 16 h 64"/>
                <a:gd name="T50" fmla="*/ 46 w 68"/>
                <a:gd name="T51" fmla="*/ 8 h 64"/>
                <a:gd name="T52" fmla="*/ 51 w 68"/>
                <a:gd name="T53" fmla="*/ 0 h 64"/>
                <a:gd name="T54" fmla="*/ 57 w 68"/>
                <a:gd name="T55" fmla="*/ 7 h 64"/>
                <a:gd name="T56" fmla="*/ 60 w 68"/>
                <a:gd name="T57" fmla="*/ 12 h 64"/>
                <a:gd name="T58" fmla="*/ 64 w 68"/>
                <a:gd name="T59" fmla="*/ 18 h 64"/>
                <a:gd name="T60" fmla="*/ 67 w 68"/>
                <a:gd name="T61" fmla="*/ 25 h 64"/>
                <a:gd name="T62" fmla="*/ 68 w 68"/>
                <a:gd name="T63" fmla="*/ 25 h 64"/>
                <a:gd name="T64" fmla="*/ 67 w 68"/>
                <a:gd name="T65" fmla="*/ 26 h 64"/>
                <a:gd name="T66" fmla="*/ 67 w 68"/>
                <a:gd name="T67" fmla="*/ 27 h 64"/>
                <a:gd name="T68" fmla="*/ 67 w 68"/>
                <a:gd name="T69" fmla="*/ 29 h 64"/>
                <a:gd name="T70" fmla="*/ 68 w 68"/>
                <a:gd name="T71" fmla="*/ 30 h 6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
                <a:gd name="T109" fmla="*/ 0 h 64"/>
                <a:gd name="T110" fmla="*/ 68 w 68"/>
                <a:gd name="T111" fmla="*/ 64 h 6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 h="64">
                  <a:moveTo>
                    <a:pt x="68" y="30"/>
                  </a:moveTo>
                  <a:lnTo>
                    <a:pt x="68" y="30"/>
                  </a:lnTo>
                  <a:lnTo>
                    <a:pt x="64" y="39"/>
                  </a:lnTo>
                  <a:lnTo>
                    <a:pt x="58" y="46"/>
                  </a:lnTo>
                  <a:lnTo>
                    <a:pt x="51" y="51"/>
                  </a:lnTo>
                  <a:lnTo>
                    <a:pt x="44" y="56"/>
                  </a:lnTo>
                  <a:lnTo>
                    <a:pt x="36" y="58"/>
                  </a:lnTo>
                  <a:lnTo>
                    <a:pt x="27" y="61"/>
                  </a:lnTo>
                  <a:lnTo>
                    <a:pt x="18" y="62"/>
                  </a:lnTo>
                  <a:lnTo>
                    <a:pt x="9" y="64"/>
                  </a:lnTo>
                  <a:lnTo>
                    <a:pt x="0" y="64"/>
                  </a:lnTo>
                  <a:lnTo>
                    <a:pt x="1" y="61"/>
                  </a:lnTo>
                  <a:lnTo>
                    <a:pt x="4" y="60"/>
                  </a:lnTo>
                  <a:lnTo>
                    <a:pt x="5" y="57"/>
                  </a:lnTo>
                  <a:lnTo>
                    <a:pt x="6" y="56"/>
                  </a:lnTo>
                  <a:lnTo>
                    <a:pt x="7" y="56"/>
                  </a:lnTo>
                  <a:lnTo>
                    <a:pt x="9" y="55"/>
                  </a:lnTo>
                  <a:lnTo>
                    <a:pt x="14" y="48"/>
                  </a:lnTo>
                  <a:lnTo>
                    <a:pt x="20" y="43"/>
                  </a:lnTo>
                  <a:lnTo>
                    <a:pt x="26" y="36"/>
                  </a:lnTo>
                  <a:lnTo>
                    <a:pt x="32" y="29"/>
                  </a:lnTo>
                  <a:lnTo>
                    <a:pt x="37" y="22"/>
                  </a:lnTo>
                  <a:lnTo>
                    <a:pt x="42" y="16"/>
                  </a:lnTo>
                  <a:lnTo>
                    <a:pt x="46" y="8"/>
                  </a:lnTo>
                  <a:lnTo>
                    <a:pt x="51" y="0"/>
                  </a:lnTo>
                  <a:lnTo>
                    <a:pt x="57" y="7"/>
                  </a:lnTo>
                  <a:lnTo>
                    <a:pt x="60" y="12"/>
                  </a:lnTo>
                  <a:lnTo>
                    <a:pt x="64" y="18"/>
                  </a:lnTo>
                  <a:lnTo>
                    <a:pt x="67" y="25"/>
                  </a:lnTo>
                  <a:lnTo>
                    <a:pt x="68" y="25"/>
                  </a:lnTo>
                  <a:lnTo>
                    <a:pt x="67" y="26"/>
                  </a:lnTo>
                  <a:lnTo>
                    <a:pt x="67" y="27"/>
                  </a:lnTo>
                  <a:lnTo>
                    <a:pt x="67" y="29"/>
                  </a:lnTo>
                  <a:lnTo>
                    <a:pt x="68" y="30"/>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331" name="Freeform 27"/>
            <p:cNvSpPr>
              <a:spLocks/>
            </p:cNvSpPr>
            <p:nvPr/>
          </p:nvSpPr>
          <p:spPr bwMode="auto">
            <a:xfrm>
              <a:off x="1973" y="3255"/>
              <a:ext cx="52" cy="49"/>
            </a:xfrm>
            <a:custGeom>
              <a:avLst/>
              <a:gdLst>
                <a:gd name="T0" fmla="*/ 51 w 52"/>
                <a:gd name="T1" fmla="*/ 32 h 49"/>
                <a:gd name="T2" fmla="*/ 47 w 52"/>
                <a:gd name="T3" fmla="*/ 40 h 49"/>
                <a:gd name="T4" fmla="*/ 42 w 52"/>
                <a:gd name="T5" fmla="*/ 45 h 49"/>
                <a:gd name="T6" fmla="*/ 37 w 52"/>
                <a:gd name="T7" fmla="*/ 48 h 49"/>
                <a:gd name="T8" fmla="*/ 30 w 52"/>
                <a:gd name="T9" fmla="*/ 49 h 49"/>
                <a:gd name="T10" fmla="*/ 22 w 52"/>
                <a:gd name="T11" fmla="*/ 49 h 49"/>
                <a:gd name="T12" fmla="*/ 16 w 52"/>
                <a:gd name="T13" fmla="*/ 48 h 49"/>
                <a:gd name="T14" fmla="*/ 8 w 52"/>
                <a:gd name="T15" fmla="*/ 45 h 49"/>
                <a:gd name="T16" fmla="*/ 0 w 52"/>
                <a:gd name="T17" fmla="*/ 43 h 49"/>
                <a:gd name="T18" fmla="*/ 2 w 52"/>
                <a:gd name="T19" fmla="*/ 41 h 49"/>
                <a:gd name="T20" fmla="*/ 5 w 52"/>
                <a:gd name="T21" fmla="*/ 39 h 49"/>
                <a:gd name="T22" fmla="*/ 11 w 52"/>
                <a:gd name="T23" fmla="*/ 34 h 49"/>
                <a:gd name="T24" fmla="*/ 17 w 52"/>
                <a:gd name="T25" fmla="*/ 27 h 49"/>
                <a:gd name="T26" fmla="*/ 24 w 52"/>
                <a:gd name="T27" fmla="*/ 21 h 49"/>
                <a:gd name="T28" fmla="*/ 30 w 52"/>
                <a:gd name="T29" fmla="*/ 14 h 49"/>
                <a:gd name="T30" fmla="*/ 37 w 52"/>
                <a:gd name="T31" fmla="*/ 6 h 49"/>
                <a:gd name="T32" fmla="*/ 42 w 52"/>
                <a:gd name="T33" fmla="*/ 0 h 49"/>
                <a:gd name="T34" fmla="*/ 46 w 52"/>
                <a:gd name="T35" fmla="*/ 9 h 49"/>
                <a:gd name="T36" fmla="*/ 49 w 52"/>
                <a:gd name="T37" fmla="*/ 17 h 49"/>
                <a:gd name="T38" fmla="*/ 52 w 52"/>
                <a:gd name="T39" fmla="*/ 24 h 49"/>
                <a:gd name="T40" fmla="*/ 51 w 52"/>
                <a:gd name="T41" fmla="*/ 32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2"/>
                <a:gd name="T64" fmla="*/ 0 h 49"/>
                <a:gd name="T65" fmla="*/ 52 w 52"/>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2" h="49">
                  <a:moveTo>
                    <a:pt x="51" y="32"/>
                  </a:moveTo>
                  <a:lnTo>
                    <a:pt x="47" y="40"/>
                  </a:lnTo>
                  <a:lnTo>
                    <a:pt x="42" y="45"/>
                  </a:lnTo>
                  <a:lnTo>
                    <a:pt x="37" y="48"/>
                  </a:lnTo>
                  <a:lnTo>
                    <a:pt x="30" y="49"/>
                  </a:lnTo>
                  <a:lnTo>
                    <a:pt x="22" y="49"/>
                  </a:lnTo>
                  <a:lnTo>
                    <a:pt x="16" y="48"/>
                  </a:lnTo>
                  <a:lnTo>
                    <a:pt x="8" y="45"/>
                  </a:lnTo>
                  <a:lnTo>
                    <a:pt x="0" y="43"/>
                  </a:lnTo>
                  <a:lnTo>
                    <a:pt x="2" y="41"/>
                  </a:lnTo>
                  <a:lnTo>
                    <a:pt x="5" y="39"/>
                  </a:lnTo>
                  <a:lnTo>
                    <a:pt x="11" y="34"/>
                  </a:lnTo>
                  <a:lnTo>
                    <a:pt x="17" y="27"/>
                  </a:lnTo>
                  <a:lnTo>
                    <a:pt x="24" y="21"/>
                  </a:lnTo>
                  <a:lnTo>
                    <a:pt x="30" y="14"/>
                  </a:lnTo>
                  <a:lnTo>
                    <a:pt x="37" y="6"/>
                  </a:lnTo>
                  <a:lnTo>
                    <a:pt x="42" y="0"/>
                  </a:lnTo>
                  <a:lnTo>
                    <a:pt x="46" y="9"/>
                  </a:lnTo>
                  <a:lnTo>
                    <a:pt x="49" y="17"/>
                  </a:lnTo>
                  <a:lnTo>
                    <a:pt x="52" y="24"/>
                  </a:lnTo>
                  <a:lnTo>
                    <a:pt x="51" y="3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332" name="Freeform 28"/>
            <p:cNvSpPr>
              <a:spLocks/>
            </p:cNvSpPr>
            <p:nvPr/>
          </p:nvSpPr>
          <p:spPr bwMode="auto">
            <a:xfrm>
              <a:off x="1400" y="3136"/>
              <a:ext cx="775" cy="285"/>
            </a:xfrm>
            <a:custGeom>
              <a:avLst/>
              <a:gdLst>
                <a:gd name="T0" fmla="*/ 652 w 775"/>
                <a:gd name="T1" fmla="*/ 190 h 285"/>
                <a:gd name="T2" fmla="*/ 630 w 775"/>
                <a:gd name="T3" fmla="*/ 221 h 285"/>
                <a:gd name="T4" fmla="*/ 606 w 775"/>
                <a:gd name="T5" fmla="*/ 251 h 285"/>
                <a:gd name="T6" fmla="*/ 577 w 775"/>
                <a:gd name="T7" fmla="*/ 273 h 285"/>
                <a:gd name="T8" fmla="*/ 542 w 775"/>
                <a:gd name="T9" fmla="*/ 283 h 285"/>
                <a:gd name="T10" fmla="*/ 503 w 775"/>
                <a:gd name="T11" fmla="*/ 285 h 285"/>
                <a:gd name="T12" fmla="*/ 466 w 775"/>
                <a:gd name="T13" fmla="*/ 278 h 285"/>
                <a:gd name="T14" fmla="*/ 428 w 775"/>
                <a:gd name="T15" fmla="*/ 267 h 285"/>
                <a:gd name="T16" fmla="*/ 386 w 775"/>
                <a:gd name="T17" fmla="*/ 251 h 285"/>
                <a:gd name="T18" fmla="*/ 335 w 775"/>
                <a:gd name="T19" fmla="*/ 232 h 285"/>
                <a:gd name="T20" fmla="*/ 286 w 775"/>
                <a:gd name="T21" fmla="*/ 212 h 285"/>
                <a:gd name="T22" fmla="*/ 234 w 775"/>
                <a:gd name="T23" fmla="*/ 193 h 285"/>
                <a:gd name="T24" fmla="*/ 184 w 775"/>
                <a:gd name="T25" fmla="*/ 172 h 285"/>
                <a:gd name="T26" fmla="*/ 133 w 775"/>
                <a:gd name="T27" fmla="*/ 153 h 285"/>
                <a:gd name="T28" fmla="*/ 84 w 775"/>
                <a:gd name="T29" fmla="*/ 132 h 285"/>
                <a:gd name="T30" fmla="*/ 35 w 775"/>
                <a:gd name="T31" fmla="*/ 111 h 285"/>
                <a:gd name="T32" fmla="*/ 9 w 775"/>
                <a:gd name="T33" fmla="*/ 98 h 285"/>
                <a:gd name="T34" fmla="*/ 1 w 775"/>
                <a:gd name="T35" fmla="*/ 84 h 285"/>
                <a:gd name="T36" fmla="*/ 9 w 775"/>
                <a:gd name="T37" fmla="*/ 83 h 285"/>
                <a:gd name="T38" fmla="*/ 31 w 775"/>
                <a:gd name="T39" fmla="*/ 92 h 285"/>
                <a:gd name="T40" fmla="*/ 54 w 775"/>
                <a:gd name="T41" fmla="*/ 101 h 285"/>
                <a:gd name="T42" fmla="*/ 76 w 775"/>
                <a:gd name="T43" fmla="*/ 110 h 285"/>
                <a:gd name="T44" fmla="*/ 111 w 775"/>
                <a:gd name="T45" fmla="*/ 127 h 285"/>
                <a:gd name="T46" fmla="*/ 158 w 775"/>
                <a:gd name="T47" fmla="*/ 146 h 285"/>
                <a:gd name="T48" fmla="*/ 198 w 775"/>
                <a:gd name="T49" fmla="*/ 160 h 285"/>
                <a:gd name="T50" fmla="*/ 232 w 775"/>
                <a:gd name="T51" fmla="*/ 172 h 285"/>
                <a:gd name="T52" fmla="*/ 264 w 775"/>
                <a:gd name="T53" fmla="*/ 184 h 285"/>
                <a:gd name="T54" fmla="*/ 296 w 775"/>
                <a:gd name="T55" fmla="*/ 195 h 285"/>
                <a:gd name="T56" fmla="*/ 329 w 775"/>
                <a:gd name="T57" fmla="*/ 207 h 285"/>
                <a:gd name="T58" fmla="*/ 361 w 775"/>
                <a:gd name="T59" fmla="*/ 219 h 285"/>
                <a:gd name="T60" fmla="*/ 393 w 775"/>
                <a:gd name="T61" fmla="*/ 230 h 285"/>
                <a:gd name="T62" fmla="*/ 426 w 775"/>
                <a:gd name="T63" fmla="*/ 241 h 285"/>
                <a:gd name="T64" fmla="*/ 458 w 775"/>
                <a:gd name="T65" fmla="*/ 251 h 285"/>
                <a:gd name="T66" fmla="*/ 492 w 775"/>
                <a:gd name="T67" fmla="*/ 260 h 285"/>
                <a:gd name="T68" fmla="*/ 514 w 775"/>
                <a:gd name="T69" fmla="*/ 265 h 285"/>
                <a:gd name="T70" fmla="*/ 531 w 775"/>
                <a:gd name="T71" fmla="*/ 267 h 285"/>
                <a:gd name="T72" fmla="*/ 549 w 775"/>
                <a:gd name="T73" fmla="*/ 264 h 285"/>
                <a:gd name="T74" fmla="*/ 573 w 775"/>
                <a:gd name="T75" fmla="*/ 247 h 285"/>
                <a:gd name="T76" fmla="*/ 597 w 775"/>
                <a:gd name="T77" fmla="*/ 220 h 285"/>
                <a:gd name="T78" fmla="*/ 616 w 775"/>
                <a:gd name="T79" fmla="*/ 194 h 285"/>
                <a:gd name="T80" fmla="*/ 629 w 775"/>
                <a:gd name="T81" fmla="*/ 176 h 285"/>
                <a:gd name="T82" fmla="*/ 638 w 775"/>
                <a:gd name="T83" fmla="*/ 167 h 285"/>
                <a:gd name="T84" fmla="*/ 643 w 775"/>
                <a:gd name="T85" fmla="*/ 162 h 285"/>
                <a:gd name="T86" fmla="*/ 659 w 775"/>
                <a:gd name="T87" fmla="*/ 145 h 285"/>
                <a:gd name="T88" fmla="*/ 676 w 775"/>
                <a:gd name="T89" fmla="*/ 125 h 285"/>
                <a:gd name="T90" fmla="*/ 692 w 775"/>
                <a:gd name="T91" fmla="*/ 101 h 285"/>
                <a:gd name="T92" fmla="*/ 707 w 775"/>
                <a:gd name="T93" fmla="*/ 79 h 285"/>
                <a:gd name="T94" fmla="*/ 720 w 775"/>
                <a:gd name="T95" fmla="*/ 66 h 285"/>
                <a:gd name="T96" fmla="*/ 726 w 775"/>
                <a:gd name="T97" fmla="*/ 58 h 285"/>
                <a:gd name="T98" fmla="*/ 734 w 775"/>
                <a:gd name="T99" fmla="*/ 44 h 285"/>
                <a:gd name="T100" fmla="*/ 738 w 775"/>
                <a:gd name="T101" fmla="*/ 36 h 285"/>
                <a:gd name="T102" fmla="*/ 752 w 775"/>
                <a:gd name="T103" fmla="*/ 11 h 285"/>
                <a:gd name="T104" fmla="*/ 762 w 775"/>
                <a:gd name="T105" fmla="*/ 5 h 285"/>
                <a:gd name="T106" fmla="*/ 773 w 775"/>
                <a:gd name="T107" fmla="*/ 17 h 285"/>
                <a:gd name="T108" fmla="*/ 762 w 775"/>
                <a:gd name="T109" fmla="*/ 40 h 285"/>
                <a:gd name="T110" fmla="*/ 735 w 775"/>
                <a:gd name="T111" fmla="*/ 79 h 285"/>
                <a:gd name="T112" fmla="*/ 707 w 775"/>
                <a:gd name="T113" fmla="*/ 118 h 285"/>
                <a:gd name="T114" fmla="*/ 678 w 775"/>
                <a:gd name="T115" fmla="*/ 156 h 28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775"/>
                <a:gd name="T175" fmla="*/ 0 h 285"/>
                <a:gd name="T176" fmla="*/ 775 w 775"/>
                <a:gd name="T177" fmla="*/ 285 h 28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775" h="285">
                  <a:moveTo>
                    <a:pt x="663" y="176"/>
                  </a:moveTo>
                  <a:lnTo>
                    <a:pt x="652" y="190"/>
                  </a:lnTo>
                  <a:lnTo>
                    <a:pt x="641" y="206"/>
                  </a:lnTo>
                  <a:lnTo>
                    <a:pt x="630" y="221"/>
                  </a:lnTo>
                  <a:lnTo>
                    <a:pt x="619" y="237"/>
                  </a:lnTo>
                  <a:lnTo>
                    <a:pt x="606" y="251"/>
                  </a:lnTo>
                  <a:lnTo>
                    <a:pt x="591" y="264"/>
                  </a:lnTo>
                  <a:lnTo>
                    <a:pt x="577" y="273"/>
                  </a:lnTo>
                  <a:lnTo>
                    <a:pt x="560" y="279"/>
                  </a:lnTo>
                  <a:lnTo>
                    <a:pt x="542" y="283"/>
                  </a:lnTo>
                  <a:lnTo>
                    <a:pt x="523" y="285"/>
                  </a:lnTo>
                  <a:lnTo>
                    <a:pt x="503" y="285"/>
                  </a:lnTo>
                  <a:lnTo>
                    <a:pt x="484" y="282"/>
                  </a:lnTo>
                  <a:lnTo>
                    <a:pt x="466" y="278"/>
                  </a:lnTo>
                  <a:lnTo>
                    <a:pt x="446" y="273"/>
                  </a:lnTo>
                  <a:lnTo>
                    <a:pt x="428" y="267"/>
                  </a:lnTo>
                  <a:lnTo>
                    <a:pt x="410" y="260"/>
                  </a:lnTo>
                  <a:lnTo>
                    <a:pt x="386" y="251"/>
                  </a:lnTo>
                  <a:lnTo>
                    <a:pt x="361" y="241"/>
                  </a:lnTo>
                  <a:lnTo>
                    <a:pt x="335" y="232"/>
                  </a:lnTo>
                  <a:lnTo>
                    <a:pt x="311" y="221"/>
                  </a:lnTo>
                  <a:lnTo>
                    <a:pt x="286" y="212"/>
                  </a:lnTo>
                  <a:lnTo>
                    <a:pt x="260" y="202"/>
                  </a:lnTo>
                  <a:lnTo>
                    <a:pt x="234" y="193"/>
                  </a:lnTo>
                  <a:lnTo>
                    <a:pt x="210" y="182"/>
                  </a:lnTo>
                  <a:lnTo>
                    <a:pt x="184" y="172"/>
                  </a:lnTo>
                  <a:lnTo>
                    <a:pt x="159" y="163"/>
                  </a:lnTo>
                  <a:lnTo>
                    <a:pt x="133" y="153"/>
                  </a:lnTo>
                  <a:lnTo>
                    <a:pt x="109" y="142"/>
                  </a:lnTo>
                  <a:lnTo>
                    <a:pt x="84" y="132"/>
                  </a:lnTo>
                  <a:lnTo>
                    <a:pt x="59" y="121"/>
                  </a:lnTo>
                  <a:lnTo>
                    <a:pt x="35" y="111"/>
                  </a:lnTo>
                  <a:lnTo>
                    <a:pt x="10" y="101"/>
                  </a:lnTo>
                  <a:lnTo>
                    <a:pt x="9" y="98"/>
                  </a:lnTo>
                  <a:lnTo>
                    <a:pt x="5" y="92"/>
                  </a:lnTo>
                  <a:lnTo>
                    <a:pt x="1" y="84"/>
                  </a:lnTo>
                  <a:lnTo>
                    <a:pt x="0" y="79"/>
                  </a:lnTo>
                  <a:lnTo>
                    <a:pt x="9" y="83"/>
                  </a:lnTo>
                  <a:lnTo>
                    <a:pt x="19" y="86"/>
                  </a:lnTo>
                  <a:lnTo>
                    <a:pt x="31" y="92"/>
                  </a:lnTo>
                  <a:lnTo>
                    <a:pt x="43" y="96"/>
                  </a:lnTo>
                  <a:lnTo>
                    <a:pt x="54" y="101"/>
                  </a:lnTo>
                  <a:lnTo>
                    <a:pt x="66" y="105"/>
                  </a:lnTo>
                  <a:lnTo>
                    <a:pt x="76" y="110"/>
                  </a:lnTo>
                  <a:lnTo>
                    <a:pt x="85" y="114"/>
                  </a:lnTo>
                  <a:lnTo>
                    <a:pt x="111" y="127"/>
                  </a:lnTo>
                  <a:lnTo>
                    <a:pt x="136" y="137"/>
                  </a:lnTo>
                  <a:lnTo>
                    <a:pt x="158" y="146"/>
                  </a:lnTo>
                  <a:lnTo>
                    <a:pt x="178" y="154"/>
                  </a:lnTo>
                  <a:lnTo>
                    <a:pt x="198" y="160"/>
                  </a:lnTo>
                  <a:lnTo>
                    <a:pt x="215" y="167"/>
                  </a:lnTo>
                  <a:lnTo>
                    <a:pt x="232" y="172"/>
                  </a:lnTo>
                  <a:lnTo>
                    <a:pt x="247" y="177"/>
                  </a:lnTo>
                  <a:lnTo>
                    <a:pt x="264" y="184"/>
                  </a:lnTo>
                  <a:lnTo>
                    <a:pt x="281" y="189"/>
                  </a:lnTo>
                  <a:lnTo>
                    <a:pt x="296" y="195"/>
                  </a:lnTo>
                  <a:lnTo>
                    <a:pt x="313" y="200"/>
                  </a:lnTo>
                  <a:lnTo>
                    <a:pt x="329" y="207"/>
                  </a:lnTo>
                  <a:lnTo>
                    <a:pt x="345" y="213"/>
                  </a:lnTo>
                  <a:lnTo>
                    <a:pt x="361" y="219"/>
                  </a:lnTo>
                  <a:lnTo>
                    <a:pt x="378" y="224"/>
                  </a:lnTo>
                  <a:lnTo>
                    <a:pt x="393" y="230"/>
                  </a:lnTo>
                  <a:lnTo>
                    <a:pt x="410" y="235"/>
                  </a:lnTo>
                  <a:lnTo>
                    <a:pt x="426" y="241"/>
                  </a:lnTo>
                  <a:lnTo>
                    <a:pt x="443" y="246"/>
                  </a:lnTo>
                  <a:lnTo>
                    <a:pt x="458" y="251"/>
                  </a:lnTo>
                  <a:lnTo>
                    <a:pt x="475" y="256"/>
                  </a:lnTo>
                  <a:lnTo>
                    <a:pt x="492" y="260"/>
                  </a:lnTo>
                  <a:lnTo>
                    <a:pt x="509" y="264"/>
                  </a:lnTo>
                  <a:lnTo>
                    <a:pt x="514" y="265"/>
                  </a:lnTo>
                  <a:lnTo>
                    <a:pt x="522" y="267"/>
                  </a:lnTo>
                  <a:lnTo>
                    <a:pt x="531" y="267"/>
                  </a:lnTo>
                  <a:lnTo>
                    <a:pt x="536" y="267"/>
                  </a:lnTo>
                  <a:lnTo>
                    <a:pt x="549" y="264"/>
                  </a:lnTo>
                  <a:lnTo>
                    <a:pt x="560" y="257"/>
                  </a:lnTo>
                  <a:lnTo>
                    <a:pt x="573" y="247"/>
                  </a:lnTo>
                  <a:lnTo>
                    <a:pt x="585" y="234"/>
                  </a:lnTo>
                  <a:lnTo>
                    <a:pt x="597" y="220"/>
                  </a:lnTo>
                  <a:lnTo>
                    <a:pt x="607" y="206"/>
                  </a:lnTo>
                  <a:lnTo>
                    <a:pt x="616" y="194"/>
                  </a:lnTo>
                  <a:lnTo>
                    <a:pt x="622" y="185"/>
                  </a:lnTo>
                  <a:lnTo>
                    <a:pt x="629" y="176"/>
                  </a:lnTo>
                  <a:lnTo>
                    <a:pt x="635" y="171"/>
                  </a:lnTo>
                  <a:lnTo>
                    <a:pt x="638" y="167"/>
                  </a:lnTo>
                  <a:lnTo>
                    <a:pt x="639" y="165"/>
                  </a:lnTo>
                  <a:lnTo>
                    <a:pt x="643" y="162"/>
                  </a:lnTo>
                  <a:lnTo>
                    <a:pt x="651" y="153"/>
                  </a:lnTo>
                  <a:lnTo>
                    <a:pt x="659" y="145"/>
                  </a:lnTo>
                  <a:lnTo>
                    <a:pt x="663" y="141"/>
                  </a:lnTo>
                  <a:lnTo>
                    <a:pt x="676" y="125"/>
                  </a:lnTo>
                  <a:lnTo>
                    <a:pt x="685" y="114"/>
                  </a:lnTo>
                  <a:lnTo>
                    <a:pt x="692" y="101"/>
                  </a:lnTo>
                  <a:lnTo>
                    <a:pt x="700" y="83"/>
                  </a:lnTo>
                  <a:lnTo>
                    <a:pt x="707" y="79"/>
                  </a:lnTo>
                  <a:lnTo>
                    <a:pt x="713" y="72"/>
                  </a:lnTo>
                  <a:lnTo>
                    <a:pt x="720" y="66"/>
                  </a:lnTo>
                  <a:lnTo>
                    <a:pt x="725" y="61"/>
                  </a:lnTo>
                  <a:lnTo>
                    <a:pt x="726" y="58"/>
                  </a:lnTo>
                  <a:lnTo>
                    <a:pt x="730" y="52"/>
                  </a:lnTo>
                  <a:lnTo>
                    <a:pt x="734" y="44"/>
                  </a:lnTo>
                  <a:lnTo>
                    <a:pt x="735" y="40"/>
                  </a:lnTo>
                  <a:lnTo>
                    <a:pt x="738" y="36"/>
                  </a:lnTo>
                  <a:lnTo>
                    <a:pt x="744" y="26"/>
                  </a:lnTo>
                  <a:lnTo>
                    <a:pt x="752" y="11"/>
                  </a:lnTo>
                  <a:lnTo>
                    <a:pt x="758" y="0"/>
                  </a:lnTo>
                  <a:lnTo>
                    <a:pt x="762" y="5"/>
                  </a:lnTo>
                  <a:lnTo>
                    <a:pt x="767" y="11"/>
                  </a:lnTo>
                  <a:lnTo>
                    <a:pt x="773" y="17"/>
                  </a:lnTo>
                  <a:lnTo>
                    <a:pt x="775" y="20"/>
                  </a:lnTo>
                  <a:lnTo>
                    <a:pt x="762" y="40"/>
                  </a:lnTo>
                  <a:lnTo>
                    <a:pt x="749" y="59"/>
                  </a:lnTo>
                  <a:lnTo>
                    <a:pt x="735" y="79"/>
                  </a:lnTo>
                  <a:lnTo>
                    <a:pt x="721" y="98"/>
                  </a:lnTo>
                  <a:lnTo>
                    <a:pt x="707" y="118"/>
                  </a:lnTo>
                  <a:lnTo>
                    <a:pt x="692" y="137"/>
                  </a:lnTo>
                  <a:lnTo>
                    <a:pt x="678" y="156"/>
                  </a:lnTo>
                  <a:lnTo>
                    <a:pt x="663" y="176"/>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333" name="Freeform 29"/>
            <p:cNvSpPr>
              <a:spLocks/>
            </p:cNvSpPr>
            <p:nvPr/>
          </p:nvSpPr>
          <p:spPr bwMode="auto">
            <a:xfrm>
              <a:off x="1991" y="2949"/>
              <a:ext cx="237" cy="188"/>
            </a:xfrm>
            <a:custGeom>
              <a:avLst/>
              <a:gdLst>
                <a:gd name="T0" fmla="*/ 197 w 237"/>
                <a:gd name="T1" fmla="*/ 188 h 188"/>
                <a:gd name="T2" fmla="*/ 191 w 237"/>
                <a:gd name="T3" fmla="*/ 179 h 188"/>
                <a:gd name="T4" fmla="*/ 183 w 237"/>
                <a:gd name="T5" fmla="*/ 170 h 188"/>
                <a:gd name="T6" fmla="*/ 175 w 237"/>
                <a:gd name="T7" fmla="*/ 162 h 188"/>
                <a:gd name="T8" fmla="*/ 167 w 237"/>
                <a:gd name="T9" fmla="*/ 153 h 188"/>
                <a:gd name="T10" fmla="*/ 160 w 237"/>
                <a:gd name="T11" fmla="*/ 145 h 188"/>
                <a:gd name="T12" fmla="*/ 152 w 237"/>
                <a:gd name="T13" fmla="*/ 136 h 188"/>
                <a:gd name="T14" fmla="*/ 144 w 237"/>
                <a:gd name="T15" fmla="*/ 128 h 188"/>
                <a:gd name="T16" fmla="*/ 136 w 237"/>
                <a:gd name="T17" fmla="*/ 119 h 188"/>
                <a:gd name="T18" fmla="*/ 123 w 237"/>
                <a:gd name="T19" fmla="*/ 105 h 188"/>
                <a:gd name="T20" fmla="*/ 110 w 237"/>
                <a:gd name="T21" fmla="*/ 95 h 188"/>
                <a:gd name="T22" fmla="*/ 95 w 237"/>
                <a:gd name="T23" fmla="*/ 86 h 188"/>
                <a:gd name="T24" fmla="*/ 78 w 237"/>
                <a:gd name="T25" fmla="*/ 78 h 188"/>
                <a:gd name="T26" fmla="*/ 61 w 237"/>
                <a:gd name="T27" fmla="*/ 73 h 188"/>
                <a:gd name="T28" fmla="*/ 44 w 237"/>
                <a:gd name="T29" fmla="*/ 66 h 188"/>
                <a:gd name="T30" fmla="*/ 28 w 237"/>
                <a:gd name="T31" fmla="*/ 60 h 188"/>
                <a:gd name="T32" fmla="*/ 11 w 237"/>
                <a:gd name="T33" fmla="*/ 53 h 188"/>
                <a:gd name="T34" fmla="*/ 7 w 237"/>
                <a:gd name="T35" fmla="*/ 51 h 188"/>
                <a:gd name="T36" fmla="*/ 4 w 237"/>
                <a:gd name="T37" fmla="*/ 48 h 188"/>
                <a:gd name="T38" fmla="*/ 2 w 237"/>
                <a:gd name="T39" fmla="*/ 45 h 188"/>
                <a:gd name="T40" fmla="*/ 0 w 237"/>
                <a:gd name="T41" fmla="*/ 42 h 188"/>
                <a:gd name="T42" fmla="*/ 0 w 237"/>
                <a:gd name="T43" fmla="*/ 31 h 188"/>
                <a:gd name="T44" fmla="*/ 4 w 237"/>
                <a:gd name="T45" fmla="*/ 21 h 188"/>
                <a:gd name="T46" fmla="*/ 9 w 237"/>
                <a:gd name="T47" fmla="*/ 13 h 188"/>
                <a:gd name="T48" fmla="*/ 20 w 237"/>
                <a:gd name="T49" fmla="*/ 8 h 188"/>
                <a:gd name="T50" fmla="*/ 33 w 237"/>
                <a:gd name="T51" fmla="*/ 4 h 188"/>
                <a:gd name="T52" fmla="*/ 47 w 237"/>
                <a:gd name="T53" fmla="*/ 1 h 188"/>
                <a:gd name="T54" fmla="*/ 61 w 237"/>
                <a:gd name="T55" fmla="*/ 0 h 188"/>
                <a:gd name="T56" fmla="*/ 75 w 237"/>
                <a:gd name="T57" fmla="*/ 1 h 188"/>
                <a:gd name="T58" fmla="*/ 90 w 237"/>
                <a:gd name="T59" fmla="*/ 4 h 188"/>
                <a:gd name="T60" fmla="*/ 103 w 237"/>
                <a:gd name="T61" fmla="*/ 8 h 188"/>
                <a:gd name="T62" fmla="*/ 116 w 237"/>
                <a:gd name="T63" fmla="*/ 13 h 188"/>
                <a:gd name="T64" fmla="*/ 129 w 237"/>
                <a:gd name="T65" fmla="*/ 20 h 188"/>
                <a:gd name="T66" fmla="*/ 145 w 237"/>
                <a:gd name="T67" fmla="*/ 30 h 188"/>
                <a:gd name="T68" fmla="*/ 161 w 237"/>
                <a:gd name="T69" fmla="*/ 42 h 188"/>
                <a:gd name="T70" fmla="*/ 175 w 237"/>
                <a:gd name="T71" fmla="*/ 53 h 188"/>
                <a:gd name="T72" fmla="*/ 188 w 237"/>
                <a:gd name="T73" fmla="*/ 68 h 188"/>
                <a:gd name="T74" fmla="*/ 201 w 237"/>
                <a:gd name="T75" fmla="*/ 82 h 188"/>
                <a:gd name="T76" fmla="*/ 213 w 237"/>
                <a:gd name="T77" fmla="*/ 97 h 188"/>
                <a:gd name="T78" fmla="*/ 226 w 237"/>
                <a:gd name="T79" fmla="*/ 112 h 188"/>
                <a:gd name="T80" fmla="*/ 237 w 237"/>
                <a:gd name="T81" fmla="*/ 127 h 188"/>
                <a:gd name="T82" fmla="*/ 232 w 237"/>
                <a:gd name="T83" fmla="*/ 135 h 188"/>
                <a:gd name="T84" fmla="*/ 227 w 237"/>
                <a:gd name="T85" fmla="*/ 143 h 188"/>
                <a:gd name="T86" fmla="*/ 222 w 237"/>
                <a:gd name="T87" fmla="*/ 150 h 188"/>
                <a:gd name="T88" fmla="*/ 218 w 237"/>
                <a:gd name="T89" fmla="*/ 158 h 188"/>
                <a:gd name="T90" fmla="*/ 213 w 237"/>
                <a:gd name="T91" fmla="*/ 166 h 188"/>
                <a:gd name="T92" fmla="*/ 208 w 237"/>
                <a:gd name="T93" fmla="*/ 174 h 188"/>
                <a:gd name="T94" fmla="*/ 202 w 237"/>
                <a:gd name="T95" fmla="*/ 180 h 188"/>
                <a:gd name="T96" fmla="*/ 197 w 237"/>
                <a:gd name="T97" fmla="*/ 188 h 1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37"/>
                <a:gd name="T148" fmla="*/ 0 h 188"/>
                <a:gd name="T149" fmla="*/ 237 w 237"/>
                <a:gd name="T150" fmla="*/ 188 h 1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37" h="188">
                  <a:moveTo>
                    <a:pt x="197" y="188"/>
                  </a:moveTo>
                  <a:lnTo>
                    <a:pt x="191" y="179"/>
                  </a:lnTo>
                  <a:lnTo>
                    <a:pt x="183" y="170"/>
                  </a:lnTo>
                  <a:lnTo>
                    <a:pt x="175" y="162"/>
                  </a:lnTo>
                  <a:lnTo>
                    <a:pt x="167" y="153"/>
                  </a:lnTo>
                  <a:lnTo>
                    <a:pt x="160" y="145"/>
                  </a:lnTo>
                  <a:lnTo>
                    <a:pt x="152" y="136"/>
                  </a:lnTo>
                  <a:lnTo>
                    <a:pt x="144" y="128"/>
                  </a:lnTo>
                  <a:lnTo>
                    <a:pt x="136" y="119"/>
                  </a:lnTo>
                  <a:lnTo>
                    <a:pt x="123" y="105"/>
                  </a:lnTo>
                  <a:lnTo>
                    <a:pt x="110" y="95"/>
                  </a:lnTo>
                  <a:lnTo>
                    <a:pt x="95" y="86"/>
                  </a:lnTo>
                  <a:lnTo>
                    <a:pt x="78" y="78"/>
                  </a:lnTo>
                  <a:lnTo>
                    <a:pt x="61" y="73"/>
                  </a:lnTo>
                  <a:lnTo>
                    <a:pt x="44" y="66"/>
                  </a:lnTo>
                  <a:lnTo>
                    <a:pt x="28" y="60"/>
                  </a:lnTo>
                  <a:lnTo>
                    <a:pt x="11" y="53"/>
                  </a:lnTo>
                  <a:lnTo>
                    <a:pt x="7" y="51"/>
                  </a:lnTo>
                  <a:lnTo>
                    <a:pt x="4" y="48"/>
                  </a:lnTo>
                  <a:lnTo>
                    <a:pt x="2" y="45"/>
                  </a:lnTo>
                  <a:lnTo>
                    <a:pt x="0" y="42"/>
                  </a:lnTo>
                  <a:lnTo>
                    <a:pt x="0" y="31"/>
                  </a:lnTo>
                  <a:lnTo>
                    <a:pt x="4" y="21"/>
                  </a:lnTo>
                  <a:lnTo>
                    <a:pt x="9" y="13"/>
                  </a:lnTo>
                  <a:lnTo>
                    <a:pt x="20" y="8"/>
                  </a:lnTo>
                  <a:lnTo>
                    <a:pt x="33" y="4"/>
                  </a:lnTo>
                  <a:lnTo>
                    <a:pt x="47" y="1"/>
                  </a:lnTo>
                  <a:lnTo>
                    <a:pt x="61" y="0"/>
                  </a:lnTo>
                  <a:lnTo>
                    <a:pt x="75" y="1"/>
                  </a:lnTo>
                  <a:lnTo>
                    <a:pt x="90" y="4"/>
                  </a:lnTo>
                  <a:lnTo>
                    <a:pt x="103" y="8"/>
                  </a:lnTo>
                  <a:lnTo>
                    <a:pt x="116" y="13"/>
                  </a:lnTo>
                  <a:lnTo>
                    <a:pt x="129" y="20"/>
                  </a:lnTo>
                  <a:lnTo>
                    <a:pt x="145" y="30"/>
                  </a:lnTo>
                  <a:lnTo>
                    <a:pt x="161" y="42"/>
                  </a:lnTo>
                  <a:lnTo>
                    <a:pt x="175" y="53"/>
                  </a:lnTo>
                  <a:lnTo>
                    <a:pt x="188" y="68"/>
                  </a:lnTo>
                  <a:lnTo>
                    <a:pt x="201" y="82"/>
                  </a:lnTo>
                  <a:lnTo>
                    <a:pt x="213" y="97"/>
                  </a:lnTo>
                  <a:lnTo>
                    <a:pt x="226" y="112"/>
                  </a:lnTo>
                  <a:lnTo>
                    <a:pt x="237" y="127"/>
                  </a:lnTo>
                  <a:lnTo>
                    <a:pt x="232" y="135"/>
                  </a:lnTo>
                  <a:lnTo>
                    <a:pt x="227" y="143"/>
                  </a:lnTo>
                  <a:lnTo>
                    <a:pt x="222" y="150"/>
                  </a:lnTo>
                  <a:lnTo>
                    <a:pt x="218" y="158"/>
                  </a:lnTo>
                  <a:lnTo>
                    <a:pt x="213" y="166"/>
                  </a:lnTo>
                  <a:lnTo>
                    <a:pt x="208" y="174"/>
                  </a:lnTo>
                  <a:lnTo>
                    <a:pt x="202" y="180"/>
                  </a:lnTo>
                  <a:lnTo>
                    <a:pt x="197" y="188"/>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334" name="Freeform 30"/>
            <p:cNvSpPr>
              <a:spLocks/>
            </p:cNvSpPr>
            <p:nvPr/>
          </p:nvSpPr>
          <p:spPr bwMode="auto">
            <a:xfrm>
              <a:off x="2226" y="2783"/>
              <a:ext cx="164" cy="275"/>
            </a:xfrm>
            <a:custGeom>
              <a:avLst/>
              <a:gdLst>
                <a:gd name="T0" fmla="*/ 160 w 164"/>
                <a:gd name="T1" fmla="*/ 91 h 275"/>
                <a:gd name="T2" fmla="*/ 142 w 164"/>
                <a:gd name="T3" fmla="*/ 112 h 275"/>
                <a:gd name="T4" fmla="*/ 125 w 164"/>
                <a:gd name="T5" fmla="*/ 132 h 275"/>
                <a:gd name="T6" fmla="*/ 108 w 164"/>
                <a:gd name="T7" fmla="*/ 155 h 275"/>
                <a:gd name="T8" fmla="*/ 92 w 164"/>
                <a:gd name="T9" fmla="*/ 175 h 275"/>
                <a:gd name="T10" fmla="*/ 75 w 164"/>
                <a:gd name="T11" fmla="*/ 197 h 275"/>
                <a:gd name="T12" fmla="*/ 58 w 164"/>
                <a:gd name="T13" fmla="*/ 218 h 275"/>
                <a:gd name="T14" fmla="*/ 41 w 164"/>
                <a:gd name="T15" fmla="*/ 240 h 275"/>
                <a:gd name="T16" fmla="*/ 23 w 164"/>
                <a:gd name="T17" fmla="*/ 261 h 275"/>
                <a:gd name="T18" fmla="*/ 19 w 164"/>
                <a:gd name="T19" fmla="*/ 266 h 275"/>
                <a:gd name="T20" fmla="*/ 17 w 164"/>
                <a:gd name="T21" fmla="*/ 267 h 275"/>
                <a:gd name="T22" fmla="*/ 14 w 164"/>
                <a:gd name="T23" fmla="*/ 270 h 275"/>
                <a:gd name="T24" fmla="*/ 10 w 164"/>
                <a:gd name="T25" fmla="*/ 275 h 275"/>
                <a:gd name="T26" fmla="*/ 7 w 164"/>
                <a:gd name="T27" fmla="*/ 270 h 275"/>
                <a:gd name="T28" fmla="*/ 4 w 164"/>
                <a:gd name="T29" fmla="*/ 266 h 275"/>
                <a:gd name="T30" fmla="*/ 1 w 164"/>
                <a:gd name="T31" fmla="*/ 262 h 275"/>
                <a:gd name="T32" fmla="*/ 0 w 164"/>
                <a:gd name="T33" fmla="*/ 261 h 275"/>
                <a:gd name="T34" fmla="*/ 5 w 164"/>
                <a:gd name="T35" fmla="*/ 253 h 275"/>
                <a:gd name="T36" fmla="*/ 10 w 164"/>
                <a:gd name="T37" fmla="*/ 248 h 275"/>
                <a:gd name="T38" fmla="*/ 15 w 164"/>
                <a:gd name="T39" fmla="*/ 241 h 275"/>
                <a:gd name="T40" fmla="*/ 22 w 164"/>
                <a:gd name="T41" fmla="*/ 234 h 275"/>
                <a:gd name="T42" fmla="*/ 23 w 164"/>
                <a:gd name="T43" fmla="*/ 232 h 275"/>
                <a:gd name="T44" fmla="*/ 28 w 164"/>
                <a:gd name="T45" fmla="*/ 230 h 275"/>
                <a:gd name="T46" fmla="*/ 33 w 164"/>
                <a:gd name="T47" fmla="*/ 227 h 275"/>
                <a:gd name="T48" fmla="*/ 40 w 164"/>
                <a:gd name="T49" fmla="*/ 222 h 275"/>
                <a:gd name="T50" fmla="*/ 46 w 164"/>
                <a:gd name="T51" fmla="*/ 215 h 275"/>
                <a:gd name="T52" fmla="*/ 50 w 164"/>
                <a:gd name="T53" fmla="*/ 208 h 275"/>
                <a:gd name="T54" fmla="*/ 53 w 164"/>
                <a:gd name="T55" fmla="*/ 199 h 275"/>
                <a:gd name="T56" fmla="*/ 51 w 164"/>
                <a:gd name="T57" fmla="*/ 188 h 275"/>
                <a:gd name="T58" fmla="*/ 55 w 164"/>
                <a:gd name="T59" fmla="*/ 179 h 275"/>
                <a:gd name="T60" fmla="*/ 66 w 164"/>
                <a:gd name="T61" fmla="*/ 165 h 275"/>
                <a:gd name="T62" fmla="*/ 77 w 164"/>
                <a:gd name="T63" fmla="*/ 149 h 275"/>
                <a:gd name="T64" fmla="*/ 88 w 164"/>
                <a:gd name="T65" fmla="*/ 135 h 275"/>
                <a:gd name="T66" fmla="*/ 92 w 164"/>
                <a:gd name="T67" fmla="*/ 132 h 275"/>
                <a:gd name="T68" fmla="*/ 95 w 164"/>
                <a:gd name="T69" fmla="*/ 130 h 275"/>
                <a:gd name="T70" fmla="*/ 99 w 164"/>
                <a:gd name="T71" fmla="*/ 127 h 275"/>
                <a:gd name="T72" fmla="*/ 102 w 164"/>
                <a:gd name="T73" fmla="*/ 125 h 275"/>
                <a:gd name="T74" fmla="*/ 114 w 164"/>
                <a:gd name="T75" fmla="*/ 112 h 275"/>
                <a:gd name="T76" fmla="*/ 120 w 164"/>
                <a:gd name="T77" fmla="*/ 95 h 275"/>
                <a:gd name="T78" fmla="*/ 120 w 164"/>
                <a:gd name="T79" fmla="*/ 79 h 275"/>
                <a:gd name="T80" fmla="*/ 115 w 164"/>
                <a:gd name="T81" fmla="*/ 63 h 275"/>
                <a:gd name="T82" fmla="*/ 110 w 164"/>
                <a:gd name="T83" fmla="*/ 53 h 275"/>
                <a:gd name="T84" fmla="*/ 102 w 164"/>
                <a:gd name="T85" fmla="*/ 35 h 275"/>
                <a:gd name="T86" fmla="*/ 92 w 164"/>
                <a:gd name="T87" fmla="*/ 16 h 275"/>
                <a:gd name="T88" fmla="*/ 83 w 164"/>
                <a:gd name="T89" fmla="*/ 0 h 275"/>
                <a:gd name="T90" fmla="*/ 90 w 164"/>
                <a:gd name="T91" fmla="*/ 4 h 275"/>
                <a:gd name="T92" fmla="*/ 103 w 164"/>
                <a:gd name="T93" fmla="*/ 11 h 275"/>
                <a:gd name="T94" fmla="*/ 119 w 164"/>
                <a:gd name="T95" fmla="*/ 20 h 275"/>
                <a:gd name="T96" fmla="*/ 134 w 164"/>
                <a:gd name="T97" fmla="*/ 31 h 275"/>
                <a:gd name="T98" fmla="*/ 149 w 164"/>
                <a:gd name="T99" fmla="*/ 44 h 275"/>
                <a:gd name="T100" fmla="*/ 159 w 164"/>
                <a:gd name="T101" fmla="*/ 59 h 275"/>
                <a:gd name="T102" fmla="*/ 164 w 164"/>
                <a:gd name="T103" fmla="*/ 74 h 275"/>
                <a:gd name="T104" fmla="*/ 160 w 164"/>
                <a:gd name="T105" fmla="*/ 91 h 27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4"/>
                <a:gd name="T160" fmla="*/ 0 h 275"/>
                <a:gd name="T161" fmla="*/ 164 w 164"/>
                <a:gd name="T162" fmla="*/ 275 h 275"/>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4" h="275">
                  <a:moveTo>
                    <a:pt x="160" y="91"/>
                  </a:moveTo>
                  <a:lnTo>
                    <a:pt x="142" y="112"/>
                  </a:lnTo>
                  <a:lnTo>
                    <a:pt x="125" y="132"/>
                  </a:lnTo>
                  <a:lnTo>
                    <a:pt x="108" y="155"/>
                  </a:lnTo>
                  <a:lnTo>
                    <a:pt x="92" y="175"/>
                  </a:lnTo>
                  <a:lnTo>
                    <a:pt x="75" y="197"/>
                  </a:lnTo>
                  <a:lnTo>
                    <a:pt x="58" y="218"/>
                  </a:lnTo>
                  <a:lnTo>
                    <a:pt x="41" y="240"/>
                  </a:lnTo>
                  <a:lnTo>
                    <a:pt x="23" y="261"/>
                  </a:lnTo>
                  <a:lnTo>
                    <a:pt x="19" y="266"/>
                  </a:lnTo>
                  <a:lnTo>
                    <a:pt x="17" y="267"/>
                  </a:lnTo>
                  <a:lnTo>
                    <a:pt x="14" y="270"/>
                  </a:lnTo>
                  <a:lnTo>
                    <a:pt x="10" y="275"/>
                  </a:lnTo>
                  <a:lnTo>
                    <a:pt x="7" y="270"/>
                  </a:lnTo>
                  <a:lnTo>
                    <a:pt x="4" y="266"/>
                  </a:lnTo>
                  <a:lnTo>
                    <a:pt x="1" y="262"/>
                  </a:lnTo>
                  <a:lnTo>
                    <a:pt x="0" y="261"/>
                  </a:lnTo>
                  <a:lnTo>
                    <a:pt x="5" y="253"/>
                  </a:lnTo>
                  <a:lnTo>
                    <a:pt x="10" y="248"/>
                  </a:lnTo>
                  <a:lnTo>
                    <a:pt x="15" y="241"/>
                  </a:lnTo>
                  <a:lnTo>
                    <a:pt x="22" y="234"/>
                  </a:lnTo>
                  <a:lnTo>
                    <a:pt x="23" y="232"/>
                  </a:lnTo>
                  <a:lnTo>
                    <a:pt x="28" y="230"/>
                  </a:lnTo>
                  <a:lnTo>
                    <a:pt x="33" y="227"/>
                  </a:lnTo>
                  <a:lnTo>
                    <a:pt x="40" y="222"/>
                  </a:lnTo>
                  <a:lnTo>
                    <a:pt x="46" y="215"/>
                  </a:lnTo>
                  <a:lnTo>
                    <a:pt x="50" y="208"/>
                  </a:lnTo>
                  <a:lnTo>
                    <a:pt x="53" y="199"/>
                  </a:lnTo>
                  <a:lnTo>
                    <a:pt x="51" y="188"/>
                  </a:lnTo>
                  <a:lnTo>
                    <a:pt x="55" y="179"/>
                  </a:lnTo>
                  <a:lnTo>
                    <a:pt x="66" y="165"/>
                  </a:lnTo>
                  <a:lnTo>
                    <a:pt x="77" y="149"/>
                  </a:lnTo>
                  <a:lnTo>
                    <a:pt x="88" y="135"/>
                  </a:lnTo>
                  <a:lnTo>
                    <a:pt x="92" y="132"/>
                  </a:lnTo>
                  <a:lnTo>
                    <a:pt x="95" y="130"/>
                  </a:lnTo>
                  <a:lnTo>
                    <a:pt x="99" y="127"/>
                  </a:lnTo>
                  <a:lnTo>
                    <a:pt x="102" y="125"/>
                  </a:lnTo>
                  <a:lnTo>
                    <a:pt x="114" y="112"/>
                  </a:lnTo>
                  <a:lnTo>
                    <a:pt x="120" y="95"/>
                  </a:lnTo>
                  <a:lnTo>
                    <a:pt x="120" y="79"/>
                  </a:lnTo>
                  <a:lnTo>
                    <a:pt x="115" y="63"/>
                  </a:lnTo>
                  <a:lnTo>
                    <a:pt x="110" y="53"/>
                  </a:lnTo>
                  <a:lnTo>
                    <a:pt x="102" y="35"/>
                  </a:lnTo>
                  <a:lnTo>
                    <a:pt x="92" y="16"/>
                  </a:lnTo>
                  <a:lnTo>
                    <a:pt x="83" y="0"/>
                  </a:lnTo>
                  <a:lnTo>
                    <a:pt x="90" y="4"/>
                  </a:lnTo>
                  <a:lnTo>
                    <a:pt x="103" y="11"/>
                  </a:lnTo>
                  <a:lnTo>
                    <a:pt x="119" y="20"/>
                  </a:lnTo>
                  <a:lnTo>
                    <a:pt x="134" y="31"/>
                  </a:lnTo>
                  <a:lnTo>
                    <a:pt x="149" y="44"/>
                  </a:lnTo>
                  <a:lnTo>
                    <a:pt x="159" y="59"/>
                  </a:lnTo>
                  <a:lnTo>
                    <a:pt x="164" y="74"/>
                  </a:lnTo>
                  <a:lnTo>
                    <a:pt x="160" y="91"/>
                  </a:lnTo>
                  <a:close/>
                </a:path>
              </a:pathLst>
            </a:custGeom>
            <a:solidFill>
              <a:srgbClr val="FF9E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335" name="Freeform 31"/>
            <p:cNvSpPr>
              <a:spLocks/>
            </p:cNvSpPr>
            <p:nvPr/>
          </p:nvSpPr>
          <p:spPr bwMode="auto">
            <a:xfrm>
              <a:off x="2209" y="2945"/>
              <a:ext cx="57" cy="57"/>
            </a:xfrm>
            <a:custGeom>
              <a:avLst/>
              <a:gdLst>
                <a:gd name="T0" fmla="*/ 0 w 57"/>
                <a:gd name="T1" fmla="*/ 52 h 57"/>
                <a:gd name="T2" fmla="*/ 5 w 57"/>
                <a:gd name="T3" fmla="*/ 44 h 57"/>
                <a:gd name="T4" fmla="*/ 12 w 57"/>
                <a:gd name="T5" fmla="*/ 37 h 57"/>
                <a:gd name="T6" fmla="*/ 18 w 57"/>
                <a:gd name="T7" fmla="*/ 27 h 57"/>
                <a:gd name="T8" fmla="*/ 24 w 57"/>
                <a:gd name="T9" fmla="*/ 20 h 57"/>
                <a:gd name="T10" fmla="*/ 30 w 57"/>
                <a:gd name="T11" fmla="*/ 12 h 57"/>
                <a:gd name="T12" fmla="*/ 35 w 57"/>
                <a:gd name="T13" fmla="*/ 7 h 57"/>
                <a:gd name="T14" fmla="*/ 39 w 57"/>
                <a:gd name="T15" fmla="*/ 2 h 57"/>
                <a:gd name="T16" fmla="*/ 41 w 57"/>
                <a:gd name="T17" fmla="*/ 0 h 57"/>
                <a:gd name="T18" fmla="*/ 46 w 57"/>
                <a:gd name="T19" fmla="*/ 7 h 57"/>
                <a:gd name="T20" fmla="*/ 52 w 57"/>
                <a:gd name="T21" fmla="*/ 16 h 57"/>
                <a:gd name="T22" fmla="*/ 57 w 57"/>
                <a:gd name="T23" fmla="*/ 27 h 57"/>
                <a:gd name="T24" fmla="*/ 57 w 57"/>
                <a:gd name="T25" fmla="*/ 35 h 57"/>
                <a:gd name="T26" fmla="*/ 53 w 57"/>
                <a:gd name="T27" fmla="*/ 43 h 57"/>
                <a:gd name="T28" fmla="*/ 49 w 57"/>
                <a:gd name="T29" fmla="*/ 49 h 57"/>
                <a:gd name="T30" fmla="*/ 43 w 57"/>
                <a:gd name="T31" fmla="*/ 53 h 57"/>
                <a:gd name="T32" fmla="*/ 35 w 57"/>
                <a:gd name="T33" fmla="*/ 56 h 57"/>
                <a:gd name="T34" fmla="*/ 27 w 57"/>
                <a:gd name="T35" fmla="*/ 57 h 57"/>
                <a:gd name="T36" fmla="*/ 18 w 57"/>
                <a:gd name="T37" fmla="*/ 57 h 57"/>
                <a:gd name="T38" fmla="*/ 9 w 57"/>
                <a:gd name="T39" fmla="*/ 55 h 57"/>
                <a:gd name="T40" fmla="*/ 0 w 57"/>
                <a:gd name="T41" fmla="*/ 52 h 5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
                <a:gd name="T64" fmla="*/ 0 h 57"/>
                <a:gd name="T65" fmla="*/ 57 w 57"/>
                <a:gd name="T66" fmla="*/ 57 h 5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 h="57">
                  <a:moveTo>
                    <a:pt x="0" y="52"/>
                  </a:moveTo>
                  <a:lnTo>
                    <a:pt x="5" y="44"/>
                  </a:lnTo>
                  <a:lnTo>
                    <a:pt x="12" y="37"/>
                  </a:lnTo>
                  <a:lnTo>
                    <a:pt x="18" y="27"/>
                  </a:lnTo>
                  <a:lnTo>
                    <a:pt x="24" y="20"/>
                  </a:lnTo>
                  <a:lnTo>
                    <a:pt x="30" y="12"/>
                  </a:lnTo>
                  <a:lnTo>
                    <a:pt x="35" y="7"/>
                  </a:lnTo>
                  <a:lnTo>
                    <a:pt x="39" y="2"/>
                  </a:lnTo>
                  <a:lnTo>
                    <a:pt x="41" y="0"/>
                  </a:lnTo>
                  <a:lnTo>
                    <a:pt x="46" y="7"/>
                  </a:lnTo>
                  <a:lnTo>
                    <a:pt x="52" y="16"/>
                  </a:lnTo>
                  <a:lnTo>
                    <a:pt x="57" y="27"/>
                  </a:lnTo>
                  <a:lnTo>
                    <a:pt x="57" y="35"/>
                  </a:lnTo>
                  <a:lnTo>
                    <a:pt x="53" y="43"/>
                  </a:lnTo>
                  <a:lnTo>
                    <a:pt x="49" y="49"/>
                  </a:lnTo>
                  <a:lnTo>
                    <a:pt x="43" y="53"/>
                  </a:lnTo>
                  <a:lnTo>
                    <a:pt x="35" y="56"/>
                  </a:lnTo>
                  <a:lnTo>
                    <a:pt x="27" y="57"/>
                  </a:lnTo>
                  <a:lnTo>
                    <a:pt x="18" y="57"/>
                  </a:lnTo>
                  <a:lnTo>
                    <a:pt x="9" y="55"/>
                  </a:lnTo>
                  <a:lnTo>
                    <a:pt x="0" y="5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336" name="Freeform 32"/>
            <p:cNvSpPr>
              <a:spLocks/>
            </p:cNvSpPr>
            <p:nvPr/>
          </p:nvSpPr>
          <p:spPr bwMode="auto">
            <a:xfrm>
              <a:off x="2034" y="2963"/>
              <a:ext cx="51" cy="41"/>
            </a:xfrm>
            <a:custGeom>
              <a:avLst/>
              <a:gdLst>
                <a:gd name="T0" fmla="*/ 26 w 51"/>
                <a:gd name="T1" fmla="*/ 0 h 41"/>
                <a:gd name="T2" fmla="*/ 16 w 51"/>
                <a:gd name="T3" fmla="*/ 2 h 41"/>
                <a:gd name="T4" fmla="*/ 8 w 51"/>
                <a:gd name="T5" fmla="*/ 7 h 41"/>
                <a:gd name="T6" fmla="*/ 3 w 51"/>
                <a:gd name="T7" fmla="*/ 13 h 41"/>
                <a:gd name="T8" fmla="*/ 0 w 51"/>
                <a:gd name="T9" fmla="*/ 21 h 41"/>
                <a:gd name="T10" fmla="*/ 3 w 51"/>
                <a:gd name="T11" fmla="*/ 29 h 41"/>
                <a:gd name="T12" fmla="*/ 8 w 51"/>
                <a:gd name="T13" fmla="*/ 34 h 41"/>
                <a:gd name="T14" fmla="*/ 16 w 51"/>
                <a:gd name="T15" fmla="*/ 39 h 41"/>
                <a:gd name="T16" fmla="*/ 26 w 51"/>
                <a:gd name="T17" fmla="*/ 41 h 41"/>
                <a:gd name="T18" fmla="*/ 35 w 51"/>
                <a:gd name="T19" fmla="*/ 39 h 41"/>
                <a:gd name="T20" fmla="*/ 43 w 51"/>
                <a:gd name="T21" fmla="*/ 34 h 41"/>
                <a:gd name="T22" fmla="*/ 48 w 51"/>
                <a:gd name="T23" fmla="*/ 29 h 41"/>
                <a:gd name="T24" fmla="*/ 51 w 51"/>
                <a:gd name="T25" fmla="*/ 21 h 41"/>
                <a:gd name="T26" fmla="*/ 48 w 51"/>
                <a:gd name="T27" fmla="*/ 13 h 41"/>
                <a:gd name="T28" fmla="*/ 43 w 51"/>
                <a:gd name="T29" fmla="*/ 7 h 41"/>
                <a:gd name="T30" fmla="*/ 35 w 51"/>
                <a:gd name="T31" fmla="*/ 2 h 41"/>
                <a:gd name="T32" fmla="*/ 26 w 51"/>
                <a:gd name="T33" fmla="*/ 0 h 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1"/>
                <a:gd name="T52" fmla="*/ 0 h 41"/>
                <a:gd name="T53" fmla="*/ 51 w 51"/>
                <a:gd name="T54" fmla="*/ 41 h 4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1" h="41">
                  <a:moveTo>
                    <a:pt x="26" y="0"/>
                  </a:moveTo>
                  <a:lnTo>
                    <a:pt x="16" y="2"/>
                  </a:lnTo>
                  <a:lnTo>
                    <a:pt x="8" y="7"/>
                  </a:lnTo>
                  <a:lnTo>
                    <a:pt x="3" y="13"/>
                  </a:lnTo>
                  <a:lnTo>
                    <a:pt x="0" y="21"/>
                  </a:lnTo>
                  <a:lnTo>
                    <a:pt x="3" y="29"/>
                  </a:lnTo>
                  <a:lnTo>
                    <a:pt x="8" y="34"/>
                  </a:lnTo>
                  <a:lnTo>
                    <a:pt x="16" y="39"/>
                  </a:lnTo>
                  <a:lnTo>
                    <a:pt x="26" y="41"/>
                  </a:lnTo>
                  <a:lnTo>
                    <a:pt x="35" y="39"/>
                  </a:lnTo>
                  <a:lnTo>
                    <a:pt x="43" y="34"/>
                  </a:lnTo>
                  <a:lnTo>
                    <a:pt x="48" y="29"/>
                  </a:lnTo>
                  <a:lnTo>
                    <a:pt x="51" y="21"/>
                  </a:lnTo>
                  <a:lnTo>
                    <a:pt x="48" y="13"/>
                  </a:lnTo>
                  <a:lnTo>
                    <a:pt x="43" y="7"/>
                  </a:lnTo>
                  <a:lnTo>
                    <a:pt x="35" y="2"/>
                  </a:lnTo>
                  <a:lnTo>
                    <a:pt x="2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55309" name="AutoShape 34"/>
          <p:cNvSpPr>
            <a:spLocks noChangeArrowheads="1"/>
          </p:cNvSpPr>
          <p:nvPr/>
        </p:nvSpPr>
        <p:spPr bwMode="auto">
          <a:xfrm>
            <a:off x="7631638" y="3250626"/>
            <a:ext cx="587375" cy="587375"/>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sp>
        <p:nvSpPr>
          <p:cNvPr id="55310" name="AutoShape 35"/>
          <p:cNvSpPr>
            <a:spLocks noChangeArrowheads="1"/>
          </p:cNvSpPr>
          <p:nvPr/>
        </p:nvSpPr>
        <p:spPr bwMode="auto">
          <a:xfrm>
            <a:off x="7930088" y="3545901"/>
            <a:ext cx="587375" cy="587375"/>
          </a:xfrm>
          <a:prstGeom prst="smileyFace">
            <a:avLst>
              <a:gd name="adj" fmla="val 153"/>
            </a:avLst>
          </a:prstGeom>
          <a:solidFill>
            <a:srgbClr val="FFCC99"/>
          </a:solidFill>
          <a:ln w="12700">
            <a:solidFill>
              <a:srgbClr val="000000"/>
            </a:solidFill>
            <a:round/>
            <a:headEnd/>
            <a:tailEnd/>
          </a:ln>
        </p:spPr>
        <p:txBody>
          <a:bodyPr wrap="none" anchor="ctr"/>
          <a:lstStyle/>
          <a:p>
            <a:endParaRPr lang="en-US"/>
          </a:p>
        </p:txBody>
      </p:sp>
      <p:grpSp>
        <p:nvGrpSpPr>
          <p:cNvPr id="55311" name="Group 39"/>
          <p:cNvGrpSpPr>
            <a:grpSpLocks/>
          </p:cNvGrpSpPr>
          <p:nvPr/>
        </p:nvGrpSpPr>
        <p:grpSpPr bwMode="auto">
          <a:xfrm>
            <a:off x="7357000" y="3961826"/>
            <a:ext cx="492125" cy="539750"/>
            <a:chOff x="4508" y="1968"/>
            <a:chExt cx="310" cy="340"/>
          </a:xfrm>
        </p:grpSpPr>
        <p:sp>
          <p:nvSpPr>
            <p:cNvPr id="55319" name="Rectangle 40"/>
            <p:cNvSpPr>
              <a:spLocks noChangeArrowheads="1"/>
            </p:cNvSpPr>
            <p:nvPr/>
          </p:nvSpPr>
          <p:spPr bwMode="auto">
            <a:xfrm rot="19100882" flipH="1">
              <a:off x="4734" y="2152"/>
              <a:ext cx="84" cy="144"/>
            </a:xfrm>
            <a:prstGeom prst="rect">
              <a:avLst/>
            </a:prstGeom>
            <a:solidFill>
              <a:srgbClr val="996633"/>
            </a:solidFill>
            <a:ln w="12700">
              <a:solidFill>
                <a:schemeClr val="bg1"/>
              </a:solidFill>
              <a:miter lim="800000"/>
              <a:headEnd/>
              <a:tailEnd/>
            </a:ln>
          </p:spPr>
          <p:txBody>
            <a:bodyPr wrap="none" anchor="ctr">
              <a:spAutoFit/>
            </a:bodyPr>
            <a:lstStyle/>
            <a:p>
              <a:endParaRPr lang="en-US"/>
            </a:p>
          </p:txBody>
        </p:sp>
        <p:sp>
          <p:nvSpPr>
            <p:cNvPr id="55320" name="Oval 41"/>
            <p:cNvSpPr>
              <a:spLocks noChangeArrowheads="1"/>
            </p:cNvSpPr>
            <p:nvPr/>
          </p:nvSpPr>
          <p:spPr bwMode="auto">
            <a:xfrm flipH="1">
              <a:off x="4526" y="1968"/>
              <a:ext cx="246" cy="246"/>
            </a:xfrm>
            <a:prstGeom prst="ellipse">
              <a:avLst/>
            </a:prstGeom>
            <a:solidFill>
              <a:schemeClr val="hlink"/>
            </a:solidFill>
            <a:ln w="12700">
              <a:solidFill>
                <a:schemeClr val="bg1"/>
              </a:solidFill>
              <a:round/>
              <a:headEnd/>
              <a:tailEnd/>
            </a:ln>
          </p:spPr>
          <p:txBody>
            <a:bodyPr wrap="none" anchor="ctr">
              <a:spAutoFit/>
            </a:bodyPr>
            <a:lstStyle/>
            <a:p>
              <a:endParaRPr lang="en-US"/>
            </a:p>
          </p:txBody>
        </p:sp>
        <p:sp>
          <p:nvSpPr>
            <p:cNvPr id="55321" name="Rectangle 42"/>
            <p:cNvSpPr>
              <a:spLocks noChangeArrowheads="1"/>
            </p:cNvSpPr>
            <p:nvPr/>
          </p:nvSpPr>
          <p:spPr bwMode="auto">
            <a:xfrm rot="19100882" flipH="1">
              <a:off x="4717" y="2164"/>
              <a:ext cx="84" cy="144"/>
            </a:xfrm>
            <a:prstGeom prst="rect">
              <a:avLst/>
            </a:prstGeom>
            <a:gradFill rotWithShape="0">
              <a:gsLst>
                <a:gs pos="0">
                  <a:srgbClr val="996633"/>
                </a:gs>
                <a:gs pos="100000">
                  <a:srgbClr val="FFCC33"/>
                </a:gs>
              </a:gsLst>
              <a:lin ang="2700000" scaled="1"/>
            </a:gradFill>
            <a:ln w="12700">
              <a:solidFill>
                <a:schemeClr val="bg1"/>
              </a:solidFill>
              <a:miter lim="800000"/>
              <a:headEnd/>
              <a:tailEnd/>
            </a:ln>
          </p:spPr>
          <p:txBody>
            <a:bodyPr wrap="none" anchor="ctr">
              <a:spAutoFit/>
            </a:bodyPr>
            <a:lstStyle/>
            <a:p>
              <a:endParaRPr lang="en-US"/>
            </a:p>
          </p:txBody>
        </p:sp>
        <p:sp>
          <p:nvSpPr>
            <p:cNvPr id="55322" name="Oval 43"/>
            <p:cNvSpPr>
              <a:spLocks noChangeArrowheads="1"/>
            </p:cNvSpPr>
            <p:nvPr/>
          </p:nvSpPr>
          <p:spPr bwMode="auto">
            <a:xfrm flipH="1">
              <a:off x="4508" y="1971"/>
              <a:ext cx="246" cy="247"/>
            </a:xfrm>
            <a:prstGeom prst="ellipse">
              <a:avLst/>
            </a:prstGeom>
            <a:gradFill rotWithShape="0">
              <a:gsLst>
                <a:gs pos="0">
                  <a:srgbClr val="FFFFFF"/>
                </a:gs>
                <a:gs pos="100000">
                  <a:srgbClr val="99CCFF"/>
                </a:gs>
              </a:gsLst>
              <a:lin ang="18900000" scaled="1"/>
            </a:gradFill>
            <a:ln w="12700">
              <a:solidFill>
                <a:schemeClr val="bg1"/>
              </a:solidFill>
              <a:round/>
              <a:headEnd/>
              <a:tailEnd/>
            </a:ln>
          </p:spPr>
          <p:txBody>
            <a:bodyPr anchor="ctr">
              <a:spAutoFit/>
            </a:bodyPr>
            <a:lstStyle/>
            <a:p>
              <a:endParaRPr lang="en-US"/>
            </a:p>
          </p:txBody>
        </p:sp>
      </p:grpSp>
      <p:grpSp>
        <p:nvGrpSpPr>
          <p:cNvPr id="55312" name="Group 44"/>
          <p:cNvGrpSpPr>
            <a:grpSpLocks/>
          </p:cNvGrpSpPr>
          <p:nvPr/>
        </p:nvGrpSpPr>
        <p:grpSpPr bwMode="auto">
          <a:xfrm>
            <a:off x="8277750" y="3736401"/>
            <a:ext cx="387350" cy="568325"/>
            <a:chOff x="2784" y="3210"/>
            <a:chExt cx="523" cy="772"/>
          </a:xfrm>
        </p:grpSpPr>
        <p:sp>
          <p:nvSpPr>
            <p:cNvPr id="55315" name="AutoShape 45"/>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55316" name="AutoShape 46"/>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55317" name="AutoShape 47"/>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55318" name="Oval 48"/>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sp>
        <p:nvSpPr>
          <p:cNvPr id="55313" name="Text Box 49"/>
          <p:cNvSpPr txBox="1">
            <a:spLocks noChangeArrowheads="1"/>
          </p:cNvSpPr>
          <p:nvPr/>
        </p:nvSpPr>
        <p:spPr bwMode="auto">
          <a:xfrm>
            <a:off x="8391723" y="3815776"/>
            <a:ext cx="23653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eaLnBrk="1" hangingPunct="1"/>
            <a:r>
              <a:rPr lang="en-US"/>
              <a:t>1</a:t>
            </a:r>
            <a:r>
              <a:rPr lang="en-US" baseline="30000"/>
              <a:t>st</a:t>
            </a:r>
            <a:r>
              <a:rPr lang="en-US"/>
              <a:t> </a:t>
            </a:r>
          </a:p>
        </p:txBody>
      </p:sp>
      <p:sp>
        <p:nvSpPr>
          <p:cNvPr id="55314" name="Rectangle 50"/>
          <p:cNvSpPr>
            <a:spLocks noChangeArrowheads="1"/>
          </p:cNvSpPr>
          <p:nvPr/>
        </p:nvSpPr>
        <p:spPr bwMode="auto">
          <a:xfrm>
            <a:off x="539750" y="730250"/>
            <a:ext cx="8148746"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285750" indent="-285750" algn="l" eaLnBrk="0" hangingPunct="0">
              <a:spcBef>
                <a:spcPct val="40000"/>
              </a:spcBef>
              <a:spcAft>
                <a:spcPct val="0"/>
              </a:spcAft>
              <a:buClr>
                <a:srgbClr val="0146AD"/>
              </a:buClr>
              <a:buFont typeface="Wingdings 3" pitchFamily="18" charset="2"/>
              <a:buChar char="}"/>
            </a:pPr>
            <a:r>
              <a:rPr lang="en-US" sz="2400" dirty="0"/>
              <a:t>Adjusters can search </a:t>
            </a:r>
            <a:r>
              <a:rPr lang="en-US" sz="2400" dirty="0" smtClean="0"/>
              <a:t>by preferred </a:t>
            </a:r>
            <a:r>
              <a:rPr lang="en-US" sz="2400" dirty="0"/>
              <a:t>providers that have a good track record</a:t>
            </a:r>
          </a:p>
        </p:txBody>
      </p:sp>
      <p:sp>
        <p:nvSpPr>
          <p:cNvPr id="3" name="Rounded Rectangle 2"/>
          <p:cNvSpPr/>
          <p:nvPr/>
        </p:nvSpPr>
        <p:spPr bwMode="auto">
          <a:xfrm>
            <a:off x="791409" y="3135236"/>
            <a:ext cx="3614335" cy="288110"/>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36" name="Rounded Rectangle 35"/>
          <p:cNvSpPr/>
          <p:nvPr/>
        </p:nvSpPr>
        <p:spPr bwMode="auto">
          <a:xfrm>
            <a:off x="791410" y="1998342"/>
            <a:ext cx="3614335" cy="305657"/>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37" name="TextBox 36"/>
          <p:cNvSpPr txBox="1"/>
          <p:nvPr/>
        </p:nvSpPr>
        <p:spPr>
          <a:xfrm>
            <a:off x="4844456" y="1220678"/>
            <a:ext cx="1784944" cy="1938992"/>
          </a:xfrm>
          <a:prstGeom prst="rect">
            <a:avLst/>
          </a:prstGeom>
          <a:noFill/>
        </p:spPr>
        <p:txBody>
          <a:bodyPr wrap="square" rtlCol="0">
            <a:spAutoFit/>
          </a:bodyPr>
          <a:lstStyle/>
          <a:p>
            <a:r>
              <a:rPr lang="en-US" sz="2000" dirty="0" smtClean="0">
                <a:solidFill>
                  <a:srgbClr val="C00000"/>
                </a:solidFill>
                <a:latin typeface="Calibri" pitchFamily="34" charset="0"/>
                <a:cs typeface="Calibri" pitchFamily="34" charset="0"/>
              </a:rPr>
              <a:t>Choose a vendor type and preferred vendors and/or minimum score (10 – 90)</a:t>
            </a:r>
          </a:p>
        </p:txBody>
      </p:sp>
      <p:cxnSp>
        <p:nvCxnSpPr>
          <p:cNvPr id="39" name="Straight Arrow Connector 38"/>
          <p:cNvCxnSpPr/>
          <p:nvPr/>
        </p:nvCxnSpPr>
        <p:spPr bwMode="auto">
          <a:xfrm flipH="1">
            <a:off x="4405746" y="1728509"/>
            <a:ext cx="611510" cy="308694"/>
          </a:xfrm>
          <a:prstGeom prst="straightConnector1">
            <a:avLst/>
          </a:prstGeom>
          <a:noFill/>
          <a:ln w="19050" cap="flat" cmpd="sng" algn="ctr">
            <a:solidFill>
              <a:srgbClr val="C00000"/>
            </a:solidFill>
            <a:prstDash val="solid"/>
            <a:round/>
            <a:headEnd type="none" w="med" len="med"/>
            <a:tailEnd type="arrow"/>
          </a:ln>
          <a:effectLst/>
        </p:spPr>
      </p:cxnSp>
      <p:sp>
        <p:nvSpPr>
          <p:cNvPr id="40" name="Rounded Rectangle 39"/>
          <p:cNvSpPr/>
          <p:nvPr/>
        </p:nvSpPr>
        <p:spPr bwMode="auto">
          <a:xfrm>
            <a:off x="791408" y="2835860"/>
            <a:ext cx="3614335" cy="305657"/>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cxnSp>
        <p:nvCxnSpPr>
          <p:cNvPr id="41" name="Straight Arrow Connector 40"/>
          <p:cNvCxnSpPr/>
          <p:nvPr/>
        </p:nvCxnSpPr>
        <p:spPr bwMode="auto">
          <a:xfrm flipH="1">
            <a:off x="4405746" y="1728509"/>
            <a:ext cx="611510" cy="1387973"/>
          </a:xfrm>
          <a:prstGeom prst="straightConnector1">
            <a:avLst/>
          </a:prstGeom>
          <a:noFill/>
          <a:ln w="19050" cap="flat" cmpd="sng" algn="ctr">
            <a:solidFill>
              <a:srgbClr val="C00000"/>
            </a:solidFill>
            <a:prstDash val="solid"/>
            <a:round/>
            <a:headEnd type="none" w="med" len="med"/>
            <a:tailEnd type="arrow"/>
          </a:ln>
          <a:effectLst/>
        </p:spPr>
      </p:cxnSp>
    </p:spTree>
    <p:extLst>
      <p:ext uri="{BB962C8B-B14F-4D97-AF65-F5344CB8AC3E}">
        <p14:creationId xmlns:p14="http://schemas.microsoft.com/office/powerpoint/2010/main" val="2220776049"/>
      </p:ext>
    </p:extLst>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|EOS~045|</a:t>
            </a:r>
            <a:endParaRPr lang="en-US" sz="100" dirty="0" err="1" smtClean="0">
              <a:solidFill>
                <a:srgbClr val="FFFFFF"/>
              </a:solidFill>
              <a:latin typeface="Arial"/>
              <a:cs typeface="Calibri" pitchFamily="34" charset="0"/>
            </a:endParaRP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838" y="2490788"/>
            <a:ext cx="4272229" cy="41034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57347" name="Rectangle 2"/>
          <p:cNvSpPr>
            <a:spLocks noGrp="1" noChangeArrowheads="1"/>
          </p:cNvSpPr>
          <p:nvPr>
            <p:ph type="title"/>
          </p:nvPr>
        </p:nvSpPr>
        <p:spPr/>
        <p:txBody>
          <a:bodyPr/>
          <a:lstStyle/>
          <a:p>
            <a:pPr eaLnBrk="1" hangingPunct="1"/>
            <a:r>
              <a:rPr lang="en-US" dirty="0" smtClean="0"/>
              <a:t>Creating new performance reviews</a:t>
            </a:r>
          </a:p>
        </p:txBody>
      </p:sp>
      <p:sp>
        <p:nvSpPr>
          <p:cNvPr id="57348" name="Rectangle 12"/>
          <p:cNvSpPr>
            <a:spLocks noGrp="1" noChangeArrowheads="1"/>
          </p:cNvSpPr>
          <p:nvPr>
            <p:ph sz="half" idx="1"/>
          </p:nvPr>
        </p:nvSpPr>
        <p:spPr>
          <a:xfrm>
            <a:off x="5124450" y="2412763"/>
            <a:ext cx="3846253" cy="3089403"/>
          </a:xfrm>
          <a:solidFill>
            <a:schemeClr val="tx1"/>
          </a:solidFill>
        </p:spPr>
        <p:txBody>
          <a:bodyPr/>
          <a:lstStyle/>
          <a:p>
            <a:r>
              <a:rPr lang="en-US" sz="2200" dirty="0" smtClean="0"/>
              <a:t>After locating the Service Provider, you can create/manage reviews</a:t>
            </a:r>
          </a:p>
          <a:p>
            <a:r>
              <a:rPr lang="en-US" sz="2200" dirty="0" smtClean="0"/>
              <a:t>A drop down allows selection of the available service provider review types, in this case, “Auto Repair Service”</a:t>
            </a:r>
          </a:p>
          <a:p>
            <a:endParaRPr lang="en-US" sz="2200" dirty="0" smtClean="0"/>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431" y="732932"/>
            <a:ext cx="8695272" cy="1568834"/>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57352" name="AutoShape 8"/>
          <p:cNvSpPr>
            <a:spLocks noChangeArrowheads="1"/>
          </p:cNvSpPr>
          <p:nvPr/>
        </p:nvSpPr>
        <p:spPr bwMode="auto">
          <a:xfrm>
            <a:off x="5720315" y="732440"/>
            <a:ext cx="1382233" cy="433110"/>
          </a:xfrm>
          <a:prstGeom prst="roundRect">
            <a:avLst>
              <a:gd name="adj" fmla="val 16667"/>
            </a:avLst>
          </a:prstGeom>
          <a:noFill/>
          <a:ln w="190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4110" y="5398418"/>
            <a:ext cx="2109797" cy="640474"/>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57350" name="AutoShape 6"/>
          <p:cNvSpPr>
            <a:spLocks noChangeArrowheads="1"/>
          </p:cNvSpPr>
          <p:nvPr/>
        </p:nvSpPr>
        <p:spPr bwMode="auto">
          <a:xfrm>
            <a:off x="1492577" y="2021272"/>
            <a:ext cx="1424043" cy="268287"/>
          </a:xfrm>
          <a:prstGeom prst="roundRect">
            <a:avLst>
              <a:gd name="adj" fmla="val 16667"/>
            </a:avLst>
          </a:prstGeom>
          <a:noFill/>
          <a:ln w="190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 name="Arc 1"/>
          <p:cNvSpPr/>
          <p:nvPr/>
        </p:nvSpPr>
        <p:spPr bwMode="auto">
          <a:xfrm>
            <a:off x="2204598" y="2289559"/>
            <a:ext cx="576180" cy="428589"/>
          </a:xfrm>
          <a:prstGeom prst="arc">
            <a:avLst/>
          </a:prstGeom>
          <a:noFill/>
          <a:ln w="19050" cap="flat" cmpd="sng" algn="ctr">
            <a:solidFill>
              <a:srgbClr val="C00000"/>
            </a:solidFill>
            <a:prstDash val="solid"/>
            <a:round/>
            <a:headEnd type="none" w="med" len="med"/>
            <a:tailEnd type="triangle" w="med" len="med"/>
          </a:ln>
          <a:effectLst/>
        </p:spPr>
        <p:txBody>
          <a:bodyPr rtlCol="0" anchor="ctr"/>
          <a:lstStyle/>
          <a:p>
            <a:pPr algn="ctr"/>
            <a:endParaRPr lang="en-US"/>
          </a:p>
        </p:txBody>
      </p:sp>
    </p:spTree>
    <p:extLst>
      <p:ext uri="{BB962C8B-B14F-4D97-AF65-F5344CB8AC3E}">
        <p14:creationId xmlns:p14="http://schemas.microsoft.com/office/powerpoint/2010/main" val="3188086498"/>
      </p:ext>
    </p:extLst>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|EOS~046|</a:t>
            </a:r>
            <a:endParaRPr lang="en-US" sz="100" dirty="0" err="1" smtClean="0">
              <a:solidFill>
                <a:srgbClr val="FFFFFF"/>
              </a:solidFill>
              <a:latin typeface="Arial"/>
              <a:cs typeface="Calibri" pitchFamily="34" charset="0"/>
            </a:endParaRPr>
          </a:p>
        </p:txBody>
      </p:sp>
      <p:sp>
        <p:nvSpPr>
          <p:cNvPr id="58370" name="Rectangle 2"/>
          <p:cNvSpPr>
            <a:spLocks noGrp="1" noChangeArrowheads="1"/>
          </p:cNvSpPr>
          <p:nvPr>
            <p:ph type="title"/>
          </p:nvPr>
        </p:nvSpPr>
        <p:spPr/>
        <p:txBody>
          <a:bodyPr/>
          <a:lstStyle/>
          <a:p>
            <a:pPr eaLnBrk="1" hangingPunct="1"/>
            <a:r>
              <a:rPr lang="en-US" dirty="0" smtClean="0"/>
              <a:t>Review question sets</a:t>
            </a:r>
          </a:p>
        </p:txBody>
      </p:sp>
      <p:pic>
        <p:nvPicPr>
          <p:cNvPr id="3074" name="Picture 2" descr="C:\Users\trhoades\AppData\Local\Temp\SNAGHTML2e578b4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0789" y="493985"/>
            <a:ext cx="6191250" cy="6096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5557105"/>
      </p:ext>
    </p:extLst>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|EOS~047|</a:t>
            </a:r>
            <a:endParaRPr lang="en-US" sz="100" dirty="0" err="1" smtClean="0">
              <a:solidFill>
                <a:srgbClr val="FFFFFF"/>
              </a:solidFill>
              <a:latin typeface="Arial"/>
              <a:cs typeface="Calibri" pitchFamily="34" charset="0"/>
            </a:endParaRPr>
          </a:p>
        </p:txBody>
      </p:sp>
      <p:sp>
        <p:nvSpPr>
          <p:cNvPr id="59394" name="Rectangle 2"/>
          <p:cNvSpPr>
            <a:spLocks noGrp="1" noChangeArrowheads="1"/>
          </p:cNvSpPr>
          <p:nvPr>
            <p:ph type="title"/>
          </p:nvPr>
        </p:nvSpPr>
        <p:spPr/>
        <p:txBody>
          <a:bodyPr/>
          <a:lstStyle/>
          <a:p>
            <a:pPr eaLnBrk="1" hangingPunct="1"/>
            <a:r>
              <a:rPr lang="en-US" dirty="0" smtClean="0"/>
              <a:t>Completed provider review and scores</a:t>
            </a:r>
          </a:p>
        </p:txBody>
      </p:sp>
      <p:pic>
        <p:nvPicPr>
          <p:cNvPr id="4101" name="Picture 5" descr="C:\Users\trhoades\AppData\Local\Temp\SNAGHTML2e626c6c.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9350" y="625806"/>
            <a:ext cx="6724650" cy="5886450"/>
          </a:xfrm>
          <a:prstGeom prst="rect">
            <a:avLst/>
          </a:prstGeom>
          <a:noFill/>
          <a:ln>
            <a:solidFill>
              <a:srgbClr val="C00000"/>
            </a:solidFill>
          </a:ln>
          <a:extLst>
            <a:ext uri="{909E8E84-426E-40DD-AFC4-6F175D3DCCD1}">
              <a14:hiddenFill xmlns:a14="http://schemas.microsoft.com/office/drawing/2010/main">
                <a:solidFill>
                  <a:srgbClr val="FFFFFF"/>
                </a:solidFill>
              </a14:hiddenFill>
            </a:ext>
          </a:extLst>
        </p:spPr>
      </p:pic>
      <p:pic>
        <p:nvPicPr>
          <p:cNvPr id="4107" name="Picture 11" descr="C:\Users\trhoades\AppData\Local\Temp\SNAGHTML2e6376c8.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3060701"/>
            <a:ext cx="4095750" cy="1819276"/>
          </a:xfrm>
          <a:prstGeom prst="rect">
            <a:avLst/>
          </a:prstGeom>
          <a:noFill/>
          <a:extLst>
            <a:ext uri="{909E8E84-426E-40DD-AFC4-6F175D3DCCD1}">
              <a14:hiddenFill xmlns:a14="http://schemas.microsoft.com/office/drawing/2010/main">
                <a:solidFill>
                  <a:srgbClr val="FFFFFF"/>
                </a:solidFill>
              </a14:hiddenFill>
            </a:ext>
          </a:extLst>
        </p:spPr>
      </p:pic>
      <p:sp>
        <p:nvSpPr>
          <p:cNvPr id="11" name="Line 7"/>
          <p:cNvSpPr>
            <a:spLocks noChangeShapeType="1"/>
          </p:cNvSpPr>
          <p:nvPr/>
        </p:nvSpPr>
        <p:spPr bwMode="auto">
          <a:xfrm flipH="1">
            <a:off x="1828800" y="4283901"/>
            <a:ext cx="1189974" cy="954849"/>
          </a:xfrm>
          <a:prstGeom prst="line">
            <a:avLst/>
          </a:prstGeom>
          <a:noFill/>
          <a:ln w="19050">
            <a:solidFill>
              <a:srgbClr val="C0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2" name="AutoShape 6"/>
          <p:cNvSpPr>
            <a:spLocks noChangeArrowheads="1"/>
          </p:cNvSpPr>
          <p:nvPr/>
        </p:nvSpPr>
        <p:spPr bwMode="auto">
          <a:xfrm>
            <a:off x="3018774" y="3306871"/>
            <a:ext cx="1229376" cy="1565525"/>
          </a:xfrm>
          <a:prstGeom prst="roundRect">
            <a:avLst>
              <a:gd name="adj" fmla="val 16667"/>
            </a:avLst>
          </a:prstGeom>
          <a:noFill/>
          <a:ln w="190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3" name="Text Box 4"/>
          <p:cNvSpPr txBox="1">
            <a:spLocks noChangeArrowheads="1"/>
          </p:cNvSpPr>
          <p:nvPr/>
        </p:nvSpPr>
        <p:spPr bwMode="auto">
          <a:xfrm>
            <a:off x="1183480" y="5238750"/>
            <a:ext cx="1103313" cy="553998"/>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1800" b="1" dirty="0" smtClean="0">
                <a:solidFill>
                  <a:srgbClr val="C00000"/>
                </a:solidFill>
              </a:rPr>
              <a:t>Review Score: 82</a:t>
            </a:r>
            <a:endParaRPr lang="en-US" sz="1800" b="1" dirty="0">
              <a:solidFill>
                <a:srgbClr val="C00000"/>
              </a:solidFill>
            </a:endParaRPr>
          </a:p>
        </p:txBody>
      </p:sp>
      <p:sp>
        <p:nvSpPr>
          <p:cNvPr id="14" name="AutoShape 6"/>
          <p:cNvSpPr>
            <a:spLocks noChangeArrowheads="1"/>
          </p:cNvSpPr>
          <p:nvPr/>
        </p:nvSpPr>
        <p:spPr bwMode="auto">
          <a:xfrm>
            <a:off x="2419350" y="6202112"/>
            <a:ext cx="6724650" cy="321501"/>
          </a:xfrm>
          <a:prstGeom prst="roundRect">
            <a:avLst>
              <a:gd name="adj" fmla="val 16667"/>
            </a:avLst>
          </a:prstGeom>
          <a:noFill/>
          <a:ln w="190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1990131195"/>
      </p:ext>
    </p:extLst>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|EOS~048|</a:t>
            </a:r>
            <a:endParaRPr lang="en-US" sz="100" dirty="0" err="1" smtClean="0">
              <a:solidFill>
                <a:srgbClr val="FFFFFF"/>
              </a:solidFill>
              <a:latin typeface="Arial"/>
              <a:cs typeface="Calibri" pitchFamily="34" charset="0"/>
            </a:endParaRP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215" y="4380240"/>
            <a:ext cx="5811026" cy="152526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215" y="1334595"/>
            <a:ext cx="8994785" cy="2748674"/>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56322" name="Rectangle 2"/>
          <p:cNvSpPr>
            <a:spLocks noGrp="1" noChangeArrowheads="1"/>
          </p:cNvSpPr>
          <p:nvPr>
            <p:ph type="title"/>
          </p:nvPr>
        </p:nvSpPr>
        <p:spPr/>
        <p:txBody>
          <a:bodyPr/>
          <a:lstStyle/>
          <a:p>
            <a:pPr eaLnBrk="1" hangingPunct="1"/>
            <a:r>
              <a:rPr lang="en-US" dirty="0" smtClean="0"/>
              <a:t>Viewing all provider performance reviews</a:t>
            </a:r>
          </a:p>
        </p:txBody>
      </p:sp>
      <p:sp>
        <p:nvSpPr>
          <p:cNvPr id="2" name="Rounded Rectangle 1"/>
          <p:cNvSpPr/>
          <p:nvPr/>
        </p:nvSpPr>
        <p:spPr bwMode="auto">
          <a:xfrm>
            <a:off x="7452986" y="1778696"/>
            <a:ext cx="876822" cy="363255"/>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5" name="Rounded Rectangle 4"/>
          <p:cNvSpPr/>
          <p:nvPr/>
        </p:nvSpPr>
        <p:spPr bwMode="auto">
          <a:xfrm>
            <a:off x="149214" y="4369541"/>
            <a:ext cx="1431935" cy="363255"/>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8" name="Line 7"/>
          <p:cNvSpPr>
            <a:spLocks noChangeShapeType="1"/>
          </p:cNvSpPr>
          <p:nvPr/>
        </p:nvSpPr>
        <p:spPr bwMode="auto">
          <a:xfrm flipH="1" flipV="1">
            <a:off x="1581148" y="4672293"/>
            <a:ext cx="4036543" cy="370177"/>
          </a:xfrm>
          <a:prstGeom prst="line">
            <a:avLst/>
          </a:prstGeom>
          <a:noFill/>
          <a:ln w="19050">
            <a:solidFill>
              <a:srgbClr val="C0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9" name="Text Box 4"/>
          <p:cNvSpPr txBox="1">
            <a:spLocks noChangeArrowheads="1"/>
          </p:cNvSpPr>
          <p:nvPr/>
        </p:nvSpPr>
        <p:spPr bwMode="auto">
          <a:xfrm>
            <a:off x="5617692" y="4626972"/>
            <a:ext cx="2712116" cy="830997"/>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1400">
                <a:solidFill>
                  <a:schemeClr val="bg1"/>
                </a:solidFill>
                <a:latin typeface="Arial" pitchFamily="34" charset="0"/>
              </a:defRPr>
            </a:lvl1pPr>
            <a:lvl2pPr marL="742950" indent="-285750" eaLnBrk="0" hangingPunct="0">
              <a:defRPr sz="1400">
                <a:solidFill>
                  <a:schemeClr val="bg1"/>
                </a:solidFill>
                <a:latin typeface="Arial" pitchFamily="34" charset="0"/>
              </a:defRPr>
            </a:lvl2pPr>
            <a:lvl3pPr marL="1143000" indent="-228600" eaLnBrk="0" hangingPunct="0">
              <a:defRPr sz="1400">
                <a:solidFill>
                  <a:schemeClr val="bg1"/>
                </a:solidFill>
                <a:latin typeface="Arial" pitchFamily="34" charset="0"/>
              </a:defRPr>
            </a:lvl3pPr>
            <a:lvl4pPr marL="1600200" indent="-228600" eaLnBrk="0" hangingPunct="0">
              <a:defRPr sz="1400">
                <a:solidFill>
                  <a:schemeClr val="bg1"/>
                </a:solidFill>
                <a:latin typeface="Arial" pitchFamily="34" charset="0"/>
              </a:defRPr>
            </a:lvl4pPr>
            <a:lvl5pPr marL="2057400" indent="-228600" eaLnBrk="0" hangingPunct="0">
              <a:defRPr sz="1400">
                <a:solidFill>
                  <a:schemeClr val="bg1"/>
                </a:solidFill>
                <a:latin typeface="Arial" pitchFamily="34" charset="0"/>
              </a:defRPr>
            </a:lvl5pPr>
            <a:lvl6pPr marL="2514600" indent="-228600" algn="ctr" eaLnBrk="0" fontAlgn="base" hangingPunct="0">
              <a:spcBef>
                <a:spcPct val="50000"/>
              </a:spcBef>
              <a:spcAft>
                <a:spcPct val="30000"/>
              </a:spcAft>
              <a:buClr>
                <a:schemeClr val="tx1"/>
              </a:buClr>
              <a:defRPr sz="1400">
                <a:solidFill>
                  <a:schemeClr val="bg1"/>
                </a:solidFill>
                <a:latin typeface="Arial" pitchFamily="34" charset="0"/>
              </a:defRPr>
            </a:lvl6pPr>
            <a:lvl7pPr marL="2971800" indent="-228600" algn="ctr" eaLnBrk="0" fontAlgn="base" hangingPunct="0">
              <a:spcBef>
                <a:spcPct val="50000"/>
              </a:spcBef>
              <a:spcAft>
                <a:spcPct val="30000"/>
              </a:spcAft>
              <a:buClr>
                <a:schemeClr val="tx1"/>
              </a:buClr>
              <a:defRPr sz="1400">
                <a:solidFill>
                  <a:schemeClr val="bg1"/>
                </a:solidFill>
                <a:latin typeface="Arial" pitchFamily="34" charset="0"/>
              </a:defRPr>
            </a:lvl7pPr>
            <a:lvl8pPr marL="3429000" indent="-228600" algn="ctr" eaLnBrk="0" fontAlgn="base" hangingPunct="0">
              <a:spcBef>
                <a:spcPct val="50000"/>
              </a:spcBef>
              <a:spcAft>
                <a:spcPct val="30000"/>
              </a:spcAft>
              <a:buClr>
                <a:schemeClr val="tx1"/>
              </a:buClr>
              <a:defRPr sz="1400">
                <a:solidFill>
                  <a:schemeClr val="bg1"/>
                </a:solidFill>
                <a:latin typeface="Arial" pitchFamily="34" charset="0"/>
              </a:defRPr>
            </a:lvl8pPr>
            <a:lvl9pPr marL="3886200" indent="-228600" algn="ctr" eaLnBrk="0" fontAlgn="base" hangingPunct="0">
              <a:spcBef>
                <a:spcPct val="50000"/>
              </a:spcBef>
              <a:spcAft>
                <a:spcPct val="30000"/>
              </a:spcAft>
              <a:buClr>
                <a:schemeClr val="tx1"/>
              </a:buClr>
              <a:defRPr sz="1400">
                <a:solidFill>
                  <a:schemeClr val="bg1"/>
                </a:solidFill>
                <a:latin typeface="Arial" pitchFamily="34" charset="0"/>
              </a:defRPr>
            </a:lvl9pPr>
          </a:lstStyle>
          <a:p>
            <a:pPr algn="l" eaLnBrk="1" hangingPunct="1"/>
            <a:r>
              <a:rPr lang="en-US" sz="1800" b="1" dirty="0" smtClean="0">
                <a:solidFill>
                  <a:srgbClr val="C00000"/>
                </a:solidFill>
              </a:rPr>
              <a:t>After completing question set, complete review</a:t>
            </a:r>
            <a:endParaRPr lang="en-US" sz="1800" b="1" dirty="0">
              <a:solidFill>
                <a:srgbClr val="C00000"/>
              </a:solidFill>
            </a:endParaRPr>
          </a:p>
        </p:txBody>
      </p:sp>
    </p:spTree>
    <p:extLst>
      <p:ext uri="{BB962C8B-B14F-4D97-AF65-F5344CB8AC3E}">
        <p14:creationId xmlns:p14="http://schemas.microsoft.com/office/powerpoint/2010/main" val="684330279"/>
      </p:ext>
    </p:extLst>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|EOS~049|</a:t>
            </a:r>
            <a:endParaRPr lang="en-US" sz="100" dirty="0" err="1" smtClean="0">
              <a:solidFill>
                <a:srgbClr val="FFFFFF"/>
              </a:solidFill>
              <a:latin typeface="Arial"/>
              <a:cs typeface="Calibri" pitchFamily="34" charset="0"/>
            </a:endParaRPr>
          </a:p>
        </p:txBody>
      </p:sp>
      <p:sp>
        <p:nvSpPr>
          <p:cNvPr id="61442" name="Rectangle 2"/>
          <p:cNvSpPr>
            <a:spLocks noGrp="1" noChangeArrowheads="1"/>
          </p:cNvSpPr>
          <p:nvPr>
            <p:ph type="title"/>
          </p:nvPr>
        </p:nvSpPr>
        <p:spPr/>
        <p:txBody>
          <a:bodyPr/>
          <a:lstStyle/>
          <a:p>
            <a:pPr eaLnBrk="1" hangingPunct="1"/>
            <a:r>
              <a:rPr lang="en-US" dirty="0" smtClean="0"/>
              <a:t>Lesson objectives review</a:t>
            </a:r>
          </a:p>
        </p:txBody>
      </p:sp>
      <p:sp>
        <p:nvSpPr>
          <p:cNvPr id="61443" name="Rectangle 3"/>
          <p:cNvSpPr>
            <a:spLocks noGrp="1" noChangeArrowheads="1"/>
          </p:cNvSpPr>
          <p:nvPr>
            <p:ph idx="1"/>
          </p:nvPr>
        </p:nvSpPr>
        <p:spPr/>
        <p:txBody>
          <a:bodyPr/>
          <a:lstStyle/>
          <a:p>
            <a:pPr>
              <a:buFont typeface="Wingdings 3" pitchFamily="18" charset="2"/>
              <a:buNone/>
            </a:pPr>
            <a:r>
              <a:rPr lang="en-US" smtClean="0"/>
              <a:t>You should now be able to:</a:t>
            </a:r>
          </a:p>
          <a:p>
            <a:pPr lvl="1"/>
            <a:r>
              <a:rPr lang="en-US" smtClean="0"/>
              <a:t>Describe the functionality of contacts</a:t>
            </a:r>
          </a:p>
          <a:p>
            <a:pPr lvl="1"/>
            <a:r>
              <a:rPr lang="en-US" smtClean="0"/>
              <a:t>Describe the functionality of ContactManager</a:t>
            </a:r>
          </a:p>
          <a:p>
            <a:pPr lvl="1"/>
            <a:r>
              <a:rPr lang="en-US" smtClean="0"/>
              <a:t>Create contacts in ClaimCenter</a:t>
            </a:r>
          </a:p>
          <a:p>
            <a:pPr lvl="1"/>
            <a:r>
              <a:rPr lang="en-US" smtClean="0"/>
              <a:t>Work with contacts in ClaimCenter</a:t>
            </a:r>
          </a:p>
          <a:p>
            <a:pPr lvl="1"/>
            <a:r>
              <a:rPr lang="en-US" smtClean="0"/>
              <a:t>Describe approaches to searching for contacts</a:t>
            </a:r>
          </a:p>
        </p:txBody>
      </p:sp>
    </p:spTree>
    <p:extLst>
      <p:ext uri="{BB962C8B-B14F-4D97-AF65-F5344CB8AC3E}">
        <p14:creationId xmlns:p14="http://schemas.microsoft.com/office/powerpoint/2010/main" val="3694478305"/>
      </p:ext>
    </p:extLst>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|EOS~050|</a:t>
            </a:r>
            <a:endParaRPr lang="en-US" sz="100" dirty="0" err="1" smtClean="0">
              <a:solidFill>
                <a:srgbClr val="FFFFFF"/>
              </a:solidFill>
              <a:latin typeface="Arial"/>
              <a:cs typeface="Calibri" pitchFamily="34" charset="0"/>
            </a:endParaRPr>
          </a:p>
        </p:txBody>
      </p:sp>
      <p:sp>
        <p:nvSpPr>
          <p:cNvPr id="62466" name="Rectangle 2"/>
          <p:cNvSpPr>
            <a:spLocks noGrp="1" noChangeArrowheads="1"/>
          </p:cNvSpPr>
          <p:nvPr>
            <p:ph type="title"/>
          </p:nvPr>
        </p:nvSpPr>
        <p:spPr/>
        <p:txBody>
          <a:bodyPr/>
          <a:lstStyle/>
          <a:p>
            <a:pPr eaLnBrk="1" hangingPunct="1"/>
            <a:r>
              <a:rPr lang="en-US" smtClean="0"/>
              <a:t>Review questions</a:t>
            </a:r>
          </a:p>
        </p:txBody>
      </p:sp>
      <p:sp>
        <p:nvSpPr>
          <p:cNvPr id="62467" name="Rectangle 3"/>
          <p:cNvSpPr>
            <a:spLocks noGrp="1" noChangeArrowheads="1"/>
          </p:cNvSpPr>
          <p:nvPr>
            <p:ph idx="1"/>
          </p:nvPr>
        </p:nvSpPr>
        <p:spPr/>
        <p:txBody>
          <a:bodyPr/>
          <a:lstStyle/>
          <a:p>
            <a:pPr marL="457200" indent="-457200">
              <a:buFont typeface="Webdings" pitchFamily="18" charset="2"/>
              <a:buAutoNum type="arabicPeriod"/>
            </a:pPr>
            <a:r>
              <a:rPr lang="en-US" dirty="0" smtClean="0"/>
              <a:t>If “Tire Town” is in the Address Book and is associated to three claims, how many contacts have the name “Tire Town"?</a:t>
            </a:r>
          </a:p>
          <a:p>
            <a:pPr marL="457200" indent="-457200">
              <a:buFont typeface="Webdings" pitchFamily="18" charset="2"/>
              <a:buAutoNum type="arabicPeriod"/>
            </a:pPr>
            <a:r>
              <a:rPr lang="en-US" dirty="0" smtClean="0"/>
              <a:t>Is it common or uncommon to have a contact that exists only in ClaimCenter? Only in Address Book?</a:t>
            </a:r>
          </a:p>
          <a:p>
            <a:pPr marL="457200" indent="-457200">
              <a:buFont typeface="Webdings" pitchFamily="18" charset="2"/>
              <a:buAutoNum type="arabicPeriod"/>
            </a:pPr>
            <a:r>
              <a:rPr lang="en-US" dirty="0" smtClean="0"/>
              <a:t>What is the purpose of a contact role? A contact role "owner"?</a:t>
            </a:r>
          </a:p>
          <a:p>
            <a:pPr marL="457200" indent="-457200">
              <a:buFont typeface="Webdings" pitchFamily="18" charset="2"/>
              <a:buAutoNum type="arabicPeriod"/>
            </a:pPr>
            <a:r>
              <a:rPr lang="en-US" dirty="0" smtClean="0"/>
              <a:t>How can you tell if a contact is linked and/or in sync?</a:t>
            </a:r>
          </a:p>
          <a:p>
            <a:pPr marL="457200" indent="-457200">
              <a:buFont typeface="Webdings" pitchFamily="18" charset="2"/>
              <a:buAutoNum type="arabicPeriod"/>
            </a:pPr>
            <a:r>
              <a:rPr lang="en-US" dirty="0" smtClean="0"/>
              <a:t>How could you identify all the claims that a given contact is associated to?</a:t>
            </a:r>
          </a:p>
        </p:txBody>
      </p:sp>
    </p:spTree>
    <p:extLst>
      <p:ext uri="{BB962C8B-B14F-4D97-AF65-F5344CB8AC3E}">
        <p14:creationId xmlns:p14="http://schemas.microsoft.com/office/powerpoint/2010/main" val="3211247314"/>
      </p:ext>
    </p:extLst>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|EOS~051|</a:t>
            </a:r>
            <a:endParaRPr lang="en-US" sz="100" dirty="0" err="1" smtClean="0">
              <a:solidFill>
                <a:srgbClr val="FFFFFF"/>
              </a:solidFill>
              <a:latin typeface="Arial"/>
              <a:cs typeface="Calibri" pitchFamily="34" charset="0"/>
            </a:endParaRPr>
          </a:p>
        </p:txBody>
      </p:sp>
      <p:sp>
        <p:nvSpPr>
          <p:cNvPr id="51202" name="Rectangle 2"/>
          <p:cNvSpPr>
            <a:spLocks noGrp="1" noChangeArrowheads="1"/>
          </p:cNvSpPr>
          <p:nvPr>
            <p:ph type="title"/>
          </p:nvPr>
        </p:nvSpPr>
        <p:spPr/>
        <p:txBody>
          <a:bodyPr/>
          <a:lstStyle/>
          <a:p>
            <a:pPr eaLnBrk="1" hangingPunct="1"/>
            <a:r>
              <a:rPr lang="en-US" smtClean="0"/>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dirty="0" smtClean="0"/>
              <a:t>Copyright © 2001-2014 Guidewire Software, Inc. All rights reserved.</a:t>
            </a:r>
          </a:p>
          <a:p>
            <a:pPr marL="0" indent="0">
              <a:buNone/>
            </a:pPr>
            <a:r>
              <a:rPr lang="en-US" sz="1600" dirty="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 Guidewire </a:t>
            </a:r>
            <a:r>
              <a:rPr lang="en-US" sz="1600" dirty="0" err="1"/>
              <a:t>ExampleCenter</a:t>
            </a:r>
            <a:r>
              <a:rPr lang="en-US" sz="1600" dirty="0"/>
              <a:t>, Guidewire Account Manager Portal, Guidewire </a:t>
            </a:r>
            <a:r>
              <a:rPr lang="en-US" sz="1600" dirty="0" smtClean="0"/>
              <a:t>Claim </a:t>
            </a:r>
            <a:r>
              <a:rPr lang="en-US" sz="1600" dirty="0"/>
              <a:t>Portal, Guidewire Policyholder Portal, ClaimCenter, BillingCenter, </a:t>
            </a:r>
            <a:r>
              <a:rPr lang="en-US" sz="1600" dirty="0" err="1"/>
              <a:t>PolicyCenter</a:t>
            </a:r>
            <a:r>
              <a:rPr lang="en-US" sz="1600" dirty="0"/>
              <a:t>, </a:t>
            </a:r>
            <a:r>
              <a:rPr lang="en-US" sz="1600" dirty="0" err="1"/>
              <a:t>InsuranceSuite</a:t>
            </a:r>
            <a:r>
              <a:rPr lang="en-US" sz="1600" dirty="0"/>
              <a:t>, </a:t>
            </a:r>
            <a:r>
              <a:rPr lang="en-US" sz="1600" dirty="0" err="1"/>
              <a:t>Gosu</a:t>
            </a:r>
            <a:r>
              <a:rPr lang="en-US" sz="1600" dirty="0"/>
              <a:t>, </a:t>
            </a:r>
            <a:r>
              <a:rPr lang="en-US" sz="1600" dirty="0" smtClean="0"/>
              <a:t>Deliver </a:t>
            </a:r>
            <a:r>
              <a:rPr lang="en-US" sz="1600" dirty="0"/>
              <a:t>Insurance Your Way, and the Guidewire logo are trademarks, service marks, or registered trademarks of Guidewire Software, Inc. in the United States and/or other countries.</a:t>
            </a:r>
          </a:p>
          <a:p>
            <a:pPr marL="0" indent="0">
              <a:buNone/>
            </a:pPr>
            <a:r>
              <a:rPr lang="en-US" sz="1600" dirty="0"/>
              <a:t>All other trademarks are the property of their respective owners.</a:t>
            </a:r>
          </a:p>
          <a:p>
            <a:pPr marL="0" indent="0">
              <a:buNone/>
            </a:pPr>
            <a:r>
              <a:rPr lang="en-US" sz="1600" b="1" dirty="0"/>
              <a:t>This material is confidential and proprietary to Guidewire and subject to the confidentiality terms in the applicable license agreement and/or separate nondisclosure agreement.</a:t>
            </a:r>
          </a:p>
          <a:p>
            <a:pPr marL="0" indent="0">
              <a:buNone/>
            </a:pPr>
            <a:r>
              <a:rPr lang="en-US" sz="1600" dirty="0"/>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dirty="0"/>
              <a:t>Guidewire products are protected by one or more United States patents.</a:t>
            </a:r>
          </a:p>
        </p:txBody>
      </p:sp>
    </p:spTree>
    <p:extLst>
      <p:ext uri="{BB962C8B-B14F-4D97-AF65-F5344CB8AC3E}">
        <p14:creationId xmlns:p14="http://schemas.microsoft.com/office/powerpoint/2010/main" val="3303154857"/>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noFill/>
        <a:ln w="19050" cap="flat" cmpd="sng" algn="ctr">
          <a:solidFill>
            <a:srgbClr val="FF0000"/>
          </a:solidFill>
          <a:prstDash val="solid"/>
          <a:round/>
          <a:headEnd type="none" w="med" len="med"/>
          <a:tailEnd type="triangle" w="med" len="med"/>
        </a:ln>
        <a:effectLst/>
      </a:spPr>
      <a:body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F735FB8-807A-48F4-AFB3-D293E16FD483}"/>
</file>

<file path=customXml/itemProps2.xml><?xml version="1.0" encoding="utf-8"?>
<ds:datastoreItem xmlns:ds="http://schemas.openxmlformats.org/officeDocument/2006/customXml" ds:itemID="{2BA6D194-C524-4C9E-9556-3372EF3986E3}"/>
</file>

<file path=customXml/itemProps3.xml><?xml version="1.0" encoding="utf-8"?>
<ds:datastoreItem xmlns:ds="http://schemas.openxmlformats.org/officeDocument/2006/customXml" ds:itemID="{13F8AA51-E870-4357-A582-53180FAC92CD}"/>
</file>

<file path=docProps/app.xml><?xml version="1.0" encoding="utf-8"?>
<Properties xmlns="http://schemas.openxmlformats.org/officeDocument/2006/extended-properties" xmlns:vt="http://schemas.openxmlformats.org/officeDocument/2006/docPropsVTypes">
  <Template/>
  <TotalTime>29905</TotalTime>
  <Words>8275</Words>
  <Application>Microsoft Office PowerPoint</Application>
  <PresentationFormat>On-screen Show (4:3)</PresentationFormat>
  <Paragraphs>735</Paragraphs>
  <Slides>52</Slides>
  <Notes>52</Notes>
  <HiddenSlides>1</HiddenSlides>
  <MMClips>0</MMClips>
  <ScaleCrop>false</ScaleCrop>
  <HeadingPairs>
    <vt:vector size="4" baseType="variant">
      <vt:variant>
        <vt:lpstr>Theme</vt:lpstr>
      </vt:variant>
      <vt:variant>
        <vt:i4>1</vt:i4>
      </vt:variant>
      <vt:variant>
        <vt:lpstr>Slide Titles</vt:lpstr>
      </vt:variant>
      <vt:variant>
        <vt:i4>52</vt:i4>
      </vt:variant>
    </vt:vector>
  </HeadingPairs>
  <TitlesOfParts>
    <vt:vector size="53" baseType="lpstr">
      <vt:lpstr>1_test-template</vt:lpstr>
      <vt:lpstr>Contacts</vt:lpstr>
      <vt:lpstr>Lesson objectives</vt:lpstr>
      <vt:lpstr>Lesson outline</vt:lpstr>
      <vt:lpstr>Review: Entities in the claim file</vt:lpstr>
      <vt:lpstr>Review: The claims process</vt:lpstr>
      <vt:lpstr>Mapping entities to the claims process</vt:lpstr>
      <vt:lpstr>Contacts</vt:lpstr>
      <vt:lpstr>The contact subtype hierarchy</vt:lpstr>
      <vt:lpstr>The ABContact entity</vt:lpstr>
      <vt:lpstr>Search results within subtypes</vt:lpstr>
      <vt:lpstr>Contact tags</vt:lpstr>
      <vt:lpstr>Two applications store contacts</vt:lpstr>
      <vt:lpstr>“Local” contacts</vt:lpstr>
      <vt:lpstr>“Shared” contacts</vt:lpstr>
      <vt:lpstr>(Notes only slide)</vt:lpstr>
      <vt:lpstr>Types of users that work with contacts</vt:lpstr>
      <vt:lpstr>Adding a contact within ClaimCenter</vt:lpstr>
      <vt:lpstr>AB Contacts are automatically synced</vt:lpstr>
      <vt:lpstr>Adding a contact within Address Book</vt:lpstr>
      <vt:lpstr>Address Book integration</vt:lpstr>
      <vt:lpstr>Contact roles in ClaimCenter</vt:lpstr>
      <vt:lpstr>Lesson outline</vt:lpstr>
      <vt:lpstr>Accessing ContactManager</vt:lpstr>
      <vt:lpstr>Accessing ContactManager from ClaimCenter</vt:lpstr>
      <vt:lpstr>The ContactManager interface</vt:lpstr>
      <vt:lpstr>Creating new contacts in ContactManager</vt:lpstr>
      <vt:lpstr>Lesson outline</vt:lpstr>
      <vt:lpstr>Creating contacts from the new claim wizard</vt:lpstr>
      <vt:lpstr>Adding a new local contact</vt:lpstr>
      <vt:lpstr>(cont.) Adding a new local contact</vt:lpstr>
      <vt:lpstr>Roles in the User Interface</vt:lpstr>
      <vt:lpstr>Adding shared (existing) contacts</vt:lpstr>
      <vt:lpstr>Adding shared (existing) contacts</vt:lpstr>
      <vt:lpstr>Transferring roles on a claim</vt:lpstr>
      <vt:lpstr>Transferring roles screen</vt:lpstr>
      <vt:lpstr>Transfer the roles</vt:lpstr>
      <vt:lpstr>Lesson outline</vt:lpstr>
      <vt:lpstr>Approaches to Searching for Contacts</vt:lpstr>
      <vt:lpstr>Searching by Name, Type or Services Provided</vt:lpstr>
      <vt:lpstr>Searching Vendors: “Pending Creates”</vt:lpstr>
      <vt:lpstr>Searching by Location</vt:lpstr>
      <vt:lpstr>Searching by proximity to a location</vt:lpstr>
      <vt:lpstr>Geocoding integration</vt:lpstr>
      <vt:lpstr>Service provider reviews</vt:lpstr>
      <vt:lpstr>Search by preferred status and/or review scores</vt:lpstr>
      <vt:lpstr>Creating new performance reviews</vt:lpstr>
      <vt:lpstr>Review question sets</vt:lpstr>
      <vt:lpstr>Completed provider review and scores</vt:lpstr>
      <vt:lpstr>Viewing all provider performance reviews</vt:lpstr>
      <vt:lpstr>Lesson objectives review</vt:lpstr>
      <vt:lpstr>Review questions</vt:lpstr>
      <vt:lpstr>Notices</vt:lpstr>
    </vt:vector>
  </TitlesOfParts>
  <Company>Guidewire Software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Contacts</dc:title>
  <dc:creator>Jason Gische;dsengupta@guidewire.com;trhoades@guidewire.com</dc:creator>
  <dc:description>1080</dc:description>
  <cp:lastModifiedBy>trhoades</cp:lastModifiedBy>
  <cp:revision>2413</cp:revision>
  <cp:lastPrinted>2014-06-25T21:39:13Z</cp:lastPrinted>
  <dcterms:created xsi:type="dcterms:W3CDTF">2007-08-02T20:13:16Z</dcterms:created>
  <dcterms:modified xsi:type="dcterms:W3CDTF">2015-03-17T20:02:44Z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_MarkAsFinal">
    <vt:bool>true</vt:bool>
  </property>
  <property fmtid="{D5CDD505-2E9C-101B-9397-08002B2CF9AE}" pid="5" name="ContentTypeId">
    <vt:lpwstr>0x010100E519429F521E9142A0249EFDF4D90F58</vt:lpwstr>
  </property>
  <property fmtid="{D5CDD505-2E9C-101B-9397-08002B2CF9AE}" pid="6" name="Order">
    <vt:r8>86400</vt:r8>
  </property>
  <property fmtid="{D5CDD505-2E9C-101B-9397-08002B2CF9AE}" pid="7" name="xd_Signature">
    <vt:bool>false</vt:bool>
  </property>
  <property fmtid="{D5CDD505-2E9C-101B-9397-08002B2CF9AE}" pid="8" name="xd_ProgID">
    <vt:lpwstr/>
  </property>
  <property fmtid="{D5CDD505-2E9C-101B-9397-08002B2CF9AE}" pid="9" name="TriggerFlowInfo">
    <vt:lpwstr/>
  </property>
  <property fmtid="{D5CDD505-2E9C-101B-9397-08002B2CF9AE}" pid="10" name="_SourceUrl">
    <vt:lpwstr/>
  </property>
  <property fmtid="{D5CDD505-2E9C-101B-9397-08002B2CF9AE}" pid="11" name="_SharedFileIndex">
    <vt:lpwstr/>
  </property>
  <property fmtid="{D5CDD505-2E9C-101B-9397-08002B2CF9AE}" pid="12" name="ComplianceAssetId">
    <vt:lpwstr/>
  </property>
  <property fmtid="{D5CDD505-2E9C-101B-9397-08002B2CF9AE}" pid="13" name="TemplateUrl">
    <vt:lpwstr/>
  </property>
  <property fmtid="{D5CDD505-2E9C-101B-9397-08002B2CF9AE}" pid="14" name="_ExtendedDescription">
    <vt:lpwstr/>
  </property>
</Properties>
</file>