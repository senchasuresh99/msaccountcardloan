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7.xml" ContentType="application/vnd.openxmlformats-officedocument.presentationml.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xml" ContentType="application/vnd.openxmlformats-officedocument.presentationml.notesSlide+xml"/>
  <Override PartName="/ppt/notesSlides/notesSlide9.xml" ContentType="application/vnd.openxmlformats-officedocument.presentationml.notesSlide+xml"/>
  <Override PartName="/ppt/slideLayouts/slideLayout9.xml" ContentType="application/vnd.openxmlformats-officedocument.presentationml.slideLayout+xml"/>
  <Override PartName="/ppt/notesSlides/notesSlide10.xml" ContentType="application/vnd.openxmlformats-officedocument.presentationml.notesSlide+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20.xml" ContentType="application/vnd.openxmlformats-officedocument.presentationml.notesSlide+xml"/>
  <Override PartName="/ppt/notesSlides/notesSlide7.xml" ContentType="application/vnd.openxmlformats-officedocument.presentationml.notesSlide+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Layouts/slideLayout5.xml" ContentType="application/vnd.openxmlformats-officedocument.presentationml.slideLayout+xml"/>
  <Override PartName="/ppt/notesSlides/notesSlide18.xml" ContentType="application/vnd.openxmlformats-officedocument.presentationml.notesSlide+xml"/>
  <Override PartName="/ppt/slideMasters/slideMaster1.xml" ContentType="application/vnd.openxmlformats-officedocument.presentationml.slideMaster+xml"/>
  <Override PartName="/ppt/notesSlides/notesSlide19.xml" ContentType="application/vnd.openxmlformats-officedocument.presentationml.notesSlide+xml"/>
  <Override PartName="/ppt/notesSlides/notesSlide1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3.xml" ContentType="application/vnd.openxmlformats-officedocument.presentationml.notes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24"/>
  </p:notesMasterIdLst>
  <p:handoutMasterIdLst>
    <p:handoutMasterId r:id="rId25"/>
  </p:handoutMasterIdLst>
  <p:sldIdLst>
    <p:sldId id="1192" r:id="rId2"/>
    <p:sldId id="1299" r:id="rId3"/>
    <p:sldId id="1300" r:id="rId4"/>
    <p:sldId id="1571" r:id="rId5"/>
    <p:sldId id="1609" r:id="rId6"/>
    <p:sldId id="1593" r:id="rId7"/>
    <p:sldId id="1604" r:id="rId8"/>
    <p:sldId id="1596" r:id="rId9"/>
    <p:sldId id="1615" r:id="rId10"/>
    <p:sldId id="1606" r:id="rId11"/>
    <p:sldId id="1607" r:id="rId12"/>
    <p:sldId id="1610" r:id="rId13"/>
    <p:sldId id="1589" r:id="rId14"/>
    <p:sldId id="1611" r:id="rId15"/>
    <p:sldId id="1577" r:id="rId16"/>
    <p:sldId id="1612" r:id="rId17"/>
    <p:sldId id="1613" r:id="rId18"/>
    <p:sldId id="1592" r:id="rId19"/>
    <p:sldId id="1614" r:id="rId20"/>
    <p:sldId id="1551" r:id="rId21"/>
    <p:sldId id="1554" r:id="rId22"/>
    <p:sldId id="1616" r:id="rId23"/>
  </p:sldIdLst>
  <p:sldSz cx="9144000" cy="6858000" type="screen4x3"/>
  <p:notesSz cx="6858000" cy="9296400"/>
  <p:defaultTextStyle>
    <a:defPPr>
      <a:defRPr lang="en-US"/>
    </a:defPPr>
    <a:lvl1pPr algn="l" rtl="0" fontAlgn="base">
      <a:spcBef>
        <a:spcPct val="0"/>
      </a:spcBef>
      <a:spcAft>
        <a:spcPct val="0"/>
      </a:spcAft>
      <a:defRPr sz="2000" b="1" kern="1200">
        <a:solidFill>
          <a:srgbClr val="FF0000"/>
        </a:solidFill>
        <a:latin typeface="Arial" charset="0"/>
        <a:ea typeface="+mn-ea"/>
        <a:cs typeface="Arial" charset="0"/>
      </a:defRPr>
    </a:lvl1pPr>
    <a:lvl2pPr marL="457200" algn="l" rtl="0" fontAlgn="base">
      <a:spcBef>
        <a:spcPct val="0"/>
      </a:spcBef>
      <a:spcAft>
        <a:spcPct val="0"/>
      </a:spcAft>
      <a:defRPr sz="2000" b="1" kern="1200">
        <a:solidFill>
          <a:srgbClr val="FF0000"/>
        </a:solidFill>
        <a:latin typeface="Arial" charset="0"/>
        <a:ea typeface="+mn-ea"/>
        <a:cs typeface="Arial" charset="0"/>
      </a:defRPr>
    </a:lvl2pPr>
    <a:lvl3pPr marL="914400" algn="l" rtl="0" fontAlgn="base">
      <a:spcBef>
        <a:spcPct val="0"/>
      </a:spcBef>
      <a:spcAft>
        <a:spcPct val="0"/>
      </a:spcAft>
      <a:defRPr sz="2000" b="1" kern="1200">
        <a:solidFill>
          <a:srgbClr val="FF0000"/>
        </a:solidFill>
        <a:latin typeface="Arial" charset="0"/>
        <a:ea typeface="+mn-ea"/>
        <a:cs typeface="Arial" charset="0"/>
      </a:defRPr>
    </a:lvl3pPr>
    <a:lvl4pPr marL="1371600" algn="l" rtl="0" fontAlgn="base">
      <a:spcBef>
        <a:spcPct val="0"/>
      </a:spcBef>
      <a:spcAft>
        <a:spcPct val="0"/>
      </a:spcAft>
      <a:defRPr sz="2000" b="1" kern="1200">
        <a:solidFill>
          <a:srgbClr val="FF0000"/>
        </a:solidFill>
        <a:latin typeface="Arial" charset="0"/>
        <a:ea typeface="+mn-ea"/>
        <a:cs typeface="Arial" charset="0"/>
      </a:defRPr>
    </a:lvl4pPr>
    <a:lvl5pPr marL="1828800" algn="l" rtl="0" fontAlgn="base">
      <a:spcBef>
        <a:spcPct val="0"/>
      </a:spcBef>
      <a:spcAft>
        <a:spcPct val="0"/>
      </a:spcAft>
      <a:defRPr sz="2000" b="1" kern="1200">
        <a:solidFill>
          <a:srgbClr val="FF0000"/>
        </a:solidFill>
        <a:latin typeface="Arial" charset="0"/>
        <a:ea typeface="+mn-ea"/>
        <a:cs typeface="Arial" charset="0"/>
      </a:defRPr>
    </a:lvl5pPr>
    <a:lvl6pPr marL="2286000" algn="l" defTabSz="914400" rtl="0" eaLnBrk="1" latinLnBrk="0" hangingPunct="1">
      <a:defRPr sz="2000" b="1" kern="1200">
        <a:solidFill>
          <a:srgbClr val="FF0000"/>
        </a:solidFill>
        <a:latin typeface="Arial" charset="0"/>
        <a:ea typeface="+mn-ea"/>
        <a:cs typeface="Arial" charset="0"/>
      </a:defRPr>
    </a:lvl6pPr>
    <a:lvl7pPr marL="2743200" algn="l" defTabSz="914400" rtl="0" eaLnBrk="1" latinLnBrk="0" hangingPunct="1">
      <a:defRPr sz="2000" b="1" kern="1200">
        <a:solidFill>
          <a:srgbClr val="FF0000"/>
        </a:solidFill>
        <a:latin typeface="Arial" charset="0"/>
        <a:ea typeface="+mn-ea"/>
        <a:cs typeface="Arial" charset="0"/>
      </a:defRPr>
    </a:lvl7pPr>
    <a:lvl8pPr marL="3200400" algn="l" defTabSz="914400" rtl="0" eaLnBrk="1" latinLnBrk="0" hangingPunct="1">
      <a:defRPr sz="2000" b="1" kern="1200">
        <a:solidFill>
          <a:srgbClr val="FF0000"/>
        </a:solidFill>
        <a:latin typeface="Arial" charset="0"/>
        <a:ea typeface="+mn-ea"/>
        <a:cs typeface="Arial" charset="0"/>
      </a:defRPr>
    </a:lvl8pPr>
    <a:lvl9pPr marL="3657600" algn="l" defTabSz="914400" rtl="0" eaLnBrk="1" latinLnBrk="0" hangingPunct="1">
      <a:defRPr sz="2000" b="1" kern="1200">
        <a:solidFill>
          <a:srgbClr val="FF0000"/>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D33941"/>
    <a:srgbClr val="AADBA6"/>
    <a:srgbClr val="C0BAD6"/>
    <a:srgbClr val="A098C1"/>
    <a:srgbClr val="3F8E39"/>
    <a:srgbClr val="645893"/>
    <a:srgbClr val="0033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0473" autoAdjust="0"/>
    <p:restoredTop sz="87437" autoAdjust="0"/>
  </p:normalViewPr>
  <p:slideViewPr>
    <p:cSldViewPr snapToGrid="0">
      <p:cViewPr>
        <p:scale>
          <a:sx n="76" d="100"/>
          <a:sy n="76" d="100"/>
        </p:scale>
        <p:origin x="-2227" y="-206"/>
      </p:cViewPr>
      <p:guideLst>
        <p:guide orient="horz" pos="2160"/>
        <p:guide pos="2880"/>
      </p:guideLst>
    </p:cSldViewPr>
  </p:slideViewPr>
  <p:outlineViewPr>
    <p:cViewPr>
      <p:scale>
        <a:sx n="25" d="100"/>
        <a:sy n="25"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76" d="100"/>
          <a:sy n="76" d="100"/>
        </p:scale>
        <p:origin x="-2064" y="-9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openxmlformats.org/officeDocument/2006/relationships/customXml" Target="../customXml/item1.xml"/></Relationships>
</file>

<file path=ppt/_rels/viewProps.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slide" Target="slides/slide5.xml"/><Relationship Id="rId1" Type="http://schemas.openxmlformats.org/officeDocument/2006/relationships/slide" Target="slides/slide3.xml"/><Relationship Id="rId5" Type="http://schemas.openxmlformats.org/officeDocument/2006/relationships/slide" Target="slides/slide16.xml"/><Relationship Id="rId4"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cs typeface="+mn-cs"/>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cs typeface="+mn-cs"/>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cs typeface="+mn-cs"/>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cs typeface="+mn-cs"/>
              </a:defRPr>
            </a:lvl1pPr>
          </a:lstStyle>
          <a:p>
            <a:pPr>
              <a:defRPr/>
            </a:pPr>
            <a:fld id="{DEE32FA4-8E57-4A34-B1ED-DE90D2C20BE9}" type="slidenum">
              <a:rPr lang="en-US" altLang="en-US"/>
              <a:pPr>
                <a:defRPr/>
              </a:pPr>
              <a:t>‹#›</a:t>
            </a:fld>
            <a:endParaRPr lang="en-US" altLang="en-US" dirty="0"/>
          </a:p>
        </p:txBody>
      </p:sp>
    </p:spTree>
    <p:extLst>
      <p:ext uri="{BB962C8B-B14F-4D97-AF65-F5344CB8AC3E}">
        <p14:creationId xmlns:p14="http://schemas.microsoft.com/office/powerpoint/2010/main" val="16341696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22535"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cs typeface="+mn-cs"/>
              </a:defRPr>
            </a:lvl1pPr>
          </a:lstStyle>
          <a:p>
            <a:pPr>
              <a:defRPr/>
            </a:pPr>
            <a:r>
              <a:rPr lang="en-US" altLang="en-US"/>
              <a:t>	 </a:t>
            </a:r>
            <a:r>
              <a:rPr lang="en-US" altLang="en-US" smtClean="0"/>
              <a:t>Financial Holds - </a:t>
            </a:r>
            <a:fld id="{B47852DA-5C24-4936-8EAC-40141FA2D67E}" type="slidenum">
              <a:rPr lang="en-US" altLang="en-US"/>
              <a:pPr>
                <a:defRPr/>
              </a:pPr>
              <a:t>‹#›</a:t>
            </a:fld>
            <a:endParaRPr lang="en-US" altLang="en-US"/>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cs typeface="+mn-cs"/>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buFont typeface="Wingdings" pitchFamily="2" charset="2"/>
              <a:buNone/>
              <a:defRPr/>
            </a:pPr>
            <a:r>
              <a:rPr lang="en-US" sz="1100" b="0" i="1" dirty="0">
                <a:solidFill>
                  <a:srgbClr val="000000"/>
                </a:solidFill>
                <a:latin typeface="Times New Roman" pitchFamily="18" charset="0"/>
                <a:cs typeface="Times New Roman" pitchFamily="18" charset="0"/>
              </a:rPr>
              <a:t>Introduction, 2.</a:t>
            </a:r>
            <a:fld id="{C1696B1F-3DAB-43B7-9E7E-2655655119A7}"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buFont typeface="Wingdings" pitchFamily="2" charset="2"/>
                <a:buNone/>
                <a:defRPr/>
              </a:pPr>
              <a:t>‹#›</a:t>
            </a:fld>
            <a:endParaRPr lang="en-US" sz="1100" b="0" i="1" dirty="0">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lgn="ctr">
              <a:spcBef>
                <a:spcPct val="50000"/>
              </a:spcBef>
              <a:spcAft>
                <a:spcPct val="30000"/>
              </a:spcAft>
              <a:buClr>
                <a:schemeClr val="tx1"/>
              </a:buClr>
              <a:defRPr/>
            </a:pPr>
            <a:endParaRPr lang="en-US" dirty="0">
              <a:cs typeface="+mn-cs"/>
            </a:endParaRPr>
          </a:p>
        </p:txBody>
      </p:sp>
    </p:spTree>
    <p:extLst>
      <p:ext uri="{BB962C8B-B14F-4D97-AF65-F5344CB8AC3E}">
        <p14:creationId xmlns:p14="http://schemas.microsoft.com/office/powerpoint/2010/main" val="2071368350"/>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|EON~001|</a:t>
            </a:r>
            <a:endParaRPr lang="en-US" sz="100">
              <a:solidFill>
                <a:srgbClr val="FFFFFF"/>
              </a:solidFill>
              <a:latin typeface="Arial"/>
            </a:endParaRPr>
          </a:p>
        </p:txBody>
      </p:sp>
      <p:sp>
        <p:nvSpPr>
          <p:cNvPr id="20482" name="Copyright"/>
          <p:cNvSpPr>
            <a:spLocks noGrp="1" noChangeArrowheads="1"/>
          </p:cNvSpPr>
          <p:nvPr>
            <p:ph type="sldNum" sz="quarter" idx="5"/>
          </p:nvPr>
        </p:nvSpPr>
        <p:spPr/>
        <p:txBody>
          <a:bodyPr/>
          <a:lstStyle/>
          <a:p>
            <a:pPr>
              <a:defRPr/>
            </a:pPr>
            <a:r>
              <a:rPr lang="en-US" altLang="en-US"/>
              <a:t>	 </a:t>
            </a:r>
            <a:r>
              <a:rPr lang="en-US" altLang="en-US" smtClean="0"/>
              <a:t>Financial Holds - </a:t>
            </a:r>
            <a:fld id="{28E92FBA-158D-4EE0-8092-7477A8AD6F9E}" type="slidenum">
              <a:rPr lang="en-US" altLang="en-US"/>
              <a:pPr>
                <a:defRPr/>
              </a:pPr>
              <a:t>1</a:t>
            </a:fld>
            <a:endParaRPr lang="en-US" altLang="en-US"/>
          </a:p>
        </p:txBody>
      </p:sp>
      <p:sp>
        <p:nvSpPr>
          <p:cNvPr id="20483"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26628" name="Rectangle 2"/>
          <p:cNvSpPr>
            <a:spLocks noGrp="1" noRot="1" noChangeAspect="1" noChangeArrowheads="1" noTextEdit="1"/>
          </p:cNvSpPr>
          <p:nvPr>
            <p:ph type="sldImg"/>
          </p:nvPr>
        </p:nvSpPr>
        <p:spPr>
          <a:xfrm>
            <a:off x="715963" y="630238"/>
            <a:ext cx="5430837" cy="4073525"/>
          </a:xfrm>
          <a:ln/>
        </p:spPr>
      </p:sp>
      <p:sp>
        <p:nvSpPr>
          <p:cNvPr id="266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|EON~002|</a:t>
            </a:r>
            <a:endParaRPr lang="en-US" sz="100">
              <a:solidFill>
                <a:srgbClr val="FFFFFF"/>
              </a:solidFill>
              <a:latin typeface="Arial"/>
            </a:endParaRPr>
          </a:p>
        </p:txBody>
      </p:sp>
      <p:sp>
        <p:nvSpPr>
          <p:cNvPr id="21506" name="Copyright"/>
          <p:cNvSpPr>
            <a:spLocks noGrp="1" noChangeArrowheads="1"/>
          </p:cNvSpPr>
          <p:nvPr>
            <p:ph type="sldNum" sz="quarter" idx="5"/>
          </p:nvPr>
        </p:nvSpPr>
        <p:spPr/>
        <p:txBody>
          <a:bodyPr/>
          <a:lstStyle/>
          <a:p>
            <a:pPr>
              <a:defRPr/>
            </a:pPr>
            <a:r>
              <a:rPr lang="en-US" altLang="en-US"/>
              <a:t>	 </a:t>
            </a:r>
            <a:r>
              <a:rPr lang="en-US" altLang="en-US" smtClean="0"/>
              <a:t>Financial Holds - </a:t>
            </a:r>
            <a:fld id="{AF684C6B-6974-4DBD-BF41-9380E7C85B9C}" type="slidenum">
              <a:rPr lang="en-US" altLang="en-US"/>
              <a:pPr>
                <a:defRPr/>
              </a:pPr>
              <a:t>2</a:t>
            </a:fld>
            <a:endParaRPr lang="en-US" altLang="en-US"/>
          </a:p>
        </p:txBody>
      </p:sp>
      <p:sp>
        <p:nvSpPr>
          <p:cNvPr id="21507"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27652" name="Rectangle 2"/>
          <p:cNvSpPr>
            <a:spLocks noGrp="1" noRot="1" noChangeAspect="1" noChangeArrowheads="1" noTextEdit="1"/>
          </p:cNvSpPr>
          <p:nvPr>
            <p:ph type="sldImg"/>
          </p:nvPr>
        </p:nvSpPr>
        <p:spPr>
          <a:ln/>
        </p:spPr>
      </p:sp>
      <p:sp>
        <p:nvSpPr>
          <p:cNvPr id="276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|EON~003|</a:t>
            </a:r>
            <a:endParaRPr lang="en-US" sz="100">
              <a:solidFill>
                <a:srgbClr val="FFFFFF"/>
              </a:solidFill>
              <a:latin typeface="Arial"/>
            </a:endParaRPr>
          </a:p>
        </p:txBody>
      </p:sp>
      <p:sp>
        <p:nvSpPr>
          <p:cNvPr id="22530" name="Copyright"/>
          <p:cNvSpPr>
            <a:spLocks noGrp="1" noChangeArrowheads="1"/>
          </p:cNvSpPr>
          <p:nvPr>
            <p:ph type="sldNum" sz="quarter" idx="5"/>
          </p:nvPr>
        </p:nvSpPr>
        <p:spPr/>
        <p:txBody>
          <a:bodyPr/>
          <a:lstStyle/>
          <a:p>
            <a:pPr>
              <a:defRPr/>
            </a:pPr>
            <a:r>
              <a:rPr lang="en-US" altLang="en-US"/>
              <a:t>	 </a:t>
            </a:r>
            <a:r>
              <a:rPr lang="en-US" altLang="en-US" smtClean="0"/>
              <a:t>Financial Holds - </a:t>
            </a:r>
            <a:fld id="{D0403FCF-C2AD-4254-9136-C43AEC660258}" type="slidenum">
              <a:rPr lang="en-US" altLang="en-US"/>
              <a:pPr>
                <a:defRPr/>
              </a:pPr>
              <a:t>3</a:t>
            </a:fld>
            <a:endParaRPr lang="en-US" altLang="en-US"/>
          </a:p>
        </p:txBody>
      </p:sp>
      <p:sp>
        <p:nvSpPr>
          <p:cNvPr id="22531"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28676" name="Rectangle 2"/>
          <p:cNvSpPr>
            <a:spLocks noGrp="1" noRot="1" noChangeAspect="1" noChangeArrowheads="1" noTextEdit="1"/>
          </p:cNvSpPr>
          <p:nvPr>
            <p:ph type="sldImg"/>
          </p:nvPr>
        </p:nvSpPr>
        <p:spPr>
          <a:ln/>
        </p:spPr>
      </p:sp>
      <p:sp>
        <p:nvSpPr>
          <p:cNvPr id="286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|EON~004|</a:t>
            </a:r>
            <a:endParaRPr lang="en-US" sz="100">
              <a:solidFill>
                <a:srgbClr val="FFFFFF"/>
              </a:solidFill>
              <a:latin typeface="Arial"/>
            </a:endParaRPr>
          </a:p>
        </p:txBody>
      </p:sp>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mtClean="0"/>
              <a:t>Some cases where a claim might be placed under a financial hold but expense payments still need to be paid:</a:t>
            </a:r>
          </a:p>
          <a:p>
            <a:pPr>
              <a:buFontTx/>
              <a:buChar char="•"/>
            </a:pPr>
            <a:r>
              <a:rPr lang="en-US" smtClean="0"/>
              <a:t>Claim may not originally have been marked as a financial hold, so vendor might have performed a service before the claim was locked down</a:t>
            </a:r>
          </a:p>
          <a:p>
            <a:pPr>
              <a:buFontTx/>
              <a:buChar char="•"/>
            </a:pPr>
            <a:r>
              <a:rPr lang="en-US" smtClean="0"/>
              <a:t>Claim might require legal or other consultation fee</a:t>
            </a:r>
          </a:p>
          <a:p>
            <a:endParaRPr lang="en-US" smtClean="0"/>
          </a:p>
        </p:txBody>
      </p:sp>
      <p:sp>
        <p:nvSpPr>
          <p:cNvPr id="4" name="Slide Number Placeholder 3"/>
          <p:cNvSpPr>
            <a:spLocks noGrp="1"/>
          </p:cNvSpPr>
          <p:nvPr>
            <p:ph type="sldNum" sz="quarter" idx="5"/>
          </p:nvPr>
        </p:nvSpPr>
        <p:spPr/>
        <p:txBody>
          <a:bodyPr/>
          <a:lstStyle/>
          <a:p>
            <a:pPr>
              <a:defRPr/>
            </a:pPr>
            <a:r>
              <a:rPr lang="en-US" altLang="en-US"/>
              <a:t>	 </a:t>
            </a:r>
            <a:r>
              <a:rPr lang="en-US" altLang="en-US" smtClean="0"/>
              <a:t>Financial Holds - </a:t>
            </a:r>
            <a:fld id="{44B77FD6-6BFB-46EE-83E8-9FFBA60F4682}" type="slidenum">
              <a:rPr lang="en-US" altLang="en-US"/>
              <a:pPr>
                <a:defRPr/>
              </a:pPr>
              <a:t>4</a:t>
            </a:fld>
            <a:endParaRPr lang="en-US" altLang="en-US"/>
          </a:p>
        </p:txBody>
      </p:sp>
      <p:sp>
        <p:nvSpPr>
          <p:cNvPr id="5" name="Header Placeholder 4"/>
          <p:cNvSpPr>
            <a:spLocks noGrp="1"/>
          </p:cNvSpPr>
          <p:nvPr>
            <p:ph type="hdr" sz="quarter"/>
          </p:nvPr>
        </p:nvSpPr>
        <p:spPr/>
        <p:txBody>
          <a:bodyPr/>
          <a:lstStyle/>
          <a:p>
            <a:pPr>
              <a:defRPr/>
            </a:pPr>
            <a:r>
              <a:rPr lang="en-US" altLang="en-US" smtClean="0"/>
              <a:t>	</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|EON~005|</a:t>
            </a:r>
            <a:endParaRPr lang="en-US" sz="100">
              <a:solidFill>
                <a:srgbClr val="FFFFFF"/>
              </a:solidFill>
              <a:latin typeface="Arial"/>
            </a:endParaRPr>
          </a:p>
        </p:txBody>
      </p:sp>
      <p:sp>
        <p:nvSpPr>
          <p:cNvPr id="22530" name="Copyright"/>
          <p:cNvSpPr>
            <a:spLocks noGrp="1" noChangeArrowheads="1"/>
          </p:cNvSpPr>
          <p:nvPr>
            <p:ph type="sldNum" sz="quarter" idx="5"/>
          </p:nvPr>
        </p:nvSpPr>
        <p:spPr/>
        <p:txBody>
          <a:bodyPr/>
          <a:lstStyle/>
          <a:p>
            <a:pPr>
              <a:defRPr/>
            </a:pPr>
            <a:r>
              <a:rPr lang="en-US" altLang="en-US"/>
              <a:t>	 </a:t>
            </a:r>
            <a:r>
              <a:rPr lang="en-US" altLang="en-US" smtClean="0"/>
              <a:t>Financial Holds - </a:t>
            </a:r>
            <a:fld id="{5DEB71E3-D9C0-4B50-96D4-06A634AB4923}" type="slidenum">
              <a:rPr lang="en-US" altLang="en-US"/>
              <a:pPr>
                <a:defRPr/>
              </a:pPr>
              <a:t>5</a:t>
            </a:fld>
            <a:endParaRPr lang="en-US" altLang="en-US"/>
          </a:p>
        </p:txBody>
      </p:sp>
      <p:sp>
        <p:nvSpPr>
          <p:cNvPr id="22531"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30724" name="Rectangle 2"/>
          <p:cNvSpPr>
            <a:spLocks noGrp="1" noRot="1" noChangeAspect="1" noChangeArrowheads="1" noTextEdit="1"/>
          </p:cNvSpPr>
          <p:nvPr>
            <p:ph type="sldImg"/>
          </p:nvPr>
        </p:nvSpPr>
        <p:spPr>
          <a:ln/>
        </p:spPr>
      </p:sp>
      <p:sp>
        <p:nvSpPr>
          <p:cNvPr id="307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|EON~006|</a:t>
            </a:r>
            <a:endParaRPr lang="en-US" sz="100">
              <a:solidFill>
                <a:srgbClr val="FFFFFF"/>
              </a:solidFill>
              <a:latin typeface="Arial"/>
            </a:endParaRP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r>
              <a:rPr lang="en-US" altLang="en-US" smtClean="0"/>
              <a:t>	 Financial Holds - </a:t>
            </a:r>
            <a:fld id="{B47852DA-5C24-4936-8EAC-40141FA2D67E}" type="slidenum">
              <a:rPr lang="en-US" altLang="en-US" smtClean="0"/>
              <a:pPr>
                <a:defRPr/>
              </a:pPr>
              <a:t>6</a:t>
            </a:fld>
            <a:endParaRPr lang="en-US" altLang="en-US"/>
          </a:p>
        </p:txBody>
      </p:sp>
      <p:sp>
        <p:nvSpPr>
          <p:cNvPr id="5" name="Header Placeholder 4"/>
          <p:cNvSpPr>
            <a:spLocks noGrp="1"/>
          </p:cNvSpPr>
          <p:nvPr>
            <p:ph type="hdr" sz="quarter" idx="11"/>
          </p:nvPr>
        </p:nvSpPr>
        <p:spPr/>
        <p:txBody>
          <a:bodyPr/>
          <a:lstStyle/>
          <a:p>
            <a:pPr>
              <a:defRPr/>
            </a:pPr>
            <a:r>
              <a:rPr lang="en-US" altLang="en-US" smtClean="0"/>
              <a:t>	</a:t>
            </a:r>
            <a:endParaRPr lang="en-US"/>
          </a:p>
        </p:txBody>
      </p:sp>
    </p:spTree>
    <p:extLst>
      <p:ext uri="{BB962C8B-B14F-4D97-AF65-F5344CB8AC3E}">
        <p14:creationId xmlns:p14="http://schemas.microsoft.com/office/powerpoint/2010/main" val="34880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|EON~007|</a:t>
            </a:r>
            <a:endParaRPr lang="en-US" sz="100">
              <a:solidFill>
                <a:srgbClr val="FFFFFF"/>
              </a:solidFill>
              <a:latin typeface="Arial"/>
            </a:endParaRPr>
          </a:p>
        </p:txBody>
      </p:sp>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4" name="Slide Number Placeholder 3"/>
          <p:cNvSpPr>
            <a:spLocks noGrp="1"/>
          </p:cNvSpPr>
          <p:nvPr>
            <p:ph type="sldNum" sz="quarter" idx="5"/>
          </p:nvPr>
        </p:nvSpPr>
        <p:spPr/>
        <p:txBody>
          <a:bodyPr/>
          <a:lstStyle/>
          <a:p>
            <a:pPr>
              <a:defRPr/>
            </a:pPr>
            <a:r>
              <a:rPr lang="en-US" altLang="en-US" smtClean="0"/>
              <a:t>	 Financial Holds - </a:t>
            </a:r>
            <a:fld id="{82C25F1B-8CC9-4E41-AA38-8F6AE3E1E148}" type="slidenum">
              <a:rPr lang="en-US" altLang="en-US" smtClean="0"/>
              <a:pPr>
                <a:defRPr/>
              </a:pPr>
              <a:t>7</a:t>
            </a:fld>
            <a:endParaRPr lang="en-US" altLang="en-US"/>
          </a:p>
        </p:txBody>
      </p:sp>
      <p:sp>
        <p:nvSpPr>
          <p:cNvPr id="5" name="Header Placeholder 4"/>
          <p:cNvSpPr>
            <a:spLocks noGrp="1"/>
          </p:cNvSpPr>
          <p:nvPr>
            <p:ph type="hdr" sz="quarter"/>
          </p:nvPr>
        </p:nvSpPr>
        <p:spPr/>
        <p:txBody>
          <a:bodyPr/>
          <a:lstStyle/>
          <a:p>
            <a:pPr>
              <a:defRPr/>
            </a:pPr>
            <a:r>
              <a:rPr lang="en-US" altLang="en-US" smtClean="0"/>
              <a:t>	</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|EON~008|</a:t>
            </a:r>
            <a:endParaRPr lang="en-US" sz="100">
              <a:solidFill>
                <a:srgbClr val="FFFFFF"/>
              </a:solidFill>
              <a:latin typeface="Arial"/>
            </a:endParaRPr>
          </a:p>
        </p:txBody>
      </p:sp>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mtClean="0"/>
              <a:t>Click to add notes.</a:t>
            </a:r>
          </a:p>
          <a:p>
            <a:endParaRPr lang="en-US" smtClean="0"/>
          </a:p>
          <a:p>
            <a:endParaRPr lang="en-US" smtClean="0"/>
          </a:p>
        </p:txBody>
      </p:sp>
      <p:sp>
        <p:nvSpPr>
          <p:cNvPr id="4" name="Slide Number Placeholder 3"/>
          <p:cNvSpPr>
            <a:spLocks noGrp="1"/>
          </p:cNvSpPr>
          <p:nvPr>
            <p:ph type="sldNum" sz="quarter" idx="5"/>
          </p:nvPr>
        </p:nvSpPr>
        <p:spPr/>
        <p:txBody>
          <a:bodyPr/>
          <a:lstStyle/>
          <a:p>
            <a:pPr>
              <a:defRPr/>
            </a:pPr>
            <a:r>
              <a:rPr lang="en-US" altLang="en-US" smtClean="0"/>
              <a:t>	 Financial Holds - </a:t>
            </a:r>
            <a:fld id="{0BC644AB-3513-4706-AC26-F80AB78380F6}" type="slidenum">
              <a:rPr lang="en-US" altLang="en-US" smtClean="0"/>
              <a:pPr>
                <a:defRPr/>
              </a:pPr>
              <a:t>8</a:t>
            </a:fld>
            <a:endParaRPr lang="en-US" altLang="en-US"/>
          </a:p>
        </p:txBody>
      </p:sp>
      <p:sp>
        <p:nvSpPr>
          <p:cNvPr id="5" name="Header Placeholder 4"/>
          <p:cNvSpPr>
            <a:spLocks noGrp="1"/>
          </p:cNvSpPr>
          <p:nvPr>
            <p:ph type="hdr" sz="quarter"/>
          </p:nvPr>
        </p:nvSpPr>
        <p:spPr/>
        <p:txBody>
          <a:bodyPr/>
          <a:lstStyle/>
          <a:p>
            <a:pPr>
              <a:defRPr/>
            </a:pPr>
            <a:r>
              <a:rPr lang="en-US" altLang="en-US" smtClean="0"/>
              <a:t>	</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|EON~009|</a:t>
            </a:r>
            <a:endParaRPr lang="en-US" sz="100">
              <a:solidFill>
                <a:srgbClr val="FFFFFF"/>
              </a:solidFill>
              <a:latin typeface="Arial"/>
            </a:endParaRP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r>
              <a:rPr lang="en-US" altLang="en-US" smtClean="0"/>
              <a:t>	 Financial Holds - </a:t>
            </a:r>
            <a:fld id="{B47852DA-5C24-4936-8EAC-40141FA2D67E}" type="slidenum">
              <a:rPr lang="en-US" altLang="en-US" smtClean="0"/>
              <a:pPr>
                <a:defRPr/>
              </a:pPr>
              <a:t>9</a:t>
            </a:fld>
            <a:endParaRPr lang="en-US" altLang="en-US"/>
          </a:p>
        </p:txBody>
      </p:sp>
      <p:sp>
        <p:nvSpPr>
          <p:cNvPr id="5" name="Header Placeholder 4"/>
          <p:cNvSpPr>
            <a:spLocks noGrp="1"/>
          </p:cNvSpPr>
          <p:nvPr>
            <p:ph type="hdr" sz="quarter" idx="11"/>
          </p:nvPr>
        </p:nvSpPr>
        <p:spPr/>
        <p:txBody>
          <a:bodyPr/>
          <a:lstStyle/>
          <a:p>
            <a:pPr>
              <a:defRPr/>
            </a:pPr>
            <a:r>
              <a:rPr lang="en-US" altLang="en-US" smtClean="0"/>
              <a:t>	</a:t>
            </a:r>
            <a:endParaRPr lang="en-US"/>
          </a:p>
        </p:txBody>
      </p:sp>
    </p:spTree>
    <p:extLst>
      <p:ext uri="{BB962C8B-B14F-4D97-AF65-F5344CB8AC3E}">
        <p14:creationId xmlns:p14="http://schemas.microsoft.com/office/powerpoint/2010/main" val="1668177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|EON~010|</a:t>
            </a:r>
            <a:endParaRPr lang="en-US" sz="100">
              <a:solidFill>
                <a:srgbClr val="FFFFFF"/>
              </a:solidFill>
              <a:latin typeface="Arial"/>
            </a:endParaRPr>
          </a:p>
        </p:txBody>
      </p:sp>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err="1" smtClean="0"/>
              <a:t>CiQ</a:t>
            </a:r>
            <a:r>
              <a:rPr lang="en-US" dirty="0" smtClean="0"/>
              <a:t> permission can be added to any desired role. Note that this permission is not a function of being the “supervisor” of a group.</a:t>
            </a:r>
          </a:p>
          <a:p>
            <a:endParaRPr lang="en-US" dirty="0" smtClean="0"/>
          </a:p>
          <a:p>
            <a:r>
              <a:rPr lang="en-US" dirty="0" smtClean="0"/>
              <a:t>The code</a:t>
            </a:r>
            <a:r>
              <a:rPr lang="en-US" baseline="0" dirty="0" smtClean="0"/>
              <a:t> for the “Unset the coverage in question field” is </a:t>
            </a:r>
            <a:r>
              <a:rPr lang="en-US" dirty="0" err="1" smtClean="0"/>
              <a:t>unsetcovinquestion</a:t>
            </a:r>
            <a:r>
              <a:rPr lang="en-US" dirty="0" smtClean="0"/>
              <a:t>.</a:t>
            </a:r>
          </a:p>
        </p:txBody>
      </p:sp>
      <p:sp>
        <p:nvSpPr>
          <p:cNvPr id="4" name="Slide Number Placeholder 3"/>
          <p:cNvSpPr>
            <a:spLocks noGrp="1"/>
          </p:cNvSpPr>
          <p:nvPr>
            <p:ph type="sldNum" sz="quarter" idx="5"/>
          </p:nvPr>
        </p:nvSpPr>
        <p:spPr/>
        <p:txBody>
          <a:bodyPr/>
          <a:lstStyle/>
          <a:p>
            <a:pPr>
              <a:defRPr/>
            </a:pPr>
            <a:r>
              <a:rPr lang="en-US" altLang="en-US" smtClean="0"/>
              <a:t>	 Financial Holds - </a:t>
            </a:r>
            <a:fld id="{35201A41-7076-4484-BD10-8A7027E67C2C}" type="slidenum">
              <a:rPr lang="en-US" altLang="en-US" smtClean="0"/>
              <a:pPr>
                <a:defRPr/>
              </a:pPr>
              <a:t>10</a:t>
            </a:fld>
            <a:endParaRPr lang="en-US" altLang="en-US"/>
          </a:p>
        </p:txBody>
      </p:sp>
      <p:sp>
        <p:nvSpPr>
          <p:cNvPr id="5" name="Header Placeholder 4"/>
          <p:cNvSpPr>
            <a:spLocks noGrp="1"/>
          </p:cNvSpPr>
          <p:nvPr>
            <p:ph type="hdr" sz="quarter"/>
          </p:nvPr>
        </p:nvSpPr>
        <p:spPr/>
        <p:txBody>
          <a:bodyPr/>
          <a:lstStyle/>
          <a:p>
            <a:pPr>
              <a:defRPr/>
            </a:pPr>
            <a:r>
              <a:rPr lang="en-US" altLang="en-US" smtClean="0"/>
              <a:t>	</a:t>
            </a: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|EON~011|</a:t>
            </a:r>
            <a:endParaRPr lang="en-US" sz="100">
              <a:solidFill>
                <a:srgbClr val="FFFFFF"/>
              </a:solidFill>
              <a:latin typeface="Arial"/>
            </a:endParaRPr>
          </a:p>
        </p:txBody>
      </p:sp>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Information on configuring this functionality is available in the “Configuring Financial Holds” lesson of the Claim Center Application Configuration course.</a:t>
            </a:r>
          </a:p>
        </p:txBody>
      </p:sp>
      <p:sp>
        <p:nvSpPr>
          <p:cNvPr id="4" name="Slide Number Placeholder 3"/>
          <p:cNvSpPr>
            <a:spLocks noGrp="1"/>
          </p:cNvSpPr>
          <p:nvPr>
            <p:ph type="sldNum" sz="quarter" idx="5"/>
          </p:nvPr>
        </p:nvSpPr>
        <p:spPr/>
        <p:txBody>
          <a:bodyPr/>
          <a:lstStyle/>
          <a:p>
            <a:pPr>
              <a:defRPr/>
            </a:pPr>
            <a:r>
              <a:rPr lang="en-US" altLang="en-US" smtClean="0"/>
              <a:t>	 Financial Holds - </a:t>
            </a:r>
            <a:fld id="{4504FA85-8FFC-4E3A-BDBD-B031EEB3C3BF}" type="slidenum">
              <a:rPr lang="en-US" altLang="en-US" smtClean="0"/>
              <a:pPr>
                <a:defRPr/>
              </a:pPr>
              <a:t>11</a:t>
            </a:fld>
            <a:endParaRPr lang="en-US" altLang="en-US"/>
          </a:p>
        </p:txBody>
      </p:sp>
      <p:sp>
        <p:nvSpPr>
          <p:cNvPr id="5" name="Header Placeholder 4"/>
          <p:cNvSpPr>
            <a:spLocks noGrp="1"/>
          </p:cNvSpPr>
          <p:nvPr>
            <p:ph type="hdr" sz="quarter"/>
          </p:nvPr>
        </p:nvSpPr>
        <p:spPr/>
        <p:txBody>
          <a:bodyPr/>
          <a:lstStyle/>
          <a:p>
            <a:pPr>
              <a:defRPr/>
            </a:pPr>
            <a:r>
              <a:rPr lang="en-US" altLang="en-US" smtClean="0"/>
              <a:t>	</a:t>
            </a: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|EON~012|</a:t>
            </a:r>
            <a:endParaRPr lang="en-US" sz="100">
              <a:solidFill>
                <a:srgbClr val="FFFFFF"/>
              </a:solidFill>
              <a:latin typeface="Arial"/>
            </a:endParaRPr>
          </a:p>
        </p:txBody>
      </p:sp>
      <p:sp>
        <p:nvSpPr>
          <p:cNvPr id="22530" name="Copyright"/>
          <p:cNvSpPr>
            <a:spLocks noGrp="1" noChangeArrowheads="1"/>
          </p:cNvSpPr>
          <p:nvPr>
            <p:ph type="sldNum" sz="quarter" idx="5"/>
          </p:nvPr>
        </p:nvSpPr>
        <p:spPr/>
        <p:txBody>
          <a:bodyPr/>
          <a:lstStyle/>
          <a:p>
            <a:pPr>
              <a:defRPr/>
            </a:pPr>
            <a:r>
              <a:rPr lang="en-US" altLang="en-US"/>
              <a:t>	 </a:t>
            </a:r>
            <a:r>
              <a:rPr lang="en-US" altLang="en-US" smtClean="0"/>
              <a:t>Financial Holds - </a:t>
            </a:r>
            <a:fld id="{B2A64D29-6E39-484D-8869-6F4974EA4E07}" type="slidenum">
              <a:rPr lang="en-US" altLang="en-US"/>
              <a:pPr>
                <a:defRPr/>
              </a:pPr>
              <a:t>12</a:t>
            </a:fld>
            <a:endParaRPr lang="en-US" altLang="en-US"/>
          </a:p>
        </p:txBody>
      </p:sp>
      <p:sp>
        <p:nvSpPr>
          <p:cNvPr id="22531"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35844" name="Rectangle 2"/>
          <p:cNvSpPr>
            <a:spLocks noGrp="1" noRot="1" noChangeAspect="1" noChangeArrowheads="1" noTextEdit="1"/>
          </p:cNvSpPr>
          <p:nvPr>
            <p:ph type="sldImg"/>
          </p:nvPr>
        </p:nvSpPr>
        <p:spPr>
          <a:ln/>
        </p:spPr>
      </p:sp>
      <p:sp>
        <p:nvSpPr>
          <p:cNvPr id="358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|EON~013|</a:t>
            </a:r>
            <a:endParaRPr lang="en-US" sz="100">
              <a:solidFill>
                <a:srgbClr val="FFFFFF"/>
              </a:solidFill>
              <a:latin typeface="Arial"/>
            </a:endParaRPr>
          </a:p>
        </p:txBody>
      </p:sp>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mtClean="0"/>
              <a:t>Note that this slide refers to “claim policy” rather than just “policy.” This specifies that this is the policy instance associated with the claim, NOT the policy stored in the policy administration system. </a:t>
            </a:r>
          </a:p>
          <a:p>
            <a:r>
              <a:rPr lang="en-US" smtClean="0"/>
              <a:t>Even if you cancel the changes on the policy, the policy remains unverified.</a:t>
            </a:r>
          </a:p>
          <a:p>
            <a:endParaRPr lang="en-US" smtClean="0"/>
          </a:p>
        </p:txBody>
      </p:sp>
      <p:sp>
        <p:nvSpPr>
          <p:cNvPr id="4" name="Slide Number Placeholder 3"/>
          <p:cNvSpPr>
            <a:spLocks noGrp="1"/>
          </p:cNvSpPr>
          <p:nvPr>
            <p:ph type="sldNum" sz="quarter" idx="5"/>
          </p:nvPr>
        </p:nvSpPr>
        <p:spPr/>
        <p:txBody>
          <a:bodyPr/>
          <a:lstStyle/>
          <a:p>
            <a:pPr>
              <a:defRPr/>
            </a:pPr>
            <a:r>
              <a:rPr lang="en-US" altLang="en-US" smtClean="0"/>
              <a:t>	 Financial Holds - </a:t>
            </a:r>
            <a:fld id="{855844EC-2BF5-4C10-A693-C925CEF89417}" type="slidenum">
              <a:rPr lang="en-US" altLang="en-US" smtClean="0"/>
              <a:pPr>
                <a:defRPr/>
              </a:pPr>
              <a:t>13</a:t>
            </a:fld>
            <a:endParaRPr lang="en-US" altLang="en-US"/>
          </a:p>
        </p:txBody>
      </p:sp>
      <p:sp>
        <p:nvSpPr>
          <p:cNvPr id="5" name="Header Placeholder 4"/>
          <p:cNvSpPr>
            <a:spLocks noGrp="1"/>
          </p:cNvSpPr>
          <p:nvPr>
            <p:ph type="hdr" sz="quarter"/>
          </p:nvPr>
        </p:nvSpPr>
        <p:spPr/>
        <p:txBody>
          <a:bodyPr/>
          <a:lstStyle/>
          <a:p>
            <a:pPr>
              <a:defRPr/>
            </a:pPr>
            <a:r>
              <a:rPr lang="en-US" altLang="en-US" smtClean="0"/>
              <a:t>	</a:t>
            </a: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|EON~014|</a:t>
            </a:r>
            <a:endParaRPr lang="en-US" sz="100">
              <a:solidFill>
                <a:srgbClr val="FFFFFF"/>
              </a:solidFill>
              <a:latin typeface="Arial"/>
            </a:endParaRPr>
          </a:p>
        </p:txBody>
      </p:sp>
      <p:sp>
        <p:nvSpPr>
          <p:cNvPr id="22530" name="Copyright"/>
          <p:cNvSpPr>
            <a:spLocks noGrp="1" noChangeArrowheads="1"/>
          </p:cNvSpPr>
          <p:nvPr>
            <p:ph type="sldNum" sz="quarter" idx="5"/>
          </p:nvPr>
        </p:nvSpPr>
        <p:spPr/>
        <p:txBody>
          <a:bodyPr/>
          <a:lstStyle/>
          <a:p>
            <a:pPr>
              <a:defRPr/>
            </a:pPr>
            <a:r>
              <a:rPr lang="en-US" altLang="en-US"/>
              <a:t>	 </a:t>
            </a:r>
            <a:r>
              <a:rPr lang="en-US" altLang="en-US" smtClean="0"/>
              <a:t>Financial Holds - </a:t>
            </a:r>
            <a:fld id="{ADBAD8DC-D894-45EB-B1E2-16FB0D330750}" type="slidenum">
              <a:rPr lang="en-US" altLang="en-US"/>
              <a:pPr>
                <a:defRPr/>
              </a:pPr>
              <a:t>14</a:t>
            </a:fld>
            <a:endParaRPr lang="en-US" altLang="en-US"/>
          </a:p>
        </p:txBody>
      </p:sp>
      <p:sp>
        <p:nvSpPr>
          <p:cNvPr id="22531"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|EON~015|</a:t>
            </a:r>
            <a:endParaRPr lang="en-US" sz="100">
              <a:solidFill>
                <a:srgbClr val="FFFFFF"/>
              </a:solidFill>
              <a:latin typeface="Arial"/>
            </a:endParaRPr>
          </a:p>
        </p:txBody>
      </p:sp>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A common example of Incident only claims is a workers’ comp claim where ClaimCenter only collects information about the loss. If the claimant files a real claim later, ClaimCenter has the initial information to proceed.</a:t>
            </a:r>
          </a:p>
          <a:p>
            <a:r>
              <a:rPr lang="en-US" dirty="0" smtClean="0"/>
              <a:t>In the base product</a:t>
            </a:r>
            <a:r>
              <a:rPr lang="en-US" i="1" dirty="0" smtClean="0"/>
              <a:t>, </a:t>
            </a:r>
            <a:r>
              <a:rPr lang="en-US" dirty="0" smtClean="0"/>
              <a:t>the</a:t>
            </a:r>
            <a:r>
              <a:rPr lang="en-US" baseline="0" dirty="0" smtClean="0"/>
              <a:t> “I</a:t>
            </a:r>
            <a:r>
              <a:rPr lang="en-US" i="0" dirty="0" smtClean="0"/>
              <a:t>n</a:t>
            </a:r>
            <a:r>
              <a:rPr lang="en-US" dirty="0" smtClean="0"/>
              <a:t>cident only?” field can be set manually</a:t>
            </a:r>
            <a:r>
              <a:rPr lang="en-US" baseline="0" dirty="0" smtClean="0"/>
              <a:t> and </a:t>
            </a:r>
            <a:r>
              <a:rPr lang="en-US" dirty="0" smtClean="0"/>
              <a:t>appears on the </a:t>
            </a:r>
            <a:r>
              <a:rPr lang="en-US" i="1" dirty="0" smtClean="0"/>
              <a:t>Summary </a:t>
            </a:r>
            <a:r>
              <a:rPr lang="en-US" i="1" dirty="0" smtClean="0">
                <a:sym typeface="Wingdings" pitchFamily="2" charset="2"/>
              </a:rPr>
              <a:t> Claim Status </a:t>
            </a:r>
            <a:r>
              <a:rPr lang="en-US" i="0" dirty="0" smtClean="0">
                <a:sym typeface="Wingdings" pitchFamily="2" charset="2"/>
              </a:rPr>
              <a:t>menu</a:t>
            </a:r>
            <a:r>
              <a:rPr lang="en-US" i="0" baseline="0" dirty="0" smtClean="0">
                <a:sym typeface="Wingdings" pitchFamily="2" charset="2"/>
              </a:rPr>
              <a:t> link as well as in the New Claim Wizard.</a:t>
            </a:r>
            <a:r>
              <a:rPr lang="en-US" dirty="0" smtClean="0">
                <a:sym typeface="Wingdings" pitchFamily="2" charset="2"/>
              </a:rPr>
              <a:t> </a:t>
            </a:r>
            <a:r>
              <a:rPr lang="en-US" dirty="0" smtClean="0"/>
              <a:t>Collecting information on incident only claims helps carriers combat fraud.</a:t>
            </a:r>
          </a:p>
          <a:p>
            <a:r>
              <a:rPr lang="en-US" dirty="0" smtClean="0"/>
              <a:t>There is no mechanism for setting this field automatically in the base product, but it is configurable.</a:t>
            </a:r>
          </a:p>
        </p:txBody>
      </p:sp>
      <p:sp>
        <p:nvSpPr>
          <p:cNvPr id="4" name="Slide Number Placeholder 3"/>
          <p:cNvSpPr>
            <a:spLocks noGrp="1"/>
          </p:cNvSpPr>
          <p:nvPr>
            <p:ph type="sldNum" sz="quarter" idx="5"/>
          </p:nvPr>
        </p:nvSpPr>
        <p:spPr/>
        <p:txBody>
          <a:bodyPr/>
          <a:lstStyle/>
          <a:p>
            <a:pPr>
              <a:defRPr/>
            </a:pPr>
            <a:r>
              <a:rPr lang="en-US" altLang="en-US"/>
              <a:t>	 </a:t>
            </a:r>
            <a:r>
              <a:rPr lang="en-US" altLang="en-US" smtClean="0"/>
              <a:t>Financial Holds - </a:t>
            </a:r>
            <a:fld id="{1E8E9744-EBEF-4F3C-AD80-9042D12CCBAA}" type="slidenum">
              <a:rPr lang="en-US" altLang="en-US"/>
              <a:pPr>
                <a:defRPr/>
              </a:pPr>
              <a:t>15</a:t>
            </a:fld>
            <a:endParaRPr lang="en-US" altLang="en-US"/>
          </a:p>
        </p:txBody>
      </p:sp>
      <p:sp>
        <p:nvSpPr>
          <p:cNvPr id="5" name="Header Placeholder 4"/>
          <p:cNvSpPr>
            <a:spLocks noGrp="1"/>
          </p:cNvSpPr>
          <p:nvPr>
            <p:ph type="hdr" sz="quarter"/>
          </p:nvPr>
        </p:nvSpPr>
        <p:spPr/>
        <p:txBody>
          <a:bodyPr/>
          <a:lstStyle/>
          <a:p>
            <a:pPr>
              <a:defRPr/>
            </a:pPr>
            <a:r>
              <a:rPr lang="en-US" altLang="en-US" smtClean="0"/>
              <a:t>	</a:t>
            </a: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|EON~016|</a:t>
            </a:r>
            <a:endParaRPr lang="en-US" sz="100">
              <a:solidFill>
                <a:srgbClr val="FFFFFF"/>
              </a:solidFill>
              <a:latin typeface="Arial"/>
            </a:endParaRPr>
          </a:p>
        </p:txBody>
      </p:sp>
      <p:sp>
        <p:nvSpPr>
          <p:cNvPr id="22530" name="Copyright"/>
          <p:cNvSpPr>
            <a:spLocks noGrp="1" noChangeArrowheads="1"/>
          </p:cNvSpPr>
          <p:nvPr>
            <p:ph type="sldNum" sz="quarter" idx="5"/>
          </p:nvPr>
        </p:nvSpPr>
        <p:spPr/>
        <p:txBody>
          <a:bodyPr/>
          <a:lstStyle/>
          <a:p>
            <a:pPr>
              <a:defRPr/>
            </a:pPr>
            <a:r>
              <a:rPr lang="en-US" altLang="en-US"/>
              <a:t>	 </a:t>
            </a:r>
            <a:r>
              <a:rPr lang="en-US" altLang="en-US" smtClean="0"/>
              <a:t>Financial Holds - </a:t>
            </a:r>
            <a:fld id="{98F460A8-8616-4C7E-BE11-AD23C72573FD}" type="slidenum">
              <a:rPr lang="en-US" altLang="en-US"/>
              <a:pPr>
                <a:defRPr/>
              </a:pPr>
              <a:t>16</a:t>
            </a:fld>
            <a:endParaRPr lang="en-US" altLang="en-US"/>
          </a:p>
        </p:txBody>
      </p:sp>
      <p:sp>
        <p:nvSpPr>
          <p:cNvPr id="22531"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39940" name="Rectangle 2"/>
          <p:cNvSpPr>
            <a:spLocks noGrp="1" noRot="1" noChangeAspect="1" noChangeArrowheads="1" noTextEdit="1"/>
          </p:cNvSpPr>
          <p:nvPr>
            <p:ph type="sldImg"/>
          </p:nvPr>
        </p:nvSpPr>
        <p:spPr>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|EON~017|</a:t>
            </a:r>
            <a:endParaRPr lang="en-US" sz="100">
              <a:solidFill>
                <a:srgbClr val="FFFFFF"/>
              </a:solidFill>
              <a:latin typeface="Arial"/>
            </a:endParaRP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r>
              <a:rPr lang="en-US" altLang="en-US" smtClean="0"/>
              <a:t>	 Financial Holds - </a:t>
            </a:r>
            <a:fld id="{B47852DA-5C24-4936-8EAC-40141FA2D67E}" type="slidenum">
              <a:rPr lang="en-US" altLang="en-US" smtClean="0"/>
              <a:pPr>
                <a:defRPr/>
              </a:pPr>
              <a:t>17</a:t>
            </a:fld>
            <a:endParaRPr lang="en-US" altLang="en-US"/>
          </a:p>
        </p:txBody>
      </p:sp>
      <p:sp>
        <p:nvSpPr>
          <p:cNvPr id="5" name="Header Placeholder 4"/>
          <p:cNvSpPr>
            <a:spLocks noGrp="1"/>
          </p:cNvSpPr>
          <p:nvPr>
            <p:ph type="hdr" sz="quarter" idx="11"/>
          </p:nvPr>
        </p:nvSpPr>
        <p:spPr/>
        <p:txBody>
          <a:bodyPr/>
          <a:lstStyle/>
          <a:p>
            <a:pPr>
              <a:defRPr/>
            </a:pPr>
            <a:r>
              <a:rPr lang="en-US" altLang="en-US" smtClean="0"/>
              <a:t>	</a:t>
            </a:r>
            <a:endParaRPr lang="en-US"/>
          </a:p>
        </p:txBody>
      </p:sp>
    </p:spTree>
    <p:extLst>
      <p:ext uri="{BB962C8B-B14F-4D97-AF65-F5344CB8AC3E}">
        <p14:creationId xmlns:p14="http://schemas.microsoft.com/office/powerpoint/2010/main" val="11881384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|EON~018|</a:t>
            </a:r>
            <a:endParaRPr lang="en-US" sz="100">
              <a:solidFill>
                <a:srgbClr val="FFFFFF"/>
              </a:solidFill>
              <a:latin typeface="Arial"/>
            </a:endParaRPr>
          </a:p>
        </p:txBody>
      </p:sp>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Payment</a:t>
            </a:r>
            <a:r>
              <a:rPr lang="en-US" baseline="0" dirty="0" smtClean="0"/>
              <a:t> transactions are usually only allowed (with a warning) for non-claim cost (indemnity) payments (such as Expenses). For claim cost transactions, an error prevents the transaction.</a:t>
            </a:r>
            <a:endParaRPr lang="en-US" dirty="0" smtClean="0"/>
          </a:p>
        </p:txBody>
      </p:sp>
      <p:sp>
        <p:nvSpPr>
          <p:cNvPr id="4" name="Slide Number Placeholder 3"/>
          <p:cNvSpPr>
            <a:spLocks noGrp="1"/>
          </p:cNvSpPr>
          <p:nvPr>
            <p:ph type="sldNum" sz="quarter" idx="5"/>
          </p:nvPr>
        </p:nvSpPr>
        <p:spPr/>
        <p:txBody>
          <a:bodyPr/>
          <a:lstStyle/>
          <a:p>
            <a:pPr>
              <a:defRPr/>
            </a:pPr>
            <a:r>
              <a:rPr lang="en-US" altLang="en-US"/>
              <a:t>	 </a:t>
            </a:r>
            <a:r>
              <a:rPr lang="en-US" altLang="en-US" smtClean="0"/>
              <a:t>Financial Holds - </a:t>
            </a:r>
            <a:fld id="{8B6C658F-4EFC-4888-9772-B39A81D9F5BB}" type="slidenum">
              <a:rPr lang="en-US" altLang="en-US"/>
              <a:pPr>
                <a:defRPr/>
              </a:pPr>
              <a:t>18</a:t>
            </a:fld>
            <a:endParaRPr lang="en-US" altLang="en-US"/>
          </a:p>
        </p:txBody>
      </p:sp>
      <p:sp>
        <p:nvSpPr>
          <p:cNvPr id="5" name="Header Placeholder 4"/>
          <p:cNvSpPr>
            <a:spLocks noGrp="1"/>
          </p:cNvSpPr>
          <p:nvPr>
            <p:ph type="hdr" sz="quarter"/>
          </p:nvPr>
        </p:nvSpPr>
        <p:spPr/>
        <p:txBody>
          <a:bodyPr/>
          <a:lstStyle/>
          <a:p>
            <a:pPr>
              <a:defRPr/>
            </a:pPr>
            <a:r>
              <a:rPr lang="en-US" altLang="en-US" smtClean="0"/>
              <a:t>	</a:t>
            </a:r>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|EON~019|</a:t>
            </a:r>
            <a:endParaRPr lang="en-US" sz="100">
              <a:solidFill>
                <a:srgbClr val="FFFFFF"/>
              </a:solidFill>
              <a:latin typeface="Arial"/>
            </a:endParaRPr>
          </a:p>
        </p:txBody>
      </p:sp>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If the attempt was</a:t>
            </a:r>
            <a:r>
              <a:rPr lang="en-US" baseline="0" dirty="0" smtClean="0"/>
              <a:t> made to create claim cost reserves in this example (instead of expenses or unspecified), an error validation message would prevent the reserve from </a:t>
            </a:r>
            <a:r>
              <a:rPr lang="en-US" baseline="0" smtClean="0"/>
              <a:t>being created. </a:t>
            </a:r>
            <a:endParaRPr lang="en-US" smtClean="0"/>
          </a:p>
        </p:txBody>
      </p:sp>
      <p:sp>
        <p:nvSpPr>
          <p:cNvPr id="4" name="Slide Number Placeholder 3"/>
          <p:cNvSpPr>
            <a:spLocks noGrp="1"/>
          </p:cNvSpPr>
          <p:nvPr>
            <p:ph type="sldNum" sz="quarter" idx="5"/>
          </p:nvPr>
        </p:nvSpPr>
        <p:spPr/>
        <p:txBody>
          <a:bodyPr/>
          <a:lstStyle/>
          <a:p>
            <a:pPr>
              <a:defRPr/>
            </a:pPr>
            <a:r>
              <a:rPr lang="en-US" altLang="en-US" smtClean="0"/>
              <a:t>	 Financial Holds - </a:t>
            </a:r>
            <a:fld id="{FAA1B137-22D6-4E20-A1D4-AF4DB1F2CBCA}" type="slidenum">
              <a:rPr lang="en-US" altLang="en-US" smtClean="0"/>
              <a:pPr>
                <a:defRPr/>
              </a:pPr>
              <a:t>19</a:t>
            </a:fld>
            <a:endParaRPr lang="en-US" altLang="en-US"/>
          </a:p>
        </p:txBody>
      </p:sp>
      <p:sp>
        <p:nvSpPr>
          <p:cNvPr id="5" name="Header Placeholder 4"/>
          <p:cNvSpPr>
            <a:spLocks noGrp="1"/>
          </p:cNvSpPr>
          <p:nvPr>
            <p:ph type="hdr" sz="quarter"/>
          </p:nvPr>
        </p:nvSpPr>
        <p:spPr/>
        <p:txBody>
          <a:bodyPr/>
          <a:lstStyle/>
          <a:p>
            <a:pPr>
              <a:defRPr/>
            </a:pPr>
            <a:r>
              <a:rPr lang="en-US" altLang="en-US" smtClean="0"/>
              <a:t>	</a:t>
            </a:r>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|EON~020|</a:t>
            </a:r>
            <a:endParaRPr lang="en-US" sz="100">
              <a:solidFill>
                <a:srgbClr val="FFFFFF"/>
              </a:solidFill>
              <a:latin typeface="Arial"/>
            </a:endParaRPr>
          </a:p>
        </p:txBody>
      </p:sp>
      <p:sp>
        <p:nvSpPr>
          <p:cNvPr id="24578" name="Copyright"/>
          <p:cNvSpPr>
            <a:spLocks noGrp="1" noChangeArrowheads="1"/>
          </p:cNvSpPr>
          <p:nvPr>
            <p:ph type="sldNum" sz="quarter" idx="5"/>
          </p:nvPr>
        </p:nvSpPr>
        <p:spPr/>
        <p:txBody>
          <a:bodyPr/>
          <a:lstStyle/>
          <a:p>
            <a:pPr>
              <a:defRPr/>
            </a:pPr>
            <a:r>
              <a:rPr lang="en-US" altLang="en-US"/>
              <a:t>	 </a:t>
            </a:r>
            <a:r>
              <a:rPr lang="en-US" altLang="en-US" smtClean="0"/>
              <a:t>Financial Holds - </a:t>
            </a:r>
            <a:fld id="{AF99D943-DF0F-4949-B81E-FE4810428B2D}" type="slidenum">
              <a:rPr lang="en-US" altLang="en-US"/>
              <a:pPr>
                <a:defRPr/>
              </a:pPr>
              <a:t>20</a:t>
            </a:fld>
            <a:endParaRPr lang="en-US" altLang="en-US"/>
          </a:p>
        </p:txBody>
      </p:sp>
      <p:sp>
        <p:nvSpPr>
          <p:cNvPr id="24579"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43012" name="Rectangle 2"/>
          <p:cNvSpPr>
            <a:spLocks noGrp="1" noRot="1" noChangeAspect="1" noChangeArrowheads="1" noTextEdit="1"/>
          </p:cNvSpPr>
          <p:nvPr>
            <p:ph type="sldImg"/>
          </p:nvPr>
        </p:nvSpPr>
        <p:spPr>
          <a:xfrm>
            <a:off x="715963" y="630238"/>
            <a:ext cx="5432425" cy="4073525"/>
          </a:xfrm>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|EON~021|</a:t>
            </a:r>
            <a:endParaRPr lang="en-US" sz="100">
              <a:solidFill>
                <a:srgbClr val="FFFFFF"/>
              </a:solidFill>
              <a:latin typeface="Arial"/>
            </a:endParaRPr>
          </a:p>
        </p:txBody>
      </p:sp>
      <p:sp>
        <p:nvSpPr>
          <p:cNvPr id="25602" name="Copyright"/>
          <p:cNvSpPr>
            <a:spLocks noGrp="1" noChangeArrowheads="1"/>
          </p:cNvSpPr>
          <p:nvPr>
            <p:ph type="sldNum" sz="quarter" idx="5"/>
          </p:nvPr>
        </p:nvSpPr>
        <p:spPr/>
        <p:txBody>
          <a:bodyPr/>
          <a:lstStyle/>
          <a:p>
            <a:pPr>
              <a:defRPr/>
            </a:pPr>
            <a:r>
              <a:rPr lang="en-US" altLang="en-US"/>
              <a:t>	 </a:t>
            </a:r>
            <a:r>
              <a:rPr lang="en-US" altLang="en-US" smtClean="0"/>
              <a:t>Financial Holds - </a:t>
            </a:r>
            <a:fld id="{CBD5F663-B3D4-45D8-8910-D2C8C2EE64F0}" type="slidenum">
              <a:rPr lang="en-US" altLang="en-US"/>
              <a:pPr>
                <a:defRPr/>
              </a:pPr>
              <a:t>21</a:t>
            </a:fld>
            <a:endParaRPr lang="en-US" altLang="en-US"/>
          </a:p>
        </p:txBody>
      </p:sp>
      <p:sp>
        <p:nvSpPr>
          <p:cNvPr id="25603"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44036" name="Rectangle 2"/>
          <p:cNvSpPr>
            <a:spLocks noGrp="1" noRot="1" noChangeAspect="1" noChangeArrowheads="1" noTextEdit="1"/>
          </p:cNvSpPr>
          <p:nvPr>
            <p:ph type="sldImg"/>
          </p:nvPr>
        </p:nvSpPr>
        <p:spPr>
          <a:xfrm>
            <a:off x="715963" y="630238"/>
            <a:ext cx="5432425" cy="4073525"/>
          </a:xfrm>
          <a:ln/>
        </p:spPr>
      </p:sp>
      <p:sp>
        <p:nvSpPr>
          <p:cNvPr id="27653" name="Rectangle 3"/>
          <p:cNvSpPr>
            <a:spLocks noGrp="1" noChangeArrowheads="1"/>
          </p:cNvSpPr>
          <p:nvPr>
            <p:ph type="body" idx="1"/>
          </p:nvPr>
        </p:nvSpPr>
        <p:spPr>
          <a:ln/>
        </p:spPr>
        <p:txBody>
          <a:bodyPr/>
          <a:lstStyle/>
          <a:p>
            <a:pPr marL="209550" indent="-209550" eaLnBrk="1" hangingPunct="1">
              <a:defRPr/>
            </a:pPr>
            <a:r>
              <a:rPr lang="en-US" b="1" dirty="0" smtClean="0"/>
              <a:t>Answers</a:t>
            </a:r>
          </a:p>
          <a:p>
            <a:pPr marL="228600" indent="-228600" eaLnBrk="1" hangingPunct="1">
              <a:buFontTx/>
              <a:buAutoNum type="arabicPeriod"/>
              <a:defRPr/>
            </a:pPr>
            <a:r>
              <a:rPr lang="en-US" dirty="0" smtClean="0"/>
              <a:t>Claim cost reserves and payments are rejected. Expense reserves and payments return warnings but are allowed.</a:t>
            </a:r>
          </a:p>
          <a:p>
            <a:pPr marL="228600" indent="-228600" eaLnBrk="1" hangingPunct="1">
              <a:buFontTx/>
              <a:buAutoNum type="arabicPeriod"/>
              <a:defRPr/>
            </a:pPr>
            <a:r>
              <a:rPr lang="en-US" dirty="0" smtClean="0"/>
              <a:t>Coverage is in question, the claim is incident only, claim policy is unverified.</a:t>
            </a:r>
          </a:p>
          <a:p>
            <a:pPr marL="228600" indent="-228600" eaLnBrk="1" hangingPunct="1">
              <a:buFontTx/>
              <a:buAutoNum type="arabicPeriod"/>
              <a:defRPr/>
            </a:pPr>
            <a:r>
              <a:rPr lang="en-US" dirty="0" smtClean="0"/>
              <a:t>Yes. Details are provided in the “Configuring Financial Holds” lesson in Claim Center Application Configuration course.</a:t>
            </a:r>
          </a:p>
          <a:p>
            <a:pPr marL="228600" indent="-228600" eaLnBrk="1" hangingPunct="1">
              <a:buFontTx/>
              <a:buAutoNum type="arabicPeriod"/>
              <a:defRPr/>
            </a:pPr>
            <a:r>
              <a:rPr lang="en-US" dirty="0" smtClean="0"/>
              <a:t>Never. In the base application, that field can only be set manually.</a:t>
            </a:r>
          </a:p>
          <a:p>
            <a:pPr marL="228600" indent="-228600" eaLnBrk="1" hangingPunct="1">
              <a:buFontTx/>
              <a:buAutoNum type="arabicPeriod"/>
              <a:defRPr/>
            </a:pPr>
            <a:r>
              <a:rPr lang="en-US" dirty="0" smtClean="0"/>
              <a:t>When the loss date is outside of the policy effective dates, or the policy status is something other than </a:t>
            </a:r>
            <a:r>
              <a:rPr lang="en-US" i="1" dirty="0" smtClean="0"/>
              <a:t>In Force </a:t>
            </a:r>
            <a:r>
              <a:rPr lang="en-US" dirty="0" smtClean="0"/>
              <a:t>or </a:t>
            </a:r>
            <a:r>
              <a:rPr lang="en-US" i="1" dirty="0" smtClean="0"/>
              <a:t>Archived</a:t>
            </a:r>
            <a:r>
              <a:rPr lang="en-US" dirty="0" smtClean="0"/>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|EON~022|</a:t>
            </a:r>
            <a:endParaRPr lang="en-US" sz="100">
              <a:solidFill>
                <a:srgbClr val="FFFFFF"/>
              </a:solidFill>
              <a:latin typeface="Arial"/>
            </a:endParaRPr>
          </a:p>
        </p:txBody>
      </p:sp>
      <p:sp>
        <p:nvSpPr>
          <p:cNvPr id="100354" name="Copyright"/>
          <p:cNvSpPr>
            <a:spLocks noGrp="1" noChangeArrowheads="1"/>
          </p:cNvSpPr>
          <p:nvPr>
            <p:ph type="sldNum" sz="quarter" idx="5"/>
          </p:nvPr>
        </p:nvSpPr>
        <p:spPr/>
        <p:txBody>
          <a:bodyPr/>
          <a:lstStyle/>
          <a:p>
            <a:pPr>
              <a:defRPr/>
            </a:pPr>
            <a:r>
              <a:rPr lang="en-US" altLang="en-US" dirty="0" smtClean="0"/>
              <a:t>	Financial Holds - </a:t>
            </a:r>
            <a:fld id="{211C349A-83C9-44D0-A356-DBEB3FC715FC}" type="slidenum">
              <a:rPr lang="en-US" altLang="en-US" smtClean="0"/>
              <a:pPr>
                <a:defRPr/>
              </a:pPr>
              <a:t>22</a:t>
            </a:fld>
            <a:endParaRPr lang="en-US" altLang="en-US" dirty="0" smtClean="0"/>
          </a:p>
        </p:txBody>
      </p:sp>
      <p:sp>
        <p:nvSpPr>
          <p:cNvPr id="100355"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392621932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303914027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98542713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Tree>
    <p:extLst>
      <p:ext uri="{BB962C8B-B14F-4D97-AF65-F5344CB8AC3E}">
        <p14:creationId xmlns:p14="http://schemas.microsoft.com/office/powerpoint/2010/main" val="21030926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43790705"/>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773657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111294016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409781151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4170013865"/>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95774148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smtClean="0"/>
              <a:t>Click to edit Master title style</a:t>
            </a:r>
            <a:endParaRPr lang="en-US" dirty="0"/>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212061408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algn="ctr" eaLnBrk="0" hangingPunct="0">
                <a:spcBef>
                  <a:spcPct val="50000"/>
                </a:spcBef>
                <a:defRPr/>
              </a:pPr>
              <a:endParaRPr lang="en-US" sz="1600" b="0" dirty="0">
                <a:solidFill>
                  <a:srgbClr val="000000"/>
                </a:solidFill>
                <a:cs typeface="+mn-cs"/>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lgn="ctr">
                <a:spcBef>
                  <a:spcPct val="50000"/>
                </a:spcBef>
                <a:spcAft>
                  <a:spcPct val="30000"/>
                </a:spcAft>
                <a:buClr>
                  <a:schemeClr val="tx1"/>
                </a:buClr>
                <a:defRPr/>
              </a:pPr>
              <a:endParaRPr lang="en-US" dirty="0">
                <a:cs typeface="+mn-cs"/>
              </a:endParaRPr>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 </a:t>
            </a:r>
          </a:p>
          <a:p>
            <a:pPr lvl="1"/>
            <a:r>
              <a:rPr lang="en-US" altLang="en-US" smtClean="0"/>
              <a:t>Second level</a:t>
            </a:r>
          </a:p>
          <a:p>
            <a:pPr lvl="2"/>
            <a:r>
              <a:rPr lang="en-US" altLang="en-US" smtClean="0"/>
              <a:t>Third level</a:t>
            </a:r>
          </a:p>
          <a:p>
            <a:pPr lvl="3"/>
            <a:r>
              <a:rPr lang="en-US" altLang="en-US" smtClean="0"/>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algn="ctr" eaLnBrk="0" hangingPunct="0">
              <a:lnSpc>
                <a:spcPts val="1800"/>
              </a:lnSpc>
              <a:spcBef>
                <a:spcPts val="600"/>
              </a:spcBef>
              <a:buFont typeface="Wingdings" pitchFamily="2" charset="2"/>
              <a:buNone/>
              <a:defRPr/>
            </a:pPr>
            <a:fld id="{3B917D1B-9DE5-46F0-8B90-4563DC1EB761}" type="slidenum">
              <a:rPr lang="en-US" sz="1200">
                <a:solidFill>
                  <a:srgbClr val="B2B2B2"/>
                </a:solidFill>
                <a:latin typeface="Calibri" pitchFamily="34" charset="0"/>
                <a:cs typeface="Calibri" pitchFamily="34" charset="0"/>
              </a:rPr>
              <a:pPr algn="ctr" eaLnBrk="0" hangingPunct="0">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pic>
        <p:nvPicPr>
          <p:cNvPr id="1030" name="Picture 12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dirty="0">
                <a:solidFill>
                  <a:srgbClr val="B2B2B2"/>
                </a:solidFill>
                <a:latin typeface="+mn-lt"/>
                <a:cs typeface="+mn-cs"/>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4062" r:id="rId1"/>
    <p:sldLayoutId id="2147484052" r:id="rId2"/>
    <p:sldLayoutId id="2147484053" r:id="rId3"/>
    <p:sldLayoutId id="2147484054" r:id="rId4"/>
    <p:sldLayoutId id="2147484055" r:id="rId5"/>
    <p:sldLayoutId id="2147484056" r:id="rId6"/>
    <p:sldLayoutId id="2147484057" r:id="rId7"/>
    <p:sldLayoutId id="2147484058" r:id="rId8"/>
    <p:sldLayoutId id="2147484059" r:id="rId9"/>
    <p:sldLayoutId id="2147484060" r:id="rId10"/>
    <p:sldLayoutId id="2147484061" r:id="rId11"/>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|EOS~001|</a:t>
            </a:r>
            <a:endParaRPr lang="en-US" sz="100" dirty="0" err="1" smtClean="0">
              <a:solidFill>
                <a:srgbClr val="FFFFFF"/>
              </a:solidFill>
              <a:latin typeface="Arial"/>
              <a:cs typeface="Calibri" pitchFamily="34" charset="0"/>
            </a:endParaRPr>
          </a:p>
        </p:txBody>
      </p:sp>
      <p:sp>
        <p:nvSpPr>
          <p:cNvPr id="3074" name="Rectangle 2"/>
          <p:cNvSpPr>
            <a:spLocks noGrp="1" noChangeArrowheads="1"/>
          </p:cNvSpPr>
          <p:nvPr>
            <p:ph type="ctrTitle"/>
          </p:nvPr>
        </p:nvSpPr>
        <p:spPr>
          <a:xfrm>
            <a:off x="458788" y="2957513"/>
            <a:ext cx="8348662" cy="457200"/>
          </a:xfrm>
        </p:spPr>
        <p:txBody>
          <a:bodyPr/>
          <a:lstStyle/>
          <a:p>
            <a:pPr eaLnBrk="1" hangingPunct="1"/>
            <a:r>
              <a:rPr lang="en-US" smtClean="0"/>
              <a:t>Financial Holds</a:t>
            </a:r>
          </a:p>
        </p:txBody>
      </p:sp>
      <p:sp>
        <p:nvSpPr>
          <p:cNvPr id="3075" name="Text Placeholder 6"/>
          <p:cNvSpPr>
            <a:spLocks noGrp="1"/>
          </p:cNvSpPr>
          <p:nvPr>
            <p:ph type="body" sz="quarter" idx="10"/>
          </p:nvPr>
        </p:nvSpPr>
        <p:spPr>
          <a:xfrm>
            <a:off x="5718175" y="6167438"/>
            <a:ext cx="3089275" cy="273050"/>
          </a:xfrm>
        </p:spPr>
        <p:txBody>
          <a:bodyPr/>
          <a:lstStyle/>
          <a:p>
            <a:r>
              <a:rPr lang="en-US" dirty="0" smtClean="0"/>
              <a:t>28 August 2013</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|EOS~002|</a:t>
            </a:r>
            <a:endParaRPr lang="en-US" sz="100" dirty="0" err="1" smtClean="0">
              <a:solidFill>
                <a:srgbClr val="FFFFFF"/>
              </a:solidFill>
              <a:latin typeface="Arial"/>
              <a:cs typeface="Calibri" pitchFamily="34" charset="0"/>
            </a:endParaRPr>
          </a:p>
        </p:txBody>
      </p:sp>
      <p:sp>
        <p:nvSpPr>
          <p:cNvPr id="4098" name="Rectangle 2"/>
          <p:cNvSpPr>
            <a:spLocks noGrp="1" noChangeArrowheads="1"/>
          </p:cNvSpPr>
          <p:nvPr>
            <p:ph type="title"/>
          </p:nvPr>
        </p:nvSpPr>
        <p:spPr/>
        <p:txBody>
          <a:bodyPr/>
          <a:lstStyle/>
          <a:p>
            <a:pPr eaLnBrk="1" hangingPunct="1"/>
            <a:r>
              <a:rPr lang="en-US" smtClean="0"/>
              <a:t>Lesson objectives</a:t>
            </a:r>
          </a:p>
        </p:txBody>
      </p:sp>
      <p:sp>
        <p:nvSpPr>
          <p:cNvPr id="4099" name="Rectangle 3"/>
          <p:cNvSpPr>
            <a:spLocks noGrp="1" noChangeArrowheads="1"/>
          </p:cNvSpPr>
          <p:nvPr>
            <p:ph idx="1"/>
          </p:nvPr>
        </p:nvSpPr>
        <p:spPr/>
        <p:txBody>
          <a:bodyPr/>
          <a:lstStyle/>
          <a:p>
            <a:pPr>
              <a:buFont typeface="Arial" charset="0"/>
              <a:buChar char="•"/>
            </a:pPr>
            <a:r>
              <a:rPr lang="en-US" dirty="0" smtClean="0"/>
              <a:t>By the end of this lesson, you should be able to:</a:t>
            </a:r>
          </a:p>
          <a:p>
            <a:pPr lvl="1" eaLnBrk="1" hangingPunct="1"/>
            <a:r>
              <a:rPr lang="en-US" dirty="0" smtClean="0"/>
              <a:t>Explain why some claims do not allow claim cost payments but do allow expense payments</a:t>
            </a:r>
          </a:p>
          <a:p>
            <a:pPr lvl="1" eaLnBrk="1" hangingPunct="1"/>
            <a:r>
              <a:rPr lang="en-US" dirty="0" smtClean="0"/>
              <a:t>Describe how ClaimCenter manages payments on claims whose coverage is in question</a:t>
            </a:r>
          </a:p>
          <a:p>
            <a:pPr lvl="1" eaLnBrk="1" hangingPunct="1"/>
            <a:r>
              <a:rPr lang="en-US" dirty="0" smtClean="0"/>
              <a:t>Describe how ClaimCenter manages payments on claims whose policies are unverified</a:t>
            </a:r>
          </a:p>
          <a:p>
            <a:pPr lvl="1" eaLnBrk="1" hangingPunct="1"/>
            <a:r>
              <a:rPr lang="en-US" dirty="0" smtClean="0"/>
              <a:t>Describe how ClaimCenter manages payments on claims that are incident only</a:t>
            </a:r>
          </a:p>
          <a:p>
            <a:pPr lvl="1" eaLnBrk="1" hangingPunct="1"/>
            <a:r>
              <a:rPr lang="en-US" dirty="0" smtClean="0"/>
              <a:t>Explain how claim cost payments can be prevented using financial holds</a:t>
            </a:r>
          </a:p>
        </p:txBody>
      </p:sp>
      <p:sp>
        <p:nvSpPr>
          <p:cNvPr id="4100"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eaLnBrk="0" hangingPunct="0">
              <a:spcBef>
                <a:spcPct val="20000"/>
              </a:spcBef>
              <a:buClr>
                <a:srgbClr val="0146AD"/>
              </a:buClr>
              <a:buSzPct val="90000"/>
              <a:buFont typeface="Wingdings 2" pitchFamily="18" charset="2"/>
              <a:buNone/>
            </a:pPr>
            <a:r>
              <a:rPr lang="en-US" sz="1400" b="0" dirty="0">
                <a:solidFill>
                  <a:srgbClr val="AA3704"/>
                </a:solidFill>
              </a:rPr>
              <a:t>This lesson uses the notes section for additional explanation and information.</a:t>
            </a:r>
            <a:br>
              <a:rPr lang="en-US" sz="1400" b="0" dirty="0">
                <a:solidFill>
                  <a:srgbClr val="AA3704"/>
                </a:solidFill>
              </a:rPr>
            </a:br>
            <a:r>
              <a:rPr lang="en-US" sz="1400" b="0" dirty="0">
                <a:solidFill>
                  <a:srgbClr val="AA3704"/>
                </a:solidFill>
              </a:rPr>
              <a:t>To view the notes in PowerPoint, choose </a:t>
            </a:r>
            <a:r>
              <a:rPr lang="en-US" sz="1400" b="0" dirty="0" err="1">
                <a:solidFill>
                  <a:srgbClr val="AA3704"/>
                </a:solidFill>
              </a:rPr>
              <a:t>View</a:t>
            </a:r>
            <a:r>
              <a:rPr lang="en-US" sz="1400" b="0" dirty="0" err="1">
                <a:solidFill>
                  <a:srgbClr val="AA3704"/>
                </a:solidFill>
                <a:sym typeface="Wingdings" pitchFamily="2" charset="2"/>
              </a:rPr>
              <a:t>Normal</a:t>
            </a:r>
            <a:r>
              <a:rPr lang="en-US" sz="1400" b="0" dirty="0">
                <a:solidFill>
                  <a:srgbClr val="AA3704"/>
                </a:solidFill>
                <a:sym typeface="Wingdings" pitchFamily="2" charset="2"/>
              </a:rPr>
              <a:t> or </a:t>
            </a:r>
            <a:r>
              <a:rPr lang="en-US" sz="1400" b="0" dirty="0" err="1">
                <a:solidFill>
                  <a:srgbClr val="AA3704"/>
                </a:solidFill>
              </a:rPr>
              <a:t>View</a:t>
            </a:r>
            <a:r>
              <a:rPr lang="en-US" sz="1400" b="0" dirty="0" err="1">
                <a:solidFill>
                  <a:srgbClr val="AA3704"/>
                </a:solidFill>
                <a:sym typeface="Wingdings" pitchFamily="2" charset="2"/>
              </a:rPr>
              <a:t></a:t>
            </a:r>
            <a:r>
              <a:rPr lang="en-US" sz="1400" b="0" dirty="0" err="1">
                <a:solidFill>
                  <a:srgbClr val="AA3704"/>
                </a:solidFill>
              </a:rPr>
              <a:t>Notes</a:t>
            </a:r>
            <a:r>
              <a:rPr lang="en-US" sz="1400" b="0" dirty="0">
                <a:solidFill>
                  <a:srgbClr val="AA3704"/>
                </a:solidFill>
              </a:rPr>
              <a:t> Page.</a:t>
            </a:r>
            <a:br>
              <a:rPr lang="en-US" sz="1400" b="0" dirty="0">
                <a:solidFill>
                  <a:srgbClr val="AA3704"/>
                </a:solidFill>
              </a:rPr>
            </a:br>
            <a:r>
              <a:rPr lang="en-US" sz="1400" b="0" dirty="0">
                <a:solidFill>
                  <a:srgbClr val="AA3704"/>
                </a:solidFill>
              </a:rPr>
              <a:t>If you choose to print the notes for the lesson, be sure to select “Print hidden slides.”</a:t>
            </a:r>
          </a:p>
          <a:p>
            <a:pPr lvl="1" eaLnBrk="0" hangingPunct="0">
              <a:spcBef>
                <a:spcPct val="20000"/>
              </a:spcBef>
              <a:buClr>
                <a:srgbClr val="0146AD"/>
              </a:buClr>
              <a:buSzPct val="90000"/>
              <a:buFont typeface="Wingdings 2" pitchFamily="18" charset="2"/>
              <a:buNone/>
            </a:pPr>
            <a:endParaRPr lang="en-US" sz="1400" b="0" dirty="0">
              <a:solidFill>
                <a:srgbClr val="AA3704"/>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|EOS~003|</a:t>
            </a:r>
            <a:endParaRPr lang="en-US" sz="100" dirty="0" err="1" smtClean="0">
              <a:solidFill>
                <a:srgbClr val="FFFFFF"/>
              </a:solidFill>
              <a:latin typeface="Arial"/>
              <a:cs typeface="Calibri" pitchFamily="34" charset="0"/>
            </a:endParaRPr>
          </a:p>
        </p:txBody>
      </p:sp>
      <p:sp>
        <p:nvSpPr>
          <p:cNvPr id="5122" name="Rectangle 2"/>
          <p:cNvSpPr>
            <a:spLocks noGrp="1" noChangeArrowheads="1"/>
          </p:cNvSpPr>
          <p:nvPr>
            <p:ph type="title"/>
          </p:nvPr>
        </p:nvSpPr>
        <p:spPr/>
        <p:txBody>
          <a:bodyPr/>
          <a:lstStyle/>
          <a:p>
            <a:pPr eaLnBrk="1" hangingPunct="1"/>
            <a:r>
              <a:rPr lang="en-US" smtClean="0"/>
              <a:t>Lesson outline</a:t>
            </a:r>
          </a:p>
        </p:txBody>
      </p:sp>
      <p:sp>
        <p:nvSpPr>
          <p:cNvPr id="5123" name="Rectangle 3"/>
          <p:cNvSpPr>
            <a:spLocks noGrp="1" noChangeArrowheads="1"/>
          </p:cNvSpPr>
          <p:nvPr>
            <p:ph idx="1"/>
          </p:nvPr>
        </p:nvSpPr>
        <p:spPr bwMode="gray"/>
        <p:txBody>
          <a:bodyPr/>
          <a:lstStyle/>
          <a:p>
            <a:pPr>
              <a:lnSpc>
                <a:spcPct val="150000"/>
              </a:lnSpc>
              <a:buFont typeface="Arial" charset="0"/>
              <a:buChar char="•"/>
            </a:pPr>
            <a:r>
              <a:rPr lang="en-US" sz="2800" dirty="0" smtClean="0"/>
              <a:t>Preventing claim cost payments</a:t>
            </a:r>
          </a:p>
          <a:p>
            <a:pPr>
              <a:lnSpc>
                <a:spcPct val="150000"/>
              </a:lnSpc>
              <a:buFont typeface="Arial" charset="0"/>
              <a:buChar char="•"/>
            </a:pPr>
            <a:r>
              <a:rPr lang="en-US" sz="2800" dirty="0" smtClean="0">
                <a:solidFill>
                  <a:srgbClr val="C0C0C0"/>
                </a:solidFill>
              </a:rPr>
              <a:t>Coverage in question</a:t>
            </a:r>
          </a:p>
          <a:p>
            <a:pPr>
              <a:lnSpc>
                <a:spcPct val="150000"/>
              </a:lnSpc>
              <a:buFont typeface="Arial" charset="0"/>
              <a:buChar char="•"/>
            </a:pPr>
            <a:r>
              <a:rPr lang="en-US" sz="2800" dirty="0" smtClean="0">
                <a:solidFill>
                  <a:srgbClr val="C0C0C0"/>
                </a:solidFill>
              </a:rPr>
              <a:t>Unverified claim policy</a:t>
            </a:r>
          </a:p>
          <a:p>
            <a:pPr>
              <a:lnSpc>
                <a:spcPct val="150000"/>
              </a:lnSpc>
              <a:buFont typeface="Arial" charset="0"/>
              <a:buChar char="•"/>
            </a:pPr>
            <a:r>
              <a:rPr lang="en-US" sz="2800" dirty="0" smtClean="0">
                <a:solidFill>
                  <a:srgbClr val="C0C0C0"/>
                </a:solidFill>
              </a:rPr>
              <a:t>Incident only claim</a:t>
            </a:r>
          </a:p>
          <a:p>
            <a:pPr>
              <a:lnSpc>
                <a:spcPct val="150000"/>
              </a:lnSpc>
              <a:buFont typeface="Arial" charset="0"/>
              <a:buChar char="•"/>
            </a:pPr>
            <a:r>
              <a:rPr lang="en-US" sz="2800" dirty="0" smtClean="0">
                <a:solidFill>
                  <a:srgbClr val="C0C0C0"/>
                </a:solidFill>
              </a:rPr>
              <a:t>Financial holds</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|EOS~004|</a:t>
            </a:r>
            <a:endParaRPr lang="en-US" sz="100" dirty="0" err="1" smtClean="0">
              <a:solidFill>
                <a:srgbClr val="FFFFFF"/>
              </a:solidFill>
              <a:latin typeface="Arial"/>
              <a:cs typeface="Calibri" pitchFamily="34" charset="0"/>
            </a:endParaRPr>
          </a:p>
        </p:txBody>
      </p:sp>
      <p:sp>
        <p:nvSpPr>
          <p:cNvPr id="6146" name="Title 1"/>
          <p:cNvSpPr>
            <a:spLocks noGrp="1"/>
          </p:cNvSpPr>
          <p:nvPr>
            <p:ph type="title"/>
          </p:nvPr>
        </p:nvSpPr>
        <p:spPr/>
        <p:txBody>
          <a:bodyPr/>
          <a:lstStyle/>
          <a:p>
            <a:r>
              <a:rPr lang="en-US" dirty="0" smtClean="0"/>
              <a:t>Preventing claim cost payments</a:t>
            </a:r>
          </a:p>
        </p:txBody>
      </p:sp>
      <p:sp>
        <p:nvSpPr>
          <p:cNvPr id="6147" name="Content Placeholder 2"/>
          <p:cNvSpPr>
            <a:spLocks noGrp="1"/>
          </p:cNvSpPr>
          <p:nvPr>
            <p:ph idx="1"/>
          </p:nvPr>
        </p:nvSpPr>
        <p:spPr/>
        <p:txBody>
          <a:bodyPr/>
          <a:lstStyle/>
          <a:p>
            <a:pPr>
              <a:buFont typeface="Arial" charset="0"/>
              <a:buChar char="•"/>
            </a:pPr>
            <a:r>
              <a:rPr lang="en-US" dirty="0" smtClean="0"/>
              <a:t>Some claims are created, but carrier does not expect to make any claim cost payments</a:t>
            </a:r>
          </a:p>
          <a:p>
            <a:pPr lvl="1">
              <a:buFont typeface="Arial" charset="0"/>
              <a:buChar char="•"/>
            </a:pPr>
            <a:r>
              <a:rPr lang="en-US" dirty="0" smtClean="0"/>
              <a:t>Merely keeping claims from getting to ability to pay does not allow for expense payments </a:t>
            </a:r>
          </a:p>
          <a:p>
            <a:pPr>
              <a:buFont typeface="Arial" charset="0"/>
              <a:buChar char="•"/>
            </a:pPr>
            <a:r>
              <a:rPr lang="en-US" dirty="0" smtClean="0"/>
              <a:t>Why no claim cost payments?</a:t>
            </a:r>
          </a:p>
          <a:p>
            <a:pPr lvl="1">
              <a:buFont typeface="Arial" charset="0"/>
              <a:buChar char="•"/>
            </a:pPr>
            <a:r>
              <a:rPr lang="en-US" dirty="0" smtClean="0"/>
              <a:t>Coverage is in question</a:t>
            </a:r>
          </a:p>
          <a:p>
            <a:pPr lvl="1">
              <a:buFont typeface="Arial" charset="0"/>
              <a:buChar char="•"/>
            </a:pPr>
            <a:r>
              <a:rPr lang="en-US" dirty="0" smtClean="0"/>
              <a:t>Claim is incident only</a:t>
            </a:r>
          </a:p>
          <a:p>
            <a:pPr lvl="1">
              <a:buFont typeface="Arial" charset="0"/>
              <a:buChar char="•"/>
            </a:pPr>
            <a:r>
              <a:rPr lang="en-US" dirty="0" smtClean="0"/>
              <a:t>Claim’s policy is unverified</a:t>
            </a:r>
          </a:p>
          <a:p>
            <a:pPr>
              <a:buFont typeface="Arial" charset="0"/>
              <a:buChar char="•"/>
            </a:pPr>
            <a:r>
              <a:rPr lang="en-US" dirty="0" smtClean="0"/>
              <a:t>ClaimCenter uses financial holds functionality to allow for these possibilities</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|EOS~005|</a:t>
            </a:r>
            <a:endParaRPr lang="en-US" sz="100" dirty="0" err="1" smtClean="0">
              <a:solidFill>
                <a:srgbClr val="FFFFFF"/>
              </a:solidFill>
              <a:latin typeface="Arial"/>
              <a:cs typeface="Calibri" pitchFamily="34" charset="0"/>
            </a:endParaRPr>
          </a:p>
        </p:txBody>
      </p:sp>
      <p:sp>
        <p:nvSpPr>
          <p:cNvPr id="7170" name="Rectangle 2"/>
          <p:cNvSpPr>
            <a:spLocks noGrp="1" noChangeArrowheads="1"/>
          </p:cNvSpPr>
          <p:nvPr>
            <p:ph type="title"/>
          </p:nvPr>
        </p:nvSpPr>
        <p:spPr/>
        <p:txBody>
          <a:bodyPr/>
          <a:lstStyle/>
          <a:p>
            <a:pPr eaLnBrk="1" hangingPunct="1"/>
            <a:r>
              <a:rPr lang="en-US" smtClean="0"/>
              <a:t>Lesson outline</a:t>
            </a:r>
          </a:p>
        </p:txBody>
      </p:sp>
      <p:sp>
        <p:nvSpPr>
          <p:cNvPr id="7171" name="Rectangle 3"/>
          <p:cNvSpPr>
            <a:spLocks noGrp="1" noChangeArrowheads="1"/>
          </p:cNvSpPr>
          <p:nvPr>
            <p:ph idx="1"/>
          </p:nvPr>
        </p:nvSpPr>
        <p:spPr bwMode="gray"/>
        <p:txBody>
          <a:bodyPr/>
          <a:lstStyle/>
          <a:p>
            <a:pPr>
              <a:lnSpc>
                <a:spcPct val="150000"/>
              </a:lnSpc>
              <a:buFont typeface="Arial" charset="0"/>
              <a:buChar char="•"/>
            </a:pPr>
            <a:r>
              <a:rPr lang="en-US" sz="2800" dirty="0" smtClean="0">
                <a:solidFill>
                  <a:srgbClr val="C0C0C0"/>
                </a:solidFill>
              </a:rPr>
              <a:t>Preventing claim cost payments</a:t>
            </a:r>
          </a:p>
          <a:p>
            <a:pPr>
              <a:lnSpc>
                <a:spcPct val="150000"/>
              </a:lnSpc>
              <a:buFont typeface="Arial" charset="0"/>
              <a:buChar char="•"/>
            </a:pPr>
            <a:r>
              <a:rPr lang="en-US" sz="2800" dirty="0" smtClean="0"/>
              <a:t>Coverage in question</a:t>
            </a:r>
          </a:p>
          <a:p>
            <a:pPr>
              <a:lnSpc>
                <a:spcPct val="150000"/>
              </a:lnSpc>
              <a:buFont typeface="Arial" charset="0"/>
              <a:buChar char="•"/>
            </a:pPr>
            <a:r>
              <a:rPr lang="en-US" sz="2800" dirty="0" smtClean="0">
                <a:solidFill>
                  <a:srgbClr val="C0C0C0"/>
                </a:solidFill>
              </a:rPr>
              <a:t>Unverified claim policy</a:t>
            </a:r>
          </a:p>
          <a:p>
            <a:pPr>
              <a:lnSpc>
                <a:spcPct val="150000"/>
              </a:lnSpc>
              <a:buFont typeface="Arial" charset="0"/>
              <a:buChar char="•"/>
            </a:pPr>
            <a:r>
              <a:rPr lang="en-US" sz="2800" dirty="0" smtClean="0">
                <a:solidFill>
                  <a:srgbClr val="C0C0C0"/>
                </a:solidFill>
              </a:rPr>
              <a:t>Incident only claim</a:t>
            </a:r>
          </a:p>
          <a:p>
            <a:pPr>
              <a:lnSpc>
                <a:spcPct val="150000"/>
              </a:lnSpc>
              <a:buFont typeface="Arial" charset="0"/>
              <a:buChar char="•"/>
            </a:pPr>
            <a:r>
              <a:rPr lang="en-US" sz="2800" dirty="0" smtClean="0">
                <a:solidFill>
                  <a:srgbClr val="C0C0C0"/>
                </a:solidFill>
              </a:rPr>
              <a:t>Financial holds</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|EOS~006|</a:t>
            </a:r>
            <a:endParaRPr lang="en-US" sz="100" dirty="0" err="1" smtClean="0">
              <a:solidFill>
                <a:srgbClr val="FFFFFF"/>
              </a:solidFill>
              <a:latin typeface="Arial"/>
              <a:cs typeface="Calibri" pitchFamily="34" charset="0"/>
            </a:endParaRP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7575" y="5057244"/>
            <a:ext cx="3870560" cy="130545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960" y="3125796"/>
            <a:ext cx="7933267" cy="107775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8194" name="Title 1"/>
          <p:cNvSpPr>
            <a:spLocks noGrp="1"/>
          </p:cNvSpPr>
          <p:nvPr>
            <p:ph type="title"/>
          </p:nvPr>
        </p:nvSpPr>
        <p:spPr/>
        <p:txBody>
          <a:bodyPr/>
          <a:lstStyle/>
          <a:p>
            <a:r>
              <a:rPr lang="en-US" smtClean="0"/>
              <a:t>Coverage in question</a:t>
            </a:r>
          </a:p>
        </p:txBody>
      </p:sp>
      <p:sp>
        <p:nvSpPr>
          <p:cNvPr id="8195" name="Content Placeholder 2"/>
          <p:cNvSpPr>
            <a:spLocks noGrp="1"/>
          </p:cNvSpPr>
          <p:nvPr>
            <p:ph idx="1"/>
          </p:nvPr>
        </p:nvSpPr>
        <p:spPr/>
        <p:txBody>
          <a:bodyPr/>
          <a:lstStyle/>
          <a:p>
            <a:pPr>
              <a:buFont typeface="Arial" charset="0"/>
              <a:buChar char="•"/>
            </a:pPr>
            <a:r>
              <a:rPr lang="en-US" b="1" dirty="0" smtClean="0"/>
              <a:t>Coverage in question </a:t>
            </a:r>
            <a:r>
              <a:rPr lang="en-US" dirty="0" smtClean="0"/>
              <a:t>(</a:t>
            </a:r>
            <a:r>
              <a:rPr lang="en-US" dirty="0" err="1" smtClean="0"/>
              <a:t>CiQ</a:t>
            </a:r>
            <a:r>
              <a:rPr lang="en-US" dirty="0" smtClean="0"/>
              <a:t>) is an indicator that a loss may not be covered by the claim’s policy</a:t>
            </a:r>
          </a:p>
          <a:p>
            <a:pPr>
              <a:buFont typeface="Arial" charset="0"/>
              <a:buChar char="•"/>
            </a:pPr>
            <a:r>
              <a:rPr lang="en-US" dirty="0" smtClean="0"/>
              <a:t>Question mark icon signifies </a:t>
            </a:r>
            <a:r>
              <a:rPr lang="en-US" dirty="0" err="1" smtClean="0"/>
              <a:t>CiQ</a:t>
            </a:r>
            <a:r>
              <a:rPr lang="en-US" dirty="0" smtClean="0"/>
              <a:t>:</a:t>
            </a:r>
          </a:p>
          <a:p>
            <a:pPr>
              <a:buFont typeface="Arial" charset="0"/>
              <a:buChar char="•"/>
            </a:pPr>
            <a:r>
              <a:rPr lang="en-US" dirty="0" smtClean="0"/>
              <a:t>If coverage is in question, the claim is flagged as such</a:t>
            </a:r>
          </a:p>
          <a:p>
            <a:pPr lvl="1">
              <a:buFont typeface="Courier New" pitchFamily="49" charset="0"/>
              <a:buChar char="­"/>
            </a:pPr>
            <a:r>
              <a:rPr lang="en-US" dirty="0" smtClean="0"/>
              <a:t>In the Info Bar (with reason displayed as mouse over)</a:t>
            </a:r>
            <a:br>
              <a:rPr lang="en-US" dirty="0" smtClean="0"/>
            </a:br>
            <a:endParaRPr lang="en-US" dirty="0" smtClean="0"/>
          </a:p>
          <a:p>
            <a:pPr lvl="1">
              <a:buFont typeface="Courier New" pitchFamily="49" charset="0"/>
              <a:buChar char="­"/>
            </a:pPr>
            <a:endParaRPr lang="en-US" dirty="0" smtClean="0"/>
          </a:p>
          <a:p>
            <a:pPr lvl="1">
              <a:buFont typeface="Courier New" pitchFamily="49" charset="0"/>
              <a:buChar char="­"/>
            </a:pPr>
            <a:endParaRPr lang="en-US" dirty="0" smtClean="0"/>
          </a:p>
          <a:p>
            <a:pPr lvl="1">
              <a:buFont typeface="Courier New" pitchFamily="49" charset="0"/>
              <a:buChar char="­"/>
            </a:pPr>
            <a:r>
              <a:rPr lang="en-US" dirty="0" smtClean="0"/>
              <a:t>In </a:t>
            </a:r>
            <a:r>
              <a:rPr lang="en-US" smtClean="0"/>
              <a:t>High-Risk </a:t>
            </a:r>
            <a:r>
              <a:rPr lang="en-US" smtClean="0"/>
              <a:t>Indicators </a:t>
            </a:r>
            <a:r>
              <a:rPr lang="en-US" dirty="0" smtClean="0"/>
              <a:t>section on the Claim Status tab of Summary page</a:t>
            </a:r>
          </a:p>
        </p:txBody>
      </p:sp>
      <p:sp>
        <p:nvSpPr>
          <p:cNvPr id="8199" name="Rounded Rectangle 7"/>
          <p:cNvSpPr>
            <a:spLocks noChangeArrowheads="1"/>
          </p:cNvSpPr>
          <p:nvPr/>
        </p:nvSpPr>
        <p:spPr bwMode="auto">
          <a:xfrm>
            <a:off x="787930" y="3395132"/>
            <a:ext cx="401108" cy="333376"/>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50000"/>
              </a:spcBef>
              <a:spcAft>
                <a:spcPct val="30000"/>
              </a:spcAft>
              <a:buClr>
                <a:schemeClr val="tx1"/>
              </a:buClr>
            </a:pPr>
            <a:endParaRPr lang="en-US"/>
          </a:p>
        </p:txBody>
      </p:sp>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7866" y="1764238"/>
            <a:ext cx="482600" cy="467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|EOS~007|</a:t>
            </a:r>
            <a:endParaRPr lang="en-US" sz="100" dirty="0" err="1" smtClean="0">
              <a:solidFill>
                <a:srgbClr val="FFFFFF"/>
              </a:solidFill>
              <a:latin typeface="Arial"/>
              <a:cs typeface="Calibri" pitchFamily="34" charset="0"/>
            </a:endParaRPr>
          </a:p>
        </p:txBody>
      </p:sp>
      <p:sp>
        <p:nvSpPr>
          <p:cNvPr id="9218" name="Title 1"/>
          <p:cNvSpPr>
            <a:spLocks noGrp="1"/>
          </p:cNvSpPr>
          <p:nvPr>
            <p:ph type="title"/>
          </p:nvPr>
        </p:nvSpPr>
        <p:spPr/>
        <p:txBody>
          <a:bodyPr/>
          <a:lstStyle/>
          <a:p>
            <a:r>
              <a:rPr lang="en-US" smtClean="0"/>
              <a:t>Setting coverage in question</a:t>
            </a:r>
          </a:p>
        </p:txBody>
      </p:sp>
      <p:sp>
        <p:nvSpPr>
          <p:cNvPr id="9219" name="Content Placeholder 2"/>
          <p:cNvSpPr>
            <a:spLocks noGrp="1"/>
          </p:cNvSpPr>
          <p:nvPr>
            <p:ph idx="1"/>
          </p:nvPr>
        </p:nvSpPr>
        <p:spPr/>
        <p:txBody>
          <a:bodyPr/>
          <a:lstStyle/>
          <a:p>
            <a:pPr>
              <a:buFont typeface="Arial" charset="0"/>
              <a:buChar char="•"/>
            </a:pPr>
            <a:r>
              <a:rPr lang="en-US" dirty="0" smtClean="0"/>
              <a:t>Coverage in question status can be set manually (by editing claim status) or automatically based on data in the claim</a:t>
            </a:r>
          </a:p>
          <a:p>
            <a:pPr>
              <a:buFont typeface="Arial" charset="0"/>
              <a:buChar char="•"/>
            </a:pPr>
            <a:r>
              <a:rPr lang="en-US" dirty="0" smtClean="0"/>
              <a:t>In the base configuration, claims flagged as having coverage in question cannot make claim cost payments or create initial claim cost reserves</a:t>
            </a:r>
          </a:p>
          <a:p>
            <a:pPr lvl="2"/>
            <a:endParaRPr lang="en-US" dirty="0" smtClean="0"/>
          </a:p>
          <a:p>
            <a:pPr lvl="1"/>
            <a:endParaRPr lang="en-US" dirty="0" smtClean="0"/>
          </a:p>
          <a:p>
            <a:pPr lvl="1"/>
            <a:endParaRPr lang="en-US" dirty="0" smtClean="0"/>
          </a:p>
          <a:p>
            <a:pPr lvl="1">
              <a:buFont typeface="Calibri" pitchFamily="34" charset="0"/>
              <a:buNone/>
            </a:pPr>
            <a:endParaRPr lang="en-US" dirty="0" smtClean="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4425" y="3629024"/>
            <a:ext cx="6993948" cy="18764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|EOS~008|</a:t>
            </a:r>
            <a:endParaRPr lang="en-US" sz="100" dirty="0" err="1" smtClean="0">
              <a:solidFill>
                <a:srgbClr val="FFFFFF"/>
              </a:solidFill>
              <a:latin typeface="Arial"/>
              <a:cs typeface="Calibri" pitchFamily="34" charset="0"/>
            </a:endParaRP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8426" y="704850"/>
            <a:ext cx="6417430" cy="50196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0242" name="Title 1"/>
          <p:cNvSpPr>
            <a:spLocks noGrp="1"/>
          </p:cNvSpPr>
          <p:nvPr>
            <p:ph type="title"/>
          </p:nvPr>
        </p:nvSpPr>
        <p:spPr/>
        <p:txBody>
          <a:bodyPr/>
          <a:lstStyle/>
          <a:p>
            <a:r>
              <a:rPr lang="en-US" smtClean="0"/>
              <a:t>Setting coverage in question field manually</a:t>
            </a:r>
          </a:p>
        </p:txBody>
      </p:sp>
      <p:sp>
        <p:nvSpPr>
          <p:cNvPr id="10243" name="Content Placeholder 2"/>
          <p:cNvSpPr>
            <a:spLocks noGrp="1"/>
          </p:cNvSpPr>
          <p:nvPr>
            <p:ph sz="half" idx="1"/>
          </p:nvPr>
        </p:nvSpPr>
        <p:spPr>
          <a:xfrm>
            <a:off x="519113" y="1754188"/>
            <a:ext cx="2195513" cy="5197475"/>
          </a:xfrm>
        </p:spPr>
        <p:txBody>
          <a:bodyPr/>
          <a:lstStyle/>
          <a:p>
            <a:pPr>
              <a:buFont typeface="Arial" charset="0"/>
              <a:buChar char="•"/>
            </a:pPr>
            <a:r>
              <a:rPr lang="en-US" sz="2200" dirty="0" smtClean="0"/>
              <a:t>Set via radio button on Summary page’s Claim Status (menu link)</a:t>
            </a:r>
          </a:p>
          <a:p>
            <a:pPr>
              <a:buFont typeface="Arial" charset="0"/>
              <a:buChar char="•"/>
            </a:pPr>
            <a:r>
              <a:rPr lang="en-US" sz="2200" dirty="0" smtClean="0"/>
              <a:t>Once set, only user (typically a supervisor) with proper permissions can change</a:t>
            </a:r>
          </a:p>
          <a:p>
            <a:pPr>
              <a:buFont typeface="Arial" charset="0"/>
              <a:buChar char="•"/>
            </a:pPr>
            <a:endParaRPr lang="en-US" sz="2200" dirty="0" smtClean="0"/>
          </a:p>
        </p:txBody>
      </p:sp>
      <p:sp>
        <p:nvSpPr>
          <p:cNvPr id="10245" name="Rounded Rectangle 9"/>
          <p:cNvSpPr>
            <a:spLocks noChangeArrowheads="1"/>
          </p:cNvSpPr>
          <p:nvPr/>
        </p:nvSpPr>
        <p:spPr bwMode="auto">
          <a:xfrm>
            <a:off x="6543675" y="4429124"/>
            <a:ext cx="2512181" cy="392113"/>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50000"/>
              </a:spcBef>
              <a:spcAft>
                <a:spcPct val="30000"/>
              </a:spcAft>
              <a:buClr>
                <a:schemeClr val="tx1"/>
              </a:buClr>
            </a:pPr>
            <a:endParaRPr lang="en-US"/>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5813" y="704850"/>
            <a:ext cx="1762125" cy="8953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8" name="Line 11"/>
          <p:cNvSpPr>
            <a:spLocks noChangeShapeType="1"/>
          </p:cNvSpPr>
          <p:nvPr/>
        </p:nvSpPr>
        <p:spPr bwMode="auto">
          <a:xfrm flipV="1">
            <a:off x="2324100" y="933450"/>
            <a:ext cx="419100" cy="376238"/>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|EOS~009|</a:t>
            </a:r>
            <a:endParaRPr lang="en-US" sz="100" dirty="0" err="1" smtClean="0">
              <a:solidFill>
                <a:srgbClr val="FFFFFF"/>
              </a:solidFill>
              <a:latin typeface="Arial"/>
              <a:cs typeface="Calibri" pitchFamily="34"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2413" y="190500"/>
            <a:ext cx="4257675" cy="61341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1266" name="Title 1"/>
          <p:cNvSpPr>
            <a:spLocks noGrp="1"/>
          </p:cNvSpPr>
          <p:nvPr>
            <p:ph type="title"/>
          </p:nvPr>
        </p:nvSpPr>
        <p:spPr/>
        <p:txBody>
          <a:bodyPr/>
          <a:lstStyle/>
          <a:p>
            <a:r>
              <a:rPr lang="en-US" smtClean="0"/>
              <a:t>Setting coverage in</a:t>
            </a:r>
            <a:br>
              <a:rPr lang="en-US" smtClean="0"/>
            </a:br>
            <a:r>
              <a:rPr lang="en-US" smtClean="0"/>
              <a:t>question during</a:t>
            </a:r>
            <a:br>
              <a:rPr lang="en-US" smtClean="0"/>
            </a:br>
            <a:r>
              <a:rPr lang="en-US" smtClean="0"/>
              <a:t>claim creation</a:t>
            </a:r>
          </a:p>
        </p:txBody>
      </p:sp>
      <p:sp>
        <p:nvSpPr>
          <p:cNvPr id="11267" name="Content Placeholder 2"/>
          <p:cNvSpPr>
            <a:spLocks noGrp="1"/>
          </p:cNvSpPr>
          <p:nvPr>
            <p:ph idx="1"/>
          </p:nvPr>
        </p:nvSpPr>
        <p:spPr>
          <a:xfrm>
            <a:off x="519113" y="1589088"/>
            <a:ext cx="2986087" cy="4479925"/>
          </a:xfrm>
        </p:spPr>
        <p:txBody>
          <a:bodyPr/>
          <a:lstStyle/>
          <a:p>
            <a:pPr>
              <a:buFont typeface="Arial" charset="0"/>
              <a:buChar char="•"/>
            </a:pPr>
            <a:r>
              <a:rPr lang="en-US" dirty="0" smtClean="0"/>
              <a:t>Use radio button to specify </a:t>
            </a:r>
            <a:r>
              <a:rPr lang="en-US" dirty="0" err="1" smtClean="0"/>
              <a:t>CiQ</a:t>
            </a:r>
            <a:r>
              <a:rPr lang="en-US" dirty="0" smtClean="0"/>
              <a:t> status</a:t>
            </a:r>
          </a:p>
        </p:txBody>
      </p:sp>
      <p:sp>
        <p:nvSpPr>
          <p:cNvPr id="11269" name="Rounded Rectangle 8"/>
          <p:cNvSpPr>
            <a:spLocks noChangeArrowheads="1"/>
          </p:cNvSpPr>
          <p:nvPr/>
        </p:nvSpPr>
        <p:spPr bwMode="auto">
          <a:xfrm>
            <a:off x="4062413" y="6035675"/>
            <a:ext cx="2586037" cy="192088"/>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50000"/>
              </a:spcBef>
              <a:spcAft>
                <a:spcPct val="30000"/>
              </a:spcAft>
              <a:buClr>
                <a:schemeClr val="tx1"/>
              </a:buClr>
            </a:pPr>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|EOS~010|</a:t>
            </a:r>
            <a:endParaRPr lang="en-US" sz="100" dirty="0" err="1" smtClean="0">
              <a:solidFill>
                <a:srgbClr val="FFFFFF"/>
              </a:solidFill>
              <a:latin typeface="Arial"/>
              <a:cs typeface="Calibri" pitchFamily="34" charset="0"/>
            </a:endParaRPr>
          </a:p>
        </p:txBody>
      </p:sp>
      <p:sp>
        <p:nvSpPr>
          <p:cNvPr id="12290" name="Title 1"/>
          <p:cNvSpPr>
            <a:spLocks noGrp="1"/>
          </p:cNvSpPr>
          <p:nvPr>
            <p:ph type="title"/>
          </p:nvPr>
        </p:nvSpPr>
        <p:spPr/>
        <p:txBody>
          <a:bodyPr/>
          <a:lstStyle/>
          <a:p>
            <a:r>
              <a:rPr lang="en-US" smtClean="0"/>
              <a:t>Coverage in question set to yes</a:t>
            </a:r>
          </a:p>
        </p:txBody>
      </p:sp>
      <p:sp>
        <p:nvSpPr>
          <p:cNvPr id="12291" name="Content Placeholder 2"/>
          <p:cNvSpPr>
            <a:spLocks noGrp="1"/>
          </p:cNvSpPr>
          <p:nvPr>
            <p:ph idx="1"/>
          </p:nvPr>
        </p:nvSpPr>
        <p:spPr/>
        <p:txBody>
          <a:bodyPr/>
          <a:lstStyle/>
          <a:p>
            <a:pPr>
              <a:buFont typeface="Arial" charset="0"/>
              <a:buChar char="•"/>
            </a:pPr>
            <a:r>
              <a:rPr lang="en-US" dirty="0" smtClean="0"/>
              <a:t>Once a user has set </a:t>
            </a:r>
            <a:r>
              <a:rPr lang="en-US" dirty="0" err="1" smtClean="0"/>
              <a:t>CiQ</a:t>
            </a:r>
            <a:r>
              <a:rPr lang="en-US" dirty="0" smtClean="0"/>
              <a:t> field to yes, field displays an indicator that coverage is in question</a:t>
            </a:r>
          </a:p>
          <a:p>
            <a:pPr>
              <a:buFont typeface="Arial" charset="0"/>
              <a:buChar char="•"/>
            </a:pPr>
            <a:endParaRPr lang="en-US" dirty="0" smtClean="0"/>
          </a:p>
          <a:p>
            <a:pPr>
              <a:buFont typeface="Arial" charset="0"/>
              <a:buChar char="•"/>
            </a:pPr>
            <a:endParaRPr lang="en-US" dirty="0" smtClean="0"/>
          </a:p>
          <a:p>
            <a:pPr>
              <a:buFont typeface="Arial" charset="0"/>
              <a:buChar char="•"/>
            </a:pPr>
            <a:endParaRPr lang="en-US" dirty="0" smtClean="0"/>
          </a:p>
          <a:p>
            <a:pPr>
              <a:buFont typeface="Arial" charset="0"/>
              <a:buChar char="•"/>
            </a:pPr>
            <a:r>
              <a:rPr lang="en-US" dirty="0" smtClean="0"/>
              <a:t>Yes/no radio buttons not displayed unless user has role with the </a:t>
            </a:r>
            <a:r>
              <a:rPr lang="en-US" dirty="0" smtClean="0">
                <a:sym typeface="Wingdings" pitchFamily="2" charset="2"/>
              </a:rPr>
              <a:t>ability to unset coverage in question </a:t>
            </a:r>
          </a:p>
          <a:p>
            <a:pPr lvl="1"/>
            <a:r>
              <a:rPr lang="en-US" dirty="0" smtClean="0">
                <a:sym typeface="Wingdings" pitchFamily="2" charset="2"/>
              </a:rPr>
              <a:t>In the base application, the </a:t>
            </a:r>
            <a:r>
              <a:rPr lang="en-US" i="1" dirty="0" smtClean="0">
                <a:sym typeface="Wingdings" pitchFamily="2" charset="2"/>
              </a:rPr>
              <a:t>“</a:t>
            </a:r>
            <a:r>
              <a:rPr lang="en-US" i="1" dirty="0"/>
              <a:t>Unset the coverage in question field</a:t>
            </a:r>
            <a:r>
              <a:rPr lang="en-US" i="1" dirty="0" smtClean="0"/>
              <a:t>” </a:t>
            </a:r>
            <a:r>
              <a:rPr lang="en-US" dirty="0" smtClean="0"/>
              <a:t>permission is granted to the following roles: Claims Supervisor, Manager, New Loan Processing Supervisor, and Super User</a:t>
            </a:r>
          </a:p>
          <a:p>
            <a:pPr lvl="1"/>
            <a:endParaRPr lang="en-US" dirty="0" smtClean="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199" y="1828800"/>
            <a:ext cx="4714875" cy="1047750"/>
          </a:xfrm>
          <a:prstGeom prst="rect">
            <a:avLst/>
          </a:prstGeom>
          <a:noFill/>
          <a:ln w="6350">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|EOS~011|</a:t>
            </a:r>
            <a:endParaRPr lang="en-US" sz="100" dirty="0" err="1" smtClean="0">
              <a:solidFill>
                <a:srgbClr val="FFFFFF"/>
              </a:solidFill>
              <a:latin typeface="Arial"/>
              <a:cs typeface="Calibri" pitchFamily="34" charset="0"/>
            </a:endParaRPr>
          </a:p>
        </p:txBody>
      </p:sp>
      <p:sp>
        <p:nvSpPr>
          <p:cNvPr id="13314" name="Title 1"/>
          <p:cNvSpPr>
            <a:spLocks noGrp="1"/>
          </p:cNvSpPr>
          <p:nvPr>
            <p:ph type="title"/>
          </p:nvPr>
        </p:nvSpPr>
        <p:spPr/>
        <p:txBody>
          <a:bodyPr/>
          <a:lstStyle/>
          <a:p>
            <a:r>
              <a:rPr lang="en-US" smtClean="0"/>
              <a:t>Setting coverage in question automatically</a:t>
            </a:r>
          </a:p>
        </p:txBody>
      </p:sp>
      <p:sp>
        <p:nvSpPr>
          <p:cNvPr id="13315" name="Content Placeholder 2"/>
          <p:cNvSpPr>
            <a:spLocks noGrp="1"/>
          </p:cNvSpPr>
          <p:nvPr>
            <p:ph idx="1"/>
          </p:nvPr>
        </p:nvSpPr>
        <p:spPr>
          <a:xfrm>
            <a:off x="434975" y="590550"/>
            <a:ext cx="8318500" cy="5870575"/>
          </a:xfrm>
        </p:spPr>
        <p:txBody>
          <a:bodyPr/>
          <a:lstStyle/>
          <a:p>
            <a:pPr>
              <a:buFont typeface="Arial" charset="0"/>
              <a:buChar char="•"/>
            </a:pPr>
            <a:r>
              <a:rPr lang="en-US" dirty="0" err="1" smtClean="0"/>
              <a:t>CiQ</a:t>
            </a:r>
            <a:r>
              <a:rPr lang="en-US" dirty="0" smtClean="0"/>
              <a:t> also set automatically based on configurable settings</a:t>
            </a:r>
          </a:p>
          <a:p>
            <a:pPr>
              <a:buFont typeface="Arial" charset="0"/>
              <a:buChar char="•"/>
            </a:pPr>
            <a:r>
              <a:rPr lang="en-US" dirty="0" smtClean="0"/>
              <a:t>In base ClaimCenter configuration, </a:t>
            </a:r>
            <a:r>
              <a:rPr lang="en-US" dirty="0" err="1" smtClean="0"/>
              <a:t>CiQ</a:t>
            </a:r>
            <a:r>
              <a:rPr lang="en-US" dirty="0" smtClean="0"/>
              <a:t> is automatically set to true if any of the following are true:</a:t>
            </a:r>
          </a:p>
          <a:p>
            <a:pPr lvl="1"/>
            <a:r>
              <a:rPr lang="en-US" sz="2000" dirty="0" smtClean="0"/>
              <a:t>Loss date is before policy effective date</a:t>
            </a:r>
          </a:p>
          <a:p>
            <a:pPr lvl="1"/>
            <a:r>
              <a:rPr lang="en-US" sz="2000" dirty="0" smtClean="0"/>
              <a:t>Loss date is after policy expiration date</a:t>
            </a:r>
          </a:p>
          <a:p>
            <a:pPr lvl="1"/>
            <a:r>
              <a:rPr lang="en-US" sz="2000" dirty="0" smtClean="0"/>
              <a:t>Policy status something other than "In force" or "Archived"</a:t>
            </a:r>
          </a:p>
          <a:p>
            <a:pPr marL="0" indent="0">
              <a:buNone/>
            </a:pPr>
            <a:endParaRPr lang="en-US" dirty="0" smtClean="0"/>
          </a:p>
          <a:p>
            <a:pPr marL="0" indent="0">
              <a:buNone/>
            </a:pPr>
            <a:endParaRPr lang="en-US" dirty="0" smtClean="0"/>
          </a:p>
          <a:p>
            <a:pPr>
              <a:buFont typeface="Arial" charset="0"/>
              <a:buChar char="•"/>
            </a:pPr>
            <a:r>
              <a:rPr lang="en-US" dirty="0" smtClean="0"/>
              <a:t>Example</a:t>
            </a:r>
          </a:p>
          <a:p>
            <a:pPr lvl="1"/>
            <a:r>
              <a:rPr lang="en-US" sz="2000" dirty="0" smtClean="0"/>
              <a:t>Claim with loss</a:t>
            </a:r>
            <a:br>
              <a:rPr lang="en-US" sz="2000" dirty="0" smtClean="0"/>
            </a:br>
            <a:r>
              <a:rPr lang="en-US" sz="2000" dirty="0" smtClean="0"/>
              <a:t>date before policy</a:t>
            </a:r>
            <a:br>
              <a:rPr lang="en-US" sz="2000" dirty="0" smtClean="0"/>
            </a:br>
            <a:r>
              <a:rPr lang="en-US" sz="2000" dirty="0" smtClean="0"/>
              <a:t>expiration date</a:t>
            </a:r>
            <a:endParaRPr lang="en-US" sz="1050" dirty="0" smtClean="0"/>
          </a:p>
          <a:p>
            <a:pPr lvl="1"/>
            <a:r>
              <a:rPr lang="en-US" sz="2000" dirty="0" smtClean="0"/>
              <a:t>Claim with loss</a:t>
            </a:r>
            <a:br>
              <a:rPr lang="en-US" sz="2000" dirty="0" smtClean="0"/>
            </a:br>
            <a:r>
              <a:rPr lang="en-US" sz="2000" dirty="0" smtClean="0"/>
              <a:t>date after policy</a:t>
            </a:r>
            <a:br>
              <a:rPr lang="en-US" sz="2000" dirty="0" smtClean="0"/>
            </a:br>
            <a:r>
              <a:rPr lang="en-US" sz="2000" dirty="0" smtClean="0"/>
              <a:t>expiration date</a:t>
            </a:r>
          </a:p>
          <a:p>
            <a:pPr>
              <a:buFont typeface="Arial" charset="0"/>
              <a:buChar char="•"/>
            </a:pPr>
            <a:endParaRPr lang="en-US" dirty="0" smtClean="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9925" y="4420989"/>
            <a:ext cx="2428876" cy="75902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2979737"/>
            <a:ext cx="5397342" cy="125888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614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1083" y="5275263"/>
            <a:ext cx="3571875" cy="127567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|EOS~012|</a:t>
            </a:r>
            <a:endParaRPr lang="en-US" sz="100" dirty="0" err="1" smtClean="0">
              <a:solidFill>
                <a:srgbClr val="FFFFFF"/>
              </a:solidFill>
              <a:latin typeface="Arial"/>
              <a:cs typeface="Calibri" pitchFamily="34" charset="0"/>
            </a:endParaRPr>
          </a:p>
        </p:txBody>
      </p:sp>
      <p:sp>
        <p:nvSpPr>
          <p:cNvPr id="14338" name="Rectangle 2"/>
          <p:cNvSpPr>
            <a:spLocks noGrp="1" noChangeArrowheads="1"/>
          </p:cNvSpPr>
          <p:nvPr>
            <p:ph type="title"/>
          </p:nvPr>
        </p:nvSpPr>
        <p:spPr/>
        <p:txBody>
          <a:bodyPr/>
          <a:lstStyle/>
          <a:p>
            <a:pPr eaLnBrk="1" hangingPunct="1"/>
            <a:r>
              <a:rPr lang="en-US" smtClean="0"/>
              <a:t>Lesson outline</a:t>
            </a:r>
          </a:p>
        </p:txBody>
      </p:sp>
      <p:sp>
        <p:nvSpPr>
          <p:cNvPr id="14339" name="Rectangle 3"/>
          <p:cNvSpPr>
            <a:spLocks noGrp="1" noChangeArrowheads="1"/>
          </p:cNvSpPr>
          <p:nvPr>
            <p:ph idx="1"/>
          </p:nvPr>
        </p:nvSpPr>
        <p:spPr bwMode="gray"/>
        <p:txBody>
          <a:bodyPr/>
          <a:lstStyle/>
          <a:p>
            <a:pPr>
              <a:lnSpc>
                <a:spcPct val="150000"/>
              </a:lnSpc>
              <a:buFont typeface="Arial" charset="0"/>
              <a:buChar char="•"/>
            </a:pPr>
            <a:r>
              <a:rPr lang="en-US" sz="2800" dirty="0" smtClean="0">
                <a:solidFill>
                  <a:srgbClr val="C0C0C0"/>
                </a:solidFill>
              </a:rPr>
              <a:t>Preventing claim cost payments</a:t>
            </a:r>
          </a:p>
          <a:p>
            <a:pPr>
              <a:lnSpc>
                <a:spcPct val="150000"/>
              </a:lnSpc>
              <a:buFont typeface="Arial" charset="0"/>
              <a:buChar char="•"/>
            </a:pPr>
            <a:r>
              <a:rPr lang="en-US" sz="2800" dirty="0" smtClean="0">
                <a:solidFill>
                  <a:srgbClr val="C0C0C0"/>
                </a:solidFill>
              </a:rPr>
              <a:t>Coverage in question</a:t>
            </a:r>
          </a:p>
          <a:p>
            <a:pPr>
              <a:lnSpc>
                <a:spcPct val="150000"/>
              </a:lnSpc>
              <a:buFont typeface="Arial" charset="0"/>
              <a:buChar char="•"/>
            </a:pPr>
            <a:r>
              <a:rPr lang="en-US" sz="2800" dirty="0" smtClean="0"/>
              <a:t>Unverified claim policy</a:t>
            </a:r>
          </a:p>
          <a:p>
            <a:pPr>
              <a:lnSpc>
                <a:spcPct val="150000"/>
              </a:lnSpc>
              <a:buFont typeface="Arial" charset="0"/>
              <a:buChar char="•"/>
            </a:pPr>
            <a:r>
              <a:rPr lang="en-US" sz="2800" dirty="0" smtClean="0">
                <a:solidFill>
                  <a:srgbClr val="C0C0C0"/>
                </a:solidFill>
              </a:rPr>
              <a:t>Incident only claim</a:t>
            </a:r>
          </a:p>
          <a:p>
            <a:pPr>
              <a:lnSpc>
                <a:spcPct val="150000"/>
              </a:lnSpc>
              <a:buFont typeface="Arial" charset="0"/>
              <a:buChar char="•"/>
            </a:pPr>
            <a:r>
              <a:rPr lang="en-US" sz="2800" dirty="0" smtClean="0">
                <a:solidFill>
                  <a:srgbClr val="C0C0C0"/>
                </a:solidFill>
              </a:rPr>
              <a:t>Financial holds</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|EOS~013|</a:t>
            </a:r>
            <a:endParaRPr lang="en-US" sz="100" dirty="0" err="1" smtClean="0">
              <a:solidFill>
                <a:srgbClr val="FFFFFF"/>
              </a:solidFill>
              <a:latin typeface="Arial"/>
              <a:cs typeface="Calibri" pitchFamily="34" charset="0"/>
            </a:endParaRPr>
          </a:p>
        </p:txBody>
      </p:sp>
      <p:sp>
        <p:nvSpPr>
          <p:cNvPr id="15362" name="Title 1"/>
          <p:cNvSpPr>
            <a:spLocks noGrp="1"/>
          </p:cNvSpPr>
          <p:nvPr>
            <p:ph type="title"/>
          </p:nvPr>
        </p:nvSpPr>
        <p:spPr/>
        <p:txBody>
          <a:bodyPr/>
          <a:lstStyle/>
          <a:p>
            <a:r>
              <a:rPr lang="en-US" smtClean="0"/>
              <a:t>Unverified claim policy</a:t>
            </a:r>
          </a:p>
        </p:txBody>
      </p:sp>
      <p:sp>
        <p:nvSpPr>
          <p:cNvPr id="15365" name="Content Placeholder 2"/>
          <p:cNvSpPr>
            <a:spLocks noGrp="1"/>
          </p:cNvSpPr>
          <p:nvPr>
            <p:ph idx="1"/>
          </p:nvPr>
        </p:nvSpPr>
        <p:spPr>
          <a:xfrm>
            <a:off x="434975" y="974725"/>
            <a:ext cx="2043113" cy="5486400"/>
          </a:xfrm>
        </p:spPr>
        <p:txBody>
          <a:bodyPr/>
          <a:lstStyle/>
          <a:p>
            <a:pPr>
              <a:buFont typeface="Arial" charset="0"/>
              <a:buChar char="•"/>
            </a:pPr>
            <a:r>
              <a:rPr lang="en-US" dirty="0" smtClean="0"/>
              <a:t>Policy becomes unverified if the claim policy is edited or if the loss date is changed</a:t>
            </a:r>
          </a:p>
          <a:p>
            <a:pPr>
              <a:buFont typeface="Arial" charset="0"/>
              <a:buChar char="•"/>
            </a:pPr>
            <a:r>
              <a:rPr lang="en-US" dirty="0" smtClean="0"/>
              <a:t>Claim cost payments not made on unverified policies</a:t>
            </a:r>
          </a:p>
          <a:p>
            <a:pPr>
              <a:buFont typeface="Arial" charset="0"/>
              <a:buChar char="•"/>
            </a:pPr>
            <a:endParaRPr lang="en-US" dirty="0" smtClean="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0013" y="1052513"/>
            <a:ext cx="6172200" cy="37814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7" name="Rounded Rectangle 8"/>
          <p:cNvSpPr>
            <a:spLocks noChangeArrowheads="1"/>
          </p:cNvSpPr>
          <p:nvPr/>
        </p:nvSpPr>
        <p:spPr bwMode="auto">
          <a:xfrm>
            <a:off x="2668589" y="1454150"/>
            <a:ext cx="427036" cy="279400"/>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50000"/>
              </a:spcBef>
              <a:spcAft>
                <a:spcPct val="30000"/>
              </a:spcAft>
              <a:buClr>
                <a:schemeClr val="tx1"/>
              </a:buClr>
            </a:pPr>
            <a:endParaRPr lang="en-US"/>
          </a:p>
        </p:txBody>
      </p:sp>
      <p:sp>
        <p:nvSpPr>
          <p:cNvPr id="8" name="Line 11"/>
          <p:cNvSpPr>
            <a:spLocks noChangeShapeType="1"/>
          </p:cNvSpPr>
          <p:nvPr/>
        </p:nvSpPr>
        <p:spPr bwMode="auto">
          <a:xfrm>
            <a:off x="3095625" y="1733550"/>
            <a:ext cx="419100" cy="80010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en-US"/>
          </a:p>
        </p:txBody>
      </p:sp>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0013" y="5226049"/>
            <a:ext cx="2630488" cy="80180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|EOS~014|</a:t>
            </a:r>
            <a:endParaRPr lang="en-US" sz="100" dirty="0" err="1" smtClean="0">
              <a:solidFill>
                <a:srgbClr val="FFFFFF"/>
              </a:solidFill>
              <a:latin typeface="Arial"/>
              <a:cs typeface="Calibri" pitchFamily="34" charset="0"/>
            </a:endParaRPr>
          </a:p>
        </p:txBody>
      </p:sp>
      <p:sp>
        <p:nvSpPr>
          <p:cNvPr id="16386" name="Rectangle 2"/>
          <p:cNvSpPr>
            <a:spLocks noGrp="1" noChangeArrowheads="1"/>
          </p:cNvSpPr>
          <p:nvPr>
            <p:ph type="title"/>
          </p:nvPr>
        </p:nvSpPr>
        <p:spPr/>
        <p:txBody>
          <a:bodyPr/>
          <a:lstStyle/>
          <a:p>
            <a:pPr eaLnBrk="1" hangingPunct="1"/>
            <a:r>
              <a:rPr lang="en-US" smtClean="0"/>
              <a:t>Lesson outline</a:t>
            </a:r>
          </a:p>
        </p:txBody>
      </p:sp>
      <p:sp>
        <p:nvSpPr>
          <p:cNvPr id="16387" name="Rectangle 3"/>
          <p:cNvSpPr>
            <a:spLocks noGrp="1" noChangeArrowheads="1"/>
          </p:cNvSpPr>
          <p:nvPr>
            <p:ph idx="1"/>
          </p:nvPr>
        </p:nvSpPr>
        <p:spPr bwMode="gray"/>
        <p:txBody>
          <a:bodyPr/>
          <a:lstStyle/>
          <a:p>
            <a:pPr>
              <a:lnSpc>
                <a:spcPct val="150000"/>
              </a:lnSpc>
              <a:buFont typeface="Arial" charset="0"/>
              <a:buChar char="•"/>
            </a:pPr>
            <a:r>
              <a:rPr lang="en-US" sz="2800" dirty="0" smtClean="0">
                <a:solidFill>
                  <a:srgbClr val="C0C0C0"/>
                </a:solidFill>
              </a:rPr>
              <a:t>Preventing claim cost payments</a:t>
            </a:r>
          </a:p>
          <a:p>
            <a:pPr>
              <a:lnSpc>
                <a:spcPct val="150000"/>
              </a:lnSpc>
              <a:buFont typeface="Arial" charset="0"/>
              <a:buChar char="•"/>
            </a:pPr>
            <a:r>
              <a:rPr lang="en-US" sz="2800" dirty="0" smtClean="0">
                <a:solidFill>
                  <a:srgbClr val="C0C0C0"/>
                </a:solidFill>
              </a:rPr>
              <a:t>Coverage in question</a:t>
            </a:r>
          </a:p>
          <a:p>
            <a:pPr>
              <a:lnSpc>
                <a:spcPct val="150000"/>
              </a:lnSpc>
              <a:buFont typeface="Arial" charset="0"/>
              <a:buChar char="•"/>
            </a:pPr>
            <a:r>
              <a:rPr lang="en-US" sz="2800" dirty="0" smtClean="0">
                <a:solidFill>
                  <a:srgbClr val="C0C0C0"/>
                </a:solidFill>
              </a:rPr>
              <a:t>Unverified claim policy</a:t>
            </a:r>
          </a:p>
          <a:p>
            <a:pPr>
              <a:lnSpc>
                <a:spcPct val="150000"/>
              </a:lnSpc>
              <a:buFont typeface="Arial" charset="0"/>
              <a:buChar char="•"/>
            </a:pPr>
            <a:r>
              <a:rPr lang="en-US" sz="2800" dirty="0" smtClean="0"/>
              <a:t>Incident only claim</a:t>
            </a:r>
          </a:p>
          <a:p>
            <a:pPr>
              <a:lnSpc>
                <a:spcPct val="150000"/>
              </a:lnSpc>
              <a:buFont typeface="Arial" charset="0"/>
              <a:buChar char="•"/>
            </a:pPr>
            <a:r>
              <a:rPr lang="en-US" sz="2800" dirty="0" smtClean="0">
                <a:solidFill>
                  <a:srgbClr val="C0C0C0"/>
                </a:solidFill>
              </a:rPr>
              <a:t>Financial holds</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|EOS~015|</a:t>
            </a:r>
            <a:endParaRPr lang="en-US" sz="100" dirty="0" err="1" smtClean="0">
              <a:solidFill>
                <a:srgbClr val="FFFFFF"/>
              </a:solidFill>
              <a:latin typeface="Arial"/>
              <a:cs typeface="Calibri" pitchFamily="34" charset="0"/>
            </a:endParaRPr>
          </a:p>
        </p:txBody>
      </p:sp>
      <p:sp>
        <p:nvSpPr>
          <p:cNvPr id="17410" name="Title 1"/>
          <p:cNvSpPr>
            <a:spLocks noGrp="1"/>
          </p:cNvSpPr>
          <p:nvPr>
            <p:ph type="title"/>
          </p:nvPr>
        </p:nvSpPr>
        <p:spPr/>
        <p:txBody>
          <a:bodyPr/>
          <a:lstStyle/>
          <a:p>
            <a:r>
              <a:rPr lang="en-US" smtClean="0"/>
              <a:t>Incident only claim</a:t>
            </a:r>
          </a:p>
        </p:txBody>
      </p:sp>
      <p:sp>
        <p:nvSpPr>
          <p:cNvPr id="17411" name="Content Placeholder 2"/>
          <p:cNvSpPr>
            <a:spLocks noGrp="1"/>
          </p:cNvSpPr>
          <p:nvPr>
            <p:ph idx="1"/>
          </p:nvPr>
        </p:nvSpPr>
        <p:spPr>
          <a:xfrm>
            <a:off x="519113" y="4778375"/>
            <a:ext cx="8318500" cy="1622425"/>
          </a:xfrm>
        </p:spPr>
        <p:txBody>
          <a:bodyPr/>
          <a:lstStyle/>
          <a:p>
            <a:pPr>
              <a:buFont typeface="Arial" charset="0"/>
              <a:buChar char="•"/>
            </a:pPr>
            <a:r>
              <a:rPr lang="en-US" dirty="0" smtClean="0"/>
              <a:t>Some claims are just  informational</a:t>
            </a:r>
          </a:p>
          <a:p>
            <a:pPr>
              <a:buFont typeface="Arial" charset="0"/>
              <a:buChar char="•"/>
            </a:pPr>
            <a:r>
              <a:rPr lang="en-US" dirty="0" smtClean="0"/>
              <a:t>For incident only claims, no claim cost payments are made but expense payments might be needed</a:t>
            </a:r>
          </a:p>
          <a:p>
            <a:pPr>
              <a:buFont typeface="Arial" charset="0"/>
              <a:buChar char="•"/>
            </a:pPr>
            <a:endParaRPr lang="en-US" dirty="0" smtClean="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9650" y="838200"/>
            <a:ext cx="6800850" cy="378340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8" name="Rounded Rectangle 8"/>
          <p:cNvSpPr>
            <a:spLocks noChangeArrowheads="1"/>
          </p:cNvSpPr>
          <p:nvPr/>
        </p:nvSpPr>
        <p:spPr bwMode="auto">
          <a:xfrm>
            <a:off x="3516314" y="4187825"/>
            <a:ext cx="2198686" cy="279400"/>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50000"/>
              </a:spcBef>
              <a:spcAft>
                <a:spcPct val="30000"/>
              </a:spcAft>
              <a:buClr>
                <a:schemeClr val="tx1"/>
              </a:buClr>
            </a:pPr>
            <a:endParaRPr lang="en-US"/>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|EOS~016|</a:t>
            </a:r>
            <a:endParaRPr lang="en-US" sz="100" dirty="0" err="1" smtClean="0">
              <a:solidFill>
                <a:srgbClr val="FFFFFF"/>
              </a:solidFill>
              <a:latin typeface="Arial"/>
              <a:cs typeface="Calibri" pitchFamily="34" charset="0"/>
            </a:endParaRPr>
          </a:p>
        </p:txBody>
      </p:sp>
      <p:sp>
        <p:nvSpPr>
          <p:cNvPr id="18434" name="Rectangle 2"/>
          <p:cNvSpPr>
            <a:spLocks noGrp="1" noChangeArrowheads="1"/>
          </p:cNvSpPr>
          <p:nvPr>
            <p:ph type="title"/>
          </p:nvPr>
        </p:nvSpPr>
        <p:spPr/>
        <p:txBody>
          <a:bodyPr/>
          <a:lstStyle/>
          <a:p>
            <a:pPr eaLnBrk="1" hangingPunct="1"/>
            <a:r>
              <a:rPr lang="en-US" smtClean="0"/>
              <a:t>Lesson outline</a:t>
            </a:r>
          </a:p>
        </p:txBody>
      </p:sp>
      <p:sp>
        <p:nvSpPr>
          <p:cNvPr id="18435" name="Rectangle 3"/>
          <p:cNvSpPr>
            <a:spLocks noGrp="1" noChangeArrowheads="1"/>
          </p:cNvSpPr>
          <p:nvPr>
            <p:ph idx="1"/>
          </p:nvPr>
        </p:nvSpPr>
        <p:spPr bwMode="gray"/>
        <p:txBody>
          <a:bodyPr/>
          <a:lstStyle/>
          <a:p>
            <a:pPr>
              <a:lnSpc>
                <a:spcPct val="150000"/>
              </a:lnSpc>
              <a:buFont typeface="Arial" charset="0"/>
              <a:buChar char="•"/>
            </a:pPr>
            <a:r>
              <a:rPr lang="en-US" sz="2800" dirty="0" smtClean="0">
                <a:solidFill>
                  <a:srgbClr val="C0C0C0"/>
                </a:solidFill>
              </a:rPr>
              <a:t>Preventing claim cost payments</a:t>
            </a:r>
          </a:p>
          <a:p>
            <a:pPr>
              <a:lnSpc>
                <a:spcPct val="150000"/>
              </a:lnSpc>
              <a:buFont typeface="Arial" charset="0"/>
              <a:buChar char="•"/>
            </a:pPr>
            <a:r>
              <a:rPr lang="en-US" sz="2800" dirty="0" smtClean="0">
                <a:solidFill>
                  <a:srgbClr val="C0C0C0"/>
                </a:solidFill>
              </a:rPr>
              <a:t>Coverage in question</a:t>
            </a:r>
          </a:p>
          <a:p>
            <a:pPr>
              <a:lnSpc>
                <a:spcPct val="150000"/>
              </a:lnSpc>
              <a:buFont typeface="Arial" charset="0"/>
              <a:buChar char="•"/>
            </a:pPr>
            <a:r>
              <a:rPr lang="en-US" sz="2800" dirty="0" smtClean="0">
                <a:solidFill>
                  <a:srgbClr val="C0C0C0"/>
                </a:solidFill>
              </a:rPr>
              <a:t>Unverified claim policy</a:t>
            </a:r>
          </a:p>
          <a:p>
            <a:pPr>
              <a:lnSpc>
                <a:spcPct val="150000"/>
              </a:lnSpc>
              <a:buFont typeface="Arial" charset="0"/>
              <a:buChar char="•"/>
            </a:pPr>
            <a:r>
              <a:rPr lang="en-US" sz="2800" dirty="0" smtClean="0">
                <a:solidFill>
                  <a:srgbClr val="C0C0C0"/>
                </a:solidFill>
              </a:rPr>
              <a:t>Incident only claim</a:t>
            </a:r>
          </a:p>
          <a:p>
            <a:pPr>
              <a:lnSpc>
                <a:spcPct val="150000"/>
              </a:lnSpc>
              <a:buFont typeface="Arial" charset="0"/>
              <a:buChar char="•"/>
            </a:pPr>
            <a:r>
              <a:rPr lang="en-US" sz="2800" dirty="0" smtClean="0"/>
              <a:t>Financial holds</a:t>
            </a: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|EOS~017|</a:t>
            </a:r>
            <a:endParaRPr lang="en-US" sz="100" dirty="0" err="1" smtClean="0">
              <a:solidFill>
                <a:srgbClr val="FFFFFF"/>
              </a:solidFill>
              <a:latin typeface="Arial"/>
              <a:cs typeface="Calibri" pitchFamily="34" charset="0"/>
            </a:endParaRPr>
          </a:p>
        </p:txBody>
      </p:sp>
      <p:sp>
        <p:nvSpPr>
          <p:cNvPr id="19458" name="Title 1"/>
          <p:cNvSpPr>
            <a:spLocks noGrp="1"/>
          </p:cNvSpPr>
          <p:nvPr>
            <p:ph type="title"/>
          </p:nvPr>
        </p:nvSpPr>
        <p:spPr/>
        <p:txBody>
          <a:bodyPr/>
          <a:lstStyle/>
          <a:p>
            <a:r>
              <a:rPr lang="en-US" smtClean="0"/>
              <a:t>Financial holds</a:t>
            </a:r>
          </a:p>
        </p:txBody>
      </p:sp>
      <p:sp>
        <p:nvSpPr>
          <p:cNvPr id="19459" name="Content Placeholder 2"/>
          <p:cNvSpPr>
            <a:spLocks noGrp="1"/>
          </p:cNvSpPr>
          <p:nvPr>
            <p:ph idx="1"/>
          </p:nvPr>
        </p:nvSpPr>
        <p:spPr/>
        <p:txBody>
          <a:bodyPr/>
          <a:lstStyle/>
          <a:p>
            <a:pPr>
              <a:buFont typeface="Arial" charset="0"/>
              <a:buChar char="•"/>
            </a:pPr>
            <a:r>
              <a:rPr lang="en-US" b="1" dirty="0" smtClean="0"/>
              <a:t>Financial holds </a:t>
            </a:r>
            <a:r>
              <a:rPr lang="en-US" dirty="0" smtClean="0"/>
              <a:t>are a mechanism for preventing claim cost payments and reserves while allowing for other payments types</a:t>
            </a:r>
          </a:p>
          <a:p>
            <a:pPr>
              <a:buFont typeface="Arial" charset="0"/>
              <a:buChar char="•"/>
            </a:pPr>
            <a:r>
              <a:rPr lang="en-US" dirty="0" smtClean="0"/>
              <a:t>Financial holds result from configurable claim characteristics such as</a:t>
            </a:r>
          </a:p>
          <a:p>
            <a:pPr lvl="1"/>
            <a:r>
              <a:rPr lang="en-US" dirty="0" smtClean="0"/>
              <a:t>Coverage is in question</a:t>
            </a:r>
          </a:p>
          <a:p>
            <a:pPr lvl="1"/>
            <a:r>
              <a:rPr lang="en-US" dirty="0" smtClean="0"/>
              <a:t>Claim is incident-only</a:t>
            </a:r>
          </a:p>
          <a:p>
            <a:pPr lvl="1"/>
            <a:r>
              <a:rPr lang="en-US" dirty="0" smtClean="0"/>
              <a:t>Claim policy is unverified</a:t>
            </a:r>
          </a:p>
          <a:p>
            <a:pPr>
              <a:buFont typeface="Arial" charset="0"/>
              <a:buChar char="•"/>
            </a:pPr>
            <a:r>
              <a:rPr lang="en-US" dirty="0" smtClean="0"/>
              <a:t>Hold status is not stored</a:t>
            </a:r>
          </a:p>
          <a:p>
            <a:pPr lvl="1"/>
            <a:r>
              <a:rPr lang="en-US" dirty="0" smtClean="0"/>
              <a:t>No field is set or checked</a:t>
            </a:r>
          </a:p>
          <a:p>
            <a:pPr>
              <a:buFont typeface="Arial" charset="0"/>
              <a:buChar char="•"/>
            </a:pPr>
            <a:r>
              <a:rPr lang="en-US" dirty="0" smtClean="0"/>
              <a:t>Hold status is automatically updated every time a transaction is edited</a:t>
            </a:r>
          </a:p>
          <a:p>
            <a:pPr>
              <a:buFont typeface="Arial" charset="0"/>
              <a:buNone/>
            </a:pPr>
            <a:endParaRPr lang="en-US" dirty="0" smtClean="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|EOS~018|</a:t>
            </a:r>
            <a:endParaRPr lang="en-US" sz="100" dirty="0" err="1" smtClean="0">
              <a:solidFill>
                <a:srgbClr val="FFFFFF"/>
              </a:solidFill>
              <a:latin typeface="Arial"/>
              <a:cs typeface="Calibri" pitchFamily="34" charset="0"/>
            </a:endParaRPr>
          </a:p>
        </p:txBody>
      </p:sp>
      <p:sp>
        <p:nvSpPr>
          <p:cNvPr id="20482" name="Title 1"/>
          <p:cNvSpPr>
            <a:spLocks noGrp="1"/>
          </p:cNvSpPr>
          <p:nvPr>
            <p:ph type="title"/>
          </p:nvPr>
        </p:nvSpPr>
        <p:spPr/>
        <p:txBody>
          <a:bodyPr/>
          <a:lstStyle/>
          <a:p>
            <a:r>
              <a:rPr lang="en-US" smtClean="0"/>
              <a:t>When financial holds apply</a:t>
            </a:r>
          </a:p>
        </p:txBody>
      </p:sp>
      <p:sp>
        <p:nvSpPr>
          <p:cNvPr id="20483" name="Content Placeholder 2"/>
          <p:cNvSpPr>
            <a:spLocks noGrp="1"/>
          </p:cNvSpPr>
          <p:nvPr>
            <p:ph idx="1"/>
          </p:nvPr>
        </p:nvSpPr>
        <p:spPr/>
        <p:txBody>
          <a:bodyPr/>
          <a:lstStyle/>
          <a:p>
            <a:pPr>
              <a:buFont typeface="Arial" charset="0"/>
              <a:buChar char="•"/>
            </a:pPr>
            <a:r>
              <a:rPr lang="en-US" dirty="0" smtClean="0"/>
              <a:t>Claim cost initial reserves not created</a:t>
            </a:r>
          </a:p>
          <a:p>
            <a:pPr>
              <a:buFont typeface="Arial" charset="0"/>
              <a:buChar char="•"/>
            </a:pPr>
            <a:r>
              <a:rPr lang="en-US" dirty="0" smtClean="0"/>
              <a:t>Claim cost payments and reserves are prohibited</a:t>
            </a:r>
          </a:p>
          <a:p>
            <a:pPr>
              <a:buFont typeface="Arial" charset="0"/>
              <a:buChar char="•"/>
            </a:pPr>
            <a:endParaRPr lang="en-US" dirty="0" smtClean="0"/>
          </a:p>
          <a:p>
            <a:pPr>
              <a:buFont typeface="Arial" charset="0"/>
              <a:buChar char="•"/>
            </a:pPr>
            <a:endParaRPr lang="en-US" dirty="0" smtClean="0"/>
          </a:p>
          <a:p>
            <a:pPr>
              <a:buFont typeface="Arial" charset="0"/>
              <a:buNone/>
            </a:pPr>
            <a:r>
              <a:rPr lang="en-US" dirty="0" smtClean="0"/>
              <a:t/>
            </a:r>
            <a:br>
              <a:rPr lang="en-US" dirty="0" smtClean="0"/>
            </a:br>
            <a:endParaRPr lang="en-US" sz="1200" dirty="0" smtClean="0"/>
          </a:p>
          <a:p>
            <a:pPr>
              <a:buFont typeface="Arial" charset="0"/>
              <a:buChar char="•"/>
            </a:pPr>
            <a:r>
              <a:rPr lang="en-US" dirty="0" smtClean="0"/>
              <a:t>Other payments and reserves are allowed, but the user is warned</a:t>
            </a:r>
          </a:p>
          <a:p>
            <a:pPr>
              <a:buFont typeface="Arial" charset="0"/>
              <a:buChar char="•"/>
            </a:pPr>
            <a:endParaRPr lang="en-US" dirty="0" smtClean="0"/>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7288" y="1933575"/>
            <a:ext cx="6129337" cy="17044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92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7288" y="4524375"/>
            <a:ext cx="6129337" cy="156056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|EOS~019|</a:t>
            </a:r>
            <a:endParaRPr lang="en-US" sz="100" dirty="0" err="1" smtClean="0">
              <a:solidFill>
                <a:srgbClr val="FFFFFF"/>
              </a:solidFill>
              <a:latin typeface="Arial"/>
              <a:cs typeface="Calibri" pitchFamily="34" charset="0"/>
            </a:endParaRPr>
          </a:p>
        </p:txBody>
      </p:sp>
      <p:sp>
        <p:nvSpPr>
          <p:cNvPr id="21506" name="Title 1"/>
          <p:cNvSpPr>
            <a:spLocks noGrp="1"/>
          </p:cNvSpPr>
          <p:nvPr>
            <p:ph type="title"/>
          </p:nvPr>
        </p:nvSpPr>
        <p:spPr/>
        <p:txBody>
          <a:bodyPr/>
          <a:lstStyle/>
          <a:p>
            <a:r>
              <a:rPr lang="en-US" smtClean="0"/>
              <a:t>Financial holds and initial reserves</a:t>
            </a:r>
          </a:p>
        </p:txBody>
      </p:sp>
      <p:sp>
        <p:nvSpPr>
          <p:cNvPr id="21507" name="Content Placeholder 13"/>
          <p:cNvSpPr>
            <a:spLocks noGrp="1"/>
          </p:cNvSpPr>
          <p:nvPr>
            <p:ph idx="1"/>
          </p:nvPr>
        </p:nvSpPr>
        <p:spPr>
          <a:xfrm>
            <a:off x="519113" y="714375"/>
            <a:ext cx="8318500" cy="5486400"/>
          </a:xfrm>
        </p:spPr>
        <p:txBody>
          <a:bodyPr/>
          <a:lstStyle/>
          <a:p>
            <a:pPr>
              <a:buFont typeface="Arial" charset="0"/>
              <a:buChar char="•"/>
            </a:pPr>
            <a:r>
              <a:rPr lang="en-US" dirty="0" smtClean="0"/>
              <a:t>Attempting to create initial reserves for a claim with coverage in question or unverified policy leads to validation warning:</a:t>
            </a:r>
          </a:p>
        </p:txBody>
      </p:sp>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8825" y="1514475"/>
            <a:ext cx="6229350" cy="499119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|EOS~020|</a:t>
            </a:r>
            <a:endParaRPr lang="en-US" sz="100" dirty="0" err="1" smtClean="0">
              <a:solidFill>
                <a:srgbClr val="FFFFFF"/>
              </a:solidFill>
              <a:latin typeface="Arial"/>
              <a:cs typeface="Calibri" pitchFamily="34" charset="0"/>
            </a:endParaRPr>
          </a:p>
        </p:txBody>
      </p:sp>
      <p:sp>
        <p:nvSpPr>
          <p:cNvPr id="22530" name="Rectangle 2"/>
          <p:cNvSpPr>
            <a:spLocks noGrp="1" noChangeArrowheads="1"/>
          </p:cNvSpPr>
          <p:nvPr>
            <p:ph type="title"/>
          </p:nvPr>
        </p:nvSpPr>
        <p:spPr/>
        <p:txBody>
          <a:bodyPr/>
          <a:lstStyle/>
          <a:p>
            <a:r>
              <a:rPr lang="en-US" smtClean="0"/>
              <a:t> Lesson objectives review</a:t>
            </a:r>
          </a:p>
        </p:txBody>
      </p:sp>
      <p:sp>
        <p:nvSpPr>
          <p:cNvPr id="22531" name="Rectangle 3"/>
          <p:cNvSpPr>
            <a:spLocks noGrp="1" noChangeArrowheads="1"/>
          </p:cNvSpPr>
          <p:nvPr>
            <p:ph idx="1"/>
          </p:nvPr>
        </p:nvSpPr>
        <p:spPr/>
        <p:txBody>
          <a:bodyPr/>
          <a:lstStyle/>
          <a:p>
            <a:pPr>
              <a:buFont typeface="Arial" charset="0"/>
              <a:buChar char="•"/>
            </a:pPr>
            <a:r>
              <a:rPr lang="en-US" dirty="0" smtClean="0"/>
              <a:t>You should now be able to:</a:t>
            </a:r>
          </a:p>
          <a:p>
            <a:pPr lvl="1" eaLnBrk="1" hangingPunct="1"/>
            <a:r>
              <a:rPr lang="en-US" dirty="0" smtClean="0"/>
              <a:t>Explain why some claims do not allow claim cost payments but do allow expense payments</a:t>
            </a:r>
          </a:p>
          <a:p>
            <a:pPr lvl="1" eaLnBrk="1" hangingPunct="1"/>
            <a:r>
              <a:rPr lang="en-US" dirty="0" smtClean="0"/>
              <a:t>Explain what happens when a claim’s coverage is in question</a:t>
            </a:r>
          </a:p>
          <a:p>
            <a:pPr lvl="1" eaLnBrk="1" hangingPunct="1"/>
            <a:r>
              <a:rPr lang="en-US" dirty="0" smtClean="0"/>
              <a:t>Explain when a claim's policy becomes unverified</a:t>
            </a:r>
          </a:p>
          <a:p>
            <a:pPr lvl="1" eaLnBrk="1" hangingPunct="1"/>
            <a:r>
              <a:rPr lang="en-US" dirty="0" smtClean="0"/>
              <a:t>Explain why incident only claims do not allow claim cost payments</a:t>
            </a:r>
          </a:p>
          <a:p>
            <a:pPr lvl="1" eaLnBrk="1" hangingPunct="1"/>
            <a:r>
              <a:rPr lang="en-US" dirty="0" smtClean="0"/>
              <a:t>Explain how claim cost payments can be prevented using financial holds</a:t>
            </a: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|EOS~021|</a:t>
            </a:r>
            <a:endParaRPr lang="en-US" sz="100" dirty="0" err="1" smtClean="0">
              <a:solidFill>
                <a:srgbClr val="FFFFFF"/>
              </a:solidFill>
              <a:latin typeface="Arial"/>
              <a:cs typeface="Calibri" pitchFamily="34" charset="0"/>
            </a:endParaRPr>
          </a:p>
        </p:txBody>
      </p:sp>
      <p:sp>
        <p:nvSpPr>
          <p:cNvPr id="23554" name="Rectangle 2"/>
          <p:cNvSpPr>
            <a:spLocks noGrp="1" noChangeArrowheads="1"/>
          </p:cNvSpPr>
          <p:nvPr>
            <p:ph type="title"/>
          </p:nvPr>
        </p:nvSpPr>
        <p:spPr/>
        <p:txBody>
          <a:bodyPr/>
          <a:lstStyle/>
          <a:p>
            <a:pPr eaLnBrk="1" hangingPunct="1"/>
            <a:r>
              <a:rPr lang="en-US" smtClean="0"/>
              <a:t>Review questions</a:t>
            </a:r>
          </a:p>
        </p:txBody>
      </p:sp>
      <p:sp>
        <p:nvSpPr>
          <p:cNvPr id="23555" name="Rectangle 45"/>
          <p:cNvSpPr>
            <a:spLocks noGrp="1" noChangeArrowheads="1"/>
          </p:cNvSpPr>
          <p:nvPr>
            <p:ph idx="1"/>
          </p:nvPr>
        </p:nvSpPr>
        <p:spPr/>
        <p:txBody>
          <a:bodyPr/>
          <a:lstStyle/>
          <a:p>
            <a:pPr marL="457200" indent="-457200">
              <a:buFont typeface="Webdings" pitchFamily="18" charset="2"/>
              <a:buAutoNum type="arabicPeriod"/>
            </a:pPr>
            <a:r>
              <a:rPr lang="en-US" smtClean="0"/>
              <a:t>What happens when a claim is subject to financial holds?</a:t>
            </a:r>
          </a:p>
          <a:p>
            <a:pPr marL="457200" indent="-457200">
              <a:buFont typeface="Webdings" pitchFamily="18" charset="2"/>
              <a:buAutoNum type="arabicPeriod"/>
            </a:pPr>
            <a:r>
              <a:rPr lang="en-US" smtClean="0"/>
              <a:t>What are the three basic triggers for financial holds?</a:t>
            </a:r>
          </a:p>
          <a:p>
            <a:pPr marL="457200" indent="-457200">
              <a:buFont typeface="Webdings" pitchFamily="18" charset="2"/>
              <a:buAutoNum type="arabicPeriod"/>
            </a:pPr>
            <a:r>
              <a:rPr lang="en-US" smtClean="0"/>
              <a:t>Can you configure additional reasons to trigger financial holds?</a:t>
            </a:r>
          </a:p>
          <a:p>
            <a:pPr marL="457200" indent="-457200">
              <a:buFont typeface="Webdings" pitchFamily="18" charset="2"/>
              <a:buAutoNum type="arabicPeriod"/>
            </a:pPr>
            <a:r>
              <a:rPr lang="en-US" smtClean="0"/>
              <a:t>When is the "Incident only?" field on a claim automatically set?</a:t>
            </a:r>
          </a:p>
          <a:p>
            <a:pPr marL="457200" indent="-457200">
              <a:buFont typeface="Webdings" pitchFamily="18" charset="2"/>
              <a:buAutoNum type="arabicPeriod"/>
            </a:pPr>
            <a:r>
              <a:rPr lang="en-US" smtClean="0"/>
              <a:t>When is the "Coverage in Question" field on a claim automatically set?</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43978"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|EOS~022|</a:t>
            </a:r>
            <a:endParaRPr lang="en-US" sz="100" dirty="0" err="1" smtClean="0">
              <a:solidFill>
                <a:srgbClr val="FFFFFF"/>
              </a:solidFill>
              <a:latin typeface="Arial"/>
              <a:cs typeface="Calibri" pitchFamily="34" charset="0"/>
            </a:endParaRPr>
          </a:p>
        </p:txBody>
      </p:sp>
      <p:sp>
        <p:nvSpPr>
          <p:cNvPr id="51202" name="Rectangle 2"/>
          <p:cNvSpPr>
            <a:spLocks noGrp="1" noChangeArrowheads="1"/>
          </p:cNvSpPr>
          <p:nvPr>
            <p:ph type="title"/>
          </p:nvPr>
        </p:nvSpPr>
        <p:spPr/>
        <p:txBody>
          <a:bodyPr/>
          <a:lstStyle/>
          <a:p>
            <a:pPr eaLnBrk="1" hangingPunct="1"/>
            <a:r>
              <a:rPr lang="en-US" smtClean="0"/>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smtClean="0"/>
              <a:t>Copyright </a:t>
            </a:r>
            <a:r>
              <a:rPr lang="en-US" sz="1600" b="1" smtClean="0"/>
              <a:t>© 2001-2014 </a:t>
            </a:r>
            <a:r>
              <a:rPr lang="en-US" sz="1600" b="1" dirty="0" smtClean="0"/>
              <a:t>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a:t>
            </a:r>
            <a:r>
              <a:rPr lang="en-US" sz="1600"/>
              <a:t>, Guidewire ExampleCenter, Guidewire Account Manager Portal, Guidewire </a:t>
            </a:r>
            <a:r>
              <a:rPr lang="en-US" sz="1600" smtClean="0"/>
              <a:t>Claim </a:t>
            </a:r>
            <a:r>
              <a:rPr lang="en-US" sz="1600"/>
              <a:t>Portal, Guidewire Policyholder Portal, ClaimCenter, BillingCenter, PolicyCenter, InsuranceSuite, Gosu, </a:t>
            </a:r>
            <a:r>
              <a:rPr lang="en-US" sz="1600" smtClean="0"/>
              <a:t>Deliver </a:t>
            </a:r>
            <a:r>
              <a:rPr lang="en-US" sz="1600" dirty="0"/>
              <a:t>Insurance Your Way, and the Guidewire logo are trademarks, service marks, or registered trademarks of Guidewire Software, Inc. </a:t>
            </a:r>
            <a:r>
              <a:rPr lang="en-US" sz="1600"/>
              <a:t>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a:t>
            </a:r>
            <a:r>
              <a:rPr lang="en-US" sz="1600" dirty="0"/>
              <a:t>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1861141954"/>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6E54FE6-8158-4C93-BDC0-926E96081FEC}"/>
</file>

<file path=customXml/itemProps2.xml><?xml version="1.0" encoding="utf-8"?>
<ds:datastoreItem xmlns:ds="http://schemas.openxmlformats.org/officeDocument/2006/customXml" ds:itemID="{FA6985FF-2A47-40A1-A4A4-EDBBFCCE9D6D}"/>
</file>

<file path=customXml/itemProps3.xml><?xml version="1.0" encoding="utf-8"?>
<ds:datastoreItem xmlns:ds="http://schemas.openxmlformats.org/officeDocument/2006/customXml" ds:itemID="{89209F31-C023-42BD-B5D5-A477A5CE1FD8}"/>
</file>

<file path=docProps/app.xml><?xml version="1.0" encoding="utf-8"?>
<Properties xmlns="http://schemas.openxmlformats.org/officeDocument/2006/extended-properties" xmlns:vt="http://schemas.openxmlformats.org/officeDocument/2006/docPropsVTypes">
  <Template/>
  <TotalTime>22216</TotalTime>
  <Words>1709</Words>
  <Application>Microsoft Office PowerPoint</Application>
  <PresentationFormat>On-screen Show (4:3)</PresentationFormat>
  <Paragraphs>238</Paragraphs>
  <Slides>22</Slides>
  <Notes>22</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1_test-template</vt:lpstr>
      <vt:lpstr>Financial Holds</vt:lpstr>
      <vt:lpstr>Lesson objectives</vt:lpstr>
      <vt:lpstr>Lesson outline</vt:lpstr>
      <vt:lpstr>Preventing claim cost payments</vt:lpstr>
      <vt:lpstr>Lesson outline</vt:lpstr>
      <vt:lpstr>Coverage in question</vt:lpstr>
      <vt:lpstr>Setting coverage in question</vt:lpstr>
      <vt:lpstr>Setting coverage in question field manually</vt:lpstr>
      <vt:lpstr>Setting coverage in question during claim creation</vt:lpstr>
      <vt:lpstr>Coverage in question set to yes</vt:lpstr>
      <vt:lpstr>Setting coverage in question automatically</vt:lpstr>
      <vt:lpstr>Lesson outline</vt:lpstr>
      <vt:lpstr>Unverified claim policy</vt:lpstr>
      <vt:lpstr>Lesson outline</vt:lpstr>
      <vt:lpstr>Incident only claim</vt:lpstr>
      <vt:lpstr>Lesson outline</vt:lpstr>
      <vt:lpstr>Financial holds</vt:lpstr>
      <vt:lpstr>When financial holds apply</vt:lpstr>
      <vt:lpstr>Financial holds and initial reserves</vt:lpstr>
      <vt:lpstr> Lesson objectives review</vt:lpstr>
      <vt:lpstr>Review questions</vt:lpstr>
      <vt:lpstr>Notices</vt:lpstr>
    </vt:vector>
  </TitlesOfParts>
  <Company>Guidewire Software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Holds</dc:title>
  <dc:subject>ClaimCenter 4.0 Foundation Training</dc:subject>
  <dc:creator>Guidewire</dc:creator>
  <dc:description>DO NOT DISTRIBUTE WITHOUT PERMISSION!</dc:description>
  <cp:lastModifiedBy>ncabell</cp:lastModifiedBy>
  <cp:revision>2548</cp:revision>
  <dcterms:created xsi:type="dcterms:W3CDTF">2007-08-02T20:13:16Z</dcterms:created>
  <dcterms:modified xsi:type="dcterms:W3CDTF">2015-02-04T22:53:37Z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Order">
    <vt:r8>70900</vt:r8>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y fmtid="{D5CDD505-2E9C-101B-9397-08002B2CF9AE}" pid="13" name="xd_Signature">
    <vt:bool>false</vt:bool>
  </property>
</Properties>
</file>