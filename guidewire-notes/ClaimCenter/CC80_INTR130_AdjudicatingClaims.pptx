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8.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9.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s/slide1.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notesSlides/notesSlide23.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19.xml" ContentType="application/vnd.openxmlformats-officedocument.presentationml.notesSlide+xml"/>
  <Override PartName="/ppt/slideMasters/slideMaster1.xml" ContentType="application/vnd.openxmlformats-officedocument.presentationml.slideMaster+xml"/>
  <Override PartName="/ppt/notesSlides/notesSlide2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1"/>
  </p:notesMasterIdLst>
  <p:handoutMasterIdLst>
    <p:handoutMasterId r:id="rId32"/>
  </p:handoutMasterIdLst>
  <p:sldIdLst>
    <p:sldId id="1192" r:id="rId2"/>
    <p:sldId id="1267" r:id="rId3"/>
    <p:sldId id="1268" r:id="rId4"/>
    <p:sldId id="1269" r:id="rId5"/>
    <p:sldId id="1270" r:id="rId6"/>
    <p:sldId id="1271" r:id="rId7"/>
    <p:sldId id="1272" r:id="rId8"/>
    <p:sldId id="1273" r:id="rId9"/>
    <p:sldId id="1274" r:id="rId10"/>
    <p:sldId id="1275" r:id="rId11"/>
    <p:sldId id="1276" r:id="rId12"/>
    <p:sldId id="1299" r:id="rId13"/>
    <p:sldId id="1300" r:id="rId14"/>
    <p:sldId id="1280" r:id="rId15"/>
    <p:sldId id="1283" r:id="rId16"/>
    <p:sldId id="1284" r:id="rId17"/>
    <p:sldId id="1285" r:id="rId18"/>
    <p:sldId id="1286" r:id="rId19"/>
    <p:sldId id="1287" r:id="rId20"/>
    <p:sldId id="1289" r:id="rId21"/>
    <p:sldId id="1291" r:id="rId22"/>
    <p:sldId id="1292" r:id="rId23"/>
    <p:sldId id="1293" r:id="rId24"/>
    <p:sldId id="1294" r:id="rId25"/>
    <p:sldId id="1295" r:id="rId26"/>
    <p:sldId id="1296" r:id="rId27"/>
    <p:sldId id="1297" r:id="rId28"/>
    <p:sldId id="1298" r:id="rId29"/>
    <p:sldId id="1301" r:id="rId30"/>
  </p:sldIdLst>
  <p:sldSz cx="9144000" cy="6858000" type="screen4x3"/>
  <p:notesSz cx="6858000" cy="9296400"/>
  <p:defaultTextStyle>
    <a:defPPr>
      <a:defRPr lang="en-US"/>
    </a:defPPr>
    <a:lvl1pPr algn="ctr" rtl="0" eaLnBrk="0" fontAlgn="base" hangingPunct="0">
      <a:spcBef>
        <a:spcPct val="50000"/>
      </a:spcBef>
      <a:spcAft>
        <a:spcPct val="0"/>
      </a:spcAft>
      <a:buClr>
        <a:srgbClr val="0146AD"/>
      </a:buClr>
      <a:buFont typeface="Wingdings" pitchFamily="2" charset="2"/>
      <a:buChar char="–"/>
      <a:defRPr sz="1400" kern="1200">
        <a:solidFill>
          <a:schemeClr val="bg1"/>
        </a:solidFill>
        <a:latin typeface="Arial" charset="0"/>
        <a:ea typeface="+mn-ea"/>
        <a:cs typeface="+mn-cs"/>
      </a:defRPr>
    </a:lvl1pPr>
    <a:lvl2pPr marL="457200" algn="ctr" rtl="0" eaLnBrk="0" fontAlgn="base" hangingPunct="0">
      <a:spcBef>
        <a:spcPct val="50000"/>
      </a:spcBef>
      <a:spcAft>
        <a:spcPct val="0"/>
      </a:spcAft>
      <a:buClr>
        <a:srgbClr val="0146AD"/>
      </a:buClr>
      <a:buFont typeface="Wingdings" pitchFamily="2" charset="2"/>
      <a:buChar char="–"/>
      <a:defRPr sz="1400" kern="1200">
        <a:solidFill>
          <a:schemeClr val="bg1"/>
        </a:solidFill>
        <a:latin typeface="Arial" charset="0"/>
        <a:ea typeface="+mn-ea"/>
        <a:cs typeface="+mn-cs"/>
      </a:defRPr>
    </a:lvl2pPr>
    <a:lvl3pPr marL="914400" algn="ctr" rtl="0" eaLnBrk="0" fontAlgn="base" hangingPunct="0">
      <a:spcBef>
        <a:spcPct val="50000"/>
      </a:spcBef>
      <a:spcAft>
        <a:spcPct val="0"/>
      </a:spcAft>
      <a:buClr>
        <a:srgbClr val="0146AD"/>
      </a:buClr>
      <a:buFont typeface="Wingdings" pitchFamily="2" charset="2"/>
      <a:buChar char="–"/>
      <a:defRPr sz="1400" kern="1200">
        <a:solidFill>
          <a:schemeClr val="bg1"/>
        </a:solidFill>
        <a:latin typeface="Arial" charset="0"/>
        <a:ea typeface="+mn-ea"/>
        <a:cs typeface="+mn-cs"/>
      </a:defRPr>
    </a:lvl3pPr>
    <a:lvl4pPr marL="1371600" algn="ctr" rtl="0" eaLnBrk="0" fontAlgn="base" hangingPunct="0">
      <a:spcBef>
        <a:spcPct val="50000"/>
      </a:spcBef>
      <a:spcAft>
        <a:spcPct val="0"/>
      </a:spcAft>
      <a:buClr>
        <a:srgbClr val="0146AD"/>
      </a:buClr>
      <a:buFont typeface="Wingdings" pitchFamily="2" charset="2"/>
      <a:buChar char="–"/>
      <a:defRPr sz="1400" kern="1200">
        <a:solidFill>
          <a:schemeClr val="bg1"/>
        </a:solidFill>
        <a:latin typeface="Arial" charset="0"/>
        <a:ea typeface="+mn-ea"/>
        <a:cs typeface="+mn-cs"/>
      </a:defRPr>
    </a:lvl4pPr>
    <a:lvl5pPr marL="1828800" algn="ctr" rtl="0" eaLnBrk="0" fontAlgn="base" hangingPunct="0">
      <a:spcBef>
        <a:spcPct val="50000"/>
      </a:spcBef>
      <a:spcAft>
        <a:spcPct val="0"/>
      </a:spcAft>
      <a:buClr>
        <a:srgbClr val="0146AD"/>
      </a:buClr>
      <a:buFont typeface="Wingdings" pitchFamily="2" charset="2"/>
      <a:buChar cha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1"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000099"/>
    <a:srgbClr val="000066"/>
    <a:srgbClr val="993300"/>
    <a:srgbClr val="003399"/>
    <a:srgbClr val="FF6600"/>
    <a:srgbClr val="777777"/>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639" autoAdjust="0"/>
    <p:restoredTop sz="83309" autoAdjust="0"/>
  </p:normalViewPr>
  <p:slideViewPr>
    <p:cSldViewPr snapToGrid="0">
      <p:cViewPr>
        <p:scale>
          <a:sx n="76" d="100"/>
          <a:sy n="76" d="100"/>
        </p:scale>
        <p:origin x="-2286" y="-852"/>
      </p:cViewPr>
      <p:guideLst>
        <p:guide orient="horz" pos="2160"/>
        <p:guide pos="2880"/>
      </p:guideLst>
    </p:cSldViewPr>
  </p:slideViewPr>
  <p:outlineViewPr>
    <p:cViewPr>
      <p:scale>
        <a:sx n="25" d="100"/>
        <a:sy n="25"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p:scale>
          <a:sx n="60" d="100"/>
          <a:sy n="60" d="100"/>
        </p:scale>
        <p:origin x="-4326" y="-1146"/>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38"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40"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eaLnBrk="1" hangingPunct="1">
              <a:spcBef>
                <a:spcPct val="0"/>
              </a:spcBef>
              <a:buClrTx/>
              <a:buFontTx/>
              <a:buNone/>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eaLnBrk="1" hangingPunct="1">
              <a:spcBef>
                <a:spcPct val="0"/>
              </a:spcBef>
              <a:buClrTx/>
              <a:buFontTx/>
              <a:buNone/>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eaLnBrk="1" hangingPunct="1">
              <a:spcBef>
                <a:spcPct val="0"/>
              </a:spcBef>
              <a:buClrTx/>
              <a:buFontTx/>
              <a:buNone/>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eaLnBrk="1" hangingPunct="1">
              <a:spcBef>
                <a:spcPct val="0"/>
              </a:spcBef>
              <a:buClrTx/>
              <a:buFontTx/>
              <a:buNone/>
              <a:defRPr sz="1200" b="1">
                <a:solidFill>
                  <a:schemeClr val="tx1"/>
                </a:solidFill>
                <a:latin typeface="Times New Roman" pitchFamily="18" charset="0"/>
              </a:defRPr>
            </a:lvl1pPr>
          </a:lstStyle>
          <a:p>
            <a:pPr>
              <a:defRPr/>
            </a:pPr>
            <a:fld id="{9EE4EE5B-C51B-4E9A-B9E2-0E687A85C6E9}" type="slidenum">
              <a:rPr lang="en-US" altLang="en-US"/>
              <a:pPr>
                <a:defRPr/>
              </a:pPr>
              <a:t>‹#›</a:t>
            </a:fld>
            <a:endParaRPr lang="en-US" altLang="en-US"/>
          </a:p>
        </p:txBody>
      </p:sp>
    </p:spTree>
    <p:extLst>
      <p:ext uri="{BB962C8B-B14F-4D97-AF65-F5344CB8AC3E}">
        <p14:creationId xmlns:p14="http://schemas.microsoft.com/office/powerpoint/2010/main" val="260800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a:lnSpc>
                <a:spcPts val="1875"/>
              </a:lnSpc>
              <a:spcBef>
                <a:spcPts val="625"/>
              </a:spcBef>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a:lnSpc>
                <a:spcPts val="1875"/>
              </a:lnSpc>
              <a:spcBef>
                <a:spcPts val="625"/>
              </a:spcBef>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BFFB8EE3-8D58-48BC-9BBC-836DF04F170A}" type="slidenum">
              <a:rPr lang="en-US" sz="1100" i="1">
                <a:solidFill>
                  <a:srgbClr val="000000"/>
                </a:solidFill>
                <a:latin typeface="Times New Roman" pitchFamily="18" charset="0"/>
                <a:cs typeface="Times New Roman" pitchFamily="18" charset="0"/>
              </a:rPr>
              <a:pPr algn="r" defTabSz="942975">
                <a:lnSpc>
                  <a:spcPts val="1875"/>
                </a:lnSpc>
                <a:spcBef>
                  <a:spcPts val="625"/>
                </a:spcBef>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eaLnBrk="1" hangingPunct="1">
              <a:spcBef>
                <a:spcPct val="0"/>
              </a:spcBef>
              <a:buClrTx/>
              <a:buFontTx/>
              <a:buNone/>
              <a:tabLst>
                <a:tab pos="2743200" algn="ctr"/>
              </a:tabLst>
              <a:defRPr sz="1200">
                <a:solidFill>
                  <a:schemeClr val="tx1"/>
                </a:solidFill>
                <a:latin typeface="Arial" charset="0"/>
              </a:defRPr>
            </a:lvl1pPr>
          </a:lstStyle>
          <a:p>
            <a:pPr>
              <a:defRPr/>
            </a:pPr>
            <a:r>
              <a:rPr lang="en-US" altLang="en-US"/>
              <a:t>	Adjudicating Claims - </a:t>
            </a:r>
            <a:fld id="{6DDE4CEB-D19F-4DA6-A85A-32705AE8AE7D}" type="slidenum">
              <a:rPr lang="en-US" altLang="en-US"/>
              <a:pPr>
                <a:defRPr/>
              </a:pPr>
              <a:t>‹#›</a:t>
            </a:fld>
            <a:endParaRPr lang="en-US" altLang="en-US"/>
          </a:p>
        </p:txBody>
      </p:sp>
    </p:spTree>
    <p:extLst>
      <p:ext uri="{BB962C8B-B14F-4D97-AF65-F5344CB8AC3E}">
        <p14:creationId xmlns:p14="http://schemas.microsoft.com/office/powerpoint/2010/main" val="1563364545"/>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image" Target="../media/image15.png"/></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|EON~001|</a:t>
            </a:r>
            <a:endParaRPr lang="en-US" sz="100">
              <a:solidFill>
                <a:srgbClr val="FFFFFF"/>
              </a:solidFill>
              <a:latin typeface="Arial"/>
            </a:endParaRPr>
          </a:p>
        </p:txBody>
      </p:sp>
      <p:sp>
        <p:nvSpPr>
          <p:cNvPr id="348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48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63999999-0E44-4355-AF23-F156A4881E6F}" type="slidenum">
              <a:rPr lang="en-US" altLang="en-US" sz="1200" smtClean="0">
                <a:solidFill>
                  <a:schemeClr val="tx1"/>
                </a:solidFill>
              </a:rPr>
              <a:pPr/>
              <a:t>1</a:t>
            </a:fld>
            <a:endParaRPr lang="en-US" altLang="en-US" sz="1200" smtClean="0">
              <a:solidFill>
                <a:schemeClr val="tx1"/>
              </a:solidFill>
            </a:endParaRPr>
          </a:p>
        </p:txBody>
      </p:sp>
      <p:sp>
        <p:nvSpPr>
          <p:cNvPr id="34820" name="Rectangle 2"/>
          <p:cNvSpPr>
            <a:spLocks noGrp="1" noRot="1" noChangeAspect="1" noChangeArrowheads="1" noTextEdit="1"/>
          </p:cNvSpPr>
          <p:nvPr>
            <p:ph type="sldImg"/>
          </p:nvPr>
        </p:nvSpPr>
        <p:spPr>
          <a:xfrm>
            <a:off x="715963" y="630238"/>
            <a:ext cx="5430837" cy="4073525"/>
          </a:xfrm>
          <a:ln/>
        </p:spPr>
      </p:sp>
      <p:sp>
        <p:nvSpPr>
          <p:cNvPr id="348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|EON~002|</a:t>
            </a:r>
            <a:endParaRPr lang="en-US" sz="100">
              <a:solidFill>
                <a:srgbClr val="FFFFFF"/>
              </a:solidFill>
              <a:latin typeface="Arial"/>
            </a:endParaRPr>
          </a:p>
        </p:txBody>
      </p:sp>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D2B733EE-BBB2-437F-A79D-286CB460E2BF}" type="slidenum">
              <a:rPr lang="en-US" altLang="en-US" sz="1200" smtClean="0">
                <a:solidFill>
                  <a:schemeClr val="tx1"/>
                </a:solidFill>
              </a:rPr>
              <a:pPr/>
              <a:t>2</a:t>
            </a:fld>
            <a:endParaRPr lang="en-US" altLang="en-US" sz="1200" smtClean="0">
              <a:solidFill>
                <a:schemeClr val="tx1"/>
              </a:solidFill>
            </a:endParaRPr>
          </a:p>
        </p:txBody>
      </p:sp>
      <p:sp>
        <p:nvSpPr>
          <p:cNvPr id="35844" name="Rectangle 2"/>
          <p:cNvSpPr>
            <a:spLocks noGrp="1" noRot="1" noChangeAspect="1" noChangeArrowheads="1" noTextEdit="1"/>
          </p:cNvSpPr>
          <p:nvPr>
            <p:ph type="sldImg"/>
          </p:nvPr>
        </p:nvSpPr>
        <p:spPr>
          <a:xfrm>
            <a:off x="715963" y="630238"/>
            <a:ext cx="5432425" cy="4073525"/>
          </a:xfrm>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|EON~003|</a:t>
            </a:r>
            <a:endParaRPr lang="en-US" sz="100">
              <a:solidFill>
                <a:srgbClr val="FFFFFF"/>
              </a:solidFill>
              <a:latin typeface="Arial"/>
            </a:endParaRPr>
          </a:p>
        </p:txBody>
      </p:sp>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63085110-0256-4E51-B3E3-FD4CB25B72BE}" type="slidenum">
              <a:rPr lang="en-US" altLang="en-US" sz="1200" smtClean="0">
                <a:solidFill>
                  <a:schemeClr val="tx1"/>
                </a:solidFill>
              </a:rPr>
              <a:pPr/>
              <a:t>3</a:t>
            </a:fld>
            <a:endParaRPr lang="en-US" altLang="en-US" sz="1200" smtClean="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|EON~004|</a:t>
            </a:r>
            <a:endParaRPr lang="en-US" sz="100">
              <a:solidFill>
                <a:srgbClr val="FFFFFF"/>
              </a:solidFill>
              <a:latin typeface="Arial"/>
            </a:endParaRPr>
          </a:p>
        </p:txBody>
      </p:sp>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5EB9E135-4F9E-4042-BCE6-EB6DFF4A33F9}" type="slidenum">
              <a:rPr lang="en-US" altLang="en-US" sz="1200" smtClean="0">
                <a:solidFill>
                  <a:schemeClr val="tx1"/>
                </a:solidFill>
              </a:rPr>
              <a:pPr/>
              <a:t>4</a:t>
            </a:fld>
            <a:endParaRPr lang="en-US" altLang="en-US" sz="1200" smtClean="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Adjudication can be thought of as everything that takes place between the creation of the claim (intake) and the payment of the claim (payment).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|EON~005|</a:t>
            </a:r>
            <a:endParaRPr lang="en-US" sz="100">
              <a:solidFill>
                <a:srgbClr val="FFFFFF"/>
              </a:solidFill>
              <a:latin typeface="Arial"/>
            </a:endParaRPr>
          </a:p>
        </p:txBody>
      </p:sp>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892C1887-BDF9-4993-994E-4F8F35D6B19F}" type="slidenum">
              <a:rPr lang="en-US" altLang="en-US" sz="1200" smtClean="0">
                <a:solidFill>
                  <a:schemeClr val="tx1"/>
                </a:solidFill>
              </a:rPr>
              <a:pPr/>
              <a:t>5</a:t>
            </a:fld>
            <a:endParaRPr lang="en-US" altLang="en-US" sz="1200" smtClean="0">
              <a:solidFill>
                <a:schemeClr val="tx1"/>
              </a:solidFill>
            </a:endParaRPr>
          </a:p>
        </p:txBody>
      </p:sp>
      <p:sp>
        <p:nvSpPr>
          <p:cNvPr id="38916" name="Rectangle 2"/>
          <p:cNvSpPr>
            <a:spLocks noGrp="1" noRot="1" noChangeAspect="1" noChangeArrowheads="1" noTextEdit="1"/>
          </p:cNvSpPr>
          <p:nvPr>
            <p:ph type="sldImg"/>
          </p:nvPr>
        </p:nvSpPr>
        <p:spPr>
          <a:xfrm>
            <a:off x="715963" y="630238"/>
            <a:ext cx="5432425" cy="4073525"/>
          </a:xfrm>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claim and each of its exposure has a maturity level, often referred to as a validation level. Typically, the final level is "ability to pay". When a claim is at ability to pay, checks can be written for it. When an exposure is at ability to pay, the money in its reserve line(s) can be used for checks. Gaining the ability to write checks against a claim and using the reserve lines of its exposures is a prerequisite to making payments.</a:t>
            </a:r>
          </a:p>
          <a:p>
            <a:pPr eaLnBrk="1" hangingPunct="1"/>
            <a:r>
              <a:rPr lang="en-US" smtClean="0"/>
              <a:t>In many cases, the claim and its exposures become payable as a natural result of the completion of all of the activities. However, the two are not required to be functionally connected. Therefore, it is possible that all activities could be complete and yet the claim or one of its exposures is not payable. (It is also possible that a claim and all of its exposures are payable, but there are still open activities.)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|EON~006|</a:t>
            </a:r>
            <a:endParaRPr lang="en-US" sz="100">
              <a:solidFill>
                <a:srgbClr val="FFFFFF"/>
              </a:solidFill>
              <a:latin typeface="Arial"/>
            </a:endParaRPr>
          </a:p>
        </p:txBody>
      </p:sp>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90FB60E8-E1B7-4CAE-BFBF-AB18CB07A698}" type="slidenum">
              <a:rPr lang="en-US" altLang="en-US" sz="1200" smtClean="0">
                <a:solidFill>
                  <a:schemeClr val="tx1"/>
                </a:solidFill>
              </a:rPr>
              <a:pPr/>
              <a:t>6</a:t>
            </a:fld>
            <a:endParaRPr lang="en-US" altLang="en-US" sz="1200" smtClean="0">
              <a:solidFill>
                <a:schemeClr val="tx1"/>
              </a:solidFill>
            </a:endParaRPr>
          </a:p>
        </p:txBody>
      </p:sp>
      <p:sp>
        <p:nvSpPr>
          <p:cNvPr id="39940" name="Rectangle 2"/>
          <p:cNvSpPr>
            <a:spLocks noGrp="1" noRot="1" noChangeAspect="1" noChangeArrowheads="1" noTextEdit="1"/>
          </p:cNvSpPr>
          <p:nvPr>
            <p:ph type="sldImg"/>
          </p:nvPr>
        </p:nvSpPr>
        <p:spPr>
          <a:xfrm>
            <a:off x="715963" y="630238"/>
            <a:ext cx="5432425" cy="4073525"/>
          </a:xfrm>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There can be two issues around the existence of a coverage. 1) Was the coverage in effect at the time of the loss? 2) Do any of the coverages on the policy cover the loss? In some cases, a claim is not paid because the policy was not in effect, the policy was in effect but the appropriate coverage was not effective at the time of the loss, or there is no coverage on the policy that covers the loss the insured suffered.</a:t>
            </a:r>
          </a:p>
          <a:p>
            <a:pPr eaLnBrk="1" hangingPunct="1"/>
            <a:r>
              <a:rPr lang="en-US" smtClean="0"/>
              <a:t>The two most common coverage terms that are relevant to claims are deductibles and limits. If the loss suffered by the insured is less than or equal to the deductible, then the carrier does not have to issue a payment. The amount of the payment has an upper bounds of any limit placed on the coverage.</a:t>
            </a:r>
          </a:p>
          <a:p>
            <a:pPr eaLnBrk="1" hangingPunct="1"/>
            <a:r>
              <a:rPr lang="en-US" smtClean="0"/>
              <a:t>Metropolitan Reporting Bureau provides a nationwide police accident and incident reports service in the United States. (This is often referred to casually as "metro reports".) Many insurance carriers use this system to obtain police accident and incident reports to improve record-keeping and to reduce fraud. ClaimCenter’s built-in support for this service decreases deployment time for Metropolitan Reporting Bureau integration projects, particularly for personal lines carriers. For more information about Metropolitan’s services, refer to their web site: http://www.metroreporting.com.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|EON~007|</a:t>
            </a:r>
            <a:endParaRPr lang="en-US" sz="100">
              <a:solidFill>
                <a:srgbClr val="FFFFFF"/>
              </a:solidFill>
              <a:latin typeface="Arial"/>
            </a:endParaRPr>
          </a:p>
        </p:txBody>
      </p:sp>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297625F2-E4DD-4172-B9C4-D7272BD2E781}" type="slidenum">
              <a:rPr lang="en-US" altLang="en-US" sz="1200" smtClean="0">
                <a:solidFill>
                  <a:schemeClr val="tx1"/>
                </a:solidFill>
              </a:rPr>
              <a:pPr/>
              <a:t>7</a:t>
            </a:fld>
            <a:endParaRPr lang="en-US" altLang="en-US" sz="1200" smtClean="0">
              <a:solidFill>
                <a:schemeClr val="tx1"/>
              </a:solidFill>
            </a:endParaRPr>
          </a:p>
        </p:txBody>
      </p:sp>
      <p:sp>
        <p:nvSpPr>
          <p:cNvPr id="40964" name="Rectangle 2"/>
          <p:cNvSpPr>
            <a:spLocks noGrp="1" noRot="1" noChangeAspect="1" noChangeArrowheads="1" noTextEdit="1"/>
          </p:cNvSpPr>
          <p:nvPr>
            <p:ph type="sldImg"/>
          </p:nvPr>
        </p:nvSpPr>
        <p:spPr>
          <a:xfrm>
            <a:off x="715963" y="630238"/>
            <a:ext cx="5432425" cy="4073525"/>
          </a:xfrm>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|EON~008|</a:t>
            </a:r>
            <a:endParaRPr lang="en-US" sz="100">
              <a:solidFill>
                <a:srgbClr val="FFFFFF"/>
              </a:solidFill>
              <a:latin typeface="Arial"/>
            </a:endParaRPr>
          </a:p>
        </p:txBody>
      </p:sp>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2329282E-5020-469E-9683-0F86F916D501}" type="slidenum">
              <a:rPr lang="en-US" altLang="en-US" sz="1200" smtClean="0">
                <a:solidFill>
                  <a:schemeClr val="tx1"/>
                </a:solidFill>
              </a:rPr>
              <a:pPr/>
              <a:t>8</a:t>
            </a:fld>
            <a:endParaRPr lang="en-US" altLang="en-US" sz="1200" smtClean="0">
              <a:solidFill>
                <a:schemeClr val="tx1"/>
              </a:solidFill>
            </a:endParaRPr>
          </a:p>
        </p:txBody>
      </p:sp>
      <p:sp>
        <p:nvSpPr>
          <p:cNvPr id="41988" name="Rectangle 2"/>
          <p:cNvSpPr>
            <a:spLocks noGrp="1" noRot="1" noChangeAspect="1" noChangeArrowheads="1" noTextEdit="1"/>
          </p:cNvSpPr>
          <p:nvPr>
            <p:ph type="sldImg"/>
          </p:nvPr>
        </p:nvSpPr>
        <p:spPr>
          <a:xfrm>
            <a:off x="715963" y="630238"/>
            <a:ext cx="5432425" cy="4073525"/>
          </a:xfrm>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adjudication functionality needed within ClaimCenter varies widely...</a:t>
            </a:r>
          </a:p>
          <a:p>
            <a:pPr marL="228600" lvl="1" indent="0" eaLnBrk="1" hangingPunct="1">
              <a:buNone/>
            </a:pPr>
            <a:r>
              <a:rPr lang="en-US" dirty="0" smtClean="0"/>
              <a:t>...from carrier to carrier</a:t>
            </a:r>
          </a:p>
          <a:p>
            <a:pPr marL="228600" lvl="1" indent="0" eaLnBrk="1" hangingPunct="1">
              <a:buNone/>
            </a:pPr>
            <a:r>
              <a:rPr lang="en-US" dirty="0" smtClean="0"/>
              <a:t>...from one line of business to the next</a:t>
            </a:r>
          </a:p>
          <a:p>
            <a:pPr eaLnBrk="1" hangingPunct="1"/>
            <a:r>
              <a:rPr lang="en-US" dirty="0" smtClean="0"/>
              <a:t>Therefore, this lesson discusses possible approaches to common adjudication requirements for each primary line of business, but it does not attempt to comprehensively cover every issue and approach every carrier might take.</a:t>
            </a:r>
          </a:p>
          <a:p>
            <a:pPr eaLnBrk="1" hangingPunct="1"/>
            <a:r>
              <a:rPr lang="en-US" dirty="0" smtClean="0"/>
              <a:t>The details listed above could be relevant for the following reasons:</a:t>
            </a:r>
          </a:p>
          <a:p>
            <a:pPr lvl="1" eaLnBrk="1" hangingPunct="1"/>
            <a:r>
              <a:rPr lang="en-US" dirty="0" smtClean="0"/>
              <a:t>Party at fault (Fault Rating) - This is used to determine who has the liability for the damage. It can impact who is responsible for paying losses. (If the insured is at fault, then the carrier must pay for the loss if the insured has the appropriate liability coverage. If the third party is at fault, then the carrier may attempt to get payment from the third party's insurance carrier. This is known as subrogation.)</a:t>
            </a:r>
          </a:p>
          <a:p>
            <a:pPr lvl="1" eaLnBrk="1" hangingPunct="1"/>
            <a:r>
              <a:rPr lang="en-US" dirty="0" smtClean="0"/>
              <a:t>Loss location - This is used to record where the loss occurred.</a:t>
            </a:r>
          </a:p>
          <a:p>
            <a:pPr lvl="1" eaLnBrk="1" hangingPunct="1"/>
            <a:r>
              <a:rPr lang="en-US" dirty="0" smtClean="0"/>
              <a:t>Notification and Contact - This records who reported the claim, and who the carrier should contact with issues about the claim.</a:t>
            </a:r>
          </a:p>
          <a:p>
            <a:pPr lvl="1" eaLnBrk="1" hangingPunct="1"/>
            <a:r>
              <a:rPr lang="en-US" dirty="0" smtClean="0"/>
              <a:t>Officials - This records any government officials, such as police officers, who were involved in the loss and/or may have information about what occurred.</a:t>
            </a:r>
          </a:p>
          <a:p>
            <a:pPr lvl="1" eaLnBrk="1" hangingPunct="1"/>
            <a:r>
              <a:rPr lang="en-US" dirty="0" smtClean="0"/>
              <a:t>Witnesses - This records any non-government officials who may have information about what occurred.</a:t>
            </a:r>
          </a:p>
          <a:p>
            <a:pPr lvl="1" eaLnBrk="1" hangingPunct="1"/>
            <a:r>
              <a:rPr lang="en-US" dirty="0" smtClean="0"/>
              <a:t>Contributing factors - This is discussed on the next slide.</a:t>
            </a:r>
          </a:p>
          <a:p>
            <a:pPr eaLnBrk="1" hangingPunct="1">
              <a:buFontTx/>
              <a:buChar char="•"/>
            </a:pPr>
            <a:endParaRPr lang="en-US" dirty="0" smtClean="0"/>
          </a:p>
          <a:p>
            <a:pPr eaLnBrk="1" hangingPunct="1"/>
            <a:endParaRPr lang="en-US" dirty="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|EON~009|</a:t>
            </a:r>
            <a:endParaRPr lang="en-US" sz="100">
              <a:solidFill>
                <a:srgbClr val="FFFFFF"/>
              </a:solidFill>
              <a:latin typeface="Arial"/>
            </a:endParaRPr>
          </a:p>
        </p:txBody>
      </p:sp>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BA02C7C9-B2C8-4DF8-86CC-F8643741C3DC}" type="slidenum">
              <a:rPr lang="en-US" altLang="en-US" sz="1200" smtClean="0">
                <a:solidFill>
                  <a:schemeClr val="tx1"/>
                </a:solidFill>
              </a:rPr>
              <a:pPr/>
              <a:t>9</a:t>
            </a:fld>
            <a:endParaRPr lang="en-US" altLang="en-US" sz="1200" smtClean="0">
              <a:solidFill>
                <a:schemeClr val="tx1"/>
              </a:solidFill>
            </a:endParaRPr>
          </a:p>
        </p:txBody>
      </p:sp>
      <p:sp>
        <p:nvSpPr>
          <p:cNvPr id="43012" name="Rectangle 2"/>
          <p:cNvSpPr>
            <a:spLocks noGrp="1" noRot="1" noChangeAspect="1" noChangeArrowheads="1" noTextEdit="1"/>
          </p:cNvSpPr>
          <p:nvPr>
            <p:ph type="sldImg"/>
          </p:nvPr>
        </p:nvSpPr>
        <p:spPr>
          <a:xfrm>
            <a:off x="715963" y="630238"/>
            <a:ext cx="5432425" cy="4073525"/>
          </a:xfrm>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|EON~010|</a:t>
            </a:r>
            <a:endParaRPr lang="en-US" sz="100">
              <a:solidFill>
                <a:srgbClr val="FFFFFF"/>
              </a:solidFill>
              <a:latin typeface="Arial"/>
            </a:endParaRPr>
          </a:p>
        </p:txBody>
      </p:sp>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84587F28-8816-47C1-9EEC-A1D2F433B047}" type="slidenum">
              <a:rPr lang="en-US" altLang="en-US" sz="1200" smtClean="0">
                <a:solidFill>
                  <a:schemeClr val="tx1"/>
                </a:solidFill>
              </a:rPr>
              <a:pPr/>
              <a:t>10</a:t>
            </a:fld>
            <a:endParaRPr lang="en-US" altLang="en-US" sz="1200" smtClean="0">
              <a:solidFill>
                <a:schemeClr val="tx1"/>
              </a:solidFill>
            </a:endParaRPr>
          </a:p>
        </p:txBody>
      </p:sp>
      <p:sp>
        <p:nvSpPr>
          <p:cNvPr id="44036" name="Rectangle 2"/>
          <p:cNvSpPr>
            <a:spLocks noGrp="1" noRot="1" noChangeAspect="1" noChangeArrowheads="1" noTextEdit="1"/>
          </p:cNvSpPr>
          <p:nvPr>
            <p:ph type="sldImg"/>
          </p:nvPr>
        </p:nvSpPr>
        <p:spPr>
          <a:xfrm>
            <a:off x="715963" y="630238"/>
            <a:ext cx="5432425" cy="4073525"/>
          </a:xfrm>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Metropolitan Reporting Bureau provides a nationwide police accident and incident reports service in the United States. (This is often referred to casually as "metro reports".) Many insurance carriers use this system to obtain police accident and incident reports to improve record-keeping and to reduce fraud. ClaimCenter’s built-in support for this service decreases deployment time for Metropolitan Reporting Bureau integration projects, particularly for personal lines carriers. For more information about Metropolitan’s services, refer to their web site: http://www.metroreporting.com.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|EON~011|</a:t>
            </a:r>
            <a:endParaRPr lang="en-US" sz="100">
              <a:solidFill>
                <a:srgbClr val="FFFFFF"/>
              </a:solidFill>
              <a:latin typeface="Arial"/>
            </a:endParaRPr>
          </a:p>
        </p:txBody>
      </p:sp>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B7052905-B524-4E7F-8262-42D213FDA2CC}" type="slidenum">
              <a:rPr lang="en-US" altLang="en-US" sz="1200" smtClean="0">
                <a:solidFill>
                  <a:schemeClr val="tx1"/>
                </a:solidFill>
              </a:rPr>
              <a:pPr/>
              <a:t>11</a:t>
            </a:fld>
            <a:endParaRPr lang="en-US" altLang="en-US" sz="1200" smtClean="0">
              <a:solidFill>
                <a:schemeClr val="tx1"/>
              </a:solidFill>
            </a:endParaRPr>
          </a:p>
        </p:txBody>
      </p:sp>
      <p:sp>
        <p:nvSpPr>
          <p:cNvPr id="45060" name="Rectangle 2"/>
          <p:cNvSpPr>
            <a:spLocks noGrp="1" noRot="1" noChangeAspect="1" noChangeArrowheads="1" noTextEdit="1"/>
          </p:cNvSpPr>
          <p:nvPr>
            <p:ph type="sldImg"/>
          </p:nvPr>
        </p:nvSpPr>
        <p:spPr>
          <a:xfrm>
            <a:off x="715963" y="630238"/>
            <a:ext cx="5432425"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effort around planning and configuring this integration point is typically minimal. Integration with Metropolitan Reporting Bureau is commonplace, and the integration components are provided in the ClaimCenter base application.</a:t>
            </a:r>
          </a:p>
          <a:p>
            <a:pPr eaLnBrk="1" hangingPunct="1"/>
            <a:r>
              <a:rPr lang="en-US" smtClean="0"/>
              <a:t>The planning for this integration point should happen as early as possible, because the information is coming from a system which is external to the carrier. (In other words, the carrier does not own or control the system ClaimCenter is connecting to.) Additional time may be needed to account for issues such as slow responses from the party managing the system, issues pertaining to firewalls, data system documentation which is incomplete, and so on.</a:t>
            </a:r>
          </a:p>
          <a:p>
            <a:pPr eaLnBrk="1" hangingPunct="1"/>
            <a:r>
              <a:rPr lang="en-US" smtClean="0"/>
              <a:t>There is only one Metropolitan Reporting Bureau with which a given instance of ClaimCenter can be integrated.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|EON~012|</a:t>
            </a:r>
            <a:endParaRPr lang="en-US" sz="100">
              <a:solidFill>
                <a:srgbClr val="FFFFFF"/>
              </a:solidFill>
              <a:latin typeface="Arial"/>
            </a:endParaRPr>
          </a:p>
        </p:txBody>
      </p:sp>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BB447FB8-1A1B-42F4-80EE-CF61EABB49CF}" type="slidenum">
              <a:rPr lang="en-US" altLang="en-US" sz="1200" smtClean="0">
                <a:solidFill>
                  <a:schemeClr val="tx1"/>
                </a:solidFill>
              </a:rPr>
              <a:pPr/>
              <a:t>12</a:t>
            </a:fld>
            <a:endParaRPr lang="en-US" altLang="en-US" sz="1200" smtClean="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Assessments card shown above is provided in the base application for Auto losses (it is also available for Property and Contents losses). It is used to track the possible costs associated to repairs for a particular lost or damaged property (Incident).</a:t>
            </a:r>
          </a:p>
          <a:p>
            <a:pPr eaLnBrk="1" hangingPunct="1"/>
            <a:r>
              <a:rPr lang="en-US" dirty="0" smtClean="0"/>
              <a:t>For</a:t>
            </a:r>
            <a:r>
              <a:rPr lang="en-US" baseline="0" dirty="0" smtClean="0"/>
              <a:t> auto losses</a:t>
            </a:r>
            <a:r>
              <a:rPr lang="en-US" dirty="0" smtClean="0"/>
              <a:t>, an assessment consists of three sets of information:</a:t>
            </a:r>
          </a:p>
          <a:p>
            <a:pPr lvl="1" eaLnBrk="1" hangingPunct="1"/>
            <a:r>
              <a:rPr lang="en-US" dirty="0" smtClean="0"/>
              <a:t>Sources, which are people or businesses who provide assessments (such as auto repair shops)</a:t>
            </a:r>
          </a:p>
          <a:p>
            <a:pPr lvl="1" eaLnBrk="1" hangingPunct="1"/>
            <a:r>
              <a:rPr lang="en-US" dirty="0" smtClean="0"/>
              <a:t>Line items, which are the assessment items broken down to the smallest meaningful level. (For example, if damage has been done to a car's windshield and fender, then there might be two line items, one for the assessment of the windshield</a:t>
            </a:r>
            <a:r>
              <a:rPr lang="en-US" baseline="0" dirty="0" smtClean="0"/>
              <a:t> and another for the fender</a:t>
            </a:r>
            <a:r>
              <a:rPr lang="en-US" dirty="0" smtClean="0"/>
              <a:t>.</a:t>
            </a:r>
          </a:p>
          <a:p>
            <a:pPr lvl="1" eaLnBrk="1" hangingPunct="1"/>
            <a:r>
              <a:rPr lang="en-US" dirty="0" smtClean="0"/>
              <a:t>Event lines, which identify action taken by the carrier related to the assessment (such as requesting an assessment, approving an assessment, or noting repairs have been completed) (Shown on next slide)</a:t>
            </a:r>
          </a:p>
          <a:p>
            <a:pPr eaLnBrk="1" hangingPunct="1"/>
            <a:r>
              <a:rPr lang="en-US" dirty="0" smtClean="0"/>
              <a:t>The assessment is summarized at the top of the screen (General</a:t>
            </a:r>
            <a:r>
              <a:rPr lang="en-US" baseline="0" dirty="0" smtClean="0"/>
              <a:t> detail view)</a:t>
            </a:r>
            <a:r>
              <a:rPr lang="en-US" dirty="0" smtClean="0"/>
              <a:t>.</a:t>
            </a:r>
          </a:p>
          <a:p>
            <a:pPr eaLnBrk="1" hangingPunct="1"/>
            <a:endParaRPr lang="en-US" dirty="0" smtClean="0"/>
          </a:p>
          <a:p>
            <a:r>
              <a:rPr lang="en-US" dirty="0" smtClean="0"/>
              <a:t>NOTE: Assessments work independently</a:t>
            </a:r>
            <a:r>
              <a:rPr lang="en-US" baseline="0" dirty="0" smtClean="0"/>
              <a:t> of Services (Service Requests). </a:t>
            </a:r>
            <a:r>
              <a:rPr lang="en-US" sz="1000" b="0" i="0" u="none" strike="noStrike" kern="1200" baseline="0" dirty="0" smtClean="0">
                <a:solidFill>
                  <a:schemeClr val="tx1"/>
                </a:solidFill>
                <a:latin typeface="Arial" charset="0"/>
                <a:ea typeface="+mn-ea"/>
                <a:cs typeface="+mn-cs"/>
              </a:rPr>
              <a:t>The assessment feature is not integrated with Services. While some terminology and parties involved in the process are similar, the two pieces of functionality are separate. For example, a source vendor on an assessment is not retrieved from vendors providing services on the claim or on </a:t>
            </a:r>
            <a:r>
              <a:rPr lang="en-US" sz="1000" b="0" i="0" u="none" strike="noStrike" kern="1200" baseline="0" smtClean="0">
                <a:solidFill>
                  <a:schemeClr val="tx1"/>
                </a:solidFill>
                <a:latin typeface="Arial" charset="0"/>
                <a:ea typeface="+mn-ea"/>
                <a:cs typeface="+mn-cs"/>
              </a:rPr>
              <a:t>incidents.</a:t>
            </a:r>
            <a:endParaRPr lang="en-US" sz="1000" b="0" i="0" u="none" strike="noStrike" kern="1200" baseline="0" dirty="0" smtClean="0">
              <a:solidFill>
                <a:schemeClr val="tx1"/>
              </a:solidFill>
              <a:latin typeface="Arial" charset="0"/>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|EON~013|</a:t>
            </a:r>
            <a:endParaRPr lang="en-US" sz="100">
              <a:solidFill>
                <a:srgbClr val="FFFFFF"/>
              </a:solidFill>
              <a:latin typeface="Arial"/>
            </a:endParaRPr>
          </a:p>
        </p:txBody>
      </p:sp>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73F309D3-1595-4D9F-9421-3AF82DB82BE8}" type="slidenum">
              <a:rPr lang="en-US" altLang="en-US" sz="1200" smtClean="0">
                <a:solidFill>
                  <a:schemeClr val="tx1"/>
                </a:solidFill>
              </a:rPr>
              <a:pPr/>
              <a:t>13</a:t>
            </a:fld>
            <a:endParaRPr lang="en-US" altLang="en-US" sz="1200" smtClean="0">
              <a:solidFill>
                <a:schemeClr val="tx1"/>
              </a:solidFill>
            </a:endParaRPr>
          </a:p>
        </p:txBody>
      </p:sp>
      <p:sp>
        <p:nvSpPr>
          <p:cNvPr id="47108" name="Rectangle 2"/>
          <p:cNvSpPr>
            <a:spLocks noGrp="1" noRot="1" noChangeAspect="1" noChangeArrowheads="1" noTextEdit="1"/>
          </p:cNvSpPr>
          <p:nvPr>
            <p:ph type="sldImg"/>
          </p:nvPr>
        </p:nvSpPr>
        <p:spPr>
          <a:ln/>
        </p:spPr>
      </p:sp>
      <p:sp>
        <p:nvSpPr>
          <p:cNvPr id="47109" name="Rectangle 3"/>
          <p:cNvSpPr>
            <a:spLocks noGrp="1" noChangeArrowheads="1"/>
          </p:cNvSpPr>
          <p:nvPr>
            <p:ph type="body" idx="1"/>
          </p:nvPr>
        </p:nvSpPr>
        <p:spPr>
          <a:xfrm>
            <a:off x="396875" y="4765675"/>
            <a:ext cx="2001838" cy="2692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900" dirty="0" smtClean="0"/>
              <a:t>The example above shows a scenario in which the insured provided an estimate from his own mechanic, and one item (electrical) was excessively high.  The front fender repair</a:t>
            </a:r>
            <a:r>
              <a:rPr lang="en-US" sz="900" baseline="0" dirty="0" smtClean="0"/>
              <a:t> cost, however, has been approved. </a:t>
            </a:r>
            <a:r>
              <a:rPr lang="en-US" sz="900" dirty="0" smtClean="0"/>
              <a:t>The adjuster owning the assessment requests a re-inspection from an approved vendor, which yielded a much lower amount for the headlight repair. The new line item would be entered on the Source popup for the approved vendor and visible on the assessment summary (which are visible if you view PowerPoint in Notes view (View &gt; Notes Page)).</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4154" y="4742651"/>
            <a:ext cx="3030053" cy="258753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750" y="7450036"/>
            <a:ext cx="6334201" cy="100629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|EON~014|</a:t>
            </a:r>
            <a:endParaRPr lang="en-US" sz="100">
              <a:solidFill>
                <a:srgbClr val="FFFFFF"/>
              </a:solidFill>
              <a:latin typeface="Arial"/>
            </a:endParaRPr>
          </a:p>
        </p:txBody>
      </p:sp>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2E41B3AA-F24C-43B1-B75F-85C1561E38F1}" type="slidenum">
              <a:rPr lang="en-US" altLang="en-US" sz="1200" smtClean="0">
                <a:solidFill>
                  <a:schemeClr val="tx1"/>
                </a:solidFill>
              </a:rPr>
              <a:pPr/>
              <a:t>14</a:t>
            </a:fld>
            <a:endParaRPr lang="en-US" altLang="en-US" sz="1200" smtClean="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the example shown above, the information from the vehicle incident</a:t>
            </a:r>
            <a:r>
              <a:rPr lang="en-US" baseline="0" dirty="0" smtClean="0"/>
              <a:t> is used to populate the Total Loss Calculator. The </a:t>
            </a:r>
            <a:r>
              <a:rPr lang="en-US" dirty="0" smtClean="0"/>
              <a:t>Total Loss Calculator is on a card which is part of the exposure card view. It is visible only for exposures which have an exposure type of "vehicle (damage)". For exposures using other exposure types (such as an injury exposure), the card is not visible.</a:t>
            </a:r>
          </a:p>
          <a:p>
            <a:pPr eaLnBrk="1" hangingPunct="1"/>
            <a:r>
              <a:rPr lang="en-US" dirty="0" smtClean="0"/>
              <a:t>In the base application, when the total loss calculation is complete, the outcome (whether the loss is total or not) is also reflected on the Incident card.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|EON~015|</a:t>
            </a:r>
            <a:endParaRPr lang="en-US" sz="100">
              <a:solidFill>
                <a:srgbClr val="FFFFFF"/>
              </a:solidFill>
              <a:latin typeface="Arial"/>
            </a:endParaRPr>
          </a:p>
        </p:txBody>
      </p:sp>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9AD81B9B-C07C-4556-89F7-B6067D34FFD0}" type="slidenum">
              <a:rPr lang="en-US" altLang="en-US" sz="1200" smtClean="0">
                <a:solidFill>
                  <a:schemeClr val="tx1"/>
                </a:solidFill>
              </a:rPr>
              <a:pPr/>
              <a:t>15</a:t>
            </a:fld>
            <a:endParaRPr lang="en-US" altLang="en-US" sz="1200" smtClean="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When processing claims pertaining to medical services, carriers want to know if a given vendor is charging for services above and beyond the average charge for the service. The purpose of MBR (medical bill review) system integration is to get information about what the standard charges are for a given service so that excessive costs are not incurred by the carrier. This integration point is typically used for workers' comp claims.</a:t>
            </a:r>
          </a:p>
          <a:p>
            <a:pPr eaLnBrk="1" hangingPunct="1"/>
            <a:r>
              <a:rPr lang="en-US" dirty="0" smtClean="0"/>
              <a:t>This integration point is typically not the one requiring the greatest amount of effort to plan and configure, but the effort involved is significant enough that it also cannot usually be considered minimal.</a:t>
            </a:r>
          </a:p>
          <a:p>
            <a:pPr eaLnBrk="1" hangingPunct="1"/>
            <a:r>
              <a:rPr lang="en-US" dirty="0" smtClean="0"/>
              <a:t>The planning for this integration point should happen as early as possible, because the information is coming from a system which is external to the carrier. (In other words, the carrier does not own or control the system ClaimCenter is connecting to.) Additional time may be needed to account for issues such as slow responses from the party managing the system, issues pertaining to firewalls, data system documentation which is incomplete, and so on.</a:t>
            </a:r>
          </a:p>
          <a:p>
            <a:pPr eaLnBrk="1" hangingPunct="1"/>
            <a:r>
              <a:rPr lang="en-US" dirty="0" smtClean="0"/>
              <a:t>A given instance of ClaimCenter may be integrated with one or more MBRs such as Mitchell </a:t>
            </a:r>
            <a:r>
              <a:rPr lang="en-US" dirty="0" err="1" smtClean="0"/>
              <a:t>DecisionPoint</a:t>
            </a:r>
            <a:r>
              <a:rPr lang="en-US" dirty="0" smtClean="0"/>
              <a:t>.</a:t>
            </a:r>
          </a:p>
          <a:p>
            <a:pPr eaLnBrk="1" hangingPunct="1"/>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|EON~016|</a:t>
            </a:r>
            <a:endParaRPr lang="en-US" sz="100">
              <a:solidFill>
                <a:srgbClr val="FFFFFF"/>
              </a:solidFill>
              <a:latin typeface="Arial"/>
            </a:endParaRPr>
          </a:p>
        </p:txBody>
      </p:sp>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FD1E4423-31F2-4B39-B578-4550C279A672}" type="slidenum">
              <a:rPr lang="en-US" altLang="en-US" sz="1200" smtClean="0">
                <a:solidFill>
                  <a:schemeClr val="tx1"/>
                </a:solidFill>
              </a:rPr>
              <a:pPr/>
              <a:t>16</a:t>
            </a:fld>
            <a:endParaRPr lang="en-US" altLang="en-US" sz="1200" smtClean="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|EON~017|</a:t>
            </a:r>
            <a:endParaRPr lang="en-US" sz="100">
              <a:solidFill>
                <a:srgbClr val="FFFFFF"/>
              </a:solidFill>
              <a:latin typeface="Arial"/>
            </a:endParaRPr>
          </a:p>
        </p:txBody>
      </p:sp>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CE1D55E4-C23C-4018-97F4-954B471A1B27}" type="slidenum">
              <a:rPr lang="en-US" altLang="en-US" sz="1200" smtClean="0">
                <a:solidFill>
                  <a:schemeClr val="tx1"/>
                </a:solidFill>
              </a:rPr>
              <a:pPr/>
              <a:t>17</a:t>
            </a:fld>
            <a:endParaRPr lang="en-US" altLang="en-US" sz="1200" smtClean="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|EON~018|</a:t>
            </a:r>
            <a:endParaRPr lang="en-US" sz="100">
              <a:solidFill>
                <a:srgbClr val="FFFFFF"/>
              </a:solidFill>
              <a:latin typeface="Arial"/>
            </a:endParaRP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19F9EC45-361C-44D9-B0C2-09BF4F123A10}" type="slidenum">
              <a:rPr lang="en-US" altLang="en-US" sz="1200" smtClean="0">
                <a:solidFill>
                  <a:schemeClr val="tx1"/>
                </a:solidFill>
              </a:rPr>
              <a:pPr/>
              <a:t>18</a:t>
            </a:fld>
            <a:endParaRPr lang="en-US" altLang="en-US" sz="1200" smtClean="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the base application, there are five levels of maturity:</a:t>
            </a:r>
          </a:p>
          <a:p>
            <a:pPr lvl="1" eaLnBrk="1" hangingPunct="1"/>
            <a:r>
              <a:rPr lang="en-US" smtClean="0"/>
              <a:t>Load save - This is the level a claim must be at in order to be imported from an external system. A claim at this stage has not yet been touched by a user via ClaimCenter.</a:t>
            </a:r>
          </a:p>
          <a:p>
            <a:pPr lvl="1" eaLnBrk="1" hangingPunct="1"/>
            <a:r>
              <a:rPr lang="en-US" smtClean="0"/>
              <a:t>New loss completion - This is the level a claim must be at to be saved (or modified by a user if the claim is imported).</a:t>
            </a:r>
          </a:p>
          <a:p>
            <a:pPr lvl="1" eaLnBrk="1" hangingPunct="1"/>
            <a:r>
              <a:rPr lang="en-US" smtClean="0"/>
              <a:t>Valid for ISO - This level is used to signify that the claim has the minimal information needed for filing with ISO.</a:t>
            </a:r>
          </a:p>
          <a:p>
            <a:pPr lvl="1" eaLnBrk="1" hangingPunct="1"/>
            <a:r>
              <a:rPr lang="en-US" smtClean="0"/>
              <a:t>Send to external (systems) - This level is used to signify that the claim has the minimal information needed to send information about it to external systems within the carrier, such as a policy administration system which is trying to assess policy renewal rates.</a:t>
            </a:r>
          </a:p>
          <a:p>
            <a:pPr lvl="1" eaLnBrk="1" hangingPunct="1"/>
            <a:r>
              <a:rPr lang="en-US" smtClean="0"/>
              <a:t>Ability to pay - This is the level a claim must be at in order to have payments written against it.</a:t>
            </a:r>
          </a:p>
          <a:p>
            <a:pPr eaLnBrk="1" hangingPunct="1"/>
            <a:r>
              <a:rPr lang="en-US" smtClean="0"/>
              <a:t>The Valid for ISO and Send to external (systems) levels are fully configurable. The other three levels are internal levels required by ClaimCenter and cannot be removed. You can also add additional levels not found in the base application.</a:t>
            </a:r>
          </a:p>
          <a:p>
            <a:pPr eaLnBrk="1" hangingPunct="1"/>
            <a:r>
              <a:rPr lang="en-US" smtClean="0"/>
              <a:t>These levels are referred to as "validation levels" because they are used both to validate whether a change can be made to a claim or exposure as well as what level of maturity to assign to the claim or exposure.</a:t>
            </a:r>
          </a:p>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|EON~019|</a:t>
            </a:r>
            <a:endParaRPr lang="en-US" sz="100">
              <a:solidFill>
                <a:srgbClr val="FFFFFF"/>
              </a:solidFill>
              <a:latin typeface="Arial"/>
            </a:endParaRP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9B9B0EBF-D325-483A-81EC-317B1AE53FF2}" type="slidenum">
              <a:rPr lang="en-US" altLang="en-US" sz="1200" smtClean="0">
                <a:solidFill>
                  <a:schemeClr val="tx1"/>
                </a:solidFill>
              </a:rPr>
              <a:pPr/>
              <a:t>19</a:t>
            </a:fld>
            <a:endParaRPr lang="en-US" altLang="en-US" sz="1200" smtClean="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Every maturity level (validation level) has one or more conditions associated to it. These conditions identify what must be true of the claim or exposure in order to achieve that level of maturity. The example above is a set of claim maturity conditions in which:</a:t>
            </a:r>
          </a:p>
          <a:p>
            <a:pPr lvl="1" eaLnBrk="1" hangingPunct="1"/>
            <a:r>
              <a:rPr lang="en-US" dirty="0" smtClean="0"/>
              <a:t>A claim must have a specified driver and, if the insured is at fault, a specified fault rating to achieve the "new loss completion" level.</a:t>
            </a:r>
          </a:p>
          <a:p>
            <a:pPr lvl="1" eaLnBrk="1" hangingPunct="1"/>
            <a:r>
              <a:rPr lang="en-US" dirty="0" smtClean="0"/>
              <a:t>A claim must have a city, state, and zip code for the loss location to achieve the "valid for ISO" level.</a:t>
            </a:r>
          </a:p>
          <a:p>
            <a:pPr lvl="1" eaLnBrk="1" hangingPunct="1"/>
            <a:r>
              <a:rPr lang="en-US" dirty="0" smtClean="0"/>
              <a:t>A claim must have the total loss calculation completed for all exposures involving vehicle losses, and the county of the loss location must be specified to achieve the "Send to external (systems)" level.</a:t>
            </a:r>
          </a:p>
          <a:p>
            <a:pPr lvl="1" eaLnBrk="1" hangingPunct="1"/>
            <a:r>
              <a:rPr lang="en-US" dirty="0" smtClean="0"/>
              <a:t>A claim must have at least one assessment and the mailing address for all third-party claimants to achieve the "ability to pay" level.</a:t>
            </a:r>
          </a:p>
          <a:p>
            <a:pPr eaLnBrk="1" hangingPunct="1"/>
            <a:r>
              <a:rPr lang="en-US" dirty="0" smtClean="0"/>
              <a:t>Maturity levels are enforced in a cumulative fashion. In other words, a claim must meet all the rules at </a:t>
            </a:r>
            <a:r>
              <a:rPr lang="en-US" b="1" dirty="0" smtClean="0"/>
              <a:t>and below</a:t>
            </a:r>
            <a:r>
              <a:rPr lang="en-US" dirty="0" smtClean="0"/>
              <a:t> a given level to achieve that level. In the example above, a claim cannot reach the "valid for ISO" level simply by having a city, state, and zip code for the loss location. It must also still meet all the conditions of the "new loss completion" level. To reach "ability to pay", a claim must essentially meet all the conditions at all levels.</a:t>
            </a:r>
          </a:p>
          <a:p>
            <a:pPr eaLnBrk="1" hangingPunct="1"/>
            <a:r>
              <a:rPr lang="en-US" dirty="0" smtClean="0"/>
              <a:t>Validation rules can also be tied to a claim's loss date. This gives you the ability to phase new requirements into ClaimCenter (or relax old ones) without making the requirements active at the same time. For example, a new law might state that, as of January 1, 2009, a given personal auto's medical payments coverage cannot cover passengers in a car unless they are family members of the policy holder. You could create this as a validation rule which stated "IF loss date &gt;= Jan. 1, 2009 AND coverage is 'medical payments' AND claimant's relationship to insured is not 'family member' THEN throw a validation error".</a:t>
            </a:r>
          </a:p>
          <a:p>
            <a:pPr algn="ctr" eaLnBrk="1" hangingPunct="1"/>
            <a:endParaRPr lang="en-US" dirty="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|EON~020|</a:t>
            </a:r>
            <a:endParaRPr lang="en-US" sz="100">
              <a:solidFill>
                <a:srgbClr val="FFFFFF"/>
              </a:solidFill>
              <a:latin typeface="Arial"/>
            </a:endParaRP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31526422-F4A2-4755-A328-9F3E17BF5D4A}" type="slidenum">
              <a:rPr lang="en-US" altLang="en-US" sz="1200" smtClean="0">
                <a:solidFill>
                  <a:schemeClr val="tx1"/>
                </a:solidFill>
              </a:rPr>
              <a:pPr/>
              <a:t>20</a:t>
            </a:fld>
            <a:endParaRPr lang="en-US" altLang="en-US" sz="1200" smtClean="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In order to be saved initially, a claim or exposure must meet all of the rules specified for the "new loss completion" level. In the example above, a claim has been created with:</a:t>
            </a:r>
          </a:p>
          <a:p>
            <a:pPr lvl="1" eaLnBrk="1" hangingPunct="1"/>
            <a:r>
              <a:rPr lang="en-US" dirty="0" smtClean="0"/>
              <a:t>A specified driver</a:t>
            </a:r>
          </a:p>
          <a:p>
            <a:pPr lvl="1" eaLnBrk="1" hangingPunct="1"/>
            <a:r>
              <a:rPr lang="en-US" dirty="0" smtClean="0"/>
              <a:t>A specified fault rating</a:t>
            </a:r>
          </a:p>
          <a:p>
            <a:pPr lvl="1" eaLnBrk="1" hangingPunct="1"/>
            <a:r>
              <a:rPr lang="en-US" dirty="0" smtClean="0"/>
              <a:t>No zip code for the loss location</a:t>
            </a:r>
          </a:p>
          <a:p>
            <a:pPr lvl="1" eaLnBrk="1" hangingPunct="1"/>
            <a:r>
              <a:rPr lang="en-US" dirty="0" smtClean="0"/>
              <a:t>No total loss calculation complete</a:t>
            </a:r>
          </a:p>
          <a:p>
            <a:pPr lvl="1" eaLnBrk="1" hangingPunct="1"/>
            <a:r>
              <a:rPr lang="en-US" dirty="0" smtClean="0"/>
              <a:t>No county for the loss location</a:t>
            </a:r>
          </a:p>
          <a:p>
            <a:pPr lvl="1" eaLnBrk="1" hangingPunct="1"/>
            <a:r>
              <a:rPr lang="en-US" dirty="0" smtClean="0"/>
              <a:t>No assessments</a:t>
            </a:r>
          </a:p>
          <a:p>
            <a:pPr lvl="1" eaLnBrk="1" hangingPunct="1"/>
            <a:r>
              <a:rPr lang="en-US" dirty="0" smtClean="0"/>
              <a:t>A mailing address for the one third-party claimant</a:t>
            </a:r>
          </a:p>
          <a:p>
            <a:pPr eaLnBrk="1" hangingPunct="1"/>
            <a:r>
              <a:rPr lang="en-US" dirty="0" smtClean="0"/>
              <a:t>The claim meets all the rules for the "new loss completion" level, so the save is permitted and the claim is created. (If the user attempts to create a claim with no driver specified or a claim with the insured at fault and no fault rating specified, then the user will not be able to finish the new claim wizard and error message identifies exactly why the claim cannot yet be saved.)</a:t>
            </a:r>
          </a:p>
          <a:p>
            <a:pPr eaLnBrk="1" hangingPunct="1"/>
            <a:r>
              <a:rPr lang="en-US" dirty="0" smtClean="0"/>
              <a:t>In the base application, if a claim is created from an imported FNOL, then it starts at a lower level known as the "load save" level (which is not shown in the diagram above). The rules at the "load save" level specify the minimal amount of information an FNOL must have in order to be imported into ClaimCenter. However, the claim must meet all rules at the "new loss" level before any changes can be made to it.</a:t>
            </a:r>
          </a:p>
          <a:p>
            <a:pPr eaLnBrk="1" hangingPunct="1"/>
            <a:r>
              <a:rPr lang="en-US" dirty="0" smtClean="0"/>
              <a:t>Theoretically, a claim or exposure could be created that meets all the conditions for "new loss completion" and one or more additional levels beyond "new loss completion". In this case, the claim would start at the furthest level possible. For simplicity sake, this discussion assumes that the logic at each level is robust enough that it is unlikely a new claim or exposure will meet more than the first level when it is first created.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|EON~021|</a:t>
            </a:r>
            <a:endParaRPr lang="en-US" sz="100">
              <a:solidFill>
                <a:srgbClr val="FFFFFF"/>
              </a:solidFill>
              <a:latin typeface="Arial"/>
            </a:endParaRP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8D8F3977-4F23-4A6C-9836-297B545E540B}" type="slidenum">
              <a:rPr lang="en-US" altLang="en-US" sz="1200" smtClean="0">
                <a:solidFill>
                  <a:schemeClr val="tx1"/>
                </a:solidFill>
              </a:rPr>
              <a:pPr/>
              <a:t>21</a:t>
            </a:fld>
            <a:endParaRPr lang="en-US" altLang="en-US" sz="1200" smtClean="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maturity level of every claim and exposure is managed by the rules engine.</a:t>
            </a:r>
          </a:p>
          <a:p>
            <a:pPr eaLnBrk="1" hangingPunct="1"/>
            <a:r>
              <a:rPr lang="en-US" smtClean="0"/>
              <a:t>The rules engine has a series of "validation rules" for claims and exposures. The validation rules store the conditions. Whenever a change is made to a claim or exposure, the rules engine reviews the validation rules.</a:t>
            </a:r>
          </a:p>
          <a:p>
            <a:pPr eaLnBrk="1" hangingPunct="1">
              <a:buFontTx/>
              <a:buChar char="•"/>
            </a:pPr>
            <a:r>
              <a:rPr lang="en-US" smtClean="0"/>
              <a:t>If the change violates a condition at the object's current level or any previous levels, then the change is prevented. This prevents objects from slipping backwards in the business process.</a:t>
            </a:r>
          </a:p>
          <a:p>
            <a:pPr eaLnBrk="1" hangingPunct="1">
              <a:buFontTx/>
              <a:buChar char="•"/>
            </a:pPr>
            <a:r>
              <a:rPr lang="en-US" smtClean="0"/>
              <a:t>If the change does not violate any condition and the object's current level or any previous levels, then the change is allowed.</a:t>
            </a:r>
          </a:p>
          <a:p>
            <a:pPr lvl="1" eaLnBrk="1" hangingPunct="1"/>
            <a:r>
              <a:rPr lang="en-US" smtClean="0"/>
              <a:t>When the change is allowed, the rules engine automatically checks to see if the object meets all of the conditions at the next level. If any condition is not met, then the object remains at its current level of maturity. If all of the conditions are met, then the object is advanced to that level and this process is repeated.</a:t>
            </a:r>
          </a:p>
          <a:p>
            <a:pPr eaLnBrk="1" hangingPunct="1"/>
            <a:r>
              <a:rPr lang="en-US" smtClean="0"/>
              <a:t>In the example above, the user provided a city, state, zip code, and county for the loss location and then saved the claim. The change did not violate the conditions at the "new loss" level, so the change was allowed. The rules engine checked to see if the claim now meets the "valid for ISO" level. It does, so the claim is advanced to that level. It then checks to see if it meets the "send to external" level. It meets some but not all of the conditions at the "send to external" level. (The total loss calculation has not been completed.) So, the claim is promoted no further than "valid for ISO".</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|EON~022|</a:t>
            </a:r>
            <a:endParaRPr lang="en-US" sz="100">
              <a:solidFill>
                <a:srgbClr val="FFFFFF"/>
              </a:solidFill>
              <a:latin typeface="Arial"/>
            </a:endParaRP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3550D5AE-B2A1-4510-AD02-3F05CE106390}" type="slidenum">
              <a:rPr lang="en-US" altLang="en-US" sz="1200" smtClean="0">
                <a:solidFill>
                  <a:schemeClr val="tx1"/>
                </a:solidFill>
              </a:rPr>
              <a:pPr/>
              <a:t>22</a:t>
            </a:fld>
            <a:endParaRPr lang="en-US" altLang="en-US" sz="1200" smtClean="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ClaimCenter does not allow claims or exposures to move backwards in terms of object maturity. Once a claim or exposure has reached a given level, then any change that would cause a condition at or below that level to become false is prevented. For example, in the scenario above:</a:t>
            </a:r>
          </a:p>
          <a:p>
            <a:pPr eaLnBrk="1" hangingPunct="1">
              <a:buFontTx/>
              <a:buChar char="•"/>
            </a:pPr>
            <a:r>
              <a:rPr lang="en-US" smtClean="0"/>
              <a:t>If the user attempts to save a change in which the city, state, or zip code has been removed from the loss location, the save will be </a:t>
            </a:r>
            <a:r>
              <a:rPr lang="en-US" b="1" smtClean="0"/>
              <a:t>prevented</a:t>
            </a:r>
            <a:r>
              <a:rPr lang="en-US" smtClean="0"/>
              <a:t>. This is because the change would cause a condition at the claim's current level to become untrue.</a:t>
            </a:r>
          </a:p>
          <a:p>
            <a:pPr eaLnBrk="1" hangingPunct="1">
              <a:buFontTx/>
              <a:buChar char="•"/>
            </a:pPr>
            <a:r>
              <a:rPr lang="en-US" smtClean="0"/>
              <a:t>If the user attempts to save a change in which the driver of the vehicle becomes unspecified, the save will be </a:t>
            </a:r>
            <a:r>
              <a:rPr lang="en-US" b="1" smtClean="0"/>
              <a:t>prevented</a:t>
            </a:r>
            <a:r>
              <a:rPr lang="en-US" smtClean="0"/>
              <a:t>. This is because the change would cause a condition below the claim's current level to become untrue.</a:t>
            </a:r>
          </a:p>
          <a:p>
            <a:pPr eaLnBrk="1" hangingPunct="1">
              <a:buFontTx/>
              <a:buChar char="•"/>
            </a:pPr>
            <a:r>
              <a:rPr lang="en-US" smtClean="0"/>
              <a:t>If the user attempts to save a change in which the county has been removed from the loss location, the save will be </a:t>
            </a:r>
            <a:r>
              <a:rPr lang="en-US" b="1" smtClean="0"/>
              <a:t>allowed</a:t>
            </a:r>
            <a:r>
              <a:rPr lang="en-US" smtClean="0"/>
              <a:t>. This causes a condition to become untrue, but the condition is associated to a level above the claim's current level. The only conditions which must remain true are those at or below the claim's current level.</a:t>
            </a:r>
          </a:p>
          <a:p>
            <a:pPr eaLnBrk="1" hangingPunct="1">
              <a:buFontTx/>
              <a:buChar char="•"/>
            </a:pPr>
            <a:r>
              <a:rPr lang="en-US" smtClean="0"/>
              <a:t>If the user attempts to save a change in which the vehicle license plate is remove, the save will be </a:t>
            </a:r>
            <a:r>
              <a:rPr lang="en-US" b="1" smtClean="0"/>
              <a:t>allowed</a:t>
            </a:r>
            <a:r>
              <a:rPr lang="en-US" smtClean="0"/>
              <a:t>. This is because no validation condition references the license plate.</a:t>
            </a:r>
          </a:p>
          <a:p>
            <a:pPr eaLnBrk="1" hangingPunct="1"/>
            <a:r>
              <a:rPr lang="en-US" smtClean="0"/>
              <a:t>ClaimCenter prevents objects from regressing in maturity because at any given point, ClaimCenter may take action on a claim or exposure based on its level. (For example, ClaimCenter might send the claim to the ISO ClaimDatabase once it reaches the "Valid for ISO" level.) If the object is allowed to regress, then systems outside of ClaimCenter would have inaccurate information about the claims. (For example, the ISO ClaimDatabase would have misleading information about a claim.) </a:t>
            </a:r>
          </a:p>
          <a:p>
            <a:pPr eaLnBrk="1" hangingPunct="1"/>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|EON~023|</a:t>
            </a:r>
            <a:endParaRPr lang="en-US" sz="100">
              <a:solidFill>
                <a:srgbClr val="FFFFFF"/>
              </a:solidFill>
              <a:latin typeface="Arial"/>
            </a:endParaRP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94A11D45-9AE5-42B7-BAB7-5EA4A2B25A7D}" type="slidenum">
              <a:rPr lang="en-US" altLang="en-US" sz="1200" smtClean="0">
                <a:solidFill>
                  <a:schemeClr val="tx1"/>
                </a:solidFill>
              </a:rPr>
              <a:pPr/>
              <a:t>23</a:t>
            </a:fld>
            <a:endParaRPr lang="en-US" altLang="en-US" sz="1200" smtClean="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Eventually, enough changes are made to the object that it reaches the "ability to pay" level. At this point, all conditions at all levels have been satisfied. From a business perspective, you can consider this the end of the adjudication process. A claim which is at "ability to pay" is ready to have checks written against it.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|EON~024|</a:t>
            </a:r>
            <a:endParaRPr lang="en-US" sz="100">
              <a:solidFill>
                <a:srgbClr val="FFFFFF"/>
              </a:solidFill>
              <a:latin typeface="Arial"/>
            </a:endParaRP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A5B67A91-7C91-4FB5-A651-6A8B5F3BC627}" type="slidenum">
              <a:rPr lang="en-US" altLang="en-US" sz="1200" smtClean="0">
                <a:solidFill>
                  <a:schemeClr val="tx1"/>
                </a:solidFill>
              </a:rPr>
              <a:pPr/>
              <a:t>24</a:t>
            </a:fld>
            <a:endParaRPr lang="en-US" altLang="en-US" sz="1200" smtClean="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|EON~025|</a:t>
            </a:r>
            <a:endParaRPr lang="en-US" sz="100">
              <a:solidFill>
                <a:srgbClr val="FFFFFF"/>
              </a:solidFill>
              <a:latin typeface="Arial"/>
            </a:endParaRP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9C1DA225-1CA7-4FA7-94E7-C00302EB13FD}" type="slidenum">
              <a:rPr lang="en-US" altLang="en-US" sz="1200" smtClean="0">
                <a:solidFill>
                  <a:schemeClr val="tx1"/>
                </a:solidFill>
              </a:rPr>
              <a:pPr/>
              <a:t>25</a:t>
            </a:fld>
            <a:endParaRPr lang="en-US" altLang="en-US" sz="1200" smtClean="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You can also validate policies. A user might want to validate a policy is the policy was unverified or if some other change was made to the policy object in ClaimCenter after it was retrieved from the policy administration system. Policy validation rules are similar to claim and exposure validation rules, except for the fact that the policy does not have an inherent maturity level.</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|EON~026|</a:t>
            </a:r>
            <a:endParaRPr lang="en-US" sz="100">
              <a:solidFill>
                <a:srgbClr val="FFFFFF"/>
              </a:solidFill>
              <a:latin typeface="Arial"/>
            </a:endParaRP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6B70BCF3-3D09-421A-B884-E6BBA254D00B}" type="slidenum">
              <a:rPr lang="en-US" altLang="en-US" sz="1200" smtClean="0">
                <a:solidFill>
                  <a:schemeClr val="tx1"/>
                </a:solidFill>
              </a:rPr>
              <a:pPr/>
              <a:t>26</a:t>
            </a:fld>
            <a:endParaRPr lang="en-US" altLang="en-US" sz="1200" smtClean="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smtClean="0"/>
              <a:t>The validation results screen lists all conditions with the policy, claim and/or its exposures which are preventing it from reaching the level specified from the Claim Actions menu. In the example above, the exposure is not at "ability to pay" because the vehicle incident has a description field which is empty.</a:t>
            </a:r>
          </a:p>
          <a:p>
            <a:pPr eaLnBrk="1" hangingPunct="1"/>
            <a:r>
              <a:rPr lang="en-US" dirty="0" smtClean="0"/>
              <a:t>ClaimCenter does not automatically report which level a condition is tied to. If you wanted a user to be aware of the level, you could add this to the message text. (For example, the text above could read "Vehicle: Vehicle incident description must not be empty. [Valid for ISO]".</a:t>
            </a:r>
          </a:p>
          <a:p>
            <a:pPr eaLnBrk="1" hangingPunct="1"/>
            <a:r>
              <a:rPr lang="en-US" dirty="0" smtClean="0"/>
              <a:t>If a user is interested in knowing what conditions they need to meet to achieve the next level, they can validate a claim and/or exposure for a specific level. (For example, if a claim is at "New loss" and you want to know what you need to do to make it "Valid for ISO" (as opposed to make it go all the way to "Ability to Pay"), then you can validate the claim and/or exposure specifically for the "Valid for ISO" level by selecting that level from the Validate menu.</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|EON~027|</a:t>
            </a:r>
            <a:endParaRPr lang="en-US" sz="100">
              <a:solidFill>
                <a:srgbClr val="FFFFFF"/>
              </a:solidFill>
              <a:latin typeface="Arial"/>
            </a:endParaRP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CE47B34C-BF81-4008-8C38-6830D95E5AC9}" type="slidenum">
              <a:rPr lang="en-US" altLang="en-US" sz="1200" smtClean="0">
                <a:solidFill>
                  <a:schemeClr val="tx1"/>
                </a:solidFill>
              </a:rPr>
              <a:pPr/>
              <a:t>27</a:t>
            </a:fld>
            <a:endParaRPr lang="en-US" altLang="en-US" sz="1200" smtClean="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|EON~028|</a:t>
            </a:r>
            <a:endParaRPr lang="en-US" sz="100">
              <a:solidFill>
                <a:srgbClr val="FFFFFF"/>
              </a:solidFill>
              <a:latin typeface="Arial"/>
            </a:endParaRP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a:tabLst>
                <a:tab pos="5591175" algn="r"/>
              </a:tabLst>
              <a:defRPr sz="1400">
                <a:solidFill>
                  <a:schemeClr val="bg1"/>
                </a:solidFill>
                <a:latin typeface="Arial" charset="0"/>
              </a:defRPr>
            </a:lvl1pPr>
            <a:lvl2pPr marL="742950" indent="-285750" defTabSz="942975">
              <a:tabLst>
                <a:tab pos="5591175" algn="r"/>
              </a:tabLst>
              <a:defRPr sz="1400">
                <a:solidFill>
                  <a:schemeClr val="bg1"/>
                </a:solidFill>
                <a:latin typeface="Arial" charset="0"/>
              </a:defRPr>
            </a:lvl2pPr>
            <a:lvl3pPr marL="1143000" indent="-228600" defTabSz="942975">
              <a:tabLst>
                <a:tab pos="5591175" algn="r"/>
              </a:tabLst>
              <a:defRPr sz="1400">
                <a:solidFill>
                  <a:schemeClr val="bg1"/>
                </a:solidFill>
                <a:latin typeface="Arial" charset="0"/>
              </a:defRPr>
            </a:lvl3pPr>
            <a:lvl4pPr marL="1600200" indent="-228600" defTabSz="942975">
              <a:tabLst>
                <a:tab pos="5591175" algn="r"/>
              </a:tabLst>
              <a:defRPr sz="1400">
                <a:solidFill>
                  <a:schemeClr val="bg1"/>
                </a:solidFill>
                <a:latin typeface="Arial" charset="0"/>
              </a:defRPr>
            </a:lvl4pPr>
            <a:lvl5pPr marL="2057400" indent="-228600" defTabSz="942975">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0"/>
              </a:spcAft>
              <a:buClr>
                <a:srgbClr val="0146AD"/>
              </a:buClr>
              <a:buFont typeface="Wingdings" pitchFamily="2" charset="2"/>
              <a:buChar char="–"/>
              <a:tabLst>
                <a:tab pos="5591175" algn="r"/>
              </a:tabLst>
              <a:defRPr sz="1400">
                <a:solidFill>
                  <a:schemeClr val="bg1"/>
                </a:solidFill>
                <a:latin typeface="Arial" charset="0"/>
              </a:defRPr>
            </a:lvl9pPr>
          </a:lstStyle>
          <a:p>
            <a:r>
              <a:rPr lang="en-US" altLang="en-US" sz="1200" smtClean="0">
                <a:solidFill>
                  <a:schemeClr val="tx1"/>
                </a:solidFill>
              </a:rPr>
              <a:t>	</a:t>
            </a:r>
            <a:endParaRPr lang="en-US" sz="1200" smtClean="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tabLst>
                <a:tab pos="2743200" algn="ctr"/>
              </a:tabLst>
              <a:defRPr sz="1400">
                <a:solidFill>
                  <a:schemeClr val="bg1"/>
                </a:solidFill>
                <a:latin typeface="Arial" charset="0"/>
              </a:defRPr>
            </a:lvl1pPr>
            <a:lvl2pPr marL="742950" indent="-285750" defTabSz="931863">
              <a:tabLst>
                <a:tab pos="2743200" algn="ctr"/>
              </a:tabLst>
              <a:defRPr sz="1400">
                <a:solidFill>
                  <a:schemeClr val="bg1"/>
                </a:solidFill>
                <a:latin typeface="Arial" charset="0"/>
              </a:defRPr>
            </a:lvl2pPr>
            <a:lvl3pPr marL="1143000" indent="-228600" defTabSz="931863">
              <a:tabLst>
                <a:tab pos="2743200" algn="ctr"/>
              </a:tabLst>
              <a:defRPr sz="1400">
                <a:solidFill>
                  <a:schemeClr val="bg1"/>
                </a:solidFill>
                <a:latin typeface="Arial" charset="0"/>
              </a:defRPr>
            </a:lvl3pPr>
            <a:lvl4pPr marL="1600200" indent="-228600" defTabSz="931863">
              <a:tabLst>
                <a:tab pos="2743200" algn="ctr"/>
              </a:tabLst>
              <a:defRPr sz="1400">
                <a:solidFill>
                  <a:schemeClr val="bg1"/>
                </a:solidFill>
                <a:latin typeface="Arial" charset="0"/>
              </a:defRPr>
            </a:lvl4pPr>
            <a:lvl5pPr marL="2057400" indent="-228600" defTabSz="931863">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0"/>
              </a:spcAft>
              <a:buClr>
                <a:srgbClr val="0146AD"/>
              </a:buClr>
              <a:buFont typeface="Wingdings" pitchFamily="2" charset="2"/>
              <a:buChar char="–"/>
              <a:tabLst>
                <a:tab pos="2743200" algn="ctr"/>
              </a:tabLst>
              <a:defRPr sz="1400">
                <a:solidFill>
                  <a:schemeClr val="bg1"/>
                </a:solidFill>
                <a:latin typeface="Arial" charset="0"/>
              </a:defRPr>
            </a:lvl9pPr>
          </a:lstStyle>
          <a:p>
            <a:r>
              <a:rPr lang="en-US" altLang="en-US" sz="1200" smtClean="0">
                <a:solidFill>
                  <a:schemeClr val="tx1"/>
                </a:solidFill>
              </a:rPr>
              <a:t>	Adjudicating Claims - </a:t>
            </a:r>
            <a:fld id="{19C3E58B-5408-4D45-ABE7-BFEC46FB7020}" type="slidenum">
              <a:rPr lang="en-US" altLang="en-US" sz="1200" smtClean="0">
                <a:solidFill>
                  <a:schemeClr val="tx1"/>
                </a:solidFill>
              </a:rPr>
              <a:pPr/>
              <a:t>28</a:t>
            </a:fld>
            <a:endParaRPr lang="en-US" altLang="en-US" sz="1200" smtClean="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smtClean="0"/>
              <a:t>Answers</a:t>
            </a:r>
          </a:p>
          <a:p>
            <a:pPr eaLnBrk="1" hangingPunct="1"/>
            <a:r>
              <a:rPr lang="en-US" smtClean="0"/>
              <a:t>1. Validation levels are used to track the maturity of a claim and its exposures during adjudication.</a:t>
            </a:r>
          </a:p>
          <a:p>
            <a:pPr eaLnBrk="1" hangingPunct="1"/>
            <a:r>
              <a:rPr lang="en-US" smtClean="0"/>
              <a:t>2.	a) The claim cannot be saved. It must be modified until it meets all conditions or cancelled.</a:t>
            </a:r>
          </a:p>
          <a:p>
            <a:pPr eaLnBrk="1" hangingPunct="1"/>
            <a:r>
              <a:rPr lang="en-US" smtClean="0"/>
              <a:t>	b) The claim is saved and is at least at the "new loss completion" level. It may be at a later level (such as "Valid for ISO" or "Send to External") if it meets all the conditions at these levels, but if it does not meet all the "ability to pay" conditions, then it will be below "ability to pay".</a:t>
            </a:r>
          </a:p>
          <a:p>
            <a:pPr eaLnBrk="1" hangingPunct="1"/>
            <a:r>
              <a:rPr lang="en-US" smtClean="0"/>
              <a:t>3.	a) ClaimCenter checks every time a change is made to the claim or its sub-objects.</a:t>
            </a:r>
          </a:p>
          <a:p>
            <a:pPr eaLnBrk="1" hangingPunct="1"/>
            <a:r>
              <a:rPr lang="en-US" smtClean="0"/>
              <a:t>	b) When the claim meets all conditions for the next level, it is promoted to that level.</a:t>
            </a:r>
          </a:p>
          <a:p>
            <a:pPr eaLnBrk="1" hangingPunct="1"/>
            <a:r>
              <a:rPr lang="en-US" smtClean="0"/>
              <a:t>4. You cannot start the payment wizard on claims that are not at ability to pay.</a:t>
            </a:r>
          </a:p>
          <a:p>
            <a:pPr eaLnBrk="1" hangingPunct="1"/>
            <a:r>
              <a:rPr lang="en-US" smtClean="0"/>
              <a:t>5. No. ClaimCenter prevents any change that would cause a claim to no longer meet the conditions for the level it is at or for any level below the level it is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smtClean="0">
                <a:solidFill>
                  <a:srgbClr val="FFFFFF"/>
                </a:solidFill>
                <a:latin typeface="Arial"/>
              </a:rPr>
              <a:t>|EON~029|</a:t>
            </a:r>
            <a:endParaRPr lang="en-US" sz="100">
              <a:solidFill>
                <a:srgbClr val="FFFFFF"/>
              </a:solidFill>
              <a:latin typeface="Arial"/>
            </a:endParaRPr>
          </a:p>
        </p:txBody>
      </p:sp>
      <p:sp>
        <p:nvSpPr>
          <p:cNvPr id="100354" name="Copyright"/>
          <p:cNvSpPr>
            <a:spLocks noGrp="1" noChangeArrowheads="1"/>
          </p:cNvSpPr>
          <p:nvPr>
            <p:ph type="sldNum" sz="quarter" idx="5"/>
          </p:nvPr>
        </p:nvSpPr>
        <p:spPr/>
        <p:txBody>
          <a:bodyPr/>
          <a:lstStyle/>
          <a:p>
            <a:pPr>
              <a:defRPr/>
            </a:pPr>
            <a:r>
              <a:rPr lang="en-US" altLang="en-US" dirty="0" smtClean="0"/>
              <a:t>	Adjudicating Claims - </a:t>
            </a:r>
            <a:fld id="{211C349A-83C9-44D0-A356-DBEB3FC715FC}" type="slidenum">
              <a:rPr lang="en-US" altLang="en-US" smtClean="0"/>
              <a:pPr>
                <a:defRPr/>
              </a:pPr>
              <a:t>29</a:t>
            </a:fld>
            <a:endParaRPr lang="en-US" altLang="en-US" dirty="0" smtClean="0"/>
          </a:p>
        </p:txBody>
      </p:sp>
      <p:sp>
        <p:nvSpPr>
          <p:cNvPr id="100355" name="SectionName"/>
          <p:cNvSpPr>
            <a:spLocks noGrp="1" noChangeArrowheads="1"/>
          </p:cNvSpPr>
          <p:nvPr>
            <p:ph type="hdr" sz="quarter"/>
          </p:nvPr>
        </p:nvSpPr>
        <p:spPr/>
        <p:txBody>
          <a:bodyPr/>
          <a:lstStyle/>
          <a:p>
            <a:pPr>
              <a:defRPr/>
            </a:pPr>
            <a:r>
              <a:rPr lang="en-US" altLang="en-US" smtClean="0"/>
              <a:t>	</a:t>
            </a:r>
            <a:endParaRPr lang="en-US"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398075653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05242950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04371173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310131056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35009641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915779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18500147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397924637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26000812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48162495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392314353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71029803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a:defRPr/>
              </a:pPr>
              <a:endParaRPr lang="en-US" sz="1600">
                <a:solidFill>
                  <a:srgbClr val="000000"/>
                </a:solidFill>
                <a:latin typeface="Arial" pitchFamily="34" charset="0"/>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spcAft>
                  <a:spcPct val="30000"/>
                </a:spcAft>
                <a:buClr>
                  <a:schemeClr val="tx1"/>
                </a:buClr>
                <a:defRPr/>
              </a:pPr>
              <a:endParaRPr lang="en-US">
                <a:latin typeface="Arial" pitchFamily="34" charset="0"/>
              </a:endParaRPr>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a:lnSpc>
                <a:spcPts val="1800"/>
              </a:lnSpc>
              <a:spcBef>
                <a:spcPts val="600"/>
              </a:spcBef>
              <a:buFont typeface="Wingdings" pitchFamily="2" charset="2"/>
              <a:buNone/>
              <a:defRPr/>
            </a:pPr>
            <a:fld id="{2BAD6AF7-9F14-4F98-8B4A-D4A4BC73A60B}" type="slidenum">
              <a:rPr lang="en-US" sz="1200">
                <a:solidFill>
                  <a:srgbClr val="B2B2B2"/>
                </a:solidFill>
                <a:latin typeface="Calibri" pitchFamily="34" charset="0"/>
                <a:cs typeface="Calibri" pitchFamily="34" charset="0"/>
              </a:rPr>
              <a:pPr>
                <a:lnSpc>
                  <a:spcPts val="1800"/>
                </a:lnSpc>
                <a:spcBef>
                  <a:spcPts val="600"/>
                </a:spcBef>
                <a:buFont typeface="Wingdings" pitchFamily="2" charset="2"/>
                <a:buNone/>
                <a:defRPr/>
              </a:pPr>
              <a:t>‹#›</a:t>
            </a:fld>
            <a:r>
              <a:rPr lang="en-US" sz="1800" i="1" dirty="0">
                <a:solidFill>
                  <a:srgbClr val="B2B2B2"/>
                </a:solidFill>
                <a:latin typeface="Arial" pitchFamily="34" charset="0"/>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dirty="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11"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9.w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5.wmf"/></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|EOS~001|</a:t>
            </a:r>
            <a:endParaRPr lang="en-US" sz="100" dirty="0" err="1" smtClean="0">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Adjudicating Claims</a:t>
            </a:r>
          </a:p>
        </p:txBody>
      </p:sp>
      <p:sp>
        <p:nvSpPr>
          <p:cNvPr id="4099" name="Text Placeholder 4"/>
          <p:cNvSpPr>
            <a:spLocks noGrp="1"/>
          </p:cNvSpPr>
          <p:nvPr>
            <p:ph type="body" sz="quarter" idx="10"/>
          </p:nvPr>
        </p:nvSpPr>
        <p:spPr>
          <a:xfrm>
            <a:off x="5718175" y="6167438"/>
            <a:ext cx="3089275" cy="273050"/>
          </a:xfrm>
        </p:spPr>
        <p:txBody>
          <a:bodyPr/>
          <a:lstStyle/>
          <a:p>
            <a:r>
              <a:rPr lang="en-US" dirty="0" smtClean="0"/>
              <a:t>18 March 2014</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|EOS~002|</a:t>
            </a:r>
            <a:endParaRPr lang="en-US" sz="100" dirty="0" err="1" smtClean="0">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smtClean="0"/>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smtClean="0"/>
              <a:t>By the end of this lesson, you should be able to:</a:t>
            </a:r>
          </a:p>
          <a:p>
            <a:pPr lvl="1"/>
            <a:r>
              <a:rPr lang="en-US" smtClean="0"/>
              <a:t>Describe the issues involved in the adjudication process </a:t>
            </a:r>
          </a:p>
          <a:p>
            <a:pPr lvl="1"/>
            <a:r>
              <a:rPr lang="en-US" smtClean="0"/>
              <a:t>Describe ClaimCenter functionality relevant to:</a:t>
            </a:r>
          </a:p>
          <a:p>
            <a:pPr lvl="2"/>
            <a:r>
              <a:rPr lang="en-US" smtClean="0"/>
              <a:t>The adjudication of auto claims</a:t>
            </a:r>
          </a:p>
          <a:p>
            <a:pPr lvl="2"/>
            <a:r>
              <a:rPr lang="en-US" smtClean="0"/>
              <a:t>The adjudication of workers' comp claims</a:t>
            </a:r>
          </a:p>
          <a:p>
            <a:pPr lvl="1"/>
            <a:r>
              <a:rPr lang="en-US" smtClean="0"/>
              <a:t>Describe how claims and exposures mature to the point where payments can be made against them</a:t>
            </a:r>
          </a:p>
          <a:p>
            <a:pPr lvl="1"/>
            <a:endParaRPr lang="en-US" smtClean="0"/>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a:spcBef>
                <a:spcPct val="20000"/>
              </a:spcBef>
              <a:buSzPct val="90000"/>
              <a:buFont typeface="Wingdings 2" pitchFamily="18" charset="2"/>
              <a:buNone/>
            </a:pPr>
            <a:r>
              <a:rPr lang="en-US" dirty="0">
                <a:solidFill>
                  <a:srgbClr val="AA3704"/>
                </a:solidFill>
              </a:rPr>
              <a:t>This lesson uses the notes section for additional explanation and information.</a:t>
            </a:r>
            <a:br>
              <a:rPr lang="en-US" dirty="0">
                <a:solidFill>
                  <a:srgbClr val="AA3704"/>
                </a:solidFill>
              </a:rPr>
            </a:br>
            <a:r>
              <a:rPr lang="en-US" dirty="0">
                <a:solidFill>
                  <a:srgbClr val="AA3704"/>
                </a:solidFill>
              </a:rPr>
              <a:t>To view the notes in PowerPoint, choose </a:t>
            </a:r>
            <a:r>
              <a:rPr lang="en-US" dirty="0" err="1">
                <a:solidFill>
                  <a:srgbClr val="AA3704"/>
                </a:solidFill>
              </a:rPr>
              <a:t>View</a:t>
            </a:r>
            <a:r>
              <a:rPr lang="en-US" dirty="0" err="1">
                <a:solidFill>
                  <a:srgbClr val="AA3704"/>
                </a:solidFill>
                <a:sym typeface="Wingdings" pitchFamily="2" charset="2"/>
              </a:rPr>
              <a:t>Normal</a:t>
            </a:r>
            <a:r>
              <a:rPr lang="en-US" dirty="0">
                <a:solidFill>
                  <a:srgbClr val="AA3704"/>
                </a:solidFill>
                <a:sym typeface="Wingdings" pitchFamily="2" charset="2"/>
              </a:rPr>
              <a:t> or </a:t>
            </a:r>
            <a:r>
              <a:rPr lang="en-US" dirty="0" err="1">
                <a:solidFill>
                  <a:srgbClr val="AA3704"/>
                </a:solidFill>
              </a:rPr>
              <a:t>View</a:t>
            </a:r>
            <a:r>
              <a:rPr lang="en-US" dirty="0" err="1">
                <a:solidFill>
                  <a:srgbClr val="AA3704"/>
                </a:solidFill>
                <a:sym typeface="Wingdings" pitchFamily="2" charset="2"/>
              </a:rPr>
              <a:t></a:t>
            </a:r>
            <a:r>
              <a:rPr lang="en-US" dirty="0" err="1">
                <a:solidFill>
                  <a:srgbClr val="AA3704"/>
                </a:solidFill>
              </a:rPr>
              <a:t>Notes</a:t>
            </a:r>
            <a:r>
              <a:rPr lang="en-US" dirty="0">
                <a:solidFill>
                  <a:srgbClr val="AA3704"/>
                </a:solidFill>
              </a:rPr>
              <a:t> Page.</a:t>
            </a:r>
            <a:br>
              <a:rPr lang="en-US" dirty="0">
                <a:solidFill>
                  <a:srgbClr val="AA3704"/>
                </a:solidFill>
              </a:rPr>
            </a:br>
            <a:r>
              <a:rPr lang="en-US" dirty="0">
                <a:solidFill>
                  <a:srgbClr val="AA3704"/>
                </a:solidFill>
              </a:rPr>
              <a:t>If you choose to print the notes for the lesson, be sure to select “Print hidden slides.”</a:t>
            </a:r>
          </a:p>
          <a:p>
            <a:pPr lvl="1" algn="l">
              <a:spcBef>
                <a:spcPct val="20000"/>
              </a:spcBef>
              <a:buSzPct val="90000"/>
              <a:buFont typeface="Wingdings 2" pitchFamily="18" charset="2"/>
              <a:buNone/>
            </a:pPr>
            <a:endParaRPr lang="en-US" dirty="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|EOS~003|</a:t>
            </a:r>
            <a:endParaRPr lang="en-US" sz="100" dirty="0" err="1" smtClean="0">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Adjudication basics</a:t>
            </a:r>
          </a:p>
          <a:p>
            <a:pPr>
              <a:lnSpc>
                <a:spcPct val="150000"/>
              </a:lnSpc>
              <a:buFont typeface="Arial" charset="0"/>
              <a:buChar char="•"/>
            </a:pPr>
            <a:r>
              <a:rPr lang="en-US" sz="2800" smtClean="0">
                <a:solidFill>
                  <a:srgbClr val="C0C0C0"/>
                </a:solidFill>
              </a:rPr>
              <a:t>Adjudication</a:t>
            </a:r>
          </a:p>
          <a:p>
            <a:pPr>
              <a:lnSpc>
                <a:spcPct val="150000"/>
              </a:lnSpc>
              <a:buFont typeface="Arial" charset="0"/>
              <a:buChar char="•"/>
            </a:pPr>
            <a:r>
              <a:rPr lang="en-US" sz="2800" smtClean="0">
                <a:solidFill>
                  <a:srgbClr val="C0C0C0"/>
                </a:solidFill>
              </a:rPr>
              <a:t>The end of adjudication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|EOS~004|</a:t>
            </a:r>
            <a:endParaRPr lang="en-US" sz="100" dirty="0" err="1" smtClean="0">
              <a:solidFill>
                <a:srgbClr val="FFFFFF"/>
              </a:solidFill>
              <a:latin typeface="Arial"/>
              <a:cs typeface="Calibri" pitchFamily="34" charset="0"/>
            </a:endParaRPr>
          </a:p>
        </p:txBody>
      </p:sp>
      <p:sp>
        <p:nvSpPr>
          <p:cNvPr id="7170" name="Rectangle 2"/>
          <p:cNvSpPr>
            <a:spLocks noChangeArrowheads="1"/>
          </p:cNvSpPr>
          <p:nvPr/>
        </p:nvSpPr>
        <p:spPr bwMode="auto">
          <a:xfrm>
            <a:off x="733425" y="2992438"/>
            <a:ext cx="2925763" cy="481012"/>
          </a:xfrm>
          <a:prstGeom prst="rect">
            <a:avLst/>
          </a:prstGeom>
          <a:solidFill>
            <a:srgbClr val="FF00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7171" name="Text Box 3"/>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Adjudication</a:t>
            </a:r>
          </a:p>
        </p:txBody>
      </p:sp>
      <p:sp>
        <p:nvSpPr>
          <p:cNvPr id="7172" name="Rectangle 4"/>
          <p:cNvSpPr>
            <a:spLocks noChangeArrowheads="1"/>
          </p:cNvSpPr>
          <p:nvPr/>
        </p:nvSpPr>
        <p:spPr bwMode="auto">
          <a:xfrm>
            <a:off x="3841750" y="908050"/>
            <a:ext cx="1495425"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73" name="Text Box 5"/>
          <p:cNvSpPr txBox="1">
            <a:spLocks noChangeArrowheads="1"/>
          </p:cNvSpPr>
          <p:nvPr/>
        </p:nvSpPr>
        <p:spPr bwMode="auto">
          <a:xfrm>
            <a:off x="3898900" y="965200"/>
            <a:ext cx="1381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Litigation</a:t>
            </a:r>
          </a:p>
        </p:txBody>
      </p:sp>
      <p:sp>
        <p:nvSpPr>
          <p:cNvPr id="7174" name="Rectangle 6"/>
          <p:cNvSpPr>
            <a:spLocks noGrp="1" noChangeArrowheads="1"/>
          </p:cNvSpPr>
          <p:nvPr>
            <p:ph type="title"/>
          </p:nvPr>
        </p:nvSpPr>
        <p:spPr/>
        <p:txBody>
          <a:bodyPr/>
          <a:lstStyle/>
          <a:p>
            <a:pPr eaLnBrk="1" hangingPunct="1"/>
            <a:r>
              <a:rPr lang="en-US" smtClean="0"/>
              <a:t>Adjudication: The business perspective</a:t>
            </a:r>
          </a:p>
        </p:txBody>
      </p:sp>
      <p:sp>
        <p:nvSpPr>
          <p:cNvPr id="7175" name="Rectangle 11"/>
          <p:cNvSpPr>
            <a:spLocks noGrp="1" noChangeArrowheads="1"/>
          </p:cNvSpPr>
          <p:nvPr>
            <p:ph idx="1"/>
          </p:nvPr>
        </p:nvSpPr>
        <p:spPr>
          <a:xfrm>
            <a:off x="6281738" y="1795463"/>
            <a:ext cx="2722562" cy="4594225"/>
          </a:xfrm>
        </p:spPr>
        <p:txBody>
          <a:bodyPr/>
          <a:lstStyle/>
          <a:p>
            <a:pPr>
              <a:buFont typeface="Arial" charset="0"/>
              <a:buChar char="•"/>
            </a:pPr>
            <a:r>
              <a:rPr lang="en-US" smtClean="0"/>
              <a:t>Adjudication is the process of determining:</a:t>
            </a:r>
          </a:p>
          <a:p>
            <a:pPr lvl="1"/>
            <a:r>
              <a:rPr lang="en-US" smtClean="0"/>
              <a:t>If you are going to pay a claim, and</a:t>
            </a:r>
          </a:p>
          <a:p>
            <a:pPr lvl="1"/>
            <a:r>
              <a:rPr lang="en-US" smtClean="0"/>
              <a:t>If so, how much you are going to pay</a:t>
            </a:r>
          </a:p>
        </p:txBody>
      </p:sp>
      <p:sp>
        <p:nvSpPr>
          <p:cNvPr id="7176" name="Line 7"/>
          <p:cNvSpPr>
            <a:spLocks noChangeShapeType="1"/>
          </p:cNvSpPr>
          <p:nvPr/>
        </p:nvSpPr>
        <p:spPr bwMode="auto">
          <a:xfrm>
            <a:off x="4556125" y="6035675"/>
            <a:ext cx="0" cy="4476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77" name="Line 8"/>
          <p:cNvSpPr>
            <a:spLocks noChangeShapeType="1"/>
          </p:cNvSpPr>
          <p:nvPr/>
        </p:nvSpPr>
        <p:spPr bwMode="auto">
          <a:xfrm>
            <a:off x="4556125" y="2393950"/>
            <a:ext cx="0" cy="3333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8" name="Line 9"/>
          <p:cNvSpPr>
            <a:spLocks noChangeShapeType="1"/>
          </p:cNvSpPr>
          <p:nvPr/>
        </p:nvSpPr>
        <p:spPr bwMode="auto">
          <a:xfrm>
            <a:off x="4556125" y="3740150"/>
            <a:ext cx="0" cy="69850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79" name="Line 10"/>
          <p:cNvSpPr>
            <a:spLocks noChangeShapeType="1"/>
          </p:cNvSpPr>
          <p:nvPr/>
        </p:nvSpPr>
        <p:spPr bwMode="auto">
          <a:xfrm>
            <a:off x="4556125" y="1778000"/>
            <a:ext cx="0" cy="20002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0" name="Text Box 12"/>
          <p:cNvSpPr txBox="1">
            <a:spLocks noChangeArrowheads="1"/>
          </p:cNvSpPr>
          <p:nvPr/>
        </p:nvSpPr>
        <p:spPr bwMode="auto">
          <a:xfrm>
            <a:off x="5453063" y="965200"/>
            <a:ext cx="24399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400" b="1"/>
              <a:t>Fraud Detection</a:t>
            </a:r>
          </a:p>
        </p:txBody>
      </p:sp>
      <p:sp>
        <p:nvSpPr>
          <p:cNvPr id="7181" name="Rectangle 13"/>
          <p:cNvSpPr>
            <a:spLocks noChangeArrowheads="1"/>
          </p:cNvSpPr>
          <p:nvPr/>
        </p:nvSpPr>
        <p:spPr bwMode="auto">
          <a:xfrm>
            <a:off x="5419725" y="908050"/>
            <a:ext cx="2355850"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2" name="Line 14"/>
          <p:cNvSpPr>
            <a:spLocks noChangeShapeType="1"/>
          </p:cNvSpPr>
          <p:nvPr/>
        </p:nvSpPr>
        <p:spPr bwMode="auto">
          <a:xfrm>
            <a:off x="5878513" y="1379538"/>
            <a:ext cx="0" cy="51371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183" name="Rectangle 15"/>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4" name="Rectangle 16"/>
          <p:cNvSpPr>
            <a:spLocks noChangeArrowheads="1"/>
          </p:cNvSpPr>
          <p:nvPr/>
        </p:nvSpPr>
        <p:spPr bwMode="auto">
          <a:xfrm>
            <a:off x="733425" y="44910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5" name="Rectangle 17"/>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7186" name="Text Box 18"/>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Intake</a:t>
            </a:r>
          </a:p>
        </p:txBody>
      </p:sp>
      <p:sp>
        <p:nvSpPr>
          <p:cNvPr id="7187" name="Text Box 19"/>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Payment</a:t>
            </a:r>
          </a:p>
        </p:txBody>
      </p:sp>
      <p:sp>
        <p:nvSpPr>
          <p:cNvPr id="7188" name="Text Box 20"/>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Recovery</a:t>
            </a:r>
          </a:p>
        </p:txBody>
      </p:sp>
      <p:sp>
        <p:nvSpPr>
          <p:cNvPr id="7189" name="Line 21"/>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0" name="Line 22"/>
          <p:cNvSpPr>
            <a:spLocks noChangeShapeType="1"/>
          </p:cNvSpPr>
          <p:nvPr/>
        </p:nvSpPr>
        <p:spPr bwMode="auto">
          <a:xfrm>
            <a:off x="2197100" y="3482975"/>
            <a:ext cx="0" cy="9937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191" name="Line 23"/>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|EOS~005|</a:t>
            </a:r>
            <a:endParaRPr lang="en-US" sz="100" dirty="0" err="1" smtClean="0">
              <a:solidFill>
                <a:srgbClr val="FFFFFF"/>
              </a:solidFill>
              <a:latin typeface="Arial"/>
              <a:cs typeface="Calibri" pitchFamily="34" charset="0"/>
            </a:endParaRPr>
          </a:p>
        </p:txBody>
      </p:sp>
      <p:sp>
        <p:nvSpPr>
          <p:cNvPr id="8194" name="Line 2"/>
          <p:cNvSpPr>
            <a:spLocks noChangeShapeType="1"/>
          </p:cNvSpPr>
          <p:nvPr/>
        </p:nvSpPr>
        <p:spPr bwMode="auto">
          <a:xfrm>
            <a:off x="1181100" y="1608138"/>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5" name="Line 3"/>
          <p:cNvSpPr>
            <a:spLocks noChangeShapeType="1"/>
          </p:cNvSpPr>
          <p:nvPr/>
        </p:nvSpPr>
        <p:spPr bwMode="auto">
          <a:xfrm>
            <a:off x="1181100" y="2470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196" name="Line 4"/>
          <p:cNvSpPr>
            <a:spLocks noChangeShapeType="1"/>
          </p:cNvSpPr>
          <p:nvPr/>
        </p:nvSpPr>
        <p:spPr bwMode="auto">
          <a:xfrm>
            <a:off x="1181100" y="3481388"/>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197" name="Line 5"/>
          <p:cNvSpPr>
            <a:spLocks noChangeShapeType="1"/>
          </p:cNvSpPr>
          <p:nvPr/>
        </p:nvSpPr>
        <p:spPr bwMode="auto">
          <a:xfrm>
            <a:off x="1181100" y="446722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198" name="Line 6"/>
          <p:cNvSpPr>
            <a:spLocks noChangeShapeType="1"/>
          </p:cNvSpPr>
          <p:nvPr/>
        </p:nvSpPr>
        <p:spPr bwMode="auto">
          <a:xfrm>
            <a:off x="1181100" y="6357938"/>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199" name="Line 7"/>
          <p:cNvSpPr>
            <a:spLocks noChangeShapeType="1"/>
          </p:cNvSpPr>
          <p:nvPr/>
        </p:nvSpPr>
        <p:spPr bwMode="auto">
          <a:xfrm>
            <a:off x="1181100" y="5908675"/>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0" name="Line 8"/>
          <p:cNvSpPr>
            <a:spLocks noChangeShapeType="1"/>
          </p:cNvSpPr>
          <p:nvPr/>
        </p:nvSpPr>
        <p:spPr bwMode="auto">
          <a:xfrm>
            <a:off x="1181100" y="5443538"/>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201" name="Rectangle 9"/>
          <p:cNvSpPr>
            <a:spLocks noGrp="1" noChangeArrowheads="1"/>
          </p:cNvSpPr>
          <p:nvPr>
            <p:ph type="title"/>
          </p:nvPr>
        </p:nvSpPr>
        <p:spPr/>
        <p:txBody>
          <a:bodyPr/>
          <a:lstStyle/>
          <a:p>
            <a:pPr eaLnBrk="1" hangingPunct="1"/>
            <a:r>
              <a:rPr lang="en-US" smtClean="0"/>
              <a:t>Adjudication: The functional perspective</a:t>
            </a:r>
          </a:p>
        </p:txBody>
      </p:sp>
      <p:sp>
        <p:nvSpPr>
          <p:cNvPr id="8202" name="Rectangle 189"/>
          <p:cNvSpPr>
            <a:spLocks noGrp="1" noChangeArrowheads="1"/>
          </p:cNvSpPr>
          <p:nvPr>
            <p:ph idx="1"/>
          </p:nvPr>
        </p:nvSpPr>
        <p:spPr>
          <a:xfrm>
            <a:off x="5605463" y="1192213"/>
            <a:ext cx="3232150" cy="5197475"/>
          </a:xfrm>
        </p:spPr>
        <p:txBody>
          <a:bodyPr/>
          <a:lstStyle/>
          <a:p>
            <a:pPr>
              <a:buFont typeface="Arial" charset="0"/>
              <a:buChar char="•"/>
            </a:pPr>
            <a:r>
              <a:rPr lang="en-US" smtClean="0"/>
              <a:t>Within ClaimCenter, adjudication is the process of:</a:t>
            </a:r>
          </a:p>
          <a:p>
            <a:pPr lvl="1"/>
            <a:r>
              <a:rPr lang="en-US" smtClean="0"/>
              <a:t>Completing the relevant activities on the claim and its exposures</a:t>
            </a:r>
          </a:p>
          <a:p>
            <a:pPr lvl="1"/>
            <a:r>
              <a:rPr lang="en-US" smtClean="0"/>
              <a:t>Moving the claim and its exposures to the "ability to pay" level of maturity</a:t>
            </a:r>
          </a:p>
        </p:txBody>
      </p:sp>
      <p:grpSp>
        <p:nvGrpSpPr>
          <p:cNvPr id="8203" name="Group 10"/>
          <p:cNvGrpSpPr>
            <a:grpSpLocks/>
          </p:cNvGrpSpPr>
          <p:nvPr/>
        </p:nvGrpSpPr>
        <p:grpSpPr bwMode="auto">
          <a:xfrm>
            <a:off x="517525" y="962025"/>
            <a:ext cx="1323975" cy="976313"/>
            <a:chOff x="2083" y="1606"/>
            <a:chExt cx="1489" cy="1097"/>
          </a:xfrm>
        </p:grpSpPr>
        <p:sp>
          <p:nvSpPr>
            <p:cNvPr id="8349"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8350"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351"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352"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8353"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8354"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8355"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356"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8357" name="Freeform 19"/>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358" name="Freeform 20"/>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359"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360"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361"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8362" name="Group 24"/>
            <p:cNvGrpSpPr>
              <a:grpSpLocks/>
            </p:cNvGrpSpPr>
            <p:nvPr/>
          </p:nvGrpSpPr>
          <p:grpSpPr bwMode="auto">
            <a:xfrm>
              <a:off x="2221" y="1871"/>
              <a:ext cx="518" cy="782"/>
              <a:chOff x="2400" y="1656"/>
              <a:chExt cx="752" cy="1136"/>
            </a:xfrm>
          </p:grpSpPr>
          <p:sp>
            <p:nvSpPr>
              <p:cNvPr id="8375"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376"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377"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378"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379"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8380"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8381"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363" name="Group 32"/>
            <p:cNvGrpSpPr>
              <a:grpSpLocks/>
            </p:cNvGrpSpPr>
            <p:nvPr/>
          </p:nvGrpSpPr>
          <p:grpSpPr bwMode="auto">
            <a:xfrm rot="-6511945">
              <a:off x="2834" y="1842"/>
              <a:ext cx="518" cy="783"/>
              <a:chOff x="2400" y="1656"/>
              <a:chExt cx="752" cy="1136"/>
            </a:xfrm>
          </p:grpSpPr>
          <p:sp>
            <p:nvSpPr>
              <p:cNvPr id="8368"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369"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370"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371"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372"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8373"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374"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364" name="Freeform 40"/>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365" name="Freeform 41"/>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8366"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8367"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8204" name="Group 44"/>
          <p:cNvGrpSpPr>
            <a:grpSpLocks/>
          </p:cNvGrpSpPr>
          <p:nvPr/>
        </p:nvGrpSpPr>
        <p:grpSpPr bwMode="auto">
          <a:xfrm>
            <a:off x="2151063" y="2081213"/>
            <a:ext cx="822325" cy="817562"/>
            <a:chOff x="3360" y="800"/>
            <a:chExt cx="620" cy="616"/>
          </a:xfrm>
        </p:grpSpPr>
        <p:sp>
          <p:nvSpPr>
            <p:cNvPr id="8343" name="AutoShape 4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8344" name="Freeform 46"/>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8345" name="Group 47"/>
            <p:cNvGrpSpPr>
              <a:grpSpLocks/>
            </p:cNvGrpSpPr>
            <p:nvPr/>
          </p:nvGrpSpPr>
          <p:grpSpPr bwMode="auto">
            <a:xfrm flipH="1">
              <a:off x="3749" y="1171"/>
              <a:ext cx="212" cy="213"/>
              <a:chOff x="1350" y="686"/>
              <a:chExt cx="1132" cy="1132"/>
            </a:xfrm>
          </p:grpSpPr>
          <p:sp>
            <p:nvSpPr>
              <p:cNvPr id="8347" name="AutoShape 4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8348" name="Picture 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346" name="Picture 5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205" name="Group 51"/>
          <p:cNvGrpSpPr>
            <a:grpSpLocks/>
          </p:cNvGrpSpPr>
          <p:nvPr/>
        </p:nvGrpSpPr>
        <p:grpSpPr bwMode="auto">
          <a:xfrm>
            <a:off x="2170113" y="5038725"/>
            <a:ext cx="517525" cy="658813"/>
            <a:chOff x="2401" y="425"/>
            <a:chExt cx="907" cy="1154"/>
          </a:xfrm>
        </p:grpSpPr>
        <p:sp>
          <p:nvSpPr>
            <p:cNvPr id="8337" name="Rectangle 5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8338" name="Line 5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39" name="Line 5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40" name="Rectangle 5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8341" name="Freeform 56"/>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8342" name="Line 5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206" name="Group 58"/>
          <p:cNvGrpSpPr>
            <a:grpSpLocks/>
          </p:cNvGrpSpPr>
          <p:nvPr/>
        </p:nvGrpSpPr>
        <p:grpSpPr bwMode="auto">
          <a:xfrm>
            <a:off x="2151063" y="3057525"/>
            <a:ext cx="822325" cy="817563"/>
            <a:chOff x="3360" y="800"/>
            <a:chExt cx="620" cy="616"/>
          </a:xfrm>
        </p:grpSpPr>
        <p:sp>
          <p:nvSpPr>
            <p:cNvPr id="8331" name="AutoShape 5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8332" name="Freeform 60"/>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8333" name="Group 61"/>
            <p:cNvGrpSpPr>
              <a:grpSpLocks/>
            </p:cNvGrpSpPr>
            <p:nvPr/>
          </p:nvGrpSpPr>
          <p:grpSpPr bwMode="auto">
            <a:xfrm flipH="1">
              <a:off x="3749" y="1171"/>
              <a:ext cx="212" cy="213"/>
              <a:chOff x="1350" y="686"/>
              <a:chExt cx="1132" cy="1132"/>
            </a:xfrm>
          </p:grpSpPr>
          <p:sp>
            <p:nvSpPr>
              <p:cNvPr id="8335" name="AutoShape 6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8336" name="Picture 6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334" name="Picture 6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207" name="Group 65"/>
          <p:cNvGrpSpPr>
            <a:grpSpLocks/>
          </p:cNvGrpSpPr>
          <p:nvPr/>
        </p:nvGrpSpPr>
        <p:grpSpPr bwMode="auto">
          <a:xfrm>
            <a:off x="2151063" y="4035425"/>
            <a:ext cx="822325" cy="817563"/>
            <a:chOff x="3360" y="800"/>
            <a:chExt cx="620" cy="616"/>
          </a:xfrm>
        </p:grpSpPr>
        <p:sp>
          <p:nvSpPr>
            <p:cNvPr id="8325" name="AutoShape 6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8326" name="Freeform 67"/>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8327" name="Group 68"/>
            <p:cNvGrpSpPr>
              <a:grpSpLocks/>
            </p:cNvGrpSpPr>
            <p:nvPr/>
          </p:nvGrpSpPr>
          <p:grpSpPr bwMode="auto">
            <a:xfrm flipH="1">
              <a:off x="3749" y="1171"/>
              <a:ext cx="212" cy="213"/>
              <a:chOff x="1350" y="686"/>
              <a:chExt cx="1132" cy="1132"/>
            </a:xfrm>
          </p:grpSpPr>
          <p:sp>
            <p:nvSpPr>
              <p:cNvPr id="8329" name="AutoShape 6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8330" name="Picture 7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8328" name="Picture 7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208" name="Group 72"/>
          <p:cNvGrpSpPr>
            <a:grpSpLocks/>
          </p:cNvGrpSpPr>
          <p:nvPr/>
        </p:nvGrpSpPr>
        <p:grpSpPr bwMode="auto">
          <a:xfrm>
            <a:off x="2432050" y="5487988"/>
            <a:ext cx="517525" cy="658812"/>
            <a:chOff x="2401" y="425"/>
            <a:chExt cx="907" cy="1154"/>
          </a:xfrm>
        </p:grpSpPr>
        <p:sp>
          <p:nvSpPr>
            <p:cNvPr id="8319" name="Rectangle 7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8320" name="Line 7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21" name="Line 7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22" name="Rectangle 7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8323" name="Freeform 77"/>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8324" name="Line 7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209" name="Group 79"/>
          <p:cNvGrpSpPr>
            <a:grpSpLocks/>
          </p:cNvGrpSpPr>
          <p:nvPr/>
        </p:nvGrpSpPr>
        <p:grpSpPr bwMode="auto">
          <a:xfrm>
            <a:off x="2693988" y="5935663"/>
            <a:ext cx="517525" cy="658812"/>
            <a:chOff x="2401" y="425"/>
            <a:chExt cx="907" cy="1154"/>
          </a:xfrm>
        </p:grpSpPr>
        <p:sp>
          <p:nvSpPr>
            <p:cNvPr id="8313" name="Rectangle 8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8314" name="Line 8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5" name="Line 8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8316" name="Rectangle 8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8317" name="Freeform 84"/>
            <p:cNvSpPr>
              <a:spLocks/>
            </p:cNvSpPr>
            <p:nvPr/>
          </p:nvSpPr>
          <p:spPr bwMode="auto">
            <a:xfrm>
              <a:off x="2643" y="789"/>
              <a:ext cx="309" cy="257"/>
            </a:xfrm>
            <a:custGeom>
              <a:avLst/>
              <a:gdLst>
                <a:gd name="T0" fmla="*/ 214 w 234"/>
                <a:gd name="T1" fmla="*/ 0 h 195"/>
                <a:gd name="T2" fmla="*/ 48 w 234"/>
                <a:gd name="T3" fmla="*/ 72 h 195"/>
                <a:gd name="T4" fmla="*/ 0 w 234"/>
                <a:gd name="T5" fmla="*/ 339 h 195"/>
                <a:gd name="T6" fmla="*/ 314 w 234"/>
                <a:gd name="T7" fmla="*/ 339 h 195"/>
                <a:gd name="T8" fmla="*/ 408 w 234"/>
                <a:gd name="T9" fmla="*/ 192 h 195"/>
                <a:gd name="T10" fmla="*/ 21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8318" name="Line 8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8210" name="Group 86"/>
          <p:cNvGrpSpPr>
            <a:grpSpLocks/>
          </p:cNvGrpSpPr>
          <p:nvPr/>
        </p:nvGrpSpPr>
        <p:grpSpPr bwMode="auto">
          <a:xfrm>
            <a:off x="3522663" y="4208463"/>
            <a:ext cx="509587" cy="493712"/>
            <a:chOff x="4200" y="2899"/>
            <a:chExt cx="915" cy="885"/>
          </a:xfrm>
        </p:grpSpPr>
        <p:sp>
          <p:nvSpPr>
            <p:cNvPr id="8296" name="Rectangle 87"/>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8297" name="AutoShape 88"/>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98" name="AutoShape 89"/>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99" name="AutoShape 90"/>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300" name="Freeform 91"/>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301" name="Freeform 92"/>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302" name="Freeform 93"/>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303" name="Freeform 94"/>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304" name="Freeform 95"/>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305" name="Freeform 96"/>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306" name="Freeform 97"/>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307" name="Line 98"/>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308" name="Line 99"/>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309" name="Line 100"/>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310" name="Line 101"/>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311" name="Line 102"/>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312" name="Line 103"/>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11" name="AutoShape 104"/>
          <p:cNvSpPr>
            <a:spLocks noChangeArrowheads="1"/>
          </p:cNvSpPr>
          <p:nvPr/>
        </p:nvSpPr>
        <p:spPr bwMode="auto">
          <a:xfrm>
            <a:off x="2990850" y="4246563"/>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8212" name="Group 105"/>
          <p:cNvGrpSpPr>
            <a:grpSpLocks/>
          </p:cNvGrpSpPr>
          <p:nvPr/>
        </p:nvGrpSpPr>
        <p:grpSpPr bwMode="auto">
          <a:xfrm>
            <a:off x="3502025" y="3241675"/>
            <a:ext cx="509588" cy="493713"/>
            <a:chOff x="4200" y="2899"/>
            <a:chExt cx="915" cy="885"/>
          </a:xfrm>
        </p:grpSpPr>
        <p:sp>
          <p:nvSpPr>
            <p:cNvPr id="8279" name="Rectangle 106"/>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8280" name="AutoShape 107"/>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81" name="AutoShape 108"/>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82" name="AutoShape 109"/>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83" name="Freeform 110"/>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84" name="Freeform 111"/>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85" name="Freeform 112"/>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86" name="Freeform 113"/>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87" name="Freeform 114"/>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88" name="Freeform 115"/>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89" name="Freeform 116"/>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90" name="Line 117"/>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91" name="Line 118"/>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92" name="Line 119"/>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93" name="Line 120"/>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94" name="Line 121"/>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95" name="Line 122"/>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13" name="AutoShape 123"/>
          <p:cNvSpPr>
            <a:spLocks noChangeArrowheads="1"/>
          </p:cNvSpPr>
          <p:nvPr/>
        </p:nvSpPr>
        <p:spPr bwMode="auto">
          <a:xfrm>
            <a:off x="2970213" y="3279775"/>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8214" name="Group 124"/>
          <p:cNvGrpSpPr>
            <a:grpSpLocks/>
          </p:cNvGrpSpPr>
          <p:nvPr/>
        </p:nvGrpSpPr>
        <p:grpSpPr bwMode="auto">
          <a:xfrm>
            <a:off x="3516313" y="2492375"/>
            <a:ext cx="509587" cy="493713"/>
            <a:chOff x="4200" y="2899"/>
            <a:chExt cx="915" cy="885"/>
          </a:xfrm>
        </p:grpSpPr>
        <p:sp>
          <p:nvSpPr>
            <p:cNvPr id="8262" name="Rectangle 125"/>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8263" name="AutoShape 126"/>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64" name="AutoShape 127"/>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65" name="AutoShape 128"/>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66" name="Freeform 12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67" name="Freeform 13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68" name="Freeform 13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69" name="Freeform 13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70" name="Freeform 13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71" name="Freeform 13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72" name="Freeform 13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73" name="Line 136"/>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74" name="Line 137"/>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75" name="Line 138"/>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76" name="Line 139"/>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77" name="Line 140"/>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78" name="Line 141"/>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15" name="AutoShape 142"/>
          <p:cNvSpPr>
            <a:spLocks noChangeArrowheads="1"/>
          </p:cNvSpPr>
          <p:nvPr/>
        </p:nvSpPr>
        <p:spPr bwMode="auto">
          <a:xfrm>
            <a:off x="2984500" y="2530475"/>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8216" name="Group 143"/>
          <p:cNvGrpSpPr>
            <a:grpSpLocks/>
          </p:cNvGrpSpPr>
          <p:nvPr/>
        </p:nvGrpSpPr>
        <p:grpSpPr bwMode="auto">
          <a:xfrm>
            <a:off x="3506788" y="1978025"/>
            <a:ext cx="509587" cy="493713"/>
            <a:chOff x="4200" y="2899"/>
            <a:chExt cx="915" cy="885"/>
          </a:xfrm>
        </p:grpSpPr>
        <p:sp>
          <p:nvSpPr>
            <p:cNvPr id="8245" name="Rectangle 144"/>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8246" name="AutoShape 145"/>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47" name="AutoShape 146"/>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48" name="AutoShape 147"/>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8249" name="Freeform 148"/>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50" name="Freeform 149"/>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51" name="Freeform 150"/>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52" name="Freeform 151"/>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53" name="Freeform 152"/>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54" name="Freeform 153"/>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55" name="Freeform 154"/>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cap="flat" cmpd="sng">
              <a:solidFill>
                <a:srgbClr val="4D4D4D"/>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8256" name="Line 155"/>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57" name="Line 156"/>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58" name="Line 157"/>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59" name="Line 158"/>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60" name="Line 159"/>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8261" name="Line 160"/>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8217" name="AutoShape 161"/>
          <p:cNvSpPr>
            <a:spLocks noChangeArrowheads="1"/>
          </p:cNvSpPr>
          <p:nvPr/>
        </p:nvSpPr>
        <p:spPr bwMode="auto">
          <a:xfrm>
            <a:off x="2974975" y="2016125"/>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8218" name="Text Box 162"/>
          <p:cNvSpPr txBox="1">
            <a:spLocks noChangeArrowheads="1"/>
          </p:cNvSpPr>
          <p:nvPr/>
        </p:nvSpPr>
        <p:spPr bwMode="auto">
          <a:xfrm>
            <a:off x="1104900" y="21828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r" eaLnBrk="1" hangingPunct="1">
              <a:spcAft>
                <a:spcPct val="30000"/>
              </a:spcAft>
              <a:buClr>
                <a:schemeClr val="tx1"/>
              </a:buClr>
              <a:buFontTx/>
              <a:buNone/>
            </a:pPr>
            <a:r>
              <a:rPr lang="en-US" sz="1800" b="1"/>
              <a:t>collision</a:t>
            </a:r>
          </a:p>
        </p:txBody>
      </p:sp>
      <p:sp>
        <p:nvSpPr>
          <p:cNvPr id="8219" name="Text Box 163"/>
          <p:cNvSpPr txBox="1">
            <a:spLocks noChangeArrowheads="1"/>
          </p:cNvSpPr>
          <p:nvPr/>
        </p:nvSpPr>
        <p:spPr bwMode="auto">
          <a:xfrm>
            <a:off x="1104900" y="3181350"/>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r" eaLnBrk="1" hangingPunct="1">
              <a:spcAft>
                <a:spcPct val="30000"/>
              </a:spcAft>
              <a:buClr>
                <a:schemeClr val="tx1"/>
              </a:buClr>
              <a:buFontTx/>
              <a:buNone/>
            </a:pPr>
            <a:r>
              <a:rPr lang="en-US" sz="1800" b="1"/>
              <a:t>med.pay</a:t>
            </a:r>
          </a:p>
        </p:txBody>
      </p:sp>
      <p:sp>
        <p:nvSpPr>
          <p:cNvPr id="8220" name="Text Box 164"/>
          <p:cNvSpPr txBox="1">
            <a:spLocks noChangeArrowheads="1"/>
          </p:cNvSpPr>
          <p:nvPr/>
        </p:nvSpPr>
        <p:spPr bwMode="auto">
          <a:xfrm>
            <a:off x="1104900" y="416718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r" eaLnBrk="1" hangingPunct="1">
              <a:spcAft>
                <a:spcPct val="30000"/>
              </a:spcAft>
              <a:buClr>
                <a:schemeClr val="tx1"/>
              </a:buClr>
              <a:buFontTx/>
              <a:buNone/>
            </a:pPr>
            <a:r>
              <a:rPr lang="en-US" sz="1800" b="1"/>
              <a:t>liability</a:t>
            </a:r>
          </a:p>
        </p:txBody>
      </p:sp>
      <p:sp>
        <p:nvSpPr>
          <p:cNvPr id="8221" name="Freeform 165"/>
          <p:cNvSpPr>
            <a:spLocks/>
          </p:cNvSpPr>
          <p:nvPr/>
        </p:nvSpPr>
        <p:spPr bwMode="auto">
          <a:xfrm>
            <a:off x="2963863" y="5437188"/>
            <a:ext cx="354012" cy="392112"/>
          </a:xfrm>
          <a:custGeom>
            <a:avLst/>
            <a:gdLst>
              <a:gd name="T0" fmla="*/ 0 w 481"/>
              <a:gd name="T1" fmla="*/ 176975633 h 533"/>
              <a:gd name="T2" fmla="*/ 65002056 w 481"/>
              <a:gd name="T3" fmla="*/ 288464914 h 533"/>
              <a:gd name="T4" fmla="*/ 120795386 w 481"/>
              <a:gd name="T5" fmla="*/ 288464914 h 533"/>
              <a:gd name="T6" fmla="*/ 260549914 w 481"/>
              <a:gd name="T7" fmla="*/ 56286093 h 533"/>
              <a:gd name="T8" fmla="*/ 172255176 w 481"/>
              <a:gd name="T9" fmla="*/ 0 h 533"/>
              <a:gd name="T10" fmla="*/ 88294715 w 481"/>
              <a:gd name="T11" fmla="*/ 246791446 h 533"/>
              <a:gd name="T12" fmla="*/ 46584593 w 481"/>
              <a:gd name="T13" fmla="*/ 176975633 h 533"/>
              <a:gd name="T14" fmla="*/ 0 w 481"/>
              <a:gd name="T15" fmla="*/ 176975633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8222" name="Freeform 166"/>
          <p:cNvSpPr>
            <a:spLocks/>
          </p:cNvSpPr>
          <p:nvPr/>
        </p:nvSpPr>
        <p:spPr bwMode="auto">
          <a:xfrm>
            <a:off x="3208338" y="6026150"/>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8223" name="Freeform 167"/>
          <p:cNvSpPr>
            <a:spLocks/>
          </p:cNvSpPr>
          <p:nvPr/>
        </p:nvSpPr>
        <p:spPr bwMode="auto">
          <a:xfrm>
            <a:off x="2706688" y="4984750"/>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8224" name="Text Box 168"/>
          <p:cNvSpPr txBox="1">
            <a:spLocks noChangeArrowheads="1"/>
          </p:cNvSpPr>
          <p:nvPr/>
        </p:nvSpPr>
        <p:spPr bwMode="auto">
          <a:xfrm>
            <a:off x="1887538" y="9890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1800" b="1">
                <a:solidFill>
                  <a:srgbClr val="009900"/>
                </a:solidFill>
              </a:rPr>
              <a:t>payable!</a:t>
            </a:r>
          </a:p>
        </p:txBody>
      </p:sp>
      <p:sp>
        <p:nvSpPr>
          <p:cNvPr id="8225" name="Text Box 169"/>
          <p:cNvSpPr txBox="1">
            <a:spLocks noChangeArrowheads="1"/>
          </p:cNvSpPr>
          <p:nvPr/>
        </p:nvSpPr>
        <p:spPr bwMode="auto">
          <a:xfrm>
            <a:off x="1192213" y="24876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1800" b="1">
                <a:solidFill>
                  <a:srgbClr val="009900"/>
                </a:solidFill>
              </a:rPr>
              <a:t>payable!</a:t>
            </a:r>
          </a:p>
        </p:txBody>
      </p:sp>
      <p:sp>
        <p:nvSpPr>
          <p:cNvPr id="8226" name="Text Box 170"/>
          <p:cNvSpPr txBox="1">
            <a:spLocks noChangeArrowheads="1"/>
          </p:cNvSpPr>
          <p:nvPr/>
        </p:nvSpPr>
        <p:spPr bwMode="auto">
          <a:xfrm>
            <a:off x="1192213" y="3486150"/>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1800" b="1">
                <a:solidFill>
                  <a:srgbClr val="009900"/>
                </a:solidFill>
              </a:rPr>
              <a:t>payable!</a:t>
            </a:r>
          </a:p>
        </p:txBody>
      </p:sp>
      <p:sp>
        <p:nvSpPr>
          <p:cNvPr id="8227" name="Text Box 171"/>
          <p:cNvSpPr txBox="1">
            <a:spLocks noChangeArrowheads="1"/>
          </p:cNvSpPr>
          <p:nvPr/>
        </p:nvSpPr>
        <p:spPr bwMode="auto">
          <a:xfrm>
            <a:off x="1192213" y="4468813"/>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1800" b="1">
                <a:solidFill>
                  <a:srgbClr val="009900"/>
                </a:solidFill>
              </a:rPr>
              <a:t>payable!</a:t>
            </a:r>
          </a:p>
        </p:txBody>
      </p:sp>
      <p:grpSp>
        <p:nvGrpSpPr>
          <p:cNvPr id="8228" name="Group 172"/>
          <p:cNvGrpSpPr>
            <a:grpSpLocks/>
          </p:cNvGrpSpPr>
          <p:nvPr/>
        </p:nvGrpSpPr>
        <p:grpSpPr bwMode="auto">
          <a:xfrm>
            <a:off x="1844675" y="1247775"/>
            <a:ext cx="2386013" cy="674688"/>
            <a:chOff x="1162" y="786"/>
            <a:chExt cx="1503" cy="425"/>
          </a:xfrm>
        </p:grpSpPr>
        <p:grpSp>
          <p:nvGrpSpPr>
            <p:cNvPr id="8229" name="Group 173"/>
            <p:cNvGrpSpPr>
              <a:grpSpLocks/>
            </p:cNvGrpSpPr>
            <p:nvPr/>
          </p:nvGrpSpPr>
          <p:grpSpPr bwMode="auto">
            <a:xfrm>
              <a:off x="1481" y="786"/>
              <a:ext cx="631" cy="425"/>
              <a:chOff x="2984" y="3331"/>
              <a:chExt cx="845" cy="569"/>
            </a:xfrm>
          </p:grpSpPr>
          <p:sp>
            <p:nvSpPr>
              <p:cNvPr id="8232" name="AutoShape 17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8233" name="Group 175"/>
              <p:cNvGrpSpPr>
                <a:grpSpLocks/>
              </p:cNvGrpSpPr>
              <p:nvPr/>
            </p:nvGrpSpPr>
            <p:grpSpPr bwMode="auto">
              <a:xfrm>
                <a:off x="3386" y="3487"/>
                <a:ext cx="443" cy="398"/>
                <a:chOff x="4838" y="2218"/>
                <a:chExt cx="395" cy="355"/>
              </a:xfrm>
            </p:grpSpPr>
            <p:sp>
              <p:nvSpPr>
                <p:cNvPr id="8234" name="Freeform 176"/>
                <p:cNvSpPr>
                  <a:spLocks/>
                </p:cNvSpPr>
                <p:nvPr/>
              </p:nvSpPr>
              <p:spPr bwMode="auto">
                <a:xfrm>
                  <a:off x="4888" y="2251"/>
                  <a:ext cx="294" cy="113"/>
                </a:xfrm>
                <a:custGeom>
                  <a:avLst/>
                  <a:gdLst>
                    <a:gd name="T0" fmla="*/ 102 w 839"/>
                    <a:gd name="T1" fmla="*/ 27 h 319"/>
                    <a:gd name="T2" fmla="*/ 100 w 839"/>
                    <a:gd name="T3" fmla="*/ 23 h 319"/>
                    <a:gd name="T4" fmla="*/ 95 w 839"/>
                    <a:gd name="T5" fmla="*/ 22 h 319"/>
                    <a:gd name="T6" fmla="*/ 91 w 839"/>
                    <a:gd name="T7" fmla="*/ 23 h 319"/>
                    <a:gd name="T8" fmla="*/ 88 w 839"/>
                    <a:gd name="T9" fmla="*/ 27 h 319"/>
                    <a:gd name="T10" fmla="*/ 88 w 839"/>
                    <a:gd name="T11" fmla="*/ 31 h 319"/>
                    <a:gd name="T12" fmla="*/ 88 w 839"/>
                    <a:gd name="T13" fmla="*/ 33 h 319"/>
                    <a:gd name="T14" fmla="*/ 85 w 839"/>
                    <a:gd name="T15" fmla="*/ 33 h 319"/>
                    <a:gd name="T16" fmla="*/ 81 w 839"/>
                    <a:gd name="T17" fmla="*/ 31 h 319"/>
                    <a:gd name="T18" fmla="*/ 78 w 839"/>
                    <a:gd name="T19" fmla="*/ 29 h 319"/>
                    <a:gd name="T20" fmla="*/ 75 w 839"/>
                    <a:gd name="T21" fmla="*/ 26 h 319"/>
                    <a:gd name="T22" fmla="*/ 71 w 839"/>
                    <a:gd name="T23" fmla="*/ 22 h 319"/>
                    <a:gd name="T24" fmla="*/ 67 w 839"/>
                    <a:gd name="T25" fmla="*/ 19 h 319"/>
                    <a:gd name="T26" fmla="*/ 60 w 839"/>
                    <a:gd name="T27" fmla="*/ 16 h 319"/>
                    <a:gd name="T28" fmla="*/ 52 w 839"/>
                    <a:gd name="T29" fmla="*/ 13 h 319"/>
                    <a:gd name="T30" fmla="*/ 45 w 839"/>
                    <a:gd name="T31" fmla="*/ 12 h 319"/>
                    <a:gd name="T32" fmla="*/ 36 w 839"/>
                    <a:gd name="T33" fmla="*/ 11 h 319"/>
                    <a:gd name="T34" fmla="*/ 31 w 839"/>
                    <a:gd name="T35" fmla="*/ 12 h 319"/>
                    <a:gd name="T36" fmla="*/ 27 w 839"/>
                    <a:gd name="T37" fmla="*/ 13 h 319"/>
                    <a:gd name="T38" fmla="*/ 22 w 839"/>
                    <a:gd name="T39" fmla="*/ 14 h 319"/>
                    <a:gd name="T40" fmla="*/ 19 w 839"/>
                    <a:gd name="T41" fmla="*/ 15 h 319"/>
                    <a:gd name="T42" fmla="*/ 16 w 839"/>
                    <a:gd name="T43" fmla="*/ 14 h 319"/>
                    <a:gd name="T44" fmla="*/ 14 w 839"/>
                    <a:gd name="T45" fmla="*/ 13 h 319"/>
                    <a:gd name="T46" fmla="*/ 15 w 839"/>
                    <a:gd name="T47" fmla="*/ 10 h 319"/>
                    <a:gd name="T48" fmla="*/ 15 w 839"/>
                    <a:gd name="T49" fmla="*/ 5 h 319"/>
                    <a:gd name="T50" fmla="*/ 12 w 839"/>
                    <a:gd name="T51" fmla="*/ 1 h 319"/>
                    <a:gd name="T52" fmla="*/ 8 w 839"/>
                    <a:gd name="T53" fmla="*/ 0 h 319"/>
                    <a:gd name="T54" fmla="*/ 4 w 839"/>
                    <a:gd name="T55" fmla="*/ 1 h 319"/>
                    <a:gd name="T56" fmla="*/ 1 w 839"/>
                    <a:gd name="T57" fmla="*/ 5 h 319"/>
                    <a:gd name="T58" fmla="*/ 0 w 839"/>
                    <a:gd name="T59" fmla="*/ 11 h 319"/>
                    <a:gd name="T60" fmla="*/ 5 w 839"/>
                    <a:gd name="T61" fmla="*/ 16 h 319"/>
                    <a:gd name="T62" fmla="*/ 8 w 839"/>
                    <a:gd name="T63" fmla="*/ 18 h 319"/>
                    <a:gd name="T64" fmla="*/ 12 w 839"/>
                    <a:gd name="T65" fmla="*/ 20 h 319"/>
                    <a:gd name="T66" fmla="*/ 16 w 839"/>
                    <a:gd name="T67" fmla="*/ 21 h 319"/>
                    <a:gd name="T68" fmla="*/ 23 w 839"/>
                    <a:gd name="T69" fmla="*/ 21 h 319"/>
                    <a:gd name="T70" fmla="*/ 30 w 839"/>
                    <a:gd name="T71" fmla="*/ 20 h 319"/>
                    <a:gd name="T72" fmla="*/ 34 w 839"/>
                    <a:gd name="T73" fmla="*/ 19 h 319"/>
                    <a:gd name="T74" fmla="*/ 40 w 839"/>
                    <a:gd name="T75" fmla="*/ 19 h 319"/>
                    <a:gd name="T76" fmla="*/ 50 w 839"/>
                    <a:gd name="T77" fmla="*/ 22 h 319"/>
                    <a:gd name="T78" fmla="*/ 61 w 839"/>
                    <a:gd name="T79" fmla="*/ 25 h 319"/>
                    <a:gd name="T80" fmla="*/ 66 w 839"/>
                    <a:gd name="T81" fmla="*/ 28 h 319"/>
                    <a:gd name="T82" fmla="*/ 70 w 839"/>
                    <a:gd name="T83" fmla="*/ 30 h 319"/>
                    <a:gd name="T84" fmla="*/ 76 w 839"/>
                    <a:gd name="T85" fmla="*/ 35 h 319"/>
                    <a:gd name="T86" fmla="*/ 82 w 839"/>
                    <a:gd name="T87" fmla="*/ 38 h 319"/>
                    <a:gd name="T88" fmla="*/ 88 w 839"/>
                    <a:gd name="T89" fmla="*/ 40 h 319"/>
                    <a:gd name="T90" fmla="*/ 93 w 839"/>
                    <a:gd name="T91" fmla="*/ 40 h 319"/>
                    <a:gd name="T92" fmla="*/ 98 w 839"/>
                    <a:gd name="T93" fmla="*/ 38 h 319"/>
                    <a:gd name="T94" fmla="*/ 103 w 839"/>
                    <a:gd name="T95" fmla="*/ 33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5" name="Freeform 177"/>
                <p:cNvSpPr>
                  <a:spLocks/>
                </p:cNvSpPr>
                <p:nvPr/>
              </p:nvSpPr>
              <p:spPr bwMode="auto">
                <a:xfrm>
                  <a:off x="4838" y="2408"/>
                  <a:ext cx="145" cy="55"/>
                </a:xfrm>
                <a:custGeom>
                  <a:avLst/>
                  <a:gdLst>
                    <a:gd name="T0" fmla="*/ 0 w 413"/>
                    <a:gd name="T1" fmla="*/ 0 h 156"/>
                    <a:gd name="T2" fmla="*/ 1 w 413"/>
                    <a:gd name="T3" fmla="*/ 4 h 156"/>
                    <a:gd name="T4" fmla="*/ 3 w 413"/>
                    <a:gd name="T5" fmla="*/ 8 h 156"/>
                    <a:gd name="T6" fmla="*/ 5 w 413"/>
                    <a:gd name="T7" fmla="*/ 11 h 156"/>
                    <a:gd name="T8" fmla="*/ 8 w 413"/>
                    <a:gd name="T9" fmla="*/ 14 h 156"/>
                    <a:gd name="T10" fmla="*/ 12 w 413"/>
                    <a:gd name="T11" fmla="*/ 16 h 156"/>
                    <a:gd name="T12" fmla="*/ 16 w 413"/>
                    <a:gd name="T13" fmla="*/ 18 h 156"/>
                    <a:gd name="T14" fmla="*/ 21 w 413"/>
                    <a:gd name="T15" fmla="*/ 19 h 156"/>
                    <a:gd name="T16" fmla="*/ 25 w 413"/>
                    <a:gd name="T17" fmla="*/ 19 h 156"/>
                    <a:gd name="T18" fmla="*/ 30 w 413"/>
                    <a:gd name="T19" fmla="*/ 19 h 156"/>
                    <a:gd name="T20" fmla="*/ 35 w 413"/>
                    <a:gd name="T21" fmla="*/ 18 h 156"/>
                    <a:gd name="T22" fmla="*/ 39 w 413"/>
                    <a:gd name="T23" fmla="*/ 16 h 156"/>
                    <a:gd name="T24" fmla="*/ 42 w 413"/>
                    <a:gd name="T25" fmla="*/ 14 h 156"/>
                    <a:gd name="T26" fmla="*/ 46 w 413"/>
                    <a:gd name="T27" fmla="*/ 11 h 156"/>
                    <a:gd name="T28" fmla="*/ 48 w 413"/>
                    <a:gd name="T29" fmla="*/ 8 h 156"/>
                    <a:gd name="T30" fmla="*/ 50 w 413"/>
                    <a:gd name="T31" fmla="*/ 4 h 156"/>
                    <a:gd name="T32" fmla="*/ 51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6" name="Freeform 178"/>
                <p:cNvSpPr>
                  <a:spLocks/>
                </p:cNvSpPr>
                <p:nvPr/>
              </p:nvSpPr>
              <p:spPr bwMode="auto">
                <a:xfrm>
                  <a:off x="4854" y="2282"/>
                  <a:ext cx="60" cy="131"/>
                </a:xfrm>
                <a:custGeom>
                  <a:avLst/>
                  <a:gdLst>
                    <a:gd name="T0" fmla="*/ 4 w 170"/>
                    <a:gd name="T1" fmla="*/ 46 h 373"/>
                    <a:gd name="T2" fmla="*/ 21 w 170"/>
                    <a:gd name="T3" fmla="*/ 1 h 373"/>
                    <a:gd name="T4" fmla="*/ 18 w 170"/>
                    <a:gd name="T5" fmla="*/ 0 h 373"/>
                    <a:gd name="T6" fmla="*/ 0 w 170"/>
                    <a:gd name="T7" fmla="*/ 45 h 373"/>
                    <a:gd name="T8" fmla="*/ 4 w 170"/>
                    <a:gd name="T9" fmla="*/ 4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7" name="Freeform 179"/>
                <p:cNvSpPr>
                  <a:spLocks/>
                </p:cNvSpPr>
                <p:nvPr/>
              </p:nvSpPr>
              <p:spPr bwMode="auto">
                <a:xfrm>
                  <a:off x="4908" y="2282"/>
                  <a:ext cx="59" cy="131"/>
                </a:xfrm>
                <a:custGeom>
                  <a:avLst/>
                  <a:gdLst>
                    <a:gd name="T0" fmla="*/ 18 w 168"/>
                    <a:gd name="T1" fmla="*/ 46 h 373"/>
                    <a:gd name="T2" fmla="*/ 0 w 168"/>
                    <a:gd name="T3" fmla="*/ 1 h 373"/>
                    <a:gd name="T4" fmla="*/ 3 w 168"/>
                    <a:gd name="T5" fmla="*/ 0 h 373"/>
                    <a:gd name="T6" fmla="*/ 21 w 168"/>
                    <a:gd name="T7" fmla="*/ 45 h 373"/>
                    <a:gd name="T8" fmla="*/ 18 w 168"/>
                    <a:gd name="T9" fmla="*/ 4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8" name="Freeform 180"/>
                <p:cNvSpPr>
                  <a:spLocks/>
                </p:cNvSpPr>
                <p:nvPr/>
              </p:nvSpPr>
              <p:spPr bwMode="auto">
                <a:xfrm>
                  <a:off x="5087" y="2464"/>
                  <a:ext cx="146" cy="55"/>
                </a:xfrm>
                <a:custGeom>
                  <a:avLst/>
                  <a:gdLst>
                    <a:gd name="T0" fmla="*/ 0 w 413"/>
                    <a:gd name="T1" fmla="*/ 0 h 158"/>
                    <a:gd name="T2" fmla="*/ 1 w 413"/>
                    <a:gd name="T3" fmla="*/ 4 h 158"/>
                    <a:gd name="T4" fmla="*/ 2 w 413"/>
                    <a:gd name="T5" fmla="*/ 8 h 158"/>
                    <a:gd name="T6" fmla="*/ 5 w 413"/>
                    <a:gd name="T7" fmla="*/ 11 h 158"/>
                    <a:gd name="T8" fmla="*/ 8 w 413"/>
                    <a:gd name="T9" fmla="*/ 14 h 158"/>
                    <a:gd name="T10" fmla="*/ 12 w 413"/>
                    <a:gd name="T11" fmla="*/ 16 h 158"/>
                    <a:gd name="T12" fmla="*/ 16 w 413"/>
                    <a:gd name="T13" fmla="*/ 18 h 158"/>
                    <a:gd name="T14" fmla="*/ 21 w 413"/>
                    <a:gd name="T15" fmla="*/ 19 h 158"/>
                    <a:gd name="T16" fmla="*/ 26 w 413"/>
                    <a:gd name="T17" fmla="*/ 19 h 158"/>
                    <a:gd name="T18" fmla="*/ 31 w 413"/>
                    <a:gd name="T19" fmla="*/ 19 h 158"/>
                    <a:gd name="T20" fmla="*/ 35 w 413"/>
                    <a:gd name="T21" fmla="*/ 18 h 158"/>
                    <a:gd name="T22" fmla="*/ 39 w 413"/>
                    <a:gd name="T23" fmla="*/ 16 h 158"/>
                    <a:gd name="T24" fmla="*/ 43 w 413"/>
                    <a:gd name="T25" fmla="*/ 14 h 158"/>
                    <a:gd name="T26" fmla="*/ 46 w 413"/>
                    <a:gd name="T27" fmla="*/ 11 h 158"/>
                    <a:gd name="T28" fmla="*/ 49 w 413"/>
                    <a:gd name="T29" fmla="*/ 8 h 158"/>
                    <a:gd name="T30" fmla="*/ 51 w 413"/>
                    <a:gd name="T31" fmla="*/ 4 h 158"/>
                    <a:gd name="T32" fmla="*/ 5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39" name="Freeform 181"/>
                <p:cNvSpPr>
                  <a:spLocks/>
                </p:cNvSpPr>
                <p:nvPr/>
              </p:nvSpPr>
              <p:spPr bwMode="auto">
                <a:xfrm>
                  <a:off x="5103" y="2338"/>
                  <a:ext cx="60" cy="130"/>
                </a:xfrm>
                <a:custGeom>
                  <a:avLst/>
                  <a:gdLst>
                    <a:gd name="T0" fmla="*/ 4 w 170"/>
                    <a:gd name="T1" fmla="*/ 46 h 370"/>
                    <a:gd name="T2" fmla="*/ 21 w 170"/>
                    <a:gd name="T3" fmla="*/ 1 h 370"/>
                    <a:gd name="T4" fmla="*/ 18 w 170"/>
                    <a:gd name="T5" fmla="*/ 0 h 370"/>
                    <a:gd name="T6" fmla="*/ 0 w 170"/>
                    <a:gd name="T7" fmla="*/ 44 h 370"/>
                    <a:gd name="T8" fmla="*/ 4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0" name="Freeform 182"/>
                <p:cNvSpPr>
                  <a:spLocks/>
                </p:cNvSpPr>
                <p:nvPr/>
              </p:nvSpPr>
              <p:spPr bwMode="auto">
                <a:xfrm>
                  <a:off x="5157" y="2338"/>
                  <a:ext cx="60" cy="130"/>
                </a:xfrm>
                <a:custGeom>
                  <a:avLst/>
                  <a:gdLst>
                    <a:gd name="T0" fmla="*/ 18 w 170"/>
                    <a:gd name="T1" fmla="*/ 46 h 370"/>
                    <a:gd name="T2" fmla="*/ 0 w 170"/>
                    <a:gd name="T3" fmla="*/ 1 h 370"/>
                    <a:gd name="T4" fmla="*/ 4 w 170"/>
                    <a:gd name="T5" fmla="*/ 0 h 370"/>
                    <a:gd name="T6" fmla="*/ 21 w 170"/>
                    <a:gd name="T7" fmla="*/ 44 h 370"/>
                    <a:gd name="T8" fmla="*/ 18 w 170"/>
                    <a:gd name="T9" fmla="*/ 4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1" name="Rectangle 18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42" name="Rectangle 18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8243" name="Freeform 185"/>
                <p:cNvSpPr>
                  <a:spLocks/>
                </p:cNvSpPr>
                <p:nvPr/>
              </p:nvSpPr>
              <p:spPr bwMode="auto">
                <a:xfrm>
                  <a:off x="5008" y="2218"/>
                  <a:ext cx="45" cy="46"/>
                </a:xfrm>
                <a:custGeom>
                  <a:avLst/>
                  <a:gdLst>
                    <a:gd name="T0" fmla="*/ 8 w 129"/>
                    <a:gd name="T1" fmla="*/ 17 h 128"/>
                    <a:gd name="T2" fmla="*/ 9 w 129"/>
                    <a:gd name="T3" fmla="*/ 17 h 128"/>
                    <a:gd name="T4" fmla="*/ 11 w 129"/>
                    <a:gd name="T5" fmla="*/ 16 h 128"/>
                    <a:gd name="T6" fmla="*/ 12 w 129"/>
                    <a:gd name="T7" fmla="*/ 15 h 128"/>
                    <a:gd name="T8" fmla="*/ 14 w 129"/>
                    <a:gd name="T9" fmla="*/ 14 h 128"/>
                    <a:gd name="T10" fmla="*/ 15 w 129"/>
                    <a:gd name="T11" fmla="*/ 13 h 128"/>
                    <a:gd name="T12" fmla="*/ 15 w 129"/>
                    <a:gd name="T13" fmla="*/ 12 h 128"/>
                    <a:gd name="T14" fmla="*/ 16 w 129"/>
                    <a:gd name="T15" fmla="*/ 10 h 128"/>
                    <a:gd name="T16" fmla="*/ 16 w 129"/>
                    <a:gd name="T17" fmla="*/ 8 h 128"/>
                    <a:gd name="T18" fmla="*/ 16 w 129"/>
                    <a:gd name="T19" fmla="*/ 6 h 128"/>
                    <a:gd name="T20" fmla="*/ 15 w 129"/>
                    <a:gd name="T21" fmla="*/ 5 h 128"/>
                    <a:gd name="T22" fmla="*/ 15 w 129"/>
                    <a:gd name="T23" fmla="*/ 4 h 128"/>
                    <a:gd name="T24" fmla="*/ 14 w 129"/>
                    <a:gd name="T25" fmla="*/ 2 h 128"/>
                    <a:gd name="T26" fmla="*/ 12 w 129"/>
                    <a:gd name="T27" fmla="*/ 1 h 128"/>
                    <a:gd name="T28" fmla="*/ 11 w 129"/>
                    <a:gd name="T29" fmla="*/ 0 h 128"/>
                    <a:gd name="T30" fmla="*/ 9 w 129"/>
                    <a:gd name="T31" fmla="*/ 0 h 128"/>
                    <a:gd name="T32" fmla="*/ 8 w 129"/>
                    <a:gd name="T33" fmla="*/ 0 h 128"/>
                    <a:gd name="T34" fmla="*/ 6 w 129"/>
                    <a:gd name="T35" fmla="*/ 0 h 128"/>
                    <a:gd name="T36" fmla="*/ 5 w 129"/>
                    <a:gd name="T37" fmla="*/ 0 h 128"/>
                    <a:gd name="T38" fmla="*/ 3 w 129"/>
                    <a:gd name="T39" fmla="*/ 1 h 128"/>
                    <a:gd name="T40" fmla="*/ 2 w 129"/>
                    <a:gd name="T41" fmla="*/ 2 h 128"/>
                    <a:gd name="T42" fmla="*/ 1 w 129"/>
                    <a:gd name="T43" fmla="*/ 4 h 128"/>
                    <a:gd name="T44" fmla="*/ 1 w 129"/>
                    <a:gd name="T45" fmla="*/ 5 h 128"/>
                    <a:gd name="T46" fmla="*/ 0 w 129"/>
                    <a:gd name="T47" fmla="*/ 6 h 128"/>
                    <a:gd name="T48" fmla="*/ 0 w 129"/>
                    <a:gd name="T49" fmla="*/ 8 h 128"/>
                    <a:gd name="T50" fmla="*/ 0 w 129"/>
                    <a:gd name="T51" fmla="*/ 10 h 128"/>
                    <a:gd name="T52" fmla="*/ 1 w 129"/>
                    <a:gd name="T53" fmla="*/ 12 h 128"/>
                    <a:gd name="T54" fmla="*/ 1 w 129"/>
                    <a:gd name="T55" fmla="*/ 13 h 128"/>
                    <a:gd name="T56" fmla="*/ 2 w 129"/>
                    <a:gd name="T57" fmla="*/ 14 h 128"/>
                    <a:gd name="T58" fmla="*/ 3 w 129"/>
                    <a:gd name="T59" fmla="*/ 15 h 128"/>
                    <a:gd name="T60" fmla="*/ 5 w 129"/>
                    <a:gd name="T61" fmla="*/ 16 h 128"/>
                    <a:gd name="T62" fmla="*/ 6 w 129"/>
                    <a:gd name="T63" fmla="*/ 17 h 128"/>
                    <a:gd name="T64" fmla="*/ 8 w 129"/>
                    <a:gd name="T65" fmla="*/ 1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244" name="Rectangle 18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8230" name="Text Box 187"/>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1800" b="1"/>
                <a:t>Dana</a:t>
              </a:r>
              <a:br>
                <a:rPr lang="en-US" sz="1800" b="1"/>
              </a:br>
              <a:r>
                <a:rPr lang="en-US" sz="1800" b="1"/>
                <a:t>Evans</a:t>
              </a:r>
            </a:p>
          </p:txBody>
        </p:sp>
        <p:sp>
          <p:nvSpPr>
            <p:cNvPr id="8231" name="Line 188"/>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|EOS~006|</a:t>
            </a:r>
            <a:endParaRPr lang="en-US" sz="100" dirty="0" err="1" smtClean="0">
              <a:solidFill>
                <a:srgbClr val="FFFFFF"/>
              </a:solidFill>
              <a:latin typeface="Arial"/>
              <a:cs typeface="Calibri" pitchFamily="34" charset="0"/>
            </a:endParaRPr>
          </a:p>
        </p:txBody>
      </p:sp>
      <p:sp>
        <p:nvSpPr>
          <p:cNvPr id="9218" name="Rectangle 2"/>
          <p:cNvSpPr>
            <a:spLocks noGrp="1" noChangeArrowheads="1"/>
          </p:cNvSpPr>
          <p:nvPr>
            <p:ph type="title"/>
          </p:nvPr>
        </p:nvSpPr>
        <p:spPr/>
        <p:txBody>
          <a:bodyPr/>
          <a:lstStyle/>
          <a:p>
            <a:pPr eaLnBrk="1" hangingPunct="1"/>
            <a:r>
              <a:rPr lang="en-US" smtClean="0"/>
              <a:t>Common questions during adjudication</a:t>
            </a:r>
          </a:p>
        </p:txBody>
      </p:sp>
      <p:sp>
        <p:nvSpPr>
          <p:cNvPr id="9219" name="Rectangle 3"/>
          <p:cNvSpPr>
            <a:spLocks noGrp="1" noChangeArrowheads="1"/>
          </p:cNvSpPr>
          <p:nvPr>
            <p:ph idx="1"/>
          </p:nvPr>
        </p:nvSpPr>
        <p:spPr/>
        <p:txBody>
          <a:bodyPr/>
          <a:lstStyle/>
          <a:p>
            <a:pPr>
              <a:buFont typeface="Arial" charset="0"/>
              <a:buChar char="•"/>
            </a:pPr>
            <a:r>
              <a:rPr lang="en-US" smtClean="0"/>
              <a:t>What is the extent of the carrier's responsibility?</a:t>
            </a:r>
          </a:p>
          <a:p>
            <a:pPr lvl="1"/>
            <a:r>
              <a:rPr lang="en-US" smtClean="0"/>
              <a:t>Was there a coverage in effect for the loss?</a:t>
            </a:r>
          </a:p>
          <a:p>
            <a:pPr lvl="1"/>
            <a:r>
              <a:rPr lang="en-US" smtClean="0"/>
              <a:t>Are there terms associated to the coverage?</a:t>
            </a:r>
          </a:p>
          <a:p>
            <a:pPr>
              <a:buFont typeface="Arial" charset="0"/>
              <a:buChar char="•"/>
            </a:pPr>
            <a:r>
              <a:rPr lang="en-US" smtClean="0"/>
              <a:t>What occurred during the loss?</a:t>
            </a:r>
          </a:p>
          <a:p>
            <a:pPr lvl="1"/>
            <a:r>
              <a:rPr lang="en-US" smtClean="0"/>
              <a:t>Where, when, and how did the loss occur?</a:t>
            </a:r>
          </a:p>
          <a:p>
            <a:pPr lvl="1"/>
            <a:r>
              <a:rPr lang="en-US" smtClean="0"/>
              <a:t>What other parties were involved?</a:t>
            </a:r>
          </a:p>
          <a:p>
            <a:pPr>
              <a:buFont typeface="Arial" charset="0"/>
              <a:buChar char="•"/>
            </a:pPr>
            <a:r>
              <a:rPr lang="en-US" smtClean="0"/>
              <a:t>Is there relevant information from other agencies?</a:t>
            </a:r>
          </a:p>
          <a:p>
            <a:pPr lvl="1"/>
            <a:r>
              <a:rPr lang="en-US" smtClean="0"/>
              <a:t>For auto claims, this could include metro reports</a:t>
            </a:r>
          </a:p>
          <a:p>
            <a:pPr lvl="1"/>
            <a:r>
              <a:rPr lang="en-US" smtClean="0"/>
              <a:t>For workers' comp claims, this could include medical bill reviews</a:t>
            </a:r>
          </a:p>
          <a:p>
            <a:pPr>
              <a:buFont typeface="Arial" charset="0"/>
              <a:buChar char="•"/>
            </a:pPr>
            <a:r>
              <a:rPr lang="en-US" smtClean="0"/>
              <a:t>How much will it cost to indemnify each claimant?</a:t>
            </a:r>
          </a:p>
          <a:p>
            <a:pPr lvl="1"/>
            <a:r>
              <a:rPr lang="en-US" smtClean="0"/>
              <a:t>Should damaged property be repaired or replaced?</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|EOS~007|</a:t>
            </a:r>
            <a:endParaRPr lang="en-US" sz="100" dirty="0" err="1" smtClean="0">
              <a:solidFill>
                <a:srgbClr val="FFFFFF"/>
              </a:solidFill>
              <a:latin typeface="Arial"/>
              <a:cs typeface="Calibri" pitchFamily="34" charset="0"/>
            </a:endParaRPr>
          </a:p>
        </p:txBody>
      </p:sp>
      <p:sp>
        <p:nvSpPr>
          <p:cNvPr id="10242" name="Rectangle 2"/>
          <p:cNvSpPr>
            <a:spLocks noGrp="1" noChangeArrowheads="1"/>
          </p:cNvSpPr>
          <p:nvPr>
            <p:ph type="title"/>
          </p:nvPr>
        </p:nvSpPr>
        <p:spPr/>
        <p:txBody>
          <a:bodyPr/>
          <a:lstStyle/>
          <a:p>
            <a:pPr eaLnBrk="1" hangingPunct="1"/>
            <a:r>
              <a:rPr lang="en-US" smtClean="0"/>
              <a:t>Lesson outline</a:t>
            </a:r>
          </a:p>
        </p:txBody>
      </p:sp>
      <p:sp>
        <p:nvSpPr>
          <p:cNvPr id="10243"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Adjudication basics</a:t>
            </a:r>
          </a:p>
          <a:p>
            <a:pPr>
              <a:lnSpc>
                <a:spcPct val="150000"/>
              </a:lnSpc>
              <a:buFont typeface="Arial" charset="0"/>
              <a:buChar char="•"/>
            </a:pPr>
            <a:r>
              <a:rPr lang="en-US" sz="2800" smtClean="0"/>
              <a:t>Adjudication</a:t>
            </a:r>
            <a:endParaRPr lang="en-US" sz="2800" smtClean="0">
              <a:solidFill>
                <a:srgbClr val="C0C0C0"/>
              </a:solidFill>
            </a:endParaRPr>
          </a:p>
          <a:p>
            <a:pPr>
              <a:lnSpc>
                <a:spcPct val="150000"/>
              </a:lnSpc>
              <a:buFont typeface="Arial" charset="0"/>
              <a:buChar char="•"/>
            </a:pPr>
            <a:r>
              <a:rPr lang="en-US" sz="2800" smtClean="0">
                <a:solidFill>
                  <a:srgbClr val="C0C0C0"/>
                </a:solidFill>
              </a:rPr>
              <a:t>The end of adjudication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|EOS~008|</a:t>
            </a:r>
            <a:endParaRPr lang="en-US" sz="100" dirty="0" err="1" smtClean="0">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900" y="28575"/>
            <a:ext cx="6122919" cy="63722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266" name="Rectangle 2"/>
          <p:cNvSpPr>
            <a:spLocks noGrp="1" noChangeArrowheads="1"/>
          </p:cNvSpPr>
          <p:nvPr>
            <p:ph type="title"/>
          </p:nvPr>
        </p:nvSpPr>
        <p:spPr>
          <a:xfrm>
            <a:off x="495300" y="120650"/>
            <a:ext cx="3032125" cy="1095375"/>
          </a:xfrm>
        </p:spPr>
        <p:txBody>
          <a:bodyPr/>
          <a:lstStyle/>
          <a:p>
            <a:pPr eaLnBrk="1" hangingPunct="1"/>
            <a:r>
              <a:rPr lang="en-US" smtClean="0"/>
              <a:t>General loss information</a:t>
            </a:r>
          </a:p>
        </p:txBody>
      </p:sp>
      <p:sp>
        <p:nvSpPr>
          <p:cNvPr id="11267" name="Rectangle 3"/>
          <p:cNvSpPr>
            <a:spLocks noGrp="1" noChangeArrowheads="1"/>
          </p:cNvSpPr>
          <p:nvPr>
            <p:ph idx="1"/>
          </p:nvPr>
        </p:nvSpPr>
        <p:spPr>
          <a:xfrm>
            <a:off x="131764" y="993775"/>
            <a:ext cx="2982912" cy="4645025"/>
          </a:xfrm>
        </p:spPr>
        <p:txBody>
          <a:bodyPr/>
          <a:lstStyle/>
          <a:p>
            <a:pPr>
              <a:buFont typeface="Arial" charset="0"/>
              <a:buChar char="•"/>
            </a:pPr>
            <a:r>
              <a:rPr lang="en-US" sz="2000" dirty="0" smtClean="0"/>
              <a:t>General loss information is often captured on the Loss Details screen, such </a:t>
            </a:r>
            <a:br>
              <a:rPr lang="en-US" sz="2000" dirty="0" smtClean="0"/>
            </a:br>
            <a:r>
              <a:rPr lang="en-US" sz="2000" dirty="0" smtClean="0"/>
              <a:t>as information about:</a:t>
            </a:r>
          </a:p>
          <a:p>
            <a:pPr lvl="1"/>
            <a:r>
              <a:rPr lang="en-US" sz="2000" dirty="0" smtClean="0"/>
              <a:t>Party at fault</a:t>
            </a:r>
          </a:p>
          <a:p>
            <a:pPr lvl="1"/>
            <a:r>
              <a:rPr lang="en-US" sz="2000" dirty="0" smtClean="0"/>
              <a:t>Loss location</a:t>
            </a:r>
          </a:p>
          <a:p>
            <a:pPr lvl="1"/>
            <a:r>
              <a:rPr lang="en-US" sz="2000" dirty="0" smtClean="0"/>
              <a:t>Notification info</a:t>
            </a:r>
          </a:p>
          <a:p>
            <a:pPr lvl="1"/>
            <a:r>
              <a:rPr lang="en-US" sz="2000" dirty="0" smtClean="0"/>
              <a:t>Officials involved</a:t>
            </a:r>
          </a:p>
          <a:p>
            <a:pPr lvl="1"/>
            <a:r>
              <a:rPr lang="en-US" sz="2000" dirty="0" smtClean="0"/>
              <a:t>Witnesses</a:t>
            </a:r>
          </a:p>
          <a:p>
            <a:pPr lvl="1"/>
            <a:r>
              <a:rPr lang="en-US" sz="2000" dirty="0" smtClean="0"/>
              <a:t>Contributing factors</a:t>
            </a: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|EOS~009|</a:t>
            </a:r>
            <a:endParaRPr lang="en-US" sz="100" dirty="0" err="1" smtClean="0">
              <a:solidFill>
                <a:srgbClr val="FFFFFF"/>
              </a:solidFill>
              <a:latin typeface="Arial"/>
              <a:cs typeface="Calibri" pitchFamily="34" charset="0"/>
            </a:endParaRPr>
          </a:p>
        </p:txBody>
      </p:sp>
      <p:pic>
        <p:nvPicPr>
          <p:cNvPr id="2055" name="Picture 7" descr="C:\Users\trhoades\AppData\Local\Temp\SNAGHTML196b8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8694" y="180753"/>
            <a:ext cx="5455306" cy="6230679"/>
          </a:xfrm>
          <a:prstGeom prst="rect">
            <a:avLst/>
          </a:prstGeom>
          <a:noFill/>
          <a:extLst>
            <a:ext uri="{909E8E84-426E-40DD-AFC4-6F175D3DCCD1}">
              <a14:hiddenFill xmlns:a14="http://schemas.microsoft.com/office/drawing/2010/main">
                <a:solidFill>
                  <a:srgbClr val="FFFFFF"/>
                </a:solidFill>
              </a14:hiddenFill>
            </a:ext>
          </a:extLst>
        </p:spPr>
      </p:pic>
      <p:sp>
        <p:nvSpPr>
          <p:cNvPr id="12291" name="Rectangle 3"/>
          <p:cNvSpPr>
            <a:spLocks noGrp="1" noChangeArrowheads="1"/>
          </p:cNvSpPr>
          <p:nvPr>
            <p:ph type="title"/>
          </p:nvPr>
        </p:nvSpPr>
        <p:spPr>
          <a:xfrm>
            <a:off x="495300" y="123825"/>
            <a:ext cx="3098800" cy="1123950"/>
          </a:xfrm>
        </p:spPr>
        <p:txBody>
          <a:bodyPr/>
          <a:lstStyle/>
          <a:p>
            <a:pPr eaLnBrk="1" hangingPunct="1"/>
            <a:r>
              <a:rPr lang="en-US" smtClean="0"/>
              <a:t>General loss</a:t>
            </a:r>
            <a:br>
              <a:rPr lang="en-US" smtClean="0"/>
            </a:br>
            <a:r>
              <a:rPr lang="en-US" smtClean="0"/>
              <a:t>information:</a:t>
            </a:r>
            <a:br>
              <a:rPr lang="en-US" smtClean="0"/>
            </a:br>
            <a:r>
              <a:rPr lang="en-US" smtClean="0"/>
              <a:t>Example</a:t>
            </a:r>
          </a:p>
        </p:txBody>
      </p:sp>
      <p:sp>
        <p:nvSpPr>
          <p:cNvPr id="12292" name="Rectangle 7"/>
          <p:cNvSpPr>
            <a:spLocks noGrp="1" noChangeArrowheads="1"/>
          </p:cNvSpPr>
          <p:nvPr>
            <p:ph idx="1"/>
          </p:nvPr>
        </p:nvSpPr>
        <p:spPr>
          <a:xfrm>
            <a:off x="455613" y="2332038"/>
            <a:ext cx="3157537" cy="3005137"/>
          </a:xfrm>
        </p:spPr>
        <p:txBody>
          <a:bodyPr/>
          <a:lstStyle/>
          <a:p>
            <a:pPr>
              <a:buFont typeface="Arial" charset="0"/>
              <a:buChar char="•"/>
            </a:pPr>
            <a:r>
              <a:rPr lang="en-US" dirty="0" smtClean="0"/>
              <a:t>Each row in the Contributing Factors list is a series of dependent dropdowns which let users specify factors that contributed to the loss</a:t>
            </a:r>
          </a:p>
        </p:txBody>
      </p:sp>
      <p:sp>
        <p:nvSpPr>
          <p:cNvPr id="12" name="Rectangle 16"/>
          <p:cNvSpPr>
            <a:spLocks noChangeArrowheads="1"/>
          </p:cNvSpPr>
          <p:nvPr/>
        </p:nvSpPr>
        <p:spPr bwMode="auto">
          <a:xfrm>
            <a:off x="3702520" y="3642970"/>
            <a:ext cx="5441479" cy="1462430"/>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|EOS~010|</a:t>
            </a:r>
            <a:endParaRPr lang="en-US" sz="100" dirty="0" err="1" smtClean="0">
              <a:solidFill>
                <a:srgbClr val="FFFFFF"/>
              </a:solidFill>
              <a:latin typeface="Arial"/>
              <a:cs typeface="Calibri" pitchFamily="34" charset="0"/>
            </a:endParaRPr>
          </a:p>
        </p:txBody>
      </p:sp>
      <p:pic>
        <p:nvPicPr>
          <p:cNvPr id="8" name="Picture 7" descr="C:\Users\trhoades\AppData\Local\Temp\SNAGHTML196b81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8694" y="180753"/>
            <a:ext cx="5455306" cy="6230679"/>
          </a:xfrm>
          <a:prstGeom prst="rect">
            <a:avLst/>
          </a:prstGeom>
          <a:noFill/>
          <a:extLst>
            <a:ext uri="{909E8E84-426E-40DD-AFC4-6F175D3DCCD1}">
              <a14:hiddenFill xmlns:a14="http://schemas.microsoft.com/office/drawing/2010/main">
                <a:solidFill>
                  <a:srgbClr val="FFFFFF"/>
                </a:solidFill>
              </a14:hiddenFill>
            </a:ext>
          </a:extLst>
        </p:spPr>
      </p:pic>
      <p:sp>
        <p:nvSpPr>
          <p:cNvPr id="13315" name="Rectangle 3"/>
          <p:cNvSpPr>
            <a:spLocks noGrp="1" noChangeArrowheads="1"/>
          </p:cNvSpPr>
          <p:nvPr>
            <p:ph type="title"/>
          </p:nvPr>
        </p:nvSpPr>
        <p:spPr>
          <a:xfrm>
            <a:off x="466725" y="331788"/>
            <a:ext cx="3063284" cy="1485900"/>
          </a:xfrm>
        </p:spPr>
        <p:txBody>
          <a:bodyPr/>
          <a:lstStyle/>
          <a:p>
            <a:pPr eaLnBrk="1" hangingPunct="1"/>
            <a:r>
              <a:rPr lang="en-US" sz="3200" dirty="0" smtClean="0"/>
              <a:t>Using information</a:t>
            </a:r>
            <a:br>
              <a:rPr lang="en-US" sz="3200" dirty="0" smtClean="0"/>
            </a:br>
            <a:r>
              <a:rPr lang="en-US" sz="3200" dirty="0" smtClean="0"/>
              <a:t>from external-to-</a:t>
            </a:r>
            <a:br>
              <a:rPr lang="en-US" sz="3200" dirty="0" smtClean="0"/>
            </a:br>
            <a:r>
              <a:rPr lang="en-US" sz="3200" dirty="0" smtClean="0"/>
              <a:t>carrier systems</a:t>
            </a:r>
          </a:p>
        </p:txBody>
      </p:sp>
      <p:sp>
        <p:nvSpPr>
          <p:cNvPr id="13316" name="Rectangle 4"/>
          <p:cNvSpPr>
            <a:spLocks noGrp="1" noChangeArrowheads="1"/>
          </p:cNvSpPr>
          <p:nvPr>
            <p:ph idx="1"/>
          </p:nvPr>
        </p:nvSpPr>
        <p:spPr>
          <a:xfrm>
            <a:off x="287338" y="2803777"/>
            <a:ext cx="3113087" cy="1984375"/>
          </a:xfrm>
        </p:spPr>
        <p:txBody>
          <a:bodyPr/>
          <a:lstStyle/>
          <a:p>
            <a:pPr>
              <a:lnSpc>
                <a:spcPct val="90000"/>
              </a:lnSpc>
              <a:buFont typeface="Arial" charset="0"/>
              <a:buChar char="•"/>
            </a:pPr>
            <a:r>
              <a:rPr lang="en-US" dirty="0" smtClean="0"/>
              <a:t>The Loss Details screen can contain information from external systems, such as metropolitan reports</a:t>
            </a:r>
          </a:p>
        </p:txBody>
      </p:sp>
      <p:sp>
        <p:nvSpPr>
          <p:cNvPr id="13317" name="Rectangle 16"/>
          <p:cNvSpPr>
            <a:spLocks noChangeArrowheads="1"/>
          </p:cNvSpPr>
          <p:nvPr/>
        </p:nvSpPr>
        <p:spPr bwMode="auto">
          <a:xfrm>
            <a:off x="3731226" y="5146157"/>
            <a:ext cx="5359613" cy="1244009"/>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|EOS~011|</a:t>
            </a:r>
            <a:endParaRPr lang="en-US" sz="100" dirty="0" err="1" smtClean="0">
              <a:solidFill>
                <a:srgbClr val="FFFFFF"/>
              </a:solidFill>
              <a:latin typeface="Arial"/>
              <a:cs typeface="Calibri" pitchFamily="34" charset="0"/>
            </a:endParaRPr>
          </a:p>
        </p:txBody>
      </p:sp>
      <p:sp>
        <p:nvSpPr>
          <p:cNvPr id="14338" name="Rectangle 2"/>
          <p:cNvSpPr>
            <a:spLocks noGrp="1" noChangeArrowheads="1"/>
          </p:cNvSpPr>
          <p:nvPr>
            <p:ph type="title"/>
          </p:nvPr>
        </p:nvSpPr>
        <p:spPr/>
        <p:txBody>
          <a:bodyPr/>
          <a:lstStyle/>
          <a:p>
            <a:pPr eaLnBrk="1" hangingPunct="1"/>
            <a:r>
              <a:rPr lang="en-US" smtClean="0"/>
              <a:t>Metropolitan Reporting Bureau integration</a:t>
            </a:r>
          </a:p>
        </p:txBody>
      </p:sp>
      <p:sp>
        <p:nvSpPr>
          <p:cNvPr id="14339" name="Rectangle 11"/>
          <p:cNvSpPr>
            <a:spLocks noGrp="1" noChangeArrowheads="1"/>
          </p:cNvSpPr>
          <p:nvPr>
            <p:ph idx="1"/>
          </p:nvPr>
        </p:nvSpPr>
        <p:spPr>
          <a:xfrm>
            <a:off x="519113" y="2574925"/>
            <a:ext cx="8318500" cy="3814763"/>
          </a:xfrm>
        </p:spPr>
        <p:txBody>
          <a:bodyPr/>
          <a:lstStyle/>
          <a:p>
            <a:pPr>
              <a:buFont typeface="Arial" charset="0"/>
              <a:buChar char="•"/>
            </a:pPr>
            <a:r>
              <a:rPr lang="en-US" smtClean="0"/>
              <a:t>Some instances of ClaimCenter have an integration point to Metropolitan Reporting Bureau</a:t>
            </a:r>
          </a:p>
          <a:p>
            <a:pPr lvl="1"/>
            <a:r>
              <a:rPr lang="en-US" smtClean="0"/>
              <a:t>This system provides a nationwide police accident and incident reports service in the United States used by carriers to improve record-keeping and to reduce fraud</a:t>
            </a:r>
          </a:p>
          <a:p>
            <a:pPr>
              <a:buFont typeface="Arial" charset="0"/>
              <a:buChar char="•"/>
            </a:pPr>
            <a:r>
              <a:rPr lang="en-US" smtClean="0"/>
              <a:t>Information exchange</a:t>
            </a:r>
          </a:p>
          <a:p>
            <a:pPr lvl="1"/>
            <a:r>
              <a:rPr lang="en-US" smtClean="0"/>
              <a:t>ClaimCenter sends a request for reports, identifying a given person, vehicle, and/or incidence of crime</a:t>
            </a:r>
          </a:p>
          <a:p>
            <a:pPr lvl="1"/>
            <a:r>
              <a:rPr lang="en-US" smtClean="0"/>
              <a:t>ClaimCenter receives one or more police reports that may detail accidents, reported crimes, and so on</a:t>
            </a:r>
            <a:endParaRPr lang="en-US" smtClean="0">
              <a:solidFill>
                <a:srgbClr val="FF0000"/>
              </a:solidFill>
            </a:endParaRPr>
          </a:p>
        </p:txBody>
      </p:sp>
      <p:sp>
        <p:nvSpPr>
          <p:cNvPr id="14340" name="Rectangle 3"/>
          <p:cNvSpPr>
            <a:spLocks noChangeArrowheads="1"/>
          </p:cNvSpPr>
          <p:nvPr/>
        </p:nvSpPr>
        <p:spPr bwMode="auto">
          <a:xfrm>
            <a:off x="5384800" y="954088"/>
            <a:ext cx="27908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14341" name="Picture 4"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30850" y="101917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Line 6"/>
          <p:cNvSpPr>
            <a:spLocks noChangeShapeType="1"/>
          </p:cNvSpPr>
          <p:nvPr/>
        </p:nvSpPr>
        <p:spPr bwMode="auto">
          <a:xfrm flipH="1">
            <a:off x="2968625" y="1673225"/>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3" name="Line 7"/>
          <p:cNvSpPr>
            <a:spLocks noChangeShapeType="1"/>
          </p:cNvSpPr>
          <p:nvPr/>
        </p:nvSpPr>
        <p:spPr bwMode="auto">
          <a:xfrm>
            <a:off x="2971800" y="1328738"/>
            <a:ext cx="240188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4" name="Text Box 8"/>
          <p:cNvSpPr txBox="1">
            <a:spLocks noChangeArrowheads="1"/>
          </p:cNvSpPr>
          <p:nvPr/>
        </p:nvSpPr>
        <p:spPr bwMode="auto">
          <a:xfrm>
            <a:off x="3130550" y="1700213"/>
            <a:ext cx="20113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1800" b="1">
                <a:solidFill>
                  <a:schemeClr val="accent1"/>
                </a:solidFill>
              </a:rPr>
              <a:t>reports</a:t>
            </a:r>
          </a:p>
        </p:txBody>
      </p:sp>
      <p:sp>
        <p:nvSpPr>
          <p:cNvPr id="14345" name="Text Box 9"/>
          <p:cNvSpPr txBox="1">
            <a:spLocks noChangeArrowheads="1"/>
          </p:cNvSpPr>
          <p:nvPr/>
        </p:nvSpPr>
        <p:spPr bwMode="auto">
          <a:xfrm>
            <a:off x="3130550" y="782638"/>
            <a:ext cx="20113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1800" b="1">
                <a:solidFill>
                  <a:schemeClr val="accent1"/>
                </a:solidFill>
              </a:rPr>
              <a:t>request for reports</a:t>
            </a:r>
          </a:p>
        </p:txBody>
      </p:sp>
      <p:sp>
        <p:nvSpPr>
          <p:cNvPr id="14346" name="Text Box 10"/>
          <p:cNvSpPr txBox="1">
            <a:spLocks noChangeArrowheads="1"/>
          </p:cNvSpPr>
          <p:nvPr/>
        </p:nvSpPr>
        <p:spPr bwMode="auto">
          <a:xfrm>
            <a:off x="6462713" y="976313"/>
            <a:ext cx="17129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a:buClrTx/>
              <a:buFontTx/>
              <a:buNone/>
            </a:pPr>
            <a:r>
              <a:rPr lang="en-US" sz="2000" b="1">
                <a:solidFill>
                  <a:schemeClr val="accent1"/>
                </a:solidFill>
                <a:latin typeface="MetaPlusBook-Roman" pitchFamily="34" charset="0"/>
              </a:rPr>
              <a:t>Metropolitan</a:t>
            </a:r>
            <a:br>
              <a:rPr lang="en-US" sz="2000" b="1">
                <a:solidFill>
                  <a:schemeClr val="accent1"/>
                </a:solidFill>
                <a:latin typeface="MetaPlusBook-Roman" pitchFamily="34" charset="0"/>
              </a:rPr>
            </a:br>
            <a:r>
              <a:rPr lang="en-US" sz="2000" b="1">
                <a:solidFill>
                  <a:schemeClr val="accent1"/>
                </a:solidFill>
                <a:latin typeface="MetaPlusBook-Roman" pitchFamily="34" charset="0"/>
              </a:rPr>
              <a:t>Reporting</a:t>
            </a:r>
            <a:br>
              <a:rPr lang="en-US" sz="2000" b="1">
                <a:solidFill>
                  <a:schemeClr val="accent1"/>
                </a:solidFill>
                <a:latin typeface="MetaPlusBook-Roman" pitchFamily="34" charset="0"/>
              </a:rPr>
            </a:br>
            <a:r>
              <a:rPr lang="en-US" sz="2000" b="1">
                <a:solidFill>
                  <a:schemeClr val="accent1"/>
                </a:solidFill>
                <a:latin typeface="MetaPlusBook-Roman" pitchFamily="34" charset="0"/>
              </a:rPr>
              <a:t>Bureau</a:t>
            </a:r>
          </a:p>
        </p:txBody>
      </p:sp>
      <p:pic>
        <p:nvPicPr>
          <p:cNvPr id="14347" name="Picture 12" descr="j042984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48613" y="396875"/>
            <a:ext cx="949325"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8"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82763" y="852488"/>
            <a:ext cx="1185862"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|EOS~012|</a:t>
            </a:r>
            <a:endParaRPr lang="en-US" sz="100" dirty="0" err="1" smtClean="0">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55" y="2017933"/>
            <a:ext cx="8201827" cy="433184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5363" name="Rectangle 2"/>
          <p:cNvSpPr>
            <a:spLocks noGrp="1" noChangeArrowheads="1"/>
          </p:cNvSpPr>
          <p:nvPr>
            <p:ph type="title"/>
          </p:nvPr>
        </p:nvSpPr>
        <p:spPr/>
        <p:txBody>
          <a:bodyPr/>
          <a:lstStyle/>
          <a:p>
            <a:pPr eaLnBrk="1" hangingPunct="1"/>
            <a:r>
              <a:rPr lang="en-US" dirty="0" smtClean="0"/>
              <a:t>Assessments</a:t>
            </a:r>
          </a:p>
        </p:txBody>
      </p:sp>
      <p:sp>
        <p:nvSpPr>
          <p:cNvPr id="15364" name="Rectangle 6"/>
          <p:cNvSpPr>
            <a:spLocks noGrp="1" noChangeArrowheads="1"/>
          </p:cNvSpPr>
          <p:nvPr>
            <p:ph sz="half" idx="1"/>
          </p:nvPr>
        </p:nvSpPr>
        <p:spPr>
          <a:xfrm>
            <a:off x="427038" y="801688"/>
            <a:ext cx="8220075" cy="682625"/>
          </a:xfrm>
          <a:solidFill>
            <a:schemeClr val="tx1"/>
          </a:solidFill>
        </p:spPr>
        <p:txBody>
          <a:bodyPr/>
          <a:lstStyle/>
          <a:p>
            <a:pPr>
              <a:buFont typeface="Arial" charset="0"/>
              <a:buChar char="•"/>
            </a:pPr>
            <a:r>
              <a:rPr lang="en-US" sz="2000" dirty="0" smtClean="0"/>
              <a:t>The Assessment screens evaluate the value of lost or damaged property and monitor the services required to indemnify the insured  </a:t>
            </a:r>
          </a:p>
          <a:p>
            <a:pPr>
              <a:buFont typeface="Arial" charset="0"/>
              <a:buChar char="•"/>
            </a:pPr>
            <a:endParaRPr lang="en-US" sz="2000" dirty="0" smtClean="0"/>
          </a:p>
        </p:txBody>
      </p:sp>
      <p:sp>
        <p:nvSpPr>
          <p:cNvPr id="15365" name="Text Box 8"/>
          <p:cNvSpPr txBox="1">
            <a:spLocks noChangeArrowheads="1"/>
          </p:cNvSpPr>
          <p:nvPr/>
        </p:nvSpPr>
        <p:spPr bwMode="auto">
          <a:xfrm>
            <a:off x="5804282" y="4197104"/>
            <a:ext cx="2786063" cy="547687"/>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r" eaLnBrk="1" hangingPunct="1">
              <a:spcAft>
                <a:spcPct val="30000"/>
              </a:spcAft>
              <a:buClr>
                <a:schemeClr val="tx1"/>
              </a:buClr>
              <a:buFontTx/>
              <a:buNone/>
            </a:pPr>
            <a:r>
              <a:rPr lang="en-US" sz="1800" b="1" dirty="0">
                <a:solidFill>
                  <a:srgbClr val="FF0000"/>
                </a:solidFill>
              </a:rPr>
              <a:t>A source is a person who provided an assessment.</a:t>
            </a:r>
          </a:p>
        </p:txBody>
      </p:sp>
      <p:sp>
        <p:nvSpPr>
          <p:cNvPr id="15366" name="Rectangle 9"/>
          <p:cNvSpPr>
            <a:spLocks noChangeArrowheads="1"/>
          </p:cNvSpPr>
          <p:nvPr/>
        </p:nvSpPr>
        <p:spPr bwMode="auto">
          <a:xfrm>
            <a:off x="500455" y="4167851"/>
            <a:ext cx="8201826" cy="1008986"/>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367" name="Text Box 11"/>
          <p:cNvSpPr txBox="1">
            <a:spLocks noChangeArrowheads="1"/>
          </p:cNvSpPr>
          <p:nvPr/>
        </p:nvSpPr>
        <p:spPr bwMode="auto">
          <a:xfrm>
            <a:off x="3713163" y="4902200"/>
            <a:ext cx="46513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r" eaLnBrk="1" hangingPunct="1">
              <a:spcAft>
                <a:spcPct val="30000"/>
              </a:spcAft>
              <a:buClr>
                <a:schemeClr val="tx1"/>
              </a:buClr>
              <a:buFontTx/>
              <a:buNone/>
            </a:pPr>
            <a:r>
              <a:rPr lang="en-US" sz="1800" b="1">
                <a:solidFill>
                  <a:srgbClr val="FF0000"/>
                </a:solidFill>
              </a:rPr>
              <a:t>A line item has its own description, amount, and status (approved or denied).</a:t>
            </a:r>
          </a:p>
        </p:txBody>
      </p:sp>
      <p:sp>
        <p:nvSpPr>
          <p:cNvPr id="15368" name="Rectangle 12"/>
          <p:cNvSpPr>
            <a:spLocks noChangeArrowheads="1"/>
          </p:cNvSpPr>
          <p:nvPr/>
        </p:nvSpPr>
        <p:spPr bwMode="auto">
          <a:xfrm>
            <a:off x="500454" y="5198102"/>
            <a:ext cx="8201827" cy="1122916"/>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369" name="Text Box 14"/>
          <p:cNvSpPr txBox="1">
            <a:spLocks noChangeArrowheads="1"/>
          </p:cNvSpPr>
          <p:nvPr/>
        </p:nvSpPr>
        <p:spPr bwMode="auto">
          <a:xfrm>
            <a:off x="4112820" y="2709528"/>
            <a:ext cx="4589462" cy="274638"/>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1800" b="1" dirty="0">
                <a:solidFill>
                  <a:srgbClr val="FF0000"/>
                </a:solidFill>
              </a:rPr>
              <a:t>Description of property to be assessed</a:t>
            </a:r>
          </a:p>
        </p:txBody>
      </p:sp>
      <p:sp>
        <p:nvSpPr>
          <p:cNvPr id="15370" name="Rectangle 15"/>
          <p:cNvSpPr>
            <a:spLocks noChangeArrowheads="1"/>
          </p:cNvSpPr>
          <p:nvPr/>
        </p:nvSpPr>
        <p:spPr bwMode="auto">
          <a:xfrm>
            <a:off x="500454" y="2679699"/>
            <a:ext cx="8201827" cy="1488151"/>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|EOS~013|</a:t>
            </a:r>
            <a:endParaRPr lang="en-US" sz="100" dirty="0" err="1" smtClean="0">
              <a:solidFill>
                <a:srgbClr val="FFFFFF"/>
              </a:solidFill>
              <a:latin typeface="Arial"/>
              <a:cs typeface="Calibri" pitchFamily="34" charset="0"/>
            </a:endParaRPr>
          </a:p>
        </p:txBody>
      </p:sp>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55" y="2017933"/>
            <a:ext cx="8201827" cy="4331845"/>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6388" name="Rectangle 6"/>
          <p:cNvSpPr>
            <a:spLocks noGrp="1" noChangeArrowheads="1"/>
          </p:cNvSpPr>
          <p:nvPr>
            <p:ph type="title"/>
          </p:nvPr>
        </p:nvSpPr>
        <p:spPr/>
        <p:txBody>
          <a:bodyPr/>
          <a:lstStyle/>
          <a:p>
            <a:pPr eaLnBrk="1" hangingPunct="1"/>
            <a:r>
              <a:rPr lang="en-US" dirty="0" smtClean="0"/>
              <a:t>Assessment event lines</a:t>
            </a:r>
          </a:p>
        </p:txBody>
      </p:sp>
      <p:sp>
        <p:nvSpPr>
          <p:cNvPr id="16391" name="AutoShape 10"/>
          <p:cNvSpPr>
            <a:spLocks noChangeArrowheads="1"/>
          </p:cNvSpPr>
          <p:nvPr/>
        </p:nvSpPr>
        <p:spPr bwMode="auto">
          <a:xfrm>
            <a:off x="987202" y="4577557"/>
            <a:ext cx="1139309" cy="436562"/>
          </a:xfrm>
          <a:prstGeom prst="roundRect">
            <a:avLst>
              <a:gd name="adj" fmla="val 16667"/>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6392" name="Line 11"/>
          <p:cNvSpPr>
            <a:spLocks noChangeShapeType="1"/>
          </p:cNvSpPr>
          <p:nvPr/>
        </p:nvSpPr>
        <p:spPr bwMode="auto">
          <a:xfrm flipV="1">
            <a:off x="1556855" y="2000249"/>
            <a:ext cx="1354619" cy="2577307"/>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lIns="0" tIns="0" rIns="0" bIns="0"/>
          <a:lstStyle/>
          <a:p>
            <a:endParaRPr lang="en-US"/>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6787" y="756444"/>
            <a:ext cx="6795195" cy="4687426"/>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6390" name="Text Box 9"/>
          <p:cNvSpPr txBox="1">
            <a:spLocks noChangeArrowheads="1"/>
          </p:cNvSpPr>
          <p:nvPr/>
        </p:nvSpPr>
        <p:spPr bwMode="auto">
          <a:xfrm>
            <a:off x="5722144" y="2660239"/>
            <a:ext cx="2792413" cy="549275"/>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1800" b="1" dirty="0">
                <a:solidFill>
                  <a:srgbClr val="FF0000"/>
                </a:solidFill>
              </a:rPr>
              <a:t>An event line is an action taken by the carrier</a:t>
            </a:r>
          </a:p>
        </p:txBody>
      </p:sp>
      <p:sp>
        <p:nvSpPr>
          <p:cNvPr id="16389" name="Rectangle 8"/>
          <p:cNvSpPr>
            <a:spLocks noChangeArrowheads="1"/>
          </p:cNvSpPr>
          <p:nvPr/>
        </p:nvSpPr>
        <p:spPr bwMode="auto">
          <a:xfrm>
            <a:off x="2236786" y="2932112"/>
            <a:ext cx="6795195" cy="931863"/>
          </a:xfrm>
          <a:prstGeom prst="rect">
            <a:avLst/>
          </a:prstGeom>
          <a:noFill/>
          <a:ln w="28575" algn="ctr">
            <a:solidFill>
              <a:srgbClr val="FF000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|EOS~014|</a:t>
            </a:r>
            <a:endParaRPr lang="en-US" sz="100" dirty="0" err="1" smtClean="0">
              <a:solidFill>
                <a:srgbClr val="FFFFFF"/>
              </a:solidFill>
              <a:latin typeface="Arial"/>
              <a:cs typeface="Calibri" pitchFamily="34" charset="0"/>
            </a:endParaRPr>
          </a:p>
        </p:txBody>
      </p:sp>
      <p:pic>
        <p:nvPicPr>
          <p:cNvPr id="307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105" y="955675"/>
            <a:ext cx="5372100" cy="50006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8884" y="4735291"/>
            <a:ext cx="2456498" cy="172930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7412" name="Rectangle 2"/>
          <p:cNvSpPr>
            <a:spLocks noGrp="1" noChangeArrowheads="1"/>
          </p:cNvSpPr>
          <p:nvPr>
            <p:ph type="title"/>
          </p:nvPr>
        </p:nvSpPr>
        <p:spPr/>
        <p:txBody>
          <a:bodyPr/>
          <a:lstStyle/>
          <a:p>
            <a:pPr eaLnBrk="1" hangingPunct="1"/>
            <a:r>
              <a:rPr lang="en-US" smtClean="0"/>
              <a:t>Total loss calculator</a:t>
            </a:r>
          </a:p>
        </p:txBody>
      </p:sp>
      <p:sp>
        <p:nvSpPr>
          <p:cNvPr id="17413" name="Rectangle 3"/>
          <p:cNvSpPr>
            <a:spLocks noGrp="1" noChangeArrowheads="1"/>
          </p:cNvSpPr>
          <p:nvPr>
            <p:ph idx="1"/>
          </p:nvPr>
        </p:nvSpPr>
        <p:spPr>
          <a:xfrm>
            <a:off x="419100" y="877888"/>
            <a:ext cx="3130550" cy="3621087"/>
          </a:xfrm>
        </p:spPr>
        <p:txBody>
          <a:bodyPr/>
          <a:lstStyle/>
          <a:p>
            <a:pPr>
              <a:buFont typeface="Arial" charset="0"/>
              <a:buChar char="•"/>
            </a:pPr>
            <a:r>
              <a:rPr lang="en-US" smtClean="0"/>
              <a:t>Vehicle incidents could make use of a total loss calculator</a:t>
            </a:r>
          </a:p>
          <a:p>
            <a:pPr lvl="1"/>
            <a:r>
              <a:rPr lang="en-US" smtClean="0"/>
              <a:t>This is a series of questions which uses business rules to determine if the incident should be considered a total loss</a:t>
            </a:r>
          </a:p>
        </p:txBody>
      </p:sp>
      <p:sp>
        <p:nvSpPr>
          <p:cNvPr id="17414" name="Rectangle 6"/>
          <p:cNvSpPr>
            <a:spLocks noChangeArrowheads="1"/>
          </p:cNvSpPr>
          <p:nvPr/>
        </p:nvSpPr>
        <p:spPr bwMode="auto">
          <a:xfrm>
            <a:off x="3708105" y="4178301"/>
            <a:ext cx="2065374" cy="831850"/>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7415" name="Line 7"/>
          <p:cNvSpPr>
            <a:spLocks noChangeShapeType="1"/>
          </p:cNvSpPr>
          <p:nvPr/>
        </p:nvSpPr>
        <p:spPr bwMode="auto">
          <a:xfrm flipV="1">
            <a:off x="2867025" y="4549552"/>
            <a:ext cx="841080" cy="129244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7417" name="Rectangle 17"/>
          <p:cNvSpPr>
            <a:spLocks noChangeArrowheads="1"/>
          </p:cNvSpPr>
          <p:nvPr/>
        </p:nvSpPr>
        <p:spPr bwMode="auto">
          <a:xfrm>
            <a:off x="2020186" y="5956300"/>
            <a:ext cx="499730" cy="282575"/>
          </a:xfrm>
          <a:prstGeom prst="rect">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307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902" y="4363816"/>
            <a:ext cx="3314700" cy="3714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3077" name="Picture 5" descr="http://images.copart.com/website/data/pix/20110729/21384231_1X.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43330" y="2705875"/>
            <a:ext cx="2500670" cy="18755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|EOS~015|</a:t>
            </a:r>
            <a:endParaRPr lang="en-US" sz="100" dirty="0" err="1" smtClean="0">
              <a:solidFill>
                <a:srgbClr val="FFFFFF"/>
              </a:solidFill>
              <a:latin typeface="Arial"/>
              <a:cs typeface="Calibri" pitchFamily="34" charset="0"/>
            </a:endParaRPr>
          </a:p>
        </p:txBody>
      </p:sp>
      <p:sp>
        <p:nvSpPr>
          <p:cNvPr id="18434" name="Rectangle 2"/>
          <p:cNvSpPr>
            <a:spLocks noChangeArrowheads="1"/>
          </p:cNvSpPr>
          <p:nvPr/>
        </p:nvSpPr>
        <p:spPr bwMode="auto">
          <a:xfrm>
            <a:off x="5537200" y="1106488"/>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18435" name="Picture 3" descr="j034748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69238" y="392113"/>
            <a:ext cx="109855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4"/>
          <p:cNvSpPr>
            <a:spLocks noGrp="1" noChangeArrowheads="1"/>
          </p:cNvSpPr>
          <p:nvPr>
            <p:ph type="title"/>
          </p:nvPr>
        </p:nvSpPr>
        <p:spPr/>
        <p:txBody>
          <a:bodyPr/>
          <a:lstStyle/>
          <a:p>
            <a:pPr eaLnBrk="1" hangingPunct="1"/>
            <a:r>
              <a:rPr lang="en-US" smtClean="0"/>
              <a:t>Medical Bill Review integration</a:t>
            </a:r>
          </a:p>
        </p:txBody>
      </p:sp>
      <p:sp>
        <p:nvSpPr>
          <p:cNvPr id="18437" name="Rectangle 13"/>
          <p:cNvSpPr>
            <a:spLocks noGrp="1" noChangeArrowheads="1"/>
          </p:cNvSpPr>
          <p:nvPr>
            <p:ph idx="1"/>
          </p:nvPr>
        </p:nvSpPr>
        <p:spPr>
          <a:xfrm>
            <a:off x="519113" y="2374900"/>
            <a:ext cx="8318500" cy="3814763"/>
          </a:xfrm>
        </p:spPr>
        <p:txBody>
          <a:bodyPr/>
          <a:lstStyle/>
          <a:p>
            <a:pPr>
              <a:buFont typeface="Arial" charset="0"/>
              <a:buChar char="•"/>
            </a:pPr>
            <a:r>
              <a:rPr lang="en-US" dirty="0" smtClean="0"/>
              <a:t>Some instances of ClaimCenter have an integration point to an MBR (medical bill review) system</a:t>
            </a:r>
          </a:p>
          <a:p>
            <a:pPr lvl="1"/>
            <a:r>
              <a:rPr lang="en-US" dirty="0" smtClean="0"/>
              <a:t>This system provides information about the standard amount of money being charged within the industry for a given medical service</a:t>
            </a:r>
          </a:p>
          <a:p>
            <a:pPr>
              <a:buFont typeface="Arial" charset="0"/>
              <a:buChar char="•"/>
            </a:pPr>
            <a:r>
              <a:rPr lang="en-US" dirty="0" smtClean="0"/>
              <a:t>Information exchange</a:t>
            </a:r>
          </a:p>
          <a:p>
            <a:pPr lvl="1"/>
            <a:r>
              <a:rPr lang="en-US" dirty="0" smtClean="0"/>
              <a:t>ClaimCenter sends information about vendors who have provided service (typically weekly or monthly) as well as claim data and bills from these vendors (typically daily)</a:t>
            </a:r>
          </a:p>
          <a:p>
            <a:pPr lvl="1"/>
            <a:r>
              <a:rPr lang="en-US" dirty="0" smtClean="0"/>
              <a:t>ClaimCenter receives re-priced bills that reflect the industry standard amount for the service</a:t>
            </a:r>
            <a:endParaRPr lang="en-US" dirty="0" smtClean="0">
              <a:solidFill>
                <a:srgbClr val="FF0000"/>
              </a:solidFill>
            </a:endParaRPr>
          </a:p>
        </p:txBody>
      </p:sp>
      <p:sp>
        <p:nvSpPr>
          <p:cNvPr id="18438" name="Rectangle 5"/>
          <p:cNvSpPr>
            <a:spLocks noChangeArrowheads="1"/>
          </p:cNvSpPr>
          <p:nvPr/>
        </p:nvSpPr>
        <p:spPr bwMode="auto">
          <a:xfrm>
            <a:off x="5384800" y="954088"/>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18439" name="Picture 6"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30850" y="101917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0" name="Line 8"/>
          <p:cNvSpPr>
            <a:spLocks noChangeShapeType="1"/>
          </p:cNvSpPr>
          <p:nvPr/>
        </p:nvSpPr>
        <p:spPr bwMode="auto">
          <a:xfrm flipH="1">
            <a:off x="2968625" y="1673225"/>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1" name="Line 9"/>
          <p:cNvSpPr>
            <a:spLocks noChangeShapeType="1"/>
          </p:cNvSpPr>
          <p:nvPr/>
        </p:nvSpPr>
        <p:spPr bwMode="auto">
          <a:xfrm>
            <a:off x="2971800" y="1328738"/>
            <a:ext cx="240188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2" name="Text Box 10"/>
          <p:cNvSpPr txBox="1">
            <a:spLocks noChangeArrowheads="1"/>
          </p:cNvSpPr>
          <p:nvPr/>
        </p:nvSpPr>
        <p:spPr bwMode="auto">
          <a:xfrm>
            <a:off x="3130550" y="1700213"/>
            <a:ext cx="20113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1800" b="1" dirty="0">
                <a:solidFill>
                  <a:schemeClr val="accent1"/>
                </a:solidFill>
              </a:rPr>
              <a:t>r</a:t>
            </a:r>
            <a:r>
              <a:rPr lang="en-US" sz="1800" b="1" dirty="0" smtClean="0">
                <a:solidFill>
                  <a:schemeClr val="accent1"/>
                </a:solidFill>
              </a:rPr>
              <a:t>e-priced </a:t>
            </a:r>
            <a:r>
              <a:rPr lang="en-US" sz="1800" b="1" dirty="0">
                <a:solidFill>
                  <a:schemeClr val="accent1"/>
                </a:solidFill>
              </a:rPr>
              <a:t>bills</a:t>
            </a:r>
          </a:p>
        </p:txBody>
      </p:sp>
      <p:sp>
        <p:nvSpPr>
          <p:cNvPr id="18443" name="Text Box 11"/>
          <p:cNvSpPr txBox="1">
            <a:spLocks noChangeArrowheads="1"/>
          </p:cNvSpPr>
          <p:nvPr/>
        </p:nvSpPr>
        <p:spPr bwMode="auto">
          <a:xfrm>
            <a:off x="3130550" y="768350"/>
            <a:ext cx="20113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1800" b="1">
                <a:solidFill>
                  <a:schemeClr val="accent1"/>
                </a:solidFill>
              </a:rPr>
              <a:t>vendor data,</a:t>
            </a:r>
            <a:br>
              <a:rPr lang="en-US" sz="1800" b="1">
                <a:solidFill>
                  <a:schemeClr val="accent1"/>
                </a:solidFill>
              </a:rPr>
            </a:br>
            <a:r>
              <a:rPr lang="en-US" sz="1800" b="1">
                <a:solidFill>
                  <a:schemeClr val="accent1"/>
                </a:solidFill>
              </a:rPr>
              <a:t>claim data, bills</a:t>
            </a:r>
          </a:p>
        </p:txBody>
      </p:sp>
      <p:sp>
        <p:nvSpPr>
          <p:cNvPr id="18444" name="Text Box 12"/>
          <p:cNvSpPr txBox="1">
            <a:spLocks noChangeArrowheads="1"/>
          </p:cNvSpPr>
          <p:nvPr/>
        </p:nvSpPr>
        <p:spPr bwMode="auto">
          <a:xfrm>
            <a:off x="6462713" y="976313"/>
            <a:ext cx="16113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a:buClrTx/>
              <a:buFontTx/>
              <a:buNone/>
            </a:pPr>
            <a:r>
              <a:rPr lang="en-US" sz="2000" b="1">
                <a:solidFill>
                  <a:schemeClr val="accent1"/>
                </a:solidFill>
                <a:latin typeface="MetaPlusBook-Roman" pitchFamily="34" charset="0"/>
              </a:rPr>
              <a:t>Medical</a:t>
            </a:r>
            <a:br>
              <a:rPr lang="en-US" sz="2000" b="1">
                <a:solidFill>
                  <a:schemeClr val="accent1"/>
                </a:solidFill>
                <a:latin typeface="MetaPlusBook-Roman" pitchFamily="34" charset="0"/>
              </a:rPr>
            </a:br>
            <a:r>
              <a:rPr lang="en-US" sz="2000" b="1">
                <a:solidFill>
                  <a:schemeClr val="accent1"/>
                </a:solidFill>
                <a:latin typeface="MetaPlusBook-Roman" pitchFamily="34" charset="0"/>
              </a:rPr>
              <a:t>Bill Review</a:t>
            </a:r>
            <a:br>
              <a:rPr lang="en-US" sz="2000" b="1">
                <a:solidFill>
                  <a:schemeClr val="accent1"/>
                </a:solidFill>
                <a:latin typeface="MetaPlusBook-Roman" pitchFamily="34" charset="0"/>
              </a:rPr>
            </a:br>
            <a:r>
              <a:rPr lang="en-US" sz="2000" b="1">
                <a:solidFill>
                  <a:schemeClr val="accent1"/>
                </a:solidFill>
                <a:latin typeface="MetaPlusBook-Roman" pitchFamily="34" charset="0"/>
              </a:rPr>
              <a:t>System</a:t>
            </a:r>
          </a:p>
        </p:txBody>
      </p:sp>
      <p:pic>
        <p:nvPicPr>
          <p:cNvPr id="18445" name="Picture 14" descr="j034748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16838" y="239713"/>
            <a:ext cx="1098550" cy="137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6"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82763" y="852488"/>
            <a:ext cx="1185862" cy="1185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|EOS~016|</a:t>
            </a:r>
            <a:endParaRPr lang="en-US" sz="100" dirty="0" err="1" smtClean="0">
              <a:solidFill>
                <a:srgbClr val="FFFFFF"/>
              </a:solidFill>
              <a:latin typeface="Arial"/>
              <a:cs typeface="Calibri" pitchFamily="34" charset="0"/>
            </a:endParaRPr>
          </a:p>
        </p:txBody>
      </p:sp>
      <p:sp>
        <p:nvSpPr>
          <p:cNvPr id="19458" name="Rectangle 2"/>
          <p:cNvSpPr>
            <a:spLocks noGrp="1" noChangeArrowheads="1"/>
          </p:cNvSpPr>
          <p:nvPr>
            <p:ph type="title"/>
          </p:nvPr>
        </p:nvSpPr>
        <p:spPr/>
        <p:txBody>
          <a:bodyPr/>
          <a:lstStyle/>
          <a:p>
            <a:pPr eaLnBrk="1" hangingPunct="1"/>
            <a:r>
              <a:rPr lang="en-US" smtClean="0"/>
              <a:t>Lesson outline</a:t>
            </a:r>
          </a:p>
        </p:txBody>
      </p:sp>
      <p:sp>
        <p:nvSpPr>
          <p:cNvPr id="19459"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Adjudication basics</a:t>
            </a:r>
          </a:p>
          <a:p>
            <a:pPr>
              <a:lnSpc>
                <a:spcPct val="150000"/>
              </a:lnSpc>
              <a:buFont typeface="Arial" charset="0"/>
              <a:buChar char="•"/>
            </a:pPr>
            <a:r>
              <a:rPr lang="en-US" sz="2800" smtClean="0">
                <a:solidFill>
                  <a:srgbClr val="C0C0C0"/>
                </a:solidFill>
              </a:rPr>
              <a:t>Adjudication</a:t>
            </a:r>
          </a:p>
          <a:p>
            <a:pPr>
              <a:lnSpc>
                <a:spcPct val="150000"/>
              </a:lnSpc>
              <a:buFont typeface="Arial" charset="0"/>
              <a:buChar char="•"/>
            </a:pPr>
            <a:r>
              <a:rPr lang="en-US" sz="2800" smtClean="0"/>
              <a:t>The end of adjudication</a:t>
            </a: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|EOS~017|</a:t>
            </a:r>
            <a:endParaRPr lang="en-US" sz="100" dirty="0" err="1" smtClean="0">
              <a:solidFill>
                <a:srgbClr val="FFFFFF"/>
              </a:solidFill>
              <a:latin typeface="Arial"/>
              <a:cs typeface="Calibri" pitchFamily="34" charset="0"/>
            </a:endParaRPr>
          </a:p>
        </p:txBody>
      </p:sp>
      <p:sp>
        <p:nvSpPr>
          <p:cNvPr id="20482" name="Rectangle 2"/>
          <p:cNvSpPr>
            <a:spLocks noChangeArrowheads="1"/>
          </p:cNvSpPr>
          <p:nvPr/>
        </p:nvSpPr>
        <p:spPr bwMode="auto">
          <a:xfrm>
            <a:off x="733425" y="4054475"/>
            <a:ext cx="2925763" cy="481013"/>
          </a:xfrm>
          <a:prstGeom prst="rect">
            <a:avLst/>
          </a:prstGeom>
          <a:solidFill>
            <a:srgbClr val="FFFF66"/>
          </a:solidFill>
          <a:ln w="28575" algn="ctr">
            <a:solidFill>
              <a:schemeClr val="bg1"/>
            </a:solidFill>
            <a:miter lim="800000"/>
            <a:headEnd/>
            <a:tailEnd/>
          </a:ln>
        </p:spPr>
        <p:txBody>
          <a:bodyPr lIns="0" tIns="0" rIns="0" bIns="0" anchor="ctr">
            <a:spAutoFit/>
          </a:bodyPr>
          <a:lstStyle/>
          <a:p>
            <a:endParaRPr lang="en-US"/>
          </a:p>
        </p:txBody>
      </p:sp>
      <p:sp>
        <p:nvSpPr>
          <p:cNvPr id="20483" name="Text Box 3"/>
          <p:cNvSpPr txBox="1">
            <a:spLocks noChangeArrowheads="1"/>
          </p:cNvSpPr>
          <p:nvPr/>
        </p:nvSpPr>
        <p:spPr bwMode="auto">
          <a:xfrm>
            <a:off x="650875" y="4113213"/>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Adjudication</a:t>
            </a:r>
          </a:p>
        </p:txBody>
      </p:sp>
      <p:sp>
        <p:nvSpPr>
          <p:cNvPr id="20484" name="Rectangle 4"/>
          <p:cNvSpPr>
            <a:spLocks noGrp="1" noChangeArrowheads="1"/>
          </p:cNvSpPr>
          <p:nvPr>
            <p:ph type="title"/>
          </p:nvPr>
        </p:nvSpPr>
        <p:spPr/>
        <p:txBody>
          <a:bodyPr/>
          <a:lstStyle/>
          <a:p>
            <a:pPr eaLnBrk="1" hangingPunct="1"/>
            <a:r>
              <a:rPr lang="en-US" smtClean="0"/>
              <a:t>The end of adjudication</a:t>
            </a:r>
          </a:p>
        </p:txBody>
      </p:sp>
      <p:sp>
        <p:nvSpPr>
          <p:cNvPr id="20485" name="Rectangle 5"/>
          <p:cNvSpPr>
            <a:spLocks noGrp="1" noChangeArrowheads="1"/>
          </p:cNvSpPr>
          <p:nvPr>
            <p:ph idx="1"/>
          </p:nvPr>
        </p:nvSpPr>
        <p:spPr>
          <a:xfrm>
            <a:off x="4652963" y="1597025"/>
            <a:ext cx="4184650" cy="4792663"/>
          </a:xfrm>
        </p:spPr>
        <p:txBody>
          <a:bodyPr/>
          <a:lstStyle/>
          <a:p>
            <a:pPr>
              <a:buFont typeface="Arial" charset="0"/>
              <a:buChar char="•"/>
            </a:pPr>
            <a:r>
              <a:rPr lang="en-US" smtClean="0"/>
              <a:t>At the conclusion of the adjudication process, the carrier should know that a given claim will be paid and what amount each payee will receive</a:t>
            </a:r>
          </a:p>
          <a:p>
            <a:pPr lvl="1"/>
            <a:r>
              <a:rPr lang="en-US" smtClean="0"/>
              <a:t>However, there isn't always a single event that occurs for all claims that indicates adjudication is done and payments can be made</a:t>
            </a:r>
          </a:p>
        </p:txBody>
      </p:sp>
      <p:sp>
        <p:nvSpPr>
          <p:cNvPr id="20486" name="Text Box 6"/>
          <p:cNvSpPr txBox="1">
            <a:spLocks noChangeArrowheads="1"/>
          </p:cNvSpPr>
          <p:nvPr/>
        </p:nvSpPr>
        <p:spPr bwMode="auto">
          <a:xfrm>
            <a:off x="2057400" y="4883150"/>
            <a:ext cx="14097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solidFill>
                  <a:srgbClr val="FF0000"/>
                </a:solidFill>
              </a:rPr>
              <a:t>when?</a:t>
            </a:r>
          </a:p>
        </p:txBody>
      </p:sp>
      <p:sp>
        <p:nvSpPr>
          <p:cNvPr id="20487" name="Rectangle 7"/>
          <p:cNvSpPr>
            <a:spLocks noChangeArrowheads="1"/>
          </p:cNvSpPr>
          <p:nvPr/>
        </p:nvSpPr>
        <p:spPr bwMode="auto">
          <a:xfrm>
            <a:off x="733425" y="23193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8" name="Rectangle 8"/>
          <p:cNvSpPr>
            <a:spLocks noChangeArrowheads="1"/>
          </p:cNvSpPr>
          <p:nvPr/>
        </p:nvSpPr>
        <p:spPr bwMode="auto">
          <a:xfrm>
            <a:off x="733425" y="5776913"/>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9" name="Text Box 9"/>
          <p:cNvSpPr txBox="1">
            <a:spLocks noChangeArrowheads="1"/>
          </p:cNvSpPr>
          <p:nvPr/>
        </p:nvSpPr>
        <p:spPr bwMode="auto">
          <a:xfrm>
            <a:off x="650875" y="23764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Intake</a:t>
            </a:r>
          </a:p>
        </p:txBody>
      </p:sp>
      <p:sp>
        <p:nvSpPr>
          <p:cNvPr id="20490" name="Text Box 10"/>
          <p:cNvSpPr txBox="1">
            <a:spLocks noChangeArrowheads="1"/>
          </p:cNvSpPr>
          <p:nvPr/>
        </p:nvSpPr>
        <p:spPr bwMode="auto">
          <a:xfrm>
            <a:off x="650875" y="5834063"/>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Payment</a:t>
            </a:r>
          </a:p>
        </p:txBody>
      </p:sp>
      <p:sp>
        <p:nvSpPr>
          <p:cNvPr id="20491" name="Line 11"/>
          <p:cNvSpPr>
            <a:spLocks noChangeShapeType="1"/>
          </p:cNvSpPr>
          <p:nvPr/>
        </p:nvSpPr>
        <p:spPr bwMode="auto">
          <a:xfrm>
            <a:off x="2197100" y="2787650"/>
            <a:ext cx="0" cy="12795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2" name="Line 12"/>
          <p:cNvSpPr>
            <a:spLocks noChangeShapeType="1"/>
          </p:cNvSpPr>
          <p:nvPr/>
        </p:nvSpPr>
        <p:spPr bwMode="auto">
          <a:xfrm>
            <a:off x="2197100" y="4546600"/>
            <a:ext cx="0" cy="1211263"/>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|EOS~018|</a:t>
            </a:r>
            <a:endParaRPr lang="en-US" sz="100" dirty="0" err="1" smtClean="0">
              <a:solidFill>
                <a:srgbClr val="FFFFFF"/>
              </a:solidFill>
              <a:latin typeface="Arial"/>
              <a:cs typeface="Calibri" pitchFamily="34" charset="0"/>
            </a:endParaRPr>
          </a:p>
        </p:txBody>
      </p:sp>
      <p:sp>
        <p:nvSpPr>
          <p:cNvPr id="21506" name="Rectangle 2"/>
          <p:cNvSpPr>
            <a:spLocks noChangeArrowheads="1"/>
          </p:cNvSpPr>
          <p:nvPr/>
        </p:nvSpPr>
        <p:spPr bwMode="auto">
          <a:xfrm>
            <a:off x="733425" y="2332038"/>
            <a:ext cx="2925763" cy="481012"/>
          </a:xfrm>
          <a:prstGeom prst="rect">
            <a:avLst/>
          </a:prstGeom>
          <a:solidFill>
            <a:srgbClr val="FFCCCC"/>
          </a:solidFill>
          <a:ln w="28575" algn="ctr">
            <a:solidFill>
              <a:schemeClr val="bg1"/>
            </a:solidFill>
            <a:miter lim="800000"/>
            <a:headEnd/>
            <a:tailEnd/>
          </a:ln>
        </p:spPr>
        <p:txBody>
          <a:bodyPr lIns="0" tIns="0" rIns="0" bIns="0" anchor="ctr">
            <a:spAutoFit/>
          </a:bodyPr>
          <a:lstStyle/>
          <a:p>
            <a:endParaRPr lang="en-US"/>
          </a:p>
        </p:txBody>
      </p:sp>
      <p:sp>
        <p:nvSpPr>
          <p:cNvPr id="21507" name="Rectangle 3"/>
          <p:cNvSpPr>
            <a:spLocks noChangeArrowheads="1"/>
          </p:cNvSpPr>
          <p:nvPr/>
        </p:nvSpPr>
        <p:spPr bwMode="auto">
          <a:xfrm>
            <a:off x="733425" y="5778500"/>
            <a:ext cx="2925763" cy="481013"/>
          </a:xfrm>
          <a:prstGeom prst="rect">
            <a:avLst/>
          </a:prstGeom>
          <a:solidFill>
            <a:srgbClr val="99FF66"/>
          </a:solidFill>
          <a:ln w="28575" algn="ctr">
            <a:solidFill>
              <a:schemeClr val="bg1"/>
            </a:solidFill>
            <a:miter lim="800000"/>
            <a:headEnd/>
            <a:tailEnd/>
          </a:ln>
        </p:spPr>
        <p:txBody>
          <a:bodyPr lIns="0" tIns="0" rIns="0" bIns="0" anchor="ctr">
            <a:spAutoFit/>
          </a:bodyPr>
          <a:lstStyle/>
          <a:p>
            <a:endParaRPr lang="en-US"/>
          </a:p>
        </p:txBody>
      </p:sp>
      <p:sp>
        <p:nvSpPr>
          <p:cNvPr id="21508" name="Text Box 4"/>
          <p:cNvSpPr txBox="1">
            <a:spLocks noChangeArrowheads="1"/>
          </p:cNvSpPr>
          <p:nvPr/>
        </p:nvSpPr>
        <p:spPr bwMode="auto">
          <a:xfrm>
            <a:off x="650875" y="2389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Intake</a:t>
            </a:r>
          </a:p>
        </p:txBody>
      </p:sp>
      <p:sp>
        <p:nvSpPr>
          <p:cNvPr id="21509" name="Text Box 5"/>
          <p:cNvSpPr txBox="1">
            <a:spLocks noChangeArrowheads="1"/>
          </p:cNvSpPr>
          <p:nvPr/>
        </p:nvSpPr>
        <p:spPr bwMode="auto">
          <a:xfrm>
            <a:off x="650875" y="5835650"/>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Payment</a:t>
            </a:r>
          </a:p>
        </p:txBody>
      </p:sp>
      <p:grpSp>
        <p:nvGrpSpPr>
          <p:cNvPr id="21510" name="Group 6"/>
          <p:cNvGrpSpPr>
            <a:grpSpLocks/>
          </p:cNvGrpSpPr>
          <p:nvPr/>
        </p:nvGrpSpPr>
        <p:grpSpPr bwMode="auto">
          <a:xfrm>
            <a:off x="2228850" y="1789113"/>
            <a:ext cx="5592763" cy="3716337"/>
            <a:chOff x="1404" y="1248"/>
            <a:chExt cx="3636" cy="2220"/>
          </a:xfrm>
        </p:grpSpPr>
        <p:sp>
          <p:nvSpPr>
            <p:cNvPr id="21528" name="Line 7"/>
            <p:cNvSpPr>
              <a:spLocks noChangeShapeType="1"/>
            </p:cNvSpPr>
            <p:nvPr/>
          </p:nvSpPr>
          <p:spPr bwMode="auto">
            <a:xfrm>
              <a:off x="1404" y="3468"/>
              <a:ext cx="3636"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29" name="Line 8"/>
            <p:cNvSpPr>
              <a:spLocks noChangeShapeType="1"/>
            </p:cNvSpPr>
            <p:nvPr/>
          </p:nvSpPr>
          <p:spPr bwMode="auto">
            <a:xfrm flipV="1">
              <a:off x="5040" y="1248"/>
              <a:ext cx="0" cy="222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1511" name="AutoShape 9"/>
          <p:cNvSpPr>
            <a:spLocks noChangeArrowheads="1"/>
          </p:cNvSpPr>
          <p:nvPr/>
        </p:nvSpPr>
        <p:spPr bwMode="auto">
          <a:xfrm>
            <a:off x="6975475" y="738188"/>
            <a:ext cx="1695450" cy="1081087"/>
          </a:xfrm>
          <a:prstGeom prst="roundRect">
            <a:avLst>
              <a:gd name="adj" fmla="val 16667"/>
            </a:avLst>
          </a:prstGeom>
          <a:solidFill>
            <a:srgbClr val="99FF66"/>
          </a:solidFill>
          <a:ln w="28575" algn="ctr">
            <a:solidFill>
              <a:schemeClr val="bg1"/>
            </a:solidFill>
            <a:round/>
            <a:headEnd/>
            <a:tailEnd/>
          </a:ln>
        </p:spPr>
        <p:txBody>
          <a:bodyPr lIns="0" tIns="0" rIns="0" bIns="0" anchor="ctr">
            <a:spAutoFit/>
          </a:bodyPr>
          <a:lstStyle/>
          <a:p>
            <a:endParaRPr lang="en-US"/>
          </a:p>
        </p:txBody>
      </p:sp>
      <p:sp>
        <p:nvSpPr>
          <p:cNvPr id="21512" name="AutoShape 10"/>
          <p:cNvSpPr>
            <a:spLocks noChangeArrowheads="1"/>
          </p:cNvSpPr>
          <p:nvPr/>
        </p:nvSpPr>
        <p:spPr bwMode="auto">
          <a:xfrm>
            <a:off x="2719388" y="738188"/>
            <a:ext cx="1695450" cy="1081087"/>
          </a:xfrm>
          <a:prstGeom prst="roundRect">
            <a:avLst>
              <a:gd name="adj" fmla="val 16667"/>
            </a:avLst>
          </a:prstGeom>
          <a:solidFill>
            <a:srgbClr val="FFFF66"/>
          </a:solidFill>
          <a:ln w="28575" algn="ctr">
            <a:solidFill>
              <a:schemeClr val="bg1"/>
            </a:solidFill>
            <a:round/>
            <a:headEnd/>
            <a:tailEnd/>
          </a:ln>
        </p:spPr>
        <p:txBody>
          <a:bodyPr lIns="0" tIns="0" rIns="0" bIns="0" anchor="ctr">
            <a:spAutoFit/>
          </a:bodyPr>
          <a:lstStyle/>
          <a:p>
            <a:endParaRPr lang="en-US"/>
          </a:p>
        </p:txBody>
      </p:sp>
      <p:sp>
        <p:nvSpPr>
          <p:cNvPr id="21513" name="AutoShape 11"/>
          <p:cNvSpPr>
            <a:spLocks noChangeArrowheads="1"/>
          </p:cNvSpPr>
          <p:nvPr/>
        </p:nvSpPr>
        <p:spPr bwMode="auto">
          <a:xfrm>
            <a:off x="4846638" y="738188"/>
            <a:ext cx="1695450" cy="1081087"/>
          </a:xfrm>
          <a:prstGeom prst="roundRect">
            <a:avLst>
              <a:gd name="adj" fmla="val 16667"/>
            </a:avLst>
          </a:prstGeom>
          <a:solidFill>
            <a:srgbClr val="FFFF66"/>
          </a:solidFill>
          <a:ln w="28575" algn="ctr">
            <a:solidFill>
              <a:schemeClr val="bg1"/>
            </a:solidFill>
            <a:round/>
            <a:headEnd/>
            <a:tailEnd/>
          </a:ln>
        </p:spPr>
        <p:txBody>
          <a:bodyPr lIns="0" tIns="0" rIns="0" bIns="0" anchor="ctr">
            <a:spAutoFit/>
          </a:bodyPr>
          <a:lstStyle/>
          <a:p>
            <a:endParaRPr lang="en-US"/>
          </a:p>
        </p:txBody>
      </p:sp>
      <p:sp>
        <p:nvSpPr>
          <p:cNvPr id="21514" name="Text Box 12"/>
          <p:cNvSpPr txBox="1">
            <a:spLocks noChangeArrowheads="1"/>
          </p:cNvSpPr>
          <p:nvPr/>
        </p:nvSpPr>
        <p:spPr bwMode="auto">
          <a:xfrm>
            <a:off x="2735263" y="8016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Valid</a:t>
            </a:r>
            <a:br>
              <a:rPr lang="en-US" sz="2000" b="1"/>
            </a:br>
            <a:r>
              <a:rPr lang="en-US" sz="2000" b="1"/>
              <a:t>for</a:t>
            </a:r>
            <a:br>
              <a:rPr lang="en-US" sz="2000" b="1"/>
            </a:br>
            <a:r>
              <a:rPr lang="en-US" sz="2000" b="1"/>
              <a:t>ISO</a:t>
            </a:r>
          </a:p>
        </p:txBody>
      </p:sp>
      <p:sp>
        <p:nvSpPr>
          <p:cNvPr id="21515" name="Text Box 13"/>
          <p:cNvSpPr txBox="1">
            <a:spLocks noChangeArrowheads="1"/>
          </p:cNvSpPr>
          <p:nvPr/>
        </p:nvSpPr>
        <p:spPr bwMode="auto">
          <a:xfrm>
            <a:off x="4862513" y="8016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Send to</a:t>
            </a:r>
            <a:br>
              <a:rPr lang="en-US" sz="2000" b="1"/>
            </a:br>
            <a:r>
              <a:rPr lang="en-US" sz="2000" b="1"/>
              <a:t>External (Systems)</a:t>
            </a:r>
          </a:p>
        </p:txBody>
      </p:sp>
      <p:sp>
        <p:nvSpPr>
          <p:cNvPr id="21516" name="AutoShape 14"/>
          <p:cNvSpPr>
            <a:spLocks noChangeArrowheads="1"/>
          </p:cNvSpPr>
          <p:nvPr/>
        </p:nvSpPr>
        <p:spPr bwMode="auto">
          <a:xfrm>
            <a:off x="592138" y="738188"/>
            <a:ext cx="1695450" cy="1081087"/>
          </a:xfrm>
          <a:prstGeom prst="roundRect">
            <a:avLst>
              <a:gd name="adj" fmla="val 16667"/>
            </a:avLst>
          </a:prstGeom>
          <a:solidFill>
            <a:srgbClr val="FFCCCC"/>
          </a:solidFill>
          <a:ln w="28575" algn="ctr">
            <a:solidFill>
              <a:schemeClr val="bg1"/>
            </a:solidFill>
            <a:round/>
            <a:headEnd/>
            <a:tailEnd/>
          </a:ln>
        </p:spPr>
        <p:txBody>
          <a:bodyPr lIns="0" tIns="0" rIns="0" bIns="0" anchor="ctr">
            <a:spAutoFit/>
          </a:bodyPr>
          <a:lstStyle/>
          <a:p>
            <a:endParaRPr lang="en-US"/>
          </a:p>
        </p:txBody>
      </p:sp>
      <p:sp>
        <p:nvSpPr>
          <p:cNvPr id="21517" name="Text Box 15"/>
          <p:cNvSpPr txBox="1">
            <a:spLocks noChangeArrowheads="1"/>
          </p:cNvSpPr>
          <p:nvPr/>
        </p:nvSpPr>
        <p:spPr bwMode="auto">
          <a:xfrm>
            <a:off x="608013" y="8016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New</a:t>
            </a:r>
            <a:br>
              <a:rPr lang="en-US" sz="2000" b="1"/>
            </a:br>
            <a:r>
              <a:rPr lang="en-US" sz="2000" b="1"/>
              <a:t>Loss</a:t>
            </a:r>
            <a:br>
              <a:rPr lang="en-US" sz="2000" b="1"/>
            </a:br>
            <a:r>
              <a:rPr lang="en-US" sz="2000" b="1"/>
              <a:t>Completion</a:t>
            </a:r>
          </a:p>
        </p:txBody>
      </p:sp>
      <p:sp>
        <p:nvSpPr>
          <p:cNvPr id="21518" name="Rectangle 16"/>
          <p:cNvSpPr>
            <a:spLocks noGrp="1" noChangeArrowheads="1"/>
          </p:cNvSpPr>
          <p:nvPr>
            <p:ph type="title"/>
          </p:nvPr>
        </p:nvSpPr>
        <p:spPr/>
        <p:txBody>
          <a:bodyPr/>
          <a:lstStyle/>
          <a:p>
            <a:pPr eaLnBrk="1" hangingPunct="1"/>
            <a:r>
              <a:rPr lang="en-US" smtClean="0"/>
              <a:t>Validation levels and adjudication</a:t>
            </a:r>
          </a:p>
        </p:txBody>
      </p:sp>
      <p:sp>
        <p:nvSpPr>
          <p:cNvPr id="21519" name="Rectangle 21"/>
          <p:cNvSpPr>
            <a:spLocks noGrp="1" noChangeArrowheads="1"/>
          </p:cNvSpPr>
          <p:nvPr>
            <p:ph idx="1"/>
          </p:nvPr>
        </p:nvSpPr>
        <p:spPr>
          <a:xfrm>
            <a:off x="3811588" y="2108200"/>
            <a:ext cx="4051300" cy="2574925"/>
          </a:xfrm>
        </p:spPr>
        <p:txBody>
          <a:bodyPr/>
          <a:lstStyle/>
          <a:p>
            <a:pPr>
              <a:buFont typeface="Arial" charset="0"/>
              <a:buChar char="•"/>
            </a:pPr>
            <a:r>
              <a:rPr lang="en-US" smtClean="0"/>
              <a:t>Recall that ClaimCenter uses a set of validation levels to track and enforce claim and exposure maturity</a:t>
            </a:r>
          </a:p>
          <a:p>
            <a:pPr lvl="1"/>
            <a:r>
              <a:rPr lang="en-US" smtClean="0"/>
              <a:t>The adjudication process ends when the claim and its exposures reach "ability to pay"</a:t>
            </a:r>
          </a:p>
        </p:txBody>
      </p:sp>
      <p:sp>
        <p:nvSpPr>
          <p:cNvPr id="21520" name="Text Box 17"/>
          <p:cNvSpPr txBox="1">
            <a:spLocks noChangeArrowheads="1"/>
          </p:cNvSpPr>
          <p:nvPr/>
        </p:nvSpPr>
        <p:spPr bwMode="auto">
          <a:xfrm>
            <a:off x="6991350" y="8016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Ability</a:t>
            </a:r>
            <a:br>
              <a:rPr lang="en-US" sz="2000" b="1"/>
            </a:br>
            <a:r>
              <a:rPr lang="en-US" sz="2000" b="1"/>
              <a:t>to</a:t>
            </a:r>
            <a:br>
              <a:rPr lang="en-US" sz="2000" b="1"/>
            </a:br>
            <a:r>
              <a:rPr lang="en-US" sz="2000" b="1"/>
              <a:t>Pay</a:t>
            </a:r>
          </a:p>
        </p:txBody>
      </p:sp>
      <p:sp>
        <p:nvSpPr>
          <p:cNvPr id="21521" name="AutoShape 18"/>
          <p:cNvSpPr>
            <a:spLocks noChangeArrowheads="1"/>
          </p:cNvSpPr>
          <p:nvPr/>
        </p:nvSpPr>
        <p:spPr bwMode="auto">
          <a:xfrm>
            <a:off x="2297113" y="1089025"/>
            <a:ext cx="433387"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522" name="AutoShape 19"/>
          <p:cNvSpPr>
            <a:spLocks noChangeArrowheads="1"/>
          </p:cNvSpPr>
          <p:nvPr/>
        </p:nvSpPr>
        <p:spPr bwMode="auto">
          <a:xfrm>
            <a:off x="4429125" y="10890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523" name="AutoShape 20"/>
          <p:cNvSpPr>
            <a:spLocks noChangeArrowheads="1"/>
          </p:cNvSpPr>
          <p:nvPr/>
        </p:nvSpPr>
        <p:spPr bwMode="auto">
          <a:xfrm>
            <a:off x="6543675" y="10890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524" name="Rectangle 22"/>
          <p:cNvSpPr>
            <a:spLocks noChangeArrowheads="1"/>
          </p:cNvSpPr>
          <p:nvPr/>
        </p:nvSpPr>
        <p:spPr bwMode="auto">
          <a:xfrm>
            <a:off x="733425" y="4054475"/>
            <a:ext cx="2925763" cy="481013"/>
          </a:xfrm>
          <a:prstGeom prst="rect">
            <a:avLst/>
          </a:prstGeom>
          <a:solidFill>
            <a:srgbClr val="FFFF66"/>
          </a:solidFill>
          <a:ln w="28575" algn="ctr">
            <a:solidFill>
              <a:schemeClr val="bg1"/>
            </a:solidFill>
            <a:miter lim="800000"/>
            <a:headEnd/>
            <a:tailEnd/>
          </a:ln>
        </p:spPr>
        <p:txBody>
          <a:bodyPr lIns="0" tIns="0" rIns="0" bIns="0" anchor="ctr">
            <a:spAutoFit/>
          </a:bodyPr>
          <a:lstStyle/>
          <a:p>
            <a:endParaRPr lang="en-US"/>
          </a:p>
        </p:txBody>
      </p:sp>
      <p:sp>
        <p:nvSpPr>
          <p:cNvPr id="21525" name="Text Box 23"/>
          <p:cNvSpPr txBox="1">
            <a:spLocks noChangeArrowheads="1"/>
          </p:cNvSpPr>
          <p:nvPr/>
        </p:nvSpPr>
        <p:spPr bwMode="auto">
          <a:xfrm>
            <a:off x="650875" y="4113213"/>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400" b="1"/>
              <a:t>Adjudication</a:t>
            </a:r>
          </a:p>
        </p:txBody>
      </p:sp>
      <p:sp>
        <p:nvSpPr>
          <p:cNvPr id="21526" name="Line 24"/>
          <p:cNvSpPr>
            <a:spLocks noChangeShapeType="1"/>
          </p:cNvSpPr>
          <p:nvPr/>
        </p:nvSpPr>
        <p:spPr bwMode="auto">
          <a:xfrm>
            <a:off x="2197100" y="2787650"/>
            <a:ext cx="0" cy="12795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27" name="Line 25"/>
          <p:cNvSpPr>
            <a:spLocks noChangeShapeType="1"/>
          </p:cNvSpPr>
          <p:nvPr/>
        </p:nvSpPr>
        <p:spPr bwMode="auto">
          <a:xfrm>
            <a:off x="2197100" y="4546600"/>
            <a:ext cx="0" cy="1211263"/>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|EOS~019|</a:t>
            </a:r>
            <a:endParaRPr lang="en-US" sz="100" dirty="0" err="1" smtClean="0">
              <a:solidFill>
                <a:srgbClr val="FFFFFF"/>
              </a:solidFill>
              <a:latin typeface="Arial"/>
              <a:cs typeface="Calibri" pitchFamily="34" charset="0"/>
            </a:endParaRPr>
          </a:p>
        </p:txBody>
      </p:sp>
      <p:sp>
        <p:nvSpPr>
          <p:cNvPr id="22530" name="Rectangle 2"/>
          <p:cNvSpPr>
            <a:spLocks noGrp="1" noChangeArrowheads="1"/>
          </p:cNvSpPr>
          <p:nvPr>
            <p:ph type="title"/>
          </p:nvPr>
        </p:nvSpPr>
        <p:spPr/>
        <p:txBody>
          <a:bodyPr/>
          <a:lstStyle/>
          <a:p>
            <a:pPr eaLnBrk="1" hangingPunct="1"/>
            <a:r>
              <a:rPr lang="en-US" smtClean="0"/>
              <a:t>Each level has conditions</a:t>
            </a:r>
          </a:p>
        </p:txBody>
      </p:sp>
      <p:grpSp>
        <p:nvGrpSpPr>
          <p:cNvPr id="22531" name="Group 3"/>
          <p:cNvGrpSpPr>
            <a:grpSpLocks/>
          </p:cNvGrpSpPr>
          <p:nvPr/>
        </p:nvGrpSpPr>
        <p:grpSpPr bwMode="auto">
          <a:xfrm>
            <a:off x="2732088" y="750888"/>
            <a:ext cx="1695450" cy="1081087"/>
            <a:chOff x="1740" y="1811"/>
            <a:chExt cx="1068" cy="681"/>
          </a:xfrm>
        </p:grpSpPr>
        <p:sp>
          <p:nvSpPr>
            <p:cNvPr id="22558" name="Text Box 4"/>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Valid</a:t>
              </a:r>
              <a:br>
                <a:rPr lang="en-US" sz="2000" b="1"/>
              </a:br>
              <a:r>
                <a:rPr lang="en-US" sz="2000" b="1"/>
                <a:t>for</a:t>
              </a:r>
              <a:br>
                <a:rPr lang="en-US" sz="2000" b="1"/>
              </a:br>
              <a:r>
                <a:rPr lang="en-US" sz="2000" b="1"/>
                <a:t>ISO</a:t>
              </a:r>
            </a:p>
          </p:txBody>
        </p:sp>
        <p:sp>
          <p:nvSpPr>
            <p:cNvPr id="22559" name="AutoShape 5"/>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2532" name="Group 6"/>
          <p:cNvGrpSpPr>
            <a:grpSpLocks/>
          </p:cNvGrpSpPr>
          <p:nvPr/>
        </p:nvGrpSpPr>
        <p:grpSpPr bwMode="auto">
          <a:xfrm>
            <a:off x="4859338" y="750888"/>
            <a:ext cx="1695450" cy="1081087"/>
            <a:chOff x="1740" y="1811"/>
            <a:chExt cx="1068" cy="681"/>
          </a:xfrm>
        </p:grpSpPr>
        <p:sp>
          <p:nvSpPr>
            <p:cNvPr id="22556" name="Text Box 7"/>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Send to</a:t>
              </a:r>
              <a:br>
                <a:rPr lang="en-US" sz="2000" b="1"/>
              </a:br>
              <a:r>
                <a:rPr lang="en-US" sz="2000" b="1"/>
                <a:t>External (Systems)</a:t>
              </a:r>
            </a:p>
          </p:txBody>
        </p:sp>
        <p:sp>
          <p:nvSpPr>
            <p:cNvPr id="22557" name="AutoShape 8"/>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2533" name="Group 9"/>
          <p:cNvGrpSpPr>
            <a:grpSpLocks/>
          </p:cNvGrpSpPr>
          <p:nvPr/>
        </p:nvGrpSpPr>
        <p:grpSpPr bwMode="auto">
          <a:xfrm>
            <a:off x="604838" y="750888"/>
            <a:ext cx="1695450" cy="1081087"/>
            <a:chOff x="1740" y="1811"/>
            <a:chExt cx="1068" cy="681"/>
          </a:xfrm>
        </p:grpSpPr>
        <p:sp>
          <p:nvSpPr>
            <p:cNvPr id="22554" name="Text Box 10"/>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New</a:t>
              </a:r>
              <a:br>
                <a:rPr lang="en-US" sz="2000" b="1"/>
              </a:br>
              <a:r>
                <a:rPr lang="en-US" sz="2000" b="1"/>
                <a:t>Loss</a:t>
              </a:r>
              <a:br>
                <a:rPr lang="en-US" sz="2000" b="1"/>
              </a:br>
              <a:r>
                <a:rPr lang="en-US" sz="2000" b="1"/>
                <a:t>Completion</a:t>
              </a:r>
            </a:p>
          </p:txBody>
        </p:sp>
        <p:sp>
          <p:nvSpPr>
            <p:cNvPr id="22555" name="AutoShape 11"/>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2534" name="Group 12"/>
          <p:cNvGrpSpPr>
            <a:grpSpLocks/>
          </p:cNvGrpSpPr>
          <p:nvPr/>
        </p:nvGrpSpPr>
        <p:grpSpPr bwMode="auto">
          <a:xfrm>
            <a:off x="6988175" y="750888"/>
            <a:ext cx="1695450" cy="1081087"/>
            <a:chOff x="1740" y="1811"/>
            <a:chExt cx="1068" cy="681"/>
          </a:xfrm>
        </p:grpSpPr>
        <p:sp>
          <p:nvSpPr>
            <p:cNvPr id="22552" name="Text Box 13"/>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Ability</a:t>
              </a:r>
              <a:br>
                <a:rPr lang="en-US" sz="2000" b="1"/>
              </a:br>
              <a:r>
                <a:rPr lang="en-US" sz="2000" b="1"/>
                <a:t>to</a:t>
              </a:r>
              <a:br>
                <a:rPr lang="en-US" sz="2000" b="1"/>
              </a:br>
              <a:r>
                <a:rPr lang="en-US" sz="2000" b="1"/>
                <a:t>Pay</a:t>
              </a:r>
            </a:p>
          </p:txBody>
        </p:sp>
        <p:sp>
          <p:nvSpPr>
            <p:cNvPr id="22553" name="AutoShape 14"/>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2535" name="AutoShape 15"/>
          <p:cNvSpPr>
            <a:spLocks noChangeArrowheads="1"/>
          </p:cNvSpPr>
          <p:nvPr/>
        </p:nvSpPr>
        <p:spPr bwMode="auto">
          <a:xfrm>
            <a:off x="2309813" y="1101725"/>
            <a:ext cx="433387"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536" name="AutoShape 16"/>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537" name="AutoShape 17"/>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2538" name="Text Box 18"/>
          <p:cNvSpPr txBox="1">
            <a:spLocks noChangeArrowheads="1"/>
          </p:cNvSpPr>
          <p:nvPr/>
        </p:nvSpPr>
        <p:spPr bwMode="auto">
          <a:xfrm>
            <a:off x="1016000" y="2128838"/>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Driver of vehicle is specified</a:t>
            </a:r>
          </a:p>
        </p:txBody>
      </p:sp>
      <p:sp>
        <p:nvSpPr>
          <p:cNvPr id="22539" name="Rectangle 19"/>
          <p:cNvSpPr>
            <a:spLocks noChangeArrowheads="1"/>
          </p:cNvSpPr>
          <p:nvPr/>
        </p:nvSpPr>
        <p:spPr bwMode="auto">
          <a:xfrm>
            <a:off x="609600" y="2147888"/>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40" name="Text Box 20"/>
          <p:cNvSpPr txBox="1">
            <a:spLocks noChangeArrowheads="1"/>
          </p:cNvSpPr>
          <p:nvPr/>
        </p:nvSpPr>
        <p:spPr bwMode="auto">
          <a:xfrm>
            <a:off x="1025525" y="3238500"/>
            <a:ext cx="144303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If insured at fault, fault rating specified</a:t>
            </a:r>
          </a:p>
        </p:txBody>
      </p:sp>
      <p:sp>
        <p:nvSpPr>
          <p:cNvPr id="22541" name="Rectangle 21"/>
          <p:cNvSpPr>
            <a:spLocks noChangeArrowheads="1"/>
          </p:cNvSpPr>
          <p:nvPr/>
        </p:nvSpPr>
        <p:spPr bwMode="auto">
          <a:xfrm>
            <a:off x="619125" y="3257550"/>
            <a:ext cx="284163"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42" name="Text Box 22"/>
          <p:cNvSpPr txBox="1">
            <a:spLocks noChangeArrowheads="1"/>
          </p:cNvSpPr>
          <p:nvPr/>
        </p:nvSpPr>
        <p:spPr bwMode="auto">
          <a:xfrm>
            <a:off x="3152775" y="2128838"/>
            <a:ext cx="12795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Loss location has city, state, zip</a:t>
            </a:r>
          </a:p>
        </p:txBody>
      </p:sp>
      <p:sp>
        <p:nvSpPr>
          <p:cNvPr id="22543" name="Rectangle 23"/>
          <p:cNvSpPr>
            <a:spLocks noChangeArrowheads="1"/>
          </p:cNvSpPr>
          <p:nvPr/>
        </p:nvSpPr>
        <p:spPr bwMode="auto">
          <a:xfrm>
            <a:off x="2746375" y="2147888"/>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44" name="Text Box 24"/>
          <p:cNvSpPr txBox="1">
            <a:spLocks noChangeArrowheads="1"/>
          </p:cNvSpPr>
          <p:nvPr/>
        </p:nvSpPr>
        <p:spPr bwMode="auto">
          <a:xfrm>
            <a:off x="5291138" y="2128838"/>
            <a:ext cx="13604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Total loss calculation completed</a:t>
            </a:r>
          </a:p>
        </p:txBody>
      </p:sp>
      <p:sp>
        <p:nvSpPr>
          <p:cNvPr id="22545" name="Rectangle 25"/>
          <p:cNvSpPr>
            <a:spLocks noChangeArrowheads="1"/>
          </p:cNvSpPr>
          <p:nvPr/>
        </p:nvSpPr>
        <p:spPr bwMode="auto">
          <a:xfrm>
            <a:off x="4884738" y="2147888"/>
            <a:ext cx="284162"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46" name="Text Box 26"/>
          <p:cNvSpPr txBox="1">
            <a:spLocks noChangeArrowheads="1"/>
          </p:cNvSpPr>
          <p:nvPr/>
        </p:nvSpPr>
        <p:spPr bwMode="auto">
          <a:xfrm>
            <a:off x="7429500" y="2128838"/>
            <a:ext cx="14620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At least one assess-</a:t>
            </a:r>
            <a:br>
              <a:rPr lang="en-US" sz="2000" b="1"/>
            </a:br>
            <a:r>
              <a:rPr lang="en-US" sz="2000" b="1"/>
              <a:t>ment exists</a:t>
            </a:r>
          </a:p>
        </p:txBody>
      </p:sp>
      <p:sp>
        <p:nvSpPr>
          <p:cNvPr id="22547" name="Rectangle 27"/>
          <p:cNvSpPr>
            <a:spLocks noChangeArrowheads="1"/>
          </p:cNvSpPr>
          <p:nvPr/>
        </p:nvSpPr>
        <p:spPr bwMode="auto">
          <a:xfrm>
            <a:off x="7023100" y="2147888"/>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48" name="Text Box 28"/>
          <p:cNvSpPr txBox="1">
            <a:spLocks noChangeArrowheads="1"/>
          </p:cNvSpPr>
          <p:nvPr/>
        </p:nvSpPr>
        <p:spPr bwMode="auto">
          <a:xfrm>
            <a:off x="7439025" y="3238500"/>
            <a:ext cx="12795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Mailing address</a:t>
            </a:r>
            <a:br>
              <a:rPr lang="en-US" sz="2000" b="1"/>
            </a:br>
            <a:r>
              <a:rPr lang="en-US" sz="2000" b="1"/>
              <a:t>for all third-party claimants</a:t>
            </a:r>
          </a:p>
        </p:txBody>
      </p:sp>
      <p:sp>
        <p:nvSpPr>
          <p:cNvPr id="22549" name="Rectangle 29"/>
          <p:cNvSpPr>
            <a:spLocks noChangeArrowheads="1"/>
          </p:cNvSpPr>
          <p:nvPr/>
        </p:nvSpPr>
        <p:spPr bwMode="auto">
          <a:xfrm>
            <a:off x="7032625" y="3257550"/>
            <a:ext cx="284163"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2550" name="Text Box 30"/>
          <p:cNvSpPr txBox="1">
            <a:spLocks noChangeArrowheads="1"/>
          </p:cNvSpPr>
          <p:nvPr/>
        </p:nvSpPr>
        <p:spPr bwMode="auto">
          <a:xfrm>
            <a:off x="5291138" y="3244850"/>
            <a:ext cx="15446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Loss location has county</a:t>
            </a:r>
          </a:p>
        </p:txBody>
      </p:sp>
      <p:sp>
        <p:nvSpPr>
          <p:cNvPr id="22551" name="Rectangle 31"/>
          <p:cNvSpPr>
            <a:spLocks noChangeArrowheads="1"/>
          </p:cNvSpPr>
          <p:nvPr/>
        </p:nvSpPr>
        <p:spPr bwMode="auto">
          <a:xfrm>
            <a:off x="4884738" y="3263900"/>
            <a:ext cx="284162"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|EOS~020|</a:t>
            </a:r>
            <a:endParaRPr lang="en-US" sz="100" dirty="0" err="1" smtClean="0">
              <a:solidFill>
                <a:srgbClr val="FFFFFF"/>
              </a:solidFill>
              <a:latin typeface="Arial"/>
              <a:cs typeface="Calibri" pitchFamily="34" charset="0"/>
            </a:endParaRPr>
          </a:p>
        </p:txBody>
      </p:sp>
      <p:sp>
        <p:nvSpPr>
          <p:cNvPr id="23554" name="AutoShape 2"/>
          <p:cNvSpPr>
            <a:spLocks noChangeArrowheads="1"/>
          </p:cNvSpPr>
          <p:nvPr/>
        </p:nvSpPr>
        <p:spPr bwMode="auto">
          <a:xfrm>
            <a:off x="604838" y="750888"/>
            <a:ext cx="1695450" cy="1081087"/>
          </a:xfrm>
          <a:prstGeom prst="roundRect">
            <a:avLst>
              <a:gd name="adj" fmla="val 16667"/>
            </a:avLst>
          </a:prstGeom>
          <a:solidFill>
            <a:schemeClr val="folHlink"/>
          </a:solidFill>
          <a:ln w="28575" algn="ctr">
            <a:solidFill>
              <a:schemeClr val="bg1"/>
            </a:solidFill>
            <a:round/>
            <a:headEnd/>
            <a:tailEnd/>
          </a:ln>
        </p:spPr>
        <p:txBody>
          <a:bodyPr lIns="0" tIns="0" rIns="0" bIns="0" anchor="ctr">
            <a:spAutoFit/>
          </a:bodyPr>
          <a:lstStyle/>
          <a:p>
            <a:endParaRPr lang="en-US"/>
          </a:p>
        </p:txBody>
      </p:sp>
      <p:sp>
        <p:nvSpPr>
          <p:cNvPr id="23555" name="Text Box 3"/>
          <p:cNvSpPr txBox="1">
            <a:spLocks noChangeArrowheads="1"/>
          </p:cNvSpPr>
          <p:nvPr/>
        </p:nvSpPr>
        <p:spPr bwMode="auto">
          <a:xfrm>
            <a:off x="6207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New</a:t>
            </a:r>
            <a:br>
              <a:rPr lang="en-US" sz="2000" b="1"/>
            </a:br>
            <a:r>
              <a:rPr lang="en-US" sz="2000" b="1"/>
              <a:t>Loss</a:t>
            </a:r>
            <a:br>
              <a:rPr lang="en-US" sz="2000" b="1"/>
            </a:br>
            <a:r>
              <a:rPr lang="en-US" sz="2000" b="1"/>
              <a:t>Completion</a:t>
            </a:r>
          </a:p>
        </p:txBody>
      </p:sp>
      <p:sp>
        <p:nvSpPr>
          <p:cNvPr id="23556" name="AutoShape 4"/>
          <p:cNvSpPr>
            <a:spLocks noChangeArrowheads="1"/>
          </p:cNvSpPr>
          <p:nvPr/>
        </p:nvSpPr>
        <p:spPr bwMode="auto">
          <a:xfrm>
            <a:off x="1693863" y="4930775"/>
            <a:ext cx="1335087" cy="765175"/>
          </a:xfrm>
          <a:prstGeom prst="rightArrow">
            <a:avLst>
              <a:gd name="adj1" fmla="val 49778"/>
              <a:gd name="adj2" fmla="val 18442"/>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sp>
        <p:nvSpPr>
          <p:cNvPr id="23557" name="Rectangle 5"/>
          <p:cNvSpPr>
            <a:spLocks noGrp="1" noChangeArrowheads="1"/>
          </p:cNvSpPr>
          <p:nvPr>
            <p:ph type="title"/>
          </p:nvPr>
        </p:nvSpPr>
        <p:spPr/>
        <p:txBody>
          <a:bodyPr/>
          <a:lstStyle/>
          <a:p>
            <a:pPr eaLnBrk="1" hangingPunct="1"/>
            <a:r>
              <a:rPr lang="en-US" smtClean="0"/>
              <a:t>The "New Loss" level</a:t>
            </a:r>
          </a:p>
        </p:txBody>
      </p:sp>
      <p:grpSp>
        <p:nvGrpSpPr>
          <p:cNvPr id="23558" name="Group 6"/>
          <p:cNvGrpSpPr>
            <a:grpSpLocks/>
          </p:cNvGrpSpPr>
          <p:nvPr/>
        </p:nvGrpSpPr>
        <p:grpSpPr bwMode="auto">
          <a:xfrm>
            <a:off x="2732088" y="750888"/>
            <a:ext cx="1695450" cy="1081087"/>
            <a:chOff x="1740" y="1811"/>
            <a:chExt cx="1068" cy="681"/>
          </a:xfrm>
        </p:grpSpPr>
        <p:sp>
          <p:nvSpPr>
            <p:cNvPr id="23650" name="Text Box 7"/>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Valid</a:t>
              </a:r>
              <a:br>
                <a:rPr lang="en-US" sz="2000" b="1"/>
              </a:br>
              <a:r>
                <a:rPr lang="en-US" sz="2000" b="1"/>
                <a:t>for</a:t>
              </a:r>
              <a:br>
                <a:rPr lang="en-US" sz="2000" b="1"/>
              </a:br>
              <a:r>
                <a:rPr lang="en-US" sz="2000" b="1"/>
                <a:t>ISO</a:t>
              </a:r>
            </a:p>
          </p:txBody>
        </p:sp>
        <p:sp>
          <p:nvSpPr>
            <p:cNvPr id="23651" name="AutoShape 8"/>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3559" name="Group 9"/>
          <p:cNvGrpSpPr>
            <a:grpSpLocks/>
          </p:cNvGrpSpPr>
          <p:nvPr/>
        </p:nvGrpSpPr>
        <p:grpSpPr bwMode="auto">
          <a:xfrm>
            <a:off x="4859338" y="750888"/>
            <a:ext cx="1695450" cy="1081087"/>
            <a:chOff x="1740" y="1811"/>
            <a:chExt cx="1068" cy="681"/>
          </a:xfrm>
        </p:grpSpPr>
        <p:sp>
          <p:nvSpPr>
            <p:cNvPr id="23648" name="Text Box 10"/>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Send to</a:t>
              </a:r>
              <a:br>
                <a:rPr lang="en-US" sz="2000" b="1"/>
              </a:br>
              <a:r>
                <a:rPr lang="en-US" sz="2000" b="1"/>
                <a:t>External (Systems)</a:t>
              </a:r>
            </a:p>
          </p:txBody>
        </p:sp>
        <p:sp>
          <p:nvSpPr>
            <p:cNvPr id="23649" name="AutoShape 11"/>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3560" name="Group 12"/>
          <p:cNvGrpSpPr>
            <a:grpSpLocks/>
          </p:cNvGrpSpPr>
          <p:nvPr/>
        </p:nvGrpSpPr>
        <p:grpSpPr bwMode="auto">
          <a:xfrm>
            <a:off x="6988175" y="750888"/>
            <a:ext cx="1695450" cy="1081087"/>
            <a:chOff x="1740" y="1811"/>
            <a:chExt cx="1068" cy="681"/>
          </a:xfrm>
        </p:grpSpPr>
        <p:sp>
          <p:nvSpPr>
            <p:cNvPr id="23646" name="Text Box 13"/>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Ability</a:t>
              </a:r>
              <a:br>
                <a:rPr lang="en-US" sz="2000" b="1"/>
              </a:br>
              <a:r>
                <a:rPr lang="en-US" sz="2000" b="1"/>
                <a:t>to</a:t>
              </a:r>
              <a:br>
                <a:rPr lang="en-US" sz="2000" b="1"/>
              </a:br>
              <a:r>
                <a:rPr lang="en-US" sz="2000" b="1"/>
                <a:t>Pay</a:t>
              </a:r>
            </a:p>
          </p:txBody>
        </p:sp>
        <p:sp>
          <p:nvSpPr>
            <p:cNvPr id="23647" name="AutoShape 14"/>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3561" name="AutoShape 15"/>
          <p:cNvSpPr>
            <a:spLocks noChangeArrowheads="1"/>
          </p:cNvSpPr>
          <p:nvPr/>
        </p:nvSpPr>
        <p:spPr bwMode="auto">
          <a:xfrm>
            <a:off x="2309813" y="1101725"/>
            <a:ext cx="433387"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3562" name="AutoShape 16"/>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3563" name="AutoShape 17"/>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23564" name="Group 18"/>
          <p:cNvGrpSpPr>
            <a:grpSpLocks/>
          </p:cNvGrpSpPr>
          <p:nvPr/>
        </p:nvGrpSpPr>
        <p:grpSpPr bwMode="auto">
          <a:xfrm>
            <a:off x="744538" y="4897438"/>
            <a:ext cx="1528762" cy="1638300"/>
            <a:chOff x="445" y="1359"/>
            <a:chExt cx="1139" cy="1220"/>
          </a:xfrm>
        </p:grpSpPr>
        <p:sp>
          <p:nvSpPr>
            <p:cNvPr id="23603" name="Line 19"/>
            <p:cNvSpPr>
              <a:spLocks noChangeShapeType="1"/>
            </p:cNvSpPr>
            <p:nvPr/>
          </p:nvSpPr>
          <p:spPr bwMode="auto">
            <a:xfrm flipV="1">
              <a:off x="868" y="1810"/>
              <a:ext cx="0" cy="494"/>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04" name="Line 20"/>
            <p:cNvSpPr>
              <a:spLocks noChangeShapeType="1"/>
            </p:cNvSpPr>
            <p:nvPr/>
          </p:nvSpPr>
          <p:spPr bwMode="auto">
            <a:xfrm>
              <a:off x="863" y="2309"/>
              <a:ext cx="49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3605" name="Group 21"/>
            <p:cNvGrpSpPr>
              <a:grpSpLocks/>
            </p:cNvGrpSpPr>
            <p:nvPr/>
          </p:nvGrpSpPr>
          <p:grpSpPr bwMode="auto">
            <a:xfrm>
              <a:off x="445" y="1359"/>
              <a:ext cx="834" cy="615"/>
              <a:chOff x="2083" y="1606"/>
              <a:chExt cx="1489" cy="1097"/>
            </a:xfrm>
          </p:grpSpPr>
          <p:sp>
            <p:nvSpPr>
              <p:cNvPr id="23613" name="Rectangle 2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614" name="Freeform 2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15" name="Freeform 2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16" name="Freeform 2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3617" name="Freeform 2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3618" name="Rectangle 2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3619" name="Rectangle 2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20" name="AutoShape 2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621" name="Freeform 30"/>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22" name="Freeform 31"/>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23" name="Rectangle 3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24" name="Rectangle 3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25" name="Rectangle 3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626" name="Group 35"/>
              <p:cNvGrpSpPr>
                <a:grpSpLocks/>
              </p:cNvGrpSpPr>
              <p:nvPr/>
            </p:nvGrpSpPr>
            <p:grpSpPr bwMode="auto">
              <a:xfrm>
                <a:off x="2221" y="1871"/>
                <a:ext cx="518" cy="782"/>
                <a:chOff x="2400" y="1656"/>
                <a:chExt cx="752" cy="1136"/>
              </a:xfrm>
            </p:grpSpPr>
            <p:sp>
              <p:nvSpPr>
                <p:cNvPr id="23639" name="Freeform 3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40" name="Freeform 3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41" name="Freeform 3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42" name="Freeform 3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43" name="Freeform 4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3644" name="Line 4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645" name="Line 4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627" name="Group 43"/>
              <p:cNvGrpSpPr>
                <a:grpSpLocks/>
              </p:cNvGrpSpPr>
              <p:nvPr/>
            </p:nvGrpSpPr>
            <p:grpSpPr bwMode="auto">
              <a:xfrm rot="-6511945">
                <a:off x="2834" y="1842"/>
                <a:ext cx="518" cy="783"/>
                <a:chOff x="2400" y="1656"/>
                <a:chExt cx="752" cy="1136"/>
              </a:xfrm>
            </p:grpSpPr>
            <p:sp>
              <p:nvSpPr>
                <p:cNvPr id="23632" name="Freeform 4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33" name="Freeform 4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34" name="Freeform 4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35" name="Freeform 4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36" name="Freeform 4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3637" name="Line 4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38" name="Line 5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628" name="Freeform 51"/>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29" name="Freeform 52"/>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3630" name="Rectangle 5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31" name="Rectangle 5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3606" name="Group 55"/>
            <p:cNvGrpSpPr>
              <a:grpSpLocks/>
            </p:cNvGrpSpPr>
            <p:nvPr/>
          </p:nvGrpSpPr>
          <p:grpSpPr bwMode="auto">
            <a:xfrm>
              <a:off x="1066" y="2064"/>
              <a:ext cx="518" cy="515"/>
              <a:chOff x="3360" y="800"/>
              <a:chExt cx="620" cy="616"/>
            </a:xfrm>
          </p:grpSpPr>
          <p:sp>
            <p:nvSpPr>
              <p:cNvPr id="23607" name="AutoShape 5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608" name="Freeform 57"/>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3609" name="Group 58"/>
              <p:cNvGrpSpPr>
                <a:grpSpLocks/>
              </p:cNvGrpSpPr>
              <p:nvPr/>
            </p:nvGrpSpPr>
            <p:grpSpPr bwMode="auto">
              <a:xfrm flipH="1">
                <a:off x="3749" y="1171"/>
                <a:ext cx="212" cy="213"/>
                <a:chOff x="1350" y="686"/>
                <a:chExt cx="1132" cy="1132"/>
              </a:xfrm>
            </p:grpSpPr>
            <p:sp>
              <p:nvSpPr>
                <p:cNvPr id="23611" name="AutoShape 5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12" name="Picture 6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610" name="Picture 6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3565" name="Text Box 62"/>
          <p:cNvSpPr txBox="1">
            <a:spLocks noChangeArrowheads="1"/>
          </p:cNvSpPr>
          <p:nvPr/>
        </p:nvSpPr>
        <p:spPr bwMode="auto">
          <a:xfrm>
            <a:off x="1016000" y="2128838"/>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Driver of vehicle is specified</a:t>
            </a:r>
          </a:p>
        </p:txBody>
      </p:sp>
      <p:sp>
        <p:nvSpPr>
          <p:cNvPr id="23566" name="Rectangle 63"/>
          <p:cNvSpPr>
            <a:spLocks noChangeArrowheads="1"/>
          </p:cNvSpPr>
          <p:nvPr/>
        </p:nvSpPr>
        <p:spPr bwMode="auto">
          <a:xfrm>
            <a:off x="609600" y="2147888"/>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67" name="Freeform 64"/>
          <p:cNvSpPr>
            <a:spLocks/>
          </p:cNvSpPr>
          <p:nvPr/>
        </p:nvSpPr>
        <p:spPr bwMode="auto">
          <a:xfrm>
            <a:off x="614363" y="1973263"/>
            <a:ext cx="354012" cy="392112"/>
          </a:xfrm>
          <a:custGeom>
            <a:avLst/>
            <a:gdLst>
              <a:gd name="T0" fmla="*/ 0 w 481"/>
              <a:gd name="T1" fmla="*/ 176975633 h 533"/>
              <a:gd name="T2" fmla="*/ 65002056 w 481"/>
              <a:gd name="T3" fmla="*/ 288464914 h 533"/>
              <a:gd name="T4" fmla="*/ 120795386 w 481"/>
              <a:gd name="T5" fmla="*/ 288464914 h 533"/>
              <a:gd name="T6" fmla="*/ 260549914 w 481"/>
              <a:gd name="T7" fmla="*/ 56286093 h 533"/>
              <a:gd name="T8" fmla="*/ 172255176 w 481"/>
              <a:gd name="T9" fmla="*/ 0 h 533"/>
              <a:gd name="T10" fmla="*/ 88294715 w 481"/>
              <a:gd name="T11" fmla="*/ 246791446 h 533"/>
              <a:gd name="T12" fmla="*/ 46584593 w 481"/>
              <a:gd name="T13" fmla="*/ 176975633 h 533"/>
              <a:gd name="T14" fmla="*/ 0 w 481"/>
              <a:gd name="T15" fmla="*/ 176975633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3568" name="Text Box 65"/>
          <p:cNvSpPr txBox="1">
            <a:spLocks noChangeArrowheads="1"/>
          </p:cNvSpPr>
          <p:nvPr/>
        </p:nvSpPr>
        <p:spPr bwMode="auto">
          <a:xfrm>
            <a:off x="1025525" y="3238500"/>
            <a:ext cx="144303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If insured at fault, fault rating specified</a:t>
            </a:r>
          </a:p>
        </p:txBody>
      </p:sp>
      <p:sp>
        <p:nvSpPr>
          <p:cNvPr id="23569" name="Rectangle 66"/>
          <p:cNvSpPr>
            <a:spLocks noChangeArrowheads="1"/>
          </p:cNvSpPr>
          <p:nvPr/>
        </p:nvSpPr>
        <p:spPr bwMode="auto">
          <a:xfrm>
            <a:off x="619125" y="3257550"/>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70" name="Freeform 67"/>
          <p:cNvSpPr>
            <a:spLocks/>
          </p:cNvSpPr>
          <p:nvPr/>
        </p:nvSpPr>
        <p:spPr bwMode="auto">
          <a:xfrm>
            <a:off x="623888" y="3082925"/>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3571" name="Text Box 68"/>
          <p:cNvSpPr txBox="1">
            <a:spLocks noChangeArrowheads="1"/>
          </p:cNvSpPr>
          <p:nvPr/>
        </p:nvSpPr>
        <p:spPr bwMode="auto">
          <a:xfrm>
            <a:off x="3152775" y="2128838"/>
            <a:ext cx="12795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Loss location has city, state, zip</a:t>
            </a:r>
          </a:p>
        </p:txBody>
      </p:sp>
      <p:sp>
        <p:nvSpPr>
          <p:cNvPr id="23572" name="Rectangle 69"/>
          <p:cNvSpPr>
            <a:spLocks noChangeArrowheads="1"/>
          </p:cNvSpPr>
          <p:nvPr/>
        </p:nvSpPr>
        <p:spPr bwMode="auto">
          <a:xfrm>
            <a:off x="2746375" y="2147888"/>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73" name="Text Box 70"/>
          <p:cNvSpPr txBox="1">
            <a:spLocks noChangeArrowheads="1"/>
          </p:cNvSpPr>
          <p:nvPr/>
        </p:nvSpPr>
        <p:spPr bwMode="auto">
          <a:xfrm>
            <a:off x="5291138" y="2128838"/>
            <a:ext cx="13604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Total loss calculation completed</a:t>
            </a:r>
          </a:p>
        </p:txBody>
      </p:sp>
      <p:sp>
        <p:nvSpPr>
          <p:cNvPr id="23574" name="Rectangle 71"/>
          <p:cNvSpPr>
            <a:spLocks noChangeArrowheads="1"/>
          </p:cNvSpPr>
          <p:nvPr/>
        </p:nvSpPr>
        <p:spPr bwMode="auto">
          <a:xfrm>
            <a:off x="4884738" y="2147888"/>
            <a:ext cx="284162"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75" name="Text Box 72"/>
          <p:cNvSpPr txBox="1">
            <a:spLocks noChangeArrowheads="1"/>
          </p:cNvSpPr>
          <p:nvPr/>
        </p:nvSpPr>
        <p:spPr bwMode="auto">
          <a:xfrm>
            <a:off x="7429500" y="2128838"/>
            <a:ext cx="14620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At least one assess-</a:t>
            </a:r>
            <a:br>
              <a:rPr lang="en-US" sz="2000" b="1"/>
            </a:br>
            <a:r>
              <a:rPr lang="en-US" sz="2000" b="1"/>
              <a:t>ment exists</a:t>
            </a:r>
          </a:p>
        </p:txBody>
      </p:sp>
      <p:sp>
        <p:nvSpPr>
          <p:cNvPr id="23576" name="Rectangle 73"/>
          <p:cNvSpPr>
            <a:spLocks noChangeArrowheads="1"/>
          </p:cNvSpPr>
          <p:nvPr/>
        </p:nvSpPr>
        <p:spPr bwMode="auto">
          <a:xfrm>
            <a:off x="7023100" y="2147888"/>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77" name="Rectangle 74"/>
          <p:cNvSpPr>
            <a:spLocks noChangeArrowheads="1"/>
          </p:cNvSpPr>
          <p:nvPr/>
        </p:nvSpPr>
        <p:spPr bwMode="auto">
          <a:xfrm>
            <a:off x="4884738" y="3263900"/>
            <a:ext cx="284162"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78" name="AutoShape 75"/>
          <p:cNvSpPr>
            <a:spLocks noChangeArrowheads="1"/>
          </p:cNvSpPr>
          <p:nvPr/>
        </p:nvSpPr>
        <p:spPr bwMode="auto">
          <a:xfrm>
            <a:off x="3040063" y="4792663"/>
            <a:ext cx="1117600" cy="1117600"/>
          </a:xfrm>
          <a:prstGeom prst="octagon">
            <a:avLst>
              <a:gd name="adj" fmla="val 29287"/>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
        <p:nvSpPr>
          <p:cNvPr id="23579" name="Text Box 76"/>
          <p:cNvSpPr txBox="1">
            <a:spLocks noChangeArrowheads="1"/>
          </p:cNvSpPr>
          <p:nvPr/>
        </p:nvSpPr>
        <p:spPr bwMode="auto">
          <a:xfrm>
            <a:off x="7439025" y="3238500"/>
            <a:ext cx="12795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Mailing address</a:t>
            </a:r>
            <a:br>
              <a:rPr lang="en-US" sz="2000" b="1">
                <a:solidFill>
                  <a:srgbClr val="00CC00"/>
                </a:solidFill>
              </a:rPr>
            </a:br>
            <a:r>
              <a:rPr lang="en-US" sz="2000" b="1">
                <a:solidFill>
                  <a:srgbClr val="00CC00"/>
                </a:solidFill>
              </a:rPr>
              <a:t>for all third-party claimants</a:t>
            </a:r>
          </a:p>
        </p:txBody>
      </p:sp>
      <p:sp>
        <p:nvSpPr>
          <p:cNvPr id="23580" name="Rectangle 77"/>
          <p:cNvSpPr>
            <a:spLocks noChangeArrowheads="1"/>
          </p:cNvSpPr>
          <p:nvPr/>
        </p:nvSpPr>
        <p:spPr bwMode="auto">
          <a:xfrm>
            <a:off x="7032625" y="3257550"/>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81" name="Freeform 78"/>
          <p:cNvSpPr>
            <a:spLocks/>
          </p:cNvSpPr>
          <p:nvPr/>
        </p:nvSpPr>
        <p:spPr bwMode="auto">
          <a:xfrm>
            <a:off x="7037388" y="3082925"/>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3582" name="Text Box 79"/>
          <p:cNvSpPr txBox="1">
            <a:spLocks noChangeArrowheads="1"/>
          </p:cNvSpPr>
          <p:nvPr/>
        </p:nvSpPr>
        <p:spPr bwMode="auto">
          <a:xfrm>
            <a:off x="5291138" y="3244850"/>
            <a:ext cx="15446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Loss location has county</a:t>
            </a:r>
          </a:p>
        </p:txBody>
      </p:sp>
      <p:grpSp>
        <p:nvGrpSpPr>
          <p:cNvPr id="23583" name="Group 80"/>
          <p:cNvGrpSpPr>
            <a:grpSpLocks/>
          </p:cNvGrpSpPr>
          <p:nvPr/>
        </p:nvGrpSpPr>
        <p:grpSpPr bwMode="auto">
          <a:xfrm>
            <a:off x="2120900" y="1557338"/>
            <a:ext cx="407988" cy="655637"/>
            <a:chOff x="4506" y="3057"/>
            <a:chExt cx="488" cy="786"/>
          </a:xfrm>
        </p:grpSpPr>
        <p:sp>
          <p:nvSpPr>
            <p:cNvPr id="23584" name="AutoShape 81"/>
            <p:cNvSpPr>
              <a:spLocks noChangeAspect="1" noChangeArrowheads="1" noTextEdit="1"/>
            </p:cNvSpPr>
            <p:nvPr/>
          </p:nvSpPr>
          <p:spPr bwMode="auto">
            <a:xfrm>
              <a:off x="4506" y="3057"/>
              <a:ext cx="488"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585" name="Freeform 82"/>
            <p:cNvSpPr>
              <a:spLocks/>
            </p:cNvSpPr>
            <p:nvPr/>
          </p:nvSpPr>
          <p:spPr bwMode="auto">
            <a:xfrm>
              <a:off x="4585" y="3083"/>
              <a:ext cx="292" cy="325"/>
            </a:xfrm>
            <a:custGeom>
              <a:avLst/>
              <a:gdLst>
                <a:gd name="T0" fmla="*/ 8 w 1619"/>
                <a:gd name="T1" fmla="*/ 58 h 1804"/>
                <a:gd name="T2" fmla="*/ 0 w 1619"/>
                <a:gd name="T3" fmla="*/ 59 h 1804"/>
                <a:gd name="T4" fmla="*/ 1 w 1619"/>
                <a:gd name="T5" fmla="*/ 22 h 1804"/>
                <a:gd name="T6" fmla="*/ 6 w 1619"/>
                <a:gd name="T7" fmla="*/ 10 h 1804"/>
                <a:gd name="T8" fmla="*/ 15 w 1619"/>
                <a:gd name="T9" fmla="*/ 4 h 1804"/>
                <a:gd name="T10" fmla="*/ 25 w 1619"/>
                <a:gd name="T11" fmla="*/ 1 h 1804"/>
                <a:gd name="T12" fmla="*/ 33 w 1619"/>
                <a:gd name="T13" fmla="*/ 0 h 1804"/>
                <a:gd name="T14" fmla="*/ 42 w 1619"/>
                <a:gd name="T15" fmla="*/ 5 h 1804"/>
                <a:gd name="T16" fmla="*/ 47 w 1619"/>
                <a:gd name="T17" fmla="*/ 11 h 1804"/>
                <a:gd name="T18" fmla="*/ 53 w 1619"/>
                <a:gd name="T19" fmla="*/ 25 h 1804"/>
                <a:gd name="T20" fmla="*/ 42 w 1619"/>
                <a:gd name="T21" fmla="*/ 10 h 1804"/>
                <a:gd name="T22" fmla="*/ 31 w 1619"/>
                <a:gd name="T23" fmla="*/ 8 h 1804"/>
                <a:gd name="T24" fmla="*/ 18 w 1619"/>
                <a:gd name="T25" fmla="*/ 11 h 1804"/>
                <a:gd name="T26" fmla="*/ 12 w 1619"/>
                <a:gd name="T27" fmla="*/ 17 h 1804"/>
                <a:gd name="T28" fmla="*/ 8 w 1619"/>
                <a:gd name="T29" fmla="*/ 24 h 1804"/>
                <a:gd name="T30" fmla="*/ 8 w 1619"/>
                <a:gd name="T31" fmla="*/ 35 h 1804"/>
                <a:gd name="T32" fmla="*/ 8 w 1619"/>
                <a:gd name="T33" fmla="*/ 58 h 1804"/>
                <a:gd name="T34" fmla="*/ 8 w 1619"/>
                <a:gd name="T35" fmla="*/ 58 h 18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9"/>
                <a:gd name="T55" fmla="*/ 0 h 1804"/>
                <a:gd name="T56" fmla="*/ 1619 w 1619"/>
                <a:gd name="T57" fmla="*/ 1804 h 18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9" h="1804">
                  <a:moveTo>
                    <a:pt x="232" y="1796"/>
                  </a:moveTo>
                  <a:lnTo>
                    <a:pt x="0" y="1804"/>
                  </a:lnTo>
                  <a:lnTo>
                    <a:pt x="21" y="669"/>
                  </a:lnTo>
                  <a:lnTo>
                    <a:pt x="183" y="324"/>
                  </a:lnTo>
                  <a:lnTo>
                    <a:pt x="464" y="120"/>
                  </a:lnTo>
                  <a:lnTo>
                    <a:pt x="782" y="29"/>
                  </a:lnTo>
                  <a:lnTo>
                    <a:pt x="1001" y="0"/>
                  </a:lnTo>
                  <a:lnTo>
                    <a:pt x="1303" y="149"/>
                  </a:lnTo>
                  <a:lnTo>
                    <a:pt x="1457" y="331"/>
                  </a:lnTo>
                  <a:lnTo>
                    <a:pt x="1619" y="768"/>
                  </a:lnTo>
                  <a:lnTo>
                    <a:pt x="1282" y="324"/>
                  </a:lnTo>
                  <a:lnTo>
                    <a:pt x="943" y="232"/>
                  </a:lnTo>
                  <a:lnTo>
                    <a:pt x="542" y="339"/>
                  </a:lnTo>
                  <a:lnTo>
                    <a:pt x="373" y="529"/>
                  </a:lnTo>
                  <a:lnTo>
                    <a:pt x="247" y="747"/>
                  </a:lnTo>
                  <a:lnTo>
                    <a:pt x="240" y="1078"/>
                  </a:lnTo>
                  <a:lnTo>
                    <a:pt x="232" y="1796"/>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86" name="Freeform 83"/>
            <p:cNvSpPr>
              <a:spLocks/>
            </p:cNvSpPr>
            <p:nvPr/>
          </p:nvSpPr>
          <p:spPr bwMode="auto">
            <a:xfrm>
              <a:off x="4560" y="3077"/>
              <a:ext cx="280" cy="335"/>
            </a:xfrm>
            <a:custGeom>
              <a:avLst/>
              <a:gdLst>
                <a:gd name="T0" fmla="*/ 6 w 1555"/>
                <a:gd name="T1" fmla="*/ 59 h 1859"/>
                <a:gd name="T2" fmla="*/ 6 w 1555"/>
                <a:gd name="T3" fmla="*/ 25 h 1859"/>
                <a:gd name="T4" fmla="*/ 9 w 1555"/>
                <a:gd name="T5" fmla="*/ 17 h 1859"/>
                <a:gd name="T6" fmla="*/ 14 w 1555"/>
                <a:gd name="T7" fmla="*/ 12 h 1859"/>
                <a:gd name="T8" fmla="*/ 20 w 1555"/>
                <a:gd name="T9" fmla="*/ 7 h 1859"/>
                <a:gd name="T10" fmla="*/ 27 w 1555"/>
                <a:gd name="T11" fmla="*/ 5 h 1859"/>
                <a:gd name="T12" fmla="*/ 34 w 1555"/>
                <a:gd name="T13" fmla="*/ 3 h 1859"/>
                <a:gd name="T14" fmla="*/ 39 w 1555"/>
                <a:gd name="T15" fmla="*/ 4 h 1859"/>
                <a:gd name="T16" fmla="*/ 50 w 1555"/>
                <a:gd name="T17" fmla="*/ 7 h 1859"/>
                <a:gd name="T18" fmla="*/ 43 w 1555"/>
                <a:gd name="T19" fmla="*/ 2 h 1859"/>
                <a:gd name="T20" fmla="*/ 28 w 1555"/>
                <a:gd name="T21" fmla="*/ 0 h 1859"/>
                <a:gd name="T22" fmla="*/ 12 w 1555"/>
                <a:gd name="T23" fmla="*/ 6 h 1859"/>
                <a:gd name="T24" fmla="*/ 6 w 1555"/>
                <a:gd name="T25" fmla="*/ 16 h 1859"/>
                <a:gd name="T26" fmla="*/ 1 w 1555"/>
                <a:gd name="T27" fmla="*/ 24 h 1859"/>
                <a:gd name="T28" fmla="*/ 0 w 1555"/>
                <a:gd name="T29" fmla="*/ 60 h 1859"/>
                <a:gd name="T30" fmla="*/ 6 w 1555"/>
                <a:gd name="T31" fmla="*/ 59 h 1859"/>
                <a:gd name="T32" fmla="*/ 6 w 1555"/>
                <a:gd name="T33" fmla="*/ 59 h 18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5"/>
                <a:gd name="T52" fmla="*/ 0 h 1859"/>
                <a:gd name="T53" fmla="*/ 1555 w 1555"/>
                <a:gd name="T54" fmla="*/ 1859 h 18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5" h="1859">
                  <a:moveTo>
                    <a:pt x="182" y="1802"/>
                  </a:moveTo>
                  <a:lnTo>
                    <a:pt x="197" y="753"/>
                  </a:lnTo>
                  <a:lnTo>
                    <a:pt x="289" y="513"/>
                  </a:lnTo>
                  <a:lnTo>
                    <a:pt x="437" y="358"/>
                  </a:lnTo>
                  <a:lnTo>
                    <a:pt x="619" y="224"/>
                  </a:lnTo>
                  <a:lnTo>
                    <a:pt x="836" y="147"/>
                  </a:lnTo>
                  <a:lnTo>
                    <a:pt x="1047" y="105"/>
                  </a:lnTo>
                  <a:lnTo>
                    <a:pt x="1211" y="118"/>
                  </a:lnTo>
                  <a:lnTo>
                    <a:pt x="1555" y="204"/>
                  </a:lnTo>
                  <a:lnTo>
                    <a:pt x="1329" y="55"/>
                  </a:lnTo>
                  <a:lnTo>
                    <a:pt x="872" y="0"/>
                  </a:lnTo>
                  <a:lnTo>
                    <a:pt x="380" y="196"/>
                  </a:lnTo>
                  <a:lnTo>
                    <a:pt x="182" y="500"/>
                  </a:lnTo>
                  <a:lnTo>
                    <a:pt x="36" y="745"/>
                  </a:lnTo>
                  <a:lnTo>
                    <a:pt x="0" y="1859"/>
                  </a:lnTo>
                  <a:lnTo>
                    <a:pt x="182" y="1802"/>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87" name="Freeform 84"/>
            <p:cNvSpPr>
              <a:spLocks/>
            </p:cNvSpPr>
            <p:nvPr/>
          </p:nvSpPr>
          <p:spPr bwMode="auto">
            <a:xfrm>
              <a:off x="4810" y="3100"/>
              <a:ext cx="112" cy="318"/>
            </a:xfrm>
            <a:custGeom>
              <a:avLst/>
              <a:gdLst>
                <a:gd name="T0" fmla="*/ 0 w 620"/>
                <a:gd name="T1" fmla="*/ 0 h 1767"/>
                <a:gd name="T2" fmla="*/ 9 w 620"/>
                <a:gd name="T3" fmla="*/ 10 h 1767"/>
                <a:gd name="T4" fmla="*/ 15 w 620"/>
                <a:gd name="T5" fmla="*/ 21 h 1767"/>
                <a:gd name="T6" fmla="*/ 15 w 620"/>
                <a:gd name="T7" fmla="*/ 39 h 1767"/>
                <a:gd name="T8" fmla="*/ 15 w 620"/>
                <a:gd name="T9" fmla="*/ 57 h 1767"/>
                <a:gd name="T10" fmla="*/ 20 w 620"/>
                <a:gd name="T11" fmla="*/ 56 h 1767"/>
                <a:gd name="T12" fmla="*/ 20 w 620"/>
                <a:gd name="T13" fmla="*/ 21 h 1767"/>
                <a:gd name="T14" fmla="*/ 12 w 620"/>
                <a:gd name="T15" fmla="*/ 5 h 1767"/>
                <a:gd name="T16" fmla="*/ 0 w 620"/>
                <a:gd name="T17" fmla="*/ 0 h 1767"/>
                <a:gd name="T18" fmla="*/ 0 w 620"/>
                <a:gd name="T19" fmla="*/ 0 h 17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0"/>
                <a:gd name="T31" fmla="*/ 0 h 1767"/>
                <a:gd name="T32" fmla="*/ 620 w 620"/>
                <a:gd name="T33" fmla="*/ 1767 h 17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0" h="1767">
                  <a:moveTo>
                    <a:pt x="0" y="0"/>
                  </a:moveTo>
                  <a:lnTo>
                    <a:pt x="289" y="296"/>
                  </a:lnTo>
                  <a:lnTo>
                    <a:pt x="451" y="634"/>
                  </a:lnTo>
                  <a:lnTo>
                    <a:pt x="464" y="1189"/>
                  </a:lnTo>
                  <a:lnTo>
                    <a:pt x="464" y="1767"/>
                  </a:lnTo>
                  <a:lnTo>
                    <a:pt x="620" y="1739"/>
                  </a:lnTo>
                  <a:lnTo>
                    <a:pt x="612" y="640"/>
                  </a:lnTo>
                  <a:lnTo>
                    <a:pt x="380" y="169"/>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88" name="Freeform 85"/>
            <p:cNvSpPr>
              <a:spLocks/>
            </p:cNvSpPr>
            <p:nvPr/>
          </p:nvSpPr>
          <p:spPr bwMode="auto">
            <a:xfrm>
              <a:off x="4809" y="3098"/>
              <a:ext cx="91" cy="313"/>
            </a:xfrm>
            <a:custGeom>
              <a:avLst/>
              <a:gdLst>
                <a:gd name="T0" fmla="*/ 0 w 508"/>
                <a:gd name="T1" fmla="*/ 0 h 1733"/>
                <a:gd name="T2" fmla="*/ 7 w 508"/>
                <a:gd name="T3" fmla="*/ 13 h 1733"/>
                <a:gd name="T4" fmla="*/ 11 w 508"/>
                <a:gd name="T5" fmla="*/ 27 h 1733"/>
                <a:gd name="T6" fmla="*/ 11 w 508"/>
                <a:gd name="T7" fmla="*/ 56 h 1733"/>
                <a:gd name="T8" fmla="*/ 16 w 508"/>
                <a:gd name="T9" fmla="*/ 57 h 1733"/>
                <a:gd name="T10" fmla="*/ 16 w 508"/>
                <a:gd name="T11" fmla="*/ 24 h 1733"/>
                <a:gd name="T12" fmla="*/ 15 w 508"/>
                <a:gd name="T13" fmla="*/ 18 h 1733"/>
                <a:gd name="T14" fmla="*/ 11 w 508"/>
                <a:gd name="T15" fmla="*/ 13 h 1733"/>
                <a:gd name="T16" fmla="*/ 8 w 508"/>
                <a:gd name="T17" fmla="*/ 7 h 1733"/>
                <a:gd name="T18" fmla="*/ 0 w 508"/>
                <a:gd name="T19" fmla="*/ 0 h 1733"/>
                <a:gd name="T20" fmla="*/ 0 w 508"/>
                <a:gd name="T21" fmla="*/ 0 h 17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8"/>
                <a:gd name="T34" fmla="*/ 0 h 1733"/>
                <a:gd name="T35" fmla="*/ 508 w 508"/>
                <a:gd name="T36" fmla="*/ 1733 h 17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8" h="1733">
                  <a:moveTo>
                    <a:pt x="0" y="0"/>
                  </a:moveTo>
                  <a:lnTo>
                    <a:pt x="227" y="409"/>
                  </a:lnTo>
                  <a:lnTo>
                    <a:pt x="346" y="838"/>
                  </a:lnTo>
                  <a:lnTo>
                    <a:pt x="339" y="1726"/>
                  </a:lnTo>
                  <a:lnTo>
                    <a:pt x="508" y="1733"/>
                  </a:lnTo>
                  <a:lnTo>
                    <a:pt x="493" y="726"/>
                  </a:lnTo>
                  <a:lnTo>
                    <a:pt x="451" y="549"/>
                  </a:lnTo>
                  <a:lnTo>
                    <a:pt x="360" y="388"/>
                  </a:lnTo>
                  <a:lnTo>
                    <a:pt x="255" y="226"/>
                  </a:lnTo>
                  <a:lnTo>
                    <a:pt x="0" y="0"/>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89" name="Freeform 86"/>
            <p:cNvSpPr>
              <a:spLocks/>
            </p:cNvSpPr>
            <p:nvPr/>
          </p:nvSpPr>
          <p:spPr bwMode="auto">
            <a:xfrm>
              <a:off x="4529" y="3420"/>
              <a:ext cx="432" cy="395"/>
            </a:xfrm>
            <a:custGeom>
              <a:avLst/>
              <a:gdLst>
                <a:gd name="T0" fmla="*/ 0 w 2393"/>
                <a:gd name="T1" fmla="*/ 1 h 2189"/>
                <a:gd name="T2" fmla="*/ 1 w 2393"/>
                <a:gd name="T3" fmla="*/ 43 h 2189"/>
                <a:gd name="T4" fmla="*/ 14 w 2393"/>
                <a:gd name="T5" fmla="*/ 63 h 2189"/>
                <a:gd name="T6" fmla="*/ 39 w 2393"/>
                <a:gd name="T7" fmla="*/ 71 h 2189"/>
                <a:gd name="T8" fmla="*/ 60 w 2393"/>
                <a:gd name="T9" fmla="*/ 67 h 2189"/>
                <a:gd name="T10" fmla="*/ 74 w 2393"/>
                <a:gd name="T11" fmla="*/ 54 h 2189"/>
                <a:gd name="T12" fmla="*/ 78 w 2393"/>
                <a:gd name="T13" fmla="*/ 33 h 2189"/>
                <a:gd name="T14" fmla="*/ 77 w 2393"/>
                <a:gd name="T15" fmla="*/ 0 h 2189"/>
                <a:gd name="T16" fmla="*/ 0 w 2393"/>
                <a:gd name="T17" fmla="*/ 1 h 2189"/>
                <a:gd name="T18" fmla="*/ 0 w 2393"/>
                <a:gd name="T19" fmla="*/ 1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0" name="Freeform 87"/>
            <p:cNvSpPr>
              <a:spLocks/>
            </p:cNvSpPr>
            <p:nvPr/>
          </p:nvSpPr>
          <p:spPr bwMode="auto">
            <a:xfrm>
              <a:off x="4701" y="3541"/>
              <a:ext cx="96" cy="177"/>
            </a:xfrm>
            <a:custGeom>
              <a:avLst/>
              <a:gdLst>
                <a:gd name="T0" fmla="*/ 4 w 534"/>
                <a:gd name="T1" fmla="*/ 1 h 978"/>
                <a:gd name="T2" fmla="*/ 0 w 534"/>
                <a:gd name="T3" fmla="*/ 7 h 978"/>
                <a:gd name="T4" fmla="*/ 3 w 534"/>
                <a:gd name="T5" fmla="*/ 15 h 978"/>
                <a:gd name="T6" fmla="*/ 2 w 534"/>
                <a:gd name="T7" fmla="*/ 31 h 978"/>
                <a:gd name="T8" fmla="*/ 15 w 534"/>
                <a:gd name="T9" fmla="*/ 32 h 978"/>
                <a:gd name="T10" fmla="*/ 12 w 534"/>
                <a:gd name="T11" fmla="*/ 15 h 978"/>
                <a:gd name="T12" fmla="*/ 17 w 534"/>
                <a:gd name="T13" fmla="*/ 10 h 978"/>
                <a:gd name="T14" fmla="*/ 15 w 534"/>
                <a:gd name="T15" fmla="*/ 4 h 978"/>
                <a:gd name="T16" fmla="*/ 10 w 534"/>
                <a:gd name="T17" fmla="*/ 0 h 978"/>
                <a:gd name="T18" fmla="*/ 4 w 534"/>
                <a:gd name="T19" fmla="*/ 1 h 978"/>
                <a:gd name="T20" fmla="*/ 4 w 534"/>
                <a:gd name="T21" fmla="*/ 1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1" name="Freeform 88"/>
            <p:cNvSpPr>
              <a:spLocks/>
            </p:cNvSpPr>
            <p:nvPr/>
          </p:nvSpPr>
          <p:spPr bwMode="auto">
            <a:xfrm>
              <a:off x="4550" y="3266"/>
              <a:ext cx="29"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3592" name="Freeform 89"/>
            <p:cNvSpPr>
              <a:spLocks/>
            </p:cNvSpPr>
            <p:nvPr/>
          </p:nvSpPr>
          <p:spPr bwMode="auto">
            <a:xfrm>
              <a:off x="4607"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3593" name="Freeform 90"/>
            <p:cNvSpPr>
              <a:spLocks/>
            </p:cNvSpPr>
            <p:nvPr/>
          </p:nvSpPr>
          <p:spPr bwMode="auto">
            <a:xfrm>
              <a:off x="4914" y="3266"/>
              <a:ext cx="29" cy="175"/>
            </a:xfrm>
            <a:custGeom>
              <a:avLst/>
              <a:gdLst>
                <a:gd name="T0" fmla="*/ 0 w 166"/>
                <a:gd name="T1" fmla="*/ 0 h 972"/>
                <a:gd name="T2" fmla="*/ 0 w 166"/>
                <a:gd name="T3" fmla="*/ 32 h 972"/>
                <a:gd name="T4" fmla="*/ 5 w 166"/>
                <a:gd name="T5" fmla="*/ 32 h 972"/>
                <a:gd name="T6" fmla="*/ 5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23594" name="Freeform 91"/>
            <p:cNvSpPr>
              <a:spLocks/>
            </p:cNvSpPr>
            <p:nvPr/>
          </p:nvSpPr>
          <p:spPr bwMode="auto">
            <a:xfrm>
              <a:off x="4856"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3595" name="Freeform 92"/>
            <p:cNvSpPr>
              <a:spLocks/>
            </p:cNvSpPr>
            <p:nvPr/>
          </p:nvSpPr>
          <p:spPr bwMode="auto">
            <a:xfrm>
              <a:off x="4550" y="3064"/>
              <a:ext cx="393" cy="202"/>
            </a:xfrm>
            <a:custGeom>
              <a:avLst/>
              <a:gdLst>
                <a:gd name="T0" fmla="*/ 0 w 2183"/>
                <a:gd name="T1" fmla="*/ 31 h 1119"/>
                <a:gd name="T2" fmla="*/ 1 w 2183"/>
                <a:gd name="T3" fmla="*/ 26 h 1119"/>
                <a:gd name="T4" fmla="*/ 3 w 2183"/>
                <a:gd name="T5" fmla="*/ 22 h 1119"/>
                <a:gd name="T6" fmla="*/ 4 w 2183"/>
                <a:gd name="T7" fmla="*/ 20 h 1119"/>
                <a:gd name="T8" fmla="*/ 5 w 2183"/>
                <a:gd name="T9" fmla="*/ 18 h 1119"/>
                <a:gd name="T10" fmla="*/ 6 w 2183"/>
                <a:gd name="T11" fmla="*/ 16 h 1119"/>
                <a:gd name="T12" fmla="*/ 7 w 2183"/>
                <a:gd name="T13" fmla="*/ 14 h 1119"/>
                <a:gd name="T14" fmla="*/ 8 w 2183"/>
                <a:gd name="T15" fmla="*/ 13 h 1119"/>
                <a:gd name="T16" fmla="*/ 10 w 2183"/>
                <a:gd name="T17" fmla="*/ 11 h 1119"/>
                <a:gd name="T18" fmla="*/ 11 w 2183"/>
                <a:gd name="T19" fmla="*/ 10 h 1119"/>
                <a:gd name="T20" fmla="*/ 13 w 2183"/>
                <a:gd name="T21" fmla="*/ 8 h 1119"/>
                <a:gd name="T22" fmla="*/ 15 w 2183"/>
                <a:gd name="T23" fmla="*/ 7 h 1119"/>
                <a:gd name="T24" fmla="*/ 17 w 2183"/>
                <a:gd name="T25" fmla="*/ 5 h 1119"/>
                <a:gd name="T26" fmla="*/ 21 w 2183"/>
                <a:gd name="T27" fmla="*/ 3 h 1119"/>
                <a:gd name="T28" fmla="*/ 25 w 2183"/>
                <a:gd name="T29" fmla="*/ 2 h 1119"/>
                <a:gd name="T30" fmla="*/ 33 w 2183"/>
                <a:gd name="T31" fmla="*/ 0 h 1119"/>
                <a:gd name="T32" fmla="*/ 47 w 2183"/>
                <a:gd name="T33" fmla="*/ 2 h 1119"/>
                <a:gd name="T34" fmla="*/ 51 w 2183"/>
                <a:gd name="T35" fmla="*/ 3 h 1119"/>
                <a:gd name="T36" fmla="*/ 54 w 2183"/>
                <a:gd name="T37" fmla="*/ 6 h 1119"/>
                <a:gd name="T38" fmla="*/ 57 w 2183"/>
                <a:gd name="T39" fmla="*/ 8 h 1119"/>
                <a:gd name="T40" fmla="*/ 59 w 2183"/>
                <a:gd name="T41" fmla="*/ 9 h 1119"/>
                <a:gd name="T42" fmla="*/ 61 w 2183"/>
                <a:gd name="T43" fmla="*/ 11 h 1119"/>
                <a:gd name="T44" fmla="*/ 62 w 2183"/>
                <a:gd name="T45" fmla="*/ 12 h 1119"/>
                <a:gd name="T46" fmla="*/ 63 w 2183"/>
                <a:gd name="T47" fmla="*/ 14 h 1119"/>
                <a:gd name="T48" fmla="*/ 65 w 2183"/>
                <a:gd name="T49" fmla="*/ 16 h 1119"/>
                <a:gd name="T50" fmla="*/ 66 w 2183"/>
                <a:gd name="T51" fmla="*/ 18 h 1119"/>
                <a:gd name="T52" fmla="*/ 67 w 2183"/>
                <a:gd name="T53" fmla="*/ 19 h 1119"/>
                <a:gd name="T54" fmla="*/ 68 w 2183"/>
                <a:gd name="T55" fmla="*/ 21 h 1119"/>
                <a:gd name="T56" fmla="*/ 69 w 2183"/>
                <a:gd name="T57" fmla="*/ 25 h 1119"/>
                <a:gd name="T58" fmla="*/ 70 w 2183"/>
                <a:gd name="T59" fmla="*/ 29 h 1119"/>
                <a:gd name="T60" fmla="*/ 65 w 2183"/>
                <a:gd name="T61" fmla="*/ 33 h 1119"/>
                <a:gd name="T62" fmla="*/ 64 w 2183"/>
                <a:gd name="T63" fmla="*/ 27 h 1119"/>
                <a:gd name="T64" fmla="*/ 63 w 2183"/>
                <a:gd name="T65" fmla="*/ 23 h 1119"/>
                <a:gd name="T66" fmla="*/ 62 w 2183"/>
                <a:gd name="T67" fmla="*/ 21 h 1119"/>
                <a:gd name="T68" fmla="*/ 61 w 2183"/>
                <a:gd name="T69" fmla="*/ 20 h 1119"/>
                <a:gd name="T70" fmla="*/ 60 w 2183"/>
                <a:gd name="T71" fmla="*/ 18 h 1119"/>
                <a:gd name="T72" fmla="*/ 59 w 2183"/>
                <a:gd name="T73" fmla="*/ 17 h 1119"/>
                <a:gd name="T74" fmla="*/ 58 w 2183"/>
                <a:gd name="T75" fmla="*/ 16 h 1119"/>
                <a:gd name="T76" fmla="*/ 57 w 2183"/>
                <a:gd name="T77" fmla="*/ 14 h 1119"/>
                <a:gd name="T78" fmla="*/ 55 w 2183"/>
                <a:gd name="T79" fmla="*/ 12 h 1119"/>
                <a:gd name="T80" fmla="*/ 52 w 2183"/>
                <a:gd name="T81" fmla="*/ 10 h 1119"/>
                <a:gd name="T82" fmla="*/ 49 w 2183"/>
                <a:gd name="T83" fmla="*/ 8 h 1119"/>
                <a:gd name="T84" fmla="*/ 46 w 2183"/>
                <a:gd name="T85" fmla="*/ 7 h 1119"/>
                <a:gd name="T86" fmla="*/ 40 w 2183"/>
                <a:gd name="T87" fmla="*/ 5 h 1119"/>
                <a:gd name="T88" fmla="*/ 26 w 2183"/>
                <a:gd name="T89" fmla="*/ 6 h 1119"/>
                <a:gd name="T90" fmla="*/ 22 w 2183"/>
                <a:gd name="T91" fmla="*/ 8 h 1119"/>
                <a:gd name="T92" fmla="*/ 19 w 2183"/>
                <a:gd name="T93" fmla="*/ 10 h 1119"/>
                <a:gd name="T94" fmla="*/ 16 w 2183"/>
                <a:gd name="T95" fmla="*/ 12 h 1119"/>
                <a:gd name="T96" fmla="*/ 14 w 2183"/>
                <a:gd name="T97" fmla="*/ 14 h 1119"/>
                <a:gd name="T98" fmla="*/ 13 w 2183"/>
                <a:gd name="T99" fmla="*/ 15 h 1119"/>
                <a:gd name="T100" fmla="*/ 12 w 2183"/>
                <a:gd name="T101" fmla="*/ 17 h 1119"/>
                <a:gd name="T102" fmla="*/ 10 w 2183"/>
                <a:gd name="T103" fmla="*/ 19 h 1119"/>
                <a:gd name="T104" fmla="*/ 9 w 2183"/>
                <a:gd name="T105" fmla="*/ 20 h 1119"/>
                <a:gd name="T106" fmla="*/ 8 w 2183"/>
                <a:gd name="T107" fmla="*/ 22 h 1119"/>
                <a:gd name="T108" fmla="*/ 7 w 2183"/>
                <a:gd name="T109" fmla="*/ 25 h 1119"/>
                <a:gd name="T110" fmla="*/ 5 w 2183"/>
                <a:gd name="T111" fmla="*/ 35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23596" name="Freeform 93"/>
            <p:cNvSpPr>
              <a:spLocks/>
            </p:cNvSpPr>
            <p:nvPr/>
          </p:nvSpPr>
          <p:spPr bwMode="auto">
            <a:xfrm>
              <a:off x="4607" y="3116"/>
              <a:ext cx="278" cy="150"/>
            </a:xfrm>
            <a:custGeom>
              <a:avLst/>
              <a:gdLst>
                <a:gd name="T0" fmla="*/ 50 w 1540"/>
                <a:gd name="T1" fmla="*/ 22 h 830"/>
                <a:gd name="T2" fmla="*/ 49 w 1540"/>
                <a:gd name="T3" fmla="*/ 18 h 830"/>
                <a:gd name="T4" fmla="*/ 48 w 1540"/>
                <a:gd name="T5" fmla="*/ 15 h 830"/>
                <a:gd name="T6" fmla="*/ 48 w 1540"/>
                <a:gd name="T7" fmla="*/ 14 h 830"/>
                <a:gd name="T8" fmla="*/ 47 w 1540"/>
                <a:gd name="T9" fmla="*/ 13 h 830"/>
                <a:gd name="T10" fmla="*/ 47 w 1540"/>
                <a:gd name="T11" fmla="*/ 12 h 830"/>
                <a:gd name="T12" fmla="*/ 46 w 1540"/>
                <a:gd name="T13" fmla="*/ 12 h 830"/>
                <a:gd name="T14" fmla="*/ 46 w 1540"/>
                <a:gd name="T15" fmla="*/ 11 h 830"/>
                <a:gd name="T16" fmla="*/ 45 w 1540"/>
                <a:gd name="T17" fmla="*/ 9 h 830"/>
                <a:gd name="T18" fmla="*/ 43 w 1540"/>
                <a:gd name="T19" fmla="*/ 8 h 830"/>
                <a:gd name="T20" fmla="*/ 42 w 1540"/>
                <a:gd name="T21" fmla="*/ 7 h 830"/>
                <a:gd name="T22" fmla="*/ 41 w 1540"/>
                <a:gd name="T23" fmla="*/ 5 h 830"/>
                <a:gd name="T24" fmla="*/ 39 w 1540"/>
                <a:gd name="T25" fmla="*/ 4 h 830"/>
                <a:gd name="T26" fmla="*/ 38 w 1540"/>
                <a:gd name="T27" fmla="*/ 3 h 830"/>
                <a:gd name="T28" fmla="*/ 36 w 1540"/>
                <a:gd name="T29" fmla="*/ 3 h 830"/>
                <a:gd name="T30" fmla="*/ 34 w 1540"/>
                <a:gd name="T31" fmla="*/ 2 h 830"/>
                <a:gd name="T32" fmla="*/ 31 w 1540"/>
                <a:gd name="T33" fmla="*/ 1 h 830"/>
                <a:gd name="T34" fmla="*/ 24 w 1540"/>
                <a:gd name="T35" fmla="*/ 0 h 830"/>
                <a:gd name="T36" fmla="*/ 18 w 1540"/>
                <a:gd name="T37" fmla="*/ 1 h 830"/>
                <a:gd name="T38" fmla="*/ 15 w 1540"/>
                <a:gd name="T39" fmla="*/ 2 h 830"/>
                <a:gd name="T40" fmla="*/ 13 w 1540"/>
                <a:gd name="T41" fmla="*/ 3 h 830"/>
                <a:gd name="T42" fmla="*/ 11 w 1540"/>
                <a:gd name="T43" fmla="*/ 4 h 830"/>
                <a:gd name="T44" fmla="*/ 10 w 1540"/>
                <a:gd name="T45" fmla="*/ 5 h 830"/>
                <a:gd name="T46" fmla="*/ 8 w 1540"/>
                <a:gd name="T47" fmla="*/ 7 h 830"/>
                <a:gd name="T48" fmla="*/ 7 w 1540"/>
                <a:gd name="T49" fmla="*/ 8 h 830"/>
                <a:gd name="T50" fmla="*/ 6 w 1540"/>
                <a:gd name="T51" fmla="*/ 9 h 830"/>
                <a:gd name="T52" fmla="*/ 5 w 1540"/>
                <a:gd name="T53" fmla="*/ 10 h 830"/>
                <a:gd name="T54" fmla="*/ 4 w 1540"/>
                <a:gd name="T55" fmla="*/ 12 h 830"/>
                <a:gd name="T56" fmla="*/ 3 w 1540"/>
                <a:gd name="T57" fmla="*/ 13 h 830"/>
                <a:gd name="T58" fmla="*/ 3 w 1540"/>
                <a:gd name="T59" fmla="*/ 14 h 830"/>
                <a:gd name="T60" fmla="*/ 2 w 1540"/>
                <a:gd name="T61" fmla="*/ 14 h 830"/>
                <a:gd name="T62" fmla="*/ 1 w 1540"/>
                <a:gd name="T63" fmla="*/ 17 h 830"/>
                <a:gd name="T64" fmla="*/ 0 w 1540"/>
                <a:gd name="T65" fmla="*/ 21 h 830"/>
                <a:gd name="T66" fmla="*/ 0 w 1540"/>
                <a:gd name="T67" fmla="*/ 27 h 830"/>
                <a:gd name="T68" fmla="*/ 5 w 1540"/>
                <a:gd name="T69" fmla="*/ 23 h 830"/>
                <a:gd name="T70" fmla="*/ 6 w 1540"/>
                <a:gd name="T71" fmla="*/ 20 h 830"/>
                <a:gd name="T72" fmla="*/ 7 w 1540"/>
                <a:gd name="T73" fmla="*/ 17 h 830"/>
                <a:gd name="T74" fmla="*/ 8 w 1540"/>
                <a:gd name="T75" fmla="*/ 16 h 830"/>
                <a:gd name="T76" fmla="*/ 8 w 1540"/>
                <a:gd name="T77" fmla="*/ 14 h 830"/>
                <a:gd name="T78" fmla="*/ 9 w 1540"/>
                <a:gd name="T79" fmla="*/ 13 h 830"/>
                <a:gd name="T80" fmla="*/ 10 w 1540"/>
                <a:gd name="T81" fmla="*/ 12 h 830"/>
                <a:gd name="T82" fmla="*/ 11 w 1540"/>
                <a:gd name="T83" fmla="*/ 11 h 830"/>
                <a:gd name="T84" fmla="*/ 12 w 1540"/>
                <a:gd name="T85" fmla="*/ 10 h 830"/>
                <a:gd name="T86" fmla="*/ 13 w 1540"/>
                <a:gd name="T87" fmla="*/ 9 h 830"/>
                <a:gd name="T88" fmla="*/ 14 w 1540"/>
                <a:gd name="T89" fmla="*/ 8 h 830"/>
                <a:gd name="T90" fmla="*/ 16 w 1540"/>
                <a:gd name="T91" fmla="*/ 7 h 830"/>
                <a:gd name="T92" fmla="*/ 19 w 1540"/>
                <a:gd name="T93" fmla="*/ 6 h 830"/>
                <a:gd name="T94" fmla="*/ 21 w 1540"/>
                <a:gd name="T95" fmla="*/ 5 h 830"/>
                <a:gd name="T96" fmla="*/ 31 w 1540"/>
                <a:gd name="T97" fmla="*/ 6 h 830"/>
                <a:gd name="T98" fmla="*/ 34 w 1540"/>
                <a:gd name="T99" fmla="*/ 7 h 830"/>
                <a:gd name="T100" fmla="*/ 36 w 1540"/>
                <a:gd name="T101" fmla="*/ 8 h 830"/>
                <a:gd name="T102" fmla="*/ 37 w 1540"/>
                <a:gd name="T103" fmla="*/ 9 h 830"/>
                <a:gd name="T104" fmla="*/ 38 w 1540"/>
                <a:gd name="T105" fmla="*/ 10 h 830"/>
                <a:gd name="T106" fmla="*/ 39 w 1540"/>
                <a:gd name="T107" fmla="*/ 11 h 830"/>
                <a:gd name="T108" fmla="*/ 40 w 1540"/>
                <a:gd name="T109" fmla="*/ 12 h 830"/>
                <a:gd name="T110" fmla="*/ 41 w 1540"/>
                <a:gd name="T111" fmla="*/ 13 h 830"/>
                <a:gd name="T112" fmla="*/ 42 w 1540"/>
                <a:gd name="T113" fmla="*/ 14 h 830"/>
                <a:gd name="T114" fmla="*/ 43 w 1540"/>
                <a:gd name="T115" fmla="*/ 16 h 830"/>
                <a:gd name="T116" fmla="*/ 44 w 1540"/>
                <a:gd name="T117" fmla="*/ 17 h 830"/>
                <a:gd name="T118" fmla="*/ 45 w 1540"/>
                <a:gd name="T119" fmla="*/ 23 h 830"/>
                <a:gd name="T120" fmla="*/ 50 w 1540"/>
                <a:gd name="T121" fmla="*/ 27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sp>
          <p:nvSpPr>
            <p:cNvPr id="23597" name="Freeform 94"/>
            <p:cNvSpPr>
              <a:spLocks/>
            </p:cNvSpPr>
            <p:nvPr/>
          </p:nvSpPr>
          <p:spPr bwMode="auto">
            <a:xfrm>
              <a:off x="4506" y="3398"/>
              <a:ext cx="481" cy="198"/>
            </a:xfrm>
            <a:custGeom>
              <a:avLst/>
              <a:gdLst>
                <a:gd name="T0" fmla="*/ 0 w 2668"/>
                <a:gd name="T1" fmla="*/ 36 h 1093"/>
                <a:gd name="T2" fmla="*/ 0 w 2668"/>
                <a:gd name="T3" fmla="*/ 0 h 1093"/>
                <a:gd name="T4" fmla="*/ 87 w 2668"/>
                <a:gd name="T5" fmla="*/ 0 h 1093"/>
                <a:gd name="T6" fmla="*/ 87 w 2668"/>
                <a:gd name="T7" fmla="*/ 36 h 1093"/>
                <a:gd name="T8" fmla="*/ 79 w 2668"/>
                <a:gd name="T9" fmla="*/ 36 h 1093"/>
                <a:gd name="T10" fmla="*/ 79 w 2668"/>
                <a:gd name="T11" fmla="*/ 8 h 1093"/>
                <a:gd name="T12" fmla="*/ 8 w 2668"/>
                <a:gd name="T13" fmla="*/ 8 h 1093"/>
                <a:gd name="T14" fmla="*/ 8 w 2668"/>
                <a:gd name="T15" fmla="*/ 36 h 1093"/>
                <a:gd name="T16" fmla="*/ 0 w 2668"/>
                <a:gd name="T17" fmla="*/ 36 h 1093"/>
                <a:gd name="T18" fmla="*/ 0 w 2668"/>
                <a:gd name="T19" fmla="*/ 36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23598" name="Freeform 95"/>
            <p:cNvSpPr>
              <a:spLocks/>
            </p:cNvSpPr>
            <p:nvPr/>
          </p:nvSpPr>
          <p:spPr bwMode="auto">
            <a:xfrm>
              <a:off x="4506" y="3596"/>
              <a:ext cx="481" cy="240"/>
            </a:xfrm>
            <a:custGeom>
              <a:avLst/>
              <a:gdLst>
                <a:gd name="T0" fmla="*/ 86 w 2668"/>
                <a:gd name="T1" fmla="*/ 9 h 1334"/>
                <a:gd name="T2" fmla="*/ 84 w 2668"/>
                <a:gd name="T3" fmla="*/ 14 h 1334"/>
                <a:gd name="T4" fmla="*/ 83 w 2668"/>
                <a:gd name="T5" fmla="*/ 18 h 1334"/>
                <a:gd name="T6" fmla="*/ 82 w 2668"/>
                <a:gd name="T7" fmla="*/ 20 h 1334"/>
                <a:gd name="T8" fmla="*/ 80 w 2668"/>
                <a:gd name="T9" fmla="*/ 22 h 1334"/>
                <a:gd name="T10" fmla="*/ 79 w 2668"/>
                <a:gd name="T11" fmla="*/ 24 h 1334"/>
                <a:gd name="T12" fmla="*/ 78 w 2668"/>
                <a:gd name="T13" fmla="*/ 27 h 1334"/>
                <a:gd name="T14" fmla="*/ 76 w 2668"/>
                <a:gd name="T15" fmla="*/ 29 h 1334"/>
                <a:gd name="T16" fmla="*/ 74 w 2668"/>
                <a:gd name="T17" fmla="*/ 30 h 1334"/>
                <a:gd name="T18" fmla="*/ 72 w 2668"/>
                <a:gd name="T19" fmla="*/ 32 h 1334"/>
                <a:gd name="T20" fmla="*/ 70 w 2668"/>
                <a:gd name="T21" fmla="*/ 34 h 1334"/>
                <a:gd name="T22" fmla="*/ 68 w 2668"/>
                <a:gd name="T23" fmla="*/ 35 h 1334"/>
                <a:gd name="T24" fmla="*/ 66 w 2668"/>
                <a:gd name="T25" fmla="*/ 37 h 1334"/>
                <a:gd name="T26" fmla="*/ 63 w 2668"/>
                <a:gd name="T27" fmla="*/ 38 h 1334"/>
                <a:gd name="T28" fmla="*/ 59 w 2668"/>
                <a:gd name="T29" fmla="*/ 40 h 1334"/>
                <a:gd name="T30" fmla="*/ 54 w 2668"/>
                <a:gd name="T31" fmla="*/ 42 h 1334"/>
                <a:gd name="T32" fmla="*/ 43 w 2668"/>
                <a:gd name="T33" fmla="*/ 43 h 1334"/>
                <a:gd name="T34" fmla="*/ 30 w 2668"/>
                <a:gd name="T35" fmla="*/ 41 h 1334"/>
                <a:gd name="T36" fmla="*/ 26 w 2668"/>
                <a:gd name="T37" fmla="*/ 39 h 1334"/>
                <a:gd name="T38" fmla="*/ 22 w 2668"/>
                <a:gd name="T39" fmla="*/ 37 h 1334"/>
                <a:gd name="T40" fmla="*/ 19 w 2668"/>
                <a:gd name="T41" fmla="*/ 36 h 1334"/>
                <a:gd name="T42" fmla="*/ 17 w 2668"/>
                <a:gd name="T43" fmla="*/ 35 h 1334"/>
                <a:gd name="T44" fmla="*/ 15 w 2668"/>
                <a:gd name="T45" fmla="*/ 33 h 1334"/>
                <a:gd name="T46" fmla="*/ 14 w 2668"/>
                <a:gd name="T47" fmla="*/ 31 h 1334"/>
                <a:gd name="T48" fmla="*/ 12 w 2668"/>
                <a:gd name="T49" fmla="*/ 30 h 1334"/>
                <a:gd name="T50" fmla="*/ 10 w 2668"/>
                <a:gd name="T51" fmla="*/ 28 h 1334"/>
                <a:gd name="T52" fmla="*/ 8 w 2668"/>
                <a:gd name="T53" fmla="*/ 26 h 1334"/>
                <a:gd name="T54" fmla="*/ 7 w 2668"/>
                <a:gd name="T55" fmla="*/ 23 h 1334"/>
                <a:gd name="T56" fmla="*/ 5 w 2668"/>
                <a:gd name="T57" fmla="*/ 21 h 1334"/>
                <a:gd name="T58" fmla="*/ 4 w 2668"/>
                <a:gd name="T59" fmla="*/ 19 h 1334"/>
                <a:gd name="T60" fmla="*/ 3 w 2668"/>
                <a:gd name="T61" fmla="*/ 16 h 1334"/>
                <a:gd name="T62" fmla="*/ 1 w 2668"/>
                <a:gd name="T63" fmla="*/ 11 h 1334"/>
                <a:gd name="T64" fmla="*/ 0 w 2668"/>
                <a:gd name="T65" fmla="*/ 0 h 1334"/>
                <a:gd name="T66" fmla="*/ 9 w 2668"/>
                <a:gd name="T67" fmla="*/ 8 h 1334"/>
                <a:gd name="T68" fmla="*/ 10 w 2668"/>
                <a:gd name="T69" fmla="*/ 12 h 1334"/>
                <a:gd name="T70" fmla="*/ 11 w 2668"/>
                <a:gd name="T71" fmla="*/ 15 h 1334"/>
                <a:gd name="T72" fmla="*/ 12 w 2668"/>
                <a:gd name="T73" fmla="*/ 17 h 1334"/>
                <a:gd name="T74" fmla="*/ 13 w 2668"/>
                <a:gd name="T75" fmla="*/ 19 h 1334"/>
                <a:gd name="T76" fmla="*/ 14 w 2668"/>
                <a:gd name="T77" fmla="*/ 21 h 1334"/>
                <a:gd name="T78" fmla="*/ 16 w 2668"/>
                <a:gd name="T79" fmla="*/ 22 h 1334"/>
                <a:gd name="T80" fmla="*/ 17 w 2668"/>
                <a:gd name="T81" fmla="*/ 24 h 1334"/>
                <a:gd name="T82" fmla="*/ 19 w 2668"/>
                <a:gd name="T83" fmla="*/ 25 h 1334"/>
                <a:gd name="T84" fmla="*/ 20 w 2668"/>
                <a:gd name="T85" fmla="*/ 27 h 1334"/>
                <a:gd name="T86" fmla="*/ 22 w 2668"/>
                <a:gd name="T87" fmla="*/ 28 h 1334"/>
                <a:gd name="T88" fmla="*/ 24 w 2668"/>
                <a:gd name="T89" fmla="*/ 29 h 1334"/>
                <a:gd name="T90" fmla="*/ 27 w 2668"/>
                <a:gd name="T91" fmla="*/ 31 h 1334"/>
                <a:gd name="T92" fmla="*/ 31 w 2668"/>
                <a:gd name="T93" fmla="*/ 33 h 1334"/>
                <a:gd name="T94" fmla="*/ 36 w 2668"/>
                <a:gd name="T95" fmla="*/ 35 h 1334"/>
                <a:gd name="T96" fmla="*/ 50 w 2668"/>
                <a:gd name="T97" fmla="*/ 35 h 1334"/>
                <a:gd name="T98" fmla="*/ 56 w 2668"/>
                <a:gd name="T99" fmla="*/ 33 h 1334"/>
                <a:gd name="T100" fmla="*/ 60 w 2668"/>
                <a:gd name="T101" fmla="*/ 31 h 1334"/>
                <a:gd name="T102" fmla="*/ 64 w 2668"/>
                <a:gd name="T103" fmla="*/ 29 h 1334"/>
                <a:gd name="T104" fmla="*/ 66 w 2668"/>
                <a:gd name="T105" fmla="*/ 27 h 1334"/>
                <a:gd name="T106" fmla="*/ 67 w 2668"/>
                <a:gd name="T107" fmla="*/ 26 h 1334"/>
                <a:gd name="T108" fmla="*/ 69 w 2668"/>
                <a:gd name="T109" fmla="*/ 24 h 1334"/>
                <a:gd name="T110" fmla="*/ 70 w 2668"/>
                <a:gd name="T111" fmla="*/ 23 h 1334"/>
                <a:gd name="T112" fmla="*/ 72 w 2668"/>
                <a:gd name="T113" fmla="*/ 21 h 1334"/>
                <a:gd name="T114" fmla="*/ 73 w 2668"/>
                <a:gd name="T115" fmla="*/ 19 h 1334"/>
                <a:gd name="T116" fmla="*/ 74 w 2668"/>
                <a:gd name="T117" fmla="*/ 18 h 1334"/>
                <a:gd name="T118" fmla="*/ 75 w 2668"/>
                <a:gd name="T119" fmla="*/ 16 h 1334"/>
                <a:gd name="T120" fmla="*/ 76 w 2668"/>
                <a:gd name="T121" fmla="*/ 14 h 1334"/>
                <a:gd name="T122" fmla="*/ 78 w 2668"/>
                <a:gd name="T123" fmla="*/ 10 h 1334"/>
                <a:gd name="T124" fmla="*/ 79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23599" name="Freeform 96"/>
            <p:cNvSpPr>
              <a:spLocks/>
            </p:cNvSpPr>
            <p:nvPr/>
          </p:nvSpPr>
          <p:spPr bwMode="auto">
            <a:xfrm>
              <a:off x="4697" y="3617"/>
              <a:ext cx="95" cy="109"/>
            </a:xfrm>
            <a:custGeom>
              <a:avLst/>
              <a:gdLst>
                <a:gd name="T0" fmla="*/ 0 w 529"/>
                <a:gd name="T1" fmla="*/ 20 h 606"/>
                <a:gd name="T2" fmla="*/ 17 w 529"/>
                <a:gd name="T3" fmla="*/ 20 h 606"/>
                <a:gd name="T4" fmla="*/ 15 w 529"/>
                <a:gd name="T5" fmla="*/ 2 h 606"/>
                <a:gd name="T6" fmla="*/ 11 w 529"/>
                <a:gd name="T7" fmla="*/ 0 h 606"/>
                <a:gd name="T8" fmla="*/ 13 w 529"/>
                <a:gd name="T9" fmla="*/ 16 h 606"/>
                <a:gd name="T10" fmla="*/ 5 w 529"/>
                <a:gd name="T11" fmla="*/ 16 h 606"/>
                <a:gd name="T12" fmla="*/ 7 w 529"/>
                <a:gd name="T13" fmla="*/ 0 h 606"/>
                <a:gd name="T14" fmla="*/ 3 w 529"/>
                <a:gd name="T15" fmla="*/ 2 h 606"/>
                <a:gd name="T16" fmla="*/ 0 w 529"/>
                <a:gd name="T17" fmla="*/ 20 h 606"/>
                <a:gd name="T18" fmla="*/ 0 w 529"/>
                <a:gd name="T19" fmla="*/ 2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23600" name="Freeform 97"/>
            <p:cNvSpPr>
              <a:spLocks/>
            </p:cNvSpPr>
            <p:nvPr/>
          </p:nvSpPr>
          <p:spPr bwMode="auto">
            <a:xfrm>
              <a:off x="4693" y="3529"/>
              <a:ext cx="110" cy="100"/>
            </a:xfrm>
            <a:custGeom>
              <a:avLst/>
              <a:gdLst>
                <a:gd name="T0" fmla="*/ 13 w 613"/>
                <a:gd name="T1" fmla="*/ 15 h 551"/>
                <a:gd name="T2" fmla="*/ 14 w 613"/>
                <a:gd name="T3" fmla="*/ 15 h 551"/>
                <a:gd name="T4" fmla="*/ 15 w 613"/>
                <a:gd name="T5" fmla="*/ 14 h 551"/>
                <a:gd name="T6" fmla="*/ 15 w 613"/>
                <a:gd name="T7" fmla="*/ 13 h 551"/>
                <a:gd name="T8" fmla="*/ 16 w 613"/>
                <a:gd name="T9" fmla="*/ 10 h 551"/>
                <a:gd name="T10" fmla="*/ 16 w 613"/>
                <a:gd name="T11" fmla="*/ 8 h 551"/>
                <a:gd name="T12" fmla="*/ 15 w 613"/>
                <a:gd name="T13" fmla="*/ 7 h 551"/>
                <a:gd name="T14" fmla="*/ 15 w 613"/>
                <a:gd name="T15" fmla="*/ 7 h 551"/>
                <a:gd name="T16" fmla="*/ 15 w 613"/>
                <a:gd name="T17" fmla="*/ 6 h 551"/>
                <a:gd name="T18" fmla="*/ 14 w 613"/>
                <a:gd name="T19" fmla="*/ 5 h 551"/>
                <a:gd name="T20" fmla="*/ 13 w 613"/>
                <a:gd name="T21" fmla="*/ 5 h 551"/>
                <a:gd name="T22" fmla="*/ 11 w 613"/>
                <a:gd name="T23" fmla="*/ 4 h 551"/>
                <a:gd name="T24" fmla="*/ 7 w 613"/>
                <a:gd name="T25" fmla="*/ 5 h 551"/>
                <a:gd name="T26" fmla="*/ 6 w 613"/>
                <a:gd name="T27" fmla="*/ 6 h 551"/>
                <a:gd name="T28" fmla="*/ 5 w 613"/>
                <a:gd name="T29" fmla="*/ 7 h 551"/>
                <a:gd name="T30" fmla="*/ 4 w 613"/>
                <a:gd name="T31" fmla="*/ 7 h 551"/>
                <a:gd name="T32" fmla="*/ 4 w 613"/>
                <a:gd name="T33" fmla="*/ 9 h 551"/>
                <a:gd name="T34" fmla="*/ 4 w 613"/>
                <a:gd name="T35" fmla="*/ 12 h 551"/>
                <a:gd name="T36" fmla="*/ 4 w 613"/>
                <a:gd name="T37" fmla="*/ 13 h 551"/>
                <a:gd name="T38" fmla="*/ 5 w 613"/>
                <a:gd name="T39" fmla="*/ 14 h 551"/>
                <a:gd name="T40" fmla="*/ 5 w 613"/>
                <a:gd name="T41" fmla="*/ 14 h 551"/>
                <a:gd name="T42" fmla="*/ 6 w 613"/>
                <a:gd name="T43" fmla="*/ 15 h 551"/>
                <a:gd name="T44" fmla="*/ 6 w 613"/>
                <a:gd name="T45" fmla="*/ 15 h 551"/>
                <a:gd name="T46" fmla="*/ 7 w 613"/>
                <a:gd name="T47" fmla="*/ 16 h 551"/>
                <a:gd name="T48" fmla="*/ 3 w 613"/>
                <a:gd name="T49" fmla="*/ 18 h 551"/>
                <a:gd name="T50" fmla="*/ 3 w 613"/>
                <a:gd name="T51" fmla="*/ 17 h 551"/>
                <a:gd name="T52" fmla="*/ 2 w 613"/>
                <a:gd name="T53" fmla="*/ 16 h 551"/>
                <a:gd name="T54" fmla="*/ 1 w 613"/>
                <a:gd name="T55" fmla="*/ 15 h 551"/>
                <a:gd name="T56" fmla="*/ 0 w 613"/>
                <a:gd name="T57" fmla="*/ 13 h 551"/>
                <a:gd name="T58" fmla="*/ 0 w 613"/>
                <a:gd name="T59" fmla="*/ 9 h 551"/>
                <a:gd name="T60" fmla="*/ 1 w 613"/>
                <a:gd name="T61" fmla="*/ 7 h 551"/>
                <a:gd name="T62" fmla="*/ 1 w 613"/>
                <a:gd name="T63" fmla="*/ 6 h 551"/>
                <a:gd name="T64" fmla="*/ 1 w 613"/>
                <a:gd name="T65" fmla="*/ 5 h 551"/>
                <a:gd name="T66" fmla="*/ 2 w 613"/>
                <a:gd name="T67" fmla="*/ 4 h 551"/>
                <a:gd name="T68" fmla="*/ 3 w 613"/>
                <a:gd name="T69" fmla="*/ 3 h 551"/>
                <a:gd name="T70" fmla="*/ 3 w 613"/>
                <a:gd name="T71" fmla="*/ 2 h 551"/>
                <a:gd name="T72" fmla="*/ 4 w 613"/>
                <a:gd name="T73" fmla="*/ 2 h 551"/>
                <a:gd name="T74" fmla="*/ 5 w 613"/>
                <a:gd name="T75" fmla="*/ 1 h 551"/>
                <a:gd name="T76" fmla="*/ 6 w 613"/>
                <a:gd name="T77" fmla="*/ 1 h 551"/>
                <a:gd name="T78" fmla="*/ 8 w 613"/>
                <a:gd name="T79" fmla="*/ 0 h 551"/>
                <a:gd name="T80" fmla="*/ 11 w 613"/>
                <a:gd name="T81" fmla="*/ 0 h 551"/>
                <a:gd name="T82" fmla="*/ 14 w 613"/>
                <a:gd name="T83" fmla="*/ 1 h 551"/>
                <a:gd name="T84" fmla="*/ 15 w 613"/>
                <a:gd name="T85" fmla="*/ 2 h 551"/>
                <a:gd name="T86" fmla="*/ 16 w 613"/>
                <a:gd name="T87" fmla="*/ 2 h 551"/>
                <a:gd name="T88" fmla="*/ 17 w 613"/>
                <a:gd name="T89" fmla="*/ 3 h 551"/>
                <a:gd name="T90" fmla="*/ 18 w 613"/>
                <a:gd name="T91" fmla="*/ 4 h 551"/>
                <a:gd name="T92" fmla="*/ 18 w 613"/>
                <a:gd name="T93" fmla="*/ 5 h 551"/>
                <a:gd name="T94" fmla="*/ 19 w 613"/>
                <a:gd name="T95" fmla="*/ 6 h 551"/>
                <a:gd name="T96" fmla="*/ 20 w 613"/>
                <a:gd name="T97" fmla="*/ 9 h 551"/>
                <a:gd name="T98" fmla="*/ 20 w 613"/>
                <a:gd name="T99" fmla="*/ 12 h 551"/>
                <a:gd name="T100" fmla="*/ 19 w 613"/>
                <a:gd name="T101" fmla="*/ 14 h 551"/>
                <a:gd name="T102" fmla="*/ 18 w 613"/>
                <a:gd name="T103" fmla="*/ 15 h 551"/>
                <a:gd name="T104" fmla="*/ 18 w 613"/>
                <a:gd name="T105" fmla="*/ 16 h 551"/>
                <a:gd name="T106" fmla="*/ 17 w 613"/>
                <a:gd name="T107" fmla="*/ 17 h 551"/>
                <a:gd name="T108" fmla="*/ 17 w 613"/>
                <a:gd name="T109" fmla="*/ 17 h 551"/>
                <a:gd name="T110" fmla="*/ 16 w 613"/>
                <a:gd name="T111" fmla="*/ 18 h 551"/>
                <a:gd name="T112" fmla="*/ 12 w 613"/>
                <a:gd name="T113" fmla="*/ 16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23601" name="Freeform 98"/>
            <p:cNvSpPr>
              <a:spLocks/>
            </p:cNvSpPr>
            <p:nvPr/>
          </p:nvSpPr>
          <p:spPr bwMode="auto">
            <a:xfrm>
              <a:off x="4576" y="3467"/>
              <a:ext cx="247" cy="285"/>
            </a:xfrm>
            <a:custGeom>
              <a:avLst/>
              <a:gdLst>
                <a:gd name="T0" fmla="*/ 1 w 1365"/>
                <a:gd name="T1" fmla="*/ 0 h 1583"/>
                <a:gd name="T2" fmla="*/ 0 w 1365"/>
                <a:gd name="T3" fmla="*/ 25 h 1583"/>
                <a:gd name="T4" fmla="*/ 1 w 1365"/>
                <a:gd name="T5" fmla="*/ 32 h 1583"/>
                <a:gd name="T6" fmla="*/ 3 w 1365"/>
                <a:gd name="T7" fmla="*/ 39 h 1583"/>
                <a:gd name="T8" fmla="*/ 6 w 1365"/>
                <a:gd name="T9" fmla="*/ 43 h 1583"/>
                <a:gd name="T10" fmla="*/ 12 w 1365"/>
                <a:gd name="T11" fmla="*/ 48 h 1583"/>
                <a:gd name="T12" fmla="*/ 17 w 1365"/>
                <a:gd name="T13" fmla="*/ 51 h 1583"/>
                <a:gd name="T14" fmla="*/ 23 w 1365"/>
                <a:gd name="T15" fmla="*/ 30 h 1583"/>
                <a:gd name="T16" fmla="*/ 18 w 1365"/>
                <a:gd name="T17" fmla="*/ 23 h 1583"/>
                <a:gd name="T18" fmla="*/ 18 w 1365"/>
                <a:gd name="T19" fmla="*/ 16 h 1583"/>
                <a:gd name="T20" fmla="*/ 20 w 1365"/>
                <a:gd name="T21" fmla="*/ 11 h 1583"/>
                <a:gd name="T22" fmla="*/ 26 w 1365"/>
                <a:gd name="T23" fmla="*/ 6 h 1583"/>
                <a:gd name="T24" fmla="*/ 33 w 1365"/>
                <a:gd name="T25" fmla="*/ 3 h 1583"/>
                <a:gd name="T26" fmla="*/ 45 w 1365"/>
                <a:gd name="T27" fmla="*/ 0 h 1583"/>
                <a:gd name="T28" fmla="*/ 1 w 1365"/>
                <a:gd name="T29" fmla="*/ 0 h 1583"/>
                <a:gd name="T30" fmla="*/ 1 w 1365"/>
                <a:gd name="T31" fmla="*/ 0 h 1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5"/>
                <a:gd name="T49" fmla="*/ 0 h 1583"/>
                <a:gd name="T50" fmla="*/ 1365 w 1365"/>
                <a:gd name="T51" fmla="*/ 1583 h 1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5" h="1583">
                  <a:moveTo>
                    <a:pt x="15" y="6"/>
                  </a:moveTo>
                  <a:lnTo>
                    <a:pt x="0" y="774"/>
                  </a:lnTo>
                  <a:lnTo>
                    <a:pt x="28" y="1000"/>
                  </a:lnTo>
                  <a:lnTo>
                    <a:pt x="91" y="1190"/>
                  </a:lnTo>
                  <a:lnTo>
                    <a:pt x="190" y="1338"/>
                  </a:lnTo>
                  <a:lnTo>
                    <a:pt x="352" y="1464"/>
                  </a:lnTo>
                  <a:lnTo>
                    <a:pt x="528" y="1583"/>
                  </a:lnTo>
                  <a:lnTo>
                    <a:pt x="698" y="922"/>
                  </a:lnTo>
                  <a:lnTo>
                    <a:pt x="563" y="703"/>
                  </a:lnTo>
                  <a:lnTo>
                    <a:pt x="549" y="492"/>
                  </a:lnTo>
                  <a:lnTo>
                    <a:pt x="627" y="338"/>
                  </a:lnTo>
                  <a:lnTo>
                    <a:pt x="781" y="190"/>
                  </a:lnTo>
                  <a:lnTo>
                    <a:pt x="992" y="91"/>
                  </a:lnTo>
                  <a:lnTo>
                    <a:pt x="1365" y="0"/>
                  </a:lnTo>
                  <a:lnTo>
                    <a:pt x="15" y="6"/>
                  </a:lnTo>
                  <a:close/>
                </a:path>
              </a:pathLst>
            </a:custGeom>
            <a:solidFill>
              <a:srgbClr val="D4D4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2" name="Freeform 99"/>
            <p:cNvSpPr>
              <a:spLocks/>
            </p:cNvSpPr>
            <p:nvPr/>
          </p:nvSpPr>
          <p:spPr bwMode="auto">
            <a:xfrm>
              <a:off x="4683" y="3460"/>
              <a:ext cx="248" cy="313"/>
            </a:xfrm>
            <a:custGeom>
              <a:avLst/>
              <a:gdLst>
                <a:gd name="T0" fmla="*/ 23 w 1373"/>
                <a:gd name="T1" fmla="*/ 14 h 1733"/>
                <a:gd name="T2" fmla="*/ 25 w 1373"/>
                <a:gd name="T3" fmla="*/ 18 h 1733"/>
                <a:gd name="T4" fmla="*/ 26 w 1373"/>
                <a:gd name="T5" fmla="*/ 22 h 1733"/>
                <a:gd name="T6" fmla="*/ 25 w 1373"/>
                <a:gd name="T7" fmla="*/ 27 h 1733"/>
                <a:gd name="T8" fmla="*/ 20 w 1373"/>
                <a:gd name="T9" fmla="*/ 31 h 1733"/>
                <a:gd name="T10" fmla="*/ 23 w 1373"/>
                <a:gd name="T11" fmla="*/ 50 h 1733"/>
                <a:gd name="T12" fmla="*/ 1 w 1373"/>
                <a:gd name="T13" fmla="*/ 51 h 1733"/>
                <a:gd name="T14" fmla="*/ 0 w 1373"/>
                <a:gd name="T15" fmla="*/ 53 h 1733"/>
                <a:gd name="T16" fmla="*/ 5 w 1373"/>
                <a:gd name="T17" fmla="*/ 55 h 1733"/>
                <a:gd name="T18" fmla="*/ 10 w 1373"/>
                <a:gd name="T19" fmla="*/ 57 h 1733"/>
                <a:gd name="T20" fmla="*/ 16 w 1373"/>
                <a:gd name="T21" fmla="*/ 56 h 1733"/>
                <a:gd name="T22" fmla="*/ 22 w 1373"/>
                <a:gd name="T23" fmla="*/ 54 h 1733"/>
                <a:gd name="T24" fmla="*/ 29 w 1373"/>
                <a:gd name="T25" fmla="*/ 52 h 1733"/>
                <a:gd name="T26" fmla="*/ 35 w 1373"/>
                <a:gd name="T27" fmla="*/ 47 h 1733"/>
                <a:gd name="T28" fmla="*/ 40 w 1373"/>
                <a:gd name="T29" fmla="*/ 40 h 1733"/>
                <a:gd name="T30" fmla="*/ 44 w 1373"/>
                <a:gd name="T31" fmla="*/ 29 h 1733"/>
                <a:gd name="T32" fmla="*/ 45 w 1373"/>
                <a:gd name="T33" fmla="*/ 16 h 1733"/>
                <a:gd name="T34" fmla="*/ 44 w 1373"/>
                <a:gd name="T35" fmla="*/ 0 h 1733"/>
                <a:gd name="T36" fmla="*/ 28 w 1373"/>
                <a:gd name="T37" fmla="*/ 1 h 1733"/>
                <a:gd name="T38" fmla="*/ 19 w 1373"/>
                <a:gd name="T39" fmla="*/ 4 h 1733"/>
                <a:gd name="T40" fmla="*/ 13 w 1373"/>
                <a:gd name="T41" fmla="*/ 7 h 1733"/>
                <a:gd name="T42" fmla="*/ 7 w 1373"/>
                <a:gd name="T43" fmla="*/ 9 h 1733"/>
                <a:gd name="T44" fmla="*/ 3 w 1373"/>
                <a:gd name="T45" fmla="*/ 13 h 1733"/>
                <a:gd name="T46" fmla="*/ 9 w 1373"/>
                <a:gd name="T47" fmla="*/ 10 h 1733"/>
                <a:gd name="T48" fmla="*/ 15 w 1373"/>
                <a:gd name="T49" fmla="*/ 10 h 1733"/>
                <a:gd name="T50" fmla="*/ 20 w 1373"/>
                <a:gd name="T51" fmla="*/ 11 h 1733"/>
                <a:gd name="T52" fmla="*/ 23 w 1373"/>
                <a:gd name="T53" fmla="*/ 14 h 1733"/>
                <a:gd name="T54" fmla="*/ 23 w 1373"/>
                <a:gd name="T55" fmla="*/ 14 h 17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73"/>
                <a:gd name="T85" fmla="*/ 0 h 1733"/>
                <a:gd name="T86" fmla="*/ 1373 w 1373"/>
                <a:gd name="T87" fmla="*/ 1733 h 17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73" h="1733">
                  <a:moveTo>
                    <a:pt x="696" y="424"/>
                  </a:moveTo>
                  <a:lnTo>
                    <a:pt x="767" y="549"/>
                  </a:lnTo>
                  <a:lnTo>
                    <a:pt x="788" y="684"/>
                  </a:lnTo>
                  <a:lnTo>
                    <a:pt x="753" y="831"/>
                  </a:lnTo>
                  <a:lnTo>
                    <a:pt x="626" y="966"/>
                  </a:lnTo>
                  <a:lnTo>
                    <a:pt x="711" y="1543"/>
                  </a:lnTo>
                  <a:lnTo>
                    <a:pt x="21" y="1557"/>
                  </a:lnTo>
                  <a:lnTo>
                    <a:pt x="0" y="1627"/>
                  </a:lnTo>
                  <a:lnTo>
                    <a:pt x="149" y="1697"/>
                  </a:lnTo>
                  <a:lnTo>
                    <a:pt x="318" y="1733"/>
                  </a:lnTo>
                  <a:lnTo>
                    <a:pt x="493" y="1711"/>
                  </a:lnTo>
                  <a:lnTo>
                    <a:pt x="670" y="1669"/>
                  </a:lnTo>
                  <a:lnTo>
                    <a:pt x="873" y="1598"/>
                  </a:lnTo>
                  <a:lnTo>
                    <a:pt x="1077" y="1450"/>
                  </a:lnTo>
                  <a:lnTo>
                    <a:pt x="1238" y="1213"/>
                  </a:lnTo>
                  <a:lnTo>
                    <a:pt x="1350" y="874"/>
                  </a:lnTo>
                  <a:lnTo>
                    <a:pt x="1373" y="494"/>
                  </a:lnTo>
                  <a:lnTo>
                    <a:pt x="1350" y="0"/>
                  </a:lnTo>
                  <a:lnTo>
                    <a:pt x="858" y="36"/>
                  </a:lnTo>
                  <a:lnTo>
                    <a:pt x="576" y="127"/>
                  </a:lnTo>
                  <a:lnTo>
                    <a:pt x="401" y="198"/>
                  </a:lnTo>
                  <a:lnTo>
                    <a:pt x="219" y="289"/>
                  </a:lnTo>
                  <a:lnTo>
                    <a:pt x="86" y="401"/>
                  </a:lnTo>
                  <a:lnTo>
                    <a:pt x="274" y="317"/>
                  </a:lnTo>
                  <a:lnTo>
                    <a:pt x="459" y="297"/>
                  </a:lnTo>
                  <a:lnTo>
                    <a:pt x="605" y="346"/>
                  </a:lnTo>
                  <a:lnTo>
                    <a:pt x="696" y="424"/>
                  </a:lnTo>
                  <a:close/>
                </a:path>
              </a:pathLst>
            </a:custGeom>
            <a:solidFill>
              <a:srgbClr val="7878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|EOS~021|</a:t>
            </a:r>
            <a:endParaRPr lang="en-US" sz="100" dirty="0" err="1" smtClean="0">
              <a:solidFill>
                <a:srgbClr val="FFFFFF"/>
              </a:solidFill>
              <a:latin typeface="Arial"/>
              <a:cs typeface="Calibri" pitchFamily="34" charset="0"/>
            </a:endParaRPr>
          </a:p>
        </p:txBody>
      </p:sp>
      <p:sp>
        <p:nvSpPr>
          <p:cNvPr id="24578" name="Text Box 2"/>
          <p:cNvSpPr txBox="1">
            <a:spLocks noChangeArrowheads="1"/>
          </p:cNvSpPr>
          <p:nvPr/>
        </p:nvSpPr>
        <p:spPr bwMode="auto">
          <a:xfrm>
            <a:off x="5291138" y="3244850"/>
            <a:ext cx="15446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Loss location has county</a:t>
            </a:r>
          </a:p>
        </p:txBody>
      </p:sp>
      <p:sp>
        <p:nvSpPr>
          <p:cNvPr id="24579" name="AutoShape 3"/>
          <p:cNvSpPr>
            <a:spLocks noChangeArrowheads="1"/>
          </p:cNvSpPr>
          <p:nvPr/>
        </p:nvSpPr>
        <p:spPr bwMode="auto">
          <a:xfrm>
            <a:off x="2732088" y="750888"/>
            <a:ext cx="1695450" cy="1081087"/>
          </a:xfrm>
          <a:prstGeom prst="roundRect">
            <a:avLst>
              <a:gd name="adj" fmla="val 16667"/>
            </a:avLst>
          </a:prstGeom>
          <a:solidFill>
            <a:schemeClr val="folHlink"/>
          </a:solidFill>
          <a:ln w="28575" algn="ctr">
            <a:solidFill>
              <a:schemeClr val="bg1"/>
            </a:solidFill>
            <a:round/>
            <a:headEnd/>
            <a:tailEnd/>
          </a:ln>
        </p:spPr>
        <p:txBody>
          <a:bodyPr lIns="0" tIns="0" rIns="0" bIns="0" anchor="ctr">
            <a:spAutoFit/>
          </a:bodyPr>
          <a:lstStyle/>
          <a:p>
            <a:endParaRPr lang="en-US"/>
          </a:p>
        </p:txBody>
      </p:sp>
      <p:sp>
        <p:nvSpPr>
          <p:cNvPr id="24580" name="Rectangle 4"/>
          <p:cNvSpPr>
            <a:spLocks noGrp="1" noChangeArrowheads="1"/>
          </p:cNvSpPr>
          <p:nvPr>
            <p:ph type="title"/>
          </p:nvPr>
        </p:nvSpPr>
        <p:spPr/>
        <p:txBody>
          <a:bodyPr/>
          <a:lstStyle/>
          <a:p>
            <a:pPr eaLnBrk="1" hangingPunct="1"/>
            <a:r>
              <a:rPr lang="en-US" smtClean="0"/>
              <a:t>Promotion to more mature levels</a:t>
            </a:r>
          </a:p>
        </p:txBody>
      </p:sp>
      <p:sp>
        <p:nvSpPr>
          <p:cNvPr id="24581" name="Text Box 5"/>
          <p:cNvSpPr txBox="1">
            <a:spLocks noChangeArrowheads="1"/>
          </p:cNvSpPr>
          <p:nvPr/>
        </p:nvSpPr>
        <p:spPr bwMode="auto">
          <a:xfrm>
            <a:off x="274796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Valid</a:t>
            </a:r>
            <a:br>
              <a:rPr lang="en-US" sz="2000" b="1"/>
            </a:br>
            <a:r>
              <a:rPr lang="en-US" sz="2000" b="1"/>
              <a:t>for</a:t>
            </a:r>
            <a:br>
              <a:rPr lang="en-US" sz="2000" b="1"/>
            </a:br>
            <a:r>
              <a:rPr lang="en-US" sz="2000" b="1"/>
              <a:t>ISO</a:t>
            </a:r>
          </a:p>
        </p:txBody>
      </p:sp>
      <p:grpSp>
        <p:nvGrpSpPr>
          <p:cNvPr id="24582" name="Group 6"/>
          <p:cNvGrpSpPr>
            <a:grpSpLocks/>
          </p:cNvGrpSpPr>
          <p:nvPr/>
        </p:nvGrpSpPr>
        <p:grpSpPr bwMode="auto">
          <a:xfrm>
            <a:off x="4859338" y="750888"/>
            <a:ext cx="1695450" cy="1081087"/>
            <a:chOff x="1740" y="1811"/>
            <a:chExt cx="1068" cy="681"/>
          </a:xfrm>
        </p:grpSpPr>
        <p:sp>
          <p:nvSpPr>
            <p:cNvPr id="24701" name="Text Box 7"/>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Send to</a:t>
              </a:r>
              <a:br>
                <a:rPr lang="en-US" sz="2000" b="1"/>
              </a:br>
              <a:r>
                <a:rPr lang="en-US" sz="2000" b="1"/>
                <a:t>External (Systems)</a:t>
              </a:r>
            </a:p>
          </p:txBody>
        </p:sp>
        <p:sp>
          <p:nvSpPr>
            <p:cNvPr id="24702" name="AutoShape 8"/>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4583" name="Group 9"/>
          <p:cNvGrpSpPr>
            <a:grpSpLocks/>
          </p:cNvGrpSpPr>
          <p:nvPr/>
        </p:nvGrpSpPr>
        <p:grpSpPr bwMode="auto">
          <a:xfrm>
            <a:off x="604838" y="750888"/>
            <a:ext cx="1695450" cy="1081087"/>
            <a:chOff x="1740" y="1811"/>
            <a:chExt cx="1068" cy="681"/>
          </a:xfrm>
        </p:grpSpPr>
        <p:sp>
          <p:nvSpPr>
            <p:cNvPr id="24699" name="Text Box 10"/>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New</a:t>
              </a:r>
              <a:br>
                <a:rPr lang="en-US" sz="2000" b="1"/>
              </a:br>
              <a:r>
                <a:rPr lang="en-US" sz="2000" b="1"/>
                <a:t>Loss</a:t>
              </a:r>
              <a:br>
                <a:rPr lang="en-US" sz="2000" b="1"/>
              </a:br>
              <a:r>
                <a:rPr lang="en-US" sz="2000" b="1"/>
                <a:t>Completion</a:t>
              </a:r>
            </a:p>
          </p:txBody>
        </p:sp>
        <p:sp>
          <p:nvSpPr>
            <p:cNvPr id="24700" name="AutoShape 11"/>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4584" name="Group 12"/>
          <p:cNvGrpSpPr>
            <a:grpSpLocks/>
          </p:cNvGrpSpPr>
          <p:nvPr/>
        </p:nvGrpSpPr>
        <p:grpSpPr bwMode="auto">
          <a:xfrm>
            <a:off x="6988175" y="750888"/>
            <a:ext cx="1695450" cy="1081087"/>
            <a:chOff x="1740" y="1811"/>
            <a:chExt cx="1068" cy="681"/>
          </a:xfrm>
        </p:grpSpPr>
        <p:sp>
          <p:nvSpPr>
            <p:cNvPr id="24697" name="Text Box 13"/>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Ability</a:t>
              </a:r>
              <a:br>
                <a:rPr lang="en-US" sz="2000" b="1"/>
              </a:br>
              <a:r>
                <a:rPr lang="en-US" sz="2000" b="1"/>
                <a:t>to</a:t>
              </a:r>
              <a:br>
                <a:rPr lang="en-US" sz="2000" b="1"/>
              </a:br>
              <a:r>
                <a:rPr lang="en-US" sz="2000" b="1"/>
                <a:t>Pay</a:t>
              </a:r>
            </a:p>
          </p:txBody>
        </p:sp>
        <p:sp>
          <p:nvSpPr>
            <p:cNvPr id="24698" name="AutoShape 14"/>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4585" name="AutoShape 15"/>
          <p:cNvSpPr>
            <a:spLocks noChangeArrowheads="1"/>
          </p:cNvSpPr>
          <p:nvPr/>
        </p:nvSpPr>
        <p:spPr bwMode="auto">
          <a:xfrm>
            <a:off x="2309813" y="1101725"/>
            <a:ext cx="433387"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4586" name="AutoShape 16"/>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4587" name="AutoShape 17"/>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4588" name="Text Box 18"/>
          <p:cNvSpPr txBox="1">
            <a:spLocks noChangeArrowheads="1"/>
          </p:cNvSpPr>
          <p:nvPr/>
        </p:nvSpPr>
        <p:spPr bwMode="auto">
          <a:xfrm>
            <a:off x="1016000" y="2128838"/>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Driver of vehicle is specified</a:t>
            </a:r>
          </a:p>
        </p:txBody>
      </p:sp>
      <p:sp>
        <p:nvSpPr>
          <p:cNvPr id="24589" name="Rectangle 19"/>
          <p:cNvSpPr>
            <a:spLocks noChangeArrowheads="1"/>
          </p:cNvSpPr>
          <p:nvPr/>
        </p:nvSpPr>
        <p:spPr bwMode="auto">
          <a:xfrm>
            <a:off x="609600" y="2147888"/>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590" name="Freeform 20"/>
          <p:cNvSpPr>
            <a:spLocks/>
          </p:cNvSpPr>
          <p:nvPr/>
        </p:nvSpPr>
        <p:spPr bwMode="auto">
          <a:xfrm>
            <a:off x="614363" y="1973263"/>
            <a:ext cx="354012" cy="392112"/>
          </a:xfrm>
          <a:custGeom>
            <a:avLst/>
            <a:gdLst>
              <a:gd name="T0" fmla="*/ 0 w 481"/>
              <a:gd name="T1" fmla="*/ 176975633 h 533"/>
              <a:gd name="T2" fmla="*/ 65002056 w 481"/>
              <a:gd name="T3" fmla="*/ 288464914 h 533"/>
              <a:gd name="T4" fmla="*/ 120795386 w 481"/>
              <a:gd name="T5" fmla="*/ 288464914 h 533"/>
              <a:gd name="T6" fmla="*/ 260549914 w 481"/>
              <a:gd name="T7" fmla="*/ 56286093 h 533"/>
              <a:gd name="T8" fmla="*/ 172255176 w 481"/>
              <a:gd name="T9" fmla="*/ 0 h 533"/>
              <a:gd name="T10" fmla="*/ 88294715 w 481"/>
              <a:gd name="T11" fmla="*/ 246791446 h 533"/>
              <a:gd name="T12" fmla="*/ 46584593 w 481"/>
              <a:gd name="T13" fmla="*/ 176975633 h 533"/>
              <a:gd name="T14" fmla="*/ 0 w 481"/>
              <a:gd name="T15" fmla="*/ 176975633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4591" name="Text Box 21"/>
          <p:cNvSpPr txBox="1">
            <a:spLocks noChangeArrowheads="1"/>
          </p:cNvSpPr>
          <p:nvPr/>
        </p:nvSpPr>
        <p:spPr bwMode="auto">
          <a:xfrm>
            <a:off x="1025525" y="3238500"/>
            <a:ext cx="144303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If insured at fault, fault rating specified</a:t>
            </a:r>
          </a:p>
        </p:txBody>
      </p:sp>
      <p:sp>
        <p:nvSpPr>
          <p:cNvPr id="24592" name="Rectangle 22"/>
          <p:cNvSpPr>
            <a:spLocks noChangeArrowheads="1"/>
          </p:cNvSpPr>
          <p:nvPr/>
        </p:nvSpPr>
        <p:spPr bwMode="auto">
          <a:xfrm>
            <a:off x="619125" y="3257550"/>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593" name="Freeform 23"/>
          <p:cNvSpPr>
            <a:spLocks/>
          </p:cNvSpPr>
          <p:nvPr/>
        </p:nvSpPr>
        <p:spPr bwMode="auto">
          <a:xfrm>
            <a:off x="623888" y="3082925"/>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4594" name="Text Box 24"/>
          <p:cNvSpPr txBox="1">
            <a:spLocks noChangeArrowheads="1"/>
          </p:cNvSpPr>
          <p:nvPr/>
        </p:nvSpPr>
        <p:spPr bwMode="auto">
          <a:xfrm>
            <a:off x="3152775" y="2128838"/>
            <a:ext cx="12795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Loss location has city, state, zip</a:t>
            </a:r>
          </a:p>
        </p:txBody>
      </p:sp>
      <p:sp>
        <p:nvSpPr>
          <p:cNvPr id="24595" name="Rectangle 25"/>
          <p:cNvSpPr>
            <a:spLocks noChangeArrowheads="1"/>
          </p:cNvSpPr>
          <p:nvPr/>
        </p:nvSpPr>
        <p:spPr bwMode="auto">
          <a:xfrm>
            <a:off x="2746375" y="2147888"/>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596" name="Text Box 26"/>
          <p:cNvSpPr txBox="1">
            <a:spLocks noChangeArrowheads="1"/>
          </p:cNvSpPr>
          <p:nvPr/>
        </p:nvSpPr>
        <p:spPr bwMode="auto">
          <a:xfrm>
            <a:off x="5291138" y="2128838"/>
            <a:ext cx="13604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Total loss calculation completed</a:t>
            </a:r>
          </a:p>
        </p:txBody>
      </p:sp>
      <p:sp>
        <p:nvSpPr>
          <p:cNvPr id="24597" name="Rectangle 27"/>
          <p:cNvSpPr>
            <a:spLocks noChangeArrowheads="1"/>
          </p:cNvSpPr>
          <p:nvPr/>
        </p:nvSpPr>
        <p:spPr bwMode="auto">
          <a:xfrm>
            <a:off x="4884738" y="2147888"/>
            <a:ext cx="284162"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598" name="Text Box 28"/>
          <p:cNvSpPr txBox="1">
            <a:spLocks noChangeArrowheads="1"/>
          </p:cNvSpPr>
          <p:nvPr/>
        </p:nvSpPr>
        <p:spPr bwMode="auto">
          <a:xfrm>
            <a:off x="7429500" y="2128838"/>
            <a:ext cx="14620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At least one assess-</a:t>
            </a:r>
            <a:br>
              <a:rPr lang="en-US" sz="2000" b="1"/>
            </a:br>
            <a:r>
              <a:rPr lang="en-US" sz="2000" b="1"/>
              <a:t>ment exists</a:t>
            </a:r>
          </a:p>
        </p:txBody>
      </p:sp>
      <p:sp>
        <p:nvSpPr>
          <p:cNvPr id="24599" name="Rectangle 29"/>
          <p:cNvSpPr>
            <a:spLocks noChangeArrowheads="1"/>
          </p:cNvSpPr>
          <p:nvPr/>
        </p:nvSpPr>
        <p:spPr bwMode="auto">
          <a:xfrm>
            <a:off x="7023100" y="2147888"/>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600" name="Freeform 30"/>
          <p:cNvSpPr>
            <a:spLocks/>
          </p:cNvSpPr>
          <p:nvPr/>
        </p:nvSpPr>
        <p:spPr bwMode="auto">
          <a:xfrm>
            <a:off x="2751138" y="1973263"/>
            <a:ext cx="354012" cy="392112"/>
          </a:xfrm>
          <a:custGeom>
            <a:avLst/>
            <a:gdLst>
              <a:gd name="T0" fmla="*/ 0 w 481"/>
              <a:gd name="T1" fmla="*/ 176975633 h 533"/>
              <a:gd name="T2" fmla="*/ 65002056 w 481"/>
              <a:gd name="T3" fmla="*/ 288464914 h 533"/>
              <a:gd name="T4" fmla="*/ 120795386 w 481"/>
              <a:gd name="T5" fmla="*/ 288464914 h 533"/>
              <a:gd name="T6" fmla="*/ 260549914 w 481"/>
              <a:gd name="T7" fmla="*/ 56286093 h 533"/>
              <a:gd name="T8" fmla="*/ 172255176 w 481"/>
              <a:gd name="T9" fmla="*/ 0 h 533"/>
              <a:gd name="T10" fmla="*/ 88294715 w 481"/>
              <a:gd name="T11" fmla="*/ 246791446 h 533"/>
              <a:gd name="T12" fmla="*/ 46584593 w 481"/>
              <a:gd name="T13" fmla="*/ 176975633 h 533"/>
              <a:gd name="T14" fmla="*/ 0 w 481"/>
              <a:gd name="T15" fmla="*/ 176975633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4601" name="Text Box 31"/>
          <p:cNvSpPr txBox="1">
            <a:spLocks noChangeArrowheads="1"/>
          </p:cNvSpPr>
          <p:nvPr/>
        </p:nvSpPr>
        <p:spPr bwMode="auto">
          <a:xfrm>
            <a:off x="7439025" y="3238500"/>
            <a:ext cx="12795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Mailing address</a:t>
            </a:r>
            <a:br>
              <a:rPr lang="en-US" sz="2000" b="1">
                <a:solidFill>
                  <a:srgbClr val="00CC00"/>
                </a:solidFill>
              </a:rPr>
            </a:br>
            <a:r>
              <a:rPr lang="en-US" sz="2000" b="1">
                <a:solidFill>
                  <a:srgbClr val="00CC00"/>
                </a:solidFill>
              </a:rPr>
              <a:t>for all third-party claimants</a:t>
            </a:r>
          </a:p>
        </p:txBody>
      </p:sp>
      <p:sp>
        <p:nvSpPr>
          <p:cNvPr id="24602" name="Rectangle 32"/>
          <p:cNvSpPr>
            <a:spLocks noChangeArrowheads="1"/>
          </p:cNvSpPr>
          <p:nvPr/>
        </p:nvSpPr>
        <p:spPr bwMode="auto">
          <a:xfrm>
            <a:off x="7032625" y="3257550"/>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603" name="Freeform 33"/>
          <p:cNvSpPr>
            <a:spLocks/>
          </p:cNvSpPr>
          <p:nvPr/>
        </p:nvSpPr>
        <p:spPr bwMode="auto">
          <a:xfrm>
            <a:off x="7037388" y="3082925"/>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4604" name="AutoShape 34"/>
          <p:cNvSpPr>
            <a:spLocks noChangeArrowheads="1"/>
          </p:cNvSpPr>
          <p:nvPr/>
        </p:nvSpPr>
        <p:spPr bwMode="auto">
          <a:xfrm>
            <a:off x="1693863" y="4930775"/>
            <a:ext cx="3602037" cy="765175"/>
          </a:xfrm>
          <a:prstGeom prst="rightArrow">
            <a:avLst>
              <a:gd name="adj1" fmla="val 49778"/>
              <a:gd name="adj2" fmla="val 49755"/>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24605" name="Group 35"/>
          <p:cNvGrpSpPr>
            <a:grpSpLocks/>
          </p:cNvGrpSpPr>
          <p:nvPr/>
        </p:nvGrpSpPr>
        <p:grpSpPr bwMode="auto">
          <a:xfrm>
            <a:off x="742950" y="4894263"/>
            <a:ext cx="1528763" cy="1638300"/>
            <a:chOff x="469" y="1359"/>
            <a:chExt cx="963" cy="1032"/>
          </a:xfrm>
        </p:grpSpPr>
        <p:sp>
          <p:nvSpPr>
            <p:cNvPr id="24693" name="Line 36"/>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94" name="Line 37"/>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95" name="Rectangle 38"/>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96" name="AutoShape 39"/>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nvGrpSpPr>
          <p:cNvPr id="24606" name="Group 40"/>
          <p:cNvGrpSpPr>
            <a:grpSpLocks/>
          </p:cNvGrpSpPr>
          <p:nvPr/>
        </p:nvGrpSpPr>
        <p:grpSpPr bwMode="auto">
          <a:xfrm>
            <a:off x="2994025" y="4897438"/>
            <a:ext cx="1528763" cy="1638300"/>
            <a:chOff x="445" y="1359"/>
            <a:chExt cx="1139" cy="1220"/>
          </a:xfrm>
        </p:grpSpPr>
        <p:sp>
          <p:nvSpPr>
            <p:cNvPr id="24650" name="Line 41"/>
            <p:cNvSpPr>
              <a:spLocks noChangeShapeType="1"/>
            </p:cNvSpPr>
            <p:nvPr/>
          </p:nvSpPr>
          <p:spPr bwMode="auto">
            <a:xfrm flipV="1">
              <a:off x="868" y="1810"/>
              <a:ext cx="0" cy="494"/>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51" name="Line 42"/>
            <p:cNvSpPr>
              <a:spLocks noChangeShapeType="1"/>
            </p:cNvSpPr>
            <p:nvPr/>
          </p:nvSpPr>
          <p:spPr bwMode="auto">
            <a:xfrm>
              <a:off x="863" y="2309"/>
              <a:ext cx="49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4652" name="Group 43"/>
            <p:cNvGrpSpPr>
              <a:grpSpLocks/>
            </p:cNvGrpSpPr>
            <p:nvPr/>
          </p:nvGrpSpPr>
          <p:grpSpPr bwMode="auto">
            <a:xfrm>
              <a:off x="445" y="1359"/>
              <a:ext cx="834" cy="615"/>
              <a:chOff x="2083" y="1606"/>
              <a:chExt cx="1489" cy="1097"/>
            </a:xfrm>
          </p:grpSpPr>
          <p:sp>
            <p:nvSpPr>
              <p:cNvPr id="24660" name="Rectangle 4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4661" name="Freeform 4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4662" name="Freeform 4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4663" name="Freeform 4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4664" name="Freeform 4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4665" name="Rectangle 4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4666" name="Rectangle 5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67" name="AutoShape 5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4668" name="Freeform 52"/>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69" name="Freeform 53"/>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70" name="Rectangle 5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71" name="Rectangle 5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72" name="Rectangle 5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4673" name="Group 57"/>
              <p:cNvGrpSpPr>
                <a:grpSpLocks/>
              </p:cNvGrpSpPr>
              <p:nvPr/>
            </p:nvGrpSpPr>
            <p:grpSpPr bwMode="auto">
              <a:xfrm>
                <a:off x="2221" y="1871"/>
                <a:ext cx="518" cy="782"/>
                <a:chOff x="2400" y="1656"/>
                <a:chExt cx="752" cy="1136"/>
              </a:xfrm>
            </p:grpSpPr>
            <p:sp>
              <p:nvSpPr>
                <p:cNvPr id="24686" name="Freeform 5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87" name="Freeform 5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88" name="Freeform 6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89" name="Freeform 6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90" name="Freeform 6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4691" name="Line 6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4692" name="Line 6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4674" name="Group 65"/>
              <p:cNvGrpSpPr>
                <a:grpSpLocks/>
              </p:cNvGrpSpPr>
              <p:nvPr/>
            </p:nvGrpSpPr>
            <p:grpSpPr bwMode="auto">
              <a:xfrm rot="-6511945">
                <a:off x="2834" y="1842"/>
                <a:ext cx="518" cy="783"/>
                <a:chOff x="2400" y="1656"/>
                <a:chExt cx="752" cy="1136"/>
              </a:xfrm>
            </p:grpSpPr>
            <p:sp>
              <p:nvSpPr>
                <p:cNvPr id="24679" name="Freeform 6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80" name="Freeform 6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81" name="Freeform 6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82" name="Freeform 6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83" name="Freeform 7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4684" name="Line 7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4685" name="Line 7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4675" name="Freeform 73"/>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76" name="Freeform 74"/>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4677" name="Rectangle 7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4678" name="Rectangle 7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4653" name="Group 77"/>
            <p:cNvGrpSpPr>
              <a:grpSpLocks/>
            </p:cNvGrpSpPr>
            <p:nvPr/>
          </p:nvGrpSpPr>
          <p:grpSpPr bwMode="auto">
            <a:xfrm>
              <a:off x="1066" y="2064"/>
              <a:ext cx="518" cy="515"/>
              <a:chOff x="3360" y="800"/>
              <a:chExt cx="620" cy="616"/>
            </a:xfrm>
          </p:grpSpPr>
          <p:sp>
            <p:nvSpPr>
              <p:cNvPr id="24654" name="AutoShape 78"/>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4655" name="Freeform 79"/>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4656" name="Group 80"/>
              <p:cNvGrpSpPr>
                <a:grpSpLocks/>
              </p:cNvGrpSpPr>
              <p:nvPr/>
            </p:nvGrpSpPr>
            <p:grpSpPr bwMode="auto">
              <a:xfrm flipH="1">
                <a:off x="3749" y="1171"/>
                <a:ext cx="212" cy="213"/>
                <a:chOff x="1350" y="686"/>
                <a:chExt cx="1132" cy="1132"/>
              </a:xfrm>
            </p:grpSpPr>
            <p:sp>
              <p:nvSpPr>
                <p:cNvPr id="24658" name="AutoShape 8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4659" name="Picture 8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4657" name="Picture 83"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4607" name="AutoShape 84"/>
          <p:cNvSpPr>
            <a:spLocks noChangeArrowheads="1"/>
          </p:cNvSpPr>
          <p:nvPr/>
        </p:nvSpPr>
        <p:spPr bwMode="auto">
          <a:xfrm>
            <a:off x="5326063" y="4792663"/>
            <a:ext cx="1117600" cy="1117600"/>
          </a:xfrm>
          <a:prstGeom prst="octagon">
            <a:avLst>
              <a:gd name="adj" fmla="val 29287"/>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
        <p:nvSpPr>
          <p:cNvPr id="24608" name="Rectangle 85"/>
          <p:cNvSpPr>
            <a:spLocks noChangeArrowheads="1"/>
          </p:cNvSpPr>
          <p:nvPr/>
        </p:nvSpPr>
        <p:spPr bwMode="auto">
          <a:xfrm>
            <a:off x="4884738" y="3263900"/>
            <a:ext cx="284162"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609" name="Freeform 86"/>
          <p:cNvSpPr>
            <a:spLocks/>
          </p:cNvSpPr>
          <p:nvPr/>
        </p:nvSpPr>
        <p:spPr bwMode="auto">
          <a:xfrm>
            <a:off x="4889500" y="3089275"/>
            <a:ext cx="354013" cy="392113"/>
          </a:xfrm>
          <a:custGeom>
            <a:avLst/>
            <a:gdLst>
              <a:gd name="T0" fmla="*/ 0 w 481"/>
              <a:gd name="T1" fmla="*/ 176976820 h 533"/>
              <a:gd name="T2" fmla="*/ 65002240 w 481"/>
              <a:gd name="T3" fmla="*/ 288466385 h 533"/>
              <a:gd name="T4" fmla="*/ 120796464 w 481"/>
              <a:gd name="T5" fmla="*/ 288466385 h 533"/>
              <a:gd name="T6" fmla="*/ 260551386 w 481"/>
              <a:gd name="T7" fmla="*/ 56286237 h 533"/>
              <a:gd name="T8" fmla="*/ 172256399 w 481"/>
              <a:gd name="T9" fmla="*/ 0 h 533"/>
              <a:gd name="T10" fmla="*/ 88294964 w 481"/>
              <a:gd name="T11" fmla="*/ 246792811 h 533"/>
              <a:gd name="T12" fmla="*/ 46584725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grpSp>
        <p:nvGrpSpPr>
          <p:cNvPr id="24610" name="Group 87"/>
          <p:cNvGrpSpPr>
            <a:grpSpLocks/>
          </p:cNvGrpSpPr>
          <p:nvPr/>
        </p:nvGrpSpPr>
        <p:grpSpPr bwMode="auto">
          <a:xfrm>
            <a:off x="2120900" y="1557338"/>
            <a:ext cx="407988" cy="655637"/>
            <a:chOff x="4506" y="3057"/>
            <a:chExt cx="488" cy="786"/>
          </a:xfrm>
        </p:grpSpPr>
        <p:sp>
          <p:nvSpPr>
            <p:cNvPr id="24631" name="AutoShape 88"/>
            <p:cNvSpPr>
              <a:spLocks noChangeAspect="1" noChangeArrowheads="1" noTextEdit="1"/>
            </p:cNvSpPr>
            <p:nvPr/>
          </p:nvSpPr>
          <p:spPr bwMode="auto">
            <a:xfrm>
              <a:off x="4506" y="3057"/>
              <a:ext cx="488"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4632" name="Freeform 89"/>
            <p:cNvSpPr>
              <a:spLocks/>
            </p:cNvSpPr>
            <p:nvPr/>
          </p:nvSpPr>
          <p:spPr bwMode="auto">
            <a:xfrm>
              <a:off x="4585" y="3083"/>
              <a:ext cx="292" cy="325"/>
            </a:xfrm>
            <a:custGeom>
              <a:avLst/>
              <a:gdLst>
                <a:gd name="T0" fmla="*/ 8 w 1619"/>
                <a:gd name="T1" fmla="*/ 58 h 1804"/>
                <a:gd name="T2" fmla="*/ 0 w 1619"/>
                <a:gd name="T3" fmla="*/ 59 h 1804"/>
                <a:gd name="T4" fmla="*/ 1 w 1619"/>
                <a:gd name="T5" fmla="*/ 22 h 1804"/>
                <a:gd name="T6" fmla="*/ 6 w 1619"/>
                <a:gd name="T7" fmla="*/ 10 h 1804"/>
                <a:gd name="T8" fmla="*/ 15 w 1619"/>
                <a:gd name="T9" fmla="*/ 4 h 1804"/>
                <a:gd name="T10" fmla="*/ 25 w 1619"/>
                <a:gd name="T11" fmla="*/ 1 h 1804"/>
                <a:gd name="T12" fmla="*/ 33 w 1619"/>
                <a:gd name="T13" fmla="*/ 0 h 1804"/>
                <a:gd name="T14" fmla="*/ 42 w 1619"/>
                <a:gd name="T15" fmla="*/ 5 h 1804"/>
                <a:gd name="T16" fmla="*/ 47 w 1619"/>
                <a:gd name="T17" fmla="*/ 11 h 1804"/>
                <a:gd name="T18" fmla="*/ 53 w 1619"/>
                <a:gd name="T19" fmla="*/ 25 h 1804"/>
                <a:gd name="T20" fmla="*/ 42 w 1619"/>
                <a:gd name="T21" fmla="*/ 10 h 1804"/>
                <a:gd name="T22" fmla="*/ 31 w 1619"/>
                <a:gd name="T23" fmla="*/ 8 h 1804"/>
                <a:gd name="T24" fmla="*/ 18 w 1619"/>
                <a:gd name="T25" fmla="*/ 11 h 1804"/>
                <a:gd name="T26" fmla="*/ 12 w 1619"/>
                <a:gd name="T27" fmla="*/ 17 h 1804"/>
                <a:gd name="T28" fmla="*/ 8 w 1619"/>
                <a:gd name="T29" fmla="*/ 24 h 1804"/>
                <a:gd name="T30" fmla="*/ 8 w 1619"/>
                <a:gd name="T31" fmla="*/ 35 h 1804"/>
                <a:gd name="T32" fmla="*/ 8 w 1619"/>
                <a:gd name="T33" fmla="*/ 58 h 1804"/>
                <a:gd name="T34" fmla="*/ 8 w 1619"/>
                <a:gd name="T35" fmla="*/ 58 h 18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9"/>
                <a:gd name="T55" fmla="*/ 0 h 1804"/>
                <a:gd name="T56" fmla="*/ 1619 w 1619"/>
                <a:gd name="T57" fmla="*/ 1804 h 18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9" h="1804">
                  <a:moveTo>
                    <a:pt x="232" y="1796"/>
                  </a:moveTo>
                  <a:lnTo>
                    <a:pt x="0" y="1804"/>
                  </a:lnTo>
                  <a:lnTo>
                    <a:pt x="21" y="669"/>
                  </a:lnTo>
                  <a:lnTo>
                    <a:pt x="183" y="324"/>
                  </a:lnTo>
                  <a:lnTo>
                    <a:pt x="464" y="120"/>
                  </a:lnTo>
                  <a:lnTo>
                    <a:pt x="782" y="29"/>
                  </a:lnTo>
                  <a:lnTo>
                    <a:pt x="1001" y="0"/>
                  </a:lnTo>
                  <a:lnTo>
                    <a:pt x="1303" y="149"/>
                  </a:lnTo>
                  <a:lnTo>
                    <a:pt x="1457" y="331"/>
                  </a:lnTo>
                  <a:lnTo>
                    <a:pt x="1619" y="768"/>
                  </a:lnTo>
                  <a:lnTo>
                    <a:pt x="1282" y="324"/>
                  </a:lnTo>
                  <a:lnTo>
                    <a:pt x="943" y="232"/>
                  </a:lnTo>
                  <a:lnTo>
                    <a:pt x="542" y="339"/>
                  </a:lnTo>
                  <a:lnTo>
                    <a:pt x="373" y="529"/>
                  </a:lnTo>
                  <a:lnTo>
                    <a:pt x="247" y="747"/>
                  </a:lnTo>
                  <a:lnTo>
                    <a:pt x="240" y="1078"/>
                  </a:lnTo>
                  <a:lnTo>
                    <a:pt x="232" y="1796"/>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3" name="Freeform 90"/>
            <p:cNvSpPr>
              <a:spLocks/>
            </p:cNvSpPr>
            <p:nvPr/>
          </p:nvSpPr>
          <p:spPr bwMode="auto">
            <a:xfrm>
              <a:off x="4560" y="3077"/>
              <a:ext cx="280" cy="335"/>
            </a:xfrm>
            <a:custGeom>
              <a:avLst/>
              <a:gdLst>
                <a:gd name="T0" fmla="*/ 6 w 1555"/>
                <a:gd name="T1" fmla="*/ 59 h 1859"/>
                <a:gd name="T2" fmla="*/ 6 w 1555"/>
                <a:gd name="T3" fmla="*/ 25 h 1859"/>
                <a:gd name="T4" fmla="*/ 9 w 1555"/>
                <a:gd name="T5" fmla="*/ 17 h 1859"/>
                <a:gd name="T6" fmla="*/ 14 w 1555"/>
                <a:gd name="T7" fmla="*/ 12 h 1859"/>
                <a:gd name="T8" fmla="*/ 20 w 1555"/>
                <a:gd name="T9" fmla="*/ 7 h 1859"/>
                <a:gd name="T10" fmla="*/ 27 w 1555"/>
                <a:gd name="T11" fmla="*/ 5 h 1859"/>
                <a:gd name="T12" fmla="*/ 34 w 1555"/>
                <a:gd name="T13" fmla="*/ 3 h 1859"/>
                <a:gd name="T14" fmla="*/ 39 w 1555"/>
                <a:gd name="T15" fmla="*/ 4 h 1859"/>
                <a:gd name="T16" fmla="*/ 50 w 1555"/>
                <a:gd name="T17" fmla="*/ 7 h 1859"/>
                <a:gd name="T18" fmla="*/ 43 w 1555"/>
                <a:gd name="T19" fmla="*/ 2 h 1859"/>
                <a:gd name="T20" fmla="*/ 28 w 1555"/>
                <a:gd name="T21" fmla="*/ 0 h 1859"/>
                <a:gd name="T22" fmla="*/ 12 w 1555"/>
                <a:gd name="T23" fmla="*/ 6 h 1859"/>
                <a:gd name="T24" fmla="*/ 6 w 1555"/>
                <a:gd name="T25" fmla="*/ 16 h 1859"/>
                <a:gd name="T26" fmla="*/ 1 w 1555"/>
                <a:gd name="T27" fmla="*/ 24 h 1859"/>
                <a:gd name="T28" fmla="*/ 0 w 1555"/>
                <a:gd name="T29" fmla="*/ 60 h 1859"/>
                <a:gd name="T30" fmla="*/ 6 w 1555"/>
                <a:gd name="T31" fmla="*/ 59 h 1859"/>
                <a:gd name="T32" fmla="*/ 6 w 1555"/>
                <a:gd name="T33" fmla="*/ 59 h 18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5"/>
                <a:gd name="T52" fmla="*/ 0 h 1859"/>
                <a:gd name="T53" fmla="*/ 1555 w 1555"/>
                <a:gd name="T54" fmla="*/ 1859 h 18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5" h="1859">
                  <a:moveTo>
                    <a:pt x="182" y="1802"/>
                  </a:moveTo>
                  <a:lnTo>
                    <a:pt x="197" y="753"/>
                  </a:lnTo>
                  <a:lnTo>
                    <a:pt x="289" y="513"/>
                  </a:lnTo>
                  <a:lnTo>
                    <a:pt x="437" y="358"/>
                  </a:lnTo>
                  <a:lnTo>
                    <a:pt x="619" y="224"/>
                  </a:lnTo>
                  <a:lnTo>
                    <a:pt x="836" y="147"/>
                  </a:lnTo>
                  <a:lnTo>
                    <a:pt x="1047" y="105"/>
                  </a:lnTo>
                  <a:lnTo>
                    <a:pt x="1211" y="118"/>
                  </a:lnTo>
                  <a:lnTo>
                    <a:pt x="1555" y="204"/>
                  </a:lnTo>
                  <a:lnTo>
                    <a:pt x="1329" y="55"/>
                  </a:lnTo>
                  <a:lnTo>
                    <a:pt x="872" y="0"/>
                  </a:lnTo>
                  <a:lnTo>
                    <a:pt x="380" y="196"/>
                  </a:lnTo>
                  <a:lnTo>
                    <a:pt x="182" y="500"/>
                  </a:lnTo>
                  <a:lnTo>
                    <a:pt x="36" y="745"/>
                  </a:lnTo>
                  <a:lnTo>
                    <a:pt x="0" y="1859"/>
                  </a:lnTo>
                  <a:lnTo>
                    <a:pt x="182" y="1802"/>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4" name="Freeform 91"/>
            <p:cNvSpPr>
              <a:spLocks/>
            </p:cNvSpPr>
            <p:nvPr/>
          </p:nvSpPr>
          <p:spPr bwMode="auto">
            <a:xfrm>
              <a:off x="4810" y="3100"/>
              <a:ext cx="112" cy="318"/>
            </a:xfrm>
            <a:custGeom>
              <a:avLst/>
              <a:gdLst>
                <a:gd name="T0" fmla="*/ 0 w 620"/>
                <a:gd name="T1" fmla="*/ 0 h 1767"/>
                <a:gd name="T2" fmla="*/ 9 w 620"/>
                <a:gd name="T3" fmla="*/ 10 h 1767"/>
                <a:gd name="T4" fmla="*/ 15 w 620"/>
                <a:gd name="T5" fmla="*/ 21 h 1767"/>
                <a:gd name="T6" fmla="*/ 15 w 620"/>
                <a:gd name="T7" fmla="*/ 39 h 1767"/>
                <a:gd name="T8" fmla="*/ 15 w 620"/>
                <a:gd name="T9" fmla="*/ 57 h 1767"/>
                <a:gd name="T10" fmla="*/ 20 w 620"/>
                <a:gd name="T11" fmla="*/ 56 h 1767"/>
                <a:gd name="T12" fmla="*/ 20 w 620"/>
                <a:gd name="T13" fmla="*/ 21 h 1767"/>
                <a:gd name="T14" fmla="*/ 12 w 620"/>
                <a:gd name="T15" fmla="*/ 5 h 1767"/>
                <a:gd name="T16" fmla="*/ 0 w 620"/>
                <a:gd name="T17" fmla="*/ 0 h 1767"/>
                <a:gd name="T18" fmla="*/ 0 w 620"/>
                <a:gd name="T19" fmla="*/ 0 h 17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0"/>
                <a:gd name="T31" fmla="*/ 0 h 1767"/>
                <a:gd name="T32" fmla="*/ 620 w 620"/>
                <a:gd name="T33" fmla="*/ 1767 h 17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0" h="1767">
                  <a:moveTo>
                    <a:pt x="0" y="0"/>
                  </a:moveTo>
                  <a:lnTo>
                    <a:pt x="289" y="296"/>
                  </a:lnTo>
                  <a:lnTo>
                    <a:pt x="451" y="634"/>
                  </a:lnTo>
                  <a:lnTo>
                    <a:pt x="464" y="1189"/>
                  </a:lnTo>
                  <a:lnTo>
                    <a:pt x="464" y="1767"/>
                  </a:lnTo>
                  <a:lnTo>
                    <a:pt x="620" y="1739"/>
                  </a:lnTo>
                  <a:lnTo>
                    <a:pt x="612" y="640"/>
                  </a:lnTo>
                  <a:lnTo>
                    <a:pt x="380" y="169"/>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5" name="Freeform 92"/>
            <p:cNvSpPr>
              <a:spLocks/>
            </p:cNvSpPr>
            <p:nvPr/>
          </p:nvSpPr>
          <p:spPr bwMode="auto">
            <a:xfrm>
              <a:off x="4809" y="3098"/>
              <a:ext cx="91" cy="313"/>
            </a:xfrm>
            <a:custGeom>
              <a:avLst/>
              <a:gdLst>
                <a:gd name="T0" fmla="*/ 0 w 508"/>
                <a:gd name="T1" fmla="*/ 0 h 1733"/>
                <a:gd name="T2" fmla="*/ 7 w 508"/>
                <a:gd name="T3" fmla="*/ 13 h 1733"/>
                <a:gd name="T4" fmla="*/ 11 w 508"/>
                <a:gd name="T5" fmla="*/ 27 h 1733"/>
                <a:gd name="T6" fmla="*/ 11 w 508"/>
                <a:gd name="T7" fmla="*/ 56 h 1733"/>
                <a:gd name="T8" fmla="*/ 16 w 508"/>
                <a:gd name="T9" fmla="*/ 57 h 1733"/>
                <a:gd name="T10" fmla="*/ 16 w 508"/>
                <a:gd name="T11" fmla="*/ 24 h 1733"/>
                <a:gd name="T12" fmla="*/ 15 w 508"/>
                <a:gd name="T13" fmla="*/ 18 h 1733"/>
                <a:gd name="T14" fmla="*/ 11 w 508"/>
                <a:gd name="T15" fmla="*/ 13 h 1733"/>
                <a:gd name="T16" fmla="*/ 8 w 508"/>
                <a:gd name="T17" fmla="*/ 7 h 1733"/>
                <a:gd name="T18" fmla="*/ 0 w 508"/>
                <a:gd name="T19" fmla="*/ 0 h 1733"/>
                <a:gd name="T20" fmla="*/ 0 w 508"/>
                <a:gd name="T21" fmla="*/ 0 h 17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8"/>
                <a:gd name="T34" fmla="*/ 0 h 1733"/>
                <a:gd name="T35" fmla="*/ 508 w 508"/>
                <a:gd name="T36" fmla="*/ 1733 h 17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8" h="1733">
                  <a:moveTo>
                    <a:pt x="0" y="0"/>
                  </a:moveTo>
                  <a:lnTo>
                    <a:pt x="227" y="409"/>
                  </a:lnTo>
                  <a:lnTo>
                    <a:pt x="346" y="838"/>
                  </a:lnTo>
                  <a:lnTo>
                    <a:pt x="339" y="1726"/>
                  </a:lnTo>
                  <a:lnTo>
                    <a:pt x="508" y="1733"/>
                  </a:lnTo>
                  <a:lnTo>
                    <a:pt x="493" y="726"/>
                  </a:lnTo>
                  <a:lnTo>
                    <a:pt x="451" y="549"/>
                  </a:lnTo>
                  <a:lnTo>
                    <a:pt x="360" y="388"/>
                  </a:lnTo>
                  <a:lnTo>
                    <a:pt x="255" y="226"/>
                  </a:lnTo>
                  <a:lnTo>
                    <a:pt x="0" y="0"/>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6" name="Freeform 93"/>
            <p:cNvSpPr>
              <a:spLocks/>
            </p:cNvSpPr>
            <p:nvPr/>
          </p:nvSpPr>
          <p:spPr bwMode="auto">
            <a:xfrm>
              <a:off x="4529" y="3420"/>
              <a:ext cx="432" cy="395"/>
            </a:xfrm>
            <a:custGeom>
              <a:avLst/>
              <a:gdLst>
                <a:gd name="T0" fmla="*/ 0 w 2393"/>
                <a:gd name="T1" fmla="*/ 1 h 2189"/>
                <a:gd name="T2" fmla="*/ 1 w 2393"/>
                <a:gd name="T3" fmla="*/ 43 h 2189"/>
                <a:gd name="T4" fmla="*/ 14 w 2393"/>
                <a:gd name="T5" fmla="*/ 63 h 2189"/>
                <a:gd name="T6" fmla="*/ 39 w 2393"/>
                <a:gd name="T7" fmla="*/ 71 h 2189"/>
                <a:gd name="T8" fmla="*/ 60 w 2393"/>
                <a:gd name="T9" fmla="*/ 67 h 2189"/>
                <a:gd name="T10" fmla="*/ 74 w 2393"/>
                <a:gd name="T11" fmla="*/ 54 h 2189"/>
                <a:gd name="T12" fmla="*/ 78 w 2393"/>
                <a:gd name="T13" fmla="*/ 33 h 2189"/>
                <a:gd name="T14" fmla="*/ 77 w 2393"/>
                <a:gd name="T15" fmla="*/ 0 h 2189"/>
                <a:gd name="T16" fmla="*/ 0 w 2393"/>
                <a:gd name="T17" fmla="*/ 1 h 2189"/>
                <a:gd name="T18" fmla="*/ 0 w 2393"/>
                <a:gd name="T19" fmla="*/ 1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7" name="Freeform 94"/>
            <p:cNvSpPr>
              <a:spLocks/>
            </p:cNvSpPr>
            <p:nvPr/>
          </p:nvSpPr>
          <p:spPr bwMode="auto">
            <a:xfrm>
              <a:off x="4701" y="3541"/>
              <a:ext cx="96" cy="177"/>
            </a:xfrm>
            <a:custGeom>
              <a:avLst/>
              <a:gdLst>
                <a:gd name="T0" fmla="*/ 4 w 534"/>
                <a:gd name="T1" fmla="*/ 1 h 978"/>
                <a:gd name="T2" fmla="*/ 0 w 534"/>
                <a:gd name="T3" fmla="*/ 7 h 978"/>
                <a:gd name="T4" fmla="*/ 3 w 534"/>
                <a:gd name="T5" fmla="*/ 15 h 978"/>
                <a:gd name="T6" fmla="*/ 2 w 534"/>
                <a:gd name="T7" fmla="*/ 31 h 978"/>
                <a:gd name="T8" fmla="*/ 15 w 534"/>
                <a:gd name="T9" fmla="*/ 32 h 978"/>
                <a:gd name="T10" fmla="*/ 12 w 534"/>
                <a:gd name="T11" fmla="*/ 15 h 978"/>
                <a:gd name="T12" fmla="*/ 17 w 534"/>
                <a:gd name="T13" fmla="*/ 10 h 978"/>
                <a:gd name="T14" fmla="*/ 15 w 534"/>
                <a:gd name="T15" fmla="*/ 4 h 978"/>
                <a:gd name="T16" fmla="*/ 10 w 534"/>
                <a:gd name="T17" fmla="*/ 0 h 978"/>
                <a:gd name="T18" fmla="*/ 4 w 534"/>
                <a:gd name="T19" fmla="*/ 1 h 978"/>
                <a:gd name="T20" fmla="*/ 4 w 534"/>
                <a:gd name="T21" fmla="*/ 1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8" name="Freeform 95"/>
            <p:cNvSpPr>
              <a:spLocks/>
            </p:cNvSpPr>
            <p:nvPr/>
          </p:nvSpPr>
          <p:spPr bwMode="auto">
            <a:xfrm>
              <a:off x="4550" y="3266"/>
              <a:ext cx="29"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4639" name="Freeform 96"/>
            <p:cNvSpPr>
              <a:spLocks/>
            </p:cNvSpPr>
            <p:nvPr/>
          </p:nvSpPr>
          <p:spPr bwMode="auto">
            <a:xfrm>
              <a:off x="4607"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4640" name="Freeform 97"/>
            <p:cNvSpPr>
              <a:spLocks/>
            </p:cNvSpPr>
            <p:nvPr/>
          </p:nvSpPr>
          <p:spPr bwMode="auto">
            <a:xfrm>
              <a:off x="4914" y="3266"/>
              <a:ext cx="29" cy="175"/>
            </a:xfrm>
            <a:custGeom>
              <a:avLst/>
              <a:gdLst>
                <a:gd name="T0" fmla="*/ 0 w 166"/>
                <a:gd name="T1" fmla="*/ 0 h 972"/>
                <a:gd name="T2" fmla="*/ 0 w 166"/>
                <a:gd name="T3" fmla="*/ 32 h 972"/>
                <a:gd name="T4" fmla="*/ 5 w 166"/>
                <a:gd name="T5" fmla="*/ 32 h 972"/>
                <a:gd name="T6" fmla="*/ 5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24641" name="Freeform 98"/>
            <p:cNvSpPr>
              <a:spLocks/>
            </p:cNvSpPr>
            <p:nvPr/>
          </p:nvSpPr>
          <p:spPr bwMode="auto">
            <a:xfrm>
              <a:off x="4856"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4642" name="Freeform 99"/>
            <p:cNvSpPr>
              <a:spLocks/>
            </p:cNvSpPr>
            <p:nvPr/>
          </p:nvSpPr>
          <p:spPr bwMode="auto">
            <a:xfrm>
              <a:off x="4550" y="3064"/>
              <a:ext cx="393" cy="202"/>
            </a:xfrm>
            <a:custGeom>
              <a:avLst/>
              <a:gdLst>
                <a:gd name="T0" fmla="*/ 0 w 2183"/>
                <a:gd name="T1" fmla="*/ 31 h 1119"/>
                <a:gd name="T2" fmla="*/ 1 w 2183"/>
                <a:gd name="T3" fmla="*/ 26 h 1119"/>
                <a:gd name="T4" fmla="*/ 3 w 2183"/>
                <a:gd name="T5" fmla="*/ 22 h 1119"/>
                <a:gd name="T6" fmla="*/ 4 w 2183"/>
                <a:gd name="T7" fmla="*/ 20 h 1119"/>
                <a:gd name="T8" fmla="*/ 5 w 2183"/>
                <a:gd name="T9" fmla="*/ 18 h 1119"/>
                <a:gd name="T10" fmla="*/ 6 w 2183"/>
                <a:gd name="T11" fmla="*/ 16 h 1119"/>
                <a:gd name="T12" fmla="*/ 7 w 2183"/>
                <a:gd name="T13" fmla="*/ 14 h 1119"/>
                <a:gd name="T14" fmla="*/ 8 w 2183"/>
                <a:gd name="T15" fmla="*/ 13 h 1119"/>
                <a:gd name="T16" fmla="*/ 10 w 2183"/>
                <a:gd name="T17" fmla="*/ 11 h 1119"/>
                <a:gd name="T18" fmla="*/ 11 w 2183"/>
                <a:gd name="T19" fmla="*/ 10 h 1119"/>
                <a:gd name="T20" fmla="*/ 13 w 2183"/>
                <a:gd name="T21" fmla="*/ 8 h 1119"/>
                <a:gd name="T22" fmla="*/ 15 w 2183"/>
                <a:gd name="T23" fmla="*/ 7 h 1119"/>
                <a:gd name="T24" fmla="*/ 17 w 2183"/>
                <a:gd name="T25" fmla="*/ 5 h 1119"/>
                <a:gd name="T26" fmla="*/ 21 w 2183"/>
                <a:gd name="T27" fmla="*/ 3 h 1119"/>
                <a:gd name="T28" fmla="*/ 25 w 2183"/>
                <a:gd name="T29" fmla="*/ 2 h 1119"/>
                <a:gd name="T30" fmla="*/ 33 w 2183"/>
                <a:gd name="T31" fmla="*/ 0 h 1119"/>
                <a:gd name="T32" fmla="*/ 47 w 2183"/>
                <a:gd name="T33" fmla="*/ 2 h 1119"/>
                <a:gd name="T34" fmla="*/ 51 w 2183"/>
                <a:gd name="T35" fmla="*/ 3 h 1119"/>
                <a:gd name="T36" fmla="*/ 54 w 2183"/>
                <a:gd name="T37" fmla="*/ 6 h 1119"/>
                <a:gd name="T38" fmla="*/ 57 w 2183"/>
                <a:gd name="T39" fmla="*/ 8 h 1119"/>
                <a:gd name="T40" fmla="*/ 59 w 2183"/>
                <a:gd name="T41" fmla="*/ 9 h 1119"/>
                <a:gd name="T42" fmla="*/ 61 w 2183"/>
                <a:gd name="T43" fmla="*/ 11 h 1119"/>
                <a:gd name="T44" fmla="*/ 62 w 2183"/>
                <a:gd name="T45" fmla="*/ 12 h 1119"/>
                <a:gd name="T46" fmla="*/ 63 w 2183"/>
                <a:gd name="T47" fmla="*/ 14 h 1119"/>
                <a:gd name="T48" fmla="*/ 65 w 2183"/>
                <a:gd name="T49" fmla="*/ 16 h 1119"/>
                <a:gd name="T50" fmla="*/ 66 w 2183"/>
                <a:gd name="T51" fmla="*/ 18 h 1119"/>
                <a:gd name="T52" fmla="*/ 67 w 2183"/>
                <a:gd name="T53" fmla="*/ 19 h 1119"/>
                <a:gd name="T54" fmla="*/ 68 w 2183"/>
                <a:gd name="T55" fmla="*/ 21 h 1119"/>
                <a:gd name="T56" fmla="*/ 69 w 2183"/>
                <a:gd name="T57" fmla="*/ 25 h 1119"/>
                <a:gd name="T58" fmla="*/ 70 w 2183"/>
                <a:gd name="T59" fmla="*/ 29 h 1119"/>
                <a:gd name="T60" fmla="*/ 65 w 2183"/>
                <a:gd name="T61" fmla="*/ 33 h 1119"/>
                <a:gd name="T62" fmla="*/ 64 w 2183"/>
                <a:gd name="T63" fmla="*/ 27 h 1119"/>
                <a:gd name="T64" fmla="*/ 63 w 2183"/>
                <a:gd name="T65" fmla="*/ 23 h 1119"/>
                <a:gd name="T66" fmla="*/ 62 w 2183"/>
                <a:gd name="T67" fmla="*/ 21 h 1119"/>
                <a:gd name="T68" fmla="*/ 61 w 2183"/>
                <a:gd name="T69" fmla="*/ 20 h 1119"/>
                <a:gd name="T70" fmla="*/ 60 w 2183"/>
                <a:gd name="T71" fmla="*/ 18 h 1119"/>
                <a:gd name="T72" fmla="*/ 59 w 2183"/>
                <a:gd name="T73" fmla="*/ 17 h 1119"/>
                <a:gd name="T74" fmla="*/ 58 w 2183"/>
                <a:gd name="T75" fmla="*/ 16 h 1119"/>
                <a:gd name="T76" fmla="*/ 57 w 2183"/>
                <a:gd name="T77" fmla="*/ 14 h 1119"/>
                <a:gd name="T78" fmla="*/ 55 w 2183"/>
                <a:gd name="T79" fmla="*/ 12 h 1119"/>
                <a:gd name="T80" fmla="*/ 52 w 2183"/>
                <a:gd name="T81" fmla="*/ 10 h 1119"/>
                <a:gd name="T82" fmla="*/ 49 w 2183"/>
                <a:gd name="T83" fmla="*/ 8 h 1119"/>
                <a:gd name="T84" fmla="*/ 46 w 2183"/>
                <a:gd name="T85" fmla="*/ 7 h 1119"/>
                <a:gd name="T86" fmla="*/ 40 w 2183"/>
                <a:gd name="T87" fmla="*/ 5 h 1119"/>
                <a:gd name="T88" fmla="*/ 26 w 2183"/>
                <a:gd name="T89" fmla="*/ 6 h 1119"/>
                <a:gd name="T90" fmla="*/ 22 w 2183"/>
                <a:gd name="T91" fmla="*/ 8 h 1119"/>
                <a:gd name="T92" fmla="*/ 19 w 2183"/>
                <a:gd name="T93" fmla="*/ 10 h 1119"/>
                <a:gd name="T94" fmla="*/ 16 w 2183"/>
                <a:gd name="T95" fmla="*/ 12 h 1119"/>
                <a:gd name="T96" fmla="*/ 14 w 2183"/>
                <a:gd name="T97" fmla="*/ 14 h 1119"/>
                <a:gd name="T98" fmla="*/ 13 w 2183"/>
                <a:gd name="T99" fmla="*/ 15 h 1119"/>
                <a:gd name="T100" fmla="*/ 12 w 2183"/>
                <a:gd name="T101" fmla="*/ 17 h 1119"/>
                <a:gd name="T102" fmla="*/ 10 w 2183"/>
                <a:gd name="T103" fmla="*/ 19 h 1119"/>
                <a:gd name="T104" fmla="*/ 9 w 2183"/>
                <a:gd name="T105" fmla="*/ 20 h 1119"/>
                <a:gd name="T106" fmla="*/ 8 w 2183"/>
                <a:gd name="T107" fmla="*/ 22 h 1119"/>
                <a:gd name="T108" fmla="*/ 7 w 2183"/>
                <a:gd name="T109" fmla="*/ 25 h 1119"/>
                <a:gd name="T110" fmla="*/ 5 w 2183"/>
                <a:gd name="T111" fmla="*/ 35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24643" name="Freeform 100"/>
            <p:cNvSpPr>
              <a:spLocks/>
            </p:cNvSpPr>
            <p:nvPr/>
          </p:nvSpPr>
          <p:spPr bwMode="auto">
            <a:xfrm>
              <a:off x="4607" y="3116"/>
              <a:ext cx="278" cy="150"/>
            </a:xfrm>
            <a:custGeom>
              <a:avLst/>
              <a:gdLst>
                <a:gd name="T0" fmla="*/ 50 w 1540"/>
                <a:gd name="T1" fmla="*/ 22 h 830"/>
                <a:gd name="T2" fmla="*/ 49 w 1540"/>
                <a:gd name="T3" fmla="*/ 18 h 830"/>
                <a:gd name="T4" fmla="*/ 48 w 1540"/>
                <a:gd name="T5" fmla="*/ 15 h 830"/>
                <a:gd name="T6" fmla="*/ 48 w 1540"/>
                <a:gd name="T7" fmla="*/ 14 h 830"/>
                <a:gd name="T8" fmla="*/ 47 w 1540"/>
                <a:gd name="T9" fmla="*/ 13 h 830"/>
                <a:gd name="T10" fmla="*/ 47 w 1540"/>
                <a:gd name="T11" fmla="*/ 12 h 830"/>
                <a:gd name="T12" fmla="*/ 46 w 1540"/>
                <a:gd name="T13" fmla="*/ 12 h 830"/>
                <a:gd name="T14" fmla="*/ 46 w 1540"/>
                <a:gd name="T15" fmla="*/ 11 h 830"/>
                <a:gd name="T16" fmla="*/ 45 w 1540"/>
                <a:gd name="T17" fmla="*/ 9 h 830"/>
                <a:gd name="T18" fmla="*/ 43 w 1540"/>
                <a:gd name="T19" fmla="*/ 8 h 830"/>
                <a:gd name="T20" fmla="*/ 42 w 1540"/>
                <a:gd name="T21" fmla="*/ 7 h 830"/>
                <a:gd name="T22" fmla="*/ 41 w 1540"/>
                <a:gd name="T23" fmla="*/ 5 h 830"/>
                <a:gd name="T24" fmla="*/ 39 w 1540"/>
                <a:gd name="T25" fmla="*/ 4 h 830"/>
                <a:gd name="T26" fmla="*/ 38 w 1540"/>
                <a:gd name="T27" fmla="*/ 3 h 830"/>
                <a:gd name="T28" fmla="*/ 36 w 1540"/>
                <a:gd name="T29" fmla="*/ 3 h 830"/>
                <a:gd name="T30" fmla="*/ 34 w 1540"/>
                <a:gd name="T31" fmla="*/ 2 h 830"/>
                <a:gd name="T32" fmla="*/ 31 w 1540"/>
                <a:gd name="T33" fmla="*/ 1 h 830"/>
                <a:gd name="T34" fmla="*/ 24 w 1540"/>
                <a:gd name="T35" fmla="*/ 0 h 830"/>
                <a:gd name="T36" fmla="*/ 18 w 1540"/>
                <a:gd name="T37" fmla="*/ 1 h 830"/>
                <a:gd name="T38" fmla="*/ 15 w 1540"/>
                <a:gd name="T39" fmla="*/ 2 h 830"/>
                <a:gd name="T40" fmla="*/ 13 w 1540"/>
                <a:gd name="T41" fmla="*/ 3 h 830"/>
                <a:gd name="T42" fmla="*/ 11 w 1540"/>
                <a:gd name="T43" fmla="*/ 4 h 830"/>
                <a:gd name="T44" fmla="*/ 10 w 1540"/>
                <a:gd name="T45" fmla="*/ 5 h 830"/>
                <a:gd name="T46" fmla="*/ 8 w 1540"/>
                <a:gd name="T47" fmla="*/ 7 h 830"/>
                <a:gd name="T48" fmla="*/ 7 w 1540"/>
                <a:gd name="T49" fmla="*/ 8 h 830"/>
                <a:gd name="T50" fmla="*/ 6 w 1540"/>
                <a:gd name="T51" fmla="*/ 9 h 830"/>
                <a:gd name="T52" fmla="*/ 5 w 1540"/>
                <a:gd name="T53" fmla="*/ 10 h 830"/>
                <a:gd name="T54" fmla="*/ 4 w 1540"/>
                <a:gd name="T55" fmla="*/ 12 h 830"/>
                <a:gd name="T56" fmla="*/ 3 w 1540"/>
                <a:gd name="T57" fmla="*/ 13 h 830"/>
                <a:gd name="T58" fmla="*/ 3 w 1540"/>
                <a:gd name="T59" fmla="*/ 14 h 830"/>
                <a:gd name="T60" fmla="*/ 2 w 1540"/>
                <a:gd name="T61" fmla="*/ 14 h 830"/>
                <a:gd name="T62" fmla="*/ 1 w 1540"/>
                <a:gd name="T63" fmla="*/ 17 h 830"/>
                <a:gd name="T64" fmla="*/ 0 w 1540"/>
                <a:gd name="T65" fmla="*/ 21 h 830"/>
                <a:gd name="T66" fmla="*/ 0 w 1540"/>
                <a:gd name="T67" fmla="*/ 27 h 830"/>
                <a:gd name="T68" fmla="*/ 5 w 1540"/>
                <a:gd name="T69" fmla="*/ 23 h 830"/>
                <a:gd name="T70" fmla="*/ 6 w 1540"/>
                <a:gd name="T71" fmla="*/ 20 h 830"/>
                <a:gd name="T72" fmla="*/ 7 w 1540"/>
                <a:gd name="T73" fmla="*/ 17 h 830"/>
                <a:gd name="T74" fmla="*/ 8 w 1540"/>
                <a:gd name="T75" fmla="*/ 16 h 830"/>
                <a:gd name="T76" fmla="*/ 8 w 1540"/>
                <a:gd name="T77" fmla="*/ 14 h 830"/>
                <a:gd name="T78" fmla="*/ 9 w 1540"/>
                <a:gd name="T79" fmla="*/ 13 h 830"/>
                <a:gd name="T80" fmla="*/ 10 w 1540"/>
                <a:gd name="T81" fmla="*/ 12 h 830"/>
                <a:gd name="T82" fmla="*/ 11 w 1540"/>
                <a:gd name="T83" fmla="*/ 11 h 830"/>
                <a:gd name="T84" fmla="*/ 12 w 1540"/>
                <a:gd name="T85" fmla="*/ 10 h 830"/>
                <a:gd name="T86" fmla="*/ 13 w 1540"/>
                <a:gd name="T87" fmla="*/ 9 h 830"/>
                <a:gd name="T88" fmla="*/ 14 w 1540"/>
                <a:gd name="T89" fmla="*/ 8 h 830"/>
                <a:gd name="T90" fmla="*/ 16 w 1540"/>
                <a:gd name="T91" fmla="*/ 7 h 830"/>
                <a:gd name="T92" fmla="*/ 19 w 1540"/>
                <a:gd name="T93" fmla="*/ 6 h 830"/>
                <a:gd name="T94" fmla="*/ 21 w 1540"/>
                <a:gd name="T95" fmla="*/ 5 h 830"/>
                <a:gd name="T96" fmla="*/ 31 w 1540"/>
                <a:gd name="T97" fmla="*/ 6 h 830"/>
                <a:gd name="T98" fmla="*/ 34 w 1540"/>
                <a:gd name="T99" fmla="*/ 7 h 830"/>
                <a:gd name="T100" fmla="*/ 36 w 1540"/>
                <a:gd name="T101" fmla="*/ 8 h 830"/>
                <a:gd name="T102" fmla="*/ 37 w 1540"/>
                <a:gd name="T103" fmla="*/ 9 h 830"/>
                <a:gd name="T104" fmla="*/ 38 w 1540"/>
                <a:gd name="T105" fmla="*/ 10 h 830"/>
                <a:gd name="T106" fmla="*/ 39 w 1540"/>
                <a:gd name="T107" fmla="*/ 11 h 830"/>
                <a:gd name="T108" fmla="*/ 40 w 1540"/>
                <a:gd name="T109" fmla="*/ 12 h 830"/>
                <a:gd name="T110" fmla="*/ 41 w 1540"/>
                <a:gd name="T111" fmla="*/ 13 h 830"/>
                <a:gd name="T112" fmla="*/ 42 w 1540"/>
                <a:gd name="T113" fmla="*/ 14 h 830"/>
                <a:gd name="T114" fmla="*/ 43 w 1540"/>
                <a:gd name="T115" fmla="*/ 16 h 830"/>
                <a:gd name="T116" fmla="*/ 44 w 1540"/>
                <a:gd name="T117" fmla="*/ 17 h 830"/>
                <a:gd name="T118" fmla="*/ 45 w 1540"/>
                <a:gd name="T119" fmla="*/ 23 h 830"/>
                <a:gd name="T120" fmla="*/ 50 w 1540"/>
                <a:gd name="T121" fmla="*/ 27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sp>
          <p:nvSpPr>
            <p:cNvPr id="24644" name="Freeform 101"/>
            <p:cNvSpPr>
              <a:spLocks/>
            </p:cNvSpPr>
            <p:nvPr/>
          </p:nvSpPr>
          <p:spPr bwMode="auto">
            <a:xfrm>
              <a:off x="4506" y="3398"/>
              <a:ext cx="481" cy="198"/>
            </a:xfrm>
            <a:custGeom>
              <a:avLst/>
              <a:gdLst>
                <a:gd name="T0" fmla="*/ 0 w 2668"/>
                <a:gd name="T1" fmla="*/ 36 h 1093"/>
                <a:gd name="T2" fmla="*/ 0 w 2668"/>
                <a:gd name="T3" fmla="*/ 0 h 1093"/>
                <a:gd name="T4" fmla="*/ 87 w 2668"/>
                <a:gd name="T5" fmla="*/ 0 h 1093"/>
                <a:gd name="T6" fmla="*/ 87 w 2668"/>
                <a:gd name="T7" fmla="*/ 36 h 1093"/>
                <a:gd name="T8" fmla="*/ 79 w 2668"/>
                <a:gd name="T9" fmla="*/ 36 h 1093"/>
                <a:gd name="T10" fmla="*/ 79 w 2668"/>
                <a:gd name="T11" fmla="*/ 8 h 1093"/>
                <a:gd name="T12" fmla="*/ 8 w 2668"/>
                <a:gd name="T13" fmla="*/ 8 h 1093"/>
                <a:gd name="T14" fmla="*/ 8 w 2668"/>
                <a:gd name="T15" fmla="*/ 36 h 1093"/>
                <a:gd name="T16" fmla="*/ 0 w 2668"/>
                <a:gd name="T17" fmla="*/ 36 h 1093"/>
                <a:gd name="T18" fmla="*/ 0 w 2668"/>
                <a:gd name="T19" fmla="*/ 36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24645" name="Freeform 102"/>
            <p:cNvSpPr>
              <a:spLocks/>
            </p:cNvSpPr>
            <p:nvPr/>
          </p:nvSpPr>
          <p:spPr bwMode="auto">
            <a:xfrm>
              <a:off x="4506" y="3596"/>
              <a:ext cx="481" cy="240"/>
            </a:xfrm>
            <a:custGeom>
              <a:avLst/>
              <a:gdLst>
                <a:gd name="T0" fmla="*/ 86 w 2668"/>
                <a:gd name="T1" fmla="*/ 9 h 1334"/>
                <a:gd name="T2" fmla="*/ 84 w 2668"/>
                <a:gd name="T3" fmla="*/ 14 h 1334"/>
                <a:gd name="T4" fmla="*/ 83 w 2668"/>
                <a:gd name="T5" fmla="*/ 18 h 1334"/>
                <a:gd name="T6" fmla="*/ 82 w 2668"/>
                <a:gd name="T7" fmla="*/ 20 h 1334"/>
                <a:gd name="T8" fmla="*/ 80 w 2668"/>
                <a:gd name="T9" fmla="*/ 22 h 1334"/>
                <a:gd name="T10" fmla="*/ 79 w 2668"/>
                <a:gd name="T11" fmla="*/ 24 h 1334"/>
                <a:gd name="T12" fmla="*/ 78 w 2668"/>
                <a:gd name="T13" fmla="*/ 27 h 1334"/>
                <a:gd name="T14" fmla="*/ 76 w 2668"/>
                <a:gd name="T15" fmla="*/ 29 h 1334"/>
                <a:gd name="T16" fmla="*/ 74 w 2668"/>
                <a:gd name="T17" fmla="*/ 30 h 1334"/>
                <a:gd name="T18" fmla="*/ 72 w 2668"/>
                <a:gd name="T19" fmla="*/ 32 h 1334"/>
                <a:gd name="T20" fmla="*/ 70 w 2668"/>
                <a:gd name="T21" fmla="*/ 34 h 1334"/>
                <a:gd name="T22" fmla="*/ 68 w 2668"/>
                <a:gd name="T23" fmla="*/ 35 h 1334"/>
                <a:gd name="T24" fmla="*/ 66 w 2668"/>
                <a:gd name="T25" fmla="*/ 37 h 1334"/>
                <a:gd name="T26" fmla="*/ 63 w 2668"/>
                <a:gd name="T27" fmla="*/ 38 h 1334"/>
                <a:gd name="T28" fmla="*/ 59 w 2668"/>
                <a:gd name="T29" fmla="*/ 40 h 1334"/>
                <a:gd name="T30" fmla="*/ 54 w 2668"/>
                <a:gd name="T31" fmla="*/ 42 h 1334"/>
                <a:gd name="T32" fmla="*/ 43 w 2668"/>
                <a:gd name="T33" fmla="*/ 43 h 1334"/>
                <a:gd name="T34" fmla="*/ 30 w 2668"/>
                <a:gd name="T35" fmla="*/ 41 h 1334"/>
                <a:gd name="T36" fmla="*/ 26 w 2668"/>
                <a:gd name="T37" fmla="*/ 39 h 1334"/>
                <a:gd name="T38" fmla="*/ 22 w 2668"/>
                <a:gd name="T39" fmla="*/ 37 h 1334"/>
                <a:gd name="T40" fmla="*/ 19 w 2668"/>
                <a:gd name="T41" fmla="*/ 36 h 1334"/>
                <a:gd name="T42" fmla="*/ 17 w 2668"/>
                <a:gd name="T43" fmla="*/ 35 h 1334"/>
                <a:gd name="T44" fmla="*/ 15 w 2668"/>
                <a:gd name="T45" fmla="*/ 33 h 1334"/>
                <a:gd name="T46" fmla="*/ 14 w 2668"/>
                <a:gd name="T47" fmla="*/ 31 h 1334"/>
                <a:gd name="T48" fmla="*/ 12 w 2668"/>
                <a:gd name="T49" fmla="*/ 30 h 1334"/>
                <a:gd name="T50" fmla="*/ 10 w 2668"/>
                <a:gd name="T51" fmla="*/ 28 h 1334"/>
                <a:gd name="T52" fmla="*/ 8 w 2668"/>
                <a:gd name="T53" fmla="*/ 26 h 1334"/>
                <a:gd name="T54" fmla="*/ 7 w 2668"/>
                <a:gd name="T55" fmla="*/ 23 h 1334"/>
                <a:gd name="T56" fmla="*/ 5 w 2668"/>
                <a:gd name="T57" fmla="*/ 21 h 1334"/>
                <a:gd name="T58" fmla="*/ 4 w 2668"/>
                <a:gd name="T59" fmla="*/ 19 h 1334"/>
                <a:gd name="T60" fmla="*/ 3 w 2668"/>
                <a:gd name="T61" fmla="*/ 16 h 1334"/>
                <a:gd name="T62" fmla="*/ 1 w 2668"/>
                <a:gd name="T63" fmla="*/ 11 h 1334"/>
                <a:gd name="T64" fmla="*/ 0 w 2668"/>
                <a:gd name="T65" fmla="*/ 0 h 1334"/>
                <a:gd name="T66" fmla="*/ 9 w 2668"/>
                <a:gd name="T67" fmla="*/ 8 h 1334"/>
                <a:gd name="T68" fmla="*/ 10 w 2668"/>
                <a:gd name="T69" fmla="*/ 12 h 1334"/>
                <a:gd name="T70" fmla="*/ 11 w 2668"/>
                <a:gd name="T71" fmla="*/ 15 h 1334"/>
                <a:gd name="T72" fmla="*/ 12 w 2668"/>
                <a:gd name="T73" fmla="*/ 17 h 1334"/>
                <a:gd name="T74" fmla="*/ 13 w 2668"/>
                <a:gd name="T75" fmla="*/ 19 h 1334"/>
                <a:gd name="T76" fmla="*/ 14 w 2668"/>
                <a:gd name="T77" fmla="*/ 21 h 1334"/>
                <a:gd name="T78" fmla="*/ 16 w 2668"/>
                <a:gd name="T79" fmla="*/ 22 h 1334"/>
                <a:gd name="T80" fmla="*/ 17 w 2668"/>
                <a:gd name="T81" fmla="*/ 24 h 1334"/>
                <a:gd name="T82" fmla="*/ 19 w 2668"/>
                <a:gd name="T83" fmla="*/ 25 h 1334"/>
                <a:gd name="T84" fmla="*/ 20 w 2668"/>
                <a:gd name="T85" fmla="*/ 27 h 1334"/>
                <a:gd name="T86" fmla="*/ 22 w 2668"/>
                <a:gd name="T87" fmla="*/ 28 h 1334"/>
                <a:gd name="T88" fmla="*/ 24 w 2668"/>
                <a:gd name="T89" fmla="*/ 29 h 1334"/>
                <a:gd name="T90" fmla="*/ 27 w 2668"/>
                <a:gd name="T91" fmla="*/ 31 h 1334"/>
                <a:gd name="T92" fmla="*/ 31 w 2668"/>
                <a:gd name="T93" fmla="*/ 33 h 1334"/>
                <a:gd name="T94" fmla="*/ 36 w 2668"/>
                <a:gd name="T95" fmla="*/ 35 h 1334"/>
                <a:gd name="T96" fmla="*/ 50 w 2668"/>
                <a:gd name="T97" fmla="*/ 35 h 1334"/>
                <a:gd name="T98" fmla="*/ 56 w 2668"/>
                <a:gd name="T99" fmla="*/ 33 h 1334"/>
                <a:gd name="T100" fmla="*/ 60 w 2668"/>
                <a:gd name="T101" fmla="*/ 31 h 1334"/>
                <a:gd name="T102" fmla="*/ 64 w 2668"/>
                <a:gd name="T103" fmla="*/ 29 h 1334"/>
                <a:gd name="T104" fmla="*/ 66 w 2668"/>
                <a:gd name="T105" fmla="*/ 27 h 1334"/>
                <a:gd name="T106" fmla="*/ 67 w 2668"/>
                <a:gd name="T107" fmla="*/ 26 h 1334"/>
                <a:gd name="T108" fmla="*/ 69 w 2668"/>
                <a:gd name="T109" fmla="*/ 24 h 1334"/>
                <a:gd name="T110" fmla="*/ 70 w 2668"/>
                <a:gd name="T111" fmla="*/ 23 h 1334"/>
                <a:gd name="T112" fmla="*/ 72 w 2668"/>
                <a:gd name="T113" fmla="*/ 21 h 1334"/>
                <a:gd name="T114" fmla="*/ 73 w 2668"/>
                <a:gd name="T115" fmla="*/ 19 h 1334"/>
                <a:gd name="T116" fmla="*/ 74 w 2668"/>
                <a:gd name="T117" fmla="*/ 18 h 1334"/>
                <a:gd name="T118" fmla="*/ 75 w 2668"/>
                <a:gd name="T119" fmla="*/ 16 h 1334"/>
                <a:gd name="T120" fmla="*/ 76 w 2668"/>
                <a:gd name="T121" fmla="*/ 14 h 1334"/>
                <a:gd name="T122" fmla="*/ 78 w 2668"/>
                <a:gd name="T123" fmla="*/ 10 h 1334"/>
                <a:gd name="T124" fmla="*/ 79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24646" name="Freeform 103"/>
            <p:cNvSpPr>
              <a:spLocks/>
            </p:cNvSpPr>
            <p:nvPr/>
          </p:nvSpPr>
          <p:spPr bwMode="auto">
            <a:xfrm>
              <a:off x="4697" y="3617"/>
              <a:ext cx="95" cy="109"/>
            </a:xfrm>
            <a:custGeom>
              <a:avLst/>
              <a:gdLst>
                <a:gd name="T0" fmla="*/ 0 w 529"/>
                <a:gd name="T1" fmla="*/ 20 h 606"/>
                <a:gd name="T2" fmla="*/ 17 w 529"/>
                <a:gd name="T3" fmla="*/ 20 h 606"/>
                <a:gd name="T4" fmla="*/ 15 w 529"/>
                <a:gd name="T5" fmla="*/ 2 h 606"/>
                <a:gd name="T6" fmla="*/ 11 w 529"/>
                <a:gd name="T7" fmla="*/ 0 h 606"/>
                <a:gd name="T8" fmla="*/ 13 w 529"/>
                <a:gd name="T9" fmla="*/ 16 h 606"/>
                <a:gd name="T10" fmla="*/ 5 w 529"/>
                <a:gd name="T11" fmla="*/ 16 h 606"/>
                <a:gd name="T12" fmla="*/ 7 w 529"/>
                <a:gd name="T13" fmla="*/ 0 h 606"/>
                <a:gd name="T14" fmla="*/ 3 w 529"/>
                <a:gd name="T15" fmla="*/ 2 h 606"/>
                <a:gd name="T16" fmla="*/ 0 w 529"/>
                <a:gd name="T17" fmla="*/ 20 h 606"/>
                <a:gd name="T18" fmla="*/ 0 w 529"/>
                <a:gd name="T19" fmla="*/ 2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24647" name="Freeform 104"/>
            <p:cNvSpPr>
              <a:spLocks/>
            </p:cNvSpPr>
            <p:nvPr/>
          </p:nvSpPr>
          <p:spPr bwMode="auto">
            <a:xfrm>
              <a:off x="4693" y="3529"/>
              <a:ext cx="110" cy="100"/>
            </a:xfrm>
            <a:custGeom>
              <a:avLst/>
              <a:gdLst>
                <a:gd name="T0" fmla="*/ 13 w 613"/>
                <a:gd name="T1" fmla="*/ 15 h 551"/>
                <a:gd name="T2" fmla="*/ 14 w 613"/>
                <a:gd name="T3" fmla="*/ 15 h 551"/>
                <a:gd name="T4" fmla="*/ 15 w 613"/>
                <a:gd name="T5" fmla="*/ 14 h 551"/>
                <a:gd name="T6" fmla="*/ 15 w 613"/>
                <a:gd name="T7" fmla="*/ 13 h 551"/>
                <a:gd name="T8" fmla="*/ 16 w 613"/>
                <a:gd name="T9" fmla="*/ 10 h 551"/>
                <a:gd name="T10" fmla="*/ 16 w 613"/>
                <a:gd name="T11" fmla="*/ 8 h 551"/>
                <a:gd name="T12" fmla="*/ 15 w 613"/>
                <a:gd name="T13" fmla="*/ 7 h 551"/>
                <a:gd name="T14" fmla="*/ 15 w 613"/>
                <a:gd name="T15" fmla="*/ 7 h 551"/>
                <a:gd name="T16" fmla="*/ 15 w 613"/>
                <a:gd name="T17" fmla="*/ 6 h 551"/>
                <a:gd name="T18" fmla="*/ 14 w 613"/>
                <a:gd name="T19" fmla="*/ 5 h 551"/>
                <a:gd name="T20" fmla="*/ 13 w 613"/>
                <a:gd name="T21" fmla="*/ 5 h 551"/>
                <a:gd name="T22" fmla="*/ 11 w 613"/>
                <a:gd name="T23" fmla="*/ 4 h 551"/>
                <a:gd name="T24" fmla="*/ 7 w 613"/>
                <a:gd name="T25" fmla="*/ 5 h 551"/>
                <a:gd name="T26" fmla="*/ 6 w 613"/>
                <a:gd name="T27" fmla="*/ 6 h 551"/>
                <a:gd name="T28" fmla="*/ 5 w 613"/>
                <a:gd name="T29" fmla="*/ 7 h 551"/>
                <a:gd name="T30" fmla="*/ 4 w 613"/>
                <a:gd name="T31" fmla="*/ 7 h 551"/>
                <a:gd name="T32" fmla="*/ 4 w 613"/>
                <a:gd name="T33" fmla="*/ 9 h 551"/>
                <a:gd name="T34" fmla="*/ 4 w 613"/>
                <a:gd name="T35" fmla="*/ 12 h 551"/>
                <a:gd name="T36" fmla="*/ 4 w 613"/>
                <a:gd name="T37" fmla="*/ 13 h 551"/>
                <a:gd name="T38" fmla="*/ 5 w 613"/>
                <a:gd name="T39" fmla="*/ 14 h 551"/>
                <a:gd name="T40" fmla="*/ 5 w 613"/>
                <a:gd name="T41" fmla="*/ 14 h 551"/>
                <a:gd name="T42" fmla="*/ 6 w 613"/>
                <a:gd name="T43" fmla="*/ 15 h 551"/>
                <a:gd name="T44" fmla="*/ 6 w 613"/>
                <a:gd name="T45" fmla="*/ 15 h 551"/>
                <a:gd name="T46" fmla="*/ 7 w 613"/>
                <a:gd name="T47" fmla="*/ 16 h 551"/>
                <a:gd name="T48" fmla="*/ 3 w 613"/>
                <a:gd name="T49" fmla="*/ 18 h 551"/>
                <a:gd name="T50" fmla="*/ 3 w 613"/>
                <a:gd name="T51" fmla="*/ 17 h 551"/>
                <a:gd name="T52" fmla="*/ 2 w 613"/>
                <a:gd name="T53" fmla="*/ 16 h 551"/>
                <a:gd name="T54" fmla="*/ 1 w 613"/>
                <a:gd name="T55" fmla="*/ 15 h 551"/>
                <a:gd name="T56" fmla="*/ 0 w 613"/>
                <a:gd name="T57" fmla="*/ 13 h 551"/>
                <a:gd name="T58" fmla="*/ 0 w 613"/>
                <a:gd name="T59" fmla="*/ 9 h 551"/>
                <a:gd name="T60" fmla="*/ 1 w 613"/>
                <a:gd name="T61" fmla="*/ 7 h 551"/>
                <a:gd name="T62" fmla="*/ 1 w 613"/>
                <a:gd name="T63" fmla="*/ 6 h 551"/>
                <a:gd name="T64" fmla="*/ 1 w 613"/>
                <a:gd name="T65" fmla="*/ 5 h 551"/>
                <a:gd name="T66" fmla="*/ 2 w 613"/>
                <a:gd name="T67" fmla="*/ 4 h 551"/>
                <a:gd name="T68" fmla="*/ 3 w 613"/>
                <a:gd name="T69" fmla="*/ 3 h 551"/>
                <a:gd name="T70" fmla="*/ 3 w 613"/>
                <a:gd name="T71" fmla="*/ 2 h 551"/>
                <a:gd name="T72" fmla="*/ 4 w 613"/>
                <a:gd name="T73" fmla="*/ 2 h 551"/>
                <a:gd name="T74" fmla="*/ 5 w 613"/>
                <a:gd name="T75" fmla="*/ 1 h 551"/>
                <a:gd name="T76" fmla="*/ 6 w 613"/>
                <a:gd name="T77" fmla="*/ 1 h 551"/>
                <a:gd name="T78" fmla="*/ 8 w 613"/>
                <a:gd name="T79" fmla="*/ 0 h 551"/>
                <a:gd name="T80" fmla="*/ 11 w 613"/>
                <a:gd name="T81" fmla="*/ 0 h 551"/>
                <a:gd name="T82" fmla="*/ 14 w 613"/>
                <a:gd name="T83" fmla="*/ 1 h 551"/>
                <a:gd name="T84" fmla="*/ 15 w 613"/>
                <a:gd name="T85" fmla="*/ 2 h 551"/>
                <a:gd name="T86" fmla="*/ 16 w 613"/>
                <a:gd name="T87" fmla="*/ 2 h 551"/>
                <a:gd name="T88" fmla="*/ 17 w 613"/>
                <a:gd name="T89" fmla="*/ 3 h 551"/>
                <a:gd name="T90" fmla="*/ 18 w 613"/>
                <a:gd name="T91" fmla="*/ 4 h 551"/>
                <a:gd name="T92" fmla="*/ 18 w 613"/>
                <a:gd name="T93" fmla="*/ 5 h 551"/>
                <a:gd name="T94" fmla="*/ 19 w 613"/>
                <a:gd name="T95" fmla="*/ 6 h 551"/>
                <a:gd name="T96" fmla="*/ 20 w 613"/>
                <a:gd name="T97" fmla="*/ 9 h 551"/>
                <a:gd name="T98" fmla="*/ 20 w 613"/>
                <a:gd name="T99" fmla="*/ 12 h 551"/>
                <a:gd name="T100" fmla="*/ 19 w 613"/>
                <a:gd name="T101" fmla="*/ 14 h 551"/>
                <a:gd name="T102" fmla="*/ 18 w 613"/>
                <a:gd name="T103" fmla="*/ 15 h 551"/>
                <a:gd name="T104" fmla="*/ 18 w 613"/>
                <a:gd name="T105" fmla="*/ 16 h 551"/>
                <a:gd name="T106" fmla="*/ 17 w 613"/>
                <a:gd name="T107" fmla="*/ 17 h 551"/>
                <a:gd name="T108" fmla="*/ 17 w 613"/>
                <a:gd name="T109" fmla="*/ 17 h 551"/>
                <a:gd name="T110" fmla="*/ 16 w 613"/>
                <a:gd name="T111" fmla="*/ 18 h 551"/>
                <a:gd name="T112" fmla="*/ 12 w 613"/>
                <a:gd name="T113" fmla="*/ 16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24648" name="Freeform 105"/>
            <p:cNvSpPr>
              <a:spLocks/>
            </p:cNvSpPr>
            <p:nvPr/>
          </p:nvSpPr>
          <p:spPr bwMode="auto">
            <a:xfrm>
              <a:off x="4576" y="3467"/>
              <a:ext cx="247" cy="285"/>
            </a:xfrm>
            <a:custGeom>
              <a:avLst/>
              <a:gdLst>
                <a:gd name="T0" fmla="*/ 1 w 1365"/>
                <a:gd name="T1" fmla="*/ 0 h 1583"/>
                <a:gd name="T2" fmla="*/ 0 w 1365"/>
                <a:gd name="T3" fmla="*/ 25 h 1583"/>
                <a:gd name="T4" fmla="*/ 1 w 1365"/>
                <a:gd name="T5" fmla="*/ 32 h 1583"/>
                <a:gd name="T6" fmla="*/ 3 w 1365"/>
                <a:gd name="T7" fmla="*/ 39 h 1583"/>
                <a:gd name="T8" fmla="*/ 6 w 1365"/>
                <a:gd name="T9" fmla="*/ 43 h 1583"/>
                <a:gd name="T10" fmla="*/ 12 w 1365"/>
                <a:gd name="T11" fmla="*/ 48 h 1583"/>
                <a:gd name="T12" fmla="*/ 17 w 1365"/>
                <a:gd name="T13" fmla="*/ 51 h 1583"/>
                <a:gd name="T14" fmla="*/ 23 w 1365"/>
                <a:gd name="T15" fmla="*/ 30 h 1583"/>
                <a:gd name="T16" fmla="*/ 18 w 1365"/>
                <a:gd name="T17" fmla="*/ 23 h 1583"/>
                <a:gd name="T18" fmla="*/ 18 w 1365"/>
                <a:gd name="T19" fmla="*/ 16 h 1583"/>
                <a:gd name="T20" fmla="*/ 20 w 1365"/>
                <a:gd name="T21" fmla="*/ 11 h 1583"/>
                <a:gd name="T22" fmla="*/ 26 w 1365"/>
                <a:gd name="T23" fmla="*/ 6 h 1583"/>
                <a:gd name="T24" fmla="*/ 33 w 1365"/>
                <a:gd name="T25" fmla="*/ 3 h 1583"/>
                <a:gd name="T26" fmla="*/ 45 w 1365"/>
                <a:gd name="T27" fmla="*/ 0 h 1583"/>
                <a:gd name="T28" fmla="*/ 1 w 1365"/>
                <a:gd name="T29" fmla="*/ 0 h 1583"/>
                <a:gd name="T30" fmla="*/ 1 w 1365"/>
                <a:gd name="T31" fmla="*/ 0 h 1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5"/>
                <a:gd name="T49" fmla="*/ 0 h 1583"/>
                <a:gd name="T50" fmla="*/ 1365 w 1365"/>
                <a:gd name="T51" fmla="*/ 1583 h 1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5" h="1583">
                  <a:moveTo>
                    <a:pt x="15" y="6"/>
                  </a:moveTo>
                  <a:lnTo>
                    <a:pt x="0" y="774"/>
                  </a:lnTo>
                  <a:lnTo>
                    <a:pt x="28" y="1000"/>
                  </a:lnTo>
                  <a:lnTo>
                    <a:pt x="91" y="1190"/>
                  </a:lnTo>
                  <a:lnTo>
                    <a:pt x="190" y="1338"/>
                  </a:lnTo>
                  <a:lnTo>
                    <a:pt x="352" y="1464"/>
                  </a:lnTo>
                  <a:lnTo>
                    <a:pt x="528" y="1583"/>
                  </a:lnTo>
                  <a:lnTo>
                    <a:pt x="698" y="922"/>
                  </a:lnTo>
                  <a:lnTo>
                    <a:pt x="563" y="703"/>
                  </a:lnTo>
                  <a:lnTo>
                    <a:pt x="549" y="492"/>
                  </a:lnTo>
                  <a:lnTo>
                    <a:pt x="627" y="338"/>
                  </a:lnTo>
                  <a:lnTo>
                    <a:pt x="781" y="190"/>
                  </a:lnTo>
                  <a:lnTo>
                    <a:pt x="992" y="91"/>
                  </a:lnTo>
                  <a:lnTo>
                    <a:pt x="1365" y="0"/>
                  </a:lnTo>
                  <a:lnTo>
                    <a:pt x="15" y="6"/>
                  </a:lnTo>
                  <a:close/>
                </a:path>
              </a:pathLst>
            </a:custGeom>
            <a:solidFill>
              <a:srgbClr val="D4D4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49" name="Freeform 106"/>
            <p:cNvSpPr>
              <a:spLocks/>
            </p:cNvSpPr>
            <p:nvPr/>
          </p:nvSpPr>
          <p:spPr bwMode="auto">
            <a:xfrm>
              <a:off x="4683" y="3460"/>
              <a:ext cx="248" cy="313"/>
            </a:xfrm>
            <a:custGeom>
              <a:avLst/>
              <a:gdLst>
                <a:gd name="T0" fmla="*/ 23 w 1373"/>
                <a:gd name="T1" fmla="*/ 14 h 1733"/>
                <a:gd name="T2" fmla="*/ 25 w 1373"/>
                <a:gd name="T3" fmla="*/ 18 h 1733"/>
                <a:gd name="T4" fmla="*/ 26 w 1373"/>
                <a:gd name="T5" fmla="*/ 22 h 1733"/>
                <a:gd name="T6" fmla="*/ 25 w 1373"/>
                <a:gd name="T7" fmla="*/ 27 h 1733"/>
                <a:gd name="T8" fmla="*/ 20 w 1373"/>
                <a:gd name="T9" fmla="*/ 31 h 1733"/>
                <a:gd name="T10" fmla="*/ 23 w 1373"/>
                <a:gd name="T11" fmla="*/ 50 h 1733"/>
                <a:gd name="T12" fmla="*/ 1 w 1373"/>
                <a:gd name="T13" fmla="*/ 51 h 1733"/>
                <a:gd name="T14" fmla="*/ 0 w 1373"/>
                <a:gd name="T15" fmla="*/ 53 h 1733"/>
                <a:gd name="T16" fmla="*/ 5 w 1373"/>
                <a:gd name="T17" fmla="*/ 55 h 1733"/>
                <a:gd name="T18" fmla="*/ 10 w 1373"/>
                <a:gd name="T19" fmla="*/ 57 h 1733"/>
                <a:gd name="T20" fmla="*/ 16 w 1373"/>
                <a:gd name="T21" fmla="*/ 56 h 1733"/>
                <a:gd name="T22" fmla="*/ 22 w 1373"/>
                <a:gd name="T23" fmla="*/ 54 h 1733"/>
                <a:gd name="T24" fmla="*/ 29 w 1373"/>
                <a:gd name="T25" fmla="*/ 52 h 1733"/>
                <a:gd name="T26" fmla="*/ 35 w 1373"/>
                <a:gd name="T27" fmla="*/ 47 h 1733"/>
                <a:gd name="T28" fmla="*/ 40 w 1373"/>
                <a:gd name="T29" fmla="*/ 40 h 1733"/>
                <a:gd name="T30" fmla="*/ 44 w 1373"/>
                <a:gd name="T31" fmla="*/ 29 h 1733"/>
                <a:gd name="T32" fmla="*/ 45 w 1373"/>
                <a:gd name="T33" fmla="*/ 16 h 1733"/>
                <a:gd name="T34" fmla="*/ 44 w 1373"/>
                <a:gd name="T35" fmla="*/ 0 h 1733"/>
                <a:gd name="T36" fmla="*/ 28 w 1373"/>
                <a:gd name="T37" fmla="*/ 1 h 1733"/>
                <a:gd name="T38" fmla="*/ 19 w 1373"/>
                <a:gd name="T39" fmla="*/ 4 h 1733"/>
                <a:gd name="T40" fmla="*/ 13 w 1373"/>
                <a:gd name="T41" fmla="*/ 7 h 1733"/>
                <a:gd name="T42" fmla="*/ 7 w 1373"/>
                <a:gd name="T43" fmla="*/ 9 h 1733"/>
                <a:gd name="T44" fmla="*/ 3 w 1373"/>
                <a:gd name="T45" fmla="*/ 13 h 1733"/>
                <a:gd name="T46" fmla="*/ 9 w 1373"/>
                <a:gd name="T47" fmla="*/ 10 h 1733"/>
                <a:gd name="T48" fmla="*/ 15 w 1373"/>
                <a:gd name="T49" fmla="*/ 10 h 1733"/>
                <a:gd name="T50" fmla="*/ 20 w 1373"/>
                <a:gd name="T51" fmla="*/ 11 h 1733"/>
                <a:gd name="T52" fmla="*/ 23 w 1373"/>
                <a:gd name="T53" fmla="*/ 14 h 1733"/>
                <a:gd name="T54" fmla="*/ 23 w 1373"/>
                <a:gd name="T55" fmla="*/ 14 h 17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73"/>
                <a:gd name="T85" fmla="*/ 0 h 1733"/>
                <a:gd name="T86" fmla="*/ 1373 w 1373"/>
                <a:gd name="T87" fmla="*/ 1733 h 17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73" h="1733">
                  <a:moveTo>
                    <a:pt x="696" y="424"/>
                  </a:moveTo>
                  <a:lnTo>
                    <a:pt x="767" y="549"/>
                  </a:lnTo>
                  <a:lnTo>
                    <a:pt x="788" y="684"/>
                  </a:lnTo>
                  <a:lnTo>
                    <a:pt x="753" y="831"/>
                  </a:lnTo>
                  <a:lnTo>
                    <a:pt x="626" y="966"/>
                  </a:lnTo>
                  <a:lnTo>
                    <a:pt x="711" y="1543"/>
                  </a:lnTo>
                  <a:lnTo>
                    <a:pt x="21" y="1557"/>
                  </a:lnTo>
                  <a:lnTo>
                    <a:pt x="0" y="1627"/>
                  </a:lnTo>
                  <a:lnTo>
                    <a:pt x="149" y="1697"/>
                  </a:lnTo>
                  <a:lnTo>
                    <a:pt x="318" y="1733"/>
                  </a:lnTo>
                  <a:lnTo>
                    <a:pt x="493" y="1711"/>
                  </a:lnTo>
                  <a:lnTo>
                    <a:pt x="670" y="1669"/>
                  </a:lnTo>
                  <a:lnTo>
                    <a:pt x="873" y="1598"/>
                  </a:lnTo>
                  <a:lnTo>
                    <a:pt x="1077" y="1450"/>
                  </a:lnTo>
                  <a:lnTo>
                    <a:pt x="1238" y="1213"/>
                  </a:lnTo>
                  <a:lnTo>
                    <a:pt x="1350" y="874"/>
                  </a:lnTo>
                  <a:lnTo>
                    <a:pt x="1373" y="494"/>
                  </a:lnTo>
                  <a:lnTo>
                    <a:pt x="1350" y="0"/>
                  </a:lnTo>
                  <a:lnTo>
                    <a:pt x="858" y="36"/>
                  </a:lnTo>
                  <a:lnTo>
                    <a:pt x="576" y="127"/>
                  </a:lnTo>
                  <a:lnTo>
                    <a:pt x="401" y="198"/>
                  </a:lnTo>
                  <a:lnTo>
                    <a:pt x="219" y="289"/>
                  </a:lnTo>
                  <a:lnTo>
                    <a:pt x="86" y="401"/>
                  </a:lnTo>
                  <a:lnTo>
                    <a:pt x="274" y="317"/>
                  </a:lnTo>
                  <a:lnTo>
                    <a:pt x="459" y="297"/>
                  </a:lnTo>
                  <a:lnTo>
                    <a:pt x="605" y="346"/>
                  </a:lnTo>
                  <a:lnTo>
                    <a:pt x="696" y="424"/>
                  </a:lnTo>
                  <a:close/>
                </a:path>
              </a:pathLst>
            </a:custGeom>
            <a:solidFill>
              <a:srgbClr val="7878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4611" name="Group 107"/>
          <p:cNvGrpSpPr>
            <a:grpSpLocks/>
          </p:cNvGrpSpPr>
          <p:nvPr/>
        </p:nvGrpSpPr>
        <p:grpSpPr bwMode="auto">
          <a:xfrm>
            <a:off x="4214813" y="1557338"/>
            <a:ext cx="407987" cy="655637"/>
            <a:chOff x="4506" y="3057"/>
            <a:chExt cx="488" cy="786"/>
          </a:xfrm>
        </p:grpSpPr>
        <p:sp>
          <p:nvSpPr>
            <p:cNvPr id="24612" name="AutoShape 108"/>
            <p:cNvSpPr>
              <a:spLocks noChangeAspect="1" noChangeArrowheads="1" noTextEdit="1"/>
            </p:cNvSpPr>
            <p:nvPr/>
          </p:nvSpPr>
          <p:spPr bwMode="auto">
            <a:xfrm>
              <a:off x="4506" y="3057"/>
              <a:ext cx="488"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4613" name="Freeform 109"/>
            <p:cNvSpPr>
              <a:spLocks/>
            </p:cNvSpPr>
            <p:nvPr/>
          </p:nvSpPr>
          <p:spPr bwMode="auto">
            <a:xfrm>
              <a:off x="4585" y="3083"/>
              <a:ext cx="292" cy="325"/>
            </a:xfrm>
            <a:custGeom>
              <a:avLst/>
              <a:gdLst>
                <a:gd name="T0" fmla="*/ 8 w 1619"/>
                <a:gd name="T1" fmla="*/ 58 h 1804"/>
                <a:gd name="T2" fmla="*/ 0 w 1619"/>
                <a:gd name="T3" fmla="*/ 59 h 1804"/>
                <a:gd name="T4" fmla="*/ 1 w 1619"/>
                <a:gd name="T5" fmla="*/ 22 h 1804"/>
                <a:gd name="T6" fmla="*/ 6 w 1619"/>
                <a:gd name="T7" fmla="*/ 10 h 1804"/>
                <a:gd name="T8" fmla="*/ 15 w 1619"/>
                <a:gd name="T9" fmla="*/ 4 h 1804"/>
                <a:gd name="T10" fmla="*/ 25 w 1619"/>
                <a:gd name="T11" fmla="*/ 1 h 1804"/>
                <a:gd name="T12" fmla="*/ 33 w 1619"/>
                <a:gd name="T13" fmla="*/ 0 h 1804"/>
                <a:gd name="T14" fmla="*/ 42 w 1619"/>
                <a:gd name="T15" fmla="*/ 5 h 1804"/>
                <a:gd name="T16" fmla="*/ 47 w 1619"/>
                <a:gd name="T17" fmla="*/ 11 h 1804"/>
                <a:gd name="T18" fmla="*/ 53 w 1619"/>
                <a:gd name="T19" fmla="*/ 25 h 1804"/>
                <a:gd name="T20" fmla="*/ 42 w 1619"/>
                <a:gd name="T21" fmla="*/ 10 h 1804"/>
                <a:gd name="T22" fmla="*/ 31 w 1619"/>
                <a:gd name="T23" fmla="*/ 8 h 1804"/>
                <a:gd name="T24" fmla="*/ 18 w 1619"/>
                <a:gd name="T25" fmla="*/ 11 h 1804"/>
                <a:gd name="T26" fmla="*/ 12 w 1619"/>
                <a:gd name="T27" fmla="*/ 17 h 1804"/>
                <a:gd name="T28" fmla="*/ 8 w 1619"/>
                <a:gd name="T29" fmla="*/ 24 h 1804"/>
                <a:gd name="T30" fmla="*/ 8 w 1619"/>
                <a:gd name="T31" fmla="*/ 35 h 1804"/>
                <a:gd name="T32" fmla="*/ 8 w 1619"/>
                <a:gd name="T33" fmla="*/ 58 h 1804"/>
                <a:gd name="T34" fmla="*/ 8 w 1619"/>
                <a:gd name="T35" fmla="*/ 58 h 18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9"/>
                <a:gd name="T55" fmla="*/ 0 h 1804"/>
                <a:gd name="T56" fmla="*/ 1619 w 1619"/>
                <a:gd name="T57" fmla="*/ 1804 h 18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9" h="1804">
                  <a:moveTo>
                    <a:pt x="232" y="1796"/>
                  </a:moveTo>
                  <a:lnTo>
                    <a:pt x="0" y="1804"/>
                  </a:lnTo>
                  <a:lnTo>
                    <a:pt x="21" y="669"/>
                  </a:lnTo>
                  <a:lnTo>
                    <a:pt x="183" y="324"/>
                  </a:lnTo>
                  <a:lnTo>
                    <a:pt x="464" y="120"/>
                  </a:lnTo>
                  <a:lnTo>
                    <a:pt x="782" y="29"/>
                  </a:lnTo>
                  <a:lnTo>
                    <a:pt x="1001" y="0"/>
                  </a:lnTo>
                  <a:lnTo>
                    <a:pt x="1303" y="149"/>
                  </a:lnTo>
                  <a:lnTo>
                    <a:pt x="1457" y="331"/>
                  </a:lnTo>
                  <a:lnTo>
                    <a:pt x="1619" y="768"/>
                  </a:lnTo>
                  <a:lnTo>
                    <a:pt x="1282" y="324"/>
                  </a:lnTo>
                  <a:lnTo>
                    <a:pt x="943" y="232"/>
                  </a:lnTo>
                  <a:lnTo>
                    <a:pt x="542" y="339"/>
                  </a:lnTo>
                  <a:lnTo>
                    <a:pt x="373" y="529"/>
                  </a:lnTo>
                  <a:lnTo>
                    <a:pt x="247" y="747"/>
                  </a:lnTo>
                  <a:lnTo>
                    <a:pt x="240" y="1078"/>
                  </a:lnTo>
                  <a:lnTo>
                    <a:pt x="232" y="1796"/>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4" name="Freeform 110"/>
            <p:cNvSpPr>
              <a:spLocks/>
            </p:cNvSpPr>
            <p:nvPr/>
          </p:nvSpPr>
          <p:spPr bwMode="auto">
            <a:xfrm>
              <a:off x="4560" y="3077"/>
              <a:ext cx="280" cy="335"/>
            </a:xfrm>
            <a:custGeom>
              <a:avLst/>
              <a:gdLst>
                <a:gd name="T0" fmla="*/ 6 w 1555"/>
                <a:gd name="T1" fmla="*/ 59 h 1859"/>
                <a:gd name="T2" fmla="*/ 6 w 1555"/>
                <a:gd name="T3" fmla="*/ 25 h 1859"/>
                <a:gd name="T4" fmla="*/ 9 w 1555"/>
                <a:gd name="T5" fmla="*/ 17 h 1859"/>
                <a:gd name="T6" fmla="*/ 14 w 1555"/>
                <a:gd name="T7" fmla="*/ 12 h 1859"/>
                <a:gd name="T8" fmla="*/ 20 w 1555"/>
                <a:gd name="T9" fmla="*/ 7 h 1859"/>
                <a:gd name="T10" fmla="*/ 27 w 1555"/>
                <a:gd name="T11" fmla="*/ 5 h 1859"/>
                <a:gd name="T12" fmla="*/ 34 w 1555"/>
                <a:gd name="T13" fmla="*/ 3 h 1859"/>
                <a:gd name="T14" fmla="*/ 39 w 1555"/>
                <a:gd name="T15" fmla="*/ 4 h 1859"/>
                <a:gd name="T16" fmla="*/ 50 w 1555"/>
                <a:gd name="T17" fmla="*/ 7 h 1859"/>
                <a:gd name="T18" fmla="*/ 43 w 1555"/>
                <a:gd name="T19" fmla="*/ 2 h 1859"/>
                <a:gd name="T20" fmla="*/ 28 w 1555"/>
                <a:gd name="T21" fmla="*/ 0 h 1859"/>
                <a:gd name="T22" fmla="*/ 12 w 1555"/>
                <a:gd name="T23" fmla="*/ 6 h 1859"/>
                <a:gd name="T24" fmla="*/ 6 w 1555"/>
                <a:gd name="T25" fmla="*/ 16 h 1859"/>
                <a:gd name="T26" fmla="*/ 1 w 1555"/>
                <a:gd name="T27" fmla="*/ 24 h 1859"/>
                <a:gd name="T28" fmla="*/ 0 w 1555"/>
                <a:gd name="T29" fmla="*/ 60 h 1859"/>
                <a:gd name="T30" fmla="*/ 6 w 1555"/>
                <a:gd name="T31" fmla="*/ 59 h 1859"/>
                <a:gd name="T32" fmla="*/ 6 w 1555"/>
                <a:gd name="T33" fmla="*/ 59 h 18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5"/>
                <a:gd name="T52" fmla="*/ 0 h 1859"/>
                <a:gd name="T53" fmla="*/ 1555 w 1555"/>
                <a:gd name="T54" fmla="*/ 1859 h 18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5" h="1859">
                  <a:moveTo>
                    <a:pt x="182" y="1802"/>
                  </a:moveTo>
                  <a:lnTo>
                    <a:pt x="197" y="753"/>
                  </a:lnTo>
                  <a:lnTo>
                    <a:pt x="289" y="513"/>
                  </a:lnTo>
                  <a:lnTo>
                    <a:pt x="437" y="358"/>
                  </a:lnTo>
                  <a:lnTo>
                    <a:pt x="619" y="224"/>
                  </a:lnTo>
                  <a:lnTo>
                    <a:pt x="836" y="147"/>
                  </a:lnTo>
                  <a:lnTo>
                    <a:pt x="1047" y="105"/>
                  </a:lnTo>
                  <a:lnTo>
                    <a:pt x="1211" y="118"/>
                  </a:lnTo>
                  <a:lnTo>
                    <a:pt x="1555" y="204"/>
                  </a:lnTo>
                  <a:lnTo>
                    <a:pt x="1329" y="55"/>
                  </a:lnTo>
                  <a:lnTo>
                    <a:pt x="872" y="0"/>
                  </a:lnTo>
                  <a:lnTo>
                    <a:pt x="380" y="196"/>
                  </a:lnTo>
                  <a:lnTo>
                    <a:pt x="182" y="500"/>
                  </a:lnTo>
                  <a:lnTo>
                    <a:pt x="36" y="745"/>
                  </a:lnTo>
                  <a:lnTo>
                    <a:pt x="0" y="1859"/>
                  </a:lnTo>
                  <a:lnTo>
                    <a:pt x="182" y="1802"/>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5" name="Freeform 111"/>
            <p:cNvSpPr>
              <a:spLocks/>
            </p:cNvSpPr>
            <p:nvPr/>
          </p:nvSpPr>
          <p:spPr bwMode="auto">
            <a:xfrm>
              <a:off x="4810" y="3100"/>
              <a:ext cx="112" cy="318"/>
            </a:xfrm>
            <a:custGeom>
              <a:avLst/>
              <a:gdLst>
                <a:gd name="T0" fmla="*/ 0 w 620"/>
                <a:gd name="T1" fmla="*/ 0 h 1767"/>
                <a:gd name="T2" fmla="*/ 9 w 620"/>
                <a:gd name="T3" fmla="*/ 10 h 1767"/>
                <a:gd name="T4" fmla="*/ 15 w 620"/>
                <a:gd name="T5" fmla="*/ 21 h 1767"/>
                <a:gd name="T6" fmla="*/ 15 w 620"/>
                <a:gd name="T7" fmla="*/ 39 h 1767"/>
                <a:gd name="T8" fmla="*/ 15 w 620"/>
                <a:gd name="T9" fmla="*/ 57 h 1767"/>
                <a:gd name="T10" fmla="*/ 20 w 620"/>
                <a:gd name="T11" fmla="*/ 56 h 1767"/>
                <a:gd name="T12" fmla="*/ 20 w 620"/>
                <a:gd name="T13" fmla="*/ 21 h 1767"/>
                <a:gd name="T14" fmla="*/ 12 w 620"/>
                <a:gd name="T15" fmla="*/ 5 h 1767"/>
                <a:gd name="T16" fmla="*/ 0 w 620"/>
                <a:gd name="T17" fmla="*/ 0 h 1767"/>
                <a:gd name="T18" fmla="*/ 0 w 620"/>
                <a:gd name="T19" fmla="*/ 0 h 17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0"/>
                <a:gd name="T31" fmla="*/ 0 h 1767"/>
                <a:gd name="T32" fmla="*/ 620 w 620"/>
                <a:gd name="T33" fmla="*/ 1767 h 17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0" h="1767">
                  <a:moveTo>
                    <a:pt x="0" y="0"/>
                  </a:moveTo>
                  <a:lnTo>
                    <a:pt x="289" y="296"/>
                  </a:lnTo>
                  <a:lnTo>
                    <a:pt x="451" y="634"/>
                  </a:lnTo>
                  <a:lnTo>
                    <a:pt x="464" y="1189"/>
                  </a:lnTo>
                  <a:lnTo>
                    <a:pt x="464" y="1767"/>
                  </a:lnTo>
                  <a:lnTo>
                    <a:pt x="620" y="1739"/>
                  </a:lnTo>
                  <a:lnTo>
                    <a:pt x="612" y="640"/>
                  </a:lnTo>
                  <a:lnTo>
                    <a:pt x="380" y="169"/>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6" name="Freeform 112"/>
            <p:cNvSpPr>
              <a:spLocks/>
            </p:cNvSpPr>
            <p:nvPr/>
          </p:nvSpPr>
          <p:spPr bwMode="auto">
            <a:xfrm>
              <a:off x="4809" y="3098"/>
              <a:ext cx="91" cy="313"/>
            </a:xfrm>
            <a:custGeom>
              <a:avLst/>
              <a:gdLst>
                <a:gd name="T0" fmla="*/ 0 w 508"/>
                <a:gd name="T1" fmla="*/ 0 h 1733"/>
                <a:gd name="T2" fmla="*/ 7 w 508"/>
                <a:gd name="T3" fmla="*/ 13 h 1733"/>
                <a:gd name="T4" fmla="*/ 11 w 508"/>
                <a:gd name="T5" fmla="*/ 27 h 1733"/>
                <a:gd name="T6" fmla="*/ 11 w 508"/>
                <a:gd name="T7" fmla="*/ 56 h 1733"/>
                <a:gd name="T8" fmla="*/ 16 w 508"/>
                <a:gd name="T9" fmla="*/ 57 h 1733"/>
                <a:gd name="T10" fmla="*/ 16 w 508"/>
                <a:gd name="T11" fmla="*/ 24 h 1733"/>
                <a:gd name="T12" fmla="*/ 15 w 508"/>
                <a:gd name="T13" fmla="*/ 18 h 1733"/>
                <a:gd name="T14" fmla="*/ 11 w 508"/>
                <a:gd name="T15" fmla="*/ 13 h 1733"/>
                <a:gd name="T16" fmla="*/ 8 w 508"/>
                <a:gd name="T17" fmla="*/ 7 h 1733"/>
                <a:gd name="T18" fmla="*/ 0 w 508"/>
                <a:gd name="T19" fmla="*/ 0 h 1733"/>
                <a:gd name="T20" fmla="*/ 0 w 508"/>
                <a:gd name="T21" fmla="*/ 0 h 17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8"/>
                <a:gd name="T34" fmla="*/ 0 h 1733"/>
                <a:gd name="T35" fmla="*/ 508 w 508"/>
                <a:gd name="T36" fmla="*/ 1733 h 17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8" h="1733">
                  <a:moveTo>
                    <a:pt x="0" y="0"/>
                  </a:moveTo>
                  <a:lnTo>
                    <a:pt x="227" y="409"/>
                  </a:lnTo>
                  <a:lnTo>
                    <a:pt x="346" y="838"/>
                  </a:lnTo>
                  <a:lnTo>
                    <a:pt x="339" y="1726"/>
                  </a:lnTo>
                  <a:lnTo>
                    <a:pt x="508" y="1733"/>
                  </a:lnTo>
                  <a:lnTo>
                    <a:pt x="493" y="726"/>
                  </a:lnTo>
                  <a:lnTo>
                    <a:pt x="451" y="549"/>
                  </a:lnTo>
                  <a:lnTo>
                    <a:pt x="360" y="388"/>
                  </a:lnTo>
                  <a:lnTo>
                    <a:pt x="255" y="226"/>
                  </a:lnTo>
                  <a:lnTo>
                    <a:pt x="0" y="0"/>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7" name="Freeform 113"/>
            <p:cNvSpPr>
              <a:spLocks/>
            </p:cNvSpPr>
            <p:nvPr/>
          </p:nvSpPr>
          <p:spPr bwMode="auto">
            <a:xfrm>
              <a:off x="4529" y="3420"/>
              <a:ext cx="432" cy="395"/>
            </a:xfrm>
            <a:custGeom>
              <a:avLst/>
              <a:gdLst>
                <a:gd name="T0" fmla="*/ 0 w 2393"/>
                <a:gd name="T1" fmla="*/ 1 h 2189"/>
                <a:gd name="T2" fmla="*/ 1 w 2393"/>
                <a:gd name="T3" fmla="*/ 43 h 2189"/>
                <a:gd name="T4" fmla="*/ 14 w 2393"/>
                <a:gd name="T5" fmla="*/ 63 h 2189"/>
                <a:gd name="T6" fmla="*/ 39 w 2393"/>
                <a:gd name="T7" fmla="*/ 71 h 2189"/>
                <a:gd name="T8" fmla="*/ 60 w 2393"/>
                <a:gd name="T9" fmla="*/ 67 h 2189"/>
                <a:gd name="T10" fmla="*/ 74 w 2393"/>
                <a:gd name="T11" fmla="*/ 54 h 2189"/>
                <a:gd name="T12" fmla="*/ 78 w 2393"/>
                <a:gd name="T13" fmla="*/ 33 h 2189"/>
                <a:gd name="T14" fmla="*/ 77 w 2393"/>
                <a:gd name="T15" fmla="*/ 0 h 2189"/>
                <a:gd name="T16" fmla="*/ 0 w 2393"/>
                <a:gd name="T17" fmla="*/ 1 h 2189"/>
                <a:gd name="T18" fmla="*/ 0 w 2393"/>
                <a:gd name="T19" fmla="*/ 1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8" name="Freeform 114"/>
            <p:cNvSpPr>
              <a:spLocks/>
            </p:cNvSpPr>
            <p:nvPr/>
          </p:nvSpPr>
          <p:spPr bwMode="auto">
            <a:xfrm>
              <a:off x="4701" y="3541"/>
              <a:ext cx="96" cy="177"/>
            </a:xfrm>
            <a:custGeom>
              <a:avLst/>
              <a:gdLst>
                <a:gd name="T0" fmla="*/ 4 w 534"/>
                <a:gd name="T1" fmla="*/ 1 h 978"/>
                <a:gd name="T2" fmla="*/ 0 w 534"/>
                <a:gd name="T3" fmla="*/ 7 h 978"/>
                <a:gd name="T4" fmla="*/ 3 w 534"/>
                <a:gd name="T5" fmla="*/ 15 h 978"/>
                <a:gd name="T6" fmla="*/ 2 w 534"/>
                <a:gd name="T7" fmla="*/ 31 h 978"/>
                <a:gd name="T8" fmla="*/ 15 w 534"/>
                <a:gd name="T9" fmla="*/ 32 h 978"/>
                <a:gd name="T10" fmla="*/ 12 w 534"/>
                <a:gd name="T11" fmla="*/ 15 h 978"/>
                <a:gd name="T12" fmla="*/ 17 w 534"/>
                <a:gd name="T13" fmla="*/ 10 h 978"/>
                <a:gd name="T14" fmla="*/ 15 w 534"/>
                <a:gd name="T15" fmla="*/ 4 h 978"/>
                <a:gd name="T16" fmla="*/ 10 w 534"/>
                <a:gd name="T17" fmla="*/ 0 h 978"/>
                <a:gd name="T18" fmla="*/ 4 w 534"/>
                <a:gd name="T19" fmla="*/ 1 h 978"/>
                <a:gd name="T20" fmla="*/ 4 w 534"/>
                <a:gd name="T21" fmla="*/ 1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9" name="Freeform 115"/>
            <p:cNvSpPr>
              <a:spLocks/>
            </p:cNvSpPr>
            <p:nvPr/>
          </p:nvSpPr>
          <p:spPr bwMode="auto">
            <a:xfrm>
              <a:off x="4550" y="3266"/>
              <a:ext cx="29"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4620" name="Freeform 116"/>
            <p:cNvSpPr>
              <a:spLocks/>
            </p:cNvSpPr>
            <p:nvPr/>
          </p:nvSpPr>
          <p:spPr bwMode="auto">
            <a:xfrm>
              <a:off x="4607"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4621" name="Freeform 117"/>
            <p:cNvSpPr>
              <a:spLocks/>
            </p:cNvSpPr>
            <p:nvPr/>
          </p:nvSpPr>
          <p:spPr bwMode="auto">
            <a:xfrm>
              <a:off x="4914" y="3266"/>
              <a:ext cx="29" cy="175"/>
            </a:xfrm>
            <a:custGeom>
              <a:avLst/>
              <a:gdLst>
                <a:gd name="T0" fmla="*/ 0 w 166"/>
                <a:gd name="T1" fmla="*/ 0 h 972"/>
                <a:gd name="T2" fmla="*/ 0 w 166"/>
                <a:gd name="T3" fmla="*/ 32 h 972"/>
                <a:gd name="T4" fmla="*/ 5 w 166"/>
                <a:gd name="T5" fmla="*/ 32 h 972"/>
                <a:gd name="T6" fmla="*/ 5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24622" name="Freeform 118"/>
            <p:cNvSpPr>
              <a:spLocks/>
            </p:cNvSpPr>
            <p:nvPr/>
          </p:nvSpPr>
          <p:spPr bwMode="auto">
            <a:xfrm>
              <a:off x="4856"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4623" name="Freeform 119"/>
            <p:cNvSpPr>
              <a:spLocks/>
            </p:cNvSpPr>
            <p:nvPr/>
          </p:nvSpPr>
          <p:spPr bwMode="auto">
            <a:xfrm>
              <a:off x="4550" y="3064"/>
              <a:ext cx="393" cy="202"/>
            </a:xfrm>
            <a:custGeom>
              <a:avLst/>
              <a:gdLst>
                <a:gd name="T0" fmla="*/ 0 w 2183"/>
                <a:gd name="T1" fmla="*/ 31 h 1119"/>
                <a:gd name="T2" fmla="*/ 1 w 2183"/>
                <a:gd name="T3" fmla="*/ 26 h 1119"/>
                <a:gd name="T4" fmla="*/ 3 w 2183"/>
                <a:gd name="T5" fmla="*/ 22 h 1119"/>
                <a:gd name="T6" fmla="*/ 4 w 2183"/>
                <a:gd name="T7" fmla="*/ 20 h 1119"/>
                <a:gd name="T8" fmla="*/ 5 w 2183"/>
                <a:gd name="T9" fmla="*/ 18 h 1119"/>
                <a:gd name="T10" fmla="*/ 6 w 2183"/>
                <a:gd name="T11" fmla="*/ 16 h 1119"/>
                <a:gd name="T12" fmla="*/ 7 w 2183"/>
                <a:gd name="T13" fmla="*/ 14 h 1119"/>
                <a:gd name="T14" fmla="*/ 8 w 2183"/>
                <a:gd name="T15" fmla="*/ 13 h 1119"/>
                <a:gd name="T16" fmla="*/ 10 w 2183"/>
                <a:gd name="T17" fmla="*/ 11 h 1119"/>
                <a:gd name="T18" fmla="*/ 11 w 2183"/>
                <a:gd name="T19" fmla="*/ 10 h 1119"/>
                <a:gd name="T20" fmla="*/ 13 w 2183"/>
                <a:gd name="T21" fmla="*/ 8 h 1119"/>
                <a:gd name="T22" fmla="*/ 15 w 2183"/>
                <a:gd name="T23" fmla="*/ 7 h 1119"/>
                <a:gd name="T24" fmla="*/ 17 w 2183"/>
                <a:gd name="T25" fmla="*/ 5 h 1119"/>
                <a:gd name="T26" fmla="*/ 21 w 2183"/>
                <a:gd name="T27" fmla="*/ 3 h 1119"/>
                <a:gd name="T28" fmla="*/ 25 w 2183"/>
                <a:gd name="T29" fmla="*/ 2 h 1119"/>
                <a:gd name="T30" fmla="*/ 33 w 2183"/>
                <a:gd name="T31" fmla="*/ 0 h 1119"/>
                <a:gd name="T32" fmla="*/ 47 w 2183"/>
                <a:gd name="T33" fmla="*/ 2 h 1119"/>
                <a:gd name="T34" fmla="*/ 51 w 2183"/>
                <a:gd name="T35" fmla="*/ 3 h 1119"/>
                <a:gd name="T36" fmla="*/ 54 w 2183"/>
                <a:gd name="T37" fmla="*/ 6 h 1119"/>
                <a:gd name="T38" fmla="*/ 57 w 2183"/>
                <a:gd name="T39" fmla="*/ 8 h 1119"/>
                <a:gd name="T40" fmla="*/ 59 w 2183"/>
                <a:gd name="T41" fmla="*/ 9 h 1119"/>
                <a:gd name="T42" fmla="*/ 61 w 2183"/>
                <a:gd name="T43" fmla="*/ 11 h 1119"/>
                <a:gd name="T44" fmla="*/ 62 w 2183"/>
                <a:gd name="T45" fmla="*/ 12 h 1119"/>
                <a:gd name="T46" fmla="*/ 63 w 2183"/>
                <a:gd name="T47" fmla="*/ 14 h 1119"/>
                <a:gd name="T48" fmla="*/ 65 w 2183"/>
                <a:gd name="T49" fmla="*/ 16 h 1119"/>
                <a:gd name="T50" fmla="*/ 66 w 2183"/>
                <a:gd name="T51" fmla="*/ 18 h 1119"/>
                <a:gd name="T52" fmla="*/ 67 w 2183"/>
                <a:gd name="T53" fmla="*/ 19 h 1119"/>
                <a:gd name="T54" fmla="*/ 68 w 2183"/>
                <a:gd name="T55" fmla="*/ 21 h 1119"/>
                <a:gd name="T56" fmla="*/ 69 w 2183"/>
                <a:gd name="T57" fmla="*/ 25 h 1119"/>
                <a:gd name="T58" fmla="*/ 70 w 2183"/>
                <a:gd name="T59" fmla="*/ 29 h 1119"/>
                <a:gd name="T60" fmla="*/ 65 w 2183"/>
                <a:gd name="T61" fmla="*/ 33 h 1119"/>
                <a:gd name="T62" fmla="*/ 64 w 2183"/>
                <a:gd name="T63" fmla="*/ 27 h 1119"/>
                <a:gd name="T64" fmla="*/ 63 w 2183"/>
                <a:gd name="T65" fmla="*/ 23 h 1119"/>
                <a:gd name="T66" fmla="*/ 62 w 2183"/>
                <a:gd name="T67" fmla="*/ 21 h 1119"/>
                <a:gd name="T68" fmla="*/ 61 w 2183"/>
                <a:gd name="T69" fmla="*/ 20 h 1119"/>
                <a:gd name="T70" fmla="*/ 60 w 2183"/>
                <a:gd name="T71" fmla="*/ 18 h 1119"/>
                <a:gd name="T72" fmla="*/ 59 w 2183"/>
                <a:gd name="T73" fmla="*/ 17 h 1119"/>
                <a:gd name="T74" fmla="*/ 58 w 2183"/>
                <a:gd name="T75" fmla="*/ 16 h 1119"/>
                <a:gd name="T76" fmla="*/ 57 w 2183"/>
                <a:gd name="T77" fmla="*/ 14 h 1119"/>
                <a:gd name="T78" fmla="*/ 55 w 2183"/>
                <a:gd name="T79" fmla="*/ 12 h 1119"/>
                <a:gd name="T80" fmla="*/ 52 w 2183"/>
                <a:gd name="T81" fmla="*/ 10 h 1119"/>
                <a:gd name="T82" fmla="*/ 49 w 2183"/>
                <a:gd name="T83" fmla="*/ 8 h 1119"/>
                <a:gd name="T84" fmla="*/ 46 w 2183"/>
                <a:gd name="T85" fmla="*/ 7 h 1119"/>
                <a:gd name="T86" fmla="*/ 40 w 2183"/>
                <a:gd name="T87" fmla="*/ 5 h 1119"/>
                <a:gd name="T88" fmla="*/ 26 w 2183"/>
                <a:gd name="T89" fmla="*/ 6 h 1119"/>
                <a:gd name="T90" fmla="*/ 22 w 2183"/>
                <a:gd name="T91" fmla="*/ 8 h 1119"/>
                <a:gd name="T92" fmla="*/ 19 w 2183"/>
                <a:gd name="T93" fmla="*/ 10 h 1119"/>
                <a:gd name="T94" fmla="*/ 16 w 2183"/>
                <a:gd name="T95" fmla="*/ 12 h 1119"/>
                <a:gd name="T96" fmla="*/ 14 w 2183"/>
                <a:gd name="T97" fmla="*/ 14 h 1119"/>
                <a:gd name="T98" fmla="*/ 13 w 2183"/>
                <a:gd name="T99" fmla="*/ 15 h 1119"/>
                <a:gd name="T100" fmla="*/ 12 w 2183"/>
                <a:gd name="T101" fmla="*/ 17 h 1119"/>
                <a:gd name="T102" fmla="*/ 10 w 2183"/>
                <a:gd name="T103" fmla="*/ 19 h 1119"/>
                <a:gd name="T104" fmla="*/ 9 w 2183"/>
                <a:gd name="T105" fmla="*/ 20 h 1119"/>
                <a:gd name="T106" fmla="*/ 8 w 2183"/>
                <a:gd name="T107" fmla="*/ 22 h 1119"/>
                <a:gd name="T108" fmla="*/ 7 w 2183"/>
                <a:gd name="T109" fmla="*/ 25 h 1119"/>
                <a:gd name="T110" fmla="*/ 5 w 2183"/>
                <a:gd name="T111" fmla="*/ 35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24624" name="Freeform 120"/>
            <p:cNvSpPr>
              <a:spLocks/>
            </p:cNvSpPr>
            <p:nvPr/>
          </p:nvSpPr>
          <p:spPr bwMode="auto">
            <a:xfrm>
              <a:off x="4607" y="3116"/>
              <a:ext cx="278" cy="150"/>
            </a:xfrm>
            <a:custGeom>
              <a:avLst/>
              <a:gdLst>
                <a:gd name="T0" fmla="*/ 50 w 1540"/>
                <a:gd name="T1" fmla="*/ 22 h 830"/>
                <a:gd name="T2" fmla="*/ 49 w 1540"/>
                <a:gd name="T3" fmla="*/ 18 h 830"/>
                <a:gd name="T4" fmla="*/ 48 w 1540"/>
                <a:gd name="T5" fmla="*/ 15 h 830"/>
                <a:gd name="T6" fmla="*/ 48 w 1540"/>
                <a:gd name="T7" fmla="*/ 14 h 830"/>
                <a:gd name="T8" fmla="*/ 47 w 1540"/>
                <a:gd name="T9" fmla="*/ 13 h 830"/>
                <a:gd name="T10" fmla="*/ 47 w 1540"/>
                <a:gd name="T11" fmla="*/ 12 h 830"/>
                <a:gd name="T12" fmla="*/ 46 w 1540"/>
                <a:gd name="T13" fmla="*/ 12 h 830"/>
                <a:gd name="T14" fmla="*/ 46 w 1540"/>
                <a:gd name="T15" fmla="*/ 11 h 830"/>
                <a:gd name="T16" fmla="*/ 45 w 1540"/>
                <a:gd name="T17" fmla="*/ 9 h 830"/>
                <a:gd name="T18" fmla="*/ 43 w 1540"/>
                <a:gd name="T19" fmla="*/ 8 h 830"/>
                <a:gd name="T20" fmla="*/ 42 w 1540"/>
                <a:gd name="T21" fmla="*/ 7 h 830"/>
                <a:gd name="T22" fmla="*/ 41 w 1540"/>
                <a:gd name="T23" fmla="*/ 5 h 830"/>
                <a:gd name="T24" fmla="*/ 39 w 1540"/>
                <a:gd name="T25" fmla="*/ 4 h 830"/>
                <a:gd name="T26" fmla="*/ 38 w 1540"/>
                <a:gd name="T27" fmla="*/ 3 h 830"/>
                <a:gd name="T28" fmla="*/ 36 w 1540"/>
                <a:gd name="T29" fmla="*/ 3 h 830"/>
                <a:gd name="T30" fmla="*/ 34 w 1540"/>
                <a:gd name="T31" fmla="*/ 2 h 830"/>
                <a:gd name="T32" fmla="*/ 31 w 1540"/>
                <a:gd name="T33" fmla="*/ 1 h 830"/>
                <a:gd name="T34" fmla="*/ 24 w 1540"/>
                <a:gd name="T35" fmla="*/ 0 h 830"/>
                <a:gd name="T36" fmla="*/ 18 w 1540"/>
                <a:gd name="T37" fmla="*/ 1 h 830"/>
                <a:gd name="T38" fmla="*/ 15 w 1540"/>
                <a:gd name="T39" fmla="*/ 2 h 830"/>
                <a:gd name="T40" fmla="*/ 13 w 1540"/>
                <a:gd name="T41" fmla="*/ 3 h 830"/>
                <a:gd name="T42" fmla="*/ 11 w 1540"/>
                <a:gd name="T43" fmla="*/ 4 h 830"/>
                <a:gd name="T44" fmla="*/ 10 w 1540"/>
                <a:gd name="T45" fmla="*/ 5 h 830"/>
                <a:gd name="T46" fmla="*/ 8 w 1540"/>
                <a:gd name="T47" fmla="*/ 7 h 830"/>
                <a:gd name="T48" fmla="*/ 7 w 1540"/>
                <a:gd name="T49" fmla="*/ 8 h 830"/>
                <a:gd name="T50" fmla="*/ 6 w 1540"/>
                <a:gd name="T51" fmla="*/ 9 h 830"/>
                <a:gd name="T52" fmla="*/ 5 w 1540"/>
                <a:gd name="T53" fmla="*/ 10 h 830"/>
                <a:gd name="T54" fmla="*/ 4 w 1540"/>
                <a:gd name="T55" fmla="*/ 12 h 830"/>
                <a:gd name="T56" fmla="*/ 3 w 1540"/>
                <a:gd name="T57" fmla="*/ 13 h 830"/>
                <a:gd name="T58" fmla="*/ 3 w 1540"/>
                <a:gd name="T59" fmla="*/ 14 h 830"/>
                <a:gd name="T60" fmla="*/ 2 w 1540"/>
                <a:gd name="T61" fmla="*/ 14 h 830"/>
                <a:gd name="T62" fmla="*/ 1 w 1540"/>
                <a:gd name="T63" fmla="*/ 17 h 830"/>
                <a:gd name="T64" fmla="*/ 0 w 1540"/>
                <a:gd name="T65" fmla="*/ 21 h 830"/>
                <a:gd name="T66" fmla="*/ 0 w 1540"/>
                <a:gd name="T67" fmla="*/ 27 h 830"/>
                <a:gd name="T68" fmla="*/ 5 w 1540"/>
                <a:gd name="T69" fmla="*/ 23 h 830"/>
                <a:gd name="T70" fmla="*/ 6 w 1540"/>
                <a:gd name="T71" fmla="*/ 20 h 830"/>
                <a:gd name="T72" fmla="*/ 7 w 1540"/>
                <a:gd name="T73" fmla="*/ 17 h 830"/>
                <a:gd name="T74" fmla="*/ 8 w 1540"/>
                <a:gd name="T75" fmla="*/ 16 h 830"/>
                <a:gd name="T76" fmla="*/ 8 w 1540"/>
                <a:gd name="T77" fmla="*/ 14 h 830"/>
                <a:gd name="T78" fmla="*/ 9 w 1540"/>
                <a:gd name="T79" fmla="*/ 13 h 830"/>
                <a:gd name="T80" fmla="*/ 10 w 1540"/>
                <a:gd name="T81" fmla="*/ 12 h 830"/>
                <a:gd name="T82" fmla="*/ 11 w 1540"/>
                <a:gd name="T83" fmla="*/ 11 h 830"/>
                <a:gd name="T84" fmla="*/ 12 w 1540"/>
                <a:gd name="T85" fmla="*/ 10 h 830"/>
                <a:gd name="T86" fmla="*/ 13 w 1540"/>
                <a:gd name="T87" fmla="*/ 9 h 830"/>
                <a:gd name="T88" fmla="*/ 14 w 1540"/>
                <a:gd name="T89" fmla="*/ 8 h 830"/>
                <a:gd name="T90" fmla="*/ 16 w 1540"/>
                <a:gd name="T91" fmla="*/ 7 h 830"/>
                <a:gd name="T92" fmla="*/ 19 w 1540"/>
                <a:gd name="T93" fmla="*/ 6 h 830"/>
                <a:gd name="T94" fmla="*/ 21 w 1540"/>
                <a:gd name="T95" fmla="*/ 5 h 830"/>
                <a:gd name="T96" fmla="*/ 31 w 1540"/>
                <a:gd name="T97" fmla="*/ 6 h 830"/>
                <a:gd name="T98" fmla="*/ 34 w 1540"/>
                <a:gd name="T99" fmla="*/ 7 h 830"/>
                <a:gd name="T100" fmla="*/ 36 w 1540"/>
                <a:gd name="T101" fmla="*/ 8 h 830"/>
                <a:gd name="T102" fmla="*/ 37 w 1540"/>
                <a:gd name="T103" fmla="*/ 9 h 830"/>
                <a:gd name="T104" fmla="*/ 38 w 1540"/>
                <a:gd name="T105" fmla="*/ 10 h 830"/>
                <a:gd name="T106" fmla="*/ 39 w 1540"/>
                <a:gd name="T107" fmla="*/ 11 h 830"/>
                <a:gd name="T108" fmla="*/ 40 w 1540"/>
                <a:gd name="T109" fmla="*/ 12 h 830"/>
                <a:gd name="T110" fmla="*/ 41 w 1540"/>
                <a:gd name="T111" fmla="*/ 13 h 830"/>
                <a:gd name="T112" fmla="*/ 42 w 1540"/>
                <a:gd name="T113" fmla="*/ 14 h 830"/>
                <a:gd name="T114" fmla="*/ 43 w 1540"/>
                <a:gd name="T115" fmla="*/ 16 h 830"/>
                <a:gd name="T116" fmla="*/ 44 w 1540"/>
                <a:gd name="T117" fmla="*/ 17 h 830"/>
                <a:gd name="T118" fmla="*/ 45 w 1540"/>
                <a:gd name="T119" fmla="*/ 23 h 830"/>
                <a:gd name="T120" fmla="*/ 50 w 1540"/>
                <a:gd name="T121" fmla="*/ 27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sp>
          <p:nvSpPr>
            <p:cNvPr id="24625" name="Freeform 121"/>
            <p:cNvSpPr>
              <a:spLocks/>
            </p:cNvSpPr>
            <p:nvPr/>
          </p:nvSpPr>
          <p:spPr bwMode="auto">
            <a:xfrm>
              <a:off x="4506" y="3398"/>
              <a:ext cx="481" cy="198"/>
            </a:xfrm>
            <a:custGeom>
              <a:avLst/>
              <a:gdLst>
                <a:gd name="T0" fmla="*/ 0 w 2668"/>
                <a:gd name="T1" fmla="*/ 36 h 1093"/>
                <a:gd name="T2" fmla="*/ 0 w 2668"/>
                <a:gd name="T3" fmla="*/ 0 h 1093"/>
                <a:gd name="T4" fmla="*/ 87 w 2668"/>
                <a:gd name="T5" fmla="*/ 0 h 1093"/>
                <a:gd name="T6" fmla="*/ 87 w 2668"/>
                <a:gd name="T7" fmla="*/ 36 h 1093"/>
                <a:gd name="T8" fmla="*/ 79 w 2668"/>
                <a:gd name="T9" fmla="*/ 36 h 1093"/>
                <a:gd name="T10" fmla="*/ 79 w 2668"/>
                <a:gd name="T11" fmla="*/ 8 h 1093"/>
                <a:gd name="T12" fmla="*/ 8 w 2668"/>
                <a:gd name="T13" fmla="*/ 8 h 1093"/>
                <a:gd name="T14" fmla="*/ 8 w 2668"/>
                <a:gd name="T15" fmla="*/ 36 h 1093"/>
                <a:gd name="T16" fmla="*/ 0 w 2668"/>
                <a:gd name="T17" fmla="*/ 36 h 1093"/>
                <a:gd name="T18" fmla="*/ 0 w 2668"/>
                <a:gd name="T19" fmla="*/ 36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24626" name="Freeform 122"/>
            <p:cNvSpPr>
              <a:spLocks/>
            </p:cNvSpPr>
            <p:nvPr/>
          </p:nvSpPr>
          <p:spPr bwMode="auto">
            <a:xfrm>
              <a:off x="4506" y="3596"/>
              <a:ext cx="481" cy="240"/>
            </a:xfrm>
            <a:custGeom>
              <a:avLst/>
              <a:gdLst>
                <a:gd name="T0" fmla="*/ 86 w 2668"/>
                <a:gd name="T1" fmla="*/ 9 h 1334"/>
                <a:gd name="T2" fmla="*/ 84 w 2668"/>
                <a:gd name="T3" fmla="*/ 14 h 1334"/>
                <a:gd name="T4" fmla="*/ 83 w 2668"/>
                <a:gd name="T5" fmla="*/ 18 h 1334"/>
                <a:gd name="T6" fmla="*/ 82 w 2668"/>
                <a:gd name="T7" fmla="*/ 20 h 1334"/>
                <a:gd name="T8" fmla="*/ 80 w 2668"/>
                <a:gd name="T9" fmla="*/ 22 h 1334"/>
                <a:gd name="T10" fmla="*/ 79 w 2668"/>
                <a:gd name="T11" fmla="*/ 24 h 1334"/>
                <a:gd name="T12" fmla="*/ 78 w 2668"/>
                <a:gd name="T13" fmla="*/ 27 h 1334"/>
                <a:gd name="T14" fmla="*/ 76 w 2668"/>
                <a:gd name="T15" fmla="*/ 29 h 1334"/>
                <a:gd name="T16" fmla="*/ 74 w 2668"/>
                <a:gd name="T17" fmla="*/ 30 h 1334"/>
                <a:gd name="T18" fmla="*/ 72 w 2668"/>
                <a:gd name="T19" fmla="*/ 32 h 1334"/>
                <a:gd name="T20" fmla="*/ 70 w 2668"/>
                <a:gd name="T21" fmla="*/ 34 h 1334"/>
                <a:gd name="T22" fmla="*/ 68 w 2668"/>
                <a:gd name="T23" fmla="*/ 35 h 1334"/>
                <a:gd name="T24" fmla="*/ 66 w 2668"/>
                <a:gd name="T25" fmla="*/ 37 h 1334"/>
                <a:gd name="T26" fmla="*/ 63 w 2668"/>
                <a:gd name="T27" fmla="*/ 38 h 1334"/>
                <a:gd name="T28" fmla="*/ 59 w 2668"/>
                <a:gd name="T29" fmla="*/ 40 h 1334"/>
                <a:gd name="T30" fmla="*/ 54 w 2668"/>
                <a:gd name="T31" fmla="*/ 42 h 1334"/>
                <a:gd name="T32" fmla="*/ 43 w 2668"/>
                <a:gd name="T33" fmla="*/ 43 h 1334"/>
                <a:gd name="T34" fmla="*/ 30 w 2668"/>
                <a:gd name="T35" fmla="*/ 41 h 1334"/>
                <a:gd name="T36" fmla="*/ 26 w 2668"/>
                <a:gd name="T37" fmla="*/ 39 h 1334"/>
                <a:gd name="T38" fmla="*/ 22 w 2668"/>
                <a:gd name="T39" fmla="*/ 37 h 1334"/>
                <a:gd name="T40" fmla="*/ 19 w 2668"/>
                <a:gd name="T41" fmla="*/ 36 h 1334"/>
                <a:gd name="T42" fmla="*/ 17 w 2668"/>
                <a:gd name="T43" fmla="*/ 35 h 1334"/>
                <a:gd name="T44" fmla="*/ 15 w 2668"/>
                <a:gd name="T45" fmla="*/ 33 h 1334"/>
                <a:gd name="T46" fmla="*/ 14 w 2668"/>
                <a:gd name="T47" fmla="*/ 31 h 1334"/>
                <a:gd name="T48" fmla="*/ 12 w 2668"/>
                <a:gd name="T49" fmla="*/ 30 h 1334"/>
                <a:gd name="T50" fmla="*/ 10 w 2668"/>
                <a:gd name="T51" fmla="*/ 28 h 1334"/>
                <a:gd name="T52" fmla="*/ 8 w 2668"/>
                <a:gd name="T53" fmla="*/ 26 h 1334"/>
                <a:gd name="T54" fmla="*/ 7 w 2668"/>
                <a:gd name="T55" fmla="*/ 23 h 1334"/>
                <a:gd name="T56" fmla="*/ 5 w 2668"/>
                <a:gd name="T57" fmla="*/ 21 h 1334"/>
                <a:gd name="T58" fmla="*/ 4 w 2668"/>
                <a:gd name="T59" fmla="*/ 19 h 1334"/>
                <a:gd name="T60" fmla="*/ 3 w 2668"/>
                <a:gd name="T61" fmla="*/ 16 h 1334"/>
                <a:gd name="T62" fmla="*/ 1 w 2668"/>
                <a:gd name="T63" fmla="*/ 11 h 1334"/>
                <a:gd name="T64" fmla="*/ 0 w 2668"/>
                <a:gd name="T65" fmla="*/ 0 h 1334"/>
                <a:gd name="T66" fmla="*/ 9 w 2668"/>
                <a:gd name="T67" fmla="*/ 8 h 1334"/>
                <a:gd name="T68" fmla="*/ 10 w 2668"/>
                <a:gd name="T69" fmla="*/ 12 h 1334"/>
                <a:gd name="T70" fmla="*/ 11 w 2668"/>
                <a:gd name="T71" fmla="*/ 15 h 1334"/>
                <a:gd name="T72" fmla="*/ 12 w 2668"/>
                <a:gd name="T73" fmla="*/ 17 h 1334"/>
                <a:gd name="T74" fmla="*/ 13 w 2668"/>
                <a:gd name="T75" fmla="*/ 19 h 1334"/>
                <a:gd name="T76" fmla="*/ 14 w 2668"/>
                <a:gd name="T77" fmla="*/ 21 h 1334"/>
                <a:gd name="T78" fmla="*/ 16 w 2668"/>
                <a:gd name="T79" fmla="*/ 22 h 1334"/>
                <a:gd name="T80" fmla="*/ 17 w 2668"/>
                <a:gd name="T81" fmla="*/ 24 h 1334"/>
                <a:gd name="T82" fmla="*/ 19 w 2668"/>
                <a:gd name="T83" fmla="*/ 25 h 1334"/>
                <a:gd name="T84" fmla="*/ 20 w 2668"/>
                <a:gd name="T85" fmla="*/ 27 h 1334"/>
                <a:gd name="T86" fmla="*/ 22 w 2668"/>
                <a:gd name="T87" fmla="*/ 28 h 1334"/>
                <a:gd name="T88" fmla="*/ 24 w 2668"/>
                <a:gd name="T89" fmla="*/ 29 h 1334"/>
                <a:gd name="T90" fmla="*/ 27 w 2668"/>
                <a:gd name="T91" fmla="*/ 31 h 1334"/>
                <a:gd name="T92" fmla="*/ 31 w 2668"/>
                <a:gd name="T93" fmla="*/ 33 h 1334"/>
                <a:gd name="T94" fmla="*/ 36 w 2668"/>
                <a:gd name="T95" fmla="*/ 35 h 1334"/>
                <a:gd name="T96" fmla="*/ 50 w 2668"/>
                <a:gd name="T97" fmla="*/ 35 h 1334"/>
                <a:gd name="T98" fmla="*/ 56 w 2668"/>
                <a:gd name="T99" fmla="*/ 33 h 1334"/>
                <a:gd name="T100" fmla="*/ 60 w 2668"/>
                <a:gd name="T101" fmla="*/ 31 h 1334"/>
                <a:gd name="T102" fmla="*/ 64 w 2668"/>
                <a:gd name="T103" fmla="*/ 29 h 1334"/>
                <a:gd name="T104" fmla="*/ 66 w 2668"/>
                <a:gd name="T105" fmla="*/ 27 h 1334"/>
                <a:gd name="T106" fmla="*/ 67 w 2668"/>
                <a:gd name="T107" fmla="*/ 26 h 1334"/>
                <a:gd name="T108" fmla="*/ 69 w 2668"/>
                <a:gd name="T109" fmla="*/ 24 h 1334"/>
                <a:gd name="T110" fmla="*/ 70 w 2668"/>
                <a:gd name="T111" fmla="*/ 23 h 1334"/>
                <a:gd name="T112" fmla="*/ 72 w 2668"/>
                <a:gd name="T113" fmla="*/ 21 h 1334"/>
                <a:gd name="T114" fmla="*/ 73 w 2668"/>
                <a:gd name="T115" fmla="*/ 19 h 1334"/>
                <a:gd name="T116" fmla="*/ 74 w 2668"/>
                <a:gd name="T117" fmla="*/ 18 h 1334"/>
                <a:gd name="T118" fmla="*/ 75 w 2668"/>
                <a:gd name="T119" fmla="*/ 16 h 1334"/>
                <a:gd name="T120" fmla="*/ 76 w 2668"/>
                <a:gd name="T121" fmla="*/ 14 h 1334"/>
                <a:gd name="T122" fmla="*/ 78 w 2668"/>
                <a:gd name="T123" fmla="*/ 10 h 1334"/>
                <a:gd name="T124" fmla="*/ 79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24627" name="Freeform 123"/>
            <p:cNvSpPr>
              <a:spLocks/>
            </p:cNvSpPr>
            <p:nvPr/>
          </p:nvSpPr>
          <p:spPr bwMode="auto">
            <a:xfrm>
              <a:off x="4697" y="3617"/>
              <a:ext cx="95" cy="109"/>
            </a:xfrm>
            <a:custGeom>
              <a:avLst/>
              <a:gdLst>
                <a:gd name="T0" fmla="*/ 0 w 529"/>
                <a:gd name="T1" fmla="*/ 20 h 606"/>
                <a:gd name="T2" fmla="*/ 17 w 529"/>
                <a:gd name="T3" fmla="*/ 20 h 606"/>
                <a:gd name="T4" fmla="*/ 15 w 529"/>
                <a:gd name="T5" fmla="*/ 2 h 606"/>
                <a:gd name="T6" fmla="*/ 11 w 529"/>
                <a:gd name="T7" fmla="*/ 0 h 606"/>
                <a:gd name="T8" fmla="*/ 13 w 529"/>
                <a:gd name="T9" fmla="*/ 16 h 606"/>
                <a:gd name="T10" fmla="*/ 5 w 529"/>
                <a:gd name="T11" fmla="*/ 16 h 606"/>
                <a:gd name="T12" fmla="*/ 7 w 529"/>
                <a:gd name="T13" fmla="*/ 0 h 606"/>
                <a:gd name="T14" fmla="*/ 3 w 529"/>
                <a:gd name="T15" fmla="*/ 2 h 606"/>
                <a:gd name="T16" fmla="*/ 0 w 529"/>
                <a:gd name="T17" fmla="*/ 20 h 606"/>
                <a:gd name="T18" fmla="*/ 0 w 529"/>
                <a:gd name="T19" fmla="*/ 2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24628" name="Freeform 124"/>
            <p:cNvSpPr>
              <a:spLocks/>
            </p:cNvSpPr>
            <p:nvPr/>
          </p:nvSpPr>
          <p:spPr bwMode="auto">
            <a:xfrm>
              <a:off x="4693" y="3529"/>
              <a:ext cx="110" cy="100"/>
            </a:xfrm>
            <a:custGeom>
              <a:avLst/>
              <a:gdLst>
                <a:gd name="T0" fmla="*/ 13 w 613"/>
                <a:gd name="T1" fmla="*/ 15 h 551"/>
                <a:gd name="T2" fmla="*/ 14 w 613"/>
                <a:gd name="T3" fmla="*/ 15 h 551"/>
                <a:gd name="T4" fmla="*/ 15 w 613"/>
                <a:gd name="T5" fmla="*/ 14 h 551"/>
                <a:gd name="T6" fmla="*/ 15 w 613"/>
                <a:gd name="T7" fmla="*/ 13 h 551"/>
                <a:gd name="T8" fmla="*/ 16 w 613"/>
                <a:gd name="T9" fmla="*/ 10 h 551"/>
                <a:gd name="T10" fmla="*/ 16 w 613"/>
                <a:gd name="T11" fmla="*/ 8 h 551"/>
                <a:gd name="T12" fmla="*/ 15 w 613"/>
                <a:gd name="T13" fmla="*/ 7 h 551"/>
                <a:gd name="T14" fmla="*/ 15 w 613"/>
                <a:gd name="T15" fmla="*/ 7 h 551"/>
                <a:gd name="T16" fmla="*/ 15 w 613"/>
                <a:gd name="T17" fmla="*/ 6 h 551"/>
                <a:gd name="T18" fmla="*/ 14 w 613"/>
                <a:gd name="T19" fmla="*/ 5 h 551"/>
                <a:gd name="T20" fmla="*/ 13 w 613"/>
                <a:gd name="T21" fmla="*/ 5 h 551"/>
                <a:gd name="T22" fmla="*/ 11 w 613"/>
                <a:gd name="T23" fmla="*/ 4 h 551"/>
                <a:gd name="T24" fmla="*/ 7 w 613"/>
                <a:gd name="T25" fmla="*/ 5 h 551"/>
                <a:gd name="T26" fmla="*/ 6 w 613"/>
                <a:gd name="T27" fmla="*/ 6 h 551"/>
                <a:gd name="T28" fmla="*/ 5 w 613"/>
                <a:gd name="T29" fmla="*/ 7 h 551"/>
                <a:gd name="T30" fmla="*/ 4 w 613"/>
                <a:gd name="T31" fmla="*/ 7 h 551"/>
                <a:gd name="T32" fmla="*/ 4 w 613"/>
                <a:gd name="T33" fmla="*/ 9 h 551"/>
                <a:gd name="T34" fmla="*/ 4 w 613"/>
                <a:gd name="T35" fmla="*/ 12 h 551"/>
                <a:gd name="T36" fmla="*/ 4 w 613"/>
                <a:gd name="T37" fmla="*/ 13 h 551"/>
                <a:gd name="T38" fmla="*/ 5 w 613"/>
                <a:gd name="T39" fmla="*/ 14 h 551"/>
                <a:gd name="T40" fmla="*/ 5 w 613"/>
                <a:gd name="T41" fmla="*/ 14 h 551"/>
                <a:gd name="T42" fmla="*/ 6 w 613"/>
                <a:gd name="T43" fmla="*/ 15 h 551"/>
                <a:gd name="T44" fmla="*/ 6 w 613"/>
                <a:gd name="T45" fmla="*/ 15 h 551"/>
                <a:gd name="T46" fmla="*/ 7 w 613"/>
                <a:gd name="T47" fmla="*/ 16 h 551"/>
                <a:gd name="T48" fmla="*/ 3 w 613"/>
                <a:gd name="T49" fmla="*/ 18 h 551"/>
                <a:gd name="T50" fmla="*/ 3 w 613"/>
                <a:gd name="T51" fmla="*/ 17 h 551"/>
                <a:gd name="T52" fmla="*/ 2 w 613"/>
                <a:gd name="T53" fmla="*/ 16 h 551"/>
                <a:gd name="T54" fmla="*/ 1 w 613"/>
                <a:gd name="T55" fmla="*/ 15 h 551"/>
                <a:gd name="T56" fmla="*/ 0 w 613"/>
                <a:gd name="T57" fmla="*/ 13 h 551"/>
                <a:gd name="T58" fmla="*/ 0 w 613"/>
                <a:gd name="T59" fmla="*/ 9 h 551"/>
                <a:gd name="T60" fmla="*/ 1 w 613"/>
                <a:gd name="T61" fmla="*/ 7 h 551"/>
                <a:gd name="T62" fmla="*/ 1 w 613"/>
                <a:gd name="T63" fmla="*/ 6 h 551"/>
                <a:gd name="T64" fmla="*/ 1 w 613"/>
                <a:gd name="T65" fmla="*/ 5 h 551"/>
                <a:gd name="T66" fmla="*/ 2 w 613"/>
                <a:gd name="T67" fmla="*/ 4 h 551"/>
                <a:gd name="T68" fmla="*/ 3 w 613"/>
                <a:gd name="T69" fmla="*/ 3 h 551"/>
                <a:gd name="T70" fmla="*/ 3 w 613"/>
                <a:gd name="T71" fmla="*/ 2 h 551"/>
                <a:gd name="T72" fmla="*/ 4 w 613"/>
                <a:gd name="T73" fmla="*/ 2 h 551"/>
                <a:gd name="T74" fmla="*/ 5 w 613"/>
                <a:gd name="T75" fmla="*/ 1 h 551"/>
                <a:gd name="T76" fmla="*/ 6 w 613"/>
                <a:gd name="T77" fmla="*/ 1 h 551"/>
                <a:gd name="T78" fmla="*/ 8 w 613"/>
                <a:gd name="T79" fmla="*/ 0 h 551"/>
                <a:gd name="T80" fmla="*/ 11 w 613"/>
                <a:gd name="T81" fmla="*/ 0 h 551"/>
                <a:gd name="T82" fmla="*/ 14 w 613"/>
                <a:gd name="T83" fmla="*/ 1 h 551"/>
                <a:gd name="T84" fmla="*/ 15 w 613"/>
                <a:gd name="T85" fmla="*/ 2 h 551"/>
                <a:gd name="T86" fmla="*/ 16 w 613"/>
                <a:gd name="T87" fmla="*/ 2 h 551"/>
                <a:gd name="T88" fmla="*/ 17 w 613"/>
                <a:gd name="T89" fmla="*/ 3 h 551"/>
                <a:gd name="T90" fmla="*/ 18 w 613"/>
                <a:gd name="T91" fmla="*/ 4 h 551"/>
                <a:gd name="T92" fmla="*/ 18 w 613"/>
                <a:gd name="T93" fmla="*/ 5 h 551"/>
                <a:gd name="T94" fmla="*/ 19 w 613"/>
                <a:gd name="T95" fmla="*/ 6 h 551"/>
                <a:gd name="T96" fmla="*/ 20 w 613"/>
                <a:gd name="T97" fmla="*/ 9 h 551"/>
                <a:gd name="T98" fmla="*/ 20 w 613"/>
                <a:gd name="T99" fmla="*/ 12 h 551"/>
                <a:gd name="T100" fmla="*/ 19 w 613"/>
                <a:gd name="T101" fmla="*/ 14 h 551"/>
                <a:gd name="T102" fmla="*/ 18 w 613"/>
                <a:gd name="T103" fmla="*/ 15 h 551"/>
                <a:gd name="T104" fmla="*/ 18 w 613"/>
                <a:gd name="T105" fmla="*/ 16 h 551"/>
                <a:gd name="T106" fmla="*/ 17 w 613"/>
                <a:gd name="T107" fmla="*/ 17 h 551"/>
                <a:gd name="T108" fmla="*/ 17 w 613"/>
                <a:gd name="T109" fmla="*/ 17 h 551"/>
                <a:gd name="T110" fmla="*/ 16 w 613"/>
                <a:gd name="T111" fmla="*/ 18 h 551"/>
                <a:gd name="T112" fmla="*/ 12 w 613"/>
                <a:gd name="T113" fmla="*/ 16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24629" name="Freeform 125"/>
            <p:cNvSpPr>
              <a:spLocks/>
            </p:cNvSpPr>
            <p:nvPr/>
          </p:nvSpPr>
          <p:spPr bwMode="auto">
            <a:xfrm>
              <a:off x="4576" y="3467"/>
              <a:ext cx="247" cy="285"/>
            </a:xfrm>
            <a:custGeom>
              <a:avLst/>
              <a:gdLst>
                <a:gd name="T0" fmla="*/ 1 w 1365"/>
                <a:gd name="T1" fmla="*/ 0 h 1583"/>
                <a:gd name="T2" fmla="*/ 0 w 1365"/>
                <a:gd name="T3" fmla="*/ 25 h 1583"/>
                <a:gd name="T4" fmla="*/ 1 w 1365"/>
                <a:gd name="T5" fmla="*/ 32 h 1583"/>
                <a:gd name="T6" fmla="*/ 3 w 1365"/>
                <a:gd name="T7" fmla="*/ 39 h 1583"/>
                <a:gd name="T8" fmla="*/ 6 w 1365"/>
                <a:gd name="T9" fmla="*/ 43 h 1583"/>
                <a:gd name="T10" fmla="*/ 12 w 1365"/>
                <a:gd name="T11" fmla="*/ 48 h 1583"/>
                <a:gd name="T12" fmla="*/ 17 w 1365"/>
                <a:gd name="T13" fmla="*/ 51 h 1583"/>
                <a:gd name="T14" fmla="*/ 23 w 1365"/>
                <a:gd name="T15" fmla="*/ 30 h 1583"/>
                <a:gd name="T16" fmla="*/ 18 w 1365"/>
                <a:gd name="T17" fmla="*/ 23 h 1583"/>
                <a:gd name="T18" fmla="*/ 18 w 1365"/>
                <a:gd name="T19" fmla="*/ 16 h 1583"/>
                <a:gd name="T20" fmla="*/ 20 w 1365"/>
                <a:gd name="T21" fmla="*/ 11 h 1583"/>
                <a:gd name="T22" fmla="*/ 26 w 1365"/>
                <a:gd name="T23" fmla="*/ 6 h 1583"/>
                <a:gd name="T24" fmla="*/ 33 w 1365"/>
                <a:gd name="T25" fmla="*/ 3 h 1583"/>
                <a:gd name="T26" fmla="*/ 45 w 1365"/>
                <a:gd name="T27" fmla="*/ 0 h 1583"/>
                <a:gd name="T28" fmla="*/ 1 w 1365"/>
                <a:gd name="T29" fmla="*/ 0 h 1583"/>
                <a:gd name="T30" fmla="*/ 1 w 1365"/>
                <a:gd name="T31" fmla="*/ 0 h 1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5"/>
                <a:gd name="T49" fmla="*/ 0 h 1583"/>
                <a:gd name="T50" fmla="*/ 1365 w 1365"/>
                <a:gd name="T51" fmla="*/ 1583 h 1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5" h="1583">
                  <a:moveTo>
                    <a:pt x="15" y="6"/>
                  </a:moveTo>
                  <a:lnTo>
                    <a:pt x="0" y="774"/>
                  </a:lnTo>
                  <a:lnTo>
                    <a:pt x="28" y="1000"/>
                  </a:lnTo>
                  <a:lnTo>
                    <a:pt x="91" y="1190"/>
                  </a:lnTo>
                  <a:lnTo>
                    <a:pt x="190" y="1338"/>
                  </a:lnTo>
                  <a:lnTo>
                    <a:pt x="352" y="1464"/>
                  </a:lnTo>
                  <a:lnTo>
                    <a:pt x="528" y="1583"/>
                  </a:lnTo>
                  <a:lnTo>
                    <a:pt x="698" y="922"/>
                  </a:lnTo>
                  <a:lnTo>
                    <a:pt x="563" y="703"/>
                  </a:lnTo>
                  <a:lnTo>
                    <a:pt x="549" y="492"/>
                  </a:lnTo>
                  <a:lnTo>
                    <a:pt x="627" y="338"/>
                  </a:lnTo>
                  <a:lnTo>
                    <a:pt x="781" y="190"/>
                  </a:lnTo>
                  <a:lnTo>
                    <a:pt x="992" y="91"/>
                  </a:lnTo>
                  <a:lnTo>
                    <a:pt x="1365" y="0"/>
                  </a:lnTo>
                  <a:lnTo>
                    <a:pt x="15" y="6"/>
                  </a:lnTo>
                  <a:close/>
                </a:path>
              </a:pathLst>
            </a:custGeom>
            <a:solidFill>
              <a:srgbClr val="D4D4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30" name="Freeform 126"/>
            <p:cNvSpPr>
              <a:spLocks/>
            </p:cNvSpPr>
            <p:nvPr/>
          </p:nvSpPr>
          <p:spPr bwMode="auto">
            <a:xfrm>
              <a:off x="4683" y="3460"/>
              <a:ext cx="248" cy="313"/>
            </a:xfrm>
            <a:custGeom>
              <a:avLst/>
              <a:gdLst>
                <a:gd name="T0" fmla="*/ 23 w 1373"/>
                <a:gd name="T1" fmla="*/ 14 h 1733"/>
                <a:gd name="T2" fmla="*/ 25 w 1373"/>
                <a:gd name="T3" fmla="*/ 18 h 1733"/>
                <a:gd name="T4" fmla="*/ 26 w 1373"/>
                <a:gd name="T5" fmla="*/ 22 h 1733"/>
                <a:gd name="T6" fmla="*/ 25 w 1373"/>
                <a:gd name="T7" fmla="*/ 27 h 1733"/>
                <a:gd name="T8" fmla="*/ 20 w 1373"/>
                <a:gd name="T9" fmla="*/ 31 h 1733"/>
                <a:gd name="T10" fmla="*/ 23 w 1373"/>
                <a:gd name="T11" fmla="*/ 50 h 1733"/>
                <a:gd name="T12" fmla="*/ 1 w 1373"/>
                <a:gd name="T13" fmla="*/ 51 h 1733"/>
                <a:gd name="T14" fmla="*/ 0 w 1373"/>
                <a:gd name="T15" fmla="*/ 53 h 1733"/>
                <a:gd name="T16" fmla="*/ 5 w 1373"/>
                <a:gd name="T17" fmla="*/ 55 h 1733"/>
                <a:gd name="T18" fmla="*/ 10 w 1373"/>
                <a:gd name="T19" fmla="*/ 57 h 1733"/>
                <a:gd name="T20" fmla="*/ 16 w 1373"/>
                <a:gd name="T21" fmla="*/ 56 h 1733"/>
                <a:gd name="T22" fmla="*/ 22 w 1373"/>
                <a:gd name="T23" fmla="*/ 54 h 1733"/>
                <a:gd name="T24" fmla="*/ 29 w 1373"/>
                <a:gd name="T25" fmla="*/ 52 h 1733"/>
                <a:gd name="T26" fmla="*/ 35 w 1373"/>
                <a:gd name="T27" fmla="*/ 47 h 1733"/>
                <a:gd name="T28" fmla="*/ 40 w 1373"/>
                <a:gd name="T29" fmla="*/ 40 h 1733"/>
                <a:gd name="T30" fmla="*/ 44 w 1373"/>
                <a:gd name="T31" fmla="*/ 29 h 1733"/>
                <a:gd name="T32" fmla="*/ 45 w 1373"/>
                <a:gd name="T33" fmla="*/ 16 h 1733"/>
                <a:gd name="T34" fmla="*/ 44 w 1373"/>
                <a:gd name="T35" fmla="*/ 0 h 1733"/>
                <a:gd name="T36" fmla="*/ 28 w 1373"/>
                <a:gd name="T37" fmla="*/ 1 h 1733"/>
                <a:gd name="T38" fmla="*/ 19 w 1373"/>
                <a:gd name="T39" fmla="*/ 4 h 1733"/>
                <a:gd name="T40" fmla="*/ 13 w 1373"/>
                <a:gd name="T41" fmla="*/ 7 h 1733"/>
                <a:gd name="T42" fmla="*/ 7 w 1373"/>
                <a:gd name="T43" fmla="*/ 9 h 1733"/>
                <a:gd name="T44" fmla="*/ 3 w 1373"/>
                <a:gd name="T45" fmla="*/ 13 h 1733"/>
                <a:gd name="T46" fmla="*/ 9 w 1373"/>
                <a:gd name="T47" fmla="*/ 10 h 1733"/>
                <a:gd name="T48" fmla="*/ 15 w 1373"/>
                <a:gd name="T49" fmla="*/ 10 h 1733"/>
                <a:gd name="T50" fmla="*/ 20 w 1373"/>
                <a:gd name="T51" fmla="*/ 11 h 1733"/>
                <a:gd name="T52" fmla="*/ 23 w 1373"/>
                <a:gd name="T53" fmla="*/ 14 h 1733"/>
                <a:gd name="T54" fmla="*/ 23 w 1373"/>
                <a:gd name="T55" fmla="*/ 14 h 17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73"/>
                <a:gd name="T85" fmla="*/ 0 h 1733"/>
                <a:gd name="T86" fmla="*/ 1373 w 1373"/>
                <a:gd name="T87" fmla="*/ 1733 h 17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73" h="1733">
                  <a:moveTo>
                    <a:pt x="696" y="424"/>
                  </a:moveTo>
                  <a:lnTo>
                    <a:pt x="767" y="549"/>
                  </a:lnTo>
                  <a:lnTo>
                    <a:pt x="788" y="684"/>
                  </a:lnTo>
                  <a:lnTo>
                    <a:pt x="753" y="831"/>
                  </a:lnTo>
                  <a:lnTo>
                    <a:pt x="626" y="966"/>
                  </a:lnTo>
                  <a:lnTo>
                    <a:pt x="711" y="1543"/>
                  </a:lnTo>
                  <a:lnTo>
                    <a:pt x="21" y="1557"/>
                  </a:lnTo>
                  <a:lnTo>
                    <a:pt x="0" y="1627"/>
                  </a:lnTo>
                  <a:lnTo>
                    <a:pt x="149" y="1697"/>
                  </a:lnTo>
                  <a:lnTo>
                    <a:pt x="318" y="1733"/>
                  </a:lnTo>
                  <a:lnTo>
                    <a:pt x="493" y="1711"/>
                  </a:lnTo>
                  <a:lnTo>
                    <a:pt x="670" y="1669"/>
                  </a:lnTo>
                  <a:lnTo>
                    <a:pt x="873" y="1598"/>
                  </a:lnTo>
                  <a:lnTo>
                    <a:pt x="1077" y="1450"/>
                  </a:lnTo>
                  <a:lnTo>
                    <a:pt x="1238" y="1213"/>
                  </a:lnTo>
                  <a:lnTo>
                    <a:pt x="1350" y="874"/>
                  </a:lnTo>
                  <a:lnTo>
                    <a:pt x="1373" y="494"/>
                  </a:lnTo>
                  <a:lnTo>
                    <a:pt x="1350" y="0"/>
                  </a:lnTo>
                  <a:lnTo>
                    <a:pt x="858" y="36"/>
                  </a:lnTo>
                  <a:lnTo>
                    <a:pt x="576" y="127"/>
                  </a:lnTo>
                  <a:lnTo>
                    <a:pt x="401" y="198"/>
                  </a:lnTo>
                  <a:lnTo>
                    <a:pt x="219" y="289"/>
                  </a:lnTo>
                  <a:lnTo>
                    <a:pt x="86" y="401"/>
                  </a:lnTo>
                  <a:lnTo>
                    <a:pt x="274" y="317"/>
                  </a:lnTo>
                  <a:lnTo>
                    <a:pt x="459" y="297"/>
                  </a:lnTo>
                  <a:lnTo>
                    <a:pt x="605" y="346"/>
                  </a:lnTo>
                  <a:lnTo>
                    <a:pt x="696" y="424"/>
                  </a:lnTo>
                  <a:close/>
                </a:path>
              </a:pathLst>
            </a:custGeom>
            <a:solidFill>
              <a:srgbClr val="7878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|EOS~022|</a:t>
            </a:r>
            <a:endParaRPr lang="en-US" sz="100" dirty="0" err="1" smtClean="0">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2775" y="4348162"/>
            <a:ext cx="1138936" cy="4826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5602" name="Text Box 2"/>
          <p:cNvSpPr txBox="1">
            <a:spLocks noChangeArrowheads="1"/>
          </p:cNvSpPr>
          <p:nvPr/>
        </p:nvSpPr>
        <p:spPr bwMode="auto">
          <a:xfrm>
            <a:off x="5291138" y="3244850"/>
            <a:ext cx="15446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Loss location has county</a:t>
            </a:r>
          </a:p>
        </p:txBody>
      </p:sp>
      <p:sp>
        <p:nvSpPr>
          <p:cNvPr id="25603" name="AutoShape 3"/>
          <p:cNvSpPr>
            <a:spLocks noChangeArrowheads="1"/>
          </p:cNvSpPr>
          <p:nvPr/>
        </p:nvSpPr>
        <p:spPr bwMode="auto">
          <a:xfrm>
            <a:off x="2732088" y="750888"/>
            <a:ext cx="1695450" cy="1081087"/>
          </a:xfrm>
          <a:prstGeom prst="roundRect">
            <a:avLst>
              <a:gd name="adj" fmla="val 16667"/>
            </a:avLst>
          </a:prstGeom>
          <a:solidFill>
            <a:schemeClr val="folHlink"/>
          </a:solidFill>
          <a:ln w="28575" algn="ctr">
            <a:solidFill>
              <a:schemeClr val="bg1"/>
            </a:solidFill>
            <a:round/>
            <a:headEnd/>
            <a:tailEnd/>
          </a:ln>
        </p:spPr>
        <p:txBody>
          <a:bodyPr lIns="0" tIns="0" rIns="0" bIns="0" anchor="ctr">
            <a:spAutoFit/>
          </a:bodyPr>
          <a:lstStyle/>
          <a:p>
            <a:endParaRPr lang="en-US"/>
          </a:p>
        </p:txBody>
      </p:sp>
      <p:sp>
        <p:nvSpPr>
          <p:cNvPr id="25604" name="Rectangle 4"/>
          <p:cNvSpPr>
            <a:spLocks noGrp="1" noChangeArrowheads="1"/>
          </p:cNvSpPr>
          <p:nvPr>
            <p:ph type="title"/>
          </p:nvPr>
        </p:nvSpPr>
        <p:spPr/>
        <p:txBody>
          <a:bodyPr/>
          <a:lstStyle/>
          <a:p>
            <a:pPr eaLnBrk="1" hangingPunct="1"/>
            <a:r>
              <a:rPr lang="en-US" smtClean="0"/>
              <a:t>Objects cannot move backwards</a:t>
            </a:r>
          </a:p>
        </p:txBody>
      </p:sp>
      <p:sp>
        <p:nvSpPr>
          <p:cNvPr id="25605" name="Text Box 5"/>
          <p:cNvSpPr txBox="1">
            <a:spLocks noChangeArrowheads="1"/>
          </p:cNvSpPr>
          <p:nvPr/>
        </p:nvSpPr>
        <p:spPr bwMode="auto">
          <a:xfrm>
            <a:off x="274796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Valid</a:t>
            </a:r>
            <a:br>
              <a:rPr lang="en-US" sz="2000" b="1"/>
            </a:br>
            <a:r>
              <a:rPr lang="en-US" sz="2000" b="1"/>
              <a:t>for</a:t>
            </a:r>
            <a:br>
              <a:rPr lang="en-US" sz="2000" b="1"/>
            </a:br>
            <a:r>
              <a:rPr lang="en-US" sz="2000" b="1"/>
              <a:t>ISO</a:t>
            </a:r>
          </a:p>
        </p:txBody>
      </p:sp>
      <p:grpSp>
        <p:nvGrpSpPr>
          <p:cNvPr id="25606" name="Group 6"/>
          <p:cNvGrpSpPr>
            <a:grpSpLocks/>
          </p:cNvGrpSpPr>
          <p:nvPr/>
        </p:nvGrpSpPr>
        <p:grpSpPr bwMode="auto">
          <a:xfrm>
            <a:off x="4859338" y="750888"/>
            <a:ext cx="1695450" cy="1081087"/>
            <a:chOff x="1740" y="1811"/>
            <a:chExt cx="1068" cy="681"/>
          </a:xfrm>
        </p:grpSpPr>
        <p:sp>
          <p:nvSpPr>
            <p:cNvPr id="25727" name="Text Box 7"/>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Send to</a:t>
              </a:r>
              <a:br>
                <a:rPr lang="en-US" sz="2000" b="1"/>
              </a:br>
              <a:r>
                <a:rPr lang="en-US" sz="2000" b="1"/>
                <a:t>External (Systems)</a:t>
              </a:r>
            </a:p>
          </p:txBody>
        </p:sp>
        <p:sp>
          <p:nvSpPr>
            <p:cNvPr id="25728" name="AutoShape 8"/>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5607" name="Group 9"/>
          <p:cNvGrpSpPr>
            <a:grpSpLocks/>
          </p:cNvGrpSpPr>
          <p:nvPr/>
        </p:nvGrpSpPr>
        <p:grpSpPr bwMode="auto">
          <a:xfrm>
            <a:off x="604838" y="750888"/>
            <a:ext cx="1695450" cy="1081087"/>
            <a:chOff x="1740" y="1811"/>
            <a:chExt cx="1068" cy="681"/>
          </a:xfrm>
        </p:grpSpPr>
        <p:sp>
          <p:nvSpPr>
            <p:cNvPr id="25725" name="Text Box 10"/>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New</a:t>
              </a:r>
              <a:br>
                <a:rPr lang="en-US" sz="2000" b="1"/>
              </a:br>
              <a:r>
                <a:rPr lang="en-US" sz="2000" b="1"/>
                <a:t>Loss</a:t>
              </a:r>
              <a:br>
                <a:rPr lang="en-US" sz="2000" b="1"/>
              </a:br>
              <a:r>
                <a:rPr lang="en-US" sz="2000" b="1"/>
                <a:t>Completion</a:t>
              </a:r>
            </a:p>
          </p:txBody>
        </p:sp>
        <p:sp>
          <p:nvSpPr>
            <p:cNvPr id="25726" name="AutoShape 11"/>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5608" name="Group 12"/>
          <p:cNvGrpSpPr>
            <a:grpSpLocks/>
          </p:cNvGrpSpPr>
          <p:nvPr/>
        </p:nvGrpSpPr>
        <p:grpSpPr bwMode="auto">
          <a:xfrm>
            <a:off x="6988175" y="750888"/>
            <a:ext cx="1695450" cy="1081087"/>
            <a:chOff x="1740" y="1811"/>
            <a:chExt cx="1068" cy="681"/>
          </a:xfrm>
        </p:grpSpPr>
        <p:sp>
          <p:nvSpPr>
            <p:cNvPr id="25723" name="Text Box 13"/>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Ability</a:t>
              </a:r>
              <a:br>
                <a:rPr lang="en-US" sz="2000" b="1"/>
              </a:br>
              <a:r>
                <a:rPr lang="en-US" sz="2000" b="1"/>
                <a:t>to</a:t>
              </a:r>
              <a:br>
                <a:rPr lang="en-US" sz="2000" b="1"/>
              </a:br>
              <a:r>
                <a:rPr lang="en-US" sz="2000" b="1"/>
                <a:t>Pay</a:t>
              </a:r>
            </a:p>
          </p:txBody>
        </p:sp>
        <p:sp>
          <p:nvSpPr>
            <p:cNvPr id="25724" name="AutoShape 14"/>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5609" name="AutoShape 15"/>
          <p:cNvSpPr>
            <a:spLocks noChangeArrowheads="1"/>
          </p:cNvSpPr>
          <p:nvPr/>
        </p:nvSpPr>
        <p:spPr bwMode="auto">
          <a:xfrm>
            <a:off x="2309813" y="1101725"/>
            <a:ext cx="433387"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5610" name="AutoShape 16"/>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5611" name="AutoShape 17"/>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5612" name="Text Box 18"/>
          <p:cNvSpPr txBox="1">
            <a:spLocks noChangeArrowheads="1"/>
          </p:cNvSpPr>
          <p:nvPr/>
        </p:nvSpPr>
        <p:spPr bwMode="auto">
          <a:xfrm>
            <a:off x="1016000" y="2128838"/>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Driver of vehicle is specified</a:t>
            </a:r>
          </a:p>
        </p:txBody>
      </p:sp>
      <p:sp>
        <p:nvSpPr>
          <p:cNvPr id="25613" name="Rectangle 19"/>
          <p:cNvSpPr>
            <a:spLocks noChangeArrowheads="1"/>
          </p:cNvSpPr>
          <p:nvPr/>
        </p:nvSpPr>
        <p:spPr bwMode="auto">
          <a:xfrm>
            <a:off x="609600" y="2147888"/>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5614" name="Freeform 20"/>
          <p:cNvSpPr>
            <a:spLocks/>
          </p:cNvSpPr>
          <p:nvPr/>
        </p:nvSpPr>
        <p:spPr bwMode="auto">
          <a:xfrm>
            <a:off x="614363" y="1973263"/>
            <a:ext cx="354012" cy="392112"/>
          </a:xfrm>
          <a:custGeom>
            <a:avLst/>
            <a:gdLst>
              <a:gd name="T0" fmla="*/ 0 w 481"/>
              <a:gd name="T1" fmla="*/ 176975633 h 533"/>
              <a:gd name="T2" fmla="*/ 65002056 w 481"/>
              <a:gd name="T3" fmla="*/ 288464914 h 533"/>
              <a:gd name="T4" fmla="*/ 120795386 w 481"/>
              <a:gd name="T5" fmla="*/ 288464914 h 533"/>
              <a:gd name="T6" fmla="*/ 260549914 w 481"/>
              <a:gd name="T7" fmla="*/ 56286093 h 533"/>
              <a:gd name="T8" fmla="*/ 172255176 w 481"/>
              <a:gd name="T9" fmla="*/ 0 h 533"/>
              <a:gd name="T10" fmla="*/ 88294715 w 481"/>
              <a:gd name="T11" fmla="*/ 246791446 h 533"/>
              <a:gd name="T12" fmla="*/ 46584593 w 481"/>
              <a:gd name="T13" fmla="*/ 176975633 h 533"/>
              <a:gd name="T14" fmla="*/ 0 w 481"/>
              <a:gd name="T15" fmla="*/ 176975633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5615" name="Text Box 21"/>
          <p:cNvSpPr txBox="1">
            <a:spLocks noChangeArrowheads="1"/>
          </p:cNvSpPr>
          <p:nvPr/>
        </p:nvSpPr>
        <p:spPr bwMode="auto">
          <a:xfrm>
            <a:off x="1025525" y="3238500"/>
            <a:ext cx="144303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If insured at fault, fault rating specified</a:t>
            </a:r>
          </a:p>
        </p:txBody>
      </p:sp>
      <p:sp>
        <p:nvSpPr>
          <p:cNvPr id="25616" name="Rectangle 22"/>
          <p:cNvSpPr>
            <a:spLocks noChangeArrowheads="1"/>
          </p:cNvSpPr>
          <p:nvPr/>
        </p:nvSpPr>
        <p:spPr bwMode="auto">
          <a:xfrm>
            <a:off x="619125" y="3257550"/>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5617" name="Freeform 23"/>
          <p:cNvSpPr>
            <a:spLocks/>
          </p:cNvSpPr>
          <p:nvPr/>
        </p:nvSpPr>
        <p:spPr bwMode="auto">
          <a:xfrm>
            <a:off x="623888" y="3082925"/>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5618" name="Text Box 24"/>
          <p:cNvSpPr txBox="1">
            <a:spLocks noChangeArrowheads="1"/>
          </p:cNvSpPr>
          <p:nvPr/>
        </p:nvSpPr>
        <p:spPr bwMode="auto">
          <a:xfrm>
            <a:off x="3152775" y="2128838"/>
            <a:ext cx="12795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Loss location has city, state, zip</a:t>
            </a:r>
          </a:p>
        </p:txBody>
      </p:sp>
      <p:sp>
        <p:nvSpPr>
          <p:cNvPr id="25619" name="Rectangle 25"/>
          <p:cNvSpPr>
            <a:spLocks noChangeArrowheads="1"/>
          </p:cNvSpPr>
          <p:nvPr/>
        </p:nvSpPr>
        <p:spPr bwMode="auto">
          <a:xfrm>
            <a:off x="2746375" y="2147888"/>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5620" name="Text Box 26"/>
          <p:cNvSpPr txBox="1">
            <a:spLocks noChangeArrowheads="1"/>
          </p:cNvSpPr>
          <p:nvPr/>
        </p:nvSpPr>
        <p:spPr bwMode="auto">
          <a:xfrm>
            <a:off x="5291138" y="2128838"/>
            <a:ext cx="13604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Total loss calculation completed</a:t>
            </a:r>
          </a:p>
        </p:txBody>
      </p:sp>
      <p:sp>
        <p:nvSpPr>
          <p:cNvPr id="25621" name="Rectangle 27"/>
          <p:cNvSpPr>
            <a:spLocks noChangeArrowheads="1"/>
          </p:cNvSpPr>
          <p:nvPr/>
        </p:nvSpPr>
        <p:spPr bwMode="auto">
          <a:xfrm>
            <a:off x="4884738" y="2147888"/>
            <a:ext cx="284162"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5622" name="Text Box 28"/>
          <p:cNvSpPr txBox="1">
            <a:spLocks noChangeArrowheads="1"/>
          </p:cNvSpPr>
          <p:nvPr/>
        </p:nvSpPr>
        <p:spPr bwMode="auto">
          <a:xfrm>
            <a:off x="7429500" y="2128838"/>
            <a:ext cx="14620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t>At least one assess-</a:t>
            </a:r>
            <a:br>
              <a:rPr lang="en-US" sz="2000" b="1"/>
            </a:br>
            <a:r>
              <a:rPr lang="en-US" sz="2000" b="1"/>
              <a:t>ment exists</a:t>
            </a:r>
          </a:p>
        </p:txBody>
      </p:sp>
      <p:sp>
        <p:nvSpPr>
          <p:cNvPr id="25623" name="Rectangle 29"/>
          <p:cNvSpPr>
            <a:spLocks noChangeArrowheads="1"/>
          </p:cNvSpPr>
          <p:nvPr/>
        </p:nvSpPr>
        <p:spPr bwMode="auto">
          <a:xfrm>
            <a:off x="7023100" y="2147888"/>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5624" name="Text Box 30"/>
          <p:cNvSpPr txBox="1">
            <a:spLocks noChangeArrowheads="1"/>
          </p:cNvSpPr>
          <p:nvPr/>
        </p:nvSpPr>
        <p:spPr bwMode="auto">
          <a:xfrm>
            <a:off x="7439025" y="3238500"/>
            <a:ext cx="12795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Mailing address</a:t>
            </a:r>
            <a:br>
              <a:rPr lang="en-US" sz="2000" b="1">
                <a:solidFill>
                  <a:srgbClr val="00CC00"/>
                </a:solidFill>
              </a:rPr>
            </a:br>
            <a:r>
              <a:rPr lang="en-US" sz="2000" b="1">
                <a:solidFill>
                  <a:srgbClr val="00CC00"/>
                </a:solidFill>
              </a:rPr>
              <a:t>for all third-party claimants</a:t>
            </a:r>
          </a:p>
        </p:txBody>
      </p:sp>
      <p:sp>
        <p:nvSpPr>
          <p:cNvPr id="25625" name="Rectangle 31"/>
          <p:cNvSpPr>
            <a:spLocks noChangeArrowheads="1"/>
          </p:cNvSpPr>
          <p:nvPr/>
        </p:nvSpPr>
        <p:spPr bwMode="auto">
          <a:xfrm>
            <a:off x="7032625" y="3257550"/>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5626" name="Freeform 32"/>
          <p:cNvSpPr>
            <a:spLocks/>
          </p:cNvSpPr>
          <p:nvPr/>
        </p:nvSpPr>
        <p:spPr bwMode="auto">
          <a:xfrm>
            <a:off x="7037388" y="3082925"/>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5627" name="Rectangle 33"/>
          <p:cNvSpPr>
            <a:spLocks noChangeArrowheads="1"/>
          </p:cNvSpPr>
          <p:nvPr/>
        </p:nvSpPr>
        <p:spPr bwMode="auto">
          <a:xfrm>
            <a:off x="4884738" y="3263900"/>
            <a:ext cx="284162"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5628" name="Freeform 34"/>
          <p:cNvSpPr>
            <a:spLocks/>
          </p:cNvSpPr>
          <p:nvPr/>
        </p:nvSpPr>
        <p:spPr bwMode="auto">
          <a:xfrm>
            <a:off x="4889500" y="3089275"/>
            <a:ext cx="354013" cy="392113"/>
          </a:xfrm>
          <a:custGeom>
            <a:avLst/>
            <a:gdLst>
              <a:gd name="T0" fmla="*/ 0 w 481"/>
              <a:gd name="T1" fmla="*/ 176976820 h 533"/>
              <a:gd name="T2" fmla="*/ 65002240 w 481"/>
              <a:gd name="T3" fmla="*/ 288466385 h 533"/>
              <a:gd name="T4" fmla="*/ 120796464 w 481"/>
              <a:gd name="T5" fmla="*/ 288466385 h 533"/>
              <a:gd name="T6" fmla="*/ 260551386 w 481"/>
              <a:gd name="T7" fmla="*/ 56286237 h 533"/>
              <a:gd name="T8" fmla="*/ 172256399 w 481"/>
              <a:gd name="T9" fmla="*/ 0 h 533"/>
              <a:gd name="T10" fmla="*/ 88294964 w 481"/>
              <a:gd name="T11" fmla="*/ 246792811 h 533"/>
              <a:gd name="T12" fmla="*/ 46584725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grpSp>
        <p:nvGrpSpPr>
          <p:cNvPr id="25629" name="Group 35"/>
          <p:cNvGrpSpPr>
            <a:grpSpLocks/>
          </p:cNvGrpSpPr>
          <p:nvPr/>
        </p:nvGrpSpPr>
        <p:grpSpPr bwMode="auto">
          <a:xfrm>
            <a:off x="2120900" y="1557338"/>
            <a:ext cx="407988" cy="655637"/>
            <a:chOff x="4506" y="3057"/>
            <a:chExt cx="488" cy="786"/>
          </a:xfrm>
        </p:grpSpPr>
        <p:sp>
          <p:nvSpPr>
            <p:cNvPr id="25704" name="AutoShape 36"/>
            <p:cNvSpPr>
              <a:spLocks noChangeAspect="1" noChangeArrowheads="1" noTextEdit="1"/>
            </p:cNvSpPr>
            <p:nvPr/>
          </p:nvSpPr>
          <p:spPr bwMode="auto">
            <a:xfrm>
              <a:off x="4506" y="3057"/>
              <a:ext cx="488"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5705" name="Freeform 37"/>
            <p:cNvSpPr>
              <a:spLocks/>
            </p:cNvSpPr>
            <p:nvPr/>
          </p:nvSpPr>
          <p:spPr bwMode="auto">
            <a:xfrm>
              <a:off x="4585" y="3083"/>
              <a:ext cx="292" cy="325"/>
            </a:xfrm>
            <a:custGeom>
              <a:avLst/>
              <a:gdLst>
                <a:gd name="T0" fmla="*/ 8 w 1619"/>
                <a:gd name="T1" fmla="*/ 58 h 1804"/>
                <a:gd name="T2" fmla="*/ 0 w 1619"/>
                <a:gd name="T3" fmla="*/ 59 h 1804"/>
                <a:gd name="T4" fmla="*/ 1 w 1619"/>
                <a:gd name="T5" fmla="*/ 22 h 1804"/>
                <a:gd name="T6" fmla="*/ 6 w 1619"/>
                <a:gd name="T7" fmla="*/ 10 h 1804"/>
                <a:gd name="T8" fmla="*/ 15 w 1619"/>
                <a:gd name="T9" fmla="*/ 4 h 1804"/>
                <a:gd name="T10" fmla="*/ 25 w 1619"/>
                <a:gd name="T11" fmla="*/ 1 h 1804"/>
                <a:gd name="T12" fmla="*/ 33 w 1619"/>
                <a:gd name="T13" fmla="*/ 0 h 1804"/>
                <a:gd name="T14" fmla="*/ 42 w 1619"/>
                <a:gd name="T15" fmla="*/ 5 h 1804"/>
                <a:gd name="T16" fmla="*/ 47 w 1619"/>
                <a:gd name="T17" fmla="*/ 11 h 1804"/>
                <a:gd name="T18" fmla="*/ 53 w 1619"/>
                <a:gd name="T19" fmla="*/ 25 h 1804"/>
                <a:gd name="T20" fmla="*/ 42 w 1619"/>
                <a:gd name="T21" fmla="*/ 10 h 1804"/>
                <a:gd name="T22" fmla="*/ 31 w 1619"/>
                <a:gd name="T23" fmla="*/ 8 h 1804"/>
                <a:gd name="T24" fmla="*/ 18 w 1619"/>
                <a:gd name="T25" fmla="*/ 11 h 1804"/>
                <a:gd name="T26" fmla="*/ 12 w 1619"/>
                <a:gd name="T27" fmla="*/ 17 h 1804"/>
                <a:gd name="T28" fmla="*/ 8 w 1619"/>
                <a:gd name="T29" fmla="*/ 24 h 1804"/>
                <a:gd name="T30" fmla="*/ 8 w 1619"/>
                <a:gd name="T31" fmla="*/ 35 h 1804"/>
                <a:gd name="T32" fmla="*/ 8 w 1619"/>
                <a:gd name="T33" fmla="*/ 58 h 1804"/>
                <a:gd name="T34" fmla="*/ 8 w 1619"/>
                <a:gd name="T35" fmla="*/ 58 h 18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9"/>
                <a:gd name="T55" fmla="*/ 0 h 1804"/>
                <a:gd name="T56" fmla="*/ 1619 w 1619"/>
                <a:gd name="T57" fmla="*/ 1804 h 18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9" h="1804">
                  <a:moveTo>
                    <a:pt x="232" y="1796"/>
                  </a:moveTo>
                  <a:lnTo>
                    <a:pt x="0" y="1804"/>
                  </a:lnTo>
                  <a:lnTo>
                    <a:pt x="21" y="669"/>
                  </a:lnTo>
                  <a:lnTo>
                    <a:pt x="183" y="324"/>
                  </a:lnTo>
                  <a:lnTo>
                    <a:pt x="464" y="120"/>
                  </a:lnTo>
                  <a:lnTo>
                    <a:pt x="782" y="29"/>
                  </a:lnTo>
                  <a:lnTo>
                    <a:pt x="1001" y="0"/>
                  </a:lnTo>
                  <a:lnTo>
                    <a:pt x="1303" y="149"/>
                  </a:lnTo>
                  <a:lnTo>
                    <a:pt x="1457" y="331"/>
                  </a:lnTo>
                  <a:lnTo>
                    <a:pt x="1619" y="768"/>
                  </a:lnTo>
                  <a:lnTo>
                    <a:pt x="1282" y="324"/>
                  </a:lnTo>
                  <a:lnTo>
                    <a:pt x="943" y="232"/>
                  </a:lnTo>
                  <a:lnTo>
                    <a:pt x="542" y="339"/>
                  </a:lnTo>
                  <a:lnTo>
                    <a:pt x="373" y="529"/>
                  </a:lnTo>
                  <a:lnTo>
                    <a:pt x="247" y="747"/>
                  </a:lnTo>
                  <a:lnTo>
                    <a:pt x="240" y="1078"/>
                  </a:lnTo>
                  <a:lnTo>
                    <a:pt x="232" y="1796"/>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06" name="Freeform 38"/>
            <p:cNvSpPr>
              <a:spLocks/>
            </p:cNvSpPr>
            <p:nvPr/>
          </p:nvSpPr>
          <p:spPr bwMode="auto">
            <a:xfrm>
              <a:off x="4560" y="3077"/>
              <a:ext cx="280" cy="335"/>
            </a:xfrm>
            <a:custGeom>
              <a:avLst/>
              <a:gdLst>
                <a:gd name="T0" fmla="*/ 6 w 1555"/>
                <a:gd name="T1" fmla="*/ 59 h 1859"/>
                <a:gd name="T2" fmla="*/ 6 w 1555"/>
                <a:gd name="T3" fmla="*/ 25 h 1859"/>
                <a:gd name="T4" fmla="*/ 9 w 1555"/>
                <a:gd name="T5" fmla="*/ 17 h 1859"/>
                <a:gd name="T6" fmla="*/ 14 w 1555"/>
                <a:gd name="T7" fmla="*/ 12 h 1859"/>
                <a:gd name="T8" fmla="*/ 20 w 1555"/>
                <a:gd name="T9" fmla="*/ 7 h 1859"/>
                <a:gd name="T10" fmla="*/ 27 w 1555"/>
                <a:gd name="T11" fmla="*/ 5 h 1859"/>
                <a:gd name="T12" fmla="*/ 34 w 1555"/>
                <a:gd name="T13" fmla="*/ 3 h 1859"/>
                <a:gd name="T14" fmla="*/ 39 w 1555"/>
                <a:gd name="T15" fmla="*/ 4 h 1859"/>
                <a:gd name="T16" fmla="*/ 50 w 1555"/>
                <a:gd name="T17" fmla="*/ 7 h 1859"/>
                <a:gd name="T18" fmla="*/ 43 w 1555"/>
                <a:gd name="T19" fmla="*/ 2 h 1859"/>
                <a:gd name="T20" fmla="*/ 28 w 1555"/>
                <a:gd name="T21" fmla="*/ 0 h 1859"/>
                <a:gd name="T22" fmla="*/ 12 w 1555"/>
                <a:gd name="T23" fmla="*/ 6 h 1859"/>
                <a:gd name="T24" fmla="*/ 6 w 1555"/>
                <a:gd name="T25" fmla="*/ 16 h 1859"/>
                <a:gd name="T26" fmla="*/ 1 w 1555"/>
                <a:gd name="T27" fmla="*/ 24 h 1859"/>
                <a:gd name="T28" fmla="*/ 0 w 1555"/>
                <a:gd name="T29" fmla="*/ 60 h 1859"/>
                <a:gd name="T30" fmla="*/ 6 w 1555"/>
                <a:gd name="T31" fmla="*/ 59 h 1859"/>
                <a:gd name="T32" fmla="*/ 6 w 1555"/>
                <a:gd name="T33" fmla="*/ 59 h 18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5"/>
                <a:gd name="T52" fmla="*/ 0 h 1859"/>
                <a:gd name="T53" fmla="*/ 1555 w 1555"/>
                <a:gd name="T54" fmla="*/ 1859 h 18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5" h="1859">
                  <a:moveTo>
                    <a:pt x="182" y="1802"/>
                  </a:moveTo>
                  <a:lnTo>
                    <a:pt x="197" y="753"/>
                  </a:lnTo>
                  <a:lnTo>
                    <a:pt x="289" y="513"/>
                  </a:lnTo>
                  <a:lnTo>
                    <a:pt x="437" y="358"/>
                  </a:lnTo>
                  <a:lnTo>
                    <a:pt x="619" y="224"/>
                  </a:lnTo>
                  <a:lnTo>
                    <a:pt x="836" y="147"/>
                  </a:lnTo>
                  <a:lnTo>
                    <a:pt x="1047" y="105"/>
                  </a:lnTo>
                  <a:lnTo>
                    <a:pt x="1211" y="118"/>
                  </a:lnTo>
                  <a:lnTo>
                    <a:pt x="1555" y="204"/>
                  </a:lnTo>
                  <a:lnTo>
                    <a:pt x="1329" y="55"/>
                  </a:lnTo>
                  <a:lnTo>
                    <a:pt x="872" y="0"/>
                  </a:lnTo>
                  <a:lnTo>
                    <a:pt x="380" y="196"/>
                  </a:lnTo>
                  <a:lnTo>
                    <a:pt x="182" y="500"/>
                  </a:lnTo>
                  <a:lnTo>
                    <a:pt x="36" y="745"/>
                  </a:lnTo>
                  <a:lnTo>
                    <a:pt x="0" y="1859"/>
                  </a:lnTo>
                  <a:lnTo>
                    <a:pt x="182" y="1802"/>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07" name="Freeform 39"/>
            <p:cNvSpPr>
              <a:spLocks/>
            </p:cNvSpPr>
            <p:nvPr/>
          </p:nvSpPr>
          <p:spPr bwMode="auto">
            <a:xfrm>
              <a:off x="4810" y="3100"/>
              <a:ext cx="112" cy="318"/>
            </a:xfrm>
            <a:custGeom>
              <a:avLst/>
              <a:gdLst>
                <a:gd name="T0" fmla="*/ 0 w 620"/>
                <a:gd name="T1" fmla="*/ 0 h 1767"/>
                <a:gd name="T2" fmla="*/ 9 w 620"/>
                <a:gd name="T3" fmla="*/ 10 h 1767"/>
                <a:gd name="T4" fmla="*/ 15 w 620"/>
                <a:gd name="T5" fmla="*/ 21 h 1767"/>
                <a:gd name="T6" fmla="*/ 15 w 620"/>
                <a:gd name="T7" fmla="*/ 39 h 1767"/>
                <a:gd name="T8" fmla="*/ 15 w 620"/>
                <a:gd name="T9" fmla="*/ 57 h 1767"/>
                <a:gd name="T10" fmla="*/ 20 w 620"/>
                <a:gd name="T11" fmla="*/ 56 h 1767"/>
                <a:gd name="T12" fmla="*/ 20 w 620"/>
                <a:gd name="T13" fmla="*/ 21 h 1767"/>
                <a:gd name="T14" fmla="*/ 12 w 620"/>
                <a:gd name="T15" fmla="*/ 5 h 1767"/>
                <a:gd name="T16" fmla="*/ 0 w 620"/>
                <a:gd name="T17" fmla="*/ 0 h 1767"/>
                <a:gd name="T18" fmla="*/ 0 w 620"/>
                <a:gd name="T19" fmla="*/ 0 h 17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0"/>
                <a:gd name="T31" fmla="*/ 0 h 1767"/>
                <a:gd name="T32" fmla="*/ 620 w 620"/>
                <a:gd name="T33" fmla="*/ 1767 h 17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0" h="1767">
                  <a:moveTo>
                    <a:pt x="0" y="0"/>
                  </a:moveTo>
                  <a:lnTo>
                    <a:pt x="289" y="296"/>
                  </a:lnTo>
                  <a:lnTo>
                    <a:pt x="451" y="634"/>
                  </a:lnTo>
                  <a:lnTo>
                    <a:pt x="464" y="1189"/>
                  </a:lnTo>
                  <a:lnTo>
                    <a:pt x="464" y="1767"/>
                  </a:lnTo>
                  <a:lnTo>
                    <a:pt x="620" y="1739"/>
                  </a:lnTo>
                  <a:lnTo>
                    <a:pt x="612" y="640"/>
                  </a:lnTo>
                  <a:lnTo>
                    <a:pt x="380" y="169"/>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08" name="Freeform 40"/>
            <p:cNvSpPr>
              <a:spLocks/>
            </p:cNvSpPr>
            <p:nvPr/>
          </p:nvSpPr>
          <p:spPr bwMode="auto">
            <a:xfrm>
              <a:off x="4809" y="3098"/>
              <a:ext cx="91" cy="313"/>
            </a:xfrm>
            <a:custGeom>
              <a:avLst/>
              <a:gdLst>
                <a:gd name="T0" fmla="*/ 0 w 508"/>
                <a:gd name="T1" fmla="*/ 0 h 1733"/>
                <a:gd name="T2" fmla="*/ 7 w 508"/>
                <a:gd name="T3" fmla="*/ 13 h 1733"/>
                <a:gd name="T4" fmla="*/ 11 w 508"/>
                <a:gd name="T5" fmla="*/ 27 h 1733"/>
                <a:gd name="T6" fmla="*/ 11 w 508"/>
                <a:gd name="T7" fmla="*/ 56 h 1733"/>
                <a:gd name="T8" fmla="*/ 16 w 508"/>
                <a:gd name="T9" fmla="*/ 57 h 1733"/>
                <a:gd name="T10" fmla="*/ 16 w 508"/>
                <a:gd name="T11" fmla="*/ 24 h 1733"/>
                <a:gd name="T12" fmla="*/ 15 w 508"/>
                <a:gd name="T13" fmla="*/ 18 h 1733"/>
                <a:gd name="T14" fmla="*/ 11 w 508"/>
                <a:gd name="T15" fmla="*/ 13 h 1733"/>
                <a:gd name="T16" fmla="*/ 8 w 508"/>
                <a:gd name="T17" fmla="*/ 7 h 1733"/>
                <a:gd name="T18" fmla="*/ 0 w 508"/>
                <a:gd name="T19" fmla="*/ 0 h 1733"/>
                <a:gd name="T20" fmla="*/ 0 w 508"/>
                <a:gd name="T21" fmla="*/ 0 h 17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8"/>
                <a:gd name="T34" fmla="*/ 0 h 1733"/>
                <a:gd name="T35" fmla="*/ 508 w 508"/>
                <a:gd name="T36" fmla="*/ 1733 h 17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8" h="1733">
                  <a:moveTo>
                    <a:pt x="0" y="0"/>
                  </a:moveTo>
                  <a:lnTo>
                    <a:pt x="227" y="409"/>
                  </a:lnTo>
                  <a:lnTo>
                    <a:pt x="346" y="838"/>
                  </a:lnTo>
                  <a:lnTo>
                    <a:pt x="339" y="1726"/>
                  </a:lnTo>
                  <a:lnTo>
                    <a:pt x="508" y="1733"/>
                  </a:lnTo>
                  <a:lnTo>
                    <a:pt x="493" y="726"/>
                  </a:lnTo>
                  <a:lnTo>
                    <a:pt x="451" y="549"/>
                  </a:lnTo>
                  <a:lnTo>
                    <a:pt x="360" y="388"/>
                  </a:lnTo>
                  <a:lnTo>
                    <a:pt x="255" y="226"/>
                  </a:lnTo>
                  <a:lnTo>
                    <a:pt x="0" y="0"/>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09" name="Freeform 41"/>
            <p:cNvSpPr>
              <a:spLocks/>
            </p:cNvSpPr>
            <p:nvPr/>
          </p:nvSpPr>
          <p:spPr bwMode="auto">
            <a:xfrm>
              <a:off x="4529" y="3420"/>
              <a:ext cx="432" cy="395"/>
            </a:xfrm>
            <a:custGeom>
              <a:avLst/>
              <a:gdLst>
                <a:gd name="T0" fmla="*/ 0 w 2393"/>
                <a:gd name="T1" fmla="*/ 1 h 2189"/>
                <a:gd name="T2" fmla="*/ 1 w 2393"/>
                <a:gd name="T3" fmla="*/ 43 h 2189"/>
                <a:gd name="T4" fmla="*/ 14 w 2393"/>
                <a:gd name="T5" fmla="*/ 63 h 2189"/>
                <a:gd name="T6" fmla="*/ 39 w 2393"/>
                <a:gd name="T7" fmla="*/ 71 h 2189"/>
                <a:gd name="T8" fmla="*/ 60 w 2393"/>
                <a:gd name="T9" fmla="*/ 67 h 2189"/>
                <a:gd name="T10" fmla="*/ 74 w 2393"/>
                <a:gd name="T11" fmla="*/ 54 h 2189"/>
                <a:gd name="T12" fmla="*/ 78 w 2393"/>
                <a:gd name="T13" fmla="*/ 33 h 2189"/>
                <a:gd name="T14" fmla="*/ 77 w 2393"/>
                <a:gd name="T15" fmla="*/ 0 h 2189"/>
                <a:gd name="T16" fmla="*/ 0 w 2393"/>
                <a:gd name="T17" fmla="*/ 1 h 2189"/>
                <a:gd name="T18" fmla="*/ 0 w 2393"/>
                <a:gd name="T19" fmla="*/ 1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10" name="Freeform 42"/>
            <p:cNvSpPr>
              <a:spLocks/>
            </p:cNvSpPr>
            <p:nvPr/>
          </p:nvSpPr>
          <p:spPr bwMode="auto">
            <a:xfrm>
              <a:off x="4701" y="3541"/>
              <a:ext cx="96" cy="177"/>
            </a:xfrm>
            <a:custGeom>
              <a:avLst/>
              <a:gdLst>
                <a:gd name="T0" fmla="*/ 4 w 534"/>
                <a:gd name="T1" fmla="*/ 1 h 978"/>
                <a:gd name="T2" fmla="*/ 0 w 534"/>
                <a:gd name="T3" fmla="*/ 7 h 978"/>
                <a:gd name="T4" fmla="*/ 3 w 534"/>
                <a:gd name="T5" fmla="*/ 15 h 978"/>
                <a:gd name="T6" fmla="*/ 2 w 534"/>
                <a:gd name="T7" fmla="*/ 31 h 978"/>
                <a:gd name="T8" fmla="*/ 15 w 534"/>
                <a:gd name="T9" fmla="*/ 32 h 978"/>
                <a:gd name="T10" fmla="*/ 12 w 534"/>
                <a:gd name="T11" fmla="*/ 15 h 978"/>
                <a:gd name="T12" fmla="*/ 17 w 534"/>
                <a:gd name="T13" fmla="*/ 10 h 978"/>
                <a:gd name="T14" fmla="*/ 15 w 534"/>
                <a:gd name="T15" fmla="*/ 4 h 978"/>
                <a:gd name="T16" fmla="*/ 10 w 534"/>
                <a:gd name="T17" fmla="*/ 0 h 978"/>
                <a:gd name="T18" fmla="*/ 4 w 534"/>
                <a:gd name="T19" fmla="*/ 1 h 978"/>
                <a:gd name="T20" fmla="*/ 4 w 534"/>
                <a:gd name="T21" fmla="*/ 1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11" name="Freeform 43"/>
            <p:cNvSpPr>
              <a:spLocks/>
            </p:cNvSpPr>
            <p:nvPr/>
          </p:nvSpPr>
          <p:spPr bwMode="auto">
            <a:xfrm>
              <a:off x="4550" y="3266"/>
              <a:ext cx="29"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5712" name="Freeform 44"/>
            <p:cNvSpPr>
              <a:spLocks/>
            </p:cNvSpPr>
            <p:nvPr/>
          </p:nvSpPr>
          <p:spPr bwMode="auto">
            <a:xfrm>
              <a:off x="4607"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5713" name="Freeform 45"/>
            <p:cNvSpPr>
              <a:spLocks/>
            </p:cNvSpPr>
            <p:nvPr/>
          </p:nvSpPr>
          <p:spPr bwMode="auto">
            <a:xfrm>
              <a:off x="4914" y="3266"/>
              <a:ext cx="29" cy="175"/>
            </a:xfrm>
            <a:custGeom>
              <a:avLst/>
              <a:gdLst>
                <a:gd name="T0" fmla="*/ 0 w 166"/>
                <a:gd name="T1" fmla="*/ 0 h 972"/>
                <a:gd name="T2" fmla="*/ 0 w 166"/>
                <a:gd name="T3" fmla="*/ 32 h 972"/>
                <a:gd name="T4" fmla="*/ 5 w 166"/>
                <a:gd name="T5" fmla="*/ 32 h 972"/>
                <a:gd name="T6" fmla="*/ 5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25714" name="Freeform 46"/>
            <p:cNvSpPr>
              <a:spLocks/>
            </p:cNvSpPr>
            <p:nvPr/>
          </p:nvSpPr>
          <p:spPr bwMode="auto">
            <a:xfrm>
              <a:off x="4856"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5715" name="Freeform 47"/>
            <p:cNvSpPr>
              <a:spLocks/>
            </p:cNvSpPr>
            <p:nvPr/>
          </p:nvSpPr>
          <p:spPr bwMode="auto">
            <a:xfrm>
              <a:off x="4550" y="3064"/>
              <a:ext cx="393" cy="202"/>
            </a:xfrm>
            <a:custGeom>
              <a:avLst/>
              <a:gdLst>
                <a:gd name="T0" fmla="*/ 0 w 2183"/>
                <a:gd name="T1" fmla="*/ 31 h 1119"/>
                <a:gd name="T2" fmla="*/ 1 w 2183"/>
                <a:gd name="T3" fmla="*/ 26 h 1119"/>
                <a:gd name="T4" fmla="*/ 3 w 2183"/>
                <a:gd name="T5" fmla="*/ 22 h 1119"/>
                <a:gd name="T6" fmla="*/ 4 w 2183"/>
                <a:gd name="T7" fmla="*/ 20 h 1119"/>
                <a:gd name="T8" fmla="*/ 5 w 2183"/>
                <a:gd name="T9" fmla="*/ 18 h 1119"/>
                <a:gd name="T10" fmla="*/ 6 w 2183"/>
                <a:gd name="T11" fmla="*/ 16 h 1119"/>
                <a:gd name="T12" fmla="*/ 7 w 2183"/>
                <a:gd name="T13" fmla="*/ 14 h 1119"/>
                <a:gd name="T14" fmla="*/ 8 w 2183"/>
                <a:gd name="T15" fmla="*/ 13 h 1119"/>
                <a:gd name="T16" fmla="*/ 10 w 2183"/>
                <a:gd name="T17" fmla="*/ 11 h 1119"/>
                <a:gd name="T18" fmla="*/ 11 w 2183"/>
                <a:gd name="T19" fmla="*/ 10 h 1119"/>
                <a:gd name="T20" fmla="*/ 13 w 2183"/>
                <a:gd name="T21" fmla="*/ 8 h 1119"/>
                <a:gd name="T22" fmla="*/ 15 w 2183"/>
                <a:gd name="T23" fmla="*/ 7 h 1119"/>
                <a:gd name="T24" fmla="*/ 17 w 2183"/>
                <a:gd name="T25" fmla="*/ 5 h 1119"/>
                <a:gd name="T26" fmla="*/ 21 w 2183"/>
                <a:gd name="T27" fmla="*/ 3 h 1119"/>
                <a:gd name="T28" fmla="*/ 25 w 2183"/>
                <a:gd name="T29" fmla="*/ 2 h 1119"/>
                <a:gd name="T30" fmla="*/ 33 w 2183"/>
                <a:gd name="T31" fmla="*/ 0 h 1119"/>
                <a:gd name="T32" fmla="*/ 47 w 2183"/>
                <a:gd name="T33" fmla="*/ 2 h 1119"/>
                <a:gd name="T34" fmla="*/ 51 w 2183"/>
                <a:gd name="T35" fmla="*/ 3 h 1119"/>
                <a:gd name="T36" fmla="*/ 54 w 2183"/>
                <a:gd name="T37" fmla="*/ 6 h 1119"/>
                <a:gd name="T38" fmla="*/ 57 w 2183"/>
                <a:gd name="T39" fmla="*/ 8 h 1119"/>
                <a:gd name="T40" fmla="*/ 59 w 2183"/>
                <a:gd name="T41" fmla="*/ 9 h 1119"/>
                <a:gd name="T42" fmla="*/ 61 w 2183"/>
                <a:gd name="T43" fmla="*/ 11 h 1119"/>
                <a:gd name="T44" fmla="*/ 62 w 2183"/>
                <a:gd name="T45" fmla="*/ 12 h 1119"/>
                <a:gd name="T46" fmla="*/ 63 w 2183"/>
                <a:gd name="T47" fmla="*/ 14 h 1119"/>
                <a:gd name="T48" fmla="*/ 65 w 2183"/>
                <a:gd name="T49" fmla="*/ 16 h 1119"/>
                <a:gd name="T50" fmla="*/ 66 w 2183"/>
                <a:gd name="T51" fmla="*/ 18 h 1119"/>
                <a:gd name="T52" fmla="*/ 67 w 2183"/>
                <a:gd name="T53" fmla="*/ 19 h 1119"/>
                <a:gd name="T54" fmla="*/ 68 w 2183"/>
                <a:gd name="T55" fmla="*/ 21 h 1119"/>
                <a:gd name="T56" fmla="*/ 69 w 2183"/>
                <a:gd name="T57" fmla="*/ 25 h 1119"/>
                <a:gd name="T58" fmla="*/ 70 w 2183"/>
                <a:gd name="T59" fmla="*/ 29 h 1119"/>
                <a:gd name="T60" fmla="*/ 65 w 2183"/>
                <a:gd name="T61" fmla="*/ 33 h 1119"/>
                <a:gd name="T62" fmla="*/ 64 w 2183"/>
                <a:gd name="T63" fmla="*/ 27 h 1119"/>
                <a:gd name="T64" fmla="*/ 63 w 2183"/>
                <a:gd name="T65" fmla="*/ 23 h 1119"/>
                <a:gd name="T66" fmla="*/ 62 w 2183"/>
                <a:gd name="T67" fmla="*/ 21 h 1119"/>
                <a:gd name="T68" fmla="*/ 61 w 2183"/>
                <a:gd name="T69" fmla="*/ 20 h 1119"/>
                <a:gd name="T70" fmla="*/ 60 w 2183"/>
                <a:gd name="T71" fmla="*/ 18 h 1119"/>
                <a:gd name="T72" fmla="*/ 59 w 2183"/>
                <a:gd name="T73" fmla="*/ 17 h 1119"/>
                <a:gd name="T74" fmla="*/ 58 w 2183"/>
                <a:gd name="T75" fmla="*/ 16 h 1119"/>
                <a:gd name="T76" fmla="*/ 57 w 2183"/>
                <a:gd name="T77" fmla="*/ 14 h 1119"/>
                <a:gd name="T78" fmla="*/ 55 w 2183"/>
                <a:gd name="T79" fmla="*/ 12 h 1119"/>
                <a:gd name="T80" fmla="*/ 52 w 2183"/>
                <a:gd name="T81" fmla="*/ 10 h 1119"/>
                <a:gd name="T82" fmla="*/ 49 w 2183"/>
                <a:gd name="T83" fmla="*/ 8 h 1119"/>
                <a:gd name="T84" fmla="*/ 46 w 2183"/>
                <a:gd name="T85" fmla="*/ 7 h 1119"/>
                <a:gd name="T86" fmla="*/ 40 w 2183"/>
                <a:gd name="T87" fmla="*/ 5 h 1119"/>
                <a:gd name="T88" fmla="*/ 26 w 2183"/>
                <a:gd name="T89" fmla="*/ 6 h 1119"/>
                <a:gd name="T90" fmla="*/ 22 w 2183"/>
                <a:gd name="T91" fmla="*/ 8 h 1119"/>
                <a:gd name="T92" fmla="*/ 19 w 2183"/>
                <a:gd name="T93" fmla="*/ 10 h 1119"/>
                <a:gd name="T94" fmla="*/ 16 w 2183"/>
                <a:gd name="T95" fmla="*/ 12 h 1119"/>
                <a:gd name="T96" fmla="*/ 14 w 2183"/>
                <a:gd name="T97" fmla="*/ 14 h 1119"/>
                <a:gd name="T98" fmla="*/ 13 w 2183"/>
                <a:gd name="T99" fmla="*/ 15 h 1119"/>
                <a:gd name="T100" fmla="*/ 12 w 2183"/>
                <a:gd name="T101" fmla="*/ 17 h 1119"/>
                <a:gd name="T102" fmla="*/ 10 w 2183"/>
                <a:gd name="T103" fmla="*/ 19 h 1119"/>
                <a:gd name="T104" fmla="*/ 9 w 2183"/>
                <a:gd name="T105" fmla="*/ 20 h 1119"/>
                <a:gd name="T106" fmla="*/ 8 w 2183"/>
                <a:gd name="T107" fmla="*/ 22 h 1119"/>
                <a:gd name="T108" fmla="*/ 7 w 2183"/>
                <a:gd name="T109" fmla="*/ 25 h 1119"/>
                <a:gd name="T110" fmla="*/ 5 w 2183"/>
                <a:gd name="T111" fmla="*/ 35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25716" name="Freeform 48"/>
            <p:cNvSpPr>
              <a:spLocks/>
            </p:cNvSpPr>
            <p:nvPr/>
          </p:nvSpPr>
          <p:spPr bwMode="auto">
            <a:xfrm>
              <a:off x="4607" y="3116"/>
              <a:ext cx="278" cy="150"/>
            </a:xfrm>
            <a:custGeom>
              <a:avLst/>
              <a:gdLst>
                <a:gd name="T0" fmla="*/ 50 w 1540"/>
                <a:gd name="T1" fmla="*/ 22 h 830"/>
                <a:gd name="T2" fmla="*/ 49 w 1540"/>
                <a:gd name="T3" fmla="*/ 18 h 830"/>
                <a:gd name="T4" fmla="*/ 48 w 1540"/>
                <a:gd name="T5" fmla="*/ 15 h 830"/>
                <a:gd name="T6" fmla="*/ 48 w 1540"/>
                <a:gd name="T7" fmla="*/ 14 h 830"/>
                <a:gd name="T8" fmla="*/ 47 w 1540"/>
                <a:gd name="T9" fmla="*/ 13 h 830"/>
                <a:gd name="T10" fmla="*/ 47 w 1540"/>
                <a:gd name="T11" fmla="*/ 12 h 830"/>
                <a:gd name="T12" fmla="*/ 46 w 1540"/>
                <a:gd name="T13" fmla="*/ 12 h 830"/>
                <a:gd name="T14" fmla="*/ 46 w 1540"/>
                <a:gd name="T15" fmla="*/ 11 h 830"/>
                <a:gd name="T16" fmla="*/ 45 w 1540"/>
                <a:gd name="T17" fmla="*/ 9 h 830"/>
                <a:gd name="T18" fmla="*/ 43 w 1540"/>
                <a:gd name="T19" fmla="*/ 8 h 830"/>
                <a:gd name="T20" fmla="*/ 42 w 1540"/>
                <a:gd name="T21" fmla="*/ 7 h 830"/>
                <a:gd name="T22" fmla="*/ 41 w 1540"/>
                <a:gd name="T23" fmla="*/ 5 h 830"/>
                <a:gd name="T24" fmla="*/ 39 w 1540"/>
                <a:gd name="T25" fmla="*/ 4 h 830"/>
                <a:gd name="T26" fmla="*/ 38 w 1540"/>
                <a:gd name="T27" fmla="*/ 3 h 830"/>
                <a:gd name="T28" fmla="*/ 36 w 1540"/>
                <a:gd name="T29" fmla="*/ 3 h 830"/>
                <a:gd name="T30" fmla="*/ 34 w 1540"/>
                <a:gd name="T31" fmla="*/ 2 h 830"/>
                <a:gd name="T32" fmla="*/ 31 w 1540"/>
                <a:gd name="T33" fmla="*/ 1 h 830"/>
                <a:gd name="T34" fmla="*/ 24 w 1540"/>
                <a:gd name="T35" fmla="*/ 0 h 830"/>
                <a:gd name="T36" fmla="*/ 18 w 1540"/>
                <a:gd name="T37" fmla="*/ 1 h 830"/>
                <a:gd name="T38" fmla="*/ 15 w 1540"/>
                <a:gd name="T39" fmla="*/ 2 h 830"/>
                <a:gd name="T40" fmla="*/ 13 w 1540"/>
                <a:gd name="T41" fmla="*/ 3 h 830"/>
                <a:gd name="T42" fmla="*/ 11 w 1540"/>
                <a:gd name="T43" fmla="*/ 4 h 830"/>
                <a:gd name="T44" fmla="*/ 10 w 1540"/>
                <a:gd name="T45" fmla="*/ 5 h 830"/>
                <a:gd name="T46" fmla="*/ 8 w 1540"/>
                <a:gd name="T47" fmla="*/ 7 h 830"/>
                <a:gd name="T48" fmla="*/ 7 w 1540"/>
                <a:gd name="T49" fmla="*/ 8 h 830"/>
                <a:gd name="T50" fmla="*/ 6 w 1540"/>
                <a:gd name="T51" fmla="*/ 9 h 830"/>
                <a:gd name="T52" fmla="*/ 5 w 1540"/>
                <a:gd name="T53" fmla="*/ 10 h 830"/>
                <a:gd name="T54" fmla="*/ 4 w 1540"/>
                <a:gd name="T55" fmla="*/ 12 h 830"/>
                <a:gd name="T56" fmla="*/ 3 w 1540"/>
                <a:gd name="T57" fmla="*/ 13 h 830"/>
                <a:gd name="T58" fmla="*/ 3 w 1540"/>
                <a:gd name="T59" fmla="*/ 14 h 830"/>
                <a:gd name="T60" fmla="*/ 2 w 1540"/>
                <a:gd name="T61" fmla="*/ 14 h 830"/>
                <a:gd name="T62" fmla="*/ 1 w 1540"/>
                <a:gd name="T63" fmla="*/ 17 h 830"/>
                <a:gd name="T64" fmla="*/ 0 w 1540"/>
                <a:gd name="T65" fmla="*/ 21 h 830"/>
                <a:gd name="T66" fmla="*/ 0 w 1540"/>
                <a:gd name="T67" fmla="*/ 27 h 830"/>
                <a:gd name="T68" fmla="*/ 5 w 1540"/>
                <a:gd name="T69" fmla="*/ 23 h 830"/>
                <a:gd name="T70" fmla="*/ 6 w 1540"/>
                <a:gd name="T71" fmla="*/ 20 h 830"/>
                <a:gd name="T72" fmla="*/ 7 w 1540"/>
                <a:gd name="T73" fmla="*/ 17 h 830"/>
                <a:gd name="T74" fmla="*/ 8 w 1540"/>
                <a:gd name="T75" fmla="*/ 16 h 830"/>
                <a:gd name="T76" fmla="*/ 8 w 1540"/>
                <a:gd name="T77" fmla="*/ 14 h 830"/>
                <a:gd name="T78" fmla="*/ 9 w 1540"/>
                <a:gd name="T79" fmla="*/ 13 h 830"/>
                <a:gd name="T80" fmla="*/ 10 w 1540"/>
                <a:gd name="T81" fmla="*/ 12 h 830"/>
                <a:gd name="T82" fmla="*/ 11 w 1540"/>
                <a:gd name="T83" fmla="*/ 11 h 830"/>
                <a:gd name="T84" fmla="*/ 12 w 1540"/>
                <a:gd name="T85" fmla="*/ 10 h 830"/>
                <a:gd name="T86" fmla="*/ 13 w 1540"/>
                <a:gd name="T87" fmla="*/ 9 h 830"/>
                <a:gd name="T88" fmla="*/ 14 w 1540"/>
                <a:gd name="T89" fmla="*/ 8 h 830"/>
                <a:gd name="T90" fmla="*/ 16 w 1540"/>
                <a:gd name="T91" fmla="*/ 7 h 830"/>
                <a:gd name="T92" fmla="*/ 19 w 1540"/>
                <a:gd name="T93" fmla="*/ 6 h 830"/>
                <a:gd name="T94" fmla="*/ 21 w 1540"/>
                <a:gd name="T95" fmla="*/ 5 h 830"/>
                <a:gd name="T96" fmla="*/ 31 w 1540"/>
                <a:gd name="T97" fmla="*/ 6 h 830"/>
                <a:gd name="T98" fmla="*/ 34 w 1540"/>
                <a:gd name="T99" fmla="*/ 7 h 830"/>
                <a:gd name="T100" fmla="*/ 36 w 1540"/>
                <a:gd name="T101" fmla="*/ 8 h 830"/>
                <a:gd name="T102" fmla="*/ 37 w 1540"/>
                <a:gd name="T103" fmla="*/ 9 h 830"/>
                <a:gd name="T104" fmla="*/ 38 w 1540"/>
                <a:gd name="T105" fmla="*/ 10 h 830"/>
                <a:gd name="T106" fmla="*/ 39 w 1540"/>
                <a:gd name="T107" fmla="*/ 11 h 830"/>
                <a:gd name="T108" fmla="*/ 40 w 1540"/>
                <a:gd name="T109" fmla="*/ 12 h 830"/>
                <a:gd name="T110" fmla="*/ 41 w 1540"/>
                <a:gd name="T111" fmla="*/ 13 h 830"/>
                <a:gd name="T112" fmla="*/ 42 w 1540"/>
                <a:gd name="T113" fmla="*/ 14 h 830"/>
                <a:gd name="T114" fmla="*/ 43 w 1540"/>
                <a:gd name="T115" fmla="*/ 16 h 830"/>
                <a:gd name="T116" fmla="*/ 44 w 1540"/>
                <a:gd name="T117" fmla="*/ 17 h 830"/>
                <a:gd name="T118" fmla="*/ 45 w 1540"/>
                <a:gd name="T119" fmla="*/ 23 h 830"/>
                <a:gd name="T120" fmla="*/ 50 w 1540"/>
                <a:gd name="T121" fmla="*/ 27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sp>
          <p:nvSpPr>
            <p:cNvPr id="25717" name="Freeform 49"/>
            <p:cNvSpPr>
              <a:spLocks/>
            </p:cNvSpPr>
            <p:nvPr/>
          </p:nvSpPr>
          <p:spPr bwMode="auto">
            <a:xfrm>
              <a:off x="4506" y="3398"/>
              <a:ext cx="481" cy="198"/>
            </a:xfrm>
            <a:custGeom>
              <a:avLst/>
              <a:gdLst>
                <a:gd name="T0" fmla="*/ 0 w 2668"/>
                <a:gd name="T1" fmla="*/ 36 h 1093"/>
                <a:gd name="T2" fmla="*/ 0 w 2668"/>
                <a:gd name="T3" fmla="*/ 0 h 1093"/>
                <a:gd name="T4" fmla="*/ 87 w 2668"/>
                <a:gd name="T5" fmla="*/ 0 h 1093"/>
                <a:gd name="T6" fmla="*/ 87 w 2668"/>
                <a:gd name="T7" fmla="*/ 36 h 1093"/>
                <a:gd name="T8" fmla="*/ 79 w 2668"/>
                <a:gd name="T9" fmla="*/ 36 h 1093"/>
                <a:gd name="T10" fmla="*/ 79 w 2668"/>
                <a:gd name="T11" fmla="*/ 8 h 1093"/>
                <a:gd name="T12" fmla="*/ 8 w 2668"/>
                <a:gd name="T13" fmla="*/ 8 h 1093"/>
                <a:gd name="T14" fmla="*/ 8 w 2668"/>
                <a:gd name="T15" fmla="*/ 36 h 1093"/>
                <a:gd name="T16" fmla="*/ 0 w 2668"/>
                <a:gd name="T17" fmla="*/ 36 h 1093"/>
                <a:gd name="T18" fmla="*/ 0 w 2668"/>
                <a:gd name="T19" fmla="*/ 36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25718" name="Freeform 50"/>
            <p:cNvSpPr>
              <a:spLocks/>
            </p:cNvSpPr>
            <p:nvPr/>
          </p:nvSpPr>
          <p:spPr bwMode="auto">
            <a:xfrm>
              <a:off x="4506" y="3596"/>
              <a:ext cx="481" cy="240"/>
            </a:xfrm>
            <a:custGeom>
              <a:avLst/>
              <a:gdLst>
                <a:gd name="T0" fmla="*/ 86 w 2668"/>
                <a:gd name="T1" fmla="*/ 9 h 1334"/>
                <a:gd name="T2" fmla="*/ 84 w 2668"/>
                <a:gd name="T3" fmla="*/ 14 h 1334"/>
                <a:gd name="T4" fmla="*/ 83 w 2668"/>
                <a:gd name="T5" fmla="*/ 18 h 1334"/>
                <a:gd name="T6" fmla="*/ 82 w 2668"/>
                <a:gd name="T7" fmla="*/ 20 h 1334"/>
                <a:gd name="T8" fmla="*/ 80 w 2668"/>
                <a:gd name="T9" fmla="*/ 22 h 1334"/>
                <a:gd name="T10" fmla="*/ 79 w 2668"/>
                <a:gd name="T11" fmla="*/ 24 h 1334"/>
                <a:gd name="T12" fmla="*/ 78 w 2668"/>
                <a:gd name="T13" fmla="*/ 27 h 1334"/>
                <a:gd name="T14" fmla="*/ 76 w 2668"/>
                <a:gd name="T15" fmla="*/ 29 h 1334"/>
                <a:gd name="T16" fmla="*/ 74 w 2668"/>
                <a:gd name="T17" fmla="*/ 30 h 1334"/>
                <a:gd name="T18" fmla="*/ 72 w 2668"/>
                <a:gd name="T19" fmla="*/ 32 h 1334"/>
                <a:gd name="T20" fmla="*/ 70 w 2668"/>
                <a:gd name="T21" fmla="*/ 34 h 1334"/>
                <a:gd name="T22" fmla="*/ 68 w 2668"/>
                <a:gd name="T23" fmla="*/ 35 h 1334"/>
                <a:gd name="T24" fmla="*/ 66 w 2668"/>
                <a:gd name="T25" fmla="*/ 37 h 1334"/>
                <a:gd name="T26" fmla="*/ 63 w 2668"/>
                <a:gd name="T27" fmla="*/ 38 h 1334"/>
                <a:gd name="T28" fmla="*/ 59 w 2668"/>
                <a:gd name="T29" fmla="*/ 40 h 1334"/>
                <a:gd name="T30" fmla="*/ 54 w 2668"/>
                <a:gd name="T31" fmla="*/ 42 h 1334"/>
                <a:gd name="T32" fmla="*/ 43 w 2668"/>
                <a:gd name="T33" fmla="*/ 43 h 1334"/>
                <a:gd name="T34" fmla="*/ 30 w 2668"/>
                <a:gd name="T35" fmla="*/ 41 h 1334"/>
                <a:gd name="T36" fmla="*/ 26 w 2668"/>
                <a:gd name="T37" fmla="*/ 39 h 1334"/>
                <a:gd name="T38" fmla="*/ 22 w 2668"/>
                <a:gd name="T39" fmla="*/ 37 h 1334"/>
                <a:gd name="T40" fmla="*/ 19 w 2668"/>
                <a:gd name="T41" fmla="*/ 36 h 1334"/>
                <a:gd name="T42" fmla="*/ 17 w 2668"/>
                <a:gd name="T43" fmla="*/ 35 h 1334"/>
                <a:gd name="T44" fmla="*/ 15 w 2668"/>
                <a:gd name="T45" fmla="*/ 33 h 1334"/>
                <a:gd name="T46" fmla="*/ 14 w 2668"/>
                <a:gd name="T47" fmla="*/ 31 h 1334"/>
                <a:gd name="T48" fmla="*/ 12 w 2668"/>
                <a:gd name="T49" fmla="*/ 30 h 1334"/>
                <a:gd name="T50" fmla="*/ 10 w 2668"/>
                <a:gd name="T51" fmla="*/ 28 h 1334"/>
                <a:gd name="T52" fmla="*/ 8 w 2668"/>
                <a:gd name="T53" fmla="*/ 26 h 1334"/>
                <a:gd name="T54" fmla="*/ 7 w 2668"/>
                <a:gd name="T55" fmla="*/ 23 h 1334"/>
                <a:gd name="T56" fmla="*/ 5 w 2668"/>
                <a:gd name="T57" fmla="*/ 21 h 1334"/>
                <a:gd name="T58" fmla="*/ 4 w 2668"/>
                <a:gd name="T59" fmla="*/ 19 h 1334"/>
                <a:gd name="T60" fmla="*/ 3 w 2668"/>
                <a:gd name="T61" fmla="*/ 16 h 1334"/>
                <a:gd name="T62" fmla="*/ 1 w 2668"/>
                <a:gd name="T63" fmla="*/ 11 h 1334"/>
                <a:gd name="T64" fmla="*/ 0 w 2668"/>
                <a:gd name="T65" fmla="*/ 0 h 1334"/>
                <a:gd name="T66" fmla="*/ 9 w 2668"/>
                <a:gd name="T67" fmla="*/ 8 h 1334"/>
                <a:gd name="T68" fmla="*/ 10 w 2668"/>
                <a:gd name="T69" fmla="*/ 12 h 1334"/>
                <a:gd name="T70" fmla="*/ 11 w 2668"/>
                <a:gd name="T71" fmla="*/ 15 h 1334"/>
                <a:gd name="T72" fmla="*/ 12 w 2668"/>
                <a:gd name="T73" fmla="*/ 17 h 1334"/>
                <a:gd name="T74" fmla="*/ 13 w 2668"/>
                <a:gd name="T75" fmla="*/ 19 h 1334"/>
                <a:gd name="T76" fmla="*/ 14 w 2668"/>
                <a:gd name="T77" fmla="*/ 21 h 1334"/>
                <a:gd name="T78" fmla="*/ 16 w 2668"/>
                <a:gd name="T79" fmla="*/ 22 h 1334"/>
                <a:gd name="T80" fmla="*/ 17 w 2668"/>
                <a:gd name="T81" fmla="*/ 24 h 1334"/>
                <a:gd name="T82" fmla="*/ 19 w 2668"/>
                <a:gd name="T83" fmla="*/ 25 h 1334"/>
                <a:gd name="T84" fmla="*/ 20 w 2668"/>
                <a:gd name="T85" fmla="*/ 27 h 1334"/>
                <a:gd name="T86" fmla="*/ 22 w 2668"/>
                <a:gd name="T87" fmla="*/ 28 h 1334"/>
                <a:gd name="T88" fmla="*/ 24 w 2668"/>
                <a:gd name="T89" fmla="*/ 29 h 1334"/>
                <a:gd name="T90" fmla="*/ 27 w 2668"/>
                <a:gd name="T91" fmla="*/ 31 h 1334"/>
                <a:gd name="T92" fmla="*/ 31 w 2668"/>
                <a:gd name="T93" fmla="*/ 33 h 1334"/>
                <a:gd name="T94" fmla="*/ 36 w 2668"/>
                <a:gd name="T95" fmla="*/ 35 h 1334"/>
                <a:gd name="T96" fmla="*/ 50 w 2668"/>
                <a:gd name="T97" fmla="*/ 35 h 1334"/>
                <a:gd name="T98" fmla="*/ 56 w 2668"/>
                <a:gd name="T99" fmla="*/ 33 h 1334"/>
                <a:gd name="T100" fmla="*/ 60 w 2668"/>
                <a:gd name="T101" fmla="*/ 31 h 1334"/>
                <a:gd name="T102" fmla="*/ 64 w 2668"/>
                <a:gd name="T103" fmla="*/ 29 h 1334"/>
                <a:gd name="T104" fmla="*/ 66 w 2668"/>
                <a:gd name="T105" fmla="*/ 27 h 1334"/>
                <a:gd name="T106" fmla="*/ 67 w 2668"/>
                <a:gd name="T107" fmla="*/ 26 h 1334"/>
                <a:gd name="T108" fmla="*/ 69 w 2668"/>
                <a:gd name="T109" fmla="*/ 24 h 1334"/>
                <a:gd name="T110" fmla="*/ 70 w 2668"/>
                <a:gd name="T111" fmla="*/ 23 h 1334"/>
                <a:gd name="T112" fmla="*/ 72 w 2668"/>
                <a:gd name="T113" fmla="*/ 21 h 1334"/>
                <a:gd name="T114" fmla="*/ 73 w 2668"/>
                <a:gd name="T115" fmla="*/ 19 h 1334"/>
                <a:gd name="T116" fmla="*/ 74 w 2668"/>
                <a:gd name="T117" fmla="*/ 18 h 1334"/>
                <a:gd name="T118" fmla="*/ 75 w 2668"/>
                <a:gd name="T119" fmla="*/ 16 h 1334"/>
                <a:gd name="T120" fmla="*/ 76 w 2668"/>
                <a:gd name="T121" fmla="*/ 14 h 1334"/>
                <a:gd name="T122" fmla="*/ 78 w 2668"/>
                <a:gd name="T123" fmla="*/ 10 h 1334"/>
                <a:gd name="T124" fmla="*/ 79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25719" name="Freeform 51"/>
            <p:cNvSpPr>
              <a:spLocks/>
            </p:cNvSpPr>
            <p:nvPr/>
          </p:nvSpPr>
          <p:spPr bwMode="auto">
            <a:xfrm>
              <a:off x="4697" y="3617"/>
              <a:ext cx="95" cy="109"/>
            </a:xfrm>
            <a:custGeom>
              <a:avLst/>
              <a:gdLst>
                <a:gd name="T0" fmla="*/ 0 w 529"/>
                <a:gd name="T1" fmla="*/ 20 h 606"/>
                <a:gd name="T2" fmla="*/ 17 w 529"/>
                <a:gd name="T3" fmla="*/ 20 h 606"/>
                <a:gd name="T4" fmla="*/ 15 w 529"/>
                <a:gd name="T5" fmla="*/ 2 h 606"/>
                <a:gd name="T6" fmla="*/ 11 w 529"/>
                <a:gd name="T7" fmla="*/ 0 h 606"/>
                <a:gd name="T8" fmla="*/ 13 w 529"/>
                <a:gd name="T9" fmla="*/ 16 h 606"/>
                <a:gd name="T10" fmla="*/ 5 w 529"/>
                <a:gd name="T11" fmla="*/ 16 h 606"/>
                <a:gd name="T12" fmla="*/ 7 w 529"/>
                <a:gd name="T13" fmla="*/ 0 h 606"/>
                <a:gd name="T14" fmla="*/ 3 w 529"/>
                <a:gd name="T15" fmla="*/ 2 h 606"/>
                <a:gd name="T16" fmla="*/ 0 w 529"/>
                <a:gd name="T17" fmla="*/ 20 h 606"/>
                <a:gd name="T18" fmla="*/ 0 w 529"/>
                <a:gd name="T19" fmla="*/ 2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25720" name="Freeform 52"/>
            <p:cNvSpPr>
              <a:spLocks/>
            </p:cNvSpPr>
            <p:nvPr/>
          </p:nvSpPr>
          <p:spPr bwMode="auto">
            <a:xfrm>
              <a:off x="4693" y="3529"/>
              <a:ext cx="110" cy="100"/>
            </a:xfrm>
            <a:custGeom>
              <a:avLst/>
              <a:gdLst>
                <a:gd name="T0" fmla="*/ 13 w 613"/>
                <a:gd name="T1" fmla="*/ 15 h 551"/>
                <a:gd name="T2" fmla="*/ 14 w 613"/>
                <a:gd name="T3" fmla="*/ 15 h 551"/>
                <a:gd name="T4" fmla="*/ 15 w 613"/>
                <a:gd name="T5" fmla="*/ 14 h 551"/>
                <a:gd name="T6" fmla="*/ 15 w 613"/>
                <a:gd name="T7" fmla="*/ 13 h 551"/>
                <a:gd name="T8" fmla="*/ 16 w 613"/>
                <a:gd name="T9" fmla="*/ 10 h 551"/>
                <a:gd name="T10" fmla="*/ 16 w 613"/>
                <a:gd name="T11" fmla="*/ 8 h 551"/>
                <a:gd name="T12" fmla="*/ 15 w 613"/>
                <a:gd name="T13" fmla="*/ 7 h 551"/>
                <a:gd name="T14" fmla="*/ 15 w 613"/>
                <a:gd name="T15" fmla="*/ 7 h 551"/>
                <a:gd name="T16" fmla="*/ 15 w 613"/>
                <a:gd name="T17" fmla="*/ 6 h 551"/>
                <a:gd name="T18" fmla="*/ 14 w 613"/>
                <a:gd name="T19" fmla="*/ 5 h 551"/>
                <a:gd name="T20" fmla="*/ 13 w 613"/>
                <a:gd name="T21" fmla="*/ 5 h 551"/>
                <a:gd name="T22" fmla="*/ 11 w 613"/>
                <a:gd name="T23" fmla="*/ 4 h 551"/>
                <a:gd name="T24" fmla="*/ 7 w 613"/>
                <a:gd name="T25" fmla="*/ 5 h 551"/>
                <a:gd name="T26" fmla="*/ 6 w 613"/>
                <a:gd name="T27" fmla="*/ 6 h 551"/>
                <a:gd name="T28" fmla="*/ 5 w 613"/>
                <a:gd name="T29" fmla="*/ 7 h 551"/>
                <a:gd name="T30" fmla="*/ 4 w 613"/>
                <a:gd name="T31" fmla="*/ 7 h 551"/>
                <a:gd name="T32" fmla="*/ 4 w 613"/>
                <a:gd name="T33" fmla="*/ 9 h 551"/>
                <a:gd name="T34" fmla="*/ 4 w 613"/>
                <a:gd name="T35" fmla="*/ 12 h 551"/>
                <a:gd name="T36" fmla="*/ 4 w 613"/>
                <a:gd name="T37" fmla="*/ 13 h 551"/>
                <a:gd name="T38" fmla="*/ 5 w 613"/>
                <a:gd name="T39" fmla="*/ 14 h 551"/>
                <a:gd name="T40" fmla="*/ 5 w 613"/>
                <a:gd name="T41" fmla="*/ 14 h 551"/>
                <a:gd name="T42" fmla="*/ 6 w 613"/>
                <a:gd name="T43" fmla="*/ 15 h 551"/>
                <a:gd name="T44" fmla="*/ 6 w 613"/>
                <a:gd name="T45" fmla="*/ 15 h 551"/>
                <a:gd name="T46" fmla="*/ 7 w 613"/>
                <a:gd name="T47" fmla="*/ 16 h 551"/>
                <a:gd name="T48" fmla="*/ 3 w 613"/>
                <a:gd name="T49" fmla="*/ 18 h 551"/>
                <a:gd name="T50" fmla="*/ 3 w 613"/>
                <a:gd name="T51" fmla="*/ 17 h 551"/>
                <a:gd name="T52" fmla="*/ 2 w 613"/>
                <a:gd name="T53" fmla="*/ 16 h 551"/>
                <a:gd name="T54" fmla="*/ 1 w 613"/>
                <a:gd name="T55" fmla="*/ 15 h 551"/>
                <a:gd name="T56" fmla="*/ 0 w 613"/>
                <a:gd name="T57" fmla="*/ 13 h 551"/>
                <a:gd name="T58" fmla="*/ 0 w 613"/>
                <a:gd name="T59" fmla="*/ 9 h 551"/>
                <a:gd name="T60" fmla="*/ 1 w 613"/>
                <a:gd name="T61" fmla="*/ 7 h 551"/>
                <a:gd name="T62" fmla="*/ 1 w 613"/>
                <a:gd name="T63" fmla="*/ 6 h 551"/>
                <a:gd name="T64" fmla="*/ 1 w 613"/>
                <a:gd name="T65" fmla="*/ 5 h 551"/>
                <a:gd name="T66" fmla="*/ 2 w 613"/>
                <a:gd name="T67" fmla="*/ 4 h 551"/>
                <a:gd name="T68" fmla="*/ 3 w 613"/>
                <a:gd name="T69" fmla="*/ 3 h 551"/>
                <a:gd name="T70" fmla="*/ 3 w 613"/>
                <a:gd name="T71" fmla="*/ 2 h 551"/>
                <a:gd name="T72" fmla="*/ 4 w 613"/>
                <a:gd name="T73" fmla="*/ 2 h 551"/>
                <a:gd name="T74" fmla="*/ 5 w 613"/>
                <a:gd name="T75" fmla="*/ 1 h 551"/>
                <a:gd name="T76" fmla="*/ 6 w 613"/>
                <a:gd name="T77" fmla="*/ 1 h 551"/>
                <a:gd name="T78" fmla="*/ 8 w 613"/>
                <a:gd name="T79" fmla="*/ 0 h 551"/>
                <a:gd name="T80" fmla="*/ 11 w 613"/>
                <a:gd name="T81" fmla="*/ 0 h 551"/>
                <a:gd name="T82" fmla="*/ 14 w 613"/>
                <a:gd name="T83" fmla="*/ 1 h 551"/>
                <a:gd name="T84" fmla="*/ 15 w 613"/>
                <a:gd name="T85" fmla="*/ 2 h 551"/>
                <a:gd name="T86" fmla="*/ 16 w 613"/>
                <a:gd name="T87" fmla="*/ 2 h 551"/>
                <a:gd name="T88" fmla="*/ 17 w 613"/>
                <a:gd name="T89" fmla="*/ 3 h 551"/>
                <a:gd name="T90" fmla="*/ 18 w 613"/>
                <a:gd name="T91" fmla="*/ 4 h 551"/>
                <a:gd name="T92" fmla="*/ 18 w 613"/>
                <a:gd name="T93" fmla="*/ 5 h 551"/>
                <a:gd name="T94" fmla="*/ 19 w 613"/>
                <a:gd name="T95" fmla="*/ 6 h 551"/>
                <a:gd name="T96" fmla="*/ 20 w 613"/>
                <a:gd name="T97" fmla="*/ 9 h 551"/>
                <a:gd name="T98" fmla="*/ 20 w 613"/>
                <a:gd name="T99" fmla="*/ 12 h 551"/>
                <a:gd name="T100" fmla="*/ 19 w 613"/>
                <a:gd name="T101" fmla="*/ 14 h 551"/>
                <a:gd name="T102" fmla="*/ 18 w 613"/>
                <a:gd name="T103" fmla="*/ 15 h 551"/>
                <a:gd name="T104" fmla="*/ 18 w 613"/>
                <a:gd name="T105" fmla="*/ 16 h 551"/>
                <a:gd name="T106" fmla="*/ 17 w 613"/>
                <a:gd name="T107" fmla="*/ 17 h 551"/>
                <a:gd name="T108" fmla="*/ 17 w 613"/>
                <a:gd name="T109" fmla="*/ 17 h 551"/>
                <a:gd name="T110" fmla="*/ 16 w 613"/>
                <a:gd name="T111" fmla="*/ 18 h 551"/>
                <a:gd name="T112" fmla="*/ 12 w 613"/>
                <a:gd name="T113" fmla="*/ 16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25721" name="Freeform 53"/>
            <p:cNvSpPr>
              <a:spLocks/>
            </p:cNvSpPr>
            <p:nvPr/>
          </p:nvSpPr>
          <p:spPr bwMode="auto">
            <a:xfrm>
              <a:off x="4576" y="3467"/>
              <a:ext cx="247" cy="285"/>
            </a:xfrm>
            <a:custGeom>
              <a:avLst/>
              <a:gdLst>
                <a:gd name="T0" fmla="*/ 1 w 1365"/>
                <a:gd name="T1" fmla="*/ 0 h 1583"/>
                <a:gd name="T2" fmla="*/ 0 w 1365"/>
                <a:gd name="T3" fmla="*/ 25 h 1583"/>
                <a:gd name="T4" fmla="*/ 1 w 1365"/>
                <a:gd name="T5" fmla="*/ 32 h 1583"/>
                <a:gd name="T6" fmla="*/ 3 w 1365"/>
                <a:gd name="T7" fmla="*/ 39 h 1583"/>
                <a:gd name="T8" fmla="*/ 6 w 1365"/>
                <a:gd name="T9" fmla="*/ 43 h 1583"/>
                <a:gd name="T10" fmla="*/ 12 w 1365"/>
                <a:gd name="T11" fmla="*/ 48 h 1583"/>
                <a:gd name="T12" fmla="*/ 17 w 1365"/>
                <a:gd name="T13" fmla="*/ 51 h 1583"/>
                <a:gd name="T14" fmla="*/ 23 w 1365"/>
                <a:gd name="T15" fmla="*/ 30 h 1583"/>
                <a:gd name="T16" fmla="*/ 18 w 1365"/>
                <a:gd name="T17" fmla="*/ 23 h 1583"/>
                <a:gd name="T18" fmla="*/ 18 w 1365"/>
                <a:gd name="T19" fmla="*/ 16 h 1583"/>
                <a:gd name="T20" fmla="*/ 20 w 1365"/>
                <a:gd name="T21" fmla="*/ 11 h 1583"/>
                <a:gd name="T22" fmla="*/ 26 w 1365"/>
                <a:gd name="T23" fmla="*/ 6 h 1583"/>
                <a:gd name="T24" fmla="*/ 33 w 1365"/>
                <a:gd name="T25" fmla="*/ 3 h 1583"/>
                <a:gd name="T26" fmla="*/ 45 w 1365"/>
                <a:gd name="T27" fmla="*/ 0 h 1583"/>
                <a:gd name="T28" fmla="*/ 1 w 1365"/>
                <a:gd name="T29" fmla="*/ 0 h 1583"/>
                <a:gd name="T30" fmla="*/ 1 w 1365"/>
                <a:gd name="T31" fmla="*/ 0 h 1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5"/>
                <a:gd name="T49" fmla="*/ 0 h 1583"/>
                <a:gd name="T50" fmla="*/ 1365 w 1365"/>
                <a:gd name="T51" fmla="*/ 1583 h 1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5" h="1583">
                  <a:moveTo>
                    <a:pt x="15" y="6"/>
                  </a:moveTo>
                  <a:lnTo>
                    <a:pt x="0" y="774"/>
                  </a:lnTo>
                  <a:lnTo>
                    <a:pt x="28" y="1000"/>
                  </a:lnTo>
                  <a:lnTo>
                    <a:pt x="91" y="1190"/>
                  </a:lnTo>
                  <a:lnTo>
                    <a:pt x="190" y="1338"/>
                  </a:lnTo>
                  <a:lnTo>
                    <a:pt x="352" y="1464"/>
                  </a:lnTo>
                  <a:lnTo>
                    <a:pt x="528" y="1583"/>
                  </a:lnTo>
                  <a:lnTo>
                    <a:pt x="698" y="922"/>
                  </a:lnTo>
                  <a:lnTo>
                    <a:pt x="563" y="703"/>
                  </a:lnTo>
                  <a:lnTo>
                    <a:pt x="549" y="492"/>
                  </a:lnTo>
                  <a:lnTo>
                    <a:pt x="627" y="338"/>
                  </a:lnTo>
                  <a:lnTo>
                    <a:pt x="781" y="190"/>
                  </a:lnTo>
                  <a:lnTo>
                    <a:pt x="992" y="91"/>
                  </a:lnTo>
                  <a:lnTo>
                    <a:pt x="1365" y="0"/>
                  </a:lnTo>
                  <a:lnTo>
                    <a:pt x="15" y="6"/>
                  </a:lnTo>
                  <a:close/>
                </a:path>
              </a:pathLst>
            </a:custGeom>
            <a:solidFill>
              <a:srgbClr val="D4D4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22" name="Freeform 54"/>
            <p:cNvSpPr>
              <a:spLocks/>
            </p:cNvSpPr>
            <p:nvPr/>
          </p:nvSpPr>
          <p:spPr bwMode="auto">
            <a:xfrm>
              <a:off x="4683" y="3460"/>
              <a:ext cx="248" cy="313"/>
            </a:xfrm>
            <a:custGeom>
              <a:avLst/>
              <a:gdLst>
                <a:gd name="T0" fmla="*/ 23 w 1373"/>
                <a:gd name="T1" fmla="*/ 14 h 1733"/>
                <a:gd name="T2" fmla="*/ 25 w 1373"/>
                <a:gd name="T3" fmla="*/ 18 h 1733"/>
                <a:gd name="T4" fmla="*/ 26 w 1373"/>
                <a:gd name="T5" fmla="*/ 22 h 1733"/>
                <a:gd name="T6" fmla="*/ 25 w 1373"/>
                <a:gd name="T7" fmla="*/ 27 h 1733"/>
                <a:gd name="T8" fmla="*/ 20 w 1373"/>
                <a:gd name="T9" fmla="*/ 31 h 1733"/>
                <a:gd name="T10" fmla="*/ 23 w 1373"/>
                <a:gd name="T11" fmla="*/ 50 h 1733"/>
                <a:gd name="T12" fmla="*/ 1 w 1373"/>
                <a:gd name="T13" fmla="*/ 51 h 1733"/>
                <a:gd name="T14" fmla="*/ 0 w 1373"/>
                <a:gd name="T15" fmla="*/ 53 h 1733"/>
                <a:gd name="T16" fmla="*/ 5 w 1373"/>
                <a:gd name="T17" fmla="*/ 55 h 1733"/>
                <a:gd name="T18" fmla="*/ 10 w 1373"/>
                <a:gd name="T19" fmla="*/ 57 h 1733"/>
                <a:gd name="T20" fmla="*/ 16 w 1373"/>
                <a:gd name="T21" fmla="*/ 56 h 1733"/>
                <a:gd name="T22" fmla="*/ 22 w 1373"/>
                <a:gd name="T23" fmla="*/ 54 h 1733"/>
                <a:gd name="T24" fmla="*/ 29 w 1373"/>
                <a:gd name="T25" fmla="*/ 52 h 1733"/>
                <a:gd name="T26" fmla="*/ 35 w 1373"/>
                <a:gd name="T27" fmla="*/ 47 h 1733"/>
                <a:gd name="T28" fmla="*/ 40 w 1373"/>
                <a:gd name="T29" fmla="*/ 40 h 1733"/>
                <a:gd name="T30" fmla="*/ 44 w 1373"/>
                <a:gd name="T31" fmla="*/ 29 h 1733"/>
                <a:gd name="T32" fmla="*/ 45 w 1373"/>
                <a:gd name="T33" fmla="*/ 16 h 1733"/>
                <a:gd name="T34" fmla="*/ 44 w 1373"/>
                <a:gd name="T35" fmla="*/ 0 h 1733"/>
                <a:gd name="T36" fmla="*/ 28 w 1373"/>
                <a:gd name="T37" fmla="*/ 1 h 1733"/>
                <a:gd name="T38" fmla="*/ 19 w 1373"/>
                <a:gd name="T39" fmla="*/ 4 h 1733"/>
                <a:gd name="T40" fmla="*/ 13 w 1373"/>
                <a:gd name="T41" fmla="*/ 7 h 1733"/>
                <a:gd name="T42" fmla="*/ 7 w 1373"/>
                <a:gd name="T43" fmla="*/ 9 h 1733"/>
                <a:gd name="T44" fmla="*/ 3 w 1373"/>
                <a:gd name="T45" fmla="*/ 13 h 1733"/>
                <a:gd name="T46" fmla="*/ 9 w 1373"/>
                <a:gd name="T47" fmla="*/ 10 h 1733"/>
                <a:gd name="T48" fmla="*/ 15 w 1373"/>
                <a:gd name="T49" fmla="*/ 10 h 1733"/>
                <a:gd name="T50" fmla="*/ 20 w 1373"/>
                <a:gd name="T51" fmla="*/ 11 h 1733"/>
                <a:gd name="T52" fmla="*/ 23 w 1373"/>
                <a:gd name="T53" fmla="*/ 14 h 1733"/>
                <a:gd name="T54" fmla="*/ 23 w 1373"/>
                <a:gd name="T55" fmla="*/ 14 h 17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73"/>
                <a:gd name="T85" fmla="*/ 0 h 1733"/>
                <a:gd name="T86" fmla="*/ 1373 w 1373"/>
                <a:gd name="T87" fmla="*/ 1733 h 17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73" h="1733">
                  <a:moveTo>
                    <a:pt x="696" y="424"/>
                  </a:moveTo>
                  <a:lnTo>
                    <a:pt x="767" y="549"/>
                  </a:lnTo>
                  <a:lnTo>
                    <a:pt x="788" y="684"/>
                  </a:lnTo>
                  <a:lnTo>
                    <a:pt x="753" y="831"/>
                  </a:lnTo>
                  <a:lnTo>
                    <a:pt x="626" y="966"/>
                  </a:lnTo>
                  <a:lnTo>
                    <a:pt x="711" y="1543"/>
                  </a:lnTo>
                  <a:lnTo>
                    <a:pt x="21" y="1557"/>
                  </a:lnTo>
                  <a:lnTo>
                    <a:pt x="0" y="1627"/>
                  </a:lnTo>
                  <a:lnTo>
                    <a:pt x="149" y="1697"/>
                  </a:lnTo>
                  <a:lnTo>
                    <a:pt x="318" y="1733"/>
                  </a:lnTo>
                  <a:lnTo>
                    <a:pt x="493" y="1711"/>
                  </a:lnTo>
                  <a:lnTo>
                    <a:pt x="670" y="1669"/>
                  </a:lnTo>
                  <a:lnTo>
                    <a:pt x="873" y="1598"/>
                  </a:lnTo>
                  <a:lnTo>
                    <a:pt x="1077" y="1450"/>
                  </a:lnTo>
                  <a:lnTo>
                    <a:pt x="1238" y="1213"/>
                  </a:lnTo>
                  <a:lnTo>
                    <a:pt x="1350" y="874"/>
                  </a:lnTo>
                  <a:lnTo>
                    <a:pt x="1373" y="494"/>
                  </a:lnTo>
                  <a:lnTo>
                    <a:pt x="1350" y="0"/>
                  </a:lnTo>
                  <a:lnTo>
                    <a:pt x="858" y="36"/>
                  </a:lnTo>
                  <a:lnTo>
                    <a:pt x="576" y="127"/>
                  </a:lnTo>
                  <a:lnTo>
                    <a:pt x="401" y="198"/>
                  </a:lnTo>
                  <a:lnTo>
                    <a:pt x="219" y="289"/>
                  </a:lnTo>
                  <a:lnTo>
                    <a:pt x="86" y="401"/>
                  </a:lnTo>
                  <a:lnTo>
                    <a:pt x="274" y="317"/>
                  </a:lnTo>
                  <a:lnTo>
                    <a:pt x="459" y="297"/>
                  </a:lnTo>
                  <a:lnTo>
                    <a:pt x="605" y="346"/>
                  </a:lnTo>
                  <a:lnTo>
                    <a:pt x="696" y="424"/>
                  </a:lnTo>
                  <a:close/>
                </a:path>
              </a:pathLst>
            </a:custGeom>
            <a:solidFill>
              <a:srgbClr val="7878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5630" name="Group 55"/>
          <p:cNvGrpSpPr>
            <a:grpSpLocks/>
          </p:cNvGrpSpPr>
          <p:nvPr/>
        </p:nvGrpSpPr>
        <p:grpSpPr bwMode="auto">
          <a:xfrm>
            <a:off x="4214813" y="1557338"/>
            <a:ext cx="407987" cy="655637"/>
            <a:chOff x="4506" y="3057"/>
            <a:chExt cx="488" cy="786"/>
          </a:xfrm>
        </p:grpSpPr>
        <p:sp>
          <p:nvSpPr>
            <p:cNvPr id="25685" name="AutoShape 56"/>
            <p:cNvSpPr>
              <a:spLocks noChangeAspect="1" noChangeArrowheads="1" noTextEdit="1"/>
            </p:cNvSpPr>
            <p:nvPr/>
          </p:nvSpPr>
          <p:spPr bwMode="auto">
            <a:xfrm>
              <a:off x="4506" y="3057"/>
              <a:ext cx="488"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5686" name="Freeform 57"/>
            <p:cNvSpPr>
              <a:spLocks/>
            </p:cNvSpPr>
            <p:nvPr/>
          </p:nvSpPr>
          <p:spPr bwMode="auto">
            <a:xfrm>
              <a:off x="4585" y="3083"/>
              <a:ext cx="292" cy="325"/>
            </a:xfrm>
            <a:custGeom>
              <a:avLst/>
              <a:gdLst>
                <a:gd name="T0" fmla="*/ 8 w 1619"/>
                <a:gd name="T1" fmla="*/ 58 h 1804"/>
                <a:gd name="T2" fmla="*/ 0 w 1619"/>
                <a:gd name="T3" fmla="*/ 59 h 1804"/>
                <a:gd name="T4" fmla="*/ 1 w 1619"/>
                <a:gd name="T5" fmla="*/ 22 h 1804"/>
                <a:gd name="T6" fmla="*/ 6 w 1619"/>
                <a:gd name="T7" fmla="*/ 10 h 1804"/>
                <a:gd name="T8" fmla="*/ 15 w 1619"/>
                <a:gd name="T9" fmla="*/ 4 h 1804"/>
                <a:gd name="T10" fmla="*/ 25 w 1619"/>
                <a:gd name="T11" fmla="*/ 1 h 1804"/>
                <a:gd name="T12" fmla="*/ 33 w 1619"/>
                <a:gd name="T13" fmla="*/ 0 h 1804"/>
                <a:gd name="T14" fmla="*/ 42 w 1619"/>
                <a:gd name="T15" fmla="*/ 5 h 1804"/>
                <a:gd name="T16" fmla="*/ 47 w 1619"/>
                <a:gd name="T17" fmla="*/ 11 h 1804"/>
                <a:gd name="T18" fmla="*/ 53 w 1619"/>
                <a:gd name="T19" fmla="*/ 25 h 1804"/>
                <a:gd name="T20" fmla="*/ 42 w 1619"/>
                <a:gd name="T21" fmla="*/ 10 h 1804"/>
                <a:gd name="T22" fmla="*/ 31 w 1619"/>
                <a:gd name="T23" fmla="*/ 8 h 1804"/>
                <a:gd name="T24" fmla="*/ 18 w 1619"/>
                <a:gd name="T25" fmla="*/ 11 h 1804"/>
                <a:gd name="T26" fmla="*/ 12 w 1619"/>
                <a:gd name="T27" fmla="*/ 17 h 1804"/>
                <a:gd name="T28" fmla="*/ 8 w 1619"/>
                <a:gd name="T29" fmla="*/ 24 h 1804"/>
                <a:gd name="T30" fmla="*/ 8 w 1619"/>
                <a:gd name="T31" fmla="*/ 35 h 1804"/>
                <a:gd name="T32" fmla="*/ 8 w 1619"/>
                <a:gd name="T33" fmla="*/ 58 h 1804"/>
                <a:gd name="T34" fmla="*/ 8 w 1619"/>
                <a:gd name="T35" fmla="*/ 58 h 18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9"/>
                <a:gd name="T55" fmla="*/ 0 h 1804"/>
                <a:gd name="T56" fmla="*/ 1619 w 1619"/>
                <a:gd name="T57" fmla="*/ 1804 h 18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9" h="1804">
                  <a:moveTo>
                    <a:pt x="232" y="1796"/>
                  </a:moveTo>
                  <a:lnTo>
                    <a:pt x="0" y="1804"/>
                  </a:lnTo>
                  <a:lnTo>
                    <a:pt x="21" y="669"/>
                  </a:lnTo>
                  <a:lnTo>
                    <a:pt x="183" y="324"/>
                  </a:lnTo>
                  <a:lnTo>
                    <a:pt x="464" y="120"/>
                  </a:lnTo>
                  <a:lnTo>
                    <a:pt x="782" y="29"/>
                  </a:lnTo>
                  <a:lnTo>
                    <a:pt x="1001" y="0"/>
                  </a:lnTo>
                  <a:lnTo>
                    <a:pt x="1303" y="149"/>
                  </a:lnTo>
                  <a:lnTo>
                    <a:pt x="1457" y="331"/>
                  </a:lnTo>
                  <a:lnTo>
                    <a:pt x="1619" y="768"/>
                  </a:lnTo>
                  <a:lnTo>
                    <a:pt x="1282" y="324"/>
                  </a:lnTo>
                  <a:lnTo>
                    <a:pt x="943" y="232"/>
                  </a:lnTo>
                  <a:lnTo>
                    <a:pt x="542" y="339"/>
                  </a:lnTo>
                  <a:lnTo>
                    <a:pt x="373" y="529"/>
                  </a:lnTo>
                  <a:lnTo>
                    <a:pt x="247" y="747"/>
                  </a:lnTo>
                  <a:lnTo>
                    <a:pt x="240" y="1078"/>
                  </a:lnTo>
                  <a:lnTo>
                    <a:pt x="232" y="1796"/>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87" name="Freeform 58"/>
            <p:cNvSpPr>
              <a:spLocks/>
            </p:cNvSpPr>
            <p:nvPr/>
          </p:nvSpPr>
          <p:spPr bwMode="auto">
            <a:xfrm>
              <a:off x="4560" y="3077"/>
              <a:ext cx="280" cy="335"/>
            </a:xfrm>
            <a:custGeom>
              <a:avLst/>
              <a:gdLst>
                <a:gd name="T0" fmla="*/ 6 w 1555"/>
                <a:gd name="T1" fmla="*/ 59 h 1859"/>
                <a:gd name="T2" fmla="*/ 6 w 1555"/>
                <a:gd name="T3" fmla="*/ 25 h 1859"/>
                <a:gd name="T4" fmla="*/ 9 w 1555"/>
                <a:gd name="T5" fmla="*/ 17 h 1859"/>
                <a:gd name="T6" fmla="*/ 14 w 1555"/>
                <a:gd name="T7" fmla="*/ 12 h 1859"/>
                <a:gd name="T8" fmla="*/ 20 w 1555"/>
                <a:gd name="T9" fmla="*/ 7 h 1859"/>
                <a:gd name="T10" fmla="*/ 27 w 1555"/>
                <a:gd name="T11" fmla="*/ 5 h 1859"/>
                <a:gd name="T12" fmla="*/ 34 w 1555"/>
                <a:gd name="T13" fmla="*/ 3 h 1859"/>
                <a:gd name="T14" fmla="*/ 39 w 1555"/>
                <a:gd name="T15" fmla="*/ 4 h 1859"/>
                <a:gd name="T16" fmla="*/ 50 w 1555"/>
                <a:gd name="T17" fmla="*/ 7 h 1859"/>
                <a:gd name="T18" fmla="*/ 43 w 1555"/>
                <a:gd name="T19" fmla="*/ 2 h 1859"/>
                <a:gd name="T20" fmla="*/ 28 w 1555"/>
                <a:gd name="T21" fmla="*/ 0 h 1859"/>
                <a:gd name="T22" fmla="*/ 12 w 1555"/>
                <a:gd name="T23" fmla="*/ 6 h 1859"/>
                <a:gd name="T24" fmla="*/ 6 w 1555"/>
                <a:gd name="T25" fmla="*/ 16 h 1859"/>
                <a:gd name="T26" fmla="*/ 1 w 1555"/>
                <a:gd name="T27" fmla="*/ 24 h 1859"/>
                <a:gd name="T28" fmla="*/ 0 w 1555"/>
                <a:gd name="T29" fmla="*/ 60 h 1859"/>
                <a:gd name="T30" fmla="*/ 6 w 1555"/>
                <a:gd name="T31" fmla="*/ 59 h 1859"/>
                <a:gd name="T32" fmla="*/ 6 w 1555"/>
                <a:gd name="T33" fmla="*/ 59 h 18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5"/>
                <a:gd name="T52" fmla="*/ 0 h 1859"/>
                <a:gd name="T53" fmla="*/ 1555 w 1555"/>
                <a:gd name="T54" fmla="*/ 1859 h 18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5" h="1859">
                  <a:moveTo>
                    <a:pt x="182" y="1802"/>
                  </a:moveTo>
                  <a:lnTo>
                    <a:pt x="197" y="753"/>
                  </a:lnTo>
                  <a:lnTo>
                    <a:pt x="289" y="513"/>
                  </a:lnTo>
                  <a:lnTo>
                    <a:pt x="437" y="358"/>
                  </a:lnTo>
                  <a:lnTo>
                    <a:pt x="619" y="224"/>
                  </a:lnTo>
                  <a:lnTo>
                    <a:pt x="836" y="147"/>
                  </a:lnTo>
                  <a:lnTo>
                    <a:pt x="1047" y="105"/>
                  </a:lnTo>
                  <a:lnTo>
                    <a:pt x="1211" y="118"/>
                  </a:lnTo>
                  <a:lnTo>
                    <a:pt x="1555" y="204"/>
                  </a:lnTo>
                  <a:lnTo>
                    <a:pt x="1329" y="55"/>
                  </a:lnTo>
                  <a:lnTo>
                    <a:pt x="872" y="0"/>
                  </a:lnTo>
                  <a:lnTo>
                    <a:pt x="380" y="196"/>
                  </a:lnTo>
                  <a:lnTo>
                    <a:pt x="182" y="500"/>
                  </a:lnTo>
                  <a:lnTo>
                    <a:pt x="36" y="745"/>
                  </a:lnTo>
                  <a:lnTo>
                    <a:pt x="0" y="1859"/>
                  </a:lnTo>
                  <a:lnTo>
                    <a:pt x="182" y="1802"/>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88" name="Freeform 59"/>
            <p:cNvSpPr>
              <a:spLocks/>
            </p:cNvSpPr>
            <p:nvPr/>
          </p:nvSpPr>
          <p:spPr bwMode="auto">
            <a:xfrm>
              <a:off x="4810" y="3100"/>
              <a:ext cx="112" cy="318"/>
            </a:xfrm>
            <a:custGeom>
              <a:avLst/>
              <a:gdLst>
                <a:gd name="T0" fmla="*/ 0 w 620"/>
                <a:gd name="T1" fmla="*/ 0 h 1767"/>
                <a:gd name="T2" fmla="*/ 9 w 620"/>
                <a:gd name="T3" fmla="*/ 10 h 1767"/>
                <a:gd name="T4" fmla="*/ 15 w 620"/>
                <a:gd name="T5" fmla="*/ 21 h 1767"/>
                <a:gd name="T6" fmla="*/ 15 w 620"/>
                <a:gd name="T7" fmla="*/ 39 h 1767"/>
                <a:gd name="T8" fmla="*/ 15 w 620"/>
                <a:gd name="T9" fmla="*/ 57 h 1767"/>
                <a:gd name="T10" fmla="*/ 20 w 620"/>
                <a:gd name="T11" fmla="*/ 56 h 1767"/>
                <a:gd name="T12" fmla="*/ 20 w 620"/>
                <a:gd name="T13" fmla="*/ 21 h 1767"/>
                <a:gd name="T14" fmla="*/ 12 w 620"/>
                <a:gd name="T15" fmla="*/ 5 h 1767"/>
                <a:gd name="T16" fmla="*/ 0 w 620"/>
                <a:gd name="T17" fmla="*/ 0 h 1767"/>
                <a:gd name="T18" fmla="*/ 0 w 620"/>
                <a:gd name="T19" fmla="*/ 0 h 17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0"/>
                <a:gd name="T31" fmla="*/ 0 h 1767"/>
                <a:gd name="T32" fmla="*/ 620 w 620"/>
                <a:gd name="T33" fmla="*/ 1767 h 17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0" h="1767">
                  <a:moveTo>
                    <a:pt x="0" y="0"/>
                  </a:moveTo>
                  <a:lnTo>
                    <a:pt x="289" y="296"/>
                  </a:lnTo>
                  <a:lnTo>
                    <a:pt x="451" y="634"/>
                  </a:lnTo>
                  <a:lnTo>
                    <a:pt x="464" y="1189"/>
                  </a:lnTo>
                  <a:lnTo>
                    <a:pt x="464" y="1767"/>
                  </a:lnTo>
                  <a:lnTo>
                    <a:pt x="620" y="1739"/>
                  </a:lnTo>
                  <a:lnTo>
                    <a:pt x="612" y="640"/>
                  </a:lnTo>
                  <a:lnTo>
                    <a:pt x="380" y="169"/>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89" name="Freeform 60"/>
            <p:cNvSpPr>
              <a:spLocks/>
            </p:cNvSpPr>
            <p:nvPr/>
          </p:nvSpPr>
          <p:spPr bwMode="auto">
            <a:xfrm>
              <a:off x="4809" y="3098"/>
              <a:ext cx="91" cy="313"/>
            </a:xfrm>
            <a:custGeom>
              <a:avLst/>
              <a:gdLst>
                <a:gd name="T0" fmla="*/ 0 w 508"/>
                <a:gd name="T1" fmla="*/ 0 h 1733"/>
                <a:gd name="T2" fmla="*/ 7 w 508"/>
                <a:gd name="T3" fmla="*/ 13 h 1733"/>
                <a:gd name="T4" fmla="*/ 11 w 508"/>
                <a:gd name="T5" fmla="*/ 27 h 1733"/>
                <a:gd name="T6" fmla="*/ 11 w 508"/>
                <a:gd name="T7" fmla="*/ 56 h 1733"/>
                <a:gd name="T8" fmla="*/ 16 w 508"/>
                <a:gd name="T9" fmla="*/ 57 h 1733"/>
                <a:gd name="T10" fmla="*/ 16 w 508"/>
                <a:gd name="T11" fmla="*/ 24 h 1733"/>
                <a:gd name="T12" fmla="*/ 15 w 508"/>
                <a:gd name="T13" fmla="*/ 18 h 1733"/>
                <a:gd name="T14" fmla="*/ 11 w 508"/>
                <a:gd name="T15" fmla="*/ 13 h 1733"/>
                <a:gd name="T16" fmla="*/ 8 w 508"/>
                <a:gd name="T17" fmla="*/ 7 h 1733"/>
                <a:gd name="T18" fmla="*/ 0 w 508"/>
                <a:gd name="T19" fmla="*/ 0 h 1733"/>
                <a:gd name="T20" fmla="*/ 0 w 508"/>
                <a:gd name="T21" fmla="*/ 0 h 17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8"/>
                <a:gd name="T34" fmla="*/ 0 h 1733"/>
                <a:gd name="T35" fmla="*/ 508 w 508"/>
                <a:gd name="T36" fmla="*/ 1733 h 17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8" h="1733">
                  <a:moveTo>
                    <a:pt x="0" y="0"/>
                  </a:moveTo>
                  <a:lnTo>
                    <a:pt x="227" y="409"/>
                  </a:lnTo>
                  <a:lnTo>
                    <a:pt x="346" y="838"/>
                  </a:lnTo>
                  <a:lnTo>
                    <a:pt x="339" y="1726"/>
                  </a:lnTo>
                  <a:lnTo>
                    <a:pt x="508" y="1733"/>
                  </a:lnTo>
                  <a:lnTo>
                    <a:pt x="493" y="726"/>
                  </a:lnTo>
                  <a:lnTo>
                    <a:pt x="451" y="549"/>
                  </a:lnTo>
                  <a:lnTo>
                    <a:pt x="360" y="388"/>
                  </a:lnTo>
                  <a:lnTo>
                    <a:pt x="255" y="226"/>
                  </a:lnTo>
                  <a:lnTo>
                    <a:pt x="0" y="0"/>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90" name="Freeform 61"/>
            <p:cNvSpPr>
              <a:spLocks/>
            </p:cNvSpPr>
            <p:nvPr/>
          </p:nvSpPr>
          <p:spPr bwMode="auto">
            <a:xfrm>
              <a:off x="4529" y="3420"/>
              <a:ext cx="432" cy="395"/>
            </a:xfrm>
            <a:custGeom>
              <a:avLst/>
              <a:gdLst>
                <a:gd name="T0" fmla="*/ 0 w 2393"/>
                <a:gd name="T1" fmla="*/ 1 h 2189"/>
                <a:gd name="T2" fmla="*/ 1 w 2393"/>
                <a:gd name="T3" fmla="*/ 43 h 2189"/>
                <a:gd name="T4" fmla="*/ 14 w 2393"/>
                <a:gd name="T5" fmla="*/ 63 h 2189"/>
                <a:gd name="T6" fmla="*/ 39 w 2393"/>
                <a:gd name="T7" fmla="*/ 71 h 2189"/>
                <a:gd name="T8" fmla="*/ 60 w 2393"/>
                <a:gd name="T9" fmla="*/ 67 h 2189"/>
                <a:gd name="T10" fmla="*/ 74 w 2393"/>
                <a:gd name="T11" fmla="*/ 54 h 2189"/>
                <a:gd name="T12" fmla="*/ 78 w 2393"/>
                <a:gd name="T13" fmla="*/ 33 h 2189"/>
                <a:gd name="T14" fmla="*/ 77 w 2393"/>
                <a:gd name="T15" fmla="*/ 0 h 2189"/>
                <a:gd name="T16" fmla="*/ 0 w 2393"/>
                <a:gd name="T17" fmla="*/ 1 h 2189"/>
                <a:gd name="T18" fmla="*/ 0 w 2393"/>
                <a:gd name="T19" fmla="*/ 1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91" name="Freeform 62"/>
            <p:cNvSpPr>
              <a:spLocks/>
            </p:cNvSpPr>
            <p:nvPr/>
          </p:nvSpPr>
          <p:spPr bwMode="auto">
            <a:xfrm>
              <a:off x="4701" y="3541"/>
              <a:ext cx="96" cy="177"/>
            </a:xfrm>
            <a:custGeom>
              <a:avLst/>
              <a:gdLst>
                <a:gd name="T0" fmla="*/ 4 w 534"/>
                <a:gd name="T1" fmla="*/ 1 h 978"/>
                <a:gd name="T2" fmla="*/ 0 w 534"/>
                <a:gd name="T3" fmla="*/ 7 h 978"/>
                <a:gd name="T4" fmla="*/ 3 w 534"/>
                <a:gd name="T5" fmla="*/ 15 h 978"/>
                <a:gd name="T6" fmla="*/ 2 w 534"/>
                <a:gd name="T7" fmla="*/ 31 h 978"/>
                <a:gd name="T8" fmla="*/ 15 w 534"/>
                <a:gd name="T9" fmla="*/ 32 h 978"/>
                <a:gd name="T10" fmla="*/ 12 w 534"/>
                <a:gd name="T11" fmla="*/ 15 h 978"/>
                <a:gd name="T12" fmla="*/ 17 w 534"/>
                <a:gd name="T13" fmla="*/ 10 h 978"/>
                <a:gd name="T14" fmla="*/ 15 w 534"/>
                <a:gd name="T15" fmla="*/ 4 h 978"/>
                <a:gd name="T16" fmla="*/ 10 w 534"/>
                <a:gd name="T17" fmla="*/ 0 h 978"/>
                <a:gd name="T18" fmla="*/ 4 w 534"/>
                <a:gd name="T19" fmla="*/ 1 h 978"/>
                <a:gd name="T20" fmla="*/ 4 w 534"/>
                <a:gd name="T21" fmla="*/ 1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92" name="Freeform 63"/>
            <p:cNvSpPr>
              <a:spLocks/>
            </p:cNvSpPr>
            <p:nvPr/>
          </p:nvSpPr>
          <p:spPr bwMode="auto">
            <a:xfrm>
              <a:off x="4550" y="3266"/>
              <a:ext cx="29"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5693" name="Freeform 64"/>
            <p:cNvSpPr>
              <a:spLocks/>
            </p:cNvSpPr>
            <p:nvPr/>
          </p:nvSpPr>
          <p:spPr bwMode="auto">
            <a:xfrm>
              <a:off x="4607"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5694" name="Freeform 65"/>
            <p:cNvSpPr>
              <a:spLocks/>
            </p:cNvSpPr>
            <p:nvPr/>
          </p:nvSpPr>
          <p:spPr bwMode="auto">
            <a:xfrm>
              <a:off x="4914" y="3266"/>
              <a:ext cx="29" cy="175"/>
            </a:xfrm>
            <a:custGeom>
              <a:avLst/>
              <a:gdLst>
                <a:gd name="T0" fmla="*/ 0 w 166"/>
                <a:gd name="T1" fmla="*/ 0 h 972"/>
                <a:gd name="T2" fmla="*/ 0 w 166"/>
                <a:gd name="T3" fmla="*/ 32 h 972"/>
                <a:gd name="T4" fmla="*/ 5 w 166"/>
                <a:gd name="T5" fmla="*/ 32 h 972"/>
                <a:gd name="T6" fmla="*/ 5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25695" name="Freeform 66"/>
            <p:cNvSpPr>
              <a:spLocks/>
            </p:cNvSpPr>
            <p:nvPr/>
          </p:nvSpPr>
          <p:spPr bwMode="auto">
            <a:xfrm>
              <a:off x="4856"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5696" name="Freeform 67"/>
            <p:cNvSpPr>
              <a:spLocks/>
            </p:cNvSpPr>
            <p:nvPr/>
          </p:nvSpPr>
          <p:spPr bwMode="auto">
            <a:xfrm>
              <a:off x="4550" y="3064"/>
              <a:ext cx="393" cy="202"/>
            </a:xfrm>
            <a:custGeom>
              <a:avLst/>
              <a:gdLst>
                <a:gd name="T0" fmla="*/ 0 w 2183"/>
                <a:gd name="T1" fmla="*/ 31 h 1119"/>
                <a:gd name="T2" fmla="*/ 1 w 2183"/>
                <a:gd name="T3" fmla="*/ 26 h 1119"/>
                <a:gd name="T4" fmla="*/ 3 w 2183"/>
                <a:gd name="T5" fmla="*/ 22 h 1119"/>
                <a:gd name="T6" fmla="*/ 4 w 2183"/>
                <a:gd name="T7" fmla="*/ 20 h 1119"/>
                <a:gd name="T8" fmla="*/ 5 w 2183"/>
                <a:gd name="T9" fmla="*/ 18 h 1119"/>
                <a:gd name="T10" fmla="*/ 6 w 2183"/>
                <a:gd name="T11" fmla="*/ 16 h 1119"/>
                <a:gd name="T12" fmla="*/ 7 w 2183"/>
                <a:gd name="T13" fmla="*/ 14 h 1119"/>
                <a:gd name="T14" fmla="*/ 8 w 2183"/>
                <a:gd name="T15" fmla="*/ 13 h 1119"/>
                <a:gd name="T16" fmla="*/ 10 w 2183"/>
                <a:gd name="T17" fmla="*/ 11 h 1119"/>
                <a:gd name="T18" fmla="*/ 11 w 2183"/>
                <a:gd name="T19" fmla="*/ 10 h 1119"/>
                <a:gd name="T20" fmla="*/ 13 w 2183"/>
                <a:gd name="T21" fmla="*/ 8 h 1119"/>
                <a:gd name="T22" fmla="*/ 15 w 2183"/>
                <a:gd name="T23" fmla="*/ 7 h 1119"/>
                <a:gd name="T24" fmla="*/ 17 w 2183"/>
                <a:gd name="T25" fmla="*/ 5 h 1119"/>
                <a:gd name="T26" fmla="*/ 21 w 2183"/>
                <a:gd name="T27" fmla="*/ 3 h 1119"/>
                <a:gd name="T28" fmla="*/ 25 w 2183"/>
                <a:gd name="T29" fmla="*/ 2 h 1119"/>
                <a:gd name="T30" fmla="*/ 33 w 2183"/>
                <a:gd name="T31" fmla="*/ 0 h 1119"/>
                <a:gd name="T32" fmla="*/ 47 w 2183"/>
                <a:gd name="T33" fmla="*/ 2 h 1119"/>
                <a:gd name="T34" fmla="*/ 51 w 2183"/>
                <a:gd name="T35" fmla="*/ 3 h 1119"/>
                <a:gd name="T36" fmla="*/ 54 w 2183"/>
                <a:gd name="T37" fmla="*/ 6 h 1119"/>
                <a:gd name="T38" fmla="*/ 57 w 2183"/>
                <a:gd name="T39" fmla="*/ 8 h 1119"/>
                <a:gd name="T40" fmla="*/ 59 w 2183"/>
                <a:gd name="T41" fmla="*/ 9 h 1119"/>
                <a:gd name="T42" fmla="*/ 61 w 2183"/>
                <a:gd name="T43" fmla="*/ 11 h 1119"/>
                <a:gd name="T44" fmla="*/ 62 w 2183"/>
                <a:gd name="T45" fmla="*/ 12 h 1119"/>
                <a:gd name="T46" fmla="*/ 63 w 2183"/>
                <a:gd name="T47" fmla="*/ 14 h 1119"/>
                <a:gd name="T48" fmla="*/ 65 w 2183"/>
                <a:gd name="T49" fmla="*/ 16 h 1119"/>
                <a:gd name="T50" fmla="*/ 66 w 2183"/>
                <a:gd name="T51" fmla="*/ 18 h 1119"/>
                <a:gd name="T52" fmla="*/ 67 w 2183"/>
                <a:gd name="T53" fmla="*/ 19 h 1119"/>
                <a:gd name="T54" fmla="*/ 68 w 2183"/>
                <a:gd name="T55" fmla="*/ 21 h 1119"/>
                <a:gd name="T56" fmla="*/ 69 w 2183"/>
                <a:gd name="T57" fmla="*/ 25 h 1119"/>
                <a:gd name="T58" fmla="*/ 70 w 2183"/>
                <a:gd name="T59" fmla="*/ 29 h 1119"/>
                <a:gd name="T60" fmla="*/ 65 w 2183"/>
                <a:gd name="T61" fmla="*/ 33 h 1119"/>
                <a:gd name="T62" fmla="*/ 64 w 2183"/>
                <a:gd name="T63" fmla="*/ 27 h 1119"/>
                <a:gd name="T64" fmla="*/ 63 w 2183"/>
                <a:gd name="T65" fmla="*/ 23 h 1119"/>
                <a:gd name="T66" fmla="*/ 62 w 2183"/>
                <a:gd name="T67" fmla="*/ 21 h 1119"/>
                <a:gd name="T68" fmla="*/ 61 w 2183"/>
                <a:gd name="T69" fmla="*/ 20 h 1119"/>
                <a:gd name="T70" fmla="*/ 60 w 2183"/>
                <a:gd name="T71" fmla="*/ 18 h 1119"/>
                <a:gd name="T72" fmla="*/ 59 w 2183"/>
                <a:gd name="T73" fmla="*/ 17 h 1119"/>
                <a:gd name="T74" fmla="*/ 58 w 2183"/>
                <a:gd name="T75" fmla="*/ 16 h 1119"/>
                <a:gd name="T76" fmla="*/ 57 w 2183"/>
                <a:gd name="T77" fmla="*/ 14 h 1119"/>
                <a:gd name="T78" fmla="*/ 55 w 2183"/>
                <a:gd name="T79" fmla="*/ 12 h 1119"/>
                <a:gd name="T80" fmla="*/ 52 w 2183"/>
                <a:gd name="T81" fmla="*/ 10 h 1119"/>
                <a:gd name="T82" fmla="*/ 49 w 2183"/>
                <a:gd name="T83" fmla="*/ 8 h 1119"/>
                <a:gd name="T84" fmla="*/ 46 w 2183"/>
                <a:gd name="T85" fmla="*/ 7 h 1119"/>
                <a:gd name="T86" fmla="*/ 40 w 2183"/>
                <a:gd name="T87" fmla="*/ 5 h 1119"/>
                <a:gd name="T88" fmla="*/ 26 w 2183"/>
                <a:gd name="T89" fmla="*/ 6 h 1119"/>
                <a:gd name="T90" fmla="*/ 22 w 2183"/>
                <a:gd name="T91" fmla="*/ 8 h 1119"/>
                <a:gd name="T92" fmla="*/ 19 w 2183"/>
                <a:gd name="T93" fmla="*/ 10 h 1119"/>
                <a:gd name="T94" fmla="*/ 16 w 2183"/>
                <a:gd name="T95" fmla="*/ 12 h 1119"/>
                <a:gd name="T96" fmla="*/ 14 w 2183"/>
                <a:gd name="T97" fmla="*/ 14 h 1119"/>
                <a:gd name="T98" fmla="*/ 13 w 2183"/>
                <a:gd name="T99" fmla="*/ 15 h 1119"/>
                <a:gd name="T100" fmla="*/ 12 w 2183"/>
                <a:gd name="T101" fmla="*/ 17 h 1119"/>
                <a:gd name="T102" fmla="*/ 10 w 2183"/>
                <a:gd name="T103" fmla="*/ 19 h 1119"/>
                <a:gd name="T104" fmla="*/ 9 w 2183"/>
                <a:gd name="T105" fmla="*/ 20 h 1119"/>
                <a:gd name="T106" fmla="*/ 8 w 2183"/>
                <a:gd name="T107" fmla="*/ 22 h 1119"/>
                <a:gd name="T108" fmla="*/ 7 w 2183"/>
                <a:gd name="T109" fmla="*/ 25 h 1119"/>
                <a:gd name="T110" fmla="*/ 5 w 2183"/>
                <a:gd name="T111" fmla="*/ 35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25697" name="Freeform 68"/>
            <p:cNvSpPr>
              <a:spLocks/>
            </p:cNvSpPr>
            <p:nvPr/>
          </p:nvSpPr>
          <p:spPr bwMode="auto">
            <a:xfrm>
              <a:off x="4607" y="3116"/>
              <a:ext cx="278" cy="150"/>
            </a:xfrm>
            <a:custGeom>
              <a:avLst/>
              <a:gdLst>
                <a:gd name="T0" fmla="*/ 50 w 1540"/>
                <a:gd name="T1" fmla="*/ 22 h 830"/>
                <a:gd name="T2" fmla="*/ 49 w 1540"/>
                <a:gd name="T3" fmla="*/ 18 h 830"/>
                <a:gd name="T4" fmla="*/ 48 w 1540"/>
                <a:gd name="T5" fmla="*/ 15 h 830"/>
                <a:gd name="T6" fmla="*/ 48 w 1540"/>
                <a:gd name="T7" fmla="*/ 14 h 830"/>
                <a:gd name="T8" fmla="*/ 47 w 1540"/>
                <a:gd name="T9" fmla="*/ 13 h 830"/>
                <a:gd name="T10" fmla="*/ 47 w 1540"/>
                <a:gd name="T11" fmla="*/ 12 h 830"/>
                <a:gd name="T12" fmla="*/ 46 w 1540"/>
                <a:gd name="T13" fmla="*/ 12 h 830"/>
                <a:gd name="T14" fmla="*/ 46 w 1540"/>
                <a:gd name="T15" fmla="*/ 11 h 830"/>
                <a:gd name="T16" fmla="*/ 45 w 1540"/>
                <a:gd name="T17" fmla="*/ 9 h 830"/>
                <a:gd name="T18" fmla="*/ 43 w 1540"/>
                <a:gd name="T19" fmla="*/ 8 h 830"/>
                <a:gd name="T20" fmla="*/ 42 w 1540"/>
                <a:gd name="T21" fmla="*/ 7 h 830"/>
                <a:gd name="T22" fmla="*/ 41 w 1540"/>
                <a:gd name="T23" fmla="*/ 5 h 830"/>
                <a:gd name="T24" fmla="*/ 39 w 1540"/>
                <a:gd name="T25" fmla="*/ 4 h 830"/>
                <a:gd name="T26" fmla="*/ 38 w 1540"/>
                <a:gd name="T27" fmla="*/ 3 h 830"/>
                <a:gd name="T28" fmla="*/ 36 w 1540"/>
                <a:gd name="T29" fmla="*/ 3 h 830"/>
                <a:gd name="T30" fmla="*/ 34 w 1540"/>
                <a:gd name="T31" fmla="*/ 2 h 830"/>
                <a:gd name="T32" fmla="*/ 31 w 1540"/>
                <a:gd name="T33" fmla="*/ 1 h 830"/>
                <a:gd name="T34" fmla="*/ 24 w 1540"/>
                <a:gd name="T35" fmla="*/ 0 h 830"/>
                <a:gd name="T36" fmla="*/ 18 w 1540"/>
                <a:gd name="T37" fmla="*/ 1 h 830"/>
                <a:gd name="T38" fmla="*/ 15 w 1540"/>
                <a:gd name="T39" fmla="*/ 2 h 830"/>
                <a:gd name="T40" fmla="*/ 13 w 1540"/>
                <a:gd name="T41" fmla="*/ 3 h 830"/>
                <a:gd name="T42" fmla="*/ 11 w 1540"/>
                <a:gd name="T43" fmla="*/ 4 h 830"/>
                <a:gd name="T44" fmla="*/ 10 w 1540"/>
                <a:gd name="T45" fmla="*/ 5 h 830"/>
                <a:gd name="T46" fmla="*/ 8 w 1540"/>
                <a:gd name="T47" fmla="*/ 7 h 830"/>
                <a:gd name="T48" fmla="*/ 7 w 1540"/>
                <a:gd name="T49" fmla="*/ 8 h 830"/>
                <a:gd name="T50" fmla="*/ 6 w 1540"/>
                <a:gd name="T51" fmla="*/ 9 h 830"/>
                <a:gd name="T52" fmla="*/ 5 w 1540"/>
                <a:gd name="T53" fmla="*/ 10 h 830"/>
                <a:gd name="T54" fmla="*/ 4 w 1540"/>
                <a:gd name="T55" fmla="*/ 12 h 830"/>
                <a:gd name="T56" fmla="*/ 3 w 1540"/>
                <a:gd name="T57" fmla="*/ 13 h 830"/>
                <a:gd name="T58" fmla="*/ 3 w 1540"/>
                <a:gd name="T59" fmla="*/ 14 h 830"/>
                <a:gd name="T60" fmla="*/ 2 w 1540"/>
                <a:gd name="T61" fmla="*/ 14 h 830"/>
                <a:gd name="T62" fmla="*/ 1 w 1540"/>
                <a:gd name="T63" fmla="*/ 17 h 830"/>
                <a:gd name="T64" fmla="*/ 0 w 1540"/>
                <a:gd name="T65" fmla="*/ 21 h 830"/>
                <a:gd name="T66" fmla="*/ 0 w 1540"/>
                <a:gd name="T67" fmla="*/ 27 h 830"/>
                <a:gd name="T68" fmla="*/ 5 w 1540"/>
                <a:gd name="T69" fmla="*/ 23 h 830"/>
                <a:gd name="T70" fmla="*/ 6 w 1540"/>
                <a:gd name="T71" fmla="*/ 20 h 830"/>
                <a:gd name="T72" fmla="*/ 7 w 1540"/>
                <a:gd name="T73" fmla="*/ 17 h 830"/>
                <a:gd name="T74" fmla="*/ 8 w 1540"/>
                <a:gd name="T75" fmla="*/ 16 h 830"/>
                <a:gd name="T76" fmla="*/ 8 w 1540"/>
                <a:gd name="T77" fmla="*/ 14 h 830"/>
                <a:gd name="T78" fmla="*/ 9 w 1540"/>
                <a:gd name="T79" fmla="*/ 13 h 830"/>
                <a:gd name="T80" fmla="*/ 10 w 1540"/>
                <a:gd name="T81" fmla="*/ 12 h 830"/>
                <a:gd name="T82" fmla="*/ 11 w 1540"/>
                <a:gd name="T83" fmla="*/ 11 h 830"/>
                <a:gd name="T84" fmla="*/ 12 w 1540"/>
                <a:gd name="T85" fmla="*/ 10 h 830"/>
                <a:gd name="T86" fmla="*/ 13 w 1540"/>
                <a:gd name="T87" fmla="*/ 9 h 830"/>
                <a:gd name="T88" fmla="*/ 14 w 1540"/>
                <a:gd name="T89" fmla="*/ 8 h 830"/>
                <a:gd name="T90" fmla="*/ 16 w 1540"/>
                <a:gd name="T91" fmla="*/ 7 h 830"/>
                <a:gd name="T92" fmla="*/ 19 w 1540"/>
                <a:gd name="T93" fmla="*/ 6 h 830"/>
                <a:gd name="T94" fmla="*/ 21 w 1540"/>
                <a:gd name="T95" fmla="*/ 5 h 830"/>
                <a:gd name="T96" fmla="*/ 31 w 1540"/>
                <a:gd name="T97" fmla="*/ 6 h 830"/>
                <a:gd name="T98" fmla="*/ 34 w 1540"/>
                <a:gd name="T99" fmla="*/ 7 h 830"/>
                <a:gd name="T100" fmla="*/ 36 w 1540"/>
                <a:gd name="T101" fmla="*/ 8 h 830"/>
                <a:gd name="T102" fmla="*/ 37 w 1540"/>
                <a:gd name="T103" fmla="*/ 9 h 830"/>
                <a:gd name="T104" fmla="*/ 38 w 1540"/>
                <a:gd name="T105" fmla="*/ 10 h 830"/>
                <a:gd name="T106" fmla="*/ 39 w 1540"/>
                <a:gd name="T107" fmla="*/ 11 h 830"/>
                <a:gd name="T108" fmla="*/ 40 w 1540"/>
                <a:gd name="T109" fmla="*/ 12 h 830"/>
                <a:gd name="T110" fmla="*/ 41 w 1540"/>
                <a:gd name="T111" fmla="*/ 13 h 830"/>
                <a:gd name="T112" fmla="*/ 42 w 1540"/>
                <a:gd name="T113" fmla="*/ 14 h 830"/>
                <a:gd name="T114" fmla="*/ 43 w 1540"/>
                <a:gd name="T115" fmla="*/ 16 h 830"/>
                <a:gd name="T116" fmla="*/ 44 w 1540"/>
                <a:gd name="T117" fmla="*/ 17 h 830"/>
                <a:gd name="T118" fmla="*/ 45 w 1540"/>
                <a:gd name="T119" fmla="*/ 23 h 830"/>
                <a:gd name="T120" fmla="*/ 50 w 1540"/>
                <a:gd name="T121" fmla="*/ 27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sp>
          <p:nvSpPr>
            <p:cNvPr id="25698" name="Freeform 69"/>
            <p:cNvSpPr>
              <a:spLocks/>
            </p:cNvSpPr>
            <p:nvPr/>
          </p:nvSpPr>
          <p:spPr bwMode="auto">
            <a:xfrm>
              <a:off x="4506" y="3398"/>
              <a:ext cx="481" cy="198"/>
            </a:xfrm>
            <a:custGeom>
              <a:avLst/>
              <a:gdLst>
                <a:gd name="T0" fmla="*/ 0 w 2668"/>
                <a:gd name="T1" fmla="*/ 36 h 1093"/>
                <a:gd name="T2" fmla="*/ 0 w 2668"/>
                <a:gd name="T3" fmla="*/ 0 h 1093"/>
                <a:gd name="T4" fmla="*/ 87 w 2668"/>
                <a:gd name="T5" fmla="*/ 0 h 1093"/>
                <a:gd name="T6" fmla="*/ 87 w 2668"/>
                <a:gd name="T7" fmla="*/ 36 h 1093"/>
                <a:gd name="T8" fmla="*/ 79 w 2668"/>
                <a:gd name="T9" fmla="*/ 36 h 1093"/>
                <a:gd name="T10" fmla="*/ 79 w 2668"/>
                <a:gd name="T11" fmla="*/ 8 h 1093"/>
                <a:gd name="T12" fmla="*/ 8 w 2668"/>
                <a:gd name="T13" fmla="*/ 8 h 1093"/>
                <a:gd name="T14" fmla="*/ 8 w 2668"/>
                <a:gd name="T15" fmla="*/ 36 h 1093"/>
                <a:gd name="T16" fmla="*/ 0 w 2668"/>
                <a:gd name="T17" fmla="*/ 36 h 1093"/>
                <a:gd name="T18" fmla="*/ 0 w 2668"/>
                <a:gd name="T19" fmla="*/ 36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25699" name="Freeform 70"/>
            <p:cNvSpPr>
              <a:spLocks/>
            </p:cNvSpPr>
            <p:nvPr/>
          </p:nvSpPr>
          <p:spPr bwMode="auto">
            <a:xfrm>
              <a:off x="4506" y="3596"/>
              <a:ext cx="481" cy="240"/>
            </a:xfrm>
            <a:custGeom>
              <a:avLst/>
              <a:gdLst>
                <a:gd name="T0" fmla="*/ 86 w 2668"/>
                <a:gd name="T1" fmla="*/ 9 h 1334"/>
                <a:gd name="T2" fmla="*/ 84 w 2668"/>
                <a:gd name="T3" fmla="*/ 14 h 1334"/>
                <a:gd name="T4" fmla="*/ 83 w 2668"/>
                <a:gd name="T5" fmla="*/ 18 h 1334"/>
                <a:gd name="T6" fmla="*/ 82 w 2668"/>
                <a:gd name="T7" fmla="*/ 20 h 1334"/>
                <a:gd name="T8" fmla="*/ 80 w 2668"/>
                <a:gd name="T9" fmla="*/ 22 h 1334"/>
                <a:gd name="T10" fmla="*/ 79 w 2668"/>
                <a:gd name="T11" fmla="*/ 24 h 1334"/>
                <a:gd name="T12" fmla="*/ 78 w 2668"/>
                <a:gd name="T13" fmla="*/ 27 h 1334"/>
                <a:gd name="T14" fmla="*/ 76 w 2668"/>
                <a:gd name="T15" fmla="*/ 29 h 1334"/>
                <a:gd name="T16" fmla="*/ 74 w 2668"/>
                <a:gd name="T17" fmla="*/ 30 h 1334"/>
                <a:gd name="T18" fmla="*/ 72 w 2668"/>
                <a:gd name="T19" fmla="*/ 32 h 1334"/>
                <a:gd name="T20" fmla="*/ 70 w 2668"/>
                <a:gd name="T21" fmla="*/ 34 h 1334"/>
                <a:gd name="T22" fmla="*/ 68 w 2668"/>
                <a:gd name="T23" fmla="*/ 35 h 1334"/>
                <a:gd name="T24" fmla="*/ 66 w 2668"/>
                <a:gd name="T25" fmla="*/ 37 h 1334"/>
                <a:gd name="T26" fmla="*/ 63 w 2668"/>
                <a:gd name="T27" fmla="*/ 38 h 1334"/>
                <a:gd name="T28" fmla="*/ 59 w 2668"/>
                <a:gd name="T29" fmla="*/ 40 h 1334"/>
                <a:gd name="T30" fmla="*/ 54 w 2668"/>
                <a:gd name="T31" fmla="*/ 42 h 1334"/>
                <a:gd name="T32" fmla="*/ 43 w 2668"/>
                <a:gd name="T33" fmla="*/ 43 h 1334"/>
                <a:gd name="T34" fmla="*/ 30 w 2668"/>
                <a:gd name="T35" fmla="*/ 41 h 1334"/>
                <a:gd name="T36" fmla="*/ 26 w 2668"/>
                <a:gd name="T37" fmla="*/ 39 h 1334"/>
                <a:gd name="T38" fmla="*/ 22 w 2668"/>
                <a:gd name="T39" fmla="*/ 37 h 1334"/>
                <a:gd name="T40" fmla="*/ 19 w 2668"/>
                <a:gd name="T41" fmla="*/ 36 h 1334"/>
                <a:gd name="T42" fmla="*/ 17 w 2668"/>
                <a:gd name="T43" fmla="*/ 35 h 1334"/>
                <a:gd name="T44" fmla="*/ 15 w 2668"/>
                <a:gd name="T45" fmla="*/ 33 h 1334"/>
                <a:gd name="T46" fmla="*/ 14 w 2668"/>
                <a:gd name="T47" fmla="*/ 31 h 1334"/>
                <a:gd name="T48" fmla="*/ 12 w 2668"/>
                <a:gd name="T49" fmla="*/ 30 h 1334"/>
                <a:gd name="T50" fmla="*/ 10 w 2668"/>
                <a:gd name="T51" fmla="*/ 28 h 1334"/>
                <a:gd name="T52" fmla="*/ 8 w 2668"/>
                <a:gd name="T53" fmla="*/ 26 h 1334"/>
                <a:gd name="T54" fmla="*/ 7 w 2668"/>
                <a:gd name="T55" fmla="*/ 23 h 1334"/>
                <a:gd name="T56" fmla="*/ 5 w 2668"/>
                <a:gd name="T57" fmla="*/ 21 h 1334"/>
                <a:gd name="T58" fmla="*/ 4 w 2668"/>
                <a:gd name="T59" fmla="*/ 19 h 1334"/>
                <a:gd name="T60" fmla="*/ 3 w 2668"/>
                <a:gd name="T61" fmla="*/ 16 h 1334"/>
                <a:gd name="T62" fmla="*/ 1 w 2668"/>
                <a:gd name="T63" fmla="*/ 11 h 1334"/>
                <a:gd name="T64" fmla="*/ 0 w 2668"/>
                <a:gd name="T65" fmla="*/ 0 h 1334"/>
                <a:gd name="T66" fmla="*/ 9 w 2668"/>
                <a:gd name="T67" fmla="*/ 8 h 1334"/>
                <a:gd name="T68" fmla="*/ 10 w 2668"/>
                <a:gd name="T69" fmla="*/ 12 h 1334"/>
                <a:gd name="T70" fmla="*/ 11 w 2668"/>
                <a:gd name="T71" fmla="*/ 15 h 1334"/>
                <a:gd name="T72" fmla="*/ 12 w 2668"/>
                <a:gd name="T73" fmla="*/ 17 h 1334"/>
                <a:gd name="T74" fmla="*/ 13 w 2668"/>
                <a:gd name="T75" fmla="*/ 19 h 1334"/>
                <a:gd name="T76" fmla="*/ 14 w 2668"/>
                <a:gd name="T77" fmla="*/ 21 h 1334"/>
                <a:gd name="T78" fmla="*/ 16 w 2668"/>
                <a:gd name="T79" fmla="*/ 22 h 1334"/>
                <a:gd name="T80" fmla="*/ 17 w 2668"/>
                <a:gd name="T81" fmla="*/ 24 h 1334"/>
                <a:gd name="T82" fmla="*/ 19 w 2668"/>
                <a:gd name="T83" fmla="*/ 25 h 1334"/>
                <a:gd name="T84" fmla="*/ 20 w 2668"/>
                <a:gd name="T85" fmla="*/ 27 h 1334"/>
                <a:gd name="T86" fmla="*/ 22 w 2668"/>
                <a:gd name="T87" fmla="*/ 28 h 1334"/>
                <a:gd name="T88" fmla="*/ 24 w 2668"/>
                <a:gd name="T89" fmla="*/ 29 h 1334"/>
                <a:gd name="T90" fmla="*/ 27 w 2668"/>
                <a:gd name="T91" fmla="*/ 31 h 1334"/>
                <a:gd name="T92" fmla="*/ 31 w 2668"/>
                <a:gd name="T93" fmla="*/ 33 h 1334"/>
                <a:gd name="T94" fmla="*/ 36 w 2668"/>
                <a:gd name="T95" fmla="*/ 35 h 1334"/>
                <a:gd name="T96" fmla="*/ 50 w 2668"/>
                <a:gd name="T97" fmla="*/ 35 h 1334"/>
                <a:gd name="T98" fmla="*/ 56 w 2668"/>
                <a:gd name="T99" fmla="*/ 33 h 1334"/>
                <a:gd name="T100" fmla="*/ 60 w 2668"/>
                <a:gd name="T101" fmla="*/ 31 h 1334"/>
                <a:gd name="T102" fmla="*/ 64 w 2668"/>
                <a:gd name="T103" fmla="*/ 29 h 1334"/>
                <a:gd name="T104" fmla="*/ 66 w 2668"/>
                <a:gd name="T105" fmla="*/ 27 h 1334"/>
                <a:gd name="T106" fmla="*/ 67 w 2668"/>
                <a:gd name="T107" fmla="*/ 26 h 1334"/>
                <a:gd name="T108" fmla="*/ 69 w 2668"/>
                <a:gd name="T109" fmla="*/ 24 h 1334"/>
                <a:gd name="T110" fmla="*/ 70 w 2668"/>
                <a:gd name="T111" fmla="*/ 23 h 1334"/>
                <a:gd name="T112" fmla="*/ 72 w 2668"/>
                <a:gd name="T113" fmla="*/ 21 h 1334"/>
                <a:gd name="T114" fmla="*/ 73 w 2668"/>
                <a:gd name="T115" fmla="*/ 19 h 1334"/>
                <a:gd name="T116" fmla="*/ 74 w 2668"/>
                <a:gd name="T117" fmla="*/ 18 h 1334"/>
                <a:gd name="T118" fmla="*/ 75 w 2668"/>
                <a:gd name="T119" fmla="*/ 16 h 1334"/>
                <a:gd name="T120" fmla="*/ 76 w 2668"/>
                <a:gd name="T121" fmla="*/ 14 h 1334"/>
                <a:gd name="T122" fmla="*/ 78 w 2668"/>
                <a:gd name="T123" fmla="*/ 10 h 1334"/>
                <a:gd name="T124" fmla="*/ 79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25700" name="Freeform 71"/>
            <p:cNvSpPr>
              <a:spLocks/>
            </p:cNvSpPr>
            <p:nvPr/>
          </p:nvSpPr>
          <p:spPr bwMode="auto">
            <a:xfrm>
              <a:off x="4697" y="3617"/>
              <a:ext cx="95" cy="109"/>
            </a:xfrm>
            <a:custGeom>
              <a:avLst/>
              <a:gdLst>
                <a:gd name="T0" fmla="*/ 0 w 529"/>
                <a:gd name="T1" fmla="*/ 20 h 606"/>
                <a:gd name="T2" fmla="*/ 17 w 529"/>
                <a:gd name="T3" fmla="*/ 20 h 606"/>
                <a:gd name="T4" fmla="*/ 15 w 529"/>
                <a:gd name="T5" fmla="*/ 2 h 606"/>
                <a:gd name="T6" fmla="*/ 11 w 529"/>
                <a:gd name="T7" fmla="*/ 0 h 606"/>
                <a:gd name="T8" fmla="*/ 13 w 529"/>
                <a:gd name="T9" fmla="*/ 16 h 606"/>
                <a:gd name="T10" fmla="*/ 5 w 529"/>
                <a:gd name="T11" fmla="*/ 16 h 606"/>
                <a:gd name="T12" fmla="*/ 7 w 529"/>
                <a:gd name="T13" fmla="*/ 0 h 606"/>
                <a:gd name="T14" fmla="*/ 3 w 529"/>
                <a:gd name="T15" fmla="*/ 2 h 606"/>
                <a:gd name="T16" fmla="*/ 0 w 529"/>
                <a:gd name="T17" fmla="*/ 20 h 606"/>
                <a:gd name="T18" fmla="*/ 0 w 529"/>
                <a:gd name="T19" fmla="*/ 2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25701" name="Freeform 72"/>
            <p:cNvSpPr>
              <a:spLocks/>
            </p:cNvSpPr>
            <p:nvPr/>
          </p:nvSpPr>
          <p:spPr bwMode="auto">
            <a:xfrm>
              <a:off x="4693" y="3529"/>
              <a:ext cx="110" cy="100"/>
            </a:xfrm>
            <a:custGeom>
              <a:avLst/>
              <a:gdLst>
                <a:gd name="T0" fmla="*/ 13 w 613"/>
                <a:gd name="T1" fmla="*/ 15 h 551"/>
                <a:gd name="T2" fmla="*/ 14 w 613"/>
                <a:gd name="T3" fmla="*/ 15 h 551"/>
                <a:gd name="T4" fmla="*/ 15 w 613"/>
                <a:gd name="T5" fmla="*/ 14 h 551"/>
                <a:gd name="T6" fmla="*/ 15 w 613"/>
                <a:gd name="T7" fmla="*/ 13 h 551"/>
                <a:gd name="T8" fmla="*/ 16 w 613"/>
                <a:gd name="T9" fmla="*/ 10 h 551"/>
                <a:gd name="T10" fmla="*/ 16 w 613"/>
                <a:gd name="T11" fmla="*/ 8 h 551"/>
                <a:gd name="T12" fmla="*/ 15 w 613"/>
                <a:gd name="T13" fmla="*/ 7 h 551"/>
                <a:gd name="T14" fmla="*/ 15 w 613"/>
                <a:gd name="T15" fmla="*/ 7 h 551"/>
                <a:gd name="T16" fmla="*/ 15 w 613"/>
                <a:gd name="T17" fmla="*/ 6 h 551"/>
                <a:gd name="T18" fmla="*/ 14 w 613"/>
                <a:gd name="T19" fmla="*/ 5 h 551"/>
                <a:gd name="T20" fmla="*/ 13 w 613"/>
                <a:gd name="T21" fmla="*/ 5 h 551"/>
                <a:gd name="T22" fmla="*/ 11 w 613"/>
                <a:gd name="T23" fmla="*/ 4 h 551"/>
                <a:gd name="T24" fmla="*/ 7 w 613"/>
                <a:gd name="T25" fmla="*/ 5 h 551"/>
                <a:gd name="T26" fmla="*/ 6 w 613"/>
                <a:gd name="T27" fmla="*/ 6 h 551"/>
                <a:gd name="T28" fmla="*/ 5 w 613"/>
                <a:gd name="T29" fmla="*/ 7 h 551"/>
                <a:gd name="T30" fmla="*/ 4 w 613"/>
                <a:gd name="T31" fmla="*/ 7 h 551"/>
                <a:gd name="T32" fmla="*/ 4 w 613"/>
                <a:gd name="T33" fmla="*/ 9 h 551"/>
                <a:gd name="T34" fmla="*/ 4 w 613"/>
                <a:gd name="T35" fmla="*/ 12 h 551"/>
                <a:gd name="T36" fmla="*/ 4 w 613"/>
                <a:gd name="T37" fmla="*/ 13 h 551"/>
                <a:gd name="T38" fmla="*/ 5 w 613"/>
                <a:gd name="T39" fmla="*/ 14 h 551"/>
                <a:gd name="T40" fmla="*/ 5 w 613"/>
                <a:gd name="T41" fmla="*/ 14 h 551"/>
                <a:gd name="T42" fmla="*/ 6 w 613"/>
                <a:gd name="T43" fmla="*/ 15 h 551"/>
                <a:gd name="T44" fmla="*/ 6 w 613"/>
                <a:gd name="T45" fmla="*/ 15 h 551"/>
                <a:gd name="T46" fmla="*/ 7 w 613"/>
                <a:gd name="T47" fmla="*/ 16 h 551"/>
                <a:gd name="T48" fmla="*/ 3 w 613"/>
                <a:gd name="T49" fmla="*/ 18 h 551"/>
                <a:gd name="T50" fmla="*/ 3 w 613"/>
                <a:gd name="T51" fmla="*/ 17 h 551"/>
                <a:gd name="T52" fmla="*/ 2 w 613"/>
                <a:gd name="T53" fmla="*/ 16 h 551"/>
                <a:gd name="T54" fmla="*/ 1 w 613"/>
                <a:gd name="T55" fmla="*/ 15 h 551"/>
                <a:gd name="T56" fmla="*/ 0 w 613"/>
                <a:gd name="T57" fmla="*/ 13 h 551"/>
                <a:gd name="T58" fmla="*/ 0 w 613"/>
                <a:gd name="T59" fmla="*/ 9 h 551"/>
                <a:gd name="T60" fmla="*/ 1 w 613"/>
                <a:gd name="T61" fmla="*/ 7 h 551"/>
                <a:gd name="T62" fmla="*/ 1 w 613"/>
                <a:gd name="T63" fmla="*/ 6 h 551"/>
                <a:gd name="T64" fmla="*/ 1 w 613"/>
                <a:gd name="T65" fmla="*/ 5 h 551"/>
                <a:gd name="T66" fmla="*/ 2 w 613"/>
                <a:gd name="T67" fmla="*/ 4 h 551"/>
                <a:gd name="T68" fmla="*/ 3 w 613"/>
                <a:gd name="T69" fmla="*/ 3 h 551"/>
                <a:gd name="T70" fmla="*/ 3 w 613"/>
                <a:gd name="T71" fmla="*/ 2 h 551"/>
                <a:gd name="T72" fmla="*/ 4 w 613"/>
                <a:gd name="T73" fmla="*/ 2 h 551"/>
                <a:gd name="T74" fmla="*/ 5 w 613"/>
                <a:gd name="T75" fmla="*/ 1 h 551"/>
                <a:gd name="T76" fmla="*/ 6 w 613"/>
                <a:gd name="T77" fmla="*/ 1 h 551"/>
                <a:gd name="T78" fmla="*/ 8 w 613"/>
                <a:gd name="T79" fmla="*/ 0 h 551"/>
                <a:gd name="T80" fmla="*/ 11 w 613"/>
                <a:gd name="T81" fmla="*/ 0 h 551"/>
                <a:gd name="T82" fmla="*/ 14 w 613"/>
                <a:gd name="T83" fmla="*/ 1 h 551"/>
                <a:gd name="T84" fmla="*/ 15 w 613"/>
                <a:gd name="T85" fmla="*/ 2 h 551"/>
                <a:gd name="T86" fmla="*/ 16 w 613"/>
                <a:gd name="T87" fmla="*/ 2 h 551"/>
                <a:gd name="T88" fmla="*/ 17 w 613"/>
                <a:gd name="T89" fmla="*/ 3 h 551"/>
                <a:gd name="T90" fmla="*/ 18 w 613"/>
                <a:gd name="T91" fmla="*/ 4 h 551"/>
                <a:gd name="T92" fmla="*/ 18 w 613"/>
                <a:gd name="T93" fmla="*/ 5 h 551"/>
                <a:gd name="T94" fmla="*/ 19 w 613"/>
                <a:gd name="T95" fmla="*/ 6 h 551"/>
                <a:gd name="T96" fmla="*/ 20 w 613"/>
                <a:gd name="T97" fmla="*/ 9 h 551"/>
                <a:gd name="T98" fmla="*/ 20 w 613"/>
                <a:gd name="T99" fmla="*/ 12 h 551"/>
                <a:gd name="T100" fmla="*/ 19 w 613"/>
                <a:gd name="T101" fmla="*/ 14 h 551"/>
                <a:gd name="T102" fmla="*/ 18 w 613"/>
                <a:gd name="T103" fmla="*/ 15 h 551"/>
                <a:gd name="T104" fmla="*/ 18 w 613"/>
                <a:gd name="T105" fmla="*/ 16 h 551"/>
                <a:gd name="T106" fmla="*/ 17 w 613"/>
                <a:gd name="T107" fmla="*/ 17 h 551"/>
                <a:gd name="T108" fmla="*/ 17 w 613"/>
                <a:gd name="T109" fmla="*/ 17 h 551"/>
                <a:gd name="T110" fmla="*/ 16 w 613"/>
                <a:gd name="T111" fmla="*/ 18 h 551"/>
                <a:gd name="T112" fmla="*/ 12 w 613"/>
                <a:gd name="T113" fmla="*/ 16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25702" name="Freeform 73"/>
            <p:cNvSpPr>
              <a:spLocks/>
            </p:cNvSpPr>
            <p:nvPr/>
          </p:nvSpPr>
          <p:spPr bwMode="auto">
            <a:xfrm>
              <a:off x="4576" y="3467"/>
              <a:ext cx="247" cy="285"/>
            </a:xfrm>
            <a:custGeom>
              <a:avLst/>
              <a:gdLst>
                <a:gd name="T0" fmla="*/ 1 w 1365"/>
                <a:gd name="T1" fmla="*/ 0 h 1583"/>
                <a:gd name="T2" fmla="*/ 0 w 1365"/>
                <a:gd name="T3" fmla="*/ 25 h 1583"/>
                <a:gd name="T4" fmla="*/ 1 w 1365"/>
                <a:gd name="T5" fmla="*/ 32 h 1583"/>
                <a:gd name="T6" fmla="*/ 3 w 1365"/>
                <a:gd name="T7" fmla="*/ 39 h 1583"/>
                <a:gd name="T8" fmla="*/ 6 w 1365"/>
                <a:gd name="T9" fmla="*/ 43 h 1583"/>
                <a:gd name="T10" fmla="*/ 12 w 1365"/>
                <a:gd name="T11" fmla="*/ 48 h 1583"/>
                <a:gd name="T12" fmla="*/ 17 w 1365"/>
                <a:gd name="T13" fmla="*/ 51 h 1583"/>
                <a:gd name="T14" fmla="*/ 23 w 1365"/>
                <a:gd name="T15" fmla="*/ 30 h 1583"/>
                <a:gd name="T16" fmla="*/ 18 w 1365"/>
                <a:gd name="T17" fmla="*/ 23 h 1583"/>
                <a:gd name="T18" fmla="*/ 18 w 1365"/>
                <a:gd name="T19" fmla="*/ 16 h 1583"/>
                <a:gd name="T20" fmla="*/ 20 w 1365"/>
                <a:gd name="T21" fmla="*/ 11 h 1583"/>
                <a:gd name="T22" fmla="*/ 26 w 1365"/>
                <a:gd name="T23" fmla="*/ 6 h 1583"/>
                <a:gd name="T24" fmla="*/ 33 w 1365"/>
                <a:gd name="T25" fmla="*/ 3 h 1583"/>
                <a:gd name="T26" fmla="*/ 45 w 1365"/>
                <a:gd name="T27" fmla="*/ 0 h 1583"/>
                <a:gd name="T28" fmla="*/ 1 w 1365"/>
                <a:gd name="T29" fmla="*/ 0 h 1583"/>
                <a:gd name="T30" fmla="*/ 1 w 1365"/>
                <a:gd name="T31" fmla="*/ 0 h 1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5"/>
                <a:gd name="T49" fmla="*/ 0 h 1583"/>
                <a:gd name="T50" fmla="*/ 1365 w 1365"/>
                <a:gd name="T51" fmla="*/ 1583 h 1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5" h="1583">
                  <a:moveTo>
                    <a:pt x="15" y="6"/>
                  </a:moveTo>
                  <a:lnTo>
                    <a:pt x="0" y="774"/>
                  </a:lnTo>
                  <a:lnTo>
                    <a:pt x="28" y="1000"/>
                  </a:lnTo>
                  <a:lnTo>
                    <a:pt x="91" y="1190"/>
                  </a:lnTo>
                  <a:lnTo>
                    <a:pt x="190" y="1338"/>
                  </a:lnTo>
                  <a:lnTo>
                    <a:pt x="352" y="1464"/>
                  </a:lnTo>
                  <a:lnTo>
                    <a:pt x="528" y="1583"/>
                  </a:lnTo>
                  <a:lnTo>
                    <a:pt x="698" y="922"/>
                  </a:lnTo>
                  <a:lnTo>
                    <a:pt x="563" y="703"/>
                  </a:lnTo>
                  <a:lnTo>
                    <a:pt x="549" y="492"/>
                  </a:lnTo>
                  <a:lnTo>
                    <a:pt x="627" y="338"/>
                  </a:lnTo>
                  <a:lnTo>
                    <a:pt x="781" y="190"/>
                  </a:lnTo>
                  <a:lnTo>
                    <a:pt x="992" y="91"/>
                  </a:lnTo>
                  <a:lnTo>
                    <a:pt x="1365" y="0"/>
                  </a:lnTo>
                  <a:lnTo>
                    <a:pt x="15" y="6"/>
                  </a:lnTo>
                  <a:close/>
                </a:path>
              </a:pathLst>
            </a:custGeom>
            <a:solidFill>
              <a:srgbClr val="D4D4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703" name="Freeform 74"/>
            <p:cNvSpPr>
              <a:spLocks/>
            </p:cNvSpPr>
            <p:nvPr/>
          </p:nvSpPr>
          <p:spPr bwMode="auto">
            <a:xfrm>
              <a:off x="4683" y="3460"/>
              <a:ext cx="248" cy="313"/>
            </a:xfrm>
            <a:custGeom>
              <a:avLst/>
              <a:gdLst>
                <a:gd name="T0" fmla="*/ 23 w 1373"/>
                <a:gd name="T1" fmla="*/ 14 h 1733"/>
                <a:gd name="T2" fmla="*/ 25 w 1373"/>
                <a:gd name="T3" fmla="*/ 18 h 1733"/>
                <a:gd name="T4" fmla="*/ 26 w 1373"/>
                <a:gd name="T5" fmla="*/ 22 h 1733"/>
                <a:gd name="T6" fmla="*/ 25 w 1373"/>
                <a:gd name="T7" fmla="*/ 27 h 1733"/>
                <a:gd name="T8" fmla="*/ 20 w 1373"/>
                <a:gd name="T9" fmla="*/ 31 h 1733"/>
                <a:gd name="T10" fmla="*/ 23 w 1373"/>
                <a:gd name="T11" fmla="*/ 50 h 1733"/>
                <a:gd name="T12" fmla="*/ 1 w 1373"/>
                <a:gd name="T13" fmla="*/ 51 h 1733"/>
                <a:gd name="T14" fmla="*/ 0 w 1373"/>
                <a:gd name="T15" fmla="*/ 53 h 1733"/>
                <a:gd name="T16" fmla="*/ 5 w 1373"/>
                <a:gd name="T17" fmla="*/ 55 h 1733"/>
                <a:gd name="T18" fmla="*/ 10 w 1373"/>
                <a:gd name="T19" fmla="*/ 57 h 1733"/>
                <a:gd name="T20" fmla="*/ 16 w 1373"/>
                <a:gd name="T21" fmla="*/ 56 h 1733"/>
                <a:gd name="T22" fmla="*/ 22 w 1373"/>
                <a:gd name="T23" fmla="*/ 54 h 1733"/>
                <a:gd name="T24" fmla="*/ 29 w 1373"/>
                <a:gd name="T25" fmla="*/ 52 h 1733"/>
                <a:gd name="T26" fmla="*/ 35 w 1373"/>
                <a:gd name="T27" fmla="*/ 47 h 1733"/>
                <a:gd name="T28" fmla="*/ 40 w 1373"/>
                <a:gd name="T29" fmla="*/ 40 h 1733"/>
                <a:gd name="T30" fmla="*/ 44 w 1373"/>
                <a:gd name="T31" fmla="*/ 29 h 1733"/>
                <a:gd name="T32" fmla="*/ 45 w 1373"/>
                <a:gd name="T33" fmla="*/ 16 h 1733"/>
                <a:gd name="T34" fmla="*/ 44 w 1373"/>
                <a:gd name="T35" fmla="*/ 0 h 1733"/>
                <a:gd name="T36" fmla="*/ 28 w 1373"/>
                <a:gd name="T37" fmla="*/ 1 h 1733"/>
                <a:gd name="T38" fmla="*/ 19 w 1373"/>
                <a:gd name="T39" fmla="*/ 4 h 1733"/>
                <a:gd name="T40" fmla="*/ 13 w 1373"/>
                <a:gd name="T41" fmla="*/ 7 h 1733"/>
                <a:gd name="T42" fmla="*/ 7 w 1373"/>
                <a:gd name="T43" fmla="*/ 9 h 1733"/>
                <a:gd name="T44" fmla="*/ 3 w 1373"/>
                <a:gd name="T45" fmla="*/ 13 h 1733"/>
                <a:gd name="T46" fmla="*/ 9 w 1373"/>
                <a:gd name="T47" fmla="*/ 10 h 1733"/>
                <a:gd name="T48" fmla="*/ 15 w 1373"/>
                <a:gd name="T49" fmla="*/ 10 h 1733"/>
                <a:gd name="T50" fmla="*/ 20 w 1373"/>
                <a:gd name="T51" fmla="*/ 11 h 1733"/>
                <a:gd name="T52" fmla="*/ 23 w 1373"/>
                <a:gd name="T53" fmla="*/ 14 h 1733"/>
                <a:gd name="T54" fmla="*/ 23 w 1373"/>
                <a:gd name="T55" fmla="*/ 14 h 17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73"/>
                <a:gd name="T85" fmla="*/ 0 h 1733"/>
                <a:gd name="T86" fmla="*/ 1373 w 1373"/>
                <a:gd name="T87" fmla="*/ 1733 h 17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73" h="1733">
                  <a:moveTo>
                    <a:pt x="696" y="424"/>
                  </a:moveTo>
                  <a:lnTo>
                    <a:pt x="767" y="549"/>
                  </a:lnTo>
                  <a:lnTo>
                    <a:pt x="788" y="684"/>
                  </a:lnTo>
                  <a:lnTo>
                    <a:pt x="753" y="831"/>
                  </a:lnTo>
                  <a:lnTo>
                    <a:pt x="626" y="966"/>
                  </a:lnTo>
                  <a:lnTo>
                    <a:pt x="711" y="1543"/>
                  </a:lnTo>
                  <a:lnTo>
                    <a:pt x="21" y="1557"/>
                  </a:lnTo>
                  <a:lnTo>
                    <a:pt x="0" y="1627"/>
                  </a:lnTo>
                  <a:lnTo>
                    <a:pt x="149" y="1697"/>
                  </a:lnTo>
                  <a:lnTo>
                    <a:pt x="318" y="1733"/>
                  </a:lnTo>
                  <a:lnTo>
                    <a:pt x="493" y="1711"/>
                  </a:lnTo>
                  <a:lnTo>
                    <a:pt x="670" y="1669"/>
                  </a:lnTo>
                  <a:lnTo>
                    <a:pt x="873" y="1598"/>
                  </a:lnTo>
                  <a:lnTo>
                    <a:pt x="1077" y="1450"/>
                  </a:lnTo>
                  <a:lnTo>
                    <a:pt x="1238" y="1213"/>
                  </a:lnTo>
                  <a:lnTo>
                    <a:pt x="1350" y="874"/>
                  </a:lnTo>
                  <a:lnTo>
                    <a:pt x="1373" y="494"/>
                  </a:lnTo>
                  <a:lnTo>
                    <a:pt x="1350" y="0"/>
                  </a:lnTo>
                  <a:lnTo>
                    <a:pt x="858" y="36"/>
                  </a:lnTo>
                  <a:lnTo>
                    <a:pt x="576" y="127"/>
                  </a:lnTo>
                  <a:lnTo>
                    <a:pt x="401" y="198"/>
                  </a:lnTo>
                  <a:lnTo>
                    <a:pt x="219" y="289"/>
                  </a:lnTo>
                  <a:lnTo>
                    <a:pt x="86" y="401"/>
                  </a:lnTo>
                  <a:lnTo>
                    <a:pt x="274" y="317"/>
                  </a:lnTo>
                  <a:lnTo>
                    <a:pt x="459" y="297"/>
                  </a:lnTo>
                  <a:lnTo>
                    <a:pt x="605" y="346"/>
                  </a:lnTo>
                  <a:lnTo>
                    <a:pt x="696" y="424"/>
                  </a:lnTo>
                  <a:close/>
                </a:path>
              </a:pathLst>
            </a:custGeom>
            <a:solidFill>
              <a:srgbClr val="7878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5631" name="AutoShape 75"/>
          <p:cNvSpPr>
            <a:spLocks noChangeArrowheads="1"/>
          </p:cNvSpPr>
          <p:nvPr/>
        </p:nvSpPr>
        <p:spPr bwMode="auto">
          <a:xfrm>
            <a:off x="3059113" y="3459163"/>
            <a:ext cx="677862" cy="677862"/>
          </a:xfrm>
          <a:custGeom>
            <a:avLst/>
            <a:gdLst>
              <a:gd name="T0" fmla="*/ 333799841 w 21600"/>
              <a:gd name="T1" fmla="*/ 0 h 21600"/>
              <a:gd name="T2" fmla="*/ 97760249 w 21600"/>
              <a:gd name="T3" fmla="*/ 97760249 h 21600"/>
              <a:gd name="T4" fmla="*/ 0 w 21600"/>
              <a:gd name="T5" fmla="*/ 333799841 h 21600"/>
              <a:gd name="T6" fmla="*/ 97760249 w 21600"/>
              <a:gd name="T7" fmla="*/ 569839463 h 21600"/>
              <a:gd name="T8" fmla="*/ 333799841 w 21600"/>
              <a:gd name="T9" fmla="*/ 667599681 h 21600"/>
              <a:gd name="T10" fmla="*/ 569839463 w 21600"/>
              <a:gd name="T11" fmla="*/ 569839463 h 21600"/>
              <a:gd name="T12" fmla="*/ 667599681 w 21600"/>
              <a:gd name="T13" fmla="*/ 333799841 h 21600"/>
              <a:gd name="T14" fmla="*/ 569839463 w 21600"/>
              <a:gd name="T15" fmla="*/ 97760249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025" y="14517"/>
                </a:moveTo>
                <a:cubicBezTo>
                  <a:pt x="17696" y="13393"/>
                  <a:pt x="18051" y="12108"/>
                  <a:pt x="18051" y="10800"/>
                </a:cubicBezTo>
                <a:cubicBezTo>
                  <a:pt x="18051" y="6795"/>
                  <a:pt x="14804" y="3549"/>
                  <a:pt x="10800" y="3549"/>
                </a:cubicBezTo>
                <a:cubicBezTo>
                  <a:pt x="9491" y="3548"/>
                  <a:pt x="8206" y="3903"/>
                  <a:pt x="7082" y="4574"/>
                </a:cubicBezTo>
                <a:close/>
                <a:moveTo>
                  <a:pt x="4574" y="7082"/>
                </a:moveTo>
                <a:cubicBezTo>
                  <a:pt x="3903" y="8206"/>
                  <a:pt x="3549" y="9491"/>
                  <a:pt x="3549" y="10799"/>
                </a:cubicBezTo>
                <a:cubicBezTo>
                  <a:pt x="3549" y="14804"/>
                  <a:pt x="6795" y="18051"/>
                  <a:pt x="10800" y="18051"/>
                </a:cubicBezTo>
                <a:cubicBezTo>
                  <a:pt x="12108" y="18051"/>
                  <a:pt x="13393" y="17696"/>
                  <a:pt x="14517" y="17025"/>
                </a:cubicBezTo>
                <a:close/>
              </a:path>
            </a:pathLst>
          </a:cu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5632" name="Line 77"/>
          <p:cNvSpPr>
            <a:spLocks noChangeShapeType="1"/>
          </p:cNvSpPr>
          <p:nvPr/>
        </p:nvSpPr>
        <p:spPr bwMode="auto">
          <a:xfrm flipH="1" flipV="1">
            <a:off x="2881313" y="2432050"/>
            <a:ext cx="690562" cy="196691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33" name="AutoShape 78"/>
          <p:cNvSpPr>
            <a:spLocks noChangeArrowheads="1"/>
          </p:cNvSpPr>
          <p:nvPr/>
        </p:nvSpPr>
        <p:spPr bwMode="auto">
          <a:xfrm>
            <a:off x="1693863" y="4930775"/>
            <a:ext cx="3602037" cy="765175"/>
          </a:xfrm>
          <a:prstGeom prst="rightArrow">
            <a:avLst>
              <a:gd name="adj1" fmla="val 49778"/>
              <a:gd name="adj2" fmla="val 49755"/>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25634" name="Group 79"/>
          <p:cNvGrpSpPr>
            <a:grpSpLocks/>
          </p:cNvGrpSpPr>
          <p:nvPr/>
        </p:nvGrpSpPr>
        <p:grpSpPr bwMode="auto">
          <a:xfrm>
            <a:off x="742950" y="4894263"/>
            <a:ext cx="1528763" cy="1638300"/>
            <a:chOff x="469" y="1359"/>
            <a:chExt cx="963" cy="1032"/>
          </a:xfrm>
        </p:grpSpPr>
        <p:sp>
          <p:nvSpPr>
            <p:cNvPr id="25681" name="Line 80"/>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82" name="Line 81"/>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83" name="Rectangle 82"/>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684" name="AutoShape 83"/>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nvGrpSpPr>
          <p:cNvPr id="25635" name="Group 84"/>
          <p:cNvGrpSpPr>
            <a:grpSpLocks/>
          </p:cNvGrpSpPr>
          <p:nvPr/>
        </p:nvGrpSpPr>
        <p:grpSpPr bwMode="auto">
          <a:xfrm>
            <a:off x="2994025" y="4897438"/>
            <a:ext cx="1528763" cy="1638300"/>
            <a:chOff x="445" y="1359"/>
            <a:chExt cx="1139" cy="1220"/>
          </a:xfrm>
        </p:grpSpPr>
        <p:sp>
          <p:nvSpPr>
            <p:cNvPr id="25638" name="Line 85"/>
            <p:cNvSpPr>
              <a:spLocks noChangeShapeType="1"/>
            </p:cNvSpPr>
            <p:nvPr/>
          </p:nvSpPr>
          <p:spPr bwMode="auto">
            <a:xfrm flipV="1">
              <a:off x="868" y="1810"/>
              <a:ext cx="0" cy="494"/>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39" name="Line 86"/>
            <p:cNvSpPr>
              <a:spLocks noChangeShapeType="1"/>
            </p:cNvSpPr>
            <p:nvPr/>
          </p:nvSpPr>
          <p:spPr bwMode="auto">
            <a:xfrm>
              <a:off x="863" y="2309"/>
              <a:ext cx="49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5640" name="Group 87"/>
            <p:cNvGrpSpPr>
              <a:grpSpLocks/>
            </p:cNvGrpSpPr>
            <p:nvPr/>
          </p:nvGrpSpPr>
          <p:grpSpPr bwMode="auto">
            <a:xfrm>
              <a:off x="445" y="1359"/>
              <a:ext cx="834" cy="615"/>
              <a:chOff x="2083" y="1606"/>
              <a:chExt cx="1489" cy="1097"/>
            </a:xfrm>
          </p:grpSpPr>
          <p:sp>
            <p:nvSpPr>
              <p:cNvPr id="25648" name="Rectangle 8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5649" name="Freeform 8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5650" name="Freeform 9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5651" name="Freeform 9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5652" name="Freeform 9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5653" name="Rectangle 9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5654" name="Rectangle 9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655" name="AutoShape 9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5656" name="Freeform 96"/>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5657" name="Freeform 97"/>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5658" name="Rectangle 9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659" name="Rectangle 9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660" name="Rectangle 10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5661" name="Group 101"/>
              <p:cNvGrpSpPr>
                <a:grpSpLocks/>
              </p:cNvGrpSpPr>
              <p:nvPr/>
            </p:nvGrpSpPr>
            <p:grpSpPr bwMode="auto">
              <a:xfrm>
                <a:off x="2221" y="1871"/>
                <a:ext cx="518" cy="782"/>
                <a:chOff x="2400" y="1656"/>
                <a:chExt cx="752" cy="1136"/>
              </a:xfrm>
            </p:grpSpPr>
            <p:sp>
              <p:nvSpPr>
                <p:cNvPr id="25674" name="Freeform 10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5675" name="Freeform 10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5676" name="Freeform 10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5677" name="Freeform 10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5678" name="Freeform 10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5679" name="Line 10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80" name="Line 10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662" name="Group 109"/>
              <p:cNvGrpSpPr>
                <a:grpSpLocks/>
              </p:cNvGrpSpPr>
              <p:nvPr/>
            </p:nvGrpSpPr>
            <p:grpSpPr bwMode="auto">
              <a:xfrm rot="-6511945">
                <a:off x="2834" y="1842"/>
                <a:ext cx="518" cy="783"/>
                <a:chOff x="2400" y="1656"/>
                <a:chExt cx="752" cy="1136"/>
              </a:xfrm>
            </p:grpSpPr>
            <p:sp>
              <p:nvSpPr>
                <p:cNvPr id="25667" name="Freeform 11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5668" name="Freeform 11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5669" name="Freeform 11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5670" name="Freeform 11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5671" name="Freeform 11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5672" name="Line 11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3" name="Line 11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663" name="Freeform 117"/>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5664" name="Freeform 118"/>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5665" name="Rectangle 11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666" name="Rectangle 12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5641" name="Group 121"/>
            <p:cNvGrpSpPr>
              <a:grpSpLocks/>
            </p:cNvGrpSpPr>
            <p:nvPr/>
          </p:nvGrpSpPr>
          <p:grpSpPr bwMode="auto">
            <a:xfrm>
              <a:off x="1066" y="2064"/>
              <a:ext cx="518" cy="515"/>
              <a:chOff x="3360" y="800"/>
              <a:chExt cx="620" cy="616"/>
            </a:xfrm>
          </p:grpSpPr>
          <p:sp>
            <p:nvSpPr>
              <p:cNvPr id="25642" name="AutoShape 12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5643" name="Freeform 123"/>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5644" name="Group 124"/>
              <p:cNvGrpSpPr>
                <a:grpSpLocks/>
              </p:cNvGrpSpPr>
              <p:nvPr/>
            </p:nvGrpSpPr>
            <p:grpSpPr bwMode="auto">
              <a:xfrm flipH="1">
                <a:off x="3749" y="1171"/>
                <a:ext cx="212" cy="213"/>
                <a:chOff x="1350" y="686"/>
                <a:chExt cx="1132" cy="1132"/>
              </a:xfrm>
            </p:grpSpPr>
            <p:sp>
              <p:nvSpPr>
                <p:cNvPr id="25646" name="AutoShape 12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647" name="Picture 126"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645" name="Picture 127"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25636" name="AutoShape 128"/>
          <p:cNvSpPr>
            <a:spLocks noChangeArrowheads="1"/>
          </p:cNvSpPr>
          <p:nvPr/>
        </p:nvSpPr>
        <p:spPr bwMode="auto">
          <a:xfrm>
            <a:off x="5326063" y="4792663"/>
            <a:ext cx="1117600" cy="1117600"/>
          </a:xfrm>
          <a:prstGeom prst="octagon">
            <a:avLst>
              <a:gd name="adj" fmla="val 29287"/>
            </a:avLst>
          </a:prstGeom>
          <a:solidFill>
            <a:srgbClr val="777777"/>
          </a:solidFill>
          <a:ln w="28575" algn="ctr">
            <a:solidFill>
              <a:srgbClr val="777777"/>
            </a:solidFill>
            <a:miter lim="800000"/>
            <a:headEnd/>
            <a:tailEnd/>
          </a:ln>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|EOS~023|</a:t>
            </a:r>
            <a:endParaRPr lang="en-US" sz="100" dirty="0" err="1" smtClean="0">
              <a:solidFill>
                <a:srgbClr val="FFFFFF"/>
              </a:solidFill>
              <a:latin typeface="Arial"/>
              <a:cs typeface="Calibri" pitchFamily="34" charset="0"/>
            </a:endParaRPr>
          </a:p>
        </p:txBody>
      </p:sp>
      <p:sp>
        <p:nvSpPr>
          <p:cNvPr id="26626" name="AutoShape 2"/>
          <p:cNvSpPr>
            <a:spLocks noChangeArrowheads="1"/>
          </p:cNvSpPr>
          <p:nvPr/>
        </p:nvSpPr>
        <p:spPr bwMode="auto">
          <a:xfrm>
            <a:off x="6988175" y="750888"/>
            <a:ext cx="1695450" cy="1081087"/>
          </a:xfrm>
          <a:prstGeom prst="roundRect">
            <a:avLst>
              <a:gd name="adj" fmla="val 16667"/>
            </a:avLst>
          </a:prstGeom>
          <a:solidFill>
            <a:schemeClr val="folHlink"/>
          </a:solidFill>
          <a:ln w="28575" algn="ctr">
            <a:solidFill>
              <a:schemeClr val="bg1"/>
            </a:solidFill>
            <a:round/>
            <a:headEnd/>
            <a:tailEnd/>
          </a:ln>
        </p:spPr>
        <p:txBody>
          <a:bodyPr lIns="0" tIns="0" rIns="0" bIns="0" anchor="ctr">
            <a:spAutoFit/>
          </a:bodyPr>
          <a:lstStyle/>
          <a:p>
            <a:endParaRPr lang="en-US"/>
          </a:p>
        </p:txBody>
      </p:sp>
      <p:sp>
        <p:nvSpPr>
          <p:cNvPr id="26627" name="AutoShape 3"/>
          <p:cNvSpPr>
            <a:spLocks noChangeArrowheads="1"/>
          </p:cNvSpPr>
          <p:nvPr/>
        </p:nvSpPr>
        <p:spPr bwMode="auto">
          <a:xfrm>
            <a:off x="1693863" y="4930775"/>
            <a:ext cx="5484812" cy="765175"/>
          </a:xfrm>
          <a:prstGeom prst="rightArrow">
            <a:avLst>
              <a:gd name="adj1" fmla="val 49778"/>
              <a:gd name="adj2" fmla="val 75762"/>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26628" name="Group 4"/>
          <p:cNvGrpSpPr>
            <a:grpSpLocks/>
          </p:cNvGrpSpPr>
          <p:nvPr/>
        </p:nvGrpSpPr>
        <p:grpSpPr bwMode="auto">
          <a:xfrm>
            <a:off x="742950" y="4894263"/>
            <a:ext cx="1528763" cy="1638300"/>
            <a:chOff x="469" y="1359"/>
            <a:chExt cx="963" cy="1032"/>
          </a:xfrm>
        </p:grpSpPr>
        <p:sp>
          <p:nvSpPr>
            <p:cNvPr id="26798" name="Line 5"/>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99" name="Line 6"/>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800" name="Rectangle 7"/>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801" name="AutoShape 8"/>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sp>
        <p:nvSpPr>
          <p:cNvPr id="26629" name="Rectangle 9"/>
          <p:cNvSpPr>
            <a:spLocks noGrp="1" noChangeArrowheads="1"/>
          </p:cNvSpPr>
          <p:nvPr>
            <p:ph type="title"/>
          </p:nvPr>
        </p:nvSpPr>
        <p:spPr/>
        <p:txBody>
          <a:bodyPr/>
          <a:lstStyle/>
          <a:p>
            <a:pPr eaLnBrk="1" hangingPunct="1"/>
            <a:r>
              <a:rPr lang="en-US" smtClean="0"/>
              <a:t>The "Ability to Pay" level</a:t>
            </a:r>
          </a:p>
        </p:txBody>
      </p:sp>
      <p:grpSp>
        <p:nvGrpSpPr>
          <p:cNvPr id="26630" name="Group 10"/>
          <p:cNvGrpSpPr>
            <a:grpSpLocks/>
          </p:cNvGrpSpPr>
          <p:nvPr/>
        </p:nvGrpSpPr>
        <p:grpSpPr bwMode="auto">
          <a:xfrm>
            <a:off x="2732088" y="750888"/>
            <a:ext cx="1695450" cy="1081087"/>
            <a:chOff x="1740" y="1811"/>
            <a:chExt cx="1068" cy="681"/>
          </a:xfrm>
        </p:grpSpPr>
        <p:sp>
          <p:nvSpPr>
            <p:cNvPr id="26796" name="Text Box 11"/>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Valid</a:t>
              </a:r>
              <a:br>
                <a:rPr lang="en-US" sz="2000" b="1"/>
              </a:br>
              <a:r>
                <a:rPr lang="en-US" sz="2000" b="1"/>
                <a:t>for</a:t>
              </a:r>
              <a:br>
                <a:rPr lang="en-US" sz="2000" b="1"/>
              </a:br>
              <a:r>
                <a:rPr lang="en-US" sz="2000" b="1"/>
                <a:t>ISO</a:t>
              </a:r>
            </a:p>
          </p:txBody>
        </p:sp>
        <p:sp>
          <p:nvSpPr>
            <p:cNvPr id="26797" name="AutoShape 12"/>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6631" name="Group 13"/>
          <p:cNvGrpSpPr>
            <a:grpSpLocks/>
          </p:cNvGrpSpPr>
          <p:nvPr/>
        </p:nvGrpSpPr>
        <p:grpSpPr bwMode="auto">
          <a:xfrm>
            <a:off x="4859338" y="750888"/>
            <a:ext cx="1695450" cy="1081087"/>
            <a:chOff x="1740" y="1811"/>
            <a:chExt cx="1068" cy="681"/>
          </a:xfrm>
        </p:grpSpPr>
        <p:sp>
          <p:nvSpPr>
            <p:cNvPr id="26794" name="Text Box 14"/>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Send to</a:t>
              </a:r>
              <a:br>
                <a:rPr lang="en-US" sz="2000" b="1"/>
              </a:br>
              <a:r>
                <a:rPr lang="en-US" sz="2000" b="1"/>
                <a:t>External (Systems)</a:t>
              </a:r>
            </a:p>
          </p:txBody>
        </p:sp>
        <p:sp>
          <p:nvSpPr>
            <p:cNvPr id="26795" name="AutoShape 15"/>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26632" name="Group 16"/>
          <p:cNvGrpSpPr>
            <a:grpSpLocks/>
          </p:cNvGrpSpPr>
          <p:nvPr/>
        </p:nvGrpSpPr>
        <p:grpSpPr bwMode="auto">
          <a:xfrm>
            <a:off x="604838" y="750888"/>
            <a:ext cx="1695450" cy="1081087"/>
            <a:chOff x="1740" y="1811"/>
            <a:chExt cx="1068" cy="681"/>
          </a:xfrm>
        </p:grpSpPr>
        <p:sp>
          <p:nvSpPr>
            <p:cNvPr id="26792" name="Text Box 17"/>
            <p:cNvSpPr txBox="1">
              <a:spLocks noChangeArrowheads="1"/>
            </p:cNvSpPr>
            <p:nvPr/>
          </p:nvSpPr>
          <p:spPr bwMode="auto">
            <a:xfrm>
              <a:off x="1750" y="1851"/>
              <a:ext cx="1047"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New</a:t>
              </a:r>
              <a:br>
                <a:rPr lang="en-US" sz="2000" b="1"/>
              </a:br>
              <a:r>
                <a:rPr lang="en-US" sz="2000" b="1"/>
                <a:t>Loss</a:t>
              </a:r>
              <a:br>
                <a:rPr lang="en-US" sz="2000" b="1"/>
              </a:br>
              <a:r>
                <a:rPr lang="en-US" sz="2000" b="1"/>
                <a:t>Completion</a:t>
              </a:r>
            </a:p>
          </p:txBody>
        </p:sp>
        <p:sp>
          <p:nvSpPr>
            <p:cNvPr id="26793" name="AutoShape 18"/>
            <p:cNvSpPr>
              <a:spLocks noChangeArrowheads="1"/>
            </p:cNvSpPr>
            <p:nvPr/>
          </p:nvSpPr>
          <p:spPr bwMode="auto">
            <a:xfrm>
              <a:off x="1740" y="1811"/>
              <a:ext cx="1068" cy="681"/>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26633" name="Text Box 19"/>
          <p:cNvSpPr txBox="1">
            <a:spLocks noChangeArrowheads="1"/>
          </p:cNvSpPr>
          <p:nvPr/>
        </p:nvSpPr>
        <p:spPr bwMode="auto">
          <a:xfrm>
            <a:off x="70040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Ability</a:t>
            </a:r>
            <a:br>
              <a:rPr lang="en-US" sz="2000" b="1"/>
            </a:br>
            <a:r>
              <a:rPr lang="en-US" sz="2000" b="1"/>
              <a:t>to</a:t>
            </a:r>
            <a:br>
              <a:rPr lang="en-US" sz="2000" b="1"/>
            </a:br>
            <a:r>
              <a:rPr lang="en-US" sz="2000" b="1"/>
              <a:t>Pay</a:t>
            </a:r>
          </a:p>
        </p:txBody>
      </p:sp>
      <p:sp>
        <p:nvSpPr>
          <p:cNvPr id="26634" name="AutoShape 20"/>
          <p:cNvSpPr>
            <a:spLocks noChangeArrowheads="1"/>
          </p:cNvSpPr>
          <p:nvPr/>
        </p:nvSpPr>
        <p:spPr bwMode="auto">
          <a:xfrm>
            <a:off x="2309813" y="1101725"/>
            <a:ext cx="433387"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6635" name="AutoShape 21"/>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6636" name="AutoShape 22"/>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6637" name="Text Box 23"/>
          <p:cNvSpPr txBox="1">
            <a:spLocks noChangeArrowheads="1"/>
          </p:cNvSpPr>
          <p:nvPr/>
        </p:nvSpPr>
        <p:spPr bwMode="auto">
          <a:xfrm>
            <a:off x="1016000" y="2128838"/>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Driver of vehicle is specified</a:t>
            </a:r>
          </a:p>
        </p:txBody>
      </p:sp>
      <p:sp>
        <p:nvSpPr>
          <p:cNvPr id="26638" name="Rectangle 24"/>
          <p:cNvSpPr>
            <a:spLocks noChangeArrowheads="1"/>
          </p:cNvSpPr>
          <p:nvPr/>
        </p:nvSpPr>
        <p:spPr bwMode="auto">
          <a:xfrm>
            <a:off x="609600" y="2147888"/>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39" name="Freeform 25"/>
          <p:cNvSpPr>
            <a:spLocks/>
          </p:cNvSpPr>
          <p:nvPr/>
        </p:nvSpPr>
        <p:spPr bwMode="auto">
          <a:xfrm>
            <a:off x="614363" y="1973263"/>
            <a:ext cx="354012" cy="392112"/>
          </a:xfrm>
          <a:custGeom>
            <a:avLst/>
            <a:gdLst>
              <a:gd name="T0" fmla="*/ 0 w 481"/>
              <a:gd name="T1" fmla="*/ 176975633 h 533"/>
              <a:gd name="T2" fmla="*/ 65002056 w 481"/>
              <a:gd name="T3" fmla="*/ 288464914 h 533"/>
              <a:gd name="T4" fmla="*/ 120795386 w 481"/>
              <a:gd name="T5" fmla="*/ 288464914 h 533"/>
              <a:gd name="T6" fmla="*/ 260549914 w 481"/>
              <a:gd name="T7" fmla="*/ 56286093 h 533"/>
              <a:gd name="T8" fmla="*/ 172255176 w 481"/>
              <a:gd name="T9" fmla="*/ 0 h 533"/>
              <a:gd name="T10" fmla="*/ 88294715 w 481"/>
              <a:gd name="T11" fmla="*/ 246791446 h 533"/>
              <a:gd name="T12" fmla="*/ 46584593 w 481"/>
              <a:gd name="T13" fmla="*/ 176975633 h 533"/>
              <a:gd name="T14" fmla="*/ 0 w 481"/>
              <a:gd name="T15" fmla="*/ 176975633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6640" name="Text Box 26"/>
          <p:cNvSpPr txBox="1">
            <a:spLocks noChangeArrowheads="1"/>
          </p:cNvSpPr>
          <p:nvPr/>
        </p:nvSpPr>
        <p:spPr bwMode="auto">
          <a:xfrm>
            <a:off x="1025525" y="3238500"/>
            <a:ext cx="144303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If insured at fault, fault rating specified</a:t>
            </a:r>
          </a:p>
        </p:txBody>
      </p:sp>
      <p:sp>
        <p:nvSpPr>
          <p:cNvPr id="26641" name="Rectangle 27"/>
          <p:cNvSpPr>
            <a:spLocks noChangeArrowheads="1"/>
          </p:cNvSpPr>
          <p:nvPr/>
        </p:nvSpPr>
        <p:spPr bwMode="auto">
          <a:xfrm>
            <a:off x="619125" y="3257550"/>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42" name="Freeform 28"/>
          <p:cNvSpPr>
            <a:spLocks/>
          </p:cNvSpPr>
          <p:nvPr/>
        </p:nvSpPr>
        <p:spPr bwMode="auto">
          <a:xfrm>
            <a:off x="623888" y="3082925"/>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6643" name="Text Box 29"/>
          <p:cNvSpPr txBox="1">
            <a:spLocks noChangeArrowheads="1"/>
          </p:cNvSpPr>
          <p:nvPr/>
        </p:nvSpPr>
        <p:spPr bwMode="auto">
          <a:xfrm>
            <a:off x="3152775" y="2128838"/>
            <a:ext cx="12795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Loss location has city, state, zip</a:t>
            </a:r>
          </a:p>
        </p:txBody>
      </p:sp>
      <p:sp>
        <p:nvSpPr>
          <p:cNvPr id="26644" name="Rectangle 30"/>
          <p:cNvSpPr>
            <a:spLocks noChangeArrowheads="1"/>
          </p:cNvSpPr>
          <p:nvPr/>
        </p:nvSpPr>
        <p:spPr bwMode="auto">
          <a:xfrm>
            <a:off x="2746375" y="2147888"/>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45" name="Freeform 31"/>
          <p:cNvSpPr>
            <a:spLocks/>
          </p:cNvSpPr>
          <p:nvPr/>
        </p:nvSpPr>
        <p:spPr bwMode="auto">
          <a:xfrm>
            <a:off x="2751138" y="1973263"/>
            <a:ext cx="354012" cy="392112"/>
          </a:xfrm>
          <a:custGeom>
            <a:avLst/>
            <a:gdLst>
              <a:gd name="T0" fmla="*/ 0 w 481"/>
              <a:gd name="T1" fmla="*/ 176975633 h 533"/>
              <a:gd name="T2" fmla="*/ 65002056 w 481"/>
              <a:gd name="T3" fmla="*/ 288464914 h 533"/>
              <a:gd name="T4" fmla="*/ 120795386 w 481"/>
              <a:gd name="T5" fmla="*/ 288464914 h 533"/>
              <a:gd name="T6" fmla="*/ 260549914 w 481"/>
              <a:gd name="T7" fmla="*/ 56286093 h 533"/>
              <a:gd name="T8" fmla="*/ 172255176 w 481"/>
              <a:gd name="T9" fmla="*/ 0 h 533"/>
              <a:gd name="T10" fmla="*/ 88294715 w 481"/>
              <a:gd name="T11" fmla="*/ 246791446 h 533"/>
              <a:gd name="T12" fmla="*/ 46584593 w 481"/>
              <a:gd name="T13" fmla="*/ 176975633 h 533"/>
              <a:gd name="T14" fmla="*/ 0 w 481"/>
              <a:gd name="T15" fmla="*/ 176975633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6646" name="Text Box 32"/>
          <p:cNvSpPr txBox="1">
            <a:spLocks noChangeArrowheads="1"/>
          </p:cNvSpPr>
          <p:nvPr/>
        </p:nvSpPr>
        <p:spPr bwMode="auto">
          <a:xfrm>
            <a:off x="5291138" y="2128838"/>
            <a:ext cx="13604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Total loss calculation completed</a:t>
            </a:r>
          </a:p>
        </p:txBody>
      </p:sp>
      <p:sp>
        <p:nvSpPr>
          <p:cNvPr id="26647" name="Rectangle 33"/>
          <p:cNvSpPr>
            <a:spLocks noChangeArrowheads="1"/>
          </p:cNvSpPr>
          <p:nvPr/>
        </p:nvSpPr>
        <p:spPr bwMode="auto">
          <a:xfrm>
            <a:off x="4884738" y="2147888"/>
            <a:ext cx="284162"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48" name="Freeform 34"/>
          <p:cNvSpPr>
            <a:spLocks/>
          </p:cNvSpPr>
          <p:nvPr/>
        </p:nvSpPr>
        <p:spPr bwMode="auto">
          <a:xfrm>
            <a:off x="4889500" y="1973263"/>
            <a:ext cx="354013" cy="392112"/>
          </a:xfrm>
          <a:custGeom>
            <a:avLst/>
            <a:gdLst>
              <a:gd name="T0" fmla="*/ 0 w 481"/>
              <a:gd name="T1" fmla="*/ 176975633 h 533"/>
              <a:gd name="T2" fmla="*/ 65002240 w 481"/>
              <a:gd name="T3" fmla="*/ 288464914 h 533"/>
              <a:gd name="T4" fmla="*/ 120796464 w 481"/>
              <a:gd name="T5" fmla="*/ 288464914 h 533"/>
              <a:gd name="T6" fmla="*/ 260551386 w 481"/>
              <a:gd name="T7" fmla="*/ 56286093 h 533"/>
              <a:gd name="T8" fmla="*/ 172256399 w 481"/>
              <a:gd name="T9" fmla="*/ 0 h 533"/>
              <a:gd name="T10" fmla="*/ 88294964 w 481"/>
              <a:gd name="T11" fmla="*/ 246791446 h 533"/>
              <a:gd name="T12" fmla="*/ 46584725 w 481"/>
              <a:gd name="T13" fmla="*/ 176975633 h 533"/>
              <a:gd name="T14" fmla="*/ 0 w 481"/>
              <a:gd name="T15" fmla="*/ 176975633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6649" name="Text Box 35"/>
          <p:cNvSpPr txBox="1">
            <a:spLocks noChangeArrowheads="1"/>
          </p:cNvSpPr>
          <p:nvPr/>
        </p:nvSpPr>
        <p:spPr bwMode="auto">
          <a:xfrm>
            <a:off x="7429500" y="2128838"/>
            <a:ext cx="1462088"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At least one assess-</a:t>
            </a:r>
            <a:br>
              <a:rPr lang="en-US" sz="2000" b="1">
                <a:solidFill>
                  <a:srgbClr val="00CC00"/>
                </a:solidFill>
              </a:rPr>
            </a:br>
            <a:r>
              <a:rPr lang="en-US" sz="2000" b="1">
                <a:solidFill>
                  <a:srgbClr val="00CC00"/>
                </a:solidFill>
              </a:rPr>
              <a:t>ment exists</a:t>
            </a:r>
          </a:p>
        </p:txBody>
      </p:sp>
      <p:sp>
        <p:nvSpPr>
          <p:cNvPr id="26650" name="Rectangle 36"/>
          <p:cNvSpPr>
            <a:spLocks noChangeArrowheads="1"/>
          </p:cNvSpPr>
          <p:nvPr/>
        </p:nvSpPr>
        <p:spPr bwMode="auto">
          <a:xfrm>
            <a:off x="7023100" y="2147888"/>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51" name="Freeform 37"/>
          <p:cNvSpPr>
            <a:spLocks/>
          </p:cNvSpPr>
          <p:nvPr/>
        </p:nvSpPr>
        <p:spPr bwMode="auto">
          <a:xfrm>
            <a:off x="7027863" y="1973263"/>
            <a:ext cx="354012" cy="392112"/>
          </a:xfrm>
          <a:custGeom>
            <a:avLst/>
            <a:gdLst>
              <a:gd name="T0" fmla="*/ 0 w 481"/>
              <a:gd name="T1" fmla="*/ 176975633 h 533"/>
              <a:gd name="T2" fmla="*/ 65002056 w 481"/>
              <a:gd name="T3" fmla="*/ 288464914 h 533"/>
              <a:gd name="T4" fmla="*/ 120795386 w 481"/>
              <a:gd name="T5" fmla="*/ 288464914 h 533"/>
              <a:gd name="T6" fmla="*/ 260549914 w 481"/>
              <a:gd name="T7" fmla="*/ 56286093 h 533"/>
              <a:gd name="T8" fmla="*/ 172255176 w 481"/>
              <a:gd name="T9" fmla="*/ 0 h 533"/>
              <a:gd name="T10" fmla="*/ 88294715 w 481"/>
              <a:gd name="T11" fmla="*/ 246791446 h 533"/>
              <a:gd name="T12" fmla="*/ 46584593 w 481"/>
              <a:gd name="T13" fmla="*/ 176975633 h 533"/>
              <a:gd name="T14" fmla="*/ 0 w 481"/>
              <a:gd name="T15" fmla="*/ 176975633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6652" name="Text Box 38"/>
          <p:cNvSpPr txBox="1">
            <a:spLocks noChangeArrowheads="1"/>
          </p:cNvSpPr>
          <p:nvPr/>
        </p:nvSpPr>
        <p:spPr bwMode="auto">
          <a:xfrm>
            <a:off x="7439025" y="3238500"/>
            <a:ext cx="12795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Mailing address</a:t>
            </a:r>
            <a:br>
              <a:rPr lang="en-US" sz="2000" b="1">
                <a:solidFill>
                  <a:srgbClr val="00CC00"/>
                </a:solidFill>
              </a:rPr>
            </a:br>
            <a:r>
              <a:rPr lang="en-US" sz="2000" b="1">
                <a:solidFill>
                  <a:srgbClr val="00CC00"/>
                </a:solidFill>
              </a:rPr>
              <a:t>for all third-party claimants</a:t>
            </a:r>
          </a:p>
        </p:txBody>
      </p:sp>
      <p:sp>
        <p:nvSpPr>
          <p:cNvPr id="26653" name="Rectangle 39"/>
          <p:cNvSpPr>
            <a:spLocks noChangeArrowheads="1"/>
          </p:cNvSpPr>
          <p:nvPr/>
        </p:nvSpPr>
        <p:spPr bwMode="auto">
          <a:xfrm>
            <a:off x="7032625" y="3257550"/>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54" name="Freeform 40"/>
          <p:cNvSpPr>
            <a:spLocks/>
          </p:cNvSpPr>
          <p:nvPr/>
        </p:nvSpPr>
        <p:spPr bwMode="auto">
          <a:xfrm>
            <a:off x="7037388" y="3082925"/>
            <a:ext cx="354012" cy="392113"/>
          </a:xfrm>
          <a:custGeom>
            <a:avLst/>
            <a:gdLst>
              <a:gd name="T0" fmla="*/ 0 w 481"/>
              <a:gd name="T1" fmla="*/ 176976820 h 533"/>
              <a:gd name="T2" fmla="*/ 65002056 w 481"/>
              <a:gd name="T3" fmla="*/ 288466385 h 533"/>
              <a:gd name="T4" fmla="*/ 120795386 w 481"/>
              <a:gd name="T5" fmla="*/ 288466385 h 533"/>
              <a:gd name="T6" fmla="*/ 260549914 w 481"/>
              <a:gd name="T7" fmla="*/ 56286237 h 533"/>
              <a:gd name="T8" fmla="*/ 172255176 w 481"/>
              <a:gd name="T9" fmla="*/ 0 h 533"/>
              <a:gd name="T10" fmla="*/ 88294715 w 481"/>
              <a:gd name="T11" fmla="*/ 246792811 h 533"/>
              <a:gd name="T12" fmla="*/ 46584593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26655" name="Rectangle 41"/>
          <p:cNvSpPr>
            <a:spLocks noChangeArrowheads="1"/>
          </p:cNvSpPr>
          <p:nvPr/>
        </p:nvSpPr>
        <p:spPr bwMode="auto">
          <a:xfrm>
            <a:off x="4884738" y="3263900"/>
            <a:ext cx="284162"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6656" name="Freeform 42"/>
          <p:cNvSpPr>
            <a:spLocks/>
          </p:cNvSpPr>
          <p:nvPr/>
        </p:nvSpPr>
        <p:spPr bwMode="auto">
          <a:xfrm>
            <a:off x="4889500" y="3089275"/>
            <a:ext cx="354013" cy="392113"/>
          </a:xfrm>
          <a:custGeom>
            <a:avLst/>
            <a:gdLst>
              <a:gd name="T0" fmla="*/ 0 w 481"/>
              <a:gd name="T1" fmla="*/ 176976820 h 533"/>
              <a:gd name="T2" fmla="*/ 65002240 w 481"/>
              <a:gd name="T3" fmla="*/ 288466385 h 533"/>
              <a:gd name="T4" fmla="*/ 120796464 w 481"/>
              <a:gd name="T5" fmla="*/ 288466385 h 533"/>
              <a:gd name="T6" fmla="*/ 260551386 w 481"/>
              <a:gd name="T7" fmla="*/ 56286237 h 533"/>
              <a:gd name="T8" fmla="*/ 172256399 w 481"/>
              <a:gd name="T9" fmla="*/ 0 h 533"/>
              <a:gd name="T10" fmla="*/ 88294964 w 481"/>
              <a:gd name="T11" fmla="*/ 246792811 h 533"/>
              <a:gd name="T12" fmla="*/ 46584725 w 481"/>
              <a:gd name="T13" fmla="*/ 176976820 h 533"/>
              <a:gd name="T14" fmla="*/ 0 w 481"/>
              <a:gd name="T15" fmla="*/ 176976820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grpSp>
        <p:nvGrpSpPr>
          <p:cNvPr id="26657" name="Group 43"/>
          <p:cNvGrpSpPr>
            <a:grpSpLocks/>
          </p:cNvGrpSpPr>
          <p:nvPr/>
        </p:nvGrpSpPr>
        <p:grpSpPr bwMode="auto">
          <a:xfrm>
            <a:off x="7188200" y="4894263"/>
            <a:ext cx="1528763" cy="1638300"/>
            <a:chOff x="445" y="1359"/>
            <a:chExt cx="1139" cy="1220"/>
          </a:xfrm>
        </p:grpSpPr>
        <p:sp>
          <p:nvSpPr>
            <p:cNvPr id="26749" name="Line 44"/>
            <p:cNvSpPr>
              <a:spLocks noChangeShapeType="1"/>
            </p:cNvSpPr>
            <p:nvPr/>
          </p:nvSpPr>
          <p:spPr bwMode="auto">
            <a:xfrm flipV="1">
              <a:off x="868" y="1810"/>
              <a:ext cx="0" cy="494"/>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50" name="Line 45"/>
            <p:cNvSpPr>
              <a:spLocks noChangeShapeType="1"/>
            </p:cNvSpPr>
            <p:nvPr/>
          </p:nvSpPr>
          <p:spPr bwMode="auto">
            <a:xfrm>
              <a:off x="863" y="2309"/>
              <a:ext cx="49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6751" name="Group 46"/>
            <p:cNvGrpSpPr>
              <a:grpSpLocks/>
            </p:cNvGrpSpPr>
            <p:nvPr/>
          </p:nvGrpSpPr>
          <p:grpSpPr bwMode="auto">
            <a:xfrm>
              <a:off x="445" y="1359"/>
              <a:ext cx="834" cy="615"/>
              <a:chOff x="2083" y="1606"/>
              <a:chExt cx="1489" cy="1097"/>
            </a:xfrm>
          </p:grpSpPr>
          <p:sp>
            <p:nvSpPr>
              <p:cNvPr id="26759" name="Rectangle 4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760" name="Freeform 4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61" name="Freeform 4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62" name="Freeform 5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26763" name="Freeform 5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26764" name="Rectangle 5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765" name="Rectangle 5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66" name="AutoShape 5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767" name="Freeform 55"/>
              <p:cNvSpPr>
                <a:spLocks/>
              </p:cNvSpPr>
              <p:nvPr/>
            </p:nvSpPr>
            <p:spPr bwMode="auto">
              <a:xfrm>
                <a:off x="2219" y="2561"/>
                <a:ext cx="369" cy="104"/>
              </a:xfrm>
              <a:custGeom>
                <a:avLst/>
                <a:gdLst>
                  <a:gd name="T0" fmla="*/ 0 w 992"/>
                  <a:gd name="T1" fmla="*/ 0 h 280"/>
                  <a:gd name="T2" fmla="*/ 137 w 992"/>
                  <a:gd name="T3" fmla="*/ 33 h 280"/>
                  <a:gd name="T4" fmla="*/ 129 w 992"/>
                  <a:gd name="T5" fmla="*/ 39 h 280"/>
                  <a:gd name="T6" fmla="*/ 2 w 992"/>
                  <a:gd name="T7" fmla="*/ 8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68" name="Freeform 56"/>
              <p:cNvSpPr>
                <a:spLocks/>
              </p:cNvSpPr>
              <p:nvPr/>
            </p:nvSpPr>
            <p:spPr bwMode="auto">
              <a:xfrm>
                <a:off x="3429" y="2008"/>
                <a:ext cx="51" cy="375"/>
              </a:xfrm>
              <a:custGeom>
                <a:avLst/>
                <a:gdLst>
                  <a:gd name="T0" fmla="*/ 0 w 136"/>
                  <a:gd name="T1" fmla="*/ 0 h 1008"/>
                  <a:gd name="T2" fmla="*/ 11 w 136"/>
                  <a:gd name="T3" fmla="*/ 140 h 1008"/>
                  <a:gd name="T4" fmla="*/ 19 w 136"/>
                  <a:gd name="T5" fmla="*/ 127 h 1008"/>
                  <a:gd name="T6" fmla="*/ 8 w 136"/>
                  <a:gd name="T7" fmla="*/ 7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69" name="Rectangle 5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70" name="Rectangle 5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71" name="Rectangle 5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772" name="Group 60"/>
              <p:cNvGrpSpPr>
                <a:grpSpLocks/>
              </p:cNvGrpSpPr>
              <p:nvPr/>
            </p:nvGrpSpPr>
            <p:grpSpPr bwMode="auto">
              <a:xfrm>
                <a:off x="2221" y="1871"/>
                <a:ext cx="518" cy="782"/>
                <a:chOff x="2400" y="1656"/>
                <a:chExt cx="752" cy="1136"/>
              </a:xfrm>
            </p:grpSpPr>
            <p:sp>
              <p:nvSpPr>
                <p:cNvPr id="26785" name="Freeform 6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86" name="Freeform 6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87" name="Freeform 6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88" name="Freeform 6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89" name="Freeform 6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26790" name="Line 6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91" name="Line 6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73" name="Group 68"/>
              <p:cNvGrpSpPr>
                <a:grpSpLocks/>
              </p:cNvGrpSpPr>
              <p:nvPr/>
            </p:nvGrpSpPr>
            <p:grpSpPr bwMode="auto">
              <a:xfrm rot="-6511945">
                <a:off x="2834" y="1842"/>
                <a:ext cx="518" cy="783"/>
                <a:chOff x="2400" y="1656"/>
                <a:chExt cx="752" cy="1136"/>
              </a:xfrm>
            </p:grpSpPr>
            <p:sp>
              <p:nvSpPr>
                <p:cNvPr id="26778" name="Freeform 6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79" name="Freeform 7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80" name="Freeform 7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81" name="Freeform 7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82" name="Freeform 7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26783" name="Line 7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84" name="Line 7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774" name="Freeform 76"/>
              <p:cNvSpPr>
                <a:spLocks/>
              </p:cNvSpPr>
              <p:nvPr/>
            </p:nvSpPr>
            <p:spPr bwMode="auto">
              <a:xfrm>
                <a:off x="2689" y="2097"/>
                <a:ext cx="62" cy="351"/>
              </a:xfrm>
              <a:custGeom>
                <a:avLst/>
                <a:gdLst>
                  <a:gd name="T0" fmla="*/ 23 w 168"/>
                  <a:gd name="T1" fmla="*/ 131 h 944"/>
                  <a:gd name="T2" fmla="*/ 3 w 168"/>
                  <a:gd name="T3" fmla="*/ 0 h 944"/>
                  <a:gd name="T4" fmla="*/ 0 w 168"/>
                  <a:gd name="T5" fmla="*/ 7 h 944"/>
                  <a:gd name="T6" fmla="*/ 17 w 168"/>
                  <a:gd name="T7" fmla="*/ 127 h 944"/>
                  <a:gd name="T8" fmla="*/ 23 w 168"/>
                  <a:gd name="T9" fmla="*/ 13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75" name="Freeform 77"/>
              <p:cNvSpPr>
                <a:spLocks/>
              </p:cNvSpPr>
              <p:nvPr/>
            </p:nvSpPr>
            <p:spPr bwMode="auto">
              <a:xfrm>
                <a:off x="2382" y="1853"/>
                <a:ext cx="354" cy="78"/>
              </a:xfrm>
              <a:custGeom>
                <a:avLst/>
                <a:gdLst>
                  <a:gd name="T0" fmla="*/ 0 w 952"/>
                  <a:gd name="T1" fmla="*/ 6 h 208"/>
                  <a:gd name="T2" fmla="*/ 12 w 952"/>
                  <a:gd name="T3" fmla="*/ 0 h 208"/>
                  <a:gd name="T4" fmla="*/ 129 w 952"/>
                  <a:gd name="T5" fmla="*/ 22 h 208"/>
                  <a:gd name="T6" fmla="*/ 132 w 952"/>
                  <a:gd name="T7" fmla="*/ 29 h 208"/>
                  <a:gd name="T8" fmla="*/ 0 w 952"/>
                  <a:gd name="T9" fmla="*/ 6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26776" name="Rectangle 7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77" name="Rectangle 7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6752" name="Group 80"/>
            <p:cNvGrpSpPr>
              <a:grpSpLocks/>
            </p:cNvGrpSpPr>
            <p:nvPr/>
          </p:nvGrpSpPr>
          <p:grpSpPr bwMode="auto">
            <a:xfrm>
              <a:off x="1066" y="2064"/>
              <a:ext cx="518" cy="515"/>
              <a:chOff x="3360" y="800"/>
              <a:chExt cx="620" cy="616"/>
            </a:xfrm>
          </p:grpSpPr>
          <p:sp>
            <p:nvSpPr>
              <p:cNvPr id="26753" name="AutoShape 81"/>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6754" name="Freeform 82"/>
              <p:cNvSpPr>
                <a:spLocks/>
              </p:cNvSpPr>
              <p:nvPr/>
            </p:nvSpPr>
            <p:spPr bwMode="auto">
              <a:xfrm>
                <a:off x="3403" y="830"/>
                <a:ext cx="212" cy="274"/>
              </a:xfrm>
              <a:custGeom>
                <a:avLst/>
                <a:gdLst>
                  <a:gd name="T0" fmla="*/ 22 w 1052"/>
                  <a:gd name="T1" fmla="*/ 56 h 1352"/>
                  <a:gd name="T2" fmla="*/ 12 w 1052"/>
                  <a:gd name="T3" fmla="*/ 48 h 1352"/>
                  <a:gd name="T4" fmla="*/ 4 w 1052"/>
                  <a:gd name="T5" fmla="*/ 37 h 1352"/>
                  <a:gd name="T6" fmla="*/ 1 w 1052"/>
                  <a:gd name="T7" fmla="*/ 25 h 1352"/>
                  <a:gd name="T8" fmla="*/ 0 w 1052"/>
                  <a:gd name="T9" fmla="*/ 13 h 1352"/>
                  <a:gd name="T10" fmla="*/ 0 w 1052"/>
                  <a:gd name="T11" fmla="*/ 3 h 1352"/>
                  <a:gd name="T12" fmla="*/ 4 w 1052"/>
                  <a:gd name="T13" fmla="*/ 5 h 1352"/>
                  <a:gd name="T14" fmla="*/ 11 w 1052"/>
                  <a:gd name="T15" fmla="*/ 5 h 1352"/>
                  <a:gd name="T16" fmla="*/ 16 w 1052"/>
                  <a:gd name="T17" fmla="*/ 4 h 1352"/>
                  <a:gd name="T18" fmla="*/ 22 w 1052"/>
                  <a:gd name="T19" fmla="*/ 0 h 1352"/>
                  <a:gd name="T20" fmla="*/ 26 w 1052"/>
                  <a:gd name="T21" fmla="*/ 3 h 1352"/>
                  <a:gd name="T22" fmla="*/ 33 w 1052"/>
                  <a:gd name="T23" fmla="*/ 5 h 1352"/>
                  <a:gd name="T24" fmla="*/ 43 w 1052"/>
                  <a:gd name="T25" fmla="*/ 4 h 1352"/>
                  <a:gd name="T26" fmla="*/ 42 w 1052"/>
                  <a:gd name="T27" fmla="*/ 23 h 1352"/>
                  <a:gd name="T28" fmla="*/ 41 w 1052"/>
                  <a:gd name="T29" fmla="*/ 31 h 1352"/>
                  <a:gd name="T30" fmla="*/ 36 w 1052"/>
                  <a:gd name="T31" fmla="*/ 42 h 1352"/>
                  <a:gd name="T32" fmla="*/ 27 w 1052"/>
                  <a:gd name="T33" fmla="*/ 51 h 1352"/>
                  <a:gd name="T34" fmla="*/ 22 w 1052"/>
                  <a:gd name="T35" fmla="*/ 56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26755" name="Group 83"/>
              <p:cNvGrpSpPr>
                <a:grpSpLocks/>
              </p:cNvGrpSpPr>
              <p:nvPr/>
            </p:nvGrpSpPr>
            <p:grpSpPr bwMode="auto">
              <a:xfrm flipH="1">
                <a:off x="3749" y="1171"/>
                <a:ext cx="212" cy="213"/>
                <a:chOff x="1350" y="686"/>
                <a:chExt cx="1132" cy="1132"/>
              </a:xfrm>
            </p:grpSpPr>
            <p:sp>
              <p:nvSpPr>
                <p:cNvPr id="26757" name="AutoShape 8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58" name="Picture 8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756" name="Picture 8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6658" name="Group 87"/>
          <p:cNvGrpSpPr>
            <a:grpSpLocks/>
          </p:cNvGrpSpPr>
          <p:nvPr/>
        </p:nvGrpSpPr>
        <p:grpSpPr bwMode="auto">
          <a:xfrm>
            <a:off x="3005138" y="4894263"/>
            <a:ext cx="1528762" cy="1638300"/>
            <a:chOff x="469" y="1359"/>
            <a:chExt cx="963" cy="1032"/>
          </a:xfrm>
        </p:grpSpPr>
        <p:sp>
          <p:nvSpPr>
            <p:cNvPr id="26745" name="Line 88"/>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46" name="Line 89"/>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47" name="Rectangle 90"/>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48" name="AutoShape 91"/>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nvGrpSpPr>
          <p:cNvPr id="26659" name="Group 92"/>
          <p:cNvGrpSpPr>
            <a:grpSpLocks/>
          </p:cNvGrpSpPr>
          <p:nvPr/>
        </p:nvGrpSpPr>
        <p:grpSpPr bwMode="auto">
          <a:xfrm>
            <a:off x="5116513" y="4894263"/>
            <a:ext cx="1528762" cy="1638300"/>
            <a:chOff x="469" y="1359"/>
            <a:chExt cx="963" cy="1032"/>
          </a:xfrm>
        </p:grpSpPr>
        <p:sp>
          <p:nvSpPr>
            <p:cNvPr id="26741" name="Line 93"/>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42" name="Line 94"/>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43" name="Rectangle 95"/>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44" name="AutoShape 96"/>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sp>
        <p:nvSpPr>
          <p:cNvPr id="26660" name="Text Box 97"/>
          <p:cNvSpPr txBox="1">
            <a:spLocks noChangeArrowheads="1"/>
          </p:cNvSpPr>
          <p:nvPr/>
        </p:nvSpPr>
        <p:spPr bwMode="auto">
          <a:xfrm>
            <a:off x="5291138" y="3244850"/>
            <a:ext cx="15446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algn="l" eaLnBrk="1" hangingPunct="1">
              <a:spcAft>
                <a:spcPct val="30000"/>
              </a:spcAft>
              <a:buClr>
                <a:schemeClr val="tx1"/>
              </a:buClr>
              <a:buFontTx/>
              <a:buNone/>
            </a:pPr>
            <a:r>
              <a:rPr lang="en-US" sz="2000" b="1">
                <a:solidFill>
                  <a:srgbClr val="00CC00"/>
                </a:solidFill>
              </a:rPr>
              <a:t>Loss location has county</a:t>
            </a:r>
          </a:p>
        </p:txBody>
      </p:sp>
      <p:grpSp>
        <p:nvGrpSpPr>
          <p:cNvPr id="26661" name="Group 98"/>
          <p:cNvGrpSpPr>
            <a:grpSpLocks/>
          </p:cNvGrpSpPr>
          <p:nvPr/>
        </p:nvGrpSpPr>
        <p:grpSpPr bwMode="auto">
          <a:xfrm>
            <a:off x="2120900" y="1557338"/>
            <a:ext cx="407988" cy="655637"/>
            <a:chOff x="4506" y="3057"/>
            <a:chExt cx="488" cy="786"/>
          </a:xfrm>
        </p:grpSpPr>
        <p:sp>
          <p:nvSpPr>
            <p:cNvPr id="26722" name="AutoShape 99"/>
            <p:cNvSpPr>
              <a:spLocks noChangeAspect="1" noChangeArrowheads="1" noTextEdit="1"/>
            </p:cNvSpPr>
            <p:nvPr/>
          </p:nvSpPr>
          <p:spPr bwMode="auto">
            <a:xfrm>
              <a:off x="4506" y="3057"/>
              <a:ext cx="488"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723" name="Freeform 100"/>
            <p:cNvSpPr>
              <a:spLocks/>
            </p:cNvSpPr>
            <p:nvPr/>
          </p:nvSpPr>
          <p:spPr bwMode="auto">
            <a:xfrm>
              <a:off x="4585" y="3083"/>
              <a:ext cx="292" cy="325"/>
            </a:xfrm>
            <a:custGeom>
              <a:avLst/>
              <a:gdLst>
                <a:gd name="T0" fmla="*/ 8 w 1619"/>
                <a:gd name="T1" fmla="*/ 58 h 1804"/>
                <a:gd name="T2" fmla="*/ 0 w 1619"/>
                <a:gd name="T3" fmla="*/ 59 h 1804"/>
                <a:gd name="T4" fmla="*/ 1 w 1619"/>
                <a:gd name="T5" fmla="*/ 22 h 1804"/>
                <a:gd name="T6" fmla="*/ 6 w 1619"/>
                <a:gd name="T7" fmla="*/ 10 h 1804"/>
                <a:gd name="T8" fmla="*/ 15 w 1619"/>
                <a:gd name="T9" fmla="*/ 4 h 1804"/>
                <a:gd name="T10" fmla="*/ 25 w 1619"/>
                <a:gd name="T11" fmla="*/ 1 h 1804"/>
                <a:gd name="T12" fmla="*/ 33 w 1619"/>
                <a:gd name="T13" fmla="*/ 0 h 1804"/>
                <a:gd name="T14" fmla="*/ 42 w 1619"/>
                <a:gd name="T15" fmla="*/ 5 h 1804"/>
                <a:gd name="T16" fmla="*/ 47 w 1619"/>
                <a:gd name="T17" fmla="*/ 11 h 1804"/>
                <a:gd name="T18" fmla="*/ 53 w 1619"/>
                <a:gd name="T19" fmla="*/ 25 h 1804"/>
                <a:gd name="T20" fmla="*/ 42 w 1619"/>
                <a:gd name="T21" fmla="*/ 10 h 1804"/>
                <a:gd name="T22" fmla="*/ 31 w 1619"/>
                <a:gd name="T23" fmla="*/ 8 h 1804"/>
                <a:gd name="T24" fmla="*/ 18 w 1619"/>
                <a:gd name="T25" fmla="*/ 11 h 1804"/>
                <a:gd name="T26" fmla="*/ 12 w 1619"/>
                <a:gd name="T27" fmla="*/ 17 h 1804"/>
                <a:gd name="T28" fmla="*/ 8 w 1619"/>
                <a:gd name="T29" fmla="*/ 24 h 1804"/>
                <a:gd name="T30" fmla="*/ 8 w 1619"/>
                <a:gd name="T31" fmla="*/ 35 h 1804"/>
                <a:gd name="T32" fmla="*/ 8 w 1619"/>
                <a:gd name="T33" fmla="*/ 58 h 1804"/>
                <a:gd name="T34" fmla="*/ 8 w 1619"/>
                <a:gd name="T35" fmla="*/ 58 h 18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9"/>
                <a:gd name="T55" fmla="*/ 0 h 1804"/>
                <a:gd name="T56" fmla="*/ 1619 w 1619"/>
                <a:gd name="T57" fmla="*/ 1804 h 18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9" h="1804">
                  <a:moveTo>
                    <a:pt x="232" y="1796"/>
                  </a:moveTo>
                  <a:lnTo>
                    <a:pt x="0" y="1804"/>
                  </a:lnTo>
                  <a:lnTo>
                    <a:pt x="21" y="669"/>
                  </a:lnTo>
                  <a:lnTo>
                    <a:pt x="183" y="324"/>
                  </a:lnTo>
                  <a:lnTo>
                    <a:pt x="464" y="120"/>
                  </a:lnTo>
                  <a:lnTo>
                    <a:pt x="782" y="29"/>
                  </a:lnTo>
                  <a:lnTo>
                    <a:pt x="1001" y="0"/>
                  </a:lnTo>
                  <a:lnTo>
                    <a:pt x="1303" y="149"/>
                  </a:lnTo>
                  <a:lnTo>
                    <a:pt x="1457" y="331"/>
                  </a:lnTo>
                  <a:lnTo>
                    <a:pt x="1619" y="768"/>
                  </a:lnTo>
                  <a:lnTo>
                    <a:pt x="1282" y="324"/>
                  </a:lnTo>
                  <a:lnTo>
                    <a:pt x="943" y="232"/>
                  </a:lnTo>
                  <a:lnTo>
                    <a:pt x="542" y="339"/>
                  </a:lnTo>
                  <a:lnTo>
                    <a:pt x="373" y="529"/>
                  </a:lnTo>
                  <a:lnTo>
                    <a:pt x="247" y="747"/>
                  </a:lnTo>
                  <a:lnTo>
                    <a:pt x="240" y="1078"/>
                  </a:lnTo>
                  <a:lnTo>
                    <a:pt x="232" y="1796"/>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4" name="Freeform 101"/>
            <p:cNvSpPr>
              <a:spLocks/>
            </p:cNvSpPr>
            <p:nvPr/>
          </p:nvSpPr>
          <p:spPr bwMode="auto">
            <a:xfrm>
              <a:off x="4560" y="3077"/>
              <a:ext cx="280" cy="335"/>
            </a:xfrm>
            <a:custGeom>
              <a:avLst/>
              <a:gdLst>
                <a:gd name="T0" fmla="*/ 6 w 1555"/>
                <a:gd name="T1" fmla="*/ 59 h 1859"/>
                <a:gd name="T2" fmla="*/ 6 w 1555"/>
                <a:gd name="T3" fmla="*/ 25 h 1859"/>
                <a:gd name="T4" fmla="*/ 9 w 1555"/>
                <a:gd name="T5" fmla="*/ 17 h 1859"/>
                <a:gd name="T6" fmla="*/ 14 w 1555"/>
                <a:gd name="T7" fmla="*/ 12 h 1859"/>
                <a:gd name="T8" fmla="*/ 20 w 1555"/>
                <a:gd name="T9" fmla="*/ 7 h 1859"/>
                <a:gd name="T10" fmla="*/ 27 w 1555"/>
                <a:gd name="T11" fmla="*/ 5 h 1859"/>
                <a:gd name="T12" fmla="*/ 34 w 1555"/>
                <a:gd name="T13" fmla="*/ 3 h 1859"/>
                <a:gd name="T14" fmla="*/ 39 w 1555"/>
                <a:gd name="T15" fmla="*/ 4 h 1859"/>
                <a:gd name="T16" fmla="*/ 50 w 1555"/>
                <a:gd name="T17" fmla="*/ 7 h 1859"/>
                <a:gd name="T18" fmla="*/ 43 w 1555"/>
                <a:gd name="T19" fmla="*/ 2 h 1859"/>
                <a:gd name="T20" fmla="*/ 28 w 1555"/>
                <a:gd name="T21" fmla="*/ 0 h 1859"/>
                <a:gd name="T22" fmla="*/ 12 w 1555"/>
                <a:gd name="T23" fmla="*/ 6 h 1859"/>
                <a:gd name="T24" fmla="*/ 6 w 1555"/>
                <a:gd name="T25" fmla="*/ 16 h 1859"/>
                <a:gd name="T26" fmla="*/ 1 w 1555"/>
                <a:gd name="T27" fmla="*/ 24 h 1859"/>
                <a:gd name="T28" fmla="*/ 0 w 1555"/>
                <a:gd name="T29" fmla="*/ 60 h 1859"/>
                <a:gd name="T30" fmla="*/ 6 w 1555"/>
                <a:gd name="T31" fmla="*/ 59 h 1859"/>
                <a:gd name="T32" fmla="*/ 6 w 1555"/>
                <a:gd name="T33" fmla="*/ 59 h 18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5"/>
                <a:gd name="T52" fmla="*/ 0 h 1859"/>
                <a:gd name="T53" fmla="*/ 1555 w 1555"/>
                <a:gd name="T54" fmla="*/ 1859 h 18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5" h="1859">
                  <a:moveTo>
                    <a:pt x="182" y="1802"/>
                  </a:moveTo>
                  <a:lnTo>
                    <a:pt x="197" y="753"/>
                  </a:lnTo>
                  <a:lnTo>
                    <a:pt x="289" y="513"/>
                  </a:lnTo>
                  <a:lnTo>
                    <a:pt x="437" y="358"/>
                  </a:lnTo>
                  <a:lnTo>
                    <a:pt x="619" y="224"/>
                  </a:lnTo>
                  <a:lnTo>
                    <a:pt x="836" y="147"/>
                  </a:lnTo>
                  <a:lnTo>
                    <a:pt x="1047" y="105"/>
                  </a:lnTo>
                  <a:lnTo>
                    <a:pt x="1211" y="118"/>
                  </a:lnTo>
                  <a:lnTo>
                    <a:pt x="1555" y="204"/>
                  </a:lnTo>
                  <a:lnTo>
                    <a:pt x="1329" y="55"/>
                  </a:lnTo>
                  <a:lnTo>
                    <a:pt x="872" y="0"/>
                  </a:lnTo>
                  <a:lnTo>
                    <a:pt x="380" y="196"/>
                  </a:lnTo>
                  <a:lnTo>
                    <a:pt x="182" y="500"/>
                  </a:lnTo>
                  <a:lnTo>
                    <a:pt x="36" y="745"/>
                  </a:lnTo>
                  <a:lnTo>
                    <a:pt x="0" y="1859"/>
                  </a:lnTo>
                  <a:lnTo>
                    <a:pt x="182" y="1802"/>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5" name="Freeform 102"/>
            <p:cNvSpPr>
              <a:spLocks/>
            </p:cNvSpPr>
            <p:nvPr/>
          </p:nvSpPr>
          <p:spPr bwMode="auto">
            <a:xfrm>
              <a:off x="4810" y="3100"/>
              <a:ext cx="112" cy="318"/>
            </a:xfrm>
            <a:custGeom>
              <a:avLst/>
              <a:gdLst>
                <a:gd name="T0" fmla="*/ 0 w 620"/>
                <a:gd name="T1" fmla="*/ 0 h 1767"/>
                <a:gd name="T2" fmla="*/ 9 w 620"/>
                <a:gd name="T3" fmla="*/ 10 h 1767"/>
                <a:gd name="T4" fmla="*/ 15 w 620"/>
                <a:gd name="T5" fmla="*/ 21 h 1767"/>
                <a:gd name="T6" fmla="*/ 15 w 620"/>
                <a:gd name="T7" fmla="*/ 39 h 1767"/>
                <a:gd name="T8" fmla="*/ 15 w 620"/>
                <a:gd name="T9" fmla="*/ 57 h 1767"/>
                <a:gd name="T10" fmla="*/ 20 w 620"/>
                <a:gd name="T11" fmla="*/ 56 h 1767"/>
                <a:gd name="T12" fmla="*/ 20 w 620"/>
                <a:gd name="T13" fmla="*/ 21 h 1767"/>
                <a:gd name="T14" fmla="*/ 12 w 620"/>
                <a:gd name="T15" fmla="*/ 5 h 1767"/>
                <a:gd name="T16" fmla="*/ 0 w 620"/>
                <a:gd name="T17" fmla="*/ 0 h 1767"/>
                <a:gd name="T18" fmla="*/ 0 w 620"/>
                <a:gd name="T19" fmla="*/ 0 h 17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0"/>
                <a:gd name="T31" fmla="*/ 0 h 1767"/>
                <a:gd name="T32" fmla="*/ 620 w 620"/>
                <a:gd name="T33" fmla="*/ 1767 h 17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0" h="1767">
                  <a:moveTo>
                    <a:pt x="0" y="0"/>
                  </a:moveTo>
                  <a:lnTo>
                    <a:pt x="289" y="296"/>
                  </a:lnTo>
                  <a:lnTo>
                    <a:pt x="451" y="634"/>
                  </a:lnTo>
                  <a:lnTo>
                    <a:pt x="464" y="1189"/>
                  </a:lnTo>
                  <a:lnTo>
                    <a:pt x="464" y="1767"/>
                  </a:lnTo>
                  <a:lnTo>
                    <a:pt x="620" y="1739"/>
                  </a:lnTo>
                  <a:lnTo>
                    <a:pt x="612" y="640"/>
                  </a:lnTo>
                  <a:lnTo>
                    <a:pt x="380" y="169"/>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6" name="Freeform 103"/>
            <p:cNvSpPr>
              <a:spLocks/>
            </p:cNvSpPr>
            <p:nvPr/>
          </p:nvSpPr>
          <p:spPr bwMode="auto">
            <a:xfrm>
              <a:off x="4809" y="3098"/>
              <a:ext cx="91" cy="313"/>
            </a:xfrm>
            <a:custGeom>
              <a:avLst/>
              <a:gdLst>
                <a:gd name="T0" fmla="*/ 0 w 508"/>
                <a:gd name="T1" fmla="*/ 0 h 1733"/>
                <a:gd name="T2" fmla="*/ 7 w 508"/>
                <a:gd name="T3" fmla="*/ 13 h 1733"/>
                <a:gd name="T4" fmla="*/ 11 w 508"/>
                <a:gd name="T5" fmla="*/ 27 h 1733"/>
                <a:gd name="T6" fmla="*/ 11 w 508"/>
                <a:gd name="T7" fmla="*/ 56 h 1733"/>
                <a:gd name="T8" fmla="*/ 16 w 508"/>
                <a:gd name="T9" fmla="*/ 57 h 1733"/>
                <a:gd name="T10" fmla="*/ 16 w 508"/>
                <a:gd name="T11" fmla="*/ 24 h 1733"/>
                <a:gd name="T12" fmla="*/ 15 w 508"/>
                <a:gd name="T13" fmla="*/ 18 h 1733"/>
                <a:gd name="T14" fmla="*/ 11 w 508"/>
                <a:gd name="T15" fmla="*/ 13 h 1733"/>
                <a:gd name="T16" fmla="*/ 8 w 508"/>
                <a:gd name="T17" fmla="*/ 7 h 1733"/>
                <a:gd name="T18" fmla="*/ 0 w 508"/>
                <a:gd name="T19" fmla="*/ 0 h 1733"/>
                <a:gd name="T20" fmla="*/ 0 w 508"/>
                <a:gd name="T21" fmla="*/ 0 h 17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8"/>
                <a:gd name="T34" fmla="*/ 0 h 1733"/>
                <a:gd name="T35" fmla="*/ 508 w 508"/>
                <a:gd name="T36" fmla="*/ 1733 h 17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8" h="1733">
                  <a:moveTo>
                    <a:pt x="0" y="0"/>
                  </a:moveTo>
                  <a:lnTo>
                    <a:pt x="227" y="409"/>
                  </a:lnTo>
                  <a:lnTo>
                    <a:pt x="346" y="838"/>
                  </a:lnTo>
                  <a:lnTo>
                    <a:pt x="339" y="1726"/>
                  </a:lnTo>
                  <a:lnTo>
                    <a:pt x="508" y="1733"/>
                  </a:lnTo>
                  <a:lnTo>
                    <a:pt x="493" y="726"/>
                  </a:lnTo>
                  <a:lnTo>
                    <a:pt x="451" y="549"/>
                  </a:lnTo>
                  <a:lnTo>
                    <a:pt x="360" y="388"/>
                  </a:lnTo>
                  <a:lnTo>
                    <a:pt x="255" y="226"/>
                  </a:lnTo>
                  <a:lnTo>
                    <a:pt x="0" y="0"/>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7" name="Freeform 104"/>
            <p:cNvSpPr>
              <a:spLocks/>
            </p:cNvSpPr>
            <p:nvPr/>
          </p:nvSpPr>
          <p:spPr bwMode="auto">
            <a:xfrm>
              <a:off x="4529" y="3420"/>
              <a:ext cx="432" cy="395"/>
            </a:xfrm>
            <a:custGeom>
              <a:avLst/>
              <a:gdLst>
                <a:gd name="T0" fmla="*/ 0 w 2393"/>
                <a:gd name="T1" fmla="*/ 1 h 2189"/>
                <a:gd name="T2" fmla="*/ 1 w 2393"/>
                <a:gd name="T3" fmla="*/ 43 h 2189"/>
                <a:gd name="T4" fmla="*/ 14 w 2393"/>
                <a:gd name="T5" fmla="*/ 63 h 2189"/>
                <a:gd name="T6" fmla="*/ 39 w 2393"/>
                <a:gd name="T7" fmla="*/ 71 h 2189"/>
                <a:gd name="T8" fmla="*/ 60 w 2393"/>
                <a:gd name="T9" fmla="*/ 67 h 2189"/>
                <a:gd name="T10" fmla="*/ 74 w 2393"/>
                <a:gd name="T11" fmla="*/ 54 h 2189"/>
                <a:gd name="T12" fmla="*/ 78 w 2393"/>
                <a:gd name="T13" fmla="*/ 33 h 2189"/>
                <a:gd name="T14" fmla="*/ 77 w 2393"/>
                <a:gd name="T15" fmla="*/ 0 h 2189"/>
                <a:gd name="T16" fmla="*/ 0 w 2393"/>
                <a:gd name="T17" fmla="*/ 1 h 2189"/>
                <a:gd name="T18" fmla="*/ 0 w 2393"/>
                <a:gd name="T19" fmla="*/ 1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8" name="Freeform 105"/>
            <p:cNvSpPr>
              <a:spLocks/>
            </p:cNvSpPr>
            <p:nvPr/>
          </p:nvSpPr>
          <p:spPr bwMode="auto">
            <a:xfrm>
              <a:off x="4701" y="3541"/>
              <a:ext cx="96" cy="177"/>
            </a:xfrm>
            <a:custGeom>
              <a:avLst/>
              <a:gdLst>
                <a:gd name="T0" fmla="*/ 4 w 534"/>
                <a:gd name="T1" fmla="*/ 1 h 978"/>
                <a:gd name="T2" fmla="*/ 0 w 534"/>
                <a:gd name="T3" fmla="*/ 7 h 978"/>
                <a:gd name="T4" fmla="*/ 3 w 534"/>
                <a:gd name="T5" fmla="*/ 15 h 978"/>
                <a:gd name="T6" fmla="*/ 2 w 534"/>
                <a:gd name="T7" fmla="*/ 31 h 978"/>
                <a:gd name="T8" fmla="*/ 15 w 534"/>
                <a:gd name="T9" fmla="*/ 32 h 978"/>
                <a:gd name="T10" fmla="*/ 12 w 534"/>
                <a:gd name="T11" fmla="*/ 15 h 978"/>
                <a:gd name="T12" fmla="*/ 17 w 534"/>
                <a:gd name="T13" fmla="*/ 10 h 978"/>
                <a:gd name="T14" fmla="*/ 15 w 534"/>
                <a:gd name="T15" fmla="*/ 4 h 978"/>
                <a:gd name="T16" fmla="*/ 10 w 534"/>
                <a:gd name="T17" fmla="*/ 0 h 978"/>
                <a:gd name="T18" fmla="*/ 4 w 534"/>
                <a:gd name="T19" fmla="*/ 1 h 978"/>
                <a:gd name="T20" fmla="*/ 4 w 534"/>
                <a:gd name="T21" fmla="*/ 1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9" name="Freeform 106"/>
            <p:cNvSpPr>
              <a:spLocks/>
            </p:cNvSpPr>
            <p:nvPr/>
          </p:nvSpPr>
          <p:spPr bwMode="auto">
            <a:xfrm>
              <a:off x="4550" y="3266"/>
              <a:ext cx="29"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730" name="Freeform 107"/>
            <p:cNvSpPr>
              <a:spLocks/>
            </p:cNvSpPr>
            <p:nvPr/>
          </p:nvSpPr>
          <p:spPr bwMode="auto">
            <a:xfrm>
              <a:off x="4607"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731" name="Freeform 108"/>
            <p:cNvSpPr>
              <a:spLocks/>
            </p:cNvSpPr>
            <p:nvPr/>
          </p:nvSpPr>
          <p:spPr bwMode="auto">
            <a:xfrm>
              <a:off x="4914" y="3266"/>
              <a:ext cx="29" cy="175"/>
            </a:xfrm>
            <a:custGeom>
              <a:avLst/>
              <a:gdLst>
                <a:gd name="T0" fmla="*/ 0 w 166"/>
                <a:gd name="T1" fmla="*/ 0 h 972"/>
                <a:gd name="T2" fmla="*/ 0 w 166"/>
                <a:gd name="T3" fmla="*/ 32 h 972"/>
                <a:gd name="T4" fmla="*/ 5 w 166"/>
                <a:gd name="T5" fmla="*/ 32 h 972"/>
                <a:gd name="T6" fmla="*/ 5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26732" name="Freeform 109"/>
            <p:cNvSpPr>
              <a:spLocks/>
            </p:cNvSpPr>
            <p:nvPr/>
          </p:nvSpPr>
          <p:spPr bwMode="auto">
            <a:xfrm>
              <a:off x="4856"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733" name="Freeform 110"/>
            <p:cNvSpPr>
              <a:spLocks/>
            </p:cNvSpPr>
            <p:nvPr/>
          </p:nvSpPr>
          <p:spPr bwMode="auto">
            <a:xfrm>
              <a:off x="4550" y="3064"/>
              <a:ext cx="393" cy="202"/>
            </a:xfrm>
            <a:custGeom>
              <a:avLst/>
              <a:gdLst>
                <a:gd name="T0" fmla="*/ 0 w 2183"/>
                <a:gd name="T1" fmla="*/ 31 h 1119"/>
                <a:gd name="T2" fmla="*/ 1 w 2183"/>
                <a:gd name="T3" fmla="*/ 26 h 1119"/>
                <a:gd name="T4" fmla="*/ 3 w 2183"/>
                <a:gd name="T5" fmla="*/ 22 h 1119"/>
                <a:gd name="T6" fmla="*/ 4 w 2183"/>
                <a:gd name="T7" fmla="*/ 20 h 1119"/>
                <a:gd name="T8" fmla="*/ 5 w 2183"/>
                <a:gd name="T9" fmla="*/ 18 h 1119"/>
                <a:gd name="T10" fmla="*/ 6 w 2183"/>
                <a:gd name="T11" fmla="*/ 16 h 1119"/>
                <a:gd name="T12" fmla="*/ 7 w 2183"/>
                <a:gd name="T13" fmla="*/ 14 h 1119"/>
                <a:gd name="T14" fmla="*/ 8 w 2183"/>
                <a:gd name="T15" fmla="*/ 13 h 1119"/>
                <a:gd name="T16" fmla="*/ 10 w 2183"/>
                <a:gd name="T17" fmla="*/ 11 h 1119"/>
                <a:gd name="T18" fmla="*/ 11 w 2183"/>
                <a:gd name="T19" fmla="*/ 10 h 1119"/>
                <a:gd name="T20" fmla="*/ 13 w 2183"/>
                <a:gd name="T21" fmla="*/ 8 h 1119"/>
                <a:gd name="T22" fmla="*/ 15 w 2183"/>
                <a:gd name="T23" fmla="*/ 7 h 1119"/>
                <a:gd name="T24" fmla="*/ 17 w 2183"/>
                <a:gd name="T25" fmla="*/ 5 h 1119"/>
                <a:gd name="T26" fmla="*/ 21 w 2183"/>
                <a:gd name="T27" fmla="*/ 3 h 1119"/>
                <a:gd name="T28" fmla="*/ 25 w 2183"/>
                <a:gd name="T29" fmla="*/ 2 h 1119"/>
                <a:gd name="T30" fmla="*/ 33 w 2183"/>
                <a:gd name="T31" fmla="*/ 0 h 1119"/>
                <a:gd name="T32" fmla="*/ 47 w 2183"/>
                <a:gd name="T33" fmla="*/ 2 h 1119"/>
                <a:gd name="T34" fmla="*/ 51 w 2183"/>
                <a:gd name="T35" fmla="*/ 3 h 1119"/>
                <a:gd name="T36" fmla="*/ 54 w 2183"/>
                <a:gd name="T37" fmla="*/ 6 h 1119"/>
                <a:gd name="T38" fmla="*/ 57 w 2183"/>
                <a:gd name="T39" fmla="*/ 8 h 1119"/>
                <a:gd name="T40" fmla="*/ 59 w 2183"/>
                <a:gd name="T41" fmla="*/ 9 h 1119"/>
                <a:gd name="T42" fmla="*/ 61 w 2183"/>
                <a:gd name="T43" fmla="*/ 11 h 1119"/>
                <a:gd name="T44" fmla="*/ 62 w 2183"/>
                <a:gd name="T45" fmla="*/ 12 h 1119"/>
                <a:gd name="T46" fmla="*/ 63 w 2183"/>
                <a:gd name="T47" fmla="*/ 14 h 1119"/>
                <a:gd name="T48" fmla="*/ 65 w 2183"/>
                <a:gd name="T49" fmla="*/ 16 h 1119"/>
                <a:gd name="T50" fmla="*/ 66 w 2183"/>
                <a:gd name="T51" fmla="*/ 18 h 1119"/>
                <a:gd name="T52" fmla="*/ 67 w 2183"/>
                <a:gd name="T53" fmla="*/ 19 h 1119"/>
                <a:gd name="T54" fmla="*/ 68 w 2183"/>
                <a:gd name="T55" fmla="*/ 21 h 1119"/>
                <a:gd name="T56" fmla="*/ 69 w 2183"/>
                <a:gd name="T57" fmla="*/ 25 h 1119"/>
                <a:gd name="T58" fmla="*/ 70 w 2183"/>
                <a:gd name="T59" fmla="*/ 29 h 1119"/>
                <a:gd name="T60" fmla="*/ 65 w 2183"/>
                <a:gd name="T61" fmla="*/ 33 h 1119"/>
                <a:gd name="T62" fmla="*/ 64 w 2183"/>
                <a:gd name="T63" fmla="*/ 27 h 1119"/>
                <a:gd name="T64" fmla="*/ 63 w 2183"/>
                <a:gd name="T65" fmla="*/ 23 h 1119"/>
                <a:gd name="T66" fmla="*/ 62 w 2183"/>
                <a:gd name="T67" fmla="*/ 21 h 1119"/>
                <a:gd name="T68" fmla="*/ 61 w 2183"/>
                <a:gd name="T69" fmla="*/ 20 h 1119"/>
                <a:gd name="T70" fmla="*/ 60 w 2183"/>
                <a:gd name="T71" fmla="*/ 18 h 1119"/>
                <a:gd name="T72" fmla="*/ 59 w 2183"/>
                <a:gd name="T73" fmla="*/ 17 h 1119"/>
                <a:gd name="T74" fmla="*/ 58 w 2183"/>
                <a:gd name="T75" fmla="*/ 16 h 1119"/>
                <a:gd name="T76" fmla="*/ 57 w 2183"/>
                <a:gd name="T77" fmla="*/ 14 h 1119"/>
                <a:gd name="T78" fmla="*/ 55 w 2183"/>
                <a:gd name="T79" fmla="*/ 12 h 1119"/>
                <a:gd name="T80" fmla="*/ 52 w 2183"/>
                <a:gd name="T81" fmla="*/ 10 h 1119"/>
                <a:gd name="T82" fmla="*/ 49 w 2183"/>
                <a:gd name="T83" fmla="*/ 8 h 1119"/>
                <a:gd name="T84" fmla="*/ 46 w 2183"/>
                <a:gd name="T85" fmla="*/ 7 h 1119"/>
                <a:gd name="T86" fmla="*/ 40 w 2183"/>
                <a:gd name="T87" fmla="*/ 5 h 1119"/>
                <a:gd name="T88" fmla="*/ 26 w 2183"/>
                <a:gd name="T89" fmla="*/ 6 h 1119"/>
                <a:gd name="T90" fmla="*/ 22 w 2183"/>
                <a:gd name="T91" fmla="*/ 8 h 1119"/>
                <a:gd name="T92" fmla="*/ 19 w 2183"/>
                <a:gd name="T93" fmla="*/ 10 h 1119"/>
                <a:gd name="T94" fmla="*/ 16 w 2183"/>
                <a:gd name="T95" fmla="*/ 12 h 1119"/>
                <a:gd name="T96" fmla="*/ 14 w 2183"/>
                <a:gd name="T97" fmla="*/ 14 h 1119"/>
                <a:gd name="T98" fmla="*/ 13 w 2183"/>
                <a:gd name="T99" fmla="*/ 15 h 1119"/>
                <a:gd name="T100" fmla="*/ 12 w 2183"/>
                <a:gd name="T101" fmla="*/ 17 h 1119"/>
                <a:gd name="T102" fmla="*/ 10 w 2183"/>
                <a:gd name="T103" fmla="*/ 19 h 1119"/>
                <a:gd name="T104" fmla="*/ 9 w 2183"/>
                <a:gd name="T105" fmla="*/ 20 h 1119"/>
                <a:gd name="T106" fmla="*/ 8 w 2183"/>
                <a:gd name="T107" fmla="*/ 22 h 1119"/>
                <a:gd name="T108" fmla="*/ 7 w 2183"/>
                <a:gd name="T109" fmla="*/ 25 h 1119"/>
                <a:gd name="T110" fmla="*/ 5 w 2183"/>
                <a:gd name="T111" fmla="*/ 35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26734" name="Freeform 111"/>
            <p:cNvSpPr>
              <a:spLocks/>
            </p:cNvSpPr>
            <p:nvPr/>
          </p:nvSpPr>
          <p:spPr bwMode="auto">
            <a:xfrm>
              <a:off x="4607" y="3116"/>
              <a:ext cx="278" cy="150"/>
            </a:xfrm>
            <a:custGeom>
              <a:avLst/>
              <a:gdLst>
                <a:gd name="T0" fmla="*/ 50 w 1540"/>
                <a:gd name="T1" fmla="*/ 22 h 830"/>
                <a:gd name="T2" fmla="*/ 49 w 1540"/>
                <a:gd name="T3" fmla="*/ 18 h 830"/>
                <a:gd name="T4" fmla="*/ 48 w 1540"/>
                <a:gd name="T5" fmla="*/ 15 h 830"/>
                <a:gd name="T6" fmla="*/ 48 w 1540"/>
                <a:gd name="T7" fmla="*/ 14 h 830"/>
                <a:gd name="T8" fmla="*/ 47 w 1540"/>
                <a:gd name="T9" fmla="*/ 13 h 830"/>
                <a:gd name="T10" fmla="*/ 47 w 1540"/>
                <a:gd name="T11" fmla="*/ 12 h 830"/>
                <a:gd name="T12" fmla="*/ 46 w 1540"/>
                <a:gd name="T13" fmla="*/ 12 h 830"/>
                <a:gd name="T14" fmla="*/ 46 w 1540"/>
                <a:gd name="T15" fmla="*/ 11 h 830"/>
                <a:gd name="T16" fmla="*/ 45 w 1540"/>
                <a:gd name="T17" fmla="*/ 9 h 830"/>
                <a:gd name="T18" fmla="*/ 43 w 1540"/>
                <a:gd name="T19" fmla="*/ 8 h 830"/>
                <a:gd name="T20" fmla="*/ 42 w 1540"/>
                <a:gd name="T21" fmla="*/ 7 h 830"/>
                <a:gd name="T22" fmla="*/ 41 w 1540"/>
                <a:gd name="T23" fmla="*/ 5 h 830"/>
                <a:gd name="T24" fmla="*/ 39 w 1540"/>
                <a:gd name="T25" fmla="*/ 4 h 830"/>
                <a:gd name="T26" fmla="*/ 38 w 1540"/>
                <a:gd name="T27" fmla="*/ 3 h 830"/>
                <a:gd name="T28" fmla="*/ 36 w 1540"/>
                <a:gd name="T29" fmla="*/ 3 h 830"/>
                <a:gd name="T30" fmla="*/ 34 w 1540"/>
                <a:gd name="T31" fmla="*/ 2 h 830"/>
                <a:gd name="T32" fmla="*/ 31 w 1540"/>
                <a:gd name="T33" fmla="*/ 1 h 830"/>
                <a:gd name="T34" fmla="*/ 24 w 1540"/>
                <a:gd name="T35" fmla="*/ 0 h 830"/>
                <a:gd name="T36" fmla="*/ 18 w 1540"/>
                <a:gd name="T37" fmla="*/ 1 h 830"/>
                <a:gd name="T38" fmla="*/ 15 w 1540"/>
                <a:gd name="T39" fmla="*/ 2 h 830"/>
                <a:gd name="T40" fmla="*/ 13 w 1540"/>
                <a:gd name="T41" fmla="*/ 3 h 830"/>
                <a:gd name="T42" fmla="*/ 11 w 1540"/>
                <a:gd name="T43" fmla="*/ 4 h 830"/>
                <a:gd name="T44" fmla="*/ 10 w 1540"/>
                <a:gd name="T45" fmla="*/ 5 h 830"/>
                <a:gd name="T46" fmla="*/ 8 w 1540"/>
                <a:gd name="T47" fmla="*/ 7 h 830"/>
                <a:gd name="T48" fmla="*/ 7 w 1540"/>
                <a:gd name="T49" fmla="*/ 8 h 830"/>
                <a:gd name="T50" fmla="*/ 6 w 1540"/>
                <a:gd name="T51" fmla="*/ 9 h 830"/>
                <a:gd name="T52" fmla="*/ 5 w 1540"/>
                <a:gd name="T53" fmla="*/ 10 h 830"/>
                <a:gd name="T54" fmla="*/ 4 w 1540"/>
                <a:gd name="T55" fmla="*/ 12 h 830"/>
                <a:gd name="T56" fmla="*/ 3 w 1540"/>
                <a:gd name="T57" fmla="*/ 13 h 830"/>
                <a:gd name="T58" fmla="*/ 3 w 1540"/>
                <a:gd name="T59" fmla="*/ 14 h 830"/>
                <a:gd name="T60" fmla="*/ 2 w 1540"/>
                <a:gd name="T61" fmla="*/ 14 h 830"/>
                <a:gd name="T62" fmla="*/ 1 w 1540"/>
                <a:gd name="T63" fmla="*/ 17 h 830"/>
                <a:gd name="T64" fmla="*/ 0 w 1540"/>
                <a:gd name="T65" fmla="*/ 21 h 830"/>
                <a:gd name="T66" fmla="*/ 0 w 1540"/>
                <a:gd name="T67" fmla="*/ 27 h 830"/>
                <a:gd name="T68" fmla="*/ 5 w 1540"/>
                <a:gd name="T69" fmla="*/ 23 h 830"/>
                <a:gd name="T70" fmla="*/ 6 w 1540"/>
                <a:gd name="T71" fmla="*/ 20 h 830"/>
                <a:gd name="T72" fmla="*/ 7 w 1540"/>
                <a:gd name="T73" fmla="*/ 17 h 830"/>
                <a:gd name="T74" fmla="*/ 8 w 1540"/>
                <a:gd name="T75" fmla="*/ 16 h 830"/>
                <a:gd name="T76" fmla="*/ 8 w 1540"/>
                <a:gd name="T77" fmla="*/ 14 h 830"/>
                <a:gd name="T78" fmla="*/ 9 w 1540"/>
                <a:gd name="T79" fmla="*/ 13 h 830"/>
                <a:gd name="T80" fmla="*/ 10 w 1540"/>
                <a:gd name="T81" fmla="*/ 12 h 830"/>
                <a:gd name="T82" fmla="*/ 11 w 1540"/>
                <a:gd name="T83" fmla="*/ 11 h 830"/>
                <a:gd name="T84" fmla="*/ 12 w 1540"/>
                <a:gd name="T85" fmla="*/ 10 h 830"/>
                <a:gd name="T86" fmla="*/ 13 w 1540"/>
                <a:gd name="T87" fmla="*/ 9 h 830"/>
                <a:gd name="T88" fmla="*/ 14 w 1540"/>
                <a:gd name="T89" fmla="*/ 8 h 830"/>
                <a:gd name="T90" fmla="*/ 16 w 1540"/>
                <a:gd name="T91" fmla="*/ 7 h 830"/>
                <a:gd name="T92" fmla="*/ 19 w 1540"/>
                <a:gd name="T93" fmla="*/ 6 h 830"/>
                <a:gd name="T94" fmla="*/ 21 w 1540"/>
                <a:gd name="T95" fmla="*/ 5 h 830"/>
                <a:gd name="T96" fmla="*/ 31 w 1540"/>
                <a:gd name="T97" fmla="*/ 6 h 830"/>
                <a:gd name="T98" fmla="*/ 34 w 1540"/>
                <a:gd name="T99" fmla="*/ 7 h 830"/>
                <a:gd name="T100" fmla="*/ 36 w 1540"/>
                <a:gd name="T101" fmla="*/ 8 h 830"/>
                <a:gd name="T102" fmla="*/ 37 w 1540"/>
                <a:gd name="T103" fmla="*/ 9 h 830"/>
                <a:gd name="T104" fmla="*/ 38 w 1540"/>
                <a:gd name="T105" fmla="*/ 10 h 830"/>
                <a:gd name="T106" fmla="*/ 39 w 1540"/>
                <a:gd name="T107" fmla="*/ 11 h 830"/>
                <a:gd name="T108" fmla="*/ 40 w 1540"/>
                <a:gd name="T109" fmla="*/ 12 h 830"/>
                <a:gd name="T110" fmla="*/ 41 w 1540"/>
                <a:gd name="T111" fmla="*/ 13 h 830"/>
                <a:gd name="T112" fmla="*/ 42 w 1540"/>
                <a:gd name="T113" fmla="*/ 14 h 830"/>
                <a:gd name="T114" fmla="*/ 43 w 1540"/>
                <a:gd name="T115" fmla="*/ 16 h 830"/>
                <a:gd name="T116" fmla="*/ 44 w 1540"/>
                <a:gd name="T117" fmla="*/ 17 h 830"/>
                <a:gd name="T118" fmla="*/ 45 w 1540"/>
                <a:gd name="T119" fmla="*/ 23 h 830"/>
                <a:gd name="T120" fmla="*/ 50 w 1540"/>
                <a:gd name="T121" fmla="*/ 27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sp>
          <p:nvSpPr>
            <p:cNvPr id="26735" name="Freeform 112"/>
            <p:cNvSpPr>
              <a:spLocks/>
            </p:cNvSpPr>
            <p:nvPr/>
          </p:nvSpPr>
          <p:spPr bwMode="auto">
            <a:xfrm>
              <a:off x="4506" y="3398"/>
              <a:ext cx="481" cy="198"/>
            </a:xfrm>
            <a:custGeom>
              <a:avLst/>
              <a:gdLst>
                <a:gd name="T0" fmla="*/ 0 w 2668"/>
                <a:gd name="T1" fmla="*/ 36 h 1093"/>
                <a:gd name="T2" fmla="*/ 0 w 2668"/>
                <a:gd name="T3" fmla="*/ 0 h 1093"/>
                <a:gd name="T4" fmla="*/ 87 w 2668"/>
                <a:gd name="T5" fmla="*/ 0 h 1093"/>
                <a:gd name="T6" fmla="*/ 87 w 2668"/>
                <a:gd name="T7" fmla="*/ 36 h 1093"/>
                <a:gd name="T8" fmla="*/ 79 w 2668"/>
                <a:gd name="T9" fmla="*/ 36 h 1093"/>
                <a:gd name="T10" fmla="*/ 79 w 2668"/>
                <a:gd name="T11" fmla="*/ 8 h 1093"/>
                <a:gd name="T12" fmla="*/ 8 w 2668"/>
                <a:gd name="T13" fmla="*/ 8 h 1093"/>
                <a:gd name="T14" fmla="*/ 8 w 2668"/>
                <a:gd name="T15" fmla="*/ 36 h 1093"/>
                <a:gd name="T16" fmla="*/ 0 w 2668"/>
                <a:gd name="T17" fmla="*/ 36 h 1093"/>
                <a:gd name="T18" fmla="*/ 0 w 2668"/>
                <a:gd name="T19" fmla="*/ 36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26736" name="Freeform 113"/>
            <p:cNvSpPr>
              <a:spLocks/>
            </p:cNvSpPr>
            <p:nvPr/>
          </p:nvSpPr>
          <p:spPr bwMode="auto">
            <a:xfrm>
              <a:off x="4506" y="3596"/>
              <a:ext cx="481" cy="240"/>
            </a:xfrm>
            <a:custGeom>
              <a:avLst/>
              <a:gdLst>
                <a:gd name="T0" fmla="*/ 86 w 2668"/>
                <a:gd name="T1" fmla="*/ 9 h 1334"/>
                <a:gd name="T2" fmla="*/ 84 w 2668"/>
                <a:gd name="T3" fmla="*/ 14 h 1334"/>
                <a:gd name="T4" fmla="*/ 83 w 2668"/>
                <a:gd name="T5" fmla="*/ 18 h 1334"/>
                <a:gd name="T6" fmla="*/ 82 w 2668"/>
                <a:gd name="T7" fmla="*/ 20 h 1334"/>
                <a:gd name="T8" fmla="*/ 80 w 2668"/>
                <a:gd name="T9" fmla="*/ 22 h 1334"/>
                <a:gd name="T10" fmla="*/ 79 w 2668"/>
                <a:gd name="T11" fmla="*/ 24 h 1334"/>
                <a:gd name="T12" fmla="*/ 78 w 2668"/>
                <a:gd name="T13" fmla="*/ 27 h 1334"/>
                <a:gd name="T14" fmla="*/ 76 w 2668"/>
                <a:gd name="T15" fmla="*/ 29 h 1334"/>
                <a:gd name="T16" fmla="*/ 74 w 2668"/>
                <a:gd name="T17" fmla="*/ 30 h 1334"/>
                <a:gd name="T18" fmla="*/ 72 w 2668"/>
                <a:gd name="T19" fmla="*/ 32 h 1334"/>
                <a:gd name="T20" fmla="*/ 70 w 2668"/>
                <a:gd name="T21" fmla="*/ 34 h 1334"/>
                <a:gd name="T22" fmla="*/ 68 w 2668"/>
                <a:gd name="T23" fmla="*/ 35 h 1334"/>
                <a:gd name="T24" fmla="*/ 66 w 2668"/>
                <a:gd name="T25" fmla="*/ 37 h 1334"/>
                <a:gd name="T26" fmla="*/ 63 w 2668"/>
                <a:gd name="T27" fmla="*/ 38 h 1334"/>
                <a:gd name="T28" fmla="*/ 59 w 2668"/>
                <a:gd name="T29" fmla="*/ 40 h 1334"/>
                <a:gd name="T30" fmla="*/ 54 w 2668"/>
                <a:gd name="T31" fmla="*/ 42 h 1334"/>
                <a:gd name="T32" fmla="*/ 43 w 2668"/>
                <a:gd name="T33" fmla="*/ 43 h 1334"/>
                <a:gd name="T34" fmla="*/ 30 w 2668"/>
                <a:gd name="T35" fmla="*/ 41 h 1334"/>
                <a:gd name="T36" fmla="*/ 26 w 2668"/>
                <a:gd name="T37" fmla="*/ 39 h 1334"/>
                <a:gd name="T38" fmla="*/ 22 w 2668"/>
                <a:gd name="T39" fmla="*/ 37 h 1334"/>
                <a:gd name="T40" fmla="*/ 19 w 2668"/>
                <a:gd name="T41" fmla="*/ 36 h 1334"/>
                <a:gd name="T42" fmla="*/ 17 w 2668"/>
                <a:gd name="T43" fmla="*/ 35 h 1334"/>
                <a:gd name="T44" fmla="*/ 15 w 2668"/>
                <a:gd name="T45" fmla="*/ 33 h 1334"/>
                <a:gd name="T46" fmla="*/ 14 w 2668"/>
                <a:gd name="T47" fmla="*/ 31 h 1334"/>
                <a:gd name="T48" fmla="*/ 12 w 2668"/>
                <a:gd name="T49" fmla="*/ 30 h 1334"/>
                <a:gd name="T50" fmla="*/ 10 w 2668"/>
                <a:gd name="T51" fmla="*/ 28 h 1334"/>
                <a:gd name="T52" fmla="*/ 8 w 2668"/>
                <a:gd name="T53" fmla="*/ 26 h 1334"/>
                <a:gd name="T54" fmla="*/ 7 w 2668"/>
                <a:gd name="T55" fmla="*/ 23 h 1334"/>
                <a:gd name="T56" fmla="*/ 5 w 2668"/>
                <a:gd name="T57" fmla="*/ 21 h 1334"/>
                <a:gd name="T58" fmla="*/ 4 w 2668"/>
                <a:gd name="T59" fmla="*/ 19 h 1334"/>
                <a:gd name="T60" fmla="*/ 3 w 2668"/>
                <a:gd name="T61" fmla="*/ 16 h 1334"/>
                <a:gd name="T62" fmla="*/ 1 w 2668"/>
                <a:gd name="T63" fmla="*/ 11 h 1334"/>
                <a:gd name="T64" fmla="*/ 0 w 2668"/>
                <a:gd name="T65" fmla="*/ 0 h 1334"/>
                <a:gd name="T66" fmla="*/ 9 w 2668"/>
                <a:gd name="T67" fmla="*/ 8 h 1334"/>
                <a:gd name="T68" fmla="*/ 10 w 2668"/>
                <a:gd name="T69" fmla="*/ 12 h 1334"/>
                <a:gd name="T70" fmla="*/ 11 w 2668"/>
                <a:gd name="T71" fmla="*/ 15 h 1334"/>
                <a:gd name="T72" fmla="*/ 12 w 2668"/>
                <a:gd name="T73" fmla="*/ 17 h 1334"/>
                <a:gd name="T74" fmla="*/ 13 w 2668"/>
                <a:gd name="T75" fmla="*/ 19 h 1334"/>
                <a:gd name="T76" fmla="*/ 14 w 2668"/>
                <a:gd name="T77" fmla="*/ 21 h 1334"/>
                <a:gd name="T78" fmla="*/ 16 w 2668"/>
                <a:gd name="T79" fmla="*/ 22 h 1334"/>
                <a:gd name="T80" fmla="*/ 17 w 2668"/>
                <a:gd name="T81" fmla="*/ 24 h 1334"/>
                <a:gd name="T82" fmla="*/ 19 w 2668"/>
                <a:gd name="T83" fmla="*/ 25 h 1334"/>
                <a:gd name="T84" fmla="*/ 20 w 2668"/>
                <a:gd name="T85" fmla="*/ 27 h 1334"/>
                <a:gd name="T86" fmla="*/ 22 w 2668"/>
                <a:gd name="T87" fmla="*/ 28 h 1334"/>
                <a:gd name="T88" fmla="*/ 24 w 2668"/>
                <a:gd name="T89" fmla="*/ 29 h 1334"/>
                <a:gd name="T90" fmla="*/ 27 w 2668"/>
                <a:gd name="T91" fmla="*/ 31 h 1334"/>
                <a:gd name="T92" fmla="*/ 31 w 2668"/>
                <a:gd name="T93" fmla="*/ 33 h 1334"/>
                <a:gd name="T94" fmla="*/ 36 w 2668"/>
                <a:gd name="T95" fmla="*/ 35 h 1334"/>
                <a:gd name="T96" fmla="*/ 50 w 2668"/>
                <a:gd name="T97" fmla="*/ 35 h 1334"/>
                <a:gd name="T98" fmla="*/ 56 w 2668"/>
                <a:gd name="T99" fmla="*/ 33 h 1334"/>
                <a:gd name="T100" fmla="*/ 60 w 2668"/>
                <a:gd name="T101" fmla="*/ 31 h 1334"/>
                <a:gd name="T102" fmla="*/ 64 w 2668"/>
                <a:gd name="T103" fmla="*/ 29 h 1334"/>
                <a:gd name="T104" fmla="*/ 66 w 2668"/>
                <a:gd name="T105" fmla="*/ 27 h 1334"/>
                <a:gd name="T106" fmla="*/ 67 w 2668"/>
                <a:gd name="T107" fmla="*/ 26 h 1334"/>
                <a:gd name="T108" fmla="*/ 69 w 2668"/>
                <a:gd name="T109" fmla="*/ 24 h 1334"/>
                <a:gd name="T110" fmla="*/ 70 w 2668"/>
                <a:gd name="T111" fmla="*/ 23 h 1334"/>
                <a:gd name="T112" fmla="*/ 72 w 2668"/>
                <a:gd name="T113" fmla="*/ 21 h 1334"/>
                <a:gd name="T114" fmla="*/ 73 w 2668"/>
                <a:gd name="T115" fmla="*/ 19 h 1334"/>
                <a:gd name="T116" fmla="*/ 74 w 2668"/>
                <a:gd name="T117" fmla="*/ 18 h 1334"/>
                <a:gd name="T118" fmla="*/ 75 w 2668"/>
                <a:gd name="T119" fmla="*/ 16 h 1334"/>
                <a:gd name="T120" fmla="*/ 76 w 2668"/>
                <a:gd name="T121" fmla="*/ 14 h 1334"/>
                <a:gd name="T122" fmla="*/ 78 w 2668"/>
                <a:gd name="T123" fmla="*/ 10 h 1334"/>
                <a:gd name="T124" fmla="*/ 79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26737" name="Freeform 114"/>
            <p:cNvSpPr>
              <a:spLocks/>
            </p:cNvSpPr>
            <p:nvPr/>
          </p:nvSpPr>
          <p:spPr bwMode="auto">
            <a:xfrm>
              <a:off x="4697" y="3617"/>
              <a:ext cx="95" cy="109"/>
            </a:xfrm>
            <a:custGeom>
              <a:avLst/>
              <a:gdLst>
                <a:gd name="T0" fmla="*/ 0 w 529"/>
                <a:gd name="T1" fmla="*/ 20 h 606"/>
                <a:gd name="T2" fmla="*/ 17 w 529"/>
                <a:gd name="T3" fmla="*/ 20 h 606"/>
                <a:gd name="T4" fmla="*/ 15 w 529"/>
                <a:gd name="T5" fmla="*/ 2 h 606"/>
                <a:gd name="T6" fmla="*/ 11 w 529"/>
                <a:gd name="T7" fmla="*/ 0 h 606"/>
                <a:gd name="T8" fmla="*/ 13 w 529"/>
                <a:gd name="T9" fmla="*/ 16 h 606"/>
                <a:gd name="T10" fmla="*/ 5 w 529"/>
                <a:gd name="T11" fmla="*/ 16 h 606"/>
                <a:gd name="T12" fmla="*/ 7 w 529"/>
                <a:gd name="T13" fmla="*/ 0 h 606"/>
                <a:gd name="T14" fmla="*/ 3 w 529"/>
                <a:gd name="T15" fmla="*/ 2 h 606"/>
                <a:gd name="T16" fmla="*/ 0 w 529"/>
                <a:gd name="T17" fmla="*/ 20 h 606"/>
                <a:gd name="T18" fmla="*/ 0 w 529"/>
                <a:gd name="T19" fmla="*/ 2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26738" name="Freeform 115"/>
            <p:cNvSpPr>
              <a:spLocks/>
            </p:cNvSpPr>
            <p:nvPr/>
          </p:nvSpPr>
          <p:spPr bwMode="auto">
            <a:xfrm>
              <a:off x="4693" y="3529"/>
              <a:ext cx="110" cy="100"/>
            </a:xfrm>
            <a:custGeom>
              <a:avLst/>
              <a:gdLst>
                <a:gd name="T0" fmla="*/ 13 w 613"/>
                <a:gd name="T1" fmla="*/ 15 h 551"/>
                <a:gd name="T2" fmla="*/ 14 w 613"/>
                <a:gd name="T3" fmla="*/ 15 h 551"/>
                <a:gd name="T4" fmla="*/ 15 w 613"/>
                <a:gd name="T5" fmla="*/ 14 h 551"/>
                <a:gd name="T6" fmla="*/ 15 w 613"/>
                <a:gd name="T7" fmla="*/ 13 h 551"/>
                <a:gd name="T8" fmla="*/ 16 w 613"/>
                <a:gd name="T9" fmla="*/ 10 h 551"/>
                <a:gd name="T10" fmla="*/ 16 w 613"/>
                <a:gd name="T11" fmla="*/ 8 h 551"/>
                <a:gd name="T12" fmla="*/ 15 w 613"/>
                <a:gd name="T13" fmla="*/ 7 h 551"/>
                <a:gd name="T14" fmla="*/ 15 w 613"/>
                <a:gd name="T15" fmla="*/ 7 h 551"/>
                <a:gd name="T16" fmla="*/ 15 w 613"/>
                <a:gd name="T17" fmla="*/ 6 h 551"/>
                <a:gd name="T18" fmla="*/ 14 w 613"/>
                <a:gd name="T19" fmla="*/ 5 h 551"/>
                <a:gd name="T20" fmla="*/ 13 w 613"/>
                <a:gd name="T21" fmla="*/ 5 h 551"/>
                <a:gd name="T22" fmla="*/ 11 w 613"/>
                <a:gd name="T23" fmla="*/ 4 h 551"/>
                <a:gd name="T24" fmla="*/ 7 w 613"/>
                <a:gd name="T25" fmla="*/ 5 h 551"/>
                <a:gd name="T26" fmla="*/ 6 w 613"/>
                <a:gd name="T27" fmla="*/ 6 h 551"/>
                <a:gd name="T28" fmla="*/ 5 w 613"/>
                <a:gd name="T29" fmla="*/ 7 h 551"/>
                <a:gd name="T30" fmla="*/ 4 w 613"/>
                <a:gd name="T31" fmla="*/ 7 h 551"/>
                <a:gd name="T32" fmla="*/ 4 w 613"/>
                <a:gd name="T33" fmla="*/ 9 h 551"/>
                <a:gd name="T34" fmla="*/ 4 w 613"/>
                <a:gd name="T35" fmla="*/ 12 h 551"/>
                <a:gd name="T36" fmla="*/ 4 w 613"/>
                <a:gd name="T37" fmla="*/ 13 h 551"/>
                <a:gd name="T38" fmla="*/ 5 w 613"/>
                <a:gd name="T39" fmla="*/ 14 h 551"/>
                <a:gd name="T40" fmla="*/ 5 w 613"/>
                <a:gd name="T41" fmla="*/ 14 h 551"/>
                <a:gd name="T42" fmla="*/ 6 w 613"/>
                <a:gd name="T43" fmla="*/ 15 h 551"/>
                <a:gd name="T44" fmla="*/ 6 w 613"/>
                <a:gd name="T45" fmla="*/ 15 h 551"/>
                <a:gd name="T46" fmla="*/ 7 w 613"/>
                <a:gd name="T47" fmla="*/ 16 h 551"/>
                <a:gd name="T48" fmla="*/ 3 w 613"/>
                <a:gd name="T49" fmla="*/ 18 h 551"/>
                <a:gd name="T50" fmla="*/ 3 w 613"/>
                <a:gd name="T51" fmla="*/ 17 h 551"/>
                <a:gd name="T52" fmla="*/ 2 w 613"/>
                <a:gd name="T53" fmla="*/ 16 h 551"/>
                <a:gd name="T54" fmla="*/ 1 w 613"/>
                <a:gd name="T55" fmla="*/ 15 h 551"/>
                <a:gd name="T56" fmla="*/ 0 w 613"/>
                <a:gd name="T57" fmla="*/ 13 h 551"/>
                <a:gd name="T58" fmla="*/ 0 w 613"/>
                <a:gd name="T59" fmla="*/ 9 h 551"/>
                <a:gd name="T60" fmla="*/ 1 w 613"/>
                <a:gd name="T61" fmla="*/ 7 h 551"/>
                <a:gd name="T62" fmla="*/ 1 w 613"/>
                <a:gd name="T63" fmla="*/ 6 h 551"/>
                <a:gd name="T64" fmla="*/ 1 w 613"/>
                <a:gd name="T65" fmla="*/ 5 h 551"/>
                <a:gd name="T66" fmla="*/ 2 w 613"/>
                <a:gd name="T67" fmla="*/ 4 h 551"/>
                <a:gd name="T68" fmla="*/ 3 w 613"/>
                <a:gd name="T69" fmla="*/ 3 h 551"/>
                <a:gd name="T70" fmla="*/ 3 w 613"/>
                <a:gd name="T71" fmla="*/ 2 h 551"/>
                <a:gd name="T72" fmla="*/ 4 w 613"/>
                <a:gd name="T73" fmla="*/ 2 h 551"/>
                <a:gd name="T74" fmla="*/ 5 w 613"/>
                <a:gd name="T75" fmla="*/ 1 h 551"/>
                <a:gd name="T76" fmla="*/ 6 w 613"/>
                <a:gd name="T77" fmla="*/ 1 h 551"/>
                <a:gd name="T78" fmla="*/ 8 w 613"/>
                <a:gd name="T79" fmla="*/ 0 h 551"/>
                <a:gd name="T80" fmla="*/ 11 w 613"/>
                <a:gd name="T81" fmla="*/ 0 h 551"/>
                <a:gd name="T82" fmla="*/ 14 w 613"/>
                <a:gd name="T83" fmla="*/ 1 h 551"/>
                <a:gd name="T84" fmla="*/ 15 w 613"/>
                <a:gd name="T85" fmla="*/ 2 h 551"/>
                <a:gd name="T86" fmla="*/ 16 w 613"/>
                <a:gd name="T87" fmla="*/ 2 h 551"/>
                <a:gd name="T88" fmla="*/ 17 w 613"/>
                <a:gd name="T89" fmla="*/ 3 h 551"/>
                <a:gd name="T90" fmla="*/ 18 w 613"/>
                <a:gd name="T91" fmla="*/ 4 h 551"/>
                <a:gd name="T92" fmla="*/ 18 w 613"/>
                <a:gd name="T93" fmla="*/ 5 h 551"/>
                <a:gd name="T94" fmla="*/ 19 w 613"/>
                <a:gd name="T95" fmla="*/ 6 h 551"/>
                <a:gd name="T96" fmla="*/ 20 w 613"/>
                <a:gd name="T97" fmla="*/ 9 h 551"/>
                <a:gd name="T98" fmla="*/ 20 w 613"/>
                <a:gd name="T99" fmla="*/ 12 h 551"/>
                <a:gd name="T100" fmla="*/ 19 w 613"/>
                <a:gd name="T101" fmla="*/ 14 h 551"/>
                <a:gd name="T102" fmla="*/ 18 w 613"/>
                <a:gd name="T103" fmla="*/ 15 h 551"/>
                <a:gd name="T104" fmla="*/ 18 w 613"/>
                <a:gd name="T105" fmla="*/ 16 h 551"/>
                <a:gd name="T106" fmla="*/ 17 w 613"/>
                <a:gd name="T107" fmla="*/ 17 h 551"/>
                <a:gd name="T108" fmla="*/ 17 w 613"/>
                <a:gd name="T109" fmla="*/ 17 h 551"/>
                <a:gd name="T110" fmla="*/ 16 w 613"/>
                <a:gd name="T111" fmla="*/ 18 h 551"/>
                <a:gd name="T112" fmla="*/ 12 w 613"/>
                <a:gd name="T113" fmla="*/ 16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26739" name="Freeform 116"/>
            <p:cNvSpPr>
              <a:spLocks/>
            </p:cNvSpPr>
            <p:nvPr/>
          </p:nvSpPr>
          <p:spPr bwMode="auto">
            <a:xfrm>
              <a:off x="4576" y="3467"/>
              <a:ext cx="247" cy="285"/>
            </a:xfrm>
            <a:custGeom>
              <a:avLst/>
              <a:gdLst>
                <a:gd name="T0" fmla="*/ 1 w 1365"/>
                <a:gd name="T1" fmla="*/ 0 h 1583"/>
                <a:gd name="T2" fmla="*/ 0 w 1365"/>
                <a:gd name="T3" fmla="*/ 25 h 1583"/>
                <a:gd name="T4" fmla="*/ 1 w 1365"/>
                <a:gd name="T5" fmla="*/ 32 h 1583"/>
                <a:gd name="T6" fmla="*/ 3 w 1365"/>
                <a:gd name="T7" fmla="*/ 39 h 1583"/>
                <a:gd name="T8" fmla="*/ 6 w 1365"/>
                <a:gd name="T9" fmla="*/ 43 h 1583"/>
                <a:gd name="T10" fmla="*/ 12 w 1365"/>
                <a:gd name="T11" fmla="*/ 48 h 1583"/>
                <a:gd name="T12" fmla="*/ 17 w 1365"/>
                <a:gd name="T13" fmla="*/ 51 h 1583"/>
                <a:gd name="T14" fmla="*/ 23 w 1365"/>
                <a:gd name="T15" fmla="*/ 30 h 1583"/>
                <a:gd name="T16" fmla="*/ 18 w 1365"/>
                <a:gd name="T17" fmla="*/ 23 h 1583"/>
                <a:gd name="T18" fmla="*/ 18 w 1365"/>
                <a:gd name="T19" fmla="*/ 16 h 1583"/>
                <a:gd name="T20" fmla="*/ 20 w 1365"/>
                <a:gd name="T21" fmla="*/ 11 h 1583"/>
                <a:gd name="T22" fmla="*/ 26 w 1365"/>
                <a:gd name="T23" fmla="*/ 6 h 1583"/>
                <a:gd name="T24" fmla="*/ 33 w 1365"/>
                <a:gd name="T25" fmla="*/ 3 h 1583"/>
                <a:gd name="T26" fmla="*/ 45 w 1365"/>
                <a:gd name="T27" fmla="*/ 0 h 1583"/>
                <a:gd name="T28" fmla="*/ 1 w 1365"/>
                <a:gd name="T29" fmla="*/ 0 h 1583"/>
                <a:gd name="T30" fmla="*/ 1 w 1365"/>
                <a:gd name="T31" fmla="*/ 0 h 1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5"/>
                <a:gd name="T49" fmla="*/ 0 h 1583"/>
                <a:gd name="T50" fmla="*/ 1365 w 1365"/>
                <a:gd name="T51" fmla="*/ 1583 h 1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5" h="1583">
                  <a:moveTo>
                    <a:pt x="15" y="6"/>
                  </a:moveTo>
                  <a:lnTo>
                    <a:pt x="0" y="774"/>
                  </a:lnTo>
                  <a:lnTo>
                    <a:pt x="28" y="1000"/>
                  </a:lnTo>
                  <a:lnTo>
                    <a:pt x="91" y="1190"/>
                  </a:lnTo>
                  <a:lnTo>
                    <a:pt x="190" y="1338"/>
                  </a:lnTo>
                  <a:lnTo>
                    <a:pt x="352" y="1464"/>
                  </a:lnTo>
                  <a:lnTo>
                    <a:pt x="528" y="1583"/>
                  </a:lnTo>
                  <a:lnTo>
                    <a:pt x="698" y="922"/>
                  </a:lnTo>
                  <a:lnTo>
                    <a:pt x="563" y="703"/>
                  </a:lnTo>
                  <a:lnTo>
                    <a:pt x="549" y="492"/>
                  </a:lnTo>
                  <a:lnTo>
                    <a:pt x="627" y="338"/>
                  </a:lnTo>
                  <a:lnTo>
                    <a:pt x="781" y="190"/>
                  </a:lnTo>
                  <a:lnTo>
                    <a:pt x="992" y="91"/>
                  </a:lnTo>
                  <a:lnTo>
                    <a:pt x="1365" y="0"/>
                  </a:lnTo>
                  <a:lnTo>
                    <a:pt x="15" y="6"/>
                  </a:lnTo>
                  <a:close/>
                </a:path>
              </a:pathLst>
            </a:custGeom>
            <a:solidFill>
              <a:srgbClr val="D4D4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40" name="Freeform 117"/>
            <p:cNvSpPr>
              <a:spLocks/>
            </p:cNvSpPr>
            <p:nvPr/>
          </p:nvSpPr>
          <p:spPr bwMode="auto">
            <a:xfrm>
              <a:off x="4683" y="3460"/>
              <a:ext cx="248" cy="313"/>
            </a:xfrm>
            <a:custGeom>
              <a:avLst/>
              <a:gdLst>
                <a:gd name="T0" fmla="*/ 23 w 1373"/>
                <a:gd name="T1" fmla="*/ 14 h 1733"/>
                <a:gd name="T2" fmla="*/ 25 w 1373"/>
                <a:gd name="T3" fmla="*/ 18 h 1733"/>
                <a:gd name="T4" fmla="*/ 26 w 1373"/>
                <a:gd name="T5" fmla="*/ 22 h 1733"/>
                <a:gd name="T6" fmla="*/ 25 w 1373"/>
                <a:gd name="T7" fmla="*/ 27 h 1733"/>
                <a:gd name="T8" fmla="*/ 20 w 1373"/>
                <a:gd name="T9" fmla="*/ 31 h 1733"/>
                <a:gd name="T10" fmla="*/ 23 w 1373"/>
                <a:gd name="T11" fmla="*/ 50 h 1733"/>
                <a:gd name="T12" fmla="*/ 1 w 1373"/>
                <a:gd name="T13" fmla="*/ 51 h 1733"/>
                <a:gd name="T14" fmla="*/ 0 w 1373"/>
                <a:gd name="T15" fmla="*/ 53 h 1733"/>
                <a:gd name="T16" fmla="*/ 5 w 1373"/>
                <a:gd name="T17" fmla="*/ 55 h 1733"/>
                <a:gd name="T18" fmla="*/ 10 w 1373"/>
                <a:gd name="T19" fmla="*/ 57 h 1733"/>
                <a:gd name="T20" fmla="*/ 16 w 1373"/>
                <a:gd name="T21" fmla="*/ 56 h 1733"/>
                <a:gd name="T22" fmla="*/ 22 w 1373"/>
                <a:gd name="T23" fmla="*/ 54 h 1733"/>
                <a:gd name="T24" fmla="*/ 29 w 1373"/>
                <a:gd name="T25" fmla="*/ 52 h 1733"/>
                <a:gd name="T26" fmla="*/ 35 w 1373"/>
                <a:gd name="T27" fmla="*/ 47 h 1733"/>
                <a:gd name="T28" fmla="*/ 40 w 1373"/>
                <a:gd name="T29" fmla="*/ 40 h 1733"/>
                <a:gd name="T30" fmla="*/ 44 w 1373"/>
                <a:gd name="T31" fmla="*/ 29 h 1733"/>
                <a:gd name="T32" fmla="*/ 45 w 1373"/>
                <a:gd name="T33" fmla="*/ 16 h 1733"/>
                <a:gd name="T34" fmla="*/ 44 w 1373"/>
                <a:gd name="T35" fmla="*/ 0 h 1733"/>
                <a:gd name="T36" fmla="*/ 28 w 1373"/>
                <a:gd name="T37" fmla="*/ 1 h 1733"/>
                <a:gd name="T38" fmla="*/ 19 w 1373"/>
                <a:gd name="T39" fmla="*/ 4 h 1733"/>
                <a:gd name="T40" fmla="*/ 13 w 1373"/>
                <a:gd name="T41" fmla="*/ 7 h 1733"/>
                <a:gd name="T42" fmla="*/ 7 w 1373"/>
                <a:gd name="T43" fmla="*/ 9 h 1733"/>
                <a:gd name="T44" fmla="*/ 3 w 1373"/>
                <a:gd name="T45" fmla="*/ 13 h 1733"/>
                <a:gd name="T46" fmla="*/ 9 w 1373"/>
                <a:gd name="T47" fmla="*/ 10 h 1733"/>
                <a:gd name="T48" fmla="*/ 15 w 1373"/>
                <a:gd name="T49" fmla="*/ 10 h 1733"/>
                <a:gd name="T50" fmla="*/ 20 w 1373"/>
                <a:gd name="T51" fmla="*/ 11 h 1733"/>
                <a:gd name="T52" fmla="*/ 23 w 1373"/>
                <a:gd name="T53" fmla="*/ 14 h 1733"/>
                <a:gd name="T54" fmla="*/ 23 w 1373"/>
                <a:gd name="T55" fmla="*/ 14 h 17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73"/>
                <a:gd name="T85" fmla="*/ 0 h 1733"/>
                <a:gd name="T86" fmla="*/ 1373 w 1373"/>
                <a:gd name="T87" fmla="*/ 1733 h 17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73" h="1733">
                  <a:moveTo>
                    <a:pt x="696" y="424"/>
                  </a:moveTo>
                  <a:lnTo>
                    <a:pt x="767" y="549"/>
                  </a:lnTo>
                  <a:lnTo>
                    <a:pt x="788" y="684"/>
                  </a:lnTo>
                  <a:lnTo>
                    <a:pt x="753" y="831"/>
                  </a:lnTo>
                  <a:lnTo>
                    <a:pt x="626" y="966"/>
                  </a:lnTo>
                  <a:lnTo>
                    <a:pt x="711" y="1543"/>
                  </a:lnTo>
                  <a:lnTo>
                    <a:pt x="21" y="1557"/>
                  </a:lnTo>
                  <a:lnTo>
                    <a:pt x="0" y="1627"/>
                  </a:lnTo>
                  <a:lnTo>
                    <a:pt x="149" y="1697"/>
                  </a:lnTo>
                  <a:lnTo>
                    <a:pt x="318" y="1733"/>
                  </a:lnTo>
                  <a:lnTo>
                    <a:pt x="493" y="1711"/>
                  </a:lnTo>
                  <a:lnTo>
                    <a:pt x="670" y="1669"/>
                  </a:lnTo>
                  <a:lnTo>
                    <a:pt x="873" y="1598"/>
                  </a:lnTo>
                  <a:lnTo>
                    <a:pt x="1077" y="1450"/>
                  </a:lnTo>
                  <a:lnTo>
                    <a:pt x="1238" y="1213"/>
                  </a:lnTo>
                  <a:lnTo>
                    <a:pt x="1350" y="874"/>
                  </a:lnTo>
                  <a:lnTo>
                    <a:pt x="1373" y="494"/>
                  </a:lnTo>
                  <a:lnTo>
                    <a:pt x="1350" y="0"/>
                  </a:lnTo>
                  <a:lnTo>
                    <a:pt x="858" y="36"/>
                  </a:lnTo>
                  <a:lnTo>
                    <a:pt x="576" y="127"/>
                  </a:lnTo>
                  <a:lnTo>
                    <a:pt x="401" y="198"/>
                  </a:lnTo>
                  <a:lnTo>
                    <a:pt x="219" y="289"/>
                  </a:lnTo>
                  <a:lnTo>
                    <a:pt x="86" y="401"/>
                  </a:lnTo>
                  <a:lnTo>
                    <a:pt x="274" y="317"/>
                  </a:lnTo>
                  <a:lnTo>
                    <a:pt x="459" y="297"/>
                  </a:lnTo>
                  <a:lnTo>
                    <a:pt x="605" y="346"/>
                  </a:lnTo>
                  <a:lnTo>
                    <a:pt x="696" y="424"/>
                  </a:lnTo>
                  <a:close/>
                </a:path>
              </a:pathLst>
            </a:custGeom>
            <a:solidFill>
              <a:srgbClr val="7878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6662" name="Group 118"/>
          <p:cNvGrpSpPr>
            <a:grpSpLocks/>
          </p:cNvGrpSpPr>
          <p:nvPr/>
        </p:nvGrpSpPr>
        <p:grpSpPr bwMode="auto">
          <a:xfrm>
            <a:off x="4214813" y="1557338"/>
            <a:ext cx="407987" cy="655637"/>
            <a:chOff x="4506" y="3057"/>
            <a:chExt cx="488" cy="786"/>
          </a:xfrm>
        </p:grpSpPr>
        <p:sp>
          <p:nvSpPr>
            <p:cNvPr id="26703" name="AutoShape 119"/>
            <p:cNvSpPr>
              <a:spLocks noChangeAspect="1" noChangeArrowheads="1" noTextEdit="1"/>
            </p:cNvSpPr>
            <p:nvPr/>
          </p:nvSpPr>
          <p:spPr bwMode="auto">
            <a:xfrm>
              <a:off x="4506" y="3057"/>
              <a:ext cx="488"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704" name="Freeform 120"/>
            <p:cNvSpPr>
              <a:spLocks/>
            </p:cNvSpPr>
            <p:nvPr/>
          </p:nvSpPr>
          <p:spPr bwMode="auto">
            <a:xfrm>
              <a:off x="4585" y="3083"/>
              <a:ext cx="292" cy="325"/>
            </a:xfrm>
            <a:custGeom>
              <a:avLst/>
              <a:gdLst>
                <a:gd name="T0" fmla="*/ 8 w 1619"/>
                <a:gd name="T1" fmla="*/ 58 h 1804"/>
                <a:gd name="T2" fmla="*/ 0 w 1619"/>
                <a:gd name="T3" fmla="*/ 59 h 1804"/>
                <a:gd name="T4" fmla="*/ 1 w 1619"/>
                <a:gd name="T5" fmla="*/ 22 h 1804"/>
                <a:gd name="T6" fmla="*/ 6 w 1619"/>
                <a:gd name="T7" fmla="*/ 10 h 1804"/>
                <a:gd name="T8" fmla="*/ 15 w 1619"/>
                <a:gd name="T9" fmla="*/ 4 h 1804"/>
                <a:gd name="T10" fmla="*/ 25 w 1619"/>
                <a:gd name="T11" fmla="*/ 1 h 1804"/>
                <a:gd name="T12" fmla="*/ 33 w 1619"/>
                <a:gd name="T13" fmla="*/ 0 h 1804"/>
                <a:gd name="T14" fmla="*/ 42 w 1619"/>
                <a:gd name="T15" fmla="*/ 5 h 1804"/>
                <a:gd name="T16" fmla="*/ 47 w 1619"/>
                <a:gd name="T17" fmla="*/ 11 h 1804"/>
                <a:gd name="T18" fmla="*/ 53 w 1619"/>
                <a:gd name="T19" fmla="*/ 25 h 1804"/>
                <a:gd name="T20" fmla="*/ 42 w 1619"/>
                <a:gd name="T21" fmla="*/ 10 h 1804"/>
                <a:gd name="T22" fmla="*/ 31 w 1619"/>
                <a:gd name="T23" fmla="*/ 8 h 1804"/>
                <a:gd name="T24" fmla="*/ 18 w 1619"/>
                <a:gd name="T25" fmla="*/ 11 h 1804"/>
                <a:gd name="T26" fmla="*/ 12 w 1619"/>
                <a:gd name="T27" fmla="*/ 17 h 1804"/>
                <a:gd name="T28" fmla="*/ 8 w 1619"/>
                <a:gd name="T29" fmla="*/ 24 h 1804"/>
                <a:gd name="T30" fmla="*/ 8 w 1619"/>
                <a:gd name="T31" fmla="*/ 35 h 1804"/>
                <a:gd name="T32" fmla="*/ 8 w 1619"/>
                <a:gd name="T33" fmla="*/ 58 h 1804"/>
                <a:gd name="T34" fmla="*/ 8 w 1619"/>
                <a:gd name="T35" fmla="*/ 58 h 18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9"/>
                <a:gd name="T55" fmla="*/ 0 h 1804"/>
                <a:gd name="T56" fmla="*/ 1619 w 1619"/>
                <a:gd name="T57" fmla="*/ 1804 h 18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9" h="1804">
                  <a:moveTo>
                    <a:pt x="232" y="1796"/>
                  </a:moveTo>
                  <a:lnTo>
                    <a:pt x="0" y="1804"/>
                  </a:lnTo>
                  <a:lnTo>
                    <a:pt x="21" y="669"/>
                  </a:lnTo>
                  <a:lnTo>
                    <a:pt x="183" y="324"/>
                  </a:lnTo>
                  <a:lnTo>
                    <a:pt x="464" y="120"/>
                  </a:lnTo>
                  <a:lnTo>
                    <a:pt x="782" y="29"/>
                  </a:lnTo>
                  <a:lnTo>
                    <a:pt x="1001" y="0"/>
                  </a:lnTo>
                  <a:lnTo>
                    <a:pt x="1303" y="149"/>
                  </a:lnTo>
                  <a:lnTo>
                    <a:pt x="1457" y="331"/>
                  </a:lnTo>
                  <a:lnTo>
                    <a:pt x="1619" y="768"/>
                  </a:lnTo>
                  <a:lnTo>
                    <a:pt x="1282" y="324"/>
                  </a:lnTo>
                  <a:lnTo>
                    <a:pt x="943" y="232"/>
                  </a:lnTo>
                  <a:lnTo>
                    <a:pt x="542" y="339"/>
                  </a:lnTo>
                  <a:lnTo>
                    <a:pt x="373" y="529"/>
                  </a:lnTo>
                  <a:lnTo>
                    <a:pt x="247" y="747"/>
                  </a:lnTo>
                  <a:lnTo>
                    <a:pt x="240" y="1078"/>
                  </a:lnTo>
                  <a:lnTo>
                    <a:pt x="232" y="1796"/>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5" name="Freeform 121"/>
            <p:cNvSpPr>
              <a:spLocks/>
            </p:cNvSpPr>
            <p:nvPr/>
          </p:nvSpPr>
          <p:spPr bwMode="auto">
            <a:xfrm>
              <a:off x="4560" y="3077"/>
              <a:ext cx="280" cy="335"/>
            </a:xfrm>
            <a:custGeom>
              <a:avLst/>
              <a:gdLst>
                <a:gd name="T0" fmla="*/ 6 w 1555"/>
                <a:gd name="T1" fmla="*/ 59 h 1859"/>
                <a:gd name="T2" fmla="*/ 6 w 1555"/>
                <a:gd name="T3" fmla="*/ 25 h 1859"/>
                <a:gd name="T4" fmla="*/ 9 w 1555"/>
                <a:gd name="T5" fmla="*/ 17 h 1859"/>
                <a:gd name="T6" fmla="*/ 14 w 1555"/>
                <a:gd name="T7" fmla="*/ 12 h 1859"/>
                <a:gd name="T8" fmla="*/ 20 w 1555"/>
                <a:gd name="T9" fmla="*/ 7 h 1859"/>
                <a:gd name="T10" fmla="*/ 27 w 1555"/>
                <a:gd name="T11" fmla="*/ 5 h 1859"/>
                <a:gd name="T12" fmla="*/ 34 w 1555"/>
                <a:gd name="T13" fmla="*/ 3 h 1859"/>
                <a:gd name="T14" fmla="*/ 39 w 1555"/>
                <a:gd name="T15" fmla="*/ 4 h 1859"/>
                <a:gd name="T16" fmla="*/ 50 w 1555"/>
                <a:gd name="T17" fmla="*/ 7 h 1859"/>
                <a:gd name="T18" fmla="*/ 43 w 1555"/>
                <a:gd name="T19" fmla="*/ 2 h 1859"/>
                <a:gd name="T20" fmla="*/ 28 w 1555"/>
                <a:gd name="T21" fmla="*/ 0 h 1859"/>
                <a:gd name="T22" fmla="*/ 12 w 1555"/>
                <a:gd name="T23" fmla="*/ 6 h 1859"/>
                <a:gd name="T24" fmla="*/ 6 w 1555"/>
                <a:gd name="T25" fmla="*/ 16 h 1859"/>
                <a:gd name="T26" fmla="*/ 1 w 1555"/>
                <a:gd name="T27" fmla="*/ 24 h 1859"/>
                <a:gd name="T28" fmla="*/ 0 w 1555"/>
                <a:gd name="T29" fmla="*/ 60 h 1859"/>
                <a:gd name="T30" fmla="*/ 6 w 1555"/>
                <a:gd name="T31" fmla="*/ 59 h 1859"/>
                <a:gd name="T32" fmla="*/ 6 w 1555"/>
                <a:gd name="T33" fmla="*/ 59 h 18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5"/>
                <a:gd name="T52" fmla="*/ 0 h 1859"/>
                <a:gd name="T53" fmla="*/ 1555 w 1555"/>
                <a:gd name="T54" fmla="*/ 1859 h 18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5" h="1859">
                  <a:moveTo>
                    <a:pt x="182" y="1802"/>
                  </a:moveTo>
                  <a:lnTo>
                    <a:pt x="197" y="753"/>
                  </a:lnTo>
                  <a:lnTo>
                    <a:pt x="289" y="513"/>
                  </a:lnTo>
                  <a:lnTo>
                    <a:pt x="437" y="358"/>
                  </a:lnTo>
                  <a:lnTo>
                    <a:pt x="619" y="224"/>
                  </a:lnTo>
                  <a:lnTo>
                    <a:pt x="836" y="147"/>
                  </a:lnTo>
                  <a:lnTo>
                    <a:pt x="1047" y="105"/>
                  </a:lnTo>
                  <a:lnTo>
                    <a:pt x="1211" y="118"/>
                  </a:lnTo>
                  <a:lnTo>
                    <a:pt x="1555" y="204"/>
                  </a:lnTo>
                  <a:lnTo>
                    <a:pt x="1329" y="55"/>
                  </a:lnTo>
                  <a:lnTo>
                    <a:pt x="872" y="0"/>
                  </a:lnTo>
                  <a:lnTo>
                    <a:pt x="380" y="196"/>
                  </a:lnTo>
                  <a:lnTo>
                    <a:pt x="182" y="500"/>
                  </a:lnTo>
                  <a:lnTo>
                    <a:pt x="36" y="745"/>
                  </a:lnTo>
                  <a:lnTo>
                    <a:pt x="0" y="1859"/>
                  </a:lnTo>
                  <a:lnTo>
                    <a:pt x="182" y="1802"/>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6" name="Freeform 122"/>
            <p:cNvSpPr>
              <a:spLocks/>
            </p:cNvSpPr>
            <p:nvPr/>
          </p:nvSpPr>
          <p:spPr bwMode="auto">
            <a:xfrm>
              <a:off x="4810" y="3100"/>
              <a:ext cx="112" cy="318"/>
            </a:xfrm>
            <a:custGeom>
              <a:avLst/>
              <a:gdLst>
                <a:gd name="T0" fmla="*/ 0 w 620"/>
                <a:gd name="T1" fmla="*/ 0 h 1767"/>
                <a:gd name="T2" fmla="*/ 9 w 620"/>
                <a:gd name="T3" fmla="*/ 10 h 1767"/>
                <a:gd name="T4" fmla="*/ 15 w 620"/>
                <a:gd name="T5" fmla="*/ 21 h 1767"/>
                <a:gd name="T6" fmla="*/ 15 w 620"/>
                <a:gd name="T7" fmla="*/ 39 h 1767"/>
                <a:gd name="T8" fmla="*/ 15 w 620"/>
                <a:gd name="T9" fmla="*/ 57 h 1767"/>
                <a:gd name="T10" fmla="*/ 20 w 620"/>
                <a:gd name="T11" fmla="*/ 56 h 1767"/>
                <a:gd name="T12" fmla="*/ 20 w 620"/>
                <a:gd name="T13" fmla="*/ 21 h 1767"/>
                <a:gd name="T14" fmla="*/ 12 w 620"/>
                <a:gd name="T15" fmla="*/ 5 h 1767"/>
                <a:gd name="T16" fmla="*/ 0 w 620"/>
                <a:gd name="T17" fmla="*/ 0 h 1767"/>
                <a:gd name="T18" fmla="*/ 0 w 620"/>
                <a:gd name="T19" fmla="*/ 0 h 17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0"/>
                <a:gd name="T31" fmla="*/ 0 h 1767"/>
                <a:gd name="T32" fmla="*/ 620 w 620"/>
                <a:gd name="T33" fmla="*/ 1767 h 17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0" h="1767">
                  <a:moveTo>
                    <a:pt x="0" y="0"/>
                  </a:moveTo>
                  <a:lnTo>
                    <a:pt x="289" y="296"/>
                  </a:lnTo>
                  <a:lnTo>
                    <a:pt x="451" y="634"/>
                  </a:lnTo>
                  <a:lnTo>
                    <a:pt x="464" y="1189"/>
                  </a:lnTo>
                  <a:lnTo>
                    <a:pt x="464" y="1767"/>
                  </a:lnTo>
                  <a:lnTo>
                    <a:pt x="620" y="1739"/>
                  </a:lnTo>
                  <a:lnTo>
                    <a:pt x="612" y="640"/>
                  </a:lnTo>
                  <a:lnTo>
                    <a:pt x="380" y="169"/>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7" name="Freeform 123"/>
            <p:cNvSpPr>
              <a:spLocks/>
            </p:cNvSpPr>
            <p:nvPr/>
          </p:nvSpPr>
          <p:spPr bwMode="auto">
            <a:xfrm>
              <a:off x="4809" y="3098"/>
              <a:ext cx="91" cy="313"/>
            </a:xfrm>
            <a:custGeom>
              <a:avLst/>
              <a:gdLst>
                <a:gd name="T0" fmla="*/ 0 w 508"/>
                <a:gd name="T1" fmla="*/ 0 h 1733"/>
                <a:gd name="T2" fmla="*/ 7 w 508"/>
                <a:gd name="T3" fmla="*/ 13 h 1733"/>
                <a:gd name="T4" fmla="*/ 11 w 508"/>
                <a:gd name="T5" fmla="*/ 27 h 1733"/>
                <a:gd name="T6" fmla="*/ 11 w 508"/>
                <a:gd name="T7" fmla="*/ 56 h 1733"/>
                <a:gd name="T8" fmla="*/ 16 w 508"/>
                <a:gd name="T9" fmla="*/ 57 h 1733"/>
                <a:gd name="T10" fmla="*/ 16 w 508"/>
                <a:gd name="T11" fmla="*/ 24 h 1733"/>
                <a:gd name="T12" fmla="*/ 15 w 508"/>
                <a:gd name="T13" fmla="*/ 18 h 1733"/>
                <a:gd name="T14" fmla="*/ 11 w 508"/>
                <a:gd name="T15" fmla="*/ 13 h 1733"/>
                <a:gd name="T16" fmla="*/ 8 w 508"/>
                <a:gd name="T17" fmla="*/ 7 h 1733"/>
                <a:gd name="T18" fmla="*/ 0 w 508"/>
                <a:gd name="T19" fmla="*/ 0 h 1733"/>
                <a:gd name="T20" fmla="*/ 0 w 508"/>
                <a:gd name="T21" fmla="*/ 0 h 17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8"/>
                <a:gd name="T34" fmla="*/ 0 h 1733"/>
                <a:gd name="T35" fmla="*/ 508 w 508"/>
                <a:gd name="T36" fmla="*/ 1733 h 17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8" h="1733">
                  <a:moveTo>
                    <a:pt x="0" y="0"/>
                  </a:moveTo>
                  <a:lnTo>
                    <a:pt x="227" y="409"/>
                  </a:lnTo>
                  <a:lnTo>
                    <a:pt x="346" y="838"/>
                  </a:lnTo>
                  <a:lnTo>
                    <a:pt x="339" y="1726"/>
                  </a:lnTo>
                  <a:lnTo>
                    <a:pt x="508" y="1733"/>
                  </a:lnTo>
                  <a:lnTo>
                    <a:pt x="493" y="726"/>
                  </a:lnTo>
                  <a:lnTo>
                    <a:pt x="451" y="549"/>
                  </a:lnTo>
                  <a:lnTo>
                    <a:pt x="360" y="388"/>
                  </a:lnTo>
                  <a:lnTo>
                    <a:pt x="255" y="226"/>
                  </a:lnTo>
                  <a:lnTo>
                    <a:pt x="0" y="0"/>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8" name="Freeform 124"/>
            <p:cNvSpPr>
              <a:spLocks/>
            </p:cNvSpPr>
            <p:nvPr/>
          </p:nvSpPr>
          <p:spPr bwMode="auto">
            <a:xfrm>
              <a:off x="4529" y="3420"/>
              <a:ext cx="432" cy="395"/>
            </a:xfrm>
            <a:custGeom>
              <a:avLst/>
              <a:gdLst>
                <a:gd name="T0" fmla="*/ 0 w 2393"/>
                <a:gd name="T1" fmla="*/ 1 h 2189"/>
                <a:gd name="T2" fmla="*/ 1 w 2393"/>
                <a:gd name="T3" fmla="*/ 43 h 2189"/>
                <a:gd name="T4" fmla="*/ 14 w 2393"/>
                <a:gd name="T5" fmla="*/ 63 h 2189"/>
                <a:gd name="T6" fmla="*/ 39 w 2393"/>
                <a:gd name="T7" fmla="*/ 71 h 2189"/>
                <a:gd name="T8" fmla="*/ 60 w 2393"/>
                <a:gd name="T9" fmla="*/ 67 h 2189"/>
                <a:gd name="T10" fmla="*/ 74 w 2393"/>
                <a:gd name="T11" fmla="*/ 54 h 2189"/>
                <a:gd name="T12" fmla="*/ 78 w 2393"/>
                <a:gd name="T13" fmla="*/ 33 h 2189"/>
                <a:gd name="T14" fmla="*/ 77 w 2393"/>
                <a:gd name="T15" fmla="*/ 0 h 2189"/>
                <a:gd name="T16" fmla="*/ 0 w 2393"/>
                <a:gd name="T17" fmla="*/ 1 h 2189"/>
                <a:gd name="T18" fmla="*/ 0 w 2393"/>
                <a:gd name="T19" fmla="*/ 1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9" name="Freeform 125"/>
            <p:cNvSpPr>
              <a:spLocks/>
            </p:cNvSpPr>
            <p:nvPr/>
          </p:nvSpPr>
          <p:spPr bwMode="auto">
            <a:xfrm>
              <a:off x="4701" y="3541"/>
              <a:ext cx="96" cy="177"/>
            </a:xfrm>
            <a:custGeom>
              <a:avLst/>
              <a:gdLst>
                <a:gd name="T0" fmla="*/ 4 w 534"/>
                <a:gd name="T1" fmla="*/ 1 h 978"/>
                <a:gd name="T2" fmla="*/ 0 w 534"/>
                <a:gd name="T3" fmla="*/ 7 h 978"/>
                <a:gd name="T4" fmla="*/ 3 w 534"/>
                <a:gd name="T5" fmla="*/ 15 h 978"/>
                <a:gd name="T6" fmla="*/ 2 w 534"/>
                <a:gd name="T7" fmla="*/ 31 h 978"/>
                <a:gd name="T8" fmla="*/ 15 w 534"/>
                <a:gd name="T9" fmla="*/ 32 h 978"/>
                <a:gd name="T10" fmla="*/ 12 w 534"/>
                <a:gd name="T11" fmla="*/ 15 h 978"/>
                <a:gd name="T12" fmla="*/ 17 w 534"/>
                <a:gd name="T13" fmla="*/ 10 h 978"/>
                <a:gd name="T14" fmla="*/ 15 w 534"/>
                <a:gd name="T15" fmla="*/ 4 h 978"/>
                <a:gd name="T16" fmla="*/ 10 w 534"/>
                <a:gd name="T17" fmla="*/ 0 h 978"/>
                <a:gd name="T18" fmla="*/ 4 w 534"/>
                <a:gd name="T19" fmla="*/ 1 h 978"/>
                <a:gd name="T20" fmla="*/ 4 w 534"/>
                <a:gd name="T21" fmla="*/ 1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10" name="Freeform 126"/>
            <p:cNvSpPr>
              <a:spLocks/>
            </p:cNvSpPr>
            <p:nvPr/>
          </p:nvSpPr>
          <p:spPr bwMode="auto">
            <a:xfrm>
              <a:off x="4550" y="3266"/>
              <a:ext cx="29"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711" name="Freeform 127"/>
            <p:cNvSpPr>
              <a:spLocks/>
            </p:cNvSpPr>
            <p:nvPr/>
          </p:nvSpPr>
          <p:spPr bwMode="auto">
            <a:xfrm>
              <a:off x="4607"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712" name="Freeform 128"/>
            <p:cNvSpPr>
              <a:spLocks/>
            </p:cNvSpPr>
            <p:nvPr/>
          </p:nvSpPr>
          <p:spPr bwMode="auto">
            <a:xfrm>
              <a:off x="4914" y="3266"/>
              <a:ext cx="29" cy="175"/>
            </a:xfrm>
            <a:custGeom>
              <a:avLst/>
              <a:gdLst>
                <a:gd name="T0" fmla="*/ 0 w 166"/>
                <a:gd name="T1" fmla="*/ 0 h 972"/>
                <a:gd name="T2" fmla="*/ 0 w 166"/>
                <a:gd name="T3" fmla="*/ 32 h 972"/>
                <a:gd name="T4" fmla="*/ 5 w 166"/>
                <a:gd name="T5" fmla="*/ 32 h 972"/>
                <a:gd name="T6" fmla="*/ 5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26713" name="Freeform 129"/>
            <p:cNvSpPr>
              <a:spLocks/>
            </p:cNvSpPr>
            <p:nvPr/>
          </p:nvSpPr>
          <p:spPr bwMode="auto">
            <a:xfrm>
              <a:off x="4856"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714" name="Freeform 130"/>
            <p:cNvSpPr>
              <a:spLocks/>
            </p:cNvSpPr>
            <p:nvPr/>
          </p:nvSpPr>
          <p:spPr bwMode="auto">
            <a:xfrm>
              <a:off x="4550" y="3064"/>
              <a:ext cx="393" cy="202"/>
            </a:xfrm>
            <a:custGeom>
              <a:avLst/>
              <a:gdLst>
                <a:gd name="T0" fmla="*/ 0 w 2183"/>
                <a:gd name="T1" fmla="*/ 31 h 1119"/>
                <a:gd name="T2" fmla="*/ 1 w 2183"/>
                <a:gd name="T3" fmla="*/ 26 h 1119"/>
                <a:gd name="T4" fmla="*/ 3 w 2183"/>
                <a:gd name="T5" fmla="*/ 22 h 1119"/>
                <a:gd name="T6" fmla="*/ 4 w 2183"/>
                <a:gd name="T7" fmla="*/ 20 h 1119"/>
                <a:gd name="T8" fmla="*/ 5 w 2183"/>
                <a:gd name="T9" fmla="*/ 18 h 1119"/>
                <a:gd name="T10" fmla="*/ 6 w 2183"/>
                <a:gd name="T11" fmla="*/ 16 h 1119"/>
                <a:gd name="T12" fmla="*/ 7 w 2183"/>
                <a:gd name="T13" fmla="*/ 14 h 1119"/>
                <a:gd name="T14" fmla="*/ 8 w 2183"/>
                <a:gd name="T15" fmla="*/ 13 h 1119"/>
                <a:gd name="T16" fmla="*/ 10 w 2183"/>
                <a:gd name="T17" fmla="*/ 11 h 1119"/>
                <a:gd name="T18" fmla="*/ 11 w 2183"/>
                <a:gd name="T19" fmla="*/ 10 h 1119"/>
                <a:gd name="T20" fmla="*/ 13 w 2183"/>
                <a:gd name="T21" fmla="*/ 8 h 1119"/>
                <a:gd name="T22" fmla="*/ 15 w 2183"/>
                <a:gd name="T23" fmla="*/ 7 h 1119"/>
                <a:gd name="T24" fmla="*/ 17 w 2183"/>
                <a:gd name="T25" fmla="*/ 5 h 1119"/>
                <a:gd name="T26" fmla="*/ 21 w 2183"/>
                <a:gd name="T27" fmla="*/ 3 h 1119"/>
                <a:gd name="T28" fmla="*/ 25 w 2183"/>
                <a:gd name="T29" fmla="*/ 2 h 1119"/>
                <a:gd name="T30" fmla="*/ 33 w 2183"/>
                <a:gd name="T31" fmla="*/ 0 h 1119"/>
                <a:gd name="T32" fmla="*/ 47 w 2183"/>
                <a:gd name="T33" fmla="*/ 2 h 1119"/>
                <a:gd name="T34" fmla="*/ 51 w 2183"/>
                <a:gd name="T35" fmla="*/ 3 h 1119"/>
                <a:gd name="T36" fmla="*/ 54 w 2183"/>
                <a:gd name="T37" fmla="*/ 6 h 1119"/>
                <a:gd name="T38" fmla="*/ 57 w 2183"/>
                <a:gd name="T39" fmla="*/ 8 h 1119"/>
                <a:gd name="T40" fmla="*/ 59 w 2183"/>
                <a:gd name="T41" fmla="*/ 9 h 1119"/>
                <a:gd name="T42" fmla="*/ 61 w 2183"/>
                <a:gd name="T43" fmla="*/ 11 h 1119"/>
                <a:gd name="T44" fmla="*/ 62 w 2183"/>
                <a:gd name="T45" fmla="*/ 12 h 1119"/>
                <a:gd name="T46" fmla="*/ 63 w 2183"/>
                <a:gd name="T47" fmla="*/ 14 h 1119"/>
                <a:gd name="T48" fmla="*/ 65 w 2183"/>
                <a:gd name="T49" fmla="*/ 16 h 1119"/>
                <a:gd name="T50" fmla="*/ 66 w 2183"/>
                <a:gd name="T51" fmla="*/ 18 h 1119"/>
                <a:gd name="T52" fmla="*/ 67 w 2183"/>
                <a:gd name="T53" fmla="*/ 19 h 1119"/>
                <a:gd name="T54" fmla="*/ 68 w 2183"/>
                <a:gd name="T55" fmla="*/ 21 h 1119"/>
                <a:gd name="T56" fmla="*/ 69 w 2183"/>
                <a:gd name="T57" fmla="*/ 25 h 1119"/>
                <a:gd name="T58" fmla="*/ 70 w 2183"/>
                <a:gd name="T59" fmla="*/ 29 h 1119"/>
                <a:gd name="T60" fmla="*/ 65 w 2183"/>
                <a:gd name="T61" fmla="*/ 33 h 1119"/>
                <a:gd name="T62" fmla="*/ 64 w 2183"/>
                <a:gd name="T63" fmla="*/ 27 h 1119"/>
                <a:gd name="T64" fmla="*/ 63 w 2183"/>
                <a:gd name="T65" fmla="*/ 23 h 1119"/>
                <a:gd name="T66" fmla="*/ 62 w 2183"/>
                <a:gd name="T67" fmla="*/ 21 h 1119"/>
                <a:gd name="T68" fmla="*/ 61 w 2183"/>
                <a:gd name="T69" fmla="*/ 20 h 1119"/>
                <a:gd name="T70" fmla="*/ 60 w 2183"/>
                <a:gd name="T71" fmla="*/ 18 h 1119"/>
                <a:gd name="T72" fmla="*/ 59 w 2183"/>
                <a:gd name="T73" fmla="*/ 17 h 1119"/>
                <a:gd name="T74" fmla="*/ 58 w 2183"/>
                <a:gd name="T75" fmla="*/ 16 h 1119"/>
                <a:gd name="T76" fmla="*/ 57 w 2183"/>
                <a:gd name="T77" fmla="*/ 14 h 1119"/>
                <a:gd name="T78" fmla="*/ 55 w 2183"/>
                <a:gd name="T79" fmla="*/ 12 h 1119"/>
                <a:gd name="T80" fmla="*/ 52 w 2183"/>
                <a:gd name="T81" fmla="*/ 10 h 1119"/>
                <a:gd name="T82" fmla="*/ 49 w 2183"/>
                <a:gd name="T83" fmla="*/ 8 h 1119"/>
                <a:gd name="T84" fmla="*/ 46 w 2183"/>
                <a:gd name="T85" fmla="*/ 7 h 1119"/>
                <a:gd name="T86" fmla="*/ 40 w 2183"/>
                <a:gd name="T87" fmla="*/ 5 h 1119"/>
                <a:gd name="T88" fmla="*/ 26 w 2183"/>
                <a:gd name="T89" fmla="*/ 6 h 1119"/>
                <a:gd name="T90" fmla="*/ 22 w 2183"/>
                <a:gd name="T91" fmla="*/ 8 h 1119"/>
                <a:gd name="T92" fmla="*/ 19 w 2183"/>
                <a:gd name="T93" fmla="*/ 10 h 1119"/>
                <a:gd name="T94" fmla="*/ 16 w 2183"/>
                <a:gd name="T95" fmla="*/ 12 h 1119"/>
                <a:gd name="T96" fmla="*/ 14 w 2183"/>
                <a:gd name="T97" fmla="*/ 14 h 1119"/>
                <a:gd name="T98" fmla="*/ 13 w 2183"/>
                <a:gd name="T99" fmla="*/ 15 h 1119"/>
                <a:gd name="T100" fmla="*/ 12 w 2183"/>
                <a:gd name="T101" fmla="*/ 17 h 1119"/>
                <a:gd name="T102" fmla="*/ 10 w 2183"/>
                <a:gd name="T103" fmla="*/ 19 h 1119"/>
                <a:gd name="T104" fmla="*/ 9 w 2183"/>
                <a:gd name="T105" fmla="*/ 20 h 1119"/>
                <a:gd name="T106" fmla="*/ 8 w 2183"/>
                <a:gd name="T107" fmla="*/ 22 h 1119"/>
                <a:gd name="T108" fmla="*/ 7 w 2183"/>
                <a:gd name="T109" fmla="*/ 25 h 1119"/>
                <a:gd name="T110" fmla="*/ 5 w 2183"/>
                <a:gd name="T111" fmla="*/ 35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26715" name="Freeform 131"/>
            <p:cNvSpPr>
              <a:spLocks/>
            </p:cNvSpPr>
            <p:nvPr/>
          </p:nvSpPr>
          <p:spPr bwMode="auto">
            <a:xfrm>
              <a:off x="4607" y="3116"/>
              <a:ext cx="278" cy="150"/>
            </a:xfrm>
            <a:custGeom>
              <a:avLst/>
              <a:gdLst>
                <a:gd name="T0" fmla="*/ 50 w 1540"/>
                <a:gd name="T1" fmla="*/ 22 h 830"/>
                <a:gd name="T2" fmla="*/ 49 w 1540"/>
                <a:gd name="T3" fmla="*/ 18 h 830"/>
                <a:gd name="T4" fmla="*/ 48 w 1540"/>
                <a:gd name="T5" fmla="*/ 15 h 830"/>
                <a:gd name="T6" fmla="*/ 48 w 1540"/>
                <a:gd name="T7" fmla="*/ 14 h 830"/>
                <a:gd name="T8" fmla="*/ 47 w 1540"/>
                <a:gd name="T9" fmla="*/ 13 h 830"/>
                <a:gd name="T10" fmla="*/ 47 w 1540"/>
                <a:gd name="T11" fmla="*/ 12 h 830"/>
                <a:gd name="T12" fmla="*/ 46 w 1540"/>
                <a:gd name="T13" fmla="*/ 12 h 830"/>
                <a:gd name="T14" fmla="*/ 46 w 1540"/>
                <a:gd name="T15" fmla="*/ 11 h 830"/>
                <a:gd name="T16" fmla="*/ 45 w 1540"/>
                <a:gd name="T17" fmla="*/ 9 h 830"/>
                <a:gd name="T18" fmla="*/ 43 w 1540"/>
                <a:gd name="T19" fmla="*/ 8 h 830"/>
                <a:gd name="T20" fmla="*/ 42 w 1540"/>
                <a:gd name="T21" fmla="*/ 7 h 830"/>
                <a:gd name="T22" fmla="*/ 41 w 1540"/>
                <a:gd name="T23" fmla="*/ 5 h 830"/>
                <a:gd name="T24" fmla="*/ 39 w 1540"/>
                <a:gd name="T25" fmla="*/ 4 h 830"/>
                <a:gd name="T26" fmla="*/ 38 w 1540"/>
                <a:gd name="T27" fmla="*/ 3 h 830"/>
                <a:gd name="T28" fmla="*/ 36 w 1540"/>
                <a:gd name="T29" fmla="*/ 3 h 830"/>
                <a:gd name="T30" fmla="*/ 34 w 1540"/>
                <a:gd name="T31" fmla="*/ 2 h 830"/>
                <a:gd name="T32" fmla="*/ 31 w 1540"/>
                <a:gd name="T33" fmla="*/ 1 h 830"/>
                <a:gd name="T34" fmla="*/ 24 w 1540"/>
                <a:gd name="T35" fmla="*/ 0 h 830"/>
                <a:gd name="T36" fmla="*/ 18 w 1540"/>
                <a:gd name="T37" fmla="*/ 1 h 830"/>
                <a:gd name="T38" fmla="*/ 15 w 1540"/>
                <a:gd name="T39" fmla="*/ 2 h 830"/>
                <a:gd name="T40" fmla="*/ 13 w 1540"/>
                <a:gd name="T41" fmla="*/ 3 h 830"/>
                <a:gd name="T42" fmla="*/ 11 w 1540"/>
                <a:gd name="T43" fmla="*/ 4 h 830"/>
                <a:gd name="T44" fmla="*/ 10 w 1540"/>
                <a:gd name="T45" fmla="*/ 5 h 830"/>
                <a:gd name="T46" fmla="*/ 8 w 1540"/>
                <a:gd name="T47" fmla="*/ 7 h 830"/>
                <a:gd name="T48" fmla="*/ 7 w 1540"/>
                <a:gd name="T49" fmla="*/ 8 h 830"/>
                <a:gd name="T50" fmla="*/ 6 w 1540"/>
                <a:gd name="T51" fmla="*/ 9 h 830"/>
                <a:gd name="T52" fmla="*/ 5 w 1540"/>
                <a:gd name="T53" fmla="*/ 10 h 830"/>
                <a:gd name="T54" fmla="*/ 4 w 1540"/>
                <a:gd name="T55" fmla="*/ 12 h 830"/>
                <a:gd name="T56" fmla="*/ 3 w 1540"/>
                <a:gd name="T57" fmla="*/ 13 h 830"/>
                <a:gd name="T58" fmla="*/ 3 w 1540"/>
                <a:gd name="T59" fmla="*/ 14 h 830"/>
                <a:gd name="T60" fmla="*/ 2 w 1540"/>
                <a:gd name="T61" fmla="*/ 14 h 830"/>
                <a:gd name="T62" fmla="*/ 1 w 1540"/>
                <a:gd name="T63" fmla="*/ 17 h 830"/>
                <a:gd name="T64" fmla="*/ 0 w 1540"/>
                <a:gd name="T65" fmla="*/ 21 h 830"/>
                <a:gd name="T66" fmla="*/ 0 w 1540"/>
                <a:gd name="T67" fmla="*/ 27 h 830"/>
                <a:gd name="T68" fmla="*/ 5 w 1540"/>
                <a:gd name="T69" fmla="*/ 23 h 830"/>
                <a:gd name="T70" fmla="*/ 6 w 1540"/>
                <a:gd name="T71" fmla="*/ 20 h 830"/>
                <a:gd name="T72" fmla="*/ 7 w 1540"/>
                <a:gd name="T73" fmla="*/ 17 h 830"/>
                <a:gd name="T74" fmla="*/ 8 w 1540"/>
                <a:gd name="T75" fmla="*/ 16 h 830"/>
                <a:gd name="T76" fmla="*/ 8 w 1540"/>
                <a:gd name="T77" fmla="*/ 14 h 830"/>
                <a:gd name="T78" fmla="*/ 9 w 1540"/>
                <a:gd name="T79" fmla="*/ 13 h 830"/>
                <a:gd name="T80" fmla="*/ 10 w 1540"/>
                <a:gd name="T81" fmla="*/ 12 h 830"/>
                <a:gd name="T82" fmla="*/ 11 w 1540"/>
                <a:gd name="T83" fmla="*/ 11 h 830"/>
                <a:gd name="T84" fmla="*/ 12 w 1540"/>
                <a:gd name="T85" fmla="*/ 10 h 830"/>
                <a:gd name="T86" fmla="*/ 13 w 1540"/>
                <a:gd name="T87" fmla="*/ 9 h 830"/>
                <a:gd name="T88" fmla="*/ 14 w 1540"/>
                <a:gd name="T89" fmla="*/ 8 h 830"/>
                <a:gd name="T90" fmla="*/ 16 w 1540"/>
                <a:gd name="T91" fmla="*/ 7 h 830"/>
                <a:gd name="T92" fmla="*/ 19 w 1540"/>
                <a:gd name="T93" fmla="*/ 6 h 830"/>
                <a:gd name="T94" fmla="*/ 21 w 1540"/>
                <a:gd name="T95" fmla="*/ 5 h 830"/>
                <a:gd name="T96" fmla="*/ 31 w 1540"/>
                <a:gd name="T97" fmla="*/ 6 h 830"/>
                <a:gd name="T98" fmla="*/ 34 w 1540"/>
                <a:gd name="T99" fmla="*/ 7 h 830"/>
                <a:gd name="T100" fmla="*/ 36 w 1540"/>
                <a:gd name="T101" fmla="*/ 8 h 830"/>
                <a:gd name="T102" fmla="*/ 37 w 1540"/>
                <a:gd name="T103" fmla="*/ 9 h 830"/>
                <a:gd name="T104" fmla="*/ 38 w 1540"/>
                <a:gd name="T105" fmla="*/ 10 h 830"/>
                <a:gd name="T106" fmla="*/ 39 w 1540"/>
                <a:gd name="T107" fmla="*/ 11 h 830"/>
                <a:gd name="T108" fmla="*/ 40 w 1540"/>
                <a:gd name="T109" fmla="*/ 12 h 830"/>
                <a:gd name="T110" fmla="*/ 41 w 1540"/>
                <a:gd name="T111" fmla="*/ 13 h 830"/>
                <a:gd name="T112" fmla="*/ 42 w 1540"/>
                <a:gd name="T113" fmla="*/ 14 h 830"/>
                <a:gd name="T114" fmla="*/ 43 w 1540"/>
                <a:gd name="T115" fmla="*/ 16 h 830"/>
                <a:gd name="T116" fmla="*/ 44 w 1540"/>
                <a:gd name="T117" fmla="*/ 17 h 830"/>
                <a:gd name="T118" fmla="*/ 45 w 1540"/>
                <a:gd name="T119" fmla="*/ 23 h 830"/>
                <a:gd name="T120" fmla="*/ 50 w 1540"/>
                <a:gd name="T121" fmla="*/ 27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sp>
          <p:nvSpPr>
            <p:cNvPr id="26716" name="Freeform 132"/>
            <p:cNvSpPr>
              <a:spLocks/>
            </p:cNvSpPr>
            <p:nvPr/>
          </p:nvSpPr>
          <p:spPr bwMode="auto">
            <a:xfrm>
              <a:off x="4506" y="3398"/>
              <a:ext cx="481" cy="198"/>
            </a:xfrm>
            <a:custGeom>
              <a:avLst/>
              <a:gdLst>
                <a:gd name="T0" fmla="*/ 0 w 2668"/>
                <a:gd name="T1" fmla="*/ 36 h 1093"/>
                <a:gd name="T2" fmla="*/ 0 w 2668"/>
                <a:gd name="T3" fmla="*/ 0 h 1093"/>
                <a:gd name="T4" fmla="*/ 87 w 2668"/>
                <a:gd name="T5" fmla="*/ 0 h 1093"/>
                <a:gd name="T6" fmla="*/ 87 w 2668"/>
                <a:gd name="T7" fmla="*/ 36 h 1093"/>
                <a:gd name="T8" fmla="*/ 79 w 2668"/>
                <a:gd name="T9" fmla="*/ 36 h 1093"/>
                <a:gd name="T10" fmla="*/ 79 w 2668"/>
                <a:gd name="T11" fmla="*/ 8 h 1093"/>
                <a:gd name="T12" fmla="*/ 8 w 2668"/>
                <a:gd name="T13" fmla="*/ 8 h 1093"/>
                <a:gd name="T14" fmla="*/ 8 w 2668"/>
                <a:gd name="T15" fmla="*/ 36 h 1093"/>
                <a:gd name="T16" fmla="*/ 0 w 2668"/>
                <a:gd name="T17" fmla="*/ 36 h 1093"/>
                <a:gd name="T18" fmla="*/ 0 w 2668"/>
                <a:gd name="T19" fmla="*/ 36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26717" name="Freeform 133"/>
            <p:cNvSpPr>
              <a:spLocks/>
            </p:cNvSpPr>
            <p:nvPr/>
          </p:nvSpPr>
          <p:spPr bwMode="auto">
            <a:xfrm>
              <a:off x="4506" y="3596"/>
              <a:ext cx="481" cy="240"/>
            </a:xfrm>
            <a:custGeom>
              <a:avLst/>
              <a:gdLst>
                <a:gd name="T0" fmla="*/ 86 w 2668"/>
                <a:gd name="T1" fmla="*/ 9 h 1334"/>
                <a:gd name="T2" fmla="*/ 84 w 2668"/>
                <a:gd name="T3" fmla="*/ 14 h 1334"/>
                <a:gd name="T4" fmla="*/ 83 w 2668"/>
                <a:gd name="T5" fmla="*/ 18 h 1334"/>
                <a:gd name="T6" fmla="*/ 82 w 2668"/>
                <a:gd name="T7" fmla="*/ 20 h 1334"/>
                <a:gd name="T8" fmla="*/ 80 w 2668"/>
                <a:gd name="T9" fmla="*/ 22 h 1334"/>
                <a:gd name="T10" fmla="*/ 79 w 2668"/>
                <a:gd name="T11" fmla="*/ 24 h 1334"/>
                <a:gd name="T12" fmla="*/ 78 w 2668"/>
                <a:gd name="T13" fmla="*/ 27 h 1334"/>
                <a:gd name="T14" fmla="*/ 76 w 2668"/>
                <a:gd name="T15" fmla="*/ 29 h 1334"/>
                <a:gd name="T16" fmla="*/ 74 w 2668"/>
                <a:gd name="T17" fmla="*/ 30 h 1334"/>
                <a:gd name="T18" fmla="*/ 72 w 2668"/>
                <a:gd name="T19" fmla="*/ 32 h 1334"/>
                <a:gd name="T20" fmla="*/ 70 w 2668"/>
                <a:gd name="T21" fmla="*/ 34 h 1334"/>
                <a:gd name="T22" fmla="*/ 68 w 2668"/>
                <a:gd name="T23" fmla="*/ 35 h 1334"/>
                <a:gd name="T24" fmla="*/ 66 w 2668"/>
                <a:gd name="T25" fmla="*/ 37 h 1334"/>
                <a:gd name="T26" fmla="*/ 63 w 2668"/>
                <a:gd name="T27" fmla="*/ 38 h 1334"/>
                <a:gd name="T28" fmla="*/ 59 w 2668"/>
                <a:gd name="T29" fmla="*/ 40 h 1334"/>
                <a:gd name="T30" fmla="*/ 54 w 2668"/>
                <a:gd name="T31" fmla="*/ 42 h 1334"/>
                <a:gd name="T32" fmla="*/ 43 w 2668"/>
                <a:gd name="T33" fmla="*/ 43 h 1334"/>
                <a:gd name="T34" fmla="*/ 30 w 2668"/>
                <a:gd name="T35" fmla="*/ 41 h 1334"/>
                <a:gd name="T36" fmla="*/ 26 w 2668"/>
                <a:gd name="T37" fmla="*/ 39 h 1334"/>
                <a:gd name="T38" fmla="*/ 22 w 2668"/>
                <a:gd name="T39" fmla="*/ 37 h 1334"/>
                <a:gd name="T40" fmla="*/ 19 w 2668"/>
                <a:gd name="T41" fmla="*/ 36 h 1334"/>
                <a:gd name="T42" fmla="*/ 17 w 2668"/>
                <a:gd name="T43" fmla="*/ 35 h 1334"/>
                <a:gd name="T44" fmla="*/ 15 w 2668"/>
                <a:gd name="T45" fmla="*/ 33 h 1334"/>
                <a:gd name="T46" fmla="*/ 14 w 2668"/>
                <a:gd name="T47" fmla="*/ 31 h 1334"/>
                <a:gd name="T48" fmla="*/ 12 w 2668"/>
                <a:gd name="T49" fmla="*/ 30 h 1334"/>
                <a:gd name="T50" fmla="*/ 10 w 2668"/>
                <a:gd name="T51" fmla="*/ 28 h 1334"/>
                <a:gd name="T52" fmla="*/ 8 w 2668"/>
                <a:gd name="T53" fmla="*/ 26 h 1334"/>
                <a:gd name="T54" fmla="*/ 7 w 2668"/>
                <a:gd name="T55" fmla="*/ 23 h 1334"/>
                <a:gd name="T56" fmla="*/ 5 w 2668"/>
                <a:gd name="T57" fmla="*/ 21 h 1334"/>
                <a:gd name="T58" fmla="*/ 4 w 2668"/>
                <a:gd name="T59" fmla="*/ 19 h 1334"/>
                <a:gd name="T60" fmla="*/ 3 w 2668"/>
                <a:gd name="T61" fmla="*/ 16 h 1334"/>
                <a:gd name="T62" fmla="*/ 1 w 2668"/>
                <a:gd name="T63" fmla="*/ 11 h 1334"/>
                <a:gd name="T64" fmla="*/ 0 w 2668"/>
                <a:gd name="T65" fmla="*/ 0 h 1334"/>
                <a:gd name="T66" fmla="*/ 9 w 2668"/>
                <a:gd name="T67" fmla="*/ 8 h 1334"/>
                <a:gd name="T68" fmla="*/ 10 w 2668"/>
                <a:gd name="T69" fmla="*/ 12 h 1334"/>
                <a:gd name="T70" fmla="*/ 11 w 2668"/>
                <a:gd name="T71" fmla="*/ 15 h 1334"/>
                <a:gd name="T72" fmla="*/ 12 w 2668"/>
                <a:gd name="T73" fmla="*/ 17 h 1334"/>
                <a:gd name="T74" fmla="*/ 13 w 2668"/>
                <a:gd name="T75" fmla="*/ 19 h 1334"/>
                <a:gd name="T76" fmla="*/ 14 w 2668"/>
                <a:gd name="T77" fmla="*/ 21 h 1334"/>
                <a:gd name="T78" fmla="*/ 16 w 2668"/>
                <a:gd name="T79" fmla="*/ 22 h 1334"/>
                <a:gd name="T80" fmla="*/ 17 w 2668"/>
                <a:gd name="T81" fmla="*/ 24 h 1334"/>
                <a:gd name="T82" fmla="*/ 19 w 2668"/>
                <a:gd name="T83" fmla="*/ 25 h 1334"/>
                <a:gd name="T84" fmla="*/ 20 w 2668"/>
                <a:gd name="T85" fmla="*/ 27 h 1334"/>
                <a:gd name="T86" fmla="*/ 22 w 2668"/>
                <a:gd name="T87" fmla="*/ 28 h 1334"/>
                <a:gd name="T88" fmla="*/ 24 w 2668"/>
                <a:gd name="T89" fmla="*/ 29 h 1334"/>
                <a:gd name="T90" fmla="*/ 27 w 2668"/>
                <a:gd name="T91" fmla="*/ 31 h 1334"/>
                <a:gd name="T92" fmla="*/ 31 w 2668"/>
                <a:gd name="T93" fmla="*/ 33 h 1334"/>
                <a:gd name="T94" fmla="*/ 36 w 2668"/>
                <a:gd name="T95" fmla="*/ 35 h 1334"/>
                <a:gd name="T96" fmla="*/ 50 w 2668"/>
                <a:gd name="T97" fmla="*/ 35 h 1334"/>
                <a:gd name="T98" fmla="*/ 56 w 2668"/>
                <a:gd name="T99" fmla="*/ 33 h 1334"/>
                <a:gd name="T100" fmla="*/ 60 w 2668"/>
                <a:gd name="T101" fmla="*/ 31 h 1334"/>
                <a:gd name="T102" fmla="*/ 64 w 2668"/>
                <a:gd name="T103" fmla="*/ 29 h 1334"/>
                <a:gd name="T104" fmla="*/ 66 w 2668"/>
                <a:gd name="T105" fmla="*/ 27 h 1334"/>
                <a:gd name="T106" fmla="*/ 67 w 2668"/>
                <a:gd name="T107" fmla="*/ 26 h 1334"/>
                <a:gd name="T108" fmla="*/ 69 w 2668"/>
                <a:gd name="T109" fmla="*/ 24 h 1334"/>
                <a:gd name="T110" fmla="*/ 70 w 2668"/>
                <a:gd name="T111" fmla="*/ 23 h 1334"/>
                <a:gd name="T112" fmla="*/ 72 w 2668"/>
                <a:gd name="T113" fmla="*/ 21 h 1334"/>
                <a:gd name="T114" fmla="*/ 73 w 2668"/>
                <a:gd name="T115" fmla="*/ 19 h 1334"/>
                <a:gd name="T116" fmla="*/ 74 w 2668"/>
                <a:gd name="T117" fmla="*/ 18 h 1334"/>
                <a:gd name="T118" fmla="*/ 75 w 2668"/>
                <a:gd name="T119" fmla="*/ 16 h 1334"/>
                <a:gd name="T120" fmla="*/ 76 w 2668"/>
                <a:gd name="T121" fmla="*/ 14 h 1334"/>
                <a:gd name="T122" fmla="*/ 78 w 2668"/>
                <a:gd name="T123" fmla="*/ 10 h 1334"/>
                <a:gd name="T124" fmla="*/ 79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26718" name="Freeform 134"/>
            <p:cNvSpPr>
              <a:spLocks/>
            </p:cNvSpPr>
            <p:nvPr/>
          </p:nvSpPr>
          <p:spPr bwMode="auto">
            <a:xfrm>
              <a:off x="4697" y="3617"/>
              <a:ext cx="95" cy="109"/>
            </a:xfrm>
            <a:custGeom>
              <a:avLst/>
              <a:gdLst>
                <a:gd name="T0" fmla="*/ 0 w 529"/>
                <a:gd name="T1" fmla="*/ 20 h 606"/>
                <a:gd name="T2" fmla="*/ 17 w 529"/>
                <a:gd name="T3" fmla="*/ 20 h 606"/>
                <a:gd name="T4" fmla="*/ 15 w 529"/>
                <a:gd name="T5" fmla="*/ 2 h 606"/>
                <a:gd name="T6" fmla="*/ 11 w 529"/>
                <a:gd name="T7" fmla="*/ 0 h 606"/>
                <a:gd name="T8" fmla="*/ 13 w 529"/>
                <a:gd name="T9" fmla="*/ 16 h 606"/>
                <a:gd name="T10" fmla="*/ 5 w 529"/>
                <a:gd name="T11" fmla="*/ 16 h 606"/>
                <a:gd name="T12" fmla="*/ 7 w 529"/>
                <a:gd name="T13" fmla="*/ 0 h 606"/>
                <a:gd name="T14" fmla="*/ 3 w 529"/>
                <a:gd name="T15" fmla="*/ 2 h 606"/>
                <a:gd name="T16" fmla="*/ 0 w 529"/>
                <a:gd name="T17" fmla="*/ 20 h 606"/>
                <a:gd name="T18" fmla="*/ 0 w 529"/>
                <a:gd name="T19" fmla="*/ 2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26719" name="Freeform 135"/>
            <p:cNvSpPr>
              <a:spLocks/>
            </p:cNvSpPr>
            <p:nvPr/>
          </p:nvSpPr>
          <p:spPr bwMode="auto">
            <a:xfrm>
              <a:off x="4693" y="3529"/>
              <a:ext cx="110" cy="100"/>
            </a:xfrm>
            <a:custGeom>
              <a:avLst/>
              <a:gdLst>
                <a:gd name="T0" fmla="*/ 13 w 613"/>
                <a:gd name="T1" fmla="*/ 15 h 551"/>
                <a:gd name="T2" fmla="*/ 14 w 613"/>
                <a:gd name="T3" fmla="*/ 15 h 551"/>
                <a:gd name="T4" fmla="*/ 15 w 613"/>
                <a:gd name="T5" fmla="*/ 14 h 551"/>
                <a:gd name="T6" fmla="*/ 15 w 613"/>
                <a:gd name="T7" fmla="*/ 13 h 551"/>
                <a:gd name="T8" fmla="*/ 16 w 613"/>
                <a:gd name="T9" fmla="*/ 10 h 551"/>
                <a:gd name="T10" fmla="*/ 16 w 613"/>
                <a:gd name="T11" fmla="*/ 8 h 551"/>
                <a:gd name="T12" fmla="*/ 15 w 613"/>
                <a:gd name="T13" fmla="*/ 7 h 551"/>
                <a:gd name="T14" fmla="*/ 15 w 613"/>
                <a:gd name="T15" fmla="*/ 7 h 551"/>
                <a:gd name="T16" fmla="*/ 15 w 613"/>
                <a:gd name="T17" fmla="*/ 6 h 551"/>
                <a:gd name="T18" fmla="*/ 14 w 613"/>
                <a:gd name="T19" fmla="*/ 5 h 551"/>
                <a:gd name="T20" fmla="*/ 13 w 613"/>
                <a:gd name="T21" fmla="*/ 5 h 551"/>
                <a:gd name="T22" fmla="*/ 11 w 613"/>
                <a:gd name="T23" fmla="*/ 4 h 551"/>
                <a:gd name="T24" fmla="*/ 7 w 613"/>
                <a:gd name="T25" fmla="*/ 5 h 551"/>
                <a:gd name="T26" fmla="*/ 6 w 613"/>
                <a:gd name="T27" fmla="*/ 6 h 551"/>
                <a:gd name="T28" fmla="*/ 5 w 613"/>
                <a:gd name="T29" fmla="*/ 7 h 551"/>
                <a:gd name="T30" fmla="*/ 4 w 613"/>
                <a:gd name="T31" fmla="*/ 7 h 551"/>
                <a:gd name="T32" fmla="*/ 4 w 613"/>
                <a:gd name="T33" fmla="*/ 9 h 551"/>
                <a:gd name="T34" fmla="*/ 4 w 613"/>
                <a:gd name="T35" fmla="*/ 12 h 551"/>
                <a:gd name="T36" fmla="*/ 4 w 613"/>
                <a:gd name="T37" fmla="*/ 13 h 551"/>
                <a:gd name="T38" fmla="*/ 5 w 613"/>
                <a:gd name="T39" fmla="*/ 14 h 551"/>
                <a:gd name="T40" fmla="*/ 5 w 613"/>
                <a:gd name="T41" fmla="*/ 14 h 551"/>
                <a:gd name="T42" fmla="*/ 6 w 613"/>
                <a:gd name="T43" fmla="*/ 15 h 551"/>
                <a:gd name="T44" fmla="*/ 6 w 613"/>
                <a:gd name="T45" fmla="*/ 15 h 551"/>
                <a:gd name="T46" fmla="*/ 7 w 613"/>
                <a:gd name="T47" fmla="*/ 16 h 551"/>
                <a:gd name="T48" fmla="*/ 3 w 613"/>
                <a:gd name="T49" fmla="*/ 18 h 551"/>
                <a:gd name="T50" fmla="*/ 3 w 613"/>
                <a:gd name="T51" fmla="*/ 17 h 551"/>
                <a:gd name="T52" fmla="*/ 2 w 613"/>
                <a:gd name="T53" fmla="*/ 16 h 551"/>
                <a:gd name="T54" fmla="*/ 1 w 613"/>
                <a:gd name="T55" fmla="*/ 15 h 551"/>
                <a:gd name="T56" fmla="*/ 0 w 613"/>
                <a:gd name="T57" fmla="*/ 13 h 551"/>
                <a:gd name="T58" fmla="*/ 0 w 613"/>
                <a:gd name="T59" fmla="*/ 9 h 551"/>
                <a:gd name="T60" fmla="*/ 1 w 613"/>
                <a:gd name="T61" fmla="*/ 7 h 551"/>
                <a:gd name="T62" fmla="*/ 1 w 613"/>
                <a:gd name="T63" fmla="*/ 6 h 551"/>
                <a:gd name="T64" fmla="*/ 1 w 613"/>
                <a:gd name="T65" fmla="*/ 5 h 551"/>
                <a:gd name="T66" fmla="*/ 2 w 613"/>
                <a:gd name="T67" fmla="*/ 4 h 551"/>
                <a:gd name="T68" fmla="*/ 3 w 613"/>
                <a:gd name="T69" fmla="*/ 3 h 551"/>
                <a:gd name="T70" fmla="*/ 3 w 613"/>
                <a:gd name="T71" fmla="*/ 2 h 551"/>
                <a:gd name="T72" fmla="*/ 4 w 613"/>
                <a:gd name="T73" fmla="*/ 2 h 551"/>
                <a:gd name="T74" fmla="*/ 5 w 613"/>
                <a:gd name="T75" fmla="*/ 1 h 551"/>
                <a:gd name="T76" fmla="*/ 6 w 613"/>
                <a:gd name="T77" fmla="*/ 1 h 551"/>
                <a:gd name="T78" fmla="*/ 8 w 613"/>
                <a:gd name="T79" fmla="*/ 0 h 551"/>
                <a:gd name="T80" fmla="*/ 11 w 613"/>
                <a:gd name="T81" fmla="*/ 0 h 551"/>
                <a:gd name="T82" fmla="*/ 14 w 613"/>
                <a:gd name="T83" fmla="*/ 1 h 551"/>
                <a:gd name="T84" fmla="*/ 15 w 613"/>
                <a:gd name="T85" fmla="*/ 2 h 551"/>
                <a:gd name="T86" fmla="*/ 16 w 613"/>
                <a:gd name="T87" fmla="*/ 2 h 551"/>
                <a:gd name="T88" fmla="*/ 17 w 613"/>
                <a:gd name="T89" fmla="*/ 3 h 551"/>
                <a:gd name="T90" fmla="*/ 18 w 613"/>
                <a:gd name="T91" fmla="*/ 4 h 551"/>
                <a:gd name="T92" fmla="*/ 18 w 613"/>
                <a:gd name="T93" fmla="*/ 5 h 551"/>
                <a:gd name="T94" fmla="*/ 19 w 613"/>
                <a:gd name="T95" fmla="*/ 6 h 551"/>
                <a:gd name="T96" fmla="*/ 20 w 613"/>
                <a:gd name="T97" fmla="*/ 9 h 551"/>
                <a:gd name="T98" fmla="*/ 20 w 613"/>
                <a:gd name="T99" fmla="*/ 12 h 551"/>
                <a:gd name="T100" fmla="*/ 19 w 613"/>
                <a:gd name="T101" fmla="*/ 14 h 551"/>
                <a:gd name="T102" fmla="*/ 18 w 613"/>
                <a:gd name="T103" fmla="*/ 15 h 551"/>
                <a:gd name="T104" fmla="*/ 18 w 613"/>
                <a:gd name="T105" fmla="*/ 16 h 551"/>
                <a:gd name="T106" fmla="*/ 17 w 613"/>
                <a:gd name="T107" fmla="*/ 17 h 551"/>
                <a:gd name="T108" fmla="*/ 17 w 613"/>
                <a:gd name="T109" fmla="*/ 17 h 551"/>
                <a:gd name="T110" fmla="*/ 16 w 613"/>
                <a:gd name="T111" fmla="*/ 18 h 551"/>
                <a:gd name="T112" fmla="*/ 12 w 613"/>
                <a:gd name="T113" fmla="*/ 16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26720" name="Freeform 136"/>
            <p:cNvSpPr>
              <a:spLocks/>
            </p:cNvSpPr>
            <p:nvPr/>
          </p:nvSpPr>
          <p:spPr bwMode="auto">
            <a:xfrm>
              <a:off x="4576" y="3467"/>
              <a:ext cx="247" cy="285"/>
            </a:xfrm>
            <a:custGeom>
              <a:avLst/>
              <a:gdLst>
                <a:gd name="T0" fmla="*/ 1 w 1365"/>
                <a:gd name="T1" fmla="*/ 0 h 1583"/>
                <a:gd name="T2" fmla="*/ 0 w 1365"/>
                <a:gd name="T3" fmla="*/ 25 h 1583"/>
                <a:gd name="T4" fmla="*/ 1 w 1365"/>
                <a:gd name="T5" fmla="*/ 32 h 1583"/>
                <a:gd name="T6" fmla="*/ 3 w 1365"/>
                <a:gd name="T7" fmla="*/ 39 h 1583"/>
                <a:gd name="T8" fmla="*/ 6 w 1365"/>
                <a:gd name="T9" fmla="*/ 43 h 1583"/>
                <a:gd name="T10" fmla="*/ 12 w 1365"/>
                <a:gd name="T11" fmla="*/ 48 h 1583"/>
                <a:gd name="T12" fmla="*/ 17 w 1365"/>
                <a:gd name="T13" fmla="*/ 51 h 1583"/>
                <a:gd name="T14" fmla="*/ 23 w 1365"/>
                <a:gd name="T15" fmla="*/ 30 h 1583"/>
                <a:gd name="T16" fmla="*/ 18 w 1365"/>
                <a:gd name="T17" fmla="*/ 23 h 1583"/>
                <a:gd name="T18" fmla="*/ 18 w 1365"/>
                <a:gd name="T19" fmla="*/ 16 h 1583"/>
                <a:gd name="T20" fmla="*/ 20 w 1365"/>
                <a:gd name="T21" fmla="*/ 11 h 1583"/>
                <a:gd name="T22" fmla="*/ 26 w 1365"/>
                <a:gd name="T23" fmla="*/ 6 h 1583"/>
                <a:gd name="T24" fmla="*/ 33 w 1365"/>
                <a:gd name="T25" fmla="*/ 3 h 1583"/>
                <a:gd name="T26" fmla="*/ 45 w 1365"/>
                <a:gd name="T27" fmla="*/ 0 h 1583"/>
                <a:gd name="T28" fmla="*/ 1 w 1365"/>
                <a:gd name="T29" fmla="*/ 0 h 1583"/>
                <a:gd name="T30" fmla="*/ 1 w 1365"/>
                <a:gd name="T31" fmla="*/ 0 h 1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5"/>
                <a:gd name="T49" fmla="*/ 0 h 1583"/>
                <a:gd name="T50" fmla="*/ 1365 w 1365"/>
                <a:gd name="T51" fmla="*/ 1583 h 1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5" h="1583">
                  <a:moveTo>
                    <a:pt x="15" y="6"/>
                  </a:moveTo>
                  <a:lnTo>
                    <a:pt x="0" y="774"/>
                  </a:lnTo>
                  <a:lnTo>
                    <a:pt x="28" y="1000"/>
                  </a:lnTo>
                  <a:lnTo>
                    <a:pt x="91" y="1190"/>
                  </a:lnTo>
                  <a:lnTo>
                    <a:pt x="190" y="1338"/>
                  </a:lnTo>
                  <a:lnTo>
                    <a:pt x="352" y="1464"/>
                  </a:lnTo>
                  <a:lnTo>
                    <a:pt x="528" y="1583"/>
                  </a:lnTo>
                  <a:lnTo>
                    <a:pt x="698" y="922"/>
                  </a:lnTo>
                  <a:lnTo>
                    <a:pt x="563" y="703"/>
                  </a:lnTo>
                  <a:lnTo>
                    <a:pt x="549" y="492"/>
                  </a:lnTo>
                  <a:lnTo>
                    <a:pt x="627" y="338"/>
                  </a:lnTo>
                  <a:lnTo>
                    <a:pt x="781" y="190"/>
                  </a:lnTo>
                  <a:lnTo>
                    <a:pt x="992" y="91"/>
                  </a:lnTo>
                  <a:lnTo>
                    <a:pt x="1365" y="0"/>
                  </a:lnTo>
                  <a:lnTo>
                    <a:pt x="15" y="6"/>
                  </a:lnTo>
                  <a:close/>
                </a:path>
              </a:pathLst>
            </a:custGeom>
            <a:solidFill>
              <a:srgbClr val="D4D4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1" name="Freeform 137"/>
            <p:cNvSpPr>
              <a:spLocks/>
            </p:cNvSpPr>
            <p:nvPr/>
          </p:nvSpPr>
          <p:spPr bwMode="auto">
            <a:xfrm>
              <a:off x="4683" y="3460"/>
              <a:ext cx="248" cy="313"/>
            </a:xfrm>
            <a:custGeom>
              <a:avLst/>
              <a:gdLst>
                <a:gd name="T0" fmla="*/ 23 w 1373"/>
                <a:gd name="T1" fmla="*/ 14 h 1733"/>
                <a:gd name="T2" fmla="*/ 25 w 1373"/>
                <a:gd name="T3" fmla="*/ 18 h 1733"/>
                <a:gd name="T4" fmla="*/ 26 w 1373"/>
                <a:gd name="T5" fmla="*/ 22 h 1733"/>
                <a:gd name="T6" fmla="*/ 25 w 1373"/>
                <a:gd name="T7" fmla="*/ 27 h 1733"/>
                <a:gd name="T8" fmla="*/ 20 w 1373"/>
                <a:gd name="T9" fmla="*/ 31 h 1733"/>
                <a:gd name="T10" fmla="*/ 23 w 1373"/>
                <a:gd name="T11" fmla="*/ 50 h 1733"/>
                <a:gd name="T12" fmla="*/ 1 w 1373"/>
                <a:gd name="T13" fmla="*/ 51 h 1733"/>
                <a:gd name="T14" fmla="*/ 0 w 1373"/>
                <a:gd name="T15" fmla="*/ 53 h 1733"/>
                <a:gd name="T16" fmla="*/ 5 w 1373"/>
                <a:gd name="T17" fmla="*/ 55 h 1733"/>
                <a:gd name="T18" fmla="*/ 10 w 1373"/>
                <a:gd name="T19" fmla="*/ 57 h 1733"/>
                <a:gd name="T20" fmla="*/ 16 w 1373"/>
                <a:gd name="T21" fmla="*/ 56 h 1733"/>
                <a:gd name="T22" fmla="*/ 22 w 1373"/>
                <a:gd name="T23" fmla="*/ 54 h 1733"/>
                <a:gd name="T24" fmla="*/ 29 w 1373"/>
                <a:gd name="T25" fmla="*/ 52 h 1733"/>
                <a:gd name="T26" fmla="*/ 35 w 1373"/>
                <a:gd name="T27" fmla="*/ 47 h 1733"/>
                <a:gd name="T28" fmla="*/ 40 w 1373"/>
                <a:gd name="T29" fmla="*/ 40 h 1733"/>
                <a:gd name="T30" fmla="*/ 44 w 1373"/>
                <a:gd name="T31" fmla="*/ 29 h 1733"/>
                <a:gd name="T32" fmla="*/ 45 w 1373"/>
                <a:gd name="T33" fmla="*/ 16 h 1733"/>
                <a:gd name="T34" fmla="*/ 44 w 1373"/>
                <a:gd name="T35" fmla="*/ 0 h 1733"/>
                <a:gd name="T36" fmla="*/ 28 w 1373"/>
                <a:gd name="T37" fmla="*/ 1 h 1733"/>
                <a:gd name="T38" fmla="*/ 19 w 1373"/>
                <a:gd name="T39" fmla="*/ 4 h 1733"/>
                <a:gd name="T40" fmla="*/ 13 w 1373"/>
                <a:gd name="T41" fmla="*/ 7 h 1733"/>
                <a:gd name="T42" fmla="*/ 7 w 1373"/>
                <a:gd name="T43" fmla="*/ 9 h 1733"/>
                <a:gd name="T44" fmla="*/ 3 w 1373"/>
                <a:gd name="T45" fmla="*/ 13 h 1733"/>
                <a:gd name="T46" fmla="*/ 9 w 1373"/>
                <a:gd name="T47" fmla="*/ 10 h 1733"/>
                <a:gd name="T48" fmla="*/ 15 w 1373"/>
                <a:gd name="T49" fmla="*/ 10 h 1733"/>
                <a:gd name="T50" fmla="*/ 20 w 1373"/>
                <a:gd name="T51" fmla="*/ 11 h 1733"/>
                <a:gd name="T52" fmla="*/ 23 w 1373"/>
                <a:gd name="T53" fmla="*/ 14 h 1733"/>
                <a:gd name="T54" fmla="*/ 23 w 1373"/>
                <a:gd name="T55" fmla="*/ 14 h 17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73"/>
                <a:gd name="T85" fmla="*/ 0 h 1733"/>
                <a:gd name="T86" fmla="*/ 1373 w 1373"/>
                <a:gd name="T87" fmla="*/ 1733 h 17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73" h="1733">
                  <a:moveTo>
                    <a:pt x="696" y="424"/>
                  </a:moveTo>
                  <a:lnTo>
                    <a:pt x="767" y="549"/>
                  </a:lnTo>
                  <a:lnTo>
                    <a:pt x="788" y="684"/>
                  </a:lnTo>
                  <a:lnTo>
                    <a:pt x="753" y="831"/>
                  </a:lnTo>
                  <a:lnTo>
                    <a:pt x="626" y="966"/>
                  </a:lnTo>
                  <a:lnTo>
                    <a:pt x="711" y="1543"/>
                  </a:lnTo>
                  <a:lnTo>
                    <a:pt x="21" y="1557"/>
                  </a:lnTo>
                  <a:lnTo>
                    <a:pt x="0" y="1627"/>
                  </a:lnTo>
                  <a:lnTo>
                    <a:pt x="149" y="1697"/>
                  </a:lnTo>
                  <a:lnTo>
                    <a:pt x="318" y="1733"/>
                  </a:lnTo>
                  <a:lnTo>
                    <a:pt x="493" y="1711"/>
                  </a:lnTo>
                  <a:lnTo>
                    <a:pt x="670" y="1669"/>
                  </a:lnTo>
                  <a:lnTo>
                    <a:pt x="873" y="1598"/>
                  </a:lnTo>
                  <a:lnTo>
                    <a:pt x="1077" y="1450"/>
                  </a:lnTo>
                  <a:lnTo>
                    <a:pt x="1238" y="1213"/>
                  </a:lnTo>
                  <a:lnTo>
                    <a:pt x="1350" y="874"/>
                  </a:lnTo>
                  <a:lnTo>
                    <a:pt x="1373" y="494"/>
                  </a:lnTo>
                  <a:lnTo>
                    <a:pt x="1350" y="0"/>
                  </a:lnTo>
                  <a:lnTo>
                    <a:pt x="858" y="36"/>
                  </a:lnTo>
                  <a:lnTo>
                    <a:pt x="576" y="127"/>
                  </a:lnTo>
                  <a:lnTo>
                    <a:pt x="401" y="198"/>
                  </a:lnTo>
                  <a:lnTo>
                    <a:pt x="219" y="289"/>
                  </a:lnTo>
                  <a:lnTo>
                    <a:pt x="86" y="401"/>
                  </a:lnTo>
                  <a:lnTo>
                    <a:pt x="274" y="317"/>
                  </a:lnTo>
                  <a:lnTo>
                    <a:pt x="459" y="297"/>
                  </a:lnTo>
                  <a:lnTo>
                    <a:pt x="605" y="346"/>
                  </a:lnTo>
                  <a:lnTo>
                    <a:pt x="696" y="424"/>
                  </a:lnTo>
                  <a:close/>
                </a:path>
              </a:pathLst>
            </a:custGeom>
            <a:solidFill>
              <a:srgbClr val="7878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6663" name="Group 138"/>
          <p:cNvGrpSpPr>
            <a:grpSpLocks/>
          </p:cNvGrpSpPr>
          <p:nvPr/>
        </p:nvGrpSpPr>
        <p:grpSpPr bwMode="auto">
          <a:xfrm>
            <a:off x="6380163" y="1541463"/>
            <a:ext cx="407987" cy="655637"/>
            <a:chOff x="4506" y="3057"/>
            <a:chExt cx="488" cy="786"/>
          </a:xfrm>
        </p:grpSpPr>
        <p:sp>
          <p:nvSpPr>
            <p:cNvPr id="26684" name="AutoShape 139"/>
            <p:cNvSpPr>
              <a:spLocks noChangeAspect="1" noChangeArrowheads="1" noTextEdit="1"/>
            </p:cNvSpPr>
            <p:nvPr/>
          </p:nvSpPr>
          <p:spPr bwMode="auto">
            <a:xfrm>
              <a:off x="4506" y="3057"/>
              <a:ext cx="488"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685" name="Freeform 140"/>
            <p:cNvSpPr>
              <a:spLocks/>
            </p:cNvSpPr>
            <p:nvPr/>
          </p:nvSpPr>
          <p:spPr bwMode="auto">
            <a:xfrm>
              <a:off x="4585" y="3083"/>
              <a:ext cx="292" cy="325"/>
            </a:xfrm>
            <a:custGeom>
              <a:avLst/>
              <a:gdLst>
                <a:gd name="T0" fmla="*/ 8 w 1619"/>
                <a:gd name="T1" fmla="*/ 58 h 1804"/>
                <a:gd name="T2" fmla="*/ 0 w 1619"/>
                <a:gd name="T3" fmla="*/ 59 h 1804"/>
                <a:gd name="T4" fmla="*/ 1 w 1619"/>
                <a:gd name="T5" fmla="*/ 22 h 1804"/>
                <a:gd name="T6" fmla="*/ 6 w 1619"/>
                <a:gd name="T7" fmla="*/ 10 h 1804"/>
                <a:gd name="T8" fmla="*/ 15 w 1619"/>
                <a:gd name="T9" fmla="*/ 4 h 1804"/>
                <a:gd name="T10" fmla="*/ 25 w 1619"/>
                <a:gd name="T11" fmla="*/ 1 h 1804"/>
                <a:gd name="T12" fmla="*/ 33 w 1619"/>
                <a:gd name="T13" fmla="*/ 0 h 1804"/>
                <a:gd name="T14" fmla="*/ 42 w 1619"/>
                <a:gd name="T15" fmla="*/ 5 h 1804"/>
                <a:gd name="T16" fmla="*/ 47 w 1619"/>
                <a:gd name="T17" fmla="*/ 11 h 1804"/>
                <a:gd name="T18" fmla="*/ 53 w 1619"/>
                <a:gd name="T19" fmla="*/ 25 h 1804"/>
                <a:gd name="T20" fmla="*/ 42 w 1619"/>
                <a:gd name="T21" fmla="*/ 10 h 1804"/>
                <a:gd name="T22" fmla="*/ 31 w 1619"/>
                <a:gd name="T23" fmla="*/ 8 h 1804"/>
                <a:gd name="T24" fmla="*/ 18 w 1619"/>
                <a:gd name="T25" fmla="*/ 11 h 1804"/>
                <a:gd name="T26" fmla="*/ 12 w 1619"/>
                <a:gd name="T27" fmla="*/ 17 h 1804"/>
                <a:gd name="T28" fmla="*/ 8 w 1619"/>
                <a:gd name="T29" fmla="*/ 24 h 1804"/>
                <a:gd name="T30" fmla="*/ 8 w 1619"/>
                <a:gd name="T31" fmla="*/ 35 h 1804"/>
                <a:gd name="T32" fmla="*/ 8 w 1619"/>
                <a:gd name="T33" fmla="*/ 58 h 1804"/>
                <a:gd name="T34" fmla="*/ 8 w 1619"/>
                <a:gd name="T35" fmla="*/ 58 h 18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9"/>
                <a:gd name="T55" fmla="*/ 0 h 1804"/>
                <a:gd name="T56" fmla="*/ 1619 w 1619"/>
                <a:gd name="T57" fmla="*/ 1804 h 18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9" h="1804">
                  <a:moveTo>
                    <a:pt x="232" y="1796"/>
                  </a:moveTo>
                  <a:lnTo>
                    <a:pt x="0" y="1804"/>
                  </a:lnTo>
                  <a:lnTo>
                    <a:pt x="21" y="669"/>
                  </a:lnTo>
                  <a:lnTo>
                    <a:pt x="183" y="324"/>
                  </a:lnTo>
                  <a:lnTo>
                    <a:pt x="464" y="120"/>
                  </a:lnTo>
                  <a:lnTo>
                    <a:pt x="782" y="29"/>
                  </a:lnTo>
                  <a:lnTo>
                    <a:pt x="1001" y="0"/>
                  </a:lnTo>
                  <a:lnTo>
                    <a:pt x="1303" y="149"/>
                  </a:lnTo>
                  <a:lnTo>
                    <a:pt x="1457" y="331"/>
                  </a:lnTo>
                  <a:lnTo>
                    <a:pt x="1619" y="768"/>
                  </a:lnTo>
                  <a:lnTo>
                    <a:pt x="1282" y="324"/>
                  </a:lnTo>
                  <a:lnTo>
                    <a:pt x="943" y="232"/>
                  </a:lnTo>
                  <a:lnTo>
                    <a:pt x="542" y="339"/>
                  </a:lnTo>
                  <a:lnTo>
                    <a:pt x="373" y="529"/>
                  </a:lnTo>
                  <a:lnTo>
                    <a:pt x="247" y="747"/>
                  </a:lnTo>
                  <a:lnTo>
                    <a:pt x="240" y="1078"/>
                  </a:lnTo>
                  <a:lnTo>
                    <a:pt x="232" y="1796"/>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6" name="Freeform 141"/>
            <p:cNvSpPr>
              <a:spLocks/>
            </p:cNvSpPr>
            <p:nvPr/>
          </p:nvSpPr>
          <p:spPr bwMode="auto">
            <a:xfrm>
              <a:off x="4560" y="3077"/>
              <a:ext cx="280" cy="335"/>
            </a:xfrm>
            <a:custGeom>
              <a:avLst/>
              <a:gdLst>
                <a:gd name="T0" fmla="*/ 6 w 1555"/>
                <a:gd name="T1" fmla="*/ 59 h 1859"/>
                <a:gd name="T2" fmla="*/ 6 w 1555"/>
                <a:gd name="T3" fmla="*/ 25 h 1859"/>
                <a:gd name="T4" fmla="*/ 9 w 1555"/>
                <a:gd name="T5" fmla="*/ 17 h 1859"/>
                <a:gd name="T6" fmla="*/ 14 w 1555"/>
                <a:gd name="T7" fmla="*/ 12 h 1859"/>
                <a:gd name="T8" fmla="*/ 20 w 1555"/>
                <a:gd name="T9" fmla="*/ 7 h 1859"/>
                <a:gd name="T10" fmla="*/ 27 w 1555"/>
                <a:gd name="T11" fmla="*/ 5 h 1859"/>
                <a:gd name="T12" fmla="*/ 34 w 1555"/>
                <a:gd name="T13" fmla="*/ 3 h 1859"/>
                <a:gd name="T14" fmla="*/ 39 w 1555"/>
                <a:gd name="T15" fmla="*/ 4 h 1859"/>
                <a:gd name="T16" fmla="*/ 50 w 1555"/>
                <a:gd name="T17" fmla="*/ 7 h 1859"/>
                <a:gd name="T18" fmla="*/ 43 w 1555"/>
                <a:gd name="T19" fmla="*/ 2 h 1859"/>
                <a:gd name="T20" fmla="*/ 28 w 1555"/>
                <a:gd name="T21" fmla="*/ 0 h 1859"/>
                <a:gd name="T22" fmla="*/ 12 w 1555"/>
                <a:gd name="T23" fmla="*/ 6 h 1859"/>
                <a:gd name="T24" fmla="*/ 6 w 1555"/>
                <a:gd name="T25" fmla="*/ 16 h 1859"/>
                <a:gd name="T26" fmla="*/ 1 w 1555"/>
                <a:gd name="T27" fmla="*/ 24 h 1859"/>
                <a:gd name="T28" fmla="*/ 0 w 1555"/>
                <a:gd name="T29" fmla="*/ 60 h 1859"/>
                <a:gd name="T30" fmla="*/ 6 w 1555"/>
                <a:gd name="T31" fmla="*/ 59 h 1859"/>
                <a:gd name="T32" fmla="*/ 6 w 1555"/>
                <a:gd name="T33" fmla="*/ 59 h 18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5"/>
                <a:gd name="T52" fmla="*/ 0 h 1859"/>
                <a:gd name="T53" fmla="*/ 1555 w 1555"/>
                <a:gd name="T54" fmla="*/ 1859 h 18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5" h="1859">
                  <a:moveTo>
                    <a:pt x="182" y="1802"/>
                  </a:moveTo>
                  <a:lnTo>
                    <a:pt x="197" y="753"/>
                  </a:lnTo>
                  <a:lnTo>
                    <a:pt x="289" y="513"/>
                  </a:lnTo>
                  <a:lnTo>
                    <a:pt x="437" y="358"/>
                  </a:lnTo>
                  <a:lnTo>
                    <a:pt x="619" y="224"/>
                  </a:lnTo>
                  <a:lnTo>
                    <a:pt x="836" y="147"/>
                  </a:lnTo>
                  <a:lnTo>
                    <a:pt x="1047" y="105"/>
                  </a:lnTo>
                  <a:lnTo>
                    <a:pt x="1211" y="118"/>
                  </a:lnTo>
                  <a:lnTo>
                    <a:pt x="1555" y="204"/>
                  </a:lnTo>
                  <a:lnTo>
                    <a:pt x="1329" y="55"/>
                  </a:lnTo>
                  <a:lnTo>
                    <a:pt x="872" y="0"/>
                  </a:lnTo>
                  <a:lnTo>
                    <a:pt x="380" y="196"/>
                  </a:lnTo>
                  <a:lnTo>
                    <a:pt x="182" y="500"/>
                  </a:lnTo>
                  <a:lnTo>
                    <a:pt x="36" y="745"/>
                  </a:lnTo>
                  <a:lnTo>
                    <a:pt x="0" y="1859"/>
                  </a:lnTo>
                  <a:lnTo>
                    <a:pt x="182" y="1802"/>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7" name="Freeform 142"/>
            <p:cNvSpPr>
              <a:spLocks/>
            </p:cNvSpPr>
            <p:nvPr/>
          </p:nvSpPr>
          <p:spPr bwMode="auto">
            <a:xfrm>
              <a:off x="4810" y="3100"/>
              <a:ext cx="112" cy="318"/>
            </a:xfrm>
            <a:custGeom>
              <a:avLst/>
              <a:gdLst>
                <a:gd name="T0" fmla="*/ 0 w 620"/>
                <a:gd name="T1" fmla="*/ 0 h 1767"/>
                <a:gd name="T2" fmla="*/ 9 w 620"/>
                <a:gd name="T3" fmla="*/ 10 h 1767"/>
                <a:gd name="T4" fmla="*/ 15 w 620"/>
                <a:gd name="T5" fmla="*/ 21 h 1767"/>
                <a:gd name="T6" fmla="*/ 15 w 620"/>
                <a:gd name="T7" fmla="*/ 39 h 1767"/>
                <a:gd name="T8" fmla="*/ 15 w 620"/>
                <a:gd name="T9" fmla="*/ 57 h 1767"/>
                <a:gd name="T10" fmla="*/ 20 w 620"/>
                <a:gd name="T11" fmla="*/ 56 h 1767"/>
                <a:gd name="T12" fmla="*/ 20 w 620"/>
                <a:gd name="T13" fmla="*/ 21 h 1767"/>
                <a:gd name="T14" fmla="*/ 12 w 620"/>
                <a:gd name="T15" fmla="*/ 5 h 1767"/>
                <a:gd name="T16" fmla="*/ 0 w 620"/>
                <a:gd name="T17" fmla="*/ 0 h 1767"/>
                <a:gd name="T18" fmla="*/ 0 w 620"/>
                <a:gd name="T19" fmla="*/ 0 h 17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0"/>
                <a:gd name="T31" fmla="*/ 0 h 1767"/>
                <a:gd name="T32" fmla="*/ 620 w 620"/>
                <a:gd name="T33" fmla="*/ 1767 h 17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0" h="1767">
                  <a:moveTo>
                    <a:pt x="0" y="0"/>
                  </a:moveTo>
                  <a:lnTo>
                    <a:pt x="289" y="296"/>
                  </a:lnTo>
                  <a:lnTo>
                    <a:pt x="451" y="634"/>
                  </a:lnTo>
                  <a:lnTo>
                    <a:pt x="464" y="1189"/>
                  </a:lnTo>
                  <a:lnTo>
                    <a:pt x="464" y="1767"/>
                  </a:lnTo>
                  <a:lnTo>
                    <a:pt x="620" y="1739"/>
                  </a:lnTo>
                  <a:lnTo>
                    <a:pt x="612" y="640"/>
                  </a:lnTo>
                  <a:lnTo>
                    <a:pt x="380" y="169"/>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8" name="Freeform 143"/>
            <p:cNvSpPr>
              <a:spLocks/>
            </p:cNvSpPr>
            <p:nvPr/>
          </p:nvSpPr>
          <p:spPr bwMode="auto">
            <a:xfrm>
              <a:off x="4809" y="3098"/>
              <a:ext cx="91" cy="313"/>
            </a:xfrm>
            <a:custGeom>
              <a:avLst/>
              <a:gdLst>
                <a:gd name="T0" fmla="*/ 0 w 508"/>
                <a:gd name="T1" fmla="*/ 0 h 1733"/>
                <a:gd name="T2" fmla="*/ 7 w 508"/>
                <a:gd name="T3" fmla="*/ 13 h 1733"/>
                <a:gd name="T4" fmla="*/ 11 w 508"/>
                <a:gd name="T5" fmla="*/ 27 h 1733"/>
                <a:gd name="T6" fmla="*/ 11 w 508"/>
                <a:gd name="T7" fmla="*/ 56 h 1733"/>
                <a:gd name="T8" fmla="*/ 16 w 508"/>
                <a:gd name="T9" fmla="*/ 57 h 1733"/>
                <a:gd name="T10" fmla="*/ 16 w 508"/>
                <a:gd name="T11" fmla="*/ 24 h 1733"/>
                <a:gd name="T12" fmla="*/ 15 w 508"/>
                <a:gd name="T13" fmla="*/ 18 h 1733"/>
                <a:gd name="T14" fmla="*/ 11 w 508"/>
                <a:gd name="T15" fmla="*/ 13 h 1733"/>
                <a:gd name="T16" fmla="*/ 8 w 508"/>
                <a:gd name="T17" fmla="*/ 7 h 1733"/>
                <a:gd name="T18" fmla="*/ 0 w 508"/>
                <a:gd name="T19" fmla="*/ 0 h 1733"/>
                <a:gd name="T20" fmla="*/ 0 w 508"/>
                <a:gd name="T21" fmla="*/ 0 h 17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8"/>
                <a:gd name="T34" fmla="*/ 0 h 1733"/>
                <a:gd name="T35" fmla="*/ 508 w 508"/>
                <a:gd name="T36" fmla="*/ 1733 h 17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8" h="1733">
                  <a:moveTo>
                    <a:pt x="0" y="0"/>
                  </a:moveTo>
                  <a:lnTo>
                    <a:pt x="227" y="409"/>
                  </a:lnTo>
                  <a:lnTo>
                    <a:pt x="346" y="838"/>
                  </a:lnTo>
                  <a:lnTo>
                    <a:pt x="339" y="1726"/>
                  </a:lnTo>
                  <a:lnTo>
                    <a:pt x="508" y="1733"/>
                  </a:lnTo>
                  <a:lnTo>
                    <a:pt x="493" y="726"/>
                  </a:lnTo>
                  <a:lnTo>
                    <a:pt x="451" y="549"/>
                  </a:lnTo>
                  <a:lnTo>
                    <a:pt x="360" y="388"/>
                  </a:lnTo>
                  <a:lnTo>
                    <a:pt x="255" y="226"/>
                  </a:lnTo>
                  <a:lnTo>
                    <a:pt x="0" y="0"/>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9" name="Freeform 144"/>
            <p:cNvSpPr>
              <a:spLocks/>
            </p:cNvSpPr>
            <p:nvPr/>
          </p:nvSpPr>
          <p:spPr bwMode="auto">
            <a:xfrm>
              <a:off x="4529" y="3420"/>
              <a:ext cx="432" cy="395"/>
            </a:xfrm>
            <a:custGeom>
              <a:avLst/>
              <a:gdLst>
                <a:gd name="T0" fmla="*/ 0 w 2393"/>
                <a:gd name="T1" fmla="*/ 1 h 2189"/>
                <a:gd name="T2" fmla="*/ 1 w 2393"/>
                <a:gd name="T3" fmla="*/ 43 h 2189"/>
                <a:gd name="T4" fmla="*/ 14 w 2393"/>
                <a:gd name="T5" fmla="*/ 63 h 2189"/>
                <a:gd name="T6" fmla="*/ 39 w 2393"/>
                <a:gd name="T7" fmla="*/ 71 h 2189"/>
                <a:gd name="T8" fmla="*/ 60 w 2393"/>
                <a:gd name="T9" fmla="*/ 67 h 2189"/>
                <a:gd name="T10" fmla="*/ 74 w 2393"/>
                <a:gd name="T11" fmla="*/ 54 h 2189"/>
                <a:gd name="T12" fmla="*/ 78 w 2393"/>
                <a:gd name="T13" fmla="*/ 33 h 2189"/>
                <a:gd name="T14" fmla="*/ 77 w 2393"/>
                <a:gd name="T15" fmla="*/ 0 h 2189"/>
                <a:gd name="T16" fmla="*/ 0 w 2393"/>
                <a:gd name="T17" fmla="*/ 1 h 2189"/>
                <a:gd name="T18" fmla="*/ 0 w 2393"/>
                <a:gd name="T19" fmla="*/ 1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0" name="Freeform 145"/>
            <p:cNvSpPr>
              <a:spLocks/>
            </p:cNvSpPr>
            <p:nvPr/>
          </p:nvSpPr>
          <p:spPr bwMode="auto">
            <a:xfrm>
              <a:off x="4701" y="3541"/>
              <a:ext cx="96" cy="177"/>
            </a:xfrm>
            <a:custGeom>
              <a:avLst/>
              <a:gdLst>
                <a:gd name="T0" fmla="*/ 4 w 534"/>
                <a:gd name="T1" fmla="*/ 1 h 978"/>
                <a:gd name="T2" fmla="*/ 0 w 534"/>
                <a:gd name="T3" fmla="*/ 7 h 978"/>
                <a:gd name="T4" fmla="*/ 3 w 534"/>
                <a:gd name="T5" fmla="*/ 15 h 978"/>
                <a:gd name="T6" fmla="*/ 2 w 534"/>
                <a:gd name="T7" fmla="*/ 31 h 978"/>
                <a:gd name="T8" fmla="*/ 15 w 534"/>
                <a:gd name="T9" fmla="*/ 32 h 978"/>
                <a:gd name="T10" fmla="*/ 12 w 534"/>
                <a:gd name="T11" fmla="*/ 15 h 978"/>
                <a:gd name="T12" fmla="*/ 17 w 534"/>
                <a:gd name="T13" fmla="*/ 10 h 978"/>
                <a:gd name="T14" fmla="*/ 15 w 534"/>
                <a:gd name="T15" fmla="*/ 4 h 978"/>
                <a:gd name="T16" fmla="*/ 10 w 534"/>
                <a:gd name="T17" fmla="*/ 0 h 978"/>
                <a:gd name="T18" fmla="*/ 4 w 534"/>
                <a:gd name="T19" fmla="*/ 1 h 978"/>
                <a:gd name="T20" fmla="*/ 4 w 534"/>
                <a:gd name="T21" fmla="*/ 1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91" name="Freeform 146"/>
            <p:cNvSpPr>
              <a:spLocks/>
            </p:cNvSpPr>
            <p:nvPr/>
          </p:nvSpPr>
          <p:spPr bwMode="auto">
            <a:xfrm>
              <a:off x="4550" y="3266"/>
              <a:ext cx="29"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692" name="Freeform 147"/>
            <p:cNvSpPr>
              <a:spLocks/>
            </p:cNvSpPr>
            <p:nvPr/>
          </p:nvSpPr>
          <p:spPr bwMode="auto">
            <a:xfrm>
              <a:off x="4607"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693" name="Freeform 148"/>
            <p:cNvSpPr>
              <a:spLocks/>
            </p:cNvSpPr>
            <p:nvPr/>
          </p:nvSpPr>
          <p:spPr bwMode="auto">
            <a:xfrm>
              <a:off x="4914" y="3266"/>
              <a:ext cx="29" cy="175"/>
            </a:xfrm>
            <a:custGeom>
              <a:avLst/>
              <a:gdLst>
                <a:gd name="T0" fmla="*/ 0 w 166"/>
                <a:gd name="T1" fmla="*/ 0 h 972"/>
                <a:gd name="T2" fmla="*/ 0 w 166"/>
                <a:gd name="T3" fmla="*/ 32 h 972"/>
                <a:gd name="T4" fmla="*/ 5 w 166"/>
                <a:gd name="T5" fmla="*/ 32 h 972"/>
                <a:gd name="T6" fmla="*/ 5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26694" name="Freeform 149"/>
            <p:cNvSpPr>
              <a:spLocks/>
            </p:cNvSpPr>
            <p:nvPr/>
          </p:nvSpPr>
          <p:spPr bwMode="auto">
            <a:xfrm>
              <a:off x="4856"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695" name="Freeform 150"/>
            <p:cNvSpPr>
              <a:spLocks/>
            </p:cNvSpPr>
            <p:nvPr/>
          </p:nvSpPr>
          <p:spPr bwMode="auto">
            <a:xfrm>
              <a:off x="4550" y="3064"/>
              <a:ext cx="393" cy="202"/>
            </a:xfrm>
            <a:custGeom>
              <a:avLst/>
              <a:gdLst>
                <a:gd name="T0" fmla="*/ 0 w 2183"/>
                <a:gd name="T1" fmla="*/ 31 h 1119"/>
                <a:gd name="T2" fmla="*/ 1 w 2183"/>
                <a:gd name="T3" fmla="*/ 26 h 1119"/>
                <a:gd name="T4" fmla="*/ 3 w 2183"/>
                <a:gd name="T5" fmla="*/ 22 h 1119"/>
                <a:gd name="T6" fmla="*/ 4 w 2183"/>
                <a:gd name="T7" fmla="*/ 20 h 1119"/>
                <a:gd name="T8" fmla="*/ 5 w 2183"/>
                <a:gd name="T9" fmla="*/ 18 h 1119"/>
                <a:gd name="T10" fmla="*/ 6 w 2183"/>
                <a:gd name="T11" fmla="*/ 16 h 1119"/>
                <a:gd name="T12" fmla="*/ 7 w 2183"/>
                <a:gd name="T13" fmla="*/ 14 h 1119"/>
                <a:gd name="T14" fmla="*/ 8 w 2183"/>
                <a:gd name="T15" fmla="*/ 13 h 1119"/>
                <a:gd name="T16" fmla="*/ 10 w 2183"/>
                <a:gd name="T17" fmla="*/ 11 h 1119"/>
                <a:gd name="T18" fmla="*/ 11 w 2183"/>
                <a:gd name="T19" fmla="*/ 10 h 1119"/>
                <a:gd name="T20" fmla="*/ 13 w 2183"/>
                <a:gd name="T21" fmla="*/ 8 h 1119"/>
                <a:gd name="T22" fmla="*/ 15 w 2183"/>
                <a:gd name="T23" fmla="*/ 7 h 1119"/>
                <a:gd name="T24" fmla="*/ 17 w 2183"/>
                <a:gd name="T25" fmla="*/ 5 h 1119"/>
                <a:gd name="T26" fmla="*/ 21 w 2183"/>
                <a:gd name="T27" fmla="*/ 3 h 1119"/>
                <a:gd name="T28" fmla="*/ 25 w 2183"/>
                <a:gd name="T29" fmla="*/ 2 h 1119"/>
                <a:gd name="T30" fmla="*/ 33 w 2183"/>
                <a:gd name="T31" fmla="*/ 0 h 1119"/>
                <a:gd name="T32" fmla="*/ 47 w 2183"/>
                <a:gd name="T33" fmla="*/ 2 h 1119"/>
                <a:gd name="T34" fmla="*/ 51 w 2183"/>
                <a:gd name="T35" fmla="*/ 3 h 1119"/>
                <a:gd name="T36" fmla="*/ 54 w 2183"/>
                <a:gd name="T37" fmla="*/ 6 h 1119"/>
                <a:gd name="T38" fmla="*/ 57 w 2183"/>
                <a:gd name="T39" fmla="*/ 8 h 1119"/>
                <a:gd name="T40" fmla="*/ 59 w 2183"/>
                <a:gd name="T41" fmla="*/ 9 h 1119"/>
                <a:gd name="T42" fmla="*/ 61 w 2183"/>
                <a:gd name="T43" fmla="*/ 11 h 1119"/>
                <a:gd name="T44" fmla="*/ 62 w 2183"/>
                <a:gd name="T45" fmla="*/ 12 h 1119"/>
                <a:gd name="T46" fmla="*/ 63 w 2183"/>
                <a:gd name="T47" fmla="*/ 14 h 1119"/>
                <a:gd name="T48" fmla="*/ 65 w 2183"/>
                <a:gd name="T49" fmla="*/ 16 h 1119"/>
                <a:gd name="T50" fmla="*/ 66 w 2183"/>
                <a:gd name="T51" fmla="*/ 18 h 1119"/>
                <a:gd name="T52" fmla="*/ 67 w 2183"/>
                <a:gd name="T53" fmla="*/ 19 h 1119"/>
                <a:gd name="T54" fmla="*/ 68 w 2183"/>
                <a:gd name="T55" fmla="*/ 21 h 1119"/>
                <a:gd name="T56" fmla="*/ 69 w 2183"/>
                <a:gd name="T57" fmla="*/ 25 h 1119"/>
                <a:gd name="T58" fmla="*/ 70 w 2183"/>
                <a:gd name="T59" fmla="*/ 29 h 1119"/>
                <a:gd name="T60" fmla="*/ 65 w 2183"/>
                <a:gd name="T61" fmla="*/ 33 h 1119"/>
                <a:gd name="T62" fmla="*/ 64 w 2183"/>
                <a:gd name="T63" fmla="*/ 27 h 1119"/>
                <a:gd name="T64" fmla="*/ 63 w 2183"/>
                <a:gd name="T65" fmla="*/ 23 h 1119"/>
                <a:gd name="T66" fmla="*/ 62 w 2183"/>
                <a:gd name="T67" fmla="*/ 21 h 1119"/>
                <a:gd name="T68" fmla="*/ 61 w 2183"/>
                <a:gd name="T69" fmla="*/ 20 h 1119"/>
                <a:gd name="T70" fmla="*/ 60 w 2183"/>
                <a:gd name="T71" fmla="*/ 18 h 1119"/>
                <a:gd name="T72" fmla="*/ 59 w 2183"/>
                <a:gd name="T73" fmla="*/ 17 h 1119"/>
                <a:gd name="T74" fmla="*/ 58 w 2183"/>
                <a:gd name="T75" fmla="*/ 16 h 1119"/>
                <a:gd name="T76" fmla="*/ 57 w 2183"/>
                <a:gd name="T77" fmla="*/ 14 h 1119"/>
                <a:gd name="T78" fmla="*/ 55 w 2183"/>
                <a:gd name="T79" fmla="*/ 12 h 1119"/>
                <a:gd name="T80" fmla="*/ 52 w 2183"/>
                <a:gd name="T81" fmla="*/ 10 h 1119"/>
                <a:gd name="T82" fmla="*/ 49 w 2183"/>
                <a:gd name="T83" fmla="*/ 8 h 1119"/>
                <a:gd name="T84" fmla="*/ 46 w 2183"/>
                <a:gd name="T85" fmla="*/ 7 h 1119"/>
                <a:gd name="T86" fmla="*/ 40 w 2183"/>
                <a:gd name="T87" fmla="*/ 5 h 1119"/>
                <a:gd name="T88" fmla="*/ 26 w 2183"/>
                <a:gd name="T89" fmla="*/ 6 h 1119"/>
                <a:gd name="T90" fmla="*/ 22 w 2183"/>
                <a:gd name="T91" fmla="*/ 8 h 1119"/>
                <a:gd name="T92" fmla="*/ 19 w 2183"/>
                <a:gd name="T93" fmla="*/ 10 h 1119"/>
                <a:gd name="T94" fmla="*/ 16 w 2183"/>
                <a:gd name="T95" fmla="*/ 12 h 1119"/>
                <a:gd name="T96" fmla="*/ 14 w 2183"/>
                <a:gd name="T97" fmla="*/ 14 h 1119"/>
                <a:gd name="T98" fmla="*/ 13 w 2183"/>
                <a:gd name="T99" fmla="*/ 15 h 1119"/>
                <a:gd name="T100" fmla="*/ 12 w 2183"/>
                <a:gd name="T101" fmla="*/ 17 h 1119"/>
                <a:gd name="T102" fmla="*/ 10 w 2183"/>
                <a:gd name="T103" fmla="*/ 19 h 1119"/>
                <a:gd name="T104" fmla="*/ 9 w 2183"/>
                <a:gd name="T105" fmla="*/ 20 h 1119"/>
                <a:gd name="T106" fmla="*/ 8 w 2183"/>
                <a:gd name="T107" fmla="*/ 22 h 1119"/>
                <a:gd name="T108" fmla="*/ 7 w 2183"/>
                <a:gd name="T109" fmla="*/ 25 h 1119"/>
                <a:gd name="T110" fmla="*/ 5 w 2183"/>
                <a:gd name="T111" fmla="*/ 35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26696" name="Freeform 151"/>
            <p:cNvSpPr>
              <a:spLocks/>
            </p:cNvSpPr>
            <p:nvPr/>
          </p:nvSpPr>
          <p:spPr bwMode="auto">
            <a:xfrm>
              <a:off x="4607" y="3116"/>
              <a:ext cx="278" cy="150"/>
            </a:xfrm>
            <a:custGeom>
              <a:avLst/>
              <a:gdLst>
                <a:gd name="T0" fmla="*/ 50 w 1540"/>
                <a:gd name="T1" fmla="*/ 22 h 830"/>
                <a:gd name="T2" fmla="*/ 49 w 1540"/>
                <a:gd name="T3" fmla="*/ 18 h 830"/>
                <a:gd name="T4" fmla="*/ 48 w 1540"/>
                <a:gd name="T5" fmla="*/ 15 h 830"/>
                <a:gd name="T6" fmla="*/ 48 w 1540"/>
                <a:gd name="T7" fmla="*/ 14 h 830"/>
                <a:gd name="T8" fmla="*/ 47 w 1540"/>
                <a:gd name="T9" fmla="*/ 13 h 830"/>
                <a:gd name="T10" fmla="*/ 47 w 1540"/>
                <a:gd name="T11" fmla="*/ 12 h 830"/>
                <a:gd name="T12" fmla="*/ 46 w 1540"/>
                <a:gd name="T13" fmla="*/ 12 h 830"/>
                <a:gd name="T14" fmla="*/ 46 w 1540"/>
                <a:gd name="T15" fmla="*/ 11 h 830"/>
                <a:gd name="T16" fmla="*/ 45 w 1540"/>
                <a:gd name="T17" fmla="*/ 9 h 830"/>
                <a:gd name="T18" fmla="*/ 43 w 1540"/>
                <a:gd name="T19" fmla="*/ 8 h 830"/>
                <a:gd name="T20" fmla="*/ 42 w 1540"/>
                <a:gd name="T21" fmla="*/ 7 h 830"/>
                <a:gd name="T22" fmla="*/ 41 w 1540"/>
                <a:gd name="T23" fmla="*/ 5 h 830"/>
                <a:gd name="T24" fmla="*/ 39 w 1540"/>
                <a:gd name="T25" fmla="*/ 4 h 830"/>
                <a:gd name="T26" fmla="*/ 38 w 1540"/>
                <a:gd name="T27" fmla="*/ 3 h 830"/>
                <a:gd name="T28" fmla="*/ 36 w 1540"/>
                <a:gd name="T29" fmla="*/ 3 h 830"/>
                <a:gd name="T30" fmla="*/ 34 w 1540"/>
                <a:gd name="T31" fmla="*/ 2 h 830"/>
                <a:gd name="T32" fmla="*/ 31 w 1540"/>
                <a:gd name="T33" fmla="*/ 1 h 830"/>
                <a:gd name="T34" fmla="*/ 24 w 1540"/>
                <a:gd name="T35" fmla="*/ 0 h 830"/>
                <a:gd name="T36" fmla="*/ 18 w 1540"/>
                <a:gd name="T37" fmla="*/ 1 h 830"/>
                <a:gd name="T38" fmla="*/ 15 w 1540"/>
                <a:gd name="T39" fmla="*/ 2 h 830"/>
                <a:gd name="T40" fmla="*/ 13 w 1540"/>
                <a:gd name="T41" fmla="*/ 3 h 830"/>
                <a:gd name="T42" fmla="*/ 11 w 1540"/>
                <a:gd name="T43" fmla="*/ 4 h 830"/>
                <a:gd name="T44" fmla="*/ 10 w 1540"/>
                <a:gd name="T45" fmla="*/ 5 h 830"/>
                <a:gd name="T46" fmla="*/ 8 w 1540"/>
                <a:gd name="T47" fmla="*/ 7 h 830"/>
                <a:gd name="T48" fmla="*/ 7 w 1540"/>
                <a:gd name="T49" fmla="*/ 8 h 830"/>
                <a:gd name="T50" fmla="*/ 6 w 1540"/>
                <a:gd name="T51" fmla="*/ 9 h 830"/>
                <a:gd name="T52" fmla="*/ 5 w 1540"/>
                <a:gd name="T53" fmla="*/ 10 h 830"/>
                <a:gd name="T54" fmla="*/ 4 w 1540"/>
                <a:gd name="T55" fmla="*/ 12 h 830"/>
                <a:gd name="T56" fmla="*/ 3 w 1540"/>
                <a:gd name="T57" fmla="*/ 13 h 830"/>
                <a:gd name="T58" fmla="*/ 3 w 1540"/>
                <a:gd name="T59" fmla="*/ 14 h 830"/>
                <a:gd name="T60" fmla="*/ 2 w 1540"/>
                <a:gd name="T61" fmla="*/ 14 h 830"/>
                <a:gd name="T62" fmla="*/ 1 w 1540"/>
                <a:gd name="T63" fmla="*/ 17 h 830"/>
                <a:gd name="T64" fmla="*/ 0 w 1540"/>
                <a:gd name="T65" fmla="*/ 21 h 830"/>
                <a:gd name="T66" fmla="*/ 0 w 1540"/>
                <a:gd name="T67" fmla="*/ 27 h 830"/>
                <a:gd name="T68" fmla="*/ 5 w 1540"/>
                <a:gd name="T69" fmla="*/ 23 h 830"/>
                <a:gd name="T70" fmla="*/ 6 w 1540"/>
                <a:gd name="T71" fmla="*/ 20 h 830"/>
                <a:gd name="T72" fmla="*/ 7 w 1540"/>
                <a:gd name="T73" fmla="*/ 17 h 830"/>
                <a:gd name="T74" fmla="*/ 8 w 1540"/>
                <a:gd name="T75" fmla="*/ 16 h 830"/>
                <a:gd name="T76" fmla="*/ 8 w 1540"/>
                <a:gd name="T77" fmla="*/ 14 h 830"/>
                <a:gd name="T78" fmla="*/ 9 w 1540"/>
                <a:gd name="T79" fmla="*/ 13 h 830"/>
                <a:gd name="T80" fmla="*/ 10 w 1540"/>
                <a:gd name="T81" fmla="*/ 12 h 830"/>
                <a:gd name="T82" fmla="*/ 11 w 1540"/>
                <a:gd name="T83" fmla="*/ 11 h 830"/>
                <a:gd name="T84" fmla="*/ 12 w 1540"/>
                <a:gd name="T85" fmla="*/ 10 h 830"/>
                <a:gd name="T86" fmla="*/ 13 w 1540"/>
                <a:gd name="T87" fmla="*/ 9 h 830"/>
                <a:gd name="T88" fmla="*/ 14 w 1540"/>
                <a:gd name="T89" fmla="*/ 8 h 830"/>
                <a:gd name="T90" fmla="*/ 16 w 1540"/>
                <a:gd name="T91" fmla="*/ 7 h 830"/>
                <a:gd name="T92" fmla="*/ 19 w 1540"/>
                <a:gd name="T93" fmla="*/ 6 h 830"/>
                <a:gd name="T94" fmla="*/ 21 w 1540"/>
                <a:gd name="T95" fmla="*/ 5 h 830"/>
                <a:gd name="T96" fmla="*/ 31 w 1540"/>
                <a:gd name="T97" fmla="*/ 6 h 830"/>
                <a:gd name="T98" fmla="*/ 34 w 1540"/>
                <a:gd name="T99" fmla="*/ 7 h 830"/>
                <a:gd name="T100" fmla="*/ 36 w 1540"/>
                <a:gd name="T101" fmla="*/ 8 h 830"/>
                <a:gd name="T102" fmla="*/ 37 w 1540"/>
                <a:gd name="T103" fmla="*/ 9 h 830"/>
                <a:gd name="T104" fmla="*/ 38 w 1540"/>
                <a:gd name="T105" fmla="*/ 10 h 830"/>
                <a:gd name="T106" fmla="*/ 39 w 1540"/>
                <a:gd name="T107" fmla="*/ 11 h 830"/>
                <a:gd name="T108" fmla="*/ 40 w 1540"/>
                <a:gd name="T109" fmla="*/ 12 h 830"/>
                <a:gd name="T110" fmla="*/ 41 w 1540"/>
                <a:gd name="T111" fmla="*/ 13 h 830"/>
                <a:gd name="T112" fmla="*/ 42 w 1540"/>
                <a:gd name="T113" fmla="*/ 14 h 830"/>
                <a:gd name="T114" fmla="*/ 43 w 1540"/>
                <a:gd name="T115" fmla="*/ 16 h 830"/>
                <a:gd name="T116" fmla="*/ 44 w 1540"/>
                <a:gd name="T117" fmla="*/ 17 h 830"/>
                <a:gd name="T118" fmla="*/ 45 w 1540"/>
                <a:gd name="T119" fmla="*/ 23 h 830"/>
                <a:gd name="T120" fmla="*/ 50 w 1540"/>
                <a:gd name="T121" fmla="*/ 27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sp>
          <p:nvSpPr>
            <p:cNvPr id="26697" name="Freeform 152"/>
            <p:cNvSpPr>
              <a:spLocks/>
            </p:cNvSpPr>
            <p:nvPr/>
          </p:nvSpPr>
          <p:spPr bwMode="auto">
            <a:xfrm>
              <a:off x="4506" y="3398"/>
              <a:ext cx="481" cy="198"/>
            </a:xfrm>
            <a:custGeom>
              <a:avLst/>
              <a:gdLst>
                <a:gd name="T0" fmla="*/ 0 w 2668"/>
                <a:gd name="T1" fmla="*/ 36 h 1093"/>
                <a:gd name="T2" fmla="*/ 0 w 2668"/>
                <a:gd name="T3" fmla="*/ 0 h 1093"/>
                <a:gd name="T4" fmla="*/ 87 w 2668"/>
                <a:gd name="T5" fmla="*/ 0 h 1093"/>
                <a:gd name="T6" fmla="*/ 87 w 2668"/>
                <a:gd name="T7" fmla="*/ 36 h 1093"/>
                <a:gd name="T8" fmla="*/ 79 w 2668"/>
                <a:gd name="T9" fmla="*/ 36 h 1093"/>
                <a:gd name="T10" fmla="*/ 79 w 2668"/>
                <a:gd name="T11" fmla="*/ 8 h 1093"/>
                <a:gd name="T12" fmla="*/ 8 w 2668"/>
                <a:gd name="T13" fmla="*/ 8 h 1093"/>
                <a:gd name="T14" fmla="*/ 8 w 2668"/>
                <a:gd name="T15" fmla="*/ 36 h 1093"/>
                <a:gd name="T16" fmla="*/ 0 w 2668"/>
                <a:gd name="T17" fmla="*/ 36 h 1093"/>
                <a:gd name="T18" fmla="*/ 0 w 2668"/>
                <a:gd name="T19" fmla="*/ 36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26698" name="Freeform 153"/>
            <p:cNvSpPr>
              <a:spLocks/>
            </p:cNvSpPr>
            <p:nvPr/>
          </p:nvSpPr>
          <p:spPr bwMode="auto">
            <a:xfrm>
              <a:off x="4506" y="3596"/>
              <a:ext cx="481" cy="240"/>
            </a:xfrm>
            <a:custGeom>
              <a:avLst/>
              <a:gdLst>
                <a:gd name="T0" fmla="*/ 86 w 2668"/>
                <a:gd name="T1" fmla="*/ 9 h 1334"/>
                <a:gd name="T2" fmla="*/ 84 w 2668"/>
                <a:gd name="T3" fmla="*/ 14 h 1334"/>
                <a:gd name="T4" fmla="*/ 83 w 2668"/>
                <a:gd name="T5" fmla="*/ 18 h 1334"/>
                <a:gd name="T6" fmla="*/ 82 w 2668"/>
                <a:gd name="T7" fmla="*/ 20 h 1334"/>
                <a:gd name="T8" fmla="*/ 80 w 2668"/>
                <a:gd name="T9" fmla="*/ 22 h 1334"/>
                <a:gd name="T10" fmla="*/ 79 w 2668"/>
                <a:gd name="T11" fmla="*/ 24 h 1334"/>
                <a:gd name="T12" fmla="*/ 78 w 2668"/>
                <a:gd name="T13" fmla="*/ 27 h 1334"/>
                <a:gd name="T14" fmla="*/ 76 w 2668"/>
                <a:gd name="T15" fmla="*/ 29 h 1334"/>
                <a:gd name="T16" fmla="*/ 74 w 2668"/>
                <a:gd name="T17" fmla="*/ 30 h 1334"/>
                <a:gd name="T18" fmla="*/ 72 w 2668"/>
                <a:gd name="T19" fmla="*/ 32 h 1334"/>
                <a:gd name="T20" fmla="*/ 70 w 2668"/>
                <a:gd name="T21" fmla="*/ 34 h 1334"/>
                <a:gd name="T22" fmla="*/ 68 w 2668"/>
                <a:gd name="T23" fmla="*/ 35 h 1334"/>
                <a:gd name="T24" fmla="*/ 66 w 2668"/>
                <a:gd name="T25" fmla="*/ 37 h 1334"/>
                <a:gd name="T26" fmla="*/ 63 w 2668"/>
                <a:gd name="T27" fmla="*/ 38 h 1334"/>
                <a:gd name="T28" fmla="*/ 59 w 2668"/>
                <a:gd name="T29" fmla="*/ 40 h 1334"/>
                <a:gd name="T30" fmla="*/ 54 w 2668"/>
                <a:gd name="T31" fmla="*/ 42 h 1334"/>
                <a:gd name="T32" fmla="*/ 43 w 2668"/>
                <a:gd name="T33" fmla="*/ 43 h 1334"/>
                <a:gd name="T34" fmla="*/ 30 w 2668"/>
                <a:gd name="T35" fmla="*/ 41 h 1334"/>
                <a:gd name="T36" fmla="*/ 26 w 2668"/>
                <a:gd name="T37" fmla="*/ 39 h 1334"/>
                <a:gd name="T38" fmla="*/ 22 w 2668"/>
                <a:gd name="T39" fmla="*/ 37 h 1334"/>
                <a:gd name="T40" fmla="*/ 19 w 2668"/>
                <a:gd name="T41" fmla="*/ 36 h 1334"/>
                <a:gd name="T42" fmla="*/ 17 w 2668"/>
                <a:gd name="T43" fmla="*/ 35 h 1334"/>
                <a:gd name="T44" fmla="*/ 15 w 2668"/>
                <a:gd name="T45" fmla="*/ 33 h 1334"/>
                <a:gd name="T46" fmla="*/ 14 w 2668"/>
                <a:gd name="T47" fmla="*/ 31 h 1334"/>
                <a:gd name="T48" fmla="*/ 12 w 2668"/>
                <a:gd name="T49" fmla="*/ 30 h 1334"/>
                <a:gd name="T50" fmla="*/ 10 w 2668"/>
                <a:gd name="T51" fmla="*/ 28 h 1334"/>
                <a:gd name="T52" fmla="*/ 8 w 2668"/>
                <a:gd name="T53" fmla="*/ 26 h 1334"/>
                <a:gd name="T54" fmla="*/ 7 w 2668"/>
                <a:gd name="T55" fmla="*/ 23 h 1334"/>
                <a:gd name="T56" fmla="*/ 5 w 2668"/>
                <a:gd name="T57" fmla="*/ 21 h 1334"/>
                <a:gd name="T58" fmla="*/ 4 w 2668"/>
                <a:gd name="T59" fmla="*/ 19 h 1334"/>
                <a:gd name="T60" fmla="*/ 3 w 2668"/>
                <a:gd name="T61" fmla="*/ 16 h 1334"/>
                <a:gd name="T62" fmla="*/ 1 w 2668"/>
                <a:gd name="T63" fmla="*/ 11 h 1334"/>
                <a:gd name="T64" fmla="*/ 0 w 2668"/>
                <a:gd name="T65" fmla="*/ 0 h 1334"/>
                <a:gd name="T66" fmla="*/ 9 w 2668"/>
                <a:gd name="T67" fmla="*/ 8 h 1334"/>
                <a:gd name="T68" fmla="*/ 10 w 2668"/>
                <a:gd name="T69" fmla="*/ 12 h 1334"/>
                <a:gd name="T70" fmla="*/ 11 w 2668"/>
                <a:gd name="T71" fmla="*/ 15 h 1334"/>
                <a:gd name="T72" fmla="*/ 12 w 2668"/>
                <a:gd name="T73" fmla="*/ 17 h 1334"/>
                <a:gd name="T74" fmla="*/ 13 w 2668"/>
                <a:gd name="T75" fmla="*/ 19 h 1334"/>
                <a:gd name="T76" fmla="*/ 14 w 2668"/>
                <a:gd name="T77" fmla="*/ 21 h 1334"/>
                <a:gd name="T78" fmla="*/ 16 w 2668"/>
                <a:gd name="T79" fmla="*/ 22 h 1334"/>
                <a:gd name="T80" fmla="*/ 17 w 2668"/>
                <a:gd name="T81" fmla="*/ 24 h 1334"/>
                <a:gd name="T82" fmla="*/ 19 w 2668"/>
                <a:gd name="T83" fmla="*/ 25 h 1334"/>
                <a:gd name="T84" fmla="*/ 20 w 2668"/>
                <a:gd name="T85" fmla="*/ 27 h 1334"/>
                <a:gd name="T86" fmla="*/ 22 w 2668"/>
                <a:gd name="T87" fmla="*/ 28 h 1334"/>
                <a:gd name="T88" fmla="*/ 24 w 2668"/>
                <a:gd name="T89" fmla="*/ 29 h 1334"/>
                <a:gd name="T90" fmla="*/ 27 w 2668"/>
                <a:gd name="T91" fmla="*/ 31 h 1334"/>
                <a:gd name="T92" fmla="*/ 31 w 2668"/>
                <a:gd name="T93" fmla="*/ 33 h 1334"/>
                <a:gd name="T94" fmla="*/ 36 w 2668"/>
                <a:gd name="T95" fmla="*/ 35 h 1334"/>
                <a:gd name="T96" fmla="*/ 50 w 2668"/>
                <a:gd name="T97" fmla="*/ 35 h 1334"/>
                <a:gd name="T98" fmla="*/ 56 w 2668"/>
                <a:gd name="T99" fmla="*/ 33 h 1334"/>
                <a:gd name="T100" fmla="*/ 60 w 2668"/>
                <a:gd name="T101" fmla="*/ 31 h 1334"/>
                <a:gd name="T102" fmla="*/ 64 w 2668"/>
                <a:gd name="T103" fmla="*/ 29 h 1334"/>
                <a:gd name="T104" fmla="*/ 66 w 2668"/>
                <a:gd name="T105" fmla="*/ 27 h 1334"/>
                <a:gd name="T106" fmla="*/ 67 w 2668"/>
                <a:gd name="T107" fmla="*/ 26 h 1334"/>
                <a:gd name="T108" fmla="*/ 69 w 2668"/>
                <a:gd name="T109" fmla="*/ 24 h 1334"/>
                <a:gd name="T110" fmla="*/ 70 w 2668"/>
                <a:gd name="T111" fmla="*/ 23 h 1334"/>
                <a:gd name="T112" fmla="*/ 72 w 2668"/>
                <a:gd name="T113" fmla="*/ 21 h 1334"/>
                <a:gd name="T114" fmla="*/ 73 w 2668"/>
                <a:gd name="T115" fmla="*/ 19 h 1334"/>
                <a:gd name="T116" fmla="*/ 74 w 2668"/>
                <a:gd name="T117" fmla="*/ 18 h 1334"/>
                <a:gd name="T118" fmla="*/ 75 w 2668"/>
                <a:gd name="T119" fmla="*/ 16 h 1334"/>
                <a:gd name="T120" fmla="*/ 76 w 2668"/>
                <a:gd name="T121" fmla="*/ 14 h 1334"/>
                <a:gd name="T122" fmla="*/ 78 w 2668"/>
                <a:gd name="T123" fmla="*/ 10 h 1334"/>
                <a:gd name="T124" fmla="*/ 79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26699" name="Freeform 154"/>
            <p:cNvSpPr>
              <a:spLocks/>
            </p:cNvSpPr>
            <p:nvPr/>
          </p:nvSpPr>
          <p:spPr bwMode="auto">
            <a:xfrm>
              <a:off x="4697" y="3617"/>
              <a:ext cx="95" cy="109"/>
            </a:xfrm>
            <a:custGeom>
              <a:avLst/>
              <a:gdLst>
                <a:gd name="T0" fmla="*/ 0 w 529"/>
                <a:gd name="T1" fmla="*/ 20 h 606"/>
                <a:gd name="T2" fmla="*/ 17 w 529"/>
                <a:gd name="T3" fmla="*/ 20 h 606"/>
                <a:gd name="T4" fmla="*/ 15 w 529"/>
                <a:gd name="T5" fmla="*/ 2 h 606"/>
                <a:gd name="T6" fmla="*/ 11 w 529"/>
                <a:gd name="T7" fmla="*/ 0 h 606"/>
                <a:gd name="T8" fmla="*/ 13 w 529"/>
                <a:gd name="T9" fmla="*/ 16 h 606"/>
                <a:gd name="T10" fmla="*/ 5 w 529"/>
                <a:gd name="T11" fmla="*/ 16 h 606"/>
                <a:gd name="T12" fmla="*/ 7 w 529"/>
                <a:gd name="T13" fmla="*/ 0 h 606"/>
                <a:gd name="T14" fmla="*/ 3 w 529"/>
                <a:gd name="T15" fmla="*/ 2 h 606"/>
                <a:gd name="T16" fmla="*/ 0 w 529"/>
                <a:gd name="T17" fmla="*/ 20 h 606"/>
                <a:gd name="T18" fmla="*/ 0 w 529"/>
                <a:gd name="T19" fmla="*/ 2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26700" name="Freeform 155"/>
            <p:cNvSpPr>
              <a:spLocks/>
            </p:cNvSpPr>
            <p:nvPr/>
          </p:nvSpPr>
          <p:spPr bwMode="auto">
            <a:xfrm>
              <a:off x="4693" y="3529"/>
              <a:ext cx="110" cy="100"/>
            </a:xfrm>
            <a:custGeom>
              <a:avLst/>
              <a:gdLst>
                <a:gd name="T0" fmla="*/ 13 w 613"/>
                <a:gd name="T1" fmla="*/ 15 h 551"/>
                <a:gd name="T2" fmla="*/ 14 w 613"/>
                <a:gd name="T3" fmla="*/ 15 h 551"/>
                <a:gd name="T4" fmla="*/ 15 w 613"/>
                <a:gd name="T5" fmla="*/ 14 h 551"/>
                <a:gd name="T6" fmla="*/ 15 w 613"/>
                <a:gd name="T7" fmla="*/ 13 h 551"/>
                <a:gd name="T8" fmla="*/ 16 w 613"/>
                <a:gd name="T9" fmla="*/ 10 h 551"/>
                <a:gd name="T10" fmla="*/ 16 w 613"/>
                <a:gd name="T11" fmla="*/ 8 h 551"/>
                <a:gd name="T12" fmla="*/ 15 w 613"/>
                <a:gd name="T13" fmla="*/ 7 h 551"/>
                <a:gd name="T14" fmla="*/ 15 w 613"/>
                <a:gd name="T15" fmla="*/ 7 h 551"/>
                <a:gd name="T16" fmla="*/ 15 w 613"/>
                <a:gd name="T17" fmla="*/ 6 h 551"/>
                <a:gd name="T18" fmla="*/ 14 w 613"/>
                <a:gd name="T19" fmla="*/ 5 h 551"/>
                <a:gd name="T20" fmla="*/ 13 w 613"/>
                <a:gd name="T21" fmla="*/ 5 h 551"/>
                <a:gd name="T22" fmla="*/ 11 w 613"/>
                <a:gd name="T23" fmla="*/ 4 h 551"/>
                <a:gd name="T24" fmla="*/ 7 w 613"/>
                <a:gd name="T25" fmla="*/ 5 h 551"/>
                <a:gd name="T26" fmla="*/ 6 w 613"/>
                <a:gd name="T27" fmla="*/ 6 h 551"/>
                <a:gd name="T28" fmla="*/ 5 w 613"/>
                <a:gd name="T29" fmla="*/ 7 h 551"/>
                <a:gd name="T30" fmla="*/ 4 w 613"/>
                <a:gd name="T31" fmla="*/ 7 h 551"/>
                <a:gd name="T32" fmla="*/ 4 w 613"/>
                <a:gd name="T33" fmla="*/ 9 h 551"/>
                <a:gd name="T34" fmla="*/ 4 w 613"/>
                <a:gd name="T35" fmla="*/ 12 h 551"/>
                <a:gd name="T36" fmla="*/ 4 w 613"/>
                <a:gd name="T37" fmla="*/ 13 h 551"/>
                <a:gd name="T38" fmla="*/ 5 w 613"/>
                <a:gd name="T39" fmla="*/ 14 h 551"/>
                <a:gd name="T40" fmla="*/ 5 w 613"/>
                <a:gd name="T41" fmla="*/ 14 h 551"/>
                <a:gd name="T42" fmla="*/ 6 w 613"/>
                <a:gd name="T43" fmla="*/ 15 h 551"/>
                <a:gd name="T44" fmla="*/ 6 w 613"/>
                <a:gd name="T45" fmla="*/ 15 h 551"/>
                <a:gd name="T46" fmla="*/ 7 w 613"/>
                <a:gd name="T47" fmla="*/ 16 h 551"/>
                <a:gd name="T48" fmla="*/ 3 w 613"/>
                <a:gd name="T49" fmla="*/ 18 h 551"/>
                <a:gd name="T50" fmla="*/ 3 w 613"/>
                <a:gd name="T51" fmla="*/ 17 h 551"/>
                <a:gd name="T52" fmla="*/ 2 w 613"/>
                <a:gd name="T53" fmla="*/ 16 h 551"/>
                <a:gd name="T54" fmla="*/ 1 w 613"/>
                <a:gd name="T55" fmla="*/ 15 h 551"/>
                <a:gd name="T56" fmla="*/ 0 w 613"/>
                <a:gd name="T57" fmla="*/ 13 h 551"/>
                <a:gd name="T58" fmla="*/ 0 w 613"/>
                <a:gd name="T59" fmla="*/ 9 h 551"/>
                <a:gd name="T60" fmla="*/ 1 w 613"/>
                <a:gd name="T61" fmla="*/ 7 h 551"/>
                <a:gd name="T62" fmla="*/ 1 w 613"/>
                <a:gd name="T63" fmla="*/ 6 h 551"/>
                <a:gd name="T64" fmla="*/ 1 w 613"/>
                <a:gd name="T65" fmla="*/ 5 h 551"/>
                <a:gd name="T66" fmla="*/ 2 w 613"/>
                <a:gd name="T67" fmla="*/ 4 h 551"/>
                <a:gd name="T68" fmla="*/ 3 w 613"/>
                <a:gd name="T69" fmla="*/ 3 h 551"/>
                <a:gd name="T70" fmla="*/ 3 w 613"/>
                <a:gd name="T71" fmla="*/ 2 h 551"/>
                <a:gd name="T72" fmla="*/ 4 w 613"/>
                <a:gd name="T73" fmla="*/ 2 h 551"/>
                <a:gd name="T74" fmla="*/ 5 w 613"/>
                <a:gd name="T75" fmla="*/ 1 h 551"/>
                <a:gd name="T76" fmla="*/ 6 w 613"/>
                <a:gd name="T77" fmla="*/ 1 h 551"/>
                <a:gd name="T78" fmla="*/ 8 w 613"/>
                <a:gd name="T79" fmla="*/ 0 h 551"/>
                <a:gd name="T80" fmla="*/ 11 w 613"/>
                <a:gd name="T81" fmla="*/ 0 h 551"/>
                <a:gd name="T82" fmla="*/ 14 w 613"/>
                <a:gd name="T83" fmla="*/ 1 h 551"/>
                <a:gd name="T84" fmla="*/ 15 w 613"/>
                <a:gd name="T85" fmla="*/ 2 h 551"/>
                <a:gd name="T86" fmla="*/ 16 w 613"/>
                <a:gd name="T87" fmla="*/ 2 h 551"/>
                <a:gd name="T88" fmla="*/ 17 w 613"/>
                <a:gd name="T89" fmla="*/ 3 h 551"/>
                <a:gd name="T90" fmla="*/ 18 w 613"/>
                <a:gd name="T91" fmla="*/ 4 h 551"/>
                <a:gd name="T92" fmla="*/ 18 w 613"/>
                <a:gd name="T93" fmla="*/ 5 h 551"/>
                <a:gd name="T94" fmla="*/ 19 w 613"/>
                <a:gd name="T95" fmla="*/ 6 h 551"/>
                <a:gd name="T96" fmla="*/ 20 w 613"/>
                <a:gd name="T97" fmla="*/ 9 h 551"/>
                <a:gd name="T98" fmla="*/ 20 w 613"/>
                <a:gd name="T99" fmla="*/ 12 h 551"/>
                <a:gd name="T100" fmla="*/ 19 w 613"/>
                <a:gd name="T101" fmla="*/ 14 h 551"/>
                <a:gd name="T102" fmla="*/ 18 w 613"/>
                <a:gd name="T103" fmla="*/ 15 h 551"/>
                <a:gd name="T104" fmla="*/ 18 w 613"/>
                <a:gd name="T105" fmla="*/ 16 h 551"/>
                <a:gd name="T106" fmla="*/ 17 w 613"/>
                <a:gd name="T107" fmla="*/ 17 h 551"/>
                <a:gd name="T108" fmla="*/ 17 w 613"/>
                <a:gd name="T109" fmla="*/ 17 h 551"/>
                <a:gd name="T110" fmla="*/ 16 w 613"/>
                <a:gd name="T111" fmla="*/ 18 h 551"/>
                <a:gd name="T112" fmla="*/ 12 w 613"/>
                <a:gd name="T113" fmla="*/ 16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26701" name="Freeform 156"/>
            <p:cNvSpPr>
              <a:spLocks/>
            </p:cNvSpPr>
            <p:nvPr/>
          </p:nvSpPr>
          <p:spPr bwMode="auto">
            <a:xfrm>
              <a:off x="4576" y="3467"/>
              <a:ext cx="247" cy="285"/>
            </a:xfrm>
            <a:custGeom>
              <a:avLst/>
              <a:gdLst>
                <a:gd name="T0" fmla="*/ 1 w 1365"/>
                <a:gd name="T1" fmla="*/ 0 h 1583"/>
                <a:gd name="T2" fmla="*/ 0 w 1365"/>
                <a:gd name="T3" fmla="*/ 25 h 1583"/>
                <a:gd name="T4" fmla="*/ 1 w 1365"/>
                <a:gd name="T5" fmla="*/ 32 h 1583"/>
                <a:gd name="T6" fmla="*/ 3 w 1365"/>
                <a:gd name="T7" fmla="*/ 39 h 1583"/>
                <a:gd name="T8" fmla="*/ 6 w 1365"/>
                <a:gd name="T9" fmla="*/ 43 h 1583"/>
                <a:gd name="T10" fmla="*/ 12 w 1365"/>
                <a:gd name="T11" fmla="*/ 48 h 1583"/>
                <a:gd name="T12" fmla="*/ 17 w 1365"/>
                <a:gd name="T13" fmla="*/ 51 h 1583"/>
                <a:gd name="T14" fmla="*/ 23 w 1365"/>
                <a:gd name="T15" fmla="*/ 30 h 1583"/>
                <a:gd name="T16" fmla="*/ 18 w 1365"/>
                <a:gd name="T17" fmla="*/ 23 h 1583"/>
                <a:gd name="T18" fmla="*/ 18 w 1365"/>
                <a:gd name="T19" fmla="*/ 16 h 1583"/>
                <a:gd name="T20" fmla="*/ 20 w 1365"/>
                <a:gd name="T21" fmla="*/ 11 h 1583"/>
                <a:gd name="T22" fmla="*/ 26 w 1365"/>
                <a:gd name="T23" fmla="*/ 6 h 1583"/>
                <a:gd name="T24" fmla="*/ 33 w 1365"/>
                <a:gd name="T25" fmla="*/ 3 h 1583"/>
                <a:gd name="T26" fmla="*/ 45 w 1365"/>
                <a:gd name="T27" fmla="*/ 0 h 1583"/>
                <a:gd name="T28" fmla="*/ 1 w 1365"/>
                <a:gd name="T29" fmla="*/ 0 h 1583"/>
                <a:gd name="T30" fmla="*/ 1 w 1365"/>
                <a:gd name="T31" fmla="*/ 0 h 1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5"/>
                <a:gd name="T49" fmla="*/ 0 h 1583"/>
                <a:gd name="T50" fmla="*/ 1365 w 1365"/>
                <a:gd name="T51" fmla="*/ 1583 h 1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5" h="1583">
                  <a:moveTo>
                    <a:pt x="15" y="6"/>
                  </a:moveTo>
                  <a:lnTo>
                    <a:pt x="0" y="774"/>
                  </a:lnTo>
                  <a:lnTo>
                    <a:pt x="28" y="1000"/>
                  </a:lnTo>
                  <a:lnTo>
                    <a:pt x="91" y="1190"/>
                  </a:lnTo>
                  <a:lnTo>
                    <a:pt x="190" y="1338"/>
                  </a:lnTo>
                  <a:lnTo>
                    <a:pt x="352" y="1464"/>
                  </a:lnTo>
                  <a:lnTo>
                    <a:pt x="528" y="1583"/>
                  </a:lnTo>
                  <a:lnTo>
                    <a:pt x="698" y="922"/>
                  </a:lnTo>
                  <a:lnTo>
                    <a:pt x="563" y="703"/>
                  </a:lnTo>
                  <a:lnTo>
                    <a:pt x="549" y="492"/>
                  </a:lnTo>
                  <a:lnTo>
                    <a:pt x="627" y="338"/>
                  </a:lnTo>
                  <a:lnTo>
                    <a:pt x="781" y="190"/>
                  </a:lnTo>
                  <a:lnTo>
                    <a:pt x="992" y="91"/>
                  </a:lnTo>
                  <a:lnTo>
                    <a:pt x="1365" y="0"/>
                  </a:lnTo>
                  <a:lnTo>
                    <a:pt x="15" y="6"/>
                  </a:lnTo>
                  <a:close/>
                </a:path>
              </a:pathLst>
            </a:custGeom>
            <a:solidFill>
              <a:srgbClr val="D4D4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02" name="Freeform 157"/>
            <p:cNvSpPr>
              <a:spLocks/>
            </p:cNvSpPr>
            <p:nvPr/>
          </p:nvSpPr>
          <p:spPr bwMode="auto">
            <a:xfrm>
              <a:off x="4683" y="3460"/>
              <a:ext cx="248" cy="313"/>
            </a:xfrm>
            <a:custGeom>
              <a:avLst/>
              <a:gdLst>
                <a:gd name="T0" fmla="*/ 23 w 1373"/>
                <a:gd name="T1" fmla="*/ 14 h 1733"/>
                <a:gd name="T2" fmla="*/ 25 w 1373"/>
                <a:gd name="T3" fmla="*/ 18 h 1733"/>
                <a:gd name="T4" fmla="*/ 26 w 1373"/>
                <a:gd name="T5" fmla="*/ 22 h 1733"/>
                <a:gd name="T6" fmla="*/ 25 w 1373"/>
                <a:gd name="T7" fmla="*/ 27 h 1733"/>
                <a:gd name="T8" fmla="*/ 20 w 1373"/>
                <a:gd name="T9" fmla="*/ 31 h 1733"/>
                <a:gd name="T10" fmla="*/ 23 w 1373"/>
                <a:gd name="T11" fmla="*/ 50 h 1733"/>
                <a:gd name="T12" fmla="*/ 1 w 1373"/>
                <a:gd name="T13" fmla="*/ 51 h 1733"/>
                <a:gd name="T14" fmla="*/ 0 w 1373"/>
                <a:gd name="T15" fmla="*/ 53 h 1733"/>
                <a:gd name="T16" fmla="*/ 5 w 1373"/>
                <a:gd name="T17" fmla="*/ 55 h 1733"/>
                <a:gd name="T18" fmla="*/ 10 w 1373"/>
                <a:gd name="T19" fmla="*/ 57 h 1733"/>
                <a:gd name="T20" fmla="*/ 16 w 1373"/>
                <a:gd name="T21" fmla="*/ 56 h 1733"/>
                <a:gd name="T22" fmla="*/ 22 w 1373"/>
                <a:gd name="T23" fmla="*/ 54 h 1733"/>
                <a:gd name="T24" fmla="*/ 29 w 1373"/>
                <a:gd name="T25" fmla="*/ 52 h 1733"/>
                <a:gd name="T26" fmla="*/ 35 w 1373"/>
                <a:gd name="T27" fmla="*/ 47 h 1733"/>
                <a:gd name="T28" fmla="*/ 40 w 1373"/>
                <a:gd name="T29" fmla="*/ 40 h 1733"/>
                <a:gd name="T30" fmla="*/ 44 w 1373"/>
                <a:gd name="T31" fmla="*/ 29 h 1733"/>
                <a:gd name="T32" fmla="*/ 45 w 1373"/>
                <a:gd name="T33" fmla="*/ 16 h 1733"/>
                <a:gd name="T34" fmla="*/ 44 w 1373"/>
                <a:gd name="T35" fmla="*/ 0 h 1733"/>
                <a:gd name="T36" fmla="*/ 28 w 1373"/>
                <a:gd name="T37" fmla="*/ 1 h 1733"/>
                <a:gd name="T38" fmla="*/ 19 w 1373"/>
                <a:gd name="T39" fmla="*/ 4 h 1733"/>
                <a:gd name="T40" fmla="*/ 13 w 1373"/>
                <a:gd name="T41" fmla="*/ 7 h 1733"/>
                <a:gd name="T42" fmla="*/ 7 w 1373"/>
                <a:gd name="T43" fmla="*/ 9 h 1733"/>
                <a:gd name="T44" fmla="*/ 3 w 1373"/>
                <a:gd name="T45" fmla="*/ 13 h 1733"/>
                <a:gd name="T46" fmla="*/ 9 w 1373"/>
                <a:gd name="T47" fmla="*/ 10 h 1733"/>
                <a:gd name="T48" fmla="*/ 15 w 1373"/>
                <a:gd name="T49" fmla="*/ 10 h 1733"/>
                <a:gd name="T50" fmla="*/ 20 w 1373"/>
                <a:gd name="T51" fmla="*/ 11 h 1733"/>
                <a:gd name="T52" fmla="*/ 23 w 1373"/>
                <a:gd name="T53" fmla="*/ 14 h 1733"/>
                <a:gd name="T54" fmla="*/ 23 w 1373"/>
                <a:gd name="T55" fmla="*/ 14 h 17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73"/>
                <a:gd name="T85" fmla="*/ 0 h 1733"/>
                <a:gd name="T86" fmla="*/ 1373 w 1373"/>
                <a:gd name="T87" fmla="*/ 1733 h 17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73" h="1733">
                  <a:moveTo>
                    <a:pt x="696" y="424"/>
                  </a:moveTo>
                  <a:lnTo>
                    <a:pt x="767" y="549"/>
                  </a:lnTo>
                  <a:lnTo>
                    <a:pt x="788" y="684"/>
                  </a:lnTo>
                  <a:lnTo>
                    <a:pt x="753" y="831"/>
                  </a:lnTo>
                  <a:lnTo>
                    <a:pt x="626" y="966"/>
                  </a:lnTo>
                  <a:lnTo>
                    <a:pt x="711" y="1543"/>
                  </a:lnTo>
                  <a:lnTo>
                    <a:pt x="21" y="1557"/>
                  </a:lnTo>
                  <a:lnTo>
                    <a:pt x="0" y="1627"/>
                  </a:lnTo>
                  <a:lnTo>
                    <a:pt x="149" y="1697"/>
                  </a:lnTo>
                  <a:lnTo>
                    <a:pt x="318" y="1733"/>
                  </a:lnTo>
                  <a:lnTo>
                    <a:pt x="493" y="1711"/>
                  </a:lnTo>
                  <a:lnTo>
                    <a:pt x="670" y="1669"/>
                  </a:lnTo>
                  <a:lnTo>
                    <a:pt x="873" y="1598"/>
                  </a:lnTo>
                  <a:lnTo>
                    <a:pt x="1077" y="1450"/>
                  </a:lnTo>
                  <a:lnTo>
                    <a:pt x="1238" y="1213"/>
                  </a:lnTo>
                  <a:lnTo>
                    <a:pt x="1350" y="874"/>
                  </a:lnTo>
                  <a:lnTo>
                    <a:pt x="1373" y="494"/>
                  </a:lnTo>
                  <a:lnTo>
                    <a:pt x="1350" y="0"/>
                  </a:lnTo>
                  <a:lnTo>
                    <a:pt x="858" y="36"/>
                  </a:lnTo>
                  <a:lnTo>
                    <a:pt x="576" y="127"/>
                  </a:lnTo>
                  <a:lnTo>
                    <a:pt x="401" y="198"/>
                  </a:lnTo>
                  <a:lnTo>
                    <a:pt x="219" y="289"/>
                  </a:lnTo>
                  <a:lnTo>
                    <a:pt x="86" y="401"/>
                  </a:lnTo>
                  <a:lnTo>
                    <a:pt x="274" y="317"/>
                  </a:lnTo>
                  <a:lnTo>
                    <a:pt x="459" y="297"/>
                  </a:lnTo>
                  <a:lnTo>
                    <a:pt x="605" y="346"/>
                  </a:lnTo>
                  <a:lnTo>
                    <a:pt x="696" y="424"/>
                  </a:lnTo>
                  <a:close/>
                </a:path>
              </a:pathLst>
            </a:custGeom>
            <a:solidFill>
              <a:srgbClr val="7878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6664" name="Group 158"/>
          <p:cNvGrpSpPr>
            <a:grpSpLocks/>
          </p:cNvGrpSpPr>
          <p:nvPr/>
        </p:nvGrpSpPr>
        <p:grpSpPr bwMode="auto">
          <a:xfrm>
            <a:off x="8474075" y="1541463"/>
            <a:ext cx="407988" cy="655637"/>
            <a:chOff x="4506" y="3057"/>
            <a:chExt cx="488" cy="786"/>
          </a:xfrm>
        </p:grpSpPr>
        <p:sp>
          <p:nvSpPr>
            <p:cNvPr id="26665" name="AutoShape 159"/>
            <p:cNvSpPr>
              <a:spLocks noChangeAspect="1" noChangeArrowheads="1" noTextEdit="1"/>
            </p:cNvSpPr>
            <p:nvPr/>
          </p:nvSpPr>
          <p:spPr bwMode="auto">
            <a:xfrm>
              <a:off x="4506" y="3057"/>
              <a:ext cx="488" cy="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666" name="Freeform 160"/>
            <p:cNvSpPr>
              <a:spLocks/>
            </p:cNvSpPr>
            <p:nvPr/>
          </p:nvSpPr>
          <p:spPr bwMode="auto">
            <a:xfrm>
              <a:off x="4585" y="3083"/>
              <a:ext cx="292" cy="325"/>
            </a:xfrm>
            <a:custGeom>
              <a:avLst/>
              <a:gdLst>
                <a:gd name="T0" fmla="*/ 8 w 1619"/>
                <a:gd name="T1" fmla="*/ 58 h 1804"/>
                <a:gd name="T2" fmla="*/ 0 w 1619"/>
                <a:gd name="T3" fmla="*/ 59 h 1804"/>
                <a:gd name="T4" fmla="*/ 1 w 1619"/>
                <a:gd name="T5" fmla="*/ 22 h 1804"/>
                <a:gd name="T6" fmla="*/ 6 w 1619"/>
                <a:gd name="T7" fmla="*/ 10 h 1804"/>
                <a:gd name="T8" fmla="*/ 15 w 1619"/>
                <a:gd name="T9" fmla="*/ 4 h 1804"/>
                <a:gd name="T10" fmla="*/ 25 w 1619"/>
                <a:gd name="T11" fmla="*/ 1 h 1804"/>
                <a:gd name="T12" fmla="*/ 33 w 1619"/>
                <a:gd name="T13" fmla="*/ 0 h 1804"/>
                <a:gd name="T14" fmla="*/ 42 w 1619"/>
                <a:gd name="T15" fmla="*/ 5 h 1804"/>
                <a:gd name="T16" fmla="*/ 47 w 1619"/>
                <a:gd name="T17" fmla="*/ 11 h 1804"/>
                <a:gd name="T18" fmla="*/ 53 w 1619"/>
                <a:gd name="T19" fmla="*/ 25 h 1804"/>
                <a:gd name="T20" fmla="*/ 42 w 1619"/>
                <a:gd name="T21" fmla="*/ 10 h 1804"/>
                <a:gd name="T22" fmla="*/ 31 w 1619"/>
                <a:gd name="T23" fmla="*/ 8 h 1804"/>
                <a:gd name="T24" fmla="*/ 18 w 1619"/>
                <a:gd name="T25" fmla="*/ 11 h 1804"/>
                <a:gd name="T26" fmla="*/ 12 w 1619"/>
                <a:gd name="T27" fmla="*/ 17 h 1804"/>
                <a:gd name="T28" fmla="*/ 8 w 1619"/>
                <a:gd name="T29" fmla="*/ 24 h 1804"/>
                <a:gd name="T30" fmla="*/ 8 w 1619"/>
                <a:gd name="T31" fmla="*/ 35 h 1804"/>
                <a:gd name="T32" fmla="*/ 8 w 1619"/>
                <a:gd name="T33" fmla="*/ 58 h 1804"/>
                <a:gd name="T34" fmla="*/ 8 w 1619"/>
                <a:gd name="T35" fmla="*/ 58 h 18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619"/>
                <a:gd name="T55" fmla="*/ 0 h 1804"/>
                <a:gd name="T56" fmla="*/ 1619 w 1619"/>
                <a:gd name="T57" fmla="*/ 1804 h 18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619" h="1804">
                  <a:moveTo>
                    <a:pt x="232" y="1796"/>
                  </a:moveTo>
                  <a:lnTo>
                    <a:pt x="0" y="1804"/>
                  </a:lnTo>
                  <a:lnTo>
                    <a:pt x="21" y="669"/>
                  </a:lnTo>
                  <a:lnTo>
                    <a:pt x="183" y="324"/>
                  </a:lnTo>
                  <a:lnTo>
                    <a:pt x="464" y="120"/>
                  </a:lnTo>
                  <a:lnTo>
                    <a:pt x="782" y="29"/>
                  </a:lnTo>
                  <a:lnTo>
                    <a:pt x="1001" y="0"/>
                  </a:lnTo>
                  <a:lnTo>
                    <a:pt x="1303" y="149"/>
                  </a:lnTo>
                  <a:lnTo>
                    <a:pt x="1457" y="331"/>
                  </a:lnTo>
                  <a:lnTo>
                    <a:pt x="1619" y="768"/>
                  </a:lnTo>
                  <a:lnTo>
                    <a:pt x="1282" y="324"/>
                  </a:lnTo>
                  <a:lnTo>
                    <a:pt x="943" y="232"/>
                  </a:lnTo>
                  <a:lnTo>
                    <a:pt x="542" y="339"/>
                  </a:lnTo>
                  <a:lnTo>
                    <a:pt x="373" y="529"/>
                  </a:lnTo>
                  <a:lnTo>
                    <a:pt x="247" y="747"/>
                  </a:lnTo>
                  <a:lnTo>
                    <a:pt x="240" y="1078"/>
                  </a:lnTo>
                  <a:lnTo>
                    <a:pt x="232" y="1796"/>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7" name="Freeform 161"/>
            <p:cNvSpPr>
              <a:spLocks/>
            </p:cNvSpPr>
            <p:nvPr/>
          </p:nvSpPr>
          <p:spPr bwMode="auto">
            <a:xfrm>
              <a:off x="4560" y="3077"/>
              <a:ext cx="280" cy="335"/>
            </a:xfrm>
            <a:custGeom>
              <a:avLst/>
              <a:gdLst>
                <a:gd name="T0" fmla="*/ 6 w 1555"/>
                <a:gd name="T1" fmla="*/ 59 h 1859"/>
                <a:gd name="T2" fmla="*/ 6 w 1555"/>
                <a:gd name="T3" fmla="*/ 25 h 1859"/>
                <a:gd name="T4" fmla="*/ 9 w 1555"/>
                <a:gd name="T5" fmla="*/ 17 h 1859"/>
                <a:gd name="T6" fmla="*/ 14 w 1555"/>
                <a:gd name="T7" fmla="*/ 12 h 1859"/>
                <a:gd name="T8" fmla="*/ 20 w 1555"/>
                <a:gd name="T9" fmla="*/ 7 h 1859"/>
                <a:gd name="T10" fmla="*/ 27 w 1555"/>
                <a:gd name="T11" fmla="*/ 5 h 1859"/>
                <a:gd name="T12" fmla="*/ 34 w 1555"/>
                <a:gd name="T13" fmla="*/ 3 h 1859"/>
                <a:gd name="T14" fmla="*/ 39 w 1555"/>
                <a:gd name="T15" fmla="*/ 4 h 1859"/>
                <a:gd name="T16" fmla="*/ 50 w 1555"/>
                <a:gd name="T17" fmla="*/ 7 h 1859"/>
                <a:gd name="T18" fmla="*/ 43 w 1555"/>
                <a:gd name="T19" fmla="*/ 2 h 1859"/>
                <a:gd name="T20" fmla="*/ 28 w 1555"/>
                <a:gd name="T21" fmla="*/ 0 h 1859"/>
                <a:gd name="T22" fmla="*/ 12 w 1555"/>
                <a:gd name="T23" fmla="*/ 6 h 1859"/>
                <a:gd name="T24" fmla="*/ 6 w 1555"/>
                <a:gd name="T25" fmla="*/ 16 h 1859"/>
                <a:gd name="T26" fmla="*/ 1 w 1555"/>
                <a:gd name="T27" fmla="*/ 24 h 1859"/>
                <a:gd name="T28" fmla="*/ 0 w 1555"/>
                <a:gd name="T29" fmla="*/ 60 h 1859"/>
                <a:gd name="T30" fmla="*/ 6 w 1555"/>
                <a:gd name="T31" fmla="*/ 59 h 1859"/>
                <a:gd name="T32" fmla="*/ 6 w 1555"/>
                <a:gd name="T33" fmla="*/ 59 h 185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55"/>
                <a:gd name="T52" fmla="*/ 0 h 1859"/>
                <a:gd name="T53" fmla="*/ 1555 w 1555"/>
                <a:gd name="T54" fmla="*/ 1859 h 185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55" h="1859">
                  <a:moveTo>
                    <a:pt x="182" y="1802"/>
                  </a:moveTo>
                  <a:lnTo>
                    <a:pt x="197" y="753"/>
                  </a:lnTo>
                  <a:lnTo>
                    <a:pt x="289" y="513"/>
                  </a:lnTo>
                  <a:lnTo>
                    <a:pt x="437" y="358"/>
                  </a:lnTo>
                  <a:lnTo>
                    <a:pt x="619" y="224"/>
                  </a:lnTo>
                  <a:lnTo>
                    <a:pt x="836" y="147"/>
                  </a:lnTo>
                  <a:lnTo>
                    <a:pt x="1047" y="105"/>
                  </a:lnTo>
                  <a:lnTo>
                    <a:pt x="1211" y="118"/>
                  </a:lnTo>
                  <a:lnTo>
                    <a:pt x="1555" y="204"/>
                  </a:lnTo>
                  <a:lnTo>
                    <a:pt x="1329" y="55"/>
                  </a:lnTo>
                  <a:lnTo>
                    <a:pt x="872" y="0"/>
                  </a:lnTo>
                  <a:lnTo>
                    <a:pt x="380" y="196"/>
                  </a:lnTo>
                  <a:lnTo>
                    <a:pt x="182" y="500"/>
                  </a:lnTo>
                  <a:lnTo>
                    <a:pt x="36" y="745"/>
                  </a:lnTo>
                  <a:lnTo>
                    <a:pt x="0" y="1859"/>
                  </a:lnTo>
                  <a:lnTo>
                    <a:pt x="182" y="1802"/>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8" name="Freeform 162"/>
            <p:cNvSpPr>
              <a:spLocks/>
            </p:cNvSpPr>
            <p:nvPr/>
          </p:nvSpPr>
          <p:spPr bwMode="auto">
            <a:xfrm>
              <a:off x="4810" y="3100"/>
              <a:ext cx="112" cy="318"/>
            </a:xfrm>
            <a:custGeom>
              <a:avLst/>
              <a:gdLst>
                <a:gd name="T0" fmla="*/ 0 w 620"/>
                <a:gd name="T1" fmla="*/ 0 h 1767"/>
                <a:gd name="T2" fmla="*/ 9 w 620"/>
                <a:gd name="T3" fmla="*/ 10 h 1767"/>
                <a:gd name="T4" fmla="*/ 15 w 620"/>
                <a:gd name="T5" fmla="*/ 21 h 1767"/>
                <a:gd name="T6" fmla="*/ 15 w 620"/>
                <a:gd name="T7" fmla="*/ 39 h 1767"/>
                <a:gd name="T8" fmla="*/ 15 w 620"/>
                <a:gd name="T9" fmla="*/ 57 h 1767"/>
                <a:gd name="T10" fmla="*/ 20 w 620"/>
                <a:gd name="T11" fmla="*/ 56 h 1767"/>
                <a:gd name="T12" fmla="*/ 20 w 620"/>
                <a:gd name="T13" fmla="*/ 21 h 1767"/>
                <a:gd name="T14" fmla="*/ 12 w 620"/>
                <a:gd name="T15" fmla="*/ 5 h 1767"/>
                <a:gd name="T16" fmla="*/ 0 w 620"/>
                <a:gd name="T17" fmla="*/ 0 h 1767"/>
                <a:gd name="T18" fmla="*/ 0 w 620"/>
                <a:gd name="T19" fmla="*/ 0 h 176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20"/>
                <a:gd name="T31" fmla="*/ 0 h 1767"/>
                <a:gd name="T32" fmla="*/ 620 w 620"/>
                <a:gd name="T33" fmla="*/ 1767 h 176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20" h="1767">
                  <a:moveTo>
                    <a:pt x="0" y="0"/>
                  </a:moveTo>
                  <a:lnTo>
                    <a:pt x="289" y="296"/>
                  </a:lnTo>
                  <a:lnTo>
                    <a:pt x="451" y="634"/>
                  </a:lnTo>
                  <a:lnTo>
                    <a:pt x="464" y="1189"/>
                  </a:lnTo>
                  <a:lnTo>
                    <a:pt x="464" y="1767"/>
                  </a:lnTo>
                  <a:lnTo>
                    <a:pt x="620" y="1739"/>
                  </a:lnTo>
                  <a:lnTo>
                    <a:pt x="612" y="640"/>
                  </a:lnTo>
                  <a:lnTo>
                    <a:pt x="380" y="169"/>
                  </a:lnTo>
                  <a:lnTo>
                    <a:pt x="0" y="0"/>
                  </a:lnTo>
                  <a:close/>
                </a:path>
              </a:pathLst>
            </a:cu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69" name="Freeform 163"/>
            <p:cNvSpPr>
              <a:spLocks/>
            </p:cNvSpPr>
            <p:nvPr/>
          </p:nvSpPr>
          <p:spPr bwMode="auto">
            <a:xfrm>
              <a:off x="4809" y="3098"/>
              <a:ext cx="91" cy="313"/>
            </a:xfrm>
            <a:custGeom>
              <a:avLst/>
              <a:gdLst>
                <a:gd name="T0" fmla="*/ 0 w 508"/>
                <a:gd name="T1" fmla="*/ 0 h 1733"/>
                <a:gd name="T2" fmla="*/ 7 w 508"/>
                <a:gd name="T3" fmla="*/ 13 h 1733"/>
                <a:gd name="T4" fmla="*/ 11 w 508"/>
                <a:gd name="T5" fmla="*/ 27 h 1733"/>
                <a:gd name="T6" fmla="*/ 11 w 508"/>
                <a:gd name="T7" fmla="*/ 56 h 1733"/>
                <a:gd name="T8" fmla="*/ 16 w 508"/>
                <a:gd name="T9" fmla="*/ 57 h 1733"/>
                <a:gd name="T10" fmla="*/ 16 w 508"/>
                <a:gd name="T11" fmla="*/ 24 h 1733"/>
                <a:gd name="T12" fmla="*/ 15 w 508"/>
                <a:gd name="T13" fmla="*/ 18 h 1733"/>
                <a:gd name="T14" fmla="*/ 11 w 508"/>
                <a:gd name="T15" fmla="*/ 13 h 1733"/>
                <a:gd name="T16" fmla="*/ 8 w 508"/>
                <a:gd name="T17" fmla="*/ 7 h 1733"/>
                <a:gd name="T18" fmla="*/ 0 w 508"/>
                <a:gd name="T19" fmla="*/ 0 h 1733"/>
                <a:gd name="T20" fmla="*/ 0 w 508"/>
                <a:gd name="T21" fmla="*/ 0 h 17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08"/>
                <a:gd name="T34" fmla="*/ 0 h 1733"/>
                <a:gd name="T35" fmla="*/ 508 w 508"/>
                <a:gd name="T36" fmla="*/ 1733 h 17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08" h="1733">
                  <a:moveTo>
                    <a:pt x="0" y="0"/>
                  </a:moveTo>
                  <a:lnTo>
                    <a:pt x="227" y="409"/>
                  </a:lnTo>
                  <a:lnTo>
                    <a:pt x="346" y="838"/>
                  </a:lnTo>
                  <a:lnTo>
                    <a:pt x="339" y="1726"/>
                  </a:lnTo>
                  <a:lnTo>
                    <a:pt x="508" y="1733"/>
                  </a:lnTo>
                  <a:lnTo>
                    <a:pt x="493" y="726"/>
                  </a:lnTo>
                  <a:lnTo>
                    <a:pt x="451" y="549"/>
                  </a:lnTo>
                  <a:lnTo>
                    <a:pt x="360" y="388"/>
                  </a:lnTo>
                  <a:lnTo>
                    <a:pt x="255" y="226"/>
                  </a:lnTo>
                  <a:lnTo>
                    <a:pt x="0" y="0"/>
                  </a:lnTo>
                  <a:close/>
                </a:path>
              </a:pathLst>
            </a:custGeom>
            <a:solidFill>
              <a:srgbClr val="FFFF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0" name="Freeform 164"/>
            <p:cNvSpPr>
              <a:spLocks/>
            </p:cNvSpPr>
            <p:nvPr/>
          </p:nvSpPr>
          <p:spPr bwMode="auto">
            <a:xfrm>
              <a:off x="4529" y="3420"/>
              <a:ext cx="432" cy="395"/>
            </a:xfrm>
            <a:custGeom>
              <a:avLst/>
              <a:gdLst>
                <a:gd name="T0" fmla="*/ 0 w 2393"/>
                <a:gd name="T1" fmla="*/ 1 h 2189"/>
                <a:gd name="T2" fmla="*/ 1 w 2393"/>
                <a:gd name="T3" fmla="*/ 43 h 2189"/>
                <a:gd name="T4" fmla="*/ 14 w 2393"/>
                <a:gd name="T5" fmla="*/ 63 h 2189"/>
                <a:gd name="T6" fmla="*/ 39 w 2393"/>
                <a:gd name="T7" fmla="*/ 71 h 2189"/>
                <a:gd name="T8" fmla="*/ 60 w 2393"/>
                <a:gd name="T9" fmla="*/ 67 h 2189"/>
                <a:gd name="T10" fmla="*/ 74 w 2393"/>
                <a:gd name="T11" fmla="*/ 54 h 2189"/>
                <a:gd name="T12" fmla="*/ 78 w 2393"/>
                <a:gd name="T13" fmla="*/ 33 h 2189"/>
                <a:gd name="T14" fmla="*/ 77 w 2393"/>
                <a:gd name="T15" fmla="*/ 0 h 2189"/>
                <a:gd name="T16" fmla="*/ 0 w 2393"/>
                <a:gd name="T17" fmla="*/ 1 h 2189"/>
                <a:gd name="T18" fmla="*/ 0 w 2393"/>
                <a:gd name="T19" fmla="*/ 1 h 218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393"/>
                <a:gd name="T31" fmla="*/ 0 h 2189"/>
                <a:gd name="T32" fmla="*/ 2393 w 2393"/>
                <a:gd name="T33" fmla="*/ 2189 h 218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393" h="2189">
                  <a:moveTo>
                    <a:pt x="0" y="28"/>
                  </a:moveTo>
                  <a:lnTo>
                    <a:pt x="23" y="1330"/>
                  </a:lnTo>
                  <a:lnTo>
                    <a:pt x="436" y="1935"/>
                  </a:lnTo>
                  <a:lnTo>
                    <a:pt x="1204" y="2189"/>
                  </a:lnTo>
                  <a:lnTo>
                    <a:pt x="1851" y="2060"/>
                  </a:lnTo>
                  <a:lnTo>
                    <a:pt x="2259" y="1653"/>
                  </a:lnTo>
                  <a:lnTo>
                    <a:pt x="2393" y="1005"/>
                  </a:lnTo>
                  <a:lnTo>
                    <a:pt x="2366" y="0"/>
                  </a:lnTo>
                  <a:lnTo>
                    <a:pt x="0" y="28"/>
                  </a:lnTo>
                  <a:close/>
                </a:path>
              </a:pathLst>
            </a:custGeom>
            <a:solidFill>
              <a:srgbClr val="A6A6B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1" name="Freeform 165"/>
            <p:cNvSpPr>
              <a:spLocks/>
            </p:cNvSpPr>
            <p:nvPr/>
          </p:nvSpPr>
          <p:spPr bwMode="auto">
            <a:xfrm>
              <a:off x="4701" y="3541"/>
              <a:ext cx="96" cy="177"/>
            </a:xfrm>
            <a:custGeom>
              <a:avLst/>
              <a:gdLst>
                <a:gd name="T0" fmla="*/ 4 w 534"/>
                <a:gd name="T1" fmla="*/ 1 h 978"/>
                <a:gd name="T2" fmla="*/ 0 w 534"/>
                <a:gd name="T3" fmla="*/ 7 h 978"/>
                <a:gd name="T4" fmla="*/ 3 w 534"/>
                <a:gd name="T5" fmla="*/ 15 h 978"/>
                <a:gd name="T6" fmla="*/ 2 w 534"/>
                <a:gd name="T7" fmla="*/ 31 h 978"/>
                <a:gd name="T8" fmla="*/ 15 w 534"/>
                <a:gd name="T9" fmla="*/ 32 h 978"/>
                <a:gd name="T10" fmla="*/ 12 w 534"/>
                <a:gd name="T11" fmla="*/ 15 h 978"/>
                <a:gd name="T12" fmla="*/ 17 w 534"/>
                <a:gd name="T13" fmla="*/ 10 h 978"/>
                <a:gd name="T14" fmla="*/ 15 w 534"/>
                <a:gd name="T15" fmla="*/ 4 h 978"/>
                <a:gd name="T16" fmla="*/ 10 w 534"/>
                <a:gd name="T17" fmla="*/ 0 h 978"/>
                <a:gd name="T18" fmla="*/ 4 w 534"/>
                <a:gd name="T19" fmla="*/ 1 h 978"/>
                <a:gd name="T20" fmla="*/ 4 w 534"/>
                <a:gd name="T21" fmla="*/ 1 h 97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4"/>
                <a:gd name="T34" fmla="*/ 0 h 978"/>
                <a:gd name="T35" fmla="*/ 534 w 534"/>
                <a:gd name="T36" fmla="*/ 978 h 97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4" h="978">
                  <a:moveTo>
                    <a:pt x="112" y="20"/>
                  </a:moveTo>
                  <a:lnTo>
                    <a:pt x="0" y="218"/>
                  </a:lnTo>
                  <a:lnTo>
                    <a:pt x="99" y="465"/>
                  </a:lnTo>
                  <a:lnTo>
                    <a:pt x="70" y="950"/>
                  </a:lnTo>
                  <a:lnTo>
                    <a:pt x="457" y="978"/>
                  </a:lnTo>
                  <a:lnTo>
                    <a:pt x="380" y="458"/>
                  </a:lnTo>
                  <a:lnTo>
                    <a:pt x="534" y="309"/>
                  </a:lnTo>
                  <a:lnTo>
                    <a:pt x="477" y="114"/>
                  </a:lnTo>
                  <a:lnTo>
                    <a:pt x="310" y="0"/>
                  </a:lnTo>
                  <a:lnTo>
                    <a:pt x="112" y="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72" name="Freeform 166"/>
            <p:cNvSpPr>
              <a:spLocks/>
            </p:cNvSpPr>
            <p:nvPr/>
          </p:nvSpPr>
          <p:spPr bwMode="auto">
            <a:xfrm>
              <a:off x="4550" y="3266"/>
              <a:ext cx="29"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673" name="Freeform 167"/>
            <p:cNvSpPr>
              <a:spLocks/>
            </p:cNvSpPr>
            <p:nvPr/>
          </p:nvSpPr>
          <p:spPr bwMode="auto">
            <a:xfrm>
              <a:off x="4607"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674" name="Freeform 168"/>
            <p:cNvSpPr>
              <a:spLocks/>
            </p:cNvSpPr>
            <p:nvPr/>
          </p:nvSpPr>
          <p:spPr bwMode="auto">
            <a:xfrm>
              <a:off x="4914" y="3266"/>
              <a:ext cx="29" cy="175"/>
            </a:xfrm>
            <a:custGeom>
              <a:avLst/>
              <a:gdLst>
                <a:gd name="T0" fmla="*/ 0 w 166"/>
                <a:gd name="T1" fmla="*/ 0 h 972"/>
                <a:gd name="T2" fmla="*/ 0 w 166"/>
                <a:gd name="T3" fmla="*/ 32 h 972"/>
                <a:gd name="T4" fmla="*/ 5 w 166"/>
                <a:gd name="T5" fmla="*/ 32 h 972"/>
                <a:gd name="T6" fmla="*/ 5 w 166"/>
                <a:gd name="T7" fmla="*/ 0 h 972"/>
                <a:gd name="T8" fmla="*/ 0 w 166"/>
                <a:gd name="T9" fmla="*/ 0 h 972"/>
                <a:gd name="T10" fmla="*/ 0 w 166"/>
                <a:gd name="T11" fmla="*/ 0 h 972"/>
                <a:gd name="T12" fmla="*/ 0 60000 65536"/>
                <a:gd name="T13" fmla="*/ 0 60000 65536"/>
                <a:gd name="T14" fmla="*/ 0 60000 65536"/>
                <a:gd name="T15" fmla="*/ 0 60000 65536"/>
                <a:gd name="T16" fmla="*/ 0 60000 65536"/>
                <a:gd name="T17" fmla="*/ 0 60000 65536"/>
                <a:gd name="T18" fmla="*/ 0 w 166"/>
                <a:gd name="T19" fmla="*/ 0 h 972"/>
                <a:gd name="T20" fmla="*/ 166 w 166"/>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6" h="972">
                  <a:moveTo>
                    <a:pt x="0" y="0"/>
                  </a:moveTo>
                  <a:lnTo>
                    <a:pt x="0" y="972"/>
                  </a:lnTo>
                  <a:lnTo>
                    <a:pt x="166" y="972"/>
                  </a:lnTo>
                  <a:lnTo>
                    <a:pt x="166" y="0"/>
                  </a:lnTo>
                  <a:lnTo>
                    <a:pt x="0" y="0"/>
                  </a:lnTo>
                  <a:close/>
                </a:path>
              </a:pathLst>
            </a:custGeom>
            <a:solidFill>
              <a:srgbClr val="5F5F5F"/>
            </a:solidFill>
            <a:ln w="9525">
              <a:solidFill>
                <a:srgbClr val="5F5F5F"/>
              </a:solidFill>
              <a:round/>
              <a:headEnd/>
              <a:tailEnd/>
            </a:ln>
          </p:spPr>
          <p:txBody>
            <a:bodyPr/>
            <a:lstStyle/>
            <a:p>
              <a:endParaRPr lang="en-US"/>
            </a:p>
          </p:txBody>
        </p:sp>
        <p:sp>
          <p:nvSpPr>
            <p:cNvPr id="26675" name="Freeform 169"/>
            <p:cNvSpPr>
              <a:spLocks/>
            </p:cNvSpPr>
            <p:nvPr/>
          </p:nvSpPr>
          <p:spPr bwMode="auto">
            <a:xfrm>
              <a:off x="4856" y="3266"/>
              <a:ext cx="30" cy="175"/>
            </a:xfrm>
            <a:custGeom>
              <a:avLst/>
              <a:gdLst>
                <a:gd name="T0" fmla="*/ 0 w 165"/>
                <a:gd name="T1" fmla="*/ 0 h 972"/>
                <a:gd name="T2" fmla="*/ 0 w 165"/>
                <a:gd name="T3" fmla="*/ 32 h 972"/>
                <a:gd name="T4" fmla="*/ 5 w 165"/>
                <a:gd name="T5" fmla="*/ 32 h 972"/>
                <a:gd name="T6" fmla="*/ 5 w 165"/>
                <a:gd name="T7" fmla="*/ 0 h 972"/>
                <a:gd name="T8" fmla="*/ 0 w 165"/>
                <a:gd name="T9" fmla="*/ 0 h 972"/>
                <a:gd name="T10" fmla="*/ 0 w 165"/>
                <a:gd name="T11" fmla="*/ 0 h 972"/>
                <a:gd name="T12" fmla="*/ 0 60000 65536"/>
                <a:gd name="T13" fmla="*/ 0 60000 65536"/>
                <a:gd name="T14" fmla="*/ 0 60000 65536"/>
                <a:gd name="T15" fmla="*/ 0 60000 65536"/>
                <a:gd name="T16" fmla="*/ 0 60000 65536"/>
                <a:gd name="T17" fmla="*/ 0 60000 65536"/>
                <a:gd name="T18" fmla="*/ 0 w 165"/>
                <a:gd name="T19" fmla="*/ 0 h 972"/>
                <a:gd name="T20" fmla="*/ 165 w 165"/>
                <a:gd name="T21" fmla="*/ 972 h 972"/>
              </a:gdLst>
              <a:ahLst/>
              <a:cxnLst>
                <a:cxn ang="T12">
                  <a:pos x="T0" y="T1"/>
                </a:cxn>
                <a:cxn ang="T13">
                  <a:pos x="T2" y="T3"/>
                </a:cxn>
                <a:cxn ang="T14">
                  <a:pos x="T4" y="T5"/>
                </a:cxn>
                <a:cxn ang="T15">
                  <a:pos x="T6" y="T7"/>
                </a:cxn>
                <a:cxn ang="T16">
                  <a:pos x="T8" y="T9"/>
                </a:cxn>
                <a:cxn ang="T17">
                  <a:pos x="T10" y="T11"/>
                </a:cxn>
              </a:cxnLst>
              <a:rect l="T18" t="T19" r="T20" b="T21"/>
              <a:pathLst>
                <a:path w="165" h="972">
                  <a:moveTo>
                    <a:pt x="0" y="0"/>
                  </a:moveTo>
                  <a:lnTo>
                    <a:pt x="0" y="972"/>
                  </a:lnTo>
                  <a:lnTo>
                    <a:pt x="165" y="972"/>
                  </a:lnTo>
                  <a:lnTo>
                    <a:pt x="165" y="0"/>
                  </a:lnTo>
                  <a:lnTo>
                    <a:pt x="0" y="0"/>
                  </a:lnTo>
                  <a:close/>
                </a:path>
              </a:pathLst>
            </a:custGeom>
            <a:solidFill>
              <a:srgbClr val="5F5F5F"/>
            </a:solidFill>
            <a:ln w="9525">
              <a:solidFill>
                <a:srgbClr val="5F5F5F"/>
              </a:solidFill>
              <a:round/>
              <a:headEnd/>
              <a:tailEnd/>
            </a:ln>
          </p:spPr>
          <p:txBody>
            <a:bodyPr/>
            <a:lstStyle/>
            <a:p>
              <a:endParaRPr lang="en-US"/>
            </a:p>
          </p:txBody>
        </p:sp>
        <p:sp>
          <p:nvSpPr>
            <p:cNvPr id="26676" name="Freeform 170"/>
            <p:cNvSpPr>
              <a:spLocks/>
            </p:cNvSpPr>
            <p:nvPr/>
          </p:nvSpPr>
          <p:spPr bwMode="auto">
            <a:xfrm>
              <a:off x="4550" y="3064"/>
              <a:ext cx="393" cy="202"/>
            </a:xfrm>
            <a:custGeom>
              <a:avLst/>
              <a:gdLst>
                <a:gd name="T0" fmla="*/ 0 w 2183"/>
                <a:gd name="T1" fmla="*/ 31 h 1119"/>
                <a:gd name="T2" fmla="*/ 1 w 2183"/>
                <a:gd name="T3" fmla="*/ 26 h 1119"/>
                <a:gd name="T4" fmla="*/ 3 w 2183"/>
                <a:gd name="T5" fmla="*/ 22 h 1119"/>
                <a:gd name="T6" fmla="*/ 4 w 2183"/>
                <a:gd name="T7" fmla="*/ 20 h 1119"/>
                <a:gd name="T8" fmla="*/ 5 w 2183"/>
                <a:gd name="T9" fmla="*/ 18 h 1119"/>
                <a:gd name="T10" fmla="*/ 6 w 2183"/>
                <a:gd name="T11" fmla="*/ 16 h 1119"/>
                <a:gd name="T12" fmla="*/ 7 w 2183"/>
                <a:gd name="T13" fmla="*/ 14 h 1119"/>
                <a:gd name="T14" fmla="*/ 8 w 2183"/>
                <a:gd name="T15" fmla="*/ 13 h 1119"/>
                <a:gd name="T16" fmla="*/ 10 w 2183"/>
                <a:gd name="T17" fmla="*/ 11 h 1119"/>
                <a:gd name="T18" fmla="*/ 11 w 2183"/>
                <a:gd name="T19" fmla="*/ 10 h 1119"/>
                <a:gd name="T20" fmla="*/ 13 w 2183"/>
                <a:gd name="T21" fmla="*/ 8 h 1119"/>
                <a:gd name="T22" fmla="*/ 15 w 2183"/>
                <a:gd name="T23" fmla="*/ 7 h 1119"/>
                <a:gd name="T24" fmla="*/ 17 w 2183"/>
                <a:gd name="T25" fmla="*/ 5 h 1119"/>
                <a:gd name="T26" fmla="*/ 21 w 2183"/>
                <a:gd name="T27" fmla="*/ 3 h 1119"/>
                <a:gd name="T28" fmla="*/ 25 w 2183"/>
                <a:gd name="T29" fmla="*/ 2 h 1119"/>
                <a:gd name="T30" fmla="*/ 33 w 2183"/>
                <a:gd name="T31" fmla="*/ 0 h 1119"/>
                <a:gd name="T32" fmla="*/ 47 w 2183"/>
                <a:gd name="T33" fmla="*/ 2 h 1119"/>
                <a:gd name="T34" fmla="*/ 51 w 2183"/>
                <a:gd name="T35" fmla="*/ 3 h 1119"/>
                <a:gd name="T36" fmla="*/ 54 w 2183"/>
                <a:gd name="T37" fmla="*/ 6 h 1119"/>
                <a:gd name="T38" fmla="*/ 57 w 2183"/>
                <a:gd name="T39" fmla="*/ 8 h 1119"/>
                <a:gd name="T40" fmla="*/ 59 w 2183"/>
                <a:gd name="T41" fmla="*/ 9 h 1119"/>
                <a:gd name="T42" fmla="*/ 61 w 2183"/>
                <a:gd name="T43" fmla="*/ 11 h 1119"/>
                <a:gd name="T44" fmla="*/ 62 w 2183"/>
                <a:gd name="T45" fmla="*/ 12 h 1119"/>
                <a:gd name="T46" fmla="*/ 63 w 2183"/>
                <a:gd name="T47" fmla="*/ 14 h 1119"/>
                <a:gd name="T48" fmla="*/ 65 w 2183"/>
                <a:gd name="T49" fmla="*/ 16 h 1119"/>
                <a:gd name="T50" fmla="*/ 66 w 2183"/>
                <a:gd name="T51" fmla="*/ 18 h 1119"/>
                <a:gd name="T52" fmla="*/ 67 w 2183"/>
                <a:gd name="T53" fmla="*/ 19 h 1119"/>
                <a:gd name="T54" fmla="*/ 68 w 2183"/>
                <a:gd name="T55" fmla="*/ 21 h 1119"/>
                <a:gd name="T56" fmla="*/ 69 w 2183"/>
                <a:gd name="T57" fmla="*/ 25 h 1119"/>
                <a:gd name="T58" fmla="*/ 70 w 2183"/>
                <a:gd name="T59" fmla="*/ 29 h 1119"/>
                <a:gd name="T60" fmla="*/ 65 w 2183"/>
                <a:gd name="T61" fmla="*/ 33 h 1119"/>
                <a:gd name="T62" fmla="*/ 64 w 2183"/>
                <a:gd name="T63" fmla="*/ 27 h 1119"/>
                <a:gd name="T64" fmla="*/ 63 w 2183"/>
                <a:gd name="T65" fmla="*/ 23 h 1119"/>
                <a:gd name="T66" fmla="*/ 62 w 2183"/>
                <a:gd name="T67" fmla="*/ 21 h 1119"/>
                <a:gd name="T68" fmla="*/ 61 w 2183"/>
                <a:gd name="T69" fmla="*/ 20 h 1119"/>
                <a:gd name="T70" fmla="*/ 60 w 2183"/>
                <a:gd name="T71" fmla="*/ 18 h 1119"/>
                <a:gd name="T72" fmla="*/ 59 w 2183"/>
                <a:gd name="T73" fmla="*/ 17 h 1119"/>
                <a:gd name="T74" fmla="*/ 58 w 2183"/>
                <a:gd name="T75" fmla="*/ 16 h 1119"/>
                <a:gd name="T76" fmla="*/ 57 w 2183"/>
                <a:gd name="T77" fmla="*/ 14 h 1119"/>
                <a:gd name="T78" fmla="*/ 55 w 2183"/>
                <a:gd name="T79" fmla="*/ 12 h 1119"/>
                <a:gd name="T80" fmla="*/ 52 w 2183"/>
                <a:gd name="T81" fmla="*/ 10 h 1119"/>
                <a:gd name="T82" fmla="*/ 49 w 2183"/>
                <a:gd name="T83" fmla="*/ 8 h 1119"/>
                <a:gd name="T84" fmla="*/ 46 w 2183"/>
                <a:gd name="T85" fmla="*/ 7 h 1119"/>
                <a:gd name="T86" fmla="*/ 40 w 2183"/>
                <a:gd name="T87" fmla="*/ 5 h 1119"/>
                <a:gd name="T88" fmla="*/ 26 w 2183"/>
                <a:gd name="T89" fmla="*/ 6 h 1119"/>
                <a:gd name="T90" fmla="*/ 22 w 2183"/>
                <a:gd name="T91" fmla="*/ 8 h 1119"/>
                <a:gd name="T92" fmla="*/ 19 w 2183"/>
                <a:gd name="T93" fmla="*/ 10 h 1119"/>
                <a:gd name="T94" fmla="*/ 16 w 2183"/>
                <a:gd name="T95" fmla="*/ 12 h 1119"/>
                <a:gd name="T96" fmla="*/ 14 w 2183"/>
                <a:gd name="T97" fmla="*/ 14 h 1119"/>
                <a:gd name="T98" fmla="*/ 13 w 2183"/>
                <a:gd name="T99" fmla="*/ 15 h 1119"/>
                <a:gd name="T100" fmla="*/ 12 w 2183"/>
                <a:gd name="T101" fmla="*/ 17 h 1119"/>
                <a:gd name="T102" fmla="*/ 10 w 2183"/>
                <a:gd name="T103" fmla="*/ 19 h 1119"/>
                <a:gd name="T104" fmla="*/ 9 w 2183"/>
                <a:gd name="T105" fmla="*/ 20 h 1119"/>
                <a:gd name="T106" fmla="*/ 8 w 2183"/>
                <a:gd name="T107" fmla="*/ 22 h 1119"/>
                <a:gd name="T108" fmla="*/ 7 w 2183"/>
                <a:gd name="T109" fmla="*/ 25 h 1119"/>
                <a:gd name="T110" fmla="*/ 5 w 2183"/>
                <a:gd name="T111" fmla="*/ 35 h 111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183"/>
                <a:gd name="T169" fmla="*/ 0 h 1119"/>
                <a:gd name="T170" fmla="*/ 2183 w 2183"/>
                <a:gd name="T171" fmla="*/ 1119 h 1119"/>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183" h="1119">
                  <a:moveTo>
                    <a:pt x="0" y="1119"/>
                  </a:moveTo>
                  <a:lnTo>
                    <a:pt x="0" y="1093"/>
                  </a:lnTo>
                  <a:lnTo>
                    <a:pt x="0" y="1066"/>
                  </a:lnTo>
                  <a:lnTo>
                    <a:pt x="3" y="1009"/>
                  </a:lnTo>
                  <a:lnTo>
                    <a:pt x="7" y="954"/>
                  </a:lnTo>
                  <a:lnTo>
                    <a:pt x="17" y="901"/>
                  </a:lnTo>
                  <a:lnTo>
                    <a:pt x="20" y="872"/>
                  </a:lnTo>
                  <a:lnTo>
                    <a:pt x="26" y="848"/>
                  </a:lnTo>
                  <a:lnTo>
                    <a:pt x="34" y="821"/>
                  </a:lnTo>
                  <a:lnTo>
                    <a:pt x="41" y="794"/>
                  </a:lnTo>
                  <a:lnTo>
                    <a:pt x="49" y="768"/>
                  </a:lnTo>
                  <a:lnTo>
                    <a:pt x="57" y="743"/>
                  </a:lnTo>
                  <a:lnTo>
                    <a:pt x="66" y="717"/>
                  </a:lnTo>
                  <a:lnTo>
                    <a:pt x="76" y="692"/>
                  </a:lnTo>
                  <a:lnTo>
                    <a:pt x="85" y="667"/>
                  </a:lnTo>
                  <a:lnTo>
                    <a:pt x="91" y="656"/>
                  </a:lnTo>
                  <a:lnTo>
                    <a:pt x="96" y="642"/>
                  </a:lnTo>
                  <a:lnTo>
                    <a:pt x="100" y="631"/>
                  </a:lnTo>
                  <a:lnTo>
                    <a:pt x="106" y="620"/>
                  </a:lnTo>
                  <a:lnTo>
                    <a:pt x="114" y="606"/>
                  </a:lnTo>
                  <a:lnTo>
                    <a:pt x="119" y="595"/>
                  </a:lnTo>
                  <a:lnTo>
                    <a:pt x="125" y="583"/>
                  </a:lnTo>
                  <a:lnTo>
                    <a:pt x="131" y="572"/>
                  </a:lnTo>
                  <a:lnTo>
                    <a:pt x="138" y="561"/>
                  </a:lnTo>
                  <a:lnTo>
                    <a:pt x="144" y="549"/>
                  </a:lnTo>
                  <a:lnTo>
                    <a:pt x="152" y="538"/>
                  </a:lnTo>
                  <a:lnTo>
                    <a:pt x="157" y="526"/>
                  </a:lnTo>
                  <a:lnTo>
                    <a:pt x="165" y="515"/>
                  </a:lnTo>
                  <a:lnTo>
                    <a:pt x="171" y="504"/>
                  </a:lnTo>
                  <a:lnTo>
                    <a:pt x="178" y="492"/>
                  </a:lnTo>
                  <a:lnTo>
                    <a:pt x="186" y="483"/>
                  </a:lnTo>
                  <a:lnTo>
                    <a:pt x="193" y="471"/>
                  </a:lnTo>
                  <a:lnTo>
                    <a:pt x="201" y="460"/>
                  </a:lnTo>
                  <a:lnTo>
                    <a:pt x="209" y="449"/>
                  </a:lnTo>
                  <a:lnTo>
                    <a:pt x="216" y="439"/>
                  </a:lnTo>
                  <a:lnTo>
                    <a:pt x="224" y="428"/>
                  </a:lnTo>
                  <a:lnTo>
                    <a:pt x="232" y="418"/>
                  </a:lnTo>
                  <a:lnTo>
                    <a:pt x="241" y="409"/>
                  </a:lnTo>
                  <a:lnTo>
                    <a:pt x="249" y="397"/>
                  </a:lnTo>
                  <a:lnTo>
                    <a:pt x="258" y="388"/>
                  </a:lnTo>
                  <a:lnTo>
                    <a:pt x="266" y="378"/>
                  </a:lnTo>
                  <a:lnTo>
                    <a:pt x="275" y="367"/>
                  </a:lnTo>
                  <a:lnTo>
                    <a:pt x="283" y="357"/>
                  </a:lnTo>
                  <a:lnTo>
                    <a:pt x="292" y="348"/>
                  </a:lnTo>
                  <a:lnTo>
                    <a:pt x="302" y="338"/>
                  </a:lnTo>
                  <a:lnTo>
                    <a:pt x="309" y="329"/>
                  </a:lnTo>
                  <a:lnTo>
                    <a:pt x="319" y="319"/>
                  </a:lnTo>
                  <a:lnTo>
                    <a:pt x="328" y="310"/>
                  </a:lnTo>
                  <a:lnTo>
                    <a:pt x="338" y="302"/>
                  </a:lnTo>
                  <a:lnTo>
                    <a:pt x="348" y="293"/>
                  </a:lnTo>
                  <a:lnTo>
                    <a:pt x="357" y="283"/>
                  </a:lnTo>
                  <a:lnTo>
                    <a:pt x="367" y="276"/>
                  </a:lnTo>
                  <a:lnTo>
                    <a:pt x="378" y="266"/>
                  </a:lnTo>
                  <a:lnTo>
                    <a:pt x="387" y="258"/>
                  </a:lnTo>
                  <a:lnTo>
                    <a:pt x="397" y="249"/>
                  </a:lnTo>
                  <a:lnTo>
                    <a:pt x="406" y="241"/>
                  </a:lnTo>
                  <a:lnTo>
                    <a:pt x="418" y="234"/>
                  </a:lnTo>
                  <a:lnTo>
                    <a:pt x="427" y="224"/>
                  </a:lnTo>
                  <a:lnTo>
                    <a:pt x="439" y="217"/>
                  </a:lnTo>
                  <a:lnTo>
                    <a:pt x="448" y="209"/>
                  </a:lnTo>
                  <a:lnTo>
                    <a:pt x="460" y="201"/>
                  </a:lnTo>
                  <a:lnTo>
                    <a:pt x="471" y="194"/>
                  </a:lnTo>
                  <a:lnTo>
                    <a:pt x="481" y="186"/>
                  </a:lnTo>
                  <a:lnTo>
                    <a:pt x="503" y="173"/>
                  </a:lnTo>
                  <a:lnTo>
                    <a:pt x="526" y="158"/>
                  </a:lnTo>
                  <a:lnTo>
                    <a:pt x="547" y="144"/>
                  </a:lnTo>
                  <a:lnTo>
                    <a:pt x="572" y="131"/>
                  </a:lnTo>
                  <a:lnTo>
                    <a:pt x="595" y="120"/>
                  </a:lnTo>
                  <a:lnTo>
                    <a:pt x="618" y="108"/>
                  </a:lnTo>
                  <a:lnTo>
                    <a:pt x="642" y="97"/>
                  </a:lnTo>
                  <a:lnTo>
                    <a:pt x="667" y="86"/>
                  </a:lnTo>
                  <a:lnTo>
                    <a:pt x="692" y="76"/>
                  </a:lnTo>
                  <a:lnTo>
                    <a:pt x="716" y="67"/>
                  </a:lnTo>
                  <a:lnTo>
                    <a:pt x="741" y="57"/>
                  </a:lnTo>
                  <a:lnTo>
                    <a:pt x="766" y="49"/>
                  </a:lnTo>
                  <a:lnTo>
                    <a:pt x="792" y="42"/>
                  </a:lnTo>
                  <a:lnTo>
                    <a:pt x="844" y="29"/>
                  </a:lnTo>
                  <a:lnTo>
                    <a:pt x="897" y="17"/>
                  </a:lnTo>
                  <a:lnTo>
                    <a:pt x="950" y="10"/>
                  </a:lnTo>
                  <a:lnTo>
                    <a:pt x="1005" y="2"/>
                  </a:lnTo>
                  <a:lnTo>
                    <a:pt x="1118" y="0"/>
                  </a:lnTo>
                  <a:lnTo>
                    <a:pt x="1230" y="8"/>
                  </a:lnTo>
                  <a:lnTo>
                    <a:pt x="1336" y="27"/>
                  </a:lnTo>
                  <a:lnTo>
                    <a:pt x="1390" y="42"/>
                  </a:lnTo>
                  <a:lnTo>
                    <a:pt x="1441" y="57"/>
                  </a:lnTo>
                  <a:lnTo>
                    <a:pt x="1466" y="67"/>
                  </a:lnTo>
                  <a:lnTo>
                    <a:pt x="1490" y="76"/>
                  </a:lnTo>
                  <a:lnTo>
                    <a:pt x="1515" y="86"/>
                  </a:lnTo>
                  <a:lnTo>
                    <a:pt x="1540" y="97"/>
                  </a:lnTo>
                  <a:lnTo>
                    <a:pt x="1565" y="108"/>
                  </a:lnTo>
                  <a:lnTo>
                    <a:pt x="1587" y="120"/>
                  </a:lnTo>
                  <a:lnTo>
                    <a:pt x="1612" y="131"/>
                  </a:lnTo>
                  <a:lnTo>
                    <a:pt x="1635" y="144"/>
                  </a:lnTo>
                  <a:lnTo>
                    <a:pt x="1658" y="158"/>
                  </a:lnTo>
                  <a:lnTo>
                    <a:pt x="1679" y="173"/>
                  </a:lnTo>
                  <a:lnTo>
                    <a:pt x="1701" y="186"/>
                  </a:lnTo>
                  <a:lnTo>
                    <a:pt x="1722" y="201"/>
                  </a:lnTo>
                  <a:lnTo>
                    <a:pt x="1745" y="217"/>
                  </a:lnTo>
                  <a:lnTo>
                    <a:pt x="1755" y="224"/>
                  </a:lnTo>
                  <a:lnTo>
                    <a:pt x="1766" y="234"/>
                  </a:lnTo>
                  <a:lnTo>
                    <a:pt x="1776" y="241"/>
                  </a:lnTo>
                  <a:lnTo>
                    <a:pt x="1785" y="249"/>
                  </a:lnTo>
                  <a:lnTo>
                    <a:pt x="1797" y="258"/>
                  </a:lnTo>
                  <a:lnTo>
                    <a:pt x="1806" y="266"/>
                  </a:lnTo>
                  <a:lnTo>
                    <a:pt x="1825" y="283"/>
                  </a:lnTo>
                  <a:lnTo>
                    <a:pt x="1835" y="293"/>
                  </a:lnTo>
                  <a:lnTo>
                    <a:pt x="1844" y="302"/>
                  </a:lnTo>
                  <a:lnTo>
                    <a:pt x="1854" y="312"/>
                  </a:lnTo>
                  <a:lnTo>
                    <a:pt x="1863" y="321"/>
                  </a:lnTo>
                  <a:lnTo>
                    <a:pt x="1873" y="331"/>
                  </a:lnTo>
                  <a:lnTo>
                    <a:pt x="1882" y="338"/>
                  </a:lnTo>
                  <a:lnTo>
                    <a:pt x="1890" y="348"/>
                  </a:lnTo>
                  <a:lnTo>
                    <a:pt x="1899" y="359"/>
                  </a:lnTo>
                  <a:lnTo>
                    <a:pt x="1909" y="369"/>
                  </a:lnTo>
                  <a:lnTo>
                    <a:pt x="1916" y="378"/>
                  </a:lnTo>
                  <a:lnTo>
                    <a:pt x="1926" y="388"/>
                  </a:lnTo>
                  <a:lnTo>
                    <a:pt x="1933" y="397"/>
                  </a:lnTo>
                  <a:lnTo>
                    <a:pt x="1943" y="409"/>
                  </a:lnTo>
                  <a:lnTo>
                    <a:pt x="1951" y="418"/>
                  </a:lnTo>
                  <a:lnTo>
                    <a:pt x="1958" y="430"/>
                  </a:lnTo>
                  <a:lnTo>
                    <a:pt x="1966" y="439"/>
                  </a:lnTo>
                  <a:lnTo>
                    <a:pt x="1973" y="450"/>
                  </a:lnTo>
                  <a:lnTo>
                    <a:pt x="1981" y="460"/>
                  </a:lnTo>
                  <a:lnTo>
                    <a:pt x="1989" y="471"/>
                  </a:lnTo>
                  <a:lnTo>
                    <a:pt x="1996" y="483"/>
                  </a:lnTo>
                  <a:lnTo>
                    <a:pt x="2004" y="492"/>
                  </a:lnTo>
                  <a:lnTo>
                    <a:pt x="2011" y="504"/>
                  </a:lnTo>
                  <a:lnTo>
                    <a:pt x="2019" y="515"/>
                  </a:lnTo>
                  <a:lnTo>
                    <a:pt x="2025" y="526"/>
                  </a:lnTo>
                  <a:lnTo>
                    <a:pt x="2032" y="538"/>
                  </a:lnTo>
                  <a:lnTo>
                    <a:pt x="2038" y="549"/>
                  </a:lnTo>
                  <a:lnTo>
                    <a:pt x="2046" y="561"/>
                  </a:lnTo>
                  <a:lnTo>
                    <a:pt x="2051" y="572"/>
                  </a:lnTo>
                  <a:lnTo>
                    <a:pt x="2057" y="583"/>
                  </a:lnTo>
                  <a:lnTo>
                    <a:pt x="2063" y="595"/>
                  </a:lnTo>
                  <a:lnTo>
                    <a:pt x="2070" y="606"/>
                  </a:lnTo>
                  <a:lnTo>
                    <a:pt x="2076" y="620"/>
                  </a:lnTo>
                  <a:lnTo>
                    <a:pt x="2082" y="631"/>
                  </a:lnTo>
                  <a:lnTo>
                    <a:pt x="2087" y="642"/>
                  </a:lnTo>
                  <a:lnTo>
                    <a:pt x="2091" y="656"/>
                  </a:lnTo>
                  <a:lnTo>
                    <a:pt x="2097" y="667"/>
                  </a:lnTo>
                  <a:lnTo>
                    <a:pt x="2106" y="692"/>
                  </a:lnTo>
                  <a:lnTo>
                    <a:pt x="2116" y="717"/>
                  </a:lnTo>
                  <a:lnTo>
                    <a:pt x="2126" y="741"/>
                  </a:lnTo>
                  <a:lnTo>
                    <a:pt x="2133" y="768"/>
                  </a:lnTo>
                  <a:lnTo>
                    <a:pt x="2141" y="793"/>
                  </a:lnTo>
                  <a:lnTo>
                    <a:pt x="2148" y="819"/>
                  </a:lnTo>
                  <a:lnTo>
                    <a:pt x="2154" y="846"/>
                  </a:lnTo>
                  <a:lnTo>
                    <a:pt x="2162" y="872"/>
                  </a:lnTo>
                  <a:lnTo>
                    <a:pt x="2165" y="899"/>
                  </a:lnTo>
                  <a:lnTo>
                    <a:pt x="2181" y="1007"/>
                  </a:lnTo>
                  <a:lnTo>
                    <a:pt x="2183" y="1119"/>
                  </a:lnTo>
                  <a:lnTo>
                    <a:pt x="2019" y="1119"/>
                  </a:lnTo>
                  <a:lnTo>
                    <a:pt x="2019" y="1072"/>
                  </a:lnTo>
                  <a:lnTo>
                    <a:pt x="2017" y="1024"/>
                  </a:lnTo>
                  <a:lnTo>
                    <a:pt x="2013" y="977"/>
                  </a:lnTo>
                  <a:lnTo>
                    <a:pt x="2008" y="931"/>
                  </a:lnTo>
                  <a:lnTo>
                    <a:pt x="2000" y="886"/>
                  </a:lnTo>
                  <a:lnTo>
                    <a:pt x="1994" y="865"/>
                  </a:lnTo>
                  <a:lnTo>
                    <a:pt x="1989" y="842"/>
                  </a:lnTo>
                  <a:lnTo>
                    <a:pt x="1983" y="819"/>
                  </a:lnTo>
                  <a:lnTo>
                    <a:pt x="1977" y="798"/>
                  </a:lnTo>
                  <a:lnTo>
                    <a:pt x="1970" y="777"/>
                  </a:lnTo>
                  <a:lnTo>
                    <a:pt x="1962" y="755"/>
                  </a:lnTo>
                  <a:lnTo>
                    <a:pt x="1945" y="713"/>
                  </a:lnTo>
                  <a:lnTo>
                    <a:pt x="1941" y="703"/>
                  </a:lnTo>
                  <a:lnTo>
                    <a:pt x="1935" y="692"/>
                  </a:lnTo>
                  <a:lnTo>
                    <a:pt x="1932" y="682"/>
                  </a:lnTo>
                  <a:lnTo>
                    <a:pt x="1926" y="673"/>
                  </a:lnTo>
                  <a:lnTo>
                    <a:pt x="1922" y="661"/>
                  </a:lnTo>
                  <a:lnTo>
                    <a:pt x="1916" y="652"/>
                  </a:lnTo>
                  <a:lnTo>
                    <a:pt x="1911" y="642"/>
                  </a:lnTo>
                  <a:lnTo>
                    <a:pt x="1907" y="633"/>
                  </a:lnTo>
                  <a:lnTo>
                    <a:pt x="1901" y="623"/>
                  </a:lnTo>
                  <a:lnTo>
                    <a:pt x="1895" y="612"/>
                  </a:lnTo>
                  <a:lnTo>
                    <a:pt x="1890" y="602"/>
                  </a:lnTo>
                  <a:lnTo>
                    <a:pt x="1884" y="593"/>
                  </a:lnTo>
                  <a:lnTo>
                    <a:pt x="1878" y="583"/>
                  </a:lnTo>
                  <a:lnTo>
                    <a:pt x="1871" y="574"/>
                  </a:lnTo>
                  <a:lnTo>
                    <a:pt x="1865" y="564"/>
                  </a:lnTo>
                  <a:lnTo>
                    <a:pt x="1859" y="557"/>
                  </a:lnTo>
                  <a:lnTo>
                    <a:pt x="1854" y="547"/>
                  </a:lnTo>
                  <a:lnTo>
                    <a:pt x="1846" y="538"/>
                  </a:lnTo>
                  <a:lnTo>
                    <a:pt x="1840" y="528"/>
                  </a:lnTo>
                  <a:lnTo>
                    <a:pt x="1835" y="519"/>
                  </a:lnTo>
                  <a:lnTo>
                    <a:pt x="1827" y="511"/>
                  </a:lnTo>
                  <a:lnTo>
                    <a:pt x="1819" y="502"/>
                  </a:lnTo>
                  <a:lnTo>
                    <a:pt x="1814" y="494"/>
                  </a:lnTo>
                  <a:lnTo>
                    <a:pt x="1806" y="485"/>
                  </a:lnTo>
                  <a:lnTo>
                    <a:pt x="1798" y="475"/>
                  </a:lnTo>
                  <a:lnTo>
                    <a:pt x="1791" y="468"/>
                  </a:lnTo>
                  <a:lnTo>
                    <a:pt x="1778" y="450"/>
                  </a:lnTo>
                  <a:lnTo>
                    <a:pt x="1770" y="443"/>
                  </a:lnTo>
                  <a:lnTo>
                    <a:pt x="1762" y="435"/>
                  </a:lnTo>
                  <a:lnTo>
                    <a:pt x="1745" y="418"/>
                  </a:lnTo>
                  <a:lnTo>
                    <a:pt x="1738" y="411"/>
                  </a:lnTo>
                  <a:lnTo>
                    <a:pt x="1730" y="403"/>
                  </a:lnTo>
                  <a:lnTo>
                    <a:pt x="1722" y="395"/>
                  </a:lnTo>
                  <a:lnTo>
                    <a:pt x="1713" y="388"/>
                  </a:lnTo>
                  <a:lnTo>
                    <a:pt x="1698" y="374"/>
                  </a:lnTo>
                  <a:lnTo>
                    <a:pt x="1681" y="359"/>
                  </a:lnTo>
                  <a:lnTo>
                    <a:pt x="1663" y="344"/>
                  </a:lnTo>
                  <a:lnTo>
                    <a:pt x="1644" y="331"/>
                  </a:lnTo>
                  <a:lnTo>
                    <a:pt x="1627" y="317"/>
                  </a:lnTo>
                  <a:lnTo>
                    <a:pt x="1608" y="306"/>
                  </a:lnTo>
                  <a:lnTo>
                    <a:pt x="1589" y="293"/>
                  </a:lnTo>
                  <a:lnTo>
                    <a:pt x="1570" y="281"/>
                  </a:lnTo>
                  <a:lnTo>
                    <a:pt x="1551" y="270"/>
                  </a:lnTo>
                  <a:lnTo>
                    <a:pt x="1532" y="258"/>
                  </a:lnTo>
                  <a:lnTo>
                    <a:pt x="1511" y="249"/>
                  </a:lnTo>
                  <a:lnTo>
                    <a:pt x="1490" y="239"/>
                  </a:lnTo>
                  <a:lnTo>
                    <a:pt x="1471" y="228"/>
                  </a:lnTo>
                  <a:lnTo>
                    <a:pt x="1450" y="220"/>
                  </a:lnTo>
                  <a:lnTo>
                    <a:pt x="1430" y="211"/>
                  </a:lnTo>
                  <a:lnTo>
                    <a:pt x="1407" y="203"/>
                  </a:lnTo>
                  <a:lnTo>
                    <a:pt x="1386" y="196"/>
                  </a:lnTo>
                  <a:lnTo>
                    <a:pt x="1365" y="188"/>
                  </a:lnTo>
                  <a:lnTo>
                    <a:pt x="1319" y="177"/>
                  </a:lnTo>
                  <a:lnTo>
                    <a:pt x="1275" y="165"/>
                  </a:lnTo>
                  <a:lnTo>
                    <a:pt x="1228" y="158"/>
                  </a:lnTo>
                  <a:lnTo>
                    <a:pt x="1135" y="148"/>
                  </a:lnTo>
                  <a:lnTo>
                    <a:pt x="1040" y="150"/>
                  </a:lnTo>
                  <a:lnTo>
                    <a:pt x="947" y="160"/>
                  </a:lnTo>
                  <a:lnTo>
                    <a:pt x="857" y="179"/>
                  </a:lnTo>
                  <a:lnTo>
                    <a:pt x="813" y="190"/>
                  </a:lnTo>
                  <a:lnTo>
                    <a:pt x="772" y="205"/>
                  </a:lnTo>
                  <a:lnTo>
                    <a:pt x="751" y="213"/>
                  </a:lnTo>
                  <a:lnTo>
                    <a:pt x="730" y="222"/>
                  </a:lnTo>
                  <a:lnTo>
                    <a:pt x="709" y="232"/>
                  </a:lnTo>
                  <a:lnTo>
                    <a:pt x="688" y="241"/>
                  </a:lnTo>
                  <a:lnTo>
                    <a:pt x="667" y="251"/>
                  </a:lnTo>
                  <a:lnTo>
                    <a:pt x="648" y="260"/>
                  </a:lnTo>
                  <a:lnTo>
                    <a:pt x="629" y="272"/>
                  </a:lnTo>
                  <a:lnTo>
                    <a:pt x="610" y="283"/>
                  </a:lnTo>
                  <a:lnTo>
                    <a:pt x="591" y="295"/>
                  </a:lnTo>
                  <a:lnTo>
                    <a:pt x="572" y="308"/>
                  </a:lnTo>
                  <a:lnTo>
                    <a:pt x="553" y="321"/>
                  </a:lnTo>
                  <a:lnTo>
                    <a:pt x="536" y="335"/>
                  </a:lnTo>
                  <a:lnTo>
                    <a:pt x="519" y="348"/>
                  </a:lnTo>
                  <a:lnTo>
                    <a:pt x="502" y="361"/>
                  </a:lnTo>
                  <a:lnTo>
                    <a:pt x="484" y="376"/>
                  </a:lnTo>
                  <a:lnTo>
                    <a:pt x="467" y="392"/>
                  </a:lnTo>
                  <a:lnTo>
                    <a:pt x="450" y="405"/>
                  </a:lnTo>
                  <a:lnTo>
                    <a:pt x="443" y="412"/>
                  </a:lnTo>
                  <a:lnTo>
                    <a:pt x="435" y="422"/>
                  </a:lnTo>
                  <a:lnTo>
                    <a:pt x="427" y="430"/>
                  </a:lnTo>
                  <a:lnTo>
                    <a:pt x="420" y="437"/>
                  </a:lnTo>
                  <a:lnTo>
                    <a:pt x="412" y="445"/>
                  </a:lnTo>
                  <a:lnTo>
                    <a:pt x="405" y="454"/>
                  </a:lnTo>
                  <a:lnTo>
                    <a:pt x="397" y="462"/>
                  </a:lnTo>
                  <a:lnTo>
                    <a:pt x="389" y="469"/>
                  </a:lnTo>
                  <a:lnTo>
                    <a:pt x="374" y="487"/>
                  </a:lnTo>
                  <a:lnTo>
                    <a:pt x="368" y="496"/>
                  </a:lnTo>
                  <a:lnTo>
                    <a:pt x="361" y="506"/>
                  </a:lnTo>
                  <a:lnTo>
                    <a:pt x="353" y="513"/>
                  </a:lnTo>
                  <a:lnTo>
                    <a:pt x="348" y="523"/>
                  </a:lnTo>
                  <a:lnTo>
                    <a:pt x="340" y="532"/>
                  </a:lnTo>
                  <a:lnTo>
                    <a:pt x="334" y="540"/>
                  </a:lnTo>
                  <a:lnTo>
                    <a:pt x="321" y="559"/>
                  </a:lnTo>
                  <a:lnTo>
                    <a:pt x="315" y="568"/>
                  </a:lnTo>
                  <a:lnTo>
                    <a:pt x="309" y="578"/>
                  </a:lnTo>
                  <a:lnTo>
                    <a:pt x="304" y="587"/>
                  </a:lnTo>
                  <a:lnTo>
                    <a:pt x="298" y="597"/>
                  </a:lnTo>
                  <a:lnTo>
                    <a:pt x="292" y="606"/>
                  </a:lnTo>
                  <a:lnTo>
                    <a:pt x="287" y="616"/>
                  </a:lnTo>
                  <a:lnTo>
                    <a:pt x="281" y="625"/>
                  </a:lnTo>
                  <a:lnTo>
                    <a:pt x="275" y="637"/>
                  </a:lnTo>
                  <a:lnTo>
                    <a:pt x="270" y="646"/>
                  </a:lnTo>
                  <a:lnTo>
                    <a:pt x="264" y="656"/>
                  </a:lnTo>
                  <a:lnTo>
                    <a:pt x="260" y="665"/>
                  </a:lnTo>
                  <a:lnTo>
                    <a:pt x="254" y="677"/>
                  </a:lnTo>
                  <a:lnTo>
                    <a:pt x="251" y="686"/>
                  </a:lnTo>
                  <a:lnTo>
                    <a:pt x="245" y="696"/>
                  </a:lnTo>
                  <a:lnTo>
                    <a:pt x="235" y="717"/>
                  </a:lnTo>
                  <a:lnTo>
                    <a:pt x="220" y="760"/>
                  </a:lnTo>
                  <a:lnTo>
                    <a:pt x="205" y="804"/>
                  </a:lnTo>
                  <a:lnTo>
                    <a:pt x="192" y="848"/>
                  </a:lnTo>
                  <a:lnTo>
                    <a:pt x="174" y="939"/>
                  </a:lnTo>
                  <a:lnTo>
                    <a:pt x="165" y="1034"/>
                  </a:lnTo>
                  <a:lnTo>
                    <a:pt x="165" y="1076"/>
                  </a:lnTo>
                  <a:lnTo>
                    <a:pt x="165" y="1119"/>
                  </a:lnTo>
                  <a:lnTo>
                    <a:pt x="0" y="1119"/>
                  </a:lnTo>
                  <a:close/>
                </a:path>
              </a:pathLst>
            </a:custGeom>
            <a:solidFill>
              <a:srgbClr val="5F5F5F"/>
            </a:solidFill>
            <a:ln w="9525">
              <a:solidFill>
                <a:srgbClr val="5F5F5F"/>
              </a:solidFill>
              <a:round/>
              <a:headEnd/>
              <a:tailEnd/>
            </a:ln>
          </p:spPr>
          <p:txBody>
            <a:bodyPr/>
            <a:lstStyle/>
            <a:p>
              <a:endParaRPr lang="en-US"/>
            </a:p>
          </p:txBody>
        </p:sp>
        <p:sp>
          <p:nvSpPr>
            <p:cNvPr id="26677" name="Freeform 171"/>
            <p:cNvSpPr>
              <a:spLocks/>
            </p:cNvSpPr>
            <p:nvPr/>
          </p:nvSpPr>
          <p:spPr bwMode="auto">
            <a:xfrm>
              <a:off x="4607" y="3116"/>
              <a:ext cx="278" cy="150"/>
            </a:xfrm>
            <a:custGeom>
              <a:avLst/>
              <a:gdLst>
                <a:gd name="T0" fmla="*/ 50 w 1540"/>
                <a:gd name="T1" fmla="*/ 22 h 830"/>
                <a:gd name="T2" fmla="*/ 49 w 1540"/>
                <a:gd name="T3" fmla="*/ 18 h 830"/>
                <a:gd name="T4" fmla="*/ 48 w 1540"/>
                <a:gd name="T5" fmla="*/ 15 h 830"/>
                <a:gd name="T6" fmla="*/ 48 w 1540"/>
                <a:gd name="T7" fmla="*/ 14 h 830"/>
                <a:gd name="T8" fmla="*/ 47 w 1540"/>
                <a:gd name="T9" fmla="*/ 13 h 830"/>
                <a:gd name="T10" fmla="*/ 47 w 1540"/>
                <a:gd name="T11" fmla="*/ 12 h 830"/>
                <a:gd name="T12" fmla="*/ 46 w 1540"/>
                <a:gd name="T13" fmla="*/ 12 h 830"/>
                <a:gd name="T14" fmla="*/ 46 w 1540"/>
                <a:gd name="T15" fmla="*/ 11 h 830"/>
                <a:gd name="T16" fmla="*/ 45 w 1540"/>
                <a:gd name="T17" fmla="*/ 9 h 830"/>
                <a:gd name="T18" fmla="*/ 43 w 1540"/>
                <a:gd name="T19" fmla="*/ 8 h 830"/>
                <a:gd name="T20" fmla="*/ 42 w 1540"/>
                <a:gd name="T21" fmla="*/ 7 h 830"/>
                <a:gd name="T22" fmla="*/ 41 w 1540"/>
                <a:gd name="T23" fmla="*/ 5 h 830"/>
                <a:gd name="T24" fmla="*/ 39 w 1540"/>
                <a:gd name="T25" fmla="*/ 4 h 830"/>
                <a:gd name="T26" fmla="*/ 38 w 1540"/>
                <a:gd name="T27" fmla="*/ 3 h 830"/>
                <a:gd name="T28" fmla="*/ 36 w 1540"/>
                <a:gd name="T29" fmla="*/ 3 h 830"/>
                <a:gd name="T30" fmla="*/ 34 w 1540"/>
                <a:gd name="T31" fmla="*/ 2 h 830"/>
                <a:gd name="T32" fmla="*/ 31 w 1540"/>
                <a:gd name="T33" fmla="*/ 1 h 830"/>
                <a:gd name="T34" fmla="*/ 24 w 1540"/>
                <a:gd name="T35" fmla="*/ 0 h 830"/>
                <a:gd name="T36" fmla="*/ 18 w 1540"/>
                <a:gd name="T37" fmla="*/ 1 h 830"/>
                <a:gd name="T38" fmla="*/ 15 w 1540"/>
                <a:gd name="T39" fmla="*/ 2 h 830"/>
                <a:gd name="T40" fmla="*/ 13 w 1540"/>
                <a:gd name="T41" fmla="*/ 3 h 830"/>
                <a:gd name="T42" fmla="*/ 11 w 1540"/>
                <a:gd name="T43" fmla="*/ 4 h 830"/>
                <a:gd name="T44" fmla="*/ 10 w 1540"/>
                <a:gd name="T45" fmla="*/ 5 h 830"/>
                <a:gd name="T46" fmla="*/ 8 w 1540"/>
                <a:gd name="T47" fmla="*/ 7 h 830"/>
                <a:gd name="T48" fmla="*/ 7 w 1540"/>
                <a:gd name="T49" fmla="*/ 8 h 830"/>
                <a:gd name="T50" fmla="*/ 6 w 1540"/>
                <a:gd name="T51" fmla="*/ 9 h 830"/>
                <a:gd name="T52" fmla="*/ 5 w 1540"/>
                <a:gd name="T53" fmla="*/ 10 h 830"/>
                <a:gd name="T54" fmla="*/ 4 w 1540"/>
                <a:gd name="T55" fmla="*/ 12 h 830"/>
                <a:gd name="T56" fmla="*/ 3 w 1540"/>
                <a:gd name="T57" fmla="*/ 13 h 830"/>
                <a:gd name="T58" fmla="*/ 3 w 1540"/>
                <a:gd name="T59" fmla="*/ 14 h 830"/>
                <a:gd name="T60" fmla="*/ 2 w 1540"/>
                <a:gd name="T61" fmla="*/ 14 h 830"/>
                <a:gd name="T62" fmla="*/ 1 w 1540"/>
                <a:gd name="T63" fmla="*/ 17 h 830"/>
                <a:gd name="T64" fmla="*/ 0 w 1540"/>
                <a:gd name="T65" fmla="*/ 21 h 830"/>
                <a:gd name="T66" fmla="*/ 0 w 1540"/>
                <a:gd name="T67" fmla="*/ 27 h 830"/>
                <a:gd name="T68" fmla="*/ 5 w 1540"/>
                <a:gd name="T69" fmla="*/ 23 h 830"/>
                <a:gd name="T70" fmla="*/ 6 w 1540"/>
                <a:gd name="T71" fmla="*/ 20 h 830"/>
                <a:gd name="T72" fmla="*/ 7 w 1540"/>
                <a:gd name="T73" fmla="*/ 17 h 830"/>
                <a:gd name="T74" fmla="*/ 8 w 1540"/>
                <a:gd name="T75" fmla="*/ 16 h 830"/>
                <a:gd name="T76" fmla="*/ 8 w 1540"/>
                <a:gd name="T77" fmla="*/ 14 h 830"/>
                <a:gd name="T78" fmla="*/ 9 w 1540"/>
                <a:gd name="T79" fmla="*/ 13 h 830"/>
                <a:gd name="T80" fmla="*/ 10 w 1540"/>
                <a:gd name="T81" fmla="*/ 12 h 830"/>
                <a:gd name="T82" fmla="*/ 11 w 1540"/>
                <a:gd name="T83" fmla="*/ 11 h 830"/>
                <a:gd name="T84" fmla="*/ 12 w 1540"/>
                <a:gd name="T85" fmla="*/ 10 h 830"/>
                <a:gd name="T86" fmla="*/ 13 w 1540"/>
                <a:gd name="T87" fmla="*/ 9 h 830"/>
                <a:gd name="T88" fmla="*/ 14 w 1540"/>
                <a:gd name="T89" fmla="*/ 8 h 830"/>
                <a:gd name="T90" fmla="*/ 16 w 1540"/>
                <a:gd name="T91" fmla="*/ 7 h 830"/>
                <a:gd name="T92" fmla="*/ 19 w 1540"/>
                <a:gd name="T93" fmla="*/ 6 h 830"/>
                <a:gd name="T94" fmla="*/ 21 w 1540"/>
                <a:gd name="T95" fmla="*/ 5 h 830"/>
                <a:gd name="T96" fmla="*/ 31 w 1540"/>
                <a:gd name="T97" fmla="*/ 6 h 830"/>
                <a:gd name="T98" fmla="*/ 34 w 1540"/>
                <a:gd name="T99" fmla="*/ 7 h 830"/>
                <a:gd name="T100" fmla="*/ 36 w 1540"/>
                <a:gd name="T101" fmla="*/ 8 h 830"/>
                <a:gd name="T102" fmla="*/ 37 w 1540"/>
                <a:gd name="T103" fmla="*/ 9 h 830"/>
                <a:gd name="T104" fmla="*/ 38 w 1540"/>
                <a:gd name="T105" fmla="*/ 10 h 830"/>
                <a:gd name="T106" fmla="*/ 39 w 1540"/>
                <a:gd name="T107" fmla="*/ 11 h 830"/>
                <a:gd name="T108" fmla="*/ 40 w 1540"/>
                <a:gd name="T109" fmla="*/ 12 h 830"/>
                <a:gd name="T110" fmla="*/ 41 w 1540"/>
                <a:gd name="T111" fmla="*/ 13 h 830"/>
                <a:gd name="T112" fmla="*/ 42 w 1540"/>
                <a:gd name="T113" fmla="*/ 14 h 830"/>
                <a:gd name="T114" fmla="*/ 43 w 1540"/>
                <a:gd name="T115" fmla="*/ 16 h 830"/>
                <a:gd name="T116" fmla="*/ 44 w 1540"/>
                <a:gd name="T117" fmla="*/ 17 h 830"/>
                <a:gd name="T118" fmla="*/ 45 w 1540"/>
                <a:gd name="T119" fmla="*/ 23 h 830"/>
                <a:gd name="T120" fmla="*/ 50 w 1540"/>
                <a:gd name="T121" fmla="*/ 27 h 83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540"/>
                <a:gd name="T184" fmla="*/ 0 h 830"/>
                <a:gd name="T185" fmla="*/ 1540 w 1540"/>
                <a:gd name="T186" fmla="*/ 830 h 83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540" h="830">
                  <a:moveTo>
                    <a:pt x="1538" y="830"/>
                  </a:moveTo>
                  <a:lnTo>
                    <a:pt x="1540" y="751"/>
                  </a:lnTo>
                  <a:lnTo>
                    <a:pt x="1534" y="675"/>
                  </a:lnTo>
                  <a:lnTo>
                    <a:pt x="1529" y="637"/>
                  </a:lnTo>
                  <a:lnTo>
                    <a:pt x="1521" y="599"/>
                  </a:lnTo>
                  <a:lnTo>
                    <a:pt x="1512" y="562"/>
                  </a:lnTo>
                  <a:lnTo>
                    <a:pt x="1500" y="526"/>
                  </a:lnTo>
                  <a:lnTo>
                    <a:pt x="1489" y="490"/>
                  </a:lnTo>
                  <a:lnTo>
                    <a:pt x="1474" y="456"/>
                  </a:lnTo>
                  <a:lnTo>
                    <a:pt x="1470" y="448"/>
                  </a:lnTo>
                  <a:lnTo>
                    <a:pt x="1466" y="441"/>
                  </a:lnTo>
                  <a:lnTo>
                    <a:pt x="1462" y="431"/>
                  </a:lnTo>
                  <a:lnTo>
                    <a:pt x="1458" y="424"/>
                  </a:lnTo>
                  <a:lnTo>
                    <a:pt x="1453" y="414"/>
                  </a:lnTo>
                  <a:lnTo>
                    <a:pt x="1449" y="407"/>
                  </a:lnTo>
                  <a:lnTo>
                    <a:pt x="1445" y="399"/>
                  </a:lnTo>
                  <a:lnTo>
                    <a:pt x="1439" y="390"/>
                  </a:lnTo>
                  <a:lnTo>
                    <a:pt x="1430" y="374"/>
                  </a:lnTo>
                  <a:lnTo>
                    <a:pt x="1426" y="367"/>
                  </a:lnTo>
                  <a:lnTo>
                    <a:pt x="1420" y="359"/>
                  </a:lnTo>
                  <a:lnTo>
                    <a:pt x="1417" y="352"/>
                  </a:lnTo>
                  <a:lnTo>
                    <a:pt x="1411" y="344"/>
                  </a:lnTo>
                  <a:lnTo>
                    <a:pt x="1405" y="336"/>
                  </a:lnTo>
                  <a:lnTo>
                    <a:pt x="1399" y="329"/>
                  </a:lnTo>
                  <a:lnTo>
                    <a:pt x="1390" y="313"/>
                  </a:lnTo>
                  <a:lnTo>
                    <a:pt x="1379" y="298"/>
                  </a:lnTo>
                  <a:lnTo>
                    <a:pt x="1367" y="283"/>
                  </a:lnTo>
                  <a:lnTo>
                    <a:pt x="1356" y="270"/>
                  </a:lnTo>
                  <a:lnTo>
                    <a:pt x="1342" y="256"/>
                  </a:lnTo>
                  <a:lnTo>
                    <a:pt x="1329" y="241"/>
                  </a:lnTo>
                  <a:lnTo>
                    <a:pt x="1318" y="228"/>
                  </a:lnTo>
                  <a:lnTo>
                    <a:pt x="1304" y="217"/>
                  </a:lnTo>
                  <a:lnTo>
                    <a:pt x="1291" y="203"/>
                  </a:lnTo>
                  <a:lnTo>
                    <a:pt x="1276" y="190"/>
                  </a:lnTo>
                  <a:lnTo>
                    <a:pt x="1263" y="179"/>
                  </a:lnTo>
                  <a:lnTo>
                    <a:pt x="1247" y="167"/>
                  </a:lnTo>
                  <a:lnTo>
                    <a:pt x="1234" y="156"/>
                  </a:lnTo>
                  <a:lnTo>
                    <a:pt x="1219" y="144"/>
                  </a:lnTo>
                  <a:lnTo>
                    <a:pt x="1204" y="133"/>
                  </a:lnTo>
                  <a:lnTo>
                    <a:pt x="1188" y="123"/>
                  </a:lnTo>
                  <a:lnTo>
                    <a:pt x="1171" y="114"/>
                  </a:lnTo>
                  <a:lnTo>
                    <a:pt x="1156" y="104"/>
                  </a:lnTo>
                  <a:lnTo>
                    <a:pt x="1139" y="95"/>
                  </a:lnTo>
                  <a:lnTo>
                    <a:pt x="1124" y="85"/>
                  </a:lnTo>
                  <a:lnTo>
                    <a:pt x="1107" y="78"/>
                  </a:lnTo>
                  <a:lnTo>
                    <a:pt x="1090" y="70"/>
                  </a:lnTo>
                  <a:lnTo>
                    <a:pt x="1072" y="63"/>
                  </a:lnTo>
                  <a:lnTo>
                    <a:pt x="1055" y="55"/>
                  </a:lnTo>
                  <a:lnTo>
                    <a:pt x="1019" y="42"/>
                  </a:lnTo>
                  <a:lnTo>
                    <a:pt x="981" y="30"/>
                  </a:lnTo>
                  <a:lnTo>
                    <a:pt x="945" y="21"/>
                  </a:lnTo>
                  <a:lnTo>
                    <a:pt x="907" y="13"/>
                  </a:lnTo>
                  <a:lnTo>
                    <a:pt x="829" y="4"/>
                  </a:lnTo>
                  <a:lnTo>
                    <a:pt x="749" y="0"/>
                  </a:lnTo>
                  <a:lnTo>
                    <a:pt x="673" y="7"/>
                  </a:lnTo>
                  <a:lnTo>
                    <a:pt x="597" y="21"/>
                  </a:lnTo>
                  <a:lnTo>
                    <a:pt x="561" y="30"/>
                  </a:lnTo>
                  <a:lnTo>
                    <a:pt x="525" y="42"/>
                  </a:lnTo>
                  <a:lnTo>
                    <a:pt x="490" y="53"/>
                  </a:lnTo>
                  <a:lnTo>
                    <a:pt x="456" y="68"/>
                  </a:lnTo>
                  <a:lnTo>
                    <a:pt x="422" y="84"/>
                  </a:lnTo>
                  <a:lnTo>
                    <a:pt x="405" y="93"/>
                  </a:lnTo>
                  <a:lnTo>
                    <a:pt x="390" y="103"/>
                  </a:lnTo>
                  <a:lnTo>
                    <a:pt x="373" y="112"/>
                  </a:lnTo>
                  <a:lnTo>
                    <a:pt x="357" y="122"/>
                  </a:lnTo>
                  <a:lnTo>
                    <a:pt x="342" y="131"/>
                  </a:lnTo>
                  <a:lnTo>
                    <a:pt x="327" y="142"/>
                  </a:lnTo>
                  <a:lnTo>
                    <a:pt x="312" y="152"/>
                  </a:lnTo>
                  <a:lnTo>
                    <a:pt x="297" y="163"/>
                  </a:lnTo>
                  <a:lnTo>
                    <a:pt x="283" y="175"/>
                  </a:lnTo>
                  <a:lnTo>
                    <a:pt x="268" y="188"/>
                  </a:lnTo>
                  <a:lnTo>
                    <a:pt x="255" y="199"/>
                  </a:lnTo>
                  <a:lnTo>
                    <a:pt x="241" y="213"/>
                  </a:lnTo>
                  <a:lnTo>
                    <a:pt x="228" y="226"/>
                  </a:lnTo>
                  <a:lnTo>
                    <a:pt x="215" y="237"/>
                  </a:lnTo>
                  <a:lnTo>
                    <a:pt x="201" y="251"/>
                  </a:lnTo>
                  <a:lnTo>
                    <a:pt x="190" y="266"/>
                  </a:lnTo>
                  <a:lnTo>
                    <a:pt x="177" y="279"/>
                  </a:lnTo>
                  <a:lnTo>
                    <a:pt x="165" y="294"/>
                  </a:lnTo>
                  <a:lnTo>
                    <a:pt x="154" y="310"/>
                  </a:lnTo>
                  <a:lnTo>
                    <a:pt x="142" y="323"/>
                  </a:lnTo>
                  <a:lnTo>
                    <a:pt x="133" y="338"/>
                  </a:lnTo>
                  <a:lnTo>
                    <a:pt x="122" y="355"/>
                  </a:lnTo>
                  <a:lnTo>
                    <a:pt x="118" y="363"/>
                  </a:lnTo>
                  <a:lnTo>
                    <a:pt x="112" y="371"/>
                  </a:lnTo>
                  <a:lnTo>
                    <a:pt x="108" y="378"/>
                  </a:lnTo>
                  <a:lnTo>
                    <a:pt x="103" y="386"/>
                  </a:lnTo>
                  <a:lnTo>
                    <a:pt x="99" y="395"/>
                  </a:lnTo>
                  <a:lnTo>
                    <a:pt x="93" y="403"/>
                  </a:lnTo>
                  <a:lnTo>
                    <a:pt x="85" y="420"/>
                  </a:lnTo>
                  <a:lnTo>
                    <a:pt x="82" y="428"/>
                  </a:lnTo>
                  <a:lnTo>
                    <a:pt x="76" y="435"/>
                  </a:lnTo>
                  <a:lnTo>
                    <a:pt x="72" y="445"/>
                  </a:lnTo>
                  <a:lnTo>
                    <a:pt x="68" y="452"/>
                  </a:lnTo>
                  <a:lnTo>
                    <a:pt x="53" y="488"/>
                  </a:lnTo>
                  <a:lnTo>
                    <a:pt x="40" y="524"/>
                  </a:lnTo>
                  <a:lnTo>
                    <a:pt x="30" y="561"/>
                  </a:lnTo>
                  <a:lnTo>
                    <a:pt x="19" y="597"/>
                  </a:lnTo>
                  <a:lnTo>
                    <a:pt x="11" y="635"/>
                  </a:lnTo>
                  <a:lnTo>
                    <a:pt x="2" y="715"/>
                  </a:lnTo>
                  <a:lnTo>
                    <a:pt x="0" y="772"/>
                  </a:lnTo>
                  <a:lnTo>
                    <a:pt x="2" y="830"/>
                  </a:lnTo>
                  <a:lnTo>
                    <a:pt x="163" y="830"/>
                  </a:lnTo>
                  <a:lnTo>
                    <a:pt x="160" y="760"/>
                  </a:lnTo>
                  <a:lnTo>
                    <a:pt x="163" y="692"/>
                  </a:lnTo>
                  <a:lnTo>
                    <a:pt x="167" y="661"/>
                  </a:lnTo>
                  <a:lnTo>
                    <a:pt x="175" y="631"/>
                  </a:lnTo>
                  <a:lnTo>
                    <a:pt x="181" y="600"/>
                  </a:lnTo>
                  <a:lnTo>
                    <a:pt x="190" y="572"/>
                  </a:lnTo>
                  <a:lnTo>
                    <a:pt x="200" y="543"/>
                  </a:lnTo>
                  <a:lnTo>
                    <a:pt x="211" y="515"/>
                  </a:lnTo>
                  <a:lnTo>
                    <a:pt x="219" y="502"/>
                  </a:lnTo>
                  <a:lnTo>
                    <a:pt x="224" y="488"/>
                  </a:lnTo>
                  <a:lnTo>
                    <a:pt x="232" y="475"/>
                  </a:lnTo>
                  <a:lnTo>
                    <a:pt x="238" y="462"/>
                  </a:lnTo>
                  <a:lnTo>
                    <a:pt x="245" y="448"/>
                  </a:lnTo>
                  <a:lnTo>
                    <a:pt x="253" y="435"/>
                  </a:lnTo>
                  <a:lnTo>
                    <a:pt x="262" y="424"/>
                  </a:lnTo>
                  <a:lnTo>
                    <a:pt x="270" y="410"/>
                  </a:lnTo>
                  <a:lnTo>
                    <a:pt x="279" y="399"/>
                  </a:lnTo>
                  <a:lnTo>
                    <a:pt x="287" y="388"/>
                  </a:lnTo>
                  <a:lnTo>
                    <a:pt x="297" y="376"/>
                  </a:lnTo>
                  <a:lnTo>
                    <a:pt x="306" y="365"/>
                  </a:lnTo>
                  <a:lnTo>
                    <a:pt x="316" y="353"/>
                  </a:lnTo>
                  <a:lnTo>
                    <a:pt x="325" y="342"/>
                  </a:lnTo>
                  <a:lnTo>
                    <a:pt x="336" y="332"/>
                  </a:lnTo>
                  <a:lnTo>
                    <a:pt x="346" y="321"/>
                  </a:lnTo>
                  <a:lnTo>
                    <a:pt x="357" y="312"/>
                  </a:lnTo>
                  <a:lnTo>
                    <a:pt x="367" y="302"/>
                  </a:lnTo>
                  <a:lnTo>
                    <a:pt x="378" y="293"/>
                  </a:lnTo>
                  <a:lnTo>
                    <a:pt x="390" y="283"/>
                  </a:lnTo>
                  <a:lnTo>
                    <a:pt x="401" y="274"/>
                  </a:lnTo>
                  <a:lnTo>
                    <a:pt x="414" y="266"/>
                  </a:lnTo>
                  <a:lnTo>
                    <a:pt x="426" y="256"/>
                  </a:lnTo>
                  <a:lnTo>
                    <a:pt x="437" y="249"/>
                  </a:lnTo>
                  <a:lnTo>
                    <a:pt x="451" y="241"/>
                  </a:lnTo>
                  <a:lnTo>
                    <a:pt x="462" y="234"/>
                  </a:lnTo>
                  <a:lnTo>
                    <a:pt x="489" y="218"/>
                  </a:lnTo>
                  <a:lnTo>
                    <a:pt x="515" y="207"/>
                  </a:lnTo>
                  <a:lnTo>
                    <a:pt x="542" y="194"/>
                  </a:lnTo>
                  <a:lnTo>
                    <a:pt x="570" y="184"/>
                  </a:lnTo>
                  <a:lnTo>
                    <a:pt x="597" y="175"/>
                  </a:lnTo>
                  <a:lnTo>
                    <a:pt x="627" y="167"/>
                  </a:lnTo>
                  <a:lnTo>
                    <a:pt x="656" y="161"/>
                  </a:lnTo>
                  <a:lnTo>
                    <a:pt x="715" y="152"/>
                  </a:lnTo>
                  <a:lnTo>
                    <a:pt x="838" y="154"/>
                  </a:lnTo>
                  <a:lnTo>
                    <a:pt x="960" y="180"/>
                  </a:lnTo>
                  <a:lnTo>
                    <a:pt x="989" y="190"/>
                  </a:lnTo>
                  <a:lnTo>
                    <a:pt x="1015" y="201"/>
                  </a:lnTo>
                  <a:lnTo>
                    <a:pt x="1044" y="215"/>
                  </a:lnTo>
                  <a:lnTo>
                    <a:pt x="1069" y="228"/>
                  </a:lnTo>
                  <a:lnTo>
                    <a:pt x="1095" y="243"/>
                  </a:lnTo>
                  <a:lnTo>
                    <a:pt x="1107" y="253"/>
                  </a:lnTo>
                  <a:lnTo>
                    <a:pt x="1120" y="260"/>
                  </a:lnTo>
                  <a:lnTo>
                    <a:pt x="1131" y="270"/>
                  </a:lnTo>
                  <a:lnTo>
                    <a:pt x="1143" y="277"/>
                  </a:lnTo>
                  <a:lnTo>
                    <a:pt x="1156" y="287"/>
                  </a:lnTo>
                  <a:lnTo>
                    <a:pt x="1166" y="296"/>
                  </a:lnTo>
                  <a:lnTo>
                    <a:pt x="1177" y="306"/>
                  </a:lnTo>
                  <a:lnTo>
                    <a:pt x="1188" y="315"/>
                  </a:lnTo>
                  <a:lnTo>
                    <a:pt x="1198" y="327"/>
                  </a:lnTo>
                  <a:lnTo>
                    <a:pt x="1209" y="336"/>
                  </a:lnTo>
                  <a:lnTo>
                    <a:pt x="1219" y="348"/>
                  </a:lnTo>
                  <a:lnTo>
                    <a:pt x="1228" y="359"/>
                  </a:lnTo>
                  <a:lnTo>
                    <a:pt x="1238" y="369"/>
                  </a:lnTo>
                  <a:lnTo>
                    <a:pt x="1247" y="380"/>
                  </a:lnTo>
                  <a:lnTo>
                    <a:pt x="1257" y="393"/>
                  </a:lnTo>
                  <a:lnTo>
                    <a:pt x="1264" y="405"/>
                  </a:lnTo>
                  <a:lnTo>
                    <a:pt x="1274" y="416"/>
                  </a:lnTo>
                  <a:lnTo>
                    <a:pt x="1282" y="428"/>
                  </a:lnTo>
                  <a:lnTo>
                    <a:pt x="1289" y="441"/>
                  </a:lnTo>
                  <a:lnTo>
                    <a:pt x="1297" y="454"/>
                  </a:lnTo>
                  <a:lnTo>
                    <a:pt x="1304" y="466"/>
                  </a:lnTo>
                  <a:lnTo>
                    <a:pt x="1312" y="479"/>
                  </a:lnTo>
                  <a:lnTo>
                    <a:pt x="1318" y="492"/>
                  </a:lnTo>
                  <a:lnTo>
                    <a:pt x="1325" y="505"/>
                  </a:lnTo>
                  <a:lnTo>
                    <a:pt x="1337" y="532"/>
                  </a:lnTo>
                  <a:lnTo>
                    <a:pt x="1346" y="561"/>
                  </a:lnTo>
                  <a:lnTo>
                    <a:pt x="1356" y="589"/>
                  </a:lnTo>
                  <a:lnTo>
                    <a:pt x="1379" y="707"/>
                  </a:lnTo>
                  <a:lnTo>
                    <a:pt x="1380" y="768"/>
                  </a:lnTo>
                  <a:lnTo>
                    <a:pt x="1377" y="830"/>
                  </a:lnTo>
                  <a:lnTo>
                    <a:pt x="1538" y="830"/>
                  </a:lnTo>
                  <a:close/>
                </a:path>
              </a:pathLst>
            </a:custGeom>
            <a:solidFill>
              <a:srgbClr val="5F5F5F"/>
            </a:solidFill>
            <a:ln w="9525">
              <a:solidFill>
                <a:srgbClr val="5F5F5F"/>
              </a:solidFill>
              <a:round/>
              <a:headEnd/>
              <a:tailEnd/>
            </a:ln>
          </p:spPr>
          <p:txBody>
            <a:bodyPr/>
            <a:lstStyle/>
            <a:p>
              <a:endParaRPr lang="en-US"/>
            </a:p>
          </p:txBody>
        </p:sp>
        <p:sp>
          <p:nvSpPr>
            <p:cNvPr id="26678" name="Freeform 172"/>
            <p:cNvSpPr>
              <a:spLocks/>
            </p:cNvSpPr>
            <p:nvPr/>
          </p:nvSpPr>
          <p:spPr bwMode="auto">
            <a:xfrm>
              <a:off x="4506" y="3398"/>
              <a:ext cx="481" cy="198"/>
            </a:xfrm>
            <a:custGeom>
              <a:avLst/>
              <a:gdLst>
                <a:gd name="T0" fmla="*/ 0 w 2668"/>
                <a:gd name="T1" fmla="*/ 36 h 1093"/>
                <a:gd name="T2" fmla="*/ 0 w 2668"/>
                <a:gd name="T3" fmla="*/ 0 h 1093"/>
                <a:gd name="T4" fmla="*/ 87 w 2668"/>
                <a:gd name="T5" fmla="*/ 0 h 1093"/>
                <a:gd name="T6" fmla="*/ 87 w 2668"/>
                <a:gd name="T7" fmla="*/ 36 h 1093"/>
                <a:gd name="T8" fmla="*/ 79 w 2668"/>
                <a:gd name="T9" fmla="*/ 36 h 1093"/>
                <a:gd name="T10" fmla="*/ 79 w 2668"/>
                <a:gd name="T11" fmla="*/ 8 h 1093"/>
                <a:gd name="T12" fmla="*/ 8 w 2668"/>
                <a:gd name="T13" fmla="*/ 8 h 1093"/>
                <a:gd name="T14" fmla="*/ 8 w 2668"/>
                <a:gd name="T15" fmla="*/ 36 h 1093"/>
                <a:gd name="T16" fmla="*/ 0 w 2668"/>
                <a:gd name="T17" fmla="*/ 36 h 1093"/>
                <a:gd name="T18" fmla="*/ 0 w 2668"/>
                <a:gd name="T19" fmla="*/ 36 h 109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668"/>
                <a:gd name="T31" fmla="*/ 0 h 1093"/>
                <a:gd name="T32" fmla="*/ 2668 w 2668"/>
                <a:gd name="T33" fmla="*/ 1093 h 109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668" h="1093">
                  <a:moveTo>
                    <a:pt x="0" y="1093"/>
                  </a:moveTo>
                  <a:lnTo>
                    <a:pt x="0" y="0"/>
                  </a:lnTo>
                  <a:lnTo>
                    <a:pt x="2668" y="0"/>
                  </a:lnTo>
                  <a:lnTo>
                    <a:pt x="2668" y="1093"/>
                  </a:lnTo>
                  <a:lnTo>
                    <a:pt x="2425" y="1093"/>
                  </a:lnTo>
                  <a:lnTo>
                    <a:pt x="2425" y="243"/>
                  </a:lnTo>
                  <a:lnTo>
                    <a:pt x="242" y="243"/>
                  </a:lnTo>
                  <a:lnTo>
                    <a:pt x="242" y="1093"/>
                  </a:lnTo>
                  <a:lnTo>
                    <a:pt x="0" y="1093"/>
                  </a:lnTo>
                  <a:close/>
                </a:path>
              </a:pathLst>
            </a:custGeom>
            <a:solidFill>
              <a:srgbClr val="5F5F5F"/>
            </a:solidFill>
            <a:ln w="9525">
              <a:solidFill>
                <a:srgbClr val="5F5F5F"/>
              </a:solidFill>
              <a:round/>
              <a:headEnd/>
              <a:tailEnd/>
            </a:ln>
          </p:spPr>
          <p:txBody>
            <a:bodyPr/>
            <a:lstStyle/>
            <a:p>
              <a:endParaRPr lang="en-US"/>
            </a:p>
          </p:txBody>
        </p:sp>
        <p:sp>
          <p:nvSpPr>
            <p:cNvPr id="26679" name="Freeform 173"/>
            <p:cNvSpPr>
              <a:spLocks/>
            </p:cNvSpPr>
            <p:nvPr/>
          </p:nvSpPr>
          <p:spPr bwMode="auto">
            <a:xfrm>
              <a:off x="4506" y="3596"/>
              <a:ext cx="481" cy="240"/>
            </a:xfrm>
            <a:custGeom>
              <a:avLst/>
              <a:gdLst>
                <a:gd name="T0" fmla="*/ 86 w 2668"/>
                <a:gd name="T1" fmla="*/ 9 h 1334"/>
                <a:gd name="T2" fmla="*/ 84 w 2668"/>
                <a:gd name="T3" fmla="*/ 14 h 1334"/>
                <a:gd name="T4" fmla="*/ 83 w 2668"/>
                <a:gd name="T5" fmla="*/ 18 h 1334"/>
                <a:gd name="T6" fmla="*/ 82 w 2668"/>
                <a:gd name="T7" fmla="*/ 20 h 1334"/>
                <a:gd name="T8" fmla="*/ 80 w 2668"/>
                <a:gd name="T9" fmla="*/ 22 h 1334"/>
                <a:gd name="T10" fmla="*/ 79 w 2668"/>
                <a:gd name="T11" fmla="*/ 24 h 1334"/>
                <a:gd name="T12" fmla="*/ 78 w 2668"/>
                <a:gd name="T13" fmla="*/ 27 h 1334"/>
                <a:gd name="T14" fmla="*/ 76 w 2668"/>
                <a:gd name="T15" fmla="*/ 29 h 1334"/>
                <a:gd name="T16" fmla="*/ 74 w 2668"/>
                <a:gd name="T17" fmla="*/ 30 h 1334"/>
                <a:gd name="T18" fmla="*/ 72 w 2668"/>
                <a:gd name="T19" fmla="*/ 32 h 1334"/>
                <a:gd name="T20" fmla="*/ 70 w 2668"/>
                <a:gd name="T21" fmla="*/ 34 h 1334"/>
                <a:gd name="T22" fmla="*/ 68 w 2668"/>
                <a:gd name="T23" fmla="*/ 35 h 1334"/>
                <a:gd name="T24" fmla="*/ 66 w 2668"/>
                <a:gd name="T25" fmla="*/ 37 h 1334"/>
                <a:gd name="T26" fmla="*/ 63 w 2668"/>
                <a:gd name="T27" fmla="*/ 38 h 1334"/>
                <a:gd name="T28" fmla="*/ 59 w 2668"/>
                <a:gd name="T29" fmla="*/ 40 h 1334"/>
                <a:gd name="T30" fmla="*/ 54 w 2668"/>
                <a:gd name="T31" fmla="*/ 42 h 1334"/>
                <a:gd name="T32" fmla="*/ 43 w 2668"/>
                <a:gd name="T33" fmla="*/ 43 h 1334"/>
                <a:gd name="T34" fmla="*/ 30 w 2668"/>
                <a:gd name="T35" fmla="*/ 41 h 1334"/>
                <a:gd name="T36" fmla="*/ 26 w 2668"/>
                <a:gd name="T37" fmla="*/ 39 h 1334"/>
                <a:gd name="T38" fmla="*/ 22 w 2668"/>
                <a:gd name="T39" fmla="*/ 37 h 1334"/>
                <a:gd name="T40" fmla="*/ 19 w 2668"/>
                <a:gd name="T41" fmla="*/ 36 h 1334"/>
                <a:gd name="T42" fmla="*/ 17 w 2668"/>
                <a:gd name="T43" fmla="*/ 35 h 1334"/>
                <a:gd name="T44" fmla="*/ 15 w 2668"/>
                <a:gd name="T45" fmla="*/ 33 h 1334"/>
                <a:gd name="T46" fmla="*/ 14 w 2668"/>
                <a:gd name="T47" fmla="*/ 31 h 1334"/>
                <a:gd name="T48" fmla="*/ 12 w 2668"/>
                <a:gd name="T49" fmla="*/ 30 h 1334"/>
                <a:gd name="T50" fmla="*/ 10 w 2668"/>
                <a:gd name="T51" fmla="*/ 28 h 1334"/>
                <a:gd name="T52" fmla="*/ 8 w 2668"/>
                <a:gd name="T53" fmla="*/ 26 h 1334"/>
                <a:gd name="T54" fmla="*/ 7 w 2668"/>
                <a:gd name="T55" fmla="*/ 23 h 1334"/>
                <a:gd name="T56" fmla="*/ 5 w 2668"/>
                <a:gd name="T57" fmla="*/ 21 h 1334"/>
                <a:gd name="T58" fmla="*/ 4 w 2668"/>
                <a:gd name="T59" fmla="*/ 19 h 1334"/>
                <a:gd name="T60" fmla="*/ 3 w 2668"/>
                <a:gd name="T61" fmla="*/ 16 h 1334"/>
                <a:gd name="T62" fmla="*/ 1 w 2668"/>
                <a:gd name="T63" fmla="*/ 11 h 1334"/>
                <a:gd name="T64" fmla="*/ 0 w 2668"/>
                <a:gd name="T65" fmla="*/ 0 h 1334"/>
                <a:gd name="T66" fmla="*/ 9 w 2668"/>
                <a:gd name="T67" fmla="*/ 8 h 1334"/>
                <a:gd name="T68" fmla="*/ 10 w 2668"/>
                <a:gd name="T69" fmla="*/ 12 h 1334"/>
                <a:gd name="T70" fmla="*/ 11 w 2668"/>
                <a:gd name="T71" fmla="*/ 15 h 1334"/>
                <a:gd name="T72" fmla="*/ 12 w 2668"/>
                <a:gd name="T73" fmla="*/ 17 h 1334"/>
                <a:gd name="T74" fmla="*/ 13 w 2668"/>
                <a:gd name="T75" fmla="*/ 19 h 1334"/>
                <a:gd name="T76" fmla="*/ 14 w 2668"/>
                <a:gd name="T77" fmla="*/ 21 h 1334"/>
                <a:gd name="T78" fmla="*/ 16 w 2668"/>
                <a:gd name="T79" fmla="*/ 22 h 1334"/>
                <a:gd name="T80" fmla="*/ 17 w 2668"/>
                <a:gd name="T81" fmla="*/ 24 h 1334"/>
                <a:gd name="T82" fmla="*/ 19 w 2668"/>
                <a:gd name="T83" fmla="*/ 25 h 1334"/>
                <a:gd name="T84" fmla="*/ 20 w 2668"/>
                <a:gd name="T85" fmla="*/ 27 h 1334"/>
                <a:gd name="T86" fmla="*/ 22 w 2668"/>
                <a:gd name="T87" fmla="*/ 28 h 1334"/>
                <a:gd name="T88" fmla="*/ 24 w 2668"/>
                <a:gd name="T89" fmla="*/ 29 h 1334"/>
                <a:gd name="T90" fmla="*/ 27 w 2668"/>
                <a:gd name="T91" fmla="*/ 31 h 1334"/>
                <a:gd name="T92" fmla="*/ 31 w 2668"/>
                <a:gd name="T93" fmla="*/ 33 h 1334"/>
                <a:gd name="T94" fmla="*/ 36 w 2668"/>
                <a:gd name="T95" fmla="*/ 35 h 1334"/>
                <a:gd name="T96" fmla="*/ 50 w 2668"/>
                <a:gd name="T97" fmla="*/ 35 h 1334"/>
                <a:gd name="T98" fmla="*/ 56 w 2668"/>
                <a:gd name="T99" fmla="*/ 33 h 1334"/>
                <a:gd name="T100" fmla="*/ 60 w 2668"/>
                <a:gd name="T101" fmla="*/ 31 h 1334"/>
                <a:gd name="T102" fmla="*/ 64 w 2668"/>
                <a:gd name="T103" fmla="*/ 29 h 1334"/>
                <a:gd name="T104" fmla="*/ 66 w 2668"/>
                <a:gd name="T105" fmla="*/ 27 h 1334"/>
                <a:gd name="T106" fmla="*/ 67 w 2668"/>
                <a:gd name="T107" fmla="*/ 26 h 1334"/>
                <a:gd name="T108" fmla="*/ 69 w 2668"/>
                <a:gd name="T109" fmla="*/ 24 h 1334"/>
                <a:gd name="T110" fmla="*/ 70 w 2668"/>
                <a:gd name="T111" fmla="*/ 23 h 1334"/>
                <a:gd name="T112" fmla="*/ 72 w 2668"/>
                <a:gd name="T113" fmla="*/ 21 h 1334"/>
                <a:gd name="T114" fmla="*/ 73 w 2668"/>
                <a:gd name="T115" fmla="*/ 19 h 1334"/>
                <a:gd name="T116" fmla="*/ 74 w 2668"/>
                <a:gd name="T117" fmla="*/ 18 h 1334"/>
                <a:gd name="T118" fmla="*/ 75 w 2668"/>
                <a:gd name="T119" fmla="*/ 16 h 1334"/>
                <a:gd name="T120" fmla="*/ 76 w 2668"/>
                <a:gd name="T121" fmla="*/ 14 h 1334"/>
                <a:gd name="T122" fmla="*/ 78 w 2668"/>
                <a:gd name="T123" fmla="*/ 10 h 1334"/>
                <a:gd name="T124" fmla="*/ 79 w 2668"/>
                <a:gd name="T125" fmla="*/ 0 h 13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68"/>
                <a:gd name="T190" fmla="*/ 0 h 1334"/>
                <a:gd name="T191" fmla="*/ 2668 w 2668"/>
                <a:gd name="T192" fmla="*/ 1334 h 13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68" h="1334">
                  <a:moveTo>
                    <a:pt x="2668" y="0"/>
                  </a:moveTo>
                  <a:lnTo>
                    <a:pt x="2666" y="68"/>
                  </a:lnTo>
                  <a:lnTo>
                    <a:pt x="2660" y="137"/>
                  </a:lnTo>
                  <a:lnTo>
                    <a:pt x="2653" y="203"/>
                  </a:lnTo>
                  <a:lnTo>
                    <a:pt x="2639" y="270"/>
                  </a:lnTo>
                  <a:lnTo>
                    <a:pt x="2634" y="302"/>
                  </a:lnTo>
                  <a:lnTo>
                    <a:pt x="2626" y="332"/>
                  </a:lnTo>
                  <a:lnTo>
                    <a:pt x="2617" y="365"/>
                  </a:lnTo>
                  <a:lnTo>
                    <a:pt x="2607" y="397"/>
                  </a:lnTo>
                  <a:lnTo>
                    <a:pt x="2598" y="427"/>
                  </a:lnTo>
                  <a:lnTo>
                    <a:pt x="2586" y="458"/>
                  </a:lnTo>
                  <a:lnTo>
                    <a:pt x="2575" y="488"/>
                  </a:lnTo>
                  <a:lnTo>
                    <a:pt x="2561" y="519"/>
                  </a:lnTo>
                  <a:lnTo>
                    <a:pt x="2556" y="534"/>
                  </a:lnTo>
                  <a:lnTo>
                    <a:pt x="2550" y="549"/>
                  </a:lnTo>
                  <a:lnTo>
                    <a:pt x="2542" y="564"/>
                  </a:lnTo>
                  <a:lnTo>
                    <a:pt x="2535" y="578"/>
                  </a:lnTo>
                  <a:lnTo>
                    <a:pt x="2529" y="593"/>
                  </a:lnTo>
                  <a:lnTo>
                    <a:pt x="2522" y="608"/>
                  </a:lnTo>
                  <a:lnTo>
                    <a:pt x="2514" y="621"/>
                  </a:lnTo>
                  <a:lnTo>
                    <a:pt x="2506" y="636"/>
                  </a:lnTo>
                  <a:lnTo>
                    <a:pt x="2499" y="650"/>
                  </a:lnTo>
                  <a:lnTo>
                    <a:pt x="2491" y="663"/>
                  </a:lnTo>
                  <a:lnTo>
                    <a:pt x="2482" y="678"/>
                  </a:lnTo>
                  <a:lnTo>
                    <a:pt x="2474" y="692"/>
                  </a:lnTo>
                  <a:lnTo>
                    <a:pt x="2466" y="705"/>
                  </a:lnTo>
                  <a:lnTo>
                    <a:pt x="2457" y="718"/>
                  </a:lnTo>
                  <a:lnTo>
                    <a:pt x="2447" y="732"/>
                  </a:lnTo>
                  <a:lnTo>
                    <a:pt x="2440" y="745"/>
                  </a:lnTo>
                  <a:lnTo>
                    <a:pt x="2430" y="758"/>
                  </a:lnTo>
                  <a:lnTo>
                    <a:pt x="2421" y="771"/>
                  </a:lnTo>
                  <a:lnTo>
                    <a:pt x="2411" y="785"/>
                  </a:lnTo>
                  <a:lnTo>
                    <a:pt x="2402" y="798"/>
                  </a:lnTo>
                  <a:lnTo>
                    <a:pt x="2392" y="811"/>
                  </a:lnTo>
                  <a:lnTo>
                    <a:pt x="2383" y="823"/>
                  </a:lnTo>
                  <a:lnTo>
                    <a:pt x="2373" y="836"/>
                  </a:lnTo>
                  <a:lnTo>
                    <a:pt x="2362" y="849"/>
                  </a:lnTo>
                  <a:lnTo>
                    <a:pt x="2352" y="861"/>
                  </a:lnTo>
                  <a:lnTo>
                    <a:pt x="2341" y="872"/>
                  </a:lnTo>
                  <a:lnTo>
                    <a:pt x="2331" y="885"/>
                  </a:lnTo>
                  <a:lnTo>
                    <a:pt x="2320" y="897"/>
                  </a:lnTo>
                  <a:lnTo>
                    <a:pt x="2309" y="908"/>
                  </a:lnTo>
                  <a:lnTo>
                    <a:pt x="2299" y="920"/>
                  </a:lnTo>
                  <a:lnTo>
                    <a:pt x="2288" y="931"/>
                  </a:lnTo>
                  <a:lnTo>
                    <a:pt x="2276" y="942"/>
                  </a:lnTo>
                  <a:lnTo>
                    <a:pt x="2265" y="954"/>
                  </a:lnTo>
                  <a:lnTo>
                    <a:pt x="2253" y="965"/>
                  </a:lnTo>
                  <a:lnTo>
                    <a:pt x="2242" y="977"/>
                  </a:lnTo>
                  <a:lnTo>
                    <a:pt x="2231" y="988"/>
                  </a:lnTo>
                  <a:lnTo>
                    <a:pt x="2217" y="998"/>
                  </a:lnTo>
                  <a:lnTo>
                    <a:pt x="2206" y="1009"/>
                  </a:lnTo>
                  <a:lnTo>
                    <a:pt x="2194" y="1018"/>
                  </a:lnTo>
                  <a:lnTo>
                    <a:pt x="2181" y="1030"/>
                  </a:lnTo>
                  <a:lnTo>
                    <a:pt x="2170" y="1039"/>
                  </a:lnTo>
                  <a:lnTo>
                    <a:pt x="2156" y="1049"/>
                  </a:lnTo>
                  <a:lnTo>
                    <a:pt x="2143" y="1058"/>
                  </a:lnTo>
                  <a:lnTo>
                    <a:pt x="2132" y="1070"/>
                  </a:lnTo>
                  <a:lnTo>
                    <a:pt x="2118" y="1079"/>
                  </a:lnTo>
                  <a:lnTo>
                    <a:pt x="2105" y="1089"/>
                  </a:lnTo>
                  <a:lnTo>
                    <a:pt x="2092" y="1096"/>
                  </a:lnTo>
                  <a:lnTo>
                    <a:pt x="2078" y="1106"/>
                  </a:lnTo>
                  <a:lnTo>
                    <a:pt x="2065" y="1115"/>
                  </a:lnTo>
                  <a:lnTo>
                    <a:pt x="2052" y="1123"/>
                  </a:lnTo>
                  <a:lnTo>
                    <a:pt x="2039" y="1133"/>
                  </a:lnTo>
                  <a:lnTo>
                    <a:pt x="2025" y="1140"/>
                  </a:lnTo>
                  <a:lnTo>
                    <a:pt x="2010" y="1150"/>
                  </a:lnTo>
                  <a:lnTo>
                    <a:pt x="1997" y="1157"/>
                  </a:lnTo>
                  <a:lnTo>
                    <a:pt x="1983" y="1165"/>
                  </a:lnTo>
                  <a:lnTo>
                    <a:pt x="1968" y="1172"/>
                  </a:lnTo>
                  <a:lnTo>
                    <a:pt x="1955" y="1180"/>
                  </a:lnTo>
                  <a:lnTo>
                    <a:pt x="1940" y="1188"/>
                  </a:lnTo>
                  <a:lnTo>
                    <a:pt x="1911" y="1203"/>
                  </a:lnTo>
                  <a:lnTo>
                    <a:pt x="1883" y="1216"/>
                  </a:lnTo>
                  <a:lnTo>
                    <a:pt x="1852" y="1229"/>
                  </a:lnTo>
                  <a:lnTo>
                    <a:pt x="1822" y="1241"/>
                  </a:lnTo>
                  <a:lnTo>
                    <a:pt x="1791" y="1254"/>
                  </a:lnTo>
                  <a:lnTo>
                    <a:pt x="1761" y="1264"/>
                  </a:lnTo>
                  <a:lnTo>
                    <a:pt x="1730" y="1275"/>
                  </a:lnTo>
                  <a:lnTo>
                    <a:pt x="1698" y="1285"/>
                  </a:lnTo>
                  <a:lnTo>
                    <a:pt x="1666" y="1292"/>
                  </a:lnTo>
                  <a:lnTo>
                    <a:pt x="1635" y="1300"/>
                  </a:lnTo>
                  <a:lnTo>
                    <a:pt x="1603" y="1307"/>
                  </a:lnTo>
                  <a:lnTo>
                    <a:pt x="1537" y="1319"/>
                  </a:lnTo>
                  <a:lnTo>
                    <a:pt x="1470" y="1328"/>
                  </a:lnTo>
                  <a:lnTo>
                    <a:pt x="1333" y="1334"/>
                  </a:lnTo>
                  <a:lnTo>
                    <a:pt x="1198" y="1328"/>
                  </a:lnTo>
                  <a:lnTo>
                    <a:pt x="1065" y="1307"/>
                  </a:lnTo>
                  <a:lnTo>
                    <a:pt x="1000" y="1292"/>
                  </a:lnTo>
                  <a:lnTo>
                    <a:pt x="970" y="1285"/>
                  </a:lnTo>
                  <a:lnTo>
                    <a:pt x="937" y="1275"/>
                  </a:lnTo>
                  <a:lnTo>
                    <a:pt x="907" y="1266"/>
                  </a:lnTo>
                  <a:lnTo>
                    <a:pt x="875" y="1254"/>
                  </a:lnTo>
                  <a:lnTo>
                    <a:pt x="844" y="1243"/>
                  </a:lnTo>
                  <a:lnTo>
                    <a:pt x="816" y="1229"/>
                  </a:lnTo>
                  <a:lnTo>
                    <a:pt x="785" y="1216"/>
                  </a:lnTo>
                  <a:lnTo>
                    <a:pt x="757" y="1203"/>
                  </a:lnTo>
                  <a:lnTo>
                    <a:pt x="726" y="1190"/>
                  </a:lnTo>
                  <a:lnTo>
                    <a:pt x="698" y="1174"/>
                  </a:lnTo>
                  <a:lnTo>
                    <a:pt x="685" y="1167"/>
                  </a:lnTo>
                  <a:lnTo>
                    <a:pt x="669" y="1157"/>
                  </a:lnTo>
                  <a:lnTo>
                    <a:pt x="656" y="1150"/>
                  </a:lnTo>
                  <a:lnTo>
                    <a:pt x="643" y="1142"/>
                  </a:lnTo>
                  <a:lnTo>
                    <a:pt x="629" y="1133"/>
                  </a:lnTo>
                  <a:lnTo>
                    <a:pt x="614" y="1125"/>
                  </a:lnTo>
                  <a:lnTo>
                    <a:pt x="601" y="1115"/>
                  </a:lnTo>
                  <a:lnTo>
                    <a:pt x="588" y="1106"/>
                  </a:lnTo>
                  <a:lnTo>
                    <a:pt x="574" y="1098"/>
                  </a:lnTo>
                  <a:lnTo>
                    <a:pt x="563" y="1089"/>
                  </a:lnTo>
                  <a:lnTo>
                    <a:pt x="550" y="1079"/>
                  </a:lnTo>
                  <a:lnTo>
                    <a:pt x="536" y="1070"/>
                  </a:lnTo>
                  <a:lnTo>
                    <a:pt x="523" y="1060"/>
                  </a:lnTo>
                  <a:lnTo>
                    <a:pt x="510" y="1051"/>
                  </a:lnTo>
                  <a:lnTo>
                    <a:pt x="498" y="1039"/>
                  </a:lnTo>
                  <a:lnTo>
                    <a:pt x="485" y="1030"/>
                  </a:lnTo>
                  <a:lnTo>
                    <a:pt x="474" y="1020"/>
                  </a:lnTo>
                  <a:lnTo>
                    <a:pt x="460" y="1009"/>
                  </a:lnTo>
                  <a:lnTo>
                    <a:pt x="449" y="999"/>
                  </a:lnTo>
                  <a:lnTo>
                    <a:pt x="437" y="988"/>
                  </a:lnTo>
                  <a:lnTo>
                    <a:pt x="426" y="977"/>
                  </a:lnTo>
                  <a:lnTo>
                    <a:pt x="415" y="965"/>
                  </a:lnTo>
                  <a:lnTo>
                    <a:pt x="401" y="956"/>
                  </a:lnTo>
                  <a:lnTo>
                    <a:pt x="390" y="944"/>
                  </a:lnTo>
                  <a:lnTo>
                    <a:pt x="378" y="933"/>
                  </a:lnTo>
                  <a:lnTo>
                    <a:pt x="369" y="922"/>
                  </a:lnTo>
                  <a:lnTo>
                    <a:pt x="358" y="910"/>
                  </a:lnTo>
                  <a:lnTo>
                    <a:pt x="346" y="897"/>
                  </a:lnTo>
                  <a:lnTo>
                    <a:pt x="337" y="885"/>
                  </a:lnTo>
                  <a:lnTo>
                    <a:pt x="325" y="874"/>
                  </a:lnTo>
                  <a:lnTo>
                    <a:pt x="316" y="861"/>
                  </a:lnTo>
                  <a:lnTo>
                    <a:pt x="304" y="849"/>
                  </a:lnTo>
                  <a:lnTo>
                    <a:pt x="295" y="836"/>
                  </a:lnTo>
                  <a:lnTo>
                    <a:pt x="285" y="825"/>
                  </a:lnTo>
                  <a:lnTo>
                    <a:pt x="274" y="811"/>
                  </a:lnTo>
                  <a:lnTo>
                    <a:pt x="264" y="798"/>
                  </a:lnTo>
                  <a:lnTo>
                    <a:pt x="255" y="787"/>
                  </a:lnTo>
                  <a:lnTo>
                    <a:pt x="245" y="773"/>
                  </a:lnTo>
                  <a:lnTo>
                    <a:pt x="236" y="760"/>
                  </a:lnTo>
                  <a:lnTo>
                    <a:pt x="228" y="747"/>
                  </a:lnTo>
                  <a:lnTo>
                    <a:pt x="219" y="733"/>
                  </a:lnTo>
                  <a:lnTo>
                    <a:pt x="209" y="720"/>
                  </a:lnTo>
                  <a:lnTo>
                    <a:pt x="202" y="705"/>
                  </a:lnTo>
                  <a:lnTo>
                    <a:pt x="192" y="692"/>
                  </a:lnTo>
                  <a:lnTo>
                    <a:pt x="184" y="678"/>
                  </a:lnTo>
                  <a:lnTo>
                    <a:pt x="177" y="665"/>
                  </a:lnTo>
                  <a:lnTo>
                    <a:pt x="169" y="650"/>
                  </a:lnTo>
                  <a:lnTo>
                    <a:pt x="160" y="636"/>
                  </a:lnTo>
                  <a:lnTo>
                    <a:pt x="152" y="621"/>
                  </a:lnTo>
                  <a:lnTo>
                    <a:pt x="145" y="608"/>
                  </a:lnTo>
                  <a:lnTo>
                    <a:pt x="139" y="593"/>
                  </a:lnTo>
                  <a:lnTo>
                    <a:pt x="131" y="579"/>
                  </a:lnTo>
                  <a:lnTo>
                    <a:pt x="124" y="564"/>
                  </a:lnTo>
                  <a:lnTo>
                    <a:pt x="118" y="549"/>
                  </a:lnTo>
                  <a:lnTo>
                    <a:pt x="110" y="534"/>
                  </a:lnTo>
                  <a:lnTo>
                    <a:pt x="105" y="519"/>
                  </a:lnTo>
                  <a:lnTo>
                    <a:pt x="91" y="490"/>
                  </a:lnTo>
                  <a:lnTo>
                    <a:pt x="80" y="460"/>
                  </a:lnTo>
                  <a:lnTo>
                    <a:pt x="68" y="427"/>
                  </a:lnTo>
                  <a:lnTo>
                    <a:pt x="59" y="397"/>
                  </a:lnTo>
                  <a:lnTo>
                    <a:pt x="49" y="365"/>
                  </a:lnTo>
                  <a:lnTo>
                    <a:pt x="42" y="334"/>
                  </a:lnTo>
                  <a:lnTo>
                    <a:pt x="32" y="302"/>
                  </a:lnTo>
                  <a:lnTo>
                    <a:pt x="27" y="270"/>
                  </a:lnTo>
                  <a:lnTo>
                    <a:pt x="15" y="203"/>
                  </a:lnTo>
                  <a:lnTo>
                    <a:pt x="6" y="137"/>
                  </a:lnTo>
                  <a:lnTo>
                    <a:pt x="0" y="0"/>
                  </a:lnTo>
                  <a:lnTo>
                    <a:pt x="242" y="0"/>
                  </a:lnTo>
                  <a:lnTo>
                    <a:pt x="247" y="112"/>
                  </a:lnTo>
                  <a:lnTo>
                    <a:pt x="255" y="167"/>
                  </a:lnTo>
                  <a:lnTo>
                    <a:pt x="264" y="220"/>
                  </a:lnTo>
                  <a:lnTo>
                    <a:pt x="270" y="247"/>
                  </a:lnTo>
                  <a:lnTo>
                    <a:pt x="276" y="273"/>
                  </a:lnTo>
                  <a:lnTo>
                    <a:pt x="283" y="298"/>
                  </a:lnTo>
                  <a:lnTo>
                    <a:pt x="291" y="325"/>
                  </a:lnTo>
                  <a:lnTo>
                    <a:pt x="299" y="349"/>
                  </a:lnTo>
                  <a:lnTo>
                    <a:pt x="308" y="376"/>
                  </a:lnTo>
                  <a:lnTo>
                    <a:pt x="318" y="401"/>
                  </a:lnTo>
                  <a:lnTo>
                    <a:pt x="327" y="426"/>
                  </a:lnTo>
                  <a:lnTo>
                    <a:pt x="333" y="437"/>
                  </a:lnTo>
                  <a:lnTo>
                    <a:pt x="338" y="450"/>
                  </a:lnTo>
                  <a:lnTo>
                    <a:pt x="344" y="462"/>
                  </a:lnTo>
                  <a:lnTo>
                    <a:pt x="350" y="473"/>
                  </a:lnTo>
                  <a:lnTo>
                    <a:pt x="356" y="486"/>
                  </a:lnTo>
                  <a:lnTo>
                    <a:pt x="361" y="498"/>
                  </a:lnTo>
                  <a:lnTo>
                    <a:pt x="367" y="509"/>
                  </a:lnTo>
                  <a:lnTo>
                    <a:pt x="375" y="521"/>
                  </a:lnTo>
                  <a:lnTo>
                    <a:pt x="380" y="532"/>
                  </a:lnTo>
                  <a:lnTo>
                    <a:pt x="386" y="543"/>
                  </a:lnTo>
                  <a:lnTo>
                    <a:pt x="394" y="555"/>
                  </a:lnTo>
                  <a:lnTo>
                    <a:pt x="399" y="566"/>
                  </a:lnTo>
                  <a:lnTo>
                    <a:pt x="407" y="578"/>
                  </a:lnTo>
                  <a:lnTo>
                    <a:pt x="415" y="589"/>
                  </a:lnTo>
                  <a:lnTo>
                    <a:pt x="422" y="600"/>
                  </a:lnTo>
                  <a:lnTo>
                    <a:pt x="428" y="610"/>
                  </a:lnTo>
                  <a:lnTo>
                    <a:pt x="435" y="621"/>
                  </a:lnTo>
                  <a:lnTo>
                    <a:pt x="443" y="633"/>
                  </a:lnTo>
                  <a:lnTo>
                    <a:pt x="451" y="642"/>
                  </a:lnTo>
                  <a:lnTo>
                    <a:pt x="458" y="654"/>
                  </a:lnTo>
                  <a:lnTo>
                    <a:pt x="468" y="663"/>
                  </a:lnTo>
                  <a:lnTo>
                    <a:pt x="475" y="674"/>
                  </a:lnTo>
                  <a:lnTo>
                    <a:pt x="483" y="684"/>
                  </a:lnTo>
                  <a:lnTo>
                    <a:pt x="491" y="695"/>
                  </a:lnTo>
                  <a:lnTo>
                    <a:pt x="500" y="705"/>
                  </a:lnTo>
                  <a:lnTo>
                    <a:pt x="508" y="714"/>
                  </a:lnTo>
                  <a:lnTo>
                    <a:pt x="517" y="724"/>
                  </a:lnTo>
                  <a:lnTo>
                    <a:pt x="527" y="733"/>
                  </a:lnTo>
                  <a:lnTo>
                    <a:pt x="534" y="745"/>
                  </a:lnTo>
                  <a:lnTo>
                    <a:pt x="544" y="754"/>
                  </a:lnTo>
                  <a:lnTo>
                    <a:pt x="553" y="764"/>
                  </a:lnTo>
                  <a:lnTo>
                    <a:pt x="563" y="771"/>
                  </a:lnTo>
                  <a:lnTo>
                    <a:pt x="572" y="781"/>
                  </a:lnTo>
                  <a:lnTo>
                    <a:pt x="580" y="790"/>
                  </a:lnTo>
                  <a:lnTo>
                    <a:pt x="590" y="800"/>
                  </a:lnTo>
                  <a:lnTo>
                    <a:pt x="601" y="808"/>
                  </a:lnTo>
                  <a:lnTo>
                    <a:pt x="610" y="817"/>
                  </a:lnTo>
                  <a:lnTo>
                    <a:pt x="620" y="827"/>
                  </a:lnTo>
                  <a:lnTo>
                    <a:pt x="629" y="834"/>
                  </a:lnTo>
                  <a:lnTo>
                    <a:pt x="639" y="842"/>
                  </a:lnTo>
                  <a:lnTo>
                    <a:pt x="650" y="851"/>
                  </a:lnTo>
                  <a:lnTo>
                    <a:pt x="660" y="859"/>
                  </a:lnTo>
                  <a:lnTo>
                    <a:pt x="671" y="866"/>
                  </a:lnTo>
                  <a:lnTo>
                    <a:pt x="681" y="876"/>
                  </a:lnTo>
                  <a:lnTo>
                    <a:pt x="692" y="884"/>
                  </a:lnTo>
                  <a:lnTo>
                    <a:pt x="702" y="891"/>
                  </a:lnTo>
                  <a:lnTo>
                    <a:pt x="713" y="899"/>
                  </a:lnTo>
                  <a:lnTo>
                    <a:pt x="725" y="906"/>
                  </a:lnTo>
                  <a:lnTo>
                    <a:pt x="745" y="920"/>
                  </a:lnTo>
                  <a:lnTo>
                    <a:pt x="768" y="935"/>
                  </a:lnTo>
                  <a:lnTo>
                    <a:pt x="791" y="948"/>
                  </a:lnTo>
                  <a:lnTo>
                    <a:pt x="814" y="960"/>
                  </a:lnTo>
                  <a:lnTo>
                    <a:pt x="837" y="973"/>
                  </a:lnTo>
                  <a:lnTo>
                    <a:pt x="861" y="984"/>
                  </a:lnTo>
                  <a:lnTo>
                    <a:pt x="884" y="996"/>
                  </a:lnTo>
                  <a:lnTo>
                    <a:pt x="909" y="1007"/>
                  </a:lnTo>
                  <a:lnTo>
                    <a:pt x="934" y="1017"/>
                  </a:lnTo>
                  <a:lnTo>
                    <a:pt x="958" y="1026"/>
                  </a:lnTo>
                  <a:lnTo>
                    <a:pt x="983" y="1034"/>
                  </a:lnTo>
                  <a:lnTo>
                    <a:pt x="1010" y="1043"/>
                  </a:lnTo>
                  <a:lnTo>
                    <a:pt x="1034" y="1051"/>
                  </a:lnTo>
                  <a:lnTo>
                    <a:pt x="1061" y="1058"/>
                  </a:lnTo>
                  <a:lnTo>
                    <a:pt x="1114" y="1070"/>
                  </a:lnTo>
                  <a:lnTo>
                    <a:pt x="1168" y="1079"/>
                  </a:lnTo>
                  <a:lnTo>
                    <a:pt x="1223" y="1087"/>
                  </a:lnTo>
                  <a:lnTo>
                    <a:pt x="1333" y="1093"/>
                  </a:lnTo>
                  <a:lnTo>
                    <a:pt x="1445" y="1087"/>
                  </a:lnTo>
                  <a:lnTo>
                    <a:pt x="1554" y="1070"/>
                  </a:lnTo>
                  <a:lnTo>
                    <a:pt x="1607" y="1057"/>
                  </a:lnTo>
                  <a:lnTo>
                    <a:pt x="1658" y="1043"/>
                  </a:lnTo>
                  <a:lnTo>
                    <a:pt x="1683" y="1034"/>
                  </a:lnTo>
                  <a:lnTo>
                    <a:pt x="1710" y="1026"/>
                  </a:lnTo>
                  <a:lnTo>
                    <a:pt x="1734" y="1017"/>
                  </a:lnTo>
                  <a:lnTo>
                    <a:pt x="1757" y="1005"/>
                  </a:lnTo>
                  <a:lnTo>
                    <a:pt x="1782" y="996"/>
                  </a:lnTo>
                  <a:lnTo>
                    <a:pt x="1807" y="984"/>
                  </a:lnTo>
                  <a:lnTo>
                    <a:pt x="1829" y="973"/>
                  </a:lnTo>
                  <a:lnTo>
                    <a:pt x="1854" y="960"/>
                  </a:lnTo>
                  <a:lnTo>
                    <a:pt x="1877" y="946"/>
                  </a:lnTo>
                  <a:lnTo>
                    <a:pt x="1900" y="933"/>
                  </a:lnTo>
                  <a:lnTo>
                    <a:pt x="1921" y="920"/>
                  </a:lnTo>
                  <a:lnTo>
                    <a:pt x="1943" y="904"/>
                  </a:lnTo>
                  <a:lnTo>
                    <a:pt x="1964" y="889"/>
                  </a:lnTo>
                  <a:lnTo>
                    <a:pt x="1985" y="874"/>
                  </a:lnTo>
                  <a:lnTo>
                    <a:pt x="1997" y="866"/>
                  </a:lnTo>
                  <a:lnTo>
                    <a:pt x="2006" y="859"/>
                  </a:lnTo>
                  <a:lnTo>
                    <a:pt x="2018" y="849"/>
                  </a:lnTo>
                  <a:lnTo>
                    <a:pt x="2027" y="842"/>
                  </a:lnTo>
                  <a:lnTo>
                    <a:pt x="2037" y="834"/>
                  </a:lnTo>
                  <a:lnTo>
                    <a:pt x="2048" y="825"/>
                  </a:lnTo>
                  <a:lnTo>
                    <a:pt x="2058" y="817"/>
                  </a:lnTo>
                  <a:lnTo>
                    <a:pt x="2067" y="808"/>
                  </a:lnTo>
                  <a:lnTo>
                    <a:pt x="2077" y="798"/>
                  </a:lnTo>
                  <a:lnTo>
                    <a:pt x="2086" y="790"/>
                  </a:lnTo>
                  <a:lnTo>
                    <a:pt x="2096" y="781"/>
                  </a:lnTo>
                  <a:lnTo>
                    <a:pt x="2105" y="771"/>
                  </a:lnTo>
                  <a:lnTo>
                    <a:pt x="2115" y="762"/>
                  </a:lnTo>
                  <a:lnTo>
                    <a:pt x="2122" y="752"/>
                  </a:lnTo>
                  <a:lnTo>
                    <a:pt x="2132" y="743"/>
                  </a:lnTo>
                  <a:lnTo>
                    <a:pt x="2141" y="733"/>
                  </a:lnTo>
                  <a:lnTo>
                    <a:pt x="2149" y="724"/>
                  </a:lnTo>
                  <a:lnTo>
                    <a:pt x="2158" y="714"/>
                  </a:lnTo>
                  <a:lnTo>
                    <a:pt x="2168" y="705"/>
                  </a:lnTo>
                  <a:lnTo>
                    <a:pt x="2175" y="693"/>
                  </a:lnTo>
                  <a:lnTo>
                    <a:pt x="2183" y="684"/>
                  </a:lnTo>
                  <a:lnTo>
                    <a:pt x="2193" y="673"/>
                  </a:lnTo>
                  <a:lnTo>
                    <a:pt x="2200" y="663"/>
                  </a:lnTo>
                  <a:lnTo>
                    <a:pt x="2208" y="654"/>
                  </a:lnTo>
                  <a:lnTo>
                    <a:pt x="2215" y="642"/>
                  </a:lnTo>
                  <a:lnTo>
                    <a:pt x="2223" y="631"/>
                  </a:lnTo>
                  <a:lnTo>
                    <a:pt x="2231" y="621"/>
                  </a:lnTo>
                  <a:lnTo>
                    <a:pt x="2238" y="610"/>
                  </a:lnTo>
                  <a:lnTo>
                    <a:pt x="2246" y="598"/>
                  </a:lnTo>
                  <a:lnTo>
                    <a:pt x="2253" y="587"/>
                  </a:lnTo>
                  <a:lnTo>
                    <a:pt x="2259" y="578"/>
                  </a:lnTo>
                  <a:lnTo>
                    <a:pt x="2267" y="566"/>
                  </a:lnTo>
                  <a:lnTo>
                    <a:pt x="2272" y="555"/>
                  </a:lnTo>
                  <a:lnTo>
                    <a:pt x="2280" y="543"/>
                  </a:lnTo>
                  <a:lnTo>
                    <a:pt x="2286" y="532"/>
                  </a:lnTo>
                  <a:lnTo>
                    <a:pt x="2293" y="521"/>
                  </a:lnTo>
                  <a:lnTo>
                    <a:pt x="2299" y="507"/>
                  </a:lnTo>
                  <a:lnTo>
                    <a:pt x="2305" y="496"/>
                  </a:lnTo>
                  <a:lnTo>
                    <a:pt x="2310" y="484"/>
                  </a:lnTo>
                  <a:lnTo>
                    <a:pt x="2316" y="473"/>
                  </a:lnTo>
                  <a:lnTo>
                    <a:pt x="2322" y="462"/>
                  </a:lnTo>
                  <a:lnTo>
                    <a:pt x="2328" y="448"/>
                  </a:lnTo>
                  <a:lnTo>
                    <a:pt x="2333" y="437"/>
                  </a:lnTo>
                  <a:lnTo>
                    <a:pt x="2339" y="426"/>
                  </a:lnTo>
                  <a:lnTo>
                    <a:pt x="2348" y="401"/>
                  </a:lnTo>
                  <a:lnTo>
                    <a:pt x="2358" y="374"/>
                  </a:lnTo>
                  <a:lnTo>
                    <a:pt x="2368" y="349"/>
                  </a:lnTo>
                  <a:lnTo>
                    <a:pt x="2375" y="325"/>
                  </a:lnTo>
                  <a:lnTo>
                    <a:pt x="2383" y="298"/>
                  </a:lnTo>
                  <a:lnTo>
                    <a:pt x="2390" y="273"/>
                  </a:lnTo>
                  <a:lnTo>
                    <a:pt x="2396" y="247"/>
                  </a:lnTo>
                  <a:lnTo>
                    <a:pt x="2402" y="220"/>
                  </a:lnTo>
                  <a:lnTo>
                    <a:pt x="2419" y="112"/>
                  </a:lnTo>
                  <a:lnTo>
                    <a:pt x="2425" y="0"/>
                  </a:lnTo>
                  <a:lnTo>
                    <a:pt x="2668" y="0"/>
                  </a:lnTo>
                  <a:close/>
                </a:path>
              </a:pathLst>
            </a:custGeom>
            <a:solidFill>
              <a:srgbClr val="5F5F5F"/>
            </a:solidFill>
            <a:ln w="9525">
              <a:solidFill>
                <a:srgbClr val="5F5F5F"/>
              </a:solidFill>
              <a:round/>
              <a:headEnd/>
              <a:tailEnd/>
            </a:ln>
          </p:spPr>
          <p:txBody>
            <a:bodyPr/>
            <a:lstStyle/>
            <a:p>
              <a:endParaRPr lang="en-US"/>
            </a:p>
          </p:txBody>
        </p:sp>
        <p:sp>
          <p:nvSpPr>
            <p:cNvPr id="26680" name="Freeform 174"/>
            <p:cNvSpPr>
              <a:spLocks/>
            </p:cNvSpPr>
            <p:nvPr/>
          </p:nvSpPr>
          <p:spPr bwMode="auto">
            <a:xfrm>
              <a:off x="4697" y="3617"/>
              <a:ext cx="95" cy="109"/>
            </a:xfrm>
            <a:custGeom>
              <a:avLst/>
              <a:gdLst>
                <a:gd name="T0" fmla="*/ 0 w 529"/>
                <a:gd name="T1" fmla="*/ 20 h 606"/>
                <a:gd name="T2" fmla="*/ 17 w 529"/>
                <a:gd name="T3" fmla="*/ 20 h 606"/>
                <a:gd name="T4" fmla="*/ 15 w 529"/>
                <a:gd name="T5" fmla="*/ 2 h 606"/>
                <a:gd name="T6" fmla="*/ 11 w 529"/>
                <a:gd name="T7" fmla="*/ 0 h 606"/>
                <a:gd name="T8" fmla="*/ 13 w 529"/>
                <a:gd name="T9" fmla="*/ 16 h 606"/>
                <a:gd name="T10" fmla="*/ 5 w 529"/>
                <a:gd name="T11" fmla="*/ 16 h 606"/>
                <a:gd name="T12" fmla="*/ 7 w 529"/>
                <a:gd name="T13" fmla="*/ 0 h 606"/>
                <a:gd name="T14" fmla="*/ 3 w 529"/>
                <a:gd name="T15" fmla="*/ 2 h 606"/>
                <a:gd name="T16" fmla="*/ 0 w 529"/>
                <a:gd name="T17" fmla="*/ 20 h 606"/>
                <a:gd name="T18" fmla="*/ 0 w 529"/>
                <a:gd name="T19" fmla="*/ 20 h 60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9"/>
                <a:gd name="T31" fmla="*/ 0 h 606"/>
                <a:gd name="T32" fmla="*/ 529 w 529"/>
                <a:gd name="T33" fmla="*/ 606 h 60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9" h="606">
                  <a:moveTo>
                    <a:pt x="0" y="606"/>
                  </a:moveTo>
                  <a:lnTo>
                    <a:pt x="529" y="606"/>
                  </a:lnTo>
                  <a:lnTo>
                    <a:pt x="478" y="53"/>
                  </a:lnTo>
                  <a:lnTo>
                    <a:pt x="352" y="0"/>
                  </a:lnTo>
                  <a:lnTo>
                    <a:pt x="390" y="484"/>
                  </a:lnTo>
                  <a:lnTo>
                    <a:pt x="152" y="484"/>
                  </a:lnTo>
                  <a:lnTo>
                    <a:pt x="207" y="0"/>
                  </a:lnTo>
                  <a:lnTo>
                    <a:pt x="86" y="53"/>
                  </a:lnTo>
                  <a:lnTo>
                    <a:pt x="0" y="606"/>
                  </a:lnTo>
                  <a:close/>
                </a:path>
              </a:pathLst>
            </a:custGeom>
            <a:solidFill>
              <a:srgbClr val="5F5F5F"/>
            </a:solidFill>
            <a:ln w="9525">
              <a:solidFill>
                <a:srgbClr val="5F5F5F"/>
              </a:solidFill>
              <a:round/>
              <a:headEnd/>
              <a:tailEnd/>
            </a:ln>
          </p:spPr>
          <p:txBody>
            <a:bodyPr/>
            <a:lstStyle/>
            <a:p>
              <a:endParaRPr lang="en-US"/>
            </a:p>
          </p:txBody>
        </p:sp>
        <p:sp>
          <p:nvSpPr>
            <p:cNvPr id="26681" name="Freeform 175"/>
            <p:cNvSpPr>
              <a:spLocks/>
            </p:cNvSpPr>
            <p:nvPr/>
          </p:nvSpPr>
          <p:spPr bwMode="auto">
            <a:xfrm>
              <a:off x="4693" y="3529"/>
              <a:ext cx="110" cy="100"/>
            </a:xfrm>
            <a:custGeom>
              <a:avLst/>
              <a:gdLst>
                <a:gd name="T0" fmla="*/ 13 w 613"/>
                <a:gd name="T1" fmla="*/ 15 h 551"/>
                <a:gd name="T2" fmla="*/ 14 w 613"/>
                <a:gd name="T3" fmla="*/ 15 h 551"/>
                <a:gd name="T4" fmla="*/ 15 w 613"/>
                <a:gd name="T5" fmla="*/ 14 h 551"/>
                <a:gd name="T6" fmla="*/ 15 w 613"/>
                <a:gd name="T7" fmla="*/ 13 h 551"/>
                <a:gd name="T8" fmla="*/ 16 w 613"/>
                <a:gd name="T9" fmla="*/ 10 h 551"/>
                <a:gd name="T10" fmla="*/ 16 w 613"/>
                <a:gd name="T11" fmla="*/ 8 h 551"/>
                <a:gd name="T12" fmla="*/ 15 w 613"/>
                <a:gd name="T13" fmla="*/ 7 h 551"/>
                <a:gd name="T14" fmla="*/ 15 w 613"/>
                <a:gd name="T15" fmla="*/ 7 h 551"/>
                <a:gd name="T16" fmla="*/ 15 w 613"/>
                <a:gd name="T17" fmla="*/ 6 h 551"/>
                <a:gd name="T18" fmla="*/ 14 w 613"/>
                <a:gd name="T19" fmla="*/ 5 h 551"/>
                <a:gd name="T20" fmla="*/ 13 w 613"/>
                <a:gd name="T21" fmla="*/ 5 h 551"/>
                <a:gd name="T22" fmla="*/ 11 w 613"/>
                <a:gd name="T23" fmla="*/ 4 h 551"/>
                <a:gd name="T24" fmla="*/ 7 w 613"/>
                <a:gd name="T25" fmla="*/ 5 h 551"/>
                <a:gd name="T26" fmla="*/ 6 w 613"/>
                <a:gd name="T27" fmla="*/ 6 h 551"/>
                <a:gd name="T28" fmla="*/ 5 w 613"/>
                <a:gd name="T29" fmla="*/ 7 h 551"/>
                <a:gd name="T30" fmla="*/ 4 w 613"/>
                <a:gd name="T31" fmla="*/ 7 h 551"/>
                <a:gd name="T32" fmla="*/ 4 w 613"/>
                <a:gd name="T33" fmla="*/ 9 h 551"/>
                <a:gd name="T34" fmla="*/ 4 w 613"/>
                <a:gd name="T35" fmla="*/ 12 h 551"/>
                <a:gd name="T36" fmla="*/ 4 w 613"/>
                <a:gd name="T37" fmla="*/ 13 h 551"/>
                <a:gd name="T38" fmla="*/ 5 w 613"/>
                <a:gd name="T39" fmla="*/ 14 h 551"/>
                <a:gd name="T40" fmla="*/ 5 w 613"/>
                <a:gd name="T41" fmla="*/ 14 h 551"/>
                <a:gd name="T42" fmla="*/ 6 w 613"/>
                <a:gd name="T43" fmla="*/ 15 h 551"/>
                <a:gd name="T44" fmla="*/ 6 w 613"/>
                <a:gd name="T45" fmla="*/ 15 h 551"/>
                <a:gd name="T46" fmla="*/ 7 w 613"/>
                <a:gd name="T47" fmla="*/ 16 h 551"/>
                <a:gd name="T48" fmla="*/ 3 w 613"/>
                <a:gd name="T49" fmla="*/ 18 h 551"/>
                <a:gd name="T50" fmla="*/ 3 w 613"/>
                <a:gd name="T51" fmla="*/ 17 h 551"/>
                <a:gd name="T52" fmla="*/ 2 w 613"/>
                <a:gd name="T53" fmla="*/ 16 h 551"/>
                <a:gd name="T54" fmla="*/ 1 w 613"/>
                <a:gd name="T55" fmla="*/ 15 h 551"/>
                <a:gd name="T56" fmla="*/ 0 w 613"/>
                <a:gd name="T57" fmla="*/ 13 h 551"/>
                <a:gd name="T58" fmla="*/ 0 w 613"/>
                <a:gd name="T59" fmla="*/ 9 h 551"/>
                <a:gd name="T60" fmla="*/ 1 w 613"/>
                <a:gd name="T61" fmla="*/ 7 h 551"/>
                <a:gd name="T62" fmla="*/ 1 w 613"/>
                <a:gd name="T63" fmla="*/ 6 h 551"/>
                <a:gd name="T64" fmla="*/ 1 w 613"/>
                <a:gd name="T65" fmla="*/ 5 h 551"/>
                <a:gd name="T66" fmla="*/ 2 w 613"/>
                <a:gd name="T67" fmla="*/ 4 h 551"/>
                <a:gd name="T68" fmla="*/ 3 w 613"/>
                <a:gd name="T69" fmla="*/ 3 h 551"/>
                <a:gd name="T70" fmla="*/ 3 w 613"/>
                <a:gd name="T71" fmla="*/ 2 h 551"/>
                <a:gd name="T72" fmla="*/ 4 w 613"/>
                <a:gd name="T73" fmla="*/ 2 h 551"/>
                <a:gd name="T74" fmla="*/ 5 w 613"/>
                <a:gd name="T75" fmla="*/ 1 h 551"/>
                <a:gd name="T76" fmla="*/ 6 w 613"/>
                <a:gd name="T77" fmla="*/ 1 h 551"/>
                <a:gd name="T78" fmla="*/ 8 w 613"/>
                <a:gd name="T79" fmla="*/ 0 h 551"/>
                <a:gd name="T80" fmla="*/ 11 w 613"/>
                <a:gd name="T81" fmla="*/ 0 h 551"/>
                <a:gd name="T82" fmla="*/ 14 w 613"/>
                <a:gd name="T83" fmla="*/ 1 h 551"/>
                <a:gd name="T84" fmla="*/ 15 w 613"/>
                <a:gd name="T85" fmla="*/ 2 h 551"/>
                <a:gd name="T86" fmla="*/ 16 w 613"/>
                <a:gd name="T87" fmla="*/ 2 h 551"/>
                <a:gd name="T88" fmla="*/ 17 w 613"/>
                <a:gd name="T89" fmla="*/ 3 h 551"/>
                <a:gd name="T90" fmla="*/ 18 w 613"/>
                <a:gd name="T91" fmla="*/ 4 h 551"/>
                <a:gd name="T92" fmla="*/ 18 w 613"/>
                <a:gd name="T93" fmla="*/ 5 h 551"/>
                <a:gd name="T94" fmla="*/ 19 w 613"/>
                <a:gd name="T95" fmla="*/ 6 h 551"/>
                <a:gd name="T96" fmla="*/ 20 w 613"/>
                <a:gd name="T97" fmla="*/ 9 h 551"/>
                <a:gd name="T98" fmla="*/ 20 w 613"/>
                <a:gd name="T99" fmla="*/ 12 h 551"/>
                <a:gd name="T100" fmla="*/ 19 w 613"/>
                <a:gd name="T101" fmla="*/ 14 h 551"/>
                <a:gd name="T102" fmla="*/ 18 w 613"/>
                <a:gd name="T103" fmla="*/ 15 h 551"/>
                <a:gd name="T104" fmla="*/ 18 w 613"/>
                <a:gd name="T105" fmla="*/ 16 h 551"/>
                <a:gd name="T106" fmla="*/ 17 w 613"/>
                <a:gd name="T107" fmla="*/ 17 h 551"/>
                <a:gd name="T108" fmla="*/ 17 w 613"/>
                <a:gd name="T109" fmla="*/ 17 h 551"/>
                <a:gd name="T110" fmla="*/ 16 w 613"/>
                <a:gd name="T111" fmla="*/ 18 h 551"/>
                <a:gd name="T112" fmla="*/ 12 w 613"/>
                <a:gd name="T113" fmla="*/ 16 h 55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13"/>
                <a:gd name="T172" fmla="*/ 0 h 551"/>
                <a:gd name="T173" fmla="*/ 613 w 613"/>
                <a:gd name="T174" fmla="*/ 551 h 55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13" h="551">
                  <a:moveTo>
                    <a:pt x="381" y="487"/>
                  </a:moveTo>
                  <a:lnTo>
                    <a:pt x="415" y="468"/>
                  </a:lnTo>
                  <a:lnTo>
                    <a:pt x="430" y="456"/>
                  </a:lnTo>
                  <a:lnTo>
                    <a:pt x="443" y="443"/>
                  </a:lnTo>
                  <a:lnTo>
                    <a:pt x="455" y="430"/>
                  </a:lnTo>
                  <a:lnTo>
                    <a:pt x="464" y="414"/>
                  </a:lnTo>
                  <a:lnTo>
                    <a:pt x="474" y="399"/>
                  </a:lnTo>
                  <a:lnTo>
                    <a:pt x="481" y="382"/>
                  </a:lnTo>
                  <a:lnTo>
                    <a:pt x="491" y="348"/>
                  </a:lnTo>
                  <a:lnTo>
                    <a:pt x="495" y="312"/>
                  </a:lnTo>
                  <a:lnTo>
                    <a:pt x="491" y="274"/>
                  </a:lnTo>
                  <a:lnTo>
                    <a:pt x="485" y="255"/>
                  </a:lnTo>
                  <a:lnTo>
                    <a:pt x="480" y="238"/>
                  </a:lnTo>
                  <a:lnTo>
                    <a:pt x="474" y="228"/>
                  </a:lnTo>
                  <a:lnTo>
                    <a:pt x="470" y="220"/>
                  </a:lnTo>
                  <a:lnTo>
                    <a:pt x="461" y="203"/>
                  </a:lnTo>
                  <a:lnTo>
                    <a:pt x="455" y="196"/>
                  </a:lnTo>
                  <a:lnTo>
                    <a:pt x="449" y="190"/>
                  </a:lnTo>
                  <a:lnTo>
                    <a:pt x="436" y="177"/>
                  </a:lnTo>
                  <a:lnTo>
                    <a:pt x="423" y="163"/>
                  </a:lnTo>
                  <a:lnTo>
                    <a:pt x="407" y="154"/>
                  </a:lnTo>
                  <a:lnTo>
                    <a:pt x="392" y="144"/>
                  </a:lnTo>
                  <a:lnTo>
                    <a:pt x="375" y="137"/>
                  </a:lnTo>
                  <a:lnTo>
                    <a:pt x="341" y="127"/>
                  </a:lnTo>
                  <a:lnTo>
                    <a:pt x="305" y="124"/>
                  </a:lnTo>
                  <a:lnTo>
                    <a:pt x="230" y="139"/>
                  </a:lnTo>
                  <a:lnTo>
                    <a:pt x="198" y="158"/>
                  </a:lnTo>
                  <a:lnTo>
                    <a:pt x="183" y="169"/>
                  </a:lnTo>
                  <a:lnTo>
                    <a:pt x="170" y="182"/>
                  </a:lnTo>
                  <a:lnTo>
                    <a:pt x="158" y="196"/>
                  </a:lnTo>
                  <a:lnTo>
                    <a:pt x="149" y="211"/>
                  </a:lnTo>
                  <a:lnTo>
                    <a:pt x="139" y="228"/>
                  </a:lnTo>
                  <a:lnTo>
                    <a:pt x="132" y="243"/>
                  </a:lnTo>
                  <a:lnTo>
                    <a:pt x="122" y="279"/>
                  </a:lnTo>
                  <a:lnTo>
                    <a:pt x="118" y="315"/>
                  </a:lnTo>
                  <a:lnTo>
                    <a:pt x="122" y="352"/>
                  </a:lnTo>
                  <a:lnTo>
                    <a:pt x="128" y="371"/>
                  </a:lnTo>
                  <a:lnTo>
                    <a:pt x="135" y="390"/>
                  </a:lnTo>
                  <a:lnTo>
                    <a:pt x="141" y="403"/>
                  </a:lnTo>
                  <a:lnTo>
                    <a:pt x="147" y="411"/>
                  </a:lnTo>
                  <a:lnTo>
                    <a:pt x="151" y="418"/>
                  </a:lnTo>
                  <a:lnTo>
                    <a:pt x="156" y="426"/>
                  </a:lnTo>
                  <a:lnTo>
                    <a:pt x="162" y="431"/>
                  </a:lnTo>
                  <a:lnTo>
                    <a:pt x="175" y="447"/>
                  </a:lnTo>
                  <a:lnTo>
                    <a:pt x="189" y="458"/>
                  </a:lnTo>
                  <a:lnTo>
                    <a:pt x="202" y="469"/>
                  </a:lnTo>
                  <a:lnTo>
                    <a:pt x="217" y="479"/>
                  </a:lnTo>
                  <a:lnTo>
                    <a:pt x="230" y="487"/>
                  </a:lnTo>
                  <a:lnTo>
                    <a:pt x="120" y="551"/>
                  </a:lnTo>
                  <a:lnTo>
                    <a:pt x="105" y="540"/>
                  </a:lnTo>
                  <a:lnTo>
                    <a:pt x="90" y="525"/>
                  </a:lnTo>
                  <a:lnTo>
                    <a:pt x="76" y="509"/>
                  </a:lnTo>
                  <a:lnTo>
                    <a:pt x="63" y="496"/>
                  </a:lnTo>
                  <a:lnTo>
                    <a:pt x="54" y="483"/>
                  </a:lnTo>
                  <a:lnTo>
                    <a:pt x="46" y="469"/>
                  </a:lnTo>
                  <a:lnTo>
                    <a:pt x="38" y="456"/>
                  </a:lnTo>
                  <a:lnTo>
                    <a:pt x="31" y="443"/>
                  </a:lnTo>
                  <a:lnTo>
                    <a:pt x="10" y="386"/>
                  </a:lnTo>
                  <a:lnTo>
                    <a:pt x="0" y="327"/>
                  </a:lnTo>
                  <a:lnTo>
                    <a:pt x="2" y="268"/>
                  </a:lnTo>
                  <a:lnTo>
                    <a:pt x="6" y="239"/>
                  </a:lnTo>
                  <a:lnTo>
                    <a:pt x="16" y="211"/>
                  </a:lnTo>
                  <a:lnTo>
                    <a:pt x="25" y="184"/>
                  </a:lnTo>
                  <a:lnTo>
                    <a:pt x="31" y="171"/>
                  </a:lnTo>
                  <a:lnTo>
                    <a:pt x="38" y="158"/>
                  </a:lnTo>
                  <a:lnTo>
                    <a:pt x="46" y="144"/>
                  </a:lnTo>
                  <a:lnTo>
                    <a:pt x="54" y="131"/>
                  </a:lnTo>
                  <a:lnTo>
                    <a:pt x="63" y="120"/>
                  </a:lnTo>
                  <a:lnTo>
                    <a:pt x="73" y="108"/>
                  </a:lnTo>
                  <a:lnTo>
                    <a:pt x="84" y="97"/>
                  </a:lnTo>
                  <a:lnTo>
                    <a:pt x="94" y="86"/>
                  </a:lnTo>
                  <a:lnTo>
                    <a:pt x="105" y="74"/>
                  </a:lnTo>
                  <a:lnTo>
                    <a:pt x="118" y="65"/>
                  </a:lnTo>
                  <a:lnTo>
                    <a:pt x="132" y="55"/>
                  </a:lnTo>
                  <a:lnTo>
                    <a:pt x="143" y="47"/>
                  </a:lnTo>
                  <a:lnTo>
                    <a:pt x="156" y="40"/>
                  </a:lnTo>
                  <a:lnTo>
                    <a:pt x="172" y="32"/>
                  </a:lnTo>
                  <a:lnTo>
                    <a:pt x="198" y="19"/>
                  </a:lnTo>
                  <a:lnTo>
                    <a:pt x="227" y="11"/>
                  </a:lnTo>
                  <a:lnTo>
                    <a:pt x="255" y="4"/>
                  </a:lnTo>
                  <a:lnTo>
                    <a:pt x="286" y="0"/>
                  </a:lnTo>
                  <a:lnTo>
                    <a:pt x="345" y="2"/>
                  </a:lnTo>
                  <a:lnTo>
                    <a:pt x="402" y="15"/>
                  </a:lnTo>
                  <a:lnTo>
                    <a:pt x="430" y="27"/>
                  </a:lnTo>
                  <a:lnTo>
                    <a:pt x="455" y="40"/>
                  </a:lnTo>
                  <a:lnTo>
                    <a:pt x="481" y="55"/>
                  </a:lnTo>
                  <a:lnTo>
                    <a:pt x="493" y="65"/>
                  </a:lnTo>
                  <a:lnTo>
                    <a:pt x="506" y="74"/>
                  </a:lnTo>
                  <a:lnTo>
                    <a:pt x="518" y="84"/>
                  </a:lnTo>
                  <a:lnTo>
                    <a:pt x="527" y="95"/>
                  </a:lnTo>
                  <a:lnTo>
                    <a:pt x="539" y="106"/>
                  </a:lnTo>
                  <a:lnTo>
                    <a:pt x="548" y="120"/>
                  </a:lnTo>
                  <a:lnTo>
                    <a:pt x="558" y="131"/>
                  </a:lnTo>
                  <a:lnTo>
                    <a:pt x="565" y="144"/>
                  </a:lnTo>
                  <a:lnTo>
                    <a:pt x="575" y="158"/>
                  </a:lnTo>
                  <a:lnTo>
                    <a:pt x="580" y="171"/>
                  </a:lnTo>
                  <a:lnTo>
                    <a:pt x="601" y="228"/>
                  </a:lnTo>
                  <a:lnTo>
                    <a:pt x="613" y="287"/>
                  </a:lnTo>
                  <a:lnTo>
                    <a:pt x="611" y="346"/>
                  </a:lnTo>
                  <a:lnTo>
                    <a:pt x="605" y="374"/>
                  </a:lnTo>
                  <a:lnTo>
                    <a:pt x="597" y="403"/>
                  </a:lnTo>
                  <a:lnTo>
                    <a:pt x="586" y="430"/>
                  </a:lnTo>
                  <a:lnTo>
                    <a:pt x="580" y="443"/>
                  </a:lnTo>
                  <a:lnTo>
                    <a:pt x="573" y="458"/>
                  </a:lnTo>
                  <a:lnTo>
                    <a:pt x="565" y="469"/>
                  </a:lnTo>
                  <a:lnTo>
                    <a:pt x="558" y="483"/>
                  </a:lnTo>
                  <a:lnTo>
                    <a:pt x="548" y="494"/>
                  </a:lnTo>
                  <a:lnTo>
                    <a:pt x="539" y="506"/>
                  </a:lnTo>
                  <a:lnTo>
                    <a:pt x="529" y="517"/>
                  </a:lnTo>
                  <a:lnTo>
                    <a:pt x="518" y="528"/>
                  </a:lnTo>
                  <a:lnTo>
                    <a:pt x="506" y="540"/>
                  </a:lnTo>
                  <a:lnTo>
                    <a:pt x="493" y="549"/>
                  </a:lnTo>
                  <a:lnTo>
                    <a:pt x="381" y="487"/>
                  </a:lnTo>
                  <a:close/>
                </a:path>
              </a:pathLst>
            </a:custGeom>
            <a:solidFill>
              <a:srgbClr val="5F5F5F"/>
            </a:solidFill>
            <a:ln w="9525">
              <a:solidFill>
                <a:srgbClr val="5F5F5F"/>
              </a:solidFill>
              <a:round/>
              <a:headEnd/>
              <a:tailEnd/>
            </a:ln>
          </p:spPr>
          <p:txBody>
            <a:bodyPr/>
            <a:lstStyle/>
            <a:p>
              <a:endParaRPr lang="en-US"/>
            </a:p>
          </p:txBody>
        </p:sp>
        <p:sp>
          <p:nvSpPr>
            <p:cNvPr id="26682" name="Freeform 176"/>
            <p:cNvSpPr>
              <a:spLocks/>
            </p:cNvSpPr>
            <p:nvPr/>
          </p:nvSpPr>
          <p:spPr bwMode="auto">
            <a:xfrm>
              <a:off x="4576" y="3467"/>
              <a:ext cx="247" cy="285"/>
            </a:xfrm>
            <a:custGeom>
              <a:avLst/>
              <a:gdLst>
                <a:gd name="T0" fmla="*/ 1 w 1365"/>
                <a:gd name="T1" fmla="*/ 0 h 1583"/>
                <a:gd name="T2" fmla="*/ 0 w 1365"/>
                <a:gd name="T3" fmla="*/ 25 h 1583"/>
                <a:gd name="T4" fmla="*/ 1 w 1365"/>
                <a:gd name="T5" fmla="*/ 32 h 1583"/>
                <a:gd name="T6" fmla="*/ 3 w 1365"/>
                <a:gd name="T7" fmla="*/ 39 h 1583"/>
                <a:gd name="T8" fmla="*/ 6 w 1365"/>
                <a:gd name="T9" fmla="*/ 43 h 1583"/>
                <a:gd name="T10" fmla="*/ 12 w 1365"/>
                <a:gd name="T11" fmla="*/ 48 h 1583"/>
                <a:gd name="T12" fmla="*/ 17 w 1365"/>
                <a:gd name="T13" fmla="*/ 51 h 1583"/>
                <a:gd name="T14" fmla="*/ 23 w 1365"/>
                <a:gd name="T15" fmla="*/ 30 h 1583"/>
                <a:gd name="T16" fmla="*/ 18 w 1365"/>
                <a:gd name="T17" fmla="*/ 23 h 1583"/>
                <a:gd name="T18" fmla="*/ 18 w 1365"/>
                <a:gd name="T19" fmla="*/ 16 h 1583"/>
                <a:gd name="T20" fmla="*/ 20 w 1365"/>
                <a:gd name="T21" fmla="*/ 11 h 1583"/>
                <a:gd name="T22" fmla="*/ 26 w 1365"/>
                <a:gd name="T23" fmla="*/ 6 h 1583"/>
                <a:gd name="T24" fmla="*/ 33 w 1365"/>
                <a:gd name="T25" fmla="*/ 3 h 1583"/>
                <a:gd name="T26" fmla="*/ 45 w 1365"/>
                <a:gd name="T27" fmla="*/ 0 h 1583"/>
                <a:gd name="T28" fmla="*/ 1 w 1365"/>
                <a:gd name="T29" fmla="*/ 0 h 1583"/>
                <a:gd name="T30" fmla="*/ 1 w 1365"/>
                <a:gd name="T31" fmla="*/ 0 h 158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365"/>
                <a:gd name="T49" fmla="*/ 0 h 1583"/>
                <a:gd name="T50" fmla="*/ 1365 w 1365"/>
                <a:gd name="T51" fmla="*/ 1583 h 158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365" h="1583">
                  <a:moveTo>
                    <a:pt x="15" y="6"/>
                  </a:moveTo>
                  <a:lnTo>
                    <a:pt x="0" y="774"/>
                  </a:lnTo>
                  <a:lnTo>
                    <a:pt x="28" y="1000"/>
                  </a:lnTo>
                  <a:lnTo>
                    <a:pt x="91" y="1190"/>
                  </a:lnTo>
                  <a:lnTo>
                    <a:pt x="190" y="1338"/>
                  </a:lnTo>
                  <a:lnTo>
                    <a:pt x="352" y="1464"/>
                  </a:lnTo>
                  <a:lnTo>
                    <a:pt x="528" y="1583"/>
                  </a:lnTo>
                  <a:lnTo>
                    <a:pt x="698" y="922"/>
                  </a:lnTo>
                  <a:lnTo>
                    <a:pt x="563" y="703"/>
                  </a:lnTo>
                  <a:lnTo>
                    <a:pt x="549" y="492"/>
                  </a:lnTo>
                  <a:lnTo>
                    <a:pt x="627" y="338"/>
                  </a:lnTo>
                  <a:lnTo>
                    <a:pt x="781" y="190"/>
                  </a:lnTo>
                  <a:lnTo>
                    <a:pt x="992" y="91"/>
                  </a:lnTo>
                  <a:lnTo>
                    <a:pt x="1365" y="0"/>
                  </a:lnTo>
                  <a:lnTo>
                    <a:pt x="15" y="6"/>
                  </a:lnTo>
                  <a:close/>
                </a:path>
              </a:pathLst>
            </a:custGeom>
            <a:solidFill>
              <a:srgbClr val="D4D4E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83" name="Freeform 177"/>
            <p:cNvSpPr>
              <a:spLocks/>
            </p:cNvSpPr>
            <p:nvPr/>
          </p:nvSpPr>
          <p:spPr bwMode="auto">
            <a:xfrm>
              <a:off x="4683" y="3460"/>
              <a:ext cx="248" cy="313"/>
            </a:xfrm>
            <a:custGeom>
              <a:avLst/>
              <a:gdLst>
                <a:gd name="T0" fmla="*/ 23 w 1373"/>
                <a:gd name="T1" fmla="*/ 14 h 1733"/>
                <a:gd name="T2" fmla="*/ 25 w 1373"/>
                <a:gd name="T3" fmla="*/ 18 h 1733"/>
                <a:gd name="T4" fmla="*/ 26 w 1373"/>
                <a:gd name="T5" fmla="*/ 22 h 1733"/>
                <a:gd name="T6" fmla="*/ 25 w 1373"/>
                <a:gd name="T7" fmla="*/ 27 h 1733"/>
                <a:gd name="T8" fmla="*/ 20 w 1373"/>
                <a:gd name="T9" fmla="*/ 31 h 1733"/>
                <a:gd name="T10" fmla="*/ 23 w 1373"/>
                <a:gd name="T11" fmla="*/ 50 h 1733"/>
                <a:gd name="T12" fmla="*/ 1 w 1373"/>
                <a:gd name="T13" fmla="*/ 51 h 1733"/>
                <a:gd name="T14" fmla="*/ 0 w 1373"/>
                <a:gd name="T15" fmla="*/ 53 h 1733"/>
                <a:gd name="T16" fmla="*/ 5 w 1373"/>
                <a:gd name="T17" fmla="*/ 55 h 1733"/>
                <a:gd name="T18" fmla="*/ 10 w 1373"/>
                <a:gd name="T19" fmla="*/ 57 h 1733"/>
                <a:gd name="T20" fmla="*/ 16 w 1373"/>
                <a:gd name="T21" fmla="*/ 56 h 1733"/>
                <a:gd name="T22" fmla="*/ 22 w 1373"/>
                <a:gd name="T23" fmla="*/ 54 h 1733"/>
                <a:gd name="T24" fmla="*/ 29 w 1373"/>
                <a:gd name="T25" fmla="*/ 52 h 1733"/>
                <a:gd name="T26" fmla="*/ 35 w 1373"/>
                <a:gd name="T27" fmla="*/ 47 h 1733"/>
                <a:gd name="T28" fmla="*/ 40 w 1373"/>
                <a:gd name="T29" fmla="*/ 40 h 1733"/>
                <a:gd name="T30" fmla="*/ 44 w 1373"/>
                <a:gd name="T31" fmla="*/ 29 h 1733"/>
                <a:gd name="T32" fmla="*/ 45 w 1373"/>
                <a:gd name="T33" fmla="*/ 16 h 1733"/>
                <a:gd name="T34" fmla="*/ 44 w 1373"/>
                <a:gd name="T35" fmla="*/ 0 h 1733"/>
                <a:gd name="T36" fmla="*/ 28 w 1373"/>
                <a:gd name="T37" fmla="*/ 1 h 1733"/>
                <a:gd name="T38" fmla="*/ 19 w 1373"/>
                <a:gd name="T39" fmla="*/ 4 h 1733"/>
                <a:gd name="T40" fmla="*/ 13 w 1373"/>
                <a:gd name="T41" fmla="*/ 7 h 1733"/>
                <a:gd name="T42" fmla="*/ 7 w 1373"/>
                <a:gd name="T43" fmla="*/ 9 h 1733"/>
                <a:gd name="T44" fmla="*/ 3 w 1373"/>
                <a:gd name="T45" fmla="*/ 13 h 1733"/>
                <a:gd name="T46" fmla="*/ 9 w 1373"/>
                <a:gd name="T47" fmla="*/ 10 h 1733"/>
                <a:gd name="T48" fmla="*/ 15 w 1373"/>
                <a:gd name="T49" fmla="*/ 10 h 1733"/>
                <a:gd name="T50" fmla="*/ 20 w 1373"/>
                <a:gd name="T51" fmla="*/ 11 h 1733"/>
                <a:gd name="T52" fmla="*/ 23 w 1373"/>
                <a:gd name="T53" fmla="*/ 14 h 1733"/>
                <a:gd name="T54" fmla="*/ 23 w 1373"/>
                <a:gd name="T55" fmla="*/ 14 h 173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73"/>
                <a:gd name="T85" fmla="*/ 0 h 1733"/>
                <a:gd name="T86" fmla="*/ 1373 w 1373"/>
                <a:gd name="T87" fmla="*/ 1733 h 173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73" h="1733">
                  <a:moveTo>
                    <a:pt x="696" y="424"/>
                  </a:moveTo>
                  <a:lnTo>
                    <a:pt x="767" y="549"/>
                  </a:lnTo>
                  <a:lnTo>
                    <a:pt x="788" y="684"/>
                  </a:lnTo>
                  <a:lnTo>
                    <a:pt x="753" y="831"/>
                  </a:lnTo>
                  <a:lnTo>
                    <a:pt x="626" y="966"/>
                  </a:lnTo>
                  <a:lnTo>
                    <a:pt x="711" y="1543"/>
                  </a:lnTo>
                  <a:lnTo>
                    <a:pt x="21" y="1557"/>
                  </a:lnTo>
                  <a:lnTo>
                    <a:pt x="0" y="1627"/>
                  </a:lnTo>
                  <a:lnTo>
                    <a:pt x="149" y="1697"/>
                  </a:lnTo>
                  <a:lnTo>
                    <a:pt x="318" y="1733"/>
                  </a:lnTo>
                  <a:lnTo>
                    <a:pt x="493" y="1711"/>
                  </a:lnTo>
                  <a:lnTo>
                    <a:pt x="670" y="1669"/>
                  </a:lnTo>
                  <a:lnTo>
                    <a:pt x="873" y="1598"/>
                  </a:lnTo>
                  <a:lnTo>
                    <a:pt x="1077" y="1450"/>
                  </a:lnTo>
                  <a:lnTo>
                    <a:pt x="1238" y="1213"/>
                  </a:lnTo>
                  <a:lnTo>
                    <a:pt x="1350" y="874"/>
                  </a:lnTo>
                  <a:lnTo>
                    <a:pt x="1373" y="494"/>
                  </a:lnTo>
                  <a:lnTo>
                    <a:pt x="1350" y="0"/>
                  </a:lnTo>
                  <a:lnTo>
                    <a:pt x="858" y="36"/>
                  </a:lnTo>
                  <a:lnTo>
                    <a:pt x="576" y="127"/>
                  </a:lnTo>
                  <a:lnTo>
                    <a:pt x="401" y="198"/>
                  </a:lnTo>
                  <a:lnTo>
                    <a:pt x="219" y="289"/>
                  </a:lnTo>
                  <a:lnTo>
                    <a:pt x="86" y="401"/>
                  </a:lnTo>
                  <a:lnTo>
                    <a:pt x="274" y="317"/>
                  </a:lnTo>
                  <a:lnTo>
                    <a:pt x="459" y="297"/>
                  </a:lnTo>
                  <a:lnTo>
                    <a:pt x="605" y="346"/>
                  </a:lnTo>
                  <a:lnTo>
                    <a:pt x="696" y="424"/>
                  </a:lnTo>
                  <a:close/>
                </a:path>
              </a:pathLst>
            </a:custGeom>
            <a:solidFill>
              <a:srgbClr val="7878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|EOS~024|</a:t>
            </a:r>
            <a:endParaRPr lang="en-US" sz="100" dirty="0" err="1" smtClean="0">
              <a:solidFill>
                <a:srgbClr val="FFFFFF"/>
              </a:solidFill>
              <a:latin typeface="Arial"/>
              <a:cs typeface="Calibri" pitchFamily="34" charset="0"/>
            </a:endParaRPr>
          </a:p>
        </p:txBody>
      </p:sp>
      <p:grpSp>
        <p:nvGrpSpPr>
          <p:cNvPr id="27650" name="Group 25"/>
          <p:cNvGrpSpPr>
            <a:grpSpLocks/>
          </p:cNvGrpSpPr>
          <p:nvPr/>
        </p:nvGrpSpPr>
        <p:grpSpPr bwMode="auto">
          <a:xfrm>
            <a:off x="3028950" y="1517650"/>
            <a:ext cx="2341563" cy="1704975"/>
            <a:chOff x="3955" y="2986"/>
            <a:chExt cx="1475" cy="1074"/>
          </a:xfrm>
        </p:grpSpPr>
        <p:sp>
          <p:nvSpPr>
            <p:cNvPr id="27656" name="Rectangle 26"/>
            <p:cNvSpPr>
              <a:spLocks noChangeArrowheads="1"/>
            </p:cNvSpPr>
            <p:nvPr/>
          </p:nvSpPr>
          <p:spPr bwMode="auto">
            <a:xfrm>
              <a:off x="3955" y="2986"/>
              <a:ext cx="1475" cy="1074"/>
            </a:xfrm>
            <a:prstGeom prst="rect">
              <a:avLst/>
            </a:prstGeom>
            <a:solidFill>
              <a:schemeClr val="tx1"/>
            </a:solidFill>
            <a:ln w="19050" algn="ctr">
              <a:solidFill>
                <a:schemeClr val="bg1"/>
              </a:solidFill>
              <a:miter lim="800000"/>
              <a:headEnd/>
              <a:tailEnd/>
            </a:ln>
          </p:spPr>
          <p:txBody>
            <a:bodyPr wrap="none" lIns="0" tIns="0" rIns="0" bIns="0" anchor="ctr">
              <a:spAutoFit/>
            </a:bodyPr>
            <a:lstStyle/>
            <a:p>
              <a:endParaRPr lang="en-US"/>
            </a:p>
          </p:txBody>
        </p:sp>
        <p:grpSp>
          <p:nvGrpSpPr>
            <p:cNvPr id="27657" name="Group 27"/>
            <p:cNvGrpSpPr>
              <a:grpSpLocks/>
            </p:cNvGrpSpPr>
            <p:nvPr/>
          </p:nvGrpSpPr>
          <p:grpSpPr bwMode="auto">
            <a:xfrm>
              <a:off x="4765" y="3473"/>
              <a:ext cx="584" cy="539"/>
              <a:chOff x="2371" y="1333"/>
              <a:chExt cx="1641" cy="1516"/>
            </a:xfrm>
          </p:grpSpPr>
          <p:sp>
            <p:nvSpPr>
              <p:cNvPr id="27685" name="Freeform 28"/>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6" name="Rectangle 29"/>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687" name="Freeform 30"/>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8" name="Freeform 31"/>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9" name="Freeform 32"/>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0" name="Freeform 33"/>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1" name="Freeform 34"/>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2" name="Freeform 35"/>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3" name="Freeform 36"/>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94" name="Freeform 37"/>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7658" name="Group 38"/>
            <p:cNvGrpSpPr>
              <a:grpSpLocks/>
            </p:cNvGrpSpPr>
            <p:nvPr/>
          </p:nvGrpSpPr>
          <p:grpSpPr bwMode="auto">
            <a:xfrm>
              <a:off x="4535" y="3258"/>
              <a:ext cx="584" cy="539"/>
              <a:chOff x="2371" y="1333"/>
              <a:chExt cx="1641" cy="1516"/>
            </a:xfrm>
          </p:grpSpPr>
          <p:sp>
            <p:nvSpPr>
              <p:cNvPr id="27675" name="Freeform 39"/>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6" name="Rectangle 40"/>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677" name="Freeform 41"/>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8" name="Freeform 42"/>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9" name="Freeform 43"/>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0" name="Freeform 44"/>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1" name="Freeform 45"/>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2" name="Freeform 46"/>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3" name="Freeform 47"/>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84" name="Freeform 48"/>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27659" name="Group 49"/>
            <p:cNvGrpSpPr>
              <a:grpSpLocks/>
            </p:cNvGrpSpPr>
            <p:nvPr/>
          </p:nvGrpSpPr>
          <p:grpSpPr bwMode="auto">
            <a:xfrm>
              <a:off x="4304" y="3041"/>
              <a:ext cx="584" cy="539"/>
              <a:chOff x="2371" y="1333"/>
              <a:chExt cx="1641" cy="1516"/>
            </a:xfrm>
          </p:grpSpPr>
          <p:sp>
            <p:nvSpPr>
              <p:cNvPr id="27665" name="Freeform 50"/>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6" name="Rectangle 51"/>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667" name="Freeform 52"/>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8" name="Freeform 53"/>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9" name="Freeform 54"/>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0" name="Freeform 55"/>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1" name="Freeform 56"/>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2" name="Freeform 57"/>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3" name="Freeform 58"/>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74" name="Freeform 59"/>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7662" name="Text Box 62"/>
            <p:cNvSpPr txBox="1">
              <a:spLocks noChangeArrowheads="1"/>
            </p:cNvSpPr>
            <p:nvPr/>
          </p:nvSpPr>
          <p:spPr bwMode="auto">
            <a:xfrm>
              <a:off x="4661" y="3155"/>
              <a:ext cx="2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1</a:t>
              </a:r>
            </a:p>
          </p:txBody>
        </p:sp>
        <p:sp>
          <p:nvSpPr>
            <p:cNvPr id="27663" name="Text Box 63"/>
            <p:cNvSpPr txBox="1">
              <a:spLocks noChangeArrowheads="1"/>
            </p:cNvSpPr>
            <p:nvPr/>
          </p:nvSpPr>
          <p:spPr bwMode="auto">
            <a:xfrm>
              <a:off x="4873" y="3388"/>
              <a:ext cx="2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2</a:t>
              </a:r>
            </a:p>
          </p:txBody>
        </p:sp>
        <p:sp>
          <p:nvSpPr>
            <p:cNvPr id="27664" name="Text Box 64"/>
            <p:cNvSpPr txBox="1">
              <a:spLocks noChangeArrowheads="1"/>
            </p:cNvSpPr>
            <p:nvPr/>
          </p:nvSpPr>
          <p:spPr bwMode="auto">
            <a:xfrm>
              <a:off x="5143" y="3590"/>
              <a:ext cx="20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a:defRPr sz="1400">
                  <a:solidFill>
                    <a:schemeClr val="bg1"/>
                  </a:solidFill>
                  <a:latin typeface="Arial" charset="0"/>
                </a:defRPr>
              </a:lvl1pPr>
              <a:lvl2pPr marL="742950" indent="-285750">
                <a:defRPr sz="1400">
                  <a:solidFill>
                    <a:schemeClr val="bg1"/>
                  </a:solidFill>
                  <a:latin typeface="Arial" charset="0"/>
                </a:defRPr>
              </a:lvl2pPr>
              <a:lvl3pPr marL="1143000" indent="-228600">
                <a:defRPr sz="1400">
                  <a:solidFill>
                    <a:schemeClr val="bg1"/>
                  </a:solidFill>
                  <a:latin typeface="Arial" charset="0"/>
                </a:defRPr>
              </a:lvl3pPr>
              <a:lvl4pPr marL="1600200" indent="-228600">
                <a:defRPr sz="1400">
                  <a:solidFill>
                    <a:schemeClr val="bg1"/>
                  </a:solidFill>
                  <a:latin typeface="Arial" charset="0"/>
                </a:defRPr>
              </a:lvl4pPr>
              <a:lvl5pPr marL="2057400" indent="-228600">
                <a:defRPr sz="1400">
                  <a:solidFill>
                    <a:schemeClr val="bg1"/>
                  </a:solidFill>
                  <a:latin typeface="Arial" charset="0"/>
                </a:defRPr>
              </a:lvl5pPr>
              <a:lvl6pPr marL="25146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6pPr>
              <a:lvl7pPr marL="29718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7pPr>
              <a:lvl8pPr marL="34290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8pPr>
              <a:lvl9pPr marL="3886200" indent="-228600" algn="ctr" eaLnBrk="0" fontAlgn="base" hangingPunct="0">
                <a:spcBef>
                  <a:spcPct val="50000"/>
                </a:spcBef>
                <a:spcAft>
                  <a:spcPct val="0"/>
                </a:spcAft>
                <a:buClr>
                  <a:srgbClr val="0146AD"/>
                </a:buClr>
                <a:buFont typeface="Wingdings" pitchFamily="2" charset="2"/>
                <a:buChar char="–"/>
                <a:defRPr sz="1400">
                  <a:solidFill>
                    <a:schemeClr val="bg1"/>
                  </a:solidFill>
                  <a:latin typeface="Arial" charset="0"/>
                </a:defRPr>
              </a:lvl9pPr>
            </a:lstStyle>
            <a:p>
              <a:pPr eaLnBrk="1" hangingPunct="1">
                <a:spcAft>
                  <a:spcPct val="30000"/>
                </a:spcAft>
                <a:buClr>
                  <a:schemeClr val="tx1"/>
                </a:buClr>
                <a:buFontTx/>
                <a:buNone/>
              </a:pPr>
              <a:r>
                <a:rPr lang="en-US" sz="2000" b="1"/>
                <a:t>3</a:t>
              </a:r>
            </a:p>
          </p:txBody>
        </p:sp>
      </p:grpSp>
      <p:sp>
        <p:nvSpPr>
          <p:cNvPr id="27651" name="Rectangle 2"/>
          <p:cNvSpPr>
            <a:spLocks noGrp="1" noChangeArrowheads="1"/>
          </p:cNvSpPr>
          <p:nvPr>
            <p:ph type="title"/>
          </p:nvPr>
        </p:nvSpPr>
        <p:spPr/>
        <p:txBody>
          <a:bodyPr/>
          <a:lstStyle/>
          <a:p>
            <a:pPr eaLnBrk="1" hangingPunct="1"/>
            <a:r>
              <a:rPr lang="en-US" smtClean="0"/>
              <a:t>"Ability to pay" and the payment wizard</a:t>
            </a:r>
          </a:p>
        </p:txBody>
      </p:sp>
      <p:sp>
        <p:nvSpPr>
          <p:cNvPr id="27652" name="Rectangle 3"/>
          <p:cNvSpPr>
            <a:spLocks noGrp="1" noChangeArrowheads="1"/>
          </p:cNvSpPr>
          <p:nvPr>
            <p:ph idx="1"/>
          </p:nvPr>
        </p:nvSpPr>
        <p:spPr>
          <a:xfrm>
            <a:off x="519113" y="3943350"/>
            <a:ext cx="8318500" cy="2446338"/>
          </a:xfrm>
        </p:spPr>
        <p:txBody>
          <a:bodyPr/>
          <a:lstStyle/>
          <a:p>
            <a:pPr>
              <a:buFont typeface="Arial" charset="0"/>
              <a:buChar char="•"/>
            </a:pPr>
            <a:r>
              <a:rPr lang="en-US" smtClean="0"/>
              <a:t>The payment wizard is a series of screens that guide users through the process of creating checks</a:t>
            </a:r>
          </a:p>
          <a:p>
            <a:pPr lvl="1"/>
            <a:r>
              <a:rPr lang="en-US" smtClean="0"/>
              <a:t>For a given claim, you can start the payment wizard only if the claim is at "ability to pay"</a:t>
            </a:r>
          </a:p>
          <a:p>
            <a:pPr lvl="1"/>
            <a:r>
              <a:rPr lang="en-US" smtClean="0"/>
              <a:t>In order to use money in a reserve line, the exposure which owns the reserve line must be at "ability to pay"</a:t>
            </a:r>
          </a:p>
        </p:txBody>
      </p:sp>
      <p:grpSp>
        <p:nvGrpSpPr>
          <p:cNvPr id="27653" name="Group 4"/>
          <p:cNvGrpSpPr>
            <a:grpSpLocks/>
          </p:cNvGrpSpPr>
          <p:nvPr/>
        </p:nvGrpSpPr>
        <p:grpSpPr bwMode="auto">
          <a:xfrm>
            <a:off x="4776788" y="1073150"/>
            <a:ext cx="461962" cy="668338"/>
            <a:chOff x="3674" y="1098"/>
            <a:chExt cx="676" cy="977"/>
          </a:xfrm>
        </p:grpSpPr>
        <p:sp>
          <p:nvSpPr>
            <p:cNvPr id="27654" name="Rectangle 5"/>
            <p:cNvSpPr>
              <a:spLocks noChangeArrowheads="1"/>
            </p:cNvSpPr>
            <p:nvPr/>
          </p:nvSpPr>
          <p:spPr bwMode="auto">
            <a:xfrm rot="18770112" flipH="1">
              <a:off x="3523" y="1249"/>
              <a:ext cx="977" cy="676"/>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7655" name="Picture 6"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3804" y="1263"/>
              <a:ext cx="417"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|EOS~025|</a:t>
            </a:r>
            <a:endParaRPr lang="en-US" sz="100" dirty="0" err="1" smtClean="0">
              <a:solidFill>
                <a:srgbClr val="FFFFFF"/>
              </a:solidFill>
              <a:latin typeface="Arial"/>
              <a:cs typeface="Calibri" pitchFamily="34" charset="0"/>
            </a:endParaRPr>
          </a:p>
        </p:txBody>
      </p:sp>
      <p:sp>
        <p:nvSpPr>
          <p:cNvPr id="28675" name="Rectangle 8"/>
          <p:cNvSpPr>
            <a:spLocks noChangeArrowheads="1"/>
          </p:cNvSpPr>
          <p:nvPr/>
        </p:nvSpPr>
        <p:spPr bwMode="auto">
          <a:xfrm>
            <a:off x="6691313" y="682625"/>
            <a:ext cx="1871662" cy="3860800"/>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8676" name="Rectangle 7"/>
          <p:cNvSpPr>
            <a:spLocks noChangeArrowheads="1"/>
          </p:cNvSpPr>
          <p:nvPr/>
        </p:nvSpPr>
        <p:spPr bwMode="auto">
          <a:xfrm>
            <a:off x="609600" y="4962525"/>
            <a:ext cx="6037263" cy="871538"/>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8677" name="Rectangle 3"/>
          <p:cNvSpPr>
            <a:spLocks noGrp="1" noChangeArrowheads="1"/>
          </p:cNvSpPr>
          <p:nvPr>
            <p:ph type="title"/>
          </p:nvPr>
        </p:nvSpPr>
        <p:spPr/>
        <p:txBody>
          <a:bodyPr/>
          <a:lstStyle/>
          <a:p>
            <a:pPr eaLnBrk="1" hangingPunct="1"/>
            <a:r>
              <a:rPr lang="en-US" smtClean="0"/>
              <a:t>Objects that are not at “ability to pay"</a:t>
            </a:r>
          </a:p>
        </p:txBody>
      </p:sp>
      <p:sp>
        <p:nvSpPr>
          <p:cNvPr id="28678" name="Rectangle 4"/>
          <p:cNvSpPr>
            <a:spLocks noGrp="1" noChangeArrowheads="1"/>
          </p:cNvSpPr>
          <p:nvPr>
            <p:ph idx="1"/>
          </p:nvPr>
        </p:nvSpPr>
        <p:spPr>
          <a:xfrm>
            <a:off x="503238" y="5056188"/>
            <a:ext cx="8523804" cy="1517650"/>
          </a:xfrm>
        </p:spPr>
        <p:txBody>
          <a:bodyPr/>
          <a:lstStyle/>
          <a:p>
            <a:pPr>
              <a:buFont typeface="Arial" charset="0"/>
              <a:buChar char="•"/>
            </a:pPr>
            <a:r>
              <a:rPr lang="en-US" dirty="0" smtClean="0"/>
              <a:t>The Claim Actions menu contains a </a:t>
            </a:r>
            <a:br>
              <a:rPr lang="en-US" dirty="0" smtClean="0"/>
            </a:br>
            <a:r>
              <a:rPr lang="en-US" dirty="0" smtClean="0"/>
              <a:t>Validate Exposure sub-menu</a:t>
            </a:r>
          </a:p>
          <a:p>
            <a:pPr lvl="1"/>
            <a:r>
              <a:rPr lang="en-US" dirty="0" smtClean="0"/>
              <a:t>You can use this to validate an exposure in focus to determine </a:t>
            </a:r>
            <a:br>
              <a:rPr lang="en-US" dirty="0" smtClean="0"/>
            </a:br>
            <a:r>
              <a:rPr lang="en-US" dirty="0" smtClean="0"/>
              <a:t>what must be done to move it to “ability to pay"</a:t>
            </a:r>
          </a:p>
        </p:txBody>
      </p:sp>
      <p:pic>
        <p:nvPicPr>
          <p:cNvPr id="5125" name="Picture 5" descr="C:\Users\trhoades\AppData\Local\Temp\SNAGHTML5246c6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4368" y="682624"/>
            <a:ext cx="6845646" cy="47156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|EOS~026|</a:t>
            </a:r>
            <a:endParaRPr lang="en-US" sz="100" dirty="0" err="1" smtClean="0">
              <a:solidFill>
                <a:srgbClr val="FFFFFF"/>
              </a:solidFill>
              <a:latin typeface="Arial"/>
              <a:cs typeface="Calibri" pitchFamily="34" charset="0"/>
            </a:endParaRPr>
          </a:p>
        </p:txBody>
      </p:sp>
      <p:sp>
        <p:nvSpPr>
          <p:cNvPr id="29698" name="Rectangle 2"/>
          <p:cNvSpPr>
            <a:spLocks noGrp="1" noChangeArrowheads="1"/>
          </p:cNvSpPr>
          <p:nvPr>
            <p:ph type="title"/>
          </p:nvPr>
        </p:nvSpPr>
        <p:spPr/>
        <p:txBody>
          <a:bodyPr/>
          <a:lstStyle/>
          <a:p>
            <a:pPr eaLnBrk="1" hangingPunct="1"/>
            <a:r>
              <a:rPr lang="en-US" smtClean="0"/>
              <a:t>Validation results</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9373" y="602840"/>
            <a:ext cx="6247845" cy="580533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|EOS~027|</a:t>
            </a:r>
            <a:endParaRPr lang="en-US" sz="100" dirty="0" err="1" smtClean="0">
              <a:solidFill>
                <a:srgbClr val="FFFFFF"/>
              </a:solidFill>
              <a:latin typeface="Arial"/>
              <a:cs typeface="Calibri" pitchFamily="34" charset="0"/>
            </a:endParaRPr>
          </a:p>
        </p:txBody>
      </p:sp>
      <p:sp>
        <p:nvSpPr>
          <p:cNvPr id="30722" name="Rectangle 2"/>
          <p:cNvSpPr>
            <a:spLocks noGrp="1" noChangeArrowheads="1"/>
          </p:cNvSpPr>
          <p:nvPr>
            <p:ph type="title"/>
          </p:nvPr>
        </p:nvSpPr>
        <p:spPr/>
        <p:txBody>
          <a:bodyPr/>
          <a:lstStyle/>
          <a:p>
            <a:pPr eaLnBrk="1" hangingPunct="1"/>
            <a:r>
              <a:rPr lang="en-US" smtClean="0"/>
              <a:t>Lesson objectives review</a:t>
            </a:r>
          </a:p>
        </p:txBody>
      </p:sp>
      <p:sp>
        <p:nvSpPr>
          <p:cNvPr id="30723"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a:r>
              <a:rPr lang="en-US" smtClean="0"/>
              <a:t>Describe the issues involved in the adjudication process </a:t>
            </a:r>
          </a:p>
          <a:p>
            <a:pPr lvl="1"/>
            <a:r>
              <a:rPr lang="en-US" smtClean="0"/>
              <a:t>Describe ClaimCenter functionality relevant to:</a:t>
            </a:r>
          </a:p>
          <a:p>
            <a:pPr lvl="2"/>
            <a:r>
              <a:rPr lang="en-US" smtClean="0"/>
              <a:t>The adjudication of auto claims</a:t>
            </a:r>
          </a:p>
          <a:p>
            <a:pPr lvl="2"/>
            <a:r>
              <a:rPr lang="en-US" smtClean="0"/>
              <a:t>The adjudication of workers' comp claims</a:t>
            </a:r>
          </a:p>
          <a:p>
            <a:pPr lvl="1"/>
            <a:r>
              <a:rPr lang="en-US" smtClean="0"/>
              <a:t>Describe how claims and exposures mature to the point where payments can be made against them</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|EOS~028|</a:t>
            </a:r>
            <a:endParaRPr lang="en-US" sz="100" dirty="0" err="1" smtClean="0">
              <a:solidFill>
                <a:srgbClr val="FFFFFF"/>
              </a:solidFill>
              <a:latin typeface="Arial"/>
              <a:cs typeface="Calibri" pitchFamily="34" charset="0"/>
            </a:endParaRPr>
          </a:p>
        </p:txBody>
      </p:sp>
      <p:sp>
        <p:nvSpPr>
          <p:cNvPr id="31746" name="Rectangle 2"/>
          <p:cNvSpPr>
            <a:spLocks noGrp="1" noChangeArrowheads="1"/>
          </p:cNvSpPr>
          <p:nvPr>
            <p:ph type="title"/>
          </p:nvPr>
        </p:nvSpPr>
        <p:spPr/>
        <p:txBody>
          <a:bodyPr/>
          <a:lstStyle/>
          <a:p>
            <a:pPr eaLnBrk="1" hangingPunct="1"/>
            <a:r>
              <a:rPr lang="en-US" smtClean="0"/>
              <a:t>Review questions</a:t>
            </a:r>
          </a:p>
        </p:txBody>
      </p:sp>
      <p:sp>
        <p:nvSpPr>
          <p:cNvPr id="31747" name="Rectangle 3"/>
          <p:cNvSpPr>
            <a:spLocks noGrp="1" noChangeArrowheads="1"/>
          </p:cNvSpPr>
          <p:nvPr>
            <p:ph idx="1"/>
          </p:nvPr>
        </p:nvSpPr>
        <p:spPr>
          <a:xfrm>
            <a:off x="495300" y="836613"/>
            <a:ext cx="8318500" cy="5375275"/>
          </a:xfrm>
        </p:spPr>
        <p:txBody>
          <a:bodyPr/>
          <a:lstStyle/>
          <a:p>
            <a:pPr marL="457200" indent="-457200">
              <a:buFont typeface="Webdings" pitchFamily="18" charset="2"/>
              <a:buAutoNum type="arabicPeriod"/>
            </a:pPr>
            <a:r>
              <a:rPr lang="en-US" smtClean="0"/>
              <a:t>What is the primary purpose of validation levels?</a:t>
            </a:r>
          </a:p>
          <a:p>
            <a:pPr marL="457200" indent="-457200">
              <a:buFont typeface="Webdings" pitchFamily="18" charset="2"/>
              <a:buAutoNum type="arabicPeriod"/>
            </a:pPr>
            <a:r>
              <a:rPr lang="en-US" smtClean="0"/>
              <a:t>At the end of the new claim wizard:</a:t>
            </a:r>
          </a:p>
          <a:p>
            <a:pPr marL="909638" lvl="1" indent="-457200">
              <a:buSzTx/>
              <a:buFont typeface="Webdings" pitchFamily="18" charset="2"/>
              <a:buAutoNum type="alphaLcParenR"/>
            </a:pPr>
            <a:r>
              <a:rPr lang="en-US" smtClean="0"/>
              <a:t>What happens if the claim does not meet all the conditions at the "new loss completion" level?</a:t>
            </a:r>
          </a:p>
          <a:p>
            <a:pPr marL="909638" lvl="1" indent="-457200">
              <a:buSzTx/>
              <a:buFont typeface="Webdings" pitchFamily="18" charset="2"/>
              <a:buAutoNum type="alphaLcParenR"/>
            </a:pPr>
            <a:r>
              <a:rPr lang="en-US" smtClean="0"/>
              <a:t>What happens if it meets all "new loss completion" conditions, but none of the "ability to pay" conditions?</a:t>
            </a:r>
          </a:p>
          <a:p>
            <a:pPr marL="457200" indent="-457200">
              <a:buFont typeface="Webdings" pitchFamily="18" charset="2"/>
              <a:buAutoNum type="arabicPeriod"/>
            </a:pPr>
            <a:r>
              <a:rPr lang="en-US" smtClean="0"/>
              <a:t>For a claim that is at "new loss completion":</a:t>
            </a:r>
          </a:p>
          <a:p>
            <a:pPr marL="909638" lvl="1" indent="-457200">
              <a:buSzTx/>
              <a:buFont typeface="Webdings" pitchFamily="18" charset="2"/>
              <a:buAutoNum type="alphaLcParenR"/>
            </a:pPr>
            <a:r>
              <a:rPr lang="en-US" smtClean="0"/>
              <a:t>When does ClaimCenter check to see if it can promote the claim to the next level?</a:t>
            </a:r>
          </a:p>
          <a:p>
            <a:pPr marL="909638" lvl="1" indent="-457200">
              <a:buSzTx/>
              <a:buFont typeface="Webdings" pitchFamily="18" charset="2"/>
              <a:buAutoNum type="alphaLcParenR"/>
            </a:pPr>
            <a:r>
              <a:rPr lang="en-US" smtClean="0"/>
              <a:t>What circumstances will make the promotion possible?</a:t>
            </a:r>
          </a:p>
          <a:p>
            <a:pPr marL="457200" indent="-457200">
              <a:buFont typeface="Webdings" pitchFamily="18" charset="2"/>
              <a:buAutoNum type="arabicPeriod"/>
            </a:pPr>
            <a:r>
              <a:rPr lang="en-US" smtClean="0"/>
              <a:t>What ClaimCenter functionality is unavailable to claims that are not at "ability to pay"?</a:t>
            </a:r>
          </a:p>
          <a:p>
            <a:pPr marL="457200" indent="-457200">
              <a:buFont typeface="Webdings" pitchFamily="18" charset="2"/>
              <a:buAutoNum type="arabicPeriod"/>
            </a:pPr>
            <a:r>
              <a:rPr lang="en-US" smtClean="0"/>
              <a:t>Once it is at "ability to pay", can a claim slip backwards to a less mature level?</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25099" y="6756400"/>
            <a:ext cx="256802" cy="107722"/>
          </a:xfrm>
          <a:prstGeom prst="rect">
            <a:avLst/>
          </a:prstGeom>
          <a:noFill/>
        </p:spPr>
        <p:txBody>
          <a:bodyPr vert="horz" wrap="none" rtlCol="0">
            <a:spAutoFit/>
          </a:bodyPr>
          <a:lstStyle/>
          <a:p>
            <a:r>
              <a:rPr lang="en-US" sz="100" smtClean="0">
                <a:solidFill>
                  <a:srgbClr val="FFFFFF"/>
                </a:solidFill>
                <a:latin typeface="Arial"/>
                <a:cs typeface="Calibri" pitchFamily="34" charset="0"/>
              </a:rPr>
              <a:t>|EOS~029|</a:t>
            </a:r>
            <a:endParaRPr lang="en-US" sz="100" dirty="0" err="1" smtClean="0">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smtClean="0"/>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dirty="0" smtClean="0"/>
              <a:t>Copyright </a:t>
            </a:r>
            <a:r>
              <a:rPr lang="en-US" sz="1600" b="1" smtClean="0"/>
              <a:t>© 2001-2014 </a:t>
            </a:r>
            <a:r>
              <a:rPr lang="en-US" sz="1600" b="1" dirty="0" smtClean="0"/>
              <a:t>Guidewire Software, Inc. All rights reserved.</a:t>
            </a:r>
          </a:p>
          <a:p>
            <a:pPr marL="0" indent="0">
              <a:buNone/>
            </a:pPr>
            <a:r>
              <a:rPr lang="en-US" sz="1600" dirty="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a:t>
            </a:r>
            <a:r>
              <a:rPr lang="en-US" sz="1600"/>
              <a:t>, Guidewire ExampleCenter, Guidewire Account Manager Portal, Guidewire </a:t>
            </a:r>
            <a:r>
              <a:rPr lang="en-US" sz="1600" smtClean="0"/>
              <a:t>Claim </a:t>
            </a:r>
            <a:r>
              <a:rPr lang="en-US" sz="1600"/>
              <a:t>Portal, Guidewire Policyholder Portal, ClaimCenter, BillingCenter, PolicyCenter, InsuranceSuite, Gosu, </a:t>
            </a:r>
            <a:r>
              <a:rPr lang="en-US" sz="1600" smtClean="0"/>
              <a:t>Deliver </a:t>
            </a:r>
            <a:r>
              <a:rPr lang="en-US" sz="1600" dirty="0"/>
              <a:t>Insurance Your Way, and the Guidewire logo are trademarks, service marks, or registered trademarks of Guidewire Software, Inc. </a:t>
            </a:r>
            <a:r>
              <a:rPr lang="en-US" sz="1600"/>
              <a:t>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a:t>
            </a:r>
            <a:r>
              <a:rPr lang="en-US" sz="1600" dirty="0"/>
              <a:t>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1861141954"/>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6445542-6306-4010-871D-BDDD5F0A6336}"/>
</file>

<file path=customXml/itemProps2.xml><?xml version="1.0" encoding="utf-8"?>
<ds:datastoreItem xmlns:ds="http://schemas.openxmlformats.org/officeDocument/2006/customXml" ds:itemID="{2DE64C5E-258F-40D0-802A-DB60BB73094F}"/>
</file>

<file path=customXml/itemProps3.xml><?xml version="1.0" encoding="utf-8"?>
<ds:datastoreItem xmlns:ds="http://schemas.openxmlformats.org/officeDocument/2006/customXml" ds:itemID="{0AD4CF19-5BF9-4B4A-A3B1-2B551E4EA9DF}"/>
</file>

<file path=docProps/app.xml><?xml version="1.0" encoding="utf-8"?>
<Properties xmlns="http://schemas.openxmlformats.org/officeDocument/2006/extended-properties" xmlns:vt="http://schemas.openxmlformats.org/officeDocument/2006/docPropsVTypes">
  <Template/>
  <TotalTime>10089</TotalTime>
  <Words>5321</Words>
  <Application>Microsoft Office PowerPoint</Application>
  <PresentationFormat>On-screen Show (4:3)</PresentationFormat>
  <Paragraphs>412</Paragraphs>
  <Slides>29</Slides>
  <Notes>29</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1_test-template</vt:lpstr>
      <vt:lpstr>Adjudicating Claims</vt:lpstr>
      <vt:lpstr>Lesson objectives</vt:lpstr>
      <vt:lpstr>Lesson outline</vt:lpstr>
      <vt:lpstr>Adjudication: The business perspective</vt:lpstr>
      <vt:lpstr>Adjudication: The functional perspective</vt:lpstr>
      <vt:lpstr>Common questions during adjudication</vt:lpstr>
      <vt:lpstr>Lesson outline</vt:lpstr>
      <vt:lpstr>General loss information</vt:lpstr>
      <vt:lpstr>General loss information: Example</vt:lpstr>
      <vt:lpstr>Using information from external-to- carrier systems</vt:lpstr>
      <vt:lpstr>Metropolitan Reporting Bureau integration</vt:lpstr>
      <vt:lpstr>Assessments</vt:lpstr>
      <vt:lpstr>Assessment event lines</vt:lpstr>
      <vt:lpstr>Total loss calculator</vt:lpstr>
      <vt:lpstr>Medical Bill Review integration</vt:lpstr>
      <vt:lpstr>Lesson outline</vt:lpstr>
      <vt:lpstr>The end of adjudication</vt:lpstr>
      <vt:lpstr>Validation levels and adjudication</vt:lpstr>
      <vt:lpstr>Each level has conditions</vt:lpstr>
      <vt:lpstr>The "New Loss" level</vt:lpstr>
      <vt:lpstr>Promotion to more mature levels</vt:lpstr>
      <vt:lpstr>Objects cannot move backwards</vt:lpstr>
      <vt:lpstr>The "Ability to Pay" level</vt:lpstr>
      <vt:lpstr>"Ability to pay" and the payment wizard</vt:lpstr>
      <vt:lpstr>Objects that are not at “ability to pay"</vt:lpstr>
      <vt:lpstr>Validation results</vt:lpstr>
      <vt:lpstr>Lesson objectives review</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Adjudicating Claims</dc:title>
  <dc:creator>Tom Rhoades</dc:creator>
  <dc:description>1140</dc:description>
  <cp:lastModifiedBy>Guidewire Education</cp:lastModifiedBy>
  <cp:revision>1725</cp:revision>
  <dcterms:created xsi:type="dcterms:W3CDTF">2007-08-02T20:13:16Z</dcterms:created>
  <dcterms:modified xsi:type="dcterms:W3CDTF">2015-01-12T23:29:20Z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_MarkAsFinal">
    <vt:bool>true</vt:bool>
  </property>
  <property fmtid="{D5CDD505-2E9C-101B-9397-08002B2CF9AE}" pid="5" name="ContentTypeId">
    <vt:lpwstr>0x010100E519429F521E9142A0249EFDF4D90F58</vt:lpwstr>
  </property>
  <property fmtid="{D5CDD505-2E9C-101B-9397-08002B2CF9AE}" pid="6" name="Order">
    <vt:r8>75200</vt:r8>
  </property>
  <property fmtid="{D5CDD505-2E9C-101B-9397-08002B2CF9AE}" pid="7" name="xd_Signature">
    <vt:bool>false</vt:bool>
  </property>
  <property fmtid="{D5CDD505-2E9C-101B-9397-08002B2CF9AE}" pid="8" name="xd_ProgID">
    <vt:lpwstr/>
  </property>
  <property fmtid="{D5CDD505-2E9C-101B-9397-08002B2CF9AE}" pid="9" name="TriggerFlowInfo">
    <vt:lpwstr/>
  </property>
  <property fmtid="{D5CDD505-2E9C-101B-9397-08002B2CF9AE}" pid="10" name="_SourceUrl">
    <vt:lpwstr/>
  </property>
  <property fmtid="{D5CDD505-2E9C-101B-9397-08002B2CF9AE}" pid="11" name="_SharedFileIndex">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ies>
</file>